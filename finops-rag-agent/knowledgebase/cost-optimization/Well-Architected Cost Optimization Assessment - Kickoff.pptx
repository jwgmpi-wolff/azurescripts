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0" r:id="rId4"/>
    <p:sldMasterId id="2147483992" r:id="rId5"/>
    <p:sldMasterId id="2147485007" r:id="rId6"/>
  </p:sldMasterIdLst>
  <p:notesMasterIdLst>
    <p:notesMasterId r:id="rId55"/>
  </p:notesMasterIdLst>
  <p:sldIdLst>
    <p:sldId id="2147469897" r:id="rId7"/>
    <p:sldId id="2123258732" r:id="rId8"/>
    <p:sldId id="2147469802" r:id="rId9"/>
    <p:sldId id="2147469861" r:id="rId10"/>
    <p:sldId id="2147470730" r:id="rId11"/>
    <p:sldId id="2147470729" r:id="rId12"/>
    <p:sldId id="2147470728" r:id="rId13"/>
    <p:sldId id="2147470727" r:id="rId14"/>
    <p:sldId id="2147470726" r:id="rId15"/>
    <p:sldId id="2147470725" r:id="rId16"/>
    <p:sldId id="2147470716" r:id="rId17"/>
    <p:sldId id="2147469886" r:id="rId18"/>
    <p:sldId id="2147469900" r:id="rId19"/>
    <p:sldId id="2147469859" r:id="rId20"/>
    <p:sldId id="2147470724" r:id="rId21"/>
    <p:sldId id="2147469902" r:id="rId22"/>
    <p:sldId id="2134805486" r:id="rId23"/>
    <p:sldId id="2147469849" r:id="rId24"/>
    <p:sldId id="2147469850" r:id="rId25"/>
    <p:sldId id="2147469851" r:id="rId26"/>
    <p:sldId id="2147470489" r:id="rId27"/>
    <p:sldId id="2147470490" r:id="rId28"/>
    <p:sldId id="2147470502" r:id="rId29"/>
    <p:sldId id="2147470492" r:id="rId30"/>
    <p:sldId id="2147470056" r:id="rId31"/>
    <p:sldId id="2147470504" r:id="rId32"/>
    <p:sldId id="2147470505" r:id="rId33"/>
    <p:sldId id="2147470477" r:id="rId34"/>
    <p:sldId id="2147470486" r:id="rId35"/>
    <p:sldId id="2147470482" r:id="rId36"/>
    <p:sldId id="2147470516" r:id="rId37"/>
    <p:sldId id="2147470499" r:id="rId38"/>
    <p:sldId id="2147470493" r:id="rId39"/>
    <p:sldId id="2076138194" r:id="rId40"/>
    <p:sldId id="2147470484" r:id="rId41"/>
    <p:sldId id="2147470494" r:id="rId42"/>
    <p:sldId id="2147470500" r:id="rId43"/>
    <p:sldId id="2147470501" r:id="rId44"/>
    <p:sldId id="2147470653" r:id="rId45"/>
    <p:sldId id="2147470651" r:id="rId46"/>
    <p:sldId id="2147470652" r:id="rId47"/>
    <p:sldId id="2147470715" r:id="rId48"/>
    <p:sldId id="2147470655" r:id="rId49"/>
    <p:sldId id="2147470670" r:id="rId50"/>
    <p:sldId id="2134806156" r:id="rId51"/>
    <p:sldId id="2147470709" r:id="rId52"/>
    <p:sldId id="2147470718" r:id="rId53"/>
    <p:sldId id="2147470719"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A5F4345-D8F5-47C3-B324-E18223012321}">
          <p14:sldIdLst>
            <p14:sldId id="2147469897"/>
            <p14:sldId id="2123258732"/>
            <p14:sldId id="2147469802"/>
            <p14:sldId id="2147469861"/>
            <p14:sldId id="2147470730"/>
            <p14:sldId id="2147470729"/>
            <p14:sldId id="2147470728"/>
            <p14:sldId id="2147470727"/>
            <p14:sldId id="2147470726"/>
            <p14:sldId id="2147470725"/>
          </p14:sldIdLst>
        </p14:section>
        <p14:section name="Survey &amp; Deployments" id="{B2B2EB4C-C99E-4ACF-87EB-92D018754329}">
          <p14:sldIdLst>
            <p14:sldId id="2147470716"/>
            <p14:sldId id="2147469886"/>
            <p14:sldId id="2147469900"/>
            <p14:sldId id="2147469859"/>
            <p14:sldId id="2147470724"/>
            <p14:sldId id="2147469902"/>
          </p14:sldIdLst>
        </p14:section>
        <p14:section name="Cost Optimization and Design Principles" id="{8D8BA8F7-509D-4914-B213-B9D03F0557CD}">
          <p14:sldIdLst>
            <p14:sldId id="2134805486"/>
            <p14:sldId id="2147469849"/>
            <p14:sldId id="2147469850"/>
            <p14:sldId id="2147469851"/>
          </p14:sldIdLst>
        </p14:section>
        <p14:section name="FinOps" id="{1197E2E6-AA73-4B3A-AEBE-2338197FA27F}">
          <p14:sldIdLst>
            <p14:sldId id="2147470489"/>
            <p14:sldId id="2147470490"/>
            <p14:sldId id="2147470502"/>
            <p14:sldId id="2147470492"/>
            <p14:sldId id="2147470056"/>
            <p14:sldId id="2147470504"/>
            <p14:sldId id="2147470505"/>
            <p14:sldId id="2147470477"/>
            <p14:sldId id="2147470486"/>
            <p14:sldId id="2147470482"/>
            <p14:sldId id="2147470516"/>
            <p14:sldId id="2147470499"/>
            <p14:sldId id="2147470493"/>
            <p14:sldId id="2076138194"/>
            <p14:sldId id="2147470484"/>
            <p14:sldId id="2147470494"/>
            <p14:sldId id="2147470500"/>
            <p14:sldId id="2147470501"/>
          </p14:sldIdLst>
        </p14:section>
        <p14:section name="Azure Savings plan for Compute" id="{252C4301-E2C2-4C63-A8C4-83CD59D34130}">
          <p14:sldIdLst>
            <p14:sldId id="2147470653"/>
            <p14:sldId id="2147470651"/>
            <p14:sldId id="2147470652"/>
            <p14:sldId id="2147470715"/>
            <p14:sldId id="2147470655"/>
            <p14:sldId id="2147470670"/>
            <p14:sldId id="2134806156"/>
            <p14:sldId id="2147470709"/>
            <p14:sldId id="2147470718"/>
            <p14:sldId id="214747071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2BFE010E-D8E5-FED5-94D5-1F81B4A954C4}" name="Tessa Berkley" initials="TB" userId="S::TessaB@audienz.com::29198474-64f9-4b67-b7f5-57f0013c6244" providerId="AD"/>
  <p188:author id="{BE6A572C-2A61-6AEE-2243-9101C0F9D299}" name="Ian Baker (H10 Seattle LLC)" initials="IL" userId="S::v-ianbaker@microsoft.com::3d39e4a9-b668-4df4-98cc-bfb78aa64156" providerId="AD"/>
  <p188:author id="{DAB2CE42-76BA-49B4-C320-8B512B2DDDC5}" name="Kelsey Stewart" initials="KS" userId="S::kstewart@microsoft.com::db32ea60-b56e-4bde-a6f9-5a20d01e8f73" providerId="AD"/>
  <p188:author id="{EF32DA53-2C03-03EE-2EEA-AE2457C9B68C}" name="Tessa Berkley" initials="TB" userId="S::tessab@audienz.com::29198474-64f9-4b67-b7f5-57f0013c6244" providerId="AD"/>
  <p188:author id="{60F48691-3BBE-8757-92E2-4D3F5EBD5A39}" name="Kathleen Bystrom" initials="KB" userId="S::kabystro@microsoft.com::58e324f7-8170-45c8-b748-abdfd4daa77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rissa Johnson" initials="MJ" lastIdx="95" clrIdx="0">
    <p:extLst>
      <p:ext uri="{19B8F6BF-5375-455C-9EA6-DF929625EA0E}">
        <p15:presenceInfo xmlns:p15="http://schemas.microsoft.com/office/powerpoint/2012/main" userId="S::marissa@audienz.com::46fe1ef4-9a57-43e0-83d0-f7e0a00e96f0" providerId="AD"/>
      </p:ext>
    </p:extLst>
  </p:cmAuthor>
  <p:cmAuthor id="2" name="Rira Johnson" initials="RJ" lastIdx="5" clrIdx="1">
    <p:extLst>
      <p:ext uri="{19B8F6BF-5375-455C-9EA6-DF929625EA0E}">
        <p15:presenceInfo xmlns:p15="http://schemas.microsoft.com/office/powerpoint/2012/main" userId="S::riraj@microsoft.com::b68681a4-e537-4a08-b333-f6833fb46b7d" providerId="AD"/>
      </p:ext>
    </p:extLst>
  </p:cmAuthor>
  <p:cmAuthor id="3" name="Jane Kim" initials="JK" lastIdx="104" clrIdx="2">
    <p:extLst>
      <p:ext uri="{19B8F6BF-5375-455C-9EA6-DF929625EA0E}">
        <p15:presenceInfo xmlns:p15="http://schemas.microsoft.com/office/powerpoint/2012/main" userId="S::jaki@microsoft.com::2e7d2794-6f20-487b-b0ee-f6dd8c97f45b" providerId="AD"/>
      </p:ext>
    </p:extLst>
  </p:cmAuthor>
  <p:cmAuthor id="4" name="Alex Mueller" initials="AM" lastIdx="42" clrIdx="3">
    <p:extLst>
      <p:ext uri="{19B8F6BF-5375-455C-9EA6-DF929625EA0E}">
        <p15:presenceInfo xmlns:p15="http://schemas.microsoft.com/office/powerpoint/2012/main" userId="S::Alex@audienz.com::eeb23a5b-928a-4697-8eaa-a654e0bdd24c" providerId="AD"/>
      </p:ext>
    </p:extLst>
  </p:cmAuthor>
  <p:cmAuthor id="5" name="Joel Graves" initials="JG" lastIdx="5" clrIdx="4">
    <p:extLst>
      <p:ext uri="{19B8F6BF-5375-455C-9EA6-DF929625EA0E}">
        <p15:presenceInfo xmlns:p15="http://schemas.microsoft.com/office/powerpoint/2012/main" userId="S::jograves@microsoft.com::6ee462ed-f447-4a6d-98e0-f2b59511f4d1" providerId="AD"/>
      </p:ext>
    </p:extLst>
  </p:cmAuthor>
  <p:cmAuthor id="6" name="Marissa Johnson" initials="MJ [2]" lastIdx="1" clrIdx="5">
    <p:extLst>
      <p:ext uri="{19B8F6BF-5375-455C-9EA6-DF929625EA0E}">
        <p15:presenceInfo xmlns:p15="http://schemas.microsoft.com/office/powerpoint/2012/main" userId="S::marissa_audienz.com#ext#@microsoft.onmicrosoft.com::504c9885-9935-4385-899b-3699114e0228" providerId="AD"/>
      </p:ext>
    </p:extLst>
  </p:cmAuthor>
  <p:cmAuthor id="7" name="Pablo Bernal" initials="PB" lastIdx="2" clrIdx="6">
    <p:extLst>
      <p:ext uri="{19B8F6BF-5375-455C-9EA6-DF929625EA0E}">
        <p15:presenceInfo xmlns:p15="http://schemas.microsoft.com/office/powerpoint/2012/main" userId="S::pabernal@microsoft.com::4e71252c-ff53-40ac-9634-daef29080361" providerId="AD"/>
      </p:ext>
    </p:extLst>
  </p:cmAuthor>
  <p:cmAuthor id="8" name="Zuzana Votrubec" initials="ZV" lastIdx="1" clrIdx="7">
    <p:extLst>
      <p:ext uri="{19B8F6BF-5375-455C-9EA6-DF929625EA0E}">
        <p15:presenceInfo xmlns:p15="http://schemas.microsoft.com/office/powerpoint/2012/main" userId="S::zvotrubec@microsoft.com::752ad5a2-a614-4535-8593-7846cd968dfa" providerId="AD"/>
      </p:ext>
    </p:extLst>
  </p:cmAuthor>
  <p:cmAuthor id="9" name="Zain Sheerazi" initials="ZS" lastIdx="32" clrIdx="8">
    <p:extLst>
      <p:ext uri="{19B8F6BF-5375-455C-9EA6-DF929625EA0E}">
        <p15:presenceInfo xmlns:p15="http://schemas.microsoft.com/office/powerpoint/2012/main" userId="S::zainshee@microsoft.com::fbcea6cb-896a-4303-b11e-d60965509169" providerId="AD"/>
      </p:ext>
    </p:extLst>
  </p:cmAuthor>
  <p:cmAuthor id="10" name="Ilya Zilbersteine" initials="IZ" lastIdx="4" clrIdx="9">
    <p:extLst>
      <p:ext uri="{19B8F6BF-5375-455C-9EA6-DF929625EA0E}">
        <p15:presenceInfo xmlns:p15="http://schemas.microsoft.com/office/powerpoint/2012/main" userId="S::ilzilber@microsoft.com::a2a8992b-574e-4192-a209-d2c5c44d095a" providerId="AD"/>
      </p:ext>
    </p:extLst>
  </p:cmAuthor>
  <p:cmAuthor id="11" name="Ivan Labra" initials="IL" lastIdx="18" clrIdx="10">
    <p:extLst>
      <p:ext uri="{19B8F6BF-5375-455C-9EA6-DF929625EA0E}">
        <p15:presenceInfo xmlns:p15="http://schemas.microsoft.com/office/powerpoint/2012/main" userId="S::ilabra@microsoft.com::e0fdb30c-2083-48ce-971d-bcbbe56488cb" providerId="AD"/>
      </p:ext>
    </p:extLst>
  </p:cmAuthor>
  <p:cmAuthor id="12" name="Dana Heger (Keenan Reid Corporation)" initials="DC" lastIdx="2" clrIdx="11">
    <p:extLst>
      <p:ext uri="{19B8F6BF-5375-455C-9EA6-DF929625EA0E}">
        <p15:presenceInfo xmlns:p15="http://schemas.microsoft.com/office/powerpoint/2012/main" userId="S::v-danaheger@microsoft.com::a7834cbd-3b12-4228-be0f-cd4863f00618" providerId="AD"/>
      </p:ext>
    </p:extLst>
  </p:cmAuthor>
  <p:cmAuthor id="13" name="Kim Fleming" initials="KF" lastIdx="2" clrIdx="12">
    <p:extLst>
      <p:ext uri="{19B8F6BF-5375-455C-9EA6-DF929625EA0E}">
        <p15:presenceInfo xmlns:p15="http://schemas.microsoft.com/office/powerpoint/2012/main" userId="S::kfleming@microsoft.com::b5c828a7-15dd-47c4-bf0e-231fc368fc15" providerId="AD"/>
      </p:ext>
    </p:extLst>
  </p:cmAuthor>
  <p:cmAuthor id="14" name="Alex Mueller" initials="AM [2]" lastIdx="1" clrIdx="13">
    <p:extLst>
      <p:ext uri="{19B8F6BF-5375-455C-9EA6-DF929625EA0E}">
        <p15:presenceInfo xmlns:p15="http://schemas.microsoft.com/office/powerpoint/2012/main" userId="S::alex_audienz.com#ext#@microsoft.onmicrosoft.com::78a28f0b-2344-4a08-8c48-290d6357506d" providerId="AD"/>
      </p:ext>
    </p:extLst>
  </p:cmAuthor>
  <p:cmAuthor id="15" name="Aleksey Kulikov" initials="AK" lastIdx="10" clrIdx="14">
    <p:extLst>
      <p:ext uri="{19B8F6BF-5375-455C-9EA6-DF929625EA0E}">
        <p15:presenceInfo xmlns:p15="http://schemas.microsoft.com/office/powerpoint/2012/main" userId="S::alkuliko@microsoft.com::d2902179-8232-48b3-bff9-3b9c1dedcfa2" providerId="AD"/>
      </p:ext>
    </p:extLst>
  </p:cmAuthor>
  <p:cmAuthor id="16" name="Alex Taege" initials="AT" lastIdx="1" clrIdx="15">
    <p:extLst>
      <p:ext uri="{19B8F6BF-5375-455C-9EA6-DF929625EA0E}">
        <p15:presenceInfo xmlns:p15="http://schemas.microsoft.com/office/powerpoint/2012/main" userId="S::ataege@microsoft.com::48b41754-7fea-4187-ab91-f519c0b37dc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3B51"/>
    <a:srgbClr val="FFFF99"/>
    <a:srgbClr val="BB3201"/>
    <a:srgbClr val="D73B01"/>
    <a:srgbClr val="8661C5"/>
    <a:srgbClr val="9BF00B"/>
    <a:srgbClr val="FFB900"/>
    <a:srgbClr val="FFFFFF"/>
    <a:srgbClr val="FF00F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5347" autoAdjust="0"/>
  </p:normalViewPr>
  <p:slideViewPr>
    <p:cSldViewPr snapToGrid="0">
      <p:cViewPr varScale="1">
        <p:scale>
          <a:sx n="53" d="100"/>
          <a:sy n="53" d="100"/>
        </p:scale>
        <p:origin x="2796" y="276"/>
      </p:cViewPr>
      <p:guideLst/>
    </p:cSldViewPr>
  </p:slideViewPr>
  <p:notesTextViewPr>
    <p:cViewPr>
      <p:scale>
        <a:sx n="1" d="1"/>
        <a:sy n="1" d="1"/>
      </p:scale>
      <p:origin x="0" y="0"/>
    </p:cViewPr>
  </p:notesTextViewPr>
  <p:sorterViewPr>
    <p:cViewPr>
      <p:scale>
        <a:sx n="100" d="100"/>
        <a:sy n="100" d="100"/>
      </p:scale>
      <p:origin x="0" y="-23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notesMaster" Target="notesMasters/notesMaster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commentAuthors" Target="commentAuthor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presProps" Target="pres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s>
</file>

<file path=ppt/diagrams/_rels/data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8A0628-7DB1-4B9D-BABD-FFCABFFCF29B}"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42DB66A4-AB06-4EC3-96DA-A62E0D76CB0D}">
      <dgm:prSet/>
      <dgm:spPr/>
      <dgm:t>
        <a:bodyPr/>
        <a:lstStyle/>
        <a:p>
          <a:pPr>
            <a:lnSpc>
              <a:spcPct val="100000"/>
            </a:lnSpc>
          </a:pPr>
          <a:r>
            <a:rPr lang="en-GB" i="0"/>
            <a:t>Choose the correct resources</a:t>
          </a:r>
          <a:endParaRPr lang="en-US"/>
        </a:p>
      </dgm:t>
    </dgm:pt>
    <dgm:pt modelId="{1EA8BB13-9DAF-4E2E-92EA-3F3940BABF8F}" type="parTrans" cxnId="{1592E0DA-6E7E-4EC2-9F04-042839C2904B}">
      <dgm:prSet/>
      <dgm:spPr/>
      <dgm:t>
        <a:bodyPr/>
        <a:lstStyle/>
        <a:p>
          <a:endParaRPr lang="en-US"/>
        </a:p>
      </dgm:t>
    </dgm:pt>
    <dgm:pt modelId="{4D3FD536-3283-419E-A0D6-F6395857D2FB}" type="sibTrans" cxnId="{1592E0DA-6E7E-4EC2-9F04-042839C2904B}">
      <dgm:prSet/>
      <dgm:spPr/>
      <dgm:t>
        <a:bodyPr/>
        <a:lstStyle/>
        <a:p>
          <a:pPr>
            <a:lnSpc>
              <a:spcPct val="100000"/>
            </a:lnSpc>
          </a:pPr>
          <a:endParaRPr lang="en-US"/>
        </a:p>
      </dgm:t>
    </dgm:pt>
    <dgm:pt modelId="{EE894346-4007-483E-B04E-5E366E90C486}">
      <dgm:prSet/>
      <dgm:spPr/>
      <dgm:t>
        <a:bodyPr/>
        <a:lstStyle/>
        <a:p>
          <a:pPr>
            <a:lnSpc>
              <a:spcPct val="100000"/>
            </a:lnSpc>
          </a:pPr>
          <a:r>
            <a:rPr lang="en-GB" i="0" dirty="0"/>
            <a:t>Set up budgets and maintain cost constraints</a:t>
          </a:r>
          <a:endParaRPr lang="en-US" dirty="0"/>
        </a:p>
      </dgm:t>
    </dgm:pt>
    <dgm:pt modelId="{7716A650-EFD5-4A7A-A4CA-B1E1DDA3C6B6}" type="parTrans" cxnId="{CFAB3C61-400B-4583-86B6-25FD57D1F1AB}">
      <dgm:prSet/>
      <dgm:spPr/>
      <dgm:t>
        <a:bodyPr/>
        <a:lstStyle/>
        <a:p>
          <a:endParaRPr lang="en-US"/>
        </a:p>
      </dgm:t>
    </dgm:pt>
    <dgm:pt modelId="{978C7B5E-0A5E-485D-AF5E-F7F79935E08B}" type="sibTrans" cxnId="{CFAB3C61-400B-4583-86B6-25FD57D1F1AB}">
      <dgm:prSet/>
      <dgm:spPr/>
      <dgm:t>
        <a:bodyPr/>
        <a:lstStyle/>
        <a:p>
          <a:pPr>
            <a:lnSpc>
              <a:spcPct val="100000"/>
            </a:lnSpc>
          </a:pPr>
          <a:endParaRPr lang="en-US"/>
        </a:p>
      </dgm:t>
    </dgm:pt>
    <dgm:pt modelId="{C28102FE-AE7A-45DE-8772-7D9003C85F58}">
      <dgm:prSet/>
      <dgm:spPr/>
      <dgm:t>
        <a:bodyPr/>
        <a:lstStyle/>
        <a:p>
          <a:pPr>
            <a:lnSpc>
              <a:spcPct val="100000"/>
            </a:lnSpc>
          </a:pPr>
          <a:r>
            <a:rPr lang="en-GB" i="0"/>
            <a:t>Dynamically allocate and de-allocate resources</a:t>
          </a:r>
          <a:endParaRPr lang="en-US"/>
        </a:p>
      </dgm:t>
    </dgm:pt>
    <dgm:pt modelId="{F27BC48C-6125-4271-A4DA-2ABD9996A3E7}" type="parTrans" cxnId="{C032F58E-E8EC-49C4-9402-3856C8260918}">
      <dgm:prSet/>
      <dgm:spPr/>
      <dgm:t>
        <a:bodyPr/>
        <a:lstStyle/>
        <a:p>
          <a:endParaRPr lang="en-US"/>
        </a:p>
      </dgm:t>
    </dgm:pt>
    <dgm:pt modelId="{C1C69151-13BD-4E73-85DF-E130CC486306}" type="sibTrans" cxnId="{C032F58E-E8EC-49C4-9402-3856C8260918}">
      <dgm:prSet/>
      <dgm:spPr/>
      <dgm:t>
        <a:bodyPr/>
        <a:lstStyle/>
        <a:p>
          <a:pPr>
            <a:lnSpc>
              <a:spcPct val="100000"/>
            </a:lnSpc>
          </a:pPr>
          <a:endParaRPr lang="en-US"/>
        </a:p>
      </dgm:t>
    </dgm:pt>
    <dgm:pt modelId="{440BDBCF-A6BA-4BB3-B32F-056FBC1C8E06}">
      <dgm:prSet/>
      <dgm:spPr/>
      <dgm:t>
        <a:bodyPr/>
        <a:lstStyle/>
        <a:p>
          <a:pPr>
            <a:lnSpc>
              <a:spcPct val="100000"/>
            </a:lnSpc>
          </a:pPr>
          <a:r>
            <a:rPr lang="en-GB" i="0"/>
            <a:t>Optimize workloads, aim for scalable costs</a:t>
          </a:r>
          <a:endParaRPr lang="en-US"/>
        </a:p>
      </dgm:t>
    </dgm:pt>
    <dgm:pt modelId="{BFA19DCE-6863-4A52-8268-45C616E7932F}" type="parTrans" cxnId="{B8A5D710-26FC-48BD-9806-AC14FDF2F5EC}">
      <dgm:prSet/>
      <dgm:spPr/>
      <dgm:t>
        <a:bodyPr/>
        <a:lstStyle/>
        <a:p>
          <a:endParaRPr lang="en-US"/>
        </a:p>
      </dgm:t>
    </dgm:pt>
    <dgm:pt modelId="{E4435D40-23F8-41D6-A9C1-777A3FAF1CDF}" type="sibTrans" cxnId="{B8A5D710-26FC-48BD-9806-AC14FDF2F5EC}">
      <dgm:prSet/>
      <dgm:spPr/>
      <dgm:t>
        <a:bodyPr/>
        <a:lstStyle/>
        <a:p>
          <a:pPr>
            <a:lnSpc>
              <a:spcPct val="100000"/>
            </a:lnSpc>
          </a:pPr>
          <a:endParaRPr lang="en-US"/>
        </a:p>
      </dgm:t>
    </dgm:pt>
    <dgm:pt modelId="{B004C696-1C0B-441B-96CD-09E0AE324622}">
      <dgm:prSet/>
      <dgm:spPr/>
      <dgm:t>
        <a:bodyPr/>
        <a:lstStyle/>
        <a:p>
          <a:pPr>
            <a:lnSpc>
              <a:spcPct val="100000"/>
            </a:lnSpc>
          </a:pPr>
          <a:r>
            <a:rPr lang="en-GB" i="0" dirty="0"/>
            <a:t>Continuously monitor and optimize cost management</a:t>
          </a:r>
          <a:endParaRPr lang="en-US" dirty="0"/>
        </a:p>
      </dgm:t>
    </dgm:pt>
    <dgm:pt modelId="{13A85B04-7974-4498-BD80-57FC08B710C7}" type="parTrans" cxnId="{9603C8BA-973B-41BC-99FF-9C2AC51D660F}">
      <dgm:prSet/>
      <dgm:spPr/>
      <dgm:t>
        <a:bodyPr/>
        <a:lstStyle/>
        <a:p>
          <a:endParaRPr lang="en-US"/>
        </a:p>
      </dgm:t>
    </dgm:pt>
    <dgm:pt modelId="{BC7BD3D8-AE09-40E4-BF5F-E49F9D0B31F7}" type="sibTrans" cxnId="{9603C8BA-973B-41BC-99FF-9C2AC51D660F}">
      <dgm:prSet/>
      <dgm:spPr/>
      <dgm:t>
        <a:bodyPr/>
        <a:lstStyle/>
        <a:p>
          <a:endParaRPr lang="en-US"/>
        </a:p>
      </dgm:t>
    </dgm:pt>
    <dgm:pt modelId="{D1CF1F31-08FC-4CC7-9DE7-DB955A482282}" type="pres">
      <dgm:prSet presAssocID="{468A0628-7DB1-4B9D-BABD-FFCABFFCF29B}" presName="root" presStyleCnt="0">
        <dgm:presLayoutVars>
          <dgm:dir/>
          <dgm:resizeHandles val="exact"/>
        </dgm:presLayoutVars>
      </dgm:prSet>
      <dgm:spPr/>
    </dgm:pt>
    <dgm:pt modelId="{3BB65D07-E615-4FB8-A91B-762EC413EDA4}" type="pres">
      <dgm:prSet presAssocID="{468A0628-7DB1-4B9D-BABD-FFCABFFCF29B}" presName="container" presStyleCnt="0">
        <dgm:presLayoutVars>
          <dgm:dir/>
          <dgm:resizeHandles val="exact"/>
        </dgm:presLayoutVars>
      </dgm:prSet>
      <dgm:spPr/>
    </dgm:pt>
    <dgm:pt modelId="{320E2901-B9C5-4E6B-B61C-527D3460B070}" type="pres">
      <dgm:prSet presAssocID="{42DB66A4-AB06-4EC3-96DA-A62E0D76CB0D}" presName="compNode" presStyleCnt="0"/>
      <dgm:spPr/>
    </dgm:pt>
    <dgm:pt modelId="{FD049B72-C12B-4B36-ADBF-5405392F0261}" type="pres">
      <dgm:prSet presAssocID="{42DB66A4-AB06-4EC3-96DA-A62E0D76CB0D}" presName="iconBgRect" presStyleLbl="bgShp" presStyleIdx="0" presStyleCnt="5"/>
      <dgm:spPr/>
    </dgm:pt>
    <dgm:pt modelId="{3AFA2786-1BE7-46A0-AD1B-EAF6DA7C49C4}" type="pres">
      <dgm:prSet presAssocID="{42DB66A4-AB06-4EC3-96DA-A62E0D76CB0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_circle"/>
        </a:ext>
      </dgm:extLst>
    </dgm:pt>
    <dgm:pt modelId="{28875E5E-1C6C-4A62-AABB-D9EAAB8198A7}" type="pres">
      <dgm:prSet presAssocID="{42DB66A4-AB06-4EC3-96DA-A62E0D76CB0D}" presName="spaceRect" presStyleCnt="0"/>
      <dgm:spPr/>
    </dgm:pt>
    <dgm:pt modelId="{0402AED2-F4DA-4BDF-9809-FBD65E628F8C}" type="pres">
      <dgm:prSet presAssocID="{42DB66A4-AB06-4EC3-96DA-A62E0D76CB0D}" presName="textRect" presStyleLbl="revTx" presStyleIdx="0" presStyleCnt="5">
        <dgm:presLayoutVars>
          <dgm:chMax val="1"/>
          <dgm:chPref val="1"/>
        </dgm:presLayoutVars>
      </dgm:prSet>
      <dgm:spPr/>
    </dgm:pt>
    <dgm:pt modelId="{58F20615-DBF4-4CC6-BA25-E4020312C3A3}" type="pres">
      <dgm:prSet presAssocID="{4D3FD536-3283-419E-A0D6-F6395857D2FB}" presName="sibTrans" presStyleLbl="sibTrans2D1" presStyleIdx="0" presStyleCnt="0"/>
      <dgm:spPr/>
    </dgm:pt>
    <dgm:pt modelId="{F051B2E4-7286-4505-9AC9-3E988C268B95}" type="pres">
      <dgm:prSet presAssocID="{EE894346-4007-483E-B04E-5E366E90C486}" presName="compNode" presStyleCnt="0"/>
      <dgm:spPr/>
    </dgm:pt>
    <dgm:pt modelId="{23C1709F-CD4F-4E8F-AAB8-206E305577D6}" type="pres">
      <dgm:prSet presAssocID="{EE894346-4007-483E-B04E-5E366E90C486}" presName="iconBgRect" presStyleLbl="bgShp" presStyleIdx="1" presStyleCnt="5"/>
      <dgm:spPr/>
    </dgm:pt>
    <dgm:pt modelId="{3D121C9A-E9B7-4BA2-9F26-474E38CF8D07}" type="pres">
      <dgm:prSet presAssocID="{EE894346-4007-483E-B04E-5E366E90C48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rrow_27"/>
        </a:ext>
      </dgm:extLst>
    </dgm:pt>
    <dgm:pt modelId="{51A3D135-C6AA-4A31-B672-773F29B58B30}" type="pres">
      <dgm:prSet presAssocID="{EE894346-4007-483E-B04E-5E366E90C486}" presName="spaceRect" presStyleCnt="0"/>
      <dgm:spPr/>
    </dgm:pt>
    <dgm:pt modelId="{2EA5BF19-1A64-48CE-AAE7-B2C3EA50AA3B}" type="pres">
      <dgm:prSet presAssocID="{EE894346-4007-483E-B04E-5E366E90C486}" presName="textRect" presStyleLbl="revTx" presStyleIdx="1" presStyleCnt="5">
        <dgm:presLayoutVars>
          <dgm:chMax val="1"/>
          <dgm:chPref val="1"/>
        </dgm:presLayoutVars>
      </dgm:prSet>
      <dgm:spPr/>
    </dgm:pt>
    <dgm:pt modelId="{F788CE37-CD22-43CC-A1AC-2D04BAB2DE35}" type="pres">
      <dgm:prSet presAssocID="{978C7B5E-0A5E-485D-AF5E-F7F79935E08B}" presName="sibTrans" presStyleLbl="sibTrans2D1" presStyleIdx="0" presStyleCnt="0"/>
      <dgm:spPr/>
    </dgm:pt>
    <dgm:pt modelId="{459F4AE9-C93B-4B93-BEA3-A7C13150C559}" type="pres">
      <dgm:prSet presAssocID="{C28102FE-AE7A-45DE-8772-7D9003C85F58}" presName="compNode" presStyleCnt="0"/>
      <dgm:spPr/>
    </dgm:pt>
    <dgm:pt modelId="{48BD4476-41CB-4F47-B3DD-DA4C346292B4}" type="pres">
      <dgm:prSet presAssocID="{C28102FE-AE7A-45DE-8772-7D9003C85F58}" presName="iconBgRect" presStyleLbl="bgShp" presStyleIdx="2" presStyleCnt="5"/>
      <dgm:spPr/>
    </dgm:pt>
    <dgm:pt modelId="{7D1BD911-EEFF-4108-B8A4-A6A1FDEAC344}" type="pres">
      <dgm:prSet presAssocID="{C28102FE-AE7A-45DE-8772-7D9003C85F5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ransform_2"/>
        </a:ext>
      </dgm:extLst>
    </dgm:pt>
    <dgm:pt modelId="{8FE57F11-5F47-4F89-A7C1-12E62915EF22}" type="pres">
      <dgm:prSet presAssocID="{C28102FE-AE7A-45DE-8772-7D9003C85F58}" presName="spaceRect" presStyleCnt="0"/>
      <dgm:spPr/>
    </dgm:pt>
    <dgm:pt modelId="{562FCD8F-D30C-4F00-AA8F-825DFEB0DB5C}" type="pres">
      <dgm:prSet presAssocID="{C28102FE-AE7A-45DE-8772-7D9003C85F58}" presName="textRect" presStyleLbl="revTx" presStyleIdx="2" presStyleCnt="5">
        <dgm:presLayoutVars>
          <dgm:chMax val="1"/>
          <dgm:chPref val="1"/>
        </dgm:presLayoutVars>
      </dgm:prSet>
      <dgm:spPr/>
    </dgm:pt>
    <dgm:pt modelId="{32A741C7-AF99-419E-B8CA-4206436A9174}" type="pres">
      <dgm:prSet presAssocID="{C1C69151-13BD-4E73-85DF-E130CC486306}" presName="sibTrans" presStyleLbl="sibTrans2D1" presStyleIdx="0" presStyleCnt="0"/>
      <dgm:spPr/>
    </dgm:pt>
    <dgm:pt modelId="{A0A20D1E-E9CD-4EA1-9F7B-A7A775B419A4}" type="pres">
      <dgm:prSet presAssocID="{440BDBCF-A6BA-4BB3-B32F-056FBC1C8E06}" presName="compNode" presStyleCnt="0"/>
      <dgm:spPr/>
    </dgm:pt>
    <dgm:pt modelId="{1C54B115-375C-4AEB-B825-F27B3EDE9E19}" type="pres">
      <dgm:prSet presAssocID="{440BDBCF-A6BA-4BB3-B32F-056FBC1C8E06}" presName="iconBgRect" presStyleLbl="bgShp" presStyleIdx="3" presStyleCnt="5"/>
      <dgm:spPr/>
    </dgm:pt>
    <dgm:pt modelId="{76EDEF0B-42CC-440D-8471-5BE3EDAAF6FE}" type="pres">
      <dgm:prSet presAssocID="{440BDBCF-A6BA-4BB3-B32F-056FBC1C8E0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t="6250" b="6250"/>
          </a:stretch>
        </a:blipFill>
        <a:ln>
          <a:noFill/>
        </a:ln>
      </dgm:spPr>
      <dgm:extLst>
        <a:ext uri="{E40237B7-FDA0-4F09-8148-C483321AD2D9}">
          <dgm14:cNvPr xmlns:dgm14="http://schemas.microsoft.com/office/drawing/2010/diagram" id="0" name="" descr="ScaleDown_ED08"/>
        </a:ext>
      </dgm:extLst>
    </dgm:pt>
    <dgm:pt modelId="{97A85F1E-0CE1-46F4-9B38-46A3F6F27711}" type="pres">
      <dgm:prSet presAssocID="{440BDBCF-A6BA-4BB3-B32F-056FBC1C8E06}" presName="spaceRect" presStyleCnt="0"/>
      <dgm:spPr/>
    </dgm:pt>
    <dgm:pt modelId="{D88F38FD-1F24-485C-8C14-42605390A7E3}" type="pres">
      <dgm:prSet presAssocID="{440BDBCF-A6BA-4BB3-B32F-056FBC1C8E06}" presName="textRect" presStyleLbl="revTx" presStyleIdx="3" presStyleCnt="5">
        <dgm:presLayoutVars>
          <dgm:chMax val="1"/>
          <dgm:chPref val="1"/>
        </dgm:presLayoutVars>
      </dgm:prSet>
      <dgm:spPr/>
    </dgm:pt>
    <dgm:pt modelId="{0FCC37C0-A57C-441F-8C47-FBE4C669FCD3}" type="pres">
      <dgm:prSet presAssocID="{E4435D40-23F8-41D6-A9C1-777A3FAF1CDF}" presName="sibTrans" presStyleLbl="sibTrans2D1" presStyleIdx="0" presStyleCnt="0"/>
      <dgm:spPr/>
    </dgm:pt>
    <dgm:pt modelId="{CB0EF085-7BDD-47D3-9B01-0473DF74A3E6}" type="pres">
      <dgm:prSet presAssocID="{B004C696-1C0B-441B-96CD-09E0AE324622}" presName="compNode" presStyleCnt="0"/>
      <dgm:spPr/>
    </dgm:pt>
    <dgm:pt modelId="{7088A163-AE0C-469C-A0C2-A31C145BCB79}" type="pres">
      <dgm:prSet presAssocID="{B004C696-1C0B-441B-96CD-09E0AE324622}" presName="iconBgRect" presStyleLbl="bgShp" presStyleIdx="4" presStyleCnt="5" custLinFactX="81861" custLinFactNeighborX="100000" custLinFactNeighborY="-6062"/>
      <dgm:spPr/>
    </dgm:pt>
    <dgm:pt modelId="{AF39D327-AC96-45D1-8705-5D59A3E8C374}" type="pres">
      <dgm:prSet presAssocID="{B004C696-1C0B-441B-96CD-09E0AE324622}" presName="iconRect" presStyleLbl="node1" presStyleIdx="4" presStyleCnt="5" custLinFactX="105191" custLinFactNeighborX="200000" custLinFactNeighborY="-940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t="6250" b="6250"/>
          </a:stretch>
        </a:blipFill>
        <a:ln>
          <a:noFill/>
        </a:ln>
      </dgm:spPr>
      <dgm:extLst>
        <a:ext uri="{E40237B7-FDA0-4F09-8148-C483321AD2D9}">
          <dgm14:cNvPr xmlns:dgm14="http://schemas.microsoft.com/office/drawing/2010/diagram" id="0" name="" descr="Financial_E7BB"/>
        </a:ext>
      </dgm:extLst>
    </dgm:pt>
    <dgm:pt modelId="{8EAE7117-1A4D-49F7-9C24-F06AF1AECEC4}" type="pres">
      <dgm:prSet presAssocID="{B004C696-1C0B-441B-96CD-09E0AE324622}" presName="spaceRect" presStyleCnt="0"/>
      <dgm:spPr/>
    </dgm:pt>
    <dgm:pt modelId="{F811157D-ACBC-4855-A25A-189E94804B3E}" type="pres">
      <dgm:prSet presAssocID="{B004C696-1C0B-441B-96CD-09E0AE324622}" presName="textRect" presStyleLbl="revTx" presStyleIdx="4" presStyleCnt="5" custLinFactNeighborX="77152" custLinFactNeighborY="-6062">
        <dgm:presLayoutVars>
          <dgm:chMax val="1"/>
          <dgm:chPref val="1"/>
        </dgm:presLayoutVars>
      </dgm:prSet>
      <dgm:spPr/>
    </dgm:pt>
  </dgm:ptLst>
  <dgm:cxnLst>
    <dgm:cxn modelId="{6B45AB0B-2874-4AD5-9942-3A20AA276CF8}" type="presOf" srcId="{B004C696-1C0B-441B-96CD-09E0AE324622}" destId="{F811157D-ACBC-4855-A25A-189E94804B3E}" srcOrd="0" destOrd="0" presId="urn:microsoft.com/office/officeart/2018/2/layout/IconCircleList"/>
    <dgm:cxn modelId="{B8A5D710-26FC-48BD-9806-AC14FDF2F5EC}" srcId="{468A0628-7DB1-4B9D-BABD-FFCABFFCF29B}" destId="{440BDBCF-A6BA-4BB3-B32F-056FBC1C8E06}" srcOrd="3" destOrd="0" parTransId="{BFA19DCE-6863-4A52-8268-45C616E7932F}" sibTransId="{E4435D40-23F8-41D6-A9C1-777A3FAF1CDF}"/>
    <dgm:cxn modelId="{BE255D30-FA41-433E-AC0C-7E49E2F4F5E6}" type="presOf" srcId="{468A0628-7DB1-4B9D-BABD-FFCABFFCF29B}" destId="{D1CF1F31-08FC-4CC7-9DE7-DB955A482282}" srcOrd="0" destOrd="0" presId="urn:microsoft.com/office/officeart/2018/2/layout/IconCircleList"/>
    <dgm:cxn modelId="{72A65A40-59DF-488A-B636-7E06C383B32F}" type="presOf" srcId="{42DB66A4-AB06-4EC3-96DA-A62E0D76CB0D}" destId="{0402AED2-F4DA-4BDF-9809-FBD65E628F8C}" srcOrd="0" destOrd="0" presId="urn:microsoft.com/office/officeart/2018/2/layout/IconCircleList"/>
    <dgm:cxn modelId="{CFAB3C61-400B-4583-86B6-25FD57D1F1AB}" srcId="{468A0628-7DB1-4B9D-BABD-FFCABFFCF29B}" destId="{EE894346-4007-483E-B04E-5E366E90C486}" srcOrd="1" destOrd="0" parTransId="{7716A650-EFD5-4A7A-A4CA-B1E1DDA3C6B6}" sibTransId="{978C7B5E-0A5E-485D-AF5E-F7F79935E08B}"/>
    <dgm:cxn modelId="{EB8E216D-45A9-428E-BF3C-D3635E3DD293}" type="presOf" srcId="{C1C69151-13BD-4E73-85DF-E130CC486306}" destId="{32A741C7-AF99-419E-B8CA-4206436A9174}" srcOrd="0" destOrd="0" presId="urn:microsoft.com/office/officeart/2018/2/layout/IconCircleList"/>
    <dgm:cxn modelId="{C032F58E-E8EC-49C4-9402-3856C8260918}" srcId="{468A0628-7DB1-4B9D-BABD-FFCABFFCF29B}" destId="{C28102FE-AE7A-45DE-8772-7D9003C85F58}" srcOrd="2" destOrd="0" parTransId="{F27BC48C-6125-4271-A4DA-2ABD9996A3E7}" sibTransId="{C1C69151-13BD-4E73-85DF-E130CC486306}"/>
    <dgm:cxn modelId="{2FDB5896-1C16-4573-8D16-E645B5E42975}" type="presOf" srcId="{4D3FD536-3283-419E-A0D6-F6395857D2FB}" destId="{58F20615-DBF4-4CC6-BA25-E4020312C3A3}" srcOrd="0" destOrd="0" presId="urn:microsoft.com/office/officeart/2018/2/layout/IconCircleList"/>
    <dgm:cxn modelId="{9603C8BA-973B-41BC-99FF-9C2AC51D660F}" srcId="{468A0628-7DB1-4B9D-BABD-FFCABFFCF29B}" destId="{B004C696-1C0B-441B-96CD-09E0AE324622}" srcOrd="4" destOrd="0" parTransId="{13A85B04-7974-4498-BD80-57FC08B710C7}" sibTransId="{BC7BD3D8-AE09-40E4-BF5F-E49F9D0B31F7}"/>
    <dgm:cxn modelId="{68129BC7-F3B2-4B3D-933B-B1EF7DE92C9F}" type="presOf" srcId="{978C7B5E-0A5E-485D-AF5E-F7F79935E08B}" destId="{F788CE37-CD22-43CC-A1AC-2D04BAB2DE35}" srcOrd="0" destOrd="0" presId="urn:microsoft.com/office/officeart/2018/2/layout/IconCircleList"/>
    <dgm:cxn modelId="{1592E0DA-6E7E-4EC2-9F04-042839C2904B}" srcId="{468A0628-7DB1-4B9D-BABD-FFCABFFCF29B}" destId="{42DB66A4-AB06-4EC3-96DA-A62E0D76CB0D}" srcOrd="0" destOrd="0" parTransId="{1EA8BB13-9DAF-4E2E-92EA-3F3940BABF8F}" sibTransId="{4D3FD536-3283-419E-A0D6-F6395857D2FB}"/>
    <dgm:cxn modelId="{9C3600EB-5289-4C6F-AD60-C3B334168ECF}" type="presOf" srcId="{EE894346-4007-483E-B04E-5E366E90C486}" destId="{2EA5BF19-1A64-48CE-AAE7-B2C3EA50AA3B}" srcOrd="0" destOrd="0" presId="urn:microsoft.com/office/officeart/2018/2/layout/IconCircleList"/>
    <dgm:cxn modelId="{0CEF4FEC-21E3-4A6C-9A47-6F86BF0F85C5}" type="presOf" srcId="{E4435D40-23F8-41D6-A9C1-777A3FAF1CDF}" destId="{0FCC37C0-A57C-441F-8C47-FBE4C669FCD3}" srcOrd="0" destOrd="0" presId="urn:microsoft.com/office/officeart/2018/2/layout/IconCircleList"/>
    <dgm:cxn modelId="{3014C7EF-8E4E-446E-A07F-DE9010570154}" type="presOf" srcId="{440BDBCF-A6BA-4BB3-B32F-056FBC1C8E06}" destId="{D88F38FD-1F24-485C-8C14-42605390A7E3}" srcOrd="0" destOrd="0" presId="urn:microsoft.com/office/officeart/2018/2/layout/IconCircleList"/>
    <dgm:cxn modelId="{54B7B9FC-94B1-4F86-A457-8A299B49673A}" type="presOf" srcId="{C28102FE-AE7A-45DE-8772-7D9003C85F58}" destId="{562FCD8F-D30C-4F00-AA8F-825DFEB0DB5C}" srcOrd="0" destOrd="0" presId="urn:microsoft.com/office/officeart/2018/2/layout/IconCircleList"/>
    <dgm:cxn modelId="{3C419DD6-E990-450C-9561-F9342110E9F3}" type="presParOf" srcId="{D1CF1F31-08FC-4CC7-9DE7-DB955A482282}" destId="{3BB65D07-E615-4FB8-A91B-762EC413EDA4}" srcOrd="0" destOrd="0" presId="urn:microsoft.com/office/officeart/2018/2/layout/IconCircleList"/>
    <dgm:cxn modelId="{F399E216-2030-4BDA-90D0-AEF21F0003B7}" type="presParOf" srcId="{3BB65D07-E615-4FB8-A91B-762EC413EDA4}" destId="{320E2901-B9C5-4E6B-B61C-527D3460B070}" srcOrd="0" destOrd="0" presId="urn:microsoft.com/office/officeart/2018/2/layout/IconCircleList"/>
    <dgm:cxn modelId="{588D407A-9CAB-460E-830A-C1C6AE08724C}" type="presParOf" srcId="{320E2901-B9C5-4E6B-B61C-527D3460B070}" destId="{FD049B72-C12B-4B36-ADBF-5405392F0261}" srcOrd="0" destOrd="0" presId="urn:microsoft.com/office/officeart/2018/2/layout/IconCircleList"/>
    <dgm:cxn modelId="{6F2692E3-3E61-4333-9C6B-E898E5FF9D25}" type="presParOf" srcId="{320E2901-B9C5-4E6B-B61C-527D3460B070}" destId="{3AFA2786-1BE7-46A0-AD1B-EAF6DA7C49C4}" srcOrd="1" destOrd="0" presId="urn:microsoft.com/office/officeart/2018/2/layout/IconCircleList"/>
    <dgm:cxn modelId="{D1A9C3F8-04DB-4EAA-A228-CB44C7A84F2E}" type="presParOf" srcId="{320E2901-B9C5-4E6B-B61C-527D3460B070}" destId="{28875E5E-1C6C-4A62-AABB-D9EAAB8198A7}" srcOrd="2" destOrd="0" presId="urn:microsoft.com/office/officeart/2018/2/layout/IconCircleList"/>
    <dgm:cxn modelId="{F5733317-4177-44F7-8937-98FA158F763D}" type="presParOf" srcId="{320E2901-B9C5-4E6B-B61C-527D3460B070}" destId="{0402AED2-F4DA-4BDF-9809-FBD65E628F8C}" srcOrd="3" destOrd="0" presId="urn:microsoft.com/office/officeart/2018/2/layout/IconCircleList"/>
    <dgm:cxn modelId="{83447919-89AB-4B39-AE18-008ED37DEE25}" type="presParOf" srcId="{3BB65D07-E615-4FB8-A91B-762EC413EDA4}" destId="{58F20615-DBF4-4CC6-BA25-E4020312C3A3}" srcOrd="1" destOrd="0" presId="urn:microsoft.com/office/officeart/2018/2/layout/IconCircleList"/>
    <dgm:cxn modelId="{5B18EC97-B296-44A5-A1DC-C0A0D5C412DA}" type="presParOf" srcId="{3BB65D07-E615-4FB8-A91B-762EC413EDA4}" destId="{F051B2E4-7286-4505-9AC9-3E988C268B95}" srcOrd="2" destOrd="0" presId="urn:microsoft.com/office/officeart/2018/2/layout/IconCircleList"/>
    <dgm:cxn modelId="{BCBA05DF-CB50-4FD7-A4E2-AAAC29784C47}" type="presParOf" srcId="{F051B2E4-7286-4505-9AC9-3E988C268B95}" destId="{23C1709F-CD4F-4E8F-AAB8-206E305577D6}" srcOrd="0" destOrd="0" presId="urn:microsoft.com/office/officeart/2018/2/layout/IconCircleList"/>
    <dgm:cxn modelId="{E8A11F17-B846-49F8-ADA1-9EBE407F1A0B}" type="presParOf" srcId="{F051B2E4-7286-4505-9AC9-3E988C268B95}" destId="{3D121C9A-E9B7-4BA2-9F26-474E38CF8D07}" srcOrd="1" destOrd="0" presId="urn:microsoft.com/office/officeart/2018/2/layout/IconCircleList"/>
    <dgm:cxn modelId="{85755687-5FD9-4F87-B7E3-BC0A465AFD44}" type="presParOf" srcId="{F051B2E4-7286-4505-9AC9-3E988C268B95}" destId="{51A3D135-C6AA-4A31-B672-773F29B58B30}" srcOrd="2" destOrd="0" presId="urn:microsoft.com/office/officeart/2018/2/layout/IconCircleList"/>
    <dgm:cxn modelId="{9113AB9E-55E3-40FE-B367-A25D2788BEB0}" type="presParOf" srcId="{F051B2E4-7286-4505-9AC9-3E988C268B95}" destId="{2EA5BF19-1A64-48CE-AAE7-B2C3EA50AA3B}" srcOrd="3" destOrd="0" presId="urn:microsoft.com/office/officeart/2018/2/layout/IconCircleList"/>
    <dgm:cxn modelId="{BAE86FB3-68EC-4C8F-B07C-F80EFAAA8581}" type="presParOf" srcId="{3BB65D07-E615-4FB8-A91B-762EC413EDA4}" destId="{F788CE37-CD22-43CC-A1AC-2D04BAB2DE35}" srcOrd="3" destOrd="0" presId="urn:microsoft.com/office/officeart/2018/2/layout/IconCircleList"/>
    <dgm:cxn modelId="{B41B8504-4292-439C-8611-FFB689387E26}" type="presParOf" srcId="{3BB65D07-E615-4FB8-A91B-762EC413EDA4}" destId="{459F4AE9-C93B-4B93-BEA3-A7C13150C559}" srcOrd="4" destOrd="0" presId="urn:microsoft.com/office/officeart/2018/2/layout/IconCircleList"/>
    <dgm:cxn modelId="{65785DF3-F2C6-4B76-BB95-23E112750B0E}" type="presParOf" srcId="{459F4AE9-C93B-4B93-BEA3-A7C13150C559}" destId="{48BD4476-41CB-4F47-B3DD-DA4C346292B4}" srcOrd="0" destOrd="0" presId="urn:microsoft.com/office/officeart/2018/2/layout/IconCircleList"/>
    <dgm:cxn modelId="{B634881B-A530-4552-8217-BC6085515224}" type="presParOf" srcId="{459F4AE9-C93B-4B93-BEA3-A7C13150C559}" destId="{7D1BD911-EEFF-4108-B8A4-A6A1FDEAC344}" srcOrd="1" destOrd="0" presId="urn:microsoft.com/office/officeart/2018/2/layout/IconCircleList"/>
    <dgm:cxn modelId="{D6A6D61A-B763-44C0-BBAF-7D7514256F2A}" type="presParOf" srcId="{459F4AE9-C93B-4B93-BEA3-A7C13150C559}" destId="{8FE57F11-5F47-4F89-A7C1-12E62915EF22}" srcOrd="2" destOrd="0" presId="urn:microsoft.com/office/officeart/2018/2/layout/IconCircleList"/>
    <dgm:cxn modelId="{3132E6A3-BAE5-4AA5-AEF9-11EECC01B302}" type="presParOf" srcId="{459F4AE9-C93B-4B93-BEA3-A7C13150C559}" destId="{562FCD8F-D30C-4F00-AA8F-825DFEB0DB5C}" srcOrd="3" destOrd="0" presId="urn:microsoft.com/office/officeart/2018/2/layout/IconCircleList"/>
    <dgm:cxn modelId="{A46905BB-0E13-4366-B5E0-B34AA0AF28B7}" type="presParOf" srcId="{3BB65D07-E615-4FB8-A91B-762EC413EDA4}" destId="{32A741C7-AF99-419E-B8CA-4206436A9174}" srcOrd="5" destOrd="0" presId="urn:microsoft.com/office/officeart/2018/2/layout/IconCircleList"/>
    <dgm:cxn modelId="{6DC1B8A2-49D2-49C1-90E5-3E38F431FF11}" type="presParOf" srcId="{3BB65D07-E615-4FB8-A91B-762EC413EDA4}" destId="{A0A20D1E-E9CD-4EA1-9F7B-A7A775B419A4}" srcOrd="6" destOrd="0" presId="urn:microsoft.com/office/officeart/2018/2/layout/IconCircleList"/>
    <dgm:cxn modelId="{8488CB3A-150A-4BB8-9F26-8F5A9A721059}" type="presParOf" srcId="{A0A20D1E-E9CD-4EA1-9F7B-A7A775B419A4}" destId="{1C54B115-375C-4AEB-B825-F27B3EDE9E19}" srcOrd="0" destOrd="0" presId="urn:microsoft.com/office/officeart/2018/2/layout/IconCircleList"/>
    <dgm:cxn modelId="{56E080D8-AC92-47AC-9A55-F0BA973911E1}" type="presParOf" srcId="{A0A20D1E-E9CD-4EA1-9F7B-A7A775B419A4}" destId="{76EDEF0B-42CC-440D-8471-5BE3EDAAF6FE}" srcOrd="1" destOrd="0" presId="urn:microsoft.com/office/officeart/2018/2/layout/IconCircleList"/>
    <dgm:cxn modelId="{372D1031-8FF1-4D99-BBF2-5646F3EFBD6E}" type="presParOf" srcId="{A0A20D1E-E9CD-4EA1-9F7B-A7A775B419A4}" destId="{97A85F1E-0CE1-46F4-9B38-46A3F6F27711}" srcOrd="2" destOrd="0" presId="urn:microsoft.com/office/officeart/2018/2/layout/IconCircleList"/>
    <dgm:cxn modelId="{1C9E4582-FB55-4C48-BBC6-891FB3C3A4B3}" type="presParOf" srcId="{A0A20D1E-E9CD-4EA1-9F7B-A7A775B419A4}" destId="{D88F38FD-1F24-485C-8C14-42605390A7E3}" srcOrd="3" destOrd="0" presId="urn:microsoft.com/office/officeart/2018/2/layout/IconCircleList"/>
    <dgm:cxn modelId="{93980A6B-0A89-433E-BE64-D6E169BC3509}" type="presParOf" srcId="{3BB65D07-E615-4FB8-A91B-762EC413EDA4}" destId="{0FCC37C0-A57C-441F-8C47-FBE4C669FCD3}" srcOrd="7" destOrd="0" presId="urn:microsoft.com/office/officeart/2018/2/layout/IconCircleList"/>
    <dgm:cxn modelId="{8184012D-0E6B-4FEB-A170-F6679D225540}" type="presParOf" srcId="{3BB65D07-E615-4FB8-A91B-762EC413EDA4}" destId="{CB0EF085-7BDD-47D3-9B01-0473DF74A3E6}" srcOrd="8" destOrd="0" presId="urn:microsoft.com/office/officeart/2018/2/layout/IconCircleList"/>
    <dgm:cxn modelId="{33428CFF-7003-49EA-BA27-FA15FE1DDF77}" type="presParOf" srcId="{CB0EF085-7BDD-47D3-9B01-0473DF74A3E6}" destId="{7088A163-AE0C-469C-A0C2-A31C145BCB79}" srcOrd="0" destOrd="0" presId="urn:microsoft.com/office/officeart/2018/2/layout/IconCircleList"/>
    <dgm:cxn modelId="{9DE89DD9-4FBD-4F6E-8CCF-AD5C478A6965}" type="presParOf" srcId="{CB0EF085-7BDD-47D3-9B01-0473DF74A3E6}" destId="{AF39D327-AC96-45D1-8705-5D59A3E8C374}" srcOrd="1" destOrd="0" presId="urn:microsoft.com/office/officeart/2018/2/layout/IconCircleList"/>
    <dgm:cxn modelId="{73F7BC9B-D213-4EFB-B072-1BD0906EDDFA}" type="presParOf" srcId="{CB0EF085-7BDD-47D3-9B01-0473DF74A3E6}" destId="{8EAE7117-1A4D-49F7-9C24-F06AF1AECEC4}" srcOrd="2" destOrd="0" presId="urn:microsoft.com/office/officeart/2018/2/layout/IconCircleList"/>
    <dgm:cxn modelId="{DC7F8062-946A-4E2C-88E2-A32A8364EEB1}" type="presParOf" srcId="{CB0EF085-7BDD-47D3-9B01-0473DF74A3E6}" destId="{F811157D-ACBC-4855-A25A-189E94804B3E}"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049B72-C12B-4B36-ADBF-5405392F0261}">
      <dsp:nvSpPr>
        <dsp:cNvPr id="0" name=""/>
        <dsp:cNvSpPr/>
      </dsp:nvSpPr>
      <dsp:spPr>
        <a:xfrm>
          <a:off x="1761434" y="106638"/>
          <a:ext cx="992374" cy="99237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FA2786-1BE7-46A0-AD1B-EAF6DA7C49C4}">
      <dsp:nvSpPr>
        <dsp:cNvPr id="0" name=""/>
        <dsp:cNvSpPr/>
      </dsp:nvSpPr>
      <dsp:spPr>
        <a:xfrm>
          <a:off x="1969833" y="315036"/>
          <a:ext cx="575577" cy="57557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402AED2-F4DA-4BDF-9809-FBD65E628F8C}">
      <dsp:nvSpPr>
        <dsp:cNvPr id="0" name=""/>
        <dsp:cNvSpPr/>
      </dsp:nvSpPr>
      <dsp:spPr>
        <a:xfrm>
          <a:off x="2966460" y="106638"/>
          <a:ext cx="2339167" cy="992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GB" sz="1900" i="0" kern="1200"/>
            <a:t>Choose the correct resources</a:t>
          </a:r>
          <a:endParaRPr lang="en-US" sz="1900" kern="1200"/>
        </a:p>
      </dsp:txBody>
      <dsp:txXfrm>
        <a:off x="2966460" y="106638"/>
        <a:ext cx="2339167" cy="992374"/>
      </dsp:txXfrm>
    </dsp:sp>
    <dsp:sp modelId="{23C1709F-CD4F-4E8F-AAB8-206E305577D6}">
      <dsp:nvSpPr>
        <dsp:cNvPr id="0" name=""/>
        <dsp:cNvSpPr/>
      </dsp:nvSpPr>
      <dsp:spPr>
        <a:xfrm>
          <a:off x="5713210" y="106638"/>
          <a:ext cx="992374" cy="99237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121C9A-E9B7-4BA2-9F26-474E38CF8D07}">
      <dsp:nvSpPr>
        <dsp:cNvPr id="0" name=""/>
        <dsp:cNvSpPr/>
      </dsp:nvSpPr>
      <dsp:spPr>
        <a:xfrm>
          <a:off x="5921608" y="315036"/>
          <a:ext cx="575577" cy="57557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A5BF19-1A64-48CE-AAE7-B2C3EA50AA3B}">
      <dsp:nvSpPr>
        <dsp:cNvPr id="0" name=""/>
        <dsp:cNvSpPr/>
      </dsp:nvSpPr>
      <dsp:spPr>
        <a:xfrm>
          <a:off x="6918235" y="106638"/>
          <a:ext cx="2339167" cy="992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GB" sz="1900" i="0" kern="1200" dirty="0"/>
            <a:t>Set up budgets and maintain cost constraints</a:t>
          </a:r>
          <a:endParaRPr lang="en-US" sz="1900" kern="1200" dirty="0"/>
        </a:p>
      </dsp:txBody>
      <dsp:txXfrm>
        <a:off x="6918235" y="106638"/>
        <a:ext cx="2339167" cy="992374"/>
      </dsp:txXfrm>
    </dsp:sp>
    <dsp:sp modelId="{48BD4476-41CB-4F47-B3DD-DA4C346292B4}">
      <dsp:nvSpPr>
        <dsp:cNvPr id="0" name=""/>
        <dsp:cNvSpPr/>
      </dsp:nvSpPr>
      <dsp:spPr>
        <a:xfrm>
          <a:off x="1761434" y="1920781"/>
          <a:ext cx="992374" cy="99237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1BD911-EEFF-4108-B8A4-A6A1FDEAC344}">
      <dsp:nvSpPr>
        <dsp:cNvPr id="0" name=""/>
        <dsp:cNvSpPr/>
      </dsp:nvSpPr>
      <dsp:spPr>
        <a:xfrm>
          <a:off x="1969833" y="2129180"/>
          <a:ext cx="575577" cy="57557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62FCD8F-D30C-4F00-AA8F-825DFEB0DB5C}">
      <dsp:nvSpPr>
        <dsp:cNvPr id="0" name=""/>
        <dsp:cNvSpPr/>
      </dsp:nvSpPr>
      <dsp:spPr>
        <a:xfrm>
          <a:off x="2966460" y="1920781"/>
          <a:ext cx="2339167" cy="992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GB" sz="1900" i="0" kern="1200"/>
            <a:t>Dynamically allocate and de-allocate resources</a:t>
          </a:r>
          <a:endParaRPr lang="en-US" sz="1900" kern="1200"/>
        </a:p>
      </dsp:txBody>
      <dsp:txXfrm>
        <a:off x="2966460" y="1920781"/>
        <a:ext cx="2339167" cy="992374"/>
      </dsp:txXfrm>
    </dsp:sp>
    <dsp:sp modelId="{1C54B115-375C-4AEB-B825-F27B3EDE9E19}">
      <dsp:nvSpPr>
        <dsp:cNvPr id="0" name=""/>
        <dsp:cNvSpPr/>
      </dsp:nvSpPr>
      <dsp:spPr>
        <a:xfrm>
          <a:off x="5713210" y="1920781"/>
          <a:ext cx="992374" cy="99237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EDEF0B-42CC-440D-8471-5BE3EDAAF6FE}">
      <dsp:nvSpPr>
        <dsp:cNvPr id="0" name=""/>
        <dsp:cNvSpPr/>
      </dsp:nvSpPr>
      <dsp:spPr>
        <a:xfrm>
          <a:off x="5921608" y="2129180"/>
          <a:ext cx="575577" cy="57557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t="6250" b="6250"/>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8F38FD-1F24-485C-8C14-42605390A7E3}">
      <dsp:nvSpPr>
        <dsp:cNvPr id="0" name=""/>
        <dsp:cNvSpPr/>
      </dsp:nvSpPr>
      <dsp:spPr>
        <a:xfrm>
          <a:off x="6918235" y="1920781"/>
          <a:ext cx="2339167" cy="992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GB" sz="1900" i="0" kern="1200"/>
            <a:t>Optimize workloads, aim for scalable costs</a:t>
          </a:r>
          <a:endParaRPr lang="en-US" sz="1900" kern="1200"/>
        </a:p>
      </dsp:txBody>
      <dsp:txXfrm>
        <a:off x="6918235" y="1920781"/>
        <a:ext cx="2339167" cy="992374"/>
      </dsp:txXfrm>
    </dsp:sp>
    <dsp:sp modelId="{7088A163-AE0C-469C-A0C2-A31C145BCB79}">
      <dsp:nvSpPr>
        <dsp:cNvPr id="0" name=""/>
        <dsp:cNvSpPr/>
      </dsp:nvSpPr>
      <dsp:spPr>
        <a:xfrm>
          <a:off x="3566176" y="3674767"/>
          <a:ext cx="992374" cy="99237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39D327-AC96-45D1-8705-5D59A3E8C374}">
      <dsp:nvSpPr>
        <dsp:cNvPr id="0" name=""/>
        <dsp:cNvSpPr/>
      </dsp:nvSpPr>
      <dsp:spPr>
        <a:xfrm>
          <a:off x="3726442" y="3889185"/>
          <a:ext cx="575577" cy="57557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t="6250" b="6250"/>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11157D-ACBC-4855-A25A-189E94804B3E}">
      <dsp:nvSpPr>
        <dsp:cNvPr id="0" name=""/>
        <dsp:cNvSpPr/>
      </dsp:nvSpPr>
      <dsp:spPr>
        <a:xfrm>
          <a:off x="4771174" y="3674767"/>
          <a:ext cx="2339167" cy="992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GB" sz="1900" i="0" kern="1200" dirty="0"/>
            <a:t>Continuously monitor and optimize cost management</a:t>
          </a:r>
          <a:endParaRPr lang="en-US" sz="1900" kern="1200" dirty="0"/>
        </a:p>
      </dsp:txBody>
      <dsp:txXfrm>
        <a:off x="4771174" y="3674767"/>
        <a:ext cx="2339167" cy="99237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3ADF01-73FF-4299-BB24-9DC60237508E}" type="datetimeFigureOut">
              <a:rPr lang="en-US" smtClean="0"/>
              <a:t>1/25/2026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67107-53D3-4CCF-8756-27475A9ECA68}" type="slidenum">
              <a:rPr lang="en-US" smtClean="0"/>
              <a:t>‹#›</a:t>
            </a:fld>
            <a:endParaRPr lang="en-US"/>
          </a:p>
        </p:txBody>
      </p:sp>
    </p:spTree>
    <p:extLst>
      <p:ext uri="{BB962C8B-B14F-4D97-AF65-F5344CB8AC3E}">
        <p14:creationId xmlns:p14="http://schemas.microsoft.com/office/powerpoint/2010/main" val="1996983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338138"/>
            <a:ext cx="6400800" cy="36004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05B7E7-0FB2-4B87-ABF2-08C7345D51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8927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67107-53D3-4CCF-8756-27475A9ECA68}" type="slidenum">
              <a:rPr lang="en-US" smtClean="0"/>
              <a:t>3</a:t>
            </a:fld>
            <a:endParaRPr lang="en-US"/>
          </a:p>
        </p:txBody>
      </p:sp>
    </p:spTree>
    <p:extLst>
      <p:ext uri="{BB962C8B-B14F-4D97-AF65-F5344CB8AC3E}">
        <p14:creationId xmlns:p14="http://schemas.microsoft.com/office/powerpoint/2010/main" val="1927395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338138"/>
            <a:ext cx="6400800" cy="36004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05B7E7-0FB2-4B87-ABF2-08C7345D51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1992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338138"/>
            <a:ext cx="6400800" cy="36004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05B7E7-0FB2-4B87-ABF2-08C7345D51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0485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67107-53D3-4CCF-8756-27475A9ECA68}" type="slidenum">
              <a:rPr lang="en-US" smtClean="0"/>
              <a:t>9</a:t>
            </a:fld>
            <a:endParaRPr lang="en-US"/>
          </a:p>
        </p:txBody>
      </p:sp>
    </p:spTree>
    <p:extLst>
      <p:ext uri="{BB962C8B-B14F-4D97-AF65-F5344CB8AC3E}">
        <p14:creationId xmlns:p14="http://schemas.microsoft.com/office/powerpoint/2010/main" val="4095013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kern="120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08277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38E67107-53D3-4CCF-8756-27475A9ECA68}" type="slidenum">
              <a:rPr lang="en-US" smtClean="0"/>
              <a:t>15</a:t>
            </a:fld>
            <a:endParaRPr lang="en-US"/>
          </a:p>
        </p:txBody>
      </p:sp>
    </p:spTree>
    <p:extLst>
      <p:ext uri="{BB962C8B-B14F-4D97-AF65-F5344CB8AC3E}">
        <p14:creationId xmlns:p14="http://schemas.microsoft.com/office/powerpoint/2010/main" val="4044489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71717"/>
                </a:solidFill>
                <a:effectLst/>
                <a:latin typeface="Segoe UI" panose="020B0502040204020203" pitchFamily="34" charset="0"/>
              </a:rPr>
              <a:t>A cost-effective workload is driven by business goals and the return on investment (ROI) while staying within a given budget. The principles of cost optimization are a series of important considerations that can help achieve both business objectives and cost justification.</a:t>
            </a:r>
          </a:p>
          <a:p>
            <a:endParaRPr lang="en-GB" b="0" i="0" dirty="0">
              <a:solidFill>
                <a:srgbClr val="171717"/>
              </a:solidFill>
              <a:effectLst/>
              <a:latin typeface="Segoe UI" panose="020B0502040204020203" pitchFamily="34" charset="0"/>
            </a:endParaRPr>
          </a:p>
          <a:p>
            <a:endParaRPr lang="en-GB" b="0" i="0" dirty="0">
              <a:solidFill>
                <a:srgbClr val="171717"/>
              </a:solidFill>
              <a:effectLst/>
              <a:latin typeface="Segoe UI" panose="020B0502040204020203" pitchFamily="34" charset="0"/>
            </a:endParaRPr>
          </a:p>
          <a:p>
            <a:endParaRPr lang="en-GB" dirty="0"/>
          </a:p>
        </p:txBody>
      </p:sp>
      <p:sp>
        <p:nvSpPr>
          <p:cNvPr id="4" name="Slide Number Placeholder 3"/>
          <p:cNvSpPr>
            <a:spLocks noGrp="1"/>
          </p:cNvSpPr>
          <p:nvPr>
            <p:ph type="sldNum" sz="quarter" idx="5"/>
          </p:nvPr>
        </p:nvSpPr>
        <p:spPr/>
        <p:txBody>
          <a:bodyPr/>
          <a:lstStyle/>
          <a:p>
            <a:fld id="{AC4D6E41-41C3-480B-8C85-01AD88D59BF1}" type="slidenum">
              <a:rPr lang="en-US" smtClean="0"/>
              <a:t>17</a:t>
            </a:fld>
            <a:endParaRPr lang="en-US"/>
          </a:p>
        </p:txBody>
      </p:sp>
    </p:spTree>
    <p:extLst>
      <p:ext uri="{BB962C8B-B14F-4D97-AF65-F5344CB8AC3E}">
        <p14:creationId xmlns:p14="http://schemas.microsoft.com/office/powerpoint/2010/main" val="1389090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1" dirty="0">
                <a:solidFill>
                  <a:srgbClr val="161616"/>
                </a:solidFill>
                <a:effectLst/>
                <a:latin typeface="Segoe UI" panose="020B0502040204020203" pitchFamily="34" charset="0"/>
              </a:rPr>
              <a:t>Cost </a:t>
            </a:r>
            <a:r>
              <a:rPr lang="en-GB" b="0" i="1" dirty="0" err="1">
                <a:solidFill>
                  <a:srgbClr val="161616"/>
                </a:solidFill>
                <a:effectLst/>
                <a:latin typeface="Segoe UI" panose="020B0502040204020203" pitchFamily="34" charset="0"/>
              </a:rPr>
              <a:t>modeling</a:t>
            </a:r>
            <a:r>
              <a:rPr lang="en-GB" b="0" i="0" dirty="0">
                <a:solidFill>
                  <a:srgbClr val="161616"/>
                </a:solidFill>
                <a:effectLst/>
                <a:latin typeface="Segoe UI" panose="020B0502040204020203" pitchFamily="34" charset="0"/>
              </a:rPr>
              <a:t> is an exercise where you create logical groups of cloud resources that are mapped to the organization's hierarchy and then estimate costs for those groups. The goal of cost </a:t>
            </a:r>
            <a:r>
              <a:rPr lang="en-GB" b="0" i="0" dirty="0" err="1">
                <a:solidFill>
                  <a:srgbClr val="161616"/>
                </a:solidFill>
                <a:effectLst/>
                <a:latin typeface="Segoe UI" panose="020B0502040204020203" pitchFamily="34" charset="0"/>
              </a:rPr>
              <a:t>modeling</a:t>
            </a:r>
            <a:r>
              <a:rPr lang="en-GB" b="0" i="0" dirty="0">
                <a:solidFill>
                  <a:srgbClr val="161616"/>
                </a:solidFill>
                <a:effectLst/>
                <a:latin typeface="Segoe UI" panose="020B0502040204020203" pitchFamily="34" charset="0"/>
              </a:rPr>
              <a:t> is to estimate the overall cost of the organization in the cloud.</a:t>
            </a:r>
          </a:p>
          <a:p>
            <a:endParaRPr lang="en-GB"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GB" sz="1200" i="0" dirty="0">
                <a:solidFill>
                  <a:srgbClr val="171717"/>
                </a:solidFill>
                <a:effectLst/>
                <a:latin typeface="Segoe UI" panose="020B0502040204020203" pitchFamily="34" charset="0"/>
              </a:rPr>
              <a:t>Capture clear requirements. </a:t>
            </a:r>
            <a:endParaRPr lang="en-GB" sz="1200" dirty="0">
              <a:solidFill>
                <a:srgbClr val="171717"/>
              </a:solidFill>
              <a:latin typeface="Segoe UI" panose="020B0502040204020203" pitchFamily="34" charset="0"/>
            </a:endParaRPr>
          </a:p>
          <a:p>
            <a:pPr marL="285750" indent="-285750" algn="l">
              <a:buFont typeface="Arial" panose="020B0604020202020204" pitchFamily="34" charset="0"/>
              <a:buChar char="•"/>
            </a:pPr>
            <a:r>
              <a:rPr lang="en-GB" sz="1200" i="0" dirty="0">
                <a:solidFill>
                  <a:srgbClr val="171717"/>
                </a:solidFill>
                <a:effectLst/>
                <a:latin typeface="Segoe UI" panose="020B0502040204020203" pitchFamily="34" charset="0"/>
              </a:rPr>
              <a:t>Estimate the initial cost. </a:t>
            </a:r>
          </a:p>
          <a:p>
            <a:pPr marL="285750" indent="-285750" algn="l">
              <a:buFont typeface="Arial" panose="020B0604020202020204" pitchFamily="34" charset="0"/>
              <a:buChar char="•"/>
            </a:pPr>
            <a:r>
              <a:rPr lang="en-GB" sz="1200" i="0" dirty="0">
                <a:solidFill>
                  <a:srgbClr val="171717"/>
                </a:solidFill>
                <a:effectLst/>
                <a:latin typeface="Segoe UI" panose="020B0502040204020203" pitchFamily="34" charset="0"/>
              </a:rPr>
              <a:t>Define policies for the cost constraints defined by the organization. </a:t>
            </a:r>
          </a:p>
          <a:p>
            <a:pPr marL="285750" indent="-285750" algn="l">
              <a:buFont typeface="Arial" panose="020B0604020202020204" pitchFamily="34" charset="0"/>
              <a:buChar char="•"/>
            </a:pPr>
            <a:r>
              <a:rPr lang="en-GB" sz="1200" i="0" dirty="0">
                <a:solidFill>
                  <a:srgbClr val="171717"/>
                </a:solidFill>
                <a:effectLst/>
                <a:latin typeface="Segoe UI" panose="020B0502040204020203" pitchFamily="34" charset="0"/>
              </a:rPr>
              <a:t>Identify shared assets. </a:t>
            </a:r>
          </a:p>
          <a:p>
            <a:pPr marL="285750" indent="-285750" algn="l">
              <a:buFont typeface="Arial" panose="020B0604020202020204" pitchFamily="34" charset="0"/>
              <a:buChar char="•"/>
            </a:pPr>
            <a:r>
              <a:rPr lang="en-GB" sz="1200" i="0" dirty="0">
                <a:solidFill>
                  <a:srgbClr val="171717"/>
                </a:solidFill>
                <a:effectLst/>
                <a:latin typeface="Segoe UI" panose="020B0502040204020203" pitchFamily="34" charset="0"/>
              </a:rPr>
              <a:t>Plan a governance strategy.</a:t>
            </a:r>
          </a:p>
          <a:p>
            <a:endParaRPr lang="en-GB" dirty="0"/>
          </a:p>
          <a:p>
            <a:r>
              <a:rPr lang="en-GB" b="0" i="0" dirty="0">
                <a:solidFill>
                  <a:srgbClr val="161616"/>
                </a:solidFill>
                <a:effectLst/>
                <a:latin typeface="Segoe UI" panose="020B0502040204020203" pitchFamily="34" charset="0"/>
              </a:rPr>
              <a:t>At the end of this exercise, you should have identified the lower and upper limits on cost and set budgets for the workload. </a:t>
            </a:r>
          </a:p>
          <a:p>
            <a:endParaRPr lang="en-GB" b="0" i="0" dirty="0">
              <a:solidFill>
                <a:srgbClr val="161616"/>
              </a:solidFill>
              <a:effectLst/>
              <a:latin typeface="Segoe UI" panose="020B0502040204020203" pitchFamily="34" charset="0"/>
            </a:endParaRPr>
          </a:p>
          <a:p>
            <a:endParaRPr lang="en-GB" dirty="0"/>
          </a:p>
        </p:txBody>
      </p:sp>
      <p:sp>
        <p:nvSpPr>
          <p:cNvPr id="4" name="Slide Number Placeholder 3"/>
          <p:cNvSpPr>
            <a:spLocks noGrp="1"/>
          </p:cNvSpPr>
          <p:nvPr>
            <p:ph type="sldNum" sz="quarter" idx="5"/>
          </p:nvPr>
        </p:nvSpPr>
        <p:spPr/>
        <p:txBody>
          <a:bodyPr/>
          <a:lstStyle/>
          <a:p>
            <a:fld id="{38E67107-53D3-4CCF-8756-27475A9ECA68}" type="slidenum">
              <a:rPr lang="en-US" smtClean="0"/>
              <a:t>18</a:t>
            </a:fld>
            <a:endParaRPr lang="en-US"/>
          </a:p>
        </p:txBody>
      </p:sp>
    </p:spTree>
    <p:extLst>
      <p:ext uri="{BB962C8B-B14F-4D97-AF65-F5344CB8AC3E}">
        <p14:creationId xmlns:p14="http://schemas.microsoft.com/office/powerpoint/2010/main" val="120832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61616"/>
                </a:solidFill>
                <a:effectLst/>
                <a:latin typeface="Segoe UI" panose="020B0502040204020203" pitchFamily="34" charset="0"/>
              </a:rPr>
              <a:t>Continue to monitor the workload by using the right resources and sizes. </a:t>
            </a:r>
          </a:p>
          <a:p>
            <a:endParaRPr lang="en-GB" b="0" i="0" dirty="0">
              <a:solidFill>
                <a:srgbClr val="161616"/>
              </a:solidFill>
              <a:effectLst/>
              <a:latin typeface="Segoe UI" panose="020B0502040204020203" pitchFamily="34" charset="0"/>
            </a:endParaRPr>
          </a:p>
          <a:p>
            <a:r>
              <a:rPr lang="en-GB" b="0" i="0" dirty="0">
                <a:solidFill>
                  <a:srgbClr val="161616"/>
                </a:solidFill>
                <a:effectLst/>
                <a:latin typeface="Segoe UI" panose="020B0502040204020203" pitchFamily="34" charset="0"/>
              </a:rPr>
              <a:t>Keep informed about how your organization's costs evolve over time. Use the following techniques to properly understand and manage your spending.</a:t>
            </a:r>
            <a:endParaRPr lang="en-GB" dirty="0"/>
          </a:p>
        </p:txBody>
      </p:sp>
      <p:sp>
        <p:nvSpPr>
          <p:cNvPr id="4" name="Slide Number Placeholder 3"/>
          <p:cNvSpPr>
            <a:spLocks noGrp="1"/>
          </p:cNvSpPr>
          <p:nvPr>
            <p:ph type="sldNum" sz="quarter" idx="5"/>
          </p:nvPr>
        </p:nvSpPr>
        <p:spPr/>
        <p:txBody>
          <a:bodyPr/>
          <a:lstStyle/>
          <a:p>
            <a:fld id="{38E67107-53D3-4CCF-8756-27475A9ECA68}" type="slidenum">
              <a:rPr lang="en-US" smtClean="0"/>
              <a:t>19</a:t>
            </a:fld>
            <a:endParaRPr lang="en-US"/>
          </a:p>
        </p:txBody>
      </p:sp>
    </p:spTree>
    <p:extLst>
      <p:ext uri="{BB962C8B-B14F-4D97-AF65-F5344CB8AC3E}">
        <p14:creationId xmlns:p14="http://schemas.microsoft.com/office/powerpoint/2010/main" val="32976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61616"/>
                </a:solidFill>
                <a:effectLst/>
                <a:latin typeface="Segoe UI" panose="020B0502040204020203" pitchFamily="34" charset="0"/>
              </a:rPr>
              <a:t>Continue to monitor the workload by using the right resources and sizes. </a:t>
            </a:r>
          </a:p>
          <a:p>
            <a:r>
              <a:rPr lang="en-GB" b="0" i="0" dirty="0">
                <a:solidFill>
                  <a:srgbClr val="161616"/>
                </a:solidFill>
                <a:effectLst/>
                <a:latin typeface="Segoe UI" panose="020B0502040204020203" pitchFamily="34" charset="0"/>
              </a:rPr>
              <a:t>Review your resources and remove any that aren't being used.</a:t>
            </a:r>
          </a:p>
          <a:p>
            <a:r>
              <a:rPr lang="en-GB" b="0" i="0" dirty="0">
                <a:solidFill>
                  <a:srgbClr val="161616"/>
                </a:solidFill>
                <a:effectLst/>
                <a:latin typeface="Segoe UI" panose="020B0502040204020203" pitchFamily="34" charset="0"/>
              </a:rPr>
              <a:t>Azure has many discounts that your organization should take advantage of to save money – Reservations, Savings plan for Compute, AHB (See slide 41) </a:t>
            </a:r>
            <a:endParaRPr lang="en-GB" dirty="0"/>
          </a:p>
        </p:txBody>
      </p:sp>
      <p:sp>
        <p:nvSpPr>
          <p:cNvPr id="4" name="Slide Number Placeholder 3"/>
          <p:cNvSpPr>
            <a:spLocks noGrp="1"/>
          </p:cNvSpPr>
          <p:nvPr>
            <p:ph type="sldNum" sz="quarter" idx="5"/>
          </p:nvPr>
        </p:nvSpPr>
        <p:spPr/>
        <p:txBody>
          <a:bodyPr/>
          <a:lstStyle/>
          <a:p>
            <a:fld id="{38E67107-53D3-4CCF-8756-27475A9ECA68}" type="slidenum">
              <a:rPr lang="en-US" smtClean="0"/>
              <a:t>20</a:t>
            </a:fld>
            <a:endParaRPr lang="en-US"/>
          </a:p>
        </p:txBody>
      </p:sp>
    </p:spTree>
    <p:extLst>
      <p:ext uri="{BB962C8B-B14F-4D97-AF65-F5344CB8AC3E}">
        <p14:creationId xmlns:p14="http://schemas.microsoft.com/office/powerpoint/2010/main" val="1846057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2480" fontAlgn="ctr"/>
            <a:r>
              <a:rPr lang="en-US" dirty="0">
                <a:solidFill>
                  <a:srgbClr val="303030"/>
                </a:solidFill>
                <a:latin typeface="Segoe UI" panose="020B0502040204020203" pitchFamily="34" charset="0"/>
              </a:rPr>
              <a:t>We've learned from previous that managing cloud spend has become a major challenge for our customers today. In order for organizations to be successful in cloud financial management, we need to have IT, finance and business teams to be aligned altogether.</a:t>
            </a:r>
          </a:p>
          <a:p>
            <a:pPr marL="362480" fontAlgn="ctr"/>
            <a:endParaRPr lang="en-US" dirty="0">
              <a:solidFill>
                <a:srgbClr val="303030"/>
              </a:solidFill>
              <a:latin typeface="Segoe UI" panose="020B0502040204020203" pitchFamily="34" charset="0"/>
            </a:endParaRPr>
          </a:p>
          <a:p>
            <a:pPr algn="l"/>
            <a:r>
              <a:rPr lang="en-US" dirty="0">
                <a:solidFill>
                  <a:srgbClr val="303030"/>
                </a:solidFill>
                <a:latin typeface="Segoe UI" panose="020B0502040204020203" pitchFamily="34" charset="0"/>
              </a:rPr>
              <a:t>Cloud is more agile, quick and with scalability oftentimes there may be areas where IT teams and finance </a:t>
            </a:r>
            <a:r>
              <a:rPr lang="en-US" dirty="0">
                <a:solidFill>
                  <a:srgbClr val="000000"/>
                </a:solidFill>
                <a:latin typeface="Times New Roman" panose="02020603050405020304" pitchFamily="18" charset="0"/>
              </a:rPr>
              <a:t>may not be aligned to their cloud budget. So it's critical that organizations have a strong governance structure and processes where IT teams can better understand cloud spend across the company to ensure they are deploying optimal resources.</a:t>
            </a:r>
          </a:p>
          <a:p>
            <a:pPr algn="l"/>
            <a:endParaRPr lang="en-US" dirty="0">
              <a:solidFill>
                <a:srgbClr val="000000"/>
              </a:solidFill>
              <a:latin typeface="Times New Roman" panose="02020603050405020304" pitchFamily="18" charset="0"/>
            </a:endParaRPr>
          </a:p>
          <a:p>
            <a:pPr algn="l"/>
            <a:r>
              <a:rPr lang="en-US" sz="1700" dirty="0"/>
              <a:t>For finance, it's important to be aligned with IT teams to discuss and improve forecast accuracy of cloud spend and accountability from project owners. For our business units, it's important to make sure that they're teaming up with IT and finance teams to optimize cloud usage, to increase the overall ROI of their cloud environment.</a:t>
            </a:r>
            <a:br>
              <a:rPr lang="en-US" dirty="0">
                <a:solidFill>
                  <a:srgbClr val="000000"/>
                </a:solidFill>
                <a:latin typeface="Times New Roman" panose="02020603050405020304" pitchFamily="18" charset="0"/>
              </a:rPr>
            </a:br>
            <a:endParaRPr lang="en-US" sz="1000" b="1" dirty="0">
              <a:gradFill>
                <a:gsLst>
                  <a:gs pos="7576">
                    <a:schemeClr val="bg1"/>
                  </a:gs>
                  <a:gs pos="51000">
                    <a:schemeClr val="bg1"/>
                  </a:gs>
                </a:gsLst>
                <a:lin ang="5400000" scaled="0"/>
              </a:gradFill>
            </a:endParaRPr>
          </a:p>
        </p:txBody>
      </p:sp>
      <p:sp>
        <p:nvSpPr>
          <p:cNvPr id="4" name="Header Placeholder 3"/>
          <p:cNvSpPr>
            <a:spLocks noGrp="1"/>
          </p:cNvSpPr>
          <p:nvPr>
            <p:ph type="hdr" sz="quarter" idx="10"/>
          </p:nvPr>
        </p:nvSpPr>
        <p:spPr/>
        <p:txBody>
          <a:bodyPr/>
          <a:lstStyle/>
          <a:p>
            <a:pPr marL="0" marR="0" lvl="0" indent="0" algn="l" defTabSz="986002"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604133" marR="0" lvl="0" indent="0" algn="l" defTabSz="96629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86002" rtl="0" eaLnBrk="1" fontAlgn="auto" latinLnBrk="0" hangingPunct="1">
              <a:lnSpc>
                <a:spcPct val="100000"/>
              </a:lnSpc>
              <a:spcBef>
                <a:spcPts val="0"/>
              </a:spcBef>
              <a:spcAft>
                <a:spcPts val="0"/>
              </a:spcAft>
              <a:buClrTx/>
              <a:buSzTx/>
              <a:buFontTx/>
              <a:buNone/>
              <a:tabLst/>
              <a:defRPr/>
            </a:pPr>
            <a:fld id="{FBA5C779-C7A8-4D8F-8CF3-533D36856DB4}" type="datetime8">
              <a:rPr kumimoji="0" lang="en-US" sz="13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86002" rtl="0" eaLnBrk="1" fontAlgn="auto" latinLnBrk="0" hangingPunct="1">
                <a:lnSpc>
                  <a:spcPct val="100000"/>
                </a:lnSpc>
                <a:spcBef>
                  <a:spcPts val="0"/>
                </a:spcBef>
                <a:spcAft>
                  <a:spcPts val="0"/>
                </a:spcAft>
                <a:buClrTx/>
                <a:buSzTx/>
                <a:buFontTx/>
                <a:buNone/>
                <a:tabLst/>
                <a:defRPr/>
              </a:pPr>
              <a:t>1/25/2026 10:03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8600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86002" rtl="0" eaLnBrk="1" fontAlgn="auto" latinLnBrk="0" hangingPunct="1">
                <a:lnSpc>
                  <a:spcPct val="100000"/>
                </a:lnSpc>
                <a:spcBef>
                  <a:spcPts val="0"/>
                </a:spcBef>
                <a:spcAft>
                  <a:spcPts val="0"/>
                </a:spcAft>
                <a:buClrTx/>
                <a:buSzTx/>
                <a:buFontTx/>
                <a:buNone/>
                <a:tabLst/>
                <a:defRPr/>
              </a:pPr>
              <a:t>21</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613340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700"/>
              <a:t>And then now going into the current state of the cloud financial management.</a:t>
            </a:r>
          </a:p>
          <a:p>
            <a:endParaRPr lang="en-US" sz="1700"/>
          </a:p>
          <a:p>
            <a:r>
              <a:rPr lang="en-US" b="0" i="0">
                <a:solidFill>
                  <a:srgbClr val="303030"/>
                </a:solidFill>
                <a:effectLst/>
                <a:latin typeface="Segoe UI" panose="020B0502040204020203" pitchFamily="34" charset="0"/>
              </a:rPr>
              <a:t>With on premise environments in the past, the process for technology teams would be that they would request a certain amount of capital to purchase IT assets and then finance the business teams would approve the budget to determine what you'll be spending and that was all done up front. Now with the cloud, it creates agility for a quicker go to market strategy and to deploy services much quicker. However, this also creates several challenges for our customers as the IT teams are thinking about cost of deploying those services as an afterthought.</a:t>
            </a:r>
          </a:p>
          <a:p>
            <a:endParaRPr lang="en-US" b="0" i="0">
              <a:solidFill>
                <a:srgbClr val="303030"/>
              </a:solidFill>
              <a:effectLst/>
              <a:latin typeface="Segoe UI" panose="020B0502040204020203" pitchFamily="34" charset="0"/>
            </a:endParaRPr>
          </a:p>
          <a:p>
            <a:pPr algn="l"/>
            <a:r>
              <a:rPr lang="en-US" b="0" i="0">
                <a:solidFill>
                  <a:srgbClr val="303030"/>
                </a:solidFill>
                <a:effectLst/>
                <a:latin typeface="Segoe UI" panose="020B0502040204020203" pitchFamily="34" charset="0"/>
              </a:rPr>
              <a:t>Also, organizations have to realize and align with different teams to make sure that everyone understands and communicates efficiently on the cost of project, the costs per month and also understanding if they're using the optimal infrastructure for their environment. In addition, the concept of cloud governance will need to be in place t</a:t>
            </a:r>
            <a:r>
              <a:rPr lang="en-US"/>
              <a:t>o make sure that organizations are successful across their cloud cost, budget and that they're maximizing their cloud usage in their environment.</a:t>
            </a:r>
          </a:p>
        </p:txBody>
      </p:sp>
      <p:sp>
        <p:nvSpPr>
          <p:cNvPr id="4" name="Slide Number Placeholder 3"/>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9CDF2885-C677-6341-835A-E92F0BF51509}" type="slidenum">
              <a:rPr kumimoji="0" lang="en-US" sz="13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22</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3099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some pain points that potentially should be targeted to bring value to training. The overarching theme across all the pain points is collaboration, where there’s a number of challenges that pop up. Because of this transition to a shared responsibility model—more specifically, forecasting shared costs, reducing waste or unused resources, lack of accountability, aligning finance to IT teams. </a:t>
            </a:r>
          </a:p>
          <a:p>
            <a:endParaRPr lang="en-US" dirty="0"/>
          </a:p>
          <a:p>
            <a:r>
              <a:rPr lang="en-US" dirty="0"/>
              <a:t>With new shared responsibility models, there’s exists a gap in identification of roles. A RACI card (roles and responsibilities) could provide some needed guidance on roles and responsibilities, and help users find the appropriate learning path. </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08413A8-5751-49C4-A1EE-6DF953373A35}"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1/25/2026 10:03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31401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03030"/>
                </a:solidFill>
                <a:effectLst/>
                <a:latin typeface="Segoe UI" panose="020B0502040204020203" pitchFamily="34" charset="0"/>
              </a:rPr>
              <a:t>What really is FinOps? </a:t>
            </a:r>
          </a:p>
          <a:p>
            <a:endParaRPr lang="en-US" b="0" i="0">
              <a:solidFill>
                <a:srgbClr val="303030"/>
              </a:solidFill>
              <a:effectLst/>
              <a:latin typeface="Segoe UI" panose="020B0502040204020203" pitchFamily="34" charset="0"/>
            </a:endParaRPr>
          </a:p>
          <a:p>
            <a:r>
              <a:rPr lang="en-US" b="0" i="0">
                <a:solidFill>
                  <a:srgbClr val="303030"/>
                </a:solidFill>
                <a:effectLst/>
                <a:latin typeface="Segoe UI" panose="020B0502040204020203" pitchFamily="34" charset="0"/>
              </a:rPr>
              <a:t>So FinOps is an operating tool and a model that brings the technology and finance leadership team to share the same language and processes to manage the cloud spend, maintain velocity and to maximize the value of their cloud infrastructure. So here you can see the three pillars of the Finn OPS operating model.</a:t>
            </a:r>
          </a:p>
          <a:p>
            <a:endParaRPr lang="en-US" b="0" i="0">
              <a:solidFill>
                <a:srgbClr val="303030"/>
              </a:solidFill>
              <a:effectLst/>
              <a:latin typeface="Segoe UI" panose="020B0502040204020203" pitchFamily="34" charset="0"/>
            </a:endParaRPr>
          </a:p>
          <a:p>
            <a:pPr algn="l"/>
            <a:r>
              <a:rPr lang="en-US" b="0" i="0">
                <a:solidFill>
                  <a:srgbClr val="000000"/>
                </a:solidFill>
                <a:effectLst/>
                <a:latin typeface="Times New Roman" panose="02020603050405020304" pitchFamily="18" charset="0"/>
              </a:rPr>
              <a:t>So first, “Inform” this is to create as much transparency and visibility to the overall cloud costs allocation and creating a shared accountability by showing teams what they're spending and why. </a:t>
            </a:r>
          </a:p>
          <a:p>
            <a:pPr algn="l"/>
            <a:endParaRPr lang="en-US" b="0" i="0">
              <a:solidFill>
                <a:srgbClr val="000000"/>
              </a:solidFill>
              <a:effectLst/>
              <a:latin typeface="Times New Roman" panose="02020603050405020304" pitchFamily="18" charset="0"/>
            </a:endParaRPr>
          </a:p>
          <a:p>
            <a:pPr algn="l"/>
            <a:r>
              <a:rPr lang="en-US" b="0" i="0">
                <a:solidFill>
                  <a:srgbClr val="303030"/>
                </a:solidFill>
                <a:effectLst/>
                <a:latin typeface="Segoe UI" panose="020B0502040204020203" pitchFamily="34" charset="0"/>
              </a:rPr>
              <a:t>“Operate” is to really refine and share IT finance and business leadership goals to focus and scale operational efforts for continuous improvements in the cloud environment with increased collaborations amongst the teams.</a:t>
            </a:r>
          </a:p>
          <a:p>
            <a:pPr algn="l"/>
            <a:endParaRPr lang="en-US" b="0" i="0">
              <a:solidFill>
                <a:srgbClr val="303030"/>
              </a:solidFill>
              <a:effectLst/>
              <a:latin typeface="Segoe UI" panose="020B0502040204020203" pitchFamily="34" charset="0"/>
            </a:endParaRPr>
          </a:p>
          <a:p>
            <a:pPr algn="l"/>
            <a:r>
              <a:rPr lang="en-US" b="0" i="0">
                <a:solidFill>
                  <a:srgbClr val="303030"/>
                </a:solidFill>
                <a:effectLst/>
                <a:latin typeface="Segoe UI" panose="020B0502040204020203" pitchFamily="34" charset="0"/>
              </a:rPr>
              <a:t>And then…  “Optimize” is to empower teams to make right optimization actions based on their organization goals, which we'll discuss, furthermore, regarding the tools around optimization.</a:t>
            </a:r>
          </a:p>
          <a:p>
            <a:pPr algn="l"/>
            <a:endParaRPr lang="en-US" b="0" i="0">
              <a:solidFill>
                <a:srgbClr val="303030"/>
              </a:solidFill>
              <a:effectLst/>
              <a:latin typeface="Segoe UI" panose="020B0502040204020203" pitchFamily="34" charset="0"/>
            </a:endParaRPr>
          </a:p>
          <a:p>
            <a:pPr algn="l"/>
            <a:r>
              <a:rPr lang="en-US" b="0" i="0">
                <a:solidFill>
                  <a:srgbClr val="303030"/>
                </a:solidFill>
                <a:effectLst/>
                <a:latin typeface="Segoe UI" panose="020B0502040204020203" pitchFamily="34" charset="0"/>
              </a:rPr>
              <a:t>So to summarize, FinOps is not just about saving money, it's much more than that, by incorporating FinOps practice to your organization, your cloud spend can drive more revenue, enable quicker go to market strategy, help you maximize ROI, and most importantly to help you achieve your business outcomes.</a:t>
            </a:r>
            <a:endParaRPr lang="en-US" b="0" i="0">
              <a:solidFill>
                <a:srgbClr val="000000"/>
              </a:solidFill>
              <a:effectLst/>
              <a:latin typeface="Times New Roman" panose="02020603050405020304" pitchFamily="18" charset="0"/>
            </a:endParaRPr>
          </a:p>
          <a:p>
            <a:br>
              <a:rPr lang="en-US" b="0" i="0">
                <a:solidFill>
                  <a:srgbClr val="000000"/>
                </a:solidFill>
                <a:effectLst/>
                <a:latin typeface="Times New Roman" panose="02020603050405020304" pitchFamily="18" charset="0"/>
              </a:rPr>
            </a:br>
            <a:endParaRPr lang="nb-NO" b="0" i="0">
              <a:solidFill>
                <a:srgbClr val="777777"/>
              </a:solidFill>
              <a:effectLst/>
              <a:latin typeface="source sans pro" panose="020B0503030403020204" pitchFamily="34" charset="0"/>
            </a:endParaRPr>
          </a:p>
        </p:txBody>
      </p:sp>
      <p:sp>
        <p:nvSpPr>
          <p:cNvPr id="4" name="Header Placeholder 3"/>
          <p:cNvSpPr>
            <a:spLocks noGrp="1"/>
          </p:cNvSpPr>
          <p:nvPr>
            <p:ph type="hdr" sz="quarter"/>
          </p:nvPr>
        </p:nvSpPr>
        <p:spPr/>
        <p:txBody>
          <a:bodyPr/>
          <a:lstStyle/>
          <a:p>
            <a:pPr marL="0" marR="0" lvl="0" indent="0" algn="l" defTabSz="986002"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616578" marR="0" lvl="0" indent="0" algn="l" defTabSz="9861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86002"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3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86002" rtl="0" eaLnBrk="1" fontAlgn="auto" latinLnBrk="0" hangingPunct="1">
                <a:lnSpc>
                  <a:spcPct val="100000"/>
                </a:lnSpc>
                <a:spcBef>
                  <a:spcPts val="0"/>
                </a:spcBef>
                <a:spcAft>
                  <a:spcPts val="0"/>
                </a:spcAft>
                <a:buClrTx/>
                <a:buSzTx/>
                <a:buFontTx/>
                <a:buNone/>
                <a:tabLst/>
                <a:defRPr/>
              </a:pPr>
              <a:t>1/25/2026 10:03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8600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86002" rtl="0" eaLnBrk="1" fontAlgn="auto" latinLnBrk="0" hangingPunct="1">
                <a:lnSpc>
                  <a:spcPct val="100000"/>
                </a:lnSpc>
                <a:spcBef>
                  <a:spcPts val="0"/>
                </a:spcBef>
                <a:spcAft>
                  <a:spcPts val="0"/>
                </a:spcAft>
                <a:buClrTx/>
                <a:buSzTx/>
                <a:buFontTx/>
                <a:buNone/>
                <a:tabLst/>
                <a:defRPr/>
              </a:pPr>
              <a:t>24</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809802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03030"/>
                </a:solidFill>
                <a:effectLst/>
                <a:latin typeface="Segoe UI" panose="020B0502040204020203" pitchFamily="34" charset="0"/>
              </a:rPr>
              <a:t>So we've talked about cloud economics at an all-up? level. We've discussed what are some of the benefits the cloud can provide.</a:t>
            </a:r>
          </a:p>
          <a:p>
            <a:endParaRPr lang="en-US" b="0" i="0" dirty="0">
              <a:solidFill>
                <a:srgbClr val="303030"/>
              </a:solidFill>
              <a:effectLst/>
              <a:latin typeface="Segoe UI" panose="020B0502040204020203" pitchFamily="34" charset="0"/>
            </a:endParaRPr>
          </a:p>
          <a:p>
            <a:pPr algn="l"/>
            <a:r>
              <a:rPr lang="en-US" b="0" i="0" dirty="0">
                <a:solidFill>
                  <a:srgbClr val="303030"/>
                </a:solidFill>
                <a:effectLst/>
                <a:latin typeface="Segoe UI" panose="020B0502040204020203" pitchFamily="34" charset="0"/>
              </a:rPr>
              <a:t>We've discussed some of the challenges that organizations can face in actually driving value and how FinOps as a process and a set of resources can help you drive a more optimized environment that has both processes and controls </a:t>
            </a:r>
            <a:r>
              <a:rPr lang="en-US" b="0" i="0" dirty="0">
                <a:solidFill>
                  <a:srgbClr val="000000"/>
                </a:solidFill>
                <a:effectLst/>
                <a:latin typeface="Times New Roman" panose="02020603050405020304" pitchFamily="18" charset="0"/>
              </a:rPr>
              <a:t>in place to really allow you to manage. Now let's click a step deeper and look at some of Microsoft specific tools are that can help you both develop a FinOps practice as well as optimize your spending on an  ongoing basis.</a:t>
            </a:r>
          </a:p>
          <a:p>
            <a:br>
              <a:rPr lang="en-US" b="0" i="0" dirty="0">
                <a:solidFill>
                  <a:srgbClr val="000000"/>
                </a:solidFill>
                <a:effectLst/>
                <a:latin typeface="Times New Roman" panose="02020603050405020304" pitchFamily="18" charset="0"/>
              </a:rPr>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DF2885-C677-6341-835A-E92F0BF5150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136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a:solidFill>
                  <a:srgbClr val="303030"/>
                </a:solidFill>
                <a:effectLst/>
                <a:latin typeface="Segoe UI" panose="020B0502040204020203" pitchFamily="34" charset="0"/>
              </a:rPr>
              <a:t>So we talked about FinOps. We talked about the process, some of the tools and how FinOps and DevOps relate to each other but one of the really critical components of you know, developing a FinOps practice is actually enabling a team structure around it. We've included some notes here from the FinOps Foundation that really highlights how you might structure and think about their relationship and people involved in your FinOps practice. What is the working group that makes up a FinOps team and it may be, people from various disciplines coming together in order to create a cloud center of excellence or a cloud competency center to help develop a cloud strategy to manage the government and best practices and then to share those best practices, not just within that small working group, but within the rest of the organization to allow for both tracking, transparency and knowledge sharing across your organization as opposed to sitting dedicated within silos.</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15CA800-8104-4A5F-91D2-CFFE16E7B8D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65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Engineering </a:t>
            </a:r>
          </a:p>
          <a:p>
            <a:pPr marL="171450" indent="-171450">
              <a:buFont typeface="Arial" panose="020B0604020202020204" pitchFamily="34" charset="0"/>
              <a:buChar char="•"/>
            </a:pPr>
            <a:r>
              <a:rPr lang="en-US" dirty="0"/>
              <a:t>Architects, Software engineers, data engineers, Sys Admins, Infra, DevOps, Platform </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Finance</a:t>
            </a:r>
          </a:p>
          <a:p>
            <a:pPr marL="171450" indent="-171450">
              <a:buFont typeface="Arial" panose="020B0604020202020204" pitchFamily="34" charset="0"/>
              <a:buChar char="•"/>
            </a:pPr>
            <a:r>
              <a:rPr lang="en-US" dirty="0"/>
              <a:t>Financial Analyst, CFOs, Procurement managers, Technology procurement manager</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Business</a:t>
            </a:r>
          </a:p>
          <a:p>
            <a:pPr marL="171450" indent="-171450">
              <a:buFont typeface="Arial" panose="020B0604020202020204" pitchFamily="34" charset="0"/>
              <a:buChar char="•"/>
            </a:pPr>
            <a:r>
              <a:rPr lang="en-US" dirty="0"/>
              <a:t>VP/Head of Infra, CTO, CIO, Head of CCOE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DF2885-C677-6341-835A-E92F0BF5150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06416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8E67107-53D3-4CCF-8756-27475A9ECA68}" type="slidenum">
              <a:rPr lang="en-US" smtClean="0"/>
              <a:t>28</a:t>
            </a:fld>
            <a:endParaRPr lang="en-US"/>
          </a:p>
        </p:txBody>
      </p:sp>
    </p:spTree>
    <p:extLst>
      <p:ext uri="{BB962C8B-B14F-4D97-AF65-F5344CB8AC3E}">
        <p14:creationId xmlns:p14="http://schemas.microsoft.com/office/powerpoint/2010/main" val="35920252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03030"/>
                </a:solidFill>
                <a:effectLst/>
                <a:latin typeface="Segoe UI" panose="020B0502040204020203" pitchFamily="34" charset="0"/>
              </a:rPr>
              <a:t>So we've talked about cloud economics at an all-up? level. We've discussed what are some of the benefits the cloud can provide.</a:t>
            </a:r>
          </a:p>
          <a:p>
            <a:endParaRPr lang="en-US" b="0" i="0" dirty="0">
              <a:solidFill>
                <a:srgbClr val="303030"/>
              </a:solidFill>
              <a:effectLst/>
              <a:latin typeface="Segoe UI" panose="020B0502040204020203" pitchFamily="34" charset="0"/>
            </a:endParaRPr>
          </a:p>
          <a:p>
            <a:pPr algn="l"/>
            <a:r>
              <a:rPr lang="en-US" b="0" i="0" dirty="0">
                <a:solidFill>
                  <a:srgbClr val="303030"/>
                </a:solidFill>
                <a:effectLst/>
                <a:latin typeface="Segoe UI" panose="020B0502040204020203" pitchFamily="34" charset="0"/>
              </a:rPr>
              <a:t>We've discussed some of the challenges that organizations can face in actually driving value and how FinOps as a process and a set of resources can help you drive a more optimized environment that has both processes and controls </a:t>
            </a:r>
            <a:r>
              <a:rPr lang="en-US" b="0" i="0" dirty="0">
                <a:solidFill>
                  <a:srgbClr val="000000"/>
                </a:solidFill>
                <a:effectLst/>
                <a:latin typeface="Times New Roman" panose="02020603050405020304" pitchFamily="18" charset="0"/>
              </a:rPr>
              <a:t>in place to really allow you to manage. Now let's click a step deeper and look at some of Microsoft specific tools are that can help you both develop a FinOps practice as well as optimize your spending on an  ongoing basis.</a:t>
            </a:r>
          </a:p>
          <a:p>
            <a:br>
              <a:rPr lang="en-US" b="0" i="0" dirty="0">
                <a:solidFill>
                  <a:srgbClr val="000000"/>
                </a:solidFill>
                <a:effectLst/>
                <a:latin typeface="Times New Roman" panose="02020603050405020304" pitchFamily="18" charset="0"/>
              </a:rPr>
            </a:br>
            <a:endParaRPr lang="en-US" dirty="0"/>
          </a:p>
        </p:txBody>
      </p:sp>
      <p:sp>
        <p:nvSpPr>
          <p:cNvPr id="4" name="Slide Number Placeholder 3"/>
          <p:cNvSpPr>
            <a:spLocks noGrp="1"/>
          </p:cNvSpPr>
          <p:nvPr>
            <p:ph type="sldNum" sz="quarter" idx="10"/>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9CDF2885-C677-6341-835A-E92F0BF51509}" type="slidenum">
              <a:rPr kumimoji="0" lang="en-US" sz="13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32</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9978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03030"/>
                </a:solidFill>
                <a:effectLst/>
                <a:latin typeface="Segoe UI" panose="020B0502040204020203" pitchFamily="34" charset="0"/>
              </a:rPr>
              <a:t>What really is FinOps? </a:t>
            </a:r>
          </a:p>
          <a:p>
            <a:endParaRPr lang="en-US" b="0" i="0" dirty="0">
              <a:solidFill>
                <a:srgbClr val="303030"/>
              </a:solidFill>
              <a:effectLst/>
              <a:latin typeface="Segoe UI" panose="020B0502040204020203" pitchFamily="34" charset="0"/>
            </a:endParaRPr>
          </a:p>
          <a:p>
            <a:r>
              <a:rPr lang="en-US" b="0" i="0" dirty="0">
                <a:solidFill>
                  <a:srgbClr val="303030"/>
                </a:solidFill>
                <a:effectLst/>
                <a:latin typeface="Segoe UI" panose="020B0502040204020203" pitchFamily="34" charset="0"/>
              </a:rPr>
              <a:t>So FinOps is an operating tool and a model that brings the technology and finance leadership team to share the same language and processes to manage the cloud spend, maintain velocity and to maximize the value of their cloud infrastructure. So here you can see the three pillars of the Finn OPS operating model.</a:t>
            </a:r>
          </a:p>
          <a:p>
            <a:endParaRPr lang="en-US" b="0" i="0" dirty="0">
              <a:solidFill>
                <a:srgbClr val="303030"/>
              </a:solidFill>
              <a:effectLst/>
              <a:latin typeface="Segoe UI" panose="020B0502040204020203" pitchFamily="34" charset="0"/>
            </a:endParaRPr>
          </a:p>
          <a:p>
            <a:pPr algn="l"/>
            <a:r>
              <a:rPr lang="en-US" b="0" i="0" dirty="0">
                <a:solidFill>
                  <a:srgbClr val="000000"/>
                </a:solidFill>
                <a:effectLst/>
                <a:latin typeface="Times New Roman" panose="02020603050405020304" pitchFamily="18" charset="0"/>
              </a:rPr>
              <a:t>So first, “Inform” this is to create as much transparency and visibility to the overall cloud costs allocation and creating a shared accountability by showing teams what they're spending and why. </a:t>
            </a:r>
          </a:p>
          <a:p>
            <a:pPr algn="l"/>
            <a:endParaRPr lang="en-US" b="0" i="0" dirty="0">
              <a:solidFill>
                <a:srgbClr val="000000"/>
              </a:solidFill>
              <a:effectLst/>
              <a:latin typeface="Times New Roman" panose="02020603050405020304" pitchFamily="18" charset="0"/>
            </a:endParaRPr>
          </a:p>
          <a:p>
            <a:pPr algn="l"/>
            <a:r>
              <a:rPr lang="en-US" b="0" i="0" dirty="0">
                <a:solidFill>
                  <a:srgbClr val="303030"/>
                </a:solidFill>
                <a:effectLst/>
                <a:latin typeface="Segoe UI" panose="020B0502040204020203" pitchFamily="34" charset="0"/>
              </a:rPr>
              <a:t>“Operate” is to really refine and share IT finance and business leadership goals to focus and scale operational efforts for continuous improvements in the cloud environment with increased collaborations amongst the teams.</a:t>
            </a:r>
          </a:p>
          <a:p>
            <a:pPr algn="l"/>
            <a:endParaRPr lang="en-US" b="0" i="0" dirty="0">
              <a:solidFill>
                <a:srgbClr val="303030"/>
              </a:solidFill>
              <a:effectLst/>
              <a:latin typeface="Segoe UI" panose="020B0502040204020203" pitchFamily="34" charset="0"/>
            </a:endParaRPr>
          </a:p>
          <a:p>
            <a:pPr algn="l"/>
            <a:r>
              <a:rPr lang="en-US" b="0" i="0" dirty="0">
                <a:solidFill>
                  <a:srgbClr val="303030"/>
                </a:solidFill>
                <a:effectLst/>
                <a:latin typeface="Segoe UI" panose="020B0502040204020203" pitchFamily="34" charset="0"/>
              </a:rPr>
              <a:t>And then…  “Optimize” is to empower teams to make right optimization actions based on their organization goals, which we'll discuss, furthermore, regarding the tools around optimization.</a:t>
            </a:r>
          </a:p>
          <a:p>
            <a:pPr algn="l"/>
            <a:endParaRPr lang="en-US" b="0" i="0" dirty="0">
              <a:solidFill>
                <a:srgbClr val="303030"/>
              </a:solidFill>
              <a:effectLst/>
              <a:latin typeface="Segoe UI" panose="020B0502040204020203" pitchFamily="34" charset="0"/>
            </a:endParaRPr>
          </a:p>
          <a:p>
            <a:pPr algn="l"/>
            <a:r>
              <a:rPr lang="en-US" b="0" i="0" dirty="0">
                <a:solidFill>
                  <a:srgbClr val="303030"/>
                </a:solidFill>
                <a:effectLst/>
                <a:latin typeface="Segoe UI" panose="020B0502040204020203" pitchFamily="34" charset="0"/>
              </a:rPr>
              <a:t>So to summarize, FinOps is not just about saving money, it's much more than that, by incorporating FinOps practice to your organization, your cloud spend can drive more revenue, enable quicker go to market strategy, help you maximize ROI, and most importantly to help you achieve your business outcomes.</a:t>
            </a:r>
            <a:endParaRPr lang="en-US" b="0" i="0" dirty="0">
              <a:solidFill>
                <a:srgbClr val="000000"/>
              </a:solidFill>
              <a:effectLst/>
              <a:latin typeface="Times New Roman" panose="02020603050405020304" pitchFamily="18" charset="0"/>
            </a:endParaRPr>
          </a:p>
          <a:p>
            <a:br>
              <a:rPr lang="en-US" b="0" i="0" dirty="0">
                <a:solidFill>
                  <a:srgbClr val="000000"/>
                </a:solidFill>
                <a:effectLst/>
                <a:latin typeface="Times New Roman" panose="02020603050405020304" pitchFamily="18" charset="0"/>
              </a:rPr>
            </a:br>
            <a:endParaRPr lang="nb-NO" b="0" i="0" dirty="0">
              <a:solidFill>
                <a:srgbClr val="777777"/>
              </a:solidFill>
              <a:effectLst/>
              <a:latin typeface="source sans pro" panose="020B0503030403020204" pitchFamily="34" charset="0"/>
            </a:endParaRPr>
          </a:p>
        </p:txBody>
      </p:sp>
      <p:sp>
        <p:nvSpPr>
          <p:cNvPr id="4" name="Header Placeholder 3"/>
          <p:cNvSpPr>
            <a:spLocks noGrp="1"/>
          </p:cNvSpPr>
          <p:nvPr>
            <p:ph type="hdr" sz="quarter"/>
          </p:nvPr>
        </p:nvSpPr>
        <p:spPr/>
        <p:txBody>
          <a:bodyPr/>
          <a:lstStyle/>
          <a:p>
            <a:pPr marL="0" marR="0" lvl="0" indent="0" algn="l" defTabSz="986002"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616578" marR="0" lvl="0" indent="0" algn="l" defTabSz="9861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86002"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3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86002" rtl="0" eaLnBrk="1" fontAlgn="auto" latinLnBrk="0" hangingPunct="1">
                <a:lnSpc>
                  <a:spcPct val="100000"/>
                </a:lnSpc>
                <a:spcBef>
                  <a:spcPts val="0"/>
                </a:spcBef>
                <a:spcAft>
                  <a:spcPts val="0"/>
                </a:spcAft>
                <a:buClrTx/>
                <a:buSzTx/>
                <a:buFontTx/>
                <a:buNone/>
                <a:tabLst/>
                <a:defRPr/>
              </a:pPr>
              <a:t>1/25/2026 10:03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8600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86002" rtl="0" eaLnBrk="1" fontAlgn="auto" latinLnBrk="0" hangingPunct="1">
                <a:lnSpc>
                  <a:spcPct val="100000"/>
                </a:lnSpc>
                <a:spcBef>
                  <a:spcPts val="0"/>
                </a:spcBef>
                <a:spcAft>
                  <a:spcPts val="0"/>
                </a:spcAft>
                <a:buClrTx/>
                <a:buSzTx/>
                <a:buFontTx/>
                <a:buNone/>
                <a:tabLst/>
                <a:defRPr/>
              </a:pPr>
              <a:t>33</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8098022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32518"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8E34D7-0634-4D70-9BD5-2C9AF59F583C}"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1/25/2026 10:03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57540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303030"/>
                </a:solidFill>
                <a:effectLst/>
                <a:latin typeface="Segoe UI" panose="020B0502040204020203" pitchFamily="34" charset="0"/>
              </a:rPr>
              <a:t>As we think about clicking into some of the principles, we'll start with a deeper dive into the cloud adoption framework and the cloud adoption framework is really across 3 core pillars. Business, platform, as well as workload from the business side, there are 2 components. It's really around defining a strategy and then planning on that execution. </a:t>
            </a:r>
            <a:r>
              <a:rPr lang="en-US" b="0" i="0">
                <a:solidFill>
                  <a:srgbClr val="000000"/>
                </a:solidFill>
                <a:effectLst/>
                <a:latin typeface="Times New Roman" panose="02020603050405020304" pitchFamily="18" charset="0"/>
              </a:rPr>
              <a:t>When we think about platform, it's about enabling readiness for your organization. Setting a blueprint and then development of governance principles that can help you achieve cloud success. From a governance perspective this</a:t>
            </a:r>
            <a:r>
              <a:rPr lang="en-US" b="0" i="0">
                <a:solidFill>
                  <a:srgbClr val="303030"/>
                </a:solidFill>
                <a:effectLst/>
                <a:latin typeface="Segoe UI" panose="020B0502040204020203" pitchFamily="34" charset="0"/>
              </a:rPr>
              <a:t> is where some of the critical FinOps practices need to be incorporated and weaved in. </a:t>
            </a:r>
          </a:p>
          <a:p>
            <a:pPr algn="l"/>
            <a:endParaRPr lang="en-US" b="0" i="0">
              <a:solidFill>
                <a:srgbClr val="303030"/>
              </a:solidFill>
              <a:effectLst/>
              <a:latin typeface="Segoe UI" panose="020B0502040204020203" pitchFamily="34" charset="0"/>
            </a:endParaRPr>
          </a:p>
          <a:p>
            <a:pPr algn="l"/>
            <a:r>
              <a:rPr lang="en-US" b="0" i="0">
                <a:solidFill>
                  <a:srgbClr val="303030"/>
                </a:solidFill>
                <a:effectLst/>
                <a:latin typeface="Segoe UI" panose="020B0502040204020203" pitchFamily="34" charset="0"/>
              </a:rPr>
              <a:t>How do we establish a governance model that enables finance to talk to IT, IT to talk to finance and for clear transparency around what governance attributes need to be in place.</a:t>
            </a:r>
            <a:endParaRPr lang="en-US" b="0" i="0">
              <a:solidFill>
                <a:srgbClr val="000000"/>
              </a:solidFill>
              <a:effectLst/>
              <a:latin typeface="Times New Roman" panose="02020603050405020304" pitchFamily="18" charset="0"/>
            </a:endParaRPr>
          </a:p>
          <a:p>
            <a:pPr algn="l"/>
            <a:br>
              <a:rPr lang="en-US" b="0" i="0">
                <a:solidFill>
                  <a:srgbClr val="000000"/>
                </a:solidFill>
                <a:effectLst/>
                <a:latin typeface="Times New Roman" panose="02020603050405020304" pitchFamily="18" charset="0"/>
              </a:rPr>
            </a:br>
            <a:r>
              <a:rPr lang="en-US" b="0" i="0">
                <a:solidFill>
                  <a:srgbClr val="000000"/>
                </a:solidFill>
                <a:effectLst/>
                <a:latin typeface="Times New Roman" panose="02020603050405020304" pitchFamily="18" charset="0"/>
              </a:rPr>
              <a:t>From a workload perspective, there is adopting the right. ----STOP PAUSE ------</a:t>
            </a:r>
          </a:p>
          <a:p>
            <a:pPr algn="l"/>
            <a:endParaRPr lang="en-US" b="0" i="0">
              <a:solidFill>
                <a:srgbClr val="000000"/>
              </a:solidFill>
              <a:effectLst/>
              <a:latin typeface="Times New Roman" panose="02020603050405020304" pitchFamily="18" charset="0"/>
            </a:endParaRPr>
          </a:p>
          <a:p>
            <a:pPr algn="l"/>
            <a:r>
              <a:rPr lang="en-US" b="0" i="0">
                <a:solidFill>
                  <a:srgbClr val="000000"/>
                </a:solidFill>
                <a:effectLst/>
                <a:latin typeface="Times New Roman" panose="02020603050405020304" pitchFamily="18" charset="0"/>
              </a:rPr>
              <a:t>----START-----</a:t>
            </a:r>
            <a:br>
              <a:rPr lang="en-US" b="0" i="0">
                <a:solidFill>
                  <a:srgbClr val="000000"/>
                </a:solidFill>
                <a:effectLst/>
                <a:latin typeface="Times New Roman" panose="02020603050405020304" pitchFamily="18" charset="0"/>
              </a:rPr>
            </a:br>
            <a:endParaRPr lang="en-US" b="0" i="0">
              <a:solidFill>
                <a:srgbClr val="000000"/>
              </a:solidFill>
              <a:effectLst/>
              <a:latin typeface="Times New Roman" panose="02020603050405020304" pitchFamily="18" charset="0"/>
            </a:endParaRPr>
          </a:p>
          <a:p>
            <a:br>
              <a:rPr lang="en-US" b="0" i="0">
                <a:solidFill>
                  <a:srgbClr val="000000"/>
                </a:solidFill>
                <a:effectLst/>
                <a:latin typeface="Times New Roman" panose="02020603050405020304" pitchFamily="18" charset="0"/>
              </a:rPr>
            </a:br>
            <a:r>
              <a:rPr lang="en-US" b="0" i="0">
                <a:solidFill>
                  <a:srgbClr val="000000"/>
                </a:solidFill>
                <a:effectLst/>
                <a:latin typeface="Times New Roman" panose="02020603050405020304" pitchFamily="18" charset="0"/>
              </a:rPr>
              <a:t>F</a:t>
            </a:r>
            <a:r>
              <a:rPr lang="en-US" b="0" i="0">
                <a:solidFill>
                  <a:srgbClr val="303030"/>
                </a:solidFill>
                <a:effectLst/>
                <a:latin typeface="Segoe UI" panose="020B0502040204020203" pitchFamily="34" charset="0"/>
              </a:rPr>
              <a:t>rom a workload perspective we have to think about how you're going to architect your workloads in a way that is both operationally satisfactory where it'll achieve your technical goals, it'll achieve your reliability goals, you'll migrate effectively, and you'll migrate to secure and compliant environments.</a:t>
            </a:r>
          </a:p>
          <a:p>
            <a:endParaRPr lang="en-US" b="0" i="0">
              <a:solidFill>
                <a:srgbClr val="303030"/>
              </a:solidFill>
              <a:effectLst/>
              <a:latin typeface="Segoe UI" panose="020B0502040204020203" pitchFamily="34" charset="0"/>
            </a:endParaRPr>
          </a:p>
          <a:p>
            <a:r>
              <a:rPr lang="en-US" b="0" i="0">
                <a:solidFill>
                  <a:srgbClr val="303030"/>
                </a:solidFill>
                <a:effectLst/>
                <a:latin typeface="Segoe UI" panose="020B0502040204020203" pitchFamily="34" charset="0"/>
              </a:rPr>
              <a:t>But you also want to think about how do you layer on cost optimization in this approach? How do you ensure that you are taking advantage of </a:t>
            </a:r>
            <a:r>
              <a:rPr lang="en-US" b="0" i="0" err="1">
                <a:solidFill>
                  <a:srgbClr val="303030"/>
                </a:solidFill>
                <a:effectLst/>
                <a:latin typeface="Segoe UI" panose="020B0502040204020203" pitchFamily="34" charset="0"/>
              </a:rPr>
              <a:t>amoptimized</a:t>
            </a:r>
            <a:r>
              <a:rPr lang="en-US" b="0" i="0">
                <a:solidFill>
                  <a:srgbClr val="303030"/>
                </a:solidFill>
                <a:effectLst/>
                <a:latin typeface="Segoe UI" panose="020B0502040204020203" pitchFamily="34" charset="0"/>
              </a:rPr>
              <a:t> environment, not just a technologically sound environment? You want to layer both of those together to ensure you're achieving success.</a:t>
            </a:r>
            <a:endParaRPr lang="en-US"/>
          </a:p>
        </p:txBody>
      </p:sp>
      <p:sp>
        <p:nvSpPr>
          <p:cNvPr id="4" name="Header Placeholder 3"/>
          <p:cNvSpPr>
            <a:spLocks noGrp="1"/>
          </p:cNvSpPr>
          <p:nvPr>
            <p:ph type="hdr" sz="quarter" idx="10"/>
          </p:nvPr>
        </p:nvSpPr>
        <p:spPr/>
        <p:txBody>
          <a:bodyPr/>
          <a:lstStyle/>
          <a:p>
            <a:pPr marL="0" marR="0" lvl="0" indent="0" algn="l" defTabSz="9317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2359" marR="0" lvl="0" indent="0" algn="l" defTabSz="93146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1740"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31740" rtl="0" eaLnBrk="1" fontAlgn="auto" latinLnBrk="0" hangingPunct="1">
                <a:lnSpc>
                  <a:spcPct val="100000"/>
                </a:lnSpc>
                <a:spcBef>
                  <a:spcPts val="0"/>
                </a:spcBef>
                <a:spcAft>
                  <a:spcPts val="0"/>
                </a:spcAft>
                <a:buClrTx/>
                <a:buSzTx/>
                <a:buFontTx/>
                <a:buNone/>
                <a:tabLst/>
                <a:defRPr/>
              </a:pPr>
              <a:t>1/25/2026 10:03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174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3174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5504357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solidFill>
                  <a:srgbClr val="303030"/>
                </a:solidFill>
                <a:latin typeface="Segoe UI" panose="020B0502040204020203" pitchFamily="34" charset="0"/>
              </a:rPr>
              <a:t>I'm going to hand it over to Kevin to walk through a little bit of the FinOps management process and how we think about the end to end management of a FinOps process.</a:t>
            </a:r>
            <a:endParaRPr lang="en-US"/>
          </a:p>
          <a:p>
            <a:endParaRPr lang="en-US"/>
          </a:p>
          <a:p>
            <a:r>
              <a:rPr lang="en-US" b="0" i="0">
                <a:solidFill>
                  <a:srgbClr val="303030"/>
                </a:solidFill>
                <a:effectLst/>
                <a:latin typeface="Segoe UI" panose="020B0502040204020203" pitchFamily="34" charset="0"/>
              </a:rPr>
              <a:t>As we develop best practices for FinOps within your current cloud environment, it's extremely critical and important to make sure that every organization has a strong management and governance practices in place to scale IT operations and maximize the value of your cloud environment</a:t>
            </a:r>
          </a:p>
          <a:p>
            <a:endParaRPr lang="en-US" b="0" i="0">
              <a:solidFill>
                <a:srgbClr val="303030"/>
              </a:solidFill>
              <a:effectLst/>
              <a:latin typeface="Segoe UI" panose="020B0502040204020203" pitchFamily="34" charset="0"/>
            </a:endParaRPr>
          </a:p>
          <a:p>
            <a:r>
              <a:rPr lang="en-US" b="0" i="0">
                <a:solidFill>
                  <a:srgbClr val="303030"/>
                </a:solidFill>
                <a:effectLst/>
                <a:latin typeface="Segoe UI" panose="020B0502040204020203" pitchFamily="34" charset="0"/>
              </a:rPr>
              <a:t>At Microsoft we like to approach it in three key areas: strategic, operational and tactical.</a:t>
            </a:r>
          </a:p>
          <a:p>
            <a:endParaRPr lang="en-US" b="0" i="0">
              <a:solidFill>
                <a:srgbClr val="303030"/>
              </a:solidFill>
              <a:effectLst/>
              <a:latin typeface="Segoe UI" panose="020B0502040204020203" pitchFamily="34" charset="0"/>
            </a:endParaRPr>
          </a:p>
          <a:p>
            <a:r>
              <a:rPr lang="en-US"/>
              <a:t>Strategic in a way where it aligns the organization strategy around governance and management processes and combining the IT and finance teams </a:t>
            </a:r>
            <a:r>
              <a:rPr lang="en-US" b="0" i="0">
                <a:solidFill>
                  <a:srgbClr val="303030"/>
                </a:solidFill>
                <a:effectLst/>
                <a:latin typeface="Segoe UI" panose="020B0502040204020203" pitchFamily="34" charset="0"/>
              </a:rPr>
              <a:t>as well as the overall business units to maximize the cloud infrastructure and to make sure that we have a cloud governance management process in place.</a:t>
            </a:r>
          </a:p>
          <a:p>
            <a:endParaRPr lang="en-US" b="0" i="0">
              <a:solidFill>
                <a:srgbClr val="303030"/>
              </a:solidFill>
              <a:effectLst/>
              <a:latin typeface="Segoe UI" panose="020B0502040204020203" pitchFamily="34" charset="0"/>
            </a:endParaRPr>
          </a:p>
          <a:p>
            <a:r>
              <a:rPr lang="en-US" b="0" i="0">
                <a:solidFill>
                  <a:srgbClr val="303030"/>
                </a:solidFill>
                <a:effectLst/>
                <a:latin typeface="Segoe UI" panose="020B0502040204020203" pitchFamily="34" charset="0"/>
              </a:rPr>
              <a:t>When you look at operational, there are responsibilities and processes and other operational areas to make sure that we are aligning all the business units together.</a:t>
            </a:r>
          </a:p>
          <a:p>
            <a:endParaRPr lang="en-US" b="0" i="0">
              <a:solidFill>
                <a:srgbClr val="303030"/>
              </a:solidFill>
              <a:effectLst/>
              <a:latin typeface="Segoe UI" panose="020B0502040204020203" pitchFamily="34" charset="0"/>
            </a:endParaRPr>
          </a:p>
          <a:p>
            <a:r>
              <a:rPr lang="en-US" b="0" i="0">
                <a:solidFill>
                  <a:srgbClr val="303030"/>
                </a:solidFill>
                <a:effectLst/>
                <a:latin typeface="Segoe UI" panose="020B0502040204020203" pitchFamily="34" charset="0"/>
              </a:rPr>
              <a:t>Lastly, after the governance and operations procedure, policies, and processes are in placed. Organizations have to communicate and efficiently take actions on How can they tactically enable and automate based on cloud native tools, tagging, infusing intelligence, and incorporations finops best practices.</a:t>
            </a:r>
            <a:endParaRPr lang="en-US"/>
          </a:p>
        </p:txBody>
      </p:sp>
      <p:sp>
        <p:nvSpPr>
          <p:cNvPr id="4" name="Slide Number Placeholder 3"/>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9CDF2885-C677-6341-835A-E92F0BF51509}" type="slidenum">
              <a:rPr kumimoji="0" lang="en-US" sz="13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36</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96747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03030"/>
                </a:solidFill>
                <a:effectLst/>
                <a:latin typeface="Segoe UI" panose="020B0502040204020203" pitchFamily="34" charset="0"/>
              </a:rPr>
              <a:t>We've categorized some of the processes and tools into a couple categories, principals, tools and then billing constructs from a principal perspective, we have clouded option framework and well architected framework that provide a very broad set of guidance around managing your cloud environment beyond just spin offs across many different areas, but with FinOps and the ability to cost optimized layered within these frameworks. From a tools perspective, we have tools like Azure Advisor, Azure Cost management, Azure Policy and Azure management groups that allow you to set policies to watch, track and manager spend to make recommendations when resource usage seems to be misaligned with utilization. So these tools have an ability to provide an end-to-end management or provide recommendations and provide proactive guidance.</a:t>
            </a:r>
          </a:p>
          <a:p>
            <a:endParaRPr lang="en-US" b="0" i="0">
              <a:solidFill>
                <a:srgbClr val="303030"/>
              </a:solidFill>
              <a:effectLst/>
              <a:latin typeface="Segoe UI" panose="020B0502040204020203" pitchFamily="34" charset="0"/>
            </a:endParaRPr>
          </a:p>
          <a:p>
            <a:endParaRPr lang="en-US" b="0" i="0">
              <a:solidFill>
                <a:srgbClr val="303030"/>
              </a:solidFill>
              <a:effectLst/>
              <a:latin typeface="Segoe UI" panose="020B0502040204020203" pitchFamily="34" charset="0"/>
            </a:endParaRPr>
          </a:p>
          <a:p>
            <a:endParaRPr lang="en-US" b="0" i="0">
              <a:solidFill>
                <a:srgbClr val="303030"/>
              </a:solidFill>
              <a:effectLst/>
              <a:latin typeface="Segoe UI" panose="020B0502040204020203" pitchFamily="34" charset="0"/>
            </a:endParaRPr>
          </a:p>
          <a:p>
            <a:r>
              <a:rPr lang="en-US" b="0" i="0">
                <a:solidFill>
                  <a:srgbClr val="303030"/>
                </a:solidFill>
                <a:effectLst/>
                <a:latin typeface="Segoe UI" panose="020B0502040204020203" pitchFamily="34" charset="0"/>
              </a:rPr>
              <a:t>--- STOP REWIND ----</a:t>
            </a:r>
          </a:p>
          <a:p>
            <a:endParaRPr lang="en-US" b="0" i="0">
              <a:solidFill>
                <a:srgbClr val="303030"/>
              </a:solidFill>
              <a:effectLst/>
              <a:latin typeface="Segoe UI" panose="020B0502040204020203" pitchFamily="34" charset="0"/>
            </a:endParaRPr>
          </a:p>
          <a:p>
            <a:endParaRPr lang="en-US" b="0" i="0">
              <a:solidFill>
                <a:srgbClr val="303030"/>
              </a:solidFill>
              <a:effectLst/>
              <a:latin typeface="Segoe UI" panose="020B0502040204020203" pitchFamily="34" charset="0"/>
            </a:endParaRPr>
          </a:p>
          <a:p>
            <a:r>
              <a:rPr lang="en-US" b="0" i="0">
                <a:solidFill>
                  <a:srgbClr val="303030"/>
                </a:solidFill>
                <a:effectLst/>
                <a:latin typeface="Segoe UI" panose="020B0502040204020203" pitchFamily="34" charset="0"/>
              </a:rPr>
              <a:t>When we think about double clicking into our cloud FinOps practice and how do we actually implement some of the topics we talked about conceptually before?</a:t>
            </a:r>
          </a:p>
          <a:p>
            <a:endParaRPr lang="en-US" b="0" i="0">
              <a:solidFill>
                <a:srgbClr val="303030"/>
              </a:solidFill>
              <a:effectLst/>
              <a:latin typeface="Segoe UI" panose="020B0502040204020203" pitchFamily="34" charset="0"/>
            </a:endParaRPr>
          </a:p>
          <a:p>
            <a:pPr algn="l"/>
            <a:r>
              <a:rPr lang="en-US" b="0" i="0">
                <a:solidFill>
                  <a:srgbClr val="303030"/>
                </a:solidFill>
                <a:effectLst/>
                <a:latin typeface="Segoe UI" panose="020B0502040204020203" pitchFamily="34" charset="0"/>
              </a:rPr>
              <a:t>There's a few areas that we've broken down Microsoft offerings to help you understand how you can utilize them t</a:t>
            </a:r>
            <a:r>
              <a:rPr lang="en-US"/>
              <a:t>o best take advantage and manage your cloud spend environment.</a:t>
            </a:r>
          </a:p>
          <a:p>
            <a:pPr algn="l"/>
            <a:endParaRPr lang="en-US"/>
          </a:p>
          <a:p>
            <a:pPr algn="l"/>
            <a:r>
              <a:rPr lang="en-US" b="0" i="0">
                <a:solidFill>
                  <a:srgbClr val="303030"/>
                </a:solidFill>
                <a:effectLst/>
                <a:latin typeface="Segoe UI" panose="020B0502040204020203" pitchFamily="34" charset="0"/>
              </a:rPr>
              <a:t>From a principle's perspective, we have cloud adoption framework and well architected frameworks. These two frameworks help you set best practices, define cloud strategy and really have an end-to-end framework to help manage your cloud environment. It's much broader than just spin offs, but there are topics within these frameworks that really can help you identify best practices and setup policies and setup environments in a way that will lead you to longer term success.</a:t>
            </a:r>
          </a:p>
          <a:p>
            <a:pPr algn="l"/>
            <a:endParaRPr lang="en-US" b="0" i="0">
              <a:solidFill>
                <a:srgbClr val="303030"/>
              </a:solidFill>
              <a:effectLst/>
              <a:latin typeface="Segoe UI" panose="020B0502040204020203" pitchFamily="34" charset="0"/>
            </a:endParaRPr>
          </a:p>
          <a:p>
            <a:pPr algn="l"/>
            <a:r>
              <a:rPr lang="en-US" b="0" i="0">
                <a:solidFill>
                  <a:srgbClr val="303030"/>
                </a:solidFill>
                <a:effectLst/>
                <a:latin typeface="Segoe UI" panose="020B0502040204020203" pitchFamily="34" charset="0"/>
              </a:rPr>
              <a:t>From a tools perspective, we have tools built into the Azure platform, like Azure Advisor, cost management policy and management groups that allow you to do things like make recommendations on resource usage that may be misaligned with underlying consumption. Identify what spend you have in different resource groups and different product lines. Set policies to constrain resource usage or to create a requirement to, for example, tag resources with a specific cost center and use management groups to help set policies and enable access differentially across your organization. From a billing contract perspective, we have several product offerings that allow you to achieve lower price points in exchange for certain product attributes. So reservations as an example, in exchange for making a one or a three year commitment to use a certain amount of virtual machine capacity, can allow you to achieve a much lower price point relative to the pay as you go prices. Hybrid benefit allows you to bring on premise licenses with you when you make a cloud migration, and spot instances allows you to utilize preemptible capacity in order to achieve a significantly lower price point in exchange for workload, flexibility and the ability to be removed from a VM if capacity r</a:t>
            </a:r>
            <a:r>
              <a:rPr lang="en-US" b="0" i="0">
                <a:solidFill>
                  <a:srgbClr val="000000"/>
                </a:solidFill>
                <a:effectLst/>
                <a:latin typeface="Times New Roman" panose="02020603050405020304" pitchFamily="18" charset="0"/>
              </a:rPr>
              <a:t>equirements dictate as such.</a:t>
            </a:r>
          </a:p>
          <a:p>
            <a:br>
              <a:rPr lang="en-US" b="0" i="0">
                <a:solidFill>
                  <a:srgbClr val="000000"/>
                </a:solidFill>
                <a:effectLst/>
                <a:latin typeface="Times New Roman" panose="02020603050405020304" pitchFamily="18" charset="0"/>
              </a:rPr>
            </a:br>
            <a:endParaRPr lang="en-US"/>
          </a:p>
        </p:txBody>
      </p:sp>
      <p:sp>
        <p:nvSpPr>
          <p:cNvPr id="4" name="Slide Number Placeholder 3"/>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3D323F8E-FEE4-4B59-AB1A-E00F1DC4A99E}" type="slidenum">
              <a:rPr kumimoji="0" lang="en-US" sz="13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37</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4522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900">
                <a:latin typeface="Calibri" panose="020F0502020204030204" pitchFamily="34" charset="0"/>
                <a:ea typeface="Times New Roman" panose="02020603050405020304" pitchFamily="18" charset="0"/>
                <a:cs typeface="Times New Roman" panose="02020603050405020304" pitchFamily="18" charset="0"/>
              </a:rPr>
              <a:t>One of the technical aspects of the cloud is scalability and time to deploy and how that impacts your overall financials, as well as how you deliver services back into the business unit. So here we're comparing traditional IT, the historic way that we used to do things, to the cloud supported model. </a:t>
            </a:r>
          </a:p>
          <a:p>
            <a:pPr defTabSz="966612">
              <a:defRPr/>
            </a:pPr>
            <a:endParaRPr lang="en-US" sz="1900">
              <a:latin typeface="Calibri" panose="020F0502020204030204" pitchFamily="34" charset="0"/>
              <a:ea typeface="Times New Roman" panose="02020603050405020304" pitchFamily="18" charset="0"/>
              <a:cs typeface="Times New Roman" panose="02020603050405020304" pitchFamily="18" charset="0"/>
            </a:endParaRPr>
          </a:p>
          <a:p>
            <a:pPr defTabSz="966612">
              <a:defRPr/>
            </a:pPr>
            <a:r>
              <a:rPr lang="en-US" sz="1900">
                <a:latin typeface="Calibri" panose="020F0502020204030204" pitchFamily="34" charset="0"/>
                <a:ea typeface="Times New Roman" panose="02020603050405020304" pitchFamily="18" charset="0"/>
                <a:cs typeface="Times New Roman" panose="02020603050405020304" pitchFamily="18" charset="0"/>
              </a:rPr>
              <a:t>The first aspect is time to provision: Traditionally, an IT organization would work with the business unit, and would potentially take weeks or months to deploy a service or infrastructure to cater to the business unit’s request. In a cloud supported model, because of automation, it can happen in a matter of minutes or potentially hours, and even have self-service access to that business unit to deploy the resource that they're looking for. So dramatic reduction in overall time to provision.  And as I mentioned previously, a dramatically lower timeframe to deprovision those resources and then reallocate the otherwise required cash flow to support it. </a:t>
            </a:r>
          </a:p>
          <a:p>
            <a:pPr defTabSz="966612">
              <a:defRPr/>
            </a:pPr>
            <a:endParaRPr lang="en-US" sz="1900">
              <a:latin typeface="Calibri" panose="020F0502020204030204" pitchFamily="34" charset="0"/>
              <a:ea typeface="Times New Roman" panose="02020603050405020304" pitchFamily="18" charset="0"/>
              <a:cs typeface="Times New Roman" panose="02020603050405020304" pitchFamily="18" charset="0"/>
            </a:endParaRPr>
          </a:p>
          <a:p>
            <a:pPr defTabSz="966612">
              <a:defRPr/>
            </a:pPr>
            <a:r>
              <a:rPr lang="en-US" sz="1900">
                <a:latin typeface="Calibri" panose="020F0502020204030204" pitchFamily="34" charset="0"/>
                <a:ea typeface="Times New Roman" panose="02020603050405020304" pitchFamily="18" charset="0"/>
                <a:cs typeface="Times New Roman" panose="02020603050405020304" pitchFamily="18" charset="0"/>
              </a:rPr>
              <a:t>[Click]</a:t>
            </a:r>
          </a:p>
          <a:p>
            <a:pPr defTabSz="966612">
              <a:defRPr/>
            </a:pPr>
            <a:r>
              <a:rPr lang="en-US" sz="1900">
                <a:latin typeface="Calibri" panose="020F0502020204030204" pitchFamily="34" charset="0"/>
                <a:ea typeface="Times New Roman" panose="02020603050405020304" pitchFamily="18" charset="0"/>
                <a:cs typeface="Times New Roman" panose="02020603050405020304" pitchFamily="18" charset="0"/>
              </a:rPr>
              <a:t>Second is hardware utilization: in traditional IT with capital investments in bare metal deployment for on-premises datacenters, you're really limited to what you have inside of your data center to cater to a business unit request. For example, if there is a batch level processing job that a business unit has, you may only have 1 CPU and 100 hours to allocate to that process.  In a cloud supported model you could use spot level pricing and get a 100 CPUs and run the same batch level process in 1 hour. So, a much different scenario of service delivery. </a:t>
            </a:r>
          </a:p>
          <a:p>
            <a:pPr defTabSz="966612">
              <a:defRPr/>
            </a:pPr>
            <a:endParaRPr lang="en-US" sz="1900">
              <a:latin typeface="Calibri" panose="020F0502020204030204" pitchFamily="34" charset="0"/>
              <a:ea typeface="Times New Roman" panose="02020603050405020304" pitchFamily="18" charset="0"/>
              <a:cs typeface="Times New Roman" panose="02020603050405020304" pitchFamily="18" charset="0"/>
            </a:endParaRPr>
          </a:p>
          <a:p>
            <a:pPr defTabSz="966612">
              <a:defRPr/>
            </a:pPr>
            <a:r>
              <a:rPr lang="en-US" sz="1900">
                <a:latin typeface="Calibri" panose="020F0502020204030204" pitchFamily="34" charset="0"/>
                <a:ea typeface="Times New Roman" panose="02020603050405020304" pitchFamily="18" charset="0"/>
                <a:cs typeface="Times New Roman" panose="02020603050405020304" pitchFamily="18" charset="0"/>
              </a:rPr>
              <a:t>[Click]</a:t>
            </a:r>
          </a:p>
          <a:p>
            <a:pPr>
              <a:lnSpc>
                <a:spcPct val="107000"/>
              </a:lnSpc>
              <a:spcAft>
                <a:spcPts val="846"/>
              </a:spcAft>
            </a:pPr>
            <a:r>
              <a:rPr lang="en-US" sz="1900">
                <a:latin typeface="Calibri" panose="020F0502020204030204" pitchFamily="34" charset="0"/>
                <a:ea typeface="Times New Roman" panose="02020603050405020304" pitchFamily="18" charset="0"/>
                <a:cs typeface="Times New Roman" panose="02020603050405020304" pitchFamily="18" charset="0"/>
              </a:rPr>
              <a:t>One last point is location. When you have commitments to co-los or hosting or you have your amortized data center facility, you're really restricted to that geographic location. In the cloud supported model you have unlimited access to different regional data centers across different markets and different countries, so a lot more flexibility. </a:t>
            </a:r>
          </a:p>
          <a:p>
            <a:endParaRPr lang="en-US" sz="1100">
              <a:solidFill>
                <a:srgbClr val="FF0000"/>
              </a:solidFill>
            </a:endParaRPr>
          </a:p>
          <a:p>
            <a:endParaRPr lang="en-US" sz="1100">
              <a:solidFill>
                <a:srgbClr val="FF0000"/>
              </a:solidFill>
            </a:endParaRPr>
          </a:p>
          <a:p>
            <a:endParaRPr lang="en-US" sz="1100">
              <a:solidFill>
                <a:srgbClr val="FF0000"/>
              </a:solidFill>
            </a:endParaRPr>
          </a:p>
          <a:p>
            <a:r>
              <a:rPr lang="en-US" sz="1100">
                <a:solidFill>
                  <a:srgbClr val="FF0000"/>
                </a:solidFill>
              </a:rPr>
              <a:t>--------------------------------------------------------------</a:t>
            </a:r>
          </a:p>
          <a:p>
            <a:endParaRPr lang="en-US" sz="1100">
              <a:solidFill>
                <a:srgbClr val="FF0000"/>
              </a:solidFill>
            </a:endParaRPr>
          </a:p>
          <a:p>
            <a:r>
              <a:rPr lang="en-US" sz="1100">
                <a:solidFill>
                  <a:srgbClr val="FF0000"/>
                </a:solidFill>
              </a:rPr>
              <a:t>PREVIOS SLIDE NOTES:</a:t>
            </a:r>
          </a:p>
          <a:p>
            <a:endParaRPr lang="en-US" sz="1100">
              <a:solidFill>
                <a:srgbClr val="FF0000"/>
              </a:solidFill>
            </a:endParaRPr>
          </a:p>
          <a:p>
            <a:r>
              <a:rPr lang="en-US" sz="1100">
                <a:solidFill>
                  <a:srgbClr val="FF0000"/>
                </a:solidFill>
              </a:rPr>
              <a:t>Agility influences not only IT Operations and business units but also impacts finance with respect to allocation of budgets</a:t>
            </a:r>
          </a:p>
          <a:p>
            <a:endParaRPr lang="en-US" sz="1100">
              <a:solidFill>
                <a:srgbClr val="FF0000"/>
              </a:solidFill>
            </a:endParaRPr>
          </a:p>
          <a:p>
            <a:r>
              <a:rPr lang="en-US" sz="1100">
                <a:solidFill>
                  <a:srgbClr val="FF0000"/>
                </a:solidFill>
              </a:rPr>
              <a:t>For example, it can take weeks or even months in the on-premises world to acquire budget, provision resources or extend new capacity – while in the cloud you can just spin up resources in seconds. Conversely resources can be deprovisioned in a timely fashion and reallocated to needed projects. A super important ability to highlight given that it’s been historically very challenging. This applies not only to the technical resources provisioned but also to the budgetary allocation to support those resources. </a:t>
            </a:r>
          </a:p>
          <a:p>
            <a:endParaRPr lang="en-US" sz="1100">
              <a:solidFill>
                <a:srgbClr val="FF0000"/>
              </a:solidFill>
            </a:endParaRPr>
          </a:p>
          <a:p>
            <a:r>
              <a:rPr lang="en-US" sz="1100">
                <a:solidFill>
                  <a:srgbClr val="FF0000"/>
                </a:solidFill>
              </a:rPr>
              <a:t>Also, in a traditional datacenter you have resources which are assigned for certain workloads for long periods of time, however in the cloud you can be much more flexible in your hardware usage. This is a great example where projecting out or modeling the cost of consumption is crucial – working through the various cloud offerings, architecting not only for service delivery but also cost optimization.</a:t>
            </a:r>
          </a:p>
          <a:p>
            <a:endParaRPr lang="en-US" sz="1100">
              <a:solidFill>
                <a:srgbClr val="FF0000"/>
              </a:solidFill>
            </a:endParaRPr>
          </a:p>
          <a:p>
            <a:r>
              <a:rPr lang="en-US" sz="1100">
                <a:solidFill>
                  <a:srgbClr val="FF0000"/>
                </a:solidFill>
              </a:rPr>
              <a:t>Finally, on-prem is tied to that one location where you have your datacenter, however in the cloud you can quickly spin up your resources pretty much anywhere in the world.</a:t>
            </a:r>
          </a:p>
          <a:p>
            <a:endParaRPr lang="en-US" sz="1100">
              <a:solidFill>
                <a:srgbClr val="FF0000"/>
              </a:solidFill>
            </a:endParaRPr>
          </a:p>
          <a:p>
            <a:pPr defTabSz="966612">
              <a:defRPr/>
            </a:pPr>
            <a:r>
              <a:rPr lang="en-US" sz="1100" kern="0">
                <a:solidFill>
                  <a:prstClr val="black"/>
                </a:solidFill>
                <a:latin typeface="Segoe UI Semilight" panose="020B0402040204020203" pitchFamily="34" charset="0"/>
                <a:cs typeface="Segoe UI Semilight" panose="020B0402040204020203" pitchFamily="34" charset="0"/>
              </a:rPr>
              <a:t>Enabling the increase of business optionality, positive ROI projects and ability to take advantage of new technical opportunities due to reduced sunk investments and technical debt. </a:t>
            </a:r>
            <a:endParaRPr lang="en-US" sz="1100" b="1" i="1" u="sng" kern="0">
              <a:solidFill>
                <a:prstClr val="black"/>
              </a:solidFill>
              <a:latin typeface="Segoe UI Semilight" panose="020B0402040204020203" pitchFamily="34" charset="0"/>
              <a:cs typeface="Segoe UI Semilight" panose="020B0402040204020203" pitchFamily="34" charset="0"/>
            </a:endParaRPr>
          </a:p>
          <a:p>
            <a:endParaRPr lang="en-US" sz="1100">
              <a:solidFill>
                <a:srgbClr val="FF0000"/>
              </a:solidFill>
            </a:endParaRPr>
          </a:p>
        </p:txBody>
      </p:sp>
      <p:sp>
        <p:nvSpPr>
          <p:cNvPr id="4" name="Slide Number Placeholder 3"/>
          <p:cNvSpPr>
            <a:spLocks noGrp="1"/>
          </p:cNvSpPr>
          <p:nvPr>
            <p:ph type="sldNum" sz="quarter" idx="10"/>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8B263312-38AA-4E1E-B2B5-0F8F122B24FE}" type="slidenum">
              <a:rPr kumimoji="0" lang="en-US" sz="13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38</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49667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1ED5-058B-402B-BB97-3E8C9F48130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3600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1ED5-058B-402B-BB97-3E8C9F48130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15977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1/25/2026 10:04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249353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1ED5-058B-402B-BB97-3E8C9F48130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6000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200"/>
              </a:spcAft>
              <a:defRPr/>
            </a:pPr>
            <a:endParaRPr lang="en-US" sz="1200" dirty="0">
              <a:gradFill>
                <a:gsLst>
                  <a:gs pos="1250">
                    <a:srgbClr val="1A1A1A"/>
                  </a:gs>
                  <a:gs pos="100000">
                    <a:srgbClr val="1A1A1A"/>
                  </a:gs>
                </a:gsLst>
                <a:lin ang="5400000" scaled="0"/>
              </a:gradFill>
              <a:latin typeface="Segoe UI Semibold"/>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1ED5-058B-402B-BB97-3E8C9F48130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15664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1ED5-058B-402B-BB97-3E8C9F48130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20173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1ED5-058B-402B-BB97-3E8C9F48130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04679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9888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97425074"/>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723704324"/>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431969"/>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2722038596"/>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2786630066"/>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73466295"/>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370094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012691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Blank with foot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16A9E15-E9DF-F744-8237-5BE3D8FD96B2}"/>
              </a:ext>
            </a:extLst>
          </p:cNvPr>
          <p:cNvSpPr/>
          <p:nvPr userDrawn="1"/>
        </p:nvSpPr>
        <p:spPr bwMode="auto">
          <a:xfrm>
            <a:off x="1" y="6575383"/>
            <a:ext cx="12192000" cy="291068"/>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91597581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C35EA4"/>
          </p15:clr>
        </p15:guide>
        <p15:guide id="14" pos="3155">
          <p15:clr>
            <a:srgbClr val="A4A3A4"/>
          </p15:clr>
        </p15:guide>
        <p15:guide id="15" pos="3338">
          <p15:clr>
            <a:srgbClr val="A4A3A4"/>
          </p15:clr>
        </p15:guide>
        <p15:guide id="16" pos="3749">
          <p15:clr>
            <a:srgbClr val="C35EA4"/>
          </p15:clr>
        </p15:guide>
        <p15:guide id="17" pos="3932">
          <p15:clr>
            <a:srgbClr val="C35EA4"/>
          </p15:clr>
        </p15:guide>
        <p15:guide id="18" pos="4343">
          <p15:clr>
            <a:srgbClr val="A4A3A4"/>
          </p15:clr>
        </p15:guide>
        <p15:guide id="19" pos="4526">
          <p15:clr>
            <a:srgbClr val="A4A3A4"/>
          </p15:clr>
        </p15:guide>
        <p15:guide id="20" pos="4937">
          <p15:clr>
            <a:srgbClr val="C35EA4"/>
          </p15:clr>
        </p15:guide>
        <p15:guide id="21" pos="5120">
          <p15:clr>
            <a:srgbClr val="C35E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31" pos="2743">
          <p15:clr>
            <a:srgbClr val="C35EA4"/>
          </p15:clr>
        </p15:guide>
        <p15:guide id="32" orient="horz" pos="1439">
          <p15:clr>
            <a:srgbClr val="C35EA4"/>
          </p15:clr>
        </p15:guide>
        <p15:guide id="33" orient="horz" pos="1625">
          <p15:clr>
            <a:srgbClr val="C35EA4"/>
          </p15:clr>
        </p15:guide>
        <p15:guide id="35" orient="horz" pos="2250">
          <p15:clr>
            <a:srgbClr val="C35EA4"/>
          </p15:clr>
        </p15:guide>
        <p15:guide id="36" orient="horz" pos="2066">
          <p15:clr>
            <a:srgbClr val="C35EA4"/>
          </p15:clr>
        </p15:guide>
        <p15:guide id="37" orient="horz" pos="2697">
          <p15:clr>
            <a:srgbClr val="C35EA4"/>
          </p15:clr>
        </p15:guide>
        <p15:guide id="38" orient="horz" pos="2880">
          <p15:clr>
            <a:srgbClr val="C35EA4"/>
          </p15:clr>
        </p15:guide>
        <p15:guide id="39" orient="horz" pos="63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3614764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Tree>
    <p:extLst>
      <p:ext uri="{BB962C8B-B14F-4D97-AF65-F5344CB8AC3E}">
        <p14:creationId xmlns:p14="http://schemas.microsoft.com/office/powerpoint/2010/main" val="2687995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_Titl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Tree>
    <p:extLst>
      <p:ext uri="{BB962C8B-B14F-4D97-AF65-F5344CB8AC3E}">
        <p14:creationId xmlns:p14="http://schemas.microsoft.com/office/powerpoint/2010/main" val="3826886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Tree>
    <p:extLst>
      <p:ext uri="{BB962C8B-B14F-4D97-AF65-F5344CB8AC3E}">
        <p14:creationId xmlns:p14="http://schemas.microsoft.com/office/powerpoint/2010/main" val="3614265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655565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theme" Target="../theme/theme2.xml"/><Relationship Id="rId4"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472761378"/>
      </p:ext>
    </p:extLst>
  </p:cSld>
  <p:clrMap bg1="lt1" tx1="dk1" bg2="lt2" tx2="dk2" accent1="accent1" accent2="accent2" accent3="accent3" accent4="accent4" accent5="accent5" accent6="accent6" hlink="hlink" folHlink="folHlink"/>
  <p:sldLayoutIdLst>
    <p:sldLayoutId id="2147483961" r:id="rId1"/>
    <p:sldLayoutId id="2147483963" r:id="rId2"/>
    <p:sldLayoutId id="2147483964" r:id="rId3"/>
    <p:sldLayoutId id="2147483966" r:id="rId4"/>
    <p:sldLayoutId id="2147483968" r:id="rId5"/>
    <p:sldLayoutId id="2147483969" r:id="rId6"/>
    <p:sldLayoutId id="2147483975" r:id="rId7"/>
    <p:sldLayoutId id="2147483990" r:id="rId8"/>
    <p:sldLayoutId id="2147484034" r:id="rId9"/>
    <p:sldLayoutId id="2147484031" r:id="rId1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55994" y="1817560"/>
            <a:ext cx="11231768" cy="202185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435825191"/>
      </p:ext>
    </p:extLst>
  </p:cSld>
  <p:clrMap bg1="lt1" tx1="dk1" bg2="lt2" tx2="dk2" accent1="accent1" accent2="accent2" accent3="accent3" accent4="accent4" accent5="accent5" accent6="accent6" hlink="hlink" folHlink="folHlink"/>
  <p:sldLayoutIdLst>
    <p:sldLayoutId id="2147484007" r:id="rId1"/>
    <p:sldLayoutId id="2147484012" r:id="rId2"/>
    <p:sldLayoutId id="2147484014" r:id="rId3"/>
    <p:sldLayoutId id="2147484016" r:id="rId4"/>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p15="http://schemas.microsoft.com/office/powerpoint/2012/main" xmlns:p14="http://schemas.microsoft.com/office/powerpoint/2010/main" xmlns="">
      <p:transition spd="slow">
        <p:fade/>
      </p:transition>
    </mc:Fallback>
  </mc:AlternateContent>
  <p:hf hd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4227762903"/>
      </p:ext>
    </p:extLst>
  </p:cSld>
  <p:clrMap bg1="lt1" tx1="dk1" bg2="lt2" tx2="dk2" accent1="accent1" accent2="accent2" accent3="accent3" accent4="accent4" accent5="accent5" accent6="accent6" hlink="hlink" folHlink="folHlink"/>
  <p:sldLayoutIdLst>
    <p:sldLayoutId id="2147485016"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jpeg"/><Relationship Id="rId7"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 Id="rId9" Type="http://schemas.openxmlformats.org/officeDocument/2006/relationships/hyperlink" Target="https://aka.ms/architecture/framework"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36.jpeg"/><Relationship Id="rId4" Type="http://schemas.openxmlformats.org/officeDocument/2006/relationships/image" Target="../media/image35.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image" Target="../media/image40.tiff"/><Relationship Id="rId5" Type="http://schemas.openxmlformats.org/officeDocument/2006/relationships/image" Target="../media/image39.png"/><Relationship Id="rId4" Type="http://schemas.openxmlformats.org/officeDocument/2006/relationships/image" Target="../media/image38.svg"/></Relationships>
</file>

<file path=ppt/slides/_rels/slide2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emf"/><Relationship Id="rId7" Type="http://schemas.openxmlformats.org/officeDocument/2006/relationships/image" Target="../media/image40.tif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www.finops.org/" TargetMode="External"/><Relationship Id="rId5" Type="http://schemas.openxmlformats.org/officeDocument/2006/relationships/hyperlink" Target="https://www.finops.org/" TargetMode="External"/><Relationship Id="rId4" Type="http://schemas.openxmlformats.org/officeDocument/2006/relationships/hyperlink" Target="https://www.finops.org/introduction/what-is-finops/"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ww.finops.org/introduction/what-is-finops/"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hyperlink" Target="http://www.finops.org/" TargetMode="External"/><Relationship Id="rId4" Type="http://schemas.openxmlformats.org/officeDocument/2006/relationships/hyperlink" Target="https://www.finops.org/"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5.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sv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slides/_rels/slide34.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42.png"/><Relationship Id="rId3" Type="http://schemas.openxmlformats.org/officeDocument/2006/relationships/image" Target="../media/image56.jpe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emf"/><Relationship Id="rId9" Type="http://schemas.openxmlformats.org/officeDocument/2006/relationships/image" Target="../media/image62.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www.finops.org/"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42.png"/><Relationship Id="rId7" Type="http://schemas.openxmlformats.org/officeDocument/2006/relationships/image" Target="../media/image70.svg"/><Relationship Id="rId12" Type="http://schemas.openxmlformats.org/officeDocument/2006/relationships/image" Target="../media/image75.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4.xml"/><Relationship Id="rId1" Type="http://schemas.openxmlformats.org/officeDocument/2006/relationships/tags" Target="../tags/tag1.xml"/><Relationship Id="rId4" Type="http://schemas.openxmlformats.org/officeDocument/2006/relationships/image" Target="../media/image78.png"/></Relationships>
</file>

<file path=ppt/slides/_rels/slide44.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31.xml"/><Relationship Id="rId1" Type="http://schemas.openxmlformats.org/officeDocument/2006/relationships/slideLayout" Target="../slideLayouts/slideLayout14.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4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4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54763-65C7-49C6-97A3-CCD4B8A7CAE3}"/>
              </a:ext>
            </a:extLst>
          </p:cNvPr>
          <p:cNvSpPr>
            <a:spLocks noGrp="1"/>
          </p:cNvSpPr>
          <p:nvPr>
            <p:ph type="title"/>
          </p:nvPr>
        </p:nvSpPr>
        <p:spPr>
          <a:xfrm>
            <a:off x="584200" y="1779437"/>
            <a:ext cx="9947729" cy="3046988"/>
          </a:xfrm>
        </p:spPr>
        <p:txBody>
          <a:bodyPr/>
          <a:lstStyle/>
          <a:p>
            <a:r>
              <a:rPr lang="en-US" dirty="0"/>
              <a:t>Well-Architected Cost Optimization Assessment</a:t>
            </a:r>
          </a:p>
        </p:txBody>
      </p:sp>
      <p:sp>
        <p:nvSpPr>
          <p:cNvPr id="4" name="Text Placeholder 3">
            <a:extLst>
              <a:ext uri="{FF2B5EF4-FFF2-40B4-BE49-F238E27FC236}">
                <a16:creationId xmlns:a16="http://schemas.microsoft.com/office/drawing/2014/main" id="{6E399B67-1FB6-48C3-9C0D-4683A046AA5C}"/>
              </a:ext>
            </a:extLst>
          </p:cNvPr>
          <p:cNvSpPr>
            <a:spLocks noGrp="1"/>
          </p:cNvSpPr>
          <p:nvPr>
            <p:ph type="body" sz="quarter" idx="12"/>
          </p:nvPr>
        </p:nvSpPr>
        <p:spPr>
          <a:xfrm>
            <a:off x="582042" y="5005970"/>
            <a:ext cx="5346316" cy="1118255"/>
          </a:xfrm>
        </p:spPr>
        <p:txBody>
          <a:bodyPr vert="horz" wrap="square" lIns="0" tIns="0" rIns="0" bIns="0" rtlCol="0" anchor="t">
            <a:spAutoFit/>
          </a:bodyPr>
          <a:lstStyle/>
          <a:p>
            <a:pPr>
              <a:spcBef>
                <a:spcPts val="200"/>
              </a:spcBef>
              <a:spcAft>
                <a:spcPts val="200"/>
              </a:spcAft>
            </a:pPr>
            <a:r>
              <a:rPr lang="en-US" dirty="0"/>
              <a:t>Engagement kick-off</a:t>
            </a:r>
          </a:p>
          <a:p>
            <a:pPr>
              <a:spcBef>
                <a:spcPts val="200"/>
              </a:spcBef>
              <a:spcAft>
                <a:spcPts val="200"/>
              </a:spcAft>
            </a:pPr>
            <a:r>
              <a:rPr lang="en-US" dirty="0"/>
              <a:t>Presented by: xxx</a:t>
            </a:r>
          </a:p>
          <a:p>
            <a:pPr>
              <a:spcBef>
                <a:spcPts val="200"/>
              </a:spcBef>
              <a:spcAft>
                <a:spcPts val="200"/>
              </a:spcAft>
            </a:pPr>
            <a:r>
              <a:rPr lang="en-US" dirty="0"/>
              <a:t>Date: xxx</a:t>
            </a:r>
          </a:p>
        </p:txBody>
      </p:sp>
    </p:spTree>
    <p:extLst>
      <p:ext uri="{BB962C8B-B14F-4D97-AF65-F5344CB8AC3E}">
        <p14:creationId xmlns:p14="http://schemas.microsoft.com/office/powerpoint/2010/main" val="544634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9BE027-680C-4683-BF66-C254227CE859}"/>
              </a:ext>
            </a:extLst>
          </p:cNvPr>
          <p:cNvSpPr>
            <a:spLocks noGrp="1"/>
          </p:cNvSpPr>
          <p:nvPr>
            <p:ph type="title"/>
          </p:nvPr>
        </p:nvSpPr>
        <p:spPr/>
        <p:txBody>
          <a:bodyPr/>
          <a:lstStyle/>
          <a:p>
            <a:r>
              <a:rPr lang="en-US"/>
              <a:t>Conditions and terms of use</a:t>
            </a:r>
          </a:p>
        </p:txBody>
      </p:sp>
      <p:sp>
        <p:nvSpPr>
          <p:cNvPr id="13" name="Rectangle 12">
            <a:extLst>
              <a:ext uri="{FF2B5EF4-FFF2-40B4-BE49-F238E27FC236}">
                <a16:creationId xmlns:a16="http://schemas.microsoft.com/office/drawing/2014/main" id="{75069556-ABC7-4A56-AC01-D9E0CD562D11}"/>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 site references in the training materials may change without notice. Unless otherwise noted, any companies, organization, domain names, email addresses, people, place and events depicted in the training materials are for illustration only and are fictitious. No real association is intended or inferred. THESE TRANING MATERIALS ARE PROVIDED "AS IS"; MICROSOFT MAKES NO WARRANTIES, EXPRESS OR IMPLIED IN THESE TRAINING MATERIALS. 1</a:t>
            </a:r>
            <a:endParaRPr lang="en-US" b="0" i="0" u="none" strike="noStrike" kern="1200" cap="none" spc="0" normalizeH="0" baseline="0" noProof="0">
              <a:ln>
                <a:noFill/>
              </a:ln>
              <a:solidFill>
                <a:schemeClr val="tx1"/>
              </a:solidFill>
              <a:effectLst/>
              <a:uLnTx/>
              <a:uFillTx/>
              <a:cs typeface="Segoe UI Semibold"/>
            </a:endParaRPr>
          </a:p>
        </p:txBody>
      </p:sp>
      <p:grpSp>
        <p:nvGrpSpPr>
          <p:cNvPr id="21" name="Group 20">
            <a:extLst>
              <a:ext uri="{FF2B5EF4-FFF2-40B4-BE49-F238E27FC236}">
                <a16:creationId xmlns:a16="http://schemas.microsoft.com/office/drawing/2014/main" id="{31CB4423-9713-4008-A7D0-7A4B2D3AC56E}"/>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22" name="Half Frame 21">
              <a:extLst>
                <a:ext uri="{FF2B5EF4-FFF2-40B4-BE49-F238E27FC236}">
                  <a16:creationId xmlns:a16="http://schemas.microsoft.com/office/drawing/2014/main" id="{A1647AB7-E614-4E80-B44F-74E35441FA61}"/>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3" name="Half Frame 22">
              <a:extLst>
                <a:ext uri="{FF2B5EF4-FFF2-40B4-BE49-F238E27FC236}">
                  <a16:creationId xmlns:a16="http://schemas.microsoft.com/office/drawing/2014/main" id="{15709B60-9D3D-4C26-B09D-7E091686523D}"/>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28" name="TextBox 4">
            <a:extLst>
              <a:ext uri="{FF2B5EF4-FFF2-40B4-BE49-F238E27FC236}">
                <a16:creationId xmlns:a16="http://schemas.microsoft.com/office/drawing/2014/main" id="{5C685FEA-A732-4835-ADDB-A7DB0E3BFFAA}"/>
              </a:ext>
            </a:extLst>
          </p:cNvPr>
          <p:cNvSpPr txBox="1"/>
          <p:nvPr/>
        </p:nvSpPr>
        <p:spPr>
          <a:xfrm>
            <a:off x="571500" y="5283756"/>
            <a:ext cx="8387644" cy="184666"/>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ea typeface="+mn-lt"/>
                <a:cs typeface="+mn-lt"/>
              </a:rPr>
              <a:t>1 </a:t>
            </a:r>
            <a:r>
              <a:rPr lang="en-US" sz="1200"/>
              <a:t>For a more detailed description of confidentiality, see the slide at the end of the presentation.</a:t>
            </a:r>
            <a:endParaRPr lang="en-US" sz="1200">
              <a:cs typeface="Segoe UI"/>
            </a:endParaRPr>
          </a:p>
        </p:txBody>
      </p:sp>
      <p:sp>
        <p:nvSpPr>
          <p:cNvPr id="31" name="Footer Placeholder 4">
            <a:extLst>
              <a:ext uri="{FF2B5EF4-FFF2-40B4-BE49-F238E27FC236}">
                <a16:creationId xmlns:a16="http://schemas.microsoft.com/office/drawing/2014/main" id="{1224289D-A891-47E0-AF62-971AB8AFBB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4" name="Slide Number Placeholder 5">
            <a:extLst>
              <a:ext uri="{FF2B5EF4-FFF2-40B4-BE49-F238E27FC236}">
                <a16:creationId xmlns:a16="http://schemas.microsoft.com/office/drawing/2014/main" id="{F3B852FA-31E2-460A-9A9E-5E0212FDA43C}"/>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78314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779FC-EF2F-429A-B10F-15BBE61B8F05}"/>
              </a:ext>
            </a:extLst>
          </p:cNvPr>
          <p:cNvSpPr>
            <a:spLocks noGrp="1"/>
          </p:cNvSpPr>
          <p:nvPr>
            <p:ph type="title"/>
          </p:nvPr>
        </p:nvSpPr>
        <p:spPr/>
        <p:txBody>
          <a:bodyPr/>
          <a:lstStyle/>
          <a:p>
            <a:r>
              <a:rPr lang="en-US"/>
              <a:t>Agenda</a:t>
            </a:r>
          </a:p>
        </p:txBody>
      </p:sp>
      <p:graphicFrame>
        <p:nvGraphicFramePr>
          <p:cNvPr id="95" name="Table 3">
            <a:extLst>
              <a:ext uri="{FF2B5EF4-FFF2-40B4-BE49-F238E27FC236}">
                <a16:creationId xmlns:a16="http://schemas.microsoft.com/office/drawing/2014/main" id="{A5C04303-2CC9-4ED4-AE1D-BC5D50E1F6A5}"/>
              </a:ext>
            </a:extLst>
          </p:cNvPr>
          <p:cNvGraphicFramePr>
            <a:graphicFrameLocks noGrp="1"/>
          </p:cNvGraphicFramePr>
          <p:nvPr>
            <p:extLst>
              <p:ext uri="{D42A27DB-BD31-4B8C-83A1-F6EECF244321}">
                <p14:modId xmlns:p14="http://schemas.microsoft.com/office/powerpoint/2010/main" val="999379065"/>
              </p:ext>
            </p:extLst>
          </p:nvPr>
        </p:nvGraphicFramePr>
        <p:xfrm>
          <a:off x="575481" y="1411512"/>
          <a:ext cx="5760720" cy="4060035"/>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812007">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20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Introductions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812007">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20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Overview </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79547515"/>
                  </a:ext>
                </a:extLst>
              </a:tr>
              <a:tr h="812007">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Engagement Agenda</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812007">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20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Audience and Prerequisites </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8902310"/>
                  </a:ext>
                </a:extLst>
              </a:tr>
              <a:tr h="812007">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20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Deployments </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1743516"/>
                  </a:ext>
                </a:extLst>
              </a:tr>
            </a:tbl>
          </a:graphicData>
        </a:graphic>
      </p:graphicFrame>
      <p:grpSp>
        <p:nvGrpSpPr>
          <p:cNvPr id="139" name="Group 138">
            <a:extLst>
              <a:ext uri="{FF2B5EF4-FFF2-40B4-BE49-F238E27FC236}">
                <a16:creationId xmlns:a16="http://schemas.microsoft.com/office/drawing/2014/main" id="{28B0DB7A-0EC5-474D-A0AE-7BEC1BE4AC92}"/>
              </a:ext>
              <a:ext uri="{C183D7F6-B498-43B3-948B-1728B52AA6E4}">
                <adec:decorative xmlns:adec="http://schemas.microsoft.com/office/drawing/2017/decorative" val="1"/>
              </a:ext>
            </a:extLst>
          </p:cNvPr>
          <p:cNvGrpSpPr>
            <a:grpSpLocks noChangeAspect="1"/>
          </p:cNvGrpSpPr>
          <p:nvPr/>
        </p:nvGrpSpPr>
        <p:grpSpPr>
          <a:xfrm>
            <a:off x="766888" y="1525957"/>
            <a:ext cx="548416" cy="548416"/>
            <a:chOff x="10323474" y="1468393"/>
            <a:chExt cx="751672" cy="751672"/>
          </a:xfrm>
        </p:grpSpPr>
        <p:sp>
          <p:nvSpPr>
            <p:cNvPr id="140" name="Oval 139">
              <a:extLst>
                <a:ext uri="{FF2B5EF4-FFF2-40B4-BE49-F238E27FC236}">
                  <a16:creationId xmlns:a16="http://schemas.microsoft.com/office/drawing/2014/main" id="{DF6FDF73-23C2-442A-B5F2-4953B8466D63}"/>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41" name="Group 140">
              <a:extLst>
                <a:ext uri="{FF2B5EF4-FFF2-40B4-BE49-F238E27FC236}">
                  <a16:creationId xmlns:a16="http://schemas.microsoft.com/office/drawing/2014/main" id="{979746C3-7D01-4E70-A540-6BEFA9C3DC3D}"/>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42" name="Freeform: Shape 141">
                <a:extLst>
                  <a:ext uri="{FF2B5EF4-FFF2-40B4-BE49-F238E27FC236}">
                    <a16:creationId xmlns:a16="http://schemas.microsoft.com/office/drawing/2014/main" id="{A5D0FACF-4969-4DE6-96BC-016AF43FAF7A}"/>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3" name="Freeform: Shape 142">
                <a:extLst>
                  <a:ext uri="{FF2B5EF4-FFF2-40B4-BE49-F238E27FC236}">
                    <a16:creationId xmlns:a16="http://schemas.microsoft.com/office/drawing/2014/main" id="{25E0415C-BDA1-40E6-9C9F-FAF37575F23B}"/>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4" name="Freeform: Shape 143">
                <a:extLst>
                  <a:ext uri="{FF2B5EF4-FFF2-40B4-BE49-F238E27FC236}">
                    <a16:creationId xmlns:a16="http://schemas.microsoft.com/office/drawing/2014/main" id="{D3B37AC4-5C38-4B30-8967-54DF2C9D3F71}"/>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0BE08E15-CC23-43EE-9BEB-F9FF8854EECB}"/>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F798CE95-1665-4411-9455-3DF5CAA65C9B}"/>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343D143E-F27B-4579-8012-58FCB67518EA}"/>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551D0207-CA4B-4B6B-8080-1D84BE60C83F}"/>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A2906F35-8821-4A7E-937B-CEA6E1EF5CAC}"/>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3AF9DB1F-25C2-40CC-A0D6-87948F3DD023}"/>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1" name="Freeform: Shape 150">
                <a:extLst>
                  <a:ext uri="{FF2B5EF4-FFF2-40B4-BE49-F238E27FC236}">
                    <a16:creationId xmlns:a16="http://schemas.microsoft.com/office/drawing/2014/main" id="{16DB78C5-6B6F-4B2A-939F-3BE3DDD78788}"/>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2" name="Freeform: Shape 151">
                <a:extLst>
                  <a:ext uri="{FF2B5EF4-FFF2-40B4-BE49-F238E27FC236}">
                    <a16:creationId xmlns:a16="http://schemas.microsoft.com/office/drawing/2014/main" id="{B35C1AFC-B21A-4D55-B1D6-52901C975F65}"/>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72" name="Straight Connector 171">
            <a:extLst>
              <a:ext uri="{FF2B5EF4-FFF2-40B4-BE49-F238E27FC236}">
                <a16:creationId xmlns:a16="http://schemas.microsoft.com/office/drawing/2014/main" id="{0501E98E-3835-413D-A1C2-34B9C29DD8ED}"/>
              </a:ext>
              <a:ext uri="{C183D7F6-B498-43B3-948B-1728B52AA6E4}">
                <adec:decorative xmlns:adec="http://schemas.microsoft.com/office/drawing/2017/decorative" val="1"/>
              </a:ext>
            </a:extLst>
          </p:cNvPr>
          <p:cNvCxnSpPr>
            <a:cxnSpLocks/>
          </p:cNvCxnSpPr>
          <p:nvPr/>
        </p:nvCxnSpPr>
        <p:spPr>
          <a:xfrm>
            <a:off x="5775721" y="2223283"/>
            <a:ext cx="596504"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00" name="Group 199">
            <a:extLst>
              <a:ext uri="{FF2B5EF4-FFF2-40B4-BE49-F238E27FC236}">
                <a16:creationId xmlns:a16="http://schemas.microsoft.com/office/drawing/2014/main" id="{514A0254-D298-41A0-A31E-BC9F92FF2A62}"/>
              </a:ext>
              <a:ext uri="{C183D7F6-B498-43B3-948B-1728B52AA6E4}">
                <adec:decorative xmlns:adec="http://schemas.microsoft.com/office/drawing/2017/decorative" val="1"/>
              </a:ext>
            </a:extLst>
          </p:cNvPr>
          <p:cNvGrpSpPr/>
          <p:nvPr/>
        </p:nvGrpSpPr>
        <p:grpSpPr>
          <a:xfrm>
            <a:off x="766888" y="2343680"/>
            <a:ext cx="548416" cy="548416"/>
            <a:chOff x="724354" y="2781602"/>
            <a:chExt cx="438218" cy="438964"/>
          </a:xfrm>
        </p:grpSpPr>
        <p:sp>
          <p:nvSpPr>
            <p:cNvPr id="201" name="Oval 200">
              <a:extLst>
                <a:ext uri="{FF2B5EF4-FFF2-40B4-BE49-F238E27FC236}">
                  <a16:creationId xmlns:a16="http://schemas.microsoft.com/office/drawing/2014/main" id="{0C2EBFFF-34F8-4D42-849E-30D2471082B0}"/>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202" name="Trackers_EADF">
              <a:extLst>
                <a:ext uri="{FF2B5EF4-FFF2-40B4-BE49-F238E27FC236}">
                  <a16:creationId xmlns:a16="http://schemas.microsoft.com/office/drawing/2014/main" id="{63341BC2-A2FB-4DC5-961C-53625559FE12}"/>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219" name="Straight Connector 218">
            <a:extLst>
              <a:ext uri="{FF2B5EF4-FFF2-40B4-BE49-F238E27FC236}">
                <a16:creationId xmlns:a16="http://schemas.microsoft.com/office/drawing/2014/main" id="{56E1F2C2-C068-4193-9D78-C4DEF444F278}"/>
              </a:ext>
              <a:ext uri="{C183D7F6-B498-43B3-948B-1728B52AA6E4}">
                <adec:decorative xmlns:adec="http://schemas.microsoft.com/office/drawing/2017/decorative" val="1"/>
              </a:ext>
            </a:extLst>
          </p:cNvPr>
          <p:cNvCxnSpPr>
            <a:cxnSpLocks/>
          </p:cNvCxnSpPr>
          <p:nvPr/>
        </p:nvCxnSpPr>
        <p:spPr>
          <a:xfrm>
            <a:off x="5775721" y="3032908"/>
            <a:ext cx="596504"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CF41A118-0B00-4D60-9DF0-84577A2A4C9E}"/>
              </a:ext>
              <a:ext uri="{C183D7F6-B498-43B3-948B-1728B52AA6E4}">
                <adec:decorative xmlns:adec="http://schemas.microsoft.com/office/drawing/2017/decorative" val="1"/>
              </a:ext>
            </a:extLst>
          </p:cNvPr>
          <p:cNvCxnSpPr>
            <a:cxnSpLocks/>
          </p:cNvCxnSpPr>
          <p:nvPr/>
        </p:nvCxnSpPr>
        <p:spPr>
          <a:xfrm>
            <a:off x="5775721" y="3848781"/>
            <a:ext cx="596504"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580B34DF-B1D3-484B-8A9A-785121AF1620}"/>
              </a:ext>
              <a:ext uri="{C183D7F6-B498-43B3-948B-1728B52AA6E4}">
                <adec:decorative xmlns:adec="http://schemas.microsoft.com/office/drawing/2017/decorative" val="1"/>
              </a:ext>
            </a:extLst>
          </p:cNvPr>
          <p:cNvGrpSpPr/>
          <p:nvPr/>
        </p:nvGrpSpPr>
        <p:grpSpPr>
          <a:xfrm>
            <a:off x="752571" y="4796277"/>
            <a:ext cx="548416" cy="548416"/>
            <a:chOff x="764194" y="4016643"/>
            <a:chExt cx="438218" cy="413916"/>
          </a:xfrm>
        </p:grpSpPr>
        <p:sp>
          <p:nvSpPr>
            <p:cNvPr id="278" name="Oval 277">
              <a:extLst>
                <a:ext uri="{FF2B5EF4-FFF2-40B4-BE49-F238E27FC236}">
                  <a16:creationId xmlns:a16="http://schemas.microsoft.com/office/drawing/2014/main" id="{562B4595-75DD-4F6F-89A4-CC2B8BD186C2}"/>
                </a:ext>
                <a:ext uri="{C183D7F6-B498-43B3-948B-1728B52AA6E4}">
                  <adec:decorative xmlns:adec="http://schemas.microsoft.com/office/drawing/2017/decorative" val="1"/>
                </a:ext>
              </a:extLst>
            </p:cNvPr>
            <p:cNvSpPr>
              <a:spLocks/>
            </p:cNvSpPr>
            <p:nvPr/>
          </p:nvSpPr>
          <p:spPr bwMode="auto">
            <a:xfrm>
              <a:off x="764194" y="4016643"/>
              <a:ext cx="438218" cy="413916"/>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79" name="MiniExpand_E93A">
              <a:extLst>
                <a:ext uri="{FF2B5EF4-FFF2-40B4-BE49-F238E27FC236}">
                  <a16:creationId xmlns:a16="http://schemas.microsoft.com/office/drawing/2014/main" id="{38245B00-7987-4FAB-BF02-209474D7303C}"/>
                </a:ext>
                <a:ext uri="{C183D7F6-B498-43B3-948B-1728B52AA6E4}">
                  <adec:decorative xmlns:adec="http://schemas.microsoft.com/office/drawing/2017/decorative" val="1"/>
                </a:ext>
              </a:extLst>
            </p:cNvPr>
            <p:cNvSpPr>
              <a:spLocks noChangeAspect="1" noEditPoints="1"/>
            </p:cNvSpPr>
            <p:nvPr/>
          </p:nvSpPr>
          <p:spPr bwMode="auto">
            <a:xfrm>
              <a:off x="856944" y="4116641"/>
              <a:ext cx="252720" cy="213920"/>
            </a:xfrm>
            <a:custGeom>
              <a:avLst/>
              <a:gdLst>
                <a:gd name="T0" fmla="*/ 3493 w 4781"/>
                <a:gd name="T1" fmla="*/ 0 h 4047"/>
                <a:gd name="T2" fmla="*/ 4781 w 4781"/>
                <a:gd name="T3" fmla="*/ 0 h 4047"/>
                <a:gd name="T4" fmla="*/ 4781 w 4781"/>
                <a:gd name="T5" fmla="*/ 1288 h 4047"/>
                <a:gd name="T6" fmla="*/ 4781 w 4781"/>
                <a:gd name="T7" fmla="*/ 0 h 4047"/>
                <a:gd name="T8" fmla="*/ 2889 w 4781"/>
                <a:gd name="T9" fmla="*/ 1894 h 4047"/>
                <a:gd name="T10" fmla="*/ 3126 w 4781"/>
                <a:gd name="T11" fmla="*/ 0 h 4047"/>
                <a:gd name="T12" fmla="*/ 0 w 4781"/>
                <a:gd name="T13" fmla="*/ 0 h 4047"/>
                <a:gd name="T14" fmla="*/ 0 w 4781"/>
                <a:gd name="T15" fmla="*/ 4047 h 4047"/>
                <a:gd name="T16" fmla="*/ 4781 w 4781"/>
                <a:gd name="T17" fmla="*/ 4047 h 4047"/>
                <a:gd name="T18" fmla="*/ 4781 w 4781"/>
                <a:gd name="T19" fmla="*/ 1656 h 4047"/>
                <a:gd name="T20" fmla="*/ 2207 w 4781"/>
                <a:gd name="T21" fmla="*/ 4047 h 4047"/>
                <a:gd name="T22" fmla="*/ 2207 w 4781"/>
                <a:gd name="T23" fmla="*/ 2575 h 4047"/>
                <a:gd name="T24" fmla="*/ 0 w 4781"/>
                <a:gd name="T25" fmla="*/ 2575 h 4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81" h="4047">
                  <a:moveTo>
                    <a:pt x="3493" y="0"/>
                  </a:moveTo>
                  <a:lnTo>
                    <a:pt x="4781" y="0"/>
                  </a:lnTo>
                  <a:lnTo>
                    <a:pt x="4781" y="1288"/>
                  </a:lnTo>
                  <a:moveTo>
                    <a:pt x="4781" y="0"/>
                  </a:moveTo>
                  <a:lnTo>
                    <a:pt x="2889" y="1894"/>
                  </a:lnTo>
                  <a:moveTo>
                    <a:pt x="3126" y="0"/>
                  </a:moveTo>
                  <a:lnTo>
                    <a:pt x="0" y="0"/>
                  </a:lnTo>
                  <a:lnTo>
                    <a:pt x="0" y="4047"/>
                  </a:lnTo>
                  <a:lnTo>
                    <a:pt x="4781" y="4047"/>
                  </a:lnTo>
                  <a:lnTo>
                    <a:pt x="4781" y="1656"/>
                  </a:lnTo>
                  <a:moveTo>
                    <a:pt x="2207" y="4047"/>
                  </a:moveTo>
                  <a:lnTo>
                    <a:pt x="2207" y="2575"/>
                  </a:lnTo>
                  <a:lnTo>
                    <a:pt x="0" y="2575"/>
                  </a:lnTo>
                </a:path>
              </a:pathLst>
            </a:custGeom>
            <a:noFill/>
            <a:ln w="12700" cap="sq">
              <a:solidFill>
                <a:schemeClr val="tx2"/>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solidFill>
                  <a:schemeClr val="tx2"/>
                </a:solidFill>
                <a:latin typeface="Segoe UI"/>
              </a:endParaRPr>
            </a:p>
          </p:txBody>
        </p:sp>
      </p:grpSp>
      <p:cxnSp>
        <p:nvCxnSpPr>
          <p:cNvPr id="291" name="Straight Connector 290">
            <a:extLst>
              <a:ext uri="{FF2B5EF4-FFF2-40B4-BE49-F238E27FC236}">
                <a16:creationId xmlns:a16="http://schemas.microsoft.com/office/drawing/2014/main" id="{483CC1E7-9AEB-418A-9BCF-35A0C35CE0CA}"/>
              </a:ext>
              <a:ext uri="{C183D7F6-B498-43B3-948B-1728B52AA6E4}">
                <adec:decorative xmlns:adec="http://schemas.microsoft.com/office/drawing/2017/decorative" val="1"/>
              </a:ext>
            </a:extLst>
          </p:cNvPr>
          <p:cNvCxnSpPr>
            <a:cxnSpLocks/>
          </p:cNvCxnSpPr>
          <p:nvPr/>
        </p:nvCxnSpPr>
        <p:spPr>
          <a:xfrm>
            <a:off x="5775721" y="4657098"/>
            <a:ext cx="596504"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25" name="Footer Placeholder 4">
            <a:extLst>
              <a:ext uri="{FF2B5EF4-FFF2-40B4-BE49-F238E27FC236}">
                <a16:creationId xmlns:a16="http://schemas.microsoft.com/office/drawing/2014/main" id="{5D0CE056-1A68-4917-AFFD-B7B0637FA29A}"/>
              </a:ext>
            </a:extLst>
          </p:cNvPr>
          <p:cNvSpPr>
            <a:spLocks noGrp="1"/>
          </p:cNvSpPr>
          <p:nvPr>
            <p:ph type="ftr" sz="quarter" idx="3"/>
          </p:nvPr>
        </p:nvSpPr>
        <p:spPr>
          <a:xfrm>
            <a:off x="4038600" y="6539518"/>
            <a:ext cx="4114800" cy="123111"/>
          </a:xfrm>
        </p:spPr>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330" name="Picture 329" descr="Two young employees sitting in a coffee table working on a laptop">
            <a:extLst>
              <a:ext uri="{FF2B5EF4-FFF2-40B4-BE49-F238E27FC236}">
                <a16:creationId xmlns:a16="http://schemas.microsoft.com/office/drawing/2014/main" id="{4307993E-E228-4055-9F05-8F7FEB959E5B}"/>
              </a:ext>
            </a:extLst>
          </p:cNvPr>
          <p:cNvPicPr>
            <a:picLocks noChangeAspect="1"/>
          </p:cNvPicPr>
          <p:nvPr/>
        </p:nvPicPr>
        <p:blipFill rotWithShape="1">
          <a:blip r:embed="rId3">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332" name="Slide Number Placeholder 5">
            <a:extLst>
              <a:ext uri="{FF2B5EF4-FFF2-40B4-BE49-F238E27FC236}">
                <a16:creationId xmlns:a16="http://schemas.microsoft.com/office/drawing/2014/main" id="{B2EAE31D-7DE8-48EE-A196-0A208491BD96}"/>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grpSp>
        <p:nvGrpSpPr>
          <p:cNvPr id="42" name="Group 41" descr="Icon of a group of three people">
            <a:extLst>
              <a:ext uri="{FF2B5EF4-FFF2-40B4-BE49-F238E27FC236}">
                <a16:creationId xmlns:a16="http://schemas.microsoft.com/office/drawing/2014/main" id="{15C8AE77-01C2-45B5-A3B7-E8F33E19BFC0}"/>
              </a:ext>
            </a:extLst>
          </p:cNvPr>
          <p:cNvGrpSpPr/>
          <p:nvPr/>
        </p:nvGrpSpPr>
        <p:grpSpPr>
          <a:xfrm>
            <a:off x="742262" y="3986555"/>
            <a:ext cx="526850" cy="548416"/>
            <a:chOff x="4850654" y="3383869"/>
            <a:chExt cx="751672" cy="751672"/>
          </a:xfrm>
        </p:grpSpPr>
        <p:sp>
          <p:nvSpPr>
            <p:cNvPr id="43" name="Oval 42">
              <a:extLst>
                <a:ext uri="{FF2B5EF4-FFF2-40B4-BE49-F238E27FC236}">
                  <a16:creationId xmlns:a16="http://schemas.microsoft.com/office/drawing/2014/main" id="{75834ADC-7BC0-4A38-88C9-48EFB8A93652}"/>
                </a:ext>
                <a:ext uri="{C183D7F6-B498-43B3-948B-1728B52AA6E4}">
                  <adec:decorative xmlns:adec="http://schemas.microsoft.com/office/drawing/2017/decorative" val="1"/>
                </a:ext>
              </a:extLst>
            </p:cNvPr>
            <p:cNvSpPr/>
            <p:nvPr/>
          </p:nvSpPr>
          <p:spPr bwMode="auto">
            <a:xfrm>
              <a:off x="4850654"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err="1">
                <a:ln>
                  <a:noFill/>
                </a:ln>
                <a:solidFill>
                  <a:schemeClr val="tx2"/>
                </a:solidFill>
                <a:effectLst/>
                <a:uLnTx/>
                <a:uFillTx/>
                <a:latin typeface="Segoe UI"/>
                <a:ea typeface="Segoe UI" pitchFamily="34" charset="0"/>
                <a:cs typeface="Segoe UI" pitchFamily="34" charset="0"/>
              </a:endParaRPr>
            </a:p>
          </p:txBody>
        </p:sp>
        <p:sp>
          <p:nvSpPr>
            <p:cNvPr id="44" name="Freeform: Shape 43">
              <a:extLst>
                <a:ext uri="{FF2B5EF4-FFF2-40B4-BE49-F238E27FC236}">
                  <a16:creationId xmlns:a16="http://schemas.microsoft.com/office/drawing/2014/main" id="{FE16612D-2918-4779-BA90-96C151FF07A0}"/>
                </a:ext>
                <a:ext uri="{C183D7F6-B498-43B3-948B-1728B52AA6E4}">
                  <adec:decorative xmlns:adec="http://schemas.microsoft.com/office/drawing/2017/decorative" val="1"/>
                </a:ext>
              </a:extLst>
            </p:cNvPr>
            <p:cNvSpPr/>
            <p:nvPr/>
          </p:nvSpPr>
          <p:spPr>
            <a:xfrm>
              <a:off x="5043367" y="3600998"/>
              <a:ext cx="366246" cy="317412"/>
            </a:xfrm>
            <a:custGeom>
              <a:avLst/>
              <a:gdLst>
                <a:gd name="connsiteX0" fmla="*/ 93073 w 285750"/>
                <a:gd name="connsiteY0" fmla="*/ 118791 h 247650"/>
                <a:gd name="connsiteX1" fmla="*/ 142603 w 285750"/>
                <a:gd name="connsiteY1" fmla="*/ 68308 h 247650"/>
                <a:gd name="connsiteX2" fmla="*/ 192133 w 285750"/>
                <a:gd name="connsiteY2" fmla="*/ 118791 h 247650"/>
                <a:gd name="connsiteX3" fmla="*/ 142603 w 285750"/>
                <a:gd name="connsiteY3" fmla="*/ 169273 h 247650"/>
                <a:gd name="connsiteX4" fmla="*/ 93073 w 285750"/>
                <a:gd name="connsiteY4" fmla="*/ 118791 h 247650"/>
                <a:gd name="connsiteX5" fmla="*/ 93073 w 285750"/>
                <a:gd name="connsiteY5" fmla="*/ 118791 h 247650"/>
                <a:gd name="connsiteX6" fmla="*/ 212136 w 285750"/>
                <a:gd name="connsiteY6" fmla="*/ 241663 h 247650"/>
                <a:gd name="connsiteX7" fmla="*/ 142603 w 285750"/>
                <a:gd name="connsiteY7" fmla="*/ 171178 h 247650"/>
                <a:gd name="connsiteX8" fmla="*/ 73071 w 285750"/>
                <a:gd name="connsiteY8" fmla="*/ 241663 h 247650"/>
                <a:gd name="connsiteX9" fmla="*/ 51163 w 285750"/>
                <a:gd name="connsiteY9" fmla="*/ 70213 h 247650"/>
                <a:gd name="connsiteX10" fmla="*/ 82596 w 285750"/>
                <a:gd name="connsiteY10" fmla="*/ 38781 h 247650"/>
                <a:gd name="connsiteX11" fmla="*/ 51163 w 285750"/>
                <a:gd name="connsiteY11" fmla="*/ 7348 h 247650"/>
                <a:gd name="connsiteX12" fmla="*/ 19731 w 285750"/>
                <a:gd name="connsiteY12" fmla="*/ 38781 h 247650"/>
                <a:gd name="connsiteX13" fmla="*/ 51163 w 285750"/>
                <a:gd name="connsiteY13" fmla="*/ 70213 h 247650"/>
                <a:gd name="connsiteX14" fmla="*/ 51163 w 285750"/>
                <a:gd name="connsiteY14" fmla="*/ 70213 h 247650"/>
                <a:gd name="connsiteX15" fmla="*/ 94026 w 285750"/>
                <a:gd name="connsiteY15" fmla="*/ 114028 h 247650"/>
                <a:gd name="connsiteX16" fmla="*/ 51163 w 285750"/>
                <a:gd name="connsiteY16" fmla="*/ 70213 h 247650"/>
                <a:gd name="connsiteX17" fmla="*/ 7348 w 285750"/>
                <a:gd name="connsiteY17" fmla="*/ 114028 h 247650"/>
                <a:gd name="connsiteX18" fmla="*/ 234996 w 285750"/>
                <a:gd name="connsiteY18" fmla="*/ 70213 h 247650"/>
                <a:gd name="connsiteX19" fmla="*/ 266428 w 285750"/>
                <a:gd name="connsiteY19" fmla="*/ 38781 h 247650"/>
                <a:gd name="connsiteX20" fmla="*/ 234996 w 285750"/>
                <a:gd name="connsiteY20" fmla="*/ 7348 h 247650"/>
                <a:gd name="connsiteX21" fmla="*/ 203563 w 285750"/>
                <a:gd name="connsiteY21" fmla="*/ 38781 h 247650"/>
                <a:gd name="connsiteX22" fmla="*/ 234996 w 285750"/>
                <a:gd name="connsiteY22" fmla="*/ 70213 h 247650"/>
                <a:gd name="connsiteX23" fmla="*/ 234996 w 285750"/>
                <a:gd name="connsiteY23" fmla="*/ 70213 h 247650"/>
                <a:gd name="connsiteX24" fmla="*/ 278811 w 285750"/>
                <a:gd name="connsiteY24" fmla="*/ 114028 h 247650"/>
                <a:gd name="connsiteX25" fmla="*/ 234996 w 285750"/>
                <a:gd name="connsiteY25" fmla="*/ 70213 h 247650"/>
                <a:gd name="connsiteX26" fmla="*/ 191181 w 285750"/>
                <a:gd name="connsiteY26" fmla="*/ 114028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 h="247650">
                  <a:moveTo>
                    <a:pt x="93073" y="118791"/>
                  </a:moveTo>
                  <a:cubicBezTo>
                    <a:pt x="93073" y="91168"/>
                    <a:pt x="115933" y="68308"/>
                    <a:pt x="142603" y="68308"/>
                  </a:cubicBezTo>
                  <a:cubicBezTo>
                    <a:pt x="170226" y="68308"/>
                    <a:pt x="192133" y="91168"/>
                    <a:pt x="192133" y="118791"/>
                  </a:cubicBezTo>
                  <a:cubicBezTo>
                    <a:pt x="192133" y="146413"/>
                    <a:pt x="170226" y="169273"/>
                    <a:pt x="142603" y="169273"/>
                  </a:cubicBezTo>
                  <a:cubicBezTo>
                    <a:pt x="114981" y="170226"/>
                    <a:pt x="93073" y="147366"/>
                    <a:pt x="93073" y="118791"/>
                  </a:cubicBezTo>
                  <a:lnTo>
                    <a:pt x="93073" y="118791"/>
                  </a:lnTo>
                  <a:close/>
                  <a:moveTo>
                    <a:pt x="212136" y="241663"/>
                  </a:moveTo>
                  <a:cubicBezTo>
                    <a:pt x="212136" y="202611"/>
                    <a:pt x="180703" y="171178"/>
                    <a:pt x="142603" y="171178"/>
                  </a:cubicBezTo>
                  <a:cubicBezTo>
                    <a:pt x="104503" y="171178"/>
                    <a:pt x="73071" y="202611"/>
                    <a:pt x="73071" y="241663"/>
                  </a:cubicBezTo>
                  <a:moveTo>
                    <a:pt x="51163" y="70213"/>
                  </a:moveTo>
                  <a:cubicBezTo>
                    <a:pt x="68308" y="70213"/>
                    <a:pt x="82596" y="55926"/>
                    <a:pt x="82596" y="38781"/>
                  </a:cubicBezTo>
                  <a:cubicBezTo>
                    <a:pt x="82596" y="21636"/>
                    <a:pt x="68308" y="7348"/>
                    <a:pt x="51163" y="7348"/>
                  </a:cubicBezTo>
                  <a:cubicBezTo>
                    <a:pt x="34018" y="7348"/>
                    <a:pt x="19731" y="21636"/>
                    <a:pt x="19731" y="38781"/>
                  </a:cubicBezTo>
                  <a:cubicBezTo>
                    <a:pt x="19731" y="55926"/>
                    <a:pt x="34018" y="70213"/>
                    <a:pt x="51163" y="70213"/>
                  </a:cubicBezTo>
                  <a:lnTo>
                    <a:pt x="51163" y="70213"/>
                  </a:lnTo>
                  <a:close/>
                  <a:moveTo>
                    <a:pt x="94026" y="114028"/>
                  </a:moveTo>
                  <a:cubicBezTo>
                    <a:pt x="94026" y="90216"/>
                    <a:pt x="74976" y="70213"/>
                    <a:pt x="51163" y="70213"/>
                  </a:cubicBezTo>
                  <a:cubicBezTo>
                    <a:pt x="27351" y="70213"/>
                    <a:pt x="7348" y="90216"/>
                    <a:pt x="7348" y="114028"/>
                  </a:cubicBezTo>
                  <a:moveTo>
                    <a:pt x="234996" y="70213"/>
                  </a:moveTo>
                  <a:cubicBezTo>
                    <a:pt x="252141" y="70213"/>
                    <a:pt x="266428" y="55926"/>
                    <a:pt x="266428" y="38781"/>
                  </a:cubicBezTo>
                  <a:cubicBezTo>
                    <a:pt x="266428" y="21636"/>
                    <a:pt x="252141" y="7348"/>
                    <a:pt x="234996" y="7348"/>
                  </a:cubicBezTo>
                  <a:cubicBezTo>
                    <a:pt x="217851" y="7348"/>
                    <a:pt x="203563" y="21636"/>
                    <a:pt x="203563" y="38781"/>
                  </a:cubicBezTo>
                  <a:cubicBezTo>
                    <a:pt x="203563" y="55926"/>
                    <a:pt x="217851" y="70213"/>
                    <a:pt x="234996" y="70213"/>
                  </a:cubicBezTo>
                  <a:lnTo>
                    <a:pt x="234996" y="70213"/>
                  </a:lnTo>
                  <a:close/>
                  <a:moveTo>
                    <a:pt x="278811" y="114028"/>
                  </a:moveTo>
                  <a:cubicBezTo>
                    <a:pt x="278811" y="90216"/>
                    <a:pt x="259761" y="70213"/>
                    <a:pt x="234996" y="70213"/>
                  </a:cubicBezTo>
                  <a:cubicBezTo>
                    <a:pt x="210231" y="70213"/>
                    <a:pt x="191181" y="90216"/>
                    <a:pt x="191181" y="114028"/>
                  </a:cubicBezTo>
                </a:path>
              </a:pathLst>
            </a:custGeom>
            <a:noFill/>
            <a:ln w="12700" cap="sq">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Segoe UI"/>
                <a:ea typeface="+mn-ea"/>
                <a:cs typeface="+mn-cs"/>
              </a:endParaRPr>
            </a:p>
          </p:txBody>
        </p:sp>
      </p:grpSp>
      <p:grpSp>
        <p:nvGrpSpPr>
          <p:cNvPr id="45" name="Group 44" descr="Icon of a checklist">
            <a:extLst>
              <a:ext uri="{FF2B5EF4-FFF2-40B4-BE49-F238E27FC236}">
                <a16:creationId xmlns:a16="http://schemas.microsoft.com/office/drawing/2014/main" id="{584A79C5-AD15-4E24-989D-D2F5C096BBF8}"/>
              </a:ext>
            </a:extLst>
          </p:cNvPr>
          <p:cNvGrpSpPr/>
          <p:nvPr/>
        </p:nvGrpSpPr>
        <p:grpSpPr>
          <a:xfrm>
            <a:off x="736585" y="3171915"/>
            <a:ext cx="543312" cy="548416"/>
            <a:chOff x="7039782" y="1468393"/>
            <a:chExt cx="751672" cy="751672"/>
          </a:xfrm>
        </p:grpSpPr>
        <p:sp>
          <p:nvSpPr>
            <p:cNvPr id="46" name="Oval 45">
              <a:extLst>
                <a:ext uri="{FF2B5EF4-FFF2-40B4-BE49-F238E27FC236}">
                  <a16:creationId xmlns:a16="http://schemas.microsoft.com/office/drawing/2014/main" id="{15CD9062-3DF8-4631-A127-03A48D8595F5}"/>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7" name="list_4">
              <a:extLst>
                <a:ext uri="{FF2B5EF4-FFF2-40B4-BE49-F238E27FC236}">
                  <a16:creationId xmlns:a16="http://schemas.microsoft.com/office/drawing/2014/main" id="{F2EB9B14-8B1F-46F1-A696-85C5FA5B8BC6}"/>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16312322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419C8-5577-4C89-AF6B-668048344556}"/>
              </a:ext>
            </a:extLst>
          </p:cNvPr>
          <p:cNvSpPr>
            <a:spLocks noGrp="1"/>
          </p:cNvSpPr>
          <p:nvPr>
            <p:ph type="title"/>
          </p:nvPr>
        </p:nvSpPr>
        <p:spPr/>
        <p:txBody>
          <a:bodyPr>
            <a:spAutoFit/>
          </a:bodyPr>
          <a:lstStyle/>
          <a:p>
            <a:r>
              <a:rPr lang="en-US"/>
              <a:t>Introductions</a:t>
            </a:r>
          </a:p>
        </p:txBody>
      </p:sp>
      <p:sp>
        <p:nvSpPr>
          <p:cNvPr id="7" name="Rectangle 6">
            <a:extLst>
              <a:ext uri="{FF2B5EF4-FFF2-40B4-BE49-F238E27FC236}">
                <a16:creationId xmlns:a16="http://schemas.microsoft.com/office/drawing/2014/main" id="{58F647BA-7926-4E1F-AF55-FD3DE7A655A1}"/>
              </a:ext>
            </a:extLst>
          </p:cNvPr>
          <p:cNvSpPr>
            <a:spLocks/>
          </p:cNvSpPr>
          <p:nvPr/>
        </p:nvSpPr>
        <p:spPr bwMode="auto">
          <a:xfrm>
            <a:off x="0" y="1978675"/>
            <a:ext cx="6019801" cy="891525"/>
          </a:xfrm>
          <a:prstGeom prst="rect">
            <a:avLst/>
          </a:prstGeom>
          <a:no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66928" tIns="146304" rIns="182880" bIns="146304" numCol="1" spcCol="0" rtlCol="0" fromWordArt="0" anchor="t" anchorCtr="0" forceAA="0" compatLnSpc="1">
            <a:prstTxWarp prst="textNoShape">
              <a:avLst/>
            </a:prstTxWarp>
            <a:noAutofit/>
          </a:bodyPr>
          <a:lstStyle/>
          <a:p>
            <a:pPr defTabSz="914192">
              <a:spcBef>
                <a:spcPts val="400"/>
              </a:spcBef>
              <a:spcAft>
                <a:spcPts val="400"/>
              </a:spcAft>
            </a:pPr>
            <a:r>
              <a:rPr lang="en-US">
                <a:solidFill>
                  <a:srgbClr val="243A5E"/>
                </a:solidFill>
                <a:latin typeface="+mj-lt"/>
                <a:cs typeface="Segoe UI Semibold"/>
              </a:rPr>
              <a:t>Please introduce yourself and provide some background:</a:t>
            </a:r>
          </a:p>
        </p:txBody>
      </p:sp>
      <p:grpSp>
        <p:nvGrpSpPr>
          <p:cNvPr id="171" name="Group 170" descr="Icon of a person with a box around them">
            <a:extLst>
              <a:ext uri="{FF2B5EF4-FFF2-40B4-BE49-F238E27FC236}">
                <a16:creationId xmlns:a16="http://schemas.microsoft.com/office/drawing/2014/main" id="{F8D3D65F-77D2-4D9D-92EA-64A064DAEEC8}"/>
              </a:ext>
            </a:extLst>
          </p:cNvPr>
          <p:cNvGrpSpPr/>
          <p:nvPr/>
        </p:nvGrpSpPr>
        <p:grpSpPr>
          <a:xfrm>
            <a:off x="571500" y="2928627"/>
            <a:ext cx="499847" cy="499847"/>
            <a:chOff x="571500" y="2534927"/>
            <a:chExt cx="499847" cy="499847"/>
          </a:xfrm>
        </p:grpSpPr>
        <p:sp>
          <p:nvSpPr>
            <p:cNvPr id="172" name="Oval 171">
              <a:extLst>
                <a:ext uri="{FF2B5EF4-FFF2-40B4-BE49-F238E27FC236}">
                  <a16:creationId xmlns:a16="http://schemas.microsoft.com/office/drawing/2014/main" id="{67D992AD-C7D6-4318-AAB0-FFC608960768}"/>
                </a:ext>
                <a:ext uri="{C183D7F6-B498-43B3-948B-1728B52AA6E4}">
                  <adec:decorative xmlns:adec="http://schemas.microsoft.com/office/drawing/2017/decorative" val="1"/>
                </a:ext>
              </a:extLst>
            </p:cNvPr>
            <p:cNvSpPr/>
            <p:nvPr/>
          </p:nvSpPr>
          <p:spPr bwMode="auto">
            <a:xfrm>
              <a:off x="571500" y="2534927"/>
              <a:ext cx="499847" cy="499847"/>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73" name="people_5">
              <a:extLst>
                <a:ext uri="{FF2B5EF4-FFF2-40B4-BE49-F238E27FC236}">
                  <a16:creationId xmlns:a16="http://schemas.microsoft.com/office/drawing/2014/main" id="{ED7B28CB-7EA0-4F06-893C-50A48368087F}"/>
                </a:ext>
                <a:ext uri="{C183D7F6-B498-43B3-948B-1728B52AA6E4}">
                  <adec:decorative xmlns:adec="http://schemas.microsoft.com/office/drawing/2017/decorative" val="1"/>
                </a:ext>
              </a:extLst>
            </p:cNvPr>
            <p:cNvSpPr>
              <a:spLocks noChangeAspect="1" noEditPoints="1"/>
            </p:cNvSpPr>
            <p:nvPr/>
          </p:nvSpPr>
          <p:spPr bwMode="auto">
            <a:xfrm>
              <a:off x="703417" y="2667313"/>
              <a:ext cx="236013" cy="235075"/>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186" name="TextBox 185">
            <a:extLst>
              <a:ext uri="{FF2B5EF4-FFF2-40B4-BE49-F238E27FC236}">
                <a16:creationId xmlns:a16="http://schemas.microsoft.com/office/drawing/2014/main" id="{3985B2E8-939B-4D21-8F99-E899DFB5CF2A}"/>
              </a:ext>
            </a:extLst>
          </p:cNvPr>
          <p:cNvSpPr txBox="1"/>
          <p:nvPr/>
        </p:nvSpPr>
        <p:spPr>
          <a:xfrm>
            <a:off x="1257300" y="3055440"/>
            <a:ext cx="4048125" cy="246221"/>
          </a:xfrm>
          <a:prstGeom prst="rect">
            <a:avLst/>
          </a:prstGeom>
          <a:noFill/>
        </p:spPr>
        <p:txBody>
          <a:bodyPr wrap="square" lIns="0" tIns="0" rIns="0" bIns="0">
            <a:noAutofit/>
          </a:bodyPr>
          <a:lstStyle/>
          <a:p>
            <a:r>
              <a:rPr lang="en-US">
                <a:latin typeface="+mj-lt"/>
                <a:cs typeface="Segoe UI"/>
              </a:rPr>
              <a:t>Your name</a:t>
            </a:r>
          </a:p>
        </p:txBody>
      </p:sp>
      <p:grpSp>
        <p:nvGrpSpPr>
          <p:cNvPr id="198" name="Group 197" descr="Icon of a gear with a wrench">
            <a:extLst>
              <a:ext uri="{FF2B5EF4-FFF2-40B4-BE49-F238E27FC236}">
                <a16:creationId xmlns:a16="http://schemas.microsoft.com/office/drawing/2014/main" id="{4D849F48-49ED-43FD-8652-3120871890D6}"/>
              </a:ext>
            </a:extLst>
          </p:cNvPr>
          <p:cNvGrpSpPr/>
          <p:nvPr/>
        </p:nvGrpSpPr>
        <p:grpSpPr>
          <a:xfrm>
            <a:off x="571500" y="3691099"/>
            <a:ext cx="499847" cy="499847"/>
            <a:chOff x="9228910" y="4341607"/>
            <a:chExt cx="751672" cy="751672"/>
          </a:xfrm>
        </p:grpSpPr>
        <p:sp>
          <p:nvSpPr>
            <p:cNvPr id="199" name="Oval 198">
              <a:extLst>
                <a:ext uri="{FF2B5EF4-FFF2-40B4-BE49-F238E27FC236}">
                  <a16:creationId xmlns:a16="http://schemas.microsoft.com/office/drawing/2014/main" id="{E041A145-C01D-4BE2-82AB-7E49D210011A}"/>
                </a:ext>
                <a:ext uri="{C183D7F6-B498-43B3-948B-1728B52AA6E4}">
                  <adec:decorative xmlns:adec="http://schemas.microsoft.com/office/drawing/2017/decorative" val="1"/>
                </a:ext>
              </a:extLst>
            </p:cNvPr>
            <p:cNvSpPr>
              <a:spLocks/>
            </p:cNvSpPr>
            <p:nvPr/>
          </p:nvSpPr>
          <p:spPr bwMode="auto">
            <a:xfrm>
              <a:off x="9228910" y="4341607"/>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200" name="Freeform 96">
              <a:extLst>
                <a:ext uri="{FF2B5EF4-FFF2-40B4-BE49-F238E27FC236}">
                  <a16:creationId xmlns:a16="http://schemas.microsoft.com/office/drawing/2014/main" id="{18533B56-161D-4E7B-BE57-09EBAF6D98E1}"/>
                </a:ext>
                <a:ext uri="{C183D7F6-B498-43B3-948B-1728B52AA6E4}">
                  <adec:decorative xmlns:adec="http://schemas.microsoft.com/office/drawing/2017/decorative" val="1"/>
                </a:ext>
              </a:extLst>
            </p:cNvPr>
            <p:cNvSpPr>
              <a:spLocks noChangeAspect="1" noEditPoints="1"/>
            </p:cNvSpPr>
            <p:nvPr/>
          </p:nvSpPr>
          <p:spPr bwMode="auto">
            <a:xfrm>
              <a:off x="9394197" y="4523577"/>
              <a:ext cx="421098" cy="387732"/>
            </a:xfrm>
            <a:custGeom>
              <a:avLst/>
              <a:gdLst>
                <a:gd name="T0" fmla="*/ 224 w 356"/>
                <a:gd name="T1" fmla="*/ 273 h 328"/>
                <a:gd name="T2" fmla="*/ 181 w 356"/>
                <a:gd name="T3" fmla="*/ 295 h 328"/>
                <a:gd name="T4" fmla="*/ 181 w 356"/>
                <a:gd name="T5" fmla="*/ 328 h 328"/>
                <a:gd name="T6" fmla="*/ 121 w 356"/>
                <a:gd name="T7" fmla="*/ 328 h 328"/>
                <a:gd name="T8" fmla="*/ 121 w 356"/>
                <a:gd name="T9" fmla="*/ 291 h 328"/>
                <a:gd name="T10" fmla="*/ 57 w 356"/>
                <a:gd name="T11" fmla="*/ 254 h 328"/>
                <a:gd name="T12" fmla="*/ 28 w 356"/>
                <a:gd name="T13" fmla="*/ 269 h 328"/>
                <a:gd name="T14" fmla="*/ 0 w 356"/>
                <a:gd name="T15" fmla="*/ 214 h 328"/>
                <a:gd name="T16" fmla="*/ 28 w 356"/>
                <a:gd name="T17" fmla="*/ 199 h 328"/>
                <a:gd name="T18" fmla="*/ 21 w 356"/>
                <a:gd name="T19" fmla="*/ 162 h 328"/>
                <a:gd name="T20" fmla="*/ 28 w 356"/>
                <a:gd name="T21" fmla="*/ 125 h 328"/>
                <a:gd name="T22" fmla="*/ 0 w 356"/>
                <a:gd name="T23" fmla="*/ 111 h 328"/>
                <a:gd name="T24" fmla="*/ 28 w 356"/>
                <a:gd name="T25" fmla="*/ 55 h 328"/>
                <a:gd name="T26" fmla="*/ 57 w 356"/>
                <a:gd name="T27" fmla="*/ 70 h 328"/>
                <a:gd name="T28" fmla="*/ 121 w 356"/>
                <a:gd name="T29" fmla="*/ 33 h 328"/>
                <a:gd name="T30" fmla="*/ 121 w 356"/>
                <a:gd name="T31" fmla="*/ 0 h 328"/>
                <a:gd name="T32" fmla="*/ 181 w 356"/>
                <a:gd name="T33" fmla="*/ 0 h 328"/>
                <a:gd name="T34" fmla="*/ 181 w 356"/>
                <a:gd name="T35" fmla="*/ 30 h 328"/>
                <a:gd name="T36" fmla="*/ 249 w 356"/>
                <a:gd name="T37" fmla="*/ 70 h 328"/>
                <a:gd name="T38" fmla="*/ 274 w 356"/>
                <a:gd name="T39" fmla="*/ 55 h 328"/>
                <a:gd name="T40" fmla="*/ 306 w 356"/>
                <a:gd name="T41" fmla="*/ 111 h 328"/>
                <a:gd name="T42" fmla="*/ 277 w 356"/>
                <a:gd name="T43" fmla="*/ 125 h 328"/>
                <a:gd name="T44" fmla="*/ 282 w 356"/>
                <a:gd name="T45" fmla="*/ 162 h 328"/>
                <a:gd name="T46" fmla="*/ 279 w 356"/>
                <a:gd name="T47" fmla="*/ 188 h 328"/>
                <a:gd name="T48" fmla="*/ 186 w 356"/>
                <a:gd name="T49" fmla="*/ 100 h 328"/>
                <a:gd name="T50" fmla="*/ 150 w 356"/>
                <a:gd name="T51" fmla="*/ 89 h 328"/>
                <a:gd name="T52" fmla="*/ 75 w 356"/>
                <a:gd name="T53" fmla="*/ 166 h 328"/>
                <a:gd name="T54" fmla="*/ 107 w 356"/>
                <a:gd name="T55" fmla="*/ 231 h 328"/>
                <a:gd name="T56" fmla="*/ 209 w 356"/>
                <a:gd name="T57" fmla="*/ 238 h 328"/>
                <a:gd name="T58" fmla="*/ 310 w 356"/>
                <a:gd name="T59" fmla="*/ 302 h 328"/>
                <a:gd name="T60" fmla="*/ 348 w 356"/>
                <a:gd name="T61" fmla="*/ 294 h 328"/>
                <a:gd name="T62" fmla="*/ 340 w 356"/>
                <a:gd name="T63" fmla="*/ 256 h 328"/>
                <a:gd name="T64" fmla="*/ 237 w 356"/>
                <a:gd name="T65" fmla="*/ 195 h 328"/>
                <a:gd name="T66" fmla="*/ 235 w 356"/>
                <a:gd name="T67" fmla="*/ 194 h 328"/>
                <a:gd name="T68" fmla="*/ 234 w 356"/>
                <a:gd name="T69" fmla="*/ 179 h 328"/>
                <a:gd name="T70" fmla="*/ 172 w 356"/>
                <a:gd name="T71" fmla="*/ 139 h 328"/>
                <a:gd name="T72" fmla="*/ 145 w 356"/>
                <a:gd name="T73" fmla="*/ 153 h 328"/>
                <a:gd name="T74" fmla="*/ 194 w 356"/>
                <a:gd name="T75" fmla="*/ 183 h 328"/>
                <a:gd name="T76" fmla="*/ 182 w 356"/>
                <a:gd name="T77" fmla="*/ 199 h 328"/>
                <a:gd name="T78" fmla="*/ 135 w 356"/>
                <a:gd name="T79" fmla="*/ 169 h 328"/>
                <a:gd name="T80" fmla="*/ 132 w 356"/>
                <a:gd name="T81" fmla="*/ 201 h 328"/>
                <a:gd name="T82" fmla="*/ 194 w 356"/>
                <a:gd name="T83" fmla="*/ 241 h 328"/>
                <a:gd name="T84" fmla="*/ 207 w 356"/>
                <a:gd name="T85" fmla="*/ 237 h 328"/>
                <a:gd name="T86" fmla="*/ 209 w 356"/>
                <a:gd name="T87" fmla="*/ 23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6" h="328">
                  <a:moveTo>
                    <a:pt x="224" y="273"/>
                  </a:moveTo>
                  <a:cubicBezTo>
                    <a:pt x="213" y="284"/>
                    <a:pt x="195" y="291"/>
                    <a:pt x="181" y="295"/>
                  </a:cubicBezTo>
                  <a:cubicBezTo>
                    <a:pt x="181" y="295"/>
                    <a:pt x="181" y="295"/>
                    <a:pt x="181" y="328"/>
                  </a:cubicBezTo>
                  <a:cubicBezTo>
                    <a:pt x="181" y="328"/>
                    <a:pt x="181" y="328"/>
                    <a:pt x="121" y="328"/>
                  </a:cubicBezTo>
                  <a:cubicBezTo>
                    <a:pt x="121" y="328"/>
                    <a:pt x="121" y="328"/>
                    <a:pt x="121" y="291"/>
                  </a:cubicBezTo>
                  <a:cubicBezTo>
                    <a:pt x="96" y="287"/>
                    <a:pt x="75" y="273"/>
                    <a:pt x="57" y="254"/>
                  </a:cubicBezTo>
                  <a:cubicBezTo>
                    <a:pt x="57" y="254"/>
                    <a:pt x="57" y="254"/>
                    <a:pt x="28" y="269"/>
                  </a:cubicBezTo>
                  <a:cubicBezTo>
                    <a:pt x="28" y="269"/>
                    <a:pt x="28" y="269"/>
                    <a:pt x="0" y="214"/>
                  </a:cubicBezTo>
                  <a:cubicBezTo>
                    <a:pt x="0" y="214"/>
                    <a:pt x="0" y="214"/>
                    <a:pt x="28" y="199"/>
                  </a:cubicBezTo>
                  <a:cubicBezTo>
                    <a:pt x="25" y="188"/>
                    <a:pt x="21" y="177"/>
                    <a:pt x="21" y="162"/>
                  </a:cubicBezTo>
                  <a:cubicBezTo>
                    <a:pt x="21" y="151"/>
                    <a:pt x="25" y="136"/>
                    <a:pt x="28" y="125"/>
                  </a:cubicBezTo>
                  <a:cubicBezTo>
                    <a:pt x="28" y="125"/>
                    <a:pt x="28" y="125"/>
                    <a:pt x="0" y="111"/>
                  </a:cubicBezTo>
                  <a:cubicBezTo>
                    <a:pt x="0" y="111"/>
                    <a:pt x="0" y="111"/>
                    <a:pt x="28" y="55"/>
                  </a:cubicBezTo>
                  <a:cubicBezTo>
                    <a:pt x="28" y="55"/>
                    <a:pt x="28" y="55"/>
                    <a:pt x="57" y="70"/>
                  </a:cubicBezTo>
                  <a:cubicBezTo>
                    <a:pt x="75" y="52"/>
                    <a:pt x="96" y="37"/>
                    <a:pt x="121" y="33"/>
                  </a:cubicBezTo>
                  <a:cubicBezTo>
                    <a:pt x="121" y="33"/>
                    <a:pt x="121" y="33"/>
                    <a:pt x="121" y="0"/>
                  </a:cubicBezTo>
                  <a:cubicBezTo>
                    <a:pt x="121" y="0"/>
                    <a:pt x="121" y="0"/>
                    <a:pt x="181" y="0"/>
                  </a:cubicBezTo>
                  <a:cubicBezTo>
                    <a:pt x="181" y="0"/>
                    <a:pt x="181" y="0"/>
                    <a:pt x="181" y="30"/>
                  </a:cubicBezTo>
                  <a:cubicBezTo>
                    <a:pt x="206" y="37"/>
                    <a:pt x="231" y="52"/>
                    <a:pt x="249" y="70"/>
                  </a:cubicBezTo>
                  <a:cubicBezTo>
                    <a:pt x="249" y="70"/>
                    <a:pt x="249" y="70"/>
                    <a:pt x="274" y="55"/>
                  </a:cubicBezTo>
                  <a:cubicBezTo>
                    <a:pt x="274" y="55"/>
                    <a:pt x="274" y="55"/>
                    <a:pt x="306" y="111"/>
                  </a:cubicBezTo>
                  <a:cubicBezTo>
                    <a:pt x="306" y="111"/>
                    <a:pt x="306" y="111"/>
                    <a:pt x="277" y="125"/>
                  </a:cubicBezTo>
                  <a:cubicBezTo>
                    <a:pt x="281" y="136"/>
                    <a:pt x="282" y="150"/>
                    <a:pt x="282" y="162"/>
                  </a:cubicBezTo>
                  <a:cubicBezTo>
                    <a:pt x="282" y="169"/>
                    <a:pt x="282" y="178"/>
                    <a:pt x="279" y="188"/>
                  </a:cubicBezTo>
                  <a:moveTo>
                    <a:pt x="186" y="100"/>
                  </a:moveTo>
                  <a:cubicBezTo>
                    <a:pt x="176" y="93"/>
                    <a:pt x="165" y="89"/>
                    <a:pt x="150" y="89"/>
                  </a:cubicBezTo>
                  <a:cubicBezTo>
                    <a:pt x="107" y="89"/>
                    <a:pt x="75" y="126"/>
                    <a:pt x="75" y="166"/>
                  </a:cubicBezTo>
                  <a:cubicBezTo>
                    <a:pt x="75" y="195"/>
                    <a:pt x="85" y="217"/>
                    <a:pt x="107" y="231"/>
                  </a:cubicBezTo>
                  <a:moveTo>
                    <a:pt x="209" y="238"/>
                  </a:moveTo>
                  <a:cubicBezTo>
                    <a:pt x="310" y="302"/>
                    <a:pt x="310" y="302"/>
                    <a:pt x="310" y="302"/>
                  </a:cubicBezTo>
                  <a:cubicBezTo>
                    <a:pt x="323" y="310"/>
                    <a:pt x="340" y="307"/>
                    <a:pt x="348" y="294"/>
                  </a:cubicBezTo>
                  <a:cubicBezTo>
                    <a:pt x="356" y="282"/>
                    <a:pt x="353" y="265"/>
                    <a:pt x="340" y="256"/>
                  </a:cubicBezTo>
                  <a:cubicBezTo>
                    <a:pt x="237" y="195"/>
                    <a:pt x="237" y="195"/>
                    <a:pt x="237" y="195"/>
                  </a:cubicBezTo>
                  <a:cubicBezTo>
                    <a:pt x="235" y="194"/>
                    <a:pt x="235" y="194"/>
                    <a:pt x="235" y="194"/>
                  </a:cubicBezTo>
                  <a:cubicBezTo>
                    <a:pt x="236" y="189"/>
                    <a:pt x="235" y="184"/>
                    <a:pt x="234" y="179"/>
                  </a:cubicBezTo>
                  <a:cubicBezTo>
                    <a:pt x="228" y="151"/>
                    <a:pt x="200" y="132"/>
                    <a:pt x="172" y="139"/>
                  </a:cubicBezTo>
                  <a:cubicBezTo>
                    <a:pt x="162" y="141"/>
                    <a:pt x="152" y="146"/>
                    <a:pt x="145" y="153"/>
                  </a:cubicBezTo>
                  <a:cubicBezTo>
                    <a:pt x="194" y="183"/>
                    <a:pt x="194" y="183"/>
                    <a:pt x="194" y="183"/>
                  </a:cubicBezTo>
                  <a:cubicBezTo>
                    <a:pt x="182" y="199"/>
                    <a:pt x="182" y="199"/>
                    <a:pt x="182" y="199"/>
                  </a:cubicBezTo>
                  <a:cubicBezTo>
                    <a:pt x="135" y="169"/>
                    <a:pt x="135" y="169"/>
                    <a:pt x="135" y="169"/>
                  </a:cubicBezTo>
                  <a:cubicBezTo>
                    <a:pt x="131" y="179"/>
                    <a:pt x="129" y="190"/>
                    <a:pt x="132" y="201"/>
                  </a:cubicBezTo>
                  <a:cubicBezTo>
                    <a:pt x="138" y="229"/>
                    <a:pt x="165" y="247"/>
                    <a:pt x="194" y="241"/>
                  </a:cubicBezTo>
                  <a:cubicBezTo>
                    <a:pt x="198" y="240"/>
                    <a:pt x="203" y="239"/>
                    <a:pt x="207" y="237"/>
                  </a:cubicBezTo>
                  <a:lnTo>
                    <a:pt x="209" y="238"/>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sp>
        <p:nvSpPr>
          <p:cNvPr id="209" name="TextBox 208">
            <a:extLst>
              <a:ext uri="{FF2B5EF4-FFF2-40B4-BE49-F238E27FC236}">
                <a16:creationId xmlns:a16="http://schemas.microsoft.com/office/drawing/2014/main" id="{6A26B55D-85D9-4FCB-B7EE-67799B6D16D8}"/>
              </a:ext>
            </a:extLst>
          </p:cNvPr>
          <p:cNvSpPr txBox="1"/>
          <p:nvPr/>
        </p:nvSpPr>
        <p:spPr>
          <a:xfrm>
            <a:off x="1257300" y="3817912"/>
            <a:ext cx="4048125" cy="246221"/>
          </a:xfrm>
          <a:prstGeom prst="rect">
            <a:avLst/>
          </a:prstGeom>
          <a:noFill/>
        </p:spPr>
        <p:txBody>
          <a:bodyPr wrap="square" lIns="0" tIns="0" rIns="0" bIns="0">
            <a:noAutofit/>
          </a:bodyPr>
          <a:lstStyle/>
          <a:p>
            <a:r>
              <a:rPr lang="en-US">
                <a:latin typeface="+mj-lt"/>
                <a:cs typeface="Segoe UI"/>
              </a:rPr>
              <a:t>Your role</a:t>
            </a:r>
          </a:p>
        </p:txBody>
      </p:sp>
      <p:grpSp>
        <p:nvGrpSpPr>
          <p:cNvPr id="217" name="Group 216" descr="Icon of a clock with an arrow around it pointing clockwise">
            <a:extLst>
              <a:ext uri="{FF2B5EF4-FFF2-40B4-BE49-F238E27FC236}">
                <a16:creationId xmlns:a16="http://schemas.microsoft.com/office/drawing/2014/main" id="{7B9246DA-9A84-4EC6-B3D8-BB0BF8047345}"/>
              </a:ext>
            </a:extLst>
          </p:cNvPr>
          <p:cNvGrpSpPr/>
          <p:nvPr/>
        </p:nvGrpSpPr>
        <p:grpSpPr>
          <a:xfrm>
            <a:off x="571500" y="4511423"/>
            <a:ext cx="499847" cy="499847"/>
            <a:chOff x="5945218" y="5299344"/>
            <a:chExt cx="751672" cy="751672"/>
          </a:xfrm>
        </p:grpSpPr>
        <p:sp>
          <p:nvSpPr>
            <p:cNvPr id="218" name="Oval 217">
              <a:extLst>
                <a:ext uri="{FF2B5EF4-FFF2-40B4-BE49-F238E27FC236}">
                  <a16:creationId xmlns:a16="http://schemas.microsoft.com/office/drawing/2014/main" id="{5015FCD5-C927-43EF-A465-A6E7448F8DD9}"/>
                </a:ext>
                <a:ext uri="{C183D7F6-B498-43B3-948B-1728B52AA6E4}">
                  <adec:decorative xmlns:adec="http://schemas.microsoft.com/office/drawing/2017/decorative" val="1"/>
                </a:ext>
              </a:extLst>
            </p:cNvPr>
            <p:cNvSpPr>
              <a:spLocks/>
            </p:cNvSpPr>
            <p:nvPr/>
          </p:nvSpPr>
          <p:spPr bwMode="auto">
            <a:xfrm>
              <a:off x="5945218" y="5299344"/>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9" name="DevUpdate_ECC5">
              <a:extLst>
                <a:ext uri="{FF2B5EF4-FFF2-40B4-BE49-F238E27FC236}">
                  <a16:creationId xmlns:a16="http://schemas.microsoft.com/office/drawing/2014/main" id="{1D88B2AA-FFD3-4770-A80D-35799347B301}"/>
                </a:ext>
                <a:ext uri="{C183D7F6-B498-43B3-948B-1728B52AA6E4}">
                  <adec:decorative xmlns:adec="http://schemas.microsoft.com/office/drawing/2017/decorative" val="1"/>
                </a:ext>
              </a:extLst>
            </p:cNvPr>
            <p:cNvSpPr>
              <a:spLocks noChangeAspect="1" noEditPoints="1"/>
            </p:cNvSpPr>
            <p:nvPr/>
          </p:nvSpPr>
          <p:spPr bwMode="auto">
            <a:xfrm>
              <a:off x="6125112" y="5479006"/>
              <a:ext cx="391883" cy="392348"/>
            </a:xfrm>
            <a:custGeom>
              <a:avLst/>
              <a:gdLst>
                <a:gd name="T0" fmla="*/ 2500 w 3750"/>
                <a:gd name="T1" fmla="*/ 2750 h 3750"/>
                <a:gd name="T2" fmla="*/ 1750 w 3750"/>
                <a:gd name="T3" fmla="*/ 2000 h 3750"/>
                <a:gd name="T4" fmla="*/ 1750 w 3750"/>
                <a:gd name="T5" fmla="*/ 875 h 3750"/>
                <a:gd name="T6" fmla="*/ 2875 w 3750"/>
                <a:gd name="T7" fmla="*/ 1250 h 3750"/>
                <a:gd name="T8" fmla="*/ 3750 w 3750"/>
                <a:gd name="T9" fmla="*/ 1250 h 3750"/>
                <a:gd name="T10" fmla="*/ 3750 w 3750"/>
                <a:gd name="T11" fmla="*/ 375 h 3750"/>
                <a:gd name="T12" fmla="*/ 3641 w 3750"/>
                <a:gd name="T13" fmla="*/ 1250 h 3750"/>
                <a:gd name="T14" fmla="*/ 1875 w 3750"/>
                <a:gd name="T15" fmla="*/ 0 h 3750"/>
                <a:gd name="T16" fmla="*/ 0 w 3750"/>
                <a:gd name="T17" fmla="*/ 1875 h 3750"/>
                <a:gd name="T18" fmla="*/ 1875 w 3750"/>
                <a:gd name="T19" fmla="*/ 3750 h 3750"/>
                <a:gd name="T20" fmla="*/ 3681 w 3750"/>
                <a:gd name="T21" fmla="*/ 23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0" h="3750">
                  <a:moveTo>
                    <a:pt x="2500" y="2750"/>
                  </a:moveTo>
                  <a:cubicBezTo>
                    <a:pt x="1750" y="2000"/>
                    <a:pt x="1750" y="2000"/>
                    <a:pt x="1750" y="2000"/>
                  </a:cubicBezTo>
                  <a:cubicBezTo>
                    <a:pt x="1750" y="875"/>
                    <a:pt x="1750" y="875"/>
                    <a:pt x="1750" y="875"/>
                  </a:cubicBezTo>
                  <a:moveTo>
                    <a:pt x="2875" y="1250"/>
                  </a:moveTo>
                  <a:cubicBezTo>
                    <a:pt x="3750" y="1250"/>
                    <a:pt x="3750" y="1250"/>
                    <a:pt x="3750" y="1250"/>
                  </a:cubicBezTo>
                  <a:cubicBezTo>
                    <a:pt x="3750" y="375"/>
                    <a:pt x="3750" y="375"/>
                    <a:pt x="3750" y="375"/>
                  </a:cubicBezTo>
                  <a:moveTo>
                    <a:pt x="3641" y="1250"/>
                  </a:moveTo>
                  <a:cubicBezTo>
                    <a:pt x="3383" y="522"/>
                    <a:pt x="2691" y="0"/>
                    <a:pt x="1875" y="0"/>
                  </a:cubicBezTo>
                  <a:cubicBezTo>
                    <a:pt x="839" y="0"/>
                    <a:pt x="0" y="839"/>
                    <a:pt x="0" y="1875"/>
                  </a:cubicBezTo>
                  <a:cubicBezTo>
                    <a:pt x="0" y="2911"/>
                    <a:pt x="839" y="3750"/>
                    <a:pt x="1875" y="3750"/>
                  </a:cubicBezTo>
                  <a:cubicBezTo>
                    <a:pt x="2737" y="3750"/>
                    <a:pt x="3461" y="3167"/>
                    <a:pt x="3681" y="2375"/>
                  </a:cubicBezTo>
                </a:path>
              </a:pathLst>
            </a:custGeom>
            <a:noFill/>
            <a:ln w="12700" cap="sq">
              <a:solidFill>
                <a:srgbClr val="243A5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24" name="TextBox 223">
            <a:extLst>
              <a:ext uri="{FF2B5EF4-FFF2-40B4-BE49-F238E27FC236}">
                <a16:creationId xmlns:a16="http://schemas.microsoft.com/office/drawing/2014/main" id="{92FFB24C-367E-43B6-B40A-B1AE862CEB2F}"/>
              </a:ext>
            </a:extLst>
          </p:cNvPr>
          <p:cNvSpPr txBox="1"/>
          <p:nvPr/>
        </p:nvSpPr>
        <p:spPr>
          <a:xfrm>
            <a:off x="1257300" y="4453570"/>
            <a:ext cx="3617485" cy="615553"/>
          </a:xfrm>
          <a:prstGeom prst="rect">
            <a:avLst/>
          </a:prstGeom>
          <a:noFill/>
        </p:spPr>
        <p:txBody>
          <a:bodyPr wrap="square" lIns="0" tIns="0" rIns="0" bIns="0">
            <a:noAutofit/>
          </a:bodyPr>
          <a:lstStyle/>
          <a:p>
            <a:r>
              <a:rPr lang="en-US">
                <a:latin typeface="+mj-lt"/>
                <a:cs typeface="Segoe UI"/>
              </a:rPr>
              <a:t>Current projects and/or activities you’ve been working on</a:t>
            </a:r>
          </a:p>
        </p:txBody>
      </p:sp>
      <p:sp>
        <p:nvSpPr>
          <p:cNvPr id="228" name="Footer Placeholder 6">
            <a:extLst>
              <a:ext uri="{FF2B5EF4-FFF2-40B4-BE49-F238E27FC236}">
                <a16:creationId xmlns:a16="http://schemas.microsoft.com/office/drawing/2014/main" id="{61EE7B71-B09E-46F1-A9C6-9A742FCFFB2A}"/>
              </a:ext>
            </a:extLst>
          </p:cNvPr>
          <p:cNvSpPr txBox="1">
            <a:spLocks/>
          </p:cNvSpPr>
          <p:nvPr/>
        </p:nvSpPr>
        <p:spPr>
          <a:xfrm>
            <a:off x="4874785" y="6539518"/>
            <a:ext cx="1013098" cy="123111"/>
          </a:xfrm>
          <a:prstGeom prst="rect">
            <a:avLst/>
          </a:prstGeom>
        </p:spPr>
        <p:txBody>
          <a:bodyPr vert="horz" wrap="none" lIns="0" tIns="0" rIns="0" bIns="0" rtlCol="0" anchor="ctr">
            <a:spAutoFit/>
          </a:bodyP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solidFill>
                  <a:srgbClr val="000000"/>
                </a:solidFill>
                <a:latin typeface="Segoe UI"/>
              </a:rPr>
              <a:t>Microsoft Confidential</a:t>
            </a:r>
          </a:p>
        </p:txBody>
      </p:sp>
      <p:pic>
        <p:nvPicPr>
          <p:cNvPr id="6" name="Content Placeholder 5" descr="Developers on-the-go, meeting up in the lobby. Male and female developers collaborating outside the office. ">
            <a:extLst>
              <a:ext uri="{FF2B5EF4-FFF2-40B4-BE49-F238E27FC236}">
                <a16:creationId xmlns:a16="http://schemas.microsoft.com/office/drawing/2014/main" id="{1D8D8C82-F935-42E4-ADD4-BC564C94CD25}"/>
              </a:ext>
            </a:extLst>
          </p:cNvPr>
          <p:cNvPicPr>
            <a:picLocks noGrp="1" noChangeAspect="1"/>
          </p:cNvPicPr>
          <p:nvPr>
            <p:ph sz="quarter" idx="11"/>
          </p:nvPr>
        </p:nvPicPr>
        <p:blipFill rotWithShape="1">
          <a:blip r:embed="rId2"/>
          <a:srcRect l="23410" t="-1" r="23410" b="-1"/>
          <a:stretch/>
        </p:blipFill>
        <p:spPr>
          <a:xfrm>
            <a:off x="6721475" y="0"/>
            <a:ext cx="5470525" cy="6858000"/>
          </a:xfrm>
          <a:custGeom>
            <a:avLst/>
            <a:gdLst>
              <a:gd name="connsiteX0" fmla="*/ 0 w 4025894"/>
              <a:gd name="connsiteY0" fmla="*/ 0 h 4399122"/>
              <a:gd name="connsiteX1" fmla="*/ 4025894 w 4025894"/>
              <a:gd name="connsiteY1" fmla="*/ 0 h 4399122"/>
              <a:gd name="connsiteX2" fmla="*/ 4025894 w 4025894"/>
              <a:gd name="connsiteY2" fmla="*/ 4399122 h 4399122"/>
              <a:gd name="connsiteX3" fmla="*/ 0 w 4025894"/>
              <a:gd name="connsiteY3" fmla="*/ 4399122 h 4399122"/>
            </a:gdLst>
            <a:ahLst/>
            <a:cxnLst>
              <a:cxn ang="0">
                <a:pos x="connsiteX0" y="connsiteY0"/>
              </a:cxn>
              <a:cxn ang="0">
                <a:pos x="connsiteX1" y="connsiteY1"/>
              </a:cxn>
              <a:cxn ang="0">
                <a:pos x="connsiteX2" y="connsiteY2"/>
              </a:cxn>
              <a:cxn ang="0">
                <a:pos x="connsiteX3" y="connsiteY3"/>
              </a:cxn>
            </a:cxnLst>
            <a:rect l="l" t="t" r="r" b="b"/>
            <a:pathLst>
              <a:path w="4025894" h="4399122">
                <a:moveTo>
                  <a:pt x="0" y="0"/>
                </a:moveTo>
                <a:lnTo>
                  <a:pt x="4025894" y="0"/>
                </a:lnTo>
                <a:lnTo>
                  <a:pt x="4025894" y="4399122"/>
                </a:lnTo>
                <a:lnTo>
                  <a:pt x="0" y="4399122"/>
                </a:lnTo>
                <a:close/>
              </a:path>
            </a:pathLst>
          </a:custGeom>
        </p:spPr>
      </p:pic>
      <p:sp>
        <p:nvSpPr>
          <p:cNvPr id="231" name="Slide Number Placeholder 5">
            <a:extLst>
              <a:ext uri="{FF2B5EF4-FFF2-40B4-BE49-F238E27FC236}">
                <a16:creationId xmlns:a16="http://schemas.microsoft.com/office/drawing/2014/main" id="{4D19B91F-CF3F-4DD1-91EA-04530C6A84EF}"/>
              </a:ext>
            </a:extLst>
          </p:cNvPr>
          <p:cNvSpPr>
            <a:spLocks noGrp="1"/>
          </p:cNvSpPr>
          <p:nvPr>
            <p:ph type="sldNum" sz="quarter" idx="4"/>
          </p:nvPr>
        </p:nvSpPr>
        <p:spPr/>
        <p:txBody>
          <a:bodyPr vert="horz" wrap="square" lIns="0" tIns="0" rIns="0" bIns="0" rtlCol="0" anchor="ctr">
            <a:spAutoFit/>
          </a:bodyPr>
          <a:lstStyle/>
          <a:p>
            <a:fld id="{8F881BB8-5469-4299-99B9-578BE3320A80}" type="slidenum">
              <a:rPr lang="en-US" smtClean="0">
                <a:solidFill>
                  <a:schemeClr val="bg1"/>
                </a:solidFill>
                <a:latin typeface="Segoe UI"/>
              </a:rPr>
              <a:pPr/>
              <a:t>4</a:t>
            </a:fld>
            <a:endParaRPr lang="en-US">
              <a:solidFill>
                <a:schemeClr val="bg1"/>
              </a:solidFill>
              <a:latin typeface="Segoe UI"/>
            </a:endParaRPr>
          </a:p>
        </p:txBody>
      </p:sp>
      <p:sp>
        <p:nvSpPr>
          <p:cNvPr id="3" name="Footer Placeholder 2">
            <a:extLst>
              <a:ext uri="{FF2B5EF4-FFF2-40B4-BE49-F238E27FC236}">
                <a16:creationId xmlns:a16="http://schemas.microsoft.com/office/drawing/2014/main" id="{01EB3E18-FB88-4EFD-A900-3E904BA4E14D}"/>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Tree>
    <p:extLst>
      <p:ext uri="{BB962C8B-B14F-4D97-AF65-F5344CB8AC3E}">
        <p14:creationId xmlns:p14="http://schemas.microsoft.com/office/powerpoint/2010/main" val="260160492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EAF5D-C526-42F5-9476-DED5FA646BCA}"/>
              </a:ext>
            </a:extLst>
          </p:cNvPr>
          <p:cNvSpPr>
            <a:spLocks noGrp="1"/>
          </p:cNvSpPr>
          <p:nvPr>
            <p:ph type="title"/>
          </p:nvPr>
        </p:nvSpPr>
        <p:spPr/>
        <p:txBody>
          <a:bodyPr/>
          <a:lstStyle/>
          <a:p>
            <a:r>
              <a:rPr lang="en-US" dirty="0"/>
              <a:t>Introduction</a:t>
            </a:r>
          </a:p>
        </p:txBody>
      </p:sp>
      <p:sp>
        <p:nvSpPr>
          <p:cNvPr id="5" name="Text Placeholder 4">
            <a:extLst>
              <a:ext uri="{FF2B5EF4-FFF2-40B4-BE49-F238E27FC236}">
                <a16:creationId xmlns:a16="http://schemas.microsoft.com/office/drawing/2014/main" id="{CDFD4728-F4AF-4537-8291-090433BD1E45}"/>
              </a:ext>
            </a:extLst>
          </p:cNvPr>
          <p:cNvSpPr>
            <a:spLocks noGrp="1"/>
          </p:cNvSpPr>
          <p:nvPr>
            <p:ph type="body" sz="quarter" idx="12"/>
          </p:nvPr>
        </p:nvSpPr>
        <p:spPr>
          <a:xfrm>
            <a:off x="582042" y="5634620"/>
            <a:ext cx="7227572" cy="1015663"/>
          </a:xfrm>
        </p:spPr>
        <p:txBody>
          <a:bodyPr/>
          <a:lstStyle/>
          <a:p>
            <a:r>
              <a:rPr lang="en-US" dirty="0"/>
              <a:t>Well-Architected Cost Optimization Assessment Overview</a:t>
            </a:r>
          </a:p>
        </p:txBody>
      </p:sp>
      <p:sp>
        <p:nvSpPr>
          <p:cNvPr id="6" name="Footer Placeholder 5">
            <a:extLst>
              <a:ext uri="{FF2B5EF4-FFF2-40B4-BE49-F238E27FC236}">
                <a16:creationId xmlns:a16="http://schemas.microsoft.com/office/drawing/2014/main" id="{68A86066-1859-4C48-9A5D-B10F74530B8F}"/>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7" name="Slide Number Placeholder 6">
            <a:extLst>
              <a:ext uri="{FF2B5EF4-FFF2-40B4-BE49-F238E27FC236}">
                <a16:creationId xmlns:a16="http://schemas.microsoft.com/office/drawing/2014/main" id="{8264A21C-0D66-47D3-A056-D92A6776035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13029960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F728FE-B419-4C9D-B1CF-AAEAEAFC88B5}"/>
              </a:ext>
            </a:extLst>
          </p:cNvPr>
          <p:cNvSpPr>
            <a:spLocks noGrp="1"/>
          </p:cNvSpPr>
          <p:nvPr>
            <p:ph type="title"/>
          </p:nvPr>
        </p:nvSpPr>
        <p:spPr/>
        <p:txBody>
          <a:bodyPr/>
          <a:lstStyle/>
          <a:p>
            <a:r>
              <a:rPr lang="en-US">
                <a:solidFill>
                  <a:schemeClr val="accent2"/>
                </a:solidFill>
                <a:cs typeface="Segoe UI"/>
              </a:rPr>
              <a:t>Overview</a:t>
            </a:r>
            <a:endParaRPr lang="en-US"/>
          </a:p>
        </p:txBody>
      </p:sp>
      <p:sp>
        <p:nvSpPr>
          <p:cNvPr id="24" name="Rectangle 23">
            <a:extLst>
              <a:ext uri="{FF2B5EF4-FFF2-40B4-BE49-F238E27FC236}">
                <a16:creationId xmlns:a16="http://schemas.microsoft.com/office/drawing/2014/main" id="{16AB9CC1-382A-4BCD-A18C-3FCFA3CB9EBB}"/>
              </a:ext>
              <a:ext uri="{C183D7F6-B498-43B3-948B-1728B52AA6E4}">
                <adec:decorative xmlns:adec="http://schemas.microsoft.com/office/drawing/2017/decorative" val="1"/>
              </a:ext>
            </a:extLst>
          </p:cNvPr>
          <p:cNvSpPr>
            <a:spLocks/>
          </p:cNvSpPr>
          <p:nvPr/>
        </p:nvSpPr>
        <p:spPr>
          <a:xfrm>
            <a:off x="571500" y="1276546"/>
            <a:ext cx="7315200" cy="4992492"/>
          </a:xfrm>
          <a:prstGeom prst="rect">
            <a:avLst/>
          </a:prstGeom>
          <a:noFill/>
          <a:ln w="3175">
            <a:solidFill>
              <a:schemeClr val="bg1">
                <a:lumMod val="85000"/>
              </a:schemeClr>
            </a:solidFill>
          </a:ln>
        </p:spPr>
        <p:txBody>
          <a:bodyPr wrap="square" lIns="137160" tIns="768096" rIns="137160" bIns="91440" anchor="t">
            <a:noAutofit/>
          </a:bodyPr>
          <a:lstStyle/>
          <a:p>
            <a:pPr marL="230188" indent="-230188" defTabSz="914192">
              <a:spcBef>
                <a:spcPts val="300"/>
              </a:spcBef>
              <a:spcAft>
                <a:spcPts val="300"/>
              </a:spcAft>
              <a:buFont typeface="Arial" panose="020B0604020202020204" pitchFamily="34" charset="0"/>
              <a:buChar char="•"/>
              <a:defRPr/>
            </a:pPr>
            <a:endParaRPr lang="en-US" sz="1600">
              <a:cs typeface="Segoe UI Semibold" panose="020B0702040204020203" pitchFamily="34" charset="0"/>
            </a:endParaRPr>
          </a:p>
        </p:txBody>
      </p:sp>
      <p:sp>
        <p:nvSpPr>
          <p:cNvPr id="69" name="Rectangle 68">
            <a:extLst>
              <a:ext uri="{FF2B5EF4-FFF2-40B4-BE49-F238E27FC236}">
                <a16:creationId xmlns:a16="http://schemas.microsoft.com/office/drawing/2014/main" id="{8303FFCD-4A31-4864-84BD-118098E10677}"/>
              </a:ext>
            </a:extLst>
          </p:cNvPr>
          <p:cNvSpPr/>
          <p:nvPr/>
        </p:nvSpPr>
        <p:spPr>
          <a:xfrm>
            <a:off x="571500" y="1519848"/>
            <a:ext cx="7315200" cy="465121"/>
          </a:xfrm>
          <a:prstGeom prst="rect">
            <a:avLst/>
          </a:prstGeom>
          <a:solidFill>
            <a:schemeClr val="accent2"/>
          </a:solidFill>
        </p:spPr>
        <p:txBody>
          <a:bodyPr wrap="square" lIns="91440" tIns="45720" rIns="91440" bIns="45720" anchor="ctr">
            <a:noAutofit/>
          </a:bodyPr>
          <a:lstStyle/>
          <a:p>
            <a:pPr algn="ctr" defTabSz="914192">
              <a:spcAft>
                <a:spcPts val="300"/>
              </a:spcAft>
            </a:pPr>
            <a:r>
              <a:rPr lang="en-US" b="0" i="0" u="none" strike="noStrike" dirty="0">
                <a:solidFill>
                  <a:srgbClr val="FFFFFF"/>
                </a:solidFill>
                <a:effectLst/>
                <a:latin typeface="Segoe UI Semibold" panose="020B0702040204020203" pitchFamily="34" charset="0"/>
              </a:rPr>
              <a:t>Microsoft Azure Well-Architected Framework</a:t>
            </a:r>
            <a:r>
              <a:rPr lang="en-US" b="0" i="0" dirty="0">
                <a:solidFill>
                  <a:srgbClr val="000000"/>
                </a:solidFill>
                <a:effectLst/>
                <a:latin typeface="Segoe UI Semibold" panose="020B0702040204020203" pitchFamily="34" charset="0"/>
              </a:rPr>
              <a:t>​</a:t>
            </a:r>
            <a:endParaRPr lang="en-US" dirty="0">
              <a:solidFill>
                <a:srgbClr val="FFFFFF"/>
              </a:solidFill>
              <a:latin typeface="Segoe Semibold"/>
              <a:cs typeface="Segoe UI Semibold"/>
            </a:endParaRPr>
          </a:p>
        </p:txBody>
      </p:sp>
      <p:grpSp>
        <p:nvGrpSpPr>
          <p:cNvPr id="53" name="Group 52">
            <a:extLst>
              <a:ext uri="{FF2B5EF4-FFF2-40B4-BE49-F238E27FC236}">
                <a16:creationId xmlns:a16="http://schemas.microsoft.com/office/drawing/2014/main" id="{FA5B8C24-04B4-408D-B7E8-E4349A0D7F78}"/>
              </a:ext>
              <a:ext uri="{C183D7F6-B498-43B3-948B-1728B52AA6E4}">
                <adec:decorative xmlns:adec="http://schemas.microsoft.com/office/drawing/2017/decorative" val="1"/>
              </a:ext>
            </a:extLst>
          </p:cNvPr>
          <p:cNvGrpSpPr/>
          <p:nvPr/>
        </p:nvGrpSpPr>
        <p:grpSpPr>
          <a:xfrm>
            <a:off x="574675" y="1519848"/>
            <a:ext cx="7312025" cy="465121"/>
            <a:chOff x="574675" y="1519848"/>
            <a:chExt cx="7312025" cy="465121"/>
          </a:xfrm>
        </p:grpSpPr>
        <p:cxnSp>
          <p:nvCxnSpPr>
            <p:cNvPr id="54" name="Straight Connector 53">
              <a:extLst>
                <a:ext uri="{FF2B5EF4-FFF2-40B4-BE49-F238E27FC236}">
                  <a16:creationId xmlns:a16="http://schemas.microsoft.com/office/drawing/2014/main" id="{E0332FFC-0B33-483A-88E3-C26E4E74079D}"/>
                </a:ext>
                <a:ext uri="{C183D7F6-B498-43B3-948B-1728B52AA6E4}">
                  <adec:decorative xmlns:adec="http://schemas.microsoft.com/office/drawing/2017/decorative" val="1"/>
                </a:ext>
              </a:extLst>
            </p:cNvPr>
            <p:cNvCxnSpPr>
              <a:cxnSpLocks/>
            </p:cNvCxnSpPr>
            <p:nvPr/>
          </p:nvCxnSpPr>
          <p:spPr>
            <a:xfrm>
              <a:off x="574675"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3C5B914-57CD-4D7E-8CB2-14BE6010047B}"/>
                </a:ext>
                <a:ext uri="{C183D7F6-B498-43B3-948B-1728B52AA6E4}">
                  <adec:decorative xmlns:adec="http://schemas.microsoft.com/office/drawing/2017/decorative" val="1"/>
                </a:ext>
              </a:extLst>
            </p:cNvPr>
            <p:cNvCxnSpPr>
              <a:cxnSpLocks/>
            </p:cNvCxnSpPr>
            <p:nvPr/>
          </p:nvCxnSpPr>
          <p:spPr>
            <a:xfrm>
              <a:off x="7886700"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3" name="TextBox 82">
            <a:extLst>
              <a:ext uri="{FF2B5EF4-FFF2-40B4-BE49-F238E27FC236}">
                <a16:creationId xmlns:a16="http://schemas.microsoft.com/office/drawing/2014/main" id="{26A91542-342A-4D6A-9097-2937725C37D0}"/>
              </a:ext>
            </a:extLst>
          </p:cNvPr>
          <p:cNvSpPr txBox="1"/>
          <p:nvPr/>
        </p:nvSpPr>
        <p:spPr>
          <a:xfrm>
            <a:off x="571500" y="2108081"/>
            <a:ext cx="7315200" cy="1092320"/>
          </a:xfrm>
          <a:prstGeom prst="rect">
            <a:avLst/>
          </a:prstGeom>
        </p:spPr>
        <p:txBody>
          <a:bodyPr wrap="square" lIns="91440" tIns="45720" rIns="91440" bIns="45720">
            <a:noAutofit/>
          </a:bodyPr>
          <a:lstStyle/>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Architecture guidance and best practices, created for architects, developers and solution owners, to improve the quality of their workloads, based on 5 aligned and connected pillars​</a:t>
            </a:r>
          </a:p>
          <a:p>
            <a:pPr marL="230188" indent="-230188" defTabSz="914192">
              <a:spcBef>
                <a:spcPts val="600"/>
              </a:spcBef>
              <a:spcAft>
                <a:spcPts val="600"/>
              </a:spcAft>
              <a:buFont typeface="Arial" panose="020B0604020202020204" pitchFamily="34" charset="0"/>
              <a:buChar char="•"/>
              <a:defRPr/>
            </a:pPr>
            <a:endParaRPr lang="en-US" sz="1600" dirty="0">
              <a:cs typeface="Segoe UI Semibold" panose="020B0702040204020203" pitchFamily="34" charset="0"/>
            </a:endParaRPr>
          </a:p>
          <a:p>
            <a:pPr marL="230188" indent="-230188" defTabSz="914192">
              <a:spcBef>
                <a:spcPts val="600"/>
              </a:spcBef>
              <a:spcAft>
                <a:spcPts val="600"/>
              </a:spcAft>
              <a:buFont typeface="Arial" panose="020B0604020202020204" pitchFamily="34" charset="0"/>
              <a:buChar char="•"/>
              <a:defRPr/>
            </a:pPr>
            <a:endParaRPr lang="en-US" sz="1600" dirty="0">
              <a:cs typeface="Segoe UI Semibold" panose="020B0702040204020203" pitchFamily="34" charset="0"/>
            </a:endParaRPr>
          </a:p>
        </p:txBody>
      </p:sp>
      <p:sp>
        <p:nvSpPr>
          <p:cNvPr id="12" name="Footer Placeholder 4">
            <a:extLst>
              <a:ext uri="{FF2B5EF4-FFF2-40B4-BE49-F238E27FC236}">
                <a16:creationId xmlns:a16="http://schemas.microsoft.com/office/drawing/2014/main" id="{442FD59E-4F7A-4AE7-8BC0-183325C0BC52}"/>
              </a:ext>
            </a:extLst>
          </p:cNvPr>
          <p:cNvSpPr>
            <a:spLocks noGrp="1"/>
          </p:cNvSpPr>
          <p:nvPr>
            <p:ph type="ftr" sz="quarter" idx="3"/>
          </p:nvPr>
        </p:nvSpPr>
        <p:spPr/>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137" name="Picture 136" descr="Two Business woman Looking into a document and having a conversation">
            <a:extLst>
              <a:ext uri="{FF2B5EF4-FFF2-40B4-BE49-F238E27FC236}">
                <a16:creationId xmlns:a16="http://schemas.microsoft.com/office/drawing/2014/main" id="{EDBF3EFF-F771-42E7-A041-2202B027EB61}"/>
              </a:ext>
            </a:extLst>
          </p:cNvPr>
          <p:cNvPicPr>
            <a:picLocks/>
          </p:cNvPicPr>
          <p:nvPr/>
        </p:nvPicPr>
        <p:blipFill rotWithShape="1">
          <a:blip r:embed="rId3"/>
          <a:srcRect t="-8" r="1421" b="-6"/>
          <a:stretch/>
        </p:blipFill>
        <p:spPr>
          <a:xfrm>
            <a:off x="8001001" y="0"/>
            <a:ext cx="4190999" cy="6858000"/>
          </a:xfrm>
          <a:prstGeom prst="rect">
            <a:avLst/>
          </a:prstGeom>
        </p:spPr>
      </p:pic>
      <p:sp>
        <p:nvSpPr>
          <p:cNvPr id="13" name="Slide Number Placeholder 5">
            <a:extLst>
              <a:ext uri="{FF2B5EF4-FFF2-40B4-BE49-F238E27FC236}">
                <a16:creationId xmlns:a16="http://schemas.microsoft.com/office/drawing/2014/main" id="{060C777C-E5AA-4C25-BBF8-251128688CF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graphicFrame>
        <p:nvGraphicFramePr>
          <p:cNvPr id="27" name="Table 3">
            <a:extLst>
              <a:ext uri="{FF2B5EF4-FFF2-40B4-BE49-F238E27FC236}">
                <a16:creationId xmlns:a16="http://schemas.microsoft.com/office/drawing/2014/main" id="{653F9C5A-4B5D-49C7-882D-9107030D22B5}"/>
              </a:ext>
            </a:extLst>
          </p:cNvPr>
          <p:cNvGraphicFramePr>
            <a:graphicFrameLocks noGrp="1"/>
          </p:cNvGraphicFramePr>
          <p:nvPr>
            <p:extLst>
              <p:ext uri="{D42A27DB-BD31-4B8C-83A1-F6EECF244321}">
                <p14:modId xmlns:p14="http://schemas.microsoft.com/office/powerpoint/2010/main" val="1468224814"/>
              </p:ext>
            </p:extLst>
          </p:nvPr>
        </p:nvGraphicFramePr>
        <p:xfrm>
          <a:off x="667381" y="3575503"/>
          <a:ext cx="6868255" cy="719698"/>
        </p:xfrm>
        <a:graphic>
          <a:graphicData uri="http://schemas.openxmlformats.org/drawingml/2006/table">
            <a:tbl>
              <a:tblPr>
                <a:tableStyleId>{5C22544A-7EE6-4342-B048-85BDC9FD1C3A}</a:tableStyleId>
              </a:tblPr>
              <a:tblGrid>
                <a:gridCol w="1373651">
                  <a:extLst>
                    <a:ext uri="{9D8B030D-6E8A-4147-A177-3AD203B41FA5}">
                      <a16:colId xmlns:a16="http://schemas.microsoft.com/office/drawing/2014/main" val="955085267"/>
                    </a:ext>
                  </a:extLst>
                </a:gridCol>
                <a:gridCol w="1373651">
                  <a:extLst>
                    <a:ext uri="{9D8B030D-6E8A-4147-A177-3AD203B41FA5}">
                      <a16:colId xmlns:a16="http://schemas.microsoft.com/office/drawing/2014/main" val="3239968485"/>
                    </a:ext>
                  </a:extLst>
                </a:gridCol>
                <a:gridCol w="1373651">
                  <a:extLst>
                    <a:ext uri="{9D8B030D-6E8A-4147-A177-3AD203B41FA5}">
                      <a16:colId xmlns:a16="http://schemas.microsoft.com/office/drawing/2014/main" val="802026703"/>
                    </a:ext>
                  </a:extLst>
                </a:gridCol>
                <a:gridCol w="1373651">
                  <a:extLst>
                    <a:ext uri="{9D8B030D-6E8A-4147-A177-3AD203B41FA5}">
                      <a16:colId xmlns:a16="http://schemas.microsoft.com/office/drawing/2014/main" val="1027851924"/>
                    </a:ext>
                  </a:extLst>
                </a:gridCol>
                <a:gridCol w="1373651">
                  <a:extLst>
                    <a:ext uri="{9D8B030D-6E8A-4147-A177-3AD203B41FA5}">
                      <a16:colId xmlns:a16="http://schemas.microsoft.com/office/drawing/2014/main" val="1306110681"/>
                    </a:ext>
                  </a:extLst>
                </a:gridCol>
              </a:tblGrid>
              <a:tr h="719698">
                <a:tc>
                  <a:txBody>
                    <a:bodyPr/>
                    <a:lstStyle/>
                    <a:p>
                      <a:pPr algn="ctr"/>
                      <a:r>
                        <a:rPr lang="en-US" sz="1600" dirty="0">
                          <a:solidFill>
                            <a:schemeClr val="tx1"/>
                          </a:solidFill>
                          <a:latin typeface="Segoe UI" panose="020B0502040204020203" pitchFamily="34" charset="0"/>
                          <a:cs typeface="Segoe UI" panose="020B0502040204020203" pitchFamily="34" charset="0"/>
                        </a:rPr>
                        <a:t>Cost</a:t>
                      </a:r>
                    </a:p>
                    <a:p>
                      <a:pPr algn="ctr"/>
                      <a:r>
                        <a:rPr lang="en-US" sz="1600" dirty="0">
                          <a:solidFill>
                            <a:schemeClr val="tx1"/>
                          </a:solidFill>
                          <a:latin typeface="Segoe UI" panose="020B0502040204020203" pitchFamily="34" charset="0"/>
                          <a:cs typeface="Segoe UI" panose="020B0502040204020203" pitchFamily="34" charset="0"/>
                        </a:rPr>
                        <a:t>Optimization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latin typeface="Segoe UI" panose="020B0502040204020203" pitchFamily="34" charset="0"/>
                          <a:cs typeface="Segoe UI" panose="020B0502040204020203" pitchFamily="34" charset="0"/>
                        </a:rPr>
                        <a:t>Operational Excellence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latin typeface="Segoe UI" panose="020B0502040204020203" pitchFamily="34" charset="0"/>
                          <a:cs typeface="Segoe UI" panose="020B0502040204020203" pitchFamily="34" charset="0"/>
                        </a:rPr>
                        <a:t>Performance Efficiency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latin typeface="Segoe UI" panose="020B0502040204020203" pitchFamily="34" charset="0"/>
                          <a:cs typeface="Segoe UI" panose="020B0502040204020203" pitchFamily="34" charset="0"/>
                        </a:rPr>
                        <a:t>Reliability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latin typeface="Segoe UI" panose="020B0502040204020203" pitchFamily="34" charset="0"/>
                          <a:cs typeface="Segoe UI" panose="020B0502040204020203" pitchFamily="34" charset="0"/>
                        </a:rPr>
                        <a:t>Security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2707424"/>
                  </a:ext>
                </a:extLst>
              </a:tr>
            </a:tbl>
          </a:graphicData>
        </a:graphic>
      </p:graphicFrame>
      <p:sp>
        <p:nvSpPr>
          <p:cNvPr id="28" name="Oval 27">
            <a:extLst>
              <a:ext uri="{FF2B5EF4-FFF2-40B4-BE49-F238E27FC236}">
                <a16:creationId xmlns:a16="http://schemas.microsoft.com/office/drawing/2014/main" id="{9F5B4147-6437-4572-9348-8FEEF1195617}"/>
              </a:ext>
            </a:extLst>
          </p:cNvPr>
          <p:cNvSpPr/>
          <p:nvPr/>
        </p:nvSpPr>
        <p:spPr bwMode="auto">
          <a:xfrm>
            <a:off x="825416" y="4343563"/>
            <a:ext cx="1178138" cy="1204892"/>
          </a:xfrm>
          <a:prstGeom prst="ellipse">
            <a:avLst/>
          </a:prstGeom>
          <a:solidFill>
            <a:schemeClr val="bg1"/>
          </a:solidFill>
          <a:ln>
            <a:solidFill>
              <a:schemeClr val="bg2">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Segoe UI" pitchFamily="34" charset="0"/>
              <a:cs typeface="Segoe UI" pitchFamily="34" charset="0"/>
            </a:endParaRPr>
          </a:p>
        </p:txBody>
      </p:sp>
      <p:sp>
        <p:nvSpPr>
          <p:cNvPr id="29" name="Oval 28">
            <a:extLst>
              <a:ext uri="{FF2B5EF4-FFF2-40B4-BE49-F238E27FC236}">
                <a16:creationId xmlns:a16="http://schemas.microsoft.com/office/drawing/2014/main" id="{75B3E36D-037C-4531-94F9-863EA5871A4B}"/>
              </a:ext>
            </a:extLst>
          </p:cNvPr>
          <p:cNvSpPr/>
          <p:nvPr/>
        </p:nvSpPr>
        <p:spPr bwMode="auto">
          <a:xfrm>
            <a:off x="2212966" y="4363499"/>
            <a:ext cx="1198611" cy="1253914"/>
          </a:xfrm>
          <a:prstGeom prst="ellipse">
            <a:avLst/>
          </a:prstGeom>
          <a:solidFill>
            <a:schemeClr val="bg1"/>
          </a:solidFill>
          <a:ln>
            <a:solidFill>
              <a:schemeClr val="bg2">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Segoe UI" pitchFamily="34" charset="0"/>
              <a:cs typeface="Segoe UI" pitchFamily="34" charset="0"/>
            </a:endParaRPr>
          </a:p>
        </p:txBody>
      </p:sp>
      <p:sp>
        <p:nvSpPr>
          <p:cNvPr id="30" name="Oval 29">
            <a:extLst>
              <a:ext uri="{FF2B5EF4-FFF2-40B4-BE49-F238E27FC236}">
                <a16:creationId xmlns:a16="http://schemas.microsoft.com/office/drawing/2014/main" id="{7EB0C10B-D0B4-4305-AEA9-7D6EDE377F7F}"/>
              </a:ext>
            </a:extLst>
          </p:cNvPr>
          <p:cNvSpPr/>
          <p:nvPr/>
        </p:nvSpPr>
        <p:spPr bwMode="auto">
          <a:xfrm>
            <a:off x="3534530" y="4363499"/>
            <a:ext cx="1192591" cy="1199918"/>
          </a:xfrm>
          <a:prstGeom prst="ellipse">
            <a:avLst/>
          </a:prstGeom>
          <a:solidFill>
            <a:schemeClr val="bg1"/>
          </a:solidFill>
          <a:ln>
            <a:solidFill>
              <a:schemeClr val="bg2">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Segoe UI" pitchFamily="34" charset="0"/>
              <a:cs typeface="Segoe UI" pitchFamily="34" charset="0"/>
            </a:endParaRPr>
          </a:p>
        </p:txBody>
      </p:sp>
      <p:sp>
        <p:nvSpPr>
          <p:cNvPr id="31" name="Oval 30">
            <a:extLst>
              <a:ext uri="{FF2B5EF4-FFF2-40B4-BE49-F238E27FC236}">
                <a16:creationId xmlns:a16="http://schemas.microsoft.com/office/drawing/2014/main" id="{423954B2-8527-4664-A365-3BF986F1783C}"/>
              </a:ext>
            </a:extLst>
          </p:cNvPr>
          <p:cNvSpPr/>
          <p:nvPr/>
        </p:nvSpPr>
        <p:spPr bwMode="auto">
          <a:xfrm>
            <a:off x="4859913" y="4325295"/>
            <a:ext cx="1198610" cy="1238122"/>
          </a:xfrm>
          <a:prstGeom prst="ellipse">
            <a:avLst/>
          </a:prstGeom>
          <a:solidFill>
            <a:schemeClr val="bg1"/>
          </a:solidFill>
          <a:ln>
            <a:solidFill>
              <a:schemeClr val="bg2">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Segoe UI" pitchFamily="34" charset="0"/>
              <a:cs typeface="Segoe UI" pitchFamily="34" charset="0"/>
            </a:endParaRPr>
          </a:p>
        </p:txBody>
      </p:sp>
      <p:sp>
        <p:nvSpPr>
          <p:cNvPr id="32" name="Oval 31">
            <a:extLst>
              <a:ext uri="{FF2B5EF4-FFF2-40B4-BE49-F238E27FC236}">
                <a16:creationId xmlns:a16="http://schemas.microsoft.com/office/drawing/2014/main" id="{01F592AC-1F95-425A-873B-DE7F50C4411A}"/>
              </a:ext>
            </a:extLst>
          </p:cNvPr>
          <p:cNvSpPr/>
          <p:nvPr/>
        </p:nvSpPr>
        <p:spPr bwMode="auto">
          <a:xfrm>
            <a:off x="6218379" y="4325295"/>
            <a:ext cx="1198609" cy="1238122"/>
          </a:xfrm>
          <a:prstGeom prst="ellipse">
            <a:avLst/>
          </a:prstGeom>
          <a:solidFill>
            <a:schemeClr val="bg1"/>
          </a:solidFill>
          <a:ln>
            <a:solidFill>
              <a:schemeClr val="bg2">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Segoe UI" pitchFamily="34" charset="0"/>
              <a:cs typeface="Segoe UI" pitchFamily="34" charset="0"/>
            </a:endParaRPr>
          </a:p>
        </p:txBody>
      </p:sp>
      <p:pic>
        <p:nvPicPr>
          <p:cNvPr id="33" name="Picture 32">
            <a:extLst>
              <a:ext uri="{FF2B5EF4-FFF2-40B4-BE49-F238E27FC236}">
                <a16:creationId xmlns:a16="http://schemas.microsoft.com/office/drawing/2014/main" id="{F4E735CF-F3AB-4D04-9556-CE5C7F962DFC}"/>
              </a:ext>
            </a:extLst>
          </p:cNvPr>
          <p:cNvPicPr>
            <a:picLocks noChangeAspect="1"/>
          </p:cNvPicPr>
          <p:nvPr/>
        </p:nvPicPr>
        <p:blipFill>
          <a:blip r:embed="rId4"/>
          <a:stretch>
            <a:fillRect/>
          </a:stretch>
        </p:blipFill>
        <p:spPr>
          <a:xfrm>
            <a:off x="1151658" y="4645997"/>
            <a:ext cx="604895" cy="691799"/>
          </a:xfrm>
          <a:prstGeom prst="rect">
            <a:avLst/>
          </a:prstGeom>
        </p:spPr>
      </p:pic>
      <p:pic>
        <p:nvPicPr>
          <p:cNvPr id="34" name="Picture 33">
            <a:extLst>
              <a:ext uri="{FF2B5EF4-FFF2-40B4-BE49-F238E27FC236}">
                <a16:creationId xmlns:a16="http://schemas.microsoft.com/office/drawing/2014/main" id="{606459B4-830F-417C-AFC9-B8EF6DC0BD84}"/>
              </a:ext>
            </a:extLst>
          </p:cNvPr>
          <p:cNvPicPr>
            <a:picLocks noChangeAspect="1"/>
          </p:cNvPicPr>
          <p:nvPr/>
        </p:nvPicPr>
        <p:blipFill>
          <a:blip r:embed="rId5"/>
          <a:stretch>
            <a:fillRect/>
          </a:stretch>
        </p:blipFill>
        <p:spPr>
          <a:xfrm>
            <a:off x="2467268" y="4750168"/>
            <a:ext cx="693631" cy="693631"/>
          </a:xfrm>
          <a:prstGeom prst="rect">
            <a:avLst/>
          </a:prstGeom>
        </p:spPr>
      </p:pic>
      <p:pic>
        <p:nvPicPr>
          <p:cNvPr id="35" name="Picture 34">
            <a:extLst>
              <a:ext uri="{FF2B5EF4-FFF2-40B4-BE49-F238E27FC236}">
                <a16:creationId xmlns:a16="http://schemas.microsoft.com/office/drawing/2014/main" id="{1118758A-DE40-4CF7-84D8-564CB4E9F333}"/>
              </a:ext>
            </a:extLst>
          </p:cNvPr>
          <p:cNvPicPr>
            <a:picLocks noChangeAspect="1"/>
          </p:cNvPicPr>
          <p:nvPr/>
        </p:nvPicPr>
        <p:blipFill>
          <a:blip r:embed="rId6"/>
          <a:stretch>
            <a:fillRect/>
          </a:stretch>
        </p:blipFill>
        <p:spPr>
          <a:xfrm>
            <a:off x="6605941" y="4596584"/>
            <a:ext cx="561566" cy="947359"/>
          </a:xfrm>
          <a:prstGeom prst="rect">
            <a:avLst/>
          </a:prstGeom>
        </p:spPr>
      </p:pic>
      <p:pic>
        <p:nvPicPr>
          <p:cNvPr id="36" name="Picture 35">
            <a:extLst>
              <a:ext uri="{FF2B5EF4-FFF2-40B4-BE49-F238E27FC236}">
                <a16:creationId xmlns:a16="http://schemas.microsoft.com/office/drawing/2014/main" id="{11D3F5FB-B7D3-4A73-9356-E2D9F59F799A}"/>
              </a:ext>
            </a:extLst>
          </p:cNvPr>
          <p:cNvPicPr>
            <a:picLocks noChangeAspect="1"/>
          </p:cNvPicPr>
          <p:nvPr/>
        </p:nvPicPr>
        <p:blipFill>
          <a:blip r:embed="rId7"/>
          <a:stretch>
            <a:fillRect/>
          </a:stretch>
        </p:blipFill>
        <p:spPr>
          <a:xfrm>
            <a:off x="3725871" y="4725292"/>
            <a:ext cx="766462" cy="637239"/>
          </a:xfrm>
          <a:prstGeom prst="rect">
            <a:avLst/>
          </a:prstGeom>
        </p:spPr>
      </p:pic>
      <p:pic>
        <p:nvPicPr>
          <p:cNvPr id="37" name="Picture 36">
            <a:extLst>
              <a:ext uri="{FF2B5EF4-FFF2-40B4-BE49-F238E27FC236}">
                <a16:creationId xmlns:a16="http://schemas.microsoft.com/office/drawing/2014/main" id="{A381A1F1-D5F3-4BFB-8881-28F9F6373C79}"/>
              </a:ext>
            </a:extLst>
          </p:cNvPr>
          <p:cNvPicPr>
            <a:picLocks noChangeAspect="1"/>
          </p:cNvPicPr>
          <p:nvPr/>
        </p:nvPicPr>
        <p:blipFill>
          <a:blip r:embed="rId8"/>
          <a:stretch>
            <a:fillRect/>
          </a:stretch>
        </p:blipFill>
        <p:spPr>
          <a:xfrm>
            <a:off x="5196927" y="4670303"/>
            <a:ext cx="448127" cy="717241"/>
          </a:xfrm>
          <a:prstGeom prst="rect">
            <a:avLst/>
          </a:prstGeom>
        </p:spPr>
      </p:pic>
      <p:sp>
        <p:nvSpPr>
          <p:cNvPr id="38" name="TextBox 37">
            <a:extLst>
              <a:ext uri="{FF2B5EF4-FFF2-40B4-BE49-F238E27FC236}">
                <a16:creationId xmlns:a16="http://schemas.microsoft.com/office/drawing/2014/main" id="{EA0AAF84-49F4-425A-8A29-2833F57A1866}"/>
              </a:ext>
            </a:extLst>
          </p:cNvPr>
          <p:cNvSpPr txBox="1"/>
          <p:nvPr/>
        </p:nvSpPr>
        <p:spPr>
          <a:xfrm>
            <a:off x="525091" y="5982998"/>
            <a:ext cx="4130023"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gradFill>
                  <a:gsLst>
                    <a:gs pos="2917">
                      <a:srgbClr val="50E6FF"/>
                    </a:gs>
                    <a:gs pos="30000">
                      <a:srgbClr val="50E6FF"/>
                    </a:gs>
                  </a:gsLst>
                  <a:lin ang="5400000" scaled="0"/>
                </a:gradFill>
                <a:effectLst/>
                <a:uLnTx/>
                <a:uFillTx/>
                <a:latin typeface="Segoe UI"/>
                <a:ea typeface="+mn-ea"/>
                <a:cs typeface="+mn-cs"/>
                <a:hlinkClick r:id="rId9"/>
              </a:rPr>
              <a:t>https://aka.ms/architecture/framework</a:t>
            </a:r>
            <a:endParaRPr kumimoji="0" lang="en-US" sz="1400" b="0" i="0" u="none" strike="noStrike" kern="1200" cap="none" spc="0" normalizeH="0" baseline="0" noProof="0" dirty="0">
              <a:ln>
                <a:noFill/>
              </a:ln>
              <a:gradFill>
                <a:gsLst>
                  <a:gs pos="2917">
                    <a:srgbClr val="50E6FF"/>
                  </a:gs>
                  <a:gs pos="30000">
                    <a:srgbClr val="50E6FF"/>
                  </a:gs>
                </a:gsLst>
                <a:lin ang="5400000" scaled="0"/>
              </a:gradFill>
              <a:effectLst/>
              <a:uLnTx/>
              <a:uFillTx/>
              <a:latin typeface="Segoe UI"/>
              <a:ea typeface="+mn-ea"/>
              <a:cs typeface="+mn-cs"/>
            </a:endParaRPr>
          </a:p>
        </p:txBody>
      </p:sp>
      <p:sp>
        <p:nvSpPr>
          <p:cNvPr id="39" name="Oval 38">
            <a:extLst>
              <a:ext uri="{FF2B5EF4-FFF2-40B4-BE49-F238E27FC236}">
                <a16:creationId xmlns:a16="http://schemas.microsoft.com/office/drawing/2014/main" id="{A6B04106-4CEB-4246-A310-72AA01882E3F}"/>
              </a:ext>
            </a:extLst>
          </p:cNvPr>
          <p:cNvSpPr/>
          <p:nvPr/>
        </p:nvSpPr>
        <p:spPr>
          <a:xfrm>
            <a:off x="622708" y="3200401"/>
            <a:ext cx="1543849" cy="269930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55013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F728FE-B419-4C9D-B1CF-AAEAEAFC88B5}"/>
              </a:ext>
            </a:extLst>
          </p:cNvPr>
          <p:cNvSpPr>
            <a:spLocks noGrp="1"/>
          </p:cNvSpPr>
          <p:nvPr>
            <p:ph type="title"/>
          </p:nvPr>
        </p:nvSpPr>
        <p:spPr/>
        <p:txBody>
          <a:bodyPr/>
          <a:lstStyle/>
          <a:p>
            <a:r>
              <a:rPr lang="en-US" dirty="0"/>
              <a:t>Overview    </a:t>
            </a:r>
          </a:p>
        </p:txBody>
      </p:sp>
      <p:pic>
        <p:nvPicPr>
          <p:cNvPr id="48" name="Picture 47" descr="Large group in a conference room holding a meeting. Business attire.">
            <a:extLst>
              <a:ext uri="{FF2B5EF4-FFF2-40B4-BE49-F238E27FC236}">
                <a16:creationId xmlns:a16="http://schemas.microsoft.com/office/drawing/2014/main" id="{90C12141-17B0-4ADC-8CD6-EA99F78EDF53}"/>
              </a:ext>
            </a:extLst>
          </p:cNvPr>
          <p:cNvPicPr>
            <a:picLocks/>
          </p:cNvPicPr>
          <p:nvPr/>
        </p:nvPicPr>
        <p:blipFill rotWithShape="1">
          <a:blip r:embed="rId3">
            <a:extLst>
              <a:ext uri="{28A0092B-C50C-407E-A947-70E740481C1C}">
                <a14:useLocalDpi xmlns:a14="http://schemas.microsoft.com/office/drawing/2010/main" val="0"/>
              </a:ext>
            </a:extLst>
          </a:blip>
          <a:srcRect t="14212" b="60640"/>
          <a:stretch/>
        </p:blipFill>
        <p:spPr>
          <a:xfrm>
            <a:off x="-1" y="1239842"/>
            <a:ext cx="12192000" cy="2044018"/>
          </a:xfrm>
          <a:prstGeom prst="rect">
            <a:avLst/>
          </a:prstGeom>
        </p:spPr>
      </p:pic>
      <p:sp>
        <p:nvSpPr>
          <p:cNvPr id="31" name="Rectangle 30">
            <a:extLst>
              <a:ext uri="{FF2B5EF4-FFF2-40B4-BE49-F238E27FC236}">
                <a16:creationId xmlns:a16="http://schemas.microsoft.com/office/drawing/2014/main" id="{6B10B9A8-AD3A-4BD0-BE89-D7861F42CA19}"/>
              </a:ext>
              <a:ext uri="{C183D7F6-B498-43B3-948B-1728B52AA6E4}">
                <adec:decorative xmlns:adec="http://schemas.microsoft.com/office/drawing/2017/decorative" val="1"/>
              </a:ext>
            </a:extLst>
          </p:cNvPr>
          <p:cNvSpPr>
            <a:spLocks/>
          </p:cNvSpPr>
          <p:nvPr/>
        </p:nvSpPr>
        <p:spPr>
          <a:xfrm>
            <a:off x="571499" y="3575049"/>
            <a:ext cx="11049001" cy="2872569"/>
          </a:xfrm>
          <a:prstGeom prst="rect">
            <a:avLst/>
          </a:prstGeom>
          <a:noFill/>
          <a:ln w="3175">
            <a:solidFill>
              <a:schemeClr val="bg1">
                <a:lumMod val="85000"/>
              </a:schemeClr>
            </a:solidFill>
          </a:ln>
        </p:spPr>
        <p:txBody>
          <a:bodyPr wrap="square" lIns="137160" tIns="768096" rIns="137160" bIns="91440" anchor="t">
            <a:noAutofit/>
          </a:bodyPr>
          <a:lstStyle/>
          <a:p>
            <a:pPr marL="230188" marR="0" lvl="0" indent="-230188" algn="l" defTabSz="914192" rtl="0" eaLnBrk="1" fontAlgn="auto" latinLnBrk="0" hangingPunct="1">
              <a:lnSpc>
                <a:spcPct val="100000"/>
              </a:lnSpc>
              <a:spcBef>
                <a:spcPts val="300"/>
              </a:spcBef>
              <a:spcAft>
                <a:spcPts val="3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endParaRPr>
          </a:p>
        </p:txBody>
      </p:sp>
      <p:cxnSp>
        <p:nvCxnSpPr>
          <p:cNvPr id="32" name="Straight Connector 31">
            <a:extLst>
              <a:ext uri="{FF2B5EF4-FFF2-40B4-BE49-F238E27FC236}">
                <a16:creationId xmlns:a16="http://schemas.microsoft.com/office/drawing/2014/main" id="{50E367AE-2FB9-44C0-BEA8-B947D51ECCAF}"/>
              </a:ext>
              <a:ext uri="{C183D7F6-B498-43B3-948B-1728B52AA6E4}">
                <adec:decorative xmlns:adec="http://schemas.microsoft.com/office/drawing/2017/decorative" val="1"/>
              </a:ext>
            </a:extLst>
          </p:cNvPr>
          <p:cNvCxnSpPr>
            <a:cxnSpLocks/>
          </p:cNvCxnSpPr>
          <p:nvPr/>
        </p:nvCxnSpPr>
        <p:spPr>
          <a:xfrm>
            <a:off x="573086" y="4092591"/>
            <a:ext cx="0" cy="465121"/>
          </a:xfrm>
          <a:prstGeom prst="line">
            <a:avLst/>
          </a:prstGeom>
          <a:ln w="28575" cap="rnd">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0A70D2E6-54D1-43E9-B817-D05B4E4C4639}"/>
              </a:ext>
            </a:extLst>
          </p:cNvPr>
          <p:cNvSpPr>
            <a:spLocks/>
          </p:cNvSpPr>
          <p:nvPr/>
        </p:nvSpPr>
        <p:spPr>
          <a:xfrm>
            <a:off x="590550" y="3431287"/>
            <a:ext cx="11029950" cy="465121"/>
          </a:xfrm>
          <a:prstGeom prst="rect">
            <a:avLst/>
          </a:prstGeom>
          <a:solidFill>
            <a:schemeClr val="bg1">
              <a:lumMod val="95000"/>
            </a:schemeClr>
          </a:solidFill>
        </p:spPr>
        <p:txBody>
          <a:bodyPr wrap="square" lIns="219456" tIns="45720" rIns="91440" bIns="45720" anchor="ctr">
            <a:noAutofit/>
          </a:bodyPr>
          <a:lstStyle/>
          <a:p>
            <a:pPr algn="ctr" defTabSz="914192">
              <a:spcAft>
                <a:spcPts val="300"/>
              </a:spcAft>
              <a:defRPr/>
            </a:pPr>
            <a:r>
              <a:rPr lang="en-US" sz="2000" dirty="0">
                <a:solidFill>
                  <a:srgbClr val="243A5E"/>
                </a:solidFill>
                <a:latin typeface="Segoe Semibold"/>
                <a:cs typeface="Segoe UI Semibold"/>
              </a:rPr>
              <a:t> What is a Well-Architected cost optimization assessment?</a:t>
            </a:r>
          </a:p>
        </p:txBody>
      </p:sp>
      <p:grpSp>
        <p:nvGrpSpPr>
          <p:cNvPr id="34" name="Group 33" descr="Icon of a clipboard with a checklist on it">
            <a:extLst>
              <a:ext uri="{FF2B5EF4-FFF2-40B4-BE49-F238E27FC236}">
                <a16:creationId xmlns:a16="http://schemas.microsoft.com/office/drawing/2014/main" id="{4BDEBB1B-DDAA-4421-850F-574B427A0AFA}"/>
              </a:ext>
            </a:extLst>
          </p:cNvPr>
          <p:cNvGrpSpPr>
            <a:grpSpLocks/>
          </p:cNvGrpSpPr>
          <p:nvPr/>
        </p:nvGrpSpPr>
        <p:grpSpPr>
          <a:xfrm>
            <a:off x="10852203" y="3368142"/>
            <a:ext cx="558748" cy="558748"/>
            <a:chOff x="7039782" y="510655"/>
            <a:chExt cx="751672" cy="751672"/>
          </a:xfrm>
        </p:grpSpPr>
        <p:sp>
          <p:nvSpPr>
            <p:cNvPr id="35" name="Oval 34">
              <a:extLst>
                <a:ext uri="{FF2B5EF4-FFF2-40B4-BE49-F238E27FC236}">
                  <a16:creationId xmlns:a16="http://schemas.microsoft.com/office/drawing/2014/main" id="{CA66F34A-0A55-4BC6-AC55-1C5E496D661D}"/>
                </a:ext>
                <a:ext uri="{C183D7F6-B498-43B3-948B-1728B52AA6E4}">
                  <adec:decorative xmlns:adec="http://schemas.microsoft.com/office/drawing/2017/decorative" val="1"/>
                </a:ext>
              </a:extLst>
            </p:cNvPr>
            <p:cNvSpPr>
              <a:spLocks/>
            </p:cNvSpPr>
            <p:nvPr/>
          </p:nvSpPr>
          <p:spPr bwMode="auto">
            <a:xfrm>
              <a:off x="7039782" y="510655"/>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6" name="Trackers_EADF">
              <a:extLst>
                <a:ext uri="{FF2B5EF4-FFF2-40B4-BE49-F238E27FC236}">
                  <a16:creationId xmlns:a16="http://schemas.microsoft.com/office/drawing/2014/main" id="{BC4D1AAC-0F2A-402E-9D40-0D3DBB78CC16}"/>
                </a:ext>
                <a:ext uri="{C183D7F6-B498-43B3-948B-1728B52AA6E4}">
                  <adec:decorative xmlns:adec="http://schemas.microsoft.com/office/drawing/2017/decorative" val="1"/>
                </a:ext>
              </a:extLst>
            </p:cNvPr>
            <p:cNvSpPr>
              <a:spLocks noChangeAspect="1" noEditPoints="1"/>
            </p:cNvSpPr>
            <p:nvPr/>
          </p:nvSpPr>
          <p:spPr bwMode="auto">
            <a:xfrm>
              <a:off x="7263070" y="678484"/>
              <a:ext cx="305098" cy="416015"/>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37" name="Straight Connector 36">
            <a:extLst>
              <a:ext uri="{FF2B5EF4-FFF2-40B4-BE49-F238E27FC236}">
                <a16:creationId xmlns:a16="http://schemas.microsoft.com/office/drawing/2014/main" id="{83081B13-51DB-4B7E-999D-73B197D80AE5}"/>
              </a:ext>
              <a:ext uri="{C183D7F6-B498-43B3-948B-1728B52AA6E4}">
                <adec:decorative xmlns:adec="http://schemas.microsoft.com/office/drawing/2017/decorative" val="1"/>
              </a:ext>
            </a:extLst>
          </p:cNvPr>
          <p:cNvCxnSpPr>
            <a:cxnSpLocks/>
          </p:cNvCxnSpPr>
          <p:nvPr/>
        </p:nvCxnSpPr>
        <p:spPr>
          <a:xfrm>
            <a:off x="11620500" y="4092591"/>
            <a:ext cx="0" cy="465121"/>
          </a:xfrm>
          <a:prstGeom prst="line">
            <a:avLst/>
          </a:prstGeom>
          <a:ln w="28575" cap="rnd">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5B275E1-38DD-4894-A6A7-9CD9FE3F554C}"/>
              </a:ext>
            </a:extLst>
          </p:cNvPr>
          <p:cNvSpPr txBox="1">
            <a:spLocks/>
          </p:cNvSpPr>
          <p:nvPr/>
        </p:nvSpPr>
        <p:spPr>
          <a:xfrm>
            <a:off x="781047" y="3976845"/>
            <a:ext cx="10629904" cy="2462213"/>
          </a:xfrm>
          <a:prstGeom prst="rect">
            <a:avLst/>
          </a:prstGeom>
        </p:spPr>
        <p:txBody>
          <a:bodyPr wrap="square" lIns="0" tIns="0" rIns="0" bIns="0" anchor="t">
            <a:spAutoFit/>
          </a:bodyPr>
          <a:lstStyle/>
          <a:p>
            <a:pPr fontAlgn="base"/>
            <a:r>
              <a:rPr lang="en-US" sz="1600" dirty="0">
                <a:latin typeface="Segoe UI"/>
                <a:cs typeface="Segoe UI Semibold"/>
              </a:rPr>
              <a:t>The Well-Architected Cost Optimization Assessment assesses an Azure workload against the cost optimization pillar of the Microsoft Azure Well-Architected Framework.  </a:t>
            </a:r>
            <a:endParaRPr lang="en-US" dirty="0">
              <a:cs typeface="Segoe UI"/>
            </a:endParaRPr>
          </a:p>
          <a:p>
            <a:endParaRPr lang="en-US" sz="1600" dirty="0">
              <a:solidFill>
                <a:srgbClr val="000000"/>
              </a:solidFill>
              <a:latin typeface="Segoe UI"/>
              <a:cs typeface="Segoe UI Semibold"/>
            </a:endParaRPr>
          </a:p>
          <a:p>
            <a:pPr fontAlgn="base"/>
            <a:r>
              <a:rPr lang="en-US" sz="1600" dirty="0">
                <a:solidFill>
                  <a:srgbClr val="000000"/>
                </a:solidFill>
                <a:latin typeface="Segoe UI"/>
                <a:cs typeface="Segoe UI Semibold"/>
              </a:rPr>
              <a:t>This 2-day engagement c</a:t>
            </a:r>
            <a:r>
              <a:rPr lang="en-US" sz="1600" dirty="0">
                <a:solidFill>
                  <a:srgbClr val="000000"/>
                </a:solidFill>
                <a:latin typeface="Segoe UI"/>
                <a:cs typeface="Segoe UI"/>
              </a:rPr>
              <a:t>overs a range of technical topics from Compute, Data and Networking, but </a:t>
            </a:r>
            <a:r>
              <a:rPr lang="en-US" sz="1600" b="1" dirty="0">
                <a:solidFill>
                  <a:srgbClr val="000000"/>
                </a:solidFill>
                <a:latin typeface="Segoe UI"/>
                <a:cs typeface="Segoe UI"/>
              </a:rPr>
              <a:t>always through a focused </a:t>
            </a:r>
            <a:r>
              <a:rPr lang="en-US" sz="1600" b="1" i="1" dirty="0">
                <a:solidFill>
                  <a:srgbClr val="000000"/>
                </a:solidFill>
                <a:latin typeface="Segoe UI"/>
                <a:cs typeface="Segoe UI"/>
              </a:rPr>
              <a:t>cost optimization </a:t>
            </a:r>
            <a:r>
              <a:rPr lang="en-US" sz="1600" b="1" dirty="0">
                <a:solidFill>
                  <a:srgbClr val="000000"/>
                </a:solidFill>
                <a:latin typeface="Segoe UI"/>
                <a:cs typeface="Segoe UI"/>
              </a:rPr>
              <a:t>lens</a:t>
            </a:r>
            <a:endParaRPr lang="en-US" sz="1600" dirty="0">
              <a:solidFill>
                <a:srgbClr val="000000"/>
              </a:solidFill>
              <a:latin typeface="Segoe UI"/>
              <a:cs typeface="Segoe UI"/>
            </a:endParaRPr>
          </a:p>
          <a:p>
            <a:pPr marL="285750" indent="-285750">
              <a:buFont typeface="Arial"/>
              <a:buChar char="•"/>
            </a:pPr>
            <a:endParaRPr lang="en-US" sz="1600" b="1" dirty="0">
              <a:solidFill>
                <a:srgbClr val="000000"/>
              </a:solidFill>
              <a:latin typeface="Segoe UI"/>
              <a:cs typeface="Segoe UI"/>
            </a:endParaRPr>
          </a:p>
          <a:p>
            <a:r>
              <a:rPr lang="en-US" sz="1600" dirty="0">
                <a:solidFill>
                  <a:srgbClr val="000000"/>
                </a:solidFill>
                <a:latin typeface="Segoe UI"/>
                <a:cs typeface="Segoe UI Semibold"/>
              </a:rPr>
              <a:t>As part of this delivery there will be an </a:t>
            </a:r>
            <a:r>
              <a:rPr lang="en-US" sz="1600" b="1" dirty="0">
                <a:solidFill>
                  <a:srgbClr val="000000"/>
                </a:solidFill>
                <a:latin typeface="Segoe UI"/>
                <a:cs typeface="Segoe UI"/>
              </a:rPr>
              <a:t>end-to-end</a:t>
            </a:r>
            <a:r>
              <a:rPr lang="en-US" sz="1600" b="1" dirty="0">
                <a:ea typeface="+mn-lt"/>
                <a:cs typeface="+mn-lt"/>
              </a:rPr>
              <a:t> review of an existing application or proposed design</a:t>
            </a:r>
            <a:r>
              <a:rPr lang="en-US" sz="1600" dirty="0">
                <a:ea typeface="+mn-lt"/>
                <a:cs typeface="+mn-lt"/>
              </a:rPr>
              <a:t>, to identify critical cost optimizations opportunities. </a:t>
            </a:r>
          </a:p>
          <a:p>
            <a:pPr rtl="0" fontAlgn="base"/>
            <a:r>
              <a:rPr lang="en-US" sz="1600" dirty="0">
                <a:solidFill>
                  <a:srgbClr val="000000"/>
                </a:solidFill>
                <a:latin typeface="Segoe UI"/>
                <a:cs typeface="Segoe UI Semibold" panose="020B0702040204020203" pitchFamily="34" charset="0"/>
              </a:rPr>
              <a:t>​</a:t>
            </a:r>
          </a:p>
          <a:p>
            <a:pPr algn="l" rtl="0" fontAlgn="base"/>
            <a:r>
              <a:rPr lang="en-US" sz="1600" dirty="0">
                <a:solidFill>
                  <a:srgbClr val="000000"/>
                </a:solidFill>
                <a:latin typeface="Segoe UI"/>
                <a:cs typeface="Segoe UI Semibold"/>
              </a:rPr>
              <a:t>The deliverables include a final report with findings and suggestions.​</a:t>
            </a:r>
          </a:p>
        </p:txBody>
      </p:sp>
      <p:sp>
        <p:nvSpPr>
          <p:cNvPr id="15" name="Footer Placeholder 4">
            <a:extLst>
              <a:ext uri="{FF2B5EF4-FFF2-40B4-BE49-F238E27FC236}">
                <a16:creationId xmlns:a16="http://schemas.microsoft.com/office/drawing/2014/main" id="{E7BE3D62-20D0-458E-B758-B3C53026AE6A}"/>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1570F0A1-8996-495A-A0EE-439E0576E050}"/>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06392405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EAF5D-C526-42F5-9476-DED5FA646BCA}"/>
              </a:ext>
            </a:extLst>
          </p:cNvPr>
          <p:cNvSpPr>
            <a:spLocks noGrp="1"/>
          </p:cNvSpPr>
          <p:nvPr>
            <p:ph type="title"/>
          </p:nvPr>
        </p:nvSpPr>
        <p:spPr/>
        <p:txBody>
          <a:bodyPr/>
          <a:lstStyle/>
          <a:p>
            <a:r>
              <a:rPr lang="en-US" dirty="0"/>
              <a:t>Engagement Agenda</a:t>
            </a:r>
          </a:p>
        </p:txBody>
      </p:sp>
      <p:sp>
        <p:nvSpPr>
          <p:cNvPr id="5" name="Text Placeholder 4">
            <a:extLst>
              <a:ext uri="{FF2B5EF4-FFF2-40B4-BE49-F238E27FC236}">
                <a16:creationId xmlns:a16="http://schemas.microsoft.com/office/drawing/2014/main" id="{CDFD4728-F4AF-4537-8291-090433BD1E45}"/>
              </a:ext>
            </a:extLst>
          </p:cNvPr>
          <p:cNvSpPr>
            <a:spLocks noGrp="1"/>
          </p:cNvSpPr>
          <p:nvPr>
            <p:ph type="body" sz="quarter" idx="12"/>
          </p:nvPr>
        </p:nvSpPr>
        <p:spPr>
          <a:xfrm>
            <a:off x="582042" y="5634620"/>
            <a:ext cx="7227572" cy="338554"/>
          </a:xfrm>
        </p:spPr>
        <p:txBody>
          <a:bodyPr/>
          <a:lstStyle/>
          <a:p>
            <a:r>
              <a:rPr lang="en-US" dirty="0"/>
              <a:t>Engagement Approach</a:t>
            </a:r>
          </a:p>
        </p:txBody>
      </p:sp>
      <p:sp>
        <p:nvSpPr>
          <p:cNvPr id="6" name="Footer Placeholder 5">
            <a:extLst>
              <a:ext uri="{FF2B5EF4-FFF2-40B4-BE49-F238E27FC236}">
                <a16:creationId xmlns:a16="http://schemas.microsoft.com/office/drawing/2014/main" id="{68A86066-1859-4C48-9A5D-B10F74530B8F}"/>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7" name="Slide Number Placeholder 6">
            <a:extLst>
              <a:ext uri="{FF2B5EF4-FFF2-40B4-BE49-F238E27FC236}">
                <a16:creationId xmlns:a16="http://schemas.microsoft.com/office/drawing/2014/main" id="{8264A21C-0D66-47D3-A056-D92A6776035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25016794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7BF15BD-001C-49B3-9A01-B39DEDA47564}"/>
              </a:ext>
            </a:extLst>
          </p:cNvPr>
          <p:cNvSpPr>
            <a:spLocks noGrp="1"/>
          </p:cNvSpPr>
          <p:nvPr>
            <p:ph type="title"/>
          </p:nvPr>
        </p:nvSpPr>
        <p:spPr/>
        <p:txBody>
          <a:bodyPr/>
          <a:lstStyle/>
          <a:p>
            <a:r>
              <a:rPr lang="en-US" dirty="0"/>
              <a:t>What will be Assessed?   </a:t>
            </a:r>
          </a:p>
        </p:txBody>
      </p:sp>
      <p:grpSp>
        <p:nvGrpSpPr>
          <p:cNvPr id="39" name="Group 38">
            <a:extLst>
              <a:ext uri="{FF2B5EF4-FFF2-40B4-BE49-F238E27FC236}">
                <a16:creationId xmlns:a16="http://schemas.microsoft.com/office/drawing/2014/main" id="{D67BDDD0-EED9-4010-8A99-4B960D8A7859}"/>
              </a:ext>
              <a:ext uri="{C183D7F6-B498-43B3-948B-1728B52AA6E4}">
                <adec:decorative xmlns:adec="http://schemas.microsoft.com/office/drawing/2017/decorative" val="1"/>
              </a:ext>
            </a:extLst>
          </p:cNvPr>
          <p:cNvGrpSpPr/>
          <p:nvPr/>
        </p:nvGrpSpPr>
        <p:grpSpPr>
          <a:xfrm>
            <a:off x="0" y="1871663"/>
            <a:ext cx="10067636" cy="4219831"/>
            <a:chOff x="0" y="2327963"/>
            <a:chExt cx="7200900" cy="3763531"/>
          </a:xfrm>
        </p:grpSpPr>
        <p:grpSp>
          <p:nvGrpSpPr>
            <p:cNvPr id="40" name="Group 39">
              <a:extLst>
                <a:ext uri="{FF2B5EF4-FFF2-40B4-BE49-F238E27FC236}">
                  <a16:creationId xmlns:a16="http://schemas.microsoft.com/office/drawing/2014/main" id="{609C295D-4794-4E4E-BCDD-7957595E243D}"/>
                </a:ext>
                <a:ext uri="{C183D7F6-B498-43B3-948B-1728B52AA6E4}">
                  <adec:decorative xmlns:adec="http://schemas.microsoft.com/office/drawing/2017/decorative" val="1"/>
                </a:ext>
              </a:extLst>
            </p:cNvPr>
            <p:cNvGrpSpPr/>
            <p:nvPr/>
          </p:nvGrpSpPr>
          <p:grpSpPr>
            <a:xfrm>
              <a:off x="0" y="2327963"/>
              <a:ext cx="7151367" cy="3763531"/>
              <a:chOff x="0" y="2327963"/>
              <a:chExt cx="7151367" cy="3763531"/>
            </a:xfrm>
          </p:grpSpPr>
          <p:sp>
            <p:nvSpPr>
              <p:cNvPr id="42" name="Rectangle 39">
                <a:extLst>
                  <a:ext uri="{FF2B5EF4-FFF2-40B4-BE49-F238E27FC236}">
                    <a16:creationId xmlns:a16="http://schemas.microsoft.com/office/drawing/2014/main" id="{07F88047-05FE-4BF6-A97A-0FA2B014B4B4}"/>
                  </a:ext>
                  <a:ext uri="{C183D7F6-B498-43B3-948B-1728B52AA6E4}">
                    <adec:decorative xmlns:adec="http://schemas.microsoft.com/office/drawing/2017/decorative" val="1"/>
                  </a:ext>
                </a:extLst>
              </p:cNvPr>
              <p:cNvSpPr/>
              <p:nvPr/>
            </p:nvSpPr>
            <p:spPr bwMode="auto">
              <a:xfrm>
                <a:off x="571500" y="2327963"/>
                <a:ext cx="6579867" cy="3763531"/>
              </a:xfrm>
              <a:custGeom>
                <a:avLst/>
                <a:gdLst>
                  <a:gd name="connsiteX0" fmla="*/ 0 w 5857875"/>
                  <a:gd name="connsiteY0" fmla="*/ 0 h 4110038"/>
                  <a:gd name="connsiteX1" fmla="*/ 5857875 w 5857875"/>
                  <a:gd name="connsiteY1" fmla="*/ 0 h 4110038"/>
                  <a:gd name="connsiteX2" fmla="*/ 5857875 w 5857875"/>
                  <a:gd name="connsiteY2" fmla="*/ 4110038 h 4110038"/>
                  <a:gd name="connsiteX3" fmla="*/ 0 w 5857875"/>
                  <a:gd name="connsiteY3" fmla="*/ 4110038 h 4110038"/>
                  <a:gd name="connsiteX4" fmla="*/ 0 w 5857875"/>
                  <a:gd name="connsiteY4" fmla="*/ 0 h 4110038"/>
                  <a:gd name="connsiteX0" fmla="*/ 0 w 5857875"/>
                  <a:gd name="connsiteY0" fmla="*/ 4110038 h 4201478"/>
                  <a:gd name="connsiteX1" fmla="*/ 0 w 5857875"/>
                  <a:gd name="connsiteY1" fmla="*/ 0 h 4201478"/>
                  <a:gd name="connsiteX2" fmla="*/ 5857875 w 5857875"/>
                  <a:gd name="connsiteY2" fmla="*/ 0 h 4201478"/>
                  <a:gd name="connsiteX3" fmla="*/ 5857875 w 5857875"/>
                  <a:gd name="connsiteY3" fmla="*/ 4110038 h 4201478"/>
                  <a:gd name="connsiteX4" fmla="*/ 91440 w 5857875"/>
                  <a:gd name="connsiteY4" fmla="*/ 4201478 h 4201478"/>
                  <a:gd name="connsiteX0" fmla="*/ 0 w 5857875"/>
                  <a:gd name="connsiteY0" fmla="*/ 4110038 h 4110038"/>
                  <a:gd name="connsiteX1" fmla="*/ 0 w 5857875"/>
                  <a:gd name="connsiteY1" fmla="*/ 0 h 4110038"/>
                  <a:gd name="connsiteX2" fmla="*/ 5857875 w 5857875"/>
                  <a:gd name="connsiteY2" fmla="*/ 0 h 4110038"/>
                  <a:gd name="connsiteX3" fmla="*/ 5857875 w 5857875"/>
                  <a:gd name="connsiteY3" fmla="*/ 4110038 h 4110038"/>
                  <a:gd name="connsiteX0" fmla="*/ 0 w 5857875"/>
                  <a:gd name="connsiteY0" fmla="*/ 4110038 h 4110038"/>
                  <a:gd name="connsiteX1" fmla="*/ 0 w 5857875"/>
                  <a:gd name="connsiteY1" fmla="*/ 0 h 4110038"/>
                  <a:gd name="connsiteX2" fmla="*/ 5857875 w 5857875"/>
                  <a:gd name="connsiteY2" fmla="*/ 0 h 4110038"/>
                </a:gdLst>
                <a:ahLst/>
                <a:cxnLst>
                  <a:cxn ang="0">
                    <a:pos x="connsiteX0" y="connsiteY0"/>
                  </a:cxn>
                  <a:cxn ang="0">
                    <a:pos x="connsiteX1" y="connsiteY1"/>
                  </a:cxn>
                  <a:cxn ang="0">
                    <a:pos x="connsiteX2" y="connsiteY2"/>
                  </a:cxn>
                </a:cxnLst>
                <a:rect l="l" t="t" r="r" b="b"/>
                <a:pathLst>
                  <a:path w="5857875" h="4110038">
                    <a:moveTo>
                      <a:pt x="0" y="4110038"/>
                    </a:moveTo>
                    <a:lnTo>
                      <a:pt x="0" y="0"/>
                    </a:lnTo>
                    <a:lnTo>
                      <a:pt x="5857875" y="0"/>
                    </a:lnTo>
                  </a:path>
                </a:pathLst>
              </a:custGeom>
              <a:no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43" name="Straight Connector 42">
                <a:extLst>
                  <a:ext uri="{FF2B5EF4-FFF2-40B4-BE49-F238E27FC236}">
                    <a16:creationId xmlns:a16="http://schemas.microsoft.com/office/drawing/2014/main" id="{622B023F-9F17-4799-8320-3D6EB4B7EE80}"/>
                  </a:ext>
                </a:extLst>
              </p:cNvPr>
              <p:cNvCxnSpPr>
                <a:cxnSpLocks/>
              </p:cNvCxnSpPr>
              <p:nvPr/>
            </p:nvCxnSpPr>
            <p:spPr>
              <a:xfrm flipH="1">
                <a:off x="0" y="6091494"/>
                <a:ext cx="571501" cy="0"/>
              </a:xfrm>
              <a:prstGeom prst="line">
                <a:avLst/>
              </a:prstGeom>
              <a:no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cxnSp>
          <p:nvCxnSpPr>
            <p:cNvPr id="41" name="Straight Connector 40">
              <a:extLst>
                <a:ext uri="{FF2B5EF4-FFF2-40B4-BE49-F238E27FC236}">
                  <a16:creationId xmlns:a16="http://schemas.microsoft.com/office/drawing/2014/main" id="{34A166FE-82FA-443D-96AF-F8AF867CD760}"/>
                </a:ext>
              </a:extLst>
            </p:cNvPr>
            <p:cNvCxnSpPr>
              <a:cxnSpLocks/>
            </p:cNvCxnSpPr>
            <p:nvPr/>
          </p:nvCxnSpPr>
          <p:spPr>
            <a:xfrm>
              <a:off x="6624317" y="2327963"/>
              <a:ext cx="576583" cy="0"/>
            </a:xfrm>
            <a:prstGeom prst="line">
              <a:avLst/>
            </a:prstGeom>
            <a:ln w="38100"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61B02E5A-4CA1-4988-BF10-5E9445720575}"/>
              </a:ext>
            </a:extLst>
          </p:cNvPr>
          <p:cNvGrpSpPr/>
          <p:nvPr/>
        </p:nvGrpSpPr>
        <p:grpSpPr>
          <a:xfrm>
            <a:off x="571500" y="2213847"/>
            <a:ext cx="9654402" cy="707886"/>
            <a:chOff x="571500" y="2543421"/>
            <a:chExt cx="9654402" cy="707886"/>
          </a:xfrm>
        </p:grpSpPr>
        <p:grpSp>
          <p:nvGrpSpPr>
            <p:cNvPr id="45" name="Group 44">
              <a:extLst>
                <a:ext uri="{FF2B5EF4-FFF2-40B4-BE49-F238E27FC236}">
                  <a16:creationId xmlns:a16="http://schemas.microsoft.com/office/drawing/2014/main" id="{7A9D542B-7A61-4A80-AD46-047C7528A918}"/>
                </a:ext>
                <a:ext uri="{C183D7F6-B498-43B3-948B-1728B52AA6E4}">
                  <adec:decorative xmlns:adec="http://schemas.microsoft.com/office/drawing/2017/decorative" val="1"/>
                </a:ext>
              </a:extLst>
            </p:cNvPr>
            <p:cNvGrpSpPr/>
            <p:nvPr/>
          </p:nvGrpSpPr>
          <p:grpSpPr>
            <a:xfrm>
              <a:off x="571500" y="2543421"/>
              <a:ext cx="678180" cy="707886"/>
              <a:chOff x="571500" y="2928961"/>
              <a:chExt cx="678180" cy="707886"/>
            </a:xfrm>
          </p:grpSpPr>
          <p:sp>
            <p:nvSpPr>
              <p:cNvPr id="50" name="Rectangle 49">
                <a:extLst>
                  <a:ext uri="{FF2B5EF4-FFF2-40B4-BE49-F238E27FC236}">
                    <a16:creationId xmlns:a16="http://schemas.microsoft.com/office/drawing/2014/main" id="{0B7E0E0D-DCB4-45F1-A422-2865AD67BB58}"/>
                  </a:ext>
                </a:extLst>
              </p:cNvPr>
              <p:cNvSpPr/>
              <p:nvPr/>
            </p:nvSpPr>
            <p:spPr bwMode="auto">
              <a:xfrm>
                <a:off x="571500" y="2928961"/>
                <a:ext cx="678180" cy="70788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51" name="Straight Connector 50">
                <a:extLst>
                  <a:ext uri="{FF2B5EF4-FFF2-40B4-BE49-F238E27FC236}">
                    <a16:creationId xmlns:a16="http://schemas.microsoft.com/office/drawing/2014/main" id="{74FC5EFE-2CB8-47A1-9B4B-96922B786461}"/>
                  </a:ext>
                </a:extLst>
              </p:cNvPr>
              <p:cNvCxnSpPr>
                <a:cxnSpLocks/>
              </p:cNvCxnSpPr>
              <p:nvPr/>
            </p:nvCxnSpPr>
            <p:spPr>
              <a:xfrm>
                <a:off x="571500" y="2928961"/>
                <a:ext cx="0" cy="707886"/>
              </a:xfrm>
              <a:prstGeom prst="line">
                <a:avLst/>
              </a:prstGeom>
              <a:ln w="38100"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78278A7A-F0A2-4CEF-A227-C20025DDB104}"/>
                </a:ext>
              </a:extLst>
            </p:cNvPr>
            <p:cNvSpPr/>
            <p:nvPr/>
          </p:nvSpPr>
          <p:spPr>
            <a:xfrm>
              <a:off x="1510197" y="2543421"/>
              <a:ext cx="8715705" cy="707886"/>
            </a:xfrm>
            <a:prstGeom prst="rect">
              <a:avLst/>
            </a:prstGeom>
            <a:noFill/>
          </p:spPr>
          <p:txBody>
            <a:bodyPr wrap="square" lIns="0" tIns="45720" rIns="0" bIns="4572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49" normalizeH="0" baseline="0" noProof="0" dirty="0">
                  <a:ln>
                    <a:noFill/>
                  </a:ln>
                  <a:effectLst/>
                  <a:uLnTx/>
                  <a:uFillTx/>
                  <a:latin typeface="Segoe UI"/>
                  <a:ea typeface="+mn-ea"/>
                  <a:cs typeface="+mn-cs"/>
                </a:rPr>
                <a:t>Delivery Scope</a:t>
              </a:r>
            </a:p>
            <a:p>
              <a:pPr marL="285115" indent="-285750">
                <a:buFont typeface="Arial" panose="020B0604020202020204" pitchFamily="34" charset="0"/>
                <a:buChar char="•"/>
                <a:defRPr/>
              </a:pPr>
              <a:r>
                <a:rPr lang="en-US" sz="1600" dirty="0">
                  <a:latin typeface="Segoe UI"/>
                  <a:cs typeface="Segoe UI"/>
                </a:rPr>
                <a:t>One production state workload. </a:t>
              </a:r>
              <a:endParaRPr lang="en-US" sz="1600" dirty="0">
                <a:latin typeface="Calibri"/>
                <a:cs typeface="Calibri"/>
              </a:endParaRPr>
            </a:p>
            <a:p>
              <a:pPr marL="1199515" lvl="1" indent="-285750">
                <a:buFont typeface="Arial" panose="020B0604020202020204" pitchFamily="34" charset="0"/>
                <a:buChar char="•"/>
                <a:defRPr/>
              </a:pPr>
              <a:r>
                <a:rPr lang="en-US" sz="1400" dirty="0">
                  <a:latin typeface="Segoe UI"/>
                  <a:cs typeface="Segoe UI"/>
                </a:rPr>
                <a:t>A customer workload is a collection of assets (infrastructure, applications, and data) that supports a common business goal or the execution of a common business process.</a:t>
              </a:r>
              <a:endParaRPr lang="en-US" sz="1600" dirty="0">
                <a:latin typeface="Segoe UI"/>
                <a:cs typeface="Segoe UI"/>
              </a:endParaRPr>
            </a:p>
            <a:p>
              <a:pPr marL="285115" indent="-285750">
                <a:buFont typeface="Arial" panose="020B0604020202020204" pitchFamily="34" charset="0"/>
                <a:buChar char="•"/>
                <a:defRPr/>
              </a:pPr>
              <a:endParaRPr lang="en-US" sz="1600" b="0" i="0" u="none" strike="noStrike" kern="1200" cap="none" spc="0" normalizeH="0" baseline="0" noProof="0" dirty="0">
                <a:ln>
                  <a:noFill/>
                </a:ln>
                <a:effectLst/>
                <a:uLnTx/>
                <a:uFillTx/>
                <a:latin typeface="Segoe UI"/>
                <a:cs typeface="Segoe UI"/>
              </a:endParaRPr>
            </a:p>
          </p:txBody>
        </p:sp>
      </p:grpSp>
      <p:cxnSp>
        <p:nvCxnSpPr>
          <p:cNvPr id="52" name="Straight Connector 51">
            <a:extLst>
              <a:ext uri="{FF2B5EF4-FFF2-40B4-BE49-F238E27FC236}">
                <a16:creationId xmlns:a16="http://schemas.microsoft.com/office/drawing/2014/main" id="{095AB948-2AC4-4680-BEBE-E5DD7C553EA0}"/>
              </a:ext>
              <a:ext uri="{C183D7F6-B498-43B3-948B-1728B52AA6E4}">
                <adec:decorative xmlns:adec="http://schemas.microsoft.com/office/drawing/2017/decorative" val="1"/>
              </a:ext>
            </a:extLst>
          </p:cNvPr>
          <p:cNvCxnSpPr>
            <a:cxnSpLocks/>
          </p:cNvCxnSpPr>
          <p:nvPr/>
        </p:nvCxnSpPr>
        <p:spPr>
          <a:xfrm>
            <a:off x="1510198" y="3266690"/>
            <a:ext cx="5641173"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3333EF47-8C1B-44E6-9CA8-580B353BFAD7}"/>
              </a:ext>
            </a:extLst>
          </p:cNvPr>
          <p:cNvGrpSpPr/>
          <p:nvPr/>
        </p:nvGrpSpPr>
        <p:grpSpPr>
          <a:xfrm>
            <a:off x="571500" y="3611647"/>
            <a:ext cx="9496136" cy="707886"/>
            <a:chOff x="571500" y="3776433"/>
            <a:chExt cx="9496136" cy="707886"/>
          </a:xfrm>
        </p:grpSpPr>
        <p:grpSp>
          <p:nvGrpSpPr>
            <p:cNvPr id="54" name="Group 53">
              <a:extLst>
                <a:ext uri="{FF2B5EF4-FFF2-40B4-BE49-F238E27FC236}">
                  <a16:creationId xmlns:a16="http://schemas.microsoft.com/office/drawing/2014/main" id="{C6A7D3ED-B1DB-4C3E-AE52-AB8975E7A7E9}"/>
                </a:ext>
                <a:ext uri="{C183D7F6-B498-43B3-948B-1728B52AA6E4}">
                  <adec:decorative xmlns:adec="http://schemas.microsoft.com/office/drawing/2017/decorative" val="1"/>
                </a:ext>
              </a:extLst>
            </p:cNvPr>
            <p:cNvGrpSpPr/>
            <p:nvPr/>
          </p:nvGrpSpPr>
          <p:grpSpPr>
            <a:xfrm>
              <a:off x="571500" y="3776433"/>
              <a:ext cx="678180" cy="707886"/>
              <a:chOff x="571500" y="3926053"/>
              <a:chExt cx="678180" cy="707886"/>
            </a:xfrm>
          </p:grpSpPr>
          <p:sp>
            <p:nvSpPr>
              <p:cNvPr id="59" name="Rectangle 58">
                <a:extLst>
                  <a:ext uri="{FF2B5EF4-FFF2-40B4-BE49-F238E27FC236}">
                    <a16:creationId xmlns:a16="http://schemas.microsoft.com/office/drawing/2014/main" id="{4B6416E3-37EA-4DF7-8B83-2676D6FD73A0}"/>
                  </a:ext>
                </a:extLst>
              </p:cNvPr>
              <p:cNvSpPr/>
              <p:nvPr/>
            </p:nvSpPr>
            <p:spPr bwMode="auto">
              <a:xfrm>
                <a:off x="571500" y="3926053"/>
                <a:ext cx="678180" cy="70788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cxnSp>
            <p:nvCxnSpPr>
              <p:cNvPr id="60" name="Straight Connector 59">
                <a:extLst>
                  <a:ext uri="{FF2B5EF4-FFF2-40B4-BE49-F238E27FC236}">
                    <a16:creationId xmlns:a16="http://schemas.microsoft.com/office/drawing/2014/main" id="{13D350EF-4188-48F6-97D4-2CB1048520A6}"/>
                  </a:ext>
                </a:extLst>
              </p:cNvPr>
              <p:cNvCxnSpPr>
                <a:cxnSpLocks/>
              </p:cNvCxnSpPr>
              <p:nvPr/>
            </p:nvCxnSpPr>
            <p:spPr>
              <a:xfrm>
                <a:off x="571500" y="3926053"/>
                <a:ext cx="0" cy="707886"/>
              </a:xfrm>
              <a:prstGeom prst="line">
                <a:avLst/>
              </a:prstGeom>
              <a:ln w="38100"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8" name="Lock">
              <a:extLst>
                <a:ext uri="{FF2B5EF4-FFF2-40B4-BE49-F238E27FC236}">
                  <a16:creationId xmlns:a16="http://schemas.microsoft.com/office/drawing/2014/main" id="{35F42168-6E55-4898-9ED9-F776563E36F0}"/>
                </a:ext>
                <a:ext uri="{C183D7F6-B498-43B3-948B-1728B52AA6E4}">
                  <adec:decorative xmlns:adec="http://schemas.microsoft.com/office/drawing/2017/decorative" val="1"/>
                </a:ext>
              </a:extLst>
            </p:cNvPr>
            <p:cNvSpPr>
              <a:spLocks noChangeAspect="1" noEditPoints="1"/>
            </p:cNvSpPr>
            <p:nvPr/>
          </p:nvSpPr>
          <p:spPr bwMode="auto">
            <a:xfrm>
              <a:off x="827940" y="4014860"/>
              <a:ext cx="165300" cy="231033"/>
            </a:xfrm>
            <a:custGeom>
              <a:avLst/>
              <a:gdLst>
                <a:gd name="T0" fmla="*/ 239 w 239"/>
                <a:gd name="T1" fmla="*/ 335 h 335"/>
                <a:gd name="T2" fmla="*/ 0 w 239"/>
                <a:gd name="T3" fmla="*/ 335 h 335"/>
                <a:gd name="T4" fmla="*/ 0 w 239"/>
                <a:gd name="T5" fmla="*/ 157 h 335"/>
                <a:gd name="T6" fmla="*/ 239 w 239"/>
                <a:gd name="T7" fmla="*/ 157 h 335"/>
                <a:gd name="T8" fmla="*/ 239 w 239"/>
                <a:gd name="T9" fmla="*/ 335 h 335"/>
                <a:gd name="T10" fmla="*/ 196 w 239"/>
                <a:gd name="T11" fmla="*/ 157 h 335"/>
                <a:gd name="T12" fmla="*/ 196 w 239"/>
                <a:gd name="T13" fmla="*/ 75 h 335"/>
                <a:gd name="T14" fmla="*/ 121 w 239"/>
                <a:gd name="T15" fmla="*/ 0 h 335"/>
                <a:gd name="T16" fmla="*/ 46 w 239"/>
                <a:gd name="T17" fmla="*/ 75 h 335"/>
                <a:gd name="T18" fmla="*/ 46 w 239"/>
                <a:gd name="T19" fmla="*/ 15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9" h="335">
                  <a:moveTo>
                    <a:pt x="239" y="335"/>
                  </a:moveTo>
                  <a:cubicBezTo>
                    <a:pt x="0" y="335"/>
                    <a:pt x="0" y="335"/>
                    <a:pt x="0" y="335"/>
                  </a:cubicBezTo>
                  <a:cubicBezTo>
                    <a:pt x="0" y="157"/>
                    <a:pt x="0" y="157"/>
                    <a:pt x="0" y="157"/>
                  </a:cubicBezTo>
                  <a:cubicBezTo>
                    <a:pt x="239" y="157"/>
                    <a:pt x="239" y="157"/>
                    <a:pt x="239" y="157"/>
                  </a:cubicBezTo>
                  <a:lnTo>
                    <a:pt x="239" y="335"/>
                  </a:lnTo>
                  <a:close/>
                  <a:moveTo>
                    <a:pt x="196" y="157"/>
                  </a:moveTo>
                  <a:cubicBezTo>
                    <a:pt x="196" y="75"/>
                    <a:pt x="196" y="75"/>
                    <a:pt x="196" y="75"/>
                  </a:cubicBezTo>
                  <a:cubicBezTo>
                    <a:pt x="196" y="34"/>
                    <a:pt x="163" y="0"/>
                    <a:pt x="121" y="0"/>
                  </a:cubicBezTo>
                  <a:cubicBezTo>
                    <a:pt x="79" y="0"/>
                    <a:pt x="46" y="34"/>
                    <a:pt x="46" y="75"/>
                  </a:cubicBezTo>
                  <a:cubicBezTo>
                    <a:pt x="46" y="157"/>
                    <a:pt x="46" y="157"/>
                    <a:pt x="46" y="157"/>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914367">
                <a:defRPr/>
              </a:pPr>
              <a:endParaRPr lang="en-US" sz="1765">
                <a:solidFill>
                  <a:prstClr val="black"/>
                </a:solidFill>
                <a:latin typeface="Calibri" panose="020F0502020204030204"/>
              </a:endParaRPr>
            </a:p>
          </p:txBody>
        </p:sp>
        <p:sp>
          <p:nvSpPr>
            <p:cNvPr id="56" name="Rectangle 55">
              <a:extLst>
                <a:ext uri="{FF2B5EF4-FFF2-40B4-BE49-F238E27FC236}">
                  <a16:creationId xmlns:a16="http://schemas.microsoft.com/office/drawing/2014/main" id="{4BE77BAC-DC22-42CD-9EE7-A2449D045029}"/>
                </a:ext>
              </a:extLst>
            </p:cNvPr>
            <p:cNvSpPr/>
            <p:nvPr/>
          </p:nvSpPr>
          <p:spPr>
            <a:xfrm>
              <a:off x="1510197" y="3776433"/>
              <a:ext cx="8557439" cy="707886"/>
            </a:xfrm>
            <a:prstGeom prst="rect">
              <a:avLst/>
            </a:prstGeom>
            <a:noFill/>
          </p:spPr>
          <p:txBody>
            <a:bodyPr wrap="square" lIns="0" tIns="45720" rIns="0" bIns="4572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49" normalizeH="0" baseline="0" noProof="0" dirty="0">
                  <a:ln>
                    <a:noFill/>
                  </a:ln>
                  <a:effectLst/>
                  <a:uLnTx/>
                  <a:uFillTx/>
                  <a:latin typeface="Segoe UI"/>
                  <a:ea typeface="+mn-ea"/>
                  <a:cs typeface="+mn-cs"/>
                </a:rPr>
                <a:t>Delivery flow</a:t>
              </a:r>
            </a:p>
            <a:p>
              <a:pPr>
                <a:defRPr/>
              </a:pPr>
              <a:r>
                <a:rPr kumimoji="0" lang="en-US" sz="1600" b="0" i="0" u="none" strike="noStrike" kern="1200" cap="none" spc="0" normalizeH="0" baseline="0" noProof="0" dirty="0">
                  <a:ln>
                    <a:noFill/>
                  </a:ln>
                  <a:effectLst/>
                  <a:uLnTx/>
                  <a:uFillTx/>
                  <a:latin typeface="Segoe UI"/>
                  <a:ea typeface="+mn-ea"/>
                  <a:cs typeface="+mn-cs"/>
                </a:rPr>
                <a:t>Discovery</a:t>
              </a:r>
              <a:r>
                <a:rPr lang="en-US" sz="1600" spc="-49" dirty="0">
                  <a:latin typeface="Segoe UI"/>
                </a:rPr>
                <a:t> from the workload in scope to </a:t>
              </a:r>
              <a:r>
                <a:rPr lang="en-US" sz="1600" dirty="0">
                  <a:latin typeface="Segoe UI"/>
                </a:rPr>
                <a:t>identify</a:t>
              </a:r>
              <a:r>
                <a:rPr kumimoji="0" lang="en-US" sz="1600" b="0" i="0" u="none" strike="noStrike" kern="1200" cap="none" spc="0" normalizeH="0" baseline="0" noProof="0" dirty="0">
                  <a:ln>
                    <a:noFill/>
                  </a:ln>
                  <a:effectLst/>
                  <a:uLnTx/>
                  <a:uFillTx/>
                  <a:latin typeface="Segoe UI"/>
                  <a:ea typeface="+mn-ea"/>
                  <a:cs typeface="+mn-cs"/>
                </a:rPr>
                <a:t> potential optimizations based </a:t>
              </a:r>
              <a:r>
                <a:rPr lang="en-US" sz="1600" dirty="0">
                  <a:latin typeface="Segoe UI"/>
                </a:rPr>
                <a:t>on Azure</a:t>
              </a:r>
              <a:r>
                <a:rPr kumimoji="0" lang="en-US" sz="1600" b="0" i="0" u="none" strike="noStrike" kern="1200" cap="none" spc="0" normalizeH="0" baseline="0" noProof="0" dirty="0">
                  <a:ln>
                    <a:noFill/>
                  </a:ln>
                  <a:effectLst/>
                  <a:uLnTx/>
                  <a:uFillTx/>
                  <a:latin typeface="Segoe UI"/>
                  <a:ea typeface="+mn-ea"/>
                  <a:cs typeface="+mn-cs"/>
                </a:rPr>
                <a:t> Advisor, </a:t>
              </a:r>
              <a:r>
                <a:rPr lang="en-US" sz="1600" dirty="0">
                  <a:latin typeface="Segoe UI"/>
                </a:rPr>
                <a:t>and a questionnaire. </a:t>
              </a:r>
              <a:endParaRPr lang="en-US" sz="1600" b="0" i="0" u="none" strike="noStrike" kern="1200" cap="none" spc="0" normalizeH="0" baseline="0" noProof="0" dirty="0">
                <a:ln>
                  <a:noFill/>
                </a:ln>
                <a:effectLst/>
                <a:uLnTx/>
                <a:uFillTx/>
                <a:latin typeface="Segoe UI"/>
                <a:cs typeface="Segoe UI"/>
              </a:endParaRPr>
            </a:p>
          </p:txBody>
        </p:sp>
      </p:grpSp>
      <p:cxnSp>
        <p:nvCxnSpPr>
          <p:cNvPr id="61" name="Straight Connector 60">
            <a:extLst>
              <a:ext uri="{FF2B5EF4-FFF2-40B4-BE49-F238E27FC236}">
                <a16:creationId xmlns:a16="http://schemas.microsoft.com/office/drawing/2014/main" id="{4C509CBF-32C4-46F5-BDBD-D2E30525ACB9}"/>
              </a:ext>
              <a:ext uri="{C183D7F6-B498-43B3-948B-1728B52AA6E4}">
                <adec:decorative xmlns:adec="http://schemas.microsoft.com/office/drawing/2017/decorative" val="1"/>
              </a:ext>
            </a:extLst>
          </p:cNvPr>
          <p:cNvCxnSpPr>
            <a:cxnSpLocks/>
          </p:cNvCxnSpPr>
          <p:nvPr/>
        </p:nvCxnSpPr>
        <p:spPr>
          <a:xfrm>
            <a:off x="1510198" y="4664490"/>
            <a:ext cx="5641173"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6BA29CB4-2CE7-468F-98A7-E9838DE1B5C5}"/>
              </a:ext>
            </a:extLst>
          </p:cNvPr>
          <p:cNvGrpSpPr/>
          <p:nvPr/>
        </p:nvGrpSpPr>
        <p:grpSpPr>
          <a:xfrm>
            <a:off x="571500" y="2386441"/>
            <a:ext cx="6579870" cy="3330892"/>
            <a:chOff x="571500" y="2386441"/>
            <a:chExt cx="6579870" cy="3330892"/>
          </a:xfrm>
        </p:grpSpPr>
        <p:grpSp>
          <p:nvGrpSpPr>
            <p:cNvPr id="63" name="Group 62">
              <a:extLst>
                <a:ext uri="{FF2B5EF4-FFF2-40B4-BE49-F238E27FC236}">
                  <a16:creationId xmlns:a16="http://schemas.microsoft.com/office/drawing/2014/main" id="{45B7C8B4-5E32-4E57-A565-3BD9D5CEEB7A}"/>
                </a:ext>
                <a:ext uri="{C183D7F6-B498-43B3-948B-1728B52AA6E4}">
                  <adec:decorative xmlns:adec="http://schemas.microsoft.com/office/drawing/2017/decorative" val="1"/>
                </a:ext>
              </a:extLst>
            </p:cNvPr>
            <p:cNvGrpSpPr/>
            <p:nvPr/>
          </p:nvGrpSpPr>
          <p:grpSpPr>
            <a:xfrm>
              <a:off x="571500" y="5009447"/>
              <a:ext cx="678180" cy="707886"/>
              <a:chOff x="571500" y="4923146"/>
              <a:chExt cx="678180" cy="707886"/>
            </a:xfrm>
          </p:grpSpPr>
          <p:sp>
            <p:nvSpPr>
              <p:cNvPr id="68" name="Rectangle 67">
                <a:extLst>
                  <a:ext uri="{FF2B5EF4-FFF2-40B4-BE49-F238E27FC236}">
                    <a16:creationId xmlns:a16="http://schemas.microsoft.com/office/drawing/2014/main" id="{DBE7D576-3167-4864-B277-E9EC52BC249A}"/>
                  </a:ext>
                </a:extLst>
              </p:cNvPr>
              <p:cNvSpPr/>
              <p:nvPr/>
            </p:nvSpPr>
            <p:spPr bwMode="auto">
              <a:xfrm>
                <a:off x="571500" y="4923146"/>
                <a:ext cx="678180" cy="70788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69" name="Straight Connector 68">
                <a:extLst>
                  <a:ext uri="{FF2B5EF4-FFF2-40B4-BE49-F238E27FC236}">
                    <a16:creationId xmlns:a16="http://schemas.microsoft.com/office/drawing/2014/main" id="{DB46D1D2-4E07-4804-ADCF-63493B40FA57}"/>
                  </a:ext>
                </a:extLst>
              </p:cNvPr>
              <p:cNvCxnSpPr>
                <a:cxnSpLocks/>
              </p:cNvCxnSpPr>
              <p:nvPr/>
            </p:nvCxnSpPr>
            <p:spPr>
              <a:xfrm>
                <a:off x="571500" y="4923146"/>
                <a:ext cx="0" cy="707886"/>
              </a:xfrm>
              <a:prstGeom prst="line">
                <a:avLst/>
              </a:prstGeom>
              <a:ln w="38100"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64" name="Group 63" descr="Icon of a gear with a wrench">
              <a:extLst>
                <a:ext uri="{FF2B5EF4-FFF2-40B4-BE49-F238E27FC236}">
                  <a16:creationId xmlns:a16="http://schemas.microsoft.com/office/drawing/2014/main" id="{836DB621-705F-4907-A357-A6772502BD82}"/>
                </a:ext>
              </a:extLst>
            </p:cNvPr>
            <p:cNvGrpSpPr>
              <a:grpSpLocks/>
            </p:cNvGrpSpPr>
            <p:nvPr/>
          </p:nvGrpSpPr>
          <p:grpSpPr>
            <a:xfrm>
              <a:off x="695321" y="2386441"/>
              <a:ext cx="430538" cy="430538"/>
              <a:chOff x="9228910" y="-479983"/>
              <a:chExt cx="751672" cy="751672"/>
            </a:xfrm>
          </p:grpSpPr>
          <p:sp>
            <p:nvSpPr>
              <p:cNvPr id="66" name="Oval 65">
                <a:extLst>
                  <a:ext uri="{FF2B5EF4-FFF2-40B4-BE49-F238E27FC236}">
                    <a16:creationId xmlns:a16="http://schemas.microsoft.com/office/drawing/2014/main" id="{42E3A236-D693-4EF3-8901-C0D95E6A0CDF}"/>
                  </a:ext>
                  <a:ext uri="{C183D7F6-B498-43B3-948B-1728B52AA6E4}">
                    <adec:decorative xmlns:adec="http://schemas.microsoft.com/office/drawing/2017/decorative" val="1"/>
                  </a:ext>
                </a:extLst>
              </p:cNvPr>
              <p:cNvSpPr>
                <a:spLocks/>
              </p:cNvSpPr>
              <p:nvPr/>
            </p:nvSpPr>
            <p:spPr bwMode="auto">
              <a:xfrm>
                <a:off x="9228910" y="-47998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67" name="Freeform 96">
                <a:extLst>
                  <a:ext uri="{FF2B5EF4-FFF2-40B4-BE49-F238E27FC236}">
                    <a16:creationId xmlns:a16="http://schemas.microsoft.com/office/drawing/2014/main" id="{24FF2BF8-9D21-482F-83D8-6CCF088913C1}"/>
                  </a:ext>
                  <a:ext uri="{C183D7F6-B498-43B3-948B-1728B52AA6E4}">
                    <adec:decorative xmlns:adec="http://schemas.microsoft.com/office/drawing/2017/decorative" val="1"/>
                  </a:ext>
                </a:extLst>
              </p:cNvPr>
              <p:cNvSpPr>
                <a:spLocks noChangeAspect="1" noEditPoints="1"/>
              </p:cNvSpPr>
              <p:nvPr/>
            </p:nvSpPr>
            <p:spPr bwMode="auto">
              <a:xfrm>
                <a:off x="9394197" y="-298012"/>
                <a:ext cx="421098" cy="387732"/>
              </a:xfrm>
              <a:custGeom>
                <a:avLst/>
                <a:gdLst>
                  <a:gd name="T0" fmla="*/ 224 w 356"/>
                  <a:gd name="T1" fmla="*/ 273 h 328"/>
                  <a:gd name="T2" fmla="*/ 181 w 356"/>
                  <a:gd name="T3" fmla="*/ 295 h 328"/>
                  <a:gd name="T4" fmla="*/ 181 w 356"/>
                  <a:gd name="T5" fmla="*/ 328 h 328"/>
                  <a:gd name="T6" fmla="*/ 121 w 356"/>
                  <a:gd name="T7" fmla="*/ 328 h 328"/>
                  <a:gd name="T8" fmla="*/ 121 w 356"/>
                  <a:gd name="T9" fmla="*/ 291 h 328"/>
                  <a:gd name="T10" fmla="*/ 57 w 356"/>
                  <a:gd name="T11" fmla="*/ 254 h 328"/>
                  <a:gd name="T12" fmla="*/ 28 w 356"/>
                  <a:gd name="T13" fmla="*/ 269 h 328"/>
                  <a:gd name="T14" fmla="*/ 0 w 356"/>
                  <a:gd name="T15" fmla="*/ 214 h 328"/>
                  <a:gd name="T16" fmla="*/ 28 w 356"/>
                  <a:gd name="T17" fmla="*/ 199 h 328"/>
                  <a:gd name="T18" fmla="*/ 21 w 356"/>
                  <a:gd name="T19" fmla="*/ 162 h 328"/>
                  <a:gd name="T20" fmla="*/ 28 w 356"/>
                  <a:gd name="T21" fmla="*/ 125 h 328"/>
                  <a:gd name="T22" fmla="*/ 0 w 356"/>
                  <a:gd name="T23" fmla="*/ 111 h 328"/>
                  <a:gd name="T24" fmla="*/ 28 w 356"/>
                  <a:gd name="T25" fmla="*/ 55 h 328"/>
                  <a:gd name="T26" fmla="*/ 57 w 356"/>
                  <a:gd name="T27" fmla="*/ 70 h 328"/>
                  <a:gd name="T28" fmla="*/ 121 w 356"/>
                  <a:gd name="T29" fmla="*/ 33 h 328"/>
                  <a:gd name="T30" fmla="*/ 121 w 356"/>
                  <a:gd name="T31" fmla="*/ 0 h 328"/>
                  <a:gd name="T32" fmla="*/ 181 w 356"/>
                  <a:gd name="T33" fmla="*/ 0 h 328"/>
                  <a:gd name="T34" fmla="*/ 181 w 356"/>
                  <a:gd name="T35" fmla="*/ 30 h 328"/>
                  <a:gd name="T36" fmla="*/ 249 w 356"/>
                  <a:gd name="T37" fmla="*/ 70 h 328"/>
                  <a:gd name="T38" fmla="*/ 274 w 356"/>
                  <a:gd name="T39" fmla="*/ 55 h 328"/>
                  <a:gd name="T40" fmla="*/ 306 w 356"/>
                  <a:gd name="T41" fmla="*/ 111 h 328"/>
                  <a:gd name="T42" fmla="*/ 277 w 356"/>
                  <a:gd name="T43" fmla="*/ 125 h 328"/>
                  <a:gd name="T44" fmla="*/ 282 w 356"/>
                  <a:gd name="T45" fmla="*/ 162 h 328"/>
                  <a:gd name="T46" fmla="*/ 279 w 356"/>
                  <a:gd name="T47" fmla="*/ 188 h 328"/>
                  <a:gd name="T48" fmla="*/ 186 w 356"/>
                  <a:gd name="T49" fmla="*/ 100 h 328"/>
                  <a:gd name="T50" fmla="*/ 150 w 356"/>
                  <a:gd name="T51" fmla="*/ 89 h 328"/>
                  <a:gd name="T52" fmla="*/ 75 w 356"/>
                  <a:gd name="T53" fmla="*/ 166 h 328"/>
                  <a:gd name="T54" fmla="*/ 107 w 356"/>
                  <a:gd name="T55" fmla="*/ 231 h 328"/>
                  <a:gd name="T56" fmla="*/ 209 w 356"/>
                  <a:gd name="T57" fmla="*/ 238 h 328"/>
                  <a:gd name="T58" fmla="*/ 310 w 356"/>
                  <a:gd name="T59" fmla="*/ 302 h 328"/>
                  <a:gd name="T60" fmla="*/ 348 w 356"/>
                  <a:gd name="T61" fmla="*/ 294 h 328"/>
                  <a:gd name="T62" fmla="*/ 340 w 356"/>
                  <a:gd name="T63" fmla="*/ 256 h 328"/>
                  <a:gd name="T64" fmla="*/ 237 w 356"/>
                  <a:gd name="T65" fmla="*/ 195 h 328"/>
                  <a:gd name="T66" fmla="*/ 235 w 356"/>
                  <a:gd name="T67" fmla="*/ 194 h 328"/>
                  <a:gd name="T68" fmla="*/ 234 w 356"/>
                  <a:gd name="T69" fmla="*/ 179 h 328"/>
                  <a:gd name="T70" fmla="*/ 172 w 356"/>
                  <a:gd name="T71" fmla="*/ 139 h 328"/>
                  <a:gd name="T72" fmla="*/ 145 w 356"/>
                  <a:gd name="T73" fmla="*/ 153 h 328"/>
                  <a:gd name="T74" fmla="*/ 194 w 356"/>
                  <a:gd name="T75" fmla="*/ 183 h 328"/>
                  <a:gd name="T76" fmla="*/ 182 w 356"/>
                  <a:gd name="T77" fmla="*/ 199 h 328"/>
                  <a:gd name="T78" fmla="*/ 135 w 356"/>
                  <a:gd name="T79" fmla="*/ 169 h 328"/>
                  <a:gd name="T80" fmla="*/ 132 w 356"/>
                  <a:gd name="T81" fmla="*/ 201 h 328"/>
                  <a:gd name="T82" fmla="*/ 194 w 356"/>
                  <a:gd name="T83" fmla="*/ 241 h 328"/>
                  <a:gd name="T84" fmla="*/ 207 w 356"/>
                  <a:gd name="T85" fmla="*/ 237 h 328"/>
                  <a:gd name="T86" fmla="*/ 209 w 356"/>
                  <a:gd name="T87" fmla="*/ 23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6" h="328">
                    <a:moveTo>
                      <a:pt x="224" y="273"/>
                    </a:moveTo>
                    <a:cubicBezTo>
                      <a:pt x="213" y="284"/>
                      <a:pt x="195" y="291"/>
                      <a:pt x="181" y="295"/>
                    </a:cubicBezTo>
                    <a:cubicBezTo>
                      <a:pt x="181" y="295"/>
                      <a:pt x="181" y="295"/>
                      <a:pt x="181" y="328"/>
                    </a:cubicBezTo>
                    <a:cubicBezTo>
                      <a:pt x="181" y="328"/>
                      <a:pt x="181" y="328"/>
                      <a:pt x="121" y="328"/>
                    </a:cubicBezTo>
                    <a:cubicBezTo>
                      <a:pt x="121" y="328"/>
                      <a:pt x="121" y="328"/>
                      <a:pt x="121" y="291"/>
                    </a:cubicBezTo>
                    <a:cubicBezTo>
                      <a:pt x="96" y="287"/>
                      <a:pt x="75" y="273"/>
                      <a:pt x="57" y="254"/>
                    </a:cubicBezTo>
                    <a:cubicBezTo>
                      <a:pt x="57" y="254"/>
                      <a:pt x="57" y="254"/>
                      <a:pt x="28" y="269"/>
                    </a:cubicBezTo>
                    <a:cubicBezTo>
                      <a:pt x="28" y="269"/>
                      <a:pt x="28" y="269"/>
                      <a:pt x="0" y="214"/>
                    </a:cubicBezTo>
                    <a:cubicBezTo>
                      <a:pt x="0" y="214"/>
                      <a:pt x="0" y="214"/>
                      <a:pt x="28" y="199"/>
                    </a:cubicBezTo>
                    <a:cubicBezTo>
                      <a:pt x="25" y="188"/>
                      <a:pt x="21" y="177"/>
                      <a:pt x="21" y="162"/>
                    </a:cubicBezTo>
                    <a:cubicBezTo>
                      <a:pt x="21" y="151"/>
                      <a:pt x="25" y="136"/>
                      <a:pt x="28" y="125"/>
                    </a:cubicBezTo>
                    <a:cubicBezTo>
                      <a:pt x="28" y="125"/>
                      <a:pt x="28" y="125"/>
                      <a:pt x="0" y="111"/>
                    </a:cubicBezTo>
                    <a:cubicBezTo>
                      <a:pt x="0" y="111"/>
                      <a:pt x="0" y="111"/>
                      <a:pt x="28" y="55"/>
                    </a:cubicBezTo>
                    <a:cubicBezTo>
                      <a:pt x="28" y="55"/>
                      <a:pt x="28" y="55"/>
                      <a:pt x="57" y="70"/>
                    </a:cubicBezTo>
                    <a:cubicBezTo>
                      <a:pt x="75" y="52"/>
                      <a:pt x="96" y="37"/>
                      <a:pt x="121" y="33"/>
                    </a:cubicBezTo>
                    <a:cubicBezTo>
                      <a:pt x="121" y="33"/>
                      <a:pt x="121" y="33"/>
                      <a:pt x="121" y="0"/>
                    </a:cubicBezTo>
                    <a:cubicBezTo>
                      <a:pt x="121" y="0"/>
                      <a:pt x="121" y="0"/>
                      <a:pt x="181" y="0"/>
                    </a:cubicBezTo>
                    <a:cubicBezTo>
                      <a:pt x="181" y="0"/>
                      <a:pt x="181" y="0"/>
                      <a:pt x="181" y="30"/>
                    </a:cubicBezTo>
                    <a:cubicBezTo>
                      <a:pt x="206" y="37"/>
                      <a:pt x="231" y="52"/>
                      <a:pt x="249" y="70"/>
                    </a:cubicBezTo>
                    <a:cubicBezTo>
                      <a:pt x="249" y="70"/>
                      <a:pt x="249" y="70"/>
                      <a:pt x="274" y="55"/>
                    </a:cubicBezTo>
                    <a:cubicBezTo>
                      <a:pt x="274" y="55"/>
                      <a:pt x="274" y="55"/>
                      <a:pt x="306" y="111"/>
                    </a:cubicBezTo>
                    <a:cubicBezTo>
                      <a:pt x="306" y="111"/>
                      <a:pt x="306" y="111"/>
                      <a:pt x="277" y="125"/>
                    </a:cubicBezTo>
                    <a:cubicBezTo>
                      <a:pt x="281" y="136"/>
                      <a:pt x="282" y="150"/>
                      <a:pt x="282" y="162"/>
                    </a:cubicBezTo>
                    <a:cubicBezTo>
                      <a:pt x="282" y="169"/>
                      <a:pt x="282" y="178"/>
                      <a:pt x="279" y="188"/>
                    </a:cubicBezTo>
                    <a:moveTo>
                      <a:pt x="186" y="100"/>
                    </a:moveTo>
                    <a:cubicBezTo>
                      <a:pt x="176" y="93"/>
                      <a:pt x="165" y="89"/>
                      <a:pt x="150" y="89"/>
                    </a:cubicBezTo>
                    <a:cubicBezTo>
                      <a:pt x="107" y="89"/>
                      <a:pt x="75" y="126"/>
                      <a:pt x="75" y="166"/>
                    </a:cubicBezTo>
                    <a:cubicBezTo>
                      <a:pt x="75" y="195"/>
                      <a:pt x="85" y="217"/>
                      <a:pt x="107" y="231"/>
                    </a:cubicBezTo>
                    <a:moveTo>
                      <a:pt x="209" y="238"/>
                    </a:moveTo>
                    <a:cubicBezTo>
                      <a:pt x="310" y="302"/>
                      <a:pt x="310" y="302"/>
                      <a:pt x="310" y="302"/>
                    </a:cubicBezTo>
                    <a:cubicBezTo>
                      <a:pt x="323" y="310"/>
                      <a:pt x="340" y="307"/>
                      <a:pt x="348" y="294"/>
                    </a:cubicBezTo>
                    <a:cubicBezTo>
                      <a:pt x="356" y="282"/>
                      <a:pt x="353" y="265"/>
                      <a:pt x="340" y="256"/>
                    </a:cubicBezTo>
                    <a:cubicBezTo>
                      <a:pt x="237" y="195"/>
                      <a:pt x="237" y="195"/>
                      <a:pt x="237" y="195"/>
                    </a:cubicBezTo>
                    <a:cubicBezTo>
                      <a:pt x="235" y="194"/>
                      <a:pt x="235" y="194"/>
                      <a:pt x="235" y="194"/>
                    </a:cubicBezTo>
                    <a:cubicBezTo>
                      <a:pt x="236" y="189"/>
                      <a:pt x="235" y="184"/>
                      <a:pt x="234" y="179"/>
                    </a:cubicBezTo>
                    <a:cubicBezTo>
                      <a:pt x="228" y="151"/>
                      <a:pt x="200" y="132"/>
                      <a:pt x="172" y="139"/>
                    </a:cubicBezTo>
                    <a:cubicBezTo>
                      <a:pt x="162" y="141"/>
                      <a:pt x="152" y="146"/>
                      <a:pt x="145" y="153"/>
                    </a:cubicBezTo>
                    <a:cubicBezTo>
                      <a:pt x="194" y="183"/>
                      <a:pt x="194" y="183"/>
                      <a:pt x="194" y="183"/>
                    </a:cubicBezTo>
                    <a:cubicBezTo>
                      <a:pt x="182" y="199"/>
                      <a:pt x="182" y="199"/>
                      <a:pt x="182" y="199"/>
                    </a:cubicBezTo>
                    <a:cubicBezTo>
                      <a:pt x="135" y="169"/>
                      <a:pt x="135" y="169"/>
                      <a:pt x="135" y="169"/>
                    </a:cubicBezTo>
                    <a:cubicBezTo>
                      <a:pt x="131" y="179"/>
                      <a:pt x="129" y="190"/>
                      <a:pt x="132" y="201"/>
                    </a:cubicBezTo>
                    <a:cubicBezTo>
                      <a:pt x="138" y="229"/>
                      <a:pt x="165" y="247"/>
                      <a:pt x="194" y="241"/>
                    </a:cubicBezTo>
                    <a:cubicBezTo>
                      <a:pt x="198" y="240"/>
                      <a:pt x="203" y="239"/>
                      <a:pt x="207" y="237"/>
                    </a:cubicBezTo>
                    <a:lnTo>
                      <a:pt x="209" y="238"/>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dirty="0">
                  <a:ln>
                    <a:noFill/>
                  </a:ln>
                  <a:solidFill>
                    <a:prstClr val="black"/>
                  </a:solidFill>
                  <a:effectLst/>
                  <a:uLnTx/>
                  <a:uFillTx/>
                  <a:latin typeface="Calibri" panose="020F0502020204030204"/>
                  <a:ea typeface="+mn-ea"/>
                  <a:cs typeface="+mn-cs"/>
                </a:endParaRPr>
              </a:p>
            </p:txBody>
          </p:sp>
        </p:grpSp>
        <p:sp>
          <p:nvSpPr>
            <p:cNvPr id="65" name="Rectangle 64">
              <a:extLst>
                <a:ext uri="{FF2B5EF4-FFF2-40B4-BE49-F238E27FC236}">
                  <a16:creationId xmlns:a16="http://schemas.microsoft.com/office/drawing/2014/main" id="{553AA51A-247A-4A37-B5E4-612083A0DFA0}"/>
                </a:ext>
              </a:extLst>
            </p:cNvPr>
            <p:cNvSpPr/>
            <p:nvPr/>
          </p:nvSpPr>
          <p:spPr>
            <a:xfrm>
              <a:off x="1510197" y="5009447"/>
              <a:ext cx="5641173" cy="707886"/>
            </a:xfrm>
            <a:prstGeom prst="rect">
              <a:avLst/>
            </a:prstGeom>
            <a:noFill/>
          </p:spPr>
          <p:txBody>
            <a:bodyPr wrap="square" lIns="0" tIns="45720" rIns="0" bIns="4572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49" normalizeH="0" baseline="0" noProof="0" dirty="0">
                  <a:ln>
                    <a:noFill/>
                  </a:ln>
                  <a:effectLst/>
                  <a:uLnTx/>
                  <a:uFillTx/>
                  <a:latin typeface="Segoe UI"/>
                  <a:ea typeface="+mn-ea"/>
                  <a:cs typeface="+mn-cs"/>
                </a:rPr>
                <a:t>Out of Scope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Segoe UI"/>
                  <a:ea typeface="+mn-ea"/>
                  <a:cs typeface="+mn-cs"/>
                </a:rPr>
                <a:t>Guarantee cost reduction or potential savings</a:t>
              </a:r>
              <a:endParaRPr kumimoji="0" lang="en-US" sz="1600" b="0" i="0" u="none" strike="noStrike" kern="1200" cap="none" spc="-49" normalizeH="0" baseline="0" noProof="0" dirty="0">
                <a:ln>
                  <a:noFill/>
                </a:ln>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Segoe UI"/>
                  <a:ea typeface="+mn-ea"/>
                  <a:cs typeface="+mn-cs"/>
                </a:rPr>
                <a:t>Remediation during the assessment delivery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Segoe UI"/>
                  <a:ea typeface="+mn-ea"/>
                  <a:cs typeface="+mn-cs"/>
                </a:rPr>
                <a:t>Customization of dashboards</a:t>
              </a:r>
            </a:p>
          </p:txBody>
        </p:sp>
      </p:grpSp>
      <p:sp>
        <p:nvSpPr>
          <p:cNvPr id="71" name="Footer Placeholder 3">
            <a:extLst>
              <a:ext uri="{FF2B5EF4-FFF2-40B4-BE49-F238E27FC236}">
                <a16:creationId xmlns:a16="http://schemas.microsoft.com/office/drawing/2014/main" id="{E1E27CF2-A4CC-4673-BF40-D9DE02420EAB}"/>
              </a:ext>
            </a:extLst>
          </p:cNvPr>
          <p:cNvSpPr>
            <a:spLocks noGrp="1"/>
          </p:cNvSpPr>
          <p:nvPr>
            <p:ph type="ftr" sz="quarter" idx="3"/>
          </p:nvPr>
        </p:nvSpPr>
        <p:spPr>
          <a:xfrm>
            <a:off x="4038600" y="6539518"/>
            <a:ext cx="4114800" cy="123111"/>
          </a:xfrm>
        </p:spPr>
        <p:txBody>
          <a:bodyPr/>
          <a:lstStyle/>
          <a:p>
            <a:pPr lvl="0"/>
            <a:r>
              <a:rPr lang="en-US" noProof="0"/>
              <a:t>Microsoft Confidential</a:t>
            </a:r>
          </a:p>
        </p:txBody>
      </p:sp>
      <p:sp>
        <p:nvSpPr>
          <p:cNvPr id="72" name="Slide Number Placeholder 6">
            <a:extLst>
              <a:ext uri="{FF2B5EF4-FFF2-40B4-BE49-F238E27FC236}">
                <a16:creationId xmlns:a16="http://schemas.microsoft.com/office/drawing/2014/main" id="{52184388-9796-40D1-9E42-D24565FDD2F2}"/>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9</a:t>
            </a:fld>
            <a:endParaRPr lang="en-US" noProof="0"/>
          </a:p>
        </p:txBody>
      </p:sp>
      <p:pic>
        <p:nvPicPr>
          <p:cNvPr id="3" name="Picture 2" descr="Illustration of a paper clip board with a paper charts and a speedometer">
            <a:extLst>
              <a:ext uri="{FF2B5EF4-FFF2-40B4-BE49-F238E27FC236}">
                <a16:creationId xmlns:a16="http://schemas.microsoft.com/office/drawing/2014/main" id="{F47F3341-1A2E-4794-8ACA-96A0AFAB4F02}"/>
              </a:ext>
            </a:extLst>
          </p:cNvPr>
          <p:cNvPicPr>
            <a:picLocks noChangeAspect="1"/>
          </p:cNvPicPr>
          <p:nvPr/>
        </p:nvPicPr>
        <p:blipFill>
          <a:blip r:embed="rId3"/>
          <a:srcRect/>
          <a:stretch/>
        </p:blipFill>
        <p:spPr>
          <a:xfrm>
            <a:off x="9078723" y="4081107"/>
            <a:ext cx="2323284" cy="2323284"/>
          </a:xfrm>
          <a:prstGeom prst="rect">
            <a:avLst/>
          </a:prstGeom>
        </p:spPr>
      </p:pic>
      <p:grpSp>
        <p:nvGrpSpPr>
          <p:cNvPr id="74" name="Group 73" descr="Icon of a line graph with an arrow at the end pointing up">
            <a:extLst>
              <a:ext uri="{FF2B5EF4-FFF2-40B4-BE49-F238E27FC236}">
                <a16:creationId xmlns:a16="http://schemas.microsoft.com/office/drawing/2014/main" id="{10BBEF76-4025-46FE-9D7A-E1A8A3422EC9}"/>
              </a:ext>
            </a:extLst>
          </p:cNvPr>
          <p:cNvGrpSpPr/>
          <p:nvPr/>
        </p:nvGrpSpPr>
        <p:grpSpPr>
          <a:xfrm>
            <a:off x="672294" y="3764390"/>
            <a:ext cx="476592" cy="434376"/>
            <a:chOff x="5945218" y="510655"/>
            <a:chExt cx="751672" cy="751672"/>
          </a:xfrm>
        </p:grpSpPr>
        <p:sp>
          <p:nvSpPr>
            <p:cNvPr id="75" name="Oval 74">
              <a:extLst>
                <a:ext uri="{FF2B5EF4-FFF2-40B4-BE49-F238E27FC236}">
                  <a16:creationId xmlns:a16="http://schemas.microsoft.com/office/drawing/2014/main" id="{470DE1BF-209C-487B-A1BF-833F09A05AD4}"/>
                </a:ext>
                <a:ext uri="{C183D7F6-B498-43B3-948B-1728B52AA6E4}">
                  <adec:decorative xmlns:adec="http://schemas.microsoft.com/office/drawing/2017/decorative" val="1"/>
                </a:ext>
              </a:extLst>
            </p:cNvPr>
            <p:cNvSpPr/>
            <p:nvPr/>
          </p:nvSpPr>
          <p:spPr bwMode="auto">
            <a:xfrm>
              <a:off x="5945218"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6" name="Market_EAFC">
              <a:extLst>
                <a:ext uri="{FF2B5EF4-FFF2-40B4-BE49-F238E27FC236}">
                  <a16:creationId xmlns:a16="http://schemas.microsoft.com/office/drawing/2014/main" id="{BC160CE7-0AAA-4706-A879-0FC2E7E73402}"/>
                </a:ext>
                <a:ext uri="{C183D7F6-B498-43B3-948B-1728B52AA6E4}">
                  <adec:decorative xmlns:adec="http://schemas.microsoft.com/office/drawing/2017/decorative" val="1"/>
                </a:ext>
              </a:extLst>
            </p:cNvPr>
            <p:cNvSpPr>
              <a:spLocks noChangeAspect="1" noEditPoints="1"/>
            </p:cNvSpPr>
            <p:nvPr/>
          </p:nvSpPr>
          <p:spPr bwMode="auto">
            <a:xfrm>
              <a:off x="6109816" y="758390"/>
              <a:ext cx="422475" cy="256202"/>
            </a:xfrm>
            <a:custGeom>
              <a:avLst/>
              <a:gdLst>
                <a:gd name="T0" fmla="*/ 4688 w 6657"/>
                <a:gd name="T1" fmla="*/ 0 h 4037"/>
                <a:gd name="T2" fmla="*/ 6657 w 6657"/>
                <a:gd name="T3" fmla="*/ 0 h 4037"/>
                <a:gd name="T4" fmla="*/ 6657 w 6657"/>
                <a:gd name="T5" fmla="*/ 1970 h 4037"/>
                <a:gd name="T6" fmla="*/ 0 w 6657"/>
                <a:gd name="T7" fmla="*/ 4037 h 4037"/>
                <a:gd name="T8" fmla="*/ 2501 w 6657"/>
                <a:gd name="T9" fmla="*/ 1532 h 4037"/>
                <a:gd name="T10" fmla="*/ 3813 w 6657"/>
                <a:gd name="T11" fmla="*/ 2846 h 4037"/>
                <a:gd name="T12" fmla="*/ 6657 w 6657"/>
                <a:gd name="T13" fmla="*/ 0 h 4037"/>
              </a:gdLst>
              <a:ahLst/>
              <a:cxnLst>
                <a:cxn ang="0">
                  <a:pos x="T0" y="T1"/>
                </a:cxn>
                <a:cxn ang="0">
                  <a:pos x="T2" y="T3"/>
                </a:cxn>
                <a:cxn ang="0">
                  <a:pos x="T4" y="T5"/>
                </a:cxn>
                <a:cxn ang="0">
                  <a:pos x="T6" y="T7"/>
                </a:cxn>
                <a:cxn ang="0">
                  <a:pos x="T8" y="T9"/>
                </a:cxn>
                <a:cxn ang="0">
                  <a:pos x="T10" y="T11"/>
                </a:cxn>
                <a:cxn ang="0">
                  <a:pos x="T12" y="T13"/>
                </a:cxn>
              </a:cxnLst>
              <a:rect l="0" t="0" r="r" b="b"/>
              <a:pathLst>
                <a:path w="6657" h="4037">
                  <a:moveTo>
                    <a:pt x="4688" y="0"/>
                  </a:moveTo>
                  <a:lnTo>
                    <a:pt x="6657" y="0"/>
                  </a:lnTo>
                  <a:lnTo>
                    <a:pt x="6657" y="1970"/>
                  </a:lnTo>
                  <a:moveTo>
                    <a:pt x="0" y="4037"/>
                  </a:moveTo>
                  <a:lnTo>
                    <a:pt x="2501" y="1532"/>
                  </a:lnTo>
                  <a:lnTo>
                    <a:pt x="3813" y="2846"/>
                  </a:lnTo>
                  <a:lnTo>
                    <a:pt x="6657" y="0"/>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7" name="Oval 6">
            <a:extLst>
              <a:ext uri="{FF2B5EF4-FFF2-40B4-BE49-F238E27FC236}">
                <a16:creationId xmlns:a16="http://schemas.microsoft.com/office/drawing/2014/main" id="{7EB48772-F635-4415-B276-7FB822E3138B}"/>
              </a:ext>
              <a:ext uri="{C183D7F6-B498-43B3-948B-1728B52AA6E4}">
                <adec:decorative xmlns:adec="http://schemas.microsoft.com/office/drawing/2017/decorative" val="1"/>
              </a:ext>
            </a:extLst>
          </p:cNvPr>
          <p:cNvSpPr/>
          <p:nvPr/>
        </p:nvSpPr>
        <p:spPr bwMode="auto">
          <a:xfrm>
            <a:off x="695321" y="5123431"/>
            <a:ext cx="430538" cy="430538"/>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Warning_E7BA">
            <a:extLst>
              <a:ext uri="{FF2B5EF4-FFF2-40B4-BE49-F238E27FC236}">
                <a16:creationId xmlns:a16="http://schemas.microsoft.com/office/drawing/2014/main" id="{FD24F78D-C529-43DD-BD47-5D69EE69DF5B}"/>
              </a:ext>
              <a:ext uri="{C183D7F6-B498-43B3-948B-1728B52AA6E4}">
                <adec:decorative xmlns:adec="http://schemas.microsoft.com/office/drawing/2017/decorative" val="1"/>
              </a:ext>
            </a:extLst>
          </p:cNvPr>
          <p:cNvSpPr>
            <a:spLocks noChangeAspect="1" noEditPoints="1"/>
          </p:cNvSpPr>
          <p:nvPr/>
        </p:nvSpPr>
        <p:spPr bwMode="auto">
          <a:xfrm>
            <a:off x="792312" y="5202942"/>
            <a:ext cx="236556" cy="236678"/>
          </a:xfrm>
          <a:custGeom>
            <a:avLst/>
            <a:gdLst>
              <a:gd name="T0" fmla="*/ 0 w 3939"/>
              <a:gd name="T1" fmla="*/ 3941 h 3941"/>
              <a:gd name="T2" fmla="*/ 1970 w 3939"/>
              <a:gd name="T3" fmla="*/ 0 h 3941"/>
              <a:gd name="T4" fmla="*/ 3939 w 3939"/>
              <a:gd name="T5" fmla="*/ 3941 h 3941"/>
              <a:gd name="T6" fmla="*/ 0 w 3939"/>
              <a:gd name="T7" fmla="*/ 3941 h 3941"/>
              <a:gd name="T8" fmla="*/ 1970 w 3939"/>
              <a:gd name="T9" fmla="*/ 1144 h 3941"/>
              <a:gd name="T10" fmla="*/ 1970 w 3939"/>
              <a:gd name="T11" fmla="*/ 2911 h 3941"/>
              <a:gd name="T12" fmla="*/ 1970 w 3939"/>
              <a:gd name="T13" fmla="*/ 3205 h 3941"/>
              <a:gd name="T14" fmla="*/ 1970 w 3939"/>
              <a:gd name="T15" fmla="*/ 3500 h 39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9" h="3941">
                <a:moveTo>
                  <a:pt x="0" y="3941"/>
                </a:moveTo>
                <a:lnTo>
                  <a:pt x="1970" y="0"/>
                </a:lnTo>
                <a:lnTo>
                  <a:pt x="3939" y="3941"/>
                </a:lnTo>
                <a:lnTo>
                  <a:pt x="0" y="3941"/>
                </a:lnTo>
                <a:moveTo>
                  <a:pt x="1970" y="1144"/>
                </a:moveTo>
                <a:lnTo>
                  <a:pt x="1970" y="2911"/>
                </a:lnTo>
                <a:moveTo>
                  <a:pt x="1970" y="3205"/>
                </a:moveTo>
                <a:lnTo>
                  <a:pt x="1970" y="3500"/>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spTree>
    <p:extLst>
      <p:ext uri="{BB962C8B-B14F-4D97-AF65-F5344CB8AC3E}">
        <p14:creationId xmlns:p14="http://schemas.microsoft.com/office/powerpoint/2010/main" val="114288425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002BA30E-E4B5-4D8A-9331-4F7844A1A0AD}"/>
              </a:ext>
            </a:extLst>
          </p:cNvPr>
          <p:cNvSpPr/>
          <p:nvPr/>
        </p:nvSpPr>
        <p:spPr>
          <a:xfrm>
            <a:off x="3767761" y="1704474"/>
            <a:ext cx="2550444" cy="432000"/>
          </a:xfrm>
          <a:prstGeom prst="rect">
            <a:avLst/>
          </a:prstGeom>
          <a:solidFill>
            <a:schemeClr val="bg1">
              <a:lumMod val="75000"/>
            </a:scheme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a:ea typeface="+mn-ea"/>
                <a:cs typeface="Segoe UI" panose="020B0502040204020203" pitchFamily="34" charset="0"/>
              </a:rPr>
              <a:t>Day 1</a:t>
            </a:r>
          </a:p>
        </p:txBody>
      </p:sp>
      <p:sp>
        <p:nvSpPr>
          <p:cNvPr id="74" name="Rectangle 73">
            <a:extLst>
              <a:ext uri="{FF2B5EF4-FFF2-40B4-BE49-F238E27FC236}">
                <a16:creationId xmlns:a16="http://schemas.microsoft.com/office/drawing/2014/main" id="{89A2BAE3-AB0C-487E-B347-EBC871581A79}"/>
              </a:ext>
            </a:extLst>
          </p:cNvPr>
          <p:cNvSpPr/>
          <p:nvPr/>
        </p:nvSpPr>
        <p:spPr bwMode="auto">
          <a:xfrm>
            <a:off x="3767761" y="2192740"/>
            <a:ext cx="2550444" cy="3508563"/>
          </a:xfrm>
          <a:prstGeom prst="rect">
            <a:avLst/>
          </a:prstGeom>
          <a:solidFill>
            <a:schemeClr val="tx2"/>
          </a:solidFill>
          <a:ln w="10795" cap="flat" cmpd="sng" algn="ctr">
            <a:noFill/>
            <a:prstDash val="solid"/>
          </a:ln>
          <a:effectLst/>
        </p:spPr>
        <p:txBody>
          <a:bodyPr rot="0" spcFirstLastPara="0" vertOverflow="overflow" horzOverflow="overflow" vert="horz" wrap="square" lIns="0" tIns="46630" rIns="0" bIns="46630" numCol="1" spcCol="0" rtlCol="0" fromWordArt="0" anchor="t" anchorCtr="0" forceAA="0" compatLnSpc="1">
            <a:prstTxWarp prst="textNoShape">
              <a:avLst/>
            </a:prstTxWarp>
            <a:noAutofit/>
          </a:bodyPr>
          <a:lstStyle/>
          <a:p>
            <a:pPr marL="0" marR="0" lvl="0" indent="0" algn="ctr" defTabSz="932390" rtl="0" eaLnBrk="1" fontAlgn="base" latinLnBrk="0" hangingPunct="1">
              <a:lnSpc>
                <a:spcPct val="90000"/>
              </a:lnSpc>
              <a:spcBef>
                <a:spcPct val="0"/>
              </a:spcBef>
              <a:spcAft>
                <a:spcPct val="0"/>
              </a:spcAft>
              <a:buClrTx/>
              <a:buSzTx/>
              <a:buFontTx/>
              <a:buNone/>
              <a:tabLst/>
              <a:defRPr/>
            </a:pPr>
            <a:endParaRPr kumimoji="0" lang="en-US" sz="1400" b="0" i="0" u="none" strike="noStrike" kern="0" cap="none" spc="0" normalizeH="0" baseline="0" noProof="0">
              <a:ln>
                <a:noFill/>
              </a:ln>
              <a:noFill/>
              <a:effectLst/>
              <a:uLnTx/>
              <a:uFillTx/>
              <a:latin typeface="Segoe UI"/>
              <a:ea typeface="+mn-ea"/>
              <a:cs typeface="+mn-cs"/>
            </a:endParaRPr>
          </a:p>
        </p:txBody>
      </p:sp>
      <p:sp>
        <p:nvSpPr>
          <p:cNvPr id="70" name="Rectangle 69">
            <a:extLst>
              <a:ext uri="{FF2B5EF4-FFF2-40B4-BE49-F238E27FC236}">
                <a16:creationId xmlns:a16="http://schemas.microsoft.com/office/drawing/2014/main" id="{5F2C877A-A8A7-4E4B-9E67-97D152CE0704}"/>
              </a:ext>
            </a:extLst>
          </p:cNvPr>
          <p:cNvSpPr/>
          <p:nvPr/>
        </p:nvSpPr>
        <p:spPr bwMode="auto">
          <a:xfrm>
            <a:off x="6380008" y="2192740"/>
            <a:ext cx="2550444" cy="3508563"/>
          </a:xfrm>
          <a:prstGeom prst="rect">
            <a:avLst/>
          </a:prstGeom>
          <a:solidFill>
            <a:schemeClr val="tx2"/>
          </a:solidFill>
          <a:ln w="10795" cap="flat" cmpd="sng" algn="ctr">
            <a:noFill/>
            <a:prstDash val="solid"/>
          </a:ln>
          <a:effectLst/>
        </p:spPr>
        <p:txBody>
          <a:bodyPr rot="0" spcFirstLastPara="0" vertOverflow="overflow" horzOverflow="overflow" vert="horz" wrap="square" lIns="0" tIns="46630" rIns="0" bIns="46630" numCol="1" spcCol="0" rtlCol="0" fromWordArt="0" anchor="t" anchorCtr="0" forceAA="0" compatLnSpc="1">
            <a:prstTxWarp prst="textNoShape">
              <a:avLst/>
            </a:prstTxWarp>
            <a:noAutofit/>
          </a:bodyPr>
          <a:lstStyle/>
          <a:p>
            <a:pPr marL="0" marR="0" lvl="0" indent="0" algn="ctr" defTabSz="932390" rtl="0" eaLnBrk="1" fontAlgn="base" latinLnBrk="0" hangingPunct="1">
              <a:lnSpc>
                <a:spcPct val="90000"/>
              </a:lnSpc>
              <a:spcBef>
                <a:spcPct val="0"/>
              </a:spcBef>
              <a:spcAft>
                <a:spcPct val="0"/>
              </a:spcAft>
              <a:buClrTx/>
              <a:buSzTx/>
              <a:buFontTx/>
              <a:buNone/>
              <a:tabLst/>
              <a:defRPr/>
            </a:pPr>
            <a:endParaRPr kumimoji="0" lang="en-US" sz="1400" b="0" i="0" u="none" strike="noStrike" kern="0" cap="none" spc="0" normalizeH="0" baseline="0" noProof="0" err="1">
              <a:ln>
                <a:noFill/>
              </a:ln>
              <a:noFill/>
              <a:effectLst/>
              <a:uLnTx/>
              <a:uFillTx/>
              <a:latin typeface="Segoe UI"/>
              <a:ea typeface="+mn-ea"/>
              <a:cs typeface="+mn-cs"/>
            </a:endParaRPr>
          </a:p>
        </p:txBody>
      </p:sp>
      <p:sp>
        <p:nvSpPr>
          <p:cNvPr id="44" name="Title 3">
            <a:extLst>
              <a:ext uri="{FF2B5EF4-FFF2-40B4-BE49-F238E27FC236}">
                <a16:creationId xmlns:a16="http://schemas.microsoft.com/office/drawing/2014/main" id="{1A2A386D-C9F6-4891-B339-959114E94261}"/>
              </a:ext>
            </a:extLst>
          </p:cNvPr>
          <p:cNvSpPr>
            <a:spLocks noGrp="1"/>
          </p:cNvSpPr>
          <p:nvPr>
            <p:ph type="title"/>
          </p:nvPr>
        </p:nvSpPr>
        <p:spPr/>
        <p:txBody>
          <a:bodyPr/>
          <a:lstStyle/>
          <a:p>
            <a:r>
              <a:rPr lang="en-US"/>
              <a:t>Assessment Timeline</a:t>
            </a:r>
            <a:endParaRPr lang="en-US" dirty="0"/>
          </a:p>
        </p:txBody>
      </p:sp>
      <p:cxnSp>
        <p:nvCxnSpPr>
          <p:cNvPr id="46" name="Straight Arrow Connector 45">
            <a:extLst>
              <a:ext uri="{FF2B5EF4-FFF2-40B4-BE49-F238E27FC236}">
                <a16:creationId xmlns:a16="http://schemas.microsoft.com/office/drawing/2014/main" id="{5DA8EAEA-3877-4184-844E-39BBD10CFB69}"/>
              </a:ext>
            </a:extLst>
          </p:cNvPr>
          <p:cNvCxnSpPr>
            <a:cxnSpLocks/>
          </p:cNvCxnSpPr>
          <p:nvPr/>
        </p:nvCxnSpPr>
        <p:spPr>
          <a:xfrm>
            <a:off x="3150268" y="3847561"/>
            <a:ext cx="6264815" cy="9408"/>
          </a:xfrm>
          <a:prstGeom prst="straightConnector1">
            <a:avLst/>
          </a:prstGeom>
          <a:noFill/>
          <a:ln w="28575" cap="flat" cmpd="sng" algn="ctr">
            <a:solidFill>
              <a:schemeClr val="accent6"/>
            </a:solidFill>
            <a:prstDash val="sysDot"/>
            <a:headEnd type="oval" w="med" len="med"/>
            <a:tailEnd type="triangle" w="med" len="med"/>
          </a:ln>
          <a:effectLst/>
        </p:spPr>
      </p:cxnSp>
      <p:pic>
        <p:nvPicPr>
          <p:cNvPr id="65" name="Picture 64">
            <a:extLst>
              <a:ext uri="{FF2B5EF4-FFF2-40B4-BE49-F238E27FC236}">
                <a16:creationId xmlns:a16="http://schemas.microsoft.com/office/drawing/2014/main" id="{2A2D0065-075E-427C-9FC4-CC56D1DEE31C}"/>
              </a:ext>
            </a:extLst>
          </p:cNvPr>
          <p:cNvPicPr>
            <a:picLocks noChangeAspect="1"/>
          </p:cNvPicPr>
          <p:nvPr/>
        </p:nvPicPr>
        <p:blipFill>
          <a:blip r:embed="rId3"/>
          <a:stretch>
            <a:fillRect/>
          </a:stretch>
        </p:blipFill>
        <p:spPr>
          <a:xfrm>
            <a:off x="3013343" y="1421412"/>
            <a:ext cx="598174" cy="689113"/>
          </a:xfrm>
          <a:prstGeom prst="rect">
            <a:avLst/>
          </a:prstGeom>
        </p:spPr>
      </p:pic>
      <p:sp>
        <p:nvSpPr>
          <p:cNvPr id="9" name="Rectangle 8">
            <a:extLst>
              <a:ext uri="{FF2B5EF4-FFF2-40B4-BE49-F238E27FC236}">
                <a16:creationId xmlns:a16="http://schemas.microsoft.com/office/drawing/2014/main" id="{82EECDDF-0849-4E60-B9C4-F4D46EDB831C}"/>
              </a:ext>
            </a:extLst>
          </p:cNvPr>
          <p:cNvSpPr/>
          <p:nvPr/>
        </p:nvSpPr>
        <p:spPr>
          <a:xfrm>
            <a:off x="3875762" y="2299646"/>
            <a:ext cx="2267061" cy="652214"/>
          </a:xfrm>
          <a:prstGeom prst="rect">
            <a:avLst/>
          </a:prstGeom>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pt-PT" sz="1200" b="0" i="0" u="none" strike="noStrike" kern="1200" cap="none" spc="0" normalizeH="0" baseline="0" noProof="0" dirty="0">
                <a:ln>
                  <a:noFill/>
                </a:ln>
                <a:solidFill>
                  <a:prstClr val="white"/>
                </a:solidFill>
                <a:effectLst/>
                <a:uLnTx/>
                <a:uFillTx/>
                <a:latin typeface="Segoe UI"/>
                <a:ea typeface="+mn-ea"/>
                <a:cs typeface="+mn-cs"/>
              </a:rPr>
              <a:t>Kickoff</a:t>
            </a:r>
            <a:endParaRPr kumimoji="0" lang="en-US" sz="1200" b="0" i="0" u="none" strike="noStrike" kern="1200" cap="none" spc="0" normalizeH="0" baseline="0" noProof="0" dirty="0">
              <a:ln>
                <a:noFill/>
              </a:ln>
              <a:solidFill>
                <a:prstClr val="white"/>
              </a:solidFill>
              <a:effectLst/>
              <a:uLnTx/>
              <a:uFillTx/>
              <a:latin typeface="Segoe UI"/>
              <a:ea typeface="+mn-ea"/>
              <a:cs typeface="+mn-cs"/>
            </a:endParaRPr>
          </a:p>
        </p:txBody>
      </p:sp>
      <p:sp>
        <p:nvSpPr>
          <p:cNvPr id="10" name="Rectangle 9">
            <a:extLst>
              <a:ext uri="{FF2B5EF4-FFF2-40B4-BE49-F238E27FC236}">
                <a16:creationId xmlns:a16="http://schemas.microsoft.com/office/drawing/2014/main" id="{6E41374C-D119-401C-948C-0BA344416CC8}"/>
              </a:ext>
            </a:extLst>
          </p:cNvPr>
          <p:cNvSpPr/>
          <p:nvPr/>
        </p:nvSpPr>
        <p:spPr>
          <a:xfrm>
            <a:off x="3875762" y="3059995"/>
            <a:ext cx="2267061" cy="686440"/>
          </a:xfrm>
          <a:prstGeom prst="rect">
            <a:avLst/>
          </a:prstGeom>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287">
              <a:lnSpc>
                <a:spcPct val="90000"/>
              </a:lnSpc>
              <a:defRPr/>
            </a:pPr>
            <a:r>
              <a:rPr kumimoji="0" lang="en-US" sz="1100" b="0" i="0" u="none" strike="noStrike" kern="1200" cap="none" spc="0" normalizeH="0" baseline="0" noProof="0" dirty="0">
                <a:ln>
                  <a:noFill/>
                </a:ln>
                <a:solidFill>
                  <a:srgbClr val="FFFFFF"/>
                </a:solidFill>
                <a:effectLst/>
                <a:uLnTx/>
                <a:uFillTx/>
                <a:latin typeface="Segoe UI"/>
                <a:ea typeface="+mn-ea"/>
                <a:cs typeface="+mn-cs"/>
              </a:rPr>
              <a:t>Introduction of workload</a:t>
            </a:r>
            <a:r>
              <a:rPr lang="en-US" sz="1100" dirty="0">
                <a:solidFill>
                  <a:srgbClr val="FFFFFF"/>
                </a:solidFill>
                <a:latin typeface="Segoe UI"/>
              </a:rPr>
              <a:t> and workbook deployment</a:t>
            </a:r>
            <a:endParaRPr kumimoji="0" lang="en-US" sz="1100" b="0" i="0" u="none" strike="noStrike" kern="1200" cap="none" spc="0" normalizeH="0" baseline="0" noProof="0" dirty="0">
              <a:ln>
                <a:noFill/>
              </a:ln>
              <a:solidFill>
                <a:srgbClr val="FFFFFF"/>
              </a:solidFill>
              <a:effectLst/>
              <a:uLnTx/>
              <a:uFillTx/>
              <a:latin typeface="Segoe UI"/>
              <a:ea typeface="+mn-ea"/>
              <a:cs typeface="+mn-cs"/>
            </a:endParaRPr>
          </a:p>
        </p:txBody>
      </p:sp>
      <p:sp>
        <p:nvSpPr>
          <p:cNvPr id="14" name="Rectangle 13">
            <a:extLst>
              <a:ext uri="{FF2B5EF4-FFF2-40B4-BE49-F238E27FC236}">
                <a16:creationId xmlns:a16="http://schemas.microsoft.com/office/drawing/2014/main" id="{1D1A66FA-6D1F-4321-ACCC-03D775E09EBD}"/>
              </a:ext>
            </a:extLst>
          </p:cNvPr>
          <p:cNvSpPr/>
          <p:nvPr/>
        </p:nvSpPr>
        <p:spPr>
          <a:xfrm>
            <a:off x="6488009" y="3946151"/>
            <a:ext cx="2267061" cy="1631471"/>
          </a:xfrm>
          <a:prstGeom prst="rect">
            <a:avLst/>
          </a:prstGeom>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defTabSz="914367">
              <a:buFont typeface="Arial"/>
              <a:buChar char="•"/>
              <a:defRPr/>
            </a:pPr>
            <a:r>
              <a:rPr lang="en-US" sz="1200" dirty="0">
                <a:latin typeface="Segoe UI"/>
                <a:cs typeface="Segoe UI"/>
              </a:rPr>
              <a:t>Present executive summary &amp; assessment recommendations report</a:t>
            </a:r>
            <a:endParaRPr lang="en-US" sz="1100" dirty="0">
              <a:latin typeface="Segoe UI"/>
              <a:cs typeface="Segoe UI"/>
            </a:endParaRPr>
          </a:p>
          <a:p>
            <a:pPr marL="171450" indent="-171450" defTabSz="914367">
              <a:buFont typeface="Arial"/>
              <a:buChar char="•"/>
              <a:defRPr/>
            </a:pPr>
            <a:r>
              <a:rPr kumimoji="0" lang="en-US" sz="1200" b="0" i="0" u="none" strike="noStrike" kern="1200" cap="none" spc="0" normalizeH="0" baseline="0" noProof="0" dirty="0">
                <a:ln>
                  <a:noFill/>
                </a:ln>
                <a:effectLst/>
                <a:uLnTx/>
                <a:uFillTx/>
                <a:latin typeface="Segoe UI"/>
                <a:ea typeface="+mn-ea"/>
                <a:cs typeface="+mn-cs"/>
              </a:rPr>
              <a:t>Closeout &amp; Survey</a:t>
            </a:r>
            <a:endParaRPr lang="en-US" sz="1100" b="0" i="0" u="none" strike="noStrike" kern="1200" cap="none" spc="0" normalizeH="0" baseline="0" noProof="0" dirty="0">
              <a:ln>
                <a:noFill/>
              </a:ln>
              <a:effectLst/>
              <a:uLnTx/>
              <a:uFillTx/>
              <a:latin typeface="Segoe UI"/>
              <a:cs typeface="Segoe UI"/>
            </a:endParaRPr>
          </a:p>
        </p:txBody>
      </p:sp>
      <p:sp>
        <p:nvSpPr>
          <p:cNvPr id="40" name="Rectangle 39">
            <a:extLst>
              <a:ext uri="{FF2B5EF4-FFF2-40B4-BE49-F238E27FC236}">
                <a16:creationId xmlns:a16="http://schemas.microsoft.com/office/drawing/2014/main" id="{4256F375-2C24-4F31-9F85-CC6F0429F8B6}"/>
              </a:ext>
            </a:extLst>
          </p:cNvPr>
          <p:cNvSpPr/>
          <p:nvPr/>
        </p:nvSpPr>
        <p:spPr>
          <a:xfrm>
            <a:off x="3875762" y="3946152"/>
            <a:ext cx="2267061" cy="1631474"/>
          </a:xfrm>
          <a:prstGeom prst="rect">
            <a:avLst/>
          </a:prstGeom>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pt-PT" sz="1050" b="0" i="0" u="none" strike="noStrike" kern="1200" cap="none" spc="0" normalizeH="0" baseline="0" noProof="0" dirty="0">
                <a:ln>
                  <a:noFill/>
                </a:ln>
                <a:solidFill>
                  <a:prstClr val="white"/>
                </a:solidFill>
                <a:effectLst/>
                <a:uLnTx/>
                <a:uFillTx/>
                <a:latin typeface="Segoe UI"/>
                <a:ea typeface="+mn-lt"/>
                <a:cs typeface="Calibri" panose="020F0502020204030204"/>
              </a:rPr>
              <a:t>Azure Well-Architected Review</a:t>
            </a:r>
          </a:p>
          <a:p>
            <a:pPr algn="ctr" defTabSz="914367">
              <a:defRPr/>
            </a:pPr>
            <a:r>
              <a:rPr kumimoji="0" lang="pt-PT" sz="1050" b="0" i="0" u="none" strike="noStrike" kern="1200" cap="none" spc="0" normalizeH="0" baseline="0" noProof="0" dirty="0">
                <a:ln>
                  <a:noFill/>
                </a:ln>
                <a:effectLst/>
                <a:uLnTx/>
                <a:uFillTx/>
                <a:latin typeface="Segoe UI"/>
                <a:ea typeface="+mn-ea"/>
                <a:cs typeface="+mn-cs"/>
              </a:rPr>
              <a:t>(</a:t>
            </a:r>
            <a:r>
              <a:rPr lang="pt-PT" sz="1050" dirty="0" err="1">
                <a:latin typeface="Segoe UI"/>
              </a:rPr>
              <a:t>Workbook</a:t>
            </a:r>
            <a:r>
              <a:rPr lang="pt-PT" sz="1050" dirty="0">
                <a:latin typeface="Segoe UI"/>
              </a:rPr>
              <a:t>, </a:t>
            </a:r>
            <a:r>
              <a:rPr lang="pt-PT" sz="1050" dirty="0" err="1">
                <a:latin typeface="Segoe UI"/>
              </a:rPr>
              <a:t>assessment</a:t>
            </a:r>
            <a:r>
              <a:rPr kumimoji="0" lang="pt-PT" sz="1050" b="0" i="0" u="none" strike="noStrike" kern="1200" cap="none" spc="0" normalizeH="0" baseline="0" noProof="0" dirty="0">
                <a:ln>
                  <a:noFill/>
                </a:ln>
                <a:effectLst/>
                <a:uLnTx/>
                <a:uFillTx/>
                <a:latin typeface="Segoe UI"/>
                <a:ea typeface="+mn-ea"/>
                <a:cs typeface="+mn-cs"/>
              </a:rPr>
              <a:t> </a:t>
            </a:r>
            <a:r>
              <a:rPr kumimoji="0" lang="pt-PT" sz="1050" b="0" i="0" u="none" strike="noStrike" kern="1200" cap="none" spc="0" normalizeH="0" baseline="0" noProof="0" dirty="0" err="1">
                <a:ln>
                  <a:noFill/>
                </a:ln>
                <a:effectLst/>
                <a:uLnTx/>
                <a:uFillTx/>
                <a:latin typeface="Segoe UI"/>
                <a:ea typeface="+mn-ea"/>
                <a:cs typeface="+mn-cs"/>
              </a:rPr>
              <a:t>survey</a:t>
            </a:r>
            <a:r>
              <a:rPr kumimoji="0" lang="pt-PT" sz="1050" b="0" i="0" u="none" strike="noStrike" kern="1200" cap="none" spc="0" normalizeH="0" baseline="0" noProof="0" dirty="0">
                <a:ln>
                  <a:noFill/>
                </a:ln>
                <a:effectLst/>
                <a:uLnTx/>
                <a:uFillTx/>
                <a:latin typeface="Segoe UI"/>
                <a:ea typeface="+mn-ea"/>
                <a:cs typeface="+mn-cs"/>
              </a:rPr>
              <a:t> &amp; </a:t>
            </a:r>
            <a:r>
              <a:rPr kumimoji="0" lang="pt-PT" sz="1050" b="0" i="0" u="none" strike="noStrike" kern="1200" cap="none" spc="0" normalizeH="0" baseline="0" noProof="0" dirty="0" err="1">
                <a:ln>
                  <a:noFill/>
                </a:ln>
                <a:effectLst/>
                <a:uLnTx/>
                <a:uFillTx/>
                <a:latin typeface="Segoe UI"/>
                <a:ea typeface="+mn-ea"/>
                <a:cs typeface="+mn-cs"/>
              </a:rPr>
              <a:t>Azure</a:t>
            </a:r>
            <a:r>
              <a:rPr kumimoji="0" lang="pt-PT" sz="1050" b="0" i="0" u="none" strike="noStrike" kern="1200" cap="none" spc="0" normalizeH="0" baseline="0" noProof="0" dirty="0">
                <a:ln>
                  <a:noFill/>
                </a:ln>
                <a:effectLst/>
                <a:uLnTx/>
                <a:uFillTx/>
                <a:latin typeface="Segoe UI"/>
                <a:ea typeface="+mn-ea"/>
                <a:cs typeface="+mn-cs"/>
              </a:rPr>
              <a:t> </a:t>
            </a:r>
            <a:r>
              <a:rPr kumimoji="0" lang="pt-PT" sz="1050" b="0" i="0" u="none" strike="noStrike" kern="1200" cap="none" spc="0" normalizeH="0" baseline="0" noProof="0" dirty="0" err="1">
                <a:ln>
                  <a:noFill/>
                </a:ln>
                <a:effectLst/>
                <a:uLnTx/>
                <a:uFillTx/>
                <a:latin typeface="Segoe UI"/>
                <a:ea typeface="+mn-ea"/>
                <a:cs typeface="+mn-cs"/>
              </a:rPr>
              <a:t>Advisor</a:t>
            </a:r>
            <a:r>
              <a:rPr kumimoji="0" lang="pt-PT" sz="1050" b="0" i="0" u="none" strike="noStrike" kern="1200" cap="none" spc="0" normalizeH="0" baseline="0" noProof="0" dirty="0">
                <a:ln>
                  <a:noFill/>
                </a:ln>
                <a:effectLst/>
                <a:uLnTx/>
                <a:uFillTx/>
                <a:latin typeface="Segoe UI"/>
                <a:ea typeface="+mn-ea"/>
                <a:cs typeface="+mn-cs"/>
              </a:rPr>
              <a:t>)</a:t>
            </a:r>
            <a:endParaRPr kumimoji="0" lang="en-US" sz="1600" b="0" i="0" u="none" strike="noStrike" kern="1200" cap="none" spc="0" normalizeH="0" baseline="0" noProof="0" dirty="0">
              <a:ln>
                <a:noFill/>
              </a:ln>
              <a:effectLst/>
              <a:uLnTx/>
              <a:uFillTx/>
              <a:latin typeface="Segoe UI"/>
              <a:ea typeface="+mn-ea"/>
              <a:cs typeface="+mn-cs"/>
            </a:endParaRPr>
          </a:p>
        </p:txBody>
      </p:sp>
      <p:sp>
        <p:nvSpPr>
          <p:cNvPr id="42" name="Rectangle 41">
            <a:extLst>
              <a:ext uri="{FF2B5EF4-FFF2-40B4-BE49-F238E27FC236}">
                <a16:creationId xmlns:a16="http://schemas.microsoft.com/office/drawing/2014/main" id="{B72470AC-56F8-4A94-9252-2DDA7A2C6527}"/>
              </a:ext>
            </a:extLst>
          </p:cNvPr>
          <p:cNvSpPr/>
          <p:nvPr/>
        </p:nvSpPr>
        <p:spPr>
          <a:xfrm>
            <a:off x="6488009" y="2252609"/>
            <a:ext cx="2267061" cy="1559675"/>
          </a:xfrm>
          <a:prstGeom prst="rect">
            <a:avLst/>
          </a:prstGeom>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defTabSz="914367">
              <a:buFont typeface="Arial"/>
              <a:buChar char="•"/>
              <a:defRPr/>
            </a:pPr>
            <a:r>
              <a:rPr lang="pt-PT" sz="1200" err="1">
                <a:latin typeface="Segoe UI"/>
                <a:cs typeface="Segoe UI"/>
              </a:rPr>
              <a:t>Azure</a:t>
            </a:r>
            <a:r>
              <a:rPr lang="pt-PT" sz="1200" dirty="0">
                <a:latin typeface="Segoe UI"/>
                <a:cs typeface="Segoe UI"/>
              </a:rPr>
              <a:t> </a:t>
            </a:r>
            <a:r>
              <a:rPr lang="pt-PT" sz="1200" err="1">
                <a:latin typeface="Segoe UI"/>
                <a:cs typeface="Segoe UI"/>
              </a:rPr>
              <a:t>Well-Architected</a:t>
            </a:r>
            <a:r>
              <a:rPr lang="pt-PT" sz="1200" dirty="0">
                <a:latin typeface="Segoe UI"/>
                <a:cs typeface="Segoe UI"/>
              </a:rPr>
              <a:t> </a:t>
            </a:r>
            <a:r>
              <a:rPr lang="pt-PT" sz="1200" err="1">
                <a:latin typeface="Segoe UI"/>
                <a:cs typeface="Segoe UI"/>
              </a:rPr>
              <a:t>Review</a:t>
            </a:r>
            <a:endParaRPr lang="en-US" sz="1200" err="1">
              <a:latin typeface="Segoe UI"/>
              <a:cs typeface="Segoe UI"/>
            </a:endParaRPr>
          </a:p>
          <a:p>
            <a:pPr defTabSz="914367">
              <a:defRPr/>
            </a:pPr>
            <a:r>
              <a:rPr lang="pt-PT" sz="1200" dirty="0">
                <a:latin typeface="Segoe UI"/>
                <a:cs typeface="Segoe UI"/>
              </a:rPr>
              <a:t>(</a:t>
            </a:r>
            <a:r>
              <a:rPr lang="pt-PT" sz="1200" dirty="0" err="1">
                <a:latin typeface="Segoe UI"/>
                <a:cs typeface="Segoe UI"/>
              </a:rPr>
              <a:t>Workbook</a:t>
            </a:r>
            <a:r>
              <a:rPr lang="pt-PT" sz="1200" dirty="0">
                <a:latin typeface="Segoe UI"/>
                <a:cs typeface="Segoe UI"/>
              </a:rPr>
              <a:t>, </a:t>
            </a:r>
            <a:r>
              <a:rPr lang="pt-PT" sz="1200" dirty="0" err="1">
                <a:latin typeface="Segoe UI"/>
                <a:cs typeface="Segoe UI"/>
              </a:rPr>
              <a:t>assessment</a:t>
            </a:r>
            <a:r>
              <a:rPr lang="pt-PT" sz="1200" dirty="0">
                <a:latin typeface="Segoe UI"/>
                <a:cs typeface="Segoe UI"/>
              </a:rPr>
              <a:t> </a:t>
            </a:r>
            <a:r>
              <a:rPr lang="pt-PT" sz="1200" dirty="0" err="1">
                <a:latin typeface="Segoe UI"/>
                <a:cs typeface="Segoe UI"/>
              </a:rPr>
              <a:t>survey</a:t>
            </a:r>
            <a:r>
              <a:rPr lang="pt-PT" sz="1200" dirty="0">
                <a:latin typeface="Segoe UI"/>
                <a:cs typeface="Segoe UI"/>
              </a:rPr>
              <a:t> &amp; </a:t>
            </a:r>
            <a:r>
              <a:rPr lang="pt-PT" sz="1200" dirty="0" err="1">
                <a:latin typeface="Segoe UI"/>
                <a:cs typeface="Segoe UI"/>
              </a:rPr>
              <a:t>analysis</a:t>
            </a:r>
            <a:r>
              <a:rPr lang="pt-PT" sz="1200" dirty="0">
                <a:latin typeface="Segoe UI"/>
                <a:cs typeface="Segoe UI"/>
              </a:rPr>
              <a:t>)</a:t>
            </a:r>
            <a:endParaRPr lang="en-US" sz="1200" dirty="0">
              <a:latin typeface="Segoe UI"/>
              <a:cs typeface="Segoe UI"/>
            </a:endParaRPr>
          </a:p>
          <a:p>
            <a:pPr defTabSz="914367">
              <a:defRPr/>
            </a:pPr>
            <a:endParaRPr lang="pt-PT" sz="1200" dirty="0">
              <a:latin typeface="Segoe UI"/>
              <a:cs typeface="Segoe UI"/>
            </a:endParaRPr>
          </a:p>
          <a:p>
            <a:pPr marL="171450" indent="-171450" defTabSz="914367">
              <a:buFont typeface="Arial"/>
              <a:buChar char="•"/>
              <a:defRPr/>
            </a:pPr>
            <a:r>
              <a:rPr lang="pt-PT" sz="1200" dirty="0" err="1">
                <a:latin typeface="Segoe UI"/>
                <a:cs typeface="Segoe UI"/>
              </a:rPr>
              <a:t>Analysis</a:t>
            </a:r>
            <a:r>
              <a:rPr lang="pt-PT" sz="1200" dirty="0">
                <a:latin typeface="Segoe UI"/>
                <a:cs typeface="Segoe UI"/>
              </a:rPr>
              <a:t> &amp; </a:t>
            </a:r>
            <a:r>
              <a:rPr lang="pt-PT" sz="1200" dirty="0" err="1">
                <a:latin typeface="Segoe UI"/>
                <a:cs typeface="Segoe UI"/>
              </a:rPr>
              <a:t>generate</a:t>
            </a:r>
            <a:r>
              <a:rPr lang="pt-PT" sz="1200" dirty="0">
                <a:latin typeface="Segoe UI"/>
                <a:cs typeface="Segoe UI"/>
              </a:rPr>
              <a:t> </a:t>
            </a:r>
            <a:r>
              <a:rPr lang="pt-PT" sz="1200" dirty="0" err="1">
                <a:latin typeface="Segoe UI"/>
                <a:cs typeface="Segoe UI"/>
              </a:rPr>
              <a:t>reports</a:t>
            </a:r>
            <a:r>
              <a:rPr lang="pt-PT" sz="1200" dirty="0">
                <a:latin typeface="Segoe UI"/>
                <a:cs typeface="Segoe UI"/>
              </a:rPr>
              <a:t> </a:t>
            </a:r>
            <a:endParaRPr lang="en-US" sz="1200" dirty="0">
              <a:latin typeface="Segoe UI"/>
              <a:cs typeface="Segoe UI"/>
            </a:endParaRPr>
          </a:p>
          <a:p>
            <a:pPr defTabSz="914367">
              <a:defRPr/>
            </a:pPr>
            <a:r>
              <a:rPr lang="pt-PT" sz="1200" dirty="0" err="1">
                <a:latin typeface="Segoe UI"/>
                <a:cs typeface="Segoe UI"/>
              </a:rPr>
              <a:t>Internal</a:t>
            </a:r>
            <a:r>
              <a:rPr lang="pt-PT" sz="1200" dirty="0">
                <a:latin typeface="Segoe UI"/>
                <a:cs typeface="Segoe UI"/>
              </a:rPr>
              <a:t> </a:t>
            </a:r>
            <a:r>
              <a:rPr lang="pt-PT" sz="1200" dirty="0" err="1">
                <a:latin typeface="Segoe UI"/>
                <a:cs typeface="Segoe UI"/>
              </a:rPr>
              <a:t>review</a:t>
            </a:r>
            <a:endParaRPr lang="en-US" sz="1200" dirty="0" err="1">
              <a:latin typeface="Segoe UI"/>
              <a:cs typeface="Segoe UI"/>
            </a:endParaRPr>
          </a:p>
          <a:p>
            <a:pPr marL="0" marR="0" lvl="0" indent="0" defTabSz="914367">
              <a:lnSpc>
                <a:spcPct val="100000"/>
              </a:lnSpc>
              <a:spcBef>
                <a:spcPts val="0"/>
              </a:spcBef>
              <a:spcAft>
                <a:spcPts val="0"/>
              </a:spcAft>
              <a:buClrTx/>
              <a:buSzTx/>
              <a:buFontTx/>
              <a:buNone/>
              <a:tabLst/>
              <a:defRPr/>
            </a:pPr>
            <a:endParaRPr lang="pt-PT" sz="1200" b="0" i="0" u="none" strike="noStrike" kern="1200" cap="none" spc="0" normalizeH="0" baseline="0" noProof="0" dirty="0">
              <a:ln>
                <a:noFill/>
              </a:ln>
              <a:effectLst/>
              <a:uLnTx/>
              <a:uFillTx/>
              <a:latin typeface="Segoe UI"/>
              <a:cs typeface="Segoe UI"/>
            </a:endParaRPr>
          </a:p>
          <a:p>
            <a:pPr defTabSz="914367">
              <a:defRPr/>
            </a:pPr>
            <a:endParaRPr lang="en-US" sz="1200" dirty="0">
              <a:latin typeface="Segoe UI"/>
              <a:cs typeface="Segoe UI"/>
            </a:endParaRPr>
          </a:p>
        </p:txBody>
      </p:sp>
      <p:grpSp>
        <p:nvGrpSpPr>
          <p:cNvPr id="56" name="Group 55">
            <a:extLst>
              <a:ext uri="{FF2B5EF4-FFF2-40B4-BE49-F238E27FC236}">
                <a16:creationId xmlns:a16="http://schemas.microsoft.com/office/drawing/2014/main" id="{A956EE5C-B0A3-47EF-9D0B-464C0CC9F248}"/>
              </a:ext>
            </a:extLst>
          </p:cNvPr>
          <p:cNvGrpSpPr/>
          <p:nvPr/>
        </p:nvGrpSpPr>
        <p:grpSpPr>
          <a:xfrm>
            <a:off x="9992757" y="2738618"/>
            <a:ext cx="1566767" cy="1072245"/>
            <a:chOff x="5833032" y="5356848"/>
            <a:chExt cx="1566767" cy="1072245"/>
          </a:xfrm>
        </p:grpSpPr>
        <p:sp>
          <p:nvSpPr>
            <p:cNvPr id="62" name="Rectangle 61">
              <a:extLst>
                <a:ext uri="{FF2B5EF4-FFF2-40B4-BE49-F238E27FC236}">
                  <a16:creationId xmlns:a16="http://schemas.microsoft.com/office/drawing/2014/main" id="{F4A58037-726D-4EAF-84BC-1C7643753338}"/>
                </a:ext>
              </a:extLst>
            </p:cNvPr>
            <p:cNvSpPr/>
            <p:nvPr/>
          </p:nvSpPr>
          <p:spPr>
            <a:xfrm>
              <a:off x="6123258" y="5356848"/>
              <a:ext cx="1276541" cy="230832"/>
            </a:xfrm>
            <a:prstGeom prst="rect">
              <a:avLst/>
            </a:prstGeom>
            <a:ln>
              <a:solidFill>
                <a:srgbClr val="D2D2D2"/>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spcFirstLastPara="0" vert="horz" wrap="square" lIns="30481" tIns="23292" rIns="38532" bIns="23294" numCol="1" spcCol="1270" anchor="ctr" anchorCtr="0">
              <a:noAutofit/>
            </a:bodyPr>
            <a:lstStyle/>
            <a:p>
              <a:pPr marL="0" marR="0" lvl="1" indent="0" algn="l" defTabSz="355600" rtl="0" eaLnBrk="1" fontAlgn="auto" latinLnBrk="0" hangingPunct="1">
                <a:lnSpc>
                  <a:spcPct val="90000"/>
                </a:lnSpc>
                <a:spcBef>
                  <a:spcPct val="0"/>
                </a:spcBef>
                <a:spcAft>
                  <a:spcPct val="15000"/>
                </a:spcAft>
                <a:buClrTx/>
                <a:buSzTx/>
                <a:buFontTx/>
                <a:buNone/>
                <a:tabLst/>
                <a:defRPr/>
              </a:pPr>
              <a:r>
                <a:rPr kumimoji="0" lang="en-AU" sz="700" b="0" i="0" u="none" strike="noStrike" kern="1200" cap="none" spc="0" normalizeH="0" baseline="0" noProof="0" dirty="0">
                  <a:ln>
                    <a:noFill/>
                  </a:ln>
                  <a:solidFill>
                    <a:prstClr val="black"/>
                  </a:solidFill>
                  <a:effectLst/>
                  <a:uLnTx/>
                  <a:uFillTx/>
                  <a:latin typeface="Segoe UI"/>
                  <a:ea typeface="+mn-ea"/>
                  <a:cs typeface="+mn-cs"/>
                </a:rPr>
                <a:t>Workload Owner / Architect</a:t>
              </a:r>
            </a:p>
          </p:txBody>
        </p:sp>
        <p:sp>
          <p:nvSpPr>
            <p:cNvPr id="66" name="Freeform: Shape 65">
              <a:extLst>
                <a:ext uri="{FF2B5EF4-FFF2-40B4-BE49-F238E27FC236}">
                  <a16:creationId xmlns:a16="http://schemas.microsoft.com/office/drawing/2014/main" id="{BF571F50-64FE-4E98-921E-31A5D4998DC8}"/>
                </a:ext>
              </a:extLst>
            </p:cNvPr>
            <p:cNvSpPr/>
            <p:nvPr/>
          </p:nvSpPr>
          <p:spPr>
            <a:xfrm>
              <a:off x="5833032" y="5356848"/>
              <a:ext cx="295302" cy="206201"/>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C000"/>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48166" tIns="29116" rIns="48166" bIns="29116"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WO</a:t>
              </a:r>
            </a:p>
          </p:txBody>
        </p:sp>
        <p:sp>
          <p:nvSpPr>
            <p:cNvPr id="67" name="Rectangle 66">
              <a:extLst>
                <a:ext uri="{FF2B5EF4-FFF2-40B4-BE49-F238E27FC236}">
                  <a16:creationId xmlns:a16="http://schemas.microsoft.com/office/drawing/2014/main" id="{0971ECB8-67E7-4FEF-A29F-EF72F3CCD64E}"/>
                </a:ext>
              </a:extLst>
            </p:cNvPr>
            <p:cNvSpPr/>
            <p:nvPr/>
          </p:nvSpPr>
          <p:spPr>
            <a:xfrm>
              <a:off x="6123258" y="5573359"/>
              <a:ext cx="1276541" cy="230832"/>
            </a:xfrm>
            <a:prstGeom prst="rect">
              <a:avLst/>
            </a:prstGeom>
            <a:ln>
              <a:solidFill>
                <a:srgbClr val="D2D2D2"/>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spcFirstLastPara="0" vert="horz" wrap="square" lIns="30481" tIns="23292" rIns="38532" bIns="23294" numCol="1" spcCol="1270" anchor="ctr" anchorCtr="0">
              <a:noAutofit/>
            </a:bodyPr>
            <a:lstStyle/>
            <a:p>
              <a:pPr marL="0" marR="0" lvl="1" indent="0" algn="l" defTabSz="355600" rtl="0" eaLnBrk="1" fontAlgn="auto" latinLnBrk="0" hangingPunct="1">
                <a:lnSpc>
                  <a:spcPct val="90000"/>
                </a:lnSpc>
                <a:spcBef>
                  <a:spcPct val="0"/>
                </a:spcBef>
                <a:spcAft>
                  <a:spcPct val="15000"/>
                </a:spcAft>
                <a:buClrTx/>
                <a:buSzTx/>
                <a:buFontTx/>
                <a:buNone/>
                <a:tabLst/>
                <a:defRPr/>
              </a:pPr>
              <a:r>
                <a:rPr kumimoji="0" lang="en-AU" sz="700" b="0" i="0" u="none" strike="noStrike" kern="1200" cap="none" spc="0" normalizeH="0" baseline="0" noProof="0" dirty="0">
                  <a:ln>
                    <a:noFill/>
                  </a:ln>
                  <a:solidFill>
                    <a:prstClr val="black"/>
                  </a:solidFill>
                  <a:effectLst/>
                  <a:uLnTx/>
                  <a:uFillTx/>
                  <a:latin typeface="Segoe UI"/>
                  <a:ea typeface="+mn-ea"/>
                  <a:cs typeface="+mn-cs"/>
                </a:rPr>
                <a:t>Executive / Sponsor</a:t>
              </a:r>
            </a:p>
          </p:txBody>
        </p:sp>
        <p:sp>
          <p:nvSpPr>
            <p:cNvPr id="68" name="Freeform: Shape 67">
              <a:extLst>
                <a:ext uri="{FF2B5EF4-FFF2-40B4-BE49-F238E27FC236}">
                  <a16:creationId xmlns:a16="http://schemas.microsoft.com/office/drawing/2014/main" id="{317153B1-582F-4962-B462-1DFBB63800AB}"/>
                </a:ext>
              </a:extLst>
            </p:cNvPr>
            <p:cNvSpPr/>
            <p:nvPr/>
          </p:nvSpPr>
          <p:spPr>
            <a:xfrm>
              <a:off x="5833032" y="5573359"/>
              <a:ext cx="295302" cy="206201"/>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0000"/>
            </a:solidFill>
            <a:ln>
              <a:no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8166" tIns="29116" rIns="48166" bIns="29116"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EXEC</a:t>
              </a:r>
            </a:p>
          </p:txBody>
        </p:sp>
        <p:sp>
          <p:nvSpPr>
            <p:cNvPr id="71" name="Rectangle 70">
              <a:extLst>
                <a:ext uri="{FF2B5EF4-FFF2-40B4-BE49-F238E27FC236}">
                  <a16:creationId xmlns:a16="http://schemas.microsoft.com/office/drawing/2014/main" id="{85E65490-5DFB-4BED-B880-B0387655E8C4}"/>
                </a:ext>
              </a:extLst>
            </p:cNvPr>
            <p:cNvSpPr/>
            <p:nvPr/>
          </p:nvSpPr>
          <p:spPr>
            <a:xfrm>
              <a:off x="6123258" y="5789870"/>
              <a:ext cx="1276541" cy="230832"/>
            </a:xfrm>
            <a:prstGeom prst="rect">
              <a:avLst/>
            </a:prstGeom>
            <a:ln>
              <a:solidFill>
                <a:srgbClr val="D2D2D2"/>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spcFirstLastPara="0" vert="horz" wrap="square" lIns="30481" tIns="23292" rIns="38532" bIns="23294" numCol="1" spcCol="1270" anchor="ctr" anchorCtr="0">
              <a:noAutofit/>
            </a:bodyPr>
            <a:lstStyle/>
            <a:p>
              <a:pPr marL="0" marR="0" lvl="1" indent="0" algn="l" defTabSz="355600" rtl="0" eaLnBrk="1" fontAlgn="auto" latinLnBrk="0" hangingPunct="1">
                <a:lnSpc>
                  <a:spcPct val="90000"/>
                </a:lnSpc>
                <a:spcBef>
                  <a:spcPct val="0"/>
                </a:spcBef>
                <a:spcAft>
                  <a:spcPct val="15000"/>
                </a:spcAft>
                <a:buClrTx/>
                <a:buSzTx/>
                <a:buFontTx/>
                <a:buNone/>
                <a:tabLst/>
                <a:defRPr/>
              </a:pPr>
              <a:r>
                <a:rPr kumimoji="0" lang="en-AU" sz="700" b="0" i="0" u="none" strike="noStrike" kern="1200" cap="none" spc="0" normalizeH="0" baseline="0" noProof="0" dirty="0">
                  <a:ln>
                    <a:noFill/>
                  </a:ln>
                  <a:solidFill>
                    <a:prstClr val="black"/>
                  </a:solidFill>
                  <a:effectLst/>
                  <a:uLnTx/>
                  <a:uFillTx/>
                  <a:latin typeface="Segoe UI"/>
                  <a:ea typeface="+mn-ea"/>
                  <a:cs typeface="+mn-cs"/>
                </a:rPr>
                <a:t>Tech SMEs</a:t>
              </a:r>
            </a:p>
          </p:txBody>
        </p:sp>
        <p:sp>
          <p:nvSpPr>
            <p:cNvPr id="72" name="Freeform: Shape 71">
              <a:extLst>
                <a:ext uri="{FF2B5EF4-FFF2-40B4-BE49-F238E27FC236}">
                  <a16:creationId xmlns:a16="http://schemas.microsoft.com/office/drawing/2014/main" id="{FBBC7B58-7853-465A-ADC7-CC943DE4CC05}"/>
                </a:ext>
              </a:extLst>
            </p:cNvPr>
            <p:cNvSpPr/>
            <p:nvPr/>
          </p:nvSpPr>
          <p:spPr>
            <a:xfrm>
              <a:off x="5833032" y="5789870"/>
              <a:ext cx="295302" cy="206201"/>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00B050"/>
            </a:solidFill>
            <a:ln>
              <a:noFill/>
            </a:ln>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48166" tIns="29116" rIns="48166" bIns="29116"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SME</a:t>
              </a:r>
            </a:p>
          </p:txBody>
        </p:sp>
        <p:sp>
          <p:nvSpPr>
            <p:cNvPr id="73" name="Rectangle 72">
              <a:extLst>
                <a:ext uri="{FF2B5EF4-FFF2-40B4-BE49-F238E27FC236}">
                  <a16:creationId xmlns:a16="http://schemas.microsoft.com/office/drawing/2014/main" id="{724D9CA3-9D5C-4A4A-BC48-D3F55D52875D}"/>
                </a:ext>
              </a:extLst>
            </p:cNvPr>
            <p:cNvSpPr/>
            <p:nvPr/>
          </p:nvSpPr>
          <p:spPr>
            <a:xfrm>
              <a:off x="6123258" y="6006380"/>
              <a:ext cx="1276541" cy="230832"/>
            </a:xfrm>
            <a:prstGeom prst="rect">
              <a:avLst/>
            </a:prstGeom>
            <a:ln>
              <a:solidFill>
                <a:srgbClr val="D2D2D2"/>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spcFirstLastPara="0" vert="horz" wrap="square" lIns="30481" tIns="23293" rIns="38532" bIns="23293" numCol="1" spcCol="1270" anchor="ctr" anchorCtr="0">
              <a:noAutofit/>
            </a:bodyPr>
            <a:lstStyle/>
            <a:p>
              <a:pPr marL="0" marR="0" lvl="1" indent="0" algn="l" defTabSz="355600" rtl="0" eaLnBrk="1" fontAlgn="auto" latinLnBrk="0" hangingPunct="1">
                <a:lnSpc>
                  <a:spcPct val="90000"/>
                </a:lnSpc>
                <a:spcBef>
                  <a:spcPct val="0"/>
                </a:spcBef>
                <a:spcAft>
                  <a:spcPct val="15000"/>
                </a:spcAft>
                <a:buClrTx/>
                <a:buSzTx/>
                <a:buFontTx/>
                <a:buNone/>
                <a:tabLst/>
                <a:defRPr/>
              </a:pPr>
              <a:r>
                <a:rPr kumimoji="0" lang="en-AU" sz="700" b="0" i="0" u="none" strike="noStrike" kern="1200" cap="none" spc="0" normalizeH="0" baseline="0" noProof="0" dirty="0">
                  <a:ln>
                    <a:noFill/>
                  </a:ln>
                  <a:solidFill>
                    <a:prstClr val="black"/>
                  </a:solidFill>
                  <a:effectLst/>
                  <a:uLnTx/>
                  <a:uFillTx/>
                  <a:latin typeface="Segoe UI"/>
                  <a:ea typeface="+mn-ea"/>
                  <a:cs typeface="+mn-cs"/>
                </a:rPr>
                <a:t>Microsoft Customer Engineer</a:t>
              </a:r>
            </a:p>
          </p:txBody>
        </p:sp>
        <p:sp>
          <p:nvSpPr>
            <p:cNvPr id="75" name="Freeform: Shape 74">
              <a:extLst>
                <a:ext uri="{FF2B5EF4-FFF2-40B4-BE49-F238E27FC236}">
                  <a16:creationId xmlns:a16="http://schemas.microsoft.com/office/drawing/2014/main" id="{415121AF-337F-47CB-81E9-A5E3B4EDBE4F}"/>
                </a:ext>
              </a:extLst>
            </p:cNvPr>
            <p:cNvSpPr/>
            <p:nvPr/>
          </p:nvSpPr>
          <p:spPr>
            <a:xfrm>
              <a:off x="5833032" y="6006381"/>
              <a:ext cx="295302" cy="206201"/>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FF00"/>
            </a:solidFill>
            <a:ln>
              <a:noFill/>
            </a:ln>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48166" tIns="29116" rIns="48166" bIns="29116"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CE</a:t>
              </a:r>
            </a:p>
          </p:txBody>
        </p:sp>
        <p:sp>
          <p:nvSpPr>
            <p:cNvPr id="77" name="Rectangle 76">
              <a:extLst>
                <a:ext uri="{FF2B5EF4-FFF2-40B4-BE49-F238E27FC236}">
                  <a16:creationId xmlns:a16="http://schemas.microsoft.com/office/drawing/2014/main" id="{88C0E6E8-29CC-402A-BC0F-641ECD58EACF}"/>
                </a:ext>
              </a:extLst>
            </p:cNvPr>
            <p:cNvSpPr/>
            <p:nvPr/>
          </p:nvSpPr>
          <p:spPr>
            <a:xfrm>
              <a:off x="6123258" y="6222891"/>
              <a:ext cx="1276541" cy="204467"/>
            </a:xfrm>
            <a:prstGeom prst="rect">
              <a:avLst/>
            </a:prstGeom>
            <a:ln>
              <a:solidFill>
                <a:srgbClr val="D2D2D2"/>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spcFirstLastPara="0" vert="horz" wrap="square" lIns="30481" tIns="23293" rIns="38532" bIns="23294" numCol="1" spcCol="1270" anchor="ctr" anchorCtr="0">
              <a:noAutofit/>
            </a:bodyPr>
            <a:lstStyle/>
            <a:p>
              <a:pPr marL="0" marR="0" lvl="1" indent="0" algn="l" defTabSz="355600" rtl="0" eaLnBrk="1" fontAlgn="auto" latinLnBrk="0" hangingPunct="1">
                <a:lnSpc>
                  <a:spcPct val="90000"/>
                </a:lnSpc>
                <a:spcBef>
                  <a:spcPct val="0"/>
                </a:spcBef>
                <a:spcAft>
                  <a:spcPct val="15000"/>
                </a:spcAft>
                <a:buClrTx/>
                <a:buSzTx/>
                <a:buFontTx/>
                <a:buNone/>
                <a:tabLst/>
                <a:defRPr/>
              </a:pPr>
              <a:r>
                <a:rPr kumimoji="0" lang="en-AU" sz="700" b="0" i="0" u="none" strike="noStrike" kern="1200" cap="none" spc="0" normalizeH="0" baseline="0" noProof="0" dirty="0">
                  <a:ln>
                    <a:noFill/>
                  </a:ln>
                  <a:solidFill>
                    <a:prstClr val="black"/>
                  </a:solidFill>
                  <a:effectLst/>
                  <a:uLnTx/>
                  <a:uFillTx/>
                  <a:latin typeface="Segoe UI"/>
                  <a:ea typeface="+mn-ea"/>
                  <a:cs typeface="+mn-cs"/>
                </a:rPr>
                <a:t>Microsoft CSAM &amp; CSA</a:t>
              </a:r>
            </a:p>
          </p:txBody>
        </p:sp>
        <p:sp>
          <p:nvSpPr>
            <p:cNvPr id="78" name="Freeform: Shape 77">
              <a:extLst>
                <a:ext uri="{FF2B5EF4-FFF2-40B4-BE49-F238E27FC236}">
                  <a16:creationId xmlns:a16="http://schemas.microsoft.com/office/drawing/2014/main" id="{330C5824-EC09-4B90-8E3F-A0DD72B2EDCD}"/>
                </a:ext>
              </a:extLst>
            </p:cNvPr>
            <p:cNvSpPr/>
            <p:nvPr/>
          </p:nvSpPr>
          <p:spPr>
            <a:xfrm>
              <a:off x="5833032" y="6222892"/>
              <a:ext cx="295302" cy="206201"/>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002060"/>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48166" tIns="29116" rIns="48166" bIns="29116"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a:ln>
                    <a:noFill/>
                  </a:ln>
                  <a:solidFill>
                    <a:prstClr val="white"/>
                  </a:solidFill>
                  <a:effectLst/>
                  <a:uLnTx/>
                  <a:uFillTx/>
                  <a:latin typeface="Segoe UI"/>
                  <a:ea typeface="+mn-ea"/>
                  <a:cs typeface="+mn-cs"/>
                </a:rPr>
                <a:t>MS</a:t>
              </a:r>
            </a:p>
          </p:txBody>
        </p:sp>
      </p:grpSp>
      <p:sp>
        <p:nvSpPr>
          <p:cNvPr id="15" name="Freeform: Shape 14">
            <a:extLst>
              <a:ext uri="{FF2B5EF4-FFF2-40B4-BE49-F238E27FC236}">
                <a16:creationId xmlns:a16="http://schemas.microsoft.com/office/drawing/2014/main" id="{5CABF4B5-DDB4-4A56-A9C8-CA309561CAEC}"/>
              </a:ext>
            </a:extLst>
          </p:cNvPr>
          <p:cNvSpPr/>
          <p:nvPr/>
        </p:nvSpPr>
        <p:spPr>
          <a:xfrm>
            <a:off x="-598210" y="421994"/>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FF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CE</a:t>
            </a:r>
          </a:p>
        </p:txBody>
      </p:sp>
      <p:sp>
        <p:nvSpPr>
          <p:cNvPr id="16" name="Freeform: Shape 15">
            <a:extLst>
              <a:ext uri="{FF2B5EF4-FFF2-40B4-BE49-F238E27FC236}">
                <a16:creationId xmlns:a16="http://schemas.microsoft.com/office/drawing/2014/main" id="{1A5A0450-9FBB-4A8D-8A6D-928FE1629C06}"/>
              </a:ext>
            </a:extLst>
          </p:cNvPr>
          <p:cNvSpPr/>
          <p:nvPr/>
        </p:nvSpPr>
        <p:spPr>
          <a:xfrm>
            <a:off x="-598210" y="638505"/>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C0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WO</a:t>
            </a:r>
          </a:p>
        </p:txBody>
      </p:sp>
      <p:sp>
        <p:nvSpPr>
          <p:cNvPr id="17" name="Freeform: Shape 16">
            <a:extLst>
              <a:ext uri="{FF2B5EF4-FFF2-40B4-BE49-F238E27FC236}">
                <a16:creationId xmlns:a16="http://schemas.microsoft.com/office/drawing/2014/main" id="{27A1C631-C1D0-4F4E-A335-137DE916D2BC}"/>
              </a:ext>
            </a:extLst>
          </p:cNvPr>
          <p:cNvSpPr/>
          <p:nvPr/>
        </p:nvSpPr>
        <p:spPr>
          <a:xfrm>
            <a:off x="-598210" y="855016"/>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00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EXEC</a:t>
            </a:r>
          </a:p>
        </p:txBody>
      </p:sp>
      <p:sp>
        <p:nvSpPr>
          <p:cNvPr id="19" name="Freeform: Shape 18">
            <a:extLst>
              <a:ext uri="{FF2B5EF4-FFF2-40B4-BE49-F238E27FC236}">
                <a16:creationId xmlns:a16="http://schemas.microsoft.com/office/drawing/2014/main" id="{2F227AD4-2A71-4B8D-9077-B367C2D17A29}"/>
              </a:ext>
            </a:extLst>
          </p:cNvPr>
          <p:cNvSpPr/>
          <p:nvPr/>
        </p:nvSpPr>
        <p:spPr>
          <a:xfrm>
            <a:off x="-598210" y="1071527"/>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00B05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SME</a:t>
            </a:r>
          </a:p>
        </p:txBody>
      </p:sp>
      <p:sp>
        <p:nvSpPr>
          <p:cNvPr id="21" name="Freeform: Shape 20">
            <a:extLst>
              <a:ext uri="{FF2B5EF4-FFF2-40B4-BE49-F238E27FC236}">
                <a16:creationId xmlns:a16="http://schemas.microsoft.com/office/drawing/2014/main" id="{6F1A077B-B988-4AF5-A160-96F93AD08625}"/>
              </a:ext>
            </a:extLst>
          </p:cNvPr>
          <p:cNvSpPr/>
          <p:nvPr/>
        </p:nvSpPr>
        <p:spPr>
          <a:xfrm>
            <a:off x="-598210" y="1288038"/>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00206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a:ln>
                  <a:noFill/>
                </a:ln>
                <a:solidFill>
                  <a:prstClr val="white"/>
                </a:solidFill>
                <a:effectLst/>
                <a:uLnTx/>
                <a:uFillTx/>
                <a:latin typeface="Segoe UI"/>
                <a:ea typeface="+mn-ea"/>
                <a:cs typeface="+mn-cs"/>
              </a:rPr>
              <a:t>MS</a:t>
            </a:r>
          </a:p>
        </p:txBody>
      </p:sp>
      <p:sp>
        <p:nvSpPr>
          <p:cNvPr id="49" name="Arrow: Right 48">
            <a:extLst>
              <a:ext uri="{FF2B5EF4-FFF2-40B4-BE49-F238E27FC236}">
                <a16:creationId xmlns:a16="http://schemas.microsoft.com/office/drawing/2014/main" id="{E2D7E6F2-3AF3-4F83-B0BC-50FCC11D5B77}"/>
              </a:ext>
            </a:extLst>
          </p:cNvPr>
          <p:cNvSpPr/>
          <p:nvPr/>
        </p:nvSpPr>
        <p:spPr>
          <a:xfrm>
            <a:off x="6380008" y="1501401"/>
            <a:ext cx="2979847" cy="832481"/>
          </a:xfrm>
          <a:prstGeom prst="rightArrow">
            <a:avLst>
              <a:gd name="adj1" fmla="val 53052"/>
              <a:gd name="adj2" fmla="val 46186"/>
            </a:avLst>
          </a:prstGeom>
          <a:solidFill>
            <a:schemeClr val="accent2"/>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effectLst/>
                <a:uLnTx/>
                <a:uFillTx/>
                <a:latin typeface="Segoe UI"/>
                <a:ea typeface="+mn-ea"/>
                <a:cs typeface="Segoe UI"/>
              </a:rPr>
              <a:t>Day </a:t>
            </a:r>
            <a:r>
              <a:rPr lang="en-US" sz="1600" b="1" dirty="0">
                <a:latin typeface="Segoe UI"/>
                <a:cs typeface="Segoe UI"/>
              </a:rPr>
              <a:t>2</a:t>
            </a:r>
            <a:endParaRPr kumimoji="0" lang="en-US" sz="1600" b="1" i="0" u="none" strike="noStrike" kern="1200" cap="none" spc="0" normalizeH="0" baseline="0" noProof="0" dirty="0">
              <a:ln>
                <a:noFill/>
              </a:ln>
              <a:solidFill>
                <a:prstClr val="white"/>
              </a:solidFill>
              <a:effectLst/>
              <a:uLnTx/>
              <a:uFillTx/>
              <a:latin typeface="Segoe UI"/>
              <a:ea typeface="+mn-ea"/>
              <a:cs typeface="Segoe UI" panose="020B0502040204020203" pitchFamily="34" charset="0"/>
            </a:endParaRPr>
          </a:p>
        </p:txBody>
      </p:sp>
      <p:grpSp>
        <p:nvGrpSpPr>
          <p:cNvPr id="104" name="Group 103">
            <a:extLst>
              <a:ext uri="{FF2B5EF4-FFF2-40B4-BE49-F238E27FC236}">
                <a16:creationId xmlns:a16="http://schemas.microsoft.com/office/drawing/2014/main" id="{8A370435-BC94-4E59-BCAC-4D421FAB1D55}"/>
              </a:ext>
            </a:extLst>
          </p:cNvPr>
          <p:cNvGrpSpPr/>
          <p:nvPr/>
        </p:nvGrpSpPr>
        <p:grpSpPr>
          <a:xfrm>
            <a:off x="3875762" y="2821748"/>
            <a:ext cx="1260626" cy="127769"/>
            <a:chOff x="989950" y="6250433"/>
            <a:chExt cx="1260626" cy="127769"/>
          </a:xfrm>
        </p:grpSpPr>
        <p:sp>
          <p:nvSpPr>
            <p:cNvPr id="106" name="Freeform: Shape 105">
              <a:extLst>
                <a:ext uri="{FF2B5EF4-FFF2-40B4-BE49-F238E27FC236}">
                  <a16:creationId xmlns:a16="http://schemas.microsoft.com/office/drawing/2014/main" id="{ECFAC4A0-273F-4AB6-8B80-6F9D7E14BBA4}"/>
                </a:ext>
              </a:extLst>
            </p:cNvPr>
            <p:cNvSpPr/>
            <p:nvPr/>
          </p:nvSpPr>
          <p:spPr>
            <a:xfrm>
              <a:off x="98995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FF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CE</a:t>
              </a:r>
            </a:p>
          </p:txBody>
        </p:sp>
        <p:sp>
          <p:nvSpPr>
            <p:cNvPr id="108" name="Freeform: Shape 107">
              <a:extLst>
                <a:ext uri="{FF2B5EF4-FFF2-40B4-BE49-F238E27FC236}">
                  <a16:creationId xmlns:a16="http://schemas.microsoft.com/office/drawing/2014/main" id="{4F840B34-A221-42AF-AEAC-5B3A74737C2C}"/>
                </a:ext>
              </a:extLst>
            </p:cNvPr>
            <p:cNvSpPr/>
            <p:nvPr/>
          </p:nvSpPr>
          <p:spPr>
            <a:xfrm>
              <a:off x="124195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C0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WO</a:t>
              </a:r>
            </a:p>
          </p:txBody>
        </p:sp>
        <p:sp>
          <p:nvSpPr>
            <p:cNvPr id="109" name="Freeform: Shape 108">
              <a:extLst>
                <a:ext uri="{FF2B5EF4-FFF2-40B4-BE49-F238E27FC236}">
                  <a16:creationId xmlns:a16="http://schemas.microsoft.com/office/drawing/2014/main" id="{7013771D-22C6-40B0-BC73-D1B9C3711E7E}"/>
                </a:ext>
              </a:extLst>
            </p:cNvPr>
            <p:cNvSpPr/>
            <p:nvPr/>
          </p:nvSpPr>
          <p:spPr>
            <a:xfrm>
              <a:off x="1491417"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00B05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SME</a:t>
              </a:r>
            </a:p>
          </p:txBody>
        </p:sp>
        <p:sp>
          <p:nvSpPr>
            <p:cNvPr id="110" name="Freeform: Shape 109">
              <a:extLst>
                <a:ext uri="{FF2B5EF4-FFF2-40B4-BE49-F238E27FC236}">
                  <a16:creationId xmlns:a16="http://schemas.microsoft.com/office/drawing/2014/main" id="{F89054A2-85B9-4EE1-9580-1DAC54036616}"/>
                </a:ext>
              </a:extLst>
            </p:cNvPr>
            <p:cNvSpPr/>
            <p:nvPr/>
          </p:nvSpPr>
          <p:spPr>
            <a:xfrm>
              <a:off x="174524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00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EXEC</a:t>
              </a:r>
            </a:p>
          </p:txBody>
        </p:sp>
        <p:sp>
          <p:nvSpPr>
            <p:cNvPr id="112" name="Freeform: Shape 111">
              <a:extLst>
                <a:ext uri="{FF2B5EF4-FFF2-40B4-BE49-F238E27FC236}">
                  <a16:creationId xmlns:a16="http://schemas.microsoft.com/office/drawing/2014/main" id="{E270B39D-2EC0-4BC6-A432-4B1806570F46}"/>
                </a:ext>
              </a:extLst>
            </p:cNvPr>
            <p:cNvSpPr/>
            <p:nvPr/>
          </p:nvSpPr>
          <p:spPr>
            <a:xfrm>
              <a:off x="1998576"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00206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MS</a:t>
              </a:r>
            </a:p>
          </p:txBody>
        </p:sp>
      </p:grpSp>
      <p:grpSp>
        <p:nvGrpSpPr>
          <p:cNvPr id="114" name="Group 113">
            <a:extLst>
              <a:ext uri="{FF2B5EF4-FFF2-40B4-BE49-F238E27FC236}">
                <a16:creationId xmlns:a16="http://schemas.microsoft.com/office/drawing/2014/main" id="{D4DF7D03-45E1-4BD7-9951-73400CC59852}"/>
              </a:ext>
            </a:extLst>
          </p:cNvPr>
          <p:cNvGrpSpPr/>
          <p:nvPr/>
        </p:nvGrpSpPr>
        <p:grpSpPr>
          <a:xfrm>
            <a:off x="3875762" y="3623647"/>
            <a:ext cx="753467" cy="127769"/>
            <a:chOff x="989950" y="6250433"/>
            <a:chExt cx="753467" cy="127769"/>
          </a:xfrm>
        </p:grpSpPr>
        <p:sp>
          <p:nvSpPr>
            <p:cNvPr id="116" name="Freeform: Shape 115">
              <a:extLst>
                <a:ext uri="{FF2B5EF4-FFF2-40B4-BE49-F238E27FC236}">
                  <a16:creationId xmlns:a16="http://schemas.microsoft.com/office/drawing/2014/main" id="{1A588672-F80E-4E1F-9DDF-C1F02275F932}"/>
                </a:ext>
              </a:extLst>
            </p:cNvPr>
            <p:cNvSpPr/>
            <p:nvPr/>
          </p:nvSpPr>
          <p:spPr>
            <a:xfrm>
              <a:off x="98995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FF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CE</a:t>
              </a:r>
            </a:p>
          </p:txBody>
        </p:sp>
        <p:sp>
          <p:nvSpPr>
            <p:cNvPr id="118" name="Freeform: Shape 117">
              <a:extLst>
                <a:ext uri="{FF2B5EF4-FFF2-40B4-BE49-F238E27FC236}">
                  <a16:creationId xmlns:a16="http://schemas.microsoft.com/office/drawing/2014/main" id="{579882FC-89AB-4F72-A17D-3254E8222B86}"/>
                </a:ext>
              </a:extLst>
            </p:cNvPr>
            <p:cNvSpPr/>
            <p:nvPr/>
          </p:nvSpPr>
          <p:spPr>
            <a:xfrm>
              <a:off x="124195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C0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WO</a:t>
              </a:r>
            </a:p>
          </p:txBody>
        </p:sp>
        <p:sp>
          <p:nvSpPr>
            <p:cNvPr id="120" name="Freeform: Shape 119">
              <a:extLst>
                <a:ext uri="{FF2B5EF4-FFF2-40B4-BE49-F238E27FC236}">
                  <a16:creationId xmlns:a16="http://schemas.microsoft.com/office/drawing/2014/main" id="{821AE8D1-6E6A-4F1E-8045-EB77C43946A4}"/>
                </a:ext>
              </a:extLst>
            </p:cNvPr>
            <p:cNvSpPr/>
            <p:nvPr/>
          </p:nvSpPr>
          <p:spPr>
            <a:xfrm>
              <a:off x="1491417"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00B05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SME</a:t>
              </a:r>
            </a:p>
          </p:txBody>
        </p:sp>
      </p:grpSp>
      <p:grpSp>
        <p:nvGrpSpPr>
          <p:cNvPr id="124" name="Group 123">
            <a:extLst>
              <a:ext uri="{FF2B5EF4-FFF2-40B4-BE49-F238E27FC236}">
                <a16:creationId xmlns:a16="http://schemas.microsoft.com/office/drawing/2014/main" id="{708CFD44-828B-4E76-88DE-063EC762584A}"/>
              </a:ext>
            </a:extLst>
          </p:cNvPr>
          <p:cNvGrpSpPr/>
          <p:nvPr/>
        </p:nvGrpSpPr>
        <p:grpSpPr>
          <a:xfrm>
            <a:off x="3875762" y="5447811"/>
            <a:ext cx="753467" cy="127769"/>
            <a:chOff x="989950" y="6250433"/>
            <a:chExt cx="753467" cy="127769"/>
          </a:xfrm>
        </p:grpSpPr>
        <p:sp>
          <p:nvSpPr>
            <p:cNvPr id="126" name="Freeform: Shape 125">
              <a:extLst>
                <a:ext uri="{FF2B5EF4-FFF2-40B4-BE49-F238E27FC236}">
                  <a16:creationId xmlns:a16="http://schemas.microsoft.com/office/drawing/2014/main" id="{66901AEB-F960-4FBA-B006-3BBEF54654E1}"/>
                </a:ext>
              </a:extLst>
            </p:cNvPr>
            <p:cNvSpPr/>
            <p:nvPr/>
          </p:nvSpPr>
          <p:spPr>
            <a:xfrm>
              <a:off x="98995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FF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CE</a:t>
              </a:r>
            </a:p>
          </p:txBody>
        </p:sp>
        <p:sp>
          <p:nvSpPr>
            <p:cNvPr id="128" name="Freeform: Shape 127">
              <a:extLst>
                <a:ext uri="{FF2B5EF4-FFF2-40B4-BE49-F238E27FC236}">
                  <a16:creationId xmlns:a16="http://schemas.microsoft.com/office/drawing/2014/main" id="{50A4716A-F4A1-4EB8-A654-9ED6A53CD36C}"/>
                </a:ext>
              </a:extLst>
            </p:cNvPr>
            <p:cNvSpPr/>
            <p:nvPr/>
          </p:nvSpPr>
          <p:spPr>
            <a:xfrm>
              <a:off x="124195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C0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WO</a:t>
              </a:r>
            </a:p>
          </p:txBody>
        </p:sp>
        <p:sp>
          <p:nvSpPr>
            <p:cNvPr id="130" name="Freeform: Shape 129">
              <a:extLst>
                <a:ext uri="{FF2B5EF4-FFF2-40B4-BE49-F238E27FC236}">
                  <a16:creationId xmlns:a16="http://schemas.microsoft.com/office/drawing/2014/main" id="{44F1A95E-C47E-4F29-B7F8-29FBA505C57F}"/>
                </a:ext>
              </a:extLst>
            </p:cNvPr>
            <p:cNvSpPr/>
            <p:nvPr/>
          </p:nvSpPr>
          <p:spPr>
            <a:xfrm>
              <a:off x="1491417"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00B05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SME</a:t>
              </a:r>
            </a:p>
          </p:txBody>
        </p:sp>
      </p:grpSp>
      <p:grpSp>
        <p:nvGrpSpPr>
          <p:cNvPr id="136" name="Group 135">
            <a:extLst>
              <a:ext uri="{FF2B5EF4-FFF2-40B4-BE49-F238E27FC236}">
                <a16:creationId xmlns:a16="http://schemas.microsoft.com/office/drawing/2014/main" id="{304138CF-4EDD-4D80-BA8F-8293C91D870A}"/>
              </a:ext>
            </a:extLst>
          </p:cNvPr>
          <p:cNvGrpSpPr/>
          <p:nvPr/>
        </p:nvGrpSpPr>
        <p:grpSpPr>
          <a:xfrm>
            <a:off x="6487985" y="3627326"/>
            <a:ext cx="753467" cy="127769"/>
            <a:chOff x="989950" y="6250433"/>
            <a:chExt cx="753467" cy="127769"/>
          </a:xfrm>
        </p:grpSpPr>
        <p:sp>
          <p:nvSpPr>
            <p:cNvPr id="138" name="Freeform: Shape 137">
              <a:extLst>
                <a:ext uri="{FF2B5EF4-FFF2-40B4-BE49-F238E27FC236}">
                  <a16:creationId xmlns:a16="http://schemas.microsoft.com/office/drawing/2014/main" id="{EDD58265-103E-4D84-A3DA-D8E0920ACB61}"/>
                </a:ext>
              </a:extLst>
            </p:cNvPr>
            <p:cNvSpPr/>
            <p:nvPr/>
          </p:nvSpPr>
          <p:spPr>
            <a:xfrm>
              <a:off x="98995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FF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CE</a:t>
              </a:r>
            </a:p>
          </p:txBody>
        </p:sp>
        <p:sp>
          <p:nvSpPr>
            <p:cNvPr id="140" name="Freeform: Shape 139">
              <a:extLst>
                <a:ext uri="{FF2B5EF4-FFF2-40B4-BE49-F238E27FC236}">
                  <a16:creationId xmlns:a16="http://schemas.microsoft.com/office/drawing/2014/main" id="{9095400E-2F14-406C-866E-C8344BE67AEF}"/>
                </a:ext>
              </a:extLst>
            </p:cNvPr>
            <p:cNvSpPr/>
            <p:nvPr/>
          </p:nvSpPr>
          <p:spPr>
            <a:xfrm>
              <a:off x="124195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C0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WO</a:t>
              </a:r>
            </a:p>
          </p:txBody>
        </p:sp>
        <p:sp>
          <p:nvSpPr>
            <p:cNvPr id="141" name="Freeform: Shape 140">
              <a:extLst>
                <a:ext uri="{FF2B5EF4-FFF2-40B4-BE49-F238E27FC236}">
                  <a16:creationId xmlns:a16="http://schemas.microsoft.com/office/drawing/2014/main" id="{66F8E348-8BB6-44CF-B27A-DFB746079A0D}"/>
                </a:ext>
              </a:extLst>
            </p:cNvPr>
            <p:cNvSpPr/>
            <p:nvPr/>
          </p:nvSpPr>
          <p:spPr>
            <a:xfrm>
              <a:off x="1491417"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00B05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SME</a:t>
              </a:r>
            </a:p>
          </p:txBody>
        </p:sp>
      </p:grpSp>
      <p:grpSp>
        <p:nvGrpSpPr>
          <p:cNvPr id="144" name="Group 143">
            <a:extLst>
              <a:ext uri="{FF2B5EF4-FFF2-40B4-BE49-F238E27FC236}">
                <a16:creationId xmlns:a16="http://schemas.microsoft.com/office/drawing/2014/main" id="{0A8F6109-E7AE-4E65-8576-69D761FD576E}"/>
              </a:ext>
            </a:extLst>
          </p:cNvPr>
          <p:cNvGrpSpPr/>
          <p:nvPr/>
        </p:nvGrpSpPr>
        <p:grpSpPr>
          <a:xfrm>
            <a:off x="6488009" y="5446041"/>
            <a:ext cx="1260626" cy="127769"/>
            <a:chOff x="989950" y="6250433"/>
            <a:chExt cx="1260626" cy="127769"/>
          </a:xfrm>
        </p:grpSpPr>
        <p:sp>
          <p:nvSpPr>
            <p:cNvPr id="145" name="Freeform: Shape 144">
              <a:extLst>
                <a:ext uri="{FF2B5EF4-FFF2-40B4-BE49-F238E27FC236}">
                  <a16:creationId xmlns:a16="http://schemas.microsoft.com/office/drawing/2014/main" id="{1839601A-92C0-42F6-9F4A-2A4207246D99}"/>
                </a:ext>
              </a:extLst>
            </p:cNvPr>
            <p:cNvSpPr/>
            <p:nvPr/>
          </p:nvSpPr>
          <p:spPr>
            <a:xfrm>
              <a:off x="98995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FF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CE</a:t>
              </a:r>
            </a:p>
          </p:txBody>
        </p:sp>
        <p:sp>
          <p:nvSpPr>
            <p:cNvPr id="146" name="Freeform: Shape 145">
              <a:extLst>
                <a:ext uri="{FF2B5EF4-FFF2-40B4-BE49-F238E27FC236}">
                  <a16:creationId xmlns:a16="http://schemas.microsoft.com/office/drawing/2014/main" id="{17089421-E9ED-4706-9631-1A6000684D77}"/>
                </a:ext>
              </a:extLst>
            </p:cNvPr>
            <p:cNvSpPr/>
            <p:nvPr/>
          </p:nvSpPr>
          <p:spPr>
            <a:xfrm>
              <a:off x="124195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C0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sysClr val="windowText" lastClr="000000"/>
                  </a:solidFill>
                  <a:effectLst/>
                  <a:uLnTx/>
                  <a:uFillTx/>
                  <a:latin typeface="Segoe UI"/>
                  <a:ea typeface="+mn-ea"/>
                  <a:cs typeface="+mn-cs"/>
                </a:rPr>
                <a:t>WO</a:t>
              </a:r>
            </a:p>
          </p:txBody>
        </p:sp>
        <p:sp>
          <p:nvSpPr>
            <p:cNvPr id="147" name="Freeform: Shape 146">
              <a:extLst>
                <a:ext uri="{FF2B5EF4-FFF2-40B4-BE49-F238E27FC236}">
                  <a16:creationId xmlns:a16="http://schemas.microsoft.com/office/drawing/2014/main" id="{DD0BB9E5-3C9F-465C-9374-0B551E1E9DE5}"/>
                </a:ext>
              </a:extLst>
            </p:cNvPr>
            <p:cNvSpPr/>
            <p:nvPr/>
          </p:nvSpPr>
          <p:spPr>
            <a:xfrm>
              <a:off x="1491417"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00B05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SME</a:t>
              </a:r>
            </a:p>
          </p:txBody>
        </p:sp>
        <p:sp>
          <p:nvSpPr>
            <p:cNvPr id="148" name="Freeform: Shape 147">
              <a:extLst>
                <a:ext uri="{FF2B5EF4-FFF2-40B4-BE49-F238E27FC236}">
                  <a16:creationId xmlns:a16="http://schemas.microsoft.com/office/drawing/2014/main" id="{EAE99721-E7DD-439B-8161-3AFDF688DD7F}"/>
                </a:ext>
              </a:extLst>
            </p:cNvPr>
            <p:cNvSpPr/>
            <p:nvPr/>
          </p:nvSpPr>
          <p:spPr>
            <a:xfrm>
              <a:off x="1745240"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FF000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EXEC</a:t>
              </a:r>
            </a:p>
          </p:txBody>
        </p:sp>
        <p:sp>
          <p:nvSpPr>
            <p:cNvPr id="149" name="Freeform: Shape 148">
              <a:extLst>
                <a:ext uri="{FF2B5EF4-FFF2-40B4-BE49-F238E27FC236}">
                  <a16:creationId xmlns:a16="http://schemas.microsoft.com/office/drawing/2014/main" id="{613000F6-95A8-4034-BDDF-F95190F36A75}"/>
                </a:ext>
              </a:extLst>
            </p:cNvPr>
            <p:cNvSpPr/>
            <p:nvPr/>
          </p:nvSpPr>
          <p:spPr>
            <a:xfrm>
              <a:off x="1998576" y="6250433"/>
              <a:ext cx="252000" cy="127769"/>
            </a:xfrm>
            <a:custGeom>
              <a:avLst/>
              <a:gdLst>
                <a:gd name="connsiteX0" fmla="*/ 0 w 869360"/>
                <a:gd name="connsiteY0" fmla="*/ 34368 h 206201"/>
                <a:gd name="connsiteX1" fmla="*/ 34368 w 869360"/>
                <a:gd name="connsiteY1" fmla="*/ 0 h 206201"/>
                <a:gd name="connsiteX2" fmla="*/ 834992 w 869360"/>
                <a:gd name="connsiteY2" fmla="*/ 0 h 206201"/>
                <a:gd name="connsiteX3" fmla="*/ 869360 w 869360"/>
                <a:gd name="connsiteY3" fmla="*/ 34368 h 206201"/>
                <a:gd name="connsiteX4" fmla="*/ 869360 w 869360"/>
                <a:gd name="connsiteY4" fmla="*/ 171833 h 206201"/>
                <a:gd name="connsiteX5" fmla="*/ 834992 w 869360"/>
                <a:gd name="connsiteY5" fmla="*/ 206201 h 206201"/>
                <a:gd name="connsiteX6" fmla="*/ 34368 w 869360"/>
                <a:gd name="connsiteY6" fmla="*/ 206201 h 206201"/>
                <a:gd name="connsiteX7" fmla="*/ 0 w 869360"/>
                <a:gd name="connsiteY7" fmla="*/ 171833 h 206201"/>
                <a:gd name="connsiteX8" fmla="*/ 0 w 869360"/>
                <a:gd name="connsiteY8" fmla="*/ 34368 h 20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60" h="206201">
                  <a:moveTo>
                    <a:pt x="0" y="34368"/>
                  </a:moveTo>
                  <a:cubicBezTo>
                    <a:pt x="0" y="15387"/>
                    <a:pt x="15387" y="0"/>
                    <a:pt x="34368" y="0"/>
                  </a:cubicBezTo>
                  <a:lnTo>
                    <a:pt x="834992" y="0"/>
                  </a:lnTo>
                  <a:cubicBezTo>
                    <a:pt x="853973" y="0"/>
                    <a:pt x="869360" y="15387"/>
                    <a:pt x="869360" y="34368"/>
                  </a:cubicBezTo>
                  <a:lnTo>
                    <a:pt x="869360" y="171833"/>
                  </a:lnTo>
                  <a:cubicBezTo>
                    <a:pt x="869360" y="190814"/>
                    <a:pt x="853973" y="206201"/>
                    <a:pt x="834992" y="206201"/>
                  </a:cubicBezTo>
                  <a:lnTo>
                    <a:pt x="34368" y="206201"/>
                  </a:lnTo>
                  <a:cubicBezTo>
                    <a:pt x="15387" y="206201"/>
                    <a:pt x="0" y="190814"/>
                    <a:pt x="0" y="171833"/>
                  </a:cubicBezTo>
                  <a:lnTo>
                    <a:pt x="0" y="34368"/>
                  </a:lnTo>
                  <a:close/>
                </a:path>
              </a:pathLst>
            </a:custGeom>
            <a:solidFill>
              <a:srgbClr val="002060"/>
            </a:solidFill>
            <a:ln>
              <a:no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36000" rIns="0" bIns="360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AU" sz="700" b="0" i="0" u="none" strike="noStrike" kern="1200" cap="none" spc="0" normalizeH="0" baseline="0" noProof="0" dirty="0">
                  <a:ln>
                    <a:noFill/>
                  </a:ln>
                  <a:solidFill>
                    <a:prstClr val="white"/>
                  </a:solidFill>
                  <a:effectLst/>
                  <a:uLnTx/>
                  <a:uFillTx/>
                  <a:latin typeface="Segoe UI"/>
                  <a:ea typeface="+mn-ea"/>
                  <a:cs typeface="+mn-cs"/>
                </a:rPr>
                <a:t>MS</a:t>
              </a:r>
            </a:p>
          </p:txBody>
        </p:sp>
      </p:grpSp>
      <p:graphicFrame>
        <p:nvGraphicFramePr>
          <p:cNvPr id="79" name="Table 79">
            <a:extLst>
              <a:ext uri="{FF2B5EF4-FFF2-40B4-BE49-F238E27FC236}">
                <a16:creationId xmlns:a16="http://schemas.microsoft.com/office/drawing/2014/main" id="{CDABFDB1-77CA-4F6D-9C22-1494D2F0BC3D}"/>
              </a:ext>
            </a:extLst>
          </p:cNvPr>
          <p:cNvGraphicFramePr>
            <a:graphicFrameLocks noGrp="1"/>
          </p:cNvGraphicFramePr>
          <p:nvPr>
            <p:extLst>
              <p:ext uri="{D42A27DB-BD31-4B8C-83A1-F6EECF244321}">
                <p14:modId xmlns:p14="http://schemas.microsoft.com/office/powerpoint/2010/main" val="1931486375"/>
              </p:ext>
            </p:extLst>
          </p:nvPr>
        </p:nvGraphicFramePr>
        <p:xfrm>
          <a:off x="2522322" y="2192740"/>
          <a:ext cx="1139863" cy="3512552"/>
        </p:xfrm>
        <a:graphic>
          <a:graphicData uri="http://schemas.openxmlformats.org/drawingml/2006/table">
            <a:tbl>
              <a:tblPr>
                <a:tableStyleId>{5C22544A-7EE6-4342-B048-85BDC9FD1C3A}</a:tableStyleId>
              </a:tblPr>
              <a:tblGrid>
                <a:gridCol w="221008">
                  <a:extLst>
                    <a:ext uri="{9D8B030D-6E8A-4147-A177-3AD203B41FA5}">
                      <a16:colId xmlns:a16="http://schemas.microsoft.com/office/drawing/2014/main" val="4075866203"/>
                    </a:ext>
                  </a:extLst>
                </a:gridCol>
                <a:gridCol w="918855">
                  <a:extLst>
                    <a:ext uri="{9D8B030D-6E8A-4147-A177-3AD203B41FA5}">
                      <a16:colId xmlns:a16="http://schemas.microsoft.com/office/drawing/2014/main" val="2487392200"/>
                    </a:ext>
                  </a:extLst>
                </a:gridCol>
              </a:tblGrid>
              <a:tr h="1668017">
                <a:tc rowSpan="3">
                  <a:txBody>
                    <a:bodyPr/>
                    <a:lstStyle/>
                    <a:p>
                      <a:pPr algn="ctr"/>
                      <a:r>
                        <a:rPr lang="en-AU" sz="1200" b="1" dirty="0">
                          <a:solidFill>
                            <a:schemeClr val="bg1"/>
                          </a:solidFill>
                        </a:rPr>
                        <a:t>TIME DISTRIBUTION</a:t>
                      </a:r>
                    </a:p>
                  </a:txBody>
                  <a:tcPr marL="0" marR="0" marT="0" marB="0" vert="vert27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solidFill>
                  </a:tcPr>
                </a:tc>
                <a:tc>
                  <a:txBody>
                    <a:bodyPr/>
                    <a:lstStyle/>
                    <a:p>
                      <a:pPr algn="ctr"/>
                      <a:r>
                        <a:rPr lang="en-AU" sz="1200" b="1" dirty="0">
                          <a:solidFill>
                            <a:schemeClr val="tx2"/>
                          </a:solidFill>
                        </a:rPr>
                        <a:t>Morning</a:t>
                      </a:r>
                    </a:p>
                  </a:txBody>
                  <a:tcPr marL="0" marR="0" marT="0" marB="0" anchor="ctr">
                    <a:lnL w="12700" cmpd="sng">
                      <a:noFill/>
                    </a:lnL>
                    <a:lnR w="12700" cmpd="sng">
                      <a:noFill/>
                    </a:lnR>
                    <a:lnT w="12700" cmpd="sng">
                      <a:noFill/>
                    </a:lnT>
                    <a:lnB w="57150" cap="flat" cmpd="sng" algn="ctr">
                      <a:solidFill>
                        <a:schemeClr val="bg1">
                          <a:lumMod val="95000"/>
                        </a:schemeClr>
                      </a:solidFill>
                      <a:prstDash val="sysDash"/>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80199597"/>
                  </a:ext>
                </a:extLst>
              </a:tr>
              <a:tr h="178890">
                <a:tc vMerge="1">
                  <a:txBody>
                    <a:bodyPr/>
                    <a:lstStyle/>
                    <a:p>
                      <a:endParaRPr lang="en-AU"/>
                    </a:p>
                  </a:txBody>
                  <a:tcPr/>
                </a:tc>
                <a:tc>
                  <a:txBody>
                    <a:bodyPr/>
                    <a:lstStyle/>
                    <a:p>
                      <a:pPr algn="ctr"/>
                      <a:endParaRPr lang="en-AU" sz="1200" b="1" dirty="0">
                        <a:solidFill>
                          <a:schemeClr val="tx2"/>
                        </a:solidFill>
                      </a:endParaRPr>
                    </a:p>
                  </a:txBody>
                  <a:tcPr marL="0" marR="0" marT="0" marB="0" anchor="ctr">
                    <a:lnL w="12700" cmpd="sng">
                      <a:noFill/>
                    </a:lnL>
                    <a:lnR w="12700" cmpd="sng">
                      <a:noFill/>
                    </a:lnR>
                    <a:lnT w="57150" cap="flat" cmpd="sng" algn="ctr">
                      <a:solidFill>
                        <a:schemeClr val="bg1">
                          <a:lumMod val="95000"/>
                        </a:schemeClr>
                      </a:solidFill>
                      <a:prstDash val="sysDash"/>
                      <a:round/>
                      <a:headEnd type="none" w="med" len="med"/>
                      <a:tailEnd type="none" w="med" len="med"/>
                    </a:lnT>
                    <a:lnB w="762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5671565"/>
                  </a:ext>
                </a:extLst>
              </a:tr>
              <a:tr h="1661655">
                <a:tc vMerge="1">
                  <a:txBody>
                    <a:bodyPr/>
                    <a:lstStyle/>
                    <a:p>
                      <a:endParaRPr lang="en-AU" dirty="0"/>
                    </a:p>
                  </a:txBody>
                  <a:tcPr/>
                </a:tc>
                <a:tc>
                  <a:txBody>
                    <a:bodyPr/>
                    <a:lstStyle/>
                    <a:p>
                      <a:pPr algn="ctr"/>
                      <a:r>
                        <a:rPr lang="en-AU" sz="1200" b="1" dirty="0">
                          <a:solidFill>
                            <a:schemeClr val="tx2"/>
                          </a:solidFill>
                        </a:rPr>
                        <a:t>Afternoon</a:t>
                      </a:r>
                    </a:p>
                  </a:txBody>
                  <a:tcPr marL="0" marR="0" marT="0" marB="0" anchor="ctr">
                    <a:lnL w="12700" cmpd="sng">
                      <a:noFill/>
                    </a:lnL>
                    <a:lnR w="12700" cmpd="sng">
                      <a:noFill/>
                    </a:lnR>
                    <a:lnT w="762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344022085"/>
                  </a:ext>
                </a:extLst>
              </a:tr>
            </a:tbl>
          </a:graphicData>
        </a:graphic>
      </p:graphicFrame>
      <p:pic>
        <p:nvPicPr>
          <p:cNvPr id="3" name="Picture 2" descr="See the source image">
            <a:extLst>
              <a:ext uri="{FF2B5EF4-FFF2-40B4-BE49-F238E27FC236}">
                <a16:creationId xmlns:a16="http://schemas.microsoft.com/office/drawing/2014/main" id="{3024B800-5B28-0EB7-4F71-7759B1FA39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3386" y="4096910"/>
            <a:ext cx="713440" cy="374556"/>
          </a:xfrm>
          <a:prstGeom prst="rect">
            <a:avLst/>
          </a:prstGeom>
          <a:noFill/>
          <a:effectLst>
            <a:glow rad="63500">
              <a:schemeClr val="accent1">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4164642"/>
      </p:ext>
    </p:extLst>
  </p:cSld>
  <p:clrMapOvr>
    <a:masterClrMapping/>
  </p:clrMapOvr>
  <p:transition advClick="0" advTm="166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80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12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E8916-C434-FA38-2C6F-9CA317CC7CB0}"/>
              </a:ext>
            </a:extLst>
          </p:cNvPr>
          <p:cNvSpPr>
            <a:spLocks noGrp="1"/>
          </p:cNvSpPr>
          <p:nvPr>
            <p:ph type="title"/>
          </p:nvPr>
        </p:nvSpPr>
        <p:spPr>
          <a:xfrm>
            <a:off x="584200" y="4796302"/>
            <a:ext cx="7298437" cy="553998"/>
          </a:xfrm>
        </p:spPr>
        <p:txBody>
          <a:bodyPr/>
          <a:lstStyle/>
          <a:p>
            <a:r>
              <a:rPr lang="en-US" sz="3600" dirty="0"/>
              <a:t>Survey &amp; Deployments</a:t>
            </a:r>
            <a:endParaRPr lang="en-GB" sz="3600" dirty="0"/>
          </a:p>
        </p:txBody>
      </p:sp>
      <p:sp>
        <p:nvSpPr>
          <p:cNvPr id="3" name="Text Placeholder 2">
            <a:extLst>
              <a:ext uri="{FF2B5EF4-FFF2-40B4-BE49-F238E27FC236}">
                <a16:creationId xmlns:a16="http://schemas.microsoft.com/office/drawing/2014/main" id="{6A7B9A59-A7E7-07A3-746B-A098AB822DA0}"/>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700135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419C8-5577-4C89-AF6B-668048344556}"/>
              </a:ext>
            </a:extLst>
          </p:cNvPr>
          <p:cNvSpPr>
            <a:spLocks noGrp="1"/>
          </p:cNvSpPr>
          <p:nvPr>
            <p:ph type="title"/>
          </p:nvPr>
        </p:nvSpPr>
        <p:spPr>
          <a:xfrm>
            <a:off x="618011" y="1043069"/>
            <a:ext cx="5197998" cy="553998"/>
          </a:xfrm>
        </p:spPr>
        <p:txBody>
          <a:bodyPr wrap="square">
            <a:spAutoFit/>
          </a:bodyPr>
          <a:lstStyle/>
          <a:p>
            <a:r>
              <a:rPr lang="en-US" dirty="0">
                <a:cs typeface="Segoe UI"/>
              </a:rPr>
              <a:t> Deployments</a:t>
            </a:r>
          </a:p>
        </p:txBody>
      </p:sp>
      <p:sp>
        <p:nvSpPr>
          <p:cNvPr id="42" name="Rectangle 41">
            <a:extLst>
              <a:ext uri="{FF2B5EF4-FFF2-40B4-BE49-F238E27FC236}">
                <a16:creationId xmlns:a16="http://schemas.microsoft.com/office/drawing/2014/main" id="{C6BC6B48-94C9-4424-9772-241EE8A70CDD}"/>
              </a:ext>
            </a:extLst>
          </p:cNvPr>
          <p:cNvSpPr/>
          <p:nvPr/>
        </p:nvSpPr>
        <p:spPr>
          <a:xfrm>
            <a:off x="571501" y="2262862"/>
            <a:ext cx="4991100" cy="908262"/>
          </a:xfrm>
          <a:prstGeom prst="rect">
            <a:avLst/>
          </a:prstGeom>
          <a:noFill/>
        </p:spPr>
        <p:txBody>
          <a:bodyPr wrap="square" lIns="0" tIns="0" rIns="0" bIns="0" anchor="t">
            <a:spAutoFit/>
          </a:bodyPr>
          <a:lstStyle/>
          <a:p>
            <a:pPr marL="285750" indent="-285750" algn="l" rtl="0" fontAlgn="base">
              <a:lnSpc>
                <a:spcPct val="200000"/>
              </a:lnSpc>
              <a:buFont typeface="Arial" panose="020B0604020202020204" pitchFamily="34" charset="0"/>
              <a:buChar char="•"/>
            </a:pPr>
            <a:r>
              <a:rPr lang="en-US" sz="1600" b="0" i="0" u="none" strike="noStrike" dirty="0">
                <a:solidFill>
                  <a:srgbClr val="222A35"/>
                </a:solidFill>
                <a:effectLst/>
              </a:rPr>
              <a:t>Well-Architected Cost Optimization Workbook</a:t>
            </a:r>
            <a:r>
              <a:rPr lang="en-US" sz="1600" b="0" i="0" dirty="0">
                <a:solidFill>
                  <a:srgbClr val="000000"/>
                </a:solidFill>
                <a:effectLst/>
              </a:rPr>
              <a:t>​</a:t>
            </a:r>
            <a:endParaRPr lang="en-US" dirty="0"/>
          </a:p>
          <a:p>
            <a:pPr marL="285750" indent="-285750" algn="l" rtl="0" fontAlgn="base">
              <a:lnSpc>
                <a:spcPct val="200000"/>
              </a:lnSpc>
              <a:buFont typeface="Arial" panose="020B0604020202020204" pitchFamily="34" charset="0"/>
              <a:buChar char="•"/>
            </a:pPr>
            <a:endParaRPr lang="en-US" sz="1600" b="0" i="0" dirty="0">
              <a:solidFill>
                <a:srgbClr val="222A35"/>
              </a:solidFill>
              <a:effectLst/>
              <a:cs typeface="Segoe UI"/>
            </a:endParaRPr>
          </a:p>
        </p:txBody>
      </p:sp>
      <p:sp>
        <p:nvSpPr>
          <p:cNvPr id="5" name="Footer Placeholder 4">
            <a:extLst>
              <a:ext uri="{FF2B5EF4-FFF2-40B4-BE49-F238E27FC236}">
                <a16:creationId xmlns:a16="http://schemas.microsoft.com/office/drawing/2014/main" id="{E2B5A129-CE37-42C8-8685-A29662D35092}"/>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0CF2A3CD-EBAF-42E0-80D2-E4BFE339C1E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9" name="Content Placeholder 8" descr="Illustration of a program window showing a dashboard">
            <a:extLst>
              <a:ext uri="{FF2B5EF4-FFF2-40B4-BE49-F238E27FC236}">
                <a16:creationId xmlns:a16="http://schemas.microsoft.com/office/drawing/2014/main" id="{07F5C251-8837-4F60-97E3-A6238FA3000B}"/>
              </a:ext>
            </a:extLst>
          </p:cNvPr>
          <p:cNvPicPr>
            <a:picLocks noGrp="1" noChangeAspect="1"/>
          </p:cNvPicPr>
          <p:nvPr>
            <p:ph sz="quarter" idx="11"/>
          </p:nvPr>
        </p:nvPicPr>
        <p:blipFill>
          <a:blip r:embed="rId2"/>
          <a:srcRect/>
          <a:stretch/>
        </p:blipFill>
        <p:spPr>
          <a:xfrm>
            <a:off x="7102349" y="1703825"/>
            <a:ext cx="3893174" cy="389317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5250743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419C8-5577-4C89-AF6B-668048344556}"/>
              </a:ext>
            </a:extLst>
          </p:cNvPr>
          <p:cNvSpPr>
            <a:spLocks noGrp="1"/>
          </p:cNvSpPr>
          <p:nvPr>
            <p:ph type="title"/>
          </p:nvPr>
        </p:nvSpPr>
        <p:spPr>
          <a:xfrm>
            <a:off x="575481" y="599436"/>
            <a:ext cx="11018520" cy="553998"/>
          </a:xfrm>
        </p:spPr>
        <p:txBody>
          <a:bodyPr/>
          <a:lstStyle/>
          <a:p>
            <a:r>
              <a:rPr lang="en-US" dirty="0">
                <a:cs typeface="Segoe UI"/>
              </a:rPr>
              <a:t>Azure DevOps Recommendations Import​ </a:t>
            </a:r>
          </a:p>
        </p:txBody>
      </p:sp>
      <p:sp>
        <p:nvSpPr>
          <p:cNvPr id="11" name="Footer Placeholder 4">
            <a:extLst>
              <a:ext uri="{FF2B5EF4-FFF2-40B4-BE49-F238E27FC236}">
                <a16:creationId xmlns:a16="http://schemas.microsoft.com/office/drawing/2014/main" id="{4149C5EA-E04D-4DFC-8CA2-10B07841CC51}"/>
              </a:ext>
            </a:extLst>
          </p:cNvPr>
          <p:cNvSpPr>
            <a:spLocks noGrp="1"/>
          </p:cNvSpPr>
          <p:nvPr>
            <p:ph type="ftr" sz="quarter" idx="3"/>
          </p:nvPr>
        </p:nvSpPr>
        <p:spPr>
          <a:xfrm>
            <a:off x="5589451" y="6539518"/>
            <a:ext cx="1013098" cy="123111"/>
          </a:xfrm>
        </p:spPr>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6">
            <a:extLst>
              <a:ext uri="{FF2B5EF4-FFF2-40B4-BE49-F238E27FC236}">
                <a16:creationId xmlns:a16="http://schemas.microsoft.com/office/drawing/2014/main" id="{2D869AC9-F003-42FF-9B5F-29B6261BF05C}"/>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pic>
        <p:nvPicPr>
          <p:cNvPr id="3074" name="Picture 2">
            <a:extLst>
              <a:ext uri="{FF2B5EF4-FFF2-40B4-BE49-F238E27FC236}">
                <a16:creationId xmlns:a16="http://schemas.microsoft.com/office/drawing/2014/main" id="{2D8B848A-AFF6-4589-A127-031E9B72A5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364" y="1515102"/>
            <a:ext cx="7077075" cy="3562351"/>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a:extLst>
              <a:ext uri="{FF2B5EF4-FFF2-40B4-BE49-F238E27FC236}">
                <a16:creationId xmlns:a16="http://schemas.microsoft.com/office/drawing/2014/main" id="{BD4655F2-FE76-4C42-8BA1-38DDA69BD3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6386" y="2833539"/>
            <a:ext cx="7334250" cy="3209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404442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419C8-5577-4C89-AF6B-668048344556}"/>
              </a:ext>
            </a:extLst>
          </p:cNvPr>
          <p:cNvSpPr>
            <a:spLocks noGrp="1"/>
          </p:cNvSpPr>
          <p:nvPr>
            <p:ph type="title"/>
          </p:nvPr>
        </p:nvSpPr>
        <p:spPr>
          <a:xfrm>
            <a:off x="575481" y="599436"/>
            <a:ext cx="11018520" cy="553998"/>
          </a:xfrm>
        </p:spPr>
        <p:txBody>
          <a:bodyPr/>
          <a:lstStyle/>
          <a:p>
            <a:r>
              <a:rPr lang="en-US" dirty="0">
                <a:cs typeface="Segoe UI"/>
              </a:rPr>
              <a:t>GitHub Recommendations Import </a:t>
            </a:r>
          </a:p>
        </p:txBody>
      </p:sp>
      <p:sp>
        <p:nvSpPr>
          <p:cNvPr id="47" name="Footer Placeholder 8">
            <a:extLst>
              <a:ext uri="{FF2B5EF4-FFF2-40B4-BE49-F238E27FC236}">
                <a16:creationId xmlns:a16="http://schemas.microsoft.com/office/drawing/2014/main" id="{FC79472A-F03D-4949-9D6B-A4BAF6BAF275}"/>
              </a:ext>
            </a:extLst>
          </p:cNvPr>
          <p:cNvSpPr>
            <a:spLocks noGrp="1"/>
          </p:cNvSpPr>
          <p:nvPr>
            <p:ph type="ftr" sz="quarter" idx="3"/>
          </p:nvPr>
        </p:nvSpPr>
        <p:spPr>
          <a:xfrm>
            <a:off x="5589451" y="6539518"/>
            <a:ext cx="1013098" cy="123111"/>
          </a:xfrm>
        </p:spPr>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1" name="Slide Number Placeholder 9">
            <a:extLst>
              <a:ext uri="{FF2B5EF4-FFF2-40B4-BE49-F238E27FC236}">
                <a16:creationId xmlns:a16="http://schemas.microsoft.com/office/drawing/2014/main" id="{68604DF3-F7FF-413A-8D93-A61AD186E928}"/>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pic>
        <p:nvPicPr>
          <p:cNvPr id="4098" name="Picture 2">
            <a:extLst>
              <a:ext uri="{FF2B5EF4-FFF2-40B4-BE49-F238E27FC236}">
                <a16:creationId xmlns:a16="http://schemas.microsoft.com/office/drawing/2014/main" id="{5DAFC4E6-CE8B-4A2B-A1E3-77DA69A404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650" y="1332435"/>
            <a:ext cx="6144399" cy="2264650"/>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a:extLst>
              <a:ext uri="{FF2B5EF4-FFF2-40B4-BE49-F238E27FC236}">
                <a16:creationId xmlns:a16="http://schemas.microsoft.com/office/drawing/2014/main" id="{CB378B15-020C-4E2F-9BEB-53D09B50E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0208" y="2602983"/>
            <a:ext cx="5129142" cy="306080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D8609E53-2DF6-4276-8FA0-F4EB0DEFBA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649" y="3716079"/>
            <a:ext cx="5307039" cy="2632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630381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BBCA07A9-F3E4-4B08-A030-321C02C4D0AA}"/>
              </a:ext>
              <a:ext uri="{C183D7F6-B498-43B3-948B-1728B52AA6E4}">
                <adec:decorative xmlns:adec="http://schemas.microsoft.com/office/drawing/2017/decorative" val="1"/>
              </a:ext>
            </a:extLst>
          </p:cNvPr>
          <p:cNvSpPr/>
          <p:nvPr/>
        </p:nvSpPr>
        <p:spPr bwMode="auto">
          <a:xfrm>
            <a:off x="2351852" y="1321013"/>
            <a:ext cx="8062149" cy="63093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78B419C8-5577-4C89-AF6B-668048344556}"/>
              </a:ext>
            </a:extLst>
          </p:cNvPr>
          <p:cNvSpPr>
            <a:spLocks noGrp="1"/>
          </p:cNvSpPr>
          <p:nvPr>
            <p:ph type="title"/>
          </p:nvPr>
        </p:nvSpPr>
        <p:spPr/>
        <p:txBody>
          <a:bodyPr/>
          <a:lstStyle/>
          <a:p>
            <a:r>
              <a:rPr lang="en-US" dirty="0">
                <a:cs typeface="Segoe UI"/>
              </a:rPr>
              <a:t>Deliverables</a:t>
            </a:r>
          </a:p>
        </p:txBody>
      </p:sp>
      <p:graphicFrame>
        <p:nvGraphicFramePr>
          <p:cNvPr id="20" name="Table 20">
            <a:extLst>
              <a:ext uri="{FF2B5EF4-FFF2-40B4-BE49-F238E27FC236}">
                <a16:creationId xmlns:a16="http://schemas.microsoft.com/office/drawing/2014/main" id="{F1ED14F9-22FF-410B-AAAD-A72A490266C3}"/>
              </a:ext>
            </a:extLst>
          </p:cNvPr>
          <p:cNvGraphicFramePr>
            <a:graphicFrameLocks noGrp="1"/>
          </p:cNvGraphicFramePr>
          <p:nvPr>
            <p:extLst>
              <p:ext uri="{D42A27DB-BD31-4B8C-83A1-F6EECF244321}">
                <p14:modId xmlns:p14="http://schemas.microsoft.com/office/powerpoint/2010/main" val="596742835"/>
              </p:ext>
            </p:extLst>
          </p:nvPr>
        </p:nvGraphicFramePr>
        <p:xfrm>
          <a:off x="2910061" y="1326329"/>
          <a:ext cx="7380618" cy="5308600"/>
        </p:xfrm>
        <a:graphic>
          <a:graphicData uri="http://schemas.openxmlformats.org/drawingml/2006/table">
            <a:tbl>
              <a:tblPr firstRow="1" bandRow="1">
                <a:tableStyleId>{5C22544A-7EE6-4342-B048-85BDC9FD1C3A}</a:tableStyleId>
              </a:tblPr>
              <a:tblGrid>
                <a:gridCol w="3698945">
                  <a:extLst>
                    <a:ext uri="{9D8B030D-6E8A-4147-A177-3AD203B41FA5}">
                      <a16:colId xmlns:a16="http://schemas.microsoft.com/office/drawing/2014/main" val="1515117565"/>
                    </a:ext>
                  </a:extLst>
                </a:gridCol>
                <a:gridCol w="3681673">
                  <a:extLst>
                    <a:ext uri="{9D8B030D-6E8A-4147-A177-3AD203B41FA5}">
                      <a16:colId xmlns:a16="http://schemas.microsoft.com/office/drawing/2014/main" val="3424741008"/>
                    </a:ext>
                  </a:extLst>
                </a:gridCol>
              </a:tblGrid>
              <a:tr h="488147">
                <a:tc>
                  <a:txBody>
                    <a:bodyPr/>
                    <a:lstStyle/>
                    <a:p>
                      <a:pPr algn="l"/>
                      <a:r>
                        <a:rPr lang="en-US" sz="1600" b="0" dirty="0">
                          <a:latin typeface="+mj-lt"/>
                        </a:rPr>
                        <a:t>Azure Monitor Workbook</a:t>
                      </a:r>
                    </a:p>
                  </a:txBody>
                  <a:tcPr marL="182880" marR="182880" marT="182880" marB="182880">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b="0" kern="1200" dirty="0">
                          <a:solidFill>
                            <a:schemeClr val="lt1"/>
                          </a:solidFill>
                          <a:latin typeface="+mj-lt"/>
                          <a:ea typeface="+mn-ea"/>
                          <a:cs typeface="+mn-cs"/>
                        </a:rPr>
                        <a:t>Final Report </a:t>
                      </a:r>
                    </a:p>
                  </a:txBody>
                  <a:tcPr marL="182880" marR="182880" marT="182880" marB="182880">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825654190"/>
                  </a:ext>
                </a:extLst>
              </a:tr>
              <a:tr h="3867998">
                <a:tc>
                  <a:txBody>
                    <a:bodyPr/>
                    <a:lstStyle/>
                    <a:p>
                      <a:pPr marL="0" indent="0" algn="l" defTabSz="932742" rtl="0" eaLnBrk="1" fontAlgn="base" latinLnBrk="0" hangingPunct="1">
                        <a:spcBef>
                          <a:spcPts val="200"/>
                        </a:spcBef>
                        <a:spcAft>
                          <a:spcPts val="300"/>
                        </a:spcAft>
                        <a:buSzPct val="100000"/>
                        <a:buFont typeface="Arial" panose="020B0604020202020204" pitchFamily="34" charset="0"/>
                        <a:buNone/>
                      </a:pPr>
                      <a:r>
                        <a:rPr lang="en-US" sz="1400" kern="1200" dirty="0">
                          <a:solidFill>
                            <a:schemeClr val="dk1"/>
                          </a:solidFill>
                          <a:latin typeface="+mn-lt"/>
                          <a:ea typeface="+mn-ea"/>
                          <a:cs typeface="+mn-cs"/>
                        </a:rPr>
                        <a:t>WAF Cost Optimization Workbook  ​</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Resources per subscription​</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Resource &amp; Resource Group tagging ​</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VM </a:t>
                      </a:r>
                      <a:r>
                        <a:rPr lang="en-US" sz="1400" kern="1200" dirty="0" err="1">
                          <a:solidFill>
                            <a:schemeClr val="dk1"/>
                          </a:solidFill>
                          <a:latin typeface="+mn-lt"/>
                          <a:ea typeface="+mn-ea"/>
                          <a:cs typeface="+mn-cs"/>
                        </a:rPr>
                        <a:t>skus</a:t>
                      </a:r>
                      <a:r>
                        <a:rPr lang="en-US" sz="1400" kern="1200" dirty="0">
                          <a:solidFill>
                            <a:schemeClr val="dk1"/>
                          </a:solidFill>
                          <a:latin typeface="+mn-lt"/>
                          <a:ea typeface="+mn-ea"/>
                          <a:cs typeface="+mn-cs"/>
                        </a:rPr>
                        <a:t>​</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Networking​</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Storage​</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App Service Plans​</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SQL Server / MI / DB AHUB​</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Log Analytics Data Ingestion​</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Orphaned resources​</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Windows &amp; SQL HUB​</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Dv2 to Dv3 resize opportunity​</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App Service state (Web &amp; Functions), VM state (Stopped/Deallocated)​</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Storage Accounts and Recovery Services Vaults Replication​</a:t>
                      </a:r>
                    </a:p>
                    <a:p>
                      <a:pPr marL="228600" indent="-228600" algn="l" defTabSz="932742" rtl="0" eaLnBrk="1" fontAlgn="base" latinLnBrk="0" hangingPunct="1">
                        <a:spcBef>
                          <a:spcPts val="200"/>
                        </a:spcBef>
                        <a:spcAft>
                          <a:spcPts val="300"/>
                        </a:spcAft>
                        <a:buSzPct val="100000"/>
                        <a:buFont typeface="Arial" panose="020B0604020202020204" pitchFamily="34" charset="0"/>
                        <a:buChar char="•"/>
                      </a:pPr>
                      <a:r>
                        <a:rPr lang="en-US" sz="1400" kern="1200" dirty="0">
                          <a:solidFill>
                            <a:schemeClr val="dk1"/>
                          </a:solidFill>
                          <a:latin typeface="+mn-lt"/>
                          <a:ea typeface="+mn-ea"/>
                          <a:cs typeface="+mn-cs"/>
                        </a:rPr>
                        <a:t>Storage Accounts not V2 type</a:t>
                      </a:r>
                    </a:p>
                  </a:txBody>
                  <a:tcPr marL="182880" marT="91440" marB="91440">
                    <a:lnL w="12700" cmpd="sng">
                      <a:noFill/>
                    </a:lnL>
                    <a:lnR w="6350" cap="flat" cmpd="sng" algn="ctr">
                      <a:solidFill>
                        <a:schemeClr val="bg1">
                          <a:lumMod val="7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rtl="0" fontAlgn="base"/>
                      <a:r>
                        <a:rPr lang="en-US" sz="1400" kern="1200" dirty="0">
                          <a:solidFill>
                            <a:schemeClr val="dk1"/>
                          </a:solidFill>
                          <a:latin typeface="+mn-lt"/>
                          <a:ea typeface="+mn-ea"/>
                          <a:cs typeface="+mn-cs"/>
                        </a:rPr>
                        <a:t>Management-level closeout presentation of the findings and their impact to cost optimization.</a:t>
                      </a:r>
                    </a:p>
                  </a:txBody>
                  <a:tcPr marL="182880" marT="91440" marB="91440">
                    <a:lnL w="6350" cap="flat" cmpd="sng" algn="ctr">
                      <a:solidFill>
                        <a:schemeClr val="bg1">
                          <a:lumMod val="75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62051183"/>
                  </a:ext>
                </a:extLst>
              </a:tr>
            </a:tbl>
          </a:graphicData>
        </a:graphic>
      </p:graphicFrame>
      <p:cxnSp>
        <p:nvCxnSpPr>
          <p:cNvPr id="21" name="Straight Connector 20">
            <a:extLst>
              <a:ext uri="{FF2B5EF4-FFF2-40B4-BE49-F238E27FC236}">
                <a16:creationId xmlns:a16="http://schemas.microsoft.com/office/drawing/2014/main" id="{26A6A6ED-5B9E-4577-B4E7-528EF2378B91}"/>
              </a:ext>
              <a:ext uri="{C183D7F6-B498-43B3-948B-1728B52AA6E4}">
                <adec:decorative xmlns:adec="http://schemas.microsoft.com/office/drawing/2017/decorative" val="1"/>
              </a:ext>
            </a:extLst>
          </p:cNvPr>
          <p:cNvCxnSpPr>
            <a:cxnSpLocks/>
          </p:cNvCxnSpPr>
          <p:nvPr/>
        </p:nvCxnSpPr>
        <p:spPr>
          <a:xfrm flipV="1">
            <a:off x="6606744" y="1392531"/>
            <a:ext cx="0" cy="509166"/>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393C9-E79D-406D-AF0E-73B27120061A}"/>
              </a:ext>
              <a:ext uri="{C183D7F6-B498-43B3-948B-1728B52AA6E4}">
                <adec:decorative xmlns:adec="http://schemas.microsoft.com/office/drawing/2017/decorative" val="1"/>
              </a:ext>
            </a:extLst>
          </p:cNvPr>
          <p:cNvCxnSpPr>
            <a:cxnSpLocks/>
          </p:cNvCxnSpPr>
          <p:nvPr/>
        </p:nvCxnSpPr>
        <p:spPr>
          <a:xfrm flipV="1">
            <a:off x="10288558" y="1440378"/>
            <a:ext cx="0" cy="509166"/>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7550D36-0BC5-4215-BC00-1FA766D0D684}"/>
              </a:ext>
            </a:extLst>
          </p:cNvPr>
          <p:cNvSpPr>
            <a:spLocks noGrp="1"/>
          </p:cNvSpPr>
          <p:nvPr>
            <p:ph type="ftr" sz="quarter" idx="3"/>
          </p:nvPr>
        </p:nvSpPr>
        <p:spPr>
          <a:xfrm>
            <a:off x="6390452" y="661477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B596CBDE-3010-4FFC-8ECC-537A0A6CB7B8}"/>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501512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419C8-5577-4C89-AF6B-668048344556}"/>
              </a:ext>
            </a:extLst>
          </p:cNvPr>
          <p:cNvSpPr>
            <a:spLocks noGrp="1"/>
          </p:cNvSpPr>
          <p:nvPr>
            <p:ph type="title"/>
          </p:nvPr>
        </p:nvSpPr>
        <p:spPr>
          <a:xfrm>
            <a:off x="575481" y="599436"/>
            <a:ext cx="11018520" cy="1107996"/>
          </a:xfrm>
        </p:spPr>
        <p:txBody>
          <a:bodyPr/>
          <a:lstStyle/>
          <a:p>
            <a:r>
              <a:rPr lang="en-US" dirty="0">
                <a:cs typeface="Segoe UI"/>
              </a:rPr>
              <a:t>Well-Architected Cost Optimization Azure Monitor Workbook</a:t>
            </a:r>
            <a:r>
              <a:rPr lang="en-US" b="0" i="0" dirty="0">
                <a:solidFill>
                  <a:srgbClr val="000000"/>
                </a:solidFill>
                <a:effectLst/>
                <a:latin typeface="Segoe UI Semibold (Headings)"/>
              </a:rPr>
              <a:t>​</a:t>
            </a:r>
            <a:endParaRPr lang="en-US" dirty="0">
              <a:cs typeface="Segoe UI"/>
            </a:endParaRPr>
          </a:p>
        </p:txBody>
      </p:sp>
      <p:sp>
        <p:nvSpPr>
          <p:cNvPr id="47" name="Footer Placeholder 8">
            <a:extLst>
              <a:ext uri="{FF2B5EF4-FFF2-40B4-BE49-F238E27FC236}">
                <a16:creationId xmlns:a16="http://schemas.microsoft.com/office/drawing/2014/main" id="{FC79472A-F03D-4949-9D6B-A4BAF6BAF275}"/>
              </a:ext>
            </a:extLst>
          </p:cNvPr>
          <p:cNvSpPr>
            <a:spLocks noGrp="1"/>
          </p:cNvSpPr>
          <p:nvPr>
            <p:ph type="ftr" sz="quarter" idx="3"/>
          </p:nvPr>
        </p:nvSpPr>
        <p:spPr>
          <a:xfrm>
            <a:off x="5589451" y="6539518"/>
            <a:ext cx="1013098" cy="123111"/>
          </a:xfrm>
        </p:spPr>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1" name="Slide Number Placeholder 9">
            <a:extLst>
              <a:ext uri="{FF2B5EF4-FFF2-40B4-BE49-F238E27FC236}">
                <a16:creationId xmlns:a16="http://schemas.microsoft.com/office/drawing/2014/main" id="{68604DF3-F7FF-413A-8D93-A61AD186E928}"/>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
        <p:nvSpPr>
          <p:cNvPr id="12" name="TextBox 11">
            <a:extLst>
              <a:ext uri="{FF2B5EF4-FFF2-40B4-BE49-F238E27FC236}">
                <a16:creationId xmlns:a16="http://schemas.microsoft.com/office/drawing/2014/main" id="{B13D705C-7EE6-4669-8F88-C6DBBAA1AE9D}"/>
              </a:ext>
            </a:extLst>
          </p:cNvPr>
          <p:cNvSpPr txBox="1"/>
          <p:nvPr/>
        </p:nvSpPr>
        <p:spPr>
          <a:xfrm>
            <a:off x="575481" y="1798310"/>
            <a:ext cx="11392456" cy="900246"/>
          </a:xfrm>
          <a:prstGeom prst="rect">
            <a:avLst/>
          </a:prstGeom>
          <a:noFill/>
        </p:spPr>
        <p:txBody>
          <a:bodyPr wrap="square">
            <a:spAutoFit/>
          </a:bodyPr>
          <a:lstStyle/>
          <a:p>
            <a:pPr defTabSz="932742" fontAlgn="base">
              <a:spcBef>
                <a:spcPts val="200"/>
              </a:spcBef>
              <a:spcAft>
                <a:spcPts val="300"/>
              </a:spcAft>
              <a:buSzPct val="100000"/>
            </a:pPr>
            <a:r>
              <a:rPr lang="en-US" sz="1600" dirty="0">
                <a:solidFill>
                  <a:schemeClr val="dk1"/>
                </a:solidFill>
              </a:rPr>
              <a:t>An Azure Monitor Workbook will be deployed.  It helps identify waste and resources optimization opportunities that will enable you to maximize the efficiency of your cloud spend.​​</a:t>
            </a:r>
          </a:p>
          <a:p>
            <a:endParaRPr lang="en-AE" dirty="0"/>
          </a:p>
        </p:txBody>
      </p:sp>
      <p:pic>
        <p:nvPicPr>
          <p:cNvPr id="7174" name="Picture 6">
            <a:extLst>
              <a:ext uri="{FF2B5EF4-FFF2-40B4-BE49-F238E27FC236}">
                <a16:creationId xmlns:a16="http://schemas.microsoft.com/office/drawing/2014/main" id="{E149F07B-2AB0-45FE-BAC4-D057296B0F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7136" y="2239727"/>
            <a:ext cx="5532256" cy="4151363"/>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F528BAB0-960D-4656-9828-97AEFE7ED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481" y="2509023"/>
            <a:ext cx="5520519" cy="1924974"/>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a:extLst>
              <a:ext uri="{FF2B5EF4-FFF2-40B4-BE49-F238E27FC236}">
                <a16:creationId xmlns:a16="http://schemas.microsoft.com/office/drawing/2014/main" id="{0C02FDBC-8472-4B5A-B21F-2451D16456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481" y="4582425"/>
            <a:ext cx="5520519" cy="1712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671522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DCB6D-2A70-9F5D-475A-0880E93C11C2}"/>
              </a:ext>
            </a:extLst>
          </p:cNvPr>
          <p:cNvSpPr>
            <a:spLocks noGrp="1"/>
          </p:cNvSpPr>
          <p:nvPr>
            <p:ph type="title"/>
          </p:nvPr>
        </p:nvSpPr>
        <p:spPr>
          <a:xfrm>
            <a:off x="588263" y="457200"/>
            <a:ext cx="11018520" cy="553998"/>
          </a:xfrm>
        </p:spPr>
        <p:txBody>
          <a:bodyPr wrap="square" anchor="t">
            <a:normAutofit/>
          </a:bodyPr>
          <a:lstStyle/>
          <a:p>
            <a:r>
              <a:rPr lang="en-US" dirty="0">
                <a:solidFill>
                  <a:schemeClr val="accent2"/>
                </a:solidFill>
                <a:latin typeface="+mj-lt"/>
                <a:cs typeface="Segoe UI"/>
              </a:rPr>
              <a:t>Cost optimization design principles</a:t>
            </a:r>
            <a:endParaRPr lang="en-GB" dirty="0">
              <a:solidFill>
                <a:schemeClr val="accent2"/>
              </a:solidFill>
              <a:latin typeface="+mj-lt"/>
              <a:cs typeface="Segoe UI"/>
            </a:endParaRPr>
          </a:p>
        </p:txBody>
      </p:sp>
      <p:graphicFrame>
        <p:nvGraphicFramePr>
          <p:cNvPr id="5" name="Text Placeholder 2">
            <a:extLst>
              <a:ext uri="{FF2B5EF4-FFF2-40B4-BE49-F238E27FC236}">
                <a16:creationId xmlns:a16="http://schemas.microsoft.com/office/drawing/2014/main" id="{848E1A9A-F54C-7D73-CC40-835D549962A7}"/>
              </a:ext>
            </a:extLst>
          </p:cNvPr>
          <p:cNvGraphicFramePr/>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9903382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419C8-5577-4C89-AF6B-668048344556}"/>
              </a:ext>
            </a:extLst>
          </p:cNvPr>
          <p:cNvSpPr>
            <a:spLocks noGrp="1"/>
          </p:cNvSpPr>
          <p:nvPr>
            <p:ph type="title"/>
          </p:nvPr>
        </p:nvSpPr>
        <p:spPr>
          <a:xfrm>
            <a:off x="575481" y="389314"/>
            <a:ext cx="11018520" cy="553998"/>
          </a:xfrm>
        </p:spPr>
        <p:txBody>
          <a:bodyPr/>
          <a:lstStyle/>
          <a:p>
            <a:r>
              <a:rPr lang="en-US" dirty="0">
                <a:solidFill>
                  <a:schemeClr val="accent2"/>
                </a:solidFill>
                <a:cs typeface="Segoe UI"/>
              </a:rPr>
              <a:t>Design for cost</a:t>
            </a:r>
          </a:p>
        </p:txBody>
      </p:sp>
      <p:sp>
        <p:nvSpPr>
          <p:cNvPr id="91" name="Rectangle 90">
            <a:extLst>
              <a:ext uri="{FF2B5EF4-FFF2-40B4-BE49-F238E27FC236}">
                <a16:creationId xmlns:a16="http://schemas.microsoft.com/office/drawing/2014/main" id="{191ED060-A252-4EA7-A370-ABFCDB7A8A5A}"/>
              </a:ext>
            </a:extLst>
          </p:cNvPr>
          <p:cNvSpPr/>
          <p:nvPr/>
        </p:nvSpPr>
        <p:spPr bwMode="auto">
          <a:xfrm>
            <a:off x="575481" y="1224785"/>
            <a:ext cx="4502149" cy="256603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92024" rIns="182880" bIns="182880" numCol="1" spcCol="0" rtlCol="0" fromWordArt="0" anchor="ctr" anchorCtr="0" forceAA="0" compatLnSpc="1">
            <a:prstTxWarp prst="textNoShape">
              <a:avLst/>
            </a:prstTxWarp>
            <a:noAutofit/>
          </a:bodyPr>
          <a:lstStyle/>
          <a:p>
            <a:pPr algn="ctr" defTabSz="932472" fontAlgn="base">
              <a:spcBef>
                <a:spcPts val="100"/>
              </a:spcBef>
              <a:spcAft>
                <a:spcPts val="100"/>
              </a:spcAft>
            </a:pPr>
            <a:r>
              <a:rPr lang="en-GB" sz="2800" dirty="0">
                <a:solidFill>
                  <a:schemeClr val="bg1"/>
                </a:solidFill>
                <a:latin typeface="+mj-lt"/>
                <a:cs typeface="Segoe UI" pitchFamily="34" charset="0"/>
              </a:rPr>
              <a:t>Cost model</a:t>
            </a:r>
          </a:p>
        </p:txBody>
      </p:sp>
      <p:sp>
        <p:nvSpPr>
          <p:cNvPr id="6" name="Footer Placeholder 5">
            <a:extLst>
              <a:ext uri="{FF2B5EF4-FFF2-40B4-BE49-F238E27FC236}">
                <a16:creationId xmlns:a16="http://schemas.microsoft.com/office/drawing/2014/main" id="{7D0C6895-7C74-45DB-A278-33E5F7E9E627}"/>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7" name="Slide Number Placeholder 6">
            <a:extLst>
              <a:ext uri="{FF2B5EF4-FFF2-40B4-BE49-F238E27FC236}">
                <a16:creationId xmlns:a16="http://schemas.microsoft.com/office/drawing/2014/main" id="{FA27CD66-E38E-456F-946A-5D073BDDB6D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Rectangle 8">
            <a:extLst>
              <a:ext uri="{FF2B5EF4-FFF2-40B4-BE49-F238E27FC236}">
                <a16:creationId xmlns:a16="http://schemas.microsoft.com/office/drawing/2014/main" id="{EE9AFDFA-9CA6-1F08-2C37-CAE507155628}"/>
              </a:ext>
            </a:extLst>
          </p:cNvPr>
          <p:cNvSpPr/>
          <p:nvPr/>
        </p:nvSpPr>
        <p:spPr bwMode="auto">
          <a:xfrm>
            <a:off x="575481" y="3904781"/>
            <a:ext cx="4502149" cy="256603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92024" rIns="182880" bIns="182880" numCol="1" spcCol="0" rtlCol="0" fromWordArt="0" anchor="ctr" anchorCtr="0" forceAA="0" compatLnSpc="1">
            <a:prstTxWarp prst="textNoShape">
              <a:avLst/>
            </a:prstTxWarp>
            <a:noAutofit/>
          </a:bodyPr>
          <a:lstStyle/>
          <a:p>
            <a:pPr algn="ctr" defTabSz="932472" fontAlgn="base">
              <a:spcBef>
                <a:spcPts val="100"/>
              </a:spcBef>
              <a:spcAft>
                <a:spcPts val="100"/>
              </a:spcAft>
            </a:pPr>
            <a:r>
              <a:rPr lang="en-US" sz="2800" dirty="0">
                <a:solidFill>
                  <a:schemeClr val="bg1"/>
                </a:solidFill>
                <a:latin typeface="+mj-lt"/>
                <a:ea typeface="Segoe UI" pitchFamily="34" charset="0"/>
                <a:cs typeface="Segoe UI" pitchFamily="34" charset="0"/>
              </a:rPr>
              <a:t>Architecture</a:t>
            </a:r>
          </a:p>
        </p:txBody>
      </p:sp>
      <p:sp>
        <p:nvSpPr>
          <p:cNvPr id="10" name="Rectangle 9">
            <a:extLst>
              <a:ext uri="{FF2B5EF4-FFF2-40B4-BE49-F238E27FC236}">
                <a16:creationId xmlns:a16="http://schemas.microsoft.com/office/drawing/2014/main" id="{CBAA6BAF-6308-BED0-5BFF-302575A83F86}"/>
              </a:ext>
            </a:extLst>
          </p:cNvPr>
          <p:cNvSpPr/>
          <p:nvPr/>
        </p:nvSpPr>
        <p:spPr bwMode="auto">
          <a:xfrm>
            <a:off x="5145370" y="3904781"/>
            <a:ext cx="6534151" cy="256603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92024" rIns="182880" bIns="182880" numCol="1" spcCol="0" rtlCol="0" fromWordArt="0" anchor="ctr" anchorCtr="0" forceAA="0" compatLnSpc="1">
            <a:prstTxWarp prst="textNoShape">
              <a:avLst/>
            </a:prstTxWarp>
            <a:noAutofit/>
          </a:bodyPr>
          <a:lstStyle/>
          <a:p>
            <a:pPr marL="285750" indent="-285750" algn="l" defTabSz="932472" fontAlgn="base">
              <a:spcBef>
                <a:spcPct val="0"/>
              </a:spcBef>
              <a:spcAft>
                <a:spcPct val="0"/>
              </a:spcAft>
              <a:buFont typeface="Arial" panose="020B0604020202020204" pitchFamily="34" charset="0"/>
              <a:buChar char="•"/>
            </a:pPr>
            <a:r>
              <a:rPr lang="en-GB" sz="1600" dirty="0">
                <a:solidFill>
                  <a:srgbClr val="171717"/>
                </a:solidFill>
                <a:latin typeface="Segoe UI" panose="020B0502040204020203" pitchFamily="34" charset="0"/>
              </a:rPr>
              <a:t>Check the cost of resources in various Azure geographic regions</a:t>
            </a:r>
          </a:p>
          <a:p>
            <a:pPr marL="285750" indent="-285750" algn="l" defTabSz="932472" fontAlgn="base">
              <a:spcBef>
                <a:spcPct val="0"/>
              </a:spcBef>
              <a:spcAft>
                <a:spcPct val="0"/>
              </a:spcAft>
              <a:buFont typeface="Arial" panose="020B0604020202020204" pitchFamily="34" charset="0"/>
              <a:buChar char="•"/>
            </a:pPr>
            <a:r>
              <a:rPr lang="en-GB" sz="1600" dirty="0">
                <a:solidFill>
                  <a:srgbClr val="171717"/>
                </a:solidFill>
                <a:latin typeface="Segoe UI" panose="020B0502040204020203" pitchFamily="34" charset="0"/>
              </a:rPr>
              <a:t>Choose a subscription that is appropriate for the workload. </a:t>
            </a:r>
          </a:p>
          <a:p>
            <a:pPr marL="285750" indent="-285750" algn="l" defTabSz="932472" fontAlgn="base">
              <a:spcBef>
                <a:spcPct val="0"/>
              </a:spcBef>
              <a:spcAft>
                <a:spcPct val="0"/>
              </a:spcAft>
              <a:buFont typeface="Arial" panose="020B0604020202020204" pitchFamily="34" charset="0"/>
              <a:buChar char="•"/>
            </a:pPr>
            <a:r>
              <a:rPr lang="en-GB" sz="1600" dirty="0">
                <a:solidFill>
                  <a:srgbClr val="171717"/>
                </a:solidFill>
                <a:latin typeface="Segoe UI" panose="020B0502040204020203" pitchFamily="34" charset="0"/>
              </a:rPr>
              <a:t>Choose the right resources to handle the performance. </a:t>
            </a:r>
          </a:p>
          <a:p>
            <a:pPr marL="285750" indent="-285750" algn="l" defTabSz="932472" fontAlgn="base">
              <a:spcBef>
                <a:spcPct val="0"/>
              </a:spcBef>
              <a:spcAft>
                <a:spcPct val="0"/>
              </a:spcAft>
              <a:buFont typeface="Arial" panose="020B0604020202020204" pitchFamily="34" charset="0"/>
              <a:buChar char="•"/>
            </a:pPr>
            <a:r>
              <a:rPr lang="en-GB" sz="1600" dirty="0">
                <a:solidFill>
                  <a:srgbClr val="171717"/>
                </a:solidFill>
                <a:latin typeface="Segoe UI" panose="020B0502040204020203" pitchFamily="34" charset="0"/>
              </a:rPr>
              <a:t>Compare consumption-based pricing with pre-provisioned cost.</a:t>
            </a:r>
          </a:p>
          <a:p>
            <a:pPr marL="285750" indent="-285750" algn="l" defTabSz="932472" fontAlgn="base">
              <a:spcBef>
                <a:spcPct val="0"/>
              </a:spcBef>
              <a:spcAft>
                <a:spcPct val="0"/>
              </a:spcAft>
              <a:buFont typeface="Arial" panose="020B0604020202020204" pitchFamily="34" charset="0"/>
              <a:buChar char="•"/>
            </a:pPr>
            <a:r>
              <a:rPr lang="en-GB" sz="1600" dirty="0">
                <a:solidFill>
                  <a:srgbClr val="171717"/>
                </a:solidFill>
                <a:latin typeface="Segoe UI" panose="020B0502040204020203" pitchFamily="34" charset="0"/>
              </a:rPr>
              <a:t>Use proof-of-concept deployments</a:t>
            </a:r>
          </a:p>
          <a:p>
            <a:pPr marL="285750" indent="-285750" algn="l" defTabSz="932472" fontAlgn="base">
              <a:spcBef>
                <a:spcPct val="0"/>
              </a:spcBef>
              <a:spcAft>
                <a:spcPct val="0"/>
              </a:spcAft>
              <a:buFont typeface="Arial" panose="020B0604020202020204" pitchFamily="34" charset="0"/>
              <a:buChar char="•"/>
            </a:pPr>
            <a:r>
              <a:rPr lang="en-GB" sz="1600" dirty="0">
                <a:solidFill>
                  <a:srgbClr val="171717"/>
                </a:solidFill>
                <a:latin typeface="Segoe UI" panose="020B0502040204020203" pitchFamily="34" charset="0"/>
              </a:rPr>
              <a:t>Choose managed services when possible.</a:t>
            </a:r>
            <a:endParaRPr lang="en-US" sz="1600" dirty="0">
              <a:solidFill>
                <a:srgbClr val="171717"/>
              </a:solidFill>
              <a:latin typeface="Segoe UI" panose="020B0502040204020203" pitchFamily="34" charset="0"/>
            </a:endParaRPr>
          </a:p>
        </p:txBody>
      </p:sp>
      <p:sp>
        <p:nvSpPr>
          <p:cNvPr id="11" name="Rectangle 10">
            <a:extLst>
              <a:ext uri="{FF2B5EF4-FFF2-40B4-BE49-F238E27FC236}">
                <a16:creationId xmlns:a16="http://schemas.microsoft.com/office/drawing/2014/main" id="{750526DC-88F4-319C-1577-4DA274BCEC6E}"/>
              </a:ext>
              <a:ext uri="{C183D7F6-B498-43B3-948B-1728B52AA6E4}">
                <adec:decorative xmlns:adec="http://schemas.microsoft.com/office/drawing/2017/decorative" val="1"/>
              </a:ext>
            </a:extLst>
          </p:cNvPr>
          <p:cNvSpPr/>
          <p:nvPr/>
        </p:nvSpPr>
        <p:spPr bwMode="auto">
          <a:xfrm>
            <a:off x="643221" y="4009791"/>
            <a:ext cx="10968560" cy="2333188"/>
          </a:xfrm>
          <a:prstGeom prst="rect">
            <a:avLst/>
          </a:prstGeom>
          <a:no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0640124E-D884-4BE6-81BA-2FA76E1FFD90}"/>
              </a:ext>
            </a:extLst>
          </p:cNvPr>
          <p:cNvSpPr/>
          <p:nvPr/>
        </p:nvSpPr>
        <p:spPr bwMode="auto">
          <a:xfrm>
            <a:off x="5145370" y="1224785"/>
            <a:ext cx="6534151" cy="256603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92024" rIns="182880" bIns="182880" numCol="1" spcCol="0" rtlCol="0" fromWordArt="0" anchor="ctr" anchorCtr="0" forceAA="0" compatLnSpc="1">
            <a:prstTxWarp prst="textNoShape">
              <a:avLst/>
            </a:prstTxWarp>
            <a:noAutofit/>
          </a:bodyPr>
          <a:lstStyle/>
          <a:p>
            <a:pPr marL="285750" indent="-285750" algn="l">
              <a:buFont typeface="Arial" panose="020B0604020202020204" pitchFamily="34" charset="0"/>
              <a:buChar char="•"/>
            </a:pPr>
            <a:r>
              <a:rPr lang="en-GB" sz="1600" i="0" dirty="0">
                <a:solidFill>
                  <a:srgbClr val="171717"/>
                </a:solidFill>
                <a:effectLst/>
                <a:latin typeface="Segoe UI" panose="020B0502040204020203" pitchFamily="34" charset="0"/>
              </a:rPr>
              <a:t>Capture clear requirements. </a:t>
            </a:r>
            <a:endParaRPr lang="en-GB" sz="1600" dirty="0">
              <a:solidFill>
                <a:srgbClr val="171717"/>
              </a:solidFill>
              <a:latin typeface="Segoe UI" panose="020B0502040204020203" pitchFamily="34" charset="0"/>
            </a:endParaRPr>
          </a:p>
          <a:p>
            <a:pPr marL="285750" indent="-285750" algn="l">
              <a:buFont typeface="Arial" panose="020B0604020202020204" pitchFamily="34" charset="0"/>
              <a:buChar char="•"/>
            </a:pPr>
            <a:r>
              <a:rPr lang="en-GB" sz="1600" i="0" dirty="0">
                <a:solidFill>
                  <a:srgbClr val="171717"/>
                </a:solidFill>
                <a:effectLst/>
                <a:latin typeface="Segoe UI" panose="020B0502040204020203" pitchFamily="34" charset="0"/>
              </a:rPr>
              <a:t>Estimate the initial cost. </a:t>
            </a:r>
          </a:p>
          <a:p>
            <a:pPr marL="285750" indent="-285750" algn="l">
              <a:buFont typeface="Arial" panose="020B0604020202020204" pitchFamily="34" charset="0"/>
              <a:buChar char="•"/>
            </a:pPr>
            <a:r>
              <a:rPr lang="en-GB" sz="1600" i="0" dirty="0">
                <a:solidFill>
                  <a:srgbClr val="171717"/>
                </a:solidFill>
                <a:effectLst/>
                <a:latin typeface="Segoe UI" panose="020B0502040204020203" pitchFamily="34" charset="0"/>
              </a:rPr>
              <a:t>Define policies for the cost constraints defined by the organization. </a:t>
            </a:r>
          </a:p>
          <a:p>
            <a:pPr marL="285750" indent="-285750" algn="l">
              <a:buFont typeface="Arial" panose="020B0604020202020204" pitchFamily="34" charset="0"/>
              <a:buChar char="•"/>
            </a:pPr>
            <a:r>
              <a:rPr lang="en-GB" sz="1600" i="0" dirty="0">
                <a:solidFill>
                  <a:srgbClr val="171717"/>
                </a:solidFill>
                <a:effectLst/>
                <a:latin typeface="Segoe UI" panose="020B0502040204020203" pitchFamily="34" charset="0"/>
              </a:rPr>
              <a:t>Identify shared assets. </a:t>
            </a:r>
          </a:p>
          <a:p>
            <a:pPr marL="285750" indent="-285750" algn="l">
              <a:buFont typeface="Arial" panose="020B0604020202020204" pitchFamily="34" charset="0"/>
              <a:buChar char="•"/>
            </a:pPr>
            <a:r>
              <a:rPr lang="en-GB" sz="1600" i="0" dirty="0">
                <a:solidFill>
                  <a:srgbClr val="171717"/>
                </a:solidFill>
                <a:effectLst/>
                <a:latin typeface="Segoe UI" panose="020B0502040204020203" pitchFamily="34" charset="0"/>
              </a:rPr>
              <a:t>Plan a governance strategy.</a:t>
            </a:r>
          </a:p>
        </p:txBody>
      </p:sp>
      <p:sp>
        <p:nvSpPr>
          <p:cNvPr id="111" name="Rectangle 110">
            <a:extLst>
              <a:ext uri="{FF2B5EF4-FFF2-40B4-BE49-F238E27FC236}">
                <a16:creationId xmlns:a16="http://schemas.microsoft.com/office/drawing/2014/main" id="{19139E87-FCC0-4F1E-A3BA-AC830063001D}"/>
              </a:ext>
              <a:ext uri="{C183D7F6-B498-43B3-948B-1728B52AA6E4}">
                <adec:decorative xmlns:adec="http://schemas.microsoft.com/office/drawing/2017/decorative" val="1"/>
              </a:ext>
            </a:extLst>
          </p:cNvPr>
          <p:cNvSpPr/>
          <p:nvPr/>
        </p:nvSpPr>
        <p:spPr bwMode="auto">
          <a:xfrm>
            <a:off x="643221" y="1329795"/>
            <a:ext cx="10968560" cy="2333188"/>
          </a:xfrm>
          <a:prstGeom prst="rect">
            <a:avLst/>
          </a:prstGeom>
          <a:no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90656522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419C8-5577-4C89-AF6B-668048344556}"/>
              </a:ext>
            </a:extLst>
          </p:cNvPr>
          <p:cNvSpPr>
            <a:spLocks noGrp="1"/>
          </p:cNvSpPr>
          <p:nvPr>
            <p:ph type="title"/>
          </p:nvPr>
        </p:nvSpPr>
        <p:spPr>
          <a:xfrm>
            <a:off x="575481" y="389314"/>
            <a:ext cx="11018520" cy="553998"/>
          </a:xfrm>
        </p:spPr>
        <p:txBody>
          <a:bodyPr/>
          <a:lstStyle/>
          <a:p>
            <a:r>
              <a:rPr kumimoji="0" lang="en-US" i="0" u="none" strike="noStrike" cap="none" spc="0" normalizeH="0" baseline="0" noProof="0" dirty="0">
                <a:ln>
                  <a:noFill/>
                </a:ln>
                <a:effectLst/>
                <a:uLnTx/>
                <a:uFillTx/>
              </a:rPr>
              <a:t>Monitor cost</a:t>
            </a:r>
            <a:endParaRPr lang="en-US" dirty="0">
              <a:cs typeface="Segoe UI"/>
            </a:endParaRPr>
          </a:p>
        </p:txBody>
      </p:sp>
      <p:sp>
        <p:nvSpPr>
          <p:cNvPr id="91" name="Rectangle 90">
            <a:extLst>
              <a:ext uri="{FF2B5EF4-FFF2-40B4-BE49-F238E27FC236}">
                <a16:creationId xmlns:a16="http://schemas.microsoft.com/office/drawing/2014/main" id="{191ED060-A252-4EA7-A370-ABFCDB7A8A5A}"/>
              </a:ext>
            </a:extLst>
          </p:cNvPr>
          <p:cNvSpPr/>
          <p:nvPr/>
        </p:nvSpPr>
        <p:spPr bwMode="auto">
          <a:xfrm>
            <a:off x="575481" y="1224785"/>
            <a:ext cx="4502149" cy="510382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92024" rIns="182880" bIns="182880" numCol="1" spcCol="0" rtlCol="0" fromWordArt="0" anchor="ctr" anchorCtr="0" forceAA="0" compatLnSpc="1">
            <a:prstTxWarp prst="textNoShape">
              <a:avLst/>
            </a:prstTxWarp>
            <a:noAutofit/>
          </a:bodyPr>
          <a:lstStyle/>
          <a:p>
            <a:pPr algn="ctr" defTabSz="932472" fontAlgn="base">
              <a:spcBef>
                <a:spcPts val="100"/>
              </a:spcBef>
              <a:spcAft>
                <a:spcPts val="100"/>
              </a:spcAft>
            </a:pPr>
            <a:r>
              <a:rPr lang="en-GB" sz="2800" dirty="0">
                <a:solidFill>
                  <a:schemeClr val="bg1"/>
                </a:solidFill>
                <a:latin typeface="+mj-lt"/>
                <a:cs typeface="Segoe UI" pitchFamily="34" charset="0"/>
              </a:rPr>
              <a:t>Monitor</a:t>
            </a:r>
            <a:r>
              <a:rPr lang="en-GB" sz="1600" b="1" i="0" dirty="0">
                <a:solidFill>
                  <a:schemeClr val="bg1"/>
                </a:solidFill>
                <a:effectLst/>
                <a:latin typeface="Segoe UI" panose="020B0502040204020203" pitchFamily="34" charset="0"/>
              </a:rPr>
              <a:t> </a:t>
            </a:r>
          </a:p>
        </p:txBody>
      </p:sp>
      <p:sp>
        <p:nvSpPr>
          <p:cNvPr id="6" name="Footer Placeholder 5">
            <a:extLst>
              <a:ext uri="{FF2B5EF4-FFF2-40B4-BE49-F238E27FC236}">
                <a16:creationId xmlns:a16="http://schemas.microsoft.com/office/drawing/2014/main" id="{7D0C6895-7C74-45DB-A278-33E5F7E9E627}"/>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7" name="Slide Number Placeholder 6">
            <a:extLst>
              <a:ext uri="{FF2B5EF4-FFF2-40B4-BE49-F238E27FC236}">
                <a16:creationId xmlns:a16="http://schemas.microsoft.com/office/drawing/2014/main" id="{FA27CD66-E38E-456F-946A-5D073BDDB6D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7" name="Rectangle 96">
            <a:extLst>
              <a:ext uri="{FF2B5EF4-FFF2-40B4-BE49-F238E27FC236}">
                <a16:creationId xmlns:a16="http://schemas.microsoft.com/office/drawing/2014/main" id="{0640124E-D884-4BE6-81BA-2FA76E1FFD90}"/>
              </a:ext>
            </a:extLst>
          </p:cNvPr>
          <p:cNvSpPr/>
          <p:nvPr/>
        </p:nvSpPr>
        <p:spPr bwMode="auto">
          <a:xfrm>
            <a:off x="5145370" y="1224785"/>
            <a:ext cx="6534151" cy="510382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92024" rIns="182880" bIns="182880" numCol="1" spcCol="0" rtlCol="0" fromWordArt="0" anchor="ctr" anchorCtr="0" forceAA="0" compatLnSpc="1">
            <a:prstTxWarp prst="textNoShape">
              <a:avLst/>
            </a:prstTxWarp>
            <a:noAutofit/>
          </a:bodyPr>
          <a:lstStyle/>
          <a:p>
            <a:pPr marL="285750" indent="-285750" algn="l">
              <a:lnSpc>
                <a:spcPct val="150000"/>
              </a:lnSpc>
              <a:buFont typeface="Arial" panose="020B0604020202020204" pitchFamily="34" charset="0"/>
              <a:buChar char="•"/>
            </a:pPr>
            <a:r>
              <a:rPr lang="en-GB" sz="1600" i="0" dirty="0">
                <a:solidFill>
                  <a:srgbClr val="171717"/>
                </a:solidFill>
                <a:effectLst/>
                <a:latin typeface="Segoe UI" panose="020B0502040204020203" pitchFamily="34" charset="0"/>
              </a:rPr>
              <a:t>Create spend reports</a:t>
            </a:r>
          </a:p>
          <a:p>
            <a:pPr marL="285750" indent="-285750" algn="l">
              <a:lnSpc>
                <a:spcPct val="150000"/>
              </a:lnSpc>
              <a:buFont typeface="Arial" panose="020B0604020202020204" pitchFamily="34" charset="0"/>
              <a:buChar char="•"/>
            </a:pPr>
            <a:r>
              <a:rPr lang="en-GB" sz="1600" dirty="0">
                <a:solidFill>
                  <a:srgbClr val="171717"/>
                </a:solidFill>
                <a:latin typeface="Segoe UI" panose="020B0502040204020203" pitchFamily="34" charset="0"/>
              </a:rPr>
              <a:t>Use tags to build reports</a:t>
            </a:r>
          </a:p>
          <a:p>
            <a:pPr marL="285750" indent="-285750" algn="l">
              <a:lnSpc>
                <a:spcPct val="150000"/>
              </a:lnSpc>
              <a:buFont typeface="Arial" panose="020B0604020202020204" pitchFamily="34" charset="0"/>
              <a:buChar char="•"/>
            </a:pPr>
            <a:r>
              <a:rPr lang="en-GB" sz="1600" dirty="0">
                <a:solidFill>
                  <a:srgbClr val="171717"/>
                </a:solidFill>
                <a:latin typeface="Segoe UI" panose="020B0502040204020203" pitchFamily="34" charset="0"/>
              </a:rPr>
              <a:t>Use Azure built-in roles for cost</a:t>
            </a:r>
          </a:p>
          <a:p>
            <a:pPr marL="285750" indent="-285750" algn="l">
              <a:lnSpc>
                <a:spcPct val="150000"/>
              </a:lnSpc>
              <a:buFont typeface="Arial" panose="020B0604020202020204" pitchFamily="34" charset="0"/>
              <a:buChar char="•"/>
            </a:pPr>
            <a:r>
              <a:rPr lang="en-GB" sz="1600" i="0" dirty="0">
                <a:solidFill>
                  <a:srgbClr val="171717"/>
                </a:solidFill>
                <a:effectLst/>
                <a:latin typeface="Segoe UI" panose="020B0502040204020203" pitchFamily="34" charset="0"/>
              </a:rPr>
              <a:t>Respond to alerts and have a response plan according to the constraints</a:t>
            </a:r>
          </a:p>
          <a:p>
            <a:pPr marL="285750" indent="-285750" algn="l">
              <a:lnSpc>
                <a:spcPct val="150000"/>
              </a:lnSpc>
              <a:buFont typeface="Arial" panose="020B0604020202020204" pitchFamily="34" charset="0"/>
              <a:buChar char="•"/>
            </a:pPr>
            <a:r>
              <a:rPr lang="en-GB" sz="1600" i="0" dirty="0">
                <a:solidFill>
                  <a:srgbClr val="171717"/>
                </a:solidFill>
                <a:effectLst/>
                <a:latin typeface="Segoe UI" panose="020B0502040204020203" pitchFamily="34" charset="0"/>
              </a:rPr>
              <a:t>Adopt both proactive and reactive approaches for cost reviews</a:t>
            </a:r>
            <a:endParaRPr lang="en-GB" sz="1600" dirty="0">
              <a:solidFill>
                <a:srgbClr val="171717"/>
              </a:solidFill>
              <a:latin typeface="Segoe UI" panose="020B0502040204020203" pitchFamily="34" charset="0"/>
            </a:endParaRPr>
          </a:p>
          <a:p>
            <a:pPr marL="285750" indent="-285750" algn="l">
              <a:lnSpc>
                <a:spcPct val="150000"/>
              </a:lnSpc>
              <a:buFont typeface="Arial" panose="020B0604020202020204" pitchFamily="34" charset="0"/>
              <a:buChar char="•"/>
            </a:pPr>
            <a:r>
              <a:rPr lang="en-GB" sz="1600" i="0" dirty="0">
                <a:solidFill>
                  <a:srgbClr val="171717"/>
                </a:solidFill>
                <a:effectLst/>
                <a:latin typeface="Segoe UI" panose="020B0502040204020203" pitchFamily="34" charset="0"/>
              </a:rPr>
              <a:t>Analyse the cost at all scopes by using Cost analysis</a:t>
            </a:r>
          </a:p>
          <a:p>
            <a:pPr marL="285750" indent="-285750" algn="l">
              <a:lnSpc>
                <a:spcPct val="150000"/>
              </a:lnSpc>
              <a:buFont typeface="Arial" panose="020B0604020202020204" pitchFamily="34" charset="0"/>
              <a:buChar char="•"/>
            </a:pPr>
            <a:r>
              <a:rPr lang="en-GB" sz="1600" i="0" dirty="0">
                <a:solidFill>
                  <a:srgbClr val="171717"/>
                </a:solidFill>
                <a:effectLst/>
                <a:latin typeface="Segoe UI" panose="020B0502040204020203" pitchFamily="34" charset="0"/>
              </a:rPr>
              <a:t>Detect anomalies</a:t>
            </a:r>
          </a:p>
          <a:p>
            <a:pPr marL="285750" indent="-285750" algn="l">
              <a:lnSpc>
                <a:spcPct val="150000"/>
              </a:lnSpc>
              <a:buFont typeface="Arial" panose="020B0604020202020204" pitchFamily="34" charset="0"/>
              <a:buChar char="•"/>
            </a:pPr>
            <a:r>
              <a:rPr lang="en-GB" sz="1600" dirty="0">
                <a:solidFill>
                  <a:srgbClr val="171717"/>
                </a:solidFill>
                <a:latin typeface="Segoe UI" panose="020B0502040204020203" pitchFamily="34" charset="0"/>
              </a:rPr>
              <a:t>Use Visualization tools to </a:t>
            </a:r>
            <a:r>
              <a:rPr lang="en-GB" sz="1600" dirty="0" err="1">
                <a:solidFill>
                  <a:srgbClr val="171717"/>
                </a:solidFill>
                <a:latin typeface="Segoe UI" panose="020B0502040204020203" pitchFamily="34" charset="0"/>
              </a:rPr>
              <a:t>analyze</a:t>
            </a:r>
            <a:r>
              <a:rPr lang="en-GB" sz="1600" dirty="0">
                <a:solidFill>
                  <a:srgbClr val="171717"/>
                </a:solidFill>
                <a:latin typeface="Segoe UI" panose="020B0502040204020203" pitchFamily="34" charset="0"/>
              </a:rPr>
              <a:t> cost information.</a:t>
            </a:r>
            <a:endParaRPr lang="en-GB" sz="1600" i="0" dirty="0">
              <a:solidFill>
                <a:srgbClr val="171717"/>
              </a:solidFill>
              <a:effectLst/>
              <a:latin typeface="Segoe UI" panose="020B0502040204020203" pitchFamily="34" charset="0"/>
            </a:endParaRPr>
          </a:p>
        </p:txBody>
      </p:sp>
      <p:sp>
        <p:nvSpPr>
          <p:cNvPr id="111" name="Rectangle 110">
            <a:extLst>
              <a:ext uri="{FF2B5EF4-FFF2-40B4-BE49-F238E27FC236}">
                <a16:creationId xmlns:a16="http://schemas.microsoft.com/office/drawing/2014/main" id="{19139E87-FCC0-4F1E-A3BA-AC830063001D}"/>
              </a:ext>
              <a:ext uri="{C183D7F6-B498-43B3-948B-1728B52AA6E4}">
                <adec:decorative xmlns:adec="http://schemas.microsoft.com/office/drawing/2017/decorative" val="1"/>
              </a:ext>
            </a:extLst>
          </p:cNvPr>
          <p:cNvSpPr/>
          <p:nvPr/>
        </p:nvSpPr>
        <p:spPr bwMode="auto">
          <a:xfrm>
            <a:off x="643221" y="1329794"/>
            <a:ext cx="10968560" cy="4640691"/>
          </a:xfrm>
          <a:prstGeom prst="rect">
            <a:avLst/>
          </a:prstGeom>
          <a:no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62661417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419C8-5577-4C89-AF6B-668048344556}"/>
              </a:ext>
            </a:extLst>
          </p:cNvPr>
          <p:cNvSpPr>
            <a:spLocks noGrp="1"/>
          </p:cNvSpPr>
          <p:nvPr>
            <p:ph type="title"/>
          </p:nvPr>
        </p:nvSpPr>
        <p:spPr>
          <a:xfrm>
            <a:off x="575481" y="389314"/>
            <a:ext cx="11018520" cy="553998"/>
          </a:xfrm>
        </p:spPr>
        <p:txBody>
          <a:bodyPr/>
          <a:lstStyle/>
          <a:p>
            <a:r>
              <a:rPr kumimoji="0" lang="en-US" i="0" u="none" strike="noStrike" cap="none" spc="0" normalizeH="0" baseline="0" noProof="0" dirty="0">
                <a:ln>
                  <a:noFill/>
                </a:ln>
                <a:effectLst/>
                <a:uLnTx/>
                <a:uFillTx/>
              </a:rPr>
              <a:t>Optimize cost</a:t>
            </a:r>
            <a:endParaRPr lang="en-US" dirty="0">
              <a:cs typeface="Segoe UI"/>
            </a:endParaRPr>
          </a:p>
        </p:txBody>
      </p:sp>
      <p:sp>
        <p:nvSpPr>
          <p:cNvPr id="91" name="Rectangle 90">
            <a:extLst>
              <a:ext uri="{FF2B5EF4-FFF2-40B4-BE49-F238E27FC236}">
                <a16:creationId xmlns:a16="http://schemas.microsoft.com/office/drawing/2014/main" id="{191ED060-A252-4EA7-A370-ABFCDB7A8A5A}"/>
              </a:ext>
            </a:extLst>
          </p:cNvPr>
          <p:cNvSpPr/>
          <p:nvPr/>
        </p:nvSpPr>
        <p:spPr bwMode="auto">
          <a:xfrm>
            <a:off x="575481" y="1224785"/>
            <a:ext cx="4502149" cy="510382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92024" rIns="182880" bIns="182880" numCol="1" spcCol="0" rtlCol="0" fromWordArt="0" anchor="ctr" anchorCtr="0" forceAA="0" compatLnSpc="1">
            <a:prstTxWarp prst="textNoShape">
              <a:avLst/>
            </a:prstTxWarp>
            <a:noAutofit/>
          </a:bodyPr>
          <a:lstStyle/>
          <a:p>
            <a:pPr algn="ctr" defTabSz="932472" fontAlgn="base">
              <a:spcBef>
                <a:spcPts val="100"/>
              </a:spcBef>
              <a:spcAft>
                <a:spcPts val="100"/>
              </a:spcAft>
            </a:pPr>
            <a:r>
              <a:rPr lang="en-GB" sz="2800" dirty="0">
                <a:solidFill>
                  <a:schemeClr val="bg1"/>
                </a:solidFill>
                <a:latin typeface="+mj-lt"/>
                <a:cs typeface="Segoe UI" pitchFamily="34" charset="0"/>
              </a:rPr>
              <a:t>Optimize</a:t>
            </a:r>
            <a:r>
              <a:rPr lang="en-GB" sz="1600" b="1" i="0" dirty="0">
                <a:solidFill>
                  <a:schemeClr val="bg1"/>
                </a:solidFill>
                <a:effectLst/>
                <a:latin typeface="Segoe UI" panose="020B0502040204020203" pitchFamily="34" charset="0"/>
              </a:rPr>
              <a:t> </a:t>
            </a:r>
          </a:p>
        </p:txBody>
      </p:sp>
      <p:sp>
        <p:nvSpPr>
          <p:cNvPr id="6" name="Footer Placeholder 5">
            <a:extLst>
              <a:ext uri="{FF2B5EF4-FFF2-40B4-BE49-F238E27FC236}">
                <a16:creationId xmlns:a16="http://schemas.microsoft.com/office/drawing/2014/main" id="{7D0C6895-7C74-45DB-A278-33E5F7E9E627}"/>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7" name="Slide Number Placeholder 6">
            <a:extLst>
              <a:ext uri="{FF2B5EF4-FFF2-40B4-BE49-F238E27FC236}">
                <a16:creationId xmlns:a16="http://schemas.microsoft.com/office/drawing/2014/main" id="{FA27CD66-E38E-456F-946A-5D073BDDB6D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7" name="Rectangle 96">
            <a:extLst>
              <a:ext uri="{FF2B5EF4-FFF2-40B4-BE49-F238E27FC236}">
                <a16:creationId xmlns:a16="http://schemas.microsoft.com/office/drawing/2014/main" id="{0640124E-D884-4BE6-81BA-2FA76E1FFD90}"/>
              </a:ext>
            </a:extLst>
          </p:cNvPr>
          <p:cNvSpPr/>
          <p:nvPr/>
        </p:nvSpPr>
        <p:spPr bwMode="auto">
          <a:xfrm>
            <a:off x="5145370" y="1224785"/>
            <a:ext cx="6534151" cy="510382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92024" rIns="182880" bIns="182880" numCol="1" spcCol="0" rtlCol="0" fromWordArt="0" anchor="ctr" anchorCtr="0" forceAA="0" compatLnSpc="1">
            <a:prstTxWarp prst="textNoShape">
              <a:avLst/>
            </a:prstTxWarp>
            <a:noAutofit/>
          </a:bodyPr>
          <a:lstStyle/>
          <a:p>
            <a:pPr marL="285750" indent="-285750" algn="l">
              <a:lnSpc>
                <a:spcPct val="150000"/>
              </a:lnSpc>
              <a:buFont typeface="Arial" panose="020B0604020202020204" pitchFamily="34" charset="0"/>
              <a:buChar char="•"/>
            </a:pPr>
            <a:r>
              <a:rPr lang="en-GB" sz="1600" i="0" dirty="0">
                <a:solidFill>
                  <a:srgbClr val="171717"/>
                </a:solidFill>
                <a:effectLst/>
                <a:latin typeface="Segoe UI" panose="020B0502040204020203" pitchFamily="34" charset="0"/>
              </a:rPr>
              <a:t>Review the underutilized resources</a:t>
            </a:r>
            <a:endParaRPr lang="en-GB" sz="1600" dirty="0">
              <a:solidFill>
                <a:srgbClr val="171717"/>
              </a:solidFill>
              <a:latin typeface="Segoe UI" panose="020B0502040204020203" pitchFamily="34" charset="0"/>
            </a:endParaRPr>
          </a:p>
          <a:p>
            <a:pPr marL="285750" indent="-285750" algn="l">
              <a:lnSpc>
                <a:spcPct val="150000"/>
              </a:lnSpc>
              <a:buFont typeface="Arial" panose="020B0604020202020204" pitchFamily="34" charset="0"/>
              <a:buChar char="•"/>
            </a:pPr>
            <a:r>
              <a:rPr lang="en-GB" sz="1600" i="0" dirty="0">
                <a:solidFill>
                  <a:srgbClr val="171717"/>
                </a:solidFill>
                <a:effectLst/>
                <a:latin typeface="Segoe UI" panose="020B0502040204020203" pitchFamily="34" charset="0"/>
              </a:rPr>
              <a:t>Continuously take action on the cost reviews</a:t>
            </a:r>
            <a:endParaRPr lang="en-GB" sz="1600" dirty="0">
              <a:solidFill>
                <a:srgbClr val="171717"/>
              </a:solidFill>
              <a:latin typeface="Segoe UI" panose="020B0502040204020203" pitchFamily="34" charset="0"/>
            </a:endParaRPr>
          </a:p>
          <a:p>
            <a:pPr marL="285750" indent="-285750" algn="l">
              <a:lnSpc>
                <a:spcPct val="150000"/>
              </a:lnSpc>
              <a:buFont typeface="Arial" panose="020B0604020202020204" pitchFamily="34" charset="0"/>
              <a:buChar char="•"/>
            </a:pPr>
            <a:r>
              <a:rPr lang="en-GB" sz="1600" i="0" dirty="0">
                <a:solidFill>
                  <a:srgbClr val="171717"/>
                </a:solidFill>
                <a:effectLst/>
                <a:latin typeface="Segoe UI" panose="020B0502040204020203" pitchFamily="34" charset="0"/>
              </a:rPr>
              <a:t>Use discount prices</a:t>
            </a:r>
          </a:p>
          <a:p>
            <a:pPr marL="742950" lvl="1" indent="-285750">
              <a:lnSpc>
                <a:spcPct val="150000"/>
              </a:lnSpc>
              <a:buFont typeface="Arial" panose="020B0604020202020204" pitchFamily="34" charset="0"/>
              <a:buChar char="•"/>
            </a:pPr>
            <a:r>
              <a:rPr lang="en-GB" sz="1600" dirty="0">
                <a:solidFill>
                  <a:srgbClr val="171717"/>
                </a:solidFill>
                <a:latin typeface="Segoe UI" panose="020B0502040204020203" pitchFamily="34" charset="0"/>
              </a:rPr>
              <a:t>Azure Reservations </a:t>
            </a:r>
          </a:p>
          <a:p>
            <a:pPr marL="742950" lvl="1" indent="-285750">
              <a:lnSpc>
                <a:spcPct val="150000"/>
              </a:lnSpc>
              <a:buFont typeface="Arial" panose="020B0604020202020204" pitchFamily="34" charset="0"/>
              <a:buChar char="•"/>
            </a:pPr>
            <a:r>
              <a:rPr lang="en-GB" sz="1600" dirty="0">
                <a:solidFill>
                  <a:srgbClr val="171717"/>
                </a:solidFill>
                <a:latin typeface="Segoe UI" panose="020B0502040204020203" pitchFamily="34" charset="0"/>
              </a:rPr>
              <a:t>Savings plan for Compute</a:t>
            </a:r>
          </a:p>
          <a:p>
            <a:pPr marL="742950" lvl="1" indent="-285750">
              <a:lnSpc>
                <a:spcPct val="150000"/>
              </a:lnSpc>
              <a:buFont typeface="Arial" panose="020B0604020202020204" pitchFamily="34" charset="0"/>
              <a:buChar char="•"/>
            </a:pPr>
            <a:r>
              <a:rPr lang="en-GB" sz="1600" i="0" dirty="0">
                <a:solidFill>
                  <a:srgbClr val="171717"/>
                </a:solidFill>
                <a:effectLst/>
                <a:latin typeface="Segoe UI" panose="020B0502040204020203" pitchFamily="34" charset="0"/>
              </a:rPr>
              <a:t>Azure Hybrid Benefit</a:t>
            </a:r>
          </a:p>
          <a:p>
            <a:pPr marL="285750" indent="-285750">
              <a:lnSpc>
                <a:spcPct val="150000"/>
              </a:lnSpc>
              <a:buFont typeface="Arial" panose="020B0604020202020204" pitchFamily="34" charset="0"/>
              <a:buChar char="•"/>
            </a:pPr>
            <a:r>
              <a:rPr lang="en-GB" sz="1600" i="0" dirty="0">
                <a:solidFill>
                  <a:srgbClr val="171717"/>
                </a:solidFill>
                <a:effectLst/>
                <a:latin typeface="Segoe UI" panose="020B0502040204020203" pitchFamily="34" charset="0"/>
              </a:rPr>
              <a:t>Have a scale-in and scale-out policy</a:t>
            </a:r>
          </a:p>
          <a:p>
            <a:pPr marL="285750" indent="-285750">
              <a:lnSpc>
                <a:spcPct val="150000"/>
              </a:lnSpc>
              <a:buFont typeface="Arial" panose="020B0604020202020204" pitchFamily="34" charset="0"/>
              <a:buChar char="•"/>
            </a:pPr>
            <a:r>
              <a:rPr lang="en-GB" sz="1600" i="0" dirty="0">
                <a:solidFill>
                  <a:srgbClr val="171717"/>
                </a:solidFill>
                <a:effectLst/>
                <a:latin typeface="Segoe UI" panose="020B0502040204020203" pitchFamily="34" charset="0"/>
              </a:rPr>
              <a:t>Revaluate design choices</a:t>
            </a:r>
          </a:p>
        </p:txBody>
      </p:sp>
      <p:sp>
        <p:nvSpPr>
          <p:cNvPr id="111" name="Rectangle 110">
            <a:extLst>
              <a:ext uri="{FF2B5EF4-FFF2-40B4-BE49-F238E27FC236}">
                <a16:creationId xmlns:a16="http://schemas.microsoft.com/office/drawing/2014/main" id="{19139E87-FCC0-4F1E-A3BA-AC830063001D}"/>
              </a:ext>
              <a:ext uri="{C183D7F6-B498-43B3-948B-1728B52AA6E4}">
                <adec:decorative xmlns:adec="http://schemas.microsoft.com/office/drawing/2017/decorative" val="1"/>
              </a:ext>
            </a:extLst>
          </p:cNvPr>
          <p:cNvSpPr/>
          <p:nvPr/>
        </p:nvSpPr>
        <p:spPr bwMode="auto">
          <a:xfrm>
            <a:off x="643221" y="1329794"/>
            <a:ext cx="10968560" cy="4640691"/>
          </a:xfrm>
          <a:prstGeom prst="rect">
            <a:avLst/>
          </a:prstGeom>
          <a:no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45087562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a:extLst>
              <a:ext uri="{FF2B5EF4-FFF2-40B4-BE49-F238E27FC236}">
                <a16:creationId xmlns:a16="http://schemas.microsoft.com/office/drawing/2014/main" id="{E5E29846-2060-473F-A696-CFA53E2B5F95}"/>
              </a:ext>
              <a:ext uri="{C183D7F6-B498-43B3-948B-1728B52AA6E4}">
                <adec:decorative xmlns:adec="http://schemas.microsoft.com/office/drawing/2017/decorative" val="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8746" t="3530" r="50986" b="46245"/>
          <a:stretch/>
        </p:blipFill>
        <p:spPr>
          <a:xfrm flipH="1">
            <a:off x="365124" y="2035940"/>
            <a:ext cx="3343275" cy="2345560"/>
          </a:xfrm>
          <a:prstGeom prst="rect">
            <a:avLst/>
          </a:prstGeom>
        </p:spPr>
      </p:pic>
      <p:pic>
        <p:nvPicPr>
          <p:cNvPr id="65" name="Picture 64">
            <a:extLst>
              <a:ext uri="{FF2B5EF4-FFF2-40B4-BE49-F238E27FC236}">
                <a16:creationId xmlns:a16="http://schemas.microsoft.com/office/drawing/2014/main" id="{44554317-0621-4F70-BF8F-FD99A2687D8F}"/>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l="11734" t="12011" r="4293" b="35032"/>
          <a:stretch/>
        </p:blipFill>
        <p:spPr>
          <a:xfrm>
            <a:off x="4229198" y="2035939"/>
            <a:ext cx="3343275" cy="2345561"/>
          </a:xfrm>
          <a:prstGeom prst="rect">
            <a:avLst/>
          </a:prstGeom>
        </p:spPr>
      </p:pic>
      <p:pic>
        <p:nvPicPr>
          <p:cNvPr id="67" name="Picture 66">
            <a:extLst>
              <a:ext uri="{FF2B5EF4-FFF2-40B4-BE49-F238E27FC236}">
                <a16:creationId xmlns:a16="http://schemas.microsoft.com/office/drawing/2014/main" id="{B094A0C8-8858-43CD-BCDB-EE3DCBC2CA6D}"/>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51042" t="13793" r="1007" b="36331"/>
          <a:stretch/>
        </p:blipFill>
        <p:spPr>
          <a:xfrm>
            <a:off x="8093271" y="2035940"/>
            <a:ext cx="3343275" cy="2345560"/>
          </a:xfrm>
          <a:prstGeom prst="rect">
            <a:avLst/>
          </a:prstGeom>
        </p:spPr>
      </p:pic>
      <p:sp>
        <p:nvSpPr>
          <p:cNvPr id="4" name="Title 2">
            <a:extLst>
              <a:ext uri="{FF2B5EF4-FFF2-40B4-BE49-F238E27FC236}">
                <a16:creationId xmlns:a16="http://schemas.microsoft.com/office/drawing/2014/main" id="{AA73F9CC-3DAA-4F5E-87FC-188C3D9774D0}"/>
              </a:ext>
            </a:extLst>
          </p:cNvPr>
          <p:cNvSpPr>
            <a:spLocks noGrp="1"/>
          </p:cNvSpPr>
          <p:nvPr>
            <p:ph type="title"/>
          </p:nvPr>
        </p:nvSpPr>
        <p:spPr>
          <a:xfrm>
            <a:off x="586740" y="320540"/>
            <a:ext cx="11018520" cy="553998"/>
          </a:xfrm>
        </p:spPr>
        <p:txBody>
          <a:bodyPr/>
          <a:lstStyle/>
          <a:p>
            <a:r>
              <a:rPr lang="en-US" sz="4000" dirty="0"/>
              <a:t>Managing cloud spend across the organization </a:t>
            </a:r>
            <a:br>
              <a:rPr lang="en-US" sz="4000" dirty="0"/>
            </a:br>
            <a:r>
              <a:rPr lang="en-US" sz="4000" dirty="0"/>
              <a:t>is becoming increasingly difficult</a:t>
            </a:r>
          </a:p>
        </p:txBody>
      </p:sp>
      <p:sp>
        <p:nvSpPr>
          <p:cNvPr id="31" name="TextBox 30">
            <a:extLst>
              <a:ext uri="{FF2B5EF4-FFF2-40B4-BE49-F238E27FC236}">
                <a16:creationId xmlns:a16="http://schemas.microsoft.com/office/drawing/2014/main" id="{26D61468-A8B1-423E-8E60-2CD47E6E65BB}"/>
              </a:ext>
            </a:extLst>
          </p:cNvPr>
          <p:cNvSpPr txBox="1"/>
          <p:nvPr/>
        </p:nvSpPr>
        <p:spPr>
          <a:xfrm>
            <a:off x="365125" y="4506187"/>
            <a:ext cx="1736049" cy="433939"/>
          </a:xfrm>
          <a:prstGeom prst="rect">
            <a:avLst/>
          </a:prstGeom>
          <a:noFill/>
        </p:spPr>
        <p:txBody>
          <a:bodyPr wrap="square" lIns="0" tIns="91427" rIns="91440" bIns="91427" rtlCol="0">
            <a:spAutoFit/>
          </a:bodyPr>
          <a:lstStyle/>
          <a:p>
            <a:pPr marL="0" marR="0" lvl="0" indent="0" algn="l" defTabSz="932384" rtl="0" eaLnBrk="1" fontAlgn="auto" latinLnBrk="0" hangingPunct="1">
              <a:lnSpc>
                <a:spcPct val="90000"/>
              </a:lnSpc>
              <a:spcBef>
                <a:spcPts val="600"/>
              </a:spcBef>
              <a:spcAft>
                <a:spcPts val="0"/>
              </a:spcAft>
              <a:buClrTx/>
              <a:buSzTx/>
              <a:buFontTx/>
              <a:buNone/>
              <a:tabLst/>
              <a:defRPr/>
            </a:pPr>
            <a:r>
              <a:rPr kumimoji="0" lang="en-US" sz="1800" b="0" i="0" u="none" strike="noStrike" kern="1200" cap="none" spc="0" normalizeH="0" baseline="0" noProof="0">
                <a:ln>
                  <a:noFill/>
                </a:ln>
                <a:solidFill>
                  <a:srgbClr val="0078D3"/>
                </a:solidFill>
                <a:effectLst/>
                <a:uLnTx/>
                <a:uFillTx/>
                <a:latin typeface="Segoe UI Semibold"/>
                <a:ea typeface="Segoe UI" charset="0"/>
                <a:cs typeface="Segoe UI" charset="0"/>
              </a:rPr>
              <a:t>IT executives</a:t>
            </a:r>
          </a:p>
        </p:txBody>
      </p:sp>
      <p:sp>
        <p:nvSpPr>
          <p:cNvPr id="64" name="TextBox 63">
            <a:extLst>
              <a:ext uri="{FF2B5EF4-FFF2-40B4-BE49-F238E27FC236}">
                <a16:creationId xmlns:a16="http://schemas.microsoft.com/office/drawing/2014/main" id="{26D61468-A8B1-423E-8E60-2CD47E6E65BB}"/>
              </a:ext>
            </a:extLst>
          </p:cNvPr>
          <p:cNvSpPr txBox="1"/>
          <p:nvPr/>
        </p:nvSpPr>
        <p:spPr>
          <a:xfrm>
            <a:off x="365125" y="4912426"/>
            <a:ext cx="3343274" cy="1071036"/>
          </a:xfrm>
          <a:prstGeom prst="rect">
            <a:avLst/>
          </a:prstGeom>
          <a:noFill/>
        </p:spPr>
        <p:txBody>
          <a:bodyPr wrap="square" lIns="0" tIns="91427" rIns="146284" bIns="91427" rtlCol="0">
            <a:spAutoFit/>
          </a:bodyPr>
          <a:lstStyle/>
          <a:p>
            <a:pPr marL="0" marR="0" lvl="0" indent="0" algn="l" defTabSz="932384" rtl="0" eaLnBrk="1" fontAlgn="auto" latinLnBrk="0" hangingPunct="1">
              <a:lnSpc>
                <a:spcPct val="9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charset="0"/>
                <a:ea typeface="Segoe UI" charset="0"/>
                <a:cs typeface="Segoe UI" charset="0"/>
              </a:rPr>
              <a:t>We need to better understand cloud spend across the company to ensure we are getting the most from our budget.</a:t>
            </a:r>
          </a:p>
        </p:txBody>
      </p:sp>
      <p:sp>
        <p:nvSpPr>
          <p:cNvPr id="29" name="TextBox 28">
            <a:extLst>
              <a:ext uri="{FF2B5EF4-FFF2-40B4-BE49-F238E27FC236}">
                <a16:creationId xmlns:a16="http://schemas.microsoft.com/office/drawing/2014/main" id="{026AB555-5EBE-4895-A0AA-136F42A58BDC}"/>
              </a:ext>
            </a:extLst>
          </p:cNvPr>
          <p:cNvSpPr txBox="1"/>
          <p:nvPr/>
        </p:nvSpPr>
        <p:spPr>
          <a:xfrm>
            <a:off x="4229199" y="4506187"/>
            <a:ext cx="1616447" cy="433939"/>
          </a:xfrm>
          <a:prstGeom prst="rect">
            <a:avLst/>
          </a:prstGeom>
          <a:noFill/>
        </p:spPr>
        <p:txBody>
          <a:bodyPr wrap="square" lIns="0" tIns="91427" rIns="91440" bIns="91427" rtlCol="0">
            <a:spAutoFit/>
          </a:bodyPr>
          <a:lstStyle/>
          <a:p>
            <a:pPr marL="0" marR="0" lvl="0" indent="0" algn="l" defTabSz="932384" rtl="0" eaLnBrk="1" fontAlgn="auto" latinLnBrk="0" hangingPunct="1">
              <a:lnSpc>
                <a:spcPct val="90000"/>
              </a:lnSpc>
              <a:spcBef>
                <a:spcPts val="600"/>
              </a:spcBef>
              <a:spcAft>
                <a:spcPts val="0"/>
              </a:spcAft>
              <a:buClrTx/>
              <a:buSzTx/>
              <a:buFontTx/>
              <a:buNone/>
              <a:tabLst/>
              <a:defRPr/>
            </a:pPr>
            <a:r>
              <a:rPr kumimoji="0" lang="en-US" sz="1800" b="0" i="0" u="none" strike="noStrike" kern="1200" cap="none" spc="0" normalizeH="0" baseline="0" noProof="0">
                <a:ln>
                  <a:noFill/>
                </a:ln>
                <a:solidFill>
                  <a:srgbClr val="0078D3"/>
                </a:solidFill>
                <a:effectLst/>
                <a:uLnTx/>
                <a:uFillTx/>
                <a:latin typeface="Segoe UI Semibold"/>
                <a:ea typeface="Segoe UI" charset="0"/>
                <a:cs typeface="Segoe UI" charset="0"/>
              </a:rPr>
              <a:t>Finance teams</a:t>
            </a:r>
          </a:p>
        </p:txBody>
      </p:sp>
      <p:sp>
        <p:nvSpPr>
          <p:cNvPr id="70" name="TextBox 69">
            <a:extLst>
              <a:ext uri="{FF2B5EF4-FFF2-40B4-BE49-F238E27FC236}">
                <a16:creationId xmlns:a16="http://schemas.microsoft.com/office/drawing/2014/main" id="{026AB555-5EBE-4895-A0AA-136F42A58BDC}"/>
              </a:ext>
            </a:extLst>
          </p:cNvPr>
          <p:cNvSpPr txBox="1"/>
          <p:nvPr/>
        </p:nvSpPr>
        <p:spPr>
          <a:xfrm>
            <a:off x="4229198" y="4912426"/>
            <a:ext cx="3343274" cy="1071036"/>
          </a:xfrm>
          <a:prstGeom prst="rect">
            <a:avLst/>
          </a:prstGeom>
          <a:noFill/>
        </p:spPr>
        <p:txBody>
          <a:bodyPr wrap="square" lIns="0" tIns="91427" rIns="146284" bIns="91427" rtlCol="0">
            <a:spAutoFit/>
          </a:bodyPr>
          <a:lstStyle/>
          <a:p>
            <a:pPr marL="0" marR="0" lvl="0" indent="0" algn="l" defTabSz="932384" rtl="0" eaLnBrk="1" fontAlgn="auto" latinLnBrk="0" hangingPunct="1">
              <a:lnSpc>
                <a:spcPct val="9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charset="0"/>
                <a:ea typeface="Segoe UI" charset="0"/>
                <a:cs typeface="Segoe UI" charset="0"/>
              </a:rPr>
              <a:t>We need to improve forecast accuracy of cloud spend and drive more accountability from project owners.</a:t>
            </a:r>
          </a:p>
        </p:txBody>
      </p:sp>
      <p:sp>
        <p:nvSpPr>
          <p:cNvPr id="30" name="TextBox 29">
            <a:extLst>
              <a:ext uri="{FF2B5EF4-FFF2-40B4-BE49-F238E27FC236}">
                <a16:creationId xmlns:a16="http://schemas.microsoft.com/office/drawing/2014/main" id="{68587877-12DD-46EF-8042-EB7CD4D860E1}"/>
              </a:ext>
            </a:extLst>
          </p:cNvPr>
          <p:cNvSpPr txBox="1"/>
          <p:nvPr/>
        </p:nvSpPr>
        <p:spPr>
          <a:xfrm>
            <a:off x="8093271" y="4506187"/>
            <a:ext cx="1566733" cy="433939"/>
          </a:xfrm>
          <a:prstGeom prst="rect">
            <a:avLst/>
          </a:prstGeom>
          <a:noFill/>
        </p:spPr>
        <p:txBody>
          <a:bodyPr wrap="square" lIns="0" tIns="91427" rIns="91440" bIns="91427" rtlCol="0">
            <a:spAutoFit/>
          </a:bodyPr>
          <a:lstStyle/>
          <a:p>
            <a:pPr marL="0" marR="0" lvl="0" indent="0" algn="l" defTabSz="932384" rtl="0" eaLnBrk="1" fontAlgn="auto" latinLnBrk="0" hangingPunct="1">
              <a:lnSpc>
                <a:spcPct val="90000"/>
              </a:lnSpc>
              <a:spcBef>
                <a:spcPts val="600"/>
              </a:spcBef>
              <a:spcAft>
                <a:spcPts val="0"/>
              </a:spcAft>
              <a:buClrTx/>
              <a:buSzTx/>
              <a:buFontTx/>
              <a:buNone/>
              <a:tabLst/>
              <a:defRPr/>
            </a:pPr>
            <a:r>
              <a:rPr kumimoji="0" lang="en-US" sz="1800" b="0" i="0" u="none" strike="noStrike" kern="1200" cap="none" spc="0" normalizeH="0" baseline="0" noProof="0">
                <a:ln>
                  <a:noFill/>
                </a:ln>
                <a:solidFill>
                  <a:srgbClr val="0078D3"/>
                </a:solidFill>
                <a:effectLst/>
                <a:uLnTx/>
                <a:uFillTx/>
                <a:latin typeface="Segoe UI Semibold"/>
                <a:ea typeface="Segoe UI" charset="0"/>
                <a:cs typeface="Segoe UI" charset="0"/>
              </a:rPr>
              <a:t>Business units</a:t>
            </a:r>
          </a:p>
        </p:txBody>
      </p:sp>
      <p:sp>
        <p:nvSpPr>
          <p:cNvPr id="73" name="TextBox 72">
            <a:extLst>
              <a:ext uri="{FF2B5EF4-FFF2-40B4-BE49-F238E27FC236}">
                <a16:creationId xmlns:a16="http://schemas.microsoft.com/office/drawing/2014/main" id="{68587877-12DD-46EF-8042-EB7CD4D860E1}"/>
              </a:ext>
            </a:extLst>
          </p:cNvPr>
          <p:cNvSpPr txBox="1"/>
          <p:nvPr/>
        </p:nvSpPr>
        <p:spPr>
          <a:xfrm>
            <a:off x="8093272" y="4912426"/>
            <a:ext cx="3343274" cy="849437"/>
          </a:xfrm>
          <a:prstGeom prst="rect">
            <a:avLst/>
          </a:prstGeom>
          <a:noFill/>
        </p:spPr>
        <p:txBody>
          <a:bodyPr wrap="square" lIns="0" tIns="91427" rIns="146284" bIns="91427" rtlCol="0">
            <a:spAutoFit/>
          </a:bodyPr>
          <a:lstStyle/>
          <a:p>
            <a:pPr marL="0" marR="0" lvl="0" indent="0" algn="l" defTabSz="932384" rtl="0" eaLnBrk="1" fontAlgn="auto" latinLnBrk="0" hangingPunct="1">
              <a:lnSpc>
                <a:spcPct val="9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charset="0"/>
                <a:ea typeface="Segoe UI" charset="0"/>
                <a:cs typeface="Segoe UI" charset="0"/>
              </a:rPr>
              <a:t>We need to optimize the cloud usage and costs of our projects to show an even stronger ROI.</a:t>
            </a:r>
          </a:p>
        </p:txBody>
      </p:sp>
    </p:spTree>
    <p:extLst>
      <p:ext uri="{BB962C8B-B14F-4D97-AF65-F5344CB8AC3E}">
        <p14:creationId xmlns:p14="http://schemas.microsoft.com/office/powerpoint/2010/main" val="3615592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42" presetClass="path" presetSubtype="0" decel="100000" fill="hold" grpId="1" nodeType="withEffect">
                                  <p:stCondLst>
                                    <p:cond delay="0"/>
                                  </p:stCondLst>
                                  <p:childTnLst>
                                    <p:animMotion origin="layout" path="M -1.875E-6 2.59259E-6 L -1.875E-6 0.03403 " pathEditMode="relative" rAng="0" ptsTypes="AA">
                                      <p:cBhvr>
                                        <p:cTn id="9" dur="750" spd="-100000" fill="hold"/>
                                        <p:tgtEl>
                                          <p:spTgt spid="31"/>
                                        </p:tgtEl>
                                        <p:attrNameLst>
                                          <p:attrName>ppt_x</p:attrName>
                                          <p:attrName>ppt_y</p:attrName>
                                        </p:attrNameLst>
                                      </p:cBhvr>
                                      <p:rCtr x="0" y="1690"/>
                                    </p:animMotion>
                                  </p:childTnLst>
                                </p:cTn>
                              </p:par>
                              <p:par>
                                <p:cTn id="10" presetID="10" presetClass="entr" presetSubtype="0" fill="hold" grpId="0" nodeType="with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500"/>
                                        <p:tgtEl>
                                          <p:spTgt spid="64"/>
                                        </p:tgtEl>
                                      </p:cBhvr>
                                    </p:animEffect>
                                  </p:childTnLst>
                                </p:cTn>
                              </p:par>
                              <p:par>
                                <p:cTn id="13" presetID="42" presetClass="path" presetSubtype="0" decel="100000" fill="hold" grpId="1" nodeType="withEffect">
                                  <p:stCondLst>
                                    <p:cond delay="0"/>
                                  </p:stCondLst>
                                  <p:childTnLst>
                                    <p:animMotion origin="layout" path="M 2.70833E-6 -2.96296E-6 L 2.70833E-6 0.03403 " pathEditMode="relative" rAng="0" ptsTypes="AA">
                                      <p:cBhvr>
                                        <p:cTn id="14" dur="750" spd="-100000" fill="hold"/>
                                        <p:tgtEl>
                                          <p:spTgt spid="64"/>
                                        </p:tgtEl>
                                        <p:attrNameLst>
                                          <p:attrName>ppt_x</p:attrName>
                                          <p:attrName>ppt_y</p:attrName>
                                        </p:attrNameLst>
                                      </p:cBhvr>
                                      <p:rCtr x="0" y="1690"/>
                                    </p:animMotion>
                                  </p:childTnLst>
                                </p:cTn>
                              </p:par>
                              <p:par>
                                <p:cTn id="15" presetID="10" presetClass="entr" presetSubtype="0" fill="hold" grpId="0" nodeType="withEffect">
                                  <p:stCondLst>
                                    <p:cond delay="25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42" presetClass="path" presetSubtype="0" decel="100000" fill="hold" grpId="1" nodeType="withEffect">
                                  <p:stCondLst>
                                    <p:cond delay="250"/>
                                  </p:stCondLst>
                                  <p:childTnLst>
                                    <p:animMotion origin="layout" path="M -1.04167E-6 2.59259E-6 L -1.04167E-6 0.03403 " pathEditMode="relative" rAng="0" ptsTypes="AA">
                                      <p:cBhvr>
                                        <p:cTn id="19" dur="750" spd="-100000" fill="hold"/>
                                        <p:tgtEl>
                                          <p:spTgt spid="29"/>
                                        </p:tgtEl>
                                        <p:attrNameLst>
                                          <p:attrName>ppt_x</p:attrName>
                                          <p:attrName>ppt_y</p:attrName>
                                        </p:attrNameLst>
                                      </p:cBhvr>
                                      <p:rCtr x="0" y="1690"/>
                                    </p:animMotion>
                                  </p:childTnLst>
                                </p:cTn>
                              </p:par>
                              <p:par>
                                <p:cTn id="20" presetID="10" presetClass="entr" presetSubtype="0" fill="hold" grpId="0" nodeType="withEffect">
                                  <p:stCondLst>
                                    <p:cond delay="25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500"/>
                                        <p:tgtEl>
                                          <p:spTgt spid="70"/>
                                        </p:tgtEl>
                                      </p:cBhvr>
                                    </p:animEffect>
                                  </p:childTnLst>
                                </p:cTn>
                              </p:par>
                              <p:par>
                                <p:cTn id="23" presetID="42" presetClass="path" presetSubtype="0" decel="100000" fill="hold" grpId="1" nodeType="withEffect">
                                  <p:stCondLst>
                                    <p:cond delay="250"/>
                                  </p:stCondLst>
                                  <p:childTnLst>
                                    <p:animMotion origin="layout" path="M -4.375E-6 -2.96296E-6 L -4.375E-6 0.03403 " pathEditMode="relative" rAng="0" ptsTypes="AA">
                                      <p:cBhvr>
                                        <p:cTn id="24" dur="750" spd="-100000" fill="hold"/>
                                        <p:tgtEl>
                                          <p:spTgt spid="70"/>
                                        </p:tgtEl>
                                        <p:attrNameLst>
                                          <p:attrName>ppt_x</p:attrName>
                                          <p:attrName>ppt_y</p:attrName>
                                        </p:attrNameLst>
                                      </p:cBhvr>
                                      <p:rCtr x="0" y="1690"/>
                                    </p:animMotion>
                                  </p:childTnLst>
                                </p:cTn>
                              </p:par>
                              <p:par>
                                <p:cTn id="25" presetID="10" presetClass="entr" presetSubtype="0" fill="hold" grpId="0" nodeType="withEffect">
                                  <p:stCondLst>
                                    <p:cond delay="50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42" presetClass="path" presetSubtype="0" decel="100000" fill="hold" grpId="1" nodeType="withEffect">
                                  <p:stCondLst>
                                    <p:cond delay="500"/>
                                  </p:stCondLst>
                                  <p:childTnLst>
                                    <p:animMotion origin="layout" path="M -4.79167E-6 2.59259E-6 L -4.79167E-6 0.03403 " pathEditMode="relative" rAng="0" ptsTypes="AA">
                                      <p:cBhvr>
                                        <p:cTn id="29" dur="750" spd="-100000" fill="hold"/>
                                        <p:tgtEl>
                                          <p:spTgt spid="30"/>
                                        </p:tgtEl>
                                        <p:attrNameLst>
                                          <p:attrName>ppt_x</p:attrName>
                                          <p:attrName>ppt_y</p:attrName>
                                        </p:attrNameLst>
                                      </p:cBhvr>
                                      <p:rCtr x="0" y="1690"/>
                                    </p:animMotion>
                                  </p:childTnLst>
                                </p:cTn>
                              </p:par>
                              <p:par>
                                <p:cTn id="30" presetID="10" presetClass="entr" presetSubtype="0" fill="hold" grpId="0" nodeType="withEffect">
                                  <p:stCondLst>
                                    <p:cond delay="500"/>
                                  </p:stCondLst>
                                  <p:childTnLst>
                                    <p:set>
                                      <p:cBhvr>
                                        <p:cTn id="31" dur="1" fill="hold">
                                          <p:stCondLst>
                                            <p:cond delay="0"/>
                                          </p:stCondLst>
                                        </p:cTn>
                                        <p:tgtEl>
                                          <p:spTgt spid="73"/>
                                        </p:tgtEl>
                                        <p:attrNameLst>
                                          <p:attrName>style.visibility</p:attrName>
                                        </p:attrNameLst>
                                      </p:cBhvr>
                                      <p:to>
                                        <p:strVal val="visible"/>
                                      </p:to>
                                    </p:set>
                                    <p:animEffect transition="in" filter="fade">
                                      <p:cBhvr>
                                        <p:cTn id="32" dur="500"/>
                                        <p:tgtEl>
                                          <p:spTgt spid="73"/>
                                        </p:tgtEl>
                                      </p:cBhvr>
                                    </p:animEffect>
                                  </p:childTnLst>
                                </p:cTn>
                              </p:par>
                              <p:par>
                                <p:cTn id="33" presetID="42" presetClass="path" presetSubtype="0" decel="100000" fill="hold" grpId="1" nodeType="withEffect">
                                  <p:stCondLst>
                                    <p:cond delay="500"/>
                                  </p:stCondLst>
                                  <p:childTnLst>
                                    <p:animMotion origin="layout" path="M -1.45833E-6 -7.40741E-7 L -1.45833E-6 0.03403 " pathEditMode="relative" rAng="0" ptsTypes="AA">
                                      <p:cBhvr>
                                        <p:cTn id="34" dur="750" spd="-100000" fill="hold"/>
                                        <p:tgtEl>
                                          <p:spTgt spid="73"/>
                                        </p:tgtEl>
                                        <p:attrNameLst>
                                          <p:attrName>ppt_x</p:attrName>
                                          <p:attrName>ppt_y</p:attrName>
                                        </p:attrNameLst>
                                      </p:cBhvr>
                                      <p:rCtr x="0" y="169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1" grpId="1"/>
      <p:bldP spid="64" grpId="0"/>
      <p:bldP spid="64" grpId="1"/>
      <p:bldP spid="29" grpId="0"/>
      <p:bldP spid="29" grpId="1"/>
      <p:bldP spid="70" grpId="0"/>
      <p:bldP spid="70" grpId="1"/>
      <p:bldP spid="30" grpId="0"/>
      <p:bldP spid="30" grpId="1"/>
      <p:bldP spid="73" grpId="0"/>
      <p:bldP spid="73"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title"/>
          </p:nvPr>
        </p:nvSpPr>
        <p:spPr>
          <a:xfrm>
            <a:off x="365125" y="240815"/>
            <a:ext cx="11560175" cy="665994"/>
          </a:xfrm>
        </p:spPr>
        <p:txBody>
          <a:bodyPr vert="horz" wrap="square" lIns="0" tIns="110913" rIns="0" bIns="0" rtlCol="0">
            <a:spAutoFit/>
          </a:bodyPr>
          <a:lstStyle/>
          <a:p>
            <a:r>
              <a:rPr lang="en-US" sz="4000" dirty="0"/>
              <a:t>Current state of cloud financial management </a:t>
            </a:r>
          </a:p>
        </p:txBody>
      </p:sp>
      <p:sp>
        <p:nvSpPr>
          <p:cNvPr id="40" name="TextBox 39">
            <a:extLst>
              <a:ext uri="{FF2B5EF4-FFF2-40B4-BE49-F238E27FC236}">
                <a16:creationId xmlns:a16="http://schemas.microsoft.com/office/drawing/2014/main" id="{964D1434-1CCD-4183-89B8-BEEF8C9B9082}"/>
              </a:ext>
              <a:ext uri="{C183D7F6-B498-43B3-948B-1728B52AA6E4}">
                <adec:decorative xmlns:adec="http://schemas.microsoft.com/office/drawing/2017/decorative" val="1"/>
              </a:ext>
            </a:extLst>
          </p:cNvPr>
          <p:cNvSpPr txBox="1"/>
          <p:nvPr/>
        </p:nvSpPr>
        <p:spPr>
          <a:xfrm>
            <a:off x="9138809" y="1175386"/>
            <a:ext cx="2468991" cy="5273039"/>
          </a:xfrm>
          <a:prstGeom prst="rect">
            <a:avLst/>
          </a:prstGeom>
          <a:noFill/>
          <a:ln w="38100" cap="sq">
            <a:solidFill>
              <a:schemeClr val="accent1"/>
            </a:solidFill>
            <a:prstDash val="dash"/>
            <a:miter lim="800000"/>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Rectangle 68">
            <a:extLst>
              <a:ext uri="{FF2B5EF4-FFF2-40B4-BE49-F238E27FC236}">
                <a16:creationId xmlns:a16="http://schemas.microsoft.com/office/drawing/2014/main" id="{7C152879-1A4B-4DA9-B35B-A1D9E6427319}"/>
              </a:ext>
            </a:extLst>
          </p:cNvPr>
          <p:cNvSpPr/>
          <p:nvPr/>
        </p:nvSpPr>
        <p:spPr bwMode="auto">
          <a:xfrm>
            <a:off x="365353" y="1268848"/>
            <a:ext cx="2918967" cy="276999"/>
          </a:xfrm>
          <a:prstGeom prst="rect">
            <a:avLst/>
          </a:prstGeom>
          <a:no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78D3"/>
                </a:solidFill>
                <a:effectLst/>
                <a:uLnTx/>
                <a:uFillTx/>
                <a:latin typeface="Segoe UI Semibold"/>
                <a:ea typeface="Segoe UI" pitchFamily="34" charset="0"/>
                <a:cs typeface="Segoe UI Semibold" panose="020B0702040204020203" pitchFamily="34" charset="0"/>
              </a:rPr>
              <a:t>Past</a:t>
            </a:r>
          </a:p>
        </p:txBody>
      </p:sp>
      <p:sp>
        <p:nvSpPr>
          <p:cNvPr id="82" name="Rectangle 81">
            <a:extLst>
              <a:ext uri="{FF2B5EF4-FFF2-40B4-BE49-F238E27FC236}">
                <a16:creationId xmlns:a16="http://schemas.microsoft.com/office/drawing/2014/main" id="{2B70ABB1-6CAC-4A55-BE1F-4365B3D2F4CF}"/>
              </a:ext>
            </a:extLst>
          </p:cNvPr>
          <p:cNvSpPr/>
          <p:nvPr/>
        </p:nvSpPr>
        <p:spPr>
          <a:xfrm>
            <a:off x="357504" y="1687209"/>
            <a:ext cx="2926816" cy="1526572"/>
          </a:xfrm>
          <a:prstGeom prst="rect">
            <a:avLst/>
          </a:prstGeom>
          <a:solidFill>
            <a:schemeClr val="bg1"/>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Technology teams had to get approvals from Finance on what they will be spending, what the costs will be, and its outlook</a:t>
            </a:r>
          </a:p>
        </p:txBody>
      </p:sp>
      <p:sp>
        <p:nvSpPr>
          <p:cNvPr id="27" name="Rectangle 26">
            <a:extLst>
              <a:ext uri="{FF2B5EF4-FFF2-40B4-BE49-F238E27FC236}">
                <a16:creationId xmlns:a16="http://schemas.microsoft.com/office/drawing/2014/main" id="{2053D67E-DC4C-4EAB-B651-511E719E5D39}"/>
              </a:ext>
            </a:extLst>
          </p:cNvPr>
          <p:cNvSpPr/>
          <p:nvPr/>
        </p:nvSpPr>
        <p:spPr>
          <a:xfrm>
            <a:off x="3596867" y="1268848"/>
            <a:ext cx="267728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78D3"/>
                </a:solidFill>
                <a:effectLst/>
                <a:uLnTx/>
                <a:uFillTx/>
                <a:latin typeface="Segoe UI Semibold"/>
                <a:ea typeface="+mn-ea"/>
                <a:cs typeface="Segoe UI" panose="020B0502040204020203" pitchFamily="34" charset="0"/>
              </a:rPr>
              <a:t>Current state</a:t>
            </a:r>
          </a:p>
        </p:txBody>
      </p:sp>
      <p:sp>
        <p:nvSpPr>
          <p:cNvPr id="31" name="Rectangle 30">
            <a:extLst>
              <a:ext uri="{FF2B5EF4-FFF2-40B4-BE49-F238E27FC236}">
                <a16:creationId xmlns:a16="http://schemas.microsoft.com/office/drawing/2014/main" id="{10450723-8EF9-42D4-8B87-60A086799C5D}"/>
              </a:ext>
            </a:extLst>
          </p:cNvPr>
          <p:cNvSpPr/>
          <p:nvPr/>
        </p:nvSpPr>
        <p:spPr>
          <a:xfrm>
            <a:off x="3596867" y="1687209"/>
            <a:ext cx="2671171" cy="10058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a:ea typeface="+mn-ea"/>
                <a:cs typeface="Segoe UI Semibold" panose="020B0702040204020203" pitchFamily="34" charset="0"/>
              </a:rPr>
              <a:t>Success in quicker cloud service deployment</a:t>
            </a:r>
          </a:p>
        </p:txBody>
      </p:sp>
      <p:sp>
        <p:nvSpPr>
          <p:cNvPr id="33" name="Rectangle 32">
            <a:extLst>
              <a:ext uri="{FF2B5EF4-FFF2-40B4-BE49-F238E27FC236}">
                <a16:creationId xmlns:a16="http://schemas.microsoft.com/office/drawing/2014/main" id="{3AC4009F-36DF-4152-B90D-E65728604CD2}"/>
              </a:ext>
            </a:extLst>
          </p:cNvPr>
          <p:cNvSpPr/>
          <p:nvPr/>
        </p:nvSpPr>
        <p:spPr>
          <a:xfrm>
            <a:off x="3596867" y="2895609"/>
            <a:ext cx="2671171" cy="10058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Segoe UI"/>
                <a:ea typeface="+mn-ea"/>
                <a:cs typeface="Segoe UI Semibold" panose="020B0702040204020203" pitchFamily="34" charset="0"/>
              </a:rPr>
              <a:t>Determination to meet company goals and get services up and running</a:t>
            </a:r>
          </a:p>
        </p:txBody>
      </p:sp>
      <p:sp>
        <p:nvSpPr>
          <p:cNvPr id="35" name="Rectangle 34">
            <a:extLst>
              <a:ext uri="{FF2B5EF4-FFF2-40B4-BE49-F238E27FC236}">
                <a16:creationId xmlns:a16="http://schemas.microsoft.com/office/drawing/2014/main" id="{D3A5883E-52A9-4CE0-9856-A9ABEC27F7D8}"/>
              </a:ext>
            </a:extLst>
          </p:cNvPr>
          <p:cNvSpPr/>
          <p:nvPr/>
        </p:nvSpPr>
        <p:spPr>
          <a:xfrm>
            <a:off x="3596867" y="4104009"/>
            <a:ext cx="2671171" cy="10058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marR="5080" lvl="0" indent="0" algn="ctr" defTabSz="914400" rtl="0" eaLnBrk="1" fontAlgn="auto" latinLnBrk="0" hangingPunct="1">
              <a:lnSpc>
                <a:spcPct val="90000"/>
              </a:lnSpc>
              <a:spcBef>
                <a:spcPts val="600"/>
              </a:spcBef>
              <a:spcAft>
                <a:spcPts val="0"/>
              </a:spcAft>
              <a:buClrTx/>
              <a:buSzTx/>
              <a:buFontTx/>
              <a:buNone/>
              <a:tabLst/>
              <a:defRPr/>
            </a:pPr>
            <a:r>
              <a:rPr kumimoji="0" lang="en-US" sz="1600" b="0" i="0" u="none" strike="noStrike" kern="1200" cap="none" spc="-5" normalizeH="0" baseline="0" noProof="0" dirty="0">
                <a:ln>
                  <a:noFill/>
                </a:ln>
                <a:solidFill>
                  <a:prstClr val="black"/>
                </a:solidFill>
                <a:effectLst/>
                <a:uLnTx/>
                <a:uFillTx/>
                <a:latin typeface="Segoe UI"/>
                <a:ea typeface="+mn-ea"/>
                <a:cs typeface="Segoe UI Semibold" panose="020B0702040204020203" pitchFamily="34" charset="0"/>
              </a:rPr>
              <a:t>Faster and better product releases at lower costs</a:t>
            </a:r>
            <a:endParaRPr kumimoji="0" lang="en-US" sz="1600" b="0" i="0" u="none" strike="noStrike" kern="1200" cap="none" spc="0" normalizeH="0" baseline="0" noProof="0" dirty="0">
              <a:ln>
                <a:noFill/>
              </a:ln>
              <a:solidFill>
                <a:prstClr val="black"/>
              </a:solidFill>
              <a:effectLst/>
              <a:uLnTx/>
              <a:uFillTx/>
              <a:latin typeface="Segoe UI"/>
              <a:ea typeface="+mn-ea"/>
              <a:cs typeface="Segoe UI Semibold" panose="020B0702040204020203" pitchFamily="34" charset="0"/>
            </a:endParaRPr>
          </a:p>
        </p:txBody>
      </p:sp>
      <p:sp>
        <p:nvSpPr>
          <p:cNvPr id="37" name="Rectangle 36">
            <a:extLst>
              <a:ext uri="{FF2B5EF4-FFF2-40B4-BE49-F238E27FC236}">
                <a16:creationId xmlns:a16="http://schemas.microsoft.com/office/drawing/2014/main" id="{D6D1D50E-D8C2-47A1-B7C2-433E8495C706}"/>
              </a:ext>
            </a:extLst>
          </p:cNvPr>
          <p:cNvSpPr/>
          <p:nvPr/>
        </p:nvSpPr>
        <p:spPr>
          <a:xfrm>
            <a:off x="3596867" y="5307386"/>
            <a:ext cx="2671171" cy="10058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2700" marR="5080" algn="ctr">
              <a:lnSpc>
                <a:spcPct val="90000"/>
              </a:lnSpc>
              <a:spcBef>
                <a:spcPts val="600"/>
              </a:spcBef>
              <a:defRPr/>
            </a:pPr>
            <a:r>
              <a:rPr lang="en-US" sz="1600" spc="-5" noProof="0" dirty="0">
                <a:solidFill>
                  <a:schemeClr val="tx1"/>
                </a:solidFill>
                <a:latin typeface="Segoe UI"/>
                <a:cs typeface="Segoe UI Semibold"/>
              </a:rPr>
              <a:t>Faster migration to </a:t>
            </a:r>
            <a:r>
              <a:rPr kumimoji="0" lang="en-US" sz="1600" b="0" i="0" u="none" strike="noStrike" kern="1200" cap="none" spc="-5" normalizeH="0" baseline="0" noProof="0" dirty="0">
                <a:ln>
                  <a:noFill/>
                </a:ln>
                <a:solidFill>
                  <a:schemeClr val="tx1"/>
                </a:solidFill>
                <a:effectLst/>
                <a:uLnTx/>
                <a:uFillTx/>
                <a:latin typeface="Segoe UI"/>
                <a:ea typeface="+mn-ea"/>
                <a:cs typeface="Segoe UI Semibold"/>
              </a:rPr>
              <a:t>due to </a:t>
            </a:r>
            <a:r>
              <a:rPr lang="en-US" sz="1600" spc="-5" dirty="0">
                <a:solidFill>
                  <a:schemeClr val="tx1"/>
                </a:solidFill>
                <a:latin typeface="Segoe UI"/>
                <a:cs typeface="Segoe UI Semibold"/>
              </a:rPr>
              <a:t>pandemic</a:t>
            </a:r>
            <a:endParaRPr lang="en-US" sz="1600" b="0" i="0" u="none" strike="noStrike" kern="1200" cap="none" spc="0" normalizeH="0" baseline="0" noProof="0">
              <a:ln>
                <a:noFill/>
              </a:ln>
              <a:solidFill>
                <a:schemeClr val="tx1"/>
              </a:solidFill>
              <a:effectLst/>
              <a:uLnTx/>
              <a:uFillTx/>
              <a:latin typeface="Segoe UI"/>
              <a:cs typeface="Segoe UI Semibold" panose="020B0702040204020203" pitchFamily="34" charset="0"/>
            </a:endParaRPr>
          </a:p>
        </p:txBody>
      </p:sp>
      <p:sp>
        <p:nvSpPr>
          <p:cNvPr id="17" name="Rectangle 16">
            <a:extLst>
              <a:ext uri="{FF2B5EF4-FFF2-40B4-BE49-F238E27FC236}">
                <a16:creationId xmlns:a16="http://schemas.microsoft.com/office/drawing/2014/main" id="{EC1EE246-9690-4AE0-AF90-ED0284F0F963}"/>
              </a:ext>
            </a:extLst>
          </p:cNvPr>
          <p:cNvSpPr/>
          <p:nvPr/>
        </p:nvSpPr>
        <p:spPr>
          <a:xfrm>
            <a:off x="6589454" y="1268848"/>
            <a:ext cx="223680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78D3"/>
                </a:solidFill>
                <a:effectLst/>
                <a:uLnTx/>
                <a:uFillTx/>
                <a:latin typeface="Segoe UI Semibold"/>
                <a:ea typeface="+mn-ea"/>
                <a:cs typeface="Segoe UI" panose="020B0502040204020203" pitchFamily="34" charset="0"/>
              </a:rPr>
              <a:t>Challenges</a:t>
            </a:r>
          </a:p>
        </p:txBody>
      </p:sp>
      <p:sp>
        <p:nvSpPr>
          <p:cNvPr id="19" name="Rectangle 18">
            <a:extLst>
              <a:ext uri="{FF2B5EF4-FFF2-40B4-BE49-F238E27FC236}">
                <a16:creationId xmlns:a16="http://schemas.microsoft.com/office/drawing/2014/main" id="{E51B5690-1F20-4434-B084-5A81A1AAE0C7}"/>
              </a:ext>
            </a:extLst>
          </p:cNvPr>
          <p:cNvSpPr/>
          <p:nvPr/>
        </p:nvSpPr>
        <p:spPr>
          <a:xfrm>
            <a:off x="6589454" y="1687209"/>
            <a:ext cx="2236807" cy="100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Semibold"/>
                <a:ea typeface="+mn-ea"/>
                <a:cs typeface="Segoe UI Semibold" panose="020B0702040204020203" pitchFamily="34" charset="0"/>
              </a:rPr>
              <a:t>Costs as after thought</a:t>
            </a:r>
          </a:p>
        </p:txBody>
      </p:sp>
      <p:sp>
        <p:nvSpPr>
          <p:cNvPr id="21" name="Rectangle 20">
            <a:extLst>
              <a:ext uri="{FF2B5EF4-FFF2-40B4-BE49-F238E27FC236}">
                <a16:creationId xmlns:a16="http://schemas.microsoft.com/office/drawing/2014/main" id="{3CF9091B-27E4-43D6-946C-F6601ECA69DC}"/>
              </a:ext>
            </a:extLst>
          </p:cNvPr>
          <p:cNvSpPr/>
          <p:nvPr/>
        </p:nvSpPr>
        <p:spPr>
          <a:xfrm>
            <a:off x="6589454" y="2895609"/>
            <a:ext cx="2236807" cy="100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Segoe UI Semibold" panose="020B0702040204020203" pitchFamily="34" charset="0"/>
              </a:rPr>
              <a:t>Inadequate communication</a:t>
            </a:r>
          </a:p>
        </p:txBody>
      </p:sp>
      <p:sp>
        <p:nvSpPr>
          <p:cNvPr id="23" name="Rectangle 22">
            <a:extLst>
              <a:ext uri="{FF2B5EF4-FFF2-40B4-BE49-F238E27FC236}">
                <a16:creationId xmlns:a16="http://schemas.microsoft.com/office/drawing/2014/main" id="{7C6E7E64-5979-4330-95DC-6497AC0CF884}"/>
              </a:ext>
            </a:extLst>
          </p:cNvPr>
          <p:cNvSpPr/>
          <p:nvPr/>
        </p:nvSpPr>
        <p:spPr>
          <a:xfrm>
            <a:off x="6589454" y="4104009"/>
            <a:ext cx="2236807" cy="100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Semibold"/>
                <a:ea typeface="+mn-ea"/>
                <a:cs typeface="Segoe UI Semibold" panose="020B0702040204020203" pitchFamily="34" charset="0"/>
              </a:rPr>
              <a:t>Lack of technical skillset</a:t>
            </a:r>
          </a:p>
        </p:txBody>
      </p:sp>
      <p:sp>
        <p:nvSpPr>
          <p:cNvPr id="25" name="Rectangle 24">
            <a:extLst>
              <a:ext uri="{FF2B5EF4-FFF2-40B4-BE49-F238E27FC236}">
                <a16:creationId xmlns:a16="http://schemas.microsoft.com/office/drawing/2014/main" id="{6DD833D0-4F01-4DBB-8E87-B9DBBE122BFA}"/>
              </a:ext>
            </a:extLst>
          </p:cNvPr>
          <p:cNvSpPr/>
          <p:nvPr/>
        </p:nvSpPr>
        <p:spPr>
          <a:xfrm>
            <a:off x="6589454" y="5312410"/>
            <a:ext cx="2236807" cy="100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Segoe UI Semibold" panose="020B0702040204020203" pitchFamily="34" charset="0"/>
              </a:rPr>
              <a:t>Misalignment on cloud governance</a:t>
            </a:r>
          </a:p>
        </p:txBody>
      </p:sp>
      <p:sp>
        <p:nvSpPr>
          <p:cNvPr id="29" name="Rectangle 28">
            <a:extLst>
              <a:ext uri="{FF2B5EF4-FFF2-40B4-BE49-F238E27FC236}">
                <a16:creationId xmlns:a16="http://schemas.microsoft.com/office/drawing/2014/main" id="{7775CAD8-40EA-4C6A-A9C4-0A9B03C145D3}"/>
              </a:ext>
            </a:extLst>
          </p:cNvPr>
          <p:cNvSpPr/>
          <p:nvPr/>
        </p:nvSpPr>
        <p:spPr>
          <a:xfrm>
            <a:off x="9254901" y="1268848"/>
            <a:ext cx="223680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78D3"/>
                </a:solidFill>
                <a:effectLst/>
                <a:uLnTx/>
                <a:uFillTx/>
                <a:latin typeface="Segoe UI Semibold"/>
                <a:ea typeface="+mn-ea"/>
                <a:cs typeface="Segoe UI" panose="020B0502040204020203" pitchFamily="34" charset="0"/>
              </a:rPr>
              <a:t>Impact</a:t>
            </a:r>
          </a:p>
        </p:txBody>
      </p:sp>
      <p:sp>
        <p:nvSpPr>
          <p:cNvPr id="39" name="Rectangle 38">
            <a:extLst>
              <a:ext uri="{FF2B5EF4-FFF2-40B4-BE49-F238E27FC236}">
                <a16:creationId xmlns:a16="http://schemas.microsoft.com/office/drawing/2014/main" id="{4A7D0450-FD2C-47C6-A17A-F9020950F7EB}"/>
              </a:ext>
            </a:extLst>
          </p:cNvPr>
          <p:cNvSpPr/>
          <p:nvPr/>
        </p:nvSpPr>
        <p:spPr>
          <a:xfrm>
            <a:off x="9254901" y="1687209"/>
            <a:ext cx="2236807" cy="10058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p>
            <a:pPr marL="171450" marR="0" lvl="0" indent="-1714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Unexpected spikes in costs</a:t>
            </a:r>
          </a:p>
          <a:p>
            <a:pPr marL="171450" marR="0" lvl="0" indent="-1714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Degrading profitability</a:t>
            </a:r>
          </a:p>
          <a:p>
            <a:pPr marL="171450" marR="0" lvl="0" indent="-1714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2" name="Rectangle 41">
            <a:extLst>
              <a:ext uri="{FF2B5EF4-FFF2-40B4-BE49-F238E27FC236}">
                <a16:creationId xmlns:a16="http://schemas.microsoft.com/office/drawing/2014/main" id="{AFD70E51-5677-4A5C-A2B1-9A1B430F53ED}"/>
              </a:ext>
            </a:extLst>
          </p:cNvPr>
          <p:cNvSpPr/>
          <p:nvPr/>
        </p:nvSpPr>
        <p:spPr>
          <a:xfrm>
            <a:off x="9254901" y="2895609"/>
            <a:ext cx="2236807" cy="10058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4150" marR="5080" lvl="0" indent="-1714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200" b="0" i="0" u="none" strike="noStrike" kern="1200" cap="none" spc="-5" normalizeH="0" baseline="0" noProof="0">
                <a:ln>
                  <a:noFill/>
                </a:ln>
                <a:solidFill>
                  <a:srgbClr val="000000"/>
                </a:solidFill>
                <a:effectLst/>
                <a:uLnTx/>
                <a:uFillTx/>
                <a:latin typeface="Segoe UI"/>
                <a:ea typeface="+mn-ea"/>
                <a:cs typeface="Segoe UI" panose="020B0502040204020203" pitchFamily="34" charset="0"/>
              </a:rPr>
              <a:t>Cross-organizational conflicts</a:t>
            </a:r>
          </a:p>
          <a:p>
            <a:pPr marL="184150" marR="5080" lvl="0" indent="-1714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200" b="0" i="0" u="none" strike="noStrike" kern="1200" cap="none" spc="-5" normalizeH="0" baseline="0" noProof="0">
                <a:ln>
                  <a:noFill/>
                </a:ln>
                <a:solidFill>
                  <a:srgbClr val="000000"/>
                </a:solidFill>
                <a:effectLst/>
                <a:uLnTx/>
                <a:uFillTx/>
                <a:latin typeface="Segoe UI"/>
                <a:ea typeface="+mn-ea"/>
                <a:cs typeface="Segoe UI" panose="020B0502040204020203" pitchFamily="34" charset="0"/>
              </a:rPr>
              <a:t>Delay in critical projects</a:t>
            </a:r>
            <a:endPar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4" name="Rectangle 43">
            <a:extLst>
              <a:ext uri="{FF2B5EF4-FFF2-40B4-BE49-F238E27FC236}">
                <a16:creationId xmlns:a16="http://schemas.microsoft.com/office/drawing/2014/main" id="{B03A1286-97AF-4263-BA58-20F3EA3D4E88}"/>
              </a:ext>
            </a:extLst>
          </p:cNvPr>
          <p:cNvSpPr/>
          <p:nvPr/>
        </p:nvSpPr>
        <p:spPr>
          <a:xfrm>
            <a:off x="9254901" y="4104009"/>
            <a:ext cx="2236807" cy="10058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4150" marR="5080" lvl="0" indent="-1714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200" b="0" i="0" u="none" strike="noStrike" kern="1200" cap="none" spc="-5" normalizeH="0" baseline="0" noProof="0">
                <a:ln>
                  <a:noFill/>
                </a:ln>
                <a:solidFill>
                  <a:srgbClr val="000000"/>
                </a:solidFill>
                <a:effectLst/>
                <a:uLnTx/>
                <a:uFillTx/>
                <a:latin typeface="Segoe UI"/>
                <a:ea typeface="+mn-ea"/>
                <a:cs typeface="Segoe UI" panose="020B0502040204020203" pitchFamily="34" charset="0"/>
              </a:rPr>
              <a:t>Run into scaling issues</a:t>
            </a:r>
          </a:p>
          <a:p>
            <a:pPr marL="184150" marR="5080" lvl="0" indent="-1714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200" b="0" i="0" u="none" strike="noStrike" kern="1200" cap="none" spc="-5" normalizeH="0" baseline="0" noProof="0">
                <a:ln>
                  <a:noFill/>
                </a:ln>
                <a:solidFill>
                  <a:srgbClr val="000000"/>
                </a:solidFill>
                <a:effectLst/>
                <a:uLnTx/>
                <a:uFillTx/>
                <a:latin typeface="Segoe UI"/>
                <a:ea typeface="+mn-ea"/>
                <a:cs typeface="Segoe UI" panose="020B0502040204020203" pitchFamily="34" charset="0"/>
              </a:rPr>
              <a:t>Slows or halts cloud adoption</a:t>
            </a:r>
            <a:endPar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6" name="Rectangle 45">
            <a:extLst>
              <a:ext uri="{FF2B5EF4-FFF2-40B4-BE49-F238E27FC236}">
                <a16:creationId xmlns:a16="http://schemas.microsoft.com/office/drawing/2014/main" id="{EDA52A3A-DA71-469F-B424-22FAD14F1371}"/>
              </a:ext>
            </a:extLst>
          </p:cNvPr>
          <p:cNvSpPr/>
          <p:nvPr/>
        </p:nvSpPr>
        <p:spPr>
          <a:xfrm>
            <a:off x="9254901" y="5312410"/>
            <a:ext cx="2236807" cy="10058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4150" marR="5080" lvl="0" indent="-1714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200" b="0" i="0" u="none" strike="noStrike" kern="1200" cap="none" spc="-5" normalizeH="0" baseline="0" noProof="0">
                <a:ln>
                  <a:noFill/>
                </a:ln>
                <a:solidFill>
                  <a:srgbClr val="000000"/>
                </a:solidFill>
                <a:effectLst/>
                <a:uLnTx/>
                <a:uFillTx/>
                <a:latin typeface="Segoe UI"/>
                <a:ea typeface="+mn-ea"/>
                <a:cs typeface="Segoe UI" panose="020B0502040204020203" pitchFamily="34" charset="0"/>
              </a:rPr>
              <a:t>Lack of team’s collaboration to set a robust organizational-wide governance strategy</a:t>
            </a:r>
            <a:endPar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25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750"/>
                                        <p:tgtEl>
                                          <p:spTgt spid="40"/>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69"/>
                                        </p:tgtEl>
                                        <p:attrNameLst>
                                          <p:attrName>style.visibility</p:attrName>
                                        </p:attrNameLst>
                                      </p:cBhvr>
                                      <p:to>
                                        <p:strVal val="visible"/>
                                      </p:to>
                                    </p:set>
                                    <p:animEffect transition="in" filter="fade">
                                      <p:cBhvr>
                                        <p:cTn id="10" dur="750"/>
                                        <p:tgtEl>
                                          <p:spTgt spid="69"/>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82"/>
                                        </p:tgtEl>
                                        <p:attrNameLst>
                                          <p:attrName>style.visibility</p:attrName>
                                        </p:attrNameLst>
                                      </p:cBhvr>
                                      <p:to>
                                        <p:strVal val="visible"/>
                                      </p:to>
                                    </p:set>
                                    <p:animEffect transition="in" filter="fade">
                                      <p:cBhvr>
                                        <p:cTn id="13" dur="750"/>
                                        <p:tgtEl>
                                          <p:spTgt spid="82"/>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750"/>
                                        <p:tgtEl>
                                          <p:spTgt spid="27"/>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750"/>
                                        <p:tgtEl>
                                          <p:spTgt spid="31"/>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750"/>
                                        <p:tgtEl>
                                          <p:spTgt spid="3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750"/>
                                        <p:tgtEl>
                                          <p:spTgt spid="35"/>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750"/>
                                        <p:tgtEl>
                                          <p:spTgt spid="37"/>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750"/>
                                        <p:tgtEl>
                                          <p:spTgt spid="17"/>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750"/>
                                        <p:tgtEl>
                                          <p:spTgt spid="19"/>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750"/>
                                        <p:tgtEl>
                                          <p:spTgt spid="21"/>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750"/>
                                        <p:tgtEl>
                                          <p:spTgt spid="23"/>
                                        </p:tgtEl>
                                      </p:cBhvr>
                                    </p:animEffect>
                                  </p:childTnLst>
                                </p:cTn>
                              </p:par>
                              <p:par>
                                <p:cTn id="41" presetID="10" presetClass="entr" presetSubtype="0" fill="hold" grpId="0" nodeType="withEffect">
                                  <p:stCondLst>
                                    <p:cond delay="25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750"/>
                                        <p:tgtEl>
                                          <p:spTgt spid="25"/>
                                        </p:tgtEl>
                                      </p:cBhvr>
                                    </p:animEffect>
                                  </p:childTnLst>
                                </p:cTn>
                              </p:par>
                              <p:par>
                                <p:cTn id="44" presetID="10" presetClass="entr" presetSubtype="0" fill="hold" grpId="0" nodeType="withEffect">
                                  <p:stCondLst>
                                    <p:cond delay="25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750"/>
                                        <p:tgtEl>
                                          <p:spTgt spid="29"/>
                                        </p:tgtEl>
                                      </p:cBhvr>
                                    </p:animEffect>
                                  </p:childTnLst>
                                </p:cTn>
                              </p:par>
                              <p:par>
                                <p:cTn id="47" presetID="10" presetClass="entr" presetSubtype="0" fill="hold" grpId="0" nodeType="withEffect">
                                  <p:stCondLst>
                                    <p:cond delay="25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750"/>
                                        <p:tgtEl>
                                          <p:spTgt spid="39"/>
                                        </p:tgtEl>
                                      </p:cBhvr>
                                    </p:animEffect>
                                  </p:childTnLst>
                                </p:cTn>
                              </p:par>
                              <p:par>
                                <p:cTn id="50" presetID="10" presetClass="entr" presetSubtype="0" fill="hold" grpId="0" nodeType="withEffect">
                                  <p:stCondLst>
                                    <p:cond delay="25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750"/>
                                        <p:tgtEl>
                                          <p:spTgt spid="42"/>
                                        </p:tgtEl>
                                      </p:cBhvr>
                                    </p:animEffect>
                                  </p:childTnLst>
                                </p:cTn>
                              </p:par>
                              <p:par>
                                <p:cTn id="53" presetID="10" presetClass="entr" presetSubtype="0" fill="hold" grpId="0" nodeType="withEffect">
                                  <p:stCondLst>
                                    <p:cond delay="250"/>
                                  </p:stCondLst>
                                  <p:childTnLst>
                                    <p:set>
                                      <p:cBhvr>
                                        <p:cTn id="54" dur="1" fill="hold">
                                          <p:stCondLst>
                                            <p:cond delay="0"/>
                                          </p:stCondLst>
                                        </p:cTn>
                                        <p:tgtEl>
                                          <p:spTgt spid="44"/>
                                        </p:tgtEl>
                                        <p:attrNameLst>
                                          <p:attrName>style.visibility</p:attrName>
                                        </p:attrNameLst>
                                      </p:cBhvr>
                                      <p:to>
                                        <p:strVal val="visible"/>
                                      </p:to>
                                    </p:set>
                                    <p:animEffect transition="in" filter="fade">
                                      <p:cBhvr>
                                        <p:cTn id="55" dur="750"/>
                                        <p:tgtEl>
                                          <p:spTgt spid="44"/>
                                        </p:tgtEl>
                                      </p:cBhvr>
                                    </p:animEffect>
                                  </p:childTnLst>
                                </p:cTn>
                              </p:par>
                              <p:par>
                                <p:cTn id="56" presetID="10" presetClass="entr" presetSubtype="0" fill="hold" grpId="0" nodeType="withEffect">
                                  <p:stCondLst>
                                    <p:cond delay="25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69" grpId="0"/>
      <p:bldP spid="82" grpId="0" animBg="1"/>
      <p:bldP spid="27" grpId="0"/>
      <p:bldP spid="31" grpId="0" animBg="1"/>
      <p:bldP spid="33" grpId="0" animBg="1"/>
      <p:bldP spid="35" grpId="0" animBg="1"/>
      <p:bldP spid="37" grpId="0" animBg="1"/>
      <p:bldP spid="17" grpId="0"/>
      <p:bldP spid="19" grpId="0" animBg="1"/>
      <p:bldP spid="21" grpId="0" animBg="1"/>
      <p:bldP spid="23" grpId="0" animBg="1"/>
      <p:bldP spid="25" grpId="0" animBg="1"/>
      <p:bldP spid="29" grpId="0"/>
      <p:bldP spid="39" grpId="0" animBg="1"/>
      <p:bldP spid="42" grpId="0" animBg="1"/>
      <p:bldP spid="44" grpId="0" animBg="1"/>
      <p:bldP spid="4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9ED0E5F-5F09-4341-995C-774EF679B5EE}"/>
              </a:ext>
            </a:extLst>
          </p:cNvPr>
          <p:cNvSpPr txBox="1">
            <a:spLocks/>
          </p:cNvSpPr>
          <p:nvPr/>
        </p:nvSpPr>
        <p:spPr>
          <a:xfrm>
            <a:off x="542200" y="243692"/>
            <a:ext cx="11059250" cy="67710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200" b="0" kern="1200" cap="none" spc="0" baseline="0" dirty="0" smtClean="0">
                <a:ln w="3175">
                  <a:noFill/>
                </a:ln>
                <a:solidFill>
                  <a:srgbClr val="000000"/>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200" b="0" i="0" u="none" strike="noStrike" kern="1200" cap="none" spc="0" normalizeH="0" baseline="0" noProof="0" dirty="0">
                <a:ln w="3175">
                  <a:noFill/>
                </a:ln>
                <a:solidFill>
                  <a:srgbClr val="000000"/>
                </a:solidFill>
                <a:effectLst/>
                <a:uLnTx/>
                <a:uFillTx/>
                <a:latin typeface="Segoe UI Semibold"/>
                <a:ea typeface="+mn-ea"/>
                <a:cs typeface="Segoe UI" pitchFamily="34" charset="0"/>
              </a:rPr>
              <a:t>Top Cost Optimization Challenges: Collaboration is a challenge as organizations transition to “shared responsibility” cloud management models</a:t>
            </a:r>
          </a:p>
        </p:txBody>
      </p:sp>
      <p:sp>
        <p:nvSpPr>
          <p:cNvPr id="5" name="Rectangle 4">
            <a:extLst>
              <a:ext uri="{FF2B5EF4-FFF2-40B4-BE49-F238E27FC236}">
                <a16:creationId xmlns:a16="http://schemas.microsoft.com/office/drawing/2014/main" id="{9285AB88-6EC5-48C9-A8D7-CAB424143850}"/>
              </a:ext>
            </a:extLst>
          </p:cNvPr>
          <p:cNvSpPr/>
          <p:nvPr/>
        </p:nvSpPr>
        <p:spPr bwMode="auto">
          <a:xfrm>
            <a:off x="2488034" y="1021086"/>
            <a:ext cx="9724571" cy="356472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94F88D2B-B00D-4833-A5BA-ECC40ADCCE5C}"/>
              </a:ext>
            </a:extLst>
          </p:cNvPr>
          <p:cNvSpPr/>
          <p:nvPr/>
        </p:nvSpPr>
        <p:spPr bwMode="auto">
          <a:xfrm>
            <a:off x="0" y="1036218"/>
            <a:ext cx="2482389" cy="3564730"/>
          </a:xfrm>
          <a:prstGeom prst="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Box 6">
            <a:extLst>
              <a:ext uri="{FF2B5EF4-FFF2-40B4-BE49-F238E27FC236}">
                <a16:creationId xmlns:a16="http://schemas.microsoft.com/office/drawing/2014/main" id="{C8DC1D33-6D48-484E-BA9F-EE91A3CDF893}"/>
              </a:ext>
            </a:extLst>
          </p:cNvPr>
          <p:cNvSpPr txBox="1"/>
          <p:nvPr/>
        </p:nvSpPr>
        <p:spPr>
          <a:xfrm>
            <a:off x="651802" y="2847476"/>
            <a:ext cx="1742374" cy="317712"/>
          </a:xfrm>
          <a:prstGeom prst="rect">
            <a:avLst/>
          </a:prstGeom>
          <a:noFill/>
        </p:spPr>
        <p:txBody>
          <a:bodyPr wrap="square" lIns="0" tIns="0" rIns="0" bIns="0" rtlCol="0">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a:ln>
                  <a:noFill/>
                </a:ln>
                <a:solidFill>
                  <a:srgbClr val="000000"/>
                </a:solidFill>
                <a:effectLst/>
                <a:uLnTx/>
                <a:uFillTx/>
                <a:latin typeface="Segoe UI Semibold"/>
                <a:ea typeface="+mn-ea"/>
                <a:cs typeface="+mn-cs"/>
              </a:rPr>
              <a:t>Lack of Accountability</a:t>
            </a:r>
          </a:p>
        </p:txBody>
      </p:sp>
      <p:sp>
        <p:nvSpPr>
          <p:cNvPr id="8" name="TextBox 7">
            <a:extLst>
              <a:ext uri="{FF2B5EF4-FFF2-40B4-BE49-F238E27FC236}">
                <a16:creationId xmlns:a16="http://schemas.microsoft.com/office/drawing/2014/main" id="{0984DA69-286B-4C00-AE99-790FE7AA7359}"/>
              </a:ext>
            </a:extLst>
          </p:cNvPr>
          <p:cNvSpPr txBox="1"/>
          <p:nvPr/>
        </p:nvSpPr>
        <p:spPr>
          <a:xfrm>
            <a:off x="608940" y="1206642"/>
            <a:ext cx="1814946" cy="543384"/>
          </a:xfrm>
          <a:prstGeom prst="rect">
            <a:avLst/>
          </a:prstGeom>
          <a:noFill/>
        </p:spPr>
        <p:txBody>
          <a:bodyPr wrap="square" lIns="0" tIns="0" rIns="0" bIns="0" rtlCol="0">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a:ln>
                  <a:noFill/>
                </a:ln>
                <a:solidFill>
                  <a:srgbClr val="000000"/>
                </a:solidFill>
                <a:effectLst/>
                <a:uLnTx/>
                <a:uFillTx/>
                <a:latin typeface="Segoe UI Semibold"/>
                <a:ea typeface="+mn-ea"/>
                <a:cs typeface="+mn-cs"/>
              </a:rPr>
              <a:t>Forecasting,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a:ln>
                  <a:noFill/>
                </a:ln>
                <a:solidFill>
                  <a:srgbClr val="000000"/>
                </a:solidFill>
                <a:effectLst/>
                <a:uLnTx/>
                <a:uFillTx/>
                <a:latin typeface="Segoe UI Semibold"/>
                <a:ea typeface="+mn-ea"/>
                <a:cs typeface="+mn-cs"/>
              </a:rPr>
              <a:t>shared costs</a:t>
            </a:r>
          </a:p>
        </p:txBody>
      </p:sp>
      <p:sp>
        <p:nvSpPr>
          <p:cNvPr id="9" name="TextBox 8">
            <a:extLst>
              <a:ext uri="{FF2B5EF4-FFF2-40B4-BE49-F238E27FC236}">
                <a16:creationId xmlns:a16="http://schemas.microsoft.com/office/drawing/2014/main" id="{E8567446-B69D-4D33-8644-74DD3632586D}"/>
              </a:ext>
            </a:extLst>
          </p:cNvPr>
          <p:cNvSpPr txBox="1"/>
          <p:nvPr/>
        </p:nvSpPr>
        <p:spPr>
          <a:xfrm>
            <a:off x="2612572" y="1183823"/>
            <a:ext cx="9300255" cy="685188"/>
          </a:xfrm>
          <a:prstGeom prst="rect">
            <a:avLst/>
          </a:prstGeom>
          <a:noFill/>
        </p:spPr>
        <p:txBody>
          <a:bodyPr wrap="square">
            <a:spAutoFit/>
          </a:bodyPr>
          <a:lstStyle/>
          <a:p>
            <a:pPr marL="0" marR="0" lvl="3" indent="0" algn="l" defTabSz="914367" rtl="0" eaLnBrk="1" fontAlgn="ctr"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Before workload implementation it's very difficult to get good cost estimates, because most cloud vendors only show list price. </a:t>
            </a:r>
            <a:r>
              <a:rPr kumimoji="0" lang="en-US" sz="12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Even when an actual price is given (such as during service creation), the prices often scale significantly based on load (which is unknown).</a:t>
            </a:r>
            <a:endParaRPr kumimoji="0" lang="en-US" sz="1200" b="0" i="0" u="none" strike="noStrike" kern="1200" cap="none" spc="0" normalizeH="0" baseline="0" noProof="0">
              <a:ln>
                <a:noFill/>
              </a:ln>
              <a:solidFill>
                <a:srgbClr val="FFFFFF"/>
              </a:solidFill>
              <a:effectLst/>
              <a:uLnTx/>
              <a:uFillTx/>
              <a:latin typeface="Segoe UI"/>
              <a:ea typeface="+mn-ea"/>
              <a:cs typeface="Segoe UI Semilight" panose="020B0402040204020203" pitchFamily="34" charset="0"/>
            </a:endParaRPr>
          </a:p>
          <a:p>
            <a:pPr marL="0" marR="0" lvl="3" indent="0" algn="r" defTabSz="914367" rtl="0" eaLnBrk="1" fontAlgn="ctr"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Segoe UI Semilight" panose="020B0402040204020203" pitchFamily="34" charset="0"/>
              </a:rPr>
              <a:t> </a:t>
            </a:r>
            <a:r>
              <a:rPr kumimoji="0" lang="en-US" sz="1200" b="0" i="1" u="none" strike="noStrike" kern="1200" cap="none" spc="0" normalizeH="0" baseline="0" noProof="0">
                <a:ln>
                  <a:noFill/>
                </a:ln>
                <a:solidFill>
                  <a:srgbClr val="0078D4"/>
                </a:solidFill>
                <a:effectLst/>
                <a:uLnTx/>
                <a:uFillTx/>
                <a:latin typeface="Segoe UI"/>
                <a:ea typeface="+mn-ea"/>
                <a:cs typeface="+mn-cs"/>
              </a:rPr>
              <a:t>– IT LEAD</a:t>
            </a:r>
          </a:p>
        </p:txBody>
      </p:sp>
      <p:sp>
        <p:nvSpPr>
          <p:cNvPr id="10" name="TextBox 9">
            <a:extLst>
              <a:ext uri="{FF2B5EF4-FFF2-40B4-BE49-F238E27FC236}">
                <a16:creationId xmlns:a16="http://schemas.microsoft.com/office/drawing/2014/main" id="{74F22BAD-20F3-4553-8BC6-B60883450425}"/>
              </a:ext>
            </a:extLst>
          </p:cNvPr>
          <p:cNvSpPr txBox="1"/>
          <p:nvPr/>
        </p:nvSpPr>
        <p:spPr>
          <a:xfrm>
            <a:off x="637969" y="2048823"/>
            <a:ext cx="2311606" cy="477054"/>
          </a:xfrm>
          <a:prstGeom prst="rect">
            <a:avLst/>
          </a:prstGeom>
          <a:noFill/>
        </p:spPr>
        <p:txBody>
          <a:bodyPr wrap="square" lIns="0" tIns="0" rIns="0" bIns="0" rtlCol="0">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a:ln>
                  <a:noFill/>
                </a:ln>
                <a:solidFill>
                  <a:srgbClr val="000000"/>
                </a:solidFill>
                <a:effectLst/>
                <a:uLnTx/>
                <a:uFillTx/>
                <a:latin typeface="Segoe UI Semibold"/>
                <a:ea typeface="+mn-ea"/>
                <a:cs typeface="+mn-cs"/>
              </a:rPr>
              <a:t>Reducing waste or unused resources</a:t>
            </a:r>
          </a:p>
        </p:txBody>
      </p:sp>
      <p:sp>
        <p:nvSpPr>
          <p:cNvPr id="17" name="Rectangle: Top Corners Rounded 16">
            <a:extLst>
              <a:ext uri="{FF2B5EF4-FFF2-40B4-BE49-F238E27FC236}">
                <a16:creationId xmlns:a16="http://schemas.microsoft.com/office/drawing/2014/main" id="{DE79B762-3560-4D67-9449-217760600ECB}"/>
              </a:ext>
            </a:extLst>
          </p:cNvPr>
          <p:cNvSpPr/>
          <p:nvPr/>
        </p:nvSpPr>
        <p:spPr bwMode="auto">
          <a:xfrm rot="5400000">
            <a:off x="16669" y="1208157"/>
            <a:ext cx="466224" cy="499563"/>
          </a:xfrm>
          <a:prstGeom prst="round2Same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9" name="Rectangle: Top Corners Rounded 18">
            <a:extLst>
              <a:ext uri="{FF2B5EF4-FFF2-40B4-BE49-F238E27FC236}">
                <a16:creationId xmlns:a16="http://schemas.microsoft.com/office/drawing/2014/main" id="{36FCDD4E-237D-4C32-9535-D925D799BA3D}"/>
              </a:ext>
            </a:extLst>
          </p:cNvPr>
          <p:cNvSpPr/>
          <p:nvPr/>
        </p:nvSpPr>
        <p:spPr bwMode="auto">
          <a:xfrm rot="5400000">
            <a:off x="29283" y="2787565"/>
            <a:ext cx="466224" cy="499563"/>
          </a:xfrm>
          <a:prstGeom prst="round2Same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6" name="Group 25">
            <a:extLst>
              <a:ext uri="{FF2B5EF4-FFF2-40B4-BE49-F238E27FC236}">
                <a16:creationId xmlns:a16="http://schemas.microsoft.com/office/drawing/2014/main" id="{E6A014FE-3336-4328-B590-D54D5D437868}"/>
              </a:ext>
            </a:extLst>
          </p:cNvPr>
          <p:cNvGrpSpPr/>
          <p:nvPr/>
        </p:nvGrpSpPr>
        <p:grpSpPr>
          <a:xfrm>
            <a:off x="2423871" y="911005"/>
            <a:ext cx="366112" cy="366110"/>
            <a:chOff x="403008" y="3831711"/>
            <a:chExt cx="596066" cy="596064"/>
          </a:xfrm>
        </p:grpSpPr>
        <p:sp>
          <p:nvSpPr>
            <p:cNvPr id="27" name="Oval 26">
              <a:extLst>
                <a:ext uri="{FF2B5EF4-FFF2-40B4-BE49-F238E27FC236}">
                  <a16:creationId xmlns:a16="http://schemas.microsoft.com/office/drawing/2014/main" id="{1A7B6C40-4B5B-4FF4-88FE-F5CE9790D767}"/>
                </a:ext>
              </a:extLst>
            </p:cNvPr>
            <p:cNvSpPr/>
            <p:nvPr/>
          </p:nvSpPr>
          <p:spPr bwMode="auto">
            <a:xfrm>
              <a:off x="403008" y="3831711"/>
              <a:ext cx="596066" cy="596064"/>
            </a:xfrm>
            <a:prstGeom prst="ellipse">
              <a:avLst/>
            </a:prstGeom>
            <a:solidFill>
              <a:schemeClr val="bg1"/>
            </a:solidFill>
            <a:ln w="63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8" name="Graphic 27">
              <a:extLst>
                <a:ext uri="{FF2B5EF4-FFF2-40B4-BE49-F238E27FC236}">
                  <a16:creationId xmlns:a16="http://schemas.microsoft.com/office/drawing/2014/main" id="{3B743259-23C8-4E9E-B2FF-A435A9B00258}"/>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83294" y="3911418"/>
              <a:ext cx="435494" cy="435494"/>
            </a:xfrm>
            <a:prstGeom prst="rect">
              <a:avLst/>
            </a:prstGeom>
          </p:spPr>
        </p:pic>
      </p:grpSp>
      <p:sp>
        <p:nvSpPr>
          <p:cNvPr id="29" name="Rectangle 28">
            <a:extLst>
              <a:ext uri="{FF2B5EF4-FFF2-40B4-BE49-F238E27FC236}">
                <a16:creationId xmlns:a16="http://schemas.microsoft.com/office/drawing/2014/main" id="{81C93130-E821-43D4-8BA9-DAE6AA6AD2CF}"/>
              </a:ext>
            </a:extLst>
          </p:cNvPr>
          <p:cNvSpPr/>
          <p:nvPr/>
        </p:nvSpPr>
        <p:spPr>
          <a:xfrm>
            <a:off x="2612571" y="2018893"/>
            <a:ext cx="9300255" cy="487569"/>
          </a:xfrm>
          <a:prstGeom prst="rect">
            <a:avLst/>
          </a:prstGeom>
        </p:spPr>
        <p:txBody>
          <a:bodyPr wrap="square">
            <a:spAutoFit/>
          </a:bodyPr>
          <a:lstStyle/>
          <a:p>
            <a:pPr marL="0" marR="0" lvl="3" indent="0" algn="l" defTabSz="914367" rtl="0" eaLnBrk="1" fontAlgn="ctr"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Reducing waste is difficult, because often projects are marked as complete and handed off to the operations team, but </a:t>
            </a:r>
            <a:r>
              <a:rPr kumimoji="0" lang="en-US" sz="12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there is not always a clear task to review usage after a period of time to make sure it still makes sense.			      </a:t>
            </a:r>
            <a:r>
              <a:rPr kumimoji="0" lang="en-US" sz="1200" b="0" i="1" u="none" strike="noStrike" kern="1200" cap="none" spc="0" normalizeH="0" baseline="0" noProof="0">
                <a:ln>
                  <a:noFill/>
                </a:ln>
                <a:solidFill>
                  <a:srgbClr val="0078D4"/>
                </a:solidFill>
                <a:effectLst/>
                <a:uLnTx/>
                <a:uFillTx/>
                <a:latin typeface="Segoe UI"/>
                <a:ea typeface="+mn-ea"/>
                <a:cs typeface="+mn-cs"/>
              </a:rPr>
              <a:t>– IT LEAD</a:t>
            </a:r>
            <a:endParaRPr kumimoji="0" lang="en-US" sz="1200" b="0" i="0" u="none" strike="noStrike" kern="1200" cap="none" spc="0" normalizeH="0" baseline="0" noProof="0">
              <a:ln>
                <a:noFill/>
              </a:ln>
              <a:solidFill>
                <a:srgbClr val="FFFFFF"/>
              </a:solidFill>
              <a:effectLst/>
              <a:uLnTx/>
              <a:uFillTx/>
              <a:latin typeface="Segoe UI"/>
              <a:ea typeface="+mn-ea"/>
              <a:cs typeface="Segoe UI Semilight" panose="020B0402040204020203" pitchFamily="34" charset="0"/>
            </a:endParaRPr>
          </a:p>
        </p:txBody>
      </p:sp>
      <p:sp>
        <p:nvSpPr>
          <p:cNvPr id="30" name="TextBox 29">
            <a:extLst>
              <a:ext uri="{FF2B5EF4-FFF2-40B4-BE49-F238E27FC236}">
                <a16:creationId xmlns:a16="http://schemas.microsoft.com/office/drawing/2014/main" id="{CA43010C-419D-431F-8186-99194A8C57B2}"/>
              </a:ext>
            </a:extLst>
          </p:cNvPr>
          <p:cNvSpPr txBox="1"/>
          <p:nvPr/>
        </p:nvSpPr>
        <p:spPr>
          <a:xfrm>
            <a:off x="608940" y="3642232"/>
            <a:ext cx="1626259" cy="477054"/>
          </a:xfrm>
          <a:prstGeom prst="rect">
            <a:avLst/>
          </a:prstGeom>
          <a:noFill/>
        </p:spPr>
        <p:txBody>
          <a:bodyPr wrap="square" lIns="0" tIns="0" rIns="0" bIns="0" rtlCol="0">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a:ln>
                  <a:noFill/>
                </a:ln>
                <a:solidFill>
                  <a:srgbClr val="000000"/>
                </a:solidFill>
                <a:effectLst/>
                <a:uLnTx/>
                <a:uFillTx/>
                <a:latin typeface="Segoe UI Semibold"/>
                <a:ea typeface="+mn-ea"/>
                <a:cs typeface="+mn-cs"/>
              </a:rPr>
              <a:t>Aligning Finance to IT teams</a:t>
            </a:r>
          </a:p>
        </p:txBody>
      </p:sp>
      <p:cxnSp>
        <p:nvCxnSpPr>
          <p:cNvPr id="15" name="Straight Connector 14">
            <a:extLst>
              <a:ext uri="{FF2B5EF4-FFF2-40B4-BE49-F238E27FC236}">
                <a16:creationId xmlns:a16="http://schemas.microsoft.com/office/drawing/2014/main" id="{F191EF11-497C-4D8F-8CBE-C076856C0118}"/>
              </a:ext>
            </a:extLst>
          </p:cNvPr>
          <p:cNvCxnSpPr>
            <a:cxnSpLocks/>
          </p:cNvCxnSpPr>
          <p:nvPr/>
        </p:nvCxnSpPr>
        <p:spPr>
          <a:xfrm>
            <a:off x="2495776" y="1890746"/>
            <a:ext cx="9696224" cy="0"/>
          </a:xfrm>
          <a:prstGeom prst="line">
            <a:avLst/>
          </a:prstGeom>
          <a:ln>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15DB260-9E85-4DC3-BAD3-85BACD32E90C}"/>
              </a:ext>
            </a:extLst>
          </p:cNvPr>
          <p:cNvCxnSpPr>
            <a:cxnSpLocks/>
          </p:cNvCxnSpPr>
          <p:nvPr/>
        </p:nvCxnSpPr>
        <p:spPr>
          <a:xfrm>
            <a:off x="2488519" y="2706488"/>
            <a:ext cx="9609138" cy="0"/>
          </a:xfrm>
          <a:prstGeom prst="line">
            <a:avLst/>
          </a:prstGeom>
          <a:ln>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1B21C9-F032-4429-9382-66C1060B08CE}"/>
              </a:ext>
            </a:extLst>
          </p:cNvPr>
          <p:cNvCxnSpPr>
            <a:cxnSpLocks/>
          </p:cNvCxnSpPr>
          <p:nvPr/>
        </p:nvCxnSpPr>
        <p:spPr>
          <a:xfrm>
            <a:off x="2482389" y="3449458"/>
            <a:ext cx="9709611" cy="24467"/>
          </a:xfrm>
          <a:prstGeom prst="line">
            <a:avLst/>
          </a:prstGeom>
          <a:ln>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3" name="Rectangle: Top Corners Rounded 32">
            <a:extLst>
              <a:ext uri="{FF2B5EF4-FFF2-40B4-BE49-F238E27FC236}">
                <a16:creationId xmlns:a16="http://schemas.microsoft.com/office/drawing/2014/main" id="{0C4BA685-6F7B-43A2-A42F-463A323C553F}"/>
              </a:ext>
            </a:extLst>
          </p:cNvPr>
          <p:cNvSpPr/>
          <p:nvPr/>
        </p:nvSpPr>
        <p:spPr bwMode="auto">
          <a:xfrm rot="5400000">
            <a:off x="16670" y="3644510"/>
            <a:ext cx="466224" cy="499563"/>
          </a:xfrm>
          <a:prstGeom prst="round2Same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6" name="TextBox 35">
            <a:extLst>
              <a:ext uri="{FF2B5EF4-FFF2-40B4-BE49-F238E27FC236}">
                <a16:creationId xmlns:a16="http://schemas.microsoft.com/office/drawing/2014/main" id="{7CA9C5E3-7103-41AD-ACA5-5ADD47116748}"/>
              </a:ext>
            </a:extLst>
          </p:cNvPr>
          <p:cNvSpPr txBox="1"/>
          <p:nvPr/>
        </p:nvSpPr>
        <p:spPr>
          <a:xfrm>
            <a:off x="2629349" y="3553614"/>
            <a:ext cx="9300255" cy="646331"/>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The biggest challenge that I face is determining whether the proposed architecture / resources are appropriately sized. </a:t>
            </a:r>
            <a:r>
              <a:rPr kumimoji="0" lang="en-US" sz="12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Teams will generally guess on resource sizing without doing more due diligence and research. </a:t>
            </a:r>
            <a:r>
              <a:rPr kumimoji="0" lang="en-US" sz="12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This is hard for me to confirm because it requires application specific knowledge.							</a:t>
            </a:r>
            <a:r>
              <a:rPr kumimoji="0" lang="en-US" sz="1200" b="0" i="1" u="none" strike="noStrike" kern="1200" cap="none" spc="0" normalizeH="0" baseline="0" noProof="0">
                <a:ln>
                  <a:noFill/>
                </a:ln>
                <a:solidFill>
                  <a:srgbClr val="0078D4"/>
                </a:solidFill>
                <a:effectLst/>
                <a:uLnTx/>
                <a:uFillTx/>
                <a:latin typeface="Segoe UI"/>
                <a:ea typeface="+mn-ea"/>
                <a:cs typeface="+mn-cs"/>
              </a:rPr>
              <a:t>– FINANCE</a:t>
            </a:r>
          </a:p>
        </p:txBody>
      </p:sp>
      <p:sp>
        <p:nvSpPr>
          <p:cNvPr id="38" name="TextBox 37">
            <a:extLst>
              <a:ext uri="{FF2B5EF4-FFF2-40B4-BE49-F238E27FC236}">
                <a16:creationId xmlns:a16="http://schemas.microsoft.com/office/drawing/2014/main" id="{81E9B135-A979-4750-9B4C-9D60E74C935C}"/>
              </a:ext>
            </a:extLst>
          </p:cNvPr>
          <p:cNvSpPr txBox="1"/>
          <p:nvPr/>
        </p:nvSpPr>
        <p:spPr>
          <a:xfrm>
            <a:off x="2629349" y="2803127"/>
            <a:ext cx="9300255" cy="646331"/>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Teams are not taking cost optimization into consideration. </a:t>
            </a:r>
            <a:r>
              <a:rPr kumimoji="0" lang="en-US" sz="12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If performance needs are not being met, teams are able to identify that and will resize resources appropriately… they are not checking to see if the same performance can be met using a smaller resource size. Teams are also </a:t>
            </a:r>
            <a:r>
              <a:rPr kumimoji="0" lang="en-US" sz="12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not implementing other controls to optimize spend such as lifecycle policies, log retention policies, etc.     </a:t>
            </a:r>
            <a:r>
              <a:rPr kumimoji="0" lang="en-US" sz="1200" b="0" i="0" u="none" strike="noStrike" kern="1200" cap="none" spc="0" normalizeH="0" baseline="0" noProof="0">
                <a:ln>
                  <a:noFill/>
                </a:ln>
                <a:solidFill>
                  <a:srgbClr val="0078D4"/>
                </a:solidFill>
                <a:effectLst/>
                <a:uLnTx/>
                <a:uFillTx/>
                <a:latin typeface="Segoe UI"/>
                <a:ea typeface="+mn-ea"/>
                <a:cs typeface="Segoe UI Semilight" panose="020B0402040204020203" pitchFamily="34" charset="0"/>
              </a:rPr>
              <a:t>–</a:t>
            </a:r>
            <a:r>
              <a:rPr kumimoji="0" lang="en-US" sz="12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 </a:t>
            </a:r>
            <a:r>
              <a:rPr kumimoji="0" lang="en-US" sz="1200" b="0" i="1" u="none" strike="noStrike" kern="1200" cap="none" spc="0" normalizeH="0" baseline="0" noProof="0">
                <a:ln>
                  <a:noFill/>
                </a:ln>
                <a:solidFill>
                  <a:srgbClr val="0078D4"/>
                </a:solidFill>
                <a:effectLst/>
                <a:uLnTx/>
                <a:uFillTx/>
                <a:latin typeface="Segoe UI"/>
                <a:ea typeface="+mn-ea"/>
                <a:cs typeface="+mn-cs"/>
              </a:rPr>
              <a:t>FINANCE</a:t>
            </a:r>
          </a:p>
        </p:txBody>
      </p:sp>
      <p:sp>
        <p:nvSpPr>
          <p:cNvPr id="37" name="Rectangle: Top Corners Rounded 36">
            <a:extLst>
              <a:ext uri="{FF2B5EF4-FFF2-40B4-BE49-F238E27FC236}">
                <a16:creationId xmlns:a16="http://schemas.microsoft.com/office/drawing/2014/main" id="{707A490D-F9FD-4C90-874B-56D0A86AD282}"/>
              </a:ext>
            </a:extLst>
          </p:cNvPr>
          <p:cNvSpPr/>
          <p:nvPr/>
        </p:nvSpPr>
        <p:spPr bwMode="auto">
          <a:xfrm rot="5400000">
            <a:off x="16670" y="2002752"/>
            <a:ext cx="466224" cy="499563"/>
          </a:xfrm>
          <a:prstGeom prst="round2Same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40" name="Straight Connector 39">
            <a:extLst>
              <a:ext uri="{FF2B5EF4-FFF2-40B4-BE49-F238E27FC236}">
                <a16:creationId xmlns:a16="http://schemas.microsoft.com/office/drawing/2014/main" id="{805D1154-F6C6-41A1-8BB9-F5DEF185E168}"/>
              </a:ext>
            </a:extLst>
          </p:cNvPr>
          <p:cNvCxnSpPr>
            <a:cxnSpLocks/>
          </p:cNvCxnSpPr>
          <p:nvPr/>
        </p:nvCxnSpPr>
        <p:spPr>
          <a:xfrm>
            <a:off x="0" y="1891199"/>
            <a:ext cx="2465862"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6CA2138-0973-4F1A-A9E0-ADD13F6E1A5A}"/>
              </a:ext>
            </a:extLst>
          </p:cNvPr>
          <p:cNvCxnSpPr>
            <a:cxnSpLocks/>
          </p:cNvCxnSpPr>
          <p:nvPr/>
        </p:nvCxnSpPr>
        <p:spPr>
          <a:xfrm>
            <a:off x="29914" y="2726473"/>
            <a:ext cx="2465862"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1C75003-EDF9-4221-8598-1BD49285CC01}"/>
              </a:ext>
            </a:extLst>
          </p:cNvPr>
          <p:cNvCxnSpPr>
            <a:cxnSpLocks/>
          </p:cNvCxnSpPr>
          <p:nvPr/>
        </p:nvCxnSpPr>
        <p:spPr>
          <a:xfrm>
            <a:off x="0" y="3478006"/>
            <a:ext cx="2465862"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Chart_E999" title="Icon of a line graph with an arrow at the end pointing up">
            <a:extLst>
              <a:ext uri="{FF2B5EF4-FFF2-40B4-BE49-F238E27FC236}">
                <a16:creationId xmlns:a16="http://schemas.microsoft.com/office/drawing/2014/main" id="{62EBED5A-2247-4CC0-A5F1-B2CF618F8572}"/>
              </a:ext>
            </a:extLst>
          </p:cNvPr>
          <p:cNvSpPr>
            <a:spLocks noChangeAspect="1" noEditPoints="1"/>
          </p:cNvSpPr>
          <p:nvPr/>
        </p:nvSpPr>
        <p:spPr bwMode="auto">
          <a:xfrm>
            <a:off x="92520" y="1300566"/>
            <a:ext cx="314522" cy="314744"/>
          </a:xfrm>
          <a:custGeom>
            <a:avLst/>
            <a:gdLst>
              <a:gd name="T0" fmla="*/ 0 w 4245"/>
              <a:gd name="T1" fmla="*/ 0 h 4248"/>
              <a:gd name="T2" fmla="*/ 0 w 4245"/>
              <a:gd name="T3" fmla="*/ 4248 h 4248"/>
              <a:gd name="T4" fmla="*/ 4245 w 4245"/>
              <a:gd name="T5" fmla="*/ 4248 h 4248"/>
              <a:gd name="T6" fmla="*/ 4088 w 4245"/>
              <a:gd name="T7" fmla="*/ 1101 h 4248"/>
              <a:gd name="T8" fmla="*/ 2515 w 4245"/>
              <a:gd name="T9" fmla="*/ 2675 h 4248"/>
              <a:gd name="T10" fmla="*/ 1886 w 4245"/>
              <a:gd name="T11" fmla="*/ 2045 h 4248"/>
              <a:gd name="T12" fmla="*/ 0 w 4245"/>
              <a:gd name="T13" fmla="*/ 3933 h 4248"/>
              <a:gd name="T14" fmla="*/ 4088 w 4245"/>
              <a:gd name="T15" fmla="*/ 2203 h 4248"/>
              <a:gd name="T16" fmla="*/ 4088 w 4245"/>
              <a:gd name="T17" fmla="*/ 1101 h 4248"/>
              <a:gd name="T18" fmla="*/ 2987 w 4245"/>
              <a:gd name="T19" fmla="*/ 1101 h 4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45" h="4248">
                <a:moveTo>
                  <a:pt x="0" y="0"/>
                </a:moveTo>
                <a:lnTo>
                  <a:pt x="0" y="4248"/>
                </a:lnTo>
                <a:lnTo>
                  <a:pt x="4245" y="4248"/>
                </a:lnTo>
                <a:moveTo>
                  <a:pt x="4088" y="1101"/>
                </a:moveTo>
                <a:lnTo>
                  <a:pt x="2515" y="2675"/>
                </a:lnTo>
                <a:lnTo>
                  <a:pt x="1886" y="2045"/>
                </a:lnTo>
                <a:lnTo>
                  <a:pt x="0" y="3933"/>
                </a:lnTo>
                <a:moveTo>
                  <a:pt x="4088" y="2203"/>
                </a:moveTo>
                <a:lnTo>
                  <a:pt x="4088" y="1101"/>
                </a:lnTo>
                <a:lnTo>
                  <a:pt x="2987" y="1101"/>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sp>
        <p:nvSpPr>
          <p:cNvPr id="44" name="arrow_23" title="Icon of an arrow pointing into an container">
            <a:extLst>
              <a:ext uri="{FF2B5EF4-FFF2-40B4-BE49-F238E27FC236}">
                <a16:creationId xmlns:a16="http://schemas.microsoft.com/office/drawing/2014/main" id="{07C1D115-3810-4A59-B7A6-9E17E20452ED}"/>
              </a:ext>
            </a:extLst>
          </p:cNvPr>
          <p:cNvSpPr>
            <a:spLocks noChangeAspect="1" noEditPoints="1"/>
          </p:cNvSpPr>
          <p:nvPr/>
        </p:nvSpPr>
        <p:spPr bwMode="auto">
          <a:xfrm>
            <a:off x="123366" y="2094674"/>
            <a:ext cx="252832" cy="315718"/>
          </a:xfrm>
          <a:custGeom>
            <a:avLst/>
            <a:gdLst>
              <a:gd name="T0" fmla="*/ 145 w 197"/>
              <a:gd name="T1" fmla="*/ 153 h 246"/>
              <a:gd name="T2" fmla="*/ 99 w 197"/>
              <a:gd name="T3" fmla="*/ 194 h 246"/>
              <a:gd name="T4" fmla="*/ 52 w 197"/>
              <a:gd name="T5" fmla="*/ 153 h 246"/>
              <a:gd name="T6" fmla="*/ 0 w 197"/>
              <a:gd name="T7" fmla="*/ 78 h 246"/>
              <a:gd name="T8" fmla="*/ 0 w 197"/>
              <a:gd name="T9" fmla="*/ 246 h 246"/>
              <a:gd name="T10" fmla="*/ 197 w 197"/>
              <a:gd name="T11" fmla="*/ 246 h 246"/>
              <a:gd name="T12" fmla="*/ 197 w 197"/>
              <a:gd name="T13" fmla="*/ 78 h 246"/>
              <a:gd name="T14" fmla="*/ 99 w 197"/>
              <a:gd name="T15" fmla="*/ 194 h 246"/>
              <a:gd name="T16" fmla="*/ 99 w 197"/>
              <a:gd name="T17"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7" h="246">
                <a:moveTo>
                  <a:pt x="145" y="153"/>
                </a:moveTo>
                <a:lnTo>
                  <a:pt x="99" y="194"/>
                </a:lnTo>
                <a:lnTo>
                  <a:pt x="52" y="153"/>
                </a:lnTo>
                <a:moveTo>
                  <a:pt x="0" y="78"/>
                </a:moveTo>
                <a:lnTo>
                  <a:pt x="0" y="246"/>
                </a:lnTo>
                <a:lnTo>
                  <a:pt x="197" y="246"/>
                </a:lnTo>
                <a:lnTo>
                  <a:pt x="197" y="78"/>
                </a:lnTo>
                <a:moveTo>
                  <a:pt x="99" y="194"/>
                </a:moveTo>
                <a:lnTo>
                  <a:pt x="99" y="0"/>
                </a:lnTo>
              </a:path>
            </a:pathLst>
          </a:custGeom>
          <a:noFill/>
          <a:ln w="15875" cap="sq">
            <a:solidFill>
              <a:schemeClr val="bg1"/>
            </a:solidFill>
            <a:prstDash val="soli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sp>
        <p:nvSpPr>
          <p:cNvPr id="45" name="people_7" title="Icon of two people">
            <a:extLst>
              <a:ext uri="{FF2B5EF4-FFF2-40B4-BE49-F238E27FC236}">
                <a16:creationId xmlns:a16="http://schemas.microsoft.com/office/drawing/2014/main" id="{62F42A8F-84EF-490A-80BD-F794ADE9D837}"/>
              </a:ext>
            </a:extLst>
          </p:cNvPr>
          <p:cNvSpPr>
            <a:spLocks noChangeAspect="1" noEditPoints="1"/>
          </p:cNvSpPr>
          <p:nvPr/>
        </p:nvSpPr>
        <p:spPr bwMode="auto">
          <a:xfrm>
            <a:off x="108631" y="2913052"/>
            <a:ext cx="282302" cy="308189"/>
          </a:xfrm>
          <a:custGeom>
            <a:avLst/>
            <a:gdLst>
              <a:gd name="T0" fmla="*/ 26 w 316"/>
              <a:gd name="T1" fmla="*/ 200 h 345"/>
              <a:gd name="T2" fmla="*/ 85 w 316"/>
              <a:gd name="T3" fmla="*/ 141 h 345"/>
              <a:gd name="T4" fmla="*/ 144 w 316"/>
              <a:gd name="T5" fmla="*/ 200 h 345"/>
              <a:gd name="T6" fmla="*/ 85 w 316"/>
              <a:gd name="T7" fmla="*/ 259 h 345"/>
              <a:gd name="T8" fmla="*/ 26 w 316"/>
              <a:gd name="T9" fmla="*/ 200 h 345"/>
              <a:gd name="T10" fmla="*/ 172 w 316"/>
              <a:gd name="T11" fmla="*/ 345 h 345"/>
              <a:gd name="T12" fmla="*/ 86 w 316"/>
              <a:gd name="T13" fmla="*/ 259 h 345"/>
              <a:gd name="T14" fmla="*/ 0 w 316"/>
              <a:gd name="T15" fmla="*/ 345 h 345"/>
              <a:gd name="T16" fmla="*/ 229 w 316"/>
              <a:gd name="T17" fmla="*/ 118 h 345"/>
              <a:gd name="T18" fmla="*/ 288 w 316"/>
              <a:gd name="T19" fmla="*/ 59 h 345"/>
              <a:gd name="T20" fmla="*/ 229 w 316"/>
              <a:gd name="T21" fmla="*/ 0 h 345"/>
              <a:gd name="T22" fmla="*/ 170 w 316"/>
              <a:gd name="T23" fmla="*/ 59 h 345"/>
              <a:gd name="T24" fmla="*/ 229 w 316"/>
              <a:gd name="T25" fmla="*/ 118 h 345"/>
              <a:gd name="T26" fmla="*/ 316 w 316"/>
              <a:gd name="T27" fmla="*/ 204 h 345"/>
              <a:gd name="T28" fmla="*/ 230 w 316"/>
              <a:gd name="T29" fmla="*/ 118 h 345"/>
              <a:gd name="T30" fmla="*/ 144 w 316"/>
              <a:gd name="T31" fmla="*/ 204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6" h="345">
                <a:moveTo>
                  <a:pt x="26" y="200"/>
                </a:moveTo>
                <a:cubicBezTo>
                  <a:pt x="26" y="167"/>
                  <a:pt x="52" y="141"/>
                  <a:pt x="85" y="141"/>
                </a:cubicBezTo>
                <a:cubicBezTo>
                  <a:pt x="117" y="141"/>
                  <a:pt x="144" y="167"/>
                  <a:pt x="144" y="200"/>
                </a:cubicBezTo>
                <a:cubicBezTo>
                  <a:pt x="144" y="233"/>
                  <a:pt x="117" y="259"/>
                  <a:pt x="85" y="259"/>
                </a:cubicBezTo>
                <a:cubicBezTo>
                  <a:pt x="52" y="259"/>
                  <a:pt x="26" y="233"/>
                  <a:pt x="26" y="200"/>
                </a:cubicBezTo>
                <a:close/>
                <a:moveTo>
                  <a:pt x="172" y="345"/>
                </a:moveTo>
                <a:cubicBezTo>
                  <a:pt x="172" y="298"/>
                  <a:pt x="133" y="259"/>
                  <a:pt x="86" y="259"/>
                </a:cubicBezTo>
                <a:cubicBezTo>
                  <a:pt x="38" y="259"/>
                  <a:pt x="0" y="298"/>
                  <a:pt x="0" y="345"/>
                </a:cubicBezTo>
                <a:moveTo>
                  <a:pt x="229" y="118"/>
                </a:moveTo>
                <a:cubicBezTo>
                  <a:pt x="261" y="118"/>
                  <a:pt x="288" y="92"/>
                  <a:pt x="288" y="59"/>
                </a:cubicBezTo>
                <a:cubicBezTo>
                  <a:pt x="288" y="26"/>
                  <a:pt x="261" y="0"/>
                  <a:pt x="229" y="0"/>
                </a:cubicBezTo>
                <a:cubicBezTo>
                  <a:pt x="196" y="0"/>
                  <a:pt x="170" y="26"/>
                  <a:pt x="170" y="59"/>
                </a:cubicBezTo>
                <a:cubicBezTo>
                  <a:pt x="170" y="92"/>
                  <a:pt x="196" y="118"/>
                  <a:pt x="229" y="118"/>
                </a:cubicBezTo>
                <a:close/>
                <a:moveTo>
                  <a:pt x="316" y="204"/>
                </a:moveTo>
                <a:cubicBezTo>
                  <a:pt x="316" y="157"/>
                  <a:pt x="277" y="118"/>
                  <a:pt x="230" y="118"/>
                </a:cubicBezTo>
                <a:cubicBezTo>
                  <a:pt x="182" y="118"/>
                  <a:pt x="144" y="157"/>
                  <a:pt x="144" y="20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46" name="manager" title="Icon of three people with lines connecting them">
            <a:extLst>
              <a:ext uri="{FF2B5EF4-FFF2-40B4-BE49-F238E27FC236}">
                <a16:creationId xmlns:a16="http://schemas.microsoft.com/office/drawing/2014/main" id="{96884D31-4ED2-4C5C-AF8E-3EC3DE6E65CB}"/>
              </a:ext>
            </a:extLst>
          </p:cNvPr>
          <p:cNvSpPr>
            <a:spLocks noChangeAspect="1" noEditPoints="1"/>
          </p:cNvSpPr>
          <p:nvPr/>
        </p:nvSpPr>
        <p:spPr bwMode="auto">
          <a:xfrm>
            <a:off x="94458" y="3737734"/>
            <a:ext cx="310648" cy="313114"/>
          </a:xfrm>
          <a:custGeom>
            <a:avLst/>
            <a:gdLst>
              <a:gd name="T0" fmla="*/ 128 w 348"/>
              <a:gd name="T1" fmla="*/ 46 h 352"/>
              <a:gd name="T2" fmla="*/ 174 w 348"/>
              <a:gd name="T3" fmla="*/ 0 h 352"/>
              <a:gd name="T4" fmla="*/ 220 w 348"/>
              <a:gd name="T5" fmla="*/ 46 h 352"/>
              <a:gd name="T6" fmla="*/ 174 w 348"/>
              <a:gd name="T7" fmla="*/ 91 h 352"/>
              <a:gd name="T8" fmla="*/ 128 w 348"/>
              <a:gd name="T9" fmla="*/ 46 h 352"/>
              <a:gd name="T10" fmla="*/ 231 w 348"/>
              <a:gd name="T11" fmla="*/ 148 h 352"/>
              <a:gd name="T12" fmla="*/ 174 w 348"/>
              <a:gd name="T13" fmla="*/ 91 h 352"/>
              <a:gd name="T14" fmla="*/ 117 w 348"/>
              <a:gd name="T15" fmla="*/ 148 h 352"/>
              <a:gd name="T16" fmla="*/ 57 w 348"/>
              <a:gd name="T17" fmla="*/ 295 h 352"/>
              <a:gd name="T18" fmla="*/ 102 w 348"/>
              <a:gd name="T19" fmla="*/ 249 h 352"/>
              <a:gd name="T20" fmla="*/ 57 w 348"/>
              <a:gd name="T21" fmla="*/ 204 h 352"/>
              <a:gd name="T22" fmla="*/ 11 w 348"/>
              <a:gd name="T23" fmla="*/ 249 h 352"/>
              <a:gd name="T24" fmla="*/ 57 w 348"/>
              <a:gd name="T25" fmla="*/ 295 h 352"/>
              <a:gd name="T26" fmla="*/ 114 w 348"/>
              <a:gd name="T27" fmla="*/ 352 h 352"/>
              <a:gd name="T28" fmla="*/ 57 w 348"/>
              <a:gd name="T29" fmla="*/ 295 h 352"/>
              <a:gd name="T30" fmla="*/ 0 w 348"/>
              <a:gd name="T31" fmla="*/ 352 h 352"/>
              <a:gd name="T32" fmla="*/ 291 w 348"/>
              <a:gd name="T33" fmla="*/ 295 h 352"/>
              <a:gd name="T34" fmla="*/ 337 w 348"/>
              <a:gd name="T35" fmla="*/ 249 h 352"/>
              <a:gd name="T36" fmla="*/ 291 w 348"/>
              <a:gd name="T37" fmla="*/ 204 h 352"/>
              <a:gd name="T38" fmla="*/ 246 w 348"/>
              <a:gd name="T39" fmla="*/ 249 h 352"/>
              <a:gd name="T40" fmla="*/ 291 w 348"/>
              <a:gd name="T41" fmla="*/ 295 h 352"/>
              <a:gd name="T42" fmla="*/ 348 w 348"/>
              <a:gd name="T43" fmla="*/ 352 h 352"/>
              <a:gd name="T44" fmla="*/ 291 w 348"/>
              <a:gd name="T45" fmla="*/ 295 h 352"/>
              <a:gd name="T46" fmla="*/ 234 w 348"/>
              <a:gd name="T47" fmla="*/ 352 h 352"/>
              <a:gd name="T48" fmla="*/ 224 w 348"/>
              <a:gd name="T49" fmla="*/ 219 h 352"/>
              <a:gd name="T50" fmla="*/ 174 w 348"/>
              <a:gd name="T51" fmla="*/ 169 h 352"/>
              <a:gd name="T52" fmla="*/ 124 w 348"/>
              <a:gd name="T53" fmla="*/ 219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8" h="352">
                <a:moveTo>
                  <a:pt x="128" y="46"/>
                </a:moveTo>
                <a:cubicBezTo>
                  <a:pt x="128" y="20"/>
                  <a:pt x="149" y="0"/>
                  <a:pt x="174" y="0"/>
                </a:cubicBezTo>
                <a:cubicBezTo>
                  <a:pt x="199" y="0"/>
                  <a:pt x="220" y="20"/>
                  <a:pt x="220" y="46"/>
                </a:cubicBezTo>
                <a:cubicBezTo>
                  <a:pt x="220" y="71"/>
                  <a:pt x="199" y="91"/>
                  <a:pt x="174" y="91"/>
                </a:cubicBezTo>
                <a:cubicBezTo>
                  <a:pt x="149" y="91"/>
                  <a:pt x="128" y="71"/>
                  <a:pt x="128" y="46"/>
                </a:cubicBezTo>
                <a:close/>
                <a:moveTo>
                  <a:pt x="231" y="148"/>
                </a:moveTo>
                <a:cubicBezTo>
                  <a:pt x="231" y="117"/>
                  <a:pt x="206" y="91"/>
                  <a:pt x="174" y="91"/>
                </a:cubicBezTo>
                <a:cubicBezTo>
                  <a:pt x="142" y="91"/>
                  <a:pt x="117" y="117"/>
                  <a:pt x="117" y="148"/>
                </a:cubicBezTo>
                <a:moveTo>
                  <a:pt x="57" y="295"/>
                </a:moveTo>
                <a:cubicBezTo>
                  <a:pt x="82" y="295"/>
                  <a:pt x="102" y="275"/>
                  <a:pt x="102" y="249"/>
                </a:cubicBezTo>
                <a:cubicBezTo>
                  <a:pt x="102" y="224"/>
                  <a:pt x="82" y="204"/>
                  <a:pt x="57" y="204"/>
                </a:cubicBezTo>
                <a:cubicBezTo>
                  <a:pt x="32" y="204"/>
                  <a:pt x="11" y="224"/>
                  <a:pt x="11" y="249"/>
                </a:cubicBezTo>
                <a:cubicBezTo>
                  <a:pt x="11" y="275"/>
                  <a:pt x="32" y="295"/>
                  <a:pt x="57" y="295"/>
                </a:cubicBezTo>
                <a:close/>
                <a:moveTo>
                  <a:pt x="114" y="352"/>
                </a:moveTo>
                <a:cubicBezTo>
                  <a:pt x="114" y="320"/>
                  <a:pt x="88" y="295"/>
                  <a:pt x="57" y="295"/>
                </a:cubicBezTo>
                <a:cubicBezTo>
                  <a:pt x="25" y="295"/>
                  <a:pt x="0" y="320"/>
                  <a:pt x="0" y="352"/>
                </a:cubicBezTo>
                <a:moveTo>
                  <a:pt x="291" y="295"/>
                </a:moveTo>
                <a:cubicBezTo>
                  <a:pt x="316" y="295"/>
                  <a:pt x="337" y="275"/>
                  <a:pt x="337" y="249"/>
                </a:cubicBezTo>
                <a:cubicBezTo>
                  <a:pt x="337" y="224"/>
                  <a:pt x="316" y="204"/>
                  <a:pt x="291" y="204"/>
                </a:cubicBezTo>
                <a:cubicBezTo>
                  <a:pt x="266" y="204"/>
                  <a:pt x="246" y="224"/>
                  <a:pt x="246" y="249"/>
                </a:cubicBezTo>
                <a:cubicBezTo>
                  <a:pt x="246" y="275"/>
                  <a:pt x="266" y="295"/>
                  <a:pt x="291" y="295"/>
                </a:cubicBezTo>
                <a:close/>
                <a:moveTo>
                  <a:pt x="348" y="352"/>
                </a:moveTo>
                <a:cubicBezTo>
                  <a:pt x="348" y="320"/>
                  <a:pt x="323" y="295"/>
                  <a:pt x="291" y="295"/>
                </a:cubicBezTo>
                <a:cubicBezTo>
                  <a:pt x="260" y="295"/>
                  <a:pt x="234" y="320"/>
                  <a:pt x="234" y="352"/>
                </a:cubicBezTo>
                <a:moveTo>
                  <a:pt x="224" y="219"/>
                </a:moveTo>
                <a:cubicBezTo>
                  <a:pt x="174" y="169"/>
                  <a:pt x="174" y="169"/>
                  <a:pt x="174" y="169"/>
                </a:cubicBezTo>
                <a:cubicBezTo>
                  <a:pt x="124" y="219"/>
                  <a:pt x="124" y="219"/>
                  <a:pt x="124" y="219"/>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CF16F4CB-C9CB-4F27-831B-13F5700B7FB1}"/>
              </a:ext>
            </a:extLst>
          </p:cNvPr>
          <p:cNvSpPr/>
          <p:nvPr/>
        </p:nvSpPr>
        <p:spPr bwMode="auto">
          <a:xfrm>
            <a:off x="5361782" y="4786652"/>
            <a:ext cx="6830218" cy="1660955"/>
          </a:xfrm>
          <a:prstGeom prst="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35" name="TextBox 34">
            <a:extLst>
              <a:ext uri="{FF2B5EF4-FFF2-40B4-BE49-F238E27FC236}">
                <a16:creationId xmlns:a16="http://schemas.microsoft.com/office/drawing/2014/main" id="{80F4D53D-FB5E-4BE0-AF61-E00695069B41}"/>
              </a:ext>
            </a:extLst>
          </p:cNvPr>
          <p:cNvSpPr txBox="1"/>
          <p:nvPr/>
        </p:nvSpPr>
        <p:spPr>
          <a:xfrm>
            <a:off x="6096000" y="5234206"/>
            <a:ext cx="5833604" cy="738664"/>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UI"/>
                <a:ea typeface="+mn-ea"/>
                <a:cs typeface="+mn-cs"/>
              </a:rPr>
              <a:t>Implications</a:t>
            </a:r>
            <a:r>
              <a:rPr kumimoji="0" lang="en-US" sz="1600" b="0" i="0" u="none" strike="noStrike" kern="1200" cap="none" spc="0" normalizeH="0" baseline="0" noProof="0">
                <a:ln>
                  <a:noFill/>
                </a:ln>
                <a:solidFill>
                  <a:srgbClr val="000000"/>
                </a:solidFill>
                <a:effectLst/>
                <a:uLnTx/>
                <a:uFillTx/>
                <a:latin typeface="Segoe UI"/>
                <a:ea typeface="+mn-ea"/>
                <a:cs typeface="+mn-cs"/>
              </a:rPr>
              <a:t>: </a:t>
            </a:r>
            <a:r>
              <a:rPr kumimoji="0" lang="en-US" sz="1600" b="0" i="1" u="none" strike="noStrike" kern="1200" cap="none" spc="0" normalizeH="0" baseline="0" noProof="0">
                <a:ln>
                  <a:noFill/>
                </a:ln>
                <a:solidFill>
                  <a:srgbClr val="000000"/>
                </a:solidFill>
                <a:effectLst/>
                <a:uLnTx/>
                <a:uFillTx/>
                <a:latin typeface="Segoe UI"/>
                <a:ea typeface="+mn-ea"/>
                <a:cs typeface="+mn-cs"/>
              </a:rPr>
              <a:t>As cloud cost optimization becomes more collaborative, organizations would benefit from guidance on roles and responsibilities (e.g. RACI matrix). </a:t>
            </a:r>
          </a:p>
        </p:txBody>
      </p:sp>
      <p:sp>
        <p:nvSpPr>
          <p:cNvPr id="48" name="Rectangle 47">
            <a:extLst>
              <a:ext uri="{FF2B5EF4-FFF2-40B4-BE49-F238E27FC236}">
                <a16:creationId xmlns:a16="http://schemas.microsoft.com/office/drawing/2014/main" id="{9AB8253A-5031-4978-9E25-766808868B0D}"/>
              </a:ext>
            </a:extLst>
          </p:cNvPr>
          <p:cNvSpPr/>
          <p:nvPr/>
        </p:nvSpPr>
        <p:spPr bwMode="auto">
          <a:xfrm>
            <a:off x="12612" y="4364169"/>
            <a:ext cx="5875291" cy="223983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74" name="Picture 2" descr="RACi matrix example">
            <a:extLst>
              <a:ext uri="{FF2B5EF4-FFF2-40B4-BE49-F238E27FC236}">
                <a16:creationId xmlns:a16="http://schemas.microsoft.com/office/drawing/2014/main" id="{53CC58D1-66EB-4889-A346-62258858C26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262" t="2179" r="2262" b="10006"/>
          <a:stretch/>
        </p:blipFill>
        <p:spPr bwMode="auto">
          <a:xfrm>
            <a:off x="84771" y="4429244"/>
            <a:ext cx="5795384" cy="212449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ADC266E0-8ACF-405B-898B-00B5052ACD0E}"/>
              </a:ext>
            </a:extLst>
          </p:cNvPr>
          <p:cNvPicPr>
            <a:picLocks noChangeAspect="1"/>
          </p:cNvPicPr>
          <p:nvPr/>
        </p:nvPicPr>
        <p:blipFill>
          <a:blip r:embed="rId6"/>
          <a:stretch>
            <a:fillRect/>
          </a:stretch>
        </p:blipFill>
        <p:spPr>
          <a:xfrm>
            <a:off x="10589580" y="6447607"/>
            <a:ext cx="1517649" cy="501497"/>
          </a:xfrm>
          <a:prstGeom prst="rect">
            <a:avLst/>
          </a:prstGeom>
        </p:spPr>
      </p:pic>
    </p:spTree>
    <p:extLst>
      <p:ext uri="{BB962C8B-B14F-4D97-AF65-F5344CB8AC3E}">
        <p14:creationId xmlns:p14="http://schemas.microsoft.com/office/powerpoint/2010/main" val="403618467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EE4B7BE0-D755-46DD-80CC-70E0CD7FF996}"/>
              </a:ext>
              <a:ext uri="{C183D7F6-B498-43B3-948B-1728B52AA6E4}">
                <adec:decorative xmlns:adec="http://schemas.microsoft.com/office/drawing/2017/decorative" val="1"/>
              </a:ext>
            </a:extLst>
          </p:cNvPr>
          <p:cNvSpPr txBox="1"/>
          <p:nvPr/>
        </p:nvSpPr>
        <p:spPr>
          <a:xfrm>
            <a:off x="2644496" y="2105816"/>
            <a:ext cx="9547504" cy="4219260"/>
          </a:xfrm>
          <a:prstGeom prst="rect">
            <a:avLst/>
          </a:prstGeom>
          <a:solidFill>
            <a:srgbClr val="F2F2F2"/>
          </a:solid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24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endParaRPr>
          </a:p>
        </p:txBody>
      </p:sp>
      <p:sp>
        <p:nvSpPr>
          <p:cNvPr id="71" name="Block Arc 70">
            <a:extLst>
              <a:ext uri="{FF2B5EF4-FFF2-40B4-BE49-F238E27FC236}">
                <a16:creationId xmlns:a16="http://schemas.microsoft.com/office/drawing/2014/main" id="{C569E6D9-6786-433C-9E0C-E7CDED1DB1BA}"/>
              </a:ext>
              <a:ext uri="{C183D7F6-B498-43B3-948B-1728B52AA6E4}">
                <adec:decorative xmlns:adec="http://schemas.microsoft.com/office/drawing/2017/decorative" val="1"/>
              </a:ext>
            </a:extLst>
          </p:cNvPr>
          <p:cNvSpPr/>
          <p:nvPr/>
        </p:nvSpPr>
        <p:spPr bwMode="auto">
          <a:xfrm rot="18797241">
            <a:off x="272560" y="1980363"/>
            <a:ext cx="4252899" cy="4252899"/>
          </a:xfrm>
          <a:prstGeom prst="blockArc">
            <a:avLst>
              <a:gd name="adj1" fmla="val 10800000"/>
              <a:gd name="adj2" fmla="val 16217905"/>
              <a:gd name="adj3" fmla="val 26811"/>
            </a:avLst>
          </a:prstGeom>
          <a:solidFill>
            <a:srgbClr val="FFFFFF"/>
          </a:solidFill>
          <a:ln w="10795" cap="flat" cmpd="sng" algn="ctr">
            <a:noFill/>
            <a:prstDash val="solid"/>
            <a:headEnd type="none" w="med" len="med"/>
            <a:tailEnd type="none" w="med" len="med"/>
          </a:ln>
          <a:effectLst/>
        </p:spPr>
        <p:txBody>
          <a:bodyPr vert="horz" wrap="square" lIns="0" tIns="46630" rIns="0" bIns="46630" numCol="1" rtlCol="0" anchor="ctr" anchorCtr="0" compatLnSpc="1">
            <a:prstTxWarp prst="textNoShape">
              <a:avLst/>
            </a:prstTxWarp>
          </a:bodyPr>
          <a:lstStyle/>
          <a:p>
            <a:pPr marL="0" marR="0" lvl="0" indent="0" algn="ctr" defTabSz="932293"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2050"/>
              </a:solidFill>
              <a:effectLst/>
              <a:uLnTx/>
              <a:uFillTx/>
              <a:latin typeface="Segoe UI"/>
              <a:ea typeface="+mn-ea"/>
              <a:cs typeface="+mn-cs"/>
            </a:endParaRPr>
          </a:p>
        </p:txBody>
      </p:sp>
      <p:sp>
        <p:nvSpPr>
          <p:cNvPr id="7" name="Title 6">
            <a:extLst>
              <a:ext uri="{FF2B5EF4-FFF2-40B4-BE49-F238E27FC236}">
                <a16:creationId xmlns:a16="http://schemas.microsoft.com/office/drawing/2014/main" id="{F7C31068-52C4-4F15-9280-E8F72BABABC9}"/>
              </a:ext>
            </a:extLst>
          </p:cNvPr>
          <p:cNvSpPr>
            <a:spLocks noGrp="1"/>
          </p:cNvSpPr>
          <p:nvPr>
            <p:ph type="title"/>
          </p:nvPr>
        </p:nvSpPr>
        <p:spPr>
          <a:xfrm>
            <a:off x="365760" y="409303"/>
            <a:ext cx="11559320" cy="600892"/>
          </a:xfrm>
        </p:spPr>
        <p:txBody>
          <a:bodyPr/>
          <a:lstStyle/>
          <a:p>
            <a:r>
              <a:rPr lang="en-US" sz="3600" b="0" kern="0" spc="-5">
                <a:solidFill>
                  <a:srgbClr val="000000"/>
                </a:solidFill>
                <a:latin typeface="Segoe UI Semibold"/>
                <a:ea typeface="+mj-ea"/>
                <a:cs typeface="Segoe UI Semibold"/>
              </a:rPr>
              <a:t>FinOps is a framework that accelerates business value</a:t>
            </a:r>
            <a:endParaRPr lang="en-US" sz="3600"/>
          </a:p>
        </p:txBody>
      </p:sp>
      <p:sp>
        <p:nvSpPr>
          <p:cNvPr id="49" name="object 2">
            <a:extLst>
              <a:ext uri="{FF2B5EF4-FFF2-40B4-BE49-F238E27FC236}">
                <a16:creationId xmlns:a16="http://schemas.microsoft.com/office/drawing/2014/main" id="{8BA13E87-36E8-4B03-B869-FBEF5E01D1B7}"/>
              </a:ext>
            </a:extLst>
          </p:cNvPr>
          <p:cNvSpPr txBox="1">
            <a:spLocks/>
          </p:cNvSpPr>
          <p:nvPr/>
        </p:nvSpPr>
        <p:spPr>
          <a:xfrm>
            <a:off x="365760" y="1042874"/>
            <a:ext cx="10996194" cy="628377"/>
          </a:xfrm>
          <a:prstGeom prst="rect">
            <a:avLst/>
          </a:prstGeom>
        </p:spPr>
        <p:txBody>
          <a:bodyPr vert="horz" wrap="square" lIns="0" tIns="12700" rIns="0" bIns="0" rtlCol="0">
            <a:spAutoFit/>
          </a:bodyPr>
          <a:lstStyle>
            <a:lvl1pPr>
              <a:defRPr sz="2000" b="0" i="0" u="heavy">
                <a:solidFill>
                  <a:srgbClr val="0078D3"/>
                </a:solidFill>
                <a:latin typeface="Segoe UI Semilight"/>
                <a:ea typeface="+mj-ea"/>
                <a:cs typeface="Segoe UI Semilight"/>
              </a:defRPr>
            </a:lvl1p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US" sz="2000" b="0" i="0" u="none" strike="noStrike" kern="0" cap="none" spc="-5" normalizeH="0" baseline="0" noProof="0">
                <a:ln>
                  <a:noFill/>
                </a:ln>
                <a:solidFill>
                  <a:srgbClr val="000000"/>
                </a:solidFill>
                <a:effectLst/>
                <a:uLnTx/>
                <a:uFillTx/>
                <a:latin typeface="Segoe UI"/>
                <a:ea typeface="+mj-ea"/>
                <a:cs typeface="Segoe UI Semibold"/>
              </a:rPr>
              <a:t>Operating models for Technical and Financial leadership: Share the same language and processes to </a:t>
            </a:r>
            <a:r>
              <a:rPr kumimoji="0" lang="en-US" sz="2000" b="1" i="0" u="none" strike="noStrike" kern="0" cap="none" spc="-5" normalizeH="0" baseline="0" noProof="0">
                <a:ln>
                  <a:noFill/>
                </a:ln>
                <a:solidFill>
                  <a:srgbClr val="0078D4"/>
                </a:solidFill>
                <a:effectLst/>
                <a:uLnTx/>
                <a:uFillTx/>
                <a:latin typeface="Segoe UI Semibold"/>
                <a:ea typeface="+mj-ea"/>
                <a:cs typeface="Segoe UI Semibold"/>
              </a:rPr>
              <a:t>monitor cloud spend</a:t>
            </a:r>
            <a:r>
              <a:rPr kumimoji="0" lang="en-US" sz="2000" b="0" i="0" u="none" strike="noStrike" kern="0" cap="none" spc="-5" normalizeH="0" baseline="0" noProof="0">
                <a:ln>
                  <a:noFill/>
                </a:ln>
                <a:solidFill>
                  <a:srgbClr val="0078D4"/>
                </a:solidFill>
                <a:effectLst/>
                <a:uLnTx/>
                <a:uFillTx/>
                <a:latin typeface="Segoe UI Semibold"/>
                <a:ea typeface="+mj-ea"/>
                <a:cs typeface="Segoe UI Semibold"/>
              </a:rPr>
              <a:t> and </a:t>
            </a:r>
            <a:r>
              <a:rPr kumimoji="0" lang="en-US" sz="2000" b="1" i="0" u="none" strike="noStrike" kern="0" cap="none" spc="-5" normalizeH="0" baseline="0" noProof="0">
                <a:ln>
                  <a:noFill/>
                </a:ln>
                <a:solidFill>
                  <a:srgbClr val="0078D4"/>
                </a:solidFill>
                <a:effectLst/>
                <a:uLnTx/>
                <a:uFillTx/>
                <a:latin typeface="Segoe UI Semibold"/>
                <a:ea typeface="+mj-ea"/>
                <a:cs typeface="Segoe UI Semibold"/>
              </a:rPr>
              <a:t>maximize the value </a:t>
            </a:r>
            <a:r>
              <a:rPr kumimoji="0" lang="en-US" sz="2000" b="0" i="0" u="none" strike="noStrike" kern="0" cap="none" spc="-5" normalizeH="0" baseline="0" noProof="0">
                <a:ln>
                  <a:noFill/>
                </a:ln>
                <a:solidFill>
                  <a:srgbClr val="000000"/>
                </a:solidFill>
                <a:effectLst/>
                <a:uLnTx/>
                <a:uFillTx/>
                <a:latin typeface="Segoe UI"/>
                <a:ea typeface="+mj-ea"/>
                <a:cs typeface="Segoe UI Semibold"/>
              </a:rPr>
              <a:t>of cloud adoption</a:t>
            </a:r>
            <a:endParaRPr kumimoji="0" lang="en-US" sz="2000" b="0" i="0" u="none" strike="noStrike" kern="0" cap="none" spc="0" normalizeH="0" baseline="0" noProof="0">
              <a:ln>
                <a:noFill/>
              </a:ln>
              <a:solidFill>
                <a:srgbClr val="000000"/>
              </a:solidFill>
              <a:effectLst/>
              <a:uLnTx/>
              <a:uFillTx/>
              <a:latin typeface="Segoe UI"/>
              <a:ea typeface="+mj-ea"/>
              <a:cs typeface="Segoe UI Semibold"/>
            </a:endParaRPr>
          </a:p>
        </p:txBody>
      </p:sp>
      <p:grpSp>
        <p:nvGrpSpPr>
          <p:cNvPr id="6" name="Group 5">
            <a:extLst>
              <a:ext uri="{FF2B5EF4-FFF2-40B4-BE49-F238E27FC236}">
                <a16:creationId xmlns:a16="http://schemas.microsoft.com/office/drawing/2014/main" id="{B5D81953-A84B-4E03-9CB4-BFA2C992A873}"/>
              </a:ext>
            </a:extLst>
          </p:cNvPr>
          <p:cNvGrpSpPr/>
          <p:nvPr/>
        </p:nvGrpSpPr>
        <p:grpSpPr>
          <a:xfrm>
            <a:off x="5011320" y="3108518"/>
            <a:ext cx="2124414" cy="2920020"/>
            <a:chOff x="5011320" y="3108518"/>
            <a:chExt cx="2124414" cy="2920020"/>
          </a:xfrm>
        </p:grpSpPr>
        <p:sp>
          <p:nvSpPr>
            <p:cNvPr id="25" name="Rectangle 24">
              <a:extLst>
                <a:ext uri="{FF2B5EF4-FFF2-40B4-BE49-F238E27FC236}">
                  <a16:creationId xmlns:a16="http://schemas.microsoft.com/office/drawing/2014/main" id="{AA93AC85-755E-4FA5-B391-099E8F2C251C}"/>
                </a:ext>
                <a:ext uri="{C183D7F6-B498-43B3-948B-1728B52AA6E4}">
                  <adec:decorative xmlns:adec="http://schemas.microsoft.com/office/drawing/2017/decorative" val="1"/>
                </a:ext>
              </a:extLst>
            </p:cNvPr>
            <p:cNvSpPr/>
            <p:nvPr/>
          </p:nvSpPr>
          <p:spPr bwMode="auto">
            <a:xfrm>
              <a:off x="5011320" y="3108518"/>
              <a:ext cx="2124414" cy="2920020"/>
            </a:xfrm>
            <a:prstGeom prst="rect">
              <a:avLst/>
            </a:prstGeom>
            <a:solidFill>
              <a:schemeClr val="bg1"/>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41" name="Group 40">
              <a:extLst>
                <a:ext uri="{FF2B5EF4-FFF2-40B4-BE49-F238E27FC236}">
                  <a16:creationId xmlns:a16="http://schemas.microsoft.com/office/drawing/2014/main" id="{D555928E-7420-44E9-8CFA-3F6A4D58A24A}"/>
                </a:ext>
                <a:ext uri="{C183D7F6-B498-43B3-948B-1728B52AA6E4}">
                  <adec:decorative xmlns:adec="http://schemas.microsoft.com/office/drawing/2017/decorative" val="1"/>
                </a:ext>
              </a:extLst>
            </p:cNvPr>
            <p:cNvGrpSpPr/>
            <p:nvPr/>
          </p:nvGrpSpPr>
          <p:grpSpPr>
            <a:xfrm>
              <a:off x="5517050" y="3381301"/>
              <a:ext cx="1112955" cy="727350"/>
              <a:chOff x="5695339" y="2632517"/>
              <a:chExt cx="1112955" cy="727350"/>
            </a:xfrm>
          </p:grpSpPr>
          <p:sp>
            <p:nvSpPr>
              <p:cNvPr id="89" name="TextBox 88">
                <a:extLst>
                  <a:ext uri="{FF2B5EF4-FFF2-40B4-BE49-F238E27FC236}">
                    <a16:creationId xmlns:a16="http://schemas.microsoft.com/office/drawing/2014/main" id="{983EF7F8-CA91-4302-860E-8B90A5901306}"/>
                  </a:ext>
                </a:extLst>
              </p:cNvPr>
              <p:cNvSpPr txBox="1"/>
              <p:nvPr/>
            </p:nvSpPr>
            <p:spPr>
              <a:xfrm>
                <a:off x="5695339" y="3113646"/>
                <a:ext cx="1112955" cy="246221"/>
              </a:xfrm>
              <a:prstGeom prst="rect">
                <a:avLst/>
              </a:prstGeom>
              <a:noFill/>
            </p:spPr>
            <p:txBody>
              <a:bodyPr wrap="square" lIns="0" tIns="0" rIns="0" bIns="0" rtlCol="0">
                <a:spAutoFit/>
              </a:bodyPr>
              <a:lstStyle/>
              <a:p>
                <a:pPr marL="0" marR="0" lvl="0" indent="0" algn="ctr" defTabSz="914192"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Inform</a:t>
                </a:r>
              </a:p>
            </p:txBody>
          </p:sp>
          <p:pic>
            <p:nvPicPr>
              <p:cNvPr id="97" name="Picture 96">
                <a:extLst>
                  <a:ext uri="{FF2B5EF4-FFF2-40B4-BE49-F238E27FC236}">
                    <a16:creationId xmlns:a16="http://schemas.microsoft.com/office/drawing/2014/main" id="{05EFB08C-6642-49E0-89B7-42C59603C8B4}"/>
                  </a:ext>
                </a:extLst>
              </p:cNvPr>
              <p:cNvPicPr>
                <a:picLocks noChangeAspect="1"/>
              </p:cNvPicPr>
              <p:nvPr/>
            </p:nvPicPr>
            <p:blipFill>
              <a:blip r:embed="rId3"/>
              <a:stretch>
                <a:fillRect/>
              </a:stretch>
            </p:blipFill>
            <p:spPr>
              <a:xfrm>
                <a:off x="6053871" y="2632517"/>
                <a:ext cx="395892" cy="395894"/>
              </a:xfrm>
              <a:prstGeom prst="rect">
                <a:avLst/>
              </a:prstGeom>
            </p:spPr>
          </p:pic>
        </p:grpSp>
        <p:sp>
          <p:nvSpPr>
            <p:cNvPr id="17" name="TextBox 16">
              <a:extLst>
                <a:ext uri="{FF2B5EF4-FFF2-40B4-BE49-F238E27FC236}">
                  <a16:creationId xmlns:a16="http://schemas.microsoft.com/office/drawing/2014/main" id="{D6DFC37E-8906-407A-A2B4-0007B05F9CAD}"/>
                </a:ext>
              </a:extLst>
            </p:cNvPr>
            <p:cNvSpPr txBox="1"/>
            <p:nvPr/>
          </p:nvSpPr>
          <p:spPr>
            <a:xfrm>
              <a:off x="5192251" y="4251052"/>
              <a:ext cx="1762552" cy="1477328"/>
            </a:xfrm>
            <a:prstGeom prst="rect">
              <a:avLst/>
            </a:prstGeom>
            <a:noFill/>
          </p:spPr>
          <p:txBody>
            <a:bodyPr wrap="square" lIns="0" tIns="0" rIns="0" bIns="0" rtlCol="0">
              <a:spAutoFit/>
            </a:bodyPr>
            <a:lstStyle/>
            <a:p>
              <a:pPr marL="0" marR="0" lvl="0" indent="0" algn="ctr" defTabSz="932563" rtl="0" eaLnBrk="1" fontAlgn="auto" latinLnBrk="0" hangingPunct="1">
                <a:lnSpc>
                  <a:spcPct val="100000"/>
                </a:lnSpc>
                <a:spcBef>
                  <a:spcPts val="612"/>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Segoe UI"/>
                  <a:ea typeface="+mn-ea"/>
                  <a:cs typeface="+mn-cs"/>
                </a:rPr>
                <a:t>Transparency in creating shared accountability by showing teams what they are spending and why</a:t>
              </a:r>
            </a:p>
          </p:txBody>
        </p:sp>
      </p:grpSp>
      <p:sp>
        <p:nvSpPr>
          <p:cNvPr id="39" name="TextBox 38">
            <a:extLst>
              <a:ext uri="{FF2B5EF4-FFF2-40B4-BE49-F238E27FC236}">
                <a16:creationId xmlns:a16="http://schemas.microsoft.com/office/drawing/2014/main" id="{3C74677E-E882-40B3-87FE-9856A7885DD1}"/>
              </a:ext>
              <a:ext uri="{C183D7F6-B498-43B3-948B-1728B52AA6E4}">
                <adec:decorative xmlns:adec="http://schemas.microsoft.com/office/drawing/2017/decorative" val="1"/>
              </a:ext>
            </a:extLst>
          </p:cNvPr>
          <p:cNvSpPr txBox="1"/>
          <p:nvPr/>
        </p:nvSpPr>
        <p:spPr>
          <a:xfrm>
            <a:off x="6580407" y="2410663"/>
            <a:ext cx="3988880" cy="369332"/>
          </a:xfrm>
          <a:prstGeom prst="rect">
            <a:avLst/>
          </a:prstGeom>
          <a:noFill/>
        </p:spPr>
        <p:txBody>
          <a:bodyPr wrap="square" lIns="0" tIns="0" rIns="0" bIns="0" rtlCol="0">
            <a:spAutoFit/>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1A1A1A"/>
                </a:solidFill>
                <a:effectLst/>
                <a:uLnTx/>
                <a:uFillTx/>
                <a:latin typeface="Segoe UI Semibold"/>
                <a:ea typeface="+mn-ea"/>
                <a:cs typeface="+mn-cs"/>
              </a:rPr>
              <a:t>FinOps Operating model</a:t>
            </a:r>
          </a:p>
        </p:txBody>
      </p:sp>
      <p:grpSp>
        <p:nvGrpSpPr>
          <p:cNvPr id="4" name="Group 3">
            <a:extLst>
              <a:ext uri="{FF2B5EF4-FFF2-40B4-BE49-F238E27FC236}">
                <a16:creationId xmlns:a16="http://schemas.microsoft.com/office/drawing/2014/main" id="{B35AE177-BBA1-4D95-B5CC-5EDB0FF7244B}"/>
              </a:ext>
            </a:extLst>
          </p:cNvPr>
          <p:cNvGrpSpPr/>
          <p:nvPr/>
        </p:nvGrpSpPr>
        <p:grpSpPr>
          <a:xfrm>
            <a:off x="9975510" y="3108518"/>
            <a:ext cx="2124414" cy="2920020"/>
            <a:chOff x="7372404" y="3129962"/>
            <a:chExt cx="2124414" cy="2920020"/>
          </a:xfrm>
        </p:grpSpPr>
        <p:sp>
          <p:nvSpPr>
            <p:cNvPr id="23" name="Rectangle 22">
              <a:extLst>
                <a:ext uri="{FF2B5EF4-FFF2-40B4-BE49-F238E27FC236}">
                  <a16:creationId xmlns:a16="http://schemas.microsoft.com/office/drawing/2014/main" id="{FAEAB89C-B773-4163-B441-058269AB7715}"/>
                </a:ext>
                <a:ext uri="{C183D7F6-B498-43B3-948B-1728B52AA6E4}">
                  <adec:decorative xmlns:adec="http://schemas.microsoft.com/office/drawing/2017/decorative" val="1"/>
                </a:ext>
              </a:extLst>
            </p:cNvPr>
            <p:cNvSpPr/>
            <p:nvPr/>
          </p:nvSpPr>
          <p:spPr bwMode="auto">
            <a:xfrm>
              <a:off x="7372404" y="3129962"/>
              <a:ext cx="2124414" cy="2920020"/>
            </a:xfrm>
            <a:prstGeom prst="rect">
              <a:avLst/>
            </a:prstGeom>
            <a:solidFill>
              <a:schemeClr val="bg1"/>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3" name="Group 2">
              <a:extLst>
                <a:ext uri="{FF2B5EF4-FFF2-40B4-BE49-F238E27FC236}">
                  <a16:creationId xmlns:a16="http://schemas.microsoft.com/office/drawing/2014/main" id="{7E9C0FFC-77F0-4366-AA58-6CCD685B7633}"/>
                </a:ext>
              </a:extLst>
            </p:cNvPr>
            <p:cNvGrpSpPr/>
            <p:nvPr/>
          </p:nvGrpSpPr>
          <p:grpSpPr>
            <a:xfrm>
              <a:off x="7966181" y="3381301"/>
              <a:ext cx="936860" cy="771142"/>
              <a:chOff x="8005394" y="3381301"/>
              <a:chExt cx="936860" cy="771142"/>
            </a:xfrm>
          </p:grpSpPr>
          <p:sp>
            <p:nvSpPr>
              <p:cNvPr id="90" name="Rectangle 89">
                <a:extLst>
                  <a:ext uri="{FF2B5EF4-FFF2-40B4-BE49-F238E27FC236}">
                    <a16:creationId xmlns:a16="http://schemas.microsoft.com/office/drawing/2014/main" id="{F571E907-69CA-496D-91ED-6E922C1A6417}"/>
                  </a:ext>
                </a:extLst>
              </p:cNvPr>
              <p:cNvSpPr/>
              <p:nvPr/>
            </p:nvSpPr>
            <p:spPr>
              <a:xfrm>
                <a:off x="8005394" y="3813889"/>
                <a:ext cx="936860" cy="338554"/>
              </a:xfrm>
              <a:prstGeom prst="rect">
                <a:avLst/>
              </a:prstGeom>
            </p:spPr>
            <p:txBody>
              <a:bodyPr wrap="none">
                <a:spAutoFit/>
              </a:bodyPr>
              <a:lstStyle/>
              <a:p>
                <a:pPr marL="0" marR="0" lvl="0" indent="0" algn="ctr" defTabSz="914192"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Operate</a:t>
                </a:r>
              </a:p>
            </p:txBody>
          </p:sp>
          <p:grpSp>
            <p:nvGrpSpPr>
              <p:cNvPr id="22" name="Group 9">
                <a:extLst>
                  <a:ext uri="{FF2B5EF4-FFF2-40B4-BE49-F238E27FC236}">
                    <a16:creationId xmlns:a16="http://schemas.microsoft.com/office/drawing/2014/main" id="{1581EDD8-9F9E-4939-9470-AD2924CD2AA2}"/>
                  </a:ext>
                </a:extLst>
              </p:cNvPr>
              <p:cNvGrpSpPr>
                <a:grpSpLocks noChangeAspect="1"/>
              </p:cNvGrpSpPr>
              <p:nvPr/>
            </p:nvGrpSpPr>
            <p:grpSpPr bwMode="auto">
              <a:xfrm>
                <a:off x="8290961" y="3381301"/>
                <a:ext cx="365729" cy="364173"/>
                <a:chOff x="5600" y="2456"/>
                <a:chExt cx="235" cy="234"/>
              </a:xfrm>
            </p:grpSpPr>
            <p:sp>
              <p:nvSpPr>
                <p:cNvPr id="24" name="Freeform 10">
                  <a:extLst>
                    <a:ext uri="{FF2B5EF4-FFF2-40B4-BE49-F238E27FC236}">
                      <a16:creationId xmlns:a16="http://schemas.microsoft.com/office/drawing/2014/main" id="{614C3ABB-2280-480C-9675-45D1F2B91788}"/>
                    </a:ext>
                  </a:extLst>
                </p:cNvPr>
                <p:cNvSpPr>
                  <a:spLocks/>
                </p:cNvSpPr>
                <p:nvPr/>
              </p:nvSpPr>
              <p:spPr bwMode="auto">
                <a:xfrm>
                  <a:off x="5600" y="2456"/>
                  <a:ext cx="235" cy="190"/>
                </a:xfrm>
                <a:custGeom>
                  <a:avLst/>
                  <a:gdLst>
                    <a:gd name="T0" fmla="*/ 0 w 373"/>
                    <a:gd name="T1" fmla="*/ 171 h 303"/>
                    <a:gd name="T2" fmla="*/ 0 w 373"/>
                    <a:gd name="T3" fmla="*/ 171 h 303"/>
                    <a:gd name="T4" fmla="*/ 106 w 373"/>
                    <a:gd name="T5" fmla="*/ 118 h 303"/>
                    <a:gd name="T6" fmla="*/ 183 w 373"/>
                    <a:gd name="T7" fmla="*/ 144 h 303"/>
                    <a:gd name="T8" fmla="*/ 275 w 373"/>
                    <a:gd name="T9" fmla="*/ 53 h 303"/>
                    <a:gd name="T10" fmla="*/ 213 w 373"/>
                    <a:gd name="T11" fmla="*/ 53 h 303"/>
                    <a:gd name="T12" fmla="*/ 213 w 373"/>
                    <a:gd name="T13" fmla="*/ 26 h 303"/>
                    <a:gd name="T14" fmla="*/ 320 w 373"/>
                    <a:gd name="T15" fmla="*/ 26 h 303"/>
                    <a:gd name="T16" fmla="*/ 320 w 373"/>
                    <a:gd name="T17" fmla="*/ 133 h 303"/>
                    <a:gd name="T18" fmla="*/ 293 w 373"/>
                    <a:gd name="T19" fmla="*/ 133 h 303"/>
                    <a:gd name="T20" fmla="*/ 293 w 373"/>
                    <a:gd name="T21" fmla="*/ 72 h 303"/>
                    <a:gd name="T22" fmla="*/ 190 w 373"/>
                    <a:gd name="T23" fmla="*/ 175 h 303"/>
                    <a:gd name="T24" fmla="*/ 108 w 373"/>
                    <a:gd name="T25" fmla="*/ 147 h 303"/>
                    <a:gd name="T26" fmla="*/ 0 w 373"/>
                    <a:gd name="T27" fmla="*/ 201 h 303"/>
                    <a:gd name="T28" fmla="*/ 0 w 373"/>
                    <a:gd name="T29" fmla="*/ 252 h 303"/>
                    <a:gd name="T30" fmla="*/ 80 w 373"/>
                    <a:gd name="T31" fmla="*/ 303 h 303"/>
                    <a:gd name="T32" fmla="*/ 184 w 373"/>
                    <a:gd name="T33" fmla="*/ 225 h 303"/>
                    <a:gd name="T34" fmla="*/ 265 w 373"/>
                    <a:gd name="T35" fmla="*/ 252 h 303"/>
                    <a:gd name="T36" fmla="*/ 373 w 373"/>
                    <a:gd name="T37" fmla="*/ 192 h 303"/>
                    <a:gd name="T38" fmla="*/ 373 w 373"/>
                    <a:gd name="T39" fmla="*/ 0 h 303"/>
                    <a:gd name="T40" fmla="*/ 0 w 373"/>
                    <a:gd name="T41" fmla="*/ 0 h 303"/>
                    <a:gd name="T42" fmla="*/ 0 w 373"/>
                    <a:gd name="T43" fmla="*/ 17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3" h="303">
                      <a:moveTo>
                        <a:pt x="0" y="171"/>
                      </a:moveTo>
                      <a:lnTo>
                        <a:pt x="0" y="171"/>
                      </a:lnTo>
                      <a:lnTo>
                        <a:pt x="106" y="118"/>
                      </a:lnTo>
                      <a:lnTo>
                        <a:pt x="183" y="144"/>
                      </a:lnTo>
                      <a:lnTo>
                        <a:pt x="275" y="53"/>
                      </a:lnTo>
                      <a:lnTo>
                        <a:pt x="213" y="53"/>
                      </a:lnTo>
                      <a:lnTo>
                        <a:pt x="213" y="26"/>
                      </a:lnTo>
                      <a:lnTo>
                        <a:pt x="320" y="26"/>
                      </a:lnTo>
                      <a:lnTo>
                        <a:pt x="320" y="133"/>
                      </a:lnTo>
                      <a:lnTo>
                        <a:pt x="293" y="133"/>
                      </a:lnTo>
                      <a:lnTo>
                        <a:pt x="293" y="72"/>
                      </a:lnTo>
                      <a:lnTo>
                        <a:pt x="190" y="175"/>
                      </a:lnTo>
                      <a:lnTo>
                        <a:pt x="108" y="147"/>
                      </a:lnTo>
                      <a:lnTo>
                        <a:pt x="0" y="201"/>
                      </a:lnTo>
                      <a:lnTo>
                        <a:pt x="0" y="252"/>
                      </a:lnTo>
                      <a:lnTo>
                        <a:pt x="80" y="303"/>
                      </a:lnTo>
                      <a:lnTo>
                        <a:pt x="184" y="225"/>
                      </a:lnTo>
                      <a:lnTo>
                        <a:pt x="265" y="252"/>
                      </a:lnTo>
                      <a:lnTo>
                        <a:pt x="373" y="192"/>
                      </a:lnTo>
                      <a:lnTo>
                        <a:pt x="373" y="0"/>
                      </a:lnTo>
                      <a:lnTo>
                        <a:pt x="0" y="0"/>
                      </a:lnTo>
                      <a:lnTo>
                        <a:pt x="0" y="171"/>
                      </a:lnTo>
                      <a:close/>
                    </a:path>
                  </a:pathLst>
                </a:custGeom>
                <a:solidFill>
                  <a:srgbClr val="0078D4"/>
                </a:solidFill>
                <a:ln w="0">
                  <a:noFill/>
                  <a:prstDash val="solid"/>
                  <a:round/>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27" name="Freeform 11">
                  <a:extLst>
                    <a:ext uri="{FF2B5EF4-FFF2-40B4-BE49-F238E27FC236}">
                      <a16:creationId xmlns:a16="http://schemas.microsoft.com/office/drawing/2014/main" id="{9CC4E1E4-A079-4A39-81A9-289795200742}"/>
                    </a:ext>
                  </a:extLst>
                </p:cNvPr>
                <p:cNvSpPr>
                  <a:spLocks/>
                </p:cNvSpPr>
                <p:nvPr/>
              </p:nvSpPr>
              <p:spPr bwMode="auto">
                <a:xfrm>
                  <a:off x="5600" y="2595"/>
                  <a:ext cx="235" cy="95"/>
                </a:xfrm>
                <a:custGeom>
                  <a:avLst/>
                  <a:gdLst>
                    <a:gd name="T0" fmla="*/ 189 w 374"/>
                    <a:gd name="T1" fmla="*/ 32 h 151"/>
                    <a:gd name="T2" fmla="*/ 189 w 374"/>
                    <a:gd name="T3" fmla="*/ 32 h 151"/>
                    <a:gd name="T4" fmla="*/ 81 w 374"/>
                    <a:gd name="T5" fmla="*/ 114 h 151"/>
                    <a:gd name="T6" fmla="*/ 0 w 374"/>
                    <a:gd name="T7" fmla="*/ 62 h 151"/>
                    <a:gd name="T8" fmla="*/ 0 w 374"/>
                    <a:gd name="T9" fmla="*/ 151 h 151"/>
                    <a:gd name="T10" fmla="*/ 374 w 374"/>
                    <a:gd name="T11" fmla="*/ 151 h 151"/>
                    <a:gd name="T12" fmla="*/ 374 w 374"/>
                    <a:gd name="T13" fmla="*/ 0 h 151"/>
                    <a:gd name="T14" fmla="*/ 268 w 374"/>
                    <a:gd name="T15" fmla="*/ 59 h 151"/>
                    <a:gd name="T16" fmla="*/ 189 w 374"/>
                    <a:gd name="T17" fmla="*/ 32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4" h="151">
                      <a:moveTo>
                        <a:pt x="189" y="32"/>
                      </a:moveTo>
                      <a:lnTo>
                        <a:pt x="189" y="32"/>
                      </a:lnTo>
                      <a:lnTo>
                        <a:pt x="81" y="114"/>
                      </a:lnTo>
                      <a:lnTo>
                        <a:pt x="0" y="62"/>
                      </a:lnTo>
                      <a:lnTo>
                        <a:pt x="0" y="151"/>
                      </a:lnTo>
                      <a:lnTo>
                        <a:pt x="374" y="151"/>
                      </a:lnTo>
                      <a:lnTo>
                        <a:pt x="374" y="0"/>
                      </a:lnTo>
                      <a:lnTo>
                        <a:pt x="268" y="59"/>
                      </a:lnTo>
                      <a:lnTo>
                        <a:pt x="189" y="32"/>
                      </a:lnTo>
                      <a:close/>
                    </a:path>
                  </a:pathLst>
                </a:custGeom>
                <a:solidFill>
                  <a:srgbClr val="000000"/>
                </a:solidFill>
                <a:ln w="0">
                  <a:noFill/>
                  <a:prstDash val="solid"/>
                  <a:round/>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grpSp>
        <p:sp>
          <p:nvSpPr>
            <p:cNvPr id="33" name="TextBox 32">
              <a:extLst>
                <a:ext uri="{FF2B5EF4-FFF2-40B4-BE49-F238E27FC236}">
                  <a16:creationId xmlns:a16="http://schemas.microsoft.com/office/drawing/2014/main" id="{AF87DE76-2223-4298-A3ED-128DD8BC9346}"/>
                </a:ext>
              </a:extLst>
            </p:cNvPr>
            <p:cNvSpPr txBox="1"/>
            <p:nvPr/>
          </p:nvSpPr>
          <p:spPr>
            <a:xfrm>
              <a:off x="7599489" y="4251052"/>
              <a:ext cx="1670244" cy="1477328"/>
            </a:xfrm>
            <a:prstGeom prst="rect">
              <a:avLst/>
            </a:prstGeom>
            <a:noFill/>
          </p:spPr>
          <p:txBody>
            <a:bodyPr wrap="square" lIns="0" tIns="0" rIns="0" bIns="0" rtlCol="0">
              <a:spAutoFit/>
            </a:bodyPr>
            <a:lstStyle/>
            <a:p>
              <a:pPr marL="0" marR="0" lvl="0" indent="0" algn="ctr" defTabSz="932563" rtl="0" eaLnBrk="1" fontAlgn="auto" latinLnBrk="0" hangingPunct="1">
                <a:lnSpc>
                  <a:spcPct val="100000"/>
                </a:lnSpc>
                <a:spcBef>
                  <a:spcPts val="612"/>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Segoe UI"/>
                  <a:ea typeface="+mn-ea"/>
                  <a:cs typeface="+mn-cs"/>
                </a:rPr>
                <a:t>Definition of the processes that enable the technical, financial and business unit goals</a:t>
              </a:r>
            </a:p>
          </p:txBody>
        </p:sp>
      </p:grpSp>
      <p:grpSp>
        <p:nvGrpSpPr>
          <p:cNvPr id="5" name="Group 4">
            <a:extLst>
              <a:ext uri="{FF2B5EF4-FFF2-40B4-BE49-F238E27FC236}">
                <a16:creationId xmlns:a16="http://schemas.microsoft.com/office/drawing/2014/main" id="{2FB1FD1D-3163-4B57-9C73-635F9698EE1E}"/>
              </a:ext>
            </a:extLst>
          </p:cNvPr>
          <p:cNvGrpSpPr/>
          <p:nvPr/>
        </p:nvGrpSpPr>
        <p:grpSpPr>
          <a:xfrm>
            <a:off x="7493415" y="3108518"/>
            <a:ext cx="2124414" cy="2920020"/>
            <a:chOff x="9812072" y="3129962"/>
            <a:chExt cx="2124414" cy="2920020"/>
          </a:xfrm>
        </p:grpSpPr>
        <p:sp>
          <p:nvSpPr>
            <p:cNvPr id="26" name="Rectangle 25">
              <a:extLst>
                <a:ext uri="{FF2B5EF4-FFF2-40B4-BE49-F238E27FC236}">
                  <a16:creationId xmlns:a16="http://schemas.microsoft.com/office/drawing/2014/main" id="{E8178CCA-6DF4-4C3D-A62B-1F5B3528C8A5}"/>
                </a:ext>
                <a:ext uri="{C183D7F6-B498-43B3-948B-1728B52AA6E4}">
                  <adec:decorative xmlns:adec="http://schemas.microsoft.com/office/drawing/2017/decorative" val="1"/>
                </a:ext>
              </a:extLst>
            </p:cNvPr>
            <p:cNvSpPr/>
            <p:nvPr/>
          </p:nvSpPr>
          <p:spPr bwMode="auto">
            <a:xfrm>
              <a:off x="9812072" y="3129962"/>
              <a:ext cx="2124414" cy="2920020"/>
            </a:xfrm>
            <a:prstGeom prst="rect">
              <a:avLst/>
            </a:prstGeom>
            <a:solidFill>
              <a:schemeClr val="bg1"/>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42" name="Group 41">
              <a:extLst>
                <a:ext uri="{FF2B5EF4-FFF2-40B4-BE49-F238E27FC236}">
                  <a16:creationId xmlns:a16="http://schemas.microsoft.com/office/drawing/2014/main" id="{2C24CD19-491A-49C1-8550-F34597F29EA1}"/>
                </a:ext>
                <a:ext uri="{C183D7F6-B498-43B3-948B-1728B52AA6E4}">
                  <adec:decorative xmlns:adec="http://schemas.microsoft.com/office/drawing/2017/decorative" val="1"/>
                </a:ext>
              </a:extLst>
            </p:cNvPr>
            <p:cNvGrpSpPr/>
            <p:nvPr/>
          </p:nvGrpSpPr>
          <p:grpSpPr>
            <a:xfrm>
              <a:off x="10360357" y="3381301"/>
              <a:ext cx="1027845" cy="772589"/>
              <a:chOff x="10566350" y="2637450"/>
              <a:chExt cx="1027845" cy="772589"/>
            </a:xfrm>
          </p:grpSpPr>
          <p:sp>
            <p:nvSpPr>
              <p:cNvPr id="91" name="Rectangle 90">
                <a:extLst>
                  <a:ext uri="{FF2B5EF4-FFF2-40B4-BE49-F238E27FC236}">
                    <a16:creationId xmlns:a16="http://schemas.microsoft.com/office/drawing/2014/main" id="{EA42158B-706E-413B-A3DB-48FC5A1F17CB}"/>
                  </a:ext>
                </a:extLst>
              </p:cNvPr>
              <p:cNvSpPr/>
              <p:nvPr/>
            </p:nvSpPr>
            <p:spPr>
              <a:xfrm>
                <a:off x="10566350" y="3071485"/>
                <a:ext cx="1027845" cy="338554"/>
              </a:xfrm>
              <a:prstGeom prst="rect">
                <a:avLst/>
              </a:prstGeom>
            </p:spPr>
            <p:txBody>
              <a:bodyPr wrap="none">
                <a:spAutoFit/>
              </a:bodyPr>
              <a:lstStyle/>
              <a:p>
                <a:pPr marL="0" marR="0" lvl="0" indent="0" algn="ctr" defTabSz="914192"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Optimize</a:t>
                </a:r>
              </a:p>
            </p:txBody>
          </p:sp>
          <p:grpSp>
            <p:nvGrpSpPr>
              <p:cNvPr id="18" name="Group 4">
                <a:extLst>
                  <a:ext uri="{FF2B5EF4-FFF2-40B4-BE49-F238E27FC236}">
                    <a16:creationId xmlns:a16="http://schemas.microsoft.com/office/drawing/2014/main" id="{CFF4D152-6331-4A0E-81CE-D4425B236AE0}"/>
                  </a:ext>
                </a:extLst>
              </p:cNvPr>
              <p:cNvGrpSpPr>
                <a:grpSpLocks noChangeAspect="1"/>
              </p:cNvGrpSpPr>
              <p:nvPr/>
            </p:nvGrpSpPr>
            <p:grpSpPr bwMode="auto">
              <a:xfrm>
                <a:off x="10902458" y="2637450"/>
                <a:ext cx="361060" cy="361060"/>
                <a:chOff x="6880" y="2470"/>
                <a:chExt cx="232" cy="232"/>
              </a:xfrm>
            </p:grpSpPr>
            <p:sp>
              <p:nvSpPr>
                <p:cNvPr id="20" name="Freeform 5">
                  <a:extLst>
                    <a:ext uri="{FF2B5EF4-FFF2-40B4-BE49-F238E27FC236}">
                      <a16:creationId xmlns:a16="http://schemas.microsoft.com/office/drawing/2014/main" id="{EA70A21E-90AA-438F-883E-F868427C638F}"/>
                    </a:ext>
                  </a:extLst>
                </p:cNvPr>
                <p:cNvSpPr>
                  <a:spLocks noEditPoints="1"/>
                </p:cNvSpPr>
                <p:nvPr/>
              </p:nvSpPr>
              <p:spPr bwMode="auto">
                <a:xfrm>
                  <a:off x="6880" y="2470"/>
                  <a:ext cx="232" cy="232"/>
                </a:xfrm>
                <a:custGeom>
                  <a:avLst/>
                  <a:gdLst>
                    <a:gd name="T0" fmla="*/ 160 w 374"/>
                    <a:gd name="T1" fmla="*/ 54 h 374"/>
                    <a:gd name="T2" fmla="*/ 160 w 374"/>
                    <a:gd name="T3" fmla="*/ 54 h 374"/>
                    <a:gd name="T4" fmla="*/ 187 w 374"/>
                    <a:gd name="T5" fmla="*/ 54 h 374"/>
                    <a:gd name="T6" fmla="*/ 187 w 374"/>
                    <a:gd name="T7" fmla="*/ 187 h 374"/>
                    <a:gd name="T8" fmla="*/ 267 w 374"/>
                    <a:gd name="T9" fmla="*/ 187 h 374"/>
                    <a:gd name="T10" fmla="*/ 267 w 374"/>
                    <a:gd name="T11" fmla="*/ 214 h 374"/>
                    <a:gd name="T12" fmla="*/ 160 w 374"/>
                    <a:gd name="T13" fmla="*/ 214 h 374"/>
                    <a:gd name="T14" fmla="*/ 160 w 374"/>
                    <a:gd name="T15" fmla="*/ 54 h 374"/>
                    <a:gd name="T16" fmla="*/ 54 w 374"/>
                    <a:gd name="T17" fmla="*/ 319 h 374"/>
                    <a:gd name="T18" fmla="*/ 54 w 374"/>
                    <a:gd name="T19" fmla="*/ 319 h 374"/>
                    <a:gd name="T20" fmla="*/ 92 w 374"/>
                    <a:gd name="T21" fmla="*/ 348 h 374"/>
                    <a:gd name="T22" fmla="*/ 137 w 374"/>
                    <a:gd name="T23" fmla="*/ 367 h 374"/>
                    <a:gd name="T24" fmla="*/ 186 w 374"/>
                    <a:gd name="T25" fmla="*/ 374 h 374"/>
                    <a:gd name="T26" fmla="*/ 236 w 374"/>
                    <a:gd name="T27" fmla="*/ 367 h 374"/>
                    <a:gd name="T28" fmla="*/ 280 w 374"/>
                    <a:gd name="T29" fmla="*/ 349 h 374"/>
                    <a:gd name="T30" fmla="*/ 318 w 374"/>
                    <a:gd name="T31" fmla="*/ 320 h 374"/>
                    <a:gd name="T32" fmla="*/ 348 w 374"/>
                    <a:gd name="T33" fmla="*/ 282 h 374"/>
                    <a:gd name="T34" fmla="*/ 367 w 374"/>
                    <a:gd name="T35" fmla="*/ 237 h 374"/>
                    <a:gd name="T36" fmla="*/ 373 w 374"/>
                    <a:gd name="T37" fmla="*/ 188 h 374"/>
                    <a:gd name="T38" fmla="*/ 367 w 374"/>
                    <a:gd name="T39" fmla="*/ 138 h 374"/>
                    <a:gd name="T40" fmla="*/ 348 w 374"/>
                    <a:gd name="T41" fmla="*/ 94 h 374"/>
                    <a:gd name="T42" fmla="*/ 319 w 374"/>
                    <a:gd name="T43" fmla="*/ 56 h 374"/>
                    <a:gd name="T44" fmla="*/ 281 w 374"/>
                    <a:gd name="T45" fmla="*/ 26 h 374"/>
                    <a:gd name="T46" fmla="*/ 237 w 374"/>
                    <a:gd name="T47" fmla="*/ 7 h 374"/>
                    <a:gd name="T48" fmla="*/ 188 w 374"/>
                    <a:gd name="T49" fmla="*/ 1 h 374"/>
                    <a:gd name="T50" fmla="*/ 138 w 374"/>
                    <a:gd name="T51" fmla="*/ 7 h 374"/>
                    <a:gd name="T52" fmla="*/ 93 w 374"/>
                    <a:gd name="T53" fmla="*/ 26 h 374"/>
                    <a:gd name="T54" fmla="*/ 55 w 374"/>
                    <a:gd name="T55" fmla="*/ 55 h 374"/>
                    <a:gd name="T56" fmla="*/ 26 w 374"/>
                    <a:gd name="T57" fmla="*/ 93 h 374"/>
                    <a:gd name="T58" fmla="*/ 7 w 374"/>
                    <a:gd name="T59" fmla="*/ 137 h 374"/>
                    <a:gd name="T60" fmla="*/ 0 w 374"/>
                    <a:gd name="T61" fmla="*/ 186 h 374"/>
                    <a:gd name="T62" fmla="*/ 7 w 374"/>
                    <a:gd name="T63" fmla="*/ 236 h 374"/>
                    <a:gd name="T64" fmla="*/ 25 w 374"/>
                    <a:gd name="T65" fmla="*/ 281 h 374"/>
                    <a:gd name="T66" fmla="*/ 54 w 374"/>
                    <a:gd name="T67" fmla="*/ 319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4" h="374">
                      <a:moveTo>
                        <a:pt x="160" y="54"/>
                      </a:moveTo>
                      <a:lnTo>
                        <a:pt x="160" y="54"/>
                      </a:lnTo>
                      <a:lnTo>
                        <a:pt x="187" y="54"/>
                      </a:lnTo>
                      <a:lnTo>
                        <a:pt x="187" y="187"/>
                      </a:lnTo>
                      <a:lnTo>
                        <a:pt x="267" y="187"/>
                      </a:lnTo>
                      <a:lnTo>
                        <a:pt x="267" y="214"/>
                      </a:lnTo>
                      <a:lnTo>
                        <a:pt x="160" y="214"/>
                      </a:lnTo>
                      <a:lnTo>
                        <a:pt x="160" y="54"/>
                      </a:lnTo>
                      <a:close/>
                      <a:moveTo>
                        <a:pt x="54" y="319"/>
                      </a:moveTo>
                      <a:lnTo>
                        <a:pt x="54" y="319"/>
                      </a:lnTo>
                      <a:cubicBezTo>
                        <a:pt x="66" y="330"/>
                        <a:pt x="78" y="340"/>
                        <a:pt x="92" y="348"/>
                      </a:cubicBezTo>
                      <a:cubicBezTo>
                        <a:pt x="106" y="356"/>
                        <a:pt x="121" y="362"/>
                        <a:pt x="137" y="367"/>
                      </a:cubicBezTo>
                      <a:cubicBezTo>
                        <a:pt x="153" y="371"/>
                        <a:pt x="169" y="374"/>
                        <a:pt x="186" y="374"/>
                      </a:cubicBezTo>
                      <a:cubicBezTo>
                        <a:pt x="203" y="374"/>
                        <a:pt x="220" y="372"/>
                        <a:pt x="236" y="367"/>
                      </a:cubicBezTo>
                      <a:cubicBezTo>
                        <a:pt x="252" y="363"/>
                        <a:pt x="266" y="357"/>
                        <a:pt x="280" y="349"/>
                      </a:cubicBezTo>
                      <a:cubicBezTo>
                        <a:pt x="294" y="341"/>
                        <a:pt x="307" y="331"/>
                        <a:pt x="318" y="320"/>
                      </a:cubicBezTo>
                      <a:cubicBezTo>
                        <a:pt x="330" y="308"/>
                        <a:pt x="339" y="296"/>
                        <a:pt x="348" y="282"/>
                      </a:cubicBezTo>
                      <a:cubicBezTo>
                        <a:pt x="356" y="268"/>
                        <a:pt x="362" y="253"/>
                        <a:pt x="367" y="237"/>
                      </a:cubicBezTo>
                      <a:cubicBezTo>
                        <a:pt x="371" y="221"/>
                        <a:pt x="373" y="205"/>
                        <a:pt x="373" y="188"/>
                      </a:cubicBezTo>
                      <a:cubicBezTo>
                        <a:pt x="374" y="171"/>
                        <a:pt x="371" y="154"/>
                        <a:pt x="367" y="138"/>
                      </a:cubicBezTo>
                      <a:cubicBezTo>
                        <a:pt x="363" y="122"/>
                        <a:pt x="356" y="108"/>
                        <a:pt x="348" y="94"/>
                      </a:cubicBezTo>
                      <a:cubicBezTo>
                        <a:pt x="340" y="80"/>
                        <a:pt x="331" y="67"/>
                        <a:pt x="319" y="56"/>
                      </a:cubicBezTo>
                      <a:cubicBezTo>
                        <a:pt x="308" y="44"/>
                        <a:pt x="295" y="35"/>
                        <a:pt x="281" y="26"/>
                      </a:cubicBezTo>
                      <a:cubicBezTo>
                        <a:pt x="268" y="18"/>
                        <a:pt x="253" y="12"/>
                        <a:pt x="237" y="7"/>
                      </a:cubicBezTo>
                      <a:cubicBezTo>
                        <a:pt x="221" y="3"/>
                        <a:pt x="205" y="1"/>
                        <a:pt x="188" y="1"/>
                      </a:cubicBezTo>
                      <a:cubicBezTo>
                        <a:pt x="170" y="0"/>
                        <a:pt x="154" y="3"/>
                        <a:pt x="138" y="7"/>
                      </a:cubicBezTo>
                      <a:cubicBezTo>
                        <a:pt x="122" y="11"/>
                        <a:pt x="107" y="18"/>
                        <a:pt x="93" y="26"/>
                      </a:cubicBezTo>
                      <a:cubicBezTo>
                        <a:pt x="80" y="34"/>
                        <a:pt x="67" y="43"/>
                        <a:pt x="55" y="55"/>
                      </a:cubicBezTo>
                      <a:cubicBezTo>
                        <a:pt x="44" y="66"/>
                        <a:pt x="34" y="79"/>
                        <a:pt x="26" y="93"/>
                      </a:cubicBezTo>
                      <a:cubicBezTo>
                        <a:pt x="18" y="106"/>
                        <a:pt x="12" y="121"/>
                        <a:pt x="7" y="137"/>
                      </a:cubicBezTo>
                      <a:cubicBezTo>
                        <a:pt x="3" y="153"/>
                        <a:pt x="0" y="169"/>
                        <a:pt x="0" y="186"/>
                      </a:cubicBezTo>
                      <a:cubicBezTo>
                        <a:pt x="0" y="204"/>
                        <a:pt x="2" y="220"/>
                        <a:pt x="7" y="236"/>
                      </a:cubicBezTo>
                      <a:cubicBezTo>
                        <a:pt x="11" y="252"/>
                        <a:pt x="17" y="267"/>
                        <a:pt x="25" y="281"/>
                      </a:cubicBezTo>
                      <a:cubicBezTo>
                        <a:pt x="33" y="294"/>
                        <a:pt x="43" y="307"/>
                        <a:pt x="54" y="319"/>
                      </a:cubicBezTo>
                      <a:close/>
                    </a:path>
                  </a:pathLst>
                </a:custGeom>
                <a:solidFill>
                  <a:srgbClr val="000000"/>
                </a:solidFill>
                <a:ln w="0">
                  <a:noFill/>
                  <a:prstDash val="solid"/>
                  <a:round/>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21" name="Freeform 6">
                  <a:extLst>
                    <a:ext uri="{FF2B5EF4-FFF2-40B4-BE49-F238E27FC236}">
                      <a16:creationId xmlns:a16="http://schemas.microsoft.com/office/drawing/2014/main" id="{AC52B37F-32E1-4B85-9481-E55A417F1441}"/>
                    </a:ext>
                  </a:extLst>
                </p:cNvPr>
                <p:cNvSpPr>
                  <a:spLocks/>
                </p:cNvSpPr>
                <p:nvPr/>
              </p:nvSpPr>
              <p:spPr bwMode="auto">
                <a:xfrm>
                  <a:off x="6979" y="2504"/>
                  <a:ext cx="67" cy="99"/>
                </a:xfrm>
                <a:custGeom>
                  <a:avLst/>
                  <a:gdLst>
                    <a:gd name="T0" fmla="*/ 107 w 107"/>
                    <a:gd name="T1" fmla="*/ 133 h 160"/>
                    <a:gd name="T2" fmla="*/ 107 w 107"/>
                    <a:gd name="T3" fmla="*/ 133 h 160"/>
                    <a:gd name="T4" fmla="*/ 27 w 107"/>
                    <a:gd name="T5" fmla="*/ 133 h 160"/>
                    <a:gd name="T6" fmla="*/ 27 w 107"/>
                    <a:gd name="T7" fmla="*/ 0 h 160"/>
                    <a:gd name="T8" fmla="*/ 0 w 107"/>
                    <a:gd name="T9" fmla="*/ 0 h 160"/>
                    <a:gd name="T10" fmla="*/ 0 w 107"/>
                    <a:gd name="T11" fmla="*/ 160 h 160"/>
                    <a:gd name="T12" fmla="*/ 107 w 107"/>
                    <a:gd name="T13" fmla="*/ 160 h 160"/>
                    <a:gd name="T14" fmla="*/ 107 w 107"/>
                    <a:gd name="T15" fmla="*/ 133 h 1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160">
                      <a:moveTo>
                        <a:pt x="107" y="133"/>
                      </a:moveTo>
                      <a:lnTo>
                        <a:pt x="107" y="133"/>
                      </a:lnTo>
                      <a:lnTo>
                        <a:pt x="27" y="133"/>
                      </a:lnTo>
                      <a:lnTo>
                        <a:pt x="27" y="0"/>
                      </a:lnTo>
                      <a:lnTo>
                        <a:pt x="0" y="0"/>
                      </a:lnTo>
                      <a:lnTo>
                        <a:pt x="0" y="160"/>
                      </a:lnTo>
                      <a:lnTo>
                        <a:pt x="107" y="160"/>
                      </a:lnTo>
                      <a:lnTo>
                        <a:pt x="107" y="133"/>
                      </a:lnTo>
                      <a:close/>
                    </a:path>
                  </a:pathLst>
                </a:custGeom>
                <a:solidFill>
                  <a:schemeClr val="accent2"/>
                </a:solidFill>
                <a:ln w="0">
                  <a:noFill/>
                  <a:prstDash val="solid"/>
                  <a:round/>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grpSp>
        <p:sp>
          <p:nvSpPr>
            <p:cNvPr id="34" name="TextBox 33">
              <a:extLst>
                <a:ext uri="{FF2B5EF4-FFF2-40B4-BE49-F238E27FC236}">
                  <a16:creationId xmlns:a16="http://schemas.microsoft.com/office/drawing/2014/main" id="{3380B4A2-2CDC-4881-90AB-D4DADBB270E9}"/>
                </a:ext>
              </a:extLst>
            </p:cNvPr>
            <p:cNvSpPr txBox="1"/>
            <p:nvPr/>
          </p:nvSpPr>
          <p:spPr>
            <a:xfrm>
              <a:off x="10039157" y="4251052"/>
              <a:ext cx="1670244" cy="1723549"/>
            </a:xfrm>
            <a:prstGeom prst="rect">
              <a:avLst/>
            </a:prstGeom>
            <a:noFill/>
          </p:spPr>
          <p:txBody>
            <a:bodyPr wrap="square" lIns="0" tIns="0" rIns="0" bIns="0" rtlCol="0">
              <a:spAutoFit/>
            </a:bodyPr>
            <a:lstStyle/>
            <a:p>
              <a:pPr marL="0" marR="0" lvl="0" indent="0" algn="ctr" defTabSz="932563" rtl="0" eaLnBrk="1" fontAlgn="auto" latinLnBrk="0" hangingPunct="1">
                <a:lnSpc>
                  <a:spcPct val="100000"/>
                </a:lnSpc>
                <a:spcBef>
                  <a:spcPts val="612"/>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Segoe UI"/>
                  <a:ea typeface="+mn-ea"/>
                  <a:cs typeface="+mn-cs"/>
                </a:rPr>
                <a:t>Identify and measure efficiencies within optimization, accelerating the value of services consumed</a:t>
              </a:r>
            </a:p>
          </p:txBody>
        </p:sp>
      </p:grpSp>
      <p:grpSp>
        <p:nvGrpSpPr>
          <p:cNvPr id="30" name="Group 29">
            <a:extLst>
              <a:ext uri="{FF2B5EF4-FFF2-40B4-BE49-F238E27FC236}">
                <a16:creationId xmlns:a16="http://schemas.microsoft.com/office/drawing/2014/main" id="{BC49B00F-A89F-46F1-A6F3-97910B0C0252}"/>
              </a:ext>
              <a:ext uri="{C183D7F6-B498-43B3-948B-1728B52AA6E4}">
                <adec:decorative xmlns:adec="http://schemas.microsoft.com/office/drawing/2017/decorative" val="1"/>
              </a:ext>
            </a:extLst>
          </p:cNvPr>
          <p:cNvGrpSpPr/>
          <p:nvPr/>
        </p:nvGrpSpPr>
        <p:grpSpPr>
          <a:xfrm>
            <a:off x="403860" y="2020966"/>
            <a:ext cx="4388960" cy="4388960"/>
            <a:chOff x="165100" y="1952598"/>
            <a:chExt cx="4388960" cy="4388960"/>
          </a:xfrm>
        </p:grpSpPr>
        <p:sp>
          <p:nvSpPr>
            <p:cNvPr id="8" name="Oval 7">
              <a:extLst>
                <a:ext uri="{FF2B5EF4-FFF2-40B4-BE49-F238E27FC236}">
                  <a16:creationId xmlns:a16="http://schemas.microsoft.com/office/drawing/2014/main" id="{F650EC79-2BF2-4F39-9C8D-6CBD6A6DE0B4}"/>
                </a:ext>
              </a:extLst>
            </p:cNvPr>
            <p:cNvSpPr/>
            <p:nvPr/>
          </p:nvSpPr>
          <p:spPr>
            <a:xfrm>
              <a:off x="165100" y="1952598"/>
              <a:ext cx="4388960" cy="4388960"/>
            </a:xfrm>
            <a:prstGeom prst="ellipse">
              <a:avLst/>
            </a:prstGeom>
            <a:solidFill>
              <a:schemeClr val="bg1"/>
            </a:solidFill>
            <a:ln w="6350">
              <a:noFill/>
            </a:ln>
            <a:effectLst>
              <a:outerShdw blurRad="127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46304" rIns="182880" bIns="146304"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76" name="TextBox 75">
              <a:extLst>
                <a:ext uri="{FF2B5EF4-FFF2-40B4-BE49-F238E27FC236}">
                  <a16:creationId xmlns:a16="http://schemas.microsoft.com/office/drawing/2014/main" id="{F280AC74-5A79-450F-AA98-91A31CF8A77A}"/>
                </a:ext>
              </a:extLst>
            </p:cNvPr>
            <p:cNvSpPr txBox="1"/>
            <p:nvPr/>
          </p:nvSpPr>
          <p:spPr>
            <a:xfrm>
              <a:off x="1775228" y="5399916"/>
              <a:ext cx="1089426" cy="581698"/>
            </a:xfrm>
            <a:prstGeom prst="rect">
              <a:avLst/>
            </a:prstGeom>
            <a:noFill/>
          </p:spPr>
          <p:txBody>
            <a:bodyPr wrap="square" lIns="0" tIns="0" rIns="0" bIns="0" rtlCol="0">
              <a:spAutoFit/>
            </a:bodyPr>
            <a:lstStyle/>
            <a:p>
              <a:pPr marL="0" marR="0" lvl="0" indent="0" algn="ctr" defTabSz="914192"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Optimizing billing model usage</a:t>
              </a:r>
            </a:p>
          </p:txBody>
        </p:sp>
        <p:sp>
          <p:nvSpPr>
            <p:cNvPr id="82" name="TextBox 81">
              <a:extLst>
                <a:ext uri="{FF2B5EF4-FFF2-40B4-BE49-F238E27FC236}">
                  <a16:creationId xmlns:a16="http://schemas.microsoft.com/office/drawing/2014/main" id="{B32F881B-E38A-42FD-BF24-DB9782254786}"/>
                </a:ext>
              </a:extLst>
            </p:cNvPr>
            <p:cNvSpPr txBox="1"/>
            <p:nvPr/>
          </p:nvSpPr>
          <p:spPr>
            <a:xfrm>
              <a:off x="506865" y="3144844"/>
              <a:ext cx="1013029" cy="581698"/>
            </a:xfrm>
            <a:prstGeom prst="rect">
              <a:avLst/>
            </a:prstGeom>
            <a:noFill/>
          </p:spPr>
          <p:txBody>
            <a:bodyPr wrap="square" lIns="0" tIns="0" rIns="0" bIns="0" rtlCol="0">
              <a:spAutoFit/>
            </a:bodyPr>
            <a:lstStyle/>
            <a:p>
              <a:pPr marL="0" marR="0" lvl="0" indent="0" algn="ctr" defTabSz="914192"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Tracking and allocating costs</a:t>
              </a:r>
            </a:p>
          </p:txBody>
        </p:sp>
        <p:sp>
          <p:nvSpPr>
            <p:cNvPr id="87" name="TextBox 86">
              <a:extLst>
                <a:ext uri="{FF2B5EF4-FFF2-40B4-BE49-F238E27FC236}">
                  <a16:creationId xmlns:a16="http://schemas.microsoft.com/office/drawing/2014/main" id="{44F02273-DF49-4803-BEFE-5F11A13CEA5E}"/>
                </a:ext>
              </a:extLst>
            </p:cNvPr>
            <p:cNvSpPr txBox="1"/>
            <p:nvPr/>
          </p:nvSpPr>
          <p:spPr>
            <a:xfrm>
              <a:off x="3308915" y="3144845"/>
              <a:ext cx="931430" cy="581698"/>
            </a:xfrm>
            <a:prstGeom prst="rect">
              <a:avLst/>
            </a:prstGeom>
            <a:noFill/>
          </p:spPr>
          <p:txBody>
            <a:bodyPr wrap="square" lIns="0" tIns="0" rIns="0" bIns="0" rtlCol="0">
              <a:spAutoFit/>
            </a:bodyPr>
            <a:lstStyle/>
            <a:p>
              <a:pPr marL="0" marR="0" lvl="0" indent="0" algn="ctr" defTabSz="914192"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Optimizing capacity usage </a:t>
              </a:r>
            </a:p>
          </p:txBody>
        </p:sp>
        <p:cxnSp>
          <p:nvCxnSpPr>
            <p:cNvPr id="9" name="Straight Connector 8">
              <a:extLst>
                <a:ext uri="{FF2B5EF4-FFF2-40B4-BE49-F238E27FC236}">
                  <a16:creationId xmlns:a16="http://schemas.microsoft.com/office/drawing/2014/main" id="{488D42BE-9FA3-4214-A730-7524981900AE}"/>
                </a:ext>
              </a:extLst>
            </p:cNvPr>
            <p:cNvCxnSpPr>
              <a:cxnSpLocks/>
            </p:cNvCxnSpPr>
            <p:nvPr/>
          </p:nvCxnSpPr>
          <p:spPr>
            <a:xfrm>
              <a:off x="2359580" y="1954645"/>
              <a:ext cx="0" cy="2375893"/>
            </a:xfrm>
            <a:prstGeom prst="line">
              <a:avLst/>
            </a:prstGeom>
            <a:noFill/>
            <a:ln w="19050" cap="flat" cmpd="sng" algn="ctr">
              <a:solidFill>
                <a:schemeClr val="accent1">
                  <a:lumMod val="90000"/>
                </a:schemeClr>
              </a:solidFill>
              <a:prstDash val="solid"/>
              <a:headEnd type="none" w="lg" len="med"/>
              <a:tailEnd type="none" w="lg" len="med"/>
            </a:ln>
            <a:effectLst/>
          </p:spPr>
        </p:cxnSp>
        <p:cxnSp>
          <p:nvCxnSpPr>
            <p:cNvPr id="51" name="Straight Connector 50">
              <a:extLst>
                <a:ext uri="{FF2B5EF4-FFF2-40B4-BE49-F238E27FC236}">
                  <a16:creationId xmlns:a16="http://schemas.microsoft.com/office/drawing/2014/main" id="{44074514-35E0-4BCC-9515-0A207958B1C8}"/>
                </a:ext>
              </a:extLst>
            </p:cNvPr>
            <p:cNvCxnSpPr>
              <a:cxnSpLocks/>
            </p:cNvCxnSpPr>
            <p:nvPr/>
          </p:nvCxnSpPr>
          <p:spPr>
            <a:xfrm flipH="1" flipV="1">
              <a:off x="2412724" y="4137618"/>
              <a:ext cx="1792382" cy="1224257"/>
            </a:xfrm>
            <a:prstGeom prst="line">
              <a:avLst/>
            </a:prstGeom>
            <a:noFill/>
            <a:ln w="19050" cap="flat" cmpd="sng" algn="ctr">
              <a:solidFill>
                <a:schemeClr val="accent1">
                  <a:lumMod val="90000"/>
                </a:schemeClr>
              </a:solidFill>
              <a:prstDash val="solid"/>
              <a:headEnd type="none" w="lg" len="med"/>
              <a:tailEnd type="none" w="lg" len="med"/>
            </a:ln>
            <a:effectLst/>
          </p:spPr>
        </p:cxnSp>
        <p:cxnSp>
          <p:nvCxnSpPr>
            <p:cNvPr id="55" name="Straight Connector 54">
              <a:extLst>
                <a:ext uri="{FF2B5EF4-FFF2-40B4-BE49-F238E27FC236}">
                  <a16:creationId xmlns:a16="http://schemas.microsoft.com/office/drawing/2014/main" id="{B5BA5122-82FE-4F2B-B339-2CB543F07DF7}"/>
                </a:ext>
              </a:extLst>
            </p:cNvPr>
            <p:cNvCxnSpPr>
              <a:cxnSpLocks/>
            </p:cNvCxnSpPr>
            <p:nvPr/>
          </p:nvCxnSpPr>
          <p:spPr>
            <a:xfrm flipV="1">
              <a:off x="533365" y="4137618"/>
              <a:ext cx="1792382" cy="1224257"/>
            </a:xfrm>
            <a:prstGeom prst="line">
              <a:avLst/>
            </a:prstGeom>
            <a:noFill/>
            <a:ln w="19050" cap="flat" cmpd="sng" algn="ctr">
              <a:solidFill>
                <a:schemeClr val="accent1">
                  <a:lumMod val="90000"/>
                </a:schemeClr>
              </a:solidFill>
              <a:prstDash val="solid"/>
              <a:headEnd type="none" w="lg" len="med"/>
              <a:tailEnd type="none" w="lg" len="med"/>
            </a:ln>
            <a:effectLst/>
          </p:spPr>
        </p:cxnSp>
        <p:grpSp>
          <p:nvGrpSpPr>
            <p:cNvPr id="84" name="Group 83">
              <a:extLst>
                <a:ext uri="{FF2B5EF4-FFF2-40B4-BE49-F238E27FC236}">
                  <a16:creationId xmlns:a16="http://schemas.microsoft.com/office/drawing/2014/main" id="{12B73033-C93D-4FD2-884A-81ECC0F66261}"/>
                </a:ext>
              </a:extLst>
            </p:cNvPr>
            <p:cNvGrpSpPr/>
            <p:nvPr/>
          </p:nvGrpSpPr>
          <p:grpSpPr>
            <a:xfrm>
              <a:off x="1353740" y="3142592"/>
              <a:ext cx="2011680" cy="2008972"/>
              <a:chOff x="1648326" y="2875555"/>
              <a:chExt cx="2011965" cy="1961486"/>
            </a:xfrm>
          </p:grpSpPr>
          <p:sp>
            <p:nvSpPr>
              <p:cNvPr id="85" name="Oval 84">
                <a:extLst>
                  <a:ext uri="{FF2B5EF4-FFF2-40B4-BE49-F238E27FC236}">
                    <a16:creationId xmlns:a16="http://schemas.microsoft.com/office/drawing/2014/main" id="{0D5F9D5E-3999-4C9E-80E0-6F92C1783802}"/>
                  </a:ext>
                </a:extLst>
              </p:cNvPr>
              <p:cNvSpPr/>
              <p:nvPr/>
            </p:nvSpPr>
            <p:spPr bwMode="auto">
              <a:xfrm>
                <a:off x="1648326" y="2875555"/>
                <a:ext cx="2011965" cy="1961486"/>
              </a:xfrm>
              <a:prstGeom prst="ellipse">
                <a:avLst/>
              </a:prstGeom>
              <a:solidFill>
                <a:schemeClr val="accent1"/>
              </a:solidFill>
              <a:ln w="10795" cap="flat" cmpd="sng" algn="ctr">
                <a:noFill/>
                <a:prstDash val="solid"/>
                <a:headEnd type="none" w="med" len="med"/>
                <a:tailEnd type="none" w="med" len="med"/>
              </a:ln>
              <a:effectLst/>
            </p:spPr>
            <p:txBody>
              <a:bodyPr vert="horz" wrap="square" lIns="0" tIns="46630" rIns="0" bIns="46630" numCol="1" rtlCol="0" anchor="ctr" anchorCtr="0" compatLnSpc="1">
                <a:prstTxWarp prst="textNoShape">
                  <a:avLst/>
                </a:prstTxWarp>
              </a:bodyPr>
              <a:lstStyle/>
              <a:p>
                <a:pPr marL="0" marR="0" lvl="0" indent="0" algn="ctr" defTabSz="932293"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1A1A1A"/>
                  </a:solidFill>
                  <a:effectLst/>
                  <a:uLnTx/>
                  <a:uFillTx/>
                  <a:latin typeface="Segoe UI"/>
                  <a:ea typeface="+mn-ea"/>
                  <a:cs typeface="+mn-cs"/>
                </a:endParaRPr>
              </a:p>
            </p:txBody>
          </p:sp>
          <p:sp>
            <p:nvSpPr>
              <p:cNvPr id="86" name="Rectangle 85">
                <a:extLst>
                  <a:ext uri="{FF2B5EF4-FFF2-40B4-BE49-F238E27FC236}">
                    <a16:creationId xmlns:a16="http://schemas.microsoft.com/office/drawing/2014/main" id="{9E8F7533-6B0A-4315-8250-D28FC39BEF06}"/>
                  </a:ext>
                </a:extLst>
              </p:cNvPr>
              <p:cNvSpPr/>
              <p:nvPr/>
            </p:nvSpPr>
            <p:spPr>
              <a:xfrm>
                <a:off x="2138863" y="3654678"/>
                <a:ext cx="987911" cy="390653"/>
              </a:xfrm>
              <a:prstGeom prst="rect">
                <a:avLst/>
              </a:prstGeom>
            </p:spPr>
            <p:txBody>
              <a:bodyPr wrap="none">
                <a:sp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FFFFFF"/>
                    </a:solidFill>
                    <a:effectLst/>
                    <a:uLnTx/>
                    <a:uFillTx/>
                    <a:latin typeface="Segoe UI Semibold"/>
                    <a:ea typeface="+mn-ea"/>
                    <a:cs typeface="+mn-cs"/>
                  </a:rPr>
                  <a:t>FinOps</a:t>
                </a:r>
              </a:p>
            </p:txBody>
          </p:sp>
        </p:grpSp>
      </p:grpSp>
      <p:sp>
        <p:nvSpPr>
          <p:cNvPr id="40" name="TextBox 39">
            <a:extLst>
              <a:ext uri="{FF2B5EF4-FFF2-40B4-BE49-F238E27FC236}">
                <a16:creationId xmlns:a16="http://schemas.microsoft.com/office/drawing/2014/main" id="{C78A74F4-F44C-4DD3-B250-890D8C443B68}"/>
              </a:ext>
            </a:extLst>
          </p:cNvPr>
          <p:cNvSpPr txBox="1"/>
          <p:nvPr/>
        </p:nvSpPr>
        <p:spPr>
          <a:xfrm>
            <a:off x="556899" y="6530492"/>
            <a:ext cx="6094562" cy="246221"/>
          </a:xfrm>
          <a:prstGeom prst="rect">
            <a:avLst/>
          </a:prstGeom>
          <a:noFill/>
        </p:spPr>
        <p:txBody>
          <a:bodyPr wrap="square">
            <a:spAutoFit/>
          </a:bodyPr>
          <a:lstStyle>
            <a:defPPr>
              <a:defRPr lang="en-US"/>
            </a:defPPr>
            <a:lvl1pPr>
              <a:defRPr sz="9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Reference: </a:t>
            </a:r>
            <a:r>
              <a:rPr kumimoji="0" lang="en-US" sz="1000" b="0" i="0" u="none" strike="noStrike" kern="1200" cap="none" spc="0" normalizeH="0" baseline="0" noProof="0">
                <a:ln>
                  <a:noFill/>
                </a:ln>
                <a:solidFill>
                  <a:srgbClr val="000000"/>
                </a:solidFill>
                <a:effectLst/>
                <a:uLnTx/>
                <a:uFillTx/>
                <a:latin typeface="Segoe UI"/>
                <a:ea typeface="+mn-ea"/>
                <a:cs typeface="+mn-cs"/>
                <a:hlinkClick r:id="rId4"/>
              </a:rPr>
              <a:t>What is Finops </a:t>
            </a:r>
            <a:r>
              <a:rPr kumimoji="0" lang="en-US" sz="1000" b="0" i="0" u="none" strike="noStrike" kern="1200" cap="none" spc="0" normalizeH="0" baseline="0" noProof="0">
                <a:ln>
                  <a:noFill/>
                </a:ln>
                <a:solidFill>
                  <a:srgbClr val="000000"/>
                </a:solidFill>
                <a:effectLst/>
                <a:uLnTx/>
                <a:uFillTx/>
                <a:latin typeface="Segoe UI"/>
                <a:ea typeface="+mn-ea"/>
                <a:cs typeface="+mn-cs"/>
              </a:rPr>
              <a:t>by </a:t>
            </a:r>
            <a:r>
              <a:rPr kumimoji="0" lang="en-US" sz="1000" b="0" i="0" u="none" strike="noStrike" kern="1200" cap="none" spc="0" normalizeH="0" baseline="0" noProof="0">
                <a:ln>
                  <a:noFill/>
                </a:ln>
                <a:solidFill>
                  <a:srgbClr val="000000"/>
                </a:solidFill>
                <a:effectLst/>
                <a:uLnTx/>
                <a:uFillTx/>
                <a:latin typeface="Segoe UI"/>
                <a:ea typeface="+mn-ea"/>
                <a:cs typeface="+mn-cs"/>
                <a:hlinkClick r:id="rId5"/>
              </a:rPr>
              <a:t>Finops Foundation</a:t>
            </a:r>
            <a:r>
              <a:rPr kumimoji="0" lang="en-US" sz="1000" b="0" i="0" u="none" strike="noStrike" kern="1200" cap="none" spc="0" normalizeH="0" baseline="0" noProof="0">
                <a:ln>
                  <a:noFill/>
                </a:ln>
                <a:solidFill>
                  <a:srgbClr val="000000"/>
                </a:solidFill>
                <a:effectLst/>
                <a:uLnTx/>
                <a:uFillTx/>
                <a:latin typeface="Segoe UI"/>
                <a:ea typeface="+mn-ea"/>
                <a:cs typeface="+mn-cs"/>
              </a:rPr>
              <a:t> (</a:t>
            </a:r>
            <a:r>
              <a:rPr kumimoji="0" lang="en-US" sz="1000" b="0" i="0" u="none" strike="noStrike" kern="1200" cap="none" spc="0" normalizeH="0" baseline="0" noProof="0">
                <a:ln>
                  <a:noFill/>
                </a:ln>
                <a:solidFill>
                  <a:srgbClr val="000000"/>
                </a:solidFill>
                <a:effectLst/>
                <a:uLnTx/>
                <a:uFillTx/>
                <a:latin typeface="Segoe UI"/>
                <a:ea typeface="+mn-ea"/>
                <a:cs typeface="+mn-cs"/>
                <a:hlinkClick r:id="rId6"/>
              </a:rPr>
              <a:t>www.finops.org</a:t>
            </a:r>
            <a:r>
              <a:rPr kumimoji="0" lang="en-US" sz="1000" b="0" i="0" u="none" strike="noStrike" kern="1200" cap="none" spc="0" normalizeH="0" baseline="0" noProof="0">
                <a:ln>
                  <a:noFill/>
                </a:ln>
                <a:solidFill>
                  <a:srgbClr val="000000"/>
                </a:solidFill>
                <a:effectLst/>
                <a:uLnTx/>
                <a:uFillTx/>
                <a:latin typeface="Segoe UI"/>
                <a:ea typeface="+mn-ea"/>
                <a:cs typeface="+mn-cs"/>
              </a:rPr>
              <a:t> )</a:t>
            </a:r>
          </a:p>
        </p:txBody>
      </p:sp>
      <p:pic>
        <p:nvPicPr>
          <p:cNvPr id="2" name="Picture 1">
            <a:extLst>
              <a:ext uri="{FF2B5EF4-FFF2-40B4-BE49-F238E27FC236}">
                <a16:creationId xmlns:a16="http://schemas.microsoft.com/office/drawing/2014/main" id="{52E0A0F8-874D-4A42-8DDB-4C84F0EB4CD7}"/>
              </a:ext>
            </a:extLst>
          </p:cNvPr>
          <p:cNvPicPr>
            <a:picLocks noChangeAspect="1"/>
          </p:cNvPicPr>
          <p:nvPr/>
        </p:nvPicPr>
        <p:blipFill>
          <a:blip r:embed="rId7"/>
          <a:stretch>
            <a:fillRect/>
          </a:stretch>
        </p:blipFill>
        <p:spPr>
          <a:xfrm>
            <a:off x="10582275" y="6346520"/>
            <a:ext cx="1517649" cy="501497"/>
          </a:xfrm>
          <a:prstGeom prst="rect">
            <a:avLst/>
          </a:prstGeom>
        </p:spPr>
      </p:pic>
      <p:pic>
        <p:nvPicPr>
          <p:cNvPr id="10" name="Picture 2" descr="Microsoft Azure - Apps on Google Play">
            <a:extLst>
              <a:ext uri="{FF2B5EF4-FFF2-40B4-BE49-F238E27FC236}">
                <a16:creationId xmlns:a16="http://schemas.microsoft.com/office/drawing/2014/main" id="{1F39D124-6BBA-402C-AD5A-E37AC2361A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85325" y="98818"/>
            <a:ext cx="681829" cy="698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111274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868E058-8BFB-6942-AFB5-45A8290B9E20}"/>
              </a:ext>
            </a:extLst>
          </p:cNvPr>
          <p:cNvSpPr>
            <a:spLocks noGrp="1"/>
          </p:cNvSpPr>
          <p:nvPr>
            <p:ph type="title"/>
          </p:nvPr>
        </p:nvSpPr>
        <p:spPr>
          <a:prstGeom prst="rect">
            <a:avLst/>
          </a:prstGeom>
          <a:noFill/>
          <a:ln>
            <a:noFill/>
            <a:prstDash/>
          </a:ln>
          <a:effectLst/>
        </p:spPr>
        <p:txBody>
          <a:bodyPr rot="0" spcFirstLastPara="0" vertOverflow="overflow" horzOverflow="overflow" vert="horz" wrap="square" lIns="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0" normalizeH="0" baseline="0" noProof="0" dirty="0">
                <a:ln>
                  <a:noFill/>
                </a:ln>
                <a:effectLst/>
                <a:uLnTx/>
                <a:uFillTx/>
                <a:latin typeface="Segoe UI Semibold" panose="020B0502040204020203" pitchFamily="34" charset="0"/>
                <a:ea typeface="+mn-ea"/>
                <a:cs typeface="Segoe UI Semibold" panose="020B0502040204020203" pitchFamily="34" charset="0"/>
              </a:rPr>
              <a:t>FinOps Stakeholders</a:t>
            </a:r>
          </a:p>
        </p:txBody>
      </p:sp>
      <p:sp>
        <p:nvSpPr>
          <p:cNvPr id="2" name="Text Placeholder 1">
            <a:extLst>
              <a:ext uri="{FF2B5EF4-FFF2-40B4-BE49-F238E27FC236}">
                <a16:creationId xmlns:a16="http://schemas.microsoft.com/office/drawing/2014/main" id="{E215DDA6-5217-5563-5A08-52DD016A193C}"/>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3861570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6" name="Group 195">
            <a:extLst>
              <a:ext uri="{FF2B5EF4-FFF2-40B4-BE49-F238E27FC236}">
                <a16:creationId xmlns:a16="http://schemas.microsoft.com/office/drawing/2014/main" id="{52EC4EA4-B58A-4C7B-89E1-327ABE5F7182}"/>
              </a:ext>
            </a:extLst>
          </p:cNvPr>
          <p:cNvGrpSpPr/>
          <p:nvPr/>
        </p:nvGrpSpPr>
        <p:grpSpPr>
          <a:xfrm>
            <a:off x="3609256" y="1878608"/>
            <a:ext cx="2932897" cy="4416552"/>
            <a:chOff x="3424673" y="2256553"/>
            <a:chExt cx="2932897" cy="4416552"/>
          </a:xfrm>
        </p:grpSpPr>
        <p:sp>
          <p:nvSpPr>
            <p:cNvPr id="185" name="Rectangle 184">
              <a:extLst>
                <a:ext uri="{FF2B5EF4-FFF2-40B4-BE49-F238E27FC236}">
                  <a16:creationId xmlns:a16="http://schemas.microsoft.com/office/drawing/2014/main" id="{842AB7A6-9167-4BAA-8830-91AB41E53670}"/>
                </a:ext>
                <a:ext uri="{C183D7F6-B498-43B3-948B-1728B52AA6E4}">
                  <adec:decorative xmlns:adec="http://schemas.microsoft.com/office/drawing/2017/decorative" val="1"/>
                </a:ext>
              </a:extLst>
            </p:cNvPr>
            <p:cNvSpPr/>
            <p:nvPr/>
          </p:nvSpPr>
          <p:spPr bwMode="auto">
            <a:xfrm>
              <a:off x="3754927" y="2256553"/>
              <a:ext cx="2298569" cy="4416552"/>
            </a:xfrm>
            <a:prstGeom prst="rect">
              <a:avLst/>
            </a:prstGeom>
            <a:solidFill>
              <a:schemeClr val="bg1"/>
            </a:solidFill>
            <a:ln w="28575">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87" name="Rectangle 186">
              <a:extLst>
                <a:ext uri="{FF2B5EF4-FFF2-40B4-BE49-F238E27FC236}">
                  <a16:creationId xmlns:a16="http://schemas.microsoft.com/office/drawing/2014/main" id="{A63A6350-7BCB-431A-924F-1C0347498D95}"/>
                </a:ext>
              </a:extLst>
            </p:cNvPr>
            <p:cNvSpPr/>
            <p:nvPr/>
          </p:nvSpPr>
          <p:spPr bwMode="auto">
            <a:xfrm>
              <a:off x="3424673" y="2504194"/>
              <a:ext cx="2932897"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Developers, Ops and Infrastructure </a:t>
              </a:r>
            </a:p>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 (Cloud Architect | Enterprise Admin</a:t>
              </a:r>
              <a:r>
                <a:rPr kumimoji="0" lang="en-US" sz="120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a:t>
              </a:r>
            </a:p>
          </p:txBody>
        </p:sp>
        <p:sp>
          <p:nvSpPr>
            <p:cNvPr id="191" name="Rectangle 190">
              <a:extLst>
                <a:ext uri="{FF2B5EF4-FFF2-40B4-BE49-F238E27FC236}">
                  <a16:creationId xmlns:a16="http://schemas.microsoft.com/office/drawing/2014/main" id="{470A91FA-BE2A-44FB-BBD7-51A798583984}"/>
                </a:ext>
              </a:extLst>
            </p:cNvPr>
            <p:cNvSpPr/>
            <p:nvPr/>
          </p:nvSpPr>
          <p:spPr bwMode="auto">
            <a:xfrm>
              <a:off x="3633838" y="5385129"/>
              <a:ext cx="2540746"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Finance Owner</a:t>
              </a:r>
            </a:p>
          </p:txBody>
        </p:sp>
        <p:sp>
          <p:nvSpPr>
            <p:cNvPr id="193" name="Rectangle 192">
              <a:extLst>
                <a:ext uri="{FF2B5EF4-FFF2-40B4-BE49-F238E27FC236}">
                  <a16:creationId xmlns:a16="http://schemas.microsoft.com/office/drawing/2014/main" id="{6D7549F5-8249-41C8-A57E-8C412C6E1894}"/>
                </a:ext>
              </a:extLst>
            </p:cNvPr>
            <p:cNvSpPr/>
            <p:nvPr/>
          </p:nvSpPr>
          <p:spPr bwMode="auto">
            <a:xfrm>
              <a:off x="3633838" y="3464506"/>
              <a:ext cx="2540746"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mn-cs"/>
                </a:rPr>
                <a:t>Business Unit Owner</a:t>
              </a:r>
            </a:p>
          </p:txBody>
        </p:sp>
        <p:sp>
          <p:nvSpPr>
            <p:cNvPr id="195" name="Rectangle 194">
              <a:extLst>
                <a:ext uri="{FF2B5EF4-FFF2-40B4-BE49-F238E27FC236}">
                  <a16:creationId xmlns:a16="http://schemas.microsoft.com/office/drawing/2014/main" id="{05D1ECC5-A05A-4F80-A518-ACE868C50E81}"/>
                </a:ext>
              </a:extLst>
            </p:cNvPr>
            <p:cNvSpPr/>
            <p:nvPr/>
          </p:nvSpPr>
          <p:spPr bwMode="auto">
            <a:xfrm>
              <a:off x="3633838" y="4424818"/>
              <a:ext cx="2540746"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mn-cs"/>
                </a:rPr>
                <a:t>Executive Sponsorship</a:t>
              </a:r>
            </a:p>
          </p:txBody>
        </p:sp>
      </p:grpSp>
      <p:sp>
        <p:nvSpPr>
          <p:cNvPr id="174" name="Rectangle 173">
            <a:extLst>
              <a:ext uri="{FF2B5EF4-FFF2-40B4-BE49-F238E27FC236}">
                <a16:creationId xmlns:a16="http://schemas.microsoft.com/office/drawing/2014/main" id="{4A13D522-AC96-42D0-9CB1-1BDA116AF0D7}"/>
              </a:ext>
            </a:extLst>
          </p:cNvPr>
          <p:cNvSpPr/>
          <p:nvPr/>
        </p:nvSpPr>
        <p:spPr bwMode="auto">
          <a:xfrm>
            <a:off x="9919295" y="1878608"/>
            <a:ext cx="2098478" cy="4439458"/>
          </a:xfrm>
          <a:prstGeom prst="rect">
            <a:avLst/>
          </a:prstGeom>
          <a:noFill/>
          <a:ln w="28575">
            <a:solidFill>
              <a:schemeClr val="bg1">
                <a:lumMod val="50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srgbClr val="000000"/>
              </a:solidFill>
              <a:effectLst/>
              <a:uLnTx/>
              <a:uFillTx/>
              <a:latin typeface="Segoe UI Semibold"/>
              <a:ea typeface="Segoe UI" pitchFamily="34" charset="0"/>
              <a:cs typeface="Segoe UI Semibold" panose="020B0702040204020203" pitchFamily="34" charset="0"/>
            </a:endParaRPr>
          </a:p>
          <a:p>
            <a:pPr marL="0" marR="0" lvl="0" indent="0" algn="ctr" defTabSz="932293"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srgbClr val="000000"/>
              </a:solidFill>
              <a:effectLst/>
              <a:uLnTx/>
              <a:uFillTx/>
              <a:latin typeface="Segoe UI Semibold"/>
              <a:ea typeface="Segoe UI" pitchFamily="34" charset="0"/>
              <a:cs typeface="Segoe UI Semibold" panose="020B0702040204020203" pitchFamily="34" charset="0"/>
            </a:endParaRPr>
          </a:p>
          <a:p>
            <a:pPr marL="0" marR="0" lvl="0" indent="0" algn="ctr" defTabSz="932293"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srgbClr val="000000"/>
              </a:solidFill>
              <a:effectLst/>
              <a:uLnTx/>
              <a:uFillTx/>
              <a:latin typeface="Segoe UI Semibold"/>
              <a:ea typeface="Segoe UI" pitchFamily="34" charset="0"/>
              <a:cs typeface="Segoe UI Semibold" panose="020B0702040204020203" pitchFamily="34" charset="0"/>
            </a:endParaRPr>
          </a:p>
        </p:txBody>
      </p:sp>
      <p:cxnSp>
        <p:nvCxnSpPr>
          <p:cNvPr id="26" name="Straight Connector 25">
            <a:extLst>
              <a:ext uri="{FF2B5EF4-FFF2-40B4-BE49-F238E27FC236}">
                <a16:creationId xmlns:a16="http://schemas.microsoft.com/office/drawing/2014/main" id="{14E04199-7BB9-49BE-97A4-DD073BCD60F3}"/>
              </a:ext>
            </a:extLst>
          </p:cNvPr>
          <p:cNvCxnSpPr>
            <a:cxnSpLocks/>
          </p:cNvCxnSpPr>
          <p:nvPr/>
        </p:nvCxnSpPr>
        <p:spPr>
          <a:xfrm>
            <a:off x="254097" y="3745814"/>
            <a:ext cx="3449657" cy="0"/>
          </a:xfrm>
          <a:prstGeom prst="line">
            <a:avLst/>
          </a:prstGeom>
          <a:ln w="6350">
            <a:solidFill>
              <a:schemeClr val="bg1">
                <a:lumMod val="75000"/>
              </a:schemeClr>
            </a:solidFill>
            <a:prstDash val="dash"/>
            <a:headEnd type="none" w="lg" len="med"/>
            <a:tailEnd type="none" w="lg" len="lg"/>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773DA01-D53E-40E1-A134-256D1C11B2C2}"/>
              </a:ext>
            </a:extLst>
          </p:cNvPr>
          <p:cNvCxnSpPr>
            <a:cxnSpLocks/>
          </p:cNvCxnSpPr>
          <p:nvPr/>
        </p:nvCxnSpPr>
        <p:spPr>
          <a:xfrm>
            <a:off x="3740960" y="1688387"/>
            <a:ext cx="0" cy="460791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8" name="Title 117">
            <a:extLst>
              <a:ext uri="{FF2B5EF4-FFF2-40B4-BE49-F238E27FC236}">
                <a16:creationId xmlns:a16="http://schemas.microsoft.com/office/drawing/2014/main" id="{4342CD54-9774-4B9E-AB7F-FF3097CBFD19}"/>
              </a:ext>
            </a:extLst>
          </p:cNvPr>
          <p:cNvSpPr>
            <a:spLocks noGrp="1"/>
          </p:cNvSpPr>
          <p:nvPr>
            <p:ph type="title"/>
          </p:nvPr>
        </p:nvSpPr>
        <p:spPr/>
        <p:txBody>
          <a:bodyPr/>
          <a:lstStyle/>
          <a:p>
            <a:r>
              <a:rPr lang="en-IN" sz="4000"/>
              <a:t>FinOps Team Structure</a:t>
            </a:r>
          </a:p>
        </p:txBody>
      </p:sp>
      <p:grpSp>
        <p:nvGrpSpPr>
          <p:cNvPr id="9" name="Group 8">
            <a:extLst>
              <a:ext uri="{FF2B5EF4-FFF2-40B4-BE49-F238E27FC236}">
                <a16:creationId xmlns:a16="http://schemas.microsoft.com/office/drawing/2014/main" id="{2EE12298-25A7-4162-B34C-F25A3051275A}"/>
              </a:ext>
            </a:extLst>
          </p:cNvPr>
          <p:cNvGrpSpPr/>
          <p:nvPr/>
        </p:nvGrpSpPr>
        <p:grpSpPr>
          <a:xfrm>
            <a:off x="719329" y="3897107"/>
            <a:ext cx="2068245" cy="2285859"/>
            <a:chOff x="162870" y="4382773"/>
            <a:chExt cx="2068245" cy="2285859"/>
          </a:xfrm>
        </p:grpSpPr>
        <p:grpSp>
          <p:nvGrpSpPr>
            <p:cNvPr id="7" name="Group 6">
              <a:extLst>
                <a:ext uri="{FF2B5EF4-FFF2-40B4-BE49-F238E27FC236}">
                  <a16:creationId xmlns:a16="http://schemas.microsoft.com/office/drawing/2014/main" id="{9D4CD462-F175-40CC-A704-4154FE971993}"/>
                </a:ext>
              </a:extLst>
            </p:cNvPr>
            <p:cNvGrpSpPr/>
            <p:nvPr/>
          </p:nvGrpSpPr>
          <p:grpSpPr>
            <a:xfrm>
              <a:off x="162870" y="5201948"/>
              <a:ext cx="1944987" cy="669212"/>
              <a:chOff x="169849" y="5239509"/>
              <a:chExt cx="1944987" cy="669212"/>
            </a:xfrm>
          </p:grpSpPr>
          <p:sp>
            <p:nvSpPr>
              <p:cNvPr id="61" name="Rectangle 60">
                <a:extLst>
                  <a:ext uri="{FF2B5EF4-FFF2-40B4-BE49-F238E27FC236}">
                    <a16:creationId xmlns:a16="http://schemas.microsoft.com/office/drawing/2014/main" id="{368C81C4-79EA-4CC0-9D9E-7C25B6688FFC}"/>
                  </a:ext>
                </a:extLst>
              </p:cNvPr>
              <p:cNvSpPr/>
              <p:nvPr/>
            </p:nvSpPr>
            <p:spPr bwMode="auto">
              <a:xfrm>
                <a:off x="959861" y="5363593"/>
                <a:ext cx="1154975" cy="430887"/>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UI Semibold"/>
                    <a:ea typeface="+mn-ea"/>
                    <a:cs typeface="+mn-cs"/>
                  </a:rPr>
                  <a:t>Manage Governance</a:t>
                </a:r>
              </a:p>
            </p:txBody>
          </p:sp>
          <p:grpSp>
            <p:nvGrpSpPr>
              <p:cNvPr id="64" name="Group 63">
                <a:extLst>
                  <a:ext uri="{FF2B5EF4-FFF2-40B4-BE49-F238E27FC236}">
                    <a16:creationId xmlns:a16="http://schemas.microsoft.com/office/drawing/2014/main" id="{18E720CA-395A-4597-BB2E-22AF3C3F9B7B}"/>
                  </a:ext>
                </a:extLst>
              </p:cNvPr>
              <p:cNvGrpSpPr/>
              <p:nvPr/>
            </p:nvGrpSpPr>
            <p:grpSpPr>
              <a:xfrm>
                <a:off x="169849" y="5239509"/>
                <a:ext cx="645402" cy="669212"/>
                <a:chOff x="9581297" y="4171539"/>
                <a:chExt cx="645402" cy="669212"/>
              </a:xfrm>
            </p:grpSpPr>
            <p:sp>
              <p:nvSpPr>
                <p:cNvPr id="139" name="Oval 138">
                  <a:extLst>
                    <a:ext uri="{FF2B5EF4-FFF2-40B4-BE49-F238E27FC236}">
                      <a16:creationId xmlns:a16="http://schemas.microsoft.com/office/drawing/2014/main" id="{C12D4E5C-1409-4910-98BD-B2E8C16CCE93}"/>
                    </a:ext>
                  </a:extLst>
                </p:cNvPr>
                <p:cNvSpPr/>
                <p:nvPr/>
              </p:nvSpPr>
              <p:spPr bwMode="auto">
                <a:xfrm>
                  <a:off x="9605107" y="4227099"/>
                  <a:ext cx="613652" cy="613652"/>
                </a:xfrm>
                <a:prstGeom prst="ellipse">
                  <a:avLst/>
                </a:prstGeom>
                <a:noFill/>
                <a:ln>
                  <a:solidFill>
                    <a:schemeClr val="accent1">
                      <a:lumMod val="50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198"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67" name="Oval 66">
                  <a:extLst>
                    <a:ext uri="{FF2B5EF4-FFF2-40B4-BE49-F238E27FC236}">
                      <a16:creationId xmlns:a16="http://schemas.microsoft.com/office/drawing/2014/main" id="{A77161CA-FDC4-4957-B3E8-F40A0DC723D6}"/>
                    </a:ext>
                  </a:extLst>
                </p:cNvPr>
                <p:cNvSpPr/>
                <p:nvPr/>
              </p:nvSpPr>
              <p:spPr bwMode="auto">
                <a:xfrm>
                  <a:off x="9581297" y="4203289"/>
                  <a:ext cx="613652" cy="61365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198"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66" name="Freeform 96" title="Icon of a gear with a wrench">
                  <a:extLst>
                    <a:ext uri="{FF2B5EF4-FFF2-40B4-BE49-F238E27FC236}">
                      <a16:creationId xmlns:a16="http://schemas.microsoft.com/office/drawing/2014/main" id="{5A0AA84A-71D6-4BAE-9882-4D041947B58A}"/>
                    </a:ext>
                  </a:extLst>
                </p:cNvPr>
                <p:cNvSpPr>
                  <a:spLocks noChangeAspect="1" noEditPoints="1"/>
                </p:cNvSpPr>
                <p:nvPr/>
              </p:nvSpPr>
              <p:spPr bwMode="auto">
                <a:xfrm>
                  <a:off x="9755946" y="4388412"/>
                  <a:ext cx="264354" cy="243406"/>
                </a:xfrm>
                <a:custGeom>
                  <a:avLst/>
                  <a:gdLst>
                    <a:gd name="T0" fmla="*/ 224 w 356"/>
                    <a:gd name="T1" fmla="*/ 273 h 328"/>
                    <a:gd name="T2" fmla="*/ 181 w 356"/>
                    <a:gd name="T3" fmla="*/ 295 h 328"/>
                    <a:gd name="T4" fmla="*/ 181 w 356"/>
                    <a:gd name="T5" fmla="*/ 328 h 328"/>
                    <a:gd name="T6" fmla="*/ 121 w 356"/>
                    <a:gd name="T7" fmla="*/ 328 h 328"/>
                    <a:gd name="T8" fmla="*/ 121 w 356"/>
                    <a:gd name="T9" fmla="*/ 291 h 328"/>
                    <a:gd name="T10" fmla="*/ 57 w 356"/>
                    <a:gd name="T11" fmla="*/ 254 h 328"/>
                    <a:gd name="T12" fmla="*/ 28 w 356"/>
                    <a:gd name="T13" fmla="*/ 269 h 328"/>
                    <a:gd name="T14" fmla="*/ 0 w 356"/>
                    <a:gd name="T15" fmla="*/ 214 h 328"/>
                    <a:gd name="T16" fmla="*/ 28 w 356"/>
                    <a:gd name="T17" fmla="*/ 199 h 328"/>
                    <a:gd name="T18" fmla="*/ 21 w 356"/>
                    <a:gd name="T19" fmla="*/ 162 h 328"/>
                    <a:gd name="T20" fmla="*/ 28 w 356"/>
                    <a:gd name="T21" fmla="*/ 125 h 328"/>
                    <a:gd name="T22" fmla="*/ 0 w 356"/>
                    <a:gd name="T23" fmla="*/ 111 h 328"/>
                    <a:gd name="T24" fmla="*/ 28 w 356"/>
                    <a:gd name="T25" fmla="*/ 55 h 328"/>
                    <a:gd name="T26" fmla="*/ 57 w 356"/>
                    <a:gd name="T27" fmla="*/ 70 h 328"/>
                    <a:gd name="T28" fmla="*/ 121 w 356"/>
                    <a:gd name="T29" fmla="*/ 33 h 328"/>
                    <a:gd name="T30" fmla="*/ 121 w 356"/>
                    <a:gd name="T31" fmla="*/ 0 h 328"/>
                    <a:gd name="T32" fmla="*/ 181 w 356"/>
                    <a:gd name="T33" fmla="*/ 0 h 328"/>
                    <a:gd name="T34" fmla="*/ 181 w 356"/>
                    <a:gd name="T35" fmla="*/ 30 h 328"/>
                    <a:gd name="T36" fmla="*/ 249 w 356"/>
                    <a:gd name="T37" fmla="*/ 70 h 328"/>
                    <a:gd name="T38" fmla="*/ 274 w 356"/>
                    <a:gd name="T39" fmla="*/ 55 h 328"/>
                    <a:gd name="T40" fmla="*/ 306 w 356"/>
                    <a:gd name="T41" fmla="*/ 111 h 328"/>
                    <a:gd name="T42" fmla="*/ 277 w 356"/>
                    <a:gd name="T43" fmla="*/ 125 h 328"/>
                    <a:gd name="T44" fmla="*/ 282 w 356"/>
                    <a:gd name="T45" fmla="*/ 162 h 328"/>
                    <a:gd name="T46" fmla="*/ 279 w 356"/>
                    <a:gd name="T47" fmla="*/ 188 h 328"/>
                    <a:gd name="T48" fmla="*/ 186 w 356"/>
                    <a:gd name="T49" fmla="*/ 100 h 328"/>
                    <a:gd name="T50" fmla="*/ 150 w 356"/>
                    <a:gd name="T51" fmla="*/ 89 h 328"/>
                    <a:gd name="T52" fmla="*/ 75 w 356"/>
                    <a:gd name="T53" fmla="*/ 166 h 328"/>
                    <a:gd name="T54" fmla="*/ 107 w 356"/>
                    <a:gd name="T55" fmla="*/ 231 h 328"/>
                    <a:gd name="T56" fmla="*/ 209 w 356"/>
                    <a:gd name="T57" fmla="*/ 238 h 328"/>
                    <a:gd name="T58" fmla="*/ 310 w 356"/>
                    <a:gd name="T59" fmla="*/ 302 h 328"/>
                    <a:gd name="T60" fmla="*/ 348 w 356"/>
                    <a:gd name="T61" fmla="*/ 294 h 328"/>
                    <a:gd name="T62" fmla="*/ 340 w 356"/>
                    <a:gd name="T63" fmla="*/ 256 h 328"/>
                    <a:gd name="T64" fmla="*/ 237 w 356"/>
                    <a:gd name="T65" fmla="*/ 195 h 328"/>
                    <a:gd name="T66" fmla="*/ 235 w 356"/>
                    <a:gd name="T67" fmla="*/ 194 h 328"/>
                    <a:gd name="T68" fmla="*/ 234 w 356"/>
                    <a:gd name="T69" fmla="*/ 179 h 328"/>
                    <a:gd name="T70" fmla="*/ 172 w 356"/>
                    <a:gd name="T71" fmla="*/ 139 h 328"/>
                    <a:gd name="T72" fmla="*/ 145 w 356"/>
                    <a:gd name="T73" fmla="*/ 153 h 328"/>
                    <a:gd name="T74" fmla="*/ 194 w 356"/>
                    <a:gd name="T75" fmla="*/ 183 h 328"/>
                    <a:gd name="T76" fmla="*/ 182 w 356"/>
                    <a:gd name="T77" fmla="*/ 199 h 328"/>
                    <a:gd name="T78" fmla="*/ 135 w 356"/>
                    <a:gd name="T79" fmla="*/ 169 h 328"/>
                    <a:gd name="T80" fmla="*/ 132 w 356"/>
                    <a:gd name="T81" fmla="*/ 201 h 328"/>
                    <a:gd name="T82" fmla="*/ 194 w 356"/>
                    <a:gd name="T83" fmla="*/ 241 h 328"/>
                    <a:gd name="T84" fmla="*/ 207 w 356"/>
                    <a:gd name="T85" fmla="*/ 237 h 328"/>
                    <a:gd name="T86" fmla="*/ 209 w 356"/>
                    <a:gd name="T87" fmla="*/ 23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6" h="328">
                      <a:moveTo>
                        <a:pt x="224" y="273"/>
                      </a:moveTo>
                      <a:cubicBezTo>
                        <a:pt x="213" y="284"/>
                        <a:pt x="195" y="291"/>
                        <a:pt x="181" y="295"/>
                      </a:cubicBezTo>
                      <a:cubicBezTo>
                        <a:pt x="181" y="295"/>
                        <a:pt x="181" y="295"/>
                        <a:pt x="181" y="328"/>
                      </a:cubicBezTo>
                      <a:cubicBezTo>
                        <a:pt x="181" y="328"/>
                        <a:pt x="181" y="328"/>
                        <a:pt x="121" y="328"/>
                      </a:cubicBezTo>
                      <a:cubicBezTo>
                        <a:pt x="121" y="328"/>
                        <a:pt x="121" y="328"/>
                        <a:pt x="121" y="291"/>
                      </a:cubicBezTo>
                      <a:cubicBezTo>
                        <a:pt x="96" y="287"/>
                        <a:pt x="75" y="273"/>
                        <a:pt x="57" y="254"/>
                      </a:cubicBezTo>
                      <a:cubicBezTo>
                        <a:pt x="57" y="254"/>
                        <a:pt x="57" y="254"/>
                        <a:pt x="28" y="269"/>
                      </a:cubicBezTo>
                      <a:cubicBezTo>
                        <a:pt x="28" y="269"/>
                        <a:pt x="28" y="269"/>
                        <a:pt x="0" y="214"/>
                      </a:cubicBezTo>
                      <a:cubicBezTo>
                        <a:pt x="0" y="214"/>
                        <a:pt x="0" y="214"/>
                        <a:pt x="28" y="199"/>
                      </a:cubicBezTo>
                      <a:cubicBezTo>
                        <a:pt x="25" y="188"/>
                        <a:pt x="21" y="177"/>
                        <a:pt x="21" y="162"/>
                      </a:cubicBezTo>
                      <a:cubicBezTo>
                        <a:pt x="21" y="151"/>
                        <a:pt x="25" y="136"/>
                        <a:pt x="28" y="125"/>
                      </a:cubicBezTo>
                      <a:cubicBezTo>
                        <a:pt x="28" y="125"/>
                        <a:pt x="28" y="125"/>
                        <a:pt x="0" y="111"/>
                      </a:cubicBezTo>
                      <a:cubicBezTo>
                        <a:pt x="0" y="111"/>
                        <a:pt x="0" y="111"/>
                        <a:pt x="28" y="55"/>
                      </a:cubicBezTo>
                      <a:cubicBezTo>
                        <a:pt x="28" y="55"/>
                        <a:pt x="28" y="55"/>
                        <a:pt x="57" y="70"/>
                      </a:cubicBezTo>
                      <a:cubicBezTo>
                        <a:pt x="75" y="52"/>
                        <a:pt x="96" y="37"/>
                        <a:pt x="121" y="33"/>
                      </a:cubicBezTo>
                      <a:cubicBezTo>
                        <a:pt x="121" y="33"/>
                        <a:pt x="121" y="33"/>
                        <a:pt x="121" y="0"/>
                      </a:cubicBezTo>
                      <a:cubicBezTo>
                        <a:pt x="121" y="0"/>
                        <a:pt x="121" y="0"/>
                        <a:pt x="181" y="0"/>
                      </a:cubicBezTo>
                      <a:cubicBezTo>
                        <a:pt x="181" y="0"/>
                        <a:pt x="181" y="0"/>
                        <a:pt x="181" y="30"/>
                      </a:cubicBezTo>
                      <a:cubicBezTo>
                        <a:pt x="206" y="37"/>
                        <a:pt x="231" y="52"/>
                        <a:pt x="249" y="70"/>
                      </a:cubicBezTo>
                      <a:cubicBezTo>
                        <a:pt x="249" y="70"/>
                        <a:pt x="249" y="70"/>
                        <a:pt x="274" y="55"/>
                      </a:cubicBezTo>
                      <a:cubicBezTo>
                        <a:pt x="274" y="55"/>
                        <a:pt x="274" y="55"/>
                        <a:pt x="306" y="111"/>
                      </a:cubicBezTo>
                      <a:cubicBezTo>
                        <a:pt x="306" y="111"/>
                        <a:pt x="306" y="111"/>
                        <a:pt x="277" y="125"/>
                      </a:cubicBezTo>
                      <a:cubicBezTo>
                        <a:pt x="281" y="136"/>
                        <a:pt x="282" y="150"/>
                        <a:pt x="282" y="162"/>
                      </a:cubicBezTo>
                      <a:cubicBezTo>
                        <a:pt x="282" y="169"/>
                        <a:pt x="282" y="178"/>
                        <a:pt x="279" y="188"/>
                      </a:cubicBezTo>
                      <a:moveTo>
                        <a:pt x="186" y="100"/>
                      </a:moveTo>
                      <a:cubicBezTo>
                        <a:pt x="176" y="93"/>
                        <a:pt x="165" y="89"/>
                        <a:pt x="150" y="89"/>
                      </a:cubicBezTo>
                      <a:cubicBezTo>
                        <a:pt x="107" y="89"/>
                        <a:pt x="75" y="126"/>
                        <a:pt x="75" y="166"/>
                      </a:cubicBezTo>
                      <a:cubicBezTo>
                        <a:pt x="75" y="195"/>
                        <a:pt x="85" y="217"/>
                        <a:pt x="107" y="231"/>
                      </a:cubicBezTo>
                      <a:moveTo>
                        <a:pt x="209" y="238"/>
                      </a:moveTo>
                      <a:cubicBezTo>
                        <a:pt x="310" y="302"/>
                        <a:pt x="310" y="302"/>
                        <a:pt x="310" y="302"/>
                      </a:cubicBezTo>
                      <a:cubicBezTo>
                        <a:pt x="323" y="310"/>
                        <a:pt x="340" y="307"/>
                        <a:pt x="348" y="294"/>
                      </a:cubicBezTo>
                      <a:cubicBezTo>
                        <a:pt x="356" y="282"/>
                        <a:pt x="353" y="265"/>
                        <a:pt x="340" y="256"/>
                      </a:cubicBezTo>
                      <a:cubicBezTo>
                        <a:pt x="237" y="195"/>
                        <a:pt x="237" y="195"/>
                        <a:pt x="237" y="195"/>
                      </a:cubicBezTo>
                      <a:cubicBezTo>
                        <a:pt x="235" y="194"/>
                        <a:pt x="235" y="194"/>
                        <a:pt x="235" y="194"/>
                      </a:cubicBezTo>
                      <a:cubicBezTo>
                        <a:pt x="236" y="189"/>
                        <a:pt x="235" y="184"/>
                        <a:pt x="234" y="179"/>
                      </a:cubicBezTo>
                      <a:cubicBezTo>
                        <a:pt x="228" y="151"/>
                        <a:pt x="200" y="132"/>
                        <a:pt x="172" y="139"/>
                      </a:cubicBezTo>
                      <a:cubicBezTo>
                        <a:pt x="162" y="141"/>
                        <a:pt x="152" y="146"/>
                        <a:pt x="145" y="153"/>
                      </a:cubicBezTo>
                      <a:cubicBezTo>
                        <a:pt x="194" y="183"/>
                        <a:pt x="194" y="183"/>
                        <a:pt x="194" y="183"/>
                      </a:cubicBezTo>
                      <a:cubicBezTo>
                        <a:pt x="182" y="199"/>
                        <a:pt x="182" y="199"/>
                        <a:pt x="182" y="199"/>
                      </a:cubicBezTo>
                      <a:cubicBezTo>
                        <a:pt x="135" y="169"/>
                        <a:pt x="135" y="169"/>
                        <a:pt x="135" y="169"/>
                      </a:cubicBezTo>
                      <a:cubicBezTo>
                        <a:pt x="131" y="179"/>
                        <a:pt x="129" y="190"/>
                        <a:pt x="132" y="201"/>
                      </a:cubicBezTo>
                      <a:cubicBezTo>
                        <a:pt x="138" y="229"/>
                        <a:pt x="165" y="247"/>
                        <a:pt x="194" y="241"/>
                      </a:cubicBezTo>
                      <a:cubicBezTo>
                        <a:pt x="198" y="240"/>
                        <a:pt x="203" y="239"/>
                        <a:pt x="207" y="237"/>
                      </a:cubicBezTo>
                      <a:lnTo>
                        <a:pt x="209" y="238"/>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mn-cs"/>
                  </a:endParaRPr>
                </a:p>
              </p:txBody>
            </p:sp>
            <p:sp>
              <p:nvSpPr>
                <p:cNvPr id="138" name="Oval 137">
                  <a:extLst>
                    <a:ext uri="{FF2B5EF4-FFF2-40B4-BE49-F238E27FC236}">
                      <a16:creationId xmlns:a16="http://schemas.microsoft.com/office/drawing/2014/main" id="{63240C1C-0CEA-4266-B997-CB3F8EBFA642}"/>
                    </a:ext>
                  </a:extLst>
                </p:cNvPr>
                <p:cNvSpPr/>
                <p:nvPr/>
              </p:nvSpPr>
              <p:spPr bwMode="auto">
                <a:xfrm>
                  <a:off x="9613047" y="4171539"/>
                  <a:ext cx="613652" cy="613652"/>
                </a:xfrm>
                <a:prstGeom prst="ellipse">
                  <a:avLst/>
                </a:prstGeom>
                <a:noFill/>
                <a:ln w="6350">
                  <a:solidFill>
                    <a:schemeClr val="accent1">
                      <a:lumMod val="60000"/>
                      <a:lumOff val="40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198"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grpSp>
        <p:grpSp>
          <p:nvGrpSpPr>
            <p:cNvPr id="6" name="Group 5">
              <a:extLst>
                <a:ext uri="{FF2B5EF4-FFF2-40B4-BE49-F238E27FC236}">
                  <a16:creationId xmlns:a16="http://schemas.microsoft.com/office/drawing/2014/main" id="{446F4C6C-3C46-4075-9610-4D6F4ABED7E3}"/>
                </a:ext>
              </a:extLst>
            </p:cNvPr>
            <p:cNvGrpSpPr/>
            <p:nvPr/>
          </p:nvGrpSpPr>
          <p:grpSpPr>
            <a:xfrm>
              <a:off x="162870" y="4382773"/>
              <a:ext cx="2068245" cy="661272"/>
              <a:chOff x="162870" y="4382773"/>
              <a:chExt cx="2068245" cy="661272"/>
            </a:xfrm>
          </p:grpSpPr>
          <p:sp>
            <p:nvSpPr>
              <p:cNvPr id="85" name="Rectangle 84">
                <a:extLst>
                  <a:ext uri="{FF2B5EF4-FFF2-40B4-BE49-F238E27FC236}">
                    <a16:creationId xmlns:a16="http://schemas.microsoft.com/office/drawing/2014/main" id="{0D9669B1-E92C-4AC1-88E0-99021D3CD8C0}"/>
                  </a:ext>
                </a:extLst>
              </p:cNvPr>
              <p:cNvSpPr/>
              <p:nvPr/>
            </p:nvSpPr>
            <p:spPr bwMode="auto">
              <a:xfrm>
                <a:off x="952882" y="4459493"/>
                <a:ext cx="1278233" cy="430887"/>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UI Semibold"/>
                    <a:ea typeface="+mn-ea"/>
                    <a:cs typeface="+mn-cs"/>
                  </a:rPr>
                  <a:t>Manage the cloud strategy</a:t>
                </a:r>
              </a:p>
            </p:txBody>
          </p:sp>
          <p:grpSp>
            <p:nvGrpSpPr>
              <p:cNvPr id="87" name="Group 86">
                <a:extLst>
                  <a:ext uri="{FF2B5EF4-FFF2-40B4-BE49-F238E27FC236}">
                    <a16:creationId xmlns:a16="http://schemas.microsoft.com/office/drawing/2014/main" id="{4ED0347E-961F-4D14-ABA4-B3685006750C}"/>
                  </a:ext>
                </a:extLst>
              </p:cNvPr>
              <p:cNvGrpSpPr/>
              <p:nvPr/>
            </p:nvGrpSpPr>
            <p:grpSpPr>
              <a:xfrm>
                <a:off x="162870" y="4382773"/>
                <a:ext cx="637462" cy="661272"/>
                <a:chOff x="9581297" y="2476427"/>
                <a:chExt cx="637462" cy="661272"/>
              </a:xfrm>
            </p:grpSpPr>
            <p:sp>
              <p:nvSpPr>
                <p:cNvPr id="90" name="Oval 89">
                  <a:extLst>
                    <a:ext uri="{FF2B5EF4-FFF2-40B4-BE49-F238E27FC236}">
                      <a16:creationId xmlns:a16="http://schemas.microsoft.com/office/drawing/2014/main" id="{06AD7DC4-D8EA-419E-91CE-B2F9B9F42E67}"/>
                    </a:ext>
                  </a:extLst>
                </p:cNvPr>
                <p:cNvSpPr/>
                <p:nvPr/>
              </p:nvSpPr>
              <p:spPr bwMode="auto">
                <a:xfrm>
                  <a:off x="9581297" y="2500237"/>
                  <a:ext cx="613652" cy="61365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198"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142" name="Oval 141">
                  <a:extLst>
                    <a:ext uri="{FF2B5EF4-FFF2-40B4-BE49-F238E27FC236}">
                      <a16:creationId xmlns:a16="http://schemas.microsoft.com/office/drawing/2014/main" id="{62D6C068-5D9E-46FE-A729-D65C7C0A4150}"/>
                    </a:ext>
                  </a:extLst>
                </p:cNvPr>
                <p:cNvSpPr/>
                <p:nvPr/>
              </p:nvSpPr>
              <p:spPr bwMode="auto">
                <a:xfrm>
                  <a:off x="9605107" y="2476427"/>
                  <a:ext cx="613652" cy="613652"/>
                </a:xfrm>
                <a:prstGeom prst="ellipse">
                  <a:avLst/>
                </a:prstGeom>
                <a:noFill/>
                <a:ln w="6350">
                  <a:solidFill>
                    <a:schemeClr val="accent1">
                      <a:lumMod val="60000"/>
                      <a:lumOff val="40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198"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143" name="Oval 142">
                  <a:extLst>
                    <a:ext uri="{FF2B5EF4-FFF2-40B4-BE49-F238E27FC236}">
                      <a16:creationId xmlns:a16="http://schemas.microsoft.com/office/drawing/2014/main" id="{0CBA8EC8-0ABC-4073-AD96-C83F3B836B2E}"/>
                    </a:ext>
                  </a:extLst>
                </p:cNvPr>
                <p:cNvSpPr/>
                <p:nvPr/>
              </p:nvSpPr>
              <p:spPr bwMode="auto">
                <a:xfrm>
                  <a:off x="9605107" y="2524047"/>
                  <a:ext cx="613652" cy="613652"/>
                </a:xfrm>
                <a:prstGeom prst="ellipse">
                  <a:avLst/>
                </a:prstGeom>
                <a:noFill/>
                <a:ln>
                  <a:solidFill>
                    <a:schemeClr val="accent1">
                      <a:lumMod val="50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198"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grpSp>
        <p:grpSp>
          <p:nvGrpSpPr>
            <p:cNvPr id="8" name="Group 7">
              <a:extLst>
                <a:ext uri="{FF2B5EF4-FFF2-40B4-BE49-F238E27FC236}">
                  <a16:creationId xmlns:a16="http://schemas.microsoft.com/office/drawing/2014/main" id="{189B7095-5601-4B95-AD49-EA494A039BD6}"/>
                </a:ext>
              </a:extLst>
            </p:cNvPr>
            <p:cNvGrpSpPr/>
            <p:nvPr/>
          </p:nvGrpSpPr>
          <p:grpSpPr>
            <a:xfrm>
              <a:off x="162870" y="6007360"/>
              <a:ext cx="1699758" cy="661272"/>
              <a:chOff x="169849" y="6007360"/>
              <a:chExt cx="1699758" cy="661272"/>
            </a:xfrm>
          </p:grpSpPr>
          <p:sp>
            <p:nvSpPr>
              <p:cNvPr id="63" name="Rectangle 62">
                <a:extLst>
                  <a:ext uri="{FF2B5EF4-FFF2-40B4-BE49-F238E27FC236}">
                    <a16:creationId xmlns:a16="http://schemas.microsoft.com/office/drawing/2014/main" id="{AF0C1B01-5B2B-4F6B-B289-3CCE6668082E}"/>
                  </a:ext>
                </a:extLst>
              </p:cNvPr>
              <p:cNvSpPr/>
              <p:nvPr/>
            </p:nvSpPr>
            <p:spPr bwMode="auto">
              <a:xfrm>
                <a:off x="959861" y="6101627"/>
                <a:ext cx="909746" cy="430887"/>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UI Semibold"/>
                    <a:ea typeface="+mn-ea"/>
                    <a:cs typeface="+mn-cs"/>
                  </a:rPr>
                  <a:t>Share best practices</a:t>
                </a:r>
              </a:p>
            </p:txBody>
          </p:sp>
          <p:grpSp>
            <p:nvGrpSpPr>
              <p:cNvPr id="3" name="Group 2">
                <a:extLst>
                  <a:ext uri="{FF2B5EF4-FFF2-40B4-BE49-F238E27FC236}">
                    <a16:creationId xmlns:a16="http://schemas.microsoft.com/office/drawing/2014/main" id="{D1E88A59-3BAD-4E4D-97E6-57227C0765B1}"/>
                  </a:ext>
                </a:extLst>
              </p:cNvPr>
              <p:cNvGrpSpPr/>
              <p:nvPr/>
            </p:nvGrpSpPr>
            <p:grpSpPr>
              <a:xfrm>
                <a:off x="169849" y="6007360"/>
                <a:ext cx="637462" cy="661272"/>
                <a:chOff x="9417670" y="5692032"/>
                <a:chExt cx="637462" cy="661272"/>
              </a:xfrm>
            </p:grpSpPr>
            <p:grpSp>
              <p:nvGrpSpPr>
                <p:cNvPr id="79" name="Group 78">
                  <a:extLst>
                    <a:ext uri="{FF2B5EF4-FFF2-40B4-BE49-F238E27FC236}">
                      <a16:creationId xmlns:a16="http://schemas.microsoft.com/office/drawing/2014/main" id="{BA1B678A-3418-48B1-AC13-200494B9E74C}"/>
                    </a:ext>
                  </a:extLst>
                </p:cNvPr>
                <p:cNvGrpSpPr/>
                <p:nvPr/>
              </p:nvGrpSpPr>
              <p:grpSpPr>
                <a:xfrm>
                  <a:off x="9417670" y="5692032"/>
                  <a:ext cx="637462" cy="661272"/>
                  <a:chOff x="9505347" y="1358870"/>
                  <a:chExt cx="1523619" cy="1580529"/>
                </a:xfrm>
              </p:grpSpPr>
              <p:sp>
                <p:nvSpPr>
                  <p:cNvPr id="133" name="Oval 132">
                    <a:extLst>
                      <a:ext uri="{FF2B5EF4-FFF2-40B4-BE49-F238E27FC236}">
                        <a16:creationId xmlns:a16="http://schemas.microsoft.com/office/drawing/2014/main" id="{C3DB5BBF-539D-4C7D-9932-C9FCD4ADE946}"/>
                      </a:ext>
                    </a:extLst>
                  </p:cNvPr>
                  <p:cNvSpPr/>
                  <p:nvPr/>
                </p:nvSpPr>
                <p:spPr bwMode="auto">
                  <a:xfrm>
                    <a:off x="9562256" y="1472689"/>
                    <a:ext cx="1466710" cy="1466710"/>
                  </a:xfrm>
                  <a:prstGeom prst="ellipse">
                    <a:avLst/>
                  </a:prstGeom>
                  <a:noFill/>
                  <a:ln>
                    <a:solidFill>
                      <a:schemeClr val="accent1">
                        <a:lumMod val="50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198"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81" name="Oval 80">
                    <a:extLst>
                      <a:ext uri="{FF2B5EF4-FFF2-40B4-BE49-F238E27FC236}">
                        <a16:creationId xmlns:a16="http://schemas.microsoft.com/office/drawing/2014/main" id="{6F835577-C8C5-4492-8C57-EB230037C72F}"/>
                      </a:ext>
                    </a:extLst>
                  </p:cNvPr>
                  <p:cNvSpPr/>
                  <p:nvPr/>
                </p:nvSpPr>
                <p:spPr bwMode="auto">
                  <a:xfrm>
                    <a:off x="9505347" y="1415780"/>
                    <a:ext cx="1466710" cy="146671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198"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135" name="Oval 134">
                    <a:extLst>
                      <a:ext uri="{FF2B5EF4-FFF2-40B4-BE49-F238E27FC236}">
                        <a16:creationId xmlns:a16="http://schemas.microsoft.com/office/drawing/2014/main" id="{016B6113-0CE7-47DA-9F99-478C600353DB}"/>
                      </a:ext>
                    </a:extLst>
                  </p:cNvPr>
                  <p:cNvSpPr/>
                  <p:nvPr/>
                </p:nvSpPr>
                <p:spPr bwMode="auto">
                  <a:xfrm>
                    <a:off x="9562256" y="1358870"/>
                    <a:ext cx="1466710" cy="1466711"/>
                  </a:xfrm>
                  <a:prstGeom prst="ellipse">
                    <a:avLst/>
                  </a:prstGeom>
                  <a:noFill/>
                  <a:ln w="6350">
                    <a:solidFill>
                      <a:schemeClr val="accent1">
                        <a:lumMod val="60000"/>
                        <a:lumOff val="40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198"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sp>
              <p:nvSpPr>
                <p:cNvPr id="117" name="Graphic 10">
                  <a:extLst>
                    <a:ext uri="{FF2B5EF4-FFF2-40B4-BE49-F238E27FC236}">
                      <a16:creationId xmlns:a16="http://schemas.microsoft.com/office/drawing/2014/main" id="{845F75AF-1BB3-4539-BDB2-9EA0876EA8A7}"/>
                    </a:ext>
                  </a:extLst>
                </p:cNvPr>
                <p:cNvSpPr/>
                <p:nvPr/>
              </p:nvSpPr>
              <p:spPr>
                <a:xfrm>
                  <a:off x="9618511" y="5904778"/>
                  <a:ext cx="235780" cy="235780"/>
                </a:xfrm>
                <a:custGeom>
                  <a:avLst/>
                  <a:gdLst>
                    <a:gd name="connsiteX0" fmla="*/ 64341 w 266700"/>
                    <a:gd name="connsiteY0" fmla="*/ 201073 h 266700"/>
                    <a:gd name="connsiteX1" fmla="*/ 186452 w 266700"/>
                    <a:gd name="connsiteY1" fmla="*/ 201073 h 266700"/>
                    <a:gd name="connsiteX2" fmla="*/ 228648 w 266700"/>
                    <a:gd name="connsiteY2" fmla="*/ 162973 h 266700"/>
                    <a:gd name="connsiteX3" fmla="*/ 273034 w 266700"/>
                    <a:gd name="connsiteY3" fmla="*/ 167449 h 266700"/>
                    <a:gd name="connsiteX4" fmla="*/ 201978 w 266700"/>
                    <a:gd name="connsiteY4" fmla="*/ 236887 h 266700"/>
                    <a:gd name="connsiteX5" fmla="*/ 79867 w 266700"/>
                    <a:gd name="connsiteY5" fmla="*/ 266033 h 266700"/>
                    <a:gd name="connsiteX6" fmla="*/ 13287 w 266700"/>
                    <a:gd name="connsiteY6" fmla="*/ 259271 h 266700"/>
                    <a:gd name="connsiteX7" fmla="*/ 13287 w 266700"/>
                    <a:gd name="connsiteY7" fmla="*/ 198787 h 266700"/>
                    <a:gd name="connsiteX8" fmla="*/ 53292 w 266700"/>
                    <a:gd name="connsiteY8" fmla="*/ 162973 h 266700"/>
                    <a:gd name="connsiteX9" fmla="*/ 148733 w 266700"/>
                    <a:gd name="connsiteY9" fmla="*/ 162973 h 266700"/>
                    <a:gd name="connsiteX10" fmla="*/ 122063 w 266700"/>
                    <a:gd name="connsiteY10" fmla="*/ 201073 h 266700"/>
                    <a:gd name="connsiteX11" fmla="*/ 184737 w 266700"/>
                    <a:gd name="connsiteY11" fmla="*/ 0 h 266700"/>
                    <a:gd name="connsiteX12" fmla="*/ 184737 w 266700"/>
                    <a:gd name="connsiteY12" fmla="*/ 117634 h 266700"/>
                    <a:gd name="connsiteX13" fmla="*/ 243507 w 266700"/>
                    <a:gd name="connsiteY13" fmla="*/ 58865 h 266700"/>
                    <a:gd name="connsiteX14" fmla="*/ 125968 w 266700"/>
                    <a:gd name="connsiteY14" fmla="*/ 58865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6700" h="266700">
                      <a:moveTo>
                        <a:pt x="64341" y="201073"/>
                      </a:moveTo>
                      <a:cubicBezTo>
                        <a:pt x="186452" y="201073"/>
                        <a:pt x="186452" y="201073"/>
                        <a:pt x="186452" y="201073"/>
                      </a:cubicBezTo>
                      <a:cubicBezTo>
                        <a:pt x="186452" y="201073"/>
                        <a:pt x="206454" y="183166"/>
                        <a:pt x="228648" y="162973"/>
                      </a:cubicBezTo>
                      <a:cubicBezTo>
                        <a:pt x="248650" y="142780"/>
                        <a:pt x="273034" y="167449"/>
                        <a:pt x="273034" y="167449"/>
                      </a:cubicBezTo>
                      <a:cubicBezTo>
                        <a:pt x="201978" y="236887"/>
                        <a:pt x="201978" y="236887"/>
                        <a:pt x="201978" y="236887"/>
                      </a:cubicBezTo>
                      <a:cubicBezTo>
                        <a:pt x="201978" y="236887"/>
                        <a:pt x="82153" y="266033"/>
                        <a:pt x="79867" y="266033"/>
                      </a:cubicBezTo>
                      <a:cubicBezTo>
                        <a:pt x="62151" y="272796"/>
                        <a:pt x="31004" y="277273"/>
                        <a:pt x="13287" y="259271"/>
                      </a:cubicBezTo>
                      <a:cubicBezTo>
                        <a:pt x="-4429" y="243554"/>
                        <a:pt x="-4429" y="214503"/>
                        <a:pt x="13287" y="198787"/>
                      </a:cubicBezTo>
                      <a:cubicBezTo>
                        <a:pt x="53292" y="162973"/>
                        <a:pt x="53292" y="162973"/>
                        <a:pt x="53292" y="162973"/>
                      </a:cubicBezTo>
                      <a:cubicBezTo>
                        <a:pt x="148733" y="162973"/>
                        <a:pt x="148733" y="162973"/>
                        <a:pt x="148733" y="162973"/>
                      </a:cubicBezTo>
                      <a:cubicBezTo>
                        <a:pt x="148733" y="189833"/>
                        <a:pt x="122063" y="201073"/>
                        <a:pt x="122063" y="201073"/>
                      </a:cubicBezTo>
                      <a:moveTo>
                        <a:pt x="184737" y="0"/>
                      </a:moveTo>
                      <a:lnTo>
                        <a:pt x="184737" y="117634"/>
                      </a:lnTo>
                      <a:moveTo>
                        <a:pt x="243507" y="58865"/>
                      </a:moveTo>
                      <a:lnTo>
                        <a:pt x="125968" y="58865"/>
                      </a:lnTo>
                    </a:path>
                  </a:pathLst>
                </a:custGeom>
                <a:noFill/>
                <a:ln w="9525" cap="sq">
                  <a:solidFill>
                    <a:schemeClr val="bg1"/>
                  </a:solid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mn-cs"/>
                  </a:endParaRPr>
                </a:p>
              </p:txBody>
            </p:sp>
          </p:grpSp>
        </p:grpSp>
      </p:grpSp>
      <p:sp>
        <p:nvSpPr>
          <p:cNvPr id="120" name="Rectangle 279">
            <a:extLst>
              <a:ext uri="{FF2B5EF4-FFF2-40B4-BE49-F238E27FC236}">
                <a16:creationId xmlns:a16="http://schemas.microsoft.com/office/drawing/2014/main" id="{39E5E4B7-909C-473D-A6D2-883B7136C790}"/>
              </a:ext>
            </a:extLst>
          </p:cNvPr>
          <p:cNvSpPr/>
          <p:nvPr/>
        </p:nvSpPr>
        <p:spPr bwMode="auto">
          <a:xfrm>
            <a:off x="347867" y="1828184"/>
            <a:ext cx="3128488" cy="1634380"/>
          </a:xfrm>
          <a:custGeom>
            <a:avLst/>
            <a:gdLst>
              <a:gd name="connsiteX0" fmla="*/ 0 w 4580420"/>
              <a:gd name="connsiteY0" fmla="*/ 0 h 1178968"/>
              <a:gd name="connsiteX1" fmla="*/ 4580420 w 4580420"/>
              <a:gd name="connsiteY1" fmla="*/ 0 h 1178968"/>
              <a:gd name="connsiteX2" fmla="*/ 4580420 w 4580420"/>
              <a:gd name="connsiteY2" fmla="*/ 1178968 h 1178968"/>
              <a:gd name="connsiteX3" fmla="*/ 0 w 4580420"/>
              <a:gd name="connsiteY3" fmla="*/ 1178968 h 1178968"/>
              <a:gd name="connsiteX4" fmla="*/ 0 w 4580420"/>
              <a:gd name="connsiteY4" fmla="*/ 0 h 1178968"/>
              <a:gd name="connsiteX0" fmla="*/ 0 w 4580420"/>
              <a:gd name="connsiteY0" fmla="*/ 0 h 1179057"/>
              <a:gd name="connsiteX1" fmla="*/ 4580420 w 4580420"/>
              <a:gd name="connsiteY1" fmla="*/ 0 h 1179057"/>
              <a:gd name="connsiteX2" fmla="*/ 4580420 w 4580420"/>
              <a:gd name="connsiteY2" fmla="*/ 1178968 h 1179057"/>
              <a:gd name="connsiteX3" fmla="*/ 514909 w 4580420"/>
              <a:gd name="connsiteY3" fmla="*/ 1179057 h 1179057"/>
              <a:gd name="connsiteX4" fmla="*/ 0 w 4580420"/>
              <a:gd name="connsiteY4" fmla="*/ 1178968 h 1179057"/>
              <a:gd name="connsiteX5" fmla="*/ 0 w 4580420"/>
              <a:gd name="connsiteY5" fmla="*/ 0 h 1179057"/>
              <a:gd name="connsiteX0" fmla="*/ 0 w 4580420"/>
              <a:gd name="connsiteY0" fmla="*/ 0 h 1179057"/>
              <a:gd name="connsiteX1" fmla="*/ 4580420 w 4580420"/>
              <a:gd name="connsiteY1" fmla="*/ 0 h 1179057"/>
              <a:gd name="connsiteX2" fmla="*/ 4580420 w 4580420"/>
              <a:gd name="connsiteY2" fmla="*/ 1178968 h 1179057"/>
              <a:gd name="connsiteX3" fmla="*/ 1619809 w 4580420"/>
              <a:gd name="connsiteY3" fmla="*/ 1176676 h 1179057"/>
              <a:gd name="connsiteX4" fmla="*/ 514909 w 4580420"/>
              <a:gd name="connsiteY4" fmla="*/ 1179057 h 1179057"/>
              <a:gd name="connsiteX5" fmla="*/ 0 w 4580420"/>
              <a:gd name="connsiteY5" fmla="*/ 1178968 h 1179057"/>
              <a:gd name="connsiteX6" fmla="*/ 0 w 4580420"/>
              <a:gd name="connsiteY6" fmla="*/ 0 h 1179057"/>
              <a:gd name="connsiteX0" fmla="*/ 0 w 4580420"/>
              <a:gd name="connsiteY0" fmla="*/ 0 h 1179057"/>
              <a:gd name="connsiteX1" fmla="*/ 4580420 w 4580420"/>
              <a:gd name="connsiteY1" fmla="*/ 0 h 1179057"/>
              <a:gd name="connsiteX2" fmla="*/ 4580420 w 4580420"/>
              <a:gd name="connsiteY2" fmla="*/ 1178968 h 1179057"/>
              <a:gd name="connsiteX3" fmla="*/ 4332053 w 4580420"/>
              <a:gd name="connsiteY3" fmla="*/ 1176676 h 1179057"/>
              <a:gd name="connsiteX4" fmla="*/ 1619809 w 4580420"/>
              <a:gd name="connsiteY4" fmla="*/ 1176676 h 1179057"/>
              <a:gd name="connsiteX5" fmla="*/ 514909 w 4580420"/>
              <a:gd name="connsiteY5" fmla="*/ 1179057 h 1179057"/>
              <a:gd name="connsiteX6" fmla="*/ 0 w 4580420"/>
              <a:gd name="connsiteY6" fmla="*/ 1178968 h 1179057"/>
              <a:gd name="connsiteX7" fmla="*/ 0 w 4580420"/>
              <a:gd name="connsiteY7" fmla="*/ 0 h 1179057"/>
              <a:gd name="connsiteX0" fmla="*/ 1619809 w 4580420"/>
              <a:gd name="connsiteY0" fmla="*/ 1176676 h 1268116"/>
              <a:gd name="connsiteX1" fmla="*/ 514909 w 4580420"/>
              <a:gd name="connsiteY1" fmla="*/ 1179057 h 1268116"/>
              <a:gd name="connsiteX2" fmla="*/ 0 w 4580420"/>
              <a:gd name="connsiteY2" fmla="*/ 1178968 h 1268116"/>
              <a:gd name="connsiteX3" fmla="*/ 0 w 4580420"/>
              <a:gd name="connsiteY3" fmla="*/ 0 h 1268116"/>
              <a:gd name="connsiteX4" fmla="*/ 4580420 w 4580420"/>
              <a:gd name="connsiteY4" fmla="*/ 0 h 1268116"/>
              <a:gd name="connsiteX5" fmla="*/ 4580420 w 4580420"/>
              <a:gd name="connsiteY5" fmla="*/ 1178968 h 1268116"/>
              <a:gd name="connsiteX6" fmla="*/ 4332053 w 4580420"/>
              <a:gd name="connsiteY6" fmla="*/ 1176676 h 1268116"/>
              <a:gd name="connsiteX7" fmla="*/ 1711249 w 4580420"/>
              <a:gd name="connsiteY7" fmla="*/ 1268116 h 1268116"/>
              <a:gd name="connsiteX0" fmla="*/ 1619809 w 4580420"/>
              <a:gd name="connsiteY0" fmla="*/ 1176676 h 1179057"/>
              <a:gd name="connsiteX1" fmla="*/ 514909 w 4580420"/>
              <a:gd name="connsiteY1" fmla="*/ 1179057 h 1179057"/>
              <a:gd name="connsiteX2" fmla="*/ 0 w 4580420"/>
              <a:gd name="connsiteY2" fmla="*/ 1178968 h 1179057"/>
              <a:gd name="connsiteX3" fmla="*/ 0 w 4580420"/>
              <a:gd name="connsiteY3" fmla="*/ 0 h 1179057"/>
              <a:gd name="connsiteX4" fmla="*/ 4580420 w 4580420"/>
              <a:gd name="connsiteY4" fmla="*/ 0 h 1179057"/>
              <a:gd name="connsiteX5" fmla="*/ 4580420 w 4580420"/>
              <a:gd name="connsiteY5" fmla="*/ 1178968 h 1179057"/>
              <a:gd name="connsiteX6" fmla="*/ 4332053 w 4580420"/>
              <a:gd name="connsiteY6" fmla="*/ 1176676 h 1179057"/>
              <a:gd name="connsiteX0" fmla="*/ 514909 w 4580420"/>
              <a:gd name="connsiteY0" fmla="*/ 1179057 h 1179057"/>
              <a:gd name="connsiteX1" fmla="*/ 0 w 4580420"/>
              <a:gd name="connsiteY1" fmla="*/ 1178968 h 1179057"/>
              <a:gd name="connsiteX2" fmla="*/ 0 w 4580420"/>
              <a:gd name="connsiteY2" fmla="*/ 0 h 1179057"/>
              <a:gd name="connsiteX3" fmla="*/ 4580420 w 4580420"/>
              <a:gd name="connsiteY3" fmla="*/ 0 h 1179057"/>
              <a:gd name="connsiteX4" fmla="*/ 4580420 w 4580420"/>
              <a:gd name="connsiteY4" fmla="*/ 1178968 h 1179057"/>
              <a:gd name="connsiteX5" fmla="*/ 4332053 w 4580420"/>
              <a:gd name="connsiteY5" fmla="*/ 1176676 h 1179057"/>
              <a:gd name="connsiteX0" fmla="*/ 514909 w 4580420"/>
              <a:gd name="connsiteY0" fmla="*/ 1179057 h 1179057"/>
              <a:gd name="connsiteX1" fmla="*/ 0 w 4580420"/>
              <a:gd name="connsiteY1" fmla="*/ 1178968 h 1179057"/>
              <a:gd name="connsiteX2" fmla="*/ 0 w 4580420"/>
              <a:gd name="connsiteY2" fmla="*/ 0 h 1179057"/>
              <a:gd name="connsiteX3" fmla="*/ 4580420 w 4580420"/>
              <a:gd name="connsiteY3" fmla="*/ 0 h 1179057"/>
              <a:gd name="connsiteX4" fmla="*/ 4580420 w 4580420"/>
              <a:gd name="connsiteY4" fmla="*/ 1178968 h 1179057"/>
              <a:gd name="connsiteX5" fmla="*/ 353339 w 4580420"/>
              <a:gd name="connsiteY5" fmla="*/ 1176676 h 11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80420" h="1179057">
                <a:moveTo>
                  <a:pt x="514909" y="1179057"/>
                </a:moveTo>
                <a:lnTo>
                  <a:pt x="0" y="1178968"/>
                </a:lnTo>
                <a:lnTo>
                  <a:pt x="0" y="0"/>
                </a:lnTo>
                <a:lnTo>
                  <a:pt x="4580420" y="0"/>
                </a:lnTo>
                <a:lnTo>
                  <a:pt x="4580420" y="1178968"/>
                </a:lnTo>
                <a:lnTo>
                  <a:pt x="353339" y="1176676"/>
                </a:lnTo>
              </a:path>
            </a:pathLst>
          </a:custGeom>
          <a:solidFill>
            <a:schemeClr val="bg1">
              <a:alpha val="60000"/>
            </a:schemeClr>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Segoe UI" pitchFamily="34" charset="0"/>
              </a:rPr>
              <a:t>A Cloud Center of Excellence (</a:t>
            </a:r>
            <a:r>
              <a:rPr kumimoji="0" lang="en-US" sz="1800" b="0" i="0" u="none" strike="noStrike" kern="1200" cap="none" spc="0" normalizeH="0" baseline="0" noProof="0" err="1">
                <a:ln>
                  <a:noFill/>
                </a:ln>
                <a:solidFill>
                  <a:srgbClr val="0078D4"/>
                </a:solidFill>
                <a:effectLst/>
                <a:uLnTx/>
                <a:uFillTx/>
                <a:latin typeface="Segoe UI Semibold"/>
                <a:ea typeface="+mn-ea"/>
                <a:cs typeface="Segoe UI" pitchFamily="34" charset="0"/>
              </a:rPr>
              <a:t>CCoE</a:t>
            </a:r>
            <a:r>
              <a:rPr kumimoji="0" lang="en-US" sz="1800" b="0" i="0" u="none" strike="noStrike" kern="1200" cap="none" spc="0" normalizeH="0" baseline="0" noProof="0">
                <a:ln>
                  <a:noFill/>
                </a:ln>
                <a:solidFill>
                  <a:srgbClr val="0078D4"/>
                </a:solidFill>
                <a:effectLst/>
                <a:uLnTx/>
                <a:uFillTx/>
                <a:latin typeface="Segoe UI Semibold"/>
                <a:ea typeface="+mn-ea"/>
                <a:cs typeface="Segoe UI" pitchFamily="34" charset="0"/>
              </a:rPr>
              <a:t>) </a:t>
            </a:r>
            <a:r>
              <a:rPr kumimoji="0" lang="en-US" sz="1800" b="0" i="0" u="none" strike="noStrike" kern="1200" cap="none" spc="0" normalizeH="0" baseline="0" noProof="0">
                <a:ln>
                  <a:noFill/>
                </a:ln>
                <a:solidFill>
                  <a:srgbClr val="000000"/>
                </a:solidFill>
                <a:effectLst/>
                <a:uLnTx/>
                <a:uFillTx/>
                <a:latin typeface="Segoe UI Semibold"/>
                <a:ea typeface="+mn-ea"/>
                <a:cs typeface="Segoe UI" pitchFamily="34" charset="0"/>
              </a:rPr>
              <a:t>will span both technical &amp; financial teams with the intent to:</a:t>
            </a:r>
          </a:p>
        </p:txBody>
      </p:sp>
      <p:grpSp>
        <p:nvGrpSpPr>
          <p:cNvPr id="29" name="Group 28">
            <a:extLst>
              <a:ext uri="{FF2B5EF4-FFF2-40B4-BE49-F238E27FC236}">
                <a16:creationId xmlns:a16="http://schemas.microsoft.com/office/drawing/2014/main" id="{7CEA0964-6AF2-4985-9BDD-DB96F65125AF}"/>
              </a:ext>
            </a:extLst>
          </p:cNvPr>
          <p:cNvGrpSpPr/>
          <p:nvPr/>
        </p:nvGrpSpPr>
        <p:grpSpPr>
          <a:xfrm>
            <a:off x="6008947" y="3770677"/>
            <a:ext cx="418454" cy="418454"/>
            <a:chOff x="3249184" y="4225962"/>
            <a:chExt cx="418454" cy="418454"/>
          </a:xfrm>
        </p:grpSpPr>
        <p:grpSp>
          <p:nvGrpSpPr>
            <p:cNvPr id="30" name="Group 29">
              <a:extLst>
                <a:ext uri="{FF2B5EF4-FFF2-40B4-BE49-F238E27FC236}">
                  <a16:creationId xmlns:a16="http://schemas.microsoft.com/office/drawing/2014/main" id="{D5E9976F-3D15-4159-B76B-0328FB5B3227}"/>
                </a:ext>
              </a:extLst>
            </p:cNvPr>
            <p:cNvGrpSpPr/>
            <p:nvPr/>
          </p:nvGrpSpPr>
          <p:grpSpPr>
            <a:xfrm>
              <a:off x="3249184" y="4225962"/>
              <a:ext cx="418454" cy="418454"/>
              <a:chOff x="3435997" y="4057650"/>
              <a:chExt cx="418454" cy="418454"/>
            </a:xfrm>
          </p:grpSpPr>
          <p:sp>
            <p:nvSpPr>
              <p:cNvPr id="34" name="Oval 33">
                <a:extLst>
                  <a:ext uri="{FF2B5EF4-FFF2-40B4-BE49-F238E27FC236}">
                    <a16:creationId xmlns:a16="http://schemas.microsoft.com/office/drawing/2014/main" id="{06687A0E-798E-41BC-A456-A672CDF11032}"/>
                  </a:ext>
                </a:extLst>
              </p:cNvPr>
              <p:cNvSpPr/>
              <p:nvPr/>
            </p:nvSpPr>
            <p:spPr bwMode="auto">
              <a:xfrm>
                <a:off x="3435997" y="4057650"/>
                <a:ext cx="418454" cy="418454"/>
              </a:xfrm>
              <a:prstGeom prst="ellipse">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5" name="Oval 34">
                <a:extLst>
                  <a:ext uri="{FF2B5EF4-FFF2-40B4-BE49-F238E27FC236}">
                    <a16:creationId xmlns:a16="http://schemas.microsoft.com/office/drawing/2014/main" id="{2A807FF8-EC25-4D16-B7E3-37F3DDA86FE0}"/>
                  </a:ext>
                </a:extLst>
              </p:cNvPr>
              <p:cNvSpPr/>
              <p:nvPr/>
            </p:nvSpPr>
            <p:spPr bwMode="auto">
              <a:xfrm>
                <a:off x="3467101" y="4088754"/>
                <a:ext cx="356246" cy="356246"/>
              </a:xfrm>
              <a:prstGeom prst="ellipse">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grpSp>
          <p:nvGrpSpPr>
            <p:cNvPr id="31" name="Group 30">
              <a:extLst>
                <a:ext uri="{FF2B5EF4-FFF2-40B4-BE49-F238E27FC236}">
                  <a16:creationId xmlns:a16="http://schemas.microsoft.com/office/drawing/2014/main" id="{B27427C3-0DFF-49F4-AF79-26CCC2895E45}"/>
                </a:ext>
              </a:extLst>
            </p:cNvPr>
            <p:cNvGrpSpPr/>
            <p:nvPr/>
          </p:nvGrpSpPr>
          <p:grpSpPr>
            <a:xfrm>
              <a:off x="3368866" y="4347877"/>
              <a:ext cx="206696" cy="174625"/>
              <a:chOff x="3555679" y="4179565"/>
              <a:chExt cx="206696" cy="174625"/>
            </a:xfrm>
          </p:grpSpPr>
          <p:sp>
            <p:nvSpPr>
              <p:cNvPr id="32" name="Arrow: Chevron 31">
                <a:extLst>
                  <a:ext uri="{FF2B5EF4-FFF2-40B4-BE49-F238E27FC236}">
                    <a16:creationId xmlns:a16="http://schemas.microsoft.com/office/drawing/2014/main" id="{4514D677-7DF2-4690-BE9C-F642F4FF2016}"/>
                  </a:ext>
                </a:extLst>
              </p:cNvPr>
              <p:cNvSpPr/>
              <p:nvPr/>
            </p:nvSpPr>
            <p:spPr bwMode="auto">
              <a:xfrm>
                <a:off x="3587750" y="4179565"/>
                <a:ext cx="174625" cy="174625"/>
              </a:xfrm>
              <a:prstGeom prst="chevr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3" name="Arrow: Chevron 32">
                <a:extLst>
                  <a:ext uri="{FF2B5EF4-FFF2-40B4-BE49-F238E27FC236}">
                    <a16:creationId xmlns:a16="http://schemas.microsoft.com/office/drawing/2014/main" id="{5A6884CF-634F-4631-A3C5-E00DA3D039C8}"/>
                  </a:ext>
                </a:extLst>
              </p:cNvPr>
              <p:cNvSpPr/>
              <p:nvPr/>
            </p:nvSpPr>
            <p:spPr bwMode="auto">
              <a:xfrm>
                <a:off x="3555679" y="4204642"/>
                <a:ext cx="124470" cy="124472"/>
              </a:xfrm>
              <a:prstGeom prst="chevron">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grpSp>
      <p:grpSp>
        <p:nvGrpSpPr>
          <p:cNvPr id="173" name="Group 172">
            <a:extLst>
              <a:ext uri="{FF2B5EF4-FFF2-40B4-BE49-F238E27FC236}">
                <a16:creationId xmlns:a16="http://schemas.microsoft.com/office/drawing/2014/main" id="{C5967753-D2EA-47BE-B843-9B700D974745}"/>
              </a:ext>
            </a:extLst>
          </p:cNvPr>
          <p:cNvGrpSpPr/>
          <p:nvPr/>
        </p:nvGrpSpPr>
        <p:grpSpPr>
          <a:xfrm>
            <a:off x="7132779" y="3228038"/>
            <a:ext cx="1703796" cy="1703796"/>
            <a:chOff x="6189070" y="3413011"/>
            <a:chExt cx="1703796" cy="1703796"/>
          </a:xfrm>
        </p:grpSpPr>
        <p:sp>
          <p:nvSpPr>
            <p:cNvPr id="88" name="Oval 87">
              <a:extLst>
                <a:ext uri="{FF2B5EF4-FFF2-40B4-BE49-F238E27FC236}">
                  <a16:creationId xmlns:a16="http://schemas.microsoft.com/office/drawing/2014/main" id="{7E9D6F62-E689-41DF-8473-DADEA5ED96B5}"/>
                </a:ext>
              </a:extLst>
            </p:cNvPr>
            <p:cNvSpPr/>
            <p:nvPr/>
          </p:nvSpPr>
          <p:spPr bwMode="auto">
            <a:xfrm>
              <a:off x="6189070" y="3413011"/>
              <a:ext cx="1703796" cy="1703796"/>
            </a:xfrm>
            <a:prstGeom prst="ellipse">
              <a:avLst/>
            </a:prstGeom>
            <a:solidFill>
              <a:schemeClr val="bg1"/>
            </a:solidFill>
            <a:ln w="6350">
              <a:noFill/>
            </a:ln>
            <a:effectLst>
              <a:outerShdw blurRad="127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mn-cs"/>
                </a:rPr>
                <a:t>FinOps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mn-cs"/>
                </a:rPr>
                <a:t>Team</a:t>
              </a:r>
            </a:p>
          </p:txBody>
        </p:sp>
        <p:grpSp>
          <p:nvGrpSpPr>
            <p:cNvPr id="110" name="Group 109">
              <a:extLst>
                <a:ext uri="{FF2B5EF4-FFF2-40B4-BE49-F238E27FC236}">
                  <a16:creationId xmlns:a16="http://schemas.microsoft.com/office/drawing/2014/main" id="{918F6429-B358-4172-B53C-36DFCB622DA4}"/>
                </a:ext>
              </a:extLst>
            </p:cNvPr>
            <p:cNvGrpSpPr/>
            <p:nvPr/>
          </p:nvGrpSpPr>
          <p:grpSpPr>
            <a:xfrm>
              <a:off x="6730595" y="4384125"/>
              <a:ext cx="620746" cy="329284"/>
              <a:chOff x="7284185" y="5030036"/>
              <a:chExt cx="620746" cy="329284"/>
            </a:xfrm>
          </p:grpSpPr>
          <p:sp>
            <p:nvSpPr>
              <p:cNvPr id="95" name="Freeform 21">
                <a:extLst>
                  <a:ext uri="{FF2B5EF4-FFF2-40B4-BE49-F238E27FC236}">
                    <a16:creationId xmlns:a16="http://schemas.microsoft.com/office/drawing/2014/main" id="{425E9906-458A-4F2B-8021-F425E564BF0E}"/>
                  </a:ext>
                </a:extLst>
              </p:cNvPr>
              <p:cNvSpPr>
                <a:spLocks/>
              </p:cNvSpPr>
              <p:nvPr/>
            </p:nvSpPr>
            <p:spPr bwMode="auto">
              <a:xfrm>
                <a:off x="7473301" y="5030036"/>
                <a:ext cx="173542" cy="175766"/>
              </a:xfrm>
              <a:custGeom>
                <a:avLst/>
                <a:gdLst>
                  <a:gd name="T0" fmla="*/ 53 w 106"/>
                  <a:gd name="T1" fmla="*/ 106 h 106"/>
                  <a:gd name="T2" fmla="*/ 53 w 106"/>
                  <a:gd name="T3" fmla="*/ 106 h 106"/>
                  <a:gd name="T4" fmla="*/ 106 w 106"/>
                  <a:gd name="T5" fmla="*/ 53 h 106"/>
                  <a:gd name="T6" fmla="*/ 75 w 106"/>
                  <a:gd name="T7" fmla="*/ 5 h 106"/>
                  <a:gd name="T8" fmla="*/ 53 w 106"/>
                  <a:gd name="T9" fmla="*/ 0 h 106"/>
                  <a:gd name="T10" fmla="*/ 31 w 106"/>
                  <a:gd name="T11" fmla="*/ 5 h 106"/>
                  <a:gd name="T12" fmla="*/ 0 w 106"/>
                  <a:gd name="T13" fmla="*/ 53 h 106"/>
                  <a:gd name="T14" fmla="*/ 53 w 106"/>
                  <a:gd name="T15" fmla="*/ 106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53" y="106"/>
                    </a:moveTo>
                    <a:lnTo>
                      <a:pt x="53" y="106"/>
                    </a:lnTo>
                    <a:cubicBezTo>
                      <a:pt x="82" y="106"/>
                      <a:pt x="106" y="83"/>
                      <a:pt x="106" y="53"/>
                    </a:cubicBezTo>
                    <a:cubicBezTo>
                      <a:pt x="106" y="31"/>
                      <a:pt x="93" y="13"/>
                      <a:pt x="75" y="5"/>
                    </a:cubicBezTo>
                    <a:cubicBezTo>
                      <a:pt x="68" y="2"/>
                      <a:pt x="61" y="0"/>
                      <a:pt x="53" y="0"/>
                    </a:cubicBezTo>
                    <a:cubicBezTo>
                      <a:pt x="45" y="0"/>
                      <a:pt x="38" y="2"/>
                      <a:pt x="31" y="5"/>
                    </a:cubicBezTo>
                    <a:cubicBezTo>
                      <a:pt x="13" y="13"/>
                      <a:pt x="0" y="31"/>
                      <a:pt x="0" y="53"/>
                    </a:cubicBezTo>
                    <a:cubicBezTo>
                      <a:pt x="0" y="83"/>
                      <a:pt x="24" y="106"/>
                      <a:pt x="53" y="106"/>
                    </a:cubicBezTo>
                    <a:close/>
                  </a:path>
                </a:pathLst>
              </a:custGeom>
              <a:solidFill>
                <a:srgbClr val="C1C1C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101" name="Freeform 22">
                <a:extLst>
                  <a:ext uri="{FF2B5EF4-FFF2-40B4-BE49-F238E27FC236}">
                    <a16:creationId xmlns:a16="http://schemas.microsoft.com/office/drawing/2014/main" id="{EC0EE330-508E-48EC-A05C-002E136DD64B}"/>
                  </a:ext>
                </a:extLst>
              </p:cNvPr>
              <p:cNvSpPr>
                <a:spLocks/>
              </p:cNvSpPr>
              <p:nvPr/>
            </p:nvSpPr>
            <p:spPr bwMode="auto">
              <a:xfrm>
                <a:off x="7426578" y="5225826"/>
                <a:ext cx="264763" cy="133494"/>
              </a:xfrm>
              <a:custGeom>
                <a:avLst/>
                <a:gdLst>
                  <a:gd name="T0" fmla="*/ 80 w 160"/>
                  <a:gd name="T1" fmla="*/ 0 h 80"/>
                  <a:gd name="T2" fmla="*/ 80 w 160"/>
                  <a:gd name="T3" fmla="*/ 0 h 80"/>
                  <a:gd name="T4" fmla="*/ 0 w 160"/>
                  <a:gd name="T5" fmla="*/ 80 h 80"/>
                  <a:gd name="T6" fmla="*/ 160 w 160"/>
                  <a:gd name="T7" fmla="*/ 80 h 80"/>
                  <a:gd name="T8" fmla="*/ 80 w 160"/>
                  <a:gd name="T9" fmla="*/ 0 h 80"/>
                </a:gdLst>
                <a:ahLst/>
                <a:cxnLst>
                  <a:cxn ang="0">
                    <a:pos x="T0" y="T1"/>
                  </a:cxn>
                  <a:cxn ang="0">
                    <a:pos x="T2" y="T3"/>
                  </a:cxn>
                  <a:cxn ang="0">
                    <a:pos x="T4" y="T5"/>
                  </a:cxn>
                  <a:cxn ang="0">
                    <a:pos x="T6" y="T7"/>
                  </a:cxn>
                  <a:cxn ang="0">
                    <a:pos x="T8" y="T9"/>
                  </a:cxn>
                </a:cxnLst>
                <a:rect l="0" t="0" r="r" b="b"/>
                <a:pathLst>
                  <a:path w="160" h="80">
                    <a:moveTo>
                      <a:pt x="80" y="0"/>
                    </a:moveTo>
                    <a:lnTo>
                      <a:pt x="80" y="0"/>
                    </a:lnTo>
                    <a:cubicBezTo>
                      <a:pt x="36" y="0"/>
                      <a:pt x="0" y="36"/>
                      <a:pt x="0" y="80"/>
                    </a:cubicBezTo>
                    <a:lnTo>
                      <a:pt x="160" y="80"/>
                    </a:lnTo>
                    <a:cubicBezTo>
                      <a:pt x="160" y="36"/>
                      <a:pt x="124" y="0"/>
                      <a:pt x="80" y="0"/>
                    </a:cubicBezTo>
                    <a:close/>
                  </a:path>
                </a:pathLst>
              </a:custGeom>
              <a:solidFill>
                <a:srgbClr val="C1C1C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102" name="Freeform 23">
                <a:extLst>
                  <a:ext uri="{FF2B5EF4-FFF2-40B4-BE49-F238E27FC236}">
                    <a16:creationId xmlns:a16="http://schemas.microsoft.com/office/drawing/2014/main" id="{AE51E9CC-82A5-4BE7-96D4-3EEFC4338755}"/>
                  </a:ext>
                </a:extLst>
              </p:cNvPr>
              <p:cNvSpPr>
                <a:spLocks/>
              </p:cNvSpPr>
              <p:nvPr/>
            </p:nvSpPr>
            <p:spPr bwMode="auto">
              <a:xfrm>
                <a:off x="7284185" y="5270324"/>
                <a:ext cx="122369" cy="88996"/>
              </a:xfrm>
              <a:custGeom>
                <a:avLst/>
                <a:gdLst>
                  <a:gd name="T0" fmla="*/ 0 w 75"/>
                  <a:gd name="T1" fmla="*/ 53 h 53"/>
                  <a:gd name="T2" fmla="*/ 0 w 75"/>
                  <a:gd name="T3" fmla="*/ 53 h 53"/>
                  <a:gd name="T4" fmla="*/ 63 w 75"/>
                  <a:gd name="T5" fmla="*/ 53 h 53"/>
                  <a:gd name="T6" fmla="*/ 63 w 75"/>
                  <a:gd name="T7" fmla="*/ 53 h 53"/>
                  <a:gd name="T8" fmla="*/ 75 w 75"/>
                  <a:gd name="T9" fmla="*/ 5 h 53"/>
                  <a:gd name="T10" fmla="*/ 54 w 75"/>
                  <a:gd name="T11" fmla="*/ 0 h 53"/>
                  <a:gd name="T12" fmla="*/ 0 w 75"/>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75" h="53">
                    <a:moveTo>
                      <a:pt x="0" y="53"/>
                    </a:moveTo>
                    <a:lnTo>
                      <a:pt x="0" y="53"/>
                    </a:lnTo>
                    <a:lnTo>
                      <a:pt x="63" y="53"/>
                    </a:lnTo>
                    <a:lnTo>
                      <a:pt x="63" y="53"/>
                    </a:lnTo>
                    <a:cubicBezTo>
                      <a:pt x="63" y="36"/>
                      <a:pt x="67" y="19"/>
                      <a:pt x="75" y="5"/>
                    </a:cubicBezTo>
                    <a:cubicBezTo>
                      <a:pt x="68" y="2"/>
                      <a:pt x="61" y="0"/>
                      <a:pt x="54" y="0"/>
                    </a:cubicBezTo>
                    <a:cubicBezTo>
                      <a:pt x="24" y="0"/>
                      <a:pt x="0" y="24"/>
                      <a:pt x="0" y="53"/>
                    </a:cubicBezTo>
                    <a:close/>
                  </a:path>
                </a:pathLst>
              </a:custGeom>
              <a:solidFill>
                <a:srgbClr val="C1C1C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103" name="Freeform 24">
                <a:extLst>
                  <a:ext uri="{FF2B5EF4-FFF2-40B4-BE49-F238E27FC236}">
                    <a16:creationId xmlns:a16="http://schemas.microsoft.com/office/drawing/2014/main" id="{39B05C38-301D-48D3-B87D-1DB366CB275D}"/>
                  </a:ext>
                </a:extLst>
              </p:cNvPr>
              <p:cNvSpPr>
                <a:spLocks/>
              </p:cNvSpPr>
              <p:nvPr/>
            </p:nvSpPr>
            <p:spPr bwMode="auto">
              <a:xfrm>
                <a:off x="7306434" y="5116807"/>
                <a:ext cx="133494" cy="133494"/>
              </a:xfrm>
              <a:custGeom>
                <a:avLst/>
                <a:gdLst>
                  <a:gd name="T0" fmla="*/ 40 w 80"/>
                  <a:gd name="T1" fmla="*/ 0 h 80"/>
                  <a:gd name="T2" fmla="*/ 40 w 80"/>
                  <a:gd name="T3" fmla="*/ 0 h 80"/>
                  <a:gd name="T4" fmla="*/ 0 w 80"/>
                  <a:gd name="T5" fmla="*/ 40 h 80"/>
                  <a:gd name="T6" fmla="*/ 14 w 80"/>
                  <a:gd name="T7" fmla="*/ 71 h 80"/>
                  <a:gd name="T8" fmla="*/ 37 w 80"/>
                  <a:gd name="T9" fmla="*/ 80 h 80"/>
                  <a:gd name="T10" fmla="*/ 40 w 80"/>
                  <a:gd name="T11" fmla="*/ 80 h 80"/>
                  <a:gd name="T12" fmla="*/ 42 w 80"/>
                  <a:gd name="T13" fmla="*/ 80 h 80"/>
                  <a:gd name="T14" fmla="*/ 65 w 80"/>
                  <a:gd name="T15" fmla="*/ 71 h 80"/>
                  <a:gd name="T16" fmla="*/ 80 w 80"/>
                  <a:gd name="T17" fmla="*/ 40 h 80"/>
                  <a:gd name="T18" fmla="*/ 40 w 80"/>
                  <a:gd name="T1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40" y="0"/>
                    </a:moveTo>
                    <a:lnTo>
                      <a:pt x="40" y="0"/>
                    </a:lnTo>
                    <a:cubicBezTo>
                      <a:pt x="17" y="0"/>
                      <a:pt x="0" y="18"/>
                      <a:pt x="0" y="40"/>
                    </a:cubicBezTo>
                    <a:cubicBezTo>
                      <a:pt x="0" y="53"/>
                      <a:pt x="5" y="63"/>
                      <a:pt x="14" y="71"/>
                    </a:cubicBezTo>
                    <a:cubicBezTo>
                      <a:pt x="20" y="76"/>
                      <a:pt x="28" y="80"/>
                      <a:pt x="37" y="80"/>
                    </a:cubicBezTo>
                    <a:cubicBezTo>
                      <a:pt x="38" y="80"/>
                      <a:pt x="39" y="80"/>
                      <a:pt x="40" y="80"/>
                    </a:cubicBezTo>
                    <a:cubicBezTo>
                      <a:pt x="40" y="80"/>
                      <a:pt x="41" y="80"/>
                      <a:pt x="42" y="80"/>
                    </a:cubicBezTo>
                    <a:cubicBezTo>
                      <a:pt x="51" y="80"/>
                      <a:pt x="59" y="76"/>
                      <a:pt x="65" y="71"/>
                    </a:cubicBezTo>
                    <a:cubicBezTo>
                      <a:pt x="74" y="63"/>
                      <a:pt x="80" y="53"/>
                      <a:pt x="80" y="40"/>
                    </a:cubicBezTo>
                    <a:cubicBezTo>
                      <a:pt x="80" y="18"/>
                      <a:pt x="62" y="0"/>
                      <a:pt x="40" y="0"/>
                    </a:cubicBezTo>
                    <a:close/>
                  </a:path>
                </a:pathLst>
              </a:custGeom>
              <a:solidFill>
                <a:srgbClr val="C1C1C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105" name="Freeform 25">
                <a:extLst>
                  <a:ext uri="{FF2B5EF4-FFF2-40B4-BE49-F238E27FC236}">
                    <a16:creationId xmlns:a16="http://schemas.microsoft.com/office/drawing/2014/main" id="{5105C026-40FF-4CB1-8B27-3D262FE06F98}"/>
                  </a:ext>
                </a:extLst>
              </p:cNvPr>
              <p:cNvSpPr>
                <a:spLocks/>
              </p:cNvSpPr>
              <p:nvPr/>
            </p:nvSpPr>
            <p:spPr bwMode="auto">
              <a:xfrm>
                <a:off x="7684666" y="5094558"/>
                <a:ext cx="220265" cy="220264"/>
              </a:xfrm>
              <a:custGeom>
                <a:avLst/>
                <a:gdLst>
                  <a:gd name="T0" fmla="*/ 80 w 133"/>
                  <a:gd name="T1" fmla="*/ 53 h 133"/>
                  <a:gd name="T2" fmla="*/ 80 w 133"/>
                  <a:gd name="T3" fmla="*/ 53 h 133"/>
                  <a:gd name="T4" fmla="*/ 80 w 133"/>
                  <a:gd name="T5" fmla="*/ 0 h 133"/>
                  <a:gd name="T6" fmla="*/ 53 w 133"/>
                  <a:gd name="T7" fmla="*/ 0 h 133"/>
                  <a:gd name="T8" fmla="*/ 53 w 133"/>
                  <a:gd name="T9" fmla="*/ 53 h 133"/>
                  <a:gd name="T10" fmla="*/ 0 w 133"/>
                  <a:gd name="T11" fmla="*/ 53 h 133"/>
                  <a:gd name="T12" fmla="*/ 0 w 133"/>
                  <a:gd name="T13" fmla="*/ 80 h 133"/>
                  <a:gd name="T14" fmla="*/ 53 w 133"/>
                  <a:gd name="T15" fmla="*/ 80 h 133"/>
                  <a:gd name="T16" fmla="*/ 53 w 133"/>
                  <a:gd name="T17" fmla="*/ 80 h 133"/>
                  <a:gd name="T18" fmla="*/ 53 w 133"/>
                  <a:gd name="T19" fmla="*/ 133 h 133"/>
                  <a:gd name="T20" fmla="*/ 80 w 133"/>
                  <a:gd name="T21" fmla="*/ 133 h 133"/>
                  <a:gd name="T22" fmla="*/ 80 w 133"/>
                  <a:gd name="T23" fmla="*/ 80 h 133"/>
                  <a:gd name="T24" fmla="*/ 80 w 133"/>
                  <a:gd name="T25" fmla="*/ 80 h 133"/>
                  <a:gd name="T26" fmla="*/ 133 w 133"/>
                  <a:gd name="T27" fmla="*/ 80 h 133"/>
                  <a:gd name="T28" fmla="*/ 133 w 133"/>
                  <a:gd name="T29" fmla="*/ 53 h 133"/>
                  <a:gd name="T30" fmla="*/ 80 w 133"/>
                  <a:gd name="T31" fmla="*/ 5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3" h="133">
                    <a:moveTo>
                      <a:pt x="80" y="53"/>
                    </a:moveTo>
                    <a:lnTo>
                      <a:pt x="80" y="53"/>
                    </a:lnTo>
                    <a:lnTo>
                      <a:pt x="80" y="0"/>
                    </a:lnTo>
                    <a:lnTo>
                      <a:pt x="53" y="0"/>
                    </a:lnTo>
                    <a:lnTo>
                      <a:pt x="53" y="53"/>
                    </a:lnTo>
                    <a:lnTo>
                      <a:pt x="0" y="53"/>
                    </a:lnTo>
                    <a:lnTo>
                      <a:pt x="0" y="80"/>
                    </a:lnTo>
                    <a:lnTo>
                      <a:pt x="53" y="80"/>
                    </a:lnTo>
                    <a:lnTo>
                      <a:pt x="53" y="80"/>
                    </a:lnTo>
                    <a:lnTo>
                      <a:pt x="53" y="133"/>
                    </a:lnTo>
                    <a:lnTo>
                      <a:pt x="80" y="133"/>
                    </a:lnTo>
                    <a:lnTo>
                      <a:pt x="80" y="80"/>
                    </a:lnTo>
                    <a:lnTo>
                      <a:pt x="80" y="80"/>
                    </a:lnTo>
                    <a:lnTo>
                      <a:pt x="133" y="80"/>
                    </a:lnTo>
                    <a:lnTo>
                      <a:pt x="133" y="53"/>
                    </a:lnTo>
                    <a:lnTo>
                      <a:pt x="80" y="53"/>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UI Semibold"/>
                  <a:ea typeface="+mn-ea"/>
                  <a:cs typeface="+mn-cs"/>
                </a:endParaRPr>
              </a:p>
            </p:txBody>
          </p:sp>
        </p:grpSp>
      </p:grpSp>
      <p:sp>
        <p:nvSpPr>
          <p:cNvPr id="177" name="TextBox 176">
            <a:extLst>
              <a:ext uri="{FF2B5EF4-FFF2-40B4-BE49-F238E27FC236}">
                <a16:creationId xmlns:a16="http://schemas.microsoft.com/office/drawing/2014/main" id="{C938D534-A1DF-42DA-BEC8-0BB855385A93}"/>
              </a:ext>
            </a:extLst>
          </p:cNvPr>
          <p:cNvSpPr txBox="1"/>
          <p:nvPr/>
        </p:nvSpPr>
        <p:spPr>
          <a:xfrm>
            <a:off x="6886256" y="2246875"/>
            <a:ext cx="2301411" cy="61555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Semibold"/>
                <a:ea typeface="+mn-ea"/>
                <a:cs typeface="+mn-cs"/>
              </a:rPr>
              <a:t>Infrastructure Changes</a:t>
            </a:r>
          </a:p>
        </p:txBody>
      </p:sp>
      <p:sp>
        <p:nvSpPr>
          <p:cNvPr id="182" name="TextBox 181">
            <a:extLst>
              <a:ext uri="{FF2B5EF4-FFF2-40B4-BE49-F238E27FC236}">
                <a16:creationId xmlns:a16="http://schemas.microsoft.com/office/drawing/2014/main" id="{9D4EA03D-AA4F-45A0-B9CC-152F643B06BE}"/>
              </a:ext>
            </a:extLst>
          </p:cNvPr>
          <p:cNvSpPr txBox="1"/>
          <p:nvPr/>
        </p:nvSpPr>
        <p:spPr>
          <a:xfrm>
            <a:off x="6886256" y="5297445"/>
            <a:ext cx="2301411" cy="61555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Semibold"/>
                <a:ea typeface="+mn-ea"/>
                <a:cs typeface="+mn-cs"/>
              </a:rPr>
              <a:t>Cost and Pricing Optimization</a:t>
            </a:r>
          </a:p>
        </p:txBody>
      </p:sp>
      <p:sp>
        <p:nvSpPr>
          <p:cNvPr id="5" name="Rectangle 4">
            <a:extLst>
              <a:ext uri="{FF2B5EF4-FFF2-40B4-BE49-F238E27FC236}">
                <a16:creationId xmlns:a16="http://schemas.microsoft.com/office/drawing/2014/main" id="{AFDFC5A6-D803-494C-B293-C161859CE3E0}"/>
              </a:ext>
            </a:extLst>
          </p:cNvPr>
          <p:cNvSpPr/>
          <p:nvPr/>
        </p:nvSpPr>
        <p:spPr>
          <a:xfrm>
            <a:off x="254097" y="1235370"/>
            <a:ext cx="3325125" cy="401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mn-cs"/>
              </a:rPr>
              <a:t>A Cloud Center of Excellence(CCoE)</a:t>
            </a:r>
          </a:p>
        </p:txBody>
      </p:sp>
      <p:sp>
        <p:nvSpPr>
          <p:cNvPr id="10" name="Rectangle 9">
            <a:extLst>
              <a:ext uri="{FF2B5EF4-FFF2-40B4-BE49-F238E27FC236}">
                <a16:creationId xmlns:a16="http://schemas.microsoft.com/office/drawing/2014/main" id="{24FAADC7-53FB-49D8-82BA-66921FFFB037}"/>
              </a:ext>
            </a:extLst>
          </p:cNvPr>
          <p:cNvSpPr/>
          <p:nvPr/>
        </p:nvSpPr>
        <p:spPr>
          <a:xfrm>
            <a:off x="3939509" y="1235370"/>
            <a:ext cx="8078263" cy="401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Segoe UI Semibold"/>
                <a:ea typeface="+mn-ea"/>
                <a:cs typeface="+mn-cs"/>
              </a:rPr>
              <a:t>FinOps Stakeholders</a:t>
            </a:r>
          </a:p>
        </p:txBody>
      </p:sp>
      <p:sp>
        <p:nvSpPr>
          <p:cNvPr id="68" name="light" title="Icon of a lightbulb">
            <a:hlinkClick r:id="" action="ppaction://noaction"/>
            <a:extLst>
              <a:ext uri="{FF2B5EF4-FFF2-40B4-BE49-F238E27FC236}">
                <a16:creationId xmlns:a16="http://schemas.microsoft.com/office/drawing/2014/main" id="{6B652699-AC84-449C-901D-77D9C36663A9}"/>
              </a:ext>
            </a:extLst>
          </p:cNvPr>
          <p:cNvSpPr>
            <a:spLocks noChangeAspect="1" noEditPoints="1"/>
          </p:cNvSpPr>
          <p:nvPr/>
        </p:nvSpPr>
        <p:spPr bwMode="auto">
          <a:xfrm>
            <a:off x="920170" y="4049523"/>
            <a:ext cx="246359" cy="365760"/>
          </a:xfrm>
          <a:custGeom>
            <a:avLst/>
            <a:gdLst>
              <a:gd name="T0" fmla="*/ 156 w 224"/>
              <a:gd name="T1" fmla="*/ 312 h 334"/>
              <a:gd name="T2" fmla="*/ 134 w 224"/>
              <a:gd name="T3" fmla="*/ 334 h 334"/>
              <a:gd name="T4" fmla="*/ 89 w 224"/>
              <a:gd name="T5" fmla="*/ 334 h 334"/>
              <a:gd name="T6" fmla="*/ 67 w 224"/>
              <a:gd name="T7" fmla="*/ 312 h 334"/>
              <a:gd name="T8" fmla="*/ 67 w 224"/>
              <a:gd name="T9" fmla="*/ 261 h 334"/>
              <a:gd name="T10" fmla="*/ 37 w 224"/>
              <a:gd name="T11" fmla="*/ 195 h 334"/>
              <a:gd name="T12" fmla="*/ 27 w 224"/>
              <a:gd name="T13" fmla="*/ 185 h 334"/>
              <a:gd name="T14" fmla="*/ 0 w 224"/>
              <a:gd name="T15" fmla="*/ 112 h 334"/>
              <a:gd name="T16" fmla="*/ 112 w 224"/>
              <a:gd name="T17" fmla="*/ 0 h 334"/>
              <a:gd name="T18" fmla="*/ 224 w 224"/>
              <a:gd name="T19" fmla="*/ 112 h 334"/>
              <a:gd name="T20" fmla="*/ 197 w 224"/>
              <a:gd name="T21" fmla="*/ 185 h 334"/>
              <a:gd name="T22" fmla="*/ 200 w 224"/>
              <a:gd name="T23" fmla="*/ 181 h 334"/>
              <a:gd name="T24" fmla="*/ 197 w 224"/>
              <a:gd name="T25" fmla="*/ 185 h 334"/>
              <a:gd name="T26" fmla="*/ 156 w 224"/>
              <a:gd name="T27" fmla="*/ 265 h 334"/>
              <a:gd name="T28" fmla="*/ 156 w 224"/>
              <a:gd name="T29" fmla="*/ 312 h 334"/>
              <a:gd name="T30" fmla="*/ 156 w 224"/>
              <a:gd name="T31" fmla="*/ 312 h 334"/>
              <a:gd name="T32" fmla="*/ 67 w 224"/>
              <a:gd name="T33" fmla="*/ 269 h 334"/>
              <a:gd name="T34" fmla="*/ 156 w 224"/>
              <a:gd name="T35" fmla="*/ 26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4" h="334">
                <a:moveTo>
                  <a:pt x="156" y="312"/>
                </a:moveTo>
                <a:cubicBezTo>
                  <a:pt x="156" y="324"/>
                  <a:pt x="146" y="334"/>
                  <a:pt x="134" y="334"/>
                </a:cubicBezTo>
                <a:cubicBezTo>
                  <a:pt x="89" y="334"/>
                  <a:pt x="89" y="334"/>
                  <a:pt x="89" y="334"/>
                </a:cubicBezTo>
                <a:cubicBezTo>
                  <a:pt x="76" y="334"/>
                  <a:pt x="67" y="324"/>
                  <a:pt x="67" y="312"/>
                </a:cubicBezTo>
                <a:cubicBezTo>
                  <a:pt x="67" y="312"/>
                  <a:pt x="67" y="300"/>
                  <a:pt x="67" y="261"/>
                </a:cubicBezTo>
                <a:cubicBezTo>
                  <a:pt x="67" y="221"/>
                  <a:pt x="37" y="195"/>
                  <a:pt x="37" y="195"/>
                </a:cubicBezTo>
                <a:cubicBezTo>
                  <a:pt x="27" y="185"/>
                  <a:pt x="27" y="185"/>
                  <a:pt x="27" y="185"/>
                </a:cubicBezTo>
                <a:cubicBezTo>
                  <a:pt x="10" y="166"/>
                  <a:pt x="0" y="140"/>
                  <a:pt x="0" y="112"/>
                </a:cubicBezTo>
                <a:cubicBezTo>
                  <a:pt x="0" y="50"/>
                  <a:pt x="50" y="0"/>
                  <a:pt x="112" y="0"/>
                </a:cubicBezTo>
                <a:cubicBezTo>
                  <a:pt x="174" y="0"/>
                  <a:pt x="224" y="50"/>
                  <a:pt x="224" y="112"/>
                </a:cubicBezTo>
                <a:cubicBezTo>
                  <a:pt x="224" y="140"/>
                  <a:pt x="214" y="166"/>
                  <a:pt x="197" y="185"/>
                </a:cubicBezTo>
                <a:moveTo>
                  <a:pt x="200" y="181"/>
                </a:moveTo>
                <a:cubicBezTo>
                  <a:pt x="197" y="185"/>
                  <a:pt x="197" y="185"/>
                  <a:pt x="197" y="185"/>
                </a:cubicBezTo>
                <a:cubicBezTo>
                  <a:pt x="197" y="185"/>
                  <a:pt x="156" y="217"/>
                  <a:pt x="156" y="265"/>
                </a:cubicBezTo>
                <a:cubicBezTo>
                  <a:pt x="156" y="312"/>
                  <a:pt x="156" y="312"/>
                  <a:pt x="156" y="312"/>
                </a:cubicBezTo>
                <a:cubicBezTo>
                  <a:pt x="156" y="312"/>
                  <a:pt x="156" y="312"/>
                  <a:pt x="156" y="312"/>
                </a:cubicBezTo>
                <a:moveTo>
                  <a:pt x="67" y="269"/>
                </a:moveTo>
                <a:cubicBezTo>
                  <a:pt x="156" y="269"/>
                  <a:pt x="156" y="269"/>
                  <a:pt x="156" y="269"/>
                </a:cubicBez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mn-cs"/>
            </a:endParaRPr>
          </a:p>
        </p:txBody>
      </p:sp>
      <p:sp>
        <p:nvSpPr>
          <p:cNvPr id="60" name="TextBox 59">
            <a:extLst>
              <a:ext uri="{FF2B5EF4-FFF2-40B4-BE49-F238E27FC236}">
                <a16:creationId xmlns:a16="http://schemas.microsoft.com/office/drawing/2014/main" id="{5E50A425-B9FB-4907-BC2B-2E1D534CC401}"/>
              </a:ext>
            </a:extLst>
          </p:cNvPr>
          <p:cNvSpPr txBox="1"/>
          <p:nvPr/>
        </p:nvSpPr>
        <p:spPr>
          <a:xfrm>
            <a:off x="556899" y="6530492"/>
            <a:ext cx="6094562" cy="246221"/>
          </a:xfrm>
          <a:prstGeom prst="rect">
            <a:avLst/>
          </a:prstGeom>
          <a:noFill/>
        </p:spPr>
        <p:txBody>
          <a:bodyPr wrap="square">
            <a:spAutoFit/>
          </a:bodyPr>
          <a:lstStyle>
            <a:defPPr>
              <a:defRPr lang="en-US"/>
            </a:defPPr>
            <a:lvl1pPr>
              <a:defRPr sz="9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Reference: </a:t>
            </a:r>
            <a:r>
              <a:rPr kumimoji="0" lang="en-US" sz="1000" b="0" i="0" u="none" strike="noStrike" kern="1200" cap="none" spc="0" normalizeH="0" baseline="0" noProof="0">
                <a:ln>
                  <a:noFill/>
                </a:ln>
                <a:solidFill>
                  <a:srgbClr val="000000"/>
                </a:solidFill>
                <a:effectLst/>
                <a:uLnTx/>
                <a:uFillTx/>
                <a:latin typeface="Segoe UI"/>
                <a:ea typeface="+mn-ea"/>
                <a:cs typeface="+mn-cs"/>
                <a:hlinkClick r:id="rId3"/>
              </a:rPr>
              <a:t>What is Finops/FinOps Team Structure </a:t>
            </a:r>
            <a:r>
              <a:rPr kumimoji="0" lang="en-US" sz="1000" b="0" i="0" u="none" strike="noStrike" kern="1200" cap="none" spc="0" normalizeH="0" baseline="0" noProof="0">
                <a:ln>
                  <a:noFill/>
                </a:ln>
                <a:solidFill>
                  <a:srgbClr val="000000"/>
                </a:solidFill>
                <a:effectLst/>
                <a:uLnTx/>
                <a:uFillTx/>
                <a:latin typeface="Segoe UI"/>
                <a:ea typeface="+mn-ea"/>
                <a:cs typeface="+mn-cs"/>
              </a:rPr>
              <a:t>by </a:t>
            </a:r>
            <a:r>
              <a:rPr kumimoji="0" lang="en-US" sz="1000" b="0" i="0" u="none" strike="noStrike" kern="1200" cap="none" spc="0" normalizeH="0" baseline="0" noProof="0">
                <a:ln>
                  <a:noFill/>
                </a:ln>
                <a:solidFill>
                  <a:srgbClr val="000000"/>
                </a:solidFill>
                <a:effectLst/>
                <a:uLnTx/>
                <a:uFillTx/>
                <a:latin typeface="Segoe UI"/>
                <a:ea typeface="+mn-ea"/>
                <a:cs typeface="+mn-cs"/>
                <a:hlinkClick r:id="rId4"/>
              </a:rPr>
              <a:t>Finops Foundation</a:t>
            </a:r>
            <a:r>
              <a:rPr kumimoji="0" lang="en-US" sz="1000" b="0" i="0" u="none" strike="noStrike" kern="1200" cap="none" spc="0" normalizeH="0" baseline="0" noProof="0">
                <a:ln>
                  <a:noFill/>
                </a:ln>
                <a:solidFill>
                  <a:srgbClr val="000000"/>
                </a:solidFill>
                <a:effectLst/>
                <a:uLnTx/>
                <a:uFillTx/>
                <a:latin typeface="Segoe UI"/>
                <a:ea typeface="+mn-ea"/>
                <a:cs typeface="+mn-cs"/>
              </a:rPr>
              <a:t> (</a:t>
            </a:r>
            <a:r>
              <a:rPr kumimoji="0" lang="en-US" sz="1000" b="0" i="0" u="none" strike="noStrike" kern="1200" cap="none" spc="0" normalizeH="0" baseline="0" noProof="0">
                <a:ln>
                  <a:noFill/>
                </a:ln>
                <a:solidFill>
                  <a:srgbClr val="000000"/>
                </a:solidFill>
                <a:effectLst/>
                <a:uLnTx/>
                <a:uFillTx/>
                <a:latin typeface="Segoe UI"/>
                <a:ea typeface="+mn-ea"/>
                <a:cs typeface="+mn-cs"/>
                <a:hlinkClick r:id="rId5"/>
              </a:rPr>
              <a:t>www.finops.org</a:t>
            </a:r>
            <a:r>
              <a:rPr kumimoji="0" lang="en-US" sz="1000" b="0" i="0" u="none" strike="noStrike" kern="1200" cap="none" spc="0" normalizeH="0" baseline="0" noProof="0">
                <a:ln>
                  <a:noFill/>
                </a:ln>
                <a:solidFill>
                  <a:srgbClr val="000000"/>
                </a:solidFill>
                <a:effectLst/>
                <a:uLnTx/>
                <a:uFillTx/>
                <a:latin typeface="Segoe UI"/>
                <a:ea typeface="+mn-ea"/>
                <a:cs typeface="+mn-cs"/>
              </a:rPr>
              <a:t>)</a:t>
            </a:r>
          </a:p>
        </p:txBody>
      </p:sp>
      <p:grpSp>
        <p:nvGrpSpPr>
          <p:cNvPr id="62" name="Group 61">
            <a:extLst>
              <a:ext uri="{FF2B5EF4-FFF2-40B4-BE49-F238E27FC236}">
                <a16:creationId xmlns:a16="http://schemas.microsoft.com/office/drawing/2014/main" id="{F80284EE-F606-4F1C-904B-179C92BCB29E}"/>
              </a:ext>
            </a:extLst>
          </p:cNvPr>
          <p:cNvGrpSpPr/>
          <p:nvPr/>
        </p:nvGrpSpPr>
        <p:grpSpPr>
          <a:xfrm rot="10800000">
            <a:off x="9710068" y="3770677"/>
            <a:ext cx="418454" cy="418454"/>
            <a:chOff x="3249184" y="4225962"/>
            <a:chExt cx="418454" cy="418454"/>
          </a:xfrm>
        </p:grpSpPr>
        <p:grpSp>
          <p:nvGrpSpPr>
            <p:cNvPr id="65" name="Group 64">
              <a:extLst>
                <a:ext uri="{FF2B5EF4-FFF2-40B4-BE49-F238E27FC236}">
                  <a16:creationId xmlns:a16="http://schemas.microsoft.com/office/drawing/2014/main" id="{241B8D6C-F07E-4AEB-9011-2242D017EF39}"/>
                </a:ext>
              </a:extLst>
            </p:cNvPr>
            <p:cNvGrpSpPr/>
            <p:nvPr/>
          </p:nvGrpSpPr>
          <p:grpSpPr>
            <a:xfrm>
              <a:off x="3249184" y="4225962"/>
              <a:ext cx="418454" cy="418454"/>
              <a:chOff x="3435997" y="4057650"/>
              <a:chExt cx="418454" cy="418454"/>
            </a:xfrm>
          </p:grpSpPr>
          <p:sp>
            <p:nvSpPr>
              <p:cNvPr id="72" name="Oval 71">
                <a:extLst>
                  <a:ext uri="{FF2B5EF4-FFF2-40B4-BE49-F238E27FC236}">
                    <a16:creationId xmlns:a16="http://schemas.microsoft.com/office/drawing/2014/main" id="{DCDB9DF2-C7FE-4A76-B2A9-195C8BB8DAE4}"/>
                  </a:ext>
                </a:extLst>
              </p:cNvPr>
              <p:cNvSpPr/>
              <p:nvPr/>
            </p:nvSpPr>
            <p:spPr bwMode="auto">
              <a:xfrm>
                <a:off x="3435997" y="4057650"/>
                <a:ext cx="418454" cy="418454"/>
              </a:xfrm>
              <a:prstGeom prst="ellipse">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73" name="Oval 72">
                <a:extLst>
                  <a:ext uri="{FF2B5EF4-FFF2-40B4-BE49-F238E27FC236}">
                    <a16:creationId xmlns:a16="http://schemas.microsoft.com/office/drawing/2014/main" id="{DAB44EBA-E296-4196-AEE0-18B216A3C0E8}"/>
                  </a:ext>
                </a:extLst>
              </p:cNvPr>
              <p:cNvSpPr/>
              <p:nvPr/>
            </p:nvSpPr>
            <p:spPr bwMode="auto">
              <a:xfrm>
                <a:off x="3467101" y="4088754"/>
                <a:ext cx="356246" cy="356246"/>
              </a:xfrm>
              <a:prstGeom prst="ellipse">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grpSp>
          <p:nvGrpSpPr>
            <p:cNvPr id="69" name="Group 68">
              <a:extLst>
                <a:ext uri="{FF2B5EF4-FFF2-40B4-BE49-F238E27FC236}">
                  <a16:creationId xmlns:a16="http://schemas.microsoft.com/office/drawing/2014/main" id="{DB43D40F-D80F-4DC1-80CF-10AE3E02C884}"/>
                </a:ext>
              </a:extLst>
            </p:cNvPr>
            <p:cNvGrpSpPr/>
            <p:nvPr/>
          </p:nvGrpSpPr>
          <p:grpSpPr>
            <a:xfrm>
              <a:off x="3368866" y="4347877"/>
              <a:ext cx="206696" cy="174625"/>
              <a:chOff x="3555679" y="4179565"/>
              <a:chExt cx="206696" cy="174625"/>
            </a:xfrm>
          </p:grpSpPr>
          <p:sp>
            <p:nvSpPr>
              <p:cNvPr id="70" name="Arrow: Chevron 69">
                <a:extLst>
                  <a:ext uri="{FF2B5EF4-FFF2-40B4-BE49-F238E27FC236}">
                    <a16:creationId xmlns:a16="http://schemas.microsoft.com/office/drawing/2014/main" id="{BB844E7A-CE03-436F-B8E3-91445401A0F2}"/>
                  </a:ext>
                </a:extLst>
              </p:cNvPr>
              <p:cNvSpPr/>
              <p:nvPr/>
            </p:nvSpPr>
            <p:spPr bwMode="auto">
              <a:xfrm>
                <a:off x="3587750" y="4179565"/>
                <a:ext cx="174625" cy="174625"/>
              </a:xfrm>
              <a:prstGeom prst="chevr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71" name="Arrow: Chevron 70">
                <a:extLst>
                  <a:ext uri="{FF2B5EF4-FFF2-40B4-BE49-F238E27FC236}">
                    <a16:creationId xmlns:a16="http://schemas.microsoft.com/office/drawing/2014/main" id="{C1E03FB2-7A04-4687-81A1-D62B04CBD5DB}"/>
                  </a:ext>
                </a:extLst>
              </p:cNvPr>
              <p:cNvSpPr/>
              <p:nvPr/>
            </p:nvSpPr>
            <p:spPr bwMode="auto">
              <a:xfrm>
                <a:off x="3555679" y="4204642"/>
                <a:ext cx="124470" cy="124472"/>
              </a:xfrm>
              <a:prstGeom prst="chevron">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grpSp>
      <p:pic>
        <p:nvPicPr>
          <p:cNvPr id="2050" name="Picture 2" descr="Logo&#10;&#10;Description automatically generated">
            <a:extLst>
              <a:ext uri="{FF2B5EF4-FFF2-40B4-BE49-F238E27FC236}">
                <a16:creationId xmlns:a16="http://schemas.microsoft.com/office/drawing/2014/main" id="{F1EE436B-D0D7-4AB8-86F9-A899FA4920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34074" y="3559285"/>
            <a:ext cx="1468920" cy="785872"/>
          </a:xfrm>
          <a:prstGeom prst="rect">
            <a:avLst/>
          </a:prstGeom>
          <a:noFill/>
        </p:spPr>
      </p:pic>
    </p:spTree>
    <p:extLst>
      <p:ext uri="{BB962C8B-B14F-4D97-AF65-F5344CB8AC3E}">
        <p14:creationId xmlns:p14="http://schemas.microsoft.com/office/powerpoint/2010/main" val="347160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66449471-E56F-40F3-BAB8-97A1A24D580F}"/>
              </a:ext>
            </a:extLst>
          </p:cNvPr>
          <p:cNvGrpSpPr/>
          <p:nvPr/>
        </p:nvGrpSpPr>
        <p:grpSpPr>
          <a:xfrm>
            <a:off x="56958" y="36286"/>
            <a:ext cx="7177315" cy="6792685"/>
            <a:chOff x="58056" y="65315"/>
            <a:chExt cx="7177315" cy="6792685"/>
          </a:xfrm>
        </p:grpSpPr>
        <p:grpSp>
          <p:nvGrpSpPr>
            <p:cNvPr id="56" name="Group 55">
              <a:extLst>
                <a:ext uri="{FF2B5EF4-FFF2-40B4-BE49-F238E27FC236}">
                  <a16:creationId xmlns:a16="http://schemas.microsoft.com/office/drawing/2014/main" id="{A972A1DC-6329-4F29-B970-FCB6111E6A76}"/>
                </a:ext>
                <a:ext uri="{C183D7F6-B498-43B3-948B-1728B52AA6E4}">
                  <adec:decorative xmlns:adec="http://schemas.microsoft.com/office/drawing/2017/decorative" val="1"/>
                </a:ext>
              </a:extLst>
            </p:cNvPr>
            <p:cNvGrpSpPr/>
            <p:nvPr/>
          </p:nvGrpSpPr>
          <p:grpSpPr>
            <a:xfrm>
              <a:off x="58056" y="65315"/>
              <a:ext cx="7177315" cy="6792685"/>
              <a:chOff x="165100" y="1952598"/>
              <a:chExt cx="4388960" cy="4388960"/>
            </a:xfrm>
          </p:grpSpPr>
          <p:sp>
            <p:nvSpPr>
              <p:cNvPr id="57" name="Oval 56">
                <a:extLst>
                  <a:ext uri="{FF2B5EF4-FFF2-40B4-BE49-F238E27FC236}">
                    <a16:creationId xmlns:a16="http://schemas.microsoft.com/office/drawing/2014/main" id="{832E5822-C028-4CF6-8C5E-EE3E013C5A63}"/>
                  </a:ext>
                </a:extLst>
              </p:cNvPr>
              <p:cNvSpPr/>
              <p:nvPr/>
            </p:nvSpPr>
            <p:spPr>
              <a:xfrm>
                <a:off x="165100" y="1952598"/>
                <a:ext cx="4388960" cy="4388960"/>
              </a:xfrm>
              <a:prstGeom prst="ellipse">
                <a:avLst/>
              </a:prstGeom>
              <a:solidFill>
                <a:schemeClr val="bg1"/>
              </a:solidFill>
              <a:ln w="6350">
                <a:noFill/>
              </a:ln>
              <a:effectLst>
                <a:outerShdw blurRad="127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46304" rIns="182880" bIns="146304"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cxnSp>
            <p:nvCxnSpPr>
              <p:cNvPr id="61" name="Straight Connector 60">
                <a:extLst>
                  <a:ext uri="{FF2B5EF4-FFF2-40B4-BE49-F238E27FC236}">
                    <a16:creationId xmlns:a16="http://schemas.microsoft.com/office/drawing/2014/main" id="{C0772E37-3E5A-496D-AA63-8310206E1AF6}"/>
                  </a:ext>
                </a:extLst>
              </p:cNvPr>
              <p:cNvCxnSpPr>
                <a:cxnSpLocks/>
              </p:cNvCxnSpPr>
              <p:nvPr/>
            </p:nvCxnSpPr>
            <p:spPr>
              <a:xfrm>
                <a:off x="2359580" y="1954645"/>
                <a:ext cx="0" cy="2375893"/>
              </a:xfrm>
              <a:prstGeom prst="line">
                <a:avLst/>
              </a:prstGeom>
              <a:noFill/>
              <a:ln w="19050" cap="flat" cmpd="sng" algn="ctr">
                <a:solidFill>
                  <a:schemeClr val="accent1">
                    <a:lumMod val="90000"/>
                  </a:schemeClr>
                </a:solidFill>
                <a:prstDash val="solid"/>
                <a:headEnd type="none" w="lg" len="med"/>
                <a:tailEnd type="none" w="lg" len="med"/>
              </a:ln>
              <a:effectLst/>
            </p:spPr>
          </p:cxnSp>
          <p:cxnSp>
            <p:nvCxnSpPr>
              <p:cNvPr id="62" name="Straight Connector 61">
                <a:extLst>
                  <a:ext uri="{FF2B5EF4-FFF2-40B4-BE49-F238E27FC236}">
                    <a16:creationId xmlns:a16="http://schemas.microsoft.com/office/drawing/2014/main" id="{231A3F9B-C165-473E-8DA8-504519EAECB7}"/>
                  </a:ext>
                </a:extLst>
              </p:cNvPr>
              <p:cNvCxnSpPr>
                <a:cxnSpLocks/>
              </p:cNvCxnSpPr>
              <p:nvPr/>
            </p:nvCxnSpPr>
            <p:spPr>
              <a:xfrm flipH="1" flipV="1">
                <a:off x="2442873" y="3934808"/>
                <a:ext cx="1792382" cy="1224257"/>
              </a:xfrm>
              <a:prstGeom prst="line">
                <a:avLst/>
              </a:prstGeom>
              <a:noFill/>
              <a:ln w="19050" cap="flat" cmpd="sng" algn="ctr">
                <a:solidFill>
                  <a:schemeClr val="accent1">
                    <a:lumMod val="90000"/>
                  </a:schemeClr>
                </a:solidFill>
                <a:prstDash val="solid"/>
                <a:headEnd type="none" w="lg" len="med"/>
                <a:tailEnd type="none" w="lg" len="med"/>
              </a:ln>
              <a:effectLst/>
            </p:spPr>
          </p:cxnSp>
          <p:cxnSp>
            <p:nvCxnSpPr>
              <p:cNvPr id="63" name="Straight Connector 62">
                <a:extLst>
                  <a:ext uri="{FF2B5EF4-FFF2-40B4-BE49-F238E27FC236}">
                    <a16:creationId xmlns:a16="http://schemas.microsoft.com/office/drawing/2014/main" id="{225476E7-BF9E-44C8-BE5F-233DC203C9DC}"/>
                  </a:ext>
                </a:extLst>
              </p:cNvPr>
              <p:cNvCxnSpPr>
                <a:cxnSpLocks/>
              </p:cNvCxnSpPr>
              <p:nvPr/>
            </p:nvCxnSpPr>
            <p:spPr>
              <a:xfrm flipV="1">
                <a:off x="452929" y="4007486"/>
                <a:ext cx="1792382" cy="1224257"/>
              </a:xfrm>
              <a:prstGeom prst="line">
                <a:avLst/>
              </a:prstGeom>
              <a:noFill/>
              <a:ln w="19050" cap="flat" cmpd="sng" algn="ctr">
                <a:solidFill>
                  <a:schemeClr val="accent1">
                    <a:lumMod val="90000"/>
                  </a:schemeClr>
                </a:solidFill>
                <a:prstDash val="solid"/>
                <a:headEnd type="none" w="lg" len="med"/>
                <a:tailEnd type="none" w="lg" len="med"/>
              </a:ln>
              <a:effectLst/>
            </p:spPr>
          </p:cxnSp>
          <p:sp>
            <p:nvSpPr>
              <p:cNvPr id="65" name="Oval 64">
                <a:extLst>
                  <a:ext uri="{FF2B5EF4-FFF2-40B4-BE49-F238E27FC236}">
                    <a16:creationId xmlns:a16="http://schemas.microsoft.com/office/drawing/2014/main" id="{C917B750-BA13-41E5-8EC3-06E421F5D397}"/>
                  </a:ext>
                </a:extLst>
              </p:cNvPr>
              <p:cNvSpPr/>
              <p:nvPr/>
            </p:nvSpPr>
            <p:spPr bwMode="auto">
              <a:xfrm>
                <a:off x="1556470" y="3360357"/>
                <a:ext cx="1567034" cy="1595659"/>
              </a:xfrm>
              <a:prstGeom prst="ellipse">
                <a:avLst/>
              </a:prstGeom>
              <a:solidFill>
                <a:schemeClr val="accent1"/>
              </a:solidFill>
              <a:ln w="10795" cap="flat" cmpd="sng" algn="ctr">
                <a:noFill/>
                <a:prstDash val="solid"/>
                <a:headEnd type="none" w="med" len="med"/>
                <a:tailEnd type="none" w="med" len="med"/>
              </a:ln>
              <a:effectLst/>
            </p:spPr>
            <p:txBody>
              <a:bodyPr vert="horz" wrap="square" lIns="0" tIns="46630" rIns="0" bIns="46630" numCol="1" rtlCol="0" anchor="ctr" anchorCtr="0" compatLnSpc="1">
                <a:prstTxWarp prst="textNoShape">
                  <a:avLst/>
                </a:prstTxWarp>
              </a:bodyPr>
              <a:lstStyle/>
              <a:p>
                <a:pPr marL="0" marR="0" lvl="0" indent="0" algn="ctr" defTabSz="932293"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1A1A1A"/>
                  </a:solidFill>
                  <a:effectLst/>
                  <a:uLnTx/>
                  <a:uFillTx/>
                  <a:latin typeface="Segoe UI"/>
                  <a:ea typeface="+mn-ea"/>
                  <a:cs typeface="+mn-cs"/>
                </a:endParaRPr>
              </a:p>
            </p:txBody>
          </p:sp>
        </p:grpSp>
        <p:grpSp>
          <p:nvGrpSpPr>
            <p:cNvPr id="68" name="Group 67">
              <a:extLst>
                <a:ext uri="{FF2B5EF4-FFF2-40B4-BE49-F238E27FC236}">
                  <a16:creationId xmlns:a16="http://schemas.microsoft.com/office/drawing/2014/main" id="{A0330E93-6A76-4094-8C2D-3D9A5541DAA5}"/>
                </a:ext>
              </a:extLst>
            </p:cNvPr>
            <p:cNvGrpSpPr/>
            <p:nvPr/>
          </p:nvGrpSpPr>
          <p:grpSpPr>
            <a:xfrm>
              <a:off x="2972022" y="2853215"/>
              <a:ext cx="1285302" cy="1777589"/>
              <a:chOff x="729618" y="2040369"/>
              <a:chExt cx="1285302" cy="1777589"/>
            </a:xfrm>
          </p:grpSpPr>
          <p:sp>
            <p:nvSpPr>
              <p:cNvPr id="69" name="Rectangle 68">
                <a:extLst>
                  <a:ext uri="{FF2B5EF4-FFF2-40B4-BE49-F238E27FC236}">
                    <a16:creationId xmlns:a16="http://schemas.microsoft.com/office/drawing/2014/main" id="{4D60416D-25D2-4CF3-91F4-0093D48833B5}"/>
                  </a:ext>
                </a:extLst>
              </p:cNvPr>
              <p:cNvSpPr/>
              <p:nvPr/>
            </p:nvSpPr>
            <p:spPr bwMode="auto">
              <a:xfrm>
                <a:off x="856649" y="2057151"/>
                <a:ext cx="1031240" cy="858769"/>
              </a:xfrm>
              <a:prstGeom prst="rect">
                <a:avLst/>
              </a:prstGeom>
              <a:solidFill>
                <a:schemeClr val="bg1"/>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70" name="Graphic 69" descr="User with solid fill">
                <a:extLst>
                  <a:ext uri="{FF2B5EF4-FFF2-40B4-BE49-F238E27FC236}">
                    <a16:creationId xmlns:a16="http://schemas.microsoft.com/office/drawing/2014/main" id="{10926114-3FF5-4B4A-A647-4B0F37D9CF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7516" y="2040369"/>
                <a:ext cx="914400" cy="914400"/>
              </a:xfrm>
              <a:prstGeom prst="rect">
                <a:avLst/>
              </a:prstGeom>
            </p:spPr>
          </p:pic>
          <p:sp>
            <p:nvSpPr>
              <p:cNvPr id="72" name="TextBox 71">
                <a:extLst>
                  <a:ext uri="{FF2B5EF4-FFF2-40B4-BE49-F238E27FC236}">
                    <a16:creationId xmlns:a16="http://schemas.microsoft.com/office/drawing/2014/main" id="{7D7D7857-330D-4F35-B73E-8F423EBF8688}"/>
                  </a:ext>
                </a:extLst>
              </p:cNvPr>
              <p:cNvSpPr txBox="1"/>
              <p:nvPr/>
            </p:nvSpPr>
            <p:spPr>
              <a:xfrm>
                <a:off x="729618" y="2986961"/>
                <a:ext cx="1285302" cy="83099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Semibold"/>
                    <a:ea typeface="+mn-ea"/>
                    <a:cs typeface="+mn-cs"/>
                  </a:rPr>
                  <a:t>FinOps Central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Semibold"/>
                    <a:ea typeface="+mn-ea"/>
                    <a:cs typeface="+mn-cs"/>
                  </a:rPr>
                  <a:t>Teams</a:t>
                </a:r>
              </a:p>
            </p:txBody>
          </p:sp>
        </p:grpSp>
        <p:grpSp>
          <p:nvGrpSpPr>
            <p:cNvPr id="80" name="Group 79">
              <a:extLst>
                <a:ext uri="{FF2B5EF4-FFF2-40B4-BE49-F238E27FC236}">
                  <a16:creationId xmlns:a16="http://schemas.microsoft.com/office/drawing/2014/main" id="{10ED0901-5F34-4454-B28D-F1AC7207C514}"/>
                </a:ext>
              </a:extLst>
            </p:cNvPr>
            <p:cNvGrpSpPr/>
            <p:nvPr/>
          </p:nvGrpSpPr>
          <p:grpSpPr>
            <a:xfrm>
              <a:off x="778231" y="1410875"/>
              <a:ext cx="1285302" cy="1500590"/>
              <a:chOff x="732065" y="2222920"/>
              <a:chExt cx="1285302" cy="1500590"/>
            </a:xfrm>
          </p:grpSpPr>
          <p:sp>
            <p:nvSpPr>
              <p:cNvPr id="81" name="Rectangle 80">
                <a:extLst>
                  <a:ext uri="{FF2B5EF4-FFF2-40B4-BE49-F238E27FC236}">
                    <a16:creationId xmlns:a16="http://schemas.microsoft.com/office/drawing/2014/main" id="{99DEE361-C6B9-4E89-ABFE-1EC29E00060F}"/>
                  </a:ext>
                </a:extLst>
              </p:cNvPr>
              <p:cNvSpPr/>
              <p:nvPr/>
            </p:nvSpPr>
            <p:spPr bwMode="auto">
              <a:xfrm>
                <a:off x="859096" y="2239702"/>
                <a:ext cx="1031240" cy="858769"/>
              </a:xfrm>
              <a:prstGeom prst="rect">
                <a:avLst/>
              </a:prstGeom>
              <a:solidFill>
                <a:schemeClr val="bg1"/>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0078D3"/>
                  </a:solidFill>
                  <a:effectLst/>
                  <a:uLnTx/>
                  <a:uFillTx/>
                  <a:latin typeface="Segoe UI"/>
                  <a:ea typeface="Segoe UI" pitchFamily="34" charset="0"/>
                  <a:cs typeface="Segoe UI" pitchFamily="34" charset="0"/>
                </a:endParaRPr>
              </a:p>
            </p:txBody>
          </p:sp>
          <p:pic>
            <p:nvPicPr>
              <p:cNvPr id="82" name="Graphic 81" descr="User with solid fill">
                <a:extLst>
                  <a:ext uri="{FF2B5EF4-FFF2-40B4-BE49-F238E27FC236}">
                    <a16:creationId xmlns:a16="http://schemas.microsoft.com/office/drawing/2014/main" id="{587DE686-E3D4-4CF5-9FBA-8802F4BE15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7516" y="2222920"/>
                <a:ext cx="914400" cy="914400"/>
              </a:xfrm>
              <a:prstGeom prst="rect">
                <a:avLst/>
              </a:prstGeom>
            </p:spPr>
          </p:pic>
          <p:sp>
            <p:nvSpPr>
              <p:cNvPr id="83" name="TextBox 82">
                <a:extLst>
                  <a:ext uri="{FF2B5EF4-FFF2-40B4-BE49-F238E27FC236}">
                    <a16:creationId xmlns:a16="http://schemas.microsoft.com/office/drawing/2014/main" id="{32EB4330-BFD8-4643-92B0-B94FECB20D26}"/>
                  </a:ext>
                </a:extLst>
              </p:cNvPr>
              <p:cNvSpPr txBox="1"/>
              <p:nvPr/>
            </p:nvSpPr>
            <p:spPr>
              <a:xfrm>
                <a:off x="732065" y="3169512"/>
                <a:ext cx="1285302"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3"/>
                    </a:solidFill>
                    <a:effectLst/>
                    <a:uLnTx/>
                    <a:uFillTx/>
                    <a:latin typeface="Segoe UI Semibold"/>
                    <a:ea typeface="+mn-ea"/>
                    <a:cs typeface="+mn-cs"/>
                  </a:rPr>
                  <a:t>Engineering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3"/>
                    </a:solidFill>
                    <a:effectLst/>
                    <a:uLnTx/>
                    <a:uFillTx/>
                    <a:latin typeface="Segoe UI Semibold"/>
                    <a:ea typeface="+mn-ea"/>
                    <a:cs typeface="+mn-cs"/>
                  </a:rPr>
                  <a:t>Teams</a:t>
                </a:r>
              </a:p>
            </p:txBody>
          </p:sp>
        </p:grpSp>
        <p:grpSp>
          <p:nvGrpSpPr>
            <p:cNvPr id="84" name="Group 83">
              <a:extLst>
                <a:ext uri="{FF2B5EF4-FFF2-40B4-BE49-F238E27FC236}">
                  <a16:creationId xmlns:a16="http://schemas.microsoft.com/office/drawing/2014/main" id="{FC1067BB-97B2-4D0F-8340-7A8790ECAEB2}"/>
                </a:ext>
              </a:extLst>
            </p:cNvPr>
            <p:cNvGrpSpPr/>
            <p:nvPr/>
          </p:nvGrpSpPr>
          <p:grpSpPr>
            <a:xfrm>
              <a:off x="5182705" y="1390436"/>
              <a:ext cx="1285302" cy="1500590"/>
              <a:chOff x="715421" y="2185699"/>
              <a:chExt cx="1285302" cy="1500590"/>
            </a:xfrm>
          </p:grpSpPr>
          <p:sp>
            <p:nvSpPr>
              <p:cNvPr id="85" name="Rectangle 84">
                <a:extLst>
                  <a:ext uri="{FF2B5EF4-FFF2-40B4-BE49-F238E27FC236}">
                    <a16:creationId xmlns:a16="http://schemas.microsoft.com/office/drawing/2014/main" id="{0CF037CB-F494-4B83-A298-74E6EBAF44E5}"/>
                  </a:ext>
                </a:extLst>
              </p:cNvPr>
              <p:cNvSpPr/>
              <p:nvPr/>
            </p:nvSpPr>
            <p:spPr bwMode="auto">
              <a:xfrm>
                <a:off x="842452" y="2202481"/>
                <a:ext cx="1031240" cy="858769"/>
              </a:xfrm>
              <a:prstGeom prst="rect">
                <a:avLst/>
              </a:prstGeom>
              <a:solidFill>
                <a:schemeClr val="bg1"/>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0078D3"/>
                  </a:solidFill>
                  <a:effectLst/>
                  <a:uLnTx/>
                  <a:uFillTx/>
                  <a:latin typeface="Segoe UI"/>
                  <a:ea typeface="Segoe UI" pitchFamily="34" charset="0"/>
                  <a:cs typeface="Segoe UI" pitchFamily="34" charset="0"/>
                </a:endParaRPr>
              </a:p>
            </p:txBody>
          </p:sp>
          <p:pic>
            <p:nvPicPr>
              <p:cNvPr id="86" name="Graphic 85" descr="User with solid fill">
                <a:extLst>
                  <a:ext uri="{FF2B5EF4-FFF2-40B4-BE49-F238E27FC236}">
                    <a16:creationId xmlns:a16="http://schemas.microsoft.com/office/drawing/2014/main" id="{6AED1EEF-632D-4BD5-98D3-42F9248074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0872" y="2185699"/>
                <a:ext cx="914400" cy="914400"/>
              </a:xfrm>
              <a:prstGeom prst="rect">
                <a:avLst/>
              </a:prstGeom>
            </p:spPr>
          </p:pic>
          <p:sp>
            <p:nvSpPr>
              <p:cNvPr id="87" name="TextBox 86">
                <a:extLst>
                  <a:ext uri="{FF2B5EF4-FFF2-40B4-BE49-F238E27FC236}">
                    <a16:creationId xmlns:a16="http://schemas.microsoft.com/office/drawing/2014/main" id="{4F4A25C0-FE6B-4ACC-A0A7-D52BC670FAD1}"/>
                  </a:ext>
                </a:extLst>
              </p:cNvPr>
              <p:cNvSpPr txBox="1"/>
              <p:nvPr/>
            </p:nvSpPr>
            <p:spPr>
              <a:xfrm>
                <a:off x="715421" y="3132291"/>
                <a:ext cx="1285302"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3"/>
                    </a:solidFill>
                    <a:effectLst/>
                    <a:uLnTx/>
                    <a:uFillTx/>
                    <a:latin typeface="Segoe UI Semibold"/>
                    <a:ea typeface="+mn-ea"/>
                    <a:cs typeface="+mn-cs"/>
                  </a:rPr>
                  <a:t>Business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3"/>
                    </a:solidFill>
                    <a:effectLst/>
                    <a:uLnTx/>
                    <a:uFillTx/>
                    <a:latin typeface="Segoe UI Semibold"/>
                    <a:ea typeface="+mn-ea"/>
                    <a:cs typeface="+mn-cs"/>
                  </a:rPr>
                  <a:t>Teams</a:t>
                </a:r>
              </a:p>
            </p:txBody>
          </p:sp>
        </p:grpSp>
        <p:grpSp>
          <p:nvGrpSpPr>
            <p:cNvPr id="88" name="Group 87">
              <a:extLst>
                <a:ext uri="{FF2B5EF4-FFF2-40B4-BE49-F238E27FC236}">
                  <a16:creationId xmlns:a16="http://schemas.microsoft.com/office/drawing/2014/main" id="{C8683950-C78A-4EDE-B7C1-5842815FF184}"/>
                </a:ext>
              </a:extLst>
            </p:cNvPr>
            <p:cNvGrpSpPr/>
            <p:nvPr/>
          </p:nvGrpSpPr>
          <p:grpSpPr>
            <a:xfrm>
              <a:off x="2364270" y="5002547"/>
              <a:ext cx="2564886" cy="1613975"/>
              <a:chOff x="168470" y="1845175"/>
              <a:chExt cx="2564886" cy="1613975"/>
            </a:xfrm>
          </p:grpSpPr>
          <p:sp>
            <p:nvSpPr>
              <p:cNvPr id="89" name="Rectangle 88">
                <a:extLst>
                  <a:ext uri="{FF2B5EF4-FFF2-40B4-BE49-F238E27FC236}">
                    <a16:creationId xmlns:a16="http://schemas.microsoft.com/office/drawing/2014/main" id="{94A3BA40-C00A-4931-956A-037EC25F6093}"/>
                  </a:ext>
                </a:extLst>
              </p:cNvPr>
              <p:cNvSpPr/>
              <p:nvPr/>
            </p:nvSpPr>
            <p:spPr bwMode="auto">
              <a:xfrm>
                <a:off x="935293" y="1861957"/>
                <a:ext cx="1031240" cy="858769"/>
              </a:xfrm>
              <a:prstGeom prst="rect">
                <a:avLst/>
              </a:prstGeom>
              <a:solidFill>
                <a:schemeClr val="bg1"/>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0078D3"/>
                  </a:solidFill>
                  <a:effectLst/>
                  <a:uLnTx/>
                  <a:uFillTx/>
                  <a:latin typeface="Segoe UI"/>
                  <a:ea typeface="Segoe UI" pitchFamily="34" charset="0"/>
                  <a:cs typeface="Segoe UI" pitchFamily="34" charset="0"/>
                </a:endParaRPr>
              </a:p>
            </p:txBody>
          </p:sp>
          <p:pic>
            <p:nvPicPr>
              <p:cNvPr id="90" name="Graphic 89" descr="User with solid fill">
                <a:extLst>
                  <a:ext uri="{FF2B5EF4-FFF2-40B4-BE49-F238E27FC236}">
                    <a16:creationId xmlns:a16="http://schemas.microsoft.com/office/drawing/2014/main" id="{459E0EAB-17BF-40F7-A02F-63CF2015CF8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3713" y="1845175"/>
                <a:ext cx="914400" cy="914400"/>
              </a:xfrm>
              <a:prstGeom prst="rect">
                <a:avLst/>
              </a:prstGeom>
            </p:spPr>
          </p:pic>
          <p:sp>
            <p:nvSpPr>
              <p:cNvPr id="91" name="TextBox 90">
                <a:extLst>
                  <a:ext uri="{FF2B5EF4-FFF2-40B4-BE49-F238E27FC236}">
                    <a16:creationId xmlns:a16="http://schemas.microsoft.com/office/drawing/2014/main" id="{F89E4827-D5B2-4957-9D05-D35ABC2A6B30}"/>
                  </a:ext>
                </a:extLst>
              </p:cNvPr>
              <p:cNvSpPr txBox="1"/>
              <p:nvPr/>
            </p:nvSpPr>
            <p:spPr>
              <a:xfrm>
                <a:off x="168470" y="2905152"/>
                <a:ext cx="256488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3"/>
                    </a:solidFill>
                    <a:effectLst/>
                    <a:uLnTx/>
                    <a:uFillTx/>
                    <a:latin typeface="Segoe UI Semibold"/>
                    <a:ea typeface="+mn-ea"/>
                    <a:cs typeface="+mn-cs"/>
                  </a:rPr>
                  <a:t>Finance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3"/>
                    </a:solidFill>
                    <a:effectLst/>
                    <a:uLnTx/>
                    <a:uFillTx/>
                    <a:latin typeface="Segoe UI Semibold"/>
                    <a:ea typeface="+mn-ea"/>
                    <a:cs typeface="+mn-cs"/>
                  </a:rPr>
                  <a:t>Teams</a:t>
                </a:r>
              </a:p>
            </p:txBody>
          </p:sp>
        </p:grpSp>
      </p:grpSp>
      <p:grpSp>
        <p:nvGrpSpPr>
          <p:cNvPr id="92" name="Group 91">
            <a:extLst>
              <a:ext uri="{FF2B5EF4-FFF2-40B4-BE49-F238E27FC236}">
                <a16:creationId xmlns:a16="http://schemas.microsoft.com/office/drawing/2014/main" id="{C38F9A75-A74C-41F1-BD3F-02CC26EB6E3F}"/>
              </a:ext>
            </a:extLst>
          </p:cNvPr>
          <p:cNvGrpSpPr/>
          <p:nvPr/>
        </p:nvGrpSpPr>
        <p:grpSpPr>
          <a:xfrm>
            <a:off x="7333801" y="96984"/>
            <a:ext cx="306170" cy="6633016"/>
            <a:chOff x="7263730" y="2017713"/>
            <a:chExt cx="306170" cy="4251325"/>
          </a:xfrm>
        </p:grpSpPr>
        <p:cxnSp>
          <p:nvCxnSpPr>
            <p:cNvPr id="93" name="Straight Connector 92">
              <a:extLst>
                <a:ext uri="{FF2B5EF4-FFF2-40B4-BE49-F238E27FC236}">
                  <a16:creationId xmlns:a16="http://schemas.microsoft.com/office/drawing/2014/main" id="{9FA5A506-B43A-4C56-8265-85FAEC5909B5}"/>
                </a:ext>
              </a:extLst>
            </p:cNvPr>
            <p:cNvCxnSpPr/>
            <p:nvPr/>
          </p:nvCxnSpPr>
          <p:spPr>
            <a:xfrm>
              <a:off x="7414936" y="2017713"/>
              <a:ext cx="0" cy="4251325"/>
            </a:xfrm>
            <a:prstGeom prst="line">
              <a:avLst/>
            </a:prstGeom>
            <a:noFill/>
            <a:ln w="19050" cap="rnd" cmpd="sng" algn="ctr">
              <a:solidFill>
                <a:srgbClr val="9A9A9A"/>
              </a:solidFill>
              <a:prstDash val="solid"/>
            </a:ln>
            <a:effectLst/>
          </p:spPr>
        </p:cxnSp>
        <p:grpSp>
          <p:nvGrpSpPr>
            <p:cNvPr id="94" name="Group 93">
              <a:extLst>
                <a:ext uri="{FF2B5EF4-FFF2-40B4-BE49-F238E27FC236}">
                  <a16:creationId xmlns:a16="http://schemas.microsoft.com/office/drawing/2014/main" id="{500EF6FA-3052-4AD6-B765-15C62915091B}"/>
                </a:ext>
              </a:extLst>
            </p:cNvPr>
            <p:cNvGrpSpPr/>
            <p:nvPr/>
          </p:nvGrpSpPr>
          <p:grpSpPr>
            <a:xfrm>
              <a:off x="7263730" y="3978170"/>
              <a:ext cx="306170" cy="224731"/>
              <a:chOff x="6020015" y="4018423"/>
              <a:chExt cx="306170" cy="224731"/>
            </a:xfrm>
          </p:grpSpPr>
          <p:sp>
            <p:nvSpPr>
              <p:cNvPr id="95" name="Freeform 94">
                <a:extLst>
                  <a:ext uri="{FF2B5EF4-FFF2-40B4-BE49-F238E27FC236}">
                    <a16:creationId xmlns:a16="http://schemas.microsoft.com/office/drawing/2014/main" id="{E35ED61A-55B2-48A0-B10C-AD935EBA097A}"/>
                  </a:ext>
                </a:extLst>
              </p:cNvPr>
              <p:cNvSpPr>
                <a:spLocks/>
              </p:cNvSpPr>
              <p:nvPr/>
            </p:nvSpPr>
            <p:spPr bwMode="gray">
              <a:xfrm>
                <a:off x="6020015" y="4018423"/>
                <a:ext cx="306170" cy="224731"/>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chemeClr val="accent1"/>
              </a:solidFill>
              <a:ln>
                <a:noFill/>
              </a:ln>
            </p:spPr>
            <p:txBody>
              <a:bodyPr vert="horz" wrap="square" lIns="88641" tIns="44321" rIns="88641" bIns="443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6E6F73"/>
                  </a:solidFill>
                  <a:effectLst/>
                  <a:uLnTx/>
                  <a:uFillTx/>
                  <a:latin typeface="Segoe UI"/>
                  <a:ea typeface="Segoe UI" panose="020B0502040204020203" pitchFamily="34" charset="0"/>
                  <a:cs typeface="Segoe UI" panose="020B0502040204020203" pitchFamily="34" charset="0"/>
                  <a:sym typeface="Segoe UI" panose="020B0502040204020203" pitchFamily="34" charset="0"/>
                </a:endParaRPr>
              </a:p>
            </p:txBody>
          </p:sp>
          <p:sp>
            <p:nvSpPr>
              <p:cNvPr id="96" name="Freeform 95">
                <a:extLst>
                  <a:ext uri="{FF2B5EF4-FFF2-40B4-BE49-F238E27FC236}">
                    <a16:creationId xmlns:a16="http://schemas.microsoft.com/office/drawing/2014/main" id="{B52C7022-3B97-4BF3-AA2F-F4D1B40265D4}"/>
                  </a:ext>
                </a:extLst>
              </p:cNvPr>
              <p:cNvSpPr>
                <a:spLocks/>
              </p:cNvSpPr>
              <p:nvPr/>
            </p:nvSpPr>
            <p:spPr bwMode="gray">
              <a:xfrm>
                <a:off x="6137281" y="4060372"/>
                <a:ext cx="120251" cy="153494"/>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6E6F73"/>
                  </a:solidFill>
                  <a:effectLst/>
                  <a:uLnTx/>
                  <a:uFillTx/>
                  <a:latin typeface="Segoe UI"/>
                  <a:ea typeface="Segoe UI" panose="020B0502040204020203" pitchFamily="34" charset="0"/>
                  <a:cs typeface="Segoe UI" panose="020B0502040204020203" pitchFamily="34" charset="0"/>
                  <a:sym typeface="Segoe UI" panose="020B0502040204020203" pitchFamily="34" charset="0"/>
                </a:endParaRPr>
              </a:p>
            </p:txBody>
          </p:sp>
        </p:grpSp>
      </p:grpSp>
      <p:graphicFrame>
        <p:nvGraphicFramePr>
          <p:cNvPr id="5" name="Table 4">
            <a:extLst>
              <a:ext uri="{FF2B5EF4-FFF2-40B4-BE49-F238E27FC236}">
                <a16:creationId xmlns:a16="http://schemas.microsoft.com/office/drawing/2014/main" id="{6A32E6A2-929F-431D-B63D-99463022ACA1}"/>
              </a:ext>
            </a:extLst>
          </p:cNvPr>
          <p:cNvGraphicFramePr>
            <a:graphicFrameLocks noGrp="1"/>
          </p:cNvGraphicFramePr>
          <p:nvPr/>
        </p:nvGraphicFramePr>
        <p:xfrm>
          <a:off x="8077177" y="1261888"/>
          <a:ext cx="3840480" cy="5468112"/>
        </p:xfrm>
        <a:graphic>
          <a:graphicData uri="http://schemas.openxmlformats.org/drawingml/2006/table">
            <a:tbl>
              <a:tblPr firstRow="1"/>
              <a:tblGrid>
                <a:gridCol w="538191">
                  <a:extLst>
                    <a:ext uri="{9D8B030D-6E8A-4147-A177-3AD203B41FA5}">
                      <a16:colId xmlns:a16="http://schemas.microsoft.com/office/drawing/2014/main" val="20000"/>
                    </a:ext>
                  </a:extLst>
                </a:gridCol>
                <a:gridCol w="3302289">
                  <a:extLst>
                    <a:ext uri="{9D8B030D-6E8A-4147-A177-3AD203B41FA5}">
                      <a16:colId xmlns:a16="http://schemas.microsoft.com/office/drawing/2014/main" val="20001"/>
                    </a:ext>
                  </a:extLst>
                </a:gridCol>
              </a:tblGrid>
              <a:tr h="450803">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endParaRPr lang="en-US" sz="1400" b="0" i="0" u="none">
                        <a:solidFill>
                          <a:srgbClr val="505050"/>
                        </a:solidFill>
                        <a:latin typeface="Segoe UI" panose="020B0502040204020203" pitchFamily="34" charset="0"/>
                      </a:endParaRPr>
                    </a:p>
                  </a:txBody>
                  <a:tcPr marL="0" marR="72000" marT="73152" marB="73152"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endParaRPr lang="en-US" sz="1500" b="1" i="0" u="none" dirty="0">
                        <a:solidFill>
                          <a:schemeClr val="tx1"/>
                        </a:solidFill>
                        <a:latin typeface="+mj-lt"/>
                      </a:endParaRPr>
                    </a:p>
                    <a:p>
                      <a:r>
                        <a:rPr lang="en-US" sz="1500" b="1" i="0" u="none" dirty="0" err="1">
                          <a:solidFill>
                            <a:schemeClr val="tx1"/>
                          </a:solidFill>
                          <a:latin typeface="+mj-lt"/>
                        </a:rPr>
                        <a:t>usiness</a:t>
                      </a:r>
                      <a:r>
                        <a:rPr lang="en-US" sz="1500" b="1" i="0" u="none" dirty="0">
                          <a:solidFill>
                            <a:schemeClr val="tx1"/>
                          </a:solidFill>
                          <a:latin typeface="+mj-lt"/>
                        </a:rPr>
                        <a:t> Teams: </a:t>
                      </a:r>
                      <a:endParaRPr lang="en-US" sz="1500" b="1" i="0" u="none" kern="1200" baseline="0" dirty="0">
                        <a:solidFill>
                          <a:schemeClr val="tx1"/>
                        </a:solidFill>
                        <a:latin typeface="+mj-lt"/>
                        <a:ea typeface="+mn-ea"/>
                        <a:cs typeface="+mn-cs"/>
                      </a:endParaRPr>
                    </a:p>
                    <a:p>
                      <a:pPr marL="285750" indent="-285750">
                        <a:buFont typeface="Wingdings" panose="05000000000000000000" pitchFamily="2" charset="2"/>
                        <a:buChar char="§"/>
                      </a:pPr>
                      <a:r>
                        <a:rPr lang="en-US" sz="1500" b="0" i="0" u="none" kern="1200" baseline="0" dirty="0">
                          <a:solidFill>
                            <a:schemeClr val="tx1"/>
                          </a:solidFill>
                          <a:latin typeface="+mj-lt"/>
                          <a:ea typeface="+mn-ea"/>
                          <a:cs typeface="+mn-cs"/>
                        </a:rPr>
                        <a:t>Budget Resource Control</a:t>
                      </a:r>
                    </a:p>
                    <a:p>
                      <a:pPr marL="285750" indent="-285750">
                        <a:buFont typeface="Wingdings" panose="05000000000000000000" pitchFamily="2" charset="2"/>
                        <a:buChar char="§"/>
                      </a:pPr>
                      <a:r>
                        <a:rPr lang="en-US" sz="1500" b="0" i="0" u="none" kern="1200" baseline="0" dirty="0">
                          <a:solidFill>
                            <a:schemeClr val="tx1"/>
                          </a:solidFill>
                          <a:latin typeface="+mj-lt"/>
                          <a:ea typeface="+mn-ea"/>
                          <a:cs typeface="+mn-cs"/>
                        </a:rPr>
                        <a:t>Lead Cultural Shift</a:t>
                      </a:r>
                    </a:p>
                    <a:p>
                      <a:pPr marL="285750" indent="-285750">
                        <a:buFont typeface="Wingdings" panose="05000000000000000000" pitchFamily="2" charset="2"/>
                        <a:buChar char="§"/>
                      </a:pPr>
                      <a:r>
                        <a:rPr lang="en-US" sz="1500" b="0" i="0" u="none" kern="1200" baseline="0" dirty="0">
                          <a:solidFill>
                            <a:schemeClr val="tx1"/>
                          </a:solidFill>
                          <a:latin typeface="+mj-lt"/>
                          <a:ea typeface="+mn-ea"/>
                          <a:cs typeface="+mn-cs"/>
                        </a:rPr>
                        <a:t>Measuring Cloud Business Value</a:t>
                      </a:r>
                    </a:p>
                    <a:p>
                      <a:pPr marL="285750" indent="-285750">
                        <a:buFont typeface="Wingdings" panose="05000000000000000000" pitchFamily="2" charset="2"/>
                        <a:buChar char="§"/>
                      </a:pPr>
                      <a:r>
                        <a:rPr lang="en-US" sz="1500" b="0" i="0" u="none" kern="1200" baseline="0" dirty="0">
                          <a:solidFill>
                            <a:schemeClr val="tx1"/>
                          </a:solidFill>
                          <a:latin typeface="+mj-lt"/>
                          <a:ea typeface="+mn-ea"/>
                          <a:cs typeface="+mn-cs"/>
                        </a:rPr>
                        <a:t>Define and manage KPIs</a:t>
                      </a:r>
                    </a:p>
                    <a:p>
                      <a:pPr marL="0" indent="0">
                        <a:buFont typeface="Wingdings" panose="05000000000000000000" pitchFamily="2" charset="2"/>
                        <a:buNone/>
                      </a:pPr>
                      <a:endParaRPr lang="en-US" sz="1500" b="1" i="0" u="none" kern="1200" baseline="0" dirty="0">
                        <a:solidFill>
                          <a:schemeClr val="tx1"/>
                        </a:solidFill>
                        <a:latin typeface="+mj-lt"/>
                        <a:ea typeface="+mn-ea"/>
                        <a:cs typeface="+mn-cs"/>
                      </a:endParaRPr>
                    </a:p>
                  </a:txBody>
                  <a:tcPr marL="0" marR="72000" marT="73152" marB="73152"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08644">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78D7"/>
                        </a:solidFill>
                        <a:effectLst/>
                        <a:uLnTx/>
                        <a:uFillTx/>
                        <a:latin typeface="Segoe UI" panose="020B0502040204020203" pitchFamily="34" charset="0"/>
                        <a:ea typeface="+mn-ea"/>
                        <a:cs typeface="+mn-cs"/>
                      </a:endParaRPr>
                    </a:p>
                  </a:txBody>
                  <a:tcPr marL="0" marR="72000" marT="73152" marB="73152"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i="0" u="none" kern="1200" dirty="0" err="1">
                          <a:solidFill>
                            <a:schemeClr val="tx1"/>
                          </a:solidFill>
                          <a:latin typeface="+mj-lt"/>
                          <a:ea typeface="+mn-ea"/>
                          <a:cs typeface="+mn-cs"/>
                        </a:rPr>
                        <a:t>ngineering</a:t>
                      </a:r>
                      <a:r>
                        <a:rPr lang="en-US" sz="1500" b="1" i="0" u="none" kern="1200" dirty="0">
                          <a:solidFill>
                            <a:schemeClr val="tx1"/>
                          </a:solidFill>
                          <a:latin typeface="+mj-lt"/>
                          <a:ea typeface="+mn-ea"/>
                          <a:cs typeface="+mn-cs"/>
                        </a:rPr>
                        <a:t> Teams: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dirty="0">
                          <a:ln>
                            <a:noFill/>
                          </a:ln>
                          <a:solidFill>
                            <a:schemeClr val="tx1"/>
                          </a:solidFill>
                          <a:effectLst/>
                          <a:uLnTx/>
                          <a:uFillTx/>
                          <a:latin typeface="+mj-lt"/>
                          <a:ea typeface="+mn-ea"/>
                          <a:cs typeface="+mn-cs"/>
                        </a:rPr>
                        <a:t>Cloud Cost Optimization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dirty="0">
                          <a:ln>
                            <a:noFill/>
                          </a:ln>
                          <a:solidFill>
                            <a:schemeClr val="tx1"/>
                          </a:solidFill>
                          <a:effectLst/>
                          <a:uLnTx/>
                          <a:uFillTx/>
                          <a:latin typeface="+mj-lt"/>
                          <a:ea typeface="+mn-ea"/>
                          <a:cs typeface="+mn-cs"/>
                        </a:rPr>
                        <a:t>Enable tracking and visibility of resource utilization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dirty="0">
                          <a:ln>
                            <a:noFill/>
                          </a:ln>
                          <a:solidFill>
                            <a:schemeClr val="tx1"/>
                          </a:solidFill>
                          <a:effectLst/>
                          <a:uLnTx/>
                          <a:uFillTx/>
                          <a:latin typeface="+mj-lt"/>
                          <a:ea typeface="+mn-ea"/>
                          <a:cs typeface="+mn-cs"/>
                        </a:rPr>
                        <a:t>Identify usage and spend anomalies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dirty="0">
                          <a:ln>
                            <a:noFill/>
                          </a:ln>
                          <a:solidFill>
                            <a:schemeClr val="tx1"/>
                          </a:solidFill>
                          <a:effectLst/>
                          <a:uLnTx/>
                          <a:uFillTx/>
                          <a:latin typeface="+mj-lt"/>
                          <a:ea typeface="+mn-ea"/>
                          <a:cs typeface="+mn-cs"/>
                        </a:rPr>
                        <a:t>Cloud governance and management</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sz="1500" b="1" i="0" u="none" strike="noStrike" kern="1200" cap="none" spc="0" normalizeH="0" baseline="0" dirty="0">
                        <a:ln>
                          <a:noFill/>
                        </a:ln>
                        <a:solidFill>
                          <a:schemeClr val="tx1"/>
                        </a:solidFill>
                        <a:effectLst/>
                        <a:uLnTx/>
                        <a:uFillTx/>
                        <a:latin typeface="+mj-lt"/>
                        <a:ea typeface="+mn-ea"/>
                        <a:cs typeface="+mn-cs"/>
                      </a:endParaRPr>
                    </a:p>
                  </a:txBody>
                  <a:tcPr marL="0" marR="72000" marT="73152" marB="73152"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38132">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05050"/>
                        </a:solidFill>
                        <a:effectLst/>
                        <a:uLnTx/>
                        <a:uFillTx/>
                        <a:latin typeface="Segoe UI" panose="020B0502040204020203" pitchFamily="34" charset="0"/>
                        <a:ea typeface="+mn-ea"/>
                        <a:cs typeface="+mn-cs"/>
                      </a:endParaRPr>
                    </a:p>
                  </a:txBody>
                  <a:tcPr marL="0" marR="72000" marT="73152" marB="73152"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500" b="1" i="0" u="none" kern="1200" dirty="0" err="1">
                          <a:solidFill>
                            <a:schemeClr val="tx1"/>
                          </a:solidFill>
                          <a:latin typeface="+mj-lt"/>
                          <a:ea typeface="+mn-ea"/>
                          <a:cs typeface="+mn-cs"/>
                        </a:rPr>
                        <a:t>inance</a:t>
                      </a:r>
                      <a:r>
                        <a:rPr lang="en-US" sz="1500" b="1" i="0" u="none" kern="1200" dirty="0">
                          <a:solidFill>
                            <a:schemeClr val="tx1"/>
                          </a:solidFill>
                          <a:latin typeface="+mj-lt"/>
                          <a:ea typeface="+mn-ea"/>
                          <a:cs typeface="+mn-cs"/>
                        </a:rPr>
                        <a:t> Teams:</a:t>
                      </a:r>
                      <a:endParaRPr lang="en-US" sz="1500" b="0" i="0" u="none" kern="1200" dirty="0">
                        <a:solidFill>
                          <a:schemeClr val="tx1"/>
                        </a:solidFill>
                        <a:latin typeface="+mj-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500" b="0" i="0" u="none" kern="1200" dirty="0">
                          <a:solidFill>
                            <a:schemeClr val="tx1"/>
                          </a:solidFill>
                          <a:latin typeface="+mj-lt"/>
                          <a:ea typeface="+mn-ea"/>
                          <a:cs typeface="+mn-cs"/>
                        </a:rPr>
                        <a:t>Cloud Cost Reporting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500" b="0" i="0" u="none" kern="1200" dirty="0">
                          <a:solidFill>
                            <a:schemeClr val="tx1"/>
                          </a:solidFill>
                          <a:latin typeface="+mj-lt"/>
                          <a:ea typeface="+mn-ea"/>
                          <a:cs typeface="+mn-cs"/>
                        </a:rPr>
                        <a:t>Contractual model optimization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500" b="0" i="0" u="none" kern="1200" dirty="0">
                          <a:solidFill>
                            <a:schemeClr val="tx1"/>
                          </a:solidFill>
                          <a:latin typeface="+mj-lt"/>
                          <a:ea typeface="+mn-ea"/>
                          <a:cs typeface="+mn-cs"/>
                        </a:rPr>
                        <a:t>Negotiate pricing and commitment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500" b="0" i="0" u="none" kern="1200" dirty="0">
                          <a:solidFill>
                            <a:schemeClr val="tx1"/>
                          </a:solidFill>
                          <a:latin typeface="+mj-lt"/>
                          <a:ea typeface="+mn-ea"/>
                          <a:cs typeface="+mn-cs"/>
                        </a:rPr>
                        <a:t>Forecasting and predict spend</a:t>
                      </a:r>
                    </a:p>
                  </a:txBody>
                  <a:tcPr marL="0" marR="72000" marT="73152" marB="73152"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7" name="Oval 20">
            <a:extLst>
              <a:ext uri="{FF2B5EF4-FFF2-40B4-BE49-F238E27FC236}">
                <a16:creationId xmlns:a16="http://schemas.microsoft.com/office/drawing/2014/main" id="{AE0BB8AC-E6FD-4A93-95F4-88DE1DE5700B}"/>
              </a:ext>
            </a:extLst>
          </p:cNvPr>
          <p:cNvSpPr>
            <a:spLocks noChangeArrowheads="1"/>
          </p:cNvSpPr>
          <p:nvPr/>
        </p:nvSpPr>
        <p:spPr bwMode="auto">
          <a:xfrm>
            <a:off x="8233325" y="1577913"/>
            <a:ext cx="269875" cy="269875"/>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lumMod val="100000"/>
                  </a:srgbClr>
                </a:solidFill>
                <a:effectLst/>
                <a:uLnTx/>
                <a:uFillTx/>
                <a:latin typeface="Segoe UI"/>
                <a:ea typeface="Segoe UI" panose="020B0502040204020203" pitchFamily="34" charset="0"/>
                <a:cs typeface="Segoe UI" panose="020B0502040204020203" pitchFamily="34" charset="0"/>
                <a:sym typeface="Segoe UI" panose="020B0502040204020203" pitchFamily="34" charset="0"/>
              </a:rPr>
              <a:t>B</a:t>
            </a:r>
          </a:p>
        </p:txBody>
      </p:sp>
      <p:sp>
        <p:nvSpPr>
          <p:cNvPr id="20" name="Oval 20">
            <a:extLst>
              <a:ext uri="{FF2B5EF4-FFF2-40B4-BE49-F238E27FC236}">
                <a16:creationId xmlns:a16="http://schemas.microsoft.com/office/drawing/2014/main" id="{7461A7B4-0964-4807-ABB9-475B67DFDB87}"/>
              </a:ext>
            </a:extLst>
          </p:cNvPr>
          <p:cNvSpPr>
            <a:spLocks noChangeArrowheads="1"/>
          </p:cNvSpPr>
          <p:nvPr/>
        </p:nvSpPr>
        <p:spPr bwMode="auto">
          <a:xfrm>
            <a:off x="8233325" y="3074084"/>
            <a:ext cx="269875" cy="269875"/>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lumMod val="100000"/>
                  </a:srgbClr>
                </a:solidFill>
                <a:effectLst/>
                <a:uLnTx/>
                <a:uFillTx/>
                <a:latin typeface="Segoe UI"/>
                <a:ea typeface="Segoe UI" panose="020B0502040204020203" pitchFamily="34" charset="0"/>
                <a:cs typeface="Segoe UI" panose="020B0502040204020203" pitchFamily="34" charset="0"/>
                <a:sym typeface="Segoe UI" panose="020B0502040204020203" pitchFamily="34" charset="0"/>
              </a:rPr>
              <a:t>E</a:t>
            </a:r>
          </a:p>
        </p:txBody>
      </p:sp>
      <p:sp>
        <p:nvSpPr>
          <p:cNvPr id="22" name="Oval 20">
            <a:extLst>
              <a:ext uri="{FF2B5EF4-FFF2-40B4-BE49-F238E27FC236}">
                <a16:creationId xmlns:a16="http://schemas.microsoft.com/office/drawing/2014/main" id="{51A2882A-6943-4886-9C1F-BF0374BFFE6D}"/>
              </a:ext>
            </a:extLst>
          </p:cNvPr>
          <p:cNvSpPr>
            <a:spLocks noChangeArrowheads="1"/>
          </p:cNvSpPr>
          <p:nvPr/>
        </p:nvSpPr>
        <p:spPr bwMode="auto">
          <a:xfrm>
            <a:off x="8233325" y="5280087"/>
            <a:ext cx="269875" cy="269875"/>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lumMod val="100000"/>
                  </a:srgbClr>
                </a:solidFill>
                <a:effectLst/>
                <a:uLnTx/>
                <a:uFillTx/>
                <a:latin typeface="Segoe UI"/>
                <a:ea typeface="Segoe UI" panose="020B0502040204020203" pitchFamily="34" charset="0"/>
                <a:cs typeface="Segoe UI" panose="020B0502040204020203" pitchFamily="34" charset="0"/>
                <a:sym typeface="Segoe UI" panose="020B0502040204020203" pitchFamily="34" charset="0"/>
              </a:rPr>
              <a:t>F</a:t>
            </a:r>
          </a:p>
        </p:txBody>
      </p:sp>
      <p:sp>
        <p:nvSpPr>
          <p:cNvPr id="40" name="Rectangle 39">
            <a:extLst>
              <a:ext uri="{FF2B5EF4-FFF2-40B4-BE49-F238E27FC236}">
                <a16:creationId xmlns:a16="http://schemas.microsoft.com/office/drawing/2014/main" id="{35C3D674-E9E8-40EF-85F1-16D48C882A97}"/>
              </a:ext>
            </a:extLst>
          </p:cNvPr>
          <p:cNvSpPr/>
          <p:nvPr/>
        </p:nvSpPr>
        <p:spPr bwMode="auto">
          <a:xfrm>
            <a:off x="8077177" y="557585"/>
            <a:ext cx="3594099" cy="59956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Segoe UI" pitchFamily="34" charset="0"/>
                <a:cs typeface="Segoe UI" pitchFamily="34" charset="0"/>
              </a:rPr>
              <a:t>FinOps Central Team</a:t>
            </a:r>
          </a:p>
        </p:txBody>
      </p:sp>
      <p:cxnSp>
        <p:nvCxnSpPr>
          <p:cNvPr id="43" name="Straight Connector 42">
            <a:extLst>
              <a:ext uri="{FF2B5EF4-FFF2-40B4-BE49-F238E27FC236}">
                <a16:creationId xmlns:a16="http://schemas.microsoft.com/office/drawing/2014/main" id="{C39C7445-BF90-492C-9C38-FDED846E237B}"/>
              </a:ext>
            </a:extLst>
          </p:cNvPr>
          <p:cNvCxnSpPr>
            <a:cxnSpLocks/>
          </p:cNvCxnSpPr>
          <p:nvPr/>
        </p:nvCxnSpPr>
        <p:spPr>
          <a:xfrm>
            <a:off x="7670500" y="2853215"/>
            <a:ext cx="4521500" cy="16782"/>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7FD288EB-F912-4C8E-A300-9E272A715716}"/>
              </a:ext>
            </a:extLst>
          </p:cNvPr>
          <p:cNvCxnSpPr>
            <a:cxnSpLocks/>
          </p:cNvCxnSpPr>
          <p:nvPr/>
        </p:nvCxnSpPr>
        <p:spPr>
          <a:xfrm>
            <a:off x="7654993" y="5140366"/>
            <a:ext cx="4521500" cy="16782"/>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652291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3571F-856B-4423-9AF6-4BB13562BCB2}"/>
              </a:ext>
            </a:extLst>
          </p:cNvPr>
          <p:cNvSpPr>
            <a:spLocks noGrp="1"/>
          </p:cNvSpPr>
          <p:nvPr>
            <p:ph type="title"/>
          </p:nvPr>
        </p:nvSpPr>
        <p:spPr>
          <a:xfrm>
            <a:off x="365760" y="212453"/>
            <a:ext cx="11559320" cy="600892"/>
          </a:xfrm>
        </p:spPr>
        <p:txBody>
          <a:bodyPr/>
          <a:lstStyle/>
          <a:p>
            <a:r>
              <a:rPr lang="en-US" dirty="0"/>
              <a:t>FinOps Stakeholder Responsibility</a:t>
            </a:r>
          </a:p>
        </p:txBody>
      </p:sp>
      <p:graphicFrame>
        <p:nvGraphicFramePr>
          <p:cNvPr id="16" name="Table 16">
            <a:extLst>
              <a:ext uri="{FF2B5EF4-FFF2-40B4-BE49-F238E27FC236}">
                <a16:creationId xmlns:a16="http://schemas.microsoft.com/office/drawing/2014/main" id="{ECA01E25-8F3E-40AA-978C-868CEE0CCD0B}"/>
              </a:ext>
            </a:extLst>
          </p:cNvPr>
          <p:cNvGraphicFramePr>
            <a:graphicFrameLocks noGrp="1"/>
          </p:cNvGraphicFramePr>
          <p:nvPr/>
        </p:nvGraphicFramePr>
        <p:xfrm>
          <a:off x="365760" y="1890563"/>
          <a:ext cx="11781789" cy="4485640"/>
        </p:xfrm>
        <a:graphic>
          <a:graphicData uri="http://schemas.openxmlformats.org/drawingml/2006/table">
            <a:tbl>
              <a:tblPr firstRow="1" bandRow="1">
                <a:tableStyleId>{69012ECD-51FC-41F1-AA8D-1B2483CD663E}</a:tableStyleId>
              </a:tblPr>
              <a:tblGrid>
                <a:gridCol w="3927263">
                  <a:extLst>
                    <a:ext uri="{9D8B030D-6E8A-4147-A177-3AD203B41FA5}">
                      <a16:colId xmlns:a16="http://schemas.microsoft.com/office/drawing/2014/main" val="2056285339"/>
                    </a:ext>
                  </a:extLst>
                </a:gridCol>
                <a:gridCol w="3927263">
                  <a:extLst>
                    <a:ext uri="{9D8B030D-6E8A-4147-A177-3AD203B41FA5}">
                      <a16:colId xmlns:a16="http://schemas.microsoft.com/office/drawing/2014/main" val="3149607007"/>
                    </a:ext>
                  </a:extLst>
                </a:gridCol>
                <a:gridCol w="3927263">
                  <a:extLst>
                    <a:ext uri="{9D8B030D-6E8A-4147-A177-3AD203B41FA5}">
                      <a16:colId xmlns:a16="http://schemas.microsoft.com/office/drawing/2014/main" val="281309937"/>
                    </a:ext>
                  </a:extLst>
                </a:gridCol>
              </a:tblGrid>
              <a:tr h="370840">
                <a:tc>
                  <a:txBody>
                    <a:bodyPr/>
                    <a:lstStyle/>
                    <a:p>
                      <a:pPr algn="ctr"/>
                      <a:r>
                        <a:rPr lang="en-US" dirty="0"/>
                        <a:t>FinOps Teams</a:t>
                      </a:r>
                    </a:p>
                  </a:txBody>
                  <a:tcPr/>
                </a:tc>
                <a:tc>
                  <a:txBody>
                    <a:bodyPr/>
                    <a:lstStyle/>
                    <a:p>
                      <a:pPr algn="ctr"/>
                      <a:r>
                        <a:rPr lang="en-US" dirty="0"/>
                        <a:t>Responsibility</a:t>
                      </a:r>
                    </a:p>
                  </a:txBody>
                  <a:tcPr/>
                </a:tc>
                <a:tc>
                  <a:txBody>
                    <a:bodyPr/>
                    <a:lstStyle/>
                    <a:p>
                      <a:pPr algn="ctr"/>
                      <a:r>
                        <a:rPr lang="en-US" dirty="0"/>
                        <a:t>Actions</a:t>
                      </a:r>
                    </a:p>
                  </a:txBody>
                  <a:tcPr/>
                </a:tc>
                <a:extLst>
                  <a:ext uri="{0D108BD9-81ED-4DB2-BD59-A6C34878D82A}">
                    <a16:rowId xmlns:a16="http://schemas.microsoft.com/office/drawing/2014/main" val="3240743769"/>
                  </a:ext>
                </a:extLst>
              </a:tr>
              <a:tr h="121117">
                <a:tc>
                  <a:txBody>
                    <a:bodyPr/>
                    <a:lstStyle/>
                    <a:p>
                      <a:pPr algn="ctr"/>
                      <a:r>
                        <a:rPr lang="en-US" sz="2000" b="1" dirty="0"/>
                        <a:t>Engineering</a:t>
                      </a:r>
                    </a:p>
                  </a:txBody>
                  <a:tcPr anchor="ctr"/>
                </a:tc>
                <a:tc>
                  <a:txBody>
                    <a:bodyPr/>
                    <a:lstStyle/>
                    <a:p>
                      <a:pPr marL="285750" indent="-285750" algn="l">
                        <a:buFont typeface="Wingdings" panose="05000000000000000000" pitchFamily="2" charset="2"/>
                        <a:buChar char="§"/>
                      </a:pPr>
                      <a:r>
                        <a:rPr lang="en-US" sz="1400" dirty="0"/>
                        <a:t>Map and track cloud spend </a:t>
                      </a:r>
                    </a:p>
                    <a:p>
                      <a:pPr marL="285750" indent="-285750" algn="l">
                        <a:buFont typeface="Wingdings" panose="05000000000000000000" pitchFamily="2" charset="2"/>
                        <a:buChar char="§"/>
                      </a:pPr>
                      <a:r>
                        <a:rPr lang="en-US" sz="1400" dirty="0"/>
                        <a:t>Identify units to be tracked</a:t>
                      </a:r>
                    </a:p>
                    <a:p>
                      <a:pPr marL="285750" indent="-285750" algn="l">
                        <a:buFont typeface="Wingdings" panose="05000000000000000000" pitchFamily="2" charset="2"/>
                        <a:buChar char="§"/>
                      </a:pPr>
                      <a:r>
                        <a:rPr lang="en-US" sz="1400" dirty="0"/>
                        <a:t>Define a management &amp; governance</a:t>
                      </a:r>
                    </a:p>
                    <a:p>
                      <a:pPr marL="285750" indent="-285750" algn="l">
                        <a:buFont typeface="Wingdings" panose="05000000000000000000" pitchFamily="2" charset="2"/>
                        <a:buChar char="§"/>
                      </a:pPr>
                      <a:r>
                        <a:rPr lang="en-US" sz="1400" dirty="0"/>
                        <a:t>Set tagging strategy &amp; compliance</a:t>
                      </a:r>
                    </a:p>
                    <a:p>
                      <a:pPr marL="285750" indent="-285750" algn="l">
                        <a:buFont typeface="Wingdings" panose="05000000000000000000" pitchFamily="2" charset="2"/>
                        <a:buChar char="§"/>
                      </a:pPr>
                      <a:r>
                        <a:rPr lang="en-US" sz="1400" b="1" dirty="0"/>
                        <a:t>Lead FinOps Initiative</a:t>
                      </a:r>
                    </a:p>
                  </a:txBody>
                  <a:tcPr/>
                </a:tc>
                <a:tc>
                  <a:txBody>
                    <a:bodyPr/>
                    <a:lstStyle/>
                    <a:p>
                      <a:pPr marL="285750" indent="-285750" algn="l">
                        <a:buFont typeface="Wingdings" panose="05000000000000000000" pitchFamily="2" charset="2"/>
                        <a:buChar char="§"/>
                      </a:pPr>
                      <a:r>
                        <a:rPr lang="en-US" sz="1400" b="1" dirty="0"/>
                        <a:t>Lead charge of FinOps Initiative</a:t>
                      </a:r>
                    </a:p>
                    <a:p>
                      <a:pPr marL="285750" indent="-285750" algn="l">
                        <a:buFont typeface="Wingdings" panose="05000000000000000000" pitchFamily="2" charset="2"/>
                        <a:buChar char="§"/>
                      </a:pPr>
                      <a:r>
                        <a:rPr lang="en-US" sz="1400" dirty="0"/>
                        <a:t>Drive accountability for cloud spend</a:t>
                      </a:r>
                    </a:p>
                    <a:p>
                      <a:pPr marL="285750" indent="-285750" algn="l">
                        <a:buFont typeface="Wingdings" panose="05000000000000000000" pitchFamily="2" charset="2"/>
                        <a:buChar char="§"/>
                      </a:pPr>
                      <a:r>
                        <a:rPr lang="en-US" sz="1400" dirty="0"/>
                        <a:t>Identify FinOps team stakeholders </a:t>
                      </a:r>
                    </a:p>
                    <a:p>
                      <a:pPr marL="285750" indent="-285750" algn="l">
                        <a:buFont typeface="Wingdings" panose="05000000000000000000" pitchFamily="2" charset="2"/>
                        <a:buChar char="§"/>
                      </a:pPr>
                      <a:r>
                        <a:rPr lang="en-US" sz="1400" dirty="0"/>
                        <a:t>Analyze and track usage across environment and subscriptions</a:t>
                      </a:r>
                    </a:p>
                    <a:p>
                      <a:pPr algn="l"/>
                      <a:endParaRPr lang="en-US" sz="1400" dirty="0"/>
                    </a:p>
                    <a:p>
                      <a:pPr algn="l"/>
                      <a:endParaRPr lang="en-US" sz="1400" dirty="0"/>
                    </a:p>
                  </a:txBody>
                  <a:tcPr/>
                </a:tc>
                <a:extLst>
                  <a:ext uri="{0D108BD9-81ED-4DB2-BD59-A6C34878D82A}">
                    <a16:rowId xmlns:a16="http://schemas.microsoft.com/office/drawing/2014/main" val="2841265550"/>
                  </a:ext>
                </a:extLst>
              </a:tr>
              <a:tr h="370840">
                <a:tc>
                  <a:txBody>
                    <a:bodyPr/>
                    <a:lstStyle/>
                    <a:p>
                      <a:pPr algn="ctr"/>
                      <a:r>
                        <a:rPr lang="en-US" sz="2000" b="1" dirty="0"/>
                        <a:t>Finance</a:t>
                      </a:r>
                    </a:p>
                  </a:txBody>
                  <a:tcPr anchor="ctr"/>
                </a:tc>
                <a:tc>
                  <a:txBody>
                    <a:bodyPr/>
                    <a:lstStyle/>
                    <a:p>
                      <a:pPr marL="285750" indent="-285750" algn="l">
                        <a:buFont typeface="Wingdings" panose="05000000000000000000" pitchFamily="2" charset="2"/>
                        <a:buChar char="§"/>
                      </a:pPr>
                      <a:r>
                        <a:rPr lang="en-US" sz="1400" dirty="0"/>
                        <a:t>Define budgets and forecast</a:t>
                      </a:r>
                    </a:p>
                    <a:p>
                      <a:pPr marL="285750" indent="-285750" algn="l">
                        <a:buFont typeface="Wingdings" panose="05000000000000000000" pitchFamily="2" charset="2"/>
                        <a:buChar char="§"/>
                      </a:pPr>
                      <a:r>
                        <a:rPr lang="en-US" sz="1400" dirty="0"/>
                        <a:t>Trending &amp; variance analysis</a:t>
                      </a:r>
                    </a:p>
                    <a:p>
                      <a:pPr marL="285750" indent="-285750" algn="l">
                        <a:buFont typeface="Wingdings" panose="05000000000000000000" pitchFamily="2" charset="2"/>
                        <a:buChar char="§"/>
                      </a:pPr>
                      <a:r>
                        <a:rPr lang="en-US" sz="1400" dirty="0"/>
                        <a:t>Direct Chargebacks</a:t>
                      </a:r>
                    </a:p>
                    <a:p>
                      <a:pPr marL="285750" indent="-285750" algn="l">
                        <a:buFont typeface="Wingdings" panose="05000000000000000000" pitchFamily="2" charset="2"/>
                        <a:buChar char="§"/>
                      </a:pPr>
                      <a:r>
                        <a:rPr lang="en-US" sz="1400" dirty="0"/>
                        <a:t>Reservation and Commitment usage monitoring and alerting in place</a:t>
                      </a:r>
                    </a:p>
                  </a:txBody>
                  <a:tcPr/>
                </a:tc>
                <a:tc>
                  <a:txBody>
                    <a:bodyPr/>
                    <a:lstStyle/>
                    <a:p>
                      <a:pPr marL="285750" indent="-285750" algn="l">
                        <a:buFont typeface="Wingdings" panose="05000000000000000000" pitchFamily="2" charset="2"/>
                        <a:buChar char="§"/>
                      </a:pPr>
                      <a:r>
                        <a:rPr lang="en-US" sz="1400" dirty="0"/>
                        <a:t>Analyze details on where cloud spend is deriving from and supply any financial outcomes that can be attributed to those cloud solutions</a:t>
                      </a:r>
                    </a:p>
                  </a:txBody>
                  <a:tcPr/>
                </a:tc>
                <a:extLst>
                  <a:ext uri="{0D108BD9-81ED-4DB2-BD59-A6C34878D82A}">
                    <a16:rowId xmlns:a16="http://schemas.microsoft.com/office/drawing/2014/main" val="3298370004"/>
                  </a:ext>
                </a:extLst>
              </a:tr>
              <a:tr h="370840">
                <a:tc>
                  <a:txBody>
                    <a:bodyPr/>
                    <a:lstStyle/>
                    <a:p>
                      <a:pPr algn="ctr"/>
                      <a:r>
                        <a:rPr lang="en-US" sz="2000" b="1" dirty="0"/>
                        <a:t>Business</a:t>
                      </a:r>
                    </a:p>
                  </a:txBody>
                  <a:tcPr anchor="ctr"/>
                </a:tc>
                <a:tc>
                  <a:txBody>
                    <a:bodyPr/>
                    <a:lstStyle/>
                    <a:p>
                      <a:pPr marL="285750" indent="-285750" algn="l">
                        <a:buFont typeface="Wingdings" panose="05000000000000000000" pitchFamily="2" charset="2"/>
                        <a:buChar char="§"/>
                      </a:pPr>
                      <a:r>
                        <a:rPr lang="en-US" sz="1400" dirty="0"/>
                        <a:t>Set KPIs and budgets throughout organization</a:t>
                      </a:r>
                    </a:p>
                    <a:p>
                      <a:pPr marL="285750" indent="-285750" algn="l">
                        <a:buFont typeface="Wingdings" panose="05000000000000000000" pitchFamily="2" charset="2"/>
                        <a:buChar char="§"/>
                      </a:pPr>
                      <a:r>
                        <a:rPr lang="en-US" sz="1400" dirty="0"/>
                        <a:t>Create benchmark scorecards</a:t>
                      </a:r>
                    </a:p>
                    <a:p>
                      <a:pPr marL="285750" indent="-285750" algn="l">
                        <a:buFont typeface="Wingdings" panose="05000000000000000000" pitchFamily="2" charset="2"/>
                        <a:buChar char="§"/>
                      </a:pPr>
                      <a:r>
                        <a:rPr lang="en-US" sz="1400" dirty="0"/>
                        <a:t>Build a FinOps team</a:t>
                      </a:r>
                    </a:p>
                    <a:p>
                      <a:pPr marL="285750" indent="-285750" algn="l">
                        <a:buFont typeface="Wingdings" panose="05000000000000000000" pitchFamily="2" charset="2"/>
                        <a:buChar char="§"/>
                      </a:pPr>
                      <a:r>
                        <a:rPr lang="en-US" sz="1400" dirty="0"/>
                        <a:t>Aligning organization on FinOps</a:t>
                      </a:r>
                    </a:p>
                    <a:p>
                      <a:pPr marL="285750" indent="-285750" algn="l">
                        <a:buFont typeface="Wingdings" panose="05000000000000000000" pitchFamily="2" charset="2"/>
                        <a:buChar char="§"/>
                      </a:pPr>
                      <a:r>
                        <a:rPr lang="en-US" sz="1400" dirty="0"/>
                        <a:t>Shift in Culture of Financial Accountability </a:t>
                      </a:r>
                    </a:p>
                  </a:txBody>
                  <a:tcPr/>
                </a:tc>
                <a:tc>
                  <a:txBody>
                    <a:bodyPr/>
                    <a:lstStyle/>
                    <a:p>
                      <a:pPr marL="285750" indent="-285750" algn="l">
                        <a:buFont typeface="Wingdings" panose="05000000000000000000" pitchFamily="2" charset="2"/>
                        <a:buChar char="§"/>
                      </a:pPr>
                      <a:r>
                        <a:rPr lang="en-US" sz="1400" dirty="0"/>
                        <a:t>Gather team of Business leaders to better understand of how they use cloud solutions to drive business value</a:t>
                      </a:r>
                    </a:p>
                    <a:p>
                      <a:pPr marL="285750" indent="-285750" algn="l">
                        <a:buFont typeface="Wingdings" panose="05000000000000000000" pitchFamily="2" charset="2"/>
                        <a:buChar char="§"/>
                      </a:pPr>
                      <a:r>
                        <a:rPr lang="en-US" sz="1400" dirty="0"/>
                        <a:t>Business ownership will also help you communicate any new requirements downstream.</a:t>
                      </a:r>
                    </a:p>
                  </a:txBody>
                  <a:tcPr/>
                </a:tc>
                <a:extLst>
                  <a:ext uri="{0D108BD9-81ED-4DB2-BD59-A6C34878D82A}">
                    <a16:rowId xmlns:a16="http://schemas.microsoft.com/office/drawing/2014/main" val="3061101736"/>
                  </a:ext>
                </a:extLst>
              </a:tr>
            </a:tbl>
          </a:graphicData>
        </a:graphic>
      </p:graphicFrame>
      <p:sp>
        <p:nvSpPr>
          <p:cNvPr id="21" name="Rectangle 20">
            <a:extLst>
              <a:ext uri="{FF2B5EF4-FFF2-40B4-BE49-F238E27FC236}">
                <a16:creationId xmlns:a16="http://schemas.microsoft.com/office/drawing/2014/main" id="{3853600F-03BB-47A0-BCB4-041E20075345}"/>
              </a:ext>
            </a:extLst>
          </p:cNvPr>
          <p:cNvSpPr/>
          <p:nvPr/>
        </p:nvSpPr>
        <p:spPr bwMode="auto">
          <a:xfrm>
            <a:off x="0" y="864598"/>
            <a:ext cx="12192000" cy="83273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mn-cs"/>
              </a:rPr>
              <a:t>Goal</a:t>
            </a:r>
            <a:r>
              <a:rPr kumimoji="0" lang="en-US" sz="2000" b="0" i="0" u="none" strike="noStrike" kern="1200" cap="none" spc="0" normalizeH="0" baseline="0" noProof="0" dirty="0">
                <a:ln>
                  <a:noFill/>
                </a:ln>
                <a:solidFill>
                  <a:srgbClr val="FFFFFF"/>
                </a:solidFill>
                <a:effectLst/>
                <a:uLnTx/>
                <a:uFillTx/>
                <a:latin typeface="Segoe UI"/>
                <a:ea typeface="+mn-ea"/>
                <a:cs typeface="+mn-cs"/>
              </a:rPr>
              <a:t>:  </a:t>
            </a:r>
            <a:r>
              <a:rPr kumimoji="0" lang="en-US" sz="1800" b="0" i="0" u="none" strike="noStrike" kern="1200" cap="none" spc="0" normalizeH="0" baseline="0" noProof="0" dirty="0">
                <a:ln>
                  <a:noFill/>
                </a:ln>
                <a:solidFill>
                  <a:srgbClr val="FFFFFF"/>
                </a:solidFill>
                <a:effectLst/>
                <a:uLnTx/>
                <a:uFillTx/>
                <a:latin typeface="Segoe UI"/>
                <a:ea typeface="+mn-ea"/>
                <a:cs typeface="+mn-cs"/>
              </a:rPr>
              <a:t>Make cloud data </a:t>
            </a:r>
            <a:r>
              <a:rPr kumimoji="0" lang="en-US" sz="1800" b="1" i="1" u="sng" strike="noStrike" kern="1200" cap="none" spc="0" normalizeH="0" baseline="0" noProof="0" dirty="0">
                <a:ln>
                  <a:noFill/>
                </a:ln>
                <a:solidFill>
                  <a:srgbClr val="FFFFFF"/>
                </a:solidFill>
                <a:effectLst/>
                <a:uLnTx/>
                <a:uFillTx/>
                <a:latin typeface="Segoe UI"/>
                <a:ea typeface="+mn-ea"/>
                <a:cs typeface="+mn-cs"/>
              </a:rPr>
              <a:t>visible, transparent, and actionable </a:t>
            </a:r>
            <a:r>
              <a:rPr kumimoji="0" lang="en-US" sz="1800" b="0" i="0" u="none" strike="noStrike" kern="1200" cap="none" spc="0" normalizeH="0" baseline="0" noProof="0" dirty="0">
                <a:ln>
                  <a:noFill/>
                </a:ln>
                <a:solidFill>
                  <a:srgbClr val="FFFFFF"/>
                </a:solidFill>
                <a:effectLst/>
                <a:uLnTx/>
                <a:uFillTx/>
                <a:latin typeface="Segoe UI"/>
                <a:ea typeface="+mn-ea"/>
                <a:cs typeface="+mn-cs"/>
              </a:rPr>
              <a:t>to entire organization to drive financial accountability and accelerate cloud business value realization</a:t>
            </a:r>
          </a:p>
        </p:txBody>
      </p:sp>
    </p:spTree>
    <p:extLst>
      <p:ext uri="{BB962C8B-B14F-4D97-AF65-F5344CB8AC3E}">
        <p14:creationId xmlns:p14="http://schemas.microsoft.com/office/powerpoint/2010/main" val="158399118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3571F-856B-4423-9AF6-4BB13562BCB2}"/>
              </a:ext>
            </a:extLst>
          </p:cNvPr>
          <p:cNvSpPr>
            <a:spLocks noGrp="1"/>
          </p:cNvSpPr>
          <p:nvPr>
            <p:ph type="title"/>
          </p:nvPr>
        </p:nvSpPr>
        <p:spPr>
          <a:xfrm>
            <a:off x="365760" y="212453"/>
            <a:ext cx="11559320" cy="600892"/>
          </a:xfrm>
        </p:spPr>
        <p:txBody>
          <a:bodyPr/>
          <a:lstStyle/>
          <a:p>
            <a:r>
              <a:rPr lang="en-US" dirty="0"/>
              <a:t>FinOps | Inform</a:t>
            </a:r>
          </a:p>
        </p:txBody>
      </p:sp>
      <p:graphicFrame>
        <p:nvGraphicFramePr>
          <p:cNvPr id="16" name="Table 16">
            <a:extLst>
              <a:ext uri="{FF2B5EF4-FFF2-40B4-BE49-F238E27FC236}">
                <a16:creationId xmlns:a16="http://schemas.microsoft.com/office/drawing/2014/main" id="{ECA01E25-8F3E-40AA-978C-868CEE0CCD0B}"/>
              </a:ext>
            </a:extLst>
          </p:cNvPr>
          <p:cNvGraphicFramePr>
            <a:graphicFrameLocks noGrp="1"/>
          </p:cNvGraphicFramePr>
          <p:nvPr/>
        </p:nvGraphicFramePr>
        <p:xfrm>
          <a:off x="365760" y="1890562"/>
          <a:ext cx="11781789" cy="4480560"/>
        </p:xfrm>
        <a:graphic>
          <a:graphicData uri="http://schemas.openxmlformats.org/drawingml/2006/table">
            <a:tbl>
              <a:tblPr firstRow="1" bandRow="1">
                <a:tableStyleId>{69012ECD-51FC-41F1-AA8D-1B2483CD663E}</a:tableStyleId>
              </a:tblPr>
              <a:tblGrid>
                <a:gridCol w="3927263">
                  <a:extLst>
                    <a:ext uri="{9D8B030D-6E8A-4147-A177-3AD203B41FA5}">
                      <a16:colId xmlns:a16="http://schemas.microsoft.com/office/drawing/2014/main" val="2056285339"/>
                    </a:ext>
                  </a:extLst>
                </a:gridCol>
                <a:gridCol w="3927263">
                  <a:extLst>
                    <a:ext uri="{9D8B030D-6E8A-4147-A177-3AD203B41FA5}">
                      <a16:colId xmlns:a16="http://schemas.microsoft.com/office/drawing/2014/main" val="3149607007"/>
                    </a:ext>
                  </a:extLst>
                </a:gridCol>
                <a:gridCol w="3927263">
                  <a:extLst>
                    <a:ext uri="{9D8B030D-6E8A-4147-A177-3AD203B41FA5}">
                      <a16:colId xmlns:a16="http://schemas.microsoft.com/office/drawing/2014/main" val="281309937"/>
                    </a:ext>
                  </a:extLst>
                </a:gridCol>
              </a:tblGrid>
              <a:tr h="341255">
                <a:tc>
                  <a:txBody>
                    <a:bodyPr/>
                    <a:lstStyle/>
                    <a:p>
                      <a:pPr algn="ctr"/>
                      <a:r>
                        <a:rPr lang="en-US" dirty="0"/>
                        <a:t>FinOps Teams</a:t>
                      </a:r>
                    </a:p>
                  </a:txBody>
                  <a:tcPr/>
                </a:tc>
                <a:tc>
                  <a:txBody>
                    <a:bodyPr/>
                    <a:lstStyle/>
                    <a:p>
                      <a:pPr algn="ctr"/>
                      <a:r>
                        <a:rPr lang="en-US" dirty="0"/>
                        <a:t>Responsibility</a:t>
                      </a:r>
                    </a:p>
                  </a:txBody>
                  <a:tcPr/>
                </a:tc>
                <a:tc>
                  <a:txBody>
                    <a:bodyPr/>
                    <a:lstStyle/>
                    <a:p>
                      <a:pPr algn="ctr"/>
                      <a:r>
                        <a:rPr lang="en-US" dirty="0"/>
                        <a:t>Actions</a:t>
                      </a:r>
                    </a:p>
                  </a:txBody>
                  <a:tcPr/>
                </a:tc>
                <a:extLst>
                  <a:ext uri="{0D108BD9-81ED-4DB2-BD59-A6C34878D82A}">
                    <a16:rowId xmlns:a16="http://schemas.microsoft.com/office/drawing/2014/main" val="3240743769"/>
                  </a:ext>
                </a:extLst>
              </a:tr>
              <a:tr h="1478771">
                <a:tc>
                  <a:txBody>
                    <a:bodyPr/>
                    <a:lstStyle/>
                    <a:p>
                      <a:pPr algn="ctr"/>
                      <a:r>
                        <a:rPr lang="en-US" sz="2000" b="1" dirty="0"/>
                        <a:t>IT</a:t>
                      </a:r>
                    </a:p>
                  </a:txBody>
                  <a:tcPr anchor="ctr"/>
                </a:tc>
                <a:tc>
                  <a:txBody>
                    <a:bodyPr/>
                    <a:lstStyle/>
                    <a:p>
                      <a:pPr marL="285750" indent="-285750" algn="l">
                        <a:buFont typeface="Wingdings" panose="05000000000000000000" pitchFamily="2" charset="2"/>
                        <a:buChar char="§"/>
                      </a:pPr>
                      <a:r>
                        <a:rPr lang="en-US" sz="1400" dirty="0"/>
                        <a:t>Map and track cloud spend </a:t>
                      </a:r>
                    </a:p>
                    <a:p>
                      <a:pPr marL="285750" indent="-285750" algn="l">
                        <a:buFont typeface="Wingdings" panose="05000000000000000000" pitchFamily="2" charset="2"/>
                        <a:buChar char="§"/>
                      </a:pPr>
                      <a:r>
                        <a:rPr lang="en-US" sz="1400" dirty="0"/>
                        <a:t>Identify units to be tracked</a:t>
                      </a:r>
                    </a:p>
                    <a:p>
                      <a:pPr marL="285750" indent="-285750" algn="l">
                        <a:buFont typeface="Wingdings" panose="05000000000000000000" pitchFamily="2" charset="2"/>
                        <a:buChar char="§"/>
                      </a:pPr>
                      <a:r>
                        <a:rPr lang="en-US" sz="1400" dirty="0"/>
                        <a:t>Define a management &amp; governance</a:t>
                      </a:r>
                    </a:p>
                    <a:p>
                      <a:pPr marL="285750" indent="-285750" algn="l">
                        <a:buFont typeface="Wingdings" panose="05000000000000000000" pitchFamily="2" charset="2"/>
                        <a:buChar char="§"/>
                      </a:pPr>
                      <a:r>
                        <a:rPr lang="en-US" sz="1400" dirty="0"/>
                        <a:t>Set tagging strategy &amp; compliance</a:t>
                      </a:r>
                    </a:p>
                    <a:p>
                      <a:pPr marL="285750" indent="-285750" algn="l">
                        <a:buFont typeface="Wingdings" panose="05000000000000000000" pitchFamily="2" charset="2"/>
                        <a:buChar char="§"/>
                      </a:pPr>
                      <a:r>
                        <a:rPr lang="en-US" sz="1400" dirty="0"/>
                        <a:t>Lead FinOps Initiative</a:t>
                      </a:r>
                    </a:p>
                  </a:txBody>
                  <a:tcPr/>
                </a:tc>
                <a:tc>
                  <a:txBody>
                    <a:bodyPr/>
                    <a:lstStyle/>
                    <a:p>
                      <a:pPr marL="285750" indent="-285750" algn="l">
                        <a:buFont typeface="Wingdings" panose="05000000000000000000" pitchFamily="2" charset="2"/>
                        <a:buChar char="§"/>
                      </a:pPr>
                      <a:r>
                        <a:rPr lang="en-US" sz="1400" dirty="0"/>
                        <a:t>Lead charge of FinOps Initiative</a:t>
                      </a:r>
                    </a:p>
                    <a:p>
                      <a:pPr marL="285750" indent="-285750" algn="l">
                        <a:buFont typeface="Wingdings" panose="05000000000000000000" pitchFamily="2" charset="2"/>
                        <a:buChar char="§"/>
                      </a:pPr>
                      <a:r>
                        <a:rPr lang="en-US" sz="1400" dirty="0"/>
                        <a:t>Drive accountability for cloud spend</a:t>
                      </a:r>
                    </a:p>
                    <a:p>
                      <a:pPr marL="285750" indent="-285750" algn="l">
                        <a:buFont typeface="Wingdings" panose="05000000000000000000" pitchFamily="2" charset="2"/>
                        <a:buChar char="§"/>
                      </a:pPr>
                      <a:r>
                        <a:rPr lang="en-US" sz="1400" dirty="0"/>
                        <a:t>Identify FinOps team stakeholders </a:t>
                      </a:r>
                    </a:p>
                    <a:p>
                      <a:pPr marL="285750" indent="-285750" algn="l">
                        <a:buFont typeface="Wingdings" panose="05000000000000000000" pitchFamily="2" charset="2"/>
                        <a:buChar char="§"/>
                      </a:pPr>
                      <a:r>
                        <a:rPr lang="en-US" sz="1400" dirty="0"/>
                        <a:t>Analyze and track usage across environment and subscriptions</a:t>
                      </a:r>
                    </a:p>
                    <a:p>
                      <a:pPr algn="l"/>
                      <a:endParaRPr lang="en-US" sz="1400" dirty="0"/>
                    </a:p>
                    <a:p>
                      <a:pPr algn="l"/>
                      <a:endParaRPr lang="en-US" sz="1400" dirty="0"/>
                    </a:p>
                  </a:txBody>
                  <a:tcPr/>
                </a:tc>
                <a:extLst>
                  <a:ext uri="{0D108BD9-81ED-4DB2-BD59-A6C34878D82A}">
                    <a16:rowId xmlns:a16="http://schemas.microsoft.com/office/drawing/2014/main" val="2841265550"/>
                  </a:ext>
                </a:extLst>
              </a:tr>
              <a:tr h="1080641">
                <a:tc>
                  <a:txBody>
                    <a:bodyPr/>
                    <a:lstStyle/>
                    <a:p>
                      <a:pPr algn="ctr"/>
                      <a:r>
                        <a:rPr lang="en-US" sz="2000" b="1" dirty="0"/>
                        <a:t>Finance</a:t>
                      </a:r>
                    </a:p>
                  </a:txBody>
                  <a:tcPr anchor="ctr"/>
                </a:tc>
                <a:tc>
                  <a:txBody>
                    <a:bodyPr/>
                    <a:lstStyle/>
                    <a:p>
                      <a:pPr marL="285750" indent="-285750" algn="l">
                        <a:buFont typeface="Wingdings" panose="05000000000000000000" pitchFamily="2" charset="2"/>
                        <a:buChar char="§"/>
                      </a:pPr>
                      <a:r>
                        <a:rPr lang="en-US" sz="1400" dirty="0"/>
                        <a:t>Define budgets and forecast</a:t>
                      </a:r>
                    </a:p>
                    <a:p>
                      <a:pPr marL="285750" indent="-285750" algn="l">
                        <a:buFont typeface="Wingdings" panose="05000000000000000000" pitchFamily="2" charset="2"/>
                        <a:buChar char="§"/>
                      </a:pPr>
                      <a:r>
                        <a:rPr lang="en-US" sz="1400" dirty="0"/>
                        <a:t>Trending &amp; variance analysis</a:t>
                      </a:r>
                    </a:p>
                    <a:p>
                      <a:pPr marL="285750" indent="-285750" algn="l">
                        <a:buFont typeface="Wingdings" panose="05000000000000000000" pitchFamily="2" charset="2"/>
                        <a:buChar char="§"/>
                      </a:pPr>
                      <a:r>
                        <a:rPr lang="en-US" sz="1400" dirty="0"/>
                        <a:t>Direct Chargebacks</a:t>
                      </a:r>
                    </a:p>
                    <a:p>
                      <a:pPr marL="285750" indent="-285750" algn="l">
                        <a:buFont typeface="Wingdings" panose="05000000000000000000" pitchFamily="2" charset="2"/>
                        <a:buChar char="§"/>
                      </a:pPr>
                      <a:r>
                        <a:rPr lang="en-US" sz="1400" dirty="0"/>
                        <a:t>Reservation and Commitment usage monitoring and alerting in place</a:t>
                      </a:r>
                    </a:p>
                  </a:txBody>
                  <a:tcPr/>
                </a:tc>
                <a:tc>
                  <a:txBody>
                    <a:bodyPr/>
                    <a:lstStyle/>
                    <a:p>
                      <a:pPr marL="285750" indent="-285750" algn="l">
                        <a:buFont typeface="Wingdings" panose="05000000000000000000" pitchFamily="2" charset="2"/>
                        <a:buChar char="§"/>
                      </a:pPr>
                      <a:r>
                        <a:rPr lang="en-US" sz="1400" dirty="0"/>
                        <a:t>Analyze details on where cloud spend is deriving from and supply any financial outcomes that can be attributed to those cloud solutions</a:t>
                      </a:r>
                    </a:p>
                  </a:txBody>
                  <a:tcPr/>
                </a:tc>
                <a:extLst>
                  <a:ext uri="{0D108BD9-81ED-4DB2-BD59-A6C34878D82A}">
                    <a16:rowId xmlns:a16="http://schemas.microsoft.com/office/drawing/2014/main" val="3298370004"/>
                  </a:ext>
                </a:extLst>
              </a:tr>
              <a:tr h="1279706">
                <a:tc>
                  <a:txBody>
                    <a:bodyPr/>
                    <a:lstStyle/>
                    <a:p>
                      <a:pPr algn="ctr"/>
                      <a:r>
                        <a:rPr lang="en-US" sz="2000" b="1" dirty="0"/>
                        <a:t>Business</a:t>
                      </a:r>
                    </a:p>
                  </a:txBody>
                  <a:tcPr anchor="ctr"/>
                </a:tc>
                <a:tc>
                  <a:txBody>
                    <a:bodyPr/>
                    <a:lstStyle/>
                    <a:p>
                      <a:pPr marL="285750" indent="-285750" algn="l">
                        <a:buFont typeface="Wingdings" panose="05000000000000000000" pitchFamily="2" charset="2"/>
                        <a:buChar char="§"/>
                      </a:pPr>
                      <a:r>
                        <a:rPr lang="en-US" sz="1400" dirty="0"/>
                        <a:t>Set KPIs and budgets throughout organization</a:t>
                      </a:r>
                    </a:p>
                    <a:p>
                      <a:pPr marL="285750" indent="-285750" algn="l">
                        <a:buFont typeface="Wingdings" panose="05000000000000000000" pitchFamily="2" charset="2"/>
                        <a:buChar char="§"/>
                      </a:pPr>
                      <a:r>
                        <a:rPr lang="en-US" sz="1400" dirty="0"/>
                        <a:t>Create benchmark scorecards</a:t>
                      </a:r>
                    </a:p>
                    <a:p>
                      <a:pPr marL="285750" indent="-285750" algn="l">
                        <a:buFont typeface="Wingdings" panose="05000000000000000000" pitchFamily="2" charset="2"/>
                        <a:buChar char="§"/>
                      </a:pPr>
                      <a:r>
                        <a:rPr lang="en-US" sz="1400" dirty="0"/>
                        <a:t>Build a FinOps team</a:t>
                      </a:r>
                    </a:p>
                    <a:p>
                      <a:pPr marL="285750" indent="-285750" algn="l">
                        <a:buFont typeface="Wingdings" panose="05000000000000000000" pitchFamily="2" charset="2"/>
                        <a:buChar char="§"/>
                      </a:pPr>
                      <a:r>
                        <a:rPr lang="en-US" sz="1400" dirty="0"/>
                        <a:t>Aligning organization on FinOps</a:t>
                      </a:r>
                    </a:p>
                    <a:p>
                      <a:pPr marL="285750" indent="-285750" algn="l">
                        <a:buFont typeface="Wingdings" panose="05000000000000000000" pitchFamily="2" charset="2"/>
                        <a:buChar char="§"/>
                      </a:pPr>
                      <a:r>
                        <a:rPr lang="en-US" sz="1400" dirty="0"/>
                        <a:t>Shift in Culture of Financial Accountability </a:t>
                      </a:r>
                    </a:p>
                  </a:txBody>
                  <a:tcPr/>
                </a:tc>
                <a:tc>
                  <a:txBody>
                    <a:bodyPr/>
                    <a:lstStyle/>
                    <a:p>
                      <a:pPr marL="285750" indent="-285750" algn="l">
                        <a:buFont typeface="Wingdings" panose="05000000000000000000" pitchFamily="2" charset="2"/>
                        <a:buChar char="§"/>
                      </a:pPr>
                      <a:r>
                        <a:rPr lang="en-US" sz="1400" dirty="0"/>
                        <a:t>Gather team of Business leaders to better understand of how they use cloud solutions to drive business value</a:t>
                      </a:r>
                    </a:p>
                    <a:p>
                      <a:pPr marL="285750" indent="-285750" algn="l">
                        <a:buFont typeface="Wingdings" panose="05000000000000000000" pitchFamily="2" charset="2"/>
                        <a:buChar char="§"/>
                      </a:pPr>
                      <a:r>
                        <a:rPr lang="en-US" sz="1400" dirty="0"/>
                        <a:t>Business ownership will also help you communicate any new requirements downstream.</a:t>
                      </a:r>
                    </a:p>
                  </a:txBody>
                  <a:tcPr/>
                </a:tc>
                <a:extLst>
                  <a:ext uri="{0D108BD9-81ED-4DB2-BD59-A6C34878D82A}">
                    <a16:rowId xmlns:a16="http://schemas.microsoft.com/office/drawing/2014/main" val="3061101736"/>
                  </a:ext>
                </a:extLst>
              </a:tr>
            </a:tbl>
          </a:graphicData>
        </a:graphic>
      </p:graphicFrame>
      <p:sp>
        <p:nvSpPr>
          <p:cNvPr id="18" name="TextBox 17">
            <a:extLst>
              <a:ext uri="{FF2B5EF4-FFF2-40B4-BE49-F238E27FC236}">
                <a16:creationId xmlns:a16="http://schemas.microsoft.com/office/drawing/2014/main" id="{D06D9A04-CABE-4A18-B372-2BCCBE4ED60B}"/>
              </a:ext>
            </a:extLst>
          </p:cNvPr>
          <p:cNvSpPr txBox="1"/>
          <p:nvPr/>
        </p:nvSpPr>
        <p:spPr>
          <a:xfrm>
            <a:off x="266920" y="813345"/>
            <a:ext cx="11351978"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Build cost transparency and clarity through the Inform phase by identifying organizational units and mapping them to cloud resources for further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Segoe UI"/>
                <a:ea typeface="+mn-ea"/>
                <a:cs typeface="+mn-cs"/>
              </a:rPr>
              <a:t>Goal</a:t>
            </a:r>
            <a:r>
              <a:rPr kumimoji="0" lang="en-US" sz="1600" b="0" i="0" u="none" strike="noStrike" kern="1200" cap="none" spc="0" normalizeH="0" baseline="0" noProof="0" dirty="0">
                <a:ln>
                  <a:noFill/>
                </a:ln>
                <a:solidFill>
                  <a:srgbClr val="000000"/>
                </a:solidFill>
                <a:effectLst/>
                <a:uLnTx/>
                <a:uFillTx/>
                <a:latin typeface="Segoe UI"/>
                <a:ea typeface="+mn-ea"/>
                <a:cs typeface="+mn-cs"/>
              </a:rPr>
              <a:t>: Make cloud data </a:t>
            </a:r>
            <a:r>
              <a:rPr kumimoji="0" lang="en-US" sz="1600" b="1" i="1" u="sng" strike="noStrike" kern="1200" cap="none" spc="0" normalizeH="0" baseline="0" noProof="0" dirty="0">
                <a:ln>
                  <a:noFill/>
                </a:ln>
                <a:solidFill>
                  <a:srgbClr val="000000"/>
                </a:solidFill>
                <a:effectLst/>
                <a:uLnTx/>
                <a:uFillTx/>
                <a:latin typeface="Segoe UI"/>
                <a:ea typeface="+mn-ea"/>
                <a:cs typeface="+mn-cs"/>
              </a:rPr>
              <a:t>visible, transparent, and actionable </a:t>
            </a:r>
            <a:r>
              <a:rPr kumimoji="0" lang="en-US" sz="1600" b="0" i="0" u="none" strike="noStrike" kern="1200" cap="none" spc="0" normalizeH="0" baseline="0" noProof="0" dirty="0">
                <a:ln>
                  <a:noFill/>
                </a:ln>
                <a:solidFill>
                  <a:srgbClr val="000000"/>
                </a:solidFill>
                <a:effectLst/>
                <a:uLnTx/>
                <a:uFillTx/>
                <a:latin typeface="Segoe UI"/>
                <a:ea typeface="+mn-ea"/>
                <a:cs typeface="+mn-cs"/>
              </a:rPr>
              <a:t>to entire organization</a:t>
            </a:r>
          </a:p>
        </p:txBody>
      </p:sp>
    </p:spTree>
    <p:extLst>
      <p:ext uri="{BB962C8B-B14F-4D97-AF65-F5344CB8AC3E}">
        <p14:creationId xmlns:p14="http://schemas.microsoft.com/office/powerpoint/2010/main" val="117015642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3571F-856B-4423-9AF6-4BB13562BCB2}"/>
              </a:ext>
            </a:extLst>
          </p:cNvPr>
          <p:cNvSpPr>
            <a:spLocks noGrp="1"/>
          </p:cNvSpPr>
          <p:nvPr>
            <p:ph type="title"/>
          </p:nvPr>
        </p:nvSpPr>
        <p:spPr>
          <a:xfrm>
            <a:off x="365760" y="212453"/>
            <a:ext cx="11559320" cy="600892"/>
          </a:xfrm>
        </p:spPr>
        <p:txBody>
          <a:bodyPr/>
          <a:lstStyle/>
          <a:p>
            <a:r>
              <a:rPr lang="en-US" dirty="0"/>
              <a:t>FinOps | Optimize</a:t>
            </a:r>
          </a:p>
        </p:txBody>
      </p:sp>
      <p:graphicFrame>
        <p:nvGraphicFramePr>
          <p:cNvPr id="16" name="Table 16">
            <a:extLst>
              <a:ext uri="{FF2B5EF4-FFF2-40B4-BE49-F238E27FC236}">
                <a16:creationId xmlns:a16="http://schemas.microsoft.com/office/drawing/2014/main" id="{ECA01E25-8F3E-40AA-978C-868CEE0CCD0B}"/>
              </a:ext>
            </a:extLst>
          </p:cNvPr>
          <p:cNvGraphicFramePr>
            <a:graphicFrameLocks noGrp="1"/>
          </p:cNvGraphicFramePr>
          <p:nvPr/>
        </p:nvGraphicFramePr>
        <p:xfrm>
          <a:off x="365760" y="1890563"/>
          <a:ext cx="11781789" cy="4272280"/>
        </p:xfrm>
        <a:graphic>
          <a:graphicData uri="http://schemas.openxmlformats.org/drawingml/2006/table">
            <a:tbl>
              <a:tblPr firstRow="1" bandRow="1">
                <a:tableStyleId>{69012ECD-51FC-41F1-AA8D-1B2483CD663E}</a:tableStyleId>
              </a:tblPr>
              <a:tblGrid>
                <a:gridCol w="3927263">
                  <a:extLst>
                    <a:ext uri="{9D8B030D-6E8A-4147-A177-3AD203B41FA5}">
                      <a16:colId xmlns:a16="http://schemas.microsoft.com/office/drawing/2014/main" val="2056285339"/>
                    </a:ext>
                  </a:extLst>
                </a:gridCol>
                <a:gridCol w="3927263">
                  <a:extLst>
                    <a:ext uri="{9D8B030D-6E8A-4147-A177-3AD203B41FA5}">
                      <a16:colId xmlns:a16="http://schemas.microsoft.com/office/drawing/2014/main" val="3149607007"/>
                    </a:ext>
                  </a:extLst>
                </a:gridCol>
                <a:gridCol w="3927263">
                  <a:extLst>
                    <a:ext uri="{9D8B030D-6E8A-4147-A177-3AD203B41FA5}">
                      <a16:colId xmlns:a16="http://schemas.microsoft.com/office/drawing/2014/main" val="281309937"/>
                    </a:ext>
                  </a:extLst>
                </a:gridCol>
              </a:tblGrid>
              <a:tr h="370840">
                <a:tc>
                  <a:txBody>
                    <a:bodyPr/>
                    <a:lstStyle/>
                    <a:p>
                      <a:pPr algn="ctr"/>
                      <a:r>
                        <a:rPr lang="en-US" dirty="0"/>
                        <a:t>FinOps Teams</a:t>
                      </a:r>
                    </a:p>
                  </a:txBody>
                  <a:tcPr/>
                </a:tc>
                <a:tc>
                  <a:txBody>
                    <a:bodyPr/>
                    <a:lstStyle/>
                    <a:p>
                      <a:pPr algn="ctr"/>
                      <a:r>
                        <a:rPr lang="en-US" dirty="0"/>
                        <a:t>Responsibility</a:t>
                      </a:r>
                    </a:p>
                  </a:txBody>
                  <a:tcPr/>
                </a:tc>
                <a:tc>
                  <a:txBody>
                    <a:bodyPr/>
                    <a:lstStyle/>
                    <a:p>
                      <a:pPr algn="ctr"/>
                      <a:r>
                        <a:rPr lang="en-US" dirty="0"/>
                        <a:t>Actions</a:t>
                      </a:r>
                    </a:p>
                  </a:txBody>
                  <a:tcPr/>
                </a:tc>
                <a:extLst>
                  <a:ext uri="{0D108BD9-81ED-4DB2-BD59-A6C34878D82A}">
                    <a16:rowId xmlns:a16="http://schemas.microsoft.com/office/drawing/2014/main" val="3240743769"/>
                  </a:ext>
                </a:extLst>
              </a:tr>
              <a:tr h="370840">
                <a:tc>
                  <a:txBody>
                    <a:bodyPr/>
                    <a:lstStyle/>
                    <a:p>
                      <a:pPr algn="ctr"/>
                      <a:r>
                        <a:rPr lang="en-US" sz="2000" b="1" dirty="0"/>
                        <a:t>IT</a:t>
                      </a:r>
                    </a:p>
                  </a:txBody>
                  <a:tcPr anchor="ctr"/>
                </a:tc>
                <a:tc>
                  <a:txBody>
                    <a:bodyPr/>
                    <a:lstStyle/>
                    <a:p>
                      <a:pPr marL="285750" indent="-285750" algn="l">
                        <a:buFont typeface="Wingdings" panose="05000000000000000000" pitchFamily="2" charset="2"/>
                        <a:buChar char="§"/>
                      </a:pPr>
                      <a:r>
                        <a:rPr lang="en-US" sz="1400" dirty="0"/>
                        <a:t>Overall spend optimization process</a:t>
                      </a:r>
                    </a:p>
                    <a:p>
                      <a:pPr marL="285750" indent="-285750" algn="l">
                        <a:buFont typeface="Wingdings" panose="05000000000000000000" pitchFamily="2" charset="2"/>
                        <a:buChar char="§"/>
                      </a:pPr>
                      <a:r>
                        <a:rPr lang="en-US" sz="1400" dirty="0"/>
                        <a:t>Determine product efficiency (ex. refactor, re-size, re-architect)</a:t>
                      </a:r>
                    </a:p>
                    <a:p>
                      <a:pPr marL="285750" indent="-285750" algn="l">
                        <a:buFont typeface="Wingdings" panose="05000000000000000000" pitchFamily="2" charset="2"/>
                        <a:buChar char="§"/>
                      </a:pPr>
                      <a:r>
                        <a:rPr lang="en-US" sz="1400" dirty="0"/>
                        <a:t>Leverage Billing constructs (Spot, Reserved Instances)</a:t>
                      </a:r>
                    </a:p>
                  </a:txBody>
                  <a:tcPr/>
                </a:tc>
                <a:tc>
                  <a:txBody>
                    <a:bodyPr/>
                    <a:lstStyle/>
                    <a:p>
                      <a:pPr marL="285750" indent="-285750" algn="l">
                        <a:buFont typeface="Wingdings" panose="05000000000000000000" pitchFamily="2" charset="2"/>
                        <a:buChar char="§"/>
                      </a:pPr>
                      <a:r>
                        <a:rPr lang="en-US" sz="1400" dirty="0"/>
                        <a:t>Rightsizing instances</a:t>
                      </a:r>
                    </a:p>
                    <a:p>
                      <a:pPr marL="285750" indent="-285750" algn="l">
                        <a:buFont typeface="Wingdings" panose="05000000000000000000" pitchFamily="2" charset="2"/>
                        <a:buChar char="§"/>
                      </a:pPr>
                      <a:r>
                        <a:rPr lang="en-US" sz="1400" dirty="0"/>
                        <a:t>Deletion of unused resources</a:t>
                      </a:r>
                    </a:p>
                    <a:p>
                      <a:pPr marL="285750" indent="-285750" algn="l">
                        <a:buFont typeface="Wingdings" panose="05000000000000000000" pitchFamily="2" charset="2"/>
                        <a:buChar char="§"/>
                      </a:pPr>
                      <a:r>
                        <a:rPr lang="en-US" sz="1400" dirty="0"/>
                        <a:t>Create Stop/Start of resources</a:t>
                      </a:r>
                    </a:p>
                    <a:p>
                      <a:pPr marL="285750" indent="-285750" algn="l">
                        <a:buFont typeface="Wingdings" panose="05000000000000000000" pitchFamily="2" charset="2"/>
                        <a:buChar char="§"/>
                      </a:pPr>
                      <a:r>
                        <a:rPr lang="en-US" sz="1400" dirty="0"/>
                        <a:t>Commitment management</a:t>
                      </a:r>
                    </a:p>
                    <a:p>
                      <a:pPr marL="285750" indent="-285750" algn="l">
                        <a:buFont typeface="Wingdings" panose="05000000000000000000" pitchFamily="2" charset="2"/>
                        <a:buChar char="§"/>
                      </a:pPr>
                      <a:r>
                        <a:rPr lang="en-US" sz="1400" dirty="0"/>
                        <a:t>Continous rightsizing</a:t>
                      </a:r>
                    </a:p>
                    <a:p>
                      <a:pPr marL="285750" indent="-285750" algn="l">
                        <a:buFont typeface="Wingdings" panose="05000000000000000000" pitchFamily="2" charset="2"/>
                        <a:buChar char="§"/>
                      </a:pPr>
                      <a:r>
                        <a:rPr lang="en-US" sz="1400" dirty="0"/>
                        <a:t>Supplier price management </a:t>
                      </a:r>
                    </a:p>
                  </a:txBody>
                  <a:tcPr/>
                </a:tc>
                <a:extLst>
                  <a:ext uri="{0D108BD9-81ED-4DB2-BD59-A6C34878D82A}">
                    <a16:rowId xmlns:a16="http://schemas.microsoft.com/office/drawing/2014/main" val="2841265550"/>
                  </a:ext>
                </a:extLst>
              </a:tr>
              <a:tr h="370840">
                <a:tc>
                  <a:txBody>
                    <a:bodyPr/>
                    <a:lstStyle/>
                    <a:p>
                      <a:pPr algn="ctr"/>
                      <a:r>
                        <a:rPr lang="en-US" sz="2000" b="1" dirty="0"/>
                        <a:t>Finance</a:t>
                      </a:r>
                    </a:p>
                  </a:txBody>
                  <a:tcPr anchor="ctr"/>
                </a:tc>
                <a:tc>
                  <a:txBody>
                    <a:bodyPr/>
                    <a:lstStyle/>
                    <a:p>
                      <a:pPr marL="285750" indent="-285750" algn="l">
                        <a:buFont typeface="Wingdings" panose="05000000000000000000" pitchFamily="2" charset="2"/>
                        <a:buChar char="§"/>
                      </a:pPr>
                      <a:r>
                        <a:rPr lang="en-US" sz="1400" dirty="0"/>
                        <a:t>Create priorties for areas to target in optimization</a:t>
                      </a:r>
                    </a:p>
                    <a:p>
                      <a:pPr marL="285750" indent="-285750" algn="l">
                        <a:buFont typeface="Wingdings" panose="05000000000000000000" pitchFamily="2" charset="2"/>
                        <a:buChar char="§"/>
                      </a:pPr>
                      <a:r>
                        <a:rPr lang="en-US" sz="1400" dirty="0"/>
                        <a:t>Analyze spending trends and variations</a:t>
                      </a:r>
                    </a:p>
                    <a:p>
                      <a:pPr marL="285750" indent="-285750" algn="l">
                        <a:buFont typeface="Wingdings" panose="05000000000000000000" pitchFamily="2" charset="2"/>
                        <a:buChar char="§"/>
                      </a:pPr>
                      <a:r>
                        <a:rPr lang="en-US" sz="1400" dirty="0"/>
                        <a:t>Start to manage and track budgeting</a:t>
                      </a:r>
                    </a:p>
                    <a:p>
                      <a:pPr marL="285750" indent="-285750" algn="l">
                        <a:buFont typeface="Wingdings" panose="05000000000000000000" pitchFamily="2" charset="2"/>
                        <a:buChar char="§"/>
                      </a:pPr>
                      <a:r>
                        <a:rPr lang="en-US" sz="1400" dirty="0"/>
                        <a:t>Determine accurate cloud spend forecast models</a:t>
                      </a:r>
                    </a:p>
                  </a:txBody>
                  <a:tcPr/>
                </a:tc>
                <a:tc>
                  <a:txBody>
                    <a:bodyPr/>
                    <a:lstStyle/>
                    <a:p>
                      <a:pPr marL="285750" indent="-285750" algn="l">
                        <a:buFont typeface="Wingdings" panose="05000000000000000000" pitchFamily="2" charset="2"/>
                        <a:buChar char="§"/>
                      </a:pPr>
                      <a:r>
                        <a:rPr lang="en-US" sz="1400" dirty="0"/>
                        <a:t>Partner with IT team to analyze and track billing data to determine cloud spend and forecasting</a:t>
                      </a:r>
                    </a:p>
                    <a:p>
                      <a:pPr marL="285750" indent="-285750" algn="l">
                        <a:buFont typeface="Wingdings" panose="05000000000000000000" pitchFamily="2" charset="2"/>
                        <a:buChar char="§"/>
                      </a:pPr>
                      <a:r>
                        <a:rPr lang="en-US" sz="1400" dirty="0"/>
                        <a:t>Export cost reports for invoicing</a:t>
                      </a:r>
                    </a:p>
                    <a:p>
                      <a:pPr marL="285750" indent="-285750" algn="l">
                        <a:buFont typeface="Wingdings" panose="05000000000000000000" pitchFamily="2" charset="2"/>
                        <a:buChar char="§"/>
                      </a:pPr>
                      <a:r>
                        <a:rPr lang="en-US" sz="1400" dirty="0"/>
                        <a:t>Manage usage and cost of cloud subscription</a:t>
                      </a:r>
                    </a:p>
                    <a:p>
                      <a:pPr marL="285750" indent="-285750" algn="l">
                        <a:buFont typeface="Wingdings" panose="05000000000000000000" pitchFamily="2" charset="2"/>
                        <a:buChar char="§"/>
                      </a:pPr>
                      <a:r>
                        <a:rPr lang="en-US" sz="1400" dirty="0"/>
                        <a:t>Customer service charges such as chargeback to departments</a:t>
                      </a:r>
                    </a:p>
                  </a:txBody>
                  <a:tcPr/>
                </a:tc>
                <a:extLst>
                  <a:ext uri="{0D108BD9-81ED-4DB2-BD59-A6C34878D82A}">
                    <a16:rowId xmlns:a16="http://schemas.microsoft.com/office/drawing/2014/main" val="3298370004"/>
                  </a:ext>
                </a:extLst>
              </a:tr>
              <a:tr h="370840">
                <a:tc>
                  <a:txBody>
                    <a:bodyPr/>
                    <a:lstStyle/>
                    <a:p>
                      <a:pPr algn="ctr"/>
                      <a:r>
                        <a:rPr lang="en-US" sz="2000" b="1" dirty="0"/>
                        <a:t>Business</a:t>
                      </a:r>
                    </a:p>
                  </a:txBody>
                  <a:tcPr anchor="ctr"/>
                </a:tc>
                <a:tc>
                  <a:txBody>
                    <a:bodyPr/>
                    <a:lstStyle/>
                    <a:p>
                      <a:pPr marL="285750" indent="-285750" algn="l">
                        <a:buFont typeface="Wingdings" panose="05000000000000000000" pitchFamily="2" charset="2"/>
                        <a:buChar char="§"/>
                      </a:pPr>
                      <a:r>
                        <a:rPr lang="en-US" sz="1400" dirty="0"/>
                        <a:t>Monitor the effectiveness of optimization</a:t>
                      </a:r>
                    </a:p>
                    <a:p>
                      <a:pPr marL="285750" indent="-285750" algn="l">
                        <a:buFont typeface="Wingdings" panose="05000000000000000000" pitchFamily="2" charset="2"/>
                        <a:buChar char="§"/>
                      </a:pPr>
                      <a:r>
                        <a:rPr lang="en-US" sz="1400" dirty="0"/>
                        <a:t>Tracking FinOps KPIs</a:t>
                      </a:r>
                    </a:p>
                    <a:p>
                      <a:pPr marL="285750" indent="-285750" algn="l">
                        <a:buFont typeface="Wingdings" panose="05000000000000000000" pitchFamily="2" charset="2"/>
                        <a:buChar char="§"/>
                      </a:pPr>
                      <a:r>
                        <a:rPr lang="en-US" sz="1400" dirty="0"/>
                        <a:t>Driving accountability amongst the Team</a:t>
                      </a:r>
                    </a:p>
                  </a:txBody>
                  <a:tcPr/>
                </a:tc>
                <a:tc>
                  <a:txBody>
                    <a:bodyPr/>
                    <a:lstStyle/>
                    <a:p>
                      <a:pPr marL="285750" indent="-285750" algn="l">
                        <a:buFont typeface="Wingdings" panose="05000000000000000000" pitchFamily="2" charset="2"/>
                        <a:buChar char="§"/>
                      </a:pPr>
                      <a:r>
                        <a:rPr lang="en-US" sz="1400" dirty="0"/>
                        <a:t>Continue to build cultural shift and drive accountability to be efficient and effective in your cloud environment </a:t>
                      </a:r>
                    </a:p>
                  </a:txBody>
                  <a:tcPr/>
                </a:tc>
                <a:extLst>
                  <a:ext uri="{0D108BD9-81ED-4DB2-BD59-A6C34878D82A}">
                    <a16:rowId xmlns:a16="http://schemas.microsoft.com/office/drawing/2014/main" val="3061101736"/>
                  </a:ext>
                </a:extLst>
              </a:tr>
            </a:tbl>
          </a:graphicData>
        </a:graphic>
      </p:graphicFrame>
      <p:sp>
        <p:nvSpPr>
          <p:cNvPr id="18" name="TextBox 17">
            <a:extLst>
              <a:ext uri="{FF2B5EF4-FFF2-40B4-BE49-F238E27FC236}">
                <a16:creationId xmlns:a16="http://schemas.microsoft.com/office/drawing/2014/main" id="{D06D9A04-CABE-4A18-B372-2BCCBE4ED60B}"/>
              </a:ext>
            </a:extLst>
          </p:cNvPr>
          <p:cNvSpPr txBox="1"/>
          <p:nvPr/>
        </p:nvSpPr>
        <p:spPr>
          <a:xfrm>
            <a:off x="266920" y="813345"/>
            <a:ext cx="12071130"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Implement some high-value/low-effort optimizations in the Optimize phase to build experience and engagement for future, more involved activities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Segoe UI"/>
                <a:ea typeface="+mn-ea"/>
                <a:cs typeface="+mn-cs"/>
              </a:rPr>
              <a:t>Goal</a:t>
            </a:r>
            <a:r>
              <a:rPr kumimoji="0" lang="en-US" sz="1600" b="0" i="0" u="none" strike="noStrike" kern="1200" cap="none" spc="0" normalizeH="0" baseline="0" noProof="0" dirty="0">
                <a:ln>
                  <a:noFill/>
                </a:ln>
                <a:solidFill>
                  <a:srgbClr val="000000"/>
                </a:solidFill>
                <a:effectLst/>
                <a:uLnTx/>
                <a:uFillTx/>
                <a:latin typeface="Segoe UI"/>
                <a:ea typeface="+mn-ea"/>
                <a:cs typeface="+mn-cs"/>
              </a:rPr>
              <a:t>: Provide actionable recommendations to realize savings opportunities and increase efficiency in their cloud environment</a:t>
            </a:r>
          </a:p>
        </p:txBody>
      </p:sp>
      <p:sp>
        <p:nvSpPr>
          <p:cNvPr id="19" name="Rectangle 18">
            <a:extLst>
              <a:ext uri="{FF2B5EF4-FFF2-40B4-BE49-F238E27FC236}">
                <a16:creationId xmlns:a16="http://schemas.microsoft.com/office/drawing/2014/main" id="{A4C7AE34-5FA4-4F60-92BD-7CFC93B10948}"/>
              </a:ext>
            </a:extLst>
          </p:cNvPr>
          <p:cNvSpPr/>
          <p:nvPr/>
        </p:nvSpPr>
        <p:spPr>
          <a:xfrm>
            <a:off x="365760" y="7310120"/>
            <a:ext cx="3312160" cy="1751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Dashboards &amp; Reporting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Direct Chargeback</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Anomaly Alerts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Budgets &amp; Forecasting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Fully loaded cost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Real-time decision making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Performance benchmarked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Compliant Accounting</a:t>
            </a:r>
            <a:endParaRPr kumimoji="0" lang="en-US" sz="1200" b="0" i="0" u="none" strike="noStrike" kern="1200" cap="none" spc="0" normalizeH="0" baseline="0" noProof="0" dirty="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07808050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3571F-856B-4423-9AF6-4BB13562BCB2}"/>
              </a:ext>
            </a:extLst>
          </p:cNvPr>
          <p:cNvSpPr>
            <a:spLocks noGrp="1"/>
          </p:cNvSpPr>
          <p:nvPr>
            <p:ph type="title"/>
          </p:nvPr>
        </p:nvSpPr>
        <p:spPr>
          <a:xfrm>
            <a:off x="365760" y="212453"/>
            <a:ext cx="11559320" cy="600892"/>
          </a:xfrm>
        </p:spPr>
        <p:txBody>
          <a:bodyPr/>
          <a:lstStyle/>
          <a:p>
            <a:r>
              <a:rPr lang="en-US" dirty="0"/>
              <a:t>FinOps | Operate</a:t>
            </a:r>
          </a:p>
        </p:txBody>
      </p:sp>
      <p:graphicFrame>
        <p:nvGraphicFramePr>
          <p:cNvPr id="16" name="Table 16">
            <a:extLst>
              <a:ext uri="{FF2B5EF4-FFF2-40B4-BE49-F238E27FC236}">
                <a16:creationId xmlns:a16="http://schemas.microsoft.com/office/drawing/2014/main" id="{ECA01E25-8F3E-40AA-978C-868CEE0CCD0B}"/>
              </a:ext>
            </a:extLst>
          </p:cNvPr>
          <p:cNvGraphicFramePr>
            <a:graphicFrameLocks noGrp="1"/>
          </p:cNvGraphicFramePr>
          <p:nvPr/>
        </p:nvGraphicFramePr>
        <p:xfrm>
          <a:off x="365760" y="1757849"/>
          <a:ext cx="11781789" cy="4912360"/>
        </p:xfrm>
        <a:graphic>
          <a:graphicData uri="http://schemas.openxmlformats.org/drawingml/2006/table">
            <a:tbl>
              <a:tblPr firstRow="1" bandRow="1">
                <a:tableStyleId>{69012ECD-51FC-41F1-AA8D-1B2483CD663E}</a:tableStyleId>
              </a:tblPr>
              <a:tblGrid>
                <a:gridCol w="3927263">
                  <a:extLst>
                    <a:ext uri="{9D8B030D-6E8A-4147-A177-3AD203B41FA5}">
                      <a16:colId xmlns:a16="http://schemas.microsoft.com/office/drawing/2014/main" val="2056285339"/>
                    </a:ext>
                  </a:extLst>
                </a:gridCol>
                <a:gridCol w="3927263">
                  <a:extLst>
                    <a:ext uri="{9D8B030D-6E8A-4147-A177-3AD203B41FA5}">
                      <a16:colId xmlns:a16="http://schemas.microsoft.com/office/drawing/2014/main" val="3149607007"/>
                    </a:ext>
                  </a:extLst>
                </a:gridCol>
                <a:gridCol w="3927263">
                  <a:extLst>
                    <a:ext uri="{9D8B030D-6E8A-4147-A177-3AD203B41FA5}">
                      <a16:colId xmlns:a16="http://schemas.microsoft.com/office/drawing/2014/main" val="281309937"/>
                    </a:ext>
                  </a:extLst>
                </a:gridCol>
              </a:tblGrid>
              <a:tr h="370840">
                <a:tc>
                  <a:txBody>
                    <a:bodyPr/>
                    <a:lstStyle/>
                    <a:p>
                      <a:pPr algn="ctr"/>
                      <a:r>
                        <a:rPr lang="en-US" dirty="0"/>
                        <a:t>FinOps Teams</a:t>
                      </a:r>
                    </a:p>
                  </a:txBody>
                  <a:tcPr/>
                </a:tc>
                <a:tc>
                  <a:txBody>
                    <a:bodyPr/>
                    <a:lstStyle/>
                    <a:p>
                      <a:pPr algn="ctr"/>
                      <a:r>
                        <a:rPr lang="en-US" dirty="0"/>
                        <a:t>Responsibility</a:t>
                      </a:r>
                    </a:p>
                  </a:txBody>
                  <a:tcPr/>
                </a:tc>
                <a:tc>
                  <a:txBody>
                    <a:bodyPr/>
                    <a:lstStyle/>
                    <a:p>
                      <a:pPr algn="ctr"/>
                      <a:r>
                        <a:rPr lang="en-US" dirty="0"/>
                        <a:t>Actions</a:t>
                      </a:r>
                    </a:p>
                  </a:txBody>
                  <a:tcPr/>
                </a:tc>
                <a:extLst>
                  <a:ext uri="{0D108BD9-81ED-4DB2-BD59-A6C34878D82A}">
                    <a16:rowId xmlns:a16="http://schemas.microsoft.com/office/drawing/2014/main" val="3240743769"/>
                  </a:ext>
                </a:extLst>
              </a:tr>
              <a:tr h="370840">
                <a:tc>
                  <a:txBody>
                    <a:bodyPr/>
                    <a:lstStyle/>
                    <a:p>
                      <a:pPr algn="ctr"/>
                      <a:r>
                        <a:rPr lang="en-US" sz="2000" b="1" dirty="0"/>
                        <a:t>IT</a:t>
                      </a:r>
                    </a:p>
                  </a:txBody>
                  <a:tcPr anchor="ctr"/>
                </a:tc>
                <a:tc>
                  <a:txBody>
                    <a:bodyPr/>
                    <a:lstStyle/>
                    <a:p>
                      <a:pPr marL="285750" indent="-285750" algn="l">
                        <a:buFont typeface="Wingdings" panose="05000000000000000000" pitchFamily="2" charset="2"/>
                        <a:buChar char="§"/>
                      </a:pPr>
                      <a:r>
                        <a:rPr lang="en-US" sz="1400" dirty="0"/>
                        <a:t>Define governance and controls</a:t>
                      </a:r>
                    </a:p>
                    <a:p>
                      <a:pPr marL="285750" indent="-285750" algn="l">
                        <a:buFont typeface="Wingdings" panose="05000000000000000000" pitchFamily="2" charset="2"/>
                        <a:buChar char="§"/>
                      </a:pPr>
                      <a:r>
                        <a:rPr lang="en-US" sz="1400" dirty="0"/>
                        <a:t>Define responsibilities and processes</a:t>
                      </a:r>
                    </a:p>
                    <a:p>
                      <a:pPr marL="285750" indent="-285750" algn="l">
                        <a:buFont typeface="Wingdings" panose="05000000000000000000" pitchFamily="2" charset="2"/>
                        <a:buChar char="§"/>
                      </a:pPr>
                      <a:r>
                        <a:rPr lang="en-US" sz="1400" dirty="0"/>
                        <a:t>Continously improve and automate</a:t>
                      </a:r>
                    </a:p>
                    <a:p>
                      <a:pPr marL="285750" indent="-285750" algn="l">
                        <a:buFont typeface="Wingdings" panose="05000000000000000000" pitchFamily="2" charset="2"/>
                        <a:buChar char="§"/>
                      </a:pPr>
                      <a:r>
                        <a:rPr lang="en-US" sz="1400" dirty="0"/>
                        <a:t>Continously educate your team on why FinOps is important</a:t>
                      </a:r>
                    </a:p>
                    <a:p>
                      <a:pPr marL="285750" indent="-285750" algn="l">
                        <a:buFont typeface="Wingdings" panose="05000000000000000000" pitchFamily="2" charset="2"/>
                        <a:buChar char="§"/>
                      </a:pPr>
                      <a:r>
                        <a:rPr lang="en-US" sz="1400" dirty="0"/>
                        <a:t>Create enterprise-wide cloud business case</a:t>
                      </a:r>
                    </a:p>
                    <a:p>
                      <a:pPr marL="0" indent="0" algn="l">
                        <a:buFont typeface="Wingdings" panose="05000000000000000000" pitchFamily="2" charset="2"/>
                        <a:buNone/>
                      </a:pPr>
                      <a:endParaRPr lang="en-US" sz="1400" dirty="0"/>
                    </a:p>
                    <a:p>
                      <a:pPr marL="285750" indent="-285750" algn="l">
                        <a:buFont typeface="Wingdings" panose="05000000000000000000" pitchFamily="2" charset="2"/>
                        <a:buChar char="§"/>
                      </a:pPr>
                      <a:endParaRPr lang="en-US" sz="1400" dirty="0"/>
                    </a:p>
                  </a:txBody>
                  <a:tcPr/>
                </a:tc>
                <a:tc>
                  <a:txBody>
                    <a:bodyPr/>
                    <a:lstStyle/>
                    <a:p>
                      <a:pPr marL="285750" indent="-285750" algn="l">
                        <a:buFont typeface="Wingdings" panose="05000000000000000000" pitchFamily="2" charset="2"/>
                        <a:buChar char="§"/>
                      </a:pPr>
                      <a:r>
                        <a:rPr lang="en-US" sz="1400" dirty="0"/>
                        <a:t>Gather teams to set expectations moving forward and recommend trainings on both technical topics and internal processes</a:t>
                      </a:r>
                    </a:p>
                    <a:p>
                      <a:pPr algn="l"/>
                      <a:endParaRPr lang="en-US" sz="1400" dirty="0"/>
                    </a:p>
                    <a:p>
                      <a:pPr algn="l"/>
                      <a:endParaRPr lang="en-US" sz="1400" dirty="0"/>
                    </a:p>
                  </a:txBody>
                  <a:tcPr/>
                </a:tc>
                <a:extLst>
                  <a:ext uri="{0D108BD9-81ED-4DB2-BD59-A6C34878D82A}">
                    <a16:rowId xmlns:a16="http://schemas.microsoft.com/office/drawing/2014/main" val="2841265550"/>
                  </a:ext>
                </a:extLst>
              </a:tr>
              <a:tr h="370840">
                <a:tc>
                  <a:txBody>
                    <a:bodyPr/>
                    <a:lstStyle/>
                    <a:p>
                      <a:pPr algn="ctr"/>
                      <a:r>
                        <a:rPr lang="en-US" sz="2000" b="1" dirty="0"/>
                        <a:t>Finance</a:t>
                      </a:r>
                    </a:p>
                  </a:txBody>
                  <a:tcPr anchor="ctr"/>
                </a:tc>
                <a:tc>
                  <a:txBody>
                    <a:bodyPr/>
                    <a:lstStyle/>
                    <a:p>
                      <a:pPr marL="285750" indent="-285750" algn="l">
                        <a:buFont typeface="Wingdings" panose="05000000000000000000" pitchFamily="2" charset="2"/>
                        <a:buChar char="§"/>
                      </a:pPr>
                      <a:r>
                        <a:rPr lang="en-US" sz="1400" dirty="0"/>
                        <a:t>Execute real time decision real-time cloud spend data to stakeholders</a:t>
                      </a:r>
                    </a:p>
                    <a:p>
                      <a:pPr marL="285750" indent="-285750" algn="l">
                        <a:buFont typeface="Wingdings" panose="05000000000000000000" pitchFamily="2" charset="2"/>
                        <a:buChar char="§"/>
                      </a:pPr>
                      <a:r>
                        <a:rPr lang="en-US" sz="1400" dirty="0"/>
                        <a:t>Centralize rate optimization ownership</a:t>
                      </a:r>
                    </a:p>
                    <a:p>
                      <a:pPr marL="285750" indent="-285750" algn="l">
                        <a:buFont typeface="Wingdings" panose="05000000000000000000" pitchFamily="2" charset="2"/>
                        <a:buChar char="§"/>
                      </a:pPr>
                      <a:r>
                        <a:rPr lang="en-US" sz="1400" dirty="0"/>
                        <a:t>Develop business cases for cloud-based workloads</a:t>
                      </a:r>
                    </a:p>
                  </a:txBody>
                  <a:tcPr/>
                </a:tc>
                <a:tc>
                  <a:txBody>
                    <a:bodyPr/>
                    <a:lstStyle/>
                    <a:p>
                      <a:pPr marL="285750" indent="-285750" algn="l">
                        <a:buFont typeface="Wingdings" panose="05000000000000000000" pitchFamily="2" charset="2"/>
                        <a:buChar char="§"/>
                      </a:pPr>
                      <a:r>
                        <a:rPr lang="en-US" sz="1400" dirty="0"/>
                        <a:t>FinOps actions are recorded, prioritized, and delivered against organization’s KPIs</a:t>
                      </a:r>
                    </a:p>
                  </a:txBody>
                  <a:tcPr/>
                </a:tc>
                <a:extLst>
                  <a:ext uri="{0D108BD9-81ED-4DB2-BD59-A6C34878D82A}">
                    <a16:rowId xmlns:a16="http://schemas.microsoft.com/office/drawing/2014/main" val="3298370004"/>
                  </a:ext>
                </a:extLst>
              </a:tr>
              <a:tr h="370840">
                <a:tc>
                  <a:txBody>
                    <a:bodyPr/>
                    <a:lstStyle/>
                    <a:p>
                      <a:pPr algn="ctr"/>
                      <a:r>
                        <a:rPr lang="en-US" sz="2000" b="1" dirty="0"/>
                        <a:t>Business</a:t>
                      </a:r>
                    </a:p>
                  </a:txBody>
                  <a:tcPr anchor="ctr"/>
                </a:tc>
                <a:tc>
                  <a:txBody>
                    <a:bodyPr/>
                    <a:lstStyle/>
                    <a:p>
                      <a:pPr marL="285750" indent="-285750" algn="l">
                        <a:buFont typeface="Wingdings" panose="05000000000000000000" pitchFamily="2" charset="2"/>
                        <a:buChar char="§"/>
                      </a:pPr>
                      <a:r>
                        <a:rPr lang="en-US" sz="1400" dirty="0"/>
                        <a:t>Empower teams to take action that leads to quantifyable results for the business</a:t>
                      </a:r>
                    </a:p>
                    <a:p>
                      <a:pPr marL="285750" indent="-285750" algn="l">
                        <a:buFont typeface="Wingdings" panose="05000000000000000000" pitchFamily="2" charset="2"/>
                        <a:buChar char="§"/>
                      </a:pPr>
                      <a:r>
                        <a:rPr lang="en-US" sz="1400" dirty="0"/>
                        <a:t>Ensure organizational enablement</a:t>
                      </a:r>
                    </a:p>
                    <a:p>
                      <a:pPr marL="285750" indent="-285750" algn="l">
                        <a:buFont typeface="Wingdings" panose="05000000000000000000" pitchFamily="2" charset="2"/>
                        <a:buChar char="§"/>
                      </a:pPr>
                      <a:r>
                        <a:rPr lang="en-US" sz="1400" dirty="0"/>
                        <a:t>Align strategic plans to business</a:t>
                      </a:r>
                    </a:p>
                    <a:p>
                      <a:pPr marL="285750" indent="-285750" algn="l">
                        <a:buFont typeface="Wingdings" panose="05000000000000000000" pitchFamily="2" charset="2"/>
                        <a:buChar char="§"/>
                      </a:pPr>
                      <a:r>
                        <a:rPr lang="en-US" sz="1400" dirty="0"/>
                        <a:t>Incentivize teams to motivating to take further actions around optimization </a:t>
                      </a:r>
                    </a:p>
                    <a:p>
                      <a:pPr marL="285750" indent="-285750" algn="l">
                        <a:buFont typeface="Wingdings" panose="05000000000000000000" pitchFamily="2" charset="2"/>
                        <a:buChar char="§"/>
                      </a:pPr>
                      <a:r>
                        <a:rPr lang="en-US" sz="1400" dirty="0"/>
                        <a:t>Measure business value achieved</a:t>
                      </a:r>
                    </a:p>
                  </a:txBody>
                  <a:tcPr/>
                </a:tc>
                <a:tc>
                  <a:txBody>
                    <a:bodyPr/>
                    <a:lstStyle/>
                    <a:p>
                      <a:pPr marL="285750" indent="-285750" algn="l">
                        <a:buFont typeface="Wingdings" panose="05000000000000000000" pitchFamily="2" charset="2"/>
                        <a:buChar char="§"/>
                      </a:pPr>
                      <a:r>
                        <a:rPr lang="en-US" sz="1400" dirty="0"/>
                        <a:t>Ongoing strategic reviews with stakeholders on optimization opportunities are planned and executed</a:t>
                      </a:r>
                    </a:p>
                  </a:txBody>
                  <a:tcPr/>
                </a:tc>
                <a:extLst>
                  <a:ext uri="{0D108BD9-81ED-4DB2-BD59-A6C34878D82A}">
                    <a16:rowId xmlns:a16="http://schemas.microsoft.com/office/drawing/2014/main" val="3061101736"/>
                  </a:ext>
                </a:extLst>
              </a:tr>
            </a:tbl>
          </a:graphicData>
        </a:graphic>
      </p:graphicFrame>
      <p:sp>
        <p:nvSpPr>
          <p:cNvPr id="18" name="TextBox 17">
            <a:extLst>
              <a:ext uri="{FF2B5EF4-FFF2-40B4-BE49-F238E27FC236}">
                <a16:creationId xmlns:a16="http://schemas.microsoft.com/office/drawing/2014/main" id="{D06D9A04-CABE-4A18-B372-2BCCBE4ED60B}"/>
              </a:ext>
            </a:extLst>
          </p:cNvPr>
          <p:cNvSpPr txBox="1"/>
          <p:nvPr/>
        </p:nvSpPr>
        <p:spPr>
          <a:xfrm>
            <a:off x="266920" y="782628"/>
            <a:ext cx="12071130" cy="8617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Enabling cross-units to create effective cloud spend management and governance policies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Segoe UI"/>
                <a:ea typeface="+mn-ea"/>
                <a:cs typeface="+mn-cs"/>
              </a:rPr>
              <a:t>Goal</a:t>
            </a:r>
            <a:r>
              <a:rPr kumimoji="0" lang="en-US" sz="1600" b="0" i="0" u="none" strike="noStrike" kern="1200" cap="none" spc="0" normalizeH="0" baseline="0" noProof="0" dirty="0">
                <a:ln>
                  <a:noFill/>
                </a:ln>
                <a:solidFill>
                  <a:srgbClr val="000000"/>
                </a:solidFill>
                <a:effectLst/>
                <a:uLnTx/>
                <a:uFillTx/>
                <a:latin typeface="Segoe UI"/>
                <a:ea typeface="+mn-ea"/>
                <a:cs typeface="+mn-cs"/>
              </a:rPr>
              <a:t>: Continous improvement of the overall FinOps process to define, automate, and drive empowerment to achieve high cloud ROI</a:t>
            </a:r>
          </a:p>
        </p:txBody>
      </p:sp>
      <p:sp>
        <p:nvSpPr>
          <p:cNvPr id="19" name="Rectangle 18">
            <a:extLst>
              <a:ext uri="{FF2B5EF4-FFF2-40B4-BE49-F238E27FC236}">
                <a16:creationId xmlns:a16="http://schemas.microsoft.com/office/drawing/2014/main" id="{A4C7AE34-5FA4-4F60-92BD-7CFC93B10948}"/>
              </a:ext>
            </a:extLst>
          </p:cNvPr>
          <p:cNvSpPr/>
          <p:nvPr/>
        </p:nvSpPr>
        <p:spPr>
          <a:xfrm>
            <a:off x="365760" y="7310120"/>
            <a:ext cx="3312160" cy="1751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Dashboards &amp; Reporting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Direct Chargeback</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Anomaly Alerts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Budgets &amp; Forecasting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Fully loaded cost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Real-time decision making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Performance benchmarked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Compliant Accounting</a:t>
            </a:r>
            <a:endParaRPr kumimoji="0" lang="en-US" sz="1200" b="0" i="0" u="none" strike="noStrike" kern="1200" cap="none" spc="0" normalizeH="0" baseline="0" noProof="0" dirty="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93275373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868E058-8BFB-6942-AFB5-45A8290B9E20}"/>
              </a:ext>
            </a:extLst>
          </p:cNvPr>
          <p:cNvSpPr>
            <a:spLocks noGrp="1"/>
          </p:cNvSpPr>
          <p:nvPr>
            <p:ph type="title"/>
          </p:nvPr>
        </p:nvSpPr>
        <p:spPr>
          <a:prstGeom prst="rect">
            <a:avLst/>
          </a:prstGeom>
          <a:noFill/>
          <a:ln>
            <a:noFill/>
            <a:prstDash/>
          </a:ln>
          <a:effectLst/>
        </p:spPr>
        <p:txBody>
          <a:bodyPr rot="0" spcFirstLastPara="0" vertOverflow="overflow" horzOverflow="overflow" vert="horz" wrap="square" lIns="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0" normalizeH="0" baseline="0" noProof="0" dirty="0">
                <a:ln>
                  <a:noFill/>
                </a:ln>
                <a:effectLst/>
                <a:uLnTx/>
                <a:uFillTx/>
                <a:latin typeface="Segoe UI Semibold" panose="020B0502040204020203" pitchFamily="34" charset="0"/>
                <a:ea typeface="+mn-ea"/>
                <a:cs typeface="Segoe UI Semibold" panose="020B0502040204020203" pitchFamily="34" charset="0"/>
              </a:rPr>
              <a:t>How can Microsoft help you develop your FinOps practice?</a:t>
            </a:r>
          </a:p>
        </p:txBody>
      </p:sp>
      <p:sp>
        <p:nvSpPr>
          <p:cNvPr id="2" name="Text Placeholder 1">
            <a:extLst>
              <a:ext uri="{FF2B5EF4-FFF2-40B4-BE49-F238E27FC236}">
                <a16:creationId xmlns:a16="http://schemas.microsoft.com/office/drawing/2014/main" id="{BDDE47DE-149D-C1F9-36FA-B00DED63670A}"/>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285223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bject 2">
            <a:extLst>
              <a:ext uri="{FF2B5EF4-FFF2-40B4-BE49-F238E27FC236}">
                <a16:creationId xmlns:a16="http://schemas.microsoft.com/office/drawing/2014/main" id="{8BA13E87-36E8-4B03-B869-FBEF5E01D1B7}"/>
              </a:ext>
            </a:extLst>
          </p:cNvPr>
          <p:cNvSpPr txBox="1">
            <a:spLocks/>
          </p:cNvSpPr>
          <p:nvPr/>
        </p:nvSpPr>
        <p:spPr>
          <a:xfrm>
            <a:off x="316340" y="701605"/>
            <a:ext cx="11875660" cy="918200"/>
          </a:xfrm>
          <a:prstGeom prst="rect">
            <a:avLst/>
          </a:prstGeom>
        </p:spPr>
        <p:txBody>
          <a:bodyPr vert="horz" wrap="square" lIns="0" tIns="12700" rIns="0" bIns="0" rtlCol="0">
            <a:spAutoFit/>
          </a:bodyPr>
          <a:lstStyle>
            <a:lvl1pPr>
              <a:defRPr sz="2000" b="0" i="0" u="heavy">
                <a:solidFill>
                  <a:srgbClr val="0078D3"/>
                </a:solidFill>
                <a:latin typeface="Segoe UI Semilight"/>
                <a:ea typeface="+mj-ea"/>
                <a:cs typeface="Segoe UI Semilight"/>
              </a:defRPr>
            </a:lvl1p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US" sz="1600" b="1" i="0" u="none" strike="noStrike" kern="0" cap="none" spc="-5" normalizeH="0" baseline="0" noProof="0" dirty="0">
                <a:ln>
                  <a:noFill/>
                </a:ln>
                <a:solidFill>
                  <a:schemeClr val="bg1"/>
                </a:solidFill>
                <a:effectLst/>
                <a:uLnTx/>
                <a:uFillTx/>
                <a:latin typeface="Segoe UI"/>
                <a:ea typeface="+mj-ea"/>
                <a:cs typeface="Segoe UI Semibold"/>
              </a:rPr>
              <a:t>Vision</a:t>
            </a:r>
          </a:p>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US" sz="1400" b="0" i="0" u="none" strike="noStrike" kern="0" cap="none" spc="-5" normalizeH="0" baseline="0" noProof="0" dirty="0">
                <a:ln>
                  <a:noFill/>
                </a:ln>
                <a:solidFill>
                  <a:schemeClr val="bg1"/>
                </a:solidFill>
                <a:effectLst/>
                <a:uLnTx/>
                <a:uFillTx/>
                <a:latin typeface="Segoe UI"/>
                <a:ea typeface="+mj-ea"/>
                <a:cs typeface="Segoe UI Semibold"/>
              </a:rPr>
              <a:t>To empower your organization to understand their current Azure spend. We will help you establish your financial management practices and be your financial partners as you shift to a new cloud environment. This will help you address identified opportunities to maximize business value from IT investments</a:t>
            </a:r>
            <a:endParaRPr kumimoji="0" lang="en-US" sz="1400" b="0" i="0" u="none" strike="noStrike" kern="0" cap="none" spc="0" normalizeH="0" baseline="0" noProof="0" dirty="0">
              <a:ln>
                <a:noFill/>
              </a:ln>
              <a:solidFill>
                <a:schemeClr val="bg1"/>
              </a:solidFill>
              <a:effectLst/>
              <a:uLnTx/>
              <a:uFillTx/>
              <a:latin typeface="Segoe UI"/>
              <a:ea typeface="+mj-ea"/>
              <a:cs typeface="Segoe UI Semibold"/>
            </a:endParaRPr>
          </a:p>
        </p:txBody>
      </p:sp>
      <p:grpSp>
        <p:nvGrpSpPr>
          <p:cNvPr id="30" name="Group 29">
            <a:extLst>
              <a:ext uri="{FF2B5EF4-FFF2-40B4-BE49-F238E27FC236}">
                <a16:creationId xmlns:a16="http://schemas.microsoft.com/office/drawing/2014/main" id="{BC49B00F-A89F-46F1-A6F3-97910B0C0252}"/>
              </a:ext>
              <a:ext uri="{C183D7F6-B498-43B3-948B-1728B52AA6E4}">
                <adec:decorative xmlns:adec="http://schemas.microsoft.com/office/drawing/2017/decorative" val="1"/>
              </a:ext>
            </a:extLst>
          </p:cNvPr>
          <p:cNvGrpSpPr/>
          <p:nvPr/>
        </p:nvGrpSpPr>
        <p:grpSpPr>
          <a:xfrm>
            <a:off x="1383949" y="2137987"/>
            <a:ext cx="2365789" cy="2243529"/>
            <a:chOff x="165100" y="1952598"/>
            <a:chExt cx="4388960" cy="4388960"/>
          </a:xfrm>
        </p:grpSpPr>
        <p:sp>
          <p:nvSpPr>
            <p:cNvPr id="8" name="Oval 7">
              <a:extLst>
                <a:ext uri="{FF2B5EF4-FFF2-40B4-BE49-F238E27FC236}">
                  <a16:creationId xmlns:a16="http://schemas.microsoft.com/office/drawing/2014/main" id="{F650EC79-2BF2-4F39-9C8D-6CBD6A6DE0B4}"/>
                </a:ext>
              </a:extLst>
            </p:cNvPr>
            <p:cNvSpPr/>
            <p:nvPr/>
          </p:nvSpPr>
          <p:spPr>
            <a:xfrm>
              <a:off x="165100" y="1952598"/>
              <a:ext cx="4388960" cy="4388960"/>
            </a:xfrm>
            <a:prstGeom prst="ellipse">
              <a:avLst/>
            </a:prstGeom>
            <a:solidFill>
              <a:schemeClr val="bg1"/>
            </a:solidFill>
            <a:ln w="6350">
              <a:noFill/>
            </a:ln>
            <a:effectLst>
              <a:outerShdw blurRad="127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46304" rIns="182880" bIns="146304"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76" name="TextBox 75">
              <a:extLst>
                <a:ext uri="{FF2B5EF4-FFF2-40B4-BE49-F238E27FC236}">
                  <a16:creationId xmlns:a16="http://schemas.microsoft.com/office/drawing/2014/main" id="{F280AC74-5A79-450F-AA98-91A31CF8A77A}"/>
                </a:ext>
              </a:extLst>
            </p:cNvPr>
            <p:cNvSpPr txBox="1"/>
            <p:nvPr/>
          </p:nvSpPr>
          <p:spPr>
            <a:xfrm>
              <a:off x="1781032" y="5290372"/>
              <a:ext cx="1350352" cy="779395"/>
            </a:xfrm>
            <a:prstGeom prst="rect">
              <a:avLst/>
            </a:prstGeom>
            <a:noFill/>
          </p:spPr>
          <p:txBody>
            <a:bodyPr wrap="square" lIns="0" tIns="0" rIns="0" bIns="0" rtlCol="0">
              <a:spAutoFit/>
            </a:bodyPr>
            <a:lstStyle/>
            <a:p>
              <a:pPr marL="0" marR="0" lvl="0" indent="0" algn="ctr" defTabSz="914192"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Optimizing billing model usage</a:t>
              </a:r>
            </a:p>
          </p:txBody>
        </p:sp>
        <p:sp>
          <p:nvSpPr>
            <p:cNvPr id="82" name="TextBox 81">
              <a:extLst>
                <a:ext uri="{FF2B5EF4-FFF2-40B4-BE49-F238E27FC236}">
                  <a16:creationId xmlns:a16="http://schemas.microsoft.com/office/drawing/2014/main" id="{B32F881B-E38A-42FD-BF24-DB9782254786}"/>
                </a:ext>
              </a:extLst>
            </p:cNvPr>
            <p:cNvSpPr txBox="1"/>
            <p:nvPr/>
          </p:nvSpPr>
          <p:spPr>
            <a:xfrm>
              <a:off x="344305" y="3144844"/>
              <a:ext cx="1013029" cy="577092"/>
            </a:xfrm>
            <a:prstGeom prst="rect">
              <a:avLst/>
            </a:prstGeom>
            <a:noFill/>
          </p:spPr>
          <p:txBody>
            <a:bodyPr wrap="square" lIns="0" tIns="0" rIns="0" bIns="0" rtlCol="0">
              <a:spAutoFit/>
            </a:bodyPr>
            <a:lstStyle/>
            <a:p>
              <a:pPr marL="0" marR="0" lvl="0" indent="0" algn="ctr" defTabSz="914192"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Tracking and allocating costs</a:t>
              </a:r>
            </a:p>
          </p:txBody>
        </p:sp>
        <p:sp>
          <p:nvSpPr>
            <p:cNvPr id="87" name="TextBox 86">
              <a:extLst>
                <a:ext uri="{FF2B5EF4-FFF2-40B4-BE49-F238E27FC236}">
                  <a16:creationId xmlns:a16="http://schemas.microsoft.com/office/drawing/2014/main" id="{44F02273-DF49-4803-BEFE-5F11A13CEA5E}"/>
                </a:ext>
              </a:extLst>
            </p:cNvPr>
            <p:cNvSpPr txBox="1"/>
            <p:nvPr/>
          </p:nvSpPr>
          <p:spPr>
            <a:xfrm>
              <a:off x="3131385" y="3144845"/>
              <a:ext cx="1239874" cy="779395"/>
            </a:xfrm>
            <a:prstGeom prst="rect">
              <a:avLst/>
            </a:prstGeom>
            <a:noFill/>
          </p:spPr>
          <p:txBody>
            <a:bodyPr wrap="square" lIns="0" tIns="0" rIns="0" bIns="0" rtlCol="0">
              <a:spAutoFit/>
            </a:bodyPr>
            <a:lstStyle/>
            <a:p>
              <a:pPr marL="0" marR="0" lvl="0" indent="0" algn="ctr" defTabSz="914192"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Optimizing capacity usage </a:t>
              </a:r>
            </a:p>
          </p:txBody>
        </p:sp>
        <p:cxnSp>
          <p:nvCxnSpPr>
            <p:cNvPr id="9" name="Straight Connector 8">
              <a:extLst>
                <a:ext uri="{FF2B5EF4-FFF2-40B4-BE49-F238E27FC236}">
                  <a16:creationId xmlns:a16="http://schemas.microsoft.com/office/drawing/2014/main" id="{488D42BE-9FA3-4214-A730-7524981900AE}"/>
                </a:ext>
              </a:extLst>
            </p:cNvPr>
            <p:cNvCxnSpPr>
              <a:cxnSpLocks/>
            </p:cNvCxnSpPr>
            <p:nvPr/>
          </p:nvCxnSpPr>
          <p:spPr>
            <a:xfrm>
              <a:off x="2359580" y="1954645"/>
              <a:ext cx="0" cy="2375893"/>
            </a:xfrm>
            <a:prstGeom prst="line">
              <a:avLst/>
            </a:prstGeom>
            <a:noFill/>
            <a:ln w="19050" cap="flat" cmpd="sng" algn="ctr">
              <a:solidFill>
                <a:schemeClr val="accent1">
                  <a:lumMod val="90000"/>
                </a:schemeClr>
              </a:solidFill>
              <a:prstDash val="solid"/>
              <a:headEnd type="none" w="lg" len="med"/>
              <a:tailEnd type="none" w="lg" len="med"/>
            </a:ln>
            <a:effectLst/>
          </p:spPr>
        </p:cxnSp>
        <p:cxnSp>
          <p:nvCxnSpPr>
            <p:cNvPr id="51" name="Straight Connector 50">
              <a:extLst>
                <a:ext uri="{FF2B5EF4-FFF2-40B4-BE49-F238E27FC236}">
                  <a16:creationId xmlns:a16="http://schemas.microsoft.com/office/drawing/2014/main" id="{44074514-35E0-4BCC-9515-0A207958B1C8}"/>
                </a:ext>
              </a:extLst>
            </p:cNvPr>
            <p:cNvCxnSpPr>
              <a:cxnSpLocks/>
            </p:cNvCxnSpPr>
            <p:nvPr/>
          </p:nvCxnSpPr>
          <p:spPr>
            <a:xfrm flipH="1" flipV="1">
              <a:off x="2412724" y="4137618"/>
              <a:ext cx="1792382" cy="1224257"/>
            </a:xfrm>
            <a:prstGeom prst="line">
              <a:avLst/>
            </a:prstGeom>
            <a:noFill/>
            <a:ln w="19050" cap="flat" cmpd="sng" algn="ctr">
              <a:solidFill>
                <a:schemeClr val="accent1">
                  <a:lumMod val="90000"/>
                </a:schemeClr>
              </a:solidFill>
              <a:prstDash val="solid"/>
              <a:headEnd type="none" w="lg" len="med"/>
              <a:tailEnd type="none" w="lg" len="med"/>
            </a:ln>
            <a:effectLst/>
          </p:spPr>
        </p:cxnSp>
        <p:cxnSp>
          <p:nvCxnSpPr>
            <p:cNvPr id="55" name="Straight Connector 54">
              <a:extLst>
                <a:ext uri="{FF2B5EF4-FFF2-40B4-BE49-F238E27FC236}">
                  <a16:creationId xmlns:a16="http://schemas.microsoft.com/office/drawing/2014/main" id="{B5BA5122-82FE-4F2B-B339-2CB543F07DF7}"/>
                </a:ext>
              </a:extLst>
            </p:cNvPr>
            <p:cNvCxnSpPr>
              <a:cxnSpLocks/>
            </p:cNvCxnSpPr>
            <p:nvPr/>
          </p:nvCxnSpPr>
          <p:spPr>
            <a:xfrm flipV="1">
              <a:off x="533365" y="4137618"/>
              <a:ext cx="1792382" cy="1224257"/>
            </a:xfrm>
            <a:prstGeom prst="line">
              <a:avLst/>
            </a:prstGeom>
            <a:noFill/>
            <a:ln w="19050" cap="flat" cmpd="sng" algn="ctr">
              <a:solidFill>
                <a:schemeClr val="accent1">
                  <a:lumMod val="90000"/>
                </a:schemeClr>
              </a:solidFill>
              <a:prstDash val="solid"/>
              <a:headEnd type="none" w="lg" len="med"/>
              <a:tailEnd type="none" w="lg" len="med"/>
            </a:ln>
            <a:effectLst/>
          </p:spPr>
        </p:cxnSp>
        <p:grpSp>
          <p:nvGrpSpPr>
            <p:cNvPr id="84" name="Group 83">
              <a:extLst>
                <a:ext uri="{FF2B5EF4-FFF2-40B4-BE49-F238E27FC236}">
                  <a16:creationId xmlns:a16="http://schemas.microsoft.com/office/drawing/2014/main" id="{12B73033-C93D-4FD2-884A-81ECC0F66261}"/>
                </a:ext>
              </a:extLst>
            </p:cNvPr>
            <p:cNvGrpSpPr/>
            <p:nvPr/>
          </p:nvGrpSpPr>
          <p:grpSpPr>
            <a:xfrm>
              <a:off x="1353740" y="3142592"/>
              <a:ext cx="2011680" cy="2008972"/>
              <a:chOff x="1648326" y="2875555"/>
              <a:chExt cx="2011965" cy="1961486"/>
            </a:xfrm>
          </p:grpSpPr>
          <p:sp>
            <p:nvSpPr>
              <p:cNvPr id="85" name="Oval 84">
                <a:extLst>
                  <a:ext uri="{FF2B5EF4-FFF2-40B4-BE49-F238E27FC236}">
                    <a16:creationId xmlns:a16="http://schemas.microsoft.com/office/drawing/2014/main" id="{0D5F9D5E-3999-4C9E-80E0-6F92C1783802}"/>
                  </a:ext>
                </a:extLst>
              </p:cNvPr>
              <p:cNvSpPr/>
              <p:nvPr/>
            </p:nvSpPr>
            <p:spPr bwMode="auto">
              <a:xfrm>
                <a:off x="1648326" y="2875555"/>
                <a:ext cx="2011965" cy="1961486"/>
              </a:xfrm>
              <a:prstGeom prst="ellipse">
                <a:avLst/>
              </a:prstGeom>
              <a:solidFill>
                <a:schemeClr val="accent1"/>
              </a:solidFill>
              <a:ln w="10795" cap="flat" cmpd="sng" algn="ctr">
                <a:noFill/>
                <a:prstDash val="solid"/>
                <a:headEnd type="none" w="med" len="med"/>
                <a:tailEnd type="none" w="med" len="med"/>
              </a:ln>
              <a:effectLst/>
            </p:spPr>
            <p:txBody>
              <a:bodyPr vert="horz" wrap="square" lIns="0" tIns="46630" rIns="0" bIns="46630" numCol="1" rtlCol="0" anchor="ctr" anchorCtr="0" compatLnSpc="1">
                <a:prstTxWarp prst="textNoShape">
                  <a:avLst/>
                </a:prstTxWarp>
              </a:bodyPr>
              <a:lstStyle/>
              <a:p>
                <a:pPr marL="0" marR="0" lvl="0" indent="0" algn="ctr" defTabSz="932293"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1A1A1A"/>
                  </a:solidFill>
                  <a:effectLst/>
                  <a:uLnTx/>
                  <a:uFillTx/>
                  <a:latin typeface="Segoe UI"/>
                  <a:ea typeface="+mn-ea"/>
                  <a:cs typeface="+mn-cs"/>
                </a:endParaRPr>
              </a:p>
            </p:txBody>
          </p:sp>
          <p:sp>
            <p:nvSpPr>
              <p:cNvPr id="86" name="Rectangle 85">
                <a:extLst>
                  <a:ext uri="{FF2B5EF4-FFF2-40B4-BE49-F238E27FC236}">
                    <a16:creationId xmlns:a16="http://schemas.microsoft.com/office/drawing/2014/main" id="{9E8F7533-6B0A-4315-8250-D28FC39BEF06}"/>
                  </a:ext>
                </a:extLst>
              </p:cNvPr>
              <p:cNvSpPr/>
              <p:nvPr/>
            </p:nvSpPr>
            <p:spPr>
              <a:xfrm>
                <a:off x="2245153" y="3654678"/>
                <a:ext cx="967427" cy="394184"/>
              </a:xfrm>
              <a:prstGeom prst="rect">
                <a:avLst/>
              </a:prstGeom>
            </p:spPr>
            <p:txBody>
              <a:bodyPr wrap="none">
                <a:sp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Segoe UI Semibold"/>
                    <a:ea typeface="+mn-ea"/>
                    <a:cs typeface="+mn-cs"/>
                  </a:rPr>
                  <a:t>FinOps</a:t>
                </a:r>
              </a:p>
            </p:txBody>
          </p:sp>
        </p:grpSp>
      </p:grpSp>
      <p:grpSp>
        <p:nvGrpSpPr>
          <p:cNvPr id="36" name="Group 35">
            <a:extLst>
              <a:ext uri="{FF2B5EF4-FFF2-40B4-BE49-F238E27FC236}">
                <a16:creationId xmlns:a16="http://schemas.microsoft.com/office/drawing/2014/main" id="{A20AEB68-68BD-400E-B105-51DFBBFB5FC1}"/>
              </a:ext>
            </a:extLst>
          </p:cNvPr>
          <p:cNvGrpSpPr/>
          <p:nvPr/>
        </p:nvGrpSpPr>
        <p:grpSpPr>
          <a:xfrm>
            <a:off x="475800" y="4587975"/>
            <a:ext cx="4108548" cy="2187618"/>
            <a:chOff x="218993" y="3810358"/>
            <a:chExt cx="4108548" cy="2187618"/>
          </a:xfrm>
        </p:grpSpPr>
        <p:sp>
          <p:nvSpPr>
            <p:cNvPr id="2" name="Rectangle 1">
              <a:extLst>
                <a:ext uri="{FF2B5EF4-FFF2-40B4-BE49-F238E27FC236}">
                  <a16:creationId xmlns:a16="http://schemas.microsoft.com/office/drawing/2014/main" id="{6C28183D-A728-4B1D-85D9-5010B6B974F8}"/>
                </a:ext>
              </a:extLst>
            </p:cNvPr>
            <p:cNvSpPr/>
            <p:nvPr/>
          </p:nvSpPr>
          <p:spPr bwMode="auto">
            <a:xfrm>
              <a:off x="218993" y="3810358"/>
              <a:ext cx="4108547" cy="49260"/>
            </a:xfrm>
            <a:prstGeom prst="rect">
              <a:avLst/>
            </a:prstGeom>
            <a:solidFill>
              <a:srgbClr val="0070C0"/>
            </a:solidFill>
            <a:ln w="6350" cap="flat" cmpd="sng" algn="ctr">
              <a:solidFill>
                <a:srgbClr val="3C3C41"/>
              </a:solidFill>
              <a:prstDash val="solid"/>
              <a:miter lim="800000"/>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91440" tIns="0" rIns="91440" bIns="9144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800" b="0" i="0" u="none" strike="noStrike" kern="0" cap="none" spc="0" normalizeH="0" baseline="0" noProof="0">
                  <a:ln>
                    <a:noFill/>
                  </a:ln>
                  <a:solidFill>
                    <a:srgbClr val="0070C0"/>
                  </a:solidFill>
                  <a:effectLst/>
                  <a:uLnTx/>
                  <a:uFillTx/>
                  <a:latin typeface="Segoe UI Semibold"/>
                  <a:ea typeface="+mj-ea"/>
                  <a:cs typeface="+mj-cs"/>
                </a:rPr>
                <a:t>Goals</a:t>
              </a:r>
            </a:p>
          </p:txBody>
        </p:sp>
        <p:sp>
          <p:nvSpPr>
            <p:cNvPr id="3" name="Freeform: Shape 2">
              <a:extLst>
                <a:ext uri="{FF2B5EF4-FFF2-40B4-BE49-F238E27FC236}">
                  <a16:creationId xmlns:a16="http://schemas.microsoft.com/office/drawing/2014/main" id="{86F87C75-D9A6-440F-8A08-44AD40BFD351}"/>
                </a:ext>
              </a:extLst>
            </p:cNvPr>
            <p:cNvSpPr/>
            <p:nvPr/>
          </p:nvSpPr>
          <p:spPr bwMode="auto">
            <a:xfrm>
              <a:off x="218993" y="3850375"/>
              <a:ext cx="4108547" cy="2147601"/>
            </a:xfrm>
            <a:custGeom>
              <a:avLst/>
              <a:gdLst>
                <a:gd name="connsiteX0" fmla="*/ 0 w 2397538"/>
                <a:gd name="connsiteY0" fmla="*/ 0 h 2137000"/>
                <a:gd name="connsiteX1" fmla="*/ 2397538 w 2397538"/>
                <a:gd name="connsiteY1" fmla="*/ 0 h 2137000"/>
                <a:gd name="connsiteX2" fmla="*/ 2397538 w 2397538"/>
                <a:gd name="connsiteY2" fmla="*/ 533819 h 2137000"/>
                <a:gd name="connsiteX3" fmla="*/ 2397538 w 2397538"/>
                <a:gd name="connsiteY3" fmla="*/ 535542 h 2137000"/>
                <a:gd name="connsiteX4" fmla="*/ 2397538 w 2397538"/>
                <a:gd name="connsiteY4" fmla="*/ 1067638 h 2137000"/>
                <a:gd name="connsiteX5" fmla="*/ 2397538 w 2397538"/>
                <a:gd name="connsiteY5" fmla="*/ 1069361 h 2137000"/>
                <a:gd name="connsiteX6" fmla="*/ 2397538 w 2397538"/>
                <a:gd name="connsiteY6" fmla="*/ 1601458 h 2137000"/>
                <a:gd name="connsiteX7" fmla="*/ 2397538 w 2397538"/>
                <a:gd name="connsiteY7" fmla="*/ 1603180 h 2137000"/>
                <a:gd name="connsiteX8" fmla="*/ 2397538 w 2397538"/>
                <a:gd name="connsiteY8" fmla="*/ 2137000 h 2137000"/>
                <a:gd name="connsiteX9" fmla="*/ 0 w 2397538"/>
                <a:gd name="connsiteY9" fmla="*/ 2137000 h 2137000"/>
                <a:gd name="connsiteX10" fmla="*/ 0 w 2397538"/>
                <a:gd name="connsiteY10" fmla="*/ 1601458 h 2137000"/>
                <a:gd name="connsiteX11" fmla="*/ 0 w 2397538"/>
                <a:gd name="connsiteY11" fmla="*/ 1601458 h 2137000"/>
                <a:gd name="connsiteX12" fmla="*/ 0 w 2397538"/>
                <a:gd name="connsiteY12" fmla="*/ 1067638 h 2137000"/>
                <a:gd name="connsiteX13" fmla="*/ 0 w 2397538"/>
                <a:gd name="connsiteY13" fmla="*/ 535542 h 2137000"/>
                <a:gd name="connsiteX14" fmla="*/ 0 w 2397538"/>
                <a:gd name="connsiteY14" fmla="*/ 533819 h 213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97538" h="2137000">
                  <a:moveTo>
                    <a:pt x="0" y="0"/>
                  </a:moveTo>
                  <a:lnTo>
                    <a:pt x="2397538" y="0"/>
                  </a:lnTo>
                  <a:lnTo>
                    <a:pt x="2397538" y="533819"/>
                  </a:lnTo>
                  <a:lnTo>
                    <a:pt x="2397538" y="535542"/>
                  </a:lnTo>
                  <a:lnTo>
                    <a:pt x="2397538" y="1067638"/>
                  </a:lnTo>
                  <a:lnTo>
                    <a:pt x="2397538" y="1069361"/>
                  </a:lnTo>
                  <a:lnTo>
                    <a:pt x="2397538" y="1601458"/>
                  </a:lnTo>
                  <a:lnTo>
                    <a:pt x="2397538" y="1603180"/>
                  </a:lnTo>
                  <a:lnTo>
                    <a:pt x="2397538" y="2137000"/>
                  </a:lnTo>
                  <a:lnTo>
                    <a:pt x="0" y="2137000"/>
                  </a:lnTo>
                  <a:lnTo>
                    <a:pt x="0" y="1601458"/>
                  </a:lnTo>
                  <a:lnTo>
                    <a:pt x="0" y="1601458"/>
                  </a:lnTo>
                  <a:lnTo>
                    <a:pt x="0" y="1067638"/>
                  </a:lnTo>
                  <a:lnTo>
                    <a:pt x="0" y="535542"/>
                  </a:lnTo>
                  <a:lnTo>
                    <a:pt x="0" y="533819"/>
                  </a:lnTo>
                  <a:close/>
                </a:path>
              </a:pathLst>
            </a:custGeom>
            <a:solidFill>
              <a:srgbClr val="FFFFFF">
                <a:lumMod val="95000"/>
              </a:srgbClr>
            </a:solidFill>
            <a:ln w="6350" cap="flat" cmpd="sng" algn="ctr">
              <a:solidFill>
                <a:srgbClr val="FFFFFF">
                  <a:lumMod val="75000"/>
                </a:srgbClr>
              </a:solidFill>
              <a:prstDash val="solid"/>
              <a:miter lim="800000"/>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 name="TextBox 10">
              <a:extLst>
                <a:ext uri="{FF2B5EF4-FFF2-40B4-BE49-F238E27FC236}">
                  <a16:creationId xmlns:a16="http://schemas.microsoft.com/office/drawing/2014/main" id="{C6FB5E5F-B77B-4D29-83EA-C8DC0192C410}"/>
                </a:ext>
              </a:extLst>
            </p:cNvPr>
            <p:cNvSpPr txBox="1"/>
            <p:nvPr/>
          </p:nvSpPr>
          <p:spPr>
            <a:xfrm>
              <a:off x="294021" y="4005175"/>
              <a:ext cx="4033520" cy="184666"/>
            </a:xfrm>
            <a:prstGeom prst="rect">
              <a:avLst/>
            </a:prstGeom>
            <a:noFill/>
          </p:spPr>
          <p:txBody>
            <a:bodyPr wrap="square" lIns="0" tIns="0" rIns="0" bIns="0" rtlCol="0">
              <a:spAutoFit/>
            </a:bodyPr>
            <a:lstStyle/>
            <a:p>
              <a:pPr marL="0" marR="0" lvl="0" indent="0" algn="l" defTabSz="914400" rtl="0" eaLnBrk="1" fontAlgn="ctr"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Empower CFO to evaluate Azure spend effectiveness</a:t>
              </a:r>
            </a:p>
          </p:txBody>
        </p:sp>
        <p:sp>
          <p:nvSpPr>
            <p:cNvPr id="12" name="Rectangle 11">
              <a:extLst>
                <a:ext uri="{FF2B5EF4-FFF2-40B4-BE49-F238E27FC236}">
                  <a16:creationId xmlns:a16="http://schemas.microsoft.com/office/drawing/2014/main" id="{7515402C-BA2D-442B-9004-4AF3474EB117}"/>
                </a:ext>
              </a:extLst>
            </p:cNvPr>
            <p:cNvSpPr/>
            <p:nvPr/>
          </p:nvSpPr>
          <p:spPr>
            <a:xfrm>
              <a:off x="294021" y="4529690"/>
              <a:ext cx="4033520" cy="369332"/>
            </a:xfrm>
            <a:prstGeom prst="rect">
              <a:avLst/>
            </a:prstGeom>
          </p:spPr>
          <p:txBody>
            <a:bodyPr wrap="square" lIns="0" tIns="0" rIns="0" bIns="0">
              <a:spAutoFit/>
            </a:bodyPr>
            <a:lstStyle/>
            <a:p>
              <a:pPr marL="0" marR="0" lvl="0" indent="0" algn="l" defTabSz="914400" rtl="0" eaLnBrk="1" fontAlgn="ctr"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a:ea typeface="+mn-ea"/>
                  <a:cs typeface="+mn-cs"/>
                </a:rPr>
                <a:t>Act as liaison between your organization technical and financial teams</a:t>
              </a:r>
            </a:p>
          </p:txBody>
        </p:sp>
        <p:sp>
          <p:nvSpPr>
            <p:cNvPr id="14" name="Rectangle 13">
              <a:extLst>
                <a:ext uri="{FF2B5EF4-FFF2-40B4-BE49-F238E27FC236}">
                  <a16:creationId xmlns:a16="http://schemas.microsoft.com/office/drawing/2014/main" id="{3B275DCE-127F-41C7-840A-95DF786ABF47}"/>
                </a:ext>
              </a:extLst>
            </p:cNvPr>
            <p:cNvSpPr/>
            <p:nvPr/>
          </p:nvSpPr>
          <p:spPr>
            <a:xfrm>
              <a:off x="294021" y="5110300"/>
              <a:ext cx="4033520" cy="184666"/>
            </a:xfrm>
            <a:prstGeom prst="rect">
              <a:avLst/>
            </a:prstGeom>
          </p:spPr>
          <p:txBody>
            <a:bodyPr wrap="square" lIns="0" tIns="0" rIns="0" bIns="0">
              <a:spAutoFit/>
            </a:bodyPr>
            <a:lstStyle/>
            <a:p>
              <a:pPr marL="0" marR="0" lvl="0" indent="0" algn="l" defTabSz="914400" rtl="0" eaLnBrk="1" fontAlgn="ctr"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Advise on FinOps Framework and capabilities </a:t>
              </a:r>
            </a:p>
          </p:txBody>
        </p:sp>
        <p:sp>
          <p:nvSpPr>
            <p:cNvPr id="15" name="Rectangle 14">
              <a:extLst>
                <a:ext uri="{FF2B5EF4-FFF2-40B4-BE49-F238E27FC236}">
                  <a16:creationId xmlns:a16="http://schemas.microsoft.com/office/drawing/2014/main" id="{3EEC8F49-90C8-466B-962E-930FE39F1F88}"/>
                </a:ext>
              </a:extLst>
            </p:cNvPr>
            <p:cNvSpPr/>
            <p:nvPr/>
          </p:nvSpPr>
          <p:spPr>
            <a:xfrm>
              <a:off x="294021" y="5540641"/>
              <a:ext cx="4033520" cy="369332"/>
            </a:xfrm>
            <a:prstGeom prst="rect">
              <a:avLst/>
            </a:prstGeom>
          </p:spPr>
          <p:txBody>
            <a:bodyPr wrap="square" lIns="0" tIns="0" rIns="0" bIns="0">
              <a:spAutoFit/>
            </a:bodyPr>
            <a:lstStyle/>
            <a:p>
              <a:pPr marL="0" marR="0" lvl="0" indent="0" algn="l" defTabSz="914400" rtl="0" eaLnBrk="1" fontAlgn="ctr"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Help your bridge Finance and IT teams to share same language and processes on Azure Cost Management</a:t>
              </a:r>
              <a:endParaRPr kumimoji="0" lang="en-IN" sz="1200" b="0" i="0" u="none" strike="noStrike" kern="1200" cap="none" spc="0" normalizeH="0" baseline="0" noProof="0">
                <a:ln>
                  <a:noFill/>
                </a:ln>
                <a:solidFill>
                  <a:srgbClr val="000000"/>
                </a:solidFill>
                <a:effectLst/>
                <a:uLnTx/>
                <a:uFillTx/>
                <a:latin typeface="Segoe UI Semibold"/>
                <a:ea typeface="+mn-ea"/>
                <a:cs typeface="+mn-cs"/>
              </a:endParaRPr>
            </a:p>
          </p:txBody>
        </p:sp>
        <p:cxnSp>
          <p:nvCxnSpPr>
            <p:cNvPr id="16" name="Straight Connector 15">
              <a:extLst>
                <a:ext uri="{FF2B5EF4-FFF2-40B4-BE49-F238E27FC236}">
                  <a16:creationId xmlns:a16="http://schemas.microsoft.com/office/drawing/2014/main" id="{B57E4E69-85C1-4C78-A001-BB900B2205D7}"/>
                </a:ext>
              </a:extLst>
            </p:cNvPr>
            <p:cNvCxnSpPr>
              <a:cxnSpLocks/>
            </p:cNvCxnSpPr>
            <p:nvPr/>
          </p:nvCxnSpPr>
          <p:spPr>
            <a:xfrm>
              <a:off x="4136247" y="4412211"/>
              <a:ext cx="191293" cy="0"/>
            </a:xfrm>
            <a:prstGeom prst="line">
              <a:avLst/>
            </a:prstGeom>
            <a:solidFill>
              <a:srgbClr val="0078D3">
                <a:lumMod val="50000"/>
              </a:srgbClr>
            </a:solidFill>
            <a:ln w="25400" cap="rnd" cmpd="sng" algn="ctr">
              <a:solidFill>
                <a:schemeClr val="accent1"/>
              </a:solidFill>
              <a:prstDash val="solid"/>
              <a:miter lim="800000"/>
              <a:headEnd type="none" w="lg" len="med"/>
              <a:tailEnd type="none" w="lg" len="med"/>
            </a:ln>
            <a:effectLst/>
          </p:spPr>
        </p:cxnSp>
        <p:cxnSp>
          <p:nvCxnSpPr>
            <p:cNvPr id="19" name="Straight Connector 18">
              <a:extLst>
                <a:ext uri="{FF2B5EF4-FFF2-40B4-BE49-F238E27FC236}">
                  <a16:creationId xmlns:a16="http://schemas.microsoft.com/office/drawing/2014/main" id="{4D4BEC5D-4155-42CC-9DCF-E665906DC3C9}"/>
                </a:ext>
              </a:extLst>
            </p:cNvPr>
            <p:cNvCxnSpPr>
              <a:cxnSpLocks/>
            </p:cNvCxnSpPr>
            <p:nvPr/>
          </p:nvCxnSpPr>
          <p:spPr>
            <a:xfrm>
              <a:off x="4136247" y="4890603"/>
              <a:ext cx="191293" cy="0"/>
            </a:xfrm>
            <a:prstGeom prst="line">
              <a:avLst/>
            </a:prstGeom>
            <a:solidFill>
              <a:srgbClr val="0078D3">
                <a:lumMod val="50000"/>
              </a:srgbClr>
            </a:solidFill>
            <a:ln w="25400" cap="rnd" cmpd="sng" algn="ctr">
              <a:solidFill>
                <a:schemeClr val="accent1"/>
              </a:solidFill>
              <a:prstDash val="solid"/>
              <a:miter lim="800000"/>
              <a:headEnd type="none" w="lg" len="med"/>
              <a:tailEnd type="none" w="lg" len="med"/>
            </a:ln>
            <a:effectLst/>
          </p:spPr>
        </p:cxnSp>
        <p:cxnSp>
          <p:nvCxnSpPr>
            <p:cNvPr id="28" name="Straight Connector 27">
              <a:extLst>
                <a:ext uri="{FF2B5EF4-FFF2-40B4-BE49-F238E27FC236}">
                  <a16:creationId xmlns:a16="http://schemas.microsoft.com/office/drawing/2014/main" id="{1EEDAB7B-2D02-4FF1-AC71-327F1BC44555}"/>
                </a:ext>
              </a:extLst>
            </p:cNvPr>
            <p:cNvCxnSpPr>
              <a:cxnSpLocks/>
            </p:cNvCxnSpPr>
            <p:nvPr/>
          </p:nvCxnSpPr>
          <p:spPr>
            <a:xfrm>
              <a:off x="4136247" y="5424422"/>
              <a:ext cx="191293" cy="0"/>
            </a:xfrm>
            <a:prstGeom prst="line">
              <a:avLst/>
            </a:prstGeom>
            <a:solidFill>
              <a:srgbClr val="0078D3">
                <a:lumMod val="50000"/>
              </a:srgbClr>
            </a:solidFill>
            <a:ln w="25400" cap="rnd" cmpd="sng" algn="ctr">
              <a:solidFill>
                <a:schemeClr val="accent1"/>
              </a:solidFill>
              <a:prstDash val="solid"/>
              <a:miter lim="800000"/>
              <a:headEnd type="none" w="lg" len="med"/>
              <a:tailEnd type="none" w="lg" len="med"/>
            </a:ln>
            <a:effectLst/>
          </p:spPr>
        </p:cxnSp>
      </p:grpSp>
      <p:grpSp>
        <p:nvGrpSpPr>
          <p:cNvPr id="35" name="Group 34">
            <a:extLst>
              <a:ext uri="{FF2B5EF4-FFF2-40B4-BE49-F238E27FC236}">
                <a16:creationId xmlns:a16="http://schemas.microsoft.com/office/drawing/2014/main" id="{7A7F08BB-D965-4609-B600-419E2A0E99A8}"/>
              </a:ext>
            </a:extLst>
          </p:cNvPr>
          <p:cNvGrpSpPr/>
          <p:nvPr/>
        </p:nvGrpSpPr>
        <p:grpSpPr>
          <a:xfrm>
            <a:off x="5237419" y="4248339"/>
            <a:ext cx="6252756" cy="2527254"/>
            <a:chOff x="4980612" y="3470722"/>
            <a:chExt cx="6252756" cy="2527254"/>
          </a:xfrm>
        </p:grpSpPr>
        <p:sp>
          <p:nvSpPr>
            <p:cNvPr id="4" name="Freeform: Shape 3">
              <a:extLst>
                <a:ext uri="{FF2B5EF4-FFF2-40B4-BE49-F238E27FC236}">
                  <a16:creationId xmlns:a16="http://schemas.microsoft.com/office/drawing/2014/main" id="{8DE85F7D-895C-44C3-BC8B-4084884A1619}"/>
                </a:ext>
              </a:extLst>
            </p:cNvPr>
            <p:cNvSpPr/>
            <p:nvPr/>
          </p:nvSpPr>
          <p:spPr bwMode="auto">
            <a:xfrm>
              <a:off x="4980612" y="3850375"/>
              <a:ext cx="6252756" cy="556950"/>
            </a:xfrm>
            <a:custGeom>
              <a:avLst/>
              <a:gdLst>
                <a:gd name="connsiteX0" fmla="*/ 0 w 3771900"/>
                <a:gd name="connsiteY0" fmla="*/ 0 h 535542"/>
                <a:gd name="connsiteX1" fmla="*/ 3771900 w 3771900"/>
                <a:gd name="connsiteY1" fmla="*/ 0 h 535542"/>
                <a:gd name="connsiteX2" fmla="*/ 3771900 w 3771900"/>
                <a:gd name="connsiteY2" fmla="*/ 535542 h 535542"/>
                <a:gd name="connsiteX3" fmla="*/ 0 w 3771900"/>
                <a:gd name="connsiteY3" fmla="*/ 535542 h 535542"/>
              </a:gdLst>
              <a:ahLst/>
              <a:cxnLst>
                <a:cxn ang="0">
                  <a:pos x="connsiteX0" y="connsiteY0"/>
                </a:cxn>
                <a:cxn ang="0">
                  <a:pos x="connsiteX1" y="connsiteY1"/>
                </a:cxn>
                <a:cxn ang="0">
                  <a:pos x="connsiteX2" y="connsiteY2"/>
                </a:cxn>
                <a:cxn ang="0">
                  <a:pos x="connsiteX3" y="connsiteY3"/>
                </a:cxn>
              </a:cxnLst>
              <a:rect l="l" t="t" r="r" b="b"/>
              <a:pathLst>
                <a:path w="3771900" h="535542">
                  <a:moveTo>
                    <a:pt x="0" y="0"/>
                  </a:moveTo>
                  <a:lnTo>
                    <a:pt x="3771900" y="0"/>
                  </a:lnTo>
                  <a:lnTo>
                    <a:pt x="3771900" y="535542"/>
                  </a:lnTo>
                  <a:lnTo>
                    <a:pt x="0" y="535542"/>
                  </a:lnTo>
                  <a:close/>
                </a:path>
              </a:pathLst>
            </a:custGeom>
            <a:solidFill>
              <a:srgbClr val="FFFFFF"/>
            </a:solidFill>
            <a:ln w="6350" cap="flat" cmpd="sng" algn="ctr">
              <a:solidFill>
                <a:srgbClr val="FFFFFF">
                  <a:lumMod val="75000"/>
                </a:srgbClr>
              </a:solidFill>
              <a:prstDash val="solid"/>
              <a:miter lim="800000"/>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91440" tIns="45720" rIns="91440" bIns="45720" numCol="2" spcCol="0" rtlCol="0" fromWordArt="0" anchor="t" anchorCtr="0" forceAA="0" compatLnSpc="1">
              <a:prstTxWarp prst="textNoShape">
                <a:avLst/>
              </a:prstTxWarp>
              <a:noAutofit/>
            </a:bodyPr>
            <a:lstStyle/>
            <a:p>
              <a:pPr marL="171450" marR="0" lvl="0" indent="-171450" algn="l" defTabSz="77724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UI Semibold"/>
                  <a:ea typeface="+mj-ea"/>
                  <a:cs typeface="Segoe UI" panose="020B0502040204020203" pitchFamily="34" charset="0"/>
                </a:rPr>
                <a:t>Drive cloud cost efficiencies </a:t>
              </a:r>
            </a:p>
            <a:p>
              <a:pPr marL="171450" marR="0" lvl="0" indent="-171450" algn="l" defTabSz="77724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UI Semibold"/>
                  <a:ea typeface="+mj-ea"/>
                  <a:cs typeface="Segoe UI" panose="020B0502040204020203" pitchFamily="34" charset="0"/>
                </a:rPr>
                <a:t>Improve operational processes</a:t>
              </a:r>
            </a:p>
            <a:p>
              <a:pPr marL="171450" marR="0" lvl="0" indent="-171450" algn="l" defTabSz="77724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UI Semibold"/>
                  <a:ea typeface="+mj-ea"/>
                  <a:cs typeface="Segoe UI" panose="020B0502040204020203" pitchFamily="34" charset="0"/>
                </a:rPr>
                <a:t>Increase visibility for your Azure spend</a:t>
              </a:r>
            </a:p>
          </p:txBody>
        </p:sp>
        <p:sp>
          <p:nvSpPr>
            <p:cNvPr id="5" name="Freeform: Shape 4">
              <a:extLst>
                <a:ext uri="{FF2B5EF4-FFF2-40B4-BE49-F238E27FC236}">
                  <a16:creationId xmlns:a16="http://schemas.microsoft.com/office/drawing/2014/main" id="{487D414A-FE2E-45A7-BF77-31DE0E575152}"/>
                </a:ext>
              </a:extLst>
            </p:cNvPr>
            <p:cNvSpPr/>
            <p:nvPr/>
          </p:nvSpPr>
          <p:spPr bwMode="auto">
            <a:xfrm>
              <a:off x="4980612" y="4396726"/>
              <a:ext cx="6252756" cy="503260"/>
            </a:xfrm>
            <a:custGeom>
              <a:avLst/>
              <a:gdLst>
                <a:gd name="connsiteX0" fmla="*/ 0 w 3771900"/>
                <a:gd name="connsiteY0" fmla="*/ 0 h 535542"/>
                <a:gd name="connsiteX1" fmla="*/ 3771900 w 3771900"/>
                <a:gd name="connsiteY1" fmla="*/ 0 h 535542"/>
                <a:gd name="connsiteX2" fmla="*/ 3771900 w 3771900"/>
                <a:gd name="connsiteY2" fmla="*/ 535542 h 535542"/>
                <a:gd name="connsiteX3" fmla="*/ 0 w 3771900"/>
                <a:gd name="connsiteY3" fmla="*/ 535542 h 535542"/>
              </a:gdLst>
              <a:ahLst/>
              <a:cxnLst>
                <a:cxn ang="0">
                  <a:pos x="connsiteX0" y="connsiteY0"/>
                </a:cxn>
                <a:cxn ang="0">
                  <a:pos x="connsiteX1" y="connsiteY1"/>
                </a:cxn>
                <a:cxn ang="0">
                  <a:pos x="connsiteX2" y="connsiteY2"/>
                </a:cxn>
                <a:cxn ang="0">
                  <a:pos x="connsiteX3" y="connsiteY3"/>
                </a:cxn>
              </a:cxnLst>
              <a:rect l="l" t="t" r="r" b="b"/>
              <a:pathLst>
                <a:path w="3771900" h="535542">
                  <a:moveTo>
                    <a:pt x="0" y="0"/>
                  </a:moveTo>
                  <a:lnTo>
                    <a:pt x="3771900" y="0"/>
                  </a:lnTo>
                  <a:lnTo>
                    <a:pt x="3771900" y="535542"/>
                  </a:lnTo>
                  <a:lnTo>
                    <a:pt x="0" y="535542"/>
                  </a:lnTo>
                  <a:close/>
                </a:path>
              </a:pathLst>
            </a:custGeom>
            <a:solidFill>
              <a:srgbClr val="FFFFFF"/>
            </a:solidFill>
            <a:ln w="6350" cap="flat" cmpd="sng" algn="ctr">
              <a:solidFill>
                <a:srgbClr val="FFFFFF">
                  <a:lumMod val="75000"/>
                </a:srgbClr>
              </a:solidFill>
              <a:prstDash val="solid"/>
              <a:miter lim="800000"/>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91440" tIns="45720" rIns="91440" bIns="45720" numCol="2" spcCol="0" rtlCol="0" fromWordArt="0" anchor="ctr" anchorCtr="0" forceAA="0" compatLnSpc="1">
              <a:prstTxWarp prst="textNoShape">
                <a:avLst/>
              </a:prstTxWarp>
              <a:no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UI Semibold"/>
                  <a:ea typeface="+mj-ea"/>
                  <a:cs typeface="Segoe UI" panose="020B0502040204020203" pitchFamily="34" charset="0"/>
                </a:rPr>
                <a:t>Provide industry expertise with tools and products </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UI Semibold"/>
                  <a:ea typeface="+mj-ea"/>
                  <a:cs typeface="Segoe UI" panose="020B0502040204020203" pitchFamily="34" charset="0"/>
                </a:rPr>
                <a:t>Improve your organization’s cloud satisfaction</a:t>
              </a:r>
            </a:p>
          </p:txBody>
        </p:sp>
        <p:sp>
          <p:nvSpPr>
            <p:cNvPr id="6" name="Freeform: Shape 5">
              <a:extLst>
                <a:ext uri="{FF2B5EF4-FFF2-40B4-BE49-F238E27FC236}">
                  <a16:creationId xmlns:a16="http://schemas.microsoft.com/office/drawing/2014/main" id="{7B73270F-DADA-4D17-A76F-E66E08CAB438}"/>
                </a:ext>
              </a:extLst>
            </p:cNvPr>
            <p:cNvSpPr/>
            <p:nvPr/>
          </p:nvSpPr>
          <p:spPr bwMode="auto">
            <a:xfrm>
              <a:off x="4980612" y="4889387"/>
              <a:ext cx="6252756" cy="503261"/>
            </a:xfrm>
            <a:custGeom>
              <a:avLst/>
              <a:gdLst>
                <a:gd name="connsiteX0" fmla="*/ 0 w 3771900"/>
                <a:gd name="connsiteY0" fmla="*/ 0 h 535542"/>
                <a:gd name="connsiteX1" fmla="*/ 3771900 w 3771900"/>
                <a:gd name="connsiteY1" fmla="*/ 0 h 535542"/>
                <a:gd name="connsiteX2" fmla="*/ 3771900 w 3771900"/>
                <a:gd name="connsiteY2" fmla="*/ 535542 h 535542"/>
                <a:gd name="connsiteX3" fmla="*/ 0 w 3771900"/>
                <a:gd name="connsiteY3" fmla="*/ 535542 h 535542"/>
              </a:gdLst>
              <a:ahLst/>
              <a:cxnLst>
                <a:cxn ang="0">
                  <a:pos x="connsiteX0" y="connsiteY0"/>
                </a:cxn>
                <a:cxn ang="0">
                  <a:pos x="connsiteX1" y="connsiteY1"/>
                </a:cxn>
                <a:cxn ang="0">
                  <a:pos x="connsiteX2" y="connsiteY2"/>
                </a:cxn>
                <a:cxn ang="0">
                  <a:pos x="connsiteX3" y="connsiteY3"/>
                </a:cxn>
              </a:cxnLst>
              <a:rect l="l" t="t" r="r" b="b"/>
              <a:pathLst>
                <a:path w="3771900" h="535542">
                  <a:moveTo>
                    <a:pt x="0" y="0"/>
                  </a:moveTo>
                  <a:lnTo>
                    <a:pt x="3771900" y="0"/>
                  </a:lnTo>
                  <a:lnTo>
                    <a:pt x="3771900" y="535542"/>
                  </a:lnTo>
                  <a:lnTo>
                    <a:pt x="0" y="535542"/>
                  </a:lnTo>
                  <a:close/>
                </a:path>
              </a:pathLst>
            </a:custGeom>
            <a:solidFill>
              <a:srgbClr val="FFFFFF"/>
            </a:solidFill>
            <a:ln w="6350" cap="flat" cmpd="sng" algn="ctr">
              <a:solidFill>
                <a:srgbClr val="FFFFFF">
                  <a:lumMod val="75000"/>
                </a:srgbClr>
              </a:solidFill>
              <a:prstDash val="solid"/>
              <a:miter lim="800000"/>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91440" tIns="45720" rIns="91440" bIns="45720" numCol="2" spcCol="0" rtlCol="0" fromWordArt="0" anchor="ctr" anchorCtr="0" forceAA="0" compatLnSpc="1">
              <a:prstTxWarp prst="textNoShape">
                <a:avLst/>
              </a:prstTxWarp>
              <a:no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UI Semibold"/>
                  <a:ea typeface="+mj-ea"/>
                  <a:cs typeface="Segoe UI" panose="020B0502040204020203" pitchFamily="34" charset="0"/>
                </a:rPr>
                <a:t>Remove blockers to help drive success in Azure</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UI Semibold"/>
                  <a:ea typeface="+mj-ea"/>
                  <a:cs typeface="Segoe UI" panose="020B0502040204020203" pitchFamily="34" charset="0"/>
                </a:rPr>
                <a:t>Increase optimization to better manage services</a:t>
              </a:r>
            </a:p>
          </p:txBody>
        </p:sp>
        <p:sp>
          <p:nvSpPr>
            <p:cNvPr id="10" name="Freeform: Shape 9">
              <a:extLst>
                <a:ext uri="{FF2B5EF4-FFF2-40B4-BE49-F238E27FC236}">
                  <a16:creationId xmlns:a16="http://schemas.microsoft.com/office/drawing/2014/main" id="{3A38A940-BAFB-4348-8F6A-5A51B02F2785}"/>
                </a:ext>
              </a:extLst>
            </p:cNvPr>
            <p:cNvSpPr/>
            <p:nvPr/>
          </p:nvSpPr>
          <p:spPr bwMode="auto">
            <a:xfrm>
              <a:off x="4980612" y="5382048"/>
              <a:ext cx="6252756" cy="615928"/>
            </a:xfrm>
            <a:custGeom>
              <a:avLst/>
              <a:gdLst>
                <a:gd name="connsiteX0" fmla="*/ 0 w 3771900"/>
                <a:gd name="connsiteY0" fmla="*/ 0 h 535542"/>
                <a:gd name="connsiteX1" fmla="*/ 3771900 w 3771900"/>
                <a:gd name="connsiteY1" fmla="*/ 0 h 535542"/>
                <a:gd name="connsiteX2" fmla="*/ 3771900 w 3771900"/>
                <a:gd name="connsiteY2" fmla="*/ 535542 h 535542"/>
                <a:gd name="connsiteX3" fmla="*/ 0 w 3771900"/>
                <a:gd name="connsiteY3" fmla="*/ 535542 h 535542"/>
              </a:gdLst>
              <a:ahLst/>
              <a:cxnLst>
                <a:cxn ang="0">
                  <a:pos x="connsiteX0" y="connsiteY0"/>
                </a:cxn>
                <a:cxn ang="0">
                  <a:pos x="connsiteX1" y="connsiteY1"/>
                </a:cxn>
                <a:cxn ang="0">
                  <a:pos x="connsiteX2" y="connsiteY2"/>
                </a:cxn>
                <a:cxn ang="0">
                  <a:pos x="connsiteX3" y="connsiteY3"/>
                </a:cxn>
              </a:cxnLst>
              <a:rect l="l" t="t" r="r" b="b"/>
              <a:pathLst>
                <a:path w="3771900" h="535542">
                  <a:moveTo>
                    <a:pt x="0" y="0"/>
                  </a:moveTo>
                  <a:lnTo>
                    <a:pt x="3771900" y="0"/>
                  </a:lnTo>
                  <a:lnTo>
                    <a:pt x="3771900" y="535542"/>
                  </a:lnTo>
                  <a:lnTo>
                    <a:pt x="0" y="535542"/>
                  </a:lnTo>
                  <a:close/>
                </a:path>
              </a:pathLst>
            </a:custGeom>
            <a:solidFill>
              <a:srgbClr val="FFFFFF"/>
            </a:solidFill>
            <a:ln w="6350" cap="flat" cmpd="sng" algn="ctr">
              <a:solidFill>
                <a:srgbClr val="FFFFFF">
                  <a:lumMod val="75000"/>
                </a:srgbClr>
              </a:solidFill>
              <a:prstDash val="solid"/>
              <a:miter lim="800000"/>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91440" tIns="45720" rIns="91440" bIns="45720" numCol="2" spcCol="0" rtlCol="0" fromWordArt="0" anchor="ctr" anchorCtr="0" forceAA="0" compatLnSpc="1">
              <a:prstTxWarp prst="textNoShape">
                <a:avLst/>
              </a:prstTxWarp>
              <a:noAutofit/>
            </a:bodyPr>
            <a:lstStyle/>
            <a:p>
              <a:pPr marL="171450" marR="0" lvl="0" indent="-171450" algn="l" defTabSz="914400" rtl="0" eaLnBrk="1" fontAlgn="base" latinLnBrk="0" hangingPunct="1">
                <a:lnSpc>
                  <a:spcPct val="90000"/>
                </a:lnSpc>
                <a:spcBef>
                  <a:spcPct val="0"/>
                </a:spcBef>
                <a:spcAft>
                  <a:spcPct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UI Semibold"/>
                  <a:ea typeface="+mj-ea"/>
                  <a:cs typeface="Segoe UI" panose="020B0502040204020203" pitchFamily="34" charset="0"/>
                </a:rPr>
                <a:t>Optimize operations</a:t>
              </a:r>
            </a:p>
            <a:p>
              <a:pPr marL="171450" marR="0" lvl="0" indent="-171450" algn="l" defTabSz="914400" rtl="0" eaLnBrk="1" fontAlgn="base" latinLnBrk="0" hangingPunct="1">
                <a:lnSpc>
                  <a:spcPct val="90000"/>
                </a:lnSpc>
                <a:spcBef>
                  <a:spcPct val="0"/>
                </a:spcBef>
                <a:spcAft>
                  <a:spcPct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UI Semibold"/>
                  <a:ea typeface="+mj-ea"/>
                  <a:cs typeface="Segoe UI" panose="020B0502040204020203" pitchFamily="34" charset="0"/>
                </a:rPr>
                <a:t>Increase cross-collaboration amongst Finance and IT to share common goal</a:t>
              </a:r>
            </a:p>
            <a:p>
              <a:pPr marL="171450" marR="0" lvl="0" indent="-171450" algn="l" defTabSz="914400" rtl="0" eaLnBrk="1" fontAlgn="base" latinLnBrk="0" hangingPunct="1">
                <a:lnSpc>
                  <a:spcPct val="90000"/>
                </a:lnSpc>
                <a:spcBef>
                  <a:spcPct val="0"/>
                </a:spcBef>
                <a:spcAft>
                  <a:spcPct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UI Semibold"/>
                  <a:ea typeface="+mj-ea"/>
                  <a:cs typeface="Segoe UI" panose="020B0502040204020203" pitchFamily="34" charset="0"/>
                </a:rPr>
                <a:t>Increase agility and speed to market </a:t>
              </a:r>
            </a:p>
          </p:txBody>
        </p:sp>
        <p:sp>
          <p:nvSpPr>
            <p:cNvPr id="29" name="Rectangle 28">
              <a:extLst>
                <a:ext uri="{FF2B5EF4-FFF2-40B4-BE49-F238E27FC236}">
                  <a16:creationId xmlns:a16="http://schemas.microsoft.com/office/drawing/2014/main" id="{DC750C23-56E3-438F-BF61-885F7ADE4162}"/>
                </a:ext>
              </a:extLst>
            </p:cNvPr>
            <p:cNvSpPr/>
            <p:nvPr/>
          </p:nvSpPr>
          <p:spPr bwMode="auto">
            <a:xfrm>
              <a:off x="4980612" y="3815256"/>
              <a:ext cx="6252756" cy="45719"/>
            </a:xfrm>
            <a:prstGeom prst="rect">
              <a:avLst/>
            </a:prstGeom>
            <a:solidFill>
              <a:srgbClr val="0070C0"/>
            </a:solidFill>
            <a:ln w="6350" cap="flat" cmpd="sng" algn="ctr">
              <a:solidFill>
                <a:srgbClr val="3C3C41"/>
              </a:solidFill>
              <a:prstDash val="solid"/>
              <a:miter lim="800000"/>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91440" tIns="0" rIns="91440" bIns="9144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800" b="0" i="0" u="none" strike="noStrike" kern="0" cap="none" spc="0" normalizeH="0" baseline="0" noProof="0">
                  <a:ln>
                    <a:noFill/>
                  </a:ln>
                  <a:solidFill>
                    <a:srgbClr val="0070C0"/>
                  </a:solidFill>
                  <a:effectLst/>
                  <a:uLnTx/>
                  <a:uFillTx/>
                  <a:latin typeface="Segoe UI Semibold"/>
                  <a:ea typeface="+mj-ea"/>
                  <a:cs typeface="+mj-cs"/>
                </a:rPr>
                <a:t>Business Outcomes</a:t>
              </a:r>
            </a:p>
          </p:txBody>
        </p:sp>
        <p:sp>
          <p:nvSpPr>
            <p:cNvPr id="31" name="Ribbon2_F19B" title="Icon of a star shaped ribbon">
              <a:extLst>
                <a:ext uri="{FF2B5EF4-FFF2-40B4-BE49-F238E27FC236}">
                  <a16:creationId xmlns:a16="http://schemas.microsoft.com/office/drawing/2014/main" id="{B422688F-9C69-4928-9944-3C1E81300CED}"/>
                </a:ext>
              </a:extLst>
            </p:cNvPr>
            <p:cNvSpPr>
              <a:spLocks noChangeAspect="1" noEditPoints="1"/>
            </p:cNvSpPr>
            <p:nvPr/>
          </p:nvSpPr>
          <p:spPr bwMode="auto">
            <a:xfrm>
              <a:off x="10946866" y="3470722"/>
              <a:ext cx="258774" cy="302125"/>
            </a:xfrm>
            <a:custGeom>
              <a:avLst/>
              <a:gdLst>
                <a:gd name="T0" fmla="*/ 1621 w 2495"/>
                <a:gd name="T1" fmla="*/ 1247 h 3493"/>
                <a:gd name="T2" fmla="*/ 1247 w 2495"/>
                <a:gd name="T3" fmla="*/ 1621 h 3493"/>
                <a:gd name="T4" fmla="*/ 873 w 2495"/>
                <a:gd name="T5" fmla="*/ 1247 h 3493"/>
                <a:gd name="T6" fmla="*/ 1247 w 2495"/>
                <a:gd name="T7" fmla="*/ 873 h 3493"/>
                <a:gd name="T8" fmla="*/ 1621 w 2495"/>
                <a:gd name="T9" fmla="*/ 1247 h 3493"/>
                <a:gd name="T10" fmla="*/ 2495 w 2495"/>
                <a:gd name="T11" fmla="*/ 1247 h 3493"/>
                <a:gd name="T12" fmla="*/ 2120 w 2495"/>
                <a:gd name="T13" fmla="*/ 873 h 3493"/>
                <a:gd name="T14" fmla="*/ 2120 w 2495"/>
                <a:gd name="T15" fmla="*/ 374 h 3493"/>
                <a:gd name="T16" fmla="*/ 1621 w 2495"/>
                <a:gd name="T17" fmla="*/ 374 h 3493"/>
                <a:gd name="T18" fmla="*/ 1247 w 2495"/>
                <a:gd name="T19" fmla="*/ 0 h 3493"/>
                <a:gd name="T20" fmla="*/ 873 w 2495"/>
                <a:gd name="T21" fmla="*/ 374 h 3493"/>
                <a:gd name="T22" fmla="*/ 374 w 2495"/>
                <a:gd name="T23" fmla="*/ 374 h 3493"/>
                <a:gd name="T24" fmla="*/ 374 w 2495"/>
                <a:gd name="T25" fmla="*/ 873 h 3493"/>
                <a:gd name="T26" fmla="*/ 0 w 2495"/>
                <a:gd name="T27" fmla="*/ 1247 h 3493"/>
                <a:gd name="T28" fmla="*/ 374 w 2495"/>
                <a:gd name="T29" fmla="*/ 1621 h 3493"/>
                <a:gd name="T30" fmla="*/ 374 w 2495"/>
                <a:gd name="T31" fmla="*/ 2120 h 3493"/>
                <a:gd name="T32" fmla="*/ 873 w 2495"/>
                <a:gd name="T33" fmla="*/ 2120 h 3493"/>
                <a:gd name="T34" fmla="*/ 1247 w 2495"/>
                <a:gd name="T35" fmla="*/ 2495 h 3493"/>
                <a:gd name="T36" fmla="*/ 1621 w 2495"/>
                <a:gd name="T37" fmla="*/ 2120 h 3493"/>
                <a:gd name="T38" fmla="*/ 2120 w 2495"/>
                <a:gd name="T39" fmla="*/ 2120 h 3493"/>
                <a:gd name="T40" fmla="*/ 2120 w 2495"/>
                <a:gd name="T41" fmla="*/ 1621 h 3493"/>
                <a:gd name="T42" fmla="*/ 2495 w 2495"/>
                <a:gd name="T43" fmla="*/ 1247 h 3493"/>
                <a:gd name="T44" fmla="*/ 1247 w 2495"/>
                <a:gd name="T45" fmla="*/ 2495 h 3493"/>
                <a:gd name="T46" fmla="*/ 1497 w 2495"/>
                <a:gd name="T47" fmla="*/ 3493 h 3493"/>
                <a:gd name="T48" fmla="*/ 2245 w 2495"/>
                <a:gd name="T49" fmla="*/ 3243 h 3493"/>
                <a:gd name="T50" fmla="*/ 1964 w 2495"/>
                <a:gd name="T51" fmla="*/ 2120 h 3493"/>
                <a:gd name="T52" fmla="*/ 530 w 2495"/>
                <a:gd name="T53" fmla="*/ 2120 h 3493"/>
                <a:gd name="T54" fmla="*/ 249 w 2495"/>
                <a:gd name="T55" fmla="*/ 3243 h 3493"/>
                <a:gd name="T56" fmla="*/ 998 w 2495"/>
                <a:gd name="T57" fmla="*/ 3493 h 3493"/>
                <a:gd name="T58" fmla="*/ 1247 w 2495"/>
                <a:gd name="T59" fmla="*/ 2495 h 3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95" h="3493">
                  <a:moveTo>
                    <a:pt x="1621" y="1247"/>
                  </a:moveTo>
                  <a:cubicBezTo>
                    <a:pt x="1621" y="1454"/>
                    <a:pt x="1454" y="1621"/>
                    <a:pt x="1247" y="1621"/>
                  </a:cubicBezTo>
                  <a:cubicBezTo>
                    <a:pt x="1040" y="1621"/>
                    <a:pt x="873" y="1454"/>
                    <a:pt x="873" y="1247"/>
                  </a:cubicBezTo>
                  <a:cubicBezTo>
                    <a:pt x="873" y="1040"/>
                    <a:pt x="1040" y="873"/>
                    <a:pt x="1247" y="873"/>
                  </a:cubicBezTo>
                  <a:cubicBezTo>
                    <a:pt x="1454" y="873"/>
                    <a:pt x="1621" y="1040"/>
                    <a:pt x="1621" y="1247"/>
                  </a:cubicBezTo>
                  <a:close/>
                  <a:moveTo>
                    <a:pt x="2495" y="1247"/>
                  </a:moveTo>
                  <a:cubicBezTo>
                    <a:pt x="2120" y="873"/>
                    <a:pt x="2120" y="873"/>
                    <a:pt x="2120" y="873"/>
                  </a:cubicBezTo>
                  <a:cubicBezTo>
                    <a:pt x="2120" y="374"/>
                    <a:pt x="2120" y="374"/>
                    <a:pt x="2120" y="374"/>
                  </a:cubicBezTo>
                  <a:cubicBezTo>
                    <a:pt x="1621" y="374"/>
                    <a:pt x="1621" y="374"/>
                    <a:pt x="1621" y="374"/>
                  </a:cubicBezTo>
                  <a:cubicBezTo>
                    <a:pt x="1247" y="0"/>
                    <a:pt x="1247" y="0"/>
                    <a:pt x="1247" y="0"/>
                  </a:cubicBezTo>
                  <a:cubicBezTo>
                    <a:pt x="873" y="374"/>
                    <a:pt x="873" y="374"/>
                    <a:pt x="873" y="374"/>
                  </a:cubicBezTo>
                  <a:cubicBezTo>
                    <a:pt x="374" y="374"/>
                    <a:pt x="374" y="374"/>
                    <a:pt x="374" y="374"/>
                  </a:cubicBezTo>
                  <a:cubicBezTo>
                    <a:pt x="374" y="873"/>
                    <a:pt x="374" y="873"/>
                    <a:pt x="374" y="873"/>
                  </a:cubicBezTo>
                  <a:cubicBezTo>
                    <a:pt x="0" y="1247"/>
                    <a:pt x="0" y="1247"/>
                    <a:pt x="0" y="1247"/>
                  </a:cubicBezTo>
                  <a:cubicBezTo>
                    <a:pt x="374" y="1621"/>
                    <a:pt x="374" y="1621"/>
                    <a:pt x="374" y="1621"/>
                  </a:cubicBezTo>
                  <a:cubicBezTo>
                    <a:pt x="374" y="2120"/>
                    <a:pt x="374" y="2120"/>
                    <a:pt x="374" y="2120"/>
                  </a:cubicBezTo>
                  <a:cubicBezTo>
                    <a:pt x="873" y="2120"/>
                    <a:pt x="873" y="2120"/>
                    <a:pt x="873" y="2120"/>
                  </a:cubicBezTo>
                  <a:cubicBezTo>
                    <a:pt x="1247" y="2495"/>
                    <a:pt x="1247" y="2495"/>
                    <a:pt x="1247" y="2495"/>
                  </a:cubicBezTo>
                  <a:cubicBezTo>
                    <a:pt x="1621" y="2120"/>
                    <a:pt x="1621" y="2120"/>
                    <a:pt x="1621" y="2120"/>
                  </a:cubicBezTo>
                  <a:cubicBezTo>
                    <a:pt x="2120" y="2120"/>
                    <a:pt x="2120" y="2120"/>
                    <a:pt x="2120" y="2120"/>
                  </a:cubicBezTo>
                  <a:cubicBezTo>
                    <a:pt x="2120" y="1621"/>
                    <a:pt x="2120" y="1621"/>
                    <a:pt x="2120" y="1621"/>
                  </a:cubicBezTo>
                  <a:lnTo>
                    <a:pt x="2495" y="1247"/>
                  </a:lnTo>
                  <a:close/>
                  <a:moveTo>
                    <a:pt x="1247" y="2495"/>
                  </a:moveTo>
                  <a:cubicBezTo>
                    <a:pt x="1497" y="3493"/>
                    <a:pt x="1497" y="3493"/>
                    <a:pt x="1497" y="3493"/>
                  </a:cubicBezTo>
                  <a:cubicBezTo>
                    <a:pt x="2245" y="3243"/>
                    <a:pt x="2245" y="3243"/>
                    <a:pt x="2245" y="3243"/>
                  </a:cubicBezTo>
                  <a:cubicBezTo>
                    <a:pt x="1964" y="2120"/>
                    <a:pt x="1964" y="2120"/>
                    <a:pt x="1964" y="2120"/>
                  </a:cubicBezTo>
                  <a:moveTo>
                    <a:pt x="530" y="2120"/>
                  </a:moveTo>
                  <a:cubicBezTo>
                    <a:pt x="249" y="3243"/>
                    <a:pt x="249" y="3243"/>
                    <a:pt x="249" y="3243"/>
                  </a:cubicBezTo>
                  <a:cubicBezTo>
                    <a:pt x="998" y="3493"/>
                    <a:pt x="998" y="3493"/>
                    <a:pt x="998" y="3493"/>
                  </a:cubicBezTo>
                  <a:cubicBezTo>
                    <a:pt x="1247" y="2495"/>
                    <a:pt x="1247" y="2495"/>
                    <a:pt x="1247" y="2495"/>
                  </a:cubicBezTo>
                </a:path>
              </a:pathLst>
            </a:custGeom>
            <a:noFill/>
            <a:ln w="9525" cap="sq">
              <a:solidFill>
                <a:srgbClr val="243A5E"/>
              </a:solidFill>
              <a:prstDash val="solid"/>
              <a:miter lim="800000"/>
              <a:headEnd/>
              <a:tailE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major"/>
          </p:style>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Semibold"/>
                <a:ea typeface="+mj-ea"/>
                <a:cs typeface="+mj-cs"/>
              </a:endParaRPr>
            </a:p>
          </p:txBody>
        </p:sp>
      </p:grpSp>
      <p:sp>
        <p:nvSpPr>
          <p:cNvPr id="50" name="TextBox 49">
            <a:extLst>
              <a:ext uri="{FF2B5EF4-FFF2-40B4-BE49-F238E27FC236}">
                <a16:creationId xmlns:a16="http://schemas.microsoft.com/office/drawing/2014/main" id="{0ABF9110-55F8-4B5D-AC57-C9C5B9A65868}"/>
              </a:ext>
            </a:extLst>
          </p:cNvPr>
          <p:cNvSpPr txBox="1"/>
          <p:nvPr/>
        </p:nvSpPr>
        <p:spPr>
          <a:xfrm>
            <a:off x="5269810" y="2092190"/>
            <a:ext cx="639736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70C0"/>
                </a:solidFill>
                <a:effectLst/>
                <a:uLnTx/>
                <a:uFillTx/>
                <a:latin typeface="Segoe UI"/>
                <a:ea typeface="+mn-ea"/>
                <a:cs typeface="+mn-cs"/>
              </a:rPr>
              <a:t>Key Objectives</a:t>
            </a:r>
          </a:p>
        </p:txBody>
      </p:sp>
      <p:grpSp>
        <p:nvGrpSpPr>
          <p:cNvPr id="52" name="Group 51">
            <a:extLst>
              <a:ext uri="{FF2B5EF4-FFF2-40B4-BE49-F238E27FC236}">
                <a16:creationId xmlns:a16="http://schemas.microsoft.com/office/drawing/2014/main" id="{4C07D073-1A89-4AAF-B58D-C2253F8544B3}"/>
              </a:ext>
            </a:extLst>
          </p:cNvPr>
          <p:cNvGrpSpPr/>
          <p:nvPr/>
        </p:nvGrpSpPr>
        <p:grpSpPr>
          <a:xfrm>
            <a:off x="4932633" y="2428835"/>
            <a:ext cx="6804298" cy="1865482"/>
            <a:chOff x="4865377" y="1993429"/>
            <a:chExt cx="6804298" cy="1865482"/>
          </a:xfrm>
        </p:grpSpPr>
        <p:grpSp>
          <p:nvGrpSpPr>
            <p:cNvPr id="53" name="Group 52">
              <a:extLst>
                <a:ext uri="{FF2B5EF4-FFF2-40B4-BE49-F238E27FC236}">
                  <a16:creationId xmlns:a16="http://schemas.microsoft.com/office/drawing/2014/main" id="{D22C2573-917C-4E6E-9FBA-531F793387AC}"/>
                </a:ext>
              </a:extLst>
            </p:cNvPr>
            <p:cNvGrpSpPr/>
            <p:nvPr/>
          </p:nvGrpSpPr>
          <p:grpSpPr>
            <a:xfrm>
              <a:off x="4865377" y="1993429"/>
              <a:ext cx="1887892" cy="1010502"/>
              <a:chOff x="4923917" y="2363819"/>
              <a:chExt cx="1887892" cy="1010502"/>
            </a:xfrm>
          </p:grpSpPr>
          <p:pic>
            <p:nvPicPr>
              <p:cNvPr id="67" name="Graphic 66" descr="Binoculars with solid fill">
                <a:extLst>
                  <a:ext uri="{FF2B5EF4-FFF2-40B4-BE49-F238E27FC236}">
                    <a16:creationId xmlns:a16="http://schemas.microsoft.com/office/drawing/2014/main" id="{EC6CA52E-22D6-4C92-9269-3D289D54C4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97206" y="2363819"/>
                <a:ext cx="541315" cy="541315"/>
              </a:xfrm>
              <a:prstGeom prst="rect">
                <a:avLst/>
              </a:prstGeom>
            </p:spPr>
          </p:pic>
          <p:sp>
            <p:nvSpPr>
              <p:cNvPr id="68" name="TextBox 67">
                <a:extLst>
                  <a:ext uri="{FF2B5EF4-FFF2-40B4-BE49-F238E27FC236}">
                    <a16:creationId xmlns:a16="http://schemas.microsoft.com/office/drawing/2014/main" id="{90A95302-CCB7-417E-82E3-FB36BBAA6C75}"/>
                  </a:ext>
                </a:extLst>
              </p:cNvPr>
              <p:cNvSpPr txBox="1"/>
              <p:nvPr/>
            </p:nvSpPr>
            <p:spPr>
              <a:xfrm>
                <a:off x="4923917" y="2912656"/>
                <a:ext cx="1887892"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Segoe UI "/>
                    <a:ea typeface="+mn-ea"/>
                    <a:cs typeface="+mn-cs"/>
                  </a:rPr>
                  <a:t>Create a centralized FinOps Team</a:t>
                </a:r>
              </a:p>
            </p:txBody>
          </p:sp>
        </p:grpSp>
        <p:grpSp>
          <p:nvGrpSpPr>
            <p:cNvPr id="54" name="Group 53">
              <a:extLst>
                <a:ext uri="{FF2B5EF4-FFF2-40B4-BE49-F238E27FC236}">
                  <a16:creationId xmlns:a16="http://schemas.microsoft.com/office/drawing/2014/main" id="{AAFC5ED0-EF90-4439-897F-AC4BDC27B297}"/>
                </a:ext>
              </a:extLst>
            </p:cNvPr>
            <p:cNvGrpSpPr/>
            <p:nvPr/>
          </p:nvGrpSpPr>
          <p:grpSpPr>
            <a:xfrm>
              <a:off x="5946143" y="2876039"/>
              <a:ext cx="1935760" cy="982872"/>
              <a:chOff x="9491822" y="1758019"/>
              <a:chExt cx="1935760" cy="982872"/>
            </a:xfrm>
          </p:grpSpPr>
          <p:pic>
            <p:nvPicPr>
              <p:cNvPr id="65" name="Graphic 64" descr="Treasure Map with solid fill">
                <a:extLst>
                  <a:ext uri="{FF2B5EF4-FFF2-40B4-BE49-F238E27FC236}">
                    <a16:creationId xmlns:a16="http://schemas.microsoft.com/office/drawing/2014/main" id="{C06E1B31-A009-472C-B887-7B465B30208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87509" y="1758019"/>
                <a:ext cx="544387" cy="544387"/>
              </a:xfrm>
              <a:prstGeom prst="rect">
                <a:avLst/>
              </a:prstGeom>
            </p:spPr>
          </p:pic>
          <p:sp>
            <p:nvSpPr>
              <p:cNvPr id="66" name="TextBox 65">
                <a:extLst>
                  <a:ext uri="{FF2B5EF4-FFF2-40B4-BE49-F238E27FC236}">
                    <a16:creationId xmlns:a16="http://schemas.microsoft.com/office/drawing/2014/main" id="{4BA5F4B1-87E5-4C85-A03C-92532ADA9EE1}"/>
                  </a:ext>
                </a:extLst>
              </p:cNvPr>
              <p:cNvSpPr txBox="1"/>
              <p:nvPr/>
            </p:nvSpPr>
            <p:spPr>
              <a:xfrm>
                <a:off x="9491822" y="2279226"/>
                <a:ext cx="193576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Segoe UI"/>
                    <a:ea typeface="+mn-ea"/>
                    <a:cs typeface="+mn-cs"/>
                  </a:rPr>
                  <a:t>Enable real-time decision making </a:t>
                </a:r>
              </a:p>
            </p:txBody>
          </p:sp>
        </p:grpSp>
        <p:grpSp>
          <p:nvGrpSpPr>
            <p:cNvPr id="56" name="Group 55">
              <a:extLst>
                <a:ext uri="{FF2B5EF4-FFF2-40B4-BE49-F238E27FC236}">
                  <a16:creationId xmlns:a16="http://schemas.microsoft.com/office/drawing/2014/main" id="{E42A04FD-00E9-429B-B6AA-7B0DDB04074A}"/>
                </a:ext>
              </a:extLst>
            </p:cNvPr>
            <p:cNvGrpSpPr/>
            <p:nvPr/>
          </p:nvGrpSpPr>
          <p:grpSpPr>
            <a:xfrm>
              <a:off x="7470766" y="1993429"/>
              <a:ext cx="1887892" cy="1219268"/>
              <a:chOff x="6510929" y="2278409"/>
              <a:chExt cx="1887892" cy="1219268"/>
            </a:xfrm>
          </p:grpSpPr>
          <p:pic>
            <p:nvPicPr>
              <p:cNvPr id="63" name="Graphic 62" descr="Crane with solid fill">
                <a:extLst>
                  <a:ext uri="{FF2B5EF4-FFF2-40B4-BE49-F238E27FC236}">
                    <a16:creationId xmlns:a16="http://schemas.microsoft.com/office/drawing/2014/main" id="{641AC6D5-37CC-47B8-9424-5F51A61CC95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62526" y="2278409"/>
                <a:ext cx="584699" cy="584699"/>
              </a:xfrm>
              <a:prstGeom prst="rect">
                <a:avLst/>
              </a:prstGeom>
            </p:spPr>
          </p:pic>
          <p:sp>
            <p:nvSpPr>
              <p:cNvPr id="64" name="TextBox 63">
                <a:extLst>
                  <a:ext uri="{FF2B5EF4-FFF2-40B4-BE49-F238E27FC236}">
                    <a16:creationId xmlns:a16="http://schemas.microsoft.com/office/drawing/2014/main" id="{E085A4C4-C359-40AF-9935-675ADC25DFA4}"/>
                  </a:ext>
                </a:extLst>
              </p:cNvPr>
              <p:cNvSpPr txBox="1"/>
              <p:nvPr/>
            </p:nvSpPr>
            <p:spPr>
              <a:xfrm>
                <a:off x="6510929" y="2851346"/>
                <a:ext cx="1887892"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Segoe UI"/>
                    <a:ea typeface="+mn-ea"/>
                    <a:cs typeface="+mn-cs"/>
                  </a:rPr>
                  <a:t>Develop clear understanding of A</a:t>
                </a:r>
                <a:r>
                  <a:rPr kumimoji="0" lang="en-GB" sz="1200" b="0" i="0" u="none" strike="noStrike" kern="1200" cap="none" spc="0" normalizeH="0" baseline="0" noProof="0" err="1">
                    <a:ln>
                      <a:noFill/>
                    </a:ln>
                    <a:solidFill>
                      <a:prstClr val="black"/>
                    </a:solidFill>
                    <a:effectLst/>
                    <a:uLnTx/>
                    <a:uFillTx/>
                    <a:latin typeface="Segoe UI"/>
                    <a:ea typeface="+mn-ea"/>
                    <a:cs typeface="+mn-cs"/>
                  </a:rPr>
                  <a:t>zure</a:t>
                </a:r>
                <a:r>
                  <a:rPr kumimoji="0" lang="en-GB" sz="1200" b="0" i="0" u="none" strike="noStrike" kern="1200" cap="none" spc="0" normalizeH="0" baseline="0" noProof="0">
                    <a:ln>
                      <a:noFill/>
                    </a:ln>
                    <a:solidFill>
                      <a:prstClr val="black"/>
                    </a:solidFill>
                    <a:effectLst/>
                    <a:uLnTx/>
                    <a:uFillTx/>
                    <a:latin typeface="Segoe UI"/>
                    <a:ea typeface="+mn-ea"/>
                    <a:cs typeface="+mn-cs"/>
                  </a:rPr>
                  <a:t> costs</a:t>
                </a:r>
              </a:p>
            </p:txBody>
          </p:sp>
        </p:grpSp>
        <p:grpSp>
          <p:nvGrpSpPr>
            <p:cNvPr id="57" name="Group 56">
              <a:extLst>
                <a:ext uri="{FF2B5EF4-FFF2-40B4-BE49-F238E27FC236}">
                  <a16:creationId xmlns:a16="http://schemas.microsoft.com/office/drawing/2014/main" id="{E45EF312-98F3-451B-ADB5-B96045CF29B8}"/>
                </a:ext>
              </a:extLst>
            </p:cNvPr>
            <p:cNvGrpSpPr/>
            <p:nvPr/>
          </p:nvGrpSpPr>
          <p:grpSpPr>
            <a:xfrm>
              <a:off x="10076155" y="1993429"/>
              <a:ext cx="1593520" cy="1064636"/>
              <a:chOff x="8505194" y="2238732"/>
              <a:chExt cx="1593520" cy="1064636"/>
            </a:xfrm>
          </p:grpSpPr>
          <p:pic>
            <p:nvPicPr>
              <p:cNvPr id="61" name="Graphic 60" descr="Badge Tick with solid fill">
                <a:extLst>
                  <a:ext uri="{FF2B5EF4-FFF2-40B4-BE49-F238E27FC236}">
                    <a16:creationId xmlns:a16="http://schemas.microsoft.com/office/drawing/2014/main" id="{353006DD-84CD-4B60-8FB4-C9D95BE913A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989766" y="2238732"/>
                <a:ext cx="624376" cy="624376"/>
              </a:xfrm>
              <a:prstGeom prst="rect">
                <a:avLst/>
              </a:prstGeom>
            </p:spPr>
          </p:pic>
          <p:sp>
            <p:nvSpPr>
              <p:cNvPr id="62" name="TextBox 61">
                <a:extLst>
                  <a:ext uri="{FF2B5EF4-FFF2-40B4-BE49-F238E27FC236}">
                    <a16:creationId xmlns:a16="http://schemas.microsoft.com/office/drawing/2014/main" id="{12574093-8940-418D-9667-02FCE3D48C0A}"/>
                  </a:ext>
                </a:extLst>
              </p:cNvPr>
              <p:cNvSpPr txBox="1"/>
              <p:nvPr/>
            </p:nvSpPr>
            <p:spPr>
              <a:xfrm>
                <a:off x="8505194" y="2841703"/>
                <a:ext cx="159352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Segoe UI"/>
                    <a:ea typeface="+mn-ea"/>
                    <a:cs typeface="+mn-cs"/>
                  </a:rPr>
                  <a:t>Performance track &amp; benchmark  </a:t>
                </a:r>
              </a:p>
            </p:txBody>
          </p:sp>
        </p:grpSp>
        <p:grpSp>
          <p:nvGrpSpPr>
            <p:cNvPr id="58" name="Group 57">
              <a:extLst>
                <a:ext uri="{FF2B5EF4-FFF2-40B4-BE49-F238E27FC236}">
                  <a16:creationId xmlns:a16="http://schemas.microsoft.com/office/drawing/2014/main" id="{B175CC3B-6A51-48B5-8F2F-424AE8E24590}"/>
                </a:ext>
              </a:extLst>
            </p:cNvPr>
            <p:cNvGrpSpPr/>
            <p:nvPr/>
          </p:nvGrpSpPr>
          <p:grpSpPr>
            <a:xfrm>
              <a:off x="8699869" y="2876039"/>
              <a:ext cx="2173046" cy="818601"/>
              <a:chOff x="9948428" y="2551366"/>
              <a:chExt cx="2173046" cy="818601"/>
            </a:xfrm>
          </p:grpSpPr>
          <p:pic>
            <p:nvPicPr>
              <p:cNvPr id="59" name="Graphic 58" descr="Shield Tick with solid fill">
                <a:extLst>
                  <a:ext uri="{FF2B5EF4-FFF2-40B4-BE49-F238E27FC236}">
                    <a16:creationId xmlns:a16="http://schemas.microsoft.com/office/drawing/2014/main" id="{B842969E-B44D-4930-AAD9-DD2622349EE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751426" y="2551366"/>
                <a:ext cx="567051" cy="567051"/>
              </a:xfrm>
              <a:prstGeom prst="rect">
                <a:avLst/>
              </a:prstGeom>
            </p:spPr>
          </p:pic>
          <p:sp>
            <p:nvSpPr>
              <p:cNvPr id="60" name="TextBox 59">
                <a:extLst>
                  <a:ext uri="{FF2B5EF4-FFF2-40B4-BE49-F238E27FC236}">
                    <a16:creationId xmlns:a16="http://schemas.microsoft.com/office/drawing/2014/main" id="{A5BAAA1D-2E63-4C5F-B598-FDF4F2CFA52B}"/>
                  </a:ext>
                </a:extLst>
              </p:cNvPr>
              <p:cNvSpPr txBox="1"/>
              <p:nvPr/>
            </p:nvSpPr>
            <p:spPr>
              <a:xfrm>
                <a:off x="9948428" y="3092968"/>
                <a:ext cx="2173046"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Segoe UI"/>
                    <a:ea typeface="+mn-ea"/>
                    <a:cs typeface="+mn-cs"/>
                  </a:rPr>
                  <a:t>Optimize your Azure usage </a:t>
                </a:r>
              </a:p>
            </p:txBody>
          </p:sp>
        </p:grpSp>
      </p:grpSp>
      <p:sp>
        <p:nvSpPr>
          <p:cNvPr id="7" name="Title 6">
            <a:extLst>
              <a:ext uri="{FF2B5EF4-FFF2-40B4-BE49-F238E27FC236}">
                <a16:creationId xmlns:a16="http://schemas.microsoft.com/office/drawing/2014/main" id="{F7C31068-52C4-4F15-9280-E8F72BABABC9}"/>
              </a:ext>
            </a:extLst>
          </p:cNvPr>
          <p:cNvSpPr>
            <a:spLocks noGrp="1"/>
          </p:cNvSpPr>
          <p:nvPr>
            <p:ph type="title"/>
          </p:nvPr>
        </p:nvSpPr>
        <p:spPr>
          <a:xfrm>
            <a:off x="469274" y="231494"/>
            <a:ext cx="11018520" cy="553998"/>
          </a:xfrm>
        </p:spPr>
        <p:txBody>
          <a:bodyPr/>
          <a:lstStyle/>
          <a:p>
            <a:r>
              <a:rPr lang="en-US" sz="3600" b="0" kern="0" spc="-5" dirty="0">
                <a:solidFill>
                  <a:schemeClr val="bg1"/>
                </a:solidFill>
                <a:latin typeface="Segoe UI Semibold"/>
                <a:ea typeface="+mj-ea"/>
                <a:cs typeface="Segoe UI Semibold"/>
              </a:rPr>
              <a:t>Azure FinOps</a:t>
            </a:r>
            <a:endParaRPr lang="en-US" sz="3600" dirty="0">
              <a:solidFill>
                <a:schemeClr val="bg1"/>
              </a:solidFill>
            </a:endParaRPr>
          </a:p>
        </p:txBody>
      </p:sp>
    </p:spTree>
    <p:extLst>
      <p:ext uri="{BB962C8B-B14F-4D97-AF65-F5344CB8AC3E}">
        <p14:creationId xmlns:p14="http://schemas.microsoft.com/office/powerpoint/2010/main" val="218760863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932C9C5-3B9D-4D7D-9105-D7F20715817D}"/>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12192000" cy="1524000"/>
          </a:xfrm>
          <a:custGeom>
            <a:avLst/>
            <a:gdLst>
              <a:gd name="connsiteX0" fmla="*/ 0 w 12192000"/>
              <a:gd name="connsiteY0" fmla="*/ 0 h 1912937"/>
              <a:gd name="connsiteX1" fmla="*/ 12192000 w 12192000"/>
              <a:gd name="connsiteY1" fmla="*/ 0 h 1912937"/>
              <a:gd name="connsiteX2" fmla="*/ 12192000 w 12192000"/>
              <a:gd name="connsiteY2" fmla="*/ 1912937 h 1912937"/>
              <a:gd name="connsiteX3" fmla="*/ 0 w 12192000"/>
              <a:gd name="connsiteY3" fmla="*/ 1912937 h 1912937"/>
            </a:gdLst>
            <a:ahLst/>
            <a:cxnLst>
              <a:cxn ang="0">
                <a:pos x="connsiteX0" y="connsiteY0"/>
              </a:cxn>
              <a:cxn ang="0">
                <a:pos x="connsiteX1" y="connsiteY1"/>
              </a:cxn>
              <a:cxn ang="0">
                <a:pos x="connsiteX2" y="connsiteY2"/>
              </a:cxn>
              <a:cxn ang="0">
                <a:pos x="connsiteX3" y="connsiteY3"/>
              </a:cxn>
            </a:cxnLst>
            <a:rect l="l" t="t" r="r" b="b"/>
            <a:pathLst>
              <a:path w="12192000" h="1912937">
                <a:moveTo>
                  <a:pt x="0" y="0"/>
                </a:moveTo>
                <a:lnTo>
                  <a:pt x="12192000" y="0"/>
                </a:lnTo>
                <a:lnTo>
                  <a:pt x="12192000" y="1912937"/>
                </a:lnTo>
                <a:lnTo>
                  <a:pt x="0" y="1912937"/>
                </a:lnTo>
                <a:close/>
              </a:path>
            </a:pathLst>
          </a:custGeom>
          <a:noFill/>
          <a:extLst>
            <a:ext uri="{909E8E84-426E-40DD-AFC4-6F175D3DCCD1}">
              <a14:hiddenFill xmlns:a14="http://schemas.microsoft.com/office/drawing/2010/main">
                <a:solidFill>
                  <a:srgbClr val="FFFFFF"/>
                </a:solidFill>
              </a14:hiddenFill>
            </a:ext>
          </a:extLst>
        </p:spPr>
      </p:pic>
      <p:pic>
        <p:nvPicPr>
          <p:cNvPr id="83" name="Picture 82">
            <a:extLst>
              <a:ext uri="{FF2B5EF4-FFF2-40B4-BE49-F238E27FC236}">
                <a16:creationId xmlns:a16="http://schemas.microsoft.com/office/drawing/2014/main" id="{4E6433EA-3F06-461C-BFDD-A075F23D840F}"/>
              </a:ext>
              <a:ext uri="{C183D7F6-B498-43B3-948B-1728B52AA6E4}">
                <adec:decorative xmlns:adec="http://schemas.microsoft.com/office/drawing/2017/decorative" val="1"/>
              </a:ext>
            </a:extLst>
          </p:cNvPr>
          <p:cNvPicPr>
            <a:picLocks noChangeAspect="1"/>
          </p:cNvPicPr>
          <p:nvPr/>
        </p:nvPicPr>
        <p:blipFill rotWithShape="1">
          <a:blip r:embed="rId4"/>
          <a:srcRect l="235" t="-1" r="714" b="641"/>
          <a:stretch/>
        </p:blipFill>
        <p:spPr>
          <a:xfrm>
            <a:off x="0" y="1181102"/>
            <a:ext cx="12191999" cy="5676898"/>
          </a:xfrm>
          <a:custGeom>
            <a:avLst/>
            <a:gdLst>
              <a:gd name="connsiteX0" fmla="*/ 6096000 w 12191999"/>
              <a:gd name="connsiteY0" fmla="*/ 3109610 h 5676898"/>
              <a:gd name="connsiteX1" fmla="*/ 3676993 w 12191999"/>
              <a:gd name="connsiteY1" fmla="*/ 5563341 h 5676898"/>
              <a:gd name="connsiteX2" fmla="*/ 3679731 w 12191999"/>
              <a:gd name="connsiteY2" fmla="*/ 5673166 h 5676898"/>
              <a:gd name="connsiteX3" fmla="*/ 8512270 w 12191999"/>
              <a:gd name="connsiteY3" fmla="*/ 5673166 h 5676898"/>
              <a:gd name="connsiteX4" fmla="*/ 8515007 w 12191999"/>
              <a:gd name="connsiteY4" fmla="*/ 5563341 h 5676898"/>
              <a:gd name="connsiteX5" fmla="*/ 6096000 w 12191999"/>
              <a:gd name="connsiteY5" fmla="*/ 3109610 h 5676898"/>
              <a:gd name="connsiteX6" fmla="*/ 0 w 12191999"/>
              <a:gd name="connsiteY6" fmla="*/ 0 h 5676898"/>
              <a:gd name="connsiteX7" fmla="*/ 12191999 w 12191999"/>
              <a:gd name="connsiteY7" fmla="*/ 0 h 5676898"/>
              <a:gd name="connsiteX8" fmla="*/ 12191999 w 12191999"/>
              <a:gd name="connsiteY8" fmla="*/ 5676898 h 5676898"/>
              <a:gd name="connsiteX9" fmla="*/ 0 w 12191999"/>
              <a:gd name="connsiteY9" fmla="*/ 5676898 h 567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1999" h="5676898">
                <a:moveTo>
                  <a:pt x="6096000" y="3109610"/>
                </a:moveTo>
                <a:cubicBezTo>
                  <a:pt x="4760019" y="3109610"/>
                  <a:pt x="3676993" y="4208183"/>
                  <a:pt x="3676993" y="5563341"/>
                </a:cubicBezTo>
                <a:lnTo>
                  <a:pt x="3679731" y="5673166"/>
                </a:lnTo>
                <a:lnTo>
                  <a:pt x="8512270" y="5673166"/>
                </a:lnTo>
                <a:lnTo>
                  <a:pt x="8515007" y="5563341"/>
                </a:lnTo>
                <a:cubicBezTo>
                  <a:pt x="8515007" y="4208183"/>
                  <a:pt x="7431981" y="3109610"/>
                  <a:pt x="6096000" y="3109610"/>
                </a:cubicBezTo>
                <a:close/>
                <a:moveTo>
                  <a:pt x="0" y="0"/>
                </a:moveTo>
                <a:lnTo>
                  <a:pt x="12191999" y="0"/>
                </a:lnTo>
                <a:lnTo>
                  <a:pt x="12191999" y="5676898"/>
                </a:lnTo>
                <a:lnTo>
                  <a:pt x="0" y="5676898"/>
                </a:lnTo>
                <a:close/>
              </a:path>
            </a:pathLst>
          </a:custGeom>
        </p:spPr>
      </p:pic>
      <p:sp>
        <p:nvSpPr>
          <p:cNvPr id="84" name="cloud_2" title="Icon of a cloud made of two arrows pointing towards eachother">
            <a:extLst>
              <a:ext uri="{FF2B5EF4-FFF2-40B4-BE49-F238E27FC236}">
                <a16:creationId xmlns:a16="http://schemas.microsoft.com/office/drawing/2014/main" id="{916E91FA-2DD1-4A0F-9098-78727980B170}"/>
              </a:ext>
            </a:extLst>
          </p:cNvPr>
          <p:cNvSpPr>
            <a:spLocks noChangeAspect="1" noEditPoints="1"/>
          </p:cNvSpPr>
          <p:nvPr/>
        </p:nvSpPr>
        <p:spPr bwMode="auto">
          <a:xfrm>
            <a:off x="4939435" y="5077654"/>
            <a:ext cx="2313130" cy="1334852"/>
          </a:xfrm>
          <a:custGeom>
            <a:avLst/>
            <a:gdLst>
              <a:gd name="T0" fmla="*/ 138 w 349"/>
              <a:gd name="T1" fmla="*/ 181 h 200"/>
              <a:gd name="T2" fmla="*/ 49 w 349"/>
              <a:gd name="T3" fmla="*/ 181 h 200"/>
              <a:gd name="T4" fmla="*/ 0 w 349"/>
              <a:gd name="T5" fmla="*/ 132 h 200"/>
              <a:gd name="T6" fmla="*/ 49 w 349"/>
              <a:gd name="T7" fmla="*/ 84 h 200"/>
              <a:gd name="T8" fmla="*/ 59 w 349"/>
              <a:gd name="T9" fmla="*/ 85 h 200"/>
              <a:gd name="T10" fmla="*/ 148 w 349"/>
              <a:gd name="T11" fmla="*/ 0 h 200"/>
              <a:gd name="T12" fmla="*/ 234 w 349"/>
              <a:gd name="T13" fmla="*/ 68 h 200"/>
              <a:gd name="T14" fmla="*/ 282 w 349"/>
              <a:gd name="T15" fmla="*/ 47 h 200"/>
              <a:gd name="T16" fmla="*/ 349 w 349"/>
              <a:gd name="T17" fmla="*/ 114 h 200"/>
              <a:gd name="T18" fmla="*/ 282 w 349"/>
              <a:gd name="T19" fmla="*/ 180 h 200"/>
              <a:gd name="T20" fmla="*/ 282 w 349"/>
              <a:gd name="T21" fmla="*/ 180 h 200"/>
              <a:gd name="T22" fmla="*/ 206 w 349"/>
              <a:gd name="T23" fmla="*/ 180 h 200"/>
              <a:gd name="T24" fmla="*/ 119 w 349"/>
              <a:gd name="T25" fmla="*/ 200 h 200"/>
              <a:gd name="T26" fmla="*/ 138 w 349"/>
              <a:gd name="T27" fmla="*/ 181 h 200"/>
              <a:gd name="T28" fmla="*/ 119 w 349"/>
              <a:gd name="T29" fmla="*/ 161 h 200"/>
              <a:gd name="T30" fmla="*/ 225 w 349"/>
              <a:gd name="T31" fmla="*/ 161 h 200"/>
              <a:gd name="T32" fmla="*/ 206 w 349"/>
              <a:gd name="T33" fmla="*/ 180 h 200"/>
              <a:gd name="T34" fmla="*/ 225 w 349"/>
              <a:gd name="T35"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9" h="200">
                <a:moveTo>
                  <a:pt x="138" y="181"/>
                </a:moveTo>
                <a:cubicBezTo>
                  <a:pt x="49" y="181"/>
                  <a:pt x="49" y="181"/>
                  <a:pt x="49" y="181"/>
                </a:cubicBezTo>
                <a:cubicBezTo>
                  <a:pt x="22" y="181"/>
                  <a:pt x="0" y="159"/>
                  <a:pt x="0" y="132"/>
                </a:cubicBezTo>
                <a:cubicBezTo>
                  <a:pt x="0" y="105"/>
                  <a:pt x="22" y="84"/>
                  <a:pt x="49" y="84"/>
                </a:cubicBezTo>
                <a:cubicBezTo>
                  <a:pt x="52" y="84"/>
                  <a:pt x="56" y="84"/>
                  <a:pt x="59" y="85"/>
                </a:cubicBezTo>
                <a:cubicBezTo>
                  <a:pt x="61" y="38"/>
                  <a:pt x="100" y="0"/>
                  <a:pt x="148" y="0"/>
                </a:cubicBezTo>
                <a:cubicBezTo>
                  <a:pt x="189" y="0"/>
                  <a:pt x="224" y="29"/>
                  <a:pt x="234" y="68"/>
                </a:cubicBezTo>
                <a:cubicBezTo>
                  <a:pt x="246" y="55"/>
                  <a:pt x="263" y="47"/>
                  <a:pt x="282" y="47"/>
                </a:cubicBezTo>
                <a:cubicBezTo>
                  <a:pt x="319" y="47"/>
                  <a:pt x="349" y="77"/>
                  <a:pt x="349" y="114"/>
                </a:cubicBezTo>
                <a:cubicBezTo>
                  <a:pt x="349" y="151"/>
                  <a:pt x="319" y="180"/>
                  <a:pt x="282" y="180"/>
                </a:cubicBezTo>
                <a:cubicBezTo>
                  <a:pt x="282" y="180"/>
                  <a:pt x="282" y="180"/>
                  <a:pt x="282" y="180"/>
                </a:cubicBezTo>
                <a:cubicBezTo>
                  <a:pt x="206" y="180"/>
                  <a:pt x="206" y="180"/>
                  <a:pt x="206" y="180"/>
                </a:cubicBezTo>
                <a:moveTo>
                  <a:pt x="119" y="200"/>
                </a:moveTo>
                <a:cubicBezTo>
                  <a:pt x="138" y="181"/>
                  <a:pt x="138" y="181"/>
                  <a:pt x="138" y="181"/>
                </a:cubicBezTo>
                <a:cubicBezTo>
                  <a:pt x="119" y="161"/>
                  <a:pt x="119" y="161"/>
                  <a:pt x="119" y="161"/>
                </a:cubicBezTo>
                <a:moveTo>
                  <a:pt x="225" y="161"/>
                </a:moveTo>
                <a:cubicBezTo>
                  <a:pt x="206" y="180"/>
                  <a:pt x="206" y="180"/>
                  <a:pt x="206" y="180"/>
                </a:cubicBezTo>
                <a:cubicBezTo>
                  <a:pt x="225" y="200"/>
                  <a:pt x="225" y="200"/>
                  <a:pt x="225" y="200"/>
                </a:cubicBezTo>
              </a:path>
            </a:pathLst>
          </a:custGeom>
          <a:noFill/>
          <a:ln w="15875"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85" name="Freeform: Shape 84">
            <a:extLst>
              <a:ext uri="{FF2B5EF4-FFF2-40B4-BE49-F238E27FC236}">
                <a16:creationId xmlns:a16="http://schemas.microsoft.com/office/drawing/2014/main" id="{2C5D4D50-0E57-4CE0-97D0-42F0188AFE08}"/>
              </a:ext>
              <a:ext uri="{C183D7F6-B498-43B3-948B-1728B52AA6E4}">
                <adec:decorative xmlns:adec="http://schemas.microsoft.com/office/drawing/2017/decorative" val="1"/>
              </a:ext>
            </a:extLst>
          </p:cNvPr>
          <p:cNvSpPr/>
          <p:nvPr/>
        </p:nvSpPr>
        <p:spPr bwMode="auto">
          <a:xfrm>
            <a:off x="2069047" y="2855922"/>
            <a:ext cx="8010750" cy="4005072"/>
          </a:xfrm>
          <a:custGeom>
            <a:avLst/>
            <a:gdLst>
              <a:gd name="connsiteX0" fmla="*/ 4026953 w 8010750"/>
              <a:gd name="connsiteY0" fmla="*/ 1434790 h 4005072"/>
              <a:gd name="connsiteX1" fmla="*/ 1607946 w 8010750"/>
              <a:gd name="connsiteY1" fmla="*/ 3888521 h 4005072"/>
              <a:gd name="connsiteX2" fmla="*/ 1610684 w 8010750"/>
              <a:gd name="connsiteY2" fmla="*/ 3998346 h 4005072"/>
              <a:gd name="connsiteX3" fmla="*/ 6443223 w 8010750"/>
              <a:gd name="connsiteY3" fmla="*/ 3998346 h 4005072"/>
              <a:gd name="connsiteX4" fmla="*/ 6445960 w 8010750"/>
              <a:gd name="connsiteY4" fmla="*/ 3888521 h 4005072"/>
              <a:gd name="connsiteX5" fmla="*/ 4026953 w 8010750"/>
              <a:gd name="connsiteY5" fmla="*/ 1434790 h 4005072"/>
              <a:gd name="connsiteX6" fmla="*/ 4005375 w 8010750"/>
              <a:gd name="connsiteY6" fmla="*/ 0 h 4005072"/>
              <a:gd name="connsiteX7" fmla="*/ 8010750 w 8010750"/>
              <a:gd name="connsiteY7" fmla="*/ 4005072 h 4005072"/>
              <a:gd name="connsiteX8" fmla="*/ 2002536 w 8010750"/>
              <a:gd name="connsiteY8" fmla="*/ 4005072 h 4005072"/>
              <a:gd name="connsiteX9" fmla="*/ 0 w 8010750"/>
              <a:gd name="connsiteY9" fmla="*/ 4005072 h 4005072"/>
              <a:gd name="connsiteX10" fmla="*/ 4005375 w 8010750"/>
              <a:gd name="connsiteY10" fmla="*/ 0 h 4005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10750" h="4005072">
                <a:moveTo>
                  <a:pt x="4026953" y="1434790"/>
                </a:moveTo>
                <a:cubicBezTo>
                  <a:pt x="2690972" y="1434790"/>
                  <a:pt x="1607946" y="2533363"/>
                  <a:pt x="1607946" y="3888521"/>
                </a:cubicBezTo>
                <a:lnTo>
                  <a:pt x="1610684" y="3998346"/>
                </a:lnTo>
                <a:lnTo>
                  <a:pt x="6443223" y="3998346"/>
                </a:lnTo>
                <a:lnTo>
                  <a:pt x="6445960" y="3888521"/>
                </a:lnTo>
                <a:cubicBezTo>
                  <a:pt x="6445960" y="2533363"/>
                  <a:pt x="5362934" y="1434790"/>
                  <a:pt x="4026953" y="1434790"/>
                </a:cubicBezTo>
                <a:close/>
                <a:moveTo>
                  <a:pt x="4005375" y="0"/>
                </a:moveTo>
                <a:cubicBezTo>
                  <a:pt x="6217483" y="0"/>
                  <a:pt x="8010750" y="1793132"/>
                  <a:pt x="8010750" y="4005072"/>
                </a:cubicBezTo>
                <a:lnTo>
                  <a:pt x="2002536" y="4005072"/>
                </a:lnTo>
                <a:lnTo>
                  <a:pt x="0" y="4005072"/>
                </a:lnTo>
                <a:cubicBezTo>
                  <a:pt x="0" y="1793132"/>
                  <a:pt x="1793267" y="0"/>
                  <a:pt x="4005375" y="0"/>
                </a:cubicBezTo>
                <a:close/>
              </a:path>
            </a:pathLst>
          </a:custGeom>
          <a:solidFill>
            <a:schemeClr val="bg1">
              <a:lumMod val="95000"/>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86" name="Picture 85" descr="Icon of a document">
            <a:extLst>
              <a:ext uri="{FF2B5EF4-FFF2-40B4-BE49-F238E27FC236}">
                <a16:creationId xmlns:a16="http://schemas.microsoft.com/office/drawing/2014/main" id="{2138B0E4-E509-4FA4-BCA7-45C2A24B9E96}"/>
              </a:ext>
            </a:extLst>
          </p:cNvPr>
          <p:cNvPicPr>
            <a:picLocks noChangeAspect="1"/>
          </p:cNvPicPr>
          <p:nvPr/>
        </p:nvPicPr>
        <p:blipFill>
          <a:blip r:embed="rId5"/>
          <a:stretch>
            <a:fillRect/>
          </a:stretch>
        </p:blipFill>
        <p:spPr>
          <a:xfrm>
            <a:off x="2550627" y="5927928"/>
            <a:ext cx="646232" cy="664522"/>
          </a:xfrm>
          <a:prstGeom prst="rect">
            <a:avLst/>
          </a:prstGeom>
        </p:spPr>
      </p:pic>
      <p:sp>
        <p:nvSpPr>
          <p:cNvPr id="87" name="Rectangle 86">
            <a:extLst>
              <a:ext uri="{FF2B5EF4-FFF2-40B4-BE49-F238E27FC236}">
                <a16:creationId xmlns:a16="http://schemas.microsoft.com/office/drawing/2014/main" id="{94188617-3BAB-4BF1-B5B4-7128D29597C0}"/>
              </a:ext>
            </a:extLst>
          </p:cNvPr>
          <p:cNvSpPr/>
          <p:nvPr/>
        </p:nvSpPr>
        <p:spPr>
          <a:xfrm>
            <a:off x="64901" y="5745080"/>
            <a:ext cx="2004147" cy="840230"/>
          </a:xfrm>
          <a:prstGeom prst="rect">
            <a:avLst/>
          </a:prstGeom>
        </p:spPr>
        <p:txBody>
          <a:bodyPr wrap="square" lIns="182854">
            <a:spAutoFit/>
          </a:bodyPr>
          <a:lstStyle/>
          <a:p>
            <a:pPr marL="0" marR="0" lvl="0" indent="0" algn="ctr" defTabSz="914192" rtl="0" eaLnBrk="1" fontAlgn="auto" latinLnBrk="0" hangingPunct="1">
              <a:lnSpc>
                <a:spcPct val="90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Calibri" panose="020F0502020204030204" pitchFamily="34" charset="0"/>
                <a:cs typeface="+mn-cs"/>
              </a:rPr>
              <a:t>Provides cost visbility for cloud control</a:t>
            </a:r>
          </a:p>
        </p:txBody>
      </p:sp>
      <p:pic>
        <p:nvPicPr>
          <p:cNvPr id="88" name="Picture 87" descr="Icon of a computer screen with a checkmark">
            <a:extLst>
              <a:ext uri="{FF2B5EF4-FFF2-40B4-BE49-F238E27FC236}">
                <a16:creationId xmlns:a16="http://schemas.microsoft.com/office/drawing/2014/main" id="{82234EE6-1723-457B-B1D5-95370A134A2A}"/>
              </a:ext>
            </a:extLst>
          </p:cNvPr>
          <p:cNvPicPr>
            <a:picLocks noChangeAspect="1"/>
          </p:cNvPicPr>
          <p:nvPr/>
        </p:nvPicPr>
        <p:blipFill>
          <a:blip r:embed="rId6"/>
          <a:stretch>
            <a:fillRect/>
          </a:stretch>
        </p:blipFill>
        <p:spPr>
          <a:xfrm>
            <a:off x="3102982" y="4645125"/>
            <a:ext cx="615749" cy="615749"/>
          </a:xfrm>
          <a:prstGeom prst="rect">
            <a:avLst/>
          </a:prstGeom>
        </p:spPr>
      </p:pic>
      <p:sp>
        <p:nvSpPr>
          <p:cNvPr id="89" name="Rectangle 88">
            <a:extLst>
              <a:ext uri="{FF2B5EF4-FFF2-40B4-BE49-F238E27FC236}">
                <a16:creationId xmlns:a16="http://schemas.microsoft.com/office/drawing/2014/main" id="{94CE6BBD-76D1-407E-9010-C68799242E54}"/>
              </a:ext>
            </a:extLst>
          </p:cNvPr>
          <p:cNvSpPr/>
          <p:nvPr/>
        </p:nvSpPr>
        <p:spPr>
          <a:xfrm>
            <a:off x="793199" y="3296402"/>
            <a:ext cx="1857583" cy="1338828"/>
          </a:xfrm>
          <a:prstGeom prst="rect">
            <a:avLst/>
          </a:prstGeom>
        </p:spPr>
        <p:txBody>
          <a:bodyPr wrap="square" lIns="182854">
            <a:spAutoFit/>
          </a:bodyPr>
          <a:lstStyle/>
          <a:p>
            <a:pPr marL="0" marR="0" lvl="0" indent="0" algn="ctr" defTabSz="914192" rtl="0" eaLnBrk="1" fontAlgn="auto" latinLnBrk="0" hangingPunct="1">
              <a:lnSpc>
                <a:spcPct val="90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Calibri" panose="020F0502020204030204" pitchFamily="34" charset="0"/>
                <a:cs typeface="+mn-cs"/>
              </a:rPr>
              <a:t>Enables policy and data-driven decision making for cost take out</a:t>
            </a: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pic>
        <p:nvPicPr>
          <p:cNvPr id="90" name="Picture 89" descr="Icon of four arrows moving to different directions">
            <a:extLst>
              <a:ext uri="{FF2B5EF4-FFF2-40B4-BE49-F238E27FC236}">
                <a16:creationId xmlns:a16="http://schemas.microsoft.com/office/drawing/2014/main" id="{03053D09-FB52-491A-960E-FA4CD2BE8950}"/>
              </a:ext>
            </a:extLst>
          </p:cNvPr>
          <p:cNvPicPr>
            <a:picLocks noChangeAspect="1"/>
          </p:cNvPicPr>
          <p:nvPr/>
        </p:nvPicPr>
        <p:blipFill>
          <a:blip r:embed="rId7"/>
          <a:stretch>
            <a:fillRect/>
          </a:stretch>
        </p:blipFill>
        <p:spPr>
          <a:xfrm>
            <a:off x="4020721" y="3731503"/>
            <a:ext cx="676715" cy="676715"/>
          </a:xfrm>
          <a:prstGeom prst="rect">
            <a:avLst/>
          </a:prstGeom>
        </p:spPr>
      </p:pic>
      <p:sp>
        <p:nvSpPr>
          <p:cNvPr id="91" name="Rectangle 90">
            <a:extLst>
              <a:ext uri="{FF2B5EF4-FFF2-40B4-BE49-F238E27FC236}">
                <a16:creationId xmlns:a16="http://schemas.microsoft.com/office/drawing/2014/main" id="{4006C232-1AEF-41DD-A260-4A78952236B4}"/>
              </a:ext>
            </a:extLst>
          </p:cNvPr>
          <p:cNvSpPr/>
          <p:nvPr/>
        </p:nvSpPr>
        <p:spPr>
          <a:xfrm>
            <a:off x="2291902" y="2286268"/>
            <a:ext cx="2009507" cy="840230"/>
          </a:xfrm>
          <a:prstGeom prst="rect">
            <a:avLst/>
          </a:prstGeom>
        </p:spPr>
        <p:txBody>
          <a:bodyPr wrap="square" lIns="182854">
            <a:spAutoFit/>
          </a:bodyPr>
          <a:lstStyle/>
          <a:p>
            <a:pPr marL="0" marR="0" lvl="0" indent="0" algn="ctr" defTabSz="914192" rtl="0" eaLnBrk="1" fontAlgn="auto" latinLnBrk="0" hangingPunct="1">
              <a:lnSpc>
                <a:spcPct val="90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Calibri" panose="020F0502020204030204" pitchFamily="34" charset="0"/>
                <a:cs typeface="+mn-cs"/>
              </a:rPr>
              <a:t>Simplifies cloud cost management</a:t>
            </a:r>
          </a:p>
        </p:txBody>
      </p:sp>
      <p:pic>
        <p:nvPicPr>
          <p:cNvPr id="92" name="Picture 91" descr="Icon of a cloud with an arrow downwards connecting to PC's and laptops">
            <a:extLst>
              <a:ext uri="{FF2B5EF4-FFF2-40B4-BE49-F238E27FC236}">
                <a16:creationId xmlns:a16="http://schemas.microsoft.com/office/drawing/2014/main" id="{12062480-95DF-4FAD-9DC2-1694B41A360F}"/>
              </a:ext>
            </a:extLst>
          </p:cNvPr>
          <p:cNvPicPr>
            <a:picLocks noChangeAspect="1"/>
          </p:cNvPicPr>
          <p:nvPr/>
        </p:nvPicPr>
        <p:blipFill>
          <a:blip r:embed="rId8"/>
          <a:stretch>
            <a:fillRect/>
          </a:stretch>
        </p:blipFill>
        <p:spPr>
          <a:xfrm>
            <a:off x="5275472" y="3285338"/>
            <a:ext cx="652329" cy="695004"/>
          </a:xfrm>
          <a:prstGeom prst="rect">
            <a:avLst/>
          </a:prstGeom>
        </p:spPr>
      </p:pic>
      <p:sp>
        <p:nvSpPr>
          <p:cNvPr id="93" name="Rectangle 92">
            <a:extLst>
              <a:ext uri="{FF2B5EF4-FFF2-40B4-BE49-F238E27FC236}">
                <a16:creationId xmlns:a16="http://schemas.microsoft.com/office/drawing/2014/main" id="{1735D4BD-8A58-4324-AC03-119F56418CEE}"/>
              </a:ext>
            </a:extLst>
          </p:cNvPr>
          <p:cNvSpPr/>
          <p:nvPr/>
        </p:nvSpPr>
        <p:spPr>
          <a:xfrm>
            <a:off x="4146557" y="1476140"/>
            <a:ext cx="2130030" cy="1338828"/>
          </a:xfrm>
          <a:prstGeom prst="rect">
            <a:avLst/>
          </a:prstGeom>
        </p:spPr>
        <p:txBody>
          <a:bodyPr wrap="square" lIns="182854">
            <a:spAutoFit/>
          </a:bodyPr>
          <a:lstStyle/>
          <a:p>
            <a:pPr marL="0" marR="0" lvl="0" indent="0" algn="ctr" defTabSz="914192" rtl="0" eaLnBrk="1" fontAlgn="auto" latinLnBrk="0" hangingPunct="1">
              <a:lnSpc>
                <a:spcPct val="90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Calibri" panose="020F0502020204030204" pitchFamily="34" charset="0"/>
                <a:cs typeface="+mn-cs"/>
              </a:rPr>
              <a:t>Identifies optimization opportunities and automate tasks</a:t>
            </a: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pic>
        <p:nvPicPr>
          <p:cNvPr id="94" name="Picture 93" descr="Icon of a shield with an exclamation mark">
            <a:extLst>
              <a:ext uri="{FF2B5EF4-FFF2-40B4-BE49-F238E27FC236}">
                <a16:creationId xmlns:a16="http://schemas.microsoft.com/office/drawing/2014/main" id="{5FAEB9EA-4D30-4273-941A-CC08B25F7187}"/>
              </a:ext>
            </a:extLst>
          </p:cNvPr>
          <p:cNvPicPr>
            <a:picLocks noChangeAspect="1"/>
          </p:cNvPicPr>
          <p:nvPr/>
        </p:nvPicPr>
        <p:blipFill>
          <a:blip r:embed="rId9"/>
          <a:stretch>
            <a:fillRect/>
          </a:stretch>
        </p:blipFill>
        <p:spPr>
          <a:xfrm>
            <a:off x="6339668" y="3266268"/>
            <a:ext cx="615749" cy="615749"/>
          </a:xfrm>
          <a:prstGeom prst="rect">
            <a:avLst/>
          </a:prstGeom>
        </p:spPr>
      </p:pic>
      <p:sp>
        <p:nvSpPr>
          <p:cNvPr id="95" name="Rectangle 94">
            <a:extLst>
              <a:ext uri="{FF2B5EF4-FFF2-40B4-BE49-F238E27FC236}">
                <a16:creationId xmlns:a16="http://schemas.microsoft.com/office/drawing/2014/main" id="{C820D12D-4529-4608-86E2-6C50D9C7D61C}"/>
              </a:ext>
            </a:extLst>
          </p:cNvPr>
          <p:cNvSpPr/>
          <p:nvPr/>
        </p:nvSpPr>
        <p:spPr>
          <a:xfrm>
            <a:off x="6074422" y="1293642"/>
            <a:ext cx="1845726" cy="1477328"/>
          </a:xfrm>
          <a:prstGeom prst="rect">
            <a:avLst/>
          </a:prstGeom>
        </p:spPr>
        <p:txBody>
          <a:bodyPr wrap="square" lIns="182854">
            <a:spAutoFit/>
          </a:bodyPr>
          <a:lstStyle/>
          <a:p>
            <a:pPr marL="0" marR="0" lvl="0" indent="0" algn="ctr" defTabSz="91419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Establishes best</a:t>
            </a:r>
            <a:r>
              <a:rPr kumimoji="0" lang="en-US" sz="1800" b="0" i="0" u="none" strike="noStrike" kern="1200" cap="none" spc="0" normalizeH="0" noProof="0" dirty="0">
                <a:ln>
                  <a:noFill/>
                </a:ln>
                <a:solidFill>
                  <a:srgbClr val="000000"/>
                </a:solidFill>
                <a:effectLst/>
                <a:uLnTx/>
                <a:uFillTx/>
                <a:latin typeface="Segoe UI Semibold"/>
                <a:ea typeface="+mn-ea"/>
                <a:cs typeface="+mn-cs"/>
              </a:rPr>
              <a:t> practices on cloud financial governance</a:t>
            </a: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pic>
        <p:nvPicPr>
          <p:cNvPr id="96" name="Picture 95" descr="Icon of a checklist">
            <a:extLst>
              <a:ext uri="{FF2B5EF4-FFF2-40B4-BE49-F238E27FC236}">
                <a16:creationId xmlns:a16="http://schemas.microsoft.com/office/drawing/2014/main" id="{860CF880-B575-4829-9DD1-1309E11480DE}"/>
              </a:ext>
            </a:extLst>
          </p:cNvPr>
          <p:cNvPicPr>
            <a:picLocks noChangeAspect="1"/>
          </p:cNvPicPr>
          <p:nvPr/>
        </p:nvPicPr>
        <p:blipFill>
          <a:blip r:embed="rId10"/>
          <a:stretch>
            <a:fillRect/>
          </a:stretch>
        </p:blipFill>
        <p:spPr>
          <a:xfrm>
            <a:off x="7545948" y="3703291"/>
            <a:ext cx="670618" cy="670618"/>
          </a:xfrm>
          <a:prstGeom prst="rect">
            <a:avLst/>
          </a:prstGeom>
        </p:spPr>
      </p:pic>
      <p:sp>
        <p:nvSpPr>
          <p:cNvPr id="97" name="Rectangle 96">
            <a:extLst>
              <a:ext uri="{FF2B5EF4-FFF2-40B4-BE49-F238E27FC236}">
                <a16:creationId xmlns:a16="http://schemas.microsoft.com/office/drawing/2014/main" id="{F5F068C3-E84F-4C19-AD16-D2A113CA0050}"/>
              </a:ext>
            </a:extLst>
          </p:cNvPr>
          <p:cNvSpPr/>
          <p:nvPr/>
        </p:nvSpPr>
        <p:spPr>
          <a:xfrm>
            <a:off x="7838889" y="2054234"/>
            <a:ext cx="2302208" cy="923330"/>
          </a:xfrm>
          <a:prstGeom prst="rect">
            <a:avLst/>
          </a:prstGeom>
        </p:spPr>
        <p:txBody>
          <a:bodyPr wrap="square" lIns="182854">
            <a:spAutoFit/>
          </a:bodyPr>
          <a:lstStyle/>
          <a:p>
            <a:pPr marL="0" marR="0" lvl="0" indent="0" algn="ctr" defTabSz="91419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Drives accountability</a:t>
            </a:r>
            <a:r>
              <a:rPr kumimoji="0" lang="en-US" sz="1800" b="0" i="0" u="none" strike="noStrike" kern="1200" cap="none" spc="0" normalizeH="0" noProof="0" dirty="0">
                <a:ln>
                  <a:noFill/>
                </a:ln>
                <a:solidFill>
                  <a:srgbClr val="000000"/>
                </a:solidFill>
                <a:effectLst/>
                <a:uLnTx/>
                <a:uFillTx/>
                <a:latin typeface="Segoe UI Semibold"/>
                <a:ea typeface="+mn-ea"/>
                <a:cs typeface="+mn-cs"/>
              </a:rPr>
              <a:t> for cloud spend</a:t>
            </a: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pic>
        <p:nvPicPr>
          <p:cNvPr id="98" name="Picture 97" descr="Icon of an accelarator">
            <a:extLst>
              <a:ext uri="{FF2B5EF4-FFF2-40B4-BE49-F238E27FC236}">
                <a16:creationId xmlns:a16="http://schemas.microsoft.com/office/drawing/2014/main" id="{2711DB1E-5ABD-4344-AA7B-568CD5492A6E}"/>
              </a:ext>
            </a:extLst>
          </p:cNvPr>
          <p:cNvPicPr>
            <a:picLocks noChangeAspect="1"/>
          </p:cNvPicPr>
          <p:nvPr/>
        </p:nvPicPr>
        <p:blipFill>
          <a:blip r:embed="rId11"/>
          <a:stretch>
            <a:fillRect/>
          </a:stretch>
        </p:blipFill>
        <p:spPr>
          <a:xfrm>
            <a:off x="8309248" y="4652815"/>
            <a:ext cx="798645" cy="658425"/>
          </a:xfrm>
          <a:prstGeom prst="rect">
            <a:avLst/>
          </a:prstGeom>
        </p:spPr>
      </p:pic>
      <p:sp>
        <p:nvSpPr>
          <p:cNvPr id="99" name="Rectangle 98">
            <a:extLst>
              <a:ext uri="{FF2B5EF4-FFF2-40B4-BE49-F238E27FC236}">
                <a16:creationId xmlns:a16="http://schemas.microsoft.com/office/drawing/2014/main" id="{115E0B9F-9E12-42DC-878F-D6ECDD1A2257}"/>
              </a:ext>
            </a:extLst>
          </p:cNvPr>
          <p:cNvSpPr/>
          <p:nvPr/>
        </p:nvSpPr>
        <p:spPr>
          <a:xfrm>
            <a:off x="9239232" y="3502809"/>
            <a:ext cx="2500991" cy="923330"/>
          </a:xfrm>
          <a:prstGeom prst="rect">
            <a:avLst/>
          </a:prstGeom>
        </p:spPr>
        <p:txBody>
          <a:bodyPr wrap="square" lIns="182854">
            <a:spAutoFit/>
          </a:bodyPr>
          <a:lstStyle/>
          <a:p>
            <a:pPr marL="0" marR="0" lvl="0" indent="0" algn="ctr" defTabSz="914192"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Forward thinking Application innovation</a:t>
            </a:r>
          </a:p>
        </p:txBody>
      </p:sp>
      <p:pic>
        <p:nvPicPr>
          <p:cNvPr id="100" name="Picture 99" descr="Icon of a person with headphone">
            <a:extLst>
              <a:ext uri="{FF2B5EF4-FFF2-40B4-BE49-F238E27FC236}">
                <a16:creationId xmlns:a16="http://schemas.microsoft.com/office/drawing/2014/main" id="{CAC12693-8484-48C2-B0B4-ABB42DF318CC}"/>
              </a:ext>
            </a:extLst>
          </p:cNvPr>
          <p:cNvPicPr>
            <a:picLocks noChangeAspect="1"/>
          </p:cNvPicPr>
          <p:nvPr/>
        </p:nvPicPr>
        <p:blipFill>
          <a:blip r:embed="rId12"/>
          <a:stretch>
            <a:fillRect/>
          </a:stretch>
        </p:blipFill>
        <p:spPr>
          <a:xfrm>
            <a:off x="9039185" y="5962737"/>
            <a:ext cx="499915" cy="506012"/>
          </a:xfrm>
          <a:prstGeom prst="rect">
            <a:avLst/>
          </a:prstGeom>
        </p:spPr>
      </p:pic>
      <p:sp>
        <p:nvSpPr>
          <p:cNvPr id="101" name="Rectangle 100">
            <a:extLst>
              <a:ext uri="{FF2B5EF4-FFF2-40B4-BE49-F238E27FC236}">
                <a16:creationId xmlns:a16="http://schemas.microsoft.com/office/drawing/2014/main" id="{CD6BB42B-8633-44A8-A30D-A39742FA6D24}"/>
              </a:ext>
            </a:extLst>
          </p:cNvPr>
          <p:cNvSpPr/>
          <p:nvPr/>
        </p:nvSpPr>
        <p:spPr>
          <a:xfrm>
            <a:off x="10020722" y="5420370"/>
            <a:ext cx="2128122" cy="1200329"/>
          </a:xfrm>
          <a:prstGeom prst="rect">
            <a:avLst/>
          </a:prstGeom>
        </p:spPr>
        <p:txBody>
          <a:bodyPr wrap="square" lIns="182854">
            <a:spAutoFit/>
          </a:bodyPr>
          <a:lstStyle/>
          <a:p>
            <a:pPr marL="0" marR="0" lvl="0" indent="0" algn="ctr" defTabSz="914192"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MSFT support and partnership throughout engagement</a:t>
            </a: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TextBox 2">
            <a:extLst>
              <a:ext uri="{FF2B5EF4-FFF2-40B4-BE49-F238E27FC236}">
                <a16:creationId xmlns:a16="http://schemas.microsoft.com/office/drawing/2014/main" id="{B8733EC0-9010-40CD-B689-550EA8236FEF}"/>
              </a:ext>
            </a:extLst>
          </p:cNvPr>
          <p:cNvSpPr txBox="1"/>
          <p:nvPr/>
        </p:nvSpPr>
        <p:spPr>
          <a:xfrm>
            <a:off x="5531863" y="5582818"/>
            <a:ext cx="1180681" cy="615553"/>
          </a:xfrm>
          <a:prstGeom prst="rect">
            <a:avLst/>
          </a:prstGeom>
          <a:noFill/>
        </p:spPr>
        <p:txBody>
          <a:bodyPr wrap="square" lIns="0" tIns="0" rIns="0" bIns="0" rtlCol="0" anchor="ctr">
            <a:spAutoFit/>
          </a:bodyPr>
          <a:lstStyle/>
          <a:p>
            <a:pPr algn="ctr"/>
            <a:r>
              <a:rPr lang="en-US" sz="2000" b="1" dirty="0"/>
              <a:t>Customer Logo</a:t>
            </a:r>
          </a:p>
        </p:txBody>
      </p:sp>
      <p:sp>
        <p:nvSpPr>
          <p:cNvPr id="7" name="Rectangle 6">
            <a:extLst>
              <a:ext uri="{FF2B5EF4-FFF2-40B4-BE49-F238E27FC236}">
                <a16:creationId xmlns:a16="http://schemas.microsoft.com/office/drawing/2014/main" id="{FE9394DE-FCE1-4B2E-8716-BC83C0DB633F}"/>
              </a:ext>
            </a:extLst>
          </p:cNvPr>
          <p:cNvSpPr/>
          <p:nvPr/>
        </p:nvSpPr>
        <p:spPr bwMode="auto">
          <a:xfrm>
            <a:off x="-21578" y="-9917"/>
            <a:ext cx="12192000" cy="1220507"/>
          </a:xfrm>
          <a:prstGeom prst="rect">
            <a:avLst/>
          </a:prstGeom>
          <a:solidFill>
            <a:schemeClr val="tx1">
              <a:alpha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Title 4">
            <a:extLst>
              <a:ext uri="{FF2B5EF4-FFF2-40B4-BE49-F238E27FC236}">
                <a16:creationId xmlns:a16="http://schemas.microsoft.com/office/drawing/2014/main" id="{0AE5CDF0-7CC6-415B-8B78-0827D1467E9E}"/>
              </a:ext>
            </a:extLst>
          </p:cNvPr>
          <p:cNvSpPr>
            <a:spLocks noGrp="1"/>
          </p:cNvSpPr>
          <p:nvPr>
            <p:ph type="title"/>
          </p:nvPr>
        </p:nvSpPr>
        <p:spPr>
          <a:xfrm>
            <a:off x="253724" y="350393"/>
            <a:ext cx="11018520" cy="553998"/>
          </a:xfrm>
        </p:spPr>
        <p:txBody>
          <a:bodyPr/>
          <a:lstStyle/>
          <a:p>
            <a:r>
              <a:rPr lang="en-US" dirty="0">
                <a:solidFill>
                  <a:schemeClr val="bg1"/>
                </a:solidFill>
              </a:rPr>
              <a:t>Azure FinOps</a:t>
            </a:r>
          </a:p>
        </p:txBody>
      </p:sp>
      <p:pic>
        <p:nvPicPr>
          <p:cNvPr id="8" name="Picture 2" descr="Microsoft Azure - Apps on Google Play">
            <a:extLst>
              <a:ext uri="{FF2B5EF4-FFF2-40B4-BE49-F238E27FC236}">
                <a16:creationId xmlns:a16="http://schemas.microsoft.com/office/drawing/2014/main" id="{E5E3E4C5-FA61-45F1-8CBD-FC4D5EC4626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298195" y="83871"/>
            <a:ext cx="681829" cy="698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140541"/>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adec="http://schemas.microsoft.com/office/drawing/2017/decorative" xmlns:a14="http://schemas.microsoft.com/office/drawing/2010/main"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250"/>
                                        <p:tgtEl>
                                          <p:spTgt spid="86"/>
                                        </p:tgtEl>
                                      </p:cBhvr>
                                    </p:animEffect>
                                  </p:childTnLst>
                                </p:cTn>
                              </p:par>
                              <p:par>
                                <p:cTn id="8" presetID="64" presetClass="path" presetSubtype="0" decel="100000" fill="hold" nodeType="withEffect">
                                  <p:stCondLst>
                                    <p:cond delay="0"/>
                                  </p:stCondLst>
                                  <p:childTnLst>
                                    <p:animMotion origin="layout" path="M 0.17682 0.06667 L 3.33333E-6 1.48148E-6 " pathEditMode="relative" rAng="0" ptsTypes="AA">
                                      <p:cBhvr>
                                        <p:cTn id="9" dur="750" fill="hold"/>
                                        <p:tgtEl>
                                          <p:spTgt spid="86"/>
                                        </p:tgtEl>
                                        <p:attrNameLst>
                                          <p:attrName>ppt_x</p:attrName>
                                          <p:attrName>ppt_y</p:attrName>
                                        </p:attrNameLst>
                                      </p:cBhvr>
                                      <p:rCtr x="-8841" y="-3333"/>
                                    </p:animMotion>
                                  </p:childTnLst>
                                </p:cTn>
                              </p:par>
                              <p:par>
                                <p:cTn id="10" presetID="10" presetClass="entr" presetSubtype="0" fill="hold" grpId="0" nodeType="with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fade">
                                      <p:cBhvr>
                                        <p:cTn id="12" dur="250"/>
                                        <p:tgtEl>
                                          <p:spTgt spid="87"/>
                                        </p:tgtEl>
                                      </p:cBhvr>
                                    </p:animEffect>
                                  </p:childTnLst>
                                </p:cTn>
                              </p:par>
                              <p:par>
                                <p:cTn id="13" presetID="64" presetClass="path" presetSubtype="0" decel="100000" fill="hold" grpId="1" nodeType="withEffect">
                                  <p:stCondLst>
                                    <p:cond delay="0"/>
                                  </p:stCondLst>
                                  <p:childTnLst>
                                    <p:animMotion origin="layout" path="M 0.17682 0.06667 L 3.33333E-6 1.48148E-6 " pathEditMode="relative" rAng="0" ptsTypes="AA">
                                      <p:cBhvr>
                                        <p:cTn id="14" dur="750" fill="hold"/>
                                        <p:tgtEl>
                                          <p:spTgt spid="87"/>
                                        </p:tgtEl>
                                        <p:attrNameLst>
                                          <p:attrName>ppt_x</p:attrName>
                                          <p:attrName>ppt_y</p:attrName>
                                        </p:attrNameLst>
                                      </p:cBhvr>
                                      <p:rCtr x="-8841" y="-3333"/>
                                    </p:animMotion>
                                  </p:childTnLst>
                                </p:cTn>
                              </p:par>
                              <p:par>
                                <p:cTn id="15" presetID="10" presetClass="entr" presetSubtype="0" fill="hold" nodeType="withEffect">
                                  <p:stCondLst>
                                    <p:cond delay="0"/>
                                  </p:stCondLst>
                                  <p:childTnLst>
                                    <p:set>
                                      <p:cBhvr>
                                        <p:cTn id="16" dur="1" fill="hold">
                                          <p:stCondLst>
                                            <p:cond delay="0"/>
                                          </p:stCondLst>
                                        </p:cTn>
                                        <p:tgtEl>
                                          <p:spTgt spid="88"/>
                                        </p:tgtEl>
                                        <p:attrNameLst>
                                          <p:attrName>style.visibility</p:attrName>
                                        </p:attrNameLst>
                                      </p:cBhvr>
                                      <p:to>
                                        <p:strVal val="visible"/>
                                      </p:to>
                                    </p:set>
                                    <p:animEffect transition="in" filter="fade">
                                      <p:cBhvr>
                                        <p:cTn id="17" dur="250"/>
                                        <p:tgtEl>
                                          <p:spTgt spid="88"/>
                                        </p:tgtEl>
                                      </p:cBhvr>
                                    </p:animEffect>
                                  </p:childTnLst>
                                </p:cTn>
                              </p:par>
                              <p:par>
                                <p:cTn id="18" presetID="64" presetClass="path" presetSubtype="0" decel="100000" fill="hold" nodeType="withEffect">
                                  <p:stCondLst>
                                    <p:cond delay="0"/>
                                  </p:stCondLst>
                                  <p:childTnLst>
                                    <p:animMotion origin="layout" path="M 0.07864 0.09398 L 4.58333E-6 3.7037E-7 " pathEditMode="relative" rAng="0" ptsTypes="AA">
                                      <p:cBhvr>
                                        <p:cTn id="19" dur="750" fill="hold"/>
                                        <p:tgtEl>
                                          <p:spTgt spid="88"/>
                                        </p:tgtEl>
                                        <p:attrNameLst>
                                          <p:attrName>ppt_x</p:attrName>
                                          <p:attrName>ppt_y</p:attrName>
                                        </p:attrNameLst>
                                      </p:cBhvr>
                                      <p:rCtr x="-4271" y="-4630"/>
                                    </p:animMotion>
                                  </p:childTnLst>
                                </p:cTn>
                              </p:par>
                              <p:par>
                                <p:cTn id="20" presetID="10" presetClass="entr" presetSubtype="0" fill="hold" grpId="0" nodeType="withEffect">
                                  <p:stCondLst>
                                    <p:cond delay="0"/>
                                  </p:stCondLst>
                                  <p:childTnLst>
                                    <p:set>
                                      <p:cBhvr>
                                        <p:cTn id="21" dur="1" fill="hold">
                                          <p:stCondLst>
                                            <p:cond delay="0"/>
                                          </p:stCondLst>
                                        </p:cTn>
                                        <p:tgtEl>
                                          <p:spTgt spid="89"/>
                                        </p:tgtEl>
                                        <p:attrNameLst>
                                          <p:attrName>style.visibility</p:attrName>
                                        </p:attrNameLst>
                                      </p:cBhvr>
                                      <p:to>
                                        <p:strVal val="visible"/>
                                      </p:to>
                                    </p:set>
                                    <p:animEffect transition="in" filter="fade">
                                      <p:cBhvr>
                                        <p:cTn id="22" dur="250"/>
                                        <p:tgtEl>
                                          <p:spTgt spid="89"/>
                                        </p:tgtEl>
                                      </p:cBhvr>
                                    </p:animEffect>
                                  </p:childTnLst>
                                </p:cTn>
                              </p:par>
                              <p:par>
                                <p:cTn id="23" presetID="64" presetClass="path" presetSubtype="0" decel="100000" fill="hold" grpId="1" nodeType="withEffect">
                                  <p:stCondLst>
                                    <p:cond delay="0"/>
                                  </p:stCondLst>
                                  <p:childTnLst>
                                    <p:animMotion origin="layout" path="M 0.07864 0.09398 L 4.58333E-6 3.7037E-7 " pathEditMode="relative" rAng="0" ptsTypes="AA">
                                      <p:cBhvr>
                                        <p:cTn id="24" dur="750" fill="hold"/>
                                        <p:tgtEl>
                                          <p:spTgt spid="89"/>
                                        </p:tgtEl>
                                        <p:attrNameLst>
                                          <p:attrName>ppt_x</p:attrName>
                                          <p:attrName>ppt_y</p:attrName>
                                        </p:attrNameLst>
                                      </p:cBhvr>
                                      <p:rCtr x="-4271" y="-4630"/>
                                    </p:animMotion>
                                  </p:childTnLst>
                                </p:cTn>
                              </p:par>
                              <p:par>
                                <p:cTn id="25" presetID="10" presetClass="entr" presetSubtype="0" fill="hold" nodeType="with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fade">
                                      <p:cBhvr>
                                        <p:cTn id="27" dur="250"/>
                                        <p:tgtEl>
                                          <p:spTgt spid="90"/>
                                        </p:tgtEl>
                                      </p:cBhvr>
                                    </p:animEffect>
                                  </p:childTnLst>
                                </p:cTn>
                              </p:par>
                              <p:par>
                                <p:cTn id="28" presetID="64" presetClass="path" presetSubtype="0" decel="100000" fill="hold" nodeType="withEffect">
                                  <p:stCondLst>
                                    <p:cond delay="0"/>
                                  </p:stCondLst>
                                  <p:childTnLst>
                                    <p:animMotion origin="layout" path="M 0.10807 0.22986 L 3.125E-6 4.07407E-6 " pathEditMode="relative" rAng="0" ptsTypes="AA">
                                      <p:cBhvr>
                                        <p:cTn id="29" dur="750" fill="hold"/>
                                        <p:tgtEl>
                                          <p:spTgt spid="90"/>
                                        </p:tgtEl>
                                        <p:attrNameLst>
                                          <p:attrName>ppt_x</p:attrName>
                                          <p:attrName>ppt_y</p:attrName>
                                        </p:attrNameLst>
                                      </p:cBhvr>
                                      <p:rCtr x="-5404" y="-11505"/>
                                    </p:animMotion>
                                  </p:childTnLst>
                                </p:cTn>
                              </p:par>
                              <p:par>
                                <p:cTn id="30" presetID="10" presetClass="entr" presetSubtype="0" fill="hold" grpId="0" nodeType="withEffect">
                                  <p:stCondLst>
                                    <p:cond delay="0"/>
                                  </p:stCondLst>
                                  <p:childTnLst>
                                    <p:set>
                                      <p:cBhvr>
                                        <p:cTn id="31" dur="1" fill="hold">
                                          <p:stCondLst>
                                            <p:cond delay="0"/>
                                          </p:stCondLst>
                                        </p:cTn>
                                        <p:tgtEl>
                                          <p:spTgt spid="91"/>
                                        </p:tgtEl>
                                        <p:attrNameLst>
                                          <p:attrName>style.visibility</p:attrName>
                                        </p:attrNameLst>
                                      </p:cBhvr>
                                      <p:to>
                                        <p:strVal val="visible"/>
                                      </p:to>
                                    </p:set>
                                    <p:animEffect transition="in" filter="fade">
                                      <p:cBhvr>
                                        <p:cTn id="32" dur="250"/>
                                        <p:tgtEl>
                                          <p:spTgt spid="91"/>
                                        </p:tgtEl>
                                      </p:cBhvr>
                                    </p:animEffect>
                                  </p:childTnLst>
                                </p:cTn>
                              </p:par>
                              <p:par>
                                <p:cTn id="33" presetID="64" presetClass="path" presetSubtype="0" decel="100000" fill="hold" grpId="1" nodeType="withEffect">
                                  <p:stCondLst>
                                    <p:cond delay="0"/>
                                  </p:stCondLst>
                                  <p:childTnLst>
                                    <p:animMotion origin="layout" path="M 0.10807 0.22986 L 3.125E-6 4.07407E-6 " pathEditMode="relative" rAng="0" ptsTypes="AA">
                                      <p:cBhvr>
                                        <p:cTn id="34" dur="750" fill="hold"/>
                                        <p:tgtEl>
                                          <p:spTgt spid="91"/>
                                        </p:tgtEl>
                                        <p:attrNameLst>
                                          <p:attrName>ppt_x</p:attrName>
                                          <p:attrName>ppt_y</p:attrName>
                                        </p:attrNameLst>
                                      </p:cBhvr>
                                      <p:rCtr x="-5404" y="-11505"/>
                                    </p:animMotion>
                                  </p:childTnLst>
                                </p:cTn>
                              </p:par>
                              <p:par>
                                <p:cTn id="35" presetID="10" presetClass="entr" presetSubtype="0" fill="hold" nodeType="withEffect">
                                  <p:stCondLst>
                                    <p:cond delay="0"/>
                                  </p:stCondLst>
                                  <p:childTnLst>
                                    <p:set>
                                      <p:cBhvr>
                                        <p:cTn id="36" dur="1" fill="hold">
                                          <p:stCondLst>
                                            <p:cond delay="0"/>
                                          </p:stCondLst>
                                        </p:cTn>
                                        <p:tgtEl>
                                          <p:spTgt spid="92"/>
                                        </p:tgtEl>
                                        <p:attrNameLst>
                                          <p:attrName>style.visibility</p:attrName>
                                        </p:attrNameLst>
                                      </p:cBhvr>
                                      <p:to>
                                        <p:strVal val="visible"/>
                                      </p:to>
                                    </p:set>
                                    <p:animEffect transition="in" filter="fade">
                                      <p:cBhvr>
                                        <p:cTn id="37" dur="250"/>
                                        <p:tgtEl>
                                          <p:spTgt spid="92"/>
                                        </p:tgtEl>
                                      </p:cBhvr>
                                    </p:animEffect>
                                  </p:childTnLst>
                                </p:cTn>
                              </p:par>
                              <p:par>
                                <p:cTn id="38" presetID="64" presetClass="path" presetSubtype="0" decel="100000" fill="hold" nodeType="withEffect">
                                  <p:stCondLst>
                                    <p:cond delay="0"/>
                                  </p:stCondLst>
                                  <p:childTnLst>
                                    <p:animMotion origin="layout" path="M 0.02461 0.15439 L -1.45833E-6 -2.96296E-6 " pathEditMode="relative" rAng="0" ptsTypes="AA">
                                      <p:cBhvr>
                                        <p:cTn id="39" dur="750" fill="hold"/>
                                        <p:tgtEl>
                                          <p:spTgt spid="92"/>
                                        </p:tgtEl>
                                        <p:attrNameLst>
                                          <p:attrName>ppt_x</p:attrName>
                                          <p:attrName>ppt_y</p:attrName>
                                        </p:attrNameLst>
                                      </p:cBhvr>
                                      <p:rCtr x="-1276" y="-7662"/>
                                    </p:animMotion>
                                  </p:childTnLst>
                                </p:cTn>
                              </p:par>
                              <p:par>
                                <p:cTn id="40" presetID="10" presetClass="entr" presetSubtype="0" fill="hold" grpId="0" nodeType="withEffect">
                                  <p:stCondLst>
                                    <p:cond delay="0"/>
                                  </p:stCondLst>
                                  <p:childTnLst>
                                    <p:set>
                                      <p:cBhvr>
                                        <p:cTn id="41" dur="1" fill="hold">
                                          <p:stCondLst>
                                            <p:cond delay="0"/>
                                          </p:stCondLst>
                                        </p:cTn>
                                        <p:tgtEl>
                                          <p:spTgt spid="93"/>
                                        </p:tgtEl>
                                        <p:attrNameLst>
                                          <p:attrName>style.visibility</p:attrName>
                                        </p:attrNameLst>
                                      </p:cBhvr>
                                      <p:to>
                                        <p:strVal val="visible"/>
                                      </p:to>
                                    </p:set>
                                    <p:animEffect transition="in" filter="fade">
                                      <p:cBhvr>
                                        <p:cTn id="42" dur="250"/>
                                        <p:tgtEl>
                                          <p:spTgt spid="93"/>
                                        </p:tgtEl>
                                      </p:cBhvr>
                                    </p:animEffect>
                                  </p:childTnLst>
                                </p:cTn>
                              </p:par>
                              <p:par>
                                <p:cTn id="43" presetID="64" presetClass="path" presetSubtype="0" decel="100000" fill="hold" grpId="1" nodeType="withEffect">
                                  <p:stCondLst>
                                    <p:cond delay="0"/>
                                  </p:stCondLst>
                                  <p:childTnLst>
                                    <p:animMotion origin="layout" path="M 0.02461 0.15439 L -1.45833E-6 -2.96296E-6 " pathEditMode="relative" rAng="0" ptsTypes="AA">
                                      <p:cBhvr>
                                        <p:cTn id="44" dur="750" fill="hold"/>
                                        <p:tgtEl>
                                          <p:spTgt spid="93"/>
                                        </p:tgtEl>
                                        <p:attrNameLst>
                                          <p:attrName>ppt_x</p:attrName>
                                          <p:attrName>ppt_y</p:attrName>
                                        </p:attrNameLst>
                                      </p:cBhvr>
                                      <p:rCtr x="-1276" y="-7662"/>
                                    </p:animMotion>
                                  </p:childTnLst>
                                </p:cTn>
                              </p:par>
                              <p:par>
                                <p:cTn id="45" presetID="10" presetClass="entr" presetSubtype="0" fill="hold" nodeType="withEffect">
                                  <p:stCondLst>
                                    <p:cond delay="0"/>
                                  </p:stCondLst>
                                  <p:childTnLst>
                                    <p:set>
                                      <p:cBhvr>
                                        <p:cTn id="46" dur="1" fill="hold">
                                          <p:stCondLst>
                                            <p:cond delay="0"/>
                                          </p:stCondLst>
                                        </p:cTn>
                                        <p:tgtEl>
                                          <p:spTgt spid="94"/>
                                        </p:tgtEl>
                                        <p:attrNameLst>
                                          <p:attrName>style.visibility</p:attrName>
                                        </p:attrNameLst>
                                      </p:cBhvr>
                                      <p:to>
                                        <p:strVal val="visible"/>
                                      </p:to>
                                    </p:set>
                                    <p:animEffect transition="in" filter="fade">
                                      <p:cBhvr>
                                        <p:cTn id="47" dur="250"/>
                                        <p:tgtEl>
                                          <p:spTgt spid="94"/>
                                        </p:tgtEl>
                                      </p:cBhvr>
                                    </p:animEffect>
                                  </p:childTnLst>
                                </p:cTn>
                              </p:par>
                              <p:par>
                                <p:cTn id="48" presetID="64" presetClass="path" presetSubtype="0" decel="100000" fill="hold" nodeType="withEffect">
                                  <p:stCondLst>
                                    <p:cond delay="0"/>
                                  </p:stCondLst>
                                  <p:childTnLst>
                                    <p:animMotion origin="layout" path="M -0.0237 0.18357 L -1.45833E-6 -2.96296E-6 " pathEditMode="relative" rAng="0" ptsTypes="AA">
                                      <p:cBhvr>
                                        <p:cTn id="49" dur="750" fill="hold"/>
                                        <p:tgtEl>
                                          <p:spTgt spid="94"/>
                                        </p:tgtEl>
                                        <p:attrNameLst>
                                          <p:attrName>ppt_x</p:attrName>
                                          <p:attrName>ppt_y</p:attrName>
                                        </p:attrNameLst>
                                      </p:cBhvr>
                                      <p:rCtr x="1146" y="-9236"/>
                                    </p:animMotion>
                                  </p:childTnLst>
                                </p:cTn>
                              </p:par>
                              <p:par>
                                <p:cTn id="50" presetID="10" presetClass="entr" presetSubtype="0" fill="hold" grpId="0" nodeType="withEffect">
                                  <p:stCondLst>
                                    <p:cond delay="0"/>
                                  </p:stCondLst>
                                  <p:childTnLst>
                                    <p:set>
                                      <p:cBhvr>
                                        <p:cTn id="51" dur="1" fill="hold">
                                          <p:stCondLst>
                                            <p:cond delay="0"/>
                                          </p:stCondLst>
                                        </p:cTn>
                                        <p:tgtEl>
                                          <p:spTgt spid="95"/>
                                        </p:tgtEl>
                                        <p:attrNameLst>
                                          <p:attrName>style.visibility</p:attrName>
                                        </p:attrNameLst>
                                      </p:cBhvr>
                                      <p:to>
                                        <p:strVal val="visible"/>
                                      </p:to>
                                    </p:set>
                                    <p:animEffect transition="in" filter="fade">
                                      <p:cBhvr>
                                        <p:cTn id="52" dur="250"/>
                                        <p:tgtEl>
                                          <p:spTgt spid="95"/>
                                        </p:tgtEl>
                                      </p:cBhvr>
                                    </p:animEffect>
                                  </p:childTnLst>
                                </p:cTn>
                              </p:par>
                              <p:par>
                                <p:cTn id="53" presetID="64" presetClass="path" presetSubtype="0" decel="100000" fill="hold" grpId="1" nodeType="withEffect">
                                  <p:stCondLst>
                                    <p:cond delay="0"/>
                                  </p:stCondLst>
                                  <p:childTnLst>
                                    <p:animMotion origin="layout" path="M -0.0237 0.18357 L -1.45833E-6 -2.96296E-6 " pathEditMode="relative" rAng="0" ptsTypes="AA">
                                      <p:cBhvr>
                                        <p:cTn id="54" dur="750" fill="hold"/>
                                        <p:tgtEl>
                                          <p:spTgt spid="95"/>
                                        </p:tgtEl>
                                        <p:attrNameLst>
                                          <p:attrName>ppt_x</p:attrName>
                                          <p:attrName>ppt_y</p:attrName>
                                        </p:attrNameLst>
                                      </p:cBhvr>
                                      <p:rCtr x="1146" y="-9236"/>
                                    </p:animMotion>
                                  </p:childTnLst>
                                </p:cTn>
                              </p:par>
                              <p:par>
                                <p:cTn id="55" presetID="10" presetClass="entr" presetSubtype="0" fill="hold" nodeType="withEffect">
                                  <p:stCondLst>
                                    <p:cond delay="0"/>
                                  </p:stCondLst>
                                  <p:childTnLst>
                                    <p:set>
                                      <p:cBhvr>
                                        <p:cTn id="56" dur="1" fill="hold">
                                          <p:stCondLst>
                                            <p:cond delay="0"/>
                                          </p:stCondLst>
                                        </p:cTn>
                                        <p:tgtEl>
                                          <p:spTgt spid="96"/>
                                        </p:tgtEl>
                                        <p:attrNameLst>
                                          <p:attrName>style.visibility</p:attrName>
                                        </p:attrNameLst>
                                      </p:cBhvr>
                                      <p:to>
                                        <p:strVal val="visible"/>
                                      </p:to>
                                    </p:set>
                                    <p:animEffect transition="in" filter="fade">
                                      <p:cBhvr>
                                        <p:cTn id="57" dur="250"/>
                                        <p:tgtEl>
                                          <p:spTgt spid="96"/>
                                        </p:tgtEl>
                                      </p:cBhvr>
                                    </p:animEffect>
                                  </p:childTnLst>
                                </p:cTn>
                              </p:par>
                              <p:par>
                                <p:cTn id="58" presetID="64" presetClass="path" presetSubtype="0" decel="100000" fill="hold" nodeType="withEffect">
                                  <p:stCondLst>
                                    <p:cond delay="0"/>
                                  </p:stCondLst>
                                  <p:childTnLst>
                                    <p:animMotion origin="layout" path="M -0.0888 0.18403 L 8.33333E-7 4.85723E-17 " pathEditMode="relative" rAng="0" ptsTypes="AA">
                                      <p:cBhvr>
                                        <p:cTn id="59" dur="750" fill="hold"/>
                                        <p:tgtEl>
                                          <p:spTgt spid="96"/>
                                        </p:tgtEl>
                                        <p:attrNameLst>
                                          <p:attrName>ppt_x</p:attrName>
                                          <p:attrName>ppt_y</p:attrName>
                                        </p:attrNameLst>
                                      </p:cBhvr>
                                      <p:rCtr x="5273" y="-11181"/>
                                    </p:animMotion>
                                  </p:childTnLst>
                                </p:cTn>
                              </p:par>
                              <p:par>
                                <p:cTn id="60" presetID="10" presetClass="entr" presetSubtype="0" fill="hold" grpId="0" nodeType="withEffect">
                                  <p:stCondLst>
                                    <p:cond delay="0"/>
                                  </p:stCondLst>
                                  <p:childTnLst>
                                    <p:set>
                                      <p:cBhvr>
                                        <p:cTn id="61" dur="1" fill="hold">
                                          <p:stCondLst>
                                            <p:cond delay="0"/>
                                          </p:stCondLst>
                                        </p:cTn>
                                        <p:tgtEl>
                                          <p:spTgt spid="97"/>
                                        </p:tgtEl>
                                        <p:attrNameLst>
                                          <p:attrName>style.visibility</p:attrName>
                                        </p:attrNameLst>
                                      </p:cBhvr>
                                      <p:to>
                                        <p:strVal val="visible"/>
                                      </p:to>
                                    </p:set>
                                    <p:animEffect transition="in" filter="fade">
                                      <p:cBhvr>
                                        <p:cTn id="62" dur="250"/>
                                        <p:tgtEl>
                                          <p:spTgt spid="97"/>
                                        </p:tgtEl>
                                      </p:cBhvr>
                                    </p:animEffect>
                                  </p:childTnLst>
                                </p:cTn>
                              </p:par>
                              <p:par>
                                <p:cTn id="63" presetID="64" presetClass="path" presetSubtype="0" decel="100000" fill="hold" grpId="1" nodeType="withEffect">
                                  <p:stCondLst>
                                    <p:cond delay="0"/>
                                  </p:stCondLst>
                                  <p:childTnLst>
                                    <p:animMotion origin="layout" path="M -0.0888 0.18403 L 8.33333E-7 4.85723E-17 " pathEditMode="relative" rAng="0" ptsTypes="AA">
                                      <p:cBhvr>
                                        <p:cTn id="64" dur="750" fill="hold"/>
                                        <p:tgtEl>
                                          <p:spTgt spid="97"/>
                                        </p:tgtEl>
                                        <p:attrNameLst>
                                          <p:attrName>ppt_x</p:attrName>
                                          <p:attrName>ppt_y</p:attrName>
                                        </p:attrNameLst>
                                      </p:cBhvr>
                                      <p:rCtr x="5273" y="-11181"/>
                                    </p:animMotion>
                                  </p:childTnLst>
                                </p:cTn>
                              </p:par>
                              <p:par>
                                <p:cTn id="65" presetID="10" presetClass="entr" presetSubtype="0" fill="hold" nodeType="withEffect">
                                  <p:stCondLst>
                                    <p:cond delay="0"/>
                                  </p:stCondLst>
                                  <p:childTnLst>
                                    <p:set>
                                      <p:cBhvr>
                                        <p:cTn id="66" dur="1" fill="hold">
                                          <p:stCondLst>
                                            <p:cond delay="0"/>
                                          </p:stCondLst>
                                        </p:cTn>
                                        <p:tgtEl>
                                          <p:spTgt spid="98"/>
                                        </p:tgtEl>
                                        <p:attrNameLst>
                                          <p:attrName>style.visibility</p:attrName>
                                        </p:attrNameLst>
                                      </p:cBhvr>
                                      <p:to>
                                        <p:strVal val="visible"/>
                                      </p:to>
                                    </p:set>
                                    <p:animEffect transition="in" filter="fade">
                                      <p:cBhvr>
                                        <p:cTn id="67" dur="250"/>
                                        <p:tgtEl>
                                          <p:spTgt spid="98"/>
                                        </p:tgtEl>
                                      </p:cBhvr>
                                    </p:animEffect>
                                  </p:childTnLst>
                                </p:cTn>
                              </p:par>
                              <p:par>
                                <p:cTn id="68" presetID="64" presetClass="path" presetSubtype="0" decel="100000" fill="hold" nodeType="withEffect">
                                  <p:stCondLst>
                                    <p:cond delay="0"/>
                                  </p:stCondLst>
                                  <p:childTnLst>
                                    <p:animMotion origin="layout" path="M -0.12109 0.10325 L -4.16667E-6 -4.81481E-6 " pathEditMode="relative" rAng="0" ptsTypes="AA">
                                      <p:cBhvr>
                                        <p:cTn id="69" dur="750" fill="hold"/>
                                        <p:tgtEl>
                                          <p:spTgt spid="98"/>
                                        </p:tgtEl>
                                        <p:attrNameLst>
                                          <p:attrName>ppt_x</p:attrName>
                                          <p:attrName>ppt_y</p:attrName>
                                        </p:attrNameLst>
                                      </p:cBhvr>
                                      <p:rCtr x="6055" y="-5162"/>
                                    </p:animMotion>
                                  </p:childTnLst>
                                </p:cTn>
                              </p:par>
                              <p:par>
                                <p:cTn id="70" presetID="10" presetClass="entr" presetSubtype="0" fill="hold" grpId="0" nodeType="withEffect">
                                  <p:stCondLst>
                                    <p:cond delay="0"/>
                                  </p:stCondLst>
                                  <p:childTnLst>
                                    <p:set>
                                      <p:cBhvr>
                                        <p:cTn id="71" dur="1" fill="hold">
                                          <p:stCondLst>
                                            <p:cond delay="0"/>
                                          </p:stCondLst>
                                        </p:cTn>
                                        <p:tgtEl>
                                          <p:spTgt spid="99"/>
                                        </p:tgtEl>
                                        <p:attrNameLst>
                                          <p:attrName>style.visibility</p:attrName>
                                        </p:attrNameLst>
                                      </p:cBhvr>
                                      <p:to>
                                        <p:strVal val="visible"/>
                                      </p:to>
                                    </p:set>
                                    <p:animEffect transition="in" filter="fade">
                                      <p:cBhvr>
                                        <p:cTn id="72" dur="250"/>
                                        <p:tgtEl>
                                          <p:spTgt spid="99"/>
                                        </p:tgtEl>
                                      </p:cBhvr>
                                    </p:animEffect>
                                  </p:childTnLst>
                                </p:cTn>
                              </p:par>
                              <p:par>
                                <p:cTn id="73" presetID="64" presetClass="path" presetSubtype="0" decel="100000" fill="hold" grpId="1" nodeType="withEffect">
                                  <p:stCondLst>
                                    <p:cond delay="0"/>
                                  </p:stCondLst>
                                  <p:childTnLst>
                                    <p:animMotion origin="layout" path="M -0.12109 0.10325 L -4.16667E-6 -4.81481E-6 " pathEditMode="relative" rAng="0" ptsTypes="AA">
                                      <p:cBhvr>
                                        <p:cTn id="74" dur="750" fill="hold"/>
                                        <p:tgtEl>
                                          <p:spTgt spid="99"/>
                                        </p:tgtEl>
                                        <p:attrNameLst>
                                          <p:attrName>ppt_x</p:attrName>
                                          <p:attrName>ppt_y</p:attrName>
                                        </p:attrNameLst>
                                      </p:cBhvr>
                                      <p:rCtr x="6055" y="-5162"/>
                                    </p:animMotion>
                                  </p:childTnLst>
                                </p:cTn>
                              </p:par>
                              <p:par>
                                <p:cTn id="75" presetID="10" presetClass="entr" presetSubtype="0" fill="hold" nodeType="withEffect">
                                  <p:stCondLst>
                                    <p:cond delay="0"/>
                                  </p:stCondLst>
                                  <p:childTnLst>
                                    <p:set>
                                      <p:cBhvr>
                                        <p:cTn id="76" dur="1" fill="hold">
                                          <p:stCondLst>
                                            <p:cond delay="0"/>
                                          </p:stCondLst>
                                        </p:cTn>
                                        <p:tgtEl>
                                          <p:spTgt spid="100"/>
                                        </p:tgtEl>
                                        <p:attrNameLst>
                                          <p:attrName>style.visibility</p:attrName>
                                        </p:attrNameLst>
                                      </p:cBhvr>
                                      <p:to>
                                        <p:strVal val="visible"/>
                                      </p:to>
                                    </p:set>
                                    <p:animEffect transition="in" filter="fade">
                                      <p:cBhvr>
                                        <p:cTn id="77" dur="250"/>
                                        <p:tgtEl>
                                          <p:spTgt spid="100"/>
                                        </p:tgtEl>
                                      </p:cBhvr>
                                    </p:animEffect>
                                  </p:childTnLst>
                                </p:cTn>
                              </p:par>
                              <p:par>
                                <p:cTn id="78" presetID="64" presetClass="path" presetSubtype="0" decel="100000" fill="hold" nodeType="withEffect">
                                  <p:stCondLst>
                                    <p:cond delay="0"/>
                                  </p:stCondLst>
                                  <p:childTnLst>
                                    <p:animMotion origin="layout" path="M -0.1474 0.04652 L -3.33333E-6 -3.7037E-7 " pathEditMode="relative" rAng="0" ptsTypes="AA">
                                      <p:cBhvr>
                                        <p:cTn id="79" dur="750" fill="hold"/>
                                        <p:tgtEl>
                                          <p:spTgt spid="100"/>
                                        </p:tgtEl>
                                        <p:attrNameLst>
                                          <p:attrName>ppt_x</p:attrName>
                                          <p:attrName>ppt_y</p:attrName>
                                        </p:attrNameLst>
                                      </p:cBhvr>
                                      <p:rCtr x="7461" y="-2454"/>
                                    </p:animMotion>
                                  </p:childTnLst>
                                </p:cTn>
                              </p:par>
                              <p:par>
                                <p:cTn id="80" presetID="10" presetClass="entr" presetSubtype="0" fill="hold" grpId="0" nodeType="withEffect">
                                  <p:stCondLst>
                                    <p:cond delay="0"/>
                                  </p:stCondLst>
                                  <p:childTnLst>
                                    <p:set>
                                      <p:cBhvr>
                                        <p:cTn id="81" dur="1" fill="hold">
                                          <p:stCondLst>
                                            <p:cond delay="0"/>
                                          </p:stCondLst>
                                        </p:cTn>
                                        <p:tgtEl>
                                          <p:spTgt spid="101"/>
                                        </p:tgtEl>
                                        <p:attrNameLst>
                                          <p:attrName>style.visibility</p:attrName>
                                        </p:attrNameLst>
                                      </p:cBhvr>
                                      <p:to>
                                        <p:strVal val="visible"/>
                                      </p:to>
                                    </p:set>
                                    <p:animEffect transition="in" filter="fade">
                                      <p:cBhvr>
                                        <p:cTn id="82" dur="250"/>
                                        <p:tgtEl>
                                          <p:spTgt spid="101"/>
                                        </p:tgtEl>
                                      </p:cBhvr>
                                    </p:animEffect>
                                  </p:childTnLst>
                                </p:cTn>
                              </p:par>
                              <p:par>
                                <p:cTn id="83" presetID="64" presetClass="path" presetSubtype="0" decel="100000" fill="hold" grpId="1" nodeType="withEffect">
                                  <p:stCondLst>
                                    <p:cond delay="0"/>
                                  </p:stCondLst>
                                  <p:childTnLst>
                                    <p:animMotion origin="layout" path="M -0.1474 0.04652 L -3.33333E-6 -3.7037E-7 " pathEditMode="relative" rAng="0" ptsTypes="AA">
                                      <p:cBhvr>
                                        <p:cTn id="84" dur="750" fill="hold"/>
                                        <p:tgtEl>
                                          <p:spTgt spid="101"/>
                                        </p:tgtEl>
                                        <p:attrNameLst>
                                          <p:attrName>ppt_x</p:attrName>
                                          <p:attrName>ppt_y</p:attrName>
                                        </p:attrNameLst>
                                      </p:cBhvr>
                                      <p:rCtr x="7461" y="-245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7" grpId="1"/>
      <p:bldP spid="89" grpId="0"/>
      <p:bldP spid="89" grpId="1"/>
      <p:bldP spid="91" grpId="0"/>
      <p:bldP spid="91" grpId="1"/>
      <p:bldP spid="93" grpId="0"/>
      <p:bldP spid="93" grpId="1"/>
      <p:bldP spid="95" grpId="0"/>
      <p:bldP spid="95" grpId="1"/>
      <p:bldP spid="97" grpId="0"/>
      <p:bldP spid="97" grpId="1"/>
      <p:bldP spid="99" grpId="0"/>
      <p:bldP spid="99" grpId="1"/>
      <p:bldP spid="101" grpId="0"/>
      <p:bldP spid="101"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7E6F4BEC-2C8B-4F77-8AFF-A299340EA196}"/>
              </a:ext>
            </a:extLst>
          </p:cNvPr>
          <p:cNvSpPr>
            <a:spLocks noGrp="1"/>
          </p:cNvSpPr>
          <p:nvPr>
            <p:ph type="title"/>
          </p:nvPr>
        </p:nvSpPr>
        <p:spPr>
          <a:xfrm>
            <a:off x="365760" y="174925"/>
            <a:ext cx="11559320" cy="600892"/>
          </a:xfrm>
        </p:spPr>
        <p:txBody>
          <a:bodyPr>
            <a:noAutofit/>
          </a:bodyPr>
          <a:lstStyle/>
          <a:p>
            <a:r>
              <a:rPr lang="en-US" sz="4000" dirty="0"/>
              <a:t>Microsoft FinOps Framework</a:t>
            </a:r>
          </a:p>
        </p:txBody>
      </p:sp>
      <p:grpSp>
        <p:nvGrpSpPr>
          <p:cNvPr id="3" name="Group 2">
            <a:extLst>
              <a:ext uri="{FF2B5EF4-FFF2-40B4-BE49-F238E27FC236}">
                <a16:creationId xmlns:a16="http://schemas.microsoft.com/office/drawing/2014/main" id="{66F6F2FE-9AC2-43F9-A2FD-625DBF6E348C}"/>
              </a:ext>
            </a:extLst>
          </p:cNvPr>
          <p:cNvGrpSpPr/>
          <p:nvPr/>
        </p:nvGrpSpPr>
        <p:grpSpPr>
          <a:xfrm>
            <a:off x="1325706" y="1154606"/>
            <a:ext cx="2622982" cy="5131301"/>
            <a:chOff x="1325706" y="1154606"/>
            <a:chExt cx="2622982" cy="5131301"/>
          </a:xfrm>
        </p:grpSpPr>
        <p:cxnSp>
          <p:nvCxnSpPr>
            <p:cNvPr id="8" name="Straight Connector 7">
              <a:extLst>
                <a:ext uri="{FF2B5EF4-FFF2-40B4-BE49-F238E27FC236}">
                  <a16:creationId xmlns:a16="http://schemas.microsoft.com/office/drawing/2014/main" id="{09D54AF8-4AFB-4EDF-884F-4A2126AC891A}"/>
                </a:ext>
                <a:ext uri="{C183D7F6-B498-43B3-948B-1728B52AA6E4}">
                  <adec:decorative xmlns:adec="http://schemas.microsoft.com/office/drawing/2017/decorative" val="1"/>
                </a:ext>
              </a:extLst>
            </p:cNvPr>
            <p:cNvCxnSpPr>
              <a:cxnSpLocks/>
            </p:cNvCxnSpPr>
            <p:nvPr/>
          </p:nvCxnSpPr>
          <p:spPr>
            <a:xfrm>
              <a:off x="2799241" y="3779207"/>
              <a:ext cx="0" cy="206376"/>
            </a:xfrm>
            <a:prstGeom prst="line">
              <a:avLst/>
            </a:prstGeom>
            <a:ln w="19050">
              <a:headEnd type="none" w="lg" len="med"/>
              <a:tailEnd type="none" w="lg" len="med"/>
            </a:ln>
          </p:spPr>
          <p:style>
            <a:lnRef idx="1">
              <a:schemeClr val="accent6"/>
            </a:lnRef>
            <a:fillRef idx="0">
              <a:schemeClr val="accent6"/>
            </a:fillRef>
            <a:effectRef idx="0">
              <a:schemeClr val="accent6"/>
            </a:effectRef>
            <a:fontRef idx="minor">
              <a:schemeClr val="tx1"/>
            </a:fontRef>
          </p:style>
        </p:cxnSp>
        <p:grpSp>
          <p:nvGrpSpPr>
            <p:cNvPr id="17" name="Group 16">
              <a:extLst>
                <a:ext uri="{FF2B5EF4-FFF2-40B4-BE49-F238E27FC236}">
                  <a16:creationId xmlns:a16="http://schemas.microsoft.com/office/drawing/2014/main" id="{0EC3222E-AD02-4AA1-9D44-80BB971F54A0}"/>
                </a:ext>
                <a:ext uri="{C183D7F6-B498-43B3-948B-1728B52AA6E4}">
                  <adec:decorative xmlns:adec="http://schemas.microsoft.com/office/drawing/2017/decorative" val="1"/>
                </a:ext>
              </a:extLst>
            </p:cNvPr>
            <p:cNvGrpSpPr/>
            <p:nvPr/>
          </p:nvGrpSpPr>
          <p:grpSpPr>
            <a:xfrm>
              <a:off x="1326035" y="1784207"/>
              <a:ext cx="2622325" cy="2060471"/>
              <a:chOff x="371750" y="2592797"/>
              <a:chExt cx="2622528" cy="2060471"/>
            </a:xfrm>
          </p:grpSpPr>
          <p:sp>
            <p:nvSpPr>
              <p:cNvPr id="43" name="Rectangle 42">
                <a:extLst>
                  <a:ext uri="{FF2B5EF4-FFF2-40B4-BE49-F238E27FC236}">
                    <a16:creationId xmlns:a16="http://schemas.microsoft.com/office/drawing/2014/main" id="{FD146D17-9019-451A-BAE4-A6134C4034D6}"/>
                  </a:ext>
                </a:extLst>
              </p:cNvPr>
              <p:cNvSpPr/>
              <p:nvPr/>
            </p:nvSpPr>
            <p:spPr bwMode="auto">
              <a:xfrm>
                <a:off x="371750" y="2592797"/>
                <a:ext cx="2622528" cy="2060471"/>
              </a:xfrm>
              <a:prstGeom prst="rect">
                <a:avLst/>
              </a:prstGeom>
              <a:solidFill>
                <a:schemeClr val="bg1"/>
              </a:solidFill>
              <a:ln w="9525" cap="flat" cmpd="sng" algn="ctr">
                <a:noFill/>
                <a:prstDash val="solid"/>
              </a:ln>
              <a:effectLst>
                <a:outerShdw blurRad="127000" dist="38100" dir="2700000" algn="ctr" rotWithShape="0">
                  <a:prstClr val="black">
                    <a:alpha val="30000"/>
                  </a:prstClr>
                </a:outerShdw>
              </a:effectLst>
            </p:spPr>
            <p:txBody>
              <a:bodyPr rot="0" spcFirstLastPara="0" vertOverflow="overflow" horzOverflow="overflow" vert="horz" wrap="square" lIns="182880" tIns="640080" rIns="182880" bIns="146304"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FinOps Cultural Transformation</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Financial Outcomes</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Cloud Business Value </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Azure Costs</a:t>
                </a:r>
              </a:p>
              <a:p>
                <a:pPr marL="0" marR="0" lvl="0" indent="0" algn="ctr" defTabSz="914367" rtl="0" eaLnBrk="1" fontAlgn="auto" latinLnBrk="0" hangingPunct="1">
                  <a:lnSpc>
                    <a:spcPct val="100000"/>
                  </a:lnSpc>
                  <a:spcBef>
                    <a:spcPts val="600"/>
                  </a:spcBef>
                  <a:spcAft>
                    <a:spcPts val="6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ctr" defTabSz="932472" rtl="0" eaLnBrk="1" fontAlgn="base" latinLnBrk="0" hangingPunct="1">
                  <a:lnSpc>
                    <a:spcPct val="90000"/>
                  </a:lnSpc>
                  <a:spcBef>
                    <a:spcPts val="600"/>
                  </a:spcBef>
                  <a:spcAft>
                    <a:spcPts val="600"/>
                  </a:spcAft>
                  <a:buClrTx/>
                  <a:buSzTx/>
                  <a:buFontTx/>
                  <a:buNone/>
                  <a:tabLst/>
                  <a:defRPr/>
                </a:pPr>
                <a:endParaRPr kumimoji="0" lang="en-US" sz="12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4" name="Rectangle 43">
                <a:extLst>
                  <a:ext uri="{FF2B5EF4-FFF2-40B4-BE49-F238E27FC236}">
                    <a16:creationId xmlns:a16="http://schemas.microsoft.com/office/drawing/2014/main" id="{29717A2F-F096-4253-B304-ED1D2987DDB2}"/>
                  </a:ext>
                </a:extLst>
              </p:cNvPr>
              <p:cNvSpPr/>
              <p:nvPr/>
            </p:nvSpPr>
            <p:spPr bwMode="auto">
              <a:xfrm>
                <a:off x="371750" y="2592797"/>
                <a:ext cx="2622528" cy="456663"/>
              </a:xfrm>
              <a:prstGeom prst="rect">
                <a:avLst/>
              </a:prstGeom>
              <a:solidFill>
                <a:schemeClr val="bg2">
                  <a:lumMod val="9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Semibold"/>
                    <a:ea typeface="+mn-ea"/>
                    <a:cs typeface="Segoe UI" pitchFamily="34" charset="0"/>
                  </a:rPr>
                  <a:t>Strategy</a:t>
                </a:r>
              </a:p>
            </p:txBody>
          </p:sp>
        </p:grpSp>
        <p:grpSp>
          <p:nvGrpSpPr>
            <p:cNvPr id="45" name="Group 44">
              <a:extLst>
                <a:ext uri="{FF2B5EF4-FFF2-40B4-BE49-F238E27FC236}">
                  <a16:creationId xmlns:a16="http://schemas.microsoft.com/office/drawing/2014/main" id="{6529C8DA-5CA0-4297-9845-D742EF120C49}"/>
                </a:ext>
                <a:ext uri="{C183D7F6-B498-43B3-948B-1728B52AA6E4}">
                  <adec:decorative xmlns:adec="http://schemas.microsoft.com/office/drawing/2017/decorative" val="1"/>
                </a:ext>
              </a:extLst>
            </p:cNvPr>
            <p:cNvGrpSpPr/>
            <p:nvPr/>
          </p:nvGrpSpPr>
          <p:grpSpPr>
            <a:xfrm>
              <a:off x="1326035" y="4093464"/>
              <a:ext cx="2622325" cy="2192443"/>
              <a:chOff x="371750" y="2592797"/>
              <a:chExt cx="2622528" cy="2192443"/>
            </a:xfrm>
          </p:grpSpPr>
          <p:sp>
            <p:nvSpPr>
              <p:cNvPr id="46" name="Rectangle 45">
                <a:extLst>
                  <a:ext uri="{FF2B5EF4-FFF2-40B4-BE49-F238E27FC236}">
                    <a16:creationId xmlns:a16="http://schemas.microsoft.com/office/drawing/2014/main" id="{E17C7229-590E-4DEC-A9EA-57BB60C878C8}"/>
                  </a:ext>
                </a:extLst>
              </p:cNvPr>
              <p:cNvSpPr/>
              <p:nvPr/>
            </p:nvSpPr>
            <p:spPr bwMode="auto">
              <a:xfrm>
                <a:off x="371750" y="2592797"/>
                <a:ext cx="2622528" cy="2192443"/>
              </a:xfrm>
              <a:prstGeom prst="rect">
                <a:avLst/>
              </a:prstGeom>
              <a:solidFill>
                <a:schemeClr val="bg1"/>
              </a:solidFill>
              <a:ln w="9525" cap="flat" cmpd="sng" algn="ctr">
                <a:noFill/>
                <a:prstDash val="solid"/>
              </a:ln>
              <a:effectLst>
                <a:outerShdw blurRad="127000" dist="38100" dir="2700000" algn="ctr" rotWithShape="0">
                  <a:prstClr val="black">
                    <a:alpha val="30000"/>
                  </a:prstClr>
                </a:outerShdw>
              </a:effectLst>
            </p:spPr>
            <p:txBody>
              <a:bodyPr rot="0" spcFirstLastPara="0" vertOverflow="overflow" horzOverflow="overflow" vert="horz" wrap="square" lIns="182880" tIns="640080" rIns="182880" bIns="146304"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FinOps Central Team</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Skills readiness plan</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FinOps adoption plan</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Budget Planning &amp; Forecasting</a:t>
                </a:r>
              </a:p>
            </p:txBody>
          </p:sp>
          <p:sp>
            <p:nvSpPr>
              <p:cNvPr id="47" name="Rectangle 46">
                <a:extLst>
                  <a:ext uri="{FF2B5EF4-FFF2-40B4-BE49-F238E27FC236}">
                    <a16:creationId xmlns:a16="http://schemas.microsoft.com/office/drawing/2014/main" id="{4907C05B-BBB1-4829-97B4-B23930DF839D}"/>
                  </a:ext>
                </a:extLst>
              </p:cNvPr>
              <p:cNvSpPr/>
              <p:nvPr/>
            </p:nvSpPr>
            <p:spPr bwMode="auto">
              <a:xfrm>
                <a:off x="371750" y="2592797"/>
                <a:ext cx="2622528" cy="456663"/>
              </a:xfrm>
              <a:prstGeom prst="rect">
                <a:avLst/>
              </a:prstGeom>
              <a:solidFill>
                <a:schemeClr val="bg2">
                  <a:lumMod val="9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Semibold"/>
                    <a:ea typeface="+mn-ea"/>
                    <a:cs typeface="Segoe UI" pitchFamily="34" charset="0"/>
                  </a:rPr>
                  <a:t>Accountability</a:t>
                </a:r>
              </a:p>
            </p:txBody>
          </p:sp>
        </p:grpSp>
        <p:sp>
          <p:nvSpPr>
            <p:cNvPr id="66" name="Rectangle 65">
              <a:extLst>
                <a:ext uri="{FF2B5EF4-FFF2-40B4-BE49-F238E27FC236}">
                  <a16:creationId xmlns:a16="http://schemas.microsoft.com/office/drawing/2014/main" id="{CA4C66B2-E3E6-4253-9357-809B60883B74}"/>
                </a:ext>
              </a:extLst>
            </p:cNvPr>
            <p:cNvSpPr/>
            <p:nvPr/>
          </p:nvSpPr>
          <p:spPr bwMode="auto">
            <a:xfrm>
              <a:off x="1325706" y="1154606"/>
              <a:ext cx="2622982" cy="456663"/>
            </a:xfrm>
            <a:prstGeom prst="rect">
              <a:avLst/>
            </a:prstGeom>
            <a:solidFill>
              <a:schemeClr val="accent1"/>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FFFFFF"/>
                  </a:solidFill>
                  <a:effectLst/>
                  <a:uLnTx/>
                  <a:uFillTx/>
                  <a:latin typeface="Segoe UI Semibold"/>
                  <a:ea typeface="Segoe UI" pitchFamily="34" charset="0"/>
                  <a:cs typeface="Segoe UI" pitchFamily="34" charset="0"/>
                </a:rPr>
                <a:t>Inform</a:t>
              </a:r>
            </a:p>
          </p:txBody>
        </p:sp>
        <p:cxnSp>
          <p:nvCxnSpPr>
            <p:cNvPr id="6" name="Straight Connector 5">
              <a:extLst>
                <a:ext uri="{FF2B5EF4-FFF2-40B4-BE49-F238E27FC236}">
                  <a16:creationId xmlns:a16="http://schemas.microsoft.com/office/drawing/2014/main" id="{473BC000-45ED-4D29-A36B-243B1C08543F}"/>
                </a:ext>
                <a:ext uri="{C183D7F6-B498-43B3-948B-1728B52AA6E4}">
                  <adec:decorative xmlns:adec="http://schemas.microsoft.com/office/drawing/2017/decorative" val="1"/>
                </a:ext>
              </a:extLst>
            </p:cNvPr>
            <p:cNvCxnSpPr>
              <a:cxnSpLocks/>
              <a:endCxn id="47" idx="0"/>
            </p:cNvCxnSpPr>
            <p:nvPr/>
          </p:nvCxnSpPr>
          <p:spPr>
            <a:xfrm>
              <a:off x="2637198" y="3844678"/>
              <a:ext cx="0" cy="248786"/>
            </a:xfrm>
            <a:prstGeom prst="line">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cxnSp>
      </p:grpSp>
      <p:grpSp>
        <p:nvGrpSpPr>
          <p:cNvPr id="4" name="Group 3">
            <a:extLst>
              <a:ext uri="{FF2B5EF4-FFF2-40B4-BE49-F238E27FC236}">
                <a16:creationId xmlns:a16="http://schemas.microsoft.com/office/drawing/2014/main" id="{5C41999B-A174-49FD-BF75-EBE1E284E2A6}"/>
              </a:ext>
            </a:extLst>
          </p:cNvPr>
          <p:cNvGrpSpPr/>
          <p:nvPr/>
        </p:nvGrpSpPr>
        <p:grpSpPr>
          <a:xfrm>
            <a:off x="4527843" y="1154606"/>
            <a:ext cx="2622982" cy="5131301"/>
            <a:chOff x="4363325" y="1154606"/>
            <a:chExt cx="2622982" cy="5131301"/>
          </a:xfrm>
        </p:grpSpPr>
        <p:cxnSp>
          <p:nvCxnSpPr>
            <p:cNvPr id="7" name="Straight Connector 6">
              <a:extLst>
                <a:ext uri="{FF2B5EF4-FFF2-40B4-BE49-F238E27FC236}">
                  <a16:creationId xmlns:a16="http://schemas.microsoft.com/office/drawing/2014/main" id="{98D03888-B938-4AF0-AF68-6B770BDDE067}"/>
                </a:ext>
                <a:ext uri="{C183D7F6-B498-43B3-948B-1728B52AA6E4}">
                  <adec:decorative xmlns:adec="http://schemas.microsoft.com/office/drawing/2017/decorative" val="1"/>
                </a:ext>
              </a:extLst>
            </p:cNvPr>
            <p:cNvCxnSpPr>
              <a:cxnSpLocks/>
            </p:cNvCxnSpPr>
            <p:nvPr/>
          </p:nvCxnSpPr>
          <p:spPr>
            <a:xfrm>
              <a:off x="5958701" y="4177572"/>
              <a:ext cx="0" cy="187615"/>
            </a:xfrm>
            <a:prstGeom prst="line">
              <a:avLst/>
            </a:prstGeom>
            <a:ln w="19050">
              <a:headEnd type="none" w="lg" len="med"/>
              <a:tailEnd type="none" w="lg" len="med"/>
            </a:ln>
          </p:spPr>
          <p:style>
            <a:lnRef idx="1">
              <a:schemeClr val="accent6"/>
            </a:lnRef>
            <a:fillRef idx="0">
              <a:schemeClr val="accent6"/>
            </a:fillRef>
            <a:effectRef idx="0">
              <a:schemeClr val="accent6"/>
            </a:effectRef>
            <a:fontRef idx="minor">
              <a:schemeClr val="tx1"/>
            </a:fontRef>
          </p:style>
        </p:cxnSp>
        <p:grpSp>
          <p:nvGrpSpPr>
            <p:cNvPr id="49" name="Group 48">
              <a:extLst>
                <a:ext uri="{FF2B5EF4-FFF2-40B4-BE49-F238E27FC236}">
                  <a16:creationId xmlns:a16="http://schemas.microsoft.com/office/drawing/2014/main" id="{73FEECEA-171D-4BE2-8916-09AE842069A8}"/>
                </a:ext>
                <a:ext uri="{C183D7F6-B498-43B3-948B-1728B52AA6E4}">
                  <adec:decorative xmlns:adec="http://schemas.microsoft.com/office/drawing/2017/decorative" val="1"/>
                </a:ext>
              </a:extLst>
            </p:cNvPr>
            <p:cNvGrpSpPr/>
            <p:nvPr/>
          </p:nvGrpSpPr>
          <p:grpSpPr>
            <a:xfrm>
              <a:off x="4363653" y="1784207"/>
              <a:ext cx="2622327" cy="2060471"/>
              <a:chOff x="371750" y="2592797"/>
              <a:chExt cx="2622528" cy="2060471"/>
            </a:xfrm>
          </p:grpSpPr>
          <p:sp>
            <p:nvSpPr>
              <p:cNvPr id="50" name="Rectangle 49">
                <a:extLst>
                  <a:ext uri="{FF2B5EF4-FFF2-40B4-BE49-F238E27FC236}">
                    <a16:creationId xmlns:a16="http://schemas.microsoft.com/office/drawing/2014/main" id="{637AA9A1-225F-40BB-9F93-0BD3821FC054}"/>
                  </a:ext>
                </a:extLst>
              </p:cNvPr>
              <p:cNvSpPr/>
              <p:nvPr/>
            </p:nvSpPr>
            <p:spPr bwMode="auto">
              <a:xfrm>
                <a:off x="371750" y="2592797"/>
                <a:ext cx="2622528" cy="2060471"/>
              </a:xfrm>
              <a:prstGeom prst="rect">
                <a:avLst/>
              </a:prstGeom>
              <a:solidFill>
                <a:schemeClr val="bg1"/>
              </a:solidFill>
              <a:ln w="9525" cap="flat" cmpd="sng" algn="ctr">
                <a:noFill/>
                <a:prstDash val="solid"/>
              </a:ln>
              <a:effectLst>
                <a:outerShdw blurRad="127000" dist="38100" dir="2700000" algn="ctr" rotWithShape="0">
                  <a:prstClr val="black">
                    <a:alpha val="30000"/>
                  </a:prstClr>
                </a:outerShdw>
              </a:effectLst>
            </p:spPr>
            <p:txBody>
              <a:bodyPr rot="0" spcFirstLastPara="0" vertOverflow="overflow" horzOverflow="overflow" vert="horz" wrap="square" lIns="182880" tIns="640080" rIns="182880" bIns="146304"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Optimize</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Remove</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Right-size</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Reservation</a:t>
                </a:r>
              </a:p>
            </p:txBody>
          </p:sp>
          <p:sp>
            <p:nvSpPr>
              <p:cNvPr id="51" name="Rectangle 50">
                <a:extLst>
                  <a:ext uri="{FF2B5EF4-FFF2-40B4-BE49-F238E27FC236}">
                    <a16:creationId xmlns:a16="http://schemas.microsoft.com/office/drawing/2014/main" id="{6AC0FC74-A5D9-42B2-9772-084255C1E6F4}"/>
                  </a:ext>
                </a:extLst>
              </p:cNvPr>
              <p:cNvSpPr/>
              <p:nvPr/>
            </p:nvSpPr>
            <p:spPr bwMode="auto">
              <a:xfrm>
                <a:off x="371750" y="2592797"/>
                <a:ext cx="2622528" cy="456663"/>
              </a:xfrm>
              <a:prstGeom prst="rect">
                <a:avLst/>
              </a:prstGeom>
              <a:solidFill>
                <a:schemeClr val="bg2">
                  <a:lumMod val="9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Semibold"/>
                    <a:ea typeface="+mn-ea"/>
                    <a:cs typeface="Segoe UI" pitchFamily="34" charset="0"/>
                  </a:rPr>
                  <a:t>Cost Optimization</a:t>
                </a:r>
              </a:p>
            </p:txBody>
          </p:sp>
        </p:grpSp>
        <p:grpSp>
          <p:nvGrpSpPr>
            <p:cNvPr id="52" name="Group 51">
              <a:extLst>
                <a:ext uri="{FF2B5EF4-FFF2-40B4-BE49-F238E27FC236}">
                  <a16:creationId xmlns:a16="http://schemas.microsoft.com/office/drawing/2014/main" id="{76C66073-CD9D-444F-8FEC-3C1220BBD8BF}"/>
                </a:ext>
                <a:ext uri="{C183D7F6-B498-43B3-948B-1728B52AA6E4}">
                  <adec:decorative xmlns:adec="http://schemas.microsoft.com/office/drawing/2017/decorative" val="1"/>
                </a:ext>
              </a:extLst>
            </p:cNvPr>
            <p:cNvGrpSpPr/>
            <p:nvPr/>
          </p:nvGrpSpPr>
          <p:grpSpPr>
            <a:xfrm>
              <a:off x="4363653" y="4093464"/>
              <a:ext cx="2622327" cy="2192443"/>
              <a:chOff x="371750" y="2592797"/>
              <a:chExt cx="2622528" cy="2192443"/>
            </a:xfrm>
          </p:grpSpPr>
          <p:sp>
            <p:nvSpPr>
              <p:cNvPr id="53" name="Rectangle 52">
                <a:extLst>
                  <a:ext uri="{FF2B5EF4-FFF2-40B4-BE49-F238E27FC236}">
                    <a16:creationId xmlns:a16="http://schemas.microsoft.com/office/drawing/2014/main" id="{7BD5EAAE-1298-45A8-A4F0-12745907AF21}"/>
                  </a:ext>
                </a:extLst>
              </p:cNvPr>
              <p:cNvSpPr/>
              <p:nvPr/>
            </p:nvSpPr>
            <p:spPr bwMode="auto">
              <a:xfrm>
                <a:off x="371750" y="2592797"/>
                <a:ext cx="2622528" cy="2192443"/>
              </a:xfrm>
              <a:prstGeom prst="rect">
                <a:avLst/>
              </a:prstGeom>
              <a:solidFill>
                <a:schemeClr val="bg1"/>
              </a:solidFill>
              <a:ln w="9525" cap="flat" cmpd="sng" algn="ctr">
                <a:noFill/>
                <a:prstDash val="solid"/>
              </a:ln>
              <a:effectLst>
                <a:outerShdw blurRad="127000" dist="38100" dir="2700000" algn="ctr" rotWithShape="0">
                  <a:prstClr val="black">
                    <a:alpha val="30000"/>
                  </a:prstClr>
                </a:outerShdw>
              </a:effectLst>
            </p:spPr>
            <p:txBody>
              <a:bodyPr rot="0" spcFirstLastPara="0" vertOverflow="overflow" horzOverflow="overflow" vert="horz" wrap="square" lIns="182880" tIns="640080" rIns="182880" bIns="146304"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lt"/>
                    <a:cs typeface="Calibri" panose="020F0502020204030204"/>
                  </a:rPr>
                  <a:t>Control and governance</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lt"/>
                    <a:cs typeface="Calibri" panose="020F0502020204030204"/>
                  </a:rPr>
                  <a:t>Best practice</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lt"/>
                    <a:cs typeface="Calibri" panose="020F0502020204030204"/>
                  </a:rPr>
                  <a:t>Shared Responsibility</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lt"/>
                    <a:cs typeface="Calibri" panose="020F0502020204030204"/>
                  </a:rPr>
                  <a:t>Azure Native tools</a:t>
                </a:r>
              </a:p>
            </p:txBody>
          </p:sp>
          <p:sp>
            <p:nvSpPr>
              <p:cNvPr id="54" name="Rectangle 53">
                <a:extLst>
                  <a:ext uri="{FF2B5EF4-FFF2-40B4-BE49-F238E27FC236}">
                    <a16:creationId xmlns:a16="http://schemas.microsoft.com/office/drawing/2014/main" id="{DA372D9C-7F37-430F-A7A3-7B40BFD3A385}"/>
                  </a:ext>
                </a:extLst>
              </p:cNvPr>
              <p:cNvSpPr/>
              <p:nvPr/>
            </p:nvSpPr>
            <p:spPr bwMode="auto">
              <a:xfrm>
                <a:off x="371750" y="2592797"/>
                <a:ext cx="2622528" cy="456663"/>
              </a:xfrm>
              <a:prstGeom prst="rect">
                <a:avLst/>
              </a:prstGeom>
              <a:solidFill>
                <a:schemeClr val="bg2">
                  <a:lumMod val="9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Semibold"/>
                    <a:ea typeface="+mn-ea"/>
                    <a:cs typeface="Segoe UI" pitchFamily="34" charset="0"/>
                  </a:rPr>
                  <a:t>Financial Governance</a:t>
                </a:r>
              </a:p>
            </p:txBody>
          </p:sp>
        </p:grpSp>
        <p:sp>
          <p:nvSpPr>
            <p:cNvPr id="67" name="Rectangle 66">
              <a:extLst>
                <a:ext uri="{FF2B5EF4-FFF2-40B4-BE49-F238E27FC236}">
                  <a16:creationId xmlns:a16="http://schemas.microsoft.com/office/drawing/2014/main" id="{C57880B2-D3E2-488D-A6EA-680DF0A5BD47}"/>
                </a:ext>
              </a:extLst>
            </p:cNvPr>
            <p:cNvSpPr/>
            <p:nvPr/>
          </p:nvSpPr>
          <p:spPr bwMode="auto">
            <a:xfrm>
              <a:off x="4363325" y="1154606"/>
              <a:ext cx="2622982" cy="456663"/>
            </a:xfrm>
            <a:prstGeom prst="rect">
              <a:avLst/>
            </a:prstGeom>
            <a:solidFill>
              <a:schemeClr val="accent1"/>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FFFFFF"/>
                  </a:solidFill>
                  <a:effectLst/>
                  <a:uLnTx/>
                  <a:uFillTx/>
                  <a:latin typeface="Segoe UI Semibold"/>
                  <a:ea typeface="Segoe UI" pitchFamily="34" charset="0"/>
                  <a:cs typeface="Segoe UI" pitchFamily="34" charset="0"/>
                </a:rPr>
                <a:t>Optimize</a:t>
              </a:r>
            </a:p>
          </p:txBody>
        </p:sp>
        <p:cxnSp>
          <p:nvCxnSpPr>
            <p:cNvPr id="48" name="Straight Connector 47">
              <a:extLst>
                <a:ext uri="{FF2B5EF4-FFF2-40B4-BE49-F238E27FC236}">
                  <a16:creationId xmlns:a16="http://schemas.microsoft.com/office/drawing/2014/main" id="{C566B06A-F3A3-43E2-ADAC-EB6883CF308B}"/>
                </a:ext>
                <a:ext uri="{C183D7F6-B498-43B3-948B-1728B52AA6E4}">
                  <adec:decorative xmlns:adec="http://schemas.microsoft.com/office/drawing/2017/decorative" val="1"/>
                </a:ext>
              </a:extLst>
            </p:cNvPr>
            <p:cNvCxnSpPr>
              <a:cxnSpLocks/>
            </p:cNvCxnSpPr>
            <p:nvPr/>
          </p:nvCxnSpPr>
          <p:spPr>
            <a:xfrm>
              <a:off x="5674816" y="3861190"/>
              <a:ext cx="0" cy="248786"/>
            </a:xfrm>
            <a:prstGeom prst="line">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cxnSp>
      </p:grpSp>
      <p:grpSp>
        <p:nvGrpSpPr>
          <p:cNvPr id="5" name="Group 4">
            <a:extLst>
              <a:ext uri="{FF2B5EF4-FFF2-40B4-BE49-F238E27FC236}">
                <a16:creationId xmlns:a16="http://schemas.microsoft.com/office/drawing/2014/main" id="{AD5ED796-4C7B-4CDF-AC7C-DC58B17B7D53}"/>
              </a:ext>
            </a:extLst>
          </p:cNvPr>
          <p:cNvGrpSpPr/>
          <p:nvPr/>
        </p:nvGrpSpPr>
        <p:grpSpPr>
          <a:xfrm>
            <a:off x="7729979" y="1154606"/>
            <a:ext cx="2622982" cy="5131301"/>
            <a:chOff x="7729979" y="1154606"/>
            <a:chExt cx="2622982" cy="5131301"/>
          </a:xfrm>
        </p:grpSpPr>
        <p:grpSp>
          <p:nvGrpSpPr>
            <p:cNvPr id="40" name="Group 39">
              <a:extLst>
                <a:ext uri="{FF2B5EF4-FFF2-40B4-BE49-F238E27FC236}">
                  <a16:creationId xmlns:a16="http://schemas.microsoft.com/office/drawing/2014/main" id="{9824216F-4211-4E05-986E-EF8D7E887503}"/>
                </a:ext>
                <a:ext uri="{C183D7F6-B498-43B3-948B-1728B52AA6E4}">
                  <adec:decorative xmlns:adec="http://schemas.microsoft.com/office/drawing/2017/decorative" val="1"/>
                </a:ext>
              </a:extLst>
            </p:cNvPr>
            <p:cNvGrpSpPr/>
            <p:nvPr/>
          </p:nvGrpSpPr>
          <p:grpSpPr>
            <a:xfrm>
              <a:off x="7730307" y="1784207"/>
              <a:ext cx="2622327" cy="2060471"/>
              <a:chOff x="371750" y="2592797"/>
              <a:chExt cx="2622528" cy="2060471"/>
            </a:xfrm>
          </p:grpSpPr>
          <p:sp>
            <p:nvSpPr>
              <p:cNvPr id="41" name="Rectangle 40">
                <a:extLst>
                  <a:ext uri="{FF2B5EF4-FFF2-40B4-BE49-F238E27FC236}">
                    <a16:creationId xmlns:a16="http://schemas.microsoft.com/office/drawing/2014/main" id="{AAD7A008-6340-4CE5-B402-B9D744C0B76D}"/>
                  </a:ext>
                </a:extLst>
              </p:cNvPr>
              <p:cNvSpPr/>
              <p:nvPr/>
            </p:nvSpPr>
            <p:spPr bwMode="auto">
              <a:xfrm>
                <a:off x="371750" y="2592797"/>
                <a:ext cx="2622528" cy="2060471"/>
              </a:xfrm>
              <a:prstGeom prst="rect">
                <a:avLst/>
              </a:prstGeom>
              <a:solidFill>
                <a:schemeClr val="bg1"/>
              </a:solidFill>
              <a:ln w="9525" cap="flat" cmpd="sng" algn="ctr">
                <a:noFill/>
                <a:prstDash val="solid"/>
              </a:ln>
              <a:effectLst>
                <a:outerShdw blurRad="127000" dist="38100" dir="2700000" algn="ctr" rotWithShape="0">
                  <a:prstClr val="black">
                    <a:alpha val="30000"/>
                  </a:prstClr>
                </a:outerShdw>
              </a:effectLst>
            </p:spPr>
            <p:txBody>
              <a:bodyPr rot="0" spcFirstLastPara="0" vertOverflow="overflow" horzOverflow="overflow" vert="horz" wrap="square" lIns="182880" tIns="64008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Segoe UI"/>
                    <a:ea typeface="+mn-ea"/>
                    <a:cs typeface="Segoe UI" pitchFamily="34" charset="0"/>
                  </a:rPr>
                  <a:t>Metrics and Reporting</a:t>
                </a:r>
                <a:endPar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endParaRPr>
              </a:p>
              <a:p>
                <a:pPr marL="0" marR="0" lvl="0" indent="0" algn="ctr" defTabSz="914367" rtl="0" eaLnBrk="1" fontAlgn="auto" latinLnBrk="0" hangingPunct="1">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Performance and Efficiency</a:t>
                </a:r>
              </a:p>
              <a:p>
                <a:pPr marL="0" marR="0" lvl="0" indent="0" algn="ctr" defTabSz="914367" rtl="0" eaLnBrk="1" fontAlgn="auto" latinLnBrk="0" hangingPunct="1">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rPr>
                  <a:t>Monitoring</a:t>
                </a:r>
              </a:p>
              <a:p>
                <a:pPr marL="0" marR="0" lvl="0" indent="0" algn="ctr" defTabSz="914367" rtl="0" eaLnBrk="1" fontAlgn="auto" latinLnBrk="0" hangingPunct="1">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lt"/>
                    <a:cs typeface="Calibri" panose="020F0502020204030204"/>
                  </a:rPr>
                  <a:t>Real-time Cost data</a:t>
                </a:r>
                <a:endPar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endParaRPr>
              </a:p>
              <a:p>
                <a:pPr marL="0" marR="0" lvl="0" indent="0" algn="ctr" defTabSz="914367" rtl="0" eaLnBrk="1" fontAlgn="auto" latinLnBrk="0" hangingPunct="1">
                  <a:lnSpc>
                    <a:spcPct val="100000"/>
                  </a:lnSpc>
                  <a:spcBef>
                    <a:spcPts val="600"/>
                  </a:spcBef>
                  <a:spcAft>
                    <a:spcPts val="60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Segoe UI"/>
                  <a:ea typeface="+mn-lt"/>
                  <a:cs typeface="Calibri" panose="020F0502020204030204"/>
                </a:endParaRPr>
              </a:p>
            </p:txBody>
          </p:sp>
          <p:sp>
            <p:nvSpPr>
              <p:cNvPr id="64" name="Rectangle 63">
                <a:extLst>
                  <a:ext uri="{FF2B5EF4-FFF2-40B4-BE49-F238E27FC236}">
                    <a16:creationId xmlns:a16="http://schemas.microsoft.com/office/drawing/2014/main" id="{93CB6A20-6B8C-4F97-8D73-303F5271CAC2}"/>
                  </a:ext>
                </a:extLst>
              </p:cNvPr>
              <p:cNvSpPr/>
              <p:nvPr/>
            </p:nvSpPr>
            <p:spPr bwMode="auto">
              <a:xfrm>
                <a:off x="371750" y="2592797"/>
                <a:ext cx="2622528" cy="456663"/>
              </a:xfrm>
              <a:prstGeom prst="rect">
                <a:avLst/>
              </a:prstGeom>
              <a:solidFill>
                <a:schemeClr val="bg2">
                  <a:lumMod val="9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Semibold"/>
                    <a:ea typeface="+mn-ea"/>
                    <a:cs typeface="Segoe UI" pitchFamily="34" charset="0"/>
                  </a:rPr>
                  <a:t>Visibility</a:t>
                </a:r>
              </a:p>
            </p:txBody>
          </p:sp>
        </p:grpSp>
        <p:grpSp>
          <p:nvGrpSpPr>
            <p:cNvPr id="65" name="Group 64">
              <a:extLst>
                <a:ext uri="{FF2B5EF4-FFF2-40B4-BE49-F238E27FC236}">
                  <a16:creationId xmlns:a16="http://schemas.microsoft.com/office/drawing/2014/main" id="{16D67040-0041-4035-85FE-D762A3B9B89C}"/>
                </a:ext>
                <a:ext uri="{C183D7F6-B498-43B3-948B-1728B52AA6E4}">
                  <adec:decorative xmlns:adec="http://schemas.microsoft.com/office/drawing/2017/decorative" val="1"/>
                </a:ext>
              </a:extLst>
            </p:cNvPr>
            <p:cNvGrpSpPr/>
            <p:nvPr/>
          </p:nvGrpSpPr>
          <p:grpSpPr>
            <a:xfrm>
              <a:off x="7730307" y="4093464"/>
              <a:ext cx="2622327" cy="2192443"/>
              <a:chOff x="371750" y="2592797"/>
              <a:chExt cx="2622528" cy="2192443"/>
            </a:xfrm>
          </p:grpSpPr>
          <p:sp>
            <p:nvSpPr>
              <p:cNvPr id="69" name="Rectangle 68">
                <a:extLst>
                  <a:ext uri="{FF2B5EF4-FFF2-40B4-BE49-F238E27FC236}">
                    <a16:creationId xmlns:a16="http://schemas.microsoft.com/office/drawing/2014/main" id="{BE07A309-0197-4AAE-96E5-0AB7729DA2FA}"/>
                  </a:ext>
                </a:extLst>
              </p:cNvPr>
              <p:cNvSpPr/>
              <p:nvPr/>
            </p:nvSpPr>
            <p:spPr bwMode="auto">
              <a:xfrm>
                <a:off x="371750" y="2592797"/>
                <a:ext cx="2622528" cy="2192443"/>
              </a:xfrm>
              <a:prstGeom prst="rect">
                <a:avLst/>
              </a:prstGeom>
              <a:solidFill>
                <a:schemeClr val="bg1"/>
              </a:solidFill>
              <a:ln w="9525" cap="flat" cmpd="sng" algn="ctr">
                <a:noFill/>
                <a:prstDash val="solid"/>
              </a:ln>
              <a:effectLst>
                <a:outerShdw blurRad="127000" dist="38100" dir="2700000" algn="ctr" rotWithShape="0">
                  <a:prstClr val="black">
                    <a:alpha val="30000"/>
                  </a:prstClr>
                </a:outerShdw>
              </a:effectLst>
            </p:spPr>
            <p:txBody>
              <a:bodyPr rot="0" spcFirstLastPara="0" vertOverflow="overflow" horzOverflow="overflow" vert="horz" wrap="square" lIns="182880" tIns="640080" rIns="182880" bIns="146304"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lt"/>
                    <a:cs typeface="Calibri" panose="020F0502020204030204"/>
                  </a:rPr>
                  <a:t>Data analytics</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lt"/>
                    <a:cs typeface="Calibri" panose="020F0502020204030204"/>
                  </a:rPr>
                  <a:t>Improve and automate</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lt"/>
                    <a:cs typeface="Calibri" panose="020F0502020204030204"/>
                  </a:rPr>
                  <a:t>Value realization</a:t>
                </a:r>
              </a:p>
              <a:p>
                <a:pPr marL="0" marR="0" lvl="0" indent="0" algn="ctr" defTabSz="914367"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lt"/>
                    <a:cs typeface="Calibri" panose="020F0502020204030204"/>
                  </a:rPr>
                  <a:t>Educate </a:t>
                </a:r>
              </a:p>
            </p:txBody>
          </p:sp>
          <p:sp>
            <p:nvSpPr>
              <p:cNvPr id="73" name="Rectangle 72">
                <a:extLst>
                  <a:ext uri="{FF2B5EF4-FFF2-40B4-BE49-F238E27FC236}">
                    <a16:creationId xmlns:a16="http://schemas.microsoft.com/office/drawing/2014/main" id="{2E58E5F9-8031-48FE-85FE-CB7B0B0951ED}"/>
                  </a:ext>
                </a:extLst>
              </p:cNvPr>
              <p:cNvSpPr/>
              <p:nvPr/>
            </p:nvSpPr>
            <p:spPr bwMode="auto">
              <a:xfrm>
                <a:off x="371750" y="2592797"/>
                <a:ext cx="2622528" cy="456663"/>
              </a:xfrm>
              <a:prstGeom prst="rect">
                <a:avLst/>
              </a:prstGeom>
              <a:solidFill>
                <a:schemeClr val="bg2">
                  <a:lumMod val="9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egoe UI Semibold"/>
                    <a:ea typeface="+mn-ea"/>
                    <a:cs typeface="Segoe UI" pitchFamily="34" charset="0"/>
                  </a:rPr>
                  <a:t>Continous Integration</a:t>
                </a:r>
              </a:p>
            </p:txBody>
          </p:sp>
        </p:grpSp>
        <p:sp>
          <p:nvSpPr>
            <p:cNvPr id="74" name="Rectangle 73">
              <a:extLst>
                <a:ext uri="{FF2B5EF4-FFF2-40B4-BE49-F238E27FC236}">
                  <a16:creationId xmlns:a16="http://schemas.microsoft.com/office/drawing/2014/main" id="{FD4EB685-1DEA-4357-9B41-30725403EB0E}"/>
                </a:ext>
              </a:extLst>
            </p:cNvPr>
            <p:cNvSpPr/>
            <p:nvPr/>
          </p:nvSpPr>
          <p:spPr bwMode="auto">
            <a:xfrm>
              <a:off x="7729979" y="1154606"/>
              <a:ext cx="2622982" cy="456663"/>
            </a:xfrm>
            <a:prstGeom prst="rect">
              <a:avLst/>
            </a:prstGeom>
            <a:solidFill>
              <a:schemeClr val="accent1"/>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FFFFFF"/>
                  </a:solidFill>
                  <a:effectLst/>
                  <a:uLnTx/>
                  <a:uFillTx/>
                  <a:latin typeface="Segoe UI Semibold"/>
                  <a:ea typeface="Segoe UI" pitchFamily="34" charset="0"/>
                  <a:cs typeface="Segoe UI" pitchFamily="34" charset="0"/>
                </a:rPr>
                <a:t>Operate</a:t>
              </a:r>
            </a:p>
          </p:txBody>
        </p:sp>
        <p:cxnSp>
          <p:nvCxnSpPr>
            <p:cNvPr id="2" name="Straight Connector 1">
              <a:extLst>
                <a:ext uri="{FF2B5EF4-FFF2-40B4-BE49-F238E27FC236}">
                  <a16:creationId xmlns:a16="http://schemas.microsoft.com/office/drawing/2014/main" id="{EF6026E4-8A97-4245-A4C3-AF19C1046B78}"/>
                </a:ext>
                <a:ext uri="{C183D7F6-B498-43B3-948B-1728B52AA6E4}">
                  <adec:decorative xmlns:adec="http://schemas.microsoft.com/office/drawing/2017/decorative" val="1"/>
                </a:ext>
              </a:extLst>
            </p:cNvPr>
            <p:cNvCxnSpPr>
              <a:cxnSpLocks/>
            </p:cNvCxnSpPr>
            <p:nvPr/>
          </p:nvCxnSpPr>
          <p:spPr>
            <a:xfrm>
              <a:off x="9032234" y="3861190"/>
              <a:ext cx="0" cy="248786"/>
            </a:xfrm>
            <a:prstGeom prst="line">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cxnSp>
      </p:grpSp>
      <p:pic>
        <p:nvPicPr>
          <p:cNvPr id="9" name="Picture 2" descr="Microsoft Azure - Apps on Google Play">
            <a:extLst>
              <a:ext uri="{FF2B5EF4-FFF2-40B4-BE49-F238E27FC236}">
                <a16:creationId xmlns:a16="http://schemas.microsoft.com/office/drawing/2014/main" id="{6BD2C9F6-640C-41C9-8886-4D1D8F9714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7235" y="291504"/>
            <a:ext cx="659005" cy="65900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782689A2-309C-47E9-A2C0-5E7822D2F18A}"/>
              </a:ext>
            </a:extLst>
          </p:cNvPr>
          <p:cNvSpPr/>
          <p:nvPr/>
        </p:nvSpPr>
        <p:spPr>
          <a:xfrm>
            <a:off x="1181100" y="1047750"/>
            <a:ext cx="9296400" cy="5403850"/>
          </a:xfrm>
          <a:prstGeom prst="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619033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 name="Group 143">
            <a:extLst>
              <a:ext uri="{FF2B5EF4-FFF2-40B4-BE49-F238E27FC236}">
                <a16:creationId xmlns:a16="http://schemas.microsoft.com/office/drawing/2014/main" id="{64CCC74D-3F8B-4C02-B5C4-23071B854186}"/>
              </a:ext>
              <a:ext uri="{C183D7F6-B498-43B3-948B-1728B52AA6E4}">
                <adec:decorative xmlns:adec="http://schemas.microsoft.com/office/drawing/2017/decorative" val="1"/>
              </a:ext>
            </a:extLst>
          </p:cNvPr>
          <p:cNvGrpSpPr/>
          <p:nvPr/>
        </p:nvGrpSpPr>
        <p:grpSpPr>
          <a:xfrm>
            <a:off x="365129" y="2187819"/>
            <a:ext cx="11369670" cy="3864891"/>
            <a:chOff x="365129" y="2102758"/>
            <a:chExt cx="11369670" cy="3864891"/>
          </a:xfrm>
        </p:grpSpPr>
        <p:sp>
          <p:nvSpPr>
            <p:cNvPr id="66" name="Rectangle 65">
              <a:extLst>
                <a:ext uri="{FF2B5EF4-FFF2-40B4-BE49-F238E27FC236}">
                  <a16:creationId xmlns:a16="http://schemas.microsoft.com/office/drawing/2014/main" id="{AD8C749F-0967-41C9-B25F-0FE6E97DF5CC}"/>
                </a:ext>
              </a:extLst>
            </p:cNvPr>
            <p:cNvSpPr/>
            <p:nvPr/>
          </p:nvSpPr>
          <p:spPr bwMode="auto">
            <a:xfrm>
              <a:off x="371750" y="2507736"/>
              <a:ext cx="2622528" cy="3044656"/>
            </a:xfrm>
            <a:prstGeom prst="rect">
              <a:avLst/>
            </a:prstGeom>
            <a:solidFill>
              <a:schemeClr val="bg1"/>
            </a:solidFill>
            <a:ln w="9525" cap="flat" cmpd="sng" algn="ctr">
              <a:noFill/>
              <a:prstDash val="solid"/>
            </a:ln>
            <a:effectLst>
              <a:outerShdw blurRad="127000" algn="ctr" rotWithShape="0">
                <a:prstClr val="black">
                  <a:alpha val="3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7" name="Rectangle 66">
              <a:extLst>
                <a:ext uri="{FF2B5EF4-FFF2-40B4-BE49-F238E27FC236}">
                  <a16:creationId xmlns:a16="http://schemas.microsoft.com/office/drawing/2014/main" id="{9C94E099-4CAB-413B-BA40-AAAF45F64FF6}"/>
                </a:ext>
              </a:extLst>
            </p:cNvPr>
            <p:cNvSpPr/>
            <p:nvPr/>
          </p:nvSpPr>
          <p:spPr bwMode="auto">
            <a:xfrm>
              <a:off x="371750" y="2507736"/>
              <a:ext cx="2622528" cy="456663"/>
            </a:xfrm>
            <a:prstGeom prst="rect">
              <a:avLst/>
            </a:prstGeom>
            <a:solidFill>
              <a:schemeClr val="accent1"/>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Segoe UI"/>
                  <a:ea typeface="Segoe UI" pitchFamily="34" charset="0"/>
                  <a:cs typeface="Segoe UI" pitchFamily="34" charset="0"/>
                </a:rPr>
                <a:t>  </a:t>
              </a:r>
              <a:r>
                <a:rPr kumimoji="0" lang="en-US" sz="16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Strategic</a:t>
              </a:r>
            </a:p>
          </p:txBody>
        </p:sp>
        <p:sp>
          <p:nvSpPr>
            <p:cNvPr id="64" name="Rectangle 63">
              <a:extLst>
                <a:ext uri="{FF2B5EF4-FFF2-40B4-BE49-F238E27FC236}">
                  <a16:creationId xmlns:a16="http://schemas.microsoft.com/office/drawing/2014/main" id="{60E59CA9-C2B6-4DC3-A12B-D7C843FECD88}"/>
                </a:ext>
              </a:extLst>
            </p:cNvPr>
            <p:cNvSpPr/>
            <p:nvPr/>
          </p:nvSpPr>
          <p:spPr bwMode="auto">
            <a:xfrm>
              <a:off x="3278570" y="2507736"/>
              <a:ext cx="5538845" cy="3044656"/>
            </a:xfrm>
            <a:prstGeom prst="rect">
              <a:avLst/>
            </a:prstGeom>
            <a:solidFill>
              <a:schemeClr val="bg1"/>
            </a:solidFill>
            <a:ln w="9525" cap="flat" cmpd="sng" algn="ctr">
              <a:noFill/>
              <a:prstDash val="solid"/>
            </a:ln>
            <a:effectLst>
              <a:outerShdw blurRad="127000" algn="ctr" rotWithShape="0">
                <a:prstClr val="black">
                  <a:alpha val="3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65" name="Rectangle 64">
              <a:extLst>
                <a:ext uri="{FF2B5EF4-FFF2-40B4-BE49-F238E27FC236}">
                  <a16:creationId xmlns:a16="http://schemas.microsoft.com/office/drawing/2014/main" id="{C397D4B7-1241-45C9-AE4D-4EF3F5D46ADC}"/>
                </a:ext>
              </a:extLst>
            </p:cNvPr>
            <p:cNvSpPr/>
            <p:nvPr/>
          </p:nvSpPr>
          <p:spPr bwMode="auto">
            <a:xfrm>
              <a:off x="3278570" y="2507736"/>
              <a:ext cx="5538845" cy="454037"/>
            </a:xfrm>
            <a:prstGeom prst="rect">
              <a:avLst/>
            </a:prstGeom>
            <a:solidFill>
              <a:schemeClr val="accent1"/>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Operational</a:t>
              </a:r>
            </a:p>
          </p:txBody>
        </p:sp>
        <p:sp>
          <p:nvSpPr>
            <p:cNvPr id="62" name="Rectangle: Rounded Corners 33">
              <a:extLst>
                <a:ext uri="{FF2B5EF4-FFF2-40B4-BE49-F238E27FC236}">
                  <a16:creationId xmlns:a16="http://schemas.microsoft.com/office/drawing/2014/main" id="{D4907BF8-C78E-403E-95A6-C0237F2084D4}"/>
                </a:ext>
              </a:extLst>
            </p:cNvPr>
            <p:cNvSpPr/>
            <p:nvPr/>
          </p:nvSpPr>
          <p:spPr bwMode="auto">
            <a:xfrm>
              <a:off x="9068996" y="2507736"/>
              <a:ext cx="2622528" cy="3051689"/>
            </a:xfrm>
            <a:prstGeom prst="rect">
              <a:avLst/>
            </a:prstGeom>
            <a:solidFill>
              <a:schemeClr val="bg1"/>
            </a:solidFill>
            <a:ln w="9525" cap="flat" cmpd="sng" algn="ctr">
              <a:noFill/>
              <a:prstDash val="solid"/>
            </a:ln>
            <a:effectLst>
              <a:outerShdw blurRad="127000" algn="ctr" rotWithShape="0">
                <a:prstClr val="black">
                  <a:alpha val="3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a:p>
              <a:pPr marL="0" marR="0" lvl="0" indent="0" algn="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63" name="Rectangle 62">
              <a:extLst>
                <a:ext uri="{FF2B5EF4-FFF2-40B4-BE49-F238E27FC236}">
                  <a16:creationId xmlns:a16="http://schemas.microsoft.com/office/drawing/2014/main" id="{6FCC77CF-786A-40FF-9F05-665E5E126A4B}"/>
                </a:ext>
              </a:extLst>
            </p:cNvPr>
            <p:cNvSpPr/>
            <p:nvPr/>
          </p:nvSpPr>
          <p:spPr bwMode="auto">
            <a:xfrm>
              <a:off x="9068996" y="2507736"/>
              <a:ext cx="2622528" cy="457385"/>
            </a:xfrm>
            <a:prstGeom prst="rect">
              <a:avLst/>
            </a:prstGeom>
            <a:solidFill>
              <a:schemeClr val="accent1"/>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Segoe UI"/>
                  <a:ea typeface="Segoe UI" pitchFamily="34" charset="0"/>
                  <a:cs typeface="Segoe UI" pitchFamily="34" charset="0"/>
                </a:rPr>
                <a:t> </a:t>
              </a:r>
              <a:r>
                <a:rPr kumimoji="0" lang="en-US" sz="16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Tactical</a:t>
              </a:r>
            </a:p>
          </p:txBody>
        </p:sp>
        <p:sp>
          <p:nvSpPr>
            <p:cNvPr id="7" name="Rectangle 6">
              <a:extLst>
                <a:ext uri="{FF2B5EF4-FFF2-40B4-BE49-F238E27FC236}">
                  <a16:creationId xmlns:a16="http://schemas.microsoft.com/office/drawing/2014/main" id="{A0B1E0A7-D407-40B4-9FA8-028F103048FD}"/>
                </a:ext>
              </a:extLst>
            </p:cNvPr>
            <p:cNvSpPr/>
            <p:nvPr/>
          </p:nvSpPr>
          <p:spPr bwMode="auto">
            <a:xfrm>
              <a:off x="871966" y="3698669"/>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Cloud Governance</a:t>
              </a:r>
            </a:p>
          </p:txBody>
        </p:sp>
        <p:sp>
          <p:nvSpPr>
            <p:cNvPr id="8" name="Rectangle 7">
              <a:extLst>
                <a:ext uri="{FF2B5EF4-FFF2-40B4-BE49-F238E27FC236}">
                  <a16:creationId xmlns:a16="http://schemas.microsoft.com/office/drawing/2014/main" id="{E1DC5C67-7AEA-436C-A564-8EA356039EE5}"/>
                </a:ext>
              </a:extLst>
            </p:cNvPr>
            <p:cNvSpPr/>
            <p:nvPr/>
          </p:nvSpPr>
          <p:spPr bwMode="auto">
            <a:xfrm>
              <a:off x="871966" y="4291006"/>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Segoe UI" pitchFamily="34" charset="0"/>
                  <a:cs typeface="Segoe UI" pitchFamily="34" charset="0"/>
                </a:rPr>
                <a:t>Cost Optimization</a:t>
              </a:r>
            </a:p>
          </p:txBody>
        </p:sp>
        <p:sp>
          <p:nvSpPr>
            <p:cNvPr id="9" name="Rectangle 8">
              <a:extLst>
                <a:ext uri="{FF2B5EF4-FFF2-40B4-BE49-F238E27FC236}">
                  <a16:creationId xmlns:a16="http://schemas.microsoft.com/office/drawing/2014/main" id="{7335FEDE-6785-493D-974B-DF73CE810125}"/>
                </a:ext>
              </a:extLst>
            </p:cNvPr>
            <p:cNvSpPr/>
            <p:nvPr/>
          </p:nvSpPr>
          <p:spPr bwMode="auto">
            <a:xfrm>
              <a:off x="871966" y="3082972"/>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IT and Finance Strategy</a:t>
              </a:r>
            </a:p>
          </p:txBody>
        </p:sp>
        <p:sp>
          <p:nvSpPr>
            <p:cNvPr id="10" name="Rectangle 9">
              <a:extLst>
                <a:ext uri="{FF2B5EF4-FFF2-40B4-BE49-F238E27FC236}">
                  <a16:creationId xmlns:a16="http://schemas.microsoft.com/office/drawing/2014/main" id="{C023140B-21A1-493D-AFCE-40B4F20DF4AB}"/>
                </a:ext>
              </a:extLst>
            </p:cNvPr>
            <p:cNvSpPr/>
            <p:nvPr/>
          </p:nvSpPr>
          <p:spPr bwMode="auto">
            <a:xfrm>
              <a:off x="871966" y="4883342"/>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Value Realization</a:t>
              </a:r>
            </a:p>
          </p:txBody>
        </p:sp>
        <p:sp>
          <p:nvSpPr>
            <p:cNvPr id="13" name="Rectangle 12">
              <a:extLst>
                <a:ext uri="{FF2B5EF4-FFF2-40B4-BE49-F238E27FC236}">
                  <a16:creationId xmlns:a16="http://schemas.microsoft.com/office/drawing/2014/main" id="{B81C7A4B-E0BA-4666-A425-70A5B361DD69}"/>
                </a:ext>
              </a:extLst>
            </p:cNvPr>
            <p:cNvSpPr/>
            <p:nvPr/>
          </p:nvSpPr>
          <p:spPr bwMode="auto">
            <a:xfrm>
              <a:off x="4104860" y="4292702"/>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Cost Optimization</a:t>
              </a:r>
            </a:p>
          </p:txBody>
        </p:sp>
        <p:sp>
          <p:nvSpPr>
            <p:cNvPr id="14" name="Rectangle 13">
              <a:extLst>
                <a:ext uri="{FF2B5EF4-FFF2-40B4-BE49-F238E27FC236}">
                  <a16:creationId xmlns:a16="http://schemas.microsoft.com/office/drawing/2014/main" id="{FB7B5DE3-61EA-47F3-990B-C6537B1DFA58}"/>
                </a:ext>
              </a:extLst>
            </p:cNvPr>
            <p:cNvSpPr/>
            <p:nvPr/>
          </p:nvSpPr>
          <p:spPr bwMode="auto">
            <a:xfrm>
              <a:off x="4109726" y="3082501"/>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IT Operating Model</a:t>
              </a:r>
            </a:p>
          </p:txBody>
        </p:sp>
        <p:sp>
          <p:nvSpPr>
            <p:cNvPr id="15" name="Rectangle 14">
              <a:extLst>
                <a:ext uri="{FF2B5EF4-FFF2-40B4-BE49-F238E27FC236}">
                  <a16:creationId xmlns:a16="http://schemas.microsoft.com/office/drawing/2014/main" id="{EDFEA447-D184-4BD5-8260-87284B5B2B58}"/>
                </a:ext>
              </a:extLst>
            </p:cNvPr>
            <p:cNvSpPr/>
            <p:nvPr/>
          </p:nvSpPr>
          <p:spPr bwMode="auto">
            <a:xfrm>
              <a:off x="4104861" y="3698197"/>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Security</a:t>
              </a:r>
            </a:p>
          </p:txBody>
        </p:sp>
        <p:sp>
          <p:nvSpPr>
            <p:cNvPr id="16" name="Rectangle 15">
              <a:extLst>
                <a:ext uri="{FF2B5EF4-FFF2-40B4-BE49-F238E27FC236}">
                  <a16:creationId xmlns:a16="http://schemas.microsoft.com/office/drawing/2014/main" id="{E3235166-69A0-4430-B5D6-9D5D0BE2D320}"/>
                </a:ext>
              </a:extLst>
            </p:cNvPr>
            <p:cNvSpPr/>
            <p:nvPr/>
          </p:nvSpPr>
          <p:spPr bwMode="auto">
            <a:xfrm>
              <a:off x="6365277" y="4290534"/>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Monitoring</a:t>
              </a:r>
            </a:p>
          </p:txBody>
        </p:sp>
        <p:sp>
          <p:nvSpPr>
            <p:cNvPr id="17" name="Rectangle 16">
              <a:extLst>
                <a:ext uri="{FF2B5EF4-FFF2-40B4-BE49-F238E27FC236}">
                  <a16:creationId xmlns:a16="http://schemas.microsoft.com/office/drawing/2014/main" id="{B38FDCC9-9966-4B56-B436-4C3A946FBFFC}"/>
                </a:ext>
              </a:extLst>
            </p:cNvPr>
            <p:cNvSpPr/>
            <p:nvPr/>
          </p:nvSpPr>
          <p:spPr bwMode="auto">
            <a:xfrm>
              <a:off x="4104860" y="4882871"/>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Metrics and Reporting</a:t>
              </a:r>
            </a:p>
          </p:txBody>
        </p:sp>
        <p:sp>
          <p:nvSpPr>
            <p:cNvPr id="18" name="Rectangle 17">
              <a:extLst>
                <a:ext uri="{FF2B5EF4-FFF2-40B4-BE49-F238E27FC236}">
                  <a16:creationId xmlns:a16="http://schemas.microsoft.com/office/drawing/2014/main" id="{2832501C-158C-4D75-9893-1BBE9C54B837}"/>
                </a:ext>
              </a:extLst>
            </p:cNvPr>
            <p:cNvSpPr/>
            <p:nvPr/>
          </p:nvSpPr>
          <p:spPr bwMode="auto">
            <a:xfrm>
              <a:off x="6365277" y="3698197"/>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Governance and Control</a:t>
              </a:r>
            </a:p>
          </p:txBody>
        </p:sp>
        <p:sp>
          <p:nvSpPr>
            <p:cNvPr id="19" name="Rectangle 18">
              <a:extLst>
                <a:ext uri="{FF2B5EF4-FFF2-40B4-BE49-F238E27FC236}">
                  <a16:creationId xmlns:a16="http://schemas.microsoft.com/office/drawing/2014/main" id="{A83C89CC-AE79-426C-9FD0-EC12513FD78A}"/>
                </a:ext>
              </a:extLst>
            </p:cNvPr>
            <p:cNvSpPr/>
            <p:nvPr/>
          </p:nvSpPr>
          <p:spPr bwMode="auto">
            <a:xfrm>
              <a:off x="6369028" y="4882871"/>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Improve and automate</a:t>
              </a:r>
            </a:p>
          </p:txBody>
        </p:sp>
        <p:sp>
          <p:nvSpPr>
            <p:cNvPr id="20" name="Rectangle 19">
              <a:extLst>
                <a:ext uri="{FF2B5EF4-FFF2-40B4-BE49-F238E27FC236}">
                  <a16:creationId xmlns:a16="http://schemas.microsoft.com/office/drawing/2014/main" id="{EA0BD4F8-278E-422C-85C6-BE8BA369E4DD}"/>
                </a:ext>
              </a:extLst>
            </p:cNvPr>
            <p:cNvSpPr/>
            <p:nvPr/>
          </p:nvSpPr>
          <p:spPr bwMode="auto">
            <a:xfrm>
              <a:off x="6336222" y="3081978"/>
              <a:ext cx="1622097" cy="489042"/>
            </a:xfrm>
            <a:prstGeom prst="rect">
              <a:avLst/>
            </a:prstGeom>
            <a:solidFill>
              <a:schemeClr val="bg2">
                <a:lumMod val="90000"/>
              </a:schemeClr>
            </a:solidFill>
            <a:ln w="17145"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Responsibilities and processes</a:t>
              </a:r>
            </a:p>
          </p:txBody>
        </p:sp>
        <p:sp>
          <p:nvSpPr>
            <p:cNvPr id="23" name="Rectangle 22">
              <a:extLst>
                <a:ext uri="{FF2B5EF4-FFF2-40B4-BE49-F238E27FC236}">
                  <a16:creationId xmlns:a16="http://schemas.microsoft.com/office/drawing/2014/main" id="{BF63EFF2-4BF4-4D98-968C-9E8CCB3BB29F}"/>
                </a:ext>
              </a:extLst>
            </p:cNvPr>
            <p:cNvSpPr/>
            <p:nvPr/>
          </p:nvSpPr>
          <p:spPr bwMode="auto">
            <a:xfrm>
              <a:off x="9569212" y="3094867"/>
              <a:ext cx="1622097" cy="489042"/>
            </a:xfrm>
            <a:prstGeom prst="rect">
              <a:avLst/>
            </a:prstGeom>
            <a:solidFill>
              <a:schemeClr val="bg2">
                <a:lumMod val="90000"/>
              </a:schemeClr>
            </a:solidFill>
            <a:ln w="19050"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Cloud Native Tools and Connectors</a:t>
              </a:r>
            </a:p>
          </p:txBody>
        </p:sp>
        <p:sp>
          <p:nvSpPr>
            <p:cNvPr id="24" name="Rectangle 23">
              <a:extLst>
                <a:ext uri="{FF2B5EF4-FFF2-40B4-BE49-F238E27FC236}">
                  <a16:creationId xmlns:a16="http://schemas.microsoft.com/office/drawing/2014/main" id="{791C493D-8EE1-4E85-AA2B-FB5267A15FEF}"/>
                </a:ext>
              </a:extLst>
            </p:cNvPr>
            <p:cNvSpPr/>
            <p:nvPr/>
          </p:nvSpPr>
          <p:spPr bwMode="auto">
            <a:xfrm>
              <a:off x="9569212" y="3706660"/>
              <a:ext cx="1622097" cy="489042"/>
            </a:xfrm>
            <a:prstGeom prst="rect">
              <a:avLst/>
            </a:prstGeom>
            <a:solidFill>
              <a:schemeClr val="bg2">
                <a:lumMod val="90000"/>
              </a:schemeClr>
            </a:solidFill>
            <a:ln w="19050"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Tagging Taxonomy </a:t>
              </a:r>
            </a:p>
          </p:txBody>
        </p:sp>
        <p:sp>
          <p:nvSpPr>
            <p:cNvPr id="25" name="Rectangle 24">
              <a:extLst>
                <a:ext uri="{FF2B5EF4-FFF2-40B4-BE49-F238E27FC236}">
                  <a16:creationId xmlns:a16="http://schemas.microsoft.com/office/drawing/2014/main" id="{2B53AA6E-DF12-4A44-9390-168143FF6296}"/>
                </a:ext>
              </a:extLst>
            </p:cNvPr>
            <p:cNvSpPr/>
            <p:nvPr/>
          </p:nvSpPr>
          <p:spPr bwMode="auto">
            <a:xfrm>
              <a:off x="9569212" y="4296014"/>
              <a:ext cx="1622097" cy="489042"/>
            </a:xfrm>
            <a:prstGeom prst="rect">
              <a:avLst/>
            </a:prstGeom>
            <a:solidFill>
              <a:schemeClr val="bg2">
                <a:lumMod val="90000"/>
              </a:schemeClr>
            </a:solidFill>
            <a:ln w="19050"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Infused Intelligence</a:t>
              </a:r>
            </a:p>
          </p:txBody>
        </p:sp>
        <p:sp>
          <p:nvSpPr>
            <p:cNvPr id="26" name="Rectangle 25">
              <a:extLst>
                <a:ext uri="{FF2B5EF4-FFF2-40B4-BE49-F238E27FC236}">
                  <a16:creationId xmlns:a16="http://schemas.microsoft.com/office/drawing/2014/main" id="{56B8485C-F910-4403-B53E-5151D951918C}"/>
                </a:ext>
              </a:extLst>
            </p:cNvPr>
            <p:cNvSpPr/>
            <p:nvPr/>
          </p:nvSpPr>
          <p:spPr bwMode="auto">
            <a:xfrm>
              <a:off x="9569212" y="4928262"/>
              <a:ext cx="1622097" cy="489042"/>
            </a:xfrm>
            <a:prstGeom prst="rect">
              <a:avLst/>
            </a:prstGeom>
            <a:solidFill>
              <a:schemeClr val="bg2">
                <a:lumMod val="90000"/>
              </a:schemeClr>
            </a:solidFill>
            <a:ln w="19050" cap="flat" cmpd="sng" algn="ctr">
              <a:no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a:ea typeface="+mn-ea"/>
                  <a:cs typeface="Segoe UI" pitchFamily="34" charset="0"/>
                </a:rPr>
                <a:t>Azure FinOps</a:t>
              </a:r>
            </a:p>
          </p:txBody>
        </p:sp>
        <p:sp>
          <p:nvSpPr>
            <p:cNvPr id="27" name="Left Bracket 26">
              <a:extLst>
                <a:ext uri="{FF2B5EF4-FFF2-40B4-BE49-F238E27FC236}">
                  <a16:creationId xmlns:a16="http://schemas.microsoft.com/office/drawing/2014/main" id="{47650A78-E80B-4111-9E80-C983D62A08B9}"/>
                </a:ext>
              </a:extLst>
            </p:cNvPr>
            <p:cNvSpPr/>
            <p:nvPr/>
          </p:nvSpPr>
          <p:spPr>
            <a:xfrm rot="5400000">
              <a:off x="4505037" y="-2034597"/>
              <a:ext cx="172470" cy="8452286"/>
            </a:xfrm>
            <a:prstGeom prst="leftBracket">
              <a:avLst>
                <a:gd name="adj" fmla="val 0"/>
              </a:avLst>
            </a:prstGeom>
            <a:noFill/>
            <a:ln w="19050" cap="flat" cmpd="sng" algn="ctr">
              <a:solidFill>
                <a:schemeClr val="accent1"/>
              </a:solidFill>
              <a:prstDash val="solid"/>
              <a:headEnd type="none"/>
              <a:tailEnd type="none"/>
            </a:ln>
            <a:effectLst/>
          </p:spPr>
          <p:txBody>
            <a:bodyPr vert="vert270" l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78D7"/>
                  </a:solidFill>
                  <a:effectLst/>
                  <a:uLnTx/>
                  <a:uFillTx/>
                  <a:latin typeface="Segoe UI Semibold"/>
                  <a:ea typeface="+mn-ea"/>
                  <a:cs typeface="+mn-cs"/>
                </a:rPr>
                <a:t>Governance and operations</a:t>
              </a:r>
            </a:p>
          </p:txBody>
        </p:sp>
        <p:sp>
          <p:nvSpPr>
            <p:cNvPr id="28" name="Left Bracket 27">
              <a:extLst>
                <a:ext uri="{FF2B5EF4-FFF2-40B4-BE49-F238E27FC236}">
                  <a16:creationId xmlns:a16="http://schemas.microsoft.com/office/drawing/2014/main" id="{08F1FA9D-2676-4391-A907-73DC56AE6F19}"/>
                </a:ext>
              </a:extLst>
            </p:cNvPr>
            <p:cNvSpPr/>
            <p:nvPr/>
          </p:nvSpPr>
          <p:spPr>
            <a:xfrm rot="5400000">
              <a:off x="10294024" y="834455"/>
              <a:ext cx="172472" cy="2709078"/>
            </a:xfrm>
            <a:prstGeom prst="leftBracket">
              <a:avLst>
                <a:gd name="adj" fmla="val 0"/>
              </a:avLst>
            </a:prstGeom>
            <a:noFill/>
            <a:ln w="19050" cap="flat" cmpd="sng" algn="ctr">
              <a:solidFill>
                <a:schemeClr val="accent1"/>
              </a:solidFill>
              <a:prstDash val="solid"/>
              <a:headEnd type="none"/>
              <a:tailEnd type="none"/>
            </a:ln>
            <a:effectLst/>
          </p:spPr>
          <p:txBody>
            <a:bodyPr vert="vert270" l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78D7"/>
                  </a:solidFill>
                  <a:effectLst/>
                  <a:uLnTx/>
                  <a:uFillTx/>
                  <a:latin typeface="Segoe UI Semibold"/>
                  <a:ea typeface="+mn-ea"/>
                  <a:cs typeface="+mn-cs"/>
                </a:rPr>
                <a:t>Enable and automate</a:t>
              </a:r>
            </a:p>
          </p:txBody>
        </p:sp>
        <p:sp>
          <p:nvSpPr>
            <p:cNvPr id="29" name="Left Bracket 28">
              <a:extLst>
                <a:ext uri="{FF2B5EF4-FFF2-40B4-BE49-F238E27FC236}">
                  <a16:creationId xmlns:a16="http://schemas.microsoft.com/office/drawing/2014/main" id="{7152B861-289D-48A7-B892-A588A999076E}"/>
                </a:ext>
              </a:extLst>
            </p:cNvPr>
            <p:cNvSpPr/>
            <p:nvPr/>
          </p:nvSpPr>
          <p:spPr>
            <a:xfrm rot="16200000">
              <a:off x="5923909" y="200030"/>
              <a:ext cx="208839" cy="11326400"/>
            </a:xfrm>
            <a:prstGeom prst="leftBracket">
              <a:avLst>
                <a:gd name="adj" fmla="val 0"/>
              </a:avLst>
            </a:prstGeom>
            <a:noFill/>
            <a:ln w="19050" cap="flat" cmpd="sng" algn="ctr">
              <a:solidFill>
                <a:schemeClr val="accent1"/>
              </a:solidFill>
              <a:prstDash val="solid"/>
              <a:headEnd type="none"/>
              <a:tailEnd type="none"/>
            </a:ln>
            <a:effectLst/>
          </p:spPr>
          <p:txBody>
            <a:bodyPr vert="vert" l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78D7"/>
                  </a:solidFill>
                  <a:effectLst/>
                  <a:uLnTx/>
                  <a:uFillTx/>
                  <a:latin typeface="Segoe UI Semibold"/>
                  <a:ea typeface="+mn-ea"/>
                  <a:cs typeface="+mn-cs"/>
                </a:rPr>
                <a:t>FinOps strategic management process</a:t>
              </a:r>
            </a:p>
          </p:txBody>
        </p:sp>
      </p:grpSp>
      <p:sp>
        <p:nvSpPr>
          <p:cNvPr id="71" name="Title 70">
            <a:extLst>
              <a:ext uri="{FF2B5EF4-FFF2-40B4-BE49-F238E27FC236}">
                <a16:creationId xmlns:a16="http://schemas.microsoft.com/office/drawing/2014/main" id="{D166CCDF-B121-4B06-AE04-A4E729C15A12}"/>
              </a:ext>
            </a:extLst>
          </p:cNvPr>
          <p:cNvSpPr>
            <a:spLocks noGrp="1"/>
          </p:cNvSpPr>
          <p:nvPr>
            <p:ph type="title"/>
          </p:nvPr>
        </p:nvSpPr>
        <p:spPr>
          <a:xfrm>
            <a:off x="365760" y="275076"/>
            <a:ext cx="11559320" cy="600892"/>
          </a:xfrm>
        </p:spPr>
        <p:txBody>
          <a:bodyPr/>
          <a:lstStyle/>
          <a:p>
            <a:r>
              <a:rPr lang="en-US" sz="4000" noProof="0" dirty="0"/>
              <a:t>FinOps Management Process</a:t>
            </a:r>
            <a:endParaRPr lang="en-US" sz="4000" dirty="0"/>
          </a:p>
        </p:txBody>
      </p:sp>
      <p:sp>
        <p:nvSpPr>
          <p:cNvPr id="75" name="Text Placeholder 2">
            <a:extLst>
              <a:ext uri="{FF2B5EF4-FFF2-40B4-BE49-F238E27FC236}">
                <a16:creationId xmlns:a16="http://schemas.microsoft.com/office/drawing/2014/main" id="{D7BDB278-FF55-429D-9278-EE1E0CF63BF7}"/>
              </a:ext>
            </a:extLst>
          </p:cNvPr>
          <p:cNvSpPr txBox="1">
            <a:spLocks/>
          </p:cNvSpPr>
          <p:nvPr/>
        </p:nvSpPr>
        <p:spPr>
          <a:xfrm>
            <a:off x="365125" y="1029196"/>
            <a:ext cx="11025188" cy="843821"/>
          </a:xfrm>
          <a:prstGeom prst="rect">
            <a:avLst/>
          </a:prstGeom>
        </p:spPr>
        <p:txBody>
          <a:bodyPr vert="horz" wrap="square" lIns="0" tIns="12700" rIns="0" bIns="0" rtlCol="0">
            <a:spAutoFit/>
          </a:bodyPr>
          <a:lstStyle>
            <a:defPPr>
              <a:defRPr lang="en-US"/>
            </a:defPPr>
            <a:lvl1pPr marL="12700" marR="0" lvl="0" indent="0" fontAlgn="auto">
              <a:lnSpc>
                <a:spcPct val="100000"/>
              </a:lnSpc>
              <a:spcBef>
                <a:spcPts val="100"/>
              </a:spcBef>
              <a:spcAft>
                <a:spcPts val="0"/>
              </a:spcAft>
              <a:buClrTx/>
              <a:buSzTx/>
              <a:buFontTx/>
              <a:buNone/>
              <a:tabLst/>
              <a:defRPr kumimoji="0" sz="2000" b="0" i="0" u="none" strike="noStrike" kern="0" cap="none" spc="-5" normalizeH="0" baseline="0">
                <a:ln>
                  <a:noFill/>
                </a:ln>
                <a:effectLst/>
                <a:uLnTx/>
                <a:uFillTx/>
                <a:latin typeface="Segoe UI"/>
                <a:ea typeface="+mj-ea"/>
                <a:cs typeface="Segoe UI Semibold"/>
              </a:defRPr>
            </a:lvl1pPr>
            <a:lvl2pPr marL="0" marR="0" indent="0" algn="ctr"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0" marR="0" indent="0" algn="ctr"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0" marR="0" indent="0" algn="ctr"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4pPr>
            <a:lvl5pPr marL="0" marR="0" indent="0" algn="ctr"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US" sz="1800" b="0" i="0" u="none" strike="noStrike" kern="0" cap="none" spc="-5" normalizeH="0" baseline="0" noProof="0">
                <a:ln>
                  <a:noFill/>
                </a:ln>
                <a:solidFill>
                  <a:srgbClr val="000000"/>
                </a:solidFill>
                <a:effectLst/>
                <a:uLnTx/>
                <a:uFillTx/>
                <a:latin typeface="Segoe UI"/>
                <a:ea typeface="+mj-ea"/>
                <a:cs typeface="Segoe UI Semibold"/>
              </a:rPr>
              <a:t>Every major enterprise its own set of policies, procedures, and processes for scaled IT operations. A mutually beneficial strategic cloud partnership depends on developing new governance structures and collaboratively adapting operational practices for the public cloud.</a:t>
            </a:r>
          </a:p>
        </p:txBody>
      </p:sp>
      <p:sp>
        <p:nvSpPr>
          <p:cNvPr id="2" name="TextBox 1">
            <a:extLst>
              <a:ext uri="{FF2B5EF4-FFF2-40B4-BE49-F238E27FC236}">
                <a16:creationId xmlns:a16="http://schemas.microsoft.com/office/drawing/2014/main" id="{485DAC6A-4547-406D-8A15-08F2E919FCAC}"/>
              </a:ext>
            </a:extLst>
          </p:cNvPr>
          <p:cNvSpPr txBox="1"/>
          <p:nvPr/>
        </p:nvSpPr>
        <p:spPr>
          <a:xfrm>
            <a:off x="371750" y="6073479"/>
            <a:ext cx="6094562" cy="246221"/>
          </a:xfrm>
          <a:prstGeom prst="rect">
            <a:avLst/>
          </a:prstGeom>
          <a:noFill/>
        </p:spPr>
        <p:txBody>
          <a:bodyPr wrap="square">
            <a:spAutoFit/>
          </a:bodyPr>
          <a:lstStyle>
            <a:defPPr>
              <a:defRPr lang="en-US"/>
            </a:defPPr>
            <a:lvl1pPr>
              <a:defRPr sz="9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Reference: </a:t>
            </a:r>
            <a:r>
              <a:rPr kumimoji="0" lang="en-US" sz="1000" b="0" i="0" u="none" strike="noStrike" kern="1200" cap="none" spc="0" normalizeH="0" baseline="0" noProof="0">
                <a:ln>
                  <a:noFill/>
                </a:ln>
                <a:solidFill>
                  <a:srgbClr val="000000"/>
                </a:solidFill>
                <a:effectLst/>
                <a:uLnTx/>
                <a:uFillTx/>
                <a:latin typeface="Segoe UI"/>
                <a:ea typeface="+mn-ea"/>
                <a:cs typeface="+mn-cs"/>
                <a:hlinkClick r:id="rId3"/>
              </a:rPr>
              <a:t>www.finops.org</a:t>
            </a:r>
            <a:r>
              <a:rPr kumimoji="0" lang="en-US" sz="1000" b="0" i="0" u="none" strike="noStrike" kern="1200" cap="none" spc="0" normalizeH="0" baseline="0" noProof="0">
                <a:ln>
                  <a:noFill/>
                </a:ln>
                <a:solidFill>
                  <a:srgbClr val="000000"/>
                </a:solidFill>
                <a:effectLst/>
                <a:uLnTx/>
                <a:uFillTx/>
                <a:latin typeface="Segoe UI"/>
                <a:ea typeface="+mn-ea"/>
                <a:cs typeface="+mn-cs"/>
              </a:rPr>
              <a:t>  </a:t>
            </a:r>
          </a:p>
        </p:txBody>
      </p:sp>
      <p:pic>
        <p:nvPicPr>
          <p:cNvPr id="3" name="Picture 2" descr="Microsoft Azure - Apps on Google Play">
            <a:extLst>
              <a:ext uri="{FF2B5EF4-FFF2-40B4-BE49-F238E27FC236}">
                <a16:creationId xmlns:a16="http://schemas.microsoft.com/office/drawing/2014/main" id="{7ADA264D-ECE9-47D1-9592-DF71200101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7235" y="291504"/>
            <a:ext cx="659005" cy="659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7769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500"/>
                                        <p:tgtEl>
                                          <p:spTgt spid="144"/>
                                        </p:tgtEl>
                                      </p:cBhvr>
                                    </p:animEffect>
                                  </p:childTnLst>
                                </p:cTn>
                              </p:par>
                              <p:par>
                                <p:cTn id="8" presetID="42" presetClass="path" presetSubtype="0" decel="100000" fill="hold" nodeType="withEffect">
                                  <p:stCondLst>
                                    <p:cond delay="0"/>
                                  </p:stCondLst>
                                  <p:childTnLst>
                                    <p:animMotion origin="layout" path="M 4.79167E-6 4.07407E-6 L 4.79167E-6 0.03402 " pathEditMode="relative" rAng="0" ptsTypes="AA">
                                      <p:cBhvr>
                                        <p:cTn id="9" dur="750" spd="-100000" fill="hold"/>
                                        <p:tgtEl>
                                          <p:spTgt spid="144"/>
                                        </p:tgtEl>
                                        <p:attrNameLst>
                                          <p:attrName>ppt_x</p:attrName>
                                          <p:attrName>ppt_y</p:attrName>
                                        </p:attrNameLst>
                                      </p:cBhvr>
                                      <p:rCtr x="0" y="169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5EDC201A-A9E2-4EA7-B53D-24AA6DD09BDD}"/>
              </a:ext>
            </a:extLst>
          </p:cNvPr>
          <p:cNvSpPr>
            <a:spLocks noGrp="1"/>
          </p:cNvSpPr>
          <p:nvPr>
            <p:ph type="title"/>
          </p:nvPr>
        </p:nvSpPr>
        <p:spPr/>
        <p:txBody>
          <a:bodyPr/>
          <a:lstStyle/>
          <a:p>
            <a:r>
              <a:rPr lang="en-US" sz="3600"/>
              <a:t>Microsoft provides principles, tools and billing constructs to help you manage your cost</a:t>
            </a:r>
          </a:p>
        </p:txBody>
      </p:sp>
      <p:grpSp>
        <p:nvGrpSpPr>
          <p:cNvPr id="7" name="Group 6">
            <a:extLst>
              <a:ext uri="{FF2B5EF4-FFF2-40B4-BE49-F238E27FC236}">
                <a16:creationId xmlns:a16="http://schemas.microsoft.com/office/drawing/2014/main" id="{A1B57315-2448-46BB-9755-D90892E36BE2}"/>
              </a:ext>
              <a:ext uri="{C183D7F6-B498-43B3-948B-1728B52AA6E4}">
                <adec:decorative xmlns:adec="http://schemas.microsoft.com/office/drawing/2017/decorative" val="1"/>
              </a:ext>
            </a:extLst>
          </p:cNvPr>
          <p:cNvGrpSpPr/>
          <p:nvPr/>
        </p:nvGrpSpPr>
        <p:grpSpPr>
          <a:xfrm>
            <a:off x="10072531" y="1757681"/>
            <a:ext cx="513624" cy="513622"/>
            <a:chOff x="6641591" y="1184981"/>
            <a:chExt cx="868541" cy="868537"/>
          </a:xfrm>
        </p:grpSpPr>
        <p:sp>
          <p:nvSpPr>
            <p:cNvPr id="148" name="Oval 147">
              <a:extLst>
                <a:ext uri="{FF2B5EF4-FFF2-40B4-BE49-F238E27FC236}">
                  <a16:creationId xmlns:a16="http://schemas.microsoft.com/office/drawing/2014/main" id="{EA6FCDEF-D183-4879-930A-C1CCB2725287}"/>
                </a:ext>
              </a:extLst>
            </p:cNvPr>
            <p:cNvSpPr>
              <a:spLocks noChangeAspect="1"/>
            </p:cNvSpPr>
            <p:nvPr/>
          </p:nvSpPr>
          <p:spPr bwMode="auto">
            <a:xfrm>
              <a:off x="6641591" y="1184981"/>
              <a:ext cx="868541" cy="868537"/>
            </a:xfrm>
            <a:prstGeom prst="ellipse">
              <a:avLst/>
            </a:prstGeom>
            <a:solidFill>
              <a:schemeClr val="bg1"/>
            </a:solidFill>
            <a:ln>
              <a:noFill/>
              <a:headEnd type="none" w="med" len="med"/>
              <a:tailEnd type="none" w="med" len="med"/>
            </a:ln>
            <a:effectLst>
              <a:outerShdw blurRad="127000" algn="tl"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4" name="Group 3">
              <a:extLst>
                <a:ext uri="{FF2B5EF4-FFF2-40B4-BE49-F238E27FC236}">
                  <a16:creationId xmlns:a16="http://schemas.microsoft.com/office/drawing/2014/main" id="{48095DDD-629E-4538-8A28-89947BC37B09}"/>
                </a:ext>
              </a:extLst>
            </p:cNvPr>
            <p:cNvGrpSpPr/>
            <p:nvPr/>
          </p:nvGrpSpPr>
          <p:grpSpPr>
            <a:xfrm>
              <a:off x="6850096" y="1461150"/>
              <a:ext cx="451528" cy="316198"/>
              <a:chOff x="14037729" y="3648583"/>
              <a:chExt cx="451528" cy="316198"/>
            </a:xfrm>
          </p:grpSpPr>
          <p:sp>
            <p:nvSpPr>
              <p:cNvPr id="59" name="Freeform: Shape 58">
                <a:extLst>
                  <a:ext uri="{FF2B5EF4-FFF2-40B4-BE49-F238E27FC236}">
                    <a16:creationId xmlns:a16="http://schemas.microsoft.com/office/drawing/2014/main" id="{21E5482F-AAEA-4FE0-9328-85FA6A4A02D9}"/>
                  </a:ext>
                </a:extLst>
              </p:cNvPr>
              <p:cNvSpPr/>
              <p:nvPr/>
            </p:nvSpPr>
            <p:spPr>
              <a:xfrm>
                <a:off x="14037729" y="3648583"/>
                <a:ext cx="122831" cy="97123"/>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solidFill>
                <a:srgbClr val="50E6FF"/>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6" name="Rectangle 65">
                <a:extLst>
                  <a:ext uri="{FF2B5EF4-FFF2-40B4-BE49-F238E27FC236}">
                    <a16:creationId xmlns:a16="http://schemas.microsoft.com/office/drawing/2014/main" id="{92299125-E225-4035-95AC-7064CA51F7F2}"/>
                  </a:ext>
                </a:extLst>
              </p:cNvPr>
              <p:cNvSpPr/>
              <p:nvPr/>
            </p:nvSpPr>
            <p:spPr bwMode="auto">
              <a:xfrm>
                <a:off x="14199286" y="3680229"/>
                <a:ext cx="289971" cy="3383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7" name="Freeform: Shape 66">
                <a:extLst>
                  <a:ext uri="{FF2B5EF4-FFF2-40B4-BE49-F238E27FC236}">
                    <a16:creationId xmlns:a16="http://schemas.microsoft.com/office/drawing/2014/main" id="{06120A78-1773-46DE-A113-69ACE5D01480}"/>
                  </a:ext>
                </a:extLst>
              </p:cNvPr>
              <p:cNvSpPr/>
              <p:nvPr/>
            </p:nvSpPr>
            <p:spPr>
              <a:xfrm>
                <a:off x="14037729" y="3758120"/>
                <a:ext cx="122831" cy="97123"/>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solidFill>
                <a:srgbClr val="50E6FF"/>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8" name="Rectangle 67">
                <a:extLst>
                  <a:ext uri="{FF2B5EF4-FFF2-40B4-BE49-F238E27FC236}">
                    <a16:creationId xmlns:a16="http://schemas.microsoft.com/office/drawing/2014/main" id="{E38FEF1C-501B-4E2D-B0E7-C3861E749AB4}"/>
                  </a:ext>
                </a:extLst>
              </p:cNvPr>
              <p:cNvSpPr/>
              <p:nvPr/>
            </p:nvSpPr>
            <p:spPr bwMode="auto">
              <a:xfrm>
                <a:off x="14199286" y="3789766"/>
                <a:ext cx="289971" cy="3383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9" name="Freeform: Shape 68">
                <a:extLst>
                  <a:ext uri="{FF2B5EF4-FFF2-40B4-BE49-F238E27FC236}">
                    <a16:creationId xmlns:a16="http://schemas.microsoft.com/office/drawing/2014/main" id="{FC5B4765-8441-481B-ACEF-B41AAD35DC68}"/>
                  </a:ext>
                </a:extLst>
              </p:cNvPr>
              <p:cNvSpPr/>
              <p:nvPr/>
            </p:nvSpPr>
            <p:spPr>
              <a:xfrm>
                <a:off x="14037729" y="3867658"/>
                <a:ext cx="122831" cy="97123"/>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solidFill>
                <a:srgbClr val="50E6FF"/>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0" name="Rectangle 69">
                <a:extLst>
                  <a:ext uri="{FF2B5EF4-FFF2-40B4-BE49-F238E27FC236}">
                    <a16:creationId xmlns:a16="http://schemas.microsoft.com/office/drawing/2014/main" id="{58D70748-64E3-4782-BFEA-965B4D19676A}"/>
                  </a:ext>
                </a:extLst>
              </p:cNvPr>
              <p:cNvSpPr/>
              <p:nvPr/>
            </p:nvSpPr>
            <p:spPr bwMode="auto">
              <a:xfrm>
                <a:off x="14199286" y="3899304"/>
                <a:ext cx="289971" cy="3383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pic>
        <p:nvPicPr>
          <p:cNvPr id="19" name="Picture 18">
            <a:extLst>
              <a:ext uri="{FF2B5EF4-FFF2-40B4-BE49-F238E27FC236}">
                <a16:creationId xmlns:a16="http://schemas.microsoft.com/office/drawing/2014/main" id="{3FCAB8FE-F6CE-4D73-A058-FD7F218FFD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65125" y="3995624"/>
            <a:ext cx="1441874" cy="411382"/>
          </a:xfrm>
          <a:prstGeom prst="rect">
            <a:avLst/>
          </a:prstGeom>
        </p:spPr>
      </p:pic>
      <p:grpSp>
        <p:nvGrpSpPr>
          <p:cNvPr id="8" name="Group 7">
            <a:extLst>
              <a:ext uri="{FF2B5EF4-FFF2-40B4-BE49-F238E27FC236}">
                <a16:creationId xmlns:a16="http://schemas.microsoft.com/office/drawing/2014/main" id="{67CA6FE2-A863-4A67-8FDF-FE6619D819B5}"/>
              </a:ext>
              <a:ext uri="{C183D7F6-B498-43B3-948B-1728B52AA6E4}">
                <adec:decorative xmlns:adec="http://schemas.microsoft.com/office/drawing/2017/decorative" val="1"/>
              </a:ext>
            </a:extLst>
          </p:cNvPr>
          <p:cNvGrpSpPr/>
          <p:nvPr/>
        </p:nvGrpSpPr>
        <p:grpSpPr>
          <a:xfrm>
            <a:off x="3330051" y="1717946"/>
            <a:ext cx="593092" cy="593090"/>
            <a:chOff x="3306257" y="1117791"/>
            <a:chExt cx="1002922" cy="1002918"/>
          </a:xfrm>
        </p:grpSpPr>
        <p:sp>
          <p:nvSpPr>
            <p:cNvPr id="147" name="Oval 146">
              <a:extLst>
                <a:ext uri="{FF2B5EF4-FFF2-40B4-BE49-F238E27FC236}">
                  <a16:creationId xmlns:a16="http://schemas.microsoft.com/office/drawing/2014/main" id="{3A4577F5-683F-4B6E-AC33-66AFA3136535}"/>
                </a:ext>
              </a:extLst>
            </p:cNvPr>
            <p:cNvSpPr>
              <a:spLocks noChangeAspect="1"/>
            </p:cNvSpPr>
            <p:nvPr/>
          </p:nvSpPr>
          <p:spPr bwMode="auto">
            <a:xfrm>
              <a:off x="3306257" y="1117791"/>
              <a:ext cx="1002922" cy="1002918"/>
            </a:xfrm>
            <a:prstGeom prst="ellipse">
              <a:avLst/>
            </a:prstGeom>
            <a:solidFill>
              <a:schemeClr val="bg1"/>
            </a:solidFill>
            <a:ln>
              <a:noFill/>
              <a:headEnd type="none" w="med" len="med"/>
              <a:tailEnd type="none" w="med" len="med"/>
            </a:ln>
            <a:effectLst>
              <a:outerShdw blurRad="127000" algn="tl"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141" name="Group 152">
              <a:extLst>
                <a:ext uri="{FF2B5EF4-FFF2-40B4-BE49-F238E27FC236}">
                  <a16:creationId xmlns:a16="http://schemas.microsoft.com/office/drawing/2014/main" id="{8DAF5041-2A71-4F1C-B40A-17D4D73C0313}"/>
                </a:ext>
              </a:extLst>
            </p:cNvPr>
            <p:cNvGrpSpPr>
              <a:grpSpLocks noChangeAspect="1"/>
            </p:cNvGrpSpPr>
            <p:nvPr/>
          </p:nvGrpSpPr>
          <p:grpSpPr bwMode="auto">
            <a:xfrm>
              <a:off x="3540301" y="1351137"/>
              <a:ext cx="534853" cy="536211"/>
              <a:chOff x="4138" y="2244"/>
              <a:chExt cx="394" cy="395"/>
            </a:xfrm>
          </p:grpSpPr>
          <p:sp>
            <p:nvSpPr>
              <p:cNvPr id="142" name="Freeform 153">
                <a:extLst>
                  <a:ext uri="{FF2B5EF4-FFF2-40B4-BE49-F238E27FC236}">
                    <a16:creationId xmlns:a16="http://schemas.microsoft.com/office/drawing/2014/main" id="{51CBE07A-B6DE-4793-95FB-B6A242785B6C}"/>
                  </a:ext>
                </a:extLst>
              </p:cNvPr>
              <p:cNvSpPr>
                <a:spLocks/>
              </p:cNvSpPr>
              <p:nvPr/>
            </p:nvSpPr>
            <p:spPr bwMode="auto">
              <a:xfrm>
                <a:off x="4138" y="2355"/>
                <a:ext cx="105" cy="173"/>
              </a:xfrm>
              <a:custGeom>
                <a:avLst/>
                <a:gdLst>
                  <a:gd name="T0" fmla="*/ 104 w 105"/>
                  <a:gd name="T1" fmla="*/ 16 h 173"/>
                  <a:gd name="T2" fmla="*/ 87 w 105"/>
                  <a:gd name="T3" fmla="*/ 0 h 173"/>
                  <a:gd name="T4" fmla="*/ 15 w 105"/>
                  <a:gd name="T5" fmla="*/ 72 h 173"/>
                  <a:gd name="T6" fmla="*/ 0 w 105"/>
                  <a:gd name="T7" fmla="*/ 87 h 173"/>
                  <a:gd name="T8" fmla="*/ 0 w 105"/>
                  <a:gd name="T9" fmla="*/ 87 h 173"/>
                  <a:gd name="T10" fmla="*/ 0 w 105"/>
                  <a:gd name="T11" fmla="*/ 87 h 173"/>
                  <a:gd name="T12" fmla="*/ 17 w 105"/>
                  <a:gd name="T13" fmla="*/ 104 h 173"/>
                  <a:gd name="T14" fmla="*/ 17 w 105"/>
                  <a:gd name="T15" fmla="*/ 104 h 173"/>
                  <a:gd name="T16" fmla="*/ 87 w 105"/>
                  <a:gd name="T17" fmla="*/ 173 h 173"/>
                  <a:gd name="T18" fmla="*/ 105 w 105"/>
                  <a:gd name="T19" fmla="*/ 156 h 173"/>
                  <a:gd name="T20" fmla="*/ 35 w 105"/>
                  <a:gd name="T21" fmla="*/ 85 h 173"/>
                  <a:gd name="T22" fmla="*/ 104 w 105"/>
                  <a:gd name="T23" fmla="*/ 16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 h="173">
                    <a:moveTo>
                      <a:pt x="104" y="16"/>
                    </a:moveTo>
                    <a:lnTo>
                      <a:pt x="87" y="0"/>
                    </a:lnTo>
                    <a:lnTo>
                      <a:pt x="15" y="72"/>
                    </a:lnTo>
                    <a:lnTo>
                      <a:pt x="0" y="87"/>
                    </a:lnTo>
                    <a:lnTo>
                      <a:pt x="0" y="87"/>
                    </a:lnTo>
                    <a:lnTo>
                      <a:pt x="0" y="87"/>
                    </a:lnTo>
                    <a:lnTo>
                      <a:pt x="17" y="104"/>
                    </a:lnTo>
                    <a:lnTo>
                      <a:pt x="17" y="104"/>
                    </a:lnTo>
                    <a:lnTo>
                      <a:pt x="87" y="173"/>
                    </a:lnTo>
                    <a:lnTo>
                      <a:pt x="105" y="156"/>
                    </a:lnTo>
                    <a:lnTo>
                      <a:pt x="35" y="85"/>
                    </a:lnTo>
                    <a:lnTo>
                      <a:pt x="104" y="16"/>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3" name="Freeform 154">
                <a:extLst>
                  <a:ext uri="{FF2B5EF4-FFF2-40B4-BE49-F238E27FC236}">
                    <a16:creationId xmlns:a16="http://schemas.microsoft.com/office/drawing/2014/main" id="{01810367-22F1-448F-9712-BCC3680A3CE4}"/>
                  </a:ext>
                </a:extLst>
              </p:cNvPr>
              <p:cNvSpPr>
                <a:spLocks/>
              </p:cNvSpPr>
              <p:nvPr/>
            </p:nvSpPr>
            <p:spPr bwMode="auto">
              <a:xfrm>
                <a:off x="4428" y="2355"/>
                <a:ext cx="104" cy="173"/>
              </a:xfrm>
              <a:custGeom>
                <a:avLst/>
                <a:gdLst>
                  <a:gd name="T0" fmla="*/ 104 w 104"/>
                  <a:gd name="T1" fmla="*/ 87 h 173"/>
                  <a:gd name="T2" fmla="*/ 104 w 104"/>
                  <a:gd name="T3" fmla="*/ 87 h 173"/>
                  <a:gd name="T4" fmla="*/ 88 w 104"/>
                  <a:gd name="T5" fmla="*/ 69 h 173"/>
                  <a:gd name="T6" fmla="*/ 88 w 104"/>
                  <a:gd name="T7" fmla="*/ 69 h 173"/>
                  <a:gd name="T8" fmla="*/ 17 w 104"/>
                  <a:gd name="T9" fmla="*/ 0 h 173"/>
                  <a:gd name="T10" fmla="*/ 0 w 104"/>
                  <a:gd name="T11" fmla="*/ 17 h 173"/>
                  <a:gd name="T12" fmla="*/ 69 w 104"/>
                  <a:gd name="T13" fmla="*/ 88 h 173"/>
                  <a:gd name="T14" fmla="*/ 0 w 104"/>
                  <a:gd name="T15" fmla="*/ 157 h 173"/>
                  <a:gd name="T16" fmla="*/ 17 w 104"/>
                  <a:gd name="T17" fmla="*/ 173 h 173"/>
                  <a:gd name="T18" fmla="*/ 90 w 104"/>
                  <a:gd name="T19" fmla="*/ 102 h 173"/>
                  <a:gd name="T20" fmla="*/ 104 w 104"/>
                  <a:gd name="T21" fmla="*/ 87 h 173"/>
                  <a:gd name="T22" fmla="*/ 104 w 104"/>
                  <a:gd name="T23" fmla="*/ 87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73">
                    <a:moveTo>
                      <a:pt x="104" y="87"/>
                    </a:moveTo>
                    <a:lnTo>
                      <a:pt x="104" y="87"/>
                    </a:lnTo>
                    <a:lnTo>
                      <a:pt x="88" y="69"/>
                    </a:lnTo>
                    <a:lnTo>
                      <a:pt x="88" y="69"/>
                    </a:lnTo>
                    <a:lnTo>
                      <a:pt x="17" y="0"/>
                    </a:lnTo>
                    <a:lnTo>
                      <a:pt x="0" y="17"/>
                    </a:lnTo>
                    <a:lnTo>
                      <a:pt x="69" y="88"/>
                    </a:lnTo>
                    <a:lnTo>
                      <a:pt x="0" y="157"/>
                    </a:lnTo>
                    <a:lnTo>
                      <a:pt x="17" y="173"/>
                    </a:lnTo>
                    <a:lnTo>
                      <a:pt x="90" y="102"/>
                    </a:lnTo>
                    <a:lnTo>
                      <a:pt x="104" y="87"/>
                    </a:lnTo>
                    <a:lnTo>
                      <a:pt x="104" y="87"/>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4" name="Freeform 155">
                <a:extLst>
                  <a:ext uri="{FF2B5EF4-FFF2-40B4-BE49-F238E27FC236}">
                    <a16:creationId xmlns:a16="http://schemas.microsoft.com/office/drawing/2014/main" id="{9DDF56E9-DF5F-4146-BF35-6D0B2F165A39}"/>
                  </a:ext>
                </a:extLst>
              </p:cNvPr>
              <p:cNvSpPr>
                <a:spLocks/>
              </p:cNvSpPr>
              <p:nvPr/>
            </p:nvSpPr>
            <p:spPr bwMode="auto">
              <a:xfrm>
                <a:off x="4247" y="2244"/>
                <a:ext cx="174" cy="105"/>
              </a:xfrm>
              <a:custGeom>
                <a:avLst/>
                <a:gdLst>
                  <a:gd name="T0" fmla="*/ 87 w 174"/>
                  <a:gd name="T1" fmla="*/ 0 h 105"/>
                  <a:gd name="T2" fmla="*/ 70 w 174"/>
                  <a:gd name="T3" fmla="*/ 17 h 105"/>
                  <a:gd name="T4" fmla="*/ 70 w 174"/>
                  <a:gd name="T5" fmla="*/ 17 h 105"/>
                  <a:gd name="T6" fmla="*/ 0 w 174"/>
                  <a:gd name="T7" fmla="*/ 88 h 105"/>
                  <a:gd name="T8" fmla="*/ 18 w 174"/>
                  <a:gd name="T9" fmla="*/ 105 h 105"/>
                  <a:gd name="T10" fmla="*/ 89 w 174"/>
                  <a:gd name="T11" fmla="*/ 35 h 105"/>
                  <a:gd name="T12" fmla="*/ 158 w 174"/>
                  <a:gd name="T13" fmla="*/ 104 h 105"/>
                  <a:gd name="T14" fmla="*/ 174 w 174"/>
                  <a:gd name="T15" fmla="*/ 88 h 105"/>
                  <a:gd name="T16" fmla="*/ 105 w 174"/>
                  <a:gd name="T17" fmla="*/ 19 h 105"/>
                  <a:gd name="T18" fmla="*/ 87 w 174"/>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4" h="105">
                    <a:moveTo>
                      <a:pt x="87" y="0"/>
                    </a:moveTo>
                    <a:lnTo>
                      <a:pt x="70" y="17"/>
                    </a:lnTo>
                    <a:lnTo>
                      <a:pt x="70" y="17"/>
                    </a:lnTo>
                    <a:lnTo>
                      <a:pt x="0" y="88"/>
                    </a:lnTo>
                    <a:lnTo>
                      <a:pt x="18" y="105"/>
                    </a:lnTo>
                    <a:lnTo>
                      <a:pt x="89" y="35"/>
                    </a:lnTo>
                    <a:lnTo>
                      <a:pt x="158" y="104"/>
                    </a:lnTo>
                    <a:lnTo>
                      <a:pt x="174" y="88"/>
                    </a:lnTo>
                    <a:lnTo>
                      <a:pt x="105" y="19"/>
                    </a:lnTo>
                    <a:lnTo>
                      <a:pt x="87"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5" name="Freeform 156">
                <a:extLst>
                  <a:ext uri="{FF2B5EF4-FFF2-40B4-BE49-F238E27FC236}">
                    <a16:creationId xmlns:a16="http://schemas.microsoft.com/office/drawing/2014/main" id="{13CA8465-FF34-4994-8F9F-E33DE1E49232}"/>
                  </a:ext>
                </a:extLst>
              </p:cNvPr>
              <p:cNvSpPr>
                <a:spLocks/>
              </p:cNvSpPr>
              <p:nvPr/>
            </p:nvSpPr>
            <p:spPr bwMode="auto">
              <a:xfrm>
                <a:off x="4247" y="2534"/>
                <a:ext cx="174" cy="105"/>
              </a:xfrm>
              <a:custGeom>
                <a:avLst/>
                <a:gdLst>
                  <a:gd name="T0" fmla="*/ 157 w 174"/>
                  <a:gd name="T1" fmla="*/ 0 h 105"/>
                  <a:gd name="T2" fmla="*/ 86 w 174"/>
                  <a:gd name="T3" fmla="*/ 70 h 105"/>
                  <a:gd name="T4" fmla="*/ 17 w 174"/>
                  <a:gd name="T5" fmla="*/ 1 h 105"/>
                  <a:gd name="T6" fmla="*/ 0 w 174"/>
                  <a:gd name="T7" fmla="*/ 17 h 105"/>
                  <a:gd name="T8" fmla="*/ 70 w 174"/>
                  <a:gd name="T9" fmla="*/ 87 h 105"/>
                  <a:gd name="T10" fmla="*/ 70 w 174"/>
                  <a:gd name="T11" fmla="*/ 87 h 105"/>
                  <a:gd name="T12" fmla="*/ 72 w 174"/>
                  <a:gd name="T13" fmla="*/ 90 h 105"/>
                  <a:gd name="T14" fmla="*/ 87 w 174"/>
                  <a:gd name="T15" fmla="*/ 105 h 105"/>
                  <a:gd name="T16" fmla="*/ 105 w 174"/>
                  <a:gd name="T17" fmla="*/ 88 h 105"/>
                  <a:gd name="T18" fmla="*/ 105 w 174"/>
                  <a:gd name="T19" fmla="*/ 88 h 105"/>
                  <a:gd name="T20" fmla="*/ 174 w 174"/>
                  <a:gd name="T21" fmla="*/ 17 h 105"/>
                  <a:gd name="T22" fmla="*/ 157 w 174"/>
                  <a:gd name="T2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4" h="105">
                    <a:moveTo>
                      <a:pt x="157" y="0"/>
                    </a:moveTo>
                    <a:lnTo>
                      <a:pt x="86" y="70"/>
                    </a:lnTo>
                    <a:lnTo>
                      <a:pt x="17" y="1"/>
                    </a:lnTo>
                    <a:lnTo>
                      <a:pt x="0" y="17"/>
                    </a:lnTo>
                    <a:lnTo>
                      <a:pt x="70" y="87"/>
                    </a:lnTo>
                    <a:lnTo>
                      <a:pt x="70" y="87"/>
                    </a:lnTo>
                    <a:lnTo>
                      <a:pt x="72" y="90"/>
                    </a:lnTo>
                    <a:lnTo>
                      <a:pt x="87" y="105"/>
                    </a:lnTo>
                    <a:lnTo>
                      <a:pt x="105" y="88"/>
                    </a:lnTo>
                    <a:lnTo>
                      <a:pt x="105" y="88"/>
                    </a:lnTo>
                    <a:lnTo>
                      <a:pt x="174" y="17"/>
                    </a:lnTo>
                    <a:lnTo>
                      <a:pt x="157"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6" name="Freeform 157">
                <a:extLst>
                  <a:ext uri="{FF2B5EF4-FFF2-40B4-BE49-F238E27FC236}">
                    <a16:creationId xmlns:a16="http://schemas.microsoft.com/office/drawing/2014/main" id="{0EC8E946-15DB-4D89-B5B6-F33638088E7A}"/>
                  </a:ext>
                </a:extLst>
              </p:cNvPr>
              <p:cNvSpPr>
                <a:spLocks/>
              </p:cNvSpPr>
              <p:nvPr/>
            </p:nvSpPr>
            <p:spPr bwMode="auto">
              <a:xfrm>
                <a:off x="4286" y="2392"/>
                <a:ext cx="98" cy="99"/>
              </a:xfrm>
              <a:custGeom>
                <a:avLst/>
                <a:gdLst>
                  <a:gd name="T0" fmla="*/ 80 w 85"/>
                  <a:gd name="T1" fmla="*/ 86 h 86"/>
                  <a:gd name="T2" fmla="*/ 5 w 85"/>
                  <a:gd name="T3" fmla="*/ 86 h 86"/>
                  <a:gd name="T4" fmla="*/ 0 w 85"/>
                  <a:gd name="T5" fmla="*/ 80 h 86"/>
                  <a:gd name="T6" fmla="*/ 0 w 85"/>
                  <a:gd name="T7" fmla="*/ 6 h 86"/>
                  <a:gd name="T8" fmla="*/ 5 w 85"/>
                  <a:gd name="T9" fmla="*/ 0 h 86"/>
                  <a:gd name="T10" fmla="*/ 80 w 85"/>
                  <a:gd name="T11" fmla="*/ 0 h 86"/>
                  <a:gd name="T12" fmla="*/ 85 w 85"/>
                  <a:gd name="T13" fmla="*/ 6 h 86"/>
                  <a:gd name="T14" fmla="*/ 85 w 85"/>
                  <a:gd name="T15" fmla="*/ 80 h 86"/>
                  <a:gd name="T16" fmla="*/ 80 w 85"/>
                  <a:gd name="T1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86">
                    <a:moveTo>
                      <a:pt x="80" y="86"/>
                    </a:moveTo>
                    <a:cubicBezTo>
                      <a:pt x="5" y="86"/>
                      <a:pt x="5" y="86"/>
                      <a:pt x="5" y="86"/>
                    </a:cubicBezTo>
                    <a:cubicBezTo>
                      <a:pt x="2" y="86"/>
                      <a:pt x="0" y="83"/>
                      <a:pt x="0" y="80"/>
                    </a:cubicBezTo>
                    <a:cubicBezTo>
                      <a:pt x="0" y="6"/>
                      <a:pt x="0" y="6"/>
                      <a:pt x="0" y="6"/>
                    </a:cubicBezTo>
                    <a:cubicBezTo>
                      <a:pt x="0" y="3"/>
                      <a:pt x="2" y="0"/>
                      <a:pt x="5" y="0"/>
                    </a:cubicBezTo>
                    <a:cubicBezTo>
                      <a:pt x="80" y="0"/>
                      <a:pt x="80" y="0"/>
                      <a:pt x="80" y="0"/>
                    </a:cubicBezTo>
                    <a:cubicBezTo>
                      <a:pt x="83" y="0"/>
                      <a:pt x="85" y="3"/>
                      <a:pt x="85" y="6"/>
                    </a:cubicBezTo>
                    <a:cubicBezTo>
                      <a:pt x="85" y="80"/>
                      <a:pt x="85" y="80"/>
                      <a:pt x="85" y="80"/>
                    </a:cubicBezTo>
                    <a:cubicBezTo>
                      <a:pt x="85" y="83"/>
                      <a:pt x="83" y="86"/>
                      <a:pt x="80" y="86"/>
                    </a:cubicBezTo>
                    <a:close/>
                  </a:path>
                </a:pathLst>
              </a:custGeom>
              <a:solidFill>
                <a:srgbClr val="50E6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26" name="Group 25">
            <a:extLst>
              <a:ext uri="{FF2B5EF4-FFF2-40B4-BE49-F238E27FC236}">
                <a16:creationId xmlns:a16="http://schemas.microsoft.com/office/drawing/2014/main" id="{7CAEF510-907F-4DDD-B810-A4395F68BB97}"/>
              </a:ext>
              <a:ext uri="{C183D7F6-B498-43B3-948B-1728B52AA6E4}">
                <adec:decorative xmlns:adec="http://schemas.microsoft.com/office/drawing/2017/decorative" val="1"/>
              </a:ext>
            </a:extLst>
          </p:cNvPr>
          <p:cNvGrpSpPr/>
          <p:nvPr/>
        </p:nvGrpSpPr>
        <p:grpSpPr>
          <a:xfrm>
            <a:off x="6671023" y="1757681"/>
            <a:ext cx="593092" cy="593090"/>
            <a:chOff x="9826010" y="1757680"/>
            <a:chExt cx="593092" cy="593090"/>
          </a:xfrm>
        </p:grpSpPr>
        <p:sp>
          <p:nvSpPr>
            <p:cNvPr id="71" name="Oval 70">
              <a:extLst>
                <a:ext uri="{FF2B5EF4-FFF2-40B4-BE49-F238E27FC236}">
                  <a16:creationId xmlns:a16="http://schemas.microsoft.com/office/drawing/2014/main" id="{17D15ECA-476E-4926-89E2-1A86B4FE0DA7}"/>
                </a:ext>
              </a:extLst>
            </p:cNvPr>
            <p:cNvSpPr>
              <a:spLocks noChangeAspect="1"/>
            </p:cNvSpPr>
            <p:nvPr/>
          </p:nvSpPr>
          <p:spPr bwMode="auto">
            <a:xfrm>
              <a:off x="9826010" y="1757680"/>
              <a:ext cx="593092" cy="593090"/>
            </a:xfrm>
            <a:prstGeom prst="ellipse">
              <a:avLst/>
            </a:prstGeom>
            <a:solidFill>
              <a:schemeClr val="bg1"/>
            </a:solidFill>
            <a:ln>
              <a:noFill/>
              <a:headEnd type="none" w="med" len="med"/>
              <a:tailEnd type="none" w="med" len="med"/>
            </a:ln>
            <a:effectLst>
              <a:outerShdw blurRad="127000" algn="tl"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3" name="Group 52">
              <a:extLst>
                <a:ext uri="{FF2B5EF4-FFF2-40B4-BE49-F238E27FC236}">
                  <a16:creationId xmlns:a16="http://schemas.microsoft.com/office/drawing/2014/main" id="{EE747FED-00A6-4C9B-8A1E-1579B83C6627}"/>
                </a:ext>
              </a:extLst>
            </p:cNvPr>
            <p:cNvGrpSpPr/>
            <p:nvPr/>
          </p:nvGrpSpPr>
          <p:grpSpPr>
            <a:xfrm>
              <a:off x="9992700" y="1874564"/>
              <a:ext cx="259711" cy="337287"/>
              <a:chOff x="5478752" y="1242041"/>
              <a:chExt cx="404570" cy="535030"/>
            </a:xfrm>
          </p:grpSpPr>
          <p:grpSp>
            <p:nvGrpSpPr>
              <p:cNvPr id="54" name="file" descr="file, paper, sheet">
                <a:extLst>
                  <a:ext uri="{FF2B5EF4-FFF2-40B4-BE49-F238E27FC236}">
                    <a16:creationId xmlns:a16="http://schemas.microsoft.com/office/drawing/2014/main" id="{653ADBFD-7B3C-411A-B1CC-7B96C2584C7C}"/>
                  </a:ext>
                </a:extLst>
              </p:cNvPr>
              <p:cNvGrpSpPr/>
              <p:nvPr/>
            </p:nvGrpSpPr>
            <p:grpSpPr>
              <a:xfrm>
                <a:off x="5478752" y="1242041"/>
                <a:ext cx="290270" cy="359770"/>
                <a:chOff x="8018464" y="4649789"/>
                <a:chExt cx="225425" cy="279400"/>
              </a:xfrm>
            </p:grpSpPr>
            <p:sp>
              <p:nvSpPr>
                <p:cNvPr id="61" name="Freeform 88">
                  <a:extLst>
                    <a:ext uri="{FF2B5EF4-FFF2-40B4-BE49-F238E27FC236}">
                      <a16:creationId xmlns:a16="http://schemas.microsoft.com/office/drawing/2014/main" id="{02066088-6523-4F4D-8074-FB317D38BFF9}"/>
                    </a:ext>
                  </a:extLst>
                </p:cNvPr>
                <p:cNvSpPr>
                  <a:spLocks/>
                </p:cNvSpPr>
                <p:nvPr/>
              </p:nvSpPr>
              <p:spPr bwMode="auto">
                <a:xfrm>
                  <a:off x="8018464" y="4649789"/>
                  <a:ext cx="225425" cy="279400"/>
                </a:xfrm>
                <a:custGeom>
                  <a:avLst/>
                  <a:gdLst>
                    <a:gd name="T0" fmla="*/ 52 w 142"/>
                    <a:gd name="T1" fmla="*/ 0 h 176"/>
                    <a:gd name="T2" fmla="*/ 0 w 142"/>
                    <a:gd name="T3" fmla="*/ 52 h 176"/>
                    <a:gd name="T4" fmla="*/ 0 w 142"/>
                    <a:gd name="T5" fmla="*/ 176 h 176"/>
                    <a:gd name="T6" fmla="*/ 142 w 142"/>
                    <a:gd name="T7" fmla="*/ 176 h 176"/>
                    <a:gd name="T8" fmla="*/ 142 w 142"/>
                    <a:gd name="T9" fmla="*/ 0 h 176"/>
                    <a:gd name="T10" fmla="*/ 52 w 142"/>
                    <a:gd name="T11" fmla="*/ 0 h 176"/>
                  </a:gdLst>
                  <a:ahLst/>
                  <a:cxnLst>
                    <a:cxn ang="0">
                      <a:pos x="T0" y="T1"/>
                    </a:cxn>
                    <a:cxn ang="0">
                      <a:pos x="T2" y="T3"/>
                    </a:cxn>
                    <a:cxn ang="0">
                      <a:pos x="T4" y="T5"/>
                    </a:cxn>
                    <a:cxn ang="0">
                      <a:pos x="T6" y="T7"/>
                    </a:cxn>
                    <a:cxn ang="0">
                      <a:pos x="T8" y="T9"/>
                    </a:cxn>
                    <a:cxn ang="0">
                      <a:pos x="T10" y="T11"/>
                    </a:cxn>
                  </a:cxnLst>
                  <a:rect l="0" t="0" r="r" b="b"/>
                  <a:pathLst>
                    <a:path w="142" h="176">
                      <a:moveTo>
                        <a:pt x="52" y="0"/>
                      </a:moveTo>
                      <a:lnTo>
                        <a:pt x="0" y="52"/>
                      </a:lnTo>
                      <a:lnTo>
                        <a:pt x="0" y="176"/>
                      </a:lnTo>
                      <a:lnTo>
                        <a:pt x="142" y="176"/>
                      </a:lnTo>
                      <a:lnTo>
                        <a:pt x="142" y="0"/>
                      </a:lnTo>
                      <a:lnTo>
                        <a:pt x="52"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2" name="Freeform 89">
                  <a:extLst>
                    <a:ext uri="{FF2B5EF4-FFF2-40B4-BE49-F238E27FC236}">
                      <a16:creationId xmlns:a16="http://schemas.microsoft.com/office/drawing/2014/main" id="{BD021F4B-F20E-4FB7-98A7-B5C1EF4936CD}"/>
                    </a:ext>
                  </a:extLst>
                </p:cNvPr>
                <p:cNvSpPr>
                  <a:spLocks/>
                </p:cNvSpPr>
                <p:nvPr/>
              </p:nvSpPr>
              <p:spPr bwMode="auto">
                <a:xfrm>
                  <a:off x="8018464" y="4649789"/>
                  <a:ext cx="82550" cy="82550"/>
                </a:xfrm>
                <a:custGeom>
                  <a:avLst/>
                  <a:gdLst>
                    <a:gd name="T0" fmla="*/ 52 w 52"/>
                    <a:gd name="T1" fmla="*/ 52 h 52"/>
                    <a:gd name="T2" fmla="*/ 0 w 52"/>
                    <a:gd name="T3" fmla="*/ 52 h 52"/>
                    <a:gd name="T4" fmla="*/ 52 w 52"/>
                    <a:gd name="T5" fmla="*/ 0 h 52"/>
                    <a:gd name="T6" fmla="*/ 52 w 52"/>
                    <a:gd name="T7" fmla="*/ 0 h 52"/>
                    <a:gd name="T8" fmla="*/ 52 w 52"/>
                    <a:gd name="T9" fmla="*/ 52 h 52"/>
                  </a:gdLst>
                  <a:ahLst/>
                  <a:cxnLst>
                    <a:cxn ang="0">
                      <a:pos x="T0" y="T1"/>
                    </a:cxn>
                    <a:cxn ang="0">
                      <a:pos x="T2" y="T3"/>
                    </a:cxn>
                    <a:cxn ang="0">
                      <a:pos x="T4" y="T5"/>
                    </a:cxn>
                    <a:cxn ang="0">
                      <a:pos x="T6" y="T7"/>
                    </a:cxn>
                    <a:cxn ang="0">
                      <a:pos x="T8" y="T9"/>
                    </a:cxn>
                  </a:cxnLst>
                  <a:rect l="0" t="0" r="r" b="b"/>
                  <a:pathLst>
                    <a:path w="52" h="52">
                      <a:moveTo>
                        <a:pt x="52" y="52"/>
                      </a:moveTo>
                      <a:lnTo>
                        <a:pt x="0" y="52"/>
                      </a:lnTo>
                      <a:lnTo>
                        <a:pt x="52" y="0"/>
                      </a:lnTo>
                      <a:lnTo>
                        <a:pt x="52" y="0"/>
                      </a:lnTo>
                      <a:lnTo>
                        <a:pt x="52" y="52"/>
                      </a:lnTo>
                      <a:close/>
                    </a:path>
                  </a:pathLst>
                </a:custGeom>
                <a:solidFill>
                  <a:srgbClr val="4FE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3" name="Line 90">
                  <a:extLst>
                    <a:ext uri="{FF2B5EF4-FFF2-40B4-BE49-F238E27FC236}">
                      <a16:creationId xmlns:a16="http://schemas.microsoft.com/office/drawing/2014/main" id="{A6E6ECCB-D221-4C31-8FAE-7A7315829B4A}"/>
                    </a:ext>
                  </a:extLst>
                </p:cNvPr>
                <p:cNvSpPr>
                  <a:spLocks noChangeShapeType="1"/>
                </p:cNvSpPr>
                <p:nvPr/>
              </p:nvSpPr>
              <p:spPr bwMode="auto">
                <a:xfrm>
                  <a:off x="8077201" y="4795839"/>
                  <a:ext cx="106363" cy="0"/>
                </a:xfrm>
                <a:prstGeom prst="line">
                  <a:avLst/>
                </a:prstGeom>
                <a:noFill/>
                <a:ln w="17463"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 name="Line 91">
                  <a:extLst>
                    <a:ext uri="{FF2B5EF4-FFF2-40B4-BE49-F238E27FC236}">
                      <a16:creationId xmlns:a16="http://schemas.microsoft.com/office/drawing/2014/main" id="{38B5F770-FAD3-4BF8-8A27-B5AF1F0991AA}"/>
                    </a:ext>
                  </a:extLst>
                </p:cNvPr>
                <p:cNvSpPr>
                  <a:spLocks noChangeShapeType="1"/>
                </p:cNvSpPr>
                <p:nvPr/>
              </p:nvSpPr>
              <p:spPr bwMode="auto">
                <a:xfrm>
                  <a:off x="8077201" y="4849814"/>
                  <a:ext cx="106363" cy="0"/>
                </a:xfrm>
                <a:prstGeom prst="line">
                  <a:avLst/>
                </a:prstGeom>
                <a:noFill/>
                <a:ln w="17463"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grpSp>
            <p:nvGrpSpPr>
              <p:cNvPr id="55" name="file" descr="file, paper, sheet">
                <a:extLst>
                  <a:ext uri="{FF2B5EF4-FFF2-40B4-BE49-F238E27FC236}">
                    <a16:creationId xmlns:a16="http://schemas.microsoft.com/office/drawing/2014/main" id="{14ECA509-1FF3-464D-81C9-B423D326B2DB}"/>
                  </a:ext>
                </a:extLst>
              </p:cNvPr>
              <p:cNvGrpSpPr/>
              <p:nvPr/>
            </p:nvGrpSpPr>
            <p:grpSpPr>
              <a:xfrm>
                <a:off x="5593052" y="1417301"/>
                <a:ext cx="290270" cy="359770"/>
                <a:chOff x="8018464" y="4649789"/>
                <a:chExt cx="225425" cy="279400"/>
              </a:xfrm>
            </p:grpSpPr>
            <p:sp>
              <p:nvSpPr>
                <p:cNvPr id="56" name="Freeform 88">
                  <a:extLst>
                    <a:ext uri="{FF2B5EF4-FFF2-40B4-BE49-F238E27FC236}">
                      <a16:creationId xmlns:a16="http://schemas.microsoft.com/office/drawing/2014/main" id="{2CE74B4C-9574-463F-A684-E98D4F9932BD}"/>
                    </a:ext>
                  </a:extLst>
                </p:cNvPr>
                <p:cNvSpPr>
                  <a:spLocks/>
                </p:cNvSpPr>
                <p:nvPr/>
              </p:nvSpPr>
              <p:spPr bwMode="auto">
                <a:xfrm>
                  <a:off x="8018464" y="4649789"/>
                  <a:ext cx="225425" cy="279400"/>
                </a:xfrm>
                <a:custGeom>
                  <a:avLst/>
                  <a:gdLst>
                    <a:gd name="T0" fmla="*/ 52 w 142"/>
                    <a:gd name="T1" fmla="*/ 0 h 176"/>
                    <a:gd name="T2" fmla="*/ 0 w 142"/>
                    <a:gd name="T3" fmla="*/ 52 h 176"/>
                    <a:gd name="T4" fmla="*/ 0 w 142"/>
                    <a:gd name="T5" fmla="*/ 176 h 176"/>
                    <a:gd name="T6" fmla="*/ 142 w 142"/>
                    <a:gd name="T7" fmla="*/ 176 h 176"/>
                    <a:gd name="T8" fmla="*/ 142 w 142"/>
                    <a:gd name="T9" fmla="*/ 0 h 176"/>
                    <a:gd name="T10" fmla="*/ 52 w 142"/>
                    <a:gd name="T11" fmla="*/ 0 h 176"/>
                  </a:gdLst>
                  <a:ahLst/>
                  <a:cxnLst>
                    <a:cxn ang="0">
                      <a:pos x="T0" y="T1"/>
                    </a:cxn>
                    <a:cxn ang="0">
                      <a:pos x="T2" y="T3"/>
                    </a:cxn>
                    <a:cxn ang="0">
                      <a:pos x="T4" y="T5"/>
                    </a:cxn>
                    <a:cxn ang="0">
                      <a:pos x="T6" y="T7"/>
                    </a:cxn>
                    <a:cxn ang="0">
                      <a:pos x="T8" y="T9"/>
                    </a:cxn>
                    <a:cxn ang="0">
                      <a:pos x="T10" y="T11"/>
                    </a:cxn>
                  </a:cxnLst>
                  <a:rect l="0" t="0" r="r" b="b"/>
                  <a:pathLst>
                    <a:path w="142" h="176">
                      <a:moveTo>
                        <a:pt x="52" y="0"/>
                      </a:moveTo>
                      <a:lnTo>
                        <a:pt x="0" y="52"/>
                      </a:lnTo>
                      <a:lnTo>
                        <a:pt x="0" y="176"/>
                      </a:lnTo>
                      <a:lnTo>
                        <a:pt x="142" y="176"/>
                      </a:lnTo>
                      <a:lnTo>
                        <a:pt x="142" y="0"/>
                      </a:lnTo>
                      <a:lnTo>
                        <a:pt x="52"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57" name="Freeform 89">
                  <a:extLst>
                    <a:ext uri="{FF2B5EF4-FFF2-40B4-BE49-F238E27FC236}">
                      <a16:creationId xmlns:a16="http://schemas.microsoft.com/office/drawing/2014/main" id="{3E03E555-C74D-4204-BC2B-E28C526B2025}"/>
                    </a:ext>
                  </a:extLst>
                </p:cNvPr>
                <p:cNvSpPr>
                  <a:spLocks/>
                </p:cNvSpPr>
                <p:nvPr/>
              </p:nvSpPr>
              <p:spPr bwMode="auto">
                <a:xfrm>
                  <a:off x="8018464" y="4649789"/>
                  <a:ext cx="82550" cy="82550"/>
                </a:xfrm>
                <a:custGeom>
                  <a:avLst/>
                  <a:gdLst>
                    <a:gd name="T0" fmla="*/ 52 w 52"/>
                    <a:gd name="T1" fmla="*/ 52 h 52"/>
                    <a:gd name="T2" fmla="*/ 0 w 52"/>
                    <a:gd name="T3" fmla="*/ 52 h 52"/>
                    <a:gd name="T4" fmla="*/ 52 w 52"/>
                    <a:gd name="T5" fmla="*/ 0 h 52"/>
                    <a:gd name="T6" fmla="*/ 52 w 52"/>
                    <a:gd name="T7" fmla="*/ 0 h 52"/>
                    <a:gd name="T8" fmla="*/ 52 w 52"/>
                    <a:gd name="T9" fmla="*/ 52 h 52"/>
                  </a:gdLst>
                  <a:ahLst/>
                  <a:cxnLst>
                    <a:cxn ang="0">
                      <a:pos x="T0" y="T1"/>
                    </a:cxn>
                    <a:cxn ang="0">
                      <a:pos x="T2" y="T3"/>
                    </a:cxn>
                    <a:cxn ang="0">
                      <a:pos x="T4" y="T5"/>
                    </a:cxn>
                    <a:cxn ang="0">
                      <a:pos x="T6" y="T7"/>
                    </a:cxn>
                    <a:cxn ang="0">
                      <a:pos x="T8" y="T9"/>
                    </a:cxn>
                  </a:cxnLst>
                  <a:rect l="0" t="0" r="r" b="b"/>
                  <a:pathLst>
                    <a:path w="52" h="52">
                      <a:moveTo>
                        <a:pt x="52" y="52"/>
                      </a:moveTo>
                      <a:lnTo>
                        <a:pt x="0" y="52"/>
                      </a:lnTo>
                      <a:lnTo>
                        <a:pt x="52" y="0"/>
                      </a:lnTo>
                      <a:lnTo>
                        <a:pt x="52" y="0"/>
                      </a:lnTo>
                      <a:lnTo>
                        <a:pt x="52" y="5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58" name="Line 90">
                  <a:extLst>
                    <a:ext uri="{FF2B5EF4-FFF2-40B4-BE49-F238E27FC236}">
                      <a16:creationId xmlns:a16="http://schemas.microsoft.com/office/drawing/2014/main" id="{0EE0E692-934C-4B2F-8943-542EE906F94B}"/>
                    </a:ext>
                  </a:extLst>
                </p:cNvPr>
                <p:cNvSpPr>
                  <a:spLocks noChangeShapeType="1"/>
                </p:cNvSpPr>
                <p:nvPr/>
              </p:nvSpPr>
              <p:spPr bwMode="auto">
                <a:xfrm>
                  <a:off x="8077201" y="4795839"/>
                  <a:ext cx="106363" cy="0"/>
                </a:xfrm>
                <a:prstGeom prst="line">
                  <a:avLst/>
                </a:prstGeom>
                <a:noFill/>
                <a:ln w="17463"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0" name="Line 91">
                  <a:extLst>
                    <a:ext uri="{FF2B5EF4-FFF2-40B4-BE49-F238E27FC236}">
                      <a16:creationId xmlns:a16="http://schemas.microsoft.com/office/drawing/2014/main" id="{DFB78B95-3044-474E-8D31-013241354503}"/>
                    </a:ext>
                  </a:extLst>
                </p:cNvPr>
                <p:cNvSpPr>
                  <a:spLocks noChangeShapeType="1"/>
                </p:cNvSpPr>
                <p:nvPr/>
              </p:nvSpPr>
              <p:spPr bwMode="auto">
                <a:xfrm>
                  <a:off x="8077201" y="4849814"/>
                  <a:ext cx="106363" cy="0"/>
                </a:xfrm>
                <a:prstGeom prst="line">
                  <a:avLst/>
                </a:prstGeom>
                <a:noFill/>
                <a:ln w="17463"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grpSp>
      </p:grpSp>
      <p:sp>
        <p:nvSpPr>
          <p:cNvPr id="48" name="Rectangle 47">
            <a:extLst>
              <a:ext uri="{FF2B5EF4-FFF2-40B4-BE49-F238E27FC236}">
                <a16:creationId xmlns:a16="http://schemas.microsoft.com/office/drawing/2014/main" id="{9358834F-B8D3-4030-BE86-0C6F22FD5284}"/>
              </a:ext>
              <a:ext uri="{C183D7F6-B498-43B3-948B-1728B52AA6E4}">
                <adec:decorative xmlns:adec="http://schemas.microsoft.com/office/drawing/2017/decorative" val="1"/>
              </a:ext>
            </a:extLst>
          </p:cNvPr>
          <p:cNvSpPr/>
          <p:nvPr/>
        </p:nvSpPr>
        <p:spPr bwMode="auto">
          <a:xfrm>
            <a:off x="8804184" y="2468201"/>
            <a:ext cx="3050318" cy="3682230"/>
          </a:xfrm>
          <a:prstGeom prst="rect">
            <a:avLst/>
          </a:prstGeom>
          <a:solidFill>
            <a:schemeClr val="bg1"/>
          </a:solid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3" name="Rectangle 12">
            <a:extLst>
              <a:ext uri="{FF2B5EF4-FFF2-40B4-BE49-F238E27FC236}">
                <a16:creationId xmlns:a16="http://schemas.microsoft.com/office/drawing/2014/main" id="{1B4E48AD-1511-4BE2-9C96-4FD29C3C9CBF}"/>
              </a:ext>
              <a:ext uri="{C183D7F6-B498-43B3-948B-1728B52AA6E4}">
                <adec:decorative xmlns:adec="http://schemas.microsoft.com/office/drawing/2017/decorative" val="1"/>
              </a:ext>
            </a:extLst>
          </p:cNvPr>
          <p:cNvSpPr/>
          <p:nvPr/>
        </p:nvSpPr>
        <p:spPr bwMode="auto">
          <a:xfrm>
            <a:off x="2101437" y="2468200"/>
            <a:ext cx="3050318" cy="3682230"/>
          </a:xfrm>
          <a:prstGeom prst="rect">
            <a:avLst/>
          </a:prstGeom>
          <a:solidFill>
            <a:schemeClr val="bg1"/>
          </a:solid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810D493E-A36F-40FB-9835-0F9895E0DF5A}"/>
              </a:ext>
            </a:extLst>
          </p:cNvPr>
          <p:cNvSpPr/>
          <p:nvPr/>
        </p:nvSpPr>
        <p:spPr bwMode="auto">
          <a:xfrm>
            <a:off x="3030119" y="2356533"/>
            <a:ext cx="1192955" cy="246643"/>
          </a:xfrm>
          <a:prstGeom prst="rect">
            <a:avLst/>
          </a:prstGeom>
          <a:solidFill>
            <a:schemeClr val="bg1"/>
          </a:solidFill>
          <a:ln w="635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91440" tIns="0" rIns="9144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78D3"/>
                </a:solidFill>
                <a:effectLst/>
                <a:uLnTx/>
                <a:uFillTx/>
                <a:latin typeface="Segoe UI Semibold"/>
                <a:ea typeface="Segoe UI" pitchFamily="34" charset="0"/>
                <a:cs typeface="Segoe UI" pitchFamily="34" charset="0"/>
              </a:rPr>
              <a:t>Principles</a:t>
            </a:r>
          </a:p>
        </p:txBody>
      </p:sp>
      <p:sp>
        <p:nvSpPr>
          <p:cNvPr id="5" name="Rectangle 4">
            <a:extLst>
              <a:ext uri="{FF2B5EF4-FFF2-40B4-BE49-F238E27FC236}">
                <a16:creationId xmlns:a16="http://schemas.microsoft.com/office/drawing/2014/main" id="{BA8F9600-25DF-40A2-86E1-9DF068B9C681}"/>
              </a:ext>
            </a:extLst>
          </p:cNvPr>
          <p:cNvSpPr/>
          <p:nvPr/>
        </p:nvSpPr>
        <p:spPr bwMode="auto">
          <a:xfrm>
            <a:off x="2356223" y="3164037"/>
            <a:ext cx="2540746"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Cloud Adoption Framework</a:t>
            </a:r>
          </a:p>
        </p:txBody>
      </p:sp>
      <p:sp>
        <p:nvSpPr>
          <p:cNvPr id="3" name="Rectangle 2">
            <a:extLst>
              <a:ext uri="{FF2B5EF4-FFF2-40B4-BE49-F238E27FC236}">
                <a16:creationId xmlns:a16="http://schemas.microsoft.com/office/drawing/2014/main" id="{C8EF1B1B-4FE9-4C00-A8D5-82A803947A7B}"/>
              </a:ext>
            </a:extLst>
          </p:cNvPr>
          <p:cNvSpPr/>
          <p:nvPr/>
        </p:nvSpPr>
        <p:spPr bwMode="auto">
          <a:xfrm>
            <a:off x="2356223" y="4501144"/>
            <a:ext cx="2540746"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Well Architected Framework</a:t>
            </a:r>
            <a:endParaRPr kumimoji="0" lang="en-US" sz="20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1" name="Rectangle 10">
            <a:extLst>
              <a:ext uri="{FF2B5EF4-FFF2-40B4-BE49-F238E27FC236}">
                <a16:creationId xmlns:a16="http://schemas.microsoft.com/office/drawing/2014/main" id="{060DF712-BF04-4AEC-9AC0-DC7988796F0F}"/>
              </a:ext>
            </a:extLst>
          </p:cNvPr>
          <p:cNvSpPr/>
          <p:nvPr/>
        </p:nvSpPr>
        <p:spPr bwMode="auto">
          <a:xfrm>
            <a:off x="9966904" y="2356534"/>
            <a:ext cx="724878" cy="246643"/>
          </a:xfrm>
          <a:prstGeom prst="rect">
            <a:avLst/>
          </a:prstGeom>
          <a:solidFill>
            <a:schemeClr val="bg1"/>
          </a:solidFill>
          <a:ln w="635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91440" tIns="0" rIns="9144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78D3"/>
                </a:solidFill>
                <a:effectLst/>
                <a:uLnTx/>
                <a:uFillTx/>
                <a:latin typeface="Segoe UI Semibold"/>
                <a:ea typeface="+mn-ea"/>
                <a:cs typeface="Segoe UI" pitchFamily="34" charset="0"/>
              </a:rPr>
              <a:t>Tools</a:t>
            </a:r>
          </a:p>
        </p:txBody>
      </p:sp>
      <p:sp>
        <p:nvSpPr>
          <p:cNvPr id="82" name="Rectangle 81">
            <a:extLst>
              <a:ext uri="{FF2B5EF4-FFF2-40B4-BE49-F238E27FC236}">
                <a16:creationId xmlns:a16="http://schemas.microsoft.com/office/drawing/2014/main" id="{C4186630-2F3A-474E-855A-DBA159ABEA63}"/>
              </a:ext>
            </a:extLst>
          </p:cNvPr>
          <p:cNvSpPr/>
          <p:nvPr/>
        </p:nvSpPr>
        <p:spPr bwMode="auto">
          <a:xfrm>
            <a:off x="9064446" y="3595750"/>
            <a:ext cx="2540746"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Semibold"/>
              </a:rPr>
              <a:t>Azure Advisor</a:t>
            </a:r>
            <a:endParaRPr kumimoji="0" lang="en-US" sz="1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83" name="Rectangle 82">
            <a:extLst>
              <a:ext uri="{FF2B5EF4-FFF2-40B4-BE49-F238E27FC236}">
                <a16:creationId xmlns:a16="http://schemas.microsoft.com/office/drawing/2014/main" id="{C5DE67C7-92E4-4B92-9572-4090B2E6131A}"/>
              </a:ext>
            </a:extLst>
          </p:cNvPr>
          <p:cNvSpPr/>
          <p:nvPr/>
        </p:nvSpPr>
        <p:spPr bwMode="auto">
          <a:xfrm>
            <a:off x="8896647" y="2803364"/>
            <a:ext cx="2876344"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Azure Cost Management</a:t>
            </a:r>
            <a:endParaRPr kumimoji="0" lang="en-US" sz="16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84" name="Rectangle 83">
            <a:extLst>
              <a:ext uri="{FF2B5EF4-FFF2-40B4-BE49-F238E27FC236}">
                <a16:creationId xmlns:a16="http://schemas.microsoft.com/office/drawing/2014/main" id="{42710B73-9E2E-47AE-82CB-38CED70C2DA6}"/>
              </a:ext>
            </a:extLst>
          </p:cNvPr>
          <p:cNvSpPr/>
          <p:nvPr/>
        </p:nvSpPr>
        <p:spPr bwMode="auto">
          <a:xfrm>
            <a:off x="9064446" y="5180523"/>
            <a:ext cx="2540746"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Azure Policy</a:t>
            </a:r>
          </a:p>
        </p:txBody>
      </p:sp>
      <p:sp>
        <p:nvSpPr>
          <p:cNvPr id="97" name="Rectangle 96">
            <a:extLst>
              <a:ext uri="{FF2B5EF4-FFF2-40B4-BE49-F238E27FC236}">
                <a16:creationId xmlns:a16="http://schemas.microsoft.com/office/drawing/2014/main" id="{90381544-2739-4CF7-BB75-91DDDE276244}"/>
              </a:ext>
            </a:extLst>
          </p:cNvPr>
          <p:cNvSpPr/>
          <p:nvPr/>
        </p:nvSpPr>
        <p:spPr bwMode="auto">
          <a:xfrm>
            <a:off x="8809660" y="4388136"/>
            <a:ext cx="3050318"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Azure Management Group</a:t>
            </a:r>
          </a:p>
        </p:txBody>
      </p:sp>
      <p:sp>
        <p:nvSpPr>
          <p:cNvPr id="21" name="Rectangle 20">
            <a:extLst>
              <a:ext uri="{FF2B5EF4-FFF2-40B4-BE49-F238E27FC236}">
                <a16:creationId xmlns:a16="http://schemas.microsoft.com/office/drawing/2014/main" id="{0D822BE0-D06E-4DA1-AA76-206DE8310FDA}"/>
              </a:ext>
              <a:ext uri="{C183D7F6-B498-43B3-948B-1728B52AA6E4}">
                <adec:decorative xmlns:adec="http://schemas.microsoft.com/office/drawing/2017/decorative" val="1"/>
              </a:ext>
            </a:extLst>
          </p:cNvPr>
          <p:cNvSpPr/>
          <p:nvPr/>
        </p:nvSpPr>
        <p:spPr bwMode="auto">
          <a:xfrm>
            <a:off x="5442409" y="2468200"/>
            <a:ext cx="3050318" cy="3682230"/>
          </a:xfrm>
          <a:prstGeom prst="rect">
            <a:avLst/>
          </a:prstGeom>
          <a:solidFill>
            <a:schemeClr val="bg1"/>
          </a:solid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2" name="Rectangle 21">
            <a:extLst>
              <a:ext uri="{FF2B5EF4-FFF2-40B4-BE49-F238E27FC236}">
                <a16:creationId xmlns:a16="http://schemas.microsoft.com/office/drawing/2014/main" id="{387F6658-B5FD-4B2E-8C51-46698748B85C}"/>
              </a:ext>
            </a:extLst>
          </p:cNvPr>
          <p:cNvSpPr/>
          <p:nvPr/>
        </p:nvSpPr>
        <p:spPr bwMode="auto">
          <a:xfrm>
            <a:off x="5959922" y="2356533"/>
            <a:ext cx="2015295" cy="276999"/>
          </a:xfrm>
          <a:prstGeom prst="rect">
            <a:avLst/>
          </a:prstGeom>
          <a:solidFill>
            <a:schemeClr val="bg1"/>
          </a:solidFill>
          <a:ln w="635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91440" tIns="0" rIns="9144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78D3"/>
                </a:solidFill>
                <a:effectLst/>
                <a:uLnTx/>
                <a:uFillTx/>
                <a:latin typeface="Segoe UI Semibold"/>
                <a:ea typeface="+mn-ea"/>
                <a:cs typeface="Segoe UI" pitchFamily="34" charset="0"/>
              </a:rPr>
              <a:t>Billing Constructs</a:t>
            </a:r>
          </a:p>
        </p:txBody>
      </p:sp>
      <p:sp>
        <p:nvSpPr>
          <p:cNvPr id="15" name="Rectangle 14">
            <a:extLst>
              <a:ext uri="{FF2B5EF4-FFF2-40B4-BE49-F238E27FC236}">
                <a16:creationId xmlns:a16="http://schemas.microsoft.com/office/drawing/2014/main" id="{AFC7C9E5-3370-48E9-8F9B-8EA94D691A60}"/>
              </a:ext>
            </a:extLst>
          </p:cNvPr>
          <p:cNvSpPr/>
          <p:nvPr/>
        </p:nvSpPr>
        <p:spPr bwMode="auto">
          <a:xfrm>
            <a:off x="5697195" y="2921018"/>
            <a:ext cx="2540746"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Reservations</a:t>
            </a:r>
            <a:endParaRPr kumimoji="0" lang="en-US" sz="18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7" name="Rectangle 16">
            <a:extLst>
              <a:ext uri="{FF2B5EF4-FFF2-40B4-BE49-F238E27FC236}">
                <a16:creationId xmlns:a16="http://schemas.microsoft.com/office/drawing/2014/main" id="{F25F1566-89A5-4018-8070-34BF6B7146EF}"/>
              </a:ext>
            </a:extLst>
          </p:cNvPr>
          <p:cNvSpPr/>
          <p:nvPr/>
        </p:nvSpPr>
        <p:spPr bwMode="auto">
          <a:xfrm>
            <a:off x="5697195" y="3835084"/>
            <a:ext cx="2540746"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Hybrid Benefit</a:t>
            </a:r>
            <a:endParaRPr kumimoji="0" lang="en-US" sz="18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6" name="Rectangle 5">
            <a:extLst>
              <a:ext uri="{FF2B5EF4-FFF2-40B4-BE49-F238E27FC236}">
                <a16:creationId xmlns:a16="http://schemas.microsoft.com/office/drawing/2014/main" id="{C00FD9B9-E528-43A3-8211-068842978A50}"/>
              </a:ext>
            </a:extLst>
          </p:cNvPr>
          <p:cNvSpPr/>
          <p:nvPr/>
        </p:nvSpPr>
        <p:spPr bwMode="auto">
          <a:xfrm>
            <a:off x="5697195" y="4749152"/>
            <a:ext cx="2540746" cy="8368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Semibold" panose="020B0702040204020203" pitchFamily="34" charset="0"/>
                <a:ea typeface="+mn-ea"/>
                <a:cs typeface="+mn-cs"/>
              </a:rPr>
              <a:t>Spot Instances</a:t>
            </a:r>
            <a:endParaRPr kumimoji="0" lang="en-US" sz="18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pic>
        <p:nvPicPr>
          <p:cNvPr id="2" name="Picture 2" descr="Microsoft Azure - Apps on Google Play">
            <a:extLst>
              <a:ext uri="{FF2B5EF4-FFF2-40B4-BE49-F238E27FC236}">
                <a16:creationId xmlns:a16="http://schemas.microsoft.com/office/drawing/2014/main" id="{9CD15768-5C36-45D5-B33B-FDB7312C4D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16824" y="239707"/>
            <a:ext cx="659005" cy="659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80545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708AE74-98A8-4C19-896D-281A6D9B4AB2}"/>
              </a:ext>
              <a:ext uri="{C183D7F6-B498-43B3-948B-1728B52AA6E4}">
                <adec:decorative xmlns:adec="http://schemas.microsoft.com/office/drawing/2017/decorative" val="1"/>
              </a:ext>
            </a:extLst>
          </p:cNvPr>
          <p:cNvSpPr/>
          <p:nvPr/>
        </p:nvSpPr>
        <p:spPr>
          <a:xfrm flipV="1">
            <a:off x="-11452" y="5388338"/>
            <a:ext cx="12203452" cy="7733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5" name="Rectangle 14">
            <a:extLst>
              <a:ext uri="{FF2B5EF4-FFF2-40B4-BE49-F238E27FC236}">
                <a16:creationId xmlns:a16="http://schemas.microsoft.com/office/drawing/2014/main" id="{EA33F950-6BDC-4F00-8F1C-9E8D9289E0A8}"/>
              </a:ext>
              <a:ext uri="{C183D7F6-B498-43B3-948B-1728B52AA6E4}">
                <adec:decorative xmlns:adec="http://schemas.microsoft.com/office/drawing/2017/decorative" val="1"/>
              </a:ext>
            </a:extLst>
          </p:cNvPr>
          <p:cNvSpPr/>
          <p:nvPr/>
        </p:nvSpPr>
        <p:spPr>
          <a:xfrm flipV="1">
            <a:off x="-11452" y="3749327"/>
            <a:ext cx="12203452" cy="7733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3" name="Rectangle 102">
            <a:extLst>
              <a:ext uri="{FF2B5EF4-FFF2-40B4-BE49-F238E27FC236}">
                <a16:creationId xmlns:a16="http://schemas.microsoft.com/office/drawing/2014/main" id="{AAC93843-DE98-431B-9AF4-2B4F039B1947}"/>
              </a:ext>
              <a:ext uri="{C183D7F6-B498-43B3-948B-1728B52AA6E4}">
                <adec:decorative xmlns:adec="http://schemas.microsoft.com/office/drawing/2017/decorative" val="1"/>
              </a:ext>
            </a:extLst>
          </p:cNvPr>
          <p:cNvSpPr/>
          <p:nvPr/>
        </p:nvSpPr>
        <p:spPr>
          <a:xfrm flipV="1">
            <a:off x="-11452" y="2237168"/>
            <a:ext cx="12203452" cy="7733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5" name="Rectangle 64">
            <a:extLst>
              <a:ext uri="{FF2B5EF4-FFF2-40B4-BE49-F238E27FC236}">
                <a16:creationId xmlns:a16="http://schemas.microsoft.com/office/drawing/2014/main" id="{E5C9CF72-EABD-4FC8-A319-26059F984B64}"/>
              </a:ext>
              <a:ext uri="{C183D7F6-B498-43B3-948B-1728B52AA6E4}">
                <adec:decorative xmlns:adec="http://schemas.microsoft.com/office/drawing/2017/decorative" val="1"/>
              </a:ext>
            </a:extLst>
          </p:cNvPr>
          <p:cNvSpPr/>
          <p:nvPr/>
        </p:nvSpPr>
        <p:spPr>
          <a:xfrm flipV="1">
            <a:off x="0" y="1098817"/>
            <a:ext cx="12203452" cy="6428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2" name="Title 1"/>
          <p:cNvSpPr>
            <a:spLocks noGrp="1"/>
          </p:cNvSpPr>
          <p:nvPr>
            <p:ph type="title"/>
          </p:nvPr>
        </p:nvSpPr>
        <p:spPr>
          <a:xfrm>
            <a:off x="102645" y="188887"/>
            <a:ext cx="11520015" cy="600075"/>
          </a:xfrm>
        </p:spPr>
        <p:txBody>
          <a:bodyPr>
            <a:noAutofit/>
          </a:bodyPr>
          <a:lstStyle/>
          <a:p>
            <a:r>
              <a:rPr lang="en-US" sz="2800" dirty="0">
                <a:latin typeface="Segoe UI Semibold (headings)"/>
              </a:rPr>
              <a:t>Microsoft provides solutions to continously optimize your environment</a:t>
            </a:r>
            <a:endParaRPr lang="en-US" sz="2800" dirty="0"/>
          </a:p>
        </p:txBody>
      </p:sp>
      <p:sp>
        <p:nvSpPr>
          <p:cNvPr id="12" name="TextBox 11"/>
          <p:cNvSpPr txBox="1"/>
          <p:nvPr/>
        </p:nvSpPr>
        <p:spPr>
          <a:xfrm>
            <a:off x="5147364" y="1252210"/>
            <a:ext cx="2191982" cy="246221"/>
          </a:xfrm>
          <a:prstGeom prst="rect">
            <a:avLst/>
          </a:prstGeom>
          <a:noFill/>
        </p:spPr>
        <p:txBody>
          <a:bodyPr wrap="square" lIns="0" tIns="0" rIns="0" bIns="0" rtlCol="0" anchor="t" anchorCtr="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8D3"/>
                </a:solidFill>
                <a:effectLst/>
                <a:uLnTx/>
                <a:uFillTx/>
                <a:latin typeface="Segoe UI Semibold" panose="020B0702040204020203" pitchFamily="34" charset="0"/>
                <a:ea typeface="+mn-ea"/>
                <a:cs typeface="Segoe UI Semibold" panose="020B0702040204020203" pitchFamily="34" charset="0"/>
              </a:rPr>
              <a:t>Functionality</a:t>
            </a:r>
          </a:p>
        </p:txBody>
      </p:sp>
      <p:sp>
        <p:nvSpPr>
          <p:cNvPr id="13" name="TextBox 12"/>
          <p:cNvSpPr txBox="1"/>
          <p:nvPr/>
        </p:nvSpPr>
        <p:spPr>
          <a:xfrm>
            <a:off x="9602291" y="1252210"/>
            <a:ext cx="2316097" cy="246221"/>
          </a:xfrm>
          <a:prstGeom prst="rect">
            <a:avLst/>
          </a:prstGeom>
          <a:noFill/>
        </p:spPr>
        <p:txBody>
          <a:bodyPr wrap="square" lIns="0" tIns="0" rIns="0" bIns="0" rtlCol="0" anchor="t" anchorCtr="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8D3"/>
                </a:solidFill>
                <a:effectLst/>
                <a:uLnTx/>
                <a:uFillTx/>
                <a:latin typeface="Segoe UI Semibold" panose="020B0702040204020203" pitchFamily="34" charset="0"/>
                <a:ea typeface="+mn-ea"/>
                <a:cs typeface="Segoe UI Semibold" panose="020B0702040204020203" pitchFamily="34" charset="0"/>
              </a:rPr>
              <a:t>Goal</a:t>
            </a:r>
          </a:p>
        </p:txBody>
      </p:sp>
      <p:sp>
        <p:nvSpPr>
          <p:cNvPr id="89" name="TextBox 88">
            <a:extLst>
              <a:ext uri="{FF2B5EF4-FFF2-40B4-BE49-F238E27FC236}">
                <a16:creationId xmlns:a16="http://schemas.microsoft.com/office/drawing/2014/main" id="{0B0AD462-B8F0-41CA-B702-913EE8681942}"/>
              </a:ext>
            </a:extLst>
          </p:cNvPr>
          <p:cNvSpPr txBox="1"/>
          <p:nvPr/>
        </p:nvSpPr>
        <p:spPr>
          <a:xfrm>
            <a:off x="2351397" y="1129099"/>
            <a:ext cx="1860410" cy="492443"/>
          </a:xfrm>
          <a:prstGeom prst="rect">
            <a:avLst/>
          </a:prstGeom>
          <a:noFill/>
        </p:spPr>
        <p:txBody>
          <a:bodyPr wrap="square" lIns="0" tIns="0" rIns="0" bIns="0" rtlCol="0" anchor="t" anchorCtr="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8D3"/>
                </a:solidFill>
                <a:effectLst/>
                <a:uLnTx/>
                <a:uFillTx/>
                <a:latin typeface="Segoe UI Semibold" panose="020B0702040204020203" pitchFamily="34" charset="0"/>
                <a:ea typeface="+mn-ea"/>
                <a:cs typeface="Segoe UI Semibold" panose="020B0702040204020203" pitchFamily="34" charset="0"/>
              </a:rPr>
              <a:t>Principles, Billing Constructs, Tools?</a:t>
            </a:r>
          </a:p>
        </p:txBody>
      </p:sp>
      <p:sp>
        <p:nvSpPr>
          <p:cNvPr id="32" name="TextBox 31"/>
          <p:cNvSpPr txBox="1"/>
          <p:nvPr/>
        </p:nvSpPr>
        <p:spPr>
          <a:xfrm>
            <a:off x="5167973" y="1910232"/>
            <a:ext cx="2150765" cy="184666"/>
          </a:xfrm>
          <a:prstGeom prst="rect">
            <a:avLst/>
          </a:prstGeom>
          <a:noFill/>
        </p:spPr>
        <p:txBody>
          <a:bodyPr wrap="square" lIns="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Pre-migration</a:t>
            </a:r>
          </a:p>
        </p:txBody>
      </p:sp>
      <p:sp>
        <p:nvSpPr>
          <p:cNvPr id="33" name="TextBox 32"/>
          <p:cNvSpPr txBox="1"/>
          <p:nvPr/>
        </p:nvSpPr>
        <p:spPr>
          <a:xfrm>
            <a:off x="8270934" y="1811255"/>
            <a:ext cx="3370551" cy="338554"/>
          </a:xfrm>
          <a:prstGeom prst="rect">
            <a:avLst/>
          </a:prstGeom>
          <a:noFill/>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Semibold"/>
                <a:ea typeface="+mn-ea"/>
                <a:cs typeface="+mn-cs"/>
              </a:rPr>
              <a:t>To enable desired </a:t>
            </a:r>
            <a:r>
              <a:rPr lang="en-US" sz="1100" dirty="0">
                <a:solidFill>
                  <a:srgbClr val="000000"/>
                </a:solidFill>
                <a:latin typeface="Segoe UI Semibold"/>
              </a:rPr>
              <a:t>business</a:t>
            </a:r>
            <a:r>
              <a:rPr kumimoji="0" lang="en-US" sz="1100" b="0" i="0" u="none" strike="noStrike" kern="1200" cap="none" spc="0" normalizeH="0" baseline="0" noProof="0" dirty="0">
                <a:ln>
                  <a:noFill/>
                </a:ln>
                <a:solidFill>
                  <a:srgbClr val="000000"/>
                </a:solidFill>
                <a:effectLst/>
                <a:uLnTx/>
                <a:uFillTx/>
                <a:latin typeface="Segoe UI Semibold"/>
                <a:ea typeface="+mn-ea"/>
                <a:cs typeface="+mn-cs"/>
              </a:rPr>
              <a:t> outcomes and adopt to cloud with confidence</a:t>
            </a:r>
          </a:p>
        </p:txBody>
      </p:sp>
      <p:sp>
        <p:nvSpPr>
          <p:cNvPr id="96" name="Rectangle 95">
            <a:extLst>
              <a:ext uri="{FF2B5EF4-FFF2-40B4-BE49-F238E27FC236}">
                <a16:creationId xmlns:a16="http://schemas.microsoft.com/office/drawing/2014/main" id="{7A286EB9-BAF3-4CB5-B511-8C4F1C6A7F26}"/>
              </a:ext>
            </a:extLst>
          </p:cNvPr>
          <p:cNvSpPr/>
          <p:nvPr/>
        </p:nvSpPr>
        <p:spPr bwMode="auto">
          <a:xfrm>
            <a:off x="102646" y="1725566"/>
            <a:ext cx="1286305"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spAutoFit/>
          </a:bodyPr>
          <a:lstStyle/>
          <a:p>
            <a:pPr marL="0" marR="0" lvl="0" indent="0" algn="ctr" defTabSz="91374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Segoe UI" panose="020B0502040204020203" pitchFamily="34" charset="0"/>
                <a:cs typeface="Segoe UI" panose="020B0502040204020203" pitchFamily="34" charset="0"/>
              </a:rPr>
              <a:t>Cloud Adoption Framework</a:t>
            </a:r>
          </a:p>
        </p:txBody>
      </p:sp>
      <p:sp>
        <p:nvSpPr>
          <p:cNvPr id="98" name="TextBox 97">
            <a:extLst>
              <a:ext uri="{FF2B5EF4-FFF2-40B4-BE49-F238E27FC236}">
                <a16:creationId xmlns:a16="http://schemas.microsoft.com/office/drawing/2014/main" id="{889446AC-1552-484C-BAC2-E37AD4B6D0B6}"/>
              </a:ext>
            </a:extLst>
          </p:cNvPr>
          <p:cNvSpPr txBox="1"/>
          <p:nvPr/>
        </p:nvSpPr>
        <p:spPr>
          <a:xfrm>
            <a:off x="2274585" y="1919466"/>
            <a:ext cx="2150765" cy="166199"/>
          </a:xfrm>
          <a:prstGeom prst="rect">
            <a:avLst/>
          </a:prstGeom>
          <a:noFill/>
        </p:spPr>
        <p:txBody>
          <a:bodyPr wrap="square" lIns="0" tIns="0" rIns="0" bIns="0" rtlCol="0" anchor="t" anchorCtr="0">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Principles</a:t>
            </a:r>
          </a:p>
        </p:txBody>
      </p:sp>
      <p:sp>
        <p:nvSpPr>
          <p:cNvPr id="97" name="Rectangle 96">
            <a:extLst>
              <a:ext uri="{FF2B5EF4-FFF2-40B4-BE49-F238E27FC236}">
                <a16:creationId xmlns:a16="http://schemas.microsoft.com/office/drawing/2014/main" id="{58D7F6E9-1B45-4958-BD21-44829FC2BC9B}"/>
              </a:ext>
            </a:extLst>
          </p:cNvPr>
          <p:cNvSpPr/>
          <p:nvPr/>
        </p:nvSpPr>
        <p:spPr bwMode="auto">
          <a:xfrm>
            <a:off x="102646" y="2372391"/>
            <a:ext cx="1286305"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spAutoFit/>
          </a:bodyPr>
          <a:lstStyle/>
          <a:p>
            <a:pPr marL="0" marR="0" lvl="0" indent="0" algn="ctr" defTabSz="91374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Segoe UI" panose="020B0502040204020203" pitchFamily="34" charset="0"/>
                <a:cs typeface="Segoe UI" panose="020B0502040204020203" pitchFamily="34" charset="0"/>
              </a:rPr>
              <a:t>Well Architected Framework</a:t>
            </a:r>
          </a:p>
        </p:txBody>
      </p:sp>
      <p:sp>
        <p:nvSpPr>
          <p:cNvPr id="29" name="TextBox 28"/>
          <p:cNvSpPr txBox="1"/>
          <p:nvPr/>
        </p:nvSpPr>
        <p:spPr>
          <a:xfrm>
            <a:off x="4959333" y="2548734"/>
            <a:ext cx="2568045" cy="166199"/>
          </a:xfrm>
          <a:prstGeom prst="rect">
            <a:avLst/>
          </a:prstGeom>
          <a:noFill/>
        </p:spPr>
        <p:txBody>
          <a:bodyPr wrap="square" lIns="0" tIns="0" rIns="0" bIns="0" rtlCol="0" anchor="t" anchorCtr="0">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Post-migration</a:t>
            </a:r>
          </a:p>
        </p:txBody>
      </p:sp>
      <p:sp>
        <p:nvSpPr>
          <p:cNvPr id="34" name="TextBox 33"/>
          <p:cNvSpPr txBox="1"/>
          <p:nvPr/>
        </p:nvSpPr>
        <p:spPr>
          <a:xfrm>
            <a:off x="8270934" y="2479484"/>
            <a:ext cx="3351727" cy="304699"/>
          </a:xfrm>
          <a:prstGeom prst="rect">
            <a:avLst/>
          </a:prstGeom>
          <a:noFill/>
        </p:spPr>
        <p:txBody>
          <a:bodyPr wrap="square" lIns="0" tIns="0" rIns="0" bIns="0" rtlCol="0" anchor="t"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mn-ea"/>
                <a:cs typeface="+mn-cs"/>
              </a:rPr>
              <a:t>To improve the quality of the workloads based on guiding pillars of architectural framework</a:t>
            </a:r>
          </a:p>
        </p:txBody>
      </p:sp>
      <p:sp>
        <p:nvSpPr>
          <p:cNvPr id="101" name="TextBox 100">
            <a:extLst>
              <a:ext uri="{FF2B5EF4-FFF2-40B4-BE49-F238E27FC236}">
                <a16:creationId xmlns:a16="http://schemas.microsoft.com/office/drawing/2014/main" id="{66026BFF-BC78-4261-868E-06CA8D8CC209}"/>
              </a:ext>
            </a:extLst>
          </p:cNvPr>
          <p:cNvSpPr txBox="1"/>
          <p:nvPr/>
        </p:nvSpPr>
        <p:spPr>
          <a:xfrm>
            <a:off x="2274585" y="2548734"/>
            <a:ext cx="2150765" cy="166199"/>
          </a:xfrm>
          <a:prstGeom prst="rect">
            <a:avLst/>
          </a:prstGeom>
          <a:noFill/>
        </p:spPr>
        <p:txBody>
          <a:bodyPr wrap="square" lIns="0" tIns="0" rIns="0" bIns="0" rtlCol="0" anchor="t" anchorCtr="0">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Principles</a:t>
            </a:r>
          </a:p>
        </p:txBody>
      </p:sp>
      <p:sp>
        <p:nvSpPr>
          <p:cNvPr id="40" name="TextBox 39">
            <a:extLst>
              <a:ext uri="{FF2B5EF4-FFF2-40B4-BE49-F238E27FC236}">
                <a16:creationId xmlns:a16="http://schemas.microsoft.com/office/drawing/2014/main" id="{E444D115-FFA5-4A4E-A906-DAA1D0AFC630}"/>
              </a:ext>
            </a:extLst>
          </p:cNvPr>
          <p:cNvSpPr txBox="1"/>
          <p:nvPr/>
        </p:nvSpPr>
        <p:spPr>
          <a:xfrm>
            <a:off x="4669088" y="4755522"/>
            <a:ext cx="3148534" cy="553998"/>
          </a:xfrm>
          <a:prstGeom prst="rect">
            <a:avLst/>
          </a:prstGeom>
          <a:noFill/>
        </p:spPr>
        <p:txBody>
          <a:bodyPr wrap="square" lIns="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Monitor cloud spend, drive organizational accountability, and optimize cloud efficiency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41" name="TextBox 40">
            <a:extLst>
              <a:ext uri="{FF2B5EF4-FFF2-40B4-BE49-F238E27FC236}">
                <a16:creationId xmlns:a16="http://schemas.microsoft.com/office/drawing/2014/main" id="{C6DCB827-740F-43A8-93A2-21632E00E756}"/>
              </a:ext>
            </a:extLst>
          </p:cNvPr>
          <p:cNvSpPr txBox="1"/>
          <p:nvPr/>
        </p:nvSpPr>
        <p:spPr>
          <a:xfrm>
            <a:off x="8270934" y="4617929"/>
            <a:ext cx="3370551" cy="677108"/>
          </a:xfrm>
          <a:prstGeom prst="rect">
            <a:avLst/>
          </a:prstGeom>
          <a:noFill/>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mn-ea"/>
                <a:cs typeface="+mn-cs"/>
              </a:rPr>
              <a:t>To enables cloud spend transparency that leads to better investment decisions by providing you the tools to monitor, allocate, and optimize your cloud costs</a:t>
            </a:r>
          </a:p>
        </p:txBody>
      </p:sp>
      <p:sp>
        <p:nvSpPr>
          <p:cNvPr id="42" name="Rectangle 41">
            <a:extLst>
              <a:ext uri="{FF2B5EF4-FFF2-40B4-BE49-F238E27FC236}">
                <a16:creationId xmlns:a16="http://schemas.microsoft.com/office/drawing/2014/main" id="{2407293A-52B2-42A9-9985-4845B914433D}"/>
              </a:ext>
            </a:extLst>
          </p:cNvPr>
          <p:cNvSpPr/>
          <p:nvPr/>
        </p:nvSpPr>
        <p:spPr bwMode="auto">
          <a:xfrm>
            <a:off x="102646" y="4672422"/>
            <a:ext cx="1286305"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spAutoFit/>
          </a:bodyPr>
          <a:lstStyle/>
          <a:p>
            <a:pPr marL="0" marR="0" lvl="0" indent="0" algn="ctr" defTabSz="91374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Segoe UI" panose="020B0502040204020203" pitchFamily="34" charset="0"/>
                <a:cs typeface="Segoe UI" panose="020B0502040204020203" pitchFamily="34" charset="0"/>
              </a:rPr>
              <a:t>Azure Cost Management</a:t>
            </a:r>
          </a:p>
        </p:txBody>
      </p:sp>
      <p:sp>
        <p:nvSpPr>
          <p:cNvPr id="43" name="TextBox 42">
            <a:extLst>
              <a:ext uri="{FF2B5EF4-FFF2-40B4-BE49-F238E27FC236}">
                <a16:creationId xmlns:a16="http://schemas.microsoft.com/office/drawing/2014/main" id="{F4A5A61E-F0F7-4BF2-BD2D-75D3F434EC96}"/>
              </a:ext>
            </a:extLst>
          </p:cNvPr>
          <p:cNvSpPr txBox="1"/>
          <p:nvPr/>
        </p:nvSpPr>
        <p:spPr>
          <a:xfrm>
            <a:off x="2274585" y="4866322"/>
            <a:ext cx="2150765" cy="166199"/>
          </a:xfrm>
          <a:prstGeom prst="rect">
            <a:avLst/>
          </a:prstGeom>
          <a:noFill/>
        </p:spPr>
        <p:txBody>
          <a:bodyPr wrap="square" lIns="0" tIns="0" rIns="0" bIns="0" rtlCol="0" anchor="t" anchorCtr="0">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Tools</a:t>
            </a:r>
          </a:p>
        </p:txBody>
      </p:sp>
      <p:sp>
        <p:nvSpPr>
          <p:cNvPr id="45" name="TextBox 44">
            <a:extLst>
              <a:ext uri="{FF2B5EF4-FFF2-40B4-BE49-F238E27FC236}">
                <a16:creationId xmlns:a16="http://schemas.microsoft.com/office/drawing/2014/main" id="{EF994263-636C-45B6-81F2-0BD27C454475}"/>
              </a:ext>
            </a:extLst>
          </p:cNvPr>
          <p:cNvSpPr txBox="1"/>
          <p:nvPr/>
        </p:nvSpPr>
        <p:spPr>
          <a:xfrm>
            <a:off x="4512378" y="3208035"/>
            <a:ext cx="3461954" cy="553998"/>
          </a:xfrm>
          <a:prstGeom prst="rect">
            <a:avLst/>
          </a:prstGeom>
          <a:noFill/>
        </p:spPr>
        <p:txBody>
          <a:bodyPr wrap="square" lIns="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Cost savings benefits to provide deep discounts on Azure cloud services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46" name="TextBox 45">
            <a:extLst>
              <a:ext uri="{FF2B5EF4-FFF2-40B4-BE49-F238E27FC236}">
                <a16:creationId xmlns:a16="http://schemas.microsoft.com/office/drawing/2014/main" id="{682D1941-EC31-4773-B21B-51DAA404D819}"/>
              </a:ext>
            </a:extLst>
          </p:cNvPr>
          <p:cNvSpPr txBox="1"/>
          <p:nvPr/>
        </p:nvSpPr>
        <p:spPr>
          <a:xfrm>
            <a:off x="8270934" y="3250385"/>
            <a:ext cx="3370551" cy="338554"/>
          </a:xfrm>
          <a:prstGeom prst="rect">
            <a:avLst/>
          </a:prstGeom>
          <a:noFill/>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mn-ea"/>
                <a:cs typeface="+mn-cs"/>
              </a:rPr>
              <a:t>To reduce the total cost of ownership for predictable workloads</a:t>
            </a:r>
          </a:p>
        </p:txBody>
      </p:sp>
      <p:sp>
        <p:nvSpPr>
          <p:cNvPr id="47" name="Rectangle 46">
            <a:extLst>
              <a:ext uri="{FF2B5EF4-FFF2-40B4-BE49-F238E27FC236}">
                <a16:creationId xmlns:a16="http://schemas.microsoft.com/office/drawing/2014/main" id="{40CB79DA-6D5E-4DAA-A35E-36D36420701C}"/>
              </a:ext>
            </a:extLst>
          </p:cNvPr>
          <p:cNvSpPr/>
          <p:nvPr/>
        </p:nvSpPr>
        <p:spPr bwMode="auto">
          <a:xfrm>
            <a:off x="102646" y="3153462"/>
            <a:ext cx="1286305"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spAutoFit/>
          </a:bodyPr>
          <a:lstStyle/>
          <a:p>
            <a:pPr marL="0" marR="0" lvl="0" indent="0" algn="ctr" defTabSz="91374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Segoe UI" panose="020B0502040204020203" pitchFamily="34" charset="0"/>
                <a:cs typeface="Segoe UI" panose="020B0502040204020203" pitchFamily="34" charset="0"/>
              </a:rPr>
              <a:t>RIs/Hybrid Benefit/Spot </a:t>
            </a:r>
          </a:p>
        </p:txBody>
      </p:sp>
      <p:sp>
        <p:nvSpPr>
          <p:cNvPr id="48" name="TextBox 47">
            <a:extLst>
              <a:ext uri="{FF2B5EF4-FFF2-40B4-BE49-F238E27FC236}">
                <a16:creationId xmlns:a16="http://schemas.microsoft.com/office/drawing/2014/main" id="{28ED67D0-0AD6-4242-A2C9-73CDAB55D6D0}"/>
              </a:ext>
            </a:extLst>
          </p:cNvPr>
          <p:cNvSpPr txBox="1"/>
          <p:nvPr/>
        </p:nvSpPr>
        <p:spPr>
          <a:xfrm>
            <a:off x="2274585" y="3302582"/>
            <a:ext cx="2150765" cy="166199"/>
          </a:xfrm>
          <a:prstGeom prst="rect">
            <a:avLst/>
          </a:prstGeom>
          <a:noFill/>
        </p:spPr>
        <p:txBody>
          <a:bodyPr wrap="square" lIns="0" tIns="0" rIns="0" bIns="0" rtlCol="0" anchor="t" anchorCtr="0">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Billing Constructs</a:t>
            </a:r>
          </a:p>
        </p:txBody>
      </p:sp>
      <p:sp>
        <p:nvSpPr>
          <p:cNvPr id="50" name="TextBox 49">
            <a:extLst>
              <a:ext uri="{FF2B5EF4-FFF2-40B4-BE49-F238E27FC236}">
                <a16:creationId xmlns:a16="http://schemas.microsoft.com/office/drawing/2014/main" id="{BFD73AA3-8553-41F8-B49D-5E7241E296DF}"/>
              </a:ext>
            </a:extLst>
          </p:cNvPr>
          <p:cNvSpPr txBox="1"/>
          <p:nvPr/>
        </p:nvSpPr>
        <p:spPr>
          <a:xfrm>
            <a:off x="4829091" y="3921414"/>
            <a:ext cx="2847354" cy="369332"/>
          </a:xfrm>
          <a:prstGeom prst="rect">
            <a:avLst/>
          </a:prstGeom>
          <a:noFill/>
        </p:spPr>
        <p:txBody>
          <a:bodyPr wrap="square" lIns="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Recommendations to optimize and properly manage services</a:t>
            </a:r>
          </a:p>
        </p:txBody>
      </p:sp>
      <p:sp>
        <p:nvSpPr>
          <p:cNvPr id="51" name="TextBox 50">
            <a:extLst>
              <a:ext uri="{FF2B5EF4-FFF2-40B4-BE49-F238E27FC236}">
                <a16:creationId xmlns:a16="http://schemas.microsoft.com/office/drawing/2014/main" id="{AB546EAE-8048-46F2-824F-27021D5EC734}"/>
              </a:ext>
            </a:extLst>
          </p:cNvPr>
          <p:cNvSpPr txBox="1"/>
          <p:nvPr/>
        </p:nvSpPr>
        <p:spPr>
          <a:xfrm>
            <a:off x="8270934" y="3798974"/>
            <a:ext cx="3370551" cy="677108"/>
          </a:xfrm>
          <a:prstGeom prst="rect">
            <a:avLst/>
          </a:prstGeom>
          <a:noFill/>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mn-ea"/>
                <a:cs typeface="+mn-cs"/>
              </a:rPr>
              <a:t>To provide actionable steps to improve the cost effectiveness, performance, Reliability (formerly called High availability), and security of your Azure resources. </a:t>
            </a:r>
          </a:p>
        </p:txBody>
      </p:sp>
      <p:sp>
        <p:nvSpPr>
          <p:cNvPr id="52" name="Rectangle 51">
            <a:extLst>
              <a:ext uri="{FF2B5EF4-FFF2-40B4-BE49-F238E27FC236}">
                <a16:creationId xmlns:a16="http://schemas.microsoft.com/office/drawing/2014/main" id="{F8773621-37CC-4F57-9496-8EBFAEBAF34A}"/>
              </a:ext>
            </a:extLst>
          </p:cNvPr>
          <p:cNvSpPr/>
          <p:nvPr/>
        </p:nvSpPr>
        <p:spPr bwMode="auto">
          <a:xfrm>
            <a:off x="112059" y="3941520"/>
            <a:ext cx="1286305" cy="3693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spAutoFit/>
          </a:bodyPr>
          <a:lstStyle/>
          <a:p>
            <a:pPr marL="0" marR="0" lvl="0" indent="0" algn="ctr" defTabSz="91374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Segoe UI" panose="020B0502040204020203" pitchFamily="34" charset="0"/>
                <a:cs typeface="Segoe UI" panose="020B0502040204020203" pitchFamily="34" charset="0"/>
              </a:rPr>
              <a:t>Azure Advisor</a:t>
            </a:r>
          </a:p>
        </p:txBody>
      </p:sp>
      <p:sp>
        <p:nvSpPr>
          <p:cNvPr id="53" name="TextBox 52">
            <a:extLst>
              <a:ext uri="{FF2B5EF4-FFF2-40B4-BE49-F238E27FC236}">
                <a16:creationId xmlns:a16="http://schemas.microsoft.com/office/drawing/2014/main" id="{F561D7A8-1E8D-4D62-ABED-3460CC7ACCE4}"/>
              </a:ext>
            </a:extLst>
          </p:cNvPr>
          <p:cNvSpPr txBox="1"/>
          <p:nvPr/>
        </p:nvSpPr>
        <p:spPr>
          <a:xfrm>
            <a:off x="2283998" y="4043087"/>
            <a:ext cx="2150765" cy="166199"/>
          </a:xfrm>
          <a:prstGeom prst="rect">
            <a:avLst/>
          </a:prstGeom>
          <a:noFill/>
        </p:spPr>
        <p:txBody>
          <a:bodyPr wrap="square" lIns="0" tIns="0" rIns="0" bIns="0" rtlCol="0" anchor="t" anchorCtr="0">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Tools</a:t>
            </a:r>
          </a:p>
        </p:txBody>
      </p:sp>
      <p:sp>
        <p:nvSpPr>
          <p:cNvPr id="55" name="TextBox 54">
            <a:extLst>
              <a:ext uri="{FF2B5EF4-FFF2-40B4-BE49-F238E27FC236}">
                <a16:creationId xmlns:a16="http://schemas.microsoft.com/office/drawing/2014/main" id="{3064D1D8-058C-4C40-A0E8-F84A62B24DDF}"/>
              </a:ext>
            </a:extLst>
          </p:cNvPr>
          <p:cNvSpPr txBox="1"/>
          <p:nvPr/>
        </p:nvSpPr>
        <p:spPr>
          <a:xfrm>
            <a:off x="4879369" y="5577414"/>
            <a:ext cx="2727973" cy="369332"/>
          </a:xfrm>
          <a:prstGeom prst="rect">
            <a:avLst/>
          </a:prstGeom>
          <a:noFill/>
        </p:spPr>
        <p:txBody>
          <a:bodyPr wrap="square" lIns="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Active control and governance at scale for your Azure resources</a:t>
            </a:r>
          </a:p>
        </p:txBody>
      </p:sp>
      <p:sp>
        <p:nvSpPr>
          <p:cNvPr id="56" name="TextBox 55">
            <a:extLst>
              <a:ext uri="{FF2B5EF4-FFF2-40B4-BE49-F238E27FC236}">
                <a16:creationId xmlns:a16="http://schemas.microsoft.com/office/drawing/2014/main" id="{C9498B62-808B-454C-B27D-52BD8252F38A}"/>
              </a:ext>
            </a:extLst>
          </p:cNvPr>
          <p:cNvSpPr txBox="1"/>
          <p:nvPr/>
        </p:nvSpPr>
        <p:spPr>
          <a:xfrm>
            <a:off x="8270934" y="5470862"/>
            <a:ext cx="3370551" cy="507831"/>
          </a:xfrm>
          <a:prstGeom prst="rect">
            <a:avLst/>
          </a:prstGeom>
          <a:noFill/>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mn-ea"/>
                <a:cs typeface="+mn-cs"/>
              </a:rPr>
              <a:t>To enforce how cloud resources are configured accordingly based on regulatory compliance, resource consistency, security, and cost management</a:t>
            </a:r>
          </a:p>
        </p:txBody>
      </p:sp>
      <p:sp>
        <p:nvSpPr>
          <p:cNvPr id="57" name="Rectangle 56">
            <a:extLst>
              <a:ext uri="{FF2B5EF4-FFF2-40B4-BE49-F238E27FC236}">
                <a16:creationId xmlns:a16="http://schemas.microsoft.com/office/drawing/2014/main" id="{04AD4F6E-EA76-4B7A-8910-7B4DA57B7133}"/>
              </a:ext>
            </a:extLst>
          </p:cNvPr>
          <p:cNvSpPr/>
          <p:nvPr/>
        </p:nvSpPr>
        <p:spPr bwMode="auto">
          <a:xfrm>
            <a:off x="102646" y="5577414"/>
            <a:ext cx="1286305" cy="3693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spAutoFit/>
          </a:bodyPr>
          <a:lstStyle/>
          <a:p>
            <a:pPr marL="0" marR="0" lvl="0" indent="0" algn="ctr" defTabSz="91374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Segoe UI" panose="020B0502040204020203" pitchFamily="34" charset="0"/>
                <a:cs typeface="Segoe UI" panose="020B0502040204020203" pitchFamily="34" charset="0"/>
              </a:rPr>
              <a:t>Azure Policy</a:t>
            </a:r>
          </a:p>
        </p:txBody>
      </p:sp>
      <p:sp>
        <p:nvSpPr>
          <p:cNvPr id="58" name="TextBox 57">
            <a:extLst>
              <a:ext uri="{FF2B5EF4-FFF2-40B4-BE49-F238E27FC236}">
                <a16:creationId xmlns:a16="http://schemas.microsoft.com/office/drawing/2014/main" id="{BF0884B7-88C0-4646-8FC4-9374AF0CC042}"/>
              </a:ext>
            </a:extLst>
          </p:cNvPr>
          <p:cNvSpPr txBox="1"/>
          <p:nvPr/>
        </p:nvSpPr>
        <p:spPr>
          <a:xfrm>
            <a:off x="2274585" y="5678981"/>
            <a:ext cx="2150765" cy="166199"/>
          </a:xfrm>
          <a:prstGeom prst="rect">
            <a:avLst/>
          </a:prstGeom>
          <a:noFill/>
        </p:spPr>
        <p:txBody>
          <a:bodyPr wrap="square" lIns="0" tIns="0" rIns="0" bIns="0" rtlCol="0" anchor="t" anchorCtr="0">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Tools</a:t>
            </a:r>
          </a:p>
        </p:txBody>
      </p:sp>
      <p:sp>
        <p:nvSpPr>
          <p:cNvPr id="60" name="TextBox 59">
            <a:extLst>
              <a:ext uri="{FF2B5EF4-FFF2-40B4-BE49-F238E27FC236}">
                <a16:creationId xmlns:a16="http://schemas.microsoft.com/office/drawing/2014/main" id="{D89BE8F0-7229-4441-A26B-3DE9B0F21D74}"/>
              </a:ext>
            </a:extLst>
          </p:cNvPr>
          <p:cNvSpPr txBox="1"/>
          <p:nvPr/>
        </p:nvSpPr>
        <p:spPr>
          <a:xfrm>
            <a:off x="4774533" y="6303532"/>
            <a:ext cx="2937644" cy="369332"/>
          </a:xfrm>
          <a:prstGeom prst="rect">
            <a:avLst/>
          </a:prstGeom>
          <a:noFill/>
        </p:spPr>
        <p:txBody>
          <a:bodyPr wrap="square" lIns="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Efficiently apply governance controls and manage groups of Azure subscriptions</a:t>
            </a:r>
          </a:p>
        </p:txBody>
      </p:sp>
      <p:sp>
        <p:nvSpPr>
          <p:cNvPr id="61" name="TextBox 60">
            <a:extLst>
              <a:ext uri="{FF2B5EF4-FFF2-40B4-BE49-F238E27FC236}">
                <a16:creationId xmlns:a16="http://schemas.microsoft.com/office/drawing/2014/main" id="{8518AC97-267D-47EE-9032-1B27B065AA75}"/>
              </a:ext>
            </a:extLst>
          </p:cNvPr>
          <p:cNvSpPr txBox="1"/>
          <p:nvPr/>
        </p:nvSpPr>
        <p:spPr>
          <a:xfrm>
            <a:off x="8270934" y="6255692"/>
            <a:ext cx="3370551" cy="507831"/>
          </a:xfrm>
          <a:prstGeom prst="rect">
            <a:avLst/>
          </a:prstGeom>
          <a:noFill/>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Semibold"/>
                <a:ea typeface="+mn-ea"/>
                <a:cs typeface="+mn-cs"/>
              </a:rPr>
              <a:t>To efficiently management access, policies, and compliance for your Azure Subscription environment at scale </a:t>
            </a:r>
          </a:p>
        </p:txBody>
      </p:sp>
      <p:sp>
        <p:nvSpPr>
          <p:cNvPr id="62" name="Rectangle 61">
            <a:extLst>
              <a:ext uri="{FF2B5EF4-FFF2-40B4-BE49-F238E27FC236}">
                <a16:creationId xmlns:a16="http://schemas.microsoft.com/office/drawing/2014/main" id="{0BDEA52F-EABF-4CC3-883C-59EB01BD8FA9}"/>
              </a:ext>
            </a:extLst>
          </p:cNvPr>
          <p:cNvSpPr/>
          <p:nvPr/>
        </p:nvSpPr>
        <p:spPr bwMode="auto">
          <a:xfrm>
            <a:off x="102646" y="6118866"/>
            <a:ext cx="1286305" cy="73866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spAutoFit/>
          </a:bodyPr>
          <a:lstStyle/>
          <a:p>
            <a:pPr marL="0" marR="0" lvl="0" indent="0" algn="ctr" defTabSz="91374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Segoe UI" panose="020B0502040204020203" pitchFamily="34" charset="0"/>
                <a:cs typeface="Segoe UI" panose="020B0502040204020203" pitchFamily="34" charset="0"/>
              </a:rPr>
              <a:t>Azure Management Groups</a:t>
            </a:r>
          </a:p>
        </p:txBody>
      </p:sp>
      <p:sp>
        <p:nvSpPr>
          <p:cNvPr id="63" name="TextBox 62">
            <a:extLst>
              <a:ext uri="{FF2B5EF4-FFF2-40B4-BE49-F238E27FC236}">
                <a16:creationId xmlns:a16="http://schemas.microsoft.com/office/drawing/2014/main" id="{991B5317-AB66-4C40-A274-76C0282EF564}"/>
              </a:ext>
            </a:extLst>
          </p:cNvPr>
          <p:cNvSpPr txBox="1"/>
          <p:nvPr/>
        </p:nvSpPr>
        <p:spPr>
          <a:xfrm>
            <a:off x="2274585" y="6405099"/>
            <a:ext cx="2150765" cy="166199"/>
          </a:xfrm>
          <a:prstGeom prst="rect">
            <a:avLst/>
          </a:prstGeom>
          <a:noFill/>
        </p:spPr>
        <p:txBody>
          <a:bodyPr wrap="square" lIns="0" tIns="0" rIns="0" bIns="0" rtlCol="0" anchor="t" anchorCtr="0">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mn-cs"/>
              </a:rPr>
              <a:t>Tools</a:t>
            </a:r>
          </a:p>
        </p:txBody>
      </p:sp>
      <p:pic>
        <p:nvPicPr>
          <p:cNvPr id="17" name="Picture 2" descr="Microsoft Azure - Apps on Google Play">
            <a:extLst>
              <a:ext uri="{FF2B5EF4-FFF2-40B4-BE49-F238E27FC236}">
                <a16:creationId xmlns:a16="http://schemas.microsoft.com/office/drawing/2014/main" id="{E70BBEF1-DACF-4C84-BA28-BEC610D077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6824" y="239707"/>
            <a:ext cx="659005" cy="659005"/>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68" descr="A close up of a logo&#10;&#10;Description generated with high confidence">
            <a:extLst>
              <a:ext uri="{FF2B5EF4-FFF2-40B4-BE49-F238E27FC236}">
                <a16:creationId xmlns:a16="http://schemas.microsoft.com/office/drawing/2014/main" id="{DBD76412-7203-452F-8AE4-4323BF9C5A8A}"/>
              </a:ext>
            </a:extLst>
          </p:cNvPr>
          <p:cNvPicPr>
            <a:picLocks noChangeAspect="1"/>
          </p:cNvPicPr>
          <p:nvPr/>
        </p:nvPicPr>
        <p:blipFill>
          <a:blip r:embed="rId4"/>
          <a:stretch>
            <a:fillRect/>
          </a:stretch>
        </p:blipFill>
        <p:spPr>
          <a:xfrm>
            <a:off x="1762913" y="5551979"/>
            <a:ext cx="414406" cy="414406"/>
          </a:xfrm>
          <a:prstGeom prst="rect">
            <a:avLst/>
          </a:prstGeom>
        </p:spPr>
      </p:pic>
      <p:pic>
        <p:nvPicPr>
          <p:cNvPr id="70" name="Picture 69" descr="A close up of a logo&#10;&#10;Description generated with high confidence">
            <a:extLst>
              <a:ext uri="{FF2B5EF4-FFF2-40B4-BE49-F238E27FC236}">
                <a16:creationId xmlns:a16="http://schemas.microsoft.com/office/drawing/2014/main" id="{1C461EB7-ED61-495D-9C71-332D41F2A42C}"/>
              </a:ext>
            </a:extLst>
          </p:cNvPr>
          <p:cNvPicPr>
            <a:picLocks noChangeAspect="1"/>
          </p:cNvPicPr>
          <p:nvPr/>
        </p:nvPicPr>
        <p:blipFill>
          <a:blip r:embed="rId5"/>
          <a:stretch>
            <a:fillRect/>
          </a:stretch>
        </p:blipFill>
        <p:spPr>
          <a:xfrm>
            <a:off x="1729377" y="6277075"/>
            <a:ext cx="481478" cy="481478"/>
          </a:xfrm>
          <a:prstGeom prst="rect">
            <a:avLst/>
          </a:prstGeom>
        </p:spPr>
      </p:pic>
      <p:pic>
        <p:nvPicPr>
          <p:cNvPr id="18" name="Graphic 17">
            <a:extLst>
              <a:ext uri="{FF2B5EF4-FFF2-40B4-BE49-F238E27FC236}">
                <a16:creationId xmlns:a16="http://schemas.microsoft.com/office/drawing/2014/main" id="{0BACD4E4-D8F8-4B89-9E02-5B84634F24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51187" y="4707122"/>
            <a:ext cx="437859" cy="437859"/>
          </a:xfrm>
          <a:prstGeom prst="rect">
            <a:avLst/>
          </a:prstGeom>
        </p:spPr>
      </p:pic>
      <p:pic>
        <p:nvPicPr>
          <p:cNvPr id="20" name="Graphic 19">
            <a:extLst>
              <a:ext uri="{FF2B5EF4-FFF2-40B4-BE49-F238E27FC236}">
                <a16:creationId xmlns:a16="http://schemas.microsoft.com/office/drawing/2014/main" id="{EA156587-7CB3-4C22-882B-D2458A5EE02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25532" y="3892534"/>
            <a:ext cx="489169" cy="489169"/>
          </a:xfrm>
          <a:prstGeom prst="rect">
            <a:avLst/>
          </a:prstGeom>
        </p:spPr>
      </p:pic>
      <p:sp>
        <p:nvSpPr>
          <p:cNvPr id="3" name="AutoShape 2">
            <a:extLst>
              <a:ext uri="{FF2B5EF4-FFF2-40B4-BE49-F238E27FC236}">
                <a16:creationId xmlns:a16="http://schemas.microsoft.com/office/drawing/2014/main" id="{09E139D3-683F-47C3-B87C-AF7BEF8181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pic>
        <p:nvPicPr>
          <p:cNvPr id="3074" name="Picture 2" descr="Azure Reserved VM Instances - Logicom Cloud Web">
            <a:extLst>
              <a:ext uri="{FF2B5EF4-FFF2-40B4-BE49-F238E27FC236}">
                <a16:creationId xmlns:a16="http://schemas.microsoft.com/office/drawing/2014/main" id="{66DDE49F-2182-4E9F-B54F-07D3FC25A9A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02887" y="3143875"/>
            <a:ext cx="734459" cy="544168"/>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Uploaded logo">
            <a:extLst>
              <a:ext uri="{FF2B5EF4-FFF2-40B4-BE49-F238E27FC236}">
                <a16:creationId xmlns:a16="http://schemas.microsoft.com/office/drawing/2014/main" id="{6811AC52-0FEB-464D-8417-1FD2D6AC898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3935" y="2470411"/>
            <a:ext cx="552363" cy="449174"/>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Uploaded logo">
            <a:extLst>
              <a:ext uri="{FF2B5EF4-FFF2-40B4-BE49-F238E27FC236}">
                <a16:creationId xmlns:a16="http://schemas.microsoft.com/office/drawing/2014/main" id="{9F4256A7-3F5D-40D7-B396-AE2C3A56FDC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59055" y="1788875"/>
            <a:ext cx="422122" cy="422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4539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9"/>
                                        </p:tgtEl>
                                        <p:attrNameLst>
                                          <p:attrName>style.visibility</p:attrName>
                                        </p:attrNameLst>
                                      </p:cBhvr>
                                      <p:to>
                                        <p:strVal val="visible"/>
                                      </p:to>
                                    </p:set>
                                    <p:anim calcmode="lin" valueType="num">
                                      <p:cBhvr additive="base">
                                        <p:cTn id="7" dur="500" fill="hold"/>
                                        <p:tgtEl>
                                          <p:spTgt spid="69"/>
                                        </p:tgtEl>
                                        <p:attrNameLst>
                                          <p:attrName>ppt_x</p:attrName>
                                        </p:attrNameLst>
                                      </p:cBhvr>
                                      <p:tavLst>
                                        <p:tav tm="0">
                                          <p:val>
                                            <p:strVal val="1+#ppt_w/2"/>
                                          </p:val>
                                        </p:tav>
                                        <p:tav tm="100000">
                                          <p:val>
                                            <p:strVal val="#ppt_x"/>
                                          </p:val>
                                        </p:tav>
                                      </p:tavLst>
                                    </p:anim>
                                    <p:anim calcmode="lin" valueType="num">
                                      <p:cBhvr additive="base">
                                        <p:cTn id="8" dur="500" fill="hold"/>
                                        <p:tgtEl>
                                          <p:spTgt spid="69"/>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0"/>
                                  </p:stCondLst>
                                  <p:childTnLst>
                                    <p:set>
                                      <p:cBhvr>
                                        <p:cTn id="10" dur="1" fill="hold">
                                          <p:stCondLst>
                                            <p:cond delay="0"/>
                                          </p:stCondLst>
                                        </p:cTn>
                                        <p:tgtEl>
                                          <p:spTgt spid="70"/>
                                        </p:tgtEl>
                                        <p:attrNameLst>
                                          <p:attrName>style.visibility</p:attrName>
                                        </p:attrNameLst>
                                      </p:cBhvr>
                                      <p:to>
                                        <p:strVal val="visible"/>
                                      </p:to>
                                    </p:set>
                                    <p:anim calcmode="lin" valueType="num">
                                      <p:cBhvr additive="base">
                                        <p:cTn id="11" dur="750" fill="hold"/>
                                        <p:tgtEl>
                                          <p:spTgt spid="70"/>
                                        </p:tgtEl>
                                        <p:attrNameLst>
                                          <p:attrName>ppt_x</p:attrName>
                                        </p:attrNameLst>
                                      </p:cBhvr>
                                      <p:tavLst>
                                        <p:tav tm="0">
                                          <p:val>
                                            <p:strVal val="1+#ppt_w/2"/>
                                          </p:val>
                                        </p:tav>
                                        <p:tav tm="100000">
                                          <p:val>
                                            <p:strVal val="#ppt_x"/>
                                          </p:val>
                                        </p:tav>
                                      </p:tavLst>
                                    </p:anim>
                                    <p:anim calcmode="lin" valueType="num">
                                      <p:cBhvr additive="base">
                                        <p:cTn id="12" dur="75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E14B3-0423-AB03-E4BF-FB1D6EC2DBDA}"/>
              </a:ext>
            </a:extLst>
          </p:cNvPr>
          <p:cNvSpPr>
            <a:spLocks noGrp="1"/>
          </p:cNvSpPr>
          <p:nvPr>
            <p:ph type="title"/>
          </p:nvPr>
        </p:nvSpPr>
        <p:spPr>
          <a:xfrm>
            <a:off x="584200" y="4242305"/>
            <a:ext cx="7298437" cy="1107996"/>
          </a:xfrm>
        </p:spPr>
        <p:txBody>
          <a:bodyPr/>
          <a:lstStyle/>
          <a:p>
            <a:r>
              <a:rPr lang="en-GB" sz="3600" dirty="0"/>
              <a:t>Introducing new Azure Savings plan for Compute</a:t>
            </a:r>
          </a:p>
        </p:txBody>
      </p:sp>
    </p:spTree>
    <p:extLst>
      <p:ext uri="{BB962C8B-B14F-4D97-AF65-F5344CB8AC3E}">
        <p14:creationId xmlns:p14="http://schemas.microsoft.com/office/powerpoint/2010/main" val="264379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D75435D1-DBB2-4984-B6FB-EEC8D231FC07}"/>
              </a:ext>
              <a:ext uri="{C183D7F6-B498-43B3-948B-1728B52AA6E4}">
                <adec:decorative xmlns:adec="http://schemas.microsoft.com/office/drawing/2017/decorative" val="1"/>
              </a:ext>
            </a:extLst>
          </p:cNvPr>
          <p:cNvSpPr/>
          <p:nvPr/>
        </p:nvSpPr>
        <p:spPr bwMode="auto">
          <a:xfrm>
            <a:off x="430340" y="1457690"/>
            <a:ext cx="5447946" cy="4457328"/>
          </a:xfrm>
          <a:prstGeom prst="roundRect">
            <a:avLst>
              <a:gd name="adj" fmla="val 4312"/>
            </a:avLst>
          </a:prstGeom>
          <a:no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gradFill>
                <a:gsLst>
                  <a:gs pos="83000">
                    <a:srgbClr val="0078D3"/>
                  </a:gs>
                  <a:gs pos="100000">
                    <a:srgbClr val="0078D3"/>
                  </a:gs>
                </a:gsLst>
                <a:lin ang="5400000" scaled="1"/>
              </a:gradFill>
              <a:effectLst/>
              <a:uLnTx/>
              <a:uFillTx/>
              <a:latin typeface="Segoe UI Semibold"/>
              <a:ea typeface="+mn-ea"/>
              <a:cs typeface="Arial" panose="020B0604020202020204" pitchFamily="34" charset="0"/>
            </a:endParaRPr>
          </a:p>
        </p:txBody>
      </p:sp>
      <p:sp>
        <p:nvSpPr>
          <p:cNvPr id="2" name="Title 1">
            <a:extLst>
              <a:ext uri="{FF2B5EF4-FFF2-40B4-BE49-F238E27FC236}">
                <a16:creationId xmlns:a16="http://schemas.microsoft.com/office/drawing/2014/main" id="{38326EB4-B9B8-44F3-91C0-EE9ACD2F1475}"/>
              </a:ext>
            </a:extLst>
          </p:cNvPr>
          <p:cNvSpPr>
            <a:spLocks noGrp="1"/>
          </p:cNvSpPr>
          <p:nvPr>
            <p:ph type="title"/>
          </p:nvPr>
        </p:nvSpPr>
        <p:spPr>
          <a:xfrm>
            <a:off x="455995" y="620428"/>
            <a:ext cx="11306469" cy="397545"/>
          </a:xfrm>
        </p:spPr>
        <p:txBody>
          <a:bodyPr/>
          <a:lstStyle/>
          <a:p>
            <a:r>
              <a:rPr lang="en-US"/>
              <a:t>Expanding our cost saving options for Azure compute </a:t>
            </a:r>
          </a:p>
        </p:txBody>
      </p:sp>
      <p:sp>
        <p:nvSpPr>
          <p:cNvPr id="18" name="TextBox 17">
            <a:extLst>
              <a:ext uri="{FF2B5EF4-FFF2-40B4-BE49-F238E27FC236}">
                <a16:creationId xmlns:a16="http://schemas.microsoft.com/office/drawing/2014/main" id="{D36CD71E-0648-47CB-87A6-4718C8986E8D}"/>
              </a:ext>
            </a:extLst>
          </p:cNvPr>
          <p:cNvSpPr txBox="1"/>
          <p:nvPr/>
        </p:nvSpPr>
        <p:spPr>
          <a:xfrm>
            <a:off x="455995" y="1038118"/>
            <a:ext cx="11108486" cy="36933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49" normalizeH="0" baseline="0" noProof="0">
                <a:ln w="3175">
                  <a:noFill/>
                </a:ln>
                <a:gradFill>
                  <a:gsLst>
                    <a:gs pos="83000">
                      <a:srgbClr val="243A5E"/>
                    </a:gs>
                    <a:gs pos="100000">
                      <a:srgbClr val="243A5E"/>
                    </a:gs>
                  </a:gsLst>
                  <a:lin ang="5400000" scaled="1"/>
                </a:gradFill>
                <a:effectLst/>
                <a:uLnTx/>
                <a:uFillTx/>
                <a:latin typeface="Segoe UI Semibold"/>
                <a:ea typeface="+mn-ea"/>
                <a:cs typeface="Segoe UI" pitchFamily="34" charset="0"/>
              </a:rPr>
              <a:t>Accelerate cloud adoption with new growth opportunities</a:t>
            </a:r>
          </a:p>
        </p:txBody>
      </p:sp>
      <p:sp>
        <p:nvSpPr>
          <p:cNvPr id="20" name="TextBox 19">
            <a:extLst>
              <a:ext uri="{FF2B5EF4-FFF2-40B4-BE49-F238E27FC236}">
                <a16:creationId xmlns:a16="http://schemas.microsoft.com/office/drawing/2014/main" id="{3077DA32-035E-4DCC-9ED0-F87067BCAB8D}"/>
              </a:ext>
            </a:extLst>
          </p:cNvPr>
          <p:cNvSpPr txBox="1"/>
          <p:nvPr/>
        </p:nvSpPr>
        <p:spPr>
          <a:xfrm>
            <a:off x="455995" y="1647564"/>
            <a:ext cx="4302818" cy="36933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800" b="0" i="0" u="none" strike="noStrike" kern="1200" cap="none" spc="0" normalizeH="0" baseline="0" noProof="0">
                <a:ln>
                  <a:noFill/>
                </a:ln>
                <a:gradFill>
                  <a:gsLst>
                    <a:gs pos="83000">
                      <a:srgbClr val="000000"/>
                    </a:gs>
                    <a:gs pos="100000">
                      <a:srgbClr val="000000"/>
                    </a:gs>
                  </a:gsLst>
                  <a:lin ang="5400000" scaled="1"/>
                </a:gradFill>
                <a:effectLst/>
                <a:uLnTx/>
                <a:uFillTx/>
                <a:latin typeface="Segoe UI Semibold"/>
                <a:ea typeface="+mn-ea"/>
                <a:cs typeface="Arial" panose="020B0604020202020204" pitchFamily="34" charset="0"/>
              </a:rPr>
              <a:t>Compute cost</a:t>
            </a:r>
          </a:p>
        </p:txBody>
      </p:sp>
      <p:sp>
        <p:nvSpPr>
          <p:cNvPr id="3" name="Rectangle 2">
            <a:extLst>
              <a:ext uri="{FF2B5EF4-FFF2-40B4-BE49-F238E27FC236}">
                <a16:creationId xmlns:a16="http://schemas.microsoft.com/office/drawing/2014/main" id="{10C4C3CE-8F8A-441E-90EE-1012274FDC22}"/>
              </a:ext>
            </a:extLst>
          </p:cNvPr>
          <p:cNvSpPr/>
          <p:nvPr/>
        </p:nvSpPr>
        <p:spPr bwMode="auto">
          <a:xfrm>
            <a:off x="653294" y="2206770"/>
            <a:ext cx="2007522" cy="3203606"/>
          </a:xfrm>
          <a:prstGeom prst="rect">
            <a:avLst/>
          </a:prstGeom>
          <a:solidFill>
            <a:schemeClr val="accent2">
              <a:lumMod val="75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a:ln>
                  <a:noFill/>
                </a:ln>
                <a:gradFill>
                  <a:gsLst>
                    <a:gs pos="2917">
                      <a:srgbClr val="FFFFFF"/>
                    </a:gs>
                    <a:gs pos="100000">
                      <a:srgbClr val="FFFFFF"/>
                    </a:gs>
                  </a:gsLst>
                  <a:lin ang="5400000" scaled="0"/>
                </a:gradFill>
                <a:effectLst/>
                <a:uLnTx/>
                <a:uFillTx/>
                <a:latin typeface="Segoe UI Semibold"/>
                <a:ea typeface="+mn-ea"/>
                <a:cs typeface="Segoe UI" pitchFamily="34" charset="0"/>
              </a:rPr>
              <a:t>Software + Infrastructure </a:t>
            </a:r>
          </a:p>
        </p:txBody>
      </p:sp>
      <p:sp>
        <p:nvSpPr>
          <p:cNvPr id="24" name="TextBox 23">
            <a:extLst>
              <a:ext uri="{FF2B5EF4-FFF2-40B4-BE49-F238E27FC236}">
                <a16:creationId xmlns:a16="http://schemas.microsoft.com/office/drawing/2014/main" id="{4852DC9B-7E82-4B05-8D32-995CC2710515}"/>
              </a:ext>
            </a:extLst>
          </p:cNvPr>
          <p:cNvSpPr txBox="1"/>
          <p:nvPr/>
        </p:nvSpPr>
        <p:spPr>
          <a:xfrm>
            <a:off x="455995" y="5438046"/>
            <a:ext cx="2402119" cy="718658"/>
          </a:xfrm>
          <a:prstGeom prst="rect">
            <a:avLst/>
          </a:prstGeom>
          <a:noFill/>
        </p:spPr>
        <p:txBody>
          <a:bodyPr wrap="squar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Without</a:t>
            </a:r>
            <a:r>
              <a:rPr kumimoji="0" lang="en-US" sz="14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 savings options</a:t>
            </a:r>
          </a:p>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(pay-as-you-go pricing)</a:t>
            </a:r>
          </a:p>
        </p:txBody>
      </p:sp>
      <p:sp>
        <p:nvSpPr>
          <p:cNvPr id="32" name="Rectangle 31">
            <a:extLst>
              <a:ext uri="{FF2B5EF4-FFF2-40B4-BE49-F238E27FC236}">
                <a16:creationId xmlns:a16="http://schemas.microsoft.com/office/drawing/2014/main" id="{8F003395-AAD4-43BA-96FD-02D8FA3739DA}"/>
              </a:ext>
            </a:extLst>
          </p:cNvPr>
          <p:cNvSpPr/>
          <p:nvPr/>
        </p:nvSpPr>
        <p:spPr bwMode="auto">
          <a:xfrm>
            <a:off x="3082987" y="3736264"/>
            <a:ext cx="2011680" cy="1674111"/>
          </a:xfrm>
          <a:prstGeom prst="rect">
            <a:avLst/>
          </a:prstGeom>
          <a:solidFill>
            <a:schemeClr val="accent2">
              <a:lumMod val="75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a:ln>
                  <a:noFill/>
                </a:ln>
                <a:gradFill>
                  <a:gsLst>
                    <a:gs pos="2917">
                      <a:srgbClr val="FFFFFF"/>
                    </a:gs>
                    <a:gs pos="100000">
                      <a:srgbClr val="FFFFFF"/>
                    </a:gs>
                  </a:gsLst>
                  <a:lin ang="5400000" scaled="0"/>
                </a:gradFill>
                <a:effectLst/>
                <a:uLnTx/>
                <a:uFillTx/>
                <a:latin typeface="Segoe UI Semibold"/>
                <a:ea typeface="+mn-ea"/>
                <a:cs typeface="Segoe UI" pitchFamily="34" charset="0"/>
              </a:rPr>
              <a:t>Software + Infrastructure  </a:t>
            </a:r>
          </a:p>
        </p:txBody>
      </p:sp>
      <p:sp>
        <p:nvSpPr>
          <p:cNvPr id="36" name="TextBox 35">
            <a:extLst>
              <a:ext uri="{FF2B5EF4-FFF2-40B4-BE49-F238E27FC236}">
                <a16:creationId xmlns:a16="http://schemas.microsoft.com/office/drawing/2014/main" id="{47A288F3-7499-4B1E-8771-47B8695D0292}"/>
              </a:ext>
            </a:extLst>
          </p:cNvPr>
          <p:cNvSpPr txBox="1"/>
          <p:nvPr/>
        </p:nvSpPr>
        <p:spPr>
          <a:xfrm>
            <a:off x="2917424" y="5438046"/>
            <a:ext cx="2402119" cy="489365"/>
          </a:xfrm>
          <a:prstGeom prst="rect">
            <a:avLst/>
          </a:prstGeom>
          <a:noFill/>
        </p:spPr>
        <p:txBody>
          <a:bodyPr wrap="squar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83000">
                      <a:srgbClr val="243A5E"/>
                    </a:gs>
                    <a:gs pos="100000">
                      <a:srgbClr val="243A5E"/>
                    </a:gs>
                  </a:gsLst>
                  <a:lin ang="5400000" scaled="1"/>
                </a:gradFill>
                <a:effectLst/>
                <a:uLnTx/>
                <a:uFillTx/>
                <a:latin typeface="Segoe UI Semibold"/>
                <a:ea typeface="+mn-ea"/>
                <a:cs typeface="+mn-cs"/>
              </a:rPr>
              <a:t>W</a:t>
            </a:r>
            <a:r>
              <a:rPr kumimoji="0" lang="en-US" sz="1400" b="1" i="0" u="none" strike="noStrike" kern="1200" cap="none" spc="0" normalizeH="0" baseline="0" noProof="0">
                <a:ln>
                  <a:noFill/>
                </a:ln>
                <a:gradFill>
                  <a:gsLst>
                    <a:gs pos="83000">
                      <a:srgbClr val="243A5E"/>
                    </a:gs>
                    <a:gs pos="100000">
                      <a:srgbClr val="243A5E"/>
                    </a:gs>
                  </a:gsLst>
                  <a:lin ang="5400000" scaled="1"/>
                </a:gradFill>
                <a:effectLst/>
                <a:uLnTx/>
                <a:uFillTx/>
                <a:latin typeface="Segoe UI"/>
                <a:ea typeface="+mn-ea"/>
                <a:cs typeface="+mn-cs"/>
              </a:rPr>
              <a:t>ith </a:t>
            </a:r>
            <a:r>
              <a:rPr kumimoji="0" lang="en-US" sz="1400" b="0" i="0" u="none" strike="noStrike" kern="1200" cap="none" spc="0" normalizeH="0" baseline="0" noProof="0">
                <a:ln>
                  <a:noFill/>
                </a:ln>
                <a:gradFill>
                  <a:gsLst>
                    <a:gs pos="83000">
                      <a:srgbClr val="243A5E"/>
                    </a:gs>
                    <a:gs pos="100000">
                      <a:srgbClr val="243A5E"/>
                    </a:gs>
                  </a:gsLst>
                  <a:lin ang="5400000" scaled="1"/>
                </a:gradFill>
                <a:effectLst/>
                <a:uLnTx/>
                <a:uFillTx/>
                <a:latin typeface="Segoe UI Semibold"/>
                <a:ea typeface="+mn-ea"/>
                <a:cs typeface="+mn-cs"/>
              </a:rPr>
              <a:t>savings options</a:t>
            </a:r>
          </a:p>
        </p:txBody>
      </p:sp>
      <p:cxnSp>
        <p:nvCxnSpPr>
          <p:cNvPr id="16" name="Straight Connector 15">
            <a:extLst>
              <a:ext uri="{FF2B5EF4-FFF2-40B4-BE49-F238E27FC236}">
                <a16:creationId xmlns:a16="http://schemas.microsoft.com/office/drawing/2014/main" id="{D406214D-E6CA-4898-8007-A62AE4C6C1F9}"/>
              </a:ext>
              <a:ext uri="{C183D7F6-B498-43B3-948B-1728B52AA6E4}">
                <adec:decorative xmlns:adec="http://schemas.microsoft.com/office/drawing/2017/decorative" val="1"/>
              </a:ext>
            </a:extLst>
          </p:cNvPr>
          <p:cNvCxnSpPr>
            <a:cxnSpLocks/>
          </p:cNvCxnSpPr>
          <p:nvPr/>
        </p:nvCxnSpPr>
        <p:spPr>
          <a:xfrm>
            <a:off x="484359" y="5410375"/>
            <a:ext cx="4792501" cy="0"/>
          </a:xfrm>
          <a:prstGeom prst="line">
            <a:avLst/>
          </a:prstGeom>
          <a:ln w="285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6" name="Group 5" descr="Savings options&#10;Software&#10;Windows Server and SQL Server workloads ➜  Use existing on-premises licenses on Azure and save big with Azure Hybrid Benefit&#10;Infrastructure&#10;Stable, predictable workloads ➜ Get lower prices on a specific virtual machine in a particular Azure region with reserved instance&#10;Interruptible workloads ➜ Access low-cost unused Azure &#10;compute capacity at scale with Spot Virtual Machines  &#10;NEW!  &#10;Consistent compute spend➜ Unlock lower prices on compute services by committing to spend a fixed hourly amount with a compute savings plan &#10;">
            <a:extLst>
              <a:ext uri="{FF2B5EF4-FFF2-40B4-BE49-F238E27FC236}">
                <a16:creationId xmlns:a16="http://schemas.microsoft.com/office/drawing/2014/main" id="{5A9E2B77-6B70-429D-898C-E166BB462A67}"/>
              </a:ext>
            </a:extLst>
          </p:cNvPr>
          <p:cNvGrpSpPr/>
          <p:nvPr/>
        </p:nvGrpSpPr>
        <p:grpSpPr>
          <a:xfrm>
            <a:off x="5094667" y="1457690"/>
            <a:ext cx="6612973" cy="4457328"/>
            <a:chOff x="5094667" y="1797923"/>
            <a:chExt cx="6612973" cy="4457328"/>
          </a:xfrm>
        </p:grpSpPr>
        <p:grpSp>
          <p:nvGrpSpPr>
            <p:cNvPr id="5" name="Group 4">
              <a:extLst>
                <a:ext uri="{FF2B5EF4-FFF2-40B4-BE49-F238E27FC236}">
                  <a16:creationId xmlns:a16="http://schemas.microsoft.com/office/drawing/2014/main" id="{FC318BD5-9511-4F89-8685-5E94D8C6462A}"/>
                </a:ext>
              </a:extLst>
            </p:cNvPr>
            <p:cNvGrpSpPr/>
            <p:nvPr/>
          </p:nvGrpSpPr>
          <p:grpSpPr>
            <a:xfrm>
              <a:off x="5094667" y="1797923"/>
              <a:ext cx="6612973" cy="4457328"/>
              <a:chOff x="5094667" y="1797923"/>
              <a:chExt cx="6612973" cy="4457328"/>
            </a:xfrm>
          </p:grpSpPr>
          <p:sp>
            <p:nvSpPr>
              <p:cNvPr id="21" name="Rectangle: Rounded Corners 20">
                <a:extLst>
                  <a:ext uri="{FF2B5EF4-FFF2-40B4-BE49-F238E27FC236}">
                    <a16:creationId xmlns:a16="http://schemas.microsoft.com/office/drawing/2014/main" id="{64D7B1AE-CBCA-4F14-AFE8-E22589992AE2}"/>
                  </a:ext>
                </a:extLst>
              </p:cNvPr>
              <p:cNvSpPr/>
              <p:nvPr/>
            </p:nvSpPr>
            <p:spPr bwMode="auto">
              <a:xfrm>
                <a:off x="5878285" y="1797923"/>
                <a:ext cx="5829355" cy="4457328"/>
              </a:xfrm>
              <a:prstGeom prst="roundRect">
                <a:avLst>
                  <a:gd name="adj" fmla="val 4312"/>
                </a:avLst>
              </a:prstGeom>
              <a:solidFill>
                <a:schemeClr val="bg1"/>
              </a:solidFill>
              <a:ln w="19050">
                <a:solidFill>
                  <a:srgbClr val="243A5E"/>
                </a:solid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800" b="0" i="0" u="none" strike="noStrike" kern="1200" cap="none" spc="0" normalizeH="0" baseline="0" noProof="0">
                    <a:ln>
                      <a:noFill/>
                    </a:ln>
                    <a:gradFill>
                      <a:gsLst>
                        <a:gs pos="83000">
                          <a:srgbClr val="243A5E"/>
                        </a:gs>
                        <a:gs pos="100000">
                          <a:srgbClr val="243A5E"/>
                        </a:gs>
                      </a:gsLst>
                      <a:lin ang="5400000" scaled="1"/>
                    </a:gradFill>
                    <a:effectLst/>
                    <a:uLnTx/>
                    <a:uFillTx/>
                    <a:latin typeface="Segoe UI Semibold"/>
                    <a:ea typeface="+mn-ea"/>
                    <a:cs typeface="Arial" panose="020B0604020202020204" pitchFamily="34" charset="0"/>
                  </a:rPr>
                  <a:t>Savings options</a:t>
                </a:r>
              </a:p>
            </p:txBody>
          </p:sp>
          <p:cxnSp>
            <p:nvCxnSpPr>
              <p:cNvPr id="14" name="Straight Connector 13">
                <a:extLst>
                  <a:ext uri="{FF2B5EF4-FFF2-40B4-BE49-F238E27FC236}">
                    <a16:creationId xmlns:a16="http://schemas.microsoft.com/office/drawing/2014/main" id="{FD087BCC-27C5-417D-AB43-1D92AAFE6145}"/>
                  </a:ext>
                </a:extLst>
              </p:cNvPr>
              <p:cNvCxnSpPr>
                <a:cxnSpLocks/>
              </p:cNvCxnSpPr>
              <p:nvPr/>
            </p:nvCxnSpPr>
            <p:spPr>
              <a:xfrm>
                <a:off x="5094667" y="6015404"/>
                <a:ext cx="783619" cy="0"/>
              </a:xfrm>
              <a:prstGeom prst="line">
                <a:avLst/>
              </a:prstGeom>
              <a:solidFill>
                <a:schemeClr val="bg1"/>
              </a:solidFill>
              <a:ln w="19050">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sp>
          <p:nvSpPr>
            <p:cNvPr id="10" name="TextBox 9">
              <a:extLst>
                <a:ext uri="{FF2B5EF4-FFF2-40B4-BE49-F238E27FC236}">
                  <a16:creationId xmlns:a16="http://schemas.microsoft.com/office/drawing/2014/main" id="{9D39B5AF-D5A9-4C8B-8582-DB6920C58BF5}"/>
                </a:ext>
              </a:extLst>
            </p:cNvPr>
            <p:cNvSpPr txBox="1"/>
            <p:nvPr/>
          </p:nvSpPr>
          <p:spPr>
            <a:xfrm>
              <a:off x="6135588" y="3926931"/>
              <a:ext cx="5403117" cy="2209836"/>
            </a:xfrm>
            <a:prstGeom prst="rect">
              <a:avLst/>
            </a:prstGeom>
            <a:noFill/>
          </p:spPr>
          <p:txBody>
            <a:bodyPr wrap="square" lIns="0" tIns="146304" rIns="0" bIns="146304" rtlCol="0">
              <a:spAutoFit/>
            </a:bodyPr>
            <a:lstStyle/>
            <a:p>
              <a:pPr marL="0" marR="0" lvl="0" indent="0" algn="l" defTabSz="914400" rtl="0" eaLnBrk="1" fontAlgn="auto" latinLnBrk="0" hangingPunct="1">
                <a:lnSpc>
                  <a:spcPct val="90000"/>
                </a:lnSpc>
                <a:spcBef>
                  <a:spcPts val="0"/>
                </a:spcBef>
                <a:spcAft>
                  <a:spcPts val="1200"/>
                </a:spcAft>
                <a:buClrTx/>
                <a:buSzTx/>
                <a:buFontTx/>
                <a:buNone/>
                <a:tabLst/>
                <a:defRPr/>
              </a:pPr>
              <a:r>
                <a:rPr kumimoji="0" lang="en-US" sz="1400" b="1" i="0" u="none" strike="noStrike" kern="1200" cap="none" spc="0" normalizeH="0" baseline="0" noProof="0">
                  <a:ln>
                    <a:noFill/>
                  </a:ln>
                  <a:gradFill>
                    <a:gsLst>
                      <a:gs pos="1250">
                        <a:srgbClr val="243A5E"/>
                      </a:gs>
                      <a:gs pos="100000">
                        <a:srgbClr val="243A5E"/>
                      </a:gs>
                    </a:gsLst>
                    <a:lin ang="5400000" scaled="0"/>
                  </a:gradFill>
                  <a:effectLst/>
                  <a:uLnTx/>
                  <a:uFillTx/>
                  <a:latin typeface="Segoe UI"/>
                  <a:ea typeface="+mn-ea"/>
                  <a:cs typeface="Arial" panose="020B0604020202020204" pitchFamily="34" charset="0"/>
                </a:rPr>
                <a:t>Stable, predictable workloads ➜ </a:t>
              </a:r>
              <a:r>
                <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Segoe UI"/>
                  <a:ea typeface="+mn-ea"/>
                  <a:cs typeface="+mn-cs"/>
                </a:rPr>
                <a:t>Get lower prices on a specific virtual machine in a particular Azure region with </a:t>
              </a:r>
              <a:r>
                <a:rPr kumimoji="0" lang="en-US" sz="1400" b="1" i="0" u="none" strike="noStrike" kern="1200" cap="none" spc="0" normalizeH="0" baseline="0" noProof="0">
                  <a:ln>
                    <a:noFill/>
                  </a:ln>
                  <a:gradFill>
                    <a:gsLst>
                      <a:gs pos="2917">
                        <a:srgbClr val="000000"/>
                      </a:gs>
                      <a:gs pos="100000">
                        <a:srgbClr val="000000"/>
                      </a:gs>
                    </a:gsLst>
                    <a:lin ang="5400000" scaled="0"/>
                  </a:gradFill>
                  <a:effectLst/>
                  <a:uLnTx/>
                  <a:uFillTx/>
                  <a:latin typeface="Segoe UI"/>
                  <a:ea typeface="+mn-ea"/>
                  <a:cs typeface="+mn-cs"/>
                </a:rPr>
                <a:t>Reserved Instances</a:t>
              </a:r>
            </a:p>
            <a:p>
              <a:pPr marL="0" marR="0" lvl="0" indent="0" algn="l" defTabSz="914400" rtl="0" eaLnBrk="1" fontAlgn="auto" latinLnBrk="0" hangingPunct="1">
                <a:lnSpc>
                  <a:spcPct val="90000"/>
                </a:lnSpc>
                <a:spcBef>
                  <a:spcPts val="0"/>
                </a:spcBef>
                <a:spcAft>
                  <a:spcPts val="1200"/>
                </a:spcAft>
                <a:buClrTx/>
                <a:buSzTx/>
                <a:buFontTx/>
                <a:buNone/>
                <a:tabLst/>
                <a:defRPr/>
              </a:pPr>
              <a:r>
                <a:rPr kumimoji="0" lang="en-US" sz="1400" b="1" i="0" u="none" strike="noStrike" kern="1200" cap="none" spc="0" normalizeH="0" baseline="0" noProof="0">
                  <a:ln>
                    <a:noFill/>
                  </a:ln>
                  <a:gradFill>
                    <a:gsLst>
                      <a:gs pos="1250">
                        <a:srgbClr val="243A5E"/>
                      </a:gs>
                      <a:gs pos="100000">
                        <a:srgbClr val="243A5E"/>
                      </a:gs>
                    </a:gsLst>
                    <a:lin ang="5400000" scaled="0"/>
                  </a:gradFill>
                  <a:effectLst/>
                  <a:uLnTx/>
                  <a:uFillTx/>
                  <a:latin typeface="Segoe UI"/>
                  <a:ea typeface="+mn-ea"/>
                  <a:cs typeface="Arial" panose="020B0604020202020204" pitchFamily="34" charset="0"/>
                </a:rPr>
                <a:t>Interruptible workloads ➜ </a:t>
              </a:r>
              <a:r>
                <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Segoe UI"/>
                  <a:ea typeface="+mn-ea"/>
                  <a:cs typeface="+mn-cs"/>
                </a:rPr>
                <a:t>Access low-cost unused Azure </a:t>
              </a:r>
              <a:br>
                <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Segoe UI"/>
                  <a:ea typeface="+mn-ea"/>
                  <a:cs typeface="+mn-cs"/>
                </a:rPr>
              </a:br>
              <a:r>
                <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Segoe UI"/>
                  <a:ea typeface="+mn-ea"/>
                  <a:cs typeface="+mn-cs"/>
                </a:rPr>
                <a:t>compute capacity at scale with </a:t>
              </a:r>
              <a:r>
                <a:rPr kumimoji="0" lang="en-US" sz="1400" b="1" i="0" u="none" strike="noStrike" kern="1200" cap="none" spc="0" normalizeH="0" baseline="0" noProof="0">
                  <a:ln>
                    <a:noFill/>
                  </a:ln>
                  <a:gradFill>
                    <a:gsLst>
                      <a:gs pos="2917">
                        <a:srgbClr val="000000"/>
                      </a:gs>
                      <a:gs pos="100000">
                        <a:srgbClr val="000000"/>
                      </a:gs>
                    </a:gsLst>
                    <a:lin ang="5400000" scaled="0"/>
                  </a:gradFill>
                  <a:effectLst/>
                  <a:uLnTx/>
                  <a:uFillTx/>
                  <a:latin typeface="Segoe UI"/>
                  <a:ea typeface="+mn-ea"/>
                  <a:cs typeface="+mn-cs"/>
                </a:rPr>
                <a:t>Spot Virtual Machines </a:t>
              </a:r>
              <a:r>
                <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Segoe UI"/>
                  <a:ea typeface="+mn-ea"/>
                  <a:cs typeface="+mn-cs"/>
                </a:rPr>
                <a:t> </a:t>
              </a:r>
            </a:p>
            <a:p>
              <a:pPr marL="0" marR="0" lvl="0" indent="0" algn="l" defTabSz="914400" rtl="0" eaLnBrk="1" fontAlgn="auto" latinLnBrk="0" hangingPunct="1">
                <a:lnSpc>
                  <a:spcPct val="90000"/>
                </a:lnSpc>
                <a:spcBef>
                  <a:spcPts val="0"/>
                </a:spcBef>
                <a:spcAft>
                  <a:spcPts val="1200"/>
                </a:spcAft>
                <a:buClrTx/>
                <a:buSzTx/>
                <a:buFontTx/>
                <a:buNone/>
                <a:tabLst/>
                <a:defRPr/>
              </a:pPr>
              <a:r>
                <a:rPr kumimoji="0" lang="en-US" sz="1800" b="1" i="0" u="none" strike="noStrike" kern="1200" cap="none" spc="0" normalizeH="0" baseline="0" noProof="0">
                  <a:ln>
                    <a:noFill/>
                  </a:ln>
                  <a:solidFill>
                    <a:srgbClr val="00B050"/>
                  </a:solidFill>
                  <a:effectLst/>
                  <a:uLnTx/>
                  <a:uFillTx/>
                  <a:latin typeface="Segoe UI"/>
                  <a:ea typeface="+mn-ea"/>
                  <a:cs typeface="+mn-cs"/>
                </a:rPr>
                <a:t>NEW!  </a:t>
              </a:r>
              <a:br>
                <a:rPr kumimoji="0" lang="en-US" sz="1400" b="1" i="0" u="none" strike="noStrike" kern="1200" cap="none" spc="0" normalizeH="0" baseline="0" noProof="0">
                  <a:ln>
                    <a:noFill/>
                  </a:ln>
                  <a:solidFill>
                    <a:srgbClr val="00B050"/>
                  </a:solidFill>
                  <a:effectLst/>
                  <a:uLnTx/>
                  <a:uFillTx/>
                  <a:latin typeface="Segoe UI"/>
                  <a:ea typeface="+mn-ea"/>
                  <a:cs typeface="+mn-cs"/>
                </a:rPr>
              </a:br>
              <a:r>
                <a:rPr kumimoji="0" lang="en-US" sz="1400" b="1" i="0" u="none" strike="noStrike" kern="1200" cap="none" spc="0" normalizeH="0" baseline="0" noProof="0">
                  <a:ln>
                    <a:noFill/>
                  </a:ln>
                  <a:gradFill>
                    <a:gsLst>
                      <a:gs pos="1250">
                        <a:srgbClr val="243A5E"/>
                      </a:gs>
                      <a:gs pos="100000">
                        <a:srgbClr val="243A5E"/>
                      </a:gs>
                    </a:gsLst>
                    <a:lin ang="5400000" scaled="0"/>
                  </a:gradFill>
                  <a:effectLst/>
                  <a:uLnTx/>
                  <a:uFillTx/>
                  <a:latin typeface="Segoe UI"/>
                  <a:ea typeface="+mn-ea"/>
                  <a:cs typeface="Arial" panose="020B0604020202020204" pitchFamily="34" charset="0"/>
                </a:rPr>
                <a:t>Consistent compute spend➜ </a:t>
              </a:r>
              <a:r>
                <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Segoe UI"/>
                  <a:ea typeface="+mn-ea"/>
                  <a:cs typeface="+mn-cs"/>
                </a:rPr>
                <a:t>Unlock lower prices on compute services by committing to spend a fixed hourly amount with </a:t>
              </a:r>
              <a:r>
                <a:rPr kumimoji="0" lang="en-US" sz="1400" b="1" i="0" u="none" strike="noStrike" kern="1200" cap="none" spc="0" normalizeH="0" baseline="0" noProof="0">
                  <a:ln>
                    <a:noFill/>
                  </a:ln>
                  <a:gradFill>
                    <a:gsLst>
                      <a:gs pos="2917">
                        <a:srgbClr val="000000"/>
                      </a:gs>
                      <a:gs pos="100000">
                        <a:srgbClr val="000000"/>
                      </a:gs>
                    </a:gsLst>
                    <a:lin ang="5400000" scaled="0"/>
                  </a:gradFill>
                  <a:effectLst/>
                  <a:uLnTx/>
                  <a:uFillTx/>
                  <a:latin typeface="Segoe UI"/>
                  <a:ea typeface="+mn-ea"/>
                  <a:cs typeface="+mn-cs"/>
                </a:rPr>
                <a:t>Azure savings plan for compute</a:t>
              </a:r>
              <a:r>
                <a:rPr kumimoji="0" lang="en-US" sz="1400" b="1" i="0" u="none" strike="noStrike" kern="1200" cap="none" spc="0" normalizeH="0" baseline="30000" noProof="0">
                  <a:ln>
                    <a:noFill/>
                  </a:ln>
                  <a:solidFill>
                    <a:srgbClr val="00B050"/>
                  </a:solidFill>
                  <a:effectLst/>
                  <a:uLnTx/>
                  <a:uFillTx/>
                  <a:latin typeface="Segoe UI"/>
                  <a:ea typeface="+mn-ea"/>
                  <a:cs typeface="+mn-cs"/>
                </a:rPr>
                <a:t> </a:t>
              </a:r>
              <a:endPar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Segoe UI"/>
                <a:ea typeface="+mn-ea"/>
                <a:cs typeface="+mn-cs"/>
              </a:endParaRPr>
            </a:p>
          </p:txBody>
        </p:sp>
        <p:sp>
          <p:nvSpPr>
            <p:cNvPr id="22" name="Rectangle: Rounded Corners 21">
              <a:extLst>
                <a:ext uri="{FF2B5EF4-FFF2-40B4-BE49-F238E27FC236}">
                  <a16:creationId xmlns:a16="http://schemas.microsoft.com/office/drawing/2014/main" id="{CED9149E-E38A-4A30-AB22-148CCB9B71BE}"/>
                </a:ext>
              </a:extLst>
            </p:cNvPr>
            <p:cNvSpPr/>
            <p:nvPr/>
          </p:nvSpPr>
          <p:spPr bwMode="auto">
            <a:xfrm>
              <a:off x="6113011" y="2522815"/>
              <a:ext cx="1251858" cy="357602"/>
            </a:xfrm>
            <a:prstGeom prst="roundRect">
              <a:avLst>
                <a:gd name="adj" fmla="val 50000"/>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a:ln>
                    <a:noFill/>
                  </a:ln>
                  <a:gradFill>
                    <a:gsLst>
                      <a:gs pos="2917">
                        <a:srgbClr val="50E6FF"/>
                      </a:gs>
                      <a:gs pos="100000">
                        <a:srgbClr val="50E6FF"/>
                      </a:gs>
                    </a:gsLst>
                    <a:lin ang="5400000" scaled="0"/>
                  </a:gradFill>
                  <a:effectLst/>
                  <a:uLnTx/>
                  <a:uFillTx/>
                  <a:latin typeface="Segoe UI Semibold"/>
                  <a:ea typeface="+mn-ea"/>
                  <a:cs typeface="Segoe UI" pitchFamily="34" charset="0"/>
                </a:rPr>
                <a:t>Software</a:t>
              </a:r>
            </a:p>
          </p:txBody>
        </p:sp>
        <p:sp>
          <p:nvSpPr>
            <p:cNvPr id="33" name="TextBox 32">
              <a:extLst>
                <a:ext uri="{FF2B5EF4-FFF2-40B4-BE49-F238E27FC236}">
                  <a16:creationId xmlns:a16="http://schemas.microsoft.com/office/drawing/2014/main" id="{1CCF387F-D4C6-4474-AA3F-485F6FC14B0F}"/>
                </a:ext>
              </a:extLst>
            </p:cNvPr>
            <p:cNvSpPr txBox="1"/>
            <p:nvPr/>
          </p:nvSpPr>
          <p:spPr>
            <a:xfrm>
              <a:off x="6135589" y="2942306"/>
              <a:ext cx="5447946" cy="480131"/>
            </a:xfrm>
            <a:prstGeom prst="rect">
              <a:avLst/>
            </a:prstGeom>
            <a:noFill/>
          </p:spPr>
          <p:txBody>
            <a:bodyPr wrap="square" lIns="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gradFill>
                    <a:gsLst>
                      <a:gs pos="1250">
                        <a:srgbClr val="243A5E"/>
                      </a:gs>
                      <a:gs pos="100000">
                        <a:srgbClr val="243A5E"/>
                      </a:gs>
                    </a:gsLst>
                    <a:lin ang="5400000" scaled="0"/>
                  </a:gradFill>
                  <a:effectLst/>
                  <a:uLnTx/>
                  <a:uFillTx/>
                  <a:latin typeface="Segoe UI"/>
                  <a:ea typeface="+mn-ea"/>
                  <a:cs typeface="Arial" panose="020B0604020202020204" pitchFamily="34" charset="0"/>
                </a:rPr>
                <a:t>Windows Server and SQL Server workloads ➜ </a:t>
              </a:r>
              <a:r>
                <a:rPr kumimoji="0" lang="en-US" sz="14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Bring your existing on-premises licenses to Azure with </a:t>
              </a:r>
              <a:r>
                <a:rPr kumimoji="0" lang="en-US" sz="1400" b="1"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Azure Hybrid Benefit</a:t>
              </a:r>
              <a:endParaRPr kumimoji="0" lang="en-US" sz="1400" b="0" i="0" u="none" strike="sng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endParaRPr>
            </a:p>
          </p:txBody>
        </p:sp>
        <p:sp>
          <p:nvSpPr>
            <p:cNvPr id="35" name="Rectangle: Rounded Corners 34">
              <a:extLst>
                <a:ext uri="{FF2B5EF4-FFF2-40B4-BE49-F238E27FC236}">
                  <a16:creationId xmlns:a16="http://schemas.microsoft.com/office/drawing/2014/main" id="{6B31700A-458B-4FB6-BF1F-29EA658CC812}"/>
                </a:ext>
              </a:extLst>
            </p:cNvPr>
            <p:cNvSpPr/>
            <p:nvPr/>
          </p:nvSpPr>
          <p:spPr bwMode="auto">
            <a:xfrm>
              <a:off x="6113011" y="3606301"/>
              <a:ext cx="1684947" cy="357602"/>
            </a:xfrm>
            <a:prstGeom prst="roundRect">
              <a:avLst>
                <a:gd name="adj" fmla="val 50000"/>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a:ln>
                    <a:noFill/>
                  </a:ln>
                  <a:gradFill>
                    <a:gsLst>
                      <a:gs pos="2917">
                        <a:srgbClr val="50E6FF"/>
                      </a:gs>
                      <a:gs pos="100000">
                        <a:srgbClr val="50E6FF"/>
                      </a:gs>
                    </a:gsLst>
                    <a:lin ang="5400000" scaled="0"/>
                  </a:gradFill>
                  <a:effectLst/>
                  <a:uLnTx/>
                  <a:uFillTx/>
                  <a:latin typeface="Segoe UI Semibold"/>
                  <a:ea typeface="+mn-ea"/>
                  <a:cs typeface="Segoe UI" pitchFamily="34" charset="0"/>
                </a:rPr>
                <a:t>Infrastructure</a:t>
              </a:r>
            </a:p>
          </p:txBody>
        </p:sp>
      </p:grpSp>
    </p:spTree>
    <p:extLst>
      <p:ext uri="{BB962C8B-B14F-4D97-AF65-F5344CB8AC3E}">
        <p14:creationId xmlns:p14="http://schemas.microsoft.com/office/powerpoint/2010/main" val="9283241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p14="http://schemas.microsoft.com/office/powerpoint/2010/main" xmlns:adec="http://schemas.microsoft.com/office/drawing/2017/decorative"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down)">
                                      <p:cBhvr>
                                        <p:cTn id="23" dur="500"/>
                                        <p:tgtEl>
                                          <p:spTgt spid="32"/>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1000"/>
                                        <p:tgtEl>
                                          <p:spTgt spid="6"/>
                                        </p:tgtEl>
                                      </p:cBhvr>
                                    </p:animEffect>
                                  </p:childTnLst>
                                </p:cTn>
                              </p:par>
                              <p:par>
                                <p:cTn id="28" presetID="10" presetClass="entr" presetSubtype="0" fill="hold"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4" grpId="0"/>
      <p:bldP spid="32" grpId="0" animBg="1"/>
      <p:bldP spid="3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E8BA3-62E0-48D6-9122-AB7DBECACDBA}"/>
              </a:ext>
            </a:extLst>
          </p:cNvPr>
          <p:cNvSpPr>
            <a:spLocks noGrp="1"/>
          </p:cNvSpPr>
          <p:nvPr>
            <p:ph type="title"/>
          </p:nvPr>
        </p:nvSpPr>
        <p:spPr/>
        <p:txBody>
          <a:bodyPr/>
          <a:lstStyle/>
          <a:p>
            <a:r>
              <a:rPr lang="en-US"/>
              <a:t>Introducing Azure savings plan for compute </a:t>
            </a:r>
          </a:p>
        </p:txBody>
      </p:sp>
      <p:sp>
        <p:nvSpPr>
          <p:cNvPr id="17" name="TextBox 16">
            <a:extLst>
              <a:ext uri="{FF2B5EF4-FFF2-40B4-BE49-F238E27FC236}">
                <a16:creationId xmlns:a16="http://schemas.microsoft.com/office/drawing/2014/main" id="{3B92144D-C295-485C-B425-A230B6898B84}"/>
              </a:ext>
            </a:extLst>
          </p:cNvPr>
          <p:cNvSpPr txBox="1"/>
          <p:nvPr/>
        </p:nvSpPr>
        <p:spPr>
          <a:xfrm>
            <a:off x="455995" y="1038118"/>
            <a:ext cx="11108486" cy="36933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49" normalizeH="0" baseline="0" noProof="0" dirty="0">
                <a:ln w="3175">
                  <a:noFill/>
                </a:ln>
                <a:gradFill>
                  <a:gsLst>
                    <a:gs pos="83000">
                      <a:srgbClr val="243A5E"/>
                    </a:gs>
                    <a:gs pos="100000">
                      <a:srgbClr val="243A5E"/>
                    </a:gs>
                  </a:gsLst>
                  <a:lin ang="5400000" scaled="1"/>
                </a:gradFill>
                <a:effectLst/>
                <a:uLnTx/>
                <a:uFillTx/>
                <a:latin typeface="Segoe UI Semibold"/>
                <a:ea typeface="+mn-ea"/>
                <a:cs typeface="Segoe UI" pitchFamily="34" charset="0"/>
              </a:rPr>
              <a:t>Easy and flexible way to save on compute costs</a:t>
            </a:r>
          </a:p>
        </p:txBody>
      </p:sp>
      <p:sp>
        <p:nvSpPr>
          <p:cNvPr id="18" name="Rectangle 17">
            <a:extLst>
              <a:ext uri="{FF2B5EF4-FFF2-40B4-BE49-F238E27FC236}">
                <a16:creationId xmlns:a16="http://schemas.microsoft.com/office/drawing/2014/main" id="{B1EBAEEF-5C24-4965-8B17-446F5F3D2855}"/>
              </a:ext>
            </a:extLst>
          </p:cNvPr>
          <p:cNvSpPr/>
          <p:nvPr/>
        </p:nvSpPr>
        <p:spPr bwMode="auto">
          <a:xfrm>
            <a:off x="455995" y="1296489"/>
            <a:ext cx="3696847" cy="27249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274320" rIns="274320" bIns="27432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1000"/>
              </a:spcAft>
              <a:buClrTx/>
              <a:buSzPct val="90000"/>
              <a:buFont typeface="Wingdings" panose="05000000000000000000" pitchFamily="2" charset="2"/>
              <a:buNone/>
              <a:tabLst/>
              <a:defRPr/>
            </a:pPr>
            <a:r>
              <a:rPr kumimoji="0" lang="en-US" sz="1600" b="0" i="0" u="none" strike="noStrike" kern="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pitchFamily="34" charset="0"/>
              </a:rPr>
              <a:t>Save money across compute services globally by </a:t>
            </a:r>
            <a:r>
              <a:rPr kumimoji="0" lang="en-US" sz="1600" b="1" i="0" u="none" strike="noStrike" kern="0" cap="none" spc="0" normalizeH="0" baseline="0" noProof="0" dirty="0">
                <a:ln w="3175">
                  <a:noFill/>
                </a:ln>
                <a:gradFill>
                  <a:gsLst>
                    <a:gs pos="1250">
                      <a:srgbClr val="243A5E"/>
                    </a:gs>
                    <a:gs pos="100000">
                      <a:srgbClr val="243A5E"/>
                    </a:gs>
                  </a:gsLst>
                  <a:lin ang="5400000" scaled="0"/>
                </a:gradFill>
                <a:effectLst/>
                <a:uLnTx/>
                <a:uFillTx/>
                <a:latin typeface="Segoe UI"/>
                <a:ea typeface="+mn-ea"/>
                <a:cs typeface="Segoe UI" pitchFamily="34" charset="0"/>
              </a:rPr>
              <a:t>committing to spend a fixed hourly amount for 1 or 3 years</a:t>
            </a:r>
            <a:r>
              <a:rPr kumimoji="0" lang="en-US" sz="1600" b="0" i="0" u="none" strike="noStrike" kern="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pitchFamily="34" charset="0"/>
              </a:rPr>
              <a:t>, unlocking lower prices until your reach your hourly commitment.</a:t>
            </a:r>
          </a:p>
        </p:txBody>
      </p:sp>
      <p:sp>
        <p:nvSpPr>
          <p:cNvPr id="65" name="TextBox 64">
            <a:extLst>
              <a:ext uri="{FF2B5EF4-FFF2-40B4-BE49-F238E27FC236}">
                <a16:creationId xmlns:a16="http://schemas.microsoft.com/office/drawing/2014/main" id="{BA062ADF-BF1E-40A5-AC73-96F5C4B44E93}"/>
              </a:ext>
            </a:extLst>
          </p:cNvPr>
          <p:cNvSpPr txBox="1"/>
          <p:nvPr/>
        </p:nvSpPr>
        <p:spPr>
          <a:xfrm>
            <a:off x="9784603" y="1825840"/>
            <a:ext cx="2187877" cy="461665"/>
          </a:xfrm>
          <a:prstGeom prst="rect">
            <a:avLst/>
          </a:prstGeom>
          <a:noFill/>
        </p:spPr>
        <p:txBody>
          <a:bodyPr wrap="square">
            <a:spAutoFit/>
          </a:bodyPr>
          <a:lstStyle/>
          <a:p>
            <a:pPr marL="180975" marR="0" lvl="0" indent="-180975"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43A5E"/>
                </a:solidFill>
                <a:effectLst/>
                <a:uLnTx/>
                <a:uFillTx/>
                <a:latin typeface="Segoe UI Semibold"/>
                <a:ea typeface="+mn-ea"/>
                <a:cs typeface="Segoe UI Semilight" panose="020B0402040204020203" pitchFamily="34" charset="0"/>
              </a:rPr>
              <a:t>▲ </a:t>
            </a:r>
            <a:r>
              <a:rPr kumimoji="0" lang="en-US" sz="1200" b="0" i="0" u="none" strike="noStrike" kern="1200" cap="none" spc="0" normalizeH="0" baseline="0" noProof="0">
                <a:ln>
                  <a:noFill/>
                </a:ln>
                <a:solidFill>
                  <a:srgbClr val="243A5E"/>
                </a:solidFill>
                <a:effectLst/>
                <a:uLnTx/>
                <a:uFillTx/>
                <a:latin typeface="Segoe UI Semibold"/>
                <a:ea typeface="+mn-ea"/>
                <a:cs typeface="Arial" panose="020B0604020202020204" pitchFamily="34" charset="0"/>
              </a:rPr>
              <a:t>Usage billed at </a:t>
            </a:r>
            <a:br>
              <a:rPr kumimoji="0" lang="en-US" sz="1200" b="0" i="0" u="none" strike="noStrike" kern="1200" cap="none" spc="0" normalizeH="0" baseline="0" noProof="0">
                <a:ln>
                  <a:noFill/>
                </a:ln>
                <a:solidFill>
                  <a:srgbClr val="243A5E"/>
                </a:solidFill>
                <a:effectLst/>
                <a:uLnTx/>
                <a:uFillTx/>
                <a:latin typeface="Segoe UI Semibold"/>
                <a:ea typeface="+mn-ea"/>
                <a:cs typeface="Arial" panose="020B0604020202020204" pitchFamily="34" charset="0"/>
              </a:rPr>
            </a:br>
            <a:r>
              <a:rPr kumimoji="0" lang="en-US" sz="1200" b="0" i="0" u="none" strike="noStrike" kern="1200" cap="none" spc="0" normalizeH="0" baseline="0" noProof="0">
                <a:ln>
                  <a:noFill/>
                </a:ln>
                <a:solidFill>
                  <a:srgbClr val="243A5E"/>
                </a:solidFill>
                <a:effectLst/>
                <a:uLnTx/>
                <a:uFillTx/>
                <a:latin typeface="Segoe UI Semibold"/>
                <a:ea typeface="+mn-ea"/>
                <a:cs typeface="Arial" panose="020B0604020202020204" pitchFamily="34" charset="0"/>
              </a:rPr>
              <a:t>pay-as-you-go prices</a:t>
            </a:r>
          </a:p>
        </p:txBody>
      </p:sp>
      <p:sp>
        <p:nvSpPr>
          <p:cNvPr id="75" name="TextBox 74">
            <a:extLst>
              <a:ext uri="{FF2B5EF4-FFF2-40B4-BE49-F238E27FC236}">
                <a16:creationId xmlns:a16="http://schemas.microsoft.com/office/drawing/2014/main" id="{821B6C9C-32B5-43CD-B552-2B7FAC34AE3A}"/>
              </a:ext>
            </a:extLst>
          </p:cNvPr>
          <p:cNvSpPr txBox="1"/>
          <p:nvPr/>
        </p:nvSpPr>
        <p:spPr>
          <a:xfrm>
            <a:off x="9784603" y="2523780"/>
            <a:ext cx="1876388" cy="646331"/>
          </a:xfrm>
          <a:prstGeom prst="rect">
            <a:avLst/>
          </a:prstGeom>
          <a:noFill/>
        </p:spPr>
        <p:txBody>
          <a:bodyPr wrap="square">
            <a:spAutoFit/>
          </a:bodyPr>
          <a:lstStyle/>
          <a:p>
            <a:pPr marL="169863" marR="0" lvl="0" indent="-169863"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42000">
                      <a:srgbClr val="0078D3"/>
                    </a:gs>
                    <a:gs pos="100000">
                      <a:srgbClr val="0078D3"/>
                    </a:gs>
                  </a:gsLst>
                  <a:lin ang="0" scaled="1"/>
                </a:gradFill>
                <a:effectLst/>
                <a:uLnTx/>
                <a:uFillTx/>
                <a:latin typeface="Segoe UI Semibold"/>
                <a:ea typeface="+mn-ea"/>
                <a:cs typeface="Segoe UI Semilight" panose="020B0402040204020203" pitchFamily="34" charset="0"/>
              </a:rPr>
              <a:t>▼ </a:t>
            </a:r>
            <a:r>
              <a:rPr kumimoji="0" lang="en-US" sz="1200" b="0" i="0" u="none" strike="noStrike" kern="1200" cap="none" spc="0" normalizeH="0" baseline="0" noProof="0">
                <a:ln>
                  <a:noFill/>
                </a:ln>
                <a:gradFill>
                  <a:gsLst>
                    <a:gs pos="42000">
                      <a:srgbClr val="0078D3"/>
                    </a:gs>
                    <a:gs pos="100000">
                      <a:srgbClr val="0078D3"/>
                    </a:gs>
                  </a:gsLst>
                  <a:lin ang="0" scaled="1"/>
                </a:gradFill>
                <a:effectLst/>
                <a:uLnTx/>
                <a:uFillTx/>
                <a:latin typeface="Segoe UI Semibold"/>
                <a:ea typeface="+mn-ea"/>
                <a:cs typeface="Arial" panose="020B0604020202020204" pitchFamily="34" charset="0"/>
              </a:rPr>
              <a:t>Usage covered by the plan at lower savings plan prices</a:t>
            </a:r>
          </a:p>
        </p:txBody>
      </p:sp>
      <p:grpSp>
        <p:nvGrpSpPr>
          <p:cNvPr id="3" name="Group 2" descr="Unlock significant cost savings&#10;up to 66% compared &#10;to pay-as-you-go pricing&#10;">
            <a:extLst>
              <a:ext uri="{FF2B5EF4-FFF2-40B4-BE49-F238E27FC236}">
                <a16:creationId xmlns:a16="http://schemas.microsoft.com/office/drawing/2014/main" id="{9BC6D92E-43C2-453E-8365-CF0994A06D84}"/>
              </a:ext>
            </a:extLst>
          </p:cNvPr>
          <p:cNvGrpSpPr/>
          <p:nvPr/>
        </p:nvGrpSpPr>
        <p:grpSpPr>
          <a:xfrm>
            <a:off x="442766" y="4021414"/>
            <a:ext cx="3696847" cy="1936879"/>
            <a:chOff x="442766" y="4462540"/>
            <a:chExt cx="3696847" cy="1936879"/>
          </a:xfrm>
        </p:grpSpPr>
        <p:sp>
          <p:nvSpPr>
            <p:cNvPr id="41" name="Rectangle: Rounded Corners 40">
              <a:extLst>
                <a:ext uri="{FF2B5EF4-FFF2-40B4-BE49-F238E27FC236}">
                  <a16:creationId xmlns:a16="http://schemas.microsoft.com/office/drawing/2014/main" id="{533BA03D-6692-455F-B32C-7EAFE8E06EB0}"/>
                </a:ext>
              </a:extLst>
            </p:cNvPr>
            <p:cNvSpPr/>
            <p:nvPr/>
          </p:nvSpPr>
          <p:spPr bwMode="auto">
            <a:xfrm>
              <a:off x="442766" y="4462540"/>
              <a:ext cx="3696847" cy="1936879"/>
            </a:xfrm>
            <a:prstGeom prst="roundRect">
              <a:avLst>
                <a:gd name="adj" fmla="val 5529"/>
              </a:avLst>
            </a:prstGeom>
            <a:solidFill>
              <a:schemeClr val="bg1"/>
            </a:solid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371600" rIns="274320" bIns="91440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600"/>
                </a:spcAft>
                <a:buClr>
                  <a:srgbClr val="000000"/>
                </a:buClr>
                <a:buSzPct val="90000"/>
                <a:buFont typeface="Wingdings" panose="05000000000000000000" pitchFamily="2" charset="2"/>
                <a:buNone/>
                <a:tabLst/>
                <a:defRPr/>
              </a:pPr>
              <a:r>
                <a:rPr kumimoji="0" lang="en-US" sz="1600" b="0" i="0" u="none" strike="noStrike" kern="1200" cap="none" spc="0" normalizeH="0" baseline="0" noProof="0">
                  <a:ln>
                    <a:noFill/>
                  </a:ln>
                  <a:gradFill>
                    <a:gsLst>
                      <a:gs pos="54400">
                        <a:srgbClr val="243A5E"/>
                      </a:gs>
                      <a:gs pos="100000">
                        <a:srgbClr val="243A5E"/>
                      </a:gs>
                    </a:gsLst>
                    <a:lin ang="0" scaled="0"/>
                  </a:gradFill>
                  <a:effectLst/>
                  <a:uLnTx/>
                  <a:uFillTx/>
                  <a:latin typeface="Segoe UI Semibold"/>
                  <a:ea typeface="+mn-ea"/>
                  <a:cs typeface="Segoe UI" panose="020B0502040204020203" pitchFamily="34" charset="0"/>
                </a:rPr>
                <a:t>Unlock significant cost savings</a:t>
              </a:r>
            </a:p>
            <a:p>
              <a:pPr marL="0" marR="0" lvl="0" indent="0" algn="ctr" defTabSz="932742" rtl="0" eaLnBrk="1" fontAlgn="auto" latinLnBrk="0" hangingPunct="1">
                <a:lnSpc>
                  <a:spcPct val="100000"/>
                </a:lnSpc>
                <a:spcBef>
                  <a:spcPts val="0"/>
                </a:spcBef>
                <a:spcAft>
                  <a:spcPts val="600"/>
                </a:spcAft>
                <a:buClr>
                  <a:srgbClr val="000000"/>
                </a:buClr>
                <a:buSzPct val="90000"/>
                <a:buFontTx/>
                <a:buNone/>
                <a:tabLst/>
                <a:defRPr/>
              </a:pPr>
              <a:r>
                <a:rPr kumimoji="0" lang="en-US" sz="1200" b="0" i="0" u="none" strike="noStrike" kern="1200" cap="none" spc="0" normalizeH="0" baseline="0" noProof="0">
                  <a:ln>
                    <a:noFill/>
                  </a:ln>
                  <a:gradFill>
                    <a:gsLst>
                      <a:gs pos="54400">
                        <a:srgbClr val="000000"/>
                      </a:gs>
                      <a:gs pos="100000">
                        <a:srgbClr val="000000"/>
                      </a:gs>
                    </a:gsLst>
                    <a:lin ang="0" scaled="0"/>
                  </a:gradFill>
                  <a:effectLst/>
                  <a:uLnTx/>
                  <a:uFillTx/>
                  <a:latin typeface="Segoe UI Semibold"/>
                  <a:ea typeface="+mn-ea"/>
                  <a:cs typeface="+mn-cs"/>
                </a:rPr>
                <a:t>up to 65%* compared </a:t>
              </a:r>
              <a:br>
                <a:rPr kumimoji="0" lang="en-US" sz="1200" b="0" i="0" u="none" strike="noStrike" kern="1200" cap="none" spc="0" normalizeH="0" baseline="0" noProof="0">
                  <a:ln>
                    <a:noFill/>
                  </a:ln>
                  <a:gradFill>
                    <a:gsLst>
                      <a:gs pos="54400">
                        <a:srgbClr val="000000"/>
                      </a:gs>
                      <a:gs pos="100000">
                        <a:srgbClr val="000000"/>
                      </a:gs>
                    </a:gsLst>
                    <a:lin ang="0" scaled="0"/>
                  </a:gradFill>
                  <a:effectLst/>
                  <a:uLnTx/>
                  <a:uFillTx/>
                  <a:latin typeface="Segoe UI Semibold"/>
                  <a:ea typeface="+mn-ea"/>
                  <a:cs typeface="+mn-cs"/>
                </a:rPr>
              </a:br>
              <a:r>
                <a:rPr kumimoji="0" lang="en-US" sz="1200" b="0" i="0" u="none" strike="noStrike" kern="1200" cap="none" spc="0" normalizeH="0" baseline="0" noProof="0">
                  <a:ln>
                    <a:noFill/>
                  </a:ln>
                  <a:gradFill>
                    <a:gsLst>
                      <a:gs pos="54400">
                        <a:srgbClr val="000000"/>
                      </a:gs>
                      <a:gs pos="100000">
                        <a:srgbClr val="000000"/>
                      </a:gs>
                    </a:gsLst>
                    <a:lin ang="0" scaled="0"/>
                  </a:gradFill>
                  <a:effectLst/>
                  <a:uLnTx/>
                  <a:uFillTx/>
                  <a:latin typeface="Segoe UI Semibold"/>
                  <a:ea typeface="+mn-ea"/>
                  <a:cs typeface="+mn-cs"/>
                </a:rPr>
                <a:t>to pay-as-you-go pricing</a:t>
              </a:r>
            </a:p>
          </p:txBody>
        </p:sp>
        <p:grpSp>
          <p:nvGrpSpPr>
            <p:cNvPr id="5" name="Group 4">
              <a:extLst>
                <a:ext uri="{FF2B5EF4-FFF2-40B4-BE49-F238E27FC236}">
                  <a16:creationId xmlns:a16="http://schemas.microsoft.com/office/drawing/2014/main" id="{7A2F5535-37C1-4DFE-9ACA-33FB7A900704}"/>
                </a:ext>
              </a:extLst>
            </p:cNvPr>
            <p:cNvGrpSpPr/>
            <p:nvPr/>
          </p:nvGrpSpPr>
          <p:grpSpPr>
            <a:xfrm>
              <a:off x="2149141" y="4731883"/>
              <a:ext cx="284096" cy="452425"/>
              <a:chOff x="-810661" y="3969470"/>
              <a:chExt cx="333213" cy="530644"/>
            </a:xfrm>
          </p:grpSpPr>
          <p:sp>
            <p:nvSpPr>
              <p:cNvPr id="45" name="Freeform: Shape 44">
                <a:extLst>
                  <a:ext uri="{FF2B5EF4-FFF2-40B4-BE49-F238E27FC236}">
                    <a16:creationId xmlns:a16="http://schemas.microsoft.com/office/drawing/2014/main" id="{FABC24D5-4D66-453A-92DD-2931232DA270}"/>
                  </a:ext>
                </a:extLst>
              </p:cNvPr>
              <p:cNvSpPr/>
              <p:nvPr/>
            </p:nvSpPr>
            <p:spPr>
              <a:xfrm>
                <a:off x="-810661" y="3969470"/>
                <a:ext cx="333213" cy="530644"/>
              </a:xfrm>
              <a:custGeom>
                <a:avLst/>
                <a:gdLst>
                  <a:gd name="connsiteX0" fmla="*/ 436174 w 436173"/>
                  <a:gd name="connsiteY0" fmla="*/ 216824 h 694608"/>
                  <a:gd name="connsiteX1" fmla="*/ 219350 w 436173"/>
                  <a:gd name="connsiteY1" fmla="*/ 0 h 694608"/>
                  <a:gd name="connsiteX2" fmla="*/ 5583 w 436173"/>
                  <a:gd name="connsiteY2" fmla="*/ 181196 h 694608"/>
                  <a:gd name="connsiteX3" fmla="*/ 94254 w 436173"/>
                  <a:gd name="connsiteY3" fmla="*/ 181196 h 694608"/>
                  <a:gd name="connsiteX4" fmla="*/ 127489 w 436173"/>
                  <a:gd name="connsiteY4" fmla="*/ 124963 h 694608"/>
                  <a:gd name="connsiteX5" fmla="*/ 219217 w 436173"/>
                  <a:gd name="connsiteY5" fmla="*/ 86809 h 694608"/>
                  <a:gd name="connsiteX6" fmla="*/ 310945 w 436173"/>
                  <a:gd name="connsiteY6" fmla="*/ 124963 h 694608"/>
                  <a:gd name="connsiteX7" fmla="*/ 349099 w 436173"/>
                  <a:gd name="connsiteY7" fmla="*/ 216691 h 694608"/>
                  <a:gd name="connsiteX8" fmla="*/ 348966 w 436173"/>
                  <a:gd name="connsiteY8" fmla="*/ 255111 h 694608"/>
                  <a:gd name="connsiteX9" fmla="*/ 0 w 436173"/>
                  <a:gd name="connsiteY9" fmla="*/ 255111 h 694608"/>
                  <a:gd name="connsiteX10" fmla="*/ 0 w 436173"/>
                  <a:gd name="connsiteY10" fmla="*/ 694609 h 694608"/>
                  <a:gd name="connsiteX11" fmla="*/ 436174 w 436173"/>
                  <a:gd name="connsiteY11" fmla="*/ 694609 h 694608"/>
                  <a:gd name="connsiteX12" fmla="*/ 436174 w 436173"/>
                  <a:gd name="connsiteY12" fmla="*/ 297386 h 694608"/>
                  <a:gd name="connsiteX13" fmla="*/ 436174 w 436173"/>
                  <a:gd name="connsiteY13" fmla="*/ 216824 h 69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6173" h="694608">
                    <a:moveTo>
                      <a:pt x="436174" y="216824"/>
                    </a:moveTo>
                    <a:cubicBezTo>
                      <a:pt x="436174" y="97578"/>
                      <a:pt x="338596" y="0"/>
                      <a:pt x="219350" y="0"/>
                    </a:cubicBezTo>
                    <a:cubicBezTo>
                      <a:pt x="112201" y="0"/>
                      <a:pt x="22733" y="78833"/>
                      <a:pt x="5583" y="181196"/>
                    </a:cubicBezTo>
                    <a:lnTo>
                      <a:pt x="94254" y="181196"/>
                    </a:lnTo>
                    <a:cubicBezTo>
                      <a:pt x="100236" y="160325"/>
                      <a:pt x="111536" y="141048"/>
                      <a:pt x="127489" y="124963"/>
                    </a:cubicBezTo>
                    <a:cubicBezTo>
                      <a:pt x="152083" y="100369"/>
                      <a:pt x="184786" y="86809"/>
                      <a:pt x="219217" y="86809"/>
                    </a:cubicBezTo>
                    <a:cubicBezTo>
                      <a:pt x="253649" y="86809"/>
                      <a:pt x="286352" y="100369"/>
                      <a:pt x="310945" y="124963"/>
                    </a:cubicBezTo>
                    <a:cubicBezTo>
                      <a:pt x="335539" y="149557"/>
                      <a:pt x="349099" y="182260"/>
                      <a:pt x="349099" y="216691"/>
                    </a:cubicBezTo>
                    <a:cubicBezTo>
                      <a:pt x="349099" y="223604"/>
                      <a:pt x="349099" y="229321"/>
                      <a:pt x="348966" y="255111"/>
                    </a:cubicBezTo>
                    <a:lnTo>
                      <a:pt x="0" y="255111"/>
                    </a:lnTo>
                    <a:lnTo>
                      <a:pt x="0" y="694609"/>
                    </a:lnTo>
                    <a:lnTo>
                      <a:pt x="436174" y="694609"/>
                    </a:lnTo>
                    <a:lnTo>
                      <a:pt x="436174" y="297386"/>
                    </a:lnTo>
                    <a:cubicBezTo>
                      <a:pt x="436174" y="258035"/>
                      <a:pt x="436174" y="226263"/>
                      <a:pt x="436174" y="216824"/>
                    </a:cubicBezTo>
                    <a:close/>
                  </a:path>
                </a:pathLst>
              </a:custGeom>
              <a:solidFill>
                <a:srgbClr val="243A5E"/>
              </a:solidFill>
              <a:ln w="785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6" name="Freeform: Shape 45">
                <a:extLst>
                  <a:ext uri="{FF2B5EF4-FFF2-40B4-BE49-F238E27FC236}">
                    <a16:creationId xmlns:a16="http://schemas.microsoft.com/office/drawing/2014/main" id="{5799B80A-EFE1-4D11-B3F4-252DD6DC75B0}"/>
                  </a:ext>
                </a:extLst>
              </p:cNvPr>
              <p:cNvSpPr/>
              <p:nvPr/>
            </p:nvSpPr>
            <p:spPr>
              <a:xfrm>
                <a:off x="-691657" y="4235739"/>
                <a:ext cx="95207" cy="190413"/>
              </a:xfrm>
              <a:custGeom>
                <a:avLst/>
                <a:gdLst>
                  <a:gd name="connsiteX0" fmla="*/ 66148 w 88898"/>
                  <a:gd name="connsiteY0" fmla="*/ 119136 h 177796"/>
                  <a:gd name="connsiteX1" fmla="*/ 52721 w 88898"/>
                  <a:gd name="connsiteY1" fmla="*/ 104145 h 177796"/>
                  <a:gd name="connsiteX2" fmla="*/ 52721 w 88898"/>
                  <a:gd name="connsiteY2" fmla="*/ 132562 h 177796"/>
                  <a:gd name="connsiteX3" fmla="*/ 66148 w 88898"/>
                  <a:gd name="connsiteY3" fmla="*/ 119136 h 177796"/>
                  <a:gd name="connsiteX4" fmla="*/ 39034 w 88898"/>
                  <a:gd name="connsiteY4" fmla="*/ 72404 h 177796"/>
                  <a:gd name="connsiteX5" fmla="*/ 39034 w 88898"/>
                  <a:gd name="connsiteY5" fmla="*/ 42683 h 177796"/>
                  <a:gd name="connsiteX6" fmla="*/ 25998 w 88898"/>
                  <a:gd name="connsiteY6" fmla="*/ 56305 h 177796"/>
                  <a:gd name="connsiteX7" fmla="*/ 39034 w 88898"/>
                  <a:gd name="connsiteY7" fmla="*/ 72404 h 177796"/>
                  <a:gd name="connsiteX8" fmla="*/ 91110 w 88898"/>
                  <a:gd name="connsiteY8" fmla="*/ 117832 h 177796"/>
                  <a:gd name="connsiteX9" fmla="*/ 81334 w 88898"/>
                  <a:gd name="connsiteY9" fmla="*/ 142861 h 177796"/>
                  <a:gd name="connsiteX10" fmla="*/ 52786 w 88898"/>
                  <a:gd name="connsiteY10" fmla="*/ 154462 h 177796"/>
                  <a:gd name="connsiteX11" fmla="*/ 52786 w 88898"/>
                  <a:gd name="connsiteY11" fmla="*/ 176752 h 177796"/>
                  <a:gd name="connsiteX12" fmla="*/ 39099 w 88898"/>
                  <a:gd name="connsiteY12" fmla="*/ 176752 h 177796"/>
                  <a:gd name="connsiteX13" fmla="*/ 39099 w 88898"/>
                  <a:gd name="connsiteY13" fmla="*/ 155048 h 177796"/>
                  <a:gd name="connsiteX14" fmla="*/ 3642 w 88898"/>
                  <a:gd name="connsiteY14" fmla="*/ 146445 h 177796"/>
                  <a:gd name="connsiteX15" fmla="*/ 3642 w 88898"/>
                  <a:gd name="connsiteY15" fmla="*/ 120439 h 177796"/>
                  <a:gd name="connsiteX16" fmla="*/ 19806 w 88898"/>
                  <a:gd name="connsiteY16" fmla="*/ 128456 h 177796"/>
                  <a:gd name="connsiteX17" fmla="*/ 39099 w 88898"/>
                  <a:gd name="connsiteY17" fmla="*/ 132889 h 177796"/>
                  <a:gd name="connsiteX18" fmla="*/ 39099 w 88898"/>
                  <a:gd name="connsiteY18" fmla="*/ 98735 h 177796"/>
                  <a:gd name="connsiteX19" fmla="*/ 9769 w 88898"/>
                  <a:gd name="connsiteY19" fmla="*/ 81920 h 177796"/>
                  <a:gd name="connsiteX20" fmla="*/ 1166 w 88898"/>
                  <a:gd name="connsiteY20" fmla="*/ 57869 h 177796"/>
                  <a:gd name="connsiteX21" fmla="*/ 11790 w 88898"/>
                  <a:gd name="connsiteY21" fmla="*/ 32711 h 177796"/>
                  <a:gd name="connsiteX22" fmla="*/ 39164 w 88898"/>
                  <a:gd name="connsiteY22" fmla="*/ 20784 h 177796"/>
                  <a:gd name="connsiteX23" fmla="*/ 39164 w 88898"/>
                  <a:gd name="connsiteY23" fmla="*/ 1166 h 177796"/>
                  <a:gd name="connsiteX24" fmla="*/ 52852 w 88898"/>
                  <a:gd name="connsiteY24" fmla="*/ 1166 h 177796"/>
                  <a:gd name="connsiteX25" fmla="*/ 52852 w 88898"/>
                  <a:gd name="connsiteY25" fmla="*/ 20393 h 177796"/>
                  <a:gd name="connsiteX26" fmla="*/ 82377 w 88898"/>
                  <a:gd name="connsiteY26" fmla="*/ 26780 h 177796"/>
                  <a:gd name="connsiteX27" fmla="*/ 82377 w 88898"/>
                  <a:gd name="connsiteY27" fmla="*/ 52069 h 177796"/>
                  <a:gd name="connsiteX28" fmla="*/ 52852 w 88898"/>
                  <a:gd name="connsiteY28" fmla="*/ 42292 h 177796"/>
                  <a:gd name="connsiteX29" fmla="*/ 52852 w 88898"/>
                  <a:gd name="connsiteY29" fmla="*/ 77814 h 177796"/>
                  <a:gd name="connsiteX30" fmla="*/ 82377 w 88898"/>
                  <a:gd name="connsiteY30" fmla="*/ 94694 h 177796"/>
                  <a:gd name="connsiteX31" fmla="*/ 91110 w 88898"/>
                  <a:gd name="connsiteY31" fmla="*/ 117832 h 17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898" h="177796">
                    <a:moveTo>
                      <a:pt x="66148" y="119136"/>
                    </a:moveTo>
                    <a:cubicBezTo>
                      <a:pt x="66148" y="113075"/>
                      <a:pt x="61650" y="108056"/>
                      <a:pt x="52721" y="104145"/>
                    </a:cubicBezTo>
                    <a:lnTo>
                      <a:pt x="52721" y="132562"/>
                    </a:lnTo>
                    <a:cubicBezTo>
                      <a:pt x="61716" y="131129"/>
                      <a:pt x="66148" y="126631"/>
                      <a:pt x="66148" y="119136"/>
                    </a:cubicBezTo>
                    <a:close/>
                    <a:moveTo>
                      <a:pt x="39034" y="72404"/>
                    </a:moveTo>
                    <a:lnTo>
                      <a:pt x="39034" y="42683"/>
                    </a:lnTo>
                    <a:cubicBezTo>
                      <a:pt x="30365" y="44247"/>
                      <a:pt x="25998" y="48745"/>
                      <a:pt x="25998" y="56305"/>
                    </a:cubicBezTo>
                    <a:cubicBezTo>
                      <a:pt x="25998" y="62888"/>
                      <a:pt x="30365" y="68233"/>
                      <a:pt x="39034" y="72404"/>
                    </a:cubicBezTo>
                    <a:close/>
                    <a:moveTo>
                      <a:pt x="91110" y="117832"/>
                    </a:moveTo>
                    <a:cubicBezTo>
                      <a:pt x="91110" y="128195"/>
                      <a:pt x="87852" y="136538"/>
                      <a:pt x="81334" y="142861"/>
                    </a:cubicBezTo>
                    <a:cubicBezTo>
                      <a:pt x="74816" y="149182"/>
                      <a:pt x="65300" y="153028"/>
                      <a:pt x="52786" y="154462"/>
                    </a:cubicBezTo>
                    <a:lnTo>
                      <a:pt x="52786" y="176752"/>
                    </a:lnTo>
                    <a:lnTo>
                      <a:pt x="39099" y="176752"/>
                    </a:lnTo>
                    <a:lnTo>
                      <a:pt x="39099" y="155048"/>
                    </a:lnTo>
                    <a:cubicBezTo>
                      <a:pt x="26194" y="154918"/>
                      <a:pt x="14397" y="152050"/>
                      <a:pt x="3642" y="146445"/>
                    </a:cubicBezTo>
                    <a:lnTo>
                      <a:pt x="3642" y="120439"/>
                    </a:lnTo>
                    <a:cubicBezTo>
                      <a:pt x="7032" y="123177"/>
                      <a:pt x="12441" y="125849"/>
                      <a:pt x="19806" y="128456"/>
                    </a:cubicBezTo>
                    <a:cubicBezTo>
                      <a:pt x="27237" y="131063"/>
                      <a:pt x="33624" y="132562"/>
                      <a:pt x="39099" y="132889"/>
                    </a:cubicBezTo>
                    <a:lnTo>
                      <a:pt x="39099" y="98735"/>
                    </a:lnTo>
                    <a:cubicBezTo>
                      <a:pt x="25281" y="93587"/>
                      <a:pt x="15505" y="87981"/>
                      <a:pt x="9769" y="81920"/>
                    </a:cubicBezTo>
                    <a:cubicBezTo>
                      <a:pt x="4033" y="75793"/>
                      <a:pt x="1166" y="67776"/>
                      <a:pt x="1166" y="57869"/>
                    </a:cubicBezTo>
                    <a:cubicBezTo>
                      <a:pt x="1166" y="47963"/>
                      <a:pt x="4685" y="39555"/>
                      <a:pt x="11790" y="32711"/>
                    </a:cubicBezTo>
                    <a:cubicBezTo>
                      <a:pt x="18829" y="25868"/>
                      <a:pt x="27954" y="21892"/>
                      <a:pt x="39164" y="20784"/>
                    </a:cubicBezTo>
                    <a:lnTo>
                      <a:pt x="39164" y="1166"/>
                    </a:lnTo>
                    <a:lnTo>
                      <a:pt x="52852" y="1166"/>
                    </a:lnTo>
                    <a:lnTo>
                      <a:pt x="52852" y="20393"/>
                    </a:lnTo>
                    <a:cubicBezTo>
                      <a:pt x="66017" y="21045"/>
                      <a:pt x="75859" y="23130"/>
                      <a:pt x="82377" y="26780"/>
                    </a:cubicBezTo>
                    <a:lnTo>
                      <a:pt x="82377" y="52069"/>
                    </a:lnTo>
                    <a:cubicBezTo>
                      <a:pt x="73708" y="46790"/>
                      <a:pt x="63866" y="43596"/>
                      <a:pt x="52852" y="42292"/>
                    </a:cubicBezTo>
                    <a:lnTo>
                      <a:pt x="52852" y="77814"/>
                    </a:lnTo>
                    <a:cubicBezTo>
                      <a:pt x="66669" y="82832"/>
                      <a:pt x="76511" y="88438"/>
                      <a:pt x="82377" y="94694"/>
                    </a:cubicBezTo>
                    <a:cubicBezTo>
                      <a:pt x="88178" y="101017"/>
                      <a:pt x="91110" y="108707"/>
                      <a:pt x="91110" y="117832"/>
                    </a:cubicBezTo>
                    <a:close/>
                  </a:path>
                </a:pathLst>
              </a:custGeom>
              <a:solidFill>
                <a:schemeClr val="accent5"/>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6" name="Group 5" descr="Optimize savings automatically&#10;across participating services globally &#10;up to the hourly commitment&#10;">
            <a:extLst>
              <a:ext uri="{FF2B5EF4-FFF2-40B4-BE49-F238E27FC236}">
                <a16:creationId xmlns:a16="http://schemas.microsoft.com/office/drawing/2014/main" id="{756981F7-4C38-446F-9DC1-5BBDDCF8C0FB}"/>
              </a:ext>
            </a:extLst>
          </p:cNvPr>
          <p:cNvGrpSpPr/>
          <p:nvPr/>
        </p:nvGrpSpPr>
        <p:grpSpPr>
          <a:xfrm>
            <a:off x="4220032" y="4021414"/>
            <a:ext cx="3696847" cy="1936879"/>
            <a:chOff x="4247577" y="4462540"/>
            <a:chExt cx="3696847" cy="1936879"/>
          </a:xfrm>
        </p:grpSpPr>
        <p:sp>
          <p:nvSpPr>
            <p:cNvPr id="42" name="Rectangle: Rounded Corners 41">
              <a:extLst>
                <a:ext uri="{FF2B5EF4-FFF2-40B4-BE49-F238E27FC236}">
                  <a16:creationId xmlns:a16="http://schemas.microsoft.com/office/drawing/2014/main" id="{7D9623A1-73D3-44F4-AA16-3E149433982E}"/>
                </a:ext>
              </a:extLst>
            </p:cNvPr>
            <p:cNvSpPr/>
            <p:nvPr/>
          </p:nvSpPr>
          <p:spPr bwMode="auto">
            <a:xfrm>
              <a:off x="4247577" y="4462540"/>
              <a:ext cx="3696847" cy="1936879"/>
            </a:xfrm>
            <a:prstGeom prst="roundRect">
              <a:avLst>
                <a:gd name="adj" fmla="val 6160"/>
              </a:avLst>
            </a:prstGeom>
            <a:solidFill>
              <a:schemeClr val="bg1"/>
            </a:solid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371600" rIns="274320" bIns="91440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600"/>
                </a:spcAft>
                <a:buClr>
                  <a:srgbClr val="000000"/>
                </a:buClr>
                <a:buSzPct val="90000"/>
                <a:buFontTx/>
                <a:buNone/>
                <a:tabLst/>
                <a:defRPr/>
              </a:pPr>
              <a:r>
                <a:rPr kumimoji="0" lang="en-US" sz="1600" b="0" i="0" u="none" strike="noStrike" kern="1200" cap="none" spc="0" normalizeH="0" baseline="0" noProof="0">
                  <a:ln>
                    <a:noFill/>
                  </a:ln>
                  <a:gradFill>
                    <a:gsLst>
                      <a:gs pos="54400">
                        <a:srgbClr val="243A5E"/>
                      </a:gs>
                      <a:gs pos="100000">
                        <a:srgbClr val="243A5E"/>
                      </a:gs>
                    </a:gsLst>
                    <a:lin ang="0" scaled="0"/>
                  </a:gradFill>
                  <a:effectLst/>
                  <a:uLnTx/>
                  <a:uFillTx/>
                  <a:latin typeface="Segoe UI Semibold"/>
                  <a:ea typeface="+mn-ea"/>
                  <a:cs typeface="Segoe UI" panose="020B0502040204020203" pitchFamily="34" charset="0"/>
                </a:rPr>
                <a:t>Optimize savings automatically</a:t>
              </a:r>
            </a:p>
            <a:p>
              <a:pPr marL="0" marR="0" lvl="0" indent="0" algn="ctr" defTabSz="932742" rtl="0" eaLnBrk="1" fontAlgn="auto" latinLnBrk="0" hangingPunct="1">
                <a:lnSpc>
                  <a:spcPct val="100000"/>
                </a:lnSpc>
                <a:spcBef>
                  <a:spcPts val="0"/>
                </a:spcBef>
                <a:spcAft>
                  <a:spcPts val="600"/>
                </a:spcAft>
                <a:buClr>
                  <a:srgbClr val="000000"/>
                </a:buClr>
                <a:buSzPct val="90000"/>
                <a:buFontTx/>
                <a:buNone/>
                <a:tabLst/>
                <a:defRPr/>
              </a:pPr>
              <a:r>
                <a:rPr kumimoji="0" lang="en-US" sz="1200" b="0" i="0" u="none" strike="noStrike" kern="1200" cap="none" spc="0" normalizeH="0" baseline="0" noProof="0">
                  <a:ln>
                    <a:noFill/>
                  </a:ln>
                  <a:gradFill>
                    <a:gsLst>
                      <a:gs pos="54400">
                        <a:srgbClr val="000000"/>
                      </a:gs>
                      <a:gs pos="100000">
                        <a:srgbClr val="000000"/>
                      </a:gs>
                    </a:gsLst>
                    <a:lin ang="0" scaled="0"/>
                  </a:gradFill>
                  <a:effectLst/>
                  <a:uLnTx/>
                  <a:uFillTx/>
                  <a:latin typeface="Segoe UI Semibold"/>
                  <a:ea typeface="+mn-ea"/>
                  <a:cs typeface="+mn-cs"/>
                </a:rPr>
                <a:t>across select services globally </a:t>
              </a:r>
              <a:br>
                <a:rPr kumimoji="0" lang="en-US" sz="1200" b="0" i="0" u="none" strike="noStrike" kern="1200" cap="none" spc="0" normalizeH="0" baseline="0" noProof="0">
                  <a:ln>
                    <a:noFill/>
                  </a:ln>
                  <a:gradFill>
                    <a:gsLst>
                      <a:gs pos="54400">
                        <a:srgbClr val="000000"/>
                      </a:gs>
                      <a:gs pos="100000">
                        <a:srgbClr val="000000"/>
                      </a:gs>
                    </a:gsLst>
                    <a:lin ang="0" scaled="0"/>
                  </a:gradFill>
                  <a:effectLst/>
                  <a:uLnTx/>
                  <a:uFillTx/>
                  <a:latin typeface="Segoe UI Semibold"/>
                  <a:ea typeface="+mn-ea"/>
                  <a:cs typeface="+mn-cs"/>
                </a:rPr>
              </a:br>
              <a:r>
                <a:rPr kumimoji="0" lang="en-US" sz="1200" b="0" i="0" u="none" strike="noStrike" kern="1200" cap="none" spc="0" normalizeH="0" baseline="0" noProof="0">
                  <a:ln>
                    <a:noFill/>
                  </a:ln>
                  <a:gradFill>
                    <a:gsLst>
                      <a:gs pos="54400">
                        <a:srgbClr val="000000"/>
                      </a:gs>
                      <a:gs pos="100000">
                        <a:srgbClr val="000000"/>
                      </a:gs>
                    </a:gsLst>
                    <a:lin ang="0" scaled="0"/>
                  </a:gradFill>
                  <a:effectLst/>
                  <a:uLnTx/>
                  <a:uFillTx/>
                  <a:latin typeface="Segoe UI Semibold"/>
                  <a:ea typeface="+mn-ea"/>
                  <a:cs typeface="+mn-cs"/>
                </a:rPr>
                <a:t>up to the hourly commitment</a:t>
              </a:r>
            </a:p>
          </p:txBody>
        </p:sp>
        <p:grpSp>
          <p:nvGrpSpPr>
            <p:cNvPr id="52" name="Group 51">
              <a:extLst>
                <a:ext uri="{FF2B5EF4-FFF2-40B4-BE49-F238E27FC236}">
                  <a16:creationId xmlns:a16="http://schemas.microsoft.com/office/drawing/2014/main" id="{BC642192-7F4B-4661-90D9-36DA25798054}"/>
                </a:ext>
              </a:extLst>
            </p:cNvPr>
            <p:cNvGrpSpPr/>
            <p:nvPr/>
          </p:nvGrpSpPr>
          <p:grpSpPr>
            <a:xfrm>
              <a:off x="5846030" y="4745164"/>
              <a:ext cx="499940" cy="425862"/>
              <a:chOff x="5692537" y="3713796"/>
              <a:chExt cx="1048981" cy="893550"/>
            </a:xfrm>
          </p:grpSpPr>
          <p:grpSp>
            <p:nvGrpSpPr>
              <p:cNvPr id="47" name="gears 1" descr="gears, process, precision, productivity, mechanical">
                <a:extLst>
                  <a:ext uri="{FF2B5EF4-FFF2-40B4-BE49-F238E27FC236}">
                    <a16:creationId xmlns:a16="http://schemas.microsoft.com/office/drawing/2014/main" id="{BC29999F-C93E-4AB7-99BD-910B174181DC}"/>
                  </a:ext>
                </a:extLst>
              </p:cNvPr>
              <p:cNvGrpSpPr>
                <a:grpSpLocks noChangeAspect="1"/>
              </p:cNvGrpSpPr>
              <p:nvPr/>
            </p:nvGrpSpPr>
            <p:grpSpPr bwMode="auto">
              <a:xfrm>
                <a:off x="5692537" y="3713796"/>
                <a:ext cx="806922" cy="651490"/>
                <a:chOff x="1682" y="3094"/>
                <a:chExt cx="244" cy="197"/>
              </a:xfrm>
            </p:grpSpPr>
            <p:sp>
              <p:nvSpPr>
                <p:cNvPr id="48" name="AutoShape 151">
                  <a:extLst>
                    <a:ext uri="{FF2B5EF4-FFF2-40B4-BE49-F238E27FC236}">
                      <a16:creationId xmlns:a16="http://schemas.microsoft.com/office/drawing/2014/main" id="{AFD50956-CD45-4459-97CF-6BAD2A74B5D0}"/>
                    </a:ext>
                  </a:extLst>
                </p:cNvPr>
                <p:cNvSpPr>
                  <a:spLocks noChangeAspect="1" noChangeArrowheads="1" noTextEdit="1"/>
                </p:cNvSpPr>
                <p:nvPr/>
              </p:nvSpPr>
              <p:spPr bwMode="auto">
                <a:xfrm>
                  <a:off x="1682" y="3095"/>
                  <a:ext cx="24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9" name="Freeform 153">
                  <a:extLst>
                    <a:ext uri="{FF2B5EF4-FFF2-40B4-BE49-F238E27FC236}">
                      <a16:creationId xmlns:a16="http://schemas.microsoft.com/office/drawing/2014/main" id="{D3372C0D-ECC7-4225-8AE9-4ACBF1513AA4}"/>
                    </a:ext>
                  </a:extLst>
                </p:cNvPr>
                <p:cNvSpPr>
                  <a:spLocks noEditPoints="1"/>
                </p:cNvSpPr>
                <p:nvPr/>
              </p:nvSpPr>
              <p:spPr bwMode="auto">
                <a:xfrm>
                  <a:off x="1810" y="3094"/>
                  <a:ext cx="115" cy="113"/>
                </a:xfrm>
                <a:custGeom>
                  <a:avLst/>
                  <a:gdLst>
                    <a:gd name="T0" fmla="*/ 68 w 79"/>
                    <a:gd name="T1" fmla="*/ 36 h 78"/>
                    <a:gd name="T2" fmla="*/ 66 w 79"/>
                    <a:gd name="T3" fmla="*/ 26 h 78"/>
                    <a:gd name="T4" fmla="*/ 72 w 79"/>
                    <a:gd name="T5" fmla="*/ 18 h 78"/>
                    <a:gd name="T6" fmla="*/ 66 w 79"/>
                    <a:gd name="T7" fmla="*/ 11 h 78"/>
                    <a:gd name="T8" fmla="*/ 57 w 79"/>
                    <a:gd name="T9" fmla="*/ 16 h 78"/>
                    <a:gd name="T10" fmla="*/ 49 w 79"/>
                    <a:gd name="T11" fmla="*/ 12 h 78"/>
                    <a:gd name="T12" fmla="*/ 48 w 79"/>
                    <a:gd name="T13" fmla="*/ 1 h 78"/>
                    <a:gd name="T14" fmla="*/ 38 w 79"/>
                    <a:gd name="T15" fmla="*/ 0 h 78"/>
                    <a:gd name="T16" fmla="*/ 35 w 79"/>
                    <a:gd name="T17" fmla="*/ 11 h 78"/>
                    <a:gd name="T18" fmla="*/ 26 w 79"/>
                    <a:gd name="T19" fmla="*/ 13 h 78"/>
                    <a:gd name="T20" fmla="*/ 18 w 79"/>
                    <a:gd name="T21" fmla="*/ 6 h 78"/>
                    <a:gd name="T22" fmla="*/ 11 w 79"/>
                    <a:gd name="T23" fmla="*/ 12 h 78"/>
                    <a:gd name="T24" fmla="*/ 16 w 79"/>
                    <a:gd name="T25" fmla="*/ 22 h 78"/>
                    <a:gd name="T26" fmla="*/ 11 w 79"/>
                    <a:gd name="T27" fmla="*/ 30 h 78"/>
                    <a:gd name="T28" fmla="*/ 1 w 79"/>
                    <a:gd name="T29" fmla="*/ 31 h 78"/>
                    <a:gd name="T30" fmla="*/ 0 w 79"/>
                    <a:gd name="T31" fmla="*/ 40 h 78"/>
                    <a:gd name="T32" fmla="*/ 10 w 79"/>
                    <a:gd name="T33" fmla="*/ 43 h 78"/>
                    <a:gd name="T34" fmla="*/ 13 w 79"/>
                    <a:gd name="T35" fmla="*/ 52 h 78"/>
                    <a:gd name="T36" fmla="*/ 6 w 79"/>
                    <a:gd name="T37" fmla="*/ 60 h 78"/>
                    <a:gd name="T38" fmla="*/ 12 w 79"/>
                    <a:gd name="T39" fmla="*/ 67 h 78"/>
                    <a:gd name="T40" fmla="*/ 22 w 79"/>
                    <a:gd name="T41" fmla="*/ 62 h 78"/>
                    <a:gd name="T42" fmla="*/ 30 w 79"/>
                    <a:gd name="T43" fmla="*/ 66 h 78"/>
                    <a:gd name="T44" fmla="*/ 31 w 79"/>
                    <a:gd name="T45" fmla="*/ 77 h 78"/>
                    <a:gd name="T46" fmla="*/ 40 w 79"/>
                    <a:gd name="T47" fmla="*/ 78 h 78"/>
                    <a:gd name="T48" fmla="*/ 43 w 79"/>
                    <a:gd name="T49" fmla="*/ 67 h 78"/>
                    <a:gd name="T50" fmla="*/ 52 w 79"/>
                    <a:gd name="T51" fmla="*/ 65 h 78"/>
                    <a:gd name="T52" fmla="*/ 61 w 79"/>
                    <a:gd name="T53" fmla="*/ 72 h 78"/>
                    <a:gd name="T54" fmla="*/ 68 w 79"/>
                    <a:gd name="T55" fmla="*/ 66 h 78"/>
                    <a:gd name="T56" fmla="*/ 63 w 79"/>
                    <a:gd name="T57" fmla="*/ 56 h 78"/>
                    <a:gd name="T58" fmla="*/ 68 w 79"/>
                    <a:gd name="T59" fmla="*/ 48 h 78"/>
                    <a:gd name="T60" fmla="*/ 78 w 79"/>
                    <a:gd name="T61" fmla="*/ 47 h 78"/>
                    <a:gd name="T62" fmla="*/ 79 w 79"/>
                    <a:gd name="T63" fmla="*/ 38 h 78"/>
                    <a:gd name="T64" fmla="*/ 68 w 79"/>
                    <a:gd name="T65" fmla="*/ 36 h 78"/>
                    <a:gd name="T66" fmla="*/ 44 w 79"/>
                    <a:gd name="T67" fmla="*/ 56 h 78"/>
                    <a:gd name="T68" fmla="*/ 22 w 79"/>
                    <a:gd name="T69" fmla="*/ 45 h 78"/>
                    <a:gd name="T70" fmla="*/ 34 w 79"/>
                    <a:gd name="T71" fmla="*/ 23 h 78"/>
                    <a:gd name="T72" fmla="*/ 55 w 79"/>
                    <a:gd name="T73" fmla="*/ 34 h 78"/>
                    <a:gd name="T74" fmla="*/ 44 w 79"/>
                    <a:gd name="T75" fmla="*/ 5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9" h="78">
                      <a:moveTo>
                        <a:pt x="68" y="36"/>
                      </a:moveTo>
                      <a:cubicBezTo>
                        <a:pt x="68" y="32"/>
                        <a:pt x="67" y="29"/>
                        <a:pt x="66" y="26"/>
                      </a:cubicBezTo>
                      <a:cubicBezTo>
                        <a:pt x="67" y="26"/>
                        <a:pt x="72" y="18"/>
                        <a:pt x="72" y="18"/>
                      </a:cubicBezTo>
                      <a:cubicBezTo>
                        <a:pt x="66" y="11"/>
                        <a:pt x="66" y="11"/>
                        <a:pt x="66" y="11"/>
                      </a:cubicBezTo>
                      <a:cubicBezTo>
                        <a:pt x="66" y="11"/>
                        <a:pt x="57" y="15"/>
                        <a:pt x="57" y="16"/>
                      </a:cubicBezTo>
                      <a:cubicBezTo>
                        <a:pt x="54" y="14"/>
                        <a:pt x="52" y="13"/>
                        <a:pt x="49" y="12"/>
                      </a:cubicBezTo>
                      <a:cubicBezTo>
                        <a:pt x="49" y="11"/>
                        <a:pt x="48" y="1"/>
                        <a:pt x="48" y="1"/>
                      </a:cubicBezTo>
                      <a:cubicBezTo>
                        <a:pt x="38" y="0"/>
                        <a:pt x="38" y="0"/>
                        <a:pt x="38" y="0"/>
                      </a:cubicBezTo>
                      <a:cubicBezTo>
                        <a:pt x="38" y="0"/>
                        <a:pt x="35" y="10"/>
                        <a:pt x="35" y="11"/>
                      </a:cubicBezTo>
                      <a:cubicBezTo>
                        <a:pt x="32" y="11"/>
                        <a:pt x="29" y="12"/>
                        <a:pt x="26" y="13"/>
                      </a:cubicBezTo>
                      <a:cubicBezTo>
                        <a:pt x="26" y="12"/>
                        <a:pt x="18" y="6"/>
                        <a:pt x="18" y="6"/>
                      </a:cubicBezTo>
                      <a:cubicBezTo>
                        <a:pt x="11" y="12"/>
                        <a:pt x="11" y="12"/>
                        <a:pt x="11" y="12"/>
                      </a:cubicBezTo>
                      <a:cubicBezTo>
                        <a:pt x="11" y="12"/>
                        <a:pt x="15" y="21"/>
                        <a:pt x="16" y="22"/>
                      </a:cubicBezTo>
                      <a:cubicBezTo>
                        <a:pt x="14" y="24"/>
                        <a:pt x="12" y="27"/>
                        <a:pt x="11" y="30"/>
                      </a:cubicBezTo>
                      <a:cubicBezTo>
                        <a:pt x="10" y="30"/>
                        <a:pt x="1" y="31"/>
                        <a:pt x="1" y="31"/>
                      </a:cubicBezTo>
                      <a:cubicBezTo>
                        <a:pt x="0" y="40"/>
                        <a:pt x="0" y="40"/>
                        <a:pt x="0" y="40"/>
                      </a:cubicBezTo>
                      <a:cubicBezTo>
                        <a:pt x="0" y="40"/>
                        <a:pt x="9" y="43"/>
                        <a:pt x="10" y="43"/>
                      </a:cubicBezTo>
                      <a:cubicBezTo>
                        <a:pt x="10" y="46"/>
                        <a:pt x="12" y="49"/>
                        <a:pt x="13" y="52"/>
                      </a:cubicBezTo>
                      <a:cubicBezTo>
                        <a:pt x="12" y="53"/>
                        <a:pt x="6" y="60"/>
                        <a:pt x="6" y="60"/>
                      </a:cubicBezTo>
                      <a:cubicBezTo>
                        <a:pt x="12" y="67"/>
                        <a:pt x="12" y="67"/>
                        <a:pt x="12" y="67"/>
                      </a:cubicBezTo>
                      <a:cubicBezTo>
                        <a:pt x="12" y="67"/>
                        <a:pt x="21" y="63"/>
                        <a:pt x="22" y="62"/>
                      </a:cubicBezTo>
                      <a:cubicBezTo>
                        <a:pt x="24" y="64"/>
                        <a:pt x="27" y="65"/>
                        <a:pt x="30" y="66"/>
                      </a:cubicBezTo>
                      <a:cubicBezTo>
                        <a:pt x="30" y="66"/>
                        <a:pt x="31" y="77"/>
                        <a:pt x="31" y="77"/>
                      </a:cubicBezTo>
                      <a:cubicBezTo>
                        <a:pt x="40" y="78"/>
                        <a:pt x="40" y="78"/>
                        <a:pt x="40" y="78"/>
                      </a:cubicBezTo>
                      <a:cubicBezTo>
                        <a:pt x="40" y="78"/>
                        <a:pt x="43" y="68"/>
                        <a:pt x="43" y="67"/>
                      </a:cubicBezTo>
                      <a:cubicBezTo>
                        <a:pt x="46" y="67"/>
                        <a:pt x="49" y="66"/>
                        <a:pt x="52" y="65"/>
                      </a:cubicBezTo>
                      <a:cubicBezTo>
                        <a:pt x="52" y="66"/>
                        <a:pt x="61" y="72"/>
                        <a:pt x="61" y="72"/>
                      </a:cubicBezTo>
                      <a:cubicBezTo>
                        <a:pt x="68" y="66"/>
                        <a:pt x="68" y="66"/>
                        <a:pt x="68" y="66"/>
                      </a:cubicBezTo>
                      <a:cubicBezTo>
                        <a:pt x="68" y="66"/>
                        <a:pt x="64" y="58"/>
                        <a:pt x="63" y="56"/>
                      </a:cubicBezTo>
                      <a:cubicBezTo>
                        <a:pt x="65" y="54"/>
                        <a:pt x="66" y="51"/>
                        <a:pt x="68" y="48"/>
                      </a:cubicBezTo>
                      <a:cubicBezTo>
                        <a:pt x="69" y="48"/>
                        <a:pt x="78" y="47"/>
                        <a:pt x="78" y="47"/>
                      </a:cubicBezTo>
                      <a:cubicBezTo>
                        <a:pt x="79" y="38"/>
                        <a:pt x="79" y="38"/>
                        <a:pt x="79" y="38"/>
                      </a:cubicBezTo>
                      <a:cubicBezTo>
                        <a:pt x="78" y="39"/>
                        <a:pt x="70" y="36"/>
                        <a:pt x="68" y="36"/>
                      </a:cubicBezTo>
                      <a:close/>
                      <a:moveTo>
                        <a:pt x="44" y="56"/>
                      </a:moveTo>
                      <a:cubicBezTo>
                        <a:pt x="35" y="59"/>
                        <a:pt x="25" y="54"/>
                        <a:pt x="22" y="45"/>
                      </a:cubicBezTo>
                      <a:cubicBezTo>
                        <a:pt x="20" y="36"/>
                        <a:pt x="24" y="26"/>
                        <a:pt x="34" y="23"/>
                      </a:cubicBezTo>
                      <a:cubicBezTo>
                        <a:pt x="43" y="20"/>
                        <a:pt x="52" y="25"/>
                        <a:pt x="55" y="34"/>
                      </a:cubicBezTo>
                      <a:cubicBezTo>
                        <a:pt x="58" y="43"/>
                        <a:pt x="53" y="53"/>
                        <a:pt x="44" y="56"/>
                      </a:cubicBezTo>
                      <a:close/>
                    </a:path>
                  </a:pathLst>
                </a:custGeom>
                <a:solidFill>
                  <a:srgbClr val="243A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0" name="Freeform 154">
                  <a:extLst>
                    <a:ext uri="{FF2B5EF4-FFF2-40B4-BE49-F238E27FC236}">
                      <a16:creationId xmlns:a16="http://schemas.microsoft.com/office/drawing/2014/main" id="{3A4175F4-A79F-4D31-B0ED-816597974422}"/>
                    </a:ext>
                  </a:extLst>
                </p:cNvPr>
                <p:cNvSpPr>
                  <a:spLocks noEditPoints="1"/>
                </p:cNvSpPr>
                <p:nvPr/>
              </p:nvSpPr>
              <p:spPr bwMode="auto">
                <a:xfrm>
                  <a:off x="1682" y="3140"/>
                  <a:ext cx="151" cy="150"/>
                </a:xfrm>
                <a:custGeom>
                  <a:avLst/>
                  <a:gdLst>
                    <a:gd name="T0" fmla="*/ 84 w 104"/>
                    <a:gd name="T1" fmla="*/ 31 h 103"/>
                    <a:gd name="T2" fmla="*/ 92 w 104"/>
                    <a:gd name="T3" fmla="*/ 20 h 103"/>
                    <a:gd name="T4" fmla="*/ 83 w 104"/>
                    <a:gd name="T5" fmla="*/ 11 h 103"/>
                    <a:gd name="T6" fmla="*/ 71 w 104"/>
                    <a:gd name="T7" fmla="*/ 19 h 103"/>
                    <a:gd name="T8" fmla="*/ 60 w 104"/>
                    <a:gd name="T9" fmla="*/ 14 h 103"/>
                    <a:gd name="T10" fmla="*/ 57 w 104"/>
                    <a:gd name="T11" fmla="*/ 0 h 103"/>
                    <a:gd name="T12" fmla="*/ 45 w 104"/>
                    <a:gd name="T13" fmla="*/ 0 h 103"/>
                    <a:gd name="T14" fmla="*/ 42 w 104"/>
                    <a:gd name="T15" fmla="*/ 14 h 103"/>
                    <a:gd name="T16" fmla="*/ 31 w 104"/>
                    <a:gd name="T17" fmla="*/ 19 h 103"/>
                    <a:gd name="T18" fmla="*/ 19 w 104"/>
                    <a:gd name="T19" fmla="*/ 11 h 103"/>
                    <a:gd name="T20" fmla="*/ 10 w 104"/>
                    <a:gd name="T21" fmla="*/ 20 h 103"/>
                    <a:gd name="T22" fmla="*/ 18 w 104"/>
                    <a:gd name="T23" fmla="*/ 32 h 103"/>
                    <a:gd name="T24" fmla="*/ 13 w 104"/>
                    <a:gd name="T25" fmla="*/ 43 h 103"/>
                    <a:gd name="T26" fmla="*/ 0 w 104"/>
                    <a:gd name="T27" fmla="*/ 46 h 103"/>
                    <a:gd name="T28" fmla="*/ 0 w 104"/>
                    <a:gd name="T29" fmla="*/ 57 h 103"/>
                    <a:gd name="T30" fmla="*/ 14 w 104"/>
                    <a:gd name="T31" fmla="*/ 60 h 103"/>
                    <a:gd name="T32" fmla="*/ 18 w 104"/>
                    <a:gd name="T33" fmla="*/ 72 h 103"/>
                    <a:gd name="T34" fmla="*/ 11 w 104"/>
                    <a:gd name="T35" fmla="*/ 84 h 103"/>
                    <a:gd name="T36" fmla="*/ 19 w 104"/>
                    <a:gd name="T37" fmla="*/ 92 h 103"/>
                    <a:gd name="T38" fmla="*/ 32 w 104"/>
                    <a:gd name="T39" fmla="*/ 84 h 103"/>
                    <a:gd name="T40" fmla="*/ 43 w 104"/>
                    <a:gd name="T41" fmla="*/ 88 h 103"/>
                    <a:gd name="T42" fmla="*/ 46 w 104"/>
                    <a:gd name="T43" fmla="*/ 103 h 103"/>
                    <a:gd name="T44" fmla="*/ 58 w 104"/>
                    <a:gd name="T45" fmla="*/ 103 h 103"/>
                    <a:gd name="T46" fmla="*/ 61 w 104"/>
                    <a:gd name="T47" fmla="*/ 88 h 103"/>
                    <a:gd name="T48" fmla="*/ 72 w 104"/>
                    <a:gd name="T49" fmla="*/ 84 h 103"/>
                    <a:gd name="T50" fmla="*/ 84 w 104"/>
                    <a:gd name="T51" fmla="*/ 92 h 103"/>
                    <a:gd name="T52" fmla="*/ 92 w 104"/>
                    <a:gd name="T53" fmla="*/ 83 h 103"/>
                    <a:gd name="T54" fmla="*/ 85 w 104"/>
                    <a:gd name="T55" fmla="*/ 72 h 103"/>
                    <a:gd name="T56" fmla="*/ 90 w 104"/>
                    <a:gd name="T57" fmla="*/ 60 h 103"/>
                    <a:gd name="T58" fmla="*/ 104 w 104"/>
                    <a:gd name="T59" fmla="*/ 57 h 103"/>
                    <a:gd name="T60" fmla="*/ 104 w 104"/>
                    <a:gd name="T61" fmla="*/ 45 h 103"/>
                    <a:gd name="T62" fmla="*/ 90 w 104"/>
                    <a:gd name="T63" fmla="*/ 42 h 103"/>
                    <a:gd name="T64" fmla="*/ 84 w 104"/>
                    <a:gd name="T65" fmla="*/ 31 h 103"/>
                    <a:gd name="T66" fmla="*/ 60 w 104"/>
                    <a:gd name="T67" fmla="*/ 72 h 103"/>
                    <a:gd name="T68" fmla="*/ 30 w 104"/>
                    <a:gd name="T69" fmla="*/ 60 h 103"/>
                    <a:gd name="T70" fmla="*/ 42 w 104"/>
                    <a:gd name="T71" fmla="*/ 30 h 103"/>
                    <a:gd name="T72" fmla="*/ 72 w 104"/>
                    <a:gd name="T73" fmla="*/ 42 h 103"/>
                    <a:gd name="T74" fmla="*/ 60 w 104"/>
                    <a:gd name="T75" fmla="*/ 7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 h="103">
                      <a:moveTo>
                        <a:pt x="84" y="31"/>
                      </a:moveTo>
                      <a:cubicBezTo>
                        <a:pt x="86" y="30"/>
                        <a:pt x="92" y="20"/>
                        <a:pt x="92" y="20"/>
                      </a:cubicBezTo>
                      <a:cubicBezTo>
                        <a:pt x="83" y="11"/>
                        <a:pt x="83" y="11"/>
                        <a:pt x="83" y="11"/>
                      </a:cubicBezTo>
                      <a:cubicBezTo>
                        <a:pt x="83" y="11"/>
                        <a:pt x="72" y="18"/>
                        <a:pt x="71" y="19"/>
                      </a:cubicBezTo>
                      <a:cubicBezTo>
                        <a:pt x="68" y="17"/>
                        <a:pt x="64" y="15"/>
                        <a:pt x="60" y="14"/>
                      </a:cubicBezTo>
                      <a:cubicBezTo>
                        <a:pt x="60" y="14"/>
                        <a:pt x="57" y="0"/>
                        <a:pt x="57" y="0"/>
                      </a:cubicBezTo>
                      <a:cubicBezTo>
                        <a:pt x="45" y="0"/>
                        <a:pt x="45" y="0"/>
                        <a:pt x="45" y="0"/>
                      </a:cubicBezTo>
                      <a:cubicBezTo>
                        <a:pt x="45" y="0"/>
                        <a:pt x="42" y="14"/>
                        <a:pt x="42" y="14"/>
                      </a:cubicBezTo>
                      <a:cubicBezTo>
                        <a:pt x="38" y="15"/>
                        <a:pt x="34" y="17"/>
                        <a:pt x="31" y="19"/>
                      </a:cubicBezTo>
                      <a:cubicBezTo>
                        <a:pt x="30" y="18"/>
                        <a:pt x="19" y="11"/>
                        <a:pt x="19" y="11"/>
                      </a:cubicBezTo>
                      <a:cubicBezTo>
                        <a:pt x="10" y="20"/>
                        <a:pt x="10" y="20"/>
                        <a:pt x="10" y="20"/>
                      </a:cubicBezTo>
                      <a:cubicBezTo>
                        <a:pt x="10" y="20"/>
                        <a:pt x="17" y="30"/>
                        <a:pt x="18" y="32"/>
                      </a:cubicBezTo>
                      <a:cubicBezTo>
                        <a:pt x="16" y="35"/>
                        <a:pt x="14" y="39"/>
                        <a:pt x="13" y="43"/>
                      </a:cubicBezTo>
                      <a:cubicBezTo>
                        <a:pt x="12" y="42"/>
                        <a:pt x="0" y="46"/>
                        <a:pt x="0" y="46"/>
                      </a:cubicBezTo>
                      <a:cubicBezTo>
                        <a:pt x="0" y="57"/>
                        <a:pt x="0" y="57"/>
                        <a:pt x="0" y="57"/>
                      </a:cubicBezTo>
                      <a:cubicBezTo>
                        <a:pt x="0" y="57"/>
                        <a:pt x="12" y="60"/>
                        <a:pt x="14" y="60"/>
                      </a:cubicBezTo>
                      <a:cubicBezTo>
                        <a:pt x="15" y="64"/>
                        <a:pt x="16" y="68"/>
                        <a:pt x="18" y="72"/>
                      </a:cubicBezTo>
                      <a:cubicBezTo>
                        <a:pt x="17" y="72"/>
                        <a:pt x="11" y="84"/>
                        <a:pt x="11" y="84"/>
                      </a:cubicBezTo>
                      <a:cubicBezTo>
                        <a:pt x="19" y="92"/>
                        <a:pt x="19" y="92"/>
                        <a:pt x="19" y="92"/>
                      </a:cubicBezTo>
                      <a:cubicBezTo>
                        <a:pt x="19" y="92"/>
                        <a:pt x="31" y="85"/>
                        <a:pt x="32" y="84"/>
                      </a:cubicBezTo>
                      <a:cubicBezTo>
                        <a:pt x="35" y="86"/>
                        <a:pt x="39" y="88"/>
                        <a:pt x="43" y="88"/>
                      </a:cubicBezTo>
                      <a:cubicBezTo>
                        <a:pt x="43" y="89"/>
                        <a:pt x="46" y="103"/>
                        <a:pt x="46" y="103"/>
                      </a:cubicBezTo>
                      <a:cubicBezTo>
                        <a:pt x="58" y="103"/>
                        <a:pt x="58" y="103"/>
                        <a:pt x="58" y="103"/>
                      </a:cubicBezTo>
                      <a:cubicBezTo>
                        <a:pt x="58" y="103"/>
                        <a:pt x="61" y="89"/>
                        <a:pt x="61" y="88"/>
                      </a:cubicBezTo>
                      <a:cubicBezTo>
                        <a:pt x="65" y="88"/>
                        <a:pt x="68" y="86"/>
                        <a:pt x="72" y="84"/>
                      </a:cubicBezTo>
                      <a:cubicBezTo>
                        <a:pt x="73" y="85"/>
                        <a:pt x="84" y="92"/>
                        <a:pt x="84" y="92"/>
                      </a:cubicBezTo>
                      <a:cubicBezTo>
                        <a:pt x="92" y="83"/>
                        <a:pt x="92" y="83"/>
                        <a:pt x="92" y="83"/>
                      </a:cubicBezTo>
                      <a:cubicBezTo>
                        <a:pt x="92" y="83"/>
                        <a:pt x="86" y="72"/>
                        <a:pt x="85" y="72"/>
                      </a:cubicBezTo>
                      <a:cubicBezTo>
                        <a:pt x="88" y="68"/>
                        <a:pt x="89" y="64"/>
                        <a:pt x="90" y="60"/>
                      </a:cubicBezTo>
                      <a:cubicBezTo>
                        <a:pt x="92" y="60"/>
                        <a:pt x="104" y="57"/>
                        <a:pt x="104" y="57"/>
                      </a:cubicBezTo>
                      <a:cubicBezTo>
                        <a:pt x="104" y="45"/>
                        <a:pt x="104" y="45"/>
                        <a:pt x="104" y="45"/>
                      </a:cubicBezTo>
                      <a:cubicBezTo>
                        <a:pt x="104" y="45"/>
                        <a:pt x="92" y="42"/>
                        <a:pt x="90" y="42"/>
                      </a:cubicBezTo>
                      <a:cubicBezTo>
                        <a:pt x="88" y="38"/>
                        <a:pt x="87" y="34"/>
                        <a:pt x="84" y="31"/>
                      </a:cubicBezTo>
                      <a:close/>
                      <a:moveTo>
                        <a:pt x="60" y="72"/>
                      </a:moveTo>
                      <a:cubicBezTo>
                        <a:pt x="49" y="77"/>
                        <a:pt x="36" y="72"/>
                        <a:pt x="30" y="60"/>
                      </a:cubicBezTo>
                      <a:cubicBezTo>
                        <a:pt x="26" y="49"/>
                        <a:pt x="31" y="36"/>
                        <a:pt x="42" y="30"/>
                      </a:cubicBezTo>
                      <a:cubicBezTo>
                        <a:pt x="54" y="26"/>
                        <a:pt x="67" y="31"/>
                        <a:pt x="72" y="42"/>
                      </a:cubicBezTo>
                      <a:cubicBezTo>
                        <a:pt x="77" y="54"/>
                        <a:pt x="72" y="67"/>
                        <a:pt x="60" y="72"/>
                      </a:cubicBezTo>
                      <a:close/>
                    </a:path>
                  </a:pathLst>
                </a:custGeom>
                <a:solidFill>
                  <a:srgbClr val="243A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6" name="Group 15">
                <a:extLst>
                  <a:ext uri="{FF2B5EF4-FFF2-40B4-BE49-F238E27FC236}">
                    <a16:creationId xmlns:a16="http://schemas.microsoft.com/office/drawing/2014/main" id="{D9F084AD-310C-438E-8BE3-FBC2F86639A2}"/>
                  </a:ext>
                </a:extLst>
              </p:cNvPr>
              <p:cNvGrpSpPr/>
              <p:nvPr/>
            </p:nvGrpSpPr>
            <p:grpSpPr>
              <a:xfrm>
                <a:off x="6242152" y="4107980"/>
                <a:ext cx="499366" cy="499366"/>
                <a:chOff x="7051040" y="3982567"/>
                <a:chExt cx="508000" cy="508000"/>
              </a:xfrm>
            </p:grpSpPr>
            <p:sp>
              <p:nvSpPr>
                <p:cNvPr id="13" name="Oval 12">
                  <a:extLst>
                    <a:ext uri="{FF2B5EF4-FFF2-40B4-BE49-F238E27FC236}">
                      <a16:creationId xmlns:a16="http://schemas.microsoft.com/office/drawing/2014/main" id="{B3EA39F9-0CE7-4E82-B18C-FD30EC4A98FB}"/>
                    </a:ext>
                  </a:extLst>
                </p:cNvPr>
                <p:cNvSpPr/>
                <p:nvPr/>
              </p:nvSpPr>
              <p:spPr bwMode="auto">
                <a:xfrm>
                  <a:off x="7051040" y="3982567"/>
                  <a:ext cx="508000" cy="50800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1" name="Freeform: Shape 50">
                  <a:extLst>
                    <a:ext uri="{FF2B5EF4-FFF2-40B4-BE49-F238E27FC236}">
                      <a16:creationId xmlns:a16="http://schemas.microsoft.com/office/drawing/2014/main" id="{CE5AB543-8B5C-4D89-ADC5-7D8F7CDF202A}"/>
                    </a:ext>
                  </a:extLst>
                </p:cNvPr>
                <p:cNvSpPr/>
                <p:nvPr/>
              </p:nvSpPr>
              <p:spPr>
                <a:xfrm>
                  <a:off x="7237688" y="4101864"/>
                  <a:ext cx="134705" cy="269407"/>
                </a:xfrm>
                <a:custGeom>
                  <a:avLst/>
                  <a:gdLst>
                    <a:gd name="connsiteX0" fmla="*/ 66148 w 88898"/>
                    <a:gd name="connsiteY0" fmla="*/ 119136 h 177796"/>
                    <a:gd name="connsiteX1" fmla="*/ 52721 w 88898"/>
                    <a:gd name="connsiteY1" fmla="*/ 104145 h 177796"/>
                    <a:gd name="connsiteX2" fmla="*/ 52721 w 88898"/>
                    <a:gd name="connsiteY2" fmla="*/ 132562 h 177796"/>
                    <a:gd name="connsiteX3" fmla="*/ 66148 w 88898"/>
                    <a:gd name="connsiteY3" fmla="*/ 119136 h 177796"/>
                    <a:gd name="connsiteX4" fmla="*/ 39034 w 88898"/>
                    <a:gd name="connsiteY4" fmla="*/ 72404 h 177796"/>
                    <a:gd name="connsiteX5" fmla="*/ 39034 w 88898"/>
                    <a:gd name="connsiteY5" fmla="*/ 42683 h 177796"/>
                    <a:gd name="connsiteX6" fmla="*/ 25998 w 88898"/>
                    <a:gd name="connsiteY6" fmla="*/ 56305 h 177796"/>
                    <a:gd name="connsiteX7" fmla="*/ 39034 w 88898"/>
                    <a:gd name="connsiteY7" fmla="*/ 72404 h 177796"/>
                    <a:gd name="connsiteX8" fmla="*/ 91110 w 88898"/>
                    <a:gd name="connsiteY8" fmla="*/ 117832 h 177796"/>
                    <a:gd name="connsiteX9" fmla="*/ 81334 w 88898"/>
                    <a:gd name="connsiteY9" fmla="*/ 142861 h 177796"/>
                    <a:gd name="connsiteX10" fmla="*/ 52786 w 88898"/>
                    <a:gd name="connsiteY10" fmla="*/ 154462 h 177796"/>
                    <a:gd name="connsiteX11" fmla="*/ 52786 w 88898"/>
                    <a:gd name="connsiteY11" fmla="*/ 176752 h 177796"/>
                    <a:gd name="connsiteX12" fmla="*/ 39099 w 88898"/>
                    <a:gd name="connsiteY12" fmla="*/ 176752 h 177796"/>
                    <a:gd name="connsiteX13" fmla="*/ 39099 w 88898"/>
                    <a:gd name="connsiteY13" fmla="*/ 155048 h 177796"/>
                    <a:gd name="connsiteX14" fmla="*/ 3642 w 88898"/>
                    <a:gd name="connsiteY14" fmla="*/ 146445 h 177796"/>
                    <a:gd name="connsiteX15" fmla="*/ 3642 w 88898"/>
                    <a:gd name="connsiteY15" fmla="*/ 120439 h 177796"/>
                    <a:gd name="connsiteX16" fmla="*/ 19806 w 88898"/>
                    <a:gd name="connsiteY16" fmla="*/ 128456 h 177796"/>
                    <a:gd name="connsiteX17" fmla="*/ 39099 w 88898"/>
                    <a:gd name="connsiteY17" fmla="*/ 132889 h 177796"/>
                    <a:gd name="connsiteX18" fmla="*/ 39099 w 88898"/>
                    <a:gd name="connsiteY18" fmla="*/ 98735 h 177796"/>
                    <a:gd name="connsiteX19" fmla="*/ 9769 w 88898"/>
                    <a:gd name="connsiteY19" fmla="*/ 81920 h 177796"/>
                    <a:gd name="connsiteX20" fmla="*/ 1166 w 88898"/>
                    <a:gd name="connsiteY20" fmla="*/ 57869 h 177796"/>
                    <a:gd name="connsiteX21" fmla="*/ 11790 w 88898"/>
                    <a:gd name="connsiteY21" fmla="*/ 32711 h 177796"/>
                    <a:gd name="connsiteX22" fmla="*/ 39164 w 88898"/>
                    <a:gd name="connsiteY22" fmla="*/ 20784 h 177796"/>
                    <a:gd name="connsiteX23" fmla="*/ 39164 w 88898"/>
                    <a:gd name="connsiteY23" fmla="*/ 1166 h 177796"/>
                    <a:gd name="connsiteX24" fmla="*/ 52852 w 88898"/>
                    <a:gd name="connsiteY24" fmla="*/ 1166 h 177796"/>
                    <a:gd name="connsiteX25" fmla="*/ 52852 w 88898"/>
                    <a:gd name="connsiteY25" fmla="*/ 20393 h 177796"/>
                    <a:gd name="connsiteX26" fmla="*/ 82377 w 88898"/>
                    <a:gd name="connsiteY26" fmla="*/ 26780 h 177796"/>
                    <a:gd name="connsiteX27" fmla="*/ 82377 w 88898"/>
                    <a:gd name="connsiteY27" fmla="*/ 52069 h 177796"/>
                    <a:gd name="connsiteX28" fmla="*/ 52852 w 88898"/>
                    <a:gd name="connsiteY28" fmla="*/ 42292 h 177796"/>
                    <a:gd name="connsiteX29" fmla="*/ 52852 w 88898"/>
                    <a:gd name="connsiteY29" fmla="*/ 77814 h 177796"/>
                    <a:gd name="connsiteX30" fmla="*/ 82377 w 88898"/>
                    <a:gd name="connsiteY30" fmla="*/ 94694 h 177796"/>
                    <a:gd name="connsiteX31" fmla="*/ 91110 w 88898"/>
                    <a:gd name="connsiteY31" fmla="*/ 117832 h 17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898" h="177796">
                      <a:moveTo>
                        <a:pt x="66148" y="119136"/>
                      </a:moveTo>
                      <a:cubicBezTo>
                        <a:pt x="66148" y="113075"/>
                        <a:pt x="61650" y="108056"/>
                        <a:pt x="52721" y="104145"/>
                      </a:cubicBezTo>
                      <a:lnTo>
                        <a:pt x="52721" y="132562"/>
                      </a:lnTo>
                      <a:cubicBezTo>
                        <a:pt x="61716" y="131129"/>
                        <a:pt x="66148" y="126631"/>
                        <a:pt x="66148" y="119136"/>
                      </a:cubicBezTo>
                      <a:close/>
                      <a:moveTo>
                        <a:pt x="39034" y="72404"/>
                      </a:moveTo>
                      <a:lnTo>
                        <a:pt x="39034" y="42683"/>
                      </a:lnTo>
                      <a:cubicBezTo>
                        <a:pt x="30365" y="44247"/>
                        <a:pt x="25998" y="48745"/>
                        <a:pt x="25998" y="56305"/>
                      </a:cubicBezTo>
                      <a:cubicBezTo>
                        <a:pt x="25998" y="62888"/>
                        <a:pt x="30365" y="68233"/>
                        <a:pt x="39034" y="72404"/>
                      </a:cubicBezTo>
                      <a:close/>
                      <a:moveTo>
                        <a:pt x="91110" y="117832"/>
                      </a:moveTo>
                      <a:cubicBezTo>
                        <a:pt x="91110" y="128195"/>
                        <a:pt x="87852" y="136538"/>
                        <a:pt x="81334" y="142861"/>
                      </a:cubicBezTo>
                      <a:cubicBezTo>
                        <a:pt x="74816" y="149182"/>
                        <a:pt x="65300" y="153028"/>
                        <a:pt x="52786" y="154462"/>
                      </a:cubicBezTo>
                      <a:lnTo>
                        <a:pt x="52786" y="176752"/>
                      </a:lnTo>
                      <a:lnTo>
                        <a:pt x="39099" y="176752"/>
                      </a:lnTo>
                      <a:lnTo>
                        <a:pt x="39099" y="155048"/>
                      </a:lnTo>
                      <a:cubicBezTo>
                        <a:pt x="26194" y="154918"/>
                        <a:pt x="14397" y="152050"/>
                        <a:pt x="3642" y="146445"/>
                      </a:cubicBezTo>
                      <a:lnTo>
                        <a:pt x="3642" y="120439"/>
                      </a:lnTo>
                      <a:cubicBezTo>
                        <a:pt x="7032" y="123177"/>
                        <a:pt x="12441" y="125849"/>
                        <a:pt x="19806" y="128456"/>
                      </a:cubicBezTo>
                      <a:cubicBezTo>
                        <a:pt x="27237" y="131063"/>
                        <a:pt x="33624" y="132562"/>
                        <a:pt x="39099" y="132889"/>
                      </a:cubicBezTo>
                      <a:lnTo>
                        <a:pt x="39099" y="98735"/>
                      </a:lnTo>
                      <a:cubicBezTo>
                        <a:pt x="25281" y="93587"/>
                        <a:pt x="15505" y="87981"/>
                        <a:pt x="9769" y="81920"/>
                      </a:cubicBezTo>
                      <a:cubicBezTo>
                        <a:pt x="4033" y="75793"/>
                        <a:pt x="1166" y="67776"/>
                        <a:pt x="1166" y="57869"/>
                      </a:cubicBezTo>
                      <a:cubicBezTo>
                        <a:pt x="1166" y="47963"/>
                        <a:pt x="4685" y="39555"/>
                        <a:pt x="11790" y="32711"/>
                      </a:cubicBezTo>
                      <a:cubicBezTo>
                        <a:pt x="18829" y="25868"/>
                        <a:pt x="27954" y="21892"/>
                        <a:pt x="39164" y="20784"/>
                      </a:cubicBezTo>
                      <a:lnTo>
                        <a:pt x="39164" y="1166"/>
                      </a:lnTo>
                      <a:lnTo>
                        <a:pt x="52852" y="1166"/>
                      </a:lnTo>
                      <a:lnTo>
                        <a:pt x="52852" y="20393"/>
                      </a:lnTo>
                      <a:cubicBezTo>
                        <a:pt x="66017" y="21045"/>
                        <a:pt x="75859" y="23130"/>
                        <a:pt x="82377" y="26780"/>
                      </a:cubicBezTo>
                      <a:lnTo>
                        <a:pt x="82377" y="52069"/>
                      </a:lnTo>
                      <a:cubicBezTo>
                        <a:pt x="73708" y="46790"/>
                        <a:pt x="63866" y="43596"/>
                        <a:pt x="52852" y="42292"/>
                      </a:cubicBezTo>
                      <a:lnTo>
                        <a:pt x="52852" y="77814"/>
                      </a:lnTo>
                      <a:cubicBezTo>
                        <a:pt x="66669" y="82832"/>
                        <a:pt x="76511" y="88438"/>
                        <a:pt x="82377" y="94694"/>
                      </a:cubicBezTo>
                      <a:cubicBezTo>
                        <a:pt x="88178" y="101017"/>
                        <a:pt x="91110" y="108707"/>
                        <a:pt x="91110" y="117832"/>
                      </a:cubicBezTo>
                      <a:close/>
                    </a:path>
                  </a:pathLst>
                </a:custGeom>
                <a:solidFill>
                  <a:srgbClr val="243A5E"/>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grpSp>
        <p:nvGrpSpPr>
          <p:cNvPr id="7" name="Group 6" descr="Save on their terms &#10;by customizing the plan’s term length, scope, billing frequency, and hourly commitment to fit their needs &#10;">
            <a:extLst>
              <a:ext uri="{FF2B5EF4-FFF2-40B4-BE49-F238E27FC236}">
                <a16:creationId xmlns:a16="http://schemas.microsoft.com/office/drawing/2014/main" id="{C8FC6A79-7161-4FB6-B3FE-FB0A3EBEFB7E}"/>
              </a:ext>
            </a:extLst>
          </p:cNvPr>
          <p:cNvGrpSpPr/>
          <p:nvPr/>
        </p:nvGrpSpPr>
        <p:grpSpPr>
          <a:xfrm>
            <a:off x="8052388" y="4021414"/>
            <a:ext cx="3696847" cy="1936879"/>
            <a:chOff x="8052388" y="4462540"/>
            <a:chExt cx="3696847" cy="1936879"/>
          </a:xfrm>
        </p:grpSpPr>
        <p:sp>
          <p:nvSpPr>
            <p:cNvPr id="43" name="Rectangle: Rounded Corners 42">
              <a:extLst>
                <a:ext uri="{FF2B5EF4-FFF2-40B4-BE49-F238E27FC236}">
                  <a16:creationId xmlns:a16="http://schemas.microsoft.com/office/drawing/2014/main" id="{106396E3-706E-4F15-B0F8-02B022BD4F74}"/>
                </a:ext>
              </a:extLst>
            </p:cNvPr>
            <p:cNvSpPr/>
            <p:nvPr/>
          </p:nvSpPr>
          <p:spPr bwMode="auto">
            <a:xfrm>
              <a:off x="8052388" y="4462540"/>
              <a:ext cx="3696847" cy="1936879"/>
            </a:xfrm>
            <a:prstGeom prst="roundRect">
              <a:avLst>
                <a:gd name="adj" fmla="val 6160"/>
              </a:avLst>
            </a:prstGeom>
            <a:solidFill>
              <a:schemeClr val="bg1"/>
            </a:solid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371600" rIns="274320" bIns="91440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600"/>
                </a:spcAft>
                <a:buClr>
                  <a:srgbClr val="000000"/>
                </a:buClr>
                <a:buSzPct val="90000"/>
                <a:buFontTx/>
                <a:buNone/>
                <a:tabLst/>
                <a:defRPr/>
              </a:pPr>
              <a:r>
                <a:rPr kumimoji="0" lang="en-US" sz="1600" b="0" i="0" u="none" strike="noStrike" kern="1200" cap="none" spc="0" normalizeH="0" baseline="0" noProof="0">
                  <a:ln>
                    <a:noFill/>
                  </a:ln>
                  <a:gradFill>
                    <a:gsLst>
                      <a:gs pos="54400">
                        <a:srgbClr val="243A5E"/>
                      </a:gs>
                      <a:gs pos="100000">
                        <a:srgbClr val="243A5E"/>
                      </a:gs>
                    </a:gsLst>
                    <a:lin ang="0" scaled="0"/>
                  </a:gradFill>
                  <a:effectLst/>
                  <a:uLnTx/>
                  <a:uFillTx/>
                  <a:latin typeface="Segoe UI Semibold"/>
                  <a:ea typeface="+mn-ea"/>
                  <a:cs typeface="Segoe UI" panose="020B0502040204020203" pitchFamily="34" charset="0"/>
                </a:rPr>
                <a:t>Save on your terms </a:t>
              </a:r>
            </a:p>
            <a:p>
              <a:pPr marL="0" marR="0" lvl="0" indent="0" algn="ctr" defTabSz="932742" rtl="0" eaLnBrk="1" fontAlgn="auto" latinLnBrk="0" hangingPunct="1">
                <a:lnSpc>
                  <a:spcPct val="100000"/>
                </a:lnSpc>
                <a:spcBef>
                  <a:spcPts val="0"/>
                </a:spcBef>
                <a:spcAft>
                  <a:spcPts val="600"/>
                </a:spcAft>
                <a:buClr>
                  <a:srgbClr val="000000"/>
                </a:buClr>
                <a:buSzPct val="90000"/>
                <a:buFont typeface="Wingdings" panose="05000000000000000000" pitchFamily="2" charset="2"/>
                <a:buNone/>
                <a:tabLst/>
                <a:defRPr/>
              </a:pPr>
              <a:r>
                <a:rPr kumimoji="0" lang="en-US" sz="1200" b="0" i="0" u="none" strike="noStrike" kern="1200" cap="none" spc="0" normalizeH="0" baseline="0" noProof="0">
                  <a:ln>
                    <a:noFill/>
                  </a:ln>
                  <a:gradFill>
                    <a:gsLst>
                      <a:gs pos="54400">
                        <a:srgbClr val="000000"/>
                      </a:gs>
                      <a:gs pos="100000">
                        <a:srgbClr val="000000"/>
                      </a:gs>
                    </a:gsLst>
                    <a:lin ang="0" scaled="0"/>
                  </a:gradFill>
                  <a:effectLst/>
                  <a:uLnTx/>
                  <a:uFillTx/>
                  <a:latin typeface="Segoe UI Semibold"/>
                  <a:ea typeface="+mn-ea"/>
                  <a:cs typeface="+mn-cs"/>
                </a:rPr>
                <a:t>by customizing the plan’s term length, scope, billing frequency, and hourly commitment to fit your needs </a:t>
              </a:r>
              <a:endParaRPr kumimoji="0" lang="en-US" sz="1200" b="0" i="0" u="none" strike="noStrike" kern="1200" cap="none" spc="0" normalizeH="0" baseline="0" noProof="0">
                <a:ln>
                  <a:noFill/>
                </a:ln>
                <a:gradFill>
                  <a:gsLst>
                    <a:gs pos="54400">
                      <a:srgbClr val="000000"/>
                    </a:gs>
                    <a:gs pos="100000">
                      <a:srgbClr val="000000"/>
                    </a:gs>
                  </a:gsLst>
                  <a:lin ang="0" scaled="0"/>
                </a:gradFill>
                <a:effectLst/>
                <a:uLnTx/>
                <a:uFillTx/>
                <a:latin typeface="Segoe UI Semibold"/>
                <a:ea typeface="+mn-ea"/>
                <a:cs typeface="Segoe UI" panose="020B0502040204020203" pitchFamily="34" charset="0"/>
              </a:endParaRPr>
            </a:p>
          </p:txBody>
        </p:sp>
        <p:grpSp>
          <p:nvGrpSpPr>
            <p:cNvPr id="53" name="list" descr="list, file, paper, sheet">
              <a:extLst>
                <a:ext uri="{FF2B5EF4-FFF2-40B4-BE49-F238E27FC236}">
                  <a16:creationId xmlns:a16="http://schemas.microsoft.com/office/drawing/2014/main" id="{FAC8FDD6-B535-4E21-8347-71FA55CA8E54}"/>
                </a:ext>
              </a:extLst>
            </p:cNvPr>
            <p:cNvGrpSpPr/>
            <p:nvPr/>
          </p:nvGrpSpPr>
          <p:grpSpPr>
            <a:xfrm>
              <a:off x="9735635" y="4716795"/>
              <a:ext cx="330352" cy="417285"/>
              <a:chOff x="4510839" y="3969537"/>
              <a:chExt cx="290007" cy="366324"/>
            </a:xfrm>
          </p:grpSpPr>
          <p:sp>
            <p:nvSpPr>
              <p:cNvPr id="54" name="Freeform: Shape 53">
                <a:extLst>
                  <a:ext uri="{FF2B5EF4-FFF2-40B4-BE49-F238E27FC236}">
                    <a16:creationId xmlns:a16="http://schemas.microsoft.com/office/drawing/2014/main" id="{7EDD2BD1-74A9-4993-8D79-437144995967}"/>
                  </a:ext>
                </a:extLst>
              </p:cNvPr>
              <p:cNvSpPr/>
              <p:nvPr/>
            </p:nvSpPr>
            <p:spPr>
              <a:xfrm>
                <a:off x="4510839" y="3969537"/>
                <a:ext cx="290007" cy="366324"/>
              </a:xfrm>
              <a:custGeom>
                <a:avLst/>
                <a:gdLst>
                  <a:gd name="connsiteX0" fmla="*/ 1121 w 290006"/>
                  <a:gd name="connsiteY0" fmla="*/ 367064 h 366324"/>
                  <a:gd name="connsiteX1" fmla="*/ 290746 w 290006"/>
                  <a:gd name="connsiteY1" fmla="*/ 367064 h 366324"/>
                  <a:gd name="connsiteX2" fmla="*/ 290746 w 290006"/>
                  <a:gd name="connsiteY2" fmla="*/ 1121 h 366324"/>
                  <a:gd name="connsiteX3" fmla="*/ 1121 w 290006"/>
                  <a:gd name="connsiteY3" fmla="*/ 1121 h 366324"/>
                  <a:gd name="connsiteX4" fmla="*/ 1121 w 290006"/>
                  <a:gd name="connsiteY4" fmla="*/ 367064 h 366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06" h="366324">
                    <a:moveTo>
                      <a:pt x="1121" y="367064"/>
                    </a:moveTo>
                    <a:lnTo>
                      <a:pt x="290746" y="367064"/>
                    </a:lnTo>
                    <a:lnTo>
                      <a:pt x="290746" y="1121"/>
                    </a:lnTo>
                    <a:lnTo>
                      <a:pt x="1121" y="1121"/>
                    </a:lnTo>
                    <a:lnTo>
                      <a:pt x="1121" y="367064"/>
                    </a:lnTo>
                    <a:close/>
                  </a:path>
                </a:pathLst>
              </a:custGeom>
              <a:solidFill>
                <a:srgbClr val="243A5E"/>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5" name="Freeform: Shape 54">
                <a:extLst>
                  <a:ext uri="{FF2B5EF4-FFF2-40B4-BE49-F238E27FC236}">
                    <a16:creationId xmlns:a16="http://schemas.microsoft.com/office/drawing/2014/main" id="{CE3CEC33-C925-4E5C-9E1D-323810F4D23B}"/>
                  </a:ext>
                </a:extLst>
              </p:cNvPr>
              <p:cNvSpPr/>
              <p:nvPr/>
            </p:nvSpPr>
            <p:spPr>
              <a:xfrm>
                <a:off x="4569221" y="4240076"/>
                <a:ext cx="175530" cy="38159"/>
              </a:xfrm>
              <a:custGeom>
                <a:avLst/>
                <a:gdLst>
                  <a:gd name="connsiteX0" fmla="*/ 1121 w 175530"/>
                  <a:gd name="connsiteY0" fmla="*/ 39280 h 38158"/>
                  <a:gd name="connsiteX1" fmla="*/ 174744 w 175530"/>
                  <a:gd name="connsiteY1" fmla="*/ 39280 h 38158"/>
                  <a:gd name="connsiteX2" fmla="*/ 174744 w 175530"/>
                  <a:gd name="connsiteY2" fmla="*/ 1121 h 38158"/>
                  <a:gd name="connsiteX3" fmla="*/ 1121 w 175530"/>
                  <a:gd name="connsiteY3" fmla="*/ 1121 h 38158"/>
                  <a:gd name="connsiteX4" fmla="*/ 1121 w 175530"/>
                  <a:gd name="connsiteY4" fmla="*/ 39280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280"/>
                    </a:moveTo>
                    <a:lnTo>
                      <a:pt x="174744" y="39280"/>
                    </a:lnTo>
                    <a:lnTo>
                      <a:pt x="174744" y="1121"/>
                    </a:lnTo>
                    <a:lnTo>
                      <a:pt x="1121" y="1121"/>
                    </a:lnTo>
                    <a:lnTo>
                      <a:pt x="1121" y="39280"/>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6" name="Freeform: Shape 55">
                <a:extLst>
                  <a:ext uri="{FF2B5EF4-FFF2-40B4-BE49-F238E27FC236}">
                    <a16:creationId xmlns:a16="http://schemas.microsoft.com/office/drawing/2014/main" id="{CCB40478-06D6-4794-AAC4-E0C366B03F40}"/>
                  </a:ext>
                </a:extLst>
              </p:cNvPr>
              <p:cNvSpPr/>
              <p:nvPr/>
            </p:nvSpPr>
            <p:spPr>
              <a:xfrm>
                <a:off x="4569221" y="4182078"/>
                <a:ext cx="175530" cy="38159"/>
              </a:xfrm>
              <a:custGeom>
                <a:avLst/>
                <a:gdLst>
                  <a:gd name="connsiteX0" fmla="*/ 1121 w 175530"/>
                  <a:gd name="connsiteY0" fmla="*/ 39662 h 38158"/>
                  <a:gd name="connsiteX1" fmla="*/ 174744 w 175530"/>
                  <a:gd name="connsiteY1" fmla="*/ 39662 h 38158"/>
                  <a:gd name="connsiteX2" fmla="*/ 174744 w 175530"/>
                  <a:gd name="connsiteY2" fmla="*/ 1121 h 38158"/>
                  <a:gd name="connsiteX3" fmla="*/ 1121 w 175530"/>
                  <a:gd name="connsiteY3" fmla="*/ 1121 h 38158"/>
                  <a:gd name="connsiteX4" fmla="*/ 1121 w 175530"/>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662"/>
                    </a:moveTo>
                    <a:lnTo>
                      <a:pt x="174744" y="39662"/>
                    </a:lnTo>
                    <a:lnTo>
                      <a:pt x="174744"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7" name="Freeform: Shape 56">
                <a:extLst>
                  <a:ext uri="{FF2B5EF4-FFF2-40B4-BE49-F238E27FC236}">
                    <a16:creationId xmlns:a16="http://schemas.microsoft.com/office/drawing/2014/main" id="{1A260F49-0C26-4CE1-A5E8-B5B1CA14DDDB}"/>
                  </a:ext>
                </a:extLst>
              </p:cNvPr>
              <p:cNvSpPr/>
              <p:nvPr/>
            </p:nvSpPr>
            <p:spPr>
              <a:xfrm>
                <a:off x="4569221" y="4123692"/>
                <a:ext cx="175530" cy="38159"/>
              </a:xfrm>
              <a:custGeom>
                <a:avLst/>
                <a:gdLst>
                  <a:gd name="connsiteX0" fmla="*/ 1121 w 175530"/>
                  <a:gd name="connsiteY0" fmla="*/ 39662 h 38158"/>
                  <a:gd name="connsiteX1" fmla="*/ 174744 w 175530"/>
                  <a:gd name="connsiteY1" fmla="*/ 39662 h 38158"/>
                  <a:gd name="connsiteX2" fmla="*/ 174744 w 175530"/>
                  <a:gd name="connsiteY2" fmla="*/ 1121 h 38158"/>
                  <a:gd name="connsiteX3" fmla="*/ 1121 w 175530"/>
                  <a:gd name="connsiteY3" fmla="*/ 1121 h 38158"/>
                  <a:gd name="connsiteX4" fmla="*/ 1121 w 175530"/>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662"/>
                    </a:moveTo>
                    <a:lnTo>
                      <a:pt x="174744" y="39662"/>
                    </a:lnTo>
                    <a:lnTo>
                      <a:pt x="174744"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8" name="Freeform: Shape 57">
                <a:extLst>
                  <a:ext uri="{FF2B5EF4-FFF2-40B4-BE49-F238E27FC236}">
                    <a16:creationId xmlns:a16="http://schemas.microsoft.com/office/drawing/2014/main" id="{86D6A9B1-6E1E-4CEC-93E2-20195747A188}"/>
                  </a:ext>
                </a:extLst>
              </p:cNvPr>
              <p:cNvSpPr/>
              <p:nvPr/>
            </p:nvSpPr>
            <p:spPr>
              <a:xfrm>
                <a:off x="4684082" y="4065321"/>
                <a:ext cx="57238" cy="38159"/>
              </a:xfrm>
              <a:custGeom>
                <a:avLst/>
                <a:gdLst>
                  <a:gd name="connsiteX0" fmla="*/ 1121 w 57238"/>
                  <a:gd name="connsiteY0" fmla="*/ 39662 h 38158"/>
                  <a:gd name="connsiteX1" fmla="*/ 59886 w 57238"/>
                  <a:gd name="connsiteY1" fmla="*/ 39662 h 38158"/>
                  <a:gd name="connsiteX2" fmla="*/ 59886 w 57238"/>
                  <a:gd name="connsiteY2" fmla="*/ 1121 h 38158"/>
                  <a:gd name="connsiteX3" fmla="*/ 1121 w 57238"/>
                  <a:gd name="connsiteY3" fmla="*/ 1121 h 38158"/>
                  <a:gd name="connsiteX4" fmla="*/ 1121 w 57238"/>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38" h="38158">
                    <a:moveTo>
                      <a:pt x="1121" y="39662"/>
                    </a:moveTo>
                    <a:lnTo>
                      <a:pt x="59886" y="39662"/>
                    </a:lnTo>
                    <a:lnTo>
                      <a:pt x="59886"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9" name="Freeform: Shape 58">
                <a:extLst>
                  <a:ext uri="{FF2B5EF4-FFF2-40B4-BE49-F238E27FC236}">
                    <a16:creationId xmlns:a16="http://schemas.microsoft.com/office/drawing/2014/main" id="{6B397C0F-19D3-4663-BB46-7CB41811276D}"/>
                  </a:ext>
                </a:extLst>
              </p:cNvPr>
              <p:cNvSpPr/>
              <p:nvPr/>
            </p:nvSpPr>
            <p:spPr>
              <a:xfrm>
                <a:off x="4684082" y="4008083"/>
                <a:ext cx="57238" cy="38159"/>
              </a:xfrm>
              <a:custGeom>
                <a:avLst/>
                <a:gdLst>
                  <a:gd name="connsiteX0" fmla="*/ 1121 w 57238"/>
                  <a:gd name="connsiteY0" fmla="*/ 39280 h 38158"/>
                  <a:gd name="connsiteX1" fmla="*/ 59886 w 57238"/>
                  <a:gd name="connsiteY1" fmla="*/ 39280 h 38158"/>
                  <a:gd name="connsiteX2" fmla="*/ 59886 w 57238"/>
                  <a:gd name="connsiteY2" fmla="*/ 1121 h 38158"/>
                  <a:gd name="connsiteX3" fmla="*/ 1121 w 57238"/>
                  <a:gd name="connsiteY3" fmla="*/ 1121 h 38158"/>
                  <a:gd name="connsiteX4" fmla="*/ 1121 w 57238"/>
                  <a:gd name="connsiteY4" fmla="*/ 39280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38" h="38158">
                    <a:moveTo>
                      <a:pt x="1121" y="39280"/>
                    </a:moveTo>
                    <a:lnTo>
                      <a:pt x="59886" y="39280"/>
                    </a:lnTo>
                    <a:lnTo>
                      <a:pt x="59886" y="1121"/>
                    </a:lnTo>
                    <a:lnTo>
                      <a:pt x="1121" y="1121"/>
                    </a:lnTo>
                    <a:lnTo>
                      <a:pt x="1121" y="39280"/>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0" name="Freeform: Shape 59">
                <a:extLst>
                  <a:ext uri="{FF2B5EF4-FFF2-40B4-BE49-F238E27FC236}">
                    <a16:creationId xmlns:a16="http://schemas.microsoft.com/office/drawing/2014/main" id="{A9E56360-4630-41BA-83B8-8A0D5C1407ED}"/>
                  </a:ext>
                </a:extLst>
              </p:cNvPr>
              <p:cNvSpPr/>
              <p:nvPr/>
            </p:nvSpPr>
            <p:spPr>
              <a:xfrm>
                <a:off x="4589829" y="4022571"/>
                <a:ext cx="76318" cy="76318"/>
              </a:xfrm>
              <a:custGeom>
                <a:avLst/>
                <a:gdLst>
                  <a:gd name="connsiteX0" fmla="*/ 1121 w 76317"/>
                  <a:gd name="connsiteY0" fmla="*/ 66373 h 76317"/>
                  <a:gd name="connsiteX1" fmla="*/ 12950 w 76317"/>
                  <a:gd name="connsiteY1" fmla="*/ 78202 h 76317"/>
                  <a:gd name="connsiteX2" fmla="*/ 78202 w 76317"/>
                  <a:gd name="connsiteY2" fmla="*/ 12950 h 76317"/>
                  <a:gd name="connsiteX3" fmla="*/ 66373 w 76317"/>
                  <a:gd name="connsiteY3" fmla="*/ 1121 h 76317"/>
                  <a:gd name="connsiteX4" fmla="*/ 1121 w 76317"/>
                  <a:gd name="connsiteY4" fmla="*/ 66373 h 76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17" h="76317">
                    <a:moveTo>
                      <a:pt x="1121" y="66373"/>
                    </a:moveTo>
                    <a:lnTo>
                      <a:pt x="12950" y="78202"/>
                    </a:lnTo>
                    <a:lnTo>
                      <a:pt x="78202" y="12950"/>
                    </a:lnTo>
                    <a:lnTo>
                      <a:pt x="66373" y="1121"/>
                    </a:lnTo>
                    <a:lnTo>
                      <a:pt x="1121" y="66373"/>
                    </a:lnTo>
                    <a:close/>
                  </a:path>
                </a:pathLst>
              </a:custGeom>
              <a:solidFill>
                <a:srgbClr val="FFFF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1" name="Freeform: Shape 60">
                <a:extLst>
                  <a:ext uri="{FF2B5EF4-FFF2-40B4-BE49-F238E27FC236}">
                    <a16:creationId xmlns:a16="http://schemas.microsoft.com/office/drawing/2014/main" id="{6AFD489B-FA04-405F-B85A-D35FAE6B6B8F}"/>
                  </a:ext>
                </a:extLst>
              </p:cNvPr>
              <p:cNvSpPr/>
              <p:nvPr/>
            </p:nvSpPr>
            <p:spPr>
              <a:xfrm>
                <a:off x="4563878" y="4050430"/>
                <a:ext cx="49606" cy="49606"/>
              </a:xfrm>
              <a:custGeom>
                <a:avLst/>
                <a:gdLst>
                  <a:gd name="connsiteX0" fmla="*/ 38517 w 49606"/>
                  <a:gd name="connsiteY0" fmla="*/ 49964 h 49606"/>
                  <a:gd name="connsiteX1" fmla="*/ 50346 w 49606"/>
                  <a:gd name="connsiteY1" fmla="*/ 38135 h 49606"/>
                  <a:gd name="connsiteX2" fmla="*/ 12950 w 49606"/>
                  <a:gd name="connsiteY2" fmla="*/ 1121 h 49606"/>
                  <a:gd name="connsiteX3" fmla="*/ 1121 w 49606"/>
                  <a:gd name="connsiteY3" fmla="*/ 12950 h 49606"/>
                  <a:gd name="connsiteX4" fmla="*/ 38517 w 49606"/>
                  <a:gd name="connsiteY4" fmla="*/ 49964 h 49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06" h="49606">
                    <a:moveTo>
                      <a:pt x="38517" y="49964"/>
                    </a:moveTo>
                    <a:lnTo>
                      <a:pt x="50346" y="38135"/>
                    </a:lnTo>
                    <a:lnTo>
                      <a:pt x="12950" y="1121"/>
                    </a:lnTo>
                    <a:lnTo>
                      <a:pt x="1121" y="12950"/>
                    </a:lnTo>
                    <a:lnTo>
                      <a:pt x="38517" y="49964"/>
                    </a:lnTo>
                    <a:close/>
                  </a:path>
                </a:pathLst>
              </a:custGeom>
              <a:solidFill>
                <a:srgbClr val="FFFF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sp>
        <p:nvSpPr>
          <p:cNvPr id="44" name="TextBox 43">
            <a:extLst>
              <a:ext uri="{FF2B5EF4-FFF2-40B4-BE49-F238E27FC236}">
                <a16:creationId xmlns:a16="http://schemas.microsoft.com/office/drawing/2014/main" id="{076FD2A3-4757-4590-ABC4-87D69973FA5D}"/>
              </a:ext>
            </a:extLst>
          </p:cNvPr>
          <p:cNvSpPr txBox="1"/>
          <p:nvPr/>
        </p:nvSpPr>
        <p:spPr>
          <a:xfrm>
            <a:off x="4473309" y="2144435"/>
            <a:ext cx="1739492" cy="516968"/>
          </a:xfrm>
          <a:prstGeom prst="roundRect">
            <a:avLst>
              <a:gd name="adj" fmla="val 50000"/>
            </a:avLst>
          </a:prstGeom>
          <a:noFill/>
          <a:ln w="28575" cap="rnd">
            <a:solidFill>
              <a:srgbClr val="FF9349"/>
            </a:solidFill>
            <a:prstDash val="solid"/>
          </a:ln>
        </p:spPr>
        <p:style>
          <a:lnRef idx="1">
            <a:schemeClr val="accent6"/>
          </a:lnRef>
          <a:fillRef idx="0">
            <a:schemeClr val="accent6"/>
          </a:fillRef>
          <a:effectRef idx="0">
            <a:schemeClr val="accent6"/>
          </a:effectRef>
          <a:fontRef idx="minor">
            <a:schemeClr val="tx1"/>
          </a:fontRef>
        </p:style>
        <p:txBody>
          <a:bodyPr wrap="square" lIns="0" tIns="45720" rIns="0" bIns="4572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srgbClr val="000000"/>
                    </a:gs>
                    <a:gs pos="100000">
                      <a:srgbClr val="000000"/>
                    </a:gs>
                  </a:gsLst>
                  <a:lin ang="5400000" scaled="1"/>
                </a:gradFill>
                <a:effectLst/>
                <a:uLnTx/>
                <a:uFillTx/>
                <a:latin typeface="Segoe UI Semibold"/>
                <a:ea typeface="+mn-ea"/>
                <a:cs typeface="+mn-cs"/>
              </a:rPr>
              <a:t>Savings plan hourly commitment</a:t>
            </a:r>
          </a:p>
        </p:txBody>
      </p:sp>
      <p:graphicFrame>
        <p:nvGraphicFramePr>
          <p:cNvPr id="62" name="Table 8">
            <a:extLst>
              <a:ext uri="{FF2B5EF4-FFF2-40B4-BE49-F238E27FC236}">
                <a16:creationId xmlns:a16="http://schemas.microsoft.com/office/drawing/2014/main" id="{2AD29883-CFE4-4155-9DB9-BC156E0E0E84}"/>
              </a:ext>
            </a:extLst>
          </p:cNvPr>
          <p:cNvGraphicFramePr>
            <a:graphicFrameLocks noGrp="1"/>
          </p:cNvGraphicFramePr>
          <p:nvPr/>
        </p:nvGraphicFramePr>
        <p:xfrm>
          <a:off x="6803784" y="1731444"/>
          <a:ext cx="2856726" cy="1790616"/>
        </p:xfrm>
        <a:graphic>
          <a:graphicData uri="http://schemas.openxmlformats.org/drawingml/2006/table">
            <a:tbl>
              <a:tblPr firstRow="1" bandRow="1">
                <a:tableStyleId>{5940675A-B579-460E-94D1-54222C63F5DA}</a:tableStyleId>
              </a:tblPr>
              <a:tblGrid>
                <a:gridCol w="952242">
                  <a:extLst>
                    <a:ext uri="{9D8B030D-6E8A-4147-A177-3AD203B41FA5}">
                      <a16:colId xmlns:a16="http://schemas.microsoft.com/office/drawing/2014/main" val="2719812164"/>
                    </a:ext>
                  </a:extLst>
                </a:gridCol>
                <a:gridCol w="952242">
                  <a:extLst>
                    <a:ext uri="{9D8B030D-6E8A-4147-A177-3AD203B41FA5}">
                      <a16:colId xmlns:a16="http://schemas.microsoft.com/office/drawing/2014/main" val="403302260"/>
                    </a:ext>
                  </a:extLst>
                </a:gridCol>
                <a:gridCol w="952242">
                  <a:extLst>
                    <a:ext uri="{9D8B030D-6E8A-4147-A177-3AD203B41FA5}">
                      <a16:colId xmlns:a16="http://schemas.microsoft.com/office/drawing/2014/main" val="3694325263"/>
                    </a:ext>
                  </a:extLst>
                </a:gridCol>
              </a:tblGrid>
              <a:tr h="223827">
                <a:tc>
                  <a:txBody>
                    <a:bodyPr/>
                    <a:lstStyle/>
                    <a:p>
                      <a:endParaRPr lang="en-US" sz="60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algn="l" defTabSz="914367" rtl="0" eaLnBrk="1" latinLnBrk="0" hangingPunct="1"/>
                      <a:endParaRPr lang="en-US" sz="600" kern="1200">
                        <a:solidFill>
                          <a:schemeClr val="tx1"/>
                        </a:solidFill>
                        <a:latin typeface="+mn-lt"/>
                        <a:ea typeface="+mn-ea"/>
                        <a:cs typeface="+mn-cs"/>
                      </a:endParaRPr>
                    </a:p>
                  </a:txBody>
                  <a:tcPr>
                    <a:lnL w="12700" cap="flat" cmpd="sng" algn="ctr">
                      <a:no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algn="l" defTabSz="914367" rtl="0" eaLnBrk="1" latinLnBrk="0" hangingPunct="1"/>
                      <a:endParaRPr lang="en-US" sz="600" kern="1200">
                        <a:solidFill>
                          <a:schemeClr val="tx1"/>
                        </a:solidFill>
                        <a:latin typeface="+mn-lt"/>
                        <a:ea typeface="+mn-ea"/>
                        <a:cs typeface="+mn-cs"/>
                      </a:endParaRPr>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2861420713"/>
                  </a:ext>
                </a:extLst>
              </a:tr>
              <a:tr h="223827">
                <a:tc>
                  <a:txBody>
                    <a:bodyPr/>
                    <a:lstStyle/>
                    <a:p>
                      <a:endParaRPr lang="en-US" sz="60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algn="l" defTabSz="914367" rtl="0" eaLnBrk="1" latinLnBrk="0" hangingPunct="1"/>
                      <a:endParaRPr lang="en-US" sz="600" kern="1200">
                        <a:solidFill>
                          <a:schemeClr val="tx1"/>
                        </a:solidFill>
                        <a:latin typeface="+mn-lt"/>
                        <a:ea typeface="+mn-ea"/>
                        <a:cs typeface="+mn-cs"/>
                      </a:endParaRPr>
                    </a:p>
                  </a:txBody>
                  <a:tcPr>
                    <a:lnL w="12700" cap="flat" cmpd="sng" algn="ctr">
                      <a:no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algn="l" defTabSz="914367" rtl="0" eaLnBrk="1" latinLnBrk="0" hangingPunct="1"/>
                      <a:endParaRPr lang="en-US" sz="600" kern="1200">
                        <a:solidFill>
                          <a:schemeClr val="tx1"/>
                        </a:solidFill>
                        <a:latin typeface="+mn-lt"/>
                        <a:ea typeface="+mn-ea"/>
                        <a:cs typeface="+mn-cs"/>
                      </a:endParaRPr>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3119808542"/>
                  </a:ext>
                </a:extLst>
              </a:tr>
              <a:tr h="223827">
                <a:tc>
                  <a:txBody>
                    <a:bodyPr/>
                    <a:lstStyle/>
                    <a:p>
                      <a:endParaRPr lang="en-US" sz="600"/>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367" rtl="0" eaLnBrk="1" latinLnBrk="0" hangingPunct="1"/>
                      <a:endParaRPr lang="en-US" sz="600" kern="1200">
                        <a:solidFill>
                          <a:schemeClr val="tx1"/>
                        </a:solidFill>
                        <a:latin typeface="+mn-lt"/>
                        <a:ea typeface="+mn-ea"/>
                        <a:cs typeface="+mn-cs"/>
                      </a:endParaRPr>
                    </a:p>
                  </a:txBody>
                  <a:tcPr>
                    <a:lnL w="12700" cap="flat" cmpd="sng" algn="ctr">
                      <a:no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367" rtl="0" eaLnBrk="1" latinLnBrk="0" hangingPunct="1"/>
                      <a:endParaRPr lang="en-US" sz="600" kern="1200">
                        <a:solidFill>
                          <a:schemeClr val="tx1"/>
                        </a:solidFill>
                        <a:latin typeface="+mn-lt"/>
                        <a:ea typeface="+mn-ea"/>
                        <a:cs typeface="+mn-cs"/>
                      </a:endParaRPr>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3545686122"/>
                  </a:ext>
                </a:extLst>
              </a:tr>
              <a:tr h="223827">
                <a:tc>
                  <a:txBody>
                    <a:bodyPr/>
                    <a:lstStyle/>
                    <a:p>
                      <a:endParaRPr lang="en-US" sz="600"/>
                    </a:p>
                  </a:txBody>
                  <a:tcPr>
                    <a:lnL w="1270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0078D3"/>
                    </a:solidFill>
                  </a:tcPr>
                </a:tc>
                <a:tc>
                  <a:txBody>
                    <a:bodyPr/>
                    <a:lstStyle/>
                    <a:p>
                      <a:endParaRPr lang="en-US" sz="60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blipFill dpi="0" rotWithShape="1">
                      <a:blip r:embed="rId3"/>
                      <a:srcRect/>
                      <a:tile tx="0" ty="0" sx="50000" sy="50000" flip="none" algn="tl"/>
                    </a:blipFill>
                  </a:tcPr>
                </a:tc>
                <a:tc>
                  <a:txBody>
                    <a:bodyPr/>
                    <a:lstStyle/>
                    <a:p>
                      <a:endParaRPr lang="en-US" sz="60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0078D3"/>
                    </a:solidFill>
                  </a:tcPr>
                </a:tc>
                <a:extLst>
                  <a:ext uri="{0D108BD9-81ED-4DB2-BD59-A6C34878D82A}">
                    <a16:rowId xmlns:a16="http://schemas.microsoft.com/office/drawing/2014/main" val="2597282391"/>
                  </a:ext>
                </a:extLst>
              </a:tr>
              <a:tr h="223827">
                <a:tc>
                  <a:txBody>
                    <a:bodyPr/>
                    <a:lstStyle/>
                    <a:p>
                      <a:endParaRPr lang="en-US" sz="600"/>
                    </a:p>
                  </a:txBody>
                  <a:tcPr>
                    <a:lnL w="1270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78D3"/>
                    </a:solidFill>
                  </a:tcPr>
                </a:tc>
                <a:tc>
                  <a:txBody>
                    <a:bodyPr/>
                    <a:lstStyle/>
                    <a:p>
                      <a:endParaRPr lang="en-US" sz="60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78D3"/>
                    </a:solidFill>
                  </a:tcPr>
                </a:tc>
                <a:tc>
                  <a:txBody>
                    <a:bodyPr/>
                    <a:lstStyle/>
                    <a:p>
                      <a:endParaRPr lang="en-US" sz="60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78D3"/>
                    </a:solidFill>
                  </a:tcPr>
                </a:tc>
                <a:extLst>
                  <a:ext uri="{0D108BD9-81ED-4DB2-BD59-A6C34878D82A}">
                    <a16:rowId xmlns:a16="http://schemas.microsoft.com/office/drawing/2014/main" val="297580280"/>
                  </a:ext>
                </a:extLst>
              </a:tr>
              <a:tr h="223827">
                <a:tc>
                  <a:txBody>
                    <a:bodyPr/>
                    <a:lstStyle/>
                    <a:p>
                      <a:endParaRPr lang="en-US" sz="600"/>
                    </a:p>
                  </a:txBody>
                  <a:tcPr>
                    <a:lnL w="1270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78D3"/>
                    </a:solidFill>
                  </a:tcPr>
                </a:tc>
                <a:tc>
                  <a:txBody>
                    <a:bodyPr/>
                    <a:lstStyle/>
                    <a:p>
                      <a:endParaRPr lang="en-US" sz="60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78D3"/>
                    </a:solidFill>
                  </a:tcPr>
                </a:tc>
                <a:tc>
                  <a:txBody>
                    <a:bodyPr/>
                    <a:lstStyle/>
                    <a:p>
                      <a:endParaRPr lang="en-US" sz="60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78D3"/>
                    </a:solidFill>
                  </a:tcPr>
                </a:tc>
                <a:extLst>
                  <a:ext uri="{0D108BD9-81ED-4DB2-BD59-A6C34878D82A}">
                    <a16:rowId xmlns:a16="http://schemas.microsoft.com/office/drawing/2014/main" val="2413770698"/>
                  </a:ext>
                </a:extLst>
              </a:tr>
              <a:tr h="223827">
                <a:tc>
                  <a:txBody>
                    <a:bodyPr/>
                    <a:lstStyle/>
                    <a:p>
                      <a:endParaRPr lang="en-US" sz="600"/>
                    </a:p>
                  </a:txBody>
                  <a:tcPr>
                    <a:lnL w="1270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78D3"/>
                    </a:solidFill>
                  </a:tcPr>
                </a:tc>
                <a:tc>
                  <a:txBody>
                    <a:bodyPr/>
                    <a:lstStyle/>
                    <a:p>
                      <a:endParaRPr lang="en-US" sz="60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78D3"/>
                    </a:solidFill>
                  </a:tcPr>
                </a:tc>
                <a:tc>
                  <a:txBody>
                    <a:bodyPr/>
                    <a:lstStyle/>
                    <a:p>
                      <a:endParaRPr lang="en-US" sz="60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78D3"/>
                    </a:solidFill>
                  </a:tcPr>
                </a:tc>
                <a:extLst>
                  <a:ext uri="{0D108BD9-81ED-4DB2-BD59-A6C34878D82A}">
                    <a16:rowId xmlns:a16="http://schemas.microsoft.com/office/drawing/2014/main" val="2389171038"/>
                  </a:ext>
                </a:extLst>
              </a:tr>
              <a:tr h="223827">
                <a:tc>
                  <a:txBody>
                    <a:bodyPr/>
                    <a:lstStyle/>
                    <a:p>
                      <a:endParaRPr lang="en-US" sz="600"/>
                    </a:p>
                  </a:txBody>
                  <a:tcPr>
                    <a:lnL w="1270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78D3"/>
                    </a:solidFill>
                  </a:tcPr>
                </a:tc>
                <a:tc>
                  <a:txBody>
                    <a:bodyPr/>
                    <a:lstStyle/>
                    <a:p>
                      <a:endParaRPr lang="en-US" sz="60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78D3"/>
                    </a:solidFill>
                  </a:tcPr>
                </a:tc>
                <a:tc>
                  <a:txBody>
                    <a:bodyPr/>
                    <a:lstStyle/>
                    <a:p>
                      <a:endParaRPr lang="en-US" sz="60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78D3"/>
                    </a:solidFill>
                  </a:tcPr>
                </a:tc>
                <a:extLst>
                  <a:ext uri="{0D108BD9-81ED-4DB2-BD59-A6C34878D82A}">
                    <a16:rowId xmlns:a16="http://schemas.microsoft.com/office/drawing/2014/main" val="52901456"/>
                  </a:ext>
                </a:extLst>
              </a:tr>
            </a:tbl>
          </a:graphicData>
        </a:graphic>
      </p:graphicFrame>
      <p:grpSp>
        <p:nvGrpSpPr>
          <p:cNvPr id="63" name="Group 62">
            <a:extLst>
              <a:ext uri="{FF2B5EF4-FFF2-40B4-BE49-F238E27FC236}">
                <a16:creationId xmlns:a16="http://schemas.microsoft.com/office/drawing/2014/main" id="{2B9D192D-C1BE-460F-9789-3AA0FC03A9BB}"/>
              </a:ext>
              <a:ext uri="{C183D7F6-B498-43B3-948B-1728B52AA6E4}">
                <adec:decorative xmlns:adec="http://schemas.microsoft.com/office/drawing/2017/decorative" val="1"/>
              </a:ext>
            </a:extLst>
          </p:cNvPr>
          <p:cNvGrpSpPr/>
          <p:nvPr/>
        </p:nvGrpSpPr>
        <p:grpSpPr>
          <a:xfrm>
            <a:off x="6799975" y="1618248"/>
            <a:ext cx="3037655" cy="1910295"/>
            <a:chOff x="2731696" y="3120177"/>
            <a:chExt cx="3037655" cy="1910295"/>
          </a:xfrm>
        </p:grpSpPr>
        <p:cxnSp>
          <p:nvCxnSpPr>
            <p:cNvPr id="64" name="Straight Arrow Connector 63">
              <a:extLst>
                <a:ext uri="{FF2B5EF4-FFF2-40B4-BE49-F238E27FC236}">
                  <a16:creationId xmlns:a16="http://schemas.microsoft.com/office/drawing/2014/main" id="{CABC36EF-0765-42C0-8647-229D08820EEC}"/>
                </a:ext>
              </a:extLst>
            </p:cNvPr>
            <p:cNvCxnSpPr>
              <a:cxnSpLocks/>
            </p:cNvCxnSpPr>
            <p:nvPr/>
          </p:nvCxnSpPr>
          <p:spPr>
            <a:xfrm flipV="1">
              <a:off x="2735506" y="3120177"/>
              <a:ext cx="0" cy="1910295"/>
            </a:xfrm>
            <a:prstGeom prst="straightConnector1">
              <a:avLst/>
            </a:prstGeom>
            <a:ln w="19050">
              <a:solidFill>
                <a:schemeClr val="tx1">
                  <a:lumMod val="75000"/>
                  <a:lumOff val="25000"/>
                </a:schemeClr>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76DCDC94-9F50-46D6-A824-89C2D6FE8E3C}"/>
                </a:ext>
              </a:extLst>
            </p:cNvPr>
            <p:cNvCxnSpPr>
              <a:cxnSpLocks/>
            </p:cNvCxnSpPr>
            <p:nvPr/>
          </p:nvCxnSpPr>
          <p:spPr>
            <a:xfrm>
              <a:off x="2731696" y="5022852"/>
              <a:ext cx="3037655" cy="0"/>
            </a:xfrm>
            <a:prstGeom prst="straightConnector1">
              <a:avLst/>
            </a:prstGeom>
            <a:ln w="19050">
              <a:solidFill>
                <a:schemeClr val="tx1">
                  <a:lumMod val="75000"/>
                  <a:lumOff val="25000"/>
                </a:schemeClr>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graphicFrame>
        <p:nvGraphicFramePr>
          <p:cNvPr id="76" name="Table 75">
            <a:extLst>
              <a:ext uri="{FF2B5EF4-FFF2-40B4-BE49-F238E27FC236}">
                <a16:creationId xmlns:a16="http://schemas.microsoft.com/office/drawing/2014/main" id="{E5FF1AB1-2C54-44D0-9ABD-1874D57B9565}"/>
              </a:ext>
            </a:extLst>
          </p:cNvPr>
          <p:cNvGraphicFramePr>
            <a:graphicFrameLocks noGrp="1"/>
          </p:cNvGraphicFramePr>
          <p:nvPr/>
        </p:nvGraphicFramePr>
        <p:xfrm>
          <a:off x="6803785" y="3551881"/>
          <a:ext cx="2856735" cy="285240"/>
        </p:xfrm>
        <a:graphic>
          <a:graphicData uri="http://schemas.openxmlformats.org/drawingml/2006/table">
            <a:tbl>
              <a:tblPr firstRow="1" bandRow="1"/>
              <a:tblGrid>
                <a:gridCol w="952245">
                  <a:extLst>
                    <a:ext uri="{9D8B030D-6E8A-4147-A177-3AD203B41FA5}">
                      <a16:colId xmlns:a16="http://schemas.microsoft.com/office/drawing/2014/main" val="1380041144"/>
                    </a:ext>
                  </a:extLst>
                </a:gridCol>
                <a:gridCol w="952245">
                  <a:extLst>
                    <a:ext uri="{9D8B030D-6E8A-4147-A177-3AD203B41FA5}">
                      <a16:colId xmlns:a16="http://schemas.microsoft.com/office/drawing/2014/main" val="2929974460"/>
                    </a:ext>
                  </a:extLst>
                </a:gridCol>
                <a:gridCol w="952245">
                  <a:extLst>
                    <a:ext uri="{9D8B030D-6E8A-4147-A177-3AD203B41FA5}">
                      <a16:colId xmlns:a16="http://schemas.microsoft.com/office/drawing/2014/main" val="634525930"/>
                    </a:ext>
                  </a:extLst>
                </a:gridCol>
              </a:tblGrid>
              <a:tr h="0">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algn="ctr"/>
                      <a:r>
                        <a:rPr lang="en-US" sz="1200">
                          <a:gradFill>
                            <a:gsLst>
                              <a:gs pos="0">
                                <a:schemeClr val="tx1"/>
                              </a:gs>
                              <a:gs pos="100000">
                                <a:schemeClr val="tx1"/>
                              </a:gs>
                            </a:gsLst>
                            <a:lin ang="5400000" scaled="1"/>
                          </a:gradFill>
                          <a:latin typeface="+mj-lt"/>
                        </a:rPr>
                        <a:t> Hour 1</a:t>
                      </a:r>
                    </a:p>
                  </a:txBody>
                  <a:tcPr marL="102360" marR="102360" marT="51180" marB="51180">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algn="ctr"/>
                      <a:r>
                        <a:rPr lang="en-US" sz="1200">
                          <a:gradFill>
                            <a:gsLst>
                              <a:gs pos="0">
                                <a:schemeClr val="tx1"/>
                              </a:gs>
                              <a:gs pos="100000">
                                <a:schemeClr val="tx1"/>
                              </a:gs>
                            </a:gsLst>
                            <a:lin ang="5400000" scaled="1"/>
                          </a:gradFill>
                          <a:latin typeface="+mj-lt"/>
                        </a:rPr>
                        <a:t>Hour 2</a:t>
                      </a:r>
                    </a:p>
                  </a:txBody>
                  <a:tcPr marL="102360" marR="102360" marT="51180" marB="51180">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algn="ctr"/>
                      <a:r>
                        <a:rPr lang="en-US" sz="1200">
                          <a:gradFill>
                            <a:gsLst>
                              <a:gs pos="0">
                                <a:schemeClr val="tx1"/>
                              </a:gs>
                              <a:gs pos="100000">
                                <a:schemeClr val="tx1"/>
                              </a:gs>
                            </a:gsLst>
                            <a:lin ang="5400000" scaled="1"/>
                          </a:gradFill>
                          <a:latin typeface="+mj-lt"/>
                        </a:rPr>
                        <a:t>Hour 3</a:t>
                      </a:r>
                    </a:p>
                  </a:txBody>
                  <a:tcPr marL="102360" marR="102360" marT="51180" marB="51180">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117705087"/>
                  </a:ext>
                </a:extLst>
              </a:tr>
            </a:tbl>
          </a:graphicData>
        </a:graphic>
      </p:graphicFrame>
      <p:cxnSp>
        <p:nvCxnSpPr>
          <p:cNvPr id="77" name="Straight Connector 76">
            <a:extLst>
              <a:ext uri="{FF2B5EF4-FFF2-40B4-BE49-F238E27FC236}">
                <a16:creationId xmlns:a16="http://schemas.microsoft.com/office/drawing/2014/main" id="{32CF8477-726A-4767-972F-495029B610B8}"/>
              </a:ext>
              <a:ext uri="{C183D7F6-B498-43B3-948B-1728B52AA6E4}">
                <adec:decorative xmlns:adec="http://schemas.microsoft.com/office/drawing/2017/decorative" val="1"/>
              </a:ext>
            </a:extLst>
          </p:cNvPr>
          <p:cNvCxnSpPr>
            <a:cxnSpLocks/>
            <a:stCxn id="44" idx="3"/>
          </p:cNvCxnSpPr>
          <p:nvPr/>
        </p:nvCxnSpPr>
        <p:spPr>
          <a:xfrm>
            <a:off x="6212801" y="2402919"/>
            <a:ext cx="5326633" cy="0"/>
          </a:xfrm>
          <a:prstGeom prst="line">
            <a:avLst/>
          </a:prstGeom>
          <a:ln w="38100" cap="rnd">
            <a:solidFill>
              <a:srgbClr val="FF9349"/>
            </a:solidFill>
            <a:prstDash val="sysDash"/>
          </a:ln>
        </p:spPr>
        <p:style>
          <a:lnRef idx="1">
            <a:schemeClr val="accent6"/>
          </a:lnRef>
          <a:fillRef idx="0">
            <a:schemeClr val="accent6"/>
          </a:fillRef>
          <a:effectRef idx="0">
            <a:schemeClr val="accent6"/>
          </a:effectRef>
          <a:fontRef idx="minor">
            <a:schemeClr val="tx1"/>
          </a:fontRef>
        </p:style>
      </p:cxnSp>
      <p:sp>
        <p:nvSpPr>
          <p:cNvPr id="8" name="TextBox 7">
            <a:extLst>
              <a:ext uri="{FF2B5EF4-FFF2-40B4-BE49-F238E27FC236}">
                <a16:creationId xmlns:a16="http://schemas.microsoft.com/office/drawing/2014/main" id="{C018BEB7-FE48-141F-FCD0-7E468F249171}"/>
              </a:ext>
            </a:extLst>
          </p:cNvPr>
          <p:cNvSpPr txBox="1"/>
          <p:nvPr/>
        </p:nvSpPr>
        <p:spPr>
          <a:xfrm>
            <a:off x="561861" y="6023836"/>
            <a:ext cx="11565482" cy="6001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100" b="0" i="0" u="none" strike="noStrike" kern="1200" cap="none" spc="0" normalizeH="0" baseline="0" noProof="0">
                <a:ln>
                  <a:noFill/>
                </a:ln>
                <a:solidFill>
                  <a:srgbClr val="000000"/>
                </a:solidFill>
                <a:effectLst/>
                <a:uLnTx/>
                <a:uFillTx/>
                <a:latin typeface="Segoe UI" panose="020B0502040204020203" pitchFamily="34" charset="0"/>
                <a:ea typeface="Calibri" panose="020F0502020204030204" pitchFamily="34" charset="0"/>
                <a:cs typeface="+mn-cs"/>
              </a:rPr>
              <a:t>*Customers may see savings estimated to be between 11 percent and 65 percent. The 65 percent savings is based on one M64dsv2 Azure VM for CentOS or Ubuntu Linux in the East US region running for 36 months at a pay-as-you-go rate of ~$4,868.37/month vs. a reduced rate for a 3-year savings plan of ~$1,703.44/month. Based on Azure pricing as of October 2022. Prices subject to change. Actual savings may vary based on location, instance type, or usage.</a:t>
            </a:r>
            <a:endParaRPr kumimoji="0" lang="en-US" sz="11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072753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p14="http://schemas.microsoft.com/office/powerpoint/2010/main" xmlns:adec="http://schemas.microsoft.com/office/drawing/2017/decorative" xmlns:a14="http://schemas.microsoft.com/office/drawing/2010/main"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nodeType="withEffect">
                                  <p:stCondLst>
                                    <p:cond delay="0"/>
                                  </p:stCondLst>
                                  <p:childTnLst>
                                    <p:animMotion origin="layout" path="M 6.25E-7 -4.07407E-6 L 6.25E-7 0.15093 " pathEditMode="relative" rAng="0" ptsTypes="AA">
                                      <p:cBhvr>
                                        <p:cTn id="9" dur="500" spd="-100000" fill="hold"/>
                                        <p:tgtEl>
                                          <p:spTgt spid="3"/>
                                        </p:tgtEl>
                                        <p:attrNameLst>
                                          <p:attrName>ppt_x</p:attrName>
                                          <p:attrName>ppt_y</p:attrName>
                                        </p:attrNameLst>
                                      </p:cBhvr>
                                      <p:rCtr x="0" y="7546"/>
                                    </p:animMotion>
                                  </p:childTnLst>
                                </p:cTn>
                              </p:par>
                              <p:par>
                                <p:cTn id="10" presetID="10" presetClass="entr" presetSubtype="0" fill="hold"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42" presetClass="path" presetSubtype="0" decel="100000" fill="hold" nodeType="withEffect">
                                  <p:stCondLst>
                                    <p:cond delay="200"/>
                                  </p:stCondLst>
                                  <p:childTnLst>
                                    <p:animMotion origin="layout" path="M 3.75E-6 -2.59259E-6 L 3.75E-6 0.15093 " pathEditMode="relative" rAng="0" ptsTypes="AA">
                                      <p:cBhvr>
                                        <p:cTn id="14" dur="500" spd="-100000" fill="hold"/>
                                        <p:tgtEl>
                                          <p:spTgt spid="6"/>
                                        </p:tgtEl>
                                        <p:attrNameLst>
                                          <p:attrName>ppt_x</p:attrName>
                                          <p:attrName>ppt_y</p:attrName>
                                        </p:attrNameLst>
                                      </p:cBhvr>
                                      <p:rCtr x="0" y="7546"/>
                                    </p:animMotion>
                                  </p:childTnLst>
                                </p:cTn>
                              </p:par>
                              <p:par>
                                <p:cTn id="15" presetID="10" presetClass="entr" presetSubtype="0" fill="hold" nodeType="withEffect">
                                  <p:stCondLst>
                                    <p:cond delay="4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42" presetClass="path" presetSubtype="0" decel="100000" fill="hold" nodeType="withEffect">
                                  <p:stCondLst>
                                    <p:cond delay="400"/>
                                  </p:stCondLst>
                                  <p:childTnLst>
                                    <p:animMotion origin="layout" path="M 6.25E-7 -4.07407E-6 L 6.25E-7 0.15093 " pathEditMode="relative" rAng="0" ptsTypes="AA">
                                      <p:cBhvr>
                                        <p:cTn id="19" dur="500" spd="-100000" fill="hold"/>
                                        <p:tgtEl>
                                          <p:spTgt spid="7"/>
                                        </p:tgtEl>
                                        <p:attrNameLst>
                                          <p:attrName>ppt_x</p:attrName>
                                          <p:attrName>ppt_y</p:attrName>
                                        </p:attrNameLst>
                                      </p:cBhvr>
                                      <p:rCtr x="0" y="75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 name="Rectangle: Rounded Corners 1088">
            <a:extLst>
              <a:ext uri="{FF2B5EF4-FFF2-40B4-BE49-F238E27FC236}">
                <a16:creationId xmlns:a16="http://schemas.microsoft.com/office/drawing/2014/main" id="{A408AE2D-D020-43AE-AD22-2E31CA9673C0}"/>
              </a:ext>
              <a:ext uri="{C183D7F6-B498-43B3-948B-1728B52AA6E4}">
                <adec:decorative xmlns:adec="http://schemas.microsoft.com/office/drawing/2017/decorative" val="1"/>
              </a:ext>
            </a:extLst>
          </p:cNvPr>
          <p:cNvSpPr/>
          <p:nvPr/>
        </p:nvSpPr>
        <p:spPr bwMode="auto">
          <a:xfrm>
            <a:off x="6237639" y="5278192"/>
            <a:ext cx="5469341" cy="1094404"/>
          </a:xfrm>
          <a:prstGeom prst="roundRect">
            <a:avLst>
              <a:gd name="adj" fmla="val 8312"/>
            </a:avLst>
          </a:prstGeom>
          <a:solidFill>
            <a:schemeClr val="bg1"/>
          </a:solid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1000"/>
              </a:spcAft>
              <a:buClrTx/>
              <a:buSzPct val="90000"/>
              <a:buFontTx/>
              <a:buNone/>
              <a:tabLst/>
              <a:defRPr/>
            </a:pPr>
            <a:endParaRPr kumimoji="0" lang="en-US" sz="1200" b="0" i="0" u="none" strike="noStrike" kern="0" cap="none" spc="0" normalizeH="0" baseline="0" noProof="0" err="1">
              <a:ln w="3175">
                <a:noFill/>
              </a:ln>
              <a:gradFill>
                <a:gsLst>
                  <a:gs pos="83000">
                    <a:srgbClr val="0078D3"/>
                  </a:gs>
                  <a:gs pos="100000">
                    <a:srgbClr val="0078D3"/>
                  </a:gs>
                </a:gsLst>
                <a:lin ang="5400000" scaled="1"/>
              </a:gradFill>
              <a:effectLst/>
              <a:uLnTx/>
              <a:uFillTx/>
              <a:latin typeface="Segoe UI Semibold"/>
              <a:ea typeface="+mn-ea"/>
              <a:cs typeface="Segoe UI" pitchFamily="34" charset="0"/>
            </a:endParaRPr>
          </a:p>
        </p:txBody>
      </p:sp>
      <p:sp>
        <p:nvSpPr>
          <p:cNvPr id="2182" name="Title 2181">
            <a:extLst>
              <a:ext uri="{FF2B5EF4-FFF2-40B4-BE49-F238E27FC236}">
                <a16:creationId xmlns:a16="http://schemas.microsoft.com/office/drawing/2014/main" id="{37646698-B77D-4288-A34E-77973BB79D31}"/>
              </a:ext>
            </a:extLst>
          </p:cNvPr>
          <p:cNvSpPr>
            <a:spLocks noGrp="1"/>
          </p:cNvSpPr>
          <p:nvPr>
            <p:ph type="title"/>
          </p:nvPr>
        </p:nvSpPr>
        <p:spPr/>
        <p:txBody>
          <a:bodyPr/>
          <a:lstStyle/>
          <a:p>
            <a:r>
              <a:rPr kumimoji="0" lang="en-US" sz="2800" b="0" i="0" u="none" strike="noStrike" kern="1200" cap="none" spc="0" normalizeH="0" baseline="0" noProof="0">
                <a:ln>
                  <a:noFill/>
                </a:ln>
                <a:solidFill>
                  <a:schemeClr val="tx1"/>
                </a:solidFill>
                <a:effectLst/>
                <a:uLnTx/>
                <a:uFillTx/>
                <a:latin typeface="Segoe UI Semibold"/>
                <a:ea typeface="+mn-ea"/>
                <a:cs typeface="Segoe UI" panose="020B0502040204020203" pitchFamily="34" charset="0"/>
              </a:rPr>
              <a:t>Optimize savings automatically</a:t>
            </a:r>
            <a:endParaRPr lang="en-US">
              <a:solidFill>
                <a:schemeClr val="tx1"/>
              </a:solidFill>
            </a:endParaRPr>
          </a:p>
        </p:txBody>
      </p:sp>
      <p:sp>
        <p:nvSpPr>
          <p:cNvPr id="1260" name="Oval 1259">
            <a:extLst>
              <a:ext uri="{FF2B5EF4-FFF2-40B4-BE49-F238E27FC236}">
                <a16:creationId xmlns:a16="http://schemas.microsoft.com/office/drawing/2014/main" id="{6DD18643-6615-478F-B09C-5B1B07177931}"/>
              </a:ext>
              <a:ext uri="{C183D7F6-B498-43B3-948B-1728B52AA6E4}">
                <adec:decorative xmlns:adec="http://schemas.microsoft.com/office/drawing/2017/decorative" val="1"/>
              </a:ext>
            </a:extLst>
          </p:cNvPr>
          <p:cNvSpPr/>
          <p:nvPr/>
        </p:nvSpPr>
        <p:spPr bwMode="auto">
          <a:xfrm>
            <a:off x="1132606" y="1153081"/>
            <a:ext cx="578427" cy="578427"/>
          </a:xfrm>
          <a:prstGeom prst="ellipse">
            <a:avLst/>
          </a:prstGeom>
          <a:solidFill>
            <a:schemeClr val="bg1"/>
          </a:solidFill>
          <a:ln w="28575">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737360" rIns="274320" bIns="274320" numCol="1" spcCol="0" rtlCol="0" fromWordArt="0" anchor="t"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600"/>
              </a:spcAft>
              <a:buClr>
                <a:srgbClr val="000000"/>
              </a:buClr>
              <a:buSzPct val="90000"/>
              <a:buFontTx/>
              <a:buNone/>
              <a:tabLst/>
              <a:defRPr/>
            </a:pPr>
            <a:endParaRPr kumimoji="0" lang="en-US" sz="1600" b="0" i="0" u="none" strike="noStrike" kern="1200" cap="none" spc="0" normalizeH="0" baseline="0" noProof="0" err="1">
              <a:ln>
                <a:noFill/>
              </a:ln>
              <a:gradFill>
                <a:gsLst>
                  <a:gs pos="54400">
                    <a:srgbClr val="0078D3"/>
                  </a:gs>
                  <a:gs pos="100000">
                    <a:srgbClr val="0078D3"/>
                  </a:gs>
                </a:gsLst>
                <a:lin ang="0" scaled="0"/>
              </a:gradFill>
              <a:effectLst/>
              <a:uLnTx/>
              <a:uFillTx/>
              <a:latin typeface="Segoe UI Semibold"/>
              <a:ea typeface="+mn-ea"/>
              <a:cs typeface="Segoe UI" panose="020B0502040204020203" pitchFamily="34" charset="0"/>
            </a:endParaRPr>
          </a:p>
        </p:txBody>
      </p:sp>
      <p:sp>
        <p:nvSpPr>
          <p:cNvPr id="1261" name="Oval 1260">
            <a:extLst>
              <a:ext uri="{FF2B5EF4-FFF2-40B4-BE49-F238E27FC236}">
                <a16:creationId xmlns:a16="http://schemas.microsoft.com/office/drawing/2014/main" id="{FBA48BF5-A5EA-4AA5-9DC5-BAB3C34FB67D}"/>
              </a:ext>
              <a:ext uri="{C183D7F6-B498-43B3-948B-1728B52AA6E4}">
                <adec:decorative xmlns:adec="http://schemas.microsoft.com/office/drawing/2017/decorative" val="1"/>
              </a:ext>
            </a:extLst>
          </p:cNvPr>
          <p:cNvSpPr/>
          <p:nvPr/>
        </p:nvSpPr>
        <p:spPr bwMode="auto">
          <a:xfrm>
            <a:off x="1809599" y="1153081"/>
            <a:ext cx="578427" cy="578427"/>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737360" rIns="274320" bIns="274320" numCol="1" spcCol="0" rtlCol="0" fromWordArt="0" anchor="t"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600"/>
              </a:spcAft>
              <a:buClr>
                <a:srgbClr val="000000"/>
              </a:buClr>
              <a:buSzPct val="90000"/>
              <a:buFontTx/>
              <a:buNone/>
              <a:tabLst/>
              <a:defRPr/>
            </a:pPr>
            <a:endParaRPr kumimoji="0" lang="en-US" sz="1600" b="0" i="0" u="none" strike="noStrike" kern="1200" cap="none" spc="0" normalizeH="0" baseline="0" noProof="0" err="1">
              <a:ln>
                <a:noFill/>
              </a:ln>
              <a:gradFill>
                <a:gsLst>
                  <a:gs pos="54400">
                    <a:srgbClr val="0078D3"/>
                  </a:gs>
                  <a:gs pos="100000">
                    <a:srgbClr val="0078D3"/>
                  </a:gs>
                </a:gsLst>
                <a:lin ang="0" scaled="0"/>
              </a:gradFill>
              <a:effectLst/>
              <a:uLnTx/>
              <a:uFillTx/>
              <a:latin typeface="Segoe UI Semibold"/>
              <a:ea typeface="+mn-ea"/>
              <a:cs typeface="Segoe UI" panose="020B0502040204020203" pitchFamily="34" charset="0"/>
            </a:endParaRPr>
          </a:p>
        </p:txBody>
      </p:sp>
      <p:grpSp>
        <p:nvGrpSpPr>
          <p:cNvPr id="1262" name="Group 1261">
            <a:extLst>
              <a:ext uri="{FF2B5EF4-FFF2-40B4-BE49-F238E27FC236}">
                <a16:creationId xmlns:a16="http://schemas.microsoft.com/office/drawing/2014/main" id="{C1A69024-C252-4404-A6F0-1BD5CF867FB1}"/>
              </a:ext>
              <a:ext uri="{C183D7F6-B498-43B3-948B-1728B52AA6E4}">
                <adec:decorative xmlns:adec="http://schemas.microsoft.com/office/drawing/2017/decorative" val="1"/>
              </a:ext>
            </a:extLst>
          </p:cNvPr>
          <p:cNvGrpSpPr/>
          <p:nvPr/>
        </p:nvGrpSpPr>
        <p:grpSpPr>
          <a:xfrm>
            <a:off x="1225375" y="1275578"/>
            <a:ext cx="392888" cy="333433"/>
            <a:chOff x="5692537" y="3717104"/>
            <a:chExt cx="1048981" cy="890242"/>
          </a:xfrm>
          <a:effectLst/>
        </p:grpSpPr>
        <p:grpSp>
          <p:nvGrpSpPr>
            <p:cNvPr id="1263" name="gears 1" descr="gears, process, precision, productivity, mechanical">
              <a:extLst>
                <a:ext uri="{FF2B5EF4-FFF2-40B4-BE49-F238E27FC236}">
                  <a16:creationId xmlns:a16="http://schemas.microsoft.com/office/drawing/2014/main" id="{1FB1444D-6065-4E17-B49F-6853AB88401C}"/>
                </a:ext>
              </a:extLst>
            </p:cNvPr>
            <p:cNvGrpSpPr>
              <a:grpSpLocks noChangeAspect="1"/>
            </p:cNvGrpSpPr>
            <p:nvPr/>
          </p:nvGrpSpPr>
          <p:grpSpPr bwMode="auto">
            <a:xfrm>
              <a:off x="5692537" y="3717104"/>
              <a:ext cx="806922" cy="648183"/>
              <a:chOff x="1682" y="3095"/>
              <a:chExt cx="244" cy="196"/>
            </a:xfrm>
          </p:grpSpPr>
          <p:sp>
            <p:nvSpPr>
              <p:cNvPr id="1267" name="AutoShape 151">
                <a:extLst>
                  <a:ext uri="{FF2B5EF4-FFF2-40B4-BE49-F238E27FC236}">
                    <a16:creationId xmlns:a16="http://schemas.microsoft.com/office/drawing/2014/main" id="{3DD568F9-8EB7-424B-82FF-86919735612C}"/>
                  </a:ext>
                </a:extLst>
              </p:cNvPr>
              <p:cNvSpPr>
                <a:spLocks noChangeAspect="1" noChangeArrowheads="1" noTextEdit="1"/>
              </p:cNvSpPr>
              <p:nvPr/>
            </p:nvSpPr>
            <p:spPr bwMode="auto">
              <a:xfrm>
                <a:off x="1682" y="3095"/>
                <a:ext cx="24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68" name="Freeform 153">
                <a:extLst>
                  <a:ext uri="{FF2B5EF4-FFF2-40B4-BE49-F238E27FC236}">
                    <a16:creationId xmlns:a16="http://schemas.microsoft.com/office/drawing/2014/main" id="{3415E1B0-D73F-46FA-BCFA-6FE651E13C47}"/>
                  </a:ext>
                </a:extLst>
              </p:cNvPr>
              <p:cNvSpPr>
                <a:spLocks noEditPoints="1"/>
              </p:cNvSpPr>
              <p:nvPr/>
            </p:nvSpPr>
            <p:spPr bwMode="auto">
              <a:xfrm>
                <a:off x="1810" y="3094"/>
                <a:ext cx="115" cy="113"/>
              </a:xfrm>
              <a:custGeom>
                <a:avLst/>
                <a:gdLst>
                  <a:gd name="T0" fmla="*/ 68 w 79"/>
                  <a:gd name="T1" fmla="*/ 36 h 78"/>
                  <a:gd name="T2" fmla="*/ 66 w 79"/>
                  <a:gd name="T3" fmla="*/ 26 h 78"/>
                  <a:gd name="T4" fmla="*/ 72 w 79"/>
                  <a:gd name="T5" fmla="*/ 18 h 78"/>
                  <a:gd name="T6" fmla="*/ 66 w 79"/>
                  <a:gd name="T7" fmla="*/ 11 h 78"/>
                  <a:gd name="T8" fmla="*/ 57 w 79"/>
                  <a:gd name="T9" fmla="*/ 16 h 78"/>
                  <a:gd name="T10" fmla="*/ 49 w 79"/>
                  <a:gd name="T11" fmla="*/ 12 h 78"/>
                  <a:gd name="T12" fmla="*/ 48 w 79"/>
                  <a:gd name="T13" fmla="*/ 1 h 78"/>
                  <a:gd name="T14" fmla="*/ 38 w 79"/>
                  <a:gd name="T15" fmla="*/ 0 h 78"/>
                  <a:gd name="T16" fmla="*/ 35 w 79"/>
                  <a:gd name="T17" fmla="*/ 11 h 78"/>
                  <a:gd name="T18" fmla="*/ 26 w 79"/>
                  <a:gd name="T19" fmla="*/ 13 h 78"/>
                  <a:gd name="T20" fmla="*/ 18 w 79"/>
                  <a:gd name="T21" fmla="*/ 6 h 78"/>
                  <a:gd name="T22" fmla="*/ 11 w 79"/>
                  <a:gd name="T23" fmla="*/ 12 h 78"/>
                  <a:gd name="T24" fmla="*/ 16 w 79"/>
                  <a:gd name="T25" fmla="*/ 22 h 78"/>
                  <a:gd name="T26" fmla="*/ 11 w 79"/>
                  <a:gd name="T27" fmla="*/ 30 h 78"/>
                  <a:gd name="T28" fmla="*/ 1 w 79"/>
                  <a:gd name="T29" fmla="*/ 31 h 78"/>
                  <a:gd name="T30" fmla="*/ 0 w 79"/>
                  <a:gd name="T31" fmla="*/ 40 h 78"/>
                  <a:gd name="T32" fmla="*/ 10 w 79"/>
                  <a:gd name="T33" fmla="*/ 43 h 78"/>
                  <a:gd name="T34" fmla="*/ 13 w 79"/>
                  <a:gd name="T35" fmla="*/ 52 h 78"/>
                  <a:gd name="T36" fmla="*/ 6 w 79"/>
                  <a:gd name="T37" fmla="*/ 60 h 78"/>
                  <a:gd name="T38" fmla="*/ 12 w 79"/>
                  <a:gd name="T39" fmla="*/ 67 h 78"/>
                  <a:gd name="T40" fmla="*/ 22 w 79"/>
                  <a:gd name="T41" fmla="*/ 62 h 78"/>
                  <a:gd name="T42" fmla="*/ 30 w 79"/>
                  <a:gd name="T43" fmla="*/ 66 h 78"/>
                  <a:gd name="T44" fmla="*/ 31 w 79"/>
                  <a:gd name="T45" fmla="*/ 77 h 78"/>
                  <a:gd name="T46" fmla="*/ 40 w 79"/>
                  <a:gd name="T47" fmla="*/ 78 h 78"/>
                  <a:gd name="T48" fmla="*/ 43 w 79"/>
                  <a:gd name="T49" fmla="*/ 67 h 78"/>
                  <a:gd name="T50" fmla="*/ 52 w 79"/>
                  <a:gd name="T51" fmla="*/ 65 h 78"/>
                  <a:gd name="T52" fmla="*/ 61 w 79"/>
                  <a:gd name="T53" fmla="*/ 72 h 78"/>
                  <a:gd name="T54" fmla="*/ 68 w 79"/>
                  <a:gd name="T55" fmla="*/ 66 h 78"/>
                  <a:gd name="T56" fmla="*/ 63 w 79"/>
                  <a:gd name="T57" fmla="*/ 56 h 78"/>
                  <a:gd name="T58" fmla="*/ 68 w 79"/>
                  <a:gd name="T59" fmla="*/ 48 h 78"/>
                  <a:gd name="T60" fmla="*/ 78 w 79"/>
                  <a:gd name="T61" fmla="*/ 47 h 78"/>
                  <a:gd name="T62" fmla="*/ 79 w 79"/>
                  <a:gd name="T63" fmla="*/ 38 h 78"/>
                  <a:gd name="T64" fmla="*/ 68 w 79"/>
                  <a:gd name="T65" fmla="*/ 36 h 78"/>
                  <a:gd name="T66" fmla="*/ 44 w 79"/>
                  <a:gd name="T67" fmla="*/ 56 h 78"/>
                  <a:gd name="T68" fmla="*/ 22 w 79"/>
                  <a:gd name="T69" fmla="*/ 45 h 78"/>
                  <a:gd name="T70" fmla="*/ 34 w 79"/>
                  <a:gd name="T71" fmla="*/ 23 h 78"/>
                  <a:gd name="T72" fmla="*/ 55 w 79"/>
                  <a:gd name="T73" fmla="*/ 34 h 78"/>
                  <a:gd name="T74" fmla="*/ 44 w 79"/>
                  <a:gd name="T75" fmla="*/ 5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9" h="78">
                    <a:moveTo>
                      <a:pt x="68" y="36"/>
                    </a:moveTo>
                    <a:cubicBezTo>
                      <a:pt x="68" y="32"/>
                      <a:pt x="67" y="29"/>
                      <a:pt x="66" y="26"/>
                    </a:cubicBezTo>
                    <a:cubicBezTo>
                      <a:pt x="67" y="26"/>
                      <a:pt x="72" y="18"/>
                      <a:pt x="72" y="18"/>
                    </a:cubicBezTo>
                    <a:cubicBezTo>
                      <a:pt x="66" y="11"/>
                      <a:pt x="66" y="11"/>
                      <a:pt x="66" y="11"/>
                    </a:cubicBezTo>
                    <a:cubicBezTo>
                      <a:pt x="66" y="11"/>
                      <a:pt x="57" y="15"/>
                      <a:pt x="57" y="16"/>
                    </a:cubicBezTo>
                    <a:cubicBezTo>
                      <a:pt x="54" y="14"/>
                      <a:pt x="52" y="13"/>
                      <a:pt x="49" y="12"/>
                    </a:cubicBezTo>
                    <a:cubicBezTo>
                      <a:pt x="49" y="11"/>
                      <a:pt x="48" y="1"/>
                      <a:pt x="48" y="1"/>
                    </a:cubicBezTo>
                    <a:cubicBezTo>
                      <a:pt x="38" y="0"/>
                      <a:pt x="38" y="0"/>
                      <a:pt x="38" y="0"/>
                    </a:cubicBezTo>
                    <a:cubicBezTo>
                      <a:pt x="38" y="0"/>
                      <a:pt x="35" y="10"/>
                      <a:pt x="35" y="11"/>
                    </a:cubicBezTo>
                    <a:cubicBezTo>
                      <a:pt x="32" y="11"/>
                      <a:pt x="29" y="12"/>
                      <a:pt x="26" y="13"/>
                    </a:cubicBezTo>
                    <a:cubicBezTo>
                      <a:pt x="26" y="12"/>
                      <a:pt x="18" y="6"/>
                      <a:pt x="18" y="6"/>
                    </a:cubicBezTo>
                    <a:cubicBezTo>
                      <a:pt x="11" y="12"/>
                      <a:pt x="11" y="12"/>
                      <a:pt x="11" y="12"/>
                    </a:cubicBezTo>
                    <a:cubicBezTo>
                      <a:pt x="11" y="12"/>
                      <a:pt x="15" y="21"/>
                      <a:pt x="16" y="22"/>
                    </a:cubicBezTo>
                    <a:cubicBezTo>
                      <a:pt x="14" y="24"/>
                      <a:pt x="12" y="27"/>
                      <a:pt x="11" y="30"/>
                    </a:cubicBezTo>
                    <a:cubicBezTo>
                      <a:pt x="10" y="30"/>
                      <a:pt x="1" y="31"/>
                      <a:pt x="1" y="31"/>
                    </a:cubicBezTo>
                    <a:cubicBezTo>
                      <a:pt x="0" y="40"/>
                      <a:pt x="0" y="40"/>
                      <a:pt x="0" y="40"/>
                    </a:cubicBezTo>
                    <a:cubicBezTo>
                      <a:pt x="0" y="40"/>
                      <a:pt x="9" y="43"/>
                      <a:pt x="10" y="43"/>
                    </a:cubicBezTo>
                    <a:cubicBezTo>
                      <a:pt x="10" y="46"/>
                      <a:pt x="12" y="49"/>
                      <a:pt x="13" y="52"/>
                    </a:cubicBezTo>
                    <a:cubicBezTo>
                      <a:pt x="12" y="53"/>
                      <a:pt x="6" y="60"/>
                      <a:pt x="6" y="60"/>
                    </a:cubicBezTo>
                    <a:cubicBezTo>
                      <a:pt x="12" y="67"/>
                      <a:pt x="12" y="67"/>
                      <a:pt x="12" y="67"/>
                    </a:cubicBezTo>
                    <a:cubicBezTo>
                      <a:pt x="12" y="67"/>
                      <a:pt x="21" y="63"/>
                      <a:pt x="22" y="62"/>
                    </a:cubicBezTo>
                    <a:cubicBezTo>
                      <a:pt x="24" y="64"/>
                      <a:pt x="27" y="65"/>
                      <a:pt x="30" y="66"/>
                    </a:cubicBezTo>
                    <a:cubicBezTo>
                      <a:pt x="30" y="66"/>
                      <a:pt x="31" y="77"/>
                      <a:pt x="31" y="77"/>
                    </a:cubicBezTo>
                    <a:cubicBezTo>
                      <a:pt x="40" y="78"/>
                      <a:pt x="40" y="78"/>
                      <a:pt x="40" y="78"/>
                    </a:cubicBezTo>
                    <a:cubicBezTo>
                      <a:pt x="40" y="78"/>
                      <a:pt x="43" y="68"/>
                      <a:pt x="43" y="67"/>
                    </a:cubicBezTo>
                    <a:cubicBezTo>
                      <a:pt x="46" y="67"/>
                      <a:pt x="49" y="66"/>
                      <a:pt x="52" y="65"/>
                    </a:cubicBezTo>
                    <a:cubicBezTo>
                      <a:pt x="52" y="66"/>
                      <a:pt x="61" y="72"/>
                      <a:pt x="61" y="72"/>
                    </a:cubicBezTo>
                    <a:cubicBezTo>
                      <a:pt x="68" y="66"/>
                      <a:pt x="68" y="66"/>
                      <a:pt x="68" y="66"/>
                    </a:cubicBezTo>
                    <a:cubicBezTo>
                      <a:pt x="68" y="66"/>
                      <a:pt x="64" y="58"/>
                      <a:pt x="63" y="56"/>
                    </a:cubicBezTo>
                    <a:cubicBezTo>
                      <a:pt x="65" y="54"/>
                      <a:pt x="66" y="51"/>
                      <a:pt x="68" y="48"/>
                    </a:cubicBezTo>
                    <a:cubicBezTo>
                      <a:pt x="69" y="48"/>
                      <a:pt x="78" y="47"/>
                      <a:pt x="78" y="47"/>
                    </a:cubicBezTo>
                    <a:cubicBezTo>
                      <a:pt x="79" y="38"/>
                      <a:pt x="79" y="38"/>
                      <a:pt x="79" y="38"/>
                    </a:cubicBezTo>
                    <a:cubicBezTo>
                      <a:pt x="78" y="39"/>
                      <a:pt x="70" y="36"/>
                      <a:pt x="68" y="36"/>
                    </a:cubicBezTo>
                    <a:close/>
                    <a:moveTo>
                      <a:pt x="44" y="56"/>
                    </a:moveTo>
                    <a:cubicBezTo>
                      <a:pt x="35" y="59"/>
                      <a:pt x="25" y="54"/>
                      <a:pt x="22" y="45"/>
                    </a:cubicBezTo>
                    <a:cubicBezTo>
                      <a:pt x="20" y="36"/>
                      <a:pt x="24" y="26"/>
                      <a:pt x="34" y="23"/>
                    </a:cubicBezTo>
                    <a:cubicBezTo>
                      <a:pt x="43" y="20"/>
                      <a:pt x="52" y="25"/>
                      <a:pt x="55" y="34"/>
                    </a:cubicBezTo>
                    <a:cubicBezTo>
                      <a:pt x="58" y="43"/>
                      <a:pt x="53" y="53"/>
                      <a:pt x="44" y="56"/>
                    </a:cubicBezTo>
                    <a:close/>
                  </a:path>
                </a:pathLst>
              </a:custGeom>
              <a:solidFill>
                <a:srgbClr val="243A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69" name="Freeform 154">
                <a:extLst>
                  <a:ext uri="{FF2B5EF4-FFF2-40B4-BE49-F238E27FC236}">
                    <a16:creationId xmlns:a16="http://schemas.microsoft.com/office/drawing/2014/main" id="{82C7B8B3-3228-40D2-A4F2-DD18C1583397}"/>
                  </a:ext>
                </a:extLst>
              </p:cNvPr>
              <p:cNvSpPr>
                <a:spLocks noEditPoints="1"/>
              </p:cNvSpPr>
              <p:nvPr/>
            </p:nvSpPr>
            <p:spPr bwMode="auto">
              <a:xfrm>
                <a:off x="1682" y="3140"/>
                <a:ext cx="151" cy="150"/>
              </a:xfrm>
              <a:custGeom>
                <a:avLst/>
                <a:gdLst>
                  <a:gd name="T0" fmla="*/ 84 w 104"/>
                  <a:gd name="T1" fmla="*/ 31 h 103"/>
                  <a:gd name="T2" fmla="*/ 92 w 104"/>
                  <a:gd name="T3" fmla="*/ 20 h 103"/>
                  <a:gd name="T4" fmla="*/ 83 w 104"/>
                  <a:gd name="T5" fmla="*/ 11 h 103"/>
                  <a:gd name="T6" fmla="*/ 71 w 104"/>
                  <a:gd name="T7" fmla="*/ 19 h 103"/>
                  <a:gd name="T8" fmla="*/ 60 w 104"/>
                  <a:gd name="T9" fmla="*/ 14 h 103"/>
                  <a:gd name="T10" fmla="*/ 57 w 104"/>
                  <a:gd name="T11" fmla="*/ 0 h 103"/>
                  <a:gd name="T12" fmla="*/ 45 w 104"/>
                  <a:gd name="T13" fmla="*/ 0 h 103"/>
                  <a:gd name="T14" fmla="*/ 42 w 104"/>
                  <a:gd name="T15" fmla="*/ 14 h 103"/>
                  <a:gd name="T16" fmla="*/ 31 w 104"/>
                  <a:gd name="T17" fmla="*/ 19 h 103"/>
                  <a:gd name="T18" fmla="*/ 19 w 104"/>
                  <a:gd name="T19" fmla="*/ 11 h 103"/>
                  <a:gd name="T20" fmla="*/ 10 w 104"/>
                  <a:gd name="T21" fmla="*/ 20 h 103"/>
                  <a:gd name="T22" fmla="*/ 18 w 104"/>
                  <a:gd name="T23" fmla="*/ 32 h 103"/>
                  <a:gd name="T24" fmla="*/ 13 w 104"/>
                  <a:gd name="T25" fmla="*/ 43 h 103"/>
                  <a:gd name="T26" fmla="*/ 0 w 104"/>
                  <a:gd name="T27" fmla="*/ 46 h 103"/>
                  <a:gd name="T28" fmla="*/ 0 w 104"/>
                  <a:gd name="T29" fmla="*/ 57 h 103"/>
                  <a:gd name="T30" fmla="*/ 14 w 104"/>
                  <a:gd name="T31" fmla="*/ 60 h 103"/>
                  <a:gd name="T32" fmla="*/ 18 w 104"/>
                  <a:gd name="T33" fmla="*/ 72 h 103"/>
                  <a:gd name="T34" fmla="*/ 11 w 104"/>
                  <a:gd name="T35" fmla="*/ 84 h 103"/>
                  <a:gd name="T36" fmla="*/ 19 w 104"/>
                  <a:gd name="T37" fmla="*/ 92 h 103"/>
                  <a:gd name="T38" fmla="*/ 32 w 104"/>
                  <a:gd name="T39" fmla="*/ 84 h 103"/>
                  <a:gd name="T40" fmla="*/ 43 w 104"/>
                  <a:gd name="T41" fmla="*/ 88 h 103"/>
                  <a:gd name="T42" fmla="*/ 46 w 104"/>
                  <a:gd name="T43" fmla="*/ 103 h 103"/>
                  <a:gd name="T44" fmla="*/ 58 w 104"/>
                  <a:gd name="T45" fmla="*/ 103 h 103"/>
                  <a:gd name="T46" fmla="*/ 61 w 104"/>
                  <a:gd name="T47" fmla="*/ 88 h 103"/>
                  <a:gd name="T48" fmla="*/ 72 w 104"/>
                  <a:gd name="T49" fmla="*/ 84 h 103"/>
                  <a:gd name="T50" fmla="*/ 84 w 104"/>
                  <a:gd name="T51" fmla="*/ 92 h 103"/>
                  <a:gd name="T52" fmla="*/ 92 w 104"/>
                  <a:gd name="T53" fmla="*/ 83 h 103"/>
                  <a:gd name="T54" fmla="*/ 85 w 104"/>
                  <a:gd name="T55" fmla="*/ 72 h 103"/>
                  <a:gd name="T56" fmla="*/ 90 w 104"/>
                  <a:gd name="T57" fmla="*/ 60 h 103"/>
                  <a:gd name="T58" fmla="*/ 104 w 104"/>
                  <a:gd name="T59" fmla="*/ 57 h 103"/>
                  <a:gd name="T60" fmla="*/ 104 w 104"/>
                  <a:gd name="T61" fmla="*/ 45 h 103"/>
                  <a:gd name="T62" fmla="*/ 90 w 104"/>
                  <a:gd name="T63" fmla="*/ 42 h 103"/>
                  <a:gd name="T64" fmla="*/ 84 w 104"/>
                  <a:gd name="T65" fmla="*/ 31 h 103"/>
                  <a:gd name="T66" fmla="*/ 60 w 104"/>
                  <a:gd name="T67" fmla="*/ 72 h 103"/>
                  <a:gd name="T68" fmla="*/ 30 w 104"/>
                  <a:gd name="T69" fmla="*/ 60 h 103"/>
                  <a:gd name="T70" fmla="*/ 42 w 104"/>
                  <a:gd name="T71" fmla="*/ 30 h 103"/>
                  <a:gd name="T72" fmla="*/ 72 w 104"/>
                  <a:gd name="T73" fmla="*/ 42 h 103"/>
                  <a:gd name="T74" fmla="*/ 60 w 104"/>
                  <a:gd name="T75" fmla="*/ 7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 h="103">
                    <a:moveTo>
                      <a:pt x="84" y="31"/>
                    </a:moveTo>
                    <a:cubicBezTo>
                      <a:pt x="86" y="30"/>
                      <a:pt x="92" y="20"/>
                      <a:pt x="92" y="20"/>
                    </a:cubicBezTo>
                    <a:cubicBezTo>
                      <a:pt x="83" y="11"/>
                      <a:pt x="83" y="11"/>
                      <a:pt x="83" y="11"/>
                    </a:cubicBezTo>
                    <a:cubicBezTo>
                      <a:pt x="83" y="11"/>
                      <a:pt x="72" y="18"/>
                      <a:pt x="71" y="19"/>
                    </a:cubicBezTo>
                    <a:cubicBezTo>
                      <a:pt x="68" y="17"/>
                      <a:pt x="64" y="15"/>
                      <a:pt x="60" y="14"/>
                    </a:cubicBezTo>
                    <a:cubicBezTo>
                      <a:pt x="60" y="14"/>
                      <a:pt x="57" y="0"/>
                      <a:pt x="57" y="0"/>
                    </a:cubicBezTo>
                    <a:cubicBezTo>
                      <a:pt x="45" y="0"/>
                      <a:pt x="45" y="0"/>
                      <a:pt x="45" y="0"/>
                    </a:cubicBezTo>
                    <a:cubicBezTo>
                      <a:pt x="45" y="0"/>
                      <a:pt x="42" y="14"/>
                      <a:pt x="42" y="14"/>
                    </a:cubicBezTo>
                    <a:cubicBezTo>
                      <a:pt x="38" y="15"/>
                      <a:pt x="34" y="17"/>
                      <a:pt x="31" y="19"/>
                    </a:cubicBezTo>
                    <a:cubicBezTo>
                      <a:pt x="30" y="18"/>
                      <a:pt x="19" y="11"/>
                      <a:pt x="19" y="11"/>
                    </a:cubicBezTo>
                    <a:cubicBezTo>
                      <a:pt x="10" y="20"/>
                      <a:pt x="10" y="20"/>
                      <a:pt x="10" y="20"/>
                    </a:cubicBezTo>
                    <a:cubicBezTo>
                      <a:pt x="10" y="20"/>
                      <a:pt x="17" y="30"/>
                      <a:pt x="18" y="32"/>
                    </a:cubicBezTo>
                    <a:cubicBezTo>
                      <a:pt x="16" y="35"/>
                      <a:pt x="14" y="39"/>
                      <a:pt x="13" y="43"/>
                    </a:cubicBezTo>
                    <a:cubicBezTo>
                      <a:pt x="12" y="42"/>
                      <a:pt x="0" y="46"/>
                      <a:pt x="0" y="46"/>
                    </a:cubicBezTo>
                    <a:cubicBezTo>
                      <a:pt x="0" y="57"/>
                      <a:pt x="0" y="57"/>
                      <a:pt x="0" y="57"/>
                    </a:cubicBezTo>
                    <a:cubicBezTo>
                      <a:pt x="0" y="57"/>
                      <a:pt x="12" y="60"/>
                      <a:pt x="14" y="60"/>
                    </a:cubicBezTo>
                    <a:cubicBezTo>
                      <a:pt x="15" y="64"/>
                      <a:pt x="16" y="68"/>
                      <a:pt x="18" y="72"/>
                    </a:cubicBezTo>
                    <a:cubicBezTo>
                      <a:pt x="17" y="72"/>
                      <a:pt x="11" y="84"/>
                      <a:pt x="11" y="84"/>
                    </a:cubicBezTo>
                    <a:cubicBezTo>
                      <a:pt x="19" y="92"/>
                      <a:pt x="19" y="92"/>
                      <a:pt x="19" y="92"/>
                    </a:cubicBezTo>
                    <a:cubicBezTo>
                      <a:pt x="19" y="92"/>
                      <a:pt x="31" y="85"/>
                      <a:pt x="32" y="84"/>
                    </a:cubicBezTo>
                    <a:cubicBezTo>
                      <a:pt x="35" y="86"/>
                      <a:pt x="39" y="88"/>
                      <a:pt x="43" y="88"/>
                    </a:cubicBezTo>
                    <a:cubicBezTo>
                      <a:pt x="43" y="89"/>
                      <a:pt x="46" y="103"/>
                      <a:pt x="46" y="103"/>
                    </a:cubicBezTo>
                    <a:cubicBezTo>
                      <a:pt x="58" y="103"/>
                      <a:pt x="58" y="103"/>
                      <a:pt x="58" y="103"/>
                    </a:cubicBezTo>
                    <a:cubicBezTo>
                      <a:pt x="58" y="103"/>
                      <a:pt x="61" y="89"/>
                      <a:pt x="61" y="88"/>
                    </a:cubicBezTo>
                    <a:cubicBezTo>
                      <a:pt x="65" y="88"/>
                      <a:pt x="68" y="86"/>
                      <a:pt x="72" y="84"/>
                    </a:cubicBezTo>
                    <a:cubicBezTo>
                      <a:pt x="73" y="85"/>
                      <a:pt x="84" y="92"/>
                      <a:pt x="84" y="92"/>
                    </a:cubicBezTo>
                    <a:cubicBezTo>
                      <a:pt x="92" y="83"/>
                      <a:pt x="92" y="83"/>
                      <a:pt x="92" y="83"/>
                    </a:cubicBezTo>
                    <a:cubicBezTo>
                      <a:pt x="92" y="83"/>
                      <a:pt x="86" y="72"/>
                      <a:pt x="85" y="72"/>
                    </a:cubicBezTo>
                    <a:cubicBezTo>
                      <a:pt x="88" y="68"/>
                      <a:pt x="89" y="64"/>
                      <a:pt x="90" y="60"/>
                    </a:cubicBezTo>
                    <a:cubicBezTo>
                      <a:pt x="92" y="60"/>
                      <a:pt x="104" y="57"/>
                      <a:pt x="104" y="57"/>
                    </a:cubicBezTo>
                    <a:cubicBezTo>
                      <a:pt x="104" y="45"/>
                      <a:pt x="104" y="45"/>
                      <a:pt x="104" y="45"/>
                    </a:cubicBezTo>
                    <a:cubicBezTo>
                      <a:pt x="104" y="45"/>
                      <a:pt x="92" y="42"/>
                      <a:pt x="90" y="42"/>
                    </a:cubicBezTo>
                    <a:cubicBezTo>
                      <a:pt x="88" y="38"/>
                      <a:pt x="87" y="34"/>
                      <a:pt x="84" y="31"/>
                    </a:cubicBezTo>
                    <a:close/>
                    <a:moveTo>
                      <a:pt x="60" y="72"/>
                    </a:moveTo>
                    <a:cubicBezTo>
                      <a:pt x="49" y="77"/>
                      <a:pt x="36" y="72"/>
                      <a:pt x="30" y="60"/>
                    </a:cubicBezTo>
                    <a:cubicBezTo>
                      <a:pt x="26" y="49"/>
                      <a:pt x="31" y="36"/>
                      <a:pt x="42" y="30"/>
                    </a:cubicBezTo>
                    <a:cubicBezTo>
                      <a:pt x="54" y="26"/>
                      <a:pt x="67" y="31"/>
                      <a:pt x="72" y="42"/>
                    </a:cubicBezTo>
                    <a:cubicBezTo>
                      <a:pt x="77" y="54"/>
                      <a:pt x="72" y="67"/>
                      <a:pt x="60" y="72"/>
                    </a:cubicBezTo>
                    <a:close/>
                  </a:path>
                </a:pathLst>
              </a:custGeom>
              <a:solidFill>
                <a:srgbClr val="243A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264" name="Group 1263">
              <a:extLst>
                <a:ext uri="{FF2B5EF4-FFF2-40B4-BE49-F238E27FC236}">
                  <a16:creationId xmlns:a16="http://schemas.microsoft.com/office/drawing/2014/main" id="{65FBA186-7B38-4711-9776-515608835074}"/>
                </a:ext>
              </a:extLst>
            </p:cNvPr>
            <p:cNvGrpSpPr/>
            <p:nvPr/>
          </p:nvGrpSpPr>
          <p:grpSpPr>
            <a:xfrm>
              <a:off x="6242152" y="4107980"/>
              <a:ext cx="499366" cy="499366"/>
              <a:chOff x="7051040" y="3982567"/>
              <a:chExt cx="508000" cy="508000"/>
            </a:xfrm>
          </p:grpSpPr>
          <p:sp>
            <p:nvSpPr>
              <p:cNvPr id="1265" name="Oval 1264">
                <a:extLst>
                  <a:ext uri="{FF2B5EF4-FFF2-40B4-BE49-F238E27FC236}">
                    <a16:creationId xmlns:a16="http://schemas.microsoft.com/office/drawing/2014/main" id="{7D63C1C1-2EE4-463E-83F8-1222242587C5}"/>
                  </a:ext>
                </a:extLst>
              </p:cNvPr>
              <p:cNvSpPr/>
              <p:nvPr/>
            </p:nvSpPr>
            <p:spPr bwMode="auto">
              <a:xfrm>
                <a:off x="7051040" y="3982567"/>
                <a:ext cx="508000" cy="50800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66" name="Freeform: Shape 1265">
                <a:extLst>
                  <a:ext uri="{FF2B5EF4-FFF2-40B4-BE49-F238E27FC236}">
                    <a16:creationId xmlns:a16="http://schemas.microsoft.com/office/drawing/2014/main" id="{C75242FA-4E00-4E5B-A375-5797D7E5567E}"/>
                  </a:ext>
                </a:extLst>
              </p:cNvPr>
              <p:cNvSpPr/>
              <p:nvPr/>
            </p:nvSpPr>
            <p:spPr>
              <a:xfrm>
                <a:off x="7237688" y="4101864"/>
                <a:ext cx="134705" cy="269407"/>
              </a:xfrm>
              <a:custGeom>
                <a:avLst/>
                <a:gdLst>
                  <a:gd name="connsiteX0" fmla="*/ 66148 w 88898"/>
                  <a:gd name="connsiteY0" fmla="*/ 119136 h 177796"/>
                  <a:gd name="connsiteX1" fmla="*/ 52721 w 88898"/>
                  <a:gd name="connsiteY1" fmla="*/ 104145 h 177796"/>
                  <a:gd name="connsiteX2" fmla="*/ 52721 w 88898"/>
                  <a:gd name="connsiteY2" fmla="*/ 132562 h 177796"/>
                  <a:gd name="connsiteX3" fmla="*/ 66148 w 88898"/>
                  <a:gd name="connsiteY3" fmla="*/ 119136 h 177796"/>
                  <a:gd name="connsiteX4" fmla="*/ 39034 w 88898"/>
                  <a:gd name="connsiteY4" fmla="*/ 72404 h 177796"/>
                  <a:gd name="connsiteX5" fmla="*/ 39034 w 88898"/>
                  <a:gd name="connsiteY5" fmla="*/ 42683 h 177796"/>
                  <a:gd name="connsiteX6" fmla="*/ 25998 w 88898"/>
                  <a:gd name="connsiteY6" fmla="*/ 56305 h 177796"/>
                  <a:gd name="connsiteX7" fmla="*/ 39034 w 88898"/>
                  <a:gd name="connsiteY7" fmla="*/ 72404 h 177796"/>
                  <a:gd name="connsiteX8" fmla="*/ 91110 w 88898"/>
                  <a:gd name="connsiteY8" fmla="*/ 117832 h 177796"/>
                  <a:gd name="connsiteX9" fmla="*/ 81334 w 88898"/>
                  <a:gd name="connsiteY9" fmla="*/ 142861 h 177796"/>
                  <a:gd name="connsiteX10" fmla="*/ 52786 w 88898"/>
                  <a:gd name="connsiteY10" fmla="*/ 154462 h 177796"/>
                  <a:gd name="connsiteX11" fmla="*/ 52786 w 88898"/>
                  <a:gd name="connsiteY11" fmla="*/ 176752 h 177796"/>
                  <a:gd name="connsiteX12" fmla="*/ 39099 w 88898"/>
                  <a:gd name="connsiteY12" fmla="*/ 176752 h 177796"/>
                  <a:gd name="connsiteX13" fmla="*/ 39099 w 88898"/>
                  <a:gd name="connsiteY13" fmla="*/ 155048 h 177796"/>
                  <a:gd name="connsiteX14" fmla="*/ 3642 w 88898"/>
                  <a:gd name="connsiteY14" fmla="*/ 146445 h 177796"/>
                  <a:gd name="connsiteX15" fmla="*/ 3642 w 88898"/>
                  <a:gd name="connsiteY15" fmla="*/ 120439 h 177796"/>
                  <a:gd name="connsiteX16" fmla="*/ 19806 w 88898"/>
                  <a:gd name="connsiteY16" fmla="*/ 128456 h 177796"/>
                  <a:gd name="connsiteX17" fmla="*/ 39099 w 88898"/>
                  <a:gd name="connsiteY17" fmla="*/ 132889 h 177796"/>
                  <a:gd name="connsiteX18" fmla="*/ 39099 w 88898"/>
                  <a:gd name="connsiteY18" fmla="*/ 98735 h 177796"/>
                  <a:gd name="connsiteX19" fmla="*/ 9769 w 88898"/>
                  <a:gd name="connsiteY19" fmla="*/ 81920 h 177796"/>
                  <a:gd name="connsiteX20" fmla="*/ 1166 w 88898"/>
                  <a:gd name="connsiteY20" fmla="*/ 57869 h 177796"/>
                  <a:gd name="connsiteX21" fmla="*/ 11790 w 88898"/>
                  <a:gd name="connsiteY21" fmla="*/ 32711 h 177796"/>
                  <a:gd name="connsiteX22" fmla="*/ 39164 w 88898"/>
                  <a:gd name="connsiteY22" fmla="*/ 20784 h 177796"/>
                  <a:gd name="connsiteX23" fmla="*/ 39164 w 88898"/>
                  <a:gd name="connsiteY23" fmla="*/ 1166 h 177796"/>
                  <a:gd name="connsiteX24" fmla="*/ 52852 w 88898"/>
                  <a:gd name="connsiteY24" fmla="*/ 1166 h 177796"/>
                  <a:gd name="connsiteX25" fmla="*/ 52852 w 88898"/>
                  <a:gd name="connsiteY25" fmla="*/ 20393 h 177796"/>
                  <a:gd name="connsiteX26" fmla="*/ 82377 w 88898"/>
                  <a:gd name="connsiteY26" fmla="*/ 26780 h 177796"/>
                  <a:gd name="connsiteX27" fmla="*/ 82377 w 88898"/>
                  <a:gd name="connsiteY27" fmla="*/ 52069 h 177796"/>
                  <a:gd name="connsiteX28" fmla="*/ 52852 w 88898"/>
                  <a:gd name="connsiteY28" fmla="*/ 42292 h 177796"/>
                  <a:gd name="connsiteX29" fmla="*/ 52852 w 88898"/>
                  <a:gd name="connsiteY29" fmla="*/ 77814 h 177796"/>
                  <a:gd name="connsiteX30" fmla="*/ 82377 w 88898"/>
                  <a:gd name="connsiteY30" fmla="*/ 94694 h 177796"/>
                  <a:gd name="connsiteX31" fmla="*/ 91110 w 88898"/>
                  <a:gd name="connsiteY31" fmla="*/ 117832 h 17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898" h="177796">
                    <a:moveTo>
                      <a:pt x="66148" y="119136"/>
                    </a:moveTo>
                    <a:cubicBezTo>
                      <a:pt x="66148" y="113075"/>
                      <a:pt x="61650" y="108056"/>
                      <a:pt x="52721" y="104145"/>
                    </a:cubicBezTo>
                    <a:lnTo>
                      <a:pt x="52721" y="132562"/>
                    </a:lnTo>
                    <a:cubicBezTo>
                      <a:pt x="61716" y="131129"/>
                      <a:pt x="66148" y="126631"/>
                      <a:pt x="66148" y="119136"/>
                    </a:cubicBezTo>
                    <a:close/>
                    <a:moveTo>
                      <a:pt x="39034" y="72404"/>
                    </a:moveTo>
                    <a:lnTo>
                      <a:pt x="39034" y="42683"/>
                    </a:lnTo>
                    <a:cubicBezTo>
                      <a:pt x="30365" y="44247"/>
                      <a:pt x="25998" y="48745"/>
                      <a:pt x="25998" y="56305"/>
                    </a:cubicBezTo>
                    <a:cubicBezTo>
                      <a:pt x="25998" y="62888"/>
                      <a:pt x="30365" y="68233"/>
                      <a:pt x="39034" y="72404"/>
                    </a:cubicBezTo>
                    <a:close/>
                    <a:moveTo>
                      <a:pt x="91110" y="117832"/>
                    </a:moveTo>
                    <a:cubicBezTo>
                      <a:pt x="91110" y="128195"/>
                      <a:pt x="87852" y="136538"/>
                      <a:pt x="81334" y="142861"/>
                    </a:cubicBezTo>
                    <a:cubicBezTo>
                      <a:pt x="74816" y="149182"/>
                      <a:pt x="65300" y="153028"/>
                      <a:pt x="52786" y="154462"/>
                    </a:cubicBezTo>
                    <a:lnTo>
                      <a:pt x="52786" y="176752"/>
                    </a:lnTo>
                    <a:lnTo>
                      <a:pt x="39099" y="176752"/>
                    </a:lnTo>
                    <a:lnTo>
                      <a:pt x="39099" y="155048"/>
                    </a:lnTo>
                    <a:cubicBezTo>
                      <a:pt x="26194" y="154918"/>
                      <a:pt x="14397" y="152050"/>
                      <a:pt x="3642" y="146445"/>
                    </a:cubicBezTo>
                    <a:lnTo>
                      <a:pt x="3642" y="120439"/>
                    </a:lnTo>
                    <a:cubicBezTo>
                      <a:pt x="7032" y="123177"/>
                      <a:pt x="12441" y="125849"/>
                      <a:pt x="19806" y="128456"/>
                    </a:cubicBezTo>
                    <a:cubicBezTo>
                      <a:pt x="27237" y="131063"/>
                      <a:pt x="33624" y="132562"/>
                      <a:pt x="39099" y="132889"/>
                    </a:cubicBezTo>
                    <a:lnTo>
                      <a:pt x="39099" y="98735"/>
                    </a:lnTo>
                    <a:cubicBezTo>
                      <a:pt x="25281" y="93587"/>
                      <a:pt x="15505" y="87981"/>
                      <a:pt x="9769" y="81920"/>
                    </a:cubicBezTo>
                    <a:cubicBezTo>
                      <a:pt x="4033" y="75793"/>
                      <a:pt x="1166" y="67776"/>
                      <a:pt x="1166" y="57869"/>
                    </a:cubicBezTo>
                    <a:cubicBezTo>
                      <a:pt x="1166" y="47963"/>
                      <a:pt x="4685" y="39555"/>
                      <a:pt x="11790" y="32711"/>
                    </a:cubicBezTo>
                    <a:cubicBezTo>
                      <a:pt x="18829" y="25868"/>
                      <a:pt x="27954" y="21892"/>
                      <a:pt x="39164" y="20784"/>
                    </a:cubicBezTo>
                    <a:lnTo>
                      <a:pt x="39164" y="1166"/>
                    </a:lnTo>
                    <a:lnTo>
                      <a:pt x="52852" y="1166"/>
                    </a:lnTo>
                    <a:lnTo>
                      <a:pt x="52852" y="20393"/>
                    </a:lnTo>
                    <a:cubicBezTo>
                      <a:pt x="66017" y="21045"/>
                      <a:pt x="75859" y="23130"/>
                      <a:pt x="82377" y="26780"/>
                    </a:cubicBezTo>
                    <a:lnTo>
                      <a:pt x="82377" y="52069"/>
                    </a:lnTo>
                    <a:cubicBezTo>
                      <a:pt x="73708" y="46790"/>
                      <a:pt x="63866" y="43596"/>
                      <a:pt x="52852" y="42292"/>
                    </a:cubicBezTo>
                    <a:lnTo>
                      <a:pt x="52852" y="77814"/>
                    </a:lnTo>
                    <a:cubicBezTo>
                      <a:pt x="66669" y="82832"/>
                      <a:pt x="76511" y="88438"/>
                      <a:pt x="82377" y="94694"/>
                    </a:cubicBezTo>
                    <a:cubicBezTo>
                      <a:pt x="88178" y="101017"/>
                      <a:pt x="91110" y="108707"/>
                      <a:pt x="91110" y="117832"/>
                    </a:cubicBezTo>
                    <a:close/>
                  </a:path>
                </a:pathLst>
              </a:custGeom>
              <a:solidFill>
                <a:schemeClr val="tx2"/>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1280" name="Group 1279">
            <a:extLst>
              <a:ext uri="{FF2B5EF4-FFF2-40B4-BE49-F238E27FC236}">
                <a16:creationId xmlns:a16="http://schemas.microsoft.com/office/drawing/2014/main" id="{64AF5D7C-E3B3-412C-AEB0-5F36D0B91DC2}"/>
              </a:ext>
              <a:ext uri="{C183D7F6-B498-43B3-948B-1728B52AA6E4}">
                <adec:decorative xmlns:adec="http://schemas.microsoft.com/office/drawing/2017/decorative" val="1"/>
              </a:ext>
            </a:extLst>
          </p:cNvPr>
          <p:cNvGrpSpPr/>
          <p:nvPr/>
        </p:nvGrpSpPr>
        <p:grpSpPr>
          <a:xfrm>
            <a:off x="632275" y="1263056"/>
            <a:ext cx="225102" cy="358477"/>
            <a:chOff x="2056615" y="3578958"/>
            <a:chExt cx="570946" cy="909235"/>
          </a:xfrm>
          <a:effectLst/>
        </p:grpSpPr>
        <p:sp>
          <p:nvSpPr>
            <p:cNvPr id="1281" name="Freeform: Shape 1280">
              <a:extLst>
                <a:ext uri="{FF2B5EF4-FFF2-40B4-BE49-F238E27FC236}">
                  <a16:creationId xmlns:a16="http://schemas.microsoft.com/office/drawing/2014/main" id="{9AA14B33-BB67-408B-8073-F36ED45AEA15}"/>
                </a:ext>
              </a:extLst>
            </p:cNvPr>
            <p:cNvSpPr/>
            <p:nvPr/>
          </p:nvSpPr>
          <p:spPr>
            <a:xfrm>
              <a:off x="2056615" y="3578958"/>
              <a:ext cx="570946" cy="909235"/>
            </a:xfrm>
            <a:custGeom>
              <a:avLst/>
              <a:gdLst>
                <a:gd name="connsiteX0" fmla="*/ 436174 w 436173"/>
                <a:gd name="connsiteY0" fmla="*/ 216824 h 694608"/>
                <a:gd name="connsiteX1" fmla="*/ 219350 w 436173"/>
                <a:gd name="connsiteY1" fmla="*/ 0 h 694608"/>
                <a:gd name="connsiteX2" fmla="*/ 5583 w 436173"/>
                <a:gd name="connsiteY2" fmla="*/ 181196 h 694608"/>
                <a:gd name="connsiteX3" fmla="*/ 94254 w 436173"/>
                <a:gd name="connsiteY3" fmla="*/ 181196 h 694608"/>
                <a:gd name="connsiteX4" fmla="*/ 127489 w 436173"/>
                <a:gd name="connsiteY4" fmla="*/ 124963 h 694608"/>
                <a:gd name="connsiteX5" fmla="*/ 219217 w 436173"/>
                <a:gd name="connsiteY5" fmla="*/ 86809 h 694608"/>
                <a:gd name="connsiteX6" fmla="*/ 310945 w 436173"/>
                <a:gd name="connsiteY6" fmla="*/ 124963 h 694608"/>
                <a:gd name="connsiteX7" fmla="*/ 349099 w 436173"/>
                <a:gd name="connsiteY7" fmla="*/ 216691 h 694608"/>
                <a:gd name="connsiteX8" fmla="*/ 348966 w 436173"/>
                <a:gd name="connsiteY8" fmla="*/ 255111 h 694608"/>
                <a:gd name="connsiteX9" fmla="*/ 0 w 436173"/>
                <a:gd name="connsiteY9" fmla="*/ 255111 h 694608"/>
                <a:gd name="connsiteX10" fmla="*/ 0 w 436173"/>
                <a:gd name="connsiteY10" fmla="*/ 694609 h 694608"/>
                <a:gd name="connsiteX11" fmla="*/ 436174 w 436173"/>
                <a:gd name="connsiteY11" fmla="*/ 694609 h 694608"/>
                <a:gd name="connsiteX12" fmla="*/ 436174 w 436173"/>
                <a:gd name="connsiteY12" fmla="*/ 297386 h 694608"/>
                <a:gd name="connsiteX13" fmla="*/ 436174 w 436173"/>
                <a:gd name="connsiteY13" fmla="*/ 216824 h 69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6173" h="694608">
                  <a:moveTo>
                    <a:pt x="436174" y="216824"/>
                  </a:moveTo>
                  <a:cubicBezTo>
                    <a:pt x="436174" y="97578"/>
                    <a:pt x="338596" y="0"/>
                    <a:pt x="219350" y="0"/>
                  </a:cubicBezTo>
                  <a:cubicBezTo>
                    <a:pt x="112201" y="0"/>
                    <a:pt x="22733" y="78833"/>
                    <a:pt x="5583" y="181196"/>
                  </a:cubicBezTo>
                  <a:lnTo>
                    <a:pt x="94254" y="181196"/>
                  </a:lnTo>
                  <a:cubicBezTo>
                    <a:pt x="100236" y="160325"/>
                    <a:pt x="111536" y="141048"/>
                    <a:pt x="127489" y="124963"/>
                  </a:cubicBezTo>
                  <a:cubicBezTo>
                    <a:pt x="152083" y="100369"/>
                    <a:pt x="184786" y="86809"/>
                    <a:pt x="219217" y="86809"/>
                  </a:cubicBezTo>
                  <a:cubicBezTo>
                    <a:pt x="253649" y="86809"/>
                    <a:pt x="286352" y="100369"/>
                    <a:pt x="310945" y="124963"/>
                  </a:cubicBezTo>
                  <a:cubicBezTo>
                    <a:pt x="335539" y="149557"/>
                    <a:pt x="349099" y="182260"/>
                    <a:pt x="349099" y="216691"/>
                  </a:cubicBezTo>
                  <a:cubicBezTo>
                    <a:pt x="349099" y="223604"/>
                    <a:pt x="349099" y="229321"/>
                    <a:pt x="348966" y="255111"/>
                  </a:cubicBezTo>
                  <a:lnTo>
                    <a:pt x="0" y="255111"/>
                  </a:lnTo>
                  <a:lnTo>
                    <a:pt x="0" y="694609"/>
                  </a:lnTo>
                  <a:lnTo>
                    <a:pt x="436174" y="694609"/>
                  </a:lnTo>
                  <a:lnTo>
                    <a:pt x="436174" y="297386"/>
                  </a:lnTo>
                  <a:cubicBezTo>
                    <a:pt x="436174" y="258035"/>
                    <a:pt x="436174" y="226263"/>
                    <a:pt x="436174" y="216824"/>
                  </a:cubicBezTo>
                  <a:close/>
                </a:path>
              </a:pathLst>
            </a:custGeom>
            <a:solidFill>
              <a:schemeClr val="accent5"/>
            </a:solidFill>
            <a:ln w="785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82" name="Freeform: Shape 1281">
              <a:extLst>
                <a:ext uri="{FF2B5EF4-FFF2-40B4-BE49-F238E27FC236}">
                  <a16:creationId xmlns:a16="http://schemas.microsoft.com/office/drawing/2014/main" id="{390D7A55-E2F4-4468-81FD-9F99EAC2289A}"/>
                </a:ext>
              </a:extLst>
            </p:cNvPr>
            <p:cNvSpPr/>
            <p:nvPr/>
          </p:nvSpPr>
          <p:spPr>
            <a:xfrm>
              <a:off x="2246407" y="4000120"/>
              <a:ext cx="191361" cy="382720"/>
            </a:xfrm>
            <a:custGeom>
              <a:avLst/>
              <a:gdLst>
                <a:gd name="connsiteX0" fmla="*/ 66148 w 88898"/>
                <a:gd name="connsiteY0" fmla="*/ 119136 h 177796"/>
                <a:gd name="connsiteX1" fmla="*/ 52721 w 88898"/>
                <a:gd name="connsiteY1" fmla="*/ 104145 h 177796"/>
                <a:gd name="connsiteX2" fmla="*/ 52721 w 88898"/>
                <a:gd name="connsiteY2" fmla="*/ 132562 h 177796"/>
                <a:gd name="connsiteX3" fmla="*/ 66148 w 88898"/>
                <a:gd name="connsiteY3" fmla="*/ 119136 h 177796"/>
                <a:gd name="connsiteX4" fmla="*/ 39034 w 88898"/>
                <a:gd name="connsiteY4" fmla="*/ 72404 h 177796"/>
                <a:gd name="connsiteX5" fmla="*/ 39034 w 88898"/>
                <a:gd name="connsiteY5" fmla="*/ 42683 h 177796"/>
                <a:gd name="connsiteX6" fmla="*/ 25998 w 88898"/>
                <a:gd name="connsiteY6" fmla="*/ 56305 h 177796"/>
                <a:gd name="connsiteX7" fmla="*/ 39034 w 88898"/>
                <a:gd name="connsiteY7" fmla="*/ 72404 h 177796"/>
                <a:gd name="connsiteX8" fmla="*/ 91110 w 88898"/>
                <a:gd name="connsiteY8" fmla="*/ 117832 h 177796"/>
                <a:gd name="connsiteX9" fmla="*/ 81334 w 88898"/>
                <a:gd name="connsiteY9" fmla="*/ 142861 h 177796"/>
                <a:gd name="connsiteX10" fmla="*/ 52786 w 88898"/>
                <a:gd name="connsiteY10" fmla="*/ 154462 h 177796"/>
                <a:gd name="connsiteX11" fmla="*/ 52786 w 88898"/>
                <a:gd name="connsiteY11" fmla="*/ 176752 h 177796"/>
                <a:gd name="connsiteX12" fmla="*/ 39099 w 88898"/>
                <a:gd name="connsiteY12" fmla="*/ 176752 h 177796"/>
                <a:gd name="connsiteX13" fmla="*/ 39099 w 88898"/>
                <a:gd name="connsiteY13" fmla="*/ 155048 h 177796"/>
                <a:gd name="connsiteX14" fmla="*/ 3642 w 88898"/>
                <a:gd name="connsiteY14" fmla="*/ 146445 h 177796"/>
                <a:gd name="connsiteX15" fmla="*/ 3642 w 88898"/>
                <a:gd name="connsiteY15" fmla="*/ 120439 h 177796"/>
                <a:gd name="connsiteX16" fmla="*/ 19806 w 88898"/>
                <a:gd name="connsiteY16" fmla="*/ 128456 h 177796"/>
                <a:gd name="connsiteX17" fmla="*/ 39099 w 88898"/>
                <a:gd name="connsiteY17" fmla="*/ 132889 h 177796"/>
                <a:gd name="connsiteX18" fmla="*/ 39099 w 88898"/>
                <a:gd name="connsiteY18" fmla="*/ 98735 h 177796"/>
                <a:gd name="connsiteX19" fmla="*/ 9769 w 88898"/>
                <a:gd name="connsiteY19" fmla="*/ 81920 h 177796"/>
                <a:gd name="connsiteX20" fmla="*/ 1166 w 88898"/>
                <a:gd name="connsiteY20" fmla="*/ 57869 h 177796"/>
                <a:gd name="connsiteX21" fmla="*/ 11790 w 88898"/>
                <a:gd name="connsiteY21" fmla="*/ 32711 h 177796"/>
                <a:gd name="connsiteX22" fmla="*/ 39164 w 88898"/>
                <a:gd name="connsiteY22" fmla="*/ 20784 h 177796"/>
                <a:gd name="connsiteX23" fmla="*/ 39164 w 88898"/>
                <a:gd name="connsiteY23" fmla="*/ 1166 h 177796"/>
                <a:gd name="connsiteX24" fmla="*/ 52852 w 88898"/>
                <a:gd name="connsiteY24" fmla="*/ 1166 h 177796"/>
                <a:gd name="connsiteX25" fmla="*/ 52852 w 88898"/>
                <a:gd name="connsiteY25" fmla="*/ 20393 h 177796"/>
                <a:gd name="connsiteX26" fmla="*/ 82377 w 88898"/>
                <a:gd name="connsiteY26" fmla="*/ 26780 h 177796"/>
                <a:gd name="connsiteX27" fmla="*/ 82377 w 88898"/>
                <a:gd name="connsiteY27" fmla="*/ 52069 h 177796"/>
                <a:gd name="connsiteX28" fmla="*/ 52852 w 88898"/>
                <a:gd name="connsiteY28" fmla="*/ 42292 h 177796"/>
                <a:gd name="connsiteX29" fmla="*/ 52852 w 88898"/>
                <a:gd name="connsiteY29" fmla="*/ 77814 h 177796"/>
                <a:gd name="connsiteX30" fmla="*/ 82377 w 88898"/>
                <a:gd name="connsiteY30" fmla="*/ 94694 h 177796"/>
                <a:gd name="connsiteX31" fmla="*/ 91110 w 88898"/>
                <a:gd name="connsiteY31" fmla="*/ 117832 h 17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898" h="177796">
                  <a:moveTo>
                    <a:pt x="66148" y="119136"/>
                  </a:moveTo>
                  <a:cubicBezTo>
                    <a:pt x="66148" y="113075"/>
                    <a:pt x="61650" y="108056"/>
                    <a:pt x="52721" y="104145"/>
                  </a:cubicBezTo>
                  <a:lnTo>
                    <a:pt x="52721" y="132562"/>
                  </a:lnTo>
                  <a:cubicBezTo>
                    <a:pt x="61716" y="131129"/>
                    <a:pt x="66148" y="126631"/>
                    <a:pt x="66148" y="119136"/>
                  </a:cubicBezTo>
                  <a:close/>
                  <a:moveTo>
                    <a:pt x="39034" y="72404"/>
                  </a:moveTo>
                  <a:lnTo>
                    <a:pt x="39034" y="42683"/>
                  </a:lnTo>
                  <a:cubicBezTo>
                    <a:pt x="30365" y="44247"/>
                    <a:pt x="25998" y="48745"/>
                    <a:pt x="25998" y="56305"/>
                  </a:cubicBezTo>
                  <a:cubicBezTo>
                    <a:pt x="25998" y="62888"/>
                    <a:pt x="30365" y="68233"/>
                    <a:pt x="39034" y="72404"/>
                  </a:cubicBezTo>
                  <a:close/>
                  <a:moveTo>
                    <a:pt x="91110" y="117832"/>
                  </a:moveTo>
                  <a:cubicBezTo>
                    <a:pt x="91110" y="128195"/>
                    <a:pt x="87852" y="136538"/>
                    <a:pt x="81334" y="142861"/>
                  </a:cubicBezTo>
                  <a:cubicBezTo>
                    <a:pt x="74816" y="149182"/>
                    <a:pt x="65300" y="153028"/>
                    <a:pt x="52786" y="154462"/>
                  </a:cubicBezTo>
                  <a:lnTo>
                    <a:pt x="52786" y="176752"/>
                  </a:lnTo>
                  <a:lnTo>
                    <a:pt x="39099" y="176752"/>
                  </a:lnTo>
                  <a:lnTo>
                    <a:pt x="39099" y="155048"/>
                  </a:lnTo>
                  <a:cubicBezTo>
                    <a:pt x="26194" y="154918"/>
                    <a:pt x="14397" y="152050"/>
                    <a:pt x="3642" y="146445"/>
                  </a:cubicBezTo>
                  <a:lnTo>
                    <a:pt x="3642" y="120439"/>
                  </a:lnTo>
                  <a:cubicBezTo>
                    <a:pt x="7032" y="123177"/>
                    <a:pt x="12441" y="125849"/>
                    <a:pt x="19806" y="128456"/>
                  </a:cubicBezTo>
                  <a:cubicBezTo>
                    <a:pt x="27237" y="131063"/>
                    <a:pt x="33624" y="132562"/>
                    <a:pt x="39099" y="132889"/>
                  </a:cubicBezTo>
                  <a:lnTo>
                    <a:pt x="39099" y="98735"/>
                  </a:lnTo>
                  <a:cubicBezTo>
                    <a:pt x="25281" y="93587"/>
                    <a:pt x="15505" y="87981"/>
                    <a:pt x="9769" y="81920"/>
                  </a:cubicBezTo>
                  <a:cubicBezTo>
                    <a:pt x="4033" y="75793"/>
                    <a:pt x="1166" y="67776"/>
                    <a:pt x="1166" y="57869"/>
                  </a:cubicBezTo>
                  <a:cubicBezTo>
                    <a:pt x="1166" y="47963"/>
                    <a:pt x="4685" y="39555"/>
                    <a:pt x="11790" y="32711"/>
                  </a:cubicBezTo>
                  <a:cubicBezTo>
                    <a:pt x="18829" y="25868"/>
                    <a:pt x="27954" y="21892"/>
                    <a:pt x="39164" y="20784"/>
                  </a:cubicBezTo>
                  <a:lnTo>
                    <a:pt x="39164" y="1166"/>
                  </a:lnTo>
                  <a:lnTo>
                    <a:pt x="52852" y="1166"/>
                  </a:lnTo>
                  <a:lnTo>
                    <a:pt x="52852" y="20393"/>
                  </a:lnTo>
                  <a:cubicBezTo>
                    <a:pt x="66017" y="21045"/>
                    <a:pt x="75859" y="23130"/>
                    <a:pt x="82377" y="26780"/>
                  </a:cubicBezTo>
                  <a:lnTo>
                    <a:pt x="82377" y="52069"/>
                  </a:lnTo>
                  <a:cubicBezTo>
                    <a:pt x="73708" y="46790"/>
                    <a:pt x="63866" y="43596"/>
                    <a:pt x="52852" y="42292"/>
                  </a:cubicBezTo>
                  <a:lnTo>
                    <a:pt x="52852" y="77814"/>
                  </a:lnTo>
                  <a:cubicBezTo>
                    <a:pt x="66669" y="82832"/>
                    <a:pt x="76511" y="88438"/>
                    <a:pt x="82377" y="94694"/>
                  </a:cubicBezTo>
                  <a:cubicBezTo>
                    <a:pt x="88178" y="101017"/>
                    <a:pt x="91110" y="108707"/>
                    <a:pt x="91110" y="117832"/>
                  </a:cubicBezTo>
                  <a:close/>
                </a:path>
              </a:pathLst>
            </a:custGeom>
            <a:solidFill>
              <a:schemeClr val="tx2"/>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188" name="Rectangle: Rounded Corners 1187">
            <a:extLst>
              <a:ext uri="{FF2B5EF4-FFF2-40B4-BE49-F238E27FC236}">
                <a16:creationId xmlns:a16="http://schemas.microsoft.com/office/drawing/2014/main" id="{FD86D2AC-855F-444D-BA6F-5253C8183C4A}"/>
              </a:ext>
            </a:extLst>
          </p:cNvPr>
          <p:cNvSpPr/>
          <p:nvPr/>
        </p:nvSpPr>
        <p:spPr bwMode="auto">
          <a:xfrm>
            <a:off x="430341" y="2299940"/>
            <a:ext cx="3701063" cy="3043178"/>
          </a:xfrm>
          <a:prstGeom prst="roundRect">
            <a:avLst>
              <a:gd name="adj" fmla="val 4312"/>
            </a:avLst>
          </a:prstGeom>
          <a:solidFill>
            <a:schemeClr val="bg1"/>
          </a:solid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gradFill>
                  <a:gsLst>
                    <a:gs pos="54400">
                      <a:srgbClr val="243A5E"/>
                    </a:gs>
                    <a:gs pos="100000">
                      <a:srgbClr val="243A5E"/>
                    </a:gs>
                  </a:gsLst>
                  <a:lin ang="0" scaled="0"/>
                </a:gradFill>
                <a:effectLst/>
                <a:uLnTx/>
                <a:uFillTx/>
                <a:latin typeface="Segoe UI Semibold"/>
                <a:ea typeface="+mn-ea"/>
                <a:cs typeface="Segoe UI" panose="020B0502040204020203" pitchFamily="34" charset="0"/>
              </a:rPr>
              <a:t>Compute usage across the world </a:t>
            </a:r>
            <a:br>
              <a:rPr kumimoji="0" lang="en-US" sz="1400" b="0" i="0" u="none" strike="noStrike" kern="1200" cap="none" spc="0" normalizeH="0" baseline="0" noProof="0">
                <a:ln>
                  <a:noFill/>
                </a:ln>
                <a:gradFill>
                  <a:gsLst>
                    <a:gs pos="54400">
                      <a:srgbClr val="243A5E"/>
                    </a:gs>
                    <a:gs pos="100000">
                      <a:srgbClr val="243A5E"/>
                    </a:gs>
                  </a:gsLst>
                  <a:lin ang="0" scaled="0"/>
                </a:gradFill>
                <a:effectLst/>
                <a:uLnTx/>
                <a:uFillTx/>
                <a:latin typeface="Segoe UI Semibold"/>
                <a:ea typeface="+mn-ea"/>
                <a:cs typeface="Segoe UI" panose="020B0502040204020203" pitchFamily="34" charset="0"/>
              </a:rPr>
            </a:br>
            <a:r>
              <a:rPr kumimoji="0" lang="en-US" sz="1400" b="0" i="0" u="none" strike="noStrike" kern="1200" cap="none" spc="0" normalizeH="0" baseline="0" noProof="0">
                <a:ln>
                  <a:noFill/>
                </a:ln>
                <a:gradFill>
                  <a:gsLst>
                    <a:gs pos="54400">
                      <a:srgbClr val="243A5E"/>
                    </a:gs>
                    <a:gs pos="100000">
                      <a:srgbClr val="243A5E"/>
                    </a:gs>
                  </a:gsLst>
                  <a:lin ang="0" scaled="0"/>
                </a:gradFill>
                <a:effectLst/>
                <a:uLnTx/>
                <a:uFillTx/>
                <a:latin typeface="Segoe UI Semibold"/>
                <a:ea typeface="+mn-ea"/>
                <a:cs typeface="Segoe UI" panose="020B0502040204020203" pitchFamily="34" charset="0"/>
              </a:rPr>
              <a:t>is covered by the plan at reduced prices, helping you get more value from your cloud investment</a:t>
            </a:r>
          </a:p>
          <a:p>
            <a:pPr marL="231775" marR="0" lvl="0" indent="-231775" algn="l" defTabSz="914400" rtl="0" eaLnBrk="1" fontAlgn="auto" latinLnBrk="0" hangingPunct="1">
              <a:lnSpc>
                <a:spcPct val="100000"/>
              </a:lnSpc>
              <a:spcBef>
                <a:spcPts val="0"/>
              </a:spcBef>
              <a:spcAft>
                <a:spcPts val="1200"/>
              </a:spcAft>
              <a:buClrTx/>
              <a:buSzTx/>
              <a:buFontTx/>
              <a:buBlip>
                <a:blip r:embed="rId3"/>
              </a:buBlip>
              <a:tabLst/>
              <a:defRPr/>
            </a:pPr>
            <a:r>
              <a:rPr kumimoji="0" lang="en-US" sz="12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Save on compute usage regardless of region, instance series, or operating system</a:t>
            </a:r>
          </a:p>
          <a:p>
            <a:pPr marL="231775" marR="0" lvl="0" indent="-231775" algn="l" defTabSz="914400" rtl="0" eaLnBrk="1" fontAlgn="auto" latinLnBrk="0" hangingPunct="1">
              <a:lnSpc>
                <a:spcPct val="100000"/>
              </a:lnSpc>
              <a:spcBef>
                <a:spcPts val="0"/>
              </a:spcBef>
              <a:spcAft>
                <a:spcPts val="1200"/>
              </a:spcAft>
              <a:buClrTx/>
              <a:buSzTx/>
              <a:buFontTx/>
              <a:buBlip>
                <a:blip r:embed="rId3"/>
              </a:buBlip>
              <a:tabLst/>
              <a:defRPr/>
            </a:pPr>
            <a:r>
              <a:rPr kumimoji="0" lang="en-US" sz="12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Biggest savings are automatically applied first, allowing you get the best value from your hourly commitment</a:t>
            </a:r>
          </a:p>
          <a:p>
            <a:pPr marL="231775" marR="0" lvl="0" indent="-231775" algn="l" defTabSz="914400" rtl="0" eaLnBrk="1" fontAlgn="auto" latinLnBrk="0" hangingPunct="1">
              <a:lnSpc>
                <a:spcPct val="100000"/>
              </a:lnSpc>
              <a:spcBef>
                <a:spcPts val="0"/>
              </a:spcBef>
              <a:spcAft>
                <a:spcPts val="1200"/>
              </a:spcAft>
              <a:buClrTx/>
              <a:buSzTx/>
              <a:buFontTx/>
              <a:buBlip>
                <a:blip r:embed="rId3"/>
              </a:buBlip>
              <a:tabLst/>
              <a:defRPr/>
            </a:pPr>
            <a:r>
              <a:rPr kumimoji="0" lang="en-US" sz="12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Modernize workloads and continue saving as needs change over time</a:t>
            </a:r>
          </a:p>
        </p:txBody>
      </p:sp>
      <p:sp>
        <p:nvSpPr>
          <p:cNvPr id="1208" name="TextBox 1207">
            <a:extLst>
              <a:ext uri="{FF2B5EF4-FFF2-40B4-BE49-F238E27FC236}">
                <a16:creationId xmlns:a16="http://schemas.microsoft.com/office/drawing/2014/main" id="{BD9C2B6E-C87B-405E-B13A-EB4B90CF78C6}"/>
              </a:ext>
            </a:extLst>
          </p:cNvPr>
          <p:cNvSpPr txBox="1"/>
          <p:nvPr/>
        </p:nvSpPr>
        <p:spPr>
          <a:xfrm>
            <a:off x="463460" y="5796682"/>
            <a:ext cx="5412059" cy="440890"/>
          </a:xfrm>
          <a:prstGeom prst="rect">
            <a:avLst/>
          </a:prstGeom>
          <a:noFill/>
        </p:spPr>
        <p:txBody>
          <a:bodyPr wrap="none" lIns="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050" b="0" i="1"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For illustrative purposes only. Refer to the Azure geographies page for global availability.</a:t>
            </a:r>
          </a:p>
        </p:txBody>
      </p:sp>
      <p:graphicFrame>
        <p:nvGraphicFramePr>
          <p:cNvPr id="1088" name="Table 1088">
            <a:extLst>
              <a:ext uri="{FF2B5EF4-FFF2-40B4-BE49-F238E27FC236}">
                <a16:creationId xmlns:a16="http://schemas.microsoft.com/office/drawing/2014/main" id="{43140548-FB0B-4197-B356-767AED34A86A}"/>
              </a:ext>
            </a:extLst>
          </p:cNvPr>
          <p:cNvGraphicFramePr>
            <a:graphicFrameLocks noGrp="1"/>
          </p:cNvGraphicFramePr>
          <p:nvPr/>
        </p:nvGraphicFramePr>
        <p:xfrm>
          <a:off x="6357232" y="5351305"/>
          <a:ext cx="5542668" cy="963418"/>
        </p:xfrm>
        <a:graphic>
          <a:graphicData uri="http://schemas.openxmlformats.org/drawingml/2006/table">
            <a:tbl>
              <a:tblPr firstRow="1" bandRow="1">
                <a:tableStyleId>{5C22544A-7EE6-4342-B048-85BDC9FD1C3A}</a:tableStyleId>
              </a:tblPr>
              <a:tblGrid>
                <a:gridCol w="317629">
                  <a:extLst>
                    <a:ext uri="{9D8B030D-6E8A-4147-A177-3AD203B41FA5}">
                      <a16:colId xmlns:a16="http://schemas.microsoft.com/office/drawing/2014/main" val="2070291190"/>
                    </a:ext>
                  </a:extLst>
                </a:gridCol>
                <a:gridCol w="1776989">
                  <a:extLst>
                    <a:ext uri="{9D8B030D-6E8A-4147-A177-3AD203B41FA5}">
                      <a16:colId xmlns:a16="http://schemas.microsoft.com/office/drawing/2014/main" val="2645245709"/>
                    </a:ext>
                  </a:extLst>
                </a:gridCol>
                <a:gridCol w="161086">
                  <a:extLst>
                    <a:ext uri="{9D8B030D-6E8A-4147-A177-3AD203B41FA5}">
                      <a16:colId xmlns:a16="http://schemas.microsoft.com/office/drawing/2014/main" val="3383003656"/>
                    </a:ext>
                  </a:extLst>
                </a:gridCol>
                <a:gridCol w="1458164">
                  <a:extLst>
                    <a:ext uri="{9D8B030D-6E8A-4147-A177-3AD203B41FA5}">
                      <a16:colId xmlns:a16="http://schemas.microsoft.com/office/drawing/2014/main" val="2560982114"/>
                    </a:ext>
                  </a:extLst>
                </a:gridCol>
                <a:gridCol w="273050">
                  <a:extLst>
                    <a:ext uri="{9D8B030D-6E8A-4147-A177-3AD203B41FA5}">
                      <a16:colId xmlns:a16="http://schemas.microsoft.com/office/drawing/2014/main" val="2433709919"/>
                    </a:ext>
                  </a:extLst>
                </a:gridCol>
                <a:gridCol w="1555750">
                  <a:extLst>
                    <a:ext uri="{9D8B030D-6E8A-4147-A177-3AD203B41FA5}">
                      <a16:colId xmlns:a16="http://schemas.microsoft.com/office/drawing/2014/main" val="866662145"/>
                    </a:ext>
                  </a:extLst>
                </a:gridCol>
              </a:tblGrid>
              <a:tr h="343135">
                <a:tc gridSpan="6">
                  <a:txBody>
                    <a:bodyPr/>
                    <a:lstStyle/>
                    <a:p>
                      <a:r>
                        <a:rPr lang="en-US" sz="1200" kern="1200">
                          <a:gradFill>
                            <a:gsLst>
                              <a:gs pos="1250">
                                <a:srgbClr val="1A1A1A"/>
                              </a:gs>
                              <a:gs pos="100000">
                                <a:srgbClr val="1A1A1A"/>
                              </a:gs>
                            </a:gsLst>
                            <a:lin ang="5400000" scaled="0"/>
                          </a:gradFill>
                          <a:latin typeface="Segoe UI Semibold"/>
                          <a:ea typeface="+mn-ea"/>
                          <a:cs typeface="Arial" panose="020B0604020202020204" pitchFamily="34" charset="0"/>
                        </a:rPr>
                        <a:t>Compute products and services covered by the plan:</a:t>
                      </a:r>
                    </a:p>
                  </a:txBody>
                  <a:tcPr marL="45720" marR="4572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sz="1200" kern="1200">
                        <a:gradFill>
                          <a:gsLst>
                            <a:gs pos="1250">
                              <a:srgbClr val="1A1A1A"/>
                            </a:gs>
                            <a:gs pos="100000">
                              <a:srgbClr val="1A1A1A"/>
                            </a:gs>
                          </a:gsLst>
                          <a:lin ang="5400000" scaled="0"/>
                        </a:gradFill>
                        <a:latin typeface="Segoe UI Semibold"/>
                        <a:ea typeface="+mn-ea"/>
                        <a:cs typeface="Arial" panose="020B0604020202020204" pitchFamily="34" charset="0"/>
                      </a:endParaRPr>
                    </a:p>
                  </a:txBody>
                  <a:tcPr marL="1828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hMerge="1">
                  <a:txBody>
                    <a:bodyPr/>
                    <a:lstStyle/>
                    <a:p>
                      <a:endParaRPr lang="en-US" sz="1200" kern="1200">
                        <a:gradFill>
                          <a:gsLst>
                            <a:gs pos="1250">
                              <a:srgbClr val="1A1A1A"/>
                            </a:gs>
                            <a:gs pos="100000">
                              <a:srgbClr val="1A1A1A"/>
                            </a:gs>
                          </a:gsLst>
                          <a:lin ang="5400000" scaled="0"/>
                        </a:gradFill>
                        <a:latin typeface="Segoe UI Semibold"/>
                        <a:ea typeface="+mn-ea"/>
                        <a:cs typeface="Arial" panose="020B0604020202020204" pitchFamily="34" charset="0"/>
                      </a:endParaRPr>
                    </a:p>
                  </a:txBody>
                  <a:tcPr marL="1828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59931765"/>
                  </a:ext>
                </a:extLst>
              </a:tr>
              <a:tr h="300243">
                <a:tc>
                  <a:txBody>
                    <a:bodyPr/>
                    <a:lstStyle/>
                    <a:p>
                      <a:pPr algn="ctr"/>
                      <a:r>
                        <a:rPr lang="en-US" sz="2000">
                          <a:solidFill>
                            <a:schemeClr val="accent4"/>
                          </a:solidFill>
                        </a:rPr>
                        <a:t>●</a:t>
                      </a:r>
                    </a:p>
                  </a:txBody>
                  <a:tcPr marL="45720" marR="45720" marT="0" marB="0" anchor="ctr">
                    <a:lnL w="28575" cap="flat" cmpd="sng" algn="ctr">
                      <a:no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050" kern="1200" dirty="0">
                          <a:solidFill>
                            <a:schemeClr val="tx2"/>
                          </a:solidFill>
                          <a:latin typeface="Segoe UI Semibold"/>
                          <a:ea typeface="+mn-ea"/>
                          <a:cs typeface="Arial" panose="020B0604020202020204" pitchFamily="34" charset="0"/>
                        </a:rPr>
                        <a:t>Azure Virtual Machines*</a:t>
                      </a:r>
                    </a:p>
                  </a:txBody>
                  <a:tcPr marL="45720" marR="4572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07C0F"/>
                          </a:solidFill>
                          <a:effectLst/>
                          <a:uLnTx/>
                          <a:uFillTx/>
                          <a:latin typeface="Segoe UI"/>
                          <a:ea typeface="+mn-ea"/>
                          <a:cs typeface="+mn-cs"/>
                        </a:rPr>
                        <a:t>▲</a:t>
                      </a:r>
                    </a:p>
                  </a:txBody>
                  <a:tcPr marL="45720" marR="4572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050" kern="1200">
                          <a:solidFill>
                            <a:srgbClr val="107C0F"/>
                          </a:solidFill>
                          <a:latin typeface="Segoe UI Semibold"/>
                          <a:ea typeface="+mn-ea"/>
                          <a:cs typeface="Arial" panose="020B0604020202020204" pitchFamily="34" charset="0"/>
                        </a:rPr>
                        <a:t>Azure Functions Premium Plan</a:t>
                      </a:r>
                    </a:p>
                  </a:txBody>
                  <a:tcPr marL="45720" marR="45720" marT="0" marB="0" anchor="ctr">
                    <a:lnL w="12700" cmpd="sng">
                      <a:noFill/>
                    </a:lnL>
                    <a:lnR w="28575"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8561C5"/>
                          </a:solidFill>
                          <a:effectLst/>
                          <a:uLnTx/>
                          <a:uFillTx/>
                          <a:latin typeface="Segoe UI"/>
                          <a:ea typeface="+mn-ea"/>
                          <a:cs typeface="+mn-cs"/>
                          <a:sym typeface="Symbol" panose="05050102010706020507" pitchFamily="18" charset="2"/>
                        </a:rPr>
                        <a:t></a:t>
                      </a:r>
                      <a:endParaRPr kumimoji="0" lang="en-US" sz="1400" b="0" i="0" u="none" strike="noStrike" kern="1200" cap="none" spc="0" normalizeH="0" baseline="0" noProof="0">
                        <a:ln>
                          <a:noFill/>
                        </a:ln>
                        <a:solidFill>
                          <a:srgbClr val="8561C5"/>
                        </a:solidFill>
                        <a:effectLst/>
                        <a:uLnTx/>
                        <a:uFillTx/>
                        <a:latin typeface="Segoe UI"/>
                        <a:ea typeface="+mn-ea"/>
                        <a:cs typeface="+mn-cs"/>
                      </a:endParaRPr>
                    </a:p>
                  </a:txBody>
                  <a:tcPr marL="45720" marR="45720" marT="0" marB="0" anchor="ctr">
                    <a:lnL w="12700" cmpd="sng">
                      <a:noFill/>
                    </a:lnL>
                    <a:lnR w="28575"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r>
                        <a:rPr lang="en-US" sz="1050" kern="1200" dirty="0">
                          <a:solidFill>
                            <a:srgbClr val="8561C5"/>
                          </a:solidFill>
                          <a:latin typeface="Segoe UI Semibold"/>
                          <a:ea typeface="+mn-ea"/>
                          <a:cs typeface="Arial" panose="020B0604020202020204" pitchFamily="34" charset="0"/>
                        </a:rPr>
                        <a:t>Azure App Service**</a:t>
                      </a:r>
                    </a:p>
                  </a:txBody>
                  <a:tcPr marL="45720" marR="45720" marT="0" marB="0" anchor="ctr">
                    <a:lnL w="12700" cmpd="sng">
                      <a:noFill/>
                    </a:lnL>
                    <a:lnR w="28575"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2462467"/>
                  </a:ext>
                </a:extLst>
              </a:tr>
              <a:tr h="300243">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43A5F"/>
                          </a:solidFill>
                          <a:effectLst/>
                          <a:uLnTx/>
                          <a:uFillTx/>
                          <a:latin typeface="Segoe UI"/>
                          <a:ea typeface="+mn-ea"/>
                          <a:cs typeface="+mn-cs"/>
                        </a:rPr>
                        <a:t>■</a:t>
                      </a:r>
                    </a:p>
                  </a:txBody>
                  <a:tcPr marL="45720" marR="45720" marT="0" marB="0" anchor="ctr">
                    <a:lnL w="285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050" kern="1200">
                          <a:solidFill>
                            <a:srgbClr val="243A5F"/>
                          </a:solidFill>
                          <a:latin typeface="Segoe UI Semibold"/>
                          <a:ea typeface="+mn-ea"/>
                          <a:cs typeface="Arial" panose="020B0604020202020204" pitchFamily="34" charset="0"/>
                        </a:rPr>
                        <a:t>Azure Container Instances</a:t>
                      </a:r>
                    </a:p>
                  </a:txBody>
                  <a:tcPr marL="45720" marR="457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Segoe UI"/>
                          <a:ea typeface="+mn-ea"/>
                          <a:cs typeface="+mn-cs"/>
                        </a:rPr>
                        <a:t>○</a:t>
                      </a:r>
                    </a:p>
                  </a:txBody>
                  <a:tcPr marL="45720" marR="4572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050" kern="1200">
                          <a:gradFill>
                            <a:gsLst>
                              <a:gs pos="1250">
                                <a:srgbClr val="1A1A1A"/>
                              </a:gs>
                              <a:gs pos="100000">
                                <a:srgbClr val="1A1A1A"/>
                              </a:gs>
                            </a:gsLst>
                            <a:lin ang="5400000" scaled="0"/>
                          </a:gradFill>
                          <a:latin typeface="Segoe UI Semibold"/>
                          <a:ea typeface="+mn-ea"/>
                          <a:cs typeface="Arial" panose="020B0604020202020204" pitchFamily="34" charset="0"/>
                        </a:rPr>
                        <a:t>Azure Dedicated Host</a:t>
                      </a:r>
                    </a:p>
                  </a:txBody>
                  <a:tcPr marL="45720" marR="45720" marT="0" marB="0"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050" kern="1200">
                        <a:gradFill>
                          <a:gsLst>
                            <a:gs pos="1250">
                              <a:srgbClr val="1A1A1A"/>
                            </a:gs>
                            <a:gs pos="100000">
                              <a:srgbClr val="1A1A1A"/>
                            </a:gs>
                          </a:gsLst>
                          <a:lin ang="5400000" scaled="0"/>
                        </a:gradFill>
                        <a:latin typeface="Segoe UI Semibold"/>
                        <a:ea typeface="+mn-ea"/>
                        <a:cs typeface="Arial" panose="020B0604020202020204" pitchFamily="34" charset="0"/>
                      </a:endParaRPr>
                    </a:p>
                  </a:txBody>
                  <a:tcPr marL="45720" marR="45720" marT="0" marB="0"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50" kern="1200" dirty="0">
                        <a:gradFill>
                          <a:gsLst>
                            <a:gs pos="1250">
                              <a:srgbClr val="1A1A1A"/>
                            </a:gs>
                            <a:gs pos="100000">
                              <a:srgbClr val="1A1A1A"/>
                            </a:gs>
                          </a:gsLst>
                          <a:lin ang="5400000" scaled="0"/>
                        </a:gradFill>
                        <a:latin typeface="Segoe UI Semibold"/>
                        <a:ea typeface="+mn-ea"/>
                        <a:cs typeface="Arial" panose="020B0604020202020204" pitchFamily="34" charset="0"/>
                      </a:endParaRPr>
                    </a:p>
                  </a:txBody>
                  <a:tcPr marL="45720" marR="45720" marT="0" marB="0"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93826048"/>
                  </a:ext>
                </a:extLst>
              </a:tr>
            </a:tbl>
          </a:graphicData>
        </a:graphic>
      </p:graphicFrame>
      <p:grpSp>
        <p:nvGrpSpPr>
          <p:cNvPr id="1289" name="Group 174">
            <a:extLst>
              <a:ext uri="{FF2B5EF4-FFF2-40B4-BE49-F238E27FC236}">
                <a16:creationId xmlns:a16="http://schemas.microsoft.com/office/drawing/2014/main" id="{213DD26E-7B97-497F-8B1C-70F20AEFD64B}"/>
              </a:ext>
              <a:ext uri="{C183D7F6-B498-43B3-948B-1728B52AA6E4}">
                <adec:decorative xmlns:adec="http://schemas.microsoft.com/office/drawing/2017/decorative" val="1"/>
              </a:ext>
            </a:extLst>
          </p:cNvPr>
          <p:cNvGrpSpPr>
            <a:grpSpLocks noChangeAspect="1"/>
          </p:cNvGrpSpPr>
          <p:nvPr/>
        </p:nvGrpSpPr>
        <p:grpSpPr bwMode="auto">
          <a:xfrm>
            <a:off x="4310705" y="1316515"/>
            <a:ext cx="7790465" cy="3782564"/>
            <a:chOff x="51" y="364"/>
            <a:chExt cx="7398" cy="3592"/>
          </a:xfrm>
          <a:solidFill>
            <a:schemeClr val="bg1"/>
          </a:solidFill>
        </p:grpSpPr>
        <p:grpSp>
          <p:nvGrpSpPr>
            <p:cNvPr id="1290" name="Group 375">
              <a:extLst>
                <a:ext uri="{FF2B5EF4-FFF2-40B4-BE49-F238E27FC236}">
                  <a16:creationId xmlns:a16="http://schemas.microsoft.com/office/drawing/2014/main" id="{28B25A8C-15F4-4E3C-B234-A7BC0A9AEEC7}"/>
                </a:ext>
              </a:extLst>
            </p:cNvPr>
            <p:cNvGrpSpPr>
              <a:grpSpLocks/>
            </p:cNvGrpSpPr>
            <p:nvPr/>
          </p:nvGrpSpPr>
          <p:grpSpPr bwMode="auto">
            <a:xfrm>
              <a:off x="51" y="390"/>
              <a:ext cx="7398" cy="3539"/>
              <a:chOff x="51" y="390"/>
              <a:chExt cx="7398" cy="3539"/>
            </a:xfrm>
            <a:grpFill/>
          </p:grpSpPr>
          <p:sp>
            <p:nvSpPr>
              <p:cNvPr id="2167" name="Freeform 175">
                <a:extLst>
                  <a:ext uri="{FF2B5EF4-FFF2-40B4-BE49-F238E27FC236}">
                    <a16:creationId xmlns:a16="http://schemas.microsoft.com/office/drawing/2014/main" id="{888D3BC3-22F7-4093-A26B-A0C8555B24E7}"/>
                  </a:ext>
                </a:extLst>
              </p:cNvPr>
              <p:cNvSpPr>
                <a:spLocks noEditPoints="1"/>
              </p:cNvSpPr>
              <p:nvPr/>
            </p:nvSpPr>
            <p:spPr bwMode="auto">
              <a:xfrm>
                <a:off x="51" y="899"/>
                <a:ext cx="782" cy="582"/>
              </a:xfrm>
              <a:custGeom>
                <a:avLst/>
                <a:gdLst>
                  <a:gd name="T0" fmla="*/ 471 w 565"/>
                  <a:gd name="T1" fmla="*/ 289 h 424"/>
                  <a:gd name="T2" fmla="*/ 401 w 565"/>
                  <a:gd name="T3" fmla="*/ 48 h 424"/>
                  <a:gd name="T4" fmla="*/ 234 w 565"/>
                  <a:gd name="T5" fmla="*/ 22 h 424"/>
                  <a:gd name="T6" fmla="*/ 172 w 565"/>
                  <a:gd name="T7" fmla="*/ 2 h 424"/>
                  <a:gd name="T8" fmla="*/ 119 w 565"/>
                  <a:gd name="T9" fmla="*/ 26 h 424"/>
                  <a:gd name="T10" fmla="*/ 18 w 565"/>
                  <a:gd name="T11" fmla="*/ 82 h 424"/>
                  <a:gd name="T12" fmla="*/ 96 w 565"/>
                  <a:gd name="T13" fmla="*/ 117 h 424"/>
                  <a:gd name="T14" fmla="*/ 88 w 565"/>
                  <a:gd name="T15" fmla="*/ 125 h 424"/>
                  <a:gd name="T16" fmla="*/ 61 w 565"/>
                  <a:gd name="T17" fmla="*/ 127 h 424"/>
                  <a:gd name="T18" fmla="*/ 27 w 565"/>
                  <a:gd name="T19" fmla="*/ 158 h 424"/>
                  <a:gd name="T20" fmla="*/ 69 w 565"/>
                  <a:gd name="T21" fmla="*/ 175 h 424"/>
                  <a:gd name="T22" fmla="*/ 107 w 565"/>
                  <a:gd name="T23" fmla="*/ 191 h 424"/>
                  <a:gd name="T24" fmla="*/ 31 w 565"/>
                  <a:gd name="T25" fmla="*/ 243 h 424"/>
                  <a:gd name="T26" fmla="*/ 44 w 565"/>
                  <a:gd name="T27" fmla="*/ 260 h 424"/>
                  <a:gd name="T28" fmla="*/ 48 w 565"/>
                  <a:gd name="T29" fmla="*/ 261 h 424"/>
                  <a:gd name="T30" fmla="*/ 81 w 565"/>
                  <a:gd name="T31" fmla="*/ 274 h 424"/>
                  <a:gd name="T32" fmla="*/ 89 w 565"/>
                  <a:gd name="T33" fmla="*/ 299 h 424"/>
                  <a:gd name="T34" fmla="*/ 117 w 565"/>
                  <a:gd name="T35" fmla="*/ 305 h 424"/>
                  <a:gd name="T36" fmla="*/ 147 w 565"/>
                  <a:gd name="T37" fmla="*/ 303 h 424"/>
                  <a:gd name="T38" fmla="*/ 154 w 565"/>
                  <a:gd name="T39" fmla="*/ 335 h 424"/>
                  <a:gd name="T40" fmla="*/ 105 w 565"/>
                  <a:gd name="T41" fmla="*/ 367 h 424"/>
                  <a:gd name="T42" fmla="*/ 80 w 565"/>
                  <a:gd name="T43" fmla="*/ 383 h 424"/>
                  <a:gd name="T44" fmla="*/ 123 w 565"/>
                  <a:gd name="T45" fmla="*/ 371 h 424"/>
                  <a:gd name="T46" fmla="*/ 143 w 565"/>
                  <a:gd name="T47" fmla="*/ 360 h 424"/>
                  <a:gd name="T48" fmla="*/ 192 w 565"/>
                  <a:gd name="T49" fmla="*/ 325 h 424"/>
                  <a:gd name="T50" fmla="*/ 205 w 565"/>
                  <a:gd name="T51" fmla="*/ 299 h 424"/>
                  <a:gd name="T52" fmla="*/ 238 w 565"/>
                  <a:gd name="T53" fmla="*/ 265 h 424"/>
                  <a:gd name="T54" fmla="*/ 247 w 565"/>
                  <a:gd name="T55" fmla="*/ 266 h 424"/>
                  <a:gd name="T56" fmla="*/ 257 w 565"/>
                  <a:gd name="T57" fmla="*/ 293 h 424"/>
                  <a:gd name="T58" fmla="*/ 288 w 565"/>
                  <a:gd name="T59" fmla="*/ 282 h 424"/>
                  <a:gd name="T60" fmla="*/ 288 w 565"/>
                  <a:gd name="T61" fmla="*/ 264 h 424"/>
                  <a:gd name="T62" fmla="*/ 304 w 565"/>
                  <a:gd name="T63" fmla="*/ 259 h 424"/>
                  <a:gd name="T64" fmla="*/ 325 w 565"/>
                  <a:gd name="T65" fmla="*/ 264 h 424"/>
                  <a:gd name="T66" fmla="*/ 395 w 565"/>
                  <a:gd name="T67" fmla="*/ 279 h 424"/>
                  <a:gd name="T68" fmla="*/ 438 w 565"/>
                  <a:gd name="T69" fmla="*/ 299 h 424"/>
                  <a:gd name="T70" fmla="*/ 471 w 565"/>
                  <a:gd name="T71" fmla="*/ 307 h 424"/>
                  <a:gd name="T72" fmla="*/ 484 w 565"/>
                  <a:gd name="T73" fmla="*/ 296 h 424"/>
                  <a:gd name="T74" fmla="*/ 509 w 565"/>
                  <a:gd name="T75" fmla="*/ 323 h 424"/>
                  <a:gd name="T76" fmla="*/ 528 w 565"/>
                  <a:gd name="T77" fmla="*/ 351 h 424"/>
                  <a:gd name="T78" fmla="*/ 552 w 565"/>
                  <a:gd name="T79" fmla="*/ 380 h 424"/>
                  <a:gd name="T80" fmla="*/ 480 w 565"/>
                  <a:gd name="T81" fmla="*/ 332 h 424"/>
                  <a:gd name="T82" fmla="*/ 471 w 565"/>
                  <a:gd name="T83" fmla="*/ 324 h 424"/>
                  <a:gd name="T84" fmla="*/ 494 w 565"/>
                  <a:gd name="T85" fmla="*/ 322 h 424"/>
                  <a:gd name="T86" fmla="*/ 481 w 565"/>
                  <a:gd name="T87" fmla="*/ 338 h 424"/>
                  <a:gd name="T88" fmla="*/ 503 w 565"/>
                  <a:gd name="T89" fmla="*/ 348 h 424"/>
                  <a:gd name="T90" fmla="*/ 520 w 565"/>
                  <a:gd name="T91" fmla="*/ 348 h 424"/>
                  <a:gd name="T92" fmla="*/ 526 w 565"/>
                  <a:gd name="T93" fmla="*/ 354 h 424"/>
                  <a:gd name="T94" fmla="*/ 534 w 565"/>
                  <a:gd name="T95" fmla="*/ 387 h 424"/>
                  <a:gd name="T96" fmla="*/ 517 w 565"/>
                  <a:gd name="T97" fmla="*/ 369 h 424"/>
                  <a:gd name="T98" fmla="*/ 525 w 565"/>
                  <a:gd name="T99" fmla="*/ 362 h 424"/>
                  <a:gd name="T100" fmla="*/ 538 w 565"/>
                  <a:gd name="T101" fmla="*/ 383 h 424"/>
                  <a:gd name="T102" fmla="*/ 543 w 565"/>
                  <a:gd name="T103" fmla="*/ 388 h 424"/>
                  <a:gd name="T104" fmla="*/ 230 w 565"/>
                  <a:gd name="T105" fmla="*/ 312 h 424"/>
                  <a:gd name="T106" fmla="*/ 238 w 565"/>
                  <a:gd name="T107" fmla="*/ 319 h 424"/>
                  <a:gd name="T108" fmla="*/ 214 w 565"/>
                  <a:gd name="T109" fmla="*/ 328 h 424"/>
                  <a:gd name="T110" fmla="*/ 210 w 565"/>
                  <a:gd name="T111" fmla="*/ 345 h 424"/>
                  <a:gd name="T112" fmla="*/ 223 w 565"/>
                  <a:gd name="T113" fmla="*/ 342 h 424"/>
                  <a:gd name="T114" fmla="*/ 108 w 565"/>
                  <a:gd name="T115" fmla="*/ 385 h 424"/>
                  <a:gd name="T116" fmla="*/ 14 w 565"/>
                  <a:gd name="T117" fmla="*/ 416 h 424"/>
                  <a:gd name="T118" fmla="*/ 34 w 565"/>
                  <a:gd name="T119" fmla="*/ 407 h 424"/>
                  <a:gd name="T120" fmla="*/ 71 w 565"/>
                  <a:gd name="T121" fmla="*/ 393 h 424"/>
                  <a:gd name="T122" fmla="*/ 31 w 565"/>
                  <a:gd name="T123" fmla="*/ 283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5" h="424">
                    <a:moveTo>
                      <a:pt x="564" y="369"/>
                    </a:moveTo>
                    <a:cubicBezTo>
                      <a:pt x="564" y="369"/>
                      <a:pt x="564" y="367"/>
                      <a:pt x="564" y="367"/>
                    </a:cubicBezTo>
                    <a:cubicBezTo>
                      <a:pt x="563" y="365"/>
                      <a:pt x="560" y="364"/>
                      <a:pt x="559" y="363"/>
                    </a:cubicBezTo>
                    <a:cubicBezTo>
                      <a:pt x="559" y="363"/>
                      <a:pt x="555" y="361"/>
                      <a:pt x="554" y="360"/>
                    </a:cubicBezTo>
                    <a:cubicBezTo>
                      <a:pt x="552" y="359"/>
                      <a:pt x="550" y="359"/>
                      <a:pt x="548" y="358"/>
                    </a:cubicBezTo>
                    <a:cubicBezTo>
                      <a:pt x="546" y="357"/>
                      <a:pt x="539" y="355"/>
                      <a:pt x="538" y="354"/>
                    </a:cubicBezTo>
                    <a:cubicBezTo>
                      <a:pt x="537" y="354"/>
                      <a:pt x="537" y="354"/>
                      <a:pt x="537" y="354"/>
                    </a:cubicBezTo>
                    <a:cubicBezTo>
                      <a:pt x="536" y="352"/>
                      <a:pt x="531" y="347"/>
                      <a:pt x="530" y="345"/>
                    </a:cubicBezTo>
                    <a:cubicBezTo>
                      <a:pt x="529" y="344"/>
                      <a:pt x="530" y="343"/>
                      <a:pt x="531" y="342"/>
                    </a:cubicBezTo>
                    <a:cubicBezTo>
                      <a:pt x="532" y="341"/>
                      <a:pt x="527" y="336"/>
                      <a:pt x="526" y="334"/>
                    </a:cubicBezTo>
                    <a:cubicBezTo>
                      <a:pt x="525" y="333"/>
                      <a:pt x="517" y="321"/>
                      <a:pt x="516" y="320"/>
                    </a:cubicBezTo>
                    <a:cubicBezTo>
                      <a:pt x="516" y="319"/>
                      <a:pt x="514" y="316"/>
                      <a:pt x="514" y="316"/>
                    </a:cubicBezTo>
                    <a:cubicBezTo>
                      <a:pt x="513" y="315"/>
                      <a:pt x="509" y="312"/>
                      <a:pt x="507" y="310"/>
                    </a:cubicBezTo>
                    <a:cubicBezTo>
                      <a:pt x="505" y="309"/>
                      <a:pt x="501" y="307"/>
                      <a:pt x="500" y="304"/>
                    </a:cubicBezTo>
                    <a:cubicBezTo>
                      <a:pt x="498" y="301"/>
                      <a:pt x="496" y="299"/>
                      <a:pt x="495" y="299"/>
                    </a:cubicBezTo>
                    <a:cubicBezTo>
                      <a:pt x="494" y="298"/>
                      <a:pt x="492" y="297"/>
                      <a:pt x="490" y="296"/>
                    </a:cubicBezTo>
                    <a:cubicBezTo>
                      <a:pt x="489" y="295"/>
                      <a:pt x="486" y="290"/>
                      <a:pt x="484" y="287"/>
                    </a:cubicBezTo>
                    <a:cubicBezTo>
                      <a:pt x="482" y="284"/>
                      <a:pt x="479" y="287"/>
                      <a:pt x="479" y="287"/>
                    </a:cubicBezTo>
                    <a:cubicBezTo>
                      <a:pt x="477" y="288"/>
                      <a:pt x="477" y="288"/>
                      <a:pt x="475" y="288"/>
                    </a:cubicBezTo>
                    <a:cubicBezTo>
                      <a:pt x="473" y="289"/>
                      <a:pt x="472" y="289"/>
                      <a:pt x="471" y="289"/>
                    </a:cubicBezTo>
                    <a:cubicBezTo>
                      <a:pt x="470" y="289"/>
                      <a:pt x="470" y="289"/>
                      <a:pt x="471" y="290"/>
                    </a:cubicBezTo>
                    <a:cubicBezTo>
                      <a:pt x="472" y="291"/>
                      <a:pt x="470" y="292"/>
                      <a:pt x="470" y="293"/>
                    </a:cubicBezTo>
                    <a:cubicBezTo>
                      <a:pt x="469" y="293"/>
                      <a:pt x="469" y="292"/>
                      <a:pt x="468" y="293"/>
                    </a:cubicBezTo>
                    <a:cubicBezTo>
                      <a:pt x="468" y="294"/>
                      <a:pt x="468" y="294"/>
                      <a:pt x="468" y="297"/>
                    </a:cubicBezTo>
                    <a:cubicBezTo>
                      <a:pt x="468" y="299"/>
                      <a:pt x="464" y="299"/>
                      <a:pt x="463" y="300"/>
                    </a:cubicBezTo>
                    <a:cubicBezTo>
                      <a:pt x="461" y="300"/>
                      <a:pt x="455" y="303"/>
                      <a:pt x="454" y="304"/>
                    </a:cubicBezTo>
                    <a:cubicBezTo>
                      <a:pt x="454" y="304"/>
                      <a:pt x="454" y="304"/>
                      <a:pt x="453" y="304"/>
                    </a:cubicBezTo>
                    <a:cubicBezTo>
                      <a:pt x="453" y="304"/>
                      <a:pt x="453" y="304"/>
                      <a:pt x="453" y="304"/>
                    </a:cubicBezTo>
                    <a:cubicBezTo>
                      <a:pt x="453" y="303"/>
                      <a:pt x="453" y="301"/>
                      <a:pt x="453" y="301"/>
                    </a:cubicBezTo>
                    <a:cubicBezTo>
                      <a:pt x="452" y="299"/>
                      <a:pt x="450" y="297"/>
                      <a:pt x="450" y="296"/>
                    </a:cubicBezTo>
                    <a:cubicBezTo>
                      <a:pt x="449" y="296"/>
                      <a:pt x="431" y="281"/>
                      <a:pt x="429" y="280"/>
                    </a:cubicBezTo>
                    <a:cubicBezTo>
                      <a:pt x="428" y="280"/>
                      <a:pt x="428" y="278"/>
                      <a:pt x="428" y="277"/>
                    </a:cubicBezTo>
                    <a:cubicBezTo>
                      <a:pt x="428" y="277"/>
                      <a:pt x="429" y="274"/>
                      <a:pt x="429" y="274"/>
                    </a:cubicBezTo>
                    <a:cubicBezTo>
                      <a:pt x="429" y="273"/>
                      <a:pt x="429" y="273"/>
                      <a:pt x="428" y="273"/>
                    </a:cubicBezTo>
                    <a:cubicBezTo>
                      <a:pt x="427" y="273"/>
                      <a:pt x="425" y="273"/>
                      <a:pt x="422" y="273"/>
                    </a:cubicBezTo>
                    <a:cubicBezTo>
                      <a:pt x="420" y="273"/>
                      <a:pt x="417" y="275"/>
                      <a:pt x="417" y="276"/>
                    </a:cubicBezTo>
                    <a:cubicBezTo>
                      <a:pt x="416" y="276"/>
                      <a:pt x="415" y="276"/>
                      <a:pt x="415" y="276"/>
                    </a:cubicBezTo>
                    <a:cubicBezTo>
                      <a:pt x="415" y="276"/>
                      <a:pt x="404" y="274"/>
                      <a:pt x="402" y="274"/>
                    </a:cubicBezTo>
                    <a:cubicBezTo>
                      <a:pt x="401" y="274"/>
                      <a:pt x="401" y="270"/>
                      <a:pt x="401" y="270"/>
                    </a:cubicBezTo>
                    <a:cubicBezTo>
                      <a:pt x="401" y="48"/>
                      <a:pt x="401" y="48"/>
                      <a:pt x="401" y="48"/>
                    </a:cubicBezTo>
                    <a:cubicBezTo>
                      <a:pt x="399" y="47"/>
                      <a:pt x="397" y="47"/>
                      <a:pt x="396" y="46"/>
                    </a:cubicBezTo>
                    <a:cubicBezTo>
                      <a:pt x="391" y="44"/>
                      <a:pt x="377" y="39"/>
                      <a:pt x="376" y="39"/>
                    </a:cubicBezTo>
                    <a:cubicBezTo>
                      <a:pt x="375" y="38"/>
                      <a:pt x="371" y="38"/>
                      <a:pt x="369" y="38"/>
                    </a:cubicBezTo>
                    <a:cubicBezTo>
                      <a:pt x="367" y="38"/>
                      <a:pt x="362" y="37"/>
                      <a:pt x="362" y="37"/>
                    </a:cubicBezTo>
                    <a:cubicBezTo>
                      <a:pt x="362" y="37"/>
                      <a:pt x="358" y="37"/>
                      <a:pt x="357" y="38"/>
                    </a:cubicBezTo>
                    <a:cubicBezTo>
                      <a:pt x="355" y="38"/>
                      <a:pt x="355" y="39"/>
                      <a:pt x="354" y="39"/>
                    </a:cubicBezTo>
                    <a:cubicBezTo>
                      <a:pt x="353" y="38"/>
                      <a:pt x="349" y="38"/>
                      <a:pt x="347" y="39"/>
                    </a:cubicBezTo>
                    <a:cubicBezTo>
                      <a:pt x="345" y="40"/>
                      <a:pt x="338" y="39"/>
                      <a:pt x="337" y="38"/>
                    </a:cubicBezTo>
                    <a:cubicBezTo>
                      <a:pt x="336" y="38"/>
                      <a:pt x="330" y="34"/>
                      <a:pt x="327" y="34"/>
                    </a:cubicBezTo>
                    <a:cubicBezTo>
                      <a:pt x="324" y="34"/>
                      <a:pt x="316" y="34"/>
                      <a:pt x="314" y="34"/>
                    </a:cubicBezTo>
                    <a:cubicBezTo>
                      <a:pt x="312" y="34"/>
                      <a:pt x="296" y="32"/>
                      <a:pt x="293" y="31"/>
                    </a:cubicBezTo>
                    <a:cubicBezTo>
                      <a:pt x="290" y="31"/>
                      <a:pt x="267" y="27"/>
                      <a:pt x="264" y="27"/>
                    </a:cubicBezTo>
                    <a:cubicBezTo>
                      <a:pt x="261" y="28"/>
                      <a:pt x="257" y="27"/>
                      <a:pt x="256" y="27"/>
                    </a:cubicBezTo>
                    <a:cubicBezTo>
                      <a:pt x="256" y="27"/>
                      <a:pt x="250" y="27"/>
                      <a:pt x="250" y="27"/>
                    </a:cubicBezTo>
                    <a:cubicBezTo>
                      <a:pt x="249" y="28"/>
                      <a:pt x="250" y="29"/>
                      <a:pt x="248" y="29"/>
                    </a:cubicBezTo>
                    <a:cubicBezTo>
                      <a:pt x="247" y="28"/>
                      <a:pt x="240" y="26"/>
                      <a:pt x="241" y="25"/>
                    </a:cubicBezTo>
                    <a:cubicBezTo>
                      <a:pt x="241" y="24"/>
                      <a:pt x="241" y="24"/>
                      <a:pt x="240" y="24"/>
                    </a:cubicBezTo>
                    <a:cubicBezTo>
                      <a:pt x="239" y="24"/>
                      <a:pt x="232" y="24"/>
                      <a:pt x="232" y="24"/>
                    </a:cubicBezTo>
                    <a:cubicBezTo>
                      <a:pt x="232" y="24"/>
                      <a:pt x="228" y="23"/>
                      <a:pt x="232" y="23"/>
                    </a:cubicBezTo>
                    <a:cubicBezTo>
                      <a:pt x="236" y="23"/>
                      <a:pt x="237" y="23"/>
                      <a:pt x="234" y="22"/>
                    </a:cubicBezTo>
                    <a:cubicBezTo>
                      <a:pt x="231" y="21"/>
                      <a:pt x="229" y="21"/>
                      <a:pt x="231" y="20"/>
                    </a:cubicBezTo>
                    <a:cubicBezTo>
                      <a:pt x="233" y="18"/>
                      <a:pt x="235" y="16"/>
                      <a:pt x="234" y="16"/>
                    </a:cubicBezTo>
                    <a:cubicBezTo>
                      <a:pt x="232" y="16"/>
                      <a:pt x="214" y="15"/>
                      <a:pt x="213" y="15"/>
                    </a:cubicBezTo>
                    <a:cubicBezTo>
                      <a:pt x="213" y="15"/>
                      <a:pt x="209" y="15"/>
                      <a:pt x="208" y="16"/>
                    </a:cubicBezTo>
                    <a:cubicBezTo>
                      <a:pt x="208" y="17"/>
                      <a:pt x="205" y="18"/>
                      <a:pt x="202" y="17"/>
                    </a:cubicBezTo>
                    <a:cubicBezTo>
                      <a:pt x="200" y="16"/>
                      <a:pt x="199" y="15"/>
                      <a:pt x="199" y="13"/>
                    </a:cubicBezTo>
                    <a:cubicBezTo>
                      <a:pt x="199" y="12"/>
                      <a:pt x="199" y="10"/>
                      <a:pt x="196" y="10"/>
                    </a:cubicBezTo>
                    <a:cubicBezTo>
                      <a:pt x="194" y="10"/>
                      <a:pt x="192" y="12"/>
                      <a:pt x="192" y="10"/>
                    </a:cubicBezTo>
                    <a:cubicBezTo>
                      <a:pt x="193" y="8"/>
                      <a:pt x="192" y="8"/>
                      <a:pt x="191" y="9"/>
                    </a:cubicBezTo>
                    <a:cubicBezTo>
                      <a:pt x="190" y="9"/>
                      <a:pt x="189" y="9"/>
                      <a:pt x="190" y="10"/>
                    </a:cubicBezTo>
                    <a:cubicBezTo>
                      <a:pt x="190" y="11"/>
                      <a:pt x="191" y="12"/>
                      <a:pt x="190" y="12"/>
                    </a:cubicBezTo>
                    <a:cubicBezTo>
                      <a:pt x="188" y="12"/>
                      <a:pt x="186" y="12"/>
                      <a:pt x="186" y="14"/>
                    </a:cubicBezTo>
                    <a:cubicBezTo>
                      <a:pt x="185" y="16"/>
                      <a:pt x="184" y="17"/>
                      <a:pt x="183" y="17"/>
                    </a:cubicBezTo>
                    <a:cubicBezTo>
                      <a:pt x="181" y="17"/>
                      <a:pt x="180" y="15"/>
                      <a:pt x="180" y="17"/>
                    </a:cubicBezTo>
                    <a:cubicBezTo>
                      <a:pt x="180" y="18"/>
                      <a:pt x="179" y="19"/>
                      <a:pt x="179" y="17"/>
                    </a:cubicBezTo>
                    <a:cubicBezTo>
                      <a:pt x="178" y="14"/>
                      <a:pt x="177" y="13"/>
                      <a:pt x="180" y="12"/>
                    </a:cubicBezTo>
                    <a:cubicBezTo>
                      <a:pt x="182" y="12"/>
                      <a:pt x="185" y="10"/>
                      <a:pt x="184" y="10"/>
                    </a:cubicBezTo>
                    <a:cubicBezTo>
                      <a:pt x="184" y="9"/>
                      <a:pt x="185" y="9"/>
                      <a:pt x="183" y="8"/>
                    </a:cubicBezTo>
                    <a:cubicBezTo>
                      <a:pt x="180" y="8"/>
                      <a:pt x="171" y="6"/>
                      <a:pt x="171" y="3"/>
                    </a:cubicBezTo>
                    <a:cubicBezTo>
                      <a:pt x="170" y="1"/>
                      <a:pt x="170" y="2"/>
                      <a:pt x="172" y="2"/>
                    </a:cubicBezTo>
                    <a:cubicBezTo>
                      <a:pt x="173" y="2"/>
                      <a:pt x="173" y="0"/>
                      <a:pt x="172" y="1"/>
                    </a:cubicBezTo>
                    <a:cubicBezTo>
                      <a:pt x="170" y="1"/>
                      <a:pt x="169" y="2"/>
                      <a:pt x="168" y="3"/>
                    </a:cubicBezTo>
                    <a:cubicBezTo>
                      <a:pt x="167" y="4"/>
                      <a:pt x="154" y="17"/>
                      <a:pt x="148" y="16"/>
                    </a:cubicBezTo>
                    <a:cubicBezTo>
                      <a:pt x="142" y="16"/>
                      <a:pt x="143" y="16"/>
                      <a:pt x="143" y="17"/>
                    </a:cubicBezTo>
                    <a:cubicBezTo>
                      <a:pt x="142" y="17"/>
                      <a:pt x="140" y="18"/>
                      <a:pt x="139" y="18"/>
                    </a:cubicBezTo>
                    <a:cubicBezTo>
                      <a:pt x="138" y="18"/>
                      <a:pt x="133" y="17"/>
                      <a:pt x="131" y="18"/>
                    </a:cubicBezTo>
                    <a:cubicBezTo>
                      <a:pt x="129" y="19"/>
                      <a:pt x="127" y="19"/>
                      <a:pt x="129" y="18"/>
                    </a:cubicBezTo>
                    <a:cubicBezTo>
                      <a:pt x="130" y="17"/>
                      <a:pt x="131" y="16"/>
                      <a:pt x="129" y="16"/>
                    </a:cubicBezTo>
                    <a:cubicBezTo>
                      <a:pt x="127" y="16"/>
                      <a:pt x="127" y="15"/>
                      <a:pt x="126" y="16"/>
                    </a:cubicBezTo>
                    <a:cubicBezTo>
                      <a:pt x="125" y="17"/>
                      <a:pt x="123" y="19"/>
                      <a:pt x="122" y="19"/>
                    </a:cubicBezTo>
                    <a:cubicBezTo>
                      <a:pt x="120" y="20"/>
                      <a:pt x="117" y="22"/>
                      <a:pt x="119" y="22"/>
                    </a:cubicBezTo>
                    <a:cubicBezTo>
                      <a:pt x="121" y="22"/>
                      <a:pt x="121" y="22"/>
                      <a:pt x="122" y="23"/>
                    </a:cubicBezTo>
                    <a:cubicBezTo>
                      <a:pt x="122" y="24"/>
                      <a:pt x="123" y="25"/>
                      <a:pt x="124" y="25"/>
                    </a:cubicBezTo>
                    <a:cubicBezTo>
                      <a:pt x="126" y="25"/>
                      <a:pt x="127" y="25"/>
                      <a:pt x="125" y="26"/>
                    </a:cubicBezTo>
                    <a:cubicBezTo>
                      <a:pt x="122" y="26"/>
                      <a:pt x="122" y="25"/>
                      <a:pt x="122" y="27"/>
                    </a:cubicBezTo>
                    <a:cubicBezTo>
                      <a:pt x="121" y="29"/>
                      <a:pt x="121" y="30"/>
                      <a:pt x="122" y="31"/>
                    </a:cubicBezTo>
                    <a:cubicBezTo>
                      <a:pt x="123" y="32"/>
                      <a:pt x="122" y="34"/>
                      <a:pt x="121" y="32"/>
                    </a:cubicBezTo>
                    <a:cubicBezTo>
                      <a:pt x="120" y="29"/>
                      <a:pt x="120" y="29"/>
                      <a:pt x="119" y="29"/>
                    </a:cubicBezTo>
                    <a:cubicBezTo>
                      <a:pt x="118" y="30"/>
                      <a:pt x="117" y="30"/>
                      <a:pt x="119" y="28"/>
                    </a:cubicBezTo>
                    <a:cubicBezTo>
                      <a:pt x="120" y="26"/>
                      <a:pt x="120" y="26"/>
                      <a:pt x="119" y="26"/>
                    </a:cubicBezTo>
                    <a:cubicBezTo>
                      <a:pt x="118" y="26"/>
                      <a:pt x="115" y="27"/>
                      <a:pt x="118" y="25"/>
                    </a:cubicBezTo>
                    <a:cubicBezTo>
                      <a:pt x="121" y="24"/>
                      <a:pt x="119" y="24"/>
                      <a:pt x="119" y="23"/>
                    </a:cubicBezTo>
                    <a:cubicBezTo>
                      <a:pt x="118" y="23"/>
                      <a:pt x="118" y="23"/>
                      <a:pt x="117" y="23"/>
                    </a:cubicBezTo>
                    <a:cubicBezTo>
                      <a:pt x="115" y="24"/>
                      <a:pt x="113" y="25"/>
                      <a:pt x="113" y="26"/>
                    </a:cubicBezTo>
                    <a:cubicBezTo>
                      <a:pt x="112" y="26"/>
                      <a:pt x="110" y="27"/>
                      <a:pt x="109" y="27"/>
                    </a:cubicBezTo>
                    <a:cubicBezTo>
                      <a:pt x="108" y="28"/>
                      <a:pt x="104" y="31"/>
                      <a:pt x="101" y="32"/>
                    </a:cubicBezTo>
                    <a:cubicBezTo>
                      <a:pt x="97" y="32"/>
                      <a:pt x="95" y="32"/>
                      <a:pt x="94" y="33"/>
                    </a:cubicBezTo>
                    <a:cubicBezTo>
                      <a:pt x="93" y="34"/>
                      <a:pt x="92" y="33"/>
                      <a:pt x="91" y="34"/>
                    </a:cubicBezTo>
                    <a:cubicBezTo>
                      <a:pt x="89" y="35"/>
                      <a:pt x="90" y="34"/>
                      <a:pt x="91" y="33"/>
                    </a:cubicBezTo>
                    <a:cubicBezTo>
                      <a:pt x="92" y="33"/>
                      <a:pt x="91" y="32"/>
                      <a:pt x="93" y="32"/>
                    </a:cubicBezTo>
                    <a:cubicBezTo>
                      <a:pt x="94" y="32"/>
                      <a:pt x="92" y="31"/>
                      <a:pt x="92" y="31"/>
                    </a:cubicBezTo>
                    <a:cubicBezTo>
                      <a:pt x="91" y="31"/>
                      <a:pt x="89" y="31"/>
                      <a:pt x="88" y="32"/>
                    </a:cubicBezTo>
                    <a:cubicBezTo>
                      <a:pt x="87" y="34"/>
                      <a:pt x="82" y="38"/>
                      <a:pt x="81" y="39"/>
                    </a:cubicBezTo>
                    <a:cubicBezTo>
                      <a:pt x="80" y="41"/>
                      <a:pt x="76" y="44"/>
                      <a:pt x="76" y="45"/>
                    </a:cubicBezTo>
                    <a:cubicBezTo>
                      <a:pt x="75" y="45"/>
                      <a:pt x="73" y="48"/>
                      <a:pt x="72" y="50"/>
                    </a:cubicBezTo>
                    <a:cubicBezTo>
                      <a:pt x="72" y="53"/>
                      <a:pt x="69" y="66"/>
                      <a:pt x="47" y="68"/>
                    </a:cubicBezTo>
                    <a:cubicBezTo>
                      <a:pt x="47" y="68"/>
                      <a:pt x="36" y="68"/>
                      <a:pt x="33" y="68"/>
                    </a:cubicBezTo>
                    <a:cubicBezTo>
                      <a:pt x="30" y="68"/>
                      <a:pt x="27" y="67"/>
                      <a:pt x="27" y="70"/>
                    </a:cubicBezTo>
                    <a:cubicBezTo>
                      <a:pt x="27" y="70"/>
                      <a:pt x="26" y="81"/>
                      <a:pt x="21" y="82"/>
                    </a:cubicBezTo>
                    <a:cubicBezTo>
                      <a:pt x="21" y="82"/>
                      <a:pt x="19" y="82"/>
                      <a:pt x="18" y="82"/>
                    </a:cubicBezTo>
                    <a:cubicBezTo>
                      <a:pt x="17" y="81"/>
                      <a:pt x="18" y="82"/>
                      <a:pt x="20" y="82"/>
                    </a:cubicBezTo>
                    <a:cubicBezTo>
                      <a:pt x="22" y="82"/>
                      <a:pt x="27" y="83"/>
                      <a:pt x="28" y="85"/>
                    </a:cubicBezTo>
                    <a:cubicBezTo>
                      <a:pt x="29" y="86"/>
                      <a:pt x="32" y="88"/>
                      <a:pt x="34" y="88"/>
                    </a:cubicBezTo>
                    <a:cubicBezTo>
                      <a:pt x="37" y="89"/>
                      <a:pt x="41" y="91"/>
                      <a:pt x="43" y="93"/>
                    </a:cubicBezTo>
                    <a:cubicBezTo>
                      <a:pt x="46" y="94"/>
                      <a:pt x="48" y="95"/>
                      <a:pt x="48" y="96"/>
                    </a:cubicBezTo>
                    <a:cubicBezTo>
                      <a:pt x="49" y="96"/>
                      <a:pt x="49" y="96"/>
                      <a:pt x="49" y="95"/>
                    </a:cubicBezTo>
                    <a:cubicBezTo>
                      <a:pt x="49" y="95"/>
                      <a:pt x="49" y="95"/>
                      <a:pt x="50" y="96"/>
                    </a:cubicBezTo>
                    <a:cubicBezTo>
                      <a:pt x="51" y="96"/>
                      <a:pt x="56" y="100"/>
                      <a:pt x="57" y="100"/>
                    </a:cubicBezTo>
                    <a:cubicBezTo>
                      <a:pt x="58" y="101"/>
                      <a:pt x="63" y="106"/>
                      <a:pt x="63" y="110"/>
                    </a:cubicBezTo>
                    <a:cubicBezTo>
                      <a:pt x="63" y="110"/>
                      <a:pt x="62" y="114"/>
                      <a:pt x="67" y="114"/>
                    </a:cubicBezTo>
                    <a:cubicBezTo>
                      <a:pt x="72" y="114"/>
                      <a:pt x="73" y="115"/>
                      <a:pt x="74" y="115"/>
                    </a:cubicBezTo>
                    <a:cubicBezTo>
                      <a:pt x="75" y="116"/>
                      <a:pt x="76" y="116"/>
                      <a:pt x="77" y="115"/>
                    </a:cubicBezTo>
                    <a:cubicBezTo>
                      <a:pt x="78" y="114"/>
                      <a:pt x="79" y="115"/>
                      <a:pt x="79" y="115"/>
                    </a:cubicBezTo>
                    <a:cubicBezTo>
                      <a:pt x="80" y="116"/>
                      <a:pt x="81" y="116"/>
                      <a:pt x="81" y="115"/>
                    </a:cubicBezTo>
                    <a:cubicBezTo>
                      <a:pt x="82" y="114"/>
                      <a:pt x="85" y="110"/>
                      <a:pt x="83" y="113"/>
                    </a:cubicBezTo>
                    <a:cubicBezTo>
                      <a:pt x="82" y="117"/>
                      <a:pt x="83" y="116"/>
                      <a:pt x="84" y="116"/>
                    </a:cubicBezTo>
                    <a:cubicBezTo>
                      <a:pt x="85" y="116"/>
                      <a:pt x="85" y="115"/>
                      <a:pt x="85" y="115"/>
                    </a:cubicBezTo>
                    <a:cubicBezTo>
                      <a:pt x="86" y="115"/>
                      <a:pt x="86" y="115"/>
                      <a:pt x="87" y="115"/>
                    </a:cubicBezTo>
                    <a:cubicBezTo>
                      <a:pt x="87" y="115"/>
                      <a:pt x="92" y="114"/>
                      <a:pt x="95" y="116"/>
                    </a:cubicBezTo>
                    <a:cubicBezTo>
                      <a:pt x="95" y="116"/>
                      <a:pt x="97" y="117"/>
                      <a:pt x="96" y="117"/>
                    </a:cubicBezTo>
                    <a:cubicBezTo>
                      <a:pt x="94" y="118"/>
                      <a:pt x="90" y="121"/>
                      <a:pt x="91" y="123"/>
                    </a:cubicBezTo>
                    <a:cubicBezTo>
                      <a:pt x="93" y="125"/>
                      <a:pt x="95" y="125"/>
                      <a:pt x="96" y="126"/>
                    </a:cubicBezTo>
                    <a:cubicBezTo>
                      <a:pt x="96" y="126"/>
                      <a:pt x="97" y="127"/>
                      <a:pt x="98" y="127"/>
                    </a:cubicBezTo>
                    <a:cubicBezTo>
                      <a:pt x="99" y="127"/>
                      <a:pt x="100" y="127"/>
                      <a:pt x="101" y="126"/>
                    </a:cubicBezTo>
                    <a:cubicBezTo>
                      <a:pt x="101" y="125"/>
                      <a:pt x="105" y="123"/>
                      <a:pt x="108" y="125"/>
                    </a:cubicBezTo>
                    <a:cubicBezTo>
                      <a:pt x="110" y="128"/>
                      <a:pt x="111" y="125"/>
                      <a:pt x="111" y="125"/>
                    </a:cubicBezTo>
                    <a:cubicBezTo>
                      <a:pt x="111" y="125"/>
                      <a:pt x="112" y="125"/>
                      <a:pt x="113" y="125"/>
                    </a:cubicBezTo>
                    <a:cubicBezTo>
                      <a:pt x="113" y="126"/>
                      <a:pt x="113" y="125"/>
                      <a:pt x="114" y="125"/>
                    </a:cubicBezTo>
                    <a:cubicBezTo>
                      <a:pt x="114" y="124"/>
                      <a:pt x="114" y="125"/>
                      <a:pt x="115" y="126"/>
                    </a:cubicBezTo>
                    <a:cubicBezTo>
                      <a:pt x="116" y="127"/>
                      <a:pt x="117" y="131"/>
                      <a:pt x="113" y="131"/>
                    </a:cubicBezTo>
                    <a:cubicBezTo>
                      <a:pt x="110" y="132"/>
                      <a:pt x="107" y="130"/>
                      <a:pt x="105" y="129"/>
                    </a:cubicBezTo>
                    <a:cubicBezTo>
                      <a:pt x="102" y="128"/>
                      <a:pt x="100" y="127"/>
                      <a:pt x="99" y="128"/>
                    </a:cubicBezTo>
                    <a:cubicBezTo>
                      <a:pt x="97" y="128"/>
                      <a:pt x="97" y="128"/>
                      <a:pt x="97" y="127"/>
                    </a:cubicBezTo>
                    <a:cubicBezTo>
                      <a:pt x="96" y="127"/>
                      <a:pt x="95" y="127"/>
                      <a:pt x="94" y="127"/>
                    </a:cubicBezTo>
                    <a:cubicBezTo>
                      <a:pt x="93" y="127"/>
                      <a:pt x="87" y="127"/>
                      <a:pt x="89" y="123"/>
                    </a:cubicBezTo>
                    <a:cubicBezTo>
                      <a:pt x="89" y="123"/>
                      <a:pt x="89" y="122"/>
                      <a:pt x="88" y="121"/>
                    </a:cubicBezTo>
                    <a:cubicBezTo>
                      <a:pt x="87" y="121"/>
                      <a:pt x="86" y="120"/>
                      <a:pt x="85" y="119"/>
                    </a:cubicBezTo>
                    <a:cubicBezTo>
                      <a:pt x="85" y="118"/>
                      <a:pt x="84" y="116"/>
                      <a:pt x="82" y="118"/>
                    </a:cubicBezTo>
                    <a:cubicBezTo>
                      <a:pt x="81" y="120"/>
                      <a:pt x="80" y="123"/>
                      <a:pt x="83" y="123"/>
                    </a:cubicBezTo>
                    <a:cubicBezTo>
                      <a:pt x="86" y="123"/>
                      <a:pt x="87" y="123"/>
                      <a:pt x="88" y="125"/>
                    </a:cubicBezTo>
                    <a:cubicBezTo>
                      <a:pt x="89" y="126"/>
                      <a:pt x="90" y="127"/>
                      <a:pt x="90" y="127"/>
                    </a:cubicBezTo>
                    <a:cubicBezTo>
                      <a:pt x="91" y="128"/>
                      <a:pt x="92" y="129"/>
                      <a:pt x="91" y="131"/>
                    </a:cubicBezTo>
                    <a:cubicBezTo>
                      <a:pt x="89" y="133"/>
                      <a:pt x="89" y="133"/>
                      <a:pt x="90" y="134"/>
                    </a:cubicBezTo>
                    <a:cubicBezTo>
                      <a:pt x="91" y="134"/>
                      <a:pt x="91" y="133"/>
                      <a:pt x="92" y="132"/>
                    </a:cubicBezTo>
                    <a:cubicBezTo>
                      <a:pt x="92" y="131"/>
                      <a:pt x="93" y="130"/>
                      <a:pt x="97" y="131"/>
                    </a:cubicBezTo>
                    <a:cubicBezTo>
                      <a:pt x="101" y="132"/>
                      <a:pt x="104" y="133"/>
                      <a:pt x="104" y="135"/>
                    </a:cubicBezTo>
                    <a:cubicBezTo>
                      <a:pt x="104" y="138"/>
                      <a:pt x="102" y="139"/>
                      <a:pt x="103" y="136"/>
                    </a:cubicBezTo>
                    <a:cubicBezTo>
                      <a:pt x="103" y="134"/>
                      <a:pt x="101" y="135"/>
                      <a:pt x="101" y="135"/>
                    </a:cubicBezTo>
                    <a:cubicBezTo>
                      <a:pt x="100" y="136"/>
                      <a:pt x="95" y="135"/>
                      <a:pt x="93" y="138"/>
                    </a:cubicBezTo>
                    <a:cubicBezTo>
                      <a:pt x="91" y="140"/>
                      <a:pt x="94" y="139"/>
                      <a:pt x="93" y="140"/>
                    </a:cubicBezTo>
                    <a:cubicBezTo>
                      <a:pt x="91" y="141"/>
                      <a:pt x="93" y="141"/>
                      <a:pt x="92" y="141"/>
                    </a:cubicBezTo>
                    <a:cubicBezTo>
                      <a:pt x="91" y="141"/>
                      <a:pt x="89" y="141"/>
                      <a:pt x="87" y="141"/>
                    </a:cubicBezTo>
                    <a:cubicBezTo>
                      <a:pt x="86" y="141"/>
                      <a:pt x="81" y="140"/>
                      <a:pt x="80" y="140"/>
                    </a:cubicBezTo>
                    <a:cubicBezTo>
                      <a:pt x="79" y="141"/>
                      <a:pt x="79" y="141"/>
                      <a:pt x="79" y="141"/>
                    </a:cubicBezTo>
                    <a:cubicBezTo>
                      <a:pt x="78" y="141"/>
                      <a:pt x="70" y="138"/>
                      <a:pt x="67" y="139"/>
                    </a:cubicBezTo>
                    <a:cubicBezTo>
                      <a:pt x="64" y="139"/>
                      <a:pt x="61" y="139"/>
                      <a:pt x="59" y="136"/>
                    </a:cubicBezTo>
                    <a:cubicBezTo>
                      <a:pt x="59" y="136"/>
                      <a:pt x="58" y="136"/>
                      <a:pt x="60" y="135"/>
                    </a:cubicBezTo>
                    <a:cubicBezTo>
                      <a:pt x="61" y="135"/>
                      <a:pt x="61" y="135"/>
                      <a:pt x="62" y="132"/>
                    </a:cubicBezTo>
                    <a:cubicBezTo>
                      <a:pt x="62" y="132"/>
                      <a:pt x="61" y="131"/>
                      <a:pt x="62" y="130"/>
                    </a:cubicBezTo>
                    <a:cubicBezTo>
                      <a:pt x="63" y="129"/>
                      <a:pt x="64" y="126"/>
                      <a:pt x="61" y="127"/>
                    </a:cubicBezTo>
                    <a:cubicBezTo>
                      <a:pt x="59" y="127"/>
                      <a:pt x="52" y="128"/>
                      <a:pt x="51" y="127"/>
                    </a:cubicBezTo>
                    <a:cubicBezTo>
                      <a:pt x="49" y="127"/>
                      <a:pt x="48" y="127"/>
                      <a:pt x="47" y="129"/>
                    </a:cubicBezTo>
                    <a:cubicBezTo>
                      <a:pt x="46" y="130"/>
                      <a:pt x="44" y="131"/>
                      <a:pt x="44" y="131"/>
                    </a:cubicBezTo>
                    <a:cubicBezTo>
                      <a:pt x="43" y="130"/>
                      <a:pt x="40" y="129"/>
                      <a:pt x="37" y="131"/>
                    </a:cubicBezTo>
                    <a:cubicBezTo>
                      <a:pt x="33" y="134"/>
                      <a:pt x="30" y="134"/>
                      <a:pt x="33" y="135"/>
                    </a:cubicBezTo>
                    <a:cubicBezTo>
                      <a:pt x="37" y="137"/>
                      <a:pt x="38" y="137"/>
                      <a:pt x="36" y="138"/>
                    </a:cubicBezTo>
                    <a:cubicBezTo>
                      <a:pt x="33" y="138"/>
                      <a:pt x="29" y="139"/>
                      <a:pt x="28" y="138"/>
                    </a:cubicBezTo>
                    <a:cubicBezTo>
                      <a:pt x="27" y="137"/>
                      <a:pt x="26" y="136"/>
                      <a:pt x="25" y="137"/>
                    </a:cubicBezTo>
                    <a:cubicBezTo>
                      <a:pt x="24" y="138"/>
                      <a:pt x="20" y="138"/>
                      <a:pt x="18" y="141"/>
                    </a:cubicBezTo>
                    <a:cubicBezTo>
                      <a:pt x="16" y="143"/>
                      <a:pt x="17" y="139"/>
                      <a:pt x="15" y="143"/>
                    </a:cubicBezTo>
                    <a:cubicBezTo>
                      <a:pt x="14" y="146"/>
                      <a:pt x="12" y="144"/>
                      <a:pt x="12" y="144"/>
                    </a:cubicBezTo>
                    <a:cubicBezTo>
                      <a:pt x="11" y="144"/>
                      <a:pt x="8" y="143"/>
                      <a:pt x="7" y="146"/>
                    </a:cubicBezTo>
                    <a:cubicBezTo>
                      <a:pt x="6" y="149"/>
                      <a:pt x="5" y="148"/>
                      <a:pt x="5" y="148"/>
                    </a:cubicBezTo>
                    <a:cubicBezTo>
                      <a:pt x="4" y="148"/>
                      <a:pt x="2" y="149"/>
                      <a:pt x="1" y="149"/>
                    </a:cubicBezTo>
                    <a:cubicBezTo>
                      <a:pt x="0" y="150"/>
                      <a:pt x="0" y="150"/>
                      <a:pt x="1" y="151"/>
                    </a:cubicBezTo>
                    <a:cubicBezTo>
                      <a:pt x="2" y="152"/>
                      <a:pt x="7" y="154"/>
                      <a:pt x="11" y="155"/>
                    </a:cubicBezTo>
                    <a:cubicBezTo>
                      <a:pt x="14" y="156"/>
                      <a:pt x="15" y="156"/>
                      <a:pt x="16" y="156"/>
                    </a:cubicBezTo>
                    <a:cubicBezTo>
                      <a:pt x="16" y="156"/>
                      <a:pt x="17" y="156"/>
                      <a:pt x="18" y="156"/>
                    </a:cubicBezTo>
                    <a:cubicBezTo>
                      <a:pt x="18" y="156"/>
                      <a:pt x="21" y="157"/>
                      <a:pt x="23" y="157"/>
                    </a:cubicBezTo>
                    <a:cubicBezTo>
                      <a:pt x="24" y="158"/>
                      <a:pt x="26" y="158"/>
                      <a:pt x="27" y="158"/>
                    </a:cubicBezTo>
                    <a:cubicBezTo>
                      <a:pt x="28" y="158"/>
                      <a:pt x="30" y="159"/>
                      <a:pt x="27" y="159"/>
                    </a:cubicBezTo>
                    <a:cubicBezTo>
                      <a:pt x="24" y="159"/>
                      <a:pt x="23" y="159"/>
                      <a:pt x="23" y="160"/>
                    </a:cubicBezTo>
                    <a:cubicBezTo>
                      <a:pt x="23" y="161"/>
                      <a:pt x="21" y="163"/>
                      <a:pt x="19" y="162"/>
                    </a:cubicBezTo>
                    <a:cubicBezTo>
                      <a:pt x="18" y="162"/>
                      <a:pt x="15" y="161"/>
                      <a:pt x="18" y="163"/>
                    </a:cubicBezTo>
                    <a:cubicBezTo>
                      <a:pt x="20" y="165"/>
                      <a:pt x="21" y="166"/>
                      <a:pt x="22" y="166"/>
                    </a:cubicBezTo>
                    <a:cubicBezTo>
                      <a:pt x="23" y="167"/>
                      <a:pt x="24" y="167"/>
                      <a:pt x="23" y="168"/>
                    </a:cubicBezTo>
                    <a:cubicBezTo>
                      <a:pt x="23" y="170"/>
                      <a:pt x="22" y="172"/>
                      <a:pt x="26" y="174"/>
                    </a:cubicBezTo>
                    <a:cubicBezTo>
                      <a:pt x="30" y="176"/>
                      <a:pt x="31" y="176"/>
                      <a:pt x="32" y="176"/>
                    </a:cubicBezTo>
                    <a:cubicBezTo>
                      <a:pt x="34" y="176"/>
                      <a:pt x="37" y="177"/>
                      <a:pt x="39" y="177"/>
                    </a:cubicBezTo>
                    <a:cubicBezTo>
                      <a:pt x="41" y="178"/>
                      <a:pt x="45" y="179"/>
                      <a:pt x="47" y="178"/>
                    </a:cubicBezTo>
                    <a:cubicBezTo>
                      <a:pt x="49" y="178"/>
                      <a:pt x="48" y="178"/>
                      <a:pt x="46" y="178"/>
                    </a:cubicBezTo>
                    <a:cubicBezTo>
                      <a:pt x="44" y="178"/>
                      <a:pt x="46" y="177"/>
                      <a:pt x="47" y="177"/>
                    </a:cubicBezTo>
                    <a:cubicBezTo>
                      <a:pt x="48" y="177"/>
                      <a:pt x="49" y="177"/>
                      <a:pt x="50" y="177"/>
                    </a:cubicBezTo>
                    <a:cubicBezTo>
                      <a:pt x="51" y="177"/>
                      <a:pt x="52" y="176"/>
                      <a:pt x="53" y="175"/>
                    </a:cubicBezTo>
                    <a:cubicBezTo>
                      <a:pt x="54" y="175"/>
                      <a:pt x="56" y="175"/>
                      <a:pt x="57" y="175"/>
                    </a:cubicBezTo>
                    <a:cubicBezTo>
                      <a:pt x="58" y="176"/>
                      <a:pt x="61" y="175"/>
                      <a:pt x="62" y="175"/>
                    </a:cubicBezTo>
                    <a:cubicBezTo>
                      <a:pt x="63" y="175"/>
                      <a:pt x="68" y="176"/>
                      <a:pt x="70" y="178"/>
                    </a:cubicBezTo>
                    <a:cubicBezTo>
                      <a:pt x="72" y="180"/>
                      <a:pt x="72" y="179"/>
                      <a:pt x="73" y="178"/>
                    </a:cubicBezTo>
                    <a:cubicBezTo>
                      <a:pt x="73" y="177"/>
                      <a:pt x="75" y="177"/>
                      <a:pt x="73" y="177"/>
                    </a:cubicBezTo>
                    <a:cubicBezTo>
                      <a:pt x="71" y="176"/>
                      <a:pt x="70" y="176"/>
                      <a:pt x="69" y="175"/>
                    </a:cubicBezTo>
                    <a:cubicBezTo>
                      <a:pt x="69" y="175"/>
                      <a:pt x="69" y="174"/>
                      <a:pt x="70" y="174"/>
                    </a:cubicBezTo>
                    <a:cubicBezTo>
                      <a:pt x="71" y="174"/>
                      <a:pt x="71" y="173"/>
                      <a:pt x="74" y="175"/>
                    </a:cubicBezTo>
                    <a:cubicBezTo>
                      <a:pt x="76" y="177"/>
                      <a:pt x="77" y="178"/>
                      <a:pt x="77" y="179"/>
                    </a:cubicBezTo>
                    <a:cubicBezTo>
                      <a:pt x="77" y="181"/>
                      <a:pt x="77" y="181"/>
                      <a:pt x="79" y="180"/>
                    </a:cubicBezTo>
                    <a:cubicBezTo>
                      <a:pt x="80" y="179"/>
                      <a:pt x="80" y="177"/>
                      <a:pt x="81" y="176"/>
                    </a:cubicBezTo>
                    <a:cubicBezTo>
                      <a:pt x="82" y="176"/>
                      <a:pt x="85" y="175"/>
                      <a:pt x="86" y="173"/>
                    </a:cubicBezTo>
                    <a:cubicBezTo>
                      <a:pt x="87" y="172"/>
                      <a:pt x="89" y="172"/>
                      <a:pt x="90" y="172"/>
                    </a:cubicBezTo>
                    <a:cubicBezTo>
                      <a:pt x="91" y="172"/>
                      <a:pt x="92" y="171"/>
                      <a:pt x="92" y="171"/>
                    </a:cubicBezTo>
                    <a:cubicBezTo>
                      <a:pt x="93" y="170"/>
                      <a:pt x="94" y="169"/>
                      <a:pt x="95" y="170"/>
                    </a:cubicBezTo>
                    <a:cubicBezTo>
                      <a:pt x="96" y="171"/>
                      <a:pt x="97" y="171"/>
                      <a:pt x="100" y="169"/>
                    </a:cubicBezTo>
                    <a:cubicBezTo>
                      <a:pt x="102" y="166"/>
                      <a:pt x="103" y="167"/>
                      <a:pt x="104" y="167"/>
                    </a:cubicBezTo>
                    <a:cubicBezTo>
                      <a:pt x="104" y="167"/>
                      <a:pt x="104" y="168"/>
                      <a:pt x="105" y="169"/>
                    </a:cubicBezTo>
                    <a:cubicBezTo>
                      <a:pt x="106" y="170"/>
                      <a:pt x="108" y="172"/>
                      <a:pt x="105" y="174"/>
                    </a:cubicBezTo>
                    <a:cubicBezTo>
                      <a:pt x="102" y="176"/>
                      <a:pt x="101" y="177"/>
                      <a:pt x="100" y="177"/>
                    </a:cubicBezTo>
                    <a:cubicBezTo>
                      <a:pt x="99" y="177"/>
                      <a:pt x="98" y="176"/>
                      <a:pt x="98" y="177"/>
                    </a:cubicBezTo>
                    <a:cubicBezTo>
                      <a:pt x="98" y="178"/>
                      <a:pt x="99" y="179"/>
                      <a:pt x="100" y="179"/>
                    </a:cubicBezTo>
                    <a:cubicBezTo>
                      <a:pt x="101" y="179"/>
                      <a:pt x="101" y="179"/>
                      <a:pt x="101" y="180"/>
                    </a:cubicBezTo>
                    <a:cubicBezTo>
                      <a:pt x="102" y="181"/>
                      <a:pt x="102" y="182"/>
                      <a:pt x="103" y="183"/>
                    </a:cubicBezTo>
                    <a:cubicBezTo>
                      <a:pt x="105" y="184"/>
                      <a:pt x="105" y="185"/>
                      <a:pt x="105" y="186"/>
                    </a:cubicBezTo>
                    <a:cubicBezTo>
                      <a:pt x="105" y="188"/>
                      <a:pt x="106" y="189"/>
                      <a:pt x="107" y="191"/>
                    </a:cubicBezTo>
                    <a:cubicBezTo>
                      <a:pt x="108" y="192"/>
                      <a:pt x="107" y="196"/>
                      <a:pt x="105" y="198"/>
                    </a:cubicBezTo>
                    <a:cubicBezTo>
                      <a:pt x="102" y="200"/>
                      <a:pt x="102" y="200"/>
                      <a:pt x="98" y="201"/>
                    </a:cubicBezTo>
                    <a:cubicBezTo>
                      <a:pt x="94" y="201"/>
                      <a:pt x="88" y="201"/>
                      <a:pt x="88" y="201"/>
                    </a:cubicBezTo>
                    <a:cubicBezTo>
                      <a:pt x="87" y="201"/>
                      <a:pt x="85" y="199"/>
                      <a:pt x="84" y="201"/>
                    </a:cubicBezTo>
                    <a:cubicBezTo>
                      <a:pt x="83" y="202"/>
                      <a:pt x="81" y="206"/>
                      <a:pt x="79" y="207"/>
                    </a:cubicBezTo>
                    <a:cubicBezTo>
                      <a:pt x="77" y="208"/>
                      <a:pt x="78" y="208"/>
                      <a:pt x="76" y="210"/>
                    </a:cubicBezTo>
                    <a:cubicBezTo>
                      <a:pt x="74" y="212"/>
                      <a:pt x="69" y="212"/>
                      <a:pt x="65" y="209"/>
                    </a:cubicBezTo>
                    <a:cubicBezTo>
                      <a:pt x="61" y="206"/>
                      <a:pt x="56" y="207"/>
                      <a:pt x="52" y="209"/>
                    </a:cubicBezTo>
                    <a:cubicBezTo>
                      <a:pt x="52" y="209"/>
                      <a:pt x="51" y="209"/>
                      <a:pt x="52" y="210"/>
                    </a:cubicBezTo>
                    <a:cubicBezTo>
                      <a:pt x="53" y="210"/>
                      <a:pt x="56" y="212"/>
                      <a:pt x="54" y="212"/>
                    </a:cubicBezTo>
                    <a:cubicBezTo>
                      <a:pt x="52" y="212"/>
                      <a:pt x="48" y="211"/>
                      <a:pt x="47" y="217"/>
                    </a:cubicBezTo>
                    <a:cubicBezTo>
                      <a:pt x="46" y="222"/>
                      <a:pt x="48" y="221"/>
                      <a:pt x="49" y="220"/>
                    </a:cubicBezTo>
                    <a:cubicBezTo>
                      <a:pt x="49" y="220"/>
                      <a:pt x="55" y="216"/>
                      <a:pt x="49" y="222"/>
                    </a:cubicBezTo>
                    <a:cubicBezTo>
                      <a:pt x="48" y="224"/>
                      <a:pt x="48" y="224"/>
                      <a:pt x="48" y="224"/>
                    </a:cubicBezTo>
                    <a:cubicBezTo>
                      <a:pt x="48" y="224"/>
                      <a:pt x="48" y="224"/>
                      <a:pt x="47" y="224"/>
                    </a:cubicBezTo>
                    <a:cubicBezTo>
                      <a:pt x="46" y="223"/>
                      <a:pt x="44" y="223"/>
                      <a:pt x="42" y="225"/>
                    </a:cubicBezTo>
                    <a:cubicBezTo>
                      <a:pt x="40" y="228"/>
                      <a:pt x="33" y="233"/>
                      <a:pt x="34" y="236"/>
                    </a:cubicBezTo>
                    <a:cubicBezTo>
                      <a:pt x="34" y="239"/>
                      <a:pt x="35" y="239"/>
                      <a:pt x="33" y="240"/>
                    </a:cubicBezTo>
                    <a:cubicBezTo>
                      <a:pt x="31" y="240"/>
                      <a:pt x="25" y="239"/>
                      <a:pt x="32" y="242"/>
                    </a:cubicBezTo>
                    <a:cubicBezTo>
                      <a:pt x="32" y="242"/>
                      <a:pt x="33" y="243"/>
                      <a:pt x="31" y="243"/>
                    </a:cubicBezTo>
                    <a:cubicBezTo>
                      <a:pt x="28" y="244"/>
                      <a:pt x="29" y="244"/>
                      <a:pt x="28" y="244"/>
                    </a:cubicBezTo>
                    <a:cubicBezTo>
                      <a:pt x="27" y="243"/>
                      <a:pt x="27" y="243"/>
                      <a:pt x="27" y="244"/>
                    </a:cubicBezTo>
                    <a:cubicBezTo>
                      <a:pt x="28" y="246"/>
                      <a:pt x="28" y="246"/>
                      <a:pt x="30" y="246"/>
                    </a:cubicBezTo>
                    <a:cubicBezTo>
                      <a:pt x="31" y="246"/>
                      <a:pt x="33" y="246"/>
                      <a:pt x="32" y="248"/>
                    </a:cubicBezTo>
                    <a:cubicBezTo>
                      <a:pt x="31" y="249"/>
                      <a:pt x="31" y="251"/>
                      <a:pt x="34" y="251"/>
                    </a:cubicBezTo>
                    <a:cubicBezTo>
                      <a:pt x="37" y="251"/>
                      <a:pt x="35" y="253"/>
                      <a:pt x="35" y="254"/>
                    </a:cubicBezTo>
                    <a:cubicBezTo>
                      <a:pt x="35" y="255"/>
                      <a:pt x="36" y="257"/>
                      <a:pt x="38" y="256"/>
                    </a:cubicBezTo>
                    <a:cubicBezTo>
                      <a:pt x="41" y="256"/>
                      <a:pt x="39" y="256"/>
                      <a:pt x="39" y="255"/>
                    </a:cubicBezTo>
                    <a:cubicBezTo>
                      <a:pt x="39" y="254"/>
                      <a:pt x="39" y="253"/>
                      <a:pt x="40" y="253"/>
                    </a:cubicBezTo>
                    <a:cubicBezTo>
                      <a:pt x="41" y="252"/>
                      <a:pt x="41" y="251"/>
                      <a:pt x="41" y="251"/>
                    </a:cubicBezTo>
                    <a:cubicBezTo>
                      <a:pt x="41" y="252"/>
                      <a:pt x="41" y="252"/>
                      <a:pt x="40" y="253"/>
                    </a:cubicBezTo>
                    <a:cubicBezTo>
                      <a:pt x="40" y="253"/>
                      <a:pt x="40" y="254"/>
                      <a:pt x="40" y="254"/>
                    </a:cubicBezTo>
                    <a:cubicBezTo>
                      <a:pt x="41" y="254"/>
                      <a:pt x="42" y="255"/>
                      <a:pt x="42" y="254"/>
                    </a:cubicBezTo>
                    <a:cubicBezTo>
                      <a:pt x="43" y="253"/>
                      <a:pt x="44" y="253"/>
                      <a:pt x="43" y="254"/>
                    </a:cubicBezTo>
                    <a:cubicBezTo>
                      <a:pt x="42" y="256"/>
                      <a:pt x="42" y="256"/>
                      <a:pt x="44" y="256"/>
                    </a:cubicBezTo>
                    <a:cubicBezTo>
                      <a:pt x="45" y="256"/>
                      <a:pt x="49" y="255"/>
                      <a:pt x="47" y="256"/>
                    </a:cubicBezTo>
                    <a:cubicBezTo>
                      <a:pt x="45" y="257"/>
                      <a:pt x="45" y="258"/>
                      <a:pt x="45" y="258"/>
                    </a:cubicBezTo>
                    <a:cubicBezTo>
                      <a:pt x="45" y="258"/>
                      <a:pt x="45" y="258"/>
                      <a:pt x="44" y="258"/>
                    </a:cubicBezTo>
                    <a:cubicBezTo>
                      <a:pt x="44" y="258"/>
                      <a:pt x="42" y="258"/>
                      <a:pt x="42" y="259"/>
                    </a:cubicBezTo>
                    <a:cubicBezTo>
                      <a:pt x="42" y="259"/>
                      <a:pt x="43" y="260"/>
                      <a:pt x="44" y="260"/>
                    </a:cubicBezTo>
                    <a:cubicBezTo>
                      <a:pt x="46" y="260"/>
                      <a:pt x="47" y="259"/>
                      <a:pt x="48" y="260"/>
                    </a:cubicBezTo>
                    <a:cubicBezTo>
                      <a:pt x="48" y="260"/>
                      <a:pt x="48" y="260"/>
                      <a:pt x="49" y="260"/>
                    </a:cubicBezTo>
                    <a:cubicBezTo>
                      <a:pt x="50" y="260"/>
                      <a:pt x="51" y="260"/>
                      <a:pt x="52" y="261"/>
                    </a:cubicBezTo>
                    <a:cubicBezTo>
                      <a:pt x="52" y="261"/>
                      <a:pt x="54" y="262"/>
                      <a:pt x="54" y="261"/>
                    </a:cubicBezTo>
                    <a:cubicBezTo>
                      <a:pt x="55" y="261"/>
                      <a:pt x="57" y="262"/>
                      <a:pt x="58" y="261"/>
                    </a:cubicBezTo>
                    <a:cubicBezTo>
                      <a:pt x="59" y="261"/>
                      <a:pt x="60" y="262"/>
                      <a:pt x="61" y="260"/>
                    </a:cubicBezTo>
                    <a:cubicBezTo>
                      <a:pt x="62" y="259"/>
                      <a:pt x="62" y="259"/>
                      <a:pt x="63" y="259"/>
                    </a:cubicBezTo>
                    <a:cubicBezTo>
                      <a:pt x="64" y="258"/>
                      <a:pt x="63" y="259"/>
                      <a:pt x="64" y="260"/>
                    </a:cubicBezTo>
                    <a:cubicBezTo>
                      <a:pt x="66" y="261"/>
                      <a:pt x="66" y="261"/>
                      <a:pt x="64" y="261"/>
                    </a:cubicBezTo>
                    <a:cubicBezTo>
                      <a:pt x="62" y="261"/>
                      <a:pt x="59" y="261"/>
                      <a:pt x="63" y="262"/>
                    </a:cubicBezTo>
                    <a:cubicBezTo>
                      <a:pt x="67" y="262"/>
                      <a:pt x="70" y="264"/>
                      <a:pt x="66" y="267"/>
                    </a:cubicBezTo>
                    <a:cubicBezTo>
                      <a:pt x="62" y="270"/>
                      <a:pt x="62" y="267"/>
                      <a:pt x="62" y="266"/>
                    </a:cubicBezTo>
                    <a:cubicBezTo>
                      <a:pt x="62" y="264"/>
                      <a:pt x="61" y="262"/>
                      <a:pt x="59" y="264"/>
                    </a:cubicBezTo>
                    <a:cubicBezTo>
                      <a:pt x="57" y="266"/>
                      <a:pt x="57" y="266"/>
                      <a:pt x="56" y="266"/>
                    </a:cubicBezTo>
                    <a:cubicBezTo>
                      <a:pt x="55" y="266"/>
                      <a:pt x="52" y="271"/>
                      <a:pt x="54" y="267"/>
                    </a:cubicBezTo>
                    <a:cubicBezTo>
                      <a:pt x="54" y="267"/>
                      <a:pt x="55" y="266"/>
                      <a:pt x="55" y="266"/>
                    </a:cubicBezTo>
                    <a:cubicBezTo>
                      <a:pt x="56" y="265"/>
                      <a:pt x="56" y="264"/>
                      <a:pt x="55" y="264"/>
                    </a:cubicBezTo>
                    <a:cubicBezTo>
                      <a:pt x="54" y="263"/>
                      <a:pt x="53" y="263"/>
                      <a:pt x="51" y="263"/>
                    </a:cubicBezTo>
                    <a:cubicBezTo>
                      <a:pt x="50" y="262"/>
                      <a:pt x="49" y="262"/>
                      <a:pt x="49" y="261"/>
                    </a:cubicBezTo>
                    <a:cubicBezTo>
                      <a:pt x="48" y="261"/>
                      <a:pt x="48" y="260"/>
                      <a:pt x="48" y="261"/>
                    </a:cubicBezTo>
                    <a:cubicBezTo>
                      <a:pt x="47" y="262"/>
                      <a:pt x="47" y="261"/>
                      <a:pt x="46" y="261"/>
                    </a:cubicBezTo>
                    <a:cubicBezTo>
                      <a:pt x="46" y="260"/>
                      <a:pt x="45" y="260"/>
                      <a:pt x="46" y="261"/>
                    </a:cubicBezTo>
                    <a:cubicBezTo>
                      <a:pt x="46" y="262"/>
                      <a:pt x="46" y="263"/>
                      <a:pt x="45" y="263"/>
                    </a:cubicBezTo>
                    <a:cubicBezTo>
                      <a:pt x="44" y="263"/>
                      <a:pt x="44" y="264"/>
                      <a:pt x="44" y="265"/>
                    </a:cubicBezTo>
                    <a:cubicBezTo>
                      <a:pt x="45" y="265"/>
                      <a:pt x="44" y="266"/>
                      <a:pt x="43" y="266"/>
                    </a:cubicBezTo>
                    <a:cubicBezTo>
                      <a:pt x="42" y="267"/>
                      <a:pt x="37" y="268"/>
                      <a:pt x="39" y="269"/>
                    </a:cubicBezTo>
                    <a:cubicBezTo>
                      <a:pt x="41" y="269"/>
                      <a:pt x="42" y="269"/>
                      <a:pt x="43" y="269"/>
                    </a:cubicBezTo>
                    <a:cubicBezTo>
                      <a:pt x="44" y="268"/>
                      <a:pt x="45" y="268"/>
                      <a:pt x="45" y="269"/>
                    </a:cubicBezTo>
                    <a:cubicBezTo>
                      <a:pt x="44" y="270"/>
                      <a:pt x="42" y="271"/>
                      <a:pt x="44" y="272"/>
                    </a:cubicBezTo>
                    <a:cubicBezTo>
                      <a:pt x="45" y="273"/>
                      <a:pt x="47" y="274"/>
                      <a:pt x="48" y="274"/>
                    </a:cubicBezTo>
                    <a:cubicBezTo>
                      <a:pt x="49" y="274"/>
                      <a:pt x="50" y="273"/>
                      <a:pt x="51" y="275"/>
                    </a:cubicBezTo>
                    <a:cubicBezTo>
                      <a:pt x="52" y="276"/>
                      <a:pt x="56" y="285"/>
                      <a:pt x="62" y="285"/>
                    </a:cubicBezTo>
                    <a:cubicBezTo>
                      <a:pt x="68" y="285"/>
                      <a:pt x="75" y="284"/>
                      <a:pt x="77" y="282"/>
                    </a:cubicBezTo>
                    <a:cubicBezTo>
                      <a:pt x="77" y="282"/>
                      <a:pt x="78" y="282"/>
                      <a:pt x="78" y="281"/>
                    </a:cubicBezTo>
                    <a:cubicBezTo>
                      <a:pt x="78" y="280"/>
                      <a:pt x="78" y="281"/>
                      <a:pt x="79" y="281"/>
                    </a:cubicBezTo>
                    <a:cubicBezTo>
                      <a:pt x="79" y="281"/>
                      <a:pt x="80" y="281"/>
                      <a:pt x="81" y="281"/>
                    </a:cubicBezTo>
                    <a:cubicBezTo>
                      <a:pt x="82" y="280"/>
                      <a:pt x="83" y="278"/>
                      <a:pt x="83" y="277"/>
                    </a:cubicBezTo>
                    <a:cubicBezTo>
                      <a:pt x="83" y="276"/>
                      <a:pt x="82" y="276"/>
                      <a:pt x="81" y="276"/>
                    </a:cubicBezTo>
                    <a:cubicBezTo>
                      <a:pt x="80" y="275"/>
                      <a:pt x="79" y="275"/>
                      <a:pt x="80" y="275"/>
                    </a:cubicBezTo>
                    <a:cubicBezTo>
                      <a:pt x="81" y="275"/>
                      <a:pt x="81" y="274"/>
                      <a:pt x="81" y="274"/>
                    </a:cubicBezTo>
                    <a:cubicBezTo>
                      <a:pt x="81" y="273"/>
                      <a:pt x="81" y="273"/>
                      <a:pt x="82" y="273"/>
                    </a:cubicBezTo>
                    <a:cubicBezTo>
                      <a:pt x="82" y="272"/>
                      <a:pt x="83" y="272"/>
                      <a:pt x="83" y="272"/>
                    </a:cubicBezTo>
                    <a:cubicBezTo>
                      <a:pt x="83" y="271"/>
                      <a:pt x="83" y="271"/>
                      <a:pt x="83" y="271"/>
                    </a:cubicBezTo>
                    <a:cubicBezTo>
                      <a:pt x="84" y="271"/>
                      <a:pt x="84" y="270"/>
                      <a:pt x="84" y="269"/>
                    </a:cubicBezTo>
                    <a:cubicBezTo>
                      <a:pt x="85" y="268"/>
                      <a:pt x="85" y="267"/>
                      <a:pt x="86" y="267"/>
                    </a:cubicBezTo>
                    <a:cubicBezTo>
                      <a:pt x="87" y="267"/>
                      <a:pt x="88" y="266"/>
                      <a:pt x="87" y="266"/>
                    </a:cubicBezTo>
                    <a:cubicBezTo>
                      <a:pt x="87" y="265"/>
                      <a:pt x="87" y="265"/>
                      <a:pt x="88" y="265"/>
                    </a:cubicBezTo>
                    <a:cubicBezTo>
                      <a:pt x="89" y="266"/>
                      <a:pt x="89" y="265"/>
                      <a:pt x="89" y="265"/>
                    </a:cubicBezTo>
                    <a:cubicBezTo>
                      <a:pt x="90" y="265"/>
                      <a:pt x="92" y="264"/>
                      <a:pt x="89" y="266"/>
                    </a:cubicBezTo>
                    <a:cubicBezTo>
                      <a:pt x="86" y="268"/>
                      <a:pt x="86" y="269"/>
                      <a:pt x="85" y="270"/>
                    </a:cubicBezTo>
                    <a:cubicBezTo>
                      <a:pt x="85" y="271"/>
                      <a:pt x="84" y="273"/>
                      <a:pt x="83" y="273"/>
                    </a:cubicBezTo>
                    <a:cubicBezTo>
                      <a:pt x="83" y="274"/>
                      <a:pt x="82" y="274"/>
                      <a:pt x="83" y="275"/>
                    </a:cubicBezTo>
                    <a:cubicBezTo>
                      <a:pt x="85" y="276"/>
                      <a:pt x="84" y="276"/>
                      <a:pt x="85" y="277"/>
                    </a:cubicBezTo>
                    <a:cubicBezTo>
                      <a:pt x="85" y="277"/>
                      <a:pt x="85" y="277"/>
                      <a:pt x="85" y="276"/>
                    </a:cubicBezTo>
                    <a:cubicBezTo>
                      <a:pt x="85" y="276"/>
                      <a:pt x="85" y="276"/>
                      <a:pt x="86" y="276"/>
                    </a:cubicBezTo>
                    <a:cubicBezTo>
                      <a:pt x="86" y="276"/>
                      <a:pt x="87" y="275"/>
                      <a:pt x="87" y="277"/>
                    </a:cubicBezTo>
                    <a:cubicBezTo>
                      <a:pt x="87" y="278"/>
                      <a:pt x="88" y="282"/>
                      <a:pt x="89" y="285"/>
                    </a:cubicBezTo>
                    <a:cubicBezTo>
                      <a:pt x="91" y="287"/>
                      <a:pt x="91" y="288"/>
                      <a:pt x="91" y="289"/>
                    </a:cubicBezTo>
                    <a:cubicBezTo>
                      <a:pt x="92" y="290"/>
                      <a:pt x="94" y="291"/>
                      <a:pt x="92" y="293"/>
                    </a:cubicBezTo>
                    <a:cubicBezTo>
                      <a:pt x="89" y="295"/>
                      <a:pt x="88" y="296"/>
                      <a:pt x="89" y="299"/>
                    </a:cubicBezTo>
                    <a:cubicBezTo>
                      <a:pt x="90" y="302"/>
                      <a:pt x="92" y="301"/>
                      <a:pt x="93" y="300"/>
                    </a:cubicBezTo>
                    <a:cubicBezTo>
                      <a:pt x="94" y="300"/>
                      <a:pt x="97" y="300"/>
                      <a:pt x="95" y="301"/>
                    </a:cubicBezTo>
                    <a:cubicBezTo>
                      <a:pt x="92" y="302"/>
                      <a:pt x="91" y="301"/>
                      <a:pt x="92" y="303"/>
                    </a:cubicBezTo>
                    <a:cubicBezTo>
                      <a:pt x="92" y="304"/>
                      <a:pt x="93" y="306"/>
                      <a:pt x="93" y="306"/>
                    </a:cubicBezTo>
                    <a:cubicBezTo>
                      <a:pt x="93" y="307"/>
                      <a:pt x="93" y="307"/>
                      <a:pt x="93" y="307"/>
                    </a:cubicBezTo>
                    <a:cubicBezTo>
                      <a:pt x="94" y="306"/>
                      <a:pt x="95" y="307"/>
                      <a:pt x="94" y="308"/>
                    </a:cubicBezTo>
                    <a:cubicBezTo>
                      <a:pt x="92" y="309"/>
                      <a:pt x="88" y="310"/>
                      <a:pt x="88" y="310"/>
                    </a:cubicBezTo>
                    <a:cubicBezTo>
                      <a:pt x="87" y="311"/>
                      <a:pt x="87" y="311"/>
                      <a:pt x="88" y="311"/>
                    </a:cubicBezTo>
                    <a:cubicBezTo>
                      <a:pt x="89" y="311"/>
                      <a:pt x="91" y="311"/>
                      <a:pt x="92" y="311"/>
                    </a:cubicBezTo>
                    <a:cubicBezTo>
                      <a:pt x="93" y="311"/>
                      <a:pt x="93" y="312"/>
                      <a:pt x="93" y="311"/>
                    </a:cubicBezTo>
                    <a:cubicBezTo>
                      <a:pt x="93" y="310"/>
                      <a:pt x="93" y="311"/>
                      <a:pt x="94" y="311"/>
                    </a:cubicBezTo>
                    <a:cubicBezTo>
                      <a:pt x="94" y="312"/>
                      <a:pt x="94" y="312"/>
                      <a:pt x="94" y="312"/>
                    </a:cubicBezTo>
                    <a:cubicBezTo>
                      <a:pt x="95" y="311"/>
                      <a:pt x="97" y="311"/>
                      <a:pt x="97" y="310"/>
                    </a:cubicBezTo>
                    <a:cubicBezTo>
                      <a:pt x="98" y="310"/>
                      <a:pt x="99" y="309"/>
                      <a:pt x="100" y="309"/>
                    </a:cubicBezTo>
                    <a:cubicBezTo>
                      <a:pt x="100" y="308"/>
                      <a:pt x="101" y="307"/>
                      <a:pt x="102" y="307"/>
                    </a:cubicBezTo>
                    <a:cubicBezTo>
                      <a:pt x="103" y="306"/>
                      <a:pt x="105" y="305"/>
                      <a:pt x="106" y="305"/>
                    </a:cubicBezTo>
                    <a:cubicBezTo>
                      <a:pt x="106" y="306"/>
                      <a:pt x="106" y="306"/>
                      <a:pt x="107" y="305"/>
                    </a:cubicBezTo>
                    <a:cubicBezTo>
                      <a:pt x="108" y="304"/>
                      <a:pt x="114" y="300"/>
                      <a:pt x="114" y="302"/>
                    </a:cubicBezTo>
                    <a:cubicBezTo>
                      <a:pt x="115" y="304"/>
                      <a:pt x="115" y="305"/>
                      <a:pt x="116" y="304"/>
                    </a:cubicBezTo>
                    <a:cubicBezTo>
                      <a:pt x="117" y="304"/>
                      <a:pt x="116" y="305"/>
                      <a:pt x="117" y="305"/>
                    </a:cubicBezTo>
                    <a:cubicBezTo>
                      <a:pt x="117" y="306"/>
                      <a:pt x="117" y="306"/>
                      <a:pt x="118" y="305"/>
                    </a:cubicBezTo>
                    <a:cubicBezTo>
                      <a:pt x="119" y="305"/>
                      <a:pt x="119" y="305"/>
                      <a:pt x="119" y="306"/>
                    </a:cubicBezTo>
                    <a:cubicBezTo>
                      <a:pt x="119" y="307"/>
                      <a:pt x="119" y="307"/>
                      <a:pt x="120" y="307"/>
                    </a:cubicBezTo>
                    <a:cubicBezTo>
                      <a:pt x="120" y="308"/>
                      <a:pt x="121" y="307"/>
                      <a:pt x="122" y="307"/>
                    </a:cubicBezTo>
                    <a:cubicBezTo>
                      <a:pt x="122" y="306"/>
                      <a:pt x="123" y="304"/>
                      <a:pt x="123" y="304"/>
                    </a:cubicBezTo>
                    <a:cubicBezTo>
                      <a:pt x="124" y="304"/>
                      <a:pt x="124" y="304"/>
                      <a:pt x="125" y="305"/>
                    </a:cubicBezTo>
                    <a:cubicBezTo>
                      <a:pt x="125" y="306"/>
                      <a:pt x="125" y="306"/>
                      <a:pt x="126" y="307"/>
                    </a:cubicBezTo>
                    <a:cubicBezTo>
                      <a:pt x="126" y="307"/>
                      <a:pt x="127" y="307"/>
                      <a:pt x="128" y="309"/>
                    </a:cubicBezTo>
                    <a:cubicBezTo>
                      <a:pt x="130" y="311"/>
                      <a:pt x="134" y="317"/>
                      <a:pt x="137" y="315"/>
                    </a:cubicBezTo>
                    <a:cubicBezTo>
                      <a:pt x="139" y="313"/>
                      <a:pt x="137" y="313"/>
                      <a:pt x="135" y="309"/>
                    </a:cubicBezTo>
                    <a:cubicBezTo>
                      <a:pt x="135" y="309"/>
                      <a:pt x="135" y="307"/>
                      <a:pt x="136" y="306"/>
                    </a:cubicBezTo>
                    <a:cubicBezTo>
                      <a:pt x="138" y="305"/>
                      <a:pt x="137" y="305"/>
                      <a:pt x="137" y="304"/>
                    </a:cubicBezTo>
                    <a:cubicBezTo>
                      <a:pt x="137" y="304"/>
                      <a:pt x="138" y="304"/>
                      <a:pt x="138" y="305"/>
                    </a:cubicBezTo>
                    <a:cubicBezTo>
                      <a:pt x="138" y="305"/>
                      <a:pt x="138" y="305"/>
                      <a:pt x="139" y="305"/>
                    </a:cubicBezTo>
                    <a:cubicBezTo>
                      <a:pt x="139" y="304"/>
                      <a:pt x="141" y="303"/>
                      <a:pt x="141" y="302"/>
                    </a:cubicBezTo>
                    <a:cubicBezTo>
                      <a:pt x="142" y="301"/>
                      <a:pt x="142" y="301"/>
                      <a:pt x="141" y="300"/>
                    </a:cubicBezTo>
                    <a:cubicBezTo>
                      <a:pt x="141" y="300"/>
                      <a:pt x="141" y="299"/>
                      <a:pt x="142" y="300"/>
                    </a:cubicBezTo>
                    <a:cubicBezTo>
                      <a:pt x="143" y="301"/>
                      <a:pt x="144" y="302"/>
                      <a:pt x="145" y="302"/>
                    </a:cubicBezTo>
                    <a:cubicBezTo>
                      <a:pt x="146" y="302"/>
                      <a:pt x="148" y="303"/>
                      <a:pt x="148" y="303"/>
                    </a:cubicBezTo>
                    <a:cubicBezTo>
                      <a:pt x="148" y="304"/>
                      <a:pt x="148" y="305"/>
                      <a:pt x="147" y="303"/>
                    </a:cubicBezTo>
                    <a:cubicBezTo>
                      <a:pt x="146" y="302"/>
                      <a:pt x="145" y="302"/>
                      <a:pt x="143" y="302"/>
                    </a:cubicBezTo>
                    <a:cubicBezTo>
                      <a:pt x="142" y="302"/>
                      <a:pt x="141" y="303"/>
                      <a:pt x="141" y="304"/>
                    </a:cubicBezTo>
                    <a:cubicBezTo>
                      <a:pt x="141" y="305"/>
                      <a:pt x="141" y="307"/>
                      <a:pt x="141" y="307"/>
                    </a:cubicBezTo>
                    <a:cubicBezTo>
                      <a:pt x="142" y="308"/>
                      <a:pt x="143" y="308"/>
                      <a:pt x="143" y="309"/>
                    </a:cubicBezTo>
                    <a:cubicBezTo>
                      <a:pt x="144" y="310"/>
                      <a:pt x="144" y="311"/>
                      <a:pt x="146" y="311"/>
                    </a:cubicBezTo>
                    <a:cubicBezTo>
                      <a:pt x="147" y="311"/>
                      <a:pt x="148" y="311"/>
                      <a:pt x="150" y="310"/>
                    </a:cubicBezTo>
                    <a:cubicBezTo>
                      <a:pt x="151" y="309"/>
                      <a:pt x="154" y="308"/>
                      <a:pt x="156" y="307"/>
                    </a:cubicBezTo>
                    <a:cubicBezTo>
                      <a:pt x="158" y="307"/>
                      <a:pt x="160" y="307"/>
                      <a:pt x="162" y="305"/>
                    </a:cubicBezTo>
                    <a:cubicBezTo>
                      <a:pt x="163" y="304"/>
                      <a:pt x="164" y="303"/>
                      <a:pt x="164" y="303"/>
                    </a:cubicBezTo>
                    <a:cubicBezTo>
                      <a:pt x="165" y="303"/>
                      <a:pt x="167" y="299"/>
                      <a:pt x="166" y="301"/>
                    </a:cubicBezTo>
                    <a:cubicBezTo>
                      <a:pt x="165" y="303"/>
                      <a:pt x="162" y="308"/>
                      <a:pt x="163" y="308"/>
                    </a:cubicBezTo>
                    <a:cubicBezTo>
                      <a:pt x="164" y="309"/>
                      <a:pt x="164" y="309"/>
                      <a:pt x="163" y="310"/>
                    </a:cubicBezTo>
                    <a:cubicBezTo>
                      <a:pt x="162" y="310"/>
                      <a:pt x="157" y="316"/>
                      <a:pt x="157" y="316"/>
                    </a:cubicBezTo>
                    <a:cubicBezTo>
                      <a:pt x="157" y="316"/>
                      <a:pt x="154" y="319"/>
                      <a:pt x="158" y="319"/>
                    </a:cubicBezTo>
                    <a:cubicBezTo>
                      <a:pt x="162" y="320"/>
                      <a:pt x="162" y="321"/>
                      <a:pt x="161" y="321"/>
                    </a:cubicBezTo>
                    <a:cubicBezTo>
                      <a:pt x="159" y="320"/>
                      <a:pt x="157" y="320"/>
                      <a:pt x="156" y="321"/>
                    </a:cubicBezTo>
                    <a:cubicBezTo>
                      <a:pt x="156" y="322"/>
                      <a:pt x="154" y="323"/>
                      <a:pt x="154" y="326"/>
                    </a:cubicBezTo>
                    <a:cubicBezTo>
                      <a:pt x="154" y="329"/>
                      <a:pt x="154" y="330"/>
                      <a:pt x="153" y="331"/>
                    </a:cubicBezTo>
                    <a:cubicBezTo>
                      <a:pt x="153" y="331"/>
                      <a:pt x="153" y="332"/>
                      <a:pt x="154" y="333"/>
                    </a:cubicBezTo>
                    <a:cubicBezTo>
                      <a:pt x="155" y="334"/>
                      <a:pt x="155" y="334"/>
                      <a:pt x="154" y="335"/>
                    </a:cubicBezTo>
                    <a:cubicBezTo>
                      <a:pt x="153" y="335"/>
                      <a:pt x="153" y="335"/>
                      <a:pt x="153" y="334"/>
                    </a:cubicBezTo>
                    <a:cubicBezTo>
                      <a:pt x="153" y="333"/>
                      <a:pt x="153" y="333"/>
                      <a:pt x="152" y="334"/>
                    </a:cubicBezTo>
                    <a:cubicBezTo>
                      <a:pt x="151" y="334"/>
                      <a:pt x="148" y="337"/>
                      <a:pt x="146" y="338"/>
                    </a:cubicBezTo>
                    <a:cubicBezTo>
                      <a:pt x="144" y="340"/>
                      <a:pt x="142" y="342"/>
                      <a:pt x="142" y="342"/>
                    </a:cubicBezTo>
                    <a:cubicBezTo>
                      <a:pt x="141" y="343"/>
                      <a:pt x="138" y="344"/>
                      <a:pt x="139" y="347"/>
                    </a:cubicBezTo>
                    <a:cubicBezTo>
                      <a:pt x="140" y="350"/>
                      <a:pt x="139" y="351"/>
                      <a:pt x="137" y="350"/>
                    </a:cubicBezTo>
                    <a:cubicBezTo>
                      <a:pt x="134" y="348"/>
                      <a:pt x="134" y="350"/>
                      <a:pt x="133" y="350"/>
                    </a:cubicBezTo>
                    <a:cubicBezTo>
                      <a:pt x="132" y="351"/>
                      <a:pt x="119" y="359"/>
                      <a:pt x="117" y="360"/>
                    </a:cubicBezTo>
                    <a:cubicBezTo>
                      <a:pt x="115" y="361"/>
                      <a:pt x="113" y="362"/>
                      <a:pt x="113" y="363"/>
                    </a:cubicBezTo>
                    <a:cubicBezTo>
                      <a:pt x="112" y="364"/>
                      <a:pt x="111" y="366"/>
                      <a:pt x="111" y="367"/>
                    </a:cubicBezTo>
                    <a:cubicBezTo>
                      <a:pt x="111" y="368"/>
                      <a:pt x="110" y="368"/>
                      <a:pt x="111" y="368"/>
                    </a:cubicBezTo>
                    <a:cubicBezTo>
                      <a:pt x="112" y="369"/>
                      <a:pt x="115" y="370"/>
                      <a:pt x="115" y="370"/>
                    </a:cubicBezTo>
                    <a:cubicBezTo>
                      <a:pt x="115" y="371"/>
                      <a:pt x="115" y="372"/>
                      <a:pt x="115" y="372"/>
                    </a:cubicBezTo>
                    <a:cubicBezTo>
                      <a:pt x="114" y="371"/>
                      <a:pt x="108" y="370"/>
                      <a:pt x="108" y="370"/>
                    </a:cubicBezTo>
                    <a:cubicBezTo>
                      <a:pt x="108" y="370"/>
                      <a:pt x="107" y="369"/>
                      <a:pt x="108" y="370"/>
                    </a:cubicBezTo>
                    <a:cubicBezTo>
                      <a:pt x="108" y="372"/>
                      <a:pt x="110" y="373"/>
                      <a:pt x="109" y="373"/>
                    </a:cubicBezTo>
                    <a:cubicBezTo>
                      <a:pt x="107" y="372"/>
                      <a:pt x="105" y="371"/>
                      <a:pt x="105" y="370"/>
                    </a:cubicBezTo>
                    <a:cubicBezTo>
                      <a:pt x="105" y="369"/>
                      <a:pt x="105" y="369"/>
                      <a:pt x="105" y="369"/>
                    </a:cubicBezTo>
                    <a:cubicBezTo>
                      <a:pt x="104" y="370"/>
                      <a:pt x="103" y="369"/>
                      <a:pt x="105" y="368"/>
                    </a:cubicBezTo>
                    <a:cubicBezTo>
                      <a:pt x="106" y="368"/>
                      <a:pt x="107" y="367"/>
                      <a:pt x="105" y="367"/>
                    </a:cubicBezTo>
                    <a:cubicBezTo>
                      <a:pt x="104" y="367"/>
                      <a:pt x="102" y="367"/>
                      <a:pt x="100" y="367"/>
                    </a:cubicBezTo>
                    <a:cubicBezTo>
                      <a:pt x="98" y="368"/>
                      <a:pt x="93" y="370"/>
                      <a:pt x="92" y="370"/>
                    </a:cubicBezTo>
                    <a:cubicBezTo>
                      <a:pt x="90" y="371"/>
                      <a:pt x="86" y="374"/>
                      <a:pt x="85" y="375"/>
                    </a:cubicBezTo>
                    <a:cubicBezTo>
                      <a:pt x="83" y="376"/>
                      <a:pt x="75" y="383"/>
                      <a:pt x="75" y="383"/>
                    </a:cubicBezTo>
                    <a:cubicBezTo>
                      <a:pt x="74" y="384"/>
                      <a:pt x="73" y="385"/>
                      <a:pt x="73" y="384"/>
                    </a:cubicBezTo>
                    <a:cubicBezTo>
                      <a:pt x="74" y="383"/>
                      <a:pt x="74" y="383"/>
                      <a:pt x="73" y="383"/>
                    </a:cubicBezTo>
                    <a:cubicBezTo>
                      <a:pt x="72" y="384"/>
                      <a:pt x="70" y="385"/>
                      <a:pt x="70" y="387"/>
                    </a:cubicBezTo>
                    <a:cubicBezTo>
                      <a:pt x="70" y="389"/>
                      <a:pt x="70" y="389"/>
                      <a:pt x="70" y="390"/>
                    </a:cubicBezTo>
                    <a:cubicBezTo>
                      <a:pt x="69" y="391"/>
                      <a:pt x="69" y="392"/>
                      <a:pt x="70" y="390"/>
                    </a:cubicBezTo>
                    <a:cubicBezTo>
                      <a:pt x="72" y="389"/>
                      <a:pt x="73" y="388"/>
                      <a:pt x="72" y="387"/>
                    </a:cubicBezTo>
                    <a:cubicBezTo>
                      <a:pt x="71" y="387"/>
                      <a:pt x="70" y="386"/>
                      <a:pt x="72" y="385"/>
                    </a:cubicBezTo>
                    <a:cubicBezTo>
                      <a:pt x="73" y="385"/>
                      <a:pt x="73" y="385"/>
                      <a:pt x="74" y="386"/>
                    </a:cubicBezTo>
                    <a:cubicBezTo>
                      <a:pt x="75" y="387"/>
                      <a:pt x="76" y="387"/>
                      <a:pt x="75" y="388"/>
                    </a:cubicBezTo>
                    <a:cubicBezTo>
                      <a:pt x="75" y="388"/>
                      <a:pt x="75" y="388"/>
                      <a:pt x="76" y="388"/>
                    </a:cubicBezTo>
                    <a:cubicBezTo>
                      <a:pt x="77" y="389"/>
                      <a:pt x="79" y="389"/>
                      <a:pt x="80" y="388"/>
                    </a:cubicBezTo>
                    <a:cubicBezTo>
                      <a:pt x="81" y="388"/>
                      <a:pt x="81" y="388"/>
                      <a:pt x="80" y="387"/>
                    </a:cubicBezTo>
                    <a:cubicBezTo>
                      <a:pt x="80" y="386"/>
                      <a:pt x="79" y="385"/>
                      <a:pt x="80" y="385"/>
                    </a:cubicBezTo>
                    <a:cubicBezTo>
                      <a:pt x="80" y="385"/>
                      <a:pt x="80" y="384"/>
                      <a:pt x="79" y="384"/>
                    </a:cubicBezTo>
                    <a:cubicBezTo>
                      <a:pt x="79" y="383"/>
                      <a:pt x="78" y="383"/>
                      <a:pt x="78" y="382"/>
                    </a:cubicBezTo>
                    <a:cubicBezTo>
                      <a:pt x="79" y="382"/>
                      <a:pt x="79" y="382"/>
                      <a:pt x="80" y="383"/>
                    </a:cubicBezTo>
                    <a:cubicBezTo>
                      <a:pt x="81" y="384"/>
                      <a:pt x="85" y="385"/>
                      <a:pt x="84" y="386"/>
                    </a:cubicBezTo>
                    <a:cubicBezTo>
                      <a:pt x="82" y="386"/>
                      <a:pt x="82" y="387"/>
                      <a:pt x="83" y="387"/>
                    </a:cubicBezTo>
                    <a:cubicBezTo>
                      <a:pt x="84" y="387"/>
                      <a:pt x="85" y="388"/>
                      <a:pt x="85" y="387"/>
                    </a:cubicBezTo>
                    <a:cubicBezTo>
                      <a:pt x="86" y="386"/>
                      <a:pt x="86" y="385"/>
                      <a:pt x="87" y="385"/>
                    </a:cubicBezTo>
                    <a:cubicBezTo>
                      <a:pt x="88" y="386"/>
                      <a:pt x="89" y="385"/>
                      <a:pt x="89" y="384"/>
                    </a:cubicBezTo>
                    <a:cubicBezTo>
                      <a:pt x="89" y="383"/>
                      <a:pt x="89" y="382"/>
                      <a:pt x="90" y="382"/>
                    </a:cubicBezTo>
                    <a:cubicBezTo>
                      <a:pt x="91" y="382"/>
                      <a:pt x="94" y="380"/>
                      <a:pt x="94" y="378"/>
                    </a:cubicBezTo>
                    <a:cubicBezTo>
                      <a:pt x="94" y="376"/>
                      <a:pt x="96" y="375"/>
                      <a:pt x="97" y="375"/>
                    </a:cubicBezTo>
                    <a:cubicBezTo>
                      <a:pt x="99" y="375"/>
                      <a:pt x="104" y="377"/>
                      <a:pt x="100" y="377"/>
                    </a:cubicBezTo>
                    <a:cubicBezTo>
                      <a:pt x="97" y="377"/>
                      <a:pt x="98" y="376"/>
                      <a:pt x="97" y="379"/>
                    </a:cubicBezTo>
                    <a:cubicBezTo>
                      <a:pt x="95" y="381"/>
                      <a:pt x="96" y="380"/>
                      <a:pt x="98" y="380"/>
                    </a:cubicBezTo>
                    <a:cubicBezTo>
                      <a:pt x="99" y="380"/>
                      <a:pt x="100" y="380"/>
                      <a:pt x="101" y="380"/>
                    </a:cubicBezTo>
                    <a:cubicBezTo>
                      <a:pt x="102" y="380"/>
                      <a:pt x="106" y="379"/>
                      <a:pt x="107" y="379"/>
                    </a:cubicBezTo>
                    <a:cubicBezTo>
                      <a:pt x="108" y="378"/>
                      <a:pt x="108" y="378"/>
                      <a:pt x="108" y="377"/>
                    </a:cubicBezTo>
                    <a:cubicBezTo>
                      <a:pt x="108" y="376"/>
                      <a:pt x="108" y="376"/>
                      <a:pt x="109" y="376"/>
                    </a:cubicBezTo>
                    <a:cubicBezTo>
                      <a:pt x="109" y="375"/>
                      <a:pt x="110" y="375"/>
                      <a:pt x="110" y="376"/>
                    </a:cubicBezTo>
                    <a:cubicBezTo>
                      <a:pt x="110" y="378"/>
                      <a:pt x="110" y="378"/>
                      <a:pt x="111" y="378"/>
                    </a:cubicBezTo>
                    <a:cubicBezTo>
                      <a:pt x="112" y="378"/>
                      <a:pt x="112" y="376"/>
                      <a:pt x="112" y="376"/>
                    </a:cubicBezTo>
                    <a:cubicBezTo>
                      <a:pt x="113" y="375"/>
                      <a:pt x="113" y="374"/>
                      <a:pt x="114" y="374"/>
                    </a:cubicBezTo>
                    <a:cubicBezTo>
                      <a:pt x="114" y="374"/>
                      <a:pt x="123" y="371"/>
                      <a:pt x="123" y="371"/>
                    </a:cubicBezTo>
                    <a:cubicBezTo>
                      <a:pt x="123" y="371"/>
                      <a:pt x="124" y="371"/>
                      <a:pt x="124" y="372"/>
                    </a:cubicBezTo>
                    <a:cubicBezTo>
                      <a:pt x="124" y="373"/>
                      <a:pt x="125" y="373"/>
                      <a:pt x="124" y="373"/>
                    </a:cubicBezTo>
                    <a:cubicBezTo>
                      <a:pt x="124" y="374"/>
                      <a:pt x="123" y="374"/>
                      <a:pt x="124" y="374"/>
                    </a:cubicBezTo>
                    <a:cubicBezTo>
                      <a:pt x="125" y="374"/>
                      <a:pt x="124" y="375"/>
                      <a:pt x="124" y="375"/>
                    </a:cubicBezTo>
                    <a:cubicBezTo>
                      <a:pt x="123" y="375"/>
                      <a:pt x="122" y="377"/>
                      <a:pt x="123" y="376"/>
                    </a:cubicBezTo>
                    <a:cubicBezTo>
                      <a:pt x="124" y="375"/>
                      <a:pt x="126" y="375"/>
                      <a:pt x="126" y="372"/>
                    </a:cubicBezTo>
                    <a:cubicBezTo>
                      <a:pt x="126" y="369"/>
                      <a:pt x="125" y="369"/>
                      <a:pt x="126" y="371"/>
                    </a:cubicBezTo>
                    <a:cubicBezTo>
                      <a:pt x="128" y="372"/>
                      <a:pt x="129" y="371"/>
                      <a:pt x="130" y="370"/>
                    </a:cubicBezTo>
                    <a:cubicBezTo>
                      <a:pt x="130" y="370"/>
                      <a:pt x="135" y="368"/>
                      <a:pt x="136" y="368"/>
                    </a:cubicBezTo>
                    <a:cubicBezTo>
                      <a:pt x="136" y="368"/>
                      <a:pt x="138" y="368"/>
                      <a:pt x="138" y="368"/>
                    </a:cubicBezTo>
                    <a:cubicBezTo>
                      <a:pt x="138" y="368"/>
                      <a:pt x="138" y="368"/>
                      <a:pt x="138" y="367"/>
                    </a:cubicBezTo>
                    <a:cubicBezTo>
                      <a:pt x="138" y="366"/>
                      <a:pt x="139" y="360"/>
                      <a:pt x="140" y="365"/>
                    </a:cubicBezTo>
                    <a:cubicBezTo>
                      <a:pt x="140" y="365"/>
                      <a:pt x="140" y="366"/>
                      <a:pt x="140" y="366"/>
                    </a:cubicBezTo>
                    <a:cubicBezTo>
                      <a:pt x="141" y="366"/>
                      <a:pt x="141" y="366"/>
                      <a:pt x="141" y="366"/>
                    </a:cubicBezTo>
                    <a:cubicBezTo>
                      <a:pt x="141" y="367"/>
                      <a:pt x="141" y="367"/>
                      <a:pt x="141" y="367"/>
                    </a:cubicBezTo>
                    <a:cubicBezTo>
                      <a:pt x="141" y="367"/>
                      <a:pt x="142" y="366"/>
                      <a:pt x="141" y="366"/>
                    </a:cubicBezTo>
                    <a:cubicBezTo>
                      <a:pt x="141" y="365"/>
                      <a:pt x="141" y="364"/>
                      <a:pt x="142" y="364"/>
                    </a:cubicBezTo>
                    <a:cubicBezTo>
                      <a:pt x="143" y="363"/>
                      <a:pt x="143" y="363"/>
                      <a:pt x="143" y="362"/>
                    </a:cubicBezTo>
                    <a:cubicBezTo>
                      <a:pt x="142" y="362"/>
                      <a:pt x="143" y="362"/>
                      <a:pt x="143" y="361"/>
                    </a:cubicBezTo>
                    <a:cubicBezTo>
                      <a:pt x="143" y="361"/>
                      <a:pt x="144" y="360"/>
                      <a:pt x="143" y="360"/>
                    </a:cubicBezTo>
                    <a:cubicBezTo>
                      <a:pt x="143" y="361"/>
                      <a:pt x="142" y="359"/>
                      <a:pt x="141" y="360"/>
                    </a:cubicBezTo>
                    <a:cubicBezTo>
                      <a:pt x="139" y="361"/>
                      <a:pt x="138" y="362"/>
                      <a:pt x="140" y="360"/>
                    </a:cubicBezTo>
                    <a:cubicBezTo>
                      <a:pt x="142" y="357"/>
                      <a:pt x="149" y="354"/>
                      <a:pt x="150" y="353"/>
                    </a:cubicBezTo>
                    <a:cubicBezTo>
                      <a:pt x="151" y="353"/>
                      <a:pt x="153" y="353"/>
                      <a:pt x="154" y="353"/>
                    </a:cubicBezTo>
                    <a:cubicBezTo>
                      <a:pt x="156" y="354"/>
                      <a:pt x="157" y="354"/>
                      <a:pt x="156" y="353"/>
                    </a:cubicBezTo>
                    <a:cubicBezTo>
                      <a:pt x="154" y="351"/>
                      <a:pt x="154" y="351"/>
                      <a:pt x="156" y="351"/>
                    </a:cubicBezTo>
                    <a:cubicBezTo>
                      <a:pt x="158" y="351"/>
                      <a:pt x="162" y="351"/>
                      <a:pt x="164" y="349"/>
                    </a:cubicBezTo>
                    <a:cubicBezTo>
                      <a:pt x="166" y="346"/>
                      <a:pt x="166" y="348"/>
                      <a:pt x="166" y="348"/>
                    </a:cubicBezTo>
                    <a:cubicBezTo>
                      <a:pt x="166" y="348"/>
                      <a:pt x="166" y="348"/>
                      <a:pt x="167" y="347"/>
                    </a:cubicBezTo>
                    <a:cubicBezTo>
                      <a:pt x="167" y="346"/>
                      <a:pt x="167" y="346"/>
                      <a:pt x="168" y="346"/>
                    </a:cubicBezTo>
                    <a:cubicBezTo>
                      <a:pt x="169" y="346"/>
                      <a:pt x="170" y="347"/>
                      <a:pt x="169" y="345"/>
                    </a:cubicBezTo>
                    <a:cubicBezTo>
                      <a:pt x="168" y="344"/>
                      <a:pt x="170" y="343"/>
                      <a:pt x="171" y="342"/>
                    </a:cubicBezTo>
                    <a:cubicBezTo>
                      <a:pt x="171" y="341"/>
                      <a:pt x="173" y="339"/>
                      <a:pt x="172" y="340"/>
                    </a:cubicBezTo>
                    <a:cubicBezTo>
                      <a:pt x="171" y="340"/>
                      <a:pt x="169" y="340"/>
                      <a:pt x="171" y="338"/>
                    </a:cubicBezTo>
                    <a:cubicBezTo>
                      <a:pt x="174" y="336"/>
                      <a:pt x="176" y="336"/>
                      <a:pt x="177" y="335"/>
                    </a:cubicBezTo>
                    <a:cubicBezTo>
                      <a:pt x="179" y="335"/>
                      <a:pt x="182" y="334"/>
                      <a:pt x="183" y="332"/>
                    </a:cubicBezTo>
                    <a:cubicBezTo>
                      <a:pt x="184" y="330"/>
                      <a:pt x="184" y="329"/>
                      <a:pt x="185" y="329"/>
                    </a:cubicBezTo>
                    <a:cubicBezTo>
                      <a:pt x="186" y="330"/>
                      <a:pt x="188" y="330"/>
                      <a:pt x="188" y="329"/>
                    </a:cubicBezTo>
                    <a:cubicBezTo>
                      <a:pt x="189" y="328"/>
                      <a:pt x="190" y="327"/>
                      <a:pt x="191" y="327"/>
                    </a:cubicBezTo>
                    <a:cubicBezTo>
                      <a:pt x="193" y="326"/>
                      <a:pt x="191" y="326"/>
                      <a:pt x="192" y="325"/>
                    </a:cubicBezTo>
                    <a:cubicBezTo>
                      <a:pt x="193" y="324"/>
                      <a:pt x="193" y="324"/>
                      <a:pt x="195" y="323"/>
                    </a:cubicBezTo>
                    <a:cubicBezTo>
                      <a:pt x="197" y="323"/>
                      <a:pt x="200" y="321"/>
                      <a:pt x="200" y="321"/>
                    </a:cubicBezTo>
                    <a:cubicBezTo>
                      <a:pt x="201" y="321"/>
                      <a:pt x="201" y="320"/>
                      <a:pt x="202" y="321"/>
                    </a:cubicBezTo>
                    <a:cubicBezTo>
                      <a:pt x="202" y="322"/>
                      <a:pt x="202" y="323"/>
                      <a:pt x="203" y="321"/>
                    </a:cubicBezTo>
                    <a:cubicBezTo>
                      <a:pt x="204" y="320"/>
                      <a:pt x="204" y="320"/>
                      <a:pt x="205" y="320"/>
                    </a:cubicBezTo>
                    <a:cubicBezTo>
                      <a:pt x="205" y="320"/>
                      <a:pt x="206" y="320"/>
                      <a:pt x="205" y="319"/>
                    </a:cubicBezTo>
                    <a:cubicBezTo>
                      <a:pt x="204" y="319"/>
                      <a:pt x="204" y="319"/>
                      <a:pt x="205" y="318"/>
                    </a:cubicBezTo>
                    <a:cubicBezTo>
                      <a:pt x="206" y="318"/>
                      <a:pt x="206" y="318"/>
                      <a:pt x="205" y="318"/>
                    </a:cubicBezTo>
                    <a:cubicBezTo>
                      <a:pt x="204" y="318"/>
                      <a:pt x="203" y="318"/>
                      <a:pt x="204" y="317"/>
                    </a:cubicBezTo>
                    <a:cubicBezTo>
                      <a:pt x="206" y="317"/>
                      <a:pt x="208" y="316"/>
                      <a:pt x="207" y="316"/>
                    </a:cubicBezTo>
                    <a:cubicBezTo>
                      <a:pt x="207" y="315"/>
                      <a:pt x="207" y="314"/>
                      <a:pt x="208" y="313"/>
                    </a:cubicBezTo>
                    <a:cubicBezTo>
                      <a:pt x="209" y="313"/>
                      <a:pt x="209" y="313"/>
                      <a:pt x="209" y="312"/>
                    </a:cubicBezTo>
                    <a:cubicBezTo>
                      <a:pt x="210" y="312"/>
                      <a:pt x="210" y="311"/>
                      <a:pt x="213" y="310"/>
                    </a:cubicBezTo>
                    <a:cubicBezTo>
                      <a:pt x="216" y="309"/>
                      <a:pt x="217" y="308"/>
                      <a:pt x="217" y="307"/>
                    </a:cubicBezTo>
                    <a:cubicBezTo>
                      <a:pt x="218" y="306"/>
                      <a:pt x="219" y="305"/>
                      <a:pt x="217" y="304"/>
                    </a:cubicBezTo>
                    <a:cubicBezTo>
                      <a:pt x="216" y="303"/>
                      <a:pt x="214" y="303"/>
                      <a:pt x="213" y="302"/>
                    </a:cubicBezTo>
                    <a:cubicBezTo>
                      <a:pt x="213" y="301"/>
                      <a:pt x="213" y="301"/>
                      <a:pt x="211" y="301"/>
                    </a:cubicBezTo>
                    <a:cubicBezTo>
                      <a:pt x="210" y="302"/>
                      <a:pt x="207" y="301"/>
                      <a:pt x="206" y="301"/>
                    </a:cubicBezTo>
                    <a:cubicBezTo>
                      <a:pt x="205" y="301"/>
                      <a:pt x="206" y="301"/>
                      <a:pt x="205" y="300"/>
                    </a:cubicBezTo>
                    <a:cubicBezTo>
                      <a:pt x="204" y="300"/>
                      <a:pt x="204" y="299"/>
                      <a:pt x="205" y="299"/>
                    </a:cubicBezTo>
                    <a:cubicBezTo>
                      <a:pt x="206" y="298"/>
                      <a:pt x="206" y="298"/>
                      <a:pt x="206" y="297"/>
                    </a:cubicBezTo>
                    <a:cubicBezTo>
                      <a:pt x="206" y="296"/>
                      <a:pt x="207" y="296"/>
                      <a:pt x="208" y="295"/>
                    </a:cubicBezTo>
                    <a:cubicBezTo>
                      <a:pt x="209" y="295"/>
                      <a:pt x="209" y="295"/>
                      <a:pt x="207" y="295"/>
                    </a:cubicBezTo>
                    <a:cubicBezTo>
                      <a:pt x="205" y="295"/>
                      <a:pt x="206" y="294"/>
                      <a:pt x="208" y="294"/>
                    </a:cubicBezTo>
                    <a:cubicBezTo>
                      <a:pt x="210" y="293"/>
                      <a:pt x="213" y="292"/>
                      <a:pt x="212" y="292"/>
                    </a:cubicBezTo>
                    <a:cubicBezTo>
                      <a:pt x="211" y="291"/>
                      <a:pt x="210" y="290"/>
                      <a:pt x="212" y="290"/>
                    </a:cubicBezTo>
                    <a:cubicBezTo>
                      <a:pt x="213" y="290"/>
                      <a:pt x="215" y="289"/>
                      <a:pt x="214" y="289"/>
                    </a:cubicBezTo>
                    <a:cubicBezTo>
                      <a:pt x="213" y="289"/>
                      <a:pt x="213" y="288"/>
                      <a:pt x="214" y="288"/>
                    </a:cubicBezTo>
                    <a:cubicBezTo>
                      <a:pt x="215" y="287"/>
                      <a:pt x="216" y="284"/>
                      <a:pt x="217" y="286"/>
                    </a:cubicBezTo>
                    <a:cubicBezTo>
                      <a:pt x="217" y="288"/>
                      <a:pt x="216" y="289"/>
                      <a:pt x="218" y="288"/>
                    </a:cubicBezTo>
                    <a:cubicBezTo>
                      <a:pt x="220" y="288"/>
                      <a:pt x="226" y="285"/>
                      <a:pt x="222" y="284"/>
                    </a:cubicBezTo>
                    <a:cubicBezTo>
                      <a:pt x="218" y="284"/>
                      <a:pt x="218" y="284"/>
                      <a:pt x="221" y="283"/>
                    </a:cubicBezTo>
                    <a:cubicBezTo>
                      <a:pt x="223" y="282"/>
                      <a:pt x="227" y="282"/>
                      <a:pt x="228" y="281"/>
                    </a:cubicBezTo>
                    <a:cubicBezTo>
                      <a:pt x="229" y="280"/>
                      <a:pt x="230" y="279"/>
                      <a:pt x="227" y="277"/>
                    </a:cubicBezTo>
                    <a:cubicBezTo>
                      <a:pt x="224" y="276"/>
                      <a:pt x="225" y="275"/>
                      <a:pt x="223" y="274"/>
                    </a:cubicBezTo>
                    <a:cubicBezTo>
                      <a:pt x="220" y="274"/>
                      <a:pt x="223" y="274"/>
                      <a:pt x="226" y="273"/>
                    </a:cubicBezTo>
                    <a:cubicBezTo>
                      <a:pt x="229" y="273"/>
                      <a:pt x="233" y="272"/>
                      <a:pt x="234" y="272"/>
                    </a:cubicBezTo>
                    <a:cubicBezTo>
                      <a:pt x="234" y="272"/>
                      <a:pt x="234" y="272"/>
                      <a:pt x="234" y="271"/>
                    </a:cubicBezTo>
                    <a:cubicBezTo>
                      <a:pt x="233" y="270"/>
                      <a:pt x="233" y="269"/>
                      <a:pt x="235" y="268"/>
                    </a:cubicBezTo>
                    <a:cubicBezTo>
                      <a:pt x="237" y="267"/>
                      <a:pt x="237" y="266"/>
                      <a:pt x="238" y="265"/>
                    </a:cubicBezTo>
                    <a:cubicBezTo>
                      <a:pt x="239" y="264"/>
                      <a:pt x="239" y="264"/>
                      <a:pt x="240" y="264"/>
                    </a:cubicBezTo>
                    <a:cubicBezTo>
                      <a:pt x="241" y="264"/>
                      <a:pt x="241" y="264"/>
                      <a:pt x="241" y="263"/>
                    </a:cubicBezTo>
                    <a:cubicBezTo>
                      <a:pt x="241" y="261"/>
                      <a:pt x="241" y="260"/>
                      <a:pt x="244" y="259"/>
                    </a:cubicBezTo>
                    <a:cubicBezTo>
                      <a:pt x="247" y="258"/>
                      <a:pt x="250" y="257"/>
                      <a:pt x="251" y="256"/>
                    </a:cubicBezTo>
                    <a:cubicBezTo>
                      <a:pt x="252" y="255"/>
                      <a:pt x="253" y="253"/>
                      <a:pt x="255" y="253"/>
                    </a:cubicBezTo>
                    <a:cubicBezTo>
                      <a:pt x="257" y="253"/>
                      <a:pt x="257" y="252"/>
                      <a:pt x="258" y="251"/>
                    </a:cubicBezTo>
                    <a:cubicBezTo>
                      <a:pt x="259" y="250"/>
                      <a:pt x="260" y="250"/>
                      <a:pt x="263" y="250"/>
                    </a:cubicBezTo>
                    <a:cubicBezTo>
                      <a:pt x="266" y="250"/>
                      <a:pt x="267" y="251"/>
                      <a:pt x="271" y="249"/>
                    </a:cubicBezTo>
                    <a:cubicBezTo>
                      <a:pt x="274" y="247"/>
                      <a:pt x="276" y="247"/>
                      <a:pt x="277" y="247"/>
                    </a:cubicBezTo>
                    <a:cubicBezTo>
                      <a:pt x="278" y="247"/>
                      <a:pt x="279" y="247"/>
                      <a:pt x="276" y="248"/>
                    </a:cubicBezTo>
                    <a:cubicBezTo>
                      <a:pt x="273" y="250"/>
                      <a:pt x="272" y="250"/>
                      <a:pt x="270" y="252"/>
                    </a:cubicBezTo>
                    <a:cubicBezTo>
                      <a:pt x="268" y="254"/>
                      <a:pt x="268" y="254"/>
                      <a:pt x="268" y="254"/>
                    </a:cubicBezTo>
                    <a:cubicBezTo>
                      <a:pt x="267" y="255"/>
                      <a:pt x="266" y="255"/>
                      <a:pt x="268" y="256"/>
                    </a:cubicBezTo>
                    <a:cubicBezTo>
                      <a:pt x="271" y="257"/>
                      <a:pt x="277" y="260"/>
                      <a:pt x="277" y="260"/>
                    </a:cubicBezTo>
                    <a:cubicBezTo>
                      <a:pt x="277" y="260"/>
                      <a:pt x="280" y="261"/>
                      <a:pt x="276" y="260"/>
                    </a:cubicBezTo>
                    <a:cubicBezTo>
                      <a:pt x="272" y="260"/>
                      <a:pt x="271" y="259"/>
                      <a:pt x="269" y="260"/>
                    </a:cubicBezTo>
                    <a:cubicBezTo>
                      <a:pt x="267" y="260"/>
                      <a:pt x="266" y="261"/>
                      <a:pt x="263" y="260"/>
                    </a:cubicBezTo>
                    <a:cubicBezTo>
                      <a:pt x="260" y="259"/>
                      <a:pt x="259" y="257"/>
                      <a:pt x="257" y="260"/>
                    </a:cubicBezTo>
                    <a:cubicBezTo>
                      <a:pt x="254" y="263"/>
                      <a:pt x="250" y="264"/>
                      <a:pt x="248" y="264"/>
                    </a:cubicBezTo>
                    <a:cubicBezTo>
                      <a:pt x="246" y="264"/>
                      <a:pt x="245" y="265"/>
                      <a:pt x="247" y="266"/>
                    </a:cubicBezTo>
                    <a:cubicBezTo>
                      <a:pt x="249" y="268"/>
                      <a:pt x="249" y="271"/>
                      <a:pt x="248" y="272"/>
                    </a:cubicBezTo>
                    <a:cubicBezTo>
                      <a:pt x="247" y="272"/>
                      <a:pt x="247" y="272"/>
                      <a:pt x="247" y="273"/>
                    </a:cubicBezTo>
                    <a:cubicBezTo>
                      <a:pt x="246" y="274"/>
                      <a:pt x="246" y="277"/>
                      <a:pt x="244" y="278"/>
                    </a:cubicBezTo>
                    <a:cubicBezTo>
                      <a:pt x="243" y="279"/>
                      <a:pt x="242" y="281"/>
                      <a:pt x="241" y="283"/>
                    </a:cubicBezTo>
                    <a:cubicBezTo>
                      <a:pt x="240" y="285"/>
                      <a:pt x="239" y="287"/>
                      <a:pt x="242" y="288"/>
                    </a:cubicBezTo>
                    <a:cubicBezTo>
                      <a:pt x="245" y="289"/>
                      <a:pt x="246" y="290"/>
                      <a:pt x="248" y="288"/>
                    </a:cubicBezTo>
                    <a:cubicBezTo>
                      <a:pt x="250" y="285"/>
                      <a:pt x="250" y="286"/>
                      <a:pt x="251" y="286"/>
                    </a:cubicBezTo>
                    <a:cubicBezTo>
                      <a:pt x="251" y="285"/>
                      <a:pt x="252" y="285"/>
                      <a:pt x="251" y="287"/>
                    </a:cubicBezTo>
                    <a:cubicBezTo>
                      <a:pt x="250" y="289"/>
                      <a:pt x="250" y="289"/>
                      <a:pt x="250" y="289"/>
                    </a:cubicBezTo>
                    <a:cubicBezTo>
                      <a:pt x="250" y="290"/>
                      <a:pt x="249" y="290"/>
                      <a:pt x="249" y="290"/>
                    </a:cubicBezTo>
                    <a:cubicBezTo>
                      <a:pt x="248" y="290"/>
                      <a:pt x="246" y="290"/>
                      <a:pt x="247" y="291"/>
                    </a:cubicBezTo>
                    <a:cubicBezTo>
                      <a:pt x="247" y="292"/>
                      <a:pt x="247" y="293"/>
                      <a:pt x="246" y="293"/>
                    </a:cubicBezTo>
                    <a:cubicBezTo>
                      <a:pt x="245" y="293"/>
                      <a:pt x="244" y="292"/>
                      <a:pt x="243" y="293"/>
                    </a:cubicBezTo>
                    <a:cubicBezTo>
                      <a:pt x="242" y="293"/>
                      <a:pt x="241" y="294"/>
                      <a:pt x="240" y="294"/>
                    </a:cubicBezTo>
                    <a:cubicBezTo>
                      <a:pt x="240" y="294"/>
                      <a:pt x="239" y="294"/>
                      <a:pt x="240" y="294"/>
                    </a:cubicBezTo>
                    <a:cubicBezTo>
                      <a:pt x="240" y="295"/>
                      <a:pt x="240" y="295"/>
                      <a:pt x="240" y="295"/>
                    </a:cubicBezTo>
                    <a:cubicBezTo>
                      <a:pt x="239" y="295"/>
                      <a:pt x="238" y="296"/>
                      <a:pt x="239" y="297"/>
                    </a:cubicBezTo>
                    <a:cubicBezTo>
                      <a:pt x="240" y="298"/>
                      <a:pt x="241" y="300"/>
                      <a:pt x="246" y="298"/>
                    </a:cubicBezTo>
                    <a:cubicBezTo>
                      <a:pt x="251" y="296"/>
                      <a:pt x="251" y="296"/>
                      <a:pt x="252" y="296"/>
                    </a:cubicBezTo>
                    <a:cubicBezTo>
                      <a:pt x="254" y="295"/>
                      <a:pt x="256" y="294"/>
                      <a:pt x="257" y="293"/>
                    </a:cubicBezTo>
                    <a:cubicBezTo>
                      <a:pt x="258" y="293"/>
                      <a:pt x="259" y="292"/>
                      <a:pt x="258" y="292"/>
                    </a:cubicBezTo>
                    <a:cubicBezTo>
                      <a:pt x="258" y="291"/>
                      <a:pt x="258" y="290"/>
                      <a:pt x="259" y="290"/>
                    </a:cubicBezTo>
                    <a:cubicBezTo>
                      <a:pt x="259" y="290"/>
                      <a:pt x="259" y="290"/>
                      <a:pt x="260" y="291"/>
                    </a:cubicBezTo>
                    <a:cubicBezTo>
                      <a:pt x="260" y="292"/>
                      <a:pt x="260" y="293"/>
                      <a:pt x="261" y="292"/>
                    </a:cubicBezTo>
                    <a:cubicBezTo>
                      <a:pt x="262" y="290"/>
                      <a:pt x="264" y="286"/>
                      <a:pt x="264" y="287"/>
                    </a:cubicBezTo>
                    <a:cubicBezTo>
                      <a:pt x="263" y="289"/>
                      <a:pt x="261" y="293"/>
                      <a:pt x="262" y="292"/>
                    </a:cubicBezTo>
                    <a:cubicBezTo>
                      <a:pt x="263" y="292"/>
                      <a:pt x="264" y="291"/>
                      <a:pt x="265" y="290"/>
                    </a:cubicBezTo>
                    <a:cubicBezTo>
                      <a:pt x="265" y="289"/>
                      <a:pt x="266" y="287"/>
                      <a:pt x="266" y="287"/>
                    </a:cubicBezTo>
                    <a:cubicBezTo>
                      <a:pt x="267" y="287"/>
                      <a:pt x="269" y="288"/>
                      <a:pt x="268" y="287"/>
                    </a:cubicBezTo>
                    <a:cubicBezTo>
                      <a:pt x="267" y="286"/>
                      <a:pt x="267" y="285"/>
                      <a:pt x="269" y="286"/>
                    </a:cubicBezTo>
                    <a:cubicBezTo>
                      <a:pt x="271" y="288"/>
                      <a:pt x="271" y="288"/>
                      <a:pt x="271" y="287"/>
                    </a:cubicBezTo>
                    <a:cubicBezTo>
                      <a:pt x="271" y="285"/>
                      <a:pt x="269" y="284"/>
                      <a:pt x="271" y="284"/>
                    </a:cubicBezTo>
                    <a:cubicBezTo>
                      <a:pt x="272" y="283"/>
                      <a:pt x="271" y="280"/>
                      <a:pt x="272" y="283"/>
                    </a:cubicBezTo>
                    <a:cubicBezTo>
                      <a:pt x="273" y="286"/>
                      <a:pt x="273" y="288"/>
                      <a:pt x="274" y="287"/>
                    </a:cubicBezTo>
                    <a:cubicBezTo>
                      <a:pt x="274" y="285"/>
                      <a:pt x="273" y="284"/>
                      <a:pt x="274" y="283"/>
                    </a:cubicBezTo>
                    <a:cubicBezTo>
                      <a:pt x="275" y="283"/>
                      <a:pt x="276" y="281"/>
                      <a:pt x="276" y="280"/>
                    </a:cubicBezTo>
                    <a:cubicBezTo>
                      <a:pt x="276" y="279"/>
                      <a:pt x="276" y="277"/>
                      <a:pt x="277" y="280"/>
                    </a:cubicBezTo>
                    <a:cubicBezTo>
                      <a:pt x="279" y="282"/>
                      <a:pt x="277" y="285"/>
                      <a:pt x="279" y="282"/>
                    </a:cubicBezTo>
                    <a:cubicBezTo>
                      <a:pt x="280" y="279"/>
                      <a:pt x="281" y="279"/>
                      <a:pt x="283" y="281"/>
                    </a:cubicBezTo>
                    <a:cubicBezTo>
                      <a:pt x="284" y="283"/>
                      <a:pt x="286" y="283"/>
                      <a:pt x="288" y="282"/>
                    </a:cubicBezTo>
                    <a:cubicBezTo>
                      <a:pt x="289" y="281"/>
                      <a:pt x="290" y="280"/>
                      <a:pt x="291" y="280"/>
                    </a:cubicBezTo>
                    <a:cubicBezTo>
                      <a:pt x="292" y="279"/>
                      <a:pt x="292" y="279"/>
                      <a:pt x="292" y="278"/>
                    </a:cubicBezTo>
                    <a:cubicBezTo>
                      <a:pt x="292" y="277"/>
                      <a:pt x="293" y="277"/>
                      <a:pt x="294" y="277"/>
                    </a:cubicBezTo>
                    <a:cubicBezTo>
                      <a:pt x="294" y="276"/>
                      <a:pt x="296" y="276"/>
                      <a:pt x="294" y="276"/>
                    </a:cubicBezTo>
                    <a:cubicBezTo>
                      <a:pt x="292" y="275"/>
                      <a:pt x="290" y="275"/>
                      <a:pt x="292" y="274"/>
                    </a:cubicBezTo>
                    <a:cubicBezTo>
                      <a:pt x="295" y="273"/>
                      <a:pt x="293" y="273"/>
                      <a:pt x="294" y="272"/>
                    </a:cubicBezTo>
                    <a:cubicBezTo>
                      <a:pt x="295" y="271"/>
                      <a:pt x="296" y="272"/>
                      <a:pt x="297" y="271"/>
                    </a:cubicBezTo>
                    <a:cubicBezTo>
                      <a:pt x="298" y="271"/>
                      <a:pt x="298" y="271"/>
                      <a:pt x="298" y="270"/>
                    </a:cubicBezTo>
                    <a:cubicBezTo>
                      <a:pt x="298" y="270"/>
                      <a:pt x="297" y="269"/>
                      <a:pt x="297" y="268"/>
                    </a:cubicBezTo>
                    <a:cubicBezTo>
                      <a:pt x="296" y="267"/>
                      <a:pt x="296" y="267"/>
                      <a:pt x="295" y="268"/>
                    </a:cubicBezTo>
                    <a:cubicBezTo>
                      <a:pt x="295" y="269"/>
                      <a:pt x="294" y="271"/>
                      <a:pt x="292" y="271"/>
                    </a:cubicBezTo>
                    <a:cubicBezTo>
                      <a:pt x="290" y="270"/>
                      <a:pt x="289" y="270"/>
                      <a:pt x="288" y="270"/>
                    </a:cubicBezTo>
                    <a:cubicBezTo>
                      <a:pt x="288" y="271"/>
                      <a:pt x="287" y="270"/>
                      <a:pt x="288" y="269"/>
                    </a:cubicBezTo>
                    <a:cubicBezTo>
                      <a:pt x="290" y="268"/>
                      <a:pt x="290" y="268"/>
                      <a:pt x="292" y="268"/>
                    </a:cubicBezTo>
                    <a:cubicBezTo>
                      <a:pt x="294" y="267"/>
                      <a:pt x="294" y="267"/>
                      <a:pt x="294" y="265"/>
                    </a:cubicBezTo>
                    <a:cubicBezTo>
                      <a:pt x="294" y="264"/>
                      <a:pt x="294" y="263"/>
                      <a:pt x="293" y="265"/>
                    </a:cubicBezTo>
                    <a:cubicBezTo>
                      <a:pt x="292" y="266"/>
                      <a:pt x="291" y="268"/>
                      <a:pt x="291" y="265"/>
                    </a:cubicBezTo>
                    <a:cubicBezTo>
                      <a:pt x="292" y="262"/>
                      <a:pt x="291" y="263"/>
                      <a:pt x="290" y="264"/>
                    </a:cubicBezTo>
                    <a:cubicBezTo>
                      <a:pt x="290" y="264"/>
                      <a:pt x="288" y="265"/>
                      <a:pt x="288" y="265"/>
                    </a:cubicBezTo>
                    <a:cubicBezTo>
                      <a:pt x="288" y="266"/>
                      <a:pt x="286" y="265"/>
                      <a:pt x="288" y="264"/>
                    </a:cubicBezTo>
                    <a:cubicBezTo>
                      <a:pt x="289" y="263"/>
                      <a:pt x="291" y="263"/>
                      <a:pt x="290" y="263"/>
                    </a:cubicBezTo>
                    <a:cubicBezTo>
                      <a:pt x="290" y="262"/>
                      <a:pt x="289" y="263"/>
                      <a:pt x="288" y="263"/>
                    </a:cubicBezTo>
                    <a:cubicBezTo>
                      <a:pt x="288" y="263"/>
                      <a:pt x="288" y="262"/>
                      <a:pt x="291" y="262"/>
                    </a:cubicBezTo>
                    <a:cubicBezTo>
                      <a:pt x="294" y="261"/>
                      <a:pt x="293" y="260"/>
                      <a:pt x="293" y="260"/>
                    </a:cubicBezTo>
                    <a:cubicBezTo>
                      <a:pt x="292" y="259"/>
                      <a:pt x="292" y="259"/>
                      <a:pt x="293" y="259"/>
                    </a:cubicBezTo>
                    <a:cubicBezTo>
                      <a:pt x="294" y="258"/>
                      <a:pt x="295" y="257"/>
                      <a:pt x="295" y="257"/>
                    </a:cubicBezTo>
                    <a:cubicBezTo>
                      <a:pt x="294" y="257"/>
                      <a:pt x="293" y="257"/>
                      <a:pt x="292" y="258"/>
                    </a:cubicBezTo>
                    <a:cubicBezTo>
                      <a:pt x="291" y="259"/>
                      <a:pt x="290" y="259"/>
                      <a:pt x="292" y="257"/>
                    </a:cubicBezTo>
                    <a:cubicBezTo>
                      <a:pt x="293" y="255"/>
                      <a:pt x="295" y="255"/>
                      <a:pt x="296" y="255"/>
                    </a:cubicBezTo>
                    <a:cubicBezTo>
                      <a:pt x="297" y="255"/>
                      <a:pt x="299" y="255"/>
                      <a:pt x="300" y="254"/>
                    </a:cubicBezTo>
                    <a:cubicBezTo>
                      <a:pt x="301" y="253"/>
                      <a:pt x="302" y="252"/>
                      <a:pt x="301" y="253"/>
                    </a:cubicBezTo>
                    <a:cubicBezTo>
                      <a:pt x="300" y="255"/>
                      <a:pt x="298" y="257"/>
                      <a:pt x="297" y="258"/>
                    </a:cubicBezTo>
                    <a:cubicBezTo>
                      <a:pt x="296" y="259"/>
                      <a:pt x="296" y="260"/>
                      <a:pt x="297" y="260"/>
                    </a:cubicBezTo>
                    <a:cubicBezTo>
                      <a:pt x="298" y="261"/>
                      <a:pt x="299" y="262"/>
                      <a:pt x="300" y="261"/>
                    </a:cubicBezTo>
                    <a:cubicBezTo>
                      <a:pt x="300" y="260"/>
                      <a:pt x="301" y="260"/>
                      <a:pt x="302" y="260"/>
                    </a:cubicBezTo>
                    <a:cubicBezTo>
                      <a:pt x="303" y="260"/>
                      <a:pt x="303" y="259"/>
                      <a:pt x="303" y="259"/>
                    </a:cubicBezTo>
                    <a:cubicBezTo>
                      <a:pt x="303" y="258"/>
                      <a:pt x="302" y="258"/>
                      <a:pt x="303" y="258"/>
                    </a:cubicBezTo>
                    <a:cubicBezTo>
                      <a:pt x="303" y="257"/>
                      <a:pt x="303" y="257"/>
                      <a:pt x="304" y="256"/>
                    </a:cubicBezTo>
                    <a:cubicBezTo>
                      <a:pt x="304" y="255"/>
                      <a:pt x="304" y="254"/>
                      <a:pt x="304" y="256"/>
                    </a:cubicBezTo>
                    <a:cubicBezTo>
                      <a:pt x="304" y="258"/>
                      <a:pt x="304" y="258"/>
                      <a:pt x="304" y="259"/>
                    </a:cubicBezTo>
                    <a:cubicBezTo>
                      <a:pt x="304" y="260"/>
                      <a:pt x="304" y="261"/>
                      <a:pt x="304" y="259"/>
                    </a:cubicBezTo>
                    <a:cubicBezTo>
                      <a:pt x="305" y="258"/>
                      <a:pt x="305" y="258"/>
                      <a:pt x="305" y="259"/>
                    </a:cubicBezTo>
                    <a:cubicBezTo>
                      <a:pt x="306" y="260"/>
                      <a:pt x="306" y="260"/>
                      <a:pt x="307" y="259"/>
                    </a:cubicBezTo>
                    <a:cubicBezTo>
                      <a:pt x="309" y="258"/>
                      <a:pt x="310" y="258"/>
                      <a:pt x="312" y="258"/>
                    </a:cubicBezTo>
                    <a:cubicBezTo>
                      <a:pt x="314" y="259"/>
                      <a:pt x="314" y="258"/>
                      <a:pt x="316" y="257"/>
                    </a:cubicBezTo>
                    <a:cubicBezTo>
                      <a:pt x="318" y="256"/>
                      <a:pt x="319" y="255"/>
                      <a:pt x="321" y="255"/>
                    </a:cubicBezTo>
                    <a:cubicBezTo>
                      <a:pt x="323" y="255"/>
                      <a:pt x="321" y="256"/>
                      <a:pt x="320" y="256"/>
                    </a:cubicBezTo>
                    <a:cubicBezTo>
                      <a:pt x="318" y="256"/>
                      <a:pt x="317" y="257"/>
                      <a:pt x="318" y="257"/>
                    </a:cubicBezTo>
                    <a:cubicBezTo>
                      <a:pt x="318" y="258"/>
                      <a:pt x="318" y="257"/>
                      <a:pt x="317" y="258"/>
                    </a:cubicBezTo>
                    <a:cubicBezTo>
                      <a:pt x="317" y="258"/>
                      <a:pt x="316" y="258"/>
                      <a:pt x="317" y="259"/>
                    </a:cubicBezTo>
                    <a:cubicBezTo>
                      <a:pt x="317" y="259"/>
                      <a:pt x="317" y="260"/>
                      <a:pt x="317" y="259"/>
                    </a:cubicBezTo>
                    <a:cubicBezTo>
                      <a:pt x="316" y="259"/>
                      <a:pt x="315" y="259"/>
                      <a:pt x="316" y="260"/>
                    </a:cubicBezTo>
                    <a:cubicBezTo>
                      <a:pt x="318" y="261"/>
                      <a:pt x="317" y="262"/>
                      <a:pt x="319" y="262"/>
                    </a:cubicBezTo>
                    <a:cubicBezTo>
                      <a:pt x="321" y="262"/>
                      <a:pt x="322" y="262"/>
                      <a:pt x="322" y="262"/>
                    </a:cubicBezTo>
                    <a:cubicBezTo>
                      <a:pt x="323" y="261"/>
                      <a:pt x="324" y="262"/>
                      <a:pt x="322" y="263"/>
                    </a:cubicBezTo>
                    <a:cubicBezTo>
                      <a:pt x="320" y="264"/>
                      <a:pt x="319" y="263"/>
                      <a:pt x="319" y="264"/>
                    </a:cubicBezTo>
                    <a:cubicBezTo>
                      <a:pt x="319" y="264"/>
                      <a:pt x="317" y="264"/>
                      <a:pt x="317" y="264"/>
                    </a:cubicBezTo>
                    <a:cubicBezTo>
                      <a:pt x="317" y="265"/>
                      <a:pt x="317" y="265"/>
                      <a:pt x="319" y="265"/>
                    </a:cubicBezTo>
                    <a:cubicBezTo>
                      <a:pt x="321" y="264"/>
                      <a:pt x="321" y="264"/>
                      <a:pt x="322" y="264"/>
                    </a:cubicBezTo>
                    <a:cubicBezTo>
                      <a:pt x="323" y="264"/>
                      <a:pt x="325" y="264"/>
                      <a:pt x="325" y="264"/>
                    </a:cubicBezTo>
                    <a:cubicBezTo>
                      <a:pt x="326" y="263"/>
                      <a:pt x="326" y="264"/>
                      <a:pt x="325" y="265"/>
                    </a:cubicBezTo>
                    <a:cubicBezTo>
                      <a:pt x="324" y="266"/>
                      <a:pt x="322" y="267"/>
                      <a:pt x="324" y="266"/>
                    </a:cubicBezTo>
                    <a:cubicBezTo>
                      <a:pt x="327" y="265"/>
                      <a:pt x="328" y="265"/>
                      <a:pt x="329" y="265"/>
                    </a:cubicBezTo>
                    <a:cubicBezTo>
                      <a:pt x="331" y="266"/>
                      <a:pt x="332" y="266"/>
                      <a:pt x="332" y="267"/>
                    </a:cubicBezTo>
                    <a:cubicBezTo>
                      <a:pt x="331" y="268"/>
                      <a:pt x="330" y="269"/>
                      <a:pt x="328" y="270"/>
                    </a:cubicBezTo>
                    <a:cubicBezTo>
                      <a:pt x="327" y="271"/>
                      <a:pt x="328" y="270"/>
                      <a:pt x="330" y="270"/>
                    </a:cubicBezTo>
                    <a:cubicBezTo>
                      <a:pt x="331" y="271"/>
                      <a:pt x="339" y="271"/>
                      <a:pt x="339" y="271"/>
                    </a:cubicBezTo>
                    <a:cubicBezTo>
                      <a:pt x="340" y="271"/>
                      <a:pt x="341" y="270"/>
                      <a:pt x="342" y="269"/>
                    </a:cubicBezTo>
                    <a:cubicBezTo>
                      <a:pt x="343" y="268"/>
                      <a:pt x="344" y="267"/>
                      <a:pt x="345" y="265"/>
                    </a:cubicBezTo>
                    <a:cubicBezTo>
                      <a:pt x="347" y="264"/>
                      <a:pt x="347" y="265"/>
                      <a:pt x="346" y="266"/>
                    </a:cubicBezTo>
                    <a:cubicBezTo>
                      <a:pt x="345" y="267"/>
                      <a:pt x="344" y="269"/>
                      <a:pt x="344" y="270"/>
                    </a:cubicBezTo>
                    <a:cubicBezTo>
                      <a:pt x="344" y="271"/>
                      <a:pt x="344" y="272"/>
                      <a:pt x="344" y="272"/>
                    </a:cubicBezTo>
                    <a:cubicBezTo>
                      <a:pt x="343" y="272"/>
                      <a:pt x="343" y="272"/>
                      <a:pt x="343" y="273"/>
                    </a:cubicBezTo>
                    <a:cubicBezTo>
                      <a:pt x="343" y="274"/>
                      <a:pt x="343" y="274"/>
                      <a:pt x="344" y="275"/>
                    </a:cubicBezTo>
                    <a:cubicBezTo>
                      <a:pt x="346" y="275"/>
                      <a:pt x="354" y="278"/>
                      <a:pt x="355" y="279"/>
                    </a:cubicBezTo>
                    <a:cubicBezTo>
                      <a:pt x="356" y="279"/>
                      <a:pt x="357" y="280"/>
                      <a:pt x="357" y="280"/>
                    </a:cubicBezTo>
                    <a:cubicBezTo>
                      <a:pt x="358" y="280"/>
                      <a:pt x="374" y="279"/>
                      <a:pt x="376" y="279"/>
                    </a:cubicBezTo>
                    <a:cubicBezTo>
                      <a:pt x="378" y="279"/>
                      <a:pt x="388" y="280"/>
                      <a:pt x="390" y="281"/>
                    </a:cubicBezTo>
                    <a:cubicBezTo>
                      <a:pt x="392" y="282"/>
                      <a:pt x="393" y="281"/>
                      <a:pt x="394" y="281"/>
                    </a:cubicBezTo>
                    <a:cubicBezTo>
                      <a:pt x="395" y="281"/>
                      <a:pt x="396" y="280"/>
                      <a:pt x="395" y="279"/>
                    </a:cubicBezTo>
                    <a:cubicBezTo>
                      <a:pt x="394" y="278"/>
                      <a:pt x="393" y="278"/>
                      <a:pt x="395" y="278"/>
                    </a:cubicBezTo>
                    <a:cubicBezTo>
                      <a:pt x="396" y="278"/>
                      <a:pt x="396" y="279"/>
                      <a:pt x="397" y="280"/>
                    </a:cubicBezTo>
                    <a:cubicBezTo>
                      <a:pt x="397" y="282"/>
                      <a:pt x="396" y="283"/>
                      <a:pt x="396" y="283"/>
                    </a:cubicBezTo>
                    <a:cubicBezTo>
                      <a:pt x="395" y="283"/>
                      <a:pt x="394" y="283"/>
                      <a:pt x="396" y="284"/>
                    </a:cubicBezTo>
                    <a:cubicBezTo>
                      <a:pt x="398" y="285"/>
                      <a:pt x="406" y="288"/>
                      <a:pt x="410" y="287"/>
                    </a:cubicBezTo>
                    <a:cubicBezTo>
                      <a:pt x="415" y="287"/>
                      <a:pt x="420" y="284"/>
                      <a:pt x="421" y="283"/>
                    </a:cubicBezTo>
                    <a:cubicBezTo>
                      <a:pt x="422" y="282"/>
                      <a:pt x="422" y="282"/>
                      <a:pt x="423" y="281"/>
                    </a:cubicBezTo>
                    <a:cubicBezTo>
                      <a:pt x="423" y="280"/>
                      <a:pt x="423" y="279"/>
                      <a:pt x="425" y="280"/>
                    </a:cubicBezTo>
                    <a:cubicBezTo>
                      <a:pt x="427" y="281"/>
                      <a:pt x="430" y="283"/>
                      <a:pt x="431" y="284"/>
                    </a:cubicBezTo>
                    <a:cubicBezTo>
                      <a:pt x="431" y="284"/>
                      <a:pt x="432" y="285"/>
                      <a:pt x="430" y="284"/>
                    </a:cubicBezTo>
                    <a:cubicBezTo>
                      <a:pt x="428" y="284"/>
                      <a:pt x="426" y="284"/>
                      <a:pt x="427" y="286"/>
                    </a:cubicBezTo>
                    <a:cubicBezTo>
                      <a:pt x="427" y="288"/>
                      <a:pt x="427" y="291"/>
                      <a:pt x="426" y="290"/>
                    </a:cubicBezTo>
                    <a:cubicBezTo>
                      <a:pt x="426" y="289"/>
                      <a:pt x="426" y="287"/>
                      <a:pt x="426" y="286"/>
                    </a:cubicBezTo>
                    <a:cubicBezTo>
                      <a:pt x="426" y="284"/>
                      <a:pt x="425" y="282"/>
                      <a:pt x="424" y="282"/>
                    </a:cubicBezTo>
                    <a:cubicBezTo>
                      <a:pt x="422" y="282"/>
                      <a:pt x="421" y="283"/>
                      <a:pt x="422" y="285"/>
                    </a:cubicBezTo>
                    <a:cubicBezTo>
                      <a:pt x="423" y="287"/>
                      <a:pt x="423" y="288"/>
                      <a:pt x="421" y="290"/>
                    </a:cubicBezTo>
                    <a:cubicBezTo>
                      <a:pt x="420" y="291"/>
                      <a:pt x="416" y="291"/>
                      <a:pt x="419" y="291"/>
                    </a:cubicBezTo>
                    <a:cubicBezTo>
                      <a:pt x="422" y="292"/>
                      <a:pt x="428" y="296"/>
                      <a:pt x="430" y="297"/>
                    </a:cubicBezTo>
                    <a:cubicBezTo>
                      <a:pt x="433" y="298"/>
                      <a:pt x="435" y="299"/>
                      <a:pt x="437" y="299"/>
                    </a:cubicBezTo>
                    <a:cubicBezTo>
                      <a:pt x="438" y="299"/>
                      <a:pt x="439" y="299"/>
                      <a:pt x="438" y="299"/>
                    </a:cubicBezTo>
                    <a:cubicBezTo>
                      <a:pt x="437" y="300"/>
                      <a:pt x="436" y="300"/>
                      <a:pt x="438" y="301"/>
                    </a:cubicBezTo>
                    <a:cubicBezTo>
                      <a:pt x="439" y="302"/>
                      <a:pt x="464" y="319"/>
                      <a:pt x="464" y="319"/>
                    </a:cubicBezTo>
                    <a:cubicBezTo>
                      <a:pt x="464" y="319"/>
                      <a:pt x="465" y="320"/>
                      <a:pt x="466" y="318"/>
                    </a:cubicBezTo>
                    <a:cubicBezTo>
                      <a:pt x="466" y="317"/>
                      <a:pt x="466" y="317"/>
                      <a:pt x="467" y="317"/>
                    </a:cubicBezTo>
                    <a:cubicBezTo>
                      <a:pt x="469" y="318"/>
                      <a:pt x="471" y="318"/>
                      <a:pt x="469" y="316"/>
                    </a:cubicBezTo>
                    <a:cubicBezTo>
                      <a:pt x="466" y="314"/>
                      <a:pt x="468" y="315"/>
                      <a:pt x="469" y="316"/>
                    </a:cubicBezTo>
                    <a:cubicBezTo>
                      <a:pt x="471" y="317"/>
                      <a:pt x="474" y="318"/>
                      <a:pt x="474" y="317"/>
                    </a:cubicBezTo>
                    <a:cubicBezTo>
                      <a:pt x="475" y="316"/>
                      <a:pt x="475" y="314"/>
                      <a:pt x="472" y="312"/>
                    </a:cubicBezTo>
                    <a:cubicBezTo>
                      <a:pt x="472" y="312"/>
                      <a:pt x="473" y="310"/>
                      <a:pt x="471" y="311"/>
                    </a:cubicBezTo>
                    <a:cubicBezTo>
                      <a:pt x="469" y="312"/>
                      <a:pt x="468" y="312"/>
                      <a:pt x="469" y="310"/>
                    </a:cubicBezTo>
                    <a:cubicBezTo>
                      <a:pt x="471" y="309"/>
                      <a:pt x="469" y="308"/>
                      <a:pt x="467" y="307"/>
                    </a:cubicBezTo>
                    <a:cubicBezTo>
                      <a:pt x="465" y="307"/>
                      <a:pt x="466" y="306"/>
                      <a:pt x="468" y="307"/>
                    </a:cubicBezTo>
                    <a:cubicBezTo>
                      <a:pt x="469" y="308"/>
                      <a:pt x="468" y="307"/>
                      <a:pt x="465" y="306"/>
                    </a:cubicBezTo>
                    <a:cubicBezTo>
                      <a:pt x="462" y="305"/>
                      <a:pt x="462" y="305"/>
                      <a:pt x="461" y="306"/>
                    </a:cubicBezTo>
                    <a:cubicBezTo>
                      <a:pt x="459" y="306"/>
                      <a:pt x="458" y="307"/>
                      <a:pt x="460" y="305"/>
                    </a:cubicBezTo>
                    <a:cubicBezTo>
                      <a:pt x="462" y="303"/>
                      <a:pt x="461" y="303"/>
                      <a:pt x="460" y="302"/>
                    </a:cubicBezTo>
                    <a:cubicBezTo>
                      <a:pt x="460" y="302"/>
                      <a:pt x="460" y="301"/>
                      <a:pt x="463" y="303"/>
                    </a:cubicBezTo>
                    <a:cubicBezTo>
                      <a:pt x="465" y="304"/>
                      <a:pt x="466" y="304"/>
                      <a:pt x="466" y="303"/>
                    </a:cubicBezTo>
                    <a:cubicBezTo>
                      <a:pt x="465" y="302"/>
                      <a:pt x="467" y="302"/>
                      <a:pt x="468" y="304"/>
                    </a:cubicBezTo>
                    <a:cubicBezTo>
                      <a:pt x="468" y="306"/>
                      <a:pt x="469" y="307"/>
                      <a:pt x="471" y="307"/>
                    </a:cubicBezTo>
                    <a:cubicBezTo>
                      <a:pt x="473" y="307"/>
                      <a:pt x="474" y="307"/>
                      <a:pt x="474" y="305"/>
                    </a:cubicBezTo>
                    <a:cubicBezTo>
                      <a:pt x="473" y="303"/>
                      <a:pt x="473" y="302"/>
                      <a:pt x="474" y="304"/>
                    </a:cubicBezTo>
                    <a:cubicBezTo>
                      <a:pt x="475" y="306"/>
                      <a:pt x="475" y="306"/>
                      <a:pt x="476" y="305"/>
                    </a:cubicBezTo>
                    <a:cubicBezTo>
                      <a:pt x="478" y="305"/>
                      <a:pt x="478" y="305"/>
                      <a:pt x="476" y="306"/>
                    </a:cubicBezTo>
                    <a:cubicBezTo>
                      <a:pt x="474" y="307"/>
                      <a:pt x="475" y="307"/>
                      <a:pt x="475" y="308"/>
                    </a:cubicBezTo>
                    <a:cubicBezTo>
                      <a:pt x="476" y="309"/>
                      <a:pt x="478" y="312"/>
                      <a:pt x="478" y="314"/>
                    </a:cubicBezTo>
                    <a:cubicBezTo>
                      <a:pt x="477" y="315"/>
                      <a:pt x="476" y="314"/>
                      <a:pt x="477" y="315"/>
                    </a:cubicBezTo>
                    <a:cubicBezTo>
                      <a:pt x="477" y="316"/>
                      <a:pt x="476" y="316"/>
                      <a:pt x="479" y="316"/>
                    </a:cubicBezTo>
                    <a:cubicBezTo>
                      <a:pt x="481" y="316"/>
                      <a:pt x="481" y="315"/>
                      <a:pt x="482" y="316"/>
                    </a:cubicBezTo>
                    <a:cubicBezTo>
                      <a:pt x="483" y="317"/>
                      <a:pt x="484" y="316"/>
                      <a:pt x="483" y="315"/>
                    </a:cubicBezTo>
                    <a:cubicBezTo>
                      <a:pt x="483" y="314"/>
                      <a:pt x="483" y="313"/>
                      <a:pt x="484" y="316"/>
                    </a:cubicBezTo>
                    <a:cubicBezTo>
                      <a:pt x="485" y="319"/>
                      <a:pt x="485" y="319"/>
                      <a:pt x="487" y="319"/>
                    </a:cubicBezTo>
                    <a:cubicBezTo>
                      <a:pt x="488" y="319"/>
                      <a:pt x="491" y="318"/>
                      <a:pt x="489" y="315"/>
                    </a:cubicBezTo>
                    <a:cubicBezTo>
                      <a:pt x="487" y="311"/>
                      <a:pt x="486" y="311"/>
                      <a:pt x="487" y="311"/>
                    </a:cubicBezTo>
                    <a:cubicBezTo>
                      <a:pt x="488" y="311"/>
                      <a:pt x="488" y="311"/>
                      <a:pt x="487" y="309"/>
                    </a:cubicBezTo>
                    <a:cubicBezTo>
                      <a:pt x="486" y="307"/>
                      <a:pt x="484" y="305"/>
                      <a:pt x="484" y="303"/>
                    </a:cubicBezTo>
                    <a:cubicBezTo>
                      <a:pt x="485" y="301"/>
                      <a:pt x="484" y="301"/>
                      <a:pt x="484" y="299"/>
                    </a:cubicBezTo>
                    <a:cubicBezTo>
                      <a:pt x="483" y="298"/>
                      <a:pt x="482" y="297"/>
                      <a:pt x="484" y="298"/>
                    </a:cubicBezTo>
                    <a:cubicBezTo>
                      <a:pt x="486" y="299"/>
                      <a:pt x="485" y="297"/>
                      <a:pt x="484" y="297"/>
                    </a:cubicBezTo>
                    <a:cubicBezTo>
                      <a:pt x="483" y="296"/>
                      <a:pt x="483" y="296"/>
                      <a:pt x="484" y="296"/>
                    </a:cubicBezTo>
                    <a:cubicBezTo>
                      <a:pt x="485" y="296"/>
                      <a:pt x="485" y="292"/>
                      <a:pt x="485" y="296"/>
                    </a:cubicBezTo>
                    <a:cubicBezTo>
                      <a:pt x="485" y="296"/>
                      <a:pt x="485" y="297"/>
                      <a:pt x="486" y="298"/>
                    </a:cubicBezTo>
                    <a:cubicBezTo>
                      <a:pt x="487" y="300"/>
                      <a:pt x="487" y="302"/>
                      <a:pt x="487" y="303"/>
                    </a:cubicBezTo>
                    <a:cubicBezTo>
                      <a:pt x="488" y="304"/>
                      <a:pt x="488" y="306"/>
                      <a:pt x="489" y="307"/>
                    </a:cubicBezTo>
                    <a:cubicBezTo>
                      <a:pt x="490" y="308"/>
                      <a:pt x="489" y="308"/>
                      <a:pt x="490" y="308"/>
                    </a:cubicBezTo>
                    <a:cubicBezTo>
                      <a:pt x="491" y="307"/>
                      <a:pt x="492" y="308"/>
                      <a:pt x="492" y="309"/>
                    </a:cubicBezTo>
                    <a:cubicBezTo>
                      <a:pt x="491" y="310"/>
                      <a:pt x="490" y="310"/>
                      <a:pt x="491" y="311"/>
                    </a:cubicBezTo>
                    <a:cubicBezTo>
                      <a:pt x="491" y="312"/>
                      <a:pt x="492" y="312"/>
                      <a:pt x="493" y="314"/>
                    </a:cubicBezTo>
                    <a:cubicBezTo>
                      <a:pt x="493" y="315"/>
                      <a:pt x="495" y="317"/>
                      <a:pt x="497" y="318"/>
                    </a:cubicBezTo>
                    <a:cubicBezTo>
                      <a:pt x="500" y="319"/>
                      <a:pt x="504" y="321"/>
                      <a:pt x="503" y="319"/>
                    </a:cubicBezTo>
                    <a:cubicBezTo>
                      <a:pt x="503" y="317"/>
                      <a:pt x="502" y="317"/>
                      <a:pt x="503" y="317"/>
                    </a:cubicBezTo>
                    <a:cubicBezTo>
                      <a:pt x="504" y="317"/>
                      <a:pt x="504" y="317"/>
                      <a:pt x="504" y="316"/>
                    </a:cubicBezTo>
                    <a:cubicBezTo>
                      <a:pt x="505" y="315"/>
                      <a:pt x="506" y="313"/>
                      <a:pt x="507" y="313"/>
                    </a:cubicBezTo>
                    <a:cubicBezTo>
                      <a:pt x="507" y="313"/>
                      <a:pt x="508" y="313"/>
                      <a:pt x="506" y="314"/>
                    </a:cubicBezTo>
                    <a:cubicBezTo>
                      <a:pt x="505" y="315"/>
                      <a:pt x="505" y="315"/>
                      <a:pt x="505" y="317"/>
                    </a:cubicBezTo>
                    <a:cubicBezTo>
                      <a:pt x="505" y="318"/>
                      <a:pt x="505" y="318"/>
                      <a:pt x="505" y="319"/>
                    </a:cubicBezTo>
                    <a:cubicBezTo>
                      <a:pt x="504" y="319"/>
                      <a:pt x="504" y="320"/>
                      <a:pt x="504" y="320"/>
                    </a:cubicBezTo>
                    <a:cubicBezTo>
                      <a:pt x="504" y="321"/>
                      <a:pt x="504" y="323"/>
                      <a:pt x="506" y="324"/>
                    </a:cubicBezTo>
                    <a:cubicBezTo>
                      <a:pt x="507" y="324"/>
                      <a:pt x="507" y="324"/>
                      <a:pt x="508" y="323"/>
                    </a:cubicBezTo>
                    <a:cubicBezTo>
                      <a:pt x="509" y="322"/>
                      <a:pt x="510" y="320"/>
                      <a:pt x="509" y="323"/>
                    </a:cubicBezTo>
                    <a:cubicBezTo>
                      <a:pt x="508" y="325"/>
                      <a:pt x="512" y="325"/>
                      <a:pt x="509" y="325"/>
                    </a:cubicBezTo>
                    <a:cubicBezTo>
                      <a:pt x="506" y="325"/>
                      <a:pt x="507" y="325"/>
                      <a:pt x="508" y="326"/>
                    </a:cubicBezTo>
                    <a:cubicBezTo>
                      <a:pt x="508" y="327"/>
                      <a:pt x="509" y="329"/>
                      <a:pt x="510" y="328"/>
                    </a:cubicBezTo>
                    <a:cubicBezTo>
                      <a:pt x="511" y="327"/>
                      <a:pt x="512" y="326"/>
                      <a:pt x="514" y="326"/>
                    </a:cubicBezTo>
                    <a:cubicBezTo>
                      <a:pt x="516" y="327"/>
                      <a:pt x="515" y="327"/>
                      <a:pt x="513" y="327"/>
                    </a:cubicBezTo>
                    <a:cubicBezTo>
                      <a:pt x="511" y="326"/>
                      <a:pt x="511" y="328"/>
                      <a:pt x="512" y="330"/>
                    </a:cubicBezTo>
                    <a:cubicBezTo>
                      <a:pt x="514" y="331"/>
                      <a:pt x="516" y="333"/>
                      <a:pt x="513" y="332"/>
                    </a:cubicBezTo>
                    <a:cubicBezTo>
                      <a:pt x="511" y="330"/>
                      <a:pt x="510" y="331"/>
                      <a:pt x="510" y="332"/>
                    </a:cubicBezTo>
                    <a:cubicBezTo>
                      <a:pt x="510" y="333"/>
                      <a:pt x="511" y="333"/>
                      <a:pt x="513" y="333"/>
                    </a:cubicBezTo>
                    <a:cubicBezTo>
                      <a:pt x="514" y="333"/>
                      <a:pt x="515" y="333"/>
                      <a:pt x="514" y="334"/>
                    </a:cubicBezTo>
                    <a:cubicBezTo>
                      <a:pt x="512" y="335"/>
                      <a:pt x="512" y="338"/>
                      <a:pt x="516" y="339"/>
                    </a:cubicBezTo>
                    <a:cubicBezTo>
                      <a:pt x="520" y="339"/>
                      <a:pt x="518" y="339"/>
                      <a:pt x="516" y="340"/>
                    </a:cubicBezTo>
                    <a:cubicBezTo>
                      <a:pt x="515" y="340"/>
                      <a:pt x="514" y="340"/>
                      <a:pt x="513" y="340"/>
                    </a:cubicBezTo>
                    <a:cubicBezTo>
                      <a:pt x="512" y="341"/>
                      <a:pt x="510" y="342"/>
                      <a:pt x="513" y="342"/>
                    </a:cubicBezTo>
                    <a:cubicBezTo>
                      <a:pt x="515" y="342"/>
                      <a:pt x="518" y="342"/>
                      <a:pt x="519" y="343"/>
                    </a:cubicBezTo>
                    <a:cubicBezTo>
                      <a:pt x="521" y="344"/>
                      <a:pt x="523" y="344"/>
                      <a:pt x="523" y="345"/>
                    </a:cubicBezTo>
                    <a:cubicBezTo>
                      <a:pt x="523" y="346"/>
                      <a:pt x="523" y="346"/>
                      <a:pt x="522" y="346"/>
                    </a:cubicBezTo>
                    <a:cubicBezTo>
                      <a:pt x="521" y="346"/>
                      <a:pt x="521" y="346"/>
                      <a:pt x="522" y="348"/>
                    </a:cubicBezTo>
                    <a:cubicBezTo>
                      <a:pt x="523" y="349"/>
                      <a:pt x="525" y="350"/>
                      <a:pt x="527" y="350"/>
                    </a:cubicBezTo>
                    <a:cubicBezTo>
                      <a:pt x="528" y="350"/>
                      <a:pt x="529" y="350"/>
                      <a:pt x="528" y="351"/>
                    </a:cubicBezTo>
                    <a:cubicBezTo>
                      <a:pt x="527" y="352"/>
                      <a:pt x="529" y="352"/>
                      <a:pt x="527" y="353"/>
                    </a:cubicBezTo>
                    <a:cubicBezTo>
                      <a:pt x="526" y="353"/>
                      <a:pt x="527" y="354"/>
                      <a:pt x="528" y="354"/>
                    </a:cubicBezTo>
                    <a:cubicBezTo>
                      <a:pt x="528" y="354"/>
                      <a:pt x="531" y="356"/>
                      <a:pt x="532" y="358"/>
                    </a:cubicBezTo>
                    <a:cubicBezTo>
                      <a:pt x="532" y="359"/>
                      <a:pt x="533" y="359"/>
                      <a:pt x="535" y="360"/>
                    </a:cubicBezTo>
                    <a:cubicBezTo>
                      <a:pt x="536" y="361"/>
                      <a:pt x="538" y="363"/>
                      <a:pt x="537" y="363"/>
                    </a:cubicBezTo>
                    <a:cubicBezTo>
                      <a:pt x="536" y="363"/>
                      <a:pt x="535" y="364"/>
                      <a:pt x="536" y="365"/>
                    </a:cubicBezTo>
                    <a:cubicBezTo>
                      <a:pt x="536" y="367"/>
                      <a:pt x="536" y="368"/>
                      <a:pt x="535" y="368"/>
                    </a:cubicBezTo>
                    <a:cubicBezTo>
                      <a:pt x="534" y="368"/>
                      <a:pt x="533" y="369"/>
                      <a:pt x="534" y="370"/>
                    </a:cubicBezTo>
                    <a:cubicBezTo>
                      <a:pt x="534" y="372"/>
                      <a:pt x="534" y="371"/>
                      <a:pt x="533" y="371"/>
                    </a:cubicBezTo>
                    <a:cubicBezTo>
                      <a:pt x="533" y="371"/>
                      <a:pt x="532" y="371"/>
                      <a:pt x="532" y="372"/>
                    </a:cubicBezTo>
                    <a:cubicBezTo>
                      <a:pt x="532" y="373"/>
                      <a:pt x="532" y="373"/>
                      <a:pt x="532" y="372"/>
                    </a:cubicBezTo>
                    <a:cubicBezTo>
                      <a:pt x="531" y="372"/>
                      <a:pt x="531" y="372"/>
                      <a:pt x="531" y="374"/>
                    </a:cubicBezTo>
                    <a:cubicBezTo>
                      <a:pt x="532" y="375"/>
                      <a:pt x="535" y="379"/>
                      <a:pt x="535" y="377"/>
                    </a:cubicBezTo>
                    <a:cubicBezTo>
                      <a:pt x="535" y="375"/>
                      <a:pt x="534" y="374"/>
                      <a:pt x="536" y="373"/>
                    </a:cubicBezTo>
                    <a:cubicBezTo>
                      <a:pt x="537" y="373"/>
                      <a:pt x="539" y="371"/>
                      <a:pt x="538" y="371"/>
                    </a:cubicBezTo>
                    <a:cubicBezTo>
                      <a:pt x="536" y="370"/>
                      <a:pt x="536" y="370"/>
                      <a:pt x="538" y="369"/>
                    </a:cubicBezTo>
                    <a:cubicBezTo>
                      <a:pt x="540" y="368"/>
                      <a:pt x="546" y="366"/>
                      <a:pt x="547" y="366"/>
                    </a:cubicBezTo>
                    <a:cubicBezTo>
                      <a:pt x="548" y="365"/>
                      <a:pt x="550" y="364"/>
                      <a:pt x="548" y="366"/>
                    </a:cubicBezTo>
                    <a:cubicBezTo>
                      <a:pt x="546" y="367"/>
                      <a:pt x="547" y="368"/>
                      <a:pt x="548" y="369"/>
                    </a:cubicBezTo>
                    <a:cubicBezTo>
                      <a:pt x="549" y="370"/>
                      <a:pt x="552" y="373"/>
                      <a:pt x="552" y="380"/>
                    </a:cubicBezTo>
                    <a:cubicBezTo>
                      <a:pt x="552" y="380"/>
                      <a:pt x="551" y="381"/>
                      <a:pt x="554" y="381"/>
                    </a:cubicBezTo>
                    <a:cubicBezTo>
                      <a:pt x="556" y="381"/>
                      <a:pt x="555" y="382"/>
                      <a:pt x="552" y="382"/>
                    </a:cubicBezTo>
                    <a:cubicBezTo>
                      <a:pt x="549" y="382"/>
                      <a:pt x="549" y="383"/>
                      <a:pt x="549" y="383"/>
                    </a:cubicBezTo>
                    <a:cubicBezTo>
                      <a:pt x="549" y="384"/>
                      <a:pt x="548" y="386"/>
                      <a:pt x="550" y="386"/>
                    </a:cubicBezTo>
                    <a:cubicBezTo>
                      <a:pt x="552" y="386"/>
                      <a:pt x="553" y="385"/>
                      <a:pt x="551" y="386"/>
                    </a:cubicBezTo>
                    <a:cubicBezTo>
                      <a:pt x="550" y="387"/>
                      <a:pt x="549" y="387"/>
                      <a:pt x="550" y="388"/>
                    </a:cubicBezTo>
                    <a:cubicBezTo>
                      <a:pt x="551" y="389"/>
                      <a:pt x="551" y="390"/>
                      <a:pt x="551" y="391"/>
                    </a:cubicBezTo>
                    <a:cubicBezTo>
                      <a:pt x="551" y="392"/>
                      <a:pt x="553" y="393"/>
                      <a:pt x="555" y="392"/>
                    </a:cubicBezTo>
                    <a:cubicBezTo>
                      <a:pt x="558" y="391"/>
                      <a:pt x="560" y="389"/>
                      <a:pt x="560" y="388"/>
                    </a:cubicBezTo>
                    <a:cubicBezTo>
                      <a:pt x="561" y="387"/>
                      <a:pt x="562" y="384"/>
                      <a:pt x="563" y="383"/>
                    </a:cubicBezTo>
                    <a:cubicBezTo>
                      <a:pt x="563" y="383"/>
                      <a:pt x="565" y="381"/>
                      <a:pt x="563" y="378"/>
                    </a:cubicBezTo>
                    <a:cubicBezTo>
                      <a:pt x="562" y="375"/>
                      <a:pt x="562" y="374"/>
                      <a:pt x="562" y="373"/>
                    </a:cubicBezTo>
                    <a:cubicBezTo>
                      <a:pt x="562" y="373"/>
                      <a:pt x="562" y="372"/>
                      <a:pt x="562" y="372"/>
                    </a:cubicBezTo>
                    <a:cubicBezTo>
                      <a:pt x="563" y="371"/>
                      <a:pt x="563" y="369"/>
                      <a:pt x="564" y="369"/>
                    </a:cubicBezTo>
                    <a:close/>
                    <a:moveTo>
                      <a:pt x="468" y="323"/>
                    </a:moveTo>
                    <a:cubicBezTo>
                      <a:pt x="468" y="324"/>
                      <a:pt x="467" y="325"/>
                      <a:pt x="467" y="326"/>
                    </a:cubicBezTo>
                    <a:cubicBezTo>
                      <a:pt x="467" y="326"/>
                      <a:pt x="469" y="328"/>
                      <a:pt x="469" y="326"/>
                    </a:cubicBezTo>
                    <a:cubicBezTo>
                      <a:pt x="470" y="324"/>
                      <a:pt x="469" y="322"/>
                      <a:pt x="468" y="323"/>
                    </a:cubicBezTo>
                    <a:close/>
                    <a:moveTo>
                      <a:pt x="481" y="335"/>
                    </a:moveTo>
                    <a:cubicBezTo>
                      <a:pt x="483" y="335"/>
                      <a:pt x="482" y="335"/>
                      <a:pt x="480" y="332"/>
                    </a:cubicBezTo>
                    <a:cubicBezTo>
                      <a:pt x="478" y="329"/>
                      <a:pt x="479" y="330"/>
                      <a:pt x="481" y="331"/>
                    </a:cubicBezTo>
                    <a:cubicBezTo>
                      <a:pt x="482" y="332"/>
                      <a:pt x="488" y="335"/>
                      <a:pt x="491" y="335"/>
                    </a:cubicBezTo>
                    <a:cubicBezTo>
                      <a:pt x="494" y="335"/>
                      <a:pt x="492" y="333"/>
                      <a:pt x="492" y="331"/>
                    </a:cubicBezTo>
                    <a:cubicBezTo>
                      <a:pt x="491" y="329"/>
                      <a:pt x="489" y="329"/>
                      <a:pt x="487" y="330"/>
                    </a:cubicBezTo>
                    <a:cubicBezTo>
                      <a:pt x="485" y="331"/>
                      <a:pt x="485" y="329"/>
                      <a:pt x="483" y="327"/>
                    </a:cubicBezTo>
                    <a:cubicBezTo>
                      <a:pt x="480" y="326"/>
                      <a:pt x="479" y="325"/>
                      <a:pt x="480" y="326"/>
                    </a:cubicBezTo>
                    <a:cubicBezTo>
                      <a:pt x="481" y="326"/>
                      <a:pt x="488" y="329"/>
                      <a:pt x="489" y="329"/>
                    </a:cubicBezTo>
                    <a:cubicBezTo>
                      <a:pt x="491" y="329"/>
                      <a:pt x="491" y="328"/>
                      <a:pt x="489" y="327"/>
                    </a:cubicBezTo>
                    <a:cubicBezTo>
                      <a:pt x="487" y="326"/>
                      <a:pt x="489" y="325"/>
                      <a:pt x="490" y="327"/>
                    </a:cubicBezTo>
                    <a:cubicBezTo>
                      <a:pt x="492" y="328"/>
                      <a:pt x="491" y="326"/>
                      <a:pt x="491" y="324"/>
                    </a:cubicBezTo>
                    <a:cubicBezTo>
                      <a:pt x="491" y="322"/>
                      <a:pt x="488" y="322"/>
                      <a:pt x="487" y="322"/>
                    </a:cubicBezTo>
                    <a:cubicBezTo>
                      <a:pt x="485" y="322"/>
                      <a:pt x="484" y="321"/>
                      <a:pt x="483" y="323"/>
                    </a:cubicBezTo>
                    <a:cubicBezTo>
                      <a:pt x="481" y="325"/>
                      <a:pt x="481" y="325"/>
                      <a:pt x="480" y="325"/>
                    </a:cubicBezTo>
                    <a:cubicBezTo>
                      <a:pt x="478" y="324"/>
                      <a:pt x="479" y="323"/>
                      <a:pt x="481" y="322"/>
                    </a:cubicBezTo>
                    <a:cubicBezTo>
                      <a:pt x="483" y="322"/>
                      <a:pt x="482" y="320"/>
                      <a:pt x="480" y="319"/>
                    </a:cubicBezTo>
                    <a:cubicBezTo>
                      <a:pt x="479" y="319"/>
                      <a:pt x="478" y="318"/>
                      <a:pt x="477" y="319"/>
                    </a:cubicBezTo>
                    <a:cubicBezTo>
                      <a:pt x="476" y="320"/>
                      <a:pt x="476" y="321"/>
                      <a:pt x="474" y="320"/>
                    </a:cubicBezTo>
                    <a:cubicBezTo>
                      <a:pt x="472" y="320"/>
                      <a:pt x="473" y="322"/>
                      <a:pt x="471" y="321"/>
                    </a:cubicBezTo>
                    <a:cubicBezTo>
                      <a:pt x="470" y="320"/>
                      <a:pt x="471" y="322"/>
                      <a:pt x="470" y="322"/>
                    </a:cubicBezTo>
                    <a:cubicBezTo>
                      <a:pt x="469" y="322"/>
                      <a:pt x="467" y="321"/>
                      <a:pt x="471" y="324"/>
                    </a:cubicBezTo>
                    <a:cubicBezTo>
                      <a:pt x="475" y="328"/>
                      <a:pt x="473" y="326"/>
                      <a:pt x="472" y="326"/>
                    </a:cubicBezTo>
                    <a:cubicBezTo>
                      <a:pt x="471" y="325"/>
                      <a:pt x="471" y="325"/>
                      <a:pt x="470" y="327"/>
                    </a:cubicBezTo>
                    <a:cubicBezTo>
                      <a:pt x="469" y="329"/>
                      <a:pt x="471" y="328"/>
                      <a:pt x="471" y="328"/>
                    </a:cubicBezTo>
                    <a:cubicBezTo>
                      <a:pt x="473" y="329"/>
                      <a:pt x="474" y="333"/>
                      <a:pt x="476" y="334"/>
                    </a:cubicBezTo>
                    <a:cubicBezTo>
                      <a:pt x="477" y="335"/>
                      <a:pt x="479" y="335"/>
                      <a:pt x="481" y="335"/>
                    </a:cubicBezTo>
                    <a:close/>
                    <a:moveTo>
                      <a:pt x="503" y="340"/>
                    </a:moveTo>
                    <a:cubicBezTo>
                      <a:pt x="503" y="339"/>
                      <a:pt x="506" y="339"/>
                      <a:pt x="507" y="338"/>
                    </a:cubicBezTo>
                    <a:cubicBezTo>
                      <a:pt x="508" y="337"/>
                      <a:pt x="505" y="332"/>
                      <a:pt x="504" y="331"/>
                    </a:cubicBezTo>
                    <a:cubicBezTo>
                      <a:pt x="504" y="330"/>
                      <a:pt x="503" y="329"/>
                      <a:pt x="502" y="328"/>
                    </a:cubicBezTo>
                    <a:cubicBezTo>
                      <a:pt x="500" y="327"/>
                      <a:pt x="501" y="326"/>
                      <a:pt x="501" y="325"/>
                    </a:cubicBezTo>
                    <a:cubicBezTo>
                      <a:pt x="501" y="324"/>
                      <a:pt x="500" y="323"/>
                      <a:pt x="501" y="323"/>
                    </a:cubicBezTo>
                    <a:cubicBezTo>
                      <a:pt x="502" y="324"/>
                      <a:pt x="503" y="327"/>
                      <a:pt x="505" y="330"/>
                    </a:cubicBezTo>
                    <a:cubicBezTo>
                      <a:pt x="507" y="333"/>
                      <a:pt x="507" y="332"/>
                      <a:pt x="507" y="331"/>
                    </a:cubicBezTo>
                    <a:cubicBezTo>
                      <a:pt x="507" y="330"/>
                      <a:pt x="505" y="327"/>
                      <a:pt x="503" y="323"/>
                    </a:cubicBezTo>
                    <a:cubicBezTo>
                      <a:pt x="502" y="319"/>
                      <a:pt x="499" y="321"/>
                      <a:pt x="497" y="321"/>
                    </a:cubicBezTo>
                    <a:cubicBezTo>
                      <a:pt x="495" y="320"/>
                      <a:pt x="495" y="319"/>
                      <a:pt x="493" y="317"/>
                    </a:cubicBezTo>
                    <a:cubicBezTo>
                      <a:pt x="491" y="316"/>
                      <a:pt x="491" y="317"/>
                      <a:pt x="491" y="318"/>
                    </a:cubicBezTo>
                    <a:cubicBezTo>
                      <a:pt x="491" y="319"/>
                      <a:pt x="492" y="319"/>
                      <a:pt x="492" y="320"/>
                    </a:cubicBezTo>
                    <a:cubicBezTo>
                      <a:pt x="492" y="321"/>
                      <a:pt x="492" y="321"/>
                      <a:pt x="493" y="321"/>
                    </a:cubicBezTo>
                    <a:cubicBezTo>
                      <a:pt x="495" y="320"/>
                      <a:pt x="494" y="322"/>
                      <a:pt x="494" y="322"/>
                    </a:cubicBezTo>
                    <a:cubicBezTo>
                      <a:pt x="493" y="322"/>
                      <a:pt x="493" y="324"/>
                      <a:pt x="494" y="326"/>
                    </a:cubicBezTo>
                    <a:cubicBezTo>
                      <a:pt x="494" y="327"/>
                      <a:pt x="495" y="331"/>
                      <a:pt x="496" y="333"/>
                    </a:cubicBezTo>
                    <a:cubicBezTo>
                      <a:pt x="496" y="336"/>
                      <a:pt x="497" y="335"/>
                      <a:pt x="498" y="335"/>
                    </a:cubicBezTo>
                    <a:cubicBezTo>
                      <a:pt x="499" y="334"/>
                      <a:pt x="500" y="334"/>
                      <a:pt x="500" y="336"/>
                    </a:cubicBezTo>
                    <a:cubicBezTo>
                      <a:pt x="500" y="337"/>
                      <a:pt x="500" y="338"/>
                      <a:pt x="499" y="338"/>
                    </a:cubicBezTo>
                    <a:cubicBezTo>
                      <a:pt x="498" y="338"/>
                      <a:pt x="497" y="340"/>
                      <a:pt x="497" y="343"/>
                    </a:cubicBezTo>
                    <a:cubicBezTo>
                      <a:pt x="496" y="346"/>
                      <a:pt x="497" y="345"/>
                      <a:pt x="498" y="344"/>
                    </a:cubicBezTo>
                    <a:cubicBezTo>
                      <a:pt x="500" y="344"/>
                      <a:pt x="501" y="342"/>
                      <a:pt x="502" y="342"/>
                    </a:cubicBezTo>
                    <a:cubicBezTo>
                      <a:pt x="503" y="341"/>
                      <a:pt x="504" y="341"/>
                      <a:pt x="503" y="340"/>
                    </a:cubicBezTo>
                    <a:close/>
                    <a:moveTo>
                      <a:pt x="479" y="339"/>
                    </a:moveTo>
                    <a:cubicBezTo>
                      <a:pt x="477" y="338"/>
                      <a:pt x="478" y="340"/>
                      <a:pt x="479" y="341"/>
                    </a:cubicBezTo>
                    <a:cubicBezTo>
                      <a:pt x="479" y="342"/>
                      <a:pt x="479" y="343"/>
                      <a:pt x="478" y="345"/>
                    </a:cubicBezTo>
                    <a:cubicBezTo>
                      <a:pt x="477" y="347"/>
                      <a:pt x="480" y="346"/>
                      <a:pt x="481" y="345"/>
                    </a:cubicBezTo>
                    <a:cubicBezTo>
                      <a:pt x="483" y="344"/>
                      <a:pt x="481" y="342"/>
                      <a:pt x="481" y="340"/>
                    </a:cubicBezTo>
                    <a:cubicBezTo>
                      <a:pt x="480" y="339"/>
                      <a:pt x="479" y="339"/>
                      <a:pt x="479" y="339"/>
                    </a:cubicBezTo>
                    <a:close/>
                    <a:moveTo>
                      <a:pt x="491" y="338"/>
                    </a:moveTo>
                    <a:cubicBezTo>
                      <a:pt x="489" y="335"/>
                      <a:pt x="486" y="336"/>
                      <a:pt x="485" y="336"/>
                    </a:cubicBezTo>
                    <a:cubicBezTo>
                      <a:pt x="484" y="336"/>
                      <a:pt x="486" y="335"/>
                      <a:pt x="485" y="334"/>
                    </a:cubicBezTo>
                    <a:cubicBezTo>
                      <a:pt x="484" y="334"/>
                      <a:pt x="482" y="336"/>
                      <a:pt x="482" y="337"/>
                    </a:cubicBezTo>
                    <a:cubicBezTo>
                      <a:pt x="482" y="338"/>
                      <a:pt x="483" y="338"/>
                      <a:pt x="481" y="338"/>
                    </a:cubicBezTo>
                    <a:cubicBezTo>
                      <a:pt x="480" y="337"/>
                      <a:pt x="482" y="340"/>
                      <a:pt x="482" y="340"/>
                    </a:cubicBezTo>
                    <a:cubicBezTo>
                      <a:pt x="483" y="341"/>
                      <a:pt x="483" y="341"/>
                      <a:pt x="484" y="341"/>
                    </a:cubicBezTo>
                    <a:cubicBezTo>
                      <a:pt x="485" y="341"/>
                      <a:pt x="485" y="341"/>
                      <a:pt x="485" y="342"/>
                    </a:cubicBezTo>
                    <a:cubicBezTo>
                      <a:pt x="484" y="343"/>
                      <a:pt x="485" y="344"/>
                      <a:pt x="486" y="345"/>
                    </a:cubicBezTo>
                    <a:cubicBezTo>
                      <a:pt x="487" y="346"/>
                      <a:pt x="488" y="345"/>
                      <a:pt x="487" y="346"/>
                    </a:cubicBezTo>
                    <a:cubicBezTo>
                      <a:pt x="485" y="346"/>
                      <a:pt x="486" y="347"/>
                      <a:pt x="485" y="348"/>
                    </a:cubicBezTo>
                    <a:cubicBezTo>
                      <a:pt x="484" y="350"/>
                      <a:pt x="486" y="351"/>
                      <a:pt x="488" y="350"/>
                    </a:cubicBezTo>
                    <a:cubicBezTo>
                      <a:pt x="489" y="349"/>
                      <a:pt x="488" y="350"/>
                      <a:pt x="488" y="351"/>
                    </a:cubicBezTo>
                    <a:cubicBezTo>
                      <a:pt x="487" y="352"/>
                      <a:pt x="488" y="352"/>
                      <a:pt x="489" y="352"/>
                    </a:cubicBezTo>
                    <a:cubicBezTo>
                      <a:pt x="490" y="351"/>
                      <a:pt x="489" y="352"/>
                      <a:pt x="489" y="353"/>
                    </a:cubicBezTo>
                    <a:cubicBezTo>
                      <a:pt x="489" y="355"/>
                      <a:pt x="490" y="354"/>
                      <a:pt x="491" y="353"/>
                    </a:cubicBezTo>
                    <a:cubicBezTo>
                      <a:pt x="492" y="353"/>
                      <a:pt x="492" y="353"/>
                      <a:pt x="492" y="355"/>
                    </a:cubicBezTo>
                    <a:cubicBezTo>
                      <a:pt x="491" y="356"/>
                      <a:pt x="493" y="359"/>
                      <a:pt x="495" y="362"/>
                    </a:cubicBezTo>
                    <a:cubicBezTo>
                      <a:pt x="496" y="365"/>
                      <a:pt x="496" y="359"/>
                      <a:pt x="496" y="359"/>
                    </a:cubicBezTo>
                    <a:cubicBezTo>
                      <a:pt x="496" y="347"/>
                      <a:pt x="493" y="341"/>
                      <a:pt x="491" y="338"/>
                    </a:cubicBezTo>
                    <a:close/>
                    <a:moveTo>
                      <a:pt x="509" y="354"/>
                    </a:moveTo>
                    <a:cubicBezTo>
                      <a:pt x="510" y="353"/>
                      <a:pt x="509" y="351"/>
                      <a:pt x="508" y="350"/>
                    </a:cubicBezTo>
                    <a:cubicBezTo>
                      <a:pt x="507" y="350"/>
                      <a:pt x="508" y="351"/>
                      <a:pt x="507" y="352"/>
                    </a:cubicBezTo>
                    <a:cubicBezTo>
                      <a:pt x="506" y="352"/>
                      <a:pt x="505" y="349"/>
                      <a:pt x="504" y="348"/>
                    </a:cubicBezTo>
                    <a:cubicBezTo>
                      <a:pt x="503" y="347"/>
                      <a:pt x="502" y="347"/>
                      <a:pt x="503" y="348"/>
                    </a:cubicBezTo>
                    <a:cubicBezTo>
                      <a:pt x="503" y="349"/>
                      <a:pt x="503" y="349"/>
                      <a:pt x="501" y="348"/>
                    </a:cubicBezTo>
                    <a:cubicBezTo>
                      <a:pt x="499" y="348"/>
                      <a:pt x="499" y="349"/>
                      <a:pt x="499" y="351"/>
                    </a:cubicBezTo>
                    <a:cubicBezTo>
                      <a:pt x="499" y="353"/>
                      <a:pt x="501" y="352"/>
                      <a:pt x="501" y="352"/>
                    </a:cubicBezTo>
                    <a:cubicBezTo>
                      <a:pt x="501" y="352"/>
                      <a:pt x="503" y="353"/>
                      <a:pt x="501" y="353"/>
                    </a:cubicBezTo>
                    <a:cubicBezTo>
                      <a:pt x="500" y="354"/>
                      <a:pt x="503" y="354"/>
                      <a:pt x="502" y="354"/>
                    </a:cubicBezTo>
                    <a:cubicBezTo>
                      <a:pt x="501" y="354"/>
                      <a:pt x="501" y="355"/>
                      <a:pt x="502" y="355"/>
                    </a:cubicBezTo>
                    <a:cubicBezTo>
                      <a:pt x="503" y="355"/>
                      <a:pt x="504" y="355"/>
                      <a:pt x="505" y="357"/>
                    </a:cubicBezTo>
                    <a:cubicBezTo>
                      <a:pt x="506" y="359"/>
                      <a:pt x="504" y="359"/>
                      <a:pt x="504" y="359"/>
                    </a:cubicBezTo>
                    <a:cubicBezTo>
                      <a:pt x="503" y="358"/>
                      <a:pt x="502" y="358"/>
                      <a:pt x="501" y="359"/>
                    </a:cubicBezTo>
                    <a:cubicBezTo>
                      <a:pt x="501" y="360"/>
                      <a:pt x="501" y="361"/>
                      <a:pt x="501" y="360"/>
                    </a:cubicBezTo>
                    <a:cubicBezTo>
                      <a:pt x="502" y="360"/>
                      <a:pt x="502" y="361"/>
                      <a:pt x="502" y="362"/>
                    </a:cubicBezTo>
                    <a:cubicBezTo>
                      <a:pt x="501" y="363"/>
                      <a:pt x="501" y="363"/>
                      <a:pt x="502" y="363"/>
                    </a:cubicBezTo>
                    <a:cubicBezTo>
                      <a:pt x="502" y="364"/>
                      <a:pt x="502" y="364"/>
                      <a:pt x="502" y="366"/>
                    </a:cubicBezTo>
                    <a:cubicBezTo>
                      <a:pt x="503" y="367"/>
                      <a:pt x="504" y="365"/>
                      <a:pt x="504" y="362"/>
                    </a:cubicBezTo>
                    <a:cubicBezTo>
                      <a:pt x="505" y="359"/>
                      <a:pt x="505" y="363"/>
                      <a:pt x="506" y="364"/>
                    </a:cubicBezTo>
                    <a:cubicBezTo>
                      <a:pt x="506" y="364"/>
                      <a:pt x="506" y="363"/>
                      <a:pt x="506" y="362"/>
                    </a:cubicBezTo>
                    <a:cubicBezTo>
                      <a:pt x="505" y="360"/>
                      <a:pt x="506" y="360"/>
                      <a:pt x="507" y="360"/>
                    </a:cubicBezTo>
                    <a:cubicBezTo>
                      <a:pt x="508" y="360"/>
                      <a:pt x="507" y="357"/>
                      <a:pt x="507" y="355"/>
                    </a:cubicBezTo>
                    <a:cubicBezTo>
                      <a:pt x="507" y="353"/>
                      <a:pt x="508" y="354"/>
                      <a:pt x="509" y="354"/>
                    </a:cubicBezTo>
                    <a:close/>
                    <a:moveTo>
                      <a:pt x="520" y="348"/>
                    </a:moveTo>
                    <a:cubicBezTo>
                      <a:pt x="520" y="346"/>
                      <a:pt x="518" y="346"/>
                      <a:pt x="517" y="346"/>
                    </a:cubicBezTo>
                    <a:cubicBezTo>
                      <a:pt x="516" y="346"/>
                      <a:pt x="516" y="347"/>
                      <a:pt x="515" y="347"/>
                    </a:cubicBezTo>
                    <a:cubicBezTo>
                      <a:pt x="514" y="346"/>
                      <a:pt x="509" y="344"/>
                      <a:pt x="506" y="344"/>
                    </a:cubicBezTo>
                    <a:cubicBezTo>
                      <a:pt x="503" y="345"/>
                      <a:pt x="505" y="346"/>
                      <a:pt x="507" y="347"/>
                    </a:cubicBezTo>
                    <a:cubicBezTo>
                      <a:pt x="508" y="347"/>
                      <a:pt x="508" y="348"/>
                      <a:pt x="507" y="348"/>
                    </a:cubicBezTo>
                    <a:cubicBezTo>
                      <a:pt x="507" y="348"/>
                      <a:pt x="509" y="349"/>
                      <a:pt x="509" y="349"/>
                    </a:cubicBezTo>
                    <a:cubicBezTo>
                      <a:pt x="509" y="349"/>
                      <a:pt x="510" y="348"/>
                      <a:pt x="510" y="350"/>
                    </a:cubicBezTo>
                    <a:cubicBezTo>
                      <a:pt x="509" y="353"/>
                      <a:pt x="510" y="355"/>
                      <a:pt x="511" y="357"/>
                    </a:cubicBezTo>
                    <a:cubicBezTo>
                      <a:pt x="512" y="359"/>
                      <a:pt x="515" y="357"/>
                      <a:pt x="517" y="356"/>
                    </a:cubicBezTo>
                    <a:cubicBezTo>
                      <a:pt x="519" y="355"/>
                      <a:pt x="518" y="354"/>
                      <a:pt x="518" y="354"/>
                    </a:cubicBezTo>
                    <a:cubicBezTo>
                      <a:pt x="517" y="353"/>
                      <a:pt x="517" y="354"/>
                      <a:pt x="517" y="353"/>
                    </a:cubicBezTo>
                    <a:cubicBezTo>
                      <a:pt x="517" y="353"/>
                      <a:pt x="516" y="352"/>
                      <a:pt x="515" y="351"/>
                    </a:cubicBezTo>
                    <a:cubicBezTo>
                      <a:pt x="514" y="349"/>
                      <a:pt x="517" y="350"/>
                      <a:pt x="517" y="351"/>
                    </a:cubicBezTo>
                    <a:cubicBezTo>
                      <a:pt x="517" y="352"/>
                      <a:pt x="518" y="353"/>
                      <a:pt x="519" y="353"/>
                    </a:cubicBezTo>
                    <a:cubicBezTo>
                      <a:pt x="521" y="354"/>
                      <a:pt x="521" y="353"/>
                      <a:pt x="521" y="352"/>
                    </a:cubicBezTo>
                    <a:cubicBezTo>
                      <a:pt x="520" y="351"/>
                      <a:pt x="520" y="350"/>
                      <a:pt x="520" y="348"/>
                    </a:cubicBezTo>
                    <a:close/>
                    <a:moveTo>
                      <a:pt x="521" y="354"/>
                    </a:moveTo>
                    <a:cubicBezTo>
                      <a:pt x="520" y="355"/>
                      <a:pt x="521" y="356"/>
                      <a:pt x="522" y="356"/>
                    </a:cubicBezTo>
                    <a:cubicBezTo>
                      <a:pt x="523" y="356"/>
                      <a:pt x="524" y="355"/>
                      <a:pt x="525" y="356"/>
                    </a:cubicBezTo>
                    <a:cubicBezTo>
                      <a:pt x="525" y="356"/>
                      <a:pt x="527" y="356"/>
                      <a:pt x="526" y="354"/>
                    </a:cubicBezTo>
                    <a:cubicBezTo>
                      <a:pt x="525" y="351"/>
                      <a:pt x="523" y="351"/>
                      <a:pt x="523" y="350"/>
                    </a:cubicBezTo>
                    <a:cubicBezTo>
                      <a:pt x="522" y="350"/>
                      <a:pt x="521" y="349"/>
                      <a:pt x="522" y="352"/>
                    </a:cubicBezTo>
                    <a:cubicBezTo>
                      <a:pt x="522" y="354"/>
                      <a:pt x="522" y="354"/>
                      <a:pt x="521" y="354"/>
                    </a:cubicBezTo>
                    <a:close/>
                    <a:moveTo>
                      <a:pt x="515" y="364"/>
                    </a:moveTo>
                    <a:cubicBezTo>
                      <a:pt x="512" y="364"/>
                      <a:pt x="510" y="365"/>
                      <a:pt x="509" y="367"/>
                    </a:cubicBezTo>
                    <a:cubicBezTo>
                      <a:pt x="508" y="368"/>
                      <a:pt x="509" y="368"/>
                      <a:pt x="509" y="368"/>
                    </a:cubicBezTo>
                    <a:cubicBezTo>
                      <a:pt x="509" y="368"/>
                      <a:pt x="511" y="368"/>
                      <a:pt x="513" y="367"/>
                    </a:cubicBezTo>
                    <a:cubicBezTo>
                      <a:pt x="515" y="367"/>
                      <a:pt x="517" y="365"/>
                      <a:pt x="515" y="364"/>
                    </a:cubicBezTo>
                    <a:close/>
                    <a:moveTo>
                      <a:pt x="520" y="383"/>
                    </a:moveTo>
                    <a:cubicBezTo>
                      <a:pt x="519" y="383"/>
                      <a:pt x="520" y="384"/>
                      <a:pt x="521" y="383"/>
                    </a:cubicBezTo>
                    <a:cubicBezTo>
                      <a:pt x="523" y="382"/>
                      <a:pt x="523" y="382"/>
                      <a:pt x="523" y="383"/>
                    </a:cubicBezTo>
                    <a:cubicBezTo>
                      <a:pt x="523" y="384"/>
                      <a:pt x="524" y="385"/>
                      <a:pt x="525" y="383"/>
                    </a:cubicBezTo>
                    <a:cubicBezTo>
                      <a:pt x="526" y="382"/>
                      <a:pt x="526" y="382"/>
                      <a:pt x="526" y="385"/>
                    </a:cubicBezTo>
                    <a:cubicBezTo>
                      <a:pt x="525" y="387"/>
                      <a:pt x="525" y="386"/>
                      <a:pt x="526" y="386"/>
                    </a:cubicBezTo>
                    <a:cubicBezTo>
                      <a:pt x="527" y="385"/>
                      <a:pt x="528" y="386"/>
                      <a:pt x="526" y="388"/>
                    </a:cubicBezTo>
                    <a:cubicBezTo>
                      <a:pt x="525" y="390"/>
                      <a:pt x="529" y="388"/>
                      <a:pt x="530" y="390"/>
                    </a:cubicBezTo>
                    <a:cubicBezTo>
                      <a:pt x="530" y="392"/>
                      <a:pt x="532" y="391"/>
                      <a:pt x="531" y="392"/>
                    </a:cubicBezTo>
                    <a:cubicBezTo>
                      <a:pt x="531" y="393"/>
                      <a:pt x="530" y="393"/>
                      <a:pt x="532" y="393"/>
                    </a:cubicBezTo>
                    <a:cubicBezTo>
                      <a:pt x="534" y="393"/>
                      <a:pt x="535" y="393"/>
                      <a:pt x="535" y="390"/>
                    </a:cubicBezTo>
                    <a:cubicBezTo>
                      <a:pt x="536" y="387"/>
                      <a:pt x="535" y="387"/>
                      <a:pt x="534" y="387"/>
                    </a:cubicBezTo>
                    <a:cubicBezTo>
                      <a:pt x="533" y="388"/>
                      <a:pt x="531" y="389"/>
                      <a:pt x="534" y="386"/>
                    </a:cubicBezTo>
                    <a:cubicBezTo>
                      <a:pt x="537" y="384"/>
                      <a:pt x="536" y="382"/>
                      <a:pt x="535" y="382"/>
                    </a:cubicBezTo>
                    <a:cubicBezTo>
                      <a:pt x="533" y="383"/>
                      <a:pt x="533" y="381"/>
                      <a:pt x="533" y="381"/>
                    </a:cubicBezTo>
                    <a:cubicBezTo>
                      <a:pt x="532" y="379"/>
                      <a:pt x="532" y="379"/>
                      <a:pt x="529" y="379"/>
                    </a:cubicBezTo>
                    <a:cubicBezTo>
                      <a:pt x="527" y="379"/>
                      <a:pt x="530" y="378"/>
                      <a:pt x="529" y="378"/>
                    </a:cubicBezTo>
                    <a:cubicBezTo>
                      <a:pt x="528" y="377"/>
                      <a:pt x="527" y="377"/>
                      <a:pt x="526" y="378"/>
                    </a:cubicBezTo>
                    <a:cubicBezTo>
                      <a:pt x="525" y="379"/>
                      <a:pt x="525" y="377"/>
                      <a:pt x="526" y="376"/>
                    </a:cubicBezTo>
                    <a:cubicBezTo>
                      <a:pt x="527" y="375"/>
                      <a:pt x="527" y="375"/>
                      <a:pt x="528" y="375"/>
                    </a:cubicBezTo>
                    <a:cubicBezTo>
                      <a:pt x="528" y="376"/>
                      <a:pt x="530" y="377"/>
                      <a:pt x="532" y="377"/>
                    </a:cubicBezTo>
                    <a:cubicBezTo>
                      <a:pt x="533" y="377"/>
                      <a:pt x="530" y="376"/>
                      <a:pt x="529" y="375"/>
                    </a:cubicBezTo>
                    <a:cubicBezTo>
                      <a:pt x="529" y="374"/>
                      <a:pt x="527" y="371"/>
                      <a:pt x="526" y="369"/>
                    </a:cubicBezTo>
                    <a:cubicBezTo>
                      <a:pt x="524" y="366"/>
                      <a:pt x="522" y="366"/>
                      <a:pt x="520" y="366"/>
                    </a:cubicBezTo>
                    <a:cubicBezTo>
                      <a:pt x="519" y="366"/>
                      <a:pt x="518" y="365"/>
                      <a:pt x="519" y="362"/>
                    </a:cubicBezTo>
                    <a:cubicBezTo>
                      <a:pt x="520" y="360"/>
                      <a:pt x="516" y="360"/>
                      <a:pt x="515" y="360"/>
                    </a:cubicBezTo>
                    <a:cubicBezTo>
                      <a:pt x="515" y="360"/>
                      <a:pt x="513" y="360"/>
                      <a:pt x="512" y="360"/>
                    </a:cubicBezTo>
                    <a:cubicBezTo>
                      <a:pt x="511" y="360"/>
                      <a:pt x="511" y="360"/>
                      <a:pt x="511" y="361"/>
                    </a:cubicBezTo>
                    <a:cubicBezTo>
                      <a:pt x="511" y="362"/>
                      <a:pt x="511" y="363"/>
                      <a:pt x="511" y="363"/>
                    </a:cubicBezTo>
                    <a:cubicBezTo>
                      <a:pt x="511" y="363"/>
                      <a:pt x="511" y="363"/>
                      <a:pt x="514" y="363"/>
                    </a:cubicBezTo>
                    <a:cubicBezTo>
                      <a:pt x="516" y="363"/>
                      <a:pt x="517" y="364"/>
                      <a:pt x="517" y="366"/>
                    </a:cubicBezTo>
                    <a:cubicBezTo>
                      <a:pt x="516" y="368"/>
                      <a:pt x="516" y="368"/>
                      <a:pt x="517" y="369"/>
                    </a:cubicBezTo>
                    <a:cubicBezTo>
                      <a:pt x="518" y="370"/>
                      <a:pt x="518" y="371"/>
                      <a:pt x="516" y="372"/>
                    </a:cubicBezTo>
                    <a:cubicBezTo>
                      <a:pt x="515" y="373"/>
                      <a:pt x="514" y="374"/>
                      <a:pt x="515" y="375"/>
                    </a:cubicBezTo>
                    <a:cubicBezTo>
                      <a:pt x="515" y="376"/>
                      <a:pt x="516" y="376"/>
                      <a:pt x="517" y="376"/>
                    </a:cubicBezTo>
                    <a:cubicBezTo>
                      <a:pt x="519" y="375"/>
                      <a:pt x="520" y="375"/>
                      <a:pt x="519" y="376"/>
                    </a:cubicBezTo>
                    <a:cubicBezTo>
                      <a:pt x="518" y="377"/>
                      <a:pt x="518" y="377"/>
                      <a:pt x="519" y="378"/>
                    </a:cubicBezTo>
                    <a:cubicBezTo>
                      <a:pt x="520" y="379"/>
                      <a:pt x="523" y="381"/>
                      <a:pt x="520" y="381"/>
                    </a:cubicBezTo>
                    <a:cubicBezTo>
                      <a:pt x="518" y="380"/>
                      <a:pt x="515" y="381"/>
                      <a:pt x="517" y="381"/>
                    </a:cubicBezTo>
                    <a:cubicBezTo>
                      <a:pt x="520" y="382"/>
                      <a:pt x="520" y="382"/>
                      <a:pt x="520" y="383"/>
                    </a:cubicBezTo>
                    <a:close/>
                    <a:moveTo>
                      <a:pt x="520" y="360"/>
                    </a:moveTo>
                    <a:cubicBezTo>
                      <a:pt x="524" y="364"/>
                      <a:pt x="524" y="360"/>
                      <a:pt x="524" y="358"/>
                    </a:cubicBezTo>
                    <a:cubicBezTo>
                      <a:pt x="524" y="356"/>
                      <a:pt x="523" y="357"/>
                      <a:pt x="521" y="358"/>
                    </a:cubicBezTo>
                    <a:cubicBezTo>
                      <a:pt x="519" y="358"/>
                      <a:pt x="520" y="360"/>
                      <a:pt x="520" y="360"/>
                    </a:cubicBezTo>
                    <a:close/>
                    <a:moveTo>
                      <a:pt x="514" y="381"/>
                    </a:moveTo>
                    <a:cubicBezTo>
                      <a:pt x="513" y="381"/>
                      <a:pt x="513" y="381"/>
                      <a:pt x="513" y="382"/>
                    </a:cubicBezTo>
                    <a:cubicBezTo>
                      <a:pt x="513" y="383"/>
                      <a:pt x="515" y="383"/>
                      <a:pt x="515" y="383"/>
                    </a:cubicBezTo>
                    <a:cubicBezTo>
                      <a:pt x="516" y="383"/>
                      <a:pt x="516" y="383"/>
                      <a:pt x="516" y="382"/>
                    </a:cubicBezTo>
                    <a:cubicBezTo>
                      <a:pt x="516" y="381"/>
                      <a:pt x="515" y="381"/>
                      <a:pt x="514" y="381"/>
                    </a:cubicBezTo>
                    <a:close/>
                    <a:moveTo>
                      <a:pt x="529" y="361"/>
                    </a:moveTo>
                    <a:cubicBezTo>
                      <a:pt x="529" y="361"/>
                      <a:pt x="529" y="359"/>
                      <a:pt x="527" y="360"/>
                    </a:cubicBezTo>
                    <a:cubicBezTo>
                      <a:pt x="526" y="361"/>
                      <a:pt x="526" y="362"/>
                      <a:pt x="525" y="362"/>
                    </a:cubicBezTo>
                    <a:cubicBezTo>
                      <a:pt x="525" y="363"/>
                      <a:pt x="523" y="363"/>
                      <a:pt x="525" y="364"/>
                    </a:cubicBezTo>
                    <a:cubicBezTo>
                      <a:pt x="527" y="365"/>
                      <a:pt x="528" y="365"/>
                      <a:pt x="528" y="366"/>
                    </a:cubicBezTo>
                    <a:cubicBezTo>
                      <a:pt x="528" y="366"/>
                      <a:pt x="530" y="366"/>
                      <a:pt x="529" y="367"/>
                    </a:cubicBezTo>
                    <a:cubicBezTo>
                      <a:pt x="529" y="368"/>
                      <a:pt x="529" y="368"/>
                      <a:pt x="530" y="368"/>
                    </a:cubicBezTo>
                    <a:cubicBezTo>
                      <a:pt x="531" y="368"/>
                      <a:pt x="533" y="368"/>
                      <a:pt x="533" y="367"/>
                    </a:cubicBezTo>
                    <a:cubicBezTo>
                      <a:pt x="534" y="365"/>
                      <a:pt x="533" y="364"/>
                      <a:pt x="532" y="364"/>
                    </a:cubicBezTo>
                    <a:cubicBezTo>
                      <a:pt x="530" y="364"/>
                      <a:pt x="527" y="363"/>
                      <a:pt x="528" y="362"/>
                    </a:cubicBezTo>
                    <a:cubicBezTo>
                      <a:pt x="528" y="361"/>
                      <a:pt x="529" y="361"/>
                      <a:pt x="529" y="361"/>
                    </a:cubicBezTo>
                    <a:close/>
                    <a:moveTo>
                      <a:pt x="535" y="364"/>
                    </a:moveTo>
                    <a:cubicBezTo>
                      <a:pt x="535" y="364"/>
                      <a:pt x="536" y="363"/>
                      <a:pt x="534" y="361"/>
                    </a:cubicBezTo>
                    <a:cubicBezTo>
                      <a:pt x="532" y="359"/>
                      <a:pt x="529" y="355"/>
                      <a:pt x="530" y="358"/>
                    </a:cubicBezTo>
                    <a:cubicBezTo>
                      <a:pt x="530" y="358"/>
                      <a:pt x="530" y="361"/>
                      <a:pt x="532" y="363"/>
                    </a:cubicBezTo>
                    <a:cubicBezTo>
                      <a:pt x="533" y="364"/>
                      <a:pt x="534" y="364"/>
                      <a:pt x="535" y="364"/>
                    </a:cubicBezTo>
                    <a:close/>
                    <a:moveTo>
                      <a:pt x="521" y="392"/>
                    </a:moveTo>
                    <a:cubicBezTo>
                      <a:pt x="521" y="393"/>
                      <a:pt x="525" y="396"/>
                      <a:pt x="524" y="394"/>
                    </a:cubicBezTo>
                    <a:cubicBezTo>
                      <a:pt x="523" y="391"/>
                      <a:pt x="519" y="385"/>
                      <a:pt x="519" y="385"/>
                    </a:cubicBezTo>
                    <a:cubicBezTo>
                      <a:pt x="519" y="385"/>
                      <a:pt x="518" y="381"/>
                      <a:pt x="517" y="384"/>
                    </a:cubicBezTo>
                    <a:cubicBezTo>
                      <a:pt x="516" y="387"/>
                      <a:pt x="517" y="387"/>
                      <a:pt x="518" y="389"/>
                    </a:cubicBezTo>
                    <a:cubicBezTo>
                      <a:pt x="519" y="390"/>
                      <a:pt x="521" y="391"/>
                      <a:pt x="521" y="392"/>
                    </a:cubicBezTo>
                    <a:close/>
                    <a:moveTo>
                      <a:pt x="538" y="383"/>
                    </a:moveTo>
                    <a:cubicBezTo>
                      <a:pt x="538" y="386"/>
                      <a:pt x="539" y="383"/>
                      <a:pt x="539" y="383"/>
                    </a:cubicBezTo>
                    <a:cubicBezTo>
                      <a:pt x="540" y="381"/>
                      <a:pt x="539" y="381"/>
                      <a:pt x="538" y="380"/>
                    </a:cubicBezTo>
                    <a:cubicBezTo>
                      <a:pt x="537" y="379"/>
                      <a:pt x="537" y="381"/>
                      <a:pt x="538" y="383"/>
                    </a:cubicBezTo>
                    <a:close/>
                    <a:moveTo>
                      <a:pt x="539" y="377"/>
                    </a:moveTo>
                    <a:cubicBezTo>
                      <a:pt x="537" y="378"/>
                      <a:pt x="538" y="379"/>
                      <a:pt x="539" y="380"/>
                    </a:cubicBezTo>
                    <a:cubicBezTo>
                      <a:pt x="541" y="381"/>
                      <a:pt x="541" y="379"/>
                      <a:pt x="541" y="379"/>
                    </a:cubicBezTo>
                    <a:cubicBezTo>
                      <a:pt x="542" y="378"/>
                      <a:pt x="544" y="377"/>
                      <a:pt x="544" y="378"/>
                    </a:cubicBezTo>
                    <a:cubicBezTo>
                      <a:pt x="544" y="379"/>
                      <a:pt x="545" y="379"/>
                      <a:pt x="545" y="377"/>
                    </a:cubicBezTo>
                    <a:cubicBezTo>
                      <a:pt x="545" y="375"/>
                      <a:pt x="546" y="378"/>
                      <a:pt x="544" y="380"/>
                    </a:cubicBezTo>
                    <a:cubicBezTo>
                      <a:pt x="543" y="382"/>
                      <a:pt x="545" y="382"/>
                      <a:pt x="546" y="381"/>
                    </a:cubicBezTo>
                    <a:cubicBezTo>
                      <a:pt x="546" y="379"/>
                      <a:pt x="547" y="380"/>
                      <a:pt x="547" y="381"/>
                    </a:cubicBezTo>
                    <a:cubicBezTo>
                      <a:pt x="547" y="383"/>
                      <a:pt x="548" y="383"/>
                      <a:pt x="549" y="382"/>
                    </a:cubicBezTo>
                    <a:cubicBezTo>
                      <a:pt x="550" y="380"/>
                      <a:pt x="551" y="376"/>
                      <a:pt x="549" y="372"/>
                    </a:cubicBezTo>
                    <a:cubicBezTo>
                      <a:pt x="548" y="368"/>
                      <a:pt x="545" y="368"/>
                      <a:pt x="542" y="369"/>
                    </a:cubicBezTo>
                    <a:cubicBezTo>
                      <a:pt x="539" y="370"/>
                      <a:pt x="545" y="369"/>
                      <a:pt x="541" y="370"/>
                    </a:cubicBezTo>
                    <a:cubicBezTo>
                      <a:pt x="537" y="371"/>
                      <a:pt x="544" y="370"/>
                      <a:pt x="541" y="371"/>
                    </a:cubicBezTo>
                    <a:cubicBezTo>
                      <a:pt x="538" y="372"/>
                      <a:pt x="541" y="373"/>
                      <a:pt x="540" y="373"/>
                    </a:cubicBezTo>
                    <a:cubicBezTo>
                      <a:pt x="539" y="374"/>
                      <a:pt x="539" y="375"/>
                      <a:pt x="540" y="375"/>
                    </a:cubicBezTo>
                    <a:cubicBezTo>
                      <a:pt x="541" y="376"/>
                      <a:pt x="540" y="377"/>
                      <a:pt x="539" y="377"/>
                    </a:cubicBezTo>
                    <a:close/>
                    <a:moveTo>
                      <a:pt x="543" y="388"/>
                    </a:moveTo>
                    <a:cubicBezTo>
                      <a:pt x="544" y="387"/>
                      <a:pt x="544" y="387"/>
                      <a:pt x="544" y="385"/>
                    </a:cubicBezTo>
                    <a:cubicBezTo>
                      <a:pt x="543" y="383"/>
                      <a:pt x="543" y="383"/>
                      <a:pt x="542" y="382"/>
                    </a:cubicBezTo>
                    <a:cubicBezTo>
                      <a:pt x="541" y="382"/>
                      <a:pt x="541" y="384"/>
                      <a:pt x="541" y="384"/>
                    </a:cubicBezTo>
                    <a:cubicBezTo>
                      <a:pt x="541" y="385"/>
                      <a:pt x="541" y="386"/>
                      <a:pt x="541" y="387"/>
                    </a:cubicBezTo>
                    <a:cubicBezTo>
                      <a:pt x="540" y="388"/>
                      <a:pt x="541" y="388"/>
                      <a:pt x="543" y="388"/>
                    </a:cubicBezTo>
                    <a:close/>
                    <a:moveTo>
                      <a:pt x="546" y="389"/>
                    </a:moveTo>
                    <a:cubicBezTo>
                      <a:pt x="547" y="388"/>
                      <a:pt x="546" y="388"/>
                      <a:pt x="544" y="388"/>
                    </a:cubicBezTo>
                    <a:cubicBezTo>
                      <a:pt x="543" y="388"/>
                      <a:pt x="544" y="390"/>
                      <a:pt x="544" y="390"/>
                    </a:cubicBezTo>
                    <a:cubicBezTo>
                      <a:pt x="544" y="390"/>
                      <a:pt x="545" y="390"/>
                      <a:pt x="546" y="389"/>
                    </a:cubicBezTo>
                    <a:close/>
                    <a:moveTo>
                      <a:pt x="312" y="274"/>
                    </a:moveTo>
                    <a:cubicBezTo>
                      <a:pt x="311" y="273"/>
                      <a:pt x="311" y="274"/>
                      <a:pt x="310" y="273"/>
                    </a:cubicBezTo>
                    <a:cubicBezTo>
                      <a:pt x="310" y="272"/>
                      <a:pt x="308" y="275"/>
                      <a:pt x="307" y="276"/>
                    </a:cubicBezTo>
                    <a:cubicBezTo>
                      <a:pt x="306" y="277"/>
                      <a:pt x="305" y="279"/>
                      <a:pt x="304" y="280"/>
                    </a:cubicBezTo>
                    <a:cubicBezTo>
                      <a:pt x="302" y="281"/>
                      <a:pt x="301" y="282"/>
                      <a:pt x="299" y="284"/>
                    </a:cubicBezTo>
                    <a:cubicBezTo>
                      <a:pt x="298" y="285"/>
                      <a:pt x="300" y="285"/>
                      <a:pt x="300" y="285"/>
                    </a:cubicBezTo>
                    <a:cubicBezTo>
                      <a:pt x="300" y="285"/>
                      <a:pt x="303" y="282"/>
                      <a:pt x="305" y="282"/>
                    </a:cubicBezTo>
                    <a:cubicBezTo>
                      <a:pt x="306" y="281"/>
                      <a:pt x="307" y="280"/>
                      <a:pt x="307" y="279"/>
                    </a:cubicBezTo>
                    <a:cubicBezTo>
                      <a:pt x="307" y="278"/>
                      <a:pt x="309" y="277"/>
                      <a:pt x="311" y="276"/>
                    </a:cubicBezTo>
                    <a:cubicBezTo>
                      <a:pt x="313" y="275"/>
                      <a:pt x="313" y="274"/>
                      <a:pt x="312" y="274"/>
                    </a:cubicBezTo>
                    <a:close/>
                    <a:moveTo>
                      <a:pt x="230" y="312"/>
                    </a:moveTo>
                    <a:cubicBezTo>
                      <a:pt x="230" y="312"/>
                      <a:pt x="232" y="312"/>
                      <a:pt x="232" y="312"/>
                    </a:cubicBezTo>
                    <a:cubicBezTo>
                      <a:pt x="232" y="311"/>
                      <a:pt x="231" y="310"/>
                      <a:pt x="230" y="312"/>
                    </a:cubicBezTo>
                    <a:close/>
                    <a:moveTo>
                      <a:pt x="236" y="317"/>
                    </a:moveTo>
                    <a:cubicBezTo>
                      <a:pt x="236" y="316"/>
                      <a:pt x="236" y="315"/>
                      <a:pt x="235" y="316"/>
                    </a:cubicBezTo>
                    <a:cubicBezTo>
                      <a:pt x="234" y="317"/>
                      <a:pt x="234" y="315"/>
                      <a:pt x="234" y="315"/>
                    </a:cubicBezTo>
                    <a:cubicBezTo>
                      <a:pt x="233" y="314"/>
                      <a:pt x="233" y="315"/>
                      <a:pt x="233" y="316"/>
                    </a:cubicBezTo>
                    <a:cubicBezTo>
                      <a:pt x="232" y="317"/>
                      <a:pt x="232" y="317"/>
                      <a:pt x="232" y="316"/>
                    </a:cubicBezTo>
                    <a:cubicBezTo>
                      <a:pt x="231" y="315"/>
                      <a:pt x="230" y="315"/>
                      <a:pt x="229" y="314"/>
                    </a:cubicBezTo>
                    <a:cubicBezTo>
                      <a:pt x="228" y="314"/>
                      <a:pt x="228" y="315"/>
                      <a:pt x="226" y="316"/>
                    </a:cubicBezTo>
                    <a:cubicBezTo>
                      <a:pt x="224" y="316"/>
                      <a:pt x="226" y="316"/>
                      <a:pt x="226" y="317"/>
                    </a:cubicBezTo>
                    <a:cubicBezTo>
                      <a:pt x="226" y="319"/>
                      <a:pt x="225" y="318"/>
                      <a:pt x="223" y="318"/>
                    </a:cubicBezTo>
                    <a:cubicBezTo>
                      <a:pt x="221" y="318"/>
                      <a:pt x="221" y="318"/>
                      <a:pt x="223" y="320"/>
                    </a:cubicBezTo>
                    <a:cubicBezTo>
                      <a:pt x="224" y="321"/>
                      <a:pt x="223" y="320"/>
                      <a:pt x="221" y="321"/>
                    </a:cubicBezTo>
                    <a:cubicBezTo>
                      <a:pt x="219" y="321"/>
                      <a:pt x="221" y="322"/>
                      <a:pt x="221" y="322"/>
                    </a:cubicBezTo>
                    <a:cubicBezTo>
                      <a:pt x="222" y="322"/>
                      <a:pt x="223" y="322"/>
                      <a:pt x="224" y="324"/>
                    </a:cubicBezTo>
                    <a:cubicBezTo>
                      <a:pt x="226" y="325"/>
                      <a:pt x="227" y="322"/>
                      <a:pt x="228" y="321"/>
                    </a:cubicBezTo>
                    <a:cubicBezTo>
                      <a:pt x="229" y="320"/>
                      <a:pt x="230" y="320"/>
                      <a:pt x="232" y="321"/>
                    </a:cubicBezTo>
                    <a:cubicBezTo>
                      <a:pt x="233" y="322"/>
                      <a:pt x="233" y="321"/>
                      <a:pt x="234" y="320"/>
                    </a:cubicBezTo>
                    <a:cubicBezTo>
                      <a:pt x="234" y="319"/>
                      <a:pt x="234" y="319"/>
                      <a:pt x="235" y="320"/>
                    </a:cubicBezTo>
                    <a:cubicBezTo>
                      <a:pt x="236" y="321"/>
                      <a:pt x="236" y="321"/>
                      <a:pt x="238" y="319"/>
                    </a:cubicBezTo>
                    <a:cubicBezTo>
                      <a:pt x="239" y="317"/>
                      <a:pt x="238" y="317"/>
                      <a:pt x="237" y="318"/>
                    </a:cubicBezTo>
                    <a:cubicBezTo>
                      <a:pt x="235" y="319"/>
                      <a:pt x="236" y="317"/>
                      <a:pt x="236" y="317"/>
                    </a:cubicBezTo>
                    <a:close/>
                    <a:moveTo>
                      <a:pt x="232" y="333"/>
                    </a:moveTo>
                    <a:cubicBezTo>
                      <a:pt x="231" y="333"/>
                      <a:pt x="232" y="332"/>
                      <a:pt x="231" y="332"/>
                    </a:cubicBezTo>
                    <a:cubicBezTo>
                      <a:pt x="230" y="332"/>
                      <a:pt x="232" y="330"/>
                      <a:pt x="233" y="329"/>
                    </a:cubicBezTo>
                    <a:cubicBezTo>
                      <a:pt x="234" y="328"/>
                      <a:pt x="231" y="328"/>
                      <a:pt x="231" y="327"/>
                    </a:cubicBezTo>
                    <a:cubicBezTo>
                      <a:pt x="231" y="327"/>
                      <a:pt x="229" y="326"/>
                      <a:pt x="229" y="326"/>
                    </a:cubicBezTo>
                    <a:cubicBezTo>
                      <a:pt x="228" y="326"/>
                      <a:pt x="229" y="328"/>
                      <a:pt x="228" y="327"/>
                    </a:cubicBezTo>
                    <a:cubicBezTo>
                      <a:pt x="228" y="327"/>
                      <a:pt x="227" y="327"/>
                      <a:pt x="227" y="328"/>
                    </a:cubicBezTo>
                    <a:cubicBezTo>
                      <a:pt x="226" y="328"/>
                      <a:pt x="226" y="328"/>
                      <a:pt x="226" y="327"/>
                    </a:cubicBezTo>
                    <a:cubicBezTo>
                      <a:pt x="225" y="326"/>
                      <a:pt x="224" y="326"/>
                      <a:pt x="223" y="326"/>
                    </a:cubicBezTo>
                    <a:cubicBezTo>
                      <a:pt x="222" y="326"/>
                      <a:pt x="223" y="327"/>
                      <a:pt x="221" y="325"/>
                    </a:cubicBezTo>
                    <a:cubicBezTo>
                      <a:pt x="219" y="324"/>
                      <a:pt x="219" y="324"/>
                      <a:pt x="220" y="326"/>
                    </a:cubicBezTo>
                    <a:cubicBezTo>
                      <a:pt x="221" y="327"/>
                      <a:pt x="221" y="328"/>
                      <a:pt x="221" y="327"/>
                    </a:cubicBezTo>
                    <a:cubicBezTo>
                      <a:pt x="220" y="327"/>
                      <a:pt x="220" y="327"/>
                      <a:pt x="220" y="329"/>
                    </a:cubicBezTo>
                    <a:cubicBezTo>
                      <a:pt x="220" y="330"/>
                      <a:pt x="218" y="329"/>
                      <a:pt x="216" y="328"/>
                    </a:cubicBezTo>
                    <a:cubicBezTo>
                      <a:pt x="214" y="328"/>
                      <a:pt x="216" y="328"/>
                      <a:pt x="218" y="330"/>
                    </a:cubicBezTo>
                    <a:cubicBezTo>
                      <a:pt x="219" y="331"/>
                      <a:pt x="218" y="331"/>
                      <a:pt x="217" y="330"/>
                    </a:cubicBezTo>
                    <a:cubicBezTo>
                      <a:pt x="216" y="329"/>
                      <a:pt x="216" y="329"/>
                      <a:pt x="216" y="330"/>
                    </a:cubicBezTo>
                    <a:cubicBezTo>
                      <a:pt x="216" y="331"/>
                      <a:pt x="216" y="330"/>
                      <a:pt x="214" y="328"/>
                    </a:cubicBezTo>
                    <a:cubicBezTo>
                      <a:pt x="213" y="326"/>
                      <a:pt x="211" y="327"/>
                      <a:pt x="209" y="328"/>
                    </a:cubicBezTo>
                    <a:cubicBezTo>
                      <a:pt x="208" y="329"/>
                      <a:pt x="209" y="330"/>
                      <a:pt x="212" y="331"/>
                    </a:cubicBezTo>
                    <a:cubicBezTo>
                      <a:pt x="216" y="333"/>
                      <a:pt x="213" y="332"/>
                      <a:pt x="211" y="332"/>
                    </a:cubicBezTo>
                    <a:cubicBezTo>
                      <a:pt x="210" y="332"/>
                      <a:pt x="209" y="332"/>
                      <a:pt x="211" y="333"/>
                    </a:cubicBezTo>
                    <a:cubicBezTo>
                      <a:pt x="213" y="334"/>
                      <a:pt x="212" y="334"/>
                      <a:pt x="211" y="334"/>
                    </a:cubicBezTo>
                    <a:cubicBezTo>
                      <a:pt x="210" y="333"/>
                      <a:pt x="210" y="334"/>
                      <a:pt x="211" y="334"/>
                    </a:cubicBezTo>
                    <a:cubicBezTo>
                      <a:pt x="211" y="335"/>
                      <a:pt x="208" y="335"/>
                      <a:pt x="207" y="334"/>
                    </a:cubicBezTo>
                    <a:cubicBezTo>
                      <a:pt x="207" y="334"/>
                      <a:pt x="207" y="332"/>
                      <a:pt x="206" y="332"/>
                    </a:cubicBezTo>
                    <a:cubicBezTo>
                      <a:pt x="205" y="332"/>
                      <a:pt x="203" y="333"/>
                      <a:pt x="201" y="333"/>
                    </a:cubicBezTo>
                    <a:cubicBezTo>
                      <a:pt x="199" y="334"/>
                      <a:pt x="199" y="335"/>
                      <a:pt x="197" y="337"/>
                    </a:cubicBezTo>
                    <a:cubicBezTo>
                      <a:pt x="195" y="339"/>
                      <a:pt x="197" y="340"/>
                      <a:pt x="197" y="340"/>
                    </a:cubicBezTo>
                    <a:cubicBezTo>
                      <a:pt x="198" y="340"/>
                      <a:pt x="200" y="341"/>
                      <a:pt x="200" y="344"/>
                    </a:cubicBezTo>
                    <a:cubicBezTo>
                      <a:pt x="200" y="346"/>
                      <a:pt x="201" y="346"/>
                      <a:pt x="203" y="347"/>
                    </a:cubicBezTo>
                    <a:cubicBezTo>
                      <a:pt x="204" y="348"/>
                      <a:pt x="204" y="348"/>
                      <a:pt x="205" y="347"/>
                    </a:cubicBezTo>
                    <a:cubicBezTo>
                      <a:pt x="206" y="345"/>
                      <a:pt x="204" y="345"/>
                      <a:pt x="203" y="344"/>
                    </a:cubicBezTo>
                    <a:cubicBezTo>
                      <a:pt x="201" y="343"/>
                      <a:pt x="203" y="343"/>
                      <a:pt x="203" y="343"/>
                    </a:cubicBezTo>
                    <a:cubicBezTo>
                      <a:pt x="204" y="343"/>
                      <a:pt x="206" y="343"/>
                      <a:pt x="207" y="343"/>
                    </a:cubicBezTo>
                    <a:cubicBezTo>
                      <a:pt x="208" y="343"/>
                      <a:pt x="208" y="343"/>
                      <a:pt x="207" y="344"/>
                    </a:cubicBezTo>
                    <a:cubicBezTo>
                      <a:pt x="206" y="345"/>
                      <a:pt x="206" y="347"/>
                      <a:pt x="209" y="345"/>
                    </a:cubicBezTo>
                    <a:cubicBezTo>
                      <a:pt x="212" y="342"/>
                      <a:pt x="210" y="345"/>
                      <a:pt x="210" y="345"/>
                    </a:cubicBezTo>
                    <a:cubicBezTo>
                      <a:pt x="210" y="345"/>
                      <a:pt x="208" y="348"/>
                      <a:pt x="207" y="350"/>
                    </a:cubicBezTo>
                    <a:cubicBezTo>
                      <a:pt x="206" y="352"/>
                      <a:pt x="207" y="351"/>
                      <a:pt x="208" y="351"/>
                    </a:cubicBezTo>
                    <a:cubicBezTo>
                      <a:pt x="209" y="351"/>
                      <a:pt x="210" y="350"/>
                      <a:pt x="210" y="349"/>
                    </a:cubicBezTo>
                    <a:cubicBezTo>
                      <a:pt x="211" y="348"/>
                      <a:pt x="212" y="348"/>
                      <a:pt x="213" y="347"/>
                    </a:cubicBezTo>
                    <a:cubicBezTo>
                      <a:pt x="214" y="347"/>
                      <a:pt x="214" y="346"/>
                      <a:pt x="213" y="345"/>
                    </a:cubicBezTo>
                    <a:cubicBezTo>
                      <a:pt x="211" y="344"/>
                      <a:pt x="213" y="344"/>
                      <a:pt x="214" y="344"/>
                    </a:cubicBezTo>
                    <a:cubicBezTo>
                      <a:pt x="215" y="344"/>
                      <a:pt x="215" y="344"/>
                      <a:pt x="215" y="343"/>
                    </a:cubicBezTo>
                    <a:cubicBezTo>
                      <a:pt x="215" y="342"/>
                      <a:pt x="216" y="342"/>
                      <a:pt x="216" y="342"/>
                    </a:cubicBezTo>
                    <a:cubicBezTo>
                      <a:pt x="216" y="342"/>
                      <a:pt x="217" y="342"/>
                      <a:pt x="218" y="342"/>
                    </a:cubicBezTo>
                    <a:cubicBezTo>
                      <a:pt x="219" y="342"/>
                      <a:pt x="220" y="341"/>
                      <a:pt x="221" y="341"/>
                    </a:cubicBezTo>
                    <a:cubicBezTo>
                      <a:pt x="222" y="341"/>
                      <a:pt x="224" y="341"/>
                      <a:pt x="222" y="340"/>
                    </a:cubicBezTo>
                    <a:cubicBezTo>
                      <a:pt x="221" y="339"/>
                      <a:pt x="224" y="339"/>
                      <a:pt x="226" y="339"/>
                    </a:cubicBezTo>
                    <a:cubicBezTo>
                      <a:pt x="229" y="339"/>
                      <a:pt x="230" y="337"/>
                      <a:pt x="226" y="336"/>
                    </a:cubicBezTo>
                    <a:cubicBezTo>
                      <a:pt x="222" y="334"/>
                      <a:pt x="227" y="335"/>
                      <a:pt x="230" y="336"/>
                    </a:cubicBezTo>
                    <a:cubicBezTo>
                      <a:pt x="233" y="336"/>
                      <a:pt x="233" y="335"/>
                      <a:pt x="235" y="333"/>
                    </a:cubicBezTo>
                    <a:cubicBezTo>
                      <a:pt x="237" y="332"/>
                      <a:pt x="232" y="333"/>
                      <a:pt x="232" y="333"/>
                    </a:cubicBezTo>
                    <a:close/>
                    <a:moveTo>
                      <a:pt x="217" y="326"/>
                    </a:moveTo>
                    <a:cubicBezTo>
                      <a:pt x="216" y="325"/>
                      <a:pt x="216" y="327"/>
                      <a:pt x="219" y="328"/>
                    </a:cubicBezTo>
                    <a:cubicBezTo>
                      <a:pt x="219" y="328"/>
                      <a:pt x="217" y="326"/>
                      <a:pt x="217" y="326"/>
                    </a:cubicBezTo>
                    <a:close/>
                    <a:moveTo>
                      <a:pt x="223" y="342"/>
                    </a:moveTo>
                    <a:cubicBezTo>
                      <a:pt x="220" y="343"/>
                      <a:pt x="219" y="343"/>
                      <a:pt x="219" y="342"/>
                    </a:cubicBezTo>
                    <a:cubicBezTo>
                      <a:pt x="220" y="342"/>
                      <a:pt x="218" y="341"/>
                      <a:pt x="218" y="343"/>
                    </a:cubicBezTo>
                    <a:cubicBezTo>
                      <a:pt x="218" y="343"/>
                      <a:pt x="216" y="345"/>
                      <a:pt x="219" y="344"/>
                    </a:cubicBezTo>
                    <a:cubicBezTo>
                      <a:pt x="222" y="344"/>
                      <a:pt x="227" y="342"/>
                      <a:pt x="223" y="342"/>
                    </a:cubicBezTo>
                    <a:close/>
                    <a:moveTo>
                      <a:pt x="126" y="386"/>
                    </a:moveTo>
                    <a:cubicBezTo>
                      <a:pt x="126" y="385"/>
                      <a:pt x="126" y="385"/>
                      <a:pt x="126" y="384"/>
                    </a:cubicBezTo>
                    <a:cubicBezTo>
                      <a:pt x="126" y="383"/>
                      <a:pt x="125" y="382"/>
                      <a:pt x="125" y="384"/>
                    </a:cubicBezTo>
                    <a:cubicBezTo>
                      <a:pt x="125" y="385"/>
                      <a:pt x="124" y="385"/>
                      <a:pt x="124" y="386"/>
                    </a:cubicBezTo>
                    <a:cubicBezTo>
                      <a:pt x="124" y="386"/>
                      <a:pt x="125" y="387"/>
                      <a:pt x="126" y="386"/>
                    </a:cubicBezTo>
                    <a:close/>
                    <a:moveTo>
                      <a:pt x="120" y="382"/>
                    </a:moveTo>
                    <a:cubicBezTo>
                      <a:pt x="118" y="384"/>
                      <a:pt x="117" y="384"/>
                      <a:pt x="117" y="386"/>
                    </a:cubicBezTo>
                    <a:cubicBezTo>
                      <a:pt x="117" y="387"/>
                      <a:pt x="117" y="387"/>
                      <a:pt x="117" y="388"/>
                    </a:cubicBezTo>
                    <a:cubicBezTo>
                      <a:pt x="117" y="389"/>
                      <a:pt x="117" y="388"/>
                      <a:pt x="118" y="387"/>
                    </a:cubicBezTo>
                    <a:cubicBezTo>
                      <a:pt x="119" y="386"/>
                      <a:pt x="119" y="385"/>
                      <a:pt x="120" y="385"/>
                    </a:cubicBezTo>
                    <a:cubicBezTo>
                      <a:pt x="121" y="385"/>
                      <a:pt x="122" y="384"/>
                      <a:pt x="121" y="383"/>
                    </a:cubicBezTo>
                    <a:cubicBezTo>
                      <a:pt x="121" y="383"/>
                      <a:pt x="121" y="381"/>
                      <a:pt x="120" y="382"/>
                    </a:cubicBezTo>
                    <a:close/>
                    <a:moveTo>
                      <a:pt x="109" y="380"/>
                    </a:moveTo>
                    <a:cubicBezTo>
                      <a:pt x="109" y="380"/>
                      <a:pt x="108" y="379"/>
                      <a:pt x="107" y="380"/>
                    </a:cubicBezTo>
                    <a:cubicBezTo>
                      <a:pt x="106" y="381"/>
                      <a:pt x="107" y="381"/>
                      <a:pt x="107" y="382"/>
                    </a:cubicBezTo>
                    <a:cubicBezTo>
                      <a:pt x="107" y="383"/>
                      <a:pt x="106" y="385"/>
                      <a:pt x="108" y="385"/>
                    </a:cubicBezTo>
                    <a:cubicBezTo>
                      <a:pt x="110" y="384"/>
                      <a:pt x="112" y="385"/>
                      <a:pt x="111" y="383"/>
                    </a:cubicBezTo>
                    <a:cubicBezTo>
                      <a:pt x="110" y="381"/>
                      <a:pt x="109" y="380"/>
                      <a:pt x="109" y="380"/>
                    </a:cubicBezTo>
                    <a:close/>
                    <a:moveTo>
                      <a:pt x="85" y="388"/>
                    </a:moveTo>
                    <a:cubicBezTo>
                      <a:pt x="85" y="388"/>
                      <a:pt x="84" y="388"/>
                      <a:pt x="84" y="389"/>
                    </a:cubicBezTo>
                    <a:cubicBezTo>
                      <a:pt x="84" y="389"/>
                      <a:pt x="84" y="392"/>
                      <a:pt x="85" y="390"/>
                    </a:cubicBezTo>
                    <a:cubicBezTo>
                      <a:pt x="86" y="389"/>
                      <a:pt x="86" y="388"/>
                      <a:pt x="85" y="388"/>
                    </a:cubicBezTo>
                    <a:close/>
                    <a:moveTo>
                      <a:pt x="78" y="399"/>
                    </a:moveTo>
                    <a:cubicBezTo>
                      <a:pt x="78" y="399"/>
                      <a:pt x="79" y="401"/>
                      <a:pt x="80" y="401"/>
                    </a:cubicBezTo>
                    <a:cubicBezTo>
                      <a:pt x="82" y="401"/>
                      <a:pt x="79" y="399"/>
                      <a:pt x="78" y="399"/>
                    </a:cubicBezTo>
                    <a:close/>
                    <a:moveTo>
                      <a:pt x="0" y="419"/>
                    </a:moveTo>
                    <a:cubicBezTo>
                      <a:pt x="0" y="419"/>
                      <a:pt x="0" y="421"/>
                      <a:pt x="1" y="420"/>
                    </a:cubicBezTo>
                    <a:cubicBezTo>
                      <a:pt x="2" y="419"/>
                      <a:pt x="3" y="418"/>
                      <a:pt x="2" y="418"/>
                    </a:cubicBezTo>
                    <a:cubicBezTo>
                      <a:pt x="1" y="418"/>
                      <a:pt x="0" y="417"/>
                      <a:pt x="0" y="419"/>
                    </a:cubicBezTo>
                    <a:close/>
                    <a:moveTo>
                      <a:pt x="23" y="409"/>
                    </a:moveTo>
                    <a:cubicBezTo>
                      <a:pt x="22" y="410"/>
                      <a:pt x="20" y="411"/>
                      <a:pt x="21" y="410"/>
                    </a:cubicBezTo>
                    <a:cubicBezTo>
                      <a:pt x="21" y="408"/>
                      <a:pt x="20" y="408"/>
                      <a:pt x="19" y="408"/>
                    </a:cubicBezTo>
                    <a:cubicBezTo>
                      <a:pt x="18" y="408"/>
                      <a:pt x="14" y="408"/>
                      <a:pt x="14" y="411"/>
                    </a:cubicBezTo>
                    <a:cubicBezTo>
                      <a:pt x="15" y="413"/>
                      <a:pt x="16" y="413"/>
                      <a:pt x="16" y="413"/>
                    </a:cubicBezTo>
                    <a:cubicBezTo>
                      <a:pt x="16" y="413"/>
                      <a:pt x="21" y="413"/>
                      <a:pt x="16" y="414"/>
                    </a:cubicBezTo>
                    <a:cubicBezTo>
                      <a:pt x="16" y="414"/>
                      <a:pt x="14" y="414"/>
                      <a:pt x="14" y="416"/>
                    </a:cubicBezTo>
                    <a:cubicBezTo>
                      <a:pt x="14" y="417"/>
                      <a:pt x="15" y="418"/>
                      <a:pt x="13" y="418"/>
                    </a:cubicBezTo>
                    <a:cubicBezTo>
                      <a:pt x="11" y="418"/>
                      <a:pt x="4" y="421"/>
                      <a:pt x="4" y="421"/>
                    </a:cubicBezTo>
                    <a:cubicBezTo>
                      <a:pt x="4" y="421"/>
                      <a:pt x="2" y="422"/>
                      <a:pt x="4" y="423"/>
                    </a:cubicBezTo>
                    <a:cubicBezTo>
                      <a:pt x="6" y="423"/>
                      <a:pt x="7" y="424"/>
                      <a:pt x="8" y="423"/>
                    </a:cubicBezTo>
                    <a:cubicBezTo>
                      <a:pt x="8" y="422"/>
                      <a:pt x="9" y="422"/>
                      <a:pt x="10" y="421"/>
                    </a:cubicBezTo>
                    <a:cubicBezTo>
                      <a:pt x="11" y="421"/>
                      <a:pt x="15" y="419"/>
                      <a:pt x="15" y="419"/>
                    </a:cubicBezTo>
                    <a:cubicBezTo>
                      <a:pt x="16" y="419"/>
                      <a:pt x="17" y="418"/>
                      <a:pt x="17" y="419"/>
                    </a:cubicBezTo>
                    <a:cubicBezTo>
                      <a:pt x="17" y="419"/>
                      <a:pt x="18" y="420"/>
                      <a:pt x="18" y="419"/>
                    </a:cubicBezTo>
                    <a:cubicBezTo>
                      <a:pt x="18" y="418"/>
                      <a:pt x="19" y="418"/>
                      <a:pt x="19" y="418"/>
                    </a:cubicBezTo>
                    <a:cubicBezTo>
                      <a:pt x="20" y="419"/>
                      <a:pt x="20" y="418"/>
                      <a:pt x="20" y="417"/>
                    </a:cubicBezTo>
                    <a:cubicBezTo>
                      <a:pt x="21" y="416"/>
                      <a:pt x="23" y="415"/>
                      <a:pt x="24" y="415"/>
                    </a:cubicBezTo>
                    <a:cubicBezTo>
                      <a:pt x="25" y="415"/>
                      <a:pt x="27" y="414"/>
                      <a:pt x="25" y="414"/>
                    </a:cubicBezTo>
                    <a:cubicBezTo>
                      <a:pt x="23" y="414"/>
                      <a:pt x="21" y="413"/>
                      <a:pt x="23" y="412"/>
                    </a:cubicBezTo>
                    <a:cubicBezTo>
                      <a:pt x="24" y="412"/>
                      <a:pt x="24" y="411"/>
                      <a:pt x="25" y="411"/>
                    </a:cubicBezTo>
                    <a:cubicBezTo>
                      <a:pt x="26" y="411"/>
                      <a:pt x="27" y="411"/>
                      <a:pt x="26" y="410"/>
                    </a:cubicBezTo>
                    <a:cubicBezTo>
                      <a:pt x="25" y="409"/>
                      <a:pt x="24" y="407"/>
                      <a:pt x="23" y="409"/>
                    </a:cubicBezTo>
                    <a:close/>
                    <a:moveTo>
                      <a:pt x="32" y="404"/>
                    </a:moveTo>
                    <a:cubicBezTo>
                      <a:pt x="31" y="404"/>
                      <a:pt x="30" y="404"/>
                      <a:pt x="29" y="404"/>
                    </a:cubicBezTo>
                    <a:cubicBezTo>
                      <a:pt x="28" y="405"/>
                      <a:pt x="29" y="406"/>
                      <a:pt x="29" y="406"/>
                    </a:cubicBezTo>
                    <a:cubicBezTo>
                      <a:pt x="30" y="407"/>
                      <a:pt x="32" y="408"/>
                      <a:pt x="34" y="407"/>
                    </a:cubicBezTo>
                    <a:cubicBezTo>
                      <a:pt x="36" y="406"/>
                      <a:pt x="33" y="405"/>
                      <a:pt x="32" y="404"/>
                    </a:cubicBezTo>
                    <a:close/>
                    <a:moveTo>
                      <a:pt x="37" y="404"/>
                    </a:moveTo>
                    <a:cubicBezTo>
                      <a:pt x="36" y="403"/>
                      <a:pt x="37" y="403"/>
                      <a:pt x="36" y="402"/>
                    </a:cubicBezTo>
                    <a:cubicBezTo>
                      <a:pt x="35" y="402"/>
                      <a:pt x="35" y="403"/>
                      <a:pt x="35" y="403"/>
                    </a:cubicBezTo>
                    <a:cubicBezTo>
                      <a:pt x="35" y="405"/>
                      <a:pt x="37" y="406"/>
                      <a:pt x="37" y="405"/>
                    </a:cubicBezTo>
                    <a:cubicBezTo>
                      <a:pt x="38" y="404"/>
                      <a:pt x="39" y="405"/>
                      <a:pt x="37" y="404"/>
                    </a:cubicBezTo>
                    <a:close/>
                    <a:moveTo>
                      <a:pt x="71" y="393"/>
                    </a:moveTo>
                    <a:cubicBezTo>
                      <a:pt x="68" y="392"/>
                      <a:pt x="68" y="390"/>
                      <a:pt x="67" y="387"/>
                    </a:cubicBezTo>
                    <a:cubicBezTo>
                      <a:pt x="66" y="385"/>
                      <a:pt x="63" y="387"/>
                      <a:pt x="62" y="387"/>
                    </a:cubicBezTo>
                    <a:cubicBezTo>
                      <a:pt x="60" y="387"/>
                      <a:pt x="58" y="389"/>
                      <a:pt x="55" y="389"/>
                    </a:cubicBezTo>
                    <a:cubicBezTo>
                      <a:pt x="53" y="389"/>
                      <a:pt x="52" y="390"/>
                      <a:pt x="51" y="391"/>
                    </a:cubicBezTo>
                    <a:cubicBezTo>
                      <a:pt x="50" y="393"/>
                      <a:pt x="48" y="394"/>
                      <a:pt x="47" y="395"/>
                    </a:cubicBezTo>
                    <a:cubicBezTo>
                      <a:pt x="46" y="396"/>
                      <a:pt x="46" y="397"/>
                      <a:pt x="46" y="397"/>
                    </a:cubicBezTo>
                    <a:cubicBezTo>
                      <a:pt x="46" y="397"/>
                      <a:pt x="47" y="399"/>
                      <a:pt x="48" y="400"/>
                    </a:cubicBezTo>
                    <a:cubicBezTo>
                      <a:pt x="50" y="401"/>
                      <a:pt x="53" y="399"/>
                      <a:pt x="54" y="399"/>
                    </a:cubicBezTo>
                    <a:cubicBezTo>
                      <a:pt x="55" y="399"/>
                      <a:pt x="54" y="398"/>
                      <a:pt x="55" y="397"/>
                    </a:cubicBezTo>
                    <a:cubicBezTo>
                      <a:pt x="55" y="397"/>
                      <a:pt x="60" y="396"/>
                      <a:pt x="63" y="396"/>
                    </a:cubicBezTo>
                    <a:cubicBezTo>
                      <a:pt x="66" y="395"/>
                      <a:pt x="68" y="394"/>
                      <a:pt x="69" y="393"/>
                    </a:cubicBezTo>
                    <a:cubicBezTo>
                      <a:pt x="70" y="393"/>
                      <a:pt x="72" y="395"/>
                      <a:pt x="73" y="395"/>
                    </a:cubicBezTo>
                    <a:cubicBezTo>
                      <a:pt x="74" y="395"/>
                      <a:pt x="73" y="394"/>
                      <a:pt x="71" y="393"/>
                    </a:cubicBezTo>
                    <a:close/>
                    <a:moveTo>
                      <a:pt x="108" y="308"/>
                    </a:moveTo>
                    <a:cubicBezTo>
                      <a:pt x="110" y="305"/>
                      <a:pt x="105" y="309"/>
                      <a:pt x="104" y="309"/>
                    </a:cubicBezTo>
                    <a:cubicBezTo>
                      <a:pt x="102" y="310"/>
                      <a:pt x="103" y="311"/>
                      <a:pt x="103" y="311"/>
                    </a:cubicBezTo>
                    <a:cubicBezTo>
                      <a:pt x="104" y="313"/>
                      <a:pt x="105" y="311"/>
                      <a:pt x="108" y="308"/>
                    </a:cubicBezTo>
                    <a:close/>
                    <a:moveTo>
                      <a:pt x="35" y="280"/>
                    </a:moveTo>
                    <a:cubicBezTo>
                      <a:pt x="33" y="279"/>
                      <a:pt x="35" y="278"/>
                      <a:pt x="34" y="278"/>
                    </a:cubicBezTo>
                    <a:cubicBezTo>
                      <a:pt x="34" y="277"/>
                      <a:pt x="33" y="277"/>
                      <a:pt x="34" y="276"/>
                    </a:cubicBezTo>
                    <a:cubicBezTo>
                      <a:pt x="34" y="275"/>
                      <a:pt x="33" y="273"/>
                      <a:pt x="32" y="273"/>
                    </a:cubicBezTo>
                    <a:cubicBezTo>
                      <a:pt x="31" y="273"/>
                      <a:pt x="29" y="274"/>
                      <a:pt x="29" y="272"/>
                    </a:cubicBezTo>
                    <a:cubicBezTo>
                      <a:pt x="28" y="271"/>
                      <a:pt x="28" y="271"/>
                      <a:pt x="27" y="272"/>
                    </a:cubicBezTo>
                    <a:cubicBezTo>
                      <a:pt x="25" y="273"/>
                      <a:pt x="24" y="273"/>
                      <a:pt x="23" y="272"/>
                    </a:cubicBezTo>
                    <a:cubicBezTo>
                      <a:pt x="23" y="271"/>
                      <a:pt x="21" y="274"/>
                      <a:pt x="20" y="274"/>
                    </a:cubicBezTo>
                    <a:cubicBezTo>
                      <a:pt x="18" y="274"/>
                      <a:pt x="18" y="274"/>
                      <a:pt x="17" y="275"/>
                    </a:cubicBezTo>
                    <a:cubicBezTo>
                      <a:pt x="17" y="276"/>
                      <a:pt x="16" y="276"/>
                      <a:pt x="15" y="276"/>
                    </a:cubicBezTo>
                    <a:cubicBezTo>
                      <a:pt x="13" y="276"/>
                      <a:pt x="13" y="275"/>
                      <a:pt x="10" y="276"/>
                    </a:cubicBezTo>
                    <a:cubicBezTo>
                      <a:pt x="7" y="276"/>
                      <a:pt x="11" y="277"/>
                      <a:pt x="11" y="277"/>
                    </a:cubicBezTo>
                    <a:cubicBezTo>
                      <a:pt x="11" y="277"/>
                      <a:pt x="23" y="284"/>
                      <a:pt x="25" y="285"/>
                    </a:cubicBezTo>
                    <a:cubicBezTo>
                      <a:pt x="27" y="287"/>
                      <a:pt x="27" y="286"/>
                      <a:pt x="27" y="285"/>
                    </a:cubicBezTo>
                    <a:cubicBezTo>
                      <a:pt x="26" y="284"/>
                      <a:pt x="27" y="284"/>
                      <a:pt x="27" y="284"/>
                    </a:cubicBezTo>
                    <a:cubicBezTo>
                      <a:pt x="28" y="284"/>
                      <a:pt x="30" y="284"/>
                      <a:pt x="31" y="283"/>
                    </a:cubicBezTo>
                    <a:cubicBezTo>
                      <a:pt x="31" y="283"/>
                      <a:pt x="33" y="283"/>
                      <a:pt x="35" y="283"/>
                    </a:cubicBezTo>
                    <a:cubicBezTo>
                      <a:pt x="37" y="284"/>
                      <a:pt x="37" y="281"/>
                      <a:pt x="35" y="280"/>
                    </a:cubicBezTo>
                    <a:close/>
                    <a:moveTo>
                      <a:pt x="2" y="147"/>
                    </a:moveTo>
                    <a:cubicBezTo>
                      <a:pt x="1" y="147"/>
                      <a:pt x="0" y="148"/>
                      <a:pt x="1" y="148"/>
                    </a:cubicBezTo>
                    <a:cubicBezTo>
                      <a:pt x="1" y="148"/>
                      <a:pt x="3" y="147"/>
                      <a:pt x="2" y="147"/>
                    </a:cubicBez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68" name="Freeform 176">
                <a:extLst>
                  <a:ext uri="{FF2B5EF4-FFF2-40B4-BE49-F238E27FC236}">
                    <a16:creationId xmlns:a16="http://schemas.microsoft.com/office/drawing/2014/main" id="{A4CFFF82-AE90-451E-9D53-2A3CEF2324C5}"/>
                  </a:ext>
                </a:extLst>
              </p:cNvPr>
              <p:cNvSpPr>
                <a:spLocks noEditPoints="1"/>
              </p:cNvSpPr>
              <p:nvPr/>
            </p:nvSpPr>
            <p:spPr bwMode="auto">
              <a:xfrm>
                <a:off x="218" y="1584"/>
                <a:ext cx="1910" cy="708"/>
              </a:xfrm>
              <a:custGeom>
                <a:avLst/>
                <a:gdLst>
                  <a:gd name="T0" fmla="*/ 1250 w 1380"/>
                  <a:gd name="T1" fmla="*/ 254 h 516"/>
                  <a:gd name="T2" fmla="*/ 927 w 1380"/>
                  <a:gd name="T3" fmla="*/ 384 h 516"/>
                  <a:gd name="T4" fmla="*/ 944 w 1380"/>
                  <a:gd name="T5" fmla="*/ 362 h 516"/>
                  <a:gd name="T6" fmla="*/ 965 w 1380"/>
                  <a:gd name="T7" fmla="*/ 345 h 516"/>
                  <a:gd name="T8" fmla="*/ 989 w 1380"/>
                  <a:gd name="T9" fmla="*/ 341 h 516"/>
                  <a:gd name="T10" fmla="*/ 1035 w 1380"/>
                  <a:gd name="T11" fmla="*/ 355 h 516"/>
                  <a:gd name="T12" fmla="*/ 1043 w 1380"/>
                  <a:gd name="T13" fmla="*/ 349 h 516"/>
                  <a:gd name="T14" fmla="*/ 1063 w 1380"/>
                  <a:gd name="T15" fmla="*/ 335 h 516"/>
                  <a:gd name="T16" fmla="*/ 1095 w 1380"/>
                  <a:gd name="T17" fmla="*/ 334 h 516"/>
                  <a:gd name="T18" fmla="*/ 1130 w 1380"/>
                  <a:gd name="T19" fmla="*/ 341 h 516"/>
                  <a:gd name="T20" fmla="*/ 1149 w 1380"/>
                  <a:gd name="T21" fmla="*/ 386 h 516"/>
                  <a:gd name="T22" fmla="*/ 1171 w 1380"/>
                  <a:gd name="T23" fmla="*/ 419 h 516"/>
                  <a:gd name="T24" fmla="*/ 1175 w 1380"/>
                  <a:gd name="T25" fmla="*/ 361 h 516"/>
                  <a:gd name="T26" fmla="*/ 1178 w 1380"/>
                  <a:gd name="T27" fmla="*/ 302 h 516"/>
                  <a:gd name="T28" fmla="*/ 1216 w 1380"/>
                  <a:gd name="T29" fmla="*/ 276 h 516"/>
                  <a:gd name="T30" fmla="*/ 1237 w 1380"/>
                  <a:gd name="T31" fmla="*/ 253 h 516"/>
                  <a:gd name="T32" fmla="*/ 1235 w 1380"/>
                  <a:gd name="T33" fmla="*/ 242 h 516"/>
                  <a:gd name="T34" fmla="*/ 1244 w 1380"/>
                  <a:gd name="T35" fmla="*/ 226 h 516"/>
                  <a:gd name="T36" fmla="*/ 1229 w 1380"/>
                  <a:gd name="T37" fmla="*/ 202 h 516"/>
                  <a:gd name="T38" fmla="*/ 1238 w 1380"/>
                  <a:gd name="T39" fmla="*/ 191 h 516"/>
                  <a:gd name="T40" fmla="*/ 1240 w 1380"/>
                  <a:gd name="T41" fmla="*/ 191 h 516"/>
                  <a:gd name="T42" fmla="*/ 1248 w 1380"/>
                  <a:gd name="T43" fmla="*/ 206 h 516"/>
                  <a:gd name="T44" fmla="*/ 1258 w 1380"/>
                  <a:gd name="T45" fmla="*/ 193 h 516"/>
                  <a:gd name="T46" fmla="*/ 1272 w 1380"/>
                  <a:gd name="T47" fmla="*/ 178 h 516"/>
                  <a:gd name="T48" fmla="*/ 1300 w 1380"/>
                  <a:gd name="T49" fmla="*/ 153 h 516"/>
                  <a:gd name="T50" fmla="*/ 1302 w 1380"/>
                  <a:gd name="T51" fmla="*/ 149 h 516"/>
                  <a:gd name="T52" fmla="*/ 1320 w 1380"/>
                  <a:gd name="T53" fmla="*/ 130 h 516"/>
                  <a:gd name="T54" fmla="*/ 1351 w 1380"/>
                  <a:gd name="T55" fmla="*/ 93 h 516"/>
                  <a:gd name="T56" fmla="*/ 1378 w 1380"/>
                  <a:gd name="T57" fmla="*/ 85 h 516"/>
                  <a:gd name="T58" fmla="*/ 1353 w 1380"/>
                  <a:gd name="T59" fmla="*/ 42 h 516"/>
                  <a:gd name="T60" fmla="*/ 1247 w 1380"/>
                  <a:gd name="T61" fmla="*/ 92 h 516"/>
                  <a:gd name="T62" fmla="*/ 1200 w 1380"/>
                  <a:gd name="T63" fmla="*/ 118 h 516"/>
                  <a:gd name="T64" fmla="*/ 1146 w 1380"/>
                  <a:gd name="T65" fmla="*/ 127 h 516"/>
                  <a:gd name="T66" fmla="*/ 1124 w 1380"/>
                  <a:gd name="T67" fmla="*/ 72 h 516"/>
                  <a:gd name="T68" fmla="*/ 1095 w 1380"/>
                  <a:gd name="T69" fmla="*/ 85 h 516"/>
                  <a:gd name="T70" fmla="*/ 1071 w 1380"/>
                  <a:gd name="T71" fmla="*/ 103 h 516"/>
                  <a:gd name="T72" fmla="*/ 1067 w 1380"/>
                  <a:gd name="T73" fmla="*/ 91 h 516"/>
                  <a:gd name="T74" fmla="*/ 1097 w 1380"/>
                  <a:gd name="T75" fmla="*/ 65 h 516"/>
                  <a:gd name="T76" fmla="*/ 1119 w 1380"/>
                  <a:gd name="T77" fmla="*/ 56 h 516"/>
                  <a:gd name="T78" fmla="*/ 1069 w 1380"/>
                  <a:gd name="T79" fmla="*/ 38 h 516"/>
                  <a:gd name="T80" fmla="*/ 1045 w 1380"/>
                  <a:gd name="T81" fmla="*/ 27 h 516"/>
                  <a:gd name="T82" fmla="*/ 974 w 1380"/>
                  <a:gd name="T83" fmla="*/ 14 h 516"/>
                  <a:gd name="T84" fmla="*/ 555 w 1380"/>
                  <a:gd name="T85" fmla="*/ 14 h 516"/>
                  <a:gd name="T86" fmla="*/ 557 w 1380"/>
                  <a:gd name="T87" fmla="*/ 37 h 516"/>
                  <a:gd name="T88" fmla="*/ 555 w 1380"/>
                  <a:gd name="T89" fmla="*/ 30 h 516"/>
                  <a:gd name="T90" fmla="*/ 549 w 1380"/>
                  <a:gd name="T91" fmla="*/ 26 h 516"/>
                  <a:gd name="T92" fmla="*/ 533 w 1380"/>
                  <a:gd name="T93" fmla="*/ 50 h 516"/>
                  <a:gd name="T94" fmla="*/ 533 w 1380"/>
                  <a:gd name="T95" fmla="*/ 73 h 516"/>
                  <a:gd name="T96" fmla="*/ 530 w 1380"/>
                  <a:gd name="T97" fmla="*/ 158 h 516"/>
                  <a:gd name="T98" fmla="*/ 555 w 1380"/>
                  <a:gd name="T99" fmla="*/ 208 h 516"/>
                  <a:gd name="T100" fmla="*/ 556 w 1380"/>
                  <a:gd name="T101" fmla="*/ 211 h 516"/>
                  <a:gd name="T102" fmla="*/ 583 w 1380"/>
                  <a:gd name="T103" fmla="*/ 261 h 516"/>
                  <a:gd name="T104" fmla="*/ 719 w 1380"/>
                  <a:gd name="T105" fmla="*/ 317 h 516"/>
                  <a:gd name="T106" fmla="*/ 830 w 1380"/>
                  <a:gd name="T107" fmla="*/ 352 h 516"/>
                  <a:gd name="T108" fmla="*/ 896 w 1380"/>
                  <a:gd name="T109" fmla="*/ 383 h 516"/>
                  <a:gd name="T110" fmla="*/ 615 w 1380"/>
                  <a:gd name="T111" fmla="*/ 285 h 516"/>
                  <a:gd name="T112" fmla="*/ 551 w 1380"/>
                  <a:gd name="T113" fmla="*/ 15 h 516"/>
                  <a:gd name="T114" fmla="*/ 59 w 1380"/>
                  <a:gd name="T115" fmla="*/ 509 h 516"/>
                  <a:gd name="T116" fmla="*/ 51 w 1380"/>
                  <a:gd name="T117" fmla="*/ 488 h 516"/>
                  <a:gd name="T118" fmla="*/ 29 w 1380"/>
                  <a:gd name="T119" fmla="*/ 473 h 516"/>
                  <a:gd name="T120" fmla="*/ 8 w 1380"/>
                  <a:gd name="T121" fmla="*/ 467 h 516"/>
                  <a:gd name="T122" fmla="*/ 1050 w 1380"/>
                  <a:gd name="T123" fmla="*/ 29 h 516"/>
                  <a:gd name="T124" fmla="*/ 1326 w 1380"/>
                  <a:gd name="T125" fmla="*/ 147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80" h="516">
                    <a:moveTo>
                      <a:pt x="1361" y="95"/>
                    </a:moveTo>
                    <a:cubicBezTo>
                      <a:pt x="1361" y="94"/>
                      <a:pt x="1361" y="93"/>
                      <a:pt x="1360" y="93"/>
                    </a:cubicBezTo>
                    <a:cubicBezTo>
                      <a:pt x="1359" y="94"/>
                      <a:pt x="1357" y="94"/>
                      <a:pt x="1358" y="96"/>
                    </a:cubicBezTo>
                    <a:cubicBezTo>
                      <a:pt x="1358" y="96"/>
                      <a:pt x="1361" y="96"/>
                      <a:pt x="1361" y="95"/>
                    </a:cubicBezTo>
                    <a:close/>
                    <a:moveTo>
                      <a:pt x="1334" y="150"/>
                    </a:moveTo>
                    <a:cubicBezTo>
                      <a:pt x="1334" y="149"/>
                      <a:pt x="1332" y="149"/>
                      <a:pt x="1331" y="150"/>
                    </a:cubicBezTo>
                    <a:cubicBezTo>
                      <a:pt x="1331" y="150"/>
                      <a:pt x="1334" y="151"/>
                      <a:pt x="1334" y="150"/>
                    </a:cubicBezTo>
                    <a:close/>
                    <a:moveTo>
                      <a:pt x="1255" y="209"/>
                    </a:moveTo>
                    <a:cubicBezTo>
                      <a:pt x="1257" y="207"/>
                      <a:pt x="1259" y="202"/>
                      <a:pt x="1258" y="203"/>
                    </a:cubicBezTo>
                    <a:cubicBezTo>
                      <a:pt x="1258" y="203"/>
                      <a:pt x="1255" y="209"/>
                      <a:pt x="1255" y="209"/>
                    </a:cubicBezTo>
                    <a:close/>
                    <a:moveTo>
                      <a:pt x="1252" y="254"/>
                    </a:moveTo>
                    <a:cubicBezTo>
                      <a:pt x="1253" y="253"/>
                      <a:pt x="1254" y="249"/>
                      <a:pt x="1253" y="246"/>
                    </a:cubicBezTo>
                    <a:cubicBezTo>
                      <a:pt x="1253" y="246"/>
                      <a:pt x="1252" y="250"/>
                      <a:pt x="1252" y="252"/>
                    </a:cubicBezTo>
                    <a:cubicBezTo>
                      <a:pt x="1252" y="253"/>
                      <a:pt x="1250" y="254"/>
                      <a:pt x="1250" y="254"/>
                    </a:cubicBezTo>
                    <a:cubicBezTo>
                      <a:pt x="1250" y="255"/>
                      <a:pt x="1251" y="256"/>
                      <a:pt x="1252" y="254"/>
                    </a:cubicBezTo>
                    <a:close/>
                    <a:moveTo>
                      <a:pt x="1238" y="265"/>
                    </a:moveTo>
                    <a:cubicBezTo>
                      <a:pt x="1238" y="265"/>
                      <a:pt x="1241" y="262"/>
                      <a:pt x="1242" y="260"/>
                    </a:cubicBezTo>
                    <a:cubicBezTo>
                      <a:pt x="1242" y="260"/>
                      <a:pt x="1238" y="264"/>
                      <a:pt x="1238" y="265"/>
                    </a:cubicBezTo>
                    <a:close/>
                    <a:moveTo>
                      <a:pt x="931" y="406"/>
                    </a:moveTo>
                    <a:cubicBezTo>
                      <a:pt x="931" y="405"/>
                      <a:pt x="931" y="404"/>
                      <a:pt x="931" y="404"/>
                    </a:cubicBezTo>
                    <a:cubicBezTo>
                      <a:pt x="930" y="405"/>
                      <a:pt x="929" y="405"/>
                      <a:pt x="929" y="403"/>
                    </a:cubicBezTo>
                    <a:cubicBezTo>
                      <a:pt x="929" y="401"/>
                      <a:pt x="928" y="399"/>
                      <a:pt x="927" y="397"/>
                    </a:cubicBezTo>
                    <a:cubicBezTo>
                      <a:pt x="926" y="396"/>
                      <a:pt x="924" y="390"/>
                      <a:pt x="925" y="389"/>
                    </a:cubicBezTo>
                    <a:cubicBezTo>
                      <a:pt x="926" y="388"/>
                      <a:pt x="927" y="386"/>
                      <a:pt x="927" y="386"/>
                    </a:cubicBezTo>
                    <a:cubicBezTo>
                      <a:pt x="927" y="385"/>
                      <a:pt x="926" y="385"/>
                      <a:pt x="925" y="385"/>
                    </a:cubicBezTo>
                    <a:cubicBezTo>
                      <a:pt x="925" y="385"/>
                      <a:pt x="922" y="384"/>
                      <a:pt x="922" y="383"/>
                    </a:cubicBezTo>
                    <a:cubicBezTo>
                      <a:pt x="922" y="382"/>
                      <a:pt x="922" y="382"/>
                      <a:pt x="924" y="383"/>
                    </a:cubicBezTo>
                    <a:cubicBezTo>
                      <a:pt x="926" y="385"/>
                      <a:pt x="927" y="385"/>
                      <a:pt x="927" y="384"/>
                    </a:cubicBezTo>
                    <a:cubicBezTo>
                      <a:pt x="928" y="383"/>
                      <a:pt x="928" y="382"/>
                      <a:pt x="929" y="381"/>
                    </a:cubicBezTo>
                    <a:cubicBezTo>
                      <a:pt x="929" y="380"/>
                      <a:pt x="930" y="379"/>
                      <a:pt x="929" y="378"/>
                    </a:cubicBezTo>
                    <a:cubicBezTo>
                      <a:pt x="928" y="377"/>
                      <a:pt x="928" y="376"/>
                      <a:pt x="928" y="376"/>
                    </a:cubicBezTo>
                    <a:cubicBezTo>
                      <a:pt x="927" y="376"/>
                      <a:pt x="927" y="375"/>
                      <a:pt x="929" y="375"/>
                    </a:cubicBezTo>
                    <a:cubicBezTo>
                      <a:pt x="931" y="375"/>
                      <a:pt x="931" y="376"/>
                      <a:pt x="932" y="375"/>
                    </a:cubicBezTo>
                    <a:cubicBezTo>
                      <a:pt x="932" y="374"/>
                      <a:pt x="934" y="372"/>
                      <a:pt x="933" y="372"/>
                    </a:cubicBezTo>
                    <a:cubicBezTo>
                      <a:pt x="932" y="371"/>
                      <a:pt x="932" y="370"/>
                      <a:pt x="933" y="370"/>
                    </a:cubicBezTo>
                    <a:cubicBezTo>
                      <a:pt x="934" y="370"/>
                      <a:pt x="935" y="369"/>
                      <a:pt x="935" y="368"/>
                    </a:cubicBezTo>
                    <a:cubicBezTo>
                      <a:pt x="936" y="366"/>
                      <a:pt x="937" y="365"/>
                      <a:pt x="938" y="366"/>
                    </a:cubicBezTo>
                    <a:cubicBezTo>
                      <a:pt x="939" y="368"/>
                      <a:pt x="939" y="368"/>
                      <a:pt x="940" y="367"/>
                    </a:cubicBezTo>
                    <a:cubicBezTo>
                      <a:pt x="942" y="366"/>
                      <a:pt x="942" y="366"/>
                      <a:pt x="941" y="364"/>
                    </a:cubicBezTo>
                    <a:cubicBezTo>
                      <a:pt x="940" y="363"/>
                      <a:pt x="938" y="361"/>
                      <a:pt x="940" y="362"/>
                    </a:cubicBezTo>
                    <a:cubicBezTo>
                      <a:pt x="941" y="364"/>
                      <a:pt x="942" y="364"/>
                      <a:pt x="942" y="362"/>
                    </a:cubicBezTo>
                    <a:cubicBezTo>
                      <a:pt x="943" y="361"/>
                      <a:pt x="943" y="362"/>
                      <a:pt x="944" y="362"/>
                    </a:cubicBezTo>
                    <a:cubicBezTo>
                      <a:pt x="944" y="363"/>
                      <a:pt x="945" y="361"/>
                      <a:pt x="945" y="362"/>
                    </a:cubicBezTo>
                    <a:cubicBezTo>
                      <a:pt x="945" y="364"/>
                      <a:pt x="947" y="363"/>
                      <a:pt x="947" y="363"/>
                    </a:cubicBezTo>
                    <a:cubicBezTo>
                      <a:pt x="948" y="363"/>
                      <a:pt x="948" y="363"/>
                      <a:pt x="947" y="364"/>
                    </a:cubicBezTo>
                    <a:cubicBezTo>
                      <a:pt x="945" y="365"/>
                      <a:pt x="946" y="366"/>
                      <a:pt x="948" y="365"/>
                    </a:cubicBezTo>
                    <a:cubicBezTo>
                      <a:pt x="949" y="363"/>
                      <a:pt x="952" y="362"/>
                      <a:pt x="950" y="363"/>
                    </a:cubicBezTo>
                    <a:cubicBezTo>
                      <a:pt x="948" y="363"/>
                      <a:pt x="949" y="362"/>
                      <a:pt x="950" y="362"/>
                    </a:cubicBezTo>
                    <a:cubicBezTo>
                      <a:pt x="952" y="362"/>
                      <a:pt x="955" y="361"/>
                      <a:pt x="957" y="359"/>
                    </a:cubicBezTo>
                    <a:cubicBezTo>
                      <a:pt x="958" y="357"/>
                      <a:pt x="960" y="354"/>
                      <a:pt x="961" y="354"/>
                    </a:cubicBezTo>
                    <a:cubicBezTo>
                      <a:pt x="963" y="354"/>
                      <a:pt x="964" y="352"/>
                      <a:pt x="965" y="352"/>
                    </a:cubicBezTo>
                    <a:cubicBezTo>
                      <a:pt x="965" y="351"/>
                      <a:pt x="966" y="350"/>
                      <a:pt x="965" y="350"/>
                    </a:cubicBezTo>
                    <a:cubicBezTo>
                      <a:pt x="964" y="350"/>
                      <a:pt x="965" y="349"/>
                      <a:pt x="964" y="349"/>
                    </a:cubicBezTo>
                    <a:cubicBezTo>
                      <a:pt x="962" y="349"/>
                      <a:pt x="964" y="347"/>
                      <a:pt x="963" y="346"/>
                    </a:cubicBezTo>
                    <a:cubicBezTo>
                      <a:pt x="962" y="346"/>
                      <a:pt x="963" y="345"/>
                      <a:pt x="964" y="346"/>
                    </a:cubicBezTo>
                    <a:cubicBezTo>
                      <a:pt x="965" y="346"/>
                      <a:pt x="965" y="346"/>
                      <a:pt x="965" y="345"/>
                    </a:cubicBezTo>
                    <a:cubicBezTo>
                      <a:pt x="966" y="344"/>
                      <a:pt x="968" y="343"/>
                      <a:pt x="967" y="345"/>
                    </a:cubicBezTo>
                    <a:cubicBezTo>
                      <a:pt x="967" y="347"/>
                      <a:pt x="966" y="348"/>
                      <a:pt x="967" y="348"/>
                    </a:cubicBezTo>
                    <a:cubicBezTo>
                      <a:pt x="969" y="348"/>
                      <a:pt x="971" y="348"/>
                      <a:pt x="968" y="349"/>
                    </a:cubicBezTo>
                    <a:cubicBezTo>
                      <a:pt x="965" y="350"/>
                      <a:pt x="966" y="352"/>
                      <a:pt x="967" y="351"/>
                    </a:cubicBezTo>
                    <a:cubicBezTo>
                      <a:pt x="968" y="350"/>
                      <a:pt x="972" y="348"/>
                      <a:pt x="973" y="348"/>
                    </a:cubicBezTo>
                    <a:cubicBezTo>
                      <a:pt x="975" y="347"/>
                      <a:pt x="977" y="347"/>
                      <a:pt x="978" y="346"/>
                    </a:cubicBezTo>
                    <a:cubicBezTo>
                      <a:pt x="980" y="346"/>
                      <a:pt x="980" y="346"/>
                      <a:pt x="980" y="344"/>
                    </a:cubicBezTo>
                    <a:cubicBezTo>
                      <a:pt x="980" y="343"/>
                      <a:pt x="981" y="340"/>
                      <a:pt x="981" y="342"/>
                    </a:cubicBezTo>
                    <a:cubicBezTo>
                      <a:pt x="981" y="345"/>
                      <a:pt x="980" y="345"/>
                      <a:pt x="981" y="345"/>
                    </a:cubicBezTo>
                    <a:cubicBezTo>
                      <a:pt x="983" y="345"/>
                      <a:pt x="985" y="345"/>
                      <a:pt x="986" y="345"/>
                    </a:cubicBezTo>
                    <a:cubicBezTo>
                      <a:pt x="987" y="344"/>
                      <a:pt x="988" y="344"/>
                      <a:pt x="987" y="344"/>
                    </a:cubicBezTo>
                    <a:cubicBezTo>
                      <a:pt x="986" y="343"/>
                      <a:pt x="986" y="343"/>
                      <a:pt x="987" y="343"/>
                    </a:cubicBezTo>
                    <a:cubicBezTo>
                      <a:pt x="988" y="342"/>
                      <a:pt x="988" y="342"/>
                      <a:pt x="988" y="341"/>
                    </a:cubicBezTo>
                    <a:cubicBezTo>
                      <a:pt x="988" y="340"/>
                      <a:pt x="988" y="339"/>
                      <a:pt x="989" y="341"/>
                    </a:cubicBezTo>
                    <a:cubicBezTo>
                      <a:pt x="989" y="342"/>
                      <a:pt x="991" y="343"/>
                      <a:pt x="995" y="344"/>
                    </a:cubicBezTo>
                    <a:cubicBezTo>
                      <a:pt x="999" y="346"/>
                      <a:pt x="1002" y="348"/>
                      <a:pt x="1004" y="348"/>
                    </a:cubicBezTo>
                    <a:cubicBezTo>
                      <a:pt x="1006" y="347"/>
                      <a:pt x="1007" y="347"/>
                      <a:pt x="1006" y="346"/>
                    </a:cubicBezTo>
                    <a:cubicBezTo>
                      <a:pt x="1005" y="346"/>
                      <a:pt x="1005" y="345"/>
                      <a:pt x="1006" y="344"/>
                    </a:cubicBezTo>
                    <a:cubicBezTo>
                      <a:pt x="1007" y="344"/>
                      <a:pt x="1010" y="343"/>
                      <a:pt x="1012" y="344"/>
                    </a:cubicBezTo>
                    <a:cubicBezTo>
                      <a:pt x="1013" y="345"/>
                      <a:pt x="1013" y="345"/>
                      <a:pt x="1014" y="346"/>
                    </a:cubicBezTo>
                    <a:cubicBezTo>
                      <a:pt x="1015" y="347"/>
                      <a:pt x="1018" y="350"/>
                      <a:pt x="1018" y="348"/>
                    </a:cubicBezTo>
                    <a:cubicBezTo>
                      <a:pt x="1019" y="347"/>
                      <a:pt x="1019" y="347"/>
                      <a:pt x="1019" y="349"/>
                    </a:cubicBezTo>
                    <a:cubicBezTo>
                      <a:pt x="1019" y="350"/>
                      <a:pt x="1019" y="350"/>
                      <a:pt x="1021" y="351"/>
                    </a:cubicBezTo>
                    <a:cubicBezTo>
                      <a:pt x="1022" y="352"/>
                      <a:pt x="1024" y="354"/>
                      <a:pt x="1024" y="354"/>
                    </a:cubicBezTo>
                    <a:cubicBezTo>
                      <a:pt x="1025" y="354"/>
                      <a:pt x="1028" y="356"/>
                      <a:pt x="1028" y="354"/>
                    </a:cubicBezTo>
                    <a:cubicBezTo>
                      <a:pt x="1029" y="352"/>
                      <a:pt x="1029" y="352"/>
                      <a:pt x="1031" y="352"/>
                    </a:cubicBezTo>
                    <a:cubicBezTo>
                      <a:pt x="1032" y="352"/>
                      <a:pt x="1034" y="353"/>
                      <a:pt x="1034" y="354"/>
                    </a:cubicBezTo>
                    <a:cubicBezTo>
                      <a:pt x="1034" y="355"/>
                      <a:pt x="1034" y="356"/>
                      <a:pt x="1035" y="355"/>
                    </a:cubicBezTo>
                    <a:cubicBezTo>
                      <a:pt x="1036" y="354"/>
                      <a:pt x="1036" y="354"/>
                      <a:pt x="1036" y="353"/>
                    </a:cubicBezTo>
                    <a:cubicBezTo>
                      <a:pt x="1037" y="352"/>
                      <a:pt x="1037" y="351"/>
                      <a:pt x="1037" y="350"/>
                    </a:cubicBezTo>
                    <a:cubicBezTo>
                      <a:pt x="1036" y="349"/>
                      <a:pt x="1036" y="349"/>
                      <a:pt x="1035" y="349"/>
                    </a:cubicBezTo>
                    <a:cubicBezTo>
                      <a:pt x="1035" y="348"/>
                      <a:pt x="1035" y="347"/>
                      <a:pt x="1037" y="348"/>
                    </a:cubicBezTo>
                    <a:cubicBezTo>
                      <a:pt x="1038" y="349"/>
                      <a:pt x="1039" y="349"/>
                      <a:pt x="1040" y="350"/>
                    </a:cubicBezTo>
                    <a:cubicBezTo>
                      <a:pt x="1041" y="350"/>
                      <a:pt x="1044" y="353"/>
                      <a:pt x="1045" y="354"/>
                    </a:cubicBezTo>
                    <a:cubicBezTo>
                      <a:pt x="1046" y="355"/>
                      <a:pt x="1046" y="356"/>
                      <a:pt x="1047" y="355"/>
                    </a:cubicBezTo>
                    <a:cubicBezTo>
                      <a:pt x="1048" y="354"/>
                      <a:pt x="1048" y="354"/>
                      <a:pt x="1047" y="356"/>
                    </a:cubicBezTo>
                    <a:cubicBezTo>
                      <a:pt x="1046" y="358"/>
                      <a:pt x="1047" y="358"/>
                      <a:pt x="1048" y="357"/>
                    </a:cubicBezTo>
                    <a:cubicBezTo>
                      <a:pt x="1048" y="357"/>
                      <a:pt x="1050" y="357"/>
                      <a:pt x="1051" y="356"/>
                    </a:cubicBezTo>
                    <a:cubicBezTo>
                      <a:pt x="1052" y="354"/>
                      <a:pt x="1052" y="354"/>
                      <a:pt x="1051" y="354"/>
                    </a:cubicBezTo>
                    <a:cubicBezTo>
                      <a:pt x="1050" y="354"/>
                      <a:pt x="1051" y="352"/>
                      <a:pt x="1050" y="352"/>
                    </a:cubicBezTo>
                    <a:cubicBezTo>
                      <a:pt x="1048" y="352"/>
                      <a:pt x="1047" y="351"/>
                      <a:pt x="1045" y="351"/>
                    </a:cubicBezTo>
                    <a:cubicBezTo>
                      <a:pt x="1044" y="351"/>
                      <a:pt x="1044" y="349"/>
                      <a:pt x="1043" y="349"/>
                    </a:cubicBezTo>
                    <a:cubicBezTo>
                      <a:pt x="1042" y="348"/>
                      <a:pt x="1042" y="347"/>
                      <a:pt x="1043" y="347"/>
                    </a:cubicBezTo>
                    <a:cubicBezTo>
                      <a:pt x="1044" y="347"/>
                      <a:pt x="1045" y="346"/>
                      <a:pt x="1044" y="346"/>
                    </a:cubicBezTo>
                    <a:cubicBezTo>
                      <a:pt x="1043" y="346"/>
                      <a:pt x="1044" y="345"/>
                      <a:pt x="1045" y="345"/>
                    </a:cubicBezTo>
                    <a:cubicBezTo>
                      <a:pt x="1047" y="345"/>
                      <a:pt x="1048" y="344"/>
                      <a:pt x="1047" y="343"/>
                    </a:cubicBezTo>
                    <a:cubicBezTo>
                      <a:pt x="1047" y="342"/>
                      <a:pt x="1046" y="342"/>
                      <a:pt x="1046" y="342"/>
                    </a:cubicBezTo>
                    <a:cubicBezTo>
                      <a:pt x="1046" y="341"/>
                      <a:pt x="1046" y="339"/>
                      <a:pt x="1045" y="340"/>
                    </a:cubicBezTo>
                    <a:cubicBezTo>
                      <a:pt x="1043" y="342"/>
                      <a:pt x="1044" y="342"/>
                      <a:pt x="1042" y="342"/>
                    </a:cubicBezTo>
                    <a:cubicBezTo>
                      <a:pt x="1040" y="342"/>
                      <a:pt x="1039" y="341"/>
                      <a:pt x="1040" y="341"/>
                    </a:cubicBezTo>
                    <a:cubicBezTo>
                      <a:pt x="1041" y="340"/>
                      <a:pt x="1043" y="339"/>
                      <a:pt x="1041" y="339"/>
                    </a:cubicBezTo>
                    <a:cubicBezTo>
                      <a:pt x="1038" y="340"/>
                      <a:pt x="1030" y="339"/>
                      <a:pt x="1031" y="338"/>
                    </a:cubicBezTo>
                    <a:cubicBezTo>
                      <a:pt x="1032" y="337"/>
                      <a:pt x="1036" y="335"/>
                      <a:pt x="1040" y="336"/>
                    </a:cubicBezTo>
                    <a:cubicBezTo>
                      <a:pt x="1043" y="338"/>
                      <a:pt x="1044" y="338"/>
                      <a:pt x="1045" y="337"/>
                    </a:cubicBezTo>
                    <a:cubicBezTo>
                      <a:pt x="1046" y="335"/>
                      <a:pt x="1052" y="334"/>
                      <a:pt x="1053" y="334"/>
                    </a:cubicBezTo>
                    <a:cubicBezTo>
                      <a:pt x="1054" y="334"/>
                      <a:pt x="1061" y="335"/>
                      <a:pt x="1063" y="335"/>
                    </a:cubicBezTo>
                    <a:cubicBezTo>
                      <a:pt x="1065" y="336"/>
                      <a:pt x="1065" y="334"/>
                      <a:pt x="1066" y="333"/>
                    </a:cubicBezTo>
                    <a:cubicBezTo>
                      <a:pt x="1066" y="332"/>
                      <a:pt x="1066" y="328"/>
                      <a:pt x="1067" y="330"/>
                    </a:cubicBezTo>
                    <a:cubicBezTo>
                      <a:pt x="1068" y="332"/>
                      <a:pt x="1068" y="331"/>
                      <a:pt x="1068" y="333"/>
                    </a:cubicBezTo>
                    <a:cubicBezTo>
                      <a:pt x="1068" y="334"/>
                      <a:pt x="1068" y="333"/>
                      <a:pt x="1070" y="334"/>
                    </a:cubicBezTo>
                    <a:cubicBezTo>
                      <a:pt x="1071" y="335"/>
                      <a:pt x="1070" y="337"/>
                      <a:pt x="1072" y="337"/>
                    </a:cubicBezTo>
                    <a:cubicBezTo>
                      <a:pt x="1073" y="337"/>
                      <a:pt x="1073" y="336"/>
                      <a:pt x="1074" y="336"/>
                    </a:cubicBezTo>
                    <a:cubicBezTo>
                      <a:pt x="1075" y="335"/>
                      <a:pt x="1075" y="336"/>
                      <a:pt x="1076" y="336"/>
                    </a:cubicBezTo>
                    <a:cubicBezTo>
                      <a:pt x="1078" y="335"/>
                      <a:pt x="1079" y="334"/>
                      <a:pt x="1079" y="333"/>
                    </a:cubicBezTo>
                    <a:cubicBezTo>
                      <a:pt x="1080" y="332"/>
                      <a:pt x="1080" y="331"/>
                      <a:pt x="1080" y="332"/>
                    </a:cubicBezTo>
                    <a:cubicBezTo>
                      <a:pt x="1081" y="333"/>
                      <a:pt x="1081" y="330"/>
                      <a:pt x="1082" y="332"/>
                    </a:cubicBezTo>
                    <a:cubicBezTo>
                      <a:pt x="1083" y="333"/>
                      <a:pt x="1083" y="334"/>
                      <a:pt x="1082" y="334"/>
                    </a:cubicBezTo>
                    <a:cubicBezTo>
                      <a:pt x="1081" y="334"/>
                      <a:pt x="1080" y="335"/>
                      <a:pt x="1081" y="335"/>
                    </a:cubicBezTo>
                    <a:cubicBezTo>
                      <a:pt x="1082" y="335"/>
                      <a:pt x="1087" y="333"/>
                      <a:pt x="1088" y="334"/>
                    </a:cubicBezTo>
                    <a:cubicBezTo>
                      <a:pt x="1088" y="334"/>
                      <a:pt x="1095" y="332"/>
                      <a:pt x="1095" y="334"/>
                    </a:cubicBezTo>
                    <a:cubicBezTo>
                      <a:pt x="1095" y="335"/>
                      <a:pt x="1094" y="334"/>
                      <a:pt x="1094" y="334"/>
                    </a:cubicBezTo>
                    <a:cubicBezTo>
                      <a:pt x="1093" y="334"/>
                      <a:pt x="1091" y="334"/>
                      <a:pt x="1093" y="335"/>
                    </a:cubicBezTo>
                    <a:cubicBezTo>
                      <a:pt x="1095" y="336"/>
                      <a:pt x="1097" y="337"/>
                      <a:pt x="1098" y="338"/>
                    </a:cubicBezTo>
                    <a:cubicBezTo>
                      <a:pt x="1100" y="339"/>
                      <a:pt x="1102" y="339"/>
                      <a:pt x="1100" y="338"/>
                    </a:cubicBezTo>
                    <a:cubicBezTo>
                      <a:pt x="1099" y="337"/>
                      <a:pt x="1099" y="337"/>
                      <a:pt x="1101" y="336"/>
                    </a:cubicBezTo>
                    <a:cubicBezTo>
                      <a:pt x="1103" y="336"/>
                      <a:pt x="1104" y="336"/>
                      <a:pt x="1103" y="336"/>
                    </a:cubicBezTo>
                    <a:cubicBezTo>
                      <a:pt x="1102" y="337"/>
                      <a:pt x="1101" y="337"/>
                      <a:pt x="1103" y="338"/>
                    </a:cubicBezTo>
                    <a:cubicBezTo>
                      <a:pt x="1105" y="339"/>
                      <a:pt x="1107" y="340"/>
                      <a:pt x="1105" y="340"/>
                    </a:cubicBezTo>
                    <a:cubicBezTo>
                      <a:pt x="1104" y="340"/>
                      <a:pt x="1101" y="338"/>
                      <a:pt x="1103" y="340"/>
                    </a:cubicBezTo>
                    <a:cubicBezTo>
                      <a:pt x="1104" y="341"/>
                      <a:pt x="1106" y="342"/>
                      <a:pt x="1106" y="343"/>
                    </a:cubicBezTo>
                    <a:cubicBezTo>
                      <a:pt x="1107" y="344"/>
                      <a:pt x="1108" y="346"/>
                      <a:pt x="1109" y="346"/>
                    </a:cubicBezTo>
                    <a:cubicBezTo>
                      <a:pt x="1110" y="345"/>
                      <a:pt x="1112" y="345"/>
                      <a:pt x="1113" y="344"/>
                    </a:cubicBezTo>
                    <a:cubicBezTo>
                      <a:pt x="1114" y="344"/>
                      <a:pt x="1122" y="341"/>
                      <a:pt x="1124" y="340"/>
                    </a:cubicBezTo>
                    <a:cubicBezTo>
                      <a:pt x="1125" y="340"/>
                      <a:pt x="1127" y="339"/>
                      <a:pt x="1130" y="341"/>
                    </a:cubicBezTo>
                    <a:cubicBezTo>
                      <a:pt x="1133" y="343"/>
                      <a:pt x="1133" y="344"/>
                      <a:pt x="1134" y="346"/>
                    </a:cubicBezTo>
                    <a:cubicBezTo>
                      <a:pt x="1136" y="347"/>
                      <a:pt x="1135" y="349"/>
                      <a:pt x="1137" y="350"/>
                    </a:cubicBezTo>
                    <a:cubicBezTo>
                      <a:pt x="1139" y="351"/>
                      <a:pt x="1144" y="354"/>
                      <a:pt x="1145" y="355"/>
                    </a:cubicBezTo>
                    <a:cubicBezTo>
                      <a:pt x="1146" y="356"/>
                      <a:pt x="1147" y="362"/>
                      <a:pt x="1147" y="364"/>
                    </a:cubicBezTo>
                    <a:cubicBezTo>
                      <a:pt x="1146" y="366"/>
                      <a:pt x="1145" y="368"/>
                      <a:pt x="1145" y="370"/>
                    </a:cubicBezTo>
                    <a:cubicBezTo>
                      <a:pt x="1144" y="373"/>
                      <a:pt x="1144" y="373"/>
                      <a:pt x="1144" y="375"/>
                    </a:cubicBezTo>
                    <a:cubicBezTo>
                      <a:pt x="1144" y="376"/>
                      <a:pt x="1146" y="379"/>
                      <a:pt x="1147" y="378"/>
                    </a:cubicBezTo>
                    <a:cubicBezTo>
                      <a:pt x="1147" y="377"/>
                      <a:pt x="1147" y="376"/>
                      <a:pt x="1147" y="375"/>
                    </a:cubicBezTo>
                    <a:cubicBezTo>
                      <a:pt x="1146" y="375"/>
                      <a:pt x="1147" y="375"/>
                      <a:pt x="1148" y="375"/>
                    </a:cubicBezTo>
                    <a:cubicBezTo>
                      <a:pt x="1149" y="376"/>
                      <a:pt x="1150" y="374"/>
                      <a:pt x="1150" y="376"/>
                    </a:cubicBezTo>
                    <a:cubicBezTo>
                      <a:pt x="1150" y="378"/>
                      <a:pt x="1148" y="379"/>
                      <a:pt x="1148" y="380"/>
                    </a:cubicBezTo>
                    <a:cubicBezTo>
                      <a:pt x="1148" y="380"/>
                      <a:pt x="1148" y="381"/>
                      <a:pt x="1148" y="381"/>
                    </a:cubicBezTo>
                    <a:cubicBezTo>
                      <a:pt x="1147" y="381"/>
                      <a:pt x="1147" y="381"/>
                      <a:pt x="1147" y="382"/>
                    </a:cubicBezTo>
                    <a:cubicBezTo>
                      <a:pt x="1148" y="383"/>
                      <a:pt x="1148" y="385"/>
                      <a:pt x="1149" y="386"/>
                    </a:cubicBezTo>
                    <a:cubicBezTo>
                      <a:pt x="1150" y="388"/>
                      <a:pt x="1151" y="390"/>
                      <a:pt x="1152" y="391"/>
                    </a:cubicBezTo>
                    <a:cubicBezTo>
                      <a:pt x="1154" y="392"/>
                      <a:pt x="1154" y="392"/>
                      <a:pt x="1154" y="391"/>
                    </a:cubicBezTo>
                    <a:cubicBezTo>
                      <a:pt x="1154" y="390"/>
                      <a:pt x="1156" y="389"/>
                      <a:pt x="1155" y="390"/>
                    </a:cubicBezTo>
                    <a:cubicBezTo>
                      <a:pt x="1155" y="392"/>
                      <a:pt x="1155" y="392"/>
                      <a:pt x="1155" y="394"/>
                    </a:cubicBezTo>
                    <a:cubicBezTo>
                      <a:pt x="1156" y="395"/>
                      <a:pt x="1156" y="397"/>
                      <a:pt x="1157" y="396"/>
                    </a:cubicBezTo>
                    <a:cubicBezTo>
                      <a:pt x="1158" y="395"/>
                      <a:pt x="1159" y="394"/>
                      <a:pt x="1158" y="397"/>
                    </a:cubicBezTo>
                    <a:cubicBezTo>
                      <a:pt x="1157" y="399"/>
                      <a:pt x="1158" y="398"/>
                      <a:pt x="1159" y="399"/>
                    </a:cubicBezTo>
                    <a:cubicBezTo>
                      <a:pt x="1159" y="401"/>
                      <a:pt x="1160" y="403"/>
                      <a:pt x="1160" y="404"/>
                    </a:cubicBezTo>
                    <a:cubicBezTo>
                      <a:pt x="1161" y="406"/>
                      <a:pt x="1161" y="407"/>
                      <a:pt x="1161" y="406"/>
                    </a:cubicBezTo>
                    <a:cubicBezTo>
                      <a:pt x="1162" y="406"/>
                      <a:pt x="1164" y="408"/>
                      <a:pt x="1165" y="409"/>
                    </a:cubicBezTo>
                    <a:cubicBezTo>
                      <a:pt x="1166" y="410"/>
                      <a:pt x="1170" y="414"/>
                      <a:pt x="1171" y="415"/>
                    </a:cubicBezTo>
                    <a:cubicBezTo>
                      <a:pt x="1172" y="416"/>
                      <a:pt x="1173" y="417"/>
                      <a:pt x="1171" y="417"/>
                    </a:cubicBezTo>
                    <a:cubicBezTo>
                      <a:pt x="1169" y="417"/>
                      <a:pt x="1169" y="416"/>
                      <a:pt x="1169" y="418"/>
                    </a:cubicBezTo>
                    <a:cubicBezTo>
                      <a:pt x="1170" y="420"/>
                      <a:pt x="1170" y="420"/>
                      <a:pt x="1171" y="419"/>
                    </a:cubicBezTo>
                    <a:cubicBezTo>
                      <a:pt x="1172" y="419"/>
                      <a:pt x="1172" y="417"/>
                      <a:pt x="1173" y="418"/>
                    </a:cubicBezTo>
                    <a:cubicBezTo>
                      <a:pt x="1175" y="419"/>
                      <a:pt x="1176" y="419"/>
                      <a:pt x="1176" y="418"/>
                    </a:cubicBezTo>
                    <a:cubicBezTo>
                      <a:pt x="1177" y="418"/>
                      <a:pt x="1178" y="417"/>
                      <a:pt x="1179" y="418"/>
                    </a:cubicBezTo>
                    <a:cubicBezTo>
                      <a:pt x="1179" y="418"/>
                      <a:pt x="1179" y="418"/>
                      <a:pt x="1180" y="416"/>
                    </a:cubicBezTo>
                    <a:cubicBezTo>
                      <a:pt x="1181" y="415"/>
                      <a:pt x="1183" y="412"/>
                      <a:pt x="1183" y="410"/>
                    </a:cubicBezTo>
                    <a:cubicBezTo>
                      <a:pt x="1184" y="407"/>
                      <a:pt x="1185" y="395"/>
                      <a:pt x="1185" y="394"/>
                    </a:cubicBezTo>
                    <a:cubicBezTo>
                      <a:pt x="1185" y="392"/>
                      <a:pt x="1185" y="389"/>
                      <a:pt x="1184" y="387"/>
                    </a:cubicBezTo>
                    <a:cubicBezTo>
                      <a:pt x="1182" y="385"/>
                      <a:pt x="1181" y="384"/>
                      <a:pt x="1181" y="382"/>
                    </a:cubicBezTo>
                    <a:cubicBezTo>
                      <a:pt x="1180" y="380"/>
                      <a:pt x="1178" y="373"/>
                      <a:pt x="1177" y="371"/>
                    </a:cubicBezTo>
                    <a:cubicBezTo>
                      <a:pt x="1176" y="368"/>
                      <a:pt x="1174" y="365"/>
                      <a:pt x="1174" y="364"/>
                    </a:cubicBezTo>
                    <a:cubicBezTo>
                      <a:pt x="1174" y="363"/>
                      <a:pt x="1173" y="360"/>
                      <a:pt x="1175" y="363"/>
                    </a:cubicBezTo>
                    <a:cubicBezTo>
                      <a:pt x="1176" y="367"/>
                      <a:pt x="1175" y="360"/>
                      <a:pt x="1176" y="365"/>
                    </a:cubicBezTo>
                    <a:cubicBezTo>
                      <a:pt x="1177" y="371"/>
                      <a:pt x="1177" y="369"/>
                      <a:pt x="1177" y="367"/>
                    </a:cubicBezTo>
                    <a:cubicBezTo>
                      <a:pt x="1178" y="366"/>
                      <a:pt x="1177" y="364"/>
                      <a:pt x="1175" y="361"/>
                    </a:cubicBezTo>
                    <a:cubicBezTo>
                      <a:pt x="1173" y="358"/>
                      <a:pt x="1170" y="352"/>
                      <a:pt x="1168" y="348"/>
                    </a:cubicBezTo>
                    <a:cubicBezTo>
                      <a:pt x="1167" y="344"/>
                      <a:pt x="1164" y="333"/>
                      <a:pt x="1164" y="331"/>
                    </a:cubicBezTo>
                    <a:cubicBezTo>
                      <a:pt x="1163" y="330"/>
                      <a:pt x="1163" y="321"/>
                      <a:pt x="1165" y="322"/>
                    </a:cubicBezTo>
                    <a:cubicBezTo>
                      <a:pt x="1168" y="322"/>
                      <a:pt x="1167" y="320"/>
                      <a:pt x="1166" y="320"/>
                    </a:cubicBezTo>
                    <a:cubicBezTo>
                      <a:pt x="1165" y="319"/>
                      <a:pt x="1165" y="318"/>
                      <a:pt x="1166" y="317"/>
                    </a:cubicBezTo>
                    <a:cubicBezTo>
                      <a:pt x="1168" y="317"/>
                      <a:pt x="1168" y="316"/>
                      <a:pt x="1167" y="316"/>
                    </a:cubicBezTo>
                    <a:cubicBezTo>
                      <a:pt x="1167" y="316"/>
                      <a:pt x="1167" y="314"/>
                      <a:pt x="1167" y="313"/>
                    </a:cubicBezTo>
                    <a:cubicBezTo>
                      <a:pt x="1167" y="313"/>
                      <a:pt x="1167" y="312"/>
                      <a:pt x="1168" y="312"/>
                    </a:cubicBezTo>
                    <a:cubicBezTo>
                      <a:pt x="1170" y="313"/>
                      <a:pt x="1170" y="312"/>
                      <a:pt x="1171" y="311"/>
                    </a:cubicBezTo>
                    <a:cubicBezTo>
                      <a:pt x="1172" y="310"/>
                      <a:pt x="1173" y="308"/>
                      <a:pt x="1174" y="307"/>
                    </a:cubicBezTo>
                    <a:cubicBezTo>
                      <a:pt x="1175" y="306"/>
                      <a:pt x="1176" y="305"/>
                      <a:pt x="1175" y="304"/>
                    </a:cubicBezTo>
                    <a:cubicBezTo>
                      <a:pt x="1174" y="303"/>
                      <a:pt x="1173" y="299"/>
                      <a:pt x="1174" y="300"/>
                    </a:cubicBezTo>
                    <a:cubicBezTo>
                      <a:pt x="1176" y="301"/>
                      <a:pt x="1176" y="300"/>
                      <a:pt x="1176" y="301"/>
                    </a:cubicBezTo>
                    <a:cubicBezTo>
                      <a:pt x="1176" y="303"/>
                      <a:pt x="1177" y="303"/>
                      <a:pt x="1178" y="302"/>
                    </a:cubicBezTo>
                    <a:cubicBezTo>
                      <a:pt x="1179" y="302"/>
                      <a:pt x="1179" y="300"/>
                      <a:pt x="1178" y="300"/>
                    </a:cubicBezTo>
                    <a:cubicBezTo>
                      <a:pt x="1177" y="300"/>
                      <a:pt x="1177" y="299"/>
                      <a:pt x="1178" y="299"/>
                    </a:cubicBezTo>
                    <a:cubicBezTo>
                      <a:pt x="1180" y="300"/>
                      <a:pt x="1180" y="299"/>
                      <a:pt x="1181" y="299"/>
                    </a:cubicBezTo>
                    <a:cubicBezTo>
                      <a:pt x="1182" y="298"/>
                      <a:pt x="1183" y="298"/>
                      <a:pt x="1184" y="298"/>
                    </a:cubicBezTo>
                    <a:cubicBezTo>
                      <a:pt x="1186" y="298"/>
                      <a:pt x="1187" y="297"/>
                      <a:pt x="1187" y="296"/>
                    </a:cubicBezTo>
                    <a:cubicBezTo>
                      <a:pt x="1187" y="295"/>
                      <a:pt x="1187" y="294"/>
                      <a:pt x="1188" y="295"/>
                    </a:cubicBezTo>
                    <a:cubicBezTo>
                      <a:pt x="1189" y="296"/>
                      <a:pt x="1190" y="295"/>
                      <a:pt x="1191" y="294"/>
                    </a:cubicBezTo>
                    <a:cubicBezTo>
                      <a:pt x="1192" y="293"/>
                      <a:pt x="1194" y="292"/>
                      <a:pt x="1195" y="291"/>
                    </a:cubicBezTo>
                    <a:cubicBezTo>
                      <a:pt x="1197" y="290"/>
                      <a:pt x="1198" y="289"/>
                      <a:pt x="1197" y="288"/>
                    </a:cubicBezTo>
                    <a:cubicBezTo>
                      <a:pt x="1196" y="286"/>
                      <a:pt x="1197" y="285"/>
                      <a:pt x="1198" y="286"/>
                    </a:cubicBezTo>
                    <a:cubicBezTo>
                      <a:pt x="1199" y="287"/>
                      <a:pt x="1198" y="287"/>
                      <a:pt x="1199" y="285"/>
                    </a:cubicBezTo>
                    <a:cubicBezTo>
                      <a:pt x="1200" y="282"/>
                      <a:pt x="1202" y="281"/>
                      <a:pt x="1203" y="280"/>
                    </a:cubicBezTo>
                    <a:cubicBezTo>
                      <a:pt x="1205" y="279"/>
                      <a:pt x="1207" y="276"/>
                      <a:pt x="1210" y="276"/>
                    </a:cubicBezTo>
                    <a:cubicBezTo>
                      <a:pt x="1212" y="277"/>
                      <a:pt x="1216" y="278"/>
                      <a:pt x="1216" y="276"/>
                    </a:cubicBezTo>
                    <a:cubicBezTo>
                      <a:pt x="1216" y="274"/>
                      <a:pt x="1216" y="271"/>
                      <a:pt x="1217" y="274"/>
                    </a:cubicBezTo>
                    <a:cubicBezTo>
                      <a:pt x="1217" y="277"/>
                      <a:pt x="1217" y="275"/>
                      <a:pt x="1218" y="274"/>
                    </a:cubicBezTo>
                    <a:cubicBezTo>
                      <a:pt x="1218" y="272"/>
                      <a:pt x="1219" y="271"/>
                      <a:pt x="1221" y="269"/>
                    </a:cubicBezTo>
                    <a:cubicBezTo>
                      <a:pt x="1222" y="268"/>
                      <a:pt x="1225" y="267"/>
                      <a:pt x="1225" y="265"/>
                    </a:cubicBezTo>
                    <a:cubicBezTo>
                      <a:pt x="1225" y="264"/>
                      <a:pt x="1224" y="263"/>
                      <a:pt x="1225" y="263"/>
                    </a:cubicBezTo>
                    <a:cubicBezTo>
                      <a:pt x="1226" y="264"/>
                      <a:pt x="1227" y="263"/>
                      <a:pt x="1228" y="262"/>
                    </a:cubicBezTo>
                    <a:cubicBezTo>
                      <a:pt x="1228" y="262"/>
                      <a:pt x="1229" y="262"/>
                      <a:pt x="1230" y="263"/>
                    </a:cubicBezTo>
                    <a:cubicBezTo>
                      <a:pt x="1230" y="263"/>
                      <a:pt x="1231" y="263"/>
                      <a:pt x="1233" y="262"/>
                    </a:cubicBezTo>
                    <a:cubicBezTo>
                      <a:pt x="1235" y="261"/>
                      <a:pt x="1237" y="262"/>
                      <a:pt x="1238" y="261"/>
                    </a:cubicBezTo>
                    <a:cubicBezTo>
                      <a:pt x="1239" y="260"/>
                      <a:pt x="1242" y="259"/>
                      <a:pt x="1240" y="259"/>
                    </a:cubicBezTo>
                    <a:cubicBezTo>
                      <a:pt x="1239" y="259"/>
                      <a:pt x="1239" y="258"/>
                      <a:pt x="1238" y="259"/>
                    </a:cubicBezTo>
                    <a:cubicBezTo>
                      <a:pt x="1236" y="260"/>
                      <a:pt x="1237" y="257"/>
                      <a:pt x="1235" y="260"/>
                    </a:cubicBezTo>
                    <a:cubicBezTo>
                      <a:pt x="1233" y="262"/>
                      <a:pt x="1228" y="257"/>
                      <a:pt x="1232" y="258"/>
                    </a:cubicBezTo>
                    <a:cubicBezTo>
                      <a:pt x="1237" y="258"/>
                      <a:pt x="1241" y="254"/>
                      <a:pt x="1237" y="253"/>
                    </a:cubicBezTo>
                    <a:cubicBezTo>
                      <a:pt x="1233" y="252"/>
                      <a:pt x="1229" y="250"/>
                      <a:pt x="1233" y="251"/>
                    </a:cubicBezTo>
                    <a:cubicBezTo>
                      <a:pt x="1238" y="252"/>
                      <a:pt x="1236" y="249"/>
                      <a:pt x="1237" y="249"/>
                    </a:cubicBezTo>
                    <a:cubicBezTo>
                      <a:pt x="1238" y="250"/>
                      <a:pt x="1237" y="251"/>
                      <a:pt x="1238" y="251"/>
                    </a:cubicBezTo>
                    <a:cubicBezTo>
                      <a:pt x="1239" y="251"/>
                      <a:pt x="1239" y="251"/>
                      <a:pt x="1240" y="251"/>
                    </a:cubicBezTo>
                    <a:cubicBezTo>
                      <a:pt x="1241" y="252"/>
                      <a:pt x="1243" y="251"/>
                      <a:pt x="1244" y="251"/>
                    </a:cubicBezTo>
                    <a:cubicBezTo>
                      <a:pt x="1245" y="251"/>
                      <a:pt x="1250" y="248"/>
                      <a:pt x="1249" y="245"/>
                    </a:cubicBezTo>
                    <a:cubicBezTo>
                      <a:pt x="1248" y="241"/>
                      <a:pt x="1248" y="242"/>
                      <a:pt x="1247" y="242"/>
                    </a:cubicBezTo>
                    <a:cubicBezTo>
                      <a:pt x="1247" y="243"/>
                      <a:pt x="1246" y="244"/>
                      <a:pt x="1246" y="245"/>
                    </a:cubicBezTo>
                    <a:cubicBezTo>
                      <a:pt x="1246" y="246"/>
                      <a:pt x="1244" y="247"/>
                      <a:pt x="1245" y="243"/>
                    </a:cubicBezTo>
                    <a:cubicBezTo>
                      <a:pt x="1245" y="240"/>
                      <a:pt x="1244" y="241"/>
                      <a:pt x="1244" y="242"/>
                    </a:cubicBezTo>
                    <a:cubicBezTo>
                      <a:pt x="1243" y="242"/>
                      <a:pt x="1242" y="241"/>
                      <a:pt x="1242" y="242"/>
                    </a:cubicBezTo>
                    <a:cubicBezTo>
                      <a:pt x="1241" y="243"/>
                      <a:pt x="1240" y="243"/>
                      <a:pt x="1240" y="243"/>
                    </a:cubicBezTo>
                    <a:cubicBezTo>
                      <a:pt x="1240" y="242"/>
                      <a:pt x="1239" y="242"/>
                      <a:pt x="1238" y="243"/>
                    </a:cubicBezTo>
                    <a:cubicBezTo>
                      <a:pt x="1236" y="243"/>
                      <a:pt x="1235" y="243"/>
                      <a:pt x="1235" y="242"/>
                    </a:cubicBezTo>
                    <a:cubicBezTo>
                      <a:pt x="1236" y="241"/>
                      <a:pt x="1234" y="238"/>
                      <a:pt x="1235" y="239"/>
                    </a:cubicBezTo>
                    <a:cubicBezTo>
                      <a:pt x="1236" y="241"/>
                      <a:pt x="1237" y="241"/>
                      <a:pt x="1238" y="241"/>
                    </a:cubicBezTo>
                    <a:cubicBezTo>
                      <a:pt x="1239" y="241"/>
                      <a:pt x="1240" y="240"/>
                      <a:pt x="1240" y="240"/>
                    </a:cubicBezTo>
                    <a:cubicBezTo>
                      <a:pt x="1239" y="239"/>
                      <a:pt x="1239" y="238"/>
                      <a:pt x="1241" y="239"/>
                    </a:cubicBezTo>
                    <a:cubicBezTo>
                      <a:pt x="1243" y="240"/>
                      <a:pt x="1241" y="238"/>
                      <a:pt x="1242" y="238"/>
                    </a:cubicBezTo>
                    <a:cubicBezTo>
                      <a:pt x="1244" y="239"/>
                      <a:pt x="1244" y="239"/>
                      <a:pt x="1243" y="238"/>
                    </a:cubicBezTo>
                    <a:cubicBezTo>
                      <a:pt x="1241" y="236"/>
                      <a:pt x="1243" y="236"/>
                      <a:pt x="1245" y="238"/>
                    </a:cubicBezTo>
                    <a:cubicBezTo>
                      <a:pt x="1247" y="240"/>
                      <a:pt x="1246" y="238"/>
                      <a:pt x="1246" y="237"/>
                    </a:cubicBezTo>
                    <a:cubicBezTo>
                      <a:pt x="1246" y="236"/>
                      <a:pt x="1247" y="237"/>
                      <a:pt x="1247" y="238"/>
                    </a:cubicBezTo>
                    <a:cubicBezTo>
                      <a:pt x="1247" y="239"/>
                      <a:pt x="1249" y="240"/>
                      <a:pt x="1247" y="236"/>
                    </a:cubicBezTo>
                    <a:cubicBezTo>
                      <a:pt x="1245" y="232"/>
                      <a:pt x="1244" y="232"/>
                      <a:pt x="1245" y="232"/>
                    </a:cubicBezTo>
                    <a:cubicBezTo>
                      <a:pt x="1246" y="232"/>
                      <a:pt x="1246" y="229"/>
                      <a:pt x="1247" y="231"/>
                    </a:cubicBezTo>
                    <a:cubicBezTo>
                      <a:pt x="1247" y="233"/>
                      <a:pt x="1248" y="232"/>
                      <a:pt x="1247" y="229"/>
                    </a:cubicBezTo>
                    <a:cubicBezTo>
                      <a:pt x="1246" y="226"/>
                      <a:pt x="1246" y="226"/>
                      <a:pt x="1244" y="226"/>
                    </a:cubicBezTo>
                    <a:cubicBezTo>
                      <a:pt x="1243" y="226"/>
                      <a:pt x="1243" y="226"/>
                      <a:pt x="1242" y="226"/>
                    </a:cubicBezTo>
                    <a:cubicBezTo>
                      <a:pt x="1241" y="226"/>
                      <a:pt x="1241" y="226"/>
                      <a:pt x="1240" y="226"/>
                    </a:cubicBezTo>
                    <a:cubicBezTo>
                      <a:pt x="1240" y="227"/>
                      <a:pt x="1239" y="227"/>
                      <a:pt x="1238" y="227"/>
                    </a:cubicBezTo>
                    <a:cubicBezTo>
                      <a:pt x="1238" y="226"/>
                      <a:pt x="1238" y="226"/>
                      <a:pt x="1238" y="225"/>
                    </a:cubicBezTo>
                    <a:cubicBezTo>
                      <a:pt x="1237" y="224"/>
                      <a:pt x="1235" y="221"/>
                      <a:pt x="1237" y="223"/>
                    </a:cubicBezTo>
                    <a:cubicBezTo>
                      <a:pt x="1239" y="225"/>
                      <a:pt x="1240" y="225"/>
                      <a:pt x="1240" y="224"/>
                    </a:cubicBezTo>
                    <a:cubicBezTo>
                      <a:pt x="1241" y="224"/>
                      <a:pt x="1241" y="222"/>
                      <a:pt x="1240" y="221"/>
                    </a:cubicBezTo>
                    <a:cubicBezTo>
                      <a:pt x="1239" y="220"/>
                      <a:pt x="1238" y="219"/>
                      <a:pt x="1240" y="219"/>
                    </a:cubicBezTo>
                    <a:cubicBezTo>
                      <a:pt x="1241" y="219"/>
                      <a:pt x="1243" y="217"/>
                      <a:pt x="1241" y="215"/>
                    </a:cubicBezTo>
                    <a:cubicBezTo>
                      <a:pt x="1239" y="213"/>
                      <a:pt x="1238" y="212"/>
                      <a:pt x="1239" y="213"/>
                    </a:cubicBezTo>
                    <a:cubicBezTo>
                      <a:pt x="1241" y="213"/>
                      <a:pt x="1241" y="212"/>
                      <a:pt x="1241" y="210"/>
                    </a:cubicBezTo>
                    <a:cubicBezTo>
                      <a:pt x="1242" y="209"/>
                      <a:pt x="1242" y="208"/>
                      <a:pt x="1240" y="208"/>
                    </a:cubicBezTo>
                    <a:cubicBezTo>
                      <a:pt x="1239" y="207"/>
                      <a:pt x="1233" y="204"/>
                      <a:pt x="1232" y="204"/>
                    </a:cubicBezTo>
                    <a:cubicBezTo>
                      <a:pt x="1231" y="203"/>
                      <a:pt x="1230" y="203"/>
                      <a:pt x="1229" y="202"/>
                    </a:cubicBezTo>
                    <a:cubicBezTo>
                      <a:pt x="1229" y="201"/>
                      <a:pt x="1229" y="201"/>
                      <a:pt x="1228" y="201"/>
                    </a:cubicBezTo>
                    <a:cubicBezTo>
                      <a:pt x="1228" y="201"/>
                      <a:pt x="1226" y="202"/>
                      <a:pt x="1226" y="200"/>
                    </a:cubicBezTo>
                    <a:cubicBezTo>
                      <a:pt x="1227" y="199"/>
                      <a:pt x="1227" y="197"/>
                      <a:pt x="1228" y="196"/>
                    </a:cubicBezTo>
                    <a:cubicBezTo>
                      <a:pt x="1229" y="195"/>
                      <a:pt x="1228" y="197"/>
                      <a:pt x="1228" y="198"/>
                    </a:cubicBezTo>
                    <a:cubicBezTo>
                      <a:pt x="1227" y="200"/>
                      <a:pt x="1227" y="200"/>
                      <a:pt x="1229" y="200"/>
                    </a:cubicBezTo>
                    <a:cubicBezTo>
                      <a:pt x="1230" y="199"/>
                      <a:pt x="1231" y="199"/>
                      <a:pt x="1231" y="200"/>
                    </a:cubicBezTo>
                    <a:cubicBezTo>
                      <a:pt x="1231" y="201"/>
                      <a:pt x="1232" y="201"/>
                      <a:pt x="1233" y="201"/>
                    </a:cubicBezTo>
                    <a:cubicBezTo>
                      <a:pt x="1233" y="201"/>
                      <a:pt x="1234" y="201"/>
                      <a:pt x="1236" y="202"/>
                    </a:cubicBezTo>
                    <a:cubicBezTo>
                      <a:pt x="1237" y="203"/>
                      <a:pt x="1241" y="207"/>
                      <a:pt x="1240" y="204"/>
                    </a:cubicBezTo>
                    <a:cubicBezTo>
                      <a:pt x="1240" y="202"/>
                      <a:pt x="1241" y="203"/>
                      <a:pt x="1239" y="202"/>
                    </a:cubicBezTo>
                    <a:cubicBezTo>
                      <a:pt x="1238" y="201"/>
                      <a:pt x="1233" y="196"/>
                      <a:pt x="1236" y="198"/>
                    </a:cubicBezTo>
                    <a:cubicBezTo>
                      <a:pt x="1239" y="200"/>
                      <a:pt x="1240" y="201"/>
                      <a:pt x="1239" y="199"/>
                    </a:cubicBezTo>
                    <a:cubicBezTo>
                      <a:pt x="1237" y="197"/>
                      <a:pt x="1237" y="195"/>
                      <a:pt x="1238" y="194"/>
                    </a:cubicBezTo>
                    <a:cubicBezTo>
                      <a:pt x="1238" y="192"/>
                      <a:pt x="1238" y="191"/>
                      <a:pt x="1238" y="191"/>
                    </a:cubicBezTo>
                    <a:cubicBezTo>
                      <a:pt x="1238" y="190"/>
                      <a:pt x="1237" y="188"/>
                      <a:pt x="1238" y="190"/>
                    </a:cubicBezTo>
                    <a:cubicBezTo>
                      <a:pt x="1240" y="191"/>
                      <a:pt x="1239" y="189"/>
                      <a:pt x="1238" y="187"/>
                    </a:cubicBezTo>
                    <a:cubicBezTo>
                      <a:pt x="1236" y="186"/>
                      <a:pt x="1236" y="186"/>
                      <a:pt x="1238" y="185"/>
                    </a:cubicBezTo>
                    <a:cubicBezTo>
                      <a:pt x="1239" y="184"/>
                      <a:pt x="1239" y="183"/>
                      <a:pt x="1240" y="183"/>
                    </a:cubicBezTo>
                    <a:cubicBezTo>
                      <a:pt x="1241" y="183"/>
                      <a:pt x="1241" y="183"/>
                      <a:pt x="1242" y="182"/>
                    </a:cubicBezTo>
                    <a:cubicBezTo>
                      <a:pt x="1243" y="182"/>
                      <a:pt x="1245" y="179"/>
                      <a:pt x="1246" y="179"/>
                    </a:cubicBezTo>
                    <a:cubicBezTo>
                      <a:pt x="1247" y="180"/>
                      <a:pt x="1248" y="180"/>
                      <a:pt x="1247" y="181"/>
                    </a:cubicBezTo>
                    <a:cubicBezTo>
                      <a:pt x="1245" y="183"/>
                      <a:pt x="1245" y="183"/>
                      <a:pt x="1246" y="183"/>
                    </a:cubicBezTo>
                    <a:cubicBezTo>
                      <a:pt x="1246" y="184"/>
                      <a:pt x="1245" y="183"/>
                      <a:pt x="1244" y="184"/>
                    </a:cubicBezTo>
                    <a:cubicBezTo>
                      <a:pt x="1243" y="184"/>
                      <a:pt x="1243" y="185"/>
                      <a:pt x="1242" y="186"/>
                    </a:cubicBezTo>
                    <a:cubicBezTo>
                      <a:pt x="1242" y="187"/>
                      <a:pt x="1242" y="187"/>
                      <a:pt x="1243" y="187"/>
                    </a:cubicBezTo>
                    <a:cubicBezTo>
                      <a:pt x="1244" y="187"/>
                      <a:pt x="1244" y="188"/>
                      <a:pt x="1243" y="189"/>
                    </a:cubicBezTo>
                    <a:cubicBezTo>
                      <a:pt x="1243" y="189"/>
                      <a:pt x="1243" y="190"/>
                      <a:pt x="1242" y="190"/>
                    </a:cubicBezTo>
                    <a:cubicBezTo>
                      <a:pt x="1241" y="189"/>
                      <a:pt x="1241" y="190"/>
                      <a:pt x="1240" y="191"/>
                    </a:cubicBezTo>
                    <a:cubicBezTo>
                      <a:pt x="1240" y="192"/>
                      <a:pt x="1240" y="192"/>
                      <a:pt x="1241" y="191"/>
                    </a:cubicBezTo>
                    <a:cubicBezTo>
                      <a:pt x="1242" y="191"/>
                      <a:pt x="1242" y="191"/>
                      <a:pt x="1243" y="192"/>
                    </a:cubicBezTo>
                    <a:cubicBezTo>
                      <a:pt x="1244" y="193"/>
                      <a:pt x="1244" y="193"/>
                      <a:pt x="1243" y="194"/>
                    </a:cubicBezTo>
                    <a:cubicBezTo>
                      <a:pt x="1242" y="194"/>
                      <a:pt x="1242" y="195"/>
                      <a:pt x="1243" y="196"/>
                    </a:cubicBezTo>
                    <a:cubicBezTo>
                      <a:pt x="1244" y="196"/>
                      <a:pt x="1246" y="197"/>
                      <a:pt x="1244" y="197"/>
                    </a:cubicBezTo>
                    <a:cubicBezTo>
                      <a:pt x="1242" y="197"/>
                      <a:pt x="1241" y="197"/>
                      <a:pt x="1241" y="198"/>
                    </a:cubicBezTo>
                    <a:cubicBezTo>
                      <a:pt x="1241" y="198"/>
                      <a:pt x="1242" y="198"/>
                      <a:pt x="1241" y="199"/>
                    </a:cubicBezTo>
                    <a:cubicBezTo>
                      <a:pt x="1240" y="199"/>
                      <a:pt x="1242" y="200"/>
                      <a:pt x="1243" y="201"/>
                    </a:cubicBezTo>
                    <a:cubicBezTo>
                      <a:pt x="1244" y="202"/>
                      <a:pt x="1245" y="203"/>
                      <a:pt x="1245" y="202"/>
                    </a:cubicBezTo>
                    <a:cubicBezTo>
                      <a:pt x="1245" y="201"/>
                      <a:pt x="1245" y="203"/>
                      <a:pt x="1246" y="202"/>
                    </a:cubicBezTo>
                    <a:cubicBezTo>
                      <a:pt x="1247" y="201"/>
                      <a:pt x="1248" y="201"/>
                      <a:pt x="1248" y="202"/>
                    </a:cubicBezTo>
                    <a:cubicBezTo>
                      <a:pt x="1247" y="203"/>
                      <a:pt x="1247" y="203"/>
                      <a:pt x="1247" y="204"/>
                    </a:cubicBezTo>
                    <a:cubicBezTo>
                      <a:pt x="1246" y="204"/>
                      <a:pt x="1246" y="205"/>
                      <a:pt x="1247" y="205"/>
                    </a:cubicBezTo>
                    <a:cubicBezTo>
                      <a:pt x="1249" y="205"/>
                      <a:pt x="1249" y="205"/>
                      <a:pt x="1248" y="206"/>
                    </a:cubicBezTo>
                    <a:cubicBezTo>
                      <a:pt x="1247" y="208"/>
                      <a:pt x="1247" y="208"/>
                      <a:pt x="1248" y="208"/>
                    </a:cubicBezTo>
                    <a:cubicBezTo>
                      <a:pt x="1249" y="208"/>
                      <a:pt x="1251" y="207"/>
                      <a:pt x="1250" y="209"/>
                    </a:cubicBezTo>
                    <a:cubicBezTo>
                      <a:pt x="1248" y="212"/>
                      <a:pt x="1247" y="215"/>
                      <a:pt x="1246" y="216"/>
                    </a:cubicBezTo>
                    <a:cubicBezTo>
                      <a:pt x="1246" y="217"/>
                      <a:pt x="1245" y="218"/>
                      <a:pt x="1246" y="220"/>
                    </a:cubicBezTo>
                    <a:cubicBezTo>
                      <a:pt x="1246" y="222"/>
                      <a:pt x="1246" y="222"/>
                      <a:pt x="1247" y="222"/>
                    </a:cubicBezTo>
                    <a:cubicBezTo>
                      <a:pt x="1247" y="222"/>
                      <a:pt x="1248" y="221"/>
                      <a:pt x="1248" y="219"/>
                    </a:cubicBezTo>
                    <a:cubicBezTo>
                      <a:pt x="1248" y="217"/>
                      <a:pt x="1248" y="217"/>
                      <a:pt x="1249" y="216"/>
                    </a:cubicBezTo>
                    <a:cubicBezTo>
                      <a:pt x="1251" y="216"/>
                      <a:pt x="1252" y="215"/>
                      <a:pt x="1252" y="214"/>
                    </a:cubicBezTo>
                    <a:cubicBezTo>
                      <a:pt x="1252" y="212"/>
                      <a:pt x="1254" y="208"/>
                      <a:pt x="1254" y="206"/>
                    </a:cubicBezTo>
                    <a:cubicBezTo>
                      <a:pt x="1255" y="205"/>
                      <a:pt x="1258" y="199"/>
                      <a:pt x="1258" y="200"/>
                    </a:cubicBezTo>
                    <a:cubicBezTo>
                      <a:pt x="1259" y="200"/>
                      <a:pt x="1259" y="200"/>
                      <a:pt x="1259" y="199"/>
                    </a:cubicBezTo>
                    <a:cubicBezTo>
                      <a:pt x="1259" y="197"/>
                      <a:pt x="1258" y="197"/>
                      <a:pt x="1258" y="197"/>
                    </a:cubicBezTo>
                    <a:cubicBezTo>
                      <a:pt x="1258" y="197"/>
                      <a:pt x="1258" y="197"/>
                      <a:pt x="1258" y="196"/>
                    </a:cubicBezTo>
                    <a:cubicBezTo>
                      <a:pt x="1259" y="195"/>
                      <a:pt x="1260" y="194"/>
                      <a:pt x="1258" y="193"/>
                    </a:cubicBezTo>
                    <a:cubicBezTo>
                      <a:pt x="1257" y="192"/>
                      <a:pt x="1255" y="191"/>
                      <a:pt x="1254" y="188"/>
                    </a:cubicBezTo>
                    <a:cubicBezTo>
                      <a:pt x="1253" y="185"/>
                      <a:pt x="1253" y="184"/>
                      <a:pt x="1252" y="183"/>
                    </a:cubicBezTo>
                    <a:cubicBezTo>
                      <a:pt x="1252" y="182"/>
                      <a:pt x="1251" y="179"/>
                      <a:pt x="1252" y="178"/>
                    </a:cubicBezTo>
                    <a:cubicBezTo>
                      <a:pt x="1252" y="177"/>
                      <a:pt x="1256" y="174"/>
                      <a:pt x="1254" y="176"/>
                    </a:cubicBezTo>
                    <a:cubicBezTo>
                      <a:pt x="1252" y="179"/>
                      <a:pt x="1252" y="180"/>
                      <a:pt x="1253" y="182"/>
                    </a:cubicBezTo>
                    <a:cubicBezTo>
                      <a:pt x="1255" y="184"/>
                      <a:pt x="1258" y="186"/>
                      <a:pt x="1259" y="186"/>
                    </a:cubicBezTo>
                    <a:cubicBezTo>
                      <a:pt x="1260" y="187"/>
                      <a:pt x="1262" y="186"/>
                      <a:pt x="1262" y="189"/>
                    </a:cubicBezTo>
                    <a:cubicBezTo>
                      <a:pt x="1261" y="191"/>
                      <a:pt x="1261" y="191"/>
                      <a:pt x="1263" y="190"/>
                    </a:cubicBezTo>
                    <a:cubicBezTo>
                      <a:pt x="1264" y="189"/>
                      <a:pt x="1264" y="188"/>
                      <a:pt x="1264" y="187"/>
                    </a:cubicBezTo>
                    <a:cubicBezTo>
                      <a:pt x="1265" y="187"/>
                      <a:pt x="1266" y="186"/>
                      <a:pt x="1266" y="185"/>
                    </a:cubicBezTo>
                    <a:cubicBezTo>
                      <a:pt x="1267" y="184"/>
                      <a:pt x="1267" y="184"/>
                      <a:pt x="1268" y="184"/>
                    </a:cubicBezTo>
                    <a:cubicBezTo>
                      <a:pt x="1268" y="184"/>
                      <a:pt x="1269" y="183"/>
                      <a:pt x="1269" y="183"/>
                    </a:cubicBezTo>
                    <a:cubicBezTo>
                      <a:pt x="1268" y="182"/>
                      <a:pt x="1269" y="182"/>
                      <a:pt x="1270" y="182"/>
                    </a:cubicBezTo>
                    <a:cubicBezTo>
                      <a:pt x="1271" y="181"/>
                      <a:pt x="1272" y="180"/>
                      <a:pt x="1272" y="178"/>
                    </a:cubicBezTo>
                    <a:cubicBezTo>
                      <a:pt x="1273" y="177"/>
                      <a:pt x="1272" y="176"/>
                      <a:pt x="1273" y="175"/>
                    </a:cubicBezTo>
                    <a:cubicBezTo>
                      <a:pt x="1274" y="174"/>
                      <a:pt x="1274" y="172"/>
                      <a:pt x="1275" y="171"/>
                    </a:cubicBezTo>
                    <a:cubicBezTo>
                      <a:pt x="1275" y="170"/>
                      <a:pt x="1275" y="168"/>
                      <a:pt x="1275" y="167"/>
                    </a:cubicBezTo>
                    <a:cubicBezTo>
                      <a:pt x="1276" y="167"/>
                      <a:pt x="1275" y="166"/>
                      <a:pt x="1274" y="165"/>
                    </a:cubicBezTo>
                    <a:cubicBezTo>
                      <a:pt x="1274" y="165"/>
                      <a:pt x="1270" y="165"/>
                      <a:pt x="1271" y="163"/>
                    </a:cubicBezTo>
                    <a:cubicBezTo>
                      <a:pt x="1273" y="161"/>
                      <a:pt x="1274" y="160"/>
                      <a:pt x="1274" y="159"/>
                    </a:cubicBezTo>
                    <a:cubicBezTo>
                      <a:pt x="1275" y="158"/>
                      <a:pt x="1276" y="158"/>
                      <a:pt x="1275" y="159"/>
                    </a:cubicBezTo>
                    <a:cubicBezTo>
                      <a:pt x="1274" y="161"/>
                      <a:pt x="1275" y="161"/>
                      <a:pt x="1278" y="161"/>
                    </a:cubicBezTo>
                    <a:cubicBezTo>
                      <a:pt x="1280" y="161"/>
                      <a:pt x="1286" y="160"/>
                      <a:pt x="1287" y="160"/>
                    </a:cubicBezTo>
                    <a:cubicBezTo>
                      <a:pt x="1288" y="160"/>
                      <a:pt x="1294" y="159"/>
                      <a:pt x="1295" y="158"/>
                    </a:cubicBezTo>
                    <a:cubicBezTo>
                      <a:pt x="1296" y="158"/>
                      <a:pt x="1297" y="157"/>
                      <a:pt x="1298" y="157"/>
                    </a:cubicBezTo>
                    <a:cubicBezTo>
                      <a:pt x="1298" y="158"/>
                      <a:pt x="1300" y="156"/>
                      <a:pt x="1301" y="156"/>
                    </a:cubicBezTo>
                    <a:cubicBezTo>
                      <a:pt x="1302" y="156"/>
                      <a:pt x="1309" y="153"/>
                      <a:pt x="1303" y="154"/>
                    </a:cubicBezTo>
                    <a:cubicBezTo>
                      <a:pt x="1298" y="155"/>
                      <a:pt x="1298" y="154"/>
                      <a:pt x="1300" y="153"/>
                    </a:cubicBezTo>
                    <a:cubicBezTo>
                      <a:pt x="1302" y="151"/>
                      <a:pt x="1299" y="152"/>
                      <a:pt x="1297" y="153"/>
                    </a:cubicBezTo>
                    <a:cubicBezTo>
                      <a:pt x="1295" y="154"/>
                      <a:pt x="1294" y="154"/>
                      <a:pt x="1293" y="155"/>
                    </a:cubicBezTo>
                    <a:cubicBezTo>
                      <a:pt x="1292" y="155"/>
                      <a:pt x="1289" y="156"/>
                      <a:pt x="1288" y="156"/>
                    </a:cubicBezTo>
                    <a:cubicBezTo>
                      <a:pt x="1287" y="156"/>
                      <a:pt x="1286" y="156"/>
                      <a:pt x="1285" y="156"/>
                    </a:cubicBezTo>
                    <a:cubicBezTo>
                      <a:pt x="1284" y="156"/>
                      <a:pt x="1282" y="156"/>
                      <a:pt x="1281" y="156"/>
                    </a:cubicBezTo>
                    <a:cubicBezTo>
                      <a:pt x="1281" y="156"/>
                      <a:pt x="1280" y="158"/>
                      <a:pt x="1280" y="157"/>
                    </a:cubicBezTo>
                    <a:cubicBezTo>
                      <a:pt x="1279" y="157"/>
                      <a:pt x="1279" y="158"/>
                      <a:pt x="1279" y="158"/>
                    </a:cubicBezTo>
                    <a:cubicBezTo>
                      <a:pt x="1278" y="159"/>
                      <a:pt x="1278" y="159"/>
                      <a:pt x="1277" y="159"/>
                    </a:cubicBezTo>
                    <a:cubicBezTo>
                      <a:pt x="1277" y="158"/>
                      <a:pt x="1275" y="159"/>
                      <a:pt x="1277" y="158"/>
                    </a:cubicBezTo>
                    <a:cubicBezTo>
                      <a:pt x="1278" y="157"/>
                      <a:pt x="1278" y="156"/>
                      <a:pt x="1279" y="156"/>
                    </a:cubicBezTo>
                    <a:cubicBezTo>
                      <a:pt x="1280" y="155"/>
                      <a:pt x="1282" y="154"/>
                      <a:pt x="1283" y="153"/>
                    </a:cubicBezTo>
                    <a:cubicBezTo>
                      <a:pt x="1285" y="153"/>
                      <a:pt x="1287" y="151"/>
                      <a:pt x="1289" y="150"/>
                    </a:cubicBezTo>
                    <a:cubicBezTo>
                      <a:pt x="1290" y="150"/>
                      <a:pt x="1292" y="150"/>
                      <a:pt x="1293" y="150"/>
                    </a:cubicBezTo>
                    <a:cubicBezTo>
                      <a:pt x="1293" y="150"/>
                      <a:pt x="1300" y="149"/>
                      <a:pt x="1302" y="149"/>
                    </a:cubicBezTo>
                    <a:cubicBezTo>
                      <a:pt x="1304" y="149"/>
                      <a:pt x="1313" y="149"/>
                      <a:pt x="1313" y="147"/>
                    </a:cubicBezTo>
                    <a:cubicBezTo>
                      <a:pt x="1313" y="144"/>
                      <a:pt x="1313" y="140"/>
                      <a:pt x="1315" y="141"/>
                    </a:cubicBezTo>
                    <a:cubicBezTo>
                      <a:pt x="1316" y="142"/>
                      <a:pt x="1316" y="142"/>
                      <a:pt x="1317" y="141"/>
                    </a:cubicBezTo>
                    <a:cubicBezTo>
                      <a:pt x="1318" y="141"/>
                      <a:pt x="1317" y="141"/>
                      <a:pt x="1317" y="143"/>
                    </a:cubicBezTo>
                    <a:cubicBezTo>
                      <a:pt x="1317" y="144"/>
                      <a:pt x="1317" y="146"/>
                      <a:pt x="1319" y="145"/>
                    </a:cubicBezTo>
                    <a:cubicBezTo>
                      <a:pt x="1320" y="144"/>
                      <a:pt x="1324" y="141"/>
                      <a:pt x="1325" y="142"/>
                    </a:cubicBezTo>
                    <a:cubicBezTo>
                      <a:pt x="1325" y="143"/>
                      <a:pt x="1328" y="143"/>
                      <a:pt x="1329" y="143"/>
                    </a:cubicBezTo>
                    <a:cubicBezTo>
                      <a:pt x="1330" y="143"/>
                      <a:pt x="1336" y="143"/>
                      <a:pt x="1335" y="140"/>
                    </a:cubicBezTo>
                    <a:cubicBezTo>
                      <a:pt x="1335" y="138"/>
                      <a:pt x="1334" y="136"/>
                      <a:pt x="1333" y="136"/>
                    </a:cubicBezTo>
                    <a:cubicBezTo>
                      <a:pt x="1331" y="135"/>
                      <a:pt x="1332" y="136"/>
                      <a:pt x="1333" y="137"/>
                    </a:cubicBezTo>
                    <a:cubicBezTo>
                      <a:pt x="1334" y="138"/>
                      <a:pt x="1335" y="140"/>
                      <a:pt x="1333" y="141"/>
                    </a:cubicBezTo>
                    <a:cubicBezTo>
                      <a:pt x="1331" y="142"/>
                      <a:pt x="1328" y="143"/>
                      <a:pt x="1326" y="140"/>
                    </a:cubicBezTo>
                    <a:cubicBezTo>
                      <a:pt x="1325" y="136"/>
                      <a:pt x="1324" y="132"/>
                      <a:pt x="1321" y="132"/>
                    </a:cubicBezTo>
                    <a:cubicBezTo>
                      <a:pt x="1319" y="132"/>
                      <a:pt x="1319" y="131"/>
                      <a:pt x="1320" y="130"/>
                    </a:cubicBezTo>
                    <a:cubicBezTo>
                      <a:pt x="1321" y="129"/>
                      <a:pt x="1322" y="127"/>
                      <a:pt x="1323" y="127"/>
                    </a:cubicBezTo>
                    <a:cubicBezTo>
                      <a:pt x="1324" y="127"/>
                      <a:pt x="1326" y="126"/>
                      <a:pt x="1325" y="125"/>
                    </a:cubicBezTo>
                    <a:cubicBezTo>
                      <a:pt x="1323" y="125"/>
                      <a:pt x="1323" y="126"/>
                      <a:pt x="1323" y="123"/>
                    </a:cubicBezTo>
                    <a:cubicBezTo>
                      <a:pt x="1323" y="120"/>
                      <a:pt x="1323" y="117"/>
                      <a:pt x="1326" y="115"/>
                    </a:cubicBezTo>
                    <a:cubicBezTo>
                      <a:pt x="1328" y="113"/>
                      <a:pt x="1331" y="110"/>
                      <a:pt x="1332" y="108"/>
                    </a:cubicBezTo>
                    <a:cubicBezTo>
                      <a:pt x="1332" y="106"/>
                      <a:pt x="1333" y="103"/>
                      <a:pt x="1335" y="103"/>
                    </a:cubicBezTo>
                    <a:cubicBezTo>
                      <a:pt x="1337" y="104"/>
                      <a:pt x="1337" y="105"/>
                      <a:pt x="1337" y="103"/>
                    </a:cubicBezTo>
                    <a:cubicBezTo>
                      <a:pt x="1338" y="100"/>
                      <a:pt x="1338" y="107"/>
                      <a:pt x="1339" y="103"/>
                    </a:cubicBezTo>
                    <a:cubicBezTo>
                      <a:pt x="1340" y="98"/>
                      <a:pt x="1339" y="106"/>
                      <a:pt x="1341" y="102"/>
                    </a:cubicBezTo>
                    <a:cubicBezTo>
                      <a:pt x="1341" y="102"/>
                      <a:pt x="1342" y="102"/>
                      <a:pt x="1343" y="101"/>
                    </a:cubicBezTo>
                    <a:cubicBezTo>
                      <a:pt x="1344" y="100"/>
                      <a:pt x="1343" y="100"/>
                      <a:pt x="1344" y="101"/>
                    </a:cubicBezTo>
                    <a:cubicBezTo>
                      <a:pt x="1345" y="102"/>
                      <a:pt x="1346" y="101"/>
                      <a:pt x="1347" y="101"/>
                    </a:cubicBezTo>
                    <a:cubicBezTo>
                      <a:pt x="1348" y="101"/>
                      <a:pt x="1348" y="100"/>
                      <a:pt x="1348" y="98"/>
                    </a:cubicBezTo>
                    <a:cubicBezTo>
                      <a:pt x="1349" y="97"/>
                      <a:pt x="1350" y="94"/>
                      <a:pt x="1351" y="93"/>
                    </a:cubicBezTo>
                    <a:cubicBezTo>
                      <a:pt x="1352" y="92"/>
                      <a:pt x="1354" y="89"/>
                      <a:pt x="1353" y="92"/>
                    </a:cubicBezTo>
                    <a:cubicBezTo>
                      <a:pt x="1351" y="94"/>
                      <a:pt x="1355" y="91"/>
                      <a:pt x="1352" y="94"/>
                    </a:cubicBezTo>
                    <a:cubicBezTo>
                      <a:pt x="1350" y="97"/>
                      <a:pt x="1353" y="94"/>
                      <a:pt x="1354" y="95"/>
                    </a:cubicBezTo>
                    <a:cubicBezTo>
                      <a:pt x="1355" y="96"/>
                      <a:pt x="1356" y="96"/>
                      <a:pt x="1356" y="94"/>
                    </a:cubicBezTo>
                    <a:cubicBezTo>
                      <a:pt x="1357" y="93"/>
                      <a:pt x="1358" y="91"/>
                      <a:pt x="1361" y="92"/>
                    </a:cubicBezTo>
                    <a:cubicBezTo>
                      <a:pt x="1363" y="92"/>
                      <a:pt x="1363" y="96"/>
                      <a:pt x="1364" y="94"/>
                    </a:cubicBezTo>
                    <a:cubicBezTo>
                      <a:pt x="1365" y="91"/>
                      <a:pt x="1365" y="92"/>
                      <a:pt x="1365" y="93"/>
                    </a:cubicBezTo>
                    <a:cubicBezTo>
                      <a:pt x="1365" y="93"/>
                      <a:pt x="1366" y="92"/>
                      <a:pt x="1367" y="91"/>
                    </a:cubicBezTo>
                    <a:cubicBezTo>
                      <a:pt x="1367" y="90"/>
                      <a:pt x="1368" y="90"/>
                      <a:pt x="1368" y="90"/>
                    </a:cubicBezTo>
                    <a:cubicBezTo>
                      <a:pt x="1369" y="90"/>
                      <a:pt x="1370" y="89"/>
                      <a:pt x="1372" y="89"/>
                    </a:cubicBezTo>
                    <a:cubicBezTo>
                      <a:pt x="1373" y="88"/>
                      <a:pt x="1374" y="88"/>
                      <a:pt x="1375" y="89"/>
                    </a:cubicBezTo>
                    <a:cubicBezTo>
                      <a:pt x="1375" y="89"/>
                      <a:pt x="1377" y="88"/>
                      <a:pt x="1377" y="88"/>
                    </a:cubicBezTo>
                    <a:cubicBezTo>
                      <a:pt x="1378" y="87"/>
                      <a:pt x="1380" y="86"/>
                      <a:pt x="1379" y="85"/>
                    </a:cubicBezTo>
                    <a:cubicBezTo>
                      <a:pt x="1379" y="85"/>
                      <a:pt x="1378" y="85"/>
                      <a:pt x="1378" y="85"/>
                    </a:cubicBezTo>
                    <a:cubicBezTo>
                      <a:pt x="1377" y="85"/>
                      <a:pt x="1376" y="85"/>
                      <a:pt x="1377" y="84"/>
                    </a:cubicBezTo>
                    <a:cubicBezTo>
                      <a:pt x="1378" y="83"/>
                      <a:pt x="1378" y="83"/>
                      <a:pt x="1378" y="82"/>
                    </a:cubicBezTo>
                    <a:cubicBezTo>
                      <a:pt x="1377" y="81"/>
                      <a:pt x="1377" y="81"/>
                      <a:pt x="1376" y="80"/>
                    </a:cubicBezTo>
                    <a:cubicBezTo>
                      <a:pt x="1375" y="79"/>
                      <a:pt x="1375" y="80"/>
                      <a:pt x="1374" y="80"/>
                    </a:cubicBezTo>
                    <a:cubicBezTo>
                      <a:pt x="1373" y="80"/>
                      <a:pt x="1372" y="79"/>
                      <a:pt x="1372" y="78"/>
                    </a:cubicBezTo>
                    <a:cubicBezTo>
                      <a:pt x="1372" y="77"/>
                      <a:pt x="1372" y="75"/>
                      <a:pt x="1372" y="74"/>
                    </a:cubicBezTo>
                    <a:cubicBezTo>
                      <a:pt x="1371" y="73"/>
                      <a:pt x="1373" y="73"/>
                      <a:pt x="1373" y="73"/>
                    </a:cubicBezTo>
                    <a:cubicBezTo>
                      <a:pt x="1373" y="72"/>
                      <a:pt x="1370" y="71"/>
                      <a:pt x="1369" y="71"/>
                    </a:cubicBezTo>
                    <a:cubicBezTo>
                      <a:pt x="1369" y="71"/>
                      <a:pt x="1368" y="71"/>
                      <a:pt x="1368" y="70"/>
                    </a:cubicBezTo>
                    <a:cubicBezTo>
                      <a:pt x="1367" y="70"/>
                      <a:pt x="1367" y="70"/>
                      <a:pt x="1367" y="69"/>
                    </a:cubicBezTo>
                    <a:cubicBezTo>
                      <a:pt x="1367" y="69"/>
                      <a:pt x="1367" y="66"/>
                      <a:pt x="1367" y="65"/>
                    </a:cubicBezTo>
                    <a:cubicBezTo>
                      <a:pt x="1367" y="64"/>
                      <a:pt x="1367" y="50"/>
                      <a:pt x="1367" y="47"/>
                    </a:cubicBezTo>
                    <a:cubicBezTo>
                      <a:pt x="1367" y="44"/>
                      <a:pt x="1363" y="41"/>
                      <a:pt x="1361" y="40"/>
                    </a:cubicBezTo>
                    <a:cubicBezTo>
                      <a:pt x="1359" y="39"/>
                      <a:pt x="1355" y="41"/>
                      <a:pt x="1353" y="42"/>
                    </a:cubicBezTo>
                    <a:cubicBezTo>
                      <a:pt x="1351" y="42"/>
                      <a:pt x="1350" y="41"/>
                      <a:pt x="1349" y="41"/>
                    </a:cubicBezTo>
                    <a:cubicBezTo>
                      <a:pt x="1348" y="41"/>
                      <a:pt x="1348" y="40"/>
                      <a:pt x="1348" y="40"/>
                    </a:cubicBezTo>
                    <a:cubicBezTo>
                      <a:pt x="1348" y="39"/>
                      <a:pt x="1348" y="37"/>
                      <a:pt x="1346" y="37"/>
                    </a:cubicBezTo>
                    <a:cubicBezTo>
                      <a:pt x="1345" y="37"/>
                      <a:pt x="1343" y="41"/>
                      <a:pt x="1342" y="43"/>
                    </a:cubicBezTo>
                    <a:cubicBezTo>
                      <a:pt x="1340" y="45"/>
                      <a:pt x="1331" y="61"/>
                      <a:pt x="1330" y="62"/>
                    </a:cubicBezTo>
                    <a:cubicBezTo>
                      <a:pt x="1330" y="63"/>
                      <a:pt x="1330" y="65"/>
                      <a:pt x="1330" y="65"/>
                    </a:cubicBezTo>
                    <a:cubicBezTo>
                      <a:pt x="1331" y="66"/>
                      <a:pt x="1330" y="67"/>
                      <a:pt x="1330" y="67"/>
                    </a:cubicBezTo>
                    <a:cubicBezTo>
                      <a:pt x="1330" y="67"/>
                      <a:pt x="1325" y="75"/>
                      <a:pt x="1324" y="77"/>
                    </a:cubicBezTo>
                    <a:cubicBezTo>
                      <a:pt x="1322" y="78"/>
                      <a:pt x="1320" y="78"/>
                      <a:pt x="1319" y="78"/>
                    </a:cubicBezTo>
                    <a:cubicBezTo>
                      <a:pt x="1318" y="77"/>
                      <a:pt x="1317" y="77"/>
                      <a:pt x="1317" y="77"/>
                    </a:cubicBezTo>
                    <a:cubicBezTo>
                      <a:pt x="1312" y="77"/>
                      <a:pt x="1312" y="83"/>
                      <a:pt x="1312" y="83"/>
                    </a:cubicBezTo>
                    <a:cubicBezTo>
                      <a:pt x="1312" y="83"/>
                      <a:pt x="1273" y="83"/>
                      <a:pt x="1266" y="83"/>
                    </a:cubicBezTo>
                    <a:cubicBezTo>
                      <a:pt x="1260" y="83"/>
                      <a:pt x="1257" y="85"/>
                      <a:pt x="1255" y="86"/>
                    </a:cubicBezTo>
                    <a:cubicBezTo>
                      <a:pt x="1254" y="87"/>
                      <a:pt x="1247" y="92"/>
                      <a:pt x="1247" y="92"/>
                    </a:cubicBezTo>
                    <a:cubicBezTo>
                      <a:pt x="1247" y="93"/>
                      <a:pt x="1247" y="93"/>
                      <a:pt x="1246" y="94"/>
                    </a:cubicBezTo>
                    <a:cubicBezTo>
                      <a:pt x="1243" y="97"/>
                      <a:pt x="1239" y="99"/>
                      <a:pt x="1241" y="100"/>
                    </a:cubicBezTo>
                    <a:cubicBezTo>
                      <a:pt x="1242" y="101"/>
                      <a:pt x="1243" y="99"/>
                      <a:pt x="1243" y="101"/>
                    </a:cubicBezTo>
                    <a:cubicBezTo>
                      <a:pt x="1243" y="103"/>
                      <a:pt x="1243" y="103"/>
                      <a:pt x="1242" y="103"/>
                    </a:cubicBezTo>
                    <a:cubicBezTo>
                      <a:pt x="1241" y="104"/>
                      <a:pt x="1241" y="104"/>
                      <a:pt x="1242" y="105"/>
                    </a:cubicBezTo>
                    <a:cubicBezTo>
                      <a:pt x="1242" y="106"/>
                      <a:pt x="1244" y="109"/>
                      <a:pt x="1242" y="109"/>
                    </a:cubicBezTo>
                    <a:cubicBezTo>
                      <a:pt x="1240" y="110"/>
                      <a:pt x="1239" y="109"/>
                      <a:pt x="1238" y="111"/>
                    </a:cubicBezTo>
                    <a:cubicBezTo>
                      <a:pt x="1236" y="113"/>
                      <a:pt x="1233" y="114"/>
                      <a:pt x="1232" y="115"/>
                    </a:cubicBezTo>
                    <a:cubicBezTo>
                      <a:pt x="1230" y="115"/>
                      <a:pt x="1225" y="114"/>
                      <a:pt x="1224" y="114"/>
                    </a:cubicBezTo>
                    <a:cubicBezTo>
                      <a:pt x="1223" y="114"/>
                      <a:pt x="1222" y="114"/>
                      <a:pt x="1220" y="113"/>
                    </a:cubicBezTo>
                    <a:cubicBezTo>
                      <a:pt x="1218" y="113"/>
                      <a:pt x="1215" y="111"/>
                      <a:pt x="1209" y="113"/>
                    </a:cubicBezTo>
                    <a:cubicBezTo>
                      <a:pt x="1206" y="113"/>
                      <a:pt x="1202" y="114"/>
                      <a:pt x="1200" y="114"/>
                    </a:cubicBezTo>
                    <a:cubicBezTo>
                      <a:pt x="1200" y="114"/>
                      <a:pt x="1200" y="115"/>
                      <a:pt x="1199" y="116"/>
                    </a:cubicBezTo>
                    <a:cubicBezTo>
                      <a:pt x="1199" y="117"/>
                      <a:pt x="1200" y="118"/>
                      <a:pt x="1200" y="118"/>
                    </a:cubicBezTo>
                    <a:cubicBezTo>
                      <a:pt x="1200" y="118"/>
                      <a:pt x="1200" y="118"/>
                      <a:pt x="1201" y="118"/>
                    </a:cubicBezTo>
                    <a:cubicBezTo>
                      <a:pt x="1202" y="118"/>
                      <a:pt x="1203" y="118"/>
                      <a:pt x="1202" y="119"/>
                    </a:cubicBezTo>
                    <a:cubicBezTo>
                      <a:pt x="1202" y="120"/>
                      <a:pt x="1202" y="120"/>
                      <a:pt x="1203" y="122"/>
                    </a:cubicBezTo>
                    <a:cubicBezTo>
                      <a:pt x="1203" y="125"/>
                      <a:pt x="1199" y="126"/>
                      <a:pt x="1196" y="128"/>
                    </a:cubicBezTo>
                    <a:cubicBezTo>
                      <a:pt x="1194" y="130"/>
                      <a:pt x="1184" y="136"/>
                      <a:pt x="1178" y="138"/>
                    </a:cubicBezTo>
                    <a:cubicBezTo>
                      <a:pt x="1172" y="140"/>
                      <a:pt x="1165" y="142"/>
                      <a:pt x="1163" y="144"/>
                    </a:cubicBezTo>
                    <a:cubicBezTo>
                      <a:pt x="1161" y="146"/>
                      <a:pt x="1158" y="147"/>
                      <a:pt x="1157" y="147"/>
                    </a:cubicBezTo>
                    <a:cubicBezTo>
                      <a:pt x="1155" y="147"/>
                      <a:pt x="1152" y="147"/>
                      <a:pt x="1150" y="148"/>
                    </a:cubicBezTo>
                    <a:cubicBezTo>
                      <a:pt x="1149" y="148"/>
                      <a:pt x="1147" y="149"/>
                      <a:pt x="1143" y="147"/>
                    </a:cubicBezTo>
                    <a:cubicBezTo>
                      <a:pt x="1139" y="146"/>
                      <a:pt x="1144" y="146"/>
                      <a:pt x="1145" y="146"/>
                    </a:cubicBezTo>
                    <a:cubicBezTo>
                      <a:pt x="1147" y="145"/>
                      <a:pt x="1140" y="143"/>
                      <a:pt x="1137" y="142"/>
                    </a:cubicBezTo>
                    <a:cubicBezTo>
                      <a:pt x="1133" y="141"/>
                      <a:pt x="1135" y="140"/>
                      <a:pt x="1135" y="140"/>
                    </a:cubicBezTo>
                    <a:cubicBezTo>
                      <a:pt x="1135" y="140"/>
                      <a:pt x="1144" y="126"/>
                      <a:pt x="1145" y="125"/>
                    </a:cubicBezTo>
                    <a:cubicBezTo>
                      <a:pt x="1146" y="124"/>
                      <a:pt x="1146" y="126"/>
                      <a:pt x="1146" y="127"/>
                    </a:cubicBezTo>
                    <a:cubicBezTo>
                      <a:pt x="1146" y="127"/>
                      <a:pt x="1146" y="128"/>
                      <a:pt x="1146" y="128"/>
                    </a:cubicBezTo>
                    <a:cubicBezTo>
                      <a:pt x="1147" y="127"/>
                      <a:pt x="1150" y="118"/>
                      <a:pt x="1150" y="118"/>
                    </a:cubicBezTo>
                    <a:cubicBezTo>
                      <a:pt x="1149" y="120"/>
                      <a:pt x="1147" y="109"/>
                      <a:pt x="1146" y="103"/>
                    </a:cubicBezTo>
                    <a:cubicBezTo>
                      <a:pt x="1144" y="96"/>
                      <a:pt x="1132" y="105"/>
                      <a:pt x="1130" y="107"/>
                    </a:cubicBezTo>
                    <a:cubicBezTo>
                      <a:pt x="1127" y="108"/>
                      <a:pt x="1127" y="106"/>
                      <a:pt x="1128" y="104"/>
                    </a:cubicBezTo>
                    <a:cubicBezTo>
                      <a:pt x="1128" y="101"/>
                      <a:pt x="1130" y="101"/>
                      <a:pt x="1131" y="100"/>
                    </a:cubicBezTo>
                    <a:cubicBezTo>
                      <a:pt x="1133" y="100"/>
                      <a:pt x="1133" y="99"/>
                      <a:pt x="1133" y="98"/>
                    </a:cubicBezTo>
                    <a:cubicBezTo>
                      <a:pt x="1133" y="97"/>
                      <a:pt x="1133" y="97"/>
                      <a:pt x="1135" y="96"/>
                    </a:cubicBezTo>
                    <a:cubicBezTo>
                      <a:pt x="1136" y="95"/>
                      <a:pt x="1136" y="95"/>
                      <a:pt x="1137" y="91"/>
                    </a:cubicBezTo>
                    <a:cubicBezTo>
                      <a:pt x="1137" y="88"/>
                      <a:pt x="1136" y="86"/>
                      <a:pt x="1135" y="84"/>
                    </a:cubicBezTo>
                    <a:cubicBezTo>
                      <a:pt x="1134" y="82"/>
                      <a:pt x="1135" y="82"/>
                      <a:pt x="1137" y="82"/>
                    </a:cubicBezTo>
                    <a:cubicBezTo>
                      <a:pt x="1138" y="82"/>
                      <a:pt x="1137" y="81"/>
                      <a:pt x="1135" y="78"/>
                    </a:cubicBezTo>
                    <a:cubicBezTo>
                      <a:pt x="1134" y="76"/>
                      <a:pt x="1133" y="76"/>
                      <a:pt x="1131" y="75"/>
                    </a:cubicBezTo>
                    <a:cubicBezTo>
                      <a:pt x="1129" y="75"/>
                      <a:pt x="1125" y="73"/>
                      <a:pt x="1124" y="72"/>
                    </a:cubicBezTo>
                    <a:cubicBezTo>
                      <a:pt x="1123" y="70"/>
                      <a:pt x="1121" y="71"/>
                      <a:pt x="1117" y="70"/>
                    </a:cubicBezTo>
                    <a:cubicBezTo>
                      <a:pt x="1114" y="68"/>
                      <a:pt x="1114" y="68"/>
                      <a:pt x="1112" y="69"/>
                    </a:cubicBezTo>
                    <a:cubicBezTo>
                      <a:pt x="1110" y="70"/>
                      <a:pt x="1111" y="74"/>
                      <a:pt x="1112" y="75"/>
                    </a:cubicBezTo>
                    <a:cubicBezTo>
                      <a:pt x="1113" y="76"/>
                      <a:pt x="1110" y="76"/>
                      <a:pt x="1108" y="77"/>
                    </a:cubicBezTo>
                    <a:cubicBezTo>
                      <a:pt x="1106" y="77"/>
                      <a:pt x="1106" y="80"/>
                      <a:pt x="1106" y="81"/>
                    </a:cubicBezTo>
                    <a:cubicBezTo>
                      <a:pt x="1106" y="83"/>
                      <a:pt x="1105" y="84"/>
                      <a:pt x="1104" y="83"/>
                    </a:cubicBezTo>
                    <a:cubicBezTo>
                      <a:pt x="1104" y="83"/>
                      <a:pt x="1103" y="84"/>
                      <a:pt x="1103" y="84"/>
                    </a:cubicBezTo>
                    <a:cubicBezTo>
                      <a:pt x="1102" y="88"/>
                      <a:pt x="1102" y="85"/>
                      <a:pt x="1102" y="85"/>
                    </a:cubicBezTo>
                    <a:cubicBezTo>
                      <a:pt x="1102" y="85"/>
                      <a:pt x="1102" y="84"/>
                      <a:pt x="1102" y="83"/>
                    </a:cubicBezTo>
                    <a:cubicBezTo>
                      <a:pt x="1103" y="82"/>
                      <a:pt x="1103" y="80"/>
                      <a:pt x="1102" y="79"/>
                    </a:cubicBezTo>
                    <a:cubicBezTo>
                      <a:pt x="1102" y="79"/>
                      <a:pt x="1101" y="81"/>
                      <a:pt x="1100" y="83"/>
                    </a:cubicBezTo>
                    <a:cubicBezTo>
                      <a:pt x="1099" y="85"/>
                      <a:pt x="1099" y="84"/>
                      <a:pt x="1098" y="83"/>
                    </a:cubicBezTo>
                    <a:cubicBezTo>
                      <a:pt x="1098" y="83"/>
                      <a:pt x="1098" y="84"/>
                      <a:pt x="1097" y="84"/>
                    </a:cubicBezTo>
                    <a:cubicBezTo>
                      <a:pt x="1096" y="84"/>
                      <a:pt x="1096" y="84"/>
                      <a:pt x="1095" y="85"/>
                    </a:cubicBezTo>
                    <a:cubicBezTo>
                      <a:pt x="1094" y="86"/>
                      <a:pt x="1095" y="87"/>
                      <a:pt x="1093" y="88"/>
                    </a:cubicBezTo>
                    <a:cubicBezTo>
                      <a:pt x="1092" y="90"/>
                      <a:pt x="1091" y="94"/>
                      <a:pt x="1090" y="95"/>
                    </a:cubicBezTo>
                    <a:cubicBezTo>
                      <a:pt x="1090" y="97"/>
                      <a:pt x="1090" y="100"/>
                      <a:pt x="1090" y="101"/>
                    </a:cubicBezTo>
                    <a:cubicBezTo>
                      <a:pt x="1090" y="103"/>
                      <a:pt x="1091" y="103"/>
                      <a:pt x="1090" y="106"/>
                    </a:cubicBezTo>
                    <a:cubicBezTo>
                      <a:pt x="1090" y="109"/>
                      <a:pt x="1090" y="111"/>
                      <a:pt x="1091" y="113"/>
                    </a:cubicBezTo>
                    <a:cubicBezTo>
                      <a:pt x="1092" y="115"/>
                      <a:pt x="1093" y="115"/>
                      <a:pt x="1093" y="116"/>
                    </a:cubicBezTo>
                    <a:cubicBezTo>
                      <a:pt x="1093" y="117"/>
                      <a:pt x="1094" y="119"/>
                      <a:pt x="1094" y="123"/>
                    </a:cubicBezTo>
                    <a:cubicBezTo>
                      <a:pt x="1094" y="128"/>
                      <a:pt x="1090" y="133"/>
                      <a:pt x="1088" y="137"/>
                    </a:cubicBezTo>
                    <a:cubicBezTo>
                      <a:pt x="1086" y="140"/>
                      <a:pt x="1084" y="141"/>
                      <a:pt x="1082" y="143"/>
                    </a:cubicBezTo>
                    <a:cubicBezTo>
                      <a:pt x="1079" y="145"/>
                      <a:pt x="1076" y="143"/>
                      <a:pt x="1074" y="142"/>
                    </a:cubicBezTo>
                    <a:cubicBezTo>
                      <a:pt x="1073" y="141"/>
                      <a:pt x="1070" y="132"/>
                      <a:pt x="1070" y="129"/>
                    </a:cubicBezTo>
                    <a:cubicBezTo>
                      <a:pt x="1070" y="126"/>
                      <a:pt x="1069" y="122"/>
                      <a:pt x="1069" y="120"/>
                    </a:cubicBezTo>
                    <a:cubicBezTo>
                      <a:pt x="1069" y="117"/>
                      <a:pt x="1069" y="113"/>
                      <a:pt x="1070" y="111"/>
                    </a:cubicBezTo>
                    <a:cubicBezTo>
                      <a:pt x="1070" y="109"/>
                      <a:pt x="1070" y="105"/>
                      <a:pt x="1071" y="103"/>
                    </a:cubicBezTo>
                    <a:cubicBezTo>
                      <a:pt x="1072" y="101"/>
                      <a:pt x="1073" y="97"/>
                      <a:pt x="1074" y="96"/>
                    </a:cubicBezTo>
                    <a:cubicBezTo>
                      <a:pt x="1074" y="95"/>
                      <a:pt x="1075" y="92"/>
                      <a:pt x="1075" y="91"/>
                    </a:cubicBezTo>
                    <a:cubicBezTo>
                      <a:pt x="1076" y="90"/>
                      <a:pt x="1077" y="87"/>
                      <a:pt x="1077" y="86"/>
                    </a:cubicBezTo>
                    <a:cubicBezTo>
                      <a:pt x="1077" y="86"/>
                      <a:pt x="1076" y="86"/>
                      <a:pt x="1078" y="85"/>
                    </a:cubicBezTo>
                    <a:cubicBezTo>
                      <a:pt x="1080" y="85"/>
                      <a:pt x="1081" y="81"/>
                      <a:pt x="1081" y="79"/>
                    </a:cubicBezTo>
                    <a:cubicBezTo>
                      <a:pt x="1081" y="76"/>
                      <a:pt x="1080" y="78"/>
                      <a:pt x="1080" y="79"/>
                    </a:cubicBezTo>
                    <a:cubicBezTo>
                      <a:pt x="1080" y="79"/>
                      <a:pt x="1079" y="80"/>
                      <a:pt x="1079" y="80"/>
                    </a:cubicBezTo>
                    <a:cubicBezTo>
                      <a:pt x="1078" y="80"/>
                      <a:pt x="1078" y="82"/>
                      <a:pt x="1077" y="82"/>
                    </a:cubicBezTo>
                    <a:cubicBezTo>
                      <a:pt x="1077" y="82"/>
                      <a:pt x="1076" y="83"/>
                      <a:pt x="1076" y="84"/>
                    </a:cubicBezTo>
                    <a:cubicBezTo>
                      <a:pt x="1076" y="85"/>
                      <a:pt x="1075" y="85"/>
                      <a:pt x="1075" y="85"/>
                    </a:cubicBezTo>
                    <a:cubicBezTo>
                      <a:pt x="1074" y="85"/>
                      <a:pt x="1074" y="86"/>
                      <a:pt x="1073" y="86"/>
                    </a:cubicBezTo>
                    <a:cubicBezTo>
                      <a:pt x="1071" y="87"/>
                      <a:pt x="1071" y="89"/>
                      <a:pt x="1070" y="90"/>
                    </a:cubicBezTo>
                    <a:cubicBezTo>
                      <a:pt x="1069" y="90"/>
                      <a:pt x="1069" y="90"/>
                      <a:pt x="1068" y="91"/>
                    </a:cubicBezTo>
                    <a:cubicBezTo>
                      <a:pt x="1067" y="92"/>
                      <a:pt x="1067" y="91"/>
                      <a:pt x="1067" y="91"/>
                    </a:cubicBezTo>
                    <a:cubicBezTo>
                      <a:pt x="1066" y="88"/>
                      <a:pt x="1069" y="85"/>
                      <a:pt x="1070" y="84"/>
                    </a:cubicBezTo>
                    <a:cubicBezTo>
                      <a:pt x="1071" y="83"/>
                      <a:pt x="1071" y="84"/>
                      <a:pt x="1072" y="83"/>
                    </a:cubicBezTo>
                    <a:cubicBezTo>
                      <a:pt x="1073" y="81"/>
                      <a:pt x="1075" y="78"/>
                      <a:pt x="1076" y="76"/>
                    </a:cubicBezTo>
                    <a:cubicBezTo>
                      <a:pt x="1077" y="74"/>
                      <a:pt x="1078" y="73"/>
                      <a:pt x="1079" y="72"/>
                    </a:cubicBezTo>
                    <a:cubicBezTo>
                      <a:pt x="1080" y="71"/>
                      <a:pt x="1080" y="71"/>
                      <a:pt x="1081" y="68"/>
                    </a:cubicBezTo>
                    <a:cubicBezTo>
                      <a:pt x="1083" y="65"/>
                      <a:pt x="1082" y="68"/>
                      <a:pt x="1082" y="69"/>
                    </a:cubicBezTo>
                    <a:cubicBezTo>
                      <a:pt x="1082" y="71"/>
                      <a:pt x="1083" y="70"/>
                      <a:pt x="1085" y="68"/>
                    </a:cubicBezTo>
                    <a:cubicBezTo>
                      <a:pt x="1086" y="67"/>
                      <a:pt x="1085" y="68"/>
                      <a:pt x="1087" y="67"/>
                    </a:cubicBezTo>
                    <a:cubicBezTo>
                      <a:pt x="1089" y="66"/>
                      <a:pt x="1089" y="67"/>
                      <a:pt x="1088" y="68"/>
                    </a:cubicBezTo>
                    <a:cubicBezTo>
                      <a:pt x="1088" y="68"/>
                      <a:pt x="1087" y="68"/>
                      <a:pt x="1086" y="70"/>
                    </a:cubicBezTo>
                    <a:cubicBezTo>
                      <a:pt x="1086" y="72"/>
                      <a:pt x="1088" y="71"/>
                      <a:pt x="1088" y="70"/>
                    </a:cubicBezTo>
                    <a:cubicBezTo>
                      <a:pt x="1088" y="70"/>
                      <a:pt x="1089" y="69"/>
                      <a:pt x="1090" y="69"/>
                    </a:cubicBezTo>
                    <a:cubicBezTo>
                      <a:pt x="1092" y="68"/>
                      <a:pt x="1092" y="68"/>
                      <a:pt x="1093" y="66"/>
                    </a:cubicBezTo>
                    <a:cubicBezTo>
                      <a:pt x="1094" y="65"/>
                      <a:pt x="1095" y="65"/>
                      <a:pt x="1097" y="65"/>
                    </a:cubicBezTo>
                    <a:cubicBezTo>
                      <a:pt x="1098" y="66"/>
                      <a:pt x="1099" y="65"/>
                      <a:pt x="1100" y="64"/>
                    </a:cubicBezTo>
                    <a:cubicBezTo>
                      <a:pt x="1101" y="64"/>
                      <a:pt x="1103" y="65"/>
                      <a:pt x="1103" y="63"/>
                    </a:cubicBezTo>
                    <a:cubicBezTo>
                      <a:pt x="1104" y="62"/>
                      <a:pt x="1107" y="63"/>
                      <a:pt x="1108" y="63"/>
                    </a:cubicBezTo>
                    <a:cubicBezTo>
                      <a:pt x="1110" y="63"/>
                      <a:pt x="1112" y="64"/>
                      <a:pt x="1114" y="66"/>
                    </a:cubicBezTo>
                    <a:cubicBezTo>
                      <a:pt x="1115" y="68"/>
                      <a:pt x="1116" y="67"/>
                      <a:pt x="1116" y="65"/>
                    </a:cubicBezTo>
                    <a:cubicBezTo>
                      <a:pt x="1116" y="63"/>
                      <a:pt x="1116" y="64"/>
                      <a:pt x="1118" y="64"/>
                    </a:cubicBezTo>
                    <a:cubicBezTo>
                      <a:pt x="1120" y="64"/>
                      <a:pt x="1125" y="65"/>
                      <a:pt x="1127" y="65"/>
                    </a:cubicBezTo>
                    <a:cubicBezTo>
                      <a:pt x="1130" y="65"/>
                      <a:pt x="1127" y="64"/>
                      <a:pt x="1127" y="63"/>
                    </a:cubicBezTo>
                    <a:cubicBezTo>
                      <a:pt x="1126" y="63"/>
                      <a:pt x="1125" y="62"/>
                      <a:pt x="1126" y="62"/>
                    </a:cubicBezTo>
                    <a:cubicBezTo>
                      <a:pt x="1126" y="62"/>
                      <a:pt x="1125" y="61"/>
                      <a:pt x="1124" y="61"/>
                    </a:cubicBezTo>
                    <a:cubicBezTo>
                      <a:pt x="1123" y="60"/>
                      <a:pt x="1123" y="60"/>
                      <a:pt x="1123" y="59"/>
                    </a:cubicBezTo>
                    <a:cubicBezTo>
                      <a:pt x="1124" y="57"/>
                      <a:pt x="1123" y="57"/>
                      <a:pt x="1122" y="56"/>
                    </a:cubicBezTo>
                    <a:cubicBezTo>
                      <a:pt x="1121" y="55"/>
                      <a:pt x="1122" y="55"/>
                      <a:pt x="1121" y="55"/>
                    </a:cubicBezTo>
                    <a:cubicBezTo>
                      <a:pt x="1121" y="55"/>
                      <a:pt x="1119" y="56"/>
                      <a:pt x="1119" y="56"/>
                    </a:cubicBezTo>
                    <a:cubicBezTo>
                      <a:pt x="1118" y="56"/>
                      <a:pt x="1116" y="54"/>
                      <a:pt x="1116" y="54"/>
                    </a:cubicBezTo>
                    <a:cubicBezTo>
                      <a:pt x="1115" y="54"/>
                      <a:pt x="1113" y="54"/>
                      <a:pt x="1113" y="54"/>
                    </a:cubicBezTo>
                    <a:cubicBezTo>
                      <a:pt x="1110" y="53"/>
                      <a:pt x="1111" y="52"/>
                      <a:pt x="1111" y="52"/>
                    </a:cubicBezTo>
                    <a:cubicBezTo>
                      <a:pt x="1113" y="50"/>
                      <a:pt x="1113" y="50"/>
                      <a:pt x="1111" y="50"/>
                    </a:cubicBezTo>
                    <a:cubicBezTo>
                      <a:pt x="1109" y="50"/>
                      <a:pt x="1092" y="53"/>
                      <a:pt x="1090" y="54"/>
                    </a:cubicBezTo>
                    <a:cubicBezTo>
                      <a:pt x="1088" y="56"/>
                      <a:pt x="1086" y="57"/>
                      <a:pt x="1085" y="56"/>
                    </a:cubicBezTo>
                    <a:cubicBezTo>
                      <a:pt x="1083" y="55"/>
                      <a:pt x="1082" y="54"/>
                      <a:pt x="1079" y="54"/>
                    </a:cubicBezTo>
                    <a:cubicBezTo>
                      <a:pt x="1077" y="54"/>
                      <a:pt x="1075" y="54"/>
                      <a:pt x="1075" y="52"/>
                    </a:cubicBezTo>
                    <a:cubicBezTo>
                      <a:pt x="1074" y="50"/>
                      <a:pt x="1070" y="48"/>
                      <a:pt x="1067" y="47"/>
                    </a:cubicBezTo>
                    <a:cubicBezTo>
                      <a:pt x="1064" y="47"/>
                      <a:pt x="1063" y="47"/>
                      <a:pt x="1061" y="49"/>
                    </a:cubicBezTo>
                    <a:cubicBezTo>
                      <a:pt x="1060" y="51"/>
                      <a:pt x="1060" y="49"/>
                      <a:pt x="1060" y="48"/>
                    </a:cubicBezTo>
                    <a:cubicBezTo>
                      <a:pt x="1061" y="47"/>
                      <a:pt x="1060" y="46"/>
                      <a:pt x="1062" y="45"/>
                    </a:cubicBezTo>
                    <a:cubicBezTo>
                      <a:pt x="1063" y="44"/>
                      <a:pt x="1067" y="39"/>
                      <a:pt x="1068" y="39"/>
                    </a:cubicBezTo>
                    <a:cubicBezTo>
                      <a:pt x="1069" y="38"/>
                      <a:pt x="1068" y="38"/>
                      <a:pt x="1069" y="38"/>
                    </a:cubicBezTo>
                    <a:cubicBezTo>
                      <a:pt x="1071" y="38"/>
                      <a:pt x="1072" y="38"/>
                      <a:pt x="1069" y="37"/>
                    </a:cubicBezTo>
                    <a:cubicBezTo>
                      <a:pt x="1067" y="36"/>
                      <a:pt x="1062" y="37"/>
                      <a:pt x="1061" y="38"/>
                    </a:cubicBezTo>
                    <a:cubicBezTo>
                      <a:pt x="1060" y="39"/>
                      <a:pt x="1057" y="42"/>
                      <a:pt x="1058" y="42"/>
                    </a:cubicBezTo>
                    <a:cubicBezTo>
                      <a:pt x="1060" y="43"/>
                      <a:pt x="1061" y="44"/>
                      <a:pt x="1060" y="44"/>
                    </a:cubicBezTo>
                    <a:cubicBezTo>
                      <a:pt x="1059" y="44"/>
                      <a:pt x="1057" y="41"/>
                      <a:pt x="1057" y="42"/>
                    </a:cubicBezTo>
                    <a:cubicBezTo>
                      <a:pt x="1056" y="42"/>
                      <a:pt x="1033" y="53"/>
                      <a:pt x="1033" y="53"/>
                    </a:cubicBezTo>
                    <a:cubicBezTo>
                      <a:pt x="1033" y="53"/>
                      <a:pt x="1031" y="54"/>
                      <a:pt x="1030" y="53"/>
                    </a:cubicBezTo>
                    <a:cubicBezTo>
                      <a:pt x="1029" y="53"/>
                      <a:pt x="1024" y="51"/>
                      <a:pt x="1025" y="50"/>
                    </a:cubicBezTo>
                    <a:cubicBezTo>
                      <a:pt x="1026" y="48"/>
                      <a:pt x="1027" y="45"/>
                      <a:pt x="1023" y="47"/>
                    </a:cubicBezTo>
                    <a:cubicBezTo>
                      <a:pt x="1019" y="48"/>
                      <a:pt x="1013" y="52"/>
                      <a:pt x="1008" y="51"/>
                    </a:cubicBezTo>
                    <a:cubicBezTo>
                      <a:pt x="1008" y="51"/>
                      <a:pt x="1005" y="51"/>
                      <a:pt x="1007" y="49"/>
                    </a:cubicBezTo>
                    <a:cubicBezTo>
                      <a:pt x="1009" y="47"/>
                      <a:pt x="1021" y="38"/>
                      <a:pt x="1023" y="36"/>
                    </a:cubicBezTo>
                    <a:cubicBezTo>
                      <a:pt x="1024" y="35"/>
                      <a:pt x="1029" y="33"/>
                      <a:pt x="1032" y="32"/>
                    </a:cubicBezTo>
                    <a:cubicBezTo>
                      <a:pt x="1035" y="31"/>
                      <a:pt x="1043" y="28"/>
                      <a:pt x="1045" y="27"/>
                    </a:cubicBezTo>
                    <a:cubicBezTo>
                      <a:pt x="1045" y="27"/>
                      <a:pt x="1039" y="27"/>
                      <a:pt x="1035" y="26"/>
                    </a:cubicBezTo>
                    <a:cubicBezTo>
                      <a:pt x="1032" y="26"/>
                      <a:pt x="1027" y="25"/>
                      <a:pt x="1027" y="25"/>
                    </a:cubicBezTo>
                    <a:cubicBezTo>
                      <a:pt x="1026" y="25"/>
                      <a:pt x="1026" y="26"/>
                      <a:pt x="1025" y="24"/>
                    </a:cubicBezTo>
                    <a:cubicBezTo>
                      <a:pt x="1024" y="21"/>
                      <a:pt x="1020" y="24"/>
                      <a:pt x="1020" y="24"/>
                    </a:cubicBezTo>
                    <a:cubicBezTo>
                      <a:pt x="1015" y="28"/>
                      <a:pt x="1012" y="24"/>
                      <a:pt x="1010" y="23"/>
                    </a:cubicBezTo>
                    <a:cubicBezTo>
                      <a:pt x="1008" y="21"/>
                      <a:pt x="1006" y="20"/>
                      <a:pt x="1005" y="20"/>
                    </a:cubicBezTo>
                    <a:cubicBezTo>
                      <a:pt x="1005" y="20"/>
                      <a:pt x="1004" y="21"/>
                      <a:pt x="1003" y="21"/>
                    </a:cubicBezTo>
                    <a:cubicBezTo>
                      <a:pt x="1003" y="22"/>
                      <a:pt x="1003" y="22"/>
                      <a:pt x="1003" y="22"/>
                    </a:cubicBezTo>
                    <a:cubicBezTo>
                      <a:pt x="1002" y="23"/>
                      <a:pt x="1002" y="22"/>
                      <a:pt x="1001" y="21"/>
                    </a:cubicBezTo>
                    <a:cubicBezTo>
                      <a:pt x="1001" y="19"/>
                      <a:pt x="1000" y="18"/>
                      <a:pt x="999" y="18"/>
                    </a:cubicBezTo>
                    <a:cubicBezTo>
                      <a:pt x="998" y="18"/>
                      <a:pt x="998" y="17"/>
                      <a:pt x="997" y="16"/>
                    </a:cubicBezTo>
                    <a:cubicBezTo>
                      <a:pt x="996" y="16"/>
                      <a:pt x="990" y="15"/>
                      <a:pt x="989" y="15"/>
                    </a:cubicBezTo>
                    <a:cubicBezTo>
                      <a:pt x="987" y="15"/>
                      <a:pt x="986" y="16"/>
                      <a:pt x="983" y="17"/>
                    </a:cubicBezTo>
                    <a:cubicBezTo>
                      <a:pt x="980" y="18"/>
                      <a:pt x="975" y="15"/>
                      <a:pt x="974" y="14"/>
                    </a:cubicBezTo>
                    <a:cubicBezTo>
                      <a:pt x="973" y="13"/>
                      <a:pt x="973" y="13"/>
                      <a:pt x="972" y="14"/>
                    </a:cubicBezTo>
                    <a:cubicBezTo>
                      <a:pt x="971" y="14"/>
                      <a:pt x="970" y="14"/>
                      <a:pt x="969" y="13"/>
                    </a:cubicBezTo>
                    <a:cubicBezTo>
                      <a:pt x="968" y="12"/>
                      <a:pt x="966" y="7"/>
                      <a:pt x="966" y="4"/>
                    </a:cubicBezTo>
                    <a:cubicBezTo>
                      <a:pt x="966" y="2"/>
                      <a:pt x="963" y="1"/>
                      <a:pt x="961" y="1"/>
                    </a:cubicBezTo>
                    <a:cubicBezTo>
                      <a:pt x="960" y="0"/>
                      <a:pt x="961" y="1"/>
                      <a:pt x="961" y="1"/>
                    </a:cubicBezTo>
                    <a:cubicBezTo>
                      <a:pt x="961" y="1"/>
                      <a:pt x="961" y="6"/>
                      <a:pt x="961" y="7"/>
                    </a:cubicBezTo>
                    <a:cubicBezTo>
                      <a:pt x="961" y="8"/>
                      <a:pt x="960" y="8"/>
                      <a:pt x="960" y="8"/>
                    </a:cubicBezTo>
                    <a:cubicBezTo>
                      <a:pt x="552" y="8"/>
                      <a:pt x="552" y="8"/>
                      <a:pt x="552" y="8"/>
                    </a:cubicBezTo>
                    <a:cubicBezTo>
                      <a:pt x="546" y="8"/>
                      <a:pt x="546" y="8"/>
                      <a:pt x="546" y="8"/>
                    </a:cubicBezTo>
                    <a:cubicBezTo>
                      <a:pt x="546" y="9"/>
                      <a:pt x="547" y="8"/>
                      <a:pt x="548" y="8"/>
                    </a:cubicBezTo>
                    <a:cubicBezTo>
                      <a:pt x="548" y="8"/>
                      <a:pt x="552" y="8"/>
                      <a:pt x="551" y="9"/>
                    </a:cubicBezTo>
                    <a:cubicBezTo>
                      <a:pt x="551" y="9"/>
                      <a:pt x="552" y="11"/>
                      <a:pt x="552" y="12"/>
                    </a:cubicBezTo>
                    <a:cubicBezTo>
                      <a:pt x="553" y="12"/>
                      <a:pt x="553" y="13"/>
                      <a:pt x="554" y="13"/>
                    </a:cubicBezTo>
                    <a:cubicBezTo>
                      <a:pt x="555" y="13"/>
                      <a:pt x="555" y="13"/>
                      <a:pt x="555" y="14"/>
                    </a:cubicBezTo>
                    <a:cubicBezTo>
                      <a:pt x="555" y="14"/>
                      <a:pt x="556" y="15"/>
                      <a:pt x="556" y="16"/>
                    </a:cubicBezTo>
                    <a:cubicBezTo>
                      <a:pt x="555" y="17"/>
                      <a:pt x="555" y="17"/>
                      <a:pt x="555" y="18"/>
                    </a:cubicBezTo>
                    <a:cubicBezTo>
                      <a:pt x="555" y="18"/>
                      <a:pt x="555" y="19"/>
                      <a:pt x="554" y="19"/>
                    </a:cubicBezTo>
                    <a:cubicBezTo>
                      <a:pt x="553" y="19"/>
                      <a:pt x="554" y="20"/>
                      <a:pt x="555" y="20"/>
                    </a:cubicBezTo>
                    <a:cubicBezTo>
                      <a:pt x="555" y="20"/>
                      <a:pt x="557" y="21"/>
                      <a:pt x="557" y="24"/>
                    </a:cubicBezTo>
                    <a:cubicBezTo>
                      <a:pt x="557" y="26"/>
                      <a:pt x="558" y="26"/>
                      <a:pt x="558" y="26"/>
                    </a:cubicBezTo>
                    <a:cubicBezTo>
                      <a:pt x="559" y="27"/>
                      <a:pt x="559" y="27"/>
                      <a:pt x="558" y="28"/>
                    </a:cubicBezTo>
                    <a:cubicBezTo>
                      <a:pt x="557" y="28"/>
                      <a:pt x="558" y="28"/>
                      <a:pt x="558" y="29"/>
                    </a:cubicBezTo>
                    <a:cubicBezTo>
                      <a:pt x="557" y="29"/>
                      <a:pt x="557" y="30"/>
                      <a:pt x="557" y="30"/>
                    </a:cubicBezTo>
                    <a:cubicBezTo>
                      <a:pt x="556" y="30"/>
                      <a:pt x="557" y="31"/>
                      <a:pt x="557" y="31"/>
                    </a:cubicBezTo>
                    <a:cubicBezTo>
                      <a:pt x="557" y="32"/>
                      <a:pt x="557" y="32"/>
                      <a:pt x="557" y="32"/>
                    </a:cubicBezTo>
                    <a:cubicBezTo>
                      <a:pt x="557" y="33"/>
                      <a:pt x="556" y="33"/>
                      <a:pt x="557" y="34"/>
                    </a:cubicBezTo>
                    <a:cubicBezTo>
                      <a:pt x="557" y="35"/>
                      <a:pt x="557" y="35"/>
                      <a:pt x="557" y="35"/>
                    </a:cubicBezTo>
                    <a:cubicBezTo>
                      <a:pt x="557" y="36"/>
                      <a:pt x="556" y="36"/>
                      <a:pt x="557" y="37"/>
                    </a:cubicBezTo>
                    <a:cubicBezTo>
                      <a:pt x="558" y="38"/>
                      <a:pt x="557" y="39"/>
                      <a:pt x="557" y="39"/>
                    </a:cubicBezTo>
                    <a:cubicBezTo>
                      <a:pt x="557" y="39"/>
                      <a:pt x="553" y="43"/>
                      <a:pt x="552" y="43"/>
                    </a:cubicBezTo>
                    <a:cubicBezTo>
                      <a:pt x="550" y="44"/>
                      <a:pt x="549" y="44"/>
                      <a:pt x="549" y="44"/>
                    </a:cubicBezTo>
                    <a:cubicBezTo>
                      <a:pt x="549" y="44"/>
                      <a:pt x="548" y="44"/>
                      <a:pt x="548" y="43"/>
                    </a:cubicBezTo>
                    <a:cubicBezTo>
                      <a:pt x="548" y="43"/>
                      <a:pt x="548" y="42"/>
                      <a:pt x="548" y="43"/>
                    </a:cubicBezTo>
                    <a:cubicBezTo>
                      <a:pt x="547" y="43"/>
                      <a:pt x="547" y="43"/>
                      <a:pt x="548" y="42"/>
                    </a:cubicBezTo>
                    <a:cubicBezTo>
                      <a:pt x="549" y="41"/>
                      <a:pt x="548" y="41"/>
                      <a:pt x="549" y="40"/>
                    </a:cubicBezTo>
                    <a:cubicBezTo>
                      <a:pt x="550" y="39"/>
                      <a:pt x="550" y="39"/>
                      <a:pt x="550" y="40"/>
                    </a:cubicBezTo>
                    <a:cubicBezTo>
                      <a:pt x="551" y="41"/>
                      <a:pt x="550" y="42"/>
                      <a:pt x="551" y="40"/>
                    </a:cubicBezTo>
                    <a:cubicBezTo>
                      <a:pt x="552" y="39"/>
                      <a:pt x="553" y="37"/>
                      <a:pt x="553" y="38"/>
                    </a:cubicBezTo>
                    <a:cubicBezTo>
                      <a:pt x="552" y="40"/>
                      <a:pt x="552" y="40"/>
                      <a:pt x="554" y="39"/>
                    </a:cubicBezTo>
                    <a:cubicBezTo>
                      <a:pt x="555" y="38"/>
                      <a:pt x="555" y="35"/>
                      <a:pt x="553" y="33"/>
                    </a:cubicBezTo>
                    <a:cubicBezTo>
                      <a:pt x="552" y="31"/>
                      <a:pt x="553" y="32"/>
                      <a:pt x="554" y="32"/>
                    </a:cubicBezTo>
                    <a:cubicBezTo>
                      <a:pt x="556" y="32"/>
                      <a:pt x="555" y="31"/>
                      <a:pt x="555" y="30"/>
                    </a:cubicBezTo>
                    <a:cubicBezTo>
                      <a:pt x="555" y="29"/>
                      <a:pt x="555" y="28"/>
                      <a:pt x="554" y="30"/>
                    </a:cubicBezTo>
                    <a:cubicBezTo>
                      <a:pt x="552" y="31"/>
                      <a:pt x="551" y="32"/>
                      <a:pt x="550" y="33"/>
                    </a:cubicBezTo>
                    <a:cubicBezTo>
                      <a:pt x="549" y="33"/>
                      <a:pt x="548" y="35"/>
                      <a:pt x="547" y="35"/>
                    </a:cubicBezTo>
                    <a:cubicBezTo>
                      <a:pt x="547" y="36"/>
                      <a:pt x="545" y="38"/>
                      <a:pt x="547" y="38"/>
                    </a:cubicBezTo>
                    <a:cubicBezTo>
                      <a:pt x="548" y="38"/>
                      <a:pt x="550" y="38"/>
                      <a:pt x="548" y="38"/>
                    </a:cubicBezTo>
                    <a:cubicBezTo>
                      <a:pt x="546" y="39"/>
                      <a:pt x="545" y="39"/>
                      <a:pt x="546" y="37"/>
                    </a:cubicBezTo>
                    <a:cubicBezTo>
                      <a:pt x="547" y="35"/>
                      <a:pt x="548" y="34"/>
                      <a:pt x="549" y="33"/>
                    </a:cubicBezTo>
                    <a:cubicBezTo>
                      <a:pt x="549" y="32"/>
                      <a:pt x="549" y="31"/>
                      <a:pt x="550" y="30"/>
                    </a:cubicBezTo>
                    <a:cubicBezTo>
                      <a:pt x="551" y="29"/>
                      <a:pt x="550" y="30"/>
                      <a:pt x="550" y="31"/>
                    </a:cubicBezTo>
                    <a:cubicBezTo>
                      <a:pt x="550" y="33"/>
                      <a:pt x="550" y="32"/>
                      <a:pt x="552" y="31"/>
                    </a:cubicBezTo>
                    <a:cubicBezTo>
                      <a:pt x="553" y="29"/>
                      <a:pt x="553" y="29"/>
                      <a:pt x="553" y="28"/>
                    </a:cubicBezTo>
                    <a:cubicBezTo>
                      <a:pt x="552" y="27"/>
                      <a:pt x="551" y="26"/>
                      <a:pt x="551" y="25"/>
                    </a:cubicBezTo>
                    <a:cubicBezTo>
                      <a:pt x="551" y="25"/>
                      <a:pt x="551" y="24"/>
                      <a:pt x="550" y="26"/>
                    </a:cubicBezTo>
                    <a:cubicBezTo>
                      <a:pt x="550" y="27"/>
                      <a:pt x="550" y="28"/>
                      <a:pt x="549" y="26"/>
                    </a:cubicBezTo>
                    <a:cubicBezTo>
                      <a:pt x="547" y="25"/>
                      <a:pt x="546" y="23"/>
                      <a:pt x="544" y="24"/>
                    </a:cubicBezTo>
                    <a:cubicBezTo>
                      <a:pt x="543" y="24"/>
                      <a:pt x="534" y="24"/>
                      <a:pt x="530" y="22"/>
                    </a:cubicBezTo>
                    <a:cubicBezTo>
                      <a:pt x="526" y="20"/>
                      <a:pt x="522" y="18"/>
                      <a:pt x="522" y="20"/>
                    </a:cubicBezTo>
                    <a:cubicBezTo>
                      <a:pt x="522" y="22"/>
                      <a:pt x="522" y="28"/>
                      <a:pt x="524" y="30"/>
                    </a:cubicBezTo>
                    <a:cubicBezTo>
                      <a:pt x="526" y="33"/>
                      <a:pt x="528" y="36"/>
                      <a:pt x="528" y="38"/>
                    </a:cubicBezTo>
                    <a:cubicBezTo>
                      <a:pt x="528" y="39"/>
                      <a:pt x="530" y="43"/>
                      <a:pt x="530" y="44"/>
                    </a:cubicBezTo>
                    <a:cubicBezTo>
                      <a:pt x="531" y="45"/>
                      <a:pt x="530" y="46"/>
                      <a:pt x="530" y="46"/>
                    </a:cubicBezTo>
                    <a:cubicBezTo>
                      <a:pt x="530" y="47"/>
                      <a:pt x="530" y="46"/>
                      <a:pt x="531" y="46"/>
                    </a:cubicBezTo>
                    <a:cubicBezTo>
                      <a:pt x="532" y="45"/>
                      <a:pt x="531" y="45"/>
                      <a:pt x="533" y="45"/>
                    </a:cubicBezTo>
                    <a:cubicBezTo>
                      <a:pt x="534" y="46"/>
                      <a:pt x="537" y="46"/>
                      <a:pt x="534" y="47"/>
                    </a:cubicBezTo>
                    <a:cubicBezTo>
                      <a:pt x="532" y="48"/>
                      <a:pt x="532" y="48"/>
                      <a:pt x="532" y="48"/>
                    </a:cubicBezTo>
                    <a:cubicBezTo>
                      <a:pt x="532" y="49"/>
                      <a:pt x="532" y="49"/>
                      <a:pt x="531" y="48"/>
                    </a:cubicBezTo>
                    <a:cubicBezTo>
                      <a:pt x="531" y="48"/>
                      <a:pt x="531" y="48"/>
                      <a:pt x="531" y="49"/>
                    </a:cubicBezTo>
                    <a:cubicBezTo>
                      <a:pt x="531" y="50"/>
                      <a:pt x="532" y="51"/>
                      <a:pt x="533" y="50"/>
                    </a:cubicBezTo>
                    <a:cubicBezTo>
                      <a:pt x="534" y="50"/>
                      <a:pt x="536" y="51"/>
                      <a:pt x="534" y="51"/>
                    </a:cubicBezTo>
                    <a:cubicBezTo>
                      <a:pt x="533" y="52"/>
                      <a:pt x="534" y="52"/>
                      <a:pt x="534" y="53"/>
                    </a:cubicBezTo>
                    <a:cubicBezTo>
                      <a:pt x="534" y="53"/>
                      <a:pt x="535" y="54"/>
                      <a:pt x="534" y="55"/>
                    </a:cubicBezTo>
                    <a:cubicBezTo>
                      <a:pt x="534" y="56"/>
                      <a:pt x="533" y="59"/>
                      <a:pt x="533" y="56"/>
                    </a:cubicBezTo>
                    <a:cubicBezTo>
                      <a:pt x="533" y="53"/>
                      <a:pt x="532" y="52"/>
                      <a:pt x="532" y="54"/>
                    </a:cubicBezTo>
                    <a:cubicBezTo>
                      <a:pt x="531" y="57"/>
                      <a:pt x="532" y="57"/>
                      <a:pt x="532" y="58"/>
                    </a:cubicBezTo>
                    <a:cubicBezTo>
                      <a:pt x="532" y="59"/>
                      <a:pt x="532" y="59"/>
                      <a:pt x="533" y="59"/>
                    </a:cubicBezTo>
                    <a:cubicBezTo>
                      <a:pt x="533" y="59"/>
                      <a:pt x="543" y="61"/>
                      <a:pt x="543" y="61"/>
                    </a:cubicBezTo>
                    <a:cubicBezTo>
                      <a:pt x="543" y="61"/>
                      <a:pt x="546" y="61"/>
                      <a:pt x="543" y="61"/>
                    </a:cubicBezTo>
                    <a:cubicBezTo>
                      <a:pt x="539" y="62"/>
                      <a:pt x="536" y="62"/>
                      <a:pt x="535" y="61"/>
                    </a:cubicBezTo>
                    <a:cubicBezTo>
                      <a:pt x="533" y="60"/>
                      <a:pt x="532" y="59"/>
                      <a:pt x="533" y="62"/>
                    </a:cubicBezTo>
                    <a:cubicBezTo>
                      <a:pt x="534" y="64"/>
                      <a:pt x="533" y="66"/>
                      <a:pt x="533" y="67"/>
                    </a:cubicBezTo>
                    <a:cubicBezTo>
                      <a:pt x="533" y="68"/>
                      <a:pt x="533" y="69"/>
                      <a:pt x="534" y="70"/>
                    </a:cubicBezTo>
                    <a:cubicBezTo>
                      <a:pt x="534" y="71"/>
                      <a:pt x="533" y="72"/>
                      <a:pt x="533" y="73"/>
                    </a:cubicBezTo>
                    <a:cubicBezTo>
                      <a:pt x="533" y="75"/>
                      <a:pt x="533" y="75"/>
                      <a:pt x="533" y="77"/>
                    </a:cubicBezTo>
                    <a:cubicBezTo>
                      <a:pt x="533" y="79"/>
                      <a:pt x="533" y="81"/>
                      <a:pt x="533" y="82"/>
                    </a:cubicBezTo>
                    <a:cubicBezTo>
                      <a:pt x="532" y="84"/>
                      <a:pt x="531" y="88"/>
                      <a:pt x="531" y="89"/>
                    </a:cubicBezTo>
                    <a:cubicBezTo>
                      <a:pt x="532" y="91"/>
                      <a:pt x="531" y="103"/>
                      <a:pt x="530" y="104"/>
                    </a:cubicBezTo>
                    <a:cubicBezTo>
                      <a:pt x="530" y="106"/>
                      <a:pt x="529" y="109"/>
                      <a:pt x="529" y="110"/>
                    </a:cubicBezTo>
                    <a:cubicBezTo>
                      <a:pt x="528" y="111"/>
                      <a:pt x="528" y="113"/>
                      <a:pt x="529" y="112"/>
                    </a:cubicBezTo>
                    <a:cubicBezTo>
                      <a:pt x="530" y="110"/>
                      <a:pt x="531" y="112"/>
                      <a:pt x="530" y="112"/>
                    </a:cubicBezTo>
                    <a:cubicBezTo>
                      <a:pt x="529" y="113"/>
                      <a:pt x="527" y="117"/>
                      <a:pt x="526" y="117"/>
                    </a:cubicBezTo>
                    <a:cubicBezTo>
                      <a:pt x="526" y="118"/>
                      <a:pt x="524" y="122"/>
                      <a:pt x="525" y="123"/>
                    </a:cubicBezTo>
                    <a:cubicBezTo>
                      <a:pt x="526" y="125"/>
                      <a:pt x="527" y="126"/>
                      <a:pt x="527" y="127"/>
                    </a:cubicBezTo>
                    <a:cubicBezTo>
                      <a:pt x="526" y="129"/>
                      <a:pt x="526" y="135"/>
                      <a:pt x="529" y="136"/>
                    </a:cubicBezTo>
                    <a:cubicBezTo>
                      <a:pt x="531" y="138"/>
                      <a:pt x="530" y="138"/>
                      <a:pt x="530" y="139"/>
                    </a:cubicBezTo>
                    <a:cubicBezTo>
                      <a:pt x="530" y="141"/>
                      <a:pt x="530" y="153"/>
                      <a:pt x="530" y="154"/>
                    </a:cubicBezTo>
                    <a:cubicBezTo>
                      <a:pt x="530" y="156"/>
                      <a:pt x="529" y="159"/>
                      <a:pt x="530" y="158"/>
                    </a:cubicBezTo>
                    <a:cubicBezTo>
                      <a:pt x="531" y="157"/>
                      <a:pt x="532" y="157"/>
                      <a:pt x="530" y="159"/>
                    </a:cubicBezTo>
                    <a:cubicBezTo>
                      <a:pt x="529" y="160"/>
                      <a:pt x="529" y="160"/>
                      <a:pt x="529" y="161"/>
                    </a:cubicBezTo>
                    <a:cubicBezTo>
                      <a:pt x="528" y="162"/>
                      <a:pt x="527" y="163"/>
                      <a:pt x="528" y="165"/>
                    </a:cubicBezTo>
                    <a:cubicBezTo>
                      <a:pt x="528" y="167"/>
                      <a:pt x="532" y="172"/>
                      <a:pt x="533" y="173"/>
                    </a:cubicBezTo>
                    <a:cubicBezTo>
                      <a:pt x="534" y="174"/>
                      <a:pt x="537" y="179"/>
                      <a:pt x="536" y="181"/>
                    </a:cubicBezTo>
                    <a:cubicBezTo>
                      <a:pt x="536" y="182"/>
                      <a:pt x="535" y="184"/>
                      <a:pt x="536" y="185"/>
                    </a:cubicBezTo>
                    <a:cubicBezTo>
                      <a:pt x="537" y="187"/>
                      <a:pt x="537" y="187"/>
                      <a:pt x="537" y="189"/>
                    </a:cubicBezTo>
                    <a:cubicBezTo>
                      <a:pt x="537" y="190"/>
                      <a:pt x="538" y="192"/>
                      <a:pt x="539" y="194"/>
                    </a:cubicBezTo>
                    <a:cubicBezTo>
                      <a:pt x="540" y="195"/>
                      <a:pt x="548" y="205"/>
                      <a:pt x="548" y="205"/>
                    </a:cubicBezTo>
                    <a:cubicBezTo>
                      <a:pt x="548" y="205"/>
                      <a:pt x="547" y="205"/>
                      <a:pt x="549" y="206"/>
                    </a:cubicBezTo>
                    <a:cubicBezTo>
                      <a:pt x="550" y="206"/>
                      <a:pt x="550" y="207"/>
                      <a:pt x="551" y="207"/>
                    </a:cubicBezTo>
                    <a:cubicBezTo>
                      <a:pt x="552" y="208"/>
                      <a:pt x="552" y="209"/>
                      <a:pt x="553" y="209"/>
                    </a:cubicBezTo>
                    <a:cubicBezTo>
                      <a:pt x="554" y="209"/>
                      <a:pt x="556" y="211"/>
                      <a:pt x="555" y="210"/>
                    </a:cubicBezTo>
                    <a:cubicBezTo>
                      <a:pt x="555" y="209"/>
                      <a:pt x="556" y="211"/>
                      <a:pt x="555" y="208"/>
                    </a:cubicBezTo>
                    <a:cubicBezTo>
                      <a:pt x="554" y="206"/>
                      <a:pt x="556" y="207"/>
                      <a:pt x="555" y="206"/>
                    </a:cubicBezTo>
                    <a:cubicBezTo>
                      <a:pt x="555" y="206"/>
                      <a:pt x="556" y="205"/>
                      <a:pt x="556" y="205"/>
                    </a:cubicBezTo>
                    <a:cubicBezTo>
                      <a:pt x="557" y="204"/>
                      <a:pt x="557" y="205"/>
                      <a:pt x="558" y="205"/>
                    </a:cubicBezTo>
                    <a:cubicBezTo>
                      <a:pt x="559" y="206"/>
                      <a:pt x="561" y="206"/>
                      <a:pt x="561" y="205"/>
                    </a:cubicBezTo>
                    <a:cubicBezTo>
                      <a:pt x="562" y="204"/>
                      <a:pt x="563" y="204"/>
                      <a:pt x="563" y="205"/>
                    </a:cubicBezTo>
                    <a:cubicBezTo>
                      <a:pt x="564" y="206"/>
                      <a:pt x="565" y="206"/>
                      <a:pt x="566" y="206"/>
                    </a:cubicBezTo>
                    <a:cubicBezTo>
                      <a:pt x="566" y="205"/>
                      <a:pt x="568" y="206"/>
                      <a:pt x="566" y="207"/>
                    </a:cubicBezTo>
                    <a:cubicBezTo>
                      <a:pt x="564" y="207"/>
                      <a:pt x="563" y="206"/>
                      <a:pt x="562" y="206"/>
                    </a:cubicBezTo>
                    <a:cubicBezTo>
                      <a:pt x="561" y="207"/>
                      <a:pt x="559" y="206"/>
                      <a:pt x="559" y="206"/>
                    </a:cubicBezTo>
                    <a:cubicBezTo>
                      <a:pt x="558" y="206"/>
                      <a:pt x="557" y="206"/>
                      <a:pt x="557" y="208"/>
                    </a:cubicBezTo>
                    <a:cubicBezTo>
                      <a:pt x="557" y="210"/>
                      <a:pt x="557" y="210"/>
                      <a:pt x="559" y="213"/>
                    </a:cubicBezTo>
                    <a:cubicBezTo>
                      <a:pt x="561" y="216"/>
                      <a:pt x="562" y="217"/>
                      <a:pt x="560" y="216"/>
                    </a:cubicBezTo>
                    <a:cubicBezTo>
                      <a:pt x="559" y="215"/>
                      <a:pt x="556" y="215"/>
                      <a:pt x="557" y="213"/>
                    </a:cubicBezTo>
                    <a:cubicBezTo>
                      <a:pt x="557" y="211"/>
                      <a:pt x="557" y="211"/>
                      <a:pt x="556" y="211"/>
                    </a:cubicBezTo>
                    <a:cubicBezTo>
                      <a:pt x="555" y="211"/>
                      <a:pt x="555" y="211"/>
                      <a:pt x="555" y="212"/>
                    </a:cubicBezTo>
                    <a:cubicBezTo>
                      <a:pt x="555" y="214"/>
                      <a:pt x="554" y="215"/>
                      <a:pt x="555" y="217"/>
                    </a:cubicBezTo>
                    <a:cubicBezTo>
                      <a:pt x="557" y="218"/>
                      <a:pt x="557" y="219"/>
                      <a:pt x="557" y="220"/>
                    </a:cubicBezTo>
                    <a:cubicBezTo>
                      <a:pt x="557" y="221"/>
                      <a:pt x="557" y="221"/>
                      <a:pt x="558" y="222"/>
                    </a:cubicBezTo>
                    <a:cubicBezTo>
                      <a:pt x="559" y="223"/>
                      <a:pt x="562" y="225"/>
                      <a:pt x="563" y="225"/>
                    </a:cubicBezTo>
                    <a:cubicBezTo>
                      <a:pt x="564" y="225"/>
                      <a:pt x="564" y="224"/>
                      <a:pt x="565" y="227"/>
                    </a:cubicBezTo>
                    <a:cubicBezTo>
                      <a:pt x="566" y="229"/>
                      <a:pt x="565" y="231"/>
                      <a:pt x="564" y="231"/>
                    </a:cubicBezTo>
                    <a:cubicBezTo>
                      <a:pt x="563" y="230"/>
                      <a:pt x="563" y="231"/>
                      <a:pt x="564" y="232"/>
                    </a:cubicBezTo>
                    <a:cubicBezTo>
                      <a:pt x="564" y="233"/>
                      <a:pt x="563" y="235"/>
                      <a:pt x="564" y="236"/>
                    </a:cubicBezTo>
                    <a:cubicBezTo>
                      <a:pt x="565" y="238"/>
                      <a:pt x="576" y="249"/>
                      <a:pt x="577" y="251"/>
                    </a:cubicBezTo>
                    <a:cubicBezTo>
                      <a:pt x="579" y="253"/>
                      <a:pt x="579" y="253"/>
                      <a:pt x="579" y="254"/>
                    </a:cubicBezTo>
                    <a:cubicBezTo>
                      <a:pt x="579" y="254"/>
                      <a:pt x="580" y="255"/>
                      <a:pt x="580" y="256"/>
                    </a:cubicBezTo>
                    <a:cubicBezTo>
                      <a:pt x="581" y="256"/>
                      <a:pt x="583" y="257"/>
                      <a:pt x="583" y="258"/>
                    </a:cubicBezTo>
                    <a:cubicBezTo>
                      <a:pt x="582" y="259"/>
                      <a:pt x="583" y="260"/>
                      <a:pt x="583" y="261"/>
                    </a:cubicBezTo>
                    <a:cubicBezTo>
                      <a:pt x="583" y="262"/>
                      <a:pt x="583" y="263"/>
                      <a:pt x="583" y="264"/>
                    </a:cubicBezTo>
                    <a:cubicBezTo>
                      <a:pt x="583" y="264"/>
                      <a:pt x="582" y="265"/>
                      <a:pt x="584" y="266"/>
                    </a:cubicBezTo>
                    <a:cubicBezTo>
                      <a:pt x="586" y="267"/>
                      <a:pt x="594" y="268"/>
                      <a:pt x="596" y="268"/>
                    </a:cubicBezTo>
                    <a:cubicBezTo>
                      <a:pt x="598" y="268"/>
                      <a:pt x="599" y="268"/>
                      <a:pt x="601" y="269"/>
                    </a:cubicBezTo>
                    <a:cubicBezTo>
                      <a:pt x="603" y="271"/>
                      <a:pt x="609" y="275"/>
                      <a:pt x="610" y="275"/>
                    </a:cubicBezTo>
                    <a:cubicBezTo>
                      <a:pt x="612" y="274"/>
                      <a:pt x="613" y="274"/>
                      <a:pt x="614" y="276"/>
                    </a:cubicBezTo>
                    <a:cubicBezTo>
                      <a:pt x="615" y="278"/>
                      <a:pt x="615" y="279"/>
                      <a:pt x="617" y="279"/>
                    </a:cubicBezTo>
                    <a:cubicBezTo>
                      <a:pt x="619" y="279"/>
                      <a:pt x="620" y="279"/>
                      <a:pt x="621" y="280"/>
                    </a:cubicBezTo>
                    <a:cubicBezTo>
                      <a:pt x="623" y="281"/>
                      <a:pt x="625" y="283"/>
                      <a:pt x="626" y="283"/>
                    </a:cubicBezTo>
                    <a:cubicBezTo>
                      <a:pt x="627" y="284"/>
                      <a:pt x="630" y="287"/>
                      <a:pt x="632" y="291"/>
                    </a:cubicBezTo>
                    <a:cubicBezTo>
                      <a:pt x="632" y="294"/>
                      <a:pt x="634" y="296"/>
                      <a:pt x="635" y="299"/>
                    </a:cubicBezTo>
                    <a:cubicBezTo>
                      <a:pt x="670" y="296"/>
                      <a:pt x="670" y="296"/>
                      <a:pt x="670" y="296"/>
                    </a:cubicBezTo>
                    <a:cubicBezTo>
                      <a:pt x="669" y="300"/>
                      <a:pt x="669" y="300"/>
                      <a:pt x="669" y="300"/>
                    </a:cubicBezTo>
                    <a:cubicBezTo>
                      <a:pt x="719" y="317"/>
                      <a:pt x="719" y="317"/>
                      <a:pt x="719" y="317"/>
                    </a:cubicBezTo>
                    <a:cubicBezTo>
                      <a:pt x="719" y="317"/>
                      <a:pt x="721" y="318"/>
                      <a:pt x="722" y="318"/>
                    </a:cubicBezTo>
                    <a:cubicBezTo>
                      <a:pt x="722" y="318"/>
                      <a:pt x="728" y="319"/>
                      <a:pt x="729" y="319"/>
                    </a:cubicBezTo>
                    <a:cubicBezTo>
                      <a:pt x="730" y="319"/>
                      <a:pt x="765" y="319"/>
                      <a:pt x="765" y="319"/>
                    </a:cubicBezTo>
                    <a:cubicBezTo>
                      <a:pt x="765" y="319"/>
                      <a:pt x="767" y="316"/>
                      <a:pt x="767" y="313"/>
                    </a:cubicBezTo>
                    <a:cubicBezTo>
                      <a:pt x="767" y="311"/>
                      <a:pt x="767" y="312"/>
                      <a:pt x="768" y="312"/>
                    </a:cubicBezTo>
                    <a:cubicBezTo>
                      <a:pt x="769" y="312"/>
                      <a:pt x="791" y="312"/>
                      <a:pt x="791" y="312"/>
                    </a:cubicBezTo>
                    <a:cubicBezTo>
                      <a:pt x="791" y="312"/>
                      <a:pt x="792" y="312"/>
                      <a:pt x="793" y="313"/>
                    </a:cubicBezTo>
                    <a:cubicBezTo>
                      <a:pt x="793" y="314"/>
                      <a:pt x="796" y="317"/>
                      <a:pt x="798" y="318"/>
                    </a:cubicBezTo>
                    <a:cubicBezTo>
                      <a:pt x="800" y="319"/>
                      <a:pt x="802" y="320"/>
                      <a:pt x="803" y="321"/>
                    </a:cubicBezTo>
                    <a:cubicBezTo>
                      <a:pt x="804" y="322"/>
                      <a:pt x="810" y="327"/>
                      <a:pt x="812" y="328"/>
                    </a:cubicBezTo>
                    <a:cubicBezTo>
                      <a:pt x="814" y="329"/>
                      <a:pt x="816" y="331"/>
                      <a:pt x="816" y="333"/>
                    </a:cubicBezTo>
                    <a:cubicBezTo>
                      <a:pt x="817" y="334"/>
                      <a:pt x="819" y="338"/>
                      <a:pt x="819" y="340"/>
                    </a:cubicBezTo>
                    <a:cubicBezTo>
                      <a:pt x="819" y="341"/>
                      <a:pt x="819" y="343"/>
                      <a:pt x="820" y="344"/>
                    </a:cubicBezTo>
                    <a:cubicBezTo>
                      <a:pt x="821" y="346"/>
                      <a:pt x="825" y="349"/>
                      <a:pt x="830" y="352"/>
                    </a:cubicBezTo>
                    <a:cubicBezTo>
                      <a:pt x="834" y="354"/>
                      <a:pt x="839" y="357"/>
                      <a:pt x="841" y="357"/>
                    </a:cubicBezTo>
                    <a:cubicBezTo>
                      <a:pt x="842" y="357"/>
                      <a:pt x="844" y="356"/>
                      <a:pt x="845" y="354"/>
                    </a:cubicBezTo>
                    <a:cubicBezTo>
                      <a:pt x="845" y="353"/>
                      <a:pt x="846" y="351"/>
                      <a:pt x="847" y="349"/>
                    </a:cubicBezTo>
                    <a:cubicBezTo>
                      <a:pt x="848" y="347"/>
                      <a:pt x="849" y="345"/>
                      <a:pt x="851" y="345"/>
                    </a:cubicBezTo>
                    <a:cubicBezTo>
                      <a:pt x="854" y="344"/>
                      <a:pt x="853" y="344"/>
                      <a:pt x="854" y="344"/>
                    </a:cubicBezTo>
                    <a:cubicBezTo>
                      <a:pt x="854" y="343"/>
                      <a:pt x="854" y="343"/>
                      <a:pt x="855" y="343"/>
                    </a:cubicBezTo>
                    <a:cubicBezTo>
                      <a:pt x="856" y="343"/>
                      <a:pt x="859" y="344"/>
                      <a:pt x="861" y="344"/>
                    </a:cubicBezTo>
                    <a:cubicBezTo>
                      <a:pt x="864" y="344"/>
                      <a:pt x="865" y="345"/>
                      <a:pt x="866" y="345"/>
                    </a:cubicBezTo>
                    <a:cubicBezTo>
                      <a:pt x="866" y="344"/>
                      <a:pt x="867" y="344"/>
                      <a:pt x="869" y="345"/>
                    </a:cubicBezTo>
                    <a:cubicBezTo>
                      <a:pt x="870" y="346"/>
                      <a:pt x="876" y="352"/>
                      <a:pt x="877" y="353"/>
                    </a:cubicBezTo>
                    <a:cubicBezTo>
                      <a:pt x="878" y="354"/>
                      <a:pt x="881" y="361"/>
                      <a:pt x="883" y="363"/>
                    </a:cubicBezTo>
                    <a:cubicBezTo>
                      <a:pt x="884" y="366"/>
                      <a:pt x="889" y="373"/>
                      <a:pt x="890" y="375"/>
                    </a:cubicBezTo>
                    <a:cubicBezTo>
                      <a:pt x="891" y="376"/>
                      <a:pt x="892" y="378"/>
                      <a:pt x="893" y="378"/>
                    </a:cubicBezTo>
                    <a:cubicBezTo>
                      <a:pt x="894" y="379"/>
                      <a:pt x="896" y="379"/>
                      <a:pt x="896" y="383"/>
                    </a:cubicBezTo>
                    <a:cubicBezTo>
                      <a:pt x="896" y="383"/>
                      <a:pt x="896" y="384"/>
                      <a:pt x="896" y="385"/>
                    </a:cubicBezTo>
                    <a:cubicBezTo>
                      <a:pt x="897" y="386"/>
                      <a:pt x="902" y="398"/>
                      <a:pt x="902" y="398"/>
                    </a:cubicBezTo>
                    <a:cubicBezTo>
                      <a:pt x="902" y="398"/>
                      <a:pt x="902" y="399"/>
                      <a:pt x="903" y="399"/>
                    </a:cubicBezTo>
                    <a:cubicBezTo>
                      <a:pt x="904" y="399"/>
                      <a:pt x="906" y="399"/>
                      <a:pt x="907" y="400"/>
                    </a:cubicBezTo>
                    <a:cubicBezTo>
                      <a:pt x="909" y="401"/>
                      <a:pt x="915" y="403"/>
                      <a:pt x="916" y="404"/>
                    </a:cubicBezTo>
                    <a:cubicBezTo>
                      <a:pt x="916" y="404"/>
                      <a:pt x="918" y="404"/>
                      <a:pt x="918" y="404"/>
                    </a:cubicBezTo>
                    <a:cubicBezTo>
                      <a:pt x="919" y="404"/>
                      <a:pt x="922" y="404"/>
                      <a:pt x="923" y="405"/>
                    </a:cubicBezTo>
                    <a:cubicBezTo>
                      <a:pt x="923" y="405"/>
                      <a:pt x="926" y="408"/>
                      <a:pt x="928" y="407"/>
                    </a:cubicBezTo>
                    <a:cubicBezTo>
                      <a:pt x="930" y="406"/>
                      <a:pt x="931" y="406"/>
                      <a:pt x="931" y="406"/>
                    </a:cubicBezTo>
                    <a:close/>
                    <a:moveTo>
                      <a:pt x="614" y="292"/>
                    </a:moveTo>
                    <a:cubicBezTo>
                      <a:pt x="614" y="292"/>
                      <a:pt x="617" y="295"/>
                      <a:pt x="616" y="294"/>
                    </a:cubicBezTo>
                    <a:cubicBezTo>
                      <a:pt x="616" y="292"/>
                      <a:pt x="615" y="292"/>
                      <a:pt x="614" y="292"/>
                    </a:cubicBezTo>
                    <a:close/>
                    <a:moveTo>
                      <a:pt x="617" y="286"/>
                    </a:moveTo>
                    <a:cubicBezTo>
                      <a:pt x="616" y="284"/>
                      <a:pt x="615" y="285"/>
                      <a:pt x="615" y="285"/>
                    </a:cubicBezTo>
                    <a:cubicBezTo>
                      <a:pt x="615" y="285"/>
                      <a:pt x="618" y="288"/>
                      <a:pt x="617" y="286"/>
                    </a:cubicBezTo>
                    <a:close/>
                    <a:moveTo>
                      <a:pt x="589" y="275"/>
                    </a:moveTo>
                    <a:cubicBezTo>
                      <a:pt x="589" y="275"/>
                      <a:pt x="590" y="277"/>
                      <a:pt x="591" y="276"/>
                    </a:cubicBezTo>
                    <a:cubicBezTo>
                      <a:pt x="592" y="275"/>
                      <a:pt x="590" y="274"/>
                      <a:pt x="589" y="275"/>
                    </a:cubicBezTo>
                    <a:close/>
                    <a:moveTo>
                      <a:pt x="598" y="275"/>
                    </a:moveTo>
                    <a:cubicBezTo>
                      <a:pt x="601" y="274"/>
                      <a:pt x="596" y="274"/>
                      <a:pt x="594" y="274"/>
                    </a:cubicBezTo>
                    <a:cubicBezTo>
                      <a:pt x="594" y="274"/>
                      <a:pt x="595" y="276"/>
                      <a:pt x="598" y="275"/>
                    </a:cubicBezTo>
                    <a:close/>
                    <a:moveTo>
                      <a:pt x="546" y="16"/>
                    </a:moveTo>
                    <a:cubicBezTo>
                      <a:pt x="546" y="16"/>
                      <a:pt x="544" y="17"/>
                      <a:pt x="546" y="18"/>
                    </a:cubicBezTo>
                    <a:cubicBezTo>
                      <a:pt x="547" y="19"/>
                      <a:pt x="548" y="19"/>
                      <a:pt x="547" y="17"/>
                    </a:cubicBezTo>
                    <a:cubicBezTo>
                      <a:pt x="546" y="16"/>
                      <a:pt x="547" y="16"/>
                      <a:pt x="546" y="16"/>
                    </a:cubicBezTo>
                    <a:close/>
                    <a:moveTo>
                      <a:pt x="550" y="14"/>
                    </a:moveTo>
                    <a:cubicBezTo>
                      <a:pt x="550" y="14"/>
                      <a:pt x="546" y="14"/>
                      <a:pt x="548" y="15"/>
                    </a:cubicBezTo>
                    <a:cubicBezTo>
                      <a:pt x="549" y="16"/>
                      <a:pt x="550" y="16"/>
                      <a:pt x="551" y="15"/>
                    </a:cubicBezTo>
                    <a:cubicBezTo>
                      <a:pt x="551" y="15"/>
                      <a:pt x="551" y="13"/>
                      <a:pt x="550" y="14"/>
                    </a:cubicBezTo>
                    <a:close/>
                    <a:moveTo>
                      <a:pt x="553" y="22"/>
                    </a:moveTo>
                    <a:cubicBezTo>
                      <a:pt x="555" y="21"/>
                      <a:pt x="554" y="20"/>
                      <a:pt x="553" y="20"/>
                    </a:cubicBezTo>
                    <a:cubicBezTo>
                      <a:pt x="553" y="20"/>
                      <a:pt x="550" y="22"/>
                      <a:pt x="552" y="24"/>
                    </a:cubicBezTo>
                    <a:cubicBezTo>
                      <a:pt x="554" y="25"/>
                      <a:pt x="554" y="26"/>
                      <a:pt x="554" y="26"/>
                    </a:cubicBezTo>
                    <a:cubicBezTo>
                      <a:pt x="555" y="27"/>
                      <a:pt x="556" y="28"/>
                      <a:pt x="556" y="27"/>
                    </a:cubicBezTo>
                    <a:cubicBezTo>
                      <a:pt x="555" y="25"/>
                      <a:pt x="554" y="25"/>
                      <a:pt x="554" y="24"/>
                    </a:cubicBezTo>
                    <a:cubicBezTo>
                      <a:pt x="553" y="22"/>
                      <a:pt x="552" y="22"/>
                      <a:pt x="553" y="22"/>
                    </a:cubicBezTo>
                    <a:close/>
                    <a:moveTo>
                      <a:pt x="71" y="503"/>
                    </a:moveTo>
                    <a:cubicBezTo>
                      <a:pt x="70" y="500"/>
                      <a:pt x="68" y="498"/>
                      <a:pt x="65" y="497"/>
                    </a:cubicBezTo>
                    <a:cubicBezTo>
                      <a:pt x="61" y="496"/>
                      <a:pt x="59" y="494"/>
                      <a:pt x="59" y="496"/>
                    </a:cubicBezTo>
                    <a:cubicBezTo>
                      <a:pt x="60" y="499"/>
                      <a:pt x="60" y="500"/>
                      <a:pt x="59" y="501"/>
                    </a:cubicBezTo>
                    <a:cubicBezTo>
                      <a:pt x="57" y="502"/>
                      <a:pt x="56" y="503"/>
                      <a:pt x="57" y="504"/>
                    </a:cubicBezTo>
                    <a:cubicBezTo>
                      <a:pt x="58" y="506"/>
                      <a:pt x="59" y="508"/>
                      <a:pt x="59" y="509"/>
                    </a:cubicBezTo>
                    <a:cubicBezTo>
                      <a:pt x="59" y="511"/>
                      <a:pt x="58" y="514"/>
                      <a:pt x="61" y="515"/>
                    </a:cubicBezTo>
                    <a:cubicBezTo>
                      <a:pt x="61" y="515"/>
                      <a:pt x="62" y="516"/>
                      <a:pt x="63" y="515"/>
                    </a:cubicBezTo>
                    <a:cubicBezTo>
                      <a:pt x="64" y="514"/>
                      <a:pt x="72" y="509"/>
                      <a:pt x="73" y="508"/>
                    </a:cubicBezTo>
                    <a:cubicBezTo>
                      <a:pt x="75" y="507"/>
                      <a:pt x="75" y="506"/>
                      <a:pt x="74" y="505"/>
                    </a:cubicBezTo>
                    <a:cubicBezTo>
                      <a:pt x="73" y="504"/>
                      <a:pt x="72" y="505"/>
                      <a:pt x="71" y="503"/>
                    </a:cubicBezTo>
                    <a:close/>
                    <a:moveTo>
                      <a:pt x="48" y="490"/>
                    </a:moveTo>
                    <a:cubicBezTo>
                      <a:pt x="48" y="490"/>
                      <a:pt x="49" y="491"/>
                      <a:pt x="49" y="491"/>
                    </a:cubicBezTo>
                    <a:cubicBezTo>
                      <a:pt x="49" y="490"/>
                      <a:pt x="48" y="490"/>
                      <a:pt x="48" y="490"/>
                    </a:cubicBezTo>
                    <a:close/>
                    <a:moveTo>
                      <a:pt x="57" y="487"/>
                    </a:moveTo>
                    <a:cubicBezTo>
                      <a:pt x="55" y="485"/>
                      <a:pt x="55" y="484"/>
                      <a:pt x="53" y="484"/>
                    </a:cubicBezTo>
                    <a:cubicBezTo>
                      <a:pt x="51" y="485"/>
                      <a:pt x="51" y="485"/>
                      <a:pt x="50" y="484"/>
                    </a:cubicBezTo>
                    <a:cubicBezTo>
                      <a:pt x="49" y="483"/>
                      <a:pt x="48" y="483"/>
                      <a:pt x="47" y="484"/>
                    </a:cubicBezTo>
                    <a:cubicBezTo>
                      <a:pt x="47" y="485"/>
                      <a:pt x="46" y="485"/>
                      <a:pt x="48" y="486"/>
                    </a:cubicBezTo>
                    <a:cubicBezTo>
                      <a:pt x="49" y="487"/>
                      <a:pt x="51" y="487"/>
                      <a:pt x="51" y="488"/>
                    </a:cubicBezTo>
                    <a:cubicBezTo>
                      <a:pt x="51" y="488"/>
                      <a:pt x="51" y="490"/>
                      <a:pt x="53" y="489"/>
                    </a:cubicBezTo>
                    <a:cubicBezTo>
                      <a:pt x="55" y="489"/>
                      <a:pt x="59" y="489"/>
                      <a:pt x="57" y="487"/>
                    </a:cubicBezTo>
                    <a:close/>
                    <a:moveTo>
                      <a:pt x="43" y="485"/>
                    </a:moveTo>
                    <a:cubicBezTo>
                      <a:pt x="42" y="485"/>
                      <a:pt x="42" y="486"/>
                      <a:pt x="42" y="486"/>
                    </a:cubicBezTo>
                    <a:cubicBezTo>
                      <a:pt x="43" y="487"/>
                      <a:pt x="43" y="488"/>
                      <a:pt x="44" y="487"/>
                    </a:cubicBezTo>
                    <a:cubicBezTo>
                      <a:pt x="44" y="487"/>
                      <a:pt x="46" y="487"/>
                      <a:pt x="45" y="486"/>
                    </a:cubicBezTo>
                    <a:cubicBezTo>
                      <a:pt x="43" y="484"/>
                      <a:pt x="44" y="485"/>
                      <a:pt x="43" y="485"/>
                    </a:cubicBezTo>
                    <a:close/>
                    <a:moveTo>
                      <a:pt x="46" y="481"/>
                    </a:moveTo>
                    <a:cubicBezTo>
                      <a:pt x="42" y="481"/>
                      <a:pt x="41" y="480"/>
                      <a:pt x="40" y="480"/>
                    </a:cubicBezTo>
                    <a:cubicBezTo>
                      <a:pt x="39" y="480"/>
                      <a:pt x="39" y="480"/>
                      <a:pt x="38" y="481"/>
                    </a:cubicBezTo>
                    <a:cubicBezTo>
                      <a:pt x="38" y="482"/>
                      <a:pt x="38" y="482"/>
                      <a:pt x="40" y="482"/>
                    </a:cubicBezTo>
                    <a:cubicBezTo>
                      <a:pt x="40" y="482"/>
                      <a:pt x="42" y="482"/>
                      <a:pt x="44" y="482"/>
                    </a:cubicBezTo>
                    <a:cubicBezTo>
                      <a:pt x="45" y="482"/>
                      <a:pt x="49" y="481"/>
                      <a:pt x="46" y="481"/>
                    </a:cubicBezTo>
                    <a:close/>
                    <a:moveTo>
                      <a:pt x="29" y="473"/>
                    </a:moveTo>
                    <a:cubicBezTo>
                      <a:pt x="28" y="473"/>
                      <a:pt x="27" y="472"/>
                      <a:pt x="27" y="473"/>
                    </a:cubicBezTo>
                    <a:cubicBezTo>
                      <a:pt x="26" y="475"/>
                      <a:pt x="26" y="474"/>
                      <a:pt x="25" y="474"/>
                    </a:cubicBezTo>
                    <a:cubicBezTo>
                      <a:pt x="24" y="475"/>
                      <a:pt x="23" y="474"/>
                      <a:pt x="24" y="476"/>
                    </a:cubicBezTo>
                    <a:cubicBezTo>
                      <a:pt x="25" y="477"/>
                      <a:pt x="25" y="480"/>
                      <a:pt x="26" y="479"/>
                    </a:cubicBezTo>
                    <a:cubicBezTo>
                      <a:pt x="28" y="478"/>
                      <a:pt x="28" y="478"/>
                      <a:pt x="29" y="478"/>
                    </a:cubicBezTo>
                    <a:cubicBezTo>
                      <a:pt x="29" y="479"/>
                      <a:pt x="30" y="479"/>
                      <a:pt x="30" y="479"/>
                    </a:cubicBezTo>
                    <a:cubicBezTo>
                      <a:pt x="30" y="479"/>
                      <a:pt x="30" y="480"/>
                      <a:pt x="31" y="479"/>
                    </a:cubicBezTo>
                    <a:cubicBezTo>
                      <a:pt x="32" y="478"/>
                      <a:pt x="33" y="479"/>
                      <a:pt x="32" y="477"/>
                    </a:cubicBezTo>
                    <a:cubicBezTo>
                      <a:pt x="30" y="475"/>
                      <a:pt x="30" y="474"/>
                      <a:pt x="29" y="473"/>
                    </a:cubicBezTo>
                    <a:close/>
                    <a:moveTo>
                      <a:pt x="6" y="464"/>
                    </a:moveTo>
                    <a:cubicBezTo>
                      <a:pt x="4" y="465"/>
                      <a:pt x="3" y="465"/>
                      <a:pt x="3" y="466"/>
                    </a:cubicBezTo>
                    <a:cubicBezTo>
                      <a:pt x="2" y="467"/>
                      <a:pt x="0" y="468"/>
                      <a:pt x="2" y="469"/>
                    </a:cubicBezTo>
                    <a:cubicBezTo>
                      <a:pt x="5" y="469"/>
                      <a:pt x="5" y="469"/>
                      <a:pt x="5" y="469"/>
                    </a:cubicBezTo>
                    <a:cubicBezTo>
                      <a:pt x="5" y="469"/>
                      <a:pt x="8" y="470"/>
                      <a:pt x="8" y="467"/>
                    </a:cubicBezTo>
                    <a:cubicBezTo>
                      <a:pt x="8" y="465"/>
                      <a:pt x="8" y="464"/>
                      <a:pt x="6" y="464"/>
                    </a:cubicBezTo>
                    <a:close/>
                    <a:moveTo>
                      <a:pt x="942" y="368"/>
                    </a:moveTo>
                    <a:cubicBezTo>
                      <a:pt x="939" y="369"/>
                      <a:pt x="938" y="369"/>
                      <a:pt x="937" y="370"/>
                    </a:cubicBezTo>
                    <a:cubicBezTo>
                      <a:pt x="937" y="370"/>
                      <a:pt x="936" y="372"/>
                      <a:pt x="938" y="370"/>
                    </a:cubicBezTo>
                    <a:cubicBezTo>
                      <a:pt x="941" y="369"/>
                      <a:pt x="944" y="367"/>
                      <a:pt x="942" y="368"/>
                    </a:cubicBezTo>
                    <a:close/>
                    <a:moveTo>
                      <a:pt x="933" y="375"/>
                    </a:moveTo>
                    <a:cubicBezTo>
                      <a:pt x="934" y="375"/>
                      <a:pt x="936" y="371"/>
                      <a:pt x="935" y="372"/>
                    </a:cubicBezTo>
                    <a:cubicBezTo>
                      <a:pt x="935" y="372"/>
                      <a:pt x="932" y="376"/>
                      <a:pt x="933" y="375"/>
                    </a:cubicBezTo>
                    <a:close/>
                    <a:moveTo>
                      <a:pt x="1132" y="66"/>
                    </a:moveTo>
                    <a:cubicBezTo>
                      <a:pt x="1133" y="66"/>
                      <a:pt x="1133" y="65"/>
                      <a:pt x="1133" y="64"/>
                    </a:cubicBezTo>
                    <a:cubicBezTo>
                      <a:pt x="1132" y="63"/>
                      <a:pt x="1132" y="63"/>
                      <a:pt x="1131" y="63"/>
                    </a:cubicBezTo>
                    <a:cubicBezTo>
                      <a:pt x="1130" y="64"/>
                      <a:pt x="1130" y="64"/>
                      <a:pt x="1130" y="64"/>
                    </a:cubicBezTo>
                    <a:cubicBezTo>
                      <a:pt x="1127" y="64"/>
                      <a:pt x="1130" y="66"/>
                      <a:pt x="1132" y="66"/>
                    </a:cubicBezTo>
                    <a:close/>
                    <a:moveTo>
                      <a:pt x="1050" y="29"/>
                    </a:moveTo>
                    <a:cubicBezTo>
                      <a:pt x="1050" y="29"/>
                      <a:pt x="1053" y="28"/>
                      <a:pt x="1057" y="26"/>
                    </a:cubicBezTo>
                    <a:cubicBezTo>
                      <a:pt x="1061" y="23"/>
                      <a:pt x="1059" y="24"/>
                      <a:pt x="1057" y="24"/>
                    </a:cubicBezTo>
                    <a:cubicBezTo>
                      <a:pt x="1055" y="25"/>
                      <a:pt x="1051" y="27"/>
                      <a:pt x="1050" y="28"/>
                    </a:cubicBezTo>
                    <a:cubicBezTo>
                      <a:pt x="1048" y="29"/>
                      <a:pt x="1050" y="29"/>
                      <a:pt x="1050" y="29"/>
                    </a:cubicBezTo>
                    <a:close/>
                    <a:moveTo>
                      <a:pt x="1155" y="398"/>
                    </a:moveTo>
                    <a:cubicBezTo>
                      <a:pt x="1155" y="397"/>
                      <a:pt x="1153" y="397"/>
                      <a:pt x="1154" y="397"/>
                    </a:cubicBezTo>
                    <a:cubicBezTo>
                      <a:pt x="1154" y="397"/>
                      <a:pt x="1155" y="399"/>
                      <a:pt x="1155" y="398"/>
                    </a:cubicBezTo>
                    <a:close/>
                    <a:moveTo>
                      <a:pt x="1181" y="418"/>
                    </a:moveTo>
                    <a:cubicBezTo>
                      <a:pt x="1182" y="416"/>
                      <a:pt x="1181" y="417"/>
                      <a:pt x="1177" y="422"/>
                    </a:cubicBezTo>
                    <a:cubicBezTo>
                      <a:pt x="1177" y="422"/>
                      <a:pt x="1181" y="419"/>
                      <a:pt x="1181" y="418"/>
                    </a:cubicBezTo>
                    <a:close/>
                    <a:moveTo>
                      <a:pt x="1326" y="147"/>
                    </a:moveTo>
                    <a:cubicBezTo>
                      <a:pt x="1326" y="146"/>
                      <a:pt x="1325" y="147"/>
                      <a:pt x="1324" y="147"/>
                    </a:cubicBezTo>
                    <a:cubicBezTo>
                      <a:pt x="1324" y="148"/>
                      <a:pt x="1323" y="148"/>
                      <a:pt x="1324" y="148"/>
                    </a:cubicBezTo>
                    <a:cubicBezTo>
                      <a:pt x="1324" y="148"/>
                      <a:pt x="1327" y="149"/>
                      <a:pt x="1326" y="14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69" name="Freeform 177">
                <a:extLst>
                  <a:ext uri="{FF2B5EF4-FFF2-40B4-BE49-F238E27FC236}">
                    <a16:creationId xmlns:a16="http://schemas.microsoft.com/office/drawing/2014/main" id="{7DD75C6D-E88B-4B8A-86F8-4101DBF81B13}"/>
                  </a:ext>
                </a:extLst>
              </p:cNvPr>
              <p:cNvSpPr>
                <a:spLocks/>
              </p:cNvSpPr>
              <p:nvPr/>
            </p:nvSpPr>
            <p:spPr bwMode="auto">
              <a:xfrm>
                <a:off x="7047" y="1487"/>
                <a:ext cx="20" cy="8"/>
              </a:xfrm>
              <a:custGeom>
                <a:avLst/>
                <a:gdLst>
                  <a:gd name="T0" fmla="*/ 8 w 15"/>
                  <a:gd name="T1" fmla="*/ 1 h 6"/>
                  <a:gd name="T2" fmla="*/ 2 w 15"/>
                  <a:gd name="T3" fmla="*/ 0 h 6"/>
                  <a:gd name="T4" fmla="*/ 1 w 15"/>
                  <a:gd name="T5" fmla="*/ 3 h 6"/>
                  <a:gd name="T6" fmla="*/ 5 w 15"/>
                  <a:gd name="T7" fmla="*/ 5 h 6"/>
                  <a:gd name="T8" fmla="*/ 8 w 15"/>
                  <a:gd name="T9" fmla="*/ 5 h 6"/>
                  <a:gd name="T10" fmla="*/ 10 w 15"/>
                  <a:gd name="T11" fmla="*/ 5 h 6"/>
                  <a:gd name="T12" fmla="*/ 12 w 15"/>
                  <a:gd name="T13" fmla="*/ 4 h 6"/>
                  <a:gd name="T14" fmla="*/ 14 w 15"/>
                  <a:gd name="T15" fmla="*/ 4 h 6"/>
                  <a:gd name="T16" fmla="*/ 11 w 15"/>
                  <a:gd name="T17" fmla="*/ 2 h 6"/>
                  <a:gd name="T18" fmla="*/ 10 w 15"/>
                  <a:gd name="T19" fmla="*/ 1 h 6"/>
                  <a:gd name="T20" fmla="*/ 8 w 15"/>
                  <a:gd name="T21"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6">
                    <a:moveTo>
                      <a:pt x="8" y="1"/>
                    </a:moveTo>
                    <a:cubicBezTo>
                      <a:pt x="7" y="1"/>
                      <a:pt x="4" y="0"/>
                      <a:pt x="2" y="0"/>
                    </a:cubicBezTo>
                    <a:cubicBezTo>
                      <a:pt x="0" y="1"/>
                      <a:pt x="1" y="3"/>
                      <a:pt x="1" y="3"/>
                    </a:cubicBezTo>
                    <a:cubicBezTo>
                      <a:pt x="1" y="3"/>
                      <a:pt x="4" y="4"/>
                      <a:pt x="5" y="5"/>
                    </a:cubicBezTo>
                    <a:cubicBezTo>
                      <a:pt x="6" y="6"/>
                      <a:pt x="7" y="5"/>
                      <a:pt x="8" y="5"/>
                    </a:cubicBezTo>
                    <a:cubicBezTo>
                      <a:pt x="8" y="4"/>
                      <a:pt x="9" y="4"/>
                      <a:pt x="10" y="5"/>
                    </a:cubicBezTo>
                    <a:cubicBezTo>
                      <a:pt x="10" y="6"/>
                      <a:pt x="10" y="5"/>
                      <a:pt x="12" y="4"/>
                    </a:cubicBezTo>
                    <a:cubicBezTo>
                      <a:pt x="13" y="3"/>
                      <a:pt x="13" y="4"/>
                      <a:pt x="14" y="4"/>
                    </a:cubicBezTo>
                    <a:cubicBezTo>
                      <a:pt x="15" y="3"/>
                      <a:pt x="12" y="2"/>
                      <a:pt x="11" y="2"/>
                    </a:cubicBezTo>
                    <a:cubicBezTo>
                      <a:pt x="10" y="2"/>
                      <a:pt x="10" y="2"/>
                      <a:pt x="10" y="1"/>
                    </a:cubicBezTo>
                    <a:cubicBezTo>
                      <a:pt x="10" y="0"/>
                      <a:pt x="9" y="1"/>
                      <a:pt x="8"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70" name="Freeform 178">
                <a:extLst>
                  <a:ext uri="{FF2B5EF4-FFF2-40B4-BE49-F238E27FC236}">
                    <a16:creationId xmlns:a16="http://schemas.microsoft.com/office/drawing/2014/main" id="{58983DF4-4B53-4FFB-B042-5E16569AFD3D}"/>
                  </a:ext>
                </a:extLst>
              </p:cNvPr>
              <p:cNvSpPr>
                <a:spLocks/>
              </p:cNvSpPr>
              <p:nvPr/>
            </p:nvSpPr>
            <p:spPr bwMode="auto">
              <a:xfrm>
                <a:off x="7065" y="1500"/>
                <a:ext cx="8" cy="6"/>
              </a:xfrm>
              <a:custGeom>
                <a:avLst/>
                <a:gdLst>
                  <a:gd name="T0" fmla="*/ 2 w 6"/>
                  <a:gd name="T1" fmla="*/ 3 h 4"/>
                  <a:gd name="T2" fmla="*/ 4 w 6"/>
                  <a:gd name="T3" fmla="*/ 3 h 4"/>
                  <a:gd name="T4" fmla="*/ 6 w 6"/>
                  <a:gd name="T5" fmla="*/ 1 h 4"/>
                  <a:gd name="T6" fmla="*/ 5 w 6"/>
                  <a:gd name="T7" fmla="*/ 1 h 4"/>
                  <a:gd name="T8" fmla="*/ 2 w 6"/>
                  <a:gd name="T9" fmla="*/ 2 h 4"/>
                  <a:gd name="T10" fmla="*/ 2 w 6"/>
                  <a:gd name="T11" fmla="*/ 3 h 4"/>
                </a:gdLst>
                <a:ahLst/>
                <a:cxnLst>
                  <a:cxn ang="0">
                    <a:pos x="T0" y="T1"/>
                  </a:cxn>
                  <a:cxn ang="0">
                    <a:pos x="T2" y="T3"/>
                  </a:cxn>
                  <a:cxn ang="0">
                    <a:pos x="T4" y="T5"/>
                  </a:cxn>
                  <a:cxn ang="0">
                    <a:pos x="T6" y="T7"/>
                  </a:cxn>
                  <a:cxn ang="0">
                    <a:pos x="T8" y="T9"/>
                  </a:cxn>
                  <a:cxn ang="0">
                    <a:pos x="T10" y="T11"/>
                  </a:cxn>
                </a:cxnLst>
                <a:rect l="0" t="0" r="r" b="b"/>
                <a:pathLst>
                  <a:path w="6" h="4">
                    <a:moveTo>
                      <a:pt x="2" y="3"/>
                    </a:moveTo>
                    <a:cubicBezTo>
                      <a:pt x="2" y="3"/>
                      <a:pt x="3" y="4"/>
                      <a:pt x="4" y="3"/>
                    </a:cubicBezTo>
                    <a:cubicBezTo>
                      <a:pt x="5" y="3"/>
                      <a:pt x="5" y="2"/>
                      <a:pt x="6" y="1"/>
                    </a:cubicBezTo>
                    <a:cubicBezTo>
                      <a:pt x="6" y="1"/>
                      <a:pt x="5" y="0"/>
                      <a:pt x="5" y="1"/>
                    </a:cubicBezTo>
                    <a:cubicBezTo>
                      <a:pt x="4" y="1"/>
                      <a:pt x="4" y="1"/>
                      <a:pt x="2" y="2"/>
                    </a:cubicBezTo>
                    <a:cubicBezTo>
                      <a:pt x="0" y="2"/>
                      <a:pt x="2"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71" name="Freeform 179">
                <a:extLst>
                  <a:ext uri="{FF2B5EF4-FFF2-40B4-BE49-F238E27FC236}">
                    <a16:creationId xmlns:a16="http://schemas.microsoft.com/office/drawing/2014/main" id="{86C7F891-7F1B-4336-B376-BC7B5CB2AECC}"/>
                  </a:ext>
                </a:extLst>
              </p:cNvPr>
              <p:cNvSpPr>
                <a:spLocks/>
              </p:cNvSpPr>
              <p:nvPr/>
            </p:nvSpPr>
            <p:spPr bwMode="auto">
              <a:xfrm>
                <a:off x="7145" y="1511"/>
                <a:ext cx="10" cy="9"/>
              </a:xfrm>
              <a:custGeom>
                <a:avLst/>
                <a:gdLst>
                  <a:gd name="T0" fmla="*/ 5 w 7"/>
                  <a:gd name="T1" fmla="*/ 1 h 6"/>
                  <a:gd name="T2" fmla="*/ 0 w 7"/>
                  <a:gd name="T3" fmla="*/ 5 h 6"/>
                  <a:gd name="T4" fmla="*/ 2 w 7"/>
                  <a:gd name="T5" fmla="*/ 5 h 6"/>
                  <a:gd name="T6" fmla="*/ 5 w 7"/>
                  <a:gd name="T7" fmla="*/ 4 h 6"/>
                  <a:gd name="T8" fmla="*/ 5 w 7"/>
                  <a:gd name="T9" fmla="*/ 2 h 6"/>
                  <a:gd name="T10" fmla="*/ 5 w 7"/>
                  <a:gd name="T11" fmla="*/ 1 h 6"/>
                </a:gdLst>
                <a:ahLst/>
                <a:cxnLst>
                  <a:cxn ang="0">
                    <a:pos x="T0" y="T1"/>
                  </a:cxn>
                  <a:cxn ang="0">
                    <a:pos x="T2" y="T3"/>
                  </a:cxn>
                  <a:cxn ang="0">
                    <a:pos x="T4" y="T5"/>
                  </a:cxn>
                  <a:cxn ang="0">
                    <a:pos x="T6" y="T7"/>
                  </a:cxn>
                  <a:cxn ang="0">
                    <a:pos x="T8" y="T9"/>
                  </a:cxn>
                  <a:cxn ang="0">
                    <a:pos x="T10" y="T11"/>
                  </a:cxn>
                </a:cxnLst>
                <a:rect l="0" t="0" r="r" b="b"/>
                <a:pathLst>
                  <a:path w="7" h="6">
                    <a:moveTo>
                      <a:pt x="5" y="1"/>
                    </a:moveTo>
                    <a:cubicBezTo>
                      <a:pt x="3" y="2"/>
                      <a:pt x="0" y="5"/>
                      <a:pt x="0" y="5"/>
                    </a:cubicBezTo>
                    <a:cubicBezTo>
                      <a:pt x="0" y="6"/>
                      <a:pt x="1" y="5"/>
                      <a:pt x="2" y="5"/>
                    </a:cubicBezTo>
                    <a:cubicBezTo>
                      <a:pt x="2" y="4"/>
                      <a:pt x="3" y="4"/>
                      <a:pt x="5" y="4"/>
                    </a:cubicBezTo>
                    <a:cubicBezTo>
                      <a:pt x="6" y="4"/>
                      <a:pt x="5" y="3"/>
                      <a:pt x="5" y="2"/>
                    </a:cubicBezTo>
                    <a:cubicBezTo>
                      <a:pt x="6" y="0"/>
                      <a:pt x="7" y="1"/>
                      <a:pt x="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72" name="Freeform 180">
                <a:extLst>
                  <a:ext uri="{FF2B5EF4-FFF2-40B4-BE49-F238E27FC236}">
                    <a16:creationId xmlns:a16="http://schemas.microsoft.com/office/drawing/2014/main" id="{8426B330-5917-4F3F-A2AB-050C12801A02}"/>
                  </a:ext>
                </a:extLst>
              </p:cNvPr>
              <p:cNvSpPr>
                <a:spLocks/>
              </p:cNvSpPr>
              <p:nvPr/>
            </p:nvSpPr>
            <p:spPr bwMode="auto">
              <a:xfrm>
                <a:off x="7171" y="1524"/>
                <a:ext cx="18" cy="8"/>
              </a:xfrm>
              <a:custGeom>
                <a:avLst/>
                <a:gdLst>
                  <a:gd name="T0" fmla="*/ 9 w 13"/>
                  <a:gd name="T1" fmla="*/ 5 h 6"/>
                  <a:gd name="T2" fmla="*/ 12 w 13"/>
                  <a:gd name="T3" fmla="*/ 6 h 6"/>
                  <a:gd name="T4" fmla="*/ 10 w 13"/>
                  <a:gd name="T5" fmla="*/ 5 h 6"/>
                  <a:gd name="T6" fmla="*/ 8 w 13"/>
                  <a:gd name="T7" fmla="*/ 3 h 6"/>
                  <a:gd name="T8" fmla="*/ 3 w 13"/>
                  <a:gd name="T9" fmla="*/ 0 h 6"/>
                  <a:gd name="T10" fmla="*/ 4 w 13"/>
                  <a:gd name="T11" fmla="*/ 2 h 6"/>
                  <a:gd name="T12" fmla="*/ 9 w 13"/>
                  <a:gd name="T13" fmla="*/ 5 h 6"/>
                </a:gdLst>
                <a:ahLst/>
                <a:cxnLst>
                  <a:cxn ang="0">
                    <a:pos x="T0" y="T1"/>
                  </a:cxn>
                  <a:cxn ang="0">
                    <a:pos x="T2" y="T3"/>
                  </a:cxn>
                  <a:cxn ang="0">
                    <a:pos x="T4" y="T5"/>
                  </a:cxn>
                  <a:cxn ang="0">
                    <a:pos x="T6" y="T7"/>
                  </a:cxn>
                  <a:cxn ang="0">
                    <a:pos x="T8" y="T9"/>
                  </a:cxn>
                  <a:cxn ang="0">
                    <a:pos x="T10" y="T11"/>
                  </a:cxn>
                  <a:cxn ang="0">
                    <a:pos x="T12" y="T13"/>
                  </a:cxn>
                </a:cxnLst>
                <a:rect l="0" t="0" r="r" b="b"/>
                <a:pathLst>
                  <a:path w="13" h="6">
                    <a:moveTo>
                      <a:pt x="9" y="5"/>
                    </a:moveTo>
                    <a:cubicBezTo>
                      <a:pt x="10" y="6"/>
                      <a:pt x="10" y="6"/>
                      <a:pt x="12" y="6"/>
                    </a:cubicBezTo>
                    <a:cubicBezTo>
                      <a:pt x="13" y="5"/>
                      <a:pt x="12" y="5"/>
                      <a:pt x="10" y="5"/>
                    </a:cubicBezTo>
                    <a:cubicBezTo>
                      <a:pt x="9" y="4"/>
                      <a:pt x="9" y="4"/>
                      <a:pt x="8" y="3"/>
                    </a:cubicBezTo>
                    <a:cubicBezTo>
                      <a:pt x="6" y="2"/>
                      <a:pt x="6" y="0"/>
                      <a:pt x="3" y="0"/>
                    </a:cubicBezTo>
                    <a:cubicBezTo>
                      <a:pt x="0" y="0"/>
                      <a:pt x="4" y="2"/>
                      <a:pt x="4" y="2"/>
                    </a:cubicBezTo>
                    <a:cubicBezTo>
                      <a:pt x="4" y="2"/>
                      <a:pt x="8" y="4"/>
                      <a:pt x="9"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73" name="Freeform 181">
                <a:extLst>
                  <a:ext uri="{FF2B5EF4-FFF2-40B4-BE49-F238E27FC236}">
                    <a16:creationId xmlns:a16="http://schemas.microsoft.com/office/drawing/2014/main" id="{8A386094-EE6E-431C-A5FD-E0F93E4B00E4}"/>
                  </a:ext>
                </a:extLst>
              </p:cNvPr>
              <p:cNvSpPr>
                <a:spLocks/>
              </p:cNvSpPr>
              <p:nvPr/>
            </p:nvSpPr>
            <p:spPr bwMode="auto">
              <a:xfrm>
                <a:off x="7191" y="1514"/>
                <a:ext cx="5" cy="4"/>
              </a:xfrm>
              <a:custGeom>
                <a:avLst/>
                <a:gdLst>
                  <a:gd name="T0" fmla="*/ 4 w 4"/>
                  <a:gd name="T1" fmla="*/ 2 h 3"/>
                  <a:gd name="T2" fmla="*/ 3 w 4"/>
                  <a:gd name="T3" fmla="*/ 0 h 3"/>
                  <a:gd name="T4" fmla="*/ 0 w 4"/>
                  <a:gd name="T5" fmla="*/ 1 h 3"/>
                  <a:gd name="T6" fmla="*/ 2 w 4"/>
                  <a:gd name="T7" fmla="*/ 2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4" y="2"/>
                      <a:pt x="4" y="1"/>
                      <a:pt x="3" y="0"/>
                    </a:cubicBezTo>
                    <a:cubicBezTo>
                      <a:pt x="2" y="0"/>
                      <a:pt x="0" y="0"/>
                      <a:pt x="0" y="1"/>
                    </a:cubicBezTo>
                    <a:cubicBezTo>
                      <a:pt x="1" y="2"/>
                      <a:pt x="2" y="2"/>
                      <a:pt x="2" y="2"/>
                    </a:cubicBezTo>
                    <a:cubicBezTo>
                      <a:pt x="2" y="2"/>
                      <a:pt x="3" y="3"/>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74" name="Freeform 182">
                <a:extLst>
                  <a:ext uri="{FF2B5EF4-FFF2-40B4-BE49-F238E27FC236}">
                    <a16:creationId xmlns:a16="http://schemas.microsoft.com/office/drawing/2014/main" id="{DE7B9C95-57AD-4893-B1D9-AE2E8F2A3FEE}"/>
                  </a:ext>
                </a:extLst>
              </p:cNvPr>
              <p:cNvSpPr>
                <a:spLocks/>
              </p:cNvSpPr>
              <p:nvPr/>
            </p:nvSpPr>
            <p:spPr bwMode="auto">
              <a:xfrm>
                <a:off x="7238" y="1517"/>
                <a:ext cx="12" cy="10"/>
              </a:xfrm>
              <a:custGeom>
                <a:avLst/>
                <a:gdLst>
                  <a:gd name="T0" fmla="*/ 7 w 9"/>
                  <a:gd name="T1" fmla="*/ 2 h 7"/>
                  <a:gd name="T2" fmla="*/ 5 w 9"/>
                  <a:gd name="T3" fmla="*/ 1 h 7"/>
                  <a:gd name="T4" fmla="*/ 2 w 9"/>
                  <a:gd name="T5" fmla="*/ 0 h 7"/>
                  <a:gd name="T6" fmla="*/ 1 w 9"/>
                  <a:gd name="T7" fmla="*/ 1 h 7"/>
                  <a:gd name="T8" fmla="*/ 4 w 9"/>
                  <a:gd name="T9" fmla="*/ 6 h 7"/>
                  <a:gd name="T10" fmla="*/ 6 w 9"/>
                  <a:gd name="T11" fmla="*/ 4 h 7"/>
                  <a:gd name="T12" fmla="*/ 7 w 9"/>
                  <a:gd name="T13" fmla="*/ 2 h 7"/>
                  <a:gd name="T14" fmla="*/ 7 w 9"/>
                  <a:gd name="T15" fmla="*/ 2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7">
                    <a:moveTo>
                      <a:pt x="7" y="2"/>
                    </a:moveTo>
                    <a:cubicBezTo>
                      <a:pt x="6" y="2"/>
                      <a:pt x="6" y="1"/>
                      <a:pt x="5" y="1"/>
                    </a:cubicBezTo>
                    <a:cubicBezTo>
                      <a:pt x="4" y="0"/>
                      <a:pt x="4" y="0"/>
                      <a:pt x="2" y="0"/>
                    </a:cubicBezTo>
                    <a:cubicBezTo>
                      <a:pt x="0" y="0"/>
                      <a:pt x="1" y="1"/>
                      <a:pt x="1" y="1"/>
                    </a:cubicBezTo>
                    <a:cubicBezTo>
                      <a:pt x="1" y="1"/>
                      <a:pt x="3" y="4"/>
                      <a:pt x="4" y="6"/>
                    </a:cubicBezTo>
                    <a:cubicBezTo>
                      <a:pt x="5" y="7"/>
                      <a:pt x="6" y="5"/>
                      <a:pt x="6" y="4"/>
                    </a:cubicBezTo>
                    <a:cubicBezTo>
                      <a:pt x="7" y="3"/>
                      <a:pt x="5" y="3"/>
                      <a:pt x="7" y="2"/>
                    </a:cubicBezTo>
                    <a:cubicBezTo>
                      <a:pt x="9" y="1"/>
                      <a:pt x="8" y="2"/>
                      <a:pt x="7"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75" name="Freeform 183">
                <a:extLst>
                  <a:ext uri="{FF2B5EF4-FFF2-40B4-BE49-F238E27FC236}">
                    <a16:creationId xmlns:a16="http://schemas.microsoft.com/office/drawing/2014/main" id="{FAB6F977-99C1-4CE7-AE58-CD01090A7789}"/>
                  </a:ext>
                </a:extLst>
              </p:cNvPr>
              <p:cNvSpPr>
                <a:spLocks/>
              </p:cNvSpPr>
              <p:nvPr/>
            </p:nvSpPr>
            <p:spPr bwMode="auto">
              <a:xfrm>
                <a:off x="7250" y="1517"/>
                <a:ext cx="13" cy="7"/>
              </a:xfrm>
              <a:custGeom>
                <a:avLst/>
                <a:gdLst>
                  <a:gd name="T0" fmla="*/ 4 w 9"/>
                  <a:gd name="T1" fmla="*/ 3 h 5"/>
                  <a:gd name="T2" fmla="*/ 3 w 9"/>
                  <a:gd name="T3" fmla="*/ 4 h 5"/>
                  <a:gd name="T4" fmla="*/ 5 w 9"/>
                  <a:gd name="T5" fmla="*/ 4 h 5"/>
                  <a:gd name="T6" fmla="*/ 8 w 9"/>
                  <a:gd name="T7" fmla="*/ 2 h 5"/>
                  <a:gd name="T8" fmla="*/ 4 w 9"/>
                  <a:gd name="T9" fmla="*/ 3 h 5"/>
                </a:gdLst>
                <a:ahLst/>
                <a:cxnLst>
                  <a:cxn ang="0">
                    <a:pos x="T0" y="T1"/>
                  </a:cxn>
                  <a:cxn ang="0">
                    <a:pos x="T2" y="T3"/>
                  </a:cxn>
                  <a:cxn ang="0">
                    <a:pos x="T4" y="T5"/>
                  </a:cxn>
                  <a:cxn ang="0">
                    <a:pos x="T6" y="T7"/>
                  </a:cxn>
                  <a:cxn ang="0">
                    <a:pos x="T8" y="T9"/>
                  </a:cxn>
                </a:cxnLst>
                <a:rect l="0" t="0" r="r" b="b"/>
                <a:pathLst>
                  <a:path w="9" h="5">
                    <a:moveTo>
                      <a:pt x="4" y="3"/>
                    </a:moveTo>
                    <a:cubicBezTo>
                      <a:pt x="0" y="4"/>
                      <a:pt x="3" y="4"/>
                      <a:pt x="3" y="4"/>
                    </a:cubicBezTo>
                    <a:cubicBezTo>
                      <a:pt x="3" y="4"/>
                      <a:pt x="4" y="3"/>
                      <a:pt x="5" y="4"/>
                    </a:cubicBezTo>
                    <a:cubicBezTo>
                      <a:pt x="6" y="5"/>
                      <a:pt x="7" y="4"/>
                      <a:pt x="8" y="2"/>
                    </a:cubicBezTo>
                    <a:cubicBezTo>
                      <a:pt x="9" y="0"/>
                      <a:pt x="8" y="1"/>
                      <a:pt x="4"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78" name="Freeform 184">
                <a:extLst>
                  <a:ext uri="{FF2B5EF4-FFF2-40B4-BE49-F238E27FC236}">
                    <a16:creationId xmlns:a16="http://schemas.microsoft.com/office/drawing/2014/main" id="{C9084A96-FB8E-4AA7-A0EE-0A136C739684}"/>
                  </a:ext>
                </a:extLst>
              </p:cNvPr>
              <p:cNvSpPr>
                <a:spLocks/>
              </p:cNvSpPr>
              <p:nvPr/>
            </p:nvSpPr>
            <p:spPr bwMode="auto">
              <a:xfrm>
                <a:off x="7264" y="1516"/>
                <a:ext cx="11" cy="11"/>
              </a:xfrm>
              <a:custGeom>
                <a:avLst/>
                <a:gdLst>
                  <a:gd name="T0" fmla="*/ 2 w 8"/>
                  <a:gd name="T1" fmla="*/ 6 h 8"/>
                  <a:gd name="T2" fmla="*/ 3 w 8"/>
                  <a:gd name="T3" fmla="*/ 6 h 8"/>
                  <a:gd name="T4" fmla="*/ 4 w 8"/>
                  <a:gd name="T5" fmla="*/ 5 h 8"/>
                  <a:gd name="T6" fmla="*/ 6 w 8"/>
                  <a:gd name="T7" fmla="*/ 5 h 8"/>
                  <a:gd name="T8" fmla="*/ 8 w 8"/>
                  <a:gd name="T9" fmla="*/ 4 h 8"/>
                  <a:gd name="T10" fmla="*/ 6 w 8"/>
                  <a:gd name="T11" fmla="*/ 2 h 8"/>
                  <a:gd name="T12" fmla="*/ 6 w 8"/>
                  <a:gd name="T13" fmla="*/ 1 h 8"/>
                  <a:gd name="T14" fmla="*/ 4 w 8"/>
                  <a:gd name="T15" fmla="*/ 0 h 8"/>
                  <a:gd name="T16" fmla="*/ 3 w 8"/>
                  <a:gd name="T17" fmla="*/ 2 h 8"/>
                  <a:gd name="T18" fmla="*/ 2 w 8"/>
                  <a:gd name="T19" fmla="*/ 3 h 8"/>
                  <a:gd name="T20" fmla="*/ 1 w 8"/>
                  <a:gd name="T21" fmla="*/ 4 h 8"/>
                  <a:gd name="T22" fmla="*/ 1 w 8"/>
                  <a:gd name="T23" fmla="*/ 6 h 8"/>
                  <a:gd name="T24" fmla="*/ 2 w 8"/>
                  <a:gd name="T25"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 h="8">
                    <a:moveTo>
                      <a:pt x="2" y="6"/>
                    </a:moveTo>
                    <a:cubicBezTo>
                      <a:pt x="3" y="8"/>
                      <a:pt x="4" y="6"/>
                      <a:pt x="3" y="6"/>
                    </a:cubicBezTo>
                    <a:cubicBezTo>
                      <a:pt x="3" y="6"/>
                      <a:pt x="4" y="5"/>
                      <a:pt x="4" y="5"/>
                    </a:cubicBezTo>
                    <a:cubicBezTo>
                      <a:pt x="5" y="5"/>
                      <a:pt x="6" y="6"/>
                      <a:pt x="6" y="5"/>
                    </a:cubicBezTo>
                    <a:cubicBezTo>
                      <a:pt x="7" y="4"/>
                      <a:pt x="8" y="5"/>
                      <a:pt x="8" y="4"/>
                    </a:cubicBezTo>
                    <a:cubicBezTo>
                      <a:pt x="8" y="3"/>
                      <a:pt x="7" y="2"/>
                      <a:pt x="6" y="2"/>
                    </a:cubicBezTo>
                    <a:cubicBezTo>
                      <a:pt x="5" y="2"/>
                      <a:pt x="5" y="1"/>
                      <a:pt x="6" y="1"/>
                    </a:cubicBezTo>
                    <a:cubicBezTo>
                      <a:pt x="7" y="0"/>
                      <a:pt x="5" y="0"/>
                      <a:pt x="4" y="0"/>
                    </a:cubicBezTo>
                    <a:cubicBezTo>
                      <a:pt x="3" y="0"/>
                      <a:pt x="3" y="1"/>
                      <a:pt x="3" y="2"/>
                    </a:cubicBezTo>
                    <a:cubicBezTo>
                      <a:pt x="3" y="3"/>
                      <a:pt x="4" y="4"/>
                      <a:pt x="2" y="3"/>
                    </a:cubicBezTo>
                    <a:cubicBezTo>
                      <a:pt x="1" y="3"/>
                      <a:pt x="1" y="4"/>
                      <a:pt x="1" y="4"/>
                    </a:cubicBezTo>
                    <a:cubicBezTo>
                      <a:pt x="0" y="8"/>
                      <a:pt x="1" y="7"/>
                      <a:pt x="1" y="6"/>
                    </a:cubicBezTo>
                    <a:cubicBezTo>
                      <a:pt x="2" y="5"/>
                      <a:pt x="2" y="5"/>
                      <a:pt x="2"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81" name="Freeform 185">
                <a:extLst>
                  <a:ext uri="{FF2B5EF4-FFF2-40B4-BE49-F238E27FC236}">
                    <a16:creationId xmlns:a16="http://schemas.microsoft.com/office/drawing/2014/main" id="{AF938D52-674D-4A53-A742-3DCE3D1FBC57}"/>
                  </a:ext>
                </a:extLst>
              </p:cNvPr>
              <p:cNvSpPr>
                <a:spLocks/>
              </p:cNvSpPr>
              <p:nvPr/>
            </p:nvSpPr>
            <p:spPr bwMode="auto">
              <a:xfrm>
                <a:off x="7275" y="1518"/>
                <a:ext cx="3" cy="6"/>
              </a:xfrm>
              <a:custGeom>
                <a:avLst/>
                <a:gdLst>
                  <a:gd name="T0" fmla="*/ 1 w 2"/>
                  <a:gd name="T1" fmla="*/ 0 h 4"/>
                  <a:gd name="T2" fmla="*/ 1 w 2"/>
                  <a:gd name="T3" fmla="*/ 2 h 4"/>
                  <a:gd name="T4" fmla="*/ 1 w 2"/>
                  <a:gd name="T5" fmla="*/ 0 h 4"/>
                </a:gdLst>
                <a:ahLst/>
                <a:cxnLst>
                  <a:cxn ang="0">
                    <a:pos x="T0" y="T1"/>
                  </a:cxn>
                  <a:cxn ang="0">
                    <a:pos x="T2" y="T3"/>
                  </a:cxn>
                  <a:cxn ang="0">
                    <a:pos x="T4" y="T5"/>
                  </a:cxn>
                </a:cxnLst>
                <a:rect l="0" t="0" r="r" b="b"/>
                <a:pathLst>
                  <a:path w="2" h="4">
                    <a:moveTo>
                      <a:pt x="1" y="0"/>
                    </a:moveTo>
                    <a:cubicBezTo>
                      <a:pt x="0" y="0"/>
                      <a:pt x="1" y="2"/>
                      <a:pt x="1" y="2"/>
                    </a:cubicBezTo>
                    <a:cubicBezTo>
                      <a:pt x="2" y="4"/>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86" name="Freeform 186">
                <a:extLst>
                  <a:ext uri="{FF2B5EF4-FFF2-40B4-BE49-F238E27FC236}">
                    <a16:creationId xmlns:a16="http://schemas.microsoft.com/office/drawing/2014/main" id="{37576C5D-2EF7-40DF-AD53-C88961A9C4D2}"/>
                  </a:ext>
                </a:extLst>
              </p:cNvPr>
              <p:cNvSpPr>
                <a:spLocks/>
              </p:cNvSpPr>
              <p:nvPr/>
            </p:nvSpPr>
            <p:spPr bwMode="auto">
              <a:xfrm>
                <a:off x="7279" y="1517"/>
                <a:ext cx="4" cy="4"/>
              </a:xfrm>
              <a:custGeom>
                <a:avLst/>
                <a:gdLst>
                  <a:gd name="T0" fmla="*/ 1 w 3"/>
                  <a:gd name="T1" fmla="*/ 2 h 3"/>
                  <a:gd name="T2" fmla="*/ 2 w 3"/>
                  <a:gd name="T3" fmla="*/ 2 h 3"/>
                  <a:gd name="T4" fmla="*/ 2 w 3"/>
                  <a:gd name="T5" fmla="*/ 1 h 3"/>
                  <a:gd name="T6" fmla="*/ 1 w 3"/>
                  <a:gd name="T7" fmla="*/ 2 h 3"/>
                </a:gdLst>
                <a:ahLst/>
                <a:cxnLst>
                  <a:cxn ang="0">
                    <a:pos x="T0" y="T1"/>
                  </a:cxn>
                  <a:cxn ang="0">
                    <a:pos x="T2" y="T3"/>
                  </a:cxn>
                  <a:cxn ang="0">
                    <a:pos x="T4" y="T5"/>
                  </a:cxn>
                  <a:cxn ang="0">
                    <a:pos x="T6" y="T7"/>
                  </a:cxn>
                </a:cxnLst>
                <a:rect l="0" t="0" r="r" b="b"/>
                <a:pathLst>
                  <a:path w="3" h="3">
                    <a:moveTo>
                      <a:pt x="1" y="2"/>
                    </a:moveTo>
                    <a:cubicBezTo>
                      <a:pt x="1" y="2"/>
                      <a:pt x="1" y="3"/>
                      <a:pt x="2" y="2"/>
                    </a:cubicBezTo>
                    <a:cubicBezTo>
                      <a:pt x="3" y="2"/>
                      <a:pt x="3" y="2"/>
                      <a:pt x="2" y="1"/>
                    </a:cubicBezTo>
                    <a:cubicBezTo>
                      <a:pt x="1" y="1"/>
                      <a:pt x="0"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89" name="Freeform 187">
                <a:extLst>
                  <a:ext uri="{FF2B5EF4-FFF2-40B4-BE49-F238E27FC236}">
                    <a16:creationId xmlns:a16="http://schemas.microsoft.com/office/drawing/2014/main" id="{820AE1C7-37AB-454F-BCA7-432CAF4FC2FF}"/>
                  </a:ext>
                </a:extLst>
              </p:cNvPr>
              <p:cNvSpPr>
                <a:spLocks/>
              </p:cNvSpPr>
              <p:nvPr/>
            </p:nvSpPr>
            <p:spPr bwMode="auto">
              <a:xfrm>
                <a:off x="7281" y="1510"/>
                <a:ext cx="4" cy="7"/>
              </a:xfrm>
              <a:custGeom>
                <a:avLst/>
                <a:gdLst>
                  <a:gd name="T0" fmla="*/ 2 w 3"/>
                  <a:gd name="T1" fmla="*/ 2 h 5"/>
                  <a:gd name="T2" fmla="*/ 1 w 3"/>
                  <a:gd name="T3" fmla="*/ 3 h 5"/>
                  <a:gd name="T4" fmla="*/ 2 w 3"/>
                  <a:gd name="T5" fmla="*/ 4 h 5"/>
                  <a:gd name="T6" fmla="*/ 2 w 3"/>
                  <a:gd name="T7" fmla="*/ 2 h 5"/>
                </a:gdLst>
                <a:ahLst/>
                <a:cxnLst>
                  <a:cxn ang="0">
                    <a:pos x="T0" y="T1"/>
                  </a:cxn>
                  <a:cxn ang="0">
                    <a:pos x="T2" y="T3"/>
                  </a:cxn>
                  <a:cxn ang="0">
                    <a:pos x="T4" y="T5"/>
                  </a:cxn>
                  <a:cxn ang="0">
                    <a:pos x="T6" y="T7"/>
                  </a:cxn>
                </a:cxnLst>
                <a:rect l="0" t="0" r="r" b="b"/>
                <a:pathLst>
                  <a:path w="3" h="5">
                    <a:moveTo>
                      <a:pt x="2" y="2"/>
                    </a:moveTo>
                    <a:cubicBezTo>
                      <a:pt x="1" y="1"/>
                      <a:pt x="0" y="0"/>
                      <a:pt x="1" y="3"/>
                    </a:cubicBezTo>
                    <a:cubicBezTo>
                      <a:pt x="1" y="3"/>
                      <a:pt x="1" y="5"/>
                      <a:pt x="2" y="4"/>
                    </a:cubicBezTo>
                    <a:cubicBezTo>
                      <a:pt x="2" y="3"/>
                      <a:pt x="3" y="3"/>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91" name="Freeform 188">
                <a:extLst>
                  <a:ext uri="{FF2B5EF4-FFF2-40B4-BE49-F238E27FC236}">
                    <a16:creationId xmlns:a16="http://schemas.microsoft.com/office/drawing/2014/main" id="{52BE408F-C88B-4857-A9EE-63565E9BD7E1}"/>
                  </a:ext>
                </a:extLst>
              </p:cNvPr>
              <p:cNvSpPr>
                <a:spLocks/>
              </p:cNvSpPr>
              <p:nvPr/>
            </p:nvSpPr>
            <p:spPr bwMode="auto">
              <a:xfrm>
                <a:off x="7292" y="1503"/>
                <a:ext cx="34" cy="11"/>
              </a:xfrm>
              <a:custGeom>
                <a:avLst/>
                <a:gdLst>
                  <a:gd name="T0" fmla="*/ 22 w 25"/>
                  <a:gd name="T1" fmla="*/ 0 h 8"/>
                  <a:gd name="T2" fmla="*/ 21 w 25"/>
                  <a:gd name="T3" fmla="*/ 3 h 8"/>
                  <a:gd name="T4" fmla="*/ 15 w 25"/>
                  <a:gd name="T5" fmla="*/ 6 h 8"/>
                  <a:gd name="T6" fmla="*/ 11 w 25"/>
                  <a:gd name="T7" fmla="*/ 7 h 8"/>
                  <a:gd name="T8" fmla="*/ 7 w 25"/>
                  <a:gd name="T9" fmla="*/ 8 h 8"/>
                  <a:gd name="T10" fmla="*/ 10 w 25"/>
                  <a:gd name="T11" fmla="*/ 8 h 8"/>
                  <a:gd name="T12" fmla="*/ 16 w 25"/>
                  <a:gd name="T13" fmla="*/ 7 h 8"/>
                  <a:gd name="T14" fmla="*/ 21 w 25"/>
                  <a:gd name="T15" fmla="*/ 6 h 8"/>
                  <a:gd name="T16" fmla="*/ 22 w 25"/>
                  <a:gd name="T17" fmla="*/ 5 h 8"/>
                  <a:gd name="T18" fmla="*/ 22 w 25"/>
                  <a:gd name="T19" fmla="*/ 4 h 8"/>
                  <a:gd name="T20" fmla="*/ 24 w 25"/>
                  <a:gd name="T21" fmla="*/ 3 h 8"/>
                  <a:gd name="T22" fmla="*/ 22 w 25"/>
                  <a:gd name="T23"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8">
                    <a:moveTo>
                      <a:pt x="22" y="0"/>
                    </a:moveTo>
                    <a:cubicBezTo>
                      <a:pt x="21" y="0"/>
                      <a:pt x="21" y="1"/>
                      <a:pt x="21" y="3"/>
                    </a:cubicBezTo>
                    <a:cubicBezTo>
                      <a:pt x="20" y="4"/>
                      <a:pt x="16" y="6"/>
                      <a:pt x="15" y="6"/>
                    </a:cubicBezTo>
                    <a:cubicBezTo>
                      <a:pt x="14" y="6"/>
                      <a:pt x="13" y="7"/>
                      <a:pt x="11" y="7"/>
                    </a:cubicBezTo>
                    <a:cubicBezTo>
                      <a:pt x="8" y="7"/>
                      <a:pt x="7" y="8"/>
                      <a:pt x="7" y="8"/>
                    </a:cubicBezTo>
                    <a:cubicBezTo>
                      <a:pt x="0" y="8"/>
                      <a:pt x="10" y="8"/>
                      <a:pt x="10" y="8"/>
                    </a:cubicBezTo>
                    <a:cubicBezTo>
                      <a:pt x="12" y="8"/>
                      <a:pt x="15" y="8"/>
                      <a:pt x="16" y="7"/>
                    </a:cubicBezTo>
                    <a:cubicBezTo>
                      <a:pt x="17" y="7"/>
                      <a:pt x="20" y="6"/>
                      <a:pt x="21" y="6"/>
                    </a:cubicBezTo>
                    <a:cubicBezTo>
                      <a:pt x="22" y="6"/>
                      <a:pt x="23" y="6"/>
                      <a:pt x="22" y="5"/>
                    </a:cubicBezTo>
                    <a:cubicBezTo>
                      <a:pt x="21" y="4"/>
                      <a:pt x="21" y="4"/>
                      <a:pt x="22" y="4"/>
                    </a:cubicBezTo>
                    <a:cubicBezTo>
                      <a:pt x="23" y="4"/>
                      <a:pt x="23" y="4"/>
                      <a:pt x="24" y="3"/>
                    </a:cubicBezTo>
                    <a:cubicBezTo>
                      <a:pt x="25" y="2"/>
                      <a:pt x="23" y="1"/>
                      <a:pt x="2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92" name="Freeform 189">
                <a:extLst>
                  <a:ext uri="{FF2B5EF4-FFF2-40B4-BE49-F238E27FC236}">
                    <a16:creationId xmlns:a16="http://schemas.microsoft.com/office/drawing/2014/main" id="{1830A00D-43E6-45F5-9C77-933A31ECF07E}"/>
                  </a:ext>
                </a:extLst>
              </p:cNvPr>
              <p:cNvSpPr>
                <a:spLocks/>
              </p:cNvSpPr>
              <p:nvPr/>
            </p:nvSpPr>
            <p:spPr bwMode="auto">
              <a:xfrm>
                <a:off x="7323" y="1510"/>
                <a:ext cx="29" cy="4"/>
              </a:xfrm>
              <a:custGeom>
                <a:avLst/>
                <a:gdLst>
                  <a:gd name="T0" fmla="*/ 12 w 21"/>
                  <a:gd name="T1" fmla="*/ 1 h 3"/>
                  <a:gd name="T2" fmla="*/ 8 w 21"/>
                  <a:gd name="T3" fmla="*/ 1 h 3"/>
                  <a:gd name="T4" fmla="*/ 6 w 21"/>
                  <a:gd name="T5" fmla="*/ 1 h 3"/>
                  <a:gd name="T6" fmla="*/ 3 w 21"/>
                  <a:gd name="T7" fmla="*/ 1 h 3"/>
                  <a:gd name="T8" fmla="*/ 4 w 21"/>
                  <a:gd name="T9" fmla="*/ 2 h 3"/>
                  <a:gd name="T10" fmla="*/ 8 w 21"/>
                  <a:gd name="T11" fmla="*/ 3 h 3"/>
                  <a:gd name="T12" fmla="*/ 12 w 21"/>
                  <a:gd name="T13" fmla="*/ 2 h 3"/>
                  <a:gd name="T14" fmla="*/ 12 w 21"/>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3">
                    <a:moveTo>
                      <a:pt x="12" y="1"/>
                    </a:moveTo>
                    <a:cubicBezTo>
                      <a:pt x="12" y="1"/>
                      <a:pt x="9" y="1"/>
                      <a:pt x="8" y="1"/>
                    </a:cubicBezTo>
                    <a:cubicBezTo>
                      <a:pt x="8" y="0"/>
                      <a:pt x="7" y="0"/>
                      <a:pt x="6" y="1"/>
                    </a:cubicBezTo>
                    <a:cubicBezTo>
                      <a:pt x="5" y="1"/>
                      <a:pt x="6" y="2"/>
                      <a:pt x="3" y="1"/>
                    </a:cubicBezTo>
                    <a:cubicBezTo>
                      <a:pt x="0" y="1"/>
                      <a:pt x="4" y="2"/>
                      <a:pt x="4" y="2"/>
                    </a:cubicBezTo>
                    <a:cubicBezTo>
                      <a:pt x="4" y="2"/>
                      <a:pt x="6" y="3"/>
                      <a:pt x="8" y="3"/>
                    </a:cubicBezTo>
                    <a:cubicBezTo>
                      <a:pt x="9" y="3"/>
                      <a:pt x="12" y="2"/>
                      <a:pt x="12" y="2"/>
                    </a:cubicBezTo>
                    <a:cubicBezTo>
                      <a:pt x="21" y="1"/>
                      <a:pt x="12" y="1"/>
                      <a:pt x="1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93" name="Freeform 190">
                <a:extLst>
                  <a:ext uri="{FF2B5EF4-FFF2-40B4-BE49-F238E27FC236}">
                    <a16:creationId xmlns:a16="http://schemas.microsoft.com/office/drawing/2014/main" id="{D7C21109-5A7F-4D8C-890A-0294DC654FA9}"/>
                  </a:ext>
                </a:extLst>
              </p:cNvPr>
              <p:cNvSpPr>
                <a:spLocks/>
              </p:cNvSpPr>
              <p:nvPr/>
            </p:nvSpPr>
            <p:spPr bwMode="auto">
              <a:xfrm>
                <a:off x="7354" y="1505"/>
                <a:ext cx="5" cy="4"/>
              </a:xfrm>
              <a:custGeom>
                <a:avLst/>
                <a:gdLst>
                  <a:gd name="T0" fmla="*/ 2 w 4"/>
                  <a:gd name="T1" fmla="*/ 2 h 3"/>
                  <a:gd name="T2" fmla="*/ 3 w 4"/>
                  <a:gd name="T3" fmla="*/ 0 h 3"/>
                  <a:gd name="T4" fmla="*/ 1 w 4"/>
                  <a:gd name="T5" fmla="*/ 1 h 3"/>
                  <a:gd name="T6" fmla="*/ 2 w 4"/>
                  <a:gd name="T7" fmla="*/ 2 h 3"/>
                </a:gdLst>
                <a:ahLst/>
                <a:cxnLst>
                  <a:cxn ang="0">
                    <a:pos x="T0" y="T1"/>
                  </a:cxn>
                  <a:cxn ang="0">
                    <a:pos x="T2" y="T3"/>
                  </a:cxn>
                  <a:cxn ang="0">
                    <a:pos x="T4" y="T5"/>
                  </a:cxn>
                  <a:cxn ang="0">
                    <a:pos x="T6" y="T7"/>
                  </a:cxn>
                </a:cxnLst>
                <a:rect l="0" t="0" r="r" b="b"/>
                <a:pathLst>
                  <a:path w="4" h="3">
                    <a:moveTo>
                      <a:pt x="2" y="2"/>
                    </a:moveTo>
                    <a:cubicBezTo>
                      <a:pt x="4" y="0"/>
                      <a:pt x="4" y="0"/>
                      <a:pt x="3" y="0"/>
                    </a:cubicBezTo>
                    <a:cubicBezTo>
                      <a:pt x="2" y="0"/>
                      <a:pt x="1" y="0"/>
                      <a:pt x="1" y="1"/>
                    </a:cubicBezTo>
                    <a:cubicBezTo>
                      <a:pt x="0" y="3"/>
                      <a:pt x="2" y="2"/>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94" name="Freeform 191">
                <a:extLst>
                  <a:ext uri="{FF2B5EF4-FFF2-40B4-BE49-F238E27FC236}">
                    <a16:creationId xmlns:a16="http://schemas.microsoft.com/office/drawing/2014/main" id="{2DB095BA-DD2F-4C91-871B-F8EA3C6B4905}"/>
                  </a:ext>
                </a:extLst>
              </p:cNvPr>
              <p:cNvSpPr>
                <a:spLocks/>
              </p:cNvSpPr>
              <p:nvPr/>
            </p:nvSpPr>
            <p:spPr bwMode="auto">
              <a:xfrm>
                <a:off x="7393" y="1496"/>
                <a:ext cx="2" cy="3"/>
              </a:xfrm>
              <a:custGeom>
                <a:avLst/>
                <a:gdLst>
                  <a:gd name="T0" fmla="*/ 0 w 2"/>
                  <a:gd name="T1" fmla="*/ 2 h 2"/>
                  <a:gd name="T2" fmla="*/ 2 w 2"/>
                  <a:gd name="T3" fmla="*/ 1 h 2"/>
                  <a:gd name="T4" fmla="*/ 0 w 2"/>
                  <a:gd name="T5" fmla="*/ 2 h 2"/>
                </a:gdLst>
                <a:ahLst/>
                <a:cxnLst>
                  <a:cxn ang="0">
                    <a:pos x="T0" y="T1"/>
                  </a:cxn>
                  <a:cxn ang="0">
                    <a:pos x="T2" y="T3"/>
                  </a:cxn>
                  <a:cxn ang="0">
                    <a:pos x="T4" y="T5"/>
                  </a:cxn>
                </a:cxnLst>
                <a:rect l="0" t="0" r="r" b="b"/>
                <a:pathLst>
                  <a:path w="2" h="2">
                    <a:moveTo>
                      <a:pt x="0" y="2"/>
                    </a:moveTo>
                    <a:cubicBezTo>
                      <a:pt x="0" y="2"/>
                      <a:pt x="2" y="2"/>
                      <a:pt x="2" y="1"/>
                    </a:cubicBezTo>
                    <a:cubicBezTo>
                      <a:pt x="2" y="0"/>
                      <a:pt x="1" y="1"/>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95" name="Freeform 192">
                <a:extLst>
                  <a:ext uri="{FF2B5EF4-FFF2-40B4-BE49-F238E27FC236}">
                    <a16:creationId xmlns:a16="http://schemas.microsoft.com/office/drawing/2014/main" id="{85D63678-4EBA-454C-BFC3-47841730B916}"/>
                  </a:ext>
                </a:extLst>
              </p:cNvPr>
              <p:cNvSpPr>
                <a:spLocks/>
              </p:cNvSpPr>
              <p:nvPr/>
            </p:nvSpPr>
            <p:spPr bwMode="auto">
              <a:xfrm>
                <a:off x="7406" y="1489"/>
                <a:ext cx="7" cy="6"/>
              </a:xfrm>
              <a:custGeom>
                <a:avLst/>
                <a:gdLst>
                  <a:gd name="T0" fmla="*/ 3 w 5"/>
                  <a:gd name="T1" fmla="*/ 1 h 4"/>
                  <a:gd name="T2" fmla="*/ 1 w 5"/>
                  <a:gd name="T3" fmla="*/ 2 h 4"/>
                  <a:gd name="T4" fmla="*/ 5 w 5"/>
                  <a:gd name="T5" fmla="*/ 3 h 4"/>
                  <a:gd name="T6" fmla="*/ 3 w 5"/>
                  <a:gd name="T7" fmla="*/ 1 h 4"/>
                </a:gdLst>
                <a:ahLst/>
                <a:cxnLst>
                  <a:cxn ang="0">
                    <a:pos x="T0" y="T1"/>
                  </a:cxn>
                  <a:cxn ang="0">
                    <a:pos x="T2" y="T3"/>
                  </a:cxn>
                  <a:cxn ang="0">
                    <a:pos x="T4" y="T5"/>
                  </a:cxn>
                  <a:cxn ang="0">
                    <a:pos x="T6" y="T7"/>
                  </a:cxn>
                </a:cxnLst>
                <a:rect l="0" t="0" r="r" b="b"/>
                <a:pathLst>
                  <a:path w="5" h="4">
                    <a:moveTo>
                      <a:pt x="3" y="1"/>
                    </a:moveTo>
                    <a:cubicBezTo>
                      <a:pt x="1" y="1"/>
                      <a:pt x="0" y="1"/>
                      <a:pt x="1" y="2"/>
                    </a:cubicBezTo>
                    <a:cubicBezTo>
                      <a:pt x="1" y="2"/>
                      <a:pt x="4" y="4"/>
                      <a:pt x="5" y="3"/>
                    </a:cubicBezTo>
                    <a:cubicBezTo>
                      <a:pt x="5" y="1"/>
                      <a:pt x="5" y="0"/>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96" name="Freeform 193">
                <a:extLst>
                  <a:ext uri="{FF2B5EF4-FFF2-40B4-BE49-F238E27FC236}">
                    <a16:creationId xmlns:a16="http://schemas.microsoft.com/office/drawing/2014/main" id="{DAB117B6-559D-41E4-8CB5-249B3A60DB96}"/>
                  </a:ext>
                </a:extLst>
              </p:cNvPr>
              <p:cNvSpPr>
                <a:spLocks/>
              </p:cNvSpPr>
              <p:nvPr/>
            </p:nvSpPr>
            <p:spPr bwMode="auto">
              <a:xfrm>
                <a:off x="7426" y="1470"/>
                <a:ext cx="23" cy="22"/>
              </a:xfrm>
              <a:custGeom>
                <a:avLst/>
                <a:gdLst>
                  <a:gd name="T0" fmla="*/ 14 w 17"/>
                  <a:gd name="T1" fmla="*/ 1 h 16"/>
                  <a:gd name="T2" fmla="*/ 10 w 17"/>
                  <a:gd name="T3" fmla="*/ 5 h 16"/>
                  <a:gd name="T4" fmla="*/ 9 w 17"/>
                  <a:gd name="T5" fmla="*/ 8 h 16"/>
                  <a:gd name="T6" fmla="*/ 5 w 17"/>
                  <a:gd name="T7" fmla="*/ 8 h 16"/>
                  <a:gd name="T8" fmla="*/ 5 w 17"/>
                  <a:gd name="T9" fmla="*/ 10 h 16"/>
                  <a:gd name="T10" fmla="*/ 4 w 17"/>
                  <a:gd name="T11" fmla="*/ 12 h 16"/>
                  <a:gd name="T12" fmla="*/ 2 w 17"/>
                  <a:gd name="T13" fmla="*/ 15 h 16"/>
                  <a:gd name="T14" fmla="*/ 15 w 17"/>
                  <a:gd name="T15" fmla="*/ 5 h 16"/>
                  <a:gd name="T16" fmla="*/ 16 w 17"/>
                  <a:gd name="T17" fmla="*/ 3 h 16"/>
                  <a:gd name="T18" fmla="*/ 14 w 17"/>
                  <a:gd name="T19"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14" y="1"/>
                    </a:moveTo>
                    <a:cubicBezTo>
                      <a:pt x="12" y="2"/>
                      <a:pt x="10" y="3"/>
                      <a:pt x="10" y="5"/>
                    </a:cubicBezTo>
                    <a:cubicBezTo>
                      <a:pt x="10" y="7"/>
                      <a:pt x="10" y="8"/>
                      <a:pt x="9" y="8"/>
                    </a:cubicBezTo>
                    <a:cubicBezTo>
                      <a:pt x="8" y="7"/>
                      <a:pt x="7" y="7"/>
                      <a:pt x="5" y="8"/>
                    </a:cubicBezTo>
                    <a:cubicBezTo>
                      <a:pt x="4" y="9"/>
                      <a:pt x="5" y="9"/>
                      <a:pt x="5" y="10"/>
                    </a:cubicBezTo>
                    <a:cubicBezTo>
                      <a:pt x="5" y="11"/>
                      <a:pt x="4" y="12"/>
                      <a:pt x="4" y="12"/>
                    </a:cubicBezTo>
                    <a:cubicBezTo>
                      <a:pt x="3" y="13"/>
                      <a:pt x="0" y="16"/>
                      <a:pt x="2" y="15"/>
                    </a:cubicBezTo>
                    <a:cubicBezTo>
                      <a:pt x="15" y="5"/>
                      <a:pt x="15" y="5"/>
                      <a:pt x="15" y="5"/>
                    </a:cubicBezTo>
                    <a:cubicBezTo>
                      <a:pt x="15" y="5"/>
                      <a:pt x="16" y="5"/>
                      <a:pt x="16" y="3"/>
                    </a:cubicBezTo>
                    <a:cubicBezTo>
                      <a:pt x="16" y="2"/>
                      <a:pt x="17" y="0"/>
                      <a:pt x="1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97" name="Freeform 194">
                <a:extLst>
                  <a:ext uri="{FF2B5EF4-FFF2-40B4-BE49-F238E27FC236}">
                    <a16:creationId xmlns:a16="http://schemas.microsoft.com/office/drawing/2014/main" id="{36096F99-5DA5-4152-8CD2-1DBF2D59C808}"/>
                  </a:ext>
                </a:extLst>
              </p:cNvPr>
              <p:cNvSpPr>
                <a:spLocks/>
              </p:cNvSpPr>
              <p:nvPr/>
            </p:nvSpPr>
            <p:spPr bwMode="auto">
              <a:xfrm>
                <a:off x="6474" y="2402"/>
                <a:ext cx="10" cy="10"/>
              </a:xfrm>
              <a:custGeom>
                <a:avLst/>
                <a:gdLst>
                  <a:gd name="T0" fmla="*/ 5 w 7"/>
                  <a:gd name="T1" fmla="*/ 2 h 7"/>
                  <a:gd name="T2" fmla="*/ 1 w 7"/>
                  <a:gd name="T3" fmla="*/ 3 h 7"/>
                  <a:gd name="T4" fmla="*/ 1 w 7"/>
                  <a:gd name="T5" fmla="*/ 5 h 7"/>
                  <a:gd name="T6" fmla="*/ 5 w 7"/>
                  <a:gd name="T7" fmla="*/ 2 h 7"/>
                </a:gdLst>
                <a:ahLst/>
                <a:cxnLst>
                  <a:cxn ang="0">
                    <a:pos x="T0" y="T1"/>
                  </a:cxn>
                  <a:cxn ang="0">
                    <a:pos x="T2" y="T3"/>
                  </a:cxn>
                  <a:cxn ang="0">
                    <a:pos x="T4" y="T5"/>
                  </a:cxn>
                  <a:cxn ang="0">
                    <a:pos x="T6" y="T7"/>
                  </a:cxn>
                </a:cxnLst>
                <a:rect l="0" t="0" r="r" b="b"/>
                <a:pathLst>
                  <a:path w="7" h="7">
                    <a:moveTo>
                      <a:pt x="5" y="2"/>
                    </a:moveTo>
                    <a:cubicBezTo>
                      <a:pt x="7" y="0"/>
                      <a:pt x="3" y="2"/>
                      <a:pt x="1" y="3"/>
                    </a:cubicBezTo>
                    <a:cubicBezTo>
                      <a:pt x="0" y="3"/>
                      <a:pt x="1" y="5"/>
                      <a:pt x="1" y="5"/>
                    </a:cubicBezTo>
                    <a:cubicBezTo>
                      <a:pt x="1" y="7"/>
                      <a:pt x="3" y="5"/>
                      <a:pt x="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98" name="Freeform 195">
                <a:extLst>
                  <a:ext uri="{FF2B5EF4-FFF2-40B4-BE49-F238E27FC236}">
                    <a16:creationId xmlns:a16="http://schemas.microsoft.com/office/drawing/2014/main" id="{AD11A1FD-F21A-445B-8FE4-62451C41D063}"/>
                  </a:ext>
                </a:extLst>
              </p:cNvPr>
              <p:cNvSpPr>
                <a:spLocks/>
              </p:cNvSpPr>
              <p:nvPr/>
            </p:nvSpPr>
            <p:spPr bwMode="auto">
              <a:xfrm>
                <a:off x="1056" y="823"/>
                <a:ext cx="374" cy="185"/>
              </a:xfrm>
              <a:custGeom>
                <a:avLst/>
                <a:gdLst>
                  <a:gd name="T0" fmla="*/ 269 w 271"/>
                  <a:gd name="T1" fmla="*/ 91 h 135"/>
                  <a:gd name="T2" fmla="*/ 261 w 271"/>
                  <a:gd name="T3" fmla="*/ 91 h 135"/>
                  <a:gd name="T4" fmla="*/ 253 w 271"/>
                  <a:gd name="T5" fmla="*/ 86 h 135"/>
                  <a:gd name="T6" fmla="*/ 239 w 271"/>
                  <a:gd name="T7" fmla="*/ 77 h 135"/>
                  <a:gd name="T8" fmla="*/ 233 w 271"/>
                  <a:gd name="T9" fmla="*/ 79 h 135"/>
                  <a:gd name="T10" fmla="*/ 220 w 271"/>
                  <a:gd name="T11" fmla="*/ 68 h 135"/>
                  <a:gd name="T12" fmla="*/ 213 w 271"/>
                  <a:gd name="T13" fmla="*/ 44 h 135"/>
                  <a:gd name="T14" fmla="*/ 206 w 271"/>
                  <a:gd name="T15" fmla="*/ 24 h 135"/>
                  <a:gd name="T16" fmla="*/ 201 w 271"/>
                  <a:gd name="T17" fmla="*/ 15 h 135"/>
                  <a:gd name="T18" fmla="*/ 190 w 271"/>
                  <a:gd name="T19" fmla="*/ 9 h 135"/>
                  <a:gd name="T20" fmla="*/ 175 w 271"/>
                  <a:gd name="T21" fmla="*/ 5 h 135"/>
                  <a:gd name="T22" fmla="*/ 162 w 271"/>
                  <a:gd name="T23" fmla="*/ 7 h 135"/>
                  <a:gd name="T24" fmla="*/ 164 w 271"/>
                  <a:gd name="T25" fmla="*/ 19 h 135"/>
                  <a:gd name="T26" fmla="*/ 168 w 271"/>
                  <a:gd name="T27" fmla="*/ 30 h 135"/>
                  <a:gd name="T28" fmla="*/ 170 w 271"/>
                  <a:gd name="T29" fmla="*/ 39 h 135"/>
                  <a:gd name="T30" fmla="*/ 175 w 271"/>
                  <a:gd name="T31" fmla="*/ 46 h 135"/>
                  <a:gd name="T32" fmla="*/ 168 w 271"/>
                  <a:gd name="T33" fmla="*/ 51 h 135"/>
                  <a:gd name="T34" fmla="*/ 161 w 271"/>
                  <a:gd name="T35" fmla="*/ 42 h 135"/>
                  <a:gd name="T36" fmla="*/ 156 w 271"/>
                  <a:gd name="T37" fmla="*/ 28 h 135"/>
                  <a:gd name="T38" fmla="*/ 145 w 271"/>
                  <a:gd name="T39" fmla="*/ 19 h 135"/>
                  <a:gd name="T40" fmla="*/ 137 w 271"/>
                  <a:gd name="T41" fmla="*/ 14 h 135"/>
                  <a:gd name="T42" fmla="*/ 131 w 271"/>
                  <a:gd name="T43" fmla="*/ 19 h 135"/>
                  <a:gd name="T44" fmla="*/ 133 w 271"/>
                  <a:gd name="T45" fmla="*/ 21 h 135"/>
                  <a:gd name="T46" fmla="*/ 137 w 271"/>
                  <a:gd name="T47" fmla="*/ 27 h 135"/>
                  <a:gd name="T48" fmla="*/ 121 w 271"/>
                  <a:gd name="T49" fmla="*/ 27 h 135"/>
                  <a:gd name="T50" fmla="*/ 116 w 271"/>
                  <a:gd name="T51" fmla="*/ 29 h 135"/>
                  <a:gd name="T52" fmla="*/ 109 w 271"/>
                  <a:gd name="T53" fmla="*/ 33 h 135"/>
                  <a:gd name="T54" fmla="*/ 115 w 271"/>
                  <a:gd name="T55" fmla="*/ 25 h 135"/>
                  <a:gd name="T56" fmla="*/ 83 w 271"/>
                  <a:gd name="T57" fmla="*/ 18 h 135"/>
                  <a:gd name="T58" fmla="*/ 80 w 271"/>
                  <a:gd name="T59" fmla="*/ 22 h 135"/>
                  <a:gd name="T60" fmla="*/ 71 w 271"/>
                  <a:gd name="T61" fmla="*/ 21 h 135"/>
                  <a:gd name="T62" fmla="*/ 75 w 271"/>
                  <a:gd name="T63" fmla="*/ 16 h 135"/>
                  <a:gd name="T64" fmla="*/ 71 w 271"/>
                  <a:gd name="T65" fmla="*/ 4 h 135"/>
                  <a:gd name="T66" fmla="*/ 30 w 271"/>
                  <a:gd name="T67" fmla="*/ 14 h 135"/>
                  <a:gd name="T68" fmla="*/ 8 w 271"/>
                  <a:gd name="T69" fmla="*/ 28 h 135"/>
                  <a:gd name="T70" fmla="*/ 3 w 271"/>
                  <a:gd name="T71" fmla="*/ 41 h 135"/>
                  <a:gd name="T72" fmla="*/ 10 w 271"/>
                  <a:gd name="T73" fmla="*/ 52 h 135"/>
                  <a:gd name="T74" fmla="*/ 15 w 271"/>
                  <a:gd name="T75" fmla="*/ 53 h 135"/>
                  <a:gd name="T76" fmla="*/ 24 w 271"/>
                  <a:gd name="T77" fmla="*/ 57 h 135"/>
                  <a:gd name="T78" fmla="*/ 27 w 271"/>
                  <a:gd name="T79" fmla="*/ 57 h 135"/>
                  <a:gd name="T80" fmla="*/ 18 w 271"/>
                  <a:gd name="T81" fmla="*/ 75 h 135"/>
                  <a:gd name="T82" fmla="*/ 37 w 271"/>
                  <a:gd name="T83" fmla="*/ 78 h 135"/>
                  <a:gd name="T84" fmla="*/ 66 w 271"/>
                  <a:gd name="T85" fmla="*/ 78 h 135"/>
                  <a:gd name="T86" fmla="*/ 85 w 271"/>
                  <a:gd name="T87" fmla="*/ 77 h 135"/>
                  <a:gd name="T88" fmla="*/ 101 w 271"/>
                  <a:gd name="T89" fmla="*/ 81 h 135"/>
                  <a:gd name="T90" fmla="*/ 113 w 271"/>
                  <a:gd name="T91" fmla="*/ 87 h 135"/>
                  <a:gd name="T92" fmla="*/ 89 w 271"/>
                  <a:gd name="T93" fmla="*/ 88 h 135"/>
                  <a:gd name="T94" fmla="*/ 26 w 271"/>
                  <a:gd name="T95" fmla="*/ 97 h 135"/>
                  <a:gd name="T96" fmla="*/ 43 w 271"/>
                  <a:gd name="T97" fmla="*/ 112 h 135"/>
                  <a:gd name="T98" fmla="*/ 81 w 271"/>
                  <a:gd name="T99" fmla="*/ 118 h 135"/>
                  <a:gd name="T100" fmla="*/ 98 w 271"/>
                  <a:gd name="T101" fmla="*/ 133 h 135"/>
                  <a:gd name="T102" fmla="*/ 157 w 271"/>
                  <a:gd name="T103" fmla="*/ 123 h 135"/>
                  <a:gd name="T104" fmla="*/ 187 w 271"/>
                  <a:gd name="T105" fmla="*/ 108 h 135"/>
                  <a:gd name="T106" fmla="*/ 209 w 271"/>
                  <a:gd name="T107" fmla="*/ 118 h 135"/>
                  <a:gd name="T108" fmla="*/ 230 w 271"/>
                  <a:gd name="T109" fmla="*/ 125 h 135"/>
                  <a:gd name="T110" fmla="*/ 256 w 271"/>
                  <a:gd name="T111" fmla="*/ 120 h 135"/>
                  <a:gd name="T112" fmla="*/ 252 w 271"/>
                  <a:gd name="T113" fmla="*/ 113 h 135"/>
                  <a:gd name="T114" fmla="*/ 244 w 271"/>
                  <a:gd name="T115" fmla="*/ 111 h 135"/>
                  <a:gd name="T116" fmla="*/ 239 w 271"/>
                  <a:gd name="T117" fmla="*/ 111 h 135"/>
                  <a:gd name="T118" fmla="*/ 233 w 271"/>
                  <a:gd name="T119" fmla="*/ 104 h 135"/>
                  <a:gd name="T120" fmla="*/ 246 w 271"/>
                  <a:gd name="T121" fmla="*/ 103 h 135"/>
                  <a:gd name="T122" fmla="*/ 253 w 271"/>
                  <a:gd name="T123" fmla="*/ 99 h 135"/>
                  <a:gd name="T124" fmla="*/ 260 w 271"/>
                  <a:gd name="T125" fmla="*/ 102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1" h="135">
                    <a:moveTo>
                      <a:pt x="268" y="103"/>
                    </a:moveTo>
                    <a:cubicBezTo>
                      <a:pt x="271" y="104"/>
                      <a:pt x="271" y="100"/>
                      <a:pt x="271" y="99"/>
                    </a:cubicBezTo>
                    <a:cubicBezTo>
                      <a:pt x="271" y="98"/>
                      <a:pt x="270" y="94"/>
                      <a:pt x="269" y="93"/>
                    </a:cubicBezTo>
                    <a:cubicBezTo>
                      <a:pt x="269" y="91"/>
                      <a:pt x="270" y="92"/>
                      <a:pt x="269" y="91"/>
                    </a:cubicBezTo>
                    <a:cubicBezTo>
                      <a:pt x="268" y="89"/>
                      <a:pt x="268" y="90"/>
                      <a:pt x="267" y="90"/>
                    </a:cubicBezTo>
                    <a:cubicBezTo>
                      <a:pt x="266" y="91"/>
                      <a:pt x="266" y="91"/>
                      <a:pt x="265" y="91"/>
                    </a:cubicBezTo>
                    <a:cubicBezTo>
                      <a:pt x="264" y="90"/>
                      <a:pt x="264" y="90"/>
                      <a:pt x="263" y="91"/>
                    </a:cubicBezTo>
                    <a:cubicBezTo>
                      <a:pt x="263" y="91"/>
                      <a:pt x="263" y="91"/>
                      <a:pt x="261" y="91"/>
                    </a:cubicBezTo>
                    <a:cubicBezTo>
                      <a:pt x="260" y="92"/>
                      <a:pt x="260" y="90"/>
                      <a:pt x="260" y="88"/>
                    </a:cubicBezTo>
                    <a:cubicBezTo>
                      <a:pt x="260" y="86"/>
                      <a:pt x="257" y="86"/>
                      <a:pt x="257" y="87"/>
                    </a:cubicBezTo>
                    <a:cubicBezTo>
                      <a:pt x="256" y="88"/>
                      <a:pt x="255" y="88"/>
                      <a:pt x="254" y="87"/>
                    </a:cubicBezTo>
                    <a:cubicBezTo>
                      <a:pt x="254" y="87"/>
                      <a:pt x="253" y="86"/>
                      <a:pt x="253" y="86"/>
                    </a:cubicBezTo>
                    <a:cubicBezTo>
                      <a:pt x="252" y="86"/>
                      <a:pt x="251" y="86"/>
                      <a:pt x="250" y="85"/>
                    </a:cubicBezTo>
                    <a:cubicBezTo>
                      <a:pt x="249" y="84"/>
                      <a:pt x="246" y="82"/>
                      <a:pt x="244" y="82"/>
                    </a:cubicBezTo>
                    <a:cubicBezTo>
                      <a:pt x="243" y="81"/>
                      <a:pt x="242" y="81"/>
                      <a:pt x="242" y="80"/>
                    </a:cubicBezTo>
                    <a:cubicBezTo>
                      <a:pt x="241" y="78"/>
                      <a:pt x="240" y="77"/>
                      <a:pt x="239" y="77"/>
                    </a:cubicBezTo>
                    <a:cubicBezTo>
                      <a:pt x="237" y="77"/>
                      <a:pt x="237" y="77"/>
                      <a:pt x="237" y="77"/>
                    </a:cubicBezTo>
                    <a:cubicBezTo>
                      <a:pt x="237" y="78"/>
                      <a:pt x="237" y="79"/>
                      <a:pt x="239" y="81"/>
                    </a:cubicBezTo>
                    <a:cubicBezTo>
                      <a:pt x="242" y="83"/>
                      <a:pt x="239" y="81"/>
                      <a:pt x="237" y="80"/>
                    </a:cubicBezTo>
                    <a:cubicBezTo>
                      <a:pt x="236" y="79"/>
                      <a:pt x="234" y="79"/>
                      <a:pt x="233" y="79"/>
                    </a:cubicBezTo>
                    <a:cubicBezTo>
                      <a:pt x="232" y="79"/>
                      <a:pt x="230" y="78"/>
                      <a:pt x="229" y="77"/>
                    </a:cubicBezTo>
                    <a:cubicBezTo>
                      <a:pt x="228" y="76"/>
                      <a:pt x="227" y="75"/>
                      <a:pt x="227" y="75"/>
                    </a:cubicBezTo>
                    <a:cubicBezTo>
                      <a:pt x="226" y="75"/>
                      <a:pt x="224" y="75"/>
                      <a:pt x="224" y="73"/>
                    </a:cubicBezTo>
                    <a:cubicBezTo>
                      <a:pt x="223" y="70"/>
                      <a:pt x="221" y="69"/>
                      <a:pt x="220" y="68"/>
                    </a:cubicBezTo>
                    <a:cubicBezTo>
                      <a:pt x="219" y="68"/>
                      <a:pt x="214" y="67"/>
                      <a:pt x="217" y="63"/>
                    </a:cubicBezTo>
                    <a:cubicBezTo>
                      <a:pt x="221" y="59"/>
                      <a:pt x="220" y="56"/>
                      <a:pt x="220" y="54"/>
                    </a:cubicBezTo>
                    <a:cubicBezTo>
                      <a:pt x="219" y="52"/>
                      <a:pt x="215" y="46"/>
                      <a:pt x="214" y="46"/>
                    </a:cubicBezTo>
                    <a:cubicBezTo>
                      <a:pt x="214" y="45"/>
                      <a:pt x="213" y="44"/>
                      <a:pt x="213" y="44"/>
                    </a:cubicBezTo>
                    <a:cubicBezTo>
                      <a:pt x="213" y="43"/>
                      <a:pt x="212" y="42"/>
                      <a:pt x="212" y="41"/>
                    </a:cubicBezTo>
                    <a:cubicBezTo>
                      <a:pt x="211" y="41"/>
                      <a:pt x="211" y="39"/>
                      <a:pt x="210" y="38"/>
                    </a:cubicBezTo>
                    <a:cubicBezTo>
                      <a:pt x="210" y="37"/>
                      <a:pt x="210" y="34"/>
                      <a:pt x="209" y="33"/>
                    </a:cubicBezTo>
                    <a:cubicBezTo>
                      <a:pt x="208" y="32"/>
                      <a:pt x="206" y="26"/>
                      <a:pt x="206" y="24"/>
                    </a:cubicBezTo>
                    <a:cubicBezTo>
                      <a:pt x="205" y="23"/>
                      <a:pt x="204" y="22"/>
                      <a:pt x="203" y="20"/>
                    </a:cubicBezTo>
                    <a:cubicBezTo>
                      <a:pt x="202" y="19"/>
                      <a:pt x="202" y="19"/>
                      <a:pt x="204" y="19"/>
                    </a:cubicBezTo>
                    <a:cubicBezTo>
                      <a:pt x="205" y="20"/>
                      <a:pt x="204" y="18"/>
                      <a:pt x="203" y="17"/>
                    </a:cubicBezTo>
                    <a:cubicBezTo>
                      <a:pt x="203" y="17"/>
                      <a:pt x="202" y="16"/>
                      <a:pt x="201" y="15"/>
                    </a:cubicBezTo>
                    <a:cubicBezTo>
                      <a:pt x="201" y="14"/>
                      <a:pt x="200" y="14"/>
                      <a:pt x="200" y="14"/>
                    </a:cubicBezTo>
                    <a:cubicBezTo>
                      <a:pt x="199" y="14"/>
                      <a:pt x="199" y="13"/>
                      <a:pt x="198" y="12"/>
                    </a:cubicBezTo>
                    <a:cubicBezTo>
                      <a:pt x="197" y="12"/>
                      <a:pt x="198" y="10"/>
                      <a:pt x="196" y="11"/>
                    </a:cubicBezTo>
                    <a:cubicBezTo>
                      <a:pt x="194" y="12"/>
                      <a:pt x="190" y="9"/>
                      <a:pt x="190" y="9"/>
                    </a:cubicBezTo>
                    <a:cubicBezTo>
                      <a:pt x="189" y="8"/>
                      <a:pt x="188" y="6"/>
                      <a:pt x="186" y="6"/>
                    </a:cubicBezTo>
                    <a:cubicBezTo>
                      <a:pt x="185" y="6"/>
                      <a:pt x="184" y="5"/>
                      <a:pt x="183" y="4"/>
                    </a:cubicBezTo>
                    <a:cubicBezTo>
                      <a:pt x="182" y="3"/>
                      <a:pt x="178" y="3"/>
                      <a:pt x="179" y="6"/>
                    </a:cubicBezTo>
                    <a:cubicBezTo>
                      <a:pt x="179" y="8"/>
                      <a:pt x="178" y="7"/>
                      <a:pt x="175" y="5"/>
                    </a:cubicBezTo>
                    <a:cubicBezTo>
                      <a:pt x="172" y="4"/>
                      <a:pt x="169" y="3"/>
                      <a:pt x="168" y="3"/>
                    </a:cubicBezTo>
                    <a:cubicBezTo>
                      <a:pt x="166" y="2"/>
                      <a:pt x="166" y="3"/>
                      <a:pt x="164" y="4"/>
                    </a:cubicBezTo>
                    <a:cubicBezTo>
                      <a:pt x="162" y="5"/>
                      <a:pt x="165" y="6"/>
                      <a:pt x="167" y="7"/>
                    </a:cubicBezTo>
                    <a:cubicBezTo>
                      <a:pt x="168" y="8"/>
                      <a:pt x="165" y="6"/>
                      <a:pt x="162" y="7"/>
                    </a:cubicBezTo>
                    <a:cubicBezTo>
                      <a:pt x="159" y="9"/>
                      <a:pt x="163" y="10"/>
                      <a:pt x="162" y="11"/>
                    </a:cubicBezTo>
                    <a:cubicBezTo>
                      <a:pt x="161" y="12"/>
                      <a:pt x="162" y="12"/>
                      <a:pt x="163" y="12"/>
                    </a:cubicBezTo>
                    <a:cubicBezTo>
                      <a:pt x="163" y="13"/>
                      <a:pt x="163" y="14"/>
                      <a:pt x="163" y="15"/>
                    </a:cubicBezTo>
                    <a:cubicBezTo>
                      <a:pt x="163" y="16"/>
                      <a:pt x="164" y="18"/>
                      <a:pt x="164" y="19"/>
                    </a:cubicBezTo>
                    <a:cubicBezTo>
                      <a:pt x="164" y="20"/>
                      <a:pt x="164" y="21"/>
                      <a:pt x="165" y="22"/>
                    </a:cubicBezTo>
                    <a:cubicBezTo>
                      <a:pt x="165" y="24"/>
                      <a:pt x="166" y="24"/>
                      <a:pt x="166" y="25"/>
                    </a:cubicBezTo>
                    <a:cubicBezTo>
                      <a:pt x="165" y="27"/>
                      <a:pt x="166" y="27"/>
                      <a:pt x="167" y="28"/>
                    </a:cubicBezTo>
                    <a:cubicBezTo>
                      <a:pt x="167" y="29"/>
                      <a:pt x="167" y="29"/>
                      <a:pt x="168" y="30"/>
                    </a:cubicBezTo>
                    <a:cubicBezTo>
                      <a:pt x="169" y="32"/>
                      <a:pt x="169" y="33"/>
                      <a:pt x="168" y="32"/>
                    </a:cubicBezTo>
                    <a:cubicBezTo>
                      <a:pt x="167" y="32"/>
                      <a:pt x="168" y="33"/>
                      <a:pt x="168" y="34"/>
                    </a:cubicBezTo>
                    <a:cubicBezTo>
                      <a:pt x="167" y="36"/>
                      <a:pt x="168" y="36"/>
                      <a:pt x="169" y="36"/>
                    </a:cubicBezTo>
                    <a:cubicBezTo>
                      <a:pt x="170" y="36"/>
                      <a:pt x="170" y="37"/>
                      <a:pt x="170" y="39"/>
                    </a:cubicBezTo>
                    <a:cubicBezTo>
                      <a:pt x="171" y="41"/>
                      <a:pt x="172" y="41"/>
                      <a:pt x="173" y="41"/>
                    </a:cubicBezTo>
                    <a:cubicBezTo>
                      <a:pt x="174" y="42"/>
                      <a:pt x="173" y="42"/>
                      <a:pt x="175" y="43"/>
                    </a:cubicBezTo>
                    <a:cubicBezTo>
                      <a:pt x="176" y="43"/>
                      <a:pt x="176" y="44"/>
                      <a:pt x="174" y="44"/>
                    </a:cubicBezTo>
                    <a:cubicBezTo>
                      <a:pt x="172" y="44"/>
                      <a:pt x="173" y="45"/>
                      <a:pt x="175" y="46"/>
                    </a:cubicBezTo>
                    <a:cubicBezTo>
                      <a:pt x="177" y="47"/>
                      <a:pt x="174" y="46"/>
                      <a:pt x="172" y="47"/>
                    </a:cubicBezTo>
                    <a:cubicBezTo>
                      <a:pt x="170" y="47"/>
                      <a:pt x="171" y="48"/>
                      <a:pt x="170" y="49"/>
                    </a:cubicBezTo>
                    <a:cubicBezTo>
                      <a:pt x="169" y="49"/>
                      <a:pt x="169" y="48"/>
                      <a:pt x="168" y="49"/>
                    </a:cubicBezTo>
                    <a:cubicBezTo>
                      <a:pt x="167" y="49"/>
                      <a:pt x="167" y="50"/>
                      <a:pt x="168" y="51"/>
                    </a:cubicBezTo>
                    <a:cubicBezTo>
                      <a:pt x="169" y="52"/>
                      <a:pt x="167" y="52"/>
                      <a:pt x="166" y="50"/>
                    </a:cubicBezTo>
                    <a:cubicBezTo>
                      <a:pt x="165" y="49"/>
                      <a:pt x="165" y="49"/>
                      <a:pt x="164" y="48"/>
                    </a:cubicBezTo>
                    <a:cubicBezTo>
                      <a:pt x="162" y="48"/>
                      <a:pt x="163" y="44"/>
                      <a:pt x="163" y="43"/>
                    </a:cubicBezTo>
                    <a:cubicBezTo>
                      <a:pt x="162" y="41"/>
                      <a:pt x="162" y="41"/>
                      <a:pt x="161" y="42"/>
                    </a:cubicBezTo>
                    <a:cubicBezTo>
                      <a:pt x="161" y="42"/>
                      <a:pt x="160" y="40"/>
                      <a:pt x="159" y="39"/>
                    </a:cubicBezTo>
                    <a:cubicBezTo>
                      <a:pt x="159" y="38"/>
                      <a:pt x="160" y="38"/>
                      <a:pt x="159" y="36"/>
                    </a:cubicBezTo>
                    <a:cubicBezTo>
                      <a:pt x="158" y="35"/>
                      <a:pt x="158" y="37"/>
                      <a:pt x="157" y="36"/>
                    </a:cubicBezTo>
                    <a:cubicBezTo>
                      <a:pt x="157" y="35"/>
                      <a:pt x="156" y="32"/>
                      <a:pt x="156" y="28"/>
                    </a:cubicBezTo>
                    <a:cubicBezTo>
                      <a:pt x="156" y="24"/>
                      <a:pt x="155" y="24"/>
                      <a:pt x="153" y="24"/>
                    </a:cubicBezTo>
                    <a:cubicBezTo>
                      <a:pt x="151" y="25"/>
                      <a:pt x="151" y="23"/>
                      <a:pt x="150" y="22"/>
                    </a:cubicBezTo>
                    <a:cubicBezTo>
                      <a:pt x="150" y="20"/>
                      <a:pt x="149" y="22"/>
                      <a:pt x="148" y="20"/>
                    </a:cubicBezTo>
                    <a:cubicBezTo>
                      <a:pt x="147" y="18"/>
                      <a:pt x="146" y="19"/>
                      <a:pt x="145" y="19"/>
                    </a:cubicBezTo>
                    <a:cubicBezTo>
                      <a:pt x="145" y="19"/>
                      <a:pt x="142" y="17"/>
                      <a:pt x="140" y="16"/>
                    </a:cubicBezTo>
                    <a:cubicBezTo>
                      <a:pt x="139" y="16"/>
                      <a:pt x="140" y="16"/>
                      <a:pt x="141" y="15"/>
                    </a:cubicBezTo>
                    <a:cubicBezTo>
                      <a:pt x="142" y="14"/>
                      <a:pt x="139" y="14"/>
                      <a:pt x="138" y="14"/>
                    </a:cubicBezTo>
                    <a:cubicBezTo>
                      <a:pt x="138" y="15"/>
                      <a:pt x="138" y="15"/>
                      <a:pt x="137" y="14"/>
                    </a:cubicBezTo>
                    <a:cubicBezTo>
                      <a:pt x="137" y="13"/>
                      <a:pt x="128" y="13"/>
                      <a:pt x="126" y="13"/>
                    </a:cubicBezTo>
                    <a:cubicBezTo>
                      <a:pt x="125" y="13"/>
                      <a:pt x="125" y="14"/>
                      <a:pt x="125" y="15"/>
                    </a:cubicBezTo>
                    <a:cubicBezTo>
                      <a:pt x="126" y="16"/>
                      <a:pt x="128" y="18"/>
                      <a:pt x="129" y="17"/>
                    </a:cubicBezTo>
                    <a:cubicBezTo>
                      <a:pt x="130" y="17"/>
                      <a:pt x="131" y="18"/>
                      <a:pt x="131" y="19"/>
                    </a:cubicBezTo>
                    <a:cubicBezTo>
                      <a:pt x="131" y="19"/>
                      <a:pt x="132" y="20"/>
                      <a:pt x="132" y="20"/>
                    </a:cubicBezTo>
                    <a:cubicBezTo>
                      <a:pt x="133" y="20"/>
                      <a:pt x="135" y="19"/>
                      <a:pt x="137" y="20"/>
                    </a:cubicBezTo>
                    <a:cubicBezTo>
                      <a:pt x="140" y="20"/>
                      <a:pt x="138" y="21"/>
                      <a:pt x="137" y="21"/>
                    </a:cubicBezTo>
                    <a:cubicBezTo>
                      <a:pt x="136" y="21"/>
                      <a:pt x="135" y="21"/>
                      <a:pt x="133" y="21"/>
                    </a:cubicBezTo>
                    <a:cubicBezTo>
                      <a:pt x="131" y="21"/>
                      <a:pt x="132" y="22"/>
                      <a:pt x="133" y="22"/>
                    </a:cubicBezTo>
                    <a:cubicBezTo>
                      <a:pt x="134" y="22"/>
                      <a:pt x="134" y="22"/>
                      <a:pt x="136" y="24"/>
                    </a:cubicBezTo>
                    <a:cubicBezTo>
                      <a:pt x="138" y="25"/>
                      <a:pt x="140" y="26"/>
                      <a:pt x="138" y="26"/>
                    </a:cubicBezTo>
                    <a:cubicBezTo>
                      <a:pt x="135" y="27"/>
                      <a:pt x="133" y="26"/>
                      <a:pt x="137" y="27"/>
                    </a:cubicBezTo>
                    <a:cubicBezTo>
                      <a:pt x="140" y="28"/>
                      <a:pt x="137" y="29"/>
                      <a:pt x="137" y="28"/>
                    </a:cubicBezTo>
                    <a:cubicBezTo>
                      <a:pt x="136" y="28"/>
                      <a:pt x="126" y="25"/>
                      <a:pt x="125" y="25"/>
                    </a:cubicBezTo>
                    <a:cubicBezTo>
                      <a:pt x="124" y="24"/>
                      <a:pt x="123" y="26"/>
                      <a:pt x="122" y="26"/>
                    </a:cubicBezTo>
                    <a:cubicBezTo>
                      <a:pt x="121" y="27"/>
                      <a:pt x="121" y="27"/>
                      <a:pt x="121" y="27"/>
                    </a:cubicBezTo>
                    <a:cubicBezTo>
                      <a:pt x="121" y="27"/>
                      <a:pt x="121" y="29"/>
                      <a:pt x="120" y="29"/>
                    </a:cubicBezTo>
                    <a:cubicBezTo>
                      <a:pt x="120" y="29"/>
                      <a:pt x="119" y="29"/>
                      <a:pt x="119" y="31"/>
                    </a:cubicBezTo>
                    <a:cubicBezTo>
                      <a:pt x="119" y="33"/>
                      <a:pt x="118" y="31"/>
                      <a:pt x="117" y="31"/>
                    </a:cubicBezTo>
                    <a:cubicBezTo>
                      <a:pt x="117" y="30"/>
                      <a:pt x="115" y="31"/>
                      <a:pt x="116" y="29"/>
                    </a:cubicBezTo>
                    <a:cubicBezTo>
                      <a:pt x="116" y="27"/>
                      <a:pt x="115" y="28"/>
                      <a:pt x="113" y="29"/>
                    </a:cubicBezTo>
                    <a:cubicBezTo>
                      <a:pt x="112" y="30"/>
                      <a:pt x="112" y="31"/>
                      <a:pt x="112" y="31"/>
                    </a:cubicBezTo>
                    <a:cubicBezTo>
                      <a:pt x="113" y="31"/>
                      <a:pt x="113" y="32"/>
                      <a:pt x="111" y="34"/>
                    </a:cubicBezTo>
                    <a:cubicBezTo>
                      <a:pt x="109" y="35"/>
                      <a:pt x="109" y="35"/>
                      <a:pt x="109" y="33"/>
                    </a:cubicBezTo>
                    <a:cubicBezTo>
                      <a:pt x="110" y="32"/>
                      <a:pt x="110" y="33"/>
                      <a:pt x="108" y="32"/>
                    </a:cubicBezTo>
                    <a:cubicBezTo>
                      <a:pt x="107" y="30"/>
                      <a:pt x="108" y="30"/>
                      <a:pt x="109" y="30"/>
                    </a:cubicBezTo>
                    <a:cubicBezTo>
                      <a:pt x="110" y="30"/>
                      <a:pt x="113" y="27"/>
                      <a:pt x="114" y="27"/>
                    </a:cubicBezTo>
                    <a:cubicBezTo>
                      <a:pt x="114" y="26"/>
                      <a:pt x="112" y="26"/>
                      <a:pt x="115" y="25"/>
                    </a:cubicBezTo>
                    <a:cubicBezTo>
                      <a:pt x="118" y="24"/>
                      <a:pt x="115" y="24"/>
                      <a:pt x="115" y="24"/>
                    </a:cubicBezTo>
                    <a:cubicBezTo>
                      <a:pt x="115" y="24"/>
                      <a:pt x="97" y="15"/>
                      <a:pt x="93" y="13"/>
                    </a:cubicBezTo>
                    <a:cubicBezTo>
                      <a:pt x="89" y="11"/>
                      <a:pt x="87" y="14"/>
                      <a:pt x="85" y="15"/>
                    </a:cubicBezTo>
                    <a:cubicBezTo>
                      <a:pt x="84" y="17"/>
                      <a:pt x="84" y="16"/>
                      <a:pt x="83" y="18"/>
                    </a:cubicBezTo>
                    <a:cubicBezTo>
                      <a:pt x="81" y="19"/>
                      <a:pt x="82" y="20"/>
                      <a:pt x="84" y="20"/>
                    </a:cubicBezTo>
                    <a:cubicBezTo>
                      <a:pt x="86" y="19"/>
                      <a:pt x="85" y="21"/>
                      <a:pt x="83" y="22"/>
                    </a:cubicBezTo>
                    <a:cubicBezTo>
                      <a:pt x="81" y="23"/>
                      <a:pt x="80" y="23"/>
                      <a:pt x="81" y="22"/>
                    </a:cubicBezTo>
                    <a:cubicBezTo>
                      <a:pt x="83" y="21"/>
                      <a:pt x="82" y="21"/>
                      <a:pt x="80" y="22"/>
                    </a:cubicBezTo>
                    <a:cubicBezTo>
                      <a:pt x="79" y="22"/>
                      <a:pt x="76" y="22"/>
                      <a:pt x="75" y="23"/>
                    </a:cubicBezTo>
                    <a:cubicBezTo>
                      <a:pt x="73" y="23"/>
                      <a:pt x="71" y="25"/>
                      <a:pt x="68" y="24"/>
                    </a:cubicBezTo>
                    <a:cubicBezTo>
                      <a:pt x="65" y="24"/>
                      <a:pt x="70" y="23"/>
                      <a:pt x="70" y="22"/>
                    </a:cubicBezTo>
                    <a:cubicBezTo>
                      <a:pt x="71" y="22"/>
                      <a:pt x="72" y="22"/>
                      <a:pt x="71" y="21"/>
                    </a:cubicBezTo>
                    <a:cubicBezTo>
                      <a:pt x="70" y="20"/>
                      <a:pt x="71" y="19"/>
                      <a:pt x="72" y="19"/>
                    </a:cubicBezTo>
                    <a:cubicBezTo>
                      <a:pt x="72" y="18"/>
                      <a:pt x="74" y="18"/>
                      <a:pt x="75" y="18"/>
                    </a:cubicBezTo>
                    <a:cubicBezTo>
                      <a:pt x="76" y="18"/>
                      <a:pt x="77" y="18"/>
                      <a:pt x="76" y="17"/>
                    </a:cubicBezTo>
                    <a:cubicBezTo>
                      <a:pt x="76" y="17"/>
                      <a:pt x="75" y="16"/>
                      <a:pt x="75" y="16"/>
                    </a:cubicBezTo>
                    <a:cubicBezTo>
                      <a:pt x="75" y="16"/>
                      <a:pt x="76" y="15"/>
                      <a:pt x="75" y="14"/>
                    </a:cubicBezTo>
                    <a:cubicBezTo>
                      <a:pt x="75" y="13"/>
                      <a:pt x="76" y="11"/>
                      <a:pt x="76" y="10"/>
                    </a:cubicBezTo>
                    <a:cubicBezTo>
                      <a:pt x="77" y="9"/>
                      <a:pt x="77" y="8"/>
                      <a:pt x="76" y="8"/>
                    </a:cubicBezTo>
                    <a:cubicBezTo>
                      <a:pt x="76" y="8"/>
                      <a:pt x="76" y="7"/>
                      <a:pt x="71" y="4"/>
                    </a:cubicBezTo>
                    <a:cubicBezTo>
                      <a:pt x="66" y="0"/>
                      <a:pt x="64" y="3"/>
                      <a:pt x="63" y="3"/>
                    </a:cubicBezTo>
                    <a:cubicBezTo>
                      <a:pt x="63" y="3"/>
                      <a:pt x="53" y="7"/>
                      <a:pt x="52" y="7"/>
                    </a:cubicBezTo>
                    <a:cubicBezTo>
                      <a:pt x="51" y="7"/>
                      <a:pt x="39" y="11"/>
                      <a:pt x="38" y="11"/>
                    </a:cubicBezTo>
                    <a:cubicBezTo>
                      <a:pt x="37" y="11"/>
                      <a:pt x="32" y="14"/>
                      <a:pt x="30" y="14"/>
                    </a:cubicBezTo>
                    <a:cubicBezTo>
                      <a:pt x="29" y="14"/>
                      <a:pt x="25" y="16"/>
                      <a:pt x="24" y="17"/>
                    </a:cubicBezTo>
                    <a:cubicBezTo>
                      <a:pt x="22" y="19"/>
                      <a:pt x="20" y="20"/>
                      <a:pt x="18" y="21"/>
                    </a:cubicBezTo>
                    <a:cubicBezTo>
                      <a:pt x="17" y="21"/>
                      <a:pt x="13" y="24"/>
                      <a:pt x="13" y="24"/>
                    </a:cubicBezTo>
                    <a:cubicBezTo>
                      <a:pt x="12" y="25"/>
                      <a:pt x="9" y="26"/>
                      <a:pt x="8" y="28"/>
                    </a:cubicBezTo>
                    <a:cubicBezTo>
                      <a:pt x="7" y="31"/>
                      <a:pt x="10" y="31"/>
                      <a:pt x="14" y="31"/>
                    </a:cubicBezTo>
                    <a:cubicBezTo>
                      <a:pt x="17" y="31"/>
                      <a:pt x="10" y="35"/>
                      <a:pt x="8" y="35"/>
                    </a:cubicBezTo>
                    <a:cubicBezTo>
                      <a:pt x="7" y="36"/>
                      <a:pt x="6" y="36"/>
                      <a:pt x="6" y="38"/>
                    </a:cubicBezTo>
                    <a:cubicBezTo>
                      <a:pt x="5" y="39"/>
                      <a:pt x="5" y="39"/>
                      <a:pt x="3" y="41"/>
                    </a:cubicBezTo>
                    <a:cubicBezTo>
                      <a:pt x="1" y="43"/>
                      <a:pt x="0" y="45"/>
                      <a:pt x="0" y="48"/>
                    </a:cubicBezTo>
                    <a:cubicBezTo>
                      <a:pt x="0" y="51"/>
                      <a:pt x="2" y="51"/>
                      <a:pt x="3" y="50"/>
                    </a:cubicBezTo>
                    <a:cubicBezTo>
                      <a:pt x="5" y="50"/>
                      <a:pt x="5" y="50"/>
                      <a:pt x="8" y="50"/>
                    </a:cubicBezTo>
                    <a:cubicBezTo>
                      <a:pt x="11" y="50"/>
                      <a:pt x="11" y="51"/>
                      <a:pt x="10" y="52"/>
                    </a:cubicBezTo>
                    <a:cubicBezTo>
                      <a:pt x="9" y="53"/>
                      <a:pt x="12" y="52"/>
                      <a:pt x="13" y="51"/>
                    </a:cubicBezTo>
                    <a:cubicBezTo>
                      <a:pt x="15" y="50"/>
                      <a:pt x="15" y="50"/>
                      <a:pt x="17" y="50"/>
                    </a:cubicBezTo>
                    <a:cubicBezTo>
                      <a:pt x="19" y="49"/>
                      <a:pt x="19" y="50"/>
                      <a:pt x="18" y="50"/>
                    </a:cubicBezTo>
                    <a:cubicBezTo>
                      <a:pt x="18" y="50"/>
                      <a:pt x="16" y="52"/>
                      <a:pt x="15" y="53"/>
                    </a:cubicBezTo>
                    <a:cubicBezTo>
                      <a:pt x="14" y="54"/>
                      <a:pt x="12" y="54"/>
                      <a:pt x="12" y="56"/>
                    </a:cubicBezTo>
                    <a:cubicBezTo>
                      <a:pt x="11" y="58"/>
                      <a:pt x="16" y="58"/>
                      <a:pt x="17" y="58"/>
                    </a:cubicBezTo>
                    <a:cubicBezTo>
                      <a:pt x="19" y="57"/>
                      <a:pt x="21" y="58"/>
                      <a:pt x="22" y="58"/>
                    </a:cubicBezTo>
                    <a:cubicBezTo>
                      <a:pt x="23" y="58"/>
                      <a:pt x="24" y="59"/>
                      <a:pt x="24" y="57"/>
                    </a:cubicBezTo>
                    <a:cubicBezTo>
                      <a:pt x="23" y="54"/>
                      <a:pt x="23" y="55"/>
                      <a:pt x="24" y="55"/>
                    </a:cubicBezTo>
                    <a:cubicBezTo>
                      <a:pt x="25" y="54"/>
                      <a:pt x="24" y="55"/>
                      <a:pt x="25" y="55"/>
                    </a:cubicBezTo>
                    <a:cubicBezTo>
                      <a:pt x="25" y="55"/>
                      <a:pt x="26" y="55"/>
                      <a:pt x="25" y="56"/>
                    </a:cubicBezTo>
                    <a:cubicBezTo>
                      <a:pt x="25" y="57"/>
                      <a:pt x="24" y="58"/>
                      <a:pt x="27" y="57"/>
                    </a:cubicBezTo>
                    <a:cubicBezTo>
                      <a:pt x="30" y="56"/>
                      <a:pt x="28" y="57"/>
                      <a:pt x="40" y="55"/>
                    </a:cubicBezTo>
                    <a:cubicBezTo>
                      <a:pt x="52" y="52"/>
                      <a:pt x="45" y="55"/>
                      <a:pt x="45" y="55"/>
                    </a:cubicBezTo>
                    <a:cubicBezTo>
                      <a:pt x="45" y="55"/>
                      <a:pt x="18" y="65"/>
                      <a:pt x="12" y="68"/>
                    </a:cubicBezTo>
                    <a:cubicBezTo>
                      <a:pt x="6" y="70"/>
                      <a:pt x="17" y="74"/>
                      <a:pt x="18" y="75"/>
                    </a:cubicBezTo>
                    <a:cubicBezTo>
                      <a:pt x="20" y="75"/>
                      <a:pt x="20" y="75"/>
                      <a:pt x="21" y="77"/>
                    </a:cubicBezTo>
                    <a:cubicBezTo>
                      <a:pt x="22" y="79"/>
                      <a:pt x="23" y="79"/>
                      <a:pt x="23" y="78"/>
                    </a:cubicBezTo>
                    <a:cubicBezTo>
                      <a:pt x="24" y="78"/>
                      <a:pt x="25" y="78"/>
                      <a:pt x="27" y="78"/>
                    </a:cubicBezTo>
                    <a:cubicBezTo>
                      <a:pt x="28" y="79"/>
                      <a:pt x="36" y="79"/>
                      <a:pt x="37" y="78"/>
                    </a:cubicBezTo>
                    <a:cubicBezTo>
                      <a:pt x="39" y="78"/>
                      <a:pt x="41" y="77"/>
                      <a:pt x="43" y="78"/>
                    </a:cubicBezTo>
                    <a:cubicBezTo>
                      <a:pt x="45" y="80"/>
                      <a:pt x="48" y="79"/>
                      <a:pt x="50" y="79"/>
                    </a:cubicBezTo>
                    <a:cubicBezTo>
                      <a:pt x="52" y="79"/>
                      <a:pt x="54" y="79"/>
                      <a:pt x="57" y="79"/>
                    </a:cubicBezTo>
                    <a:cubicBezTo>
                      <a:pt x="59" y="79"/>
                      <a:pt x="65" y="78"/>
                      <a:pt x="66" y="78"/>
                    </a:cubicBezTo>
                    <a:cubicBezTo>
                      <a:pt x="67" y="77"/>
                      <a:pt x="70" y="76"/>
                      <a:pt x="71" y="77"/>
                    </a:cubicBezTo>
                    <a:cubicBezTo>
                      <a:pt x="72" y="77"/>
                      <a:pt x="74" y="77"/>
                      <a:pt x="75" y="76"/>
                    </a:cubicBezTo>
                    <a:cubicBezTo>
                      <a:pt x="77" y="75"/>
                      <a:pt x="78" y="75"/>
                      <a:pt x="80" y="77"/>
                    </a:cubicBezTo>
                    <a:cubicBezTo>
                      <a:pt x="83" y="78"/>
                      <a:pt x="84" y="77"/>
                      <a:pt x="85" y="77"/>
                    </a:cubicBezTo>
                    <a:cubicBezTo>
                      <a:pt x="87" y="78"/>
                      <a:pt x="90" y="78"/>
                      <a:pt x="92" y="80"/>
                    </a:cubicBezTo>
                    <a:cubicBezTo>
                      <a:pt x="93" y="81"/>
                      <a:pt x="93" y="79"/>
                      <a:pt x="95" y="80"/>
                    </a:cubicBezTo>
                    <a:cubicBezTo>
                      <a:pt x="96" y="80"/>
                      <a:pt x="97" y="81"/>
                      <a:pt x="98" y="81"/>
                    </a:cubicBezTo>
                    <a:cubicBezTo>
                      <a:pt x="100" y="80"/>
                      <a:pt x="99" y="81"/>
                      <a:pt x="101" y="81"/>
                    </a:cubicBezTo>
                    <a:cubicBezTo>
                      <a:pt x="103" y="81"/>
                      <a:pt x="103" y="82"/>
                      <a:pt x="105" y="83"/>
                    </a:cubicBezTo>
                    <a:cubicBezTo>
                      <a:pt x="106" y="85"/>
                      <a:pt x="108" y="85"/>
                      <a:pt x="110" y="85"/>
                    </a:cubicBezTo>
                    <a:cubicBezTo>
                      <a:pt x="112" y="85"/>
                      <a:pt x="112" y="85"/>
                      <a:pt x="112" y="86"/>
                    </a:cubicBezTo>
                    <a:cubicBezTo>
                      <a:pt x="111" y="87"/>
                      <a:pt x="112" y="86"/>
                      <a:pt x="113" y="87"/>
                    </a:cubicBezTo>
                    <a:cubicBezTo>
                      <a:pt x="114" y="88"/>
                      <a:pt x="110" y="88"/>
                      <a:pt x="107" y="87"/>
                    </a:cubicBezTo>
                    <a:cubicBezTo>
                      <a:pt x="105" y="87"/>
                      <a:pt x="103" y="88"/>
                      <a:pt x="102" y="88"/>
                    </a:cubicBezTo>
                    <a:cubicBezTo>
                      <a:pt x="101" y="89"/>
                      <a:pt x="100" y="90"/>
                      <a:pt x="97" y="89"/>
                    </a:cubicBezTo>
                    <a:cubicBezTo>
                      <a:pt x="93" y="88"/>
                      <a:pt x="94" y="89"/>
                      <a:pt x="89" y="88"/>
                    </a:cubicBezTo>
                    <a:cubicBezTo>
                      <a:pt x="84" y="87"/>
                      <a:pt x="82" y="88"/>
                      <a:pt x="75" y="87"/>
                    </a:cubicBezTo>
                    <a:cubicBezTo>
                      <a:pt x="68" y="86"/>
                      <a:pt x="65" y="87"/>
                      <a:pt x="56" y="88"/>
                    </a:cubicBezTo>
                    <a:cubicBezTo>
                      <a:pt x="48" y="88"/>
                      <a:pt x="28" y="94"/>
                      <a:pt x="27" y="94"/>
                    </a:cubicBezTo>
                    <a:cubicBezTo>
                      <a:pt x="25" y="94"/>
                      <a:pt x="25" y="94"/>
                      <a:pt x="26" y="97"/>
                    </a:cubicBezTo>
                    <a:cubicBezTo>
                      <a:pt x="27" y="99"/>
                      <a:pt x="28" y="102"/>
                      <a:pt x="31" y="103"/>
                    </a:cubicBezTo>
                    <a:cubicBezTo>
                      <a:pt x="33" y="104"/>
                      <a:pt x="33" y="104"/>
                      <a:pt x="33" y="104"/>
                    </a:cubicBezTo>
                    <a:cubicBezTo>
                      <a:pt x="33" y="105"/>
                      <a:pt x="32" y="105"/>
                      <a:pt x="34" y="106"/>
                    </a:cubicBezTo>
                    <a:cubicBezTo>
                      <a:pt x="35" y="106"/>
                      <a:pt x="38" y="109"/>
                      <a:pt x="43" y="112"/>
                    </a:cubicBezTo>
                    <a:cubicBezTo>
                      <a:pt x="48" y="114"/>
                      <a:pt x="59" y="114"/>
                      <a:pt x="62" y="114"/>
                    </a:cubicBezTo>
                    <a:cubicBezTo>
                      <a:pt x="65" y="114"/>
                      <a:pt x="78" y="115"/>
                      <a:pt x="80" y="116"/>
                    </a:cubicBezTo>
                    <a:cubicBezTo>
                      <a:pt x="83" y="116"/>
                      <a:pt x="84" y="117"/>
                      <a:pt x="82" y="116"/>
                    </a:cubicBezTo>
                    <a:cubicBezTo>
                      <a:pt x="80" y="116"/>
                      <a:pt x="81" y="118"/>
                      <a:pt x="81" y="118"/>
                    </a:cubicBezTo>
                    <a:cubicBezTo>
                      <a:pt x="80" y="118"/>
                      <a:pt x="83" y="120"/>
                      <a:pt x="83" y="120"/>
                    </a:cubicBezTo>
                    <a:cubicBezTo>
                      <a:pt x="82" y="120"/>
                      <a:pt x="82" y="120"/>
                      <a:pt x="82" y="123"/>
                    </a:cubicBezTo>
                    <a:cubicBezTo>
                      <a:pt x="81" y="126"/>
                      <a:pt x="85" y="131"/>
                      <a:pt x="88" y="133"/>
                    </a:cubicBezTo>
                    <a:cubicBezTo>
                      <a:pt x="90" y="135"/>
                      <a:pt x="96" y="133"/>
                      <a:pt x="98" y="133"/>
                    </a:cubicBezTo>
                    <a:cubicBezTo>
                      <a:pt x="99" y="133"/>
                      <a:pt x="111" y="132"/>
                      <a:pt x="113" y="132"/>
                    </a:cubicBezTo>
                    <a:cubicBezTo>
                      <a:pt x="114" y="132"/>
                      <a:pt x="130" y="131"/>
                      <a:pt x="132" y="131"/>
                    </a:cubicBezTo>
                    <a:cubicBezTo>
                      <a:pt x="135" y="131"/>
                      <a:pt x="143" y="129"/>
                      <a:pt x="147" y="129"/>
                    </a:cubicBezTo>
                    <a:cubicBezTo>
                      <a:pt x="152" y="128"/>
                      <a:pt x="155" y="125"/>
                      <a:pt x="157" y="123"/>
                    </a:cubicBezTo>
                    <a:cubicBezTo>
                      <a:pt x="159" y="122"/>
                      <a:pt x="169" y="121"/>
                      <a:pt x="172" y="121"/>
                    </a:cubicBezTo>
                    <a:cubicBezTo>
                      <a:pt x="175" y="121"/>
                      <a:pt x="179" y="117"/>
                      <a:pt x="180" y="116"/>
                    </a:cubicBezTo>
                    <a:cubicBezTo>
                      <a:pt x="182" y="115"/>
                      <a:pt x="181" y="115"/>
                      <a:pt x="181" y="113"/>
                    </a:cubicBezTo>
                    <a:cubicBezTo>
                      <a:pt x="181" y="111"/>
                      <a:pt x="184" y="108"/>
                      <a:pt x="187" y="108"/>
                    </a:cubicBezTo>
                    <a:cubicBezTo>
                      <a:pt x="190" y="109"/>
                      <a:pt x="192" y="113"/>
                      <a:pt x="189" y="115"/>
                    </a:cubicBezTo>
                    <a:cubicBezTo>
                      <a:pt x="187" y="117"/>
                      <a:pt x="192" y="117"/>
                      <a:pt x="194" y="117"/>
                    </a:cubicBezTo>
                    <a:cubicBezTo>
                      <a:pt x="196" y="117"/>
                      <a:pt x="200" y="116"/>
                      <a:pt x="202" y="118"/>
                    </a:cubicBezTo>
                    <a:cubicBezTo>
                      <a:pt x="205" y="119"/>
                      <a:pt x="203" y="118"/>
                      <a:pt x="209" y="118"/>
                    </a:cubicBezTo>
                    <a:cubicBezTo>
                      <a:pt x="214" y="119"/>
                      <a:pt x="210" y="120"/>
                      <a:pt x="207" y="122"/>
                    </a:cubicBezTo>
                    <a:cubicBezTo>
                      <a:pt x="203" y="123"/>
                      <a:pt x="214" y="123"/>
                      <a:pt x="218" y="122"/>
                    </a:cubicBezTo>
                    <a:cubicBezTo>
                      <a:pt x="222" y="122"/>
                      <a:pt x="221" y="123"/>
                      <a:pt x="221" y="124"/>
                    </a:cubicBezTo>
                    <a:cubicBezTo>
                      <a:pt x="222" y="124"/>
                      <a:pt x="221" y="124"/>
                      <a:pt x="230" y="125"/>
                    </a:cubicBezTo>
                    <a:cubicBezTo>
                      <a:pt x="239" y="126"/>
                      <a:pt x="244" y="125"/>
                      <a:pt x="245" y="125"/>
                    </a:cubicBezTo>
                    <a:cubicBezTo>
                      <a:pt x="247" y="124"/>
                      <a:pt x="251" y="123"/>
                      <a:pt x="252" y="122"/>
                    </a:cubicBezTo>
                    <a:cubicBezTo>
                      <a:pt x="253" y="122"/>
                      <a:pt x="254" y="122"/>
                      <a:pt x="256" y="121"/>
                    </a:cubicBezTo>
                    <a:cubicBezTo>
                      <a:pt x="258" y="121"/>
                      <a:pt x="257" y="121"/>
                      <a:pt x="256" y="120"/>
                    </a:cubicBezTo>
                    <a:cubicBezTo>
                      <a:pt x="256" y="119"/>
                      <a:pt x="257" y="119"/>
                      <a:pt x="258" y="117"/>
                    </a:cubicBezTo>
                    <a:cubicBezTo>
                      <a:pt x="258" y="115"/>
                      <a:pt x="254" y="116"/>
                      <a:pt x="253" y="116"/>
                    </a:cubicBezTo>
                    <a:cubicBezTo>
                      <a:pt x="252" y="117"/>
                      <a:pt x="252" y="115"/>
                      <a:pt x="253" y="115"/>
                    </a:cubicBezTo>
                    <a:cubicBezTo>
                      <a:pt x="254" y="114"/>
                      <a:pt x="254" y="113"/>
                      <a:pt x="252" y="113"/>
                    </a:cubicBezTo>
                    <a:cubicBezTo>
                      <a:pt x="251" y="112"/>
                      <a:pt x="253" y="112"/>
                      <a:pt x="255" y="111"/>
                    </a:cubicBezTo>
                    <a:cubicBezTo>
                      <a:pt x="256" y="110"/>
                      <a:pt x="254" y="109"/>
                      <a:pt x="253" y="109"/>
                    </a:cubicBezTo>
                    <a:cubicBezTo>
                      <a:pt x="252" y="109"/>
                      <a:pt x="248" y="108"/>
                      <a:pt x="248" y="109"/>
                    </a:cubicBezTo>
                    <a:cubicBezTo>
                      <a:pt x="247" y="109"/>
                      <a:pt x="245" y="110"/>
                      <a:pt x="244" y="111"/>
                    </a:cubicBezTo>
                    <a:cubicBezTo>
                      <a:pt x="242" y="111"/>
                      <a:pt x="240" y="113"/>
                      <a:pt x="239" y="115"/>
                    </a:cubicBezTo>
                    <a:cubicBezTo>
                      <a:pt x="238" y="117"/>
                      <a:pt x="238" y="118"/>
                      <a:pt x="236" y="118"/>
                    </a:cubicBezTo>
                    <a:cubicBezTo>
                      <a:pt x="235" y="117"/>
                      <a:pt x="236" y="116"/>
                      <a:pt x="237" y="115"/>
                    </a:cubicBezTo>
                    <a:cubicBezTo>
                      <a:pt x="239" y="114"/>
                      <a:pt x="239" y="112"/>
                      <a:pt x="239" y="111"/>
                    </a:cubicBezTo>
                    <a:cubicBezTo>
                      <a:pt x="239" y="110"/>
                      <a:pt x="239" y="109"/>
                      <a:pt x="239" y="110"/>
                    </a:cubicBezTo>
                    <a:cubicBezTo>
                      <a:pt x="238" y="110"/>
                      <a:pt x="238" y="109"/>
                      <a:pt x="237" y="108"/>
                    </a:cubicBezTo>
                    <a:cubicBezTo>
                      <a:pt x="236" y="106"/>
                      <a:pt x="236" y="106"/>
                      <a:pt x="235" y="106"/>
                    </a:cubicBezTo>
                    <a:cubicBezTo>
                      <a:pt x="233" y="106"/>
                      <a:pt x="232" y="105"/>
                      <a:pt x="233" y="104"/>
                    </a:cubicBezTo>
                    <a:cubicBezTo>
                      <a:pt x="233" y="102"/>
                      <a:pt x="234" y="103"/>
                      <a:pt x="237" y="105"/>
                    </a:cubicBezTo>
                    <a:cubicBezTo>
                      <a:pt x="239" y="106"/>
                      <a:pt x="243" y="107"/>
                      <a:pt x="244" y="107"/>
                    </a:cubicBezTo>
                    <a:cubicBezTo>
                      <a:pt x="245" y="107"/>
                      <a:pt x="247" y="106"/>
                      <a:pt x="247" y="105"/>
                    </a:cubicBezTo>
                    <a:cubicBezTo>
                      <a:pt x="247" y="105"/>
                      <a:pt x="248" y="103"/>
                      <a:pt x="246" y="103"/>
                    </a:cubicBezTo>
                    <a:cubicBezTo>
                      <a:pt x="245" y="102"/>
                      <a:pt x="247" y="102"/>
                      <a:pt x="248" y="101"/>
                    </a:cubicBezTo>
                    <a:cubicBezTo>
                      <a:pt x="250" y="101"/>
                      <a:pt x="250" y="99"/>
                      <a:pt x="251" y="98"/>
                    </a:cubicBezTo>
                    <a:cubicBezTo>
                      <a:pt x="251" y="97"/>
                      <a:pt x="252" y="97"/>
                      <a:pt x="252" y="98"/>
                    </a:cubicBezTo>
                    <a:cubicBezTo>
                      <a:pt x="251" y="99"/>
                      <a:pt x="252" y="99"/>
                      <a:pt x="253" y="99"/>
                    </a:cubicBezTo>
                    <a:cubicBezTo>
                      <a:pt x="254" y="99"/>
                      <a:pt x="254" y="99"/>
                      <a:pt x="254" y="100"/>
                    </a:cubicBezTo>
                    <a:cubicBezTo>
                      <a:pt x="255" y="102"/>
                      <a:pt x="255" y="102"/>
                      <a:pt x="256" y="102"/>
                    </a:cubicBezTo>
                    <a:cubicBezTo>
                      <a:pt x="257" y="102"/>
                      <a:pt x="258" y="103"/>
                      <a:pt x="259" y="104"/>
                    </a:cubicBezTo>
                    <a:cubicBezTo>
                      <a:pt x="260" y="104"/>
                      <a:pt x="259" y="103"/>
                      <a:pt x="260" y="102"/>
                    </a:cubicBezTo>
                    <a:cubicBezTo>
                      <a:pt x="260" y="102"/>
                      <a:pt x="261" y="101"/>
                      <a:pt x="262" y="98"/>
                    </a:cubicBezTo>
                    <a:cubicBezTo>
                      <a:pt x="263" y="95"/>
                      <a:pt x="263" y="98"/>
                      <a:pt x="263" y="100"/>
                    </a:cubicBezTo>
                    <a:cubicBezTo>
                      <a:pt x="262" y="102"/>
                      <a:pt x="264" y="102"/>
                      <a:pt x="268" y="10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99" name="Freeform 196">
                <a:extLst>
                  <a:ext uri="{FF2B5EF4-FFF2-40B4-BE49-F238E27FC236}">
                    <a16:creationId xmlns:a16="http://schemas.microsoft.com/office/drawing/2014/main" id="{96F20109-64E3-4365-8ADE-EC88A09B577D}"/>
                  </a:ext>
                </a:extLst>
              </p:cNvPr>
              <p:cNvSpPr>
                <a:spLocks/>
              </p:cNvSpPr>
              <p:nvPr/>
            </p:nvSpPr>
            <p:spPr bwMode="auto">
              <a:xfrm>
                <a:off x="917" y="777"/>
                <a:ext cx="217" cy="137"/>
              </a:xfrm>
              <a:custGeom>
                <a:avLst/>
                <a:gdLst>
                  <a:gd name="T0" fmla="*/ 12 w 157"/>
                  <a:gd name="T1" fmla="*/ 75 h 100"/>
                  <a:gd name="T2" fmla="*/ 24 w 157"/>
                  <a:gd name="T3" fmla="*/ 81 h 100"/>
                  <a:gd name="T4" fmla="*/ 39 w 157"/>
                  <a:gd name="T5" fmla="*/ 97 h 100"/>
                  <a:gd name="T6" fmla="*/ 51 w 157"/>
                  <a:gd name="T7" fmla="*/ 95 h 100"/>
                  <a:gd name="T8" fmla="*/ 64 w 157"/>
                  <a:gd name="T9" fmla="*/ 89 h 100"/>
                  <a:gd name="T10" fmla="*/ 75 w 157"/>
                  <a:gd name="T11" fmla="*/ 88 h 100"/>
                  <a:gd name="T12" fmla="*/ 84 w 157"/>
                  <a:gd name="T13" fmla="*/ 72 h 100"/>
                  <a:gd name="T14" fmla="*/ 83 w 157"/>
                  <a:gd name="T15" fmla="*/ 67 h 100"/>
                  <a:gd name="T16" fmla="*/ 88 w 157"/>
                  <a:gd name="T17" fmla="*/ 67 h 100"/>
                  <a:gd name="T18" fmla="*/ 97 w 157"/>
                  <a:gd name="T19" fmla="*/ 62 h 100"/>
                  <a:gd name="T20" fmla="*/ 99 w 157"/>
                  <a:gd name="T21" fmla="*/ 57 h 100"/>
                  <a:gd name="T22" fmla="*/ 112 w 157"/>
                  <a:gd name="T23" fmla="*/ 51 h 100"/>
                  <a:gd name="T24" fmla="*/ 127 w 157"/>
                  <a:gd name="T25" fmla="*/ 44 h 100"/>
                  <a:gd name="T26" fmla="*/ 144 w 157"/>
                  <a:gd name="T27" fmla="*/ 37 h 100"/>
                  <a:gd name="T28" fmla="*/ 155 w 157"/>
                  <a:gd name="T29" fmla="*/ 29 h 100"/>
                  <a:gd name="T30" fmla="*/ 136 w 157"/>
                  <a:gd name="T31" fmla="*/ 16 h 100"/>
                  <a:gd name="T32" fmla="*/ 105 w 157"/>
                  <a:gd name="T33" fmla="*/ 13 h 100"/>
                  <a:gd name="T34" fmla="*/ 100 w 157"/>
                  <a:gd name="T35" fmla="*/ 12 h 100"/>
                  <a:gd name="T36" fmla="*/ 94 w 157"/>
                  <a:gd name="T37" fmla="*/ 12 h 100"/>
                  <a:gd name="T38" fmla="*/ 92 w 157"/>
                  <a:gd name="T39" fmla="*/ 11 h 100"/>
                  <a:gd name="T40" fmla="*/ 85 w 157"/>
                  <a:gd name="T41" fmla="*/ 8 h 100"/>
                  <a:gd name="T42" fmla="*/ 72 w 157"/>
                  <a:gd name="T43" fmla="*/ 4 h 100"/>
                  <a:gd name="T44" fmla="*/ 65 w 157"/>
                  <a:gd name="T45" fmla="*/ 1 h 100"/>
                  <a:gd name="T46" fmla="*/ 43 w 157"/>
                  <a:gd name="T47" fmla="*/ 4 h 100"/>
                  <a:gd name="T48" fmla="*/ 18 w 157"/>
                  <a:gd name="T49" fmla="*/ 6 h 100"/>
                  <a:gd name="T50" fmla="*/ 21 w 157"/>
                  <a:gd name="T51" fmla="*/ 13 h 100"/>
                  <a:gd name="T52" fmla="*/ 24 w 157"/>
                  <a:gd name="T53" fmla="*/ 19 h 100"/>
                  <a:gd name="T54" fmla="*/ 29 w 157"/>
                  <a:gd name="T55" fmla="*/ 25 h 100"/>
                  <a:gd name="T56" fmla="*/ 24 w 157"/>
                  <a:gd name="T57" fmla="*/ 31 h 100"/>
                  <a:gd name="T58" fmla="*/ 16 w 157"/>
                  <a:gd name="T59" fmla="*/ 42 h 100"/>
                  <a:gd name="T60" fmla="*/ 18 w 157"/>
                  <a:gd name="T61" fmla="*/ 48 h 100"/>
                  <a:gd name="T62" fmla="*/ 11 w 157"/>
                  <a:gd name="T63" fmla="*/ 49 h 100"/>
                  <a:gd name="T64" fmla="*/ 11 w 157"/>
                  <a:gd name="T65" fmla="*/ 58 h 100"/>
                  <a:gd name="T66" fmla="*/ 7 w 157"/>
                  <a:gd name="T67" fmla="*/ 61 h 100"/>
                  <a:gd name="T68" fmla="*/ 6 w 157"/>
                  <a:gd name="T69" fmla="*/ 64 h 100"/>
                  <a:gd name="T70" fmla="*/ 4 w 157"/>
                  <a:gd name="T71" fmla="*/ 67 h 100"/>
                  <a:gd name="T72" fmla="*/ 2 w 157"/>
                  <a:gd name="T73" fmla="*/ 69 h 100"/>
                  <a:gd name="T74" fmla="*/ 1 w 157"/>
                  <a:gd name="T75"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7" h="100">
                    <a:moveTo>
                      <a:pt x="9" y="74"/>
                    </a:moveTo>
                    <a:cubicBezTo>
                      <a:pt x="13" y="74"/>
                      <a:pt x="14" y="74"/>
                      <a:pt x="12" y="75"/>
                    </a:cubicBezTo>
                    <a:cubicBezTo>
                      <a:pt x="10" y="75"/>
                      <a:pt x="8" y="74"/>
                      <a:pt x="11" y="76"/>
                    </a:cubicBezTo>
                    <a:cubicBezTo>
                      <a:pt x="13" y="77"/>
                      <a:pt x="22" y="80"/>
                      <a:pt x="24" y="81"/>
                    </a:cubicBezTo>
                    <a:cubicBezTo>
                      <a:pt x="25" y="81"/>
                      <a:pt x="27" y="82"/>
                      <a:pt x="30" y="86"/>
                    </a:cubicBezTo>
                    <a:cubicBezTo>
                      <a:pt x="33" y="89"/>
                      <a:pt x="36" y="94"/>
                      <a:pt x="39" y="97"/>
                    </a:cubicBezTo>
                    <a:cubicBezTo>
                      <a:pt x="42" y="100"/>
                      <a:pt x="45" y="99"/>
                      <a:pt x="46" y="98"/>
                    </a:cubicBezTo>
                    <a:cubicBezTo>
                      <a:pt x="47" y="97"/>
                      <a:pt x="47" y="96"/>
                      <a:pt x="51" y="95"/>
                    </a:cubicBezTo>
                    <a:cubicBezTo>
                      <a:pt x="55" y="94"/>
                      <a:pt x="58" y="91"/>
                      <a:pt x="60" y="89"/>
                    </a:cubicBezTo>
                    <a:cubicBezTo>
                      <a:pt x="62" y="87"/>
                      <a:pt x="64" y="88"/>
                      <a:pt x="64" y="89"/>
                    </a:cubicBezTo>
                    <a:cubicBezTo>
                      <a:pt x="65" y="91"/>
                      <a:pt x="66" y="91"/>
                      <a:pt x="67" y="90"/>
                    </a:cubicBezTo>
                    <a:cubicBezTo>
                      <a:pt x="68" y="90"/>
                      <a:pt x="71" y="90"/>
                      <a:pt x="75" y="88"/>
                    </a:cubicBezTo>
                    <a:cubicBezTo>
                      <a:pt x="79" y="87"/>
                      <a:pt x="81" y="86"/>
                      <a:pt x="81" y="79"/>
                    </a:cubicBezTo>
                    <a:cubicBezTo>
                      <a:pt x="81" y="73"/>
                      <a:pt x="83" y="73"/>
                      <a:pt x="84" y="72"/>
                    </a:cubicBezTo>
                    <a:cubicBezTo>
                      <a:pt x="85" y="70"/>
                      <a:pt x="85" y="69"/>
                      <a:pt x="84" y="68"/>
                    </a:cubicBezTo>
                    <a:cubicBezTo>
                      <a:pt x="84" y="67"/>
                      <a:pt x="83" y="68"/>
                      <a:pt x="83" y="67"/>
                    </a:cubicBezTo>
                    <a:cubicBezTo>
                      <a:pt x="84" y="65"/>
                      <a:pt x="85" y="66"/>
                      <a:pt x="85" y="67"/>
                    </a:cubicBezTo>
                    <a:cubicBezTo>
                      <a:pt x="86" y="67"/>
                      <a:pt x="86" y="67"/>
                      <a:pt x="88" y="67"/>
                    </a:cubicBezTo>
                    <a:cubicBezTo>
                      <a:pt x="90" y="68"/>
                      <a:pt x="95" y="65"/>
                      <a:pt x="96" y="64"/>
                    </a:cubicBezTo>
                    <a:cubicBezTo>
                      <a:pt x="98" y="63"/>
                      <a:pt x="98" y="63"/>
                      <a:pt x="97" y="62"/>
                    </a:cubicBezTo>
                    <a:cubicBezTo>
                      <a:pt x="97" y="61"/>
                      <a:pt x="98" y="60"/>
                      <a:pt x="98" y="60"/>
                    </a:cubicBezTo>
                    <a:cubicBezTo>
                      <a:pt x="99" y="59"/>
                      <a:pt x="99" y="59"/>
                      <a:pt x="99" y="57"/>
                    </a:cubicBezTo>
                    <a:cubicBezTo>
                      <a:pt x="99" y="56"/>
                      <a:pt x="103" y="53"/>
                      <a:pt x="106" y="53"/>
                    </a:cubicBezTo>
                    <a:cubicBezTo>
                      <a:pt x="109" y="52"/>
                      <a:pt x="110" y="51"/>
                      <a:pt x="112" y="51"/>
                    </a:cubicBezTo>
                    <a:cubicBezTo>
                      <a:pt x="113" y="50"/>
                      <a:pt x="118" y="47"/>
                      <a:pt x="120" y="46"/>
                    </a:cubicBezTo>
                    <a:cubicBezTo>
                      <a:pt x="122" y="45"/>
                      <a:pt x="125" y="44"/>
                      <a:pt x="127" y="44"/>
                    </a:cubicBezTo>
                    <a:cubicBezTo>
                      <a:pt x="128" y="44"/>
                      <a:pt x="132" y="42"/>
                      <a:pt x="133" y="41"/>
                    </a:cubicBezTo>
                    <a:cubicBezTo>
                      <a:pt x="134" y="41"/>
                      <a:pt x="136" y="39"/>
                      <a:pt x="144" y="37"/>
                    </a:cubicBezTo>
                    <a:cubicBezTo>
                      <a:pt x="152" y="35"/>
                      <a:pt x="149" y="35"/>
                      <a:pt x="153" y="33"/>
                    </a:cubicBezTo>
                    <a:cubicBezTo>
                      <a:pt x="157" y="32"/>
                      <a:pt x="156" y="30"/>
                      <a:pt x="155" y="29"/>
                    </a:cubicBezTo>
                    <a:cubicBezTo>
                      <a:pt x="154" y="28"/>
                      <a:pt x="152" y="26"/>
                      <a:pt x="149" y="26"/>
                    </a:cubicBezTo>
                    <a:cubicBezTo>
                      <a:pt x="146" y="25"/>
                      <a:pt x="136" y="16"/>
                      <a:pt x="136" y="16"/>
                    </a:cubicBezTo>
                    <a:cubicBezTo>
                      <a:pt x="123" y="5"/>
                      <a:pt x="107" y="10"/>
                      <a:pt x="106" y="11"/>
                    </a:cubicBezTo>
                    <a:cubicBezTo>
                      <a:pt x="104" y="11"/>
                      <a:pt x="104" y="12"/>
                      <a:pt x="105" y="13"/>
                    </a:cubicBezTo>
                    <a:cubicBezTo>
                      <a:pt x="105" y="14"/>
                      <a:pt x="103" y="16"/>
                      <a:pt x="100" y="17"/>
                    </a:cubicBezTo>
                    <a:cubicBezTo>
                      <a:pt x="98" y="18"/>
                      <a:pt x="100" y="14"/>
                      <a:pt x="100" y="12"/>
                    </a:cubicBezTo>
                    <a:cubicBezTo>
                      <a:pt x="101" y="10"/>
                      <a:pt x="98" y="11"/>
                      <a:pt x="97" y="10"/>
                    </a:cubicBezTo>
                    <a:cubicBezTo>
                      <a:pt x="96" y="10"/>
                      <a:pt x="95" y="11"/>
                      <a:pt x="94" y="12"/>
                    </a:cubicBezTo>
                    <a:cubicBezTo>
                      <a:pt x="92" y="13"/>
                      <a:pt x="92" y="13"/>
                      <a:pt x="90" y="14"/>
                    </a:cubicBezTo>
                    <a:cubicBezTo>
                      <a:pt x="88" y="15"/>
                      <a:pt x="91" y="13"/>
                      <a:pt x="92" y="11"/>
                    </a:cubicBezTo>
                    <a:cubicBezTo>
                      <a:pt x="93" y="9"/>
                      <a:pt x="92" y="10"/>
                      <a:pt x="91" y="10"/>
                    </a:cubicBezTo>
                    <a:cubicBezTo>
                      <a:pt x="90" y="10"/>
                      <a:pt x="86" y="9"/>
                      <a:pt x="85" y="8"/>
                    </a:cubicBezTo>
                    <a:cubicBezTo>
                      <a:pt x="83" y="8"/>
                      <a:pt x="82" y="8"/>
                      <a:pt x="77" y="7"/>
                    </a:cubicBezTo>
                    <a:cubicBezTo>
                      <a:pt x="73" y="5"/>
                      <a:pt x="73" y="4"/>
                      <a:pt x="72" y="4"/>
                    </a:cubicBezTo>
                    <a:cubicBezTo>
                      <a:pt x="72" y="3"/>
                      <a:pt x="70" y="2"/>
                      <a:pt x="70" y="2"/>
                    </a:cubicBezTo>
                    <a:cubicBezTo>
                      <a:pt x="69" y="2"/>
                      <a:pt x="68" y="2"/>
                      <a:pt x="65" y="1"/>
                    </a:cubicBezTo>
                    <a:cubicBezTo>
                      <a:pt x="63" y="0"/>
                      <a:pt x="56" y="2"/>
                      <a:pt x="54" y="2"/>
                    </a:cubicBezTo>
                    <a:cubicBezTo>
                      <a:pt x="53" y="3"/>
                      <a:pt x="44" y="4"/>
                      <a:pt x="43" y="4"/>
                    </a:cubicBezTo>
                    <a:cubicBezTo>
                      <a:pt x="42" y="4"/>
                      <a:pt x="35" y="4"/>
                      <a:pt x="34" y="4"/>
                    </a:cubicBezTo>
                    <a:cubicBezTo>
                      <a:pt x="33" y="4"/>
                      <a:pt x="20" y="6"/>
                      <a:pt x="18" y="6"/>
                    </a:cubicBezTo>
                    <a:cubicBezTo>
                      <a:pt x="17" y="7"/>
                      <a:pt x="14" y="7"/>
                      <a:pt x="17" y="7"/>
                    </a:cubicBezTo>
                    <a:cubicBezTo>
                      <a:pt x="19" y="8"/>
                      <a:pt x="21" y="13"/>
                      <a:pt x="21" y="13"/>
                    </a:cubicBezTo>
                    <a:cubicBezTo>
                      <a:pt x="21" y="13"/>
                      <a:pt x="22" y="15"/>
                      <a:pt x="22" y="16"/>
                    </a:cubicBezTo>
                    <a:cubicBezTo>
                      <a:pt x="22" y="18"/>
                      <a:pt x="23" y="18"/>
                      <a:pt x="24" y="19"/>
                    </a:cubicBezTo>
                    <a:cubicBezTo>
                      <a:pt x="25" y="21"/>
                      <a:pt x="26" y="21"/>
                      <a:pt x="29" y="22"/>
                    </a:cubicBezTo>
                    <a:cubicBezTo>
                      <a:pt x="32" y="23"/>
                      <a:pt x="30" y="24"/>
                      <a:pt x="29" y="25"/>
                    </a:cubicBezTo>
                    <a:cubicBezTo>
                      <a:pt x="27" y="27"/>
                      <a:pt x="27" y="27"/>
                      <a:pt x="27" y="28"/>
                    </a:cubicBezTo>
                    <a:cubicBezTo>
                      <a:pt x="26" y="29"/>
                      <a:pt x="27" y="30"/>
                      <a:pt x="24" y="31"/>
                    </a:cubicBezTo>
                    <a:cubicBezTo>
                      <a:pt x="21" y="33"/>
                      <a:pt x="21" y="35"/>
                      <a:pt x="20" y="37"/>
                    </a:cubicBezTo>
                    <a:cubicBezTo>
                      <a:pt x="19" y="39"/>
                      <a:pt x="19" y="38"/>
                      <a:pt x="16" y="42"/>
                    </a:cubicBezTo>
                    <a:cubicBezTo>
                      <a:pt x="14" y="45"/>
                      <a:pt x="15" y="42"/>
                      <a:pt x="18" y="45"/>
                    </a:cubicBezTo>
                    <a:cubicBezTo>
                      <a:pt x="22" y="47"/>
                      <a:pt x="18" y="48"/>
                      <a:pt x="18" y="48"/>
                    </a:cubicBezTo>
                    <a:cubicBezTo>
                      <a:pt x="17" y="48"/>
                      <a:pt x="16" y="48"/>
                      <a:pt x="15" y="49"/>
                    </a:cubicBezTo>
                    <a:cubicBezTo>
                      <a:pt x="14" y="50"/>
                      <a:pt x="13" y="49"/>
                      <a:pt x="11" y="49"/>
                    </a:cubicBezTo>
                    <a:cubicBezTo>
                      <a:pt x="10" y="49"/>
                      <a:pt x="11" y="52"/>
                      <a:pt x="12" y="53"/>
                    </a:cubicBezTo>
                    <a:cubicBezTo>
                      <a:pt x="12" y="54"/>
                      <a:pt x="11" y="57"/>
                      <a:pt x="11" y="58"/>
                    </a:cubicBezTo>
                    <a:cubicBezTo>
                      <a:pt x="10" y="60"/>
                      <a:pt x="9" y="60"/>
                      <a:pt x="8" y="60"/>
                    </a:cubicBezTo>
                    <a:cubicBezTo>
                      <a:pt x="7" y="61"/>
                      <a:pt x="8" y="61"/>
                      <a:pt x="7" y="61"/>
                    </a:cubicBezTo>
                    <a:cubicBezTo>
                      <a:pt x="7" y="62"/>
                      <a:pt x="6" y="62"/>
                      <a:pt x="6" y="62"/>
                    </a:cubicBezTo>
                    <a:cubicBezTo>
                      <a:pt x="6" y="63"/>
                      <a:pt x="6" y="63"/>
                      <a:pt x="6" y="64"/>
                    </a:cubicBezTo>
                    <a:cubicBezTo>
                      <a:pt x="5" y="64"/>
                      <a:pt x="5" y="65"/>
                      <a:pt x="5" y="65"/>
                    </a:cubicBezTo>
                    <a:cubicBezTo>
                      <a:pt x="5" y="66"/>
                      <a:pt x="4" y="66"/>
                      <a:pt x="4" y="67"/>
                    </a:cubicBezTo>
                    <a:cubicBezTo>
                      <a:pt x="3" y="67"/>
                      <a:pt x="3" y="67"/>
                      <a:pt x="3" y="67"/>
                    </a:cubicBezTo>
                    <a:cubicBezTo>
                      <a:pt x="3" y="68"/>
                      <a:pt x="3" y="68"/>
                      <a:pt x="2" y="69"/>
                    </a:cubicBezTo>
                    <a:cubicBezTo>
                      <a:pt x="1" y="70"/>
                      <a:pt x="1" y="70"/>
                      <a:pt x="1" y="71"/>
                    </a:cubicBezTo>
                    <a:cubicBezTo>
                      <a:pt x="2" y="73"/>
                      <a:pt x="2" y="73"/>
                      <a:pt x="1" y="74"/>
                    </a:cubicBezTo>
                    <a:cubicBezTo>
                      <a:pt x="0" y="75"/>
                      <a:pt x="5" y="74"/>
                      <a:pt x="9" y="7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00" name="Freeform 197">
                <a:extLst>
                  <a:ext uri="{FF2B5EF4-FFF2-40B4-BE49-F238E27FC236}">
                    <a16:creationId xmlns:a16="http://schemas.microsoft.com/office/drawing/2014/main" id="{92516DBE-F38D-4F29-BE36-A5CE573C97EB}"/>
                  </a:ext>
                </a:extLst>
              </p:cNvPr>
              <p:cNvSpPr>
                <a:spLocks/>
              </p:cNvSpPr>
              <p:nvPr/>
            </p:nvSpPr>
            <p:spPr bwMode="auto">
              <a:xfrm>
                <a:off x="1085" y="683"/>
                <a:ext cx="253" cy="102"/>
              </a:xfrm>
              <a:custGeom>
                <a:avLst/>
                <a:gdLst>
                  <a:gd name="T0" fmla="*/ 32 w 183"/>
                  <a:gd name="T1" fmla="*/ 19 h 75"/>
                  <a:gd name="T2" fmla="*/ 32 w 183"/>
                  <a:gd name="T3" fmla="*/ 21 h 75"/>
                  <a:gd name="T4" fmla="*/ 16 w 183"/>
                  <a:gd name="T5" fmla="*/ 25 h 75"/>
                  <a:gd name="T6" fmla="*/ 27 w 183"/>
                  <a:gd name="T7" fmla="*/ 30 h 75"/>
                  <a:gd name="T8" fmla="*/ 36 w 183"/>
                  <a:gd name="T9" fmla="*/ 31 h 75"/>
                  <a:gd name="T10" fmla="*/ 8 w 183"/>
                  <a:gd name="T11" fmla="*/ 37 h 75"/>
                  <a:gd name="T12" fmla="*/ 37 w 183"/>
                  <a:gd name="T13" fmla="*/ 36 h 75"/>
                  <a:gd name="T14" fmla="*/ 33 w 183"/>
                  <a:gd name="T15" fmla="*/ 39 h 75"/>
                  <a:gd name="T16" fmla="*/ 5 w 183"/>
                  <a:gd name="T17" fmla="*/ 44 h 75"/>
                  <a:gd name="T18" fmla="*/ 12 w 183"/>
                  <a:gd name="T19" fmla="*/ 52 h 75"/>
                  <a:gd name="T20" fmla="*/ 21 w 183"/>
                  <a:gd name="T21" fmla="*/ 50 h 75"/>
                  <a:gd name="T22" fmla="*/ 22 w 183"/>
                  <a:gd name="T23" fmla="*/ 54 h 75"/>
                  <a:gd name="T24" fmla="*/ 32 w 183"/>
                  <a:gd name="T25" fmla="*/ 57 h 75"/>
                  <a:gd name="T26" fmla="*/ 37 w 183"/>
                  <a:gd name="T27" fmla="*/ 51 h 75"/>
                  <a:gd name="T28" fmla="*/ 42 w 183"/>
                  <a:gd name="T29" fmla="*/ 57 h 75"/>
                  <a:gd name="T30" fmla="*/ 48 w 183"/>
                  <a:gd name="T31" fmla="*/ 48 h 75"/>
                  <a:gd name="T32" fmla="*/ 55 w 183"/>
                  <a:gd name="T33" fmla="*/ 44 h 75"/>
                  <a:gd name="T34" fmla="*/ 57 w 183"/>
                  <a:gd name="T35" fmla="*/ 48 h 75"/>
                  <a:gd name="T36" fmla="*/ 72 w 183"/>
                  <a:gd name="T37" fmla="*/ 53 h 75"/>
                  <a:gd name="T38" fmla="*/ 78 w 183"/>
                  <a:gd name="T39" fmla="*/ 50 h 75"/>
                  <a:gd name="T40" fmla="*/ 87 w 183"/>
                  <a:gd name="T41" fmla="*/ 52 h 75"/>
                  <a:gd name="T42" fmla="*/ 96 w 183"/>
                  <a:gd name="T43" fmla="*/ 50 h 75"/>
                  <a:gd name="T44" fmla="*/ 51 w 183"/>
                  <a:gd name="T45" fmla="*/ 64 h 75"/>
                  <a:gd name="T46" fmla="*/ 129 w 183"/>
                  <a:gd name="T47" fmla="*/ 55 h 75"/>
                  <a:gd name="T48" fmla="*/ 145 w 183"/>
                  <a:gd name="T49" fmla="*/ 57 h 75"/>
                  <a:gd name="T50" fmla="*/ 173 w 183"/>
                  <a:gd name="T51" fmla="*/ 55 h 75"/>
                  <a:gd name="T52" fmla="*/ 175 w 183"/>
                  <a:gd name="T53" fmla="*/ 50 h 75"/>
                  <a:gd name="T54" fmla="*/ 179 w 183"/>
                  <a:gd name="T55" fmla="*/ 43 h 75"/>
                  <a:gd name="T56" fmla="*/ 182 w 183"/>
                  <a:gd name="T57" fmla="*/ 34 h 75"/>
                  <a:gd name="T58" fmla="*/ 161 w 183"/>
                  <a:gd name="T59" fmla="*/ 29 h 75"/>
                  <a:gd name="T60" fmla="*/ 161 w 183"/>
                  <a:gd name="T61" fmla="*/ 36 h 75"/>
                  <a:gd name="T62" fmla="*/ 154 w 183"/>
                  <a:gd name="T63" fmla="*/ 29 h 75"/>
                  <a:gd name="T64" fmla="*/ 143 w 183"/>
                  <a:gd name="T65" fmla="*/ 19 h 75"/>
                  <a:gd name="T66" fmla="*/ 136 w 183"/>
                  <a:gd name="T67" fmla="*/ 10 h 75"/>
                  <a:gd name="T68" fmla="*/ 136 w 183"/>
                  <a:gd name="T69" fmla="*/ 3 h 75"/>
                  <a:gd name="T70" fmla="*/ 128 w 183"/>
                  <a:gd name="T71" fmla="*/ 1 h 75"/>
                  <a:gd name="T72" fmla="*/ 121 w 183"/>
                  <a:gd name="T73" fmla="*/ 6 h 75"/>
                  <a:gd name="T74" fmla="*/ 116 w 183"/>
                  <a:gd name="T75" fmla="*/ 11 h 75"/>
                  <a:gd name="T76" fmla="*/ 111 w 183"/>
                  <a:gd name="T77" fmla="*/ 17 h 75"/>
                  <a:gd name="T78" fmla="*/ 123 w 183"/>
                  <a:gd name="T79" fmla="*/ 26 h 75"/>
                  <a:gd name="T80" fmla="*/ 131 w 183"/>
                  <a:gd name="T81" fmla="*/ 36 h 75"/>
                  <a:gd name="T82" fmla="*/ 97 w 183"/>
                  <a:gd name="T83" fmla="*/ 41 h 75"/>
                  <a:gd name="T84" fmla="*/ 82 w 183"/>
                  <a:gd name="T85" fmla="*/ 32 h 75"/>
                  <a:gd name="T86" fmla="*/ 82 w 183"/>
                  <a:gd name="T87" fmla="*/ 26 h 75"/>
                  <a:gd name="T88" fmla="*/ 66 w 183"/>
                  <a:gd name="T89" fmla="*/ 18 h 75"/>
                  <a:gd name="T90" fmla="*/ 55 w 183"/>
                  <a:gd name="T91" fmla="*/ 19 h 75"/>
                  <a:gd name="T92" fmla="*/ 43 w 183"/>
                  <a:gd name="T93" fmla="*/ 10 h 75"/>
                  <a:gd name="T94" fmla="*/ 31 w 183"/>
                  <a:gd name="T95"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3" h="75">
                    <a:moveTo>
                      <a:pt x="27" y="15"/>
                    </a:moveTo>
                    <a:cubicBezTo>
                      <a:pt x="26" y="16"/>
                      <a:pt x="27" y="16"/>
                      <a:pt x="27" y="17"/>
                    </a:cubicBezTo>
                    <a:cubicBezTo>
                      <a:pt x="27" y="18"/>
                      <a:pt x="31" y="19"/>
                      <a:pt x="32" y="19"/>
                    </a:cubicBezTo>
                    <a:cubicBezTo>
                      <a:pt x="34" y="19"/>
                      <a:pt x="39" y="20"/>
                      <a:pt x="43" y="21"/>
                    </a:cubicBezTo>
                    <a:cubicBezTo>
                      <a:pt x="48" y="22"/>
                      <a:pt x="42" y="22"/>
                      <a:pt x="39" y="22"/>
                    </a:cubicBezTo>
                    <a:cubicBezTo>
                      <a:pt x="37" y="21"/>
                      <a:pt x="33" y="20"/>
                      <a:pt x="32" y="21"/>
                    </a:cubicBezTo>
                    <a:cubicBezTo>
                      <a:pt x="31" y="21"/>
                      <a:pt x="27" y="20"/>
                      <a:pt x="25" y="20"/>
                    </a:cubicBezTo>
                    <a:cubicBezTo>
                      <a:pt x="23" y="20"/>
                      <a:pt x="20" y="21"/>
                      <a:pt x="17" y="22"/>
                    </a:cubicBezTo>
                    <a:cubicBezTo>
                      <a:pt x="14" y="23"/>
                      <a:pt x="15" y="25"/>
                      <a:pt x="16" y="25"/>
                    </a:cubicBezTo>
                    <a:cubicBezTo>
                      <a:pt x="17" y="25"/>
                      <a:pt x="17" y="26"/>
                      <a:pt x="15" y="27"/>
                    </a:cubicBezTo>
                    <a:cubicBezTo>
                      <a:pt x="13" y="28"/>
                      <a:pt x="15" y="30"/>
                      <a:pt x="17" y="30"/>
                    </a:cubicBezTo>
                    <a:cubicBezTo>
                      <a:pt x="18" y="30"/>
                      <a:pt x="25" y="30"/>
                      <a:pt x="27" y="30"/>
                    </a:cubicBezTo>
                    <a:cubicBezTo>
                      <a:pt x="29" y="30"/>
                      <a:pt x="37" y="29"/>
                      <a:pt x="41" y="29"/>
                    </a:cubicBezTo>
                    <a:cubicBezTo>
                      <a:pt x="45" y="29"/>
                      <a:pt x="42" y="30"/>
                      <a:pt x="41" y="31"/>
                    </a:cubicBezTo>
                    <a:cubicBezTo>
                      <a:pt x="40" y="31"/>
                      <a:pt x="37" y="31"/>
                      <a:pt x="36" y="31"/>
                    </a:cubicBezTo>
                    <a:cubicBezTo>
                      <a:pt x="34" y="31"/>
                      <a:pt x="26" y="31"/>
                      <a:pt x="25" y="32"/>
                    </a:cubicBezTo>
                    <a:cubicBezTo>
                      <a:pt x="24" y="32"/>
                      <a:pt x="17" y="32"/>
                      <a:pt x="14" y="32"/>
                    </a:cubicBezTo>
                    <a:cubicBezTo>
                      <a:pt x="11" y="33"/>
                      <a:pt x="10" y="35"/>
                      <a:pt x="8" y="37"/>
                    </a:cubicBezTo>
                    <a:cubicBezTo>
                      <a:pt x="5" y="40"/>
                      <a:pt x="11" y="39"/>
                      <a:pt x="15" y="39"/>
                    </a:cubicBezTo>
                    <a:cubicBezTo>
                      <a:pt x="19" y="40"/>
                      <a:pt x="23" y="39"/>
                      <a:pt x="25" y="38"/>
                    </a:cubicBezTo>
                    <a:cubicBezTo>
                      <a:pt x="27" y="38"/>
                      <a:pt x="35" y="36"/>
                      <a:pt x="37" y="36"/>
                    </a:cubicBezTo>
                    <a:cubicBezTo>
                      <a:pt x="40" y="35"/>
                      <a:pt x="39" y="36"/>
                      <a:pt x="39" y="36"/>
                    </a:cubicBezTo>
                    <a:cubicBezTo>
                      <a:pt x="38" y="36"/>
                      <a:pt x="37" y="37"/>
                      <a:pt x="37" y="37"/>
                    </a:cubicBezTo>
                    <a:cubicBezTo>
                      <a:pt x="36" y="38"/>
                      <a:pt x="35" y="39"/>
                      <a:pt x="33" y="39"/>
                    </a:cubicBezTo>
                    <a:cubicBezTo>
                      <a:pt x="32" y="39"/>
                      <a:pt x="30" y="39"/>
                      <a:pt x="29" y="40"/>
                    </a:cubicBezTo>
                    <a:cubicBezTo>
                      <a:pt x="28" y="40"/>
                      <a:pt x="25" y="41"/>
                      <a:pt x="25" y="41"/>
                    </a:cubicBezTo>
                    <a:cubicBezTo>
                      <a:pt x="25" y="41"/>
                      <a:pt x="6" y="44"/>
                      <a:pt x="5" y="44"/>
                    </a:cubicBezTo>
                    <a:cubicBezTo>
                      <a:pt x="3" y="45"/>
                      <a:pt x="1" y="46"/>
                      <a:pt x="1" y="48"/>
                    </a:cubicBezTo>
                    <a:cubicBezTo>
                      <a:pt x="0" y="50"/>
                      <a:pt x="6" y="52"/>
                      <a:pt x="8" y="52"/>
                    </a:cubicBezTo>
                    <a:cubicBezTo>
                      <a:pt x="9" y="52"/>
                      <a:pt x="11" y="52"/>
                      <a:pt x="12" y="52"/>
                    </a:cubicBezTo>
                    <a:cubicBezTo>
                      <a:pt x="13" y="53"/>
                      <a:pt x="15" y="52"/>
                      <a:pt x="16" y="52"/>
                    </a:cubicBezTo>
                    <a:cubicBezTo>
                      <a:pt x="16" y="51"/>
                      <a:pt x="18" y="51"/>
                      <a:pt x="18" y="51"/>
                    </a:cubicBezTo>
                    <a:cubicBezTo>
                      <a:pt x="18" y="51"/>
                      <a:pt x="20" y="51"/>
                      <a:pt x="21" y="50"/>
                    </a:cubicBezTo>
                    <a:cubicBezTo>
                      <a:pt x="22" y="50"/>
                      <a:pt x="22" y="51"/>
                      <a:pt x="21" y="52"/>
                    </a:cubicBezTo>
                    <a:cubicBezTo>
                      <a:pt x="20" y="53"/>
                      <a:pt x="20" y="54"/>
                      <a:pt x="22" y="53"/>
                    </a:cubicBezTo>
                    <a:cubicBezTo>
                      <a:pt x="23" y="53"/>
                      <a:pt x="22" y="54"/>
                      <a:pt x="22" y="54"/>
                    </a:cubicBezTo>
                    <a:cubicBezTo>
                      <a:pt x="22" y="54"/>
                      <a:pt x="23" y="55"/>
                      <a:pt x="24" y="56"/>
                    </a:cubicBezTo>
                    <a:cubicBezTo>
                      <a:pt x="25" y="56"/>
                      <a:pt x="27" y="56"/>
                      <a:pt x="28" y="57"/>
                    </a:cubicBezTo>
                    <a:cubicBezTo>
                      <a:pt x="29" y="57"/>
                      <a:pt x="31" y="57"/>
                      <a:pt x="32" y="57"/>
                    </a:cubicBezTo>
                    <a:cubicBezTo>
                      <a:pt x="33" y="56"/>
                      <a:pt x="32" y="55"/>
                      <a:pt x="31" y="54"/>
                    </a:cubicBezTo>
                    <a:cubicBezTo>
                      <a:pt x="31" y="52"/>
                      <a:pt x="30" y="52"/>
                      <a:pt x="32" y="52"/>
                    </a:cubicBezTo>
                    <a:cubicBezTo>
                      <a:pt x="33" y="53"/>
                      <a:pt x="35" y="52"/>
                      <a:pt x="37" y="51"/>
                    </a:cubicBezTo>
                    <a:cubicBezTo>
                      <a:pt x="38" y="51"/>
                      <a:pt x="38" y="53"/>
                      <a:pt x="37" y="54"/>
                    </a:cubicBezTo>
                    <a:cubicBezTo>
                      <a:pt x="36" y="54"/>
                      <a:pt x="37" y="54"/>
                      <a:pt x="38" y="56"/>
                    </a:cubicBezTo>
                    <a:cubicBezTo>
                      <a:pt x="40" y="58"/>
                      <a:pt x="42" y="57"/>
                      <a:pt x="42" y="57"/>
                    </a:cubicBezTo>
                    <a:cubicBezTo>
                      <a:pt x="45" y="56"/>
                      <a:pt x="49" y="54"/>
                      <a:pt x="50" y="53"/>
                    </a:cubicBezTo>
                    <a:cubicBezTo>
                      <a:pt x="51" y="52"/>
                      <a:pt x="51" y="51"/>
                      <a:pt x="49" y="49"/>
                    </a:cubicBezTo>
                    <a:cubicBezTo>
                      <a:pt x="47" y="47"/>
                      <a:pt x="48" y="47"/>
                      <a:pt x="48" y="48"/>
                    </a:cubicBezTo>
                    <a:cubicBezTo>
                      <a:pt x="49" y="48"/>
                      <a:pt x="51" y="49"/>
                      <a:pt x="52" y="49"/>
                    </a:cubicBezTo>
                    <a:cubicBezTo>
                      <a:pt x="53" y="49"/>
                      <a:pt x="54" y="46"/>
                      <a:pt x="54" y="44"/>
                    </a:cubicBezTo>
                    <a:cubicBezTo>
                      <a:pt x="54" y="42"/>
                      <a:pt x="55" y="43"/>
                      <a:pt x="55" y="44"/>
                    </a:cubicBezTo>
                    <a:cubicBezTo>
                      <a:pt x="56" y="44"/>
                      <a:pt x="56" y="46"/>
                      <a:pt x="59" y="45"/>
                    </a:cubicBezTo>
                    <a:cubicBezTo>
                      <a:pt x="61" y="44"/>
                      <a:pt x="60" y="45"/>
                      <a:pt x="59" y="46"/>
                    </a:cubicBezTo>
                    <a:cubicBezTo>
                      <a:pt x="59" y="46"/>
                      <a:pt x="58" y="46"/>
                      <a:pt x="57" y="48"/>
                    </a:cubicBezTo>
                    <a:cubicBezTo>
                      <a:pt x="56" y="50"/>
                      <a:pt x="56" y="50"/>
                      <a:pt x="56" y="53"/>
                    </a:cubicBezTo>
                    <a:cubicBezTo>
                      <a:pt x="55" y="56"/>
                      <a:pt x="60" y="55"/>
                      <a:pt x="61" y="54"/>
                    </a:cubicBezTo>
                    <a:cubicBezTo>
                      <a:pt x="63" y="54"/>
                      <a:pt x="70" y="54"/>
                      <a:pt x="72" y="53"/>
                    </a:cubicBezTo>
                    <a:cubicBezTo>
                      <a:pt x="75" y="53"/>
                      <a:pt x="75" y="51"/>
                      <a:pt x="75" y="50"/>
                    </a:cubicBezTo>
                    <a:cubicBezTo>
                      <a:pt x="75" y="49"/>
                      <a:pt x="75" y="47"/>
                      <a:pt x="75" y="49"/>
                    </a:cubicBezTo>
                    <a:cubicBezTo>
                      <a:pt x="76" y="51"/>
                      <a:pt x="76" y="50"/>
                      <a:pt x="78" y="50"/>
                    </a:cubicBezTo>
                    <a:cubicBezTo>
                      <a:pt x="80" y="49"/>
                      <a:pt x="79" y="51"/>
                      <a:pt x="78" y="52"/>
                    </a:cubicBezTo>
                    <a:cubicBezTo>
                      <a:pt x="78" y="53"/>
                      <a:pt x="81" y="53"/>
                      <a:pt x="83" y="52"/>
                    </a:cubicBezTo>
                    <a:cubicBezTo>
                      <a:pt x="84" y="52"/>
                      <a:pt x="86" y="53"/>
                      <a:pt x="87" y="52"/>
                    </a:cubicBezTo>
                    <a:cubicBezTo>
                      <a:pt x="88" y="51"/>
                      <a:pt x="88" y="51"/>
                      <a:pt x="89" y="52"/>
                    </a:cubicBezTo>
                    <a:cubicBezTo>
                      <a:pt x="90" y="52"/>
                      <a:pt x="92" y="51"/>
                      <a:pt x="94" y="50"/>
                    </a:cubicBezTo>
                    <a:cubicBezTo>
                      <a:pt x="95" y="49"/>
                      <a:pt x="98" y="46"/>
                      <a:pt x="96" y="50"/>
                    </a:cubicBezTo>
                    <a:cubicBezTo>
                      <a:pt x="95" y="54"/>
                      <a:pt x="90" y="57"/>
                      <a:pt x="87" y="57"/>
                    </a:cubicBezTo>
                    <a:cubicBezTo>
                      <a:pt x="83" y="56"/>
                      <a:pt x="79" y="57"/>
                      <a:pt x="77" y="57"/>
                    </a:cubicBezTo>
                    <a:cubicBezTo>
                      <a:pt x="75" y="58"/>
                      <a:pt x="58" y="63"/>
                      <a:pt x="51" y="64"/>
                    </a:cubicBezTo>
                    <a:cubicBezTo>
                      <a:pt x="44" y="66"/>
                      <a:pt x="55" y="71"/>
                      <a:pt x="61" y="73"/>
                    </a:cubicBezTo>
                    <a:cubicBezTo>
                      <a:pt x="67" y="75"/>
                      <a:pt x="76" y="73"/>
                      <a:pt x="76" y="73"/>
                    </a:cubicBezTo>
                    <a:cubicBezTo>
                      <a:pt x="76" y="73"/>
                      <a:pt x="125" y="57"/>
                      <a:pt x="129" y="55"/>
                    </a:cubicBezTo>
                    <a:cubicBezTo>
                      <a:pt x="132" y="54"/>
                      <a:pt x="134" y="55"/>
                      <a:pt x="134" y="55"/>
                    </a:cubicBezTo>
                    <a:cubicBezTo>
                      <a:pt x="136" y="56"/>
                      <a:pt x="143" y="58"/>
                      <a:pt x="143" y="58"/>
                    </a:cubicBezTo>
                    <a:cubicBezTo>
                      <a:pt x="144" y="58"/>
                      <a:pt x="144" y="58"/>
                      <a:pt x="145" y="57"/>
                    </a:cubicBezTo>
                    <a:cubicBezTo>
                      <a:pt x="145" y="57"/>
                      <a:pt x="146" y="55"/>
                      <a:pt x="147" y="54"/>
                    </a:cubicBezTo>
                    <a:cubicBezTo>
                      <a:pt x="148" y="53"/>
                      <a:pt x="149" y="54"/>
                      <a:pt x="149" y="54"/>
                    </a:cubicBezTo>
                    <a:cubicBezTo>
                      <a:pt x="149" y="54"/>
                      <a:pt x="172" y="55"/>
                      <a:pt x="173" y="55"/>
                    </a:cubicBezTo>
                    <a:cubicBezTo>
                      <a:pt x="174" y="54"/>
                      <a:pt x="174" y="55"/>
                      <a:pt x="173" y="54"/>
                    </a:cubicBezTo>
                    <a:cubicBezTo>
                      <a:pt x="173" y="53"/>
                      <a:pt x="174" y="53"/>
                      <a:pt x="176" y="52"/>
                    </a:cubicBezTo>
                    <a:cubicBezTo>
                      <a:pt x="177" y="51"/>
                      <a:pt x="176" y="51"/>
                      <a:pt x="175" y="50"/>
                    </a:cubicBezTo>
                    <a:cubicBezTo>
                      <a:pt x="174" y="49"/>
                      <a:pt x="177" y="48"/>
                      <a:pt x="178" y="47"/>
                    </a:cubicBezTo>
                    <a:cubicBezTo>
                      <a:pt x="179" y="45"/>
                      <a:pt x="179" y="45"/>
                      <a:pt x="178" y="45"/>
                    </a:cubicBezTo>
                    <a:cubicBezTo>
                      <a:pt x="178" y="44"/>
                      <a:pt x="178" y="43"/>
                      <a:pt x="179" y="43"/>
                    </a:cubicBezTo>
                    <a:cubicBezTo>
                      <a:pt x="179" y="43"/>
                      <a:pt x="180" y="42"/>
                      <a:pt x="179" y="42"/>
                    </a:cubicBezTo>
                    <a:cubicBezTo>
                      <a:pt x="178" y="42"/>
                      <a:pt x="177" y="42"/>
                      <a:pt x="180" y="40"/>
                    </a:cubicBezTo>
                    <a:cubicBezTo>
                      <a:pt x="183" y="37"/>
                      <a:pt x="182" y="34"/>
                      <a:pt x="182" y="34"/>
                    </a:cubicBezTo>
                    <a:cubicBezTo>
                      <a:pt x="182" y="27"/>
                      <a:pt x="175" y="26"/>
                      <a:pt x="170" y="25"/>
                    </a:cubicBezTo>
                    <a:cubicBezTo>
                      <a:pt x="166" y="24"/>
                      <a:pt x="163" y="26"/>
                      <a:pt x="163" y="26"/>
                    </a:cubicBezTo>
                    <a:cubicBezTo>
                      <a:pt x="162" y="27"/>
                      <a:pt x="161" y="27"/>
                      <a:pt x="161" y="29"/>
                    </a:cubicBezTo>
                    <a:cubicBezTo>
                      <a:pt x="160" y="31"/>
                      <a:pt x="162" y="31"/>
                      <a:pt x="163" y="32"/>
                    </a:cubicBezTo>
                    <a:cubicBezTo>
                      <a:pt x="164" y="33"/>
                      <a:pt x="164" y="33"/>
                      <a:pt x="163" y="33"/>
                    </a:cubicBezTo>
                    <a:cubicBezTo>
                      <a:pt x="162" y="33"/>
                      <a:pt x="161" y="34"/>
                      <a:pt x="161" y="36"/>
                    </a:cubicBezTo>
                    <a:cubicBezTo>
                      <a:pt x="160" y="38"/>
                      <a:pt x="160" y="35"/>
                      <a:pt x="159" y="34"/>
                    </a:cubicBezTo>
                    <a:cubicBezTo>
                      <a:pt x="159" y="33"/>
                      <a:pt x="159" y="33"/>
                      <a:pt x="158" y="31"/>
                    </a:cubicBezTo>
                    <a:cubicBezTo>
                      <a:pt x="158" y="29"/>
                      <a:pt x="156" y="29"/>
                      <a:pt x="154" y="29"/>
                    </a:cubicBezTo>
                    <a:cubicBezTo>
                      <a:pt x="152" y="29"/>
                      <a:pt x="151" y="31"/>
                      <a:pt x="150" y="28"/>
                    </a:cubicBezTo>
                    <a:cubicBezTo>
                      <a:pt x="148" y="24"/>
                      <a:pt x="146" y="24"/>
                      <a:pt x="143" y="25"/>
                    </a:cubicBezTo>
                    <a:cubicBezTo>
                      <a:pt x="140" y="25"/>
                      <a:pt x="142" y="21"/>
                      <a:pt x="143" y="19"/>
                    </a:cubicBezTo>
                    <a:cubicBezTo>
                      <a:pt x="143" y="18"/>
                      <a:pt x="143" y="18"/>
                      <a:pt x="141" y="16"/>
                    </a:cubicBezTo>
                    <a:cubicBezTo>
                      <a:pt x="140" y="15"/>
                      <a:pt x="139" y="15"/>
                      <a:pt x="138" y="14"/>
                    </a:cubicBezTo>
                    <a:cubicBezTo>
                      <a:pt x="136" y="14"/>
                      <a:pt x="136" y="12"/>
                      <a:pt x="136" y="10"/>
                    </a:cubicBezTo>
                    <a:cubicBezTo>
                      <a:pt x="136" y="9"/>
                      <a:pt x="135" y="9"/>
                      <a:pt x="134" y="7"/>
                    </a:cubicBezTo>
                    <a:cubicBezTo>
                      <a:pt x="133" y="6"/>
                      <a:pt x="136" y="6"/>
                      <a:pt x="137" y="5"/>
                    </a:cubicBezTo>
                    <a:cubicBezTo>
                      <a:pt x="138" y="4"/>
                      <a:pt x="137" y="3"/>
                      <a:pt x="136" y="3"/>
                    </a:cubicBezTo>
                    <a:cubicBezTo>
                      <a:pt x="135" y="3"/>
                      <a:pt x="135" y="3"/>
                      <a:pt x="134" y="1"/>
                    </a:cubicBezTo>
                    <a:cubicBezTo>
                      <a:pt x="133" y="0"/>
                      <a:pt x="132" y="0"/>
                      <a:pt x="132" y="1"/>
                    </a:cubicBezTo>
                    <a:cubicBezTo>
                      <a:pt x="131" y="1"/>
                      <a:pt x="130" y="1"/>
                      <a:pt x="128" y="1"/>
                    </a:cubicBezTo>
                    <a:cubicBezTo>
                      <a:pt x="126" y="1"/>
                      <a:pt x="125" y="2"/>
                      <a:pt x="125" y="2"/>
                    </a:cubicBezTo>
                    <a:cubicBezTo>
                      <a:pt x="124" y="2"/>
                      <a:pt x="124" y="4"/>
                      <a:pt x="123" y="4"/>
                    </a:cubicBezTo>
                    <a:cubicBezTo>
                      <a:pt x="122" y="4"/>
                      <a:pt x="122" y="5"/>
                      <a:pt x="121" y="6"/>
                    </a:cubicBezTo>
                    <a:cubicBezTo>
                      <a:pt x="121" y="7"/>
                      <a:pt x="120" y="8"/>
                      <a:pt x="119" y="8"/>
                    </a:cubicBezTo>
                    <a:cubicBezTo>
                      <a:pt x="118" y="9"/>
                      <a:pt x="117" y="10"/>
                      <a:pt x="118" y="10"/>
                    </a:cubicBezTo>
                    <a:cubicBezTo>
                      <a:pt x="119" y="11"/>
                      <a:pt x="117" y="11"/>
                      <a:pt x="116" y="11"/>
                    </a:cubicBezTo>
                    <a:cubicBezTo>
                      <a:pt x="115" y="11"/>
                      <a:pt x="114" y="12"/>
                      <a:pt x="114" y="12"/>
                    </a:cubicBezTo>
                    <a:cubicBezTo>
                      <a:pt x="113" y="12"/>
                      <a:pt x="110" y="13"/>
                      <a:pt x="109" y="15"/>
                    </a:cubicBezTo>
                    <a:cubicBezTo>
                      <a:pt x="108" y="18"/>
                      <a:pt x="110" y="17"/>
                      <a:pt x="111" y="17"/>
                    </a:cubicBezTo>
                    <a:cubicBezTo>
                      <a:pt x="111" y="18"/>
                      <a:pt x="112" y="18"/>
                      <a:pt x="113" y="18"/>
                    </a:cubicBezTo>
                    <a:cubicBezTo>
                      <a:pt x="114" y="19"/>
                      <a:pt x="121" y="23"/>
                      <a:pt x="123" y="24"/>
                    </a:cubicBezTo>
                    <a:cubicBezTo>
                      <a:pt x="125" y="25"/>
                      <a:pt x="124" y="26"/>
                      <a:pt x="123" y="26"/>
                    </a:cubicBezTo>
                    <a:cubicBezTo>
                      <a:pt x="122" y="26"/>
                      <a:pt x="120" y="28"/>
                      <a:pt x="116" y="29"/>
                    </a:cubicBezTo>
                    <a:cubicBezTo>
                      <a:pt x="113" y="29"/>
                      <a:pt x="115" y="30"/>
                      <a:pt x="116" y="31"/>
                    </a:cubicBezTo>
                    <a:cubicBezTo>
                      <a:pt x="117" y="31"/>
                      <a:pt x="129" y="35"/>
                      <a:pt x="131" y="36"/>
                    </a:cubicBezTo>
                    <a:cubicBezTo>
                      <a:pt x="132" y="36"/>
                      <a:pt x="131" y="40"/>
                      <a:pt x="131" y="41"/>
                    </a:cubicBezTo>
                    <a:cubicBezTo>
                      <a:pt x="131" y="43"/>
                      <a:pt x="128" y="42"/>
                      <a:pt x="128" y="42"/>
                    </a:cubicBezTo>
                    <a:cubicBezTo>
                      <a:pt x="114" y="39"/>
                      <a:pt x="102" y="41"/>
                      <a:pt x="97" y="41"/>
                    </a:cubicBezTo>
                    <a:cubicBezTo>
                      <a:pt x="93" y="41"/>
                      <a:pt x="94" y="36"/>
                      <a:pt x="94" y="34"/>
                    </a:cubicBezTo>
                    <a:cubicBezTo>
                      <a:pt x="93" y="31"/>
                      <a:pt x="91" y="31"/>
                      <a:pt x="90" y="31"/>
                    </a:cubicBezTo>
                    <a:cubicBezTo>
                      <a:pt x="88" y="32"/>
                      <a:pt x="83" y="32"/>
                      <a:pt x="82" y="32"/>
                    </a:cubicBezTo>
                    <a:cubicBezTo>
                      <a:pt x="81" y="32"/>
                      <a:pt x="82" y="31"/>
                      <a:pt x="83" y="30"/>
                    </a:cubicBezTo>
                    <a:cubicBezTo>
                      <a:pt x="84" y="30"/>
                      <a:pt x="84" y="29"/>
                      <a:pt x="86" y="29"/>
                    </a:cubicBezTo>
                    <a:cubicBezTo>
                      <a:pt x="88" y="30"/>
                      <a:pt x="84" y="27"/>
                      <a:pt x="82" y="26"/>
                    </a:cubicBezTo>
                    <a:cubicBezTo>
                      <a:pt x="80" y="25"/>
                      <a:pt x="74" y="20"/>
                      <a:pt x="73" y="19"/>
                    </a:cubicBezTo>
                    <a:cubicBezTo>
                      <a:pt x="72" y="18"/>
                      <a:pt x="70" y="18"/>
                      <a:pt x="69" y="18"/>
                    </a:cubicBezTo>
                    <a:cubicBezTo>
                      <a:pt x="69" y="19"/>
                      <a:pt x="68" y="19"/>
                      <a:pt x="66" y="18"/>
                    </a:cubicBezTo>
                    <a:cubicBezTo>
                      <a:pt x="65" y="18"/>
                      <a:pt x="64" y="18"/>
                      <a:pt x="62" y="19"/>
                    </a:cubicBezTo>
                    <a:cubicBezTo>
                      <a:pt x="61" y="19"/>
                      <a:pt x="57" y="20"/>
                      <a:pt x="56" y="20"/>
                    </a:cubicBezTo>
                    <a:cubicBezTo>
                      <a:pt x="55" y="19"/>
                      <a:pt x="54" y="19"/>
                      <a:pt x="55" y="19"/>
                    </a:cubicBezTo>
                    <a:cubicBezTo>
                      <a:pt x="56" y="18"/>
                      <a:pt x="55" y="18"/>
                      <a:pt x="54" y="17"/>
                    </a:cubicBezTo>
                    <a:cubicBezTo>
                      <a:pt x="53" y="17"/>
                      <a:pt x="48" y="12"/>
                      <a:pt x="47" y="11"/>
                    </a:cubicBezTo>
                    <a:cubicBezTo>
                      <a:pt x="46" y="11"/>
                      <a:pt x="44" y="10"/>
                      <a:pt x="43" y="10"/>
                    </a:cubicBezTo>
                    <a:cubicBezTo>
                      <a:pt x="41" y="10"/>
                      <a:pt x="40" y="11"/>
                      <a:pt x="40" y="12"/>
                    </a:cubicBezTo>
                    <a:cubicBezTo>
                      <a:pt x="39" y="12"/>
                      <a:pt x="36" y="12"/>
                      <a:pt x="34" y="12"/>
                    </a:cubicBezTo>
                    <a:cubicBezTo>
                      <a:pt x="33" y="12"/>
                      <a:pt x="31" y="13"/>
                      <a:pt x="31" y="14"/>
                    </a:cubicBezTo>
                    <a:cubicBezTo>
                      <a:pt x="30" y="14"/>
                      <a:pt x="29" y="15"/>
                      <a:pt x="27" y="1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01" name="Freeform 198">
                <a:extLst>
                  <a:ext uri="{FF2B5EF4-FFF2-40B4-BE49-F238E27FC236}">
                    <a16:creationId xmlns:a16="http://schemas.microsoft.com/office/drawing/2014/main" id="{ADF66BF3-F65B-453D-ACF3-56A848C2F594}"/>
                  </a:ext>
                </a:extLst>
              </p:cNvPr>
              <p:cNvSpPr>
                <a:spLocks/>
              </p:cNvSpPr>
              <p:nvPr/>
            </p:nvSpPr>
            <p:spPr bwMode="auto">
              <a:xfrm>
                <a:off x="1049" y="713"/>
                <a:ext cx="40" cy="27"/>
              </a:xfrm>
              <a:custGeom>
                <a:avLst/>
                <a:gdLst>
                  <a:gd name="T0" fmla="*/ 27 w 29"/>
                  <a:gd name="T1" fmla="*/ 1 h 20"/>
                  <a:gd name="T2" fmla="*/ 23 w 29"/>
                  <a:gd name="T3" fmla="*/ 3 h 20"/>
                  <a:gd name="T4" fmla="*/ 20 w 29"/>
                  <a:gd name="T5" fmla="*/ 4 h 20"/>
                  <a:gd name="T6" fmla="*/ 16 w 29"/>
                  <a:gd name="T7" fmla="*/ 5 h 20"/>
                  <a:gd name="T8" fmla="*/ 11 w 29"/>
                  <a:gd name="T9" fmla="*/ 8 h 20"/>
                  <a:gd name="T10" fmla="*/ 4 w 29"/>
                  <a:gd name="T11" fmla="*/ 13 h 20"/>
                  <a:gd name="T12" fmla="*/ 4 w 29"/>
                  <a:gd name="T13" fmla="*/ 17 h 20"/>
                  <a:gd name="T14" fmla="*/ 10 w 29"/>
                  <a:gd name="T15" fmla="*/ 19 h 20"/>
                  <a:gd name="T16" fmla="*/ 16 w 29"/>
                  <a:gd name="T17" fmla="*/ 18 h 20"/>
                  <a:gd name="T18" fmla="*/ 26 w 29"/>
                  <a:gd name="T19" fmla="*/ 7 h 20"/>
                  <a:gd name="T20" fmla="*/ 27 w 29"/>
                  <a:gd name="T21"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20">
                    <a:moveTo>
                      <a:pt x="27" y="1"/>
                    </a:moveTo>
                    <a:cubicBezTo>
                      <a:pt x="25" y="0"/>
                      <a:pt x="23" y="3"/>
                      <a:pt x="23" y="3"/>
                    </a:cubicBezTo>
                    <a:cubicBezTo>
                      <a:pt x="23" y="3"/>
                      <a:pt x="21" y="3"/>
                      <a:pt x="20" y="4"/>
                    </a:cubicBezTo>
                    <a:cubicBezTo>
                      <a:pt x="20" y="5"/>
                      <a:pt x="17" y="5"/>
                      <a:pt x="16" y="5"/>
                    </a:cubicBezTo>
                    <a:cubicBezTo>
                      <a:pt x="14" y="5"/>
                      <a:pt x="12" y="7"/>
                      <a:pt x="11" y="8"/>
                    </a:cubicBezTo>
                    <a:cubicBezTo>
                      <a:pt x="9" y="10"/>
                      <a:pt x="6" y="12"/>
                      <a:pt x="4" y="13"/>
                    </a:cubicBezTo>
                    <a:cubicBezTo>
                      <a:pt x="3" y="14"/>
                      <a:pt x="0" y="16"/>
                      <a:pt x="4" y="17"/>
                    </a:cubicBezTo>
                    <a:cubicBezTo>
                      <a:pt x="7" y="17"/>
                      <a:pt x="9" y="18"/>
                      <a:pt x="10" y="19"/>
                    </a:cubicBezTo>
                    <a:cubicBezTo>
                      <a:pt x="10" y="19"/>
                      <a:pt x="13" y="20"/>
                      <a:pt x="16" y="18"/>
                    </a:cubicBezTo>
                    <a:cubicBezTo>
                      <a:pt x="19" y="15"/>
                      <a:pt x="25" y="9"/>
                      <a:pt x="26" y="7"/>
                    </a:cubicBezTo>
                    <a:cubicBezTo>
                      <a:pt x="28" y="4"/>
                      <a:pt x="29" y="3"/>
                      <a:pt x="27"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02" name="Freeform 199">
                <a:extLst>
                  <a:ext uri="{FF2B5EF4-FFF2-40B4-BE49-F238E27FC236}">
                    <a16:creationId xmlns:a16="http://schemas.microsoft.com/office/drawing/2014/main" id="{DFAA69F1-D35A-4BD0-9C21-F49C31F2F816}"/>
                  </a:ext>
                </a:extLst>
              </p:cNvPr>
              <p:cNvSpPr>
                <a:spLocks/>
              </p:cNvSpPr>
              <p:nvPr/>
            </p:nvSpPr>
            <p:spPr bwMode="auto">
              <a:xfrm>
                <a:off x="974" y="652"/>
                <a:ext cx="159" cy="74"/>
              </a:xfrm>
              <a:custGeom>
                <a:avLst/>
                <a:gdLst>
                  <a:gd name="T0" fmla="*/ 6 w 115"/>
                  <a:gd name="T1" fmla="*/ 44 h 54"/>
                  <a:gd name="T2" fmla="*/ 18 w 115"/>
                  <a:gd name="T3" fmla="*/ 51 h 54"/>
                  <a:gd name="T4" fmla="*/ 31 w 115"/>
                  <a:gd name="T5" fmla="*/ 48 h 54"/>
                  <a:gd name="T6" fmla="*/ 35 w 115"/>
                  <a:gd name="T7" fmla="*/ 44 h 54"/>
                  <a:gd name="T8" fmla="*/ 36 w 115"/>
                  <a:gd name="T9" fmla="*/ 46 h 54"/>
                  <a:gd name="T10" fmla="*/ 40 w 115"/>
                  <a:gd name="T11" fmla="*/ 50 h 54"/>
                  <a:gd name="T12" fmla="*/ 42 w 115"/>
                  <a:gd name="T13" fmla="*/ 53 h 54"/>
                  <a:gd name="T14" fmla="*/ 53 w 115"/>
                  <a:gd name="T15" fmla="*/ 47 h 54"/>
                  <a:gd name="T16" fmla="*/ 51 w 115"/>
                  <a:gd name="T17" fmla="*/ 40 h 54"/>
                  <a:gd name="T18" fmla="*/ 54 w 115"/>
                  <a:gd name="T19" fmla="*/ 38 h 54"/>
                  <a:gd name="T20" fmla="*/ 65 w 115"/>
                  <a:gd name="T21" fmla="*/ 41 h 54"/>
                  <a:gd name="T22" fmla="*/ 63 w 115"/>
                  <a:gd name="T23" fmla="*/ 33 h 54"/>
                  <a:gd name="T24" fmla="*/ 70 w 115"/>
                  <a:gd name="T25" fmla="*/ 31 h 54"/>
                  <a:gd name="T26" fmla="*/ 71 w 115"/>
                  <a:gd name="T27" fmla="*/ 26 h 54"/>
                  <a:gd name="T28" fmla="*/ 79 w 115"/>
                  <a:gd name="T29" fmla="*/ 24 h 54"/>
                  <a:gd name="T30" fmla="*/ 76 w 115"/>
                  <a:gd name="T31" fmla="*/ 30 h 54"/>
                  <a:gd name="T32" fmla="*/ 77 w 115"/>
                  <a:gd name="T33" fmla="*/ 32 h 54"/>
                  <a:gd name="T34" fmla="*/ 76 w 115"/>
                  <a:gd name="T35" fmla="*/ 37 h 54"/>
                  <a:gd name="T36" fmla="*/ 84 w 115"/>
                  <a:gd name="T37" fmla="*/ 39 h 54"/>
                  <a:gd name="T38" fmla="*/ 91 w 115"/>
                  <a:gd name="T39" fmla="*/ 38 h 54"/>
                  <a:gd name="T40" fmla="*/ 106 w 115"/>
                  <a:gd name="T41" fmla="*/ 28 h 54"/>
                  <a:gd name="T42" fmla="*/ 105 w 115"/>
                  <a:gd name="T43" fmla="*/ 24 h 54"/>
                  <a:gd name="T44" fmla="*/ 105 w 115"/>
                  <a:gd name="T45" fmla="*/ 20 h 54"/>
                  <a:gd name="T46" fmla="*/ 101 w 115"/>
                  <a:gd name="T47" fmla="*/ 14 h 54"/>
                  <a:gd name="T48" fmla="*/ 112 w 115"/>
                  <a:gd name="T49" fmla="*/ 6 h 54"/>
                  <a:gd name="T50" fmla="*/ 101 w 115"/>
                  <a:gd name="T51" fmla="*/ 1 h 54"/>
                  <a:gd name="T52" fmla="*/ 94 w 115"/>
                  <a:gd name="T53" fmla="*/ 2 h 54"/>
                  <a:gd name="T54" fmla="*/ 90 w 115"/>
                  <a:gd name="T55" fmla="*/ 5 h 54"/>
                  <a:gd name="T56" fmla="*/ 95 w 115"/>
                  <a:gd name="T57" fmla="*/ 6 h 54"/>
                  <a:gd name="T58" fmla="*/ 90 w 115"/>
                  <a:gd name="T59" fmla="*/ 7 h 54"/>
                  <a:gd name="T60" fmla="*/ 87 w 115"/>
                  <a:gd name="T61" fmla="*/ 8 h 54"/>
                  <a:gd name="T62" fmla="*/ 79 w 115"/>
                  <a:gd name="T63" fmla="*/ 6 h 54"/>
                  <a:gd name="T64" fmla="*/ 68 w 115"/>
                  <a:gd name="T65" fmla="*/ 6 h 54"/>
                  <a:gd name="T66" fmla="*/ 60 w 115"/>
                  <a:gd name="T67" fmla="*/ 7 h 54"/>
                  <a:gd name="T68" fmla="*/ 52 w 115"/>
                  <a:gd name="T69" fmla="*/ 13 h 54"/>
                  <a:gd name="T70" fmla="*/ 46 w 115"/>
                  <a:gd name="T71" fmla="*/ 17 h 54"/>
                  <a:gd name="T72" fmla="*/ 41 w 115"/>
                  <a:gd name="T73" fmla="*/ 21 h 54"/>
                  <a:gd name="T74" fmla="*/ 36 w 115"/>
                  <a:gd name="T75" fmla="*/ 25 h 54"/>
                  <a:gd name="T76" fmla="*/ 30 w 115"/>
                  <a:gd name="T77" fmla="*/ 27 h 54"/>
                  <a:gd name="T78" fmla="*/ 26 w 115"/>
                  <a:gd name="T79" fmla="*/ 31 h 54"/>
                  <a:gd name="T80" fmla="*/ 19 w 115"/>
                  <a:gd name="T81" fmla="*/ 35 h 54"/>
                  <a:gd name="T82" fmla="*/ 7 w 115"/>
                  <a:gd name="T83" fmla="*/ 40 h 54"/>
                  <a:gd name="T84" fmla="*/ 1 w 115"/>
                  <a:gd name="T85" fmla="*/ 4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5" h="54">
                    <a:moveTo>
                      <a:pt x="2" y="45"/>
                    </a:moveTo>
                    <a:cubicBezTo>
                      <a:pt x="3" y="45"/>
                      <a:pt x="2" y="44"/>
                      <a:pt x="6" y="44"/>
                    </a:cubicBezTo>
                    <a:cubicBezTo>
                      <a:pt x="10" y="43"/>
                      <a:pt x="9" y="47"/>
                      <a:pt x="9" y="47"/>
                    </a:cubicBezTo>
                    <a:cubicBezTo>
                      <a:pt x="7" y="52"/>
                      <a:pt x="15" y="50"/>
                      <a:pt x="18" y="51"/>
                    </a:cubicBezTo>
                    <a:cubicBezTo>
                      <a:pt x="20" y="51"/>
                      <a:pt x="30" y="51"/>
                      <a:pt x="31" y="50"/>
                    </a:cubicBezTo>
                    <a:cubicBezTo>
                      <a:pt x="32" y="49"/>
                      <a:pt x="32" y="49"/>
                      <a:pt x="31" y="48"/>
                    </a:cubicBezTo>
                    <a:cubicBezTo>
                      <a:pt x="30" y="46"/>
                      <a:pt x="32" y="45"/>
                      <a:pt x="32" y="44"/>
                    </a:cubicBezTo>
                    <a:cubicBezTo>
                      <a:pt x="33" y="42"/>
                      <a:pt x="34" y="43"/>
                      <a:pt x="35" y="44"/>
                    </a:cubicBezTo>
                    <a:cubicBezTo>
                      <a:pt x="36" y="44"/>
                      <a:pt x="35" y="44"/>
                      <a:pt x="36" y="45"/>
                    </a:cubicBezTo>
                    <a:cubicBezTo>
                      <a:pt x="36" y="45"/>
                      <a:pt x="36" y="45"/>
                      <a:pt x="36" y="46"/>
                    </a:cubicBezTo>
                    <a:cubicBezTo>
                      <a:pt x="35" y="46"/>
                      <a:pt x="37" y="47"/>
                      <a:pt x="38" y="48"/>
                    </a:cubicBezTo>
                    <a:cubicBezTo>
                      <a:pt x="40" y="49"/>
                      <a:pt x="40" y="49"/>
                      <a:pt x="40" y="50"/>
                    </a:cubicBezTo>
                    <a:cubicBezTo>
                      <a:pt x="39" y="51"/>
                      <a:pt x="40" y="51"/>
                      <a:pt x="40" y="53"/>
                    </a:cubicBezTo>
                    <a:cubicBezTo>
                      <a:pt x="41" y="54"/>
                      <a:pt x="42" y="54"/>
                      <a:pt x="42" y="53"/>
                    </a:cubicBezTo>
                    <a:cubicBezTo>
                      <a:pt x="43" y="53"/>
                      <a:pt x="49" y="51"/>
                      <a:pt x="52" y="50"/>
                    </a:cubicBezTo>
                    <a:cubicBezTo>
                      <a:pt x="54" y="49"/>
                      <a:pt x="54" y="48"/>
                      <a:pt x="53" y="47"/>
                    </a:cubicBezTo>
                    <a:cubicBezTo>
                      <a:pt x="52" y="46"/>
                      <a:pt x="52" y="45"/>
                      <a:pt x="52" y="44"/>
                    </a:cubicBezTo>
                    <a:cubicBezTo>
                      <a:pt x="52" y="43"/>
                      <a:pt x="52" y="42"/>
                      <a:pt x="51" y="40"/>
                    </a:cubicBezTo>
                    <a:cubicBezTo>
                      <a:pt x="50" y="39"/>
                      <a:pt x="50" y="39"/>
                      <a:pt x="52" y="38"/>
                    </a:cubicBezTo>
                    <a:cubicBezTo>
                      <a:pt x="54" y="37"/>
                      <a:pt x="54" y="38"/>
                      <a:pt x="54" y="38"/>
                    </a:cubicBezTo>
                    <a:cubicBezTo>
                      <a:pt x="54" y="38"/>
                      <a:pt x="53" y="40"/>
                      <a:pt x="55" y="42"/>
                    </a:cubicBezTo>
                    <a:cubicBezTo>
                      <a:pt x="58" y="45"/>
                      <a:pt x="61" y="44"/>
                      <a:pt x="65" y="41"/>
                    </a:cubicBezTo>
                    <a:cubicBezTo>
                      <a:pt x="69" y="38"/>
                      <a:pt x="66" y="35"/>
                      <a:pt x="65" y="35"/>
                    </a:cubicBezTo>
                    <a:cubicBezTo>
                      <a:pt x="65" y="34"/>
                      <a:pt x="64" y="34"/>
                      <a:pt x="63" y="33"/>
                    </a:cubicBezTo>
                    <a:cubicBezTo>
                      <a:pt x="62" y="32"/>
                      <a:pt x="65" y="31"/>
                      <a:pt x="65" y="32"/>
                    </a:cubicBezTo>
                    <a:cubicBezTo>
                      <a:pt x="66" y="33"/>
                      <a:pt x="69" y="32"/>
                      <a:pt x="70" y="31"/>
                    </a:cubicBezTo>
                    <a:cubicBezTo>
                      <a:pt x="71" y="31"/>
                      <a:pt x="71" y="31"/>
                      <a:pt x="71" y="30"/>
                    </a:cubicBezTo>
                    <a:cubicBezTo>
                      <a:pt x="70" y="29"/>
                      <a:pt x="71" y="28"/>
                      <a:pt x="71" y="26"/>
                    </a:cubicBezTo>
                    <a:cubicBezTo>
                      <a:pt x="71" y="24"/>
                      <a:pt x="76" y="24"/>
                      <a:pt x="76" y="23"/>
                    </a:cubicBezTo>
                    <a:cubicBezTo>
                      <a:pt x="77" y="23"/>
                      <a:pt x="78" y="23"/>
                      <a:pt x="79" y="24"/>
                    </a:cubicBezTo>
                    <a:cubicBezTo>
                      <a:pt x="80" y="25"/>
                      <a:pt x="79" y="26"/>
                      <a:pt x="77" y="26"/>
                    </a:cubicBezTo>
                    <a:cubicBezTo>
                      <a:pt x="76" y="27"/>
                      <a:pt x="76" y="29"/>
                      <a:pt x="76" y="30"/>
                    </a:cubicBezTo>
                    <a:cubicBezTo>
                      <a:pt x="76" y="30"/>
                      <a:pt x="76" y="31"/>
                      <a:pt x="77" y="31"/>
                    </a:cubicBezTo>
                    <a:cubicBezTo>
                      <a:pt x="77" y="32"/>
                      <a:pt x="77" y="32"/>
                      <a:pt x="77" y="32"/>
                    </a:cubicBezTo>
                    <a:cubicBezTo>
                      <a:pt x="77" y="32"/>
                      <a:pt x="76" y="33"/>
                      <a:pt x="75" y="34"/>
                    </a:cubicBezTo>
                    <a:cubicBezTo>
                      <a:pt x="75" y="35"/>
                      <a:pt x="75" y="36"/>
                      <a:pt x="76" y="37"/>
                    </a:cubicBezTo>
                    <a:cubicBezTo>
                      <a:pt x="78" y="38"/>
                      <a:pt x="79" y="39"/>
                      <a:pt x="80" y="38"/>
                    </a:cubicBezTo>
                    <a:cubicBezTo>
                      <a:pt x="81" y="38"/>
                      <a:pt x="83" y="39"/>
                      <a:pt x="84" y="39"/>
                    </a:cubicBezTo>
                    <a:cubicBezTo>
                      <a:pt x="85" y="39"/>
                      <a:pt x="88" y="39"/>
                      <a:pt x="89" y="39"/>
                    </a:cubicBezTo>
                    <a:cubicBezTo>
                      <a:pt x="89" y="39"/>
                      <a:pt x="90" y="38"/>
                      <a:pt x="91" y="38"/>
                    </a:cubicBezTo>
                    <a:cubicBezTo>
                      <a:pt x="91" y="37"/>
                      <a:pt x="93" y="35"/>
                      <a:pt x="94" y="35"/>
                    </a:cubicBezTo>
                    <a:cubicBezTo>
                      <a:pt x="94" y="35"/>
                      <a:pt x="104" y="28"/>
                      <a:pt x="106" y="28"/>
                    </a:cubicBezTo>
                    <a:cubicBezTo>
                      <a:pt x="107" y="27"/>
                      <a:pt x="107" y="26"/>
                      <a:pt x="106" y="26"/>
                    </a:cubicBezTo>
                    <a:cubicBezTo>
                      <a:pt x="106" y="26"/>
                      <a:pt x="106" y="25"/>
                      <a:pt x="105" y="24"/>
                    </a:cubicBezTo>
                    <a:cubicBezTo>
                      <a:pt x="105" y="23"/>
                      <a:pt x="103" y="22"/>
                      <a:pt x="103" y="22"/>
                    </a:cubicBezTo>
                    <a:cubicBezTo>
                      <a:pt x="98" y="20"/>
                      <a:pt x="102" y="19"/>
                      <a:pt x="105" y="20"/>
                    </a:cubicBezTo>
                    <a:cubicBezTo>
                      <a:pt x="108" y="20"/>
                      <a:pt x="111" y="19"/>
                      <a:pt x="106" y="18"/>
                    </a:cubicBezTo>
                    <a:cubicBezTo>
                      <a:pt x="102" y="16"/>
                      <a:pt x="101" y="16"/>
                      <a:pt x="101" y="14"/>
                    </a:cubicBezTo>
                    <a:cubicBezTo>
                      <a:pt x="101" y="12"/>
                      <a:pt x="111" y="8"/>
                      <a:pt x="113" y="8"/>
                    </a:cubicBezTo>
                    <a:cubicBezTo>
                      <a:pt x="115" y="7"/>
                      <a:pt x="113" y="7"/>
                      <a:pt x="112" y="6"/>
                    </a:cubicBezTo>
                    <a:cubicBezTo>
                      <a:pt x="111" y="5"/>
                      <a:pt x="108" y="4"/>
                      <a:pt x="107" y="3"/>
                    </a:cubicBezTo>
                    <a:cubicBezTo>
                      <a:pt x="105" y="3"/>
                      <a:pt x="104" y="2"/>
                      <a:pt x="101" y="1"/>
                    </a:cubicBezTo>
                    <a:cubicBezTo>
                      <a:pt x="99" y="0"/>
                      <a:pt x="96" y="0"/>
                      <a:pt x="94" y="0"/>
                    </a:cubicBezTo>
                    <a:cubicBezTo>
                      <a:pt x="93" y="0"/>
                      <a:pt x="93" y="1"/>
                      <a:pt x="94" y="2"/>
                    </a:cubicBezTo>
                    <a:cubicBezTo>
                      <a:pt x="94" y="2"/>
                      <a:pt x="92" y="3"/>
                      <a:pt x="90" y="3"/>
                    </a:cubicBezTo>
                    <a:cubicBezTo>
                      <a:pt x="88" y="3"/>
                      <a:pt x="89" y="4"/>
                      <a:pt x="90" y="5"/>
                    </a:cubicBezTo>
                    <a:cubicBezTo>
                      <a:pt x="91" y="5"/>
                      <a:pt x="93" y="5"/>
                      <a:pt x="94" y="5"/>
                    </a:cubicBezTo>
                    <a:cubicBezTo>
                      <a:pt x="96" y="5"/>
                      <a:pt x="96" y="6"/>
                      <a:pt x="95" y="6"/>
                    </a:cubicBezTo>
                    <a:cubicBezTo>
                      <a:pt x="94" y="6"/>
                      <a:pt x="94" y="7"/>
                      <a:pt x="94" y="7"/>
                    </a:cubicBezTo>
                    <a:cubicBezTo>
                      <a:pt x="93" y="8"/>
                      <a:pt x="92" y="8"/>
                      <a:pt x="90" y="7"/>
                    </a:cubicBezTo>
                    <a:cubicBezTo>
                      <a:pt x="89" y="6"/>
                      <a:pt x="88" y="6"/>
                      <a:pt x="89" y="7"/>
                    </a:cubicBezTo>
                    <a:cubicBezTo>
                      <a:pt x="91" y="9"/>
                      <a:pt x="88" y="9"/>
                      <a:pt x="87" y="8"/>
                    </a:cubicBezTo>
                    <a:cubicBezTo>
                      <a:pt x="86" y="8"/>
                      <a:pt x="84" y="7"/>
                      <a:pt x="83" y="7"/>
                    </a:cubicBezTo>
                    <a:cubicBezTo>
                      <a:pt x="83" y="7"/>
                      <a:pt x="81" y="8"/>
                      <a:pt x="79" y="6"/>
                    </a:cubicBezTo>
                    <a:cubicBezTo>
                      <a:pt x="77" y="5"/>
                      <a:pt x="76" y="6"/>
                      <a:pt x="74" y="6"/>
                    </a:cubicBezTo>
                    <a:cubicBezTo>
                      <a:pt x="73" y="6"/>
                      <a:pt x="69" y="6"/>
                      <a:pt x="68" y="6"/>
                    </a:cubicBezTo>
                    <a:cubicBezTo>
                      <a:pt x="67" y="6"/>
                      <a:pt x="65" y="6"/>
                      <a:pt x="64" y="7"/>
                    </a:cubicBezTo>
                    <a:cubicBezTo>
                      <a:pt x="63" y="7"/>
                      <a:pt x="62" y="7"/>
                      <a:pt x="60" y="7"/>
                    </a:cubicBezTo>
                    <a:cubicBezTo>
                      <a:pt x="58" y="7"/>
                      <a:pt x="57" y="9"/>
                      <a:pt x="56" y="10"/>
                    </a:cubicBezTo>
                    <a:cubicBezTo>
                      <a:pt x="56" y="11"/>
                      <a:pt x="55" y="12"/>
                      <a:pt x="52" y="13"/>
                    </a:cubicBezTo>
                    <a:cubicBezTo>
                      <a:pt x="50" y="13"/>
                      <a:pt x="49" y="15"/>
                      <a:pt x="48" y="15"/>
                    </a:cubicBezTo>
                    <a:cubicBezTo>
                      <a:pt x="48" y="16"/>
                      <a:pt x="47" y="16"/>
                      <a:pt x="46" y="17"/>
                    </a:cubicBezTo>
                    <a:cubicBezTo>
                      <a:pt x="46" y="17"/>
                      <a:pt x="44" y="18"/>
                      <a:pt x="44" y="19"/>
                    </a:cubicBezTo>
                    <a:cubicBezTo>
                      <a:pt x="43" y="20"/>
                      <a:pt x="43" y="21"/>
                      <a:pt x="41" y="21"/>
                    </a:cubicBezTo>
                    <a:cubicBezTo>
                      <a:pt x="39" y="21"/>
                      <a:pt x="40" y="23"/>
                      <a:pt x="40" y="24"/>
                    </a:cubicBezTo>
                    <a:cubicBezTo>
                      <a:pt x="40" y="25"/>
                      <a:pt x="37" y="25"/>
                      <a:pt x="36" y="25"/>
                    </a:cubicBezTo>
                    <a:cubicBezTo>
                      <a:pt x="35" y="25"/>
                      <a:pt x="34" y="26"/>
                      <a:pt x="33" y="26"/>
                    </a:cubicBezTo>
                    <a:cubicBezTo>
                      <a:pt x="32" y="27"/>
                      <a:pt x="32" y="27"/>
                      <a:pt x="30" y="27"/>
                    </a:cubicBezTo>
                    <a:cubicBezTo>
                      <a:pt x="28" y="27"/>
                      <a:pt x="28" y="28"/>
                      <a:pt x="28" y="29"/>
                    </a:cubicBezTo>
                    <a:cubicBezTo>
                      <a:pt x="27" y="30"/>
                      <a:pt x="27" y="31"/>
                      <a:pt x="26" y="31"/>
                    </a:cubicBezTo>
                    <a:cubicBezTo>
                      <a:pt x="25" y="32"/>
                      <a:pt x="25" y="32"/>
                      <a:pt x="24" y="33"/>
                    </a:cubicBezTo>
                    <a:cubicBezTo>
                      <a:pt x="24" y="34"/>
                      <a:pt x="23" y="35"/>
                      <a:pt x="19" y="35"/>
                    </a:cubicBezTo>
                    <a:cubicBezTo>
                      <a:pt x="16" y="35"/>
                      <a:pt x="18" y="35"/>
                      <a:pt x="12" y="36"/>
                    </a:cubicBezTo>
                    <a:cubicBezTo>
                      <a:pt x="7" y="37"/>
                      <a:pt x="7" y="39"/>
                      <a:pt x="7" y="40"/>
                    </a:cubicBezTo>
                    <a:cubicBezTo>
                      <a:pt x="7" y="40"/>
                      <a:pt x="6" y="41"/>
                      <a:pt x="5" y="41"/>
                    </a:cubicBezTo>
                    <a:cubicBezTo>
                      <a:pt x="4" y="41"/>
                      <a:pt x="3" y="42"/>
                      <a:pt x="1" y="44"/>
                    </a:cubicBezTo>
                    <a:cubicBezTo>
                      <a:pt x="0" y="45"/>
                      <a:pt x="1" y="46"/>
                      <a:pt x="2" y="4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03" name="Freeform 200">
                <a:extLst>
                  <a:ext uri="{FF2B5EF4-FFF2-40B4-BE49-F238E27FC236}">
                    <a16:creationId xmlns:a16="http://schemas.microsoft.com/office/drawing/2014/main" id="{B0F4891F-B759-4ACE-B992-D265B44BB1E2}"/>
                  </a:ext>
                </a:extLst>
              </p:cNvPr>
              <p:cNvSpPr>
                <a:spLocks/>
              </p:cNvSpPr>
              <p:nvPr/>
            </p:nvSpPr>
            <p:spPr bwMode="auto">
              <a:xfrm>
                <a:off x="1141" y="681"/>
                <a:ext cx="32" cy="10"/>
              </a:xfrm>
              <a:custGeom>
                <a:avLst/>
                <a:gdLst>
                  <a:gd name="T0" fmla="*/ 2 w 23"/>
                  <a:gd name="T1" fmla="*/ 2 h 7"/>
                  <a:gd name="T2" fmla="*/ 3 w 23"/>
                  <a:gd name="T3" fmla="*/ 4 h 7"/>
                  <a:gd name="T4" fmla="*/ 20 w 23"/>
                  <a:gd name="T5" fmla="*/ 5 h 7"/>
                  <a:gd name="T6" fmla="*/ 18 w 23"/>
                  <a:gd name="T7" fmla="*/ 0 h 7"/>
                  <a:gd name="T8" fmla="*/ 2 w 23"/>
                  <a:gd name="T9" fmla="*/ 2 h 7"/>
                </a:gdLst>
                <a:ahLst/>
                <a:cxnLst>
                  <a:cxn ang="0">
                    <a:pos x="T0" y="T1"/>
                  </a:cxn>
                  <a:cxn ang="0">
                    <a:pos x="T2" y="T3"/>
                  </a:cxn>
                  <a:cxn ang="0">
                    <a:pos x="T4" y="T5"/>
                  </a:cxn>
                  <a:cxn ang="0">
                    <a:pos x="T6" y="T7"/>
                  </a:cxn>
                  <a:cxn ang="0">
                    <a:pos x="T8" y="T9"/>
                  </a:cxn>
                </a:cxnLst>
                <a:rect l="0" t="0" r="r" b="b"/>
                <a:pathLst>
                  <a:path w="23" h="7">
                    <a:moveTo>
                      <a:pt x="2" y="2"/>
                    </a:moveTo>
                    <a:cubicBezTo>
                      <a:pt x="2" y="2"/>
                      <a:pt x="0" y="3"/>
                      <a:pt x="3" y="4"/>
                    </a:cubicBezTo>
                    <a:cubicBezTo>
                      <a:pt x="5" y="4"/>
                      <a:pt x="17" y="7"/>
                      <a:pt x="20" y="5"/>
                    </a:cubicBezTo>
                    <a:cubicBezTo>
                      <a:pt x="23" y="4"/>
                      <a:pt x="21" y="1"/>
                      <a:pt x="18" y="0"/>
                    </a:cubicBezTo>
                    <a:cubicBezTo>
                      <a:pt x="15" y="0"/>
                      <a:pt x="6" y="0"/>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04" name="Freeform 201">
                <a:extLst>
                  <a:ext uri="{FF2B5EF4-FFF2-40B4-BE49-F238E27FC236}">
                    <a16:creationId xmlns:a16="http://schemas.microsoft.com/office/drawing/2014/main" id="{D8BBE149-8A68-4CF2-817D-763CF2D9FC7B}"/>
                  </a:ext>
                </a:extLst>
              </p:cNvPr>
              <p:cNvSpPr>
                <a:spLocks/>
              </p:cNvSpPr>
              <p:nvPr/>
            </p:nvSpPr>
            <p:spPr bwMode="auto">
              <a:xfrm>
                <a:off x="1137" y="629"/>
                <a:ext cx="33" cy="19"/>
              </a:xfrm>
              <a:custGeom>
                <a:avLst/>
                <a:gdLst>
                  <a:gd name="T0" fmla="*/ 4 w 24"/>
                  <a:gd name="T1" fmla="*/ 7 h 14"/>
                  <a:gd name="T2" fmla="*/ 11 w 24"/>
                  <a:gd name="T3" fmla="*/ 11 h 14"/>
                  <a:gd name="T4" fmla="*/ 22 w 24"/>
                  <a:gd name="T5" fmla="*/ 10 h 14"/>
                  <a:gd name="T6" fmla="*/ 23 w 24"/>
                  <a:gd name="T7" fmla="*/ 8 h 14"/>
                  <a:gd name="T8" fmla="*/ 13 w 24"/>
                  <a:gd name="T9" fmla="*/ 1 h 14"/>
                  <a:gd name="T10" fmla="*/ 10 w 24"/>
                  <a:gd name="T11" fmla="*/ 1 h 14"/>
                  <a:gd name="T12" fmla="*/ 5 w 24"/>
                  <a:gd name="T13" fmla="*/ 3 h 14"/>
                  <a:gd name="T14" fmla="*/ 2 w 24"/>
                  <a:gd name="T15" fmla="*/ 4 h 14"/>
                  <a:gd name="T16" fmla="*/ 4 w 24"/>
                  <a:gd name="T17"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4">
                    <a:moveTo>
                      <a:pt x="4" y="7"/>
                    </a:moveTo>
                    <a:cubicBezTo>
                      <a:pt x="6" y="8"/>
                      <a:pt x="7" y="9"/>
                      <a:pt x="11" y="11"/>
                    </a:cubicBezTo>
                    <a:cubicBezTo>
                      <a:pt x="15" y="14"/>
                      <a:pt x="21" y="10"/>
                      <a:pt x="22" y="10"/>
                    </a:cubicBezTo>
                    <a:cubicBezTo>
                      <a:pt x="24" y="9"/>
                      <a:pt x="23" y="8"/>
                      <a:pt x="23" y="8"/>
                    </a:cubicBezTo>
                    <a:cubicBezTo>
                      <a:pt x="22" y="8"/>
                      <a:pt x="14" y="2"/>
                      <a:pt x="13" y="1"/>
                    </a:cubicBezTo>
                    <a:cubicBezTo>
                      <a:pt x="12" y="0"/>
                      <a:pt x="12" y="0"/>
                      <a:pt x="10" y="1"/>
                    </a:cubicBezTo>
                    <a:cubicBezTo>
                      <a:pt x="9" y="1"/>
                      <a:pt x="5" y="3"/>
                      <a:pt x="5" y="3"/>
                    </a:cubicBezTo>
                    <a:cubicBezTo>
                      <a:pt x="4" y="4"/>
                      <a:pt x="4" y="4"/>
                      <a:pt x="2" y="4"/>
                    </a:cubicBezTo>
                    <a:cubicBezTo>
                      <a:pt x="0" y="4"/>
                      <a:pt x="3" y="7"/>
                      <a:pt x="4"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05" name="Freeform 202">
                <a:extLst>
                  <a:ext uri="{FF2B5EF4-FFF2-40B4-BE49-F238E27FC236}">
                    <a16:creationId xmlns:a16="http://schemas.microsoft.com/office/drawing/2014/main" id="{0D284052-44B0-4681-B3EC-303B13B534C9}"/>
                  </a:ext>
                </a:extLst>
              </p:cNvPr>
              <p:cNvSpPr>
                <a:spLocks/>
              </p:cNvSpPr>
              <p:nvPr/>
            </p:nvSpPr>
            <p:spPr bwMode="auto">
              <a:xfrm>
                <a:off x="1173" y="599"/>
                <a:ext cx="86" cy="22"/>
              </a:xfrm>
              <a:custGeom>
                <a:avLst/>
                <a:gdLst>
                  <a:gd name="T0" fmla="*/ 4 w 62"/>
                  <a:gd name="T1" fmla="*/ 16 h 16"/>
                  <a:gd name="T2" fmla="*/ 13 w 62"/>
                  <a:gd name="T3" fmla="*/ 14 h 16"/>
                  <a:gd name="T4" fmla="*/ 21 w 62"/>
                  <a:gd name="T5" fmla="*/ 14 h 16"/>
                  <a:gd name="T6" fmla="*/ 26 w 62"/>
                  <a:gd name="T7" fmla="*/ 16 h 16"/>
                  <a:gd name="T8" fmla="*/ 31 w 62"/>
                  <a:gd name="T9" fmla="*/ 14 h 16"/>
                  <a:gd name="T10" fmla="*/ 36 w 62"/>
                  <a:gd name="T11" fmla="*/ 13 h 16"/>
                  <a:gd name="T12" fmla="*/ 53 w 62"/>
                  <a:gd name="T13" fmla="*/ 15 h 16"/>
                  <a:gd name="T14" fmla="*/ 61 w 62"/>
                  <a:gd name="T15" fmla="*/ 11 h 16"/>
                  <a:gd name="T16" fmla="*/ 58 w 62"/>
                  <a:gd name="T17" fmla="*/ 6 h 16"/>
                  <a:gd name="T18" fmla="*/ 54 w 62"/>
                  <a:gd name="T19" fmla="*/ 5 h 16"/>
                  <a:gd name="T20" fmla="*/ 47 w 62"/>
                  <a:gd name="T21" fmla="*/ 2 h 16"/>
                  <a:gd name="T22" fmla="*/ 36 w 62"/>
                  <a:gd name="T23" fmla="*/ 2 h 16"/>
                  <a:gd name="T24" fmla="*/ 4 w 62"/>
                  <a:gd name="T25" fmla="*/ 11 h 16"/>
                  <a:gd name="T26" fmla="*/ 2 w 62"/>
                  <a:gd name="T27" fmla="*/ 15 h 16"/>
                  <a:gd name="T28" fmla="*/ 4 w 62"/>
                  <a:gd name="T29"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2" h="16">
                    <a:moveTo>
                      <a:pt x="4" y="16"/>
                    </a:moveTo>
                    <a:cubicBezTo>
                      <a:pt x="5" y="16"/>
                      <a:pt x="12" y="14"/>
                      <a:pt x="13" y="14"/>
                    </a:cubicBezTo>
                    <a:cubicBezTo>
                      <a:pt x="15" y="13"/>
                      <a:pt x="19" y="12"/>
                      <a:pt x="21" y="14"/>
                    </a:cubicBezTo>
                    <a:cubicBezTo>
                      <a:pt x="23" y="16"/>
                      <a:pt x="25" y="16"/>
                      <a:pt x="26" y="16"/>
                    </a:cubicBezTo>
                    <a:cubicBezTo>
                      <a:pt x="27" y="16"/>
                      <a:pt x="29" y="16"/>
                      <a:pt x="31" y="14"/>
                    </a:cubicBezTo>
                    <a:cubicBezTo>
                      <a:pt x="33" y="12"/>
                      <a:pt x="34" y="12"/>
                      <a:pt x="36" y="13"/>
                    </a:cubicBezTo>
                    <a:cubicBezTo>
                      <a:pt x="39" y="14"/>
                      <a:pt x="48" y="14"/>
                      <a:pt x="53" y="15"/>
                    </a:cubicBezTo>
                    <a:cubicBezTo>
                      <a:pt x="58" y="16"/>
                      <a:pt x="61" y="14"/>
                      <a:pt x="61" y="11"/>
                    </a:cubicBezTo>
                    <a:cubicBezTo>
                      <a:pt x="62" y="9"/>
                      <a:pt x="59" y="7"/>
                      <a:pt x="58" y="6"/>
                    </a:cubicBezTo>
                    <a:cubicBezTo>
                      <a:pt x="57" y="6"/>
                      <a:pt x="55" y="5"/>
                      <a:pt x="54" y="5"/>
                    </a:cubicBezTo>
                    <a:cubicBezTo>
                      <a:pt x="54" y="5"/>
                      <a:pt x="54" y="3"/>
                      <a:pt x="47" y="2"/>
                    </a:cubicBezTo>
                    <a:cubicBezTo>
                      <a:pt x="41" y="0"/>
                      <a:pt x="37" y="1"/>
                      <a:pt x="36" y="2"/>
                    </a:cubicBezTo>
                    <a:cubicBezTo>
                      <a:pt x="34" y="2"/>
                      <a:pt x="8" y="10"/>
                      <a:pt x="4" y="11"/>
                    </a:cubicBezTo>
                    <a:cubicBezTo>
                      <a:pt x="0" y="12"/>
                      <a:pt x="2" y="15"/>
                      <a:pt x="2" y="15"/>
                    </a:cubicBezTo>
                    <a:cubicBezTo>
                      <a:pt x="2" y="16"/>
                      <a:pt x="4" y="16"/>
                      <a:pt x="4" y="1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06" name="Freeform 203">
                <a:extLst>
                  <a:ext uri="{FF2B5EF4-FFF2-40B4-BE49-F238E27FC236}">
                    <a16:creationId xmlns:a16="http://schemas.microsoft.com/office/drawing/2014/main" id="{4B50FF1E-44D9-40FF-AAFF-992C4F49D247}"/>
                  </a:ext>
                </a:extLst>
              </p:cNvPr>
              <p:cNvSpPr>
                <a:spLocks/>
              </p:cNvSpPr>
              <p:nvPr/>
            </p:nvSpPr>
            <p:spPr bwMode="auto">
              <a:xfrm>
                <a:off x="1172" y="628"/>
                <a:ext cx="79" cy="35"/>
              </a:xfrm>
              <a:custGeom>
                <a:avLst/>
                <a:gdLst>
                  <a:gd name="T0" fmla="*/ 4 w 57"/>
                  <a:gd name="T1" fmla="*/ 14 h 26"/>
                  <a:gd name="T2" fmla="*/ 4 w 57"/>
                  <a:gd name="T3" fmla="*/ 15 h 26"/>
                  <a:gd name="T4" fmla="*/ 4 w 57"/>
                  <a:gd name="T5" fmla="*/ 17 h 26"/>
                  <a:gd name="T6" fmla="*/ 6 w 57"/>
                  <a:gd name="T7" fmla="*/ 19 h 26"/>
                  <a:gd name="T8" fmla="*/ 8 w 57"/>
                  <a:gd name="T9" fmla="*/ 21 h 26"/>
                  <a:gd name="T10" fmla="*/ 10 w 57"/>
                  <a:gd name="T11" fmla="*/ 21 h 26"/>
                  <a:gd name="T12" fmla="*/ 14 w 57"/>
                  <a:gd name="T13" fmla="*/ 23 h 26"/>
                  <a:gd name="T14" fmla="*/ 23 w 57"/>
                  <a:gd name="T15" fmla="*/ 25 h 26"/>
                  <a:gd name="T16" fmla="*/ 48 w 57"/>
                  <a:gd name="T17" fmla="*/ 20 h 26"/>
                  <a:gd name="T18" fmla="*/ 50 w 57"/>
                  <a:gd name="T19" fmla="*/ 18 h 26"/>
                  <a:gd name="T20" fmla="*/ 50 w 57"/>
                  <a:gd name="T21" fmla="*/ 16 h 26"/>
                  <a:gd name="T22" fmla="*/ 50 w 57"/>
                  <a:gd name="T23" fmla="*/ 14 h 26"/>
                  <a:gd name="T24" fmla="*/ 50 w 57"/>
                  <a:gd name="T25" fmla="*/ 12 h 26"/>
                  <a:gd name="T26" fmla="*/ 43 w 57"/>
                  <a:gd name="T27" fmla="*/ 11 h 26"/>
                  <a:gd name="T28" fmla="*/ 39 w 57"/>
                  <a:gd name="T29" fmla="*/ 9 h 26"/>
                  <a:gd name="T30" fmla="*/ 51 w 57"/>
                  <a:gd name="T31" fmla="*/ 6 h 26"/>
                  <a:gd name="T32" fmla="*/ 57 w 57"/>
                  <a:gd name="T33" fmla="*/ 1 h 26"/>
                  <a:gd name="T34" fmla="*/ 50 w 57"/>
                  <a:gd name="T35" fmla="*/ 1 h 26"/>
                  <a:gd name="T36" fmla="*/ 5 w 57"/>
                  <a:gd name="T37" fmla="*/ 7 h 26"/>
                  <a:gd name="T38" fmla="*/ 4 w 57"/>
                  <a:gd name="T39" fmla="*/ 13 h 26"/>
                  <a:gd name="T40" fmla="*/ 4 w 57"/>
                  <a:gd name="T41"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7" h="26">
                    <a:moveTo>
                      <a:pt x="4" y="14"/>
                    </a:moveTo>
                    <a:cubicBezTo>
                      <a:pt x="3" y="14"/>
                      <a:pt x="3" y="15"/>
                      <a:pt x="4" y="15"/>
                    </a:cubicBezTo>
                    <a:cubicBezTo>
                      <a:pt x="5" y="16"/>
                      <a:pt x="4" y="15"/>
                      <a:pt x="4" y="17"/>
                    </a:cubicBezTo>
                    <a:cubicBezTo>
                      <a:pt x="3" y="18"/>
                      <a:pt x="5" y="19"/>
                      <a:pt x="6" y="19"/>
                    </a:cubicBezTo>
                    <a:cubicBezTo>
                      <a:pt x="6" y="19"/>
                      <a:pt x="7" y="20"/>
                      <a:pt x="8" y="21"/>
                    </a:cubicBezTo>
                    <a:cubicBezTo>
                      <a:pt x="8" y="21"/>
                      <a:pt x="9" y="22"/>
                      <a:pt x="10" y="21"/>
                    </a:cubicBezTo>
                    <a:cubicBezTo>
                      <a:pt x="12" y="21"/>
                      <a:pt x="11" y="21"/>
                      <a:pt x="14" y="23"/>
                    </a:cubicBezTo>
                    <a:cubicBezTo>
                      <a:pt x="17" y="26"/>
                      <a:pt x="23" y="25"/>
                      <a:pt x="23" y="25"/>
                    </a:cubicBezTo>
                    <a:cubicBezTo>
                      <a:pt x="23" y="25"/>
                      <a:pt x="46" y="20"/>
                      <a:pt x="48" y="20"/>
                    </a:cubicBezTo>
                    <a:cubicBezTo>
                      <a:pt x="50" y="19"/>
                      <a:pt x="50" y="19"/>
                      <a:pt x="50" y="18"/>
                    </a:cubicBezTo>
                    <a:cubicBezTo>
                      <a:pt x="49" y="17"/>
                      <a:pt x="50" y="17"/>
                      <a:pt x="50" y="16"/>
                    </a:cubicBezTo>
                    <a:cubicBezTo>
                      <a:pt x="51" y="16"/>
                      <a:pt x="51" y="15"/>
                      <a:pt x="50" y="14"/>
                    </a:cubicBezTo>
                    <a:cubicBezTo>
                      <a:pt x="50" y="13"/>
                      <a:pt x="49" y="14"/>
                      <a:pt x="50" y="12"/>
                    </a:cubicBezTo>
                    <a:cubicBezTo>
                      <a:pt x="51" y="10"/>
                      <a:pt x="45" y="11"/>
                      <a:pt x="43" y="11"/>
                    </a:cubicBezTo>
                    <a:cubicBezTo>
                      <a:pt x="41" y="12"/>
                      <a:pt x="40" y="10"/>
                      <a:pt x="39" y="9"/>
                    </a:cubicBezTo>
                    <a:cubicBezTo>
                      <a:pt x="38" y="8"/>
                      <a:pt x="47" y="7"/>
                      <a:pt x="51" y="6"/>
                    </a:cubicBezTo>
                    <a:cubicBezTo>
                      <a:pt x="54" y="6"/>
                      <a:pt x="57" y="3"/>
                      <a:pt x="57" y="1"/>
                    </a:cubicBezTo>
                    <a:cubicBezTo>
                      <a:pt x="56" y="0"/>
                      <a:pt x="50" y="1"/>
                      <a:pt x="50" y="1"/>
                    </a:cubicBezTo>
                    <a:cubicBezTo>
                      <a:pt x="50" y="1"/>
                      <a:pt x="10" y="6"/>
                      <a:pt x="5" y="7"/>
                    </a:cubicBezTo>
                    <a:cubicBezTo>
                      <a:pt x="0" y="8"/>
                      <a:pt x="4" y="13"/>
                      <a:pt x="4" y="13"/>
                    </a:cubicBezTo>
                    <a:cubicBezTo>
                      <a:pt x="4" y="13"/>
                      <a:pt x="4" y="13"/>
                      <a:pt x="4" y="1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07" name="Freeform 204">
                <a:extLst>
                  <a:ext uri="{FF2B5EF4-FFF2-40B4-BE49-F238E27FC236}">
                    <a16:creationId xmlns:a16="http://schemas.microsoft.com/office/drawing/2014/main" id="{009CA3E2-DD11-4D11-B05B-D77E8DA83F3E}"/>
                  </a:ext>
                </a:extLst>
              </p:cNvPr>
              <p:cNvSpPr>
                <a:spLocks/>
              </p:cNvSpPr>
              <p:nvPr/>
            </p:nvSpPr>
            <p:spPr bwMode="auto">
              <a:xfrm>
                <a:off x="1323" y="643"/>
                <a:ext cx="37" cy="29"/>
              </a:xfrm>
              <a:custGeom>
                <a:avLst/>
                <a:gdLst>
                  <a:gd name="T0" fmla="*/ 2 w 27"/>
                  <a:gd name="T1" fmla="*/ 3 h 21"/>
                  <a:gd name="T2" fmla="*/ 4 w 27"/>
                  <a:gd name="T3" fmla="*/ 7 h 21"/>
                  <a:gd name="T4" fmla="*/ 7 w 27"/>
                  <a:gd name="T5" fmla="*/ 12 h 21"/>
                  <a:gd name="T6" fmla="*/ 11 w 27"/>
                  <a:gd name="T7" fmla="*/ 18 h 21"/>
                  <a:gd name="T8" fmla="*/ 15 w 27"/>
                  <a:gd name="T9" fmla="*/ 19 h 21"/>
                  <a:gd name="T10" fmla="*/ 19 w 27"/>
                  <a:gd name="T11" fmla="*/ 20 h 21"/>
                  <a:gd name="T12" fmla="*/ 26 w 27"/>
                  <a:gd name="T13" fmla="*/ 18 h 21"/>
                  <a:gd name="T14" fmla="*/ 22 w 27"/>
                  <a:gd name="T15" fmla="*/ 13 h 21"/>
                  <a:gd name="T16" fmla="*/ 21 w 27"/>
                  <a:gd name="T17" fmla="*/ 12 h 21"/>
                  <a:gd name="T18" fmla="*/ 19 w 27"/>
                  <a:gd name="T19" fmla="*/ 11 h 21"/>
                  <a:gd name="T20" fmla="*/ 17 w 27"/>
                  <a:gd name="T21" fmla="*/ 9 h 21"/>
                  <a:gd name="T22" fmla="*/ 8 w 27"/>
                  <a:gd name="T23" fmla="*/ 1 h 21"/>
                  <a:gd name="T24" fmla="*/ 2 w 27"/>
                  <a:gd name="T25" fmla="*/ 2 h 21"/>
                  <a:gd name="T26" fmla="*/ 2 w 27"/>
                  <a:gd name="T27"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21">
                    <a:moveTo>
                      <a:pt x="2" y="3"/>
                    </a:moveTo>
                    <a:cubicBezTo>
                      <a:pt x="3" y="3"/>
                      <a:pt x="4" y="6"/>
                      <a:pt x="4" y="7"/>
                    </a:cubicBezTo>
                    <a:cubicBezTo>
                      <a:pt x="5" y="9"/>
                      <a:pt x="6" y="11"/>
                      <a:pt x="7" y="12"/>
                    </a:cubicBezTo>
                    <a:cubicBezTo>
                      <a:pt x="7" y="13"/>
                      <a:pt x="10" y="17"/>
                      <a:pt x="11" y="18"/>
                    </a:cubicBezTo>
                    <a:cubicBezTo>
                      <a:pt x="13" y="20"/>
                      <a:pt x="14" y="19"/>
                      <a:pt x="15" y="19"/>
                    </a:cubicBezTo>
                    <a:cubicBezTo>
                      <a:pt x="16" y="19"/>
                      <a:pt x="17" y="19"/>
                      <a:pt x="19" y="20"/>
                    </a:cubicBezTo>
                    <a:cubicBezTo>
                      <a:pt x="21" y="21"/>
                      <a:pt x="24" y="20"/>
                      <a:pt x="26" y="18"/>
                    </a:cubicBezTo>
                    <a:cubicBezTo>
                      <a:pt x="27" y="15"/>
                      <a:pt x="23" y="14"/>
                      <a:pt x="22" y="13"/>
                    </a:cubicBezTo>
                    <a:cubicBezTo>
                      <a:pt x="22" y="13"/>
                      <a:pt x="21" y="13"/>
                      <a:pt x="21" y="12"/>
                    </a:cubicBezTo>
                    <a:cubicBezTo>
                      <a:pt x="21" y="11"/>
                      <a:pt x="20" y="11"/>
                      <a:pt x="19" y="11"/>
                    </a:cubicBezTo>
                    <a:cubicBezTo>
                      <a:pt x="17" y="11"/>
                      <a:pt x="17" y="11"/>
                      <a:pt x="17" y="9"/>
                    </a:cubicBezTo>
                    <a:cubicBezTo>
                      <a:pt x="17" y="7"/>
                      <a:pt x="10" y="2"/>
                      <a:pt x="8" y="1"/>
                    </a:cubicBezTo>
                    <a:cubicBezTo>
                      <a:pt x="7" y="0"/>
                      <a:pt x="4" y="1"/>
                      <a:pt x="2" y="2"/>
                    </a:cubicBezTo>
                    <a:cubicBezTo>
                      <a:pt x="0" y="2"/>
                      <a:pt x="2"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08" name="Freeform 205">
                <a:extLst>
                  <a:ext uri="{FF2B5EF4-FFF2-40B4-BE49-F238E27FC236}">
                    <a16:creationId xmlns:a16="http://schemas.microsoft.com/office/drawing/2014/main" id="{FF397FCB-CBBC-4A4A-8C5B-96A9F82B9698}"/>
                  </a:ext>
                </a:extLst>
              </p:cNvPr>
              <p:cNvSpPr>
                <a:spLocks/>
              </p:cNvSpPr>
              <p:nvPr/>
            </p:nvSpPr>
            <p:spPr bwMode="auto">
              <a:xfrm>
                <a:off x="1334" y="571"/>
                <a:ext cx="137" cy="72"/>
              </a:xfrm>
              <a:custGeom>
                <a:avLst/>
                <a:gdLst>
                  <a:gd name="T0" fmla="*/ 12 w 99"/>
                  <a:gd name="T1" fmla="*/ 11 h 52"/>
                  <a:gd name="T2" fmla="*/ 9 w 99"/>
                  <a:gd name="T3" fmla="*/ 19 h 52"/>
                  <a:gd name="T4" fmla="*/ 16 w 99"/>
                  <a:gd name="T5" fmla="*/ 15 h 52"/>
                  <a:gd name="T6" fmla="*/ 25 w 99"/>
                  <a:gd name="T7" fmla="*/ 15 h 52"/>
                  <a:gd name="T8" fmla="*/ 22 w 99"/>
                  <a:gd name="T9" fmla="*/ 19 h 52"/>
                  <a:gd name="T10" fmla="*/ 25 w 99"/>
                  <a:gd name="T11" fmla="*/ 21 h 52"/>
                  <a:gd name="T12" fmla="*/ 33 w 99"/>
                  <a:gd name="T13" fmla="*/ 20 h 52"/>
                  <a:gd name="T14" fmla="*/ 31 w 99"/>
                  <a:gd name="T15" fmla="*/ 22 h 52"/>
                  <a:gd name="T16" fmla="*/ 25 w 99"/>
                  <a:gd name="T17" fmla="*/ 25 h 52"/>
                  <a:gd name="T18" fmla="*/ 32 w 99"/>
                  <a:gd name="T19" fmla="*/ 26 h 52"/>
                  <a:gd name="T20" fmla="*/ 25 w 99"/>
                  <a:gd name="T21" fmla="*/ 28 h 52"/>
                  <a:gd name="T22" fmla="*/ 10 w 99"/>
                  <a:gd name="T23" fmla="*/ 27 h 52"/>
                  <a:gd name="T24" fmla="*/ 18 w 99"/>
                  <a:gd name="T25" fmla="*/ 37 h 52"/>
                  <a:gd name="T26" fmla="*/ 26 w 99"/>
                  <a:gd name="T27" fmla="*/ 36 h 52"/>
                  <a:gd name="T28" fmla="*/ 34 w 99"/>
                  <a:gd name="T29" fmla="*/ 34 h 52"/>
                  <a:gd name="T30" fmla="*/ 41 w 99"/>
                  <a:gd name="T31" fmla="*/ 35 h 52"/>
                  <a:gd name="T32" fmla="*/ 53 w 99"/>
                  <a:gd name="T33" fmla="*/ 36 h 52"/>
                  <a:gd name="T34" fmla="*/ 66 w 99"/>
                  <a:gd name="T35" fmla="*/ 39 h 52"/>
                  <a:gd name="T36" fmla="*/ 70 w 99"/>
                  <a:gd name="T37" fmla="*/ 41 h 52"/>
                  <a:gd name="T38" fmla="*/ 72 w 99"/>
                  <a:gd name="T39" fmla="*/ 47 h 52"/>
                  <a:gd name="T40" fmla="*/ 79 w 99"/>
                  <a:gd name="T41" fmla="*/ 51 h 52"/>
                  <a:gd name="T42" fmla="*/ 87 w 99"/>
                  <a:gd name="T43" fmla="*/ 51 h 52"/>
                  <a:gd name="T44" fmla="*/ 97 w 99"/>
                  <a:gd name="T45" fmla="*/ 47 h 52"/>
                  <a:gd name="T46" fmla="*/ 96 w 99"/>
                  <a:gd name="T47" fmla="*/ 41 h 52"/>
                  <a:gd name="T48" fmla="*/ 91 w 99"/>
                  <a:gd name="T49" fmla="*/ 37 h 52"/>
                  <a:gd name="T50" fmla="*/ 87 w 99"/>
                  <a:gd name="T51" fmla="*/ 34 h 52"/>
                  <a:gd name="T52" fmla="*/ 89 w 99"/>
                  <a:gd name="T53" fmla="*/ 27 h 52"/>
                  <a:gd name="T54" fmla="*/ 84 w 99"/>
                  <a:gd name="T55" fmla="*/ 25 h 52"/>
                  <a:gd name="T56" fmla="*/ 82 w 99"/>
                  <a:gd name="T57" fmla="*/ 21 h 52"/>
                  <a:gd name="T58" fmla="*/ 77 w 99"/>
                  <a:gd name="T59" fmla="*/ 18 h 52"/>
                  <a:gd name="T60" fmla="*/ 71 w 99"/>
                  <a:gd name="T61" fmla="*/ 20 h 52"/>
                  <a:gd name="T62" fmla="*/ 67 w 99"/>
                  <a:gd name="T63" fmla="*/ 15 h 52"/>
                  <a:gd name="T64" fmla="*/ 59 w 99"/>
                  <a:gd name="T65" fmla="*/ 10 h 52"/>
                  <a:gd name="T66" fmla="*/ 49 w 99"/>
                  <a:gd name="T67" fmla="*/ 12 h 52"/>
                  <a:gd name="T68" fmla="*/ 43 w 99"/>
                  <a:gd name="T69" fmla="*/ 14 h 52"/>
                  <a:gd name="T70" fmla="*/ 43 w 99"/>
                  <a:gd name="T71" fmla="*/ 10 h 52"/>
                  <a:gd name="T72" fmla="*/ 35 w 99"/>
                  <a:gd name="T73" fmla="*/ 3 h 52"/>
                  <a:gd name="T74" fmla="*/ 22 w 99"/>
                  <a:gd name="T75" fmla="*/ 0 h 52"/>
                  <a:gd name="T76" fmla="*/ 10 w 99"/>
                  <a:gd name="T77" fmla="*/ 2 h 52"/>
                  <a:gd name="T78" fmla="*/ 2 w 99"/>
                  <a:gd name="T79" fmla="*/ 2 h 52"/>
                  <a:gd name="T80" fmla="*/ 0 w 99"/>
                  <a:gd name="T81" fmla="*/ 1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9" h="52">
                    <a:moveTo>
                      <a:pt x="3" y="12"/>
                    </a:moveTo>
                    <a:cubicBezTo>
                      <a:pt x="5" y="12"/>
                      <a:pt x="10" y="11"/>
                      <a:pt x="12" y="11"/>
                    </a:cubicBezTo>
                    <a:cubicBezTo>
                      <a:pt x="15" y="11"/>
                      <a:pt x="12" y="14"/>
                      <a:pt x="10" y="16"/>
                    </a:cubicBezTo>
                    <a:cubicBezTo>
                      <a:pt x="9" y="17"/>
                      <a:pt x="9" y="18"/>
                      <a:pt x="9" y="19"/>
                    </a:cubicBezTo>
                    <a:cubicBezTo>
                      <a:pt x="9" y="19"/>
                      <a:pt x="11" y="19"/>
                      <a:pt x="12" y="18"/>
                    </a:cubicBezTo>
                    <a:cubicBezTo>
                      <a:pt x="14" y="18"/>
                      <a:pt x="15" y="16"/>
                      <a:pt x="16" y="15"/>
                    </a:cubicBezTo>
                    <a:cubicBezTo>
                      <a:pt x="16" y="14"/>
                      <a:pt x="17" y="14"/>
                      <a:pt x="19" y="13"/>
                    </a:cubicBezTo>
                    <a:cubicBezTo>
                      <a:pt x="21" y="13"/>
                      <a:pt x="24" y="14"/>
                      <a:pt x="25" y="15"/>
                    </a:cubicBezTo>
                    <a:cubicBezTo>
                      <a:pt x="26" y="15"/>
                      <a:pt x="26" y="16"/>
                      <a:pt x="26" y="16"/>
                    </a:cubicBezTo>
                    <a:cubicBezTo>
                      <a:pt x="25" y="16"/>
                      <a:pt x="24" y="17"/>
                      <a:pt x="22" y="19"/>
                    </a:cubicBezTo>
                    <a:cubicBezTo>
                      <a:pt x="20" y="20"/>
                      <a:pt x="23" y="20"/>
                      <a:pt x="23" y="20"/>
                    </a:cubicBezTo>
                    <a:cubicBezTo>
                      <a:pt x="23" y="20"/>
                      <a:pt x="24" y="20"/>
                      <a:pt x="25" y="21"/>
                    </a:cubicBezTo>
                    <a:cubicBezTo>
                      <a:pt x="26" y="21"/>
                      <a:pt x="27" y="21"/>
                      <a:pt x="28" y="20"/>
                    </a:cubicBezTo>
                    <a:cubicBezTo>
                      <a:pt x="30" y="20"/>
                      <a:pt x="31" y="20"/>
                      <a:pt x="33" y="20"/>
                    </a:cubicBezTo>
                    <a:cubicBezTo>
                      <a:pt x="34" y="21"/>
                      <a:pt x="33" y="22"/>
                      <a:pt x="32" y="21"/>
                    </a:cubicBezTo>
                    <a:cubicBezTo>
                      <a:pt x="32" y="21"/>
                      <a:pt x="31" y="21"/>
                      <a:pt x="31" y="22"/>
                    </a:cubicBezTo>
                    <a:cubicBezTo>
                      <a:pt x="31" y="23"/>
                      <a:pt x="28" y="23"/>
                      <a:pt x="26" y="23"/>
                    </a:cubicBezTo>
                    <a:cubicBezTo>
                      <a:pt x="23" y="24"/>
                      <a:pt x="24" y="25"/>
                      <a:pt x="25" y="25"/>
                    </a:cubicBezTo>
                    <a:cubicBezTo>
                      <a:pt x="26" y="24"/>
                      <a:pt x="29" y="25"/>
                      <a:pt x="31" y="25"/>
                    </a:cubicBezTo>
                    <a:cubicBezTo>
                      <a:pt x="33" y="25"/>
                      <a:pt x="33" y="26"/>
                      <a:pt x="32" y="26"/>
                    </a:cubicBezTo>
                    <a:cubicBezTo>
                      <a:pt x="31" y="27"/>
                      <a:pt x="31" y="27"/>
                      <a:pt x="31" y="28"/>
                    </a:cubicBezTo>
                    <a:cubicBezTo>
                      <a:pt x="31" y="29"/>
                      <a:pt x="27" y="28"/>
                      <a:pt x="25" y="28"/>
                    </a:cubicBezTo>
                    <a:cubicBezTo>
                      <a:pt x="24" y="28"/>
                      <a:pt x="21" y="28"/>
                      <a:pt x="19" y="27"/>
                    </a:cubicBezTo>
                    <a:cubicBezTo>
                      <a:pt x="17" y="25"/>
                      <a:pt x="13" y="27"/>
                      <a:pt x="10" y="27"/>
                    </a:cubicBezTo>
                    <a:cubicBezTo>
                      <a:pt x="7" y="28"/>
                      <a:pt x="8" y="30"/>
                      <a:pt x="10" y="32"/>
                    </a:cubicBezTo>
                    <a:cubicBezTo>
                      <a:pt x="12" y="34"/>
                      <a:pt x="17" y="37"/>
                      <a:pt x="18" y="37"/>
                    </a:cubicBezTo>
                    <a:cubicBezTo>
                      <a:pt x="20" y="37"/>
                      <a:pt x="22" y="37"/>
                      <a:pt x="24" y="37"/>
                    </a:cubicBezTo>
                    <a:cubicBezTo>
                      <a:pt x="25" y="37"/>
                      <a:pt x="26" y="36"/>
                      <a:pt x="26" y="36"/>
                    </a:cubicBezTo>
                    <a:cubicBezTo>
                      <a:pt x="27" y="35"/>
                      <a:pt x="29" y="34"/>
                      <a:pt x="30" y="34"/>
                    </a:cubicBezTo>
                    <a:cubicBezTo>
                      <a:pt x="31" y="34"/>
                      <a:pt x="33" y="34"/>
                      <a:pt x="34" y="34"/>
                    </a:cubicBezTo>
                    <a:cubicBezTo>
                      <a:pt x="35" y="33"/>
                      <a:pt x="37" y="33"/>
                      <a:pt x="39" y="33"/>
                    </a:cubicBezTo>
                    <a:cubicBezTo>
                      <a:pt x="40" y="33"/>
                      <a:pt x="41" y="34"/>
                      <a:pt x="41" y="35"/>
                    </a:cubicBezTo>
                    <a:cubicBezTo>
                      <a:pt x="41" y="36"/>
                      <a:pt x="44" y="37"/>
                      <a:pt x="46" y="37"/>
                    </a:cubicBezTo>
                    <a:cubicBezTo>
                      <a:pt x="48" y="36"/>
                      <a:pt x="52" y="36"/>
                      <a:pt x="53" y="36"/>
                    </a:cubicBezTo>
                    <a:cubicBezTo>
                      <a:pt x="55" y="36"/>
                      <a:pt x="59" y="37"/>
                      <a:pt x="61" y="37"/>
                    </a:cubicBezTo>
                    <a:cubicBezTo>
                      <a:pt x="63" y="38"/>
                      <a:pt x="64" y="39"/>
                      <a:pt x="66" y="39"/>
                    </a:cubicBezTo>
                    <a:cubicBezTo>
                      <a:pt x="67" y="38"/>
                      <a:pt x="68" y="39"/>
                      <a:pt x="68" y="39"/>
                    </a:cubicBezTo>
                    <a:cubicBezTo>
                      <a:pt x="68" y="40"/>
                      <a:pt x="68" y="41"/>
                      <a:pt x="70" y="41"/>
                    </a:cubicBezTo>
                    <a:cubicBezTo>
                      <a:pt x="71" y="42"/>
                      <a:pt x="71" y="43"/>
                      <a:pt x="71" y="44"/>
                    </a:cubicBezTo>
                    <a:cubicBezTo>
                      <a:pt x="71" y="45"/>
                      <a:pt x="71" y="46"/>
                      <a:pt x="72" y="47"/>
                    </a:cubicBezTo>
                    <a:cubicBezTo>
                      <a:pt x="73" y="47"/>
                      <a:pt x="73" y="48"/>
                      <a:pt x="74" y="49"/>
                    </a:cubicBezTo>
                    <a:cubicBezTo>
                      <a:pt x="74" y="49"/>
                      <a:pt x="78" y="51"/>
                      <a:pt x="79" y="51"/>
                    </a:cubicBezTo>
                    <a:cubicBezTo>
                      <a:pt x="80" y="51"/>
                      <a:pt x="82" y="51"/>
                      <a:pt x="83" y="51"/>
                    </a:cubicBezTo>
                    <a:cubicBezTo>
                      <a:pt x="84" y="52"/>
                      <a:pt x="86" y="51"/>
                      <a:pt x="87" y="51"/>
                    </a:cubicBezTo>
                    <a:cubicBezTo>
                      <a:pt x="87" y="51"/>
                      <a:pt x="96" y="49"/>
                      <a:pt x="96" y="49"/>
                    </a:cubicBezTo>
                    <a:cubicBezTo>
                      <a:pt x="97" y="48"/>
                      <a:pt x="97" y="48"/>
                      <a:pt x="97" y="47"/>
                    </a:cubicBezTo>
                    <a:cubicBezTo>
                      <a:pt x="97" y="46"/>
                      <a:pt x="97" y="46"/>
                      <a:pt x="98" y="44"/>
                    </a:cubicBezTo>
                    <a:cubicBezTo>
                      <a:pt x="99" y="43"/>
                      <a:pt x="96" y="42"/>
                      <a:pt x="96" y="41"/>
                    </a:cubicBezTo>
                    <a:cubicBezTo>
                      <a:pt x="96" y="41"/>
                      <a:pt x="94" y="39"/>
                      <a:pt x="93" y="39"/>
                    </a:cubicBezTo>
                    <a:cubicBezTo>
                      <a:pt x="92" y="39"/>
                      <a:pt x="92" y="38"/>
                      <a:pt x="91" y="37"/>
                    </a:cubicBezTo>
                    <a:cubicBezTo>
                      <a:pt x="90" y="35"/>
                      <a:pt x="89" y="36"/>
                      <a:pt x="88" y="36"/>
                    </a:cubicBezTo>
                    <a:cubicBezTo>
                      <a:pt x="87" y="36"/>
                      <a:pt x="87" y="35"/>
                      <a:pt x="87" y="34"/>
                    </a:cubicBezTo>
                    <a:cubicBezTo>
                      <a:pt x="86" y="33"/>
                      <a:pt x="86" y="32"/>
                      <a:pt x="85" y="31"/>
                    </a:cubicBezTo>
                    <a:cubicBezTo>
                      <a:pt x="85" y="30"/>
                      <a:pt x="88" y="28"/>
                      <a:pt x="89" y="27"/>
                    </a:cubicBezTo>
                    <a:cubicBezTo>
                      <a:pt x="91" y="26"/>
                      <a:pt x="87" y="25"/>
                      <a:pt x="87" y="25"/>
                    </a:cubicBezTo>
                    <a:cubicBezTo>
                      <a:pt x="86" y="25"/>
                      <a:pt x="84" y="25"/>
                      <a:pt x="84" y="25"/>
                    </a:cubicBezTo>
                    <a:cubicBezTo>
                      <a:pt x="83" y="24"/>
                      <a:pt x="83" y="24"/>
                      <a:pt x="84" y="23"/>
                    </a:cubicBezTo>
                    <a:cubicBezTo>
                      <a:pt x="85" y="22"/>
                      <a:pt x="83" y="21"/>
                      <a:pt x="82" y="21"/>
                    </a:cubicBezTo>
                    <a:cubicBezTo>
                      <a:pt x="82" y="21"/>
                      <a:pt x="81" y="20"/>
                      <a:pt x="80" y="20"/>
                    </a:cubicBezTo>
                    <a:cubicBezTo>
                      <a:pt x="79" y="19"/>
                      <a:pt x="78" y="18"/>
                      <a:pt x="77" y="18"/>
                    </a:cubicBezTo>
                    <a:cubicBezTo>
                      <a:pt x="75" y="18"/>
                      <a:pt x="74" y="19"/>
                      <a:pt x="74" y="19"/>
                    </a:cubicBezTo>
                    <a:cubicBezTo>
                      <a:pt x="73" y="19"/>
                      <a:pt x="72" y="19"/>
                      <a:pt x="71" y="20"/>
                    </a:cubicBezTo>
                    <a:cubicBezTo>
                      <a:pt x="69" y="21"/>
                      <a:pt x="67" y="19"/>
                      <a:pt x="66" y="19"/>
                    </a:cubicBezTo>
                    <a:cubicBezTo>
                      <a:pt x="64" y="18"/>
                      <a:pt x="67" y="16"/>
                      <a:pt x="67" y="15"/>
                    </a:cubicBezTo>
                    <a:cubicBezTo>
                      <a:pt x="68" y="14"/>
                      <a:pt x="67" y="13"/>
                      <a:pt x="65" y="14"/>
                    </a:cubicBezTo>
                    <a:cubicBezTo>
                      <a:pt x="64" y="14"/>
                      <a:pt x="62" y="11"/>
                      <a:pt x="59" y="10"/>
                    </a:cubicBezTo>
                    <a:cubicBezTo>
                      <a:pt x="56" y="9"/>
                      <a:pt x="54" y="10"/>
                      <a:pt x="53" y="10"/>
                    </a:cubicBezTo>
                    <a:cubicBezTo>
                      <a:pt x="52" y="11"/>
                      <a:pt x="50" y="11"/>
                      <a:pt x="49" y="12"/>
                    </a:cubicBezTo>
                    <a:cubicBezTo>
                      <a:pt x="47" y="12"/>
                      <a:pt x="47" y="11"/>
                      <a:pt x="47" y="13"/>
                    </a:cubicBezTo>
                    <a:cubicBezTo>
                      <a:pt x="48" y="16"/>
                      <a:pt x="44" y="15"/>
                      <a:pt x="43" y="14"/>
                    </a:cubicBezTo>
                    <a:cubicBezTo>
                      <a:pt x="42" y="14"/>
                      <a:pt x="42" y="13"/>
                      <a:pt x="43" y="12"/>
                    </a:cubicBezTo>
                    <a:cubicBezTo>
                      <a:pt x="44" y="12"/>
                      <a:pt x="43" y="10"/>
                      <a:pt x="43" y="10"/>
                    </a:cubicBezTo>
                    <a:cubicBezTo>
                      <a:pt x="42" y="9"/>
                      <a:pt x="41" y="7"/>
                      <a:pt x="40" y="6"/>
                    </a:cubicBezTo>
                    <a:cubicBezTo>
                      <a:pt x="39" y="5"/>
                      <a:pt x="36" y="3"/>
                      <a:pt x="35" y="3"/>
                    </a:cubicBezTo>
                    <a:cubicBezTo>
                      <a:pt x="35" y="2"/>
                      <a:pt x="31" y="2"/>
                      <a:pt x="29" y="1"/>
                    </a:cubicBezTo>
                    <a:cubicBezTo>
                      <a:pt x="27" y="0"/>
                      <a:pt x="23" y="0"/>
                      <a:pt x="22" y="0"/>
                    </a:cubicBezTo>
                    <a:cubicBezTo>
                      <a:pt x="21" y="1"/>
                      <a:pt x="17" y="2"/>
                      <a:pt x="16" y="2"/>
                    </a:cubicBezTo>
                    <a:cubicBezTo>
                      <a:pt x="14" y="1"/>
                      <a:pt x="11" y="2"/>
                      <a:pt x="10" y="2"/>
                    </a:cubicBezTo>
                    <a:cubicBezTo>
                      <a:pt x="8" y="3"/>
                      <a:pt x="6" y="3"/>
                      <a:pt x="4" y="2"/>
                    </a:cubicBezTo>
                    <a:cubicBezTo>
                      <a:pt x="3" y="1"/>
                      <a:pt x="1" y="2"/>
                      <a:pt x="2" y="2"/>
                    </a:cubicBezTo>
                    <a:cubicBezTo>
                      <a:pt x="3" y="3"/>
                      <a:pt x="1" y="4"/>
                      <a:pt x="1" y="4"/>
                    </a:cubicBezTo>
                    <a:cubicBezTo>
                      <a:pt x="0" y="5"/>
                      <a:pt x="0" y="8"/>
                      <a:pt x="0" y="10"/>
                    </a:cubicBezTo>
                    <a:cubicBezTo>
                      <a:pt x="0" y="11"/>
                      <a:pt x="2" y="12"/>
                      <a:pt x="3"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09" name="Freeform 206">
                <a:extLst>
                  <a:ext uri="{FF2B5EF4-FFF2-40B4-BE49-F238E27FC236}">
                    <a16:creationId xmlns:a16="http://schemas.microsoft.com/office/drawing/2014/main" id="{38706DF5-4D83-474B-89E4-54E9D658446E}"/>
                  </a:ext>
                </a:extLst>
              </p:cNvPr>
              <p:cNvSpPr>
                <a:spLocks/>
              </p:cNvSpPr>
              <p:nvPr/>
            </p:nvSpPr>
            <p:spPr bwMode="auto">
              <a:xfrm>
                <a:off x="1396" y="637"/>
                <a:ext cx="33" cy="10"/>
              </a:xfrm>
              <a:custGeom>
                <a:avLst/>
                <a:gdLst>
                  <a:gd name="T0" fmla="*/ 14 w 24"/>
                  <a:gd name="T1" fmla="*/ 1 h 7"/>
                  <a:gd name="T2" fmla="*/ 11 w 24"/>
                  <a:gd name="T3" fmla="*/ 0 h 7"/>
                  <a:gd name="T4" fmla="*/ 2 w 24"/>
                  <a:gd name="T5" fmla="*/ 2 h 7"/>
                  <a:gd name="T6" fmla="*/ 1 w 24"/>
                  <a:gd name="T7" fmla="*/ 4 h 7"/>
                  <a:gd name="T8" fmla="*/ 6 w 24"/>
                  <a:gd name="T9" fmla="*/ 7 h 7"/>
                  <a:gd name="T10" fmla="*/ 14 w 24"/>
                  <a:gd name="T11" fmla="*/ 6 h 7"/>
                  <a:gd name="T12" fmla="*/ 22 w 24"/>
                  <a:gd name="T13" fmla="*/ 6 h 7"/>
                  <a:gd name="T14" fmla="*/ 23 w 24"/>
                  <a:gd name="T15" fmla="*/ 4 h 7"/>
                  <a:gd name="T16" fmla="*/ 14 w 24"/>
                  <a:gd name="T17" fmla="*/ 1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7">
                    <a:moveTo>
                      <a:pt x="14" y="1"/>
                    </a:moveTo>
                    <a:cubicBezTo>
                      <a:pt x="13" y="0"/>
                      <a:pt x="11" y="0"/>
                      <a:pt x="11" y="0"/>
                    </a:cubicBezTo>
                    <a:cubicBezTo>
                      <a:pt x="10" y="1"/>
                      <a:pt x="5" y="2"/>
                      <a:pt x="2" y="2"/>
                    </a:cubicBezTo>
                    <a:cubicBezTo>
                      <a:pt x="0" y="3"/>
                      <a:pt x="1" y="4"/>
                      <a:pt x="1" y="4"/>
                    </a:cubicBezTo>
                    <a:cubicBezTo>
                      <a:pt x="2" y="5"/>
                      <a:pt x="4" y="7"/>
                      <a:pt x="6" y="7"/>
                    </a:cubicBezTo>
                    <a:cubicBezTo>
                      <a:pt x="8" y="7"/>
                      <a:pt x="12" y="7"/>
                      <a:pt x="14" y="6"/>
                    </a:cubicBezTo>
                    <a:cubicBezTo>
                      <a:pt x="15" y="5"/>
                      <a:pt x="20" y="6"/>
                      <a:pt x="22" y="6"/>
                    </a:cubicBezTo>
                    <a:cubicBezTo>
                      <a:pt x="24" y="6"/>
                      <a:pt x="24" y="5"/>
                      <a:pt x="23" y="4"/>
                    </a:cubicBezTo>
                    <a:cubicBezTo>
                      <a:pt x="22" y="3"/>
                      <a:pt x="15" y="1"/>
                      <a:pt x="1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10" name="Freeform 207">
                <a:extLst>
                  <a:ext uri="{FF2B5EF4-FFF2-40B4-BE49-F238E27FC236}">
                    <a16:creationId xmlns:a16="http://schemas.microsoft.com/office/drawing/2014/main" id="{BB08C00E-2032-4741-94F8-4B5BB0CDBAEA}"/>
                  </a:ext>
                </a:extLst>
              </p:cNvPr>
              <p:cNvSpPr>
                <a:spLocks/>
              </p:cNvSpPr>
              <p:nvPr/>
            </p:nvSpPr>
            <p:spPr bwMode="auto">
              <a:xfrm>
                <a:off x="1478" y="596"/>
                <a:ext cx="78" cy="47"/>
              </a:xfrm>
              <a:custGeom>
                <a:avLst/>
                <a:gdLst>
                  <a:gd name="T0" fmla="*/ 5 w 57"/>
                  <a:gd name="T1" fmla="*/ 13 h 34"/>
                  <a:gd name="T2" fmla="*/ 8 w 57"/>
                  <a:gd name="T3" fmla="*/ 16 h 34"/>
                  <a:gd name="T4" fmla="*/ 9 w 57"/>
                  <a:gd name="T5" fmla="*/ 17 h 34"/>
                  <a:gd name="T6" fmla="*/ 10 w 57"/>
                  <a:gd name="T7" fmla="*/ 19 h 34"/>
                  <a:gd name="T8" fmla="*/ 11 w 57"/>
                  <a:gd name="T9" fmla="*/ 20 h 34"/>
                  <a:gd name="T10" fmla="*/ 17 w 57"/>
                  <a:gd name="T11" fmla="*/ 20 h 34"/>
                  <a:gd name="T12" fmla="*/ 24 w 57"/>
                  <a:gd name="T13" fmla="*/ 22 h 34"/>
                  <a:gd name="T14" fmla="*/ 22 w 57"/>
                  <a:gd name="T15" fmla="*/ 24 h 34"/>
                  <a:gd name="T16" fmla="*/ 14 w 57"/>
                  <a:gd name="T17" fmla="*/ 25 h 34"/>
                  <a:gd name="T18" fmla="*/ 13 w 57"/>
                  <a:gd name="T19" fmla="*/ 26 h 34"/>
                  <a:gd name="T20" fmla="*/ 20 w 57"/>
                  <a:gd name="T21" fmla="*/ 29 h 34"/>
                  <a:gd name="T22" fmla="*/ 22 w 57"/>
                  <a:gd name="T23" fmla="*/ 33 h 34"/>
                  <a:gd name="T24" fmla="*/ 27 w 57"/>
                  <a:gd name="T25" fmla="*/ 33 h 34"/>
                  <a:gd name="T26" fmla="*/ 49 w 57"/>
                  <a:gd name="T27" fmla="*/ 29 h 34"/>
                  <a:gd name="T28" fmla="*/ 54 w 57"/>
                  <a:gd name="T29" fmla="*/ 26 h 34"/>
                  <a:gd name="T30" fmla="*/ 53 w 57"/>
                  <a:gd name="T31" fmla="*/ 23 h 34"/>
                  <a:gd name="T32" fmla="*/ 54 w 57"/>
                  <a:gd name="T33" fmla="*/ 17 h 34"/>
                  <a:gd name="T34" fmla="*/ 54 w 57"/>
                  <a:gd name="T35" fmla="*/ 14 h 34"/>
                  <a:gd name="T36" fmla="*/ 47 w 57"/>
                  <a:gd name="T37" fmla="*/ 11 h 34"/>
                  <a:gd name="T38" fmla="*/ 40 w 57"/>
                  <a:gd name="T39" fmla="*/ 11 h 34"/>
                  <a:gd name="T40" fmla="*/ 36 w 57"/>
                  <a:gd name="T41" fmla="*/ 9 h 34"/>
                  <a:gd name="T42" fmla="*/ 34 w 57"/>
                  <a:gd name="T43" fmla="*/ 7 h 34"/>
                  <a:gd name="T44" fmla="*/ 32 w 57"/>
                  <a:gd name="T45" fmla="*/ 6 h 34"/>
                  <a:gd name="T46" fmla="*/ 28 w 57"/>
                  <a:gd name="T47" fmla="*/ 5 h 34"/>
                  <a:gd name="T48" fmla="*/ 24 w 57"/>
                  <a:gd name="T49" fmla="*/ 3 h 34"/>
                  <a:gd name="T50" fmla="*/ 19 w 57"/>
                  <a:gd name="T51" fmla="*/ 2 h 34"/>
                  <a:gd name="T52" fmla="*/ 12 w 57"/>
                  <a:gd name="T53" fmla="*/ 1 h 34"/>
                  <a:gd name="T54" fmla="*/ 4 w 57"/>
                  <a:gd name="T55" fmla="*/ 2 h 34"/>
                  <a:gd name="T56" fmla="*/ 5 w 57"/>
                  <a:gd name="T57" fmla="*/ 6 h 34"/>
                  <a:gd name="T58" fmla="*/ 6 w 57"/>
                  <a:gd name="T59" fmla="*/ 10 h 34"/>
                  <a:gd name="T60" fmla="*/ 5 w 57"/>
                  <a:gd name="T61" fmla="*/ 1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7" h="34">
                    <a:moveTo>
                      <a:pt x="5" y="13"/>
                    </a:moveTo>
                    <a:cubicBezTo>
                      <a:pt x="7" y="14"/>
                      <a:pt x="8" y="15"/>
                      <a:pt x="8" y="16"/>
                    </a:cubicBezTo>
                    <a:cubicBezTo>
                      <a:pt x="8" y="17"/>
                      <a:pt x="8" y="17"/>
                      <a:pt x="9" y="17"/>
                    </a:cubicBezTo>
                    <a:cubicBezTo>
                      <a:pt x="9" y="18"/>
                      <a:pt x="10" y="19"/>
                      <a:pt x="10" y="19"/>
                    </a:cubicBezTo>
                    <a:cubicBezTo>
                      <a:pt x="10" y="19"/>
                      <a:pt x="11" y="20"/>
                      <a:pt x="11" y="20"/>
                    </a:cubicBezTo>
                    <a:cubicBezTo>
                      <a:pt x="12" y="20"/>
                      <a:pt x="15" y="20"/>
                      <a:pt x="17" y="20"/>
                    </a:cubicBezTo>
                    <a:cubicBezTo>
                      <a:pt x="18" y="20"/>
                      <a:pt x="21" y="20"/>
                      <a:pt x="24" y="22"/>
                    </a:cubicBezTo>
                    <a:cubicBezTo>
                      <a:pt x="28" y="24"/>
                      <a:pt x="23" y="24"/>
                      <a:pt x="22" y="24"/>
                    </a:cubicBezTo>
                    <a:cubicBezTo>
                      <a:pt x="20" y="24"/>
                      <a:pt x="17" y="24"/>
                      <a:pt x="14" y="25"/>
                    </a:cubicBezTo>
                    <a:cubicBezTo>
                      <a:pt x="11" y="25"/>
                      <a:pt x="12" y="26"/>
                      <a:pt x="13" y="26"/>
                    </a:cubicBezTo>
                    <a:cubicBezTo>
                      <a:pt x="14" y="26"/>
                      <a:pt x="18" y="28"/>
                      <a:pt x="20" y="29"/>
                    </a:cubicBezTo>
                    <a:cubicBezTo>
                      <a:pt x="22" y="29"/>
                      <a:pt x="21" y="31"/>
                      <a:pt x="22" y="33"/>
                    </a:cubicBezTo>
                    <a:cubicBezTo>
                      <a:pt x="23" y="34"/>
                      <a:pt x="27" y="34"/>
                      <a:pt x="27" y="33"/>
                    </a:cubicBezTo>
                    <a:cubicBezTo>
                      <a:pt x="28" y="33"/>
                      <a:pt x="47" y="29"/>
                      <a:pt x="49" y="29"/>
                    </a:cubicBezTo>
                    <a:cubicBezTo>
                      <a:pt x="51" y="28"/>
                      <a:pt x="53" y="27"/>
                      <a:pt x="54" y="26"/>
                    </a:cubicBezTo>
                    <a:cubicBezTo>
                      <a:pt x="55" y="25"/>
                      <a:pt x="55" y="24"/>
                      <a:pt x="53" y="23"/>
                    </a:cubicBezTo>
                    <a:cubicBezTo>
                      <a:pt x="51" y="22"/>
                      <a:pt x="52" y="20"/>
                      <a:pt x="54" y="17"/>
                    </a:cubicBezTo>
                    <a:cubicBezTo>
                      <a:pt x="57" y="14"/>
                      <a:pt x="54" y="14"/>
                      <a:pt x="54" y="14"/>
                    </a:cubicBezTo>
                    <a:cubicBezTo>
                      <a:pt x="54" y="14"/>
                      <a:pt x="50" y="12"/>
                      <a:pt x="47" y="11"/>
                    </a:cubicBezTo>
                    <a:cubicBezTo>
                      <a:pt x="44" y="10"/>
                      <a:pt x="43" y="10"/>
                      <a:pt x="40" y="11"/>
                    </a:cubicBezTo>
                    <a:cubicBezTo>
                      <a:pt x="38" y="12"/>
                      <a:pt x="36" y="10"/>
                      <a:pt x="36" y="9"/>
                    </a:cubicBezTo>
                    <a:cubicBezTo>
                      <a:pt x="36" y="7"/>
                      <a:pt x="35" y="7"/>
                      <a:pt x="34" y="7"/>
                    </a:cubicBezTo>
                    <a:cubicBezTo>
                      <a:pt x="34" y="7"/>
                      <a:pt x="33" y="7"/>
                      <a:pt x="32" y="6"/>
                    </a:cubicBezTo>
                    <a:cubicBezTo>
                      <a:pt x="31" y="5"/>
                      <a:pt x="29" y="5"/>
                      <a:pt x="28" y="5"/>
                    </a:cubicBezTo>
                    <a:cubicBezTo>
                      <a:pt x="26" y="5"/>
                      <a:pt x="25" y="4"/>
                      <a:pt x="24" y="3"/>
                    </a:cubicBezTo>
                    <a:cubicBezTo>
                      <a:pt x="22" y="2"/>
                      <a:pt x="20" y="2"/>
                      <a:pt x="19" y="2"/>
                    </a:cubicBezTo>
                    <a:cubicBezTo>
                      <a:pt x="18" y="2"/>
                      <a:pt x="14" y="1"/>
                      <a:pt x="12" y="1"/>
                    </a:cubicBezTo>
                    <a:cubicBezTo>
                      <a:pt x="10" y="0"/>
                      <a:pt x="6" y="1"/>
                      <a:pt x="4" y="2"/>
                    </a:cubicBezTo>
                    <a:cubicBezTo>
                      <a:pt x="2" y="4"/>
                      <a:pt x="5" y="6"/>
                      <a:pt x="5" y="6"/>
                    </a:cubicBezTo>
                    <a:cubicBezTo>
                      <a:pt x="5" y="6"/>
                      <a:pt x="12" y="9"/>
                      <a:pt x="6" y="10"/>
                    </a:cubicBezTo>
                    <a:cubicBezTo>
                      <a:pt x="0" y="10"/>
                      <a:pt x="4" y="13"/>
                      <a:pt x="5" y="1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11" name="Freeform 208">
                <a:extLst>
                  <a:ext uri="{FF2B5EF4-FFF2-40B4-BE49-F238E27FC236}">
                    <a16:creationId xmlns:a16="http://schemas.microsoft.com/office/drawing/2014/main" id="{DF8262D1-F545-431E-8C96-CD5AE0C6E71A}"/>
                  </a:ext>
                </a:extLst>
              </p:cNvPr>
              <p:cNvSpPr>
                <a:spLocks/>
              </p:cNvSpPr>
              <p:nvPr/>
            </p:nvSpPr>
            <p:spPr bwMode="auto">
              <a:xfrm>
                <a:off x="1522" y="640"/>
                <a:ext cx="68" cy="18"/>
              </a:xfrm>
              <a:custGeom>
                <a:avLst/>
                <a:gdLst>
                  <a:gd name="T0" fmla="*/ 25 w 49"/>
                  <a:gd name="T1" fmla="*/ 11 h 13"/>
                  <a:gd name="T2" fmla="*/ 39 w 49"/>
                  <a:gd name="T3" fmla="*/ 13 h 13"/>
                  <a:gd name="T4" fmla="*/ 48 w 49"/>
                  <a:gd name="T5" fmla="*/ 5 h 13"/>
                  <a:gd name="T6" fmla="*/ 44 w 49"/>
                  <a:gd name="T7" fmla="*/ 2 h 13"/>
                  <a:gd name="T8" fmla="*/ 39 w 49"/>
                  <a:gd name="T9" fmla="*/ 3 h 13"/>
                  <a:gd name="T10" fmla="*/ 36 w 49"/>
                  <a:gd name="T11" fmla="*/ 3 h 13"/>
                  <a:gd name="T12" fmla="*/ 35 w 49"/>
                  <a:gd name="T13" fmla="*/ 2 h 13"/>
                  <a:gd name="T14" fmla="*/ 33 w 49"/>
                  <a:gd name="T15" fmla="*/ 2 h 13"/>
                  <a:gd name="T16" fmla="*/ 31 w 49"/>
                  <a:gd name="T17" fmla="*/ 2 h 13"/>
                  <a:gd name="T18" fmla="*/ 28 w 49"/>
                  <a:gd name="T19" fmla="*/ 2 h 13"/>
                  <a:gd name="T20" fmla="*/ 21 w 49"/>
                  <a:gd name="T21" fmla="*/ 3 h 13"/>
                  <a:gd name="T22" fmla="*/ 18 w 49"/>
                  <a:gd name="T23" fmla="*/ 3 h 13"/>
                  <a:gd name="T24" fmla="*/ 16 w 49"/>
                  <a:gd name="T25" fmla="*/ 3 h 13"/>
                  <a:gd name="T26" fmla="*/ 15 w 49"/>
                  <a:gd name="T27" fmla="*/ 2 h 13"/>
                  <a:gd name="T28" fmla="*/ 13 w 49"/>
                  <a:gd name="T29" fmla="*/ 2 h 13"/>
                  <a:gd name="T30" fmla="*/ 11 w 49"/>
                  <a:gd name="T31" fmla="*/ 2 h 13"/>
                  <a:gd name="T32" fmla="*/ 5 w 49"/>
                  <a:gd name="T33" fmla="*/ 4 h 13"/>
                  <a:gd name="T34" fmla="*/ 4 w 49"/>
                  <a:gd name="T35" fmla="*/ 9 h 13"/>
                  <a:gd name="T36" fmla="*/ 25 w 49"/>
                  <a:gd name="T37" fmla="*/ 1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 h="13">
                    <a:moveTo>
                      <a:pt x="25" y="11"/>
                    </a:moveTo>
                    <a:cubicBezTo>
                      <a:pt x="28" y="11"/>
                      <a:pt x="35" y="13"/>
                      <a:pt x="39" y="13"/>
                    </a:cubicBezTo>
                    <a:cubicBezTo>
                      <a:pt x="43" y="13"/>
                      <a:pt x="47" y="7"/>
                      <a:pt x="48" y="5"/>
                    </a:cubicBezTo>
                    <a:cubicBezTo>
                      <a:pt x="49" y="4"/>
                      <a:pt x="46" y="3"/>
                      <a:pt x="44" y="2"/>
                    </a:cubicBezTo>
                    <a:cubicBezTo>
                      <a:pt x="41" y="2"/>
                      <a:pt x="40" y="2"/>
                      <a:pt x="39" y="3"/>
                    </a:cubicBezTo>
                    <a:cubicBezTo>
                      <a:pt x="38" y="3"/>
                      <a:pt x="37" y="3"/>
                      <a:pt x="36" y="3"/>
                    </a:cubicBezTo>
                    <a:cubicBezTo>
                      <a:pt x="36" y="2"/>
                      <a:pt x="35" y="2"/>
                      <a:pt x="35" y="2"/>
                    </a:cubicBezTo>
                    <a:cubicBezTo>
                      <a:pt x="34" y="3"/>
                      <a:pt x="33" y="3"/>
                      <a:pt x="33" y="2"/>
                    </a:cubicBezTo>
                    <a:cubicBezTo>
                      <a:pt x="33" y="2"/>
                      <a:pt x="31" y="2"/>
                      <a:pt x="31" y="2"/>
                    </a:cubicBezTo>
                    <a:cubicBezTo>
                      <a:pt x="30" y="2"/>
                      <a:pt x="30" y="3"/>
                      <a:pt x="28" y="2"/>
                    </a:cubicBezTo>
                    <a:cubicBezTo>
                      <a:pt x="25" y="2"/>
                      <a:pt x="22" y="2"/>
                      <a:pt x="21" y="3"/>
                    </a:cubicBezTo>
                    <a:cubicBezTo>
                      <a:pt x="20" y="3"/>
                      <a:pt x="19" y="3"/>
                      <a:pt x="18" y="3"/>
                    </a:cubicBezTo>
                    <a:cubicBezTo>
                      <a:pt x="18" y="2"/>
                      <a:pt x="17" y="3"/>
                      <a:pt x="16" y="3"/>
                    </a:cubicBezTo>
                    <a:cubicBezTo>
                      <a:pt x="16" y="3"/>
                      <a:pt x="15" y="3"/>
                      <a:pt x="15" y="2"/>
                    </a:cubicBezTo>
                    <a:cubicBezTo>
                      <a:pt x="15" y="0"/>
                      <a:pt x="13" y="2"/>
                      <a:pt x="13" y="2"/>
                    </a:cubicBezTo>
                    <a:cubicBezTo>
                      <a:pt x="12" y="2"/>
                      <a:pt x="12" y="2"/>
                      <a:pt x="11" y="2"/>
                    </a:cubicBezTo>
                    <a:cubicBezTo>
                      <a:pt x="9" y="2"/>
                      <a:pt x="7" y="3"/>
                      <a:pt x="5" y="4"/>
                    </a:cubicBezTo>
                    <a:cubicBezTo>
                      <a:pt x="4" y="4"/>
                      <a:pt x="0" y="6"/>
                      <a:pt x="4" y="9"/>
                    </a:cubicBezTo>
                    <a:cubicBezTo>
                      <a:pt x="8" y="13"/>
                      <a:pt x="22" y="12"/>
                      <a:pt x="25"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12" name="Freeform 209">
                <a:extLst>
                  <a:ext uri="{FF2B5EF4-FFF2-40B4-BE49-F238E27FC236}">
                    <a16:creationId xmlns:a16="http://schemas.microsoft.com/office/drawing/2014/main" id="{2954D365-8EA7-4BA3-A9B4-2F42D940ED69}"/>
                  </a:ext>
                </a:extLst>
              </p:cNvPr>
              <p:cNvSpPr>
                <a:spLocks/>
              </p:cNvSpPr>
              <p:nvPr/>
            </p:nvSpPr>
            <p:spPr bwMode="auto">
              <a:xfrm>
                <a:off x="1514" y="477"/>
                <a:ext cx="243" cy="151"/>
              </a:xfrm>
              <a:custGeom>
                <a:avLst/>
                <a:gdLst>
                  <a:gd name="T0" fmla="*/ 10 w 176"/>
                  <a:gd name="T1" fmla="*/ 57 h 110"/>
                  <a:gd name="T2" fmla="*/ 30 w 176"/>
                  <a:gd name="T3" fmla="*/ 61 h 110"/>
                  <a:gd name="T4" fmla="*/ 22 w 176"/>
                  <a:gd name="T5" fmla="*/ 69 h 110"/>
                  <a:gd name="T6" fmla="*/ 38 w 176"/>
                  <a:gd name="T7" fmla="*/ 68 h 110"/>
                  <a:gd name="T8" fmla="*/ 49 w 176"/>
                  <a:gd name="T9" fmla="*/ 70 h 110"/>
                  <a:gd name="T10" fmla="*/ 56 w 176"/>
                  <a:gd name="T11" fmla="*/ 67 h 110"/>
                  <a:gd name="T12" fmla="*/ 69 w 176"/>
                  <a:gd name="T13" fmla="*/ 70 h 110"/>
                  <a:gd name="T14" fmla="*/ 70 w 176"/>
                  <a:gd name="T15" fmla="*/ 71 h 110"/>
                  <a:gd name="T16" fmla="*/ 92 w 176"/>
                  <a:gd name="T17" fmla="*/ 73 h 110"/>
                  <a:gd name="T18" fmla="*/ 58 w 176"/>
                  <a:gd name="T19" fmla="*/ 77 h 110"/>
                  <a:gd name="T20" fmla="*/ 39 w 176"/>
                  <a:gd name="T21" fmla="*/ 83 h 110"/>
                  <a:gd name="T22" fmla="*/ 53 w 176"/>
                  <a:gd name="T23" fmla="*/ 90 h 110"/>
                  <a:gd name="T24" fmla="*/ 62 w 176"/>
                  <a:gd name="T25" fmla="*/ 94 h 110"/>
                  <a:gd name="T26" fmla="*/ 65 w 176"/>
                  <a:gd name="T27" fmla="*/ 97 h 110"/>
                  <a:gd name="T28" fmla="*/ 67 w 176"/>
                  <a:gd name="T29" fmla="*/ 105 h 110"/>
                  <a:gd name="T30" fmla="*/ 85 w 176"/>
                  <a:gd name="T31" fmla="*/ 109 h 110"/>
                  <a:gd name="T32" fmla="*/ 91 w 176"/>
                  <a:gd name="T33" fmla="*/ 104 h 110"/>
                  <a:gd name="T34" fmla="*/ 108 w 176"/>
                  <a:gd name="T35" fmla="*/ 109 h 110"/>
                  <a:gd name="T36" fmla="*/ 101 w 176"/>
                  <a:gd name="T37" fmla="*/ 97 h 110"/>
                  <a:gd name="T38" fmla="*/ 112 w 176"/>
                  <a:gd name="T39" fmla="*/ 105 h 110"/>
                  <a:gd name="T40" fmla="*/ 122 w 176"/>
                  <a:gd name="T41" fmla="*/ 99 h 110"/>
                  <a:gd name="T42" fmla="*/ 128 w 176"/>
                  <a:gd name="T43" fmla="*/ 92 h 110"/>
                  <a:gd name="T44" fmla="*/ 128 w 176"/>
                  <a:gd name="T45" fmla="*/ 83 h 110"/>
                  <a:gd name="T46" fmla="*/ 135 w 176"/>
                  <a:gd name="T47" fmla="*/ 90 h 110"/>
                  <a:gd name="T48" fmla="*/ 150 w 176"/>
                  <a:gd name="T49" fmla="*/ 83 h 110"/>
                  <a:gd name="T50" fmla="*/ 170 w 176"/>
                  <a:gd name="T51" fmla="*/ 75 h 110"/>
                  <a:gd name="T52" fmla="*/ 168 w 176"/>
                  <a:gd name="T53" fmla="*/ 63 h 110"/>
                  <a:gd name="T54" fmla="*/ 160 w 176"/>
                  <a:gd name="T55" fmla="*/ 62 h 110"/>
                  <a:gd name="T56" fmla="*/ 143 w 176"/>
                  <a:gd name="T57" fmla="*/ 63 h 110"/>
                  <a:gd name="T58" fmla="*/ 147 w 176"/>
                  <a:gd name="T59" fmla="*/ 51 h 110"/>
                  <a:gd name="T60" fmla="*/ 145 w 176"/>
                  <a:gd name="T61" fmla="*/ 50 h 110"/>
                  <a:gd name="T62" fmla="*/ 131 w 176"/>
                  <a:gd name="T63" fmla="*/ 45 h 110"/>
                  <a:gd name="T64" fmla="*/ 122 w 176"/>
                  <a:gd name="T65" fmla="*/ 34 h 110"/>
                  <a:gd name="T66" fmla="*/ 113 w 176"/>
                  <a:gd name="T67" fmla="*/ 39 h 110"/>
                  <a:gd name="T68" fmla="*/ 105 w 176"/>
                  <a:gd name="T69" fmla="*/ 31 h 110"/>
                  <a:gd name="T70" fmla="*/ 90 w 176"/>
                  <a:gd name="T71" fmla="*/ 28 h 110"/>
                  <a:gd name="T72" fmla="*/ 74 w 176"/>
                  <a:gd name="T73" fmla="*/ 10 h 110"/>
                  <a:gd name="T74" fmla="*/ 49 w 176"/>
                  <a:gd name="T75" fmla="*/ 1 h 110"/>
                  <a:gd name="T76" fmla="*/ 37 w 176"/>
                  <a:gd name="T77" fmla="*/ 3 h 110"/>
                  <a:gd name="T78" fmla="*/ 55 w 176"/>
                  <a:gd name="T79" fmla="*/ 9 h 110"/>
                  <a:gd name="T80" fmla="*/ 27 w 176"/>
                  <a:gd name="T81" fmla="*/ 12 h 110"/>
                  <a:gd name="T82" fmla="*/ 22 w 176"/>
                  <a:gd name="T83" fmla="*/ 18 h 110"/>
                  <a:gd name="T84" fmla="*/ 27 w 176"/>
                  <a:gd name="T85" fmla="*/ 22 h 110"/>
                  <a:gd name="T86" fmla="*/ 14 w 176"/>
                  <a:gd name="T87" fmla="*/ 28 h 110"/>
                  <a:gd name="T88" fmla="*/ 15 w 176"/>
                  <a:gd name="T89" fmla="*/ 33 h 110"/>
                  <a:gd name="T90" fmla="*/ 6 w 176"/>
                  <a:gd name="T91" fmla="*/ 39 h 110"/>
                  <a:gd name="T92" fmla="*/ 19 w 176"/>
                  <a:gd name="T93" fmla="*/ 41 h 110"/>
                  <a:gd name="T94" fmla="*/ 36 w 176"/>
                  <a:gd name="T95" fmla="*/ 41 h 110"/>
                  <a:gd name="T96" fmla="*/ 27 w 176"/>
                  <a:gd name="T97" fmla="*/ 47 h 110"/>
                  <a:gd name="T98" fmla="*/ 3 w 176"/>
                  <a:gd name="T99" fmla="*/ 5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6" h="110">
                    <a:moveTo>
                      <a:pt x="3" y="51"/>
                    </a:moveTo>
                    <a:cubicBezTo>
                      <a:pt x="3" y="52"/>
                      <a:pt x="4" y="53"/>
                      <a:pt x="6" y="54"/>
                    </a:cubicBezTo>
                    <a:cubicBezTo>
                      <a:pt x="7" y="54"/>
                      <a:pt x="7" y="55"/>
                      <a:pt x="8" y="55"/>
                    </a:cubicBezTo>
                    <a:cubicBezTo>
                      <a:pt x="9" y="56"/>
                      <a:pt x="9" y="57"/>
                      <a:pt x="10" y="57"/>
                    </a:cubicBezTo>
                    <a:cubicBezTo>
                      <a:pt x="12" y="58"/>
                      <a:pt x="13" y="59"/>
                      <a:pt x="15" y="60"/>
                    </a:cubicBezTo>
                    <a:cubicBezTo>
                      <a:pt x="18" y="60"/>
                      <a:pt x="23" y="60"/>
                      <a:pt x="26" y="59"/>
                    </a:cubicBezTo>
                    <a:cubicBezTo>
                      <a:pt x="28" y="59"/>
                      <a:pt x="30" y="58"/>
                      <a:pt x="34" y="57"/>
                    </a:cubicBezTo>
                    <a:cubicBezTo>
                      <a:pt x="37" y="57"/>
                      <a:pt x="32" y="60"/>
                      <a:pt x="30" y="61"/>
                    </a:cubicBezTo>
                    <a:cubicBezTo>
                      <a:pt x="28" y="62"/>
                      <a:pt x="23" y="62"/>
                      <a:pt x="20" y="62"/>
                    </a:cubicBezTo>
                    <a:cubicBezTo>
                      <a:pt x="17" y="63"/>
                      <a:pt x="16" y="64"/>
                      <a:pt x="16" y="66"/>
                    </a:cubicBezTo>
                    <a:cubicBezTo>
                      <a:pt x="15" y="67"/>
                      <a:pt x="16" y="68"/>
                      <a:pt x="17" y="68"/>
                    </a:cubicBezTo>
                    <a:cubicBezTo>
                      <a:pt x="19" y="69"/>
                      <a:pt x="21" y="69"/>
                      <a:pt x="22" y="69"/>
                    </a:cubicBezTo>
                    <a:cubicBezTo>
                      <a:pt x="23" y="69"/>
                      <a:pt x="22" y="70"/>
                      <a:pt x="23" y="71"/>
                    </a:cubicBezTo>
                    <a:cubicBezTo>
                      <a:pt x="24" y="72"/>
                      <a:pt x="24" y="73"/>
                      <a:pt x="26" y="72"/>
                    </a:cubicBezTo>
                    <a:cubicBezTo>
                      <a:pt x="29" y="72"/>
                      <a:pt x="32" y="70"/>
                      <a:pt x="33" y="69"/>
                    </a:cubicBezTo>
                    <a:cubicBezTo>
                      <a:pt x="35" y="68"/>
                      <a:pt x="36" y="67"/>
                      <a:pt x="38" y="68"/>
                    </a:cubicBezTo>
                    <a:cubicBezTo>
                      <a:pt x="40" y="68"/>
                      <a:pt x="40" y="70"/>
                      <a:pt x="39" y="71"/>
                    </a:cubicBezTo>
                    <a:cubicBezTo>
                      <a:pt x="39" y="73"/>
                      <a:pt x="41" y="73"/>
                      <a:pt x="44" y="73"/>
                    </a:cubicBezTo>
                    <a:cubicBezTo>
                      <a:pt x="46" y="72"/>
                      <a:pt x="46" y="71"/>
                      <a:pt x="47" y="70"/>
                    </a:cubicBezTo>
                    <a:cubicBezTo>
                      <a:pt x="48" y="70"/>
                      <a:pt x="48" y="70"/>
                      <a:pt x="49" y="70"/>
                    </a:cubicBezTo>
                    <a:cubicBezTo>
                      <a:pt x="49" y="70"/>
                      <a:pt x="50" y="70"/>
                      <a:pt x="50" y="69"/>
                    </a:cubicBezTo>
                    <a:cubicBezTo>
                      <a:pt x="51" y="68"/>
                      <a:pt x="52" y="68"/>
                      <a:pt x="52" y="69"/>
                    </a:cubicBezTo>
                    <a:cubicBezTo>
                      <a:pt x="52" y="70"/>
                      <a:pt x="54" y="69"/>
                      <a:pt x="55" y="69"/>
                    </a:cubicBezTo>
                    <a:cubicBezTo>
                      <a:pt x="56" y="69"/>
                      <a:pt x="57" y="68"/>
                      <a:pt x="56" y="67"/>
                    </a:cubicBezTo>
                    <a:cubicBezTo>
                      <a:pt x="55" y="65"/>
                      <a:pt x="57" y="66"/>
                      <a:pt x="58" y="67"/>
                    </a:cubicBezTo>
                    <a:cubicBezTo>
                      <a:pt x="59" y="68"/>
                      <a:pt x="60" y="68"/>
                      <a:pt x="62" y="67"/>
                    </a:cubicBezTo>
                    <a:cubicBezTo>
                      <a:pt x="63" y="66"/>
                      <a:pt x="64" y="67"/>
                      <a:pt x="64" y="68"/>
                    </a:cubicBezTo>
                    <a:cubicBezTo>
                      <a:pt x="64" y="69"/>
                      <a:pt x="63" y="69"/>
                      <a:pt x="69" y="70"/>
                    </a:cubicBezTo>
                    <a:cubicBezTo>
                      <a:pt x="76" y="71"/>
                      <a:pt x="76" y="68"/>
                      <a:pt x="81" y="69"/>
                    </a:cubicBezTo>
                    <a:cubicBezTo>
                      <a:pt x="87" y="69"/>
                      <a:pt x="81" y="70"/>
                      <a:pt x="80" y="70"/>
                    </a:cubicBezTo>
                    <a:cubicBezTo>
                      <a:pt x="80" y="70"/>
                      <a:pt x="76" y="71"/>
                      <a:pt x="75" y="71"/>
                    </a:cubicBezTo>
                    <a:cubicBezTo>
                      <a:pt x="74" y="71"/>
                      <a:pt x="71" y="71"/>
                      <a:pt x="70" y="71"/>
                    </a:cubicBezTo>
                    <a:cubicBezTo>
                      <a:pt x="68" y="71"/>
                      <a:pt x="64" y="72"/>
                      <a:pt x="63" y="72"/>
                    </a:cubicBezTo>
                    <a:cubicBezTo>
                      <a:pt x="62" y="72"/>
                      <a:pt x="63" y="73"/>
                      <a:pt x="63" y="74"/>
                    </a:cubicBezTo>
                    <a:cubicBezTo>
                      <a:pt x="64" y="74"/>
                      <a:pt x="71" y="74"/>
                      <a:pt x="73" y="74"/>
                    </a:cubicBezTo>
                    <a:cubicBezTo>
                      <a:pt x="76" y="74"/>
                      <a:pt x="84" y="74"/>
                      <a:pt x="92" y="73"/>
                    </a:cubicBezTo>
                    <a:cubicBezTo>
                      <a:pt x="100" y="73"/>
                      <a:pt x="92" y="75"/>
                      <a:pt x="91" y="75"/>
                    </a:cubicBezTo>
                    <a:cubicBezTo>
                      <a:pt x="90" y="75"/>
                      <a:pt x="77" y="76"/>
                      <a:pt x="75" y="76"/>
                    </a:cubicBezTo>
                    <a:cubicBezTo>
                      <a:pt x="73" y="76"/>
                      <a:pt x="68" y="77"/>
                      <a:pt x="64" y="76"/>
                    </a:cubicBezTo>
                    <a:cubicBezTo>
                      <a:pt x="61" y="76"/>
                      <a:pt x="59" y="77"/>
                      <a:pt x="58" y="77"/>
                    </a:cubicBezTo>
                    <a:cubicBezTo>
                      <a:pt x="57" y="76"/>
                      <a:pt x="56" y="77"/>
                      <a:pt x="55" y="76"/>
                    </a:cubicBezTo>
                    <a:cubicBezTo>
                      <a:pt x="53" y="76"/>
                      <a:pt x="52" y="76"/>
                      <a:pt x="50" y="78"/>
                    </a:cubicBezTo>
                    <a:cubicBezTo>
                      <a:pt x="49" y="79"/>
                      <a:pt x="41" y="81"/>
                      <a:pt x="39" y="81"/>
                    </a:cubicBezTo>
                    <a:cubicBezTo>
                      <a:pt x="37" y="82"/>
                      <a:pt x="38" y="83"/>
                      <a:pt x="39" y="83"/>
                    </a:cubicBezTo>
                    <a:cubicBezTo>
                      <a:pt x="39" y="84"/>
                      <a:pt x="40" y="84"/>
                      <a:pt x="41" y="85"/>
                    </a:cubicBezTo>
                    <a:cubicBezTo>
                      <a:pt x="42" y="86"/>
                      <a:pt x="45" y="86"/>
                      <a:pt x="47" y="87"/>
                    </a:cubicBezTo>
                    <a:cubicBezTo>
                      <a:pt x="48" y="87"/>
                      <a:pt x="52" y="87"/>
                      <a:pt x="55" y="89"/>
                    </a:cubicBezTo>
                    <a:cubicBezTo>
                      <a:pt x="58" y="90"/>
                      <a:pt x="55" y="90"/>
                      <a:pt x="53" y="90"/>
                    </a:cubicBezTo>
                    <a:cubicBezTo>
                      <a:pt x="52" y="90"/>
                      <a:pt x="48" y="89"/>
                      <a:pt x="46" y="89"/>
                    </a:cubicBezTo>
                    <a:cubicBezTo>
                      <a:pt x="45" y="90"/>
                      <a:pt x="48" y="91"/>
                      <a:pt x="51" y="93"/>
                    </a:cubicBezTo>
                    <a:cubicBezTo>
                      <a:pt x="54" y="96"/>
                      <a:pt x="56" y="95"/>
                      <a:pt x="58" y="94"/>
                    </a:cubicBezTo>
                    <a:cubicBezTo>
                      <a:pt x="59" y="93"/>
                      <a:pt x="60" y="93"/>
                      <a:pt x="62" y="94"/>
                    </a:cubicBezTo>
                    <a:cubicBezTo>
                      <a:pt x="64" y="95"/>
                      <a:pt x="69" y="95"/>
                      <a:pt x="75" y="96"/>
                    </a:cubicBezTo>
                    <a:cubicBezTo>
                      <a:pt x="80" y="96"/>
                      <a:pt x="74" y="97"/>
                      <a:pt x="74" y="97"/>
                    </a:cubicBezTo>
                    <a:cubicBezTo>
                      <a:pt x="73" y="96"/>
                      <a:pt x="71" y="97"/>
                      <a:pt x="70" y="97"/>
                    </a:cubicBezTo>
                    <a:cubicBezTo>
                      <a:pt x="69" y="97"/>
                      <a:pt x="66" y="97"/>
                      <a:pt x="65" y="97"/>
                    </a:cubicBezTo>
                    <a:cubicBezTo>
                      <a:pt x="64" y="98"/>
                      <a:pt x="63" y="98"/>
                      <a:pt x="61" y="98"/>
                    </a:cubicBezTo>
                    <a:cubicBezTo>
                      <a:pt x="59" y="98"/>
                      <a:pt x="58" y="98"/>
                      <a:pt x="57" y="99"/>
                    </a:cubicBezTo>
                    <a:cubicBezTo>
                      <a:pt x="57" y="100"/>
                      <a:pt x="60" y="102"/>
                      <a:pt x="61" y="102"/>
                    </a:cubicBezTo>
                    <a:cubicBezTo>
                      <a:pt x="62" y="103"/>
                      <a:pt x="67" y="105"/>
                      <a:pt x="67" y="105"/>
                    </a:cubicBezTo>
                    <a:cubicBezTo>
                      <a:pt x="68" y="105"/>
                      <a:pt x="69" y="105"/>
                      <a:pt x="70" y="106"/>
                    </a:cubicBezTo>
                    <a:cubicBezTo>
                      <a:pt x="71" y="107"/>
                      <a:pt x="72" y="107"/>
                      <a:pt x="73" y="106"/>
                    </a:cubicBezTo>
                    <a:cubicBezTo>
                      <a:pt x="74" y="106"/>
                      <a:pt x="73" y="106"/>
                      <a:pt x="76" y="107"/>
                    </a:cubicBezTo>
                    <a:cubicBezTo>
                      <a:pt x="79" y="108"/>
                      <a:pt x="82" y="108"/>
                      <a:pt x="85" y="109"/>
                    </a:cubicBezTo>
                    <a:cubicBezTo>
                      <a:pt x="87" y="109"/>
                      <a:pt x="92" y="110"/>
                      <a:pt x="95" y="109"/>
                    </a:cubicBezTo>
                    <a:cubicBezTo>
                      <a:pt x="98" y="109"/>
                      <a:pt x="97" y="108"/>
                      <a:pt x="97" y="108"/>
                    </a:cubicBezTo>
                    <a:cubicBezTo>
                      <a:pt x="97" y="108"/>
                      <a:pt x="96" y="107"/>
                      <a:pt x="96" y="106"/>
                    </a:cubicBezTo>
                    <a:cubicBezTo>
                      <a:pt x="96" y="105"/>
                      <a:pt x="94" y="105"/>
                      <a:pt x="91" y="104"/>
                    </a:cubicBezTo>
                    <a:cubicBezTo>
                      <a:pt x="89" y="103"/>
                      <a:pt x="96" y="103"/>
                      <a:pt x="98" y="103"/>
                    </a:cubicBezTo>
                    <a:cubicBezTo>
                      <a:pt x="99" y="103"/>
                      <a:pt x="101" y="104"/>
                      <a:pt x="101" y="105"/>
                    </a:cubicBezTo>
                    <a:cubicBezTo>
                      <a:pt x="102" y="106"/>
                      <a:pt x="103" y="107"/>
                      <a:pt x="105" y="107"/>
                    </a:cubicBezTo>
                    <a:cubicBezTo>
                      <a:pt x="106" y="107"/>
                      <a:pt x="106" y="108"/>
                      <a:pt x="108" y="109"/>
                    </a:cubicBezTo>
                    <a:cubicBezTo>
                      <a:pt x="110" y="109"/>
                      <a:pt x="109" y="108"/>
                      <a:pt x="109" y="108"/>
                    </a:cubicBezTo>
                    <a:cubicBezTo>
                      <a:pt x="109" y="107"/>
                      <a:pt x="108" y="106"/>
                      <a:pt x="107" y="105"/>
                    </a:cubicBezTo>
                    <a:cubicBezTo>
                      <a:pt x="107" y="104"/>
                      <a:pt x="106" y="103"/>
                      <a:pt x="105" y="102"/>
                    </a:cubicBezTo>
                    <a:cubicBezTo>
                      <a:pt x="104" y="101"/>
                      <a:pt x="102" y="100"/>
                      <a:pt x="101" y="97"/>
                    </a:cubicBezTo>
                    <a:cubicBezTo>
                      <a:pt x="99" y="95"/>
                      <a:pt x="100" y="95"/>
                      <a:pt x="101" y="94"/>
                    </a:cubicBezTo>
                    <a:cubicBezTo>
                      <a:pt x="101" y="94"/>
                      <a:pt x="104" y="96"/>
                      <a:pt x="104" y="97"/>
                    </a:cubicBezTo>
                    <a:cubicBezTo>
                      <a:pt x="105" y="98"/>
                      <a:pt x="109" y="102"/>
                      <a:pt x="109" y="102"/>
                    </a:cubicBezTo>
                    <a:cubicBezTo>
                      <a:pt x="110" y="103"/>
                      <a:pt x="111" y="103"/>
                      <a:pt x="112" y="105"/>
                    </a:cubicBezTo>
                    <a:cubicBezTo>
                      <a:pt x="113" y="107"/>
                      <a:pt x="115" y="108"/>
                      <a:pt x="117" y="108"/>
                    </a:cubicBezTo>
                    <a:cubicBezTo>
                      <a:pt x="119" y="109"/>
                      <a:pt x="119" y="109"/>
                      <a:pt x="120" y="107"/>
                    </a:cubicBezTo>
                    <a:cubicBezTo>
                      <a:pt x="120" y="106"/>
                      <a:pt x="121" y="104"/>
                      <a:pt x="122" y="103"/>
                    </a:cubicBezTo>
                    <a:cubicBezTo>
                      <a:pt x="123" y="102"/>
                      <a:pt x="123" y="101"/>
                      <a:pt x="122" y="99"/>
                    </a:cubicBezTo>
                    <a:cubicBezTo>
                      <a:pt x="120" y="96"/>
                      <a:pt x="119" y="96"/>
                      <a:pt x="120" y="94"/>
                    </a:cubicBezTo>
                    <a:cubicBezTo>
                      <a:pt x="122" y="92"/>
                      <a:pt x="124" y="96"/>
                      <a:pt x="127" y="99"/>
                    </a:cubicBezTo>
                    <a:cubicBezTo>
                      <a:pt x="130" y="101"/>
                      <a:pt x="132" y="97"/>
                      <a:pt x="132" y="95"/>
                    </a:cubicBezTo>
                    <a:cubicBezTo>
                      <a:pt x="133" y="93"/>
                      <a:pt x="130" y="93"/>
                      <a:pt x="128" y="92"/>
                    </a:cubicBezTo>
                    <a:cubicBezTo>
                      <a:pt x="125" y="92"/>
                      <a:pt x="126" y="92"/>
                      <a:pt x="128" y="92"/>
                    </a:cubicBezTo>
                    <a:cubicBezTo>
                      <a:pt x="129" y="91"/>
                      <a:pt x="129" y="91"/>
                      <a:pt x="129" y="90"/>
                    </a:cubicBezTo>
                    <a:cubicBezTo>
                      <a:pt x="128" y="89"/>
                      <a:pt x="128" y="89"/>
                      <a:pt x="128" y="87"/>
                    </a:cubicBezTo>
                    <a:cubicBezTo>
                      <a:pt x="129" y="86"/>
                      <a:pt x="128" y="86"/>
                      <a:pt x="128" y="83"/>
                    </a:cubicBezTo>
                    <a:cubicBezTo>
                      <a:pt x="129" y="81"/>
                      <a:pt x="130" y="81"/>
                      <a:pt x="131" y="81"/>
                    </a:cubicBezTo>
                    <a:cubicBezTo>
                      <a:pt x="131" y="81"/>
                      <a:pt x="132" y="81"/>
                      <a:pt x="134" y="80"/>
                    </a:cubicBezTo>
                    <a:cubicBezTo>
                      <a:pt x="135" y="79"/>
                      <a:pt x="135" y="79"/>
                      <a:pt x="134" y="81"/>
                    </a:cubicBezTo>
                    <a:cubicBezTo>
                      <a:pt x="133" y="83"/>
                      <a:pt x="134" y="86"/>
                      <a:pt x="135" y="90"/>
                    </a:cubicBezTo>
                    <a:cubicBezTo>
                      <a:pt x="136" y="94"/>
                      <a:pt x="138" y="92"/>
                      <a:pt x="139" y="90"/>
                    </a:cubicBezTo>
                    <a:cubicBezTo>
                      <a:pt x="140" y="88"/>
                      <a:pt x="144" y="86"/>
                      <a:pt x="145" y="86"/>
                    </a:cubicBezTo>
                    <a:cubicBezTo>
                      <a:pt x="147" y="85"/>
                      <a:pt x="147" y="84"/>
                      <a:pt x="146" y="82"/>
                    </a:cubicBezTo>
                    <a:cubicBezTo>
                      <a:pt x="146" y="81"/>
                      <a:pt x="148" y="82"/>
                      <a:pt x="150" y="83"/>
                    </a:cubicBezTo>
                    <a:cubicBezTo>
                      <a:pt x="151" y="83"/>
                      <a:pt x="152" y="81"/>
                      <a:pt x="153" y="80"/>
                    </a:cubicBezTo>
                    <a:cubicBezTo>
                      <a:pt x="154" y="79"/>
                      <a:pt x="154" y="79"/>
                      <a:pt x="156" y="78"/>
                    </a:cubicBezTo>
                    <a:cubicBezTo>
                      <a:pt x="157" y="78"/>
                      <a:pt x="164" y="77"/>
                      <a:pt x="165" y="76"/>
                    </a:cubicBezTo>
                    <a:cubicBezTo>
                      <a:pt x="166" y="76"/>
                      <a:pt x="169" y="75"/>
                      <a:pt x="170" y="75"/>
                    </a:cubicBezTo>
                    <a:cubicBezTo>
                      <a:pt x="172" y="75"/>
                      <a:pt x="172" y="74"/>
                      <a:pt x="174" y="73"/>
                    </a:cubicBezTo>
                    <a:cubicBezTo>
                      <a:pt x="176" y="73"/>
                      <a:pt x="175" y="72"/>
                      <a:pt x="175" y="70"/>
                    </a:cubicBezTo>
                    <a:cubicBezTo>
                      <a:pt x="175" y="69"/>
                      <a:pt x="173" y="69"/>
                      <a:pt x="172" y="68"/>
                    </a:cubicBezTo>
                    <a:cubicBezTo>
                      <a:pt x="171" y="67"/>
                      <a:pt x="169" y="64"/>
                      <a:pt x="168" y="63"/>
                    </a:cubicBezTo>
                    <a:cubicBezTo>
                      <a:pt x="167" y="62"/>
                      <a:pt x="165" y="61"/>
                      <a:pt x="164" y="61"/>
                    </a:cubicBezTo>
                    <a:cubicBezTo>
                      <a:pt x="163" y="60"/>
                      <a:pt x="163" y="62"/>
                      <a:pt x="163" y="63"/>
                    </a:cubicBezTo>
                    <a:cubicBezTo>
                      <a:pt x="162" y="65"/>
                      <a:pt x="162" y="66"/>
                      <a:pt x="161" y="67"/>
                    </a:cubicBezTo>
                    <a:cubicBezTo>
                      <a:pt x="160" y="68"/>
                      <a:pt x="160" y="64"/>
                      <a:pt x="160" y="62"/>
                    </a:cubicBezTo>
                    <a:cubicBezTo>
                      <a:pt x="159" y="61"/>
                      <a:pt x="155" y="60"/>
                      <a:pt x="154" y="60"/>
                    </a:cubicBezTo>
                    <a:cubicBezTo>
                      <a:pt x="153" y="59"/>
                      <a:pt x="151" y="61"/>
                      <a:pt x="150" y="62"/>
                    </a:cubicBezTo>
                    <a:cubicBezTo>
                      <a:pt x="149" y="63"/>
                      <a:pt x="149" y="63"/>
                      <a:pt x="149" y="62"/>
                    </a:cubicBezTo>
                    <a:cubicBezTo>
                      <a:pt x="148" y="61"/>
                      <a:pt x="145" y="62"/>
                      <a:pt x="143" y="63"/>
                    </a:cubicBezTo>
                    <a:cubicBezTo>
                      <a:pt x="142" y="64"/>
                      <a:pt x="142" y="65"/>
                      <a:pt x="140" y="64"/>
                    </a:cubicBezTo>
                    <a:cubicBezTo>
                      <a:pt x="138" y="63"/>
                      <a:pt x="141" y="61"/>
                      <a:pt x="143" y="60"/>
                    </a:cubicBezTo>
                    <a:cubicBezTo>
                      <a:pt x="145" y="59"/>
                      <a:pt x="145" y="56"/>
                      <a:pt x="145" y="55"/>
                    </a:cubicBezTo>
                    <a:cubicBezTo>
                      <a:pt x="145" y="54"/>
                      <a:pt x="146" y="53"/>
                      <a:pt x="147" y="51"/>
                    </a:cubicBezTo>
                    <a:cubicBezTo>
                      <a:pt x="147" y="50"/>
                      <a:pt x="146" y="51"/>
                      <a:pt x="145" y="51"/>
                    </a:cubicBezTo>
                    <a:cubicBezTo>
                      <a:pt x="144" y="52"/>
                      <a:pt x="143" y="53"/>
                      <a:pt x="141" y="53"/>
                    </a:cubicBezTo>
                    <a:cubicBezTo>
                      <a:pt x="138" y="54"/>
                      <a:pt x="140" y="52"/>
                      <a:pt x="140" y="52"/>
                    </a:cubicBezTo>
                    <a:cubicBezTo>
                      <a:pt x="141" y="52"/>
                      <a:pt x="143" y="51"/>
                      <a:pt x="145" y="50"/>
                    </a:cubicBezTo>
                    <a:cubicBezTo>
                      <a:pt x="146" y="49"/>
                      <a:pt x="145" y="49"/>
                      <a:pt x="145" y="49"/>
                    </a:cubicBezTo>
                    <a:cubicBezTo>
                      <a:pt x="144" y="48"/>
                      <a:pt x="144" y="49"/>
                      <a:pt x="143" y="47"/>
                    </a:cubicBezTo>
                    <a:cubicBezTo>
                      <a:pt x="142" y="46"/>
                      <a:pt x="139" y="46"/>
                      <a:pt x="137" y="46"/>
                    </a:cubicBezTo>
                    <a:cubicBezTo>
                      <a:pt x="134" y="46"/>
                      <a:pt x="133" y="46"/>
                      <a:pt x="131" y="45"/>
                    </a:cubicBezTo>
                    <a:cubicBezTo>
                      <a:pt x="129" y="44"/>
                      <a:pt x="134" y="43"/>
                      <a:pt x="136" y="42"/>
                    </a:cubicBezTo>
                    <a:cubicBezTo>
                      <a:pt x="139" y="41"/>
                      <a:pt x="137" y="37"/>
                      <a:pt x="137" y="35"/>
                    </a:cubicBezTo>
                    <a:cubicBezTo>
                      <a:pt x="136" y="34"/>
                      <a:pt x="134" y="33"/>
                      <a:pt x="132" y="33"/>
                    </a:cubicBezTo>
                    <a:cubicBezTo>
                      <a:pt x="131" y="33"/>
                      <a:pt x="125" y="32"/>
                      <a:pt x="122" y="34"/>
                    </a:cubicBezTo>
                    <a:cubicBezTo>
                      <a:pt x="119" y="36"/>
                      <a:pt x="126" y="42"/>
                      <a:pt x="126" y="42"/>
                    </a:cubicBezTo>
                    <a:cubicBezTo>
                      <a:pt x="126" y="43"/>
                      <a:pt x="130" y="45"/>
                      <a:pt x="128" y="44"/>
                    </a:cubicBezTo>
                    <a:cubicBezTo>
                      <a:pt x="125" y="44"/>
                      <a:pt x="127" y="44"/>
                      <a:pt x="124" y="44"/>
                    </a:cubicBezTo>
                    <a:cubicBezTo>
                      <a:pt x="120" y="45"/>
                      <a:pt x="114" y="40"/>
                      <a:pt x="113" y="39"/>
                    </a:cubicBezTo>
                    <a:cubicBezTo>
                      <a:pt x="112" y="38"/>
                      <a:pt x="113" y="38"/>
                      <a:pt x="114" y="37"/>
                    </a:cubicBezTo>
                    <a:cubicBezTo>
                      <a:pt x="115" y="36"/>
                      <a:pt x="115" y="34"/>
                      <a:pt x="115" y="33"/>
                    </a:cubicBezTo>
                    <a:cubicBezTo>
                      <a:pt x="115" y="32"/>
                      <a:pt x="113" y="30"/>
                      <a:pt x="111" y="30"/>
                    </a:cubicBezTo>
                    <a:cubicBezTo>
                      <a:pt x="108" y="29"/>
                      <a:pt x="107" y="30"/>
                      <a:pt x="105" y="31"/>
                    </a:cubicBezTo>
                    <a:cubicBezTo>
                      <a:pt x="104" y="32"/>
                      <a:pt x="103" y="31"/>
                      <a:pt x="103" y="30"/>
                    </a:cubicBezTo>
                    <a:cubicBezTo>
                      <a:pt x="102" y="30"/>
                      <a:pt x="99" y="29"/>
                      <a:pt x="98" y="29"/>
                    </a:cubicBezTo>
                    <a:cubicBezTo>
                      <a:pt x="97" y="29"/>
                      <a:pt x="92" y="29"/>
                      <a:pt x="91" y="29"/>
                    </a:cubicBezTo>
                    <a:cubicBezTo>
                      <a:pt x="90" y="29"/>
                      <a:pt x="90" y="28"/>
                      <a:pt x="90" y="28"/>
                    </a:cubicBezTo>
                    <a:cubicBezTo>
                      <a:pt x="91" y="27"/>
                      <a:pt x="88" y="25"/>
                      <a:pt x="88" y="24"/>
                    </a:cubicBezTo>
                    <a:cubicBezTo>
                      <a:pt x="87" y="24"/>
                      <a:pt x="84" y="22"/>
                      <a:pt x="84" y="21"/>
                    </a:cubicBezTo>
                    <a:cubicBezTo>
                      <a:pt x="84" y="21"/>
                      <a:pt x="82" y="18"/>
                      <a:pt x="80" y="17"/>
                    </a:cubicBezTo>
                    <a:cubicBezTo>
                      <a:pt x="79" y="16"/>
                      <a:pt x="75" y="11"/>
                      <a:pt x="74" y="10"/>
                    </a:cubicBezTo>
                    <a:cubicBezTo>
                      <a:pt x="73" y="8"/>
                      <a:pt x="70" y="6"/>
                      <a:pt x="69" y="5"/>
                    </a:cubicBezTo>
                    <a:cubicBezTo>
                      <a:pt x="67" y="4"/>
                      <a:pt x="60" y="3"/>
                      <a:pt x="59" y="2"/>
                    </a:cubicBezTo>
                    <a:cubicBezTo>
                      <a:pt x="58" y="2"/>
                      <a:pt x="52" y="1"/>
                      <a:pt x="50" y="0"/>
                    </a:cubicBezTo>
                    <a:cubicBezTo>
                      <a:pt x="48" y="0"/>
                      <a:pt x="49" y="1"/>
                      <a:pt x="49" y="1"/>
                    </a:cubicBezTo>
                    <a:cubicBezTo>
                      <a:pt x="49" y="1"/>
                      <a:pt x="49" y="2"/>
                      <a:pt x="48" y="2"/>
                    </a:cubicBezTo>
                    <a:cubicBezTo>
                      <a:pt x="47" y="2"/>
                      <a:pt x="42" y="1"/>
                      <a:pt x="41" y="1"/>
                    </a:cubicBezTo>
                    <a:cubicBezTo>
                      <a:pt x="39" y="1"/>
                      <a:pt x="39" y="1"/>
                      <a:pt x="38" y="2"/>
                    </a:cubicBezTo>
                    <a:cubicBezTo>
                      <a:pt x="38" y="2"/>
                      <a:pt x="38" y="2"/>
                      <a:pt x="37" y="3"/>
                    </a:cubicBezTo>
                    <a:cubicBezTo>
                      <a:pt x="36" y="4"/>
                      <a:pt x="37" y="5"/>
                      <a:pt x="37" y="5"/>
                    </a:cubicBezTo>
                    <a:cubicBezTo>
                      <a:pt x="41" y="7"/>
                      <a:pt x="45" y="6"/>
                      <a:pt x="49" y="6"/>
                    </a:cubicBezTo>
                    <a:cubicBezTo>
                      <a:pt x="52" y="6"/>
                      <a:pt x="53" y="7"/>
                      <a:pt x="54" y="7"/>
                    </a:cubicBezTo>
                    <a:cubicBezTo>
                      <a:pt x="55" y="8"/>
                      <a:pt x="55" y="8"/>
                      <a:pt x="55" y="9"/>
                    </a:cubicBezTo>
                    <a:cubicBezTo>
                      <a:pt x="54" y="10"/>
                      <a:pt x="55" y="9"/>
                      <a:pt x="54" y="10"/>
                    </a:cubicBezTo>
                    <a:cubicBezTo>
                      <a:pt x="54" y="11"/>
                      <a:pt x="52" y="11"/>
                      <a:pt x="51" y="11"/>
                    </a:cubicBezTo>
                    <a:cubicBezTo>
                      <a:pt x="49" y="11"/>
                      <a:pt x="42" y="10"/>
                      <a:pt x="40" y="10"/>
                    </a:cubicBezTo>
                    <a:cubicBezTo>
                      <a:pt x="39" y="9"/>
                      <a:pt x="28" y="12"/>
                      <a:pt x="27" y="12"/>
                    </a:cubicBezTo>
                    <a:cubicBezTo>
                      <a:pt x="26" y="12"/>
                      <a:pt x="24" y="13"/>
                      <a:pt x="23" y="14"/>
                    </a:cubicBezTo>
                    <a:cubicBezTo>
                      <a:pt x="23" y="15"/>
                      <a:pt x="23" y="15"/>
                      <a:pt x="21" y="16"/>
                    </a:cubicBezTo>
                    <a:cubicBezTo>
                      <a:pt x="18" y="17"/>
                      <a:pt x="19" y="17"/>
                      <a:pt x="23" y="18"/>
                    </a:cubicBezTo>
                    <a:cubicBezTo>
                      <a:pt x="26" y="18"/>
                      <a:pt x="23" y="18"/>
                      <a:pt x="22" y="18"/>
                    </a:cubicBezTo>
                    <a:cubicBezTo>
                      <a:pt x="21" y="19"/>
                      <a:pt x="19" y="19"/>
                      <a:pt x="20" y="20"/>
                    </a:cubicBezTo>
                    <a:cubicBezTo>
                      <a:pt x="20" y="21"/>
                      <a:pt x="25" y="21"/>
                      <a:pt x="27" y="21"/>
                    </a:cubicBezTo>
                    <a:cubicBezTo>
                      <a:pt x="28" y="20"/>
                      <a:pt x="29" y="21"/>
                      <a:pt x="28" y="21"/>
                    </a:cubicBezTo>
                    <a:cubicBezTo>
                      <a:pt x="28" y="21"/>
                      <a:pt x="27" y="22"/>
                      <a:pt x="27" y="22"/>
                    </a:cubicBezTo>
                    <a:cubicBezTo>
                      <a:pt x="28" y="21"/>
                      <a:pt x="29" y="22"/>
                      <a:pt x="30" y="23"/>
                    </a:cubicBezTo>
                    <a:cubicBezTo>
                      <a:pt x="32" y="23"/>
                      <a:pt x="34" y="23"/>
                      <a:pt x="36" y="22"/>
                    </a:cubicBezTo>
                    <a:cubicBezTo>
                      <a:pt x="37" y="22"/>
                      <a:pt x="40" y="23"/>
                      <a:pt x="37" y="24"/>
                    </a:cubicBezTo>
                    <a:cubicBezTo>
                      <a:pt x="34" y="25"/>
                      <a:pt x="15" y="28"/>
                      <a:pt x="14" y="28"/>
                    </a:cubicBezTo>
                    <a:cubicBezTo>
                      <a:pt x="12" y="28"/>
                      <a:pt x="11" y="29"/>
                      <a:pt x="13" y="29"/>
                    </a:cubicBezTo>
                    <a:cubicBezTo>
                      <a:pt x="15" y="30"/>
                      <a:pt x="13" y="30"/>
                      <a:pt x="12" y="31"/>
                    </a:cubicBezTo>
                    <a:cubicBezTo>
                      <a:pt x="11" y="31"/>
                      <a:pt x="11" y="32"/>
                      <a:pt x="14" y="32"/>
                    </a:cubicBezTo>
                    <a:cubicBezTo>
                      <a:pt x="16" y="33"/>
                      <a:pt x="15" y="33"/>
                      <a:pt x="15" y="33"/>
                    </a:cubicBezTo>
                    <a:cubicBezTo>
                      <a:pt x="15" y="33"/>
                      <a:pt x="5" y="36"/>
                      <a:pt x="4" y="36"/>
                    </a:cubicBezTo>
                    <a:cubicBezTo>
                      <a:pt x="2" y="36"/>
                      <a:pt x="3" y="36"/>
                      <a:pt x="4" y="37"/>
                    </a:cubicBezTo>
                    <a:cubicBezTo>
                      <a:pt x="5" y="37"/>
                      <a:pt x="5" y="37"/>
                      <a:pt x="5" y="38"/>
                    </a:cubicBezTo>
                    <a:cubicBezTo>
                      <a:pt x="4" y="39"/>
                      <a:pt x="5" y="39"/>
                      <a:pt x="6" y="39"/>
                    </a:cubicBezTo>
                    <a:cubicBezTo>
                      <a:pt x="7" y="39"/>
                      <a:pt x="10" y="40"/>
                      <a:pt x="12" y="40"/>
                    </a:cubicBezTo>
                    <a:cubicBezTo>
                      <a:pt x="14" y="41"/>
                      <a:pt x="15" y="40"/>
                      <a:pt x="17" y="40"/>
                    </a:cubicBezTo>
                    <a:cubicBezTo>
                      <a:pt x="18" y="39"/>
                      <a:pt x="17" y="40"/>
                      <a:pt x="19" y="40"/>
                    </a:cubicBezTo>
                    <a:cubicBezTo>
                      <a:pt x="21" y="41"/>
                      <a:pt x="20" y="41"/>
                      <a:pt x="19" y="41"/>
                    </a:cubicBezTo>
                    <a:cubicBezTo>
                      <a:pt x="18" y="41"/>
                      <a:pt x="17" y="42"/>
                      <a:pt x="18" y="42"/>
                    </a:cubicBezTo>
                    <a:cubicBezTo>
                      <a:pt x="19" y="43"/>
                      <a:pt x="20" y="43"/>
                      <a:pt x="22" y="43"/>
                    </a:cubicBezTo>
                    <a:cubicBezTo>
                      <a:pt x="23" y="43"/>
                      <a:pt x="27" y="42"/>
                      <a:pt x="31" y="41"/>
                    </a:cubicBezTo>
                    <a:cubicBezTo>
                      <a:pt x="34" y="40"/>
                      <a:pt x="33" y="41"/>
                      <a:pt x="36" y="41"/>
                    </a:cubicBezTo>
                    <a:cubicBezTo>
                      <a:pt x="38" y="42"/>
                      <a:pt x="34" y="43"/>
                      <a:pt x="32" y="44"/>
                    </a:cubicBezTo>
                    <a:cubicBezTo>
                      <a:pt x="30" y="44"/>
                      <a:pt x="29" y="44"/>
                      <a:pt x="33" y="46"/>
                    </a:cubicBezTo>
                    <a:cubicBezTo>
                      <a:pt x="37" y="49"/>
                      <a:pt x="33" y="48"/>
                      <a:pt x="33" y="47"/>
                    </a:cubicBezTo>
                    <a:cubicBezTo>
                      <a:pt x="32" y="47"/>
                      <a:pt x="28" y="47"/>
                      <a:pt x="27" y="47"/>
                    </a:cubicBezTo>
                    <a:cubicBezTo>
                      <a:pt x="26" y="47"/>
                      <a:pt x="18" y="47"/>
                      <a:pt x="16" y="46"/>
                    </a:cubicBezTo>
                    <a:cubicBezTo>
                      <a:pt x="14" y="46"/>
                      <a:pt x="3" y="45"/>
                      <a:pt x="2" y="45"/>
                    </a:cubicBezTo>
                    <a:cubicBezTo>
                      <a:pt x="0" y="45"/>
                      <a:pt x="1" y="46"/>
                      <a:pt x="2" y="47"/>
                    </a:cubicBezTo>
                    <a:cubicBezTo>
                      <a:pt x="3" y="48"/>
                      <a:pt x="3" y="50"/>
                      <a:pt x="3" y="5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13" name="Freeform 210">
                <a:extLst>
                  <a:ext uri="{FF2B5EF4-FFF2-40B4-BE49-F238E27FC236}">
                    <a16:creationId xmlns:a16="http://schemas.microsoft.com/office/drawing/2014/main" id="{85BBB2C3-4203-4EB4-B2C1-AE12F3C5EC46}"/>
                  </a:ext>
                </a:extLst>
              </p:cNvPr>
              <p:cNvSpPr>
                <a:spLocks/>
              </p:cNvSpPr>
              <p:nvPr/>
            </p:nvSpPr>
            <p:spPr bwMode="auto">
              <a:xfrm>
                <a:off x="1390" y="802"/>
                <a:ext cx="136" cy="104"/>
              </a:xfrm>
              <a:custGeom>
                <a:avLst/>
                <a:gdLst>
                  <a:gd name="T0" fmla="*/ 96 w 98"/>
                  <a:gd name="T1" fmla="*/ 44 h 76"/>
                  <a:gd name="T2" fmla="*/ 93 w 98"/>
                  <a:gd name="T3" fmla="*/ 36 h 76"/>
                  <a:gd name="T4" fmla="*/ 86 w 98"/>
                  <a:gd name="T5" fmla="*/ 37 h 76"/>
                  <a:gd name="T6" fmla="*/ 84 w 98"/>
                  <a:gd name="T7" fmla="*/ 34 h 76"/>
                  <a:gd name="T8" fmla="*/ 72 w 98"/>
                  <a:gd name="T9" fmla="*/ 27 h 76"/>
                  <a:gd name="T10" fmla="*/ 64 w 98"/>
                  <a:gd name="T11" fmla="*/ 29 h 76"/>
                  <a:gd name="T12" fmla="*/ 70 w 98"/>
                  <a:gd name="T13" fmla="*/ 24 h 76"/>
                  <a:gd name="T14" fmla="*/ 80 w 98"/>
                  <a:gd name="T15" fmla="*/ 18 h 76"/>
                  <a:gd name="T16" fmla="*/ 82 w 98"/>
                  <a:gd name="T17" fmla="*/ 14 h 76"/>
                  <a:gd name="T18" fmla="*/ 77 w 98"/>
                  <a:gd name="T19" fmla="*/ 13 h 76"/>
                  <a:gd name="T20" fmla="*/ 81 w 98"/>
                  <a:gd name="T21" fmla="*/ 11 h 76"/>
                  <a:gd name="T22" fmla="*/ 84 w 98"/>
                  <a:gd name="T23" fmla="*/ 3 h 76"/>
                  <a:gd name="T24" fmla="*/ 76 w 98"/>
                  <a:gd name="T25" fmla="*/ 1 h 76"/>
                  <a:gd name="T26" fmla="*/ 68 w 98"/>
                  <a:gd name="T27" fmla="*/ 5 h 76"/>
                  <a:gd name="T28" fmla="*/ 58 w 98"/>
                  <a:gd name="T29" fmla="*/ 6 h 76"/>
                  <a:gd name="T30" fmla="*/ 51 w 98"/>
                  <a:gd name="T31" fmla="*/ 5 h 76"/>
                  <a:gd name="T32" fmla="*/ 44 w 98"/>
                  <a:gd name="T33" fmla="*/ 0 h 76"/>
                  <a:gd name="T34" fmla="*/ 39 w 98"/>
                  <a:gd name="T35" fmla="*/ 4 h 76"/>
                  <a:gd name="T36" fmla="*/ 44 w 98"/>
                  <a:gd name="T37" fmla="*/ 3 h 76"/>
                  <a:gd name="T38" fmla="*/ 37 w 98"/>
                  <a:gd name="T39" fmla="*/ 4 h 76"/>
                  <a:gd name="T40" fmla="*/ 29 w 98"/>
                  <a:gd name="T41" fmla="*/ 4 h 76"/>
                  <a:gd name="T42" fmla="*/ 26 w 98"/>
                  <a:gd name="T43" fmla="*/ 7 h 76"/>
                  <a:gd name="T44" fmla="*/ 32 w 98"/>
                  <a:gd name="T45" fmla="*/ 10 h 76"/>
                  <a:gd name="T46" fmla="*/ 34 w 98"/>
                  <a:gd name="T47" fmla="*/ 14 h 76"/>
                  <a:gd name="T48" fmla="*/ 30 w 98"/>
                  <a:gd name="T49" fmla="*/ 11 h 76"/>
                  <a:gd name="T50" fmla="*/ 22 w 98"/>
                  <a:gd name="T51" fmla="*/ 11 h 76"/>
                  <a:gd name="T52" fmla="*/ 26 w 98"/>
                  <a:gd name="T53" fmla="*/ 18 h 76"/>
                  <a:gd name="T54" fmla="*/ 36 w 98"/>
                  <a:gd name="T55" fmla="*/ 17 h 76"/>
                  <a:gd name="T56" fmla="*/ 43 w 98"/>
                  <a:gd name="T57" fmla="*/ 21 h 76"/>
                  <a:gd name="T58" fmla="*/ 39 w 98"/>
                  <a:gd name="T59" fmla="*/ 20 h 76"/>
                  <a:gd name="T60" fmla="*/ 34 w 98"/>
                  <a:gd name="T61" fmla="*/ 23 h 76"/>
                  <a:gd name="T62" fmla="*/ 37 w 98"/>
                  <a:gd name="T63" fmla="*/ 24 h 76"/>
                  <a:gd name="T64" fmla="*/ 41 w 98"/>
                  <a:gd name="T65" fmla="*/ 29 h 76"/>
                  <a:gd name="T66" fmla="*/ 38 w 98"/>
                  <a:gd name="T67" fmla="*/ 30 h 76"/>
                  <a:gd name="T68" fmla="*/ 36 w 98"/>
                  <a:gd name="T69" fmla="*/ 26 h 76"/>
                  <a:gd name="T70" fmla="*/ 37 w 98"/>
                  <a:gd name="T71" fmla="*/ 31 h 76"/>
                  <a:gd name="T72" fmla="*/ 30 w 98"/>
                  <a:gd name="T73" fmla="*/ 34 h 76"/>
                  <a:gd name="T74" fmla="*/ 26 w 98"/>
                  <a:gd name="T75" fmla="*/ 35 h 76"/>
                  <a:gd name="T76" fmla="*/ 9 w 98"/>
                  <a:gd name="T77" fmla="*/ 25 h 76"/>
                  <a:gd name="T78" fmla="*/ 2 w 98"/>
                  <a:gd name="T79" fmla="*/ 32 h 76"/>
                  <a:gd name="T80" fmla="*/ 12 w 98"/>
                  <a:gd name="T81" fmla="*/ 41 h 76"/>
                  <a:gd name="T82" fmla="*/ 18 w 98"/>
                  <a:gd name="T83" fmla="*/ 47 h 76"/>
                  <a:gd name="T84" fmla="*/ 22 w 98"/>
                  <a:gd name="T85" fmla="*/ 47 h 76"/>
                  <a:gd name="T86" fmla="*/ 30 w 98"/>
                  <a:gd name="T87" fmla="*/ 50 h 76"/>
                  <a:gd name="T88" fmla="*/ 42 w 98"/>
                  <a:gd name="T89" fmla="*/ 59 h 76"/>
                  <a:gd name="T90" fmla="*/ 48 w 98"/>
                  <a:gd name="T91" fmla="*/ 65 h 76"/>
                  <a:gd name="T92" fmla="*/ 51 w 98"/>
                  <a:gd name="T93" fmla="*/ 68 h 76"/>
                  <a:gd name="T94" fmla="*/ 56 w 98"/>
                  <a:gd name="T95" fmla="*/ 73 h 76"/>
                  <a:gd name="T96" fmla="*/ 63 w 98"/>
                  <a:gd name="T97" fmla="*/ 74 h 76"/>
                  <a:gd name="T98" fmla="*/ 68 w 98"/>
                  <a:gd name="T99" fmla="*/ 67 h 76"/>
                  <a:gd name="T100" fmla="*/ 68 w 98"/>
                  <a:gd name="T101" fmla="*/ 64 h 76"/>
                  <a:gd name="T102" fmla="*/ 73 w 98"/>
                  <a:gd name="T103" fmla="*/ 65 h 76"/>
                  <a:gd name="T104" fmla="*/ 92 w 98"/>
                  <a:gd name="T105" fmla="*/ 59 h 76"/>
                  <a:gd name="T106" fmla="*/ 93 w 98"/>
                  <a:gd name="T107" fmla="*/ 54 h 76"/>
                  <a:gd name="T108" fmla="*/ 93 w 98"/>
                  <a:gd name="T109" fmla="*/ 50 h 76"/>
                  <a:gd name="T110" fmla="*/ 90 w 98"/>
                  <a:gd name="T111" fmla="*/ 4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 h="76">
                    <a:moveTo>
                      <a:pt x="90" y="46"/>
                    </a:moveTo>
                    <a:cubicBezTo>
                      <a:pt x="91" y="46"/>
                      <a:pt x="94" y="45"/>
                      <a:pt x="96" y="44"/>
                    </a:cubicBezTo>
                    <a:cubicBezTo>
                      <a:pt x="98" y="43"/>
                      <a:pt x="95" y="39"/>
                      <a:pt x="95" y="39"/>
                    </a:cubicBezTo>
                    <a:cubicBezTo>
                      <a:pt x="94" y="38"/>
                      <a:pt x="94" y="37"/>
                      <a:pt x="93" y="36"/>
                    </a:cubicBezTo>
                    <a:cubicBezTo>
                      <a:pt x="92" y="34"/>
                      <a:pt x="92" y="35"/>
                      <a:pt x="91" y="35"/>
                    </a:cubicBezTo>
                    <a:cubicBezTo>
                      <a:pt x="89" y="36"/>
                      <a:pt x="89" y="36"/>
                      <a:pt x="86" y="37"/>
                    </a:cubicBezTo>
                    <a:cubicBezTo>
                      <a:pt x="84" y="39"/>
                      <a:pt x="85" y="37"/>
                      <a:pt x="86" y="36"/>
                    </a:cubicBezTo>
                    <a:cubicBezTo>
                      <a:pt x="86" y="34"/>
                      <a:pt x="85" y="34"/>
                      <a:pt x="84" y="34"/>
                    </a:cubicBezTo>
                    <a:cubicBezTo>
                      <a:pt x="83" y="33"/>
                      <a:pt x="83" y="32"/>
                      <a:pt x="83" y="30"/>
                    </a:cubicBezTo>
                    <a:cubicBezTo>
                      <a:pt x="83" y="27"/>
                      <a:pt x="74" y="26"/>
                      <a:pt x="72" y="27"/>
                    </a:cubicBezTo>
                    <a:cubicBezTo>
                      <a:pt x="69" y="27"/>
                      <a:pt x="67" y="28"/>
                      <a:pt x="66" y="30"/>
                    </a:cubicBezTo>
                    <a:cubicBezTo>
                      <a:pt x="65" y="32"/>
                      <a:pt x="65" y="31"/>
                      <a:pt x="64" y="29"/>
                    </a:cubicBezTo>
                    <a:cubicBezTo>
                      <a:pt x="63" y="27"/>
                      <a:pt x="65" y="27"/>
                      <a:pt x="66" y="26"/>
                    </a:cubicBezTo>
                    <a:cubicBezTo>
                      <a:pt x="67" y="26"/>
                      <a:pt x="69" y="25"/>
                      <a:pt x="70" y="24"/>
                    </a:cubicBezTo>
                    <a:cubicBezTo>
                      <a:pt x="71" y="23"/>
                      <a:pt x="73" y="21"/>
                      <a:pt x="74" y="20"/>
                    </a:cubicBezTo>
                    <a:cubicBezTo>
                      <a:pt x="76" y="19"/>
                      <a:pt x="79" y="18"/>
                      <a:pt x="80" y="18"/>
                    </a:cubicBezTo>
                    <a:cubicBezTo>
                      <a:pt x="82" y="17"/>
                      <a:pt x="83" y="17"/>
                      <a:pt x="84" y="15"/>
                    </a:cubicBezTo>
                    <a:cubicBezTo>
                      <a:pt x="85" y="14"/>
                      <a:pt x="82" y="14"/>
                      <a:pt x="82" y="14"/>
                    </a:cubicBezTo>
                    <a:cubicBezTo>
                      <a:pt x="81" y="14"/>
                      <a:pt x="80" y="13"/>
                      <a:pt x="79" y="14"/>
                    </a:cubicBezTo>
                    <a:cubicBezTo>
                      <a:pt x="77" y="14"/>
                      <a:pt x="78" y="14"/>
                      <a:pt x="77" y="13"/>
                    </a:cubicBezTo>
                    <a:cubicBezTo>
                      <a:pt x="77" y="12"/>
                      <a:pt x="78" y="12"/>
                      <a:pt x="79" y="11"/>
                    </a:cubicBezTo>
                    <a:cubicBezTo>
                      <a:pt x="80" y="10"/>
                      <a:pt x="80" y="11"/>
                      <a:pt x="81" y="11"/>
                    </a:cubicBezTo>
                    <a:cubicBezTo>
                      <a:pt x="83" y="11"/>
                      <a:pt x="85" y="10"/>
                      <a:pt x="87" y="8"/>
                    </a:cubicBezTo>
                    <a:cubicBezTo>
                      <a:pt x="88" y="7"/>
                      <a:pt x="84" y="4"/>
                      <a:pt x="84" y="3"/>
                    </a:cubicBezTo>
                    <a:cubicBezTo>
                      <a:pt x="83" y="3"/>
                      <a:pt x="82" y="3"/>
                      <a:pt x="80" y="3"/>
                    </a:cubicBezTo>
                    <a:cubicBezTo>
                      <a:pt x="78" y="3"/>
                      <a:pt x="78" y="2"/>
                      <a:pt x="76" y="1"/>
                    </a:cubicBezTo>
                    <a:cubicBezTo>
                      <a:pt x="74" y="1"/>
                      <a:pt x="73" y="2"/>
                      <a:pt x="72" y="3"/>
                    </a:cubicBezTo>
                    <a:cubicBezTo>
                      <a:pt x="72" y="4"/>
                      <a:pt x="70" y="4"/>
                      <a:pt x="68" y="5"/>
                    </a:cubicBezTo>
                    <a:cubicBezTo>
                      <a:pt x="66" y="5"/>
                      <a:pt x="63" y="5"/>
                      <a:pt x="61" y="5"/>
                    </a:cubicBezTo>
                    <a:cubicBezTo>
                      <a:pt x="60" y="6"/>
                      <a:pt x="59" y="6"/>
                      <a:pt x="58" y="6"/>
                    </a:cubicBezTo>
                    <a:cubicBezTo>
                      <a:pt x="56" y="6"/>
                      <a:pt x="55" y="6"/>
                      <a:pt x="55" y="7"/>
                    </a:cubicBezTo>
                    <a:cubicBezTo>
                      <a:pt x="54" y="7"/>
                      <a:pt x="53" y="6"/>
                      <a:pt x="51" y="5"/>
                    </a:cubicBezTo>
                    <a:cubicBezTo>
                      <a:pt x="49" y="3"/>
                      <a:pt x="47" y="3"/>
                      <a:pt x="46" y="2"/>
                    </a:cubicBezTo>
                    <a:cubicBezTo>
                      <a:pt x="45" y="2"/>
                      <a:pt x="45" y="1"/>
                      <a:pt x="44" y="0"/>
                    </a:cubicBezTo>
                    <a:cubicBezTo>
                      <a:pt x="43" y="0"/>
                      <a:pt x="41" y="0"/>
                      <a:pt x="39" y="2"/>
                    </a:cubicBezTo>
                    <a:cubicBezTo>
                      <a:pt x="37" y="3"/>
                      <a:pt x="38" y="4"/>
                      <a:pt x="39" y="4"/>
                    </a:cubicBezTo>
                    <a:cubicBezTo>
                      <a:pt x="40" y="4"/>
                      <a:pt x="41" y="3"/>
                      <a:pt x="43" y="2"/>
                    </a:cubicBezTo>
                    <a:cubicBezTo>
                      <a:pt x="45" y="1"/>
                      <a:pt x="44" y="3"/>
                      <a:pt x="44" y="3"/>
                    </a:cubicBezTo>
                    <a:cubicBezTo>
                      <a:pt x="43" y="4"/>
                      <a:pt x="43" y="4"/>
                      <a:pt x="42" y="5"/>
                    </a:cubicBezTo>
                    <a:cubicBezTo>
                      <a:pt x="41" y="6"/>
                      <a:pt x="38" y="4"/>
                      <a:pt x="37" y="4"/>
                    </a:cubicBezTo>
                    <a:cubicBezTo>
                      <a:pt x="35" y="3"/>
                      <a:pt x="33" y="3"/>
                      <a:pt x="32" y="4"/>
                    </a:cubicBezTo>
                    <a:cubicBezTo>
                      <a:pt x="31" y="4"/>
                      <a:pt x="31" y="4"/>
                      <a:pt x="29" y="4"/>
                    </a:cubicBezTo>
                    <a:cubicBezTo>
                      <a:pt x="27" y="3"/>
                      <a:pt x="27" y="4"/>
                      <a:pt x="27" y="4"/>
                    </a:cubicBezTo>
                    <a:cubicBezTo>
                      <a:pt x="27" y="6"/>
                      <a:pt x="26" y="6"/>
                      <a:pt x="26" y="7"/>
                    </a:cubicBezTo>
                    <a:cubicBezTo>
                      <a:pt x="26" y="9"/>
                      <a:pt x="27" y="8"/>
                      <a:pt x="28" y="9"/>
                    </a:cubicBezTo>
                    <a:cubicBezTo>
                      <a:pt x="29" y="9"/>
                      <a:pt x="31" y="10"/>
                      <a:pt x="32" y="10"/>
                    </a:cubicBezTo>
                    <a:cubicBezTo>
                      <a:pt x="33" y="10"/>
                      <a:pt x="33" y="11"/>
                      <a:pt x="33" y="11"/>
                    </a:cubicBezTo>
                    <a:cubicBezTo>
                      <a:pt x="34" y="12"/>
                      <a:pt x="33" y="12"/>
                      <a:pt x="34" y="14"/>
                    </a:cubicBezTo>
                    <a:cubicBezTo>
                      <a:pt x="35" y="15"/>
                      <a:pt x="36" y="16"/>
                      <a:pt x="35" y="15"/>
                    </a:cubicBezTo>
                    <a:cubicBezTo>
                      <a:pt x="33" y="15"/>
                      <a:pt x="31" y="13"/>
                      <a:pt x="30" y="11"/>
                    </a:cubicBezTo>
                    <a:cubicBezTo>
                      <a:pt x="28" y="10"/>
                      <a:pt x="27" y="10"/>
                      <a:pt x="25" y="10"/>
                    </a:cubicBezTo>
                    <a:cubicBezTo>
                      <a:pt x="23" y="10"/>
                      <a:pt x="24" y="11"/>
                      <a:pt x="22" y="11"/>
                    </a:cubicBezTo>
                    <a:cubicBezTo>
                      <a:pt x="21" y="11"/>
                      <a:pt x="20" y="12"/>
                      <a:pt x="20" y="12"/>
                    </a:cubicBezTo>
                    <a:cubicBezTo>
                      <a:pt x="16" y="14"/>
                      <a:pt x="22" y="16"/>
                      <a:pt x="26" y="18"/>
                    </a:cubicBezTo>
                    <a:cubicBezTo>
                      <a:pt x="30" y="20"/>
                      <a:pt x="32" y="19"/>
                      <a:pt x="34" y="19"/>
                    </a:cubicBezTo>
                    <a:cubicBezTo>
                      <a:pt x="37" y="18"/>
                      <a:pt x="36" y="18"/>
                      <a:pt x="36" y="17"/>
                    </a:cubicBezTo>
                    <a:cubicBezTo>
                      <a:pt x="36" y="15"/>
                      <a:pt x="38" y="17"/>
                      <a:pt x="40" y="19"/>
                    </a:cubicBezTo>
                    <a:cubicBezTo>
                      <a:pt x="41" y="20"/>
                      <a:pt x="40" y="20"/>
                      <a:pt x="43" y="21"/>
                    </a:cubicBezTo>
                    <a:cubicBezTo>
                      <a:pt x="45" y="22"/>
                      <a:pt x="45" y="22"/>
                      <a:pt x="44" y="22"/>
                    </a:cubicBezTo>
                    <a:cubicBezTo>
                      <a:pt x="43" y="22"/>
                      <a:pt x="41" y="21"/>
                      <a:pt x="39" y="20"/>
                    </a:cubicBezTo>
                    <a:cubicBezTo>
                      <a:pt x="36" y="19"/>
                      <a:pt x="36" y="20"/>
                      <a:pt x="35" y="21"/>
                    </a:cubicBezTo>
                    <a:cubicBezTo>
                      <a:pt x="35" y="21"/>
                      <a:pt x="35" y="22"/>
                      <a:pt x="34" y="23"/>
                    </a:cubicBezTo>
                    <a:cubicBezTo>
                      <a:pt x="32" y="23"/>
                      <a:pt x="33" y="23"/>
                      <a:pt x="34" y="24"/>
                    </a:cubicBezTo>
                    <a:cubicBezTo>
                      <a:pt x="36" y="25"/>
                      <a:pt x="36" y="24"/>
                      <a:pt x="37" y="24"/>
                    </a:cubicBezTo>
                    <a:cubicBezTo>
                      <a:pt x="38" y="23"/>
                      <a:pt x="40" y="25"/>
                      <a:pt x="40" y="26"/>
                    </a:cubicBezTo>
                    <a:cubicBezTo>
                      <a:pt x="40" y="27"/>
                      <a:pt x="40" y="27"/>
                      <a:pt x="41" y="29"/>
                    </a:cubicBezTo>
                    <a:cubicBezTo>
                      <a:pt x="42" y="30"/>
                      <a:pt x="40" y="31"/>
                      <a:pt x="39" y="31"/>
                    </a:cubicBezTo>
                    <a:cubicBezTo>
                      <a:pt x="39" y="31"/>
                      <a:pt x="38" y="31"/>
                      <a:pt x="38" y="30"/>
                    </a:cubicBezTo>
                    <a:cubicBezTo>
                      <a:pt x="38" y="29"/>
                      <a:pt x="37" y="28"/>
                      <a:pt x="36" y="28"/>
                    </a:cubicBezTo>
                    <a:cubicBezTo>
                      <a:pt x="36" y="27"/>
                      <a:pt x="37" y="26"/>
                      <a:pt x="36" y="26"/>
                    </a:cubicBezTo>
                    <a:cubicBezTo>
                      <a:pt x="35" y="27"/>
                      <a:pt x="36" y="28"/>
                      <a:pt x="36" y="29"/>
                    </a:cubicBezTo>
                    <a:cubicBezTo>
                      <a:pt x="36" y="30"/>
                      <a:pt x="36" y="30"/>
                      <a:pt x="37" y="31"/>
                    </a:cubicBezTo>
                    <a:cubicBezTo>
                      <a:pt x="38" y="32"/>
                      <a:pt x="37" y="33"/>
                      <a:pt x="36" y="34"/>
                    </a:cubicBezTo>
                    <a:cubicBezTo>
                      <a:pt x="35" y="35"/>
                      <a:pt x="31" y="35"/>
                      <a:pt x="30" y="34"/>
                    </a:cubicBezTo>
                    <a:cubicBezTo>
                      <a:pt x="29" y="34"/>
                      <a:pt x="30" y="35"/>
                      <a:pt x="29" y="36"/>
                    </a:cubicBezTo>
                    <a:cubicBezTo>
                      <a:pt x="29" y="36"/>
                      <a:pt x="27" y="36"/>
                      <a:pt x="26" y="35"/>
                    </a:cubicBezTo>
                    <a:cubicBezTo>
                      <a:pt x="25" y="35"/>
                      <a:pt x="17" y="28"/>
                      <a:pt x="15" y="26"/>
                    </a:cubicBezTo>
                    <a:cubicBezTo>
                      <a:pt x="13" y="25"/>
                      <a:pt x="11" y="25"/>
                      <a:pt x="9" y="25"/>
                    </a:cubicBezTo>
                    <a:cubicBezTo>
                      <a:pt x="6" y="26"/>
                      <a:pt x="4" y="28"/>
                      <a:pt x="3" y="29"/>
                    </a:cubicBezTo>
                    <a:cubicBezTo>
                      <a:pt x="3" y="30"/>
                      <a:pt x="4" y="31"/>
                      <a:pt x="2" y="32"/>
                    </a:cubicBezTo>
                    <a:cubicBezTo>
                      <a:pt x="0" y="34"/>
                      <a:pt x="2" y="36"/>
                      <a:pt x="2" y="36"/>
                    </a:cubicBezTo>
                    <a:cubicBezTo>
                      <a:pt x="4" y="39"/>
                      <a:pt x="10" y="41"/>
                      <a:pt x="12" y="41"/>
                    </a:cubicBezTo>
                    <a:cubicBezTo>
                      <a:pt x="13" y="42"/>
                      <a:pt x="14" y="45"/>
                      <a:pt x="14" y="45"/>
                    </a:cubicBezTo>
                    <a:cubicBezTo>
                      <a:pt x="16" y="48"/>
                      <a:pt x="17" y="47"/>
                      <a:pt x="18" y="47"/>
                    </a:cubicBezTo>
                    <a:cubicBezTo>
                      <a:pt x="18" y="46"/>
                      <a:pt x="18" y="46"/>
                      <a:pt x="19" y="48"/>
                    </a:cubicBezTo>
                    <a:cubicBezTo>
                      <a:pt x="20" y="49"/>
                      <a:pt x="21" y="49"/>
                      <a:pt x="22" y="47"/>
                    </a:cubicBezTo>
                    <a:cubicBezTo>
                      <a:pt x="23" y="45"/>
                      <a:pt x="24" y="46"/>
                      <a:pt x="26" y="48"/>
                    </a:cubicBezTo>
                    <a:cubicBezTo>
                      <a:pt x="27" y="49"/>
                      <a:pt x="27" y="50"/>
                      <a:pt x="30" y="50"/>
                    </a:cubicBezTo>
                    <a:cubicBezTo>
                      <a:pt x="33" y="50"/>
                      <a:pt x="34" y="52"/>
                      <a:pt x="36" y="54"/>
                    </a:cubicBezTo>
                    <a:cubicBezTo>
                      <a:pt x="38" y="56"/>
                      <a:pt x="41" y="59"/>
                      <a:pt x="42" y="59"/>
                    </a:cubicBezTo>
                    <a:cubicBezTo>
                      <a:pt x="43" y="59"/>
                      <a:pt x="44" y="60"/>
                      <a:pt x="45" y="60"/>
                    </a:cubicBezTo>
                    <a:cubicBezTo>
                      <a:pt x="46" y="61"/>
                      <a:pt x="48" y="63"/>
                      <a:pt x="48" y="65"/>
                    </a:cubicBezTo>
                    <a:cubicBezTo>
                      <a:pt x="48" y="66"/>
                      <a:pt x="49" y="67"/>
                      <a:pt x="50" y="67"/>
                    </a:cubicBezTo>
                    <a:cubicBezTo>
                      <a:pt x="51" y="67"/>
                      <a:pt x="51" y="68"/>
                      <a:pt x="51" y="68"/>
                    </a:cubicBezTo>
                    <a:cubicBezTo>
                      <a:pt x="51" y="68"/>
                      <a:pt x="52" y="70"/>
                      <a:pt x="52" y="72"/>
                    </a:cubicBezTo>
                    <a:cubicBezTo>
                      <a:pt x="53" y="74"/>
                      <a:pt x="55" y="73"/>
                      <a:pt x="56" y="73"/>
                    </a:cubicBezTo>
                    <a:cubicBezTo>
                      <a:pt x="57" y="72"/>
                      <a:pt x="57" y="72"/>
                      <a:pt x="59" y="74"/>
                    </a:cubicBezTo>
                    <a:cubicBezTo>
                      <a:pt x="61" y="76"/>
                      <a:pt x="63" y="74"/>
                      <a:pt x="63" y="74"/>
                    </a:cubicBezTo>
                    <a:cubicBezTo>
                      <a:pt x="63" y="74"/>
                      <a:pt x="69" y="69"/>
                      <a:pt x="70" y="69"/>
                    </a:cubicBezTo>
                    <a:cubicBezTo>
                      <a:pt x="71" y="68"/>
                      <a:pt x="70" y="67"/>
                      <a:pt x="68" y="67"/>
                    </a:cubicBezTo>
                    <a:cubicBezTo>
                      <a:pt x="67" y="66"/>
                      <a:pt x="67" y="65"/>
                      <a:pt x="67" y="64"/>
                    </a:cubicBezTo>
                    <a:cubicBezTo>
                      <a:pt x="67" y="63"/>
                      <a:pt x="68" y="63"/>
                      <a:pt x="68" y="64"/>
                    </a:cubicBezTo>
                    <a:cubicBezTo>
                      <a:pt x="68" y="66"/>
                      <a:pt x="70" y="65"/>
                      <a:pt x="71" y="65"/>
                    </a:cubicBezTo>
                    <a:cubicBezTo>
                      <a:pt x="72" y="65"/>
                      <a:pt x="72" y="65"/>
                      <a:pt x="73" y="65"/>
                    </a:cubicBezTo>
                    <a:cubicBezTo>
                      <a:pt x="74" y="66"/>
                      <a:pt x="76" y="65"/>
                      <a:pt x="78" y="64"/>
                    </a:cubicBezTo>
                    <a:cubicBezTo>
                      <a:pt x="80" y="63"/>
                      <a:pt x="88" y="60"/>
                      <a:pt x="92" y="59"/>
                    </a:cubicBezTo>
                    <a:cubicBezTo>
                      <a:pt x="95" y="57"/>
                      <a:pt x="94" y="57"/>
                      <a:pt x="94" y="56"/>
                    </a:cubicBezTo>
                    <a:cubicBezTo>
                      <a:pt x="94" y="55"/>
                      <a:pt x="94" y="54"/>
                      <a:pt x="93" y="54"/>
                    </a:cubicBezTo>
                    <a:cubicBezTo>
                      <a:pt x="92" y="55"/>
                      <a:pt x="93" y="54"/>
                      <a:pt x="94" y="53"/>
                    </a:cubicBezTo>
                    <a:cubicBezTo>
                      <a:pt x="94" y="52"/>
                      <a:pt x="94" y="51"/>
                      <a:pt x="93" y="50"/>
                    </a:cubicBezTo>
                    <a:cubicBezTo>
                      <a:pt x="93" y="48"/>
                      <a:pt x="94" y="48"/>
                      <a:pt x="91" y="47"/>
                    </a:cubicBezTo>
                    <a:cubicBezTo>
                      <a:pt x="89" y="47"/>
                      <a:pt x="90" y="47"/>
                      <a:pt x="90" y="4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14" name="Freeform 211">
                <a:extLst>
                  <a:ext uri="{FF2B5EF4-FFF2-40B4-BE49-F238E27FC236}">
                    <a16:creationId xmlns:a16="http://schemas.microsoft.com/office/drawing/2014/main" id="{5858E297-0589-42E0-B7C0-57EB6A191055}"/>
                  </a:ext>
                </a:extLst>
              </p:cNvPr>
              <p:cNvSpPr>
                <a:spLocks/>
              </p:cNvSpPr>
              <p:nvPr/>
            </p:nvSpPr>
            <p:spPr bwMode="auto">
              <a:xfrm>
                <a:off x="1282" y="813"/>
                <a:ext cx="9" cy="4"/>
              </a:xfrm>
              <a:custGeom>
                <a:avLst/>
                <a:gdLst>
                  <a:gd name="T0" fmla="*/ 0 w 6"/>
                  <a:gd name="T1" fmla="*/ 3 h 3"/>
                  <a:gd name="T2" fmla="*/ 6 w 6"/>
                  <a:gd name="T3" fmla="*/ 3 h 3"/>
                  <a:gd name="T4" fmla="*/ 0 w 6"/>
                  <a:gd name="T5" fmla="*/ 3 h 3"/>
                </a:gdLst>
                <a:ahLst/>
                <a:cxnLst>
                  <a:cxn ang="0">
                    <a:pos x="T0" y="T1"/>
                  </a:cxn>
                  <a:cxn ang="0">
                    <a:pos x="T2" y="T3"/>
                  </a:cxn>
                  <a:cxn ang="0">
                    <a:pos x="T4" y="T5"/>
                  </a:cxn>
                </a:cxnLst>
                <a:rect l="0" t="0" r="r" b="b"/>
                <a:pathLst>
                  <a:path w="6" h="3">
                    <a:moveTo>
                      <a:pt x="0" y="3"/>
                    </a:moveTo>
                    <a:cubicBezTo>
                      <a:pt x="1" y="3"/>
                      <a:pt x="6" y="3"/>
                      <a:pt x="6" y="3"/>
                    </a:cubicBezTo>
                    <a:cubicBezTo>
                      <a:pt x="2" y="0"/>
                      <a:pt x="0" y="2"/>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15" name="Freeform 212">
                <a:extLst>
                  <a:ext uri="{FF2B5EF4-FFF2-40B4-BE49-F238E27FC236}">
                    <a16:creationId xmlns:a16="http://schemas.microsoft.com/office/drawing/2014/main" id="{08FDF95C-0F58-43D5-923E-C6B311DFCB2E}"/>
                  </a:ext>
                </a:extLst>
              </p:cNvPr>
              <p:cNvSpPr>
                <a:spLocks/>
              </p:cNvSpPr>
              <p:nvPr/>
            </p:nvSpPr>
            <p:spPr bwMode="auto">
              <a:xfrm>
                <a:off x="1303" y="809"/>
                <a:ext cx="54" cy="35"/>
              </a:xfrm>
              <a:custGeom>
                <a:avLst/>
                <a:gdLst>
                  <a:gd name="T0" fmla="*/ 20 w 39"/>
                  <a:gd name="T1" fmla="*/ 1 h 26"/>
                  <a:gd name="T2" fmla="*/ 11 w 39"/>
                  <a:gd name="T3" fmla="*/ 1 h 26"/>
                  <a:gd name="T4" fmla="*/ 5 w 39"/>
                  <a:gd name="T5" fmla="*/ 4 h 26"/>
                  <a:gd name="T6" fmla="*/ 1 w 39"/>
                  <a:gd name="T7" fmla="*/ 8 h 26"/>
                  <a:gd name="T8" fmla="*/ 3 w 39"/>
                  <a:gd name="T9" fmla="*/ 9 h 26"/>
                  <a:gd name="T10" fmla="*/ 11 w 39"/>
                  <a:gd name="T11" fmla="*/ 12 h 26"/>
                  <a:gd name="T12" fmla="*/ 13 w 39"/>
                  <a:gd name="T13" fmla="*/ 14 h 26"/>
                  <a:gd name="T14" fmla="*/ 14 w 39"/>
                  <a:gd name="T15" fmla="*/ 16 h 26"/>
                  <a:gd name="T16" fmla="*/ 16 w 39"/>
                  <a:gd name="T17" fmla="*/ 18 h 26"/>
                  <a:gd name="T18" fmla="*/ 24 w 39"/>
                  <a:gd name="T19" fmla="*/ 25 h 26"/>
                  <a:gd name="T20" fmla="*/ 27 w 39"/>
                  <a:gd name="T21" fmla="*/ 25 h 26"/>
                  <a:gd name="T22" fmla="*/ 30 w 39"/>
                  <a:gd name="T23" fmla="*/ 23 h 26"/>
                  <a:gd name="T24" fmla="*/ 34 w 39"/>
                  <a:gd name="T25" fmla="*/ 18 h 26"/>
                  <a:gd name="T26" fmla="*/ 37 w 39"/>
                  <a:gd name="T27" fmla="*/ 11 h 26"/>
                  <a:gd name="T28" fmla="*/ 38 w 39"/>
                  <a:gd name="T29" fmla="*/ 8 h 26"/>
                  <a:gd name="T30" fmla="*/ 36 w 39"/>
                  <a:gd name="T31" fmla="*/ 5 h 26"/>
                  <a:gd name="T32" fmla="*/ 30 w 39"/>
                  <a:gd name="T33" fmla="*/ 2 h 26"/>
                  <a:gd name="T34" fmla="*/ 20 w 39"/>
                  <a:gd name="T35"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 h="26">
                    <a:moveTo>
                      <a:pt x="20" y="1"/>
                    </a:moveTo>
                    <a:cubicBezTo>
                      <a:pt x="19" y="2"/>
                      <a:pt x="13" y="1"/>
                      <a:pt x="11" y="1"/>
                    </a:cubicBezTo>
                    <a:cubicBezTo>
                      <a:pt x="8" y="1"/>
                      <a:pt x="6" y="3"/>
                      <a:pt x="5" y="4"/>
                    </a:cubicBezTo>
                    <a:cubicBezTo>
                      <a:pt x="4" y="5"/>
                      <a:pt x="2" y="7"/>
                      <a:pt x="1" y="8"/>
                    </a:cubicBezTo>
                    <a:cubicBezTo>
                      <a:pt x="0" y="9"/>
                      <a:pt x="3" y="9"/>
                      <a:pt x="3" y="9"/>
                    </a:cubicBezTo>
                    <a:cubicBezTo>
                      <a:pt x="5" y="9"/>
                      <a:pt x="10" y="12"/>
                      <a:pt x="11" y="12"/>
                    </a:cubicBezTo>
                    <a:cubicBezTo>
                      <a:pt x="11" y="13"/>
                      <a:pt x="13" y="14"/>
                      <a:pt x="13" y="14"/>
                    </a:cubicBezTo>
                    <a:cubicBezTo>
                      <a:pt x="14" y="15"/>
                      <a:pt x="14" y="15"/>
                      <a:pt x="14" y="16"/>
                    </a:cubicBezTo>
                    <a:cubicBezTo>
                      <a:pt x="14" y="17"/>
                      <a:pt x="15" y="17"/>
                      <a:pt x="16" y="18"/>
                    </a:cubicBezTo>
                    <a:cubicBezTo>
                      <a:pt x="17" y="18"/>
                      <a:pt x="24" y="24"/>
                      <a:pt x="24" y="25"/>
                    </a:cubicBezTo>
                    <a:cubicBezTo>
                      <a:pt x="25" y="26"/>
                      <a:pt x="26" y="25"/>
                      <a:pt x="27" y="25"/>
                    </a:cubicBezTo>
                    <a:cubicBezTo>
                      <a:pt x="28" y="24"/>
                      <a:pt x="29" y="23"/>
                      <a:pt x="30" y="23"/>
                    </a:cubicBezTo>
                    <a:cubicBezTo>
                      <a:pt x="30" y="22"/>
                      <a:pt x="32" y="21"/>
                      <a:pt x="34" y="18"/>
                    </a:cubicBezTo>
                    <a:cubicBezTo>
                      <a:pt x="36" y="14"/>
                      <a:pt x="37" y="12"/>
                      <a:pt x="37" y="11"/>
                    </a:cubicBezTo>
                    <a:cubicBezTo>
                      <a:pt x="37" y="10"/>
                      <a:pt x="37" y="10"/>
                      <a:pt x="38" y="8"/>
                    </a:cubicBezTo>
                    <a:cubicBezTo>
                      <a:pt x="39" y="7"/>
                      <a:pt x="37" y="5"/>
                      <a:pt x="36" y="5"/>
                    </a:cubicBezTo>
                    <a:cubicBezTo>
                      <a:pt x="35" y="4"/>
                      <a:pt x="32" y="3"/>
                      <a:pt x="30" y="2"/>
                    </a:cubicBezTo>
                    <a:cubicBezTo>
                      <a:pt x="28" y="0"/>
                      <a:pt x="21" y="1"/>
                      <a:pt x="2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16" name="Freeform 213">
                <a:extLst>
                  <a:ext uri="{FF2B5EF4-FFF2-40B4-BE49-F238E27FC236}">
                    <a16:creationId xmlns:a16="http://schemas.microsoft.com/office/drawing/2014/main" id="{D6519458-BAE4-47E2-86EB-E90E2C712B3D}"/>
                  </a:ext>
                </a:extLst>
              </p:cNvPr>
              <p:cNvSpPr>
                <a:spLocks/>
              </p:cNvSpPr>
              <p:nvPr/>
            </p:nvSpPr>
            <p:spPr bwMode="auto">
              <a:xfrm>
                <a:off x="1433" y="927"/>
                <a:ext cx="11" cy="8"/>
              </a:xfrm>
              <a:custGeom>
                <a:avLst/>
                <a:gdLst>
                  <a:gd name="T0" fmla="*/ 8 w 8"/>
                  <a:gd name="T1" fmla="*/ 5 h 6"/>
                  <a:gd name="T2" fmla="*/ 7 w 8"/>
                  <a:gd name="T3" fmla="*/ 3 h 6"/>
                  <a:gd name="T4" fmla="*/ 3 w 8"/>
                  <a:gd name="T5" fmla="*/ 1 h 6"/>
                  <a:gd name="T6" fmla="*/ 1 w 8"/>
                  <a:gd name="T7" fmla="*/ 1 h 6"/>
                  <a:gd name="T8" fmla="*/ 0 w 8"/>
                  <a:gd name="T9" fmla="*/ 2 h 6"/>
                  <a:gd name="T10" fmla="*/ 6 w 8"/>
                  <a:gd name="T11" fmla="*/ 6 h 6"/>
                  <a:gd name="T12" fmla="*/ 8 w 8"/>
                  <a:gd name="T13" fmla="*/ 5 h 6"/>
                </a:gdLst>
                <a:ahLst/>
                <a:cxnLst>
                  <a:cxn ang="0">
                    <a:pos x="T0" y="T1"/>
                  </a:cxn>
                  <a:cxn ang="0">
                    <a:pos x="T2" y="T3"/>
                  </a:cxn>
                  <a:cxn ang="0">
                    <a:pos x="T4" y="T5"/>
                  </a:cxn>
                  <a:cxn ang="0">
                    <a:pos x="T6" y="T7"/>
                  </a:cxn>
                  <a:cxn ang="0">
                    <a:pos x="T8" y="T9"/>
                  </a:cxn>
                  <a:cxn ang="0">
                    <a:pos x="T10" y="T11"/>
                  </a:cxn>
                  <a:cxn ang="0">
                    <a:pos x="T12" y="T13"/>
                  </a:cxn>
                </a:cxnLst>
                <a:rect l="0" t="0" r="r" b="b"/>
                <a:pathLst>
                  <a:path w="8" h="6">
                    <a:moveTo>
                      <a:pt x="8" y="5"/>
                    </a:moveTo>
                    <a:cubicBezTo>
                      <a:pt x="8" y="4"/>
                      <a:pt x="8" y="4"/>
                      <a:pt x="7" y="3"/>
                    </a:cubicBezTo>
                    <a:cubicBezTo>
                      <a:pt x="6" y="2"/>
                      <a:pt x="5" y="1"/>
                      <a:pt x="3" y="1"/>
                    </a:cubicBezTo>
                    <a:cubicBezTo>
                      <a:pt x="2" y="1"/>
                      <a:pt x="2" y="1"/>
                      <a:pt x="1" y="1"/>
                    </a:cubicBezTo>
                    <a:cubicBezTo>
                      <a:pt x="0" y="0"/>
                      <a:pt x="0" y="2"/>
                      <a:pt x="0" y="2"/>
                    </a:cubicBezTo>
                    <a:cubicBezTo>
                      <a:pt x="1" y="5"/>
                      <a:pt x="5" y="5"/>
                      <a:pt x="6" y="6"/>
                    </a:cubicBezTo>
                    <a:cubicBezTo>
                      <a:pt x="8" y="6"/>
                      <a:pt x="8" y="6"/>
                      <a:pt x="8"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17" name="Freeform 214">
                <a:extLst>
                  <a:ext uri="{FF2B5EF4-FFF2-40B4-BE49-F238E27FC236}">
                    <a16:creationId xmlns:a16="http://schemas.microsoft.com/office/drawing/2014/main" id="{E845FDED-2407-4B28-BC3F-24BB480D077A}"/>
                  </a:ext>
                </a:extLst>
              </p:cNvPr>
              <p:cNvSpPr>
                <a:spLocks/>
              </p:cNvSpPr>
              <p:nvPr/>
            </p:nvSpPr>
            <p:spPr bwMode="auto">
              <a:xfrm>
                <a:off x="1280" y="1042"/>
                <a:ext cx="8" cy="7"/>
              </a:xfrm>
              <a:custGeom>
                <a:avLst/>
                <a:gdLst>
                  <a:gd name="T0" fmla="*/ 3 w 6"/>
                  <a:gd name="T1" fmla="*/ 3 h 5"/>
                  <a:gd name="T2" fmla="*/ 4 w 6"/>
                  <a:gd name="T3" fmla="*/ 3 h 5"/>
                  <a:gd name="T4" fmla="*/ 4 w 6"/>
                  <a:gd name="T5" fmla="*/ 0 h 5"/>
                  <a:gd name="T6" fmla="*/ 3 w 6"/>
                  <a:gd name="T7" fmla="*/ 3 h 5"/>
                </a:gdLst>
                <a:ahLst/>
                <a:cxnLst>
                  <a:cxn ang="0">
                    <a:pos x="T0" y="T1"/>
                  </a:cxn>
                  <a:cxn ang="0">
                    <a:pos x="T2" y="T3"/>
                  </a:cxn>
                  <a:cxn ang="0">
                    <a:pos x="T4" y="T5"/>
                  </a:cxn>
                  <a:cxn ang="0">
                    <a:pos x="T6" y="T7"/>
                  </a:cxn>
                </a:cxnLst>
                <a:rect l="0" t="0" r="r" b="b"/>
                <a:pathLst>
                  <a:path w="6" h="5">
                    <a:moveTo>
                      <a:pt x="3" y="3"/>
                    </a:moveTo>
                    <a:cubicBezTo>
                      <a:pt x="3" y="3"/>
                      <a:pt x="4" y="5"/>
                      <a:pt x="4" y="3"/>
                    </a:cubicBezTo>
                    <a:cubicBezTo>
                      <a:pt x="5" y="1"/>
                      <a:pt x="6" y="0"/>
                      <a:pt x="4" y="0"/>
                    </a:cubicBezTo>
                    <a:cubicBezTo>
                      <a:pt x="3" y="0"/>
                      <a:pt x="0" y="1"/>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18" name="Freeform 215">
                <a:extLst>
                  <a:ext uri="{FF2B5EF4-FFF2-40B4-BE49-F238E27FC236}">
                    <a16:creationId xmlns:a16="http://schemas.microsoft.com/office/drawing/2014/main" id="{872241E4-79BB-4DB7-9449-E432F5A316E6}"/>
                  </a:ext>
                </a:extLst>
              </p:cNvPr>
              <p:cNvSpPr>
                <a:spLocks/>
              </p:cNvSpPr>
              <p:nvPr/>
            </p:nvSpPr>
            <p:spPr bwMode="auto">
              <a:xfrm>
                <a:off x="1281" y="1035"/>
                <a:ext cx="4" cy="7"/>
              </a:xfrm>
              <a:custGeom>
                <a:avLst/>
                <a:gdLst>
                  <a:gd name="T0" fmla="*/ 1 w 3"/>
                  <a:gd name="T1" fmla="*/ 0 h 5"/>
                  <a:gd name="T2" fmla="*/ 0 w 3"/>
                  <a:gd name="T3" fmla="*/ 2 h 5"/>
                  <a:gd name="T4" fmla="*/ 1 w 3"/>
                  <a:gd name="T5" fmla="*/ 5 h 5"/>
                  <a:gd name="T6" fmla="*/ 3 w 3"/>
                  <a:gd name="T7" fmla="*/ 3 h 5"/>
                  <a:gd name="T8" fmla="*/ 1 w 3"/>
                  <a:gd name="T9" fmla="*/ 0 h 5"/>
                </a:gdLst>
                <a:ahLst/>
                <a:cxnLst>
                  <a:cxn ang="0">
                    <a:pos x="T0" y="T1"/>
                  </a:cxn>
                  <a:cxn ang="0">
                    <a:pos x="T2" y="T3"/>
                  </a:cxn>
                  <a:cxn ang="0">
                    <a:pos x="T4" y="T5"/>
                  </a:cxn>
                  <a:cxn ang="0">
                    <a:pos x="T6" y="T7"/>
                  </a:cxn>
                  <a:cxn ang="0">
                    <a:pos x="T8" y="T9"/>
                  </a:cxn>
                </a:cxnLst>
                <a:rect l="0" t="0" r="r" b="b"/>
                <a:pathLst>
                  <a:path w="3" h="5">
                    <a:moveTo>
                      <a:pt x="1" y="0"/>
                    </a:moveTo>
                    <a:cubicBezTo>
                      <a:pt x="1" y="0"/>
                      <a:pt x="0" y="1"/>
                      <a:pt x="0" y="2"/>
                    </a:cubicBezTo>
                    <a:cubicBezTo>
                      <a:pt x="0" y="4"/>
                      <a:pt x="0" y="5"/>
                      <a:pt x="1" y="5"/>
                    </a:cubicBezTo>
                    <a:cubicBezTo>
                      <a:pt x="1" y="5"/>
                      <a:pt x="3" y="5"/>
                      <a:pt x="3" y="3"/>
                    </a:cubicBezTo>
                    <a:cubicBezTo>
                      <a:pt x="2" y="1"/>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19" name="Freeform 216">
                <a:extLst>
                  <a:ext uri="{FF2B5EF4-FFF2-40B4-BE49-F238E27FC236}">
                    <a16:creationId xmlns:a16="http://schemas.microsoft.com/office/drawing/2014/main" id="{59BBC14D-C137-4B2D-8413-3BDCC0BDE787}"/>
                  </a:ext>
                </a:extLst>
              </p:cNvPr>
              <p:cNvSpPr>
                <a:spLocks/>
              </p:cNvSpPr>
              <p:nvPr/>
            </p:nvSpPr>
            <p:spPr bwMode="auto">
              <a:xfrm>
                <a:off x="1343" y="1004"/>
                <a:ext cx="16" cy="7"/>
              </a:xfrm>
              <a:custGeom>
                <a:avLst/>
                <a:gdLst>
                  <a:gd name="T0" fmla="*/ 8 w 11"/>
                  <a:gd name="T1" fmla="*/ 1 h 5"/>
                  <a:gd name="T2" fmla="*/ 2 w 11"/>
                  <a:gd name="T3" fmla="*/ 0 h 5"/>
                  <a:gd name="T4" fmla="*/ 1 w 11"/>
                  <a:gd name="T5" fmla="*/ 1 h 5"/>
                  <a:gd name="T6" fmla="*/ 10 w 11"/>
                  <a:gd name="T7" fmla="*/ 4 h 5"/>
                  <a:gd name="T8" fmla="*/ 8 w 11"/>
                  <a:gd name="T9" fmla="*/ 1 h 5"/>
                </a:gdLst>
                <a:ahLst/>
                <a:cxnLst>
                  <a:cxn ang="0">
                    <a:pos x="T0" y="T1"/>
                  </a:cxn>
                  <a:cxn ang="0">
                    <a:pos x="T2" y="T3"/>
                  </a:cxn>
                  <a:cxn ang="0">
                    <a:pos x="T4" y="T5"/>
                  </a:cxn>
                  <a:cxn ang="0">
                    <a:pos x="T6" y="T7"/>
                  </a:cxn>
                  <a:cxn ang="0">
                    <a:pos x="T8" y="T9"/>
                  </a:cxn>
                </a:cxnLst>
                <a:rect l="0" t="0" r="r" b="b"/>
                <a:pathLst>
                  <a:path w="11" h="5">
                    <a:moveTo>
                      <a:pt x="8" y="1"/>
                    </a:moveTo>
                    <a:cubicBezTo>
                      <a:pt x="6" y="0"/>
                      <a:pt x="4" y="0"/>
                      <a:pt x="2" y="0"/>
                    </a:cubicBezTo>
                    <a:cubicBezTo>
                      <a:pt x="0" y="0"/>
                      <a:pt x="1" y="1"/>
                      <a:pt x="1" y="1"/>
                    </a:cubicBezTo>
                    <a:cubicBezTo>
                      <a:pt x="6" y="5"/>
                      <a:pt x="9" y="5"/>
                      <a:pt x="10" y="4"/>
                    </a:cubicBezTo>
                    <a:cubicBezTo>
                      <a:pt x="11" y="4"/>
                      <a:pt x="10" y="2"/>
                      <a:pt x="8"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20" name="Freeform 217">
                <a:extLst>
                  <a:ext uri="{FF2B5EF4-FFF2-40B4-BE49-F238E27FC236}">
                    <a16:creationId xmlns:a16="http://schemas.microsoft.com/office/drawing/2014/main" id="{3EC77E3F-0227-445F-ACB8-F1B5D44CDDD5}"/>
                  </a:ext>
                </a:extLst>
              </p:cNvPr>
              <p:cNvSpPr>
                <a:spLocks/>
              </p:cNvSpPr>
              <p:nvPr/>
            </p:nvSpPr>
            <p:spPr bwMode="auto">
              <a:xfrm>
                <a:off x="1400" y="994"/>
                <a:ext cx="14" cy="10"/>
              </a:xfrm>
              <a:custGeom>
                <a:avLst/>
                <a:gdLst>
                  <a:gd name="T0" fmla="*/ 4 w 10"/>
                  <a:gd name="T1" fmla="*/ 2 h 7"/>
                  <a:gd name="T2" fmla="*/ 1 w 10"/>
                  <a:gd name="T3" fmla="*/ 4 h 7"/>
                  <a:gd name="T4" fmla="*/ 1 w 10"/>
                  <a:gd name="T5" fmla="*/ 5 h 7"/>
                  <a:gd name="T6" fmla="*/ 5 w 10"/>
                  <a:gd name="T7" fmla="*/ 6 h 7"/>
                  <a:gd name="T8" fmla="*/ 7 w 10"/>
                  <a:gd name="T9" fmla="*/ 7 h 7"/>
                  <a:gd name="T10" fmla="*/ 8 w 10"/>
                  <a:gd name="T11" fmla="*/ 6 h 7"/>
                  <a:gd name="T12" fmla="*/ 10 w 10"/>
                  <a:gd name="T13" fmla="*/ 2 h 7"/>
                  <a:gd name="T14" fmla="*/ 7 w 10"/>
                  <a:gd name="T15" fmla="*/ 1 h 7"/>
                  <a:gd name="T16" fmla="*/ 4 w 10"/>
                  <a:gd name="T17"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7">
                    <a:moveTo>
                      <a:pt x="4" y="2"/>
                    </a:moveTo>
                    <a:cubicBezTo>
                      <a:pt x="4" y="2"/>
                      <a:pt x="3" y="3"/>
                      <a:pt x="1" y="4"/>
                    </a:cubicBezTo>
                    <a:cubicBezTo>
                      <a:pt x="0" y="4"/>
                      <a:pt x="1" y="5"/>
                      <a:pt x="1" y="5"/>
                    </a:cubicBezTo>
                    <a:cubicBezTo>
                      <a:pt x="2" y="5"/>
                      <a:pt x="4" y="6"/>
                      <a:pt x="5" y="6"/>
                    </a:cubicBezTo>
                    <a:cubicBezTo>
                      <a:pt x="5" y="6"/>
                      <a:pt x="6" y="6"/>
                      <a:pt x="7" y="7"/>
                    </a:cubicBezTo>
                    <a:cubicBezTo>
                      <a:pt x="7" y="7"/>
                      <a:pt x="8" y="6"/>
                      <a:pt x="8" y="6"/>
                    </a:cubicBezTo>
                    <a:cubicBezTo>
                      <a:pt x="9" y="5"/>
                      <a:pt x="9" y="3"/>
                      <a:pt x="10" y="2"/>
                    </a:cubicBezTo>
                    <a:cubicBezTo>
                      <a:pt x="10" y="1"/>
                      <a:pt x="8" y="1"/>
                      <a:pt x="7" y="1"/>
                    </a:cubicBezTo>
                    <a:cubicBezTo>
                      <a:pt x="6" y="0"/>
                      <a:pt x="5" y="1"/>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21" name="Freeform 218">
                <a:extLst>
                  <a:ext uri="{FF2B5EF4-FFF2-40B4-BE49-F238E27FC236}">
                    <a16:creationId xmlns:a16="http://schemas.microsoft.com/office/drawing/2014/main" id="{358160DD-6803-4C66-A359-A6B62A84D078}"/>
                  </a:ext>
                </a:extLst>
              </p:cNvPr>
              <p:cNvSpPr>
                <a:spLocks/>
              </p:cNvSpPr>
              <p:nvPr/>
            </p:nvSpPr>
            <p:spPr bwMode="auto">
              <a:xfrm>
                <a:off x="1435" y="987"/>
                <a:ext cx="11" cy="13"/>
              </a:xfrm>
              <a:custGeom>
                <a:avLst/>
                <a:gdLst>
                  <a:gd name="T0" fmla="*/ 6 w 8"/>
                  <a:gd name="T1" fmla="*/ 7 h 9"/>
                  <a:gd name="T2" fmla="*/ 7 w 8"/>
                  <a:gd name="T3" fmla="*/ 3 h 9"/>
                  <a:gd name="T4" fmla="*/ 2 w 8"/>
                  <a:gd name="T5" fmla="*/ 0 h 9"/>
                  <a:gd name="T6" fmla="*/ 0 w 8"/>
                  <a:gd name="T7" fmla="*/ 5 h 9"/>
                  <a:gd name="T8" fmla="*/ 2 w 8"/>
                  <a:gd name="T9" fmla="*/ 7 h 9"/>
                  <a:gd name="T10" fmla="*/ 3 w 8"/>
                  <a:gd name="T11" fmla="*/ 8 h 9"/>
                  <a:gd name="T12" fmla="*/ 6 w 8"/>
                  <a:gd name="T13" fmla="*/ 7 h 9"/>
                </a:gdLst>
                <a:ahLst/>
                <a:cxnLst>
                  <a:cxn ang="0">
                    <a:pos x="T0" y="T1"/>
                  </a:cxn>
                  <a:cxn ang="0">
                    <a:pos x="T2" y="T3"/>
                  </a:cxn>
                  <a:cxn ang="0">
                    <a:pos x="T4" y="T5"/>
                  </a:cxn>
                  <a:cxn ang="0">
                    <a:pos x="T6" y="T7"/>
                  </a:cxn>
                  <a:cxn ang="0">
                    <a:pos x="T8" y="T9"/>
                  </a:cxn>
                  <a:cxn ang="0">
                    <a:pos x="T10" y="T11"/>
                  </a:cxn>
                  <a:cxn ang="0">
                    <a:pos x="T12" y="T13"/>
                  </a:cxn>
                </a:cxnLst>
                <a:rect l="0" t="0" r="r" b="b"/>
                <a:pathLst>
                  <a:path w="8" h="9">
                    <a:moveTo>
                      <a:pt x="6" y="7"/>
                    </a:moveTo>
                    <a:cubicBezTo>
                      <a:pt x="7" y="6"/>
                      <a:pt x="8" y="6"/>
                      <a:pt x="7" y="3"/>
                    </a:cubicBezTo>
                    <a:cubicBezTo>
                      <a:pt x="7" y="1"/>
                      <a:pt x="4" y="0"/>
                      <a:pt x="2" y="0"/>
                    </a:cubicBezTo>
                    <a:cubicBezTo>
                      <a:pt x="1" y="0"/>
                      <a:pt x="0" y="4"/>
                      <a:pt x="0" y="5"/>
                    </a:cubicBezTo>
                    <a:cubicBezTo>
                      <a:pt x="0" y="7"/>
                      <a:pt x="1" y="7"/>
                      <a:pt x="2" y="7"/>
                    </a:cubicBezTo>
                    <a:cubicBezTo>
                      <a:pt x="3" y="7"/>
                      <a:pt x="3" y="8"/>
                      <a:pt x="3" y="8"/>
                    </a:cubicBezTo>
                    <a:cubicBezTo>
                      <a:pt x="3" y="9"/>
                      <a:pt x="5" y="8"/>
                      <a:pt x="6"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22" name="Freeform 219">
                <a:extLst>
                  <a:ext uri="{FF2B5EF4-FFF2-40B4-BE49-F238E27FC236}">
                    <a16:creationId xmlns:a16="http://schemas.microsoft.com/office/drawing/2014/main" id="{B54C3189-EF9A-405F-A8EA-8FEDFF29B144}"/>
                  </a:ext>
                </a:extLst>
              </p:cNvPr>
              <p:cNvSpPr>
                <a:spLocks/>
              </p:cNvSpPr>
              <p:nvPr/>
            </p:nvSpPr>
            <p:spPr bwMode="auto">
              <a:xfrm>
                <a:off x="1443" y="982"/>
                <a:ext cx="5" cy="11"/>
              </a:xfrm>
              <a:custGeom>
                <a:avLst/>
                <a:gdLst>
                  <a:gd name="T0" fmla="*/ 3 w 4"/>
                  <a:gd name="T1" fmla="*/ 6 h 8"/>
                  <a:gd name="T2" fmla="*/ 3 w 4"/>
                  <a:gd name="T3" fmla="*/ 2 h 8"/>
                  <a:gd name="T4" fmla="*/ 1 w 4"/>
                  <a:gd name="T5" fmla="*/ 3 h 8"/>
                  <a:gd name="T6" fmla="*/ 3 w 4"/>
                  <a:gd name="T7" fmla="*/ 6 h 8"/>
                </a:gdLst>
                <a:ahLst/>
                <a:cxnLst>
                  <a:cxn ang="0">
                    <a:pos x="T0" y="T1"/>
                  </a:cxn>
                  <a:cxn ang="0">
                    <a:pos x="T2" y="T3"/>
                  </a:cxn>
                  <a:cxn ang="0">
                    <a:pos x="T4" y="T5"/>
                  </a:cxn>
                  <a:cxn ang="0">
                    <a:pos x="T6" y="T7"/>
                  </a:cxn>
                </a:cxnLst>
                <a:rect l="0" t="0" r="r" b="b"/>
                <a:pathLst>
                  <a:path w="4" h="8">
                    <a:moveTo>
                      <a:pt x="3" y="6"/>
                    </a:moveTo>
                    <a:cubicBezTo>
                      <a:pt x="4" y="8"/>
                      <a:pt x="4" y="4"/>
                      <a:pt x="3" y="2"/>
                    </a:cubicBezTo>
                    <a:cubicBezTo>
                      <a:pt x="2" y="0"/>
                      <a:pt x="1" y="2"/>
                      <a:pt x="1" y="3"/>
                    </a:cubicBezTo>
                    <a:cubicBezTo>
                      <a:pt x="0" y="4"/>
                      <a:pt x="3" y="6"/>
                      <a:pt x="3"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23" name="Freeform 220">
                <a:extLst>
                  <a:ext uri="{FF2B5EF4-FFF2-40B4-BE49-F238E27FC236}">
                    <a16:creationId xmlns:a16="http://schemas.microsoft.com/office/drawing/2014/main" id="{D170A7BD-0941-4773-B1B9-8FE54F359150}"/>
                  </a:ext>
                </a:extLst>
              </p:cNvPr>
              <p:cNvSpPr>
                <a:spLocks/>
              </p:cNvSpPr>
              <p:nvPr/>
            </p:nvSpPr>
            <p:spPr bwMode="auto">
              <a:xfrm>
                <a:off x="1457" y="957"/>
                <a:ext cx="90" cy="52"/>
              </a:xfrm>
              <a:custGeom>
                <a:avLst/>
                <a:gdLst>
                  <a:gd name="T0" fmla="*/ 44 w 65"/>
                  <a:gd name="T1" fmla="*/ 11 h 38"/>
                  <a:gd name="T2" fmla="*/ 26 w 65"/>
                  <a:gd name="T3" fmla="*/ 1 h 38"/>
                  <a:gd name="T4" fmla="*/ 23 w 65"/>
                  <a:gd name="T5" fmla="*/ 0 h 38"/>
                  <a:gd name="T6" fmla="*/ 19 w 65"/>
                  <a:gd name="T7" fmla="*/ 5 h 38"/>
                  <a:gd name="T8" fmla="*/ 16 w 65"/>
                  <a:gd name="T9" fmla="*/ 7 h 38"/>
                  <a:gd name="T10" fmla="*/ 15 w 65"/>
                  <a:gd name="T11" fmla="*/ 10 h 38"/>
                  <a:gd name="T12" fmla="*/ 16 w 65"/>
                  <a:gd name="T13" fmla="*/ 13 h 38"/>
                  <a:gd name="T14" fmla="*/ 16 w 65"/>
                  <a:gd name="T15" fmla="*/ 15 h 38"/>
                  <a:gd name="T16" fmla="*/ 13 w 65"/>
                  <a:gd name="T17" fmla="*/ 17 h 38"/>
                  <a:gd name="T18" fmla="*/ 5 w 65"/>
                  <a:gd name="T19" fmla="*/ 19 h 38"/>
                  <a:gd name="T20" fmla="*/ 1 w 65"/>
                  <a:gd name="T21" fmla="*/ 21 h 38"/>
                  <a:gd name="T22" fmla="*/ 1 w 65"/>
                  <a:gd name="T23" fmla="*/ 23 h 38"/>
                  <a:gd name="T24" fmla="*/ 2 w 65"/>
                  <a:gd name="T25" fmla="*/ 24 h 38"/>
                  <a:gd name="T26" fmla="*/ 3 w 65"/>
                  <a:gd name="T27" fmla="*/ 26 h 38"/>
                  <a:gd name="T28" fmla="*/ 6 w 65"/>
                  <a:gd name="T29" fmla="*/ 27 h 38"/>
                  <a:gd name="T30" fmla="*/ 7 w 65"/>
                  <a:gd name="T31" fmla="*/ 26 h 38"/>
                  <a:gd name="T32" fmla="*/ 9 w 65"/>
                  <a:gd name="T33" fmla="*/ 24 h 38"/>
                  <a:gd name="T34" fmla="*/ 10 w 65"/>
                  <a:gd name="T35" fmla="*/ 26 h 38"/>
                  <a:gd name="T36" fmla="*/ 13 w 65"/>
                  <a:gd name="T37" fmla="*/ 28 h 38"/>
                  <a:gd name="T38" fmla="*/ 15 w 65"/>
                  <a:gd name="T39" fmla="*/ 29 h 38"/>
                  <a:gd name="T40" fmla="*/ 17 w 65"/>
                  <a:gd name="T41" fmla="*/ 28 h 38"/>
                  <a:gd name="T42" fmla="*/ 20 w 65"/>
                  <a:gd name="T43" fmla="*/ 29 h 38"/>
                  <a:gd name="T44" fmla="*/ 23 w 65"/>
                  <a:gd name="T45" fmla="*/ 31 h 38"/>
                  <a:gd name="T46" fmla="*/ 27 w 65"/>
                  <a:gd name="T47" fmla="*/ 32 h 38"/>
                  <a:gd name="T48" fmla="*/ 32 w 65"/>
                  <a:gd name="T49" fmla="*/ 35 h 38"/>
                  <a:gd name="T50" fmla="*/ 35 w 65"/>
                  <a:gd name="T51" fmla="*/ 36 h 38"/>
                  <a:gd name="T52" fmla="*/ 37 w 65"/>
                  <a:gd name="T53" fmla="*/ 34 h 38"/>
                  <a:gd name="T54" fmla="*/ 38 w 65"/>
                  <a:gd name="T55" fmla="*/ 35 h 38"/>
                  <a:gd name="T56" fmla="*/ 44 w 65"/>
                  <a:gd name="T57" fmla="*/ 37 h 38"/>
                  <a:gd name="T58" fmla="*/ 50 w 65"/>
                  <a:gd name="T59" fmla="*/ 35 h 38"/>
                  <a:gd name="T60" fmla="*/ 63 w 65"/>
                  <a:gd name="T61" fmla="*/ 28 h 38"/>
                  <a:gd name="T62" fmla="*/ 64 w 65"/>
                  <a:gd name="T63" fmla="*/ 26 h 38"/>
                  <a:gd name="T64" fmla="*/ 61 w 65"/>
                  <a:gd name="T65" fmla="*/ 27 h 38"/>
                  <a:gd name="T66" fmla="*/ 58 w 65"/>
                  <a:gd name="T67" fmla="*/ 27 h 38"/>
                  <a:gd name="T68" fmla="*/ 57 w 65"/>
                  <a:gd name="T69" fmla="*/ 26 h 38"/>
                  <a:gd name="T70" fmla="*/ 56 w 65"/>
                  <a:gd name="T71" fmla="*/ 25 h 38"/>
                  <a:gd name="T72" fmla="*/ 55 w 65"/>
                  <a:gd name="T73" fmla="*/ 23 h 38"/>
                  <a:gd name="T74" fmla="*/ 54 w 65"/>
                  <a:gd name="T75" fmla="*/ 21 h 38"/>
                  <a:gd name="T76" fmla="*/ 53 w 65"/>
                  <a:gd name="T77" fmla="*/ 18 h 38"/>
                  <a:gd name="T78" fmla="*/ 52 w 65"/>
                  <a:gd name="T79" fmla="*/ 20 h 38"/>
                  <a:gd name="T80" fmla="*/ 51 w 65"/>
                  <a:gd name="T81" fmla="*/ 21 h 38"/>
                  <a:gd name="T82" fmla="*/ 50 w 65"/>
                  <a:gd name="T83" fmla="*/ 19 h 38"/>
                  <a:gd name="T84" fmla="*/ 50 w 65"/>
                  <a:gd name="T85" fmla="*/ 16 h 38"/>
                  <a:gd name="T86" fmla="*/ 44 w 65"/>
                  <a:gd name="T87" fmla="*/ 11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 h="38">
                    <a:moveTo>
                      <a:pt x="44" y="11"/>
                    </a:moveTo>
                    <a:cubicBezTo>
                      <a:pt x="41" y="11"/>
                      <a:pt x="27" y="1"/>
                      <a:pt x="26" y="1"/>
                    </a:cubicBezTo>
                    <a:cubicBezTo>
                      <a:pt x="25" y="0"/>
                      <a:pt x="25" y="0"/>
                      <a:pt x="23" y="0"/>
                    </a:cubicBezTo>
                    <a:cubicBezTo>
                      <a:pt x="22" y="1"/>
                      <a:pt x="20" y="2"/>
                      <a:pt x="19" y="5"/>
                    </a:cubicBezTo>
                    <a:cubicBezTo>
                      <a:pt x="18" y="7"/>
                      <a:pt x="18" y="7"/>
                      <a:pt x="16" y="7"/>
                    </a:cubicBezTo>
                    <a:cubicBezTo>
                      <a:pt x="13" y="8"/>
                      <a:pt x="16" y="10"/>
                      <a:pt x="15" y="10"/>
                    </a:cubicBezTo>
                    <a:cubicBezTo>
                      <a:pt x="14" y="11"/>
                      <a:pt x="14" y="11"/>
                      <a:pt x="16" y="13"/>
                    </a:cubicBezTo>
                    <a:cubicBezTo>
                      <a:pt x="18" y="15"/>
                      <a:pt x="18" y="15"/>
                      <a:pt x="16" y="15"/>
                    </a:cubicBezTo>
                    <a:cubicBezTo>
                      <a:pt x="14" y="15"/>
                      <a:pt x="13" y="16"/>
                      <a:pt x="13" y="17"/>
                    </a:cubicBezTo>
                    <a:cubicBezTo>
                      <a:pt x="12" y="19"/>
                      <a:pt x="7" y="19"/>
                      <a:pt x="5" y="19"/>
                    </a:cubicBezTo>
                    <a:cubicBezTo>
                      <a:pt x="3" y="19"/>
                      <a:pt x="2" y="20"/>
                      <a:pt x="1" y="21"/>
                    </a:cubicBezTo>
                    <a:cubicBezTo>
                      <a:pt x="0" y="23"/>
                      <a:pt x="0" y="23"/>
                      <a:pt x="1" y="23"/>
                    </a:cubicBezTo>
                    <a:cubicBezTo>
                      <a:pt x="1" y="23"/>
                      <a:pt x="2" y="24"/>
                      <a:pt x="2" y="24"/>
                    </a:cubicBezTo>
                    <a:cubicBezTo>
                      <a:pt x="2" y="25"/>
                      <a:pt x="2" y="25"/>
                      <a:pt x="3" y="26"/>
                    </a:cubicBezTo>
                    <a:cubicBezTo>
                      <a:pt x="4" y="27"/>
                      <a:pt x="5" y="26"/>
                      <a:pt x="6" y="27"/>
                    </a:cubicBezTo>
                    <a:cubicBezTo>
                      <a:pt x="7" y="28"/>
                      <a:pt x="7" y="27"/>
                      <a:pt x="7" y="26"/>
                    </a:cubicBezTo>
                    <a:cubicBezTo>
                      <a:pt x="7" y="25"/>
                      <a:pt x="8" y="25"/>
                      <a:pt x="9" y="24"/>
                    </a:cubicBezTo>
                    <a:cubicBezTo>
                      <a:pt x="10" y="24"/>
                      <a:pt x="10" y="24"/>
                      <a:pt x="10" y="26"/>
                    </a:cubicBezTo>
                    <a:cubicBezTo>
                      <a:pt x="11" y="27"/>
                      <a:pt x="12" y="28"/>
                      <a:pt x="13" y="28"/>
                    </a:cubicBezTo>
                    <a:cubicBezTo>
                      <a:pt x="14" y="29"/>
                      <a:pt x="13" y="27"/>
                      <a:pt x="15" y="29"/>
                    </a:cubicBezTo>
                    <a:cubicBezTo>
                      <a:pt x="16" y="30"/>
                      <a:pt x="17" y="30"/>
                      <a:pt x="17" y="28"/>
                    </a:cubicBezTo>
                    <a:cubicBezTo>
                      <a:pt x="18" y="25"/>
                      <a:pt x="19" y="27"/>
                      <a:pt x="20" y="29"/>
                    </a:cubicBezTo>
                    <a:cubicBezTo>
                      <a:pt x="20" y="31"/>
                      <a:pt x="22" y="31"/>
                      <a:pt x="23" y="31"/>
                    </a:cubicBezTo>
                    <a:cubicBezTo>
                      <a:pt x="25" y="30"/>
                      <a:pt x="26" y="31"/>
                      <a:pt x="27" y="32"/>
                    </a:cubicBezTo>
                    <a:cubicBezTo>
                      <a:pt x="29" y="33"/>
                      <a:pt x="32" y="35"/>
                      <a:pt x="32" y="35"/>
                    </a:cubicBezTo>
                    <a:cubicBezTo>
                      <a:pt x="33" y="35"/>
                      <a:pt x="34" y="35"/>
                      <a:pt x="35" y="36"/>
                    </a:cubicBezTo>
                    <a:cubicBezTo>
                      <a:pt x="37" y="36"/>
                      <a:pt x="37" y="35"/>
                      <a:pt x="37" y="34"/>
                    </a:cubicBezTo>
                    <a:cubicBezTo>
                      <a:pt x="37" y="33"/>
                      <a:pt x="37" y="34"/>
                      <a:pt x="38" y="35"/>
                    </a:cubicBezTo>
                    <a:cubicBezTo>
                      <a:pt x="39" y="35"/>
                      <a:pt x="41" y="37"/>
                      <a:pt x="44" y="37"/>
                    </a:cubicBezTo>
                    <a:cubicBezTo>
                      <a:pt x="48" y="38"/>
                      <a:pt x="49" y="36"/>
                      <a:pt x="50" y="35"/>
                    </a:cubicBezTo>
                    <a:cubicBezTo>
                      <a:pt x="52" y="34"/>
                      <a:pt x="62" y="29"/>
                      <a:pt x="63" y="28"/>
                    </a:cubicBezTo>
                    <a:cubicBezTo>
                      <a:pt x="65" y="27"/>
                      <a:pt x="65" y="27"/>
                      <a:pt x="64" y="26"/>
                    </a:cubicBezTo>
                    <a:cubicBezTo>
                      <a:pt x="63" y="26"/>
                      <a:pt x="62" y="26"/>
                      <a:pt x="61" y="27"/>
                    </a:cubicBezTo>
                    <a:cubicBezTo>
                      <a:pt x="60" y="28"/>
                      <a:pt x="59" y="27"/>
                      <a:pt x="58" y="27"/>
                    </a:cubicBezTo>
                    <a:cubicBezTo>
                      <a:pt x="58" y="26"/>
                      <a:pt x="58" y="26"/>
                      <a:pt x="57" y="26"/>
                    </a:cubicBezTo>
                    <a:cubicBezTo>
                      <a:pt x="56" y="26"/>
                      <a:pt x="56" y="26"/>
                      <a:pt x="56" y="25"/>
                    </a:cubicBezTo>
                    <a:cubicBezTo>
                      <a:pt x="56" y="24"/>
                      <a:pt x="55" y="24"/>
                      <a:pt x="55" y="23"/>
                    </a:cubicBezTo>
                    <a:cubicBezTo>
                      <a:pt x="55" y="22"/>
                      <a:pt x="55" y="22"/>
                      <a:pt x="54" y="21"/>
                    </a:cubicBezTo>
                    <a:cubicBezTo>
                      <a:pt x="54" y="19"/>
                      <a:pt x="53" y="19"/>
                      <a:pt x="53" y="18"/>
                    </a:cubicBezTo>
                    <a:cubicBezTo>
                      <a:pt x="52" y="16"/>
                      <a:pt x="52" y="18"/>
                      <a:pt x="52" y="20"/>
                    </a:cubicBezTo>
                    <a:cubicBezTo>
                      <a:pt x="52" y="21"/>
                      <a:pt x="51" y="22"/>
                      <a:pt x="51" y="21"/>
                    </a:cubicBezTo>
                    <a:cubicBezTo>
                      <a:pt x="51" y="21"/>
                      <a:pt x="50" y="20"/>
                      <a:pt x="50" y="19"/>
                    </a:cubicBezTo>
                    <a:cubicBezTo>
                      <a:pt x="50" y="18"/>
                      <a:pt x="50" y="17"/>
                      <a:pt x="50" y="16"/>
                    </a:cubicBezTo>
                    <a:cubicBezTo>
                      <a:pt x="50" y="14"/>
                      <a:pt x="46" y="12"/>
                      <a:pt x="44"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24" name="Freeform 221">
                <a:extLst>
                  <a:ext uri="{FF2B5EF4-FFF2-40B4-BE49-F238E27FC236}">
                    <a16:creationId xmlns:a16="http://schemas.microsoft.com/office/drawing/2014/main" id="{6A269DBA-FC07-4C87-94AC-0179D57AFB82}"/>
                  </a:ext>
                </a:extLst>
              </p:cNvPr>
              <p:cNvSpPr>
                <a:spLocks/>
              </p:cNvSpPr>
              <p:nvPr/>
            </p:nvSpPr>
            <p:spPr bwMode="auto">
              <a:xfrm>
                <a:off x="1530" y="965"/>
                <a:ext cx="15" cy="15"/>
              </a:xfrm>
              <a:custGeom>
                <a:avLst/>
                <a:gdLst>
                  <a:gd name="T0" fmla="*/ 10 w 11"/>
                  <a:gd name="T1" fmla="*/ 6 h 11"/>
                  <a:gd name="T2" fmla="*/ 7 w 11"/>
                  <a:gd name="T3" fmla="*/ 1 h 11"/>
                  <a:gd name="T4" fmla="*/ 2 w 11"/>
                  <a:gd name="T5" fmla="*/ 1 h 11"/>
                  <a:gd name="T6" fmla="*/ 0 w 11"/>
                  <a:gd name="T7" fmla="*/ 5 h 11"/>
                  <a:gd name="T8" fmla="*/ 1 w 11"/>
                  <a:gd name="T9" fmla="*/ 6 h 11"/>
                  <a:gd name="T10" fmla="*/ 3 w 11"/>
                  <a:gd name="T11" fmla="*/ 4 h 11"/>
                  <a:gd name="T12" fmla="*/ 4 w 11"/>
                  <a:gd name="T13" fmla="*/ 3 h 11"/>
                  <a:gd name="T14" fmla="*/ 5 w 11"/>
                  <a:gd name="T15" fmla="*/ 5 h 11"/>
                  <a:gd name="T16" fmla="*/ 4 w 11"/>
                  <a:gd name="T17" fmla="*/ 8 h 11"/>
                  <a:gd name="T18" fmla="*/ 10 w 11"/>
                  <a:gd name="T19"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11">
                    <a:moveTo>
                      <a:pt x="10" y="6"/>
                    </a:moveTo>
                    <a:cubicBezTo>
                      <a:pt x="11" y="4"/>
                      <a:pt x="9" y="2"/>
                      <a:pt x="7" y="1"/>
                    </a:cubicBezTo>
                    <a:cubicBezTo>
                      <a:pt x="6" y="0"/>
                      <a:pt x="4" y="1"/>
                      <a:pt x="2" y="1"/>
                    </a:cubicBezTo>
                    <a:cubicBezTo>
                      <a:pt x="1" y="2"/>
                      <a:pt x="1" y="2"/>
                      <a:pt x="0" y="5"/>
                    </a:cubicBezTo>
                    <a:cubicBezTo>
                      <a:pt x="0" y="8"/>
                      <a:pt x="1" y="7"/>
                      <a:pt x="1" y="6"/>
                    </a:cubicBezTo>
                    <a:cubicBezTo>
                      <a:pt x="2" y="6"/>
                      <a:pt x="2" y="5"/>
                      <a:pt x="3" y="4"/>
                    </a:cubicBezTo>
                    <a:cubicBezTo>
                      <a:pt x="3" y="2"/>
                      <a:pt x="4" y="3"/>
                      <a:pt x="4" y="3"/>
                    </a:cubicBezTo>
                    <a:cubicBezTo>
                      <a:pt x="4" y="3"/>
                      <a:pt x="4" y="4"/>
                      <a:pt x="5" y="5"/>
                    </a:cubicBezTo>
                    <a:cubicBezTo>
                      <a:pt x="6" y="6"/>
                      <a:pt x="4" y="5"/>
                      <a:pt x="4" y="8"/>
                    </a:cubicBezTo>
                    <a:cubicBezTo>
                      <a:pt x="4" y="11"/>
                      <a:pt x="8" y="8"/>
                      <a:pt x="10"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25" name="Freeform 222">
                <a:extLst>
                  <a:ext uri="{FF2B5EF4-FFF2-40B4-BE49-F238E27FC236}">
                    <a16:creationId xmlns:a16="http://schemas.microsoft.com/office/drawing/2014/main" id="{082B6782-C4F3-4ACC-92A4-C6ED4D92737B}"/>
                  </a:ext>
                </a:extLst>
              </p:cNvPr>
              <p:cNvSpPr>
                <a:spLocks/>
              </p:cNvSpPr>
              <p:nvPr/>
            </p:nvSpPr>
            <p:spPr bwMode="auto">
              <a:xfrm>
                <a:off x="1507" y="832"/>
                <a:ext cx="13" cy="11"/>
              </a:xfrm>
              <a:custGeom>
                <a:avLst/>
                <a:gdLst>
                  <a:gd name="T0" fmla="*/ 1 w 10"/>
                  <a:gd name="T1" fmla="*/ 3 h 8"/>
                  <a:gd name="T2" fmla="*/ 2 w 10"/>
                  <a:gd name="T3" fmla="*/ 7 h 8"/>
                  <a:gd name="T4" fmla="*/ 7 w 10"/>
                  <a:gd name="T5" fmla="*/ 7 h 8"/>
                  <a:gd name="T6" fmla="*/ 8 w 10"/>
                  <a:gd name="T7" fmla="*/ 3 h 8"/>
                  <a:gd name="T8" fmla="*/ 4 w 10"/>
                  <a:gd name="T9" fmla="*/ 0 h 8"/>
                  <a:gd name="T10" fmla="*/ 1 w 10"/>
                  <a:gd name="T11" fmla="*/ 3 h 8"/>
                </a:gdLst>
                <a:ahLst/>
                <a:cxnLst>
                  <a:cxn ang="0">
                    <a:pos x="T0" y="T1"/>
                  </a:cxn>
                  <a:cxn ang="0">
                    <a:pos x="T2" y="T3"/>
                  </a:cxn>
                  <a:cxn ang="0">
                    <a:pos x="T4" y="T5"/>
                  </a:cxn>
                  <a:cxn ang="0">
                    <a:pos x="T6" y="T7"/>
                  </a:cxn>
                  <a:cxn ang="0">
                    <a:pos x="T8" y="T9"/>
                  </a:cxn>
                  <a:cxn ang="0">
                    <a:pos x="T10" y="T11"/>
                  </a:cxn>
                </a:cxnLst>
                <a:rect l="0" t="0" r="r" b="b"/>
                <a:pathLst>
                  <a:path w="10" h="8">
                    <a:moveTo>
                      <a:pt x="1" y="3"/>
                    </a:moveTo>
                    <a:cubicBezTo>
                      <a:pt x="1" y="6"/>
                      <a:pt x="1" y="6"/>
                      <a:pt x="2" y="7"/>
                    </a:cubicBezTo>
                    <a:cubicBezTo>
                      <a:pt x="4" y="8"/>
                      <a:pt x="6" y="7"/>
                      <a:pt x="7" y="7"/>
                    </a:cubicBezTo>
                    <a:cubicBezTo>
                      <a:pt x="7" y="7"/>
                      <a:pt x="10" y="5"/>
                      <a:pt x="8" y="3"/>
                    </a:cubicBezTo>
                    <a:cubicBezTo>
                      <a:pt x="7" y="1"/>
                      <a:pt x="6" y="0"/>
                      <a:pt x="4" y="0"/>
                    </a:cubicBezTo>
                    <a:cubicBezTo>
                      <a:pt x="3" y="0"/>
                      <a:pt x="0" y="1"/>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26" name="Freeform 223">
                <a:extLst>
                  <a:ext uri="{FF2B5EF4-FFF2-40B4-BE49-F238E27FC236}">
                    <a16:creationId xmlns:a16="http://schemas.microsoft.com/office/drawing/2014/main" id="{D338746F-0ED0-4ED6-BD7C-85F07D6E6B80}"/>
                  </a:ext>
                </a:extLst>
              </p:cNvPr>
              <p:cNvSpPr>
                <a:spLocks/>
              </p:cNvSpPr>
              <p:nvPr/>
            </p:nvSpPr>
            <p:spPr bwMode="auto">
              <a:xfrm>
                <a:off x="1458" y="796"/>
                <a:ext cx="40" cy="13"/>
              </a:xfrm>
              <a:custGeom>
                <a:avLst/>
                <a:gdLst>
                  <a:gd name="T0" fmla="*/ 7 w 29"/>
                  <a:gd name="T1" fmla="*/ 8 h 9"/>
                  <a:gd name="T2" fmla="*/ 10 w 29"/>
                  <a:gd name="T3" fmla="*/ 8 h 9"/>
                  <a:gd name="T4" fmla="*/ 11 w 29"/>
                  <a:gd name="T5" fmla="*/ 7 h 9"/>
                  <a:gd name="T6" fmla="*/ 14 w 29"/>
                  <a:gd name="T7" fmla="*/ 7 h 9"/>
                  <a:gd name="T8" fmla="*/ 21 w 29"/>
                  <a:gd name="T9" fmla="*/ 6 h 9"/>
                  <a:gd name="T10" fmla="*/ 27 w 29"/>
                  <a:gd name="T11" fmla="*/ 1 h 9"/>
                  <a:gd name="T12" fmla="*/ 27 w 29"/>
                  <a:gd name="T13" fmla="*/ 0 h 9"/>
                  <a:gd name="T14" fmla="*/ 2 w 29"/>
                  <a:gd name="T15" fmla="*/ 5 h 9"/>
                  <a:gd name="T16" fmla="*/ 2 w 29"/>
                  <a:gd name="T17" fmla="*/ 6 h 9"/>
                  <a:gd name="T18" fmla="*/ 7 w 29"/>
                  <a:gd name="T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9">
                    <a:moveTo>
                      <a:pt x="7" y="8"/>
                    </a:moveTo>
                    <a:cubicBezTo>
                      <a:pt x="8" y="9"/>
                      <a:pt x="10" y="8"/>
                      <a:pt x="10" y="8"/>
                    </a:cubicBezTo>
                    <a:cubicBezTo>
                      <a:pt x="11" y="8"/>
                      <a:pt x="11" y="8"/>
                      <a:pt x="11" y="7"/>
                    </a:cubicBezTo>
                    <a:cubicBezTo>
                      <a:pt x="11" y="6"/>
                      <a:pt x="13" y="7"/>
                      <a:pt x="14" y="7"/>
                    </a:cubicBezTo>
                    <a:cubicBezTo>
                      <a:pt x="16" y="8"/>
                      <a:pt x="20" y="6"/>
                      <a:pt x="21" y="6"/>
                    </a:cubicBezTo>
                    <a:cubicBezTo>
                      <a:pt x="22" y="5"/>
                      <a:pt x="26" y="3"/>
                      <a:pt x="27" y="1"/>
                    </a:cubicBezTo>
                    <a:cubicBezTo>
                      <a:pt x="29" y="0"/>
                      <a:pt x="27" y="0"/>
                      <a:pt x="27" y="0"/>
                    </a:cubicBezTo>
                    <a:cubicBezTo>
                      <a:pt x="27" y="0"/>
                      <a:pt x="4" y="5"/>
                      <a:pt x="2" y="5"/>
                    </a:cubicBezTo>
                    <a:cubicBezTo>
                      <a:pt x="0" y="6"/>
                      <a:pt x="2" y="6"/>
                      <a:pt x="2" y="6"/>
                    </a:cubicBezTo>
                    <a:cubicBezTo>
                      <a:pt x="3" y="7"/>
                      <a:pt x="5" y="7"/>
                      <a:pt x="7"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27" name="Freeform 224">
                <a:extLst>
                  <a:ext uri="{FF2B5EF4-FFF2-40B4-BE49-F238E27FC236}">
                    <a16:creationId xmlns:a16="http://schemas.microsoft.com/office/drawing/2014/main" id="{84DF6FA4-1492-47E1-956D-5D47918A7637}"/>
                  </a:ext>
                </a:extLst>
              </p:cNvPr>
              <p:cNvSpPr>
                <a:spLocks/>
              </p:cNvSpPr>
              <p:nvPr/>
            </p:nvSpPr>
            <p:spPr bwMode="auto">
              <a:xfrm>
                <a:off x="1536" y="796"/>
                <a:ext cx="114" cy="84"/>
              </a:xfrm>
              <a:custGeom>
                <a:avLst/>
                <a:gdLst>
                  <a:gd name="T0" fmla="*/ 82 w 83"/>
                  <a:gd name="T1" fmla="*/ 6 h 61"/>
                  <a:gd name="T2" fmla="*/ 74 w 83"/>
                  <a:gd name="T3" fmla="*/ 4 h 61"/>
                  <a:gd name="T4" fmla="*/ 55 w 83"/>
                  <a:gd name="T5" fmla="*/ 3 h 61"/>
                  <a:gd name="T6" fmla="*/ 42 w 83"/>
                  <a:gd name="T7" fmla="*/ 0 h 61"/>
                  <a:gd name="T8" fmla="*/ 12 w 83"/>
                  <a:gd name="T9" fmla="*/ 1 h 61"/>
                  <a:gd name="T10" fmla="*/ 9 w 83"/>
                  <a:gd name="T11" fmla="*/ 7 h 61"/>
                  <a:gd name="T12" fmla="*/ 15 w 83"/>
                  <a:gd name="T13" fmla="*/ 12 h 61"/>
                  <a:gd name="T14" fmla="*/ 2 w 83"/>
                  <a:gd name="T15" fmla="*/ 12 h 61"/>
                  <a:gd name="T16" fmla="*/ 1 w 83"/>
                  <a:gd name="T17" fmla="*/ 17 h 61"/>
                  <a:gd name="T18" fmla="*/ 2 w 83"/>
                  <a:gd name="T19" fmla="*/ 23 h 61"/>
                  <a:gd name="T20" fmla="*/ 1 w 83"/>
                  <a:gd name="T21" fmla="*/ 32 h 61"/>
                  <a:gd name="T22" fmla="*/ 2 w 83"/>
                  <a:gd name="T23" fmla="*/ 37 h 61"/>
                  <a:gd name="T24" fmla="*/ 4 w 83"/>
                  <a:gd name="T25" fmla="*/ 40 h 61"/>
                  <a:gd name="T26" fmla="*/ 7 w 83"/>
                  <a:gd name="T27" fmla="*/ 45 h 61"/>
                  <a:gd name="T28" fmla="*/ 8 w 83"/>
                  <a:gd name="T29" fmla="*/ 49 h 61"/>
                  <a:gd name="T30" fmla="*/ 12 w 83"/>
                  <a:gd name="T31" fmla="*/ 55 h 61"/>
                  <a:gd name="T32" fmla="*/ 9 w 83"/>
                  <a:gd name="T33" fmla="*/ 59 h 61"/>
                  <a:gd name="T34" fmla="*/ 20 w 83"/>
                  <a:gd name="T35" fmla="*/ 59 h 61"/>
                  <a:gd name="T36" fmla="*/ 26 w 83"/>
                  <a:gd name="T37" fmla="*/ 59 h 61"/>
                  <a:gd name="T38" fmla="*/ 24 w 83"/>
                  <a:gd name="T39" fmla="*/ 57 h 61"/>
                  <a:gd name="T40" fmla="*/ 27 w 83"/>
                  <a:gd name="T41" fmla="*/ 53 h 61"/>
                  <a:gd name="T42" fmla="*/ 32 w 83"/>
                  <a:gd name="T43" fmla="*/ 49 h 61"/>
                  <a:gd name="T44" fmla="*/ 34 w 83"/>
                  <a:gd name="T45" fmla="*/ 45 h 61"/>
                  <a:gd name="T46" fmla="*/ 29 w 83"/>
                  <a:gd name="T47" fmla="*/ 40 h 61"/>
                  <a:gd name="T48" fmla="*/ 21 w 83"/>
                  <a:gd name="T49" fmla="*/ 39 h 61"/>
                  <a:gd name="T50" fmla="*/ 30 w 83"/>
                  <a:gd name="T51" fmla="*/ 37 h 61"/>
                  <a:gd name="T52" fmla="*/ 39 w 83"/>
                  <a:gd name="T53" fmla="*/ 38 h 61"/>
                  <a:gd name="T54" fmla="*/ 57 w 83"/>
                  <a:gd name="T55" fmla="*/ 36 h 61"/>
                  <a:gd name="T56" fmla="*/ 64 w 83"/>
                  <a:gd name="T57" fmla="*/ 25 h 61"/>
                  <a:gd name="T58" fmla="*/ 67 w 83"/>
                  <a:gd name="T59" fmla="*/ 23 h 61"/>
                  <a:gd name="T60" fmla="*/ 71 w 83"/>
                  <a:gd name="T61" fmla="*/ 17 h 61"/>
                  <a:gd name="T62" fmla="*/ 77 w 83"/>
                  <a:gd name="T63" fmla="*/ 1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3" h="61">
                    <a:moveTo>
                      <a:pt x="77" y="12"/>
                    </a:moveTo>
                    <a:cubicBezTo>
                      <a:pt x="78" y="11"/>
                      <a:pt x="81" y="8"/>
                      <a:pt x="82" y="6"/>
                    </a:cubicBezTo>
                    <a:cubicBezTo>
                      <a:pt x="83" y="5"/>
                      <a:pt x="81" y="5"/>
                      <a:pt x="80" y="5"/>
                    </a:cubicBezTo>
                    <a:cubicBezTo>
                      <a:pt x="79" y="5"/>
                      <a:pt x="76" y="4"/>
                      <a:pt x="74" y="4"/>
                    </a:cubicBezTo>
                    <a:cubicBezTo>
                      <a:pt x="72" y="4"/>
                      <a:pt x="67" y="2"/>
                      <a:pt x="64" y="2"/>
                    </a:cubicBezTo>
                    <a:cubicBezTo>
                      <a:pt x="61" y="2"/>
                      <a:pt x="58" y="2"/>
                      <a:pt x="55" y="3"/>
                    </a:cubicBezTo>
                    <a:cubicBezTo>
                      <a:pt x="53" y="4"/>
                      <a:pt x="53" y="4"/>
                      <a:pt x="52" y="2"/>
                    </a:cubicBezTo>
                    <a:cubicBezTo>
                      <a:pt x="50" y="0"/>
                      <a:pt x="44" y="0"/>
                      <a:pt x="42" y="0"/>
                    </a:cubicBezTo>
                    <a:cubicBezTo>
                      <a:pt x="41" y="0"/>
                      <a:pt x="22" y="0"/>
                      <a:pt x="20" y="0"/>
                    </a:cubicBezTo>
                    <a:cubicBezTo>
                      <a:pt x="19" y="0"/>
                      <a:pt x="14" y="1"/>
                      <a:pt x="12" y="1"/>
                    </a:cubicBezTo>
                    <a:cubicBezTo>
                      <a:pt x="10" y="1"/>
                      <a:pt x="6" y="3"/>
                      <a:pt x="6" y="5"/>
                    </a:cubicBezTo>
                    <a:cubicBezTo>
                      <a:pt x="7" y="7"/>
                      <a:pt x="9" y="7"/>
                      <a:pt x="9" y="7"/>
                    </a:cubicBezTo>
                    <a:cubicBezTo>
                      <a:pt x="10" y="7"/>
                      <a:pt x="11" y="6"/>
                      <a:pt x="10" y="8"/>
                    </a:cubicBezTo>
                    <a:cubicBezTo>
                      <a:pt x="8" y="9"/>
                      <a:pt x="12" y="10"/>
                      <a:pt x="15" y="12"/>
                    </a:cubicBezTo>
                    <a:cubicBezTo>
                      <a:pt x="18" y="14"/>
                      <a:pt x="14" y="13"/>
                      <a:pt x="12" y="12"/>
                    </a:cubicBezTo>
                    <a:cubicBezTo>
                      <a:pt x="10" y="12"/>
                      <a:pt x="3" y="12"/>
                      <a:pt x="2" y="12"/>
                    </a:cubicBezTo>
                    <a:cubicBezTo>
                      <a:pt x="1" y="12"/>
                      <a:pt x="0" y="13"/>
                      <a:pt x="1" y="14"/>
                    </a:cubicBezTo>
                    <a:cubicBezTo>
                      <a:pt x="2" y="14"/>
                      <a:pt x="2" y="15"/>
                      <a:pt x="1" y="17"/>
                    </a:cubicBezTo>
                    <a:cubicBezTo>
                      <a:pt x="1" y="18"/>
                      <a:pt x="2" y="20"/>
                      <a:pt x="2" y="21"/>
                    </a:cubicBezTo>
                    <a:cubicBezTo>
                      <a:pt x="2" y="22"/>
                      <a:pt x="2" y="22"/>
                      <a:pt x="2" y="23"/>
                    </a:cubicBezTo>
                    <a:cubicBezTo>
                      <a:pt x="3" y="25"/>
                      <a:pt x="2" y="27"/>
                      <a:pt x="1" y="29"/>
                    </a:cubicBezTo>
                    <a:cubicBezTo>
                      <a:pt x="0" y="31"/>
                      <a:pt x="1" y="31"/>
                      <a:pt x="1" y="32"/>
                    </a:cubicBezTo>
                    <a:cubicBezTo>
                      <a:pt x="2" y="33"/>
                      <a:pt x="2" y="33"/>
                      <a:pt x="2" y="34"/>
                    </a:cubicBezTo>
                    <a:cubicBezTo>
                      <a:pt x="1" y="35"/>
                      <a:pt x="1" y="36"/>
                      <a:pt x="2" y="37"/>
                    </a:cubicBezTo>
                    <a:cubicBezTo>
                      <a:pt x="2" y="37"/>
                      <a:pt x="2" y="37"/>
                      <a:pt x="2" y="38"/>
                    </a:cubicBezTo>
                    <a:cubicBezTo>
                      <a:pt x="2" y="39"/>
                      <a:pt x="2" y="40"/>
                      <a:pt x="4" y="40"/>
                    </a:cubicBezTo>
                    <a:cubicBezTo>
                      <a:pt x="5" y="40"/>
                      <a:pt x="5" y="41"/>
                      <a:pt x="6" y="42"/>
                    </a:cubicBezTo>
                    <a:cubicBezTo>
                      <a:pt x="6" y="43"/>
                      <a:pt x="6" y="44"/>
                      <a:pt x="7" y="45"/>
                    </a:cubicBezTo>
                    <a:cubicBezTo>
                      <a:pt x="8" y="45"/>
                      <a:pt x="8" y="45"/>
                      <a:pt x="8" y="46"/>
                    </a:cubicBezTo>
                    <a:cubicBezTo>
                      <a:pt x="7" y="47"/>
                      <a:pt x="8" y="48"/>
                      <a:pt x="8" y="49"/>
                    </a:cubicBezTo>
                    <a:cubicBezTo>
                      <a:pt x="9" y="49"/>
                      <a:pt x="8" y="50"/>
                      <a:pt x="8" y="53"/>
                    </a:cubicBezTo>
                    <a:cubicBezTo>
                      <a:pt x="8" y="56"/>
                      <a:pt x="9" y="56"/>
                      <a:pt x="12" y="55"/>
                    </a:cubicBezTo>
                    <a:cubicBezTo>
                      <a:pt x="15" y="55"/>
                      <a:pt x="13" y="56"/>
                      <a:pt x="13" y="56"/>
                    </a:cubicBezTo>
                    <a:cubicBezTo>
                      <a:pt x="12" y="56"/>
                      <a:pt x="13" y="56"/>
                      <a:pt x="9" y="59"/>
                    </a:cubicBezTo>
                    <a:cubicBezTo>
                      <a:pt x="6" y="61"/>
                      <a:pt x="10" y="60"/>
                      <a:pt x="12" y="60"/>
                    </a:cubicBezTo>
                    <a:cubicBezTo>
                      <a:pt x="13" y="59"/>
                      <a:pt x="18" y="59"/>
                      <a:pt x="20" y="59"/>
                    </a:cubicBezTo>
                    <a:cubicBezTo>
                      <a:pt x="22" y="59"/>
                      <a:pt x="23" y="60"/>
                      <a:pt x="24" y="60"/>
                    </a:cubicBezTo>
                    <a:cubicBezTo>
                      <a:pt x="25" y="60"/>
                      <a:pt x="26" y="59"/>
                      <a:pt x="26" y="59"/>
                    </a:cubicBezTo>
                    <a:cubicBezTo>
                      <a:pt x="26" y="58"/>
                      <a:pt x="25" y="58"/>
                      <a:pt x="24" y="58"/>
                    </a:cubicBezTo>
                    <a:cubicBezTo>
                      <a:pt x="23" y="59"/>
                      <a:pt x="24" y="58"/>
                      <a:pt x="24" y="57"/>
                    </a:cubicBezTo>
                    <a:cubicBezTo>
                      <a:pt x="25" y="57"/>
                      <a:pt x="26" y="57"/>
                      <a:pt x="26" y="56"/>
                    </a:cubicBezTo>
                    <a:cubicBezTo>
                      <a:pt x="26" y="55"/>
                      <a:pt x="27" y="53"/>
                      <a:pt x="27" y="53"/>
                    </a:cubicBezTo>
                    <a:cubicBezTo>
                      <a:pt x="28" y="51"/>
                      <a:pt x="29" y="51"/>
                      <a:pt x="30" y="50"/>
                    </a:cubicBezTo>
                    <a:cubicBezTo>
                      <a:pt x="31" y="50"/>
                      <a:pt x="32" y="50"/>
                      <a:pt x="32" y="49"/>
                    </a:cubicBezTo>
                    <a:cubicBezTo>
                      <a:pt x="32" y="49"/>
                      <a:pt x="32" y="48"/>
                      <a:pt x="33" y="48"/>
                    </a:cubicBezTo>
                    <a:cubicBezTo>
                      <a:pt x="34" y="47"/>
                      <a:pt x="34" y="45"/>
                      <a:pt x="34" y="45"/>
                    </a:cubicBezTo>
                    <a:cubicBezTo>
                      <a:pt x="33" y="44"/>
                      <a:pt x="31" y="43"/>
                      <a:pt x="30" y="42"/>
                    </a:cubicBezTo>
                    <a:cubicBezTo>
                      <a:pt x="30" y="42"/>
                      <a:pt x="28" y="42"/>
                      <a:pt x="29" y="40"/>
                    </a:cubicBezTo>
                    <a:cubicBezTo>
                      <a:pt x="29" y="38"/>
                      <a:pt x="28" y="39"/>
                      <a:pt x="26" y="39"/>
                    </a:cubicBezTo>
                    <a:cubicBezTo>
                      <a:pt x="24" y="40"/>
                      <a:pt x="22" y="40"/>
                      <a:pt x="21" y="39"/>
                    </a:cubicBezTo>
                    <a:cubicBezTo>
                      <a:pt x="20" y="39"/>
                      <a:pt x="21" y="38"/>
                      <a:pt x="22" y="38"/>
                    </a:cubicBezTo>
                    <a:cubicBezTo>
                      <a:pt x="23" y="38"/>
                      <a:pt x="28" y="37"/>
                      <a:pt x="30" y="37"/>
                    </a:cubicBezTo>
                    <a:cubicBezTo>
                      <a:pt x="31" y="37"/>
                      <a:pt x="32" y="37"/>
                      <a:pt x="33" y="37"/>
                    </a:cubicBezTo>
                    <a:cubicBezTo>
                      <a:pt x="35" y="36"/>
                      <a:pt x="37" y="38"/>
                      <a:pt x="39" y="38"/>
                    </a:cubicBezTo>
                    <a:cubicBezTo>
                      <a:pt x="40" y="38"/>
                      <a:pt x="45" y="39"/>
                      <a:pt x="49" y="40"/>
                    </a:cubicBezTo>
                    <a:cubicBezTo>
                      <a:pt x="52" y="40"/>
                      <a:pt x="56" y="37"/>
                      <a:pt x="57" y="36"/>
                    </a:cubicBezTo>
                    <a:cubicBezTo>
                      <a:pt x="58" y="35"/>
                      <a:pt x="63" y="29"/>
                      <a:pt x="63" y="29"/>
                    </a:cubicBezTo>
                    <a:cubicBezTo>
                      <a:pt x="63" y="29"/>
                      <a:pt x="67" y="26"/>
                      <a:pt x="64" y="25"/>
                    </a:cubicBezTo>
                    <a:cubicBezTo>
                      <a:pt x="61" y="24"/>
                      <a:pt x="63" y="24"/>
                      <a:pt x="64" y="24"/>
                    </a:cubicBezTo>
                    <a:cubicBezTo>
                      <a:pt x="66" y="24"/>
                      <a:pt x="66" y="24"/>
                      <a:pt x="67" y="23"/>
                    </a:cubicBezTo>
                    <a:cubicBezTo>
                      <a:pt x="68" y="22"/>
                      <a:pt x="70" y="19"/>
                      <a:pt x="71" y="19"/>
                    </a:cubicBezTo>
                    <a:cubicBezTo>
                      <a:pt x="71" y="18"/>
                      <a:pt x="72" y="18"/>
                      <a:pt x="71" y="17"/>
                    </a:cubicBezTo>
                    <a:cubicBezTo>
                      <a:pt x="71" y="16"/>
                      <a:pt x="72" y="16"/>
                      <a:pt x="73" y="16"/>
                    </a:cubicBezTo>
                    <a:cubicBezTo>
                      <a:pt x="75" y="15"/>
                      <a:pt x="76" y="13"/>
                      <a:pt x="77"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28" name="Freeform 225">
                <a:extLst>
                  <a:ext uri="{FF2B5EF4-FFF2-40B4-BE49-F238E27FC236}">
                    <a16:creationId xmlns:a16="http://schemas.microsoft.com/office/drawing/2014/main" id="{4024491D-FA67-46C2-806A-FD50DF5460C2}"/>
                  </a:ext>
                </a:extLst>
              </p:cNvPr>
              <p:cNvSpPr>
                <a:spLocks/>
              </p:cNvSpPr>
              <p:nvPr/>
            </p:nvSpPr>
            <p:spPr bwMode="auto">
              <a:xfrm>
                <a:off x="1346" y="742"/>
                <a:ext cx="29" cy="20"/>
              </a:xfrm>
              <a:custGeom>
                <a:avLst/>
                <a:gdLst>
                  <a:gd name="T0" fmla="*/ 2 w 21"/>
                  <a:gd name="T1" fmla="*/ 8 h 15"/>
                  <a:gd name="T2" fmla="*/ 2 w 21"/>
                  <a:gd name="T3" fmla="*/ 10 h 15"/>
                  <a:gd name="T4" fmla="*/ 19 w 21"/>
                  <a:gd name="T5" fmla="*/ 10 h 15"/>
                  <a:gd name="T6" fmla="*/ 19 w 21"/>
                  <a:gd name="T7" fmla="*/ 7 h 15"/>
                  <a:gd name="T8" fmla="*/ 18 w 21"/>
                  <a:gd name="T9" fmla="*/ 4 h 15"/>
                  <a:gd name="T10" fmla="*/ 14 w 21"/>
                  <a:gd name="T11" fmla="*/ 1 h 15"/>
                  <a:gd name="T12" fmla="*/ 10 w 21"/>
                  <a:gd name="T13" fmla="*/ 1 h 15"/>
                  <a:gd name="T14" fmla="*/ 2 w 21"/>
                  <a:gd name="T15" fmla="*/ 8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15">
                    <a:moveTo>
                      <a:pt x="2" y="8"/>
                    </a:moveTo>
                    <a:cubicBezTo>
                      <a:pt x="0" y="10"/>
                      <a:pt x="2" y="10"/>
                      <a:pt x="2" y="10"/>
                    </a:cubicBezTo>
                    <a:cubicBezTo>
                      <a:pt x="13" y="15"/>
                      <a:pt x="17" y="11"/>
                      <a:pt x="19" y="10"/>
                    </a:cubicBezTo>
                    <a:cubicBezTo>
                      <a:pt x="21" y="8"/>
                      <a:pt x="20" y="7"/>
                      <a:pt x="19" y="7"/>
                    </a:cubicBezTo>
                    <a:cubicBezTo>
                      <a:pt x="19" y="6"/>
                      <a:pt x="18" y="7"/>
                      <a:pt x="18" y="4"/>
                    </a:cubicBezTo>
                    <a:cubicBezTo>
                      <a:pt x="18" y="2"/>
                      <a:pt x="15" y="1"/>
                      <a:pt x="14" y="1"/>
                    </a:cubicBezTo>
                    <a:cubicBezTo>
                      <a:pt x="13" y="0"/>
                      <a:pt x="10" y="1"/>
                      <a:pt x="10" y="1"/>
                    </a:cubicBezTo>
                    <a:cubicBezTo>
                      <a:pt x="3" y="3"/>
                      <a:pt x="3" y="6"/>
                      <a:pt x="2"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29" name="Freeform 226">
                <a:extLst>
                  <a:ext uri="{FF2B5EF4-FFF2-40B4-BE49-F238E27FC236}">
                    <a16:creationId xmlns:a16="http://schemas.microsoft.com/office/drawing/2014/main" id="{7B2DDADF-06E1-4DDA-AA95-D349558AC710}"/>
                  </a:ext>
                </a:extLst>
              </p:cNvPr>
              <p:cNvSpPr>
                <a:spLocks/>
              </p:cNvSpPr>
              <p:nvPr/>
            </p:nvSpPr>
            <p:spPr bwMode="auto">
              <a:xfrm>
                <a:off x="1352" y="689"/>
                <a:ext cx="36" cy="17"/>
              </a:xfrm>
              <a:custGeom>
                <a:avLst/>
                <a:gdLst>
                  <a:gd name="T0" fmla="*/ 24 w 26"/>
                  <a:gd name="T1" fmla="*/ 7 h 12"/>
                  <a:gd name="T2" fmla="*/ 11 w 26"/>
                  <a:gd name="T3" fmla="*/ 2 h 12"/>
                  <a:gd name="T4" fmla="*/ 7 w 26"/>
                  <a:gd name="T5" fmla="*/ 1 h 12"/>
                  <a:gd name="T6" fmla="*/ 1 w 26"/>
                  <a:gd name="T7" fmla="*/ 3 h 12"/>
                  <a:gd name="T8" fmla="*/ 1 w 26"/>
                  <a:gd name="T9" fmla="*/ 4 h 12"/>
                  <a:gd name="T10" fmla="*/ 4 w 26"/>
                  <a:gd name="T11" fmla="*/ 6 h 12"/>
                  <a:gd name="T12" fmla="*/ 5 w 26"/>
                  <a:gd name="T13" fmla="*/ 8 h 12"/>
                  <a:gd name="T14" fmla="*/ 5 w 26"/>
                  <a:gd name="T15" fmla="*/ 10 h 12"/>
                  <a:gd name="T16" fmla="*/ 5 w 26"/>
                  <a:gd name="T17" fmla="*/ 11 h 12"/>
                  <a:gd name="T18" fmla="*/ 7 w 26"/>
                  <a:gd name="T19" fmla="*/ 12 h 12"/>
                  <a:gd name="T20" fmla="*/ 14 w 26"/>
                  <a:gd name="T21" fmla="*/ 12 h 12"/>
                  <a:gd name="T22" fmla="*/ 25 w 26"/>
                  <a:gd name="T23" fmla="*/ 9 h 12"/>
                  <a:gd name="T24" fmla="*/ 24 w 26"/>
                  <a:gd name="T25" fmla="*/ 7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12">
                    <a:moveTo>
                      <a:pt x="24" y="7"/>
                    </a:moveTo>
                    <a:cubicBezTo>
                      <a:pt x="24" y="7"/>
                      <a:pt x="13" y="3"/>
                      <a:pt x="11" y="2"/>
                    </a:cubicBezTo>
                    <a:cubicBezTo>
                      <a:pt x="9" y="1"/>
                      <a:pt x="8" y="0"/>
                      <a:pt x="7" y="1"/>
                    </a:cubicBezTo>
                    <a:cubicBezTo>
                      <a:pt x="5" y="1"/>
                      <a:pt x="3" y="2"/>
                      <a:pt x="1" y="3"/>
                    </a:cubicBezTo>
                    <a:cubicBezTo>
                      <a:pt x="0" y="3"/>
                      <a:pt x="1" y="4"/>
                      <a:pt x="1" y="4"/>
                    </a:cubicBezTo>
                    <a:cubicBezTo>
                      <a:pt x="2" y="5"/>
                      <a:pt x="3" y="6"/>
                      <a:pt x="4" y="6"/>
                    </a:cubicBezTo>
                    <a:cubicBezTo>
                      <a:pt x="5" y="6"/>
                      <a:pt x="5" y="6"/>
                      <a:pt x="5" y="8"/>
                    </a:cubicBezTo>
                    <a:cubicBezTo>
                      <a:pt x="5" y="9"/>
                      <a:pt x="4" y="9"/>
                      <a:pt x="5" y="10"/>
                    </a:cubicBezTo>
                    <a:cubicBezTo>
                      <a:pt x="6" y="10"/>
                      <a:pt x="5" y="10"/>
                      <a:pt x="5" y="11"/>
                    </a:cubicBezTo>
                    <a:cubicBezTo>
                      <a:pt x="4" y="12"/>
                      <a:pt x="5" y="12"/>
                      <a:pt x="7" y="12"/>
                    </a:cubicBezTo>
                    <a:cubicBezTo>
                      <a:pt x="8" y="11"/>
                      <a:pt x="10" y="11"/>
                      <a:pt x="14" y="12"/>
                    </a:cubicBezTo>
                    <a:cubicBezTo>
                      <a:pt x="19" y="12"/>
                      <a:pt x="23" y="10"/>
                      <a:pt x="25" y="9"/>
                    </a:cubicBezTo>
                    <a:cubicBezTo>
                      <a:pt x="26" y="8"/>
                      <a:pt x="24" y="7"/>
                      <a:pt x="24"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30" name="Freeform 227">
                <a:extLst>
                  <a:ext uri="{FF2B5EF4-FFF2-40B4-BE49-F238E27FC236}">
                    <a16:creationId xmlns:a16="http://schemas.microsoft.com/office/drawing/2014/main" id="{9758817B-7A39-419E-9AF0-94A08EF9D47B}"/>
                  </a:ext>
                </a:extLst>
              </p:cNvPr>
              <p:cNvSpPr>
                <a:spLocks/>
              </p:cNvSpPr>
              <p:nvPr/>
            </p:nvSpPr>
            <p:spPr bwMode="auto">
              <a:xfrm>
                <a:off x="1356" y="704"/>
                <a:ext cx="41" cy="16"/>
              </a:xfrm>
              <a:custGeom>
                <a:avLst/>
                <a:gdLst>
                  <a:gd name="T0" fmla="*/ 24 w 30"/>
                  <a:gd name="T1" fmla="*/ 0 h 11"/>
                  <a:gd name="T2" fmla="*/ 11 w 30"/>
                  <a:gd name="T3" fmla="*/ 3 h 11"/>
                  <a:gd name="T4" fmla="*/ 4 w 30"/>
                  <a:gd name="T5" fmla="*/ 3 h 11"/>
                  <a:gd name="T6" fmla="*/ 1 w 30"/>
                  <a:gd name="T7" fmla="*/ 5 h 11"/>
                  <a:gd name="T8" fmla="*/ 2 w 30"/>
                  <a:gd name="T9" fmla="*/ 7 h 11"/>
                  <a:gd name="T10" fmla="*/ 22 w 30"/>
                  <a:gd name="T11" fmla="*/ 8 h 11"/>
                  <a:gd name="T12" fmla="*/ 28 w 30"/>
                  <a:gd name="T13" fmla="*/ 3 h 11"/>
                  <a:gd name="T14" fmla="*/ 24 w 30"/>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11">
                    <a:moveTo>
                      <a:pt x="24" y="0"/>
                    </a:moveTo>
                    <a:cubicBezTo>
                      <a:pt x="23" y="0"/>
                      <a:pt x="13" y="2"/>
                      <a:pt x="11" y="3"/>
                    </a:cubicBezTo>
                    <a:cubicBezTo>
                      <a:pt x="9" y="3"/>
                      <a:pt x="6" y="3"/>
                      <a:pt x="4" y="3"/>
                    </a:cubicBezTo>
                    <a:cubicBezTo>
                      <a:pt x="2" y="4"/>
                      <a:pt x="3" y="5"/>
                      <a:pt x="1" y="5"/>
                    </a:cubicBezTo>
                    <a:cubicBezTo>
                      <a:pt x="0" y="6"/>
                      <a:pt x="2" y="7"/>
                      <a:pt x="2" y="7"/>
                    </a:cubicBezTo>
                    <a:cubicBezTo>
                      <a:pt x="8" y="11"/>
                      <a:pt x="15" y="9"/>
                      <a:pt x="22" y="8"/>
                    </a:cubicBezTo>
                    <a:cubicBezTo>
                      <a:pt x="30" y="8"/>
                      <a:pt x="29" y="4"/>
                      <a:pt x="28" y="3"/>
                    </a:cubicBezTo>
                    <a:cubicBezTo>
                      <a:pt x="27" y="1"/>
                      <a:pt x="25" y="1"/>
                      <a:pt x="24"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31" name="Freeform 228">
                <a:extLst>
                  <a:ext uri="{FF2B5EF4-FFF2-40B4-BE49-F238E27FC236}">
                    <a16:creationId xmlns:a16="http://schemas.microsoft.com/office/drawing/2014/main" id="{DE3D5697-ADBD-4AE4-984D-BA525EEE3418}"/>
                  </a:ext>
                </a:extLst>
              </p:cNvPr>
              <p:cNvSpPr>
                <a:spLocks/>
              </p:cNvSpPr>
              <p:nvPr/>
            </p:nvSpPr>
            <p:spPr bwMode="auto">
              <a:xfrm>
                <a:off x="1378" y="720"/>
                <a:ext cx="30" cy="8"/>
              </a:xfrm>
              <a:custGeom>
                <a:avLst/>
                <a:gdLst>
                  <a:gd name="T0" fmla="*/ 2 w 22"/>
                  <a:gd name="T1" fmla="*/ 5 h 6"/>
                  <a:gd name="T2" fmla="*/ 2 w 22"/>
                  <a:gd name="T3" fmla="*/ 6 h 6"/>
                  <a:gd name="T4" fmla="*/ 19 w 22"/>
                  <a:gd name="T5" fmla="*/ 2 h 6"/>
                  <a:gd name="T6" fmla="*/ 20 w 22"/>
                  <a:gd name="T7" fmla="*/ 0 h 6"/>
                  <a:gd name="T8" fmla="*/ 17 w 22"/>
                  <a:gd name="T9" fmla="*/ 0 h 6"/>
                  <a:gd name="T10" fmla="*/ 6 w 22"/>
                  <a:gd name="T11" fmla="*/ 2 h 6"/>
                  <a:gd name="T12" fmla="*/ 2 w 22"/>
                  <a:gd name="T13" fmla="*/ 5 h 6"/>
                </a:gdLst>
                <a:ahLst/>
                <a:cxnLst>
                  <a:cxn ang="0">
                    <a:pos x="T0" y="T1"/>
                  </a:cxn>
                  <a:cxn ang="0">
                    <a:pos x="T2" y="T3"/>
                  </a:cxn>
                  <a:cxn ang="0">
                    <a:pos x="T4" y="T5"/>
                  </a:cxn>
                  <a:cxn ang="0">
                    <a:pos x="T6" y="T7"/>
                  </a:cxn>
                  <a:cxn ang="0">
                    <a:pos x="T8" y="T9"/>
                  </a:cxn>
                  <a:cxn ang="0">
                    <a:pos x="T10" y="T11"/>
                  </a:cxn>
                  <a:cxn ang="0">
                    <a:pos x="T12" y="T13"/>
                  </a:cxn>
                </a:cxnLst>
                <a:rect l="0" t="0" r="r" b="b"/>
                <a:pathLst>
                  <a:path w="22" h="6">
                    <a:moveTo>
                      <a:pt x="2" y="5"/>
                    </a:moveTo>
                    <a:cubicBezTo>
                      <a:pt x="0" y="6"/>
                      <a:pt x="2" y="6"/>
                      <a:pt x="2" y="6"/>
                    </a:cubicBezTo>
                    <a:cubicBezTo>
                      <a:pt x="3" y="6"/>
                      <a:pt x="17" y="3"/>
                      <a:pt x="19" y="2"/>
                    </a:cubicBezTo>
                    <a:cubicBezTo>
                      <a:pt x="22" y="1"/>
                      <a:pt x="21" y="1"/>
                      <a:pt x="20" y="0"/>
                    </a:cubicBezTo>
                    <a:cubicBezTo>
                      <a:pt x="19" y="0"/>
                      <a:pt x="18" y="0"/>
                      <a:pt x="17" y="0"/>
                    </a:cubicBezTo>
                    <a:cubicBezTo>
                      <a:pt x="16" y="0"/>
                      <a:pt x="8" y="1"/>
                      <a:pt x="6" y="2"/>
                    </a:cubicBezTo>
                    <a:cubicBezTo>
                      <a:pt x="5" y="3"/>
                      <a:pt x="5" y="4"/>
                      <a:pt x="2"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32" name="Freeform 229">
                <a:extLst>
                  <a:ext uri="{FF2B5EF4-FFF2-40B4-BE49-F238E27FC236}">
                    <a16:creationId xmlns:a16="http://schemas.microsoft.com/office/drawing/2014/main" id="{2B28F726-0D6B-4CEB-A9F2-2A43AE67450B}"/>
                  </a:ext>
                </a:extLst>
              </p:cNvPr>
              <p:cNvSpPr>
                <a:spLocks/>
              </p:cNvSpPr>
              <p:nvPr/>
            </p:nvSpPr>
            <p:spPr bwMode="auto">
              <a:xfrm>
                <a:off x="1389" y="689"/>
                <a:ext cx="113" cy="72"/>
              </a:xfrm>
              <a:custGeom>
                <a:avLst/>
                <a:gdLst>
                  <a:gd name="T0" fmla="*/ 63 w 82"/>
                  <a:gd name="T1" fmla="*/ 3 h 52"/>
                  <a:gd name="T2" fmla="*/ 59 w 82"/>
                  <a:gd name="T3" fmla="*/ 6 h 52"/>
                  <a:gd name="T4" fmla="*/ 57 w 82"/>
                  <a:gd name="T5" fmla="*/ 9 h 52"/>
                  <a:gd name="T6" fmla="*/ 55 w 82"/>
                  <a:gd name="T7" fmla="*/ 6 h 52"/>
                  <a:gd name="T8" fmla="*/ 49 w 82"/>
                  <a:gd name="T9" fmla="*/ 3 h 52"/>
                  <a:gd name="T10" fmla="*/ 46 w 82"/>
                  <a:gd name="T11" fmla="*/ 2 h 52"/>
                  <a:gd name="T12" fmla="*/ 33 w 82"/>
                  <a:gd name="T13" fmla="*/ 4 h 52"/>
                  <a:gd name="T14" fmla="*/ 30 w 82"/>
                  <a:gd name="T15" fmla="*/ 6 h 52"/>
                  <a:gd name="T16" fmla="*/ 32 w 82"/>
                  <a:gd name="T17" fmla="*/ 9 h 52"/>
                  <a:gd name="T18" fmla="*/ 40 w 82"/>
                  <a:gd name="T19" fmla="*/ 10 h 52"/>
                  <a:gd name="T20" fmla="*/ 44 w 82"/>
                  <a:gd name="T21" fmla="*/ 12 h 52"/>
                  <a:gd name="T22" fmla="*/ 41 w 82"/>
                  <a:gd name="T23" fmla="*/ 13 h 52"/>
                  <a:gd name="T24" fmla="*/ 37 w 82"/>
                  <a:gd name="T25" fmla="*/ 13 h 52"/>
                  <a:gd name="T26" fmla="*/ 43 w 82"/>
                  <a:gd name="T27" fmla="*/ 15 h 52"/>
                  <a:gd name="T28" fmla="*/ 47 w 82"/>
                  <a:gd name="T29" fmla="*/ 17 h 52"/>
                  <a:gd name="T30" fmla="*/ 41 w 82"/>
                  <a:gd name="T31" fmla="*/ 17 h 52"/>
                  <a:gd name="T32" fmla="*/ 43 w 82"/>
                  <a:gd name="T33" fmla="*/ 21 h 52"/>
                  <a:gd name="T34" fmla="*/ 46 w 82"/>
                  <a:gd name="T35" fmla="*/ 24 h 52"/>
                  <a:gd name="T36" fmla="*/ 36 w 82"/>
                  <a:gd name="T37" fmla="*/ 19 h 52"/>
                  <a:gd name="T38" fmla="*/ 34 w 82"/>
                  <a:gd name="T39" fmla="*/ 18 h 52"/>
                  <a:gd name="T40" fmla="*/ 29 w 82"/>
                  <a:gd name="T41" fmla="*/ 14 h 52"/>
                  <a:gd name="T42" fmla="*/ 21 w 82"/>
                  <a:gd name="T43" fmla="*/ 8 h 52"/>
                  <a:gd name="T44" fmla="*/ 13 w 82"/>
                  <a:gd name="T45" fmla="*/ 10 h 52"/>
                  <a:gd name="T46" fmla="*/ 11 w 82"/>
                  <a:gd name="T47" fmla="*/ 14 h 52"/>
                  <a:gd name="T48" fmla="*/ 15 w 82"/>
                  <a:gd name="T49" fmla="*/ 15 h 52"/>
                  <a:gd name="T50" fmla="*/ 17 w 82"/>
                  <a:gd name="T51" fmla="*/ 16 h 52"/>
                  <a:gd name="T52" fmla="*/ 22 w 82"/>
                  <a:gd name="T53" fmla="*/ 21 h 52"/>
                  <a:gd name="T54" fmla="*/ 21 w 82"/>
                  <a:gd name="T55" fmla="*/ 26 h 52"/>
                  <a:gd name="T56" fmla="*/ 27 w 82"/>
                  <a:gd name="T57" fmla="*/ 28 h 52"/>
                  <a:gd name="T58" fmla="*/ 14 w 82"/>
                  <a:gd name="T59" fmla="*/ 25 h 52"/>
                  <a:gd name="T60" fmla="*/ 10 w 82"/>
                  <a:gd name="T61" fmla="*/ 27 h 52"/>
                  <a:gd name="T62" fmla="*/ 11 w 82"/>
                  <a:gd name="T63" fmla="*/ 29 h 52"/>
                  <a:gd name="T64" fmla="*/ 7 w 82"/>
                  <a:gd name="T65" fmla="*/ 30 h 52"/>
                  <a:gd name="T66" fmla="*/ 1 w 82"/>
                  <a:gd name="T67" fmla="*/ 33 h 52"/>
                  <a:gd name="T68" fmla="*/ 7 w 82"/>
                  <a:gd name="T69" fmla="*/ 36 h 52"/>
                  <a:gd name="T70" fmla="*/ 19 w 82"/>
                  <a:gd name="T71" fmla="*/ 34 h 52"/>
                  <a:gd name="T72" fmla="*/ 24 w 82"/>
                  <a:gd name="T73" fmla="*/ 34 h 52"/>
                  <a:gd name="T74" fmla="*/ 49 w 82"/>
                  <a:gd name="T75" fmla="*/ 31 h 52"/>
                  <a:gd name="T76" fmla="*/ 56 w 82"/>
                  <a:gd name="T77" fmla="*/ 32 h 52"/>
                  <a:gd name="T78" fmla="*/ 46 w 82"/>
                  <a:gd name="T79" fmla="*/ 34 h 52"/>
                  <a:gd name="T80" fmla="*/ 42 w 82"/>
                  <a:gd name="T81" fmla="*/ 37 h 52"/>
                  <a:gd name="T82" fmla="*/ 37 w 82"/>
                  <a:gd name="T83" fmla="*/ 38 h 52"/>
                  <a:gd name="T84" fmla="*/ 34 w 82"/>
                  <a:gd name="T85" fmla="*/ 41 h 52"/>
                  <a:gd name="T86" fmla="*/ 37 w 82"/>
                  <a:gd name="T87" fmla="*/ 42 h 52"/>
                  <a:gd name="T88" fmla="*/ 40 w 82"/>
                  <a:gd name="T89" fmla="*/ 44 h 52"/>
                  <a:gd name="T90" fmla="*/ 37 w 82"/>
                  <a:gd name="T91" fmla="*/ 45 h 52"/>
                  <a:gd name="T92" fmla="*/ 37 w 82"/>
                  <a:gd name="T93" fmla="*/ 49 h 52"/>
                  <a:gd name="T94" fmla="*/ 47 w 82"/>
                  <a:gd name="T95" fmla="*/ 52 h 52"/>
                  <a:gd name="T96" fmla="*/ 54 w 82"/>
                  <a:gd name="T97" fmla="*/ 49 h 52"/>
                  <a:gd name="T98" fmla="*/ 73 w 82"/>
                  <a:gd name="T99" fmla="*/ 51 h 52"/>
                  <a:gd name="T100" fmla="*/ 72 w 82"/>
                  <a:gd name="T101" fmla="*/ 45 h 52"/>
                  <a:gd name="T102" fmla="*/ 77 w 82"/>
                  <a:gd name="T103" fmla="*/ 46 h 52"/>
                  <a:gd name="T104" fmla="*/ 74 w 82"/>
                  <a:gd name="T105" fmla="*/ 43 h 52"/>
                  <a:gd name="T106" fmla="*/ 75 w 82"/>
                  <a:gd name="T107" fmla="*/ 39 h 52"/>
                  <a:gd name="T108" fmla="*/ 80 w 82"/>
                  <a:gd name="T109" fmla="*/ 37 h 52"/>
                  <a:gd name="T110" fmla="*/ 82 w 82"/>
                  <a:gd name="T111" fmla="*/ 33 h 52"/>
                  <a:gd name="T112" fmla="*/ 79 w 82"/>
                  <a:gd name="T113" fmla="*/ 28 h 52"/>
                  <a:gd name="T114" fmla="*/ 79 w 82"/>
                  <a:gd name="T115" fmla="*/ 19 h 52"/>
                  <a:gd name="T116" fmla="*/ 77 w 82"/>
                  <a:gd name="T117" fmla="*/ 8 h 52"/>
                  <a:gd name="T118" fmla="*/ 71 w 82"/>
                  <a:gd name="T119" fmla="*/ 4 h 52"/>
                  <a:gd name="T120" fmla="*/ 69 w 82"/>
                  <a:gd name="T121" fmla="*/ 3 h 52"/>
                  <a:gd name="T122" fmla="*/ 66 w 82"/>
                  <a:gd name="T123" fmla="*/ 1 h 52"/>
                  <a:gd name="T124" fmla="*/ 64 w 82"/>
                  <a:gd name="T125" fmla="*/ 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2" h="52">
                    <a:moveTo>
                      <a:pt x="64" y="1"/>
                    </a:moveTo>
                    <a:cubicBezTo>
                      <a:pt x="67" y="1"/>
                      <a:pt x="64" y="2"/>
                      <a:pt x="63" y="3"/>
                    </a:cubicBezTo>
                    <a:cubicBezTo>
                      <a:pt x="62" y="3"/>
                      <a:pt x="59" y="2"/>
                      <a:pt x="58" y="3"/>
                    </a:cubicBezTo>
                    <a:cubicBezTo>
                      <a:pt x="56" y="3"/>
                      <a:pt x="58" y="4"/>
                      <a:pt x="59" y="6"/>
                    </a:cubicBezTo>
                    <a:cubicBezTo>
                      <a:pt x="60" y="8"/>
                      <a:pt x="59" y="8"/>
                      <a:pt x="59" y="7"/>
                    </a:cubicBezTo>
                    <a:cubicBezTo>
                      <a:pt x="58" y="7"/>
                      <a:pt x="57" y="7"/>
                      <a:pt x="57" y="9"/>
                    </a:cubicBezTo>
                    <a:cubicBezTo>
                      <a:pt x="56" y="10"/>
                      <a:pt x="55" y="8"/>
                      <a:pt x="54" y="7"/>
                    </a:cubicBezTo>
                    <a:cubicBezTo>
                      <a:pt x="54" y="7"/>
                      <a:pt x="55" y="6"/>
                      <a:pt x="55" y="6"/>
                    </a:cubicBezTo>
                    <a:cubicBezTo>
                      <a:pt x="55" y="6"/>
                      <a:pt x="53" y="6"/>
                      <a:pt x="52" y="5"/>
                    </a:cubicBezTo>
                    <a:cubicBezTo>
                      <a:pt x="52" y="5"/>
                      <a:pt x="50" y="4"/>
                      <a:pt x="49" y="3"/>
                    </a:cubicBezTo>
                    <a:cubicBezTo>
                      <a:pt x="48" y="3"/>
                      <a:pt x="48" y="3"/>
                      <a:pt x="49" y="2"/>
                    </a:cubicBezTo>
                    <a:cubicBezTo>
                      <a:pt x="49" y="2"/>
                      <a:pt x="47" y="2"/>
                      <a:pt x="46" y="2"/>
                    </a:cubicBezTo>
                    <a:cubicBezTo>
                      <a:pt x="44" y="3"/>
                      <a:pt x="42" y="2"/>
                      <a:pt x="40" y="2"/>
                    </a:cubicBezTo>
                    <a:cubicBezTo>
                      <a:pt x="39" y="1"/>
                      <a:pt x="34" y="3"/>
                      <a:pt x="33" y="4"/>
                    </a:cubicBezTo>
                    <a:cubicBezTo>
                      <a:pt x="32" y="4"/>
                      <a:pt x="32" y="4"/>
                      <a:pt x="32" y="5"/>
                    </a:cubicBezTo>
                    <a:cubicBezTo>
                      <a:pt x="33" y="5"/>
                      <a:pt x="31" y="5"/>
                      <a:pt x="30" y="6"/>
                    </a:cubicBezTo>
                    <a:cubicBezTo>
                      <a:pt x="29" y="6"/>
                      <a:pt x="28" y="6"/>
                      <a:pt x="29" y="7"/>
                    </a:cubicBezTo>
                    <a:cubicBezTo>
                      <a:pt x="30" y="7"/>
                      <a:pt x="31" y="9"/>
                      <a:pt x="32" y="9"/>
                    </a:cubicBezTo>
                    <a:cubicBezTo>
                      <a:pt x="33" y="10"/>
                      <a:pt x="35" y="10"/>
                      <a:pt x="36" y="10"/>
                    </a:cubicBezTo>
                    <a:cubicBezTo>
                      <a:pt x="36" y="10"/>
                      <a:pt x="38" y="10"/>
                      <a:pt x="40" y="10"/>
                    </a:cubicBezTo>
                    <a:cubicBezTo>
                      <a:pt x="41" y="10"/>
                      <a:pt x="41" y="11"/>
                      <a:pt x="42" y="11"/>
                    </a:cubicBezTo>
                    <a:cubicBezTo>
                      <a:pt x="44" y="11"/>
                      <a:pt x="43" y="12"/>
                      <a:pt x="44" y="12"/>
                    </a:cubicBezTo>
                    <a:cubicBezTo>
                      <a:pt x="46" y="13"/>
                      <a:pt x="44" y="13"/>
                      <a:pt x="42" y="12"/>
                    </a:cubicBezTo>
                    <a:cubicBezTo>
                      <a:pt x="41" y="11"/>
                      <a:pt x="41" y="12"/>
                      <a:pt x="41" y="13"/>
                    </a:cubicBezTo>
                    <a:cubicBezTo>
                      <a:pt x="41" y="13"/>
                      <a:pt x="41" y="13"/>
                      <a:pt x="40" y="13"/>
                    </a:cubicBezTo>
                    <a:cubicBezTo>
                      <a:pt x="39" y="13"/>
                      <a:pt x="38" y="13"/>
                      <a:pt x="37" y="13"/>
                    </a:cubicBezTo>
                    <a:cubicBezTo>
                      <a:pt x="36" y="13"/>
                      <a:pt x="36" y="14"/>
                      <a:pt x="37" y="15"/>
                    </a:cubicBezTo>
                    <a:cubicBezTo>
                      <a:pt x="38" y="16"/>
                      <a:pt x="41" y="15"/>
                      <a:pt x="43" y="15"/>
                    </a:cubicBezTo>
                    <a:cubicBezTo>
                      <a:pt x="44" y="15"/>
                      <a:pt x="45" y="16"/>
                      <a:pt x="48" y="17"/>
                    </a:cubicBezTo>
                    <a:cubicBezTo>
                      <a:pt x="50" y="17"/>
                      <a:pt x="48" y="17"/>
                      <a:pt x="47" y="17"/>
                    </a:cubicBezTo>
                    <a:cubicBezTo>
                      <a:pt x="46" y="17"/>
                      <a:pt x="45" y="17"/>
                      <a:pt x="44" y="17"/>
                    </a:cubicBezTo>
                    <a:cubicBezTo>
                      <a:pt x="43" y="16"/>
                      <a:pt x="42" y="17"/>
                      <a:pt x="41" y="17"/>
                    </a:cubicBezTo>
                    <a:cubicBezTo>
                      <a:pt x="40" y="17"/>
                      <a:pt x="40" y="18"/>
                      <a:pt x="41" y="18"/>
                    </a:cubicBezTo>
                    <a:cubicBezTo>
                      <a:pt x="41" y="18"/>
                      <a:pt x="42" y="19"/>
                      <a:pt x="43" y="21"/>
                    </a:cubicBezTo>
                    <a:cubicBezTo>
                      <a:pt x="45" y="23"/>
                      <a:pt x="45" y="22"/>
                      <a:pt x="48" y="22"/>
                    </a:cubicBezTo>
                    <a:cubicBezTo>
                      <a:pt x="52" y="22"/>
                      <a:pt x="48" y="23"/>
                      <a:pt x="46" y="24"/>
                    </a:cubicBezTo>
                    <a:cubicBezTo>
                      <a:pt x="44" y="25"/>
                      <a:pt x="41" y="22"/>
                      <a:pt x="40" y="22"/>
                    </a:cubicBezTo>
                    <a:cubicBezTo>
                      <a:pt x="39" y="21"/>
                      <a:pt x="38" y="19"/>
                      <a:pt x="36" y="19"/>
                    </a:cubicBezTo>
                    <a:cubicBezTo>
                      <a:pt x="34" y="19"/>
                      <a:pt x="35" y="19"/>
                      <a:pt x="36" y="18"/>
                    </a:cubicBezTo>
                    <a:cubicBezTo>
                      <a:pt x="36" y="18"/>
                      <a:pt x="35" y="17"/>
                      <a:pt x="34" y="18"/>
                    </a:cubicBezTo>
                    <a:cubicBezTo>
                      <a:pt x="33" y="18"/>
                      <a:pt x="33" y="18"/>
                      <a:pt x="33" y="17"/>
                    </a:cubicBezTo>
                    <a:cubicBezTo>
                      <a:pt x="33" y="16"/>
                      <a:pt x="30" y="14"/>
                      <a:pt x="29" y="14"/>
                    </a:cubicBezTo>
                    <a:cubicBezTo>
                      <a:pt x="28" y="14"/>
                      <a:pt x="26" y="11"/>
                      <a:pt x="25" y="10"/>
                    </a:cubicBezTo>
                    <a:cubicBezTo>
                      <a:pt x="24" y="9"/>
                      <a:pt x="21" y="8"/>
                      <a:pt x="21" y="8"/>
                    </a:cubicBezTo>
                    <a:cubicBezTo>
                      <a:pt x="20" y="8"/>
                      <a:pt x="15" y="8"/>
                      <a:pt x="14" y="8"/>
                    </a:cubicBezTo>
                    <a:cubicBezTo>
                      <a:pt x="12" y="9"/>
                      <a:pt x="13" y="9"/>
                      <a:pt x="13" y="10"/>
                    </a:cubicBezTo>
                    <a:cubicBezTo>
                      <a:pt x="14" y="11"/>
                      <a:pt x="13" y="11"/>
                      <a:pt x="12" y="11"/>
                    </a:cubicBezTo>
                    <a:cubicBezTo>
                      <a:pt x="11" y="11"/>
                      <a:pt x="12" y="13"/>
                      <a:pt x="11" y="14"/>
                    </a:cubicBezTo>
                    <a:cubicBezTo>
                      <a:pt x="11" y="15"/>
                      <a:pt x="12" y="15"/>
                      <a:pt x="13" y="15"/>
                    </a:cubicBezTo>
                    <a:cubicBezTo>
                      <a:pt x="14" y="14"/>
                      <a:pt x="15" y="15"/>
                      <a:pt x="15" y="15"/>
                    </a:cubicBezTo>
                    <a:cubicBezTo>
                      <a:pt x="16" y="15"/>
                      <a:pt x="18" y="14"/>
                      <a:pt x="21" y="14"/>
                    </a:cubicBezTo>
                    <a:cubicBezTo>
                      <a:pt x="23" y="14"/>
                      <a:pt x="19" y="15"/>
                      <a:pt x="17" y="16"/>
                    </a:cubicBezTo>
                    <a:cubicBezTo>
                      <a:pt x="16" y="17"/>
                      <a:pt x="16" y="18"/>
                      <a:pt x="16" y="20"/>
                    </a:cubicBezTo>
                    <a:cubicBezTo>
                      <a:pt x="16" y="22"/>
                      <a:pt x="19" y="22"/>
                      <a:pt x="22" y="21"/>
                    </a:cubicBezTo>
                    <a:cubicBezTo>
                      <a:pt x="24" y="21"/>
                      <a:pt x="22" y="22"/>
                      <a:pt x="21" y="23"/>
                    </a:cubicBezTo>
                    <a:cubicBezTo>
                      <a:pt x="20" y="24"/>
                      <a:pt x="19" y="24"/>
                      <a:pt x="21" y="26"/>
                    </a:cubicBezTo>
                    <a:cubicBezTo>
                      <a:pt x="23" y="28"/>
                      <a:pt x="25" y="27"/>
                      <a:pt x="28" y="27"/>
                    </a:cubicBezTo>
                    <a:cubicBezTo>
                      <a:pt x="30" y="27"/>
                      <a:pt x="27" y="28"/>
                      <a:pt x="27" y="28"/>
                    </a:cubicBezTo>
                    <a:cubicBezTo>
                      <a:pt x="23" y="29"/>
                      <a:pt x="17" y="25"/>
                      <a:pt x="16" y="25"/>
                    </a:cubicBezTo>
                    <a:cubicBezTo>
                      <a:pt x="15" y="24"/>
                      <a:pt x="15" y="24"/>
                      <a:pt x="14" y="25"/>
                    </a:cubicBezTo>
                    <a:cubicBezTo>
                      <a:pt x="13" y="25"/>
                      <a:pt x="12" y="24"/>
                      <a:pt x="10" y="25"/>
                    </a:cubicBezTo>
                    <a:cubicBezTo>
                      <a:pt x="8" y="26"/>
                      <a:pt x="8" y="26"/>
                      <a:pt x="10" y="27"/>
                    </a:cubicBezTo>
                    <a:cubicBezTo>
                      <a:pt x="11" y="27"/>
                      <a:pt x="11" y="28"/>
                      <a:pt x="11" y="28"/>
                    </a:cubicBezTo>
                    <a:cubicBezTo>
                      <a:pt x="11" y="28"/>
                      <a:pt x="8" y="27"/>
                      <a:pt x="11" y="29"/>
                    </a:cubicBezTo>
                    <a:cubicBezTo>
                      <a:pt x="14" y="31"/>
                      <a:pt x="11" y="30"/>
                      <a:pt x="11" y="30"/>
                    </a:cubicBezTo>
                    <a:cubicBezTo>
                      <a:pt x="10" y="30"/>
                      <a:pt x="8" y="30"/>
                      <a:pt x="7" y="30"/>
                    </a:cubicBezTo>
                    <a:cubicBezTo>
                      <a:pt x="6" y="29"/>
                      <a:pt x="5" y="30"/>
                      <a:pt x="5" y="31"/>
                    </a:cubicBezTo>
                    <a:cubicBezTo>
                      <a:pt x="5" y="31"/>
                      <a:pt x="3" y="32"/>
                      <a:pt x="1" y="33"/>
                    </a:cubicBezTo>
                    <a:cubicBezTo>
                      <a:pt x="0" y="33"/>
                      <a:pt x="2" y="35"/>
                      <a:pt x="3" y="36"/>
                    </a:cubicBezTo>
                    <a:cubicBezTo>
                      <a:pt x="4" y="37"/>
                      <a:pt x="7" y="36"/>
                      <a:pt x="7" y="36"/>
                    </a:cubicBezTo>
                    <a:cubicBezTo>
                      <a:pt x="8" y="35"/>
                      <a:pt x="10" y="35"/>
                      <a:pt x="12" y="35"/>
                    </a:cubicBezTo>
                    <a:cubicBezTo>
                      <a:pt x="13" y="35"/>
                      <a:pt x="18" y="34"/>
                      <a:pt x="19" y="34"/>
                    </a:cubicBezTo>
                    <a:cubicBezTo>
                      <a:pt x="20" y="33"/>
                      <a:pt x="22" y="33"/>
                      <a:pt x="22" y="34"/>
                    </a:cubicBezTo>
                    <a:cubicBezTo>
                      <a:pt x="22" y="34"/>
                      <a:pt x="23" y="34"/>
                      <a:pt x="24" y="34"/>
                    </a:cubicBezTo>
                    <a:cubicBezTo>
                      <a:pt x="25" y="33"/>
                      <a:pt x="44" y="31"/>
                      <a:pt x="45" y="31"/>
                    </a:cubicBezTo>
                    <a:cubicBezTo>
                      <a:pt x="46" y="31"/>
                      <a:pt x="48" y="30"/>
                      <a:pt x="49" y="31"/>
                    </a:cubicBezTo>
                    <a:cubicBezTo>
                      <a:pt x="49" y="32"/>
                      <a:pt x="53" y="30"/>
                      <a:pt x="57" y="30"/>
                    </a:cubicBezTo>
                    <a:cubicBezTo>
                      <a:pt x="62" y="30"/>
                      <a:pt x="57" y="32"/>
                      <a:pt x="56" y="32"/>
                    </a:cubicBezTo>
                    <a:cubicBezTo>
                      <a:pt x="54" y="32"/>
                      <a:pt x="50" y="31"/>
                      <a:pt x="47" y="32"/>
                    </a:cubicBezTo>
                    <a:cubicBezTo>
                      <a:pt x="44" y="32"/>
                      <a:pt x="48" y="34"/>
                      <a:pt x="46" y="34"/>
                    </a:cubicBezTo>
                    <a:cubicBezTo>
                      <a:pt x="44" y="34"/>
                      <a:pt x="44" y="35"/>
                      <a:pt x="41" y="35"/>
                    </a:cubicBezTo>
                    <a:cubicBezTo>
                      <a:pt x="39" y="36"/>
                      <a:pt x="45" y="37"/>
                      <a:pt x="42" y="37"/>
                    </a:cubicBezTo>
                    <a:cubicBezTo>
                      <a:pt x="38" y="37"/>
                      <a:pt x="42" y="38"/>
                      <a:pt x="41" y="38"/>
                    </a:cubicBezTo>
                    <a:cubicBezTo>
                      <a:pt x="40" y="38"/>
                      <a:pt x="39" y="38"/>
                      <a:pt x="37" y="38"/>
                    </a:cubicBezTo>
                    <a:cubicBezTo>
                      <a:pt x="35" y="38"/>
                      <a:pt x="35" y="38"/>
                      <a:pt x="36" y="39"/>
                    </a:cubicBezTo>
                    <a:cubicBezTo>
                      <a:pt x="37" y="41"/>
                      <a:pt x="35" y="41"/>
                      <a:pt x="34" y="41"/>
                    </a:cubicBezTo>
                    <a:cubicBezTo>
                      <a:pt x="33" y="41"/>
                      <a:pt x="33" y="42"/>
                      <a:pt x="34" y="42"/>
                    </a:cubicBezTo>
                    <a:cubicBezTo>
                      <a:pt x="35" y="43"/>
                      <a:pt x="36" y="43"/>
                      <a:pt x="37" y="42"/>
                    </a:cubicBezTo>
                    <a:cubicBezTo>
                      <a:pt x="39" y="42"/>
                      <a:pt x="39" y="43"/>
                      <a:pt x="38" y="43"/>
                    </a:cubicBezTo>
                    <a:cubicBezTo>
                      <a:pt x="38" y="43"/>
                      <a:pt x="35" y="43"/>
                      <a:pt x="40" y="44"/>
                    </a:cubicBezTo>
                    <a:cubicBezTo>
                      <a:pt x="45" y="44"/>
                      <a:pt x="40" y="45"/>
                      <a:pt x="40" y="45"/>
                    </a:cubicBezTo>
                    <a:cubicBezTo>
                      <a:pt x="40" y="45"/>
                      <a:pt x="39" y="45"/>
                      <a:pt x="37" y="45"/>
                    </a:cubicBezTo>
                    <a:cubicBezTo>
                      <a:pt x="35" y="45"/>
                      <a:pt x="36" y="46"/>
                      <a:pt x="36" y="46"/>
                    </a:cubicBezTo>
                    <a:cubicBezTo>
                      <a:pt x="37" y="46"/>
                      <a:pt x="37" y="47"/>
                      <a:pt x="37" y="49"/>
                    </a:cubicBezTo>
                    <a:cubicBezTo>
                      <a:pt x="38" y="52"/>
                      <a:pt x="42" y="52"/>
                      <a:pt x="43" y="52"/>
                    </a:cubicBezTo>
                    <a:cubicBezTo>
                      <a:pt x="43" y="51"/>
                      <a:pt x="45" y="52"/>
                      <a:pt x="47" y="52"/>
                    </a:cubicBezTo>
                    <a:cubicBezTo>
                      <a:pt x="49" y="52"/>
                      <a:pt x="51" y="51"/>
                      <a:pt x="52" y="49"/>
                    </a:cubicBezTo>
                    <a:cubicBezTo>
                      <a:pt x="54" y="48"/>
                      <a:pt x="54" y="49"/>
                      <a:pt x="54" y="49"/>
                    </a:cubicBezTo>
                    <a:cubicBezTo>
                      <a:pt x="54" y="49"/>
                      <a:pt x="64" y="50"/>
                      <a:pt x="65" y="50"/>
                    </a:cubicBezTo>
                    <a:cubicBezTo>
                      <a:pt x="67" y="50"/>
                      <a:pt x="71" y="51"/>
                      <a:pt x="73" y="51"/>
                    </a:cubicBezTo>
                    <a:cubicBezTo>
                      <a:pt x="74" y="51"/>
                      <a:pt x="73" y="49"/>
                      <a:pt x="72" y="48"/>
                    </a:cubicBezTo>
                    <a:cubicBezTo>
                      <a:pt x="71" y="46"/>
                      <a:pt x="71" y="46"/>
                      <a:pt x="72" y="45"/>
                    </a:cubicBezTo>
                    <a:cubicBezTo>
                      <a:pt x="72" y="44"/>
                      <a:pt x="75" y="47"/>
                      <a:pt x="77" y="47"/>
                    </a:cubicBezTo>
                    <a:cubicBezTo>
                      <a:pt x="79" y="48"/>
                      <a:pt x="78" y="47"/>
                      <a:pt x="77" y="46"/>
                    </a:cubicBezTo>
                    <a:cubicBezTo>
                      <a:pt x="77" y="45"/>
                      <a:pt x="76" y="46"/>
                      <a:pt x="76" y="45"/>
                    </a:cubicBezTo>
                    <a:cubicBezTo>
                      <a:pt x="77" y="45"/>
                      <a:pt x="75" y="44"/>
                      <a:pt x="74" y="43"/>
                    </a:cubicBezTo>
                    <a:cubicBezTo>
                      <a:pt x="73" y="43"/>
                      <a:pt x="73" y="43"/>
                      <a:pt x="73" y="43"/>
                    </a:cubicBezTo>
                    <a:cubicBezTo>
                      <a:pt x="72" y="42"/>
                      <a:pt x="74" y="40"/>
                      <a:pt x="75" y="39"/>
                    </a:cubicBezTo>
                    <a:cubicBezTo>
                      <a:pt x="76" y="38"/>
                      <a:pt x="76" y="37"/>
                      <a:pt x="76" y="35"/>
                    </a:cubicBezTo>
                    <a:cubicBezTo>
                      <a:pt x="77" y="34"/>
                      <a:pt x="79" y="36"/>
                      <a:pt x="80" y="37"/>
                    </a:cubicBezTo>
                    <a:cubicBezTo>
                      <a:pt x="81" y="38"/>
                      <a:pt x="82" y="38"/>
                      <a:pt x="81" y="37"/>
                    </a:cubicBezTo>
                    <a:cubicBezTo>
                      <a:pt x="81" y="36"/>
                      <a:pt x="82" y="35"/>
                      <a:pt x="82" y="33"/>
                    </a:cubicBezTo>
                    <a:cubicBezTo>
                      <a:pt x="82" y="32"/>
                      <a:pt x="82" y="31"/>
                      <a:pt x="80" y="30"/>
                    </a:cubicBezTo>
                    <a:cubicBezTo>
                      <a:pt x="77" y="30"/>
                      <a:pt x="78" y="29"/>
                      <a:pt x="79" y="28"/>
                    </a:cubicBezTo>
                    <a:cubicBezTo>
                      <a:pt x="79" y="27"/>
                      <a:pt x="79" y="26"/>
                      <a:pt x="78" y="25"/>
                    </a:cubicBezTo>
                    <a:cubicBezTo>
                      <a:pt x="77" y="23"/>
                      <a:pt x="78" y="21"/>
                      <a:pt x="79" y="19"/>
                    </a:cubicBezTo>
                    <a:cubicBezTo>
                      <a:pt x="81" y="17"/>
                      <a:pt x="80" y="15"/>
                      <a:pt x="78" y="14"/>
                    </a:cubicBezTo>
                    <a:cubicBezTo>
                      <a:pt x="76" y="13"/>
                      <a:pt x="77" y="10"/>
                      <a:pt x="77" y="8"/>
                    </a:cubicBezTo>
                    <a:cubicBezTo>
                      <a:pt x="77" y="5"/>
                      <a:pt x="76" y="5"/>
                      <a:pt x="74" y="5"/>
                    </a:cubicBezTo>
                    <a:cubicBezTo>
                      <a:pt x="72" y="5"/>
                      <a:pt x="72" y="5"/>
                      <a:pt x="71" y="4"/>
                    </a:cubicBezTo>
                    <a:cubicBezTo>
                      <a:pt x="70" y="4"/>
                      <a:pt x="70" y="5"/>
                      <a:pt x="68" y="4"/>
                    </a:cubicBezTo>
                    <a:cubicBezTo>
                      <a:pt x="67" y="4"/>
                      <a:pt x="67" y="3"/>
                      <a:pt x="69" y="3"/>
                    </a:cubicBezTo>
                    <a:cubicBezTo>
                      <a:pt x="70" y="3"/>
                      <a:pt x="70" y="3"/>
                      <a:pt x="68" y="3"/>
                    </a:cubicBezTo>
                    <a:cubicBezTo>
                      <a:pt x="67" y="3"/>
                      <a:pt x="67" y="2"/>
                      <a:pt x="66" y="1"/>
                    </a:cubicBezTo>
                    <a:cubicBezTo>
                      <a:pt x="65" y="0"/>
                      <a:pt x="64" y="0"/>
                      <a:pt x="62" y="0"/>
                    </a:cubicBezTo>
                    <a:cubicBezTo>
                      <a:pt x="59" y="1"/>
                      <a:pt x="62" y="1"/>
                      <a:pt x="6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33" name="Freeform 230">
                <a:extLst>
                  <a:ext uri="{FF2B5EF4-FFF2-40B4-BE49-F238E27FC236}">
                    <a16:creationId xmlns:a16="http://schemas.microsoft.com/office/drawing/2014/main" id="{BF813D1D-4A59-4669-8093-3EF06F2081DF}"/>
                  </a:ext>
                </a:extLst>
              </p:cNvPr>
              <p:cNvSpPr>
                <a:spLocks/>
              </p:cNvSpPr>
              <p:nvPr/>
            </p:nvSpPr>
            <p:spPr bwMode="auto">
              <a:xfrm>
                <a:off x="1414" y="685"/>
                <a:ext cx="29" cy="9"/>
              </a:xfrm>
              <a:custGeom>
                <a:avLst/>
                <a:gdLst>
                  <a:gd name="T0" fmla="*/ 3 w 21"/>
                  <a:gd name="T1" fmla="*/ 5 h 6"/>
                  <a:gd name="T2" fmla="*/ 2 w 21"/>
                  <a:gd name="T3" fmla="*/ 6 h 6"/>
                  <a:gd name="T4" fmla="*/ 17 w 21"/>
                  <a:gd name="T5" fmla="*/ 3 h 6"/>
                  <a:gd name="T6" fmla="*/ 19 w 21"/>
                  <a:gd name="T7" fmla="*/ 2 h 6"/>
                  <a:gd name="T8" fmla="*/ 8 w 21"/>
                  <a:gd name="T9" fmla="*/ 4 h 6"/>
                  <a:gd name="T10" fmla="*/ 3 w 21"/>
                  <a:gd name="T11" fmla="*/ 5 h 6"/>
                </a:gdLst>
                <a:ahLst/>
                <a:cxnLst>
                  <a:cxn ang="0">
                    <a:pos x="T0" y="T1"/>
                  </a:cxn>
                  <a:cxn ang="0">
                    <a:pos x="T2" y="T3"/>
                  </a:cxn>
                  <a:cxn ang="0">
                    <a:pos x="T4" y="T5"/>
                  </a:cxn>
                  <a:cxn ang="0">
                    <a:pos x="T6" y="T7"/>
                  </a:cxn>
                  <a:cxn ang="0">
                    <a:pos x="T8" y="T9"/>
                  </a:cxn>
                  <a:cxn ang="0">
                    <a:pos x="T10" y="T11"/>
                  </a:cxn>
                </a:cxnLst>
                <a:rect l="0" t="0" r="r" b="b"/>
                <a:pathLst>
                  <a:path w="21" h="6">
                    <a:moveTo>
                      <a:pt x="3" y="5"/>
                    </a:moveTo>
                    <a:cubicBezTo>
                      <a:pt x="0" y="6"/>
                      <a:pt x="2" y="6"/>
                      <a:pt x="2" y="6"/>
                    </a:cubicBezTo>
                    <a:cubicBezTo>
                      <a:pt x="2" y="6"/>
                      <a:pt x="13" y="3"/>
                      <a:pt x="17" y="3"/>
                    </a:cubicBezTo>
                    <a:cubicBezTo>
                      <a:pt x="21" y="2"/>
                      <a:pt x="19" y="2"/>
                      <a:pt x="19" y="2"/>
                    </a:cubicBezTo>
                    <a:cubicBezTo>
                      <a:pt x="14" y="0"/>
                      <a:pt x="10" y="3"/>
                      <a:pt x="8" y="4"/>
                    </a:cubicBezTo>
                    <a:cubicBezTo>
                      <a:pt x="7" y="4"/>
                      <a:pt x="6" y="4"/>
                      <a:pt x="3"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34" name="Freeform 231">
                <a:extLst>
                  <a:ext uri="{FF2B5EF4-FFF2-40B4-BE49-F238E27FC236}">
                    <a16:creationId xmlns:a16="http://schemas.microsoft.com/office/drawing/2014/main" id="{CAC9E25A-2EEB-4FA4-BCEA-ECF1A6BEEF1A}"/>
                  </a:ext>
                </a:extLst>
              </p:cNvPr>
              <p:cNvSpPr>
                <a:spLocks/>
              </p:cNvSpPr>
              <p:nvPr/>
            </p:nvSpPr>
            <p:spPr bwMode="auto">
              <a:xfrm>
                <a:off x="1518" y="733"/>
                <a:ext cx="66" cy="43"/>
              </a:xfrm>
              <a:custGeom>
                <a:avLst/>
                <a:gdLst>
                  <a:gd name="T0" fmla="*/ 6 w 48"/>
                  <a:gd name="T1" fmla="*/ 21 h 31"/>
                  <a:gd name="T2" fmla="*/ 7 w 48"/>
                  <a:gd name="T3" fmla="*/ 21 h 31"/>
                  <a:gd name="T4" fmla="*/ 14 w 48"/>
                  <a:gd name="T5" fmla="*/ 25 h 31"/>
                  <a:gd name="T6" fmla="*/ 16 w 48"/>
                  <a:gd name="T7" fmla="*/ 26 h 31"/>
                  <a:gd name="T8" fmla="*/ 17 w 48"/>
                  <a:gd name="T9" fmla="*/ 26 h 31"/>
                  <a:gd name="T10" fmla="*/ 18 w 48"/>
                  <a:gd name="T11" fmla="*/ 26 h 31"/>
                  <a:gd name="T12" fmla="*/ 22 w 48"/>
                  <a:gd name="T13" fmla="*/ 27 h 31"/>
                  <a:gd name="T14" fmla="*/ 26 w 48"/>
                  <a:gd name="T15" fmla="*/ 29 h 31"/>
                  <a:gd name="T16" fmla="*/ 28 w 48"/>
                  <a:gd name="T17" fmla="*/ 30 h 31"/>
                  <a:gd name="T18" fmla="*/ 33 w 48"/>
                  <a:gd name="T19" fmla="*/ 30 h 31"/>
                  <a:gd name="T20" fmla="*/ 42 w 48"/>
                  <a:gd name="T21" fmla="*/ 30 h 31"/>
                  <a:gd name="T22" fmla="*/ 48 w 48"/>
                  <a:gd name="T23" fmla="*/ 22 h 31"/>
                  <a:gd name="T24" fmla="*/ 46 w 48"/>
                  <a:gd name="T25" fmla="*/ 19 h 31"/>
                  <a:gd name="T26" fmla="*/ 46 w 48"/>
                  <a:gd name="T27" fmla="*/ 17 h 31"/>
                  <a:gd name="T28" fmla="*/ 46 w 48"/>
                  <a:gd name="T29" fmla="*/ 13 h 31"/>
                  <a:gd name="T30" fmla="*/ 45 w 48"/>
                  <a:gd name="T31" fmla="*/ 11 h 31"/>
                  <a:gd name="T32" fmla="*/ 44 w 48"/>
                  <a:gd name="T33" fmla="*/ 9 h 31"/>
                  <a:gd name="T34" fmla="*/ 42 w 48"/>
                  <a:gd name="T35" fmla="*/ 8 h 31"/>
                  <a:gd name="T36" fmla="*/ 38 w 48"/>
                  <a:gd name="T37" fmla="*/ 5 h 31"/>
                  <a:gd name="T38" fmla="*/ 33 w 48"/>
                  <a:gd name="T39" fmla="*/ 1 h 31"/>
                  <a:gd name="T40" fmla="*/ 27 w 48"/>
                  <a:gd name="T41" fmla="*/ 0 h 31"/>
                  <a:gd name="T42" fmla="*/ 24 w 48"/>
                  <a:gd name="T43" fmla="*/ 2 h 31"/>
                  <a:gd name="T44" fmla="*/ 14 w 48"/>
                  <a:gd name="T45" fmla="*/ 5 h 31"/>
                  <a:gd name="T46" fmla="*/ 8 w 48"/>
                  <a:gd name="T47" fmla="*/ 7 h 31"/>
                  <a:gd name="T48" fmla="*/ 8 w 48"/>
                  <a:gd name="T49" fmla="*/ 8 h 31"/>
                  <a:gd name="T50" fmla="*/ 9 w 48"/>
                  <a:gd name="T51" fmla="*/ 9 h 31"/>
                  <a:gd name="T52" fmla="*/ 1 w 48"/>
                  <a:gd name="T53" fmla="*/ 17 h 31"/>
                  <a:gd name="T54" fmla="*/ 1 w 48"/>
                  <a:gd name="T55" fmla="*/ 19 h 31"/>
                  <a:gd name="T56" fmla="*/ 3 w 48"/>
                  <a:gd name="T57" fmla="*/ 21 h 31"/>
                  <a:gd name="T58" fmla="*/ 6 w 48"/>
                  <a:gd name="T59" fmla="*/ 2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 h="31">
                    <a:moveTo>
                      <a:pt x="6" y="21"/>
                    </a:moveTo>
                    <a:cubicBezTo>
                      <a:pt x="7" y="20"/>
                      <a:pt x="7" y="20"/>
                      <a:pt x="7" y="21"/>
                    </a:cubicBezTo>
                    <a:cubicBezTo>
                      <a:pt x="8" y="23"/>
                      <a:pt x="13" y="25"/>
                      <a:pt x="14" y="25"/>
                    </a:cubicBezTo>
                    <a:cubicBezTo>
                      <a:pt x="14" y="24"/>
                      <a:pt x="15" y="25"/>
                      <a:pt x="16" y="26"/>
                    </a:cubicBezTo>
                    <a:cubicBezTo>
                      <a:pt x="17" y="28"/>
                      <a:pt x="17" y="27"/>
                      <a:pt x="17" y="26"/>
                    </a:cubicBezTo>
                    <a:cubicBezTo>
                      <a:pt x="17" y="26"/>
                      <a:pt x="18" y="26"/>
                      <a:pt x="18" y="26"/>
                    </a:cubicBezTo>
                    <a:cubicBezTo>
                      <a:pt x="19" y="26"/>
                      <a:pt x="20" y="24"/>
                      <a:pt x="22" y="27"/>
                    </a:cubicBezTo>
                    <a:cubicBezTo>
                      <a:pt x="24" y="30"/>
                      <a:pt x="26" y="29"/>
                      <a:pt x="26" y="29"/>
                    </a:cubicBezTo>
                    <a:cubicBezTo>
                      <a:pt x="27" y="29"/>
                      <a:pt x="28" y="29"/>
                      <a:pt x="28" y="30"/>
                    </a:cubicBezTo>
                    <a:cubicBezTo>
                      <a:pt x="29" y="31"/>
                      <a:pt x="32" y="31"/>
                      <a:pt x="33" y="30"/>
                    </a:cubicBezTo>
                    <a:cubicBezTo>
                      <a:pt x="34" y="30"/>
                      <a:pt x="36" y="30"/>
                      <a:pt x="42" y="30"/>
                    </a:cubicBezTo>
                    <a:cubicBezTo>
                      <a:pt x="48" y="30"/>
                      <a:pt x="48" y="24"/>
                      <a:pt x="48" y="22"/>
                    </a:cubicBezTo>
                    <a:cubicBezTo>
                      <a:pt x="48" y="21"/>
                      <a:pt x="47" y="20"/>
                      <a:pt x="46" y="19"/>
                    </a:cubicBezTo>
                    <a:cubicBezTo>
                      <a:pt x="44" y="18"/>
                      <a:pt x="45" y="17"/>
                      <a:pt x="46" y="17"/>
                    </a:cubicBezTo>
                    <a:cubicBezTo>
                      <a:pt x="47" y="16"/>
                      <a:pt x="47" y="14"/>
                      <a:pt x="46" y="13"/>
                    </a:cubicBezTo>
                    <a:cubicBezTo>
                      <a:pt x="46" y="12"/>
                      <a:pt x="46" y="11"/>
                      <a:pt x="45" y="11"/>
                    </a:cubicBezTo>
                    <a:cubicBezTo>
                      <a:pt x="45" y="10"/>
                      <a:pt x="44" y="10"/>
                      <a:pt x="44" y="9"/>
                    </a:cubicBezTo>
                    <a:cubicBezTo>
                      <a:pt x="44" y="8"/>
                      <a:pt x="43" y="8"/>
                      <a:pt x="42" y="8"/>
                    </a:cubicBezTo>
                    <a:cubicBezTo>
                      <a:pt x="41" y="8"/>
                      <a:pt x="39" y="6"/>
                      <a:pt x="38" y="5"/>
                    </a:cubicBezTo>
                    <a:cubicBezTo>
                      <a:pt x="37" y="4"/>
                      <a:pt x="34" y="2"/>
                      <a:pt x="33" y="1"/>
                    </a:cubicBezTo>
                    <a:cubicBezTo>
                      <a:pt x="32" y="1"/>
                      <a:pt x="28" y="1"/>
                      <a:pt x="27" y="0"/>
                    </a:cubicBezTo>
                    <a:cubicBezTo>
                      <a:pt x="26" y="0"/>
                      <a:pt x="25" y="1"/>
                      <a:pt x="24" y="2"/>
                    </a:cubicBezTo>
                    <a:cubicBezTo>
                      <a:pt x="23" y="2"/>
                      <a:pt x="15" y="4"/>
                      <a:pt x="14" y="5"/>
                    </a:cubicBezTo>
                    <a:cubicBezTo>
                      <a:pt x="13" y="5"/>
                      <a:pt x="10" y="6"/>
                      <a:pt x="8" y="7"/>
                    </a:cubicBezTo>
                    <a:cubicBezTo>
                      <a:pt x="6" y="8"/>
                      <a:pt x="6" y="8"/>
                      <a:pt x="8" y="8"/>
                    </a:cubicBezTo>
                    <a:cubicBezTo>
                      <a:pt x="11" y="7"/>
                      <a:pt x="9" y="9"/>
                      <a:pt x="9" y="9"/>
                    </a:cubicBezTo>
                    <a:cubicBezTo>
                      <a:pt x="3" y="12"/>
                      <a:pt x="2" y="15"/>
                      <a:pt x="1" y="17"/>
                    </a:cubicBezTo>
                    <a:cubicBezTo>
                      <a:pt x="0" y="20"/>
                      <a:pt x="1" y="20"/>
                      <a:pt x="1" y="19"/>
                    </a:cubicBezTo>
                    <a:cubicBezTo>
                      <a:pt x="2" y="19"/>
                      <a:pt x="2" y="19"/>
                      <a:pt x="3" y="21"/>
                    </a:cubicBezTo>
                    <a:cubicBezTo>
                      <a:pt x="4" y="23"/>
                      <a:pt x="6" y="22"/>
                      <a:pt x="6" y="2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36" name="Freeform 232">
                <a:extLst>
                  <a:ext uri="{FF2B5EF4-FFF2-40B4-BE49-F238E27FC236}">
                    <a16:creationId xmlns:a16="http://schemas.microsoft.com/office/drawing/2014/main" id="{68CD11BA-E881-43C6-B0A0-FE962BD91008}"/>
                  </a:ext>
                </a:extLst>
              </p:cNvPr>
              <p:cNvSpPr>
                <a:spLocks/>
              </p:cNvSpPr>
              <p:nvPr/>
            </p:nvSpPr>
            <p:spPr bwMode="auto">
              <a:xfrm>
                <a:off x="1443" y="534"/>
                <a:ext cx="33" cy="25"/>
              </a:xfrm>
              <a:custGeom>
                <a:avLst/>
                <a:gdLst>
                  <a:gd name="T0" fmla="*/ 4 w 24"/>
                  <a:gd name="T1" fmla="*/ 11 h 18"/>
                  <a:gd name="T2" fmla="*/ 20 w 24"/>
                  <a:gd name="T3" fmla="*/ 17 h 18"/>
                  <a:gd name="T4" fmla="*/ 23 w 24"/>
                  <a:gd name="T5" fmla="*/ 14 h 18"/>
                  <a:gd name="T6" fmla="*/ 23 w 24"/>
                  <a:gd name="T7" fmla="*/ 11 h 18"/>
                  <a:gd name="T8" fmla="*/ 23 w 24"/>
                  <a:gd name="T9" fmla="*/ 8 h 18"/>
                  <a:gd name="T10" fmla="*/ 21 w 24"/>
                  <a:gd name="T11" fmla="*/ 4 h 18"/>
                  <a:gd name="T12" fmla="*/ 19 w 24"/>
                  <a:gd name="T13" fmla="*/ 2 h 18"/>
                  <a:gd name="T14" fmla="*/ 15 w 24"/>
                  <a:gd name="T15" fmla="*/ 2 h 18"/>
                  <a:gd name="T16" fmla="*/ 11 w 24"/>
                  <a:gd name="T17" fmla="*/ 2 h 18"/>
                  <a:gd name="T18" fmla="*/ 7 w 24"/>
                  <a:gd name="T19" fmla="*/ 1 h 18"/>
                  <a:gd name="T20" fmla="*/ 2 w 24"/>
                  <a:gd name="T21" fmla="*/ 5 h 18"/>
                  <a:gd name="T22" fmla="*/ 4 w 24"/>
                  <a:gd name="T23" fmla="*/ 1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18">
                    <a:moveTo>
                      <a:pt x="4" y="11"/>
                    </a:moveTo>
                    <a:cubicBezTo>
                      <a:pt x="4" y="11"/>
                      <a:pt x="19" y="16"/>
                      <a:pt x="20" y="17"/>
                    </a:cubicBezTo>
                    <a:cubicBezTo>
                      <a:pt x="22" y="18"/>
                      <a:pt x="22" y="16"/>
                      <a:pt x="23" y="14"/>
                    </a:cubicBezTo>
                    <a:cubicBezTo>
                      <a:pt x="24" y="13"/>
                      <a:pt x="24" y="12"/>
                      <a:pt x="23" y="11"/>
                    </a:cubicBezTo>
                    <a:cubicBezTo>
                      <a:pt x="22" y="10"/>
                      <a:pt x="23" y="10"/>
                      <a:pt x="23" y="8"/>
                    </a:cubicBezTo>
                    <a:cubicBezTo>
                      <a:pt x="23" y="7"/>
                      <a:pt x="21" y="5"/>
                      <a:pt x="21" y="4"/>
                    </a:cubicBezTo>
                    <a:cubicBezTo>
                      <a:pt x="20" y="3"/>
                      <a:pt x="20" y="3"/>
                      <a:pt x="19" y="2"/>
                    </a:cubicBezTo>
                    <a:cubicBezTo>
                      <a:pt x="18" y="2"/>
                      <a:pt x="16" y="1"/>
                      <a:pt x="15" y="2"/>
                    </a:cubicBezTo>
                    <a:cubicBezTo>
                      <a:pt x="14" y="2"/>
                      <a:pt x="12" y="2"/>
                      <a:pt x="11" y="2"/>
                    </a:cubicBezTo>
                    <a:cubicBezTo>
                      <a:pt x="10" y="1"/>
                      <a:pt x="9" y="0"/>
                      <a:pt x="7" y="1"/>
                    </a:cubicBezTo>
                    <a:cubicBezTo>
                      <a:pt x="5" y="1"/>
                      <a:pt x="3" y="2"/>
                      <a:pt x="2" y="5"/>
                    </a:cubicBezTo>
                    <a:cubicBezTo>
                      <a:pt x="0" y="9"/>
                      <a:pt x="4" y="11"/>
                      <a:pt x="4"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38" name="Freeform 233">
                <a:extLst>
                  <a:ext uri="{FF2B5EF4-FFF2-40B4-BE49-F238E27FC236}">
                    <a16:creationId xmlns:a16="http://schemas.microsoft.com/office/drawing/2014/main" id="{2488954E-03DB-4A45-A9AC-B21906BCE7BA}"/>
                  </a:ext>
                </a:extLst>
              </p:cNvPr>
              <p:cNvSpPr>
                <a:spLocks/>
              </p:cNvSpPr>
              <p:nvPr/>
            </p:nvSpPr>
            <p:spPr bwMode="auto">
              <a:xfrm>
                <a:off x="1509" y="673"/>
                <a:ext cx="364" cy="110"/>
              </a:xfrm>
              <a:custGeom>
                <a:avLst/>
                <a:gdLst>
                  <a:gd name="T0" fmla="*/ 113 w 263"/>
                  <a:gd name="T1" fmla="*/ 76 h 80"/>
                  <a:gd name="T2" fmla="*/ 118 w 263"/>
                  <a:gd name="T3" fmla="*/ 70 h 80"/>
                  <a:gd name="T4" fmla="*/ 124 w 263"/>
                  <a:gd name="T5" fmla="*/ 69 h 80"/>
                  <a:gd name="T6" fmla="*/ 128 w 263"/>
                  <a:gd name="T7" fmla="*/ 70 h 80"/>
                  <a:gd name="T8" fmla="*/ 128 w 263"/>
                  <a:gd name="T9" fmla="*/ 78 h 80"/>
                  <a:gd name="T10" fmla="*/ 138 w 263"/>
                  <a:gd name="T11" fmla="*/ 79 h 80"/>
                  <a:gd name="T12" fmla="*/ 150 w 263"/>
                  <a:gd name="T13" fmla="*/ 79 h 80"/>
                  <a:gd name="T14" fmla="*/ 160 w 263"/>
                  <a:gd name="T15" fmla="*/ 76 h 80"/>
                  <a:gd name="T16" fmla="*/ 173 w 263"/>
                  <a:gd name="T17" fmla="*/ 75 h 80"/>
                  <a:gd name="T18" fmla="*/ 182 w 263"/>
                  <a:gd name="T19" fmla="*/ 78 h 80"/>
                  <a:gd name="T20" fmla="*/ 202 w 263"/>
                  <a:gd name="T21" fmla="*/ 74 h 80"/>
                  <a:gd name="T22" fmla="*/ 206 w 263"/>
                  <a:gd name="T23" fmla="*/ 69 h 80"/>
                  <a:gd name="T24" fmla="*/ 218 w 263"/>
                  <a:gd name="T25" fmla="*/ 77 h 80"/>
                  <a:gd name="T26" fmla="*/ 250 w 263"/>
                  <a:gd name="T27" fmla="*/ 73 h 80"/>
                  <a:gd name="T28" fmla="*/ 250 w 263"/>
                  <a:gd name="T29" fmla="*/ 67 h 80"/>
                  <a:gd name="T30" fmla="*/ 262 w 263"/>
                  <a:gd name="T31" fmla="*/ 67 h 80"/>
                  <a:gd name="T32" fmla="*/ 248 w 263"/>
                  <a:gd name="T33" fmla="*/ 62 h 80"/>
                  <a:gd name="T34" fmla="*/ 251 w 263"/>
                  <a:gd name="T35" fmla="*/ 49 h 80"/>
                  <a:gd name="T36" fmla="*/ 237 w 263"/>
                  <a:gd name="T37" fmla="*/ 41 h 80"/>
                  <a:gd name="T38" fmla="*/ 196 w 263"/>
                  <a:gd name="T39" fmla="*/ 39 h 80"/>
                  <a:gd name="T40" fmla="*/ 187 w 263"/>
                  <a:gd name="T41" fmla="*/ 42 h 80"/>
                  <a:gd name="T42" fmla="*/ 173 w 263"/>
                  <a:gd name="T43" fmla="*/ 46 h 80"/>
                  <a:gd name="T44" fmla="*/ 166 w 263"/>
                  <a:gd name="T45" fmla="*/ 51 h 80"/>
                  <a:gd name="T46" fmla="*/ 139 w 263"/>
                  <a:gd name="T47" fmla="*/ 47 h 80"/>
                  <a:gd name="T48" fmla="*/ 121 w 263"/>
                  <a:gd name="T49" fmla="*/ 46 h 80"/>
                  <a:gd name="T50" fmla="*/ 115 w 263"/>
                  <a:gd name="T51" fmla="*/ 45 h 80"/>
                  <a:gd name="T52" fmla="*/ 105 w 263"/>
                  <a:gd name="T53" fmla="*/ 33 h 80"/>
                  <a:gd name="T54" fmla="*/ 92 w 263"/>
                  <a:gd name="T55" fmla="*/ 35 h 80"/>
                  <a:gd name="T56" fmla="*/ 89 w 263"/>
                  <a:gd name="T57" fmla="*/ 34 h 80"/>
                  <a:gd name="T58" fmla="*/ 86 w 263"/>
                  <a:gd name="T59" fmla="*/ 29 h 80"/>
                  <a:gd name="T60" fmla="*/ 90 w 263"/>
                  <a:gd name="T61" fmla="*/ 28 h 80"/>
                  <a:gd name="T62" fmla="*/ 110 w 263"/>
                  <a:gd name="T63" fmla="*/ 29 h 80"/>
                  <a:gd name="T64" fmla="*/ 92 w 263"/>
                  <a:gd name="T65" fmla="*/ 21 h 80"/>
                  <a:gd name="T66" fmla="*/ 94 w 263"/>
                  <a:gd name="T67" fmla="*/ 19 h 80"/>
                  <a:gd name="T68" fmla="*/ 66 w 263"/>
                  <a:gd name="T69" fmla="*/ 15 h 80"/>
                  <a:gd name="T70" fmla="*/ 52 w 263"/>
                  <a:gd name="T71" fmla="*/ 19 h 80"/>
                  <a:gd name="T72" fmla="*/ 38 w 263"/>
                  <a:gd name="T73" fmla="*/ 4 h 80"/>
                  <a:gd name="T74" fmla="*/ 11 w 263"/>
                  <a:gd name="T75" fmla="*/ 3 h 80"/>
                  <a:gd name="T76" fmla="*/ 9 w 263"/>
                  <a:gd name="T77" fmla="*/ 8 h 80"/>
                  <a:gd name="T78" fmla="*/ 2 w 263"/>
                  <a:gd name="T79" fmla="*/ 11 h 80"/>
                  <a:gd name="T80" fmla="*/ 12 w 263"/>
                  <a:gd name="T81" fmla="*/ 15 h 80"/>
                  <a:gd name="T82" fmla="*/ 28 w 263"/>
                  <a:gd name="T83" fmla="*/ 23 h 80"/>
                  <a:gd name="T84" fmla="*/ 33 w 263"/>
                  <a:gd name="T85" fmla="*/ 24 h 80"/>
                  <a:gd name="T86" fmla="*/ 51 w 263"/>
                  <a:gd name="T87" fmla="*/ 24 h 80"/>
                  <a:gd name="T88" fmla="*/ 65 w 263"/>
                  <a:gd name="T89" fmla="*/ 30 h 80"/>
                  <a:gd name="T90" fmla="*/ 74 w 263"/>
                  <a:gd name="T91" fmla="*/ 43 h 80"/>
                  <a:gd name="T92" fmla="*/ 69 w 263"/>
                  <a:gd name="T93" fmla="*/ 52 h 80"/>
                  <a:gd name="T94" fmla="*/ 74 w 263"/>
                  <a:gd name="T95" fmla="*/ 68 h 80"/>
                  <a:gd name="T96" fmla="*/ 84 w 263"/>
                  <a:gd name="T97" fmla="*/ 73 h 80"/>
                  <a:gd name="T98" fmla="*/ 92 w 263"/>
                  <a:gd name="T99" fmla="*/ 67 h 80"/>
                  <a:gd name="T100" fmla="*/ 99 w 263"/>
                  <a:gd name="T101" fmla="*/ 75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3" h="80">
                    <a:moveTo>
                      <a:pt x="104" y="76"/>
                    </a:moveTo>
                    <a:cubicBezTo>
                      <a:pt x="104" y="75"/>
                      <a:pt x="105" y="76"/>
                      <a:pt x="105" y="77"/>
                    </a:cubicBezTo>
                    <a:cubicBezTo>
                      <a:pt x="106" y="77"/>
                      <a:pt x="107" y="77"/>
                      <a:pt x="108" y="77"/>
                    </a:cubicBezTo>
                    <a:cubicBezTo>
                      <a:pt x="109" y="77"/>
                      <a:pt x="112" y="77"/>
                      <a:pt x="113" y="76"/>
                    </a:cubicBezTo>
                    <a:cubicBezTo>
                      <a:pt x="113" y="76"/>
                      <a:pt x="114" y="76"/>
                      <a:pt x="115" y="76"/>
                    </a:cubicBezTo>
                    <a:cubicBezTo>
                      <a:pt x="116" y="76"/>
                      <a:pt x="119" y="75"/>
                      <a:pt x="117" y="72"/>
                    </a:cubicBezTo>
                    <a:cubicBezTo>
                      <a:pt x="115" y="70"/>
                      <a:pt x="117" y="71"/>
                      <a:pt x="117" y="71"/>
                    </a:cubicBezTo>
                    <a:cubicBezTo>
                      <a:pt x="119" y="72"/>
                      <a:pt x="119" y="71"/>
                      <a:pt x="118" y="70"/>
                    </a:cubicBezTo>
                    <a:cubicBezTo>
                      <a:pt x="118" y="68"/>
                      <a:pt x="118" y="68"/>
                      <a:pt x="119" y="69"/>
                    </a:cubicBezTo>
                    <a:cubicBezTo>
                      <a:pt x="120" y="69"/>
                      <a:pt x="120" y="70"/>
                      <a:pt x="120" y="71"/>
                    </a:cubicBezTo>
                    <a:cubicBezTo>
                      <a:pt x="120" y="72"/>
                      <a:pt x="121" y="73"/>
                      <a:pt x="122" y="73"/>
                    </a:cubicBezTo>
                    <a:cubicBezTo>
                      <a:pt x="123" y="73"/>
                      <a:pt x="123" y="71"/>
                      <a:pt x="124" y="69"/>
                    </a:cubicBezTo>
                    <a:cubicBezTo>
                      <a:pt x="124" y="68"/>
                      <a:pt x="124" y="68"/>
                      <a:pt x="125" y="69"/>
                    </a:cubicBezTo>
                    <a:cubicBezTo>
                      <a:pt x="125" y="69"/>
                      <a:pt x="125" y="69"/>
                      <a:pt x="126" y="67"/>
                    </a:cubicBezTo>
                    <a:cubicBezTo>
                      <a:pt x="127" y="65"/>
                      <a:pt x="127" y="67"/>
                      <a:pt x="127" y="68"/>
                    </a:cubicBezTo>
                    <a:cubicBezTo>
                      <a:pt x="127" y="70"/>
                      <a:pt x="127" y="69"/>
                      <a:pt x="128" y="70"/>
                    </a:cubicBezTo>
                    <a:cubicBezTo>
                      <a:pt x="129" y="70"/>
                      <a:pt x="129" y="70"/>
                      <a:pt x="129" y="70"/>
                    </a:cubicBezTo>
                    <a:cubicBezTo>
                      <a:pt x="128" y="70"/>
                      <a:pt x="128" y="70"/>
                      <a:pt x="128" y="72"/>
                    </a:cubicBezTo>
                    <a:cubicBezTo>
                      <a:pt x="128" y="73"/>
                      <a:pt x="127" y="74"/>
                      <a:pt x="126" y="76"/>
                    </a:cubicBezTo>
                    <a:cubicBezTo>
                      <a:pt x="125" y="78"/>
                      <a:pt x="127" y="78"/>
                      <a:pt x="128" y="78"/>
                    </a:cubicBezTo>
                    <a:cubicBezTo>
                      <a:pt x="129" y="79"/>
                      <a:pt x="130" y="78"/>
                      <a:pt x="131" y="78"/>
                    </a:cubicBezTo>
                    <a:cubicBezTo>
                      <a:pt x="132" y="78"/>
                      <a:pt x="132" y="78"/>
                      <a:pt x="133" y="79"/>
                    </a:cubicBezTo>
                    <a:cubicBezTo>
                      <a:pt x="134" y="79"/>
                      <a:pt x="136" y="79"/>
                      <a:pt x="137" y="78"/>
                    </a:cubicBezTo>
                    <a:cubicBezTo>
                      <a:pt x="137" y="78"/>
                      <a:pt x="138" y="78"/>
                      <a:pt x="138" y="79"/>
                    </a:cubicBezTo>
                    <a:cubicBezTo>
                      <a:pt x="139" y="80"/>
                      <a:pt x="141" y="79"/>
                      <a:pt x="142" y="78"/>
                    </a:cubicBezTo>
                    <a:cubicBezTo>
                      <a:pt x="143" y="78"/>
                      <a:pt x="143" y="78"/>
                      <a:pt x="144" y="79"/>
                    </a:cubicBezTo>
                    <a:cubicBezTo>
                      <a:pt x="145" y="80"/>
                      <a:pt x="148" y="79"/>
                      <a:pt x="148" y="78"/>
                    </a:cubicBezTo>
                    <a:cubicBezTo>
                      <a:pt x="149" y="78"/>
                      <a:pt x="149" y="78"/>
                      <a:pt x="150" y="79"/>
                    </a:cubicBezTo>
                    <a:cubicBezTo>
                      <a:pt x="150" y="79"/>
                      <a:pt x="153" y="79"/>
                      <a:pt x="154" y="79"/>
                    </a:cubicBezTo>
                    <a:cubicBezTo>
                      <a:pt x="156" y="79"/>
                      <a:pt x="153" y="77"/>
                      <a:pt x="153" y="77"/>
                    </a:cubicBezTo>
                    <a:cubicBezTo>
                      <a:pt x="151" y="73"/>
                      <a:pt x="153" y="76"/>
                      <a:pt x="156" y="78"/>
                    </a:cubicBezTo>
                    <a:cubicBezTo>
                      <a:pt x="158" y="80"/>
                      <a:pt x="159" y="78"/>
                      <a:pt x="160" y="76"/>
                    </a:cubicBezTo>
                    <a:cubicBezTo>
                      <a:pt x="161" y="74"/>
                      <a:pt x="162" y="76"/>
                      <a:pt x="162" y="78"/>
                    </a:cubicBezTo>
                    <a:cubicBezTo>
                      <a:pt x="163" y="80"/>
                      <a:pt x="167" y="78"/>
                      <a:pt x="169" y="78"/>
                    </a:cubicBezTo>
                    <a:cubicBezTo>
                      <a:pt x="171" y="78"/>
                      <a:pt x="171" y="78"/>
                      <a:pt x="171" y="75"/>
                    </a:cubicBezTo>
                    <a:cubicBezTo>
                      <a:pt x="171" y="72"/>
                      <a:pt x="171" y="72"/>
                      <a:pt x="173" y="75"/>
                    </a:cubicBezTo>
                    <a:cubicBezTo>
                      <a:pt x="174" y="79"/>
                      <a:pt x="175" y="78"/>
                      <a:pt x="176" y="78"/>
                    </a:cubicBezTo>
                    <a:cubicBezTo>
                      <a:pt x="178" y="78"/>
                      <a:pt x="178" y="76"/>
                      <a:pt x="178" y="74"/>
                    </a:cubicBezTo>
                    <a:cubicBezTo>
                      <a:pt x="179" y="71"/>
                      <a:pt x="179" y="75"/>
                      <a:pt x="179" y="77"/>
                    </a:cubicBezTo>
                    <a:cubicBezTo>
                      <a:pt x="179" y="78"/>
                      <a:pt x="182" y="78"/>
                      <a:pt x="182" y="78"/>
                    </a:cubicBezTo>
                    <a:cubicBezTo>
                      <a:pt x="183" y="78"/>
                      <a:pt x="185" y="78"/>
                      <a:pt x="186" y="78"/>
                    </a:cubicBezTo>
                    <a:cubicBezTo>
                      <a:pt x="188" y="78"/>
                      <a:pt x="192" y="77"/>
                      <a:pt x="194" y="77"/>
                    </a:cubicBezTo>
                    <a:cubicBezTo>
                      <a:pt x="196" y="76"/>
                      <a:pt x="195" y="77"/>
                      <a:pt x="198" y="77"/>
                    </a:cubicBezTo>
                    <a:cubicBezTo>
                      <a:pt x="202" y="77"/>
                      <a:pt x="202" y="75"/>
                      <a:pt x="202" y="74"/>
                    </a:cubicBezTo>
                    <a:cubicBezTo>
                      <a:pt x="202" y="74"/>
                      <a:pt x="202" y="73"/>
                      <a:pt x="203" y="72"/>
                    </a:cubicBezTo>
                    <a:cubicBezTo>
                      <a:pt x="203" y="72"/>
                      <a:pt x="203" y="71"/>
                      <a:pt x="201" y="68"/>
                    </a:cubicBezTo>
                    <a:cubicBezTo>
                      <a:pt x="199" y="65"/>
                      <a:pt x="202" y="67"/>
                      <a:pt x="203" y="68"/>
                    </a:cubicBezTo>
                    <a:cubicBezTo>
                      <a:pt x="204" y="68"/>
                      <a:pt x="205" y="69"/>
                      <a:pt x="206" y="69"/>
                    </a:cubicBezTo>
                    <a:cubicBezTo>
                      <a:pt x="207" y="69"/>
                      <a:pt x="207" y="69"/>
                      <a:pt x="207" y="71"/>
                    </a:cubicBezTo>
                    <a:cubicBezTo>
                      <a:pt x="206" y="73"/>
                      <a:pt x="207" y="74"/>
                      <a:pt x="210" y="77"/>
                    </a:cubicBezTo>
                    <a:cubicBezTo>
                      <a:pt x="212" y="79"/>
                      <a:pt x="215" y="78"/>
                      <a:pt x="216" y="77"/>
                    </a:cubicBezTo>
                    <a:cubicBezTo>
                      <a:pt x="217" y="76"/>
                      <a:pt x="218" y="77"/>
                      <a:pt x="218" y="77"/>
                    </a:cubicBezTo>
                    <a:cubicBezTo>
                      <a:pt x="221" y="80"/>
                      <a:pt x="231" y="79"/>
                      <a:pt x="232" y="78"/>
                    </a:cubicBezTo>
                    <a:cubicBezTo>
                      <a:pt x="234" y="78"/>
                      <a:pt x="240" y="77"/>
                      <a:pt x="244" y="77"/>
                    </a:cubicBezTo>
                    <a:cubicBezTo>
                      <a:pt x="247" y="76"/>
                      <a:pt x="249" y="76"/>
                      <a:pt x="250" y="75"/>
                    </a:cubicBezTo>
                    <a:cubicBezTo>
                      <a:pt x="251" y="75"/>
                      <a:pt x="250" y="74"/>
                      <a:pt x="250" y="73"/>
                    </a:cubicBezTo>
                    <a:cubicBezTo>
                      <a:pt x="250" y="73"/>
                      <a:pt x="250" y="73"/>
                      <a:pt x="250" y="73"/>
                    </a:cubicBezTo>
                    <a:cubicBezTo>
                      <a:pt x="251" y="72"/>
                      <a:pt x="251" y="72"/>
                      <a:pt x="250" y="71"/>
                    </a:cubicBezTo>
                    <a:cubicBezTo>
                      <a:pt x="250" y="71"/>
                      <a:pt x="250" y="70"/>
                      <a:pt x="251" y="70"/>
                    </a:cubicBezTo>
                    <a:cubicBezTo>
                      <a:pt x="251" y="70"/>
                      <a:pt x="251" y="69"/>
                      <a:pt x="250" y="67"/>
                    </a:cubicBezTo>
                    <a:cubicBezTo>
                      <a:pt x="248" y="66"/>
                      <a:pt x="249" y="66"/>
                      <a:pt x="250" y="66"/>
                    </a:cubicBezTo>
                    <a:cubicBezTo>
                      <a:pt x="251" y="66"/>
                      <a:pt x="251" y="66"/>
                      <a:pt x="251" y="67"/>
                    </a:cubicBezTo>
                    <a:cubicBezTo>
                      <a:pt x="250" y="68"/>
                      <a:pt x="252" y="68"/>
                      <a:pt x="253" y="67"/>
                    </a:cubicBezTo>
                    <a:cubicBezTo>
                      <a:pt x="254" y="67"/>
                      <a:pt x="260" y="67"/>
                      <a:pt x="262" y="67"/>
                    </a:cubicBezTo>
                    <a:cubicBezTo>
                      <a:pt x="263" y="67"/>
                      <a:pt x="261" y="65"/>
                      <a:pt x="259" y="63"/>
                    </a:cubicBezTo>
                    <a:cubicBezTo>
                      <a:pt x="258" y="62"/>
                      <a:pt x="255" y="63"/>
                      <a:pt x="252" y="64"/>
                    </a:cubicBezTo>
                    <a:cubicBezTo>
                      <a:pt x="249" y="65"/>
                      <a:pt x="250" y="63"/>
                      <a:pt x="248" y="63"/>
                    </a:cubicBezTo>
                    <a:cubicBezTo>
                      <a:pt x="246" y="62"/>
                      <a:pt x="247" y="62"/>
                      <a:pt x="248" y="62"/>
                    </a:cubicBezTo>
                    <a:cubicBezTo>
                      <a:pt x="249" y="61"/>
                      <a:pt x="259" y="56"/>
                      <a:pt x="260" y="56"/>
                    </a:cubicBezTo>
                    <a:cubicBezTo>
                      <a:pt x="262" y="55"/>
                      <a:pt x="260" y="54"/>
                      <a:pt x="261" y="53"/>
                    </a:cubicBezTo>
                    <a:cubicBezTo>
                      <a:pt x="261" y="52"/>
                      <a:pt x="260" y="52"/>
                      <a:pt x="259" y="50"/>
                    </a:cubicBezTo>
                    <a:cubicBezTo>
                      <a:pt x="258" y="49"/>
                      <a:pt x="256" y="50"/>
                      <a:pt x="251" y="49"/>
                    </a:cubicBezTo>
                    <a:cubicBezTo>
                      <a:pt x="246" y="49"/>
                      <a:pt x="251" y="48"/>
                      <a:pt x="252" y="48"/>
                    </a:cubicBezTo>
                    <a:cubicBezTo>
                      <a:pt x="254" y="47"/>
                      <a:pt x="252" y="47"/>
                      <a:pt x="251" y="45"/>
                    </a:cubicBezTo>
                    <a:cubicBezTo>
                      <a:pt x="249" y="44"/>
                      <a:pt x="244" y="44"/>
                      <a:pt x="241" y="44"/>
                    </a:cubicBezTo>
                    <a:cubicBezTo>
                      <a:pt x="237" y="45"/>
                      <a:pt x="237" y="44"/>
                      <a:pt x="237" y="41"/>
                    </a:cubicBezTo>
                    <a:cubicBezTo>
                      <a:pt x="236" y="39"/>
                      <a:pt x="231" y="39"/>
                      <a:pt x="230" y="39"/>
                    </a:cubicBezTo>
                    <a:cubicBezTo>
                      <a:pt x="229" y="39"/>
                      <a:pt x="229" y="40"/>
                      <a:pt x="223" y="39"/>
                    </a:cubicBezTo>
                    <a:cubicBezTo>
                      <a:pt x="217" y="38"/>
                      <a:pt x="211" y="40"/>
                      <a:pt x="207" y="41"/>
                    </a:cubicBezTo>
                    <a:cubicBezTo>
                      <a:pt x="204" y="42"/>
                      <a:pt x="198" y="39"/>
                      <a:pt x="196" y="39"/>
                    </a:cubicBezTo>
                    <a:cubicBezTo>
                      <a:pt x="194" y="39"/>
                      <a:pt x="194" y="39"/>
                      <a:pt x="194" y="40"/>
                    </a:cubicBezTo>
                    <a:cubicBezTo>
                      <a:pt x="194" y="41"/>
                      <a:pt x="193" y="40"/>
                      <a:pt x="192" y="40"/>
                    </a:cubicBezTo>
                    <a:cubicBezTo>
                      <a:pt x="191" y="41"/>
                      <a:pt x="191" y="41"/>
                      <a:pt x="190" y="41"/>
                    </a:cubicBezTo>
                    <a:cubicBezTo>
                      <a:pt x="189" y="42"/>
                      <a:pt x="189" y="42"/>
                      <a:pt x="187" y="42"/>
                    </a:cubicBezTo>
                    <a:cubicBezTo>
                      <a:pt x="185" y="43"/>
                      <a:pt x="184" y="42"/>
                      <a:pt x="185" y="44"/>
                    </a:cubicBezTo>
                    <a:cubicBezTo>
                      <a:pt x="186" y="45"/>
                      <a:pt x="181" y="44"/>
                      <a:pt x="179" y="44"/>
                    </a:cubicBezTo>
                    <a:cubicBezTo>
                      <a:pt x="177" y="43"/>
                      <a:pt x="177" y="45"/>
                      <a:pt x="176" y="46"/>
                    </a:cubicBezTo>
                    <a:cubicBezTo>
                      <a:pt x="175" y="46"/>
                      <a:pt x="174" y="46"/>
                      <a:pt x="173" y="46"/>
                    </a:cubicBezTo>
                    <a:cubicBezTo>
                      <a:pt x="172" y="46"/>
                      <a:pt x="170" y="45"/>
                      <a:pt x="169" y="46"/>
                    </a:cubicBezTo>
                    <a:cubicBezTo>
                      <a:pt x="168" y="47"/>
                      <a:pt x="167" y="47"/>
                      <a:pt x="164" y="48"/>
                    </a:cubicBezTo>
                    <a:cubicBezTo>
                      <a:pt x="161" y="48"/>
                      <a:pt x="162" y="49"/>
                      <a:pt x="167" y="50"/>
                    </a:cubicBezTo>
                    <a:cubicBezTo>
                      <a:pt x="172" y="52"/>
                      <a:pt x="167" y="51"/>
                      <a:pt x="166" y="51"/>
                    </a:cubicBezTo>
                    <a:cubicBezTo>
                      <a:pt x="164" y="51"/>
                      <a:pt x="162" y="50"/>
                      <a:pt x="158" y="51"/>
                    </a:cubicBezTo>
                    <a:cubicBezTo>
                      <a:pt x="154" y="52"/>
                      <a:pt x="150" y="48"/>
                      <a:pt x="148" y="46"/>
                    </a:cubicBezTo>
                    <a:cubicBezTo>
                      <a:pt x="146" y="44"/>
                      <a:pt x="144" y="44"/>
                      <a:pt x="142" y="47"/>
                    </a:cubicBezTo>
                    <a:cubicBezTo>
                      <a:pt x="140" y="50"/>
                      <a:pt x="140" y="50"/>
                      <a:pt x="139" y="47"/>
                    </a:cubicBezTo>
                    <a:cubicBezTo>
                      <a:pt x="138" y="45"/>
                      <a:pt x="134" y="48"/>
                      <a:pt x="132" y="49"/>
                    </a:cubicBezTo>
                    <a:cubicBezTo>
                      <a:pt x="130" y="50"/>
                      <a:pt x="127" y="46"/>
                      <a:pt x="126" y="44"/>
                    </a:cubicBezTo>
                    <a:cubicBezTo>
                      <a:pt x="124" y="42"/>
                      <a:pt x="123" y="44"/>
                      <a:pt x="123" y="44"/>
                    </a:cubicBezTo>
                    <a:cubicBezTo>
                      <a:pt x="122" y="45"/>
                      <a:pt x="121" y="45"/>
                      <a:pt x="121" y="46"/>
                    </a:cubicBezTo>
                    <a:cubicBezTo>
                      <a:pt x="122" y="48"/>
                      <a:pt x="122" y="47"/>
                      <a:pt x="121" y="47"/>
                    </a:cubicBezTo>
                    <a:cubicBezTo>
                      <a:pt x="120" y="47"/>
                      <a:pt x="111" y="47"/>
                      <a:pt x="109" y="47"/>
                    </a:cubicBezTo>
                    <a:cubicBezTo>
                      <a:pt x="107" y="46"/>
                      <a:pt x="108" y="46"/>
                      <a:pt x="109" y="45"/>
                    </a:cubicBezTo>
                    <a:cubicBezTo>
                      <a:pt x="111" y="45"/>
                      <a:pt x="112" y="45"/>
                      <a:pt x="115" y="45"/>
                    </a:cubicBezTo>
                    <a:cubicBezTo>
                      <a:pt x="118" y="44"/>
                      <a:pt x="114" y="40"/>
                      <a:pt x="113" y="39"/>
                    </a:cubicBezTo>
                    <a:cubicBezTo>
                      <a:pt x="111" y="37"/>
                      <a:pt x="110" y="38"/>
                      <a:pt x="108" y="39"/>
                    </a:cubicBezTo>
                    <a:cubicBezTo>
                      <a:pt x="107" y="40"/>
                      <a:pt x="108" y="38"/>
                      <a:pt x="108" y="37"/>
                    </a:cubicBezTo>
                    <a:cubicBezTo>
                      <a:pt x="108" y="36"/>
                      <a:pt x="106" y="34"/>
                      <a:pt x="105" y="33"/>
                    </a:cubicBezTo>
                    <a:cubicBezTo>
                      <a:pt x="104" y="33"/>
                      <a:pt x="104" y="33"/>
                      <a:pt x="104" y="34"/>
                    </a:cubicBezTo>
                    <a:cubicBezTo>
                      <a:pt x="103" y="34"/>
                      <a:pt x="103" y="34"/>
                      <a:pt x="102" y="34"/>
                    </a:cubicBezTo>
                    <a:cubicBezTo>
                      <a:pt x="101" y="34"/>
                      <a:pt x="96" y="34"/>
                      <a:pt x="94" y="33"/>
                    </a:cubicBezTo>
                    <a:cubicBezTo>
                      <a:pt x="93" y="33"/>
                      <a:pt x="93" y="34"/>
                      <a:pt x="92" y="35"/>
                    </a:cubicBezTo>
                    <a:cubicBezTo>
                      <a:pt x="91" y="36"/>
                      <a:pt x="90" y="36"/>
                      <a:pt x="89" y="37"/>
                    </a:cubicBezTo>
                    <a:cubicBezTo>
                      <a:pt x="87" y="38"/>
                      <a:pt x="88" y="37"/>
                      <a:pt x="88" y="36"/>
                    </a:cubicBezTo>
                    <a:cubicBezTo>
                      <a:pt x="88" y="36"/>
                      <a:pt x="89" y="35"/>
                      <a:pt x="90" y="35"/>
                    </a:cubicBezTo>
                    <a:cubicBezTo>
                      <a:pt x="91" y="35"/>
                      <a:pt x="90" y="34"/>
                      <a:pt x="89" y="34"/>
                    </a:cubicBezTo>
                    <a:cubicBezTo>
                      <a:pt x="87" y="33"/>
                      <a:pt x="89" y="33"/>
                      <a:pt x="90" y="33"/>
                    </a:cubicBezTo>
                    <a:cubicBezTo>
                      <a:pt x="91" y="32"/>
                      <a:pt x="96" y="32"/>
                      <a:pt x="98" y="32"/>
                    </a:cubicBezTo>
                    <a:cubicBezTo>
                      <a:pt x="100" y="32"/>
                      <a:pt x="101" y="31"/>
                      <a:pt x="100" y="31"/>
                    </a:cubicBezTo>
                    <a:cubicBezTo>
                      <a:pt x="99" y="31"/>
                      <a:pt x="87" y="30"/>
                      <a:pt x="86" y="29"/>
                    </a:cubicBezTo>
                    <a:cubicBezTo>
                      <a:pt x="84" y="29"/>
                      <a:pt x="84" y="28"/>
                      <a:pt x="84" y="28"/>
                    </a:cubicBezTo>
                    <a:cubicBezTo>
                      <a:pt x="85" y="27"/>
                      <a:pt x="84" y="28"/>
                      <a:pt x="82" y="26"/>
                    </a:cubicBezTo>
                    <a:cubicBezTo>
                      <a:pt x="80" y="24"/>
                      <a:pt x="85" y="26"/>
                      <a:pt x="86" y="27"/>
                    </a:cubicBezTo>
                    <a:cubicBezTo>
                      <a:pt x="87" y="27"/>
                      <a:pt x="89" y="27"/>
                      <a:pt x="90" y="28"/>
                    </a:cubicBezTo>
                    <a:cubicBezTo>
                      <a:pt x="92" y="28"/>
                      <a:pt x="96" y="28"/>
                      <a:pt x="96" y="28"/>
                    </a:cubicBezTo>
                    <a:cubicBezTo>
                      <a:pt x="98" y="28"/>
                      <a:pt x="98" y="29"/>
                      <a:pt x="98" y="28"/>
                    </a:cubicBezTo>
                    <a:cubicBezTo>
                      <a:pt x="98" y="27"/>
                      <a:pt x="99" y="28"/>
                      <a:pt x="99" y="28"/>
                    </a:cubicBezTo>
                    <a:cubicBezTo>
                      <a:pt x="101" y="28"/>
                      <a:pt x="107" y="28"/>
                      <a:pt x="110" y="29"/>
                    </a:cubicBezTo>
                    <a:cubicBezTo>
                      <a:pt x="114" y="29"/>
                      <a:pt x="114" y="27"/>
                      <a:pt x="115" y="26"/>
                    </a:cubicBezTo>
                    <a:cubicBezTo>
                      <a:pt x="115" y="24"/>
                      <a:pt x="111" y="24"/>
                      <a:pt x="110" y="24"/>
                    </a:cubicBezTo>
                    <a:cubicBezTo>
                      <a:pt x="109" y="23"/>
                      <a:pt x="106" y="23"/>
                      <a:pt x="103" y="22"/>
                    </a:cubicBezTo>
                    <a:cubicBezTo>
                      <a:pt x="100" y="21"/>
                      <a:pt x="93" y="21"/>
                      <a:pt x="92" y="21"/>
                    </a:cubicBezTo>
                    <a:cubicBezTo>
                      <a:pt x="91" y="20"/>
                      <a:pt x="86" y="20"/>
                      <a:pt x="83" y="19"/>
                    </a:cubicBezTo>
                    <a:cubicBezTo>
                      <a:pt x="80" y="17"/>
                      <a:pt x="84" y="17"/>
                      <a:pt x="85" y="18"/>
                    </a:cubicBezTo>
                    <a:cubicBezTo>
                      <a:pt x="86" y="18"/>
                      <a:pt x="89" y="18"/>
                      <a:pt x="90" y="18"/>
                    </a:cubicBezTo>
                    <a:cubicBezTo>
                      <a:pt x="91" y="18"/>
                      <a:pt x="92" y="19"/>
                      <a:pt x="94" y="19"/>
                    </a:cubicBezTo>
                    <a:cubicBezTo>
                      <a:pt x="95" y="19"/>
                      <a:pt x="94" y="17"/>
                      <a:pt x="94" y="17"/>
                    </a:cubicBezTo>
                    <a:cubicBezTo>
                      <a:pt x="87" y="9"/>
                      <a:pt x="75" y="13"/>
                      <a:pt x="74" y="14"/>
                    </a:cubicBezTo>
                    <a:cubicBezTo>
                      <a:pt x="73" y="14"/>
                      <a:pt x="70" y="15"/>
                      <a:pt x="69" y="15"/>
                    </a:cubicBezTo>
                    <a:cubicBezTo>
                      <a:pt x="68" y="15"/>
                      <a:pt x="67" y="15"/>
                      <a:pt x="66" y="15"/>
                    </a:cubicBezTo>
                    <a:cubicBezTo>
                      <a:pt x="65" y="15"/>
                      <a:pt x="63" y="14"/>
                      <a:pt x="61" y="14"/>
                    </a:cubicBezTo>
                    <a:cubicBezTo>
                      <a:pt x="60" y="14"/>
                      <a:pt x="59" y="14"/>
                      <a:pt x="58" y="15"/>
                    </a:cubicBezTo>
                    <a:cubicBezTo>
                      <a:pt x="57" y="17"/>
                      <a:pt x="55" y="19"/>
                      <a:pt x="53" y="20"/>
                    </a:cubicBezTo>
                    <a:cubicBezTo>
                      <a:pt x="51" y="22"/>
                      <a:pt x="50" y="20"/>
                      <a:pt x="52" y="19"/>
                    </a:cubicBezTo>
                    <a:cubicBezTo>
                      <a:pt x="54" y="17"/>
                      <a:pt x="56" y="14"/>
                      <a:pt x="57" y="13"/>
                    </a:cubicBezTo>
                    <a:cubicBezTo>
                      <a:pt x="58" y="12"/>
                      <a:pt x="52" y="7"/>
                      <a:pt x="51" y="6"/>
                    </a:cubicBezTo>
                    <a:cubicBezTo>
                      <a:pt x="50" y="5"/>
                      <a:pt x="48" y="5"/>
                      <a:pt x="46" y="5"/>
                    </a:cubicBezTo>
                    <a:cubicBezTo>
                      <a:pt x="44" y="5"/>
                      <a:pt x="40" y="4"/>
                      <a:pt x="38" y="4"/>
                    </a:cubicBezTo>
                    <a:cubicBezTo>
                      <a:pt x="37" y="3"/>
                      <a:pt x="34" y="3"/>
                      <a:pt x="33" y="3"/>
                    </a:cubicBezTo>
                    <a:cubicBezTo>
                      <a:pt x="32" y="3"/>
                      <a:pt x="27" y="2"/>
                      <a:pt x="25" y="1"/>
                    </a:cubicBezTo>
                    <a:cubicBezTo>
                      <a:pt x="23" y="0"/>
                      <a:pt x="13" y="1"/>
                      <a:pt x="11" y="1"/>
                    </a:cubicBezTo>
                    <a:cubicBezTo>
                      <a:pt x="10" y="1"/>
                      <a:pt x="11" y="2"/>
                      <a:pt x="11" y="3"/>
                    </a:cubicBezTo>
                    <a:cubicBezTo>
                      <a:pt x="12" y="3"/>
                      <a:pt x="7" y="3"/>
                      <a:pt x="6" y="3"/>
                    </a:cubicBezTo>
                    <a:cubicBezTo>
                      <a:pt x="5" y="3"/>
                      <a:pt x="4" y="3"/>
                      <a:pt x="5" y="4"/>
                    </a:cubicBezTo>
                    <a:cubicBezTo>
                      <a:pt x="6" y="4"/>
                      <a:pt x="6" y="4"/>
                      <a:pt x="3" y="5"/>
                    </a:cubicBezTo>
                    <a:cubicBezTo>
                      <a:pt x="1" y="6"/>
                      <a:pt x="7" y="7"/>
                      <a:pt x="9" y="8"/>
                    </a:cubicBezTo>
                    <a:cubicBezTo>
                      <a:pt x="11" y="8"/>
                      <a:pt x="10" y="9"/>
                      <a:pt x="9" y="9"/>
                    </a:cubicBezTo>
                    <a:cubicBezTo>
                      <a:pt x="7" y="9"/>
                      <a:pt x="8" y="9"/>
                      <a:pt x="10" y="10"/>
                    </a:cubicBezTo>
                    <a:cubicBezTo>
                      <a:pt x="11" y="10"/>
                      <a:pt x="10" y="11"/>
                      <a:pt x="8" y="11"/>
                    </a:cubicBezTo>
                    <a:cubicBezTo>
                      <a:pt x="7" y="11"/>
                      <a:pt x="4" y="11"/>
                      <a:pt x="2" y="11"/>
                    </a:cubicBezTo>
                    <a:cubicBezTo>
                      <a:pt x="0" y="12"/>
                      <a:pt x="4" y="12"/>
                      <a:pt x="5" y="12"/>
                    </a:cubicBezTo>
                    <a:cubicBezTo>
                      <a:pt x="7" y="11"/>
                      <a:pt x="7" y="12"/>
                      <a:pt x="8" y="13"/>
                    </a:cubicBezTo>
                    <a:cubicBezTo>
                      <a:pt x="9" y="14"/>
                      <a:pt x="10" y="14"/>
                      <a:pt x="11" y="14"/>
                    </a:cubicBezTo>
                    <a:cubicBezTo>
                      <a:pt x="11" y="14"/>
                      <a:pt x="12" y="15"/>
                      <a:pt x="12" y="15"/>
                    </a:cubicBezTo>
                    <a:cubicBezTo>
                      <a:pt x="15" y="17"/>
                      <a:pt x="20" y="15"/>
                      <a:pt x="20" y="15"/>
                    </a:cubicBezTo>
                    <a:cubicBezTo>
                      <a:pt x="23" y="14"/>
                      <a:pt x="20" y="16"/>
                      <a:pt x="17" y="17"/>
                    </a:cubicBezTo>
                    <a:cubicBezTo>
                      <a:pt x="15" y="19"/>
                      <a:pt x="13" y="17"/>
                      <a:pt x="15" y="19"/>
                    </a:cubicBezTo>
                    <a:cubicBezTo>
                      <a:pt x="17" y="22"/>
                      <a:pt x="24" y="22"/>
                      <a:pt x="28" y="23"/>
                    </a:cubicBezTo>
                    <a:cubicBezTo>
                      <a:pt x="33" y="23"/>
                      <a:pt x="30" y="23"/>
                      <a:pt x="29" y="24"/>
                    </a:cubicBezTo>
                    <a:cubicBezTo>
                      <a:pt x="29" y="24"/>
                      <a:pt x="27" y="24"/>
                      <a:pt x="25" y="25"/>
                    </a:cubicBezTo>
                    <a:cubicBezTo>
                      <a:pt x="24" y="26"/>
                      <a:pt x="26" y="26"/>
                      <a:pt x="28" y="26"/>
                    </a:cubicBezTo>
                    <a:cubicBezTo>
                      <a:pt x="29" y="26"/>
                      <a:pt x="32" y="25"/>
                      <a:pt x="33" y="24"/>
                    </a:cubicBezTo>
                    <a:cubicBezTo>
                      <a:pt x="34" y="24"/>
                      <a:pt x="35" y="25"/>
                      <a:pt x="36" y="25"/>
                    </a:cubicBezTo>
                    <a:cubicBezTo>
                      <a:pt x="38" y="25"/>
                      <a:pt x="43" y="25"/>
                      <a:pt x="45" y="25"/>
                    </a:cubicBezTo>
                    <a:cubicBezTo>
                      <a:pt x="47" y="26"/>
                      <a:pt x="47" y="25"/>
                      <a:pt x="48" y="25"/>
                    </a:cubicBezTo>
                    <a:cubicBezTo>
                      <a:pt x="49" y="24"/>
                      <a:pt x="49" y="24"/>
                      <a:pt x="51" y="24"/>
                    </a:cubicBezTo>
                    <a:cubicBezTo>
                      <a:pt x="52" y="24"/>
                      <a:pt x="55" y="22"/>
                      <a:pt x="56" y="22"/>
                    </a:cubicBezTo>
                    <a:cubicBezTo>
                      <a:pt x="58" y="21"/>
                      <a:pt x="58" y="23"/>
                      <a:pt x="59" y="24"/>
                    </a:cubicBezTo>
                    <a:cubicBezTo>
                      <a:pt x="59" y="24"/>
                      <a:pt x="60" y="25"/>
                      <a:pt x="62" y="26"/>
                    </a:cubicBezTo>
                    <a:cubicBezTo>
                      <a:pt x="64" y="27"/>
                      <a:pt x="64" y="29"/>
                      <a:pt x="65" y="30"/>
                    </a:cubicBezTo>
                    <a:cubicBezTo>
                      <a:pt x="65" y="31"/>
                      <a:pt x="65" y="32"/>
                      <a:pt x="66" y="33"/>
                    </a:cubicBezTo>
                    <a:cubicBezTo>
                      <a:pt x="67" y="34"/>
                      <a:pt x="69" y="36"/>
                      <a:pt x="71" y="36"/>
                    </a:cubicBezTo>
                    <a:cubicBezTo>
                      <a:pt x="74" y="37"/>
                      <a:pt x="73" y="39"/>
                      <a:pt x="73" y="40"/>
                    </a:cubicBezTo>
                    <a:cubicBezTo>
                      <a:pt x="73" y="41"/>
                      <a:pt x="73" y="42"/>
                      <a:pt x="74" y="43"/>
                    </a:cubicBezTo>
                    <a:cubicBezTo>
                      <a:pt x="75" y="43"/>
                      <a:pt x="74" y="44"/>
                      <a:pt x="74" y="45"/>
                    </a:cubicBezTo>
                    <a:cubicBezTo>
                      <a:pt x="74" y="46"/>
                      <a:pt x="73" y="46"/>
                      <a:pt x="73" y="46"/>
                    </a:cubicBezTo>
                    <a:cubicBezTo>
                      <a:pt x="72" y="47"/>
                      <a:pt x="71" y="48"/>
                      <a:pt x="70" y="49"/>
                    </a:cubicBezTo>
                    <a:cubicBezTo>
                      <a:pt x="68" y="50"/>
                      <a:pt x="68" y="51"/>
                      <a:pt x="69" y="52"/>
                    </a:cubicBezTo>
                    <a:cubicBezTo>
                      <a:pt x="70" y="52"/>
                      <a:pt x="69" y="53"/>
                      <a:pt x="68" y="54"/>
                    </a:cubicBezTo>
                    <a:cubicBezTo>
                      <a:pt x="67" y="55"/>
                      <a:pt x="66" y="56"/>
                      <a:pt x="69" y="58"/>
                    </a:cubicBezTo>
                    <a:cubicBezTo>
                      <a:pt x="72" y="61"/>
                      <a:pt x="70" y="61"/>
                      <a:pt x="72" y="63"/>
                    </a:cubicBezTo>
                    <a:cubicBezTo>
                      <a:pt x="74" y="65"/>
                      <a:pt x="74" y="67"/>
                      <a:pt x="74" y="68"/>
                    </a:cubicBezTo>
                    <a:cubicBezTo>
                      <a:pt x="74" y="69"/>
                      <a:pt x="74" y="69"/>
                      <a:pt x="75" y="70"/>
                    </a:cubicBezTo>
                    <a:cubicBezTo>
                      <a:pt x="76" y="72"/>
                      <a:pt x="76" y="72"/>
                      <a:pt x="78" y="72"/>
                    </a:cubicBezTo>
                    <a:cubicBezTo>
                      <a:pt x="79" y="71"/>
                      <a:pt x="79" y="73"/>
                      <a:pt x="81" y="74"/>
                    </a:cubicBezTo>
                    <a:cubicBezTo>
                      <a:pt x="82" y="74"/>
                      <a:pt x="83" y="74"/>
                      <a:pt x="84" y="73"/>
                    </a:cubicBezTo>
                    <a:cubicBezTo>
                      <a:pt x="85" y="72"/>
                      <a:pt x="85" y="72"/>
                      <a:pt x="85" y="73"/>
                    </a:cubicBezTo>
                    <a:cubicBezTo>
                      <a:pt x="85" y="73"/>
                      <a:pt x="85" y="74"/>
                      <a:pt x="86" y="74"/>
                    </a:cubicBezTo>
                    <a:cubicBezTo>
                      <a:pt x="87" y="74"/>
                      <a:pt x="87" y="73"/>
                      <a:pt x="86" y="72"/>
                    </a:cubicBezTo>
                    <a:cubicBezTo>
                      <a:pt x="86" y="72"/>
                      <a:pt x="88" y="70"/>
                      <a:pt x="92" y="67"/>
                    </a:cubicBezTo>
                    <a:cubicBezTo>
                      <a:pt x="96" y="65"/>
                      <a:pt x="91" y="70"/>
                      <a:pt x="90" y="72"/>
                    </a:cubicBezTo>
                    <a:cubicBezTo>
                      <a:pt x="89" y="73"/>
                      <a:pt x="91" y="73"/>
                      <a:pt x="92" y="72"/>
                    </a:cubicBezTo>
                    <a:cubicBezTo>
                      <a:pt x="93" y="71"/>
                      <a:pt x="93" y="71"/>
                      <a:pt x="94" y="73"/>
                    </a:cubicBezTo>
                    <a:cubicBezTo>
                      <a:pt x="94" y="75"/>
                      <a:pt x="98" y="75"/>
                      <a:pt x="99" y="75"/>
                    </a:cubicBezTo>
                    <a:cubicBezTo>
                      <a:pt x="100" y="75"/>
                      <a:pt x="101" y="76"/>
                      <a:pt x="102" y="76"/>
                    </a:cubicBezTo>
                    <a:cubicBezTo>
                      <a:pt x="103" y="76"/>
                      <a:pt x="103" y="77"/>
                      <a:pt x="104" y="7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40" name="Freeform 234">
                <a:extLst>
                  <a:ext uri="{FF2B5EF4-FFF2-40B4-BE49-F238E27FC236}">
                    <a16:creationId xmlns:a16="http://schemas.microsoft.com/office/drawing/2014/main" id="{B237EF87-9FDE-4FF1-B4D5-7D5159BE7C49}"/>
                  </a:ext>
                </a:extLst>
              </p:cNvPr>
              <p:cNvSpPr>
                <a:spLocks/>
              </p:cNvSpPr>
              <p:nvPr/>
            </p:nvSpPr>
            <p:spPr bwMode="auto">
              <a:xfrm>
                <a:off x="1716" y="1013"/>
                <a:ext cx="12" cy="21"/>
              </a:xfrm>
              <a:custGeom>
                <a:avLst/>
                <a:gdLst>
                  <a:gd name="T0" fmla="*/ 1 w 9"/>
                  <a:gd name="T1" fmla="*/ 11 h 15"/>
                  <a:gd name="T2" fmla="*/ 5 w 9"/>
                  <a:gd name="T3" fmla="*/ 15 h 15"/>
                  <a:gd name="T4" fmla="*/ 9 w 9"/>
                  <a:gd name="T5" fmla="*/ 9 h 15"/>
                  <a:gd name="T6" fmla="*/ 6 w 9"/>
                  <a:gd name="T7" fmla="*/ 0 h 15"/>
                  <a:gd name="T8" fmla="*/ 1 w 9"/>
                  <a:gd name="T9" fmla="*/ 4 h 15"/>
                  <a:gd name="T10" fmla="*/ 1 w 9"/>
                  <a:gd name="T11" fmla="*/ 6 h 15"/>
                  <a:gd name="T12" fmla="*/ 2 w 9"/>
                  <a:gd name="T13" fmla="*/ 9 h 15"/>
                  <a:gd name="T14" fmla="*/ 1 w 9"/>
                  <a:gd name="T15" fmla="*/ 11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5">
                    <a:moveTo>
                      <a:pt x="1" y="11"/>
                    </a:moveTo>
                    <a:cubicBezTo>
                      <a:pt x="1" y="11"/>
                      <a:pt x="3" y="15"/>
                      <a:pt x="5" y="15"/>
                    </a:cubicBezTo>
                    <a:cubicBezTo>
                      <a:pt x="7" y="14"/>
                      <a:pt x="9" y="13"/>
                      <a:pt x="9" y="9"/>
                    </a:cubicBezTo>
                    <a:cubicBezTo>
                      <a:pt x="9" y="6"/>
                      <a:pt x="8" y="0"/>
                      <a:pt x="6" y="0"/>
                    </a:cubicBezTo>
                    <a:cubicBezTo>
                      <a:pt x="3" y="0"/>
                      <a:pt x="1" y="3"/>
                      <a:pt x="1" y="4"/>
                    </a:cubicBezTo>
                    <a:cubicBezTo>
                      <a:pt x="0" y="5"/>
                      <a:pt x="0" y="5"/>
                      <a:pt x="1" y="6"/>
                    </a:cubicBezTo>
                    <a:cubicBezTo>
                      <a:pt x="2" y="8"/>
                      <a:pt x="3" y="9"/>
                      <a:pt x="2" y="9"/>
                    </a:cubicBezTo>
                    <a:cubicBezTo>
                      <a:pt x="1" y="10"/>
                      <a:pt x="0" y="10"/>
                      <a:pt x="1"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41" name="Freeform 235">
                <a:extLst>
                  <a:ext uri="{FF2B5EF4-FFF2-40B4-BE49-F238E27FC236}">
                    <a16:creationId xmlns:a16="http://schemas.microsoft.com/office/drawing/2014/main" id="{B0D6B39A-FAF4-4981-A5F6-135DF894F8E6}"/>
                  </a:ext>
                </a:extLst>
              </p:cNvPr>
              <p:cNvSpPr>
                <a:spLocks/>
              </p:cNvSpPr>
              <p:nvPr/>
            </p:nvSpPr>
            <p:spPr bwMode="auto">
              <a:xfrm>
                <a:off x="1840" y="807"/>
                <a:ext cx="101" cy="43"/>
              </a:xfrm>
              <a:custGeom>
                <a:avLst/>
                <a:gdLst>
                  <a:gd name="T0" fmla="*/ 67 w 73"/>
                  <a:gd name="T1" fmla="*/ 20 h 31"/>
                  <a:gd name="T2" fmla="*/ 63 w 73"/>
                  <a:gd name="T3" fmla="*/ 16 h 31"/>
                  <a:gd name="T4" fmla="*/ 60 w 73"/>
                  <a:gd name="T5" fmla="*/ 14 h 31"/>
                  <a:gd name="T6" fmla="*/ 58 w 73"/>
                  <a:gd name="T7" fmla="*/ 11 h 31"/>
                  <a:gd name="T8" fmla="*/ 50 w 73"/>
                  <a:gd name="T9" fmla="*/ 7 h 31"/>
                  <a:gd name="T10" fmla="*/ 38 w 73"/>
                  <a:gd name="T11" fmla="*/ 4 h 31"/>
                  <a:gd name="T12" fmla="*/ 30 w 73"/>
                  <a:gd name="T13" fmla="*/ 5 h 31"/>
                  <a:gd name="T14" fmla="*/ 20 w 73"/>
                  <a:gd name="T15" fmla="*/ 5 h 31"/>
                  <a:gd name="T16" fmla="*/ 16 w 73"/>
                  <a:gd name="T17" fmla="*/ 3 h 31"/>
                  <a:gd name="T18" fmla="*/ 13 w 73"/>
                  <a:gd name="T19" fmla="*/ 3 h 31"/>
                  <a:gd name="T20" fmla="*/ 9 w 73"/>
                  <a:gd name="T21" fmla="*/ 2 h 31"/>
                  <a:gd name="T22" fmla="*/ 3 w 73"/>
                  <a:gd name="T23" fmla="*/ 2 h 31"/>
                  <a:gd name="T24" fmla="*/ 2 w 73"/>
                  <a:gd name="T25" fmla="*/ 5 h 31"/>
                  <a:gd name="T26" fmla="*/ 2 w 73"/>
                  <a:gd name="T27" fmla="*/ 9 h 31"/>
                  <a:gd name="T28" fmla="*/ 2 w 73"/>
                  <a:gd name="T29" fmla="*/ 11 h 31"/>
                  <a:gd name="T30" fmla="*/ 1 w 73"/>
                  <a:gd name="T31" fmla="*/ 14 h 31"/>
                  <a:gd name="T32" fmla="*/ 9 w 73"/>
                  <a:gd name="T33" fmla="*/ 17 h 31"/>
                  <a:gd name="T34" fmla="*/ 11 w 73"/>
                  <a:gd name="T35" fmla="*/ 21 h 31"/>
                  <a:gd name="T36" fmla="*/ 21 w 73"/>
                  <a:gd name="T37" fmla="*/ 30 h 31"/>
                  <a:gd name="T38" fmla="*/ 38 w 73"/>
                  <a:gd name="T39" fmla="*/ 27 h 31"/>
                  <a:gd name="T40" fmla="*/ 70 w 73"/>
                  <a:gd name="T41" fmla="*/ 26 h 31"/>
                  <a:gd name="T42" fmla="*/ 70 w 73"/>
                  <a:gd name="T43" fmla="*/ 25 h 31"/>
                  <a:gd name="T44" fmla="*/ 69 w 73"/>
                  <a:gd name="T45" fmla="*/ 22 h 31"/>
                  <a:gd name="T46" fmla="*/ 67 w 73"/>
                  <a:gd name="T47" fmla="*/ 2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3" h="31">
                    <a:moveTo>
                      <a:pt x="67" y="20"/>
                    </a:moveTo>
                    <a:cubicBezTo>
                      <a:pt x="66" y="20"/>
                      <a:pt x="63" y="17"/>
                      <a:pt x="63" y="16"/>
                    </a:cubicBezTo>
                    <a:cubicBezTo>
                      <a:pt x="62" y="14"/>
                      <a:pt x="61" y="15"/>
                      <a:pt x="60" y="14"/>
                    </a:cubicBezTo>
                    <a:cubicBezTo>
                      <a:pt x="59" y="14"/>
                      <a:pt x="58" y="13"/>
                      <a:pt x="58" y="11"/>
                    </a:cubicBezTo>
                    <a:cubicBezTo>
                      <a:pt x="57" y="10"/>
                      <a:pt x="51" y="8"/>
                      <a:pt x="50" y="7"/>
                    </a:cubicBezTo>
                    <a:cubicBezTo>
                      <a:pt x="49" y="7"/>
                      <a:pt x="40" y="5"/>
                      <a:pt x="38" y="4"/>
                    </a:cubicBezTo>
                    <a:cubicBezTo>
                      <a:pt x="35" y="4"/>
                      <a:pt x="32" y="5"/>
                      <a:pt x="30" y="5"/>
                    </a:cubicBezTo>
                    <a:cubicBezTo>
                      <a:pt x="28" y="6"/>
                      <a:pt x="21" y="5"/>
                      <a:pt x="20" y="5"/>
                    </a:cubicBezTo>
                    <a:cubicBezTo>
                      <a:pt x="19" y="4"/>
                      <a:pt x="16" y="4"/>
                      <a:pt x="16" y="3"/>
                    </a:cubicBezTo>
                    <a:cubicBezTo>
                      <a:pt x="15" y="2"/>
                      <a:pt x="14" y="3"/>
                      <a:pt x="13" y="3"/>
                    </a:cubicBezTo>
                    <a:cubicBezTo>
                      <a:pt x="12" y="3"/>
                      <a:pt x="11" y="4"/>
                      <a:pt x="9" y="2"/>
                    </a:cubicBezTo>
                    <a:cubicBezTo>
                      <a:pt x="8" y="0"/>
                      <a:pt x="3" y="2"/>
                      <a:pt x="3" y="2"/>
                    </a:cubicBezTo>
                    <a:cubicBezTo>
                      <a:pt x="1" y="2"/>
                      <a:pt x="3" y="4"/>
                      <a:pt x="2" y="5"/>
                    </a:cubicBezTo>
                    <a:cubicBezTo>
                      <a:pt x="1" y="6"/>
                      <a:pt x="0" y="7"/>
                      <a:pt x="2" y="9"/>
                    </a:cubicBezTo>
                    <a:cubicBezTo>
                      <a:pt x="4" y="10"/>
                      <a:pt x="3" y="10"/>
                      <a:pt x="2" y="11"/>
                    </a:cubicBezTo>
                    <a:cubicBezTo>
                      <a:pt x="1" y="11"/>
                      <a:pt x="1" y="10"/>
                      <a:pt x="1" y="14"/>
                    </a:cubicBezTo>
                    <a:cubicBezTo>
                      <a:pt x="1" y="17"/>
                      <a:pt x="8" y="17"/>
                      <a:pt x="9" y="17"/>
                    </a:cubicBezTo>
                    <a:cubicBezTo>
                      <a:pt x="10" y="17"/>
                      <a:pt x="12" y="15"/>
                      <a:pt x="11" y="21"/>
                    </a:cubicBezTo>
                    <a:cubicBezTo>
                      <a:pt x="11" y="27"/>
                      <a:pt x="19" y="30"/>
                      <a:pt x="21" y="30"/>
                    </a:cubicBezTo>
                    <a:cubicBezTo>
                      <a:pt x="24" y="31"/>
                      <a:pt x="35" y="28"/>
                      <a:pt x="38" y="27"/>
                    </a:cubicBezTo>
                    <a:cubicBezTo>
                      <a:pt x="40" y="26"/>
                      <a:pt x="67" y="26"/>
                      <a:pt x="70" y="26"/>
                    </a:cubicBezTo>
                    <a:cubicBezTo>
                      <a:pt x="73" y="26"/>
                      <a:pt x="71" y="25"/>
                      <a:pt x="70" y="25"/>
                    </a:cubicBezTo>
                    <a:cubicBezTo>
                      <a:pt x="69" y="25"/>
                      <a:pt x="68" y="23"/>
                      <a:pt x="69" y="22"/>
                    </a:cubicBezTo>
                    <a:cubicBezTo>
                      <a:pt x="70" y="21"/>
                      <a:pt x="69" y="21"/>
                      <a:pt x="67" y="2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42" name="Freeform 236">
                <a:extLst>
                  <a:ext uri="{FF2B5EF4-FFF2-40B4-BE49-F238E27FC236}">
                    <a16:creationId xmlns:a16="http://schemas.microsoft.com/office/drawing/2014/main" id="{FB5F51C8-2342-442B-9500-A364AC387B02}"/>
                  </a:ext>
                </a:extLst>
              </p:cNvPr>
              <p:cNvSpPr>
                <a:spLocks/>
              </p:cNvSpPr>
              <p:nvPr/>
            </p:nvSpPr>
            <p:spPr bwMode="auto">
              <a:xfrm>
                <a:off x="1753" y="1091"/>
                <a:ext cx="14" cy="18"/>
              </a:xfrm>
              <a:custGeom>
                <a:avLst/>
                <a:gdLst>
                  <a:gd name="T0" fmla="*/ 2 w 10"/>
                  <a:gd name="T1" fmla="*/ 8 h 13"/>
                  <a:gd name="T2" fmla="*/ 5 w 10"/>
                  <a:gd name="T3" fmla="*/ 11 h 13"/>
                  <a:gd name="T4" fmla="*/ 8 w 10"/>
                  <a:gd name="T5" fmla="*/ 11 h 13"/>
                  <a:gd name="T6" fmla="*/ 5 w 10"/>
                  <a:gd name="T7" fmla="*/ 3 h 13"/>
                  <a:gd name="T8" fmla="*/ 2 w 10"/>
                  <a:gd name="T9" fmla="*/ 1 h 13"/>
                  <a:gd name="T10" fmla="*/ 0 w 10"/>
                  <a:gd name="T11" fmla="*/ 2 h 13"/>
                  <a:gd name="T12" fmla="*/ 2 w 10"/>
                  <a:gd name="T13" fmla="*/ 8 h 13"/>
                </a:gdLst>
                <a:ahLst/>
                <a:cxnLst>
                  <a:cxn ang="0">
                    <a:pos x="T0" y="T1"/>
                  </a:cxn>
                  <a:cxn ang="0">
                    <a:pos x="T2" y="T3"/>
                  </a:cxn>
                  <a:cxn ang="0">
                    <a:pos x="T4" y="T5"/>
                  </a:cxn>
                  <a:cxn ang="0">
                    <a:pos x="T6" y="T7"/>
                  </a:cxn>
                  <a:cxn ang="0">
                    <a:pos x="T8" y="T9"/>
                  </a:cxn>
                  <a:cxn ang="0">
                    <a:pos x="T10" y="T11"/>
                  </a:cxn>
                  <a:cxn ang="0">
                    <a:pos x="T12" y="T13"/>
                  </a:cxn>
                </a:cxnLst>
                <a:rect l="0" t="0" r="r" b="b"/>
                <a:pathLst>
                  <a:path w="10" h="13">
                    <a:moveTo>
                      <a:pt x="2" y="8"/>
                    </a:moveTo>
                    <a:cubicBezTo>
                      <a:pt x="3" y="8"/>
                      <a:pt x="4" y="9"/>
                      <a:pt x="5" y="11"/>
                    </a:cubicBezTo>
                    <a:cubicBezTo>
                      <a:pt x="6" y="13"/>
                      <a:pt x="7" y="12"/>
                      <a:pt x="8" y="11"/>
                    </a:cubicBezTo>
                    <a:cubicBezTo>
                      <a:pt x="10" y="10"/>
                      <a:pt x="6" y="5"/>
                      <a:pt x="5" y="3"/>
                    </a:cubicBezTo>
                    <a:cubicBezTo>
                      <a:pt x="4" y="0"/>
                      <a:pt x="4" y="1"/>
                      <a:pt x="2" y="1"/>
                    </a:cubicBezTo>
                    <a:cubicBezTo>
                      <a:pt x="0" y="0"/>
                      <a:pt x="0" y="2"/>
                      <a:pt x="0" y="2"/>
                    </a:cubicBezTo>
                    <a:cubicBezTo>
                      <a:pt x="0" y="4"/>
                      <a:pt x="2" y="7"/>
                      <a:pt x="2"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43" name="Freeform 237">
                <a:extLst>
                  <a:ext uri="{FF2B5EF4-FFF2-40B4-BE49-F238E27FC236}">
                    <a16:creationId xmlns:a16="http://schemas.microsoft.com/office/drawing/2014/main" id="{E10A0E12-2C3B-4925-BBA5-3449F1E98B27}"/>
                  </a:ext>
                </a:extLst>
              </p:cNvPr>
              <p:cNvSpPr>
                <a:spLocks/>
              </p:cNvSpPr>
              <p:nvPr/>
            </p:nvSpPr>
            <p:spPr bwMode="auto">
              <a:xfrm>
                <a:off x="1767" y="1087"/>
                <a:ext cx="27" cy="20"/>
              </a:xfrm>
              <a:custGeom>
                <a:avLst/>
                <a:gdLst>
                  <a:gd name="T0" fmla="*/ 11 w 20"/>
                  <a:gd name="T1" fmla="*/ 5 h 14"/>
                  <a:gd name="T2" fmla="*/ 9 w 20"/>
                  <a:gd name="T3" fmla="*/ 3 h 14"/>
                  <a:gd name="T4" fmla="*/ 6 w 20"/>
                  <a:gd name="T5" fmla="*/ 2 h 14"/>
                  <a:gd name="T6" fmla="*/ 2 w 20"/>
                  <a:gd name="T7" fmla="*/ 1 h 14"/>
                  <a:gd name="T8" fmla="*/ 1 w 20"/>
                  <a:gd name="T9" fmla="*/ 2 h 14"/>
                  <a:gd name="T10" fmla="*/ 5 w 20"/>
                  <a:gd name="T11" fmla="*/ 5 h 14"/>
                  <a:gd name="T12" fmla="*/ 6 w 20"/>
                  <a:gd name="T13" fmla="*/ 10 h 14"/>
                  <a:gd name="T14" fmla="*/ 10 w 20"/>
                  <a:gd name="T15" fmla="*/ 9 h 14"/>
                  <a:gd name="T16" fmla="*/ 11 w 20"/>
                  <a:gd name="T17" fmla="*/ 11 h 14"/>
                  <a:gd name="T18" fmla="*/ 10 w 20"/>
                  <a:gd name="T19" fmla="*/ 12 h 14"/>
                  <a:gd name="T20" fmla="*/ 13 w 20"/>
                  <a:gd name="T21" fmla="*/ 12 h 14"/>
                  <a:gd name="T22" fmla="*/ 15 w 20"/>
                  <a:gd name="T23" fmla="*/ 13 h 14"/>
                  <a:gd name="T24" fmla="*/ 18 w 20"/>
                  <a:gd name="T25" fmla="*/ 12 h 14"/>
                  <a:gd name="T26" fmla="*/ 15 w 20"/>
                  <a:gd name="T27" fmla="*/ 11 h 14"/>
                  <a:gd name="T28" fmla="*/ 12 w 20"/>
                  <a:gd name="T29" fmla="*/ 9 h 14"/>
                  <a:gd name="T30" fmla="*/ 12 w 20"/>
                  <a:gd name="T31" fmla="*/ 8 h 14"/>
                  <a:gd name="T32" fmla="*/ 11 w 20"/>
                  <a:gd name="T33" fmla="*/ 5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 h="14">
                    <a:moveTo>
                      <a:pt x="11" y="5"/>
                    </a:moveTo>
                    <a:cubicBezTo>
                      <a:pt x="10" y="4"/>
                      <a:pt x="9" y="4"/>
                      <a:pt x="9" y="3"/>
                    </a:cubicBezTo>
                    <a:cubicBezTo>
                      <a:pt x="8" y="2"/>
                      <a:pt x="7" y="2"/>
                      <a:pt x="6" y="2"/>
                    </a:cubicBezTo>
                    <a:cubicBezTo>
                      <a:pt x="6" y="2"/>
                      <a:pt x="5" y="2"/>
                      <a:pt x="2" y="1"/>
                    </a:cubicBezTo>
                    <a:cubicBezTo>
                      <a:pt x="0" y="0"/>
                      <a:pt x="1" y="2"/>
                      <a:pt x="1" y="2"/>
                    </a:cubicBezTo>
                    <a:cubicBezTo>
                      <a:pt x="1" y="2"/>
                      <a:pt x="4" y="4"/>
                      <a:pt x="5" y="5"/>
                    </a:cubicBezTo>
                    <a:cubicBezTo>
                      <a:pt x="6" y="6"/>
                      <a:pt x="6" y="9"/>
                      <a:pt x="6" y="10"/>
                    </a:cubicBezTo>
                    <a:cubicBezTo>
                      <a:pt x="6" y="11"/>
                      <a:pt x="8" y="10"/>
                      <a:pt x="10" y="9"/>
                    </a:cubicBezTo>
                    <a:cubicBezTo>
                      <a:pt x="12" y="9"/>
                      <a:pt x="11" y="10"/>
                      <a:pt x="11" y="11"/>
                    </a:cubicBezTo>
                    <a:cubicBezTo>
                      <a:pt x="11" y="11"/>
                      <a:pt x="10" y="11"/>
                      <a:pt x="10" y="12"/>
                    </a:cubicBezTo>
                    <a:cubicBezTo>
                      <a:pt x="11" y="13"/>
                      <a:pt x="12" y="12"/>
                      <a:pt x="13" y="12"/>
                    </a:cubicBezTo>
                    <a:cubicBezTo>
                      <a:pt x="13" y="11"/>
                      <a:pt x="14" y="12"/>
                      <a:pt x="15" y="13"/>
                    </a:cubicBezTo>
                    <a:cubicBezTo>
                      <a:pt x="16" y="13"/>
                      <a:pt x="17" y="14"/>
                      <a:pt x="18" y="12"/>
                    </a:cubicBezTo>
                    <a:cubicBezTo>
                      <a:pt x="20" y="10"/>
                      <a:pt x="16" y="11"/>
                      <a:pt x="15" y="11"/>
                    </a:cubicBezTo>
                    <a:cubicBezTo>
                      <a:pt x="14" y="10"/>
                      <a:pt x="13" y="10"/>
                      <a:pt x="12" y="9"/>
                    </a:cubicBezTo>
                    <a:cubicBezTo>
                      <a:pt x="11" y="9"/>
                      <a:pt x="11" y="8"/>
                      <a:pt x="12" y="8"/>
                    </a:cubicBezTo>
                    <a:cubicBezTo>
                      <a:pt x="13" y="7"/>
                      <a:pt x="11" y="5"/>
                      <a:pt x="11"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44" name="Freeform 238">
                <a:extLst>
                  <a:ext uri="{FF2B5EF4-FFF2-40B4-BE49-F238E27FC236}">
                    <a16:creationId xmlns:a16="http://schemas.microsoft.com/office/drawing/2014/main" id="{384A589F-B8D3-473E-A977-7375ED3B8791}"/>
                  </a:ext>
                </a:extLst>
              </p:cNvPr>
              <p:cNvSpPr>
                <a:spLocks/>
              </p:cNvSpPr>
              <p:nvPr/>
            </p:nvSpPr>
            <p:spPr bwMode="auto">
              <a:xfrm>
                <a:off x="1709" y="1094"/>
                <a:ext cx="149" cy="94"/>
              </a:xfrm>
              <a:custGeom>
                <a:avLst/>
                <a:gdLst>
                  <a:gd name="T0" fmla="*/ 106 w 108"/>
                  <a:gd name="T1" fmla="*/ 52 h 68"/>
                  <a:gd name="T2" fmla="*/ 97 w 108"/>
                  <a:gd name="T3" fmla="*/ 47 h 68"/>
                  <a:gd name="T4" fmla="*/ 95 w 108"/>
                  <a:gd name="T5" fmla="*/ 45 h 68"/>
                  <a:gd name="T6" fmla="*/ 93 w 108"/>
                  <a:gd name="T7" fmla="*/ 46 h 68"/>
                  <a:gd name="T8" fmla="*/ 88 w 108"/>
                  <a:gd name="T9" fmla="*/ 45 h 68"/>
                  <a:gd name="T10" fmla="*/ 86 w 108"/>
                  <a:gd name="T11" fmla="*/ 46 h 68"/>
                  <a:gd name="T12" fmla="*/ 81 w 108"/>
                  <a:gd name="T13" fmla="*/ 47 h 68"/>
                  <a:gd name="T14" fmla="*/ 81 w 108"/>
                  <a:gd name="T15" fmla="*/ 45 h 68"/>
                  <a:gd name="T16" fmla="*/ 85 w 108"/>
                  <a:gd name="T17" fmla="*/ 43 h 68"/>
                  <a:gd name="T18" fmla="*/ 83 w 108"/>
                  <a:gd name="T19" fmla="*/ 39 h 68"/>
                  <a:gd name="T20" fmla="*/ 77 w 108"/>
                  <a:gd name="T21" fmla="*/ 31 h 68"/>
                  <a:gd name="T22" fmla="*/ 66 w 108"/>
                  <a:gd name="T23" fmla="*/ 25 h 68"/>
                  <a:gd name="T24" fmla="*/ 55 w 108"/>
                  <a:gd name="T25" fmla="*/ 19 h 68"/>
                  <a:gd name="T26" fmla="*/ 45 w 108"/>
                  <a:gd name="T27" fmla="*/ 14 h 68"/>
                  <a:gd name="T28" fmla="*/ 39 w 108"/>
                  <a:gd name="T29" fmla="*/ 13 h 68"/>
                  <a:gd name="T30" fmla="*/ 36 w 108"/>
                  <a:gd name="T31" fmla="*/ 18 h 68"/>
                  <a:gd name="T32" fmla="*/ 35 w 108"/>
                  <a:gd name="T33" fmla="*/ 14 h 68"/>
                  <a:gd name="T34" fmla="*/ 32 w 108"/>
                  <a:gd name="T35" fmla="*/ 12 h 68"/>
                  <a:gd name="T36" fmla="*/ 31 w 108"/>
                  <a:gd name="T37" fmla="*/ 10 h 68"/>
                  <a:gd name="T38" fmla="*/ 32 w 108"/>
                  <a:gd name="T39" fmla="*/ 5 h 68"/>
                  <a:gd name="T40" fmla="*/ 29 w 108"/>
                  <a:gd name="T41" fmla="*/ 4 h 68"/>
                  <a:gd name="T42" fmla="*/ 27 w 108"/>
                  <a:gd name="T43" fmla="*/ 2 h 68"/>
                  <a:gd name="T44" fmla="*/ 25 w 108"/>
                  <a:gd name="T45" fmla="*/ 1 h 68"/>
                  <a:gd name="T46" fmla="*/ 20 w 108"/>
                  <a:gd name="T47" fmla="*/ 6 h 68"/>
                  <a:gd name="T48" fmla="*/ 18 w 108"/>
                  <a:gd name="T49" fmla="*/ 14 h 68"/>
                  <a:gd name="T50" fmla="*/ 18 w 108"/>
                  <a:gd name="T51" fmla="*/ 15 h 68"/>
                  <a:gd name="T52" fmla="*/ 17 w 108"/>
                  <a:gd name="T53" fmla="*/ 17 h 68"/>
                  <a:gd name="T54" fmla="*/ 18 w 108"/>
                  <a:gd name="T55" fmla="*/ 21 h 68"/>
                  <a:gd name="T56" fmla="*/ 17 w 108"/>
                  <a:gd name="T57" fmla="*/ 24 h 68"/>
                  <a:gd name="T58" fmla="*/ 17 w 108"/>
                  <a:gd name="T59" fmla="*/ 25 h 68"/>
                  <a:gd name="T60" fmla="*/ 17 w 108"/>
                  <a:gd name="T61" fmla="*/ 27 h 68"/>
                  <a:gd name="T62" fmla="*/ 16 w 108"/>
                  <a:gd name="T63" fmla="*/ 29 h 68"/>
                  <a:gd name="T64" fmla="*/ 14 w 108"/>
                  <a:gd name="T65" fmla="*/ 36 h 68"/>
                  <a:gd name="T66" fmla="*/ 15 w 108"/>
                  <a:gd name="T67" fmla="*/ 41 h 68"/>
                  <a:gd name="T68" fmla="*/ 16 w 108"/>
                  <a:gd name="T69" fmla="*/ 45 h 68"/>
                  <a:gd name="T70" fmla="*/ 2 w 108"/>
                  <a:gd name="T71" fmla="*/ 54 h 68"/>
                  <a:gd name="T72" fmla="*/ 6 w 108"/>
                  <a:gd name="T73" fmla="*/ 55 h 68"/>
                  <a:gd name="T74" fmla="*/ 24 w 108"/>
                  <a:gd name="T75" fmla="*/ 53 h 68"/>
                  <a:gd name="T76" fmla="*/ 25 w 108"/>
                  <a:gd name="T77" fmla="*/ 55 h 68"/>
                  <a:gd name="T78" fmla="*/ 26 w 108"/>
                  <a:gd name="T79" fmla="*/ 58 h 68"/>
                  <a:gd name="T80" fmla="*/ 26 w 108"/>
                  <a:gd name="T81" fmla="*/ 63 h 68"/>
                  <a:gd name="T82" fmla="*/ 33 w 108"/>
                  <a:gd name="T83" fmla="*/ 67 h 68"/>
                  <a:gd name="T84" fmla="*/ 43 w 108"/>
                  <a:gd name="T85" fmla="*/ 61 h 68"/>
                  <a:gd name="T86" fmla="*/ 46 w 108"/>
                  <a:gd name="T87" fmla="*/ 56 h 68"/>
                  <a:gd name="T88" fmla="*/ 50 w 108"/>
                  <a:gd name="T89" fmla="*/ 55 h 68"/>
                  <a:gd name="T90" fmla="*/ 53 w 108"/>
                  <a:gd name="T91" fmla="*/ 53 h 68"/>
                  <a:gd name="T92" fmla="*/ 55 w 108"/>
                  <a:gd name="T93" fmla="*/ 50 h 68"/>
                  <a:gd name="T94" fmla="*/ 56 w 108"/>
                  <a:gd name="T95" fmla="*/ 46 h 68"/>
                  <a:gd name="T96" fmla="*/ 64 w 108"/>
                  <a:gd name="T97" fmla="*/ 44 h 68"/>
                  <a:gd name="T98" fmla="*/ 66 w 108"/>
                  <a:gd name="T99" fmla="*/ 47 h 68"/>
                  <a:gd name="T100" fmla="*/ 73 w 108"/>
                  <a:gd name="T101" fmla="*/ 51 h 68"/>
                  <a:gd name="T102" fmla="*/ 74 w 108"/>
                  <a:gd name="T103" fmla="*/ 54 h 68"/>
                  <a:gd name="T104" fmla="*/ 85 w 108"/>
                  <a:gd name="T105" fmla="*/ 57 h 68"/>
                  <a:gd name="T106" fmla="*/ 95 w 108"/>
                  <a:gd name="T107" fmla="*/ 59 h 68"/>
                  <a:gd name="T108" fmla="*/ 98 w 108"/>
                  <a:gd name="T109" fmla="*/ 57 h 68"/>
                  <a:gd name="T110" fmla="*/ 104 w 108"/>
                  <a:gd name="T111" fmla="*/ 54 h 68"/>
                  <a:gd name="T112" fmla="*/ 106 w 108"/>
                  <a:gd name="T113" fmla="*/ 5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8" h="68">
                    <a:moveTo>
                      <a:pt x="106" y="52"/>
                    </a:moveTo>
                    <a:cubicBezTo>
                      <a:pt x="103" y="52"/>
                      <a:pt x="99" y="50"/>
                      <a:pt x="97" y="47"/>
                    </a:cubicBezTo>
                    <a:cubicBezTo>
                      <a:pt x="96" y="44"/>
                      <a:pt x="96" y="44"/>
                      <a:pt x="95" y="45"/>
                    </a:cubicBezTo>
                    <a:cubicBezTo>
                      <a:pt x="94" y="46"/>
                      <a:pt x="94" y="46"/>
                      <a:pt x="93" y="46"/>
                    </a:cubicBezTo>
                    <a:cubicBezTo>
                      <a:pt x="92" y="45"/>
                      <a:pt x="87" y="44"/>
                      <a:pt x="88" y="45"/>
                    </a:cubicBezTo>
                    <a:cubicBezTo>
                      <a:pt x="88" y="46"/>
                      <a:pt x="87" y="46"/>
                      <a:pt x="86" y="46"/>
                    </a:cubicBezTo>
                    <a:cubicBezTo>
                      <a:pt x="84" y="46"/>
                      <a:pt x="81" y="47"/>
                      <a:pt x="81" y="47"/>
                    </a:cubicBezTo>
                    <a:cubicBezTo>
                      <a:pt x="81" y="47"/>
                      <a:pt x="79" y="46"/>
                      <a:pt x="81" y="45"/>
                    </a:cubicBezTo>
                    <a:cubicBezTo>
                      <a:pt x="82" y="45"/>
                      <a:pt x="85" y="44"/>
                      <a:pt x="85" y="43"/>
                    </a:cubicBezTo>
                    <a:cubicBezTo>
                      <a:pt x="85" y="42"/>
                      <a:pt x="83" y="41"/>
                      <a:pt x="83" y="39"/>
                    </a:cubicBezTo>
                    <a:cubicBezTo>
                      <a:pt x="83" y="37"/>
                      <a:pt x="80" y="32"/>
                      <a:pt x="77" y="31"/>
                    </a:cubicBezTo>
                    <a:cubicBezTo>
                      <a:pt x="74" y="29"/>
                      <a:pt x="68" y="26"/>
                      <a:pt x="66" y="25"/>
                    </a:cubicBezTo>
                    <a:cubicBezTo>
                      <a:pt x="63" y="23"/>
                      <a:pt x="58" y="20"/>
                      <a:pt x="55" y="19"/>
                    </a:cubicBezTo>
                    <a:cubicBezTo>
                      <a:pt x="52" y="19"/>
                      <a:pt x="47" y="17"/>
                      <a:pt x="45" y="14"/>
                    </a:cubicBezTo>
                    <a:cubicBezTo>
                      <a:pt x="42" y="11"/>
                      <a:pt x="41" y="10"/>
                      <a:pt x="39" y="13"/>
                    </a:cubicBezTo>
                    <a:cubicBezTo>
                      <a:pt x="38" y="16"/>
                      <a:pt x="36" y="19"/>
                      <a:pt x="36" y="18"/>
                    </a:cubicBezTo>
                    <a:cubicBezTo>
                      <a:pt x="36" y="16"/>
                      <a:pt x="35" y="16"/>
                      <a:pt x="35" y="14"/>
                    </a:cubicBezTo>
                    <a:cubicBezTo>
                      <a:pt x="34" y="13"/>
                      <a:pt x="33" y="12"/>
                      <a:pt x="32" y="12"/>
                    </a:cubicBezTo>
                    <a:cubicBezTo>
                      <a:pt x="31" y="11"/>
                      <a:pt x="29" y="10"/>
                      <a:pt x="31" y="10"/>
                    </a:cubicBezTo>
                    <a:cubicBezTo>
                      <a:pt x="33" y="9"/>
                      <a:pt x="34" y="8"/>
                      <a:pt x="32" y="5"/>
                    </a:cubicBezTo>
                    <a:cubicBezTo>
                      <a:pt x="31" y="2"/>
                      <a:pt x="30" y="3"/>
                      <a:pt x="29" y="4"/>
                    </a:cubicBezTo>
                    <a:cubicBezTo>
                      <a:pt x="27" y="4"/>
                      <a:pt x="26" y="4"/>
                      <a:pt x="27" y="2"/>
                    </a:cubicBezTo>
                    <a:cubicBezTo>
                      <a:pt x="27" y="0"/>
                      <a:pt x="26" y="1"/>
                      <a:pt x="25" y="1"/>
                    </a:cubicBezTo>
                    <a:cubicBezTo>
                      <a:pt x="25" y="1"/>
                      <a:pt x="21" y="2"/>
                      <a:pt x="20" y="6"/>
                    </a:cubicBezTo>
                    <a:cubicBezTo>
                      <a:pt x="19" y="10"/>
                      <a:pt x="18" y="12"/>
                      <a:pt x="18" y="14"/>
                    </a:cubicBezTo>
                    <a:cubicBezTo>
                      <a:pt x="18" y="15"/>
                      <a:pt x="19" y="14"/>
                      <a:pt x="18" y="15"/>
                    </a:cubicBezTo>
                    <a:cubicBezTo>
                      <a:pt x="17" y="16"/>
                      <a:pt x="17" y="16"/>
                      <a:pt x="17" y="17"/>
                    </a:cubicBezTo>
                    <a:cubicBezTo>
                      <a:pt x="18" y="18"/>
                      <a:pt x="19" y="20"/>
                      <a:pt x="18" y="21"/>
                    </a:cubicBezTo>
                    <a:cubicBezTo>
                      <a:pt x="16" y="23"/>
                      <a:pt x="16" y="23"/>
                      <a:pt x="17" y="24"/>
                    </a:cubicBezTo>
                    <a:cubicBezTo>
                      <a:pt x="17" y="24"/>
                      <a:pt x="18" y="24"/>
                      <a:pt x="17" y="25"/>
                    </a:cubicBezTo>
                    <a:cubicBezTo>
                      <a:pt x="17" y="26"/>
                      <a:pt x="17" y="27"/>
                      <a:pt x="17" y="27"/>
                    </a:cubicBezTo>
                    <a:cubicBezTo>
                      <a:pt x="17" y="28"/>
                      <a:pt x="17" y="29"/>
                      <a:pt x="16" y="29"/>
                    </a:cubicBezTo>
                    <a:cubicBezTo>
                      <a:pt x="15" y="30"/>
                      <a:pt x="14" y="32"/>
                      <a:pt x="14" y="36"/>
                    </a:cubicBezTo>
                    <a:cubicBezTo>
                      <a:pt x="15" y="39"/>
                      <a:pt x="14" y="40"/>
                      <a:pt x="15" y="41"/>
                    </a:cubicBezTo>
                    <a:cubicBezTo>
                      <a:pt x="16" y="43"/>
                      <a:pt x="19" y="44"/>
                      <a:pt x="16" y="45"/>
                    </a:cubicBezTo>
                    <a:cubicBezTo>
                      <a:pt x="14" y="46"/>
                      <a:pt x="5" y="48"/>
                      <a:pt x="2" y="54"/>
                    </a:cubicBezTo>
                    <a:cubicBezTo>
                      <a:pt x="0" y="59"/>
                      <a:pt x="3" y="55"/>
                      <a:pt x="6" y="55"/>
                    </a:cubicBezTo>
                    <a:cubicBezTo>
                      <a:pt x="9" y="55"/>
                      <a:pt x="24" y="51"/>
                      <a:pt x="24" y="53"/>
                    </a:cubicBezTo>
                    <a:cubicBezTo>
                      <a:pt x="25" y="55"/>
                      <a:pt x="25" y="54"/>
                      <a:pt x="25" y="55"/>
                    </a:cubicBezTo>
                    <a:cubicBezTo>
                      <a:pt x="26" y="56"/>
                      <a:pt x="26" y="57"/>
                      <a:pt x="26" y="58"/>
                    </a:cubicBezTo>
                    <a:cubicBezTo>
                      <a:pt x="25" y="59"/>
                      <a:pt x="25" y="62"/>
                      <a:pt x="26" y="63"/>
                    </a:cubicBezTo>
                    <a:cubicBezTo>
                      <a:pt x="27" y="65"/>
                      <a:pt x="30" y="68"/>
                      <a:pt x="33" y="67"/>
                    </a:cubicBezTo>
                    <a:cubicBezTo>
                      <a:pt x="36" y="66"/>
                      <a:pt x="42" y="63"/>
                      <a:pt x="43" y="61"/>
                    </a:cubicBezTo>
                    <a:cubicBezTo>
                      <a:pt x="43" y="58"/>
                      <a:pt x="45" y="57"/>
                      <a:pt x="46" y="56"/>
                    </a:cubicBezTo>
                    <a:cubicBezTo>
                      <a:pt x="48" y="56"/>
                      <a:pt x="49" y="55"/>
                      <a:pt x="50" y="55"/>
                    </a:cubicBezTo>
                    <a:cubicBezTo>
                      <a:pt x="51" y="54"/>
                      <a:pt x="53" y="53"/>
                      <a:pt x="53" y="53"/>
                    </a:cubicBezTo>
                    <a:cubicBezTo>
                      <a:pt x="54" y="53"/>
                      <a:pt x="55" y="52"/>
                      <a:pt x="55" y="50"/>
                    </a:cubicBezTo>
                    <a:cubicBezTo>
                      <a:pt x="55" y="48"/>
                      <a:pt x="55" y="47"/>
                      <a:pt x="56" y="46"/>
                    </a:cubicBezTo>
                    <a:cubicBezTo>
                      <a:pt x="57" y="45"/>
                      <a:pt x="67" y="40"/>
                      <a:pt x="64" y="44"/>
                    </a:cubicBezTo>
                    <a:cubicBezTo>
                      <a:pt x="62" y="48"/>
                      <a:pt x="62" y="47"/>
                      <a:pt x="66" y="47"/>
                    </a:cubicBezTo>
                    <a:cubicBezTo>
                      <a:pt x="69" y="47"/>
                      <a:pt x="76" y="49"/>
                      <a:pt x="73" y="51"/>
                    </a:cubicBezTo>
                    <a:cubicBezTo>
                      <a:pt x="70" y="54"/>
                      <a:pt x="72" y="54"/>
                      <a:pt x="74" y="54"/>
                    </a:cubicBezTo>
                    <a:cubicBezTo>
                      <a:pt x="77" y="54"/>
                      <a:pt x="83" y="55"/>
                      <a:pt x="85" y="57"/>
                    </a:cubicBezTo>
                    <a:cubicBezTo>
                      <a:pt x="88" y="58"/>
                      <a:pt x="95" y="61"/>
                      <a:pt x="95" y="59"/>
                    </a:cubicBezTo>
                    <a:cubicBezTo>
                      <a:pt x="96" y="58"/>
                      <a:pt x="97" y="57"/>
                      <a:pt x="98" y="57"/>
                    </a:cubicBezTo>
                    <a:cubicBezTo>
                      <a:pt x="100" y="56"/>
                      <a:pt x="104" y="54"/>
                      <a:pt x="104" y="54"/>
                    </a:cubicBezTo>
                    <a:cubicBezTo>
                      <a:pt x="105" y="53"/>
                      <a:pt x="108" y="52"/>
                      <a:pt x="106" y="5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45" name="Freeform 239">
                <a:extLst>
                  <a:ext uri="{FF2B5EF4-FFF2-40B4-BE49-F238E27FC236}">
                    <a16:creationId xmlns:a16="http://schemas.microsoft.com/office/drawing/2014/main" id="{DF9E4BE3-28E5-475A-BA01-609A67E12310}"/>
                  </a:ext>
                </a:extLst>
              </p:cNvPr>
              <p:cNvSpPr>
                <a:spLocks/>
              </p:cNvSpPr>
              <p:nvPr/>
            </p:nvSpPr>
            <p:spPr bwMode="auto">
              <a:xfrm>
                <a:off x="1779" y="1190"/>
                <a:ext cx="43" cy="28"/>
              </a:xfrm>
              <a:custGeom>
                <a:avLst/>
                <a:gdLst>
                  <a:gd name="T0" fmla="*/ 30 w 31"/>
                  <a:gd name="T1" fmla="*/ 3 h 20"/>
                  <a:gd name="T2" fmla="*/ 27 w 31"/>
                  <a:gd name="T3" fmla="*/ 1 h 20"/>
                  <a:gd name="T4" fmla="*/ 23 w 31"/>
                  <a:gd name="T5" fmla="*/ 1 h 20"/>
                  <a:gd name="T6" fmla="*/ 20 w 31"/>
                  <a:gd name="T7" fmla="*/ 2 h 20"/>
                  <a:gd name="T8" fmla="*/ 15 w 31"/>
                  <a:gd name="T9" fmla="*/ 3 h 20"/>
                  <a:gd name="T10" fmla="*/ 10 w 31"/>
                  <a:gd name="T11" fmla="*/ 2 h 20"/>
                  <a:gd name="T12" fmla="*/ 5 w 31"/>
                  <a:gd name="T13" fmla="*/ 7 h 20"/>
                  <a:gd name="T14" fmla="*/ 1 w 31"/>
                  <a:gd name="T15" fmla="*/ 12 h 20"/>
                  <a:gd name="T16" fmla="*/ 0 w 31"/>
                  <a:gd name="T17" fmla="*/ 14 h 20"/>
                  <a:gd name="T18" fmla="*/ 2 w 31"/>
                  <a:gd name="T19" fmla="*/ 19 h 20"/>
                  <a:gd name="T20" fmla="*/ 6 w 31"/>
                  <a:gd name="T21" fmla="*/ 19 h 20"/>
                  <a:gd name="T22" fmla="*/ 10 w 31"/>
                  <a:gd name="T23" fmla="*/ 19 h 20"/>
                  <a:gd name="T24" fmla="*/ 20 w 31"/>
                  <a:gd name="T25" fmla="*/ 14 h 20"/>
                  <a:gd name="T26" fmla="*/ 27 w 31"/>
                  <a:gd name="T27" fmla="*/ 9 h 20"/>
                  <a:gd name="T28" fmla="*/ 30 w 31"/>
                  <a:gd name="T29"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20">
                    <a:moveTo>
                      <a:pt x="30" y="3"/>
                    </a:moveTo>
                    <a:cubicBezTo>
                      <a:pt x="31" y="2"/>
                      <a:pt x="28" y="2"/>
                      <a:pt x="27" y="1"/>
                    </a:cubicBezTo>
                    <a:cubicBezTo>
                      <a:pt x="25" y="0"/>
                      <a:pt x="24" y="1"/>
                      <a:pt x="23" y="1"/>
                    </a:cubicBezTo>
                    <a:cubicBezTo>
                      <a:pt x="22" y="2"/>
                      <a:pt x="22" y="2"/>
                      <a:pt x="20" y="2"/>
                    </a:cubicBezTo>
                    <a:cubicBezTo>
                      <a:pt x="18" y="2"/>
                      <a:pt x="18" y="1"/>
                      <a:pt x="15" y="3"/>
                    </a:cubicBezTo>
                    <a:cubicBezTo>
                      <a:pt x="12" y="6"/>
                      <a:pt x="10" y="3"/>
                      <a:pt x="10" y="2"/>
                    </a:cubicBezTo>
                    <a:cubicBezTo>
                      <a:pt x="9" y="1"/>
                      <a:pt x="6" y="4"/>
                      <a:pt x="5" y="7"/>
                    </a:cubicBezTo>
                    <a:cubicBezTo>
                      <a:pt x="5" y="9"/>
                      <a:pt x="3" y="11"/>
                      <a:pt x="1" y="12"/>
                    </a:cubicBezTo>
                    <a:cubicBezTo>
                      <a:pt x="0" y="13"/>
                      <a:pt x="0" y="14"/>
                      <a:pt x="0" y="14"/>
                    </a:cubicBezTo>
                    <a:cubicBezTo>
                      <a:pt x="0" y="14"/>
                      <a:pt x="1" y="17"/>
                      <a:pt x="2" y="19"/>
                    </a:cubicBezTo>
                    <a:cubicBezTo>
                      <a:pt x="3" y="20"/>
                      <a:pt x="4" y="20"/>
                      <a:pt x="6" y="19"/>
                    </a:cubicBezTo>
                    <a:cubicBezTo>
                      <a:pt x="7" y="18"/>
                      <a:pt x="7" y="19"/>
                      <a:pt x="10" y="19"/>
                    </a:cubicBezTo>
                    <a:cubicBezTo>
                      <a:pt x="14" y="20"/>
                      <a:pt x="18" y="16"/>
                      <a:pt x="20" y="14"/>
                    </a:cubicBezTo>
                    <a:cubicBezTo>
                      <a:pt x="23" y="11"/>
                      <a:pt x="24" y="11"/>
                      <a:pt x="27" y="9"/>
                    </a:cubicBezTo>
                    <a:cubicBezTo>
                      <a:pt x="30" y="8"/>
                      <a:pt x="29" y="5"/>
                      <a:pt x="3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47" name="Freeform 240">
                <a:extLst>
                  <a:ext uri="{FF2B5EF4-FFF2-40B4-BE49-F238E27FC236}">
                    <a16:creationId xmlns:a16="http://schemas.microsoft.com/office/drawing/2014/main" id="{3D008C77-EF17-4E08-9AE5-47B1ACFDE3DA}"/>
                  </a:ext>
                </a:extLst>
              </p:cNvPr>
              <p:cNvSpPr>
                <a:spLocks/>
              </p:cNvSpPr>
              <p:nvPr/>
            </p:nvSpPr>
            <p:spPr bwMode="auto">
              <a:xfrm>
                <a:off x="1884" y="1259"/>
                <a:ext cx="11" cy="4"/>
              </a:xfrm>
              <a:custGeom>
                <a:avLst/>
                <a:gdLst>
                  <a:gd name="T0" fmla="*/ 8 w 8"/>
                  <a:gd name="T1" fmla="*/ 0 h 3"/>
                  <a:gd name="T2" fmla="*/ 2 w 8"/>
                  <a:gd name="T3" fmla="*/ 3 h 3"/>
                  <a:gd name="T4" fmla="*/ 8 w 8"/>
                  <a:gd name="T5" fmla="*/ 0 h 3"/>
                </a:gdLst>
                <a:ahLst/>
                <a:cxnLst>
                  <a:cxn ang="0">
                    <a:pos x="T0" y="T1"/>
                  </a:cxn>
                  <a:cxn ang="0">
                    <a:pos x="T2" y="T3"/>
                  </a:cxn>
                  <a:cxn ang="0">
                    <a:pos x="T4" y="T5"/>
                  </a:cxn>
                </a:cxnLst>
                <a:rect l="0" t="0" r="r" b="b"/>
                <a:pathLst>
                  <a:path w="8" h="3">
                    <a:moveTo>
                      <a:pt x="8" y="0"/>
                    </a:moveTo>
                    <a:cubicBezTo>
                      <a:pt x="5" y="1"/>
                      <a:pt x="0" y="3"/>
                      <a:pt x="2" y="3"/>
                    </a:cubicBezTo>
                    <a:cubicBezTo>
                      <a:pt x="4" y="3"/>
                      <a:pt x="8" y="0"/>
                      <a:pt x="8"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49" name="Freeform 241">
                <a:extLst>
                  <a:ext uri="{FF2B5EF4-FFF2-40B4-BE49-F238E27FC236}">
                    <a16:creationId xmlns:a16="http://schemas.microsoft.com/office/drawing/2014/main" id="{D4E39771-D17A-4E82-B79A-7869D0C72C9E}"/>
                  </a:ext>
                </a:extLst>
              </p:cNvPr>
              <p:cNvSpPr>
                <a:spLocks/>
              </p:cNvSpPr>
              <p:nvPr/>
            </p:nvSpPr>
            <p:spPr bwMode="auto">
              <a:xfrm>
                <a:off x="1851" y="1210"/>
                <a:ext cx="24" cy="27"/>
              </a:xfrm>
              <a:custGeom>
                <a:avLst/>
                <a:gdLst>
                  <a:gd name="T0" fmla="*/ 7 w 17"/>
                  <a:gd name="T1" fmla="*/ 18 h 20"/>
                  <a:gd name="T2" fmla="*/ 10 w 17"/>
                  <a:gd name="T3" fmla="*/ 19 h 20"/>
                  <a:gd name="T4" fmla="*/ 12 w 17"/>
                  <a:gd name="T5" fmla="*/ 14 h 20"/>
                  <a:gd name="T6" fmla="*/ 15 w 17"/>
                  <a:gd name="T7" fmla="*/ 10 h 20"/>
                  <a:gd name="T8" fmla="*/ 17 w 17"/>
                  <a:gd name="T9" fmla="*/ 5 h 20"/>
                  <a:gd name="T10" fmla="*/ 13 w 17"/>
                  <a:gd name="T11" fmla="*/ 1 h 20"/>
                  <a:gd name="T12" fmla="*/ 9 w 17"/>
                  <a:gd name="T13" fmla="*/ 1 h 20"/>
                  <a:gd name="T14" fmla="*/ 6 w 17"/>
                  <a:gd name="T15" fmla="*/ 2 h 20"/>
                  <a:gd name="T16" fmla="*/ 3 w 17"/>
                  <a:gd name="T17" fmla="*/ 6 h 20"/>
                  <a:gd name="T18" fmla="*/ 2 w 17"/>
                  <a:gd name="T19" fmla="*/ 14 h 20"/>
                  <a:gd name="T20" fmla="*/ 7 w 17"/>
                  <a:gd name="T21"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20">
                    <a:moveTo>
                      <a:pt x="7" y="18"/>
                    </a:moveTo>
                    <a:cubicBezTo>
                      <a:pt x="9" y="20"/>
                      <a:pt x="10" y="19"/>
                      <a:pt x="10" y="19"/>
                    </a:cubicBezTo>
                    <a:cubicBezTo>
                      <a:pt x="11" y="18"/>
                      <a:pt x="11" y="15"/>
                      <a:pt x="12" y="14"/>
                    </a:cubicBezTo>
                    <a:cubicBezTo>
                      <a:pt x="12" y="13"/>
                      <a:pt x="14" y="11"/>
                      <a:pt x="15" y="10"/>
                    </a:cubicBezTo>
                    <a:cubicBezTo>
                      <a:pt x="16" y="9"/>
                      <a:pt x="16" y="7"/>
                      <a:pt x="17" y="5"/>
                    </a:cubicBezTo>
                    <a:cubicBezTo>
                      <a:pt x="17" y="3"/>
                      <a:pt x="15" y="1"/>
                      <a:pt x="13" y="1"/>
                    </a:cubicBezTo>
                    <a:cubicBezTo>
                      <a:pt x="12" y="0"/>
                      <a:pt x="10" y="1"/>
                      <a:pt x="9" y="1"/>
                    </a:cubicBezTo>
                    <a:cubicBezTo>
                      <a:pt x="8" y="1"/>
                      <a:pt x="7" y="1"/>
                      <a:pt x="6" y="2"/>
                    </a:cubicBezTo>
                    <a:cubicBezTo>
                      <a:pt x="5" y="3"/>
                      <a:pt x="5" y="3"/>
                      <a:pt x="3" y="6"/>
                    </a:cubicBezTo>
                    <a:cubicBezTo>
                      <a:pt x="0" y="9"/>
                      <a:pt x="2" y="13"/>
                      <a:pt x="2" y="14"/>
                    </a:cubicBezTo>
                    <a:cubicBezTo>
                      <a:pt x="3" y="15"/>
                      <a:pt x="5" y="17"/>
                      <a:pt x="7" y="1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50" name="Freeform 242">
                <a:extLst>
                  <a:ext uri="{FF2B5EF4-FFF2-40B4-BE49-F238E27FC236}">
                    <a16:creationId xmlns:a16="http://schemas.microsoft.com/office/drawing/2014/main" id="{BFBEA6E7-21AA-42F6-89DB-F78028A5A6DC}"/>
                  </a:ext>
                </a:extLst>
              </p:cNvPr>
              <p:cNvSpPr>
                <a:spLocks/>
              </p:cNvSpPr>
              <p:nvPr/>
            </p:nvSpPr>
            <p:spPr bwMode="auto">
              <a:xfrm>
                <a:off x="1888" y="1175"/>
                <a:ext cx="25" cy="13"/>
              </a:xfrm>
              <a:custGeom>
                <a:avLst/>
                <a:gdLst>
                  <a:gd name="T0" fmla="*/ 11 w 18"/>
                  <a:gd name="T1" fmla="*/ 9 h 9"/>
                  <a:gd name="T2" fmla="*/ 14 w 18"/>
                  <a:gd name="T3" fmla="*/ 2 h 9"/>
                  <a:gd name="T4" fmla="*/ 12 w 18"/>
                  <a:gd name="T5" fmla="*/ 1 h 9"/>
                  <a:gd name="T6" fmla="*/ 7 w 18"/>
                  <a:gd name="T7" fmla="*/ 0 h 9"/>
                  <a:gd name="T8" fmla="*/ 2 w 18"/>
                  <a:gd name="T9" fmla="*/ 2 h 9"/>
                  <a:gd name="T10" fmla="*/ 3 w 18"/>
                  <a:gd name="T11" fmla="*/ 4 h 9"/>
                  <a:gd name="T12" fmla="*/ 7 w 18"/>
                  <a:gd name="T13" fmla="*/ 8 h 9"/>
                  <a:gd name="T14" fmla="*/ 11 w 18"/>
                  <a:gd name="T15" fmla="*/ 9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9">
                    <a:moveTo>
                      <a:pt x="11" y="9"/>
                    </a:moveTo>
                    <a:cubicBezTo>
                      <a:pt x="18" y="6"/>
                      <a:pt x="15" y="4"/>
                      <a:pt x="14" y="2"/>
                    </a:cubicBezTo>
                    <a:cubicBezTo>
                      <a:pt x="13" y="1"/>
                      <a:pt x="12" y="2"/>
                      <a:pt x="12" y="1"/>
                    </a:cubicBezTo>
                    <a:cubicBezTo>
                      <a:pt x="11" y="1"/>
                      <a:pt x="9" y="1"/>
                      <a:pt x="7" y="0"/>
                    </a:cubicBezTo>
                    <a:cubicBezTo>
                      <a:pt x="5" y="0"/>
                      <a:pt x="4" y="1"/>
                      <a:pt x="2" y="2"/>
                    </a:cubicBezTo>
                    <a:cubicBezTo>
                      <a:pt x="0" y="2"/>
                      <a:pt x="1" y="3"/>
                      <a:pt x="3" y="4"/>
                    </a:cubicBezTo>
                    <a:cubicBezTo>
                      <a:pt x="4" y="5"/>
                      <a:pt x="6" y="6"/>
                      <a:pt x="7" y="8"/>
                    </a:cubicBezTo>
                    <a:cubicBezTo>
                      <a:pt x="9" y="9"/>
                      <a:pt x="11" y="9"/>
                      <a:pt x="11"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52" name="Freeform 243">
                <a:extLst>
                  <a:ext uri="{FF2B5EF4-FFF2-40B4-BE49-F238E27FC236}">
                    <a16:creationId xmlns:a16="http://schemas.microsoft.com/office/drawing/2014/main" id="{6D72E818-26B6-447A-AF8F-04BBE6D98809}"/>
                  </a:ext>
                </a:extLst>
              </p:cNvPr>
              <p:cNvSpPr>
                <a:spLocks/>
              </p:cNvSpPr>
              <p:nvPr/>
            </p:nvSpPr>
            <p:spPr bwMode="auto">
              <a:xfrm>
                <a:off x="1900" y="1157"/>
                <a:ext cx="8" cy="3"/>
              </a:xfrm>
              <a:custGeom>
                <a:avLst/>
                <a:gdLst>
                  <a:gd name="T0" fmla="*/ 6 w 6"/>
                  <a:gd name="T1" fmla="*/ 1 h 2"/>
                  <a:gd name="T2" fmla="*/ 1 w 6"/>
                  <a:gd name="T3" fmla="*/ 1 h 2"/>
                  <a:gd name="T4" fmla="*/ 6 w 6"/>
                  <a:gd name="T5" fmla="*/ 1 h 2"/>
                </a:gdLst>
                <a:ahLst/>
                <a:cxnLst>
                  <a:cxn ang="0">
                    <a:pos x="T0" y="T1"/>
                  </a:cxn>
                  <a:cxn ang="0">
                    <a:pos x="T2" y="T3"/>
                  </a:cxn>
                  <a:cxn ang="0">
                    <a:pos x="T4" y="T5"/>
                  </a:cxn>
                </a:cxnLst>
                <a:rect l="0" t="0" r="r" b="b"/>
                <a:pathLst>
                  <a:path w="6" h="2">
                    <a:moveTo>
                      <a:pt x="6" y="1"/>
                    </a:moveTo>
                    <a:cubicBezTo>
                      <a:pt x="6" y="1"/>
                      <a:pt x="2" y="0"/>
                      <a:pt x="1" y="1"/>
                    </a:cubicBezTo>
                    <a:cubicBezTo>
                      <a:pt x="0" y="2"/>
                      <a:pt x="4" y="1"/>
                      <a:pt x="6"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53" name="Freeform 244">
                <a:extLst>
                  <a:ext uri="{FF2B5EF4-FFF2-40B4-BE49-F238E27FC236}">
                    <a16:creationId xmlns:a16="http://schemas.microsoft.com/office/drawing/2014/main" id="{E3BD51CC-28D9-4224-B9B2-884B136B3A97}"/>
                  </a:ext>
                </a:extLst>
              </p:cNvPr>
              <p:cNvSpPr>
                <a:spLocks/>
              </p:cNvSpPr>
              <p:nvPr/>
            </p:nvSpPr>
            <p:spPr bwMode="auto">
              <a:xfrm>
                <a:off x="1909" y="1168"/>
                <a:ext cx="22" cy="13"/>
              </a:xfrm>
              <a:custGeom>
                <a:avLst/>
                <a:gdLst>
                  <a:gd name="T0" fmla="*/ 12 w 16"/>
                  <a:gd name="T1" fmla="*/ 4 h 9"/>
                  <a:gd name="T2" fmla="*/ 5 w 16"/>
                  <a:gd name="T3" fmla="*/ 0 h 9"/>
                  <a:gd name="T4" fmla="*/ 4 w 16"/>
                  <a:gd name="T5" fmla="*/ 4 h 9"/>
                  <a:gd name="T6" fmla="*/ 14 w 16"/>
                  <a:gd name="T7" fmla="*/ 7 h 9"/>
                  <a:gd name="T8" fmla="*/ 15 w 16"/>
                  <a:gd name="T9" fmla="*/ 6 h 9"/>
                  <a:gd name="T10" fmla="*/ 12 w 16"/>
                  <a:gd name="T11" fmla="*/ 4 h 9"/>
                </a:gdLst>
                <a:ahLst/>
                <a:cxnLst>
                  <a:cxn ang="0">
                    <a:pos x="T0" y="T1"/>
                  </a:cxn>
                  <a:cxn ang="0">
                    <a:pos x="T2" y="T3"/>
                  </a:cxn>
                  <a:cxn ang="0">
                    <a:pos x="T4" y="T5"/>
                  </a:cxn>
                  <a:cxn ang="0">
                    <a:pos x="T6" y="T7"/>
                  </a:cxn>
                  <a:cxn ang="0">
                    <a:pos x="T8" y="T9"/>
                  </a:cxn>
                  <a:cxn ang="0">
                    <a:pos x="T10" y="T11"/>
                  </a:cxn>
                </a:cxnLst>
                <a:rect l="0" t="0" r="r" b="b"/>
                <a:pathLst>
                  <a:path w="16" h="9">
                    <a:moveTo>
                      <a:pt x="12" y="4"/>
                    </a:moveTo>
                    <a:cubicBezTo>
                      <a:pt x="11" y="3"/>
                      <a:pt x="6" y="0"/>
                      <a:pt x="5" y="0"/>
                    </a:cubicBezTo>
                    <a:cubicBezTo>
                      <a:pt x="4" y="1"/>
                      <a:pt x="0" y="2"/>
                      <a:pt x="4" y="4"/>
                    </a:cubicBezTo>
                    <a:cubicBezTo>
                      <a:pt x="8" y="6"/>
                      <a:pt x="10" y="9"/>
                      <a:pt x="14" y="7"/>
                    </a:cubicBezTo>
                    <a:cubicBezTo>
                      <a:pt x="14" y="7"/>
                      <a:pt x="16" y="6"/>
                      <a:pt x="15" y="6"/>
                    </a:cubicBezTo>
                    <a:cubicBezTo>
                      <a:pt x="13" y="5"/>
                      <a:pt x="12" y="5"/>
                      <a:pt x="12"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58" name="Freeform 245">
                <a:extLst>
                  <a:ext uri="{FF2B5EF4-FFF2-40B4-BE49-F238E27FC236}">
                    <a16:creationId xmlns:a16="http://schemas.microsoft.com/office/drawing/2014/main" id="{AFF29BB2-2C26-4C58-886A-EBBAD7A61C73}"/>
                  </a:ext>
                </a:extLst>
              </p:cNvPr>
              <p:cNvSpPr>
                <a:spLocks/>
              </p:cNvSpPr>
              <p:nvPr/>
            </p:nvSpPr>
            <p:spPr bwMode="auto">
              <a:xfrm>
                <a:off x="1969" y="1199"/>
                <a:ext cx="15" cy="5"/>
              </a:xfrm>
              <a:custGeom>
                <a:avLst/>
                <a:gdLst>
                  <a:gd name="T0" fmla="*/ 2 w 11"/>
                  <a:gd name="T1" fmla="*/ 2 h 4"/>
                  <a:gd name="T2" fmla="*/ 10 w 11"/>
                  <a:gd name="T3" fmla="*/ 4 h 4"/>
                  <a:gd name="T4" fmla="*/ 5 w 11"/>
                  <a:gd name="T5" fmla="*/ 1 h 4"/>
                  <a:gd name="T6" fmla="*/ 2 w 11"/>
                  <a:gd name="T7" fmla="*/ 2 h 4"/>
                </a:gdLst>
                <a:ahLst/>
                <a:cxnLst>
                  <a:cxn ang="0">
                    <a:pos x="T0" y="T1"/>
                  </a:cxn>
                  <a:cxn ang="0">
                    <a:pos x="T2" y="T3"/>
                  </a:cxn>
                  <a:cxn ang="0">
                    <a:pos x="T4" y="T5"/>
                  </a:cxn>
                  <a:cxn ang="0">
                    <a:pos x="T6" y="T7"/>
                  </a:cxn>
                </a:cxnLst>
                <a:rect l="0" t="0" r="r" b="b"/>
                <a:pathLst>
                  <a:path w="11" h="4">
                    <a:moveTo>
                      <a:pt x="2" y="2"/>
                    </a:moveTo>
                    <a:cubicBezTo>
                      <a:pt x="3" y="3"/>
                      <a:pt x="10" y="4"/>
                      <a:pt x="10" y="4"/>
                    </a:cubicBezTo>
                    <a:cubicBezTo>
                      <a:pt x="11" y="3"/>
                      <a:pt x="7" y="2"/>
                      <a:pt x="5" y="1"/>
                    </a:cubicBezTo>
                    <a:cubicBezTo>
                      <a:pt x="2" y="0"/>
                      <a:pt x="0" y="0"/>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60" name="Freeform 246">
                <a:extLst>
                  <a:ext uri="{FF2B5EF4-FFF2-40B4-BE49-F238E27FC236}">
                    <a16:creationId xmlns:a16="http://schemas.microsoft.com/office/drawing/2014/main" id="{E8CB898E-A066-4C3E-9E07-81DE1F61B009}"/>
                  </a:ext>
                </a:extLst>
              </p:cNvPr>
              <p:cNvSpPr>
                <a:spLocks/>
              </p:cNvSpPr>
              <p:nvPr/>
            </p:nvSpPr>
            <p:spPr bwMode="auto">
              <a:xfrm>
                <a:off x="2037" y="1194"/>
                <a:ext cx="26" cy="13"/>
              </a:xfrm>
              <a:custGeom>
                <a:avLst/>
                <a:gdLst>
                  <a:gd name="T0" fmla="*/ 5 w 19"/>
                  <a:gd name="T1" fmla="*/ 0 h 9"/>
                  <a:gd name="T2" fmla="*/ 4 w 19"/>
                  <a:gd name="T3" fmla="*/ 1 h 9"/>
                  <a:gd name="T4" fmla="*/ 9 w 19"/>
                  <a:gd name="T5" fmla="*/ 6 h 9"/>
                  <a:gd name="T6" fmla="*/ 15 w 19"/>
                  <a:gd name="T7" fmla="*/ 8 h 9"/>
                  <a:gd name="T8" fmla="*/ 14 w 19"/>
                  <a:gd name="T9" fmla="*/ 5 h 9"/>
                  <a:gd name="T10" fmla="*/ 5 w 19"/>
                  <a:gd name="T11" fmla="*/ 0 h 9"/>
                </a:gdLst>
                <a:ahLst/>
                <a:cxnLst>
                  <a:cxn ang="0">
                    <a:pos x="T0" y="T1"/>
                  </a:cxn>
                  <a:cxn ang="0">
                    <a:pos x="T2" y="T3"/>
                  </a:cxn>
                  <a:cxn ang="0">
                    <a:pos x="T4" y="T5"/>
                  </a:cxn>
                  <a:cxn ang="0">
                    <a:pos x="T6" y="T7"/>
                  </a:cxn>
                  <a:cxn ang="0">
                    <a:pos x="T8" y="T9"/>
                  </a:cxn>
                  <a:cxn ang="0">
                    <a:pos x="T10" y="T11"/>
                  </a:cxn>
                </a:cxnLst>
                <a:rect l="0" t="0" r="r" b="b"/>
                <a:pathLst>
                  <a:path w="19" h="9">
                    <a:moveTo>
                      <a:pt x="5" y="0"/>
                    </a:moveTo>
                    <a:cubicBezTo>
                      <a:pt x="0" y="0"/>
                      <a:pt x="4" y="1"/>
                      <a:pt x="4" y="1"/>
                    </a:cubicBezTo>
                    <a:cubicBezTo>
                      <a:pt x="6" y="2"/>
                      <a:pt x="8" y="4"/>
                      <a:pt x="9" y="6"/>
                    </a:cubicBezTo>
                    <a:cubicBezTo>
                      <a:pt x="9" y="9"/>
                      <a:pt x="12" y="8"/>
                      <a:pt x="15" y="8"/>
                    </a:cubicBezTo>
                    <a:cubicBezTo>
                      <a:pt x="19" y="8"/>
                      <a:pt x="15" y="6"/>
                      <a:pt x="14" y="5"/>
                    </a:cubicBezTo>
                    <a:cubicBezTo>
                      <a:pt x="13" y="4"/>
                      <a:pt x="10" y="1"/>
                      <a:pt x="5"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61" name="Freeform 247">
                <a:extLst>
                  <a:ext uri="{FF2B5EF4-FFF2-40B4-BE49-F238E27FC236}">
                    <a16:creationId xmlns:a16="http://schemas.microsoft.com/office/drawing/2014/main" id="{F60B1B50-4A79-4727-A266-A2A22F833E5C}"/>
                  </a:ext>
                </a:extLst>
              </p:cNvPr>
              <p:cNvSpPr>
                <a:spLocks/>
              </p:cNvSpPr>
              <p:nvPr/>
            </p:nvSpPr>
            <p:spPr bwMode="auto">
              <a:xfrm>
                <a:off x="2097" y="1267"/>
                <a:ext cx="11" cy="12"/>
              </a:xfrm>
              <a:custGeom>
                <a:avLst/>
                <a:gdLst>
                  <a:gd name="T0" fmla="*/ 3 w 8"/>
                  <a:gd name="T1" fmla="*/ 2 h 9"/>
                  <a:gd name="T2" fmla="*/ 2 w 8"/>
                  <a:gd name="T3" fmla="*/ 4 h 9"/>
                  <a:gd name="T4" fmla="*/ 1 w 8"/>
                  <a:gd name="T5" fmla="*/ 7 h 9"/>
                  <a:gd name="T6" fmla="*/ 6 w 8"/>
                  <a:gd name="T7" fmla="*/ 6 h 9"/>
                  <a:gd name="T8" fmla="*/ 8 w 8"/>
                  <a:gd name="T9" fmla="*/ 3 h 9"/>
                  <a:gd name="T10" fmla="*/ 6 w 8"/>
                  <a:gd name="T11" fmla="*/ 0 h 9"/>
                  <a:gd name="T12" fmla="*/ 3 w 8"/>
                  <a:gd name="T13" fmla="*/ 2 h 9"/>
                </a:gdLst>
                <a:ahLst/>
                <a:cxnLst>
                  <a:cxn ang="0">
                    <a:pos x="T0" y="T1"/>
                  </a:cxn>
                  <a:cxn ang="0">
                    <a:pos x="T2" y="T3"/>
                  </a:cxn>
                  <a:cxn ang="0">
                    <a:pos x="T4" y="T5"/>
                  </a:cxn>
                  <a:cxn ang="0">
                    <a:pos x="T6" y="T7"/>
                  </a:cxn>
                  <a:cxn ang="0">
                    <a:pos x="T8" y="T9"/>
                  </a:cxn>
                  <a:cxn ang="0">
                    <a:pos x="T10" y="T11"/>
                  </a:cxn>
                  <a:cxn ang="0">
                    <a:pos x="T12" y="T13"/>
                  </a:cxn>
                </a:cxnLst>
                <a:rect l="0" t="0" r="r" b="b"/>
                <a:pathLst>
                  <a:path w="8" h="9">
                    <a:moveTo>
                      <a:pt x="3" y="2"/>
                    </a:moveTo>
                    <a:cubicBezTo>
                      <a:pt x="2" y="3"/>
                      <a:pt x="4" y="3"/>
                      <a:pt x="2" y="4"/>
                    </a:cubicBezTo>
                    <a:cubicBezTo>
                      <a:pt x="0" y="6"/>
                      <a:pt x="1" y="7"/>
                      <a:pt x="1" y="7"/>
                    </a:cubicBezTo>
                    <a:cubicBezTo>
                      <a:pt x="2" y="9"/>
                      <a:pt x="4" y="7"/>
                      <a:pt x="6" y="6"/>
                    </a:cubicBezTo>
                    <a:cubicBezTo>
                      <a:pt x="7" y="6"/>
                      <a:pt x="8" y="4"/>
                      <a:pt x="8" y="3"/>
                    </a:cubicBezTo>
                    <a:cubicBezTo>
                      <a:pt x="8" y="2"/>
                      <a:pt x="7" y="1"/>
                      <a:pt x="6" y="0"/>
                    </a:cubicBezTo>
                    <a:cubicBezTo>
                      <a:pt x="5" y="0"/>
                      <a:pt x="4" y="0"/>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63" name="Freeform 248">
                <a:extLst>
                  <a:ext uri="{FF2B5EF4-FFF2-40B4-BE49-F238E27FC236}">
                    <a16:creationId xmlns:a16="http://schemas.microsoft.com/office/drawing/2014/main" id="{C832D6A9-C826-4004-934F-9F232EFC949E}"/>
                  </a:ext>
                </a:extLst>
              </p:cNvPr>
              <p:cNvSpPr>
                <a:spLocks/>
              </p:cNvSpPr>
              <p:nvPr/>
            </p:nvSpPr>
            <p:spPr bwMode="auto">
              <a:xfrm>
                <a:off x="2161" y="1223"/>
                <a:ext cx="10" cy="8"/>
              </a:xfrm>
              <a:custGeom>
                <a:avLst/>
                <a:gdLst>
                  <a:gd name="T0" fmla="*/ 6 w 7"/>
                  <a:gd name="T1" fmla="*/ 6 h 6"/>
                  <a:gd name="T2" fmla="*/ 5 w 7"/>
                  <a:gd name="T3" fmla="*/ 3 h 6"/>
                  <a:gd name="T4" fmla="*/ 1 w 7"/>
                  <a:gd name="T5" fmla="*/ 2 h 6"/>
                  <a:gd name="T6" fmla="*/ 3 w 7"/>
                  <a:gd name="T7" fmla="*/ 5 h 6"/>
                  <a:gd name="T8" fmla="*/ 6 w 7"/>
                  <a:gd name="T9" fmla="*/ 6 h 6"/>
                </a:gdLst>
                <a:ahLst/>
                <a:cxnLst>
                  <a:cxn ang="0">
                    <a:pos x="T0" y="T1"/>
                  </a:cxn>
                  <a:cxn ang="0">
                    <a:pos x="T2" y="T3"/>
                  </a:cxn>
                  <a:cxn ang="0">
                    <a:pos x="T4" y="T5"/>
                  </a:cxn>
                  <a:cxn ang="0">
                    <a:pos x="T6" y="T7"/>
                  </a:cxn>
                  <a:cxn ang="0">
                    <a:pos x="T8" y="T9"/>
                  </a:cxn>
                </a:cxnLst>
                <a:rect l="0" t="0" r="r" b="b"/>
                <a:pathLst>
                  <a:path w="7" h="6">
                    <a:moveTo>
                      <a:pt x="6" y="6"/>
                    </a:moveTo>
                    <a:cubicBezTo>
                      <a:pt x="6" y="6"/>
                      <a:pt x="7" y="5"/>
                      <a:pt x="5" y="3"/>
                    </a:cubicBezTo>
                    <a:cubicBezTo>
                      <a:pt x="3" y="1"/>
                      <a:pt x="2" y="0"/>
                      <a:pt x="1" y="2"/>
                    </a:cubicBezTo>
                    <a:cubicBezTo>
                      <a:pt x="0" y="3"/>
                      <a:pt x="1" y="4"/>
                      <a:pt x="3" y="5"/>
                    </a:cubicBezTo>
                    <a:cubicBezTo>
                      <a:pt x="4" y="6"/>
                      <a:pt x="6" y="6"/>
                      <a:pt x="6"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65" name="Freeform 249">
                <a:extLst>
                  <a:ext uri="{FF2B5EF4-FFF2-40B4-BE49-F238E27FC236}">
                    <a16:creationId xmlns:a16="http://schemas.microsoft.com/office/drawing/2014/main" id="{3CE102D9-7ECA-4095-842B-7BCB7578A7D9}"/>
                  </a:ext>
                </a:extLst>
              </p:cNvPr>
              <p:cNvSpPr>
                <a:spLocks/>
              </p:cNvSpPr>
              <p:nvPr/>
            </p:nvSpPr>
            <p:spPr bwMode="auto">
              <a:xfrm>
                <a:off x="2156" y="1234"/>
                <a:ext cx="19" cy="10"/>
              </a:xfrm>
              <a:custGeom>
                <a:avLst/>
                <a:gdLst>
                  <a:gd name="T0" fmla="*/ 3 w 14"/>
                  <a:gd name="T1" fmla="*/ 2 h 7"/>
                  <a:gd name="T2" fmla="*/ 8 w 14"/>
                  <a:gd name="T3" fmla="*/ 5 h 7"/>
                  <a:gd name="T4" fmla="*/ 11 w 14"/>
                  <a:gd name="T5" fmla="*/ 7 h 7"/>
                  <a:gd name="T6" fmla="*/ 13 w 14"/>
                  <a:gd name="T7" fmla="*/ 5 h 7"/>
                  <a:gd name="T8" fmla="*/ 13 w 14"/>
                  <a:gd name="T9" fmla="*/ 2 h 7"/>
                  <a:gd name="T10" fmla="*/ 4 w 14"/>
                  <a:gd name="T11" fmla="*/ 0 h 7"/>
                  <a:gd name="T12" fmla="*/ 3 w 14"/>
                  <a:gd name="T13" fmla="*/ 2 h 7"/>
                </a:gdLst>
                <a:ahLst/>
                <a:cxnLst>
                  <a:cxn ang="0">
                    <a:pos x="T0" y="T1"/>
                  </a:cxn>
                  <a:cxn ang="0">
                    <a:pos x="T2" y="T3"/>
                  </a:cxn>
                  <a:cxn ang="0">
                    <a:pos x="T4" y="T5"/>
                  </a:cxn>
                  <a:cxn ang="0">
                    <a:pos x="T6" y="T7"/>
                  </a:cxn>
                  <a:cxn ang="0">
                    <a:pos x="T8" y="T9"/>
                  </a:cxn>
                  <a:cxn ang="0">
                    <a:pos x="T10" y="T11"/>
                  </a:cxn>
                  <a:cxn ang="0">
                    <a:pos x="T12" y="T13"/>
                  </a:cxn>
                </a:cxnLst>
                <a:rect l="0" t="0" r="r" b="b"/>
                <a:pathLst>
                  <a:path w="14" h="7">
                    <a:moveTo>
                      <a:pt x="3" y="2"/>
                    </a:moveTo>
                    <a:cubicBezTo>
                      <a:pt x="3" y="1"/>
                      <a:pt x="6" y="4"/>
                      <a:pt x="8" y="5"/>
                    </a:cubicBezTo>
                    <a:cubicBezTo>
                      <a:pt x="10" y="7"/>
                      <a:pt x="10" y="7"/>
                      <a:pt x="11" y="7"/>
                    </a:cubicBezTo>
                    <a:cubicBezTo>
                      <a:pt x="12" y="6"/>
                      <a:pt x="12" y="5"/>
                      <a:pt x="13" y="5"/>
                    </a:cubicBezTo>
                    <a:cubicBezTo>
                      <a:pt x="13" y="5"/>
                      <a:pt x="13" y="3"/>
                      <a:pt x="13" y="2"/>
                    </a:cubicBezTo>
                    <a:cubicBezTo>
                      <a:pt x="14" y="0"/>
                      <a:pt x="7" y="0"/>
                      <a:pt x="4" y="0"/>
                    </a:cubicBezTo>
                    <a:cubicBezTo>
                      <a:pt x="0" y="0"/>
                      <a:pt x="3" y="2"/>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66" name="Freeform 250">
                <a:extLst>
                  <a:ext uri="{FF2B5EF4-FFF2-40B4-BE49-F238E27FC236}">
                    <a16:creationId xmlns:a16="http://schemas.microsoft.com/office/drawing/2014/main" id="{3D282032-824F-493B-9571-8356E93D59D3}"/>
                  </a:ext>
                </a:extLst>
              </p:cNvPr>
              <p:cNvSpPr>
                <a:spLocks/>
              </p:cNvSpPr>
              <p:nvPr/>
            </p:nvSpPr>
            <p:spPr bwMode="auto">
              <a:xfrm>
                <a:off x="2168" y="1204"/>
                <a:ext cx="12" cy="8"/>
              </a:xfrm>
              <a:custGeom>
                <a:avLst/>
                <a:gdLst>
                  <a:gd name="T0" fmla="*/ 5 w 9"/>
                  <a:gd name="T1" fmla="*/ 1 h 6"/>
                  <a:gd name="T2" fmla="*/ 1 w 9"/>
                  <a:gd name="T3" fmla="*/ 2 h 6"/>
                  <a:gd name="T4" fmla="*/ 1 w 9"/>
                  <a:gd name="T5" fmla="*/ 4 h 6"/>
                  <a:gd name="T6" fmla="*/ 8 w 9"/>
                  <a:gd name="T7" fmla="*/ 2 h 6"/>
                  <a:gd name="T8" fmla="*/ 5 w 9"/>
                  <a:gd name="T9" fmla="*/ 1 h 6"/>
                </a:gdLst>
                <a:ahLst/>
                <a:cxnLst>
                  <a:cxn ang="0">
                    <a:pos x="T0" y="T1"/>
                  </a:cxn>
                  <a:cxn ang="0">
                    <a:pos x="T2" y="T3"/>
                  </a:cxn>
                  <a:cxn ang="0">
                    <a:pos x="T4" y="T5"/>
                  </a:cxn>
                  <a:cxn ang="0">
                    <a:pos x="T6" y="T7"/>
                  </a:cxn>
                  <a:cxn ang="0">
                    <a:pos x="T8" y="T9"/>
                  </a:cxn>
                </a:cxnLst>
                <a:rect l="0" t="0" r="r" b="b"/>
                <a:pathLst>
                  <a:path w="9" h="6">
                    <a:moveTo>
                      <a:pt x="5" y="1"/>
                    </a:moveTo>
                    <a:cubicBezTo>
                      <a:pt x="3" y="0"/>
                      <a:pt x="2" y="1"/>
                      <a:pt x="1" y="2"/>
                    </a:cubicBezTo>
                    <a:cubicBezTo>
                      <a:pt x="0" y="3"/>
                      <a:pt x="1" y="4"/>
                      <a:pt x="1" y="4"/>
                    </a:cubicBezTo>
                    <a:cubicBezTo>
                      <a:pt x="7" y="6"/>
                      <a:pt x="7" y="3"/>
                      <a:pt x="8" y="2"/>
                    </a:cubicBezTo>
                    <a:cubicBezTo>
                      <a:pt x="9" y="1"/>
                      <a:pt x="7" y="2"/>
                      <a:pt x="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68" name="Freeform 251">
                <a:extLst>
                  <a:ext uri="{FF2B5EF4-FFF2-40B4-BE49-F238E27FC236}">
                    <a16:creationId xmlns:a16="http://schemas.microsoft.com/office/drawing/2014/main" id="{23C2CA56-EA07-4F22-B536-A83BBE305768}"/>
                  </a:ext>
                </a:extLst>
              </p:cNvPr>
              <p:cNvSpPr>
                <a:spLocks/>
              </p:cNvSpPr>
              <p:nvPr/>
            </p:nvSpPr>
            <p:spPr bwMode="auto">
              <a:xfrm>
                <a:off x="2168" y="1270"/>
                <a:ext cx="11" cy="5"/>
              </a:xfrm>
              <a:custGeom>
                <a:avLst/>
                <a:gdLst>
                  <a:gd name="T0" fmla="*/ 6 w 8"/>
                  <a:gd name="T1" fmla="*/ 3 h 4"/>
                  <a:gd name="T2" fmla="*/ 8 w 8"/>
                  <a:gd name="T3" fmla="*/ 3 h 4"/>
                  <a:gd name="T4" fmla="*/ 6 w 8"/>
                  <a:gd name="T5" fmla="*/ 2 h 4"/>
                  <a:gd name="T6" fmla="*/ 2 w 8"/>
                  <a:gd name="T7" fmla="*/ 1 h 4"/>
                  <a:gd name="T8" fmla="*/ 6 w 8"/>
                  <a:gd name="T9" fmla="*/ 3 h 4"/>
                </a:gdLst>
                <a:ahLst/>
                <a:cxnLst>
                  <a:cxn ang="0">
                    <a:pos x="T0" y="T1"/>
                  </a:cxn>
                  <a:cxn ang="0">
                    <a:pos x="T2" y="T3"/>
                  </a:cxn>
                  <a:cxn ang="0">
                    <a:pos x="T4" y="T5"/>
                  </a:cxn>
                  <a:cxn ang="0">
                    <a:pos x="T6" y="T7"/>
                  </a:cxn>
                  <a:cxn ang="0">
                    <a:pos x="T8" y="T9"/>
                  </a:cxn>
                </a:cxnLst>
                <a:rect l="0" t="0" r="r" b="b"/>
                <a:pathLst>
                  <a:path w="8" h="4">
                    <a:moveTo>
                      <a:pt x="6" y="3"/>
                    </a:moveTo>
                    <a:cubicBezTo>
                      <a:pt x="6" y="3"/>
                      <a:pt x="7" y="4"/>
                      <a:pt x="8" y="3"/>
                    </a:cubicBezTo>
                    <a:cubicBezTo>
                      <a:pt x="8" y="2"/>
                      <a:pt x="8" y="2"/>
                      <a:pt x="6" y="2"/>
                    </a:cubicBezTo>
                    <a:cubicBezTo>
                      <a:pt x="5" y="1"/>
                      <a:pt x="0" y="0"/>
                      <a:pt x="2" y="1"/>
                    </a:cubicBezTo>
                    <a:cubicBezTo>
                      <a:pt x="4" y="3"/>
                      <a:pt x="6" y="3"/>
                      <a:pt x="6"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69" name="Freeform 252">
                <a:extLst>
                  <a:ext uri="{FF2B5EF4-FFF2-40B4-BE49-F238E27FC236}">
                    <a16:creationId xmlns:a16="http://schemas.microsoft.com/office/drawing/2014/main" id="{10B6EA51-A7A5-426D-B8AE-2E8180D65419}"/>
                  </a:ext>
                </a:extLst>
              </p:cNvPr>
              <p:cNvSpPr>
                <a:spLocks/>
              </p:cNvSpPr>
              <p:nvPr/>
            </p:nvSpPr>
            <p:spPr bwMode="auto">
              <a:xfrm>
                <a:off x="2234" y="1376"/>
                <a:ext cx="9" cy="11"/>
              </a:xfrm>
              <a:custGeom>
                <a:avLst/>
                <a:gdLst>
                  <a:gd name="T0" fmla="*/ 5 w 6"/>
                  <a:gd name="T1" fmla="*/ 1 h 8"/>
                  <a:gd name="T2" fmla="*/ 4 w 6"/>
                  <a:gd name="T3" fmla="*/ 1 h 8"/>
                  <a:gd name="T4" fmla="*/ 1 w 6"/>
                  <a:gd name="T5" fmla="*/ 4 h 8"/>
                  <a:gd name="T6" fmla="*/ 2 w 6"/>
                  <a:gd name="T7" fmla="*/ 6 h 8"/>
                  <a:gd name="T8" fmla="*/ 4 w 6"/>
                  <a:gd name="T9" fmla="*/ 6 h 8"/>
                  <a:gd name="T10" fmla="*/ 5 w 6"/>
                  <a:gd name="T11" fmla="*/ 6 h 8"/>
                  <a:gd name="T12" fmla="*/ 4 w 6"/>
                  <a:gd name="T13" fmla="*/ 4 h 8"/>
                  <a:gd name="T14" fmla="*/ 3 w 6"/>
                  <a:gd name="T15" fmla="*/ 3 h 8"/>
                  <a:gd name="T16" fmla="*/ 5 w 6"/>
                  <a:gd name="T17" fmla="*/ 1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8">
                    <a:moveTo>
                      <a:pt x="5" y="1"/>
                    </a:moveTo>
                    <a:cubicBezTo>
                      <a:pt x="6" y="0"/>
                      <a:pt x="5" y="0"/>
                      <a:pt x="4" y="1"/>
                    </a:cubicBezTo>
                    <a:cubicBezTo>
                      <a:pt x="3" y="1"/>
                      <a:pt x="1" y="2"/>
                      <a:pt x="1" y="4"/>
                    </a:cubicBezTo>
                    <a:cubicBezTo>
                      <a:pt x="1" y="5"/>
                      <a:pt x="0" y="6"/>
                      <a:pt x="2" y="6"/>
                    </a:cubicBezTo>
                    <a:cubicBezTo>
                      <a:pt x="3" y="5"/>
                      <a:pt x="4" y="6"/>
                      <a:pt x="4" y="6"/>
                    </a:cubicBezTo>
                    <a:cubicBezTo>
                      <a:pt x="4" y="6"/>
                      <a:pt x="5" y="8"/>
                      <a:pt x="5" y="6"/>
                    </a:cubicBezTo>
                    <a:cubicBezTo>
                      <a:pt x="5" y="4"/>
                      <a:pt x="5" y="4"/>
                      <a:pt x="4" y="4"/>
                    </a:cubicBezTo>
                    <a:cubicBezTo>
                      <a:pt x="3" y="4"/>
                      <a:pt x="2" y="3"/>
                      <a:pt x="3" y="3"/>
                    </a:cubicBezTo>
                    <a:cubicBezTo>
                      <a:pt x="4" y="2"/>
                      <a:pt x="5" y="2"/>
                      <a:pt x="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70" name="Freeform 253">
                <a:extLst>
                  <a:ext uri="{FF2B5EF4-FFF2-40B4-BE49-F238E27FC236}">
                    <a16:creationId xmlns:a16="http://schemas.microsoft.com/office/drawing/2014/main" id="{B044E102-2668-4B3F-9455-6922210ACEC6}"/>
                  </a:ext>
                </a:extLst>
              </p:cNvPr>
              <p:cNvSpPr>
                <a:spLocks/>
              </p:cNvSpPr>
              <p:nvPr/>
            </p:nvSpPr>
            <p:spPr bwMode="auto">
              <a:xfrm>
                <a:off x="2305" y="1433"/>
                <a:ext cx="10" cy="6"/>
              </a:xfrm>
              <a:custGeom>
                <a:avLst/>
                <a:gdLst>
                  <a:gd name="T0" fmla="*/ 4 w 7"/>
                  <a:gd name="T1" fmla="*/ 4 h 4"/>
                  <a:gd name="T2" fmla="*/ 6 w 7"/>
                  <a:gd name="T3" fmla="*/ 1 h 4"/>
                  <a:gd name="T4" fmla="*/ 1 w 7"/>
                  <a:gd name="T5" fmla="*/ 2 h 4"/>
                  <a:gd name="T6" fmla="*/ 4 w 7"/>
                  <a:gd name="T7" fmla="*/ 4 h 4"/>
                </a:gdLst>
                <a:ahLst/>
                <a:cxnLst>
                  <a:cxn ang="0">
                    <a:pos x="T0" y="T1"/>
                  </a:cxn>
                  <a:cxn ang="0">
                    <a:pos x="T2" y="T3"/>
                  </a:cxn>
                  <a:cxn ang="0">
                    <a:pos x="T4" y="T5"/>
                  </a:cxn>
                  <a:cxn ang="0">
                    <a:pos x="T6" y="T7"/>
                  </a:cxn>
                </a:cxnLst>
                <a:rect l="0" t="0" r="r" b="b"/>
                <a:pathLst>
                  <a:path w="7" h="4">
                    <a:moveTo>
                      <a:pt x="4" y="4"/>
                    </a:moveTo>
                    <a:cubicBezTo>
                      <a:pt x="5" y="3"/>
                      <a:pt x="7" y="3"/>
                      <a:pt x="6" y="1"/>
                    </a:cubicBezTo>
                    <a:cubicBezTo>
                      <a:pt x="5" y="0"/>
                      <a:pt x="0" y="0"/>
                      <a:pt x="1" y="2"/>
                    </a:cubicBezTo>
                    <a:cubicBezTo>
                      <a:pt x="1" y="2"/>
                      <a:pt x="3" y="4"/>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71" name="Freeform 254">
                <a:extLst>
                  <a:ext uri="{FF2B5EF4-FFF2-40B4-BE49-F238E27FC236}">
                    <a16:creationId xmlns:a16="http://schemas.microsoft.com/office/drawing/2014/main" id="{4770E948-9734-49D9-83A4-F4C344B7DA51}"/>
                  </a:ext>
                </a:extLst>
              </p:cNvPr>
              <p:cNvSpPr>
                <a:spLocks/>
              </p:cNvSpPr>
              <p:nvPr/>
            </p:nvSpPr>
            <p:spPr bwMode="auto">
              <a:xfrm>
                <a:off x="2283" y="1522"/>
                <a:ext cx="140" cy="136"/>
              </a:xfrm>
              <a:custGeom>
                <a:avLst/>
                <a:gdLst>
                  <a:gd name="T0" fmla="*/ 53 w 101"/>
                  <a:gd name="T1" fmla="*/ 4 h 99"/>
                  <a:gd name="T2" fmla="*/ 44 w 101"/>
                  <a:gd name="T3" fmla="*/ 6 h 99"/>
                  <a:gd name="T4" fmla="*/ 36 w 101"/>
                  <a:gd name="T5" fmla="*/ 15 h 99"/>
                  <a:gd name="T6" fmla="*/ 32 w 101"/>
                  <a:gd name="T7" fmla="*/ 22 h 99"/>
                  <a:gd name="T8" fmla="*/ 20 w 101"/>
                  <a:gd name="T9" fmla="*/ 42 h 99"/>
                  <a:gd name="T10" fmla="*/ 21 w 101"/>
                  <a:gd name="T11" fmla="*/ 50 h 99"/>
                  <a:gd name="T12" fmla="*/ 19 w 101"/>
                  <a:gd name="T13" fmla="*/ 52 h 99"/>
                  <a:gd name="T14" fmla="*/ 10 w 101"/>
                  <a:gd name="T15" fmla="*/ 59 h 99"/>
                  <a:gd name="T16" fmla="*/ 8 w 101"/>
                  <a:gd name="T17" fmla="*/ 58 h 99"/>
                  <a:gd name="T18" fmla="*/ 12 w 101"/>
                  <a:gd name="T19" fmla="*/ 62 h 99"/>
                  <a:gd name="T20" fmla="*/ 10 w 101"/>
                  <a:gd name="T21" fmla="*/ 66 h 99"/>
                  <a:gd name="T22" fmla="*/ 1 w 101"/>
                  <a:gd name="T23" fmla="*/ 79 h 99"/>
                  <a:gd name="T24" fmla="*/ 22 w 101"/>
                  <a:gd name="T25" fmla="*/ 78 h 99"/>
                  <a:gd name="T26" fmla="*/ 38 w 101"/>
                  <a:gd name="T27" fmla="*/ 81 h 99"/>
                  <a:gd name="T28" fmla="*/ 46 w 101"/>
                  <a:gd name="T29" fmla="*/ 78 h 99"/>
                  <a:gd name="T30" fmla="*/ 51 w 101"/>
                  <a:gd name="T31" fmla="*/ 77 h 99"/>
                  <a:gd name="T32" fmla="*/ 50 w 101"/>
                  <a:gd name="T33" fmla="*/ 81 h 99"/>
                  <a:gd name="T34" fmla="*/ 53 w 101"/>
                  <a:gd name="T35" fmla="*/ 82 h 99"/>
                  <a:gd name="T36" fmla="*/ 59 w 101"/>
                  <a:gd name="T37" fmla="*/ 80 h 99"/>
                  <a:gd name="T38" fmla="*/ 64 w 101"/>
                  <a:gd name="T39" fmla="*/ 78 h 99"/>
                  <a:gd name="T40" fmla="*/ 68 w 101"/>
                  <a:gd name="T41" fmla="*/ 79 h 99"/>
                  <a:gd name="T42" fmla="*/ 56 w 101"/>
                  <a:gd name="T43" fmla="*/ 93 h 99"/>
                  <a:gd name="T44" fmla="*/ 63 w 101"/>
                  <a:gd name="T45" fmla="*/ 90 h 99"/>
                  <a:gd name="T46" fmla="*/ 70 w 101"/>
                  <a:gd name="T47" fmla="*/ 83 h 99"/>
                  <a:gd name="T48" fmla="*/ 75 w 101"/>
                  <a:gd name="T49" fmla="*/ 80 h 99"/>
                  <a:gd name="T50" fmla="*/ 80 w 101"/>
                  <a:gd name="T51" fmla="*/ 76 h 99"/>
                  <a:gd name="T52" fmla="*/ 78 w 101"/>
                  <a:gd name="T53" fmla="*/ 89 h 99"/>
                  <a:gd name="T54" fmla="*/ 87 w 101"/>
                  <a:gd name="T55" fmla="*/ 87 h 99"/>
                  <a:gd name="T56" fmla="*/ 86 w 101"/>
                  <a:gd name="T57" fmla="*/ 92 h 99"/>
                  <a:gd name="T58" fmla="*/ 88 w 101"/>
                  <a:gd name="T59" fmla="*/ 97 h 99"/>
                  <a:gd name="T60" fmla="*/ 96 w 101"/>
                  <a:gd name="T61" fmla="*/ 91 h 99"/>
                  <a:gd name="T62" fmla="*/ 94 w 101"/>
                  <a:gd name="T63" fmla="*/ 82 h 99"/>
                  <a:gd name="T64" fmla="*/ 94 w 101"/>
                  <a:gd name="T65" fmla="*/ 71 h 99"/>
                  <a:gd name="T66" fmla="*/ 87 w 101"/>
                  <a:gd name="T67" fmla="*/ 80 h 99"/>
                  <a:gd name="T68" fmla="*/ 86 w 101"/>
                  <a:gd name="T69" fmla="*/ 72 h 99"/>
                  <a:gd name="T70" fmla="*/ 86 w 101"/>
                  <a:gd name="T71" fmla="*/ 70 h 99"/>
                  <a:gd name="T72" fmla="*/ 91 w 101"/>
                  <a:gd name="T73" fmla="*/ 65 h 99"/>
                  <a:gd name="T74" fmla="*/ 92 w 101"/>
                  <a:gd name="T75" fmla="*/ 62 h 99"/>
                  <a:gd name="T76" fmla="*/ 86 w 101"/>
                  <a:gd name="T77" fmla="*/ 64 h 99"/>
                  <a:gd name="T78" fmla="*/ 82 w 101"/>
                  <a:gd name="T79" fmla="*/ 63 h 99"/>
                  <a:gd name="T80" fmla="*/ 84 w 101"/>
                  <a:gd name="T81" fmla="*/ 59 h 99"/>
                  <a:gd name="T82" fmla="*/ 83 w 101"/>
                  <a:gd name="T83" fmla="*/ 57 h 99"/>
                  <a:gd name="T84" fmla="*/ 83 w 101"/>
                  <a:gd name="T85" fmla="*/ 54 h 99"/>
                  <a:gd name="T86" fmla="*/ 80 w 101"/>
                  <a:gd name="T87" fmla="*/ 44 h 99"/>
                  <a:gd name="T88" fmla="*/ 74 w 101"/>
                  <a:gd name="T89" fmla="*/ 46 h 99"/>
                  <a:gd name="T90" fmla="*/ 70 w 101"/>
                  <a:gd name="T91" fmla="*/ 45 h 99"/>
                  <a:gd name="T92" fmla="*/ 63 w 101"/>
                  <a:gd name="T93" fmla="*/ 47 h 99"/>
                  <a:gd name="T94" fmla="*/ 62 w 101"/>
                  <a:gd name="T95" fmla="*/ 45 h 99"/>
                  <a:gd name="T96" fmla="*/ 59 w 101"/>
                  <a:gd name="T97" fmla="*/ 46 h 99"/>
                  <a:gd name="T98" fmla="*/ 55 w 101"/>
                  <a:gd name="T99" fmla="*/ 45 h 99"/>
                  <a:gd name="T100" fmla="*/ 52 w 101"/>
                  <a:gd name="T101" fmla="*/ 41 h 99"/>
                  <a:gd name="T102" fmla="*/ 57 w 101"/>
                  <a:gd name="T103" fmla="*/ 35 h 99"/>
                  <a:gd name="T104" fmla="*/ 50 w 101"/>
                  <a:gd name="T105" fmla="*/ 34 h 99"/>
                  <a:gd name="T106" fmla="*/ 44 w 101"/>
                  <a:gd name="T107" fmla="*/ 36 h 99"/>
                  <a:gd name="T108" fmla="*/ 38 w 101"/>
                  <a:gd name="T109" fmla="*/ 42 h 99"/>
                  <a:gd name="T110" fmla="*/ 46 w 101"/>
                  <a:gd name="T111" fmla="*/ 23 h 99"/>
                  <a:gd name="T112" fmla="*/ 51 w 101"/>
                  <a:gd name="T113" fmla="*/ 18 h 99"/>
                  <a:gd name="T114" fmla="*/ 49 w 101"/>
                  <a:gd name="T115" fmla="*/ 8 h 99"/>
                  <a:gd name="T116" fmla="*/ 56 w 101"/>
                  <a:gd name="T117" fmla="*/ 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99">
                    <a:moveTo>
                      <a:pt x="56" y="2"/>
                    </a:moveTo>
                    <a:cubicBezTo>
                      <a:pt x="55" y="2"/>
                      <a:pt x="55" y="3"/>
                      <a:pt x="55" y="4"/>
                    </a:cubicBezTo>
                    <a:cubicBezTo>
                      <a:pt x="56" y="5"/>
                      <a:pt x="54" y="5"/>
                      <a:pt x="53" y="4"/>
                    </a:cubicBezTo>
                    <a:cubicBezTo>
                      <a:pt x="52" y="4"/>
                      <a:pt x="52" y="4"/>
                      <a:pt x="52" y="2"/>
                    </a:cubicBezTo>
                    <a:cubicBezTo>
                      <a:pt x="52" y="0"/>
                      <a:pt x="51" y="2"/>
                      <a:pt x="51" y="2"/>
                    </a:cubicBezTo>
                    <a:cubicBezTo>
                      <a:pt x="51" y="2"/>
                      <a:pt x="48" y="5"/>
                      <a:pt x="44" y="6"/>
                    </a:cubicBezTo>
                    <a:cubicBezTo>
                      <a:pt x="41" y="6"/>
                      <a:pt x="40" y="9"/>
                      <a:pt x="39" y="9"/>
                    </a:cubicBezTo>
                    <a:cubicBezTo>
                      <a:pt x="38" y="10"/>
                      <a:pt x="38" y="12"/>
                      <a:pt x="37" y="13"/>
                    </a:cubicBezTo>
                    <a:cubicBezTo>
                      <a:pt x="35" y="14"/>
                      <a:pt x="35" y="14"/>
                      <a:pt x="36" y="15"/>
                    </a:cubicBezTo>
                    <a:cubicBezTo>
                      <a:pt x="36" y="17"/>
                      <a:pt x="34" y="19"/>
                      <a:pt x="31" y="19"/>
                    </a:cubicBezTo>
                    <a:cubicBezTo>
                      <a:pt x="29" y="19"/>
                      <a:pt x="30" y="21"/>
                      <a:pt x="31" y="21"/>
                    </a:cubicBezTo>
                    <a:cubicBezTo>
                      <a:pt x="32" y="22"/>
                      <a:pt x="32" y="22"/>
                      <a:pt x="32" y="22"/>
                    </a:cubicBezTo>
                    <a:cubicBezTo>
                      <a:pt x="31" y="22"/>
                      <a:pt x="30" y="22"/>
                      <a:pt x="30" y="23"/>
                    </a:cubicBezTo>
                    <a:cubicBezTo>
                      <a:pt x="29" y="24"/>
                      <a:pt x="23" y="35"/>
                      <a:pt x="23" y="36"/>
                    </a:cubicBezTo>
                    <a:cubicBezTo>
                      <a:pt x="22" y="37"/>
                      <a:pt x="21" y="41"/>
                      <a:pt x="20" y="42"/>
                    </a:cubicBezTo>
                    <a:cubicBezTo>
                      <a:pt x="20" y="43"/>
                      <a:pt x="18" y="45"/>
                      <a:pt x="17" y="46"/>
                    </a:cubicBezTo>
                    <a:cubicBezTo>
                      <a:pt x="17" y="47"/>
                      <a:pt x="18" y="48"/>
                      <a:pt x="21" y="49"/>
                    </a:cubicBezTo>
                    <a:cubicBezTo>
                      <a:pt x="21" y="49"/>
                      <a:pt x="19" y="49"/>
                      <a:pt x="21" y="50"/>
                    </a:cubicBezTo>
                    <a:cubicBezTo>
                      <a:pt x="23" y="50"/>
                      <a:pt x="20" y="50"/>
                      <a:pt x="19" y="50"/>
                    </a:cubicBezTo>
                    <a:cubicBezTo>
                      <a:pt x="17" y="50"/>
                      <a:pt x="19" y="52"/>
                      <a:pt x="21" y="53"/>
                    </a:cubicBezTo>
                    <a:cubicBezTo>
                      <a:pt x="23" y="54"/>
                      <a:pt x="19" y="53"/>
                      <a:pt x="19" y="52"/>
                    </a:cubicBezTo>
                    <a:cubicBezTo>
                      <a:pt x="18" y="52"/>
                      <a:pt x="16" y="53"/>
                      <a:pt x="15" y="51"/>
                    </a:cubicBezTo>
                    <a:cubicBezTo>
                      <a:pt x="14" y="49"/>
                      <a:pt x="13" y="55"/>
                      <a:pt x="12" y="56"/>
                    </a:cubicBezTo>
                    <a:cubicBezTo>
                      <a:pt x="11" y="58"/>
                      <a:pt x="10" y="57"/>
                      <a:pt x="10" y="59"/>
                    </a:cubicBezTo>
                    <a:cubicBezTo>
                      <a:pt x="10" y="62"/>
                      <a:pt x="9" y="61"/>
                      <a:pt x="9" y="61"/>
                    </a:cubicBezTo>
                    <a:cubicBezTo>
                      <a:pt x="8" y="60"/>
                      <a:pt x="9" y="59"/>
                      <a:pt x="8" y="60"/>
                    </a:cubicBezTo>
                    <a:cubicBezTo>
                      <a:pt x="7" y="62"/>
                      <a:pt x="7" y="59"/>
                      <a:pt x="8" y="58"/>
                    </a:cubicBezTo>
                    <a:cubicBezTo>
                      <a:pt x="10" y="57"/>
                      <a:pt x="5" y="59"/>
                      <a:pt x="3" y="61"/>
                    </a:cubicBezTo>
                    <a:cubicBezTo>
                      <a:pt x="1" y="63"/>
                      <a:pt x="7" y="62"/>
                      <a:pt x="8" y="62"/>
                    </a:cubicBezTo>
                    <a:cubicBezTo>
                      <a:pt x="10" y="61"/>
                      <a:pt x="11" y="61"/>
                      <a:pt x="12" y="62"/>
                    </a:cubicBezTo>
                    <a:cubicBezTo>
                      <a:pt x="13" y="62"/>
                      <a:pt x="14" y="62"/>
                      <a:pt x="15" y="62"/>
                    </a:cubicBezTo>
                    <a:cubicBezTo>
                      <a:pt x="16" y="62"/>
                      <a:pt x="16" y="62"/>
                      <a:pt x="15" y="63"/>
                    </a:cubicBezTo>
                    <a:cubicBezTo>
                      <a:pt x="13" y="64"/>
                      <a:pt x="11" y="65"/>
                      <a:pt x="10" y="66"/>
                    </a:cubicBezTo>
                    <a:cubicBezTo>
                      <a:pt x="8" y="68"/>
                      <a:pt x="5" y="70"/>
                      <a:pt x="3" y="72"/>
                    </a:cubicBezTo>
                    <a:cubicBezTo>
                      <a:pt x="0" y="73"/>
                      <a:pt x="0" y="75"/>
                      <a:pt x="0" y="75"/>
                    </a:cubicBezTo>
                    <a:cubicBezTo>
                      <a:pt x="1" y="76"/>
                      <a:pt x="1" y="76"/>
                      <a:pt x="1" y="79"/>
                    </a:cubicBezTo>
                    <a:cubicBezTo>
                      <a:pt x="1" y="81"/>
                      <a:pt x="4" y="80"/>
                      <a:pt x="6" y="80"/>
                    </a:cubicBezTo>
                    <a:cubicBezTo>
                      <a:pt x="8" y="80"/>
                      <a:pt x="14" y="78"/>
                      <a:pt x="16" y="78"/>
                    </a:cubicBezTo>
                    <a:cubicBezTo>
                      <a:pt x="17" y="78"/>
                      <a:pt x="21" y="78"/>
                      <a:pt x="22" y="78"/>
                    </a:cubicBezTo>
                    <a:cubicBezTo>
                      <a:pt x="23" y="78"/>
                      <a:pt x="27" y="79"/>
                      <a:pt x="29" y="79"/>
                    </a:cubicBezTo>
                    <a:cubicBezTo>
                      <a:pt x="31" y="79"/>
                      <a:pt x="34" y="79"/>
                      <a:pt x="34" y="80"/>
                    </a:cubicBezTo>
                    <a:cubicBezTo>
                      <a:pt x="35" y="80"/>
                      <a:pt x="38" y="81"/>
                      <a:pt x="38" y="81"/>
                    </a:cubicBezTo>
                    <a:cubicBezTo>
                      <a:pt x="39" y="81"/>
                      <a:pt x="40" y="81"/>
                      <a:pt x="39" y="80"/>
                    </a:cubicBezTo>
                    <a:cubicBezTo>
                      <a:pt x="39" y="79"/>
                      <a:pt x="41" y="79"/>
                      <a:pt x="42" y="79"/>
                    </a:cubicBezTo>
                    <a:cubicBezTo>
                      <a:pt x="43" y="80"/>
                      <a:pt x="45" y="79"/>
                      <a:pt x="46" y="78"/>
                    </a:cubicBezTo>
                    <a:cubicBezTo>
                      <a:pt x="46" y="77"/>
                      <a:pt x="46" y="77"/>
                      <a:pt x="47" y="77"/>
                    </a:cubicBezTo>
                    <a:cubicBezTo>
                      <a:pt x="47" y="78"/>
                      <a:pt x="48" y="78"/>
                      <a:pt x="48" y="76"/>
                    </a:cubicBezTo>
                    <a:cubicBezTo>
                      <a:pt x="49" y="75"/>
                      <a:pt x="50" y="77"/>
                      <a:pt x="51" y="77"/>
                    </a:cubicBezTo>
                    <a:cubicBezTo>
                      <a:pt x="52" y="76"/>
                      <a:pt x="53" y="76"/>
                      <a:pt x="52" y="77"/>
                    </a:cubicBezTo>
                    <a:cubicBezTo>
                      <a:pt x="52" y="77"/>
                      <a:pt x="51" y="79"/>
                      <a:pt x="53" y="79"/>
                    </a:cubicBezTo>
                    <a:cubicBezTo>
                      <a:pt x="55" y="78"/>
                      <a:pt x="52" y="80"/>
                      <a:pt x="50" y="81"/>
                    </a:cubicBezTo>
                    <a:cubicBezTo>
                      <a:pt x="47" y="82"/>
                      <a:pt x="49" y="82"/>
                      <a:pt x="51" y="81"/>
                    </a:cubicBezTo>
                    <a:cubicBezTo>
                      <a:pt x="54" y="80"/>
                      <a:pt x="53" y="81"/>
                      <a:pt x="52" y="82"/>
                    </a:cubicBezTo>
                    <a:cubicBezTo>
                      <a:pt x="51" y="82"/>
                      <a:pt x="52" y="82"/>
                      <a:pt x="53" y="82"/>
                    </a:cubicBezTo>
                    <a:cubicBezTo>
                      <a:pt x="54" y="81"/>
                      <a:pt x="56" y="82"/>
                      <a:pt x="56" y="81"/>
                    </a:cubicBezTo>
                    <a:cubicBezTo>
                      <a:pt x="56" y="80"/>
                      <a:pt x="57" y="82"/>
                      <a:pt x="58" y="83"/>
                    </a:cubicBezTo>
                    <a:cubicBezTo>
                      <a:pt x="59" y="83"/>
                      <a:pt x="59" y="82"/>
                      <a:pt x="59" y="80"/>
                    </a:cubicBezTo>
                    <a:cubicBezTo>
                      <a:pt x="59" y="77"/>
                      <a:pt x="60" y="78"/>
                      <a:pt x="60" y="78"/>
                    </a:cubicBezTo>
                    <a:cubicBezTo>
                      <a:pt x="60" y="78"/>
                      <a:pt x="62" y="78"/>
                      <a:pt x="63" y="79"/>
                    </a:cubicBezTo>
                    <a:cubicBezTo>
                      <a:pt x="63" y="80"/>
                      <a:pt x="63" y="79"/>
                      <a:pt x="64" y="78"/>
                    </a:cubicBezTo>
                    <a:cubicBezTo>
                      <a:pt x="65" y="77"/>
                      <a:pt x="66" y="76"/>
                      <a:pt x="66" y="78"/>
                    </a:cubicBezTo>
                    <a:cubicBezTo>
                      <a:pt x="66" y="79"/>
                      <a:pt x="64" y="79"/>
                      <a:pt x="67" y="79"/>
                    </a:cubicBezTo>
                    <a:cubicBezTo>
                      <a:pt x="70" y="78"/>
                      <a:pt x="68" y="79"/>
                      <a:pt x="68" y="79"/>
                    </a:cubicBezTo>
                    <a:cubicBezTo>
                      <a:pt x="68" y="79"/>
                      <a:pt x="57" y="87"/>
                      <a:pt x="55" y="88"/>
                    </a:cubicBezTo>
                    <a:cubicBezTo>
                      <a:pt x="53" y="90"/>
                      <a:pt x="52" y="90"/>
                      <a:pt x="52" y="92"/>
                    </a:cubicBezTo>
                    <a:cubicBezTo>
                      <a:pt x="52" y="95"/>
                      <a:pt x="55" y="93"/>
                      <a:pt x="56" y="93"/>
                    </a:cubicBezTo>
                    <a:cubicBezTo>
                      <a:pt x="57" y="93"/>
                      <a:pt x="57" y="92"/>
                      <a:pt x="58" y="93"/>
                    </a:cubicBezTo>
                    <a:cubicBezTo>
                      <a:pt x="59" y="93"/>
                      <a:pt x="61" y="93"/>
                      <a:pt x="62" y="92"/>
                    </a:cubicBezTo>
                    <a:cubicBezTo>
                      <a:pt x="62" y="91"/>
                      <a:pt x="63" y="91"/>
                      <a:pt x="63" y="90"/>
                    </a:cubicBezTo>
                    <a:cubicBezTo>
                      <a:pt x="64" y="89"/>
                      <a:pt x="66" y="85"/>
                      <a:pt x="66" y="84"/>
                    </a:cubicBezTo>
                    <a:cubicBezTo>
                      <a:pt x="67" y="84"/>
                      <a:pt x="68" y="83"/>
                      <a:pt x="68" y="84"/>
                    </a:cubicBezTo>
                    <a:cubicBezTo>
                      <a:pt x="69" y="84"/>
                      <a:pt x="70" y="84"/>
                      <a:pt x="70" y="83"/>
                    </a:cubicBezTo>
                    <a:cubicBezTo>
                      <a:pt x="71" y="83"/>
                      <a:pt x="73" y="80"/>
                      <a:pt x="72" y="82"/>
                    </a:cubicBezTo>
                    <a:cubicBezTo>
                      <a:pt x="71" y="84"/>
                      <a:pt x="71" y="84"/>
                      <a:pt x="72" y="83"/>
                    </a:cubicBezTo>
                    <a:cubicBezTo>
                      <a:pt x="73" y="83"/>
                      <a:pt x="74" y="82"/>
                      <a:pt x="75" y="80"/>
                    </a:cubicBezTo>
                    <a:cubicBezTo>
                      <a:pt x="75" y="79"/>
                      <a:pt x="77" y="76"/>
                      <a:pt x="77" y="75"/>
                    </a:cubicBezTo>
                    <a:cubicBezTo>
                      <a:pt x="78" y="75"/>
                      <a:pt x="78" y="75"/>
                      <a:pt x="79" y="75"/>
                    </a:cubicBezTo>
                    <a:cubicBezTo>
                      <a:pt x="79" y="76"/>
                      <a:pt x="80" y="75"/>
                      <a:pt x="80" y="76"/>
                    </a:cubicBezTo>
                    <a:cubicBezTo>
                      <a:pt x="80" y="77"/>
                      <a:pt x="81" y="81"/>
                      <a:pt x="82" y="82"/>
                    </a:cubicBezTo>
                    <a:cubicBezTo>
                      <a:pt x="83" y="83"/>
                      <a:pt x="82" y="84"/>
                      <a:pt x="81" y="85"/>
                    </a:cubicBezTo>
                    <a:cubicBezTo>
                      <a:pt x="80" y="85"/>
                      <a:pt x="79" y="86"/>
                      <a:pt x="78" y="89"/>
                    </a:cubicBezTo>
                    <a:cubicBezTo>
                      <a:pt x="77" y="92"/>
                      <a:pt x="77" y="92"/>
                      <a:pt x="78" y="94"/>
                    </a:cubicBezTo>
                    <a:cubicBezTo>
                      <a:pt x="79" y="96"/>
                      <a:pt x="84" y="90"/>
                      <a:pt x="85" y="89"/>
                    </a:cubicBezTo>
                    <a:cubicBezTo>
                      <a:pt x="86" y="88"/>
                      <a:pt x="86" y="88"/>
                      <a:pt x="87" y="87"/>
                    </a:cubicBezTo>
                    <a:cubicBezTo>
                      <a:pt x="87" y="86"/>
                      <a:pt x="87" y="89"/>
                      <a:pt x="86" y="89"/>
                    </a:cubicBezTo>
                    <a:cubicBezTo>
                      <a:pt x="85" y="90"/>
                      <a:pt x="85" y="90"/>
                      <a:pt x="86" y="91"/>
                    </a:cubicBezTo>
                    <a:cubicBezTo>
                      <a:pt x="86" y="91"/>
                      <a:pt x="87" y="91"/>
                      <a:pt x="86" y="92"/>
                    </a:cubicBezTo>
                    <a:cubicBezTo>
                      <a:pt x="85" y="93"/>
                      <a:pt x="86" y="94"/>
                      <a:pt x="87" y="93"/>
                    </a:cubicBezTo>
                    <a:cubicBezTo>
                      <a:pt x="88" y="93"/>
                      <a:pt x="87" y="93"/>
                      <a:pt x="86" y="96"/>
                    </a:cubicBezTo>
                    <a:cubicBezTo>
                      <a:pt x="84" y="98"/>
                      <a:pt x="87" y="99"/>
                      <a:pt x="88" y="97"/>
                    </a:cubicBezTo>
                    <a:cubicBezTo>
                      <a:pt x="90" y="96"/>
                      <a:pt x="89" y="97"/>
                      <a:pt x="90" y="97"/>
                    </a:cubicBezTo>
                    <a:cubicBezTo>
                      <a:pt x="91" y="96"/>
                      <a:pt x="90" y="95"/>
                      <a:pt x="92" y="97"/>
                    </a:cubicBezTo>
                    <a:cubicBezTo>
                      <a:pt x="94" y="99"/>
                      <a:pt x="95" y="94"/>
                      <a:pt x="96" y="91"/>
                    </a:cubicBezTo>
                    <a:cubicBezTo>
                      <a:pt x="97" y="89"/>
                      <a:pt x="98" y="86"/>
                      <a:pt x="100" y="83"/>
                    </a:cubicBezTo>
                    <a:cubicBezTo>
                      <a:pt x="101" y="81"/>
                      <a:pt x="99" y="80"/>
                      <a:pt x="98" y="79"/>
                    </a:cubicBezTo>
                    <a:cubicBezTo>
                      <a:pt x="97" y="78"/>
                      <a:pt x="96" y="80"/>
                      <a:pt x="94" y="82"/>
                    </a:cubicBezTo>
                    <a:cubicBezTo>
                      <a:pt x="92" y="84"/>
                      <a:pt x="93" y="83"/>
                      <a:pt x="92" y="81"/>
                    </a:cubicBezTo>
                    <a:cubicBezTo>
                      <a:pt x="92" y="79"/>
                      <a:pt x="94" y="73"/>
                      <a:pt x="95" y="71"/>
                    </a:cubicBezTo>
                    <a:cubicBezTo>
                      <a:pt x="97" y="70"/>
                      <a:pt x="95" y="70"/>
                      <a:pt x="94" y="71"/>
                    </a:cubicBezTo>
                    <a:cubicBezTo>
                      <a:pt x="92" y="71"/>
                      <a:pt x="90" y="72"/>
                      <a:pt x="90" y="73"/>
                    </a:cubicBezTo>
                    <a:cubicBezTo>
                      <a:pt x="89" y="75"/>
                      <a:pt x="89" y="74"/>
                      <a:pt x="88" y="76"/>
                    </a:cubicBezTo>
                    <a:cubicBezTo>
                      <a:pt x="88" y="77"/>
                      <a:pt x="87" y="78"/>
                      <a:pt x="87" y="80"/>
                    </a:cubicBezTo>
                    <a:cubicBezTo>
                      <a:pt x="86" y="81"/>
                      <a:pt x="86" y="80"/>
                      <a:pt x="85" y="81"/>
                    </a:cubicBezTo>
                    <a:cubicBezTo>
                      <a:pt x="84" y="81"/>
                      <a:pt x="83" y="79"/>
                      <a:pt x="83" y="78"/>
                    </a:cubicBezTo>
                    <a:cubicBezTo>
                      <a:pt x="82" y="77"/>
                      <a:pt x="85" y="73"/>
                      <a:pt x="86" y="72"/>
                    </a:cubicBezTo>
                    <a:cubicBezTo>
                      <a:pt x="86" y="71"/>
                      <a:pt x="85" y="71"/>
                      <a:pt x="85" y="71"/>
                    </a:cubicBezTo>
                    <a:cubicBezTo>
                      <a:pt x="84" y="71"/>
                      <a:pt x="83" y="71"/>
                      <a:pt x="83" y="70"/>
                    </a:cubicBezTo>
                    <a:cubicBezTo>
                      <a:pt x="83" y="69"/>
                      <a:pt x="85" y="70"/>
                      <a:pt x="86" y="70"/>
                    </a:cubicBezTo>
                    <a:cubicBezTo>
                      <a:pt x="87" y="69"/>
                      <a:pt x="87" y="67"/>
                      <a:pt x="88" y="67"/>
                    </a:cubicBezTo>
                    <a:cubicBezTo>
                      <a:pt x="88" y="67"/>
                      <a:pt x="89" y="67"/>
                      <a:pt x="89" y="66"/>
                    </a:cubicBezTo>
                    <a:cubicBezTo>
                      <a:pt x="89" y="65"/>
                      <a:pt x="90" y="65"/>
                      <a:pt x="91" y="65"/>
                    </a:cubicBezTo>
                    <a:cubicBezTo>
                      <a:pt x="93" y="65"/>
                      <a:pt x="93" y="64"/>
                      <a:pt x="94" y="63"/>
                    </a:cubicBezTo>
                    <a:cubicBezTo>
                      <a:pt x="95" y="62"/>
                      <a:pt x="95" y="61"/>
                      <a:pt x="94" y="60"/>
                    </a:cubicBezTo>
                    <a:cubicBezTo>
                      <a:pt x="93" y="59"/>
                      <a:pt x="92" y="61"/>
                      <a:pt x="92" y="62"/>
                    </a:cubicBezTo>
                    <a:cubicBezTo>
                      <a:pt x="91" y="63"/>
                      <a:pt x="91" y="62"/>
                      <a:pt x="90" y="61"/>
                    </a:cubicBezTo>
                    <a:cubicBezTo>
                      <a:pt x="89" y="60"/>
                      <a:pt x="88" y="61"/>
                      <a:pt x="88" y="62"/>
                    </a:cubicBezTo>
                    <a:cubicBezTo>
                      <a:pt x="87" y="63"/>
                      <a:pt x="87" y="63"/>
                      <a:pt x="86" y="64"/>
                    </a:cubicBezTo>
                    <a:cubicBezTo>
                      <a:pt x="85" y="65"/>
                      <a:pt x="85" y="63"/>
                      <a:pt x="85" y="63"/>
                    </a:cubicBezTo>
                    <a:cubicBezTo>
                      <a:pt x="86" y="62"/>
                      <a:pt x="85" y="61"/>
                      <a:pt x="84" y="63"/>
                    </a:cubicBezTo>
                    <a:cubicBezTo>
                      <a:pt x="82" y="64"/>
                      <a:pt x="81" y="63"/>
                      <a:pt x="82" y="63"/>
                    </a:cubicBezTo>
                    <a:cubicBezTo>
                      <a:pt x="84" y="62"/>
                      <a:pt x="84" y="62"/>
                      <a:pt x="83" y="61"/>
                    </a:cubicBezTo>
                    <a:cubicBezTo>
                      <a:pt x="81" y="61"/>
                      <a:pt x="83" y="61"/>
                      <a:pt x="84" y="60"/>
                    </a:cubicBezTo>
                    <a:cubicBezTo>
                      <a:pt x="86" y="60"/>
                      <a:pt x="86" y="59"/>
                      <a:pt x="84" y="59"/>
                    </a:cubicBezTo>
                    <a:cubicBezTo>
                      <a:pt x="82" y="58"/>
                      <a:pt x="82" y="59"/>
                      <a:pt x="82" y="59"/>
                    </a:cubicBezTo>
                    <a:cubicBezTo>
                      <a:pt x="83" y="59"/>
                      <a:pt x="81" y="60"/>
                      <a:pt x="80" y="59"/>
                    </a:cubicBezTo>
                    <a:cubicBezTo>
                      <a:pt x="80" y="57"/>
                      <a:pt x="82" y="58"/>
                      <a:pt x="83" y="57"/>
                    </a:cubicBezTo>
                    <a:cubicBezTo>
                      <a:pt x="84" y="56"/>
                      <a:pt x="81" y="57"/>
                      <a:pt x="79" y="57"/>
                    </a:cubicBezTo>
                    <a:cubicBezTo>
                      <a:pt x="78" y="57"/>
                      <a:pt x="79" y="56"/>
                      <a:pt x="80" y="56"/>
                    </a:cubicBezTo>
                    <a:cubicBezTo>
                      <a:pt x="81" y="55"/>
                      <a:pt x="81" y="54"/>
                      <a:pt x="83" y="54"/>
                    </a:cubicBezTo>
                    <a:cubicBezTo>
                      <a:pt x="84" y="53"/>
                      <a:pt x="85" y="52"/>
                      <a:pt x="86" y="52"/>
                    </a:cubicBezTo>
                    <a:cubicBezTo>
                      <a:pt x="86" y="51"/>
                      <a:pt x="88" y="48"/>
                      <a:pt x="88" y="48"/>
                    </a:cubicBezTo>
                    <a:cubicBezTo>
                      <a:pt x="89" y="48"/>
                      <a:pt x="81" y="45"/>
                      <a:pt x="80" y="44"/>
                    </a:cubicBezTo>
                    <a:cubicBezTo>
                      <a:pt x="80" y="44"/>
                      <a:pt x="78" y="44"/>
                      <a:pt x="78" y="45"/>
                    </a:cubicBezTo>
                    <a:cubicBezTo>
                      <a:pt x="77" y="46"/>
                      <a:pt x="77" y="46"/>
                      <a:pt x="76" y="45"/>
                    </a:cubicBezTo>
                    <a:cubicBezTo>
                      <a:pt x="76" y="44"/>
                      <a:pt x="75" y="44"/>
                      <a:pt x="74" y="46"/>
                    </a:cubicBezTo>
                    <a:cubicBezTo>
                      <a:pt x="73" y="47"/>
                      <a:pt x="73" y="48"/>
                      <a:pt x="73" y="46"/>
                    </a:cubicBezTo>
                    <a:cubicBezTo>
                      <a:pt x="73" y="45"/>
                      <a:pt x="73" y="44"/>
                      <a:pt x="73" y="43"/>
                    </a:cubicBezTo>
                    <a:cubicBezTo>
                      <a:pt x="73" y="42"/>
                      <a:pt x="71" y="44"/>
                      <a:pt x="70" y="45"/>
                    </a:cubicBezTo>
                    <a:cubicBezTo>
                      <a:pt x="69" y="46"/>
                      <a:pt x="68" y="47"/>
                      <a:pt x="68" y="47"/>
                    </a:cubicBezTo>
                    <a:cubicBezTo>
                      <a:pt x="67" y="47"/>
                      <a:pt x="66" y="47"/>
                      <a:pt x="65" y="48"/>
                    </a:cubicBezTo>
                    <a:cubicBezTo>
                      <a:pt x="65" y="49"/>
                      <a:pt x="64" y="48"/>
                      <a:pt x="63" y="47"/>
                    </a:cubicBezTo>
                    <a:cubicBezTo>
                      <a:pt x="62" y="47"/>
                      <a:pt x="61" y="51"/>
                      <a:pt x="60" y="52"/>
                    </a:cubicBezTo>
                    <a:cubicBezTo>
                      <a:pt x="58" y="53"/>
                      <a:pt x="61" y="49"/>
                      <a:pt x="62" y="47"/>
                    </a:cubicBezTo>
                    <a:cubicBezTo>
                      <a:pt x="62" y="46"/>
                      <a:pt x="61" y="46"/>
                      <a:pt x="62" y="45"/>
                    </a:cubicBezTo>
                    <a:cubicBezTo>
                      <a:pt x="64" y="44"/>
                      <a:pt x="62" y="43"/>
                      <a:pt x="61" y="43"/>
                    </a:cubicBezTo>
                    <a:cubicBezTo>
                      <a:pt x="60" y="43"/>
                      <a:pt x="61" y="45"/>
                      <a:pt x="60" y="46"/>
                    </a:cubicBezTo>
                    <a:cubicBezTo>
                      <a:pt x="59" y="47"/>
                      <a:pt x="59" y="46"/>
                      <a:pt x="59" y="46"/>
                    </a:cubicBezTo>
                    <a:cubicBezTo>
                      <a:pt x="60" y="45"/>
                      <a:pt x="60" y="45"/>
                      <a:pt x="59" y="44"/>
                    </a:cubicBezTo>
                    <a:cubicBezTo>
                      <a:pt x="58" y="43"/>
                      <a:pt x="58" y="43"/>
                      <a:pt x="57" y="45"/>
                    </a:cubicBezTo>
                    <a:cubicBezTo>
                      <a:pt x="56" y="45"/>
                      <a:pt x="56" y="44"/>
                      <a:pt x="55" y="45"/>
                    </a:cubicBezTo>
                    <a:cubicBezTo>
                      <a:pt x="55" y="46"/>
                      <a:pt x="54" y="44"/>
                      <a:pt x="54" y="44"/>
                    </a:cubicBezTo>
                    <a:cubicBezTo>
                      <a:pt x="53" y="43"/>
                      <a:pt x="52" y="43"/>
                      <a:pt x="50" y="44"/>
                    </a:cubicBezTo>
                    <a:cubicBezTo>
                      <a:pt x="49" y="44"/>
                      <a:pt x="51" y="42"/>
                      <a:pt x="52" y="41"/>
                    </a:cubicBezTo>
                    <a:cubicBezTo>
                      <a:pt x="53" y="40"/>
                      <a:pt x="52" y="39"/>
                      <a:pt x="50" y="40"/>
                    </a:cubicBezTo>
                    <a:cubicBezTo>
                      <a:pt x="48" y="41"/>
                      <a:pt x="48" y="42"/>
                      <a:pt x="48" y="40"/>
                    </a:cubicBezTo>
                    <a:cubicBezTo>
                      <a:pt x="49" y="39"/>
                      <a:pt x="55" y="37"/>
                      <a:pt x="57" y="35"/>
                    </a:cubicBezTo>
                    <a:cubicBezTo>
                      <a:pt x="60" y="34"/>
                      <a:pt x="56" y="34"/>
                      <a:pt x="55" y="34"/>
                    </a:cubicBezTo>
                    <a:cubicBezTo>
                      <a:pt x="53" y="35"/>
                      <a:pt x="53" y="34"/>
                      <a:pt x="52" y="33"/>
                    </a:cubicBezTo>
                    <a:cubicBezTo>
                      <a:pt x="52" y="32"/>
                      <a:pt x="52" y="33"/>
                      <a:pt x="50" y="34"/>
                    </a:cubicBezTo>
                    <a:cubicBezTo>
                      <a:pt x="50" y="34"/>
                      <a:pt x="49" y="33"/>
                      <a:pt x="49" y="34"/>
                    </a:cubicBezTo>
                    <a:cubicBezTo>
                      <a:pt x="48" y="35"/>
                      <a:pt x="47" y="34"/>
                      <a:pt x="48" y="32"/>
                    </a:cubicBezTo>
                    <a:cubicBezTo>
                      <a:pt x="48" y="30"/>
                      <a:pt x="44" y="35"/>
                      <a:pt x="44" y="36"/>
                    </a:cubicBezTo>
                    <a:cubicBezTo>
                      <a:pt x="44" y="37"/>
                      <a:pt x="44" y="36"/>
                      <a:pt x="43" y="36"/>
                    </a:cubicBezTo>
                    <a:cubicBezTo>
                      <a:pt x="42" y="36"/>
                      <a:pt x="40" y="39"/>
                      <a:pt x="39" y="41"/>
                    </a:cubicBezTo>
                    <a:cubicBezTo>
                      <a:pt x="38" y="42"/>
                      <a:pt x="38" y="43"/>
                      <a:pt x="38" y="42"/>
                    </a:cubicBezTo>
                    <a:cubicBezTo>
                      <a:pt x="38" y="42"/>
                      <a:pt x="38" y="39"/>
                      <a:pt x="37" y="39"/>
                    </a:cubicBezTo>
                    <a:cubicBezTo>
                      <a:pt x="37" y="38"/>
                      <a:pt x="38" y="35"/>
                      <a:pt x="40" y="31"/>
                    </a:cubicBezTo>
                    <a:cubicBezTo>
                      <a:pt x="42" y="28"/>
                      <a:pt x="45" y="24"/>
                      <a:pt x="46" y="23"/>
                    </a:cubicBezTo>
                    <a:cubicBezTo>
                      <a:pt x="47" y="22"/>
                      <a:pt x="48" y="22"/>
                      <a:pt x="48" y="20"/>
                    </a:cubicBezTo>
                    <a:cubicBezTo>
                      <a:pt x="48" y="19"/>
                      <a:pt x="49" y="18"/>
                      <a:pt x="49" y="19"/>
                    </a:cubicBezTo>
                    <a:cubicBezTo>
                      <a:pt x="49" y="20"/>
                      <a:pt x="50" y="19"/>
                      <a:pt x="51" y="18"/>
                    </a:cubicBezTo>
                    <a:cubicBezTo>
                      <a:pt x="52" y="17"/>
                      <a:pt x="53" y="12"/>
                      <a:pt x="53" y="11"/>
                    </a:cubicBezTo>
                    <a:cubicBezTo>
                      <a:pt x="54" y="9"/>
                      <a:pt x="52" y="10"/>
                      <a:pt x="51" y="10"/>
                    </a:cubicBezTo>
                    <a:cubicBezTo>
                      <a:pt x="50" y="11"/>
                      <a:pt x="49" y="9"/>
                      <a:pt x="49" y="8"/>
                    </a:cubicBezTo>
                    <a:cubicBezTo>
                      <a:pt x="49" y="7"/>
                      <a:pt x="54" y="8"/>
                      <a:pt x="56" y="8"/>
                    </a:cubicBezTo>
                    <a:cubicBezTo>
                      <a:pt x="57" y="9"/>
                      <a:pt x="58" y="4"/>
                      <a:pt x="59" y="3"/>
                    </a:cubicBezTo>
                    <a:cubicBezTo>
                      <a:pt x="60" y="2"/>
                      <a:pt x="57" y="2"/>
                      <a:pt x="5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72" name="Freeform 255">
                <a:extLst>
                  <a:ext uri="{FF2B5EF4-FFF2-40B4-BE49-F238E27FC236}">
                    <a16:creationId xmlns:a16="http://schemas.microsoft.com/office/drawing/2014/main" id="{585FEB69-61B9-4980-BA54-438D4348947E}"/>
                  </a:ext>
                </a:extLst>
              </p:cNvPr>
              <p:cNvSpPr>
                <a:spLocks/>
              </p:cNvSpPr>
              <p:nvPr/>
            </p:nvSpPr>
            <p:spPr bwMode="auto">
              <a:xfrm>
                <a:off x="2359" y="1546"/>
                <a:ext cx="4" cy="2"/>
              </a:xfrm>
              <a:custGeom>
                <a:avLst/>
                <a:gdLst>
                  <a:gd name="T0" fmla="*/ 0 w 3"/>
                  <a:gd name="T1" fmla="*/ 2 h 2"/>
                  <a:gd name="T2" fmla="*/ 3 w 3"/>
                  <a:gd name="T3" fmla="*/ 2 h 2"/>
                  <a:gd name="T4" fmla="*/ 0 w 3"/>
                  <a:gd name="T5" fmla="*/ 2 h 2"/>
                </a:gdLst>
                <a:ahLst/>
                <a:cxnLst>
                  <a:cxn ang="0">
                    <a:pos x="T0" y="T1"/>
                  </a:cxn>
                  <a:cxn ang="0">
                    <a:pos x="T2" y="T3"/>
                  </a:cxn>
                  <a:cxn ang="0">
                    <a:pos x="T4" y="T5"/>
                  </a:cxn>
                </a:cxnLst>
                <a:rect l="0" t="0" r="r" b="b"/>
                <a:pathLst>
                  <a:path w="3" h="2">
                    <a:moveTo>
                      <a:pt x="0" y="2"/>
                    </a:moveTo>
                    <a:cubicBezTo>
                      <a:pt x="3" y="2"/>
                      <a:pt x="3" y="2"/>
                      <a:pt x="3" y="2"/>
                    </a:cubicBezTo>
                    <a:cubicBezTo>
                      <a:pt x="3" y="2"/>
                      <a:pt x="2"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73" name="Freeform 256">
                <a:extLst>
                  <a:ext uri="{FF2B5EF4-FFF2-40B4-BE49-F238E27FC236}">
                    <a16:creationId xmlns:a16="http://schemas.microsoft.com/office/drawing/2014/main" id="{99163590-9962-4CC4-A2E4-1321B32034E3}"/>
                  </a:ext>
                </a:extLst>
              </p:cNvPr>
              <p:cNvSpPr>
                <a:spLocks/>
              </p:cNvSpPr>
              <p:nvPr/>
            </p:nvSpPr>
            <p:spPr bwMode="auto">
              <a:xfrm>
                <a:off x="2380" y="1579"/>
                <a:ext cx="2" cy="1"/>
              </a:xfrm>
              <a:custGeom>
                <a:avLst/>
                <a:gdLst>
                  <a:gd name="T0" fmla="*/ 0 w 2"/>
                  <a:gd name="T1" fmla="*/ 1 h 1"/>
                  <a:gd name="T2" fmla="*/ 2 w 2"/>
                  <a:gd name="T3" fmla="*/ 0 h 1"/>
                  <a:gd name="T4" fmla="*/ 0 w 2"/>
                  <a:gd name="T5" fmla="*/ 1 h 1"/>
                </a:gdLst>
                <a:ahLst/>
                <a:cxnLst>
                  <a:cxn ang="0">
                    <a:pos x="T0" y="T1"/>
                  </a:cxn>
                  <a:cxn ang="0">
                    <a:pos x="T2" y="T3"/>
                  </a:cxn>
                  <a:cxn ang="0">
                    <a:pos x="T4" y="T5"/>
                  </a:cxn>
                </a:cxnLst>
                <a:rect l="0" t="0" r="r" b="b"/>
                <a:pathLst>
                  <a:path w="2" h="1">
                    <a:moveTo>
                      <a:pt x="0" y="1"/>
                    </a:moveTo>
                    <a:cubicBezTo>
                      <a:pt x="2" y="0"/>
                      <a:pt x="2" y="0"/>
                      <a:pt x="2" y="0"/>
                    </a:cubicBezTo>
                    <a:cubicBezTo>
                      <a:pt x="2" y="0"/>
                      <a:pt x="1"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74" name="Freeform 257">
                <a:extLst>
                  <a:ext uri="{FF2B5EF4-FFF2-40B4-BE49-F238E27FC236}">
                    <a16:creationId xmlns:a16="http://schemas.microsoft.com/office/drawing/2014/main" id="{DBB72428-C7D3-4B7B-A253-584DD55BB699}"/>
                  </a:ext>
                </a:extLst>
              </p:cNvPr>
              <p:cNvSpPr>
                <a:spLocks/>
              </p:cNvSpPr>
              <p:nvPr/>
            </p:nvSpPr>
            <p:spPr bwMode="auto">
              <a:xfrm>
                <a:off x="2388" y="1575"/>
                <a:ext cx="7" cy="5"/>
              </a:xfrm>
              <a:custGeom>
                <a:avLst/>
                <a:gdLst>
                  <a:gd name="T0" fmla="*/ 1 w 5"/>
                  <a:gd name="T1" fmla="*/ 2 h 4"/>
                  <a:gd name="T2" fmla="*/ 0 w 5"/>
                  <a:gd name="T3" fmla="*/ 2 h 4"/>
                  <a:gd name="T4" fmla="*/ 1 w 5"/>
                  <a:gd name="T5" fmla="*/ 4 h 4"/>
                  <a:gd name="T6" fmla="*/ 4 w 5"/>
                  <a:gd name="T7" fmla="*/ 2 h 4"/>
                  <a:gd name="T8" fmla="*/ 1 w 5"/>
                  <a:gd name="T9" fmla="*/ 2 h 4"/>
                </a:gdLst>
                <a:ahLst/>
                <a:cxnLst>
                  <a:cxn ang="0">
                    <a:pos x="T0" y="T1"/>
                  </a:cxn>
                  <a:cxn ang="0">
                    <a:pos x="T2" y="T3"/>
                  </a:cxn>
                  <a:cxn ang="0">
                    <a:pos x="T4" y="T5"/>
                  </a:cxn>
                  <a:cxn ang="0">
                    <a:pos x="T6" y="T7"/>
                  </a:cxn>
                  <a:cxn ang="0">
                    <a:pos x="T8" y="T9"/>
                  </a:cxn>
                </a:cxnLst>
                <a:rect l="0" t="0" r="r" b="b"/>
                <a:pathLst>
                  <a:path w="5" h="4">
                    <a:moveTo>
                      <a:pt x="1" y="2"/>
                    </a:moveTo>
                    <a:cubicBezTo>
                      <a:pt x="0" y="2"/>
                      <a:pt x="0" y="0"/>
                      <a:pt x="0" y="2"/>
                    </a:cubicBezTo>
                    <a:cubicBezTo>
                      <a:pt x="0" y="2"/>
                      <a:pt x="0" y="4"/>
                      <a:pt x="1" y="4"/>
                    </a:cubicBezTo>
                    <a:cubicBezTo>
                      <a:pt x="3" y="3"/>
                      <a:pt x="5" y="3"/>
                      <a:pt x="4" y="2"/>
                    </a:cubicBezTo>
                    <a:cubicBezTo>
                      <a:pt x="3" y="1"/>
                      <a:pt x="2" y="1"/>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75" name="Freeform 258">
                <a:extLst>
                  <a:ext uri="{FF2B5EF4-FFF2-40B4-BE49-F238E27FC236}">
                    <a16:creationId xmlns:a16="http://schemas.microsoft.com/office/drawing/2014/main" id="{22DA0AC3-5199-4870-897C-079E9475BDD2}"/>
                  </a:ext>
                </a:extLst>
              </p:cNvPr>
              <p:cNvSpPr>
                <a:spLocks/>
              </p:cNvSpPr>
              <p:nvPr/>
            </p:nvSpPr>
            <p:spPr bwMode="auto">
              <a:xfrm>
                <a:off x="2344" y="1640"/>
                <a:ext cx="4" cy="16"/>
              </a:xfrm>
              <a:custGeom>
                <a:avLst/>
                <a:gdLst>
                  <a:gd name="T0" fmla="*/ 1 w 3"/>
                  <a:gd name="T1" fmla="*/ 7 h 11"/>
                  <a:gd name="T2" fmla="*/ 1 w 3"/>
                  <a:gd name="T3" fmla="*/ 3 h 11"/>
                  <a:gd name="T4" fmla="*/ 0 w 3"/>
                  <a:gd name="T5" fmla="*/ 8 h 11"/>
                  <a:gd name="T6" fmla="*/ 1 w 3"/>
                  <a:gd name="T7" fmla="*/ 7 h 11"/>
                </a:gdLst>
                <a:ahLst/>
                <a:cxnLst>
                  <a:cxn ang="0">
                    <a:pos x="T0" y="T1"/>
                  </a:cxn>
                  <a:cxn ang="0">
                    <a:pos x="T2" y="T3"/>
                  </a:cxn>
                  <a:cxn ang="0">
                    <a:pos x="T4" y="T5"/>
                  </a:cxn>
                  <a:cxn ang="0">
                    <a:pos x="T6" y="T7"/>
                  </a:cxn>
                </a:cxnLst>
                <a:rect l="0" t="0" r="r" b="b"/>
                <a:pathLst>
                  <a:path w="3" h="11">
                    <a:moveTo>
                      <a:pt x="1" y="7"/>
                    </a:moveTo>
                    <a:cubicBezTo>
                      <a:pt x="3" y="4"/>
                      <a:pt x="1" y="0"/>
                      <a:pt x="1" y="3"/>
                    </a:cubicBezTo>
                    <a:cubicBezTo>
                      <a:pt x="1" y="5"/>
                      <a:pt x="2" y="6"/>
                      <a:pt x="0" y="8"/>
                    </a:cubicBezTo>
                    <a:cubicBezTo>
                      <a:pt x="0" y="8"/>
                      <a:pt x="0" y="11"/>
                      <a:pt x="1"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76" name="Freeform 259">
                <a:extLst>
                  <a:ext uri="{FF2B5EF4-FFF2-40B4-BE49-F238E27FC236}">
                    <a16:creationId xmlns:a16="http://schemas.microsoft.com/office/drawing/2014/main" id="{9692FCE8-BA20-421C-86F5-932B08FFDF15}"/>
                  </a:ext>
                </a:extLst>
              </p:cNvPr>
              <p:cNvSpPr>
                <a:spLocks/>
              </p:cNvSpPr>
              <p:nvPr/>
            </p:nvSpPr>
            <p:spPr bwMode="auto">
              <a:xfrm>
                <a:off x="2174" y="1624"/>
                <a:ext cx="4" cy="4"/>
              </a:xfrm>
              <a:custGeom>
                <a:avLst/>
                <a:gdLst>
                  <a:gd name="T0" fmla="*/ 0 w 3"/>
                  <a:gd name="T1" fmla="*/ 2 h 3"/>
                  <a:gd name="T2" fmla="*/ 3 w 3"/>
                  <a:gd name="T3" fmla="*/ 0 h 3"/>
                  <a:gd name="T4" fmla="*/ 0 w 3"/>
                  <a:gd name="T5" fmla="*/ 2 h 3"/>
                </a:gdLst>
                <a:ahLst/>
                <a:cxnLst>
                  <a:cxn ang="0">
                    <a:pos x="T0" y="T1"/>
                  </a:cxn>
                  <a:cxn ang="0">
                    <a:pos x="T2" y="T3"/>
                  </a:cxn>
                  <a:cxn ang="0">
                    <a:pos x="T4" y="T5"/>
                  </a:cxn>
                </a:cxnLst>
                <a:rect l="0" t="0" r="r" b="b"/>
                <a:pathLst>
                  <a:path w="3" h="3">
                    <a:moveTo>
                      <a:pt x="0" y="2"/>
                    </a:moveTo>
                    <a:cubicBezTo>
                      <a:pt x="1" y="3"/>
                      <a:pt x="3" y="0"/>
                      <a:pt x="3" y="0"/>
                    </a:cubicBezTo>
                    <a:cubicBezTo>
                      <a:pt x="2" y="0"/>
                      <a:pt x="0"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77" name="Freeform 260">
                <a:extLst>
                  <a:ext uri="{FF2B5EF4-FFF2-40B4-BE49-F238E27FC236}">
                    <a16:creationId xmlns:a16="http://schemas.microsoft.com/office/drawing/2014/main" id="{CEE1D1E3-D0D7-426F-97A5-7D4E91F83FDF}"/>
                  </a:ext>
                </a:extLst>
              </p:cNvPr>
              <p:cNvSpPr>
                <a:spLocks/>
              </p:cNvSpPr>
              <p:nvPr/>
            </p:nvSpPr>
            <p:spPr bwMode="auto">
              <a:xfrm>
                <a:off x="2179" y="1645"/>
                <a:ext cx="51" cy="30"/>
              </a:xfrm>
              <a:custGeom>
                <a:avLst/>
                <a:gdLst>
                  <a:gd name="T0" fmla="*/ 29 w 37"/>
                  <a:gd name="T1" fmla="*/ 16 h 22"/>
                  <a:gd name="T2" fmla="*/ 31 w 37"/>
                  <a:gd name="T3" fmla="*/ 15 h 22"/>
                  <a:gd name="T4" fmla="*/ 36 w 37"/>
                  <a:gd name="T5" fmla="*/ 13 h 22"/>
                  <a:gd name="T6" fmla="*/ 35 w 37"/>
                  <a:gd name="T7" fmla="*/ 12 h 22"/>
                  <a:gd name="T8" fmla="*/ 9 w 37"/>
                  <a:gd name="T9" fmla="*/ 11 h 22"/>
                  <a:gd name="T10" fmla="*/ 9 w 37"/>
                  <a:gd name="T11" fmla="*/ 10 h 22"/>
                  <a:gd name="T12" fmla="*/ 7 w 37"/>
                  <a:gd name="T13" fmla="*/ 7 h 22"/>
                  <a:gd name="T14" fmla="*/ 6 w 37"/>
                  <a:gd name="T15" fmla="*/ 5 h 22"/>
                  <a:gd name="T16" fmla="*/ 7 w 37"/>
                  <a:gd name="T17" fmla="*/ 2 h 22"/>
                  <a:gd name="T18" fmla="*/ 5 w 37"/>
                  <a:gd name="T19" fmla="*/ 2 h 22"/>
                  <a:gd name="T20" fmla="*/ 1 w 37"/>
                  <a:gd name="T21" fmla="*/ 7 h 22"/>
                  <a:gd name="T22" fmla="*/ 2 w 37"/>
                  <a:gd name="T23" fmla="*/ 9 h 22"/>
                  <a:gd name="T24" fmla="*/ 5 w 37"/>
                  <a:gd name="T25" fmla="*/ 9 h 22"/>
                  <a:gd name="T26" fmla="*/ 5 w 37"/>
                  <a:gd name="T27" fmla="*/ 11 h 22"/>
                  <a:gd name="T28" fmla="*/ 6 w 37"/>
                  <a:gd name="T29" fmla="*/ 13 h 22"/>
                  <a:gd name="T30" fmla="*/ 9 w 37"/>
                  <a:gd name="T31" fmla="*/ 14 h 22"/>
                  <a:gd name="T32" fmla="*/ 12 w 37"/>
                  <a:gd name="T33" fmla="*/ 16 h 22"/>
                  <a:gd name="T34" fmla="*/ 16 w 37"/>
                  <a:gd name="T35" fmla="*/ 17 h 22"/>
                  <a:gd name="T36" fmla="*/ 18 w 37"/>
                  <a:gd name="T37" fmla="*/ 17 h 22"/>
                  <a:gd name="T38" fmla="*/ 19 w 37"/>
                  <a:gd name="T39" fmla="*/ 16 h 22"/>
                  <a:gd name="T40" fmla="*/ 21 w 37"/>
                  <a:gd name="T41" fmla="*/ 19 h 22"/>
                  <a:gd name="T42" fmla="*/ 28 w 37"/>
                  <a:gd name="T43" fmla="*/ 21 h 22"/>
                  <a:gd name="T44" fmla="*/ 29 w 37"/>
                  <a:gd name="T45" fmla="*/ 20 h 22"/>
                  <a:gd name="T46" fmla="*/ 29 w 37"/>
                  <a:gd name="T47" fmla="*/ 19 h 22"/>
                  <a:gd name="T48" fmla="*/ 28 w 37"/>
                  <a:gd name="T49" fmla="*/ 17 h 22"/>
                  <a:gd name="T50" fmla="*/ 29 w 37"/>
                  <a:gd name="T51"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 h="22">
                    <a:moveTo>
                      <a:pt x="29" y="16"/>
                    </a:moveTo>
                    <a:cubicBezTo>
                      <a:pt x="30" y="16"/>
                      <a:pt x="30" y="15"/>
                      <a:pt x="31" y="15"/>
                    </a:cubicBezTo>
                    <a:cubicBezTo>
                      <a:pt x="32" y="14"/>
                      <a:pt x="34" y="14"/>
                      <a:pt x="36" y="13"/>
                    </a:cubicBezTo>
                    <a:cubicBezTo>
                      <a:pt x="37" y="12"/>
                      <a:pt x="36" y="12"/>
                      <a:pt x="35" y="12"/>
                    </a:cubicBezTo>
                    <a:cubicBezTo>
                      <a:pt x="35" y="12"/>
                      <a:pt x="10" y="12"/>
                      <a:pt x="9" y="11"/>
                    </a:cubicBezTo>
                    <a:cubicBezTo>
                      <a:pt x="7" y="11"/>
                      <a:pt x="8" y="11"/>
                      <a:pt x="9" y="10"/>
                    </a:cubicBezTo>
                    <a:cubicBezTo>
                      <a:pt x="9" y="10"/>
                      <a:pt x="9" y="9"/>
                      <a:pt x="7" y="7"/>
                    </a:cubicBezTo>
                    <a:cubicBezTo>
                      <a:pt x="5" y="6"/>
                      <a:pt x="6" y="6"/>
                      <a:pt x="6" y="5"/>
                    </a:cubicBezTo>
                    <a:cubicBezTo>
                      <a:pt x="6" y="4"/>
                      <a:pt x="7" y="4"/>
                      <a:pt x="7" y="2"/>
                    </a:cubicBezTo>
                    <a:cubicBezTo>
                      <a:pt x="7" y="0"/>
                      <a:pt x="7" y="1"/>
                      <a:pt x="5" y="2"/>
                    </a:cubicBezTo>
                    <a:cubicBezTo>
                      <a:pt x="3" y="3"/>
                      <a:pt x="3" y="5"/>
                      <a:pt x="1" y="7"/>
                    </a:cubicBezTo>
                    <a:cubicBezTo>
                      <a:pt x="0" y="9"/>
                      <a:pt x="2" y="9"/>
                      <a:pt x="2" y="9"/>
                    </a:cubicBezTo>
                    <a:cubicBezTo>
                      <a:pt x="2" y="9"/>
                      <a:pt x="3" y="9"/>
                      <a:pt x="5" y="9"/>
                    </a:cubicBezTo>
                    <a:cubicBezTo>
                      <a:pt x="6" y="9"/>
                      <a:pt x="6" y="10"/>
                      <a:pt x="5" y="11"/>
                    </a:cubicBezTo>
                    <a:cubicBezTo>
                      <a:pt x="5" y="13"/>
                      <a:pt x="5" y="13"/>
                      <a:pt x="6" y="13"/>
                    </a:cubicBezTo>
                    <a:cubicBezTo>
                      <a:pt x="8" y="13"/>
                      <a:pt x="8" y="13"/>
                      <a:pt x="9" y="14"/>
                    </a:cubicBezTo>
                    <a:cubicBezTo>
                      <a:pt x="10" y="15"/>
                      <a:pt x="12" y="16"/>
                      <a:pt x="12" y="16"/>
                    </a:cubicBezTo>
                    <a:cubicBezTo>
                      <a:pt x="13" y="16"/>
                      <a:pt x="14" y="17"/>
                      <a:pt x="16" y="17"/>
                    </a:cubicBezTo>
                    <a:cubicBezTo>
                      <a:pt x="17" y="18"/>
                      <a:pt x="17" y="18"/>
                      <a:pt x="18" y="17"/>
                    </a:cubicBezTo>
                    <a:cubicBezTo>
                      <a:pt x="18" y="17"/>
                      <a:pt x="18" y="16"/>
                      <a:pt x="19" y="16"/>
                    </a:cubicBezTo>
                    <a:cubicBezTo>
                      <a:pt x="20" y="15"/>
                      <a:pt x="20" y="17"/>
                      <a:pt x="21" y="19"/>
                    </a:cubicBezTo>
                    <a:cubicBezTo>
                      <a:pt x="23" y="22"/>
                      <a:pt x="26" y="21"/>
                      <a:pt x="28" y="21"/>
                    </a:cubicBezTo>
                    <a:cubicBezTo>
                      <a:pt x="30" y="21"/>
                      <a:pt x="30" y="20"/>
                      <a:pt x="29" y="20"/>
                    </a:cubicBezTo>
                    <a:cubicBezTo>
                      <a:pt x="28" y="19"/>
                      <a:pt x="28" y="20"/>
                      <a:pt x="29" y="19"/>
                    </a:cubicBezTo>
                    <a:cubicBezTo>
                      <a:pt x="30" y="19"/>
                      <a:pt x="29" y="18"/>
                      <a:pt x="28" y="17"/>
                    </a:cubicBezTo>
                    <a:cubicBezTo>
                      <a:pt x="27" y="17"/>
                      <a:pt x="28" y="17"/>
                      <a:pt x="29" y="1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78" name="Freeform 261">
                <a:extLst>
                  <a:ext uri="{FF2B5EF4-FFF2-40B4-BE49-F238E27FC236}">
                    <a16:creationId xmlns:a16="http://schemas.microsoft.com/office/drawing/2014/main" id="{E9EBB2DF-06BB-4D0A-8C5C-0D3F57C44B74}"/>
                  </a:ext>
                </a:extLst>
              </p:cNvPr>
              <p:cNvSpPr>
                <a:spLocks/>
              </p:cNvSpPr>
              <p:nvPr/>
            </p:nvSpPr>
            <p:spPr bwMode="auto">
              <a:xfrm>
                <a:off x="2174" y="1572"/>
                <a:ext cx="63" cy="23"/>
              </a:xfrm>
              <a:custGeom>
                <a:avLst/>
                <a:gdLst>
                  <a:gd name="T0" fmla="*/ 43 w 46"/>
                  <a:gd name="T1" fmla="*/ 11 h 17"/>
                  <a:gd name="T2" fmla="*/ 38 w 46"/>
                  <a:gd name="T3" fmla="*/ 9 h 17"/>
                  <a:gd name="T4" fmla="*/ 34 w 46"/>
                  <a:gd name="T5" fmla="*/ 7 h 17"/>
                  <a:gd name="T6" fmla="*/ 31 w 46"/>
                  <a:gd name="T7" fmla="*/ 5 h 17"/>
                  <a:gd name="T8" fmla="*/ 26 w 46"/>
                  <a:gd name="T9" fmla="*/ 3 h 17"/>
                  <a:gd name="T10" fmla="*/ 6 w 46"/>
                  <a:gd name="T11" fmla="*/ 0 h 17"/>
                  <a:gd name="T12" fmla="*/ 5 w 46"/>
                  <a:gd name="T13" fmla="*/ 2 h 17"/>
                  <a:gd name="T14" fmla="*/ 16 w 46"/>
                  <a:gd name="T15" fmla="*/ 7 h 17"/>
                  <a:gd name="T16" fmla="*/ 20 w 46"/>
                  <a:gd name="T17" fmla="*/ 10 h 17"/>
                  <a:gd name="T18" fmla="*/ 27 w 46"/>
                  <a:gd name="T19" fmla="*/ 14 h 17"/>
                  <a:gd name="T20" fmla="*/ 35 w 46"/>
                  <a:gd name="T21" fmla="*/ 15 h 17"/>
                  <a:gd name="T22" fmla="*/ 44 w 46"/>
                  <a:gd name="T23" fmla="*/ 15 h 17"/>
                  <a:gd name="T24" fmla="*/ 43 w 46"/>
                  <a:gd name="T25"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 h="17">
                    <a:moveTo>
                      <a:pt x="43" y="11"/>
                    </a:moveTo>
                    <a:cubicBezTo>
                      <a:pt x="42" y="10"/>
                      <a:pt x="39" y="10"/>
                      <a:pt x="38" y="9"/>
                    </a:cubicBezTo>
                    <a:cubicBezTo>
                      <a:pt x="36" y="8"/>
                      <a:pt x="35" y="8"/>
                      <a:pt x="34" y="7"/>
                    </a:cubicBezTo>
                    <a:cubicBezTo>
                      <a:pt x="33" y="5"/>
                      <a:pt x="32" y="6"/>
                      <a:pt x="31" y="5"/>
                    </a:cubicBezTo>
                    <a:cubicBezTo>
                      <a:pt x="29" y="4"/>
                      <a:pt x="26" y="3"/>
                      <a:pt x="26" y="3"/>
                    </a:cubicBezTo>
                    <a:cubicBezTo>
                      <a:pt x="21" y="1"/>
                      <a:pt x="12" y="0"/>
                      <a:pt x="6" y="0"/>
                    </a:cubicBezTo>
                    <a:cubicBezTo>
                      <a:pt x="0" y="0"/>
                      <a:pt x="5" y="2"/>
                      <a:pt x="5" y="2"/>
                    </a:cubicBezTo>
                    <a:cubicBezTo>
                      <a:pt x="8" y="3"/>
                      <a:pt x="15" y="5"/>
                      <a:pt x="16" y="7"/>
                    </a:cubicBezTo>
                    <a:cubicBezTo>
                      <a:pt x="17" y="10"/>
                      <a:pt x="19" y="10"/>
                      <a:pt x="20" y="10"/>
                    </a:cubicBezTo>
                    <a:cubicBezTo>
                      <a:pt x="21" y="11"/>
                      <a:pt x="25" y="13"/>
                      <a:pt x="27" y="14"/>
                    </a:cubicBezTo>
                    <a:cubicBezTo>
                      <a:pt x="29" y="14"/>
                      <a:pt x="30" y="13"/>
                      <a:pt x="35" y="15"/>
                    </a:cubicBezTo>
                    <a:cubicBezTo>
                      <a:pt x="39" y="17"/>
                      <a:pt x="42" y="16"/>
                      <a:pt x="44" y="15"/>
                    </a:cubicBezTo>
                    <a:cubicBezTo>
                      <a:pt x="46" y="14"/>
                      <a:pt x="44" y="13"/>
                      <a:pt x="43"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79" name="Freeform 262">
                <a:extLst>
                  <a:ext uri="{FF2B5EF4-FFF2-40B4-BE49-F238E27FC236}">
                    <a16:creationId xmlns:a16="http://schemas.microsoft.com/office/drawing/2014/main" id="{D30176B9-3631-4F0C-B333-ABE62FA0BAC5}"/>
                  </a:ext>
                </a:extLst>
              </p:cNvPr>
              <p:cNvSpPr>
                <a:spLocks/>
              </p:cNvSpPr>
              <p:nvPr/>
            </p:nvSpPr>
            <p:spPr bwMode="auto">
              <a:xfrm>
                <a:off x="2230" y="1631"/>
                <a:ext cx="9" cy="11"/>
              </a:xfrm>
              <a:custGeom>
                <a:avLst/>
                <a:gdLst>
                  <a:gd name="T0" fmla="*/ 1 w 6"/>
                  <a:gd name="T1" fmla="*/ 5 h 8"/>
                  <a:gd name="T2" fmla="*/ 4 w 6"/>
                  <a:gd name="T3" fmla="*/ 2 h 8"/>
                  <a:gd name="T4" fmla="*/ 4 w 6"/>
                  <a:gd name="T5" fmla="*/ 1 h 8"/>
                  <a:gd name="T6" fmla="*/ 0 w 6"/>
                  <a:gd name="T7" fmla="*/ 6 h 8"/>
                  <a:gd name="T8" fmla="*/ 1 w 6"/>
                  <a:gd name="T9" fmla="*/ 7 h 8"/>
                  <a:gd name="T10" fmla="*/ 1 w 6"/>
                  <a:gd name="T11" fmla="*/ 6 h 8"/>
                  <a:gd name="T12" fmla="*/ 1 w 6"/>
                  <a:gd name="T13" fmla="*/ 5 h 8"/>
                </a:gdLst>
                <a:ahLst/>
                <a:cxnLst>
                  <a:cxn ang="0">
                    <a:pos x="T0" y="T1"/>
                  </a:cxn>
                  <a:cxn ang="0">
                    <a:pos x="T2" y="T3"/>
                  </a:cxn>
                  <a:cxn ang="0">
                    <a:pos x="T4" y="T5"/>
                  </a:cxn>
                  <a:cxn ang="0">
                    <a:pos x="T6" y="T7"/>
                  </a:cxn>
                  <a:cxn ang="0">
                    <a:pos x="T8" y="T9"/>
                  </a:cxn>
                  <a:cxn ang="0">
                    <a:pos x="T10" y="T11"/>
                  </a:cxn>
                  <a:cxn ang="0">
                    <a:pos x="T12" y="T13"/>
                  </a:cxn>
                </a:cxnLst>
                <a:rect l="0" t="0" r="r" b="b"/>
                <a:pathLst>
                  <a:path w="6" h="8">
                    <a:moveTo>
                      <a:pt x="1" y="5"/>
                    </a:moveTo>
                    <a:cubicBezTo>
                      <a:pt x="3" y="4"/>
                      <a:pt x="3" y="3"/>
                      <a:pt x="4" y="2"/>
                    </a:cubicBezTo>
                    <a:cubicBezTo>
                      <a:pt x="6" y="0"/>
                      <a:pt x="5" y="0"/>
                      <a:pt x="4" y="1"/>
                    </a:cubicBezTo>
                    <a:cubicBezTo>
                      <a:pt x="2" y="2"/>
                      <a:pt x="0" y="5"/>
                      <a:pt x="0" y="6"/>
                    </a:cubicBezTo>
                    <a:cubicBezTo>
                      <a:pt x="0" y="8"/>
                      <a:pt x="1" y="8"/>
                      <a:pt x="1" y="7"/>
                    </a:cubicBezTo>
                    <a:cubicBezTo>
                      <a:pt x="2" y="7"/>
                      <a:pt x="2" y="7"/>
                      <a:pt x="1" y="6"/>
                    </a:cubicBezTo>
                    <a:cubicBezTo>
                      <a:pt x="0" y="6"/>
                      <a:pt x="0" y="5"/>
                      <a:pt x="1"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80" name="Freeform 263">
                <a:extLst>
                  <a:ext uri="{FF2B5EF4-FFF2-40B4-BE49-F238E27FC236}">
                    <a16:creationId xmlns:a16="http://schemas.microsoft.com/office/drawing/2014/main" id="{E00BCC39-5985-4015-ACB3-1147418BD15E}"/>
                  </a:ext>
                </a:extLst>
              </p:cNvPr>
              <p:cNvSpPr>
                <a:spLocks noEditPoints="1"/>
              </p:cNvSpPr>
              <p:nvPr/>
            </p:nvSpPr>
            <p:spPr bwMode="auto">
              <a:xfrm>
                <a:off x="2239" y="1645"/>
                <a:ext cx="36" cy="41"/>
              </a:xfrm>
              <a:custGeom>
                <a:avLst/>
                <a:gdLst>
                  <a:gd name="T0" fmla="*/ 25 w 26"/>
                  <a:gd name="T1" fmla="*/ 18 h 30"/>
                  <a:gd name="T2" fmla="*/ 21 w 26"/>
                  <a:gd name="T3" fmla="*/ 16 h 30"/>
                  <a:gd name="T4" fmla="*/ 17 w 26"/>
                  <a:gd name="T5" fmla="*/ 15 h 30"/>
                  <a:gd name="T6" fmla="*/ 16 w 26"/>
                  <a:gd name="T7" fmla="*/ 16 h 30"/>
                  <a:gd name="T8" fmla="*/ 15 w 26"/>
                  <a:gd name="T9" fmla="*/ 16 h 30"/>
                  <a:gd name="T10" fmla="*/ 16 w 26"/>
                  <a:gd name="T11" fmla="*/ 11 h 30"/>
                  <a:gd name="T12" fmla="*/ 18 w 26"/>
                  <a:gd name="T13" fmla="*/ 6 h 30"/>
                  <a:gd name="T14" fmla="*/ 17 w 26"/>
                  <a:gd name="T15" fmla="*/ 4 h 30"/>
                  <a:gd name="T16" fmla="*/ 16 w 26"/>
                  <a:gd name="T17" fmla="*/ 2 h 30"/>
                  <a:gd name="T18" fmla="*/ 15 w 26"/>
                  <a:gd name="T19" fmla="*/ 1 h 30"/>
                  <a:gd name="T20" fmla="*/ 13 w 26"/>
                  <a:gd name="T21" fmla="*/ 2 h 30"/>
                  <a:gd name="T22" fmla="*/ 11 w 26"/>
                  <a:gd name="T23" fmla="*/ 5 h 30"/>
                  <a:gd name="T24" fmla="*/ 8 w 26"/>
                  <a:gd name="T25" fmla="*/ 9 h 30"/>
                  <a:gd name="T26" fmla="*/ 7 w 26"/>
                  <a:gd name="T27" fmla="*/ 10 h 30"/>
                  <a:gd name="T28" fmla="*/ 2 w 26"/>
                  <a:gd name="T29" fmla="*/ 17 h 30"/>
                  <a:gd name="T30" fmla="*/ 0 w 26"/>
                  <a:gd name="T31" fmla="*/ 21 h 30"/>
                  <a:gd name="T32" fmla="*/ 2 w 26"/>
                  <a:gd name="T33" fmla="*/ 27 h 30"/>
                  <a:gd name="T34" fmla="*/ 5 w 26"/>
                  <a:gd name="T35" fmla="*/ 28 h 30"/>
                  <a:gd name="T36" fmla="*/ 9 w 26"/>
                  <a:gd name="T37" fmla="*/ 28 h 30"/>
                  <a:gd name="T38" fmla="*/ 9 w 26"/>
                  <a:gd name="T39" fmla="*/ 28 h 30"/>
                  <a:gd name="T40" fmla="*/ 11 w 26"/>
                  <a:gd name="T41" fmla="*/ 28 h 30"/>
                  <a:gd name="T42" fmla="*/ 17 w 26"/>
                  <a:gd name="T43" fmla="*/ 27 h 30"/>
                  <a:gd name="T44" fmla="*/ 20 w 26"/>
                  <a:gd name="T45" fmla="*/ 24 h 30"/>
                  <a:gd name="T46" fmla="*/ 24 w 26"/>
                  <a:gd name="T47" fmla="*/ 23 h 30"/>
                  <a:gd name="T48" fmla="*/ 26 w 26"/>
                  <a:gd name="T49" fmla="*/ 19 h 30"/>
                  <a:gd name="T50" fmla="*/ 25 w 26"/>
                  <a:gd name="T51" fmla="*/ 18 h 30"/>
                  <a:gd name="T52" fmla="*/ 16 w 26"/>
                  <a:gd name="T53" fmla="*/ 21 h 30"/>
                  <a:gd name="T54" fmla="*/ 12 w 26"/>
                  <a:gd name="T55" fmla="*/ 25 h 30"/>
                  <a:gd name="T56" fmla="*/ 9 w 26"/>
                  <a:gd name="T57" fmla="*/ 27 h 30"/>
                  <a:gd name="T58" fmla="*/ 9 w 26"/>
                  <a:gd name="T59" fmla="*/ 27 h 30"/>
                  <a:gd name="T60" fmla="*/ 7 w 26"/>
                  <a:gd name="T61" fmla="*/ 26 h 30"/>
                  <a:gd name="T62" fmla="*/ 7 w 26"/>
                  <a:gd name="T63" fmla="*/ 24 h 30"/>
                  <a:gd name="T64" fmla="*/ 7 w 26"/>
                  <a:gd name="T65" fmla="*/ 23 h 30"/>
                  <a:gd name="T66" fmla="*/ 10 w 26"/>
                  <a:gd name="T67" fmla="*/ 21 h 30"/>
                  <a:gd name="T68" fmla="*/ 10 w 26"/>
                  <a:gd name="T69" fmla="*/ 20 h 30"/>
                  <a:gd name="T70" fmla="*/ 13 w 26"/>
                  <a:gd name="T71" fmla="*/ 18 h 30"/>
                  <a:gd name="T72" fmla="*/ 15 w 26"/>
                  <a:gd name="T73" fmla="*/ 19 h 30"/>
                  <a:gd name="T74" fmla="*/ 12 w 26"/>
                  <a:gd name="T75" fmla="*/ 20 h 30"/>
                  <a:gd name="T76" fmla="*/ 13 w 26"/>
                  <a:gd name="T77" fmla="*/ 22 h 30"/>
                  <a:gd name="T78" fmla="*/ 16 w 26"/>
                  <a:gd name="T79" fmla="*/ 2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 h="30">
                    <a:moveTo>
                      <a:pt x="25" y="18"/>
                    </a:moveTo>
                    <a:cubicBezTo>
                      <a:pt x="25" y="17"/>
                      <a:pt x="22" y="16"/>
                      <a:pt x="21" y="16"/>
                    </a:cubicBezTo>
                    <a:cubicBezTo>
                      <a:pt x="20" y="15"/>
                      <a:pt x="19" y="15"/>
                      <a:pt x="17" y="15"/>
                    </a:cubicBezTo>
                    <a:cubicBezTo>
                      <a:pt x="16" y="16"/>
                      <a:pt x="16" y="17"/>
                      <a:pt x="16" y="16"/>
                    </a:cubicBezTo>
                    <a:cubicBezTo>
                      <a:pt x="16" y="14"/>
                      <a:pt x="16" y="15"/>
                      <a:pt x="15" y="16"/>
                    </a:cubicBezTo>
                    <a:cubicBezTo>
                      <a:pt x="13" y="16"/>
                      <a:pt x="16" y="13"/>
                      <a:pt x="16" y="11"/>
                    </a:cubicBezTo>
                    <a:cubicBezTo>
                      <a:pt x="17" y="10"/>
                      <a:pt x="17" y="8"/>
                      <a:pt x="18" y="6"/>
                    </a:cubicBezTo>
                    <a:cubicBezTo>
                      <a:pt x="19" y="4"/>
                      <a:pt x="18" y="4"/>
                      <a:pt x="17" y="4"/>
                    </a:cubicBezTo>
                    <a:cubicBezTo>
                      <a:pt x="15" y="4"/>
                      <a:pt x="16" y="3"/>
                      <a:pt x="16" y="2"/>
                    </a:cubicBezTo>
                    <a:cubicBezTo>
                      <a:pt x="17" y="0"/>
                      <a:pt x="16" y="2"/>
                      <a:pt x="15" y="1"/>
                    </a:cubicBezTo>
                    <a:cubicBezTo>
                      <a:pt x="15" y="1"/>
                      <a:pt x="14" y="2"/>
                      <a:pt x="13" y="2"/>
                    </a:cubicBezTo>
                    <a:cubicBezTo>
                      <a:pt x="12" y="3"/>
                      <a:pt x="12" y="4"/>
                      <a:pt x="11" y="5"/>
                    </a:cubicBezTo>
                    <a:cubicBezTo>
                      <a:pt x="10" y="5"/>
                      <a:pt x="9" y="8"/>
                      <a:pt x="8" y="9"/>
                    </a:cubicBezTo>
                    <a:cubicBezTo>
                      <a:pt x="7" y="9"/>
                      <a:pt x="8" y="9"/>
                      <a:pt x="7" y="10"/>
                    </a:cubicBezTo>
                    <a:cubicBezTo>
                      <a:pt x="7" y="11"/>
                      <a:pt x="4" y="15"/>
                      <a:pt x="2" y="17"/>
                    </a:cubicBezTo>
                    <a:cubicBezTo>
                      <a:pt x="0" y="18"/>
                      <a:pt x="0" y="21"/>
                      <a:pt x="0" y="21"/>
                    </a:cubicBezTo>
                    <a:cubicBezTo>
                      <a:pt x="0" y="21"/>
                      <a:pt x="1" y="24"/>
                      <a:pt x="2" y="27"/>
                    </a:cubicBezTo>
                    <a:cubicBezTo>
                      <a:pt x="4" y="30"/>
                      <a:pt x="5" y="28"/>
                      <a:pt x="5" y="28"/>
                    </a:cubicBezTo>
                    <a:cubicBezTo>
                      <a:pt x="5" y="29"/>
                      <a:pt x="7" y="28"/>
                      <a:pt x="9" y="28"/>
                    </a:cubicBezTo>
                    <a:cubicBezTo>
                      <a:pt x="9" y="28"/>
                      <a:pt x="9" y="28"/>
                      <a:pt x="9" y="28"/>
                    </a:cubicBezTo>
                    <a:cubicBezTo>
                      <a:pt x="9" y="28"/>
                      <a:pt x="10" y="28"/>
                      <a:pt x="11" y="28"/>
                    </a:cubicBezTo>
                    <a:cubicBezTo>
                      <a:pt x="12" y="29"/>
                      <a:pt x="15" y="27"/>
                      <a:pt x="17" y="27"/>
                    </a:cubicBezTo>
                    <a:cubicBezTo>
                      <a:pt x="18" y="26"/>
                      <a:pt x="20" y="26"/>
                      <a:pt x="20" y="24"/>
                    </a:cubicBezTo>
                    <a:cubicBezTo>
                      <a:pt x="21" y="23"/>
                      <a:pt x="21" y="23"/>
                      <a:pt x="24" y="23"/>
                    </a:cubicBezTo>
                    <a:cubicBezTo>
                      <a:pt x="26" y="23"/>
                      <a:pt x="26" y="21"/>
                      <a:pt x="26" y="19"/>
                    </a:cubicBezTo>
                    <a:cubicBezTo>
                      <a:pt x="26" y="18"/>
                      <a:pt x="26" y="18"/>
                      <a:pt x="25" y="18"/>
                    </a:cubicBezTo>
                    <a:close/>
                    <a:moveTo>
                      <a:pt x="16" y="21"/>
                    </a:moveTo>
                    <a:cubicBezTo>
                      <a:pt x="16" y="22"/>
                      <a:pt x="12" y="24"/>
                      <a:pt x="12" y="25"/>
                    </a:cubicBezTo>
                    <a:cubicBezTo>
                      <a:pt x="11" y="26"/>
                      <a:pt x="11" y="27"/>
                      <a:pt x="9" y="27"/>
                    </a:cubicBezTo>
                    <a:cubicBezTo>
                      <a:pt x="9" y="27"/>
                      <a:pt x="9" y="27"/>
                      <a:pt x="9" y="27"/>
                    </a:cubicBezTo>
                    <a:cubicBezTo>
                      <a:pt x="9" y="27"/>
                      <a:pt x="8" y="26"/>
                      <a:pt x="7" y="26"/>
                    </a:cubicBezTo>
                    <a:cubicBezTo>
                      <a:pt x="6" y="25"/>
                      <a:pt x="6" y="25"/>
                      <a:pt x="7" y="24"/>
                    </a:cubicBezTo>
                    <a:cubicBezTo>
                      <a:pt x="8" y="24"/>
                      <a:pt x="9" y="24"/>
                      <a:pt x="7" y="23"/>
                    </a:cubicBezTo>
                    <a:cubicBezTo>
                      <a:pt x="5" y="23"/>
                      <a:pt x="9" y="22"/>
                      <a:pt x="10" y="21"/>
                    </a:cubicBezTo>
                    <a:cubicBezTo>
                      <a:pt x="12" y="21"/>
                      <a:pt x="11" y="20"/>
                      <a:pt x="10" y="20"/>
                    </a:cubicBezTo>
                    <a:cubicBezTo>
                      <a:pt x="8" y="20"/>
                      <a:pt x="12" y="19"/>
                      <a:pt x="13" y="18"/>
                    </a:cubicBezTo>
                    <a:cubicBezTo>
                      <a:pt x="14" y="17"/>
                      <a:pt x="12" y="19"/>
                      <a:pt x="15" y="19"/>
                    </a:cubicBezTo>
                    <a:cubicBezTo>
                      <a:pt x="17" y="19"/>
                      <a:pt x="15" y="19"/>
                      <a:pt x="12" y="20"/>
                    </a:cubicBezTo>
                    <a:cubicBezTo>
                      <a:pt x="10" y="22"/>
                      <a:pt x="12" y="23"/>
                      <a:pt x="13" y="22"/>
                    </a:cubicBezTo>
                    <a:cubicBezTo>
                      <a:pt x="14" y="22"/>
                      <a:pt x="16" y="21"/>
                      <a:pt x="16" y="2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81" name="Freeform 264">
                <a:extLst>
                  <a:ext uri="{FF2B5EF4-FFF2-40B4-BE49-F238E27FC236}">
                    <a16:creationId xmlns:a16="http://schemas.microsoft.com/office/drawing/2014/main" id="{7741DE42-D8E7-49EE-83AD-C017E4C48B0A}"/>
                  </a:ext>
                </a:extLst>
              </p:cNvPr>
              <p:cNvSpPr>
                <a:spLocks/>
              </p:cNvSpPr>
              <p:nvPr/>
            </p:nvSpPr>
            <p:spPr bwMode="auto">
              <a:xfrm>
                <a:off x="2270" y="1723"/>
                <a:ext cx="6" cy="3"/>
              </a:xfrm>
              <a:custGeom>
                <a:avLst/>
                <a:gdLst>
                  <a:gd name="T0" fmla="*/ 0 w 4"/>
                  <a:gd name="T1" fmla="*/ 2 h 2"/>
                  <a:gd name="T2" fmla="*/ 4 w 4"/>
                  <a:gd name="T3" fmla="*/ 1 h 2"/>
                  <a:gd name="T4" fmla="*/ 0 w 4"/>
                  <a:gd name="T5" fmla="*/ 2 h 2"/>
                </a:gdLst>
                <a:ahLst/>
                <a:cxnLst>
                  <a:cxn ang="0">
                    <a:pos x="T0" y="T1"/>
                  </a:cxn>
                  <a:cxn ang="0">
                    <a:pos x="T2" y="T3"/>
                  </a:cxn>
                  <a:cxn ang="0">
                    <a:pos x="T4" y="T5"/>
                  </a:cxn>
                </a:cxnLst>
                <a:rect l="0" t="0" r="r" b="b"/>
                <a:pathLst>
                  <a:path w="4" h="2">
                    <a:moveTo>
                      <a:pt x="0" y="2"/>
                    </a:moveTo>
                    <a:cubicBezTo>
                      <a:pt x="4" y="1"/>
                      <a:pt x="4" y="1"/>
                      <a:pt x="4" y="1"/>
                    </a:cubicBezTo>
                    <a:cubicBezTo>
                      <a:pt x="4" y="1"/>
                      <a:pt x="3"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82" name="Freeform 265">
                <a:extLst>
                  <a:ext uri="{FF2B5EF4-FFF2-40B4-BE49-F238E27FC236}">
                    <a16:creationId xmlns:a16="http://schemas.microsoft.com/office/drawing/2014/main" id="{440D8EA2-D586-4519-A263-0B277C29DD85}"/>
                  </a:ext>
                </a:extLst>
              </p:cNvPr>
              <p:cNvSpPr>
                <a:spLocks/>
              </p:cNvSpPr>
              <p:nvPr/>
            </p:nvSpPr>
            <p:spPr bwMode="auto">
              <a:xfrm>
                <a:off x="2128" y="1702"/>
                <a:ext cx="3" cy="6"/>
              </a:xfrm>
              <a:custGeom>
                <a:avLst/>
                <a:gdLst>
                  <a:gd name="T0" fmla="*/ 0 w 2"/>
                  <a:gd name="T1" fmla="*/ 4 h 4"/>
                  <a:gd name="T2" fmla="*/ 2 w 2"/>
                  <a:gd name="T3" fmla="*/ 1 h 4"/>
                  <a:gd name="T4" fmla="*/ 0 w 2"/>
                  <a:gd name="T5" fmla="*/ 4 h 4"/>
                </a:gdLst>
                <a:ahLst/>
                <a:cxnLst>
                  <a:cxn ang="0">
                    <a:pos x="T0" y="T1"/>
                  </a:cxn>
                  <a:cxn ang="0">
                    <a:pos x="T2" y="T3"/>
                  </a:cxn>
                  <a:cxn ang="0">
                    <a:pos x="T4" y="T5"/>
                  </a:cxn>
                </a:cxnLst>
                <a:rect l="0" t="0" r="r" b="b"/>
                <a:pathLst>
                  <a:path w="2" h="4">
                    <a:moveTo>
                      <a:pt x="0" y="4"/>
                    </a:moveTo>
                    <a:cubicBezTo>
                      <a:pt x="0" y="4"/>
                      <a:pt x="2" y="3"/>
                      <a:pt x="2" y="1"/>
                    </a:cubicBezTo>
                    <a:cubicBezTo>
                      <a:pt x="2" y="0"/>
                      <a:pt x="1" y="2"/>
                      <a:pt x="0"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83" name="Freeform 266">
                <a:extLst>
                  <a:ext uri="{FF2B5EF4-FFF2-40B4-BE49-F238E27FC236}">
                    <a16:creationId xmlns:a16="http://schemas.microsoft.com/office/drawing/2014/main" id="{E66B209A-0489-4692-9E13-A3D0CF551945}"/>
                  </a:ext>
                </a:extLst>
              </p:cNvPr>
              <p:cNvSpPr>
                <a:spLocks noEditPoints="1"/>
              </p:cNvSpPr>
              <p:nvPr/>
            </p:nvSpPr>
            <p:spPr bwMode="auto">
              <a:xfrm>
                <a:off x="606" y="877"/>
                <a:ext cx="1756" cy="898"/>
              </a:xfrm>
              <a:custGeom>
                <a:avLst/>
                <a:gdLst>
                  <a:gd name="T0" fmla="*/ 1215 w 1269"/>
                  <a:gd name="T1" fmla="*/ 430 h 654"/>
                  <a:gd name="T2" fmla="*/ 1220 w 1269"/>
                  <a:gd name="T3" fmla="*/ 407 h 654"/>
                  <a:gd name="T4" fmla="*/ 1189 w 1269"/>
                  <a:gd name="T5" fmla="*/ 388 h 654"/>
                  <a:gd name="T6" fmla="*/ 1178 w 1269"/>
                  <a:gd name="T7" fmla="*/ 358 h 654"/>
                  <a:gd name="T8" fmla="*/ 1162 w 1269"/>
                  <a:gd name="T9" fmla="*/ 330 h 654"/>
                  <a:gd name="T10" fmla="*/ 1148 w 1269"/>
                  <a:gd name="T11" fmla="*/ 312 h 654"/>
                  <a:gd name="T12" fmla="*/ 1127 w 1269"/>
                  <a:gd name="T13" fmla="*/ 298 h 654"/>
                  <a:gd name="T14" fmla="*/ 1114 w 1269"/>
                  <a:gd name="T15" fmla="*/ 325 h 654"/>
                  <a:gd name="T16" fmla="*/ 1081 w 1269"/>
                  <a:gd name="T17" fmla="*/ 335 h 654"/>
                  <a:gd name="T18" fmla="*/ 1057 w 1269"/>
                  <a:gd name="T19" fmla="*/ 319 h 654"/>
                  <a:gd name="T20" fmla="*/ 1061 w 1269"/>
                  <a:gd name="T21" fmla="*/ 273 h 654"/>
                  <a:gd name="T22" fmla="*/ 987 w 1269"/>
                  <a:gd name="T23" fmla="*/ 246 h 654"/>
                  <a:gd name="T24" fmla="*/ 944 w 1269"/>
                  <a:gd name="T25" fmla="*/ 302 h 654"/>
                  <a:gd name="T26" fmla="*/ 942 w 1269"/>
                  <a:gd name="T27" fmla="*/ 335 h 654"/>
                  <a:gd name="T28" fmla="*/ 919 w 1269"/>
                  <a:gd name="T29" fmla="*/ 429 h 654"/>
                  <a:gd name="T30" fmla="*/ 908 w 1269"/>
                  <a:gd name="T31" fmla="*/ 481 h 654"/>
                  <a:gd name="T32" fmla="*/ 870 w 1269"/>
                  <a:gd name="T33" fmla="*/ 419 h 654"/>
                  <a:gd name="T34" fmla="*/ 722 w 1269"/>
                  <a:gd name="T35" fmla="*/ 363 h 654"/>
                  <a:gd name="T36" fmla="*/ 697 w 1269"/>
                  <a:gd name="T37" fmla="*/ 268 h 654"/>
                  <a:gd name="T38" fmla="*/ 721 w 1269"/>
                  <a:gd name="T39" fmla="*/ 238 h 654"/>
                  <a:gd name="T40" fmla="*/ 720 w 1269"/>
                  <a:gd name="T41" fmla="*/ 209 h 654"/>
                  <a:gd name="T42" fmla="*/ 770 w 1269"/>
                  <a:gd name="T43" fmla="*/ 171 h 654"/>
                  <a:gd name="T44" fmla="*/ 848 w 1269"/>
                  <a:gd name="T45" fmla="*/ 147 h 654"/>
                  <a:gd name="T46" fmla="*/ 870 w 1269"/>
                  <a:gd name="T47" fmla="*/ 99 h 654"/>
                  <a:gd name="T48" fmla="*/ 825 w 1269"/>
                  <a:gd name="T49" fmla="*/ 73 h 654"/>
                  <a:gd name="T50" fmla="*/ 797 w 1269"/>
                  <a:gd name="T51" fmla="*/ 128 h 654"/>
                  <a:gd name="T52" fmla="*/ 745 w 1269"/>
                  <a:gd name="T53" fmla="*/ 73 h 654"/>
                  <a:gd name="T54" fmla="*/ 723 w 1269"/>
                  <a:gd name="T55" fmla="*/ 38 h 654"/>
                  <a:gd name="T56" fmla="*/ 668 w 1269"/>
                  <a:gd name="T57" fmla="*/ 18 h 654"/>
                  <a:gd name="T58" fmla="*/ 689 w 1269"/>
                  <a:gd name="T59" fmla="*/ 84 h 654"/>
                  <a:gd name="T60" fmla="*/ 666 w 1269"/>
                  <a:gd name="T61" fmla="*/ 132 h 654"/>
                  <a:gd name="T62" fmla="*/ 629 w 1269"/>
                  <a:gd name="T63" fmla="*/ 98 h 654"/>
                  <a:gd name="T64" fmla="*/ 540 w 1269"/>
                  <a:gd name="T65" fmla="*/ 103 h 654"/>
                  <a:gd name="T66" fmla="*/ 492 w 1269"/>
                  <a:gd name="T67" fmla="*/ 105 h 654"/>
                  <a:gd name="T68" fmla="*/ 492 w 1269"/>
                  <a:gd name="T69" fmla="*/ 128 h 654"/>
                  <a:gd name="T70" fmla="*/ 370 w 1269"/>
                  <a:gd name="T71" fmla="*/ 86 h 654"/>
                  <a:gd name="T72" fmla="*/ 237 w 1269"/>
                  <a:gd name="T73" fmla="*/ 62 h 654"/>
                  <a:gd name="T74" fmla="*/ 149 w 1269"/>
                  <a:gd name="T75" fmla="*/ 73 h 654"/>
                  <a:gd name="T76" fmla="*/ 151 w 1269"/>
                  <a:gd name="T77" fmla="*/ 64 h 654"/>
                  <a:gd name="T78" fmla="*/ 80 w 1269"/>
                  <a:gd name="T79" fmla="*/ 74 h 654"/>
                  <a:gd name="T80" fmla="*/ 67 w 1269"/>
                  <a:gd name="T81" fmla="*/ 309 h 654"/>
                  <a:gd name="T82" fmla="*/ 163 w 1269"/>
                  <a:gd name="T83" fmla="*/ 405 h 654"/>
                  <a:gd name="T84" fmla="*/ 182 w 1269"/>
                  <a:gd name="T85" fmla="*/ 433 h 654"/>
                  <a:gd name="T86" fmla="*/ 205 w 1269"/>
                  <a:gd name="T87" fmla="*/ 454 h 654"/>
                  <a:gd name="T88" fmla="*/ 200 w 1269"/>
                  <a:gd name="T89" fmla="*/ 484 h 654"/>
                  <a:gd name="T90" fmla="*/ 244 w 1269"/>
                  <a:gd name="T91" fmla="*/ 496 h 654"/>
                  <a:gd name="T92" fmla="*/ 723 w 1269"/>
                  <a:gd name="T93" fmla="*/ 537 h 654"/>
                  <a:gd name="T94" fmla="*/ 832 w 1269"/>
                  <a:gd name="T95" fmla="*/ 547 h 654"/>
                  <a:gd name="T96" fmla="*/ 894 w 1269"/>
                  <a:gd name="T97" fmla="*/ 603 h 654"/>
                  <a:gd name="T98" fmla="*/ 919 w 1269"/>
                  <a:gd name="T99" fmla="*/ 631 h 654"/>
                  <a:gd name="T100" fmla="*/ 1092 w 1269"/>
                  <a:gd name="T101" fmla="*/ 589 h 654"/>
                  <a:gd name="T102" fmla="*/ 1135 w 1269"/>
                  <a:gd name="T103" fmla="*/ 613 h 654"/>
                  <a:gd name="T104" fmla="*/ 1130 w 1269"/>
                  <a:gd name="T105" fmla="*/ 562 h 654"/>
                  <a:gd name="T106" fmla="*/ 1037 w 1269"/>
                  <a:gd name="T107" fmla="*/ 565 h 654"/>
                  <a:gd name="T108" fmla="*/ 1127 w 1269"/>
                  <a:gd name="T109" fmla="*/ 498 h 654"/>
                  <a:gd name="T110" fmla="*/ 320 w 1269"/>
                  <a:gd name="T111" fmla="*/ 162 h 654"/>
                  <a:gd name="T112" fmla="*/ 281 w 1269"/>
                  <a:gd name="T113" fmla="*/ 157 h 654"/>
                  <a:gd name="T114" fmla="*/ 312 w 1269"/>
                  <a:gd name="T115" fmla="*/ 131 h 654"/>
                  <a:gd name="T116" fmla="*/ 436 w 1269"/>
                  <a:gd name="T117" fmla="*/ 242 h 654"/>
                  <a:gd name="T118" fmla="*/ 375 w 1269"/>
                  <a:gd name="T119" fmla="*/ 263 h 654"/>
                  <a:gd name="T120" fmla="*/ 475 w 1269"/>
                  <a:gd name="T121" fmla="*/ 233 h 654"/>
                  <a:gd name="T122" fmla="*/ 645 w 1269"/>
                  <a:gd name="T123" fmla="*/ 462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69" h="654">
                    <a:moveTo>
                      <a:pt x="1263" y="457"/>
                    </a:moveTo>
                    <a:cubicBezTo>
                      <a:pt x="1263" y="457"/>
                      <a:pt x="1266" y="458"/>
                      <a:pt x="1266" y="457"/>
                    </a:cubicBezTo>
                    <a:cubicBezTo>
                      <a:pt x="1265" y="457"/>
                      <a:pt x="1267" y="457"/>
                      <a:pt x="1267" y="457"/>
                    </a:cubicBezTo>
                    <a:cubicBezTo>
                      <a:pt x="1267" y="457"/>
                      <a:pt x="1269" y="456"/>
                      <a:pt x="1267" y="455"/>
                    </a:cubicBezTo>
                    <a:cubicBezTo>
                      <a:pt x="1265" y="454"/>
                      <a:pt x="1262" y="454"/>
                      <a:pt x="1260" y="454"/>
                    </a:cubicBezTo>
                    <a:cubicBezTo>
                      <a:pt x="1259" y="454"/>
                      <a:pt x="1254" y="453"/>
                      <a:pt x="1257" y="453"/>
                    </a:cubicBezTo>
                    <a:cubicBezTo>
                      <a:pt x="1260" y="453"/>
                      <a:pt x="1261" y="453"/>
                      <a:pt x="1262" y="453"/>
                    </a:cubicBezTo>
                    <a:cubicBezTo>
                      <a:pt x="1262" y="453"/>
                      <a:pt x="1262" y="451"/>
                      <a:pt x="1263" y="452"/>
                    </a:cubicBezTo>
                    <a:cubicBezTo>
                      <a:pt x="1263" y="452"/>
                      <a:pt x="1266" y="452"/>
                      <a:pt x="1266" y="451"/>
                    </a:cubicBezTo>
                    <a:cubicBezTo>
                      <a:pt x="1266" y="450"/>
                      <a:pt x="1265" y="451"/>
                      <a:pt x="1263" y="451"/>
                    </a:cubicBezTo>
                    <a:cubicBezTo>
                      <a:pt x="1262" y="451"/>
                      <a:pt x="1259" y="448"/>
                      <a:pt x="1261" y="449"/>
                    </a:cubicBezTo>
                    <a:cubicBezTo>
                      <a:pt x="1263" y="449"/>
                      <a:pt x="1266" y="446"/>
                      <a:pt x="1263" y="446"/>
                    </a:cubicBezTo>
                    <a:cubicBezTo>
                      <a:pt x="1261" y="445"/>
                      <a:pt x="1260" y="444"/>
                      <a:pt x="1262" y="444"/>
                    </a:cubicBezTo>
                    <a:cubicBezTo>
                      <a:pt x="1264" y="444"/>
                      <a:pt x="1264" y="443"/>
                      <a:pt x="1264" y="443"/>
                    </a:cubicBezTo>
                    <a:cubicBezTo>
                      <a:pt x="1264" y="442"/>
                      <a:pt x="1265" y="442"/>
                      <a:pt x="1265" y="442"/>
                    </a:cubicBezTo>
                    <a:cubicBezTo>
                      <a:pt x="1266" y="442"/>
                      <a:pt x="1267" y="440"/>
                      <a:pt x="1266" y="438"/>
                    </a:cubicBezTo>
                    <a:cubicBezTo>
                      <a:pt x="1265" y="437"/>
                      <a:pt x="1263" y="438"/>
                      <a:pt x="1262" y="437"/>
                    </a:cubicBezTo>
                    <a:cubicBezTo>
                      <a:pt x="1261" y="436"/>
                      <a:pt x="1258" y="433"/>
                      <a:pt x="1260" y="434"/>
                    </a:cubicBezTo>
                    <a:cubicBezTo>
                      <a:pt x="1263" y="434"/>
                      <a:pt x="1263" y="434"/>
                      <a:pt x="1260" y="433"/>
                    </a:cubicBezTo>
                    <a:cubicBezTo>
                      <a:pt x="1256" y="432"/>
                      <a:pt x="1250" y="431"/>
                      <a:pt x="1254" y="430"/>
                    </a:cubicBezTo>
                    <a:cubicBezTo>
                      <a:pt x="1257" y="429"/>
                      <a:pt x="1255" y="429"/>
                      <a:pt x="1254" y="429"/>
                    </a:cubicBezTo>
                    <a:cubicBezTo>
                      <a:pt x="1253" y="430"/>
                      <a:pt x="1252" y="430"/>
                      <a:pt x="1252" y="430"/>
                    </a:cubicBezTo>
                    <a:cubicBezTo>
                      <a:pt x="1251" y="429"/>
                      <a:pt x="1248" y="429"/>
                      <a:pt x="1246" y="431"/>
                    </a:cubicBezTo>
                    <a:cubicBezTo>
                      <a:pt x="1244" y="434"/>
                      <a:pt x="1243" y="437"/>
                      <a:pt x="1242" y="436"/>
                    </a:cubicBezTo>
                    <a:cubicBezTo>
                      <a:pt x="1241" y="435"/>
                      <a:pt x="1242" y="435"/>
                      <a:pt x="1242" y="434"/>
                    </a:cubicBezTo>
                    <a:cubicBezTo>
                      <a:pt x="1243" y="432"/>
                      <a:pt x="1242" y="432"/>
                      <a:pt x="1241" y="432"/>
                    </a:cubicBezTo>
                    <a:cubicBezTo>
                      <a:pt x="1240" y="432"/>
                      <a:pt x="1238" y="432"/>
                      <a:pt x="1242" y="431"/>
                    </a:cubicBezTo>
                    <a:cubicBezTo>
                      <a:pt x="1246" y="430"/>
                      <a:pt x="1247" y="428"/>
                      <a:pt x="1246" y="426"/>
                    </a:cubicBezTo>
                    <a:cubicBezTo>
                      <a:pt x="1244" y="425"/>
                      <a:pt x="1243" y="422"/>
                      <a:pt x="1239" y="421"/>
                    </a:cubicBezTo>
                    <a:cubicBezTo>
                      <a:pt x="1236" y="420"/>
                      <a:pt x="1232" y="419"/>
                      <a:pt x="1231" y="420"/>
                    </a:cubicBezTo>
                    <a:cubicBezTo>
                      <a:pt x="1230" y="420"/>
                      <a:pt x="1227" y="420"/>
                      <a:pt x="1227" y="421"/>
                    </a:cubicBezTo>
                    <a:cubicBezTo>
                      <a:pt x="1226" y="422"/>
                      <a:pt x="1228" y="422"/>
                      <a:pt x="1230" y="422"/>
                    </a:cubicBezTo>
                    <a:cubicBezTo>
                      <a:pt x="1232" y="422"/>
                      <a:pt x="1239" y="422"/>
                      <a:pt x="1233" y="422"/>
                    </a:cubicBezTo>
                    <a:cubicBezTo>
                      <a:pt x="1228" y="423"/>
                      <a:pt x="1227" y="423"/>
                      <a:pt x="1226" y="424"/>
                    </a:cubicBezTo>
                    <a:cubicBezTo>
                      <a:pt x="1224" y="424"/>
                      <a:pt x="1220" y="426"/>
                      <a:pt x="1219" y="427"/>
                    </a:cubicBezTo>
                    <a:cubicBezTo>
                      <a:pt x="1217" y="428"/>
                      <a:pt x="1217" y="428"/>
                      <a:pt x="1217" y="429"/>
                    </a:cubicBezTo>
                    <a:cubicBezTo>
                      <a:pt x="1217" y="430"/>
                      <a:pt x="1217" y="430"/>
                      <a:pt x="1215" y="430"/>
                    </a:cubicBezTo>
                    <a:cubicBezTo>
                      <a:pt x="1214" y="431"/>
                      <a:pt x="1213" y="431"/>
                      <a:pt x="1211" y="433"/>
                    </a:cubicBezTo>
                    <a:cubicBezTo>
                      <a:pt x="1209" y="434"/>
                      <a:pt x="1207" y="434"/>
                      <a:pt x="1206" y="434"/>
                    </a:cubicBezTo>
                    <a:cubicBezTo>
                      <a:pt x="1205" y="434"/>
                      <a:pt x="1205" y="433"/>
                      <a:pt x="1205" y="435"/>
                    </a:cubicBezTo>
                    <a:cubicBezTo>
                      <a:pt x="1205" y="436"/>
                      <a:pt x="1205" y="436"/>
                      <a:pt x="1204" y="436"/>
                    </a:cubicBezTo>
                    <a:cubicBezTo>
                      <a:pt x="1203" y="436"/>
                      <a:pt x="1202" y="438"/>
                      <a:pt x="1202" y="438"/>
                    </a:cubicBezTo>
                    <a:cubicBezTo>
                      <a:pt x="1202" y="438"/>
                      <a:pt x="1201" y="438"/>
                      <a:pt x="1201" y="439"/>
                    </a:cubicBezTo>
                    <a:cubicBezTo>
                      <a:pt x="1201" y="439"/>
                      <a:pt x="1197" y="439"/>
                      <a:pt x="1199" y="438"/>
                    </a:cubicBezTo>
                    <a:cubicBezTo>
                      <a:pt x="1201" y="438"/>
                      <a:pt x="1201" y="438"/>
                      <a:pt x="1199" y="438"/>
                    </a:cubicBezTo>
                    <a:cubicBezTo>
                      <a:pt x="1198" y="437"/>
                      <a:pt x="1197" y="437"/>
                      <a:pt x="1199" y="436"/>
                    </a:cubicBezTo>
                    <a:cubicBezTo>
                      <a:pt x="1202" y="435"/>
                      <a:pt x="1204" y="435"/>
                      <a:pt x="1202" y="434"/>
                    </a:cubicBezTo>
                    <a:cubicBezTo>
                      <a:pt x="1201" y="433"/>
                      <a:pt x="1201" y="433"/>
                      <a:pt x="1202" y="432"/>
                    </a:cubicBezTo>
                    <a:cubicBezTo>
                      <a:pt x="1202" y="430"/>
                      <a:pt x="1201" y="431"/>
                      <a:pt x="1202" y="430"/>
                    </a:cubicBezTo>
                    <a:cubicBezTo>
                      <a:pt x="1203" y="429"/>
                      <a:pt x="1203" y="429"/>
                      <a:pt x="1204" y="428"/>
                    </a:cubicBezTo>
                    <a:cubicBezTo>
                      <a:pt x="1206" y="428"/>
                      <a:pt x="1206" y="427"/>
                      <a:pt x="1208" y="427"/>
                    </a:cubicBezTo>
                    <a:cubicBezTo>
                      <a:pt x="1209" y="427"/>
                      <a:pt x="1212" y="427"/>
                      <a:pt x="1213" y="427"/>
                    </a:cubicBezTo>
                    <a:cubicBezTo>
                      <a:pt x="1214" y="426"/>
                      <a:pt x="1218" y="425"/>
                      <a:pt x="1219" y="424"/>
                    </a:cubicBezTo>
                    <a:cubicBezTo>
                      <a:pt x="1220" y="423"/>
                      <a:pt x="1220" y="423"/>
                      <a:pt x="1221" y="423"/>
                    </a:cubicBezTo>
                    <a:cubicBezTo>
                      <a:pt x="1222" y="423"/>
                      <a:pt x="1224" y="423"/>
                      <a:pt x="1225" y="422"/>
                    </a:cubicBezTo>
                    <a:cubicBezTo>
                      <a:pt x="1225" y="421"/>
                      <a:pt x="1228" y="419"/>
                      <a:pt x="1224" y="420"/>
                    </a:cubicBezTo>
                    <a:cubicBezTo>
                      <a:pt x="1221" y="422"/>
                      <a:pt x="1215" y="424"/>
                      <a:pt x="1213" y="424"/>
                    </a:cubicBezTo>
                    <a:cubicBezTo>
                      <a:pt x="1211" y="424"/>
                      <a:pt x="1207" y="423"/>
                      <a:pt x="1212" y="423"/>
                    </a:cubicBezTo>
                    <a:cubicBezTo>
                      <a:pt x="1216" y="422"/>
                      <a:pt x="1219" y="422"/>
                      <a:pt x="1221" y="421"/>
                    </a:cubicBezTo>
                    <a:cubicBezTo>
                      <a:pt x="1222" y="421"/>
                      <a:pt x="1225" y="419"/>
                      <a:pt x="1226" y="419"/>
                    </a:cubicBezTo>
                    <a:cubicBezTo>
                      <a:pt x="1227" y="419"/>
                      <a:pt x="1230" y="419"/>
                      <a:pt x="1230" y="418"/>
                    </a:cubicBezTo>
                    <a:cubicBezTo>
                      <a:pt x="1231" y="418"/>
                      <a:pt x="1228" y="417"/>
                      <a:pt x="1230" y="417"/>
                    </a:cubicBezTo>
                    <a:cubicBezTo>
                      <a:pt x="1232" y="416"/>
                      <a:pt x="1235" y="417"/>
                      <a:pt x="1236" y="416"/>
                    </a:cubicBezTo>
                    <a:cubicBezTo>
                      <a:pt x="1238" y="416"/>
                      <a:pt x="1241" y="415"/>
                      <a:pt x="1239" y="415"/>
                    </a:cubicBezTo>
                    <a:cubicBezTo>
                      <a:pt x="1238" y="415"/>
                      <a:pt x="1238" y="414"/>
                      <a:pt x="1240" y="414"/>
                    </a:cubicBezTo>
                    <a:cubicBezTo>
                      <a:pt x="1241" y="414"/>
                      <a:pt x="1243" y="413"/>
                      <a:pt x="1242" y="413"/>
                    </a:cubicBezTo>
                    <a:cubicBezTo>
                      <a:pt x="1241" y="412"/>
                      <a:pt x="1242" y="412"/>
                      <a:pt x="1240" y="412"/>
                    </a:cubicBezTo>
                    <a:cubicBezTo>
                      <a:pt x="1237" y="412"/>
                      <a:pt x="1236" y="411"/>
                      <a:pt x="1236" y="410"/>
                    </a:cubicBezTo>
                    <a:cubicBezTo>
                      <a:pt x="1235" y="409"/>
                      <a:pt x="1234" y="409"/>
                      <a:pt x="1233" y="409"/>
                    </a:cubicBezTo>
                    <a:cubicBezTo>
                      <a:pt x="1232" y="409"/>
                      <a:pt x="1231" y="409"/>
                      <a:pt x="1230" y="409"/>
                    </a:cubicBezTo>
                    <a:cubicBezTo>
                      <a:pt x="1230" y="408"/>
                      <a:pt x="1227" y="407"/>
                      <a:pt x="1227" y="408"/>
                    </a:cubicBezTo>
                    <a:cubicBezTo>
                      <a:pt x="1227" y="409"/>
                      <a:pt x="1227" y="409"/>
                      <a:pt x="1226" y="409"/>
                    </a:cubicBezTo>
                    <a:cubicBezTo>
                      <a:pt x="1225" y="408"/>
                      <a:pt x="1222" y="407"/>
                      <a:pt x="1222" y="408"/>
                    </a:cubicBezTo>
                    <a:cubicBezTo>
                      <a:pt x="1222" y="408"/>
                      <a:pt x="1221" y="407"/>
                      <a:pt x="1220" y="407"/>
                    </a:cubicBezTo>
                    <a:cubicBezTo>
                      <a:pt x="1219" y="406"/>
                      <a:pt x="1217" y="406"/>
                      <a:pt x="1218" y="405"/>
                    </a:cubicBezTo>
                    <a:cubicBezTo>
                      <a:pt x="1219" y="404"/>
                      <a:pt x="1217" y="404"/>
                      <a:pt x="1218" y="403"/>
                    </a:cubicBezTo>
                    <a:cubicBezTo>
                      <a:pt x="1218" y="401"/>
                      <a:pt x="1218" y="401"/>
                      <a:pt x="1216" y="402"/>
                    </a:cubicBezTo>
                    <a:cubicBezTo>
                      <a:pt x="1214" y="403"/>
                      <a:pt x="1212" y="404"/>
                      <a:pt x="1214" y="402"/>
                    </a:cubicBezTo>
                    <a:cubicBezTo>
                      <a:pt x="1216" y="399"/>
                      <a:pt x="1216" y="398"/>
                      <a:pt x="1214" y="400"/>
                    </a:cubicBezTo>
                    <a:cubicBezTo>
                      <a:pt x="1212" y="401"/>
                      <a:pt x="1212" y="402"/>
                      <a:pt x="1212" y="403"/>
                    </a:cubicBezTo>
                    <a:cubicBezTo>
                      <a:pt x="1211" y="403"/>
                      <a:pt x="1210" y="404"/>
                      <a:pt x="1209" y="404"/>
                    </a:cubicBezTo>
                    <a:cubicBezTo>
                      <a:pt x="1208" y="405"/>
                      <a:pt x="1207" y="406"/>
                      <a:pt x="1206" y="407"/>
                    </a:cubicBezTo>
                    <a:cubicBezTo>
                      <a:pt x="1206" y="407"/>
                      <a:pt x="1204" y="410"/>
                      <a:pt x="1205" y="407"/>
                    </a:cubicBezTo>
                    <a:cubicBezTo>
                      <a:pt x="1207" y="404"/>
                      <a:pt x="1207" y="404"/>
                      <a:pt x="1208" y="403"/>
                    </a:cubicBezTo>
                    <a:cubicBezTo>
                      <a:pt x="1209" y="403"/>
                      <a:pt x="1210" y="402"/>
                      <a:pt x="1210" y="402"/>
                    </a:cubicBezTo>
                    <a:cubicBezTo>
                      <a:pt x="1211" y="401"/>
                      <a:pt x="1212" y="400"/>
                      <a:pt x="1210" y="401"/>
                    </a:cubicBezTo>
                    <a:cubicBezTo>
                      <a:pt x="1208" y="401"/>
                      <a:pt x="1203" y="401"/>
                      <a:pt x="1205" y="400"/>
                    </a:cubicBezTo>
                    <a:cubicBezTo>
                      <a:pt x="1208" y="399"/>
                      <a:pt x="1207" y="398"/>
                      <a:pt x="1206" y="398"/>
                    </a:cubicBezTo>
                    <a:cubicBezTo>
                      <a:pt x="1205" y="398"/>
                      <a:pt x="1203" y="399"/>
                      <a:pt x="1202" y="400"/>
                    </a:cubicBezTo>
                    <a:cubicBezTo>
                      <a:pt x="1202" y="400"/>
                      <a:pt x="1198" y="403"/>
                      <a:pt x="1200" y="401"/>
                    </a:cubicBezTo>
                    <a:cubicBezTo>
                      <a:pt x="1202" y="398"/>
                      <a:pt x="1202" y="398"/>
                      <a:pt x="1200" y="399"/>
                    </a:cubicBezTo>
                    <a:cubicBezTo>
                      <a:pt x="1199" y="400"/>
                      <a:pt x="1201" y="396"/>
                      <a:pt x="1198" y="400"/>
                    </a:cubicBezTo>
                    <a:cubicBezTo>
                      <a:pt x="1195" y="403"/>
                      <a:pt x="1195" y="402"/>
                      <a:pt x="1194" y="403"/>
                    </a:cubicBezTo>
                    <a:cubicBezTo>
                      <a:pt x="1193" y="404"/>
                      <a:pt x="1193" y="402"/>
                      <a:pt x="1195" y="401"/>
                    </a:cubicBezTo>
                    <a:cubicBezTo>
                      <a:pt x="1197" y="399"/>
                      <a:pt x="1199" y="398"/>
                      <a:pt x="1196" y="399"/>
                    </a:cubicBezTo>
                    <a:cubicBezTo>
                      <a:pt x="1194" y="400"/>
                      <a:pt x="1194" y="399"/>
                      <a:pt x="1195" y="398"/>
                    </a:cubicBezTo>
                    <a:cubicBezTo>
                      <a:pt x="1197" y="397"/>
                      <a:pt x="1197" y="398"/>
                      <a:pt x="1198" y="396"/>
                    </a:cubicBezTo>
                    <a:cubicBezTo>
                      <a:pt x="1199" y="395"/>
                      <a:pt x="1199" y="395"/>
                      <a:pt x="1199" y="395"/>
                    </a:cubicBezTo>
                    <a:cubicBezTo>
                      <a:pt x="1200" y="394"/>
                      <a:pt x="1201" y="393"/>
                      <a:pt x="1200" y="394"/>
                    </a:cubicBezTo>
                    <a:cubicBezTo>
                      <a:pt x="1198" y="395"/>
                      <a:pt x="1196" y="396"/>
                      <a:pt x="1197" y="394"/>
                    </a:cubicBezTo>
                    <a:cubicBezTo>
                      <a:pt x="1199" y="392"/>
                      <a:pt x="1199" y="391"/>
                      <a:pt x="1198" y="392"/>
                    </a:cubicBezTo>
                    <a:cubicBezTo>
                      <a:pt x="1197" y="392"/>
                      <a:pt x="1197" y="394"/>
                      <a:pt x="1197" y="392"/>
                    </a:cubicBezTo>
                    <a:cubicBezTo>
                      <a:pt x="1197" y="391"/>
                      <a:pt x="1195" y="391"/>
                      <a:pt x="1195" y="391"/>
                    </a:cubicBezTo>
                    <a:cubicBezTo>
                      <a:pt x="1195" y="391"/>
                      <a:pt x="1195" y="391"/>
                      <a:pt x="1196" y="390"/>
                    </a:cubicBezTo>
                    <a:cubicBezTo>
                      <a:pt x="1197" y="389"/>
                      <a:pt x="1198" y="389"/>
                      <a:pt x="1198" y="388"/>
                    </a:cubicBezTo>
                    <a:cubicBezTo>
                      <a:pt x="1198" y="388"/>
                      <a:pt x="1197" y="386"/>
                      <a:pt x="1196" y="387"/>
                    </a:cubicBezTo>
                    <a:cubicBezTo>
                      <a:pt x="1196" y="387"/>
                      <a:pt x="1194" y="389"/>
                      <a:pt x="1194" y="390"/>
                    </a:cubicBezTo>
                    <a:cubicBezTo>
                      <a:pt x="1193" y="392"/>
                      <a:pt x="1193" y="392"/>
                      <a:pt x="1194" y="390"/>
                    </a:cubicBezTo>
                    <a:cubicBezTo>
                      <a:pt x="1195" y="387"/>
                      <a:pt x="1194" y="388"/>
                      <a:pt x="1194" y="388"/>
                    </a:cubicBezTo>
                    <a:cubicBezTo>
                      <a:pt x="1194" y="387"/>
                      <a:pt x="1194" y="387"/>
                      <a:pt x="1193" y="388"/>
                    </a:cubicBezTo>
                    <a:cubicBezTo>
                      <a:pt x="1192" y="388"/>
                      <a:pt x="1187" y="389"/>
                      <a:pt x="1189" y="388"/>
                    </a:cubicBezTo>
                    <a:cubicBezTo>
                      <a:pt x="1191" y="388"/>
                      <a:pt x="1193" y="387"/>
                      <a:pt x="1191" y="386"/>
                    </a:cubicBezTo>
                    <a:cubicBezTo>
                      <a:pt x="1189" y="386"/>
                      <a:pt x="1187" y="386"/>
                      <a:pt x="1186" y="386"/>
                    </a:cubicBezTo>
                    <a:cubicBezTo>
                      <a:pt x="1185" y="386"/>
                      <a:pt x="1185" y="386"/>
                      <a:pt x="1186" y="386"/>
                    </a:cubicBezTo>
                    <a:cubicBezTo>
                      <a:pt x="1186" y="385"/>
                      <a:pt x="1187" y="385"/>
                      <a:pt x="1185" y="384"/>
                    </a:cubicBezTo>
                    <a:cubicBezTo>
                      <a:pt x="1184" y="384"/>
                      <a:pt x="1179" y="383"/>
                      <a:pt x="1182" y="383"/>
                    </a:cubicBezTo>
                    <a:cubicBezTo>
                      <a:pt x="1184" y="382"/>
                      <a:pt x="1185" y="382"/>
                      <a:pt x="1183" y="382"/>
                    </a:cubicBezTo>
                    <a:cubicBezTo>
                      <a:pt x="1181" y="381"/>
                      <a:pt x="1182" y="382"/>
                      <a:pt x="1183" y="380"/>
                    </a:cubicBezTo>
                    <a:cubicBezTo>
                      <a:pt x="1184" y="379"/>
                      <a:pt x="1183" y="379"/>
                      <a:pt x="1182" y="379"/>
                    </a:cubicBezTo>
                    <a:cubicBezTo>
                      <a:pt x="1180" y="378"/>
                      <a:pt x="1177" y="378"/>
                      <a:pt x="1176" y="378"/>
                    </a:cubicBezTo>
                    <a:cubicBezTo>
                      <a:pt x="1175" y="379"/>
                      <a:pt x="1171" y="377"/>
                      <a:pt x="1173" y="377"/>
                    </a:cubicBezTo>
                    <a:cubicBezTo>
                      <a:pt x="1174" y="377"/>
                      <a:pt x="1175" y="377"/>
                      <a:pt x="1176" y="377"/>
                    </a:cubicBezTo>
                    <a:cubicBezTo>
                      <a:pt x="1177" y="377"/>
                      <a:pt x="1179" y="378"/>
                      <a:pt x="1177" y="377"/>
                    </a:cubicBezTo>
                    <a:cubicBezTo>
                      <a:pt x="1176" y="376"/>
                      <a:pt x="1177" y="377"/>
                      <a:pt x="1178" y="377"/>
                    </a:cubicBezTo>
                    <a:cubicBezTo>
                      <a:pt x="1179" y="377"/>
                      <a:pt x="1180" y="377"/>
                      <a:pt x="1178" y="376"/>
                    </a:cubicBezTo>
                    <a:cubicBezTo>
                      <a:pt x="1175" y="375"/>
                      <a:pt x="1176" y="375"/>
                      <a:pt x="1175" y="374"/>
                    </a:cubicBezTo>
                    <a:cubicBezTo>
                      <a:pt x="1174" y="374"/>
                      <a:pt x="1174" y="374"/>
                      <a:pt x="1173" y="374"/>
                    </a:cubicBezTo>
                    <a:cubicBezTo>
                      <a:pt x="1172" y="374"/>
                      <a:pt x="1171" y="374"/>
                      <a:pt x="1173" y="373"/>
                    </a:cubicBezTo>
                    <a:cubicBezTo>
                      <a:pt x="1174" y="373"/>
                      <a:pt x="1173" y="372"/>
                      <a:pt x="1174" y="372"/>
                    </a:cubicBezTo>
                    <a:cubicBezTo>
                      <a:pt x="1175" y="372"/>
                      <a:pt x="1179" y="372"/>
                      <a:pt x="1178" y="372"/>
                    </a:cubicBezTo>
                    <a:cubicBezTo>
                      <a:pt x="1177" y="371"/>
                      <a:pt x="1176" y="371"/>
                      <a:pt x="1174" y="371"/>
                    </a:cubicBezTo>
                    <a:cubicBezTo>
                      <a:pt x="1173" y="370"/>
                      <a:pt x="1169" y="370"/>
                      <a:pt x="1172" y="370"/>
                    </a:cubicBezTo>
                    <a:cubicBezTo>
                      <a:pt x="1175" y="370"/>
                      <a:pt x="1173" y="370"/>
                      <a:pt x="1172" y="369"/>
                    </a:cubicBezTo>
                    <a:cubicBezTo>
                      <a:pt x="1170" y="369"/>
                      <a:pt x="1164" y="367"/>
                      <a:pt x="1165" y="366"/>
                    </a:cubicBezTo>
                    <a:cubicBezTo>
                      <a:pt x="1165" y="365"/>
                      <a:pt x="1165" y="365"/>
                      <a:pt x="1167" y="365"/>
                    </a:cubicBezTo>
                    <a:cubicBezTo>
                      <a:pt x="1169" y="365"/>
                      <a:pt x="1173" y="365"/>
                      <a:pt x="1170" y="366"/>
                    </a:cubicBezTo>
                    <a:cubicBezTo>
                      <a:pt x="1168" y="366"/>
                      <a:pt x="1164" y="365"/>
                      <a:pt x="1167" y="367"/>
                    </a:cubicBezTo>
                    <a:cubicBezTo>
                      <a:pt x="1169" y="368"/>
                      <a:pt x="1172" y="369"/>
                      <a:pt x="1174" y="369"/>
                    </a:cubicBezTo>
                    <a:cubicBezTo>
                      <a:pt x="1176" y="368"/>
                      <a:pt x="1175" y="369"/>
                      <a:pt x="1175" y="369"/>
                    </a:cubicBezTo>
                    <a:cubicBezTo>
                      <a:pt x="1176" y="369"/>
                      <a:pt x="1179" y="371"/>
                      <a:pt x="1178" y="369"/>
                    </a:cubicBezTo>
                    <a:cubicBezTo>
                      <a:pt x="1177" y="368"/>
                      <a:pt x="1176" y="369"/>
                      <a:pt x="1177" y="368"/>
                    </a:cubicBezTo>
                    <a:cubicBezTo>
                      <a:pt x="1177" y="368"/>
                      <a:pt x="1177" y="367"/>
                      <a:pt x="1176" y="367"/>
                    </a:cubicBezTo>
                    <a:cubicBezTo>
                      <a:pt x="1176" y="367"/>
                      <a:pt x="1175" y="367"/>
                      <a:pt x="1176" y="366"/>
                    </a:cubicBezTo>
                    <a:cubicBezTo>
                      <a:pt x="1177" y="366"/>
                      <a:pt x="1178" y="366"/>
                      <a:pt x="1178" y="365"/>
                    </a:cubicBezTo>
                    <a:cubicBezTo>
                      <a:pt x="1179" y="364"/>
                      <a:pt x="1180" y="362"/>
                      <a:pt x="1181" y="362"/>
                    </a:cubicBezTo>
                    <a:cubicBezTo>
                      <a:pt x="1182" y="362"/>
                      <a:pt x="1183" y="363"/>
                      <a:pt x="1183" y="362"/>
                    </a:cubicBezTo>
                    <a:cubicBezTo>
                      <a:pt x="1183" y="361"/>
                      <a:pt x="1182" y="359"/>
                      <a:pt x="1180" y="359"/>
                    </a:cubicBezTo>
                    <a:cubicBezTo>
                      <a:pt x="1178" y="359"/>
                      <a:pt x="1178" y="358"/>
                      <a:pt x="1178" y="358"/>
                    </a:cubicBezTo>
                    <a:cubicBezTo>
                      <a:pt x="1179" y="357"/>
                      <a:pt x="1178" y="358"/>
                      <a:pt x="1177" y="358"/>
                    </a:cubicBezTo>
                    <a:cubicBezTo>
                      <a:pt x="1177" y="358"/>
                      <a:pt x="1176" y="359"/>
                      <a:pt x="1175" y="358"/>
                    </a:cubicBezTo>
                    <a:cubicBezTo>
                      <a:pt x="1173" y="357"/>
                      <a:pt x="1172" y="357"/>
                      <a:pt x="1174" y="356"/>
                    </a:cubicBezTo>
                    <a:cubicBezTo>
                      <a:pt x="1176" y="356"/>
                      <a:pt x="1175" y="355"/>
                      <a:pt x="1175" y="355"/>
                    </a:cubicBezTo>
                    <a:cubicBezTo>
                      <a:pt x="1175" y="354"/>
                      <a:pt x="1175" y="354"/>
                      <a:pt x="1176" y="354"/>
                    </a:cubicBezTo>
                    <a:cubicBezTo>
                      <a:pt x="1176" y="354"/>
                      <a:pt x="1176" y="354"/>
                      <a:pt x="1175" y="353"/>
                    </a:cubicBezTo>
                    <a:cubicBezTo>
                      <a:pt x="1174" y="353"/>
                      <a:pt x="1173" y="352"/>
                      <a:pt x="1169" y="352"/>
                    </a:cubicBezTo>
                    <a:cubicBezTo>
                      <a:pt x="1169" y="352"/>
                      <a:pt x="1167" y="353"/>
                      <a:pt x="1166" y="352"/>
                    </a:cubicBezTo>
                    <a:cubicBezTo>
                      <a:pt x="1164" y="351"/>
                      <a:pt x="1166" y="351"/>
                      <a:pt x="1167" y="352"/>
                    </a:cubicBezTo>
                    <a:cubicBezTo>
                      <a:pt x="1168" y="352"/>
                      <a:pt x="1168" y="352"/>
                      <a:pt x="1169" y="351"/>
                    </a:cubicBezTo>
                    <a:cubicBezTo>
                      <a:pt x="1169" y="351"/>
                      <a:pt x="1169" y="350"/>
                      <a:pt x="1170" y="350"/>
                    </a:cubicBezTo>
                    <a:cubicBezTo>
                      <a:pt x="1171" y="350"/>
                      <a:pt x="1174" y="349"/>
                      <a:pt x="1174" y="349"/>
                    </a:cubicBezTo>
                    <a:cubicBezTo>
                      <a:pt x="1175" y="349"/>
                      <a:pt x="1176" y="348"/>
                      <a:pt x="1174" y="347"/>
                    </a:cubicBezTo>
                    <a:cubicBezTo>
                      <a:pt x="1173" y="345"/>
                      <a:pt x="1169" y="343"/>
                      <a:pt x="1169" y="342"/>
                    </a:cubicBezTo>
                    <a:cubicBezTo>
                      <a:pt x="1168" y="342"/>
                      <a:pt x="1167" y="342"/>
                      <a:pt x="1167" y="342"/>
                    </a:cubicBezTo>
                    <a:cubicBezTo>
                      <a:pt x="1168" y="343"/>
                      <a:pt x="1168" y="344"/>
                      <a:pt x="1166" y="342"/>
                    </a:cubicBezTo>
                    <a:cubicBezTo>
                      <a:pt x="1165" y="341"/>
                      <a:pt x="1165" y="341"/>
                      <a:pt x="1164" y="342"/>
                    </a:cubicBezTo>
                    <a:cubicBezTo>
                      <a:pt x="1164" y="342"/>
                      <a:pt x="1163" y="341"/>
                      <a:pt x="1165" y="341"/>
                    </a:cubicBezTo>
                    <a:cubicBezTo>
                      <a:pt x="1167" y="341"/>
                      <a:pt x="1167" y="340"/>
                      <a:pt x="1168" y="340"/>
                    </a:cubicBezTo>
                    <a:cubicBezTo>
                      <a:pt x="1169" y="341"/>
                      <a:pt x="1169" y="340"/>
                      <a:pt x="1168" y="339"/>
                    </a:cubicBezTo>
                    <a:cubicBezTo>
                      <a:pt x="1167" y="339"/>
                      <a:pt x="1167" y="339"/>
                      <a:pt x="1166" y="339"/>
                    </a:cubicBezTo>
                    <a:cubicBezTo>
                      <a:pt x="1165" y="340"/>
                      <a:pt x="1166" y="339"/>
                      <a:pt x="1166" y="338"/>
                    </a:cubicBezTo>
                    <a:cubicBezTo>
                      <a:pt x="1166" y="337"/>
                      <a:pt x="1167" y="337"/>
                      <a:pt x="1166" y="337"/>
                    </a:cubicBezTo>
                    <a:cubicBezTo>
                      <a:pt x="1165" y="338"/>
                      <a:pt x="1163" y="338"/>
                      <a:pt x="1162" y="338"/>
                    </a:cubicBezTo>
                    <a:cubicBezTo>
                      <a:pt x="1161" y="337"/>
                      <a:pt x="1159" y="337"/>
                      <a:pt x="1158" y="339"/>
                    </a:cubicBezTo>
                    <a:cubicBezTo>
                      <a:pt x="1157" y="340"/>
                      <a:pt x="1156" y="341"/>
                      <a:pt x="1155" y="341"/>
                    </a:cubicBezTo>
                    <a:cubicBezTo>
                      <a:pt x="1155" y="341"/>
                      <a:pt x="1154" y="341"/>
                      <a:pt x="1156" y="340"/>
                    </a:cubicBezTo>
                    <a:cubicBezTo>
                      <a:pt x="1157" y="339"/>
                      <a:pt x="1156" y="339"/>
                      <a:pt x="1158" y="338"/>
                    </a:cubicBezTo>
                    <a:cubicBezTo>
                      <a:pt x="1159" y="337"/>
                      <a:pt x="1160" y="336"/>
                      <a:pt x="1162" y="337"/>
                    </a:cubicBezTo>
                    <a:cubicBezTo>
                      <a:pt x="1163" y="337"/>
                      <a:pt x="1164" y="336"/>
                      <a:pt x="1164" y="336"/>
                    </a:cubicBezTo>
                    <a:cubicBezTo>
                      <a:pt x="1164" y="336"/>
                      <a:pt x="1165" y="336"/>
                      <a:pt x="1164" y="335"/>
                    </a:cubicBezTo>
                    <a:cubicBezTo>
                      <a:pt x="1162" y="335"/>
                      <a:pt x="1162" y="335"/>
                      <a:pt x="1161" y="335"/>
                    </a:cubicBezTo>
                    <a:cubicBezTo>
                      <a:pt x="1161" y="335"/>
                      <a:pt x="1161" y="334"/>
                      <a:pt x="1162" y="334"/>
                    </a:cubicBezTo>
                    <a:cubicBezTo>
                      <a:pt x="1164" y="334"/>
                      <a:pt x="1164" y="334"/>
                      <a:pt x="1164" y="333"/>
                    </a:cubicBezTo>
                    <a:cubicBezTo>
                      <a:pt x="1164" y="332"/>
                      <a:pt x="1164" y="331"/>
                      <a:pt x="1164" y="331"/>
                    </a:cubicBezTo>
                    <a:cubicBezTo>
                      <a:pt x="1165" y="330"/>
                      <a:pt x="1165" y="330"/>
                      <a:pt x="1164" y="330"/>
                    </a:cubicBezTo>
                    <a:cubicBezTo>
                      <a:pt x="1163" y="330"/>
                      <a:pt x="1162" y="330"/>
                      <a:pt x="1162" y="330"/>
                    </a:cubicBezTo>
                    <a:cubicBezTo>
                      <a:pt x="1162" y="330"/>
                      <a:pt x="1161" y="330"/>
                      <a:pt x="1161" y="330"/>
                    </a:cubicBezTo>
                    <a:cubicBezTo>
                      <a:pt x="1161" y="330"/>
                      <a:pt x="1158" y="330"/>
                      <a:pt x="1157" y="332"/>
                    </a:cubicBezTo>
                    <a:cubicBezTo>
                      <a:pt x="1157" y="332"/>
                      <a:pt x="1156" y="333"/>
                      <a:pt x="1156" y="332"/>
                    </a:cubicBezTo>
                    <a:cubicBezTo>
                      <a:pt x="1157" y="331"/>
                      <a:pt x="1157" y="331"/>
                      <a:pt x="1156" y="331"/>
                    </a:cubicBezTo>
                    <a:cubicBezTo>
                      <a:pt x="1155" y="331"/>
                      <a:pt x="1154" y="331"/>
                      <a:pt x="1153" y="332"/>
                    </a:cubicBezTo>
                    <a:cubicBezTo>
                      <a:pt x="1151" y="333"/>
                      <a:pt x="1151" y="333"/>
                      <a:pt x="1150" y="334"/>
                    </a:cubicBezTo>
                    <a:cubicBezTo>
                      <a:pt x="1150" y="334"/>
                      <a:pt x="1150" y="333"/>
                      <a:pt x="1151" y="333"/>
                    </a:cubicBezTo>
                    <a:cubicBezTo>
                      <a:pt x="1152" y="332"/>
                      <a:pt x="1153" y="331"/>
                      <a:pt x="1153" y="331"/>
                    </a:cubicBezTo>
                    <a:cubicBezTo>
                      <a:pt x="1153" y="331"/>
                      <a:pt x="1153" y="330"/>
                      <a:pt x="1152" y="330"/>
                    </a:cubicBezTo>
                    <a:cubicBezTo>
                      <a:pt x="1152" y="330"/>
                      <a:pt x="1152" y="330"/>
                      <a:pt x="1151" y="330"/>
                    </a:cubicBezTo>
                    <a:cubicBezTo>
                      <a:pt x="1151" y="330"/>
                      <a:pt x="1150" y="330"/>
                      <a:pt x="1152" y="330"/>
                    </a:cubicBezTo>
                    <a:cubicBezTo>
                      <a:pt x="1154" y="330"/>
                      <a:pt x="1155" y="329"/>
                      <a:pt x="1156" y="329"/>
                    </a:cubicBezTo>
                    <a:cubicBezTo>
                      <a:pt x="1157" y="329"/>
                      <a:pt x="1159" y="328"/>
                      <a:pt x="1160" y="327"/>
                    </a:cubicBezTo>
                    <a:cubicBezTo>
                      <a:pt x="1160" y="327"/>
                      <a:pt x="1161" y="326"/>
                      <a:pt x="1160" y="326"/>
                    </a:cubicBezTo>
                    <a:cubicBezTo>
                      <a:pt x="1158" y="325"/>
                      <a:pt x="1158" y="325"/>
                      <a:pt x="1159" y="325"/>
                    </a:cubicBezTo>
                    <a:cubicBezTo>
                      <a:pt x="1160" y="324"/>
                      <a:pt x="1159" y="322"/>
                      <a:pt x="1157" y="322"/>
                    </a:cubicBezTo>
                    <a:cubicBezTo>
                      <a:pt x="1157" y="322"/>
                      <a:pt x="1157" y="322"/>
                      <a:pt x="1156" y="322"/>
                    </a:cubicBezTo>
                    <a:cubicBezTo>
                      <a:pt x="1156" y="322"/>
                      <a:pt x="1156" y="323"/>
                      <a:pt x="1156" y="322"/>
                    </a:cubicBezTo>
                    <a:cubicBezTo>
                      <a:pt x="1155" y="322"/>
                      <a:pt x="1155" y="322"/>
                      <a:pt x="1154" y="322"/>
                    </a:cubicBezTo>
                    <a:cubicBezTo>
                      <a:pt x="1154" y="322"/>
                      <a:pt x="1154" y="322"/>
                      <a:pt x="1155" y="321"/>
                    </a:cubicBezTo>
                    <a:cubicBezTo>
                      <a:pt x="1156" y="321"/>
                      <a:pt x="1156" y="320"/>
                      <a:pt x="1156" y="320"/>
                    </a:cubicBezTo>
                    <a:cubicBezTo>
                      <a:pt x="1156" y="319"/>
                      <a:pt x="1156" y="319"/>
                      <a:pt x="1155" y="320"/>
                    </a:cubicBezTo>
                    <a:cubicBezTo>
                      <a:pt x="1154" y="320"/>
                      <a:pt x="1153" y="320"/>
                      <a:pt x="1155" y="319"/>
                    </a:cubicBezTo>
                    <a:cubicBezTo>
                      <a:pt x="1156" y="318"/>
                      <a:pt x="1157" y="318"/>
                      <a:pt x="1156" y="318"/>
                    </a:cubicBezTo>
                    <a:cubicBezTo>
                      <a:pt x="1155" y="317"/>
                      <a:pt x="1154" y="316"/>
                      <a:pt x="1152" y="317"/>
                    </a:cubicBezTo>
                    <a:cubicBezTo>
                      <a:pt x="1150" y="318"/>
                      <a:pt x="1148" y="318"/>
                      <a:pt x="1147" y="318"/>
                    </a:cubicBezTo>
                    <a:cubicBezTo>
                      <a:pt x="1146" y="318"/>
                      <a:pt x="1145" y="318"/>
                      <a:pt x="1146" y="319"/>
                    </a:cubicBezTo>
                    <a:cubicBezTo>
                      <a:pt x="1146" y="320"/>
                      <a:pt x="1146" y="320"/>
                      <a:pt x="1145" y="319"/>
                    </a:cubicBezTo>
                    <a:cubicBezTo>
                      <a:pt x="1144" y="318"/>
                      <a:pt x="1144" y="318"/>
                      <a:pt x="1143" y="319"/>
                    </a:cubicBezTo>
                    <a:cubicBezTo>
                      <a:pt x="1143" y="319"/>
                      <a:pt x="1143" y="318"/>
                      <a:pt x="1144" y="318"/>
                    </a:cubicBezTo>
                    <a:cubicBezTo>
                      <a:pt x="1145" y="317"/>
                      <a:pt x="1145" y="317"/>
                      <a:pt x="1147" y="317"/>
                    </a:cubicBezTo>
                    <a:cubicBezTo>
                      <a:pt x="1149" y="317"/>
                      <a:pt x="1151" y="317"/>
                      <a:pt x="1152" y="315"/>
                    </a:cubicBezTo>
                    <a:cubicBezTo>
                      <a:pt x="1153" y="314"/>
                      <a:pt x="1153" y="314"/>
                      <a:pt x="1152" y="314"/>
                    </a:cubicBezTo>
                    <a:cubicBezTo>
                      <a:pt x="1151" y="314"/>
                      <a:pt x="1150" y="314"/>
                      <a:pt x="1149" y="314"/>
                    </a:cubicBezTo>
                    <a:cubicBezTo>
                      <a:pt x="1149" y="314"/>
                      <a:pt x="1149" y="314"/>
                      <a:pt x="1150" y="313"/>
                    </a:cubicBezTo>
                    <a:cubicBezTo>
                      <a:pt x="1150" y="313"/>
                      <a:pt x="1151" y="311"/>
                      <a:pt x="1150" y="311"/>
                    </a:cubicBezTo>
                    <a:cubicBezTo>
                      <a:pt x="1148" y="311"/>
                      <a:pt x="1148" y="312"/>
                      <a:pt x="1148" y="312"/>
                    </a:cubicBezTo>
                    <a:cubicBezTo>
                      <a:pt x="1147" y="313"/>
                      <a:pt x="1147" y="313"/>
                      <a:pt x="1146" y="313"/>
                    </a:cubicBezTo>
                    <a:cubicBezTo>
                      <a:pt x="1146" y="313"/>
                      <a:pt x="1147" y="312"/>
                      <a:pt x="1147" y="312"/>
                    </a:cubicBezTo>
                    <a:cubicBezTo>
                      <a:pt x="1147" y="312"/>
                      <a:pt x="1148" y="311"/>
                      <a:pt x="1146" y="311"/>
                    </a:cubicBezTo>
                    <a:cubicBezTo>
                      <a:pt x="1145" y="311"/>
                      <a:pt x="1144" y="310"/>
                      <a:pt x="1144" y="310"/>
                    </a:cubicBezTo>
                    <a:cubicBezTo>
                      <a:pt x="1143" y="310"/>
                      <a:pt x="1143" y="310"/>
                      <a:pt x="1145" y="309"/>
                    </a:cubicBezTo>
                    <a:cubicBezTo>
                      <a:pt x="1146" y="309"/>
                      <a:pt x="1147" y="309"/>
                      <a:pt x="1147" y="308"/>
                    </a:cubicBezTo>
                    <a:cubicBezTo>
                      <a:pt x="1147" y="307"/>
                      <a:pt x="1146" y="307"/>
                      <a:pt x="1146" y="307"/>
                    </a:cubicBezTo>
                    <a:cubicBezTo>
                      <a:pt x="1145" y="307"/>
                      <a:pt x="1145" y="307"/>
                      <a:pt x="1144" y="307"/>
                    </a:cubicBezTo>
                    <a:cubicBezTo>
                      <a:pt x="1144" y="307"/>
                      <a:pt x="1146" y="306"/>
                      <a:pt x="1145" y="305"/>
                    </a:cubicBezTo>
                    <a:cubicBezTo>
                      <a:pt x="1144" y="305"/>
                      <a:pt x="1143" y="305"/>
                      <a:pt x="1143" y="306"/>
                    </a:cubicBezTo>
                    <a:cubicBezTo>
                      <a:pt x="1142" y="307"/>
                      <a:pt x="1142" y="307"/>
                      <a:pt x="1142" y="307"/>
                    </a:cubicBezTo>
                    <a:cubicBezTo>
                      <a:pt x="1142" y="308"/>
                      <a:pt x="1142" y="307"/>
                      <a:pt x="1142" y="306"/>
                    </a:cubicBezTo>
                    <a:cubicBezTo>
                      <a:pt x="1143" y="305"/>
                      <a:pt x="1143" y="305"/>
                      <a:pt x="1144" y="304"/>
                    </a:cubicBezTo>
                    <a:cubicBezTo>
                      <a:pt x="1144" y="304"/>
                      <a:pt x="1144" y="304"/>
                      <a:pt x="1143" y="304"/>
                    </a:cubicBezTo>
                    <a:cubicBezTo>
                      <a:pt x="1142" y="304"/>
                      <a:pt x="1139" y="304"/>
                      <a:pt x="1140" y="302"/>
                    </a:cubicBezTo>
                    <a:cubicBezTo>
                      <a:pt x="1141" y="300"/>
                      <a:pt x="1142" y="299"/>
                      <a:pt x="1141" y="299"/>
                    </a:cubicBezTo>
                    <a:cubicBezTo>
                      <a:pt x="1139" y="300"/>
                      <a:pt x="1140" y="299"/>
                      <a:pt x="1141" y="298"/>
                    </a:cubicBezTo>
                    <a:cubicBezTo>
                      <a:pt x="1141" y="297"/>
                      <a:pt x="1141" y="297"/>
                      <a:pt x="1140" y="297"/>
                    </a:cubicBezTo>
                    <a:cubicBezTo>
                      <a:pt x="1139" y="296"/>
                      <a:pt x="1139" y="296"/>
                      <a:pt x="1139" y="297"/>
                    </a:cubicBezTo>
                    <a:cubicBezTo>
                      <a:pt x="1138" y="298"/>
                      <a:pt x="1137" y="298"/>
                      <a:pt x="1137" y="299"/>
                    </a:cubicBezTo>
                    <a:cubicBezTo>
                      <a:pt x="1136" y="299"/>
                      <a:pt x="1136" y="299"/>
                      <a:pt x="1136" y="298"/>
                    </a:cubicBezTo>
                    <a:cubicBezTo>
                      <a:pt x="1135" y="298"/>
                      <a:pt x="1135" y="297"/>
                      <a:pt x="1136" y="297"/>
                    </a:cubicBezTo>
                    <a:cubicBezTo>
                      <a:pt x="1137" y="297"/>
                      <a:pt x="1138" y="297"/>
                      <a:pt x="1138" y="296"/>
                    </a:cubicBezTo>
                    <a:cubicBezTo>
                      <a:pt x="1138" y="296"/>
                      <a:pt x="1137" y="295"/>
                      <a:pt x="1136" y="295"/>
                    </a:cubicBezTo>
                    <a:cubicBezTo>
                      <a:pt x="1136" y="296"/>
                      <a:pt x="1134" y="295"/>
                      <a:pt x="1132" y="297"/>
                    </a:cubicBezTo>
                    <a:cubicBezTo>
                      <a:pt x="1132" y="297"/>
                      <a:pt x="1131" y="298"/>
                      <a:pt x="1132" y="296"/>
                    </a:cubicBezTo>
                    <a:cubicBezTo>
                      <a:pt x="1133" y="294"/>
                      <a:pt x="1134" y="292"/>
                      <a:pt x="1134" y="292"/>
                    </a:cubicBezTo>
                    <a:cubicBezTo>
                      <a:pt x="1135" y="292"/>
                      <a:pt x="1134" y="291"/>
                      <a:pt x="1135" y="291"/>
                    </a:cubicBezTo>
                    <a:cubicBezTo>
                      <a:pt x="1137" y="291"/>
                      <a:pt x="1138" y="292"/>
                      <a:pt x="1137" y="291"/>
                    </a:cubicBezTo>
                    <a:cubicBezTo>
                      <a:pt x="1136" y="290"/>
                      <a:pt x="1135" y="290"/>
                      <a:pt x="1135" y="290"/>
                    </a:cubicBezTo>
                    <a:cubicBezTo>
                      <a:pt x="1134" y="290"/>
                      <a:pt x="1133" y="289"/>
                      <a:pt x="1133" y="289"/>
                    </a:cubicBezTo>
                    <a:cubicBezTo>
                      <a:pt x="1132" y="289"/>
                      <a:pt x="1131" y="289"/>
                      <a:pt x="1131" y="289"/>
                    </a:cubicBezTo>
                    <a:cubicBezTo>
                      <a:pt x="1131" y="289"/>
                      <a:pt x="1131" y="289"/>
                      <a:pt x="1131" y="290"/>
                    </a:cubicBezTo>
                    <a:cubicBezTo>
                      <a:pt x="1131" y="291"/>
                      <a:pt x="1130" y="292"/>
                      <a:pt x="1130" y="293"/>
                    </a:cubicBezTo>
                    <a:cubicBezTo>
                      <a:pt x="1130" y="293"/>
                      <a:pt x="1128" y="295"/>
                      <a:pt x="1128" y="296"/>
                    </a:cubicBezTo>
                    <a:cubicBezTo>
                      <a:pt x="1127" y="297"/>
                      <a:pt x="1127" y="297"/>
                      <a:pt x="1127" y="297"/>
                    </a:cubicBezTo>
                    <a:cubicBezTo>
                      <a:pt x="1128" y="298"/>
                      <a:pt x="1128" y="298"/>
                      <a:pt x="1127" y="298"/>
                    </a:cubicBezTo>
                    <a:cubicBezTo>
                      <a:pt x="1127" y="299"/>
                      <a:pt x="1126" y="300"/>
                      <a:pt x="1126" y="301"/>
                    </a:cubicBezTo>
                    <a:cubicBezTo>
                      <a:pt x="1127" y="301"/>
                      <a:pt x="1129" y="302"/>
                      <a:pt x="1128" y="302"/>
                    </a:cubicBezTo>
                    <a:cubicBezTo>
                      <a:pt x="1127" y="302"/>
                      <a:pt x="1126" y="301"/>
                      <a:pt x="1126" y="301"/>
                    </a:cubicBezTo>
                    <a:cubicBezTo>
                      <a:pt x="1125" y="301"/>
                      <a:pt x="1125" y="300"/>
                      <a:pt x="1124" y="300"/>
                    </a:cubicBezTo>
                    <a:cubicBezTo>
                      <a:pt x="1123" y="300"/>
                      <a:pt x="1123" y="300"/>
                      <a:pt x="1122" y="301"/>
                    </a:cubicBezTo>
                    <a:cubicBezTo>
                      <a:pt x="1122" y="301"/>
                      <a:pt x="1121" y="302"/>
                      <a:pt x="1121" y="302"/>
                    </a:cubicBezTo>
                    <a:cubicBezTo>
                      <a:pt x="1121" y="303"/>
                      <a:pt x="1121" y="305"/>
                      <a:pt x="1122" y="306"/>
                    </a:cubicBezTo>
                    <a:cubicBezTo>
                      <a:pt x="1122" y="306"/>
                      <a:pt x="1122" y="308"/>
                      <a:pt x="1123" y="307"/>
                    </a:cubicBezTo>
                    <a:cubicBezTo>
                      <a:pt x="1124" y="307"/>
                      <a:pt x="1124" y="307"/>
                      <a:pt x="1125" y="308"/>
                    </a:cubicBezTo>
                    <a:cubicBezTo>
                      <a:pt x="1125" y="308"/>
                      <a:pt x="1125" y="308"/>
                      <a:pt x="1126" y="308"/>
                    </a:cubicBezTo>
                    <a:cubicBezTo>
                      <a:pt x="1126" y="308"/>
                      <a:pt x="1126" y="309"/>
                      <a:pt x="1127" y="309"/>
                    </a:cubicBezTo>
                    <a:cubicBezTo>
                      <a:pt x="1127" y="310"/>
                      <a:pt x="1127" y="310"/>
                      <a:pt x="1126" y="309"/>
                    </a:cubicBezTo>
                    <a:cubicBezTo>
                      <a:pt x="1125" y="309"/>
                      <a:pt x="1125" y="308"/>
                      <a:pt x="1124" y="308"/>
                    </a:cubicBezTo>
                    <a:cubicBezTo>
                      <a:pt x="1124" y="308"/>
                      <a:pt x="1123" y="308"/>
                      <a:pt x="1123" y="308"/>
                    </a:cubicBezTo>
                    <a:cubicBezTo>
                      <a:pt x="1122" y="309"/>
                      <a:pt x="1122" y="309"/>
                      <a:pt x="1122" y="309"/>
                    </a:cubicBezTo>
                    <a:cubicBezTo>
                      <a:pt x="1121" y="308"/>
                      <a:pt x="1120" y="308"/>
                      <a:pt x="1121" y="309"/>
                    </a:cubicBezTo>
                    <a:cubicBezTo>
                      <a:pt x="1122" y="310"/>
                      <a:pt x="1122" y="310"/>
                      <a:pt x="1123" y="310"/>
                    </a:cubicBezTo>
                    <a:cubicBezTo>
                      <a:pt x="1123" y="310"/>
                      <a:pt x="1123" y="310"/>
                      <a:pt x="1123" y="310"/>
                    </a:cubicBezTo>
                    <a:cubicBezTo>
                      <a:pt x="1123" y="311"/>
                      <a:pt x="1122" y="311"/>
                      <a:pt x="1123" y="311"/>
                    </a:cubicBezTo>
                    <a:cubicBezTo>
                      <a:pt x="1123" y="312"/>
                      <a:pt x="1124" y="313"/>
                      <a:pt x="1123" y="313"/>
                    </a:cubicBezTo>
                    <a:cubicBezTo>
                      <a:pt x="1122" y="312"/>
                      <a:pt x="1121" y="311"/>
                      <a:pt x="1121" y="311"/>
                    </a:cubicBezTo>
                    <a:cubicBezTo>
                      <a:pt x="1121" y="311"/>
                      <a:pt x="1120" y="310"/>
                      <a:pt x="1121" y="311"/>
                    </a:cubicBezTo>
                    <a:cubicBezTo>
                      <a:pt x="1121" y="312"/>
                      <a:pt x="1121" y="313"/>
                      <a:pt x="1121" y="313"/>
                    </a:cubicBezTo>
                    <a:cubicBezTo>
                      <a:pt x="1121" y="313"/>
                      <a:pt x="1121" y="313"/>
                      <a:pt x="1121" y="314"/>
                    </a:cubicBezTo>
                    <a:cubicBezTo>
                      <a:pt x="1121" y="314"/>
                      <a:pt x="1120" y="315"/>
                      <a:pt x="1120" y="314"/>
                    </a:cubicBezTo>
                    <a:cubicBezTo>
                      <a:pt x="1119" y="314"/>
                      <a:pt x="1118" y="313"/>
                      <a:pt x="1118" y="313"/>
                    </a:cubicBezTo>
                    <a:cubicBezTo>
                      <a:pt x="1118" y="314"/>
                      <a:pt x="1118" y="315"/>
                      <a:pt x="1118" y="315"/>
                    </a:cubicBezTo>
                    <a:cubicBezTo>
                      <a:pt x="1119" y="316"/>
                      <a:pt x="1118" y="317"/>
                      <a:pt x="1119" y="317"/>
                    </a:cubicBezTo>
                    <a:cubicBezTo>
                      <a:pt x="1120" y="317"/>
                      <a:pt x="1120" y="317"/>
                      <a:pt x="1121" y="317"/>
                    </a:cubicBezTo>
                    <a:cubicBezTo>
                      <a:pt x="1121" y="317"/>
                      <a:pt x="1122" y="317"/>
                      <a:pt x="1122" y="317"/>
                    </a:cubicBezTo>
                    <a:cubicBezTo>
                      <a:pt x="1123" y="317"/>
                      <a:pt x="1123" y="318"/>
                      <a:pt x="1121" y="318"/>
                    </a:cubicBezTo>
                    <a:cubicBezTo>
                      <a:pt x="1119" y="318"/>
                      <a:pt x="1118" y="318"/>
                      <a:pt x="1118" y="318"/>
                    </a:cubicBezTo>
                    <a:cubicBezTo>
                      <a:pt x="1118" y="319"/>
                      <a:pt x="1119" y="320"/>
                      <a:pt x="1118" y="320"/>
                    </a:cubicBezTo>
                    <a:cubicBezTo>
                      <a:pt x="1117" y="319"/>
                      <a:pt x="1116" y="318"/>
                      <a:pt x="1116" y="320"/>
                    </a:cubicBezTo>
                    <a:cubicBezTo>
                      <a:pt x="1115" y="321"/>
                      <a:pt x="1115" y="321"/>
                      <a:pt x="1115" y="321"/>
                    </a:cubicBezTo>
                    <a:cubicBezTo>
                      <a:pt x="1116" y="322"/>
                      <a:pt x="1117" y="322"/>
                      <a:pt x="1116" y="323"/>
                    </a:cubicBezTo>
                    <a:cubicBezTo>
                      <a:pt x="1114" y="324"/>
                      <a:pt x="1113" y="324"/>
                      <a:pt x="1114" y="325"/>
                    </a:cubicBezTo>
                    <a:cubicBezTo>
                      <a:pt x="1115" y="326"/>
                      <a:pt x="1117" y="328"/>
                      <a:pt x="1116" y="329"/>
                    </a:cubicBezTo>
                    <a:cubicBezTo>
                      <a:pt x="1115" y="330"/>
                      <a:pt x="1113" y="334"/>
                      <a:pt x="1114" y="330"/>
                    </a:cubicBezTo>
                    <a:cubicBezTo>
                      <a:pt x="1115" y="326"/>
                      <a:pt x="1114" y="327"/>
                      <a:pt x="1114" y="327"/>
                    </a:cubicBezTo>
                    <a:cubicBezTo>
                      <a:pt x="1113" y="326"/>
                      <a:pt x="1113" y="326"/>
                      <a:pt x="1112" y="325"/>
                    </a:cubicBezTo>
                    <a:cubicBezTo>
                      <a:pt x="1112" y="325"/>
                      <a:pt x="1111" y="324"/>
                      <a:pt x="1110" y="324"/>
                    </a:cubicBezTo>
                    <a:cubicBezTo>
                      <a:pt x="1110" y="324"/>
                      <a:pt x="1109" y="323"/>
                      <a:pt x="1109" y="323"/>
                    </a:cubicBezTo>
                    <a:cubicBezTo>
                      <a:pt x="1109" y="323"/>
                      <a:pt x="1108" y="322"/>
                      <a:pt x="1107" y="323"/>
                    </a:cubicBezTo>
                    <a:cubicBezTo>
                      <a:pt x="1107" y="324"/>
                      <a:pt x="1105" y="327"/>
                      <a:pt x="1105" y="327"/>
                    </a:cubicBezTo>
                    <a:cubicBezTo>
                      <a:pt x="1105" y="327"/>
                      <a:pt x="1104" y="327"/>
                      <a:pt x="1104" y="328"/>
                    </a:cubicBezTo>
                    <a:cubicBezTo>
                      <a:pt x="1105" y="328"/>
                      <a:pt x="1104" y="329"/>
                      <a:pt x="1104" y="330"/>
                    </a:cubicBezTo>
                    <a:cubicBezTo>
                      <a:pt x="1104" y="330"/>
                      <a:pt x="1104" y="330"/>
                      <a:pt x="1103" y="330"/>
                    </a:cubicBezTo>
                    <a:cubicBezTo>
                      <a:pt x="1103" y="331"/>
                      <a:pt x="1092" y="335"/>
                      <a:pt x="1092" y="335"/>
                    </a:cubicBezTo>
                    <a:cubicBezTo>
                      <a:pt x="1092" y="335"/>
                      <a:pt x="1091" y="335"/>
                      <a:pt x="1090" y="336"/>
                    </a:cubicBezTo>
                    <a:cubicBezTo>
                      <a:pt x="1090" y="337"/>
                      <a:pt x="1089" y="338"/>
                      <a:pt x="1089" y="338"/>
                    </a:cubicBezTo>
                    <a:cubicBezTo>
                      <a:pt x="1090" y="339"/>
                      <a:pt x="1090" y="339"/>
                      <a:pt x="1089" y="340"/>
                    </a:cubicBezTo>
                    <a:cubicBezTo>
                      <a:pt x="1089" y="340"/>
                      <a:pt x="1089" y="339"/>
                      <a:pt x="1089" y="338"/>
                    </a:cubicBezTo>
                    <a:cubicBezTo>
                      <a:pt x="1089" y="337"/>
                      <a:pt x="1089" y="337"/>
                      <a:pt x="1089" y="336"/>
                    </a:cubicBezTo>
                    <a:cubicBezTo>
                      <a:pt x="1089" y="336"/>
                      <a:pt x="1089" y="335"/>
                      <a:pt x="1089" y="334"/>
                    </a:cubicBezTo>
                    <a:cubicBezTo>
                      <a:pt x="1088" y="333"/>
                      <a:pt x="1088" y="334"/>
                      <a:pt x="1088" y="333"/>
                    </a:cubicBezTo>
                    <a:cubicBezTo>
                      <a:pt x="1089" y="333"/>
                      <a:pt x="1088" y="332"/>
                      <a:pt x="1089" y="332"/>
                    </a:cubicBezTo>
                    <a:cubicBezTo>
                      <a:pt x="1089" y="331"/>
                      <a:pt x="1089" y="331"/>
                      <a:pt x="1088" y="331"/>
                    </a:cubicBezTo>
                    <a:cubicBezTo>
                      <a:pt x="1088" y="332"/>
                      <a:pt x="1087" y="332"/>
                      <a:pt x="1087" y="333"/>
                    </a:cubicBezTo>
                    <a:cubicBezTo>
                      <a:pt x="1087" y="333"/>
                      <a:pt x="1087" y="334"/>
                      <a:pt x="1087" y="334"/>
                    </a:cubicBezTo>
                    <a:cubicBezTo>
                      <a:pt x="1087" y="334"/>
                      <a:pt x="1086" y="335"/>
                      <a:pt x="1086" y="335"/>
                    </a:cubicBezTo>
                    <a:cubicBezTo>
                      <a:pt x="1086" y="335"/>
                      <a:pt x="1086" y="336"/>
                      <a:pt x="1086" y="336"/>
                    </a:cubicBezTo>
                    <a:cubicBezTo>
                      <a:pt x="1085" y="336"/>
                      <a:pt x="1085" y="336"/>
                      <a:pt x="1085" y="337"/>
                    </a:cubicBezTo>
                    <a:cubicBezTo>
                      <a:pt x="1085" y="337"/>
                      <a:pt x="1084" y="338"/>
                      <a:pt x="1083" y="338"/>
                    </a:cubicBezTo>
                    <a:cubicBezTo>
                      <a:pt x="1083" y="338"/>
                      <a:pt x="1082" y="338"/>
                      <a:pt x="1083" y="337"/>
                    </a:cubicBezTo>
                    <a:cubicBezTo>
                      <a:pt x="1084" y="336"/>
                      <a:pt x="1085" y="336"/>
                      <a:pt x="1085" y="335"/>
                    </a:cubicBezTo>
                    <a:cubicBezTo>
                      <a:pt x="1086" y="335"/>
                      <a:pt x="1086" y="334"/>
                      <a:pt x="1086" y="333"/>
                    </a:cubicBezTo>
                    <a:cubicBezTo>
                      <a:pt x="1086" y="332"/>
                      <a:pt x="1085" y="332"/>
                      <a:pt x="1085" y="331"/>
                    </a:cubicBezTo>
                    <a:cubicBezTo>
                      <a:pt x="1085" y="330"/>
                      <a:pt x="1086" y="329"/>
                      <a:pt x="1085" y="329"/>
                    </a:cubicBezTo>
                    <a:cubicBezTo>
                      <a:pt x="1085" y="328"/>
                      <a:pt x="1084" y="328"/>
                      <a:pt x="1083" y="329"/>
                    </a:cubicBezTo>
                    <a:cubicBezTo>
                      <a:pt x="1083" y="329"/>
                      <a:pt x="1082" y="329"/>
                      <a:pt x="1082" y="330"/>
                    </a:cubicBezTo>
                    <a:cubicBezTo>
                      <a:pt x="1081" y="330"/>
                      <a:pt x="1081" y="331"/>
                      <a:pt x="1081" y="332"/>
                    </a:cubicBezTo>
                    <a:cubicBezTo>
                      <a:pt x="1081" y="332"/>
                      <a:pt x="1081" y="333"/>
                      <a:pt x="1081" y="333"/>
                    </a:cubicBezTo>
                    <a:cubicBezTo>
                      <a:pt x="1081" y="334"/>
                      <a:pt x="1080" y="335"/>
                      <a:pt x="1081" y="335"/>
                    </a:cubicBezTo>
                    <a:cubicBezTo>
                      <a:pt x="1081" y="336"/>
                      <a:pt x="1080" y="336"/>
                      <a:pt x="1080" y="336"/>
                    </a:cubicBezTo>
                    <a:cubicBezTo>
                      <a:pt x="1080" y="337"/>
                      <a:pt x="1080" y="338"/>
                      <a:pt x="1079" y="338"/>
                    </a:cubicBezTo>
                    <a:cubicBezTo>
                      <a:pt x="1079" y="339"/>
                      <a:pt x="1078" y="339"/>
                      <a:pt x="1078" y="340"/>
                    </a:cubicBezTo>
                    <a:cubicBezTo>
                      <a:pt x="1078" y="340"/>
                      <a:pt x="1075" y="340"/>
                      <a:pt x="1073" y="341"/>
                    </a:cubicBezTo>
                    <a:cubicBezTo>
                      <a:pt x="1072" y="341"/>
                      <a:pt x="1071" y="341"/>
                      <a:pt x="1071" y="342"/>
                    </a:cubicBezTo>
                    <a:cubicBezTo>
                      <a:pt x="1070" y="342"/>
                      <a:pt x="1069" y="342"/>
                      <a:pt x="1068" y="343"/>
                    </a:cubicBezTo>
                    <a:cubicBezTo>
                      <a:pt x="1067" y="343"/>
                      <a:pt x="1066" y="345"/>
                      <a:pt x="1065" y="345"/>
                    </a:cubicBezTo>
                    <a:cubicBezTo>
                      <a:pt x="1064" y="346"/>
                      <a:pt x="1064" y="345"/>
                      <a:pt x="1066" y="344"/>
                    </a:cubicBezTo>
                    <a:cubicBezTo>
                      <a:pt x="1067" y="343"/>
                      <a:pt x="1067" y="342"/>
                      <a:pt x="1068" y="342"/>
                    </a:cubicBezTo>
                    <a:cubicBezTo>
                      <a:pt x="1069" y="341"/>
                      <a:pt x="1071" y="341"/>
                      <a:pt x="1072" y="341"/>
                    </a:cubicBezTo>
                    <a:cubicBezTo>
                      <a:pt x="1073" y="340"/>
                      <a:pt x="1076" y="340"/>
                      <a:pt x="1076" y="340"/>
                    </a:cubicBezTo>
                    <a:cubicBezTo>
                      <a:pt x="1077" y="339"/>
                      <a:pt x="1077" y="340"/>
                      <a:pt x="1078" y="339"/>
                    </a:cubicBezTo>
                    <a:cubicBezTo>
                      <a:pt x="1079" y="337"/>
                      <a:pt x="1079" y="337"/>
                      <a:pt x="1079" y="336"/>
                    </a:cubicBezTo>
                    <a:cubicBezTo>
                      <a:pt x="1079" y="335"/>
                      <a:pt x="1080" y="334"/>
                      <a:pt x="1080" y="334"/>
                    </a:cubicBezTo>
                    <a:cubicBezTo>
                      <a:pt x="1080" y="333"/>
                      <a:pt x="1081" y="332"/>
                      <a:pt x="1081" y="331"/>
                    </a:cubicBezTo>
                    <a:cubicBezTo>
                      <a:pt x="1081" y="330"/>
                      <a:pt x="1081" y="330"/>
                      <a:pt x="1081" y="329"/>
                    </a:cubicBezTo>
                    <a:cubicBezTo>
                      <a:pt x="1081" y="329"/>
                      <a:pt x="1081" y="328"/>
                      <a:pt x="1081" y="328"/>
                    </a:cubicBezTo>
                    <a:cubicBezTo>
                      <a:pt x="1081" y="328"/>
                      <a:pt x="1079" y="324"/>
                      <a:pt x="1079" y="324"/>
                    </a:cubicBezTo>
                    <a:cubicBezTo>
                      <a:pt x="1079" y="323"/>
                      <a:pt x="1078" y="323"/>
                      <a:pt x="1077" y="322"/>
                    </a:cubicBezTo>
                    <a:cubicBezTo>
                      <a:pt x="1075" y="322"/>
                      <a:pt x="1073" y="321"/>
                      <a:pt x="1073" y="321"/>
                    </a:cubicBezTo>
                    <a:cubicBezTo>
                      <a:pt x="1073" y="321"/>
                      <a:pt x="1072" y="321"/>
                      <a:pt x="1071" y="321"/>
                    </a:cubicBezTo>
                    <a:cubicBezTo>
                      <a:pt x="1070" y="321"/>
                      <a:pt x="1069" y="321"/>
                      <a:pt x="1068" y="321"/>
                    </a:cubicBezTo>
                    <a:cubicBezTo>
                      <a:pt x="1068" y="321"/>
                      <a:pt x="1067" y="321"/>
                      <a:pt x="1067" y="321"/>
                    </a:cubicBezTo>
                    <a:cubicBezTo>
                      <a:pt x="1066" y="321"/>
                      <a:pt x="1066" y="321"/>
                      <a:pt x="1065" y="321"/>
                    </a:cubicBezTo>
                    <a:cubicBezTo>
                      <a:pt x="1064" y="322"/>
                      <a:pt x="1064" y="321"/>
                      <a:pt x="1063" y="322"/>
                    </a:cubicBezTo>
                    <a:cubicBezTo>
                      <a:pt x="1062" y="323"/>
                      <a:pt x="1062" y="324"/>
                      <a:pt x="1061" y="324"/>
                    </a:cubicBezTo>
                    <a:cubicBezTo>
                      <a:pt x="1061" y="324"/>
                      <a:pt x="1060" y="324"/>
                      <a:pt x="1060" y="325"/>
                    </a:cubicBezTo>
                    <a:cubicBezTo>
                      <a:pt x="1060" y="325"/>
                      <a:pt x="1060" y="326"/>
                      <a:pt x="1059" y="325"/>
                    </a:cubicBezTo>
                    <a:cubicBezTo>
                      <a:pt x="1058" y="325"/>
                      <a:pt x="1058" y="326"/>
                      <a:pt x="1058" y="326"/>
                    </a:cubicBezTo>
                    <a:cubicBezTo>
                      <a:pt x="1058" y="327"/>
                      <a:pt x="1057" y="328"/>
                      <a:pt x="1057" y="327"/>
                    </a:cubicBezTo>
                    <a:cubicBezTo>
                      <a:pt x="1056" y="327"/>
                      <a:pt x="1054" y="325"/>
                      <a:pt x="1054" y="325"/>
                    </a:cubicBezTo>
                    <a:cubicBezTo>
                      <a:pt x="1054" y="325"/>
                      <a:pt x="1051" y="324"/>
                      <a:pt x="1052" y="324"/>
                    </a:cubicBezTo>
                    <a:cubicBezTo>
                      <a:pt x="1054" y="323"/>
                      <a:pt x="1053" y="323"/>
                      <a:pt x="1054" y="323"/>
                    </a:cubicBezTo>
                    <a:cubicBezTo>
                      <a:pt x="1054" y="323"/>
                      <a:pt x="1055" y="323"/>
                      <a:pt x="1055" y="323"/>
                    </a:cubicBezTo>
                    <a:cubicBezTo>
                      <a:pt x="1056" y="322"/>
                      <a:pt x="1056" y="322"/>
                      <a:pt x="1056" y="322"/>
                    </a:cubicBezTo>
                    <a:cubicBezTo>
                      <a:pt x="1057" y="323"/>
                      <a:pt x="1058" y="323"/>
                      <a:pt x="1057" y="321"/>
                    </a:cubicBezTo>
                    <a:cubicBezTo>
                      <a:pt x="1057" y="320"/>
                      <a:pt x="1057" y="318"/>
                      <a:pt x="1057" y="319"/>
                    </a:cubicBezTo>
                    <a:cubicBezTo>
                      <a:pt x="1058" y="320"/>
                      <a:pt x="1058" y="318"/>
                      <a:pt x="1059" y="320"/>
                    </a:cubicBezTo>
                    <a:cubicBezTo>
                      <a:pt x="1060" y="322"/>
                      <a:pt x="1060" y="322"/>
                      <a:pt x="1060" y="322"/>
                    </a:cubicBezTo>
                    <a:cubicBezTo>
                      <a:pt x="1060" y="323"/>
                      <a:pt x="1061" y="323"/>
                      <a:pt x="1061" y="323"/>
                    </a:cubicBezTo>
                    <a:cubicBezTo>
                      <a:pt x="1061" y="322"/>
                      <a:pt x="1061" y="321"/>
                      <a:pt x="1062" y="321"/>
                    </a:cubicBezTo>
                    <a:cubicBezTo>
                      <a:pt x="1062" y="322"/>
                      <a:pt x="1063" y="322"/>
                      <a:pt x="1062" y="321"/>
                    </a:cubicBezTo>
                    <a:cubicBezTo>
                      <a:pt x="1062" y="319"/>
                      <a:pt x="1062" y="317"/>
                      <a:pt x="1062" y="317"/>
                    </a:cubicBezTo>
                    <a:cubicBezTo>
                      <a:pt x="1063" y="318"/>
                      <a:pt x="1063" y="318"/>
                      <a:pt x="1063" y="318"/>
                    </a:cubicBezTo>
                    <a:cubicBezTo>
                      <a:pt x="1063" y="317"/>
                      <a:pt x="1064" y="317"/>
                      <a:pt x="1064" y="317"/>
                    </a:cubicBezTo>
                    <a:cubicBezTo>
                      <a:pt x="1064" y="316"/>
                      <a:pt x="1064" y="313"/>
                      <a:pt x="1064" y="314"/>
                    </a:cubicBezTo>
                    <a:cubicBezTo>
                      <a:pt x="1065" y="315"/>
                      <a:pt x="1065" y="314"/>
                      <a:pt x="1066" y="314"/>
                    </a:cubicBezTo>
                    <a:cubicBezTo>
                      <a:pt x="1066" y="313"/>
                      <a:pt x="1066" y="312"/>
                      <a:pt x="1065" y="312"/>
                    </a:cubicBezTo>
                    <a:cubicBezTo>
                      <a:pt x="1065" y="312"/>
                      <a:pt x="1062" y="311"/>
                      <a:pt x="1061" y="311"/>
                    </a:cubicBezTo>
                    <a:cubicBezTo>
                      <a:pt x="1061" y="312"/>
                      <a:pt x="1061" y="312"/>
                      <a:pt x="1060" y="312"/>
                    </a:cubicBezTo>
                    <a:cubicBezTo>
                      <a:pt x="1059" y="312"/>
                      <a:pt x="1058" y="312"/>
                      <a:pt x="1059" y="311"/>
                    </a:cubicBezTo>
                    <a:cubicBezTo>
                      <a:pt x="1060" y="311"/>
                      <a:pt x="1059" y="310"/>
                      <a:pt x="1059" y="310"/>
                    </a:cubicBezTo>
                    <a:cubicBezTo>
                      <a:pt x="1059" y="309"/>
                      <a:pt x="1058" y="307"/>
                      <a:pt x="1060" y="306"/>
                    </a:cubicBezTo>
                    <a:cubicBezTo>
                      <a:pt x="1060" y="306"/>
                      <a:pt x="1061" y="306"/>
                      <a:pt x="1061" y="305"/>
                    </a:cubicBezTo>
                    <a:cubicBezTo>
                      <a:pt x="1062" y="304"/>
                      <a:pt x="1060" y="303"/>
                      <a:pt x="1061" y="302"/>
                    </a:cubicBezTo>
                    <a:cubicBezTo>
                      <a:pt x="1061" y="302"/>
                      <a:pt x="1061" y="302"/>
                      <a:pt x="1061" y="301"/>
                    </a:cubicBezTo>
                    <a:cubicBezTo>
                      <a:pt x="1060" y="301"/>
                      <a:pt x="1060" y="300"/>
                      <a:pt x="1060" y="300"/>
                    </a:cubicBezTo>
                    <a:cubicBezTo>
                      <a:pt x="1061" y="300"/>
                      <a:pt x="1061" y="300"/>
                      <a:pt x="1060" y="299"/>
                    </a:cubicBezTo>
                    <a:cubicBezTo>
                      <a:pt x="1060" y="299"/>
                      <a:pt x="1058" y="298"/>
                      <a:pt x="1058" y="298"/>
                    </a:cubicBezTo>
                    <a:cubicBezTo>
                      <a:pt x="1057" y="298"/>
                      <a:pt x="1049" y="297"/>
                      <a:pt x="1049" y="297"/>
                    </a:cubicBezTo>
                    <a:cubicBezTo>
                      <a:pt x="1049" y="297"/>
                      <a:pt x="1046" y="297"/>
                      <a:pt x="1050" y="296"/>
                    </a:cubicBezTo>
                    <a:cubicBezTo>
                      <a:pt x="1054" y="296"/>
                      <a:pt x="1056" y="297"/>
                      <a:pt x="1056" y="297"/>
                    </a:cubicBezTo>
                    <a:cubicBezTo>
                      <a:pt x="1057" y="297"/>
                      <a:pt x="1058" y="297"/>
                      <a:pt x="1057" y="296"/>
                    </a:cubicBezTo>
                    <a:cubicBezTo>
                      <a:pt x="1056" y="295"/>
                      <a:pt x="1057" y="295"/>
                      <a:pt x="1058" y="295"/>
                    </a:cubicBezTo>
                    <a:cubicBezTo>
                      <a:pt x="1059" y="295"/>
                      <a:pt x="1060" y="296"/>
                      <a:pt x="1060" y="294"/>
                    </a:cubicBezTo>
                    <a:cubicBezTo>
                      <a:pt x="1060" y="293"/>
                      <a:pt x="1060" y="292"/>
                      <a:pt x="1059" y="291"/>
                    </a:cubicBezTo>
                    <a:cubicBezTo>
                      <a:pt x="1059" y="290"/>
                      <a:pt x="1058" y="290"/>
                      <a:pt x="1058" y="289"/>
                    </a:cubicBezTo>
                    <a:cubicBezTo>
                      <a:pt x="1059" y="289"/>
                      <a:pt x="1058" y="287"/>
                      <a:pt x="1058" y="286"/>
                    </a:cubicBezTo>
                    <a:cubicBezTo>
                      <a:pt x="1057" y="285"/>
                      <a:pt x="1057" y="284"/>
                      <a:pt x="1058" y="284"/>
                    </a:cubicBezTo>
                    <a:cubicBezTo>
                      <a:pt x="1059" y="284"/>
                      <a:pt x="1060" y="284"/>
                      <a:pt x="1059" y="283"/>
                    </a:cubicBezTo>
                    <a:cubicBezTo>
                      <a:pt x="1059" y="283"/>
                      <a:pt x="1059" y="281"/>
                      <a:pt x="1060" y="281"/>
                    </a:cubicBezTo>
                    <a:cubicBezTo>
                      <a:pt x="1062" y="280"/>
                      <a:pt x="1064" y="280"/>
                      <a:pt x="1064" y="278"/>
                    </a:cubicBezTo>
                    <a:cubicBezTo>
                      <a:pt x="1063" y="277"/>
                      <a:pt x="1062" y="274"/>
                      <a:pt x="1062" y="274"/>
                    </a:cubicBezTo>
                    <a:cubicBezTo>
                      <a:pt x="1062" y="273"/>
                      <a:pt x="1062" y="273"/>
                      <a:pt x="1061" y="273"/>
                    </a:cubicBezTo>
                    <a:cubicBezTo>
                      <a:pt x="1060" y="274"/>
                      <a:pt x="1059" y="274"/>
                      <a:pt x="1059" y="274"/>
                    </a:cubicBezTo>
                    <a:cubicBezTo>
                      <a:pt x="1059" y="275"/>
                      <a:pt x="1060" y="276"/>
                      <a:pt x="1059" y="276"/>
                    </a:cubicBezTo>
                    <a:cubicBezTo>
                      <a:pt x="1059" y="277"/>
                      <a:pt x="1058" y="277"/>
                      <a:pt x="1058" y="277"/>
                    </a:cubicBezTo>
                    <a:cubicBezTo>
                      <a:pt x="1057" y="277"/>
                      <a:pt x="1056" y="277"/>
                      <a:pt x="1056" y="278"/>
                    </a:cubicBezTo>
                    <a:cubicBezTo>
                      <a:pt x="1056" y="278"/>
                      <a:pt x="1055" y="278"/>
                      <a:pt x="1054" y="277"/>
                    </a:cubicBezTo>
                    <a:cubicBezTo>
                      <a:pt x="1054" y="276"/>
                      <a:pt x="1052" y="275"/>
                      <a:pt x="1053" y="274"/>
                    </a:cubicBezTo>
                    <a:cubicBezTo>
                      <a:pt x="1053" y="273"/>
                      <a:pt x="1053" y="273"/>
                      <a:pt x="1052" y="273"/>
                    </a:cubicBezTo>
                    <a:cubicBezTo>
                      <a:pt x="1051" y="273"/>
                      <a:pt x="1048" y="273"/>
                      <a:pt x="1047" y="273"/>
                    </a:cubicBezTo>
                    <a:cubicBezTo>
                      <a:pt x="1047" y="274"/>
                      <a:pt x="1046" y="273"/>
                      <a:pt x="1046" y="274"/>
                    </a:cubicBezTo>
                    <a:cubicBezTo>
                      <a:pt x="1046" y="275"/>
                      <a:pt x="1046" y="274"/>
                      <a:pt x="1045" y="274"/>
                    </a:cubicBezTo>
                    <a:cubicBezTo>
                      <a:pt x="1044" y="274"/>
                      <a:pt x="1033" y="272"/>
                      <a:pt x="1029" y="268"/>
                    </a:cubicBezTo>
                    <a:cubicBezTo>
                      <a:pt x="1029" y="268"/>
                      <a:pt x="1029" y="268"/>
                      <a:pt x="1029" y="268"/>
                    </a:cubicBezTo>
                    <a:cubicBezTo>
                      <a:pt x="1030" y="267"/>
                      <a:pt x="1030" y="267"/>
                      <a:pt x="1029" y="267"/>
                    </a:cubicBezTo>
                    <a:cubicBezTo>
                      <a:pt x="1029" y="266"/>
                      <a:pt x="1027" y="266"/>
                      <a:pt x="1029" y="266"/>
                    </a:cubicBezTo>
                    <a:cubicBezTo>
                      <a:pt x="1031" y="266"/>
                      <a:pt x="1031" y="265"/>
                      <a:pt x="1030" y="265"/>
                    </a:cubicBezTo>
                    <a:cubicBezTo>
                      <a:pt x="1029" y="265"/>
                      <a:pt x="1028" y="264"/>
                      <a:pt x="1028" y="264"/>
                    </a:cubicBezTo>
                    <a:cubicBezTo>
                      <a:pt x="1029" y="263"/>
                      <a:pt x="1028" y="263"/>
                      <a:pt x="1028" y="263"/>
                    </a:cubicBezTo>
                    <a:cubicBezTo>
                      <a:pt x="1028" y="262"/>
                      <a:pt x="1028" y="262"/>
                      <a:pt x="1029" y="262"/>
                    </a:cubicBezTo>
                    <a:cubicBezTo>
                      <a:pt x="1030" y="262"/>
                      <a:pt x="1032" y="262"/>
                      <a:pt x="1031" y="261"/>
                    </a:cubicBezTo>
                    <a:cubicBezTo>
                      <a:pt x="1030" y="260"/>
                      <a:pt x="1029" y="259"/>
                      <a:pt x="1027" y="259"/>
                    </a:cubicBezTo>
                    <a:cubicBezTo>
                      <a:pt x="1025" y="260"/>
                      <a:pt x="1025" y="261"/>
                      <a:pt x="1023" y="261"/>
                    </a:cubicBezTo>
                    <a:cubicBezTo>
                      <a:pt x="1021" y="261"/>
                      <a:pt x="1022" y="261"/>
                      <a:pt x="1023" y="260"/>
                    </a:cubicBezTo>
                    <a:cubicBezTo>
                      <a:pt x="1025" y="260"/>
                      <a:pt x="1025" y="259"/>
                      <a:pt x="1024" y="258"/>
                    </a:cubicBezTo>
                    <a:cubicBezTo>
                      <a:pt x="1023" y="258"/>
                      <a:pt x="1022" y="257"/>
                      <a:pt x="1022" y="256"/>
                    </a:cubicBezTo>
                    <a:cubicBezTo>
                      <a:pt x="1023" y="256"/>
                      <a:pt x="1023" y="256"/>
                      <a:pt x="1022" y="255"/>
                    </a:cubicBezTo>
                    <a:cubicBezTo>
                      <a:pt x="1022" y="255"/>
                      <a:pt x="1019" y="254"/>
                      <a:pt x="1018" y="254"/>
                    </a:cubicBezTo>
                    <a:cubicBezTo>
                      <a:pt x="1017" y="253"/>
                      <a:pt x="1016" y="253"/>
                      <a:pt x="1016" y="253"/>
                    </a:cubicBezTo>
                    <a:cubicBezTo>
                      <a:pt x="1016" y="254"/>
                      <a:pt x="1016" y="257"/>
                      <a:pt x="1015" y="255"/>
                    </a:cubicBezTo>
                    <a:cubicBezTo>
                      <a:pt x="1014" y="252"/>
                      <a:pt x="1015" y="253"/>
                      <a:pt x="1015" y="253"/>
                    </a:cubicBezTo>
                    <a:cubicBezTo>
                      <a:pt x="1016" y="252"/>
                      <a:pt x="1016" y="252"/>
                      <a:pt x="1016" y="251"/>
                    </a:cubicBezTo>
                    <a:cubicBezTo>
                      <a:pt x="1016" y="250"/>
                      <a:pt x="1015" y="249"/>
                      <a:pt x="1014" y="249"/>
                    </a:cubicBezTo>
                    <a:cubicBezTo>
                      <a:pt x="1014" y="248"/>
                      <a:pt x="1008" y="247"/>
                      <a:pt x="1007" y="246"/>
                    </a:cubicBezTo>
                    <a:cubicBezTo>
                      <a:pt x="1007" y="245"/>
                      <a:pt x="1005" y="244"/>
                      <a:pt x="1003" y="243"/>
                    </a:cubicBezTo>
                    <a:cubicBezTo>
                      <a:pt x="1001" y="242"/>
                      <a:pt x="1000" y="241"/>
                      <a:pt x="999" y="241"/>
                    </a:cubicBezTo>
                    <a:cubicBezTo>
                      <a:pt x="997" y="242"/>
                      <a:pt x="994" y="244"/>
                      <a:pt x="993" y="244"/>
                    </a:cubicBezTo>
                    <a:cubicBezTo>
                      <a:pt x="992" y="244"/>
                      <a:pt x="990" y="245"/>
                      <a:pt x="990" y="245"/>
                    </a:cubicBezTo>
                    <a:cubicBezTo>
                      <a:pt x="989" y="246"/>
                      <a:pt x="987" y="246"/>
                      <a:pt x="987" y="246"/>
                    </a:cubicBezTo>
                    <a:cubicBezTo>
                      <a:pt x="986" y="246"/>
                      <a:pt x="984" y="246"/>
                      <a:pt x="984" y="247"/>
                    </a:cubicBezTo>
                    <a:cubicBezTo>
                      <a:pt x="984" y="248"/>
                      <a:pt x="987" y="249"/>
                      <a:pt x="984" y="248"/>
                    </a:cubicBezTo>
                    <a:cubicBezTo>
                      <a:pt x="982" y="247"/>
                      <a:pt x="977" y="244"/>
                      <a:pt x="973" y="245"/>
                    </a:cubicBezTo>
                    <a:cubicBezTo>
                      <a:pt x="969" y="247"/>
                      <a:pt x="967" y="249"/>
                      <a:pt x="970" y="246"/>
                    </a:cubicBezTo>
                    <a:cubicBezTo>
                      <a:pt x="970" y="246"/>
                      <a:pt x="971" y="245"/>
                      <a:pt x="970" y="245"/>
                    </a:cubicBezTo>
                    <a:cubicBezTo>
                      <a:pt x="968" y="244"/>
                      <a:pt x="960" y="242"/>
                      <a:pt x="958" y="241"/>
                    </a:cubicBezTo>
                    <a:cubicBezTo>
                      <a:pt x="957" y="241"/>
                      <a:pt x="951" y="239"/>
                      <a:pt x="950" y="239"/>
                    </a:cubicBezTo>
                    <a:cubicBezTo>
                      <a:pt x="949" y="239"/>
                      <a:pt x="944" y="238"/>
                      <a:pt x="942" y="239"/>
                    </a:cubicBezTo>
                    <a:cubicBezTo>
                      <a:pt x="941" y="240"/>
                      <a:pt x="936" y="243"/>
                      <a:pt x="935" y="244"/>
                    </a:cubicBezTo>
                    <a:cubicBezTo>
                      <a:pt x="934" y="245"/>
                      <a:pt x="933" y="244"/>
                      <a:pt x="934" y="246"/>
                    </a:cubicBezTo>
                    <a:cubicBezTo>
                      <a:pt x="934" y="247"/>
                      <a:pt x="937" y="255"/>
                      <a:pt x="937" y="256"/>
                    </a:cubicBezTo>
                    <a:cubicBezTo>
                      <a:pt x="938" y="258"/>
                      <a:pt x="939" y="260"/>
                      <a:pt x="940" y="260"/>
                    </a:cubicBezTo>
                    <a:cubicBezTo>
                      <a:pt x="942" y="261"/>
                      <a:pt x="942" y="261"/>
                      <a:pt x="943" y="261"/>
                    </a:cubicBezTo>
                    <a:cubicBezTo>
                      <a:pt x="943" y="262"/>
                      <a:pt x="943" y="262"/>
                      <a:pt x="942" y="262"/>
                    </a:cubicBezTo>
                    <a:cubicBezTo>
                      <a:pt x="941" y="261"/>
                      <a:pt x="940" y="262"/>
                      <a:pt x="941" y="262"/>
                    </a:cubicBezTo>
                    <a:cubicBezTo>
                      <a:pt x="942" y="263"/>
                      <a:pt x="942" y="263"/>
                      <a:pt x="941" y="264"/>
                    </a:cubicBezTo>
                    <a:cubicBezTo>
                      <a:pt x="940" y="264"/>
                      <a:pt x="940" y="265"/>
                      <a:pt x="940" y="264"/>
                    </a:cubicBezTo>
                    <a:cubicBezTo>
                      <a:pt x="939" y="264"/>
                      <a:pt x="939" y="264"/>
                      <a:pt x="939" y="264"/>
                    </a:cubicBezTo>
                    <a:cubicBezTo>
                      <a:pt x="938" y="265"/>
                      <a:pt x="938" y="266"/>
                      <a:pt x="939" y="268"/>
                    </a:cubicBezTo>
                    <a:cubicBezTo>
                      <a:pt x="939" y="269"/>
                      <a:pt x="939" y="272"/>
                      <a:pt x="938" y="273"/>
                    </a:cubicBezTo>
                    <a:cubicBezTo>
                      <a:pt x="937" y="274"/>
                      <a:pt x="934" y="276"/>
                      <a:pt x="933" y="277"/>
                    </a:cubicBezTo>
                    <a:cubicBezTo>
                      <a:pt x="933" y="278"/>
                      <a:pt x="933" y="279"/>
                      <a:pt x="934" y="279"/>
                    </a:cubicBezTo>
                    <a:cubicBezTo>
                      <a:pt x="936" y="278"/>
                      <a:pt x="937" y="278"/>
                      <a:pt x="938" y="279"/>
                    </a:cubicBezTo>
                    <a:cubicBezTo>
                      <a:pt x="939" y="279"/>
                      <a:pt x="939" y="279"/>
                      <a:pt x="940" y="279"/>
                    </a:cubicBezTo>
                    <a:cubicBezTo>
                      <a:pt x="941" y="279"/>
                      <a:pt x="940" y="279"/>
                      <a:pt x="940" y="280"/>
                    </a:cubicBezTo>
                    <a:cubicBezTo>
                      <a:pt x="940" y="280"/>
                      <a:pt x="941" y="280"/>
                      <a:pt x="940" y="281"/>
                    </a:cubicBezTo>
                    <a:cubicBezTo>
                      <a:pt x="939" y="282"/>
                      <a:pt x="938" y="282"/>
                      <a:pt x="939" y="283"/>
                    </a:cubicBezTo>
                    <a:cubicBezTo>
                      <a:pt x="941" y="284"/>
                      <a:pt x="942" y="284"/>
                      <a:pt x="943" y="284"/>
                    </a:cubicBezTo>
                    <a:cubicBezTo>
                      <a:pt x="943" y="284"/>
                      <a:pt x="944" y="284"/>
                      <a:pt x="943" y="285"/>
                    </a:cubicBezTo>
                    <a:cubicBezTo>
                      <a:pt x="941" y="285"/>
                      <a:pt x="939" y="287"/>
                      <a:pt x="940" y="289"/>
                    </a:cubicBezTo>
                    <a:cubicBezTo>
                      <a:pt x="941" y="291"/>
                      <a:pt x="942" y="293"/>
                      <a:pt x="942" y="294"/>
                    </a:cubicBezTo>
                    <a:cubicBezTo>
                      <a:pt x="942" y="295"/>
                      <a:pt x="941" y="296"/>
                      <a:pt x="942" y="296"/>
                    </a:cubicBezTo>
                    <a:cubicBezTo>
                      <a:pt x="943" y="296"/>
                      <a:pt x="945" y="297"/>
                      <a:pt x="945" y="297"/>
                    </a:cubicBezTo>
                    <a:cubicBezTo>
                      <a:pt x="945" y="297"/>
                      <a:pt x="947" y="296"/>
                      <a:pt x="945" y="297"/>
                    </a:cubicBezTo>
                    <a:cubicBezTo>
                      <a:pt x="944" y="298"/>
                      <a:pt x="944" y="299"/>
                      <a:pt x="945" y="299"/>
                    </a:cubicBezTo>
                    <a:cubicBezTo>
                      <a:pt x="946" y="300"/>
                      <a:pt x="946" y="301"/>
                      <a:pt x="945" y="301"/>
                    </a:cubicBezTo>
                    <a:cubicBezTo>
                      <a:pt x="944" y="301"/>
                      <a:pt x="944" y="301"/>
                      <a:pt x="944" y="302"/>
                    </a:cubicBezTo>
                    <a:cubicBezTo>
                      <a:pt x="944" y="302"/>
                      <a:pt x="943" y="302"/>
                      <a:pt x="943" y="303"/>
                    </a:cubicBezTo>
                    <a:cubicBezTo>
                      <a:pt x="944" y="304"/>
                      <a:pt x="944" y="305"/>
                      <a:pt x="944" y="305"/>
                    </a:cubicBezTo>
                    <a:cubicBezTo>
                      <a:pt x="944" y="305"/>
                      <a:pt x="945" y="306"/>
                      <a:pt x="945" y="306"/>
                    </a:cubicBezTo>
                    <a:cubicBezTo>
                      <a:pt x="945" y="306"/>
                      <a:pt x="946" y="306"/>
                      <a:pt x="945" y="306"/>
                    </a:cubicBezTo>
                    <a:cubicBezTo>
                      <a:pt x="944" y="306"/>
                      <a:pt x="944" y="306"/>
                      <a:pt x="943" y="305"/>
                    </a:cubicBezTo>
                    <a:cubicBezTo>
                      <a:pt x="943" y="304"/>
                      <a:pt x="943" y="305"/>
                      <a:pt x="942" y="304"/>
                    </a:cubicBezTo>
                    <a:cubicBezTo>
                      <a:pt x="942" y="304"/>
                      <a:pt x="942" y="303"/>
                      <a:pt x="942" y="304"/>
                    </a:cubicBezTo>
                    <a:cubicBezTo>
                      <a:pt x="941" y="304"/>
                      <a:pt x="941" y="304"/>
                      <a:pt x="940" y="304"/>
                    </a:cubicBezTo>
                    <a:cubicBezTo>
                      <a:pt x="940" y="303"/>
                      <a:pt x="939" y="303"/>
                      <a:pt x="939" y="304"/>
                    </a:cubicBezTo>
                    <a:cubicBezTo>
                      <a:pt x="939" y="305"/>
                      <a:pt x="939" y="305"/>
                      <a:pt x="940" y="305"/>
                    </a:cubicBezTo>
                    <a:cubicBezTo>
                      <a:pt x="940" y="306"/>
                      <a:pt x="940" y="307"/>
                      <a:pt x="939" y="307"/>
                    </a:cubicBezTo>
                    <a:cubicBezTo>
                      <a:pt x="939" y="307"/>
                      <a:pt x="938" y="308"/>
                      <a:pt x="937" y="308"/>
                    </a:cubicBezTo>
                    <a:cubicBezTo>
                      <a:pt x="937" y="309"/>
                      <a:pt x="937" y="309"/>
                      <a:pt x="938" y="309"/>
                    </a:cubicBezTo>
                    <a:cubicBezTo>
                      <a:pt x="939" y="309"/>
                      <a:pt x="939" y="310"/>
                      <a:pt x="940" y="310"/>
                    </a:cubicBezTo>
                    <a:cubicBezTo>
                      <a:pt x="940" y="310"/>
                      <a:pt x="940" y="310"/>
                      <a:pt x="939" y="310"/>
                    </a:cubicBezTo>
                    <a:cubicBezTo>
                      <a:pt x="939" y="311"/>
                      <a:pt x="938" y="312"/>
                      <a:pt x="938" y="312"/>
                    </a:cubicBezTo>
                    <a:cubicBezTo>
                      <a:pt x="938" y="312"/>
                      <a:pt x="937" y="312"/>
                      <a:pt x="937" y="312"/>
                    </a:cubicBezTo>
                    <a:cubicBezTo>
                      <a:pt x="937" y="313"/>
                      <a:pt x="937" y="313"/>
                      <a:pt x="936" y="313"/>
                    </a:cubicBezTo>
                    <a:cubicBezTo>
                      <a:pt x="936" y="314"/>
                      <a:pt x="935" y="313"/>
                      <a:pt x="934" y="314"/>
                    </a:cubicBezTo>
                    <a:cubicBezTo>
                      <a:pt x="934" y="315"/>
                      <a:pt x="934" y="315"/>
                      <a:pt x="933" y="316"/>
                    </a:cubicBezTo>
                    <a:cubicBezTo>
                      <a:pt x="933" y="317"/>
                      <a:pt x="932" y="317"/>
                      <a:pt x="932" y="317"/>
                    </a:cubicBezTo>
                    <a:cubicBezTo>
                      <a:pt x="931" y="318"/>
                      <a:pt x="930" y="319"/>
                      <a:pt x="930" y="320"/>
                    </a:cubicBezTo>
                    <a:cubicBezTo>
                      <a:pt x="930" y="320"/>
                      <a:pt x="930" y="321"/>
                      <a:pt x="930" y="320"/>
                    </a:cubicBezTo>
                    <a:cubicBezTo>
                      <a:pt x="930" y="319"/>
                      <a:pt x="929" y="319"/>
                      <a:pt x="929" y="320"/>
                    </a:cubicBezTo>
                    <a:cubicBezTo>
                      <a:pt x="929" y="321"/>
                      <a:pt x="928" y="320"/>
                      <a:pt x="928" y="320"/>
                    </a:cubicBezTo>
                    <a:cubicBezTo>
                      <a:pt x="928" y="319"/>
                      <a:pt x="927" y="319"/>
                      <a:pt x="927" y="320"/>
                    </a:cubicBezTo>
                    <a:cubicBezTo>
                      <a:pt x="928" y="322"/>
                      <a:pt x="928" y="322"/>
                      <a:pt x="928" y="323"/>
                    </a:cubicBezTo>
                    <a:cubicBezTo>
                      <a:pt x="928" y="324"/>
                      <a:pt x="928" y="325"/>
                      <a:pt x="928" y="326"/>
                    </a:cubicBezTo>
                    <a:cubicBezTo>
                      <a:pt x="929" y="326"/>
                      <a:pt x="928" y="328"/>
                      <a:pt x="929" y="328"/>
                    </a:cubicBezTo>
                    <a:cubicBezTo>
                      <a:pt x="930" y="329"/>
                      <a:pt x="931" y="329"/>
                      <a:pt x="930" y="328"/>
                    </a:cubicBezTo>
                    <a:cubicBezTo>
                      <a:pt x="929" y="327"/>
                      <a:pt x="930" y="327"/>
                      <a:pt x="931" y="328"/>
                    </a:cubicBezTo>
                    <a:cubicBezTo>
                      <a:pt x="932" y="329"/>
                      <a:pt x="931" y="329"/>
                      <a:pt x="932" y="329"/>
                    </a:cubicBezTo>
                    <a:cubicBezTo>
                      <a:pt x="933" y="330"/>
                      <a:pt x="933" y="330"/>
                      <a:pt x="933" y="330"/>
                    </a:cubicBezTo>
                    <a:cubicBezTo>
                      <a:pt x="934" y="331"/>
                      <a:pt x="934" y="330"/>
                      <a:pt x="935" y="331"/>
                    </a:cubicBezTo>
                    <a:cubicBezTo>
                      <a:pt x="936" y="333"/>
                      <a:pt x="935" y="332"/>
                      <a:pt x="936" y="333"/>
                    </a:cubicBezTo>
                    <a:cubicBezTo>
                      <a:pt x="936" y="333"/>
                      <a:pt x="938" y="333"/>
                      <a:pt x="939" y="334"/>
                    </a:cubicBezTo>
                    <a:cubicBezTo>
                      <a:pt x="940" y="334"/>
                      <a:pt x="942" y="334"/>
                      <a:pt x="942" y="335"/>
                    </a:cubicBezTo>
                    <a:cubicBezTo>
                      <a:pt x="942" y="335"/>
                      <a:pt x="943" y="335"/>
                      <a:pt x="944" y="336"/>
                    </a:cubicBezTo>
                    <a:cubicBezTo>
                      <a:pt x="944" y="337"/>
                      <a:pt x="945" y="338"/>
                      <a:pt x="945" y="338"/>
                    </a:cubicBezTo>
                    <a:cubicBezTo>
                      <a:pt x="946" y="339"/>
                      <a:pt x="948" y="339"/>
                      <a:pt x="949" y="341"/>
                    </a:cubicBezTo>
                    <a:cubicBezTo>
                      <a:pt x="950" y="342"/>
                      <a:pt x="951" y="344"/>
                      <a:pt x="952" y="345"/>
                    </a:cubicBezTo>
                    <a:cubicBezTo>
                      <a:pt x="952" y="346"/>
                      <a:pt x="953" y="348"/>
                      <a:pt x="954" y="349"/>
                    </a:cubicBezTo>
                    <a:cubicBezTo>
                      <a:pt x="954" y="350"/>
                      <a:pt x="956" y="354"/>
                      <a:pt x="956" y="355"/>
                    </a:cubicBezTo>
                    <a:cubicBezTo>
                      <a:pt x="957" y="356"/>
                      <a:pt x="957" y="358"/>
                      <a:pt x="957" y="359"/>
                    </a:cubicBezTo>
                    <a:cubicBezTo>
                      <a:pt x="958" y="360"/>
                      <a:pt x="957" y="360"/>
                      <a:pt x="957" y="361"/>
                    </a:cubicBezTo>
                    <a:cubicBezTo>
                      <a:pt x="957" y="362"/>
                      <a:pt x="958" y="366"/>
                      <a:pt x="958" y="367"/>
                    </a:cubicBezTo>
                    <a:cubicBezTo>
                      <a:pt x="958" y="368"/>
                      <a:pt x="957" y="374"/>
                      <a:pt x="958" y="375"/>
                    </a:cubicBezTo>
                    <a:cubicBezTo>
                      <a:pt x="958" y="376"/>
                      <a:pt x="956" y="381"/>
                      <a:pt x="955" y="382"/>
                    </a:cubicBezTo>
                    <a:cubicBezTo>
                      <a:pt x="955" y="383"/>
                      <a:pt x="953" y="384"/>
                      <a:pt x="952" y="385"/>
                    </a:cubicBezTo>
                    <a:cubicBezTo>
                      <a:pt x="951" y="386"/>
                      <a:pt x="950" y="388"/>
                      <a:pt x="949" y="388"/>
                    </a:cubicBezTo>
                    <a:cubicBezTo>
                      <a:pt x="949" y="389"/>
                      <a:pt x="947" y="390"/>
                      <a:pt x="949" y="389"/>
                    </a:cubicBezTo>
                    <a:cubicBezTo>
                      <a:pt x="950" y="389"/>
                      <a:pt x="949" y="390"/>
                      <a:pt x="948" y="391"/>
                    </a:cubicBezTo>
                    <a:cubicBezTo>
                      <a:pt x="946" y="392"/>
                      <a:pt x="944" y="394"/>
                      <a:pt x="944" y="394"/>
                    </a:cubicBezTo>
                    <a:cubicBezTo>
                      <a:pt x="943" y="395"/>
                      <a:pt x="940" y="397"/>
                      <a:pt x="939" y="397"/>
                    </a:cubicBezTo>
                    <a:cubicBezTo>
                      <a:pt x="939" y="398"/>
                      <a:pt x="934" y="400"/>
                      <a:pt x="933" y="401"/>
                    </a:cubicBezTo>
                    <a:cubicBezTo>
                      <a:pt x="931" y="401"/>
                      <a:pt x="911" y="410"/>
                      <a:pt x="911" y="410"/>
                    </a:cubicBezTo>
                    <a:cubicBezTo>
                      <a:pt x="910" y="410"/>
                      <a:pt x="909" y="411"/>
                      <a:pt x="910" y="411"/>
                    </a:cubicBezTo>
                    <a:cubicBezTo>
                      <a:pt x="911" y="411"/>
                      <a:pt x="911" y="412"/>
                      <a:pt x="912" y="411"/>
                    </a:cubicBezTo>
                    <a:cubicBezTo>
                      <a:pt x="913" y="411"/>
                      <a:pt x="912" y="412"/>
                      <a:pt x="913" y="412"/>
                    </a:cubicBezTo>
                    <a:cubicBezTo>
                      <a:pt x="913" y="412"/>
                      <a:pt x="913" y="413"/>
                      <a:pt x="913" y="414"/>
                    </a:cubicBezTo>
                    <a:cubicBezTo>
                      <a:pt x="913" y="414"/>
                      <a:pt x="914" y="416"/>
                      <a:pt x="914" y="417"/>
                    </a:cubicBezTo>
                    <a:cubicBezTo>
                      <a:pt x="914" y="417"/>
                      <a:pt x="915" y="419"/>
                      <a:pt x="915" y="419"/>
                    </a:cubicBezTo>
                    <a:cubicBezTo>
                      <a:pt x="916" y="419"/>
                      <a:pt x="916" y="419"/>
                      <a:pt x="917" y="419"/>
                    </a:cubicBezTo>
                    <a:cubicBezTo>
                      <a:pt x="917" y="420"/>
                      <a:pt x="917" y="421"/>
                      <a:pt x="918" y="421"/>
                    </a:cubicBezTo>
                    <a:cubicBezTo>
                      <a:pt x="919" y="420"/>
                      <a:pt x="921" y="420"/>
                      <a:pt x="918" y="422"/>
                    </a:cubicBezTo>
                    <a:cubicBezTo>
                      <a:pt x="918" y="422"/>
                      <a:pt x="918" y="422"/>
                      <a:pt x="917" y="422"/>
                    </a:cubicBezTo>
                    <a:cubicBezTo>
                      <a:pt x="917" y="422"/>
                      <a:pt x="917" y="423"/>
                      <a:pt x="918" y="423"/>
                    </a:cubicBezTo>
                    <a:cubicBezTo>
                      <a:pt x="919" y="422"/>
                      <a:pt x="919" y="423"/>
                      <a:pt x="919" y="423"/>
                    </a:cubicBezTo>
                    <a:cubicBezTo>
                      <a:pt x="920" y="423"/>
                      <a:pt x="922" y="423"/>
                      <a:pt x="921" y="424"/>
                    </a:cubicBezTo>
                    <a:cubicBezTo>
                      <a:pt x="919" y="424"/>
                      <a:pt x="919" y="425"/>
                      <a:pt x="920" y="425"/>
                    </a:cubicBezTo>
                    <a:cubicBezTo>
                      <a:pt x="921" y="425"/>
                      <a:pt x="921" y="426"/>
                      <a:pt x="920" y="426"/>
                    </a:cubicBezTo>
                    <a:cubicBezTo>
                      <a:pt x="920" y="426"/>
                      <a:pt x="919" y="426"/>
                      <a:pt x="921" y="427"/>
                    </a:cubicBezTo>
                    <a:cubicBezTo>
                      <a:pt x="923" y="428"/>
                      <a:pt x="922" y="428"/>
                      <a:pt x="921" y="428"/>
                    </a:cubicBezTo>
                    <a:cubicBezTo>
                      <a:pt x="920" y="428"/>
                      <a:pt x="920" y="428"/>
                      <a:pt x="919" y="429"/>
                    </a:cubicBezTo>
                    <a:cubicBezTo>
                      <a:pt x="919" y="430"/>
                      <a:pt x="918" y="430"/>
                      <a:pt x="919" y="430"/>
                    </a:cubicBezTo>
                    <a:cubicBezTo>
                      <a:pt x="920" y="430"/>
                      <a:pt x="921" y="430"/>
                      <a:pt x="921" y="431"/>
                    </a:cubicBezTo>
                    <a:cubicBezTo>
                      <a:pt x="921" y="432"/>
                      <a:pt x="921" y="432"/>
                      <a:pt x="921" y="432"/>
                    </a:cubicBezTo>
                    <a:cubicBezTo>
                      <a:pt x="922" y="433"/>
                      <a:pt x="923" y="433"/>
                      <a:pt x="922" y="433"/>
                    </a:cubicBezTo>
                    <a:cubicBezTo>
                      <a:pt x="921" y="433"/>
                      <a:pt x="920" y="434"/>
                      <a:pt x="920" y="434"/>
                    </a:cubicBezTo>
                    <a:cubicBezTo>
                      <a:pt x="920" y="434"/>
                      <a:pt x="919" y="435"/>
                      <a:pt x="920" y="435"/>
                    </a:cubicBezTo>
                    <a:cubicBezTo>
                      <a:pt x="921" y="435"/>
                      <a:pt x="921" y="436"/>
                      <a:pt x="922" y="437"/>
                    </a:cubicBezTo>
                    <a:cubicBezTo>
                      <a:pt x="922" y="438"/>
                      <a:pt x="922" y="438"/>
                      <a:pt x="922" y="439"/>
                    </a:cubicBezTo>
                    <a:cubicBezTo>
                      <a:pt x="922" y="439"/>
                      <a:pt x="922" y="441"/>
                      <a:pt x="922" y="442"/>
                    </a:cubicBezTo>
                    <a:cubicBezTo>
                      <a:pt x="922" y="443"/>
                      <a:pt x="921" y="444"/>
                      <a:pt x="922" y="445"/>
                    </a:cubicBezTo>
                    <a:cubicBezTo>
                      <a:pt x="923" y="445"/>
                      <a:pt x="924" y="444"/>
                      <a:pt x="924" y="445"/>
                    </a:cubicBezTo>
                    <a:cubicBezTo>
                      <a:pt x="924" y="446"/>
                      <a:pt x="924" y="447"/>
                      <a:pt x="925" y="447"/>
                    </a:cubicBezTo>
                    <a:cubicBezTo>
                      <a:pt x="925" y="447"/>
                      <a:pt x="925" y="447"/>
                      <a:pt x="925" y="448"/>
                    </a:cubicBezTo>
                    <a:cubicBezTo>
                      <a:pt x="925" y="450"/>
                      <a:pt x="925" y="454"/>
                      <a:pt x="926" y="454"/>
                    </a:cubicBezTo>
                    <a:cubicBezTo>
                      <a:pt x="927" y="454"/>
                      <a:pt x="927" y="453"/>
                      <a:pt x="928" y="456"/>
                    </a:cubicBezTo>
                    <a:cubicBezTo>
                      <a:pt x="929" y="459"/>
                      <a:pt x="928" y="458"/>
                      <a:pt x="929" y="459"/>
                    </a:cubicBezTo>
                    <a:cubicBezTo>
                      <a:pt x="929" y="459"/>
                      <a:pt x="930" y="459"/>
                      <a:pt x="929" y="460"/>
                    </a:cubicBezTo>
                    <a:cubicBezTo>
                      <a:pt x="928" y="461"/>
                      <a:pt x="923" y="468"/>
                      <a:pt x="922" y="469"/>
                    </a:cubicBezTo>
                    <a:cubicBezTo>
                      <a:pt x="921" y="470"/>
                      <a:pt x="921" y="470"/>
                      <a:pt x="921" y="470"/>
                    </a:cubicBezTo>
                    <a:cubicBezTo>
                      <a:pt x="922" y="471"/>
                      <a:pt x="921" y="471"/>
                      <a:pt x="922" y="471"/>
                    </a:cubicBezTo>
                    <a:cubicBezTo>
                      <a:pt x="923" y="472"/>
                      <a:pt x="924" y="472"/>
                      <a:pt x="924" y="473"/>
                    </a:cubicBezTo>
                    <a:cubicBezTo>
                      <a:pt x="924" y="473"/>
                      <a:pt x="922" y="474"/>
                      <a:pt x="924" y="474"/>
                    </a:cubicBezTo>
                    <a:cubicBezTo>
                      <a:pt x="925" y="474"/>
                      <a:pt x="926" y="474"/>
                      <a:pt x="925" y="475"/>
                    </a:cubicBezTo>
                    <a:cubicBezTo>
                      <a:pt x="923" y="477"/>
                      <a:pt x="923" y="476"/>
                      <a:pt x="923" y="477"/>
                    </a:cubicBezTo>
                    <a:cubicBezTo>
                      <a:pt x="923" y="477"/>
                      <a:pt x="923" y="477"/>
                      <a:pt x="923" y="478"/>
                    </a:cubicBezTo>
                    <a:cubicBezTo>
                      <a:pt x="922" y="479"/>
                      <a:pt x="922" y="479"/>
                      <a:pt x="922" y="479"/>
                    </a:cubicBezTo>
                    <a:cubicBezTo>
                      <a:pt x="922" y="479"/>
                      <a:pt x="922" y="479"/>
                      <a:pt x="921" y="478"/>
                    </a:cubicBezTo>
                    <a:cubicBezTo>
                      <a:pt x="921" y="476"/>
                      <a:pt x="921" y="476"/>
                      <a:pt x="920" y="475"/>
                    </a:cubicBezTo>
                    <a:cubicBezTo>
                      <a:pt x="919" y="474"/>
                      <a:pt x="918" y="473"/>
                      <a:pt x="917" y="473"/>
                    </a:cubicBezTo>
                    <a:cubicBezTo>
                      <a:pt x="917" y="472"/>
                      <a:pt x="917" y="472"/>
                      <a:pt x="917" y="472"/>
                    </a:cubicBezTo>
                    <a:cubicBezTo>
                      <a:pt x="916" y="473"/>
                      <a:pt x="912" y="476"/>
                      <a:pt x="911" y="476"/>
                    </a:cubicBezTo>
                    <a:cubicBezTo>
                      <a:pt x="910" y="476"/>
                      <a:pt x="910" y="477"/>
                      <a:pt x="910" y="477"/>
                    </a:cubicBezTo>
                    <a:cubicBezTo>
                      <a:pt x="911" y="478"/>
                      <a:pt x="911" y="480"/>
                      <a:pt x="910" y="480"/>
                    </a:cubicBezTo>
                    <a:cubicBezTo>
                      <a:pt x="910" y="481"/>
                      <a:pt x="910" y="481"/>
                      <a:pt x="910" y="481"/>
                    </a:cubicBezTo>
                    <a:cubicBezTo>
                      <a:pt x="911" y="482"/>
                      <a:pt x="913" y="484"/>
                      <a:pt x="913" y="485"/>
                    </a:cubicBezTo>
                    <a:cubicBezTo>
                      <a:pt x="914" y="486"/>
                      <a:pt x="917" y="490"/>
                      <a:pt x="912" y="485"/>
                    </a:cubicBezTo>
                    <a:cubicBezTo>
                      <a:pt x="912" y="485"/>
                      <a:pt x="909" y="481"/>
                      <a:pt x="908" y="481"/>
                    </a:cubicBezTo>
                    <a:cubicBezTo>
                      <a:pt x="907" y="481"/>
                      <a:pt x="907" y="480"/>
                      <a:pt x="906" y="480"/>
                    </a:cubicBezTo>
                    <a:cubicBezTo>
                      <a:pt x="906" y="479"/>
                      <a:pt x="906" y="479"/>
                      <a:pt x="905" y="479"/>
                    </a:cubicBezTo>
                    <a:cubicBezTo>
                      <a:pt x="904" y="479"/>
                      <a:pt x="904" y="478"/>
                      <a:pt x="903" y="478"/>
                    </a:cubicBezTo>
                    <a:cubicBezTo>
                      <a:pt x="902" y="478"/>
                      <a:pt x="901" y="478"/>
                      <a:pt x="901" y="478"/>
                    </a:cubicBezTo>
                    <a:cubicBezTo>
                      <a:pt x="900" y="478"/>
                      <a:pt x="899" y="478"/>
                      <a:pt x="898" y="479"/>
                    </a:cubicBezTo>
                    <a:cubicBezTo>
                      <a:pt x="898" y="479"/>
                      <a:pt x="896" y="481"/>
                      <a:pt x="896" y="481"/>
                    </a:cubicBezTo>
                    <a:cubicBezTo>
                      <a:pt x="895" y="481"/>
                      <a:pt x="893" y="482"/>
                      <a:pt x="893" y="482"/>
                    </a:cubicBezTo>
                    <a:cubicBezTo>
                      <a:pt x="893" y="483"/>
                      <a:pt x="892" y="485"/>
                      <a:pt x="892" y="483"/>
                    </a:cubicBezTo>
                    <a:cubicBezTo>
                      <a:pt x="892" y="482"/>
                      <a:pt x="892" y="482"/>
                      <a:pt x="893" y="481"/>
                    </a:cubicBezTo>
                    <a:cubicBezTo>
                      <a:pt x="894" y="481"/>
                      <a:pt x="895" y="481"/>
                      <a:pt x="895" y="480"/>
                    </a:cubicBezTo>
                    <a:cubicBezTo>
                      <a:pt x="896" y="479"/>
                      <a:pt x="897" y="478"/>
                      <a:pt x="898" y="478"/>
                    </a:cubicBezTo>
                    <a:cubicBezTo>
                      <a:pt x="899" y="477"/>
                      <a:pt x="900" y="477"/>
                      <a:pt x="899" y="476"/>
                    </a:cubicBezTo>
                    <a:cubicBezTo>
                      <a:pt x="899" y="475"/>
                      <a:pt x="898" y="473"/>
                      <a:pt x="898" y="472"/>
                    </a:cubicBezTo>
                    <a:cubicBezTo>
                      <a:pt x="897" y="472"/>
                      <a:pt x="895" y="468"/>
                      <a:pt x="894" y="467"/>
                    </a:cubicBezTo>
                    <a:cubicBezTo>
                      <a:pt x="893" y="467"/>
                      <a:pt x="892" y="466"/>
                      <a:pt x="892" y="465"/>
                    </a:cubicBezTo>
                    <a:cubicBezTo>
                      <a:pt x="891" y="464"/>
                      <a:pt x="890" y="464"/>
                      <a:pt x="890" y="464"/>
                    </a:cubicBezTo>
                    <a:cubicBezTo>
                      <a:pt x="889" y="463"/>
                      <a:pt x="889" y="464"/>
                      <a:pt x="889" y="463"/>
                    </a:cubicBezTo>
                    <a:cubicBezTo>
                      <a:pt x="888" y="463"/>
                      <a:pt x="887" y="462"/>
                      <a:pt x="886" y="462"/>
                    </a:cubicBezTo>
                    <a:cubicBezTo>
                      <a:pt x="885" y="462"/>
                      <a:pt x="885" y="462"/>
                      <a:pt x="885" y="461"/>
                    </a:cubicBezTo>
                    <a:cubicBezTo>
                      <a:pt x="885" y="461"/>
                      <a:pt x="884" y="460"/>
                      <a:pt x="883" y="460"/>
                    </a:cubicBezTo>
                    <a:cubicBezTo>
                      <a:pt x="881" y="460"/>
                      <a:pt x="881" y="460"/>
                      <a:pt x="881" y="460"/>
                    </a:cubicBezTo>
                    <a:cubicBezTo>
                      <a:pt x="880" y="460"/>
                      <a:pt x="880" y="460"/>
                      <a:pt x="879" y="460"/>
                    </a:cubicBezTo>
                    <a:cubicBezTo>
                      <a:pt x="879" y="461"/>
                      <a:pt x="878" y="460"/>
                      <a:pt x="880" y="459"/>
                    </a:cubicBezTo>
                    <a:cubicBezTo>
                      <a:pt x="881" y="458"/>
                      <a:pt x="882" y="458"/>
                      <a:pt x="883" y="458"/>
                    </a:cubicBezTo>
                    <a:cubicBezTo>
                      <a:pt x="883" y="458"/>
                      <a:pt x="884" y="458"/>
                      <a:pt x="883" y="457"/>
                    </a:cubicBezTo>
                    <a:cubicBezTo>
                      <a:pt x="882" y="456"/>
                      <a:pt x="882" y="455"/>
                      <a:pt x="881" y="455"/>
                    </a:cubicBezTo>
                    <a:cubicBezTo>
                      <a:pt x="881" y="454"/>
                      <a:pt x="880" y="453"/>
                      <a:pt x="880" y="453"/>
                    </a:cubicBezTo>
                    <a:cubicBezTo>
                      <a:pt x="879" y="452"/>
                      <a:pt x="879" y="452"/>
                      <a:pt x="878" y="451"/>
                    </a:cubicBezTo>
                    <a:cubicBezTo>
                      <a:pt x="877" y="451"/>
                      <a:pt x="877" y="450"/>
                      <a:pt x="876" y="449"/>
                    </a:cubicBezTo>
                    <a:cubicBezTo>
                      <a:pt x="876" y="447"/>
                      <a:pt x="874" y="447"/>
                      <a:pt x="873" y="446"/>
                    </a:cubicBezTo>
                    <a:cubicBezTo>
                      <a:pt x="873" y="446"/>
                      <a:pt x="872" y="446"/>
                      <a:pt x="872" y="443"/>
                    </a:cubicBezTo>
                    <a:cubicBezTo>
                      <a:pt x="873" y="441"/>
                      <a:pt x="873" y="441"/>
                      <a:pt x="874" y="440"/>
                    </a:cubicBezTo>
                    <a:cubicBezTo>
                      <a:pt x="874" y="439"/>
                      <a:pt x="875" y="439"/>
                      <a:pt x="874" y="437"/>
                    </a:cubicBezTo>
                    <a:cubicBezTo>
                      <a:pt x="874" y="436"/>
                      <a:pt x="872" y="423"/>
                      <a:pt x="872" y="423"/>
                    </a:cubicBezTo>
                    <a:cubicBezTo>
                      <a:pt x="872" y="423"/>
                      <a:pt x="872" y="421"/>
                      <a:pt x="871" y="422"/>
                    </a:cubicBezTo>
                    <a:cubicBezTo>
                      <a:pt x="871" y="422"/>
                      <a:pt x="870" y="421"/>
                      <a:pt x="870" y="421"/>
                    </a:cubicBezTo>
                    <a:cubicBezTo>
                      <a:pt x="870" y="420"/>
                      <a:pt x="870" y="419"/>
                      <a:pt x="870" y="419"/>
                    </a:cubicBezTo>
                    <a:cubicBezTo>
                      <a:pt x="870" y="418"/>
                      <a:pt x="872" y="411"/>
                      <a:pt x="872" y="410"/>
                    </a:cubicBezTo>
                    <a:cubicBezTo>
                      <a:pt x="872" y="409"/>
                      <a:pt x="873" y="407"/>
                      <a:pt x="873" y="404"/>
                    </a:cubicBezTo>
                    <a:cubicBezTo>
                      <a:pt x="873" y="402"/>
                      <a:pt x="873" y="401"/>
                      <a:pt x="872" y="401"/>
                    </a:cubicBezTo>
                    <a:cubicBezTo>
                      <a:pt x="871" y="401"/>
                      <a:pt x="865" y="401"/>
                      <a:pt x="864" y="401"/>
                    </a:cubicBezTo>
                    <a:cubicBezTo>
                      <a:pt x="863" y="400"/>
                      <a:pt x="863" y="400"/>
                      <a:pt x="863" y="401"/>
                    </a:cubicBezTo>
                    <a:cubicBezTo>
                      <a:pt x="862" y="401"/>
                      <a:pt x="862" y="401"/>
                      <a:pt x="862" y="400"/>
                    </a:cubicBezTo>
                    <a:cubicBezTo>
                      <a:pt x="862" y="399"/>
                      <a:pt x="862" y="399"/>
                      <a:pt x="861" y="399"/>
                    </a:cubicBezTo>
                    <a:cubicBezTo>
                      <a:pt x="860" y="399"/>
                      <a:pt x="856" y="399"/>
                      <a:pt x="855" y="399"/>
                    </a:cubicBezTo>
                    <a:cubicBezTo>
                      <a:pt x="855" y="399"/>
                      <a:pt x="855" y="399"/>
                      <a:pt x="854" y="399"/>
                    </a:cubicBezTo>
                    <a:cubicBezTo>
                      <a:pt x="853" y="398"/>
                      <a:pt x="851" y="397"/>
                      <a:pt x="851" y="398"/>
                    </a:cubicBezTo>
                    <a:cubicBezTo>
                      <a:pt x="852" y="399"/>
                      <a:pt x="853" y="399"/>
                      <a:pt x="853" y="400"/>
                    </a:cubicBezTo>
                    <a:cubicBezTo>
                      <a:pt x="853" y="400"/>
                      <a:pt x="854" y="401"/>
                      <a:pt x="853" y="401"/>
                    </a:cubicBezTo>
                    <a:cubicBezTo>
                      <a:pt x="852" y="400"/>
                      <a:pt x="845" y="398"/>
                      <a:pt x="844" y="398"/>
                    </a:cubicBezTo>
                    <a:cubicBezTo>
                      <a:pt x="843" y="398"/>
                      <a:pt x="842" y="397"/>
                      <a:pt x="841" y="398"/>
                    </a:cubicBezTo>
                    <a:cubicBezTo>
                      <a:pt x="840" y="398"/>
                      <a:pt x="838" y="399"/>
                      <a:pt x="836" y="399"/>
                    </a:cubicBezTo>
                    <a:cubicBezTo>
                      <a:pt x="835" y="398"/>
                      <a:pt x="831" y="397"/>
                      <a:pt x="830" y="398"/>
                    </a:cubicBezTo>
                    <a:cubicBezTo>
                      <a:pt x="829" y="399"/>
                      <a:pt x="828" y="400"/>
                      <a:pt x="828" y="400"/>
                    </a:cubicBezTo>
                    <a:cubicBezTo>
                      <a:pt x="827" y="401"/>
                      <a:pt x="827" y="401"/>
                      <a:pt x="827" y="402"/>
                    </a:cubicBezTo>
                    <a:cubicBezTo>
                      <a:pt x="826" y="403"/>
                      <a:pt x="825" y="405"/>
                      <a:pt x="825" y="403"/>
                    </a:cubicBezTo>
                    <a:cubicBezTo>
                      <a:pt x="825" y="401"/>
                      <a:pt x="827" y="401"/>
                      <a:pt x="827" y="400"/>
                    </a:cubicBezTo>
                    <a:cubicBezTo>
                      <a:pt x="828" y="399"/>
                      <a:pt x="828" y="398"/>
                      <a:pt x="829" y="398"/>
                    </a:cubicBezTo>
                    <a:cubicBezTo>
                      <a:pt x="829" y="398"/>
                      <a:pt x="831" y="397"/>
                      <a:pt x="829" y="396"/>
                    </a:cubicBezTo>
                    <a:cubicBezTo>
                      <a:pt x="827" y="396"/>
                      <a:pt x="804" y="385"/>
                      <a:pt x="804" y="385"/>
                    </a:cubicBezTo>
                    <a:cubicBezTo>
                      <a:pt x="804" y="385"/>
                      <a:pt x="804" y="385"/>
                      <a:pt x="803" y="385"/>
                    </a:cubicBezTo>
                    <a:cubicBezTo>
                      <a:pt x="802" y="385"/>
                      <a:pt x="801" y="384"/>
                      <a:pt x="801" y="384"/>
                    </a:cubicBezTo>
                    <a:cubicBezTo>
                      <a:pt x="800" y="385"/>
                      <a:pt x="799" y="384"/>
                      <a:pt x="798" y="384"/>
                    </a:cubicBezTo>
                    <a:cubicBezTo>
                      <a:pt x="798" y="384"/>
                      <a:pt x="797" y="383"/>
                      <a:pt x="797" y="384"/>
                    </a:cubicBezTo>
                    <a:cubicBezTo>
                      <a:pt x="796" y="384"/>
                      <a:pt x="795" y="383"/>
                      <a:pt x="795" y="383"/>
                    </a:cubicBezTo>
                    <a:cubicBezTo>
                      <a:pt x="794" y="383"/>
                      <a:pt x="793" y="382"/>
                      <a:pt x="793" y="382"/>
                    </a:cubicBezTo>
                    <a:cubicBezTo>
                      <a:pt x="793" y="383"/>
                      <a:pt x="793" y="383"/>
                      <a:pt x="792" y="382"/>
                    </a:cubicBezTo>
                    <a:cubicBezTo>
                      <a:pt x="792" y="380"/>
                      <a:pt x="791" y="377"/>
                      <a:pt x="789" y="376"/>
                    </a:cubicBezTo>
                    <a:cubicBezTo>
                      <a:pt x="788" y="375"/>
                      <a:pt x="788" y="374"/>
                      <a:pt x="787" y="373"/>
                    </a:cubicBezTo>
                    <a:cubicBezTo>
                      <a:pt x="786" y="373"/>
                      <a:pt x="774" y="366"/>
                      <a:pt x="771" y="365"/>
                    </a:cubicBezTo>
                    <a:cubicBezTo>
                      <a:pt x="769" y="364"/>
                      <a:pt x="758" y="362"/>
                      <a:pt x="757" y="361"/>
                    </a:cubicBezTo>
                    <a:cubicBezTo>
                      <a:pt x="756" y="361"/>
                      <a:pt x="749" y="358"/>
                      <a:pt x="747" y="357"/>
                    </a:cubicBezTo>
                    <a:cubicBezTo>
                      <a:pt x="745" y="357"/>
                      <a:pt x="741" y="356"/>
                      <a:pt x="738" y="357"/>
                    </a:cubicBezTo>
                    <a:cubicBezTo>
                      <a:pt x="736" y="358"/>
                      <a:pt x="724" y="363"/>
                      <a:pt x="722" y="363"/>
                    </a:cubicBezTo>
                    <a:cubicBezTo>
                      <a:pt x="721" y="363"/>
                      <a:pt x="721" y="363"/>
                      <a:pt x="722" y="362"/>
                    </a:cubicBezTo>
                    <a:cubicBezTo>
                      <a:pt x="724" y="360"/>
                      <a:pt x="724" y="360"/>
                      <a:pt x="723" y="361"/>
                    </a:cubicBezTo>
                    <a:cubicBezTo>
                      <a:pt x="721" y="361"/>
                      <a:pt x="718" y="363"/>
                      <a:pt x="717" y="363"/>
                    </a:cubicBezTo>
                    <a:cubicBezTo>
                      <a:pt x="716" y="363"/>
                      <a:pt x="717" y="363"/>
                      <a:pt x="719" y="361"/>
                    </a:cubicBezTo>
                    <a:cubicBezTo>
                      <a:pt x="721" y="359"/>
                      <a:pt x="722" y="356"/>
                      <a:pt x="720" y="351"/>
                    </a:cubicBezTo>
                    <a:cubicBezTo>
                      <a:pt x="718" y="347"/>
                      <a:pt x="718" y="346"/>
                      <a:pt x="717" y="346"/>
                    </a:cubicBezTo>
                    <a:cubicBezTo>
                      <a:pt x="717" y="345"/>
                      <a:pt x="716" y="344"/>
                      <a:pt x="716" y="343"/>
                    </a:cubicBezTo>
                    <a:cubicBezTo>
                      <a:pt x="717" y="342"/>
                      <a:pt x="716" y="340"/>
                      <a:pt x="715" y="338"/>
                    </a:cubicBezTo>
                    <a:cubicBezTo>
                      <a:pt x="715" y="337"/>
                      <a:pt x="712" y="334"/>
                      <a:pt x="712" y="331"/>
                    </a:cubicBezTo>
                    <a:cubicBezTo>
                      <a:pt x="711" y="327"/>
                      <a:pt x="710" y="324"/>
                      <a:pt x="709" y="324"/>
                    </a:cubicBezTo>
                    <a:cubicBezTo>
                      <a:pt x="709" y="324"/>
                      <a:pt x="703" y="324"/>
                      <a:pt x="700" y="324"/>
                    </a:cubicBezTo>
                    <a:cubicBezTo>
                      <a:pt x="697" y="324"/>
                      <a:pt x="697" y="324"/>
                      <a:pt x="696" y="324"/>
                    </a:cubicBezTo>
                    <a:cubicBezTo>
                      <a:pt x="696" y="324"/>
                      <a:pt x="696" y="323"/>
                      <a:pt x="696" y="325"/>
                    </a:cubicBezTo>
                    <a:cubicBezTo>
                      <a:pt x="696" y="326"/>
                      <a:pt x="694" y="327"/>
                      <a:pt x="695" y="329"/>
                    </a:cubicBezTo>
                    <a:cubicBezTo>
                      <a:pt x="695" y="330"/>
                      <a:pt x="694" y="334"/>
                      <a:pt x="693" y="335"/>
                    </a:cubicBezTo>
                    <a:cubicBezTo>
                      <a:pt x="693" y="335"/>
                      <a:pt x="693" y="336"/>
                      <a:pt x="693" y="332"/>
                    </a:cubicBezTo>
                    <a:cubicBezTo>
                      <a:pt x="693" y="329"/>
                      <a:pt x="693" y="328"/>
                      <a:pt x="694" y="327"/>
                    </a:cubicBezTo>
                    <a:cubicBezTo>
                      <a:pt x="695" y="326"/>
                      <a:pt x="695" y="324"/>
                      <a:pt x="695" y="324"/>
                    </a:cubicBezTo>
                    <a:cubicBezTo>
                      <a:pt x="695" y="323"/>
                      <a:pt x="695" y="323"/>
                      <a:pt x="694" y="324"/>
                    </a:cubicBezTo>
                    <a:cubicBezTo>
                      <a:pt x="694" y="324"/>
                      <a:pt x="690" y="323"/>
                      <a:pt x="689" y="323"/>
                    </a:cubicBezTo>
                    <a:cubicBezTo>
                      <a:pt x="688" y="323"/>
                      <a:pt x="685" y="320"/>
                      <a:pt x="684" y="318"/>
                    </a:cubicBezTo>
                    <a:cubicBezTo>
                      <a:pt x="683" y="317"/>
                      <a:pt x="684" y="317"/>
                      <a:pt x="685" y="317"/>
                    </a:cubicBezTo>
                    <a:cubicBezTo>
                      <a:pt x="687" y="317"/>
                      <a:pt x="687" y="316"/>
                      <a:pt x="687" y="315"/>
                    </a:cubicBezTo>
                    <a:cubicBezTo>
                      <a:pt x="686" y="313"/>
                      <a:pt x="687" y="313"/>
                      <a:pt x="687" y="312"/>
                    </a:cubicBezTo>
                    <a:cubicBezTo>
                      <a:pt x="687" y="312"/>
                      <a:pt x="687" y="309"/>
                      <a:pt x="687" y="308"/>
                    </a:cubicBezTo>
                    <a:cubicBezTo>
                      <a:pt x="686" y="306"/>
                      <a:pt x="686" y="304"/>
                      <a:pt x="686" y="302"/>
                    </a:cubicBezTo>
                    <a:cubicBezTo>
                      <a:pt x="686" y="301"/>
                      <a:pt x="686" y="298"/>
                      <a:pt x="686" y="297"/>
                    </a:cubicBezTo>
                    <a:cubicBezTo>
                      <a:pt x="686" y="296"/>
                      <a:pt x="686" y="297"/>
                      <a:pt x="687" y="295"/>
                    </a:cubicBezTo>
                    <a:cubicBezTo>
                      <a:pt x="687" y="294"/>
                      <a:pt x="689" y="288"/>
                      <a:pt x="689" y="287"/>
                    </a:cubicBezTo>
                    <a:cubicBezTo>
                      <a:pt x="688" y="286"/>
                      <a:pt x="685" y="286"/>
                      <a:pt x="687" y="285"/>
                    </a:cubicBezTo>
                    <a:cubicBezTo>
                      <a:pt x="688" y="285"/>
                      <a:pt x="689" y="285"/>
                      <a:pt x="689" y="284"/>
                    </a:cubicBezTo>
                    <a:cubicBezTo>
                      <a:pt x="690" y="283"/>
                      <a:pt x="691" y="282"/>
                      <a:pt x="691" y="280"/>
                    </a:cubicBezTo>
                    <a:cubicBezTo>
                      <a:pt x="692" y="278"/>
                      <a:pt x="693" y="278"/>
                      <a:pt x="694" y="276"/>
                    </a:cubicBezTo>
                    <a:cubicBezTo>
                      <a:pt x="695" y="275"/>
                      <a:pt x="695" y="274"/>
                      <a:pt x="696" y="273"/>
                    </a:cubicBezTo>
                    <a:cubicBezTo>
                      <a:pt x="697" y="273"/>
                      <a:pt x="698" y="273"/>
                      <a:pt x="698" y="272"/>
                    </a:cubicBezTo>
                    <a:cubicBezTo>
                      <a:pt x="697" y="271"/>
                      <a:pt x="697" y="271"/>
                      <a:pt x="697" y="270"/>
                    </a:cubicBezTo>
                    <a:cubicBezTo>
                      <a:pt x="698" y="269"/>
                      <a:pt x="698" y="268"/>
                      <a:pt x="697" y="268"/>
                    </a:cubicBezTo>
                    <a:cubicBezTo>
                      <a:pt x="697" y="267"/>
                      <a:pt x="696" y="267"/>
                      <a:pt x="698" y="267"/>
                    </a:cubicBezTo>
                    <a:cubicBezTo>
                      <a:pt x="699" y="268"/>
                      <a:pt x="701" y="267"/>
                      <a:pt x="700" y="266"/>
                    </a:cubicBezTo>
                    <a:cubicBezTo>
                      <a:pt x="700" y="265"/>
                      <a:pt x="698" y="265"/>
                      <a:pt x="699" y="264"/>
                    </a:cubicBezTo>
                    <a:cubicBezTo>
                      <a:pt x="700" y="262"/>
                      <a:pt x="700" y="261"/>
                      <a:pt x="701" y="262"/>
                    </a:cubicBezTo>
                    <a:cubicBezTo>
                      <a:pt x="702" y="262"/>
                      <a:pt x="702" y="261"/>
                      <a:pt x="702" y="261"/>
                    </a:cubicBezTo>
                    <a:cubicBezTo>
                      <a:pt x="703" y="260"/>
                      <a:pt x="705" y="259"/>
                      <a:pt x="706" y="259"/>
                    </a:cubicBezTo>
                    <a:cubicBezTo>
                      <a:pt x="707" y="258"/>
                      <a:pt x="708" y="258"/>
                      <a:pt x="707" y="258"/>
                    </a:cubicBezTo>
                    <a:cubicBezTo>
                      <a:pt x="706" y="257"/>
                      <a:pt x="706" y="257"/>
                      <a:pt x="708" y="257"/>
                    </a:cubicBezTo>
                    <a:cubicBezTo>
                      <a:pt x="710" y="257"/>
                      <a:pt x="709" y="257"/>
                      <a:pt x="709" y="257"/>
                    </a:cubicBezTo>
                    <a:cubicBezTo>
                      <a:pt x="709" y="256"/>
                      <a:pt x="709" y="256"/>
                      <a:pt x="708" y="256"/>
                    </a:cubicBezTo>
                    <a:cubicBezTo>
                      <a:pt x="708" y="257"/>
                      <a:pt x="707" y="256"/>
                      <a:pt x="707" y="256"/>
                    </a:cubicBezTo>
                    <a:cubicBezTo>
                      <a:pt x="707" y="256"/>
                      <a:pt x="707" y="255"/>
                      <a:pt x="706" y="255"/>
                    </a:cubicBezTo>
                    <a:cubicBezTo>
                      <a:pt x="705" y="255"/>
                      <a:pt x="705" y="255"/>
                      <a:pt x="705" y="255"/>
                    </a:cubicBezTo>
                    <a:cubicBezTo>
                      <a:pt x="705" y="254"/>
                      <a:pt x="705" y="253"/>
                      <a:pt x="705" y="253"/>
                    </a:cubicBezTo>
                    <a:cubicBezTo>
                      <a:pt x="704" y="253"/>
                      <a:pt x="703" y="252"/>
                      <a:pt x="706" y="253"/>
                    </a:cubicBezTo>
                    <a:cubicBezTo>
                      <a:pt x="708" y="254"/>
                      <a:pt x="709" y="254"/>
                      <a:pt x="708" y="253"/>
                    </a:cubicBezTo>
                    <a:cubicBezTo>
                      <a:pt x="707" y="253"/>
                      <a:pt x="707" y="253"/>
                      <a:pt x="708" y="253"/>
                    </a:cubicBezTo>
                    <a:cubicBezTo>
                      <a:pt x="709" y="253"/>
                      <a:pt x="710" y="253"/>
                      <a:pt x="709" y="252"/>
                    </a:cubicBezTo>
                    <a:cubicBezTo>
                      <a:pt x="708" y="251"/>
                      <a:pt x="706" y="251"/>
                      <a:pt x="708" y="251"/>
                    </a:cubicBezTo>
                    <a:cubicBezTo>
                      <a:pt x="709" y="251"/>
                      <a:pt x="709" y="252"/>
                      <a:pt x="710" y="251"/>
                    </a:cubicBezTo>
                    <a:cubicBezTo>
                      <a:pt x="711" y="250"/>
                      <a:pt x="712" y="250"/>
                      <a:pt x="713" y="250"/>
                    </a:cubicBezTo>
                    <a:cubicBezTo>
                      <a:pt x="713" y="249"/>
                      <a:pt x="714" y="249"/>
                      <a:pt x="713" y="249"/>
                    </a:cubicBezTo>
                    <a:cubicBezTo>
                      <a:pt x="712" y="248"/>
                      <a:pt x="711" y="247"/>
                      <a:pt x="714" y="247"/>
                    </a:cubicBezTo>
                    <a:cubicBezTo>
                      <a:pt x="716" y="247"/>
                      <a:pt x="717" y="247"/>
                      <a:pt x="715" y="246"/>
                    </a:cubicBezTo>
                    <a:cubicBezTo>
                      <a:pt x="713" y="245"/>
                      <a:pt x="713" y="245"/>
                      <a:pt x="712" y="244"/>
                    </a:cubicBezTo>
                    <a:cubicBezTo>
                      <a:pt x="711" y="244"/>
                      <a:pt x="709" y="243"/>
                      <a:pt x="713" y="244"/>
                    </a:cubicBezTo>
                    <a:cubicBezTo>
                      <a:pt x="717" y="245"/>
                      <a:pt x="718" y="246"/>
                      <a:pt x="718" y="246"/>
                    </a:cubicBezTo>
                    <a:cubicBezTo>
                      <a:pt x="719" y="247"/>
                      <a:pt x="719" y="248"/>
                      <a:pt x="720" y="248"/>
                    </a:cubicBezTo>
                    <a:cubicBezTo>
                      <a:pt x="721" y="248"/>
                      <a:pt x="720" y="248"/>
                      <a:pt x="720" y="247"/>
                    </a:cubicBezTo>
                    <a:cubicBezTo>
                      <a:pt x="719" y="247"/>
                      <a:pt x="719" y="247"/>
                      <a:pt x="719" y="245"/>
                    </a:cubicBezTo>
                    <a:cubicBezTo>
                      <a:pt x="719" y="244"/>
                      <a:pt x="719" y="244"/>
                      <a:pt x="718" y="243"/>
                    </a:cubicBezTo>
                    <a:cubicBezTo>
                      <a:pt x="717" y="243"/>
                      <a:pt x="715" y="243"/>
                      <a:pt x="717" y="242"/>
                    </a:cubicBezTo>
                    <a:cubicBezTo>
                      <a:pt x="718" y="241"/>
                      <a:pt x="718" y="241"/>
                      <a:pt x="719" y="241"/>
                    </a:cubicBezTo>
                    <a:cubicBezTo>
                      <a:pt x="720" y="241"/>
                      <a:pt x="720" y="241"/>
                      <a:pt x="720" y="240"/>
                    </a:cubicBezTo>
                    <a:cubicBezTo>
                      <a:pt x="720" y="240"/>
                      <a:pt x="720" y="240"/>
                      <a:pt x="719" y="239"/>
                    </a:cubicBezTo>
                    <a:cubicBezTo>
                      <a:pt x="719" y="238"/>
                      <a:pt x="718" y="237"/>
                      <a:pt x="719" y="238"/>
                    </a:cubicBezTo>
                    <a:cubicBezTo>
                      <a:pt x="720" y="238"/>
                      <a:pt x="721" y="237"/>
                      <a:pt x="721" y="238"/>
                    </a:cubicBezTo>
                    <a:cubicBezTo>
                      <a:pt x="721" y="240"/>
                      <a:pt x="721" y="240"/>
                      <a:pt x="722" y="239"/>
                    </a:cubicBezTo>
                    <a:cubicBezTo>
                      <a:pt x="723" y="239"/>
                      <a:pt x="724" y="237"/>
                      <a:pt x="725" y="238"/>
                    </a:cubicBezTo>
                    <a:cubicBezTo>
                      <a:pt x="726" y="239"/>
                      <a:pt x="726" y="239"/>
                      <a:pt x="727" y="239"/>
                    </a:cubicBezTo>
                    <a:cubicBezTo>
                      <a:pt x="728" y="238"/>
                      <a:pt x="731" y="237"/>
                      <a:pt x="729" y="237"/>
                    </a:cubicBezTo>
                    <a:cubicBezTo>
                      <a:pt x="727" y="236"/>
                      <a:pt x="724" y="236"/>
                      <a:pt x="722" y="235"/>
                    </a:cubicBezTo>
                    <a:cubicBezTo>
                      <a:pt x="721" y="233"/>
                      <a:pt x="721" y="232"/>
                      <a:pt x="723" y="232"/>
                    </a:cubicBezTo>
                    <a:cubicBezTo>
                      <a:pt x="725" y="232"/>
                      <a:pt x="725" y="232"/>
                      <a:pt x="728" y="232"/>
                    </a:cubicBezTo>
                    <a:cubicBezTo>
                      <a:pt x="730" y="232"/>
                      <a:pt x="735" y="234"/>
                      <a:pt x="737" y="233"/>
                    </a:cubicBezTo>
                    <a:cubicBezTo>
                      <a:pt x="739" y="232"/>
                      <a:pt x="739" y="231"/>
                      <a:pt x="742" y="230"/>
                    </a:cubicBezTo>
                    <a:cubicBezTo>
                      <a:pt x="744" y="230"/>
                      <a:pt x="748" y="228"/>
                      <a:pt x="748" y="225"/>
                    </a:cubicBezTo>
                    <a:cubicBezTo>
                      <a:pt x="747" y="222"/>
                      <a:pt x="748" y="220"/>
                      <a:pt x="746" y="220"/>
                    </a:cubicBezTo>
                    <a:cubicBezTo>
                      <a:pt x="744" y="219"/>
                      <a:pt x="743" y="218"/>
                      <a:pt x="742" y="218"/>
                    </a:cubicBezTo>
                    <a:cubicBezTo>
                      <a:pt x="741" y="218"/>
                      <a:pt x="739" y="216"/>
                      <a:pt x="738" y="217"/>
                    </a:cubicBezTo>
                    <a:cubicBezTo>
                      <a:pt x="738" y="217"/>
                      <a:pt x="737" y="217"/>
                      <a:pt x="736" y="216"/>
                    </a:cubicBezTo>
                    <a:cubicBezTo>
                      <a:pt x="736" y="216"/>
                      <a:pt x="734" y="215"/>
                      <a:pt x="734" y="214"/>
                    </a:cubicBezTo>
                    <a:cubicBezTo>
                      <a:pt x="734" y="213"/>
                      <a:pt x="732" y="211"/>
                      <a:pt x="730" y="212"/>
                    </a:cubicBezTo>
                    <a:cubicBezTo>
                      <a:pt x="728" y="213"/>
                      <a:pt x="727" y="213"/>
                      <a:pt x="727" y="213"/>
                    </a:cubicBezTo>
                    <a:cubicBezTo>
                      <a:pt x="726" y="214"/>
                      <a:pt x="725" y="214"/>
                      <a:pt x="725" y="215"/>
                    </a:cubicBezTo>
                    <a:cubicBezTo>
                      <a:pt x="725" y="215"/>
                      <a:pt x="723" y="216"/>
                      <a:pt x="722" y="216"/>
                    </a:cubicBezTo>
                    <a:cubicBezTo>
                      <a:pt x="721" y="216"/>
                      <a:pt x="719" y="216"/>
                      <a:pt x="721" y="215"/>
                    </a:cubicBezTo>
                    <a:cubicBezTo>
                      <a:pt x="723" y="214"/>
                      <a:pt x="722" y="213"/>
                      <a:pt x="723" y="213"/>
                    </a:cubicBezTo>
                    <a:cubicBezTo>
                      <a:pt x="725" y="213"/>
                      <a:pt x="727" y="212"/>
                      <a:pt x="725" y="212"/>
                    </a:cubicBezTo>
                    <a:cubicBezTo>
                      <a:pt x="723" y="211"/>
                      <a:pt x="722" y="211"/>
                      <a:pt x="721" y="210"/>
                    </a:cubicBezTo>
                    <a:cubicBezTo>
                      <a:pt x="721" y="210"/>
                      <a:pt x="720" y="210"/>
                      <a:pt x="719" y="210"/>
                    </a:cubicBezTo>
                    <a:cubicBezTo>
                      <a:pt x="719" y="210"/>
                      <a:pt x="716" y="210"/>
                      <a:pt x="714" y="209"/>
                    </a:cubicBezTo>
                    <a:cubicBezTo>
                      <a:pt x="713" y="208"/>
                      <a:pt x="707" y="206"/>
                      <a:pt x="707" y="207"/>
                    </a:cubicBezTo>
                    <a:cubicBezTo>
                      <a:pt x="707" y="208"/>
                      <a:pt x="707" y="208"/>
                      <a:pt x="708" y="209"/>
                    </a:cubicBezTo>
                    <a:cubicBezTo>
                      <a:pt x="709" y="209"/>
                      <a:pt x="709" y="209"/>
                      <a:pt x="707" y="209"/>
                    </a:cubicBezTo>
                    <a:cubicBezTo>
                      <a:pt x="706" y="209"/>
                      <a:pt x="703" y="209"/>
                      <a:pt x="702" y="206"/>
                    </a:cubicBezTo>
                    <a:cubicBezTo>
                      <a:pt x="702" y="206"/>
                      <a:pt x="702" y="205"/>
                      <a:pt x="703" y="205"/>
                    </a:cubicBezTo>
                    <a:cubicBezTo>
                      <a:pt x="705" y="205"/>
                      <a:pt x="705" y="205"/>
                      <a:pt x="704" y="204"/>
                    </a:cubicBezTo>
                    <a:cubicBezTo>
                      <a:pt x="703" y="203"/>
                      <a:pt x="701" y="200"/>
                      <a:pt x="702" y="201"/>
                    </a:cubicBezTo>
                    <a:cubicBezTo>
                      <a:pt x="704" y="202"/>
                      <a:pt x="703" y="201"/>
                      <a:pt x="704" y="202"/>
                    </a:cubicBezTo>
                    <a:cubicBezTo>
                      <a:pt x="704" y="204"/>
                      <a:pt x="706" y="204"/>
                      <a:pt x="707" y="205"/>
                    </a:cubicBezTo>
                    <a:cubicBezTo>
                      <a:pt x="709" y="206"/>
                      <a:pt x="713" y="206"/>
                      <a:pt x="714" y="207"/>
                    </a:cubicBezTo>
                    <a:cubicBezTo>
                      <a:pt x="715" y="208"/>
                      <a:pt x="716" y="207"/>
                      <a:pt x="717" y="208"/>
                    </a:cubicBezTo>
                    <a:cubicBezTo>
                      <a:pt x="718" y="209"/>
                      <a:pt x="718" y="208"/>
                      <a:pt x="720" y="209"/>
                    </a:cubicBezTo>
                    <a:cubicBezTo>
                      <a:pt x="721" y="209"/>
                      <a:pt x="721" y="210"/>
                      <a:pt x="722" y="210"/>
                    </a:cubicBezTo>
                    <a:cubicBezTo>
                      <a:pt x="723" y="210"/>
                      <a:pt x="725" y="210"/>
                      <a:pt x="725" y="211"/>
                    </a:cubicBezTo>
                    <a:cubicBezTo>
                      <a:pt x="726" y="211"/>
                      <a:pt x="728" y="209"/>
                      <a:pt x="728" y="210"/>
                    </a:cubicBezTo>
                    <a:cubicBezTo>
                      <a:pt x="728" y="211"/>
                      <a:pt x="730" y="212"/>
                      <a:pt x="732" y="211"/>
                    </a:cubicBezTo>
                    <a:cubicBezTo>
                      <a:pt x="734" y="210"/>
                      <a:pt x="731" y="212"/>
                      <a:pt x="734" y="212"/>
                    </a:cubicBezTo>
                    <a:cubicBezTo>
                      <a:pt x="737" y="212"/>
                      <a:pt x="736" y="212"/>
                      <a:pt x="737" y="213"/>
                    </a:cubicBezTo>
                    <a:cubicBezTo>
                      <a:pt x="738" y="214"/>
                      <a:pt x="739" y="214"/>
                      <a:pt x="740" y="214"/>
                    </a:cubicBezTo>
                    <a:cubicBezTo>
                      <a:pt x="742" y="215"/>
                      <a:pt x="743" y="216"/>
                      <a:pt x="745" y="215"/>
                    </a:cubicBezTo>
                    <a:cubicBezTo>
                      <a:pt x="747" y="215"/>
                      <a:pt x="749" y="214"/>
                      <a:pt x="749" y="214"/>
                    </a:cubicBezTo>
                    <a:cubicBezTo>
                      <a:pt x="748" y="213"/>
                      <a:pt x="747" y="213"/>
                      <a:pt x="748" y="212"/>
                    </a:cubicBezTo>
                    <a:cubicBezTo>
                      <a:pt x="749" y="212"/>
                      <a:pt x="749" y="212"/>
                      <a:pt x="750" y="213"/>
                    </a:cubicBezTo>
                    <a:cubicBezTo>
                      <a:pt x="751" y="214"/>
                      <a:pt x="752" y="214"/>
                      <a:pt x="753" y="213"/>
                    </a:cubicBezTo>
                    <a:cubicBezTo>
                      <a:pt x="754" y="213"/>
                      <a:pt x="756" y="211"/>
                      <a:pt x="757" y="211"/>
                    </a:cubicBezTo>
                    <a:cubicBezTo>
                      <a:pt x="758" y="211"/>
                      <a:pt x="758" y="210"/>
                      <a:pt x="757" y="209"/>
                    </a:cubicBezTo>
                    <a:cubicBezTo>
                      <a:pt x="757" y="208"/>
                      <a:pt x="756" y="208"/>
                      <a:pt x="756" y="207"/>
                    </a:cubicBezTo>
                    <a:cubicBezTo>
                      <a:pt x="756" y="206"/>
                      <a:pt x="755" y="207"/>
                      <a:pt x="755" y="206"/>
                    </a:cubicBezTo>
                    <a:cubicBezTo>
                      <a:pt x="754" y="205"/>
                      <a:pt x="753" y="204"/>
                      <a:pt x="755" y="205"/>
                    </a:cubicBezTo>
                    <a:cubicBezTo>
                      <a:pt x="757" y="206"/>
                      <a:pt x="757" y="205"/>
                      <a:pt x="758" y="206"/>
                    </a:cubicBezTo>
                    <a:cubicBezTo>
                      <a:pt x="758" y="206"/>
                      <a:pt x="759" y="207"/>
                      <a:pt x="760" y="207"/>
                    </a:cubicBezTo>
                    <a:cubicBezTo>
                      <a:pt x="761" y="206"/>
                      <a:pt x="760" y="205"/>
                      <a:pt x="759" y="205"/>
                    </a:cubicBezTo>
                    <a:cubicBezTo>
                      <a:pt x="758" y="204"/>
                      <a:pt x="757" y="202"/>
                      <a:pt x="758" y="201"/>
                    </a:cubicBezTo>
                    <a:cubicBezTo>
                      <a:pt x="759" y="200"/>
                      <a:pt x="761" y="199"/>
                      <a:pt x="761" y="201"/>
                    </a:cubicBezTo>
                    <a:cubicBezTo>
                      <a:pt x="762" y="203"/>
                      <a:pt x="763" y="203"/>
                      <a:pt x="764" y="204"/>
                    </a:cubicBezTo>
                    <a:cubicBezTo>
                      <a:pt x="765" y="206"/>
                      <a:pt x="765" y="205"/>
                      <a:pt x="767" y="205"/>
                    </a:cubicBezTo>
                    <a:cubicBezTo>
                      <a:pt x="768" y="205"/>
                      <a:pt x="775" y="205"/>
                      <a:pt x="777" y="205"/>
                    </a:cubicBezTo>
                    <a:cubicBezTo>
                      <a:pt x="778" y="205"/>
                      <a:pt x="779" y="205"/>
                      <a:pt x="781" y="204"/>
                    </a:cubicBezTo>
                    <a:cubicBezTo>
                      <a:pt x="782" y="203"/>
                      <a:pt x="783" y="202"/>
                      <a:pt x="785" y="202"/>
                    </a:cubicBezTo>
                    <a:cubicBezTo>
                      <a:pt x="786" y="202"/>
                      <a:pt x="787" y="201"/>
                      <a:pt x="787" y="200"/>
                    </a:cubicBezTo>
                    <a:cubicBezTo>
                      <a:pt x="787" y="199"/>
                      <a:pt x="787" y="199"/>
                      <a:pt x="788" y="198"/>
                    </a:cubicBezTo>
                    <a:cubicBezTo>
                      <a:pt x="789" y="197"/>
                      <a:pt x="792" y="193"/>
                      <a:pt x="793" y="192"/>
                    </a:cubicBezTo>
                    <a:cubicBezTo>
                      <a:pt x="794" y="191"/>
                      <a:pt x="797" y="187"/>
                      <a:pt x="798" y="185"/>
                    </a:cubicBezTo>
                    <a:cubicBezTo>
                      <a:pt x="799" y="184"/>
                      <a:pt x="800" y="182"/>
                      <a:pt x="801" y="181"/>
                    </a:cubicBezTo>
                    <a:cubicBezTo>
                      <a:pt x="802" y="179"/>
                      <a:pt x="804" y="176"/>
                      <a:pt x="801" y="176"/>
                    </a:cubicBezTo>
                    <a:cubicBezTo>
                      <a:pt x="798" y="175"/>
                      <a:pt x="795" y="175"/>
                      <a:pt x="795" y="175"/>
                    </a:cubicBezTo>
                    <a:cubicBezTo>
                      <a:pt x="794" y="174"/>
                      <a:pt x="792" y="174"/>
                      <a:pt x="791" y="175"/>
                    </a:cubicBezTo>
                    <a:cubicBezTo>
                      <a:pt x="790" y="175"/>
                      <a:pt x="776" y="174"/>
                      <a:pt x="774" y="173"/>
                    </a:cubicBezTo>
                    <a:cubicBezTo>
                      <a:pt x="771" y="173"/>
                      <a:pt x="770" y="172"/>
                      <a:pt x="770" y="171"/>
                    </a:cubicBezTo>
                    <a:cubicBezTo>
                      <a:pt x="769" y="170"/>
                      <a:pt x="769" y="170"/>
                      <a:pt x="768" y="170"/>
                    </a:cubicBezTo>
                    <a:cubicBezTo>
                      <a:pt x="767" y="169"/>
                      <a:pt x="766" y="168"/>
                      <a:pt x="766" y="167"/>
                    </a:cubicBezTo>
                    <a:cubicBezTo>
                      <a:pt x="765" y="167"/>
                      <a:pt x="764" y="165"/>
                      <a:pt x="763" y="165"/>
                    </a:cubicBezTo>
                    <a:cubicBezTo>
                      <a:pt x="762" y="165"/>
                      <a:pt x="758" y="162"/>
                      <a:pt x="757" y="162"/>
                    </a:cubicBezTo>
                    <a:cubicBezTo>
                      <a:pt x="757" y="162"/>
                      <a:pt x="738" y="159"/>
                      <a:pt x="737" y="158"/>
                    </a:cubicBezTo>
                    <a:cubicBezTo>
                      <a:pt x="736" y="158"/>
                      <a:pt x="737" y="158"/>
                      <a:pt x="740" y="158"/>
                    </a:cubicBezTo>
                    <a:cubicBezTo>
                      <a:pt x="743" y="158"/>
                      <a:pt x="747" y="159"/>
                      <a:pt x="748" y="159"/>
                    </a:cubicBezTo>
                    <a:cubicBezTo>
                      <a:pt x="749" y="159"/>
                      <a:pt x="752" y="160"/>
                      <a:pt x="753" y="160"/>
                    </a:cubicBezTo>
                    <a:cubicBezTo>
                      <a:pt x="755" y="160"/>
                      <a:pt x="757" y="160"/>
                      <a:pt x="758" y="160"/>
                    </a:cubicBezTo>
                    <a:cubicBezTo>
                      <a:pt x="759" y="159"/>
                      <a:pt x="762" y="158"/>
                      <a:pt x="764" y="159"/>
                    </a:cubicBezTo>
                    <a:cubicBezTo>
                      <a:pt x="766" y="160"/>
                      <a:pt x="771" y="162"/>
                      <a:pt x="773" y="163"/>
                    </a:cubicBezTo>
                    <a:cubicBezTo>
                      <a:pt x="775" y="163"/>
                      <a:pt x="783" y="166"/>
                      <a:pt x="780" y="166"/>
                    </a:cubicBezTo>
                    <a:cubicBezTo>
                      <a:pt x="777" y="165"/>
                      <a:pt x="775" y="165"/>
                      <a:pt x="778" y="167"/>
                    </a:cubicBezTo>
                    <a:cubicBezTo>
                      <a:pt x="781" y="168"/>
                      <a:pt x="786" y="173"/>
                      <a:pt x="788" y="173"/>
                    </a:cubicBezTo>
                    <a:cubicBezTo>
                      <a:pt x="789" y="174"/>
                      <a:pt x="797" y="173"/>
                      <a:pt x="800" y="172"/>
                    </a:cubicBezTo>
                    <a:cubicBezTo>
                      <a:pt x="803" y="171"/>
                      <a:pt x="799" y="171"/>
                      <a:pt x="801" y="169"/>
                    </a:cubicBezTo>
                    <a:cubicBezTo>
                      <a:pt x="804" y="168"/>
                      <a:pt x="810" y="165"/>
                      <a:pt x="810" y="163"/>
                    </a:cubicBezTo>
                    <a:cubicBezTo>
                      <a:pt x="810" y="161"/>
                      <a:pt x="809" y="160"/>
                      <a:pt x="812" y="159"/>
                    </a:cubicBezTo>
                    <a:cubicBezTo>
                      <a:pt x="814" y="157"/>
                      <a:pt x="817" y="156"/>
                      <a:pt x="817" y="155"/>
                    </a:cubicBezTo>
                    <a:cubicBezTo>
                      <a:pt x="817" y="154"/>
                      <a:pt x="817" y="154"/>
                      <a:pt x="818" y="154"/>
                    </a:cubicBezTo>
                    <a:cubicBezTo>
                      <a:pt x="819" y="153"/>
                      <a:pt x="818" y="152"/>
                      <a:pt x="816" y="151"/>
                    </a:cubicBezTo>
                    <a:cubicBezTo>
                      <a:pt x="814" y="151"/>
                      <a:pt x="804" y="149"/>
                      <a:pt x="807" y="146"/>
                    </a:cubicBezTo>
                    <a:cubicBezTo>
                      <a:pt x="809" y="144"/>
                      <a:pt x="808" y="144"/>
                      <a:pt x="808" y="144"/>
                    </a:cubicBezTo>
                    <a:cubicBezTo>
                      <a:pt x="809" y="143"/>
                      <a:pt x="810" y="143"/>
                      <a:pt x="812" y="143"/>
                    </a:cubicBezTo>
                    <a:cubicBezTo>
                      <a:pt x="813" y="143"/>
                      <a:pt x="826" y="141"/>
                      <a:pt x="826" y="144"/>
                    </a:cubicBezTo>
                    <a:cubicBezTo>
                      <a:pt x="827" y="148"/>
                      <a:pt x="827" y="149"/>
                      <a:pt x="829" y="149"/>
                    </a:cubicBezTo>
                    <a:cubicBezTo>
                      <a:pt x="830" y="149"/>
                      <a:pt x="830" y="149"/>
                      <a:pt x="831" y="150"/>
                    </a:cubicBezTo>
                    <a:cubicBezTo>
                      <a:pt x="832" y="150"/>
                      <a:pt x="833" y="150"/>
                      <a:pt x="834" y="150"/>
                    </a:cubicBezTo>
                    <a:cubicBezTo>
                      <a:pt x="834" y="150"/>
                      <a:pt x="838" y="151"/>
                      <a:pt x="839" y="152"/>
                    </a:cubicBezTo>
                    <a:cubicBezTo>
                      <a:pt x="840" y="152"/>
                      <a:pt x="842" y="153"/>
                      <a:pt x="840" y="151"/>
                    </a:cubicBezTo>
                    <a:cubicBezTo>
                      <a:pt x="838" y="149"/>
                      <a:pt x="838" y="149"/>
                      <a:pt x="839" y="148"/>
                    </a:cubicBezTo>
                    <a:cubicBezTo>
                      <a:pt x="839" y="147"/>
                      <a:pt x="839" y="147"/>
                      <a:pt x="840" y="148"/>
                    </a:cubicBezTo>
                    <a:cubicBezTo>
                      <a:pt x="841" y="149"/>
                      <a:pt x="840" y="149"/>
                      <a:pt x="842" y="149"/>
                    </a:cubicBezTo>
                    <a:cubicBezTo>
                      <a:pt x="843" y="149"/>
                      <a:pt x="844" y="149"/>
                      <a:pt x="845" y="150"/>
                    </a:cubicBezTo>
                    <a:cubicBezTo>
                      <a:pt x="846" y="151"/>
                      <a:pt x="849" y="153"/>
                      <a:pt x="850" y="152"/>
                    </a:cubicBezTo>
                    <a:cubicBezTo>
                      <a:pt x="852" y="152"/>
                      <a:pt x="851" y="152"/>
                      <a:pt x="851" y="151"/>
                    </a:cubicBezTo>
                    <a:cubicBezTo>
                      <a:pt x="850" y="150"/>
                      <a:pt x="848" y="149"/>
                      <a:pt x="848" y="147"/>
                    </a:cubicBezTo>
                    <a:cubicBezTo>
                      <a:pt x="848" y="146"/>
                      <a:pt x="848" y="146"/>
                      <a:pt x="847" y="145"/>
                    </a:cubicBezTo>
                    <a:cubicBezTo>
                      <a:pt x="846" y="144"/>
                      <a:pt x="844" y="143"/>
                      <a:pt x="844" y="141"/>
                    </a:cubicBezTo>
                    <a:cubicBezTo>
                      <a:pt x="845" y="139"/>
                      <a:pt x="843" y="140"/>
                      <a:pt x="842" y="140"/>
                    </a:cubicBezTo>
                    <a:cubicBezTo>
                      <a:pt x="841" y="140"/>
                      <a:pt x="840" y="139"/>
                      <a:pt x="841" y="138"/>
                    </a:cubicBezTo>
                    <a:cubicBezTo>
                      <a:pt x="842" y="138"/>
                      <a:pt x="841" y="138"/>
                      <a:pt x="840" y="137"/>
                    </a:cubicBezTo>
                    <a:cubicBezTo>
                      <a:pt x="839" y="137"/>
                      <a:pt x="839" y="137"/>
                      <a:pt x="838" y="136"/>
                    </a:cubicBezTo>
                    <a:cubicBezTo>
                      <a:pt x="838" y="136"/>
                      <a:pt x="837" y="135"/>
                      <a:pt x="837" y="135"/>
                    </a:cubicBezTo>
                    <a:cubicBezTo>
                      <a:pt x="838" y="134"/>
                      <a:pt x="837" y="134"/>
                      <a:pt x="836" y="134"/>
                    </a:cubicBezTo>
                    <a:cubicBezTo>
                      <a:pt x="835" y="135"/>
                      <a:pt x="832" y="136"/>
                      <a:pt x="831" y="136"/>
                    </a:cubicBezTo>
                    <a:cubicBezTo>
                      <a:pt x="830" y="136"/>
                      <a:pt x="830" y="136"/>
                      <a:pt x="832" y="135"/>
                    </a:cubicBezTo>
                    <a:cubicBezTo>
                      <a:pt x="835" y="134"/>
                      <a:pt x="837" y="133"/>
                      <a:pt x="836" y="133"/>
                    </a:cubicBezTo>
                    <a:cubicBezTo>
                      <a:pt x="836" y="133"/>
                      <a:pt x="833" y="131"/>
                      <a:pt x="836" y="132"/>
                    </a:cubicBezTo>
                    <a:cubicBezTo>
                      <a:pt x="839" y="133"/>
                      <a:pt x="839" y="131"/>
                      <a:pt x="839" y="133"/>
                    </a:cubicBezTo>
                    <a:cubicBezTo>
                      <a:pt x="839" y="134"/>
                      <a:pt x="840" y="132"/>
                      <a:pt x="840" y="134"/>
                    </a:cubicBezTo>
                    <a:cubicBezTo>
                      <a:pt x="841" y="137"/>
                      <a:pt x="842" y="135"/>
                      <a:pt x="841" y="136"/>
                    </a:cubicBezTo>
                    <a:cubicBezTo>
                      <a:pt x="840" y="137"/>
                      <a:pt x="840" y="136"/>
                      <a:pt x="842" y="137"/>
                    </a:cubicBezTo>
                    <a:cubicBezTo>
                      <a:pt x="843" y="138"/>
                      <a:pt x="845" y="140"/>
                      <a:pt x="845" y="138"/>
                    </a:cubicBezTo>
                    <a:cubicBezTo>
                      <a:pt x="846" y="137"/>
                      <a:pt x="849" y="134"/>
                      <a:pt x="848" y="136"/>
                    </a:cubicBezTo>
                    <a:cubicBezTo>
                      <a:pt x="847" y="139"/>
                      <a:pt x="848" y="139"/>
                      <a:pt x="847" y="139"/>
                    </a:cubicBezTo>
                    <a:cubicBezTo>
                      <a:pt x="846" y="140"/>
                      <a:pt x="846" y="140"/>
                      <a:pt x="847" y="141"/>
                    </a:cubicBezTo>
                    <a:cubicBezTo>
                      <a:pt x="847" y="142"/>
                      <a:pt x="848" y="143"/>
                      <a:pt x="849" y="143"/>
                    </a:cubicBezTo>
                    <a:cubicBezTo>
                      <a:pt x="851" y="143"/>
                      <a:pt x="852" y="144"/>
                      <a:pt x="852" y="145"/>
                    </a:cubicBezTo>
                    <a:cubicBezTo>
                      <a:pt x="852" y="146"/>
                      <a:pt x="855" y="148"/>
                      <a:pt x="856" y="148"/>
                    </a:cubicBezTo>
                    <a:cubicBezTo>
                      <a:pt x="858" y="147"/>
                      <a:pt x="860" y="145"/>
                      <a:pt x="862" y="145"/>
                    </a:cubicBezTo>
                    <a:cubicBezTo>
                      <a:pt x="864" y="145"/>
                      <a:pt x="866" y="143"/>
                      <a:pt x="867" y="142"/>
                    </a:cubicBezTo>
                    <a:cubicBezTo>
                      <a:pt x="868" y="141"/>
                      <a:pt x="871" y="140"/>
                      <a:pt x="872" y="140"/>
                    </a:cubicBezTo>
                    <a:cubicBezTo>
                      <a:pt x="874" y="139"/>
                      <a:pt x="873" y="139"/>
                      <a:pt x="874" y="138"/>
                    </a:cubicBezTo>
                    <a:cubicBezTo>
                      <a:pt x="875" y="136"/>
                      <a:pt x="876" y="134"/>
                      <a:pt x="879" y="134"/>
                    </a:cubicBezTo>
                    <a:cubicBezTo>
                      <a:pt x="881" y="133"/>
                      <a:pt x="884" y="133"/>
                      <a:pt x="885" y="127"/>
                    </a:cubicBezTo>
                    <a:cubicBezTo>
                      <a:pt x="886" y="122"/>
                      <a:pt x="888" y="121"/>
                      <a:pt x="886" y="119"/>
                    </a:cubicBezTo>
                    <a:cubicBezTo>
                      <a:pt x="885" y="117"/>
                      <a:pt x="879" y="113"/>
                      <a:pt x="879" y="112"/>
                    </a:cubicBezTo>
                    <a:cubicBezTo>
                      <a:pt x="879" y="112"/>
                      <a:pt x="880" y="112"/>
                      <a:pt x="878" y="111"/>
                    </a:cubicBezTo>
                    <a:cubicBezTo>
                      <a:pt x="877" y="111"/>
                      <a:pt x="873" y="109"/>
                      <a:pt x="875" y="106"/>
                    </a:cubicBezTo>
                    <a:cubicBezTo>
                      <a:pt x="877" y="103"/>
                      <a:pt x="877" y="102"/>
                      <a:pt x="874" y="103"/>
                    </a:cubicBezTo>
                    <a:cubicBezTo>
                      <a:pt x="872" y="104"/>
                      <a:pt x="870" y="103"/>
                      <a:pt x="872" y="101"/>
                    </a:cubicBezTo>
                    <a:cubicBezTo>
                      <a:pt x="873" y="100"/>
                      <a:pt x="873" y="100"/>
                      <a:pt x="872" y="100"/>
                    </a:cubicBezTo>
                    <a:cubicBezTo>
                      <a:pt x="871" y="100"/>
                      <a:pt x="869" y="100"/>
                      <a:pt x="870" y="99"/>
                    </a:cubicBezTo>
                    <a:cubicBezTo>
                      <a:pt x="871" y="98"/>
                      <a:pt x="870" y="97"/>
                      <a:pt x="869" y="97"/>
                    </a:cubicBezTo>
                    <a:cubicBezTo>
                      <a:pt x="868" y="96"/>
                      <a:pt x="867" y="96"/>
                      <a:pt x="867" y="94"/>
                    </a:cubicBezTo>
                    <a:cubicBezTo>
                      <a:pt x="868" y="93"/>
                      <a:pt x="867" y="93"/>
                      <a:pt x="868" y="94"/>
                    </a:cubicBezTo>
                    <a:cubicBezTo>
                      <a:pt x="869" y="94"/>
                      <a:pt x="870" y="94"/>
                      <a:pt x="871" y="93"/>
                    </a:cubicBezTo>
                    <a:cubicBezTo>
                      <a:pt x="872" y="93"/>
                      <a:pt x="873" y="93"/>
                      <a:pt x="874" y="93"/>
                    </a:cubicBezTo>
                    <a:cubicBezTo>
                      <a:pt x="876" y="94"/>
                      <a:pt x="881" y="95"/>
                      <a:pt x="884" y="92"/>
                    </a:cubicBezTo>
                    <a:cubicBezTo>
                      <a:pt x="888" y="90"/>
                      <a:pt x="888" y="88"/>
                      <a:pt x="887" y="86"/>
                    </a:cubicBezTo>
                    <a:cubicBezTo>
                      <a:pt x="885" y="83"/>
                      <a:pt x="883" y="85"/>
                      <a:pt x="883" y="85"/>
                    </a:cubicBezTo>
                    <a:cubicBezTo>
                      <a:pt x="883" y="85"/>
                      <a:pt x="881" y="86"/>
                      <a:pt x="883" y="83"/>
                    </a:cubicBezTo>
                    <a:cubicBezTo>
                      <a:pt x="886" y="80"/>
                      <a:pt x="888" y="77"/>
                      <a:pt x="885" y="76"/>
                    </a:cubicBezTo>
                    <a:cubicBezTo>
                      <a:pt x="881" y="75"/>
                      <a:pt x="881" y="74"/>
                      <a:pt x="880" y="74"/>
                    </a:cubicBezTo>
                    <a:cubicBezTo>
                      <a:pt x="880" y="74"/>
                      <a:pt x="877" y="74"/>
                      <a:pt x="876" y="74"/>
                    </a:cubicBezTo>
                    <a:cubicBezTo>
                      <a:pt x="875" y="75"/>
                      <a:pt x="874" y="74"/>
                      <a:pt x="873" y="72"/>
                    </a:cubicBezTo>
                    <a:cubicBezTo>
                      <a:pt x="872" y="70"/>
                      <a:pt x="871" y="70"/>
                      <a:pt x="869" y="69"/>
                    </a:cubicBezTo>
                    <a:cubicBezTo>
                      <a:pt x="868" y="69"/>
                      <a:pt x="860" y="68"/>
                      <a:pt x="859" y="67"/>
                    </a:cubicBezTo>
                    <a:cubicBezTo>
                      <a:pt x="857" y="66"/>
                      <a:pt x="857" y="66"/>
                      <a:pt x="860" y="67"/>
                    </a:cubicBezTo>
                    <a:cubicBezTo>
                      <a:pt x="863" y="68"/>
                      <a:pt x="866" y="68"/>
                      <a:pt x="867" y="68"/>
                    </a:cubicBezTo>
                    <a:cubicBezTo>
                      <a:pt x="869" y="68"/>
                      <a:pt x="869" y="68"/>
                      <a:pt x="868" y="66"/>
                    </a:cubicBezTo>
                    <a:cubicBezTo>
                      <a:pt x="866" y="64"/>
                      <a:pt x="867" y="64"/>
                      <a:pt x="868" y="64"/>
                    </a:cubicBezTo>
                    <a:cubicBezTo>
                      <a:pt x="869" y="64"/>
                      <a:pt x="870" y="64"/>
                      <a:pt x="869" y="64"/>
                    </a:cubicBezTo>
                    <a:cubicBezTo>
                      <a:pt x="867" y="63"/>
                      <a:pt x="866" y="63"/>
                      <a:pt x="865" y="63"/>
                    </a:cubicBezTo>
                    <a:cubicBezTo>
                      <a:pt x="863" y="63"/>
                      <a:pt x="860" y="63"/>
                      <a:pt x="859" y="63"/>
                    </a:cubicBezTo>
                    <a:cubicBezTo>
                      <a:pt x="859" y="63"/>
                      <a:pt x="857" y="63"/>
                      <a:pt x="856" y="63"/>
                    </a:cubicBezTo>
                    <a:cubicBezTo>
                      <a:pt x="855" y="63"/>
                      <a:pt x="849" y="62"/>
                      <a:pt x="847" y="61"/>
                    </a:cubicBezTo>
                    <a:cubicBezTo>
                      <a:pt x="845" y="60"/>
                      <a:pt x="840" y="57"/>
                      <a:pt x="834" y="59"/>
                    </a:cubicBezTo>
                    <a:cubicBezTo>
                      <a:pt x="828" y="61"/>
                      <a:pt x="830" y="61"/>
                      <a:pt x="828" y="59"/>
                    </a:cubicBezTo>
                    <a:cubicBezTo>
                      <a:pt x="825" y="58"/>
                      <a:pt x="825" y="58"/>
                      <a:pt x="824" y="58"/>
                    </a:cubicBezTo>
                    <a:cubicBezTo>
                      <a:pt x="823" y="59"/>
                      <a:pt x="823" y="59"/>
                      <a:pt x="824" y="59"/>
                    </a:cubicBezTo>
                    <a:cubicBezTo>
                      <a:pt x="825" y="59"/>
                      <a:pt x="827" y="60"/>
                      <a:pt x="826" y="60"/>
                    </a:cubicBezTo>
                    <a:cubicBezTo>
                      <a:pt x="825" y="61"/>
                      <a:pt x="824" y="61"/>
                      <a:pt x="825" y="61"/>
                    </a:cubicBezTo>
                    <a:cubicBezTo>
                      <a:pt x="825" y="62"/>
                      <a:pt x="825" y="62"/>
                      <a:pt x="824" y="63"/>
                    </a:cubicBezTo>
                    <a:cubicBezTo>
                      <a:pt x="824" y="63"/>
                      <a:pt x="823" y="64"/>
                      <a:pt x="824" y="65"/>
                    </a:cubicBezTo>
                    <a:cubicBezTo>
                      <a:pt x="825" y="65"/>
                      <a:pt x="825" y="66"/>
                      <a:pt x="824" y="67"/>
                    </a:cubicBezTo>
                    <a:cubicBezTo>
                      <a:pt x="824" y="69"/>
                      <a:pt x="824" y="70"/>
                      <a:pt x="824" y="70"/>
                    </a:cubicBezTo>
                    <a:cubicBezTo>
                      <a:pt x="825" y="69"/>
                      <a:pt x="825" y="69"/>
                      <a:pt x="825" y="70"/>
                    </a:cubicBezTo>
                    <a:cubicBezTo>
                      <a:pt x="824" y="71"/>
                      <a:pt x="825" y="71"/>
                      <a:pt x="825" y="72"/>
                    </a:cubicBezTo>
                    <a:cubicBezTo>
                      <a:pt x="826" y="73"/>
                      <a:pt x="826" y="73"/>
                      <a:pt x="825" y="73"/>
                    </a:cubicBezTo>
                    <a:cubicBezTo>
                      <a:pt x="825" y="73"/>
                      <a:pt x="824" y="73"/>
                      <a:pt x="825" y="74"/>
                    </a:cubicBezTo>
                    <a:cubicBezTo>
                      <a:pt x="826" y="75"/>
                      <a:pt x="826" y="76"/>
                      <a:pt x="827" y="76"/>
                    </a:cubicBezTo>
                    <a:cubicBezTo>
                      <a:pt x="828" y="76"/>
                      <a:pt x="828" y="76"/>
                      <a:pt x="827" y="77"/>
                    </a:cubicBezTo>
                    <a:cubicBezTo>
                      <a:pt x="827" y="77"/>
                      <a:pt x="827" y="78"/>
                      <a:pt x="828" y="77"/>
                    </a:cubicBezTo>
                    <a:cubicBezTo>
                      <a:pt x="829" y="77"/>
                      <a:pt x="831" y="76"/>
                      <a:pt x="830" y="77"/>
                    </a:cubicBezTo>
                    <a:cubicBezTo>
                      <a:pt x="829" y="78"/>
                      <a:pt x="830" y="78"/>
                      <a:pt x="831" y="78"/>
                    </a:cubicBezTo>
                    <a:cubicBezTo>
                      <a:pt x="831" y="77"/>
                      <a:pt x="832" y="77"/>
                      <a:pt x="832" y="78"/>
                    </a:cubicBezTo>
                    <a:cubicBezTo>
                      <a:pt x="832" y="78"/>
                      <a:pt x="833" y="79"/>
                      <a:pt x="834" y="79"/>
                    </a:cubicBezTo>
                    <a:cubicBezTo>
                      <a:pt x="834" y="79"/>
                      <a:pt x="835" y="78"/>
                      <a:pt x="835" y="79"/>
                    </a:cubicBezTo>
                    <a:cubicBezTo>
                      <a:pt x="836" y="80"/>
                      <a:pt x="841" y="82"/>
                      <a:pt x="837" y="81"/>
                    </a:cubicBezTo>
                    <a:cubicBezTo>
                      <a:pt x="834" y="81"/>
                      <a:pt x="831" y="81"/>
                      <a:pt x="832" y="81"/>
                    </a:cubicBezTo>
                    <a:cubicBezTo>
                      <a:pt x="834" y="82"/>
                      <a:pt x="834" y="82"/>
                      <a:pt x="832" y="82"/>
                    </a:cubicBezTo>
                    <a:cubicBezTo>
                      <a:pt x="829" y="82"/>
                      <a:pt x="830" y="82"/>
                      <a:pt x="830" y="83"/>
                    </a:cubicBezTo>
                    <a:cubicBezTo>
                      <a:pt x="829" y="84"/>
                      <a:pt x="828" y="84"/>
                      <a:pt x="829" y="85"/>
                    </a:cubicBezTo>
                    <a:cubicBezTo>
                      <a:pt x="829" y="85"/>
                      <a:pt x="831" y="86"/>
                      <a:pt x="832" y="86"/>
                    </a:cubicBezTo>
                    <a:cubicBezTo>
                      <a:pt x="833" y="86"/>
                      <a:pt x="836" y="88"/>
                      <a:pt x="834" y="88"/>
                    </a:cubicBezTo>
                    <a:cubicBezTo>
                      <a:pt x="831" y="87"/>
                      <a:pt x="830" y="87"/>
                      <a:pt x="829" y="87"/>
                    </a:cubicBezTo>
                    <a:cubicBezTo>
                      <a:pt x="829" y="88"/>
                      <a:pt x="829" y="88"/>
                      <a:pt x="828" y="88"/>
                    </a:cubicBezTo>
                    <a:cubicBezTo>
                      <a:pt x="828" y="89"/>
                      <a:pt x="827" y="89"/>
                      <a:pt x="827" y="88"/>
                    </a:cubicBezTo>
                    <a:cubicBezTo>
                      <a:pt x="827" y="87"/>
                      <a:pt x="826" y="87"/>
                      <a:pt x="825" y="87"/>
                    </a:cubicBezTo>
                    <a:cubicBezTo>
                      <a:pt x="824" y="88"/>
                      <a:pt x="824" y="88"/>
                      <a:pt x="823" y="88"/>
                    </a:cubicBezTo>
                    <a:cubicBezTo>
                      <a:pt x="823" y="88"/>
                      <a:pt x="821" y="88"/>
                      <a:pt x="821" y="90"/>
                    </a:cubicBezTo>
                    <a:cubicBezTo>
                      <a:pt x="820" y="92"/>
                      <a:pt x="821" y="92"/>
                      <a:pt x="821" y="94"/>
                    </a:cubicBezTo>
                    <a:cubicBezTo>
                      <a:pt x="821" y="95"/>
                      <a:pt x="821" y="97"/>
                      <a:pt x="820" y="97"/>
                    </a:cubicBezTo>
                    <a:cubicBezTo>
                      <a:pt x="819" y="98"/>
                      <a:pt x="819" y="99"/>
                      <a:pt x="819" y="100"/>
                    </a:cubicBezTo>
                    <a:cubicBezTo>
                      <a:pt x="820" y="101"/>
                      <a:pt x="819" y="106"/>
                      <a:pt x="816" y="107"/>
                    </a:cubicBezTo>
                    <a:cubicBezTo>
                      <a:pt x="814" y="107"/>
                      <a:pt x="815" y="107"/>
                      <a:pt x="814" y="108"/>
                    </a:cubicBezTo>
                    <a:cubicBezTo>
                      <a:pt x="813" y="110"/>
                      <a:pt x="809" y="112"/>
                      <a:pt x="810" y="118"/>
                    </a:cubicBezTo>
                    <a:cubicBezTo>
                      <a:pt x="810" y="123"/>
                      <a:pt x="809" y="124"/>
                      <a:pt x="808" y="123"/>
                    </a:cubicBezTo>
                    <a:cubicBezTo>
                      <a:pt x="808" y="122"/>
                      <a:pt x="808" y="122"/>
                      <a:pt x="807" y="123"/>
                    </a:cubicBezTo>
                    <a:cubicBezTo>
                      <a:pt x="806" y="123"/>
                      <a:pt x="805" y="122"/>
                      <a:pt x="805" y="122"/>
                    </a:cubicBezTo>
                    <a:cubicBezTo>
                      <a:pt x="805" y="122"/>
                      <a:pt x="803" y="122"/>
                      <a:pt x="802" y="123"/>
                    </a:cubicBezTo>
                    <a:cubicBezTo>
                      <a:pt x="801" y="124"/>
                      <a:pt x="801" y="123"/>
                      <a:pt x="801" y="124"/>
                    </a:cubicBezTo>
                    <a:cubicBezTo>
                      <a:pt x="802" y="125"/>
                      <a:pt x="802" y="126"/>
                      <a:pt x="802" y="126"/>
                    </a:cubicBezTo>
                    <a:cubicBezTo>
                      <a:pt x="801" y="125"/>
                      <a:pt x="801" y="126"/>
                      <a:pt x="801" y="127"/>
                    </a:cubicBezTo>
                    <a:cubicBezTo>
                      <a:pt x="801" y="127"/>
                      <a:pt x="800" y="126"/>
                      <a:pt x="799" y="127"/>
                    </a:cubicBezTo>
                    <a:cubicBezTo>
                      <a:pt x="798" y="128"/>
                      <a:pt x="798" y="131"/>
                      <a:pt x="797" y="128"/>
                    </a:cubicBezTo>
                    <a:cubicBezTo>
                      <a:pt x="797" y="126"/>
                      <a:pt x="795" y="126"/>
                      <a:pt x="795" y="124"/>
                    </a:cubicBezTo>
                    <a:cubicBezTo>
                      <a:pt x="795" y="123"/>
                      <a:pt x="792" y="121"/>
                      <a:pt x="792" y="121"/>
                    </a:cubicBezTo>
                    <a:cubicBezTo>
                      <a:pt x="792" y="121"/>
                      <a:pt x="788" y="117"/>
                      <a:pt x="787" y="117"/>
                    </a:cubicBezTo>
                    <a:cubicBezTo>
                      <a:pt x="785" y="116"/>
                      <a:pt x="783" y="112"/>
                      <a:pt x="783" y="110"/>
                    </a:cubicBezTo>
                    <a:cubicBezTo>
                      <a:pt x="782" y="108"/>
                      <a:pt x="782" y="106"/>
                      <a:pt x="783" y="105"/>
                    </a:cubicBezTo>
                    <a:cubicBezTo>
                      <a:pt x="783" y="103"/>
                      <a:pt x="783" y="103"/>
                      <a:pt x="782" y="101"/>
                    </a:cubicBezTo>
                    <a:cubicBezTo>
                      <a:pt x="782" y="100"/>
                      <a:pt x="781" y="99"/>
                      <a:pt x="782" y="99"/>
                    </a:cubicBezTo>
                    <a:cubicBezTo>
                      <a:pt x="783" y="98"/>
                      <a:pt x="785" y="95"/>
                      <a:pt x="784" y="98"/>
                    </a:cubicBezTo>
                    <a:cubicBezTo>
                      <a:pt x="784" y="100"/>
                      <a:pt x="784" y="101"/>
                      <a:pt x="786" y="101"/>
                    </a:cubicBezTo>
                    <a:cubicBezTo>
                      <a:pt x="788" y="100"/>
                      <a:pt x="791" y="99"/>
                      <a:pt x="790" y="95"/>
                    </a:cubicBezTo>
                    <a:cubicBezTo>
                      <a:pt x="789" y="92"/>
                      <a:pt x="788" y="91"/>
                      <a:pt x="788" y="90"/>
                    </a:cubicBezTo>
                    <a:cubicBezTo>
                      <a:pt x="788" y="88"/>
                      <a:pt x="787" y="84"/>
                      <a:pt x="779" y="81"/>
                    </a:cubicBezTo>
                    <a:cubicBezTo>
                      <a:pt x="779" y="81"/>
                      <a:pt x="776" y="78"/>
                      <a:pt x="774" y="76"/>
                    </a:cubicBezTo>
                    <a:cubicBezTo>
                      <a:pt x="772" y="74"/>
                      <a:pt x="768" y="73"/>
                      <a:pt x="767" y="75"/>
                    </a:cubicBezTo>
                    <a:cubicBezTo>
                      <a:pt x="765" y="78"/>
                      <a:pt x="764" y="79"/>
                      <a:pt x="763" y="79"/>
                    </a:cubicBezTo>
                    <a:cubicBezTo>
                      <a:pt x="762" y="80"/>
                      <a:pt x="762" y="80"/>
                      <a:pt x="762" y="81"/>
                    </a:cubicBezTo>
                    <a:cubicBezTo>
                      <a:pt x="763" y="82"/>
                      <a:pt x="763" y="88"/>
                      <a:pt x="762" y="89"/>
                    </a:cubicBezTo>
                    <a:cubicBezTo>
                      <a:pt x="761" y="91"/>
                      <a:pt x="761" y="91"/>
                      <a:pt x="761" y="90"/>
                    </a:cubicBezTo>
                    <a:cubicBezTo>
                      <a:pt x="761" y="89"/>
                      <a:pt x="760" y="89"/>
                      <a:pt x="759" y="90"/>
                    </a:cubicBezTo>
                    <a:cubicBezTo>
                      <a:pt x="759" y="91"/>
                      <a:pt x="758" y="92"/>
                      <a:pt x="759" y="93"/>
                    </a:cubicBezTo>
                    <a:cubicBezTo>
                      <a:pt x="759" y="94"/>
                      <a:pt x="759" y="95"/>
                      <a:pt x="759" y="96"/>
                    </a:cubicBezTo>
                    <a:cubicBezTo>
                      <a:pt x="758" y="96"/>
                      <a:pt x="757" y="97"/>
                      <a:pt x="757" y="98"/>
                    </a:cubicBezTo>
                    <a:cubicBezTo>
                      <a:pt x="756" y="99"/>
                      <a:pt x="754" y="102"/>
                      <a:pt x="753" y="101"/>
                    </a:cubicBezTo>
                    <a:cubicBezTo>
                      <a:pt x="753" y="99"/>
                      <a:pt x="751" y="98"/>
                      <a:pt x="750" y="97"/>
                    </a:cubicBezTo>
                    <a:cubicBezTo>
                      <a:pt x="749" y="97"/>
                      <a:pt x="748" y="96"/>
                      <a:pt x="749" y="95"/>
                    </a:cubicBezTo>
                    <a:cubicBezTo>
                      <a:pt x="750" y="94"/>
                      <a:pt x="750" y="93"/>
                      <a:pt x="750" y="92"/>
                    </a:cubicBezTo>
                    <a:cubicBezTo>
                      <a:pt x="749" y="90"/>
                      <a:pt x="749" y="91"/>
                      <a:pt x="750" y="90"/>
                    </a:cubicBezTo>
                    <a:cubicBezTo>
                      <a:pt x="751" y="89"/>
                      <a:pt x="750" y="89"/>
                      <a:pt x="750" y="88"/>
                    </a:cubicBezTo>
                    <a:cubicBezTo>
                      <a:pt x="750" y="87"/>
                      <a:pt x="751" y="85"/>
                      <a:pt x="750" y="85"/>
                    </a:cubicBezTo>
                    <a:cubicBezTo>
                      <a:pt x="750" y="86"/>
                      <a:pt x="750" y="86"/>
                      <a:pt x="750" y="86"/>
                    </a:cubicBezTo>
                    <a:cubicBezTo>
                      <a:pt x="750" y="85"/>
                      <a:pt x="751" y="85"/>
                      <a:pt x="750" y="83"/>
                    </a:cubicBezTo>
                    <a:cubicBezTo>
                      <a:pt x="749" y="81"/>
                      <a:pt x="746" y="78"/>
                      <a:pt x="743" y="76"/>
                    </a:cubicBezTo>
                    <a:cubicBezTo>
                      <a:pt x="739" y="75"/>
                      <a:pt x="737" y="72"/>
                      <a:pt x="737" y="72"/>
                    </a:cubicBezTo>
                    <a:cubicBezTo>
                      <a:pt x="737" y="72"/>
                      <a:pt x="738" y="72"/>
                      <a:pt x="739" y="73"/>
                    </a:cubicBezTo>
                    <a:cubicBezTo>
                      <a:pt x="741" y="73"/>
                      <a:pt x="744" y="71"/>
                      <a:pt x="742" y="73"/>
                    </a:cubicBezTo>
                    <a:cubicBezTo>
                      <a:pt x="741" y="74"/>
                      <a:pt x="742" y="74"/>
                      <a:pt x="743" y="74"/>
                    </a:cubicBezTo>
                    <a:cubicBezTo>
                      <a:pt x="744" y="74"/>
                      <a:pt x="744" y="76"/>
                      <a:pt x="745" y="73"/>
                    </a:cubicBezTo>
                    <a:cubicBezTo>
                      <a:pt x="746" y="71"/>
                      <a:pt x="746" y="71"/>
                      <a:pt x="747" y="70"/>
                    </a:cubicBezTo>
                    <a:cubicBezTo>
                      <a:pt x="747" y="70"/>
                      <a:pt x="746" y="69"/>
                      <a:pt x="747" y="69"/>
                    </a:cubicBezTo>
                    <a:cubicBezTo>
                      <a:pt x="749" y="70"/>
                      <a:pt x="750" y="70"/>
                      <a:pt x="751" y="69"/>
                    </a:cubicBezTo>
                    <a:cubicBezTo>
                      <a:pt x="752" y="69"/>
                      <a:pt x="752" y="69"/>
                      <a:pt x="751" y="68"/>
                    </a:cubicBezTo>
                    <a:cubicBezTo>
                      <a:pt x="749" y="67"/>
                      <a:pt x="747" y="66"/>
                      <a:pt x="746" y="67"/>
                    </a:cubicBezTo>
                    <a:cubicBezTo>
                      <a:pt x="746" y="68"/>
                      <a:pt x="745" y="68"/>
                      <a:pt x="745" y="67"/>
                    </a:cubicBezTo>
                    <a:cubicBezTo>
                      <a:pt x="744" y="67"/>
                      <a:pt x="744" y="67"/>
                      <a:pt x="743" y="67"/>
                    </a:cubicBezTo>
                    <a:cubicBezTo>
                      <a:pt x="742" y="67"/>
                      <a:pt x="741" y="67"/>
                      <a:pt x="741" y="67"/>
                    </a:cubicBezTo>
                    <a:cubicBezTo>
                      <a:pt x="740" y="66"/>
                      <a:pt x="739" y="66"/>
                      <a:pt x="738" y="67"/>
                    </a:cubicBezTo>
                    <a:cubicBezTo>
                      <a:pt x="737" y="67"/>
                      <a:pt x="736" y="67"/>
                      <a:pt x="735" y="67"/>
                    </a:cubicBezTo>
                    <a:cubicBezTo>
                      <a:pt x="735" y="67"/>
                      <a:pt x="734" y="67"/>
                      <a:pt x="737" y="67"/>
                    </a:cubicBezTo>
                    <a:cubicBezTo>
                      <a:pt x="740" y="66"/>
                      <a:pt x="738" y="66"/>
                      <a:pt x="739" y="65"/>
                    </a:cubicBezTo>
                    <a:cubicBezTo>
                      <a:pt x="741" y="64"/>
                      <a:pt x="741" y="64"/>
                      <a:pt x="739" y="64"/>
                    </a:cubicBezTo>
                    <a:cubicBezTo>
                      <a:pt x="737" y="64"/>
                      <a:pt x="736" y="63"/>
                      <a:pt x="735" y="65"/>
                    </a:cubicBezTo>
                    <a:cubicBezTo>
                      <a:pt x="733" y="66"/>
                      <a:pt x="732" y="67"/>
                      <a:pt x="730" y="67"/>
                    </a:cubicBezTo>
                    <a:cubicBezTo>
                      <a:pt x="727" y="66"/>
                      <a:pt x="721" y="63"/>
                      <a:pt x="719" y="63"/>
                    </a:cubicBezTo>
                    <a:cubicBezTo>
                      <a:pt x="717" y="63"/>
                      <a:pt x="712" y="64"/>
                      <a:pt x="716" y="62"/>
                    </a:cubicBezTo>
                    <a:cubicBezTo>
                      <a:pt x="716" y="62"/>
                      <a:pt x="718" y="61"/>
                      <a:pt x="720" y="60"/>
                    </a:cubicBezTo>
                    <a:cubicBezTo>
                      <a:pt x="722" y="59"/>
                      <a:pt x="726" y="56"/>
                      <a:pt x="727" y="55"/>
                    </a:cubicBezTo>
                    <a:cubicBezTo>
                      <a:pt x="728" y="55"/>
                      <a:pt x="729" y="52"/>
                      <a:pt x="726" y="52"/>
                    </a:cubicBezTo>
                    <a:cubicBezTo>
                      <a:pt x="723" y="52"/>
                      <a:pt x="722" y="53"/>
                      <a:pt x="721" y="53"/>
                    </a:cubicBezTo>
                    <a:cubicBezTo>
                      <a:pt x="720" y="53"/>
                      <a:pt x="719" y="53"/>
                      <a:pt x="720" y="52"/>
                    </a:cubicBezTo>
                    <a:cubicBezTo>
                      <a:pt x="721" y="51"/>
                      <a:pt x="721" y="51"/>
                      <a:pt x="721" y="50"/>
                    </a:cubicBezTo>
                    <a:cubicBezTo>
                      <a:pt x="721" y="50"/>
                      <a:pt x="721" y="49"/>
                      <a:pt x="722" y="49"/>
                    </a:cubicBezTo>
                    <a:cubicBezTo>
                      <a:pt x="723" y="50"/>
                      <a:pt x="723" y="49"/>
                      <a:pt x="723" y="49"/>
                    </a:cubicBezTo>
                    <a:cubicBezTo>
                      <a:pt x="723" y="48"/>
                      <a:pt x="723" y="48"/>
                      <a:pt x="724" y="49"/>
                    </a:cubicBezTo>
                    <a:cubicBezTo>
                      <a:pt x="725" y="50"/>
                      <a:pt x="727" y="52"/>
                      <a:pt x="729" y="52"/>
                    </a:cubicBezTo>
                    <a:cubicBezTo>
                      <a:pt x="731" y="51"/>
                      <a:pt x="733" y="51"/>
                      <a:pt x="734" y="51"/>
                    </a:cubicBezTo>
                    <a:cubicBezTo>
                      <a:pt x="735" y="50"/>
                      <a:pt x="736" y="50"/>
                      <a:pt x="734" y="49"/>
                    </a:cubicBezTo>
                    <a:cubicBezTo>
                      <a:pt x="732" y="48"/>
                      <a:pt x="732" y="50"/>
                      <a:pt x="732" y="48"/>
                    </a:cubicBezTo>
                    <a:cubicBezTo>
                      <a:pt x="733" y="45"/>
                      <a:pt x="732" y="45"/>
                      <a:pt x="731" y="46"/>
                    </a:cubicBezTo>
                    <a:cubicBezTo>
                      <a:pt x="730" y="46"/>
                      <a:pt x="731" y="45"/>
                      <a:pt x="730" y="46"/>
                    </a:cubicBezTo>
                    <a:cubicBezTo>
                      <a:pt x="729" y="47"/>
                      <a:pt x="728" y="48"/>
                      <a:pt x="728" y="46"/>
                    </a:cubicBezTo>
                    <a:cubicBezTo>
                      <a:pt x="728" y="45"/>
                      <a:pt x="728" y="44"/>
                      <a:pt x="727" y="43"/>
                    </a:cubicBezTo>
                    <a:cubicBezTo>
                      <a:pt x="726" y="43"/>
                      <a:pt x="726" y="41"/>
                      <a:pt x="725" y="40"/>
                    </a:cubicBezTo>
                    <a:cubicBezTo>
                      <a:pt x="725" y="39"/>
                      <a:pt x="724" y="38"/>
                      <a:pt x="724" y="38"/>
                    </a:cubicBezTo>
                    <a:cubicBezTo>
                      <a:pt x="724" y="39"/>
                      <a:pt x="724" y="38"/>
                      <a:pt x="723" y="38"/>
                    </a:cubicBezTo>
                    <a:cubicBezTo>
                      <a:pt x="722" y="37"/>
                      <a:pt x="720" y="37"/>
                      <a:pt x="719" y="37"/>
                    </a:cubicBezTo>
                    <a:cubicBezTo>
                      <a:pt x="719" y="37"/>
                      <a:pt x="718" y="36"/>
                      <a:pt x="718" y="35"/>
                    </a:cubicBezTo>
                    <a:cubicBezTo>
                      <a:pt x="717" y="34"/>
                      <a:pt x="715" y="33"/>
                      <a:pt x="715" y="33"/>
                    </a:cubicBezTo>
                    <a:cubicBezTo>
                      <a:pt x="714" y="32"/>
                      <a:pt x="714" y="31"/>
                      <a:pt x="714" y="31"/>
                    </a:cubicBezTo>
                    <a:cubicBezTo>
                      <a:pt x="714" y="30"/>
                      <a:pt x="714" y="18"/>
                      <a:pt x="712" y="17"/>
                    </a:cubicBezTo>
                    <a:cubicBezTo>
                      <a:pt x="710" y="16"/>
                      <a:pt x="710" y="15"/>
                      <a:pt x="708" y="14"/>
                    </a:cubicBezTo>
                    <a:cubicBezTo>
                      <a:pt x="706" y="13"/>
                      <a:pt x="700" y="12"/>
                      <a:pt x="701" y="9"/>
                    </a:cubicBezTo>
                    <a:cubicBezTo>
                      <a:pt x="702" y="6"/>
                      <a:pt x="701" y="6"/>
                      <a:pt x="700" y="7"/>
                    </a:cubicBezTo>
                    <a:cubicBezTo>
                      <a:pt x="699" y="7"/>
                      <a:pt x="699" y="8"/>
                      <a:pt x="698" y="7"/>
                    </a:cubicBezTo>
                    <a:cubicBezTo>
                      <a:pt x="698" y="6"/>
                      <a:pt x="698" y="6"/>
                      <a:pt x="697" y="6"/>
                    </a:cubicBezTo>
                    <a:cubicBezTo>
                      <a:pt x="697" y="7"/>
                      <a:pt x="696" y="7"/>
                      <a:pt x="696" y="7"/>
                    </a:cubicBezTo>
                    <a:cubicBezTo>
                      <a:pt x="695" y="6"/>
                      <a:pt x="694" y="6"/>
                      <a:pt x="694" y="7"/>
                    </a:cubicBezTo>
                    <a:cubicBezTo>
                      <a:pt x="694" y="8"/>
                      <a:pt x="693" y="8"/>
                      <a:pt x="692" y="9"/>
                    </a:cubicBezTo>
                    <a:cubicBezTo>
                      <a:pt x="692" y="10"/>
                      <a:pt x="693" y="8"/>
                      <a:pt x="693" y="7"/>
                    </a:cubicBezTo>
                    <a:cubicBezTo>
                      <a:pt x="693" y="6"/>
                      <a:pt x="693" y="5"/>
                      <a:pt x="692" y="6"/>
                    </a:cubicBezTo>
                    <a:cubicBezTo>
                      <a:pt x="691" y="6"/>
                      <a:pt x="691" y="5"/>
                      <a:pt x="690" y="6"/>
                    </a:cubicBezTo>
                    <a:cubicBezTo>
                      <a:pt x="689" y="7"/>
                      <a:pt x="688" y="7"/>
                      <a:pt x="689" y="6"/>
                    </a:cubicBezTo>
                    <a:cubicBezTo>
                      <a:pt x="690" y="5"/>
                      <a:pt x="690" y="4"/>
                      <a:pt x="690" y="4"/>
                    </a:cubicBezTo>
                    <a:cubicBezTo>
                      <a:pt x="691" y="4"/>
                      <a:pt x="691" y="3"/>
                      <a:pt x="691" y="3"/>
                    </a:cubicBezTo>
                    <a:cubicBezTo>
                      <a:pt x="692" y="3"/>
                      <a:pt x="692" y="1"/>
                      <a:pt x="691" y="1"/>
                    </a:cubicBezTo>
                    <a:cubicBezTo>
                      <a:pt x="689" y="0"/>
                      <a:pt x="688" y="0"/>
                      <a:pt x="687" y="0"/>
                    </a:cubicBezTo>
                    <a:cubicBezTo>
                      <a:pt x="685" y="1"/>
                      <a:pt x="680" y="1"/>
                      <a:pt x="680" y="2"/>
                    </a:cubicBezTo>
                    <a:cubicBezTo>
                      <a:pt x="679" y="3"/>
                      <a:pt x="678" y="4"/>
                      <a:pt x="680" y="4"/>
                    </a:cubicBezTo>
                    <a:cubicBezTo>
                      <a:pt x="681" y="5"/>
                      <a:pt x="684" y="5"/>
                      <a:pt x="685" y="4"/>
                    </a:cubicBezTo>
                    <a:cubicBezTo>
                      <a:pt x="686" y="4"/>
                      <a:pt x="690" y="5"/>
                      <a:pt x="687" y="5"/>
                    </a:cubicBezTo>
                    <a:cubicBezTo>
                      <a:pt x="684" y="6"/>
                      <a:pt x="679" y="4"/>
                      <a:pt x="679" y="6"/>
                    </a:cubicBezTo>
                    <a:cubicBezTo>
                      <a:pt x="679" y="7"/>
                      <a:pt x="679" y="9"/>
                      <a:pt x="678" y="9"/>
                    </a:cubicBezTo>
                    <a:cubicBezTo>
                      <a:pt x="677" y="9"/>
                      <a:pt x="676" y="8"/>
                      <a:pt x="674" y="9"/>
                    </a:cubicBezTo>
                    <a:cubicBezTo>
                      <a:pt x="672" y="11"/>
                      <a:pt x="672" y="11"/>
                      <a:pt x="671" y="11"/>
                    </a:cubicBezTo>
                    <a:cubicBezTo>
                      <a:pt x="670" y="11"/>
                      <a:pt x="668" y="13"/>
                      <a:pt x="670" y="13"/>
                    </a:cubicBezTo>
                    <a:cubicBezTo>
                      <a:pt x="672" y="14"/>
                      <a:pt x="675" y="15"/>
                      <a:pt x="676" y="14"/>
                    </a:cubicBezTo>
                    <a:cubicBezTo>
                      <a:pt x="677" y="14"/>
                      <a:pt x="677" y="14"/>
                      <a:pt x="676" y="15"/>
                    </a:cubicBezTo>
                    <a:cubicBezTo>
                      <a:pt x="675" y="16"/>
                      <a:pt x="676" y="16"/>
                      <a:pt x="676" y="17"/>
                    </a:cubicBezTo>
                    <a:cubicBezTo>
                      <a:pt x="676" y="17"/>
                      <a:pt x="677" y="18"/>
                      <a:pt x="676" y="18"/>
                    </a:cubicBezTo>
                    <a:cubicBezTo>
                      <a:pt x="675" y="18"/>
                      <a:pt x="675" y="18"/>
                      <a:pt x="675" y="19"/>
                    </a:cubicBezTo>
                    <a:cubicBezTo>
                      <a:pt x="675" y="20"/>
                      <a:pt x="675" y="20"/>
                      <a:pt x="674" y="20"/>
                    </a:cubicBezTo>
                    <a:cubicBezTo>
                      <a:pt x="673" y="20"/>
                      <a:pt x="669" y="18"/>
                      <a:pt x="668" y="18"/>
                    </a:cubicBezTo>
                    <a:cubicBezTo>
                      <a:pt x="667" y="17"/>
                      <a:pt x="666" y="17"/>
                      <a:pt x="665" y="18"/>
                    </a:cubicBezTo>
                    <a:cubicBezTo>
                      <a:pt x="664" y="19"/>
                      <a:pt x="664" y="19"/>
                      <a:pt x="662" y="20"/>
                    </a:cubicBezTo>
                    <a:cubicBezTo>
                      <a:pt x="661" y="21"/>
                      <a:pt x="661" y="20"/>
                      <a:pt x="662" y="21"/>
                    </a:cubicBezTo>
                    <a:cubicBezTo>
                      <a:pt x="662" y="22"/>
                      <a:pt x="662" y="22"/>
                      <a:pt x="662" y="23"/>
                    </a:cubicBezTo>
                    <a:cubicBezTo>
                      <a:pt x="661" y="23"/>
                      <a:pt x="660" y="24"/>
                      <a:pt x="660" y="24"/>
                    </a:cubicBezTo>
                    <a:cubicBezTo>
                      <a:pt x="661" y="25"/>
                      <a:pt x="660" y="25"/>
                      <a:pt x="662" y="25"/>
                    </a:cubicBezTo>
                    <a:cubicBezTo>
                      <a:pt x="663" y="24"/>
                      <a:pt x="663" y="25"/>
                      <a:pt x="662" y="26"/>
                    </a:cubicBezTo>
                    <a:cubicBezTo>
                      <a:pt x="661" y="27"/>
                      <a:pt x="661" y="28"/>
                      <a:pt x="661" y="28"/>
                    </a:cubicBezTo>
                    <a:cubicBezTo>
                      <a:pt x="661" y="29"/>
                      <a:pt x="660" y="30"/>
                      <a:pt x="660" y="31"/>
                    </a:cubicBezTo>
                    <a:cubicBezTo>
                      <a:pt x="659" y="32"/>
                      <a:pt x="658" y="34"/>
                      <a:pt x="660" y="34"/>
                    </a:cubicBezTo>
                    <a:cubicBezTo>
                      <a:pt x="663" y="35"/>
                      <a:pt x="663" y="36"/>
                      <a:pt x="664" y="37"/>
                    </a:cubicBezTo>
                    <a:cubicBezTo>
                      <a:pt x="664" y="37"/>
                      <a:pt x="666" y="37"/>
                      <a:pt x="667" y="37"/>
                    </a:cubicBezTo>
                    <a:cubicBezTo>
                      <a:pt x="669" y="36"/>
                      <a:pt x="671" y="35"/>
                      <a:pt x="668" y="37"/>
                    </a:cubicBezTo>
                    <a:cubicBezTo>
                      <a:pt x="665" y="39"/>
                      <a:pt x="664" y="40"/>
                      <a:pt x="664" y="41"/>
                    </a:cubicBezTo>
                    <a:cubicBezTo>
                      <a:pt x="663" y="42"/>
                      <a:pt x="663" y="44"/>
                      <a:pt x="662" y="44"/>
                    </a:cubicBezTo>
                    <a:cubicBezTo>
                      <a:pt x="661" y="45"/>
                      <a:pt x="659" y="46"/>
                      <a:pt x="660" y="49"/>
                    </a:cubicBezTo>
                    <a:cubicBezTo>
                      <a:pt x="661" y="52"/>
                      <a:pt x="662" y="55"/>
                      <a:pt x="664" y="55"/>
                    </a:cubicBezTo>
                    <a:cubicBezTo>
                      <a:pt x="666" y="56"/>
                      <a:pt x="667" y="56"/>
                      <a:pt x="667" y="57"/>
                    </a:cubicBezTo>
                    <a:cubicBezTo>
                      <a:pt x="666" y="58"/>
                      <a:pt x="666" y="58"/>
                      <a:pt x="667" y="59"/>
                    </a:cubicBezTo>
                    <a:cubicBezTo>
                      <a:pt x="669" y="61"/>
                      <a:pt x="669" y="60"/>
                      <a:pt x="670" y="60"/>
                    </a:cubicBezTo>
                    <a:cubicBezTo>
                      <a:pt x="671" y="60"/>
                      <a:pt x="671" y="61"/>
                      <a:pt x="672" y="61"/>
                    </a:cubicBezTo>
                    <a:cubicBezTo>
                      <a:pt x="674" y="61"/>
                      <a:pt x="676" y="61"/>
                      <a:pt x="677" y="63"/>
                    </a:cubicBezTo>
                    <a:cubicBezTo>
                      <a:pt x="679" y="64"/>
                      <a:pt x="682" y="65"/>
                      <a:pt x="685" y="64"/>
                    </a:cubicBezTo>
                    <a:cubicBezTo>
                      <a:pt x="687" y="64"/>
                      <a:pt x="689" y="63"/>
                      <a:pt x="689" y="64"/>
                    </a:cubicBezTo>
                    <a:cubicBezTo>
                      <a:pt x="689" y="65"/>
                      <a:pt x="692" y="71"/>
                      <a:pt x="697" y="69"/>
                    </a:cubicBezTo>
                    <a:cubicBezTo>
                      <a:pt x="702" y="67"/>
                      <a:pt x="704" y="66"/>
                      <a:pt x="705" y="67"/>
                    </a:cubicBezTo>
                    <a:cubicBezTo>
                      <a:pt x="705" y="68"/>
                      <a:pt x="706" y="69"/>
                      <a:pt x="705" y="70"/>
                    </a:cubicBezTo>
                    <a:cubicBezTo>
                      <a:pt x="704" y="71"/>
                      <a:pt x="704" y="72"/>
                      <a:pt x="705" y="71"/>
                    </a:cubicBezTo>
                    <a:cubicBezTo>
                      <a:pt x="706" y="71"/>
                      <a:pt x="709" y="71"/>
                      <a:pt x="706" y="72"/>
                    </a:cubicBezTo>
                    <a:cubicBezTo>
                      <a:pt x="703" y="74"/>
                      <a:pt x="701" y="76"/>
                      <a:pt x="701" y="76"/>
                    </a:cubicBezTo>
                    <a:cubicBezTo>
                      <a:pt x="701" y="76"/>
                      <a:pt x="701" y="76"/>
                      <a:pt x="700" y="75"/>
                    </a:cubicBezTo>
                    <a:cubicBezTo>
                      <a:pt x="700" y="75"/>
                      <a:pt x="696" y="73"/>
                      <a:pt x="695" y="73"/>
                    </a:cubicBezTo>
                    <a:cubicBezTo>
                      <a:pt x="694" y="73"/>
                      <a:pt x="693" y="73"/>
                      <a:pt x="694" y="74"/>
                    </a:cubicBezTo>
                    <a:cubicBezTo>
                      <a:pt x="694" y="75"/>
                      <a:pt x="694" y="75"/>
                      <a:pt x="693" y="76"/>
                    </a:cubicBezTo>
                    <a:cubicBezTo>
                      <a:pt x="693" y="76"/>
                      <a:pt x="693" y="76"/>
                      <a:pt x="693" y="77"/>
                    </a:cubicBezTo>
                    <a:cubicBezTo>
                      <a:pt x="694" y="77"/>
                      <a:pt x="694" y="77"/>
                      <a:pt x="693" y="78"/>
                    </a:cubicBezTo>
                    <a:cubicBezTo>
                      <a:pt x="693" y="79"/>
                      <a:pt x="689" y="82"/>
                      <a:pt x="689" y="84"/>
                    </a:cubicBezTo>
                    <a:cubicBezTo>
                      <a:pt x="689" y="87"/>
                      <a:pt x="688" y="87"/>
                      <a:pt x="689" y="88"/>
                    </a:cubicBezTo>
                    <a:cubicBezTo>
                      <a:pt x="690" y="88"/>
                      <a:pt x="691" y="88"/>
                      <a:pt x="693" y="88"/>
                    </a:cubicBezTo>
                    <a:cubicBezTo>
                      <a:pt x="694" y="87"/>
                      <a:pt x="699" y="86"/>
                      <a:pt x="699" y="85"/>
                    </a:cubicBezTo>
                    <a:cubicBezTo>
                      <a:pt x="700" y="85"/>
                      <a:pt x="702" y="83"/>
                      <a:pt x="699" y="84"/>
                    </a:cubicBezTo>
                    <a:cubicBezTo>
                      <a:pt x="697" y="85"/>
                      <a:pt x="697" y="84"/>
                      <a:pt x="698" y="83"/>
                    </a:cubicBezTo>
                    <a:cubicBezTo>
                      <a:pt x="699" y="82"/>
                      <a:pt x="699" y="81"/>
                      <a:pt x="699" y="81"/>
                    </a:cubicBezTo>
                    <a:cubicBezTo>
                      <a:pt x="699" y="80"/>
                      <a:pt x="700" y="80"/>
                      <a:pt x="700" y="81"/>
                    </a:cubicBezTo>
                    <a:cubicBezTo>
                      <a:pt x="700" y="82"/>
                      <a:pt x="700" y="82"/>
                      <a:pt x="701" y="82"/>
                    </a:cubicBezTo>
                    <a:cubicBezTo>
                      <a:pt x="701" y="82"/>
                      <a:pt x="702" y="81"/>
                      <a:pt x="702" y="83"/>
                    </a:cubicBezTo>
                    <a:cubicBezTo>
                      <a:pt x="703" y="85"/>
                      <a:pt x="702" y="88"/>
                      <a:pt x="702" y="89"/>
                    </a:cubicBezTo>
                    <a:cubicBezTo>
                      <a:pt x="702" y="90"/>
                      <a:pt x="701" y="91"/>
                      <a:pt x="703" y="91"/>
                    </a:cubicBezTo>
                    <a:cubicBezTo>
                      <a:pt x="704" y="90"/>
                      <a:pt x="709" y="90"/>
                      <a:pt x="705" y="92"/>
                    </a:cubicBezTo>
                    <a:cubicBezTo>
                      <a:pt x="701" y="94"/>
                      <a:pt x="699" y="96"/>
                      <a:pt x="697" y="97"/>
                    </a:cubicBezTo>
                    <a:cubicBezTo>
                      <a:pt x="696" y="99"/>
                      <a:pt x="693" y="101"/>
                      <a:pt x="692" y="101"/>
                    </a:cubicBezTo>
                    <a:cubicBezTo>
                      <a:pt x="691" y="102"/>
                      <a:pt x="689" y="104"/>
                      <a:pt x="688" y="105"/>
                    </a:cubicBezTo>
                    <a:cubicBezTo>
                      <a:pt x="687" y="105"/>
                      <a:pt x="685" y="106"/>
                      <a:pt x="684" y="105"/>
                    </a:cubicBezTo>
                    <a:cubicBezTo>
                      <a:pt x="683" y="105"/>
                      <a:pt x="682" y="105"/>
                      <a:pt x="681" y="105"/>
                    </a:cubicBezTo>
                    <a:cubicBezTo>
                      <a:pt x="680" y="106"/>
                      <a:pt x="679" y="106"/>
                      <a:pt x="679" y="105"/>
                    </a:cubicBezTo>
                    <a:cubicBezTo>
                      <a:pt x="680" y="105"/>
                      <a:pt x="679" y="104"/>
                      <a:pt x="679" y="105"/>
                    </a:cubicBezTo>
                    <a:cubicBezTo>
                      <a:pt x="678" y="105"/>
                      <a:pt x="677" y="105"/>
                      <a:pt x="676" y="107"/>
                    </a:cubicBezTo>
                    <a:cubicBezTo>
                      <a:pt x="675" y="110"/>
                      <a:pt x="674" y="110"/>
                      <a:pt x="673" y="111"/>
                    </a:cubicBezTo>
                    <a:cubicBezTo>
                      <a:pt x="673" y="112"/>
                      <a:pt x="672" y="114"/>
                      <a:pt x="674" y="115"/>
                    </a:cubicBezTo>
                    <a:cubicBezTo>
                      <a:pt x="676" y="115"/>
                      <a:pt x="677" y="117"/>
                      <a:pt x="677" y="119"/>
                    </a:cubicBezTo>
                    <a:cubicBezTo>
                      <a:pt x="678" y="120"/>
                      <a:pt x="678" y="123"/>
                      <a:pt x="678" y="123"/>
                    </a:cubicBezTo>
                    <a:cubicBezTo>
                      <a:pt x="679" y="124"/>
                      <a:pt x="680" y="126"/>
                      <a:pt x="679" y="127"/>
                    </a:cubicBezTo>
                    <a:cubicBezTo>
                      <a:pt x="679" y="129"/>
                      <a:pt x="679" y="130"/>
                      <a:pt x="679" y="132"/>
                    </a:cubicBezTo>
                    <a:cubicBezTo>
                      <a:pt x="680" y="134"/>
                      <a:pt x="679" y="135"/>
                      <a:pt x="678" y="135"/>
                    </a:cubicBezTo>
                    <a:cubicBezTo>
                      <a:pt x="677" y="134"/>
                      <a:pt x="676" y="134"/>
                      <a:pt x="675" y="134"/>
                    </a:cubicBezTo>
                    <a:cubicBezTo>
                      <a:pt x="674" y="135"/>
                      <a:pt x="672" y="135"/>
                      <a:pt x="671" y="134"/>
                    </a:cubicBezTo>
                    <a:cubicBezTo>
                      <a:pt x="671" y="134"/>
                      <a:pt x="667" y="133"/>
                      <a:pt x="668" y="134"/>
                    </a:cubicBezTo>
                    <a:cubicBezTo>
                      <a:pt x="669" y="135"/>
                      <a:pt x="673" y="139"/>
                      <a:pt x="672" y="141"/>
                    </a:cubicBezTo>
                    <a:cubicBezTo>
                      <a:pt x="671" y="142"/>
                      <a:pt x="671" y="142"/>
                      <a:pt x="671" y="141"/>
                    </a:cubicBezTo>
                    <a:cubicBezTo>
                      <a:pt x="670" y="139"/>
                      <a:pt x="671" y="138"/>
                      <a:pt x="669" y="138"/>
                    </a:cubicBezTo>
                    <a:cubicBezTo>
                      <a:pt x="667" y="137"/>
                      <a:pt x="667" y="135"/>
                      <a:pt x="666" y="135"/>
                    </a:cubicBezTo>
                    <a:cubicBezTo>
                      <a:pt x="664" y="134"/>
                      <a:pt x="663" y="132"/>
                      <a:pt x="662" y="131"/>
                    </a:cubicBezTo>
                    <a:cubicBezTo>
                      <a:pt x="662" y="131"/>
                      <a:pt x="664" y="129"/>
                      <a:pt x="664" y="130"/>
                    </a:cubicBezTo>
                    <a:cubicBezTo>
                      <a:pt x="664" y="132"/>
                      <a:pt x="665" y="132"/>
                      <a:pt x="666" y="132"/>
                    </a:cubicBezTo>
                    <a:cubicBezTo>
                      <a:pt x="667" y="132"/>
                      <a:pt x="667" y="131"/>
                      <a:pt x="668" y="131"/>
                    </a:cubicBezTo>
                    <a:cubicBezTo>
                      <a:pt x="669" y="131"/>
                      <a:pt x="668" y="131"/>
                      <a:pt x="669" y="132"/>
                    </a:cubicBezTo>
                    <a:cubicBezTo>
                      <a:pt x="670" y="132"/>
                      <a:pt x="672" y="132"/>
                      <a:pt x="673" y="132"/>
                    </a:cubicBezTo>
                    <a:cubicBezTo>
                      <a:pt x="674" y="132"/>
                      <a:pt x="675" y="133"/>
                      <a:pt x="675" y="133"/>
                    </a:cubicBezTo>
                    <a:cubicBezTo>
                      <a:pt x="675" y="133"/>
                      <a:pt x="678" y="134"/>
                      <a:pt x="678" y="132"/>
                    </a:cubicBezTo>
                    <a:cubicBezTo>
                      <a:pt x="677" y="130"/>
                      <a:pt x="677" y="130"/>
                      <a:pt x="677" y="129"/>
                    </a:cubicBezTo>
                    <a:cubicBezTo>
                      <a:pt x="676" y="128"/>
                      <a:pt x="677" y="128"/>
                      <a:pt x="675" y="127"/>
                    </a:cubicBezTo>
                    <a:cubicBezTo>
                      <a:pt x="674" y="127"/>
                      <a:pt x="673" y="127"/>
                      <a:pt x="673" y="128"/>
                    </a:cubicBezTo>
                    <a:cubicBezTo>
                      <a:pt x="672" y="128"/>
                      <a:pt x="670" y="128"/>
                      <a:pt x="672" y="126"/>
                    </a:cubicBezTo>
                    <a:cubicBezTo>
                      <a:pt x="674" y="125"/>
                      <a:pt x="676" y="121"/>
                      <a:pt x="674" y="123"/>
                    </a:cubicBezTo>
                    <a:cubicBezTo>
                      <a:pt x="673" y="124"/>
                      <a:pt x="673" y="124"/>
                      <a:pt x="672" y="123"/>
                    </a:cubicBezTo>
                    <a:cubicBezTo>
                      <a:pt x="672" y="123"/>
                      <a:pt x="671" y="122"/>
                      <a:pt x="671" y="123"/>
                    </a:cubicBezTo>
                    <a:cubicBezTo>
                      <a:pt x="670" y="125"/>
                      <a:pt x="668" y="126"/>
                      <a:pt x="667" y="126"/>
                    </a:cubicBezTo>
                    <a:cubicBezTo>
                      <a:pt x="666" y="126"/>
                      <a:pt x="664" y="126"/>
                      <a:pt x="665" y="125"/>
                    </a:cubicBezTo>
                    <a:cubicBezTo>
                      <a:pt x="665" y="124"/>
                      <a:pt x="668" y="121"/>
                      <a:pt x="666" y="122"/>
                    </a:cubicBezTo>
                    <a:cubicBezTo>
                      <a:pt x="664" y="122"/>
                      <a:pt x="662" y="121"/>
                      <a:pt x="662" y="119"/>
                    </a:cubicBezTo>
                    <a:cubicBezTo>
                      <a:pt x="661" y="118"/>
                      <a:pt x="662" y="118"/>
                      <a:pt x="663" y="117"/>
                    </a:cubicBezTo>
                    <a:cubicBezTo>
                      <a:pt x="664" y="115"/>
                      <a:pt x="663" y="114"/>
                      <a:pt x="664" y="115"/>
                    </a:cubicBezTo>
                    <a:cubicBezTo>
                      <a:pt x="665" y="116"/>
                      <a:pt x="666" y="116"/>
                      <a:pt x="665" y="114"/>
                    </a:cubicBezTo>
                    <a:cubicBezTo>
                      <a:pt x="665" y="112"/>
                      <a:pt x="665" y="112"/>
                      <a:pt x="666" y="110"/>
                    </a:cubicBezTo>
                    <a:cubicBezTo>
                      <a:pt x="667" y="108"/>
                      <a:pt x="668" y="105"/>
                      <a:pt x="668" y="104"/>
                    </a:cubicBezTo>
                    <a:cubicBezTo>
                      <a:pt x="668" y="103"/>
                      <a:pt x="669" y="100"/>
                      <a:pt x="667" y="102"/>
                    </a:cubicBezTo>
                    <a:cubicBezTo>
                      <a:pt x="665" y="103"/>
                      <a:pt x="663" y="103"/>
                      <a:pt x="662" y="104"/>
                    </a:cubicBezTo>
                    <a:cubicBezTo>
                      <a:pt x="661" y="105"/>
                      <a:pt x="659" y="107"/>
                      <a:pt x="658" y="106"/>
                    </a:cubicBezTo>
                    <a:cubicBezTo>
                      <a:pt x="657" y="106"/>
                      <a:pt x="656" y="105"/>
                      <a:pt x="658" y="104"/>
                    </a:cubicBezTo>
                    <a:cubicBezTo>
                      <a:pt x="660" y="103"/>
                      <a:pt x="661" y="102"/>
                      <a:pt x="660" y="102"/>
                    </a:cubicBezTo>
                    <a:cubicBezTo>
                      <a:pt x="659" y="102"/>
                      <a:pt x="658" y="101"/>
                      <a:pt x="658" y="101"/>
                    </a:cubicBezTo>
                    <a:cubicBezTo>
                      <a:pt x="659" y="100"/>
                      <a:pt x="659" y="99"/>
                      <a:pt x="658" y="100"/>
                    </a:cubicBezTo>
                    <a:cubicBezTo>
                      <a:pt x="656" y="100"/>
                      <a:pt x="652" y="100"/>
                      <a:pt x="653" y="99"/>
                    </a:cubicBezTo>
                    <a:cubicBezTo>
                      <a:pt x="654" y="99"/>
                      <a:pt x="654" y="98"/>
                      <a:pt x="652" y="97"/>
                    </a:cubicBezTo>
                    <a:cubicBezTo>
                      <a:pt x="651" y="97"/>
                      <a:pt x="652" y="95"/>
                      <a:pt x="649" y="95"/>
                    </a:cubicBezTo>
                    <a:cubicBezTo>
                      <a:pt x="646" y="95"/>
                      <a:pt x="647" y="96"/>
                      <a:pt x="645" y="96"/>
                    </a:cubicBezTo>
                    <a:cubicBezTo>
                      <a:pt x="644" y="95"/>
                      <a:pt x="643" y="94"/>
                      <a:pt x="641" y="93"/>
                    </a:cubicBezTo>
                    <a:cubicBezTo>
                      <a:pt x="639" y="93"/>
                      <a:pt x="638" y="93"/>
                      <a:pt x="639" y="94"/>
                    </a:cubicBezTo>
                    <a:cubicBezTo>
                      <a:pt x="641" y="95"/>
                      <a:pt x="642" y="98"/>
                      <a:pt x="640" y="98"/>
                    </a:cubicBezTo>
                    <a:cubicBezTo>
                      <a:pt x="638" y="98"/>
                      <a:pt x="635" y="99"/>
                      <a:pt x="633" y="98"/>
                    </a:cubicBezTo>
                    <a:cubicBezTo>
                      <a:pt x="630" y="97"/>
                      <a:pt x="627" y="96"/>
                      <a:pt x="629" y="98"/>
                    </a:cubicBezTo>
                    <a:cubicBezTo>
                      <a:pt x="630" y="100"/>
                      <a:pt x="630" y="100"/>
                      <a:pt x="631" y="101"/>
                    </a:cubicBezTo>
                    <a:cubicBezTo>
                      <a:pt x="632" y="102"/>
                      <a:pt x="634" y="102"/>
                      <a:pt x="633" y="104"/>
                    </a:cubicBezTo>
                    <a:cubicBezTo>
                      <a:pt x="633" y="105"/>
                      <a:pt x="633" y="105"/>
                      <a:pt x="632" y="104"/>
                    </a:cubicBezTo>
                    <a:cubicBezTo>
                      <a:pt x="631" y="103"/>
                      <a:pt x="629" y="102"/>
                      <a:pt x="631" y="103"/>
                    </a:cubicBezTo>
                    <a:cubicBezTo>
                      <a:pt x="632" y="104"/>
                      <a:pt x="632" y="106"/>
                      <a:pt x="633" y="107"/>
                    </a:cubicBezTo>
                    <a:cubicBezTo>
                      <a:pt x="635" y="107"/>
                      <a:pt x="635" y="109"/>
                      <a:pt x="636" y="109"/>
                    </a:cubicBezTo>
                    <a:cubicBezTo>
                      <a:pt x="637" y="109"/>
                      <a:pt x="637" y="109"/>
                      <a:pt x="638" y="108"/>
                    </a:cubicBezTo>
                    <a:cubicBezTo>
                      <a:pt x="639" y="107"/>
                      <a:pt x="641" y="107"/>
                      <a:pt x="643" y="106"/>
                    </a:cubicBezTo>
                    <a:cubicBezTo>
                      <a:pt x="644" y="106"/>
                      <a:pt x="644" y="107"/>
                      <a:pt x="646" y="108"/>
                    </a:cubicBezTo>
                    <a:cubicBezTo>
                      <a:pt x="647" y="109"/>
                      <a:pt x="647" y="111"/>
                      <a:pt x="648" y="109"/>
                    </a:cubicBezTo>
                    <a:cubicBezTo>
                      <a:pt x="650" y="108"/>
                      <a:pt x="650" y="109"/>
                      <a:pt x="651" y="110"/>
                    </a:cubicBezTo>
                    <a:cubicBezTo>
                      <a:pt x="651" y="111"/>
                      <a:pt x="652" y="112"/>
                      <a:pt x="651" y="113"/>
                    </a:cubicBezTo>
                    <a:cubicBezTo>
                      <a:pt x="651" y="114"/>
                      <a:pt x="651" y="114"/>
                      <a:pt x="651" y="114"/>
                    </a:cubicBezTo>
                    <a:cubicBezTo>
                      <a:pt x="652" y="115"/>
                      <a:pt x="652" y="115"/>
                      <a:pt x="651" y="116"/>
                    </a:cubicBezTo>
                    <a:cubicBezTo>
                      <a:pt x="650" y="117"/>
                      <a:pt x="647" y="117"/>
                      <a:pt x="646" y="117"/>
                    </a:cubicBezTo>
                    <a:cubicBezTo>
                      <a:pt x="645" y="117"/>
                      <a:pt x="643" y="116"/>
                      <a:pt x="641" y="115"/>
                    </a:cubicBezTo>
                    <a:cubicBezTo>
                      <a:pt x="640" y="114"/>
                      <a:pt x="637" y="113"/>
                      <a:pt x="636" y="112"/>
                    </a:cubicBezTo>
                    <a:cubicBezTo>
                      <a:pt x="636" y="110"/>
                      <a:pt x="633" y="107"/>
                      <a:pt x="630" y="106"/>
                    </a:cubicBezTo>
                    <a:cubicBezTo>
                      <a:pt x="628" y="105"/>
                      <a:pt x="628" y="105"/>
                      <a:pt x="628" y="106"/>
                    </a:cubicBezTo>
                    <a:cubicBezTo>
                      <a:pt x="628" y="108"/>
                      <a:pt x="628" y="108"/>
                      <a:pt x="628" y="108"/>
                    </a:cubicBezTo>
                    <a:cubicBezTo>
                      <a:pt x="629" y="109"/>
                      <a:pt x="630" y="108"/>
                      <a:pt x="629" y="109"/>
                    </a:cubicBezTo>
                    <a:cubicBezTo>
                      <a:pt x="628" y="110"/>
                      <a:pt x="626" y="114"/>
                      <a:pt x="623" y="114"/>
                    </a:cubicBezTo>
                    <a:cubicBezTo>
                      <a:pt x="619" y="114"/>
                      <a:pt x="616" y="111"/>
                      <a:pt x="613" y="112"/>
                    </a:cubicBezTo>
                    <a:cubicBezTo>
                      <a:pt x="609" y="112"/>
                      <a:pt x="606" y="110"/>
                      <a:pt x="601" y="111"/>
                    </a:cubicBezTo>
                    <a:cubicBezTo>
                      <a:pt x="595" y="113"/>
                      <a:pt x="589" y="115"/>
                      <a:pt x="586" y="115"/>
                    </a:cubicBezTo>
                    <a:cubicBezTo>
                      <a:pt x="583" y="114"/>
                      <a:pt x="580" y="114"/>
                      <a:pt x="578" y="114"/>
                    </a:cubicBezTo>
                    <a:cubicBezTo>
                      <a:pt x="577" y="115"/>
                      <a:pt x="575" y="114"/>
                      <a:pt x="574" y="113"/>
                    </a:cubicBezTo>
                    <a:cubicBezTo>
                      <a:pt x="573" y="113"/>
                      <a:pt x="571" y="111"/>
                      <a:pt x="569" y="111"/>
                    </a:cubicBezTo>
                    <a:cubicBezTo>
                      <a:pt x="568" y="112"/>
                      <a:pt x="567" y="111"/>
                      <a:pt x="566" y="110"/>
                    </a:cubicBezTo>
                    <a:cubicBezTo>
                      <a:pt x="565" y="109"/>
                      <a:pt x="564" y="108"/>
                      <a:pt x="562" y="108"/>
                    </a:cubicBezTo>
                    <a:cubicBezTo>
                      <a:pt x="561" y="108"/>
                      <a:pt x="560" y="107"/>
                      <a:pt x="559" y="107"/>
                    </a:cubicBezTo>
                    <a:cubicBezTo>
                      <a:pt x="559" y="106"/>
                      <a:pt x="559" y="105"/>
                      <a:pt x="557" y="106"/>
                    </a:cubicBezTo>
                    <a:cubicBezTo>
                      <a:pt x="555" y="106"/>
                      <a:pt x="551" y="106"/>
                      <a:pt x="549" y="106"/>
                    </a:cubicBezTo>
                    <a:cubicBezTo>
                      <a:pt x="548" y="107"/>
                      <a:pt x="545" y="106"/>
                      <a:pt x="544" y="106"/>
                    </a:cubicBezTo>
                    <a:cubicBezTo>
                      <a:pt x="543" y="106"/>
                      <a:pt x="542" y="106"/>
                      <a:pt x="542" y="105"/>
                    </a:cubicBezTo>
                    <a:cubicBezTo>
                      <a:pt x="542" y="105"/>
                      <a:pt x="542" y="104"/>
                      <a:pt x="541" y="104"/>
                    </a:cubicBezTo>
                    <a:cubicBezTo>
                      <a:pt x="540" y="104"/>
                      <a:pt x="540" y="103"/>
                      <a:pt x="540" y="103"/>
                    </a:cubicBezTo>
                    <a:cubicBezTo>
                      <a:pt x="540" y="102"/>
                      <a:pt x="540" y="100"/>
                      <a:pt x="539" y="101"/>
                    </a:cubicBezTo>
                    <a:cubicBezTo>
                      <a:pt x="539" y="101"/>
                      <a:pt x="536" y="101"/>
                      <a:pt x="536" y="101"/>
                    </a:cubicBezTo>
                    <a:cubicBezTo>
                      <a:pt x="535" y="100"/>
                      <a:pt x="536" y="100"/>
                      <a:pt x="535" y="100"/>
                    </a:cubicBezTo>
                    <a:cubicBezTo>
                      <a:pt x="533" y="100"/>
                      <a:pt x="530" y="98"/>
                      <a:pt x="530" y="98"/>
                    </a:cubicBezTo>
                    <a:cubicBezTo>
                      <a:pt x="529" y="97"/>
                      <a:pt x="531" y="96"/>
                      <a:pt x="529" y="96"/>
                    </a:cubicBezTo>
                    <a:cubicBezTo>
                      <a:pt x="527" y="96"/>
                      <a:pt x="525" y="96"/>
                      <a:pt x="528" y="95"/>
                    </a:cubicBezTo>
                    <a:cubicBezTo>
                      <a:pt x="530" y="94"/>
                      <a:pt x="530" y="94"/>
                      <a:pt x="529" y="93"/>
                    </a:cubicBezTo>
                    <a:cubicBezTo>
                      <a:pt x="528" y="92"/>
                      <a:pt x="526" y="90"/>
                      <a:pt x="527" y="90"/>
                    </a:cubicBezTo>
                    <a:cubicBezTo>
                      <a:pt x="528" y="89"/>
                      <a:pt x="528" y="88"/>
                      <a:pt x="527" y="87"/>
                    </a:cubicBezTo>
                    <a:cubicBezTo>
                      <a:pt x="526" y="87"/>
                      <a:pt x="519" y="81"/>
                      <a:pt x="515" y="83"/>
                    </a:cubicBezTo>
                    <a:cubicBezTo>
                      <a:pt x="511" y="85"/>
                      <a:pt x="492" y="89"/>
                      <a:pt x="488" y="90"/>
                    </a:cubicBezTo>
                    <a:cubicBezTo>
                      <a:pt x="484" y="91"/>
                      <a:pt x="484" y="92"/>
                      <a:pt x="483" y="94"/>
                    </a:cubicBezTo>
                    <a:cubicBezTo>
                      <a:pt x="482" y="96"/>
                      <a:pt x="481" y="96"/>
                      <a:pt x="480" y="97"/>
                    </a:cubicBezTo>
                    <a:cubicBezTo>
                      <a:pt x="478" y="98"/>
                      <a:pt x="477" y="101"/>
                      <a:pt x="479" y="100"/>
                    </a:cubicBezTo>
                    <a:cubicBezTo>
                      <a:pt x="482" y="99"/>
                      <a:pt x="485" y="99"/>
                      <a:pt x="484" y="100"/>
                    </a:cubicBezTo>
                    <a:cubicBezTo>
                      <a:pt x="484" y="101"/>
                      <a:pt x="484" y="101"/>
                      <a:pt x="485" y="101"/>
                    </a:cubicBezTo>
                    <a:cubicBezTo>
                      <a:pt x="487" y="101"/>
                      <a:pt x="490" y="101"/>
                      <a:pt x="492" y="102"/>
                    </a:cubicBezTo>
                    <a:cubicBezTo>
                      <a:pt x="493" y="102"/>
                      <a:pt x="497" y="103"/>
                      <a:pt x="496" y="102"/>
                    </a:cubicBezTo>
                    <a:cubicBezTo>
                      <a:pt x="494" y="101"/>
                      <a:pt x="492" y="99"/>
                      <a:pt x="493" y="99"/>
                    </a:cubicBezTo>
                    <a:cubicBezTo>
                      <a:pt x="494" y="98"/>
                      <a:pt x="495" y="97"/>
                      <a:pt x="497" y="98"/>
                    </a:cubicBezTo>
                    <a:cubicBezTo>
                      <a:pt x="499" y="99"/>
                      <a:pt x="501" y="101"/>
                      <a:pt x="504" y="98"/>
                    </a:cubicBezTo>
                    <a:cubicBezTo>
                      <a:pt x="507" y="96"/>
                      <a:pt x="508" y="96"/>
                      <a:pt x="509" y="97"/>
                    </a:cubicBezTo>
                    <a:cubicBezTo>
                      <a:pt x="511" y="98"/>
                      <a:pt x="512" y="100"/>
                      <a:pt x="512" y="98"/>
                    </a:cubicBezTo>
                    <a:cubicBezTo>
                      <a:pt x="512" y="96"/>
                      <a:pt x="513" y="97"/>
                      <a:pt x="512" y="95"/>
                    </a:cubicBezTo>
                    <a:cubicBezTo>
                      <a:pt x="512" y="93"/>
                      <a:pt x="511" y="93"/>
                      <a:pt x="513" y="93"/>
                    </a:cubicBezTo>
                    <a:cubicBezTo>
                      <a:pt x="515" y="92"/>
                      <a:pt x="521" y="91"/>
                      <a:pt x="523" y="90"/>
                    </a:cubicBezTo>
                    <a:cubicBezTo>
                      <a:pt x="524" y="90"/>
                      <a:pt x="526" y="90"/>
                      <a:pt x="524" y="91"/>
                    </a:cubicBezTo>
                    <a:cubicBezTo>
                      <a:pt x="523" y="92"/>
                      <a:pt x="523" y="92"/>
                      <a:pt x="524" y="93"/>
                    </a:cubicBezTo>
                    <a:cubicBezTo>
                      <a:pt x="524" y="94"/>
                      <a:pt x="525" y="94"/>
                      <a:pt x="523" y="95"/>
                    </a:cubicBezTo>
                    <a:cubicBezTo>
                      <a:pt x="521" y="96"/>
                      <a:pt x="517" y="97"/>
                      <a:pt x="515" y="97"/>
                    </a:cubicBezTo>
                    <a:cubicBezTo>
                      <a:pt x="514" y="97"/>
                      <a:pt x="513" y="98"/>
                      <a:pt x="513" y="99"/>
                    </a:cubicBezTo>
                    <a:cubicBezTo>
                      <a:pt x="513" y="101"/>
                      <a:pt x="513" y="103"/>
                      <a:pt x="512" y="102"/>
                    </a:cubicBezTo>
                    <a:cubicBezTo>
                      <a:pt x="511" y="100"/>
                      <a:pt x="509" y="101"/>
                      <a:pt x="508" y="101"/>
                    </a:cubicBezTo>
                    <a:cubicBezTo>
                      <a:pt x="508" y="101"/>
                      <a:pt x="509" y="102"/>
                      <a:pt x="507" y="102"/>
                    </a:cubicBezTo>
                    <a:cubicBezTo>
                      <a:pt x="506" y="103"/>
                      <a:pt x="495" y="106"/>
                      <a:pt x="495" y="107"/>
                    </a:cubicBezTo>
                    <a:cubicBezTo>
                      <a:pt x="494" y="107"/>
                      <a:pt x="493" y="107"/>
                      <a:pt x="493" y="106"/>
                    </a:cubicBezTo>
                    <a:cubicBezTo>
                      <a:pt x="493" y="105"/>
                      <a:pt x="492" y="104"/>
                      <a:pt x="492" y="105"/>
                    </a:cubicBezTo>
                    <a:cubicBezTo>
                      <a:pt x="492" y="106"/>
                      <a:pt x="491" y="107"/>
                      <a:pt x="492" y="107"/>
                    </a:cubicBezTo>
                    <a:cubicBezTo>
                      <a:pt x="493" y="108"/>
                      <a:pt x="495" y="107"/>
                      <a:pt x="495" y="108"/>
                    </a:cubicBezTo>
                    <a:cubicBezTo>
                      <a:pt x="494" y="109"/>
                      <a:pt x="493" y="110"/>
                      <a:pt x="492" y="110"/>
                    </a:cubicBezTo>
                    <a:cubicBezTo>
                      <a:pt x="491" y="111"/>
                      <a:pt x="490" y="112"/>
                      <a:pt x="490" y="114"/>
                    </a:cubicBezTo>
                    <a:cubicBezTo>
                      <a:pt x="491" y="115"/>
                      <a:pt x="493" y="116"/>
                      <a:pt x="495" y="118"/>
                    </a:cubicBezTo>
                    <a:cubicBezTo>
                      <a:pt x="496" y="120"/>
                      <a:pt x="496" y="120"/>
                      <a:pt x="495" y="121"/>
                    </a:cubicBezTo>
                    <a:cubicBezTo>
                      <a:pt x="494" y="122"/>
                      <a:pt x="494" y="122"/>
                      <a:pt x="495" y="123"/>
                    </a:cubicBezTo>
                    <a:cubicBezTo>
                      <a:pt x="496" y="124"/>
                      <a:pt x="496" y="125"/>
                      <a:pt x="497" y="126"/>
                    </a:cubicBezTo>
                    <a:cubicBezTo>
                      <a:pt x="497" y="126"/>
                      <a:pt x="498" y="128"/>
                      <a:pt x="500" y="129"/>
                    </a:cubicBezTo>
                    <a:cubicBezTo>
                      <a:pt x="502" y="129"/>
                      <a:pt x="502" y="129"/>
                      <a:pt x="500" y="130"/>
                    </a:cubicBezTo>
                    <a:cubicBezTo>
                      <a:pt x="499" y="131"/>
                      <a:pt x="499" y="131"/>
                      <a:pt x="500" y="132"/>
                    </a:cubicBezTo>
                    <a:cubicBezTo>
                      <a:pt x="501" y="132"/>
                      <a:pt x="503" y="134"/>
                      <a:pt x="503" y="135"/>
                    </a:cubicBezTo>
                    <a:cubicBezTo>
                      <a:pt x="503" y="137"/>
                      <a:pt x="503" y="136"/>
                      <a:pt x="502" y="134"/>
                    </a:cubicBezTo>
                    <a:cubicBezTo>
                      <a:pt x="500" y="133"/>
                      <a:pt x="499" y="133"/>
                      <a:pt x="499" y="133"/>
                    </a:cubicBezTo>
                    <a:cubicBezTo>
                      <a:pt x="499" y="133"/>
                      <a:pt x="499" y="133"/>
                      <a:pt x="499" y="134"/>
                    </a:cubicBezTo>
                    <a:cubicBezTo>
                      <a:pt x="499" y="135"/>
                      <a:pt x="499" y="137"/>
                      <a:pt x="498" y="136"/>
                    </a:cubicBezTo>
                    <a:cubicBezTo>
                      <a:pt x="498" y="136"/>
                      <a:pt x="496" y="135"/>
                      <a:pt x="496" y="135"/>
                    </a:cubicBezTo>
                    <a:cubicBezTo>
                      <a:pt x="498" y="133"/>
                      <a:pt x="497" y="131"/>
                      <a:pt x="496" y="131"/>
                    </a:cubicBezTo>
                    <a:cubicBezTo>
                      <a:pt x="495" y="130"/>
                      <a:pt x="496" y="130"/>
                      <a:pt x="495" y="131"/>
                    </a:cubicBezTo>
                    <a:cubicBezTo>
                      <a:pt x="494" y="133"/>
                      <a:pt x="493" y="132"/>
                      <a:pt x="494" y="134"/>
                    </a:cubicBezTo>
                    <a:cubicBezTo>
                      <a:pt x="494" y="135"/>
                      <a:pt x="495" y="136"/>
                      <a:pt x="494" y="137"/>
                    </a:cubicBezTo>
                    <a:cubicBezTo>
                      <a:pt x="494" y="138"/>
                      <a:pt x="493" y="138"/>
                      <a:pt x="494" y="138"/>
                    </a:cubicBezTo>
                    <a:cubicBezTo>
                      <a:pt x="496" y="139"/>
                      <a:pt x="496" y="141"/>
                      <a:pt x="497" y="141"/>
                    </a:cubicBezTo>
                    <a:cubicBezTo>
                      <a:pt x="497" y="142"/>
                      <a:pt x="500" y="145"/>
                      <a:pt x="500" y="146"/>
                    </a:cubicBezTo>
                    <a:cubicBezTo>
                      <a:pt x="501" y="147"/>
                      <a:pt x="501" y="150"/>
                      <a:pt x="500" y="147"/>
                    </a:cubicBezTo>
                    <a:cubicBezTo>
                      <a:pt x="499" y="145"/>
                      <a:pt x="498" y="144"/>
                      <a:pt x="497" y="144"/>
                    </a:cubicBezTo>
                    <a:cubicBezTo>
                      <a:pt x="496" y="143"/>
                      <a:pt x="495" y="142"/>
                      <a:pt x="495" y="141"/>
                    </a:cubicBezTo>
                    <a:cubicBezTo>
                      <a:pt x="494" y="141"/>
                      <a:pt x="494" y="140"/>
                      <a:pt x="493" y="140"/>
                    </a:cubicBezTo>
                    <a:cubicBezTo>
                      <a:pt x="493" y="140"/>
                      <a:pt x="491" y="139"/>
                      <a:pt x="491" y="138"/>
                    </a:cubicBezTo>
                    <a:cubicBezTo>
                      <a:pt x="491" y="137"/>
                      <a:pt x="490" y="135"/>
                      <a:pt x="490" y="136"/>
                    </a:cubicBezTo>
                    <a:cubicBezTo>
                      <a:pt x="489" y="136"/>
                      <a:pt x="487" y="136"/>
                      <a:pt x="488" y="135"/>
                    </a:cubicBezTo>
                    <a:cubicBezTo>
                      <a:pt x="489" y="134"/>
                      <a:pt x="488" y="133"/>
                      <a:pt x="486" y="133"/>
                    </a:cubicBezTo>
                    <a:cubicBezTo>
                      <a:pt x="485" y="132"/>
                      <a:pt x="483" y="131"/>
                      <a:pt x="482" y="130"/>
                    </a:cubicBezTo>
                    <a:cubicBezTo>
                      <a:pt x="481" y="129"/>
                      <a:pt x="482" y="128"/>
                      <a:pt x="483" y="130"/>
                    </a:cubicBezTo>
                    <a:cubicBezTo>
                      <a:pt x="485" y="131"/>
                      <a:pt x="487" y="131"/>
                      <a:pt x="488" y="131"/>
                    </a:cubicBezTo>
                    <a:cubicBezTo>
                      <a:pt x="490" y="131"/>
                      <a:pt x="491" y="130"/>
                      <a:pt x="491" y="130"/>
                    </a:cubicBezTo>
                    <a:cubicBezTo>
                      <a:pt x="492" y="130"/>
                      <a:pt x="492" y="129"/>
                      <a:pt x="492" y="128"/>
                    </a:cubicBezTo>
                    <a:cubicBezTo>
                      <a:pt x="491" y="127"/>
                      <a:pt x="489" y="123"/>
                      <a:pt x="486" y="123"/>
                    </a:cubicBezTo>
                    <a:cubicBezTo>
                      <a:pt x="482" y="124"/>
                      <a:pt x="482" y="121"/>
                      <a:pt x="482" y="119"/>
                    </a:cubicBezTo>
                    <a:cubicBezTo>
                      <a:pt x="482" y="118"/>
                      <a:pt x="480" y="116"/>
                      <a:pt x="480" y="117"/>
                    </a:cubicBezTo>
                    <a:cubicBezTo>
                      <a:pt x="479" y="117"/>
                      <a:pt x="479" y="119"/>
                      <a:pt x="479" y="121"/>
                    </a:cubicBezTo>
                    <a:cubicBezTo>
                      <a:pt x="479" y="122"/>
                      <a:pt x="478" y="122"/>
                      <a:pt x="478" y="123"/>
                    </a:cubicBezTo>
                    <a:cubicBezTo>
                      <a:pt x="478" y="123"/>
                      <a:pt x="477" y="122"/>
                      <a:pt x="476" y="121"/>
                    </a:cubicBezTo>
                    <a:cubicBezTo>
                      <a:pt x="475" y="121"/>
                      <a:pt x="475" y="120"/>
                      <a:pt x="476" y="120"/>
                    </a:cubicBezTo>
                    <a:cubicBezTo>
                      <a:pt x="476" y="119"/>
                      <a:pt x="477" y="119"/>
                      <a:pt x="476" y="118"/>
                    </a:cubicBezTo>
                    <a:cubicBezTo>
                      <a:pt x="476" y="117"/>
                      <a:pt x="475" y="116"/>
                      <a:pt x="475" y="115"/>
                    </a:cubicBezTo>
                    <a:cubicBezTo>
                      <a:pt x="475" y="114"/>
                      <a:pt x="474" y="114"/>
                      <a:pt x="472" y="114"/>
                    </a:cubicBezTo>
                    <a:cubicBezTo>
                      <a:pt x="469" y="114"/>
                      <a:pt x="467" y="115"/>
                      <a:pt x="466" y="114"/>
                    </a:cubicBezTo>
                    <a:cubicBezTo>
                      <a:pt x="465" y="114"/>
                      <a:pt x="465" y="113"/>
                      <a:pt x="465" y="113"/>
                    </a:cubicBezTo>
                    <a:cubicBezTo>
                      <a:pt x="464" y="112"/>
                      <a:pt x="464" y="111"/>
                      <a:pt x="462" y="111"/>
                    </a:cubicBezTo>
                    <a:cubicBezTo>
                      <a:pt x="459" y="111"/>
                      <a:pt x="416" y="115"/>
                      <a:pt x="414" y="115"/>
                    </a:cubicBezTo>
                    <a:cubicBezTo>
                      <a:pt x="413" y="115"/>
                      <a:pt x="404" y="114"/>
                      <a:pt x="403" y="114"/>
                    </a:cubicBezTo>
                    <a:cubicBezTo>
                      <a:pt x="401" y="114"/>
                      <a:pt x="390" y="112"/>
                      <a:pt x="388" y="112"/>
                    </a:cubicBezTo>
                    <a:cubicBezTo>
                      <a:pt x="385" y="112"/>
                      <a:pt x="384" y="111"/>
                      <a:pt x="383" y="111"/>
                    </a:cubicBezTo>
                    <a:cubicBezTo>
                      <a:pt x="382" y="110"/>
                      <a:pt x="381" y="110"/>
                      <a:pt x="380" y="110"/>
                    </a:cubicBezTo>
                    <a:cubicBezTo>
                      <a:pt x="380" y="110"/>
                      <a:pt x="377" y="109"/>
                      <a:pt x="380" y="108"/>
                    </a:cubicBezTo>
                    <a:cubicBezTo>
                      <a:pt x="384" y="107"/>
                      <a:pt x="385" y="107"/>
                      <a:pt x="384" y="106"/>
                    </a:cubicBezTo>
                    <a:cubicBezTo>
                      <a:pt x="383" y="105"/>
                      <a:pt x="381" y="105"/>
                      <a:pt x="384" y="103"/>
                    </a:cubicBezTo>
                    <a:cubicBezTo>
                      <a:pt x="387" y="102"/>
                      <a:pt x="387" y="103"/>
                      <a:pt x="389" y="102"/>
                    </a:cubicBezTo>
                    <a:cubicBezTo>
                      <a:pt x="390" y="101"/>
                      <a:pt x="389" y="101"/>
                      <a:pt x="391" y="101"/>
                    </a:cubicBezTo>
                    <a:cubicBezTo>
                      <a:pt x="394" y="101"/>
                      <a:pt x="396" y="101"/>
                      <a:pt x="398" y="101"/>
                    </a:cubicBezTo>
                    <a:cubicBezTo>
                      <a:pt x="400" y="100"/>
                      <a:pt x="400" y="100"/>
                      <a:pt x="401" y="99"/>
                    </a:cubicBezTo>
                    <a:cubicBezTo>
                      <a:pt x="401" y="98"/>
                      <a:pt x="403" y="97"/>
                      <a:pt x="402" y="97"/>
                    </a:cubicBezTo>
                    <a:cubicBezTo>
                      <a:pt x="400" y="96"/>
                      <a:pt x="399" y="96"/>
                      <a:pt x="399" y="96"/>
                    </a:cubicBezTo>
                    <a:cubicBezTo>
                      <a:pt x="400" y="95"/>
                      <a:pt x="400" y="94"/>
                      <a:pt x="399" y="93"/>
                    </a:cubicBezTo>
                    <a:cubicBezTo>
                      <a:pt x="398" y="93"/>
                      <a:pt x="396" y="91"/>
                      <a:pt x="396" y="91"/>
                    </a:cubicBezTo>
                    <a:cubicBezTo>
                      <a:pt x="395" y="91"/>
                      <a:pt x="394" y="90"/>
                      <a:pt x="394" y="89"/>
                    </a:cubicBezTo>
                    <a:cubicBezTo>
                      <a:pt x="394" y="89"/>
                      <a:pt x="393" y="88"/>
                      <a:pt x="392" y="88"/>
                    </a:cubicBezTo>
                    <a:cubicBezTo>
                      <a:pt x="391" y="88"/>
                      <a:pt x="390" y="87"/>
                      <a:pt x="389" y="86"/>
                    </a:cubicBezTo>
                    <a:cubicBezTo>
                      <a:pt x="389" y="86"/>
                      <a:pt x="388" y="85"/>
                      <a:pt x="387" y="85"/>
                    </a:cubicBezTo>
                    <a:cubicBezTo>
                      <a:pt x="386" y="85"/>
                      <a:pt x="379" y="83"/>
                      <a:pt x="378" y="82"/>
                    </a:cubicBezTo>
                    <a:cubicBezTo>
                      <a:pt x="376" y="81"/>
                      <a:pt x="371" y="81"/>
                      <a:pt x="369" y="81"/>
                    </a:cubicBezTo>
                    <a:cubicBezTo>
                      <a:pt x="367" y="81"/>
                      <a:pt x="366" y="82"/>
                      <a:pt x="368" y="83"/>
                    </a:cubicBezTo>
                    <a:cubicBezTo>
                      <a:pt x="371" y="84"/>
                      <a:pt x="372" y="86"/>
                      <a:pt x="370" y="86"/>
                    </a:cubicBezTo>
                    <a:cubicBezTo>
                      <a:pt x="367" y="85"/>
                      <a:pt x="361" y="84"/>
                      <a:pt x="359" y="84"/>
                    </a:cubicBezTo>
                    <a:cubicBezTo>
                      <a:pt x="357" y="84"/>
                      <a:pt x="353" y="84"/>
                      <a:pt x="352" y="83"/>
                    </a:cubicBezTo>
                    <a:cubicBezTo>
                      <a:pt x="351" y="82"/>
                      <a:pt x="347" y="81"/>
                      <a:pt x="345" y="81"/>
                    </a:cubicBezTo>
                    <a:cubicBezTo>
                      <a:pt x="344" y="81"/>
                      <a:pt x="340" y="80"/>
                      <a:pt x="339" y="80"/>
                    </a:cubicBezTo>
                    <a:cubicBezTo>
                      <a:pt x="338" y="79"/>
                      <a:pt x="337" y="78"/>
                      <a:pt x="336" y="78"/>
                    </a:cubicBezTo>
                    <a:cubicBezTo>
                      <a:pt x="335" y="78"/>
                      <a:pt x="333" y="77"/>
                      <a:pt x="333" y="76"/>
                    </a:cubicBezTo>
                    <a:cubicBezTo>
                      <a:pt x="332" y="76"/>
                      <a:pt x="330" y="74"/>
                      <a:pt x="327" y="74"/>
                    </a:cubicBezTo>
                    <a:cubicBezTo>
                      <a:pt x="325" y="74"/>
                      <a:pt x="314" y="72"/>
                      <a:pt x="313" y="72"/>
                    </a:cubicBezTo>
                    <a:cubicBezTo>
                      <a:pt x="311" y="72"/>
                      <a:pt x="305" y="68"/>
                      <a:pt x="303" y="67"/>
                    </a:cubicBezTo>
                    <a:cubicBezTo>
                      <a:pt x="302" y="66"/>
                      <a:pt x="289" y="60"/>
                      <a:pt x="286" y="60"/>
                    </a:cubicBezTo>
                    <a:cubicBezTo>
                      <a:pt x="283" y="60"/>
                      <a:pt x="278" y="59"/>
                      <a:pt x="277" y="59"/>
                    </a:cubicBezTo>
                    <a:cubicBezTo>
                      <a:pt x="275" y="59"/>
                      <a:pt x="268" y="59"/>
                      <a:pt x="267" y="60"/>
                    </a:cubicBezTo>
                    <a:cubicBezTo>
                      <a:pt x="265" y="60"/>
                      <a:pt x="265" y="60"/>
                      <a:pt x="266" y="61"/>
                    </a:cubicBezTo>
                    <a:cubicBezTo>
                      <a:pt x="266" y="62"/>
                      <a:pt x="266" y="63"/>
                      <a:pt x="266" y="63"/>
                    </a:cubicBezTo>
                    <a:cubicBezTo>
                      <a:pt x="265" y="64"/>
                      <a:pt x="265" y="64"/>
                      <a:pt x="265" y="65"/>
                    </a:cubicBezTo>
                    <a:cubicBezTo>
                      <a:pt x="266" y="66"/>
                      <a:pt x="266" y="67"/>
                      <a:pt x="264" y="68"/>
                    </a:cubicBezTo>
                    <a:cubicBezTo>
                      <a:pt x="262" y="69"/>
                      <a:pt x="257" y="69"/>
                      <a:pt x="254" y="71"/>
                    </a:cubicBezTo>
                    <a:cubicBezTo>
                      <a:pt x="251" y="72"/>
                      <a:pt x="243" y="71"/>
                      <a:pt x="245" y="70"/>
                    </a:cubicBezTo>
                    <a:cubicBezTo>
                      <a:pt x="247" y="68"/>
                      <a:pt x="246" y="69"/>
                      <a:pt x="247" y="68"/>
                    </a:cubicBezTo>
                    <a:cubicBezTo>
                      <a:pt x="248" y="66"/>
                      <a:pt x="249" y="67"/>
                      <a:pt x="249" y="66"/>
                    </a:cubicBezTo>
                    <a:cubicBezTo>
                      <a:pt x="250" y="65"/>
                      <a:pt x="249" y="64"/>
                      <a:pt x="250" y="64"/>
                    </a:cubicBezTo>
                    <a:cubicBezTo>
                      <a:pt x="251" y="64"/>
                      <a:pt x="250" y="63"/>
                      <a:pt x="249" y="63"/>
                    </a:cubicBezTo>
                    <a:cubicBezTo>
                      <a:pt x="248" y="63"/>
                      <a:pt x="244" y="63"/>
                      <a:pt x="245" y="60"/>
                    </a:cubicBezTo>
                    <a:cubicBezTo>
                      <a:pt x="247" y="58"/>
                      <a:pt x="246" y="59"/>
                      <a:pt x="246" y="56"/>
                    </a:cubicBezTo>
                    <a:cubicBezTo>
                      <a:pt x="246" y="53"/>
                      <a:pt x="247" y="51"/>
                      <a:pt x="246" y="51"/>
                    </a:cubicBezTo>
                    <a:cubicBezTo>
                      <a:pt x="244" y="51"/>
                      <a:pt x="242" y="51"/>
                      <a:pt x="243" y="50"/>
                    </a:cubicBezTo>
                    <a:cubicBezTo>
                      <a:pt x="244" y="49"/>
                      <a:pt x="244" y="49"/>
                      <a:pt x="243" y="49"/>
                    </a:cubicBezTo>
                    <a:cubicBezTo>
                      <a:pt x="242" y="49"/>
                      <a:pt x="241" y="49"/>
                      <a:pt x="242" y="50"/>
                    </a:cubicBezTo>
                    <a:cubicBezTo>
                      <a:pt x="242" y="51"/>
                      <a:pt x="241" y="51"/>
                      <a:pt x="242" y="51"/>
                    </a:cubicBezTo>
                    <a:cubicBezTo>
                      <a:pt x="243" y="51"/>
                      <a:pt x="244" y="52"/>
                      <a:pt x="243" y="52"/>
                    </a:cubicBezTo>
                    <a:cubicBezTo>
                      <a:pt x="241" y="53"/>
                      <a:pt x="236" y="54"/>
                      <a:pt x="235" y="55"/>
                    </a:cubicBezTo>
                    <a:cubicBezTo>
                      <a:pt x="234" y="56"/>
                      <a:pt x="234" y="57"/>
                      <a:pt x="236" y="56"/>
                    </a:cubicBezTo>
                    <a:cubicBezTo>
                      <a:pt x="237" y="54"/>
                      <a:pt x="240" y="53"/>
                      <a:pt x="239" y="55"/>
                    </a:cubicBezTo>
                    <a:cubicBezTo>
                      <a:pt x="238" y="56"/>
                      <a:pt x="235" y="58"/>
                      <a:pt x="235" y="59"/>
                    </a:cubicBezTo>
                    <a:cubicBezTo>
                      <a:pt x="234" y="59"/>
                      <a:pt x="233" y="61"/>
                      <a:pt x="235" y="61"/>
                    </a:cubicBezTo>
                    <a:cubicBezTo>
                      <a:pt x="238" y="61"/>
                      <a:pt x="239" y="62"/>
                      <a:pt x="238" y="62"/>
                    </a:cubicBezTo>
                    <a:cubicBezTo>
                      <a:pt x="238" y="63"/>
                      <a:pt x="238" y="62"/>
                      <a:pt x="237" y="62"/>
                    </a:cubicBezTo>
                    <a:cubicBezTo>
                      <a:pt x="236" y="62"/>
                      <a:pt x="232" y="63"/>
                      <a:pt x="232" y="63"/>
                    </a:cubicBezTo>
                    <a:cubicBezTo>
                      <a:pt x="231" y="64"/>
                      <a:pt x="231" y="65"/>
                      <a:pt x="232" y="65"/>
                    </a:cubicBezTo>
                    <a:cubicBezTo>
                      <a:pt x="234" y="65"/>
                      <a:pt x="234" y="66"/>
                      <a:pt x="234" y="66"/>
                    </a:cubicBezTo>
                    <a:cubicBezTo>
                      <a:pt x="234" y="66"/>
                      <a:pt x="233" y="67"/>
                      <a:pt x="234" y="67"/>
                    </a:cubicBezTo>
                    <a:cubicBezTo>
                      <a:pt x="235" y="67"/>
                      <a:pt x="235" y="68"/>
                      <a:pt x="233" y="68"/>
                    </a:cubicBezTo>
                    <a:cubicBezTo>
                      <a:pt x="230" y="67"/>
                      <a:pt x="229" y="69"/>
                      <a:pt x="229" y="69"/>
                    </a:cubicBezTo>
                    <a:cubicBezTo>
                      <a:pt x="229" y="70"/>
                      <a:pt x="229" y="70"/>
                      <a:pt x="230" y="69"/>
                    </a:cubicBezTo>
                    <a:cubicBezTo>
                      <a:pt x="232" y="69"/>
                      <a:pt x="235" y="68"/>
                      <a:pt x="234" y="70"/>
                    </a:cubicBezTo>
                    <a:cubicBezTo>
                      <a:pt x="233" y="72"/>
                      <a:pt x="232" y="73"/>
                      <a:pt x="231" y="72"/>
                    </a:cubicBezTo>
                    <a:cubicBezTo>
                      <a:pt x="229" y="72"/>
                      <a:pt x="217" y="69"/>
                      <a:pt x="211" y="58"/>
                    </a:cubicBezTo>
                    <a:cubicBezTo>
                      <a:pt x="211" y="58"/>
                      <a:pt x="211" y="57"/>
                      <a:pt x="211" y="57"/>
                    </a:cubicBezTo>
                    <a:cubicBezTo>
                      <a:pt x="211" y="56"/>
                      <a:pt x="211" y="55"/>
                      <a:pt x="210" y="55"/>
                    </a:cubicBezTo>
                    <a:cubicBezTo>
                      <a:pt x="209" y="55"/>
                      <a:pt x="209" y="54"/>
                      <a:pt x="209" y="53"/>
                    </a:cubicBezTo>
                    <a:cubicBezTo>
                      <a:pt x="208" y="52"/>
                      <a:pt x="206" y="46"/>
                      <a:pt x="194" y="39"/>
                    </a:cubicBezTo>
                    <a:cubicBezTo>
                      <a:pt x="194" y="39"/>
                      <a:pt x="193" y="39"/>
                      <a:pt x="192" y="40"/>
                    </a:cubicBezTo>
                    <a:cubicBezTo>
                      <a:pt x="192" y="41"/>
                      <a:pt x="189" y="45"/>
                      <a:pt x="191" y="45"/>
                    </a:cubicBezTo>
                    <a:cubicBezTo>
                      <a:pt x="192" y="45"/>
                      <a:pt x="195" y="44"/>
                      <a:pt x="194" y="45"/>
                    </a:cubicBezTo>
                    <a:cubicBezTo>
                      <a:pt x="192" y="47"/>
                      <a:pt x="193" y="47"/>
                      <a:pt x="195" y="47"/>
                    </a:cubicBezTo>
                    <a:cubicBezTo>
                      <a:pt x="197" y="47"/>
                      <a:pt x="201" y="48"/>
                      <a:pt x="197" y="49"/>
                    </a:cubicBezTo>
                    <a:cubicBezTo>
                      <a:pt x="193" y="49"/>
                      <a:pt x="187" y="50"/>
                      <a:pt x="188" y="53"/>
                    </a:cubicBezTo>
                    <a:cubicBezTo>
                      <a:pt x="188" y="56"/>
                      <a:pt x="188" y="56"/>
                      <a:pt x="186" y="57"/>
                    </a:cubicBezTo>
                    <a:cubicBezTo>
                      <a:pt x="185" y="58"/>
                      <a:pt x="181" y="61"/>
                      <a:pt x="180" y="62"/>
                    </a:cubicBezTo>
                    <a:cubicBezTo>
                      <a:pt x="180" y="63"/>
                      <a:pt x="178" y="63"/>
                      <a:pt x="177" y="63"/>
                    </a:cubicBezTo>
                    <a:cubicBezTo>
                      <a:pt x="176" y="63"/>
                      <a:pt x="175" y="62"/>
                      <a:pt x="176" y="60"/>
                    </a:cubicBezTo>
                    <a:cubicBezTo>
                      <a:pt x="176" y="59"/>
                      <a:pt x="176" y="58"/>
                      <a:pt x="177" y="59"/>
                    </a:cubicBezTo>
                    <a:cubicBezTo>
                      <a:pt x="179" y="59"/>
                      <a:pt x="179" y="59"/>
                      <a:pt x="179" y="58"/>
                    </a:cubicBezTo>
                    <a:cubicBezTo>
                      <a:pt x="180" y="57"/>
                      <a:pt x="179" y="57"/>
                      <a:pt x="178" y="57"/>
                    </a:cubicBezTo>
                    <a:cubicBezTo>
                      <a:pt x="177" y="58"/>
                      <a:pt x="177" y="58"/>
                      <a:pt x="176" y="59"/>
                    </a:cubicBezTo>
                    <a:cubicBezTo>
                      <a:pt x="175" y="59"/>
                      <a:pt x="172" y="59"/>
                      <a:pt x="169" y="60"/>
                    </a:cubicBezTo>
                    <a:cubicBezTo>
                      <a:pt x="166" y="61"/>
                      <a:pt x="162" y="62"/>
                      <a:pt x="161" y="62"/>
                    </a:cubicBezTo>
                    <a:cubicBezTo>
                      <a:pt x="160" y="62"/>
                      <a:pt x="158" y="63"/>
                      <a:pt x="156" y="66"/>
                    </a:cubicBezTo>
                    <a:cubicBezTo>
                      <a:pt x="154" y="68"/>
                      <a:pt x="154" y="68"/>
                      <a:pt x="153" y="68"/>
                    </a:cubicBezTo>
                    <a:cubicBezTo>
                      <a:pt x="153" y="69"/>
                      <a:pt x="152" y="69"/>
                      <a:pt x="152" y="70"/>
                    </a:cubicBezTo>
                    <a:cubicBezTo>
                      <a:pt x="152" y="71"/>
                      <a:pt x="151" y="72"/>
                      <a:pt x="150" y="73"/>
                    </a:cubicBezTo>
                    <a:cubicBezTo>
                      <a:pt x="150" y="74"/>
                      <a:pt x="150" y="78"/>
                      <a:pt x="149" y="77"/>
                    </a:cubicBezTo>
                    <a:cubicBezTo>
                      <a:pt x="148" y="77"/>
                      <a:pt x="148" y="76"/>
                      <a:pt x="149" y="75"/>
                    </a:cubicBezTo>
                    <a:cubicBezTo>
                      <a:pt x="150" y="73"/>
                      <a:pt x="150" y="73"/>
                      <a:pt x="149" y="73"/>
                    </a:cubicBezTo>
                    <a:cubicBezTo>
                      <a:pt x="148" y="73"/>
                      <a:pt x="148" y="72"/>
                      <a:pt x="149" y="71"/>
                    </a:cubicBezTo>
                    <a:cubicBezTo>
                      <a:pt x="150" y="70"/>
                      <a:pt x="149" y="67"/>
                      <a:pt x="149" y="67"/>
                    </a:cubicBezTo>
                    <a:cubicBezTo>
                      <a:pt x="149" y="67"/>
                      <a:pt x="149" y="67"/>
                      <a:pt x="149" y="69"/>
                    </a:cubicBezTo>
                    <a:cubicBezTo>
                      <a:pt x="148" y="71"/>
                      <a:pt x="148" y="71"/>
                      <a:pt x="148" y="71"/>
                    </a:cubicBezTo>
                    <a:cubicBezTo>
                      <a:pt x="148" y="71"/>
                      <a:pt x="148" y="67"/>
                      <a:pt x="147" y="67"/>
                    </a:cubicBezTo>
                    <a:cubicBezTo>
                      <a:pt x="147" y="66"/>
                      <a:pt x="146" y="64"/>
                      <a:pt x="147" y="66"/>
                    </a:cubicBezTo>
                    <a:cubicBezTo>
                      <a:pt x="147" y="68"/>
                      <a:pt x="147" y="70"/>
                      <a:pt x="147" y="70"/>
                    </a:cubicBezTo>
                    <a:cubicBezTo>
                      <a:pt x="147" y="71"/>
                      <a:pt x="147" y="67"/>
                      <a:pt x="146" y="67"/>
                    </a:cubicBezTo>
                    <a:cubicBezTo>
                      <a:pt x="146" y="67"/>
                      <a:pt x="145" y="66"/>
                      <a:pt x="145" y="67"/>
                    </a:cubicBezTo>
                    <a:cubicBezTo>
                      <a:pt x="146" y="69"/>
                      <a:pt x="144" y="71"/>
                      <a:pt x="143" y="71"/>
                    </a:cubicBezTo>
                    <a:cubicBezTo>
                      <a:pt x="141" y="72"/>
                      <a:pt x="140" y="72"/>
                      <a:pt x="141" y="71"/>
                    </a:cubicBezTo>
                    <a:cubicBezTo>
                      <a:pt x="142" y="70"/>
                      <a:pt x="143" y="69"/>
                      <a:pt x="141" y="69"/>
                    </a:cubicBezTo>
                    <a:cubicBezTo>
                      <a:pt x="139" y="70"/>
                      <a:pt x="135" y="70"/>
                      <a:pt x="135" y="71"/>
                    </a:cubicBezTo>
                    <a:cubicBezTo>
                      <a:pt x="135" y="72"/>
                      <a:pt x="135" y="72"/>
                      <a:pt x="134" y="73"/>
                    </a:cubicBezTo>
                    <a:cubicBezTo>
                      <a:pt x="133" y="75"/>
                      <a:pt x="128" y="78"/>
                      <a:pt x="123" y="79"/>
                    </a:cubicBezTo>
                    <a:cubicBezTo>
                      <a:pt x="123" y="79"/>
                      <a:pt x="121" y="79"/>
                      <a:pt x="121" y="81"/>
                    </a:cubicBezTo>
                    <a:cubicBezTo>
                      <a:pt x="122" y="83"/>
                      <a:pt x="121" y="83"/>
                      <a:pt x="122" y="84"/>
                    </a:cubicBezTo>
                    <a:cubicBezTo>
                      <a:pt x="123" y="85"/>
                      <a:pt x="123" y="84"/>
                      <a:pt x="124" y="84"/>
                    </a:cubicBezTo>
                    <a:cubicBezTo>
                      <a:pt x="125" y="83"/>
                      <a:pt x="127" y="83"/>
                      <a:pt x="127" y="84"/>
                    </a:cubicBezTo>
                    <a:cubicBezTo>
                      <a:pt x="127" y="86"/>
                      <a:pt x="125" y="87"/>
                      <a:pt x="123" y="86"/>
                    </a:cubicBezTo>
                    <a:cubicBezTo>
                      <a:pt x="122" y="86"/>
                      <a:pt x="121" y="86"/>
                      <a:pt x="120" y="86"/>
                    </a:cubicBezTo>
                    <a:cubicBezTo>
                      <a:pt x="119" y="86"/>
                      <a:pt x="115" y="85"/>
                      <a:pt x="115" y="85"/>
                    </a:cubicBezTo>
                    <a:cubicBezTo>
                      <a:pt x="115" y="85"/>
                      <a:pt x="112" y="85"/>
                      <a:pt x="114" y="86"/>
                    </a:cubicBezTo>
                    <a:cubicBezTo>
                      <a:pt x="116" y="87"/>
                      <a:pt x="115" y="86"/>
                      <a:pt x="116" y="87"/>
                    </a:cubicBezTo>
                    <a:cubicBezTo>
                      <a:pt x="117" y="88"/>
                      <a:pt x="120" y="89"/>
                      <a:pt x="118" y="89"/>
                    </a:cubicBezTo>
                    <a:cubicBezTo>
                      <a:pt x="115" y="88"/>
                      <a:pt x="110" y="87"/>
                      <a:pt x="112" y="85"/>
                    </a:cubicBezTo>
                    <a:cubicBezTo>
                      <a:pt x="113" y="84"/>
                      <a:pt x="114" y="84"/>
                      <a:pt x="115" y="82"/>
                    </a:cubicBezTo>
                    <a:cubicBezTo>
                      <a:pt x="116" y="81"/>
                      <a:pt x="116" y="79"/>
                      <a:pt x="118" y="79"/>
                    </a:cubicBezTo>
                    <a:cubicBezTo>
                      <a:pt x="120" y="80"/>
                      <a:pt x="121" y="80"/>
                      <a:pt x="121" y="78"/>
                    </a:cubicBezTo>
                    <a:cubicBezTo>
                      <a:pt x="121" y="77"/>
                      <a:pt x="123" y="73"/>
                      <a:pt x="124" y="74"/>
                    </a:cubicBezTo>
                    <a:cubicBezTo>
                      <a:pt x="126" y="74"/>
                      <a:pt x="126" y="76"/>
                      <a:pt x="127" y="75"/>
                    </a:cubicBezTo>
                    <a:cubicBezTo>
                      <a:pt x="129" y="74"/>
                      <a:pt x="128" y="73"/>
                      <a:pt x="129" y="73"/>
                    </a:cubicBezTo>
                    <a:cubicBezTo>
                      <a:pt x="131" y="72"/>
                      <a:pt x="132" y="71"/>
                      <a:pt x="134" y="68"/>
                    </a:cubicBezTo>
                    <a:cubicBezTo>
                      <a:pt x="135" y="66"/>
                      <a:pt x="136" y="66"/>
                      <a:pt x="138" y="66"/>
                    </a:cubicBezTo>
                    <a:cubicBezTo>
                      <a:pt x="140" y="66"/>
                      <a:pt x="143" y="65"/>
                      <a:pt x="145" y="65"/>
                    </a:cubicBezTo>
                    <a:cubicBezTo>
                      <a:pt x="147" y="64"/>
                      <a:pt x="148" y="64"/>
                      <a:pt x="148" y="65"/>
                    </a:cubicBezTo>
                    <a:cubicBezTo>
                      <a:pt x="149" y="65"/>
                      <a:pt x="150" y="66"/>
                      <a:pt x="151" y="64"/>
                    </a:cubicBezTo>
                    <a:cubicBezTo>
                      <a:pt x="153" y="62"/>
                      <a:pt x="152" y="64"/>
                      <a:pt x="155" y="61"/>
                    </a:cubicBezTo>
                    <a:cubicBezTo>
                      <a:pt x="157" y="59"/>
                      <a:pt x="157" y="59"/>
                      <a:pt x="160" y="59"/>
                    </a:cubicBezTo>
                    <a:cubicBezTo>
                      <a:pt x="162" y="58"/>
                      <a:pt x="169" y="55"/>
                      <a:pt x="170" y="54"/>
                    </a:cubicBezTo>
                    <a:cubicBezTo>
                      <a:pt x="172" y="53"/>
                      <a:pt x="172" y="53"/>
                      <a:pt x="172" y="52"/>
                    </a:cubicBezTo>
                    <a:cubicBezTo>
                      <a:pt x="171" y="51"/>
                      <a:pt x="172" y="51"/>
                      <a:pt x="170" y="50"/>
                    </a:cubicBezTo>
                    <a:cubicBezTo>
                      <a:pt x="169" y="50"/>
                      <a:pt x="169" y="49"/>
                      <a:pt x="168" y="49"/>
                    </a:cubicBezTo>
                    <a:cubicBezTo>
                      <a:pt x="168" y="48"/>
                      <a:pt x="168" y="47"/>
                      <a:pt x="167" y="49"/>
                    </a:cubicBezTo>
                    <a:cubicBezTo>
                      <a:pt x="165" y="51"/>
                      <a:pt x="165" y="52"/>
                      <a:pt x="163" y="53"/>
                    </a:cubicBezTo>
                    <a:cubicBezTo>
                      <a:pt x="161" y="53"/>
                      <a:pt x="161" y="53"/>
                      <a:pt x="159" y="53"/>
                    </a:cubicBezTo>
                    <a:cubicBezTo>
                      <a:pt x="157" y="52"/>
                      <a:pt x="152" y="52"/>
                      <a:pt x="150" y="53"/>
                    </a:cubicBezTo>
                    <a:cubicBezTo>
                      <a:pt x="148" y="54"/>
                      <a:pt x="148" y="54"/>
                      <a:pt x="147" y="56"/>
                    </a:cubicBezTo>
                    <a:cubicBezTo>
                      <a:pt x="147" y="57"/>
                      <a:pt x="146" y="58"/>
                      <a:pt x="146" y="58"/>
                    </a:cubicBezTo>
                    <a:cubicBezTo>
                      <a:pt x="146" y="59"/>
                      <a:pt x="146" y="59"/>
                      <a:pt x="145" y="58"/>
                    </a:cubicBezTo>
                    <a:cubicBezTo>
                      <a:pt x="145" y="56"/>
                      <a:pt x="143" y="56"/>
                      <a:pt x="141" y="57"/>
                    </a:cubicBezTo>
                    <a:cubicBezTo>
                      <a:pt x="139" y="58"/>
                      <a:pt x="135" y="62"/>
                      <a:pt x="132" y="63"/>
                    </a:cubicBezTo>
                    <a:cubicBezTo>
                      <a:pt x="130" y="64"/>
                      <a:pt x="130" y="63"/>
                      <a:pt x="128" y="62"/>
                    </a:cubicBezTo>
                    <a:cubicBezTo>
                      <a:pt x="127" y="62"/>
                      <a:pt x="125" y="61"/>
                      <a:pt x="126" y="62"/>
                    </a:cubicBezTo>
                    <a:cubicBezTo>
                      <a:pt x="127" y="64"/>
                      <a:pt x="128" y="64"/>
                      <a:pt x="125" y="64"/>
                    </a:cubicBezTo>
                    <a:cubicBezTo>
                      <a:pt x="122" y="64"/>
                      <a:pt x="119" y="65"/>
                      <a:pt x="118" y="66"/>
                    </a:cubicBezTo>
                    <a:cubicBezTo>
                      <a:pt x="116" y="66"/>
                      <a:pt x="104" y="74"/>
                      <a:pt x="102" y="75"/>
                    </a:cubicBezTo>
                    <a:cubicBezTo>
                      <a:pt x="101" y="75"/>
                      <a:pt x="99" y="77"/>
                      <a:pt x="100" y="75"/>
                    </a:cubicBezTo>
                    <a:cubicBezTo>
                      <a:pt x="102" y="73"/>
                      <a:pt x="102" y="73"/>
                      <a:pt x="103" y="71"/>
                    </a:cubicBezTo>
                    <a:cubicBezTo>
                      <a:pt x="105" y="69"/>
                      <a:pt x="106" y="70"/>
                      <a:pt x="106" y="69"/>
                    </a:cubicBezTo>
                    <a:cubicBezTo>
                      <a:pt x="107" y="69"/>
                      <a:pt x="109" y="65"/>
                      <a:pt x="107" y="66"/>
                    </a:cubicBezTo>
                    <a:cubicBezTo>
                      <a:pt x="106" y="67"/>
                      <a:pt x="106" y="68"/>
                      <a:pt x="105" y="67"/>
                    </a:cubicBezTo>
                    <a:cubicBezTo>
                      <a:pt x="104" y="67"/>
                      <a:pt x="104" y="66"/>
                      <a:pt x="103" y="67"/>
                    </a:cubicBezTo>
                    <a:cubicBezTo>
                      <a:pt x="102" y="67"/>
                      <a:pt x="102" y="66"/>
                      <a:pt x="102" y="65"/>
                    </a:cubicBezTo>
                    <a:cubicBezTo>
                      <a:pt x="101" y="65"/>
                      <a:pt x="100" y="63"/>
                      <a:pt x="99" y="62"/>
                    </a:cubicBezTo>
                    <a:cubicBezTo>
                      <a:pt x="98" y="62"/>
                      <a:pt x="98" y="62"/>
                      <a:pt x="98" y="63"/>
                    </a:cubicBezTo>
                    <a:cubicBezTo>
                      <a:pt x="98" y="65"/>
                      <a:pt x="98" y="68"/>
                      <a:pt x="97" y="69"/>
                    </a:cubicBezTo>
                    <a:cubicBezTo>
                      <a:pt x="96" y="69"/>
                      <a:pt x="94" y="69"/>
                      <a:pt x="93" y="69"/>
                    </a:cubicBezTo>
                    <a:cubicBezTo>
                      <a:pt x="93" y="68"/>
                      <a:pt x="92" y="68"/>
                      <a:pt x="91" y="68"/>
                    </a:cubicBezTo>
                    <a:cubicBezTo>
                      <a:pt x="90" y="69"/>
                      <a:pt x="88" y="69"/>
                      <a:pt x="88" y="69"/>
                    </a:cubicBezTo>
                    <a:cubicBezTo>
                      <a:pt x="88" y="69"/>
                      <a:pt x="85" y="69"/>
                      <a:pt x="86" y="71"/>
                    </a:cubicBezTo>
                    <a:cubicBezTo>
                      <a:pt x="87" y="74"/>
                      <a:pt x="87" y="74"/>
                      <a:pt x="86" y="74"/>
                    </a:cubicBezTo>
                    <a:cubicBezTo>
                      <a:pt x="85" y="73"/>
                      <a:pt x="81" y="72"/>
                      <a:pt x="81" y="73"/>
                    </a:cubicBezTo>
                    <a:cubicBezTo>
                      <a:pt x="80" y="74"/>
                      <a:pt x="81" y="75"/>
                      <a:pt x="80" y="74"/>
                    </a:cubicBezTo>
                    <a:cubicBezTo>
                      <a:pt x="79" y="74"/>
                      <a:pt x="76" y="73"/>
                      <a:pt x="77" y="74"/>
                    </a:cubicBezTo>
                    <a:cubicBezTo>
                      <a:pt x="77" y="74"/>
                      <a:pt x="79" y="76"/>
                      <a:pt x="81" y="77"/>
                    </a:cubicBezTo>
                    <a:cubicBezTo>
                      <a:pt x="83" y="78"/>
                      <a:pt x="81" y="78"/>
                      <a:pt x="80" y="77"/>
                    </a:cubicBezTo>
                    <a:cubicBezTo>
                      <a:pt x="78" y="77"/>
                      <a:pt x="77" y="76"/>
                      <a:pt x="77" y="75"/>
                    </a:cubicBezTo>
                    <a:cubicBezTo>
                      <a:pt x="77" y="75"/>
                      <a:pt x="75" y="74"/>
                      <a:pt x="75" y="76"/>
                    </a:cubicBezTo>
                    <a:cubicBezTo>
                      <a:pt x="75" y="77"/>
                      <a:pt x="74" y="78"/>
                      <a:pt x="76" y="79"/>
                    </a:cubicBezTo>
                    <a:cubicBezTo>
                      <a:pt x="79" y="79"/>
                      <a:pt x="78" y="80"/>
                      <a:pt x="80" y="80"/>
                    </a:cubicBezTo>
                    <a:cubicBezTo>
                      <a:pt x="81" y="80"/>
                      <a:pt x="81" y="81"/>
                      <a:pt x="79" y="81"/>
                    </a:cubicBezTo>
                    <a:cubicBezTo>
                      <a:pt x="77" y="81"/>
                      <a:pt x="73" y="82"/>
                      <a:pt x="76" y="83"/>
                    </a:cubicBezTo>
                    <a:cubicBezTo>
                      <a:pt x="78" y="83"/>
                      <a:pt x="80" y="84"/>
                      <a:pt x="81" y="83"/>
                    </a:cubicBezTo>
                    <a:cubicBezTo>
                      <a:pt x="82" y="82"/>
                      <a:pt x="82" y="82"/>
                      <a:pt x="83" y="82"/>
                    </a:cubicBezTo>
                    <a:cubicBezTo>
                      <a:pt x="84" y="83"/>
                      <a:pt x="85" y="83"/>
                      <a:pt x="85" y="83"/>
                    </a:cubicBezTo>
                    <a:cubicBezTo>
                      <a:pt x="86" y="82"/>
                      <a:pt x="89" y="83"/>
                      <a:pt x="87" y="84"/>
                    </a:cubicBezTo>
                    <a:cubicBezTo>
                      <a:pt x="85" y="85"/>
                      <a:pt x="81" y="85"/>
                      <a:pt x="83" y="86"/>
                    </a:cubicBezTo>
                    <a:cubicBezTo>
                      <a:pt x="84" y="87"/>
                      <a:pt x="89" y="90"/>
                      <a:pt x="85" y="89"/>
                    </a:cubicBezTo>
                    <a:cubicBezTo>
                      <a:pt x="81" y="88"/>
                      <a:pt x="32" y="71"/>
                      <a:pt x="32" y="71"/>
                    </a:cubicBezTo>
                    <a:cubicBezTo>
                      <a:pt x="32" y="71"/>
                      <a:pt x="29" y="69"/>
                      <a:pt x="29" y="69"/>
                    </a:cubicBezTo>
                    <a:cubicBezTo>
                      <a:pt x="28" y="68"/>
                      <a:pt x="27" y="67"/>
                      <a:pt x="26" y="67"/>
                    </a:cubicBezTo>
                    <a:cubicBezTo>
                      <a:pt x="26" y="68"/>
                      <a:pt x="3" y="64"/>
                      <a:pt x="3" y="64"/>
                    </a:cubicBezTo>
                    <a:cubicBezTo>
                      <a:pt x="3" y="64"/>
                      <a:pt x="2" y="64"/>
                      <a:pt x="0" y="64"/>
                    </a:cubicBezTo>
                    <a:cubicBezTo>
                      <a:pt x="0" y="286"/>
                      <a:pt x="0" y="286"/>
                      <a:pt x="0" y="286"/>
                    </a:cubicBezTo>
                    <a:cubicBezTo>
                      <a:pt x="0" y="286"/>
                      <a:pt x="0" y="290"/>
                      <a:pt x="1" y="290"/>
                    </a:cubicBezTo>
                    <a:cubicBezTo>
                      <a:pt x="3" y="290"/>
                      <a:pt x="14" y="292"/>
                      <a:pt x="14" y="292"/>
                    </a:cubicBezTo>
                    <a:cubicBezTo>
                      <a:pt x="14" y="292"/>
                      <a:pt x="15" y="292"/>
                      <a:pt x="16" y="292"/>
                    </a:cubicBezTo>
                    <a:cubicBezTo>
                      <a:pt x="16" y="291"/>
                      <a:pt x="19" y="289"/>
                      <a:pt x="21" y="289"/>
                    </a:cubicBezTo>
                    <a:cubicBezTo>
                      <a:pt x="27" y="289"/>
                      <a:pt x="27" y="289"/>
                      <a:pt x="27" y="289"/>
                    </a:cubicBezTo>
                    <a:cubicBezTo>
                      <a:pt x="28" y="289"/>
                      <a:pt x="28" y="289"/>
                      <a:pt x="28" y="290"/>
                    </a:cubicBezTo>
                    <a:cubicBezTo>
                      <a:pt x="28" y="290"/>
                      <a:pt x="27" y="293"/>
                      <a:pt x="27" y="293"/>
                    </a:cubicBezTo>
                    <a:cubicBezTo>
                      <a:pt x="27" y="294"/>
                      <a:pt x="27" y="296"/>
                      <a:pt x="28" y="296"/>
                    </a:cubicBezTo>
                    <a:cubicBezTo>
                      <a:pt x="30" y="297"/>
                      <a:pt x="48" y="312"/>
                      <a:pt x="49" y="312"/>
                    </a:cubicBezTo>
                    <a:cubicBezTo>
                      <a:pt x="49" y="313"/>
                      <a:pt x="51" y="315"/>
                      <a:pt x="52" y="317"/>
                    </a:cubicBezTo>
                    <a:cubicBezTo>
                      <a:pt x="52" y="317"/>
                      <a:pt x="52" y="319"/>
                      <a:pt x="52" y="320"/>
                    </a:cubicBezTo>
                    <a:cubicBezTo>
                      <a:pt x="52" y="320"/>
                      <a:pt x="52" y="320"/>
                      <a:pt x="52" y="320"/>
                    </a:cubicBezTo>
                    <a:cubicBezTo>
                      <a:pt x="53" y="320"/>
                      <a:pt x="53" y="320"/>
                      <a:pt x="53" y="320"/>
                    </a:cubicBezTo>
                    <a:cubicBezTo>
                      <a:pt x="54" y="319"/>
                      <a:pt x="60" y="316"/>
                      <a:pt x="62" y="316"/>
                    </a:cubicBezTo>
                    <a:cubicBezTo>
                      <a:pt x="63" y="315"/>
                      <a:pt x="67" y="315"/>
                      <a:pt x="67" y="313"/>
                    </a:cubicBezTo>
                    <a:cubicBezTo>
                      <a:pt x="67" y="310"/>
                      <a:pt x="67" y="310"/>
                      <a:pt x="67" y="309"/>
                    </a:cubicBezTo>
                    <a:cubicBezTo>
                      <a:pt x="68" y="308"/>
                      <a:pt x="68" y="309"/>
                      <a:pt x="69" y="309"/>
                    </a:cubicBezTo>
                    <a:cubicBezTo>
                      <a:pt x="69" y="308"/>
                      <a:pt x="71" y="307"/>
                      <a:pt x="70" y="306"/>
                    </a:cubicBezTo>
                    <a:cubicBezTo>
                      <a:pt x="69" y="305"/>
                      <a:pt x="69" y="305"/>
                      <a:pt x="70" y="305"/>
                    </a:cubicBezTo>
                    <a:cubicBezTo>
                      <a:pt x="71" y="305"/>
                      <a:pt x="72" y="305"/>
                      <a:pt x="74" y="304"/>
                    </a:cubicBezTo>
                    <a:cubicBezTo>
                      <a:pt x="76" y="304"/>
                      <a:pt x="76" y="304"/>
                      <a:pt x="78" y="303"/>
                    </a:cubicBezTo>
                    <a:cubicBezTo>
                      <a:pt x="78" y="303"/>
                      <a:pt x="81" y="300"/>
                      <a:pt x="83" y="303"/>
                    </a:cubicBezTo>
                    <a:cubicBezTo>
                      <a:pt x="85" y="306"/>
                      <a:pt x="88" y="311"/>
                      <a:pt x="89" y="312"/>
                    </a:cubicBezTo>
                    <a:cubicBezTo>
                      <a:pt x="91" y="313"/>
                      <a:pt x="93" y="314"/>
                      <a:pt x="94" y="315"/>
                    </a:cubicBezTo>
                    <a:cubicBezTo>
                      <a:pt x="95" y="315"/>
                      <a:pt x="97" y="317"/>
                      <a:pt x="99" y="320"/>
                    </a:cubicBezTo>
                    <a:cubicBezTo>
                      <a:pt x="100" y="323"/>
                      <a:pt x="104" y="325"/>
                      <a:pt x="106" y="326"/>
                    </a:cubicBezTo>
                    <a:cubicBezTo>
                      <a:pt x="108" y="328"/>
                      <a:pt x="112" y="331"/>
                      <a:pt x="113" y="332"/>
                    </a:cubicBezTo>
                    <a:cubicBezTo>
                      <a:pt x="113" y="332"/>
                      <a:pt x="115" y="335"/>
                      <a:pt x="115" y="336"/>
                    </a:cubicBezTo>
                    <a:cubicBezTo>
                      <a:pt x="116" y="337"/>
                      <a:pt x="124" y="349"/>
                      <a:pt x="125" y="350"/>
                    </a:cubicBezTo>
                    <a:cubicBezTo>
                      <a:pt x="126" y="352"/>
                      <a:pt x="131" y="357"/>
                      <a:pt x="130" y="358"/>
                    </a:cubicBezTo>
                    <a:cubicBezTo>
                      <a:pt x="129" y="359"/>
                      <a:pt x="128" y="360"/>
                      <a:pt x="129" y="361"/>
                    </a:cubicBezTo>
                    <a:cubicBezTo>
                      <a:pt x="130" y="363"/>
                      <a:pt x="135" y="368"/>
                      <a:pt x="136" y="370"/>
                    </a:cubicBezTo>
                    <a:cubicBezTo>
                      <a:pt x="136" y="370"/>
                      <a:pt x="136" y="370"/>
                      <a:pt x="137" y="370"/>
                    </a:cubicBezTo>
                    <a:cubicBezTo>
                      <a:pt x="138" y="371"/>
                      <a:pt x="145" y="373"/>
                      <a:pt x="147" y="374"/>
                    </a:cubicBezTo>
                    <a:cubicBezTo>
                      <a:pt x="149" y="375"/>
                      <a:pt x="151" y="375"/>
                      <a:pt x="153" y="376"/>
                    </a:cubicBezTo>
                    <a:cubicBezTo>
                      <a:pt x="154" y="377"/>
                      <a:pt x="158" y="379"/>
                      <a:pt x="158" y="379"/>
                    </a:cubicBezTo>
                    <a:cubicBezTo>
                      <a:pt x="159" y="380"/>
                      <a:pt x="162" y="381"/>
                      <a:pt x="163" y="383"/>
                    </a:cubicBezTo>
                    <a:cubicBezTo>
                      <a:pt x="163" y="383"/>
                      <a:pt x="163" y="385"/>
                      <a:pt x="163" y="385"/>
                    </a:cubicBezTo>
                    <a:cubicBezTo>
                      <a:pt x="162" y="385"/>
                      <a:pt x="162" y="387"/>
                      <a:pt x="161" y="388"/>
                    </a:cubicBezTo>
                    <a:cubicBezTo>
                      <a:pt x="161" y="388"/>
                      <a:pt x="161" y="388"/>
                      <a:pt x="162" y="389"/>
                    </a:cubicBezTo>
                    <a:cubicBezTo>
                      <a:pt x="162" y="390"/>
                      <a:pt x="162" y="391"/>
                      <a:pt x="163" y="394"/>
                    </a:cubicBezTo>
                    <a:cubicBezTo>
                      <a:pt x="164" y="396"/>
                      <a:pt x="165" y="397"/>
                      <a:pt x="164" y="399"/>
                    </a:cubicBezTo>
                    <a:cubicBezTo>
                      <a:pt x="162" y="400"/>
                      <a:pt x="161" y="401"/>
                      <a:pt x="161" y="403"/>
                    </a:cubicBezTo>
                    <a:cubicBezTo>
                      <a:pt x="162" y="404"/>
                      <a:pt x="163" y="404"/>
                      <a:pt x="163" y="403"/>
                    </a:cubicBezTo>
                    <a:cubicBezTo>
                      <a:pt x="164" y="401"/>
                      <a:pt x="167" y="398"/>
                      <a:pt x="166" y="393"/>
                    </a:cubicBezTo>
                    <a:cubicBezTo>
                      <a:pt x="166" y="393"/>
                      <a:pt x="166" y="390"/>
                      <a:pt x="167" y="391"/>
                    </a:cubicBezTo>
                    <a:cubicBezTo>
                      <a:pt x="168" y="393"/>
                      <a:pt x="169" y="394"/>
                      <a:pt x="169" y="394"/>
                    </a:cubicBezTo>
                    <a:cubicBezTo>
                      <a:pt x="170" y="394"/>
                      <a:pt x="170" y="394"/>
                      <a:pt x="169" y="395"/>
                    </a:cubicBezTo>
                    <a:cubicBezTo>
                      <a:pt x="167" y="396"/>
                      <a:pt x="167" y="399"/>
                      <a:pt x="166" y="400"/>
                    </a:cubicBezTo>
                    <a:cubicBezTo>
                      <a:pt x="165" y="401"/>
                      <a:pt x="162" y="403"/>
                      <a:pt x="164" y="403"/>
                    </a:cubicBezTo>
                    <a:cubicBezTo>
                      <a:pt x="165" y="403"/>
                      <a:pt x="167" y="404"/>
                      <a:pt x="168" y="404"/>
                    </a:cubicBezTo>
                    <a:cubicBezTo>
                      <a:pt x="168" y="404"/>
                      <a:pt x="168" y="404"/>
                      <a:pt x="166" y="404"/>
                    </a:cubicBezTo>
                    <a:cubicBezTo>
                      <a:pt x="165" y="404"/>
                      <a:pt x="164" y="405"/>
                      <a:pt x="163" y="405"/>
                    </a:cubicBezTo>
                    <a:cubicBezTo>
                      <a:pt x="162" y="405"/>
                      <a:pt x="162" y="405"/>
                      <a:pt x="161" y="406"/>
                    </a:cubicBezTo>
                    <a:cubicBezTo>
                      <a:pt x="161" y="407"/>
                      <a:pt x="160" y="407"/>
                      <a:pt x="161" y="407"/>
                    </a:cubicBezTo>
                    <a:cubicBezTo>
                      <a:pt x="162" y="406"/>
                      <a:pt x="162" y="407"/>
                      <a:pt x="161" y="407"/>
                    </a:cubicBezTo>
                    <a:cubicBezTo>
                      <a:pt x="161" y="408"/>
                      <a:pt x="161" y="410"/>
                      <a:pt x="163" y="411"/>
                    </a:cubicBezTo>
                    <a:cubicBezTo>
                      <a:pt x="166" y="412"/>
                      <a:pt x="164" y="412"/>
                      <a:pt x="162" y="411"/>
                    </a:cubicBezTo>
                    <a:cubicBezTo>
                      <a:pt x="160" y="410"/>
                      <a:pt x="160" y="409"/>
                      <a:pt x="159" y="410"/>
                    </a:cubicBezTo>
                    <a:cubicBezTo>
                      <a:pt x="158" y="411"/>
                      <a:pt x="158" y="412"/>
                      <a:pt x="160" y="413"/>
                    </a:cubicBezTo>
                    <a:cubicBezTo>
                      <a:pt x="162" y="413"/>
                      <a:pt x="164" y="414"/>
                      <a:pt x="163" y="414"/>
                    </a:cubicBezTo>
                    <a:cubicBezTo>
                      <a:pt x="162" y="415"/>
                      <a:pt x="162" y="416"/>
                      <a:pt x="163" y="417"/>
                    </a:cubicBezTo>
                    <a:cubicBezTo>
                      <a:pt x="163" y="417"/>
                      <a:pt x="163" y="417"/>
                      <a:pt x="161" y="416"/>
                    </a:cubicBezTo>
                    <a:cubicBezTo>
                      <a:pt x="160" y="414"/>
                      <a:pt x="157" y="410"/>
                      <a:pt x="157" y="412"/>
                    </a:cubicBezTo>
                    <a:cubicBezTo>
                      <a:pt x="157" y="415"/>
                      <a:pt x="157" y="415"/>
                      <a:pt x="157" y="415"/>
                    </a:cubicBezTo>
                    <a:cubicBezTo>
                      <a:pt x="156" y="416"/>
                      <a:pt x="156" y="416"/>
                      <a:pt x="157" y="417"/>
                    </a:cubicBezTo>
                    <a:cubicBezTo>
                      <a:pt x="158" y="417"/>
                      <a:pt x="158" y="417"/>
                      <a:pt x="159" y="416"/>
                    </a:cubicBezTo>
                    <a:cubicBezTo>
                      <a:pt x="160" y="416"/>
                      <a:pt x="160" y="417"/>
                      <a:pt x="160" y="418"/>
                    </a:cubicBezTo>
                    <a:cubicBezTo>
                      <a:pt x="160" y="419"/>
                      <a:pt x="159" y="419"/>
                      <a:pt x="160" y="420"/>
                    </a:cubicBezTo>
                    <a:cubicBezTo>
                      <a:pt x="162" y="421"/>
                      <a:pt x="163" y="420"/>
                      <a:pt x="164" y="420"/>
                    </a:cubicBezTo>
                    <a:cubicBezTo>
                      <a:pt x="165" y="419"/>
                      <a:pt x="166" y="419"/>
                      <a:pt x="167" y="420"/>
                    </a:cubicBezTo>
                    <a:cubicBezTo>
                      <a:pt x="168" y="420"/>
                      <a:pt x="167" y="420"/>
                      <a:pt x="166" y="420"/>
                    </a:cubicBezTo>
                    <a:cubicBezTo>
                      <a:pt x="164" y="420"/>
                      <a:pt x="164" y="421"/>
                      <a:pt x="166" y="422"/>
                    </a:cubicBezTo>
                    <a:cubicBezTo>
                      <a:pt x="167" y="424"/>
                      <a:pt x="167" y="424"/>
                      <a:pt x="165" y="422"/>
                    </a:cubicBezTo>
                    <a:cubicBezTo>
                      <a:pt x="163" y="421"/>
                      <a:pt x="162" y="421"/>
                      <a:pt x="162" y="422"/>
                    </a:cubicBezTo>
                    <a:cubicBezTo>
                      <a:pt x="162" y="423"/>
                      <a:pt x="162" y="425"/>
                      <a:pt x="164" y="427"/>
                    </a:cubicBezTo>
                    <a:cubicBezTo>
                      <a:pt x="166" y="429"/>
                      <a:pt x="172" y="434"/>
                      <a:pt x="173" y="435"/>
                    </a:cubicBezTo>
                    <a:cubicBezTo>
                      <a:pt x="175" y="436"/>
                      <a:pt x="175" y="436"/>
                      <a:pt x="175" y="433"/>
                    </a:cubicBezTo>
                    <a:cubicBezTo>
                      <a:pt x="175" y="430"/>
                      <a:pt x="175" y="431"/>
                      <a:pt x="176" y="430"/>
                    </a:cubicBezTo>
                    <a:cubicBezTo>
                      <a:pt x="177" y="429"/>
                      <a:pt x="178" y="429"/>
                      <a:pt x="178" y="429"/>
                    </a:cubicBezTo>
                    <a:cubicBezTo>
                      <a:pt x="177" y="428"/>
                      <a:pt x="178" y="428"/>
                      <a:pt x="178" y="429"/>
                    </a:cubicBezTo>
                    <a:cubicBezTo>
                      <a:pt x="179" y="429"/>
                      <a:pt x="179" y="429"/>
                      <a:pt x="179" y="427"/>
                    </a:cubicBezTo>
                    <a:cubicBezTo>
                      <a:pt x="179" y="426"/>
                      <a:pt x="179" y="426"/>
                      <a:pt x="180" y="427"/>
                    </a:cubicBezTo>
                    <a:cubicBezTo>
                      <a:pt x="180" y="427"/>
                      <a:pt x="180" y="428"/>
                      <a:pt x="182" y="426"/>
                    </a:cubicBezTo>
                    <a:cubicBezTo>
                      <a:pt x="183" y="424"/>
                      <a:pt x="185" y="422"/>
                      <a:pt x="184" y="424"/>
                    </a:cubicBezTo>
                    <a:cubicBezTo>
                      <a:pt x="183" y="426"/>
                      <a:pt x="183" y="426"/>
                      <a:pt x="184" y="427"/>
                    </a:cubicBezTo>
                    <a:cubicBezTo>
                      <a:pt x="185" y="427"/>
                      <a:pt x="184" y="427"/>
                      <a:pt x="183" y="428"/>
                    </a:cubicBezTo>
                    <a:cubicBezTo>
                      <a:pt x="182" y="428"/>
                      <a:pt x="181" y="428"/>
                      <a:pt x="181" y="430"/>
                    </a:cubicBezTo>
                    <a:cubicBezTo>
                      <a:pt x="181" y="431"/>
                      <a:pt x="181" y="431"/>
                      <a:pt x="181" y="431"/>
                    </a:cubicBezTo>
                    <a:cubicBezTo>
                      <a:pt x="181" y="432"/>
                      <a:pt x="181" y="432"/>
                      <a:pt x="182" y="433"/>
                    </a:cubicBezTo>
                    <a:cubicBezTo>
                      <a:pt x="183" y="433"/>
                      <a:pt x="185" y="436"/>
                      <a:pt x="187" y="435"/>
                    </a:cubicBezTo>
                    <a:cubicBezTo>
                      <a:pt x="189" y="434"/>
                      <a:pt x="190" y="434"/>
                      <a:pt x="191" y="435"/>
                    </a:cubicBezTo>
                    <a:cubicBezTo>
                      <a:pt x="192" y="436"/>
                      <a:pt x="191" y="436"/>
                      <a:pt x="190" y="436"/>
                    </a:cubicBezTo>
                    <a:cubicBezTo>
                      <a:pt x="189" y="435"/>
                      <a:pt x="186" y="435"/>
                      <a:pt x="186" y="436"/>
                    </a:cubicBezTo>
                    <a:cubicBezTo>
                      <a:pt x="186" y="438"/>
                      <a:pt x="186" y="438"/>
                      <a:pt x="185" y="437"/>
                    </a:cubicBezTo>
                    <a:cubicBezTo>
                      <a:pt x="185" y="435"/>
                      <a:pt x="184" y="434"/>
                      <a:pt x="183" y="435"/>
                    </a:cubicBezTo>
                    <a:cubicBezTo>
                      <a:pt x="183" y="435"/>
                      <a:pt x="183" y="435"/>
                      <a:pt x="182" y="434"/>
                    </a:cubicBezTo>
                    <a:cubicBezTo>
                      <a:pt x="180" y="433"/>
                      <a:pt x="178" y="433"/>
                      <a:pt x="179" y="435"/>
                    </a:cubicBezTo>
                    <a:cubicBezTo>
                      <a:pt x="179" y="437"/>
                      <a:pt x="180" y="437"/>
                      <a:pt x="180" y="438"/>
                    </a:cubicBezTo>
                    <a:cubicBezTo>
                      <a:pt x="180" y="439"/>
                      <a:pt x="181" y="439"/>
                      <a:pt x="182" y="439"/>
                    </a:cubicBezTo>
                    <a:cubicBezTo>
                      <a:pt x="182" y="440"/>
                      <a:pt x="185" y="441"/>
                      <a:pt x="186" y="442"/>
                    </a:cubicBezTo>
                    <a:cubicBezTo>
                      <a:pt x="186" y="444"/>
                      <a:pt x="185" y="448"/>
                      <a:pt x="188" y="448"/>
                    </a:cubicBezTo>
                    <a:cubicBezTo>
                      <a:pt x="190" y="449"/>
                      <a:pt x="190" y="448"/>
                      <a:pt x="191" y="447"/>
                    </a:cubicBezTo>
                    <a:cubicBezTo>
                      <a:pt x="191" y="446"/>
                      <a:pt x="193" y="445"/>
                      <a:pt x="192" y="447"/>
                    </a:cubicBezTo>
                    <a:cubicBezTo>
                      <a:pt x="191" y="448"/>
                      <a:pt x="191" y="448"/>
                      <a:pt x="191" y="449"/>
                    </a:cubicBezTo>
                    <a:cubicBezTo>
                      <a:pt x="191" y="449"/>
                      <a:pt x="191" y="451"/>
                      <a:pt x="190" y="451"/>
                    </a:cubicBezTo>
                    <a:cubicBezTo>
                      <a:pt x="190" y="452"/>
                      <a:pt x="190" y="453"/>
                      <a:pt x="190" y="455"/>
                    </a:cubicBezTo>
                    <a:cubicBezTo>
                      <a:pt x="190" y="456"/>
                      <a:pt x="189" y="457"/>
                      <a:pt x="189" y="457"/>
                    </a:cubicBezTo>
                    <a:cubicBezTo>
                      <a:pt x="188" y="457"/>
                      <a:pt x="188" y="457"/>
                      <a:pt x="188" y="458"/>
                    </a:cubicBezTo>
                    <a:cubicBezTo>
                      <a:pt x="188" y="458"/>
                      <a:pt x="187" y="459"/>
                      <a:pt x="189" y="458"/>
                    </a:cubicBezTo>
                    <a:cubicBezTo>
                      <a:pt x="190" y="458"/>
                      <a:pt x="190" y="457"/>
                      <a:pt x="191" y="456"/>
                    </a:cubicBezTo>
                    <a:cubicBezTo>
                      <a:pt x="192" y="454"/>
                      <a:pt x="193" y="454"/>
                      <a:pt x="193" y="454"/>
                    </a:cubicBezTo>
                    <a:cubicBezTo>
                      <a:pt x="194" y="454"/>
                      <a:pt x="194" y="453"/>
                      <a:pt x="193" y="455"/>
                    </a:cubicBezTo>
                    <a:cubicBezTo>
                      <a:pt x="192" y="456"/>
                      <a:pt x="192" y="457"/>
                      <a:pt x="193" y="457"/>
                    </a:cubicBezTo>
                    <a:cubicBezTo>
                      <a:pt x="194" y="458"/>
                      <a:pt x="194" y="457"/>
                      <a:pt x="194" y="456"/>
                    </a:cubicBezTo>
                    <a:cubicBezTo>
                      <a:pt x="194" y="454"/>
                      <a:pt x="195" y="454"/>
                      <a:pt x="195" y="455"/>
                    </a:cubicBezTo>
                    <a:cubicBezTo>
                      <a:pt x="195" y="457"/>
                      <a:pt x="195" y="457"/>
                      <a:pt x="195" y="458"/>
                    </a:cubicBezTo>
                    <a:cubicBezTo>
                      <a:pt x="194" y="458"/>
                      <a:pt x="194" y="458"/>
                      <a:pt x="194" y="459"/>
                    </a:cubicBezTo>
                    <a:cubicBezTo>
                      <a:pt x="195" y="460"/>
                      <a:pt x="195" y="460"/>
                      <a:pt x="196" y="459"/>
                    </a:cubicBezTo>
                    <a:cubicBezTo>
                      <a:pt x="197" y="458"/>
                      <a:pt x="197" y="458"/>
                      <a:pt x="198" y="458"/>
                    </a:cubicBezTo>
                    <a:cubicBezTo>
                      <a:pt x="199" y="458"/>
                      <a:pt x="199" y="458"/>
                      <a:pt x="200" y="457"/>
                    </a:cubicBezTo>
                    <a:cubicBezTo>
                      <a:pt x="201" y="456"/>
                      <a:pt x="202" y="456"/>
                      <a:pt x="203" y="455"/>
                    </a:cubicBezTo>
                    <a:cubicBezTo>
                      <a:pt x="204" y="455"/>
                      <a:pt x="204" y="454"/>
                      <a:pt x="204" y="454"/>
                    </a:cubicBezTo>
                    <a:cubicBezTo>
                      <a:pt x="205" y="453"/>
                      <a:pt x="205" y="452"/>
                      <a:pt x="206" y="452"/>
                    </a:cubicBezTo>
                    <a:cubicBezTo>
                      <a:pt x="207" y="452"/>
                      <a:pt x="208" y="451"/>
                      <a:pt x="208" y="450"/>
                    </a:cubicBezTo>
                    <a:cubicBezTo>
                      <a:pt x="208" y="449"/>
                      <a:pt x="209" y="450"/>
                      <a:pt x="208" y="451"/>
                    </a:cubicBezTo>
                    <a:cubicBezTo>
                      <a:pt x="207" y="453"/>
                      <a:pt x="205" y="453"/>
                      <a:pt x="205" y="454"/>
                    </a:cubicBezTo>
                    <a:cubicBezTo>
                      <a:pt x="204" y="455"/>
                      <a:pt x="205" y="456"/>
                      <a:pt x="206" y="457"/>
                    </a:cubicBezTo>
                    <a:cubicBezTo>
                      <a:pt x="206" y="458"/>
                      <a:pt x="208" y="458"/>
                      <a:pt x="209" y="457"/>
                    </a:cubicBezTo>
                    <a:cubicBezTo>
                      <a:pt x="210" y="457"/>
                      <a:pt x="212" y="456"/>
                      <a:pt x="210" y="458"/>
                    </a:cubicBezTo>
                    <a:cubicBezTo>
                      <a:pt x="208" y="459"/>
                      <a:pt x="209" y="459"/>
                      <a:pt x="209" y="459"/>
                    </a:cubicBezTo>
                    <a:cubicBezTo>
                      <a:pt x="209" y="460"/>
                      <a:pt x="209" y="460"/>
                      <a:pt x="208" y="459"/>
                    </a:cubicBezTo>
                    <a:cubicBezTo>
                      <a:pt x="207" y="458"/>
                      <a:pt x="207" y="458"/>
                      <a:pt x="205" y="459"/>
                    </a:cubicBezTo>
                    <a:cubicBezTo>
                      <a:pt x="204" y="460"/>
                      <a:pt x="203" y="460"/>
                      <a:pt x="203" y="460"/>
                    </a:cubicBezTo>
                    <a:cubicBezTo>
                      <a:pt x="202" y="460"/>
                      <a:pt x="202" y="461"/>
                      <a:pt x="202" y="461"/>
                    </a:cubicBezTo>
                    <a:cubicBezTo>
                      <a:pt x="202" y="462"/>
                      <a:pt x="200" y="464"/>
                      <a:pt x="200" y="463"/>
                    </a:cubicBezTo>
                    <a:cubicBezTo>
                      <a:pt x="201" y="462"/>
                      <a:pt x="201" y="461"/>
                      <a:pt x="200" y="462"/>
                    </a:cubicBezTo>
                    <a:cubicBezTo>
                      <a:pt x="199" y="462"/>
                      <a:pt x="199" y="462"/>
                      <a:pt x="199" y="463"/>
                    </a:cubicBezTo>
                    <a:cubicBezTo>
                      <a:pt x="198" y="464"/>
                      <a:pt x="198" y="465"/>
                      <a:pt x="197" y="465"/>
                    </a:cubicBezTo>
                    <a:cubicBezTo>
                      <a:pt x="196" y="466"/>
                      <a:pt x="195" y="467"/>
                      <a:pt x="195" y="467"/>
                    </a:cubicBezTo>
                    <a:cubicBezTo>
                      <a:pt x="195" y="468"/>
                      <a:pt x="195" y="472"/>
                      <a:pt x="196" y="473"/>
                    </a:cubicBezTo>
                    <a:cubicBezTo>
                      <a:pt x="197" y="474"/>
                      <a:pt x="198" y="475"/>
                      <a:pt x="199" y="474"/>
                    </a:cubicBezTo>
                    <a:cubicBezTo>
                      <a:pt x="200" y="472"/>
                      <a:pt x="199" y="473"/>
                      <a:pt x="200" y="472"/>
                    </a:cubicBezTo>
                    <a:cubicBezTo>
                      <a:pt x="201" y="471"/>
                      <a:pt x="201" y="471"/>
                      <a:pt x="201" y="470"/>
                    </a:cubicBezTo>
                    <a:cubicBezTo>
                      <a:pt x="201" y="469"/>
                      <a:pt x="201" y="469"/>
                      <a:pt x="202" y="468"/>
                    </a:cubicBezTo>
                    <a:cubicBezTo>
                      <a:pt x="203" y="468"/>
                      <a:pt x="202" y="469"/>
                      <a:pt x="202" y="470"/>
                    </a:cubicBezTo>
                    <a:cubicBezTo>
                      <a:pt x="202" y="470"/>
                      <a:pt x="202" y="471"/>
                      <a:pt x="203" y="471"/>
                    </a:cubicBezTo>
                    <a:cubicBezTo>
                      <a:pt x="204" y="470"/>
                      <a:pt x="208" y="470"/>
                      <a:pt x="209" y="470"/>
                    </a:cubicBezTo>
                    <a:cubicBezTo>
                      <a:pt x="210" y="471"/>
                      <a:pt x="211" y="471"/>
                      <a:pt x="211" y="471"/>
                    </a:cubicBezTo>
                    <a:cubicBezTo>
                      <a:pt x="212" y="471"/>
                      <a:pt x="211" y="472"/>
                      <a:pt x="209" y="471"/>
                    </a:cubicBezTo>
                    <a:cubicBezTo>
                      <a:pt x="208" y="471"/>
                      <a:pt x="203" y="471"/>
                      <a:pt x="202" y="471"/>
                    </a:cubicBezTo>
                    <a:cubicBezTo>
                      <a:pt x="202" y="472"/>
                      <a:pt x="201" y="472"/>
                      <a:pt x="200" y="473"/>
                    </a:cubicBezTo>
                    <a:cubicBezTo>
                      <a:pt x="200" y="474"/>
                      <a:pt x="199" y="475"/>
                      <a:pt x="199" y="476"/>
                    </a:cubicBezTo>
                    <a:cubicBezTo>
                      <a:pt x="198" y="477"/>
                      <a:pt x="195" y="477"/>
                      <a:pt x="197" y="478"/>
                    </a:cubicBezTo>
                    <a:cubicBezTo>
                      <a:pt x="198" y="478"/>
                      <a:pt x="199" y="477"/>
                      <a:pt x="200" y="477"/>
                    </a:cubicBezTo>
                    <a:cubicBezTo>
                      <a:pt x="201" y="477"/>
                      <a:pt x="202" y="477"/>
                      <a:pt x="202" y="478"/>
                    </a:cubicBezTo>
                    <a:cubicBezTo>
                      <a:pt x="203" y="478"/>
                      <a:pt x="204" y="478"/>
                      <a:pt x="205" y="478"/>
                    </a:cubicBezTo>
                    <a:cubicBezTo>
                      <a:pt x="206" y="477"/>
                      <a:pt x="207" y="477"/>
                      <a:pt x="205" y="478"/>
                    </a:cubicBezTo>
                    <a:cubicBezTo>
                      <a:pt x="204" y="479"/>
                      <a:pt x="203" y="479"/>
                      <a:pt x="201" y="478"/>
                    </a:cubicBezTo>
                    <a:cubicBezTo>
                      <a:pt x="200" y="478"/>
                      <a:pt x="198" y="478"/>
                      <a:pt x="198" y="479"/>
                    </a:cubicBezTo>
                    <a:cubicBezTo>
                      <a:pt x="197" y="480"/>
                      <a:pt x="196" y="480"/>
                      <a:pt x="197" y="480"/>
                    </a:cubicBezTo>
                    <a:cubicBezTo>
                      <a:pt x="199" y="481"/>
                      <a:pt x="201" y="482"/>
                      <a:pt x="203" y="483"/>
                    </a:cubicBezTo>
                    <a:cubicBezTo>
                      <a:pt x="206" y="483"/>
                      <a:pt x="203" y="483"/>
                      <a:pt x="202" y="483"/>
                    </a:cubicBezTo>
                    <a:cubicBezTo>
                      <a:pt x="200" y="482"/>
                      <a:pt x="199" y="483"/>
                      <a:pt x="200" y="484"/>
                    </a:cubicBezTo>
                    <a:cubicBezTo>
                      <a:pt x="201" y="485"/>
                      <a:pt x="203" y="485"/>
                      <a:pt x="205" y="486"/>
                    </a:cubicBezTo>
                    <a:cubicBezTo>
                      <a:pt x="206" y="486"/>
                      <a:pt x="209" y="487"/>
                      <a:pt x="209" y="486"/>
                    </a:cubicBezTo>
                    <a:cubicBezTo>
                      <a:pt x="209" y="486"/>
                      <a:pt x="209" y="486"/>
                      <a:pt x="210" y="486"/>
                    </a:cubicBezTo>
                    <a:cubicBezTo>
                      <a:pt x="211" y="486"/>
                      <a:pt x="215" y="487"/>
                      <a:pt x="215" y="485"/>
                    </a:cubicBezTo>
                    <a:cubicBezTo>
                      <a:pt x="215" y="484"/>
                      <a:pt x="215" y="483"/>
                      <a:pt x="216" y="483"/>
                    </a:cubicBezTo>
                    <a:cubicBezTo>
                      <a:pt x="218" y="484"/>
                      <a:pt x="222" y="485"/>
                      <a:pt x="218" y="486"/>
                    </a:cubicBezTo>
                    <a:cubicBezTo>
                      <a:pt x="215" y="486"/>
                      <a:pt x="214" y="487"/>
                      <a:pt x="215" y="487"/>
                    </a:cubicBezTo>
                    <a:cubicBezTo>
                      <a:pt x="215" y="487"/>
                      <a:pt x="217" y="487"/>
                      <a:pt x="217" y="487"/>
                    </a:cubicBezTo>
                    <a:cubicBezTo>
                      <a:pt x="218" y="487"/>
                      <a:pt x="223" y="487"/>
                      <a:pt x="221" y="489"/>
                    </a:cubicBezTo>
                    <a:cubicBezTo>
                      <a:pt x="219" y="491"/>
                      <a:pt x="219" y="491"/>
                      <a:pt x="221" y="490"/>
                    </a:cubicBezTo>
                    <a:cubicBezTo>
                      <a:pt x="224" y="490"/>
                      <a:pt x="226" y="490"/>
                      <a:pt x="226" y="490"/>
                    </a:cubicBezTo>
                    <a:cubicBezTo>
                      <a:pt x="227" y="490"/>
                      <a:pt x="228" y="489"/>
                      <a:pt x="228" y="488"/>
                    </a:cubicBezTo>
                    <a:cubicBezTo>
                      <a:pt x="228" y="487"/>
                      <a:pt x="228" y="485"/>
                      <a:pt x="228" y="487"/>
                    </a:cubicBezTo>
                    <a:cubicBezTo>
                      <a:pt x="228" y="489"/>
                      <a:pt x="228" y="490"/>
                      <a:pt x="227" y="490"/>
                    </a:cubicBezTo>
                    <a:cubicBezTo>
                      <a:pt x="226" y="491"/>
                      <a:pt x="224" y="491"/>
                      <a:pt x="223" y="491"/>
                    </a:cubicBezTo>
                    <a:cubicBezTo>
                      <a:pt x="222" y="491"/>
                      <a:pt x="218" y="491"/>
                      <a:pt x="219" y="491"/>
                    </a:cubicBezTo>
                    <a:cubicBezTo>
                      <a:pt x="220" y="492"/>
                      <a:pt x="223" y="491"/>
                      <a:pt x="222" y="492"/>
                    </a:cubicBezTo>
                    <a:cubicBezTo>
                      <a:pt x="222" y="492"/>
                      <a:pt x="221" y="492"/>
                      <a:pt x="221" y="493"/>
                    </a:cubicBezTo>
                    <a:cubicBezTo>
                      <a:pt x="221" y="494"/>
                      <a:pt x="220" y="494"/>
                      <a:pt x="222" y="494"/>
                    </a:cubicBezTo>
                    <a:cubicBezTo>
                      <a:pt x="223" y="494"/>
                      <a:pt x="225" y="493"/>
                      <a:pt x="226" y="493"/>
                    </a:cubicBezTo>
                    <a:cubicBezTo>
                      <a:pt x="227" y="494"/>
                      <a:pt x="227" y="495"/>
                      <a:pt x="228" y="494"/>
                    </a:cubicBezTo>
                    <a:cubicBezTo>
                      <a:pt x="229" y="494"/>
                      <a:pt x="228" y="493"/>
                      <a:pt x="229" y="492"/>
                    </a:cubicBezTo>
                    <a:cubicBezTo>
                      <a:pt x="230" y="491"/>
                      <a:pt x="230" y="491"/>
                      <a:pt x="230" y="493"/>
                    </a:cubicBezTo>
                    <a:cubicBezTo>
                      <a:pt x="229" y="494"/>
                      <a:pt x="229" y="494"/>
                      <a:pt x="230" y="494"/>
                    </a:cubicBezTo>
                    <a:cubicBezTo>
                      <a:pt x="231" y="494"/>
                      <a:pt x="232" y="494"/>
                      <a:pt x="232" y="494"/>
                    </a:cubicBezTo>
                    <a:cubicBezTo>
                      <a:pt x="232" y="493"/>
                      <a:pt x="233" y="493"/>
                      <a:pt x="233" y="494"/>
                    </a:cubicBezTo>
                    <a:cubicBezTo>
                      <a:pt x="234" y="494"/>
                      <a:pt x="236" y="495"/>
                      <a:pt x="236" y="494"/>
                    </a:cubicBezTo>
                    <a:cubicBezTo>
                      <a:pt x="236" y="493"/>
                      <a:pt x="237" y="493"/>
                      <a:pt x="238" y="493"/>
                    </a:cubicBezTo>
                    <a:cubicBezTo>
                      <a:pt x="238" y="492"/>
                      <a:pt x="239" y="492"/>
                      <a:pt x="239" y="490"/>
                    </a:cubicBezTo>
                    <a:cubicBezTo>
                      <a:pt x="239" y="489"/>
                      <a:pt x="240" y="490"/>
                      <a:pt x="240" y="491"/>
                    </a:cubicBezTo>
                    <a:cubicBezTo>
                      <a:pt x="240" y="492"/>
                      <a:pt x="239" y="493"/>
                      <a:pt x="238" y="494"/>
                    </a:cubicBezTo>
                    <a:cubicBezTo>
                      <a:pt x="237" y="494"/>
                      <a:pt x="236" y="496"/>
                      <a:pt x="237" y="497"/>
                    </a:cubicBezTo>
                    <a:cubicBezTo>
                      <a:pt x="237" y="497"/>
                      <a:pt x="237" y="497"/>
                      <a:pt x="238" y="496"/>
                    </a:cubicBezTo>
                    <a:cubicBezTo>
                      <a:pt x="238" y="495"/>
                      <a:pt x="238" y="495"/>
                      <a:pt x="239" y="496"/>
                    </a:cubicBezTo>
                    <a:cubicBezTo>
                      <a:pt x="240" y="497"/>
                      <a:pt x="241" y="497"/>
                      <a:pt x="242" y="496"/>
                    </a:cubicBezTo>
                    <a:cubicBezTo>
                      <a:pt x="242" y="496"/>
                      <a:pt x="243" y="495"/>
                      <a:pt x="244" y="495"/>
                    </a:cubicBezTo>
                    <a:cubicBezTo>
                      <a:pt x="244" y="495"/>
                      <a:pt x="246" y="495"/>
                      <a:pt x="244" y="496"/>
                    </a:cubicBezTo>
                    <a:cubicBezTo>
                      <a:pt x="242" y="496"/>
                      <a:pt x="242" y="497"/>
                      <a:pt x="243" y="498"/>
                    </a:cubicBezTo>
                    <a:cubicBezTo>
                      <a:pt x="243" y="499"/>
                      <a:pt x="243" y="501"/>
                      <a:pt x="243" y="501"/>
                    </a:cubicBezTo>
                    <a:cubicBezTo>
                      <a:pt x="242" y="502"/>
                      <a:pt x="242" y="502"/>
                      <a:pt x="242" y="503"/>
                    </a:cubicBezTo>
                    <a:cubicBezTo>
                      <a:pt x="242" y="504"/>
                      <a:pt x="242" y="504"/>
                      <a:pt x="241" y="503"/>
                    </a:cubicBezTo>
                    <a:cubicBezTo>
                      <a:pt x="240" y="502"/>
                      <a:pt x="239" y="502"/>
                      <a:pt x="241" y="503"/>
                    </a:cubicBezTo>
                    <a:cubicBezTo>
                      <a:pt x="243" y="505"/>
                      <a:pt x="245" y="506"/>
                      <a:pt x="246" y="506"/>
                    </a:cubicBezTo>
                    <a:cubicBezTo>
                      <a:pt x="247" y="507"/>
                      <a:pt x="252" y="509"/>
                      <a:pt x="252" y="507"/>
                    </a:cubicBezTo>
                    <a:cubicBezTo>
                      <a:pt x="252" y="504"/>
                      <a:pt x="252" y="505"/>
                      <a:pt x="253" y="506"/>
                    </a:cubicBezTo>
                    <a:cubicBezTo>
                      <a:pt x="254" y="506"/>
                      <a:pt x="254" y="506"/>
                      <a:pt x="254" y="507"/>
                    </a:cubicBezTo>
                    <a:cubicBezTo>
                      <a:pt x="254" y="508"/>
                      <a:pt x="254" y="510"/>
                      <a:pt x="256" y="510"/>
                    </a:cubicBezTo>
                    <a:cubicBezTo>
                      <a:pt x="258" y="510"/>
                      <a:pt x="259" y="510"/>
                      <a:pt x="257" y="511"/>
                    </a:cubicBezTo>
                    <a:cubicBezTo>
                      <a:pt x="256" y="511"/>
                      <a:pt x="256" y="511"/>
                      <a:pt x="256" y="512"/>
                    </a:cubicBezTo>
                    <a:cubicBezTo>
                      <a:pt x="256" y="514"/>
                      <a:pt x="257" y="514"/>
                      <a:pt x="259" y="515"/>
                    </a:cubicBezTo>
                    <a:cubicBezTo>
                      <a:pt x="260" y="515"/>
                      <a:pt x="260" y="515"/>
                      <a:pt x="260" y="514"/>
                    </a:cubicBezTo>
                    <a:cubicBezTo>
                      <a:pt x="261" y="512"/>
                      <a:pt x="261" y="512"/>
                      <a:pt x="262" y="512"/>
                    </a:cubicBezTo>
                    <a:cubicBezTo>
                      <a:pt x="263" y="512"/>
                      <a:pt x="264" y="512"/>
                      <a:pt x="264" y="511"/>
                    </a:cubicBezTo>
                    <a:cubicBezTo>
                      <a:pt x="264" y="510"/>
                      <a:pt x="265" y="510"/>
                      <a:pt x="264" y="512"/>
                    </a:cubicBezTo>
                    <a:cubicBezTo>
                      <a:pt x="263" y="515"/>
                      <a:pt x="263" y="516"/>
                      <a:pt x="264" y="516"/>
                    </a:cubicBezTo>
                    <a:cubicBezTo>
                      <a:pt x="265" y="517"/>
                      <a:pt x="268" y="517"/>
                      <a:pt x="265" y="517"/>
                    </a:cubicBezTo>
                    <a:cubicBezTo>
                      <a:pt x="263" y="518"/>
                      <a:pt x="264" y="518"/>
                      <a:pt x="265" y="518"/>
                    </a:cubicBezTo>
                    <a:cubicBezTo>
                      <a:pt x="266" y="519"/>
                      <a:pt x="267" y="520"/>
                      <a:pt x="266" y="522"/>
                    </a:cubicBezTo>
                    <a:cubicBezTo>
                      <a:pt x="266" y="523"/>
                      <a:pt x="266" y="523"/>
                      <a:pt x="266" y="523"/>
                    </a:cubicBezTo>
                    <a:cubicBezTo>
                      <a:pt x="272" y="523"/>
                      <a:pt x="272" y="523"/>
                      <a:pt x="272" y="523"/>
                    </a:cubicBezTo>
                    <a:cubicBezTo>
                      <a:pt x="680" y="523"/>
                      <a:pt x="680" y="523"/>
                      <a:pt x="680" y="523"/>
                    </a:cubicBezTo>
                    <a:cubicBezTo>
                      <a:pt x="680" y="523"/>
                      <a:pt x="681" y="523"/>
                      <a:pt x="681" y="522"/>
                    </a:cubicBezTo>
                    <a:cubicBezTo>
                      <a:pt x="681" y="521"/>
                      <a:pt x="681" y="516"/>
                      <a:pt x="681" y="516"/>
                    </a:cubicBezTo>
                    <a:cubicBezTo>
                      <a:pt x="681" y="516"/>
                      <a:pt x="680" y="515"/>
                      <a:pt x="681" y="516"/>
                    </a:cubicBezTo>
                    <a:cubicBezTo>
                      <a:pt x="683" y="516"/>
                      <a:pt x="686" y="517"/>
                      <a:pt x="686" y="519"/>
                    </a:cubicBezTo>
                    <a:cubicBezTo>
                      <a:pt x="686" y="522"/>
                      <a:pt x="688" y="527"/>
                      <a:pt x="689" y="528"/>
                    </a:cubicBezTo>
                    <a:cubicBezTo>
                      <a:pt x="690" y="529"/>
                      <a:pt x="691" y="529"/>
                      <a:pt x="692" y="529"/>
                    </a:cubicBezTo>
                    <a:cubicBezTo>
                      <a:pt x="693" y="528"/>
                      <a:pt x="693" y="528"/>
                      <a:pt x="694" y="529"/>
                    </a:cubicBezTo>
                    <a:cubicBezTo>
                      <a:pt x="695" y="530"/>
                      <a:pt x="700" y="533"/>
                      <a:pt x="703" y="532"/>
                    </a:cubicBezTo>
                    <a:cubicBezTo>
                      <a:pt x="706" y="531"/>
                      <a:pt x="707" y="530"/>
                      <a:pt x="709" y="530"/>
                    </a:cubicBezTo>
                    <a:cubicBezTo>
                      <a:pt x="710" y="530"/>
                      <a:pt x="716" y="531"/>
                      <a:pt x="717" y="531"/>
                    </a:cubicBezTo>
                    <a:cubicBezTo>
                      <a:pt x="718" y="532"/>
                      <a:pt x="718" y="533"/>
                      <a:pt x="719" y="533"/>
                    </a:cubicBezTo>
                    <a:cubicBezTo>
                      <a:pt x="720" y="533"/>
                      <a:pt x="721" y="534"/>
                      <a:pt x="721" y="536"/>
                    </a:cubicBezTo>
                    <a:cubicBezTo>
                      <a:pt x="722" y="537"/>
                      <a:pt x="722" y="538"/>
                      <a:pt x="723" y="537"/>
                    </a:cubicBezTo>
                    <a:cubicBezTo>
                      <a:pt x="723" y="537"/>
                      <a:pt x="723" y="537"/>
                      <a:pt x="723" y="536"/>
                    </a:cubicBezTo>
                    <a:cubicBezTo>
                      <a:pt x="724" y="536"/>
                      <a:pt x="725" y="535"/>
                      <a:pt x="725" y="535"/>
                    </a:cubicBezTo>
                    <a:cubicBezTo>
                      <a:pt x="726" y="535"/>
                      <a:pt x="728" y="536"/>
                      <a:pt x="730" y="538"/>
                    </a:cubicBezTo>
                    <a:cubicBezTo>
                      <a:pt x="732" y="539"/>
                      <a:pt x="735" y="543"/>
                      <a:pt x="740" y="539"/>
                    </a:cubicBezTo>
                    <a:cubicBezTo>
                      <a:pt x="740" y="539"/>
                      <a:pt x="744" y="536"/>
                      <a:pt x="745" y="539"/>
                    </a:cubicBezTo>
                    <a:cubicBezTo>
                      <a:pt x="746" y="541"/>
                      <a:pt x="746" y="540"/>
                      <a:pt x="747" y="540"/>
                    </a:cubicBezTo>
                    <a:cubicBezTo>
                      <a:pt x="747" y="540"/>
                      <a:pt x="752" y="541"/>
                      <a:pt x="755" y="541"/>
                    </a:cubicBezTo>
                    <a:cubicBezTo>
                      <a:pt x="759" y="542"/>
                      <a:pt x="765" y="542"/>
                      <a:pt x="765" y="542"/>
                    </a:cubicBezTo>
                    <a:cubicBezTo>
                      <a:pt x="767" y="540"/>
                      <a:pt x="769" y="537"/>
                      <a:pt x="769" y="535"/>
                    </a:cubicBezTo>
                    <a:cubicBezTo>
                      <a:pt x="769" y="533"/>
                      <a:pt x="769" y="533"/>
                      <a:pt x="770" y="533"/>
                    </a:cubicBezTo>
                    <a:cubicBezTo>
                      <a:pt x="772" y="532"/>
                      <a:pt x="776" y="530"/>
                      <a:pt x="775" y="531"/>
                    </a:cubicBezTo>
                    <a:cubicBezTo>
                      <a:pt x="774" y="533"/>
                      <a:pt x="775" y="533"/>
                      <a:pt x="774" y="534"/>
                    </a:cubicBezTo>
                    <a:cubicBezTo>
                      <a:pt x="774" y="534"/>
                      <a:pt x="773" y="536"/>
                      <a:pt x="774" y="536"/>
                    </a:cubicBezTo>
                    <a:cubicBezTo>
                      <a:pt x="775" y="535"/>
                      <a:pt x="777" y="534"/>
                      <a:pt x="777" y="533"/>
                    </a:cubicBezTo>
                    <a:cubicBezTo>
                      <a:pt x="777" y="532"/>
                      <a:pt x="778" y="532"/>
                      <a:pt x="778" y="531"/>
                    </a:cubicBezTo>
                    <a:cubicBezTo>
                      <a:pt x="778" y="530"/>
                      <a:pt x="780" y="529"/>
                      <a:pt x="779" y="528"/>
                    </a:cubicBezTo>
                    <a:cubicBezTo>
                      <a:pt x="779" y="527"/>
                      <a:pt x="779" y="526"/>
                      <a:pt x="780" y="526"/>
                    </a:cubicBezTo>
                    <a:cubicBezTo>
                      <a:pt x="781" y="526"/>
                      <a:pt x="781" y="526"/>
                      <a:pt x="782" y="527"/>
                    </a:cubicBezTo>
                    <a:cubicBezTo>
                      <a:pt x="782" y="528"/>
                      <a:pt x="782" y="529"/>
                      <a:pt x="781" y="530"/>
                    </a:cubicBezTo>
                    <a:cubicBezTo>
                      <a:pt x="780" y="530"/>
                      <a:pt x="778" y="531"/>
                      <a:pt x="779" y="532"/>
                    </a:cubicBezTo>
                    <a:cubicBezTo>
                      <a:pt x="779" y="534"/>
                      <a:pt x="779" y="532"/>
                      <a:pt x="780" y="531"/>
                    </a:cubicBezTo>
                    <a:cubicBezTo>
                      <a:pt x="781" y="531"/>
                      <a:pt x="781" y="532"/>
                      <a:pt x="782" y="531"/>
                    </a:cubicBezTo>
                    <a:cubicBezTo>
                      <a:pt x="783" y="531"/>
                      <a:pt x="782" y="528"/>
                      <a:pt x="783" y="530"/>
                    </a:cubicBezTo>
                    <a:cubicBezTo>
                      <a:pt x="784" y="531"/>
                      <a:pt x="784" y="530"/>
                      <a:pt x="785" y="529"/>
                    </a:cubicBezTo>
                    <a:cubicBezTo>
                      <a:pt x="786" y="528"/>
                      <a:pt x="785" y="526"/>
                      <a:pt x="784" y="526"/>
                    </a:cubicBezTo>
                    <a:cubicBezTo>
                      <a:pt x="784" y="526"/>
                      <a:pt x="782" y="524"/>
                      <a:pt x="783" y="523"/>
                    </a:cubicBezTo>
                    <a:cubicBezTo>
                      <a:pt x="785" y="523"/>
                      <a:pt x="785" y="522"/>
                      <a:pt x="787" y="523"/>
                    </a:cubicBezTo>
                    <a:cubicBezTo>
                      <a:pt x="789" y="524"/>
                      <a:pt x="799" y="527"/>
                      <a:pt x="800" y="527"/>
                    </a:cubicBezTo>
                    <a:cubicBezTo>
                      <a:pt x="801" y="527"/>
                      <a:pt x="802" y="526"/>
                      <a:pt x="803" y="527"/>
                    </a:cubicBezTo>
                    <a:cubicBezTo>
                      <a:pt x="805" y="527"/>
                      <a:pt x="805" y="527"/>
                      <a:pt x="807" y="527"/>
                    </a:cubicBezTo>
                    <a:cubicBezTo>
                      <a:pt x="808" y="527"/>
                      <a:pt x="810" y="527"/>
                      <a:pt x="811" y="528"/>
                    </a:cubicBezTo>
                    <a:cubicBezTo>
                      <a:pt x="812" y="529"/>
                      <a:pt x="814" y="534"/>
                      <a:pt x="815" y="537"/>
                    </a:cubicBezTo>
                    <a:cubicBezTo>
                      <a:pt x="816" y="540"/>
                      <a:pt x="818" y="541"/>
                      <a:pt x="821" y="542"/>
                    </a:cubicBezTo>
                    <a:cubicBezTo>
                      <a:pt x="824" y="543"/>
                      <a:pt x="825" y="543"/>
                      <a:pt x="826" y="543"/>
                    </a:cubicBezTo>
                    <a:cubicBezTo>
                      <a:pt x="826" y="543"/>
                      <a:pt x="835" y="542"/>
                      <a:pt x="833" y="543"/>
                    </a:cubicBezTo>
                    <a:cubicBezTo>
                      <a:pt x="832" y="545"/>
                      <a:pt x="832" y="545"/>
                      <a:pt x="833" y="545"/>
                    </a:cubicBezTo>
                    <a:cubicBezTo>
                      <a:pt x="833" y="546"/>
                      <a:pt x="833" y="546"/>
                      <a:pt x="832" y="547"/>
                    </a:cubicBezTo>
                    <a:cubicBezTo>
                      <a:pt x="832" y="547"/>
                      <a:pt x="831" y="547"/>
                      <a:pt x="832" y="547"/>
                    </a:cubicBezTo>
                    <a:cubicBezTo>
                      <a:pt x="832" y="548"/>
                      <a:pt x="831" y="549"/>
                      <a:pt x="831" y="550"/>
                    </a:cubicBezTo>
                    <a:cubicBezTo>
                      <a:pt x="832" y="551"/>
                      <a:pt x="837" y="554"/>
                      <a:pt x="837" y="554"/>
                    </a:cubicBezTo>
                    <a:cubicBezTo>
                      <a:pt x="837" y="554"/>
                      <a:pt x="838" y="556"/>
                      <a:pt x="837" y="556"/>
                    </a:cubicBezTo>
                    <a:cubicBezTo>
                      <a:pt x="836" y="557"/>
                      <a:pt x="836" y="558"/>
                      <a:pt x="836" y="558"/>
                    </a:cubicBezTo>
                    <a:cubicBezTo>
                      <a:pt x="836" y="559"/>
                      <a:pt x="834" y="560"/>
                      <a:pt x="835" y="561"/>
                    </a:cubicBezTo>
                    <a:cubicBezTo>
                      <a:pt x="836" y="562"/>
                      <a:pt x="839" y="563"/>
                      <a:pt x="839" y="565"/>
                    </a:cubicBezTo>
                    <a:cubicBezTo>
                      <a:pt x="838" y="566"/>
                      <a:pt x="838" y="566"/>
                      <a:pt x="839" y="567"/>
                    </a:cubicBezTo>
                    <a:cubicBezTo>
                      <a:pt x="839" y="567"/>
                      <a:pt x="839" y="567"/>
                      <a:pt x="838" y="568"/>
                    </a:cubicBezTo>
                    <a:cubicBezTo>
                      <a:pt x="838" y="568"/>
                      <a:pt x="838" y="570"/>
                      <a:pt x="836" y="569"/>
                    </a:cubicBezTo>
                    <a:cubicBezTo>
                      <a:pt x="836" y="569"/>
                      <a:pt x="838" y="571"/>
                      <a:pt x="839" y="571"/>
                    </a:cubicBezTo>
                    <a:cubicBezTo>
                      <a:pt x="839" y="571"/>
                      <a:pt x="841" y="570"/>
                      <a:pt x="841" y="570"/>
                    </a:cubicBezTo>
                    <a:cubicBezTo>
                      <a:pt x="841" y="570"/>
                      <a:pt x="843" y="569"/>
                      <a:pt x="844" y="569"/>
                    </a:cubicBezTo>
                    <a:cubicBezTo>
                      <a:pt x="845" y="569"/>
                      <a:pt x="845" y="571"/>
                      <a:pt x="845" y="572"/>
                    </a:cubicBezTo>
                    <a:cubicBezTo>
                      <a:pt x="844" y="574"/>
                      <a:pt x="847" y="574"/>
                      <a:pt x="849" y="574"/>
                    </a:cubicBezTo>
                    <a:cubicBezTo>
                      <a:pt x="850" y="574"/>
                      <a:pt x="857" y="575"/>
                      <a:pt x="858" y="576"/>
                    </a:cubicBezTo>
                    <a:cubicBezTo>
                      <a:pt x="859" y="576"/>
                      <a:pt x="861" y="576"/>
                      <a:pt x="863" y="576"/>
                    </a:cubicBezTo>
                    <a:cubicBezTo>
                      <a:pt x="865" y="576"/>
                      <a:pt x="866" y="576"/>
                      <a:pt x="867" y="576"/>
                    </a:cubicBezTo>
                    <a:cubicBezTo>
                      <a:pt x="868" y="576"/>
                      <a:pt x="869" y="575"/>
                      <a:pt x="871" y="576"/>
                    </a:cubicBezTo>
                    <a:cubicBezTo>
                      <a:pt x="872" y="576"/>
                      <a:pt x="879" y="577"/>
                      <a:pt x="880" y="578"/>
                    </a:cubicBezTo>
                    <a:cubicBezTo>
                      <a:pt x="881" y="578"/>
                      <a:pt x="881" y="577"/>
                      <a:pt x="881" y="578"/>
                    </a:cubicBezTo>
                    <a:cubicBezTo>
                      <a:pt x="881" y="579"/>
                      <a:pt x="881" y="579"/>
                      <a:pt x="882" y="579"/>
                    </a:cubicBezTo>
                    <a:cubicBezTo>
                      <a:pt x="883" y="578"/>
                      <a:pt x="883" y="578"/>
                      <a:pt x="885" y="579"/>
                    </a:cubicBezTo>
                    <a:cubicBezTo>
                      <a:pt x="886" y="580"/>
                      <a:pt x="886" y="580"/>
                      <a:pt x="888" y="579"/>
                    </a:cubicBezTo>
                    <a:cubicBezTo>
                      <a:pt x="889" y="579"/>
                      <a:pt x="889" y="579"/>
                      <a:pt x="890" y="579"/>
                    </a:cubicBezTo>
                    <a:cubicBezTo>
                      <a:pt x="891" y="580"/>
                      <a:pt x="893" y="580"/>
                      <a:pt x="894" y="580"/>
                    </a:cubicBezTo>
                    <a:cubicBezTo>
                      <a:pt x="895" y="581"/>
                      <a:pt x="902" y="588"/>
                      <a:pt x="903" y="589"/>
                    </a:cubicBezTo>
                    <a:cubicBezTo>
                      <a:pt x="904" y="590"/>
                      <a:pt x="906" y="589"/>
                      <a:pt x="905" y="591"/>
                    </a:cubicBezTo>
                    <a:cubicBezTo>
                      <a:pt x="904" y="593"/>
                      <a:pt x="905" y="593"/>
                      <a:pt x="905" y="595"/>
                    </a:cubicBezTo>
                    <a:cubicBezTo>
                      <a:pt x="905" y="596"/>
                      <a:pt x="906" y="597"/>
                      <a:pt x="907" y="599"/>
                    </a:cubicBezTo>
                    <a:cubicBezTo>
                      <a:pt x="909" y="601"/>
                      <a:pt x="910" y="601"/>
                      <a:pt x="910" y="602"/>
                    </a:cubicBezTo>
                    <a:cubicBezTo>
                      <a:pt x="909" y="603"/>
                      <a:pt x="908" y="602"/>
                      <a:pt x="907" y="601"/>
                    </a:cubicBezTo>
                    <a:cubicBezTo>
                      <a:pt x="907" y="600"/>
                      <a:pt x="907" y="600"/>
                      <a:pt x="905" y="601"/>
                    </a:cubicBezTo>
                    <a:cubicBezTo>
                      <a:pt x="904" y="603"/>
                      <a:pt x="906" y="603"/>
                      <a:pt x="905" y="606"/>
                    </a:cubicBezTo>
                    <a:cubicBezTo>
                      <a:pt x="904" y="608"/>
                      <a:pt x="903" y="607"/>
                      <a:pt x="902" y="607"/>
                    </a:cubicBezTo>
                    <a:cubicBezTo>
                      <a:pt x="900" y="606"/>
                      <a:pt x="898" y="605"/>
                      <a:pt x="897" y="604"/>
                    </a:cubicBezTo>
                    <a:cubicBezTo>
                      <a:pt x="896" y="603"/>
                      <a:pt x="895" y="602"/>
                      <a:pt x="894" y="603"/>
                    </a:cubicBezTo>
                    <a:cubicBezTo>
                      <a:pt x="892" y="605"/>
                      <a:pt x="891" y="603"/>
                      <a:pt x="890" y="602"/>
                    </a:cubicBezTo>
                    <a:cubicBezTo>
                      <a:pt x="889" y="601"/>
                      <a:pt x="891" y="601"/>
                      <a:pt x="891" y="600"/>
                    </a:cubicBezTo>
                    <a:cubicBezTo>
                      <a:pt x="892" y="599"/>
                      <a:pt x="892" y="599"/>
                      <a:pt x="891" y="599"/>
                    </a:cubicBezTo>
                    <a:cubicBezTo>
                      <a:pt x="890" y="599"/>
                      <a:pt x="889" y="599"/>
                      <a:pt x="888" y="599"/>
                    </a:cubicBezTo>
                    <a:cubicBezTo>
                      <a:pt x="888" y="598"/>
                      <a:pt x="888" y="597"/>
                      <a:pt x="887" y="596"/>
                    </a:cubicBezTo>
                    <a:cubicBezTo>
                      <a:pt x="886" y="596"/>
                      <a:pt x="886" y="595"/>
                      <a:pt x="887" y="594"/>
                    </a:cubicBezTo>
                    <a:cubicBezTo>
                      <a:pt x="887" y="593"/>
                      <a:pt x="884" y="593"/>
                      <a:pt x="882" y="593"/>
                    </a:cubicBezTo>
                    <a:cubicBezTo>
                      <a:pt x="880" y="593"/>
                      <a:pt x="881" y="594"/>
                      <a:pt x="882" y="594"/>
                    </a:cubicBezTo>
                    <a:cubicBezTo>
                      <a:pt x="883" y="594"/>
                      <a:pt x="883" y="595"/>
                      <a:pt x="884" y="596"/>
                    </a:cubicBezTo>
                    <a:cubicBezTo>
                      <a:pt x="884" y="596"/>
                      <a:pt x="885" y="598"/>
                      <a:pt x="885" y="598"/>
                    </a:cubicBezTo>
                    <a:cubicBezTo>
                      <a:pt x="886" y="598"/>
                      <a:pt x="886" y="599"/>
                      <a:pt x="886" y="600"/>
                    </a:cubicBezTo>
                    <a:cubicBezTo>
                      <a:pt x="887" y="601"/>
                      <a:pt x="887" y="602"/>
                      <a:pt x="887" y="604"/>
                    </a:cubicBezTo>
                    <a:cubicBezTo>
                      <a:pt x="887" y="606"/>
                      <a:pt x="885" y="607"/>
                      <a:pt x="884" y="608"/>
                    </a:cubicBezTo>
                    <a:cubicBezTo>
                      <a:pt x="883" y="609"/>
                      <a:pt x="882" y="610"/>
                      <a:pt x="882" y="611"/>
                    </a:cubicBezTo>
                    <a:cubicBezTo>
                      <a:pt x="882" y="612"/>
                      <a:pt x="882" y="613"/>
                      <a:pt x="881" y="613"/>
                    </a:cubicBezTo>
                    <a:cubicBezTo>
                      <a:pt x="880" y="614"/>
                      <a:pt x="880" y="621"/>
                      <a:pt x="880" y="623"/>
                    </a:cubicBezTo>
                    <a:cubicBezTo>
                      <a:pt x="880" y="625"/>
                      <a:pt x="872" y="631"/>
                      <a:pt x="870" y="633"/>
                    </a:cubicBezTo>
                    <a:cubicBezTo>
                      <a:pt x="870" y="633"/>
                      <a:pt x="867" y="642"/>
                      <a:pt x="866" y="643"/>
                    </a:cubicBezTo>
                    <a:cubicBezTo>
                      <a:pt x="866" y="643"/>
                      <a:pt x="868" y="643"/>
                      <a:pt x="869" y="643"/>
                    </a:cubicBezTo>
                    <a:cubicBezTo>
                      <a:pt x="871" y="644"/>
                      <a:pt x="870" y="643"/>
                      <a:pt x="870" y="646"/>
                    </a:cubicBezTo>
                    <a:cubicBezTo>
                      <a:pt x="870" y="648"/>
                      <a:pt x="868" y="646"/>
                      <a:pt x="868" y="646"/>
                    </a:cubicBezTo>
                    <a:cubicBezTo>
                      <a:pt x="866" y="645"/>
                      <a:pt x="864" y="646"/>
                      <a:pt x="862" y="646"/>
                    </a:cubicBezTo>
                    <a:cubicBezTo>
                      <a:pt x="860" y="647"/>
                      <a:pt x="860" y="648"/>
                      <a:pt x="860" y="650"/>
                    </a:cubicBezTo>
                    <a:cubicBezTo>
                      <a:pt x="860" y="651"/>
                      <a:pt x="860" y="651"/>
                      <a:pt x="861" y="652"/>
                    </a:cubicBezTo>
                    <a:cubicBezTo>
                      <a:pt x="862" y="652"/>
                      <a:pt x="864" y="652"/>
                      <a:pt x="866" y="652"/>
                    </a:cubicBezTo>
                    <a:cubicBezTo>
                      <a:pt x="868" y="652"/>
                      <a:pt x="867" y="652"/>
                      <a:pt x="868" y="653"/>
                    </a:cubicBezTo>
                    <a:cubicBezTo>
                      <a:pt x="869" y="654"/>
                      <a:pt x="869" y="652"/>
                      <a:pt x="869" y="652"/>
                    </a:cubicBezTo>
                    <a:cubicBezTo>
                      <a:pt x="869" y="651"/>
                      <a:pt x="870" y="650"/>
                      <a:pt x="871" y="649"/>
                    </a:cubicBezTo>
                    <a:cubicBezTo>
                      <a:pt x="872" y="649"/>
                      <a:pt x="877" y="647"/>
                      <a:pt x="878" y="646"/>
                    </a:cubicBezTo>
                    <a:cubicBezTo>
                      <a:pt x="879" y="645"/>
                      <a:pt x="883" y="642"/>
                      <a:pt x="885" y="641"/>
                    </a:cubicBezTo>
                    <a:cubicBezTo>
                      <a:pt x="887" y="640"/>
                      <a:pt x="898" y="641"/>
                      <a:pt x="901" y="642"/>
                    </a:cubicBezTo>
                    <a:cubicBezTo>
                      <a:pt x="905" y="642"/>
                      <a:pt x="903" y="642"/>
                      <a:pt x="901" y="641"/>
                    </a:cubicBezTo>
                    <a:cubicBezTo>
                      <a:pt x="899" y="641"/>
                      <a:pt x="900" y="641"/>
                      <a:pt x="902" y="639"/>
                    </a:cubicBezTo>
                    <a:cubicBezTo>
                      <a:pt x="905" y="637"/>
                      <a:pt x="917" y="636"/>
                      <a:pt x="919" y="636"/>
                    </a:cubicBezTo>
                    <a:cubicBezTo>
                      <a:pt x="920" y="635"/>
                      <a:pt x="920" y="635"/>
                      <a:pt x="920" y="634"/>
                    </a:cubicBezTo>
                    <a:cubicBezTo>
                      <a:pt x="920" y="634"/>
                      <a:pt x="920" y="633"/>
                      <a:pt x="920" y="633"/>
                    </a:cubicBezTo>
                    <a:cubicBezTo>
                      <a:pt x="920" y="633"/>
                      <a:pt x="919" y="632"/>
                      <a:pt x="919" y="631"/>
                    </a:cubicBezTo>
                    <a:cubicBezTo>
                      <a:pt x="920" y="630"/>
                      <a:pt x="920" y="629"/>
                      <a:pt x="920" y="629"/>
                    </a:cubicBezTo>
                    <a:cubicBezTo>
                      <a:pt x="920" y="629"/>
                      <a:pt x="914" y="630"/>
                      <a:pt x="913" y="630"/>
                    </a:cubicBezTo>
                    <a:cubicBezTo>
                      <a:pt x="911" y="630"/>
                      <a:pt x="911" y="630"/>
                      <a:pt x="910" y="629"/>
                    </a:cubicBezTo>
                    <a:cubicBezTo>
                      <a:pt x="910" y="629"/>
                      <a:pt x="909" y="629"/>
                      <a:pt x="910" y="628"/>
                    </a:cubicBezTo>
                    <a:cubicBezTo>
                      <a:pt x="911" y="626"/>
                      <a:pt x="911" y="626"/>
                      <a:pt x="912" y="625"/>
                    </a:cubicBezTo>
                    <a:cubicBezTo>
                      <a:pt x="912" y="624"/>
                      <a:pt x="912" y="624"/>
                      <a:pt x="913" y="623"/>
                    </a:cubicBezTo>
                    <a:cubicBezTo>
                      <a:pt x="914" y="623"/>
                      <a:pt x="917" y="621"/>
                      <a:pt x="918" y="621"/>
                    </a:cubicBezTo>
                    <a:cubicBezTo>
                      <a:pt x="919" y="620"/>
                      <a:pt x="919" y="619"/>
                      <a:pt x="921" y="619"/>
                    </a:cubicBezTo>
                    <a:cubicBezTo>
                      <a:pt x="923" y="619"/>
                      <a:pt x="941" y="616"/>
                      <a:pt x="941" y="616"/>
                    </a:cubicBezTo>
                    <a:cubicBezTo>
                      <a:pt x="941" y="616"/>
                      <a:pt x="942" y="617"/>
                      <a:pt x="943" y="617"/>
                    </a:cubicBezTo>
                    <a:cubicBezTo>
                      <a:pt x="944" y="617"/>
                      <a:pt x="945" y="616"/>
                      <a:pt x="946" y="617"/>
                    </a:cubicBezTo>
                    <a:cubicBezTo>
                      <a:pt x="946" y="618"/>
                      <a:pt x="948" y="620"/>
                      <a:pt x="949" y="618"/>
                    </a:cubicBezTo>
                    <a:cubicBezTo>
                      <a:pt x="950" y="617"/>
                      <a:pt x="952" y="614"/>
                      <a:pt x="953" y="614"/>
                    </a:cubicBezTo>
                    <a:cubicBezTo>
                      <a:pt x="954" y="614"/>
                      <a:pt x="965" y="609"/>
                      <a:pt x="965" y="609"/>
                    </a:cubicBezTo>
                    <a:cubicBezTo>
                      <a:pt x="965" y="608"/>
                      <a:pt x="967" y="607"/>
                      <a:pt x="967" y="607"/>
                    </a:cubicBezTo>
                    <a:cubicBezTo>
                      <a:pt x="967" y="607"/>
                      <a:pt x="974" y="602"/>
                      <a:pt x="975" y="601"/>
                    </a:cubicBezTo>
                    <a:cubicBezTo>
                      <a:pt x="977" y="600"/>
                      <a:pt x="980" y="598"/>
                      <a:pt x="986" y="598"/>
                    </a:cubicBezTo>
                    <a:cubicBezTo>
                      <a:pt x="993" y="598"/>
                      <a:pt x="1032" y="598"/>
                      <a:pt x="1032" y="598"/>
                    </a:cubicBezTo>
                    <a:cubicBezTo>
                      <a:pt x="1032" y="598"/>
                      <a:pt x="1032" y="592"/>
                      <a:pt x="1037" y="592"/>
                    </a:cubicBezTo>
                    <a:cubicBezTo>
                      <a:pt x="1037" y="592"/>
                      <a:pt x="1038" y="592"/>
                      <a:pt x="1039" y="593"/>
                    </a:cubicBezTo>
                    <a:cubicBezTo>
                      <a:pt x="1040" y="593"/>
                      <a:pt x="1042" y="593"/>
                      <a:pt x="1044" y="592"/>
                    </a:cubicBezTo>
                    <a:cubicBezTo>
                      <a:pt x="1045" y="590"/>
                      <a:pt x="1050" y="582"/>
                      <a:pt x="1050" y="582"/>
                    </a:cubicBezTo>
                    <a:cubicBezTo>
                      <a:pt x="1050" y="582"/>
                      <a:pt x="1051" y="581"/>
                      <a:pt x="1050" y="580"/>
                    </a:cubicBezTo>
                    <a:cubicBezTo>
                      <a:pt x="1050" y="580"/>
                      <a:pt x="1050" y="578"/>
                      <a:pt x="1050" y="577"/>
                    </a:cubicBezTo>
                    <a:cubicBezTo>
                      <a:pt x="1051" y="576"/>
                      <a:pt x="1060" y="560"/>
                      <a:pt x="1062" y="558"/>
                    </a:cubicBezTo>
                    <a:cubicBezTo>
                      <a:pt x="1063" y="556"/>
                      <a:pt x="1065" y="552"/>
                      <a:pt x="1066" y="552"/>
                    </a:cubicBezTo>
                    <a:cubicBezTo>
                      <a:pt x="1068" y="552"/>
                      <a:pt x="1068" y="554"/>
                      <a:pt x="1068" y="555"/>
                    </a:cubicBezTo>
                    <a:cubicBezTo>
                      <a:pt x="1068" y="555"/>
                      <a:pt x="1068" y="556"/>
                      <a:pt x="1069" y="556"/>
                    </a:cubicBezTo>
                    <a:cubicBezTo>
                      <a:pt x="1070" y="556"/>
                      <a:pt x="1071" y="557"/>
                      <a:pt x="1073" y="557"/>
                    </a:cubicBezTo>
                    <a:cubicBezTo>
                      <a:pt x="1075" y="556"/>
                      <a:pt x="1079" y="554"/>
                      <a:pt x="1081" y="555"/>
                    </a:cubicBezTo>
                    <a:cubicBezTo>
                      <a:pt x="1083" y="556"/>
                      <a:pt x="1087" y="559"/>
                      <a:pt x="1087" y="562"/>
                    </a:cubicBezTo>
                    <a:cubicBezTo>
                      <a:pt x="1087" y="565"/>
                      <a:pt x="1087" y="579"/>
                      <a:pt x="1087" y="580"/>
                    </a:cubicBezTo>
                    <a:cubicBezTo>
                      <a:pt x="1087" y="581"/>
                      <a:pt x="1087" y="584"/>
                      <a:pt x="1087" y="584"/>
                    </a:cubicBezTo>
                    <a:cubicBezTo>
                      <a:pt x="1087" y="585"/>
                      <a:pt x="1087" y="585"/>
                      <a:pt x="1088" y="585"/>
                    </a:cubicBezTo>
                    <a:cubicBezTo>
                      <a:pt x="1088" y="586"/>
                      <a:pt x="1089" y="586"/>
                      <a:pt x="1089" y="586"/>
                    </a:cubicBezTo>
                    <a:cubicBezTo>
                      <a:pt x="1090" y="586"/>
                      <a:pt x="1093" y="587"/>
                      <a:pt x="1093" y="588"/>
                    </a:cubicBezTo>
                    <a:cubicBezTo>
                      <a:pt x="1093" y="588"/>
                      <a:pt x="1091" y="588"/>
                      <a:pt x="1092" y="589"/>
                    </a:cubicBezTo>
                    <a:cubicBezTo>
                      <a:pt x="1092" y="590"/>
                      <a:pt x="1092" y="592"/>
                      <a:pt x="1092" y="593"/>
                    </a:cubicBezTo>
                    <a:cubicBezTo>
                      <a:pt x="1092" y="594"/>
                      <a:pt x="1093" y="595"/>
                      <a:pt x="1094" y="595"/>
                    </a:cubicBezTo>
                    <a:cubicBezTo>
                      <a:pt x="1095" y="595"/>
                      <a:pt x="1095" y="594"/>
                      <a:pt x="1096" y="595"/>
                    </a:cubicBezTo>
                    <a:cubicBezTo>
                      <a:pt x="1097" y="596"/>
                      <a:pt x="1097" y="596"/>
                      <a:pt x="1098" y="597"/>
                    </a:cubicBezTo>
                    <a:cubicBezTo>
                      <a:pt x="1097" y="596"/>
                      <a:pt x="1097" y="595"/>
                      <a:pt x="1098" y="596"/>
                    </a:cubicBezTo>
                    <a:cubicBezTo>
                      <a:pt x="1100" y="596"/>
                      <a:pt x="1100" y="596"/>
                      <a:pt x="1101" y="596"/>
                    </a:cubicBezTo>
                    <a:cubicBezTo>
                      <a:pt x="1102" y="597"/>
                      <a:pt x="1104" y="597"/>
                      <a:pt x="1106" y="596"/>
                    </a:cubicBezTo>
                    <a:cubicBezTo>
                      <a:pt x="1107" y="596"/>
                      <a:pt x="1108" y="596"/>
                      <a:pt x="1109" y="595"/>
                    </a:cubicBezTo>
                    <a:cubicBezTo>
                      <a:pt x="1110" y="594"/>
                      <a:pt x="1110" y="592"/>
                      <a:pt x="1112" y="591"/>
                    </a:cubicBezTo>
                    <a:cubicBezTo>
                      <a:pt x="1113" y="590"/>
                      <a:pt x="1111" y="592"/>
                      <a:pt x="1113" y="592"/>
                    </a:cubicBezTo>
                    <a:cubicBezTo>
                      <a:pt x="1114" y="593"/>
                      <a:pt x="1116" y="594"/>
                      <a:pt x="1118" y="592"/>
                    </a:cubicBezTo>
                    <a:cubicBezTo>
                      <a:pt x="1119" y="591"/>
                      <a:pt x="1129" y="586"/>
                      <a:pt x="1131" y="585"/>
                    </a:cubicBezTo>
                    <a:cubicBezTo>
                      <a:pt x="1133" y="584"/>
                      <a:pt x="1135" y="583"/>
                      <a:pt x="1135" y="582"/>
                    </a:cubicBezTo>
                    <a:cubicBezTo>
                      <a:pt x="1134" y="580"/>
                      <a:pt x="1134" y="579"/>
                      <a:pt x="1135" y="581"/>
                    </a:cubicBezTo>
                    <a:cubicBezTo>
                      <a:pt x="1136" y="584"/>
                      <a:pt x="1136" y="584"/>
                      <a:pt x="1138" y="583"/>
                    </a:cubicBezTo>
                    <a:cubicBezTo>
                      <a:pt x="1140" y="582"/>
                      <a:pt x="1138" y="584"/>
                      <a:pt x="1137" y="586"/>
                    </a:cubicBezTo>
                    <a:cubicBezTo>
                      <a:pt x="1135" y="587"/>
                      <a:pt x="1131" y="592"/>
                      <a:pt x="1132" y="592"/>
                    </a:cubicBezTo>
                    <a:cubicBezTo>
                      <a:pt x="1133" y="592"/>
                      <a:pt x="1134" y="591"/>
                      <a:pt x="1135" y="591"/>
                    </a:cubicBezTo>
                    <a:cubicBezTo>
                      <a:pt x="1136" y="590"/>
                      <a:pt x="1139" y="591"/>
                      <a:pt x="1140" y="591"/>
                    </a:cubicBezTo>
                    <a:cubicBezTo>
                      <a:pt x="1141" y="590"/>
                      <a:pt x="1144" y="591"/>
                      <a:pt x="1147" y="590"/>
                    </a:cubicBezTo>
                    <a:cubicBezTo>
                      <a:pt x="1149" y="590"/>
                      <a:pt x="1155" y="590"/>
                      <a:pt x="1150" y="593"/>
                    </a:cubicBezTo>
                    <a:cubicBezTo>
                      <a:pt x="1146" y="595"/>
                      <a:pt x="1143" y="599"/>
                      <a:pt x="1141" y="597"/>
                    </a:cubicBezTo>
                    <a:cubicBezTo>
                      <a:pt x="1140" y="595"/>
                      <a:pt x="1138" y="596"/>
                      <a:pt x="1138" y="594"/>
                    </a:cubicBezTo>
                    <a:cubicBezTo>
                      <a:pt x="1139" y="592"/>
                      <a:pt x="1138" y="591"/>
                      <a:pt x="1135" y="592"/>
                    </a:cubicBezTo>
                    <a:cubicBezTo>
                      <a:pt x="1133" y="594"/>
                      <a:pt x="1119" y="603"/>
                      <a:pt x="1117" y="604"/>
                    </a:cubicBezTo>
                    <a:cubicBezTo>
                      <a:pt x="1115" y="605"/>
                      <a:pt x="1113" y="609"/>
                      <a:pt x="1112" y="610"/>
                    </a:cubicBezTo>
                    <a:cubicBezTo>
                      <a:pt x="1112" y="612"/>
                      <a:pt x="1110" y="614"/>
                      <a:pt x="1111" y="616"/>
                    </a:cubicBezTo>
                    <a:cubicBezTo>
                      <a:pt x="1112" y="618"/>
                      <a:pt x="1112" y="620"/>
                      <a:pt x="1113" y="621"/>
                    </a:cubicBezTo>
                    <a:cubicBezTo>
                      <a:pt x="1114" y="621"/>
                      <a:pt x="1114" y="621"/>
                      <a:pt x="1114" y="620"/>
                    </a:cubicBezTo>
                    <a:cubicBezTo>
                      <a:pt x="1115" y="619"/>
                      <a:pt x="1116" y="620"/>
                      <a:pt x="1116" y="621"/>
                    </a:cubicBezTo>
                    <a:cubicBezTo>
                      <a:pt x="1117" y="623"/>
                      <a:pt x="1117" y="625"/>
                      <a:pt x="1119" y="625"/>
                    </a:cubicBezTo>
                    <a:cubicBezTo>
                      <a:pt x="1121" y="625"/>
                      <a:pt x="1122" y="626"/>
                      <a:pt x="1123" y="624"/>
                    </a:cubicBezTo>
                    <a:cubicBezTo>
                      <a:pt x="1124" y="622"/>
                      <a:pt x="1123" y="620"/>
                      <a:pt x="1124" y="621"/>
                    </a:cubicBezTo>
                    <a:cubicBezTo>
                      <a:pt x="1125" y="622"/>
                      <a:pt x="1125" y="619"/>
                      <a:pt x="1126" y="622"/>
                    </a:cubicBezTo>
                    <a:cubicBezTo>
                      <a:pt x="1127" y="624"/>
                      <a:pt x="1127" y="621"/>
                      <a:pt x="1129" y="619"/>
                    </a:cubicBezTo>
                    <a:cubicBezTo>
                      <a:pt x="1131" y="617"/>
                      <a:pt x="1134" y="617"/>
                      <a:pt x="1134" y="616"/>
                    </a:cubicBezTo>
                    <a:cubicBezTo>
                      <a:pt x="1133" y="614"/>
                      <a:pt x="1134" y="614"/>
                      <a:pt x="1135" y="613"/>
                    </a:cubicBezTo>
                    <a:cubicBezTo>
                      <a:pt x="1136" y="612"/>
                      <a:pt x="1137" y="612"/>
                      <a:pt x="1138" y="611"/>
                    </a:cubicBezTo>
                    <a:cubicBezTo>
                      <a:pt x="1138" y="611"/>
                      <a:pt x="1139" y="612"/>
                      <a:pt x="1139" y="610"/>
                    </a:cubicBezTo>
                    <a:cubicBezTo>
                      <a:pt x="1138" y="609"/>
                      <a:pt x="1140" y="609"/>
                      <a:pt x="1138" y="609"/>
                    </a:cubicBezTo>
                    <a:cubicBezTo>
                      <a:pt x="1138" y="609"/>
                      <a:pt x="1139" y="606"/>
                      <a:pt x="1140" y="606"/>
                    </a:cubicBezTo>
                    <a:cubicBezTo>
                      <a:pt x="1141" y="607"/>
                      <a:pt x="1142" y="608"/>
                      <a:pt x="1142" y="606"/>
                    </a:cubicBezTo>
                    <a:cubicBezTo>
                      <a:pt x="1143" y="604"/>
                      <a:pt x="1143" y="603"/>
                      <a:pt x="1144" y="604"/>
                    </a:cubicBezTo>
                    <a:cubicBezTo>
                      <a:pt x="1145" y="604"/>
                      <a:pt x="1144" y="607"/>
                      <a:pt x="1145" y="607"/>
                    </a:cubicBezTo>
                    <a:cubicBezTo>
                      <a:pt x="1147" y="607"/>
                      <a:pt x="1147" y="608"/>
                      <a:pt x="1148" y="608"/>
                    </a:cubicBezTo>
                    <a:cubicBezTo>
                      <a:pt x="1150" y="608"/>
                      <a:pt x="1150" y="607"/>
                      <a:pt x="1150" y="606"/>
                    </a:cubicBezTo>
                    <a:cubicBezTo>
                      <a:pt x="1150" y="605"/>
                      <a:pt x="1148" y="602"/>
                      <a:pt x="1149" y="604"/>
                    </a:cubicBezTo>
                    <a:cubicBezTo>
                      <a:pt x="1151" y="605"/>
                      <a:pt x="1152" y="605"/>
                      <a:pt x="1155" y="605"/>
                    </a:cubicBezTo>
                    <a:cubicBezTo>
                      <a:pt x="1158" y="604"/>
                      <a:pt x="1163" y="602"/>
                      <a:pt x="1165" y="601"/>
                    </a:cubicBezTo>
                    <a:cubicBezTo>
                      <a:pt x="1167" y="600"/>
                      <a:pt x="1187" y="593"/>
                      <a:pt x="1188" y="593"/>
                    </a:cubicBezTo>
                    <a:cubicBezTo>
                      <a:pt x="1188" y="592"/>
                      <a:pt x="1188" y="592"/>
                      <a:pt x="1187" y="591"/>
                    </a:cubicBezTo>
                    <a:cubicBezTo>
                      <a:pt x="1185" y="590"/>
                      <a:pt x="1182" y="587"/>
                      <a:pt x="1181" y="586"/>
                    </a:cubicBezTo>
                    <a:cubicBezTo>
                      <a:pt x="1181" y="585"/>
                      <a:pt x="1179" y="585"/>
                      <a:pt x="1177" y="586"/>
                    </a:cubicBezTo>
                    <a:cubicBezTo>
                      <a:pt x="1175" y="586"/>
                      <a:pt x="1175" y="586"/>
                      <a:pt x="1175" y="585"/>
                    </a:cubicBezTo>
                    <a:cubicBezTo>
                      <a:pt x="1175" y="584"/>
                      <a:pt x="1175" y="581"/>
                      <a:pt x="1173" y="582"/>
                    </a:cubicBezTo>
                    <a:cubicBezTo>
                      <a:pt x="1172" y="584"/>
                      <a:pt x="1170" y="585"/>
                      <a:pt x="1169" y="585"/>
                    </a:cubicBezTo>
                    <a:cubicBezTo>
                      <a:pt x="1168" y="585"/>
                      <a:pt x="1167" y="585"/>
                      <a:pt x="1167" y="586"/>
                    </a:cubicBezTo>
                    <a:cubicBezTo>
                      <a:pt x="1167" y="586"/>
                      <a:pt x="1166" y="587"/>
                      <a:pt x="1165" y="587"/>
                    </a:cubicBezTo>
                    <a:cubicBezTo>
                      <a:pt x="1163" y="586"/>
                      <a:pt x="1162" y="586"/>
                      <a:pt x="1163" y="585"/>
                    </a:cubicBezTo>
                    <a:cubicBezTo>
                      <a:pt x="1164" y="585"/>
                      <a:pt x="1163" y="584"/>
                      <a:pt x="1162" y="584"/>
                    </a:cubicBezTo>
                    <a:cubicBezTo>
                      <a:pt x="1160" y="584"/>
                      <a:pt x="1156" y="584"/>
                      <a:pt x="1155" y="584"/>
                    </a:cubicBezTo>
                    <a:cubicBezTo>
                      <a:pt x="1155" y="584"/>
                      <a:pt x="1154" y="584"/>
                      <a:pt x="1154" y="583"/>
                    </a:cubicBezTo>
                    <a:cubicBezTo>
                      <a:pt x="1154" y="583"/>
                      <a:pt x="1149" y="581"/>
                      <a:pt x="1145" y="580"/>
                    </a:cubicBezTo>
                    <a:cubicBezTo>
                      <a:pt x="1142" y="579"/>
                      <a:pt x="1142" y="579"/>
                      <a:pt x="1145" y="578"/>
                    </a:cubicBezTo>
                    <a:cubicBezTo>
                      <a:pt x="1148" y="577"/>
                      <a:pt x="1147" y="577"/>
                      <a:pt x="1145" y="577"/>
                    </a:cubicBezTo>
                    <a:cubicBezTo>
                      <a:pt x="1143" y="577"/>
                      <a:pt x="1141" y="576"/>
                      <a:pt x="1140" y="575"/>
                    </a:cubicBezTo>
                    <a:cubicBezTo>
                      <a:pt x="1139" y="575"/>
                      <a:pt x="1137" y="575"/>
                      <a:pt x="1136" y="575"/>
                    </a:cubicBezTo>
                    <a:cubicBezTo>
                      <a:pt x="1136" y="575"/>
                      <a:pt x="1135" y="575"/>
                      <a:pt x="1136" y="574"/>
                    </a:cubicBezTo>
                    <a:cubicBezTo>
                      <a:pt x="1136" y="573"/>
                      <a:pt x="1135" y="573"/>
                      <a:pt x="1135" y="573"/>
                    </a:cubicBezTo>
                    <a:cubicBezTo>
                      <a:pt x="1134" y="573"/>
                      <a:pt x="1134" y="574"/>
                      <a:pt x="1134" y="572"/>
                    </a:cubicBezTo>
                    <a:cubicBezTo>
                      <a:pt x="1135" y="570"/>
                      <a:pt x="1134" y="571"/>
                      <a:pt x="1133" y="570"/>
                    </a:cubicBezTo>
                    <a:cubicBezTo>
                      <a:pt x="1133" y="569"/>
                      <a:pt x="1133" y="568"/>
                      <a:pt x="1133" y="567"/>
                    </a:cubicBezTo>
                    <a:cubicBezTo>
                      <a:pt x="1133" y="566"/>
                      <a:pt x="1132" y="566"/>
                      <a:pt x="1131" y="565"/>
                    </a:cubicBezTo>
                    <a:cubicBezTo>
                      <a:pt x="1130" y="564"/>
                      <a:pt x="1130" y="562"/>
                      <a:pt x="1130" y="562"/>
                    </a:cubicBezTo>
                    <a:cubicBezTo>
                      <a:pt x="1131" y="561"/>
                      <a:pt x="1131" y="561"/>
                      <a:pt x="1131" y="560"/>
                    </a:cubicBezTo>
                    <a:cubicBezTo>
                      <a:pt x="1132" y="559"/>
                      <a:pt x="1131" y="559"/>
                      <a:pt x="1130" y="559"/>
                    </a:cubicBezTo>
                    <a:cubicBezTo>
                      <a:pt x="1130" y="559"/>
                      <a:pt x="1120" y="561"/>
                      <a:pt x="1125" y="558"/>
                    </a:cubicBezTo>
                    <a:cubicBezTo>
                      <a:pt x="1131" y="555"/>
                      <a:pt x="1130" y="554"/>
                      <a:pt x="1130" y="552"/>
                    </a:cubicBezTo>
                    <a:cubicBezTo>
                      <a:pt x="1130" y="551"/>
                      <a:pt x="1131" y="549"/>
                      <a:pt x="1132" y="548"/>
                    </a:cubicBezTo>
                    <a:cubicBezTo>
                      <a:pt x="1133" y="547"/>
                      <a:pt x="1134" y="547"/>
                      <a:pt x="1132" y="547"/>
                    </a:cubicBezTo>
                    <a:cubicBezTo>
                      <a:pt x="1129" y="547"/>
                      <a:pt x="1122" y="547"/>
                      <a:pt x="1121" y="548"/>
                    </a:cubicBezTo>
                    <a:cubicBezTo>
                      <a:pt x="1120" y="548"/>
                      <a:pt x="1119" y="549"/>
                      <a:pt x="1119" y="548"/>
                    </a:cubicBezTo>
                    <a:cubicBezTo>
                      <a:pt x="1119" y="546"/>
                      <a:pt x="1115" y="543"/>
                      <a:pt x="1113" y="542"/>
                    </a:cubicBezTo>
                    <a:cubicBezTo>
                      <a:pt x="1112" y="542"/>
                      <a:pt x="1107" y="541"/>
                      <a:pt x="1111" y="540"/>
                    </a:cubicBezTo>
                    <a:cubicBezTo>
                      <a:pt x="1115" y="540"/>
                      <a:pt x="1116" y="539"/>
                      <a:pt x="1117" y="539"/>
                    </a:cubicBezTo>
                    <a:cubicBezTo>
                      <a:pt x="1119" y="540"/>
                      <a:pt x="1122" y="542"/>
                      <a:pt x="1123" y="542"/>
                    </a:cubicBezTo>
                    <a:cubicBezTo>
                      <a:pt x="1125" y="542"/>
                      <a:pt x="1127" y="540"/>
                      <a:pt x="1128" y="539"/>
                    </a:cubicBezTo>
                    <a:cubicBezTo>
                      <a:pt x="1129" y="539"/>
                      <a:pt x="1130" y="538"/>
                      <a:pt x="1131" y="538"/>
                    </a:cubicBezTo>
                    <a:cubicBezTo>
                      <a:pt x="1132" y="538"/>
                      <a:pt x="1133" y="536"/>
                      <a:pt x="1133" y="536"/>
                    </a:cubicBezTo>
                    <a:cubicBezTo>
                      <a:pt x="1134" y="535"/>
                      <a:pt x="1135" y="535"/>
                      <a:pt x="1136" y="535"/>
                    </a:cubicBezTo>
                    <a:cubicBezTo>
                      <a:pt x="1136" y="534"/>
                      <a:pt x="1139" y="533"/>
                      <a:pt x="1139" y="533"/>
                    </a:cubicBezTo>
                    <a:cubicBezTo>
                      <a:pt x="1140" y="532"/>
                      <a:pt x="1141" y="532"/>
                      <a:pt x="1140" y="532"/>
                    </a:cubicBezTo>
                    <a:cubicBezTo>
                      <a:pt x="1139" y="531"/>
                      <a:pt x="1140" y="530"/>
                      <a:pt x="1140" y="530"/>
                    </a:cubicBezTo>
                    <a:cubicBezTo>
                      <a:pt x="1141" y="530"/>
                      <a:pt x="1140" y="530"/>
                      <a:pt x="1139" y="529"/>
                    </a:cubicBezTo>
                    <a:cubicBezTo>
                      <a:pt x="1138" y="528"/>
                      <a:pt x="1138" y="527"/>
                      <a:pt x="1138" y="527"/>
                    </a:cubicBezTo>
                    <a:cubicBezTo>
                      <a:pt x="1137" y="527"/>
                      <a:pt x="1137" y="526"/>
                      <a:pt x="1136" y="526"/>
                    </a:cubicBezTo>
                    <a:cubicBezTo>
                      <a:pt x="1136" y="527"/>
                      <a:pt x="1135" y="525"/>
                      <a:pt x="1138" y="526"/>
                    </a:cubicBezTo>
                    <a:cubicBezTo>
                      <a:pt x="1141" y="527"/>
                      <a:pt x="1141" y="527"/>
                      <a:pt x="1140" y="525"/>
                    </a:cubicBezTo>
                    <a:cubicBezTo>
                      <a:pt x="1139" y="523"/>
                      <a:pt x="1138" y="524"/>
                      <a:pt x="1138" y="523"/>
                    </a:cubicBezTo>
                    <a:cubicBezTo>
                      <a:pt x="1137" y="522"/>
                      <a:pt x="1134" y="521"/>
                      <a:pt x="1134" y="520"/>
                    </a:cubicBezTo>
                    <a:cubicBezTo>
                      <a:pt x="1133" y="520"/>
                      <a:pt x="1129" y="518"/>
                      <a:pt x="1127" y="518"/>
                    </a:cubicBezTo>
                    <a:cubicBezTo>
                      <a:pt x="1126" y="519"/>
                      <a:pt x="1122" y="517"/>
                      <a:pt x="1120" y="518"/>
                    </a:cubicBezTo>
                    <a:cubicBezTo>
                      <a:pt x="1118" y="519"/>
                      <a:pt x="1114" y="519"/>
                      <a:pt x="1110" y="519"/>
                    </a:cubicBezTo>
                    <a:cubicBezTo>
                      <a:pt x="1107" y="520"/>
                      <a:pt x="1094" y="525"/>
                      <a:pt x="1092" y="526"/>
                    </a:cubicBezTo>
                    <a:cubicBezTo>
                      <a:pt x="1090" y="526"/>
                      <a:pt x="1085" y="529"/>
                      <a:pt x="1084" y="529"/>
                    </a:cubicBezTo>
                    <a:cubicBezTo>
                      <a:pt x="1083" y="529"/>
                      <a:pt x="1079" y="532"/>
                      <a:pt x="1076" y="533"/>
                    </a:cubicBezTo>
                    <a:cubicBezTo>
                      <a:pt x="1074" y="534"/>
                      <a:pt x="1070" y="537"/>
                      <a:pt x="1069" y="538"/>
                    </a:cubicBezTo>
                    <a:cubicBezTo>
                      <a:pt x="1068" y="539"/>
                      <a:pt x="1058" y="549"/>
                      <a:pt x="1056" y="551"/>
                    </a:cubicBezTo>
                    <a:cubicBezTo>
                      <a:pt x="1054" y="553"/>
                      <a:pt x="1053" y="555"/>
                      <a:pt x="1052" y="556"/>
                    </a:cubicBezTo>
                    <a:cubicBezTo>
                      <a:pt x="1051" y="557"/>
                      <a:pt x="1048" y="560"/>
                      <a:pt x="1047" y="561"/>
                    </a:cubicBezTo>
                    <a:cubicBezTo>
                      <a:pt x="1046" y="561"/>
                      <a:pt x="1039" y="564"/>
                      <a:pt x="1037" y="565"/>
                    </a:cubicBezTo>
                    <a:cubicBezTo>
                      <a:pt x="1036" y="565"/>
                      <a:pt x="1035" y="566"/>
                      <a:pt x="1037" y="564"/>
                    </a:cubicBezTo>
                    <a:cubicBezTo>
                      <a:pt x="1039" y="563"/>
                      <a:pt x="1039" y="561"/>
                      <a:pt x="1040" y="560"/>
                    </a:cubicBezTo>
                    <a:cubicBezTo>
                      <a:pt x="1042" y="560"/>
                      <a:pt x="1043" y="559"/>
                      <a:pt x="1044" y="557"/>
                    </a:cubicBezTo>
                    <a:cubicBezTo>
                      <a:pt x="1045" y="556"/>
                      <a:pt x="1048" y="552"/>
                      <a:pt x="1048" y="552"/>
                    </a:cubicBezTo>
                    <a:cubicBezTo>
                      <a:pt x="1049" y="551"/>
                      <a:pt x="1051" y="550"/>
                      <a:pt x="1052" y="549"/>
                    </a:cubicBezTo>
                    <a:cubicBezTo>
                      <a:pt x="1052" y="549"/>
                      <a:pt x="1053" y="548"/>
                      <a:pt x="1054" y="547"/>
                    </a:cubicBezTo>
                    <a:cubicBezTo>
                      <a:pt x="1055" y="547"/>
                      <a:pt x="1056" y="546"/>
                      <a:pt x="1056" y="545"/>
                    </a:cubicBezTo>
                    <a:cubicBezTo>
                      <a:pt x="1056" y="544"/>
                      <a:pt x="1057" y="541"/>
                      <a:pt x="1058" y="541"/>
                    </a:cubicBezTo>
                    <a:cubicBezTo>
                      <a:pt x="1058" y="540"/>
                      <a:pt x="1058" y="540"/>
                      <a:pt x="1057" y="539"/>
                    </a:cubicBezTo>
                    <a:cubicBezTo>
                      <a:pt x="1056" y="539"/>
                      <a:pt x="1055" y="537"/>
                      <a:pt x="1055" y="537"/>
                    </a:cubicBezTo>
                    <a:cubicBezTo>
                      <a:pt x="1054" y="537"/>
                      <a:pt x="1053" y="538"/>
                      <a:pt x="1052" y="537"/>
                    </a:cubicBezTo>
                    <a:cubicBezTo>
                      <a:pt x="1050" y="537"/>
                      <a:pt x="1049" y="536"/>
                      <a:pt x="1049" y="536"/>
                    </a:cubicBezTo>
                    <a:cubicBezTo>
                      <a:pt x="1048" y="536"/>
                      <a:pt x="1043" y="535"/>
                      <a:pt x="1043" y="535"/>
                    </a:cubicBezTo>
                    <a:cubicBezTo>
                      <a:pt x="1042" y="536"/>
                      <a:pt x="1041" y="536"/>
                      <a:pt x="1042" y="535"/>
                    </a:cubicBezTo>
                    <a:cubicBezTo>
                      <a:pt x="1043" y="534"/>
                      <a:pt x="1040" y="533"/>
                      <a:pt x="1042" y="534"/>
                    </a:cubicBezTo>
                    <a:cubicBezTo>
                      <a:pt x="1045" y="534"/>
                      <a:pt x="1042" y="534"/>
                      <a:pt x="1045" y="535"/>
                    </a:cubicBezTo>
                    <a:cubicBezTo>
                      <a:pt x="1048" y="535"/>
                      <a:pt x="1049" y="535"/>
                      <a:pt x="1050" y="535"/>
                    </a:cubicBezTo>
                    <a:cubicBezTo>
                      <a:pt x="1050" y="536"/>
                      <a:pt x="1052" y="537"/>
                      <a:pt x="1053" y="537"/>
                    </a:cubicBezTo>
                    <a:cubicBezTo>
                      <a:pt x="1054" y="536"/>
                      <a:pt x="1055" y="536"/>
                      <a:pt x="1056" y="537"/>
                    </a:cubicBezTo>
                    <a:cubicBezTo>
                      <a:pt x="1057" y="538"/>
                      <a:pt x="1058" y="540"/>
                      <a:pt x="1059" y="539"/>
                    </a:cubicBezTo>
                    <a:cubicBezTo>
                      <a:pt x="1060" y="538"/>
                      <a:pt x="1062" y="537"/>
                      <a:pt x="1062" y="536"/>
                    </a:cubicBezTo>
                    <a:cubicBezTo>
                      <a:pt x="1063" y="535"/>
                      <a:pt x="1064" y="534"/>
                      <a:pt x="1064" y="534"/>
                    </a:cubicBezTo>
                    <a:cubicBezTo>
                      <a:pt x="1065" y="534"/>
                      <a:pt x="1065" y="531"/>
                      <a:pt x="1066" y="531"/>
                    </a:cubicBezTo>
                    <a:cubicBezTo>
                      <a:pt x="1067" y="530"/>
                      <a:pt x="1068" y="527"/>
                      <a:pt x="1069" y="527"/>
                    </a:cubicBezTo>
                    <a:cubicBezTo>
                      <a:pt x="1069" y="527"/>
                      <a:pt x="1074" y="524"/>
                      <a:pt x="1075" y="522"/>
                    </a:cubicBezTo>
                    <a:cubicBezTo>
                      <a:pt x="1076" y="521"/>
                      <a:pt x="1077" y="521"/>
                      <a:pt x="1078" y="521"/>
                    </a:cubicBezTo>
                    <a:cubicBezTo>
                      <a:pt x="1078" y="521"/>
                      <a:pt x="1079" y="521"/>
                      <a:pt x="1080" y="520"/>
                    </a:cubicBezTo>
                    <a:cubicBezTo>
                      <a:pt x="1081" y="518"/>
                      <a:pt x="1084" y="517"/>
                      <a:pt x="1085" y="517"/>
                    </a:cubicBezTo>
                    <a:cubicBezTo>
                      <a:pt x="1086" y="516"/>
                      <a:pt x="1094" y="515"/>
                      <a:pt x="1094" y="514"/>
                    </a:cubicBezTo>
                    <a:cubicBezTo>
                      <a:pt x="1095" y="514"/>
                      <a:pt x="1096" y="514"/>
                      <a:pt x="1096" y="512"/>
                    </a:cubicBezTo>
                    <a:cubicBezTo>
                      <a:pt x="1096" y="511"/>
                      <a:pt x="1096" y="510"/>
                      <a:pt x="1096" y="510"/>
                    </a:cubicBezTo>
                    <a:cubicBezTo>
                      <a:pt x="1097" y="509"/>
                      <a:pt x="1096" y="508"/>
                      <a:pt x="1097" y="507"/>
                    </a:cubicBezTo>
                    <a:cubicBezTo>
                      <a:pt x="1098" y="506"/>
                      <a:pt x="1099" y="505"/>
                      <a:pt x="1100" y="504"/>
                    </a:cubicBezTo>
                    <a:cubicBezTo>
                      <a:pt x="1100" y="504"/>
                      <a:pt x="1102" y="503"/>
                      <a:pt x="1103" y="502"/>
                    </a:cubicBezTo>
                    <a:cubicBezTo>
                      <a:pt x="1104" y="501"/>
                      <a:pt x="1106" y="498"/>
                      <a:pt x="1108" y="499"/>
                    </a:cubicBezTo>
                    <a:cubicBezTo>
                      <a:pt x="1109" y="499"/>
                      <a:pt x="1112" y="500"/>
                      <a:pt x="1115" y="499"/>
                    </a:cubicBezTo>
                    <a:cubicBezTo>
                      <a:pt x="1118" y="498"/>
                      <a:pt x="1127" y="497"/>
                      <a:pt x="1127" y="498"/>
                    </a:cubicBezTo>
                    <a:cubicBezTo>
                      <a:pt x="1128" y="498"/>
                      <a:pt x="1136" y="498"/>
                      <a:pt x="1137" y="498"/>
                    </a:cubicBezTo>
                    <a:cubicBezTo>
                      <a:pt x="1138" y="498"/>
                      <a:pt x="1142" y="499"/>
                      <a:pt x="1143" y="498"/>
                    </a:cubicBezTo>
                    <a:cubicBezTo>
                      <a:pt x="1144" y="497"/>
                      <a:pt x="1147" y="498"/>
                      <a:pt x="1148" y="498"/>
                    </a:cubicBezTo>
                    <a:cubicBezTo>
                      <a:pt x="1149" y="498"/>
                      <a:pt x="1151" y="498"/>
                      <a:pt x="1151" y="499"/>
                    </a:cubicBezTo>
                    <a:cubicBezTo>
                      <a:pt x="1152" y="499"/>
                      <a:pt x="1152" y="499"/>
                      <a:pt x="1153" y="499"/>
                    </a:cubicBezTo>
                    <a:cubicBezTo>
                      <a:pt x="1154" y="499"/>
                      <a:pt x="1158" y="499"/>
                      <a:pt x="1160" y="498"/>
                    </a:cubicBezTo>
                    <a:cubicBezTo>
                      <a:pt x="1162" y="497"/>
                      <a:pt x="1165" y="498"/>
                      <a:pt x="1166" y="499"/>
                    </a:cubicBezTo>
                    <a:cubicBezTo>
                      <a:pt x="1167" y="499"/>
                      <a:pt x="1170" y="499"/>
                      <a:pt x="1171" y="499"/>
                    </a:cubicBezTo>
                    <a:cubicBezTo>
                      <a:pt x="1172" y="499"/>
                      <a:pt x="1176" y="500"/>
                      <a:pt x="1177" y="501"/>
                    </a:cubicBezTo>
                    <a:cubicBezTo>
                      <a:pt x="1177" y="501"/>
                      <a:pt x="1176" y="502"/>
                      <a:pt x="1179" y="502"/>
                    </a:cubicBezTo>
                    <a:cubicBezTo>
                      <a:pt x="1181" y="502"/>
                      <a:pt x="1185" y="500"/>
                      <a:pt x="1188" y="500"/>
                    </a:cubicBezTo>
                    <a:cubicBezTo>
                      <a:pt x="1192" y="500"/>
                      <a:pt x="1197" y="499"/>
                      <a:pt x="1198" y="499"/>
                    </a:cubicBezTo>
                    <a:cubicBezTo>
                      <a:pt x="1199" y="499"/>
                      <a:pt x="1201" y="499"/>
                      <a:pt x="1202" y="498"/>
                    </a:cubicBezTo>
                    <a:cubicBezTo>
                      <a:pt x="1203" y="498"/>
                      <a:pt x="1213" y="490"/>
                      <a:pt x="1215" y="488"/>
                    </a:cubicBezTo>
                    <a:cubicBezTo>
                      <a:pt x="1216" y="487"/>
                      <a:pt x="1217" y="486"/>
                      <a:pt x="1217" y="488"/>
                    </a:cubicBezTo>
                    <a:cubicBezTo>
                      <a:pt x="1217" y="489"/>
                      <a:pt x="1218" y="488"/>
                      <a:pt x="1218" y="487"/>
                    </a:cubicBezTo>
                    <a:cubicBezTo>
                      <a:pt x="1218" y="485"/>
                      <a:pt x="1218" y="484"/>
                      <a:pt x="1219" y="483"/>
                    </a:cubicBezTo>
                    <a:cubicBezTo>
                      <a:pt x="1220" y="482"/>
                      <a:pt x="1224" y="481"/>
                      <a:pt x="1223" y="480"/>
                    </a:cubicBezTo>
                    <a:cubicBezTo>
                      <a:pt x="1223" y="479"/>
                      <a:pt x="1224" y="479"/>
                      <a:pt x="1225" y="479"/>
                    </a:cubicBezTo>
                    <a:cubicBezTo>
                      <a:pt x="1226" y="478"/>
                      <a:pt x="1233" y="474"/>
                      <a:pt x="1238" y="475"/>
                    </a:cubicBezTo>
                    <a:cubicBezTo>
                      <a:pt x="1243" y="476"/>
                      <a:pt x="1247" y="476"/>
                      <a:pt x="1249" y="474"/>
                    </a:cubicBezTo>
                    <a:cubicBezTo>
                      <a:pt x="1251" y="472"/>
                      <a:pt x="1257" y="469"/>
                      <a:pt x="1259" y="468"/>
                    </a:cubicBezTo>
                    <a:cubicBezTo>
                      <a:pt x="1261" y="467"/>
                      <a:pt x="1263" y="466"/>
                      <a:pt x="1264" y="464"/>
                    </a:cubicBezTo>
                    <a:cubicBezTo>
                      <a:pt x="1265" y="462"/>
                      <a:pt x="1265" y="460"/>
                      <a:pt x="1266" y="460"/>
                    </a:cubicBezTo>
                    <a:cubicBezTo>
                      <a:pt x="1267" y="460"/>
                      <a:pt x="1268" y="460"/>
                      <a:pt x="1266" y="459"/>
                    </a:cubicBezTo>
                    <a:cubicBezTo>
                      <a:pt x="1264" y="458"/>
                      <a:pt x="1258" y="455"/>
                      <a:pt x="1263" y="457"/>
                    </a:cubicBezTo>
                    <a:close/>
                    <a:moveTo>
                      <a:pt x="340" y="161"/>
                    </a:moveTo>
                    <a:cubicBezTo>
                      <a:pt x="342" y="161"/>
                      <a:pt x="345" y="160"/>
                      <a:pt x="345" y="161"/>
                    </a:cubicBezTo>
                    <a:cubicBezTo>
                      <a:pt x="344" y="162"/>
                      <a:pt x="344" y="164"/>
                      <a:pt x="343" y="163"/>
                    </a:cubicBezTo>
                    <a:cubicBezTo>
                      <a:pt x="342" y="163"/>
                      <a:pt x="342" y="163"/>
                      <a:pt x="342" y="164"/>
                    </a:cubicBezTo>
                    <a:cubicBezTo>
                      <a:pt x="341" y="165"/>
                      <a:pt x="341" y="165"/>
                      <a:pt x="340" y="164"/>
                    </a:cubicBezTo>
                    <a:cubicBezTo>
                      <a:pt x="339" y="164"/>
                      <a:pt x="339" y="164"/>
                      <a:pt x="338" y="165"/>
                    </a:cubicBezTo>
                    <a:cubicBezTo>
                      <a:pt x="337" y="165"/>
                      <a:pt x="337" y="165"/>
                      <a:pt x="336" y="164"/>
                    </a:cubicBezTo>
                    <a:cubicBezTo>
                      <a:pt x="335" y="164"/>
                      <a:pt x="334" y="164"/>
                      <a:pt x="334" y="165"/>
                    </a:cubicBezTo>
                    <a:cubicBezTo>
                      <a:pt x="334" y="166"/>
                      <a:pt x="333" y="167"/>
                      <a:pt x="332" y="166"/>
                    </a:cubicBezTo>
                    <a:cubicBezTo>
                      <a:pt x="331" y="164"/>
                      <a:pt x="328" y="161"/>
                      <a:pt x="326" y="161"/>
                    </a:cubicBezTo>
                    <a:cubicBezTo>
                      <a:pt x="324" y="162"/>
                      <a:pt x="322" y="162"/>
                      <a:pt x="320" y="162"/>
                    </a:cubicBezTo>
                    <a:cubicBezTo>
                      <a:pt x="319" y="162"/>
                      <a:pt x="317" y="161"/>
                      <a:pt x="317" y="162"/>
                    </a:cubicBezTo>
                    <a:cubicBezTo>
                      <a:pt x="316" y="163"/>
                      <a:pt x="316" y="164"/>
                      <a:pt x="317" y="164"/>
                    </a:cubicBezTo>
                    <a:cubicBezTo>
                      <a:pt x="318" y="164"/>
                      <a:pt x="317" y="164"/>
                      <a:pt x="315" y="165"/>
                    </a:cubicBezTo>
                    <a:cubicBezTo>
                      <a:pt x="314" y="165"/>
                      <a:pt x="315" y="165"/>
                      <a:pt x="314" y="166"/>
                    </a:cubicBezTo>
                    <a:cubicBezTo>
                      <a:pt x="312" y="166"/>
                      <a:pt x="310" y="166"/>
                      <a:pt x="312" y="167"/>
                    </a:cubicBezTo>
                    <a:cubicBezTo>
                      <a:pt x="313" y="168"/>
                      <a:pt x="314" y="169"/>
                      <a:pt x="316" y="169"/>
                    </a:cubicBezTo>
                    <a:cubicBezTo>
                      <a:pt x="317" y="170"/>
                      <a:pt x="318" y="170"/>
                      <a:pt x="318" y="172"/>
                    </a:cubicBezTo>
                    <a:cubicBezTo>
                      <a:pt x="319" y="173"/>
                      <a:pt x="321" y="174"/>
                      <a:pt x="318" y="173"/>
                    </a:cubicBezTo>
                    <a:cubicBezTo>
                      <a:pt x="316" y="173"/>
                      <a:pt x="314" y="173"/>
                      <a:pt x="313" y="174"/>
                    </a:cubicBezTo>
                    <a:cubicBezTo>
                      <a:pt x="311" y="175"/>
                      <a:pt x="311" y="176"/>
                      <a:pt x="310" y="176"/>
                    </a:cubicBezTo>
                    <a:cubicBezTo>
                      <a:pt x="309" y="176"/>
                      <a:pt x="299" y="183"/>
                      <a:pt x="298" y="184"/>
                    </a:cubicBezTo>
                    <a:cubicBezTo>
                      <a:pt x="297" y="184"/>
                      <a:pt x="295" y="186"/>
                      <a:pt x="293" y="185"/>
                    </a:cubicBezTo>
                    <a:cubicBezTo>
                      <a:pt x="291" y="185"/>
                      <a:pt x="288" y="184"/>
                      <a:pt x="290" y="183"/>
                    </a:cubicBezTo>
                    <a:cubicBezTo>
                      <a:pt x="291" y="181"/>
                      <a:pt x="291" y="182"/>
                      <a:pt x="292" y="182"/>
                    </a:cubicBezTo>
                    <a:cubicBezTo>
                      <a:pt x="293" y="182"/>
                      <a:pt x="294" y="181"/>
                      <a:pt x="295" y="181"/>
                    </a:cubicBezTo>
                    <a:cubicBezTo>
                      <a:pt x="297" y="182"/>
                      <a:pt x="298" y="181"/>
                      <a:pt x="297" y="180"/>
                    </a:cubicBezTo>
                    <a:cubicBezTo>
                      <a:pt x="297" y="179"/>
                      <a:pt x="297" y="178"/>
                      <a:pt x="298" y="178"/>
                    </a:cubicBezTo>
                    <a:cubicBezTo>
                      <a:pt x="300" y="177"/>
                      <a:pt x="306" y="174"/>
                      <a:pt x="306" y="171"/>
                    </a:cubicBezTo>
                    <a:cubicBezTo>
                      <a:pt x="306" y="167"/>
                      <a:pt x="306" y="167"/>
                      <a:pt x="305" y="167"/>
                    </a:cubicBezTo>
                    <a:cubicBezTo>
                      <a:pt x="303" y="166"/>
                      <a:pt x="299" y="166"/>
                      <a:pt x="297" y="167"/>
                    </a:cubicBezTo>
                    <a:cubicBezTo>
                      <a:pt x="296" y="169"/>
                      <a:pt x="294" y="170"/>
                      <a:pt x="292" y="171"/>
                    </a:cubicBezTo>
                    <a:cubicBezTo>
                      <a:pt x="290" y="171"/>
                      <a:pt x="289" y="171"/>
                      <a:pt x="289" y="172"/>
                    </a:cubicBezTo>
                    <a:cubicBezTo>
                      <a:pt x="289" y="173"/>
                      <a:pt x="289" y="174"/>
                      <a:pt x="288" y="174"/>
                    </a:cubicBezTo>
                    <a:cubicBezTo>
                      <a:pt x="288" y="175"/>
                      <a:pt x="288" y="175"/>
                      <a:pt x="288" y="175"/>
                    </a:cubicBezTo>
                    <a:cubicBezTo>
                      <a:pt x="289" y="176"/>
                      <a:pt x="288" y="179"/>
                      <a:pt x="285" y="180"/>
                    </a:cubicBezTo>
                    <a:cubicBezTo>
                      <a:pt x="282" y="181"/>
                      <a:pt x="282" y="183"/>
                      <a:pt x="281" y="182"/>
                    </a:cubicBezTo>
                    <a:cubicBezTo>
                      <a:pt x="279" y="180"/>
                      <a:pt x="278" y="181"/>
                      <a:pt x="276" y="181"/>
                    </a:cubicBezTo>
                    <a:cubicBezTo>
                      <a:pt x="273" y="181"/>
                      <a:pt x="252" y="178"/>
                      <a:pt x="262" y="176"/>
                    </a:cubicBezTo>
                    <a:cubicBezTo>
                      <a:pt x="262" y="176"/>
                      <a:pt x="265" y="176"/>
                      <a:pt x="267" y="176"/>
                    </a:cubicBezTo>
                    <a:cubicBezTo>
                      <a:pt x="268" y="176"/>
                      <a:pt x="270" y="175"/>
                      <a:pt x="271" y="173"/>
                    </a:cubicBezTo>
                    <a:cubicBezTo>
                      <a:pt x="271" y="171"/>
                      <a:pt x="270" y="171"/>
                      <a:pt x="269" y="170"/>
                    </a:cubicBezTo>
                    <a:cubicBezTo>
                      <a:pt x="269" y="170"/>
                      <a:pt x="268" y="169"/>
                      <a:pt x="269" y="169"/>
                    </a:cubicBezTo>
                    <a:cubicBezTo>
                      <a:pt x="270" y="169"/>
                      <a:pt x="270" y="167"/>
                      <a:pt x="272" y="167"/>
                    </a:cubicBezTo>
                    <a:cubicBezTo>
                      <a:pt x="273" y="167"/>
                      <a:pt x="279" y="166"/>
                      <a:pt x="278" y="164"/>
                    </a:cubicBezTo>
                    <a:cubicBezTo>
                      <a:pt x="278" y="162"/>
                      <a:pt x="274" y="159"/>
                      <a:pt x="272" y="159"/>
                    </a:cubicBezTo>
                    <a:cubicBezTo>
                      <a:pt x="271" y="158"/>
                      <a:pt x="270" y="157"/>
                      <a:pt x="273" y="157"/>
                    </a:cubicBezTo>
                    <a:cubicBezTo>
                      <a:pt x="276" y="157"/>
                      <a:pt x="278" y="156"/>
                      <a:pt x="281" y="157"/>
                    </a:cubicBezTo>
                    <a:cubicBezTo>
                      <a:pt x="284" y="158"/>
                      <a:pt x="287" y="159"/>
                      <a:pt x="290" y="158"/>
                    </a:cubicBezTo>
                    <a:cubicBezTo>
                      <a:pt x="293" y="157"/>
                      <a:pt x="295" y="156"/>
                      <a:pt x="293" y="155"/>
                    </a:cubicBezTo>
                    <a:cubicBezTo>
                      <a:pt x="292" y="154"/>
                      <a:pt x="287" y="151"/>
                      <a:pt x="279" y="150"/>
                    </a:cubicBezTo>
                    <a:cubicBezTo>
                      <a:pt x="272" y="150"/>
                      <a:pt x="265" y="150"/>
                      <a:pt x="267" y="151"/>
                    </a:cubicBezTo>
                    <a:cubicBezTo>
                      <a:pt x="268" y="152"/>
                      <a:pt x="268" y="153"/>
                      <a:pt x="266" y="153"/>
                    </a:cubicBezTo>
                    <a:cubicBezTo>
                      <a:pt x="265" y="152"/>
                      <a:pt x="262" y="152"/>
                      <a:pt x="260" y="153"/>
                    </a:cubicBezTo>
                    <a:cubicBezTo>
                      <a:pt x="258" y="154"/>
                      <a:pt x="256" y="154"/>
                      <a:pt x="254" y="153"/>
                    </a:cubicBezTo>
                    <a:cubicBezTo>
                      <a:pt x="251" y="152"/>
                      <a:pt x="249" y="152"/>
                      <a:pt x="247" y="152"/>
                    </a:cubicBezTo>
                    <a:cubicBezTo>
                      <a:pt x="245" y="153"/>
                      <a:pt x="242" y="153"/>
                      <a:pt x="243" y="154"/>
                    </a:cubicBezTo>
                    <a:cubicBezTo>
                      <a:pt x="244" y="154"/>
                      <a:pt x="244" y="155"/>
                      <a:pt x="244" y="155"/>
                    </a:cubicBezTo>
                    <a:cubicBezTo>
                      <a:pt x="243" y="155"/>
                      <a:pt x="241" y="155"/>
                      <a:pt x="240" y="158"/>
                    </a:cubicBezTo>
                    <a:cubicBezTo>
                      <a:pt x="240" y="158"/>
                      <a:pt x="240" y="159"/>
                      <a:pt x="239" y="158"/>
                    </a:cubicBezTo>
                    <a:cubicBezTo>
                      <a:pt x="238" y="156"/>
                      <a:pt x="237" y="156"/>
                      <a:pt x="237" y="154"/>
                    </a:cubicBezTo>
                    <a:cubicBezTo>
                      <a:pt x="236" y="153"/>
                      <a:pt x="236" y="150"/>
                      <a:pt x="237" y="149"/>
                    </a:cubicBezTo>
                    <a:cubicBezTo>
                      <a:pt x="238" y="149"/>
                      <a:pt x="238" y="149"/>
                      <a:pt x="239" y="150"/>
                    </a:cubicBezTo>
                    <a:cubicBezTo>
                      <a:pt x="240" y="150"/>
                      <a:pt x="240" y="151"/>
                      <a:pt x="241" y="150"/>
                    </a:cubicBezTo>
                    <a:cubicBezTo>
                      <a:pt x="242" y="150"/>
                      <a:pt x="242" y="150"/>
                      <a:pt x="243" y="150"/>
                    </a:cubicBezTo>
                    <a:cubicBezTo>
                      <a:pt x="244" y="150"/>
                      <a:pt x="246" y="151"/>
                      <a:pt x="247" y="150"/>
                    </a:cubicBezTo>
                    <a:cubicBezTo>
                      <a:pt x="247" y="148"/>
                      <a:pt x="249" y="147"/>
                      <a:pt x="251" y="148"/>
                    </a:cubicBezTo>
                    <a:cubicBezTo>
                      <a:pt x="252" y="149"/>
                      <a:pt x="253" y="149"/>
                      <a:pt x="255" y="148"/>
                    </a:cubicBezTo>
                    <a:cubicBezTo>
                      <a:pt x="256" y="147"/>
                      <a:pt x="257" y="147"/>
                      <a:pt x="258" y="147"/>
                    </a:cubicBezTo>
                    <a:cubicBezTo>
                      <a:pt x="260" y="147"/>
                      <a:pt x="262" y="146"/>
                      <a:pt x="263" y="145"/>
                    </a:cubicBezTo>
                    <a:cubicBezTo>
                      <a:pt x="264" y="145"/>
                      <a:pt x="265" y="144"/>
                      <a:pt x="265" y="144"/>
                    </a:cubicBezTo>
                    <a:cubicBezTo>
                      <a:pt x="265" y="145"/>
                      <a:pt x="266" y="145"/>
                      <a:pt x="266" y="145"/>
                    </a:cubicBezTo>
                    <a:cubicBezTo>
                      <a:pt x="267" y="145"/>
                      <a:pt x="268" y="145"/>
                      <a:pt x="268" y="144"/>
                    </a:cubicBezTo>
                    <a:cubicBezTo>
                      <a:pt x="269" y="143"/>
                      <a:pt x="269" y="143"/>
                      <a:pt x="271" y="143"/>
                    </a:cubicBezTo>
                    <a:cubicBezTo>
                      <a:pt x="273" y="143"/>
                      <a:pt x="273" y="144"/>
                      <a:pt x="274" y="143"/>
                    </a:cubicBezTo>
                    <a:cubicBezTo>
                      <a:pt x="274" y="142"/>
                      <a:pt x="276" y="142"/>
                      <a:pt x="276" y="142"/>
                    </a:cubicBezTo>
                    <a:cubicBezTo>
                      <a:pt x="277" y="142"/>
                      <a:pt x="278" y="143"/>
                      <a:pt x="278" y="143"/>
                    </a:cubicBezTo>
                    <a:cubicBezTo>
                      <a:pt x="278" y="143"/>
                      <a:pt x="279" y="142"/>
                      <a:pt x="280" y="142"/>
                    </a:cubicBezTo>
                    <a:cubicBezTo>
                      <a:pt x="281" y="142"/>
                      <a:pt x="283" y="142"/>
                      <a:pt x="284" y="141"/>
                    </a:cubicBezTo>
                    <a:cubicBezTo>
                      <a:pt x="285" y="140"/>
                      <a:pt x="287" y="140"/>
                      <a:pt x="288" y="140"/>
                    </a:cubicBezTo>
                    <a:cubicBezTo>
                      <a:pt x="289" y="140"/>
                      <a:pt x="290" y="138"/>
                      <a:pt x="291" y="138"/>
                    </a:cubicBezTo>
                    <a:cubicBezTo>
                      <a:pt x="292" y="138"/>
                      <a:pt x="293" y="137"/>
                      <a:pt x="294" y="136"/>
                    </a:cubicBezTo>
                    <a:cubicBezTo>
                      <a:pt x="295" y="136"/>
                      <a:pt x="298" y="136"/>
                      <a:pt x="299" y="135"/>
                    </a:cubicBezTo>
                    <a:cubicBezTo>
                      <a:pt x="300" y="135"/>
                      <a:pt x="306" y="133"/>
                      <a:pt x="307" y="133"/>
                    </a:cubicBezTo>
                    <a:cubicBezTo>
                      <a:pt x="308" y="133"/>
                      <a:pt x="311" y="131"/>
                      <a:pt x="312" y="131"/>
                    </a:cubicBezTo>
                    <a:cubicBezTo>
                      <a:pt x="313" y="132"/>
                      <a:pt x="329" y="135"/>
                      <a:pt x="327" y="135"/>
                    </a:cubicBezTo>
                    <a:cubicBezTo>
                      <a:pt x="325" y="136"/>
                      <a:pt x="323" y="136"/>
                      <a:pt x="322" y="137"/>
                    </a:cubicBezTo>
                    <a:cubicBezTo>
                      <a:pt x="321" y="138"/>
                      <a:pt x="320" y="139"/>
                      <a:pt x="318" y="139"/>
                    </a:cubicBezTo>
                    <a:cubicBezTo>
                      <a:pt x="317" y="139"/>
                      <a:pt x="315" y="139"/>
                      <a:pt x="314" y="140"/>
                    </a:cubicBezTo>
                    <a:cubicBezTo>
                      <a:pt x="314" y="140"/>
                      <a:pt x="311" y="141"/>
                      <a:pt x="311" y="142"/>
                    </a:cubicBezTo>
                    <a:cubicBezTo>
                      <a:pt x="310" y="142"/>
                      <a:pt x="309" y="143"/>
                      <a:pt x="309" y="144"/>
                    </a:cubicBezTo>
                    <a:cubicBezTo>
                      <a:pt x="308" y="144"/>
                      <a:pt x="306" y="145"/>
                      <a:pt x="307" y="145"/>
                    </a:cubicBezTo>
                    <a:cubicBezTo>
                      <a:pt x="308" y="145"/>
                      <a:pt x="308" y="145"/>
                      <a:pt x="307" y="146"/>
                    </a:cubicBezTo>
                    <a:cubicBezTo>
                      <a:pt x="306" y="147"/>
                      <a:pt x="306" y="148"/>
                      <a:pt x="308" y="147"/>
                    </a:cubicBezTo>
                    <a:cubicBezTo>
                      <a:pt x="309" y="147"/>
                      <a:pt x="310" y="147"/>
                      <a:pt x="311" y="147"/>
                    </a:cubicBezTo>
                    <a:cubicBezTo>
                      <a:pt x="312" y="148"/>
                      <a:pt x="315" y="149"/>
                      <a:pt x="315" y="148"/>
                    </a:cubicBezTo>
                    <a:cubicBezTo>
                      <a:pt x="316" y="148"/>
                      <a:pt x="319" y="148"/>
                      <a:pt x="317" y="148"/>
                    </a:cubicBezTo>
                    <a:cubicBezTo>
                      <a:pt x="315" y="149"/>
                      <a:pt x="315" y="149"/>
                      <a:pt x="317" y="149"/>
                    </a:cubicBezTo>
                    <a:cubicBezTo>
                      <a:pt x="318" y="150"/>
                      <a:pt x="320" y="150"/>
                      <a:pt x="320" y="149"/>
                    </a:cubicBezTo>
                    <a:cubicBezTo>
                      <a:pt x="319" y="148"/>
                      <a:pt x="320" y="148"/>
                      <a:pt x="321" y="148"/>
                    </a:cubicBezTo>
                    <a:cubicBezTo>
                      <a:pt x="323" y="149"/>
                      <a:pt x="329" y="150"/>
                      <a:pt x="331" y="149"/>
                    </a:cubicBezTo>
                    <a:cubicBezTo>
                      <a:pt x="331" y="149"/>
                      <a:pt x="336" y="148"/>
                      <a:pt x="337" y="147"/>
                    </a:cubicBezTo>
                    <a:cubicBezTo>
                      <a:pt x="339" y="145"/>
                      <a:pt x="339" y="145"/>
                      <a:pt x="338" y="145"/>
                    </a:cubicBezTo>
                    <a:cubicBezTo>
                      <a:pt x="337" y="146"/>
                      <a:pt x="338" y="144"/>
                      <a:pt x="340" y="143"/>
                    </a:cubicBezTo>
                    <a:cubicBezTo>
                      <a:pt x="342" y="142"/>
                      <a:pt x="347" y="139"/>
                      <a:pt x="347" y="141"/>
                    </a:cubicBezTo>
                    <a:cubicBezTo>
                      <a:pt x="347" y="143"/>
                      <a:pt x="346" y="142"/>
                      <a:pt x="345" y="143"/>
                    </a:cubicBezTo>
                    <a:cubicBezTo>
                      <a:pt x="344" y="144"/>
                      <a:pt x="344" y="145"/>
                      <a:pt x="343" y="146"/>
                    </a:cubicBezTo>
                    <a:cubicBezTo>
                      <a:pt x="343" y="146"/>
                      <a:pt x="343" y="147"/>
                      <a:pt x="345" y="146"/>
                    </a:cubicBezTo>
                    <a:cubicBezTo>
                      <a:pt x="346" y="146"/>
                      <a:pt x="350" y="145"/>
                      <a:pt x="349" y="146"/>
                    </a:cubicBezTo>
                    <a:cubicBezTo>
                      <a:pt x="348" y="147"/>
                      <a:pt x="348" y="148"/>
                      <a:pt x="347" y="149"/>
                    </a:cubicBezTo>
                    <a:cubicBezTo>
                      <a:pt x="346" y="151"/>
                      <a:pt x="345" y="153"/>
                      <a:pt x="345" y="154"/>
                    </a:cubicBezTo>
                    <a:cubicBezTo>
                      <a:pt x="345" y="155"/>
                      <a:pt x="344" y="156"/>
                      <a:pt x="343" y="156"/>
                    </a:cubicBezTo>
                    <a:cubicBezTo>
                      <a:pt x="342" y="155"/>
                      <a:pt x="341" y="156"/>
                      <a:pt x="340" y="157"/>
                    </a:cubicBezTo>
                    <a:cubicBezTo>
                      <a:pt x="339" y="158"/>
                      <a:pt x="339" y="159"/>
                      <a:pt x="339" y="159"/>
                    </a:cubicBezTo>
                    <a:cubicBezTo>
                      <a:pt x="338" y="160"/>
                      <a:pt x="338" y="162"/>
                      <a:pt x="340" y="161"/>
                    </a:cubicBezTo>
                    <a:close/>
                    <a:moveTo>
                      <a:pt x="475" y="234"/>
                    </a:moveTo>
                    <a:cubicBezTo>
                      <a:pt x="473" y="235"/>
                      <a:pt x="471" y="240"/>
                      <a:pt x="471" y="237"/>
                    </a:cubicBezTo>
                    <a:cubicBezTo>
                      <a:pt x="471" y="235"/>
                      <a:pt x="469" y="236"/>
                      <a:pt x="468" y="235"/>
                    </a:cubicBezTo>
                    <a:cubicBezTo>
                      <a:pt x="467" y="234"/>
                      <a:pt x="463" y="233"/>
                      <a:pt x="462" y="233"/>
                    </a:cubicBezTo>
                    <a:cubicBezTo>
                      <a:pt x="460" y="233"/>
                      <a:pt x="452" y="232"/>
                      <a:pt x="451" y="232"/>
                    </a:cubicBezTo>
                    <a:cubicBezTo>
                      <a:pt x="449" y="233"/>
                      <a:pt x="443" y="235"/>
                      <a:pt x="441" y="236"/>
                    </a:cubicBezTo>
                    <a:cubicBezTo>
                      <a:pt x="439" y="238"/>
                      <a:pt x="434" y="244"/>
                      <a:pt x="436" y="242"/>
                    </a:cubicBezTo>
                    <a:cubicBezTo>
                      <a:pt x="438" y="241"/>
                      <a:pt x="441" y="239"/>
                      <a:pt x="444" y="238"/>
                    </a:cubicBezTo>
                    <a:cubicBezTo>
                      <a:pt x="446" y="237"/>
                      <a:pt x="449" y="236"/>
                      <a:pt x="451" y="236"/>
                    </a:cubicBezTo>
                    <a:cubicBezTo>
                      <a:pt x="453" y="236"/>
                      <a:pt x="453" y="236"/>
                      <a:pt x="453" y="235"/>
                    </a:cubicBezTo>
                    <a:cubicBezTo>
                      <a:pt x="453" y="234"/>
                      <a:pt x="453" y="234"/>
                      <a:pt x="454" y="234"/>
                    </a:cubicBezTo>
                    <a:cubicBezTo>
                      <a:pt x="456" y="234"/>
                      <a:pt x="467" y="234"/>
                      <a:pt x="462" y="235"/>
                    </a:cubicBezTo>
                    <a:cubicBezTo>
                      <a:pt x="457" y="235"/>
                      <a:pt x="454" y="234"/>
                      <a:pt x="455" y="235"/>
                    </a:cubicBezTo>
                    <a:cubicBezTo>
                      <a:pt x="456" y="236"/>
                      <a:pt x="457" y="236"/>
                      <a:pt x="460" y="236"/>
                    </a:cubicBezTo>
                    <a:cubicBezTo>
                      <a:pt x="462" y="236"/>
                      <a:pt x="468" y="235"/>
                      <a:pt x="464" y="237"/>
                    </a:cubicBezTo>
                    <a:cubicBezTo>
                      <a:pt x="460" y="238"/>
                      <a:pt x="456" y="239"/>
                      <a:pt x="455" y="239"/>
                    </a:cubicBezTo>
                    <a:cubicBezTo>
                      <a:pt x="453" y="239"/>
                      <a:pt x="450" y="238"/>
                      <a:pt x="450" y="239"/>
                    </a:cubicBezTo>
                    <a:cubicBezTo>
                      <a:pt x="451" y="240"/>
                      <a:pt x="452" y="240"/>
                      <a:pt x="453" y="240"/>
                    </a:cubicBezTo>
                    <a:cubicBezTo>
                      <a:pt x="454" y="239"/>
                      <a:pt x="456" y="239"/>
                      <a:pt x="455" y="239"/>
                    </a:cubicBezTo>
                    <a:cubicBezTo>
                      <a:pt x="454" y="240"/>
                      <a:pt x="456" y="240"/>
                      <a:pt x="457" y="240"/>
                    </a:cubicBezTo>
                    <a:cubicBezTo>
                      <a:pt x="458" y="240"/>
                      <a:pt x="459" y="239"/>
                      <a:pt x="460" y="239"/>
                    </a:cubicBezTo>
                    <a:cubicBezTo>
                      <a:pt x="461" y="239"/>
                      <a:pt x="465" y="238"/>
                      <a:pt x="461" y="240"/>
                    </a:cubicBezTo>
                    <a:cubicBezTo>
                      <a:pt x="457" y="242"/>
                      <a:pt x="454" y="243"/>
                      <a:pt x="452" y="243"/>
                    </a:cubicBezTo>
                    <a:cubicBezTo>
                      <a:pt x="450" y="243"/>
                      <a:pt x="447" y="242"/>
                      <a:pt x="445" y="242"/>
                    </a:cubicBezTo>
                    <a:cubicBezTo>
                      <a:pt x="444" y="243"/>
                      <a:pt x="441" y="246"/>
                      <a:pt x="439" y="248"/>
                    </a:cubicBezTo>
                    <a:cubicBezTo>
                      <a:pt x="437" y="249"/>
                      <a:pt x="434" y="251"/>
                      <a:pt x="437" y="250"/>
                    </a:cubicBezTo>
                    <a:cubicBezTo>
                      <a:pt x="439" y="249"/>
                      <a:pt x="440" y="250"/>
                      <a:pt x="437" y="252"/>
                    </a:cubicBezTo>
                    <a:cubicBezTo>
                      <a:pt x="435" y="253"/>
                      <a:pt x="429" y="258"/>
                      <a:pt x="428" y="259"/>
                    </a:cubicBezTo>
                    <a:cubicBezTo>
                      <a:pt x="427" y="261"/>
                      <a:pt x="425" y="263"/>
                      <a:pt x="416" y="264"/>
                    </a:cubicBezTo>
                    <a:cubicBezTo>
                      <a:pt x="407" y="264"/>
                      <a:pt x="407" y="267"/>
                      <a:pt x="406" y="269"/>
                    </a:cubicBezTo>
                    <a:cubicBezTo>
                      <a:pt x="405" y="270"/>
                      <a:pt x="407" y="270"/>
                      <a:pt x="406" y="271"/>
                    </a:cubicBezTo>
                    <a:cubicBezTo>
                      <a:pt x="406" y="273"/>
                      <a:pt x="406" y="275"/>
                      <a:pt x="403" y="275"/>
                    </a:cubicBezTo>
                    <a:cubicBezTo>
                      <a:pt x="399" y="275"/>
                      <a:pt x="386" y="277"/>
                      <a:pt x="383" y="277"/>
                    </a:cubicBezTo>
                    <a:cubicBezTo>
                      <a:pt x="380" y="278"/>
                      <a:pt x="376" y="277"/>
                      <a:pt x="374" y="278"/>
                    </a:cubicBezTo>
                    <a:cubicBezTo>
                      <a:pt x="374" y="278"/>
                      <a:pt x="367" y="276"/>
                      <a:pt x="365" y="275"/>
                    </a:cubicBezTo>
                    <a:cubicBezTo>
                      <a:pt x="364" y="274"/>
                      <a:pt x="361" y="273"/>
                      <a:pt x="359" y="273"/>
                    </a:cubicBezTo>
                    <a:cubicBezTo>
                      <a:pt x="357" y="273"/>
                      <a:pt x="353" y="274"/>
                      <a:pt x="351" y="271"/>
                    </a:cubicBezTo>
                    <a:cubicBezTo>
                      <a:pt x="351" y="271"/>
                      <a:pt x="350" y="270"/>
                      <a:pt x="349" y="269"/>
                    </a:cubicBezTo>
                    <a:cubicBezTo>
                      <a:pt x="349" y="269"/>
                      <a:pt x="344" y="267"/>
                      <a:pt x="349" y="268"/>
                    </a:cubicBezTo>
                    <a:cubicBezTo>
                      <a:pt x="354" y="269"/>
                      <a:pt x="361" y="270"/>
                      <a:pt x="360" y="269"/>
                    </a:cubicBezTo>
                    <a:cubicBezTo>
                      <a:pt x="360" y="268"/>
                      <a:pt x="359" y="266"/>
                      <a:pt x="363" y="267"/>
                    </a:cubicBezTo>
                    <a:cubicBezTo>
                      <a:pt x="367" y="268"/>
                      <a:pt x="372" y="270"/>
                      <a:pt x="373" y="268"/>
                    </a:cubicBezTo>
                    <a:cubicBezTo>
                      <a:pt x="373" y="266"/>
                      <a:pt x="369" y="266"/>
                      <a:pt x="373" y="265"/>
                    </a:cubicBezTo>
                    <a:cubicBezTo>
                      <a:pt x="376" y="265"/>
                      <a:pt x="375" y="265"/>
                      <a:pt x="375" y="263"/>
                    </a:cubicBezTo>
                    <a:cubicBezTo>
                      <a:pt x="375" y="261"/>
                      <a:pt x="376" y="260"/>
                      <a:pt x="377" y="260"/>
                    </a:cubicBezTo>
                    <a:cubicBezTo>
                      <a:pt x="378" y="259"/>
                      <a:pt x="378" y="256"/>
                      <a:pt x="380" y="257"/>
                    </a:cubicBezTo>
                    <a:cubicBezTo>
                      <a:pt x="382" y="257"/>
                      <a:pt x="385" y="258"/>
                      <a:pt x="387" y="257"/>
                    </a:cubicBezTo>
                    <a:cubicBezTo>
                      <a:pt x="390" y="257"/>
                      <a:pt x="391" y="256"/>
                      <a:pt x="391" y="254"/>
                    </a:cubicBezTo>
                    <a:cubicBezTo>
                      <a:pt x="391" y="252"/>
                      <a:pt x="390" y="254"/>
                      <a:pt x="390" y="252"/>
                    </a:cubicBezTo>
                    <a:cubicBezTo>
                      <a:pt x="390" y="251"/>
                      <a:pt x="389" y="251"/>
                      <a:pt x="387" y="250"/>
                    </a:cubicBezTo>
                    <a:cubicBezTo>
                      <a:pt x="386" y="250"/>
                      <a:pt x="385" y="250"/>
                      <a:pt x="385" y="249"/>
                    </a:cubicBezTo>
                    <a:cubicBezTo>
                      <a:pt x="386" y="247"/>
                      <a:pt x="385" y="246"/>
                      <a:pt x="383" y="246"/>
                    </a:cubicBezTo>
                    <a:cubicBezTo>
                      <a:pt x="381" y="246"/>
                      <a:pt x="381" y="246"/>
                      <a:pt x="382" y="245"/>
                    </a:cubicBezTo>
                    <a:cubicBezTo>
                      <a:pt x="383" y="244"/>
                      <a:pt x="382" y="245"/>
                      <a:pt x="382" y="243"/>
                    </a:cubicBezTo>
                    <a:cubicBezTo>
                      <a:pt x="382" y="241"/>
                      <a:pt x="383" y="240"/>
                      <a:pt x="381" y="241"/>
                    </a:cubicBezTo>
                    <a:cubicBezTo>
                      <a:pt x="380" y="241"/>
                      <a:pt x="376" y="242"/>
                      <a:pt x="375" y="240"/>
                    </a:cubicBezTo>
                    <a:cubicBezTo>
                      <a:pt x="374" y="238"/>
                      <a:pt x="374" y="237"/>
                      <a:pt x="373" y="237"/>
                    </a:cubicBezTo>
                    <a:cubicBezTo>
                      <a:pt x="371" y="236"/>
                      <a:pt x="369" y="235"/>
                      <a:pt x="371" y="234"/>
                    </a:cubicBezTo>
                    <a:cubicBezTo>
                      <a:pt x="372" y="233"/>
                      <a:pt x="373" y="234"/>
                      <a:pt x="375" y="235"/>
                    </a:cubicBezTo>
                    <a:cubicBezTo>
                      <a:pt x="377" y="236"/>
                      <a:pt x="378" y="237"/>
                      <a:pt x="380" y="237"/>
                    </a:cubicBezTo>
                    <a:cubicBezTo>
                      <a:pt x="381" y="237"/>
                      <a:pt x="382" y="238"/>
                      <a:pt x="383" y="239"/>
                    </a:cubicBezTo>
                    <a:cubicBezTo>
                      <a:pt x="384" y="240"/>
                      <a:pt x="385" y="240"/>
                      <a:pt x="387" y="241"/>
                    </a:cubicBezTo>
                    <a:cubicBezTo>
                      <a:pt x="389" y="242"/>
                      <a:pt x="391" y="243"/>
                      <a:pt x="392" y="243"/>
                    </a:cubicBezTo>
                    <a:cubicBezTo>
                      <a:pt x="392" y="244"/>
                      <a:pt x="393" y="243"/>
                      <a:pt x="395" y="243"/>
                    </a:cubicBezTo>
                    <a:cubicBezTo>
                      <a:pt x="397" y="242"/>
                      <a:pt x="396" y="241"/>
                      <a:pt x="397" y="243"/>
                    </a:cubicBezTo>
                    <a:cubicBezTo>
                      <a:pt x="399" y="244"/>
                      <a:pt x="398" y="245"/>
                      <a:pt x="400" y="245"/>
                    </a:cubicBezTo>
                    <a:cubicBezTo>
                      <a:pt x="402" y="246"/>
                      <a:pt x="402" y="247"/>
                      <a:pt x="403" y="248"/>
                    </a:cubicBezTo>
                    <a:cubicBezTo>
                      <a:pt x="404" y="249"/>
                      <a:pt x="405" y="248"/>
                      <a:pt x="406" y="249"/>
                    </a:cubicBezTo>
                    <a:cubicBezTo>
                      <a:pt x="406" y="251"/>
                      <a:pt x="408" y="251"/>
                      <a:pt x="409" y="251"/>
                    </a:cubicBezTo>
                    <a:cubicBezTo>
                      <a:pt x="410" y="251"/>
                      <a:pt x="411" y="252"/>
                      <a:pt x="412" y="252"/>
                    </a:cubicBezTo>
                    <a:cubicBezTo>
                      <a:pt x="413" y="252"/>
                      <a:pt x="413" y="251"/>
                      <a:pt x="415" y="251"/>
                    </a:cubicBezTo>
                    <a:cubicBezTo>
                      <a:pt x="416" y="252"/>
                      <a:pt x="417" y="249"/>
                      <a:pt x="418" y="250"/>
                    </a:cubicBezTo>
                    <a:cubicBezTo>
                      <a:pt x="418" y="251"/>
                      <a:pt x="419" y="250"/>
                      <a:pt x="420" y="251"/>
                    </a:cubicBezTo>
                    <a:cubicBezTo>
                      <a:pt x="422" y="251"/>
                      <a:pt x="424" y="251"/>
                      <a:pt x="426" y="249"/>
                    </a:cubicBezTo>
                    <a:cubicBezTo>
                      <a:pt x="428" y="248"/>
                      <a:pt x="432" y="244"/>
                      <a:pt x="433" y="243"/>
                    </a:cubicBezTo>
                    <a:cubicBezTo>
                      <a:pt x="435" y="243"/>
                      <a:pt x="435" y="242"/>
                      <a:pt x="436" y="240"/>
                    </a:cubicBezTo>
                    <a:cubicBezTo>
                      <a:pt x="437" y="238"/>
                      <a:pt x="437" y="238"/>
                      <a:pt x="439" y="236"/>
                    </a:cubicBezTo>
                    <a:cubicBezTo>
                      <a:pt x="440" y="235"/>
                      <a:pt x="442" y="233"/>
                      <a:pt x="445" y="232"/>
                    </a:cubicBezTo>
                    <a:cubicBezTo>
                      <a:pt x="449" y="231"/>
                      <a:pt x="456" y="229"/>
                      <a:pt x="460" y="230"/>
                    </a:cubicBezTo>
                    <a:cubicBezTo>
                      <a:pt x="463" y="231"/>
                      <a:pt x="467" y="231"/>
                      <a:pt x="469" y="232"/>
                    </a:cubicBezTo>
                    <a:cubicBezTo>
                      <a:pt x="470" y="232"/>
                      <a:pt x="474" y="233"/>
                      <a:pt x="475" y="233"/>
                    </a:cubicBezTo>
                    <a:cubicBezTo>
                      <a:pt x="476" y="233"/>
                      <a:pt x="477" y="233"/>
                      <a:pt x="475" y="234"/>
                    </a:cubicBezTo>
                    <a:close/>
                    <a:moveTo>
                      <a:pt x="634" y="424"/>
                    </a:moveTo>
                    <a:cubicBezTo>
                      <a:pt x="635" y="422"/>
                      <a:pt x="638" y="417"/>
                      <a:pt x="638" y="417"/>
                    </a:cubicBezTo>
                    <a:cubicBezTo>
                      <a:pt x="638" y="417"/>
                      <a:pt x="639" y="414"/>
                      <a:pt x="639" y="416"/>
                    </a:cubicBezTo>
                    <a:cubicBezTo>
                      <a:pt x="640" y="418"/>
                      <a:pt x="640" y="418"/>
                      <a:pt x="640" y="418"/>
                    </a:cubicBezTo>
                    <a:cubicBezTo>
                      <a:pt x="641" y="418"/>
                      <a:pt x="641" y="418"/>
                      <a:pt x="640" y="419"/>
                    </a:cubicBezTo>
                    <a:cubicBezTo>
                      <a:pt x="638" y="420"/>
                      <a:pt x="636" y="421"/>
                      <a:pt x="636" y="422"/>
                    </a:cubicBezTo>
                    <a:cubicBezTo>
                      <a:pt x="636" y="423"/>
                      <a:pt x="635" y="423"/>
                      <a:pt x="636" y="424"/>
                    </a:cubicBezTo>
                    <a:cubicBezTo>
                      <a:pt x="636" y="425"/>
                      <a:pt x="637" y="425"/>
                      <a:pt x="638" y="424"/>
                    </a:cubicBezTo>
                    <a:cubicBezTo>
                      <a:pt x="640" y="423"/>
                      <a:pt x="640" y="423"/>
                      <a:pt x="640" y="423"/>
                    </a:cubicBezTo>
                    <a:cubicBezTo>
                      <a:pt x="641" y="424"/>
                      <a:pt x="641" y="424"/>
                      <a:pt x="642" y="423"/>
                    </a:cubicBezTo>
                    <a:cubicBezTo>
                      <a:pt x="643" y="422"/>
                      <a:pt x="642" y="424"/>
                      <a:pt x="641" y="424"/>
                    </a:cubicBezTo>
                    <a:cubicBezTo>
                      <a:pt x="639" y="425"/>
                      <a:pt x="639" y="426"/>
                      <a:pt x="640" y="427"/>
                    </a:cubicBezTo>
                    <a:cubicBezTo>
                      <a:pt x="640" y="428"/>
                      <a:pt x="641" y="430"/>
                      <a:pt x="639" y="429"/>
                    </a:cubicBezTo>
                    <a:cubicBezTo>
                      <a:pt x="638" y="428"/>
                      <a:pt x="638" y="427"/>
                      <a:pt x="637" y="427"/>
                    </a:cubicBezTo>
                    <a:cubicBezTo>
                      <a:pt x="636" y="426"/>
                      <a:pt x="634" y="427"/>
                      <a:pt x="634" y="424"/>
                    </a:cubicBezTo>
                    <a:close/>
                    <a:moveTo>
                      <a:pt x="664" y="481"/>
                    </a:moveTo>
                    <a:cubicBezTo>
                      <a:pt x="663" y="483"/>
                      <a:pt x="663" y="482"/>
                      <a:pt x="663" y="484"/>
                    </a:cubicBezTo>
                    <a:cubicBezTo>
                      <a:pt x="662" y="486"/>
                      <a:pt x="663" y="487"/>
                      <a:pt x="663" y="489"/>
                    </a:cubicBezTo>
                    <a:cubicBezTo>
                      <a:pt x="663" y="491"/>
                      <a:pt x="664" y="492"/>
                      <a:pt x="663" y="491"/>
                    </a:cubicBezTo>
                    <a:cubicBezTo>
                      <a:pt x="662" y="490"/>
                      <a:pt x="660" y="489"/>
                      <a:pt x="660" y="492"/>
                    </a:cubicBezTo>
                    <a:cubicBezTo>
                      <a:pt x="660" y="494"/>
                      <a:pt x="660" y="496"/>
                      <a:pt x="657" y="496"/>
                    </a:cubicBezTo>
                    <a:cubicBezTo>
                      <a:pt x="654" y="495"/>
                      <a:pt x="654" y="495"/>
                      <a:pt x="654" y="489"/>
                    </a:cubicBezTo>
                    <a:cubicBezTo>
                      <a:pt x="654" y="484"/>
                      <a:pt x="654" y="482"/>
                      <a:pt x="655" y="482"/>
                    </a:cubicBezTo>
                    <a:cubicBezTo>
                      <a:pt x="656" y="482"/>
                      <a:pt x="656" y="481"/>
                      <a:pt x="657" y="480"/>
                    </a:cubicBezTo>
                    <a:cubicBezTo>
                      <a:pt x="657" y="479"/>
                      <a:pt x="658" y="479"/>
                      <a:pt x="658" y="478"/>
                    </a:cubicBezTo>
                    <a:cubicBezTo>
                      <a:pt x="659" y="478"/>
                      <a:pt x="660" y="477"/>
                      <a:pt x="658" y="477"/>
                    </a:cubicBezTo>
                    <a:cubicBezTo>
                      <a:pt x="657" y="478"/>
                      <a:pt x="654" y="482"/>
                      <a:pt x="654" y="481"/>
                    </a:cubicBezTo>
                    <a:cubicBezTo>
                      <a:pt x="654" y="479"/>
                      <a:pt x="653" y="478"/>
                      <a:pt x="654" y="477"/>
                    </a:cubicBezTo>
                    <a:cubicBezTo>
                      <a:pt x="655" y="475"/>
                      <a:pt x="657" y="475"/>
                      <a:pt x="657" y="473"/>
                    </a:cubicBezTo>
                    <a:cubicBezTo>
                      <a:pt x="656" y="471"/>
                      <a:pt x="657" y="472"/>
                      <a:pt x="655" y="471"/>
                    </a:cubicBezTo>
                    <a:cubicBezTo>
                      <a:pt x="653" y="470"/>
                      <a:pt x="652" y="471"/>
                      <a:pt x="652" y="473"/>
                    </a:cubicBezTo>
                    <a:cubicBezTo>
                      <a:pt x="651" y="475"/>
                      <a:pt x="648" y="478"/>
                      <a:pt x="649" y="474"/>
                    </a:cubicBezTo>
                    <a:cubicBezTo>
                      <a:pt x="649" y="471"/>
                      <a:pt x="651" y="467"/>
                      <a:pt x="649" y="465"/>
                    </a:cubicBezTo>
                    <a:cubicBezTo>
                      <a:pt x="648" y="464"/>
                      <a:pt x="646" y="463"/>
                      <a:pt x="646" y="464"/>
                    </a:cubicBezTo>
                    <a:cubicBezTo>
                      <a:pt x="646" y="465"/>
                      <a:pt x="644" y="467"/>
                      <a:pt x="645" y="464"/>
                    </a:cubicBezTo>
                    <a:cubicBezTo>
                      <a:pt x="646" y="462"/>
                      <a:pt x="647" y="462"/>
                      <a:pt x="645" y="462"/>
                    </a:cubicBezTo>
                    <a:cubicBezTo>
                      <a:pt x="644" y="462"/>
                      <a:pt x="642" y="461"/>
                      <a:pt x="642" y="462"/>
                    </a:cubicBezTo>
                    <a:cubicBezTo>
                      <a:pt x="642" y="464"/>
                      <a:pt x="642" y="467"/>
                      <a:pt x="641" y="467"/>
                    </a:cubicBezTo>
                    <a:cubicBezTo>
                      <a:pt x="641" y="466"/>
                      <a:pt x="638" y="466"/>
                      <a:pt x="636" y="461"/>
                    </a:cubicBezTo>
                    <a:cubicBezTo>
                      <a:pt x="634" y="456"/>
                      <a:pt x="632" y="457"/>
                      <a:pt x="631" y="456"/>
                    </a:cubicBezTo>
                    <a:cubicBezTo>
                      <a:pt x="630" y="454"/>
                      <a:pt x="629" y="453"/>
                      <a:pt x="628" y="451"/>
                    </a:cubicBezTo>
                    <a:cubicBezTo>
                      <a:pt x="627" y="449"/>
                      <a:pt x="626" y="449"/>
                      <a:pt x="627" y="447"/>
                    </a:cubicBezTo>
                    <a:cubicBezTo>
                      <a:pt x="628" y="444"/>
                      <a:pt x="629" y="445"/>
                      <a:pt x="630" y="444"/>
                    </a:cubicBezTo>
                    <a:cubicBezTo>
                      <a:pt x="631" y="444"/>
                      <a:pt x="634" y="444"/>
                      <a:pt x="631" y="444"/>
                    </a:cubicBezTo>
                    <a:cubicBezTo>
                      <a:pt x="629" y="443"/>
                      <a:pt x="629" y="443"/>
                      <a:pt x="626" y="443"/>
                    </a:cubicBezTo>
                    <a:cubicBezTo>
                      <a:pt x="624" y="444"/>
                      <a:pt x="623" y="444"/>
                      <a:pt x="622" y="442"/>
                    </a:cubicBezTo>
                    <a:cubicBezTo>
                      <a:pt x="621" y="441"/>
                      <a:pt x="620" y="441"/>
                      <a:pt x="620" y="439"/>
                    </a:cubicBezTo>
                    <a:cubicBezTo>
                      <a:pt x="621" y="437"/>
                      <a:pt x="622" y="430"/>
                      <a:pt x="624" y="428"/>
                    </a:cubicBezTo>
                    <a:cubicBezTo>
                      <a:pt x="624" y="428"/>
                      <a:pt x="624" y="426"/>
                      <a:pt x="627" y="427"/>
                    </a:cubicBezTo>
                    <a:cubicBezTo>
                      <a:pt x="630" y="428"/>
                      <a:pt x="631" y="427"/>
                      <a:pt x="632" y="427"/>
                    </a:cubicBezTo>
                    <a:cubicBezTo>
                      <a:pt x="633" y="427"/>
                      <a:pt x="635" y="428"/>
                      <a:pt x="637" y="429"/>
                    </a:cubicBezTo>
                    <a:cubicBezTo>
                      <a:pt x="639" y="430"/>
                      <a:pt x="640" y="430"/>
                      <a:pt x="640" y="430"/>
                    </a:cubicBezTo>
                    <a:cubicBezTo>
                      <a:pt x="641" y="430"/>
                      <a:pt x="641" y="430"/>
                      <a:pt x="641" y="431"/>
                    </a:cubicBezTo>
                    <a:cubicBezTo>
                      <a:pt x="641" y="433"/>
                      <a:pt x="641" y="433"/>
                      <a:pt x="642" y="434"/>
                    </a:cubicBezTo>
                    <a:cubicBezTo>
                      <a:pt x="643" y="435"/>
                      <a:pt x="644" y="437"/>
                      <a:pt x="645" y="438"/>
                    </a:cubicBezTo>
                    <a:cubicBezTo>
                      <a:pt x="646" y="439"/>
                      <a:pt x="647" y="440"/>
                      <a:pt x="647" y="441"/>
                    </a:cubicBezTo>
                    <a:cubicBezTo>
                      <a:pt x="647" y="443"/>
                      <a:pt x="648" y="443"/>
                      <a:pt x="648" y="445"/>
                    </a:cubicBezTo>
                    <a:cubicBezTo>
                      <a:pt x="647" y="447"/>
                      <a:pt x="647" y="447"/>
                      <a:pt x="649" y="449"/>
                    </a:cubicBezTo>
                    <a:cubicBezTo>
                      <a:pt x="651" y="451"/>
                      <a:pt x="651" y="453"/>
                      <a:pt x="652" y="454"/>
                    </a:cubicBezTo>
                    <a:cubicBezTo>
                      <a:pt x="652" y="456"/>
                      <a:pt x="653" y="457"/>
                      <a:pt x="653" y="460"/>
                    </a:cubicBezTo>
                    <a:cubicBezTo>
                      <a:pt x="654" y="463"/>
                      <a:pt x="656" y="463"/>
                      <a:pt x="656" y="465"/>
                    </a:cubicBezTo>
                    <a:cubicBezTo>
                      <a:pt x="655" y="467"/>
                      <a:pt x="655" y="467"/>
                      <a:pt x="656" y="467"/>
                    </a:cubicBezTo>
                    <a:cubicBezTo>
                      <a:pt x="657" y="467"/>
                      <a:pt x="658" y="468"/>
                      <a:pt x="658" y="469"/>
                    </a:cubicBezTo>
                    <a:cubicBezTo>
                      <a:pt x="657" y="470"/>
                      <a:pt x="658" y="470"/>
                      <a:pt x="658" y="471"/>
                    </a:cubicBezTo>
                    <a:cubicBezTo>
                      <a:pt x="659" y="472"/>
                      <a:pt x="660" y="474"/>
                      <a:pt x="661" y="475"/>
                    </a:cubicBezTo>
                    <a:cubicBezTo>
                      <a:pt x="661" y="477"/>
                      <a:pt x="661" y="477"/>
                      <a:pt x="663" y="478"/>
                    </a:cubicBezTo>
                    <a:cubicBezTo>
                      <a:pt x="664" y="479"/>
                      <a:pt x="665" y="480"/>
                      <a:pt x="664" y="48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84" name="Freeform 267">
                <a:extLst>
                  <a:ext uri="{FF2B5EF4-FFF2-40B4-BE49-F238E27FC236}">
                    <a16:creationId xmlns:a16="http://schemas.microsoft.com/office/drawing/2014/main" id="{068E287A-31A7-43F7-9F83-E05726ADAAF8}"/>
                  </a:ext>
                </a:extLst>
              </p:cNvPr>
              <p:cNvSpPr>
                <a:spLocks/>
              </p:cNvSpPr>
              <p:nvPr/>
            </p:nvSpPr>
            <p:spPr bwMode="auto">
              <a:xfrm>
                <a:off x="863" y="1544"/>
                <a:ext cx="108" cy="69"/>
              </a:xfrm>
              <a:custGeom>
                <a:avLst/>
                <a:gdLst>
                  <a:gd name="T0" fmla="*/ 76 w 78"/>
                  <a:gd name="T1" fmla="*/ 49 h 50"/>
                  <a:gd name="T2" fmla="*/ 75 w 78"/>
                  <a:gd name="T3" fmla="*/ 44 h 50"/>
                  <a:gd name="T4" fmla="*/ 72 w 78"/>
                  <a:gd name="T5" fmla="*/ 41 h 50"/>
                  <a:gd name="T6" fmla="*/ 69 w 78"/>
                  <a:gd name="T7" fmla="*/ 36 h 50"/>
                  <a:gd name="T8" fmla="*/ 66 w 78"/>
                  <a:gd name="T9" fmla="*/ 32 h 50"/>
                  <a:gd name="T10" fmla="*/ 58 w 78"/>
                  <a:gd name="T11" fmla="*/ 29 h 50"/>
                  <a:gd name="T12" fmla="*/ 53 w 78"/>
                  <a:gd name="T13" fmla="*/ 25 h 50"/>
                  <a:gd name="T14" fmla="*/ 51 w 78"/>
                  <a:gd name="T15" fmla="*/ 21 h 50"/>
                  <a:gd name="T16" fmla="*/ 46 w 78"/>
                  <a:gd name="T17" fmla="*/ 13 h 50"/>
                  <a:gd name="T18" fmla="*/ 37 w 78"/>
                  <a:gd name="T19" fmla="*/ 10 h 50"/>
                  <a:gd name="T20" fmla="*/ 26 w 78"/>
                  <a:gd name="T21" fmla="*/ 7 h 50"/>
                  <a:gd name="T22" fmla="*/ 17 w 78"/>
                  <a:gd name="T23" fmla="*/ 4 h 50"/>
                  <a:gd name="T24" fmla="*/ 3 w 78"/>
                  <a:gd name="T25" fmla="*/ 2 h 50"/>
                  <a:gd name="T26" fmla="*/ 5 w 78"/>
                  <a:gd name="T27" fmla="*/ 8 h 50"/>
                  <a:gd name="T28" fmla="*/ 13 w 78"/>
                  <a:gd name="T29" fmla="*/ 7 h 50"/>
                  <a:gd name="T30" fmla="*/ 15 w 78"/>
                  <a:gd name="T31" fmla="*/ 7 h 50"/>
                  <a:gd name="T32" fmla="*/ 13 w 78"/>
                  <a:gd name="T33" fmla="*/ 9 h 50"/>
                  <a:gd name="T34" fmla="*/ 9 w 78"/>
                  <a:gd name="T35" fmla="*/ 12 h 50"/>
                  <a:gd name="T36" fmla="*/ 11 w 78"/>
                  <a:gd name="T37" fmla="*/ 15 h 50"/>
                  <a:gd name="T38" fmla="*/ 15 w 78"/>
                  <a:gd name="T39" fmla="*/ 15 h 50"/>
                  <a:gd name="T40" fmla="*/ 18 w 78"/>
                  <a:gd name="T41" fmla="*/ 15 h 50"/>
                  <a:gd name="T42" fmla="*/ 19 w 78"/>
                  <a:gd name="T43" fmla="*/ 17 h 50"/>
                  <a:gd name="T44" fmla="*/ 23 w 78"/>
                  <a:gd name="T45" fmla="*/ 19 h 50"/>
                  <a:gd name="T46" fmla="*/ 29 w 78"/>
                  <a:gd name="T47" fmla="*/ 23 h 50"/>
                  <a:gd name="T48" fmla="*/ 32 w 78"/>
                  <a:gd name="T49" fmla="*/ 24 h 50"/>
                  <a:gd name="T50" fmla="*/ 28 w 78"/>
                  <a:gd name="T51" fmla="*/ 27 h 50"/>
                  <a:gd name="T52" fmla="*/ 31 w 78"/>
                  <a:gd name="T53" fmla="*/ 29 h 50"/>
                  <a:gd name="T54" fmla="*/ 37 w 78"/>
                  <a:gd name="T55" fmla="*/ 31 h 50"/>
                  <a:gd name="T56" fmla="*/ 40 w 78"/>
                  <a:gd name="T57" fmla="*/ 32 h 50"/>
                  <a:gd name="T58" fmla="*/ 42 w 78"/>
                  <a:gd name="T59" fmla="*/ 33 h 50"/>
                  <a:gd name="T60" fmla="*/ 42 w 78"/>
                  <a:gd name="T61" fmla="*/ 36 h 50"/>
                  <a:gd name="T62" fmla="*/ 53 w 78"/>
                  <a:gd name="T63" fmla="*/ 36 h 50"/>
                  <a:gd name="T64" fmla="*/ 54 w 78"/>
                  <a:gd name="T65" fmla="*/ 35 h 50"/>
                  <a:gd name="T66" fmla="*/ 51 w 78"/>
                  <a:gd name="T67" fmla="*/ 42 h 50"/>
                  <a:gd name="T68" fmla="*/ 74 w 78"/>
                  <a:gd name="T69" fmla="*/ 4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8" h="50">
                    <a:moveTo>
                      <a:pt x="74" y="49"/>
                    </a:moveTo>
                    <a:cubicBezTo>
                      <a:pt x="75" y="48"/>
                      <a:pt x="75" y="49"/>
                      <a:pt x="76" y="49"/>
                    </a:cubicBezTo>
                    <a:cubicBezTo>
                      <a:pt x="78" y="49"/>
                      <a:pt x="77" y="47"/>
                      <a:pt x="76" y="45"/>
                    </a:cubicBezTo>
                    <a:cubicBezTo>
                      <a:pt x="76" y="44"/>
                      <a:pt x="76" y="44"/>
                      <a:pt x="75" y="44"/>
                    </a:cubicBezTo>
                    <a:cubicBezTo>
                      <a:pt x="74" y="44"/>
                      <a:pt x="73" y="43"/>
                      <a:pt x="73" y="43"/>
                    </a:cubicBezTo>
                    <a:cubicBezTo>
                      <a:pt x="72" y="42"/>
                      <a:pt x="72" y="42"/>
                      <a:pt x="72" y="41"/>
                    </a:cubicBezTo>
                    <a:cubicBezTo>
                      <a:pt x="73" y="41"/>
                      <a:pt x="73" y="40"/>
                      <a:pt x="71" y="38"/>
                    </a:cubicBezTo>
                    <a:cubicBezTo>
                      <a:pt x="69" y="37"/>
                      <a:pt x="68" y="37"/>
                      <a:pt x="69" y="36"/>
                    </a:cubicBezTo>
                    <a:cubicBezTo>
                      <a:pt x="71" y="35"/>
                      <a:pt x="69" y="35"/>
                      <a:pt x="68" y="34"/>
                    </a:cubicBezTo>
                    <a:cubicBezTo>
                      <a:pt x="66" y="33"/>
                      <a:pt x="67" y="33"/>
                      <a:pt x="66" y="32"/>
                    </a:cubicBezTo>
                    <a:cubicBezTo>
                      <a:pt x="65" y="32"/>
                      <a:pt x="64" y="32"/>
                      <a:pt x="64" y="32"/>
                    </a:cubicBezTo>
                    <a:cubicBezTo>
                      <a:pt x="64" y="31"/>
                      <a:pt x="59" y="29"/>
                      <a:pt x="58" y="29"/>
                    </a:cubicBezTo>
                    <a:cubicBezTo>
                      <a:pt x="57" y="29"/>
                      <a:pt x="54" y="27"/>
                      <a:pt x="54" y="27"/>
                    </a:cubicBezTo>
                    <a:cubicBezTo>
                      <a:pt x="53" y="26"/>
                      <a:pt x="54" y="26"/>
                      <a:pt x="53" y="25"/>
                    </a:cubicBezTo>
                    <a:cubicBezTo>
                      <a:pt x="52" y="24"/>
                      <a:pt x="52" y="24"/>
                      <a:pt x="52" y="23"/>
                    </a:cubicBezTo>
                    <a:cubicBezTo>
                      <a:pt x="53" y="22"/>
                      <a:pt x="52" y="22"/>
                      <a:pt x="51" y="21"/>
                    </a:cubicBezTo>
                    <a:cubicBezTo>
                      <a:pt x="50" y="20"/>
                      <a:pt x="50" y="20"/>
                      <a:pt x="48" y="18"/>
                    </a:cubicBezTo>
                    <a:cubicBezTo>
                      <a:pt x="47" y="16"/>
                      <a:pt x="46" y="15"/>
                      <a:pt x="46" y="13"/>
                    </a:cubicBezTo>
                    <a:cubicBezTo>
                      <a:pt x="45" y="11"/>
                      <a:pt x="43" y="11"/>
                      <a:pt x="43" y="11"/>
                    </a:cubicBezTo>
                    <a:cubicBezTo>
                      <a:pt x="42" y="11"/>
                      <a:pt x="39" y="11"/>
                      <a:pt x="37" y="10"/>
                    </a:cubicBezTo>
                    <a:cubicBezTo>
                      <a:pt x="35" y="9"/>
                      <a:pt x="33" y="9"/>
                      <a:pt x="32" y="8"/>
                    </a:cubicBezTo>
                    <a:cubicBezTo>
                      <a:pt x="31" y="8"/>
                      <a:pt x="28" y="8"/>
                      <a:pt x="26" y="7"/>
                    </a:cubicBezTo>
                    <a:cubicBezTo>
                      <a:pt x="24" y="7"/>
                      <a:pt x="23" y="6"/>
                      <a:pt x="22" y="6"/>
                    </a:cubicBezTo>
                    <a:cubicBezTo>
                      <a:pt x="21" y="5"/>
                      <a:pt x="18" y="6"/>
                      <a:pt x="17" y="4"/>
                    </a:cubicBezTo>
                    <a:cubicBezTo>
                      <a:pt x="15" y="3"/>
                      <a:pt x="16" y="5"/>
                      <a:pt x="14" y="3"/>
                    </a:cubicBezTo>
                    <a:cubicBezTo>
                      <a:pt x="12" y="0"/>
                      <a:pt x="6" y="1"/>
                      <a:pt x="3" y="2"/>
                    </a:cubicBezTo>
                    <a:cubicBezTo>
                      <a:pt x="0" y="2"/>
                      <a:pt x="2" y="3"/>
                      <a:pt x="2" y="3"/>
                    </a:cubicBezTo>
                    <a:cubicBezTo>
                      <a:pt x="2" y="3"/>
                      <a:pt x="3" y="7"/>
                      <a:pt x="5" y="8"/>
                    </a:cubicBezTo>
                    <a:cubicBezTo>
                      <a:pt x="6" y="9"/>
                      <a:pt x="10" y="8"/>
                      <a:pt x="11" y="7"/>
                    </a:cubicBezTo>
                    <a:cubicBezTo>
                      <a:pt x="12" y="7"/>
                      <a:pt x="13" y="7"/>
                      <a:pt x="13" y="7"/>
                    </a:cubicBezTo>
                    <a:cubicBezTo>
                      <a:pt x="12" y="6"/>
                      <a:pt x="13" y="6"/>
                      <a:pt x="14" y="6"/>
                    </a:cubicBezTo>
                    <a:cubicBezTo>
                      <a:pt x="16" y="6"/>
                      <a:pt x="15" y="6"/>
                      <a:pt x="15" y="7"/>
                    </a:cubicBezTo>
                    <a:cubicBezTo>
                      <a:pt x="14" y="8"/>
                      <a:pt x="13" y="7"/>
                      <a:pt x="14" y="9"/>
                    </a:cubicBezTo>
                    <a:cubicBezTo>
                      <a:pt x="16" y="11"/>
                      <a:pt x="15" y="10"/>
                      <a:pt x="13" y="9"/>
                    </a:cubicBezTo>
                    <a:cubicBezTo>
                      <a:pt x="12" y="8"/>
                      <a:pt x="10" y="8"/>
                      <a:pt x="9" y="9"/>
                    </a:cubicBezTo>
                    <a:cubicBezTo>
                      <a:pt x="7" y="10"/>
                      <a:pt x="7" y="12"/>
                      <a:pt x="9" y="12"/>
                    </a:cubicBezTo>
                    <a:cubicBezTo>
                      <a:pt x="10" y="13"/>
                      <a:pt x="10" y="13"/>
                      <a:pt x="9" y="14"/>
                    </a:cubicBezTo>
                    <a:cubicBezTo>
                      <a:pt x="8" y="16"/>
                      <a:pt x="9" y="15"/>
                      <a:pt x="11" y="15"/>
                    </a:cubicBezTo>
                    <a:cubicBezTo>
                      <a:pt x="12" y="14"/>
                      <a:pt x="12" y="15"/>
                      <a:pt x="14" y="15"/>
                    </a:cubicBezTo>
                    <a:cubicBezTo>
                      <a:pt x="15" y="14"/>
                      <a:pt x="15" y="14"/>
                      <a:pt x="15" y="15"/>
                    </a:cubicBezTo>
                    <a:cubicBezTo>
                      <a:pt x="15" y="16"/>
                      <a:pt x="15" y="16"/>
                      <a:pt x="16" y="16"/>
                    </a:cubicBezTo>
                    <a:cubicBezTo>
                      <a:pt x="17" y="17"/>
                      <a:pt x="17" y="16"/>
                      <a:pt x="18" y="15"/>
                    </a:cubicBezTo>
                    <a:cubicBezTo>
                      <a:pt x="18" y="14"/>
                      <a:pt x="19" y="15"/>
                      <a:pt x="19" y="15"/>
                    </a:cubicBezTo>
                    <a:cubicBezTo>
                      <a:pt x="20" y="15"/>
                      <a:pt x="20" y="16"/>
                      <a:pt x="19" y="17"/>
                    </a:cubicBezTo>
                    <a:cubicBezTo>
                      <a:pt x="18" y="18"/>
                      <a:pt x="19" y="20"/>
                      <a:pt x="20" y="20"/>
                    </a:cubicBezTo>
                    <a:cubicBezTo>
                      <a:pt x="22" y="20"/>
                      <a:pt x="22" y="19"/>
                      <a:pt x="23" y="19"/>
                    </a:cubicBezTo>
                    <a:cubicBezTo>
                      <a:pt x="24" y="18"/>
                      <a:pt x="25" y="19"/>
                      <a:pt x="27" y="20"/>
                    </a:cubicBezTo>
                    <a:cubicBezTo>
                      <a:pt x="28" y="22"/>
                      <a:pt x="27" y="24"/>
                      <a:pt x="29" y="23"/>
                    </a:cubicBezTo>
                    <a:cubicBezTo>
                      <a:pt x="30" y="21"/>
                      <a:pt x="31" y="22"/>
                      <a:pt x="30" y="22"/>
                    </a:cubicBezTo>
                    <a:cubicBezTo>
                      <a:pt x="30" y="23"/>
                      <a:pt x="29" y="24"/>
                      <a:pt x="32" y="24"/>
                    </a:cubicBezTo>
                    <a:cubicBezTo>
                      <a:pt x="34" y="24"/>
                      <a:pt x="32" y="24"/>
                      <a:pt x="30" y="25"/>
                    </a:cubicBezTo>
                    <a:cubicBezTo>
                      <a:pt x="28" y="25"/>
                      <a:pt x="28" y="25"/>
                      <a:pt x="28" y="27"/>
                    </a:cubicBezTo>
                    <a:cubicBezTo>
                      <a:pt x="28" y="29"/>
                      <a:pt x="29" y="29"/>
                      <a:pt x="29" y="29"/>
                    </a:cubicBezTo>
                    <a:cubicBezTo>
                      <a:pt x="30" y="28"/>
                      <a:pt x="30" y="28"/>
                      <a:pt x="31" y="29"/>
                    </a:cubicBezTo>
                    <a:cubicBezTo>
                      <a:pt x="32" y="29"/>
                      <a:pt x="34" y="29"/>
                      <a:pt x="36" y="29"/>
                    </a:cubicBezTo>
                    <a:cubicBezTo>
                      <a:pt x="38" y="29"/>
                      <a:pt x="38" y="29"/>
                      <a:pt x="37" y="31"/>
                    </a:cubicBezTo>
                    <a:cubicBezTo>
                      <a:pt x="36" y="33"/>
                      <a:pt x="37" y="32"/>
                      <a:pt x="39" y="31"/>
                    </a:cubicBezTo>
                    <a:cubicBezTo>
                      <a:pt x="40" y="30"/>
                      <a:pt x="40" y="31"/>
                      <a:pt x="40" y="32"/>
                    </a:cubicBezTo>
                    <a:cubicBezTo>
                      <a:pt x="40" y="33"/>
                      <a:pt x="40" y="35"/>
                      <a:pt x="41" y="34"/>
                    </a:cubicBezTo>
                    <a:cubicBezTo>
                      <a:pt x="42" y="33"/>
                      <a:pt x="42" y="32"/>
                      <a:pt x="42" y="33"/>
                    </a:cubicBezTo>
                    <a:cubicBezTo>
                      <a:pt x="42" y="34"/>
                      <a:pt x="41" y="35"/>
                      <a:pt x="39" y="35"/>
                    </a:cubicBezTo>
                    <a:cubicBezTo>
                      <a:pt x="38" y="35"/>
                      <a:pt x="41" y="37"/>
                      <a:pt x="42" y="36"/>
                    </a:cubicBezTo>
                    <a:cubicBezTo>
                      <a:pt x="43" y="36"/>
                      <a:pt x="46" y="36"/>
                      <a:pt x="48" y="36"/>
                    </a:cubicBezTo>
                    <a:cubicBezTo>
                      <a:pt x="50" y="37"/>
                      <a:pt x="52" y="38"/>
                      <a:pt x="53" y="36"/>
                    </a:cubicBezTo>
                    <a:cubicBezTo>
                      <a:pt x="54" y="35"/>
                      <a:pt x="54" y="34"/>
                      <a:pt x="54" y="34"/>
                    </a:cubicBezTo>
                    <a:cubicBezTo>
                      <a:pt x="54" y="34"/>
                      <a:pt x="54" y="34"/>
                      <a:pt x="54" y="35"/>
                    </a:cubicBezTo>
                    <a:cubicBezTo>
                      <a:pt x="55" y="37"/>
                      <a:pt x="53" y="38"/>
                      <a:pt x="50" y="40"/>
                    </a:cubicBezTo>
                    <a:cubicBezTo>
                      <a:pt x="48" y="41"/>
                      <a:pt x="51" y="42"/>
                      <a:pt x="51" y="42"/>
                    </a:cubicBezTo>
                    <a:cubicBezTo>
                      <a:pt x="51" y="42"/>
                      <a:pt x="70" y="49"/>
                      <a:pt x="71" y="49"/>
                    </a:cubicBezTo>
                    <a:cubicBezTo>
                      <a:pt x="73" y="50"/>
                      <a:pt x="73" y="50"/>
                      <a:pt x="74" y="4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85" name="Freeform 268">
                <a:extLst>
                  <a:ext uri="{FF2B5EF4-FFF2-40B4-BE49-F238E27FC236}">
                    <a16:creationId xmlns:a16="http://schemas.microsoft.com/office/drawing/2014/main" id="{E547718A-00F7-42A4-916C-CD5FA11EBBC5}"/>
                  </a:ext>
                </a:extLst>
              </p:cNvPr>
              <p:cNvSpPr>
                <a:spLocks/>
              </p:cNvSpPr>
              <p:nvPr/>
            </p:nvSpPr>
            <p:spPr bwMode="auto">
              <a:xfrm>
                <a:off x="894" y="1572"/>
                <a:ext cx="7" cy="9"/>
              </a:xfrm>
              <a:custGeom>
                <a:avLst/>
                <a:gdLst>
                  <a:gd name="T0" fmla="*/ 2 w 5"/>
                  <a:gd name="T1" fmla="*/ 1 h 7"/>
                  <a:gd name="T2" fmla="*/ 1 w 5"/>
                  <a:gd name="T3" fmla="*/ 3 h 7"/>
                  <a:gd name="T4" fmla="*/ 4 w 5"/>
                  <a:gd name="T5" fmla="*/ 5 h 7"/>
                  <a:gd name="T6" fmla="*/ 4 w 5"/>
                  <a:gd name="T7" fmla="*/ 2 h 7"/>
                  <a:gd name="T8" fmla="*/ 2 w 5"/>
                  <a:gd name="T9" fmla="*/ 1 h 7"/>
                </a:gdLst>
                <a:ahLst/>
                <a:cxnLst>
                  <a:cxn ang="0">
                    <a:pos x="T0" y="T1"/>
                  </a:cxn>
                  <a:cxn ang="0">
                    <a:pos x="T2" y="T3"/>
                  </a:cxn>
                  <a:cxn ang="0">
                    <a:pos x="T4" y="T5"/>
                  </a:cxn>
                  <a:cxn ang="0">
                    <a:pos x="T6" y="T7"/>
                  </a:cxn>
                  <a:cxn ang="0">
                    <a:pos x="T8" y="T9"/>
                  </a:cxn>
                </a:cxnLst>
                <a:rect l="0" t="0" r="r" b="b"/>
                <a:pathLst>
                  <a:path w="5" h="7">
                    <a:moveTo>
                      <a:pt x="2" y="1"/>
                    </a:moveTo>
                    <a:cubicBezTo>
                      <a:pt x="0" y="1"/>
                      <a:pt x="1" y="3"/>
                      <a:pt x="1" y="3"/>
                    </a:cubicBezTo>
                    <a:cubicBezTo>
                      <a:pt x="1" y="3"/>
                      <a:pt x="2" y="4"/>
                      <a:pt x="4" y="5"/>
                    </a:cubicBezTo>
                    <a:cubicBezTo>
                      <a:pt x="5" y="7"/>
                      <a:pt x="5" y="4"/>
                      <a:pt x="4" y="2"/>
                    </a:cubicBezTo>
                    <a:cubicBezTo>
                      <a:pt x="4" y="0"/>
                      <a:pt x="4"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86" name="Freeform 269">
                <a:extLst>
                  <a:ext uri="{FF2B5EF4-FFF2-40B4-BE49-F238E27FC236}">
                    <a16:creationId xmlns:a16="http://schemas.microsoft.com/office/drawing/2014/main" id="{98D2729F-FE92-4790-A9B5-E17CF1E6AE9A}"/>
                  </a:ext>
                </a:extLst>
              </p:cNvPr>
              <p:cNvSpPr>
                <a:spLocks/>
              </p:cNvSpPr>
              <p:nvPr/>
            </p:nvSpPr>
            <p:spPr bwMode="auto">
              <a:xfrm>
                <a:off x="909" y="1584"/>
                <a:ext cx="4" cy="4"/>
              </a:xfrm>
              <a:custGeom>
                <a:avLst/>
                <a:gdLst>
                  <a:gd name="T0" fmla="*/ 1 w 3"/>
                  <a:gd name="T1" fmla="*/ 1 h 3"/>
                  <a:gd name="T2" fmla="*/ 1 w 3"/>
                  <a:gd name="T3" fmla="*/ 3 h 3"/>
                  <a:gd name="T4" fmla="*/ 2 w 3"/>
                  <a:gd name="T5" fmla="*/ 2 h 3"/>
                  <a:gd name="T6" fmla="*/ 1 w 3"/>
                  <a:gd name="T7" fmla="*/ 1 h 3"/>
                </a:gdLst>
                <a:ahLst/>
                <a:cxnLst>
                  <a:cxn ang="0">
                    <a:pos x="T0" y="T1"/>
                  </a:cxn>
                  <a:cxn ang="0">
                    <a:pos x="T2" y="T3"/>
                  </a:cxn>
                  <a:cxn ang="0">
                    <a:pos x="T4" y="T5"/>
                  </a:cxn>
                  <a:cxn ang="0">
                    <a:pos x="T6" y="T7"/>
                  </a:cxn>
                </a:cxnLst>
                <a:rect l="0" t="0" r="r" b="b"/>
                <a:pathLst>
                  <a:path w="3" h="3">
                    <a:moveTo>
                      <a:pt x="1" y="1"/>
                    </a:moveTo>
                    <a:cubicBezTo>
                      <a:pt x="1" y="1"/>
                      <a:pt x="0" y="2"/>
                      <a:pt x="1" y="3"/>
                    </a:cubicBezTo>
                    <a:cubicBezTo>
                      <a:pt x="2" y="3"/>
                      <a:pt x="3" y="3"/>
                      <a:pt x="2" y="2"/>
                    </a:cubicBezTo>
                    <a:cubicBezTo>
                      <a:pt x="2" y="0"/>
                      <a:pt x="1"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87" name="Freeform 270">
                <a:extLst>
                  <a:ext uri="{FF2B5EF4-FFF2-40B4-BE49-F238E27FC236}">
                    <a16:creationId xmlns:a16="http://schemas.microsoft.com/office/drawing/2014/main" id="{05784B28-B3A8-41A2-806F-E964E7A33119}"/>
                  </a:ext>
                </a:extLst>
              </p:cNvPr>
              <p:cNvSpPr>
                <a:spLocks/>
              </p:cNvSpPr>
              <p:nvPr/>
            </p:nvSpPr>
            <p:spPr bwMode="auto">
              <a:xfrm>
                <a:off x="964" y="1597"/>
                <a:ext cx="4" cy="5"/>
              </a:xfrm>
              <a:custGeom>
                <a:avLst/>
                <a:gdLst>
                  <a:gd name="T0" fmla="*/ 0 w 3"/>
                  <a:gd name="T1" fmla="*/ 1 h 4"/>
                  <a:gd name="T2" fmla="*/ 1 w 3"/>
                  <a:gd name="T3" fmla="*/ 4 h 4"/>
                  <a:gd name="T4" fmla="*/ 2 w 3"/>
                  <a:gd name="T5" fmla="*/ 2 h 4"/>
                  <a:gd name="T6" fmla="*/ 0 w 3"/>
                  <a:gd name="T7" fmla="*/ 1 h 4"/>
                </a:gdLst>
                <a:ahLst/>
                <a:cxnLst>
                  <a:cxn ang="0">
                    <a:pos x="T0" y="T1"/>
                  </a:cxn>
                  <a:cxn ang="0">
                    <a:pos x="T2" y="T3"/>
                  </a:cxn>
                  <a:cxn ang="0">
                    <a:pos x="T4" y="T5"/>
                  </a:cxn>
                  <a:cxn ang="0">
                    <a:pos x="T6" y="T7"/>
                  </a:cxn>
                </a:cxnLst>
                <a:rect l="0" t="0" r="r" b="b"/>
                <a:pathLst>
                  <a:path w="3" h="4">
                    <a:moveTo>
                      <a:pt x="0" y="1"/>
                    </a:moveTo>
                    <a:cubicBezTo>
                      <a:pt x="0" y="1"/>
                      <a:pt x="0" y="4"/>
                      <a:pt x="1" y="4"/>
                    </a:cubicBezTo>
                    <a:cubicBezTo>
                      <a:pt x="3" y="4"/>
                      <a:pt x="3" y="3"/>
                      <a:pt x="2" y="2"/>
                    </a:cubicBezTo>
                    <a:cubicBezTo>
                      <a:pt x="1" y="2"/>
                      <a:pt x="0"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88" name="Freeform 271">
                <a:extLst>
                  <a:ext uri="{FF2B5EF4-FFF2-40B4-BE49-F238E27FC236}">
                    <a16:creationId xmlns:a16="http://schemas.microsoft.com/office/drawing/2014/main" id="{29D45FDA-F008-44E9-AF12-079B4EDDFD20}"/>
                  </a:ext>
                </a:extLst>
              </p:cNvPr>
              <p:cNvSpPr>
                <a:spLocks/>
              </p:cNvSpPr>
              <p:nvPr/>
            </p:nvSpPr>
            <p:spPr bwMode="auto">
              <a:xfrm>
                <a:off x="964" y="1595"/>
                <a:ext cx="6" cy="4"/>
              </a:xfrm>
              <a:custGeom>
                <a:avLst/>
                <a:gdLst>
                  <a:gd name="T0" fmla="*/ 0 w 4"/>
                  <a:gd name="T1" fmla="*/ 0 h 3"/>
                  <a:gd name="T2" fmla="*/ 3 w 4"/>
                  <a:gd name="T3" fmla="*/ 3 h 3"/>
                  <a:gd name="T4" fmla="*/ 0 w 4"/>
                  <a:gd name="T5" fmla="*/ 0 h 3"/>
                </a:gdLst>
                <a:ahLst/>
                <a:cxnLst>
                  <a:cxn ang="0">
                    <a:pos x="T0" y="T1"/>
                  </a:cxn>
                  <a:cxn ang="0">
                    <a:pos x="T2" y="T3"/>
                  </a:cxn>
                  <a:cxn ang="0">
                    <a:pos x="T4" y="T5"/>
                  </a:cxn>
                </a:cxnLst>
                <a:rect l="0" t="0" r="r" b="b"/>
                <a:pathLst>
                  <a:path w="4" h="3">
                    <a:moveTo>
                      <a:pt x="0" y="0"/>
                    </a:moveTo>
                    <a:cubicBezTo>
                      <a:pt x="0" y="0"/>
                      <a:pt x="2" y="3"/>
                      <a:pt x="3" y="3"/>
                    </a:cubicBezTo>
                    <a:cubicBezTo>
                      <a:pt x="4" y="3"/>
                      <a:pt x="1" y="1"/>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89" name="Freeform 272">
                <a:extLst>
                  <a:ext uri="{FF2B5EF4-FFF2-40B4-BE49-F238E27FC236}">
                    <a16:creationId xmlns:a16="http://schemas.microsoft.com/office/drawing/2014/main" id="{9F8E7130-34BC-44D9-A72B-20755C8FB14E}"/>
                  </a:ext>
                </a:extLst>
              </p:cNvPr>
              <p:cNvSpPr>
                <a:spLocks/>
              </p:cNvSpPr>
              <p:nvPr/>
            </p:nvSpPr>
            <p:spPr bwMode="auto">
              <a:xfrm>
                <a:off x="942" y="1573"/>
                <a:ext cx="10" cy="10"/>
              </a:xfrm>
              <a:custGeom>
                <a:avLst/>
                <a:gdLst>
                  <a:gd name="T0" fmla="*/ 7 w 7"/>
                  <a:gd name="T1" fmla="*/ 6 h 7"/>
                  <a:gd name="T2" fmla="*/ 5 w 7"/>
                  <a:gd name="T3" fmla="*/ 3 h 7"/>
                  <a:gd name="T4" fmla="*/ 1 w 7"/>
                  <a:gd name="T5" fmla="*/ 1 h 7"/>
                  <a:gd name="T6" fmla="*/ 0 w 7"/>
                  <a:gd name="T7" fmla="*/ 1 h 7"/>
                  <a:gd name="T8" fmla="*/ 3 w 7"/>
                  <a:gd name="T9" fmla="*/ 4 h 7"/>
                  <a:gd name="T10" fmla="*/ 7 w 7"/>
                  <a:gd name="T11" fmla="*/ 6 h 7"/>
                </a:gdLst>
                <a:ahLst/>
                <a:cxnLst>
                  <a:cxn ang="0">
                    <a:pos x="T0" y="T1"/>
                  </a:cxn>
                  <a:cxn ang="0">
                    <a:pos x="T2" y="T3"/>
                  </a:cxn>
                  <a:cxn ang="0">
                    <a:pos x="T4" y="T5"/>
                  </a:cxn>
                  <a:cxn ang="0">
                    <a:pos x="T6" y="T7"/>
                  </a:cxn>
                  <a:cxn ang="0">
                    <a:pos x="T8" y="T9"/>
                  </a:cxn>
                  <a:cxn ang="0">
                    <a:pos x="T10" y="T11"/>
                  </a:cxn>
                </a:cxnLst>
                <a:rect l="0" t="0" r="r" b="b"/>
                <a:pathLst>
                  <a:path w="7" h="7">
                    <a:moveTo>
                      <a:pt x="7" y="6"/>
                    </a:moveTo>
                    <a:cubicBezTo>
                      <a:pt x="7" y="6"/>
                      <a:pt x="7" y="5"/>
                      <a:pt x="5" y="3"/>
                    </a:cubicBezTo>
                    <a:cubicBezTo>
                      <a:pt x="3" y="2"/>
                      <a:pt x="1" y="2"/>
                      <a:pt x="1" y="1"/>
                    </a:cubicBezTo>
                    <a:cubicBezTo>
                      <a:pt x="1" y="1"/>
                      <a:pt x="0" y="0"/>
                      <a:pt x="0" y="1"/>
                    </a:cubicBezTo>
                    <a:cubicBezTo>
                      <a:pt x="0" y="3"/>
                      <a:pt x="2" y="3"/>
                      <a:pt x="3" y="4"/>
                    </a:cubicBezTo>
                    <a:cubicBezTo>
                      <a:pt x="5" y="5"/>
                      <a:pt x="7" y="7"/>
                      <a:pt x="7"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90" name="Freeform 273">
                <a:extLst>
                  <a:ext uri="{FF2B5EF4-FFF2-40B4-BE49-F238E27FC236}">
                    <a16:creationId xmlns:a16="http://schemas.microsoft.com/office/drawing/2014/main" id="{FCE5DFED-AD84-4AB3-B2BF-711CDE71824E}"/>
                  </a:ext>
                </a:extLst>
              </p:cNvPr>
              <p:cNvSpPr>
                <a:spLocks/>
              </p:cNvSpPr>
              <p:nvPr/>
            </p:nvSpPr>
            <p:spPr bwMode="auto">
              <a:xfrm>
                <a:off x="935" y="1561"/>
                <a:ext cx="2" cy="7"/>
              </a:xfrm>
              <a:custGeom>
                <a:avLst/>
                <a:gdLst>
                  <a:gd name="T0" fmla="*/ 1 w 1"/>
                  <a:gd name="T1" fmla="*/ 4 h 5"/>
                  <a:gd name="T2" fmla="*/ 0 w 1"/>
                  <a:gd name="T3" fmla="*/ 3 h 5"/>
                  <a:gd name="T4" fmla="*/ 1 w 1"/>
                  <a:gd name="T5" fmla="*/ 4 h 5"/>
                </a:gdLst>
                <a:ahLst/>
                <a:cxnLst>
                  <a:cxn ang="0">
                    <a:pos x="T0" y="T1"/>
                  </a:cxn>
                  <a:cxn ang="0">
                    <a:pos x="T2" y="T3"/>
                  </a:cxn>
                  <a:cxn ang="0">
                    <a:pos x="T4" y="T5"/>
                  </a:cxn>
                </a:cxnLst>
                <a:rect l="0" t="0" r="r" b="b"/>
                <a:pathLst>
                  <a:path w="1" h="5">
                    <a:moveTo>
                      <a:pt x="1" y="4"/>
                    </a:moveTo>
                    <a:cubicBezTo>
                      <a:pt x="1" y="3"/>
                      <a:pt x="0" y="0"/>
                      <a:pt x="0" y="3"/>
                    </a:cubicBezTo>
                    <a:cubicBezTo>
                      <a:pt x="0" y="3"/>
                      <a:pt x="0" y="5"/>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91" name="Freeform 274">
                <a:extLst>
                  <a:ext uri="{FF2B5EF4-FFF2-40B4-BE49-F238E27FC236}">
                    <a16:creationId xmlns:a16="http://schemas.microsoft.com/office/drawing/2014/main" id="{EEDF3E75-76F1-4279-B0FF-0F27CA27A4D5}"/>
                  </a:ext>
                </a:extLst>
              </p:cNvPr>
              <p:cNvSpPr>
                <a:spLocks/>
              </p:cNvSpPr>
              <p:nvPr/>
            </p:nvSpPr>
            <p:spPr bwMode="auto">
              <a:xfrm>
                <a:off x="927" y="1557"/>
                <a:ext cx="8" cy="12"/>
              </a:xfrm>
              <a:custGeom>
                <a:avLst/>
                <a:gdLst>
                  <a:gd name="T0" fmla="*/ 4 w 6"/>
                  <a:gd name="T1" fmla="*/ 6 h 9"/>
                  <a:gd name="T2" fmla="*/ 4 w 6"/>
                  <a:gd name="T3" fmla="*/ 2 h 9"/>
                  <a:gd name="T4" fmla="*/ 1 w 6"/>
                  <a:gd name="T5" fmla="*/ 1 h 9"/>
                  <a:gd name="T6" fmla="*/ 1 w 6"/>
                  <a:gd name="T7" fmla="*/ 4 h 9"/>
                  <a:gd name="T8" fmla="*/ 3 w 6"/>
                  <a:gd name="T9" fmla="*/ 6 h 9"/>
                  <a:gd name="T10" fmla="*/ 4 w 6"/>
                  <a:gd name="T11" fmla="*/ 6 h 9"/>
                </a:gdLst>
                <a:ahLst/>
                <a:cxnLst>
                  <a:cxn ang="0">
                    <a:pos x="T0" y="T1"/>
                  </a:cxn>
                  <a:cxn ang="0">
                    <a:pos x="T2" y="T3"/>
                  </a:cxn>
                  <a:cxn ang="0">
                    <a:pos x="T4" y="T5"/>
                  </a:cxn>
                  <a:cxn ang="0">
                    <a:pos x="T6" y="T7"/>
                  </a:cxn>
                  <a:cxn ang="0">
                    <a:pos x="T8" y="T9"/>
                  </a:cxn>
                  <a:cxn ang="0">
                    <a:pos x="T10" y="T11"/>
                  </a:cxn>
                </a:cxnLst>
                <a:rect l="0" t="0" r="r" b="b"/>
                <a:pathLst>
                  <a:path w="6" h="9">
                    <a:moveTo>
                      <a:pt x="4" y="6"/>
                    </a:moveTo>
                    <a:cubicBezTo>
                      <a:pt x="4" y="6"/>
                      <a:pt x="6" y="4"/>
                      <a:pt x="4" y="2"/>
                    </a:cubicBezTo>
                    <a:cubicBezTo>
                      <a:pt x="2" y="0"/>
                      <a:pt x="2" y="0"/>
                      <a:pt x="1" y="1"/>
                    </a:cubicBezTo>
                    <a:cubicBezTo>
                      <a:pt x="0" y="3"/>
                      <a:pt x="1" y="2"/>
                      <a:pt x="1" y="4"/>
                    </a:cubicBezTo>
                    <a:cubicBezTo>
                      <a:pt x="1" y="5"/>
                      <a:pt x="3" y="9"/>
                      <a:pt x="3" y="6"/>
                    </a:cubicBezTo>
                    <a:cubicBezTo>
                      <a:pt x="2" y="4"/>
                      <a:pt x="4" y="6"/>
                      <a:pt x="4"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92" name="Freeform 275">
                <a:extLst>
                  <a:ext uri="{FF2B5EF4-FFF2-40B4-BE49-F238E27FC236}">
                    <a16:creationId xmlns:a16="http://schemas.microsoft.com/office/drawing/2014/main" id="{4891D7A3-85C2-4FF6-BFD7-34E72D4FEE2B}"/>
                  </a:ext>
                </a:extLst>
              </p:cNvPr>
              <p:cNvSpPr>
                <a:spLocks/>
              </p:cNvSpPr>
              <p:nvPr/>
            </p:nvSpPr>
            <p:spPr bwMode="auto">
              <a:xfrm>
                <a:off x="901" y="1546"/>
                <a:ext cx="8" cy="5"/>
              </a:xfrm>
              <a:custGeom>
                <a:avLst/>
                <a:gdLst>
                  <a:gd name="T0" fmla="*/ 6 w 6"/>
                  <a:gd name="T1" fmla="*/ 2 h 4"/>
                  <a:gd name="T2" fmla="*/ 4 w 6"/>
                  <a:gd name="T3" fmla="*/ 1 h 4"/>
                  <a:gd name="T4" fmla="*/ 4 w 6"/>
                  <a:gd name="T5" fmla="*/ 4 h 4"/>
                  <a:gd name="T6" fmla="*/ 6 w 6"/>
                  <a:gd name="T7" fmla="*/ 2 h 4"/>
                </a:gdLst>
                <a:ahLst/>
                <a:cxnLst>
                  <a:cxn ang="0">
                    <a:pos x="T0" y="T1"/>
                  </a:cxn>
                  <a:cxn ang="0">
                    <a:pos x="T2" y="T3"/>
                  </a:cxn>
                  <a:cxn ang="0">
                    <a:pos x="T4" y="T5"/>
                  </a:cxn>
                  <a:cxn ang="0">
                    <a:pos x="T6" y="T7"/>
                  </a:cxn>
                </a:cxnLst>
                <a:rect l="0" t="0" r="r" b="b"/>
                <a:pathLst>
                  <a:path w="6" h="4">
                    <a:moveTo>
                      <a:pt x="6" y="2"/>
                    </a:moveTo>
                    <a:cubicBezTo>
                      <a:pt x="6" y="1"/>
                      <a:pt x="6" y="0"/>
                      <a:pt x="4" y="1"/>
                    </a:cubicBezTo>
                    <a:cubicBezTo>
                      <a:pt x="2" y="2"/>
                      <a:pt x="0" y="4"/>
                      <a:pt x="4" y="4"/>
                    </a:cubicBezTo>
                    <a:cubicBezTo>
                      <a:pt x="4" y="4"/>
                      <a:pt x="6" y="4"/>
                      <a:pt x="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93" name="Freeform 276">
                <a:extLst>
                  <a:ext uri="{FF2B5EF4-FFF2-40B4-BE49-F238E27FC236}">
                    <a16:creationId xmlns:a16="http://schemas.microsoft.com/office/drawing/2014/main" id="{10EFFDED-CD20-4782-9425-D38C5F9142C9}"/>
                  </a:ext>
                </a:extLst>
              </p:cNvPr>
              <p:cNvSpPr>
                <a:spLocks/>
              </p:cNvSpPr>
              <p:nvPr/>
            </p:nvSpPr>
            <p:spPr bwMode="auto">
              <a:xfrm>
                <a:off x="876" y="1502"/>
                <a:ext cx="13" cy="15"/>
              </a:xfrm>
              <a:custGeom>
                <a:avLst/>
                <a:gdLst>
                  <a:gd name="T0" fmla="*/ 1 w 10"/>
                  <a:gd name="T1" fmla="*/ 10 h 11"/>
                  <a:gd name="T2" fmla="*/ 5 w 10"/>
                  <a:gd name="T3" fmla="*/ 5 h 11"/>
                  <a:gd name="T4" fmla="*/ 8 w 10"/>
                  <a:gd name="T5" fmla="*/ 2 h 11"/>
                  <a:gd name="T6" fmla="*/ 6 w 10"/>
                  <a:gd name="T7" fmla="*/ 2 h 11"/>
                  <a:gd name="T8" fmla="*/ 0 w 10"/>
                  <a:gd name="T9" fmla="*/ 7 h 11"/>
                  <a:gd name="T10" fmla="*/ 1 w 10"/>
                  <a:gd name="T11" fmla="*/ 10 h 11"/>
                </a:gdLst>
                <a:ahLst/>
                <a:cxnLst>
                  <a:cxn ang="0">
                    <a:pos x="T0" y="T1"/>
                  </a:cxn>
                  <a:cxn ang="0">
                    <a:pos x="T2" y="T3"/>
                  </a:cxn>
                  <a:cxn ang="0">
                    <a:pos x="T4" y="T5"/>
                  </a:cxn>
                  <a:cxn ang="0">
                    <a:pos x="T6" y="T7"/>
                  </a:cxn>
                  <a:cxn ang="0">
                    <a:pos x="T8" y="T9"/>
                  </a:cxn>
                  <a:cxn ang="0">
                    <a:pos x="T10" y="T11"/>
                  </a:cxn>
                </a:cxnLst>
                <a:rect l="0" t="0" r="r" b="b"/>
                <a:pathLst>
                  <a:path w="10" h="11">
                    <a:moveTo>
                      <a:pt x="1" y="10"/>
                    </a:moveTo>
                    <a:cubicBezTo>
                      <a:pt x="3" y="8"/>
                      <a:pt x="3" y="7"/>
                      <a:pt x="5" y="5"/>
                    </a:cubicBezTo>
                    <a:cubicBezTo>
                      <a:pt x="6" y="4"/>
                      <a:pt x="8" y="2"/>
                      <a:pt x="8" y="2"/>
                    </a:cubicBezTo>
                    <a:cubicBezTo>
                      <a:pt x="8" y="2"/>
                      <a:pt x="10" y="0"/>
                      <a:pt x="6" y="2"/>
                    </a:cubicBezTo>
                    <a:cubicBezTo>
                      <a:pt x="3" y="5"/>
                      <a:pt x="1" y="5"/>
                      <a:pt x="0" y="7"/>
                    </a:cubicBezTo>
                    <a:cubicBezTo>
                      <a:pt x="0" y="9"/>
                      <a:pt x="0" y="11"/>
                      <a:pt x="1"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94" name="Freeform 277">
                <a:extLst>
                  <a:ext uri="{FF2B5EF4-FFF2-40B4-BE49-F238E27FC236}">
                    <a16:creationId xmlns:a16="http://schemas.microsoft.com/office/drawing/2014/main" id="{0070DEB4-100C-4250-AD1E-620F465385AA}"/>
                  </a:ext>
                </a:extLst>
              </p:cNvPr>
              <p:cNvSpPr>
                <a:spLocks/>
              </p:cNvSpPr>
              <p:nvPr/>
            </p:nvSpPr>
            <p:spPr bwMode="auto">
              <a:xfrm>
                <a:off x="870" y="1521"/>
                <a:ext cx="4" cy="11"/>
              </a:xfrm>
              <a:custGeom>
                <a:avLst/>
                <a:gdLst>
                  <a:gd name="T0" fmla="*/ 1 w 3"/>
                  <a:gd name="T1" fmla="*/ 1 h 8"/>
                  <a:gd name="T2" fmla="*/ 0 w 3"/>
                  <a:gd name="T3" fmla="*/ 5 h 8"/>
                  <a:gd name="T4" fmla="*/ 3 w 3"/>
                  <a:gd name="T5" fmla="*/ 5 h 8"/>
                  <a:gd name="T6" fmla="*/ 3 w 3"/>
                  <a:gd name="T7" fmla="*/ 2 h 8"/>
                  <a:gd name="T8" fmla="*/ 1 w 3"/>
                  <a:gd name="T9" fmla="*/ 1 h 8"/>
                </a:gdLst>
                <a:ahLst/>
                <a:cxnLst>
                  <a:cxn ang="0">
                    <a:pos x="T0" y="T1"/>
                  </a:cxn>
                  <a:cxn ang="0">
                    <a:pos x="T2" y="T3"/>
                  </a:cxn>
                  <a:cxn ang="0">
                    <a:pos x="T4" y="T5"/>
                  </a:cxn>
                  <a:cxn ang="0">
                    <a:pos x="T6" y="T7"/>
                  </a:cxn>
                  <a:cxn ang="0">
                    <a:pos x="T8" y="T9"/>
                  </a:cxn>
                </a:cxnLst>
                <a:rect l="0" t="0" r="r" b="b"/>
                <a:pathLst>
                  <a:path w="3" h="8">
                    <a:moveTo>
                      <a:pt x="1" y="1"/>
                    </a:moveTo>
                    <a:cubicBezTo>
                      <a:pt x="0" y="2"/>
                      <a:pt x="0" y="4"/>
                      <a:pt x="0" y="5"/>
                    </a:cubicBezTo>
                    <a:cubicBezTo>
                      <a:pt x="1" y="5"/>
                      <a:pt x="3" y="8"/>
                      <a:pt x="3" y="5"/>
                    </a:cubicBezTo>
                    <a:cubicBezTo>
                      <a:pt x="3" y="3"/>
                      <a:pt x="3" y="2"/>
                      <a:pt x="3" y="2"/>
                    </a:cubicBezTo>
                    <a:cubicBezTo>
                      <a:pt x="3" y="2"/>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95" name="Freeform 278">
                <a:extLst>
                  <a:ext uri="{FF2B5EF4-FFF2-40B4-BE49-F238E27FC236}">
                    <a16:creationId xmlns:a16="http://schemas.microsoft.com/office/drawing/2014/main" id="{80986699-1BB1-488E-994B-E602F300DC6C}"/>
                  </a:ext>
                </a:extLst>
              </p:cNvPr>
              <p:cNvSpPr>
                <a:spLocks/>
              </p:cNvSpPr>
              <p:nvPr/>
            </p:nvSpPr>
            <p:spPr bwMode="auto">
              <a:xfrm>
                <a:off x="866" y="1513"/>
                <a:ext cx="8" cy="11"/>
              </a:xfrm>
              <a:custGeom>
                <a:avLst/>
                <a:gdLst>
                  <a:gd name="T0" fmla="*/ 5 w 6"/>
                  <a:gd name="T1" fmla="*/ 0 h 8"/>
                  <a:gd name="T2" fmla="*/ 2 w 6"/>
                  <a:gd name="T3" fmla="*/ 3 h 8"/>
                  <a:gd name="T4" fmla="*/ 3 w 6"/>
                  <a:gd name="T5" fmla="*/ 5 h 8"/>
                  <a:gd name="T6" fmla="*/ 5 w 6"/>
                  <a:gd name="T7" fmla="*/ 5 h 8"/>
                  <a:gd name="T8" fmla="*/ 5 w 6"/>
                  <a:gd name="T9" fmla="*/ 0 h 8"/>
                </a:gdLst>
                <a:ahLst/>
                <a:cxnLst>
                  <a:cxn ang="0">
                    <a:pos x="T0" y="T1"/>
                  </a:cxn>
                  <a:cxn ang="0">
                    <a:pos x="T2" y="T3"/>
                  </a:cxn>
                  <a:cxn ang="0">
                    <a:pos x="T4" y="T5"/>
                  </a:cxn>
                  <a:cxn ang="0">
                    <a:pos x="T6" y="T7"/>
                  </a:cxn>
                  <a:cxn ang="0">
                    <a:pos x="T8" y="T9"/>
                  </a:cxn>
                </a:cxnLst>
                <a:rect l="0" t="0" r="r" b="b"/>
                <a:pathLst>
                  <a:path w="6" h="8">
                    <a:moveTo>
                      <a:pt x="5" y="0"/>
                    </a:moveTo>
                    <a:cubicBezTo>
                      <a:pt x="4" y="0"/>
                      <a:pt x="0" y="2"/>
                      <a:pt x="2" y="3"/>
                    </a:cubicBezTo>
                    <a:cubicBezTo>
                      <a:pt x="3" y="5"/>
                      <a:pt x="3" y="5"/>
                      <a:pt x="3" y="5"/>
                    </a:cubicBezTo>
                    <a:cubicBezTo>
                      <a:pt x="3" y="5"/>
                      <a:pt x="4" y="8"/>
                      <a:pt x="5" y="5"/>
                    </a:cubicBezTo>
                    <a:cubicBezTo>
                      <a:pt x="6" y="2"/>
                      <a:pt x="6" y="0"/>
                      <a:pt x="5"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96" name="Freeform 279">
                <a:extLst>
                  <a:ext uri="{FF2B5EF4-FFF2-40B4-BE49-F238E27FC236}">
                    <a16:creationId xmlns:a16="http://schemas.microsoft.com/office/drawing/2014/main" id="{4B0CB622-42FB-48B6-BC68-F91998DFD7CA}"/>
                  </a:ext>
                </a:extLst>
              </p:cNvPr>
              <p:cNvSpPr>
                <a:spLocks/>
              </p:cNvSpPr>
              <p:nvPr/>
            </p:nvSpPr>
            <p:spPr bwMode="auto">
              <a:xfrm>
                <a:off x="867" y="1509"/>
                <a:ext cx="3" cy="4"/>
              </a:xfrm>
              <a:custGeom>
                <a:avLst/>
                <a:gdLst>
                  <a:gd name="T0" fmla="*/ 1 w 2"/>
                  <a:gd name="T1" fmla="*/ 1 h 3"/>
                  <a:gd name="T2" fmla="*/ 0 w 2"/>
                  <a:gd name="T3" fmla="*/ 3 h 3"/>
                  <a:gd name="T4" fmla="*/ 2 w 2"/>
                  <a:gd name="T5" fmla="*/ 2 h 3"/>
                  <a:gd name="T6" fmla="*/ 1 w 2"/>
                  <a:gd name="T7" fmla="*/ 1 h 3"/>
                </a:gdLst>
                <a:ahLst/>
                <a:cxnLst>
                  <a:cxn ang="0">
                    <a:pos x="T0" y="T1"/>
                  </a:cxn>
                  <a:cxn ang="0">
                    <a:pos x="T2" y="T3"/>
                  </a:cxn>
                  <a:cxn ang="0">
                    <a:pos x="T4" y="T5"/>
                  </a:cxn>
                  <a:cxn ang="0">
                    <a:pos x="T6" y="T7"/>
                  </a:cxn>
                </a:cxnLst>
                <a:rect l="0" t="0" r="r" b="b"/>
                <a:pathLst>
                  <a:path w="2" h="3">
                    <a:moveTo>
                      <a:pt x="1" y="1"/>
                    </a:moveTo>
                    <a:cubicBezTo>
                      <a:pt x="0" y="1"/>
                      <a:pt x="0" y="3"/>
                      <a:pt x="0" y="3"/>
                    </a:cubicBezTo>
                    <a:cubicBezTo>
                      <a:pt x="0" y="3"/>
                      <a:pt x="1" y="3"/>
                      <a:pt x="2" y="2"/>
                    </a:cubicBezTo>
                    <a:cubicBezTo>
                      <a:pt x="2" y="0"/>
                      <a:pt x="1"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97" name="Freeform 280">
                <a:extLst>
                  <a:ext uri="{FF2B5EF4-FFF2-40B4-BE49-F238E27FC236}">
                    <a16:creationId xmlns:a16="http://schemas.microsoft.com/office/drawing/2014/main" id="{9B44ADB4-B93E-4396-A40F-6B8477D1A915}"/>
                  </a:ext>
                </a:extLst>
              </p:cNvPr>
              <p:cNvSpPr>
                <a:spLocks/>
              </p:cNvSpPr>
              <p:nvPr/>
            </p:nvSpPr>
            <p:spPr bwMode="auto">
              <a:xfrm>
                <a:off x="822" y="1432"/>
                <a:ext cx="8" cy="4"/>
              </a:xfrm>
              <a:custGeom>
                <a:avLst/>
                <a:gdLst>
                  <a:gd name="T0" fmla="*/ 1 w 6"/>
                  <a:gd name="T1" fmla="*/ 3 h 3"/>
                  <a:gd name="T2" fmla="*/ 4 w 6"/>
                  <a:gd name="T3" fmla="*/ 2 h 3"/>
                  <a:gd name="T4" fmla="*/ 4 w 6"/>
                  <a:gd name="T5" fmla="*/ 1 h 3"/>
                  <a:gd name="T6" fmla="*/ 1 w 6"/>
                  <a:gd name="T7" fmla="*/ 3 h 3"/>
                </a:gdLst>
                <a:ahLst/>
                <a:cxnLst>
                  <a:cxn ang="0">
                    <a:pos x="T0" y="T1"/>
                  </a:cxn>
                  <a:cxn ang="0">
                    <a:pos x="T2" y="T3"/>
                  </a:cxn>
                  <a:cxn ang="0">
                    <a:pos x="T4" y="T5"/>
                  </a:cxn>
                  <a:cxn ang="0">
                    <a:pos x="T6" y="T7"/>
                  </a:cxn>
                </a:cxnLst>
                <a:rect l="0" t="0" r="r" b="b"/>
                <a:pathLst>
                  <a:path w="6" h="3">
                    <a:moveTo>
                      <a:pt x="1" y="3"/>
                    </a:moveTo>
                    <a:cubicBezTo>
                      <a:pt x="1" y="3"/>
                      <a:pt x="3" y="3"/>
                      <a:pt x="4" y="2"/>
                    </a:cubicBezTo>
                    <a:cubicBezTo>
                      <a:pt x="5" y="1"/>
                      <a:pt x="6" y="0"/>
                      <a:pt x="4" y="1"/>
                    </a:cubicBezTo>
                    <a:cubicBezTo>
                      <a:pt x="1" y="2"/>
                      <a:pt x="0" y="3"/>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98" name="Freeform 281">
                <a:extLst>
                  <a:ext uri="{FF2B5EF4-FFF2-40B4-BE49-F238E27FC236}">
                    <a16:creationId xmlns:a16="http://schemas.microsoft.com/office/drawing/2014/main" id="{294379BD-2C4C-4BA5-A5DF-46E734F16424}"/>
                  </a:ext>
                </a:extLst>
              </p:cNvPr>
              <p:cNvSpPr>
                <a:spLocks/>
              </p:cNvSpPr>
              <p:nvPr/>
            </p:nvSpPr>
            <p:spPr bwMode="auto">
              <a:xfrm>
                <a:off x="766" y="1455"/>
                <a:ext cx="32" cy="29"/>
              </a:xfrm>
              <a:custGeom>
                <a:avLst/>
                <a:gdLst>
                  <a:gd name="T0" fmla="*/ 14 w 23"/>
                  <a:gd name="T1" fmla="*/ 20 h 21"/>
                  <a:gd name="T2" fmla="*/ 14 w 23"/>
                  <a:gd name="T3" fmla="*/ 19 h 21"/>
                  <a:gd name="T4" fmla="*/ 18 w 23"/>
                  <a:gd name="T5" fmla="*/ 18 h 21"/>
                  <a:gd name="T6" fmla="*/ 19 w 23"/>
                  <a:gd name="T7" fmla="*/ 10 h 21"/>
                  <a:gd name="T8" fmla="*/ 22 w 23"/>
                  <a:gd name="T9" fmla="*/ 3 h 21"/>
                  <a:gd name="T10" fmla="*/ 21 w 23"/>
                  <a:gd name="T11" fmla="*/ 1 h 21"/>
                  <a:gd name="T12" fmla="*/ 17 w 23"/>
                  <a:gd name="T13" fmla="*/ 3 h 21"/>
                  <a:gd name="T14" fmla="*/ 16 w 23"/>
                  <a:gd name="T15" fmla="*/ 2 h 21"/>
                  <a:gd name="T16" fmla="*/ 16 w 23"/>
                  <a:gd name="T17" fmla="*/ 3 h 21"/>
                  <a:gd name="T18" fmla="*/ 15 w 23"/>
                  <a:gd name="T19" fmla="*/ 9 h 21"/>
                  <a:gd name="T20" fmla="*/ 11 w 23"/>
                  <a:gd name="T21" fmla="*/ 11 h 21"/>
                  <a:gd name="T22" fmla="*/ 14 w 23"/>
                  <a:gd name="T23" fmla="*/ 8 h 21"/>
                  <a:gd name="T24" fmla="*/ 15 w 23"/>
                  <a:gd name="T25" fmla="*/ 2 h 21"/>
                  <a:gd name="T26" fmla="*/ 11 w 23"/>
                  <a:gd name="T27" fmla="*/ 2 h 21"/>
                  <a:gd name="T28" fmla="*/ 9 w 23"/>
                  <a:gd name="T29" fmla="*/ 1 h 21"/>
                  <a:gd name="T30" fmla="*/ 7 w 23"/>
                  <a:gd name="T31" fmla="*/ 1 h 21"/>
                  <a:gd name="T32" fmla="*/ 3 w 23"/>
                  <a:gd name="T33" fmla="*/ 0 h 21"/>
                  <a:gd name="T34" fmla="*/ 2 w 23"/>
                  <a:gd name="T35" fmla="*/ 1 h 21"/>
                  <a:gd name="T36" fmla="*/ 2 w 23"/>
                  <a:gd name="T37" fmla="*/ 3 h 21"/>
                  <a:gd name="T38" fmla="*/ 1 w 23"/>
                  <a:gd name="T39" fmla="*/ 4 h 21"/>
                  <a:gd name="T40" fmla="*/ 3 w 23"/>
                  <a:gd name="T41" fmla="*/ 8 h 21"/>
                  <a:gd name="T42" fmla="*/ 4 w 23"/>
                  <a:gd name="T43" fmla="*/ 11 h 21"/>
                  <a:gd name="T44" fmla="*/ 10 w 23"/>
                  <a:gd name="T45" fmla="*/ 16 h 21"/>
                  <a:gd name="T46" fmla="*/ 11 w 23"/>
                  <a:gd name="T47" fmla="*/ 17 h 21"/>
                  <a:gd name="T48" fmla="*/ 9 w 23"/>
                  <a:gd name="T49" fmla="*/ 16 h 21"/>
                  <a:gd name="T50" fmla="*/ 8 w 23"/>
                  <a:gd name="T51" fmla="*/ 17 h 21"/>
                  <a:gd name="T52" fmla="*/ 9 w 23"/>
                  <a:gd name="T53" fmla="*/ 17 h 21"/>
                  <a:gd name="T54" fmla="*/ 9 w 23"/>
                  <a:gd name="T55" fmla="*/ 19 h 21"/>
                  <a:gd name="T56" fmla="*/ 14 w 23"/>
                  <a:gd name="T57"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0"/>
                    </a:moveTo>
                    <a:cubicBezTo>
                      <a:pt x="15" y="20"/>
                      <a:pt x="15" y="19"/>
                      <a:pt x="14" y="19"/>
                    </a:cubicBezTo>
                    <a:cubicBezTo>
                      <a:pt x="13" y="19"/>
                      <a:pt x="15" y="19"/>
                      <a:pt x="18" y="18"/>
                    </a:cubicBezTo>
                    <a:cubicBezTo>
                      <a:pt x="20" y="17"/>
                      <a:pt x="19" y="12"/>
                      <a:pt x="19" y="10"/>
                    </a:cubicBezTo>
                    <a:cubicBezTo>
                      <a:pt x="19" y="8"/>
                      <a:pt x="21" y="5"/>
                      <a:pt x="22" y="3"/>
                    </a:cubicBezTo>
                    <a:cubicBezTo>
                      <a:pt x="23" y="0"/>
                      <a:pt x="22" y="0"/>
                      <a:pt x="21" y="1"/>
                    </a:cubicBezTo>
                    <a:cubicBezTo>
                      <a:pt x="21" y="2"/>
                      <a:pt x="19" y="3"/>
                      <a:pt x="17" y="3"/>
                    </a:cubicBezTo>
                    <a:cubicBezTo>
                      <a:pt x="16" y="3"/>
                      <a:pt x="16" y="3"/>
                      <a:pt x="16" y="2"/>
                    </a:cubicBezTo>
                    <a:cubicBezTo>
                      <a:pt x="16" y="3"/>
                      <a:pt x="16" y="3"/>
                      <a:pt x="16" y="3"/>
                    </a:cubicBezTo>
                    <a:cubicBezTo>
                      <a:pt x="17" y="5"/>
                      <a:pt x="16" y="6"/>
                      <a:pt x="15" y="9"/>
                    </a:cubicBezTo>
                    <a:cubicBezTo>
                      <a:pt x="14" y="11"/>
                      <a:pt x="13" y="11"/>
                      <a:pt x="11" y="11"/>
                    </a:cubicBezTo>
                    <a:cubicBezTo>
                      <a:pt x="10" y="11"/>
                      <a:pt x="12" y="9"/>
                      <a:pt x="14" y="8"/>
                    </a:cubicBezTo>
                    <a:cubicBezTo>
                      <a:pt x="16" y="7"/>
                      <a:pt x="16" y="5"/>
                      <a:pt x="15" y="2"/>
                    </a:cubicBezTo>
                    <a:cubicBezTo>
                      <a:pt x="14" y="0"/>
                      <a:pt x="12" y="1"/>
                      <a:pt x="11" y="2"/>
                    </a:cubicBezTo>
                    <a:cubicBezTo>
                      <a:pt x="10" y="2"/>
                      <a:pt x="10" y="2"/>
                      <a:pt x="9" y="1"/>
                    </a:cubicBezTo>
                    <a:cubicBezTo>
                      <a:pt x="9" y="0"/>
                      <a:pt x="8" y="0"/>
                      <a:pt x="7" y="1"/>
                    </a:cubicBezTo>
                    <a:cubicBezTo>
                      <a:pt x="6" y="1"/>
                      <a:pt x="4" y="0"/>
                      <a:pt x="3" y="0"/>
                    </a:cubicBezTo>
                    <a:cubicBezTo>
                      <a:pt x="1" y="0"/>
                      <a:pt x="2" y="1"/>
                      <a:pt x="2" y="1"/>
                    </a:cubicBezTo>
                    <a:cubicBezTo>
                      <a:pt x="3" y="2"/>
                      <a:pt x="3" y="2"/>
                      <a:pt x="2" y="3"/>
                    </a:cubicBezTo>
                    <a:cubicBezTo>
                      <a:pt x="2" y="3"/>
                      <a:pt x="1" y="4"/>
                      <a:pt x="1" y="4"/>
                    </a:cubicBezTo>
                    <a:cubicBezTo>
                      <a:pt x="0" y="10"/>
                      <a:pt x="5" y="6"/>
                      <a:pt x="3" y="8"/>
                    </a:cubicBezTo>
                    <a:cubicBezTo>
                      <a:pt x="2" y="10"/>
                      <a:pt x="5" y="11"/>
                      <a:pt x="4" y="11"/>
                    </a:cubicBezTo>
                    <a:cubicBezTo>
                      <a:pt x="2" y="12"/>
                      <a:pt x="8" y="15"/>
                      <a:pt x="10" y="16"/>
                    </a:cubicBezTo>
                    <a:cubicBezTo>
                      <a:pt x="11" y="16"/>
                      <a:pt x="11" y="17"/>
                      <a:pt x="11" y="17"/>
                    </a:cubicBezTo>
                    <a:cubicBezTo>
                      <a:pt x="10" y="16"/>
                      <a:pt x="11" y="16"/>
                      <a:pt x="9" y="16"/>
                    </a:cubicBezTo>
                    <a:cubicBezTo>
                      <a:pt x="7" y="16"/>
                      <a:pt x="7" y="17"/>
                      <a:pt x="8" y="17"/>
                    </a:cubicBezTo>
                    <a:cubicBezTo>
                      <a:pt x="9" y="16"/>
                      <a:pt x="9" y="17"/>
                      <a:pt x="9" y="17"/>
                    </a:cubicBezTo>
                    <a:cubicBezTo>
                      <a:pt x="8" y="18"/>
                      <a:pt x="7" y="17"/>
                      <a:pt x="9" y="19"/>
                    </a:cubicBezTo>
                    <a:cubicBezTo>
                      <a:pt x="10" y="21"/>
                      <a:pt x="13" y="20"/>
                      <a:pt x="14" y="2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99" name="Freeform 282">
                <a:extLst>
                  <a:ext uri="{FF2B5EF4-FFF2-40B4-BE49-F238E27FC236}">
                    <a16:creationId xmlns:a16="http://schemas.microsoft.com/office/drawing/2014/main" id="{78B8E38E-43EC-41B2-B5C3-287D0DF265AD}"/>
                  </a:ext>
                </a:extLst>
              </p:cNvPr>
              <p:cNvSpPr>
                <a:spLocks/>
              </p:cNvSpPr>
              <p:nvPr/>
            </p:nvSpPr>
            <p:spPr bwMode="auto">
              <a:xfrm>
                <a:off x="777" y="1478"/>
                <a:ext cx="34" cy="33"/>
              </a:xfrm>
              <a:custGeom>
                <a:avLst/>
                <a:gdLst>
                  <a:gd name="T0" fmla="*/ 21 w 24"/>
                  <a:gd name="T1" fmla="*/ 20 h 24"/>
                  <a:gd name="T2" fmla="*/ 19 w 24"/>
                  <a:gd name="T3" fmla="*/ 18 h 24"/>
                  <a:gd name="T4" fmla="*/ 13 w 24"/>
                  <a:gd name="T5" fmla="*/ 12 h 24"/>
                  <a:gd name="T6" fmla="*/ 14 w 24"/>
                  <a:gd name="T7" fmla="*/ 11 h 24"/>
                  <a:gd name="T8" fmla="*/ 11 w 24"/>
                  <a:gd name="T9" fmla="*/ 9 h 24"/>
                  <a:gd name="T10" fmla="*/ 10 w 24"/>
                  <a:gd name="T11" fmla="*/ 7 h 24"/>
                  <a:gd name="T12" fmla="*/ 11 w 24"/>
                  <a:gd name="T13" fmla="*/ 5 h 24"/>
                  <a:gd name="T14" fmla="*/ 13 w 24"/>
                  <a:gd name="T15" fmla="*/ 2 h 24"/>
                  <a:gd name="T16" fmla="*/ 9 w 24"/>
                  <a:gd name="T17" fmla="*/ 3 h 24"/>
                  <a:gd name="T18" fmla="*/ 2 w 24"/>
                  <a:gd name="T19" fmla="*/ 4 h 24"/>
                  <a:gd name="T20" fmla="*/ 3 w 24"/>
                  <a:gd name="T21" fmla="*/ 5 h 24"/>
                  <a:gd name="T22" fmla="*/ 7 w 24"/>
                  <a:gd name="T23" fmla="*/ 6 h 24"/>
                  <a:gd name="T24" fmla="*/ 5 w 24"/>
                  <a:gd name="T25" fmla="*/ 7 h 24"/>
                  <a:gd name="T26" fmla="*/ 7 w 24"/>
                  <a:gd name="T27" fmla="*/ 10 h 24"/>
                  <a:gd name="T28" fmla="*/ 8 w 24"/>
                  <a:gd name="T29" fmla="*/ 11 h 24"/>
                  <a:gd name="T30" fmla="*/ 9 w 24"/>
                  <a:gd name="T31" fmla="*/ 10 h 24"/>
                  <a:gd name="T32" fmla="*/ 9 w 24"/>
                  <a:gd name="T33" fmla="*/ 11 h 24"/>
                  <a:gd name="T34" fmla="*/ 10 w 24"/>
                  <a:gd name="T35" fmla="*/ 13 h 24"/>
                  <a:gd name="T36" fmla="*/ 14 w 24"/>
                  <a:gd name="T37" fmla="*/ 16 h 24"/>
                  <a:gd name="T38" fmla="*/ 17 w 24"/>
                  <a:gd name="T39" fmla="*/ 20 h 24"/>
                  <a:gd name="T40" fmla="*/ 20 w 24"/>
                  <a:gd name="T41" fmla="*/ 23 h 24"/>
                  <a:gd name="T42" fmla="*/ 21 w 24"/>
                  <a:gd name="T43" fmla="*/ 22 h 24"/>
                  <a:gd name="T44" fmla="*/ 22 w 24"/>
                  <a:gd name="T45" fmla="*/ 23 h 24"/>
                  <a:gd name="T46" fmla="*/ 23 w 24"/>
                  <a:gd name="T47" fmla="*/ 23 h 24"/>
                  <a:gd name="T48" fmla="*/ 21 w 24"/>
                  <a:gd name="T4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24">
                    <a:moveTo>
                      <a:pt x="21" y="20"/>
                    </a:moveTo>
                    <a:cubicBezTo>
                      <a:pt x="20" y="19"/>
                      <a:pt x="20" y="19"/>
                      <a:pt x="19" y="18"/>
                    </a:cubicBezTo>
                    <a:cubicBezTo>
                      <a:pt x="17" y="17"/>
                      <a:pt x="15" y="14"/>
                      <a:pt x="13" y="12"/>
                    </a:cubicBezTo>
                    <a:cubicBezTo>
                      <a:pt x="11" y="11"/>
                      <a:pt x="12" y="11"/>
                      <a:pt x="14" y="11"/>
                    </a:cubicBezTo>
                    <a:cubicBezTo>
                      <a:pt x="16" y="10"/>
                      <a:pt x="12" y="10"/>
                      <a:pt x="11" y="9"/>
                    </a:cubicBezTo>
                    <a:cubicBezTo>
                      <a:pt x="9" y="8"/>
                      <a:pt x="11" y="8"/>
                      <a:pt x="10" y="7"/>
                    </a:cubicBezTo>
                    <a:cubicBezTo>
                      <a:pt x="10" y="6"/>
                      <a:pt x="9" y="5"/>
                      <a:pt x="11" y="5"/>
                    </a:cubicBezTo>
                    <a:cubicBezTo>
                      <a:pt x="13" y="5"/>
                      <a:pt x="13" y="3"/>
                      <a:pt x="13" y="2"/>
                    </a:cubicBezTo>
                    <a:cubicBezTo>
                      <a:pt x="12" y="0"/>
                      <a:pt x="10" y="3"/>
                      <a:pt x="9" y="3"/>
                    </a:cubicBezTo>
                    <a:cubicBezTo>
                      <a:pt x="7" y="4"/>
                      <a:pt x="5" y="4"/>
                      <a:pt x="2" y="4"/>
                    </a:cubicBezTo>
                    <a:cubicBezTo>
                      <a:pt x="0" y="4"/>
                      <a:pt x="3" y="5"/>
                      <a:pt x="3" y="5"/>
                    </a:cubicBezTo>
                    <a:cubicBezTo>
                      <a:pt x="3" y="5"/>
                      <a:pt x="5" y="6"/>
                      <a:pt x="7" y="6"/>
                    </a:cubicBezTo>
                    <a:cubicBezTo>
                      <a:pt x="10" y="7"/>
                      <a:pt x="7" y="8"/>
                      <a:pt x="5" y="7"/>
                    </a:cubicBezTo>
                    <a:cubicBezTo>
                      <a:pt x="4" y="7"/>
                      <a:pt x="6" y="9"/>
                      <a:pt x="7" y="10"/>
                    </a:cubicBezTo>
                    <a:cubicBezTo>
                      <a:pt x="8" y="11"/>
                      <a:pt x="8" y="11"/>
                      <a:pt x="8" y="11"/>
                    </a:cubicBezTo>
                    <a:cubicBezTo>
                      <a:pt x="8" y="10"/>
                      <a:pt x="9" y="9"/>
                      <a:pt x="9" y="10"/>
                    </a:cubicBezTo>
                    <a:cubicBezTo>
                      <a:pt x="10" y="11"/>
                      <a:pt x="10" y="10"/>
                      <a:pt x="9" y="11"/>
                    </a:cubicBezTo>
                    <a:cubicBezTo>
                      <a:pt x="8" y="12"/>
                      <a:pt x="9" y="13"/>
                      <a:pt x="10" y="13"/>
                    </a:cubicBezTo>
                    <a:cubicBezTo>
                      <a:pt x="11" y="14"/>
                      <a:pt x="13" y="16"/>
                      <a:pt x="14" y="16"/>
                    </a:cubicBezTo>
                    <a:cubicBezTo>
                      <a:pt x="15" y="17"/>
                      <a:pt x="16" y="18"/>
                      <a:pt x="17" y="20"/>
                    </a:cubicBezTo>
                    <a:cubicBezTo>
                      <a:pt x="18" y="22"/>
                      <a:pt x="20" y="22"/>
                      <a:pt x="20" y="23"/>
                    </a:cubicBezTo>
                    <a:cubicBezTo>
                      <a:pt x="20" y="24"/>
                      <a:pt x="21" y="23"/>
                      <a:pt x="21" y="22"/>
                    </a:cubicBezTo>
                    <a:cubicBezTo>
                      <a:pt x="21" y="21"/>
                      <a:pt x="21" y="22"/>
                      <a:pt x="22" y="23"/>
                    </a:cubicBezTo>
                    <a:cubicBezTo>
                      <a:pt x="22" y="24"/>
                      <a:pt x="22" y="24"/>
                      <a:pt x="23" y="23"/>
                    </a:cubicBezTo>
                    <a:cubicBezTo>
                      <a:pt x="24" y="22"/>
                      <a:pt x="23" y="21"/>
                      <a:pt x="21" y="2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00" name="Freeform 283">
                <a:extLst>
                  <a:ext uri="{FF2B5EF4-FFF2-40B4-BE49-F238E27FC236}">
                    <a16:creationId xmlns:a16="http://schemas.microsoft.com/office/drawing/2014/main" id="{D255C8E7-BE4D-4401-8E23-BA9BD6F0B01C}"/>
                  </a:ext>
                </a:extLst>
              </p:cNvPr>
              <p:cNvSpPr>
                <a:spLocks/>
              </p:cNvSpPr>
              <p:nvPr/>
            </p:nvSpPr>
            <p:spPr bwMode="auto">
              <a:xfrm>
                <a:off x="793" y="1487"/>
                <a:ext cx="8" cy="1"/>
              </a:xfrm>
              <a:custGeom>
                <a:avLst/>
                <a:gdLst>
                  <a:gd name="T0" fmla="*/ 2 w 6"/>
                  <a:gd name="T1" fmla="*/ 1 h 1"/>
                  <a:gd name="T2" fmla="*/ 3 w 6"/>
                  <a:gd name="T3" fmla="*/ 0 h 1"/>
                  <a:gd name="T4" fmla="*/ 1 w 6"/>
                  <a:gd name="T5" fmla="*/ 0 h 1"/>
                  <a:gd name="T6" fmla="*/ 2 w 6"/>
                  <a:gd name="T7" fmla="*/ 1 h 1"/>
                </a:gdLst>
                <a:ahLst/>
                <a:cxnLst>
                  <a:cxn ang="0">
                    <a:pos x="T0" y="T1"/>
                  </a:cxn>
                  <a:cxn ang="0">
                    <a:pos x="T2" y="T3"/>
                  </a:cxn>
                  <a:cxn ang="0">
                    <a:pos x="T4" y="T5"/>
                  </a:cxn>
                  <a:cxn ang="0">
                    <a:pos x="T6" y="T7"/>
                  </a:cxn>
                </a:cxnLst>
                <a:rect l="0" t="0" r="r" b="b"/>
                <a:pathLst>
                  <a:path w="6" h="1">
                    <a:moveTo>
                      <a:pt x="2" y="1"/>
                    </a:moveTo>
                    <a:cubicBezTo>
                      <a:pt x="3" y="1"/>
                      <a:pt x="6" y="1"/>
                      <a:pt x="3" y="0"/>
                    </a:cubicBezTo>
                    <a:cubicBezTo>
                      <a:pt x="0" y="0"/>
                      <a:pt x="1" y="0"/>
                      <a:pt x="1" y="0"/>
                    </a:cubicBezTo>
                    <a:cubicBezTo>
                      <a:pt x="1" y="0"/>
                      <a:pt x="0" y="1"/>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01" name="Freeform 284">
                <a:extLst>
                  <a:ext uri="{FF2B5EF4-FFF2-40B4-BE49-F238E27FC236}">
                    <a16:creationId xmlns:a16="http://schemas.microsoft.com/office/drawing/2014/main" id="{44E70DCD-0024-4277-806E-FC40E8DF1386}"/>
                  </a:ext>
                </a:extLst>
              </p:cNvPr>
              <p:cNvSpPr>
                <a:spLocks/>
              </p:cNvSpPr>
              <p:nvPr/>
            </p:nvSpPr>
            <p:spPr bwMode="auto">
              <a:xfrm>
                <a:off x="815" y="1457"/>
                <a:ext cx="14" cy="8"/>
              </a:xfrm>
              <a:custGeom>
                <a:avLst/>
                <a:gdLst>
                  <a:gd name="T0" fmla="*/ 8 w 10"/>
                  <a:gd name="T1" fmla="*/ 5 h 6"/>
                  <a:gd name="T2" fmla="*/ 8 w 10"/>
                  <a:gd name="T3" fmla="*/ 1 h 6"/>
                  <a:gd name="T4" fmla="*/ 3 w 10"/>
                  <a:gd name="T5" fmla="*/ 2 h 6"/>
                  <a:gd name="T6" fmla="*/ 3 w 10"/>
                  <a:gd name="T7" fmla="*/ 5 h 6"/>
                  <a:gd name="T8" fmla="*/ 8 w 10"/>
                  <a:gd name="T9" fmla="*/ 5 h 6"/>
                </a:gdLst>
                <a:ahLst/>
                <a:cxnLst>
                  <a:cxn ang="0">
                    <a:pos x="T0" y="T1"/>
                  </a:cxn>
                  <a:cxn ang="0">
                    <a:pos x="T2" y="T3"/>
                  </a:cxn>
                  <a:cxn ang="0">
                    <a:pos x="T4" y="T5"/>
                  </a:cxn>
                  <a:cxn ang="0">
                    <a:pos x="T6" y="T7"/>
                  </a:cxn>
                  <a:cxn ang="0">
                    <a:pos x="T8" y="T9"/>
                  </a:cxn>
                </a:cxnLst>
                <a:rect l="0" t="0" r="r" b="b"/>
                <a:pathLst>
                  <a:path w="10" h="6">
                    <a:moveTo>
                      <a:pt x="8" y="5"/>
                    </a:moveTo>
                    <a:cubicBezTo>
                      <a:pt x="10" y="4"/>
                      <a:pt x="9" y="2"/>
                      <a:pt x="8" y="1"/>
                    </a:cubicBezTo>
                    <a:cubicBezTo>
                      <a:pt x="6" y="0"/>
                      <a:pt x="6" y="0"/>
                      <a:pt x="3" y="2"/>
                    </a:cubicBezTo>
                    <a:cubicBezTo>
                      <a:pt x="0" y="4"/>
                      <a:pt x="3" y="5"/>
                      <a:pt x="3" y="5"/>
                    </a:cubicBezTo>
                    <a:cubicBezTo>
                      <a:pt x="4" y="5"/>
                      <a:pt x="6" y="6"/>
                      <a:pt x="8"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02" name="Freeform 285">
                <a:extLst>
                  <a:ext uri="{FF2B5EF4-FFF2-40B4-BE49-F238E27FC236}">
                    <a16:creationId xmlns:a16="http://schemas.microsoft.com/office/drawing/2014/main" id="{E5C9A9DC-53F9-4E12-8694-B5B68AF87E3C}"/>
                  </a:ext>
                </a:extLst>
              </p:cNvPr>
              <p:cNvSpPr>
                <a:spLocks/>
              </p:cNvSpPr>
              <p:nvPr/>
            </p:nvSpPr>
            <p:spPr bwMode="auto">
              <a:xfrm>
                <a:off x="818" y="1469"/>
                <a:ext cx="20" cy="15"/>
              </a:xfrm>
              <a:custGeom>
                <a:avLst/>
                <a:gdLst>
                  <a:gd name="T0" fmla="*/ 5 w 15"/>
                  <a:gd name="T1" fmla="*/ 1 h 11"/>
                  <a:gd name="T2" fmla="*/ 4 w 15"/>
                  <a:gd name="T3" fmla="*/ 2 h 11"/>
                  <a:gd name="T4" fmla="*/ 12 w 15"/>
                  <a:gd name="T5" fmla="*/ 9 h 11"/>
                  <a:gd name="T6" fmla="*/ 14 w 15"/>
                  <a:gd name="T7" fmla="*/ 8 h 11"/>
                  <a:gd name="T8" fmla="*/ 5 w 15"/>
                  <a:gd name="T9" fmla="*/ 1 h 11"/>
                </a:gdLst>
                <a:ahLst/>
                <a:cxnLst>
                  <a:cxn ang="0">
                    <a:pos x="T0" y="T1"/>
                  </a:cxn>
                  <a:cxn ang="0">
                    <a:pos x="T2" y="T3"/>
                  </a:cxn>
                  <a:cxn ang="0">
                    <a:pos x="T4" y="T5"/>
                  </a:cxn>
                  <a:cxn ang="0">
                    <a:pos x="T6" y="T7"/>
                  </a:cxn>
                  <a:cxn ang="0">
                    <a:pos x="T8" y="T9"/>
                  </a:cxn>
                </a:cxnLst>
                <a:rect l="0" t="0" r="r" b="b"/>
                <a:pathLst>
                  <a:path w="15" h="11">
                    <a:moveTo>
                      <a:pt x="5" y="1"/>
                    </a:moveTo>
                    <a:cubicBezTo>
                      <a:pt x="0" y="0"/>
                      <a:pt x="4" y="2"/>
                      <a:pt x="4" y="2"/>
                    </a:cubicBezTo>
                    <a:cubicBezTo>
                      <a:pt x="4" y="2"/>
                      <a:pt x="10" y="7"/>
                      <a:pt x="12" y="9"/>
                    </a:cubicBezTo>
                    <a:cubicBezTo>
                      <a:pt x="13" y="11"/>
                      <a:pt x="15" y="11"/>
                      <a:pt x="14" y="8"/>
                    </a:cubicBezTo>
                    <a:cubicBezTo>
                      <a:pt x="12" y="5"/>
                      <a:pt x="9" y="2"/>
                      <a:pt x="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03" name="Freeform 286">
                <a:extLst>
                  <a:ext uri="{FF2B5EF4-FFF2-40B4-BE49-F238E27FC236}">
                    <a16:creationId xmlns:a16="http://schemas.microsoft.com/office/drawing/2014/main" id="{9136B926-8D69-4B53-8DEA-5D48A36C1730}"/>
                  </a:ext>
                </a:extLst>
              </p:cNvPr>
              <p:cNvSpPr>
                <a:spLocks/>
              </p:cNvSpPr>
              <p:nvPr/>
            </p:nvSpPr>
            <p:spPr bwMode="auto">
              <a:xfrm>
                <a:off x="823" y="1462"/>
                <a:ext cx="21" cy="21"/>
              </a:xfrm>
              <a:custGeom>
                <a:avLst/>
                <a:gdLst>
                  <a:gd name="T0" fmla="*/ 14 w 15"/>
                  <a:gd name="T1" fmla="*/ 9 h 15"/>
                  <a:gd name="T2" fmla="*/ 13 w 15"/>
                  <a:gd name="T3" fmla="*/ 8 h 15"/>
                  <a:gd name="T4" fmla="*/ 8 w 15"/>
                  <a:gd name="T5" fmla="*/ 2 h 15"/>
                  <a:gd name="T6" fmla="*/ 3 w 15"/>
                  <a:gd name="T7" fmla="*/ 1 h 15"/>
                  <a:gd name="T8" fmla="*/ 3 w 15"/>
                  <a:gd name="T9" fmla="*/ 2 h 15"/>
                  <a:gd name="T10" fmla="*/ 3 w 15"/>
                  <a:gd name="T11" fmla="*/ 3 h 15"/>
                  <a:gd name="T12" fmla="*/ 3 w 15"/>
                  <a:gd name="T13" fmla="*/ 3 h 15"/>
                  <a:gd name="T14" fmla="*/ 2 w 15"/>
                  <a:gd name="T15" fmla="*/ 3 h 15"/>
                  <a:gd name="T16" fmla="*/ 2 w 15"/>
                  <a:gd name="T17" fmla="*/ 6 h 15"/>
                  <a:gd name="T18" fmla="*/ 3 w 15"/>
                  <a:gd name="T19" fmla="*/ 3 h 15"/>
                  <a:gd name="T20" fmla="*/ 5 w 15"/>
                  <a:gd name="T21" fmla="*/ 4 h 15"/>
                  <a:gd name="T22" fmla="*/ 6 w 15"/>
                  <a:gd name="T23" fmla="*/ 5 h 15"/>
                  <a:gd name="T24" fmla="*/ 7 w 15"/>
                  <a:gd name="T25" fmla="*/ 6 h 15"/>
                  <a:gd name="T26" fmla="*/ 8 w 15"/>
                  <a:gd name="T27" fmla="*/ 7 h 15"/>
                  <a:gd name="T28" fmla="*/ 9 w 15"/>
                  <a:gd name="T29" fmla="*/ 10 h 15"/>
                  <a:gd name="T30" fmla="*/ 12 w 15"/>
                  <a:gd name="T31" fmla="*/ 11 h 15"/>
                  <a:gd name="T32" fmla="*/ 12 w 15"/>
                  <a:gd name="T33" fmla="*/ 13 h 15"/>
                  <a:gd name="T34" fmla="*/ 14 w 15"/>
                  <a:gd name="T35" fmla="*/ 12 h 15"/>
                  <a:gd name="T36" fmla="*/ 14 w 15"/>
                  <a:gd name="T37" fmla="*/ 9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 h="15">
                    <a:moveTo>
                      <a:pt x="14" y="9"/>
                    </a:moveTo>
                    <a:cubicBezTo>
                      <a:pt x="13" y="9"/>
                      <a:pt x="13" y="9"/>
                      <a:pt x="13" y="8"/>
                    </a:cubicBezTo>
                    <a:cubicBezTo>
                      <a:pt x="14" y="7"/>
                      <a:pt x="9" y="4"/>
                      <a:pt x="8" y="2"/>
                    </a:cubicBezTo>
                    <a:cubicBezTo>
                      <a:pt x="6" y="1"/>
                      <a:pt x="5" y="1"/>
                      <a:pt x="3" y="1"/>
                    </a:cubicBezTo>
                    <a:cubicBezTo>
                      <a:pt x="2" y="0"/>
                      <a:pt x="3" y="2"/>
                      <a:pt x="3" y="2"/>
                    </a:cubicBezTo>
                    <a:cubicBezTo>
                      <a:pt x="3" y="2"/>
                      <a:pt x="4" y="1"/>
                      <a:pt x="3" y="3"/>
                    </a:cubicBezTo>
                    <a:cubicBezTo>
                      <a:pt x="3" y="3"/>
                      <a:pt x="3" y="3"/>
                      <a:pt x="3" y="3"/>
                    </a:cubicBezTo>
                    <a:cubicBezTo>
                      <a:pt x="3" y="3"/>
                      <a:pt x="2" y="2"/>
                      <a:pt x="2" y="3"/>
                    </a:cubicBezTo>
                    <a:cubicBezTo>
                      <a:pt x="0" y="5"/>
                      <a:pt x="0" y="5"/>
                      <a:pt x="2" y="6"/>
                    </a:cubicBezTo>
                    <a:cubicBezTo>
                      <a:pt x="3" y="7"/>
                      <a:pt x="5" y="7"/>
                      <a:pt x="3" y="3"/>
                    </a:cubicBezTo>
                    <a:cubicBezTo>
                      <a:pt x="3" y="4"/>
                      <a:pt x="4" y="4"/>
                      <a:pt x="5" y="4"/>
                    </a:cubicBezTo>
                    <a:cubicBezTo>
                      <a:pt x="5" y="5"/>
                      <a:pt x="5" y="5"/>
                      <a:pt x="6" y="5"/>
                    </a:cubicBezTo>
                    <a:cubicBezTo>
                      <a:pt x="7" y="5"/>
                      <a:pt x="7" y="5"/>
                      <a:pt x="7" y="6"/>
                    </a:cubicBezTo>
                    <a:cubicBezTo>
                      <a:pt x="7" y="7"/>
                      <a:pt x="8" y="5"/>
                      <a:pt x="8" y="7"/>
                    </a:cubicBezTo>
                    <a:cubicBezTo>
                      <a:pt x="8" y="9"/>
                      <a:pt x="9" y="8"/>
                      <a:pt x="9" y="10"/>
                    </a:cubicBezTo>
                    <a:cubicBezTo>
                      <a:pt x="9" y="11"/>
                      <a:pt x="11" y="11"/>
                      <a:pt x="12" y="11"/>
                    </a:cubicBezTo>
                    <a:cubicBezTo>
                      <a:pt x="12" y="11"/>
                      <a:pt x="12" y="11"/>
                      <a:pt x="12" y="13"/>
                    </a:cubicBezTo>
                    <a:cubicBezTo>
                      <a:pt x="12" y="15"/>
                      <a:pt x="13" y="13"/>
                      <a:pt x="14" y="12"/>
                    </a:cubicBezTo>
                    <a:cubicBezTo>
                      <a:pt x="15" y="11"/>
                      <a:pt x="15" y="9"/>
                      <a:pt x="14"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04" name="Freeform 287">
                <a:extLst>
                  <a:ext uri="{FF2B5EF4-FFF2-40B4-BE49-F238E27FC236}">
                    <a16:creationId xmlns:a16="http://schemas.microsoft.com/office/drawing/2014/main" id="{29DF3905-6F81-4F42-A686-DD51CCE6A3C0}"/>
                  </a:ext>
                </a:extLst>
              </p:cNvPr>
              <p:cNvSpPr>
                <a:spLocks/>
              </p:cNvSpPr>
              <p:nvPr/>
            </p:nvSpPr>
            <p:spPr bwMode="auto">
              <a:xfrm>
                <a:off x="849" y="1468"/>
                <a:ext cx="9" cy="10"/>
              </a:xfrm>
              <a:custGeom>
                <a:avLst/>
                <a:gdLst>
                  <a:gd name="T0" fmla="*/ 1 w 6"/>
                  <a:gd name="T1" fmla="*/ 6 h 8"/>
                  <a:gd name="T2" fmla="*/ 4 w 6"/>
                  <a:gd name="T3" fmla="*/ 1 h 8"/>
                  <a:gd name="T4" fmla="*/ 2 w 6"/>
                  <a:gd name="T5" fmla="*/ 1 h 8"/>
                  <a:gd name="T6" fmla="*/ 0 w 6"/>
                  <a:gd name="T7" fmla="*/ 5 h 8"/>
                  <a:gd name="T8" fmla="*/ 1 w 6"/>
                  <a:gd name="T9" fmla="*/ 6 h 8"/>
                </a:gdLst>
                <a:ahLst/>
                <a:cxnLst>
                  <a:cxn ang="0">
                    <a:pos x="T0" y="T1"/>
                  </a:cxn>
                  <a:cxn ang="0">
                    <a:pos x="T2" y="T3"/>
                  </a:cxn>
                  <a:cxn ang="0">
                    <a:pos x="T4" y="T5"/>
                  </a:cxn>
                  <a:cxn ang="0">
                    <a:pos x="T6" y="T7"/>
                  </a:cxn>
                  <a:cxn ang="0">
                    <a:pos x="T8" y="T9"/>
                  </a:cxn>
                </a:cxnLst>
                <a:rect l="0" t="0" r="r" b="b"/>
                <a:pathLst>
                  <a:path w="6" h="8">
                    <a:moveTo>
                      <a:pt x="1" y="6"/>
                    </a:moveTo>
                    <a:cubicBezTo>
                      <a:pt x="1" y="6"/>
                      <a:pt x="3" y="2"/>
                      <a:pt x="4" y="1"/>
                    </a:cubicBezTo>
                    <a:cubicBezTo>
                      <a:pt x="6" y="0"/>
                      <a:pt x="3" y="0"/>
                      <a:pt x="2" y="1"/>
                    </a:cubicBezTo>
                    <a:cubicBezTo>
                      <a:pt x="0" y="2"/>
                      <a:pt x="0" y="3"/>
                      <a:pt x="0" y="5"/>
                    </a:cubicBezTo>
                    <a:cubicBezTo>
                      <a:pt x="0" y="8"/>
                      <a:pt x="1" y="6"/>
                      <a:pt x="1"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05" name="Freeform 288">
                <a:extLst>
                  <a:ext uri="{FF2B5EF4-FFF2-40B4-BE49-F238E27FC236}">
                    <a16:creationId xmlns:a16="http://schemas.microsoft.com/office/drawing/2014/main" id="{007AC83B-A715-4FBC-B212-E52A75726225}"/>
                  </a:ext>
                </a:extLst>
              </p:cNvPr>
              <p:cNvSpPr>
                <a:spLocks/>
              </p:cNvSpPr>
              <p:nvPr/>
            </p:nvSpPr>
            <p:spPr bwMode="auto">
              <a:xfrm>
                <a:off x="847" y="1492"/>
                <a:ext cx="8" cy="11"/>
              </a:xfrm>
              <a:custGeom>
                <a:avLst/>
                <a:gdLst>
                  <a:gd name="T0" fmla="*/ 2 w 6"/>
                  <a:gd name="T1" fmla="*/ 1 h 8"/>
                  <a:gd name="T2" fmla="*/ 1 w 6"/>
                  <a:gd name="T3" fmla="*/ 2 h 8"/>
                  <a:gd name="T4" fmla="*/ 3 w 6"/>
                  <a:gd name="T5" fmla="*/ 6 h 8"/>
                  <a:gd name="T6" fmla="*/ 5 w 6"/>
                  <a:gd name="T7" fmla="*/ 5 h 8"/>
                  <a:gd name="T8" fmla="*/ 2 w 6"/>
                  <a:gd name="T9" fmla="*/ 1 h 8"/>
                </a:gdLst>
                <a:ahLst/>
                <a:cxnLst>
                  <a:cxn ang="0">
                    <a:pos x="T0" y="T1"/>
                  </a:cxn>
                  <a:cxn ang="0">
                    <a:pos x="T2" y="T3"/>
                  </a:cxn>
                  <a:cxn ang="0">
                    <a:pos x="T4" y="T5"/>
                  </a:cxn>
                  <a:cxn ang="0">
                    <a:pos x="T6" y="T7"/>
                  </a:cxn>
                  <a:cxn ang="0">
                    <a:pos x="T8" y="T9"/>
                  </a:cxn>
                </a:cxnLst>
                <a:rect l="0" t="0" r="r" b="b"/>
                <a:pathLst>
                  <a:path w="6" h="8">
                    <a:moveTo>
                      <a:pt x="2" y="1"/>
                    </a:moveTo>
                    <a:cubicBezTo>
                      <a:pt x="2" y="1"/>
                      <a:pt x="0" y="0"/>
                      <a:pt x="1" y="2"/>
                    </a:cubicBezTo>
                    <a:cubicBezTo>
                      <a:pt x="2" y="4"/>
                      <a:pt x="1" y="5"/>
                      <a:pt x="3" y="6"/>
                    </a:cubicBezTo>
                    <a:cubicBezTo>
                      <a:pt x="5" y="7"/>
                      <a:pt x="6" y="8"/>
                      <a:pt x="5" y="5"/>
                    </a:cubicBezTo>
                    <a:cubicBezTo>
                      <a:pt x="4" y="3"/>
                      <a:pt x="2" y="1"/>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06" name="Freeform 289">
                <a:extLst>
                  <a:ext uri="{FF2B5EF4-FFF2-40B4-BE49-F238E27FC236}">
                    <a16:creationId xmlns:a16="http://schemas.microsoft.com/office/drawing/2014/main" id="{A122B34B-15BA-4D2D-94E7-AAA10FA86AF8}"/>
                  </a:ext>
                </a:extLst>
              </p:cNvPr>
              <p:cNvSpPr>
                <a:spLocks/>
              </p:cNvSpPr>
              <p:nvPr/>
            </p:nvSpPr>
            <p:spPr bwMode="auto">
              <a:xfrm>
                <a:off x="848" y="1478"/>
                <a:ext cx="15" cy="20"/>
              </a:xfrm>
              <a:custGeom>
                <a:avLst/>
                <a:gdLst>
                  <a:gd name="T0" fmla="*/ 8 w 11"/>
                  <a:gd name="T1" fmla="*/ 13 h 14"/>
                  <a:gd name="T2" fmla="*/ 10 w 11"/>
                  <a:gd name="T3" fmla="*/ 12 h 14"/>
                  <a:gd name="T4" fmla="*/ 9 w 11"/>
                  <a:gd name="T5" fmla="*/ 3 h 14"/>
                  <a:gd name="T6" fmla="*/ 3 w 11"/>
                  <a:gd name="T7" fmla="*/ 0 h 14"/>
                  <a:gd name="T8" fmla="*/ 2 w 11"/>
                  <a:gd name="T9" fmla="*/ 2 h 14"/>
                  <a:gd name="T10" fmla="*/ 2 w 11"/>
                  <a:gd name="T11" fmla="*/ 4 h 14"/>
                  <a:gd name="T12" fmla="*/ 1 w 11"/>
                  <a:gd name="T13" fmla="*/ 7 h 14"/>
                  <a:gd name="T14" fmla="*/ 3 w 11"/>
                  <a:gd name="T15" fmla="*/ 11 h 14"/>
                  <a:gd name="T16" fmla="*/ 7 w 11"/>
                  <a:gd name="T17" fmla="*/ 13 h 14"/>
                  <a:gd name="T18" fmla="*/ 8 w 11"/>
                  <a:gd name="T19"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14">
                    <a:moveTo>
                      <a:pt x="8" y="13"/>
                    </a:moveTo>
                    <a:cubicBezTo>
                      <a:pt x="9" y="14"/>
                      <a:pt x="9" y="14"/>
                      <a:pt x="10" y="12"/>
                    </a:cubicBezTo>
                    <a:cubicBezTo>
                      <a:pt x="10" y="9"/>
                      <a:pt x="11" y="5"/>
                      <a:pt x="9" y="3"/>
                    </a:cubicBezTo>
                    <a:cubicBezTo>
                      <a:pt x="6" y="1"/>
                      <a:pt x="4" y="0"/>
                      <a:pt x="3" y="0"/>
                    </a:cubicBezTo>
                    <a:cubicBezTo>
                      <a:pt x="2" y="1"/>
                      <a:pt x="2" y="0"/>
                      <a:pt x="2" y="2"/>
                    </a:cubicBezTo>
                    <a:cubicBezTo>
                      <a:pt x="2" y="3"/>
                      <a:pt x="3" y="4"/>
                      <a:pt x="2" y="4"/>
                    </a:cubicBezTo>
                    <a:cubicBezTo>
                      <a:pt x="2" y="4"/>
                      <a:pt x="0" y="6"/>
                      <a:pt x="1" y="7"/>
                    </a:cubicBezTo>
                    <a:cubicBezTo>
                      <a:pt x="2" y="9"/>
                      <a:pt x="1" y="9"/>
                      <a:pt x="3" y="11"/>
                    </a:cubicBezTo>
                    <a:cubicBezTo>
                      <a:pt x="4" y="12"/>
                      <a:pt x="5" y="13"/>
                      <a:pt x="7" y="13"/>
                    </a:cubicBezTo>
                    <a:cubicBezTo>
                      <a:pt x="8" y="12"/>
                      <a:pt x="7" y="12"/>
                      <a:pt x="8" y="1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07" name="Freeform 290">
                <a:extLst>
                  <a:ext uri="{FF2B5EF4-FFF2-40B4-BE49-F238E27FC236}">
                    <a16:creationId xmlns:a16="http://schemas.microsoft.com/office/drawing/2014/main" id="{C6B79EEF-8D34-4BAC-964B-5ACE65A2F054}"/>
                  </a:ext>
                </a:extLst>
              </p:cNvPr>
              <p:cNvSpPr>
                <a:spLocks/>
              </p:cNvSpPr>
              <p:nvPr/>
            </p:nvSpPr>
            <p:spPr bwMode="auto">
              <a:xfrm>
                <a:off x="856" y="1496"/>
                <a:ext cx="9" cy="9"/>
              </a:xfrm>
              <a:custGeom>
                <a:avLst/>
                <a:gdLst>
                  <a:gd name="T0" fmla="*/ 1 w 6"/>
                  <a:gd name="T1" fmla="*/ 2 h 6"/>
                  <a:gd name="T2" fmla="*/ 2 w 6"/>
                  <a:gd name="T3" fmla="*/ 4 h 6"/>
                  <a:gd name="T4" fmla="*/ 4 w 6"/>
                  <a:gd name="T5" fmla="*/ 5 h 6"/>
                  <a:gd name="T6" fmla="*/ 4 w 6"/>
                  <a:gd name="T7" fmla="*/ 1 h 6"/>
                  <a:gd name="T8" fmla="*/ 1 w 6"/>
                  <a:gd name="T9" fmla="*/ 2 h 6"/>
                </a:gdLst>
                <a:ahLst/>
                <a:cxnLst>
                  <a:cxn ang="0">
                    <a:pos x="T0" y="T1"/>
                  </a:cxn>
                  <a:cxn ang="0">
                    <a:pos x="T2" y="T3"/>
                  </a:cxn>
                  <a:cxn ang="0">
                    <a:pos x="T4" y="T5"/>
                  </a:cxn>
                  <a:cxn ang="0">
                    <a:pos x="T6" y="T7"/>
                  </a:cxn>
                  <a:cxn ang="0">
                    <a:pos x="T8" y="T9"/>
                  </a:cxn>
                </a:cxnLst>
                <a:rect l="0" t="0" r="r" b="b"/>
                <a:pathLst>
                  <a:path w="6" h="6">
                    <a:moveTo>
                      <a:pt x="1" y="2"/>
                    </a:moveTo>
                    <a:cubicBezTo>
                      <a:pt x="0" y="3"/>
                      <a:pt x="2" y="4"/>
                      <a:pt x="2" y="4"/>
                    </a:cubicBezTo>
                    <a:cubicBezTo>
                      <a:pt x="2" y="4"/>
                      <a:pt x="2" y="4"/>
                      <a:pt x="4" y="5"/>
                    </a:cubicBezTo>
                    <a:cubicBezTo>
                      <a:pt x="6" y="6"/>
                      <a:pt x="5" y="2"/>
                      <a:pt x="4" y="1"/>
                    </a:cubicBezTo>
                    <a:cubicBezTo>
                      <a:pt x="4" y="0"/>
                      <a:pt x="2" y="1"/>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08" name="Freeform 291">
                <a:extLst>
                  <a:ext uri="{FF2B5EF4-FFF2-40B4-BE49-F238E27FC236}">
                    <a16:creationId xmlns:a16="http://schemas.microsoft.com/office/drawing/2014/main" id="{FF5D06F8-C10E-46BC-805C-97CC08D224B3}"/>
                  </a:ext>
                </a:extLst>
              </p:cNvPr>
              <p:cNvSpPr>
                <a:spLocks/>
              </p:cNvSpPr>
              <p:nvPr/>
            </p:nvSpPr>
            <p:spPr bwMode="auto">
              <a:xfrm>
                <a:off x="863" y="1492"/>
                <a:ext cx="6" cy="14"/>
              </a:xfrm>
              <a:custGeom>
                <a:avLst/>
                <a:gdLst>
                  <a:gd name="T0" fmla="*/ 2 w 4"/>
                  <a:gd name="T1" fmla="*/ 7 h 10"/>
                  <a:gd name="T2" fmla="*/ 2 w 4"/>
                  <a:gd name="T3" fmla="*/ 2 h 10"/>
                  <a:gd name="T4" fmla="*/ 1 w 4"/>
                  <a:gd name="T5" fmla="*/ 3 h 10"/>
                  <a:gd name="T6" fmla="*/ 1 w 4"/>
                  <a:gd name="T7" fmla="*/ 8 h 10"/>
                  <a:gd name="T8" fmla="*/ 2 w 4"/>
                  <a:gd name="T9" fmla="*/ 7 h 10"/>
                </a:gdLst>
                <a:ahLst/>
                <a:cxnLst>
                  <a:cxn ang="0">
                    <a:pos x="T0" y="T1"/>
                  </a:cxn>
                  <a:cxn ang="0">
                    <a:pos x="T2" y="T3"/>
                  </a:cxn>
                  <a:cxn ang="0">
                    <a:pos x="T4" y="T5"/>
                  </a:cxn>
                  <a:cxn ang="0">
                    <a:pos x="T6" y="T7"/>
                  </a:cxn>
                  <a:cxn ang="0">
                    <a:pos x="T8" y="T9"/>
                  </a:cxn>
                </a:cxnLst>
                <a:rect l="0" t="0" r="r" b="b"/>
                <a:pathLst>
                  <a:path w="4" h="10">
                    <a:moveTo>
                      <a:pt x="2" y="7"/>
                    </a:moveTo>
                    <a:cubicBezTo>
                      <a:pt x="4" y="6"/>
                      <a:pt x="3" y="4"/>
                      <a:pt x="2" y="2"/>
                    </a:cubicBezTo>
                    <a:cubicBezTo>
                      <a:pt x="2" y="0"/>
                      <a:pt x="1" y="3"/>
                      <a:pt x="1" y="3"/>
                    </a:cubicBezTo>
                    <a:cubicBezTo>
                      <a:pt x="1" y="3"/>
                      <a:pt x="1" y="6"/>
                      <a:pt x="1" y="8"/>
                    </a:cubicBezTo>
                    <a:cubicBezTo>
                      <a:pt x="0" y="10"/>
                      <a:pt x="1" y="9"/>
                      <a:pt x="2"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09" name="Freeform 292">
                <a:extLst>
                  <a:ext uri="{FF2B5EF4-FFF2-40B4-BE49-F238E27FC236}">
                    <a16:creationId xmlns:a16="http://schemas.microsoft.com/office/drawing/2014/main" id="{1E12828C-BF43-4C84-B7F0-C65B2FB4BC88}"/>
                  </a:ext>
                </a:extLst>
              </p:cNvPr>
              <p:cNvSpPr>
                <a:spLocks/>
              </p:cNvSpPr>
              <p:nvPr/>
            </p:nvSpPr>
            <p:spPr bwMode="auto">
              <a:xfrm>
                <a:off x="1626" y="647"/>
                <a:ext cx="37" cy="22"/>
              </a:xfrm>
              <a:custGeom>
                <a:avLst/>
                <a:gdLst>
                  <a:gd name="T0" fmla="*/ 25 w 27"/>
                  <a:gd name="T1" fmla="*/ 9 h 16"/>
                  <a:gd name="T2" fmla="*/ 18 w 27"/>
                  <a:gd name="T3" fmla="*/ 3 h 16"/>
                  <a:gd name="T4" fmla="*/ 9 w 27"/>
                  <a:gd name="T5" fmla="*/ 1 h 16"/>
                  <a:gd name="T6" fmla="*/ 3 w 27"/>
                  <a:gd name="T7" fmla="*/ 4 h 16"/>
                  <a:gd name="T8" fmla="*/ 5 w 27"/>
                  <a:gd name="T9" fmla="*/ 11 h 16"/>
                  <a:gd name="T10" fmla="*/ 14 w 27"/>
                  <a:gd name="T11" fmla="*/ 15 h 16"/>
                  <a:gd name="T12" fmla="*/ 23 w 27"/>
                  <a:gd name="T13" fmla="*/ 13 h 16"/>
                  <a:gd name="T14" fmla="*/ 25 w 27"/>
                  <a:gd name="T15" fmla="*/ 9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16">
                    <a:moveTo>
                      <a:pt x="25" y="9"/>
                    </a:moveTo>
                    <a:cubicBezTo>
                      <a:pt x="25" y="7"/>
                      <a:pt x="22" y="5"/>
                      <a:pt x="18" y="3"/>
                    </a:cubicBezTo>
                    <a:cubicBezTo>
                      <a:pt x="15" y="1"/>
                      <a:pt x="14" y="3"/>
                      <a:pt x="9" y="1"/>
                    </a:cubicBezTo>
                    <a:cubicBezTo>
                      <a:pt x="5" y="0"/>
                      <a:pt x="3" y="4"/>
                      <a:pt x="3" y="4"/>
                    </a:cubicBezTo>
                    <a:cubicBezTo>
                      <a:pt x="0" y="9"/>
                      <a:pt x="4" y="10"/>
                      <a:pt x="5" y="11"/>
                    </a:cubicBezTo>
                    <a:cubicBezTo>
                      <a:pt x="7" y="12"/>
                      <a:pt x="12" y="14"/>
                      <a:pt x="14" y="15"/>
                    </a:cubicBezTo>
                    <a:cubicBezTo>
                      <a:pt x="15" y="16"/>
                      <a:pt x="20" y="14"/>
                      <a:pt x="23" y="13"/>
                    </a:cubicBezTo>
                    <a:cubicBezTo>
                      <a:pt x="27" y="11"/>
                      <a:pt x="26" y="10"/>
                      <a:pt x="25"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10" name="Freeform 293">
                <a:extLst>
                  <a:ext uri="{FF2B5EF4-FFF2-40B4-BE49-F238E27FC236}">
                    <a16:creationId xmlns:a16="http://schemas.microsoft.com/office/drawing/2014/main" id="{E53BBAC0-4A6B-4BEA-9ED9-20FD0B783513}"/>
                  </a:ext>
                </a:extLst>
              </p:cNvPr>
              <p:cNvSpPr>
                <a:spLocks/>
              </p:cNvSpPr>
              <p:nvPr/>
            </p:nvSpPr>
            <p:spPr bwMode="auto">
              <a:xfrm>
                <a:off x="1641" y="683"/>
                <a:ext cx="21" cy="16"/>
              </a:xfrm>
              <a:custGeom>
                <a:avLst/>
                <a:gdLst>
                  <a:gd name="T0" fmla="*/ 13 w 15"/>
                  <a:gd name="T1" fmla="*/ 5 h 12"/>
                  <a:gd name="T2" fmla="*/ 13 w 15"/>
                  <a:gd name="T3" fmla="*/ 2 h 12"/>
                  <a:gd name="T4" fmla="*/ 8 w 15"/>
                  <a:gd name="T5" fmla="*/ 0 h 12"/>
                  <a:gd name="T6" fmla="*/ 3 w 15"/>
                  <a:gd name="T7" fmla="*/ 2 h 12"/>
                  <a:gd name="T8" fmla="*/ 2 w 15"/>
                  <a:gd name="T9" fmla="*/ 4 h 12"/>
                  <a:gd name="T10" fmla="*/ 8 w 15"/>
                  <a:gd name="T11" fmla="*/ 11 h 12"/>
                  <a:gd name="T12" fmla="*/ 13 w 15"/>
                  <a:gd name="T13" fmla="*/ 11 h 12"/>
                  <a:gd name="T14" fmla="*/ 12 w 15"/>
                  <a:gd name="T15" fmla="*/ 8 h 12"/>
                  <a:gd name="T16" fmla="*/ 13 w 15"/>
                  <a:gd name="T17" fmla="*/ 5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2">
                    <a:moveTo>
                      <a:pt x="13" y="5"/>
                    </a:moveTo>
                    <a:cubicBezTo>
                      <a:pt x="15" y="4"/>
                      <a:pt x="15" y="4"/>
                      <a:pt x="13" y="2"/>
                    </a:cubicBezTo>
                    <a:cubicBezTo>
                      <a:pt x="11" y="0"/>
                      <a:pt x="9" y="0"/>
                      <a:pt x="8" y="0"/>
                    </a:cubicBezTo>
                    <a:cubicBezTo>
                      <a:pt x="7" y="0"/>
                      <a:pt x="5" y="1"/>
                      <a:pt x="3" y="2"/>
                    </a:cubicBezTo>
                    <a:cubicBezTo>
                      <a:pt x="0" y="2"/>
                      <a:pt x="2" y="4"/>
                      <a:pt x="2" y="4"/>
                    </a:cubicBezTo>
                    <a:cubicBezTo>
                      <a:pt x="2" y="4"/>
                      <a:pt x="7" y="9"/>
                      <a:pt x="8" y="11"/>
                    </a:cubicBezTo>
                    <a:cubicBezTo>
                      <a:pt x="9" y="12"/>
                      <a:pt x="11" y="12"/>
                      <a:pt x="13" y="11"/>
                    </a:cubicBezTo>
                    <a:cubicBezTo>
                      <a:pt x="15" y="11"/>
                      <a:pt x="13" y="10"/>
                      <a:pt x="12" y="8"/>
                    </a:cubicBezTo>
                    <a:cubicBezTo>
                      <a:pt x="11" y="7"/>
                      <a:pt x="12" y="6"/>
                      <a:pt x="13"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11" name="Freeform 294">
                <a:extLst>
                  <a:ext uri="{FF2B5EF4-FFF2-40B4-BE49-F238E27FC236}">
                    <a16:creationId xmlns:a16="http://schemas.microsoft.com/office/drawing/2014/main" id="{6DD5C70F-DB02-4D62-AE98-35C6EA403DC6}"/>
                  </a:ext>
                </a:extLst>
              </p:cNvPr>
              <p:cNvSpPr>
                <a:spLocks/>
              </p:cNvSpPr>
              <p:nvPr/>
            </p:nvSpPr>
            <p:spPr bwMode="auto">
              <a:xfrm>
                <a:off x="1613" y="390"/>
                <a:ext cx="635" cy="323"/>
              </a:xfrm>
              <a:custGeom>
                <a:avLst/>
                <a:gdLst>
                  <a:gd name="T0" fmla="*/ 32 w 459"/>
                  <a:gd name="T1" fmla="*/ 56 h 235"/>
                  <a:gd name="T2" fmla="*/ 54 w 459"/>
                  <a:gd name="T3" fmla="*/ 58 h 235"/>
                  <a:gd name="T4" fmla="*/ 47 w 459"/>
                  <a:gd name="T5" fmla="*/ 75 h 235"/>
                  <a:gd name="T6" fmla="*/ 88 w 459"/>
                  <a:gd name="T7" fmla="*/ 74 h 235"/>
                  <a:gd name="T8" fmla="*/ 90 w 459"/>
                  <a:gd name="T9" fmla="*/ 76 h 235"/>
                  <a:gd name="T10" fmla="*/ 98 w 459"/>
                  <a:gd name="T11" fmla="*/ 77 h 235"/>
                  <a:gd name="T12" fmla="*/ 121 w 459"/>
                  <a:gd name="T13" fmla="*/ 92 h 235"/>
                  <a:gd name="T14" fmla="*/ 132 w 459"/>
                  <a:gd name="T15" fmla="*/ 90 h 235"/>
                  <a:gd name="T16" fmla="*/ 194 w 459"/>
                  <a:gd name="T17" fmla="*/ 73 h 235"/>
                  <a:gd name="T18" fmla="*/ 196 w 459"/>
                  <a:gd name="T19" fmla="*/ 76 h 235"/>
                  <a:gd name="T20" fmla="*/ 199 w 459"/>
                  <a:gd name="T21" fmla="*/ 92 h 235"/>
                  <a:gd name="T22" fmla="*/ 162 w 459"/>
                  <a:gd name="T23" fmla="*/ 121 h 235"/>
                  <a:gd name="T24" fmla="*/ 130 w 459"/>
                  <a:gd name="T25" fmla="*/ 108 h 235"/>
                  <a:gd name="T26" fmla="*/ 95 w 459"/>
                  <a:gd name="T27" fmla="*/ 113 h 235"/>
                  <a:gd name="T28" fmla="*/ 119 w 459"/>
                  <a:gd name="T29" fmla="*/ 139 h 235"/>
                  <a:gd name="T30" fmla="*/ 147 w 459"/>
                  <a:gd name="T31" fmla="*/ 146 h 235"/>
                  <a:gd name="T32" fmla="*/ 142 w 459"/>
                  <a:gd name="T33" fmla="*/ 156 h 235"/>
                  <a:gd name="T34" fmla="*/ 73 w 459"/>
                  <a:gd name="T35" fmla="*/ 158 h 235"/>
                  <a:gd name="T36" fmla="*/ 90 w 459"/>
                  <a:gd name="T37" fmla="*/ 168 h 235"/>
                  <a:gd name="T38" fmla="*/ 105 w 459"/>
                  <a:gd name="T39" fmla="*/ 168 h 235"/>
                  <a:gd name="T40" fmla="*/ 103 w 459"/>
                  <a:gd name="T41" fmla="*/ 175 h 235"/>
                  <a:gd name="T42" fmla="*/ 102 w 459"/>
                  <a:gd name="T43" fmla="*/ 183 h 235"/>
                  <a:gd name="T44" fmla="*/ 141 w 459"/>
                  <a:gd name="T45" fmla="*/ 175 h 235"/>
                  <a:gd name="T46" fmla="*/ 109 w 459"/>
                  <a:gd name="T47" fmla="*/ 197 h 235"/>
                  <a:gd name="T48" fmla="*/ 56 w 459"/>
                  <a:gd name="T49" fmla="*/ 187 h 235"/>
                  <a:gd name="T50" fmla="*/ 55 w 459"/>
                  <a:gd name="T51" fmla="*/ 205 h 235"/>
                  <a:gd name="T52" fmla="*/ 48 w 459"/>
                  <a:gd name="T53" fmla="*/ 222 h 235"/>
                  <a:gd name="T54" fmla="*/ 53 w 459"/>
                  <a:gd name="T55" fmla="*/ 225 h 235"/>
                  <a:gd name="T56" fmla="*/ 79 w 459"/>
                  <a:gd name="T57" fmla="*/ 227 h 235"/>
                  <a:gd name="T58" fmla="*/ 106 w 459"/>
                  <a:gd name="T59" fmla="*/ 227 h 235"/>
                  <a:gd name="T60" fmla="*/ 141 w 459"/>
                  <a:gd name="T61" fmla="*/ 227 h 235"/>
                  <a:gd name="T62" fmla="*/ 164 w 459"/>
                  <a:gd name="T63" fmla="*/ 225 h 235"/>
                  <a:gd name="T64" fmla="*/ 196 w 459"/>
                  <a:gd name="T65" fmla="*/ 213 h 235"/>
                  <a:gd name="T66" fmla="*/ 148 w 459"/>
                  <a:gd name="T67" fmla="*/ 200 h 235"/>
                  <a:gd name="T68" fmla="*/ 181 w 459"/>
                  <a:gd name="T69" fmla="*/ 199 h 235"/>
                  <a:gd name="T70" fmla="*/ 203 w 459"/>
                  <a:gd name="T71" fmla="*/ 178 h 235"/>
                  <a:gd name="T72" fmla="*/ 246 w 459"/>
                  <a:gd name="T73" fmla="*/ 165 h 235"/>
                  <a:gd name="T74" fmla="*/ 236 w 459"/>
                  <a:gd name="T75" fmla="*/ 145 h 235"/>
                  <a:gd name="T76" fmla="*/ 233 w 459"/>
                  <a:gd name="T77" fmla="*/ 142 h 235"/>
                  <a:gd name="T78" fmla="*/ 258 w 459"/>
                  <a:gd name="T79" fmla="*/ 144 h 235"/>
                  <a:gd name="T80" fmla="*/ 218 w 459"/>
                  <a:gd name="T81" fmla="*/ 133 h 235"/>
                  <a:gd name="T82" fmla="*/ 240 w 459"/>
                  <a:gd name="T83" fmla="*/ 130 h 235"/>
                  <a:gd name="T84" fmla="*/ 260 w 459"/>
                  <a:gd name="T85" fmla="*/ 118 h 235"/>
                  <a:gd name="T86" fmla="*/ 306 w 459"/>
                  <a:gd name="T87" fmla="*/ 115 h 235"/>
                  <a:gd name="T88" fmla="*/ 320 w 459"/>
                  <a:gd name="T89" fmla="*/ 104 h 235"/>
                  <a:gd name="T90" fmla="*/ 401 w 459"/>
                  <a:gd name="T91" fmla="*/ 65 h 235"/>
                  <a:gd name="T92" fmla="*/ 367 w 459"/>
                  <a:gd name="T93" fmla="*/ 57 h 235"/>
                  <a:gd name="T94" fmla="*/ 457 w 459"/>
                  <a:gd name="T95" fmla="*/ 30 h 235"/>
                  <a:gd name="T96" fmla="*/ 393 w 459"/>
                  <a:gd name="T97" fmla="*/ 13 h 235"/>
                  <a:gd name="T98" fmla="*/ 335 w 459"/>
                  <a:gd name="T99" fmla="*/ 6 h 235"/>
                  <a:gd name="T100" fmla="*/ 276 w 459"/>
                  <a:gd name="T101" fmla="*/ 8 h 235"/>
                  <a:gd name="T102" fmla="*/ 218 w 459"/>
                  <a:gd name="T103" fmla="*/ 4 h 235"/>
                  <a:gd name="T104" fmla="*/ 230 w 459"/>
                  <a:gd name="T105" fmla="*/ 18 h 235"/>
                  <a:gd name="T106" fmla="*/ 197 w 459"/>
                  <a:gd name="T107" fmla="*/ 16 h 235"/>
                  <a:gd name="T108" fmla="*/ 147 w 459"/>
                  <a:gd name="T109" fmla="*/ 19 h 235"/>
                  <a:gd name="T110" fmla="*/ 181 w 459"/>
                  <a:gd name="T111" fmla="*/ 43 h 235"/>
                  <a:gd name="T112" fmla="*/ 109 w 459"/>
                  <a:gd name="T113" fmla="*/ 25 h 235"/>
                  <a:gd name="T114" fmla="*/ 103 w 459"/>
                  <a:gd name="T115" fmla="*/ 40 h 235"/>
                  <a:gd name="T116" fmla="*/ 88 w 459"/>
                  <a:gd name="T117" fmla="*/ 40 h 235"/>
                  <a:gd name="T118" fmla="*/ 48 w 459"/>
                  <a:gd name="T119" fmla="*/ 40 h 235"/>
                  <a:gd name="T120" fmla="*/ 13 w 459"/>
                  <a:gd name="T121" fmla="*/ 49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59" h="235">
                    <a:moveTo>
                      <a:pt x="3" y="55"/>
                    </a:moveTo>
                    <a:cubicBezTo>
                      <a:pt x="5" y="55"/>
                      <a:pt x="5" y="56"/>
                      <a:pt x="8" y="56"/>
                    </a:cubicBezTo>
                    <a:cubicBezTo>
                      <a:pt x="11" y="57"/>
                      <a:pt x="13" y="58"/>
                      <a:pt x="14" y="57"/>
                    </a:cubicBezTo>
                    <a:cubicBezTo>
                      <a:pt x="15" y="57"/>
                      <a:pt x="15" y="55"/>
                      <a:pt x="16" y="54"/>
                    </a:cubicBezTo>
                    <a:cubicBezTo>
                      <a:pt x="17" y="54"/>
                      <a:pt x="17" y="54"/>
                      <a:pt x="18" y="54"/>
                    </a:cubicBezTo>
                    <a:cubicBezTo>
                      <a:pt x="20" y="53"/>
                      <a:pt x="20" y="53"/>
                      <a:pt x="22" y="53"/>
                    </a:cubicBezTo>
                    <a:cubicBezTo>
                      <a:pt x="25" y="54"/>
                      <a:pt x="25" y="54"/>
                      <a:pt x="24" y="53"/>
                    </a:cubicBezTo>
                    <a:cubicBezTo>
                      <a:pt x="24" y="52"/>
                      <a:pt x="25" y="52"/>
                      <a:pt x="27" y="53"/>
                    </a:cubicBezTo>
                    <a:cubicBezTo>
                      <a:pt x="28" y="54"/>
                      <a:pt x="30" y="55"/>
                      <a:pt x="33" y="55"/>
                    </a:cubicBezTo>
                    <a:cubicBezTo>
                      <a:pt x="36" y="55"/>
                      <a:pt x="34" y="55"/>
                      <a:pt x="32" y="56"/>
                    </a:cubicBezTo>
                    <a:cubicBezTo>
                      <a:pt x="31" y="56"/>
                      <a:pt x="29" y="56"/>
                      <a:pt x="28" y="57"/>
                    </a:cubicBezTo>
                    <a:cubicBezTo>
                      <a:pt x="26" y="57"/>
                      <a:pt x="21" y="59"/>
                      <a:pt x="18" y="60"/>
                    </a:cubicBezTo>
                    <a:cubicBezTo>
                      <a:pt x="15" y="61"/>
                      <a:pt x="21" y="63"/>
                      <a:pt x="22" y="63"/>
                    </a:cubicBezTo>
                    <a:cubicBezTo>
                      <a:pt x="23" y="64"/>
                      <a:pt x="24" y="63"/>
                      <a:pt x="25" y="63"/>
                    </a:cubicBezTo>
                    <a:cubicBezTo>
                      <a:pt x="26" y="62"/>
                      <a:pt x="29" y="62"/>
                      <a:pt x="31" y="62"/>
                    </a:cubicBezTo>
                    <a:cubicBezTo>
                      <a:pt x="33" y="62"/>
                      <a:pt x="43" y="58"/>
                      <a:pt x="46" y="57"/>
                    </a:cubicBezTo>
                    <a:cubicBezTo>
                      <a:pt x="48" y="56"/>
                      <a:pt x="59" y="57"/>
                      <a:pt x="66" y="58"/>
                    </a:cubicBezTo>
                    <a:cubicBezTo>
                      <a:pt x="74" y="59"/>
                      <a:pt x="66" y="59"/>
                      <a:pt x="65" y="59"/>
                    </a:cubicBezTo>
                    <a:cubicBezTo>
                      <a:pt x="64" y="59"/>
                      <a:pt x="62" y="58"/>
                      <a:pt x="60" y="58"/>
                    </a:cubicBezTo>
                    <a:cubicBezTo>
                      <a:pt x="59" y="58"/>
                      <a:pt x="56" y="58"/>
                      <a:pt x="54" y="58"/>
                    </a:cubicBezTo>
                    <a:cubicBezTo>
                      <a:pt x="51" y="58"/>
                      <a:pt x="45" y="60"/>
                      <a:pt x="43" y="61"/>
                    </a:cubicBezTo>
                    <a:cubicBezTo>
                      <a:pt x="41" y="62"/>
                      <a:pt x="37" y="64"/>
                      <a:pt x="33" y="64"/>
                    </a:cubicBezTo>
                    <a:cubicBezTo>
                      <a:pt x="29" y="65"/>
                      <a:pt x="32" y="66"/>
                      <a:pt x="35" y="66"/>
                    </a:cubicBezTo>
                    <a:cubicBezTo>
                      <a:pt x="38" y="67"/>
                      <a:pt x="37" y="68"/>
                      <a:pt x="42" y="67"/>
                    </a:cubicBezTo>
                    <a:cubicBezTo>
                      <a:pt x="47" y="67"/>
                      <a:pt x="40" y="69"/>
                      <a:pt x="39" y="69"/>
                    </a:cubicBezTo>
                    <a:cubicBezTo>
                      <a:pt x="38" y="70"/>
                      <a:pt x="36" y="70"/>
                      <a:pt x="33" y="69"/>
                    </a:cubicBezTo>
                    <a:cubicBezTo>
                      <a:pt x="30" y="67"/>
                      <a:pt x="28" y="68"/>
                      <a:pt x="26" y="70"/>
                    </a:cubicBezTo>
                    <a:cubicBezTo>
                      <a:pt x="24" y="71"/>
                      <a:pt x="24" y="71"/>
                      <a:pt x="28" y="74"/>
                    </a:cubicBezTo>
                    <a:cubicBezTo>
                      <a:pt x="32" y="77"/>
                      <a:pt x="37" y="76"/>
                      <a:pt x="39" y="76"/>
                    </a:cubicBezTo>
                    <a:cubicBezTo>
                      <a:pt x="41" y="76"/>
                      <a:pt x="44" y="74"/>
                      <a:pt x="47" y="75"/>
                    </a:cubicBezTo>
                    <a:cubicBezTo>
                      <a:pt x="49" y="75"/>
                      <a:pt x="56" y="74"/>
                      <a:pt x="60" y="74"/>
                    </a:cubicBezTo>
                    <a:cubicBezTo>
                      <a:pt x="63" y="74"/>
                      <a:pt x="70" y="74"/>
                      <a:pt x="72" y="73"/>
                    </a:cubicBezTo>
                    <a:cubicBezTo>
                      <a:pt x="74" y="73"/>
                      <a:pt x="74" y="73"/>
                      <a:pt x="78" y="72"/>
                    </a:cubicBezTo>
                    <a:cubicBezTo>
                      <a:pt x="82" y="72"/>
                      <a:pt x="85" y="71"/>
                      <a:pt x="87" y="70"/>
                    </a:cubicBezTo>
                    <a:cubicBezTo>
                      <a:pt x="89" y="68"/>
                      <a:pt x="96" y="67"/>
                      <a:pt x="97" y="67"/>
                    </a:cubicBezTo>
                    <a:cubicBezTo>
                      <a:pt x="99" y="67"/>
                      <a:pt x="102" y="66"/>
                      <a:pt x="105" y="66"/>
                    </a:cubicBezTo>
                    <a:cubicBezTo>
                      <a:pt x="109" y="66"/>
                      <a:pt x="105" y="68"/>
                      <a:pt x="104" y="68"/>
                    </a:cubicBezTo>
                    <a:cubicBezTo>
                      <a:pt x="102" y="68"/>
                      <a:pt x="99" y="69"/>
                      <a:pt x="96" y="70"/>
                    </a:cubicBezTo>
                    <a:cubicBezTo>
                      <a:pt x="94" y="71"/>
                      <a:pt x="91" y="72"/>
                      <a:pt x="90" y="73"/>
                    </a:cubicBezTo>
                    <a:cubicBezTo>
                      <a:pt x="90" y="74"/>
                      <a:pt x="89" y="74"/>
                      <a:pt x="88" y="74"/>
                    </a:cubicBezTo>
                    <a:cubicBezTo>
                      <a:pt x="87" y="74"/>
                      <a:pt x="84" y="75"/>
                      <a:pt x="83" y="75"/>
                    </a:cubicBezTo>
                    <a:cubicBezTo>
                      <a:pt x="82" y="76"/>
                      <a:pt x="76" y="77"/>
                      <a:pt x="75" y="77"/>
                    </a:cubicBezTo>
                    <a:cubicBezTo>
                      <a:pt x="73" y="77"/>
                      <a:pt x="66" y="78"/>
                      <a:pt x="63" y="77"/>
                    </a:cubicBezTo>
                    <a:cubicBezTo>
                      <a:pt x="60" y="77"/>
                      <a:pt x="54" y="76"/>
                      <a:pt x="51" y="77"/>
                    </a:cubicBezTo>
                    <a:cubicBezTo>
                      <a:pt x="49" y="77"/>
                      <a:pt x="43" y="78"/>
                      <a:pt x="39" y="79"/>
                    </a:cubicBezTo>
                    <a:cubicBezTo>
                      <a:pt x="35" y="80"/>
                      <a:pt x="47" y="85"/>
                      <a:pt x="52" y="86"/>
                    </a:cubicBezTo>
                    <a:cubicBezTo>
                      <a:pt x="57" y="87"/>
                      <a:pt x="65" y="90"/>
                      <a:pt x="69" y="89"/>
                    </a:cubicBezTo>
                    <a:cubicBezTo>
                      <a:pt x="73" y="89"/>
                      <a:pt x="72" y="87"/>
                      <a:pt x="73" y="86"/>
                    </a:cubicBezTo>
                    <a:cubicBezTo>
                      <a:pt x="74" y="85"/>
                      <a:pt x="76" y="83"/>
                      <a:pt x="79" y="82"/>
                    </a:cubicBezTo>
                    <a:cubicBezTo>
                      <a:pt x="81" y="81"/>
                      <a:pt x="87" y="77"/>
                      <a:pt x="90" y="76"/>
                    </a:cubicBezTo>
                    <a:cubicBezTo>
                      <a:pt x="92" y="74"/>
                      <a:pt x="97" y="74"/>
                      <a:pt x="98" y="74"/>
                    </a:cubicBezTo>
                    <a:cubicBezTo>
                      <a:pt x="99" y="74"/>
                      <a:pt x="103" y="74"/>
                      <a:pt x="105" y="74"/>
                    </a:cubicBezTo>
                    <a:cubicBezTo>
                      <a:pt x="108" y="74"/>
                      <a:pt x="121" y="73"/>
                      <a:pt x="123" y="72"/>
                    </a:cubicBezTo>
                    <a:cubicBezTo>
                      <a:pt x="125" y="72"/>
                      <a:pt x="133" y="71"/>
                      <a:pt x="138" y="71"/>
                    </a:cubicBezTo>
                    <a:cubicBezTo>
                      <a:pt x="144" y="70"/>
                      <a:pt x="139" y="72"/>
                      <a:pt x="139" y="72"/>
                    </a:cubicBezTo>
                    <a:cubicBezTo>
                      <a:pt x="138" y="72"/>
                      <a:pt x="136" y="72"/>
                      <a:pt x="133" y="72"/>
                    </a:cubicBezTo>
                    <a:cubicBezTo>
                      <a:pt x="131" y="72"/>
                      <a:pt x="123" y="74"/>
                      <a:pt x="121" y="74"/>
                    </a:cubicBezTo>
                    <a:cubicBezTo>
                      <a:pt x="120" y="74"/>
                      <a:pt x="115" y="74"/>
                      <a:pt x="114" y="75"/>
                    </a:cubicBezTo>
                    <a:cubicBezTo>
                      <a:pt x="113" y="75"/>
                      <a:pt x="107" y="76"/>
                      <a:pt x="105" y="76"/>
                    </a:cubicBezTo>
                    <a:cubicBezTo>
                      <a:pt x="103" y="75"/>
                      <a:pt x="101" y="76"/>
                      <a:pt x="98" y="77"/>
                    </a:cubicBezTo>
                    <a:cubicBezTo>
                      <a:pt x="96" y="78"/>
                      <a:pt x="92" y="78"/>
                      <a:pt x="91" y="79"/>
                    </a:cubicBezTo>
                    <a:cubicBezTo>
                      <a:pt x="89" y="81"/>
                      <a:pt x="86" y="83"/>
                      <a:pt x="84" y="84"/>
                    </a:cubicBezTo>
                    <a:cubicBezTo>
                      <a:pt x="83" y="85"/>
                      <a:pt x="82" y="85"/>
                      <a:pt x="79" y="88"/>
                    </a:cubicBezTo>
                    <a:cubicBezTo>
                      <a:pt x="76" y="92"/>
                      <a:pt x="84" y="92"/>
                      <a:pt x="86" y="92"/>
                    </a:cubicBezTo>
                    <a:cubicBezTo>
                      <a:pt x="89" y="92"/>
                      <a:pt x="88" y="93"/>
                      <a:pt x="92" y="91"/>
                    </a:cubicBezTo>
                    <a:cubicBezTo>
                      <a:pt x="95" y="89"/>
                      <a:pt x="94" y="90"/>
                      <a:pt x="92" y="92"/>
                    </a:cubicBezTo>
                    <a:cubicBezTo>
                      <a:pt x="90" y="93"/>
                      <a:pt x="93" y="93"/>
                      <a:pt x="95" y="93"/>
                    </a:cubicBezTo>
                    <a:cubicBezTo>
                      <a:pt x="98" y="94"/>
                      <a:pt x="101" y="93"/>
                      <a:pt x="103" y="93"/>
                    </a:cubicBezTo>
                    <a:cubicBezTo>
                      <a:pt x="105" y="93"/>
                      <a:pt x="107" y="93"/>
                      <a:pt x="111" y="93"/>
                    </a:cubicBezTo>
                    <a:cubicBezTo>
                      <a:pt x="116" y="93"/>
                      <a:pt x="118" y="93"/>
                      <a:pt x="121" y="92"/>
                    </a:cubicBezTo>
                    <a:cubicBezTo>
                      <a:pt x="123" y="91"/>
                      <a:pt x="122" y="88"/>
                      <a:pt x="122" y="86"/>
                    </a:cubicBezTo>
                    <a:cubicBezTo>
                      <a:pt x="121" y="85"/>
                      <a:pt x="126" y="84"/>
                      <a:pt x="130" y="83"/>
                    </a:cubicBezTo>
                    <a:cubicBezTo>
                      <a:pt x="133" y="81"/>
                      <a:pt x="130" y="85"/>
                      <a:pt x="127" y="85"/>
                    </a:cubicBezTo>
                    <a:cubicBezTo>
                      <a:pt x="125" y="86"/>
                      <a:pt x="127" y="87"/>
                      <a:pt x="129" y="87"/>
                    </a:cubicBezTo>
                    <a:cubicBezTo>
                      <a:pt x="131" y="88"/>
                      <a:pt x="137" y="86"/>
                      <a:pt x="139" y="85"/>
                    </a:cubicBezTo>
                    <a:cubicBezTo>
                      <a:pt x="141" y="84"/>
                      <a:pt x="143" y="84"/>
                      <a:pt x="145" y="84"/>
                    </a:cubicBezTo>
                    <a:cubicBezTo>
                      <a:pt x="147" y="83"/>
                      <a:pt x="146" y="83"/>
                      <a:pt x="149" y="83"/>
                    </a:cubicBezTo>
                    <a:cubicBezTo>
                      <a:pt x="153" y="83"/>
                      <a:pt x="151" y="84"/>
                      <a:pt x="149" y="85"/>
                    </a:cubicBezTo>
                    <a:cubicBezTo>
                      <a:pt x="148" y="86"/>
                      <a:pt x="145" y="87"/>
                      <a:pt x="140" y="87"/>
                    </a:cubicBezTo>
                    <a:cubicBezTo>
                      <a:pt x="136" y="88"/>
                      <a:pt x="135" y="88"/>
                      <a:pt x="132" y="90"/>
                    </a:cubicBezTo>
                    <a:cubicBezTo>
                      <a:pt x="130" y="92"/>
                      <a:pt x="133" y="93"/>
                      <a:pt x="135" y="93"/>
                    </a:cubicBezTo>
                    <a:cubicBezTo>
                      <a:pt x="137" y="93"/>
                      <a:pt x="147" y="91"/>
                      <a:pt x="151" y="91"/>
                    </a:cubicBezTo>
                    <a:cubicBezTo>
                      <a:pt x="154" y="90"/>
                      <a:pt x="167" y="88"/>
                      <a:pt x="169" y="87"/>
                    </a:cubicBezTo>
                    <a:cubicBezTo>
                      <a:pt x="172" y="87"/>
                      <a:pt x="182" y="84"/>
                      <a:pt x="183" y="83"/>
                    </a:cubicBezTo>
                    <a:cubicBezTo>
                      <a:pt x="185" y="82"/>
                      <a:pt x="185" y="82"/>
                      <a:pt x="186" y="81"/>
                    </a:cubicBezTo>
                    <a:cubicBezTo>
                      <a:pt x="186" y="80"/>
                      <a:pt x="186" y="79"/>
                      <a:pt x="188" y="79"/>
                    </a:cubicBezTo>
                    <a:cubicBezTo>
                      <a:pt x="191" y="79"/>
                      <a:pt x="190" y="77"/>
                      <a:pt x="189" y="77"/>
                    </a:cubicBezTo>
                    <a:cubicBezTo>
                      <a:pt x="188" y="77"/>
                      <a:pt x="187" y="76"/>
                      <a:pt x="189" y="75"/>
                    </a:cubicBezTo>
                    <a:cubicBezTo>
                      <a:pt x="191" y="74"/>
                      <a:pt x="191" y="75"/>
                      <a:pt x="188" y="72"/>
                    </a:cubicBezTo>
                    <a:cubicBezTo>
                      <a:pt x="184" y="69"/>
                      <a:pt x="193" y="73"/>
                      <a:pt x="194" y="73"/>
                    </a:cubicBezTo>
                    <a:cubicBezTo>
                      <a:pt x="195" y="73"/>
                      <a:pt x="197" y="73"/>
                      <a:pt x="197" y="71"/>
                    </a:cubicBezTo>
                    <a:cubicBezTo>
                      <a:pt x="196" y="69"/>
                      <a:pt x="199" y="69"/>
                      <a:pt x="201" y="68"/>
                    </a:cubicBezTo>
                    <a:cubicBezTo>
                      <a:pt x="202" y="68"/>
                      <a:pt x="203" y="67"/>
                      <a:pt x="205" y="66"/>
                    </a:cubicBezTo>
                    <a:cubicBezTo>
                      <a:pt x="206" y="65"/>
                      <a:pt x="215" y="63"/>
                      <a:pt x="220" y="61"/>
                    </a:cubicBezTo>
                    <a:cubicBezTo>
                      <a:pt x="225" y="60"/>
                      <a:pt x="221" y="63"/>
                      <a:pt x="219" y="64"/>
                    </a:cubicBezTo>
                    <a:cubicBezTo>
                      <a:pt x="218" y="64"/>
                      <a:pt x="210" y="66"/>
                      <a:pt x="208" y="67"/>
                    </a:cubicBezTo>
                    <a:cubicBezTo>
                      <a:pt x="206" y="67"/>
                      <a:pt x="207" y="68"/>
                      <a:pt x="207" y="69"/>
                    </a:cubicBezTo>
                    <a:cubicBezTo>
                      <a:pt x="207" y="70"/>
                      <a:pt x="204" y="70"/>
                      <a:pt x="203" y="71"/>
                    </a:cubicBezTo>
                    <a:cubicBezTo>
                      <a:pt x="201" y="71"/>
                      <a:pt x="201" y="72"/>
                      <a:pt x="199" y="73"/>
                    </a:cubicBezTo>
                    <a:cubicBezTo>
                      <a:pt x="198" y="74"/>
                      <a:pt x="197" y="75"/>
                      <a:pt x="196" y="76"/>
                    </a:cubicBezTo>
                    <a:cubicBezTo>
                      <a:pt x="194" y="77"/>
                      <a:pt x="194" y="78"/>
                      <a:pt x="195" y="81"/>
                    </a:cubicBezTo>
                    <a:cubicBezTo>
                      <a:pt x="195" y="83"/>
                      <a:pt x="198" y="81"/>
                      <a:pt x="202" y="81"/>
                    </a:cubicBezTo>
                    <a:cubicBezTo>
                      <a:pt x="205" y="80"/>
                      <a:pt x="214" y="79"/>
                      <a:pt x="216" y="80"/>
                    </a:cubicBezTo>
                    <a:cubicBezTo>
                      <a:pt x="218" y="80"/>
                      <a:pt x="221" y="80"/>
                      <a:pt x="228" y="80"/>
                    </a:cubicBezTo>
                    <a:cubicBezTo>
                      <a:pt x="235" y="80"/>
                      <a:pt x="225" y="82"/>
                      <a:pt x="223" y="82"/>
                    </a:cubicBezTo>
                    <a:cubicBezTo>
                      <a:pt x="222" y="82"/>
                      <a:pt x="217" y="82"/>
                      <a:pt x="210" y="83"/>
                    </a:cubicBezTo>
                    <a:cubicBezTo>
                      <a:pt x="204" y="84"/>
                      <a:pt x="186" y="88"/>
                      <a:pt x="181" y="89"/>
                    </a:cubicBezTo>
                    <a:cubicBezTo>
                      <a:pt x="175" y="91"/>
                      <a:pt x="184" y="91"/>
                      <a:pt x="188" y="91"/>
                    </a:cubicBezTo>
                    <a:cubicBezTo>
                      <a:pt x="191" y="90"/>
                      <a:pt x="197" y="90"/>
                      <a:pt x="205" y="90"/>
                    </a:cubicBezTo>
                    <a:cubicBezTo>
                      <a:pt x="212" y="91"/>
                      <a:pt x="201" y="92"/>
                      <a:pt x="199" y="92"/>
                    </a:cubicBezTo>
                    <a:cubicBezTo>
                      <a:pt x="197" y="92"/>
                      <a:pt x="183" y="93"/>
                      <a:pt x="181" y="93"/>
                    </a:cubicBezTo>
                    <a:cubicBezTo>
                      <a:pt x="179" y="93"/>
                      <a:pt x="175" y="93"/>
                      <a:pt x="173" y="94"/>
                    </a:cubicBezTo>
                    <a:cubicBezTo>
                      <a:pt x="171" y="95"/>
                      <a:pt x="169" y="95"/>
                      <a:pt x="168" y="95"/>
                    </a:cubicBezTo>
                    <a:cubicBezTo>
                      <a:pt x="167" y="95"/>
                      <a:pt x="161" y="96"/>
                      <a:pt x="157" y="97"/>
                    </a:cubicBezTo>
                    <a:cubicBezTo>
                      <a:pt x="153" y="97"/>
                      <a:pt x="144" y="99"/>
                      <a:pt x="135" y="99"/>
                    </a:cubicBezTo>
                    <a:cubicBezTo>
                      <a:pt x="125" y="99"/>
                      <a:pt x="136" y="103"/>
                      <a:pt x="139" y="106"/>
                    </a:cubicBezTo>
                    <a:cubicBezTo>
                      <a:pt x="142" y="109"/>
                      <a:pt x="152" y="112"/>
                      <a:pt x="154" y="112"/>
                    </a:cubicBezTo>
                    <a:cubicBezTo>
                      <a:pt x="155" y="113"/>
                      <a:pt x="157" y="113"/>
                      <a:pt x="155" y="114"/>
                    </a:cubicBezTo>
                    <a:cubicBezTo>
                      <a:pt x="154" y="115"/>
                      <a:pt x="155" y="116"/>
                      <a:pt x="156" y="118"/>
                    </a:cubicBezTo>
                    <a:cubicBezTo>
                      <a:pt x="156" y="121"/>
                      <a:pt x="159" y="121"/>
                      <a:pt x="162" y="121"/>
                    </a:cubicBezTo>
                    <a:cubicBezTo>
                      <a:pt x="165" y="122"/>
                      <a:pt x="168" y="123"/>
                      <a:pt x="171" y="122"/>
                    </a:cubicBezTo>
                    <a:cubicBezTo>
                      <a:pt x="174" y="121"/>
                      <a:pt x="175" y="122"/>
                      <a:pt x="180" y="121"/>
                    </a:cubicBezTo>
                    <a:cubicBezTo>
                      <a:pt x="184" y="121"/>
                      <a:pt x="178" y="123"/>
                      <a:pt x="177" y="123"/>
                    </a:cubicBezTo>
                    <a:cubicBezTo>
                      <a:pt x="176" y="123"/>
                      <a:pt x="172" y="124"/>
                      <a:pt x="169" y="124"/>
                    </a:cubicBezTo>
                    <a:cubicBezTo>
                      <a:pt x="166" y="125"/>
                      <a:pt x="161" y="124"/>
                      <a:pt x="159" y="124"/>
                    </a:cubicBezTo>
                    <a:cubicBezTo>
                      <a:pt x="157" y="123"/>
                      <a:pt x="155" y="125"/>
                      <a:pt x="154" y="125"/>
                    </a:cubicBezTo>
                    <a:cubicBezTo>
                      <a:pt x="152" y="126"/>
                      <a:pt x="152" y="124"/>
                      <a:pt x="153" y="124"/>
                    </a:cubicBezTo>
                    <a:cubicBezTo>
                      <a:pt x="153" y="123"/>
                      <a:pt x="153" y="123"/>
                      <a:pt x="152" y="122"/>
                    </a:cubicBezTo>
                    <a:cubicBezTo>
                      <a:pt x="150" y="121"/>
                      <a:pt x="149" y="122"/>
                      <a:pt x="148" y="118"/>
                    </a:cubicBezTo>
                    <a:cubicBezTo>
                      <a:pt x="146" y="115"/>
                      <a:pt x="132" y="108"/>
                      <a:pt x="130" y="108"/>
                    </a:cubicBezTo>
                    <a:cubicBezTo>
                      <a:pt x="129" y="107"/>
                      <a:pt x="123" y="103"/>
                      <a:pt x="121" y="102"/>
                    </a:cubicBezTo>
                    <a:cubicBezTo>
                      <a:pt x="119" y="101"/>
                      <a:pt x="106" y="102"/>
                      <a:pt x="103" y="102"/>
                    </a:cubicBezTo>
                    <a:cubicBezTo>
                      <a:pt x="101" y="102"/>
                      <a:pt x="95" y="101"/>
                      <a:pt x="91" y="100"/>
                    </a:cubicBezTo>
                    <a:cubicBezTo>
                      <a:pt x="88" y="99"/>
                      <a:pt x="85" y="100"/>
                      <a:pt x="83" y="100"/>
                    </a:cubicBezTo>
                    <a:cubicBezTo>
                      <a:pt x="81" y="101"/>
                      <a:pt x="81" y="103"/>
                      <a:pt x="80" y="105"/>
                    </a:cubicBezTo>
                    <a:cubicBezTo>
                      <a:pt x="79" y="107"/>
                      <a:pt x="80" y="108"/>
                      <a:pt x="81" y="109"/>
                    </a:cubicBezTo>
                    <a:cubicBezTo>
                      <a:pt x="83" y="110"/>
                      <a:pt x="86" y="111"/>
                      <a:pt x="88" y="111"/>
                    </a:cubicBezTo>
                    <a:cubicBezTo>
                      <a:pt x="91" y="111"/>
                      <a:pt x="93" y="112"/>
                      <a:pt x="97" y="113"/>
                    </a:cubicBezTo>
                    <a:cubicBezTo>
                      <a:pt x="100" y="113"/>
                      <a:pt x="99" y="114"/>
                      <a:pt x="98" y="114"/>
                    </a:cubicBezTo>
                    <a:cubicBezTo>
                      <a:pt x="98" y="114"/>
                      <a:pt x="97" y="114"/>
                      <a:pt x="95" y="113"/>
                    </a:cubicBezTo>
                    <a:cubicBezTo>
                      <a:pt x="94" y="112"/>
                      <a:pt x="90" y="113"/>
                      <a:pt x="89" y="113"/>
                    </a:cubicBezTo>
                    <a:cubicBezTo>
                      <a:pt x="88" y="113"/>
                      <a:pt x="87" y="112"/>
                      <a:pt x="84" y="112"/>
                    </a:cubicBezTo>
                    <a:cubicBezTo>
                      <a:pt x="82" y="112"/>
                      <a:pt x="82" y="114"/>
                      <a:pt x="82" y="117"/>
                    </a:cubicBezTo>
                    <a:cubicBezTo>
                      <a:pt x="82" y="120"/>
                      <a:pt x="85" y="120"/>
                      <a:pt x="88" y="120"/>
                    </a:cubicBezTo>
                    <a:cubicBezTo>
                      <a:pt x="92" y="120"/>
                      <a:pt x="90" y="121"/>
                      <a:pt x="96" y="121"/>
                    </a:cubicBezTo>
                    <a:cubicBezTo>
                      <a:pt x="101" y="121"/>
                      <a:pt x="103" y="124"/>
                      <a:pt x="104" y="125"/>
                    </a:cubicBezTo>
                    <a:cubicBezTo>
                      <a:pt x="104" y="126"/>
                      <a:pt x="105" y="128"/>
                      <a:pt x="109" y="129"/>
                    </a:cubicBezTo>
                    <a:cubicBezTo>
                      <a:pt x="112" y="130"/>
                      <a:pt x="113" y="135"/>
                      <a:pt x="114" y="137"/>
                    </a:cubicBezTo>
                    <a:cubicBezTo>
                      <a:pt x="115" y="139"/>
                      <a:pt x="116" y="139"/>
                      <a:pt x="118" y="138"/>
                    </a:cubicBezTo>
                    <a:cubicBezTo>
                      <a:pt x="120" y="137"/>
                      <a:pt x="119" y="138"/>
                      <a:pt x="119" y="139"/>
                    </a:cubicBezTo>
                    <a:cubicBezTo>
                      <a:pt x="119" y="140"/>
                      <a:pt x="123" y="142"/>
                      <a:pt x="125" y="143"/>
                    </a:cubicBezTo>
                    <a:cubicBezTo>
                      <a:pt x="128" y="143"/>
                      <a:pt x="127" y="143"/>
                      <a:pt x="126" y="143"/>
                    </a:cubicBezTo>
                    <a:cubicBezTo>
                      <a:pt x="125" y="144"/>
                      <a:pt x="123" y="144"/>
                      <a:pt x="122" y="143"/>
                    </a:cubicBezTo>
                    <a:cubicBezTo>
                      <a:pt x="121" y="143"/>
                      <a:pt x="117" y="141"/>
                      <a:pt x="115" y="140"/>
                    </a:cubicBezTo>
                    <a:cubicBezTo>
                      <a:pt x="113" y="139"/>
                      <a:pt x="111" y="140"/>
                      <a:pt x="108" y="141"/>
                    </a:cubicBezTo>
                    <a:cubicBezTo>
                      <a:pt x="105" y="143"/>
                      <a:pt x="110" y="144"/>
                      <a:pt x="113" y="145"/>
                    </a:cubicBezTo>
                    <a:cubicBezTo>
                      <a:pt x="115" y="146"/>
                      <a:pt x="120" y="145"/>
                      <a:pt x="122" y="146"/>
                    </a:cubicBezTo>
                    <a:cubicBezTo>
                      <a:pt x="124" y="147"/>
                      <a:pt x="128" y="146"/>
                      <a:pt x="131" y="146"/>
                    </a:cubicBezTo>
                    <a:cubicBezTo>
                      <a:pt x="133" y="146"/>
                      <a:pt x="138" y="147"/>
                      <a:pt x="140" y="148"/>
                    </a:cubicBezTo>
                    <a:cubicBezTo>
                      <a:pt x="143" y="148"/>
                      <a:pt x="145" y="148"/>
                      <a:pt x="147" y="146"/>
                    </a:cubicBezTo>
                    <a:cubicBezTo>
                      <a:pt x="149" y="145"/>
                      <a:pt x="149" y="144"/>
                      <a:pt x="153" y="143"/>
                    </a:cubicBezTo>
                    <a:cubicBezTo>
                      <a:pt x="157" y="141"/>
                      <a:pt x="155" y="143"/>
                      <a:pt x="154" y="144"/>
                    </a:cubicBezTo>
                    <a:cubicBezTo>
                      <a:pt x="153" y="145"/>
                      <a:pt x="152" y="146"/>
                      <a:pt x="152" y="148"/>
                    </a:cubicBezTo>
                    <a:cubicBezTo>
                      <a:pt x="152" y="150"/>
                      <a:pt x="151" y="149"/>
                      <a:pt x="149" y="149"/>
                    </a:cubicBezTo>
                    <a:cubicBezTo>
                      <a:pt x="147" y="149"/>
                      <a:pt x="143" y="150"/>
                      <a:pt x="142" y="150"/>
                    </a:cubicBezTo>
                    <a:cubicBezTo>
                      <a:pt x="140" y="150"/>
                      <a:pt x="136" y="149"/>
                      <a:pt x="132" y="149"/>
                    </a:cubicBezTo>
                    <a:cubicBezTo>
                      <a:pt x="127" y="149"/>
                      <a:pt x="135" y="152"/>
                      <a:pt x="136" y="153"/>
                    </a:cubicBezTo>
                    <a:cubicBezTo>
                      <a:pt x="137" y="153"/>
                      <a:pt x="140" y="153"/>
                      <a:pt x="143" y="153"/>
                    </a:cubicBezTo>
                    <a:cubicBezTo>
                      <a:pt x="146" y="152"/>
                      <a:pt x="143" y="153"/>
                      <a:pt x="141" y="153"/>
                    </a:cubicBezTo>
                    <a:cubicBezTo>
                      <a:pt x="139" y="153"/>
                      <a:pt x="139" y="154"/>
                      <a:pt x="142" y="156"/>
                    </a:cubicBezTo>
                    <a:cubicBezTo>
                      <a:pt x="145" y="158"/>
                      <a:pt x="144" y="158"/>
                      <a:pt x="143" y="158"/>
                    </a:cubicBezTo>
                    <a:cubicBezTo>
                      <a:pt x="142" y="158"/>
                      <a:pt x="141" y="158"/>
                      <a:pt x="139" y="156"/>
                    </a:cubicBezTo>
                    <a:cubicBezTo>
                      <a:pt x="138" y="155"/>
                      <a:pt x="133" y="155"/>
                      <a:pt x="131" y="153"/>
                    </a:cubicBezTo>
                    <a:cubicBezTo>
                      <a:pt x="129" y="152"/>
                      <a:pt x="127" y="152"/>
                      <a:pt x="124" y="151"/>
                    </a:cubicBezTo>
                    <a:cubicBezTo>
                      <a:pt x="122" y="150"/>
                      <a:pt x="116" y="149"/>
                      <a:pt x="114" y="149"/>
                    </a:cubicBezTo>
                    <a:cubicBezTo>
                      <a:pt x="113" y="149"/>
                      <a:pt x="106" y="148"/>
                      <a:pt x="104" y="147"/>
                    </a:cubicBezTo>
                    <a:cubicBezTo>
                      <a:pt x="102" y="146"/>
                      <a:pt x="99" y="147"/>
                      <a:pt x="97" y="148"/>
                    </a:cubicBezTo>
                    <a:cubicBezTo>
                      <a:pt x="94" y="149"/>
                      <a:pt x="89" y="150"/>
                      <a:pt x="87" y="150"/>
                    </a:cubicBezTo>
                    <a:cubicBezTo>
                      <a:pt x="84" y="150"/>
                      <a:pt x="79" y="151"/>
                      <a:pt x="77" y="152"/>
                    </a:cubicBezTo>
                    <a:cubicBezTo>
                      <a:pt x="76" y="152"/>
                      <a:pt x="74" y="156"/>
                      <a:pt x="73" y="158"/>
                    </a:cubicBezTo>
                    <a:cubicBezTo>
                      <a:pt x="71" y="160"/>
                      <a:pt x="70" y="160"/>
                      <a:pt x="68" y="162"/>
                    </a:cubicBezTo>
                    <a:cubicBezTo>
                      <a:pt x="66" y="163"/>
                      <a:pt x="66" y="165"/>
                      <a:pt x="67" y="167"/>
                    </a:cubicBezTo>
                    <a:cubicBezTo>
                      <a:pt x="67" y="169"/>
                      <a:pt x="67" y="170"/>
                      <a:pt x="70" y="170"/>
                    </a:cubicBezTo>
                    <a:cubicBezTo>
                      <a:pt x="72" y="170"/>
                      <a:pt x="71" y="171"/>
                      <a:pt x="70" y="171"/>
                    </a:cubicBezTo>
                    <a:cubicBezTo>
                      <a:pt x="69" y="171"/>
                      <a:pt x="67" y="171"/>
                      <a:pt x="66" y="172"/>
                    </a:cubicBezTo>
                    <a:cubicBezTo>
                      <a:pt x="66" y="174"/>
                      <a:pt x="72" y="173"/>
                      <a:pt x="75" y="173"/>
                    </a:cubicBezTo>
                    <a:cubicBezTo>
                      <a:pt x="77" y="173"/>
                      <a:pt x="79" y="172"/>
                      <a:pt x="80" y="171"/>
                    </a:cubicBezTo>
                    <a:cubicBezTo>
                      <a:pt x="81" y="170"/>
                      <a:pt x="81" y="169"/>
                      <a:pt x="83" y="170"/>
                    </a:cubicBezTo>
                    <a:cubicBezTo>
                      <a:pt x="85" y="171"/>
                      <a:pt x="87" y="170"/>
                      <a:pt x="89" y="167"/>
                    </a:cubicBezTo>
                    <a:cubicBezTo>
                      <a:pt x="91" y="164"/>
                      <a:pt x="91" y="166"/>
                      <a:pt x="90" y="168"/>
                    </a:cubicBezTo>
                    <a:cubicBezTo>
                      <a:pt x="90" y="169"/>
                      <a:pt x="89" y="169"/>
                      <a:pt x="88" y="170"/>
                    </a:cubicBezTo>
                    <a:cubicBezTo>
                      <a:pt x="88" y="171"/>
                      <a:pt x="87" y="172"/>
                      <a:pt x="85" y="172"/>
                    </a:cubicBezTo>
                    <a:cubicBezTo>
                      <a:pt x="84" y="172"/>
                      <a:pt x="85" y="172"/>
                      <a:pt x="85" y="173"/>
                    </a:cubicBezTo>
                    <a:cubicBezTo>
                      <a:pt x="84" y="175"/>
                      <a:pt x="93" y="174"/>
                      <a:pt x="96" y="173"/>
                    </a:cubicBezTo>
                    <a:cubicBezTo>
                      <a:pt x="99" y="173"/>
                      <a:pt x="101" y="169"/>
                      <a:pt x="103" y="167"/>
                    </a:cubicBezTo>
                    <a:cubicBezTo>
                      <a:pt x="105" y="165"/>
                      <a:pt x="102" y="166"/>
                      <a:pt x="106" y="162"/>
                    </a:cubicBezTo>
                    <a:cubicBezTo>
                      <a:pt x="109" y="157"/>
                      <a:pt x="107" y="162"/>
                      <a:pt x="106" y="163"/>
                    </a:cubicBezTo>
                    <a:cubicBezTo>
                      <a:pt x="106" y="164"/>
                      <a:pt x="106" y="166"/>
                      <a:pt x="108" y="165"/>
                    </a:cubicBezTo>
                    <a:cubicBezTo>
                      <a:pt x="110" y="165"/>
                      <a:pt x="109" y="166"/>
                      <a:pt x="108" y="166"/>
                    </a:cubicBezTo>
                    <a:cubicBezTo>
                      <a:pt x="107" y="167"/>
                      <a:pt x="106" y="167"/>
                      <a:pt x="105" y="168"/>
                    </a:cubicBezTo>
                    <a:cubicBezTo>
                      <a:pt x="103" y="169"/>
                      <a:pt x="104" y="170"/>
                      <a:pt x="106" y="170"/>
                    </a:cubicBezTo>
                    <a:cubicBezTo>
                      <a:pt x="107" y="170"/>
                      <a:pt x="108" y="169"/>
                      <a:pt x="113" y="170"/>
                    </a:cubicBezTo>
                    <a:cubicBezTo>
                      <a:pt x="118" y="171"/>
                      <a:pt x="114" y="171"/>
                      <a:pt x="113" y="171"/>
                    </a:cubicBezTo>
                    <a:cubicBezTo>
                      <a:pt x="111" y="171"/>
                      <a:pt x="110" y="171"/>
                      <a:pt x="108" y="171"/>
                    </a:cubicBezTo>
                    <a:cubicBezTo>
                      <a:pt x="107" y="171"/>
                      <a:pt x="106" y="171"/>
                      <a:pt x="105" y="171"/>
                    </a:cubicBezTo>
                    <a:cubicBezTo>
                      <a:pt x="103" y="171"/>
                      <a:pt x="104" y="172"/>
                      <a:pt x="103" y="173"/>
                    </a:cubicBezTo>
                    <a:cubicBezTo>
                      <a:pt x="103" y="174"/>
                      <a:pt x="106" y="175"/>
                      <a:pt x="109" y="174"/>
                    </a:cubicBezTo>
                    <a:cubicBezTo>
                      <a:pt x="113" y="174"/>
                      <a:pt x="112" y="175"/>
                      <a:pt x="111" y="175"/>
                    </a:cubicBezTo>
                    <a:cubicBezTo>
                      <a:pt x="110" y="175"/>
                      <a:pt x="109" y="175"/>
                      <a:pt x="108" y="176"/>
                    </a:cubicBezTo>
                    <a:cubicBezTo>
                      <a:pt x="107" y="176"/>
                      <a:pt x="104" y="175"/>
                      <a:pt x="103" y="175"/>
                    </a:cubicBezTo>
                    <a:cubicBezTo>
                      <a:pt x="101" y="175"/>
                      <a:pt x="98" y="177"/>
                      <a:pt x="95" y="178"/>
                    </a:cubicBezTo>
                    <a:cubicBezTo>
                      <a:pt x="93" y="179"/>
                      <a:pt x="95" y="180"/>
                      <a:pt x="97" y="180"/>
                    </a:cubicBezTo>
                    <a:cubicBezTo>
                      <a:pt x="100" y="180"/>
                      <a:pt x="106" y="180"/>
                      <a:pt x="110" y="179"/>
                    </a:cubicBezTo>
                    <a:cubicBezTo>
                      <a:pt x="114" y="179"/>
                      <a:pt x="112" y="180"/>
                      <a:pt x="110" y="180"/>
                    </a:cubicBezTo>
                    <a:cubicBezTo>
                      <a:pt x="109" y="180"/>
                      <a:pt x="107" y="181"/>
                      <a:pt x="107" y="181"/>
                    </a:cubicBezTo>
                    <a:cubicBezTo>
                      <a:pt x="106" y="182"/>
                      <a:pt x="105" y="181"/>
                      <a:pt x="104" y="181"/>
                    </a:cubicBezTo>
                    <a:cubicBezTo>
                      <a:pt x="104" y="180"/>
                      <a:pt x="103" y="181"/>
                      <a:pt x="101" y="181"/>
                    </a:cubicBezTo>
                    <a:cubicBezTo>
                      <a:pt x="100" y="181"/>
                      <a:pt x="99" y="181"/>
                      <a:pt x="99" y="182"/>
                    </a:cubicBezTo>
                    <a:cubicBezTo>
                      <a:pt x="98" y="183"/>
                      <a:pt x="101" y="183"/>
                      <a:pt x="103" y="182"/>
                    </a:cubicBezTo>
                    <a:cubicBezTo>
                      <a:pt x="105" y="182"/>
                      <a:pt x="103" y="183"/>
                      <a:pt x="102" y="183"/>
                    </a:cubicBezTo>
                    <a:cubicBezTo>
                      <a:pt x="101" y="184"/>
                      <a:pt x="101" y="184"/>
                      <a:pt x="99" y="185"/>
                    </a:cubicBezTo>
                    <a:cubicBezTo>
                      <a:pt x="97" y="186"/>
                      <a:pt x="101" y="189"/>
                      <a:pt x="103" y="189"/>
                    </a:cubicBezTo>
                    <a:cubicBezTo>
                      <a:pt x="105" y="189"/>
                      <a:pt x="106" y="189"/>
                      <a:pt x="109" y="187"/>
                    </a:cubicBezTo>
                    <a:cubicBezTo>
                      <a:pt x="113" y="185"/>
                      <a:pt x="109" y="189"/>
                      <a:pt x="107" y="190"/>
                    </a:cubicBezTo>
                    <a:cubicBezTo>
                      <a:pt x="104" y="192"/>
                      <a:pt x="110" y="192"/>
                      <a:pt x="112" y="192"/>
                    </a:cubicBezTo>
                    <a:cubicBezTo>
                      <a:pt x="113" y="192"/>
                      <a:pt x="116" y="192"/>
                      <a:pt x="121" y="192"/>
                    </a:cubicBezTo>
                    <a:cubicBezTo>
                      <a:pt x="126" y="193"/>
                      <a:pt x="131" y="185"/>
                      <a:pt x="132" y="184"/>
                    </a:cubicBezTo>
                    <a:cubicBezTo>
                      <a:pt x="132" y="183"/>
                      <a:pt x="135" y="180"/>
                      <a:pt x="136" y="179"/>
                    </a:cubicBezTo>
                    <a:cubicBezTo>
                      <a:pt x="137" y="178"/>
                      <a:pt x="137" y="179"/>
                      <a:pt x="136" y="177"/>
                    </a:cubicBezTo>
                    <a:cubicBezTo>
                      <a:pt x="136" y="175"/>
                      <a:pt x="139" y="175"/>
                      <a:pt x="141" y="175"/>
                    </a:cubicBezTo>
                    <a:cubicBezTo>
                      <a:pt x="143" y="174"/>
                      <a:pt x="141" y="176"/>
                      <a:pt x="140" y="176"/>
                    </a:cubicBezTo>
                    <a:cubicBezTo>
                      <a:pt x="139" y="176"/>
                      <a:pt x="139" y="178"/>
                      <a:pt x="139" y="178"/>
                    </a:cubicBezTo>
                    <a:cubicBezTo>
                      <a:pt x="138" y="179"/>
                      <a:pt x="137" y="183"/>
                      <a:pt x="135" y="185"/>
                    </a:cubicBezTo>
                    <a:cubicBezTo>
                      <a:pt x="134" y="187"/>
                      <a:pt x="133" y="188"/>
                      <a:pt x="131" y="191"/>
                    </a:cubicBezTo>
                    <a:cubicBezTo>
                      <a:pt x="128" y="193"/>
                      <a:pt x="126" y="193"/>
                      <a:pt x="124" y="194"/>
                    </a:cubicBezTo>
                    <a:cubicBezTo>
                      <a:pt x="121" y="194"/>
                      <a:pt x="120" y="195"/>
                      <a:pt x="124" y="196"/>
                    </a:cubicBezTo>
                    <a:cubicBezTo>
                      <a:pt x="128" y="197"/>
                      <a:pt x="122" y="197"/>
                      <a:pt x="121" y="197"/>
                    </a:cubicBezTo>
                    <a:cubicBezTo>
                      <a:pt x="120" y="196"/>
                      <a:pt x="117" y="196"/>
                      <a:pt x="116" y="196"/>
                    </a:cubicBezTo>
                    <a:cubicBezTo>
                      <a:pt x="115" y="196"/>
                      <a:pt x="113" y="197"/>
                      <a:pt x="112" y="196"/>
                    </a:cubicBezTo>
                    <a:cubicBezTo>
                      <a:pt x="111" y="196"/>
                      <a:pt x="109" y="196"/>
                      <a:pt x="109" y="197"/>
                    </a:cubicBezTo>
                    <a:cubicBezTo>
                      <a:pt x="108" y="198"/>
                      <a:pt x="107" y="199"/>
                      <a:pt x="106" y="198"/>
                    </a:cubicBezTo>
                    <a:cubicBezTo>
                      <a:pt x="105" y="197"/>
                      <a:pt x="105" y="196"/>
                      <a:pt x="102" y="197"/>
                    </a:cubicBezTo>
                    <a:cubicBezTo>
                      <a:pt x="99" y="197"/>
                      <a:pt x="97" y="195"/>
                      <a:pt x="96" y="195"/>
                    </a:cubicBezTo>
                    <a:cubicBezTo>
                      <a:pt x="95" y="194"/>
                      <a:pt x="97" y="193"/>
                      <a:pt x="94" y="194"/>
                    </a:cubicBezTo>
                    <a:cubicBezTo>
                      <a:pt x="91" y="196"/>
                      <a:pt x="92" y="193"/>
                      <a:pt x="92" y="193"/>
                    </a:cubicBezTo>
                    <a:cubicBezTo>
                      <a:pt x="90" y="183"/>
                      <a:pt x="80" y="181"/>
                      <a:pt x="76" y="180"/>
                    </a:cubicBezTo>
                    <a:cubicBezTo>
                      <a:pt x="72" y="180"/>
                      <a:pt x="63" y="181"/>
                      <a:pt x="62" y="182"/>
                    </a:cubicBezTo>
                    <a:cubicBezTo>
                      <a:pt x="60" y="183"/>
                      <a:pt x="59" y="183"/>
                      <a:pt x="58" y="182"/>
                    </a:cubicBezTo>
                    <a:cubicBezTo>
                      <a:pt x="56" y="182"/>
                      <a:pt x="56" y="182"/>
                      <a:pt x="56" y="183"/>
                    </a:cubicBezTo>
                    <a:cubicBezTo>
                      <a:pt x="56" y="183"/>
                      <a:pt x="56" y="186"/>
                      <a:pt x="56" y="187"/>
                    </a:cubicBezTo>
                    <a:cubicBezTo>
                      <a:pt x="56" y="188"/>
                      <a:pt x="55" y="188"/>
                      <a:pt x="58" y="190"/>
                    </a:cubicBezTo>
                    <a:cubicBezTo>
                      <a:pt x="60" y="191"/>
                      <a:pt x="63" y="196"/>
                      <a:pt x="63" y="197"/>
                    </a:cubicBezTo>
                    <a:cubicBezTo>
                      <a:pt x="63" y="197"/>
                      <a:pt x="68" y="197"/>
                      <a:pt x="74" y="197"/>
                    </a:cubicBezTo>
                    <a:cubicBezTo>
                      <a:pt x="79" y="196"/>
                      <a:pt x="72" y="198"/>
                      <a:pt x="71" y="199"/>
                    </a:cubicBezTo>
                    <a:cubicBezTo>
                      <a:pt x="70" y="199"/>
                      <a:pt x="72" y="201"/>
                      <a:pt x="71" y="201"/>
                    </a:cubicBezTo>
                    <a:cubicBezTo>
                      <a:pt x="71" y="201"/>
                      <a:pt x="71" y="201"/>
                      <a:pt x="72" y="202"/>
                    </a:cubicBezTo>
                    <a:cubicBezTo>
                      <a:pt x="73" y="204"/>
                      <a:pt x="72" y="203"/>
                      <a:pt x="71" y="203"/>
                    </a:cubicBezTo>
                    <a:cubicBezTo>
                      <a:pt x="69" y="202"/>
                      <a:pt x="67" y="204"/>
                      <a:pt x="68" y="205"/>
                    </a:cubicBezTo>
                    <a:cubicBezTo>
                      <a:pt x="68" y="206"/>
                      <a:pt x="65" y="205"/>
                      <a:pt x="63" y="205"/>
                    </a:cubicBezTo>
                    <a:cubicBezTo>
                      <a:pt x="61" y="204"/>
                      <a:pt x="58" y="205"/>
                      <a:pt x="55" y="205"/>
                    </a:cubicBezTo>
                    <a:cubicBezTo>
                      <a:pt x="53" y="204"/>
                      <a:pt x="51" y="206"/>
                      <a:pt x="51" y="207"/>
                    </a:cubicBezTo>
                    <a:cubicBezTo>
                      <a:pt x="50" y="207"/>
                      <a:pt x="49" y="208"/>
                      <a:pt x="46" y="208"/>
                    </a:cubicBezTo>
                    <a:cubicBezTo>
                      <a:pt x="44" y="209"/>
                      <a:pt x="42" y="211"/>
                      <a:pt x="41" y="211"/>
                    </a:cubicBezTo>
                    <a:cubicBezTo>
                      <a:pt x="40" y="212"/>
                      <a:pt x="38" y="212"/>
                      <a:pt x="37" y="213"/>
                    </a:cubicBezTo>
                    <a:cubicBezTo>
                      <a:pt x="36" y="213"/>
                      <a:pt x="37" y="216"/>
                      <a:pt x="37" y="217"/>
                    </a:cubicBezTo>
                    <a:cubicBezTo>
                      <a:pt x="38" y="218"/>
                      <a:pt x="38" y="219"/>
                      <a:pt x="37" y="219"/>
                    </a:cubicBezTo>
                    <a:cubicBezTo>
                      <a:pt x="36" y="220"/>
                      <a:pt x="36" y="220"/>
                      <a:pt x="35" y="221"/>
                    </a:cubicBezTo>
                    <a:cubicBezTo>
                      <a:pt x="34" y="222"/>
                      <a:pt x="35" y="222"/>
                      <a:pt x="35" y="222"/>
                    </a:cubicBezTo>
                    <a:cubicBezTo>
                      <a:pt x="35" y="222"/>
                      <a:pt x="42" y="227"/>
                      <a:pt x="44" y="227"/>
                    </a:cubicBezTo>
                    <a:cubicBezTo>
                      <a:pt x="47" y="227"/>
                      <a:pt x="47" y="224"/>
                      <a:pt x="48" y="222"/>
                    </a:cubicBezTo>
                    <a:cubicBezTo>
                      <a:pt x="49" y="220"/>
                      <a:pt x="50" y="223"/>
                      <a:pt x="49" y="224"/>
                    </a:cubicBezTo>
                    <a:cubicBezTo>
                      <a:pt x="49" y="226"/>
                      <a:pt x="49" y="226"/>
                      <a:pt x="50" y="227"/>
                    </a:cubicBezTo>
                    <a:cubicBezTo>
                      <a:pt x="50" y="228"/>
                      <a:pt x="51" y="225"/>
                      <a:pt x="52" y="224"/>
                    </a:cubicBezTo>
                    <a:cubicBezTo>
                      <a:pt x="52" y="223"/>
                      <a:pt x="51" y="221"/>
                      <a:pt x="50" y="221"/>
                    </a:cubicBezTo>
                    <a:cubicBezTo>
                      <a:pt x="49" y="220"/>
                      <a:pt x="51" y="219"/>
                      <a:pt x="50" y="219"/>
                    </a:cubicBezTo>
                    <a:cubicBezTo>
                      <a:pt x="49" y="218"/>
                      <a:pt x="49" y="218"/>
                      <a:pt x="50" y="216"/>
                    </a:cubicBezTo>
                    <a:cubicBezTo>
                      <a:pt x="51" y="214"/>
                      <a:pt x="52" y="215"/>
                      <a:pt x="51" y="216"/>
                    </a:cubicBezTo>
                    <a:cubicBezTo>
                      <a:pt x="51" y="216"/>
                      <a:pt x="52" y="217"/>
                      <a:pt x="52" y="218"/>
                    </a:cubicBezTo>
                    <a:cubicBezTo>
                      <a:pt x="51" y="219"/>
                      <a:pt x="52" y="222"/>
                      <a:pt x="53" y="223"/>
                    </a:cubicBezTo>
                    <a:cubicBezTo>
                      <a:pt x="54" y="224"/>
                      <a:pt x="54" y="224"/>
                      <a:pt x="53" y="225"/>
                    </a:cubicBezTo>
                    <a:cubicBezTo>
                      <a:pt x="52" y="225"/>
                      <a:pt x="53" y="226"/>
                      <a:pt x="53" y="227"/>
                    </a:cubicBezTo>
                    <a:cubicBezTo>
                      <a:pt x="53" y="228"/>
                      <a:pt x="53" y="228"/>
                      <a:pt x="55" y="228"/>
                    </a:cubicBezTo>
                    <a:cubicBezTo>
                      <a:pt x="56" y="228"/>
                      <a:pt x="61" y="228"/>
                      <a:pt x="63" y="229"/>
                    </a:cubicBezTo>
                    <a:cubicBezTo>
                      <a:pt x="65" y="229"/>
                      <a:pt x="66" y="226"/>
                      <a:pt x="66" y="224"/>
                    </a:cubicBezTo>
                    <a:cubicBezTo>
                      <a:pt x="67" y="222"/>
                      <a:pt x="65" y="224"/>
                      <a:pt x="66" y="221"/>
                    </a:cubicBezTo>
                    <a:cubicBezTo>
                      <a:pt x="66" y="219"/>
                      <a:pt x="68" y="223"/>
                      <a:pt x="68" y="225"/>
                    </a:cubicBezTo>
                    <a:cubicBezTo>
                      <a:pt x="67" y="226"/>
                      <a:pt x="70" y="226"/>
                      <a:pt x="71" y="226"/>
                    </a:cubicBezTo>
                    <a:cubicBezTo>
                      <a:pt x="73" y="226"/>
                      <a:pt x="73" y="226"/>
                      <a:pt x="72" y="227"/>
                    </a:cubicBezTo>
                    <a:cubicBezTo>
                      <a:pt x="71" y="228"/>
                      <a:pt x="75" y="228"/>
                      <a:pt x="77" y="228"/>
                    </a:cubicBezTo>
                    <a:cubicBezTo>
                      <a:pt x="79" y="228"/>
                      <a:pt x="78" y="228"/>
                      <a:pt x="79" y="227"/>
                    </a:cubicBezTo>
                    <a:cubicBezTo>
                      <a:pt x="79" y="225"/>
                      <a:pt x="79" y="225"/>
                      <a:pt x="81" y="224"/>
                    </a:cubicBezTo>
                    <a:cubicBezTo>
                      <a:pt x="83" y="223"/>
                      <a:pt x="84" y="223"/>
                      <a:pt x="82" y="222"/>
                    </a:cubicBezTo>
                    <a:cubicBezTo>
                      <a:pt x="80" y="220"/>
                      <a:pt x="84" y="222"/>
                      <a:pt x="85" y="223"/>
                    </a:cubicBezTo>
                    <a:cubicBezTo>
                      <a:pt x="86" y="224"/>
                      <a:pt x="85" y="224"/>
                      <a:pt x="84" y="224"/>
                    </a:cubicBezTo>
                    <a:cubicBezTo>
                      <a:pt x="82" y="225"/>
                      <a:pt x="83" y="226"/>
                      <a:pt x="83" y="227"/>
                    </a:cubicBezTo>
                    <a:cubicBezTo>
                      <a:pt x="83" y="228"/>
                      <a:pt x="85" y="228"/>
                      <a:pt x="86" y="228"/>
                    </a:cubicBezTo>
                    <a:cubicBezTo>
                      <a:pt x="88" y="228"/>
                      <a:pt x="93" y="230"/>
                      <a:pt x="95" y="229"/>
                    </a:cubicBezTo>
                    <a:cubicBezTo>
                      <a:pt x="97" y="229"/>
                      <a:pt x="100" y="231"/>
                      <a:pt x="102" y="231"/>
                    </a:cubicBezTo>
                    <a:cubicBezTo>
                      <a:pt x="104" y="230"/>
                      <a:pt x="107" y="231"/>
                      <a:pt x="110" y="230"/>
                    </a:cubicBezTo>
                    <a:cubicBezTo>
                      <a:pt x="113" y="229"/>
                      <a:pt x="107" y="227"/>
                      <a:pt x="106" y="227"/>
                    </a:cubicBezTo>
                    <a:cubicBezTo>
                      <a:pt x="104" y="226"/>
                      <a:pt x="104" y="226"/>
                      <a:pt x="103" y="223"/>
                    </a:cubicBezTo>
                    <a:cubicBezTo>
                      <a:pt x="102" y="221"/>
                      <a:pt x="106" y="224"/>
                      <a:pt x="109" y="225"/>
                    </a:cubicBezTo>
                    <a:cubicBezTo>
                      <a:pt x="112" y="227"/>
                      <a:pt x="115" y="224"/>
                      <a:pt x="115" y="222"/>
                    </a:cubicBezTo>
                    <a:cubicBezTo>
                      <a:pt x="116" y="220"/>
                      <a:pt x="117" y="222"/>
                      <a:pt x="117" y="222"/>
                    </a:cubicBezTo>
                    <a:cubicBezTo>
                      <a:pt x="122" y="226"/>
                      <a:pt x="126" y="227"/>
                      <a:pt x="128" y="226"/>
                    </a:cubicBezTo>
                    <a:cubicBezTo>
                      <a:pt x="130" y="226"/>
                      <a:pt x="128" y="221"/>
                      <a:pt x="127" y="219"/>
                    </a:cubicBezTo>
                    <a:cubicBezTo>
                      <a:pt x="125" y="217"/>
                      <a:pt x="130" y="220"/>
                      <a:pt x="131" y="221"/>
                    </a:cubicBezTo>
                    <a:cubicBezTo>
                      <a:pt x="132" y="222"/>
                      <a:pt x="132" y="221"/>
                      <a:pt x="132" y="224"/>
                    </a:cubicBezTo>
                    <a:cubicBezTo>
                      <a:pt x="132" y="227"/>
                      <a:pt x="135" y="227"/>
                      <a:pt x="136" y="227"/>
                    </a:cubicBezTo>
                    <a:cubicBezTo>
                      <a:pt x="138" y="228"/>
                      <a:pt x="139" y="228"/>
                      <a:pt x="141" y="227"/>
                    </a:cubicBezTo>
                    <a:cubicBezTo>
                      <a:pt x="142" y="227"/>
                      <a:pt x="143" y="227"/>
                      <a:pt x="145" y="227"/>
                    </a:cubicBezTo>
                    <a:cubicBezTo>
                      <a:pt x="147" y="226"/>
                      <a:pt x="146" y="224"/>
                      <a:pt x="146" y="222"/>
                    </a:cubicBezTo>
                    <a:cubicBezTo>
                      <a:pt x="146" y="220"/>
                      <a:pt x="143" y="218"/>
                      <a:pt x="139" y="216"/>
                    </a:cubicBezTo>
                    <a:cubicBezTo>
                      <a:pt x="135" y="214"/>
                      <a:pt x="139" y="215"/>
                      <a:pt x="140" y="215"/>
                    </a:cubicBezTo>
                    <a:cubicBezTo>
                      <a:pt x="141" y="216"/>
                      <a:pt x="146" y="219"/>
                      <a:pt x="148" y="219"/>
                    </a:cubicBezTo>
                    <a:cubicBezTo>
                      <a:pt x="151" y="219"/>
                      <a:pt x="149" y="220"/>
                      <a:pt x="149" y="220"/>
                    </a:cubicBezTo>
                    <a:cubicBezTo>
                      <a:pt x="148" y="220"/>
                      <a:pt x="149" y="221"/>
                      <a:pt x="148" y="223"/>
                    </a:cubicBezTo>
                    <a:cubicBezTo>
                      <a:pt x="147" y="224"/>
                      <a:pt x="152" y="225"/>
                      <a:pt x="153" y="225"/>
                    </a:cubicBezTo>
                    <a:cubicBezTo>
                      <a:pt x="155" y="225"/>
                      <a:pt x="157" y="224"/>
                      <a:pt x="159" y="223"/>
                    </a:cubicBezTo>
                    <a:cubicBezTo>
                      <a:pt x="160" y="222"/>
                      <a:pt x="161" y="224"/>
                      <a:pt x="164" y="225"/>
                    </a:cubicBezTo>
                    <a:cubicBezTo>
                      <a:pt x="167" y="227"/>
                      <a:pt x="165" y="232"/>
                      <a:pt x="164" y="233"/>
                    </a:cubicBezTo>
                    <a:cubicBezTo>
                      <a:pt x="163" y="235"/>
                      <a:pt x="164" y="235"/>
                      <a:pt x="164" y="235"/>
                    </a:cubicBezTo>
                    <a:cubicBezTo>
                      <a:pt x="164" y="235"/>
                      <a:pt x="183" y="231"/>
                      <a:pt x="185" y="231"/>
                    </a:cubicBezTo>
                    <a:cubicBezTo>
                      <a:pt x="187" y="231"/>
                      <a:pt x="188" y="231"/>
                      <a:pt x="193" y="225"/>
                    </a:cubicBezTo>
                    <a:cubicBezTo>
                      <a:pt x="197" y="219"/>
                      <a:pt x="198" y="224"/>
                      <a:pt x="200" y="225"/>
                    </a:cubicBezTo>
                    <a:cubicBezTo>
                      <a:pt x="202" y="226"/>
                      <a:pt x="205" y="223"/>
                      <a:pt x="208" y="221"/>
                    </a:cubicBezTo>
                    <a:cubicBezTo>
                      <a:pt x="211" y="220"/>
                      <a:pt x="211" y="217"/>
                      <a:pt x="211" y="215"/>
                    </a:cubicBezTo>
                    <a:cubicBezTo>
                      <a:pt x="211" y="213"/>
                      <a:pt x="210" y="213"/>
                      <a:pt x="209" y="212"/>
                    </a:cubicBezTo>
                    <a:cubicBezTo>
                      <a:pt x="209" y="210"/>
                      <a:pt x="209" y="209"/>
                      <a:pt x="205" y="208"/>
                    </a:cubicBezTo>
                    <a:cubicBezTo>
                      <a:pt x="201" y="207"/>
                      <a:pt x="199" y="212"/>
                      <a:pt x="196" y="213"/>
                    </a:cubicBezTo>
                    <a:cubicBezTo>
                      <a:pt x="194" y="214"/>
                      <a:pt x="194" y="213"/>
                      <a:pt x="194" y="211"/>
                    </a:cubicBezTo>
                    <a:cubicBezTo>
                      <a:pt x="195" y="210"/>
                      <a:pt x="192" y="210"/>
                      <a:pt x="189" y="211"/>
                    </a:cubicBezTo>
                    <a:cubicBezTo>
                      <a:pt x="186" y="211"/>
                      <a:pt x="187" y="209"/>
                      <a:pt x="190" y="205"/>
                    </a:cubicBezTo>
                    <a:cubicBezTo>
                      <a:pt x="192" y="202"/>
                      <a:pt x="188" y="201"/>
                      <a:pt x="185" y="201"/>
                    </a:cubicBezTo>
                    <a:cubicBezTo>
                      <a:pt x="182" y="201"/>
                      <a:pt x="178" y="203"/>
                      <a:pt x="174" y="206"/>
                    </a:cubicBezTo>
                    <a:cubicBezTo>
                      <a:pt x="171" y="208"/>
                      <a:pt x="173" y="205"/>
                      <a:pt x="174" y="203"/>
                    </a:cubicBezTo>
                    <a:cubicBezTo>
                      <a:pt x="175" y="201"/>
                      <a:pt x="171" y="202"/>
                      <a:pt x="166" y="200"/>
                    </a:cubicBezTo>
                    <a:cubicBezTo>
                      <a:pt x="161" y="199"/>
                      <a:pt x="160" y="200"/>
                      <a:pt x="157" y="201"/>
                    </a:cubicBezTo>
                    <a:cubicBezTo>
                      <a:pt x="155" y="202"/>
                      <a:pt x="154" y="203"/>
                      <a:pt x="151" y="203"/>
                    </a:cubicBezTo>
                    <a:cubicBezTo>
                      <a:pt x="148" y="203"/>
                      <a:pt x="152" y="201"/>
                      <a:pt x="148" y="200"/>
                    </a:cubicBezTo>
                    <a:cubicBezTo>
                      <a:pt x="144" y="198"/>
                      <a:pt x="156" y="199"/>
                      <a:pt x="159" y="199"/>
                    </a:cubicBezTo>
                    <a:cubicBezTo>
                      <a:pt x="161" y="199"/>
                      <a:pt x="157" y="196"/>
                      <a:pt x="154" y="196"/>
                    </a:cubicBezTo>
                    <a:cubicBezTo>
                      <a:pt x="152" y="195"/>
                      <a:pt x="152" y="194"/>
                      <a:pt x="153" y="193"/>
                    </a:cubicBezTo>
                    <a:cubicBezTo>
                      <a:pt x="153" y="192"/>
                      <a:pt x="152" y="190"/>
                      <a:pt x="151" y="189"/>
                    </a:cubicBezTo>
                    <a:cubicBezTo>
                      <a:pt x="149" y="188"/>
                      <a:pt x="149" y="188"/>
                      <a:pt x="150" y="187"/>
                    </a:cubicBezTo>
                    <a:cubicBezTo>
                      <a:pt x="151" y="187"/>
                      <a:pt x="153" y="189"/>
                      <a:pt x="154" y="191"/>
                    </a:cubicBezTo>
                    <a:cubicBezTo>
                      <a:pt x="155" y="192"/>
                      <a:pt x="155" y="193"/>
                      <a:pt x="157" y="194"/>
                    </a:cubicBezTo>
                    <a:cubicBezTo>
                      <a:pt x="159" y="194"/>
                      <a:pt x="160" y="195"/>
                      <a:pt x="162" y="196"/>
                    </a:cubicBezTo>
                    <a:cubicBezTo>
                      <a:pt x="164" y="197"/>
                      <a:pt x="167" y="198"/>
                      <a:pt x="171" y="199"/>
                    </a:cubicBezTo>
                    <a:cubicBezTo>
                      <a:pt x="176" y="199"/>
                      <a:pt x="180" y="199"/>
                      <a:pt x="181" y="199"/>
                    </a:cubicBezTo>
                    <a:cubicBezTo>
                      <a:pt x="182" y="199"/>
                      <a:pt x="185" y="199"/>
                      <a:pt x="187" y="199"/>
                    </a:cubicBezTo>
                    <a:cubicBezTo>
                      <a:pt x="189" y="199"/>
                      <a:pt x="193" y="199"/>
                      <a:pt x="194" y="198"/>
                    </a:cubicBezTo>
                    <a:cubicBezTo>
                      <a:pt x="195" y="198"/>
                      <a:pt x="195" y="198"/>
                      <a:pt x="196" y="199"/>
                    </a:cubicBezTo>
                    <a:cubicBezTo>
                      <a:pt x="196" y="199"/>
                      <a:pt x="198" y="198"/>
                      <a:pt x="199" y="197"/>
                    </a:cubicBezTo>
                    <a:cubicBezTo>
                      <a:pt x="200" y="195"/>
                      <a:pt x="203" y="193"/>
                      <a:pt x="206" y="190"/>
                    </a:cubicBezTo>
                    <a:cubicBezTo>
                      <a:pt x="209" y="187"/>
                      <a:pt x="208" y="189"/>
                      <a:pt x="207" y="187"/>
                    </a:cubicBezTo>
                    <a:cubicBezTo>
                      <a:pt x="207" y="186"/>
                      <a:pt x="207" y="187"/>
                      <a:pt x="207" y="186"/>
                    </a:cubicBezTo>
                    <a:cubicBezTo>
                      <a:pt x="206" y="185"/>
                      <a:pt x="207" y="185"/>
                      <a:pt x="208" y="184"/>
                    </a:cubicBezTo>
                    <a:cubicBezTo>
                      <a:pt x="209" y="182"/>
                      <a:pt x="207" y="182"/>
                      <a:pt x="203" y="181"/>
                    </a:cubicBezTo>
                    <a:cubicBezTo>
                      <a:pt x="200" y="181"/>
                      <a:pt x="202" y="179"/>
                      <a:pt x="203" y="178"/>
                    </a:cubicBezTo>
                    <a:cubicBezTo>
                      <a:pt x="204" y="177"/>
                      <a:pt x="206" y="177"/>
                      <a:pt x="207" y="178"/>
                    </a:cubicBezTo>
                    <a:cubicBezTo>
                      <a:pt x="209" y="178"/>
                      <a:pt x="214" y="179"/>
                      <a:pt x="215" y="179"/>
                    </a:cubicBezTo>
                    <a:cubicBezTo>
                      <a:pt x="216" y="179"/>
                      <a:pt x="217" y="178"/>
                      <a:pt x="221" y="179"/>
                    </a:cubicBezTo>
                    <a:cubicBezTo>
                      <a:pt x="226" y="180"/>
                      <a:pt x="230" y="179"/>
                      <a:pt x="232" y="178"/>
                    </a:cubicBezTo>
                    <a:cubicBezTo>
                      <a:pt x="233" y="177"/>
                      <a:pt x="236" y="176"/>
                      <a:pt x="238" y="178"/>
                    </a:cubicBezTo>
                    <a:cubicBezTo>
                      <a:pt x="239" y="179"/>
                      <a:pt x="240" y="174"/>
                      <a:pt x="239" y="173"/>
                    </a:cubicBezTo>
                    <a:cubicBezTo>
                      <a:pt x="238" y="172"/>
                      <a:pt x="233" y="172"/>
                      <a:pt x="230" y="171"/>
                    </a:cubicBezTo>
                    <a:cubicBezTo>
                      <a:pt x="227" y="171"/>
                      <a:pt x="222" y="171"/>
                      <a:pt x="227" y="170"/>
                    </a:cubicBezTo>
                    <a:cubicBezTo>
                      <a:pt x="232" y="169"/>
                      <a:pt x="238" y="169"/>
                      <a:pt x="241" y="170"/>
                    </a:cubicBezTo>
                    <a:cubicBezTo>
                      <a:pt x="244" y="171"/>
                      <a:pt x="245" y="166"/>
                      <a:pt x="246" y="165"/>
                    </a:cubicBezTo>
                    <a:cubicBezTo>
                      <a:pt x="247" y="163"/>
                      <a:pt x="245" y="163"/>
                      <a:pt x="243" y="163"/>
                    </a:cubicBezTo>
                    <a:cubicBezTo>
                      <a:pt x="241" y="163"/>
                      <a:pt x="239" y="162"/>
                      <a:pt x="236" y="161"/>
                    </a:cubicBezTo>
                    <a:cubicBezTo>
                      <a:pt x="233" y="160"/>
                      <a:pt x="230" y="161"/>
                      <a:pt x="228" y="160"/>
                    </a:cubicBezTo>
                    <a:cubicBezTo>
                      <a:pt x="226" y="160"/>
                      <a:pt x="252" y="159"/>
                      <a:pt x="255" y="158"/>
                    </a:cubicBezTo>
                    <a:cubicBezTo>
                      <a:pt x="259" y="158"/>
                      <a:pt x="257" y="157"/>
                      <a:pt x="255" y="157"/>
                    </a:cubicBezTo>
                    <a:cubicBezTo>
                      <a:pt x="254" y="156"/>
                      <a:pt x="255" y="155"/>
                      <a:pt x="255" y="154"/>
                    </a:cubicBezTo>
                    <a:cubicBezTo>
                      <a:pt x="255" y="153"/>
                      <a:pt x="257" y="153"/>
                      <a:pt x="255" y="152"/>
                    </a:cubicBezTo>
                    <a:cubicBezTo>
                      <a:pt x="253" y="150"/>
                      <a:pt x="257" y="151"/>
                      <a:pt x="251" y="149"/>
                    </a:cubicBezTo>
                    <a:cubicBezTo>
                      <a:pt x="245" y="147"/>
                      <a:pt x="237" y="149"/>
                      <a:pt x="233" y="149"/>
                    </a:cubicBezTo>
                    <a:cubicBezTo>
                      <a:pt x="229" y="150"/>
                      <a:pt x="233" y="147"/>
                      <a:pt x="236" y="145"/>
                    </a:cubicBezTo>
                    <a:cubicBezTo>
                      <a:pt x="238" y="143"/>
                      <a:pt x="226" y="143"/>
                      <a:pt x="224" y="144"/>
                    </a:cubicBezTo>
                    <a:cubicBezTo>
                      <a:pt x="223" y="144"/>
                      <a:pt x="217" y="145"/>
                      <a:pt x="214" y="145"/>
                    </a:cubicBezTo>
                    <a:cubicBezTo>
                      <a:pt x="210" y="146"/>
                      <a:pt x="206" y="149"/>
                      <a:pt x="204" y="151"/>
                    </a:cubicBezTo>
                    <a:cubicBezTo>
                      <a:pt x="201" y="152"/>
                      <a:pt x="207" y="146"/>
                      <a:pt x="210" y="144"/>
                    </a:cubicBezTo>
                    <a:cubicBezTo>
                      <a:pt x="212" y="143"/>
                      <a:pt x="209" y="142"/>
                      <a:pt x="208" y="143"/>
                    </a:cubicBezTo>
                    <a:cubicBezTo>
                      <a:pt x="207" y="143"/>
                      <a:pt x="205" y="143"/>
                      <a:pt x="206" y="143"/>
                    </a:cubicBezTo>
                    <a:cubicBezTo>
                      <a:pt x="207" y="142"/>
                      <a:pt x="209" y="142"/>
                      <a:pt x="212" y="143"/>
                    </a:cubicBezTo>
                    <a:cubicBezTo>
                      <a:pt x="215" y="144"/>
                      <a:pt x="216" y="143"/>
                      <a:pt x="218" y="143"/>
                    </a:cubicBezTo>
                    <a:cubicBezTo>
                      <a:pt x="219" y="143"/>
                      <a:pt x="222" y="142"/>
                      <a:pt x="224" y="141"/>
                    </a:cubicBezTo>
                    <a:cubicBezTo>
                      <a:pt x="225" y="141"/>
                      <a:pt x="230" y="142"/>
                      <a:pt x="233" y="142"/>
                    </a:cubicBezTo>
                    <a:cubicBezTo>
                      <a:pt x="237" y="141"/>
                      <a:pt x="231" y="140"/>
                      <a:pt x="230" y="140"/>
                    </a:cubicBezTo>
                    <a:cubicBezTo>
                      <a:pt x="228" y="139"/>
                      <a:pt x="222" y="139"/>
                      <a:pt x="220" y="139"/>
                    </a:cubicBezTo>
                    <a:cubicBezTo>
                      <a:pt x="217" y="139"/>
                      <a:pt x="212" y="139"/>
                      <a:pt x="206" y="139"/>
                    </a:cubicBezTo>
                    <a:cubicBezTo>
                      <a:pt x="201" y="138"/>
                      <a:pt x="217" y="138"/>
                      <a:pt x="219" y="138"/>
                    </a:cubicBezTo>
                    <a:cubicBezTo>
                      <a:pt x="220" y="138"/>
                      <a:pt x="224" y="138"/>
                      <a:pt x="225" y="138"/>
                    </a:cubicBezTo>
                    <a:cubicBezTo>
                      <a:pt x="227" y="138"/>
                      <a:pt x="234" y="138"/>
                      <a:pt x="236" y="138"/>
                    </a:cubicBezTo>
                    <a:cubicBezTo>
                      <a:pt x="239" y="138"/>
                      <a:pt x="239" y="139"/>
                      <a:pt x="239" y="140"/>
                    </a:cubicBezTo>
                    <a:cubicBezTo>
                      <a:pt x="239" y="140"/>
                      <a:pt x="240" y="141"/>
                      <a:pt x="240" y="141"/>
                    </a:cubicBezTo>
                    <a:cubicBezTo>
                      <a:pt x="241" y="141"/>
                      <a:pt x="240" y="142"/>
                      <a:pt x="242" y="142"/>
                    </a:cubicBezTo>
                    <a:cubicBezTo>
                      <a:pt x="244" y="142"/>
                      <a:pt x="256" y="144"/>
                      <a:pt x="258" y="144"/>
                    </a:cubicBezTo>
                    <a:cubicBezTo>
                      <a:pt x="260" y="144"/>
                      <a:pt x="260" y="142"/>
                      <a:pt x="259" y="141"/>
                    </a:cubicBezTo>
                    <a:cubicBezTo>
                      <a:pt x="258" y="140"/>
                      <a:pt x="259" y="139"/>
                      <a:pt x="256" y="139"/>
                    </a:cubicBezTo>
                    <a:cubicBezTo>
                      <a:pt x="254" y="139"/>
                      <a:pt x="255" y="138"/>
                      <a:pt x="256" y="137"/>
                    </a:cubicBezTo>
                    <a:cubicBezTo>
                      <a:pt x="258" y="136"/>
                      <a:pt x="247" y="136"/>
                      <a:pt x="245" y="137"/>
                    </a:cubicBezTo>
                    <a:cubicBezTo>
                      <a:pt x="243" y="137"/>
                      <a:pt x="239" y="137"/>
                      <a:pt x="237" y="136"/>
                    </a:cubicBezTo>
                    <a:cubicBezTo>
                      <a:pt x="236" y="136"/>
                      <a:pt x="228" y="136"/>
                      <a:pt x="226" y="135"/>
                    </a:cubicBezTo>
                    <a:cubicBezTo>
                      <a:pt x="224" y="135"/>
                      <a:pt x="220" y="135"/>
                      <a:pt x="218" y="136"/>
                    </a:cubicBezTo>
                    <a:cubicBezTo>
                      <a:pt x="216" y="136"/>
                      <a:pt x="216" y="136"/>
                      <a:pt x="216" y="135"/>
                    </a:cubicBezTo>
                    <a:cubicBezTo>
                      <a:pt x="217" y="134"/>
                      <a:pt x="213" y="134"/>
                      <a:pt x="213" y="134"/>
                    </a:cubicBezTo>
                    <a:cubicBezTo>
                      <a:pt x="200" y="132"/>
                      <a:pt x="216" y="133"/>
                      <a:pt x="218" y="133"/>
                    </a:cubicBezTo>
                    <a:cubicBezTo>
                      <a:pt x="220" y="134"/>
                      <a:pt x="220" y="133"/>
                      <a:pt x="218" y="130"/>
                    </a:cubicBezTo>
                    <a:cubicBezTo>
                      <a:pt x="216" y="128"/>
                      <a:pt x="222" y="131"/>
                      <a:pt x="224" y="133"/>
                    </a:cubicBezTo>
                    <a:cubicBezTo>
                      <a:pt x="226" y="134"/>
                      <a:pt x="232" y="132"/>
                      <a:pt x="237" y="133"/>
                    </a:cubicBezTo>
                    <a:cubicBezTo>
                      <a:pt x="241" y="133"/>
                      <a:pt x="237" y="132"/>
                      <a:pt x="236" y="131"/>
                    </a:cubicBezTo>
                    <a:cubicBezTo>
                      <a:pt x="234" y="131"/>
                      <a:pt x="234" y="131"/>
                      <a:pt x="234" y="130"/>
                    </a:cubicBezTo>
                    <a:cubicBezTo>
                      <a:pt x="235" y="128"/>
                      <a:pt x="228" y="128"/>
                      <a:pt x="223" y="128"/>
                    </a:cubicBezTo>
                    <a:cubicBezTo>
                      <a:pt x="218" y="129"/>
                      <a:pt x="220" y="127"/>
                      <a:pt x="222" y="127"/>
                    </a:cubicBezTo>
                    <a:cubicBezTo>
                      <a:pt x="225" y="126"/>
                      <a:pt x="235" y="128"/>
                      <a:pt x="235" y="129"/>
                    </a:cubicBezTo>
                    <a:cubicBezTo>
                      <a:pt x="236" y="130"/>
                      <a:pt x="236" y="130"/>
                      <a:pt x="237" y="130"/>
                    </a:cubicBezTo>
                    <a:cubicBezTo>
                      <a:pt x="238" y="130"/>
                      <a:pt x="239" y="130"/>
                      <a:pt x="240" y="130"/>
                    </a:cubicBezTo>
                    <a:cubicBezTo>
                      <a:pt x="242" y="131"/>
                      <a:pt x="248" y="132"/>
                      <a:pt x="251" y="132"/>
                    </a:cubicBezTo>
                    <a:cubicBezTo>
                      <a:pt x="253" y="132"/>
                      <a:pt x="252" y="131"/>
                      <a:pt x="252" y="129"/>
                    </a:cubicBezTo>
                    <a:cubicBezTo>
                      <a:pt x="252" y="127"/>
                      <a:pt x="254" y="128"/>
                      <a:pt x="257" y="129"/>
                    </a:cubicBezTo>
                    <a:cubicBezTo>
                      <a:pt x="259" y="130"/>
                      <a:pt x="269" y="129"/>
                      <a:pt x="271" y="129"/>
                    </a:cubicBezTo>
                    <a:cubicBezTo>
                      <a:pt x="274" y="128"/>
                      <a:pt x="276" y="128"/>
                      <a:pt x="278" y="126"/>
                    </a:cubicBezTo>
                    <a:cubicBezTo>
                      <a:pt x="280" y="124"/>
                      <a:pt x="278" y="122"/>
                      <a:pt x="277" y="121"/>
                    </a:cubicBezTo>
                    <a:cubicBezTo>
                      <a:pt x="276" y="121"/>
                      <a:pt x="276" y="120"/>
                      <a:pt x="276" y="119"/>
                    </a:cubicBezTo>
                    <a:cubicBezTo>
                      <a:pt x="277" y="118"/>
                      <a:pt x="276" y="118"/>
                      <a:pt x="274" y="119"/>
                    </a:cubicBezTo>
                    <a:cubicBezTo>
                      <a:pt x="273" y="119"/>
                      <a:pt x="272" y="119"/>
                      <a:pt x="270" y="119"/>
                    </a:cubicBezTo>
                    <a:cubicBezTo>
                      <a:pt x="269" y="118"/>
                      <a:pt x="263" y="118"/>
                      <a:pt x="260" y="118"/>
                    </a:cubicBezTo>
                    <a:cubicBezTo>
                      <a:pt x="258" y="118"/>
                      <a:pt x="257" y="118"/>
                      <a:pt x="256" y="117"/>
                    </a:cubicBezTo>
                    <a:cubicBezTo>
                      <a:pt x="255" y="115"/>
                      <a:pt x="265" y="115"/>
                      <a:pt x="267" y="115"/>
                    </a:cubicBezTo>
                    <a:cubicBezTo>
                      <a:pt x="269" y="115"/>
                      <a:pt x="271" y="116"/>
                      <a:pt x="269" y="116"/>
                    </a:cubicBezTo>
                    <a:cubicBezTo>
                      <a:pt x="268" y="117"/>
                      <a:pt x="280" y="117"/>
                      <a:pt x="281" y="117"/>
                    </a:cubicBezTo>
                    <a:cubicBezTo>
                      <a:pt x="283" y="117"/>
                      <a:pt x="284" y="117"/>
                      <a:pt x="282" y="119"/>
                    </a:cubicBezTo>
                    <a:cubicBezTo>
                      <a:pt x="281" y="120"/>
                      <a:pt x="286" y="121"/>
                      <a:pt x="287" y="121"/>
                    </a:cubicBezTo>
                    <a:cubicBezTo>
                      <a:pt x="288" y="121"/>
                      <a:pt x="290" y="122"/>
                      <a:pt x="292" y="122"/>
                    </a:cubicBezTo>
                    <a:cubicBezTo>
                      <a:pt x="294" y="123"/>
                      <a:pt x="298" y="121"/>
                      <a:pt x="300" y="120"/>
                    </a:cubicBezTo>
                    <a:cubicBezTo>
                      <a:pt x="303" y="120"/>
                      <a:pt x="306" y="120"/>
                      <a:pt x="309" y="116"/>
                    </a:cubicBezTo>
                    <a:cubicBezTo>
                      <a:pt x="312" y="113"/>
                      <a:pt x="310" y="114"/>
                      <a:pt x="306" y="115"/>
                    </a:cubicBezTo>
                    <a:cubicBezTo>
                      <a:pt x="302" y="115"/>
                      <a:pt x="310" y="113"/>
                      <a:pt x="314" y="112"/>
                    </a:cubicBezTo>
                    <a:cubicBezTo>
                      <a:pt x="317" y="112"/>
                      <a:pt x="316" y="109"/>
                      <a:pt x="316" y="107"/>
                    </a:cubicBezTo>
                    <a:cubicBezTo>
                      <a:pt x="316" y="106"/>
                      <a:pt x="313" y="107"/>
                      <a:pt x="311" y="107"/>
                    </a:cubicBezTo>
                    <a:cubicBezTo>
                      <a:pt x="310" y="108"/>
                      <a:pt x="306" y="109"/>
                      <a:pt x="303" y="109"/>
                    </a:cubicBezTo>
                    <a:cubicBezTo>
                      <a:pt x="300" y="109"/>
                      <a:pt x="295" y="109"/>
                      <a:pt x="293" y="109"/>
                    </a:cubicBezTo>
                    <a:cubicBezTo>
                      <a:pt x="291" y="109"/>
                      <a:pt x="290" y="108"/>
                      <a:pt x="292" y="107"/>
                    </a:cubicBezTo>
                    <a:cubicBezTo>
                      <a:pt x="293" y="106"/>
                      <a:pt x="293" y="105"/>
                      <a:pt x="291" y="104"/>
                    </a:cubicBezTo>
                    <a:cubicBezTo>
                      <a:pt x="289" y="103"/>
                      <a:pt x="294" y="104"/>
                      <a:pt x="297" y="106"/>
                    </a:cubicBezTo>
                    <a:cubicBezTo>
                      <a:pt x="300" y="107"/>
                      <a:pt x="302" y="107"/>
                      <a:pt x="306" y="106"/>
                    </a:cubicBezTo>
                    <a:cubicBezTo>
                      <a:pt x="309" y="105"/>
                      <a:pt x="316" y="103"/>
                      <a:pt x="320" y="104"/>
                    </a:cubicBezTo>
                    <a:cubicBezTo>
                      <a:pt x="324" y="105"/>
                      <a:pt x="323" y="104"/>
                      <a:pt x="324" y="102"/>
                    </a:cubicBezTo>
                    <a:cubicBezTo>
                      <a:pt x="324" y="101"/>
                      <a:pt x="322" y="100"/>
                      <a:pt x="320" y="100"/>
                    </a:cubicBezTo>
                    <a:cubicBezTo>
                      <a:pt x="319" y="99"/>
                      <a:pt x="319" y="98"/>
                      <a:pt x="319" y="97"/>
                    </a:cubicBezTo>
                    <a:cubicBezTo>
                      <a:pt x="320" y="96"/>
                      <a:pt x="320" y="96"/>
                      <a:pt x="317" y="94"/>
                    </a:cubicBezTo>
                    <a:cubicBezTo>
                      <a:pt x="314" y="92"/>
                      <a:pt x="317" y="93"/>
                      <a:pt x="320" y="94"/>
                    </a:cubicBezTo>
                    <a:cubicBezTo>
                      <a:pt x="322" y="94"/>
                      <a:pt x="323" y="97"/>
                      <a:pt x="322" y="98"/>
                    </a:cubicBezTo>
                    <a:cubicBezTo>
                      <a:pt x="321" y="100"/>
                      <a:pt x="329" y="99"/>
                      <a:pt x="333" y="98"/>
                    </a:cubicBezTo>
                    <a:cubicBezTo>
                      <a:pt x="337" y="96"/>
                      <a:pt x="351" y="87"/>
                      <a:pt x="354" y="85"/>
                    </a:cubicBezTo>
                    <a:cubicBezTo>
                      <a:pt x="357" y="83"/>
                      <a:pt x="362" y="79"/>
                      <a:pt x="367" y="77"/>
                    </a:cubicBezTo>
                    <a:cubicBezTo>
                      <a:pt x="371" y="76"/>
                      <a:pt x="396" y="66"/>
                      <a:pt x="401" y="65"/>
                    </a:cubicBezTo>
                    <a:cubicBezTo>
                      <a:pt x="405" y="64"/>
                      <a:pt x="406" y="61"/>
                      <a:pt x="407" y="59"/>
                    </a:cubicBezTo>
                    <a:cubicBezTo>
                      <a:pt x="409" y="56"/>
                      <a:pt x="399" y="58"/>
                      <a:pt x="398" y="58"/>
                    </a:cubicBezTo>
                    <a:cubicBezTo>
                      <a:pt x="397" y="58"/>
                      <a:pt x="372" y="63"/>
                      <a:pt x="369" y="64"/>
                    </a:cubicBezTo>
                    <a:cubicBezTo>
                      <a:pt x="367" y="64"/>
                      <a:pt x="344" y="69"/>
                      <a:pt x="341" y="69"/>
                    </a:cubicBezTo>
                    <a:cubicBezTo>
                      <a:pt x="338" y="69"/>
                      <a:pt x="333" y="70"/>
                      <a:pt x="331" y="72"/>
                    </a:cubicBezTo>
                    <a:cubicBezTo>
                      <a:pt x="328" y="74"/>
                      <a:pt x="325" y="73"/>
                      <a:pt x="327" y="72"/>
                    </a:cubicBezTo>
                    <a:cubicBezTo>
                      <a:pt x="329" y="71"/>
                      <a:pt x="330" y="71"/>
                      <a:pt x="325" y="71"/>
                    </a:cubicBezTo>
                    <a:cubicBezTo>
                      <a:pt x="320" y="71"/>
                      <a:pt x="328" y="69"/>
                      <a:pt x="329" y="69"/>
                    </a:cubicBezTo>
                    <a:cubicBezTo>
                      <a:pt x="329" y="69"/>
                      <a:pt x="367" y="61"/>
                      <a:pt x="373" y="59"/>
                    </a:cubicBezTo>
                    <a:cubicBezTo>
                      <a:pt x="379" y="58"/>
                      <a:pt x="370" y="57"/>
                      <a:pt x="367" y="57"/>
                    </a:cubicBezTo>
                    <a:cubicBezTo>
                      <a:pt x="364" y="57"/>
                      <a:pt x="350" y="58"/>
                      <a:pt x="346" y="58"/>
                    </a:cubicBezTo>
                    <a:cubicBezTo>
                      <a:pt x="343" y="58"/>
                      <a:pt x="344" y="57"/>
                      <a:pt x="345" y="56"/>
                    </a:cubicBezTo>
                    <a:cubicBezTo>
                      <a:pt x="346" y="55"/>
                      <a:pt x="346" y="55"/>
                      <a:pt x="342" y="54"/>
                    </a:cubicBezTo>
                    <a:cubicBezTo>
                      <a:pt x="338" y="52"/>
                      <a:pt x="339" y="52"/>
                      <a:pt x="340" y="52"/>
                    </a:cubicBezTo>
                    <a:cubicBezTo>
                      <a:pt x="342" y="52"/>
                      <a:pt x="347" y="54"/>
                      <a:pt x="350" y="56"/>
                    </a:cubicBezTo>
                    <a:cubicBezTo>
                      <a:pt x="352" y="57"/>
                      <a:pt x="358" y="56"/>
                      <a:pt x="361" y="56"/>
                    </a:cubicBezTo>
                    <a:cubicBezTo>
                      <a:pt x="363" y="55"/>
                      <a:pt x="377" y="54"/>
                      <a:pt x="380" y="55"/>
                    </a:cubicBezTo>
                    <a:cubicBezTo>
                      <a:pt x="383" y="55"/>
                      <a:pt x="395" y="53"/>
                      <a:pt x="403" y="52"/>
                    </a:cubicBezTo>
                    <a:cubicBezTo>
                      <a:pt x="411" y="51"/>
                      <a:pt x="416" y="49"/>
                      <a:pt x="416" y="48"/>
                    </a:cubicBezTo>
                    <a:cubicBezTo>
                      <a:pt x="417" y="48"/>
                      <a:pt x="456" y="31"/>
                      <a:pt x="457" y="30"/>
                    </a:cubicBezTo>
                    <a:cubicBezTo>
                      <a:pt x="459" y="30"/>
                      <a:pt x="457" y="28"/>
                      <a:pt x="456" y="26"/>
                    </a:cubicBezTo>
                    <a:cubicBezTo>
                      <a:pt x="454" y="24"/>
                      <a:pt x="452" y="24"/>
                      <a:pt x="451" y="24"/>
                    </a:cubicBezTo>
                    <a:cubicBezTo>
                      <a:pt x="451" y="24"/>
                      <a:pt x="437" y="24"/>
                      <a:pt x="435" y="24"/>
                    </a:cubicBezTo>
                    <a:cubicBezTo>
                      <a:pt x="434" y="23"/>
                      <a:pt x="432" y="23"/>
                      <a:pt x="428" y="25"/>
                    </a:cubicBezTo>
                    <a:cubicBezTo>
                      <a:pt x="424" y="27"/>
                      <a:pt x="428" y="23"/>
                      <a:pt x="430" y="21"/>
                    </a:cubicBezTo>
                    <a:cubicBezTo>
                      <a:pt x="433" y="20"/>
                      <a:pt x="424" y="17"/>
                      <a:pt x="421" y="15"/>
                    </a:cubicBezTo>
                    <a:cubicBezTo>
                      <a:pt x="419" y="14"/>
                      <a:pt x="421" y="14"/>
                      <a:pt x="423" y="14"/>
                    </a:cubicBezTo>
                    <a:cubicBezTo>
                      <a:pt x="425" y="13"/>
                      <a:pt x="425" y="12"/>
                      <a:pt x="424" y="11"/>
                    </a:cubicBezTo>
                    <a:cubicBezTo>
                      <a:pt x="423" y="10"/>
                      <a:pt x="404" y="12"/>
                      <a:pt x="400" y="13"/>
                    </a:cubicBezTo>
                    <a:cubicBezTo>
                      <a:pt x="395" y="13"/>
                      <a:pt x="393" y="13"/>
                      <a:pt x="393" y="13"/>
                    </a:cubicBezTo>
                    <a:cubicBezTo>
                      <a:pt x="381" y="11"/>
                      <a:pt x="377" y="14"/>
                      <a:pt x="376" y="15"/>
                    </a:cubicBezTo>
                    <a:cubicBezTo>
                      <a:pt x="375" y="15"/>
                      <a:pt x="375" y="16"/>
                      <a:pt x="373" y="15"/>
                    </a:cubicBezTo>
                    <a:cubicBezTo>
                      <a:pt x="372" y="15"/>
                      <a:pt x="369" y="16"/>
                      <a:pt x="367" y="16"/>
                    </a:cubicBezTo>
                    <a:cubicBezTo>
                      <a:pt x="366" y="17"/>
                      <a:pt x="362" y="18"/>
                      <a:pt x="361" y="18"/>
                    </a:cubicBezTo>
                    <a:cubicBezTo>
                      <a:pt x="360" y="18"/>
                      <a:pt x="354" y="18"/>
                      <a:pt x="349" y="18"/>
                    </a:cubicBezTo>
                    <a:cubicBezTo>
                      <a:pt x="345" y="18"/>
                      <a:pt x="355" y="15"/>
                      <a:pt x="357" y="15"/>
                    </a:cubicBezTo>
                    <a:cubicBezTo>
                      <a:pt x="359" y="15"/>
                      <a:pt x="368" y="13"/>
                      <a:pt x="370" y="12"/>
                    </a:cubicBezTo>
                    <a:cubicBezTo>
                      <a:pt x="372" y="12"/>
                      <a:pt x="373" y="11"/>
                      <a:pt x="377" y="10"/>
                    </a:cubicBezTo>
                    <a:cubicBezTo>
                      <a:pt x="381" y="9"/>
                      <a:pt x="378" y="9"/>
                      <a:pt x="378" y="9"/>
                    </a:cubicBezTo>
                    <a:cubicBezTo>
                      <a:pt x="356" y="5"/>
                      <a:pt x="337" y="5"/>
                      <a:pt x="335" y="6"/>
                    </a:cubicBezTo>
                    <a:cubicBezTo>
                      <a:pt x="332" y="6"/>
                      <a:pt x="332" y="4"/>
                      <a:pt x="333" y="4"/>
                    </a:cubicBezTo>
                    <a:cubicBezTo>
                      <a:pt x="334" y="3"/>
                      <a:pt x="333" y="2"/>
                      <a:pt x="332" y="1"/>
                    </a:cubicBezTo>
                    <a:cubicBezTo>
                      <a:pt x="331" y="1"/>
                      <a:pt x="329" y="1"/>
                      <a:pt x="327" y="2"/>
                    </a:cubicBezTo>
                    <a:cubicBezTo>
                      <a:pt x="325" y="2"/>
                      <a:pt x="312" y="4"/>
                      <a:pt x="308" y="4"/>
                    </a:cubicBezTo>
                    <a:cubicBezTo>
                      <a:pt x="304" y="5"/>
                      <a:pt x="307" y="5"/>
                      <a:pt x="311" y="7"/>
                    </a:cubicBezTo>
                    <a:cubicBezTo>
                      <a:pt x="315" y="9"/>
                      <a:pt x="311" y="9"/>
                      <a:pt x="310" y="9"/>
                    </a:cubicBezTo>
                    <a:cubicBezTo>
                      <a:pt x="309" y="9"/>
                      <a:pt x="303" y="7"/>
                      <a:pt x="301" y="6"/>
                    </a:cubicBezTo>
                    <a:cubicBezTo>
                      <a:pt x="299" y="5"/>
                      <a:pt x="299" y="4"/>
                      <a:pt x="300" y="2"/>
                    </a:cubicBezTo>
                    <a:cubicBezTo>
                      <a:pt x="302" y="0"/>
                      <a:pt x="299" y="2"/>
                      <a:pt x="299" y="2"/>
                    </a:cubicBezTo>
                    <a:cubicBezTo>
                      <a:pt x="299" y="2"/>
                      <a:pt x="277" y="8"/>
                      <a:pt x="276" y="8"/>
                    </a:cubicBezTo>
                    <a:cubicBezTo>
                      <a:pt x="274" y="9"/>
                      <a:pt x="274" y="9"/>
                      <a:pt x="276" y="11"/>
                    </a:cubicBezTo>
                    <a:cubicBezTo>
                      <a:pt x="278" y="12"/>
                      <a:pt x="280" y="13"/>
                      <a:pt x="282" y="13"/>
                    </a:cubicBezTo>
                    <a:cubicBezTo>
                      <a:pt x="285" y="13"/>
                      <a:pt x="284" y="13"/>
                      <a:pt x="287" y="15"/>
                    </a:cubicBezTo>
                    <a:cubicBezTo>
                      <a:pt x="290" y="17"/>
                      <a:pt x="284" y="15"/>
                      <a:pt x="284" y="15"/>
                    </a:cubicBezTo>
                    <a:cubicBezTo>
                      <a:pt x="284" y="15"/>
                      <a:pt x="275" y="13"/>
                      <a:pt x="272" y="12"/>
                    </a:cubicBezTo>
                    <a:cubicBezTo>
                      <a:pt x="268" y="10"/>
                      <a:pt x="267" y="8"/>
                      <a:pt x="267" y="8"/>
                    </a:cubicBezTo>
                    <a:cubicBezTo>
                      <a:pt x="262" y="3"/>
                      <a:pt x="250" y="3"/>
                      <a:pt x="249" y="3"/>
                    </a:cubicBezTo>
                    <a:cubicBezTo>
                      <a:pt x="247" y="3"/>
                      <a:pt x="238" y="3"/>
                      <a:pt x="237" y="3"/>
                    </a:cubicBezTo>
                    <a:cubicBezTo>
                      <a:pt x="236" y="3"/>
                      <a:pt x="227" y="3"/>
                      <a:pt x="226" y="3"/>
                    </a:cubicBezTo>
                    <a:cubicBezTo>
                      <a:pt x="225" y="4"/>
                      <a:pt x="220" y="3"/>
                      <a:pt x="218" y="4"/>
                    </a:cubicBezTo>
                    <a:cubicBezTo>
                      <a:pt x="216" y="4"/>
                      <a:pt x="217" y="4"/>
                      <a:pt x="217" y="5"/>
                    </a:cubicBezTo>
                    <a:cubicBezTo>
                      <a:pt x="218" y="6"/>
                      <a:pt x="218" y="7"/>
                      <a:pt x="219" y="8"/>
                    </a:cubicBezTo>
                    <a:cubicBezTo>
                      <a:pt x="221" y="8"/>
                      <a:pt x="223" y="8"/>
                      <a:pt x="224" y="10"/>
                    </a:cubicBezTo>
                    <a:cubicBezTo>
                      <a:pt x="226" y="11"/>
                      <a:pt x="226" y="12"/>
                      <a:pt x="230" y="12"/>
                    </a:cubicBezTo>
                    <a:cubicBezTo>
                      <a:pt x="234" y="13"/>
                      <a:pt x="236" y="12"/>
                      <a:pt x="232" y="14"/>
                    </a:cubicBezTo>
                    <a:cubicBezTo>
                      <a:pt x="228" y="16"/>
                      <a:pt x="240" y="18"/>
                      <a:pt x="243" y="18"/>
                    </a:cubicBezTo>
                    <a:cubicBezTo>
                      <a:pt x="246" y="19"/>
                      <a:pt x="242" y="20"/>
                      <a:pt x="240" y="21"/>
                    </a:cubicBezTo>
                    <a:cubicBezTo>
                      <a:pt x="238" y="21"/>
                      <a:pt x="235" y="23"/>
                      <a:pt x="232" y="24"/>
                    </a:cubicBezTo>
                    <a:cubicBezTo>
                      <a:pt x="230" y="25"/>
                      <a:pt x="233" y="22"/>
                      <a:pt x="235" y="20"/>
                    </a:cubicBezTo>
                    <a:cubicBezTo>
                      <a:pt x="238" y="19"/>
                      <a:pt x="232" y="19"/>
                      <a:pt x="230" y="18"/>
                    </a:cubicBezTo>
                    <a:cubicBezTo>
                      <a:pt x="228" y="18"/>
                      <a:pt x="227" y="17"/>
                      <a:pt x="226" y="16"/>
                    </a:cubicBezTo>
                    <a:cubicBezTo>
                      <a:pt x="225" y="15"/>
                      <a:pt x="223" y="14"/>
                      <a:pt x="221" y="14"/>
                    </a:cubicBezTo>
                    <a:cubicBezTo>
                      <a:pt x="220" y="13"/>
                      <a:pt x="219" y="11"/>
                      <a:pt x="218" y="11"/>
                    </a:cubicBezTo>
                    <a:cubicBezTo>
                      <a:pt x="217" y="10"/>
                      <a:pt x="208" y="8"/>
                      <a:pt x="207" y="8"/>
                    </a:cubicBezTo>
                    <a:cubicBezTo>
                      <a:pt x="206" y="8"/>
                      <a:pt x="198" y="7"/>
                      <a:pt x="197" y="7"/>
                    </a:cubicBezTo>
                    <a:cubicBezTo>
                      <a:pt x="196" y="7"/>
                      <a:pt x="190" y="6"/>
                      <a:pt x="188" y="6"/>
                    </a:cubicBezTo>
                    <a:cubicBezTo>
                      <a:pt x="185" y="7"/>
                      <a:pt x="185" y="9"/>
                      <a:pt x="184" y="9"/>
                    </a:cubicBezTo>
                    <a:cubicBezTo>
                      <a:pt x="183" y="10"/>
                      <a:pt x="183" y="11"/>
                      <a:pt x="181" y="12"/>
                    </a:cubicBezTo>
                    <a:cubicBezTo>
                      <a:pt x="179" y="13"/>
                      <a:pt x="180" y="14"/>
                      <a:pt x="185" y="15"/>
                    </a:cubicBezTo>
                    <a:cubicBezTo>
                      <a:pt x="189" y="16"/>
                      <a:pt x="192" y="16"/>
                      <a:pt x="197" y="16"/>
                    </a:cubicBezTo>
                    <a:cubicBezTo>
                      <a:pt x="202" y="16"/>
                      <a:pt x="197" y="17"/>
                      <a:pt x="197" y="17"/>
                    </a:cubicBezTo>
                    <a:cubicBezTo>
                      <a:pt x="197" y="17"/>
                      <a:pt x="179" y="16"/>
                      <a:pt x="177" y="16"/>
                    </a:cubicBezTo>
                    <a:cubicBezTo>
                      <a:pt x="176" y="15"/>
                      <a:pt x="174" y="14"/>
                      <a:pt x="174" y="14"/>
                    </a:cubicBezTo>
                    <a:cubicBezTo>
                      <a:pt x="171" y="12"/>
                      <a:pt x="165" y="11"/>
                      <a:pt x="163" y="11"/>
                    </a:cubicBezTo>
                    <a:cubicBezTo>
                      <a:pt x="161" y="11"/>
                      <a:pt x="159" y="11"/>
                      <a:pt x="158" y="12"/>
                    </a:cubicBezTo>
                    <a:cubicBezTo>
                      <a:pt x="157" y="13"/>
                      <a:pt x="162" y="16"/>
                      <a:pt x="166" y="19"/>
                    </a:cubicBezTo>
                    <a:cubicBezTo>
                      <a:pt x="170" y="22"/>
                      <a:pt x="167" y="21"/>
                      <a:pt x="167" y="21"/>
                    </a:cubicBezTo>
                    <a:cubicBezTo>
                      <a:pt x="167" y="21"/>
                      <a:pt x="158" y="19"/>
                      <a:pt x="155" y="18"/>
                    </a:cubicBezTo>
                    <a:cubicBezTo>
                      <a:pt x="152" y="18"/>
                      <a:pt x="151" y="18"/>
                      <a:pt x="150" y="17"/>
                    </a:cubicBezTo>
                    <a:cubicBezTo>
                      <a:pt x="148" y="17"/>
                      <a:pt x="146" y="16"/>
                      <a:pt x="147" y="19"/>
                    </a:cubicBezTo>
                    <a:cubicBezTo>
                      <a:pt x="147" y="21"/>
                      <a:pt x="145" y="21"/>
                      <a:pt x="151" y="22"/>
                    </a:cubicBezTo>
                    <a:cubicBezTo>
                      <a:pt x="157" y="24"/>
                      <a:pt x="151" y="23"/>
                      <a:pt x="151" y="23"/>
                    </a:cubicBezTo>
                    <a:cubicBezTo>
                      <a:pt x="151" y="23"/>
                      <a:pt x="146" y="23"/>
                      <a:pt x="143" y="23"/>
                    </a:cubicBezTo>
                    <a:cubicBezTo>
                      <a:pt x="140" y="23"/>
                      <a:pt x="140" y="23"/>
                      <a:pt x="138" y="26"/>
                    </a:cubicBezTo>
                    <a:cubicBezTo>
                      <a:pt x="137" y="28"/>
                      <a:pt x="141" y="29"/>
                      <a:pt x="150" y="32"/>
                    </a:cubicBezTo>
                    <a:cubicBezTo>
                      <a:pt x="158" y="35"/>
                      <a:pt x="162" y="35"/>
                      <a:pt x="163" y="35"/>
                    </a:cubicBezTo>
                    <a:cubicBezTo>
                      <a:pt x="164" y="35"/>
                      <a:pt x="164" y="36"/>
                      <a:pt x="164" y="37"/>
                    </a:cubicBezTo>
                    <a:cubicBezTo>
                      <a:pt x="164" y="38"/>
                      <a:pt x="178" y="40"/>
                      <a:pt x="179" y="40"/>
                    </a:cubicBezTo>
                    <a:cubicBezTo>
                      <a:pt x="180" y="40"/>
                      <a:pt x="180" y="41"/>
                      <a:pt x="180" y="41"/>
                    </a:cubicBezTo>
                    <a:cubicBezTo>
                      <a:pt x="179" y="42"/>
                      <a:pt x="180" y="43"/>
                      <a:pt x="181" y="43"/>
                    </a:cubicBezTo>
                    <a:cubicBezTo>
                      <a:pt x="182" y="43"/>
                      <a:pt x="184" y="44"/>
                      <a:pt x="187" y="46"/>
                    </a:cubicBezTo>
                    <a:cubicBezTo>
                      <a:pt x="190" y="48"/>
                      <a:pt x="186" y="47"/>
                      <a:pt x="186" y="47"/>
                    </a:cubicBezTo>
                    <a:cubicBezTo>
                      <a:pt x="148" y="40"/>
                      <a:pt x="148" y="40"/>
                      <a:pt x="148" y="40"/>
                    </a:cubicBezTo>
                    <a:cubicBezTo>
                      <a:pt x="148" y="40"/>
                      <a:pt x="143" y="38"/>
                      <a:pt x="141" y="38"/>
                    </a:cubicBezTo>
                    <a:cubicBezTo>
                      <a:pt x="139" y="37"/>
                      <a:pt x="140" y="39"/>
                      <a:pt x="139" y="39"/>
                    </a:cubicBezTo>
                    <a:cubicBezTo>
                      <a:pt x="138" y="38"/>
                      <a:pt x="136" y="39"/>
                      <a:pt x="134" y="39"/>
                    </a:cubicBezTo>
                    <a:cubicBezTo>
                      <a:pt x="132" y="39"/>
                      <a:pt x="133" y="38"/>
                      <a:pt x="133" y="37"/>
                    </a:cubicBezTo>
                    <a:cubicBezTo>
                      <a:pt x="134" y="35"/>
                      <a:pt x="130" y="33"/>
                      <a:pt x="127" y="31"/>
                    </a:cubicBezTo>
                    <a:cubicBezTo>
                      <a:pt x="125" y="29"/>
                      <a:pt x="121" y="28"/>
                      <a:pt x="120" y="28"/>
                    </a:cubicBezTo>
                    <a:cubicBezTo>
                      <a:pt x="118" y="27"/>
                      <a:pt x="112" y="26"/>
                      <a:pt x="109" y="25"/>
                    </a:cubicBezTo>
                    <a:cubicBezTo>
                      <a:pt x="106" y="24"/>
                      <a:pt x="101" y="23"/>
                      <a:pt x="99" y="24"/>
                    </a:cubicBezTo>
                    <a:cubicBezTo>
                      <a:pt x="98" y="24"/>
                      <a:pt x="94" y="24"/>
                      <a:pt x="91" y="25"/>
                    </a:cubicBezTo>
                    <a:cubicBezTo>
                      <a:pt x="88" y="26"/>
                      <a:pt x="92" y="26"/>
                      <a:pt x="94" y="26"/>
                    </a:cubicBezTo>
                    <a:cubicBezTo>
                      <a:pt x="96" y="26"/>
                      <a:pt x="97" y="28"/>
                      <a:pt x="98" y="30"/>
                    </a:cubicBezTo>
                    <a:cubicBezTo>
                      <a:pt x="98" y="32"/>
                      <a:pt x="93" y="33"/>
                      <a:pt x="92" y="33"/>
                    </a:cubicBezTo>
                    <a:cubicBezTo>
                      <a:pt x="90" y="33"/>
                      <a:pt x="81" y="33"/>
                      <a:pt x="79" y="33"/>
                    </a:cubicBezTo>
                    <a:cubicBezTo>
                      <a:pt x="77" y="33"/>
                      <a:pt x="74" y="33"/>
                      <a:pt x="77" y="35"/>
                    </a:cubicBezTo>
                    <a:cubicBezTo>
                      <a:pt x="80" y="37"/>
                      <a:pt x="83" y="37"/>
                      <a:pt x="84" y="37"/>
                    </a:cubicBezTo>
                    <a:cubicBezTo>
                      <a:pt x="85" y="37"/>
                      <a:pt x="86" y="37"/>
                      <a:pt x="90" y="38"/>
                    </a:cubicBezTo>
                    <a:cubicBezTo>
                      <a:pt x="93" y="39"/>
                      <a:pt x="102" y="40"/>
                      <a:pt x="103" y="40"/>
                    </a:cubicBezTo>
                    <a:cubicBezTo>
                      <a:pt x="105" y="40"/>
                      <a:pt x="106" y="40"/>
                      <a:pt x="108" y="43"/>
                    </a:cubicBezTo>
                    <a:cubicBezTo>
                      <a:pt x="110" y="46"/>
                      <a:pt x="107" y="44"/>
                      <a:pt x="106" y="43"/>
                    </a:cubicBezTo>
                    <a:cubicBezTo>
                      <a:pt x="106" y="42"/>
                      <a:pt x="104" y="41"/>
                      <a:pt x="104" y="41"/>
                    </a:cubicBezTo>
                    <a:cubicBezTo>
                      <a:pt x="103" y="41"/>
                      <a:pt x="102" y="41"/>
                      <a:pt x="104" y="43"/>
                    </a:cubicBezTo>
                    <a:cubicBezTo>
                      <a:pt x="106" y="45"/>
                      <a:pt x="105" y="45"/>
                      <a:pt x="104" y="44"/>
                    </a:cubicBezTo>
                    <a:cubicBezTo>
                      <a:pt x="104" y="44"/>
                      <a:pt x="102" y="42"/>
                      <a:pt x="101" y="42"/>
                    </a:cubicBezTo>
                    <a:cubicBezTo>
                      <a:pt x="100" y="41"/>
                      <a:pt x="97" y="41"/>
                      <a:pt x="94" y="41"/>
                    </a:cubicBezTo>
                    <a:cubicBezTo>
                      <a:pt x="92" y="42"/>
                      <a:pt x="94" y="42"/>
                      <a:pt x="97" y="45"/>
                    </a:cubicBezTo>
                    <a:cubicBezTo>
                      <a:pt x="100" y="48"/>
                      <a:pt x="95" y="45"/>
                      <a:pt x="94" y="44"/>
                    </a:cubicBezTo>
                    <a:cubicBezTo>
                      <a:pt x="94" y="44"/>
                      <a:pt x="89" y="41"/>
                      <a:pt x="88" y="40"/>
                    </a:cubicBezTo>
                    <a:cubicBezTo>
                      <a:pt x="87" y="40"/>
                      <a:pt x="83" y="39"/>
                      <a:pt x="82" y="39"/>
                    </a:cubicBezTo>
                    <a:cubicBezTo>
                      <a:pt x="80" y="39"/>
                      <a:pt x="78" y="39"/>
                      <a:pt x="76" y="39"/>
                    </a:cubicBezTo>
                    <a:cubicBezTo>
                      <a:pt x="75" y="39"/>
                      <a:pt x="74" y="40"/>
                      <a:pt x="75" y="41"/>
                    </a:cubicBezTo>
                    <a:cubicBezTo>
                      <a:pt x="76" y="41"/>
                      <a:pt x="75" y="41"/>
                      <a:pt x="74" y="42"/>
                    </a:cubicBezTo>
                    <a:cubicBezTo>
                      <a:pt x="73" y="42"/>
                      <a:pt x="72" y="42"/>
                      <a:pt x="76" y="44"/>
                    </a:cubicBezTo>
                    <a:cubicBezTo>
                      <a:pt x="80" y="46"/>
                      <a:pt x="74" y="44"/>
                      <a:pt x="71" y="44"/>
                    </a:cubicBezTo>
                    <a:cubicBezTo>
                      <a:pt x="69" y="43"/>
                      <a:pt x="70" y="42"/>
                      <a:pt x="71" y="41"/>
                    </a:cubicBezTo>
                    <a:cubicBezTo>
                      <a:pt x="72" y="40"/>
                      <a:pt x="66" y="38"/>
                      <a:pt x="65" y="38"/>
                    </a:cubicBezTo>
                    <a:cubicBezTo>
                      <a:pt x="64" y="38"/>
                      <a:pt x="63" y="38"/>
                      <a:pt x="60" y="38"/>
                    </a:cubicBezTo>
                    <a:cubicBezTo>
                      <a:pt x="57" y="37"/>
                      <a:pt x="52" y="38"/>
                      <a:pt x="48" y="40"/>
                    </a:cubicBezTo>
                    <a:cubicBezTo>
                      <a:pt x="44" y="41"/>
                      <a:pt x="44" y="41"/>
                      <a:pt x="43" y="43"/>
                    </a:cubicBezTo>
                    <a:cubicBezTo>
                      <a:pt x="43" y="44"/>
                      <a:pt x="43" y="44"/>
                      <a:pt x="42" y="44"/>
                    </a:cubicBezTo>
                    <a:cubicBezTo>
                      <a:pt x="41" y="44"/>
                      <a:pt x="40" y="43"/>
                      <a:pt x="39" y="43"/>
                    </a:cubicBezTo>
                    <a:cubicBezTo>
                      <a:pt x="38" y="44"/>
                      <a:pt x="38" y="44"/>
                      <a:pt x="40" y="45"/>
                    </a:cubicBezTo>
                    <a:cubicBezTo>
                      <a:pt x="42" y="45"/>
                      <a:pt x="42" y="46"/>
                      <a:pt x="40" y="47"/>
                    </a:cubicBezTo>
                    <a:cubicBezTo>
                      <a:pt x="38" y="48"/>
                      <a:pt x="36" y="46"/>
                      <a:pt x="33" y="45"/>
                    </a:cubicBezTo>
                    <a:cubicBezTo>
                      <a:pt x="31" y="44"/>
                      <a:pt x="28" y="45"/>
                      <a:pt x="26" y="45"/>
                    </a:cubicBezTo>
                    <a:cubicBezTo>
                      <a:pt x="24" y="45"/>
                      <a:pt x="21" y="46"/>
                      <a:pt x="20" y="46"/>
                    </a:cubicBezTo>
                    <a:cubicBezTo>
                      <a:pt x="19" y="47"/>
                      <a:pt x="16" y="47"/>
                      <a:pt x="14" y="47"/>
                    </a:cubicBezTo>
                    <a:cubicBezTo>
                      <a:pt x="13" y="48"/>
                      <a:pt x="13" y="48"/>
                      <a:pt x="13" y="49"/>
                    </a:cubicBezTo>
                    <a:cubicBezTo>
                      <a:pt x="12" y="50"/>
                      <a:pt x="10" y="50"/>
                      <a:pt x="9" y="50"/>
                    </a:cubicBezTo>
                    <a:cubicBezTo>
                      <a:pt x="7" y="49"/>
                      <a:pt x="6" y="50"/>
                      <a:pt x="5" y="50"/>
                    </a:cubicBezTo>
                    <a:cubicBezTo>
                      <a:pt x="5" y="51"/>
                      <a:pt x="4" y="51"/>
                      <a:pt x="4" y="51"/>
                    </a:cubicBezTo>
                    <a:cubicBezTo>
                      <a:pt x="4" y="52"/>
                      <a:pt x="3" y="52"/>
                      <a:pt x="2" y="53"/>
                    </a:cubicBezTo>
                    <a:cubicBezTo>
                      <a:pt x="0" y="54"/>
                      <a:pt x="1" y="55"/>
                      <a:pt x="3" y="5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12" name="Freeform 295">
                <a:extLst>
                  <a:ext uri="{FF2B5EF4-FFF2-40B4-BE49-F238E27FC236}">
                    <a16:creationId xmlns:a16="http://schemas.microsoft.com/office/drawing/2014/main" id="{87A256B7-755D-4075-95A0-C23092931FF6}"/>
                  </a:ext>
                </a:extLst>
              </p:cNvPr>
              <p:cNvSpPr>
                <a:spLocks/>
              </p:cNvSpPr>
              <p:nvPr/>
            </p:nvSpPr>
            <p:spPr bwMode="auto">
              <a:xfrm>
                <a:off x="1864" y="711"/>
                <a:ext cx="20" cy="17"/>
              </a:xfrm>
              <a:custGeom>
                <a:avLst/>
                <a:gdLst>
                  <a:gd name="T0" fmla="*/ 10 w 15"/>
                  <a:gd name="T1" fmla="*/ 2 h 12"/>
                  <a:gd name="T2" fmla="*/ 7 w 15"/>
                  <a:gd name="T3" fmla="*/ 4 h 12"/>
                  <a:gd name="T4" fmla="*/ 5 w 15"/>
                  <a:gd name="T5" fmla="*/ 6 h 12"/>
                  <a:gd name="T6" fmla="*/ 2 w 15"/>
                  <a:gd name="T7" fmla="*/ 8 h 12"/>
                  <a:gd name="T8" fmla="*/ 2 w 15"/>
                  <a:gd name="T9" fmla="*/ 10 h 12"/>
                  <a:gd name="T10" fmla="*/ 4 w 15"/>
                  <a:gd name="T11" fmla="*/ 11 h 12"/>
                  <a:gd name="T12" fmla="*/ 9 w 15"/>
                  <a:gd name="T13" fmla="*/ 10 h 12"/>
                  <a:gd name="T14" fmla="*/ 11 w 15"/>
                  <a:gd name="T15" fmla="*/ 10 h 12"/>
                  <a:gd name="T16" fmla="*/ 13 w 15"/>
                  <a:gd name="T17" fmla="*/ 10 h 12"/>
                  <a:gd name="T18" fmla="*/ 10 w 15"/>
                  <a:gd name="T19" fmla="*/ 8 h 12"/>
                  <a:gd name="T20" fmla="*/ 13 w 15"/>
                  <a:gd name="T21" fmla="*/ 2 h 12"/>
                  <a:gd name="T22" fmla="*/ 10 w 15"/>
                  <a:gd name="T23"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2">
                    <a:moveTo>
                      <a:pt x="10" y="2"/>
                    </a:moveTo>
                    <a:cubicBezTo>
                      <a:pt x="10" y="3"/>
                      <a:pt x="8" y="4"/>
                      <a:pt x="7" y="4"/>
                    </a:cubicBezTo>
                    <a:cubicBezTo>
                      <a:pt x="6" y="5"/>
                      <a:pt x="6" y="5"/>
                      <a:pt x="5" y="6"/>
                    </a:cubicBezTo>
                    <a:cubicBezTo>
                      <a:pt x="4" y="7"/>
                      <a:pt x="4" y="7"/>
                      <a:pt x="2" y="8"/>
                    </a:cubicBezTo>
                    <a:cubicBezTo>
                      <a:pt x="0" y="9"/>
                      <a:pt x="2" y="10"/>
                      <a:pt x="2" y="10"/>
                    </a:cubicBezTo>
                    <a:cubicBezTo>
                      <a:pt x="2" y="10"/>
                      <a:pt x="3" y="11"/>
                      <a:pt x="4" y="11"/>
                    </a:cubicBezTo>
                    <a:cubicBezTo>
                      <a:pt x="6" y="12"/>
                      <a:pt x="8" y="11"/>
                      <a:pt x="9" y="10"/>
                    </a:cubicBezTo>
                    <a:cubicBezTo>
                      <a:pt x="10" y="9"/>
                      <a:pt x="10" y="9"/>
                      <a:pt x="11" y="10"/>
                    </a:cubicBezTo>
                    <a:cubicBezTo>
                      <a:pt x="11" y="10"/>
                      <a:pt x="11" y="11"/>
                      <a:pt x="13" y="10"/>
                    </a:cubicBezTo>
                    <a:cubicBezTo>
                      <a:pt x="14" y="10"/>
                      <a:pt x="11" y="9"/>
                      <a:pt x="10" y="8"/>
                    </a:cubicBezTo>
                    <a:cubicBezTo>
                      <a:pt x="8" y="7"/>
                      <a:pt x="11" y="4"/>
                      <a:pt x="13" y="2"/>
                    </a:cubicBezTo>
                    <a:cubicBezTo>
                      <a:pt x="15" y="0"/>
                      <a:pt x="11" y="2"/>
                      <a:pt x="1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13" name="Freeform 296">
                <a:extLst>
                  <a:ext uri="{FF2B5EF4-FFF2-40B4-BE49-F238E27FC236}">
                    <a16:creationId xmlns:a16="http://schemas.microsoft.com/office/drawing/2014/main" id="{884B7734-5D6E-4D5A-8F83-8FD20E835065}"/>
                  </a:ext>
                </a:extLst>
              </p:cNvPr>
              <p:cNvSpPr>
                <a:spLocks/>
              </p:cNvSpPr>
              <p:nvPr/>
            </p:nvSpPr>
            <p:spPr bwMode="auto">
              <a:xfrm>
                <a:off x="640" y="965"/>
                <a:ext cx="9" cy="6"/>
              </a:xfrm>
              <a:custGeom>
                <a:avLst/>
                <a:gdLst>
                  <a:gd name="T0" fmla="*/ 1 w 6"/>
                  <a:gd name="T1" fmla="*/ 2 h 4"/>
                  <a:gd name="T2" fmla="*/ 5 w 6"/>
                  <a:gd name="T3" fmla="*/ 2 h 4"/>
                  <a:gd name="T4" fmla="*/ 6 w 6"/>
                  <a:gd name="T5" fmla="*/ 1 h 4"/>
                  <a:gd name="T6" fmla="*/ 2 w 6"/>
                  <a:gd name="T7" fmla="*/ 1 h 4"/>
                  <a:gd name="T8" fmla="*/ 1 w 6"/>
                  <a:gd name="T9" fmla="*/ 2 h 4"/>
                </a:gdLst>
                <a:ahLst/>
                <a:cxnLst>
                  <a:cxn ang="0">
                    <a:pos x="T0" y="T1"/>
                  </a:cxn>
                  <a:cxn ang="0">
                    <a:pos x="T2" y="T3"/>
                  </a:cxn>
                  <a:cxn ang="0">
                    <a:pos x="T4" y="T5"/>
                  </a:cxn>
                  <a:cxn ang="0">
                    <a:pos x="T6" y="T7"/>
                  </a:cxn>
                  <a:cxn ang="0">
                    <a:pos x="T8" y="T9"/>
                  </a:cxn>
                </a:cxnLst>
                <a:rect l="0" t="0" r="r" b="b"/>
                <a:pathLst>
                  <a:path w="6" h="4">
                    <a:moveTo>
                      <a:pt x="1" y="2"/>
                    </a:moveTo>
                    <a:cubicBezTo>
                      <a:pt x="3" y="4"/>
                      <a:pt x="4" y="2"/>
                      <a:pt x="5" y="2"/>
                    </a:cubicBezTo>
                    <a:cubicBezTo>
                      <a:pt x="5" y="2"/>
                      <a:pt x="6" y="1"/>
                      <a:pt x="6" y="1"/>
                    </a:cubicBezTo>
                    <a:cubicBezTo>
                      <a:pt x="5" y="1"/>
                      <a:pt x="4" y="0"/>
                      <a:pt x="2" y="1"/>
                    </a:cubicBezTo>
                    <a:cubicBezTo>
                      <a:pt x="0" y="1"/>
                      <a:pt x="1"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14" name="Freeform 297">
                <a:extLst>
                  <a:ext uri="{FF2B5EF4-FFF2-40B4-BE49-F238E27FC236}">
                    <a16:creationId xmlns:a16="http://schemas.microsoft.com/office/drawing/2014/main" id="{9968992C-1CCB-4338-AD8F-AA64ECB20B0B}"/>
                  </a:ext>
                </a:extLst>
              </p:cNvPr>
              <p:cNvSpPr>
                <a:spLocks/>
              </p:cNvSpPr>
              <p:nvPr/>
            </p:nvSpPr>
            <p:spPr bwMode="auto">
              <a:xfrm>
                <a:off x="1220" y="1005"/>
                <a:ext cx="8" cy="3"/>
              </a:xfrm>
              <a:custGeom>
                <a:avLst/>
                <a:gdLst>
                  <a:gd name="T0" fmla="*/ 2 w 6"/>
                  <a:gd name="T1" fmla="*/ 1 h 2"/>
                  <a:gd name="T2" fmla="*/ 2 w 6"/>
                  <a:gd name="T3" fmla="*/ 2 h 2"/>
                  <a:gd name="T4" fmla="*/ 5 w 6"/>
                  <a:gd name="T5" fmla="*/ 1 h 2"/>
                  <a:gd name="T6" fmla="*/ 2 w 6"/>
                  <a:gd name="T7" fmla="*/ 1 h 2"/>
                </a:gdLst>
                <a:ahLst/>
                <a:cxnLst>
                  <a:cxn ang="0">
                    <a:pos x="T0" y="T1"/>
                  </a:cxn>
                  <a:cxn ang="0">
                    <a:pos x="T2" y="T3"/>
                  </a:cxn>
                  <a:cxn ang="0">
                    <a:pos x="T4" y="T5"/>
                  </a:cxn>
                  <a:cxn ang="0">
                    <a:pos x="T6" y="T7"/>
                  </a:cxn>
                </a:cxnLst>
                <a:rect l="0" t="0" r="r" b="b"/>
                <a:pathLst>
                  <a:path w="6" h="2">
                    <a:moveTo>
                      <a:pt x="2" y="1"/>
                    </a:moveTo>
                    <a:cubicBezTo>
                      <a:pt x="2" y="1"/>
                      <a:pt x="0" y="1"/>
                      <a:pt x="2" y="2"/>
                    </a:cubicBezTo>
                    <a:cubicBezTo>
                      <a:pt x="5" y="2"/>
                      <a:pt x="6" y="1"/>
                      <a:pt x="5" y="1"/>
                    </a:cubicBezTo>
                    <a:cubicBezTo>
                      <a:pt x="4" y="0"/>
                      <a:pt x="3"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15" name="Freeform 298">
                <a:extLst>
                  <a:ext uri="{FF2B5EF4-FFF2-40B4-BE49-F238E27FC236}">
                    <a16:creationId xmlns:a16="http://schemas.microsoft.com/office/drawing/2014/main" id="{B3256530-7604-43A4-9324-CE43B86C9179}"/>
                  </a:ext>
                </a:extLst>
              </p:cNvPr>
              <p:cNvSpPr>
                <a:spLocks/>
              </p:cNvSpPr>
              <p:nvPr/>
            </p:nvSpPr>
            <p:spPr bwMode="auto">
              <a:xfrm>
                <a:off x="1774" y="1664"/>
                <a:ext cx="8" cy="7"/>
              </a:xfrm>
              <a:custGeom>
                <a:avLst/>
                <a:gdLst>
                  <a:gd name="T0" fmla="*/ 4 w 6"/>
                  <a:gd name="T1" fmla="*/ 4 h 5"/>
                  <a:gd name="T2" fmla="*/ 5 w 6"/>
                  <a:gd name="T3" fmla="*/ 4 h 5"/>
                  <a:gd name="T4" fmla="*/ 5 w 6"/>
                  <a:gd name="T5" fmla="*/ 2 h 5"/>
                  <a:gd name="T6" fmla="*/ 1 w 6"/>
                  <a:gd name="T7" fmla="*/ 2 h 5"/>
                  <a:gd name="T8" fmla="*/ 4 w 6"/>
                  <a:gd name="T9" fmla="*/ 4 h 5"/>
                </a:gdLst>
                <a:ahLst/>
                <a:cxnLst>
                  <a:cxn ang="0">
                    <a:pos x="T0" y="T1"/>
                  </a:cxn>
                  <a:cxn ang="0">
                    <a:pos x="T2" y="T3"/>
                  </a:cxn>
                  <a:cxn ang="0">
                    <a:pos x="T4" y="T5"/>
                  </a:cxn>
                  <a:cxn ang="0">
                    <a:pos x="T6" y="T7"/>
                  </a:cxn>
                  <a:cxn ang="0">
                    <a:pos x="T8" y="T9"/>
                  </a:cxn>
                </a:cxnLst>
                <a:rect l="0" t="0" r="r" b="b"/>
                <a:pathLst>
                  <a:path w="6" h="5">
                    <a:moveTo>
                      <a:pt x="4" y="4"/>
                    </a:moveTo>
                    <a:cubicBezTo>
                      <a:pt x="4" y="4"/>
                      <a:pt x="4" y="5"/>
                      <a:pt x="5" y="4"/>
                    </a:cubicBezTo>
                    <a:cubicBezTo>
                      <a:pt x="6" y="2"/>
                      <a:pt x="6" y="2"/>
                      <a:pt x="5" y="2"/>
                    </a:cubicBezTo>
                    <a:cubicBezTo>
                      <a:pt x="4" y="1"/>
                      <a:pt x="0" y="0"/>
                      <a:pt x="1" y="2"/>
                    </a:cubicBezTo>
                    <a:cubicBezTo>
                      <a:pt x="3" y="4"/>
                      <a:pt x="4" y="4"/>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16" name="Freeform 299">
                <a:extLst>
                  <a:ext uri="{FF2B5EF4-FFF2-40B4-BE49-F238E27FC236}">
                    <a16:creationId xmlns:a16="http://schemas.microsoft.com/office/drawing/2014/main" id="{7C5B401D-29E1-44FD-A3AA-F6786EF3DE09}"/>
                  </a:ext>
                </a:extLst>
              </p:cNvPr>
              <p:cNvSpPr>
                <a:spLocks/>
              </p:cNvSpPr>
              <p:nvPr/>
            </p:nvSpPr>
            <p:spPr bwMode="auto">
              <a:xfrm>
                <a:off x="1786" y="1672"/>
                <a:ext cx="6" cy="5"/>
              </a:xfrm>
              <a:custGeom>
                <a:avLst/>
                <a:gdLst>
                  <a:gd name="T0" fmla="*/ 1 w 4"/>
                  <a:gd name="T1" fmla="*/ 2 h 4"/>
                  <a:gd name="T2" fmla="*/ 4 w 4"/>
                  <a:gd name="T3" fmla="*/ 2 h 4"/>
                  <a:gd name="T4" fmla="*/ 2 w 4"/>
                  <a:gd name="T5" fmla="*/ 1 h 4"/>
                  <a:gd name="T6" fmla="*/ 1 w 4"/>
                  <a:gd name="T7" fmla="*/ 2 h 4"/>
                </a:gdLst>
                <a:ahLst/>
                <a:cxnLst>
                  <a:cxn ang="0">
                    <a:pos x="T0" y="T1"/>
                  </a:cxn>
                  <a:cxn ang="0">
                    <a:pos x="T2" y="T3"/>
                  </a:cxn>
                  <a:cxn ang="0">
                    <a:pos x="T4" y="T5"/>
                  </a:cxn>
                  <a:cxn ang="0">
                    <a:pos x="T6" y="T7"/>
                  </a:cxn>
                </a:cxnLst>
                <a:rect l="0" t="0" r="r" b="b"/>
                <a:pathLst>
                  <a:path w="4" h="4">
                    <a:moveTo>
                      <a:pt x="1" y="2"/>
                    </a:moveTo>
                    <a:cubicBezTo>
                      <a:pt x="1" y="2"/>
                      <a:pt x="4" y="4"/>
                      <a:pt x="4" y="2"/>
                    </a:cubicBezTo>
                    <a:cubicBezTo>
                      <a:pt x="3" y="1"/>
                      <a:pt x="3" y="0"/>
                      <a:pt x="2" y="1"/>
                    </a:cubicBezTo>
                    <a:cubicBezTo>
                      <a:pt x="2" y="1"/>
                      <a:pt x="0"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17" name="Freeform 300">
                <a:extLst>
                  <a:ext uri="{FF2B5EF4-FFF2-40B4-BE49-F238E27FC236}">
                    <a16:creationId xmlns:a16="http://schemas.microsoft.com/office/drawing/2014/main" id="{10621E11-3B0A-4ECA-B8DA-5899479891B6}"/>
                  </a:ext>
                </a:extLst>
              </p:cNvPr>
              <p:cNvSpPr>
                <a:spLocks/>
              </p:cNvSpPr>
              <p:nvPr/>
            </p:nvSpPr>
            <p:spPr bwMode="auto">
              <a:xfrm>
                <a:off x="1792" y="1672"/>
                <a:ext cx="34" cy="12"/>
              </a:xfrm>
              <a:custGeom>
                <a:avLst/>
                <a:gdLst>
                  <a:gd name="T0" fmla="*/ 2 w 25"/>
                  <a:gd name="T1" fmla="*/ 3 h 9"/>
                  <a:gd name="T2" fmla="*/ 4 w 25"/>
                  <a:gd name="T3" fmla="*/ 4 h 9"/>
                  <a:gd name="T4" fmla="*/ 6 w 25"/>
                  <a:gd name="T5" fmla="*/ 4 h 9"/>
                  <a:gd name="T6" fmla="*/ 16 w 25"/>
                  <a:gd name="T7" fmla="*/ 7 h 9"/>
                  <a:gd name="T8" fmla="*/ 19 w 25"/>
                  <a:gd name="T9" fmla="*/ 8 h 9"/>
                  <a:gd name="T10" fmla="*/ 21 w 25"/>
                  <a:gd name="T11" fmla="*/ 8 h 9"/>
                  <a:gd name="T12" fmla="*/ 21 w 25"/>
                  <a:gd name="T13" fmla="*/ 9 h 9"/>
                  <a:gd name="T14" fmla="*/ 24 w 25"/>
                  <a:gd name="T15" fmla="*/ 5 h 9"/>
                  <a:gd name="T16" fmla="*/ 24 w 25"/>
                  <a:gd name="T17" fmla="*/ 3 h 9"/>
                  <a:gd name="T18" fmla="*/ 23 w 25"/>
                  <a:gd name="T19" fmla="*/ 4 h 9"/>
                  <a:gd name="T20" fmla="*/ 21 w 25"/>
                  <a:gd name="T21" fmla="*/ 2 h 9"/>
                  <a:gd name="T22" fmla="*/ 19 w 25"/>
                  <a:gd name="T23" fmla="*/ 1 h 9"/>
                  <a:gd name="T24" fmla="*/ 16 w 25"/>
                  <a:gd name="T25" fmla="*/ 1 h 9"/>
                  <a:gd name="T26" fmla="*/ 11 w 25"/>
                  <a:gd name="T27" fmla="*/ 2 h 9"/>
                  <a:gd name="T28" fmla="*/ 8 w 25"/>
                  <a:gd name="T29" fmla="*/ 1 h 9"/>
                  <a:gd name="T30" fmla="*/ 2 w 25"/>
                  <a:gd name="T31" fmla="*/ 2 h 9"/>
                  <a:gd name="T32" fmla="*/ 2 w 25"/>
                  <a:gd name="T33"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9">
                    <a:moveTo>
                      <a:pt x="2" y="3"/>
                    </a:moveTo>
                    <a:cubicBezTo>
                      <a:pt x="3" y="4"/>
                      <a:pt x="4" y="4"/>
                      <a:pt x="4" y="4"/>
                    </a:cubicBezTo>
                    <a:cubicBezTo>
                      <a:pt x="4" y="4"/>
                      <a:pt x="4" y="4"/>
                      <a:pt x="6" y="4"/>
                    </a:cubicBezTo>
                    <a:cubicBezTo>
                      <a:pt x="9" y="5"/>
                      <a:pt x="14" y="6"/>
                      <a:pt x="16" y="7"/>
                    </a:cubicBezTo>
                    <a:cubicBezTo>
                      <a:pt x="18" y="8"/>
                      <a:pt x="19" y="8"/>
                      <a:pt x="19" y="8"/>
                    </a:cubicBezTo>
                    <a:cubicBezTo>
                      <a:pt x="23" y="6"/>
                      <a:pt x="22" y="7"/>
                      <a:pt x="21" y="8"/>
                    </a:cubicBezTo>
                    <a:cubicBezTo>
                      <a:pt x="19" y="8"/>
                      <a:pt x="20" y="9"/>
                      <a:pt x="21" y="9"/>
                    </a:cubicBezTo>
                    <a:cubicBezTo>
                      <a:pt x="22" y="9"/>
                      <a:pt x="23" y="6"/>
                      <a:pt x="24" y="5"/>
                    </a:cubicBezTo>
                    <a:cubicBezTo>
                      <a:pt x="25" y="4"/>
                      <a:pt x="25" y="4"/>
                      <a:pt x="24" y="3"/>
                    </a:cubicBezTo>
                    <a:cubicBezTo>
                      <a:pt x="24" y="2"/>
                      <a:pt x="23" y="2"/>
                      <a:pt x="23" y="4"/>
                    </a:cubicBezTo>
                    <a:cubicBezTo>
                      <a:pt x="22" y="5"/>
                      <a:pt x="22" y="4"/>
                      <a:pt x="21" y="2"/>
                    </a:cubicBezTo>
                    <a:cubicBezTo>
                      <a:pt x="20" y="0"/>
                      <a:pt x="19" y="1"/>
                      <a:pt x="19" y="1"/>
                    </a:cubicBezTo>
                    <a:cubicBezTo>
                      <a:pt x="18" y="2"/>
                      <a:pt x="17" y="2"/>
                      <a:pt x="16" y="1"/>
                    </a:cubicBezTo>
                    <a:cubicBezTo>
                      <a:pt x="15" y="0"/>
                      <a:pt x="13" y="1"/>
                      <a:pt x="11" y="2"/>
                    </a:cubicBezTo>
                    <a:cubicBezTo>
                      <a:pt x="8" y="3"/>
                      <a:pt x="9" y="3"/>
                      <a:pt x="8" y="1"/>
                    </a:cubicBezTo>
                    <a:cubicBezTo>
                      <a:pt x="7" y="0"/>
                      <a:pt x="4" y="2"/>
                      <a:pt x="2" y="2"/>
                    </a:cubicBezTo>
                    <a:cubicBezTo>
                      <a:pt x="0" y="2"/>
                      <a:pt x="2"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18" name="Freeform 301">
                <a:extLst>
                  <a:ext uri="{FF2B5EF4-FFF2-40B4-BE49-F238E27FC236}">
                    <a16:creationId xmlns:a16="http://schemas.microsoft.com/office/drawing/2014/main" id="{5B98905E-C2F9-44B7-9478-52C2D6DA82BA}"/>
                  </a:ext>
                </a:extLst>
              </p:cNvPr>
              <p:cNvSpPr>
                <a:spLocks/>
              </p:cNvSpPr>
              <p:nvPr/>
            </p:nvSpPr>
            <p:spPr bwMode="auto">
              <a:xfrm>
                <a:off x="1692" y="1598"/>
                <a:ext cx="7" cy="3"/>
              </a:xfrm>
              <a:custGeom>
                <a:avLst/>
                <a:gdLst>
                  <a:gd name="T0" fmla="*/ 3 w 5"/>
                  <a:gd name="T1" fmla="*/ 2 h 2"/>
                  <a:gd name="T2" fmla="*/ 4 w 5"/>
                  <a:gd name="T3" fmla="*/ 1 h 2"/>
                  <a:gd name="T4" fmla="*/ 1 w 5"/>
                  <a:gd name="T5" fmla="*/ 1 h 2"/>
                  <a:gd name="T6" fmla="*/ 3 w 5"/>
                  <a:gd name="T7" fmla="*/ 2 h 2"/>
                </a:gdLst>
                <a:ahLst/>
                <a:cxnLst>
                  <a:cxn ang="0">
                    <a:pos x="T0" y="T1"/>
                  </a:cxn>
                  <a:cxn ang="0">
                    <a:pos x="T2" y="T3"/>
                  </a:cxn>
                  <a:cxn ang="0">
                    <a:pos x="T4" y="T5"/>
                  </a:cxn>
                  <a:cxn ang="0">
                    <a:pos x="T6" y="T7"/>
                  </a:cxn>
                </a:cxnLst>
                <a:rect l="0" t="0" r="r" b="b"/>
                <a:pathLst>
                  <a:path w="5" h="2">
                    <a:moveTo>
                      <a:pt x="3" y="2"/>
                    </a:moveTo>
                    <a:cubicBezTo>
                      <a:pt x="5" y="1"/>
                      <a:pt x="5" y="1"/>
                      <a:pt x="4" y="1"/>
                    </a:cubicBezTo>
                    <a:cubicBezTo>
                      <a:pt x="3" y="0"/>
                      <a:pt x="3" y="0"/>
                      <a:pt x="1" y="1"/>
                    </a:cubicBezTo>
                    <a:cubicBezTo>
                      <a:pt x="0" y="2"/>
                      <a:pt x="3" y="2"/>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19" name="Freeform 302">
                <a:extLst>
                  <a:ext uri="{FF2B5EF4-FFF2-40B4-BE49-F238E27FC236}">
                    <a16:creationId xmlns:a16="http://schemas.microsoft.com/office/drawing/2014/main" id="{3C1E6904-C48A-4927-A7E0-5F865B073266}"/>
                  </a:ext>
                </a:extLst>
              </p:cNvPr>
              <p:cNvSpPr>
                <a:spLocks noEditPoints="1"/>
              </p:cNvSpPr>
              <p:nvPr/>
            </p:nvSpPr>
            <p:spPr bwMode="auto">
              <a:xfrm>
                <a:off x="1652" y="806"/>
                <a:ext cx="593" cy="421"/>
              </a:xfrm>
              <a:custGeom>
                <a:avLst/>
                <a:gdLst>
                  <a:gd name="T0" fmla="*/ 397 w 429"/>
                  <a:gd name="T1" fmla="*/ 190 h 307"/>
                  <a:gd name="T2" fmla="*/ 379 w 429"/>
                  <a:gd name="T3" fmla="*/ 182 h 307"/>
                  <a:gd name="T4" fmla="*/ 372 w 429"/>
                  <a:gd name="T5" fmla="*/ 165 h 307"/>
                  <a:gd name="T6" fmla="*/ 360 w 429"/>
                  <a:gd name="T7" fmla="*/ 155 h 307"/>
                  <a:gd name="T8" fmla="*/ 340 w 429"/>
                  <a:gd name="T9" fmla="*/ 151 h 307"/>
                  <a:gd name="T10" fmla="*/ 329 w 429"/>
                  <a:gd name="T11" fmla="*/ 147 h 307"/>
                  <a:gd name="T12" fmla="*/ 328 w 429"/>
                  <a:gd name="T13" fmla="*/ 137 h 307"/>
                  <a:gd name="T14" fmla="*/ 330 w 429"/>
                  <a:gd name="T15" fmla="*/ 127 h 307"/>
                  <a:gd name="T16" fmla="*/ 322 w 429"/>
                  <a:gd name="T17" fmla="*/ 117 h 307"/>
                  <a:gd name="T18" fmla="*/ 305 w 429"/>
                  <a:gd name="T19" fmla="*/ 111 h 307"/>
                  <a:gd name="T20" fmla="*/ 299 w 429"/>
                  <a:gd name="T21" fmla="*/ 104 h 307"/>
                  <a:gd name="T22" fmla="*/ 301 w 429"/>
                  <a:gd name="T23" fmla="*/ 84 h 307"/>
                  <a:gd name="T24" fmla="*/ 280 w 429"/>
                  <a:gd name="T25" fmla="*/ 83 h 307"/>
                  <a:gd name="T26" fmla="*/ 251 w 429"/>
                  <a:gd name="T27" fmla="*/ 72 h 307"/>
                  <a:gd name="T28" fmla="*/ 230 w 429"/>
                  <a:gd name="T29" fmla="*/ 64 h 307"/>
                  <a:gd name="T30" fmla="*/ 232 w 429"/>
                  <a:gd name="T31" fmla="*/ 50 h 307"/>
                  <a:gd name="T32" fmla="*/ 208 w 429"/>
                  <a:gd name="T33" fmla="*/ 37 h 307"/>
                  <a:gd name="T34" fmla="*/ 171 w 429"/>
                  <a:gd name="T35" fmla="*/ 44 h 307"/>
                  <a:gd name="T36" fmla="*/ 163 w 429"/>
                  <a:gd name="T37" fmla="*/ 53 h 307"/>
                  <a:gd name="T38" fmla="*/ 144 w 429"/>
                  <a:gd name="T39" fmla="*/ 47 h 307"/>
                  <a:gd name="T40" fmla="*/ 141 w 429"/>
                  <a:gd name="T41" fmla="*/ 37 h 307"/>
                  <a:gd name="T42" fmla="*/ 94 w 429"/>
                  <a:gd name="T43" fmla="*/ 13 h 307"/>
                  <a:gd name="T44" fmla="*/ 14 w 429"/>
                  <a:gd name="T45" fmla="*/ 19 h 307"/>
                  <a:gd name="T46" fmla="*/ 4 w 429"/>
                  <a:gd name="T47" fmla="*/ 70 h 307"/>
                  <a:gd name="T48" fmla="*/ 28 w 429"/>
                  <a:gd name="T49" fmla="*/ 96 h 307"/>
                  <a:gd name="T50" fmla="*/ 70 w 429"/>
                  <a:gd name="T51" fmla="*/ 107 h 307"/>
                  <a:gd name="T52" fmla="*/ 123 w 429"/>
                  <a:gd name="T53" fmla="*/ 108 h 307"/>
                  <a:gd name="T54" fmla="*/ 159 w 429"/>
                  <a:gd name="T55" fmla="*/ 110 h 307"/>
                  <a:gd name="T56" fmla="*/ 168 w 429"/>
                  <a:gd name="T57" fmla="*/ 95 h 307"/>
                  <a:gd name="T58" fmla="*/ 195 w 429"/>
                  <a:gd name="T59" fmla="*/ 111 h 307"/>
                  <a:gd name="T60" fmla="*/ 202 w 429"/>
                  <a:gd name="T61" fmla="*/ 132 h 307"/>
                  <a:gd name="T62" fmla="*/ 238 w 429"/>
                  <a:gd name="T63" fmla="*/ 142 h 307"/>
                  <a:gd name="T64" fmla="*/ 264 w 429"/>
                  <a:gd name="T65" fmla="*/ 177 h 307"/>
                  <a:gd name="T66" fmla="*/ 308 w 429"/>
                  <a:gd name="T67" fmla="*/ 197 h 307"/>
                  <a:gd name="T68" fmla="*/ 277 w 429"/>
                  <a:gd name="T69" fmla="*/ 195 h 307"/>
                  <a:gd name="T70" fmla="*/ 215 w 429"/>
                  <a:gd name="T71" fmla="*/ 226 h 307"/>
                  <a:gd name="T72" fmla="*/ 196 w 429"/>
                  <a:gd name="T73" fmla="*/ 223 h 307"/>
                  <a:gd name="T74" fmla="*/ 212 w 429"/>
                  <a:gd name="T75" fmla="*/ 247 h 307"/>
                  <a:gd name="T76" fmla="*/ 238 w 429"/>
                  <a:gd name="T77" fmla="*/ 242 h 307"/>
                  <a:gd name="T78" fmla="*/ 250 w 429"/>
                  <a:gd name="T79" fmla="*/ 250 h 307"/>
                  <a:gd name="T80" fmla="*/ 275 w 429"/>
                  <a:gd name="T81" fmla="*/ 270 h 307"/>
                  <a:gd name="T82" fmla="*/ 349 w 429"/>
                  <a:gd name="T83" fmla="*/ 305 h 307"/>
                  <a:gd name="T84" fmla="*/ 338 w 429"/>
                  <a:gd name="T85" fmla="*/ 283 h 307"/>
                  <a:gd name="T86" fmla="*/ 331 w 429"/>
                  <a:gd name="T87" fmla="*/ 266 h 307"/>
                  <a:gd name="T88" fmla="*/ 356 w 429"/>
                  <a:gd name="T89" fmla="*/ 279 h 307"/>
                  <a:gd name="T90" fmla="*/ 371 w 429"/>
                  <a:gd name="T91" fmla="*/ 282 h 307"/>
                  <a:gd name="T92" fmla="*/ 379 w 429"/>
                  <a:gd name="T93" fmla="*/ 275 h 307"/>
                  <a:gd name="T94" fmla="*/ 370 w 429"/>
                  <a:gd name="T95" fmla="*/ 246 h 307"/>
                  <a:gd name="T96" fmla="*/ 353 w 429"/>
                  <a:gd name="T97" fmla="*/ 236 h 307"/>
                  <a:gd name="T98" fmla="*/ 337 w 429"/>
                  <a:gd name="T99" fmla="*/ 217 h 307"/>
                  <a:gd name="T100" fmla="*/ 338 w 429"/>
                  <a:gd name="T101" fmla="*/ 211 h 307"/>
                  <a:gd name="T102" fmla="*/ 349 w 429"/>
                  <a:gd name="T103" fmla="*/ 199 h 307"/>
                  <a:gd name="T104" fmla="*/ 368 w 429"/>
                  <a:gd name="T105" fmla="*/ 219 h 307"/>
                  <a:gd name="T106" fmla="*/ 384 w 429"/>
                  <a:gd name="T107" fmla="*/ 231 h 307"/>
                  <a:gd name="T108" fmla="*/ 394 w 429"/>
                  <a:gd name="T109" fmla="*/ 217 h 307"/>
                  <a:gd name="T110" fmla="*/ 410 w 429"/>
                  <a:gd name="T111" fmla="*/ 210 h 307"/>
                  <a:gd name="T112" fmla="*/ 420 w 429"/>
                  <a:gd name="T113" fmla="*/ 201 h 307"/>
                  <a:gd name="T114" fmla="*/ 76 w 429"/>
                  <a:gd name="T115" fmla="*/ 80 h 307"/>
                  <a:gd name="T116" fmla="*/ 78 w 429"/>
                  <a:gd name="T117" fmla="*/ 41 h 307"/>
                  <a:gd name="T118" fmla="*/ 75 w 429"/>
                  <a:gd name="T119" fmla="*/ 2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9" h="307">
                    <a:moveTo>
                      <a:pt x="423" y="187"/>
                    </a:moveTo>
                    <a:cubicBezTo>
                      <a:pt x="421" y="185"/>
                      <a:pt x="418" y="185"/>
                      <a:pt x="417" y="186"/>
                    </a:cubicBezTo>
                    <a:cubicBezTo>
                      <a:pt x="415" y="186"/>
                      <a:pt x="415" y="186"/>
                      <a:pt x="416" y="184"/>
                    </a:cubicBezTo>
                    <a:cubicBezTo>
                      <a:pt x="418" y="183"/>
                      <a:pt x="416" y="183"/>
                      <a:pt x="415" y="183"/>
                    </a:cubicBezTo>
                    <a:cubicBezTo>
                      <a:pt x="414" y="183"/>
                      <a:pt x="413" y="184"/>
                      <a:pt x="413" y="185"/>
                    </a:cubicBezTo>
                    <a:cubicBezTo>
                      <a:pt x="413" y="186"/>
                      <a:pt x="413" y="185"/>
                      <a:pt x="412" y="186"/>
                    </a:cubicBezTo>
                    <a:cubicBezTo>
                      <a:pt x="410" y="186"/>
                      <a:pt x="411" y="187"/>
                      <a:pt x="412" y="189"/>
                    </a:cubicBezTo>
                    <a:cubicBezTo>
                      <a:pt x="413" y="190"/>
                      <a:pt x="412" y="190"/>
                      <a:pt x="412" y="190"/>
                    </a:cubicBezTo>
                    <a:cubicBezTo>
                      <a:pt x="412" y="191"/>
                      <a:pt x="411" y="188"/>
                      <a:pt x="410" y="187"/>
                    </a:cubicBezTo>
                    <a:cubicBezTo>
                      <a:pt x="410" y="186"/>
                      <a:pt x="408" y="185"/>
                      <a:pt x="407" y="185"/>
                    </a:cubicBezTo>
                    <a:cubicBezTo>
                      <a:pt x="407" y="186"/>
                      <a:pt x="406" y="188"/>
                      <a:pt x="406" y="188"/>
                    </a:cubicBezTo>
                    <a:cubicBezTo>
                      <a:pt x="406" y="189"/>
                      <a:pt x="406" y="190"/>
                      <a:pt x="405" y="192"/>
                    </a:cubicBezTo>
                    <a:cubicBezTo>
                      <a:pt x="404" y="194"/>
                      <a:pt x="404" y="192"/>
                      <a:pt x="404" y="190"/>
                    </a:cubicBezTo>
                    <a:cubicBezTo>
                      <a:pt x="405" y="189"/>
                      <a:pt x="405" y="188"/>
                      <a:pt x="405" y="186"/>
                    </a:cubicBezTo>
                    <a:cubicBezTo>
                      <a:pt x="405" y="184"/>
                      <a:pt x="400" y="185"/>
                      <a:pt x="398" y="186"/>
                    </a:cubicBezTo>
                    <a:cubicBezTo>
                      <a:pt x="396" y="187"/>
                      <a:pt x="398" y="186"/>
                      <a:pt x="397" y="190"/>
                    </a:cubicBezTo>
                    <a:cubicBezTo>
                      <a:pt x="397" y="193"/>
                      <a:pt x="396" y="189"/>
                      <a:pt x="396" y="188"/>
                    </a:cubicBezTo>
                    <a:cubicBezTo>
                      <a:pt x="396" y="187"/>
                      <a:pt x="398" y="185"/>
                      <a:pt x="395" y="187"/>
                    </a:cubicBezTo>
                    <a:cubicBezTo>
                      <a:pt x="393" y="190"/>
                      <a:pt x="392" y="188"/>
                      <a:pt x="393" y="188"/>
                    </a:cubicBezTo>
                    <a:cubicBezTo>
                      <a:pt x="394" y="188"/>
                      <a:pt x="394" y="187"/>
                      <a:pt x="394" y="186"/>
                    </a:cubicBezTo>
                    <a:cubicBezTo>
                      <a:pt x="394" y="186"/>
                      <a:pt x="396" y="186"/>
                      <a:pt x="397" y="185"/>
                    </a:cubicBezTo>
                    <a:cubicBezTo>
                      <a:pt x="398" y="185"/>
                      <a:pt x="399" y="183"/>
                      <a:pt x="398" y="182"/>
                    </a:cubicBezTo>
                    <a:cubicBezTo>
                      <a:pt x="398" y="181"/>
                      <a:pt x="399" y="180"/>
                      <a:pt x="401" y="180"/>
                    </a:cubicBezTo>
                    <a:cubicBezTo>
                      <a:pt x="403" y="179"/>
                      <a:pt x="403" y="179"/>
                      <a:pt x="403" y="177"/>
                    </a:cubicBezTo>
                    <a:cubicBezTo>
                      <a:pt x="403" y="176"/>
                      <a:pt x="399" y="178"/>
                      <a:pt x="398" y="178"/>
                    </a:cubicBezTo>
                    <a:cubicBezTo>
                      <a:pt x="397" y="178"/>
                      <a:pt x="397" y="178"/>
                      <a:pt x="396" y="179"/>
                    </a:cubicBezTo>
                    <a:cubicBezTo>
                      <a:pt x="396" y="181"/>
                      <a:pt x="396" y="181"/>
                      <a:pt x="395" y="182"/>
                    </a:cubicBezTo>
                    <a:cubicBezTo>
                      <a:pt x="393" y="183"/>
                      <a:pt x="392" y="183"/>
                      <a:pt x="393" y="182"/>
                    </a:cubicBezTo>
                    <a:cubicBezTo>
                      <a:pt x="394" y="182"/>
                      <a:pt x="394" y="182"/>
                      <a:pt x="395" y="180"/>
                    </a:cubicBezTo>
                    <a:cubicBezTo>
                      <a:pt x="397" y="178"/>
                      <a:pt x="391" y="178"/>
                      <a:pt x="390" y="178"/>
                    </a:cubicBezTo>
                    <a:cubicBezTo>
                      <a:pt x="388" y="178"/>
                      <a:pt x="384" y="180"/>
                      <a:pt x="383" y="180"/>
                    </a:cubicBezTo>
                    <a:cubicBezTo>
                      <a:pt x="381" y="181"/>
                      <a:pt x="380" y="180"/>
                      <a:pt x="379" y="182"/>
                    </a:cubicBezTo>
                    <a:cubicBezTo>
                      <a:pt x="377" y="184"/>
                      <a:pt x="377" y="184"/>
                      <a:pt x="377" y="182"/>
                    </a:cubicBezTo>
                    <a:cubicBezTo>
                      <a:pt x="378" y="181"/>
                      <a:pt x="379" y="180"/>
                      <a:pt x="381" y="180"/>
                    </a:cubicBezTo>
                    <a:cubicBezTo>
                      <a:pt x="382" y="180"/>
                      <a:pt x="386" y="179"/>
                      <a:pt x="387" y="178"/>
                    </a:cubicBezTo>
                    <a:cubicBezTo>
                      <a:pt x="389" y="176"/>
                      <a:pt x="381" y="178"/>
                      <a:pt x="380" y="178"/>
                    </a:cubicBezTo>
                    <a:cubicBezTo>
                      <a:pt x="379" y="178"/>
                      <a:pt x="376" y="179"/>
                      <a:pt x="377" y="178"/>
                    </a:cubicBezTo>
                    <a:cubicBezTo>
                      <a:pt x="378" y="178"/>
                      <a:pt x="382" y="178"/>
                      <a:pt x="383" y="177"/>
                    </a:cubicBezTo>
                    <a:cubicBezTo>
                      <a:pt x="385" y="177"/>
                      <a:pt x="379" y="176"/>
                      <a:pt x="377" y="176"/>
                    </a:cubicBezTo>
                    <a:cubicBezTo>
                      <a:pt x="374" y="175"/>
                      <a:pt x="380" y="175"/>
                      <a:pt x="382" y="176"/>
                    </a:cubicBezTo>
                    <a:cubicBezTo>
                      <a:pt x="384" y="176"/>
                      <a:pt x="387" y="176"/>
                      <a:pt x="388" y="176"/>
                    </a:cubicBezTo>
                    <a:cubicBezTo>
                      <a:pt x="390" y="176"/>
                      <a:pt x="388" y="173"/>
                      <a:pt x="387" y="172"/>
                    </a:cubicBezTo>
                    <a:cubicBezTo>
                      <a:pt x="386" y="171"/>
                      <a:pt x="387" y="171"/>
                      <a:pt x="387" y="170"/>
                    </a:cubicBezTo>
                    <a:cubicBezTo>
                      <a:pt x="388" y="169"/>
                      <a:pt x="381" y="165"/>
                      <a:pt x="380" y="164"/>
                    </a:cubicBezTo>
                    <a:cubicBezTo>
                      <a:pt x="379" y="163"/>
                      <a:pt x="377" y="164"/>
                      <a:pt x="376" y="166"/>
                    </a:cubicBezTo>
                    <a:cubicBezTo>
                      <a:pt x="375" y="167"/>
                      <a:pt x="375" y="165"/>
                      <a:pt x="374" y="165"/>
                    </a:cubicBezTo>
                    <a:cubicBezTo>
                      <a:pt x="373" y="165"/>
                      <a:pt x="372" y="165"/>
                      <a:pt x="370" y="167"/>
                    </a:cubicBezTo>
                    <a:cubicBezTo>
                      <a:pt x="369" y="168"/>
                      <a:pt x="371" y="165"/>
                      <a:pt x="372" y="165"/>
                    </a:cubicBezTo>
                    <a:cubicBezTo>
                      <a:pt x="373" y="165"/>
                      <a:pt x="372" y="164"/>
                      <a:pt x="372" y="163"/>
                    </a:cubicBezTo>
                    <a:cubicBezTo>
                      <a:pt x="371" y="163"/>
                      <a:pt x="371" y="162"/>
                      <a:pt x="372" y="162"/>
                    </a:cubicBezTo>
                    <a:cubicBezTo>
                      <a:pt x="373" y="162"/>
                      <a:pt x="373" y="162"/>
                      <a:pt x="373" y="161"/>
                    </a:cubicBezTo>
                    <a:cubicBezTo>
                      <a:pt x="373" y="160"/>
                      <a:pt x="374" y="160"/>
                      <a:pt x="376" y="159"/>
                    </a:cubicBezTo>
                    <a:cubicBezTo>
                      <a:pt x="378" y="159"/>
                      <a:pt x="371" y="160"/>
                      <a:pt x="369" y="160"/>
                    </a:cubicBezTo>
                    <a:cubicBezTo>
                      <a:pt x="367" y="160"/>
                      <a:pt x="366" y="162"/>
                      <a:pt x="365" y="163"/>
                    </a:cubicBezTo>
                    <a:cubicBezTo>
                      <a:pt x="364" y="164"/>
                      <a:pt x="365" y="164"/>
                      <a:pt x="367" y="167"/>
                    </a:cubicBezTo>
                    <a:cubicBezTo>
                      <a:pt x="369" y="170"/>
                      <a:pt x="365" y="167"/>
                      <a:pt x="364" y="165"/>
                    </a:cubicBezTo>
                    <a:cubicBezTo>
                      <a:pt x="363" y="164"/>
                      <a:pt x="364" y="163"/>
                      <a:pt x="366" y="161"/>
                    </a:cubicBezTo>
                    <a:cubicBezTo>
                      <a:pt x="367" y="158"/>
                      <a:pt x="366" y="159"/>
                      <a:pt x="364" y="159"/>
                    </a:cubicBezTo>
                    <a:cubicBezTo>
                      <a:pt x="362" y="159"/>
                      <a:pt x="362" y="161"/>
                      <a:pt x="360" y="162"/>
                    </a:cubicBezTo>
                    <a:cubicBezTo>
                      <a:pt x="359" y="162"/>
                      <a:pt x="359" y="163"/>
                      <a:pt x="359" y="165"/>
                    </a:cubicBezTo>
                    <a:cubicBezTo>
                      <a:pt x="358" y="167"/>
                      <a:pt x="358" y="169"/>
                      <a:pt x="357" y="167"/>
                    </a:cubicBezTo>
                    <a:cubicBezTo>
                      <a:pt x="356" y="165"/>
                      <a:pt x="357" y="164"/>
                      <a:pt x="358" y="163"/>
                    </a:cubicBezTo>
                    <a:cubicBezTo>
                      <a:pt x="359" y="162"/>
                      <a:pt x="358" y="162"/>
                      <a:pt x="358" y="160"/>
                    </a:cubicBezTo>
                    <a:cubicBezTo>
                      <a:pt x="358" y="159"/>
                      <a:pt x="359" y="158"/>
                      <a:pt x="360" y="155"/>
                    </a:cubicBezTo>
                    <a:cubicBezTo>
                      <a:pt x="360" y="153"/>
                      <a:pt x="359" y="156"/>
                      <a:pt x="359" y="157"/>
                    </a:cubicBezTo>
                    <a:cubicBezTo>
                      <a:pt x="358" y="159"/>
                      <a:pt x="357" y="158"/>
                      <a:pt x="355" y="159"/>
                    </a:cubicBezTo>
                    <a:cubicBezTo>
                      <a:pt x="353" y="160"/>
                      <a:pt x="353" y="161"/>
                      <a:pt x="352" y="163"/>
                    </a:cubicBezTo>
                    <a:cubicBezTo>
                      <a:pt x="352" y="165"/>
                      <a:pt x="351" y="164"/>
                      <a:pt x="349" y="163"/>
                    </a:cubicBezTo>
                    <a:cubicBezTo>
                      <a:pt x="347" y="162"/>
                      <a:pt x="350" y="162"/>
                      <a:pt x="351" y="162"/>
                    </a:cubicBezTo>
                    <a:cubicBezTo>
                      <a:pt x="353" y="162"/>
                      <a:pt x="353" y="160"/>
                      <a:pt x="353" y="160"/>
                    </a:cubicBezTo>
                    <a:cubicBezTo>
                      <a:pt x="353" y="160"/>
                      <a:pt x="355" y="159"/>
                      <a:pt x="354" y="157"/>
                    </a:cubicBezTo>
                    <a:cubicBezTo>
                      <a:pt x="353" y="156"/>
                      <a:pt x="349" y="158"/>
                      <a:pt x="348" y="159"/>
                    </a:cubicBezTo>
                    <a:cubicBezTo>
                      <a:pt x="347" y="160"/>
                      <a:pt x="347" y="159"/>
                      <a:pt x="347" y="156"/>
                    </a:cubicBezTo>
                    <a:cubicBezTo>
                      <a:pt x="348" y="154"/>
                      <a:pt x="347" y="156"/>
                      <a:pt x="345" y="158"/>
                    </a:cubicBezTo>
                    <a:cubicBezTo>
                      <a:pt x="343" y="159"/>
                      <a:pt x="345" y="156"/>
                      <a:pt x="346" y="153"/>
                    </a:cubicBezTo>
                    <a:cubicBezTo>
                      <a:pt x="347" y="151"/>
                      <a:pt x="341" y="152"/>
                      <a:pt x="339" y="153"/>
                    </a:cubicBezTo>
                    <a:cubicBezTo>
                      <a:pt x="338" y="153"/>
                      <a:pt x="339" y="154"/>
                      <a:pt x="338" y="155"/>
                    </a:cubicBezTo>
                    <a:cubicBezTo>
                      <a:pt x="336" y="156"/>
                      <a:pt x="335" y="155"/>
                      <a:pt x="337" y="155"/>
                    </a:cubicBezTo>
                    <a:cubicBezTo>
                      <a:pt x="338" y="155"/>
                      <a:pt x="338" y="155"/>
                      <a:pt x="338" y="153"/>
                    </a:cubicBezTo>
                    <a:cubicBezTo>
                      <a:pt x="338" y="152"/>
                      <a:pt x="337" y="151"/>
                      <a:pt x="340" y="151"/>
                    </a:cubicBezTo>
                    <a:cubicBezTo>
                      <a:pt x="342" y="151"/>
                      <a:pt x="340" y="150"/>
                      <a:pt x="338" y="150"/>
                    </a:cubicBezTo>
                    <a:cubicBezTo>
                      <a:pt x="336" y="150"/>
                      <a:pt x="336" y="150"/>
                      <a:pt x="335" y="151"/>
                    </a:cubicBezTo>
                    <a:cubicBezTo>
                      <a:pt x="334" y="153"/>
                      <a:pt x="334" y="151"/>
                      <a:pt x="334" y="151"/>
                    </a:cubicBezTo>
                    <a:cubicBezTo>
                      <a:pt x="335" y="151"/>
                      <a:pt x="334" y="149"/>
                      <a:pt x="332" y="150"/>
                    </a:cubicBezTo>
                    <a:cubicBezTo>
                      <a:pt x="331" y="151"/>
                      <a:pt x="330" y="151"/>
                      <a:pt x="332" y="150"/>
                    </a:cubicBezTo>
                    <a:cubicBezTo>
                      <a:pt x="333" y="149"/>
                      <a:pt x="334" y="150"/>
                      <a:pt x="335" y="149"/>
                    </a:cubicBezTo>
                    <a:cubicBezTo>
                      <a:pt x="336" y="149"/>
                      <a:pt x="339" y="148"/>
                      <a:pt x="340" y="149"/>
                    </a:cubicBezTo>
                    <a:cubicBezTo>
                      <a:pt x="342" y="149"/>
                      <a:pt x="343" y="150"/>
                      <a:pt x="343" y="149"/>
                    </a:cubicBezTo>
                    <a:cubicBezTo>
                      <a:pt x="344" y="148"/>
                      <a:pt x="344" y="148"/>
                      <a:pt x="345" y="148"/>
                    </a:cubicBezTo>
                    <a:cubicBezTo>
                      <a:pt x="346" y="148"/>
                      <a:pt x="347" y="148"/>
                      <a:pt x="345" y="148"/>
                    </a:cubicBezTo>
                    <a:cubicBezTo>
                      <a:pt x="344" y="148"/>
                      <a:pt x="342" y="147"/>
                      <a:pt x="342" y="147"/>
                    </a:cubicBezTo>
                    <a:cubicBezTo>
                      <a:pt x="342" y="147"/>
                      <a:pt x="337" y="148"/>
                      <a:pt x="336" y="148"/>
                    </a:cubicBezTo>
                    <a:cubicBezTo>
                      <a:pt x="334" y="149"/>
                      <a:pt x="334" y="149"/>
                      <a:pt x="334" y="148"/>
                    </a:cubicBezTo>
                    <a:cubicBezTo>
                      <a:pt x="333" y="146"/>
                      <a:pt x="333" y="146"/>
                      <a:pt x="335" y="145"/>
                    </a:cubicBezTo>
                    <a:cubicBezTo>
                      <a:pt x="336" y="144"/>
                      <a:pt x="332" y="146"/>
                      <a:pt x="331" y="147"/>
                    </a:cubicBezTo>
                    <a:cubicBezTo>
                      <a:pt x="331" y="147"/>
                      <a:pt x="330" y="149"/>
                      <a:pt x="329" y="147"/>
                    </a:cubicBezTo>
                    <a:cubicBezTo>
                      <a:pt x="328" y="146"/>
                      <a:pt x="329" y="147"/>
                      <a:pt x="328" y="145"/>
                    </a:cubicBezTo>
                    <a:cubicBezTo>
                      <a:pt x="327" y="144"/>
                      <a:pt x="325" y="144"/>
                      <a:pt x="324" y="144"/>
                    </a:cubicBezTo>
                    <a:cubicBezTo>
                      <a:pt x="322" y="143"/>
                      <a:pt x="321" y="145"/>
                      <a:pt x="318" y="144"/>
                    </a:cubicBezTo>
                    <a:cubicBezTo>
                      <a:pt x="316" y="144"/>
                      <a:pt x="318" y="142"/>
                      <a:pt x="320" y="143"/>
                    </a:cubicBezTo>
                    <a:cubicBezTo>
                      <a:pt x="322" y="143"/>
                      <a:pt x="321" y="143"/>
                      <a:pt x="324" y="142"/>
                    </a:cubicBezTo>
                    <a:cubicBezTo>
                      <a:pt x="327" y="142"/>
                      <a:pt x="327" y="142"/>
                      <a:pt x="325" y="141"/>
                    </a:cubicBezTo>
                    <a:cubicBezTo>
                      <a:pt x="323" y="140"/>
                      <a:pt x="316" y="140"/>
                      <a:pt x="315" y="140"/>
                    </a:cubicBezTo>
                    <a:cubicBezTo>
                      <a:pt x="314" y="140"/>
                      <a:pt x="314" y="139"/>
                      <a:pt x="314" y="139"/>
                    </a:cubicBezTo>
                    <a:cubicBezTo>
                      <a:pt x="314" y="138"/>
                      <a:pt x="313" y="139"/>
                      <a:pt x="310" y="138"/>
                    </a:cubicBezTo>
                    <a:cubicBezTo>
                      <a:pt x="307" y="137"/>
                      <a:pt x="307" y="137"/>
                      <a:pt x="310" y="137"/>
                    </a:cubicBezTo>
                    <a:cubicBezTo>
                      <a:pt x="312" y="136"/>
                      <a:pt x="315" y="138"/>
                      <a:pt x="317" y="138"/>
                    </a:cubicBezTo>
                    <a:cubicBezTo>
                      <a:pt x="319" y="139"/>
                      <a:pt x="322" y="138"/>
                      <a:pt x="324" y="138"/>
                    </a:cubicBezTo>
                    <a:cubicBezTo>
                      <a:pt x="326" y="138"/>
                      <a:pt x="328" y="139"/>
                      <a:pt x="331" y="139"/>
                    </a:cubicBezTo>
                    <a:cubicBezTo>
                      <a:pt x="334" y="138"/>
                      <a:pt x="329" y="138"/>
                      <a:pt x="328" y="138"/>
                    </a:cubicBezTo>
                    <a:cubicBezTo>
                      <a:pt x="327" y="137"/>
                      <a:pt x="326" y="136"/>
                      <a:pt x="324" y="136"/>
                    </a:cubicBezTo>
                    <a:cubicBezTo>
                      <a:pt x="321" y="135"/>
                      <a:pt x="326" y="136"/>
                      <a:pt x="328" y="137"/>
                    </a:cubicBezTo>
                    <a:cubicBezTo>
                      <a:pt x="329" y="137"/>
                      <a:pt x="329" y="136"/>
                      <a:pt x="328" y="135"/>
                    </a:cubicBezTo>
                    <a:cubicBezTo>
                      <a:pt x="326" y="133"/>
                      <a:pt x="325" y="134"/>
                      <a:pt x="322" y="134"/>
                    </a:cubicBezTo>
                    <a:cubicBezTo>
                      <a:pt x="320" y="134"/>
                      <a:pt x="324" y="132"/>
                      <a:pt x="325" y="133"/>
                    </a:cubicBezTo>
                    <a:cubicBezTo>
                      <a:pt x="327" y="133"/>
                      <a:pt x="328" y="133"/>
                      <a:pt x="331" y="133"/>
                    </a:cubicBezTo>
                    <a:cubicBezTo>
                      <a:pt x="333" y="133"/>
                      <a:pt x="332" y="132"/>
                      <a:pt x="332" y="132"/>
                    </a:cubicBezTo>
                    <a:cubicBezTo>
                      <a:pt x="331" y="131"/>
                      <a:pt x="327" y="130"/>
                      <a:pt x="326" y="129"/>
                    </a:cubicBezTo>
                    <a:cubicBezTo>
                      <a:pt x="324" y="129"/>
                      <a:pt x="323" y="128"/>
                      <a:pt x="320" y="129"/>
                    </a:cubicBezTo>
                    <a:cubicBezTo>
                      <a:pt x="316" y="130"/>
                      <a:pt x="315" y="129"/>
                      <a:pt x="318" y="129"/>
                    </a:cubicBezTo>
                    <a:cubicBezTo>
                      <a:pt x="321" y="128"/>
                      <a:pt x="320" y="128"/>
                      <a:pt x="319" y="128"/>
                    </a:cubicBezTo>
                    <a:cubicBezTo>
                      <a:pt x="317" y="127"/>
                      <a:pt x="315" y="127"/>
                      <a:pt x="316" y="127"/>
                    </a:cubicBezTo>
                    <a:cubicBezTo>
                      <a:pt x="317" y="127"/>
                      <a:pt x="321" y="127"/>
                      <a:pt x="324" y="128"/>
                    </a:cubicBezTo>
                    <a:cubicBezTo>
                      <a:pt x="327" y="128"/>
                      <a:pt x="326" y="128"/>
                      <a:pt x="326" y="127"/>
                    </a:cubicBezTo>
                    <a:cubicBezTo>
                      <a:pt x="326" y="125"/>
                      <a:pt x="324" y="126"/>
                      <a:pt x="321" y="126"/>
                    </a:cubicBezTo>
                    <a:cubicBezTo>
                      <a:pt x="318" y="126"/>
                      <a:pt x="318" y="124"/>
                      <a:pt x="319" y="125"/>
                    </a:cubicBezTo>
                    <a:cubicBezTo>
                      <a:pt x="320" y="125"/>
                      <a:pt x="323" y="125"/>
                      <a:pt x="325" y="125"/>
                    </a:cubicBezTo>
                    <a:cubicBezTo>
                      <a:pt x="327" y="126"/>
                      <a:pt x="328" y="126"/>
                      <a:pt x="330" y="127"/>
                    </a:cubicBezTo>
                    <a:cubicBezTo>
                      <a:pt x="332" y="128"/>
                      <a:pt x="333" y="129"/>
                      <a:pt x="335" y="129"/>
                    </a:cubicBezTo>
                    <a:cubicBezTo>
                      <a:pt x="338" y="128"/>
                      <a:pt x="338" y="128"/>
                      <a:pt x="338" y="129"/>
                    </a:cubicBezTo>
                    <a:cubicBezTo>
                      <a:pt x="339" y="129"/>
                      <a:pt x="340" y="129"/>
                      <a:pt x="341" y="129"/>
                    </a:cubicBezTo>
                    <a:cubicBezTo>
                      <a:pt x="343" y="128"/>
                      <a:pt x="343" y="128"/>
                      <a:pt x="345" y="129"/>
                    </a:cubicBezTo>
                    <a:cubicBezTo>
                      <a:pt x="347" y="130"/>
                      <a:pt x="347" y="127"/>
                      <a:pt x="347" y="125"/>
                    </a:cubicBezTo>
                    <a:cubicBezTo>
                      <a:pt x="347" y="124"/>
                      <a:pt x="343" y="122"/>
                      <a:pt x="340" y="121"/>
                    </a:cubicBezTo>
                    <a:cubicBezTo>
                      <a:pt x="337" y="120"/>
                      <a:pt x="333" y="120"/>
                      <a:pt x="331" y="120"/>
                    </a:cubicBezTo>
                    <a:cubicBezTo>
                      <a:pt x="329" y="121"/>
                      <a:pt x="328" y="120"/>
                      <a:pt x="326" y="120"/>
                    </a:cubicBezTo>
                    <a:cubicBezTo>
                      <a:pt x="324" y="119"/>
                      <a:pt x="320" y="118"/>
                      <a:pt x="319" y="117"/>
                    </a:cubicBezTo>
                    <a:cubicBezTo>
                      <a:pt x="317" y="117"/>
                      <a:pt x="314" y="118"/>
                      <a:pt x="313" y="119"/>
                    </a:cubicBezTo>
                    <a:cubicBezTo>
                      <a:pt x="311" y="119"/>
                      <a:pt x="308" y="119"/>
                      <a:pt x="307" y="119"/>
                    </a:cubicBezTo>
                    <a:cubicBezTo>
                      <a:pt x="306" y="119"/>
                      <a:pt x="304" y="119"/>
                      <a:pt x="300" y="119"/>
                    </a:cubicBezTo>
                    <a:cubicBezTo>
                      <a:pt x="296" y="120"/>
                      <a:pt x="300" y="118"/>
                      <a:pt x="302" y="118"/>
                    </a:cubicBezTo>
                    <a:cubicBezTo>
                      <a:pt x="304" y="117"/>
                      <a:pt x="308" y="119"/>
                      <a:pt x="309" y="119"/>
                    </a:cubicBezTo>
                    <a:cubicBezTo>
                      <a:pt x="310" y="119"/>
                      <a:pt x="313" y="118"/>
                      <a:pt x="315" y="117"/>
                    </a:cubicBezTo>
                    <a:cubicBezTo>
                      <a:pt x="317" y="116"/>
                      <a:pt x="320" y="116"/>
                      <a:pt x="322" y="117"/>
                    </a:cubicBezTo>
                    <a:cubicBezTo>
                      <a:pt x="324" y="117"/>
                      <a:pt x="326" y="114"/>
                      <a:pt x="328" y="113"/>
                    </a:cubicBezTo>
                    <a:cubicBezTo>
                      <a:pt x="329" y="112"/>
                      <a:pt x="330" y="112"/>
                      <a:pt x="332" y="113"/>
                    </a:cubicBezTo>
                    <a:cubicBezTo>
                      <a:pt x="334" y="113"/>
                      <a:pt x="336" y="115"/>
                      <a:pt x="339" y="114"/>
                    </a:cubicBezTo>
                    <a:cubicBezTo>
                      <a:pt x="343" y="114"/>
                      <a:pt x="341" y="112"/>
                      <a:pt x="340" y="111"/>
                    </a:cubicBezTo>
                    <a:cubicBezTo>
                      <a:pt x="340" y="110"/>
                      <a:pt x="340" y="110"/>
                      <a:pt x="340" y="109"/>
                    </a:cubicBezTo>
                    <a:cubicBezTo>
                      <a:pt x="340" y="107"/>
                      <a:pt x="337" y="105"/>
                      <a:pt x="336" y="104"/>
                    </a:cubicBezTo>
                    <a:cubicBezTo>
                      <a:pt x="334" y="103"/>
                      <a:pt x="331" y="100"/>
                      <a:pt x="329" y="99"/>
                    </a:cubicBezTo>
                    <a:cubicBezTo>
                      <a:pt x="328" y="99"/>
                      <a:pt x="328" y="99"/>
                      <a:pt x="327" y="99"/>
                    </a:cubicBezTo>
                    <a:cubicBezTo>
                      <a:pt x="325" y="99"/>
                      <a:pt x="325" y="101"/>
                      <a:pt x="325" y="102"/>
                    </a:cubicBezTo>
                    <a:cubicBezTo>
                      <a:pt x="325" y="104"/>
                      <a:pt x="323" y="104"/>
                      <a:pt x="321" y="105"/>
                    </a:cubicBezTo>
                    <a:cubicBezTo>
                      <a:pt x="319" y="106"/>
                      <a:pt x="317" y="108"/>
                      <a:pt x="316" y="108"/>
                    </a:cubicBezTo>
                    <a:cubicBezTo>
                      <a:pt x="314" y="108"/>
                      <a:pt x="311" y="109"/>
                      <a:pt x="310" y="110"/>
                    </a:cubicBezTo>
                    <a:cubicBezTo>
                      <a:pt x="310" y="111"/>
                      <a:pt x="308" y="112"/>
                      <a:pt x="307" y="112"/>
                    </a:cubicBezTo>
                    <a:cubicBezTo>
                      <a:pt x="305" y="112"/>
                      <a:pt x="304" y="112"/>
                      <a:pt x="303" y="112"/>
                    </a:cubicBezTo>
                    <a:cubicBezTo>
                      <a:pt x="302" y="112"/>
                      <a:pt x="300" y="113"/>
                      <a:pt x="301" y="112"/>
                    </a:cubicBezTo>
                    <a:cubicBezTo>
                      <a:pt x="302" y="111"/>
                      <a:pt x="303" y="111"/>
                      <a:pt x="305" y="111"/>
                    </a:cubicBezTo>
                    <a:cubicBezTo>
                      <a:pt x="306" y="111"/>
                      <a:pt x="307" y="111"/>
                      <a:pt x="308" y="110"/>
                    </a:cubicBezTo>
                    <a:cubicBezTo>
                      <a:pt x="309" y="109"/>
                      <a:pt x="309" y="109"/>
                      <a:pt x="311" y="108"/>
                    </a:cubicBezTo>
                    <a:cubicBezTo>
                      <a:pt x="312" y="108"/>
                      <a:pt x="314" y="107"/>
                      <a:pt x="315" y="106"/>
                    </a:cubicBezTo>
                    <a:cubicBezTo>
                      <a:pt x="317" y="105"/>
                      <a:pt x="317" y="105"/>
                      <a:pt x="317" y="103"/>
                    </a:cubicBezTo>
                    <a:cubicBezTo>
                      <a:pt x="318" y="101"/>
                      <a:pt x="317" y="102"/>
                      <a:pt x="316" y="102"/>
                    </a:cubicBezTo>
                    <a:cubicBezTo>
                      <a:pt x="315" y="102"/>
                      <a:pt x="314" y="102"/>
                      <a:pt x="313" y="101"/>
                    </a:cubicBezTo>
                    <a:cubicBezTo>
                      <a:pt x="312" y="101"/>
                      <a:pt x="311" y="101"/>
                      <a:pt x="310" y="102"/>
                    </a:cubicBezTo>
                    <a:cubicBezTo>
                      <a:pt x="309" y="102"/>
                      <a:pt x="307" y="103"/>
                      <a:pt x="304" y="103"/>
                    </a:cubicBezTo>
                    <a:cubicBezTo>
                      <a:pt x="302" y="104"/>
                      <a:pt x="303" y="104"/>
                      <a:pt x="303" y="106"/>
                    </a:cubicBezTo>
                    <a:cubicBezTo>
                      <a:pt x="302" y="107"/>
                      <a:pt x="301" y="107"/>
                      <a:pt x="300" y="108"/>
                    </a:cubicBezTo>
                    <a:cubicBezTo>
                      <a:pt x="299" y="108"/>
                      <a:pt x="298" y="108"/>
                      <a:pt x="296" y="109"/>
                    </a:cubicBezTo>
                    <a:cubicBezTo>
                      <a:pt x="295" y="110"/>
                      <a:pt x="293" y="111"/>
                      <a:pt x="292" y="110"/>
                    </a:cubicBezTo>
                    <a:cubicBezTo>
                      <a:pt x="291" y="109"/>
                      <a:pt x="295" y="108"/>
                      <a:pt x="298" y="107"/>
                    </a:cubicBezTo>
                    <a:cubicBezTo>
                      <a:pt x="300" y="106"/>
                      <a:pt x="301" y="107"/>
                      <a:pt x="301" y="106"/>
                    </a:cubicBezTo>
                    <a:cubicBezTo>
                      <a:pt x="301" y="106"/>
                      <a:pt x="301" y="105"/>
                      <a:pt x="298" y="106"/>
                    </a:cubicBezTo>
                    <a:cubicBezTo>
                      <a:pt x="295" y="106"/>
                      <a:pt x="297" y="105"/>
                      <a:pt x="299" y="104"/>
                    </a:cubicBezTo>
                    <a:cubicBezTo>
                      <a:pt x="301" y="104"/>
                      <a:pt x="300" y="104"/>
                      <a:pt x="302" y="102"/>
                    </a:cubicBezTo>
                    <a:cubicBezTo>
                      <a:pt x="304" y="100"/>
                      <a:pt x="313" y="99"/>
                      <a:pt x="315" y="99"/>
                    </a:cubicBezTo>
                    <a:cubicBezTo>
                      <a:pt x="318" y="98"/>
                      <a:pt x="318" y="98"/>
                      <a:pt x="318" y="97"/>
                    </a:cubicBezTo>
                    <a:cubicBezTo>
                      <a:pt x="319" y="97"/>
                      <a:pt x="318" y="96"/>
                      <a:pt x="320" y="96"/>
                    </a:cubicBezTo>
                    <a:cubicBezTo>
                      <a:pt x="323" y="97"/>
                      <a:pt x="322" y="93"/>
                      <a:pt x="323" y="91"/>
                    </a:cubicBezTo>
                    <a:cubicBezTo>
                      <a:pt x="323" y="90"/>
                      <a:pt x="321" y="90"/>
                      <a:pt x="319" y="90"/>
                    </a:cubicBezTo>
                    <a:cubicBezTo>
                      <a:pt x="317" y="90"/>
                      <a:pt x="316" y="89"/>
                      <a:pt x="315" y="88"/>
                    </a:cubicBezTo>
                    <a:cubicBezTo>
                      <a:pt x="314" y="88"/>
                      <a:pt x="309" y="86"/>
                      <a:pt x="308" y="86"/>
                    </a:cubicBezTo>
                    <a:cubicBezTo>
                      <a:pt x="307" y="85"/>
                      <a:pt x="300" y="88"/>
                      <a:pt x="299" y="89"/>
                    </a:cubicBezTo>
                    <a:cubicBezTo>
                      <a:pt x="297" y="90"/>
                      <a:pt x="296" y="90"/>
                      <a:pt x="295" y="90"/>
                    </a:cubicBezTo>
                    <a:cubicBezTo>
                      <a:pt x="294" y="90"/>
                      <a:pt x="294" y="90"/>
                      <a:pt x="294" y="91"/>
                    </a:cubicBezTo>
                    <a:cubicBezTo>
                      <a:pt x="294" y="92"/>
                      <a:pt x="294" y="93"/>
                      <a:pt x="293" y="92"/>
                    </a:cubicBezTo>
                    <a:cubicBezTo>
                      <a:pt x="292" y="92"/>
                      <a:pt x="291" y="92"/>
                      <a:pt x="291" y="91"/>
                    </a:cubicBezTo>
                    <a:cubicBezTo>
                      <a:pt x="292" y="89"/>
                      <a:pt x="293" y="89"/>
                      <a:pt x="295" y="90"/>
                    </a:cubicBezTo>
                    <a:cubicBezTo>
                      <a:pt x="296" y="90"/>
                      <a:pt x="298" y="88"/>
                      <a:pt x="299" y="87"/>
                    </a:cubicBezTo>
                    <a:cubicBezTo>
                      <a:pt x="300" y="86"/>
                      <a:pt x="301" y="85"/>
                      <a:pt x="301" y="84"/>
                    </a:cubicBezTo>
                    <a:cubicBezTo>
                      <a:pt x="301" y="82"/>
                      <a:pt x="297" y="84"/>
                      <a:pt x="296" y="85"/>
                    </a:cubicBezTo>
                    <a:cubicBezTo>
                      <a:pt x="294" y="85"/>
                      <a:pt x="290" y="87"/>
                      <a:pt x="289" y="88"/>
                    </a:cubicBezTo>
                    <a:cubicBezTo>
                      <a:pt x="288" y="88"/>
                      <a:pt x="286" y="89"/>
                      <a:pt x="285" y="90"/>
                    </a:cubicBezTo>
                    <a:cubicBezTo>
                      <a:pt x="284" y="90"/>
                      <a:pt x="283" y="90"/>
                      <a:pt x="282" y="96"/>
                    </a:cubicBezTo>
                    <a:cubicBezTo>
                      <a:pt x="280" y="101"/>
                      <a:pt x="279" y="101"/>
                      <a:pt x="279" y="100"/>
                    </a:cubicBezTo>
                    <a:cubicBezTo>
                      <a:pt x="279" y="99"/>
                      <a:pt x="280" y="94"/>
                      <a:pt x="281" y="93"/>
                    </a:cubicBezTo>
                    <a:cubicBezTo>
                      <a:pt x="281" y="91"/>
                      <a:pt x="279" y="91"/>
                      <a:pt x="277" y="91"/>
                    </a:cubicBezTo>
                    <a:cubicBezTo>
                      <a:pt x="276" y="91"/>
                      <a:pt x="274" y="92"/>
                      <a:pt x="275" y="91"/>
                    </a:cubicBezTo>
                    <a:cubicBezTo>
                      <a:pt x="275" y="90"/>
                      <a:pt x="277" y="91"/>
                      <a:pt x="279" y="91"/>
                    </a:cubicBezTo>
                    <a:cubicBezTo>
                      <a:pt x="281" y="92"/>
                      <a:pt x="282" y="90"/>
                      <a:pt x="284" y="89"/>
                    </a:cubicBezTo>
                    <a:cubicBezTo>
                      <a:pt x="286" y="88"/>
                      <a:pt x="287" y="86"/>
                      <a:pt x="288" y="85"/>
                    </a:cubicBezTo>
                    <a:cubicBezTo>
                      <a:pt x="290" y="83"/>
                      <a:pt x="290" y="82"/>
                      <a:pt x="290" y="80"/>
                    </a:cubicBezTo>
                    <a:cubicBezTo>
                      <a:pt x="289" y="78"/>
                      <a:pt x="288" y="77"/>
                      <a:pt x="287" y="77"/>
                    </a:cubicBezTo>
                    <a:cubicBezTo>
                      <a:pt x="286" y="76"/>
                      <a:pt x="285" y="78"/>
                      <a:pt x="283" y="79"/>
                    </a:cubicBezTo>
                    <a:cubicBezTo>
                      <a:pt x="281" y="79"/>
                      <a:pt x="281" y="79"/>
                      <a:pt x="281" y="81"/>
                    </a:cubicBezTo>
                    <a:cubicBezTo>
                      <a:pt x="281" y="83"/>
                      <a:pt x="282" y="83"/>
                      <a:pt x="280" y="83"/>
                    </a:cubicBezTo>
                    <a:cubicBezTo>
                      <a:pt x="277" y="83"/>
                      <a:pt x="267" y="86"/>
                      <a:pt x="265" y="87"/>
                    </a:cubicBezTo>
                    <a:cubicBezTo>
                      <a:pt x="262" y="88"/>
                      <a:pt x="264" y="86"/>
                      <a:pt x="265" y="85"/>
                    </a:cubicBezTo>
                    <a:cubicBezTo>
                      <a:pt x="267" y="84"/>
                      <a:pt x="265" y="83"/>
                      <a:pt x="264" y="84"/>
                    </a:cubicBezTo>
                    <a:cubicBezTo>
                      <a:pt x="262" y="84"/>
                      <a:pt x="261" y="84"/>
                      <a:pt x="263" y="83"/>
                    </a:cubicBezTo>
                    <a:cubicBezTo>
                      <a:pt x="265" y="82"/>
                      <a:pt x="267" y="80"/>
                      <a:pt x="269" y="78"/>
                    </a:cubicBezTo>
                    <a:cubicBezTo>
                      <a:pt x="271" y="77"/>
                      <a:pt x="272" y="77"/>
                      <a:pt x="274" y="78"/>
                    </a:cubicBezTo>
                    <a:cubicBezTo>
                      <a:pt x="277" y="79"/>
                      <a:pt x="277" y="78"/>
                      <a:pt x="278" y="76"/>
                    </a:cubicBezTo>
                    <a:cubicBezTo>
                      <a:pt x="279" y="75"/>
                      <a:pt x="279" y="74"/>
                      <a:pt x="281" y="74"/>
                    </a:cubicBezTo>
                    <a:cubicBezTo>
                      <a:pt x="283" y="73"/>
                      <a:pt x="278" y="69"/>
                      <a:pt x="277" y="67"/>
                    </a:cubicBezTo>
                    <a:cubicBezTo>
                      <a:pt x="276" y="66"/>
                      <a:pt x="273" y="66"/>
                      <a:pt x="272" y="66"/>
                    </a:cubicBezTo>
                    <a:cubicBezTo>
                      <a:pt x="271" y="66"/>
                      <a:pt x="264" y="63"/>
                      <a:pt x="262" y="62"/>
                    </a:cubicBezTo>
                    <a:cubicBezTo>
                      <a:pt x="260" y="62"/>
                      <a:pt x="260" y="62"/>
                      <a:pt x="259" y="63"/>
                    </a:cubicBezTo>
                    <a:cubicBezTo>
                      <a:pt x="258" y="64"/>
                      <a:pt x="257" y="66"/>
                      <a:pt x="257" y="67"/>
                    </a:cubicBezTo>
                    <a:cubicBezTo>
                      <a:pt x="257" y="68"/>
                      <a:pt x="257" y="68"/>
                      <a:pt x="256" y="68"/>
                    </a:cubicBezTo>
                    <a:cubicBezTo>
                      <a:pt x="254" y="68"/>
                      <a:pt x="253" y="71"/>
                      <a:pt x="253" y="72"/>
                    </a:cubicBezTo>
                    <a:cubicBezTo>
                      <a:pt x="252" y="73"/>
                      <a:pt x="253" y="74"/>
                      <a:pt x="251" y="72"/>
                    </a:cubicBezTo>
                    <a:cubicBezTo>
                      <a:pt x="249" y="70"/>
                      <a:pt x="247" y="71"/>
                      <a:pt x="245" y="74"/>
                    </a:cubicBezTo>
                    <a:cubicBezTo>
                      <a:pt x="243" y="77"/>
                      <a:pt x="242" y="77"/>
                      <a:pt x="243" y="76"/>
                    </a:cubicBezTo>
                    <a:cubicBezTo>
                      <a:pt x="244" y="76"/>
                      <a:pt x="244" y="74"/>
                      <a:pt x="244" y="72"/>
                    </a:cubicBezTo>
                    <a:cubicBezTo>
                      <a:pt x="245" y="71"/>
                      <a:pt x="246" y="71"/>
                      <a:pt x="247" y="69"/>
                    </a:cubicBezTo>
                    <a:cubicBezTo>
                      <a:pt x="248" y="68"/>
                      <a:pt x="247" y="68"/>
                      <a:pt x="246" y="68"/>
                    </a:cubicBezTo>
                    <a:cubicBezTo>
                      <a:pt x="244" y="69"/>
                      <a:pt x="244" y="68"/>
                      <a:pt x="245" y="66"/>
                    </a:cubicBezTo>
                    <a:cubicBezTo>
                      <a:pt x="246" y="65"/>
                      <a:pt x="246" y="64"/>
                      <a:pt x="244" y="64"/>
                    </a:cubicBezTo>
                    <a:cubicBezTo>
                      <a:pt x="242" y="63"/>
                      <a:pt x="241" y="67"/>
                      <a:pt x="238" y="72"/>
                    </a:cubicBezTo>
                    <a:cubicBezTo>
                      <a:pt x="235" y="77"/>
                      <a:pt x="236" y="73"/>
                      <a:pt x="237" y="71"/>
                    </a:cubicBezTo>
                    <a:cubicBezTo>
                      <a:pt x="238" y="69"/>
                      <a:pt x="239" y="69"/>
                      <a:pt x="236" y="69"/>
                    </a:cubicBezTo>
                    <a:cubicBezTo>
                      <a:pt x="234" y="68"/>
                      <a:pt x="237" y="67"/>
                      <a:pt x="238" y="67"/>
                    </a:cubicBezTo>
                    <a:cubicBezTo>
                      <a:pt x="240" y="67"/>
                      <a:pt x="240" y="65"/>
                      <a:pt x="241" y="63"/>
                    </a:cubicBezTo>
                    <a:cubicBezTo>
                      <a:pt x="242" y="62"/>
                      <a:pt x="242" y="63"/>
                      <a:pt x="245" y="60"/>
                    </a:cubicBezTo>
                    <a:cubicBezTo>
                      <a:pt x="247" y="57"/>
                      <a:pt x="239" y="59"/>
                      <a:pt x="237" y="61"/>
                    </a:cubicBezTo>
                    <a:cubicBezTo>
                      <a:pt x="235" y="64"/>
                      <a:pt x="235" y="64"/>
                      <a:pt x="237" y="60"/>
                    </a:cubicBezTo>
                    <a:cubicBezTo>
                      <a:pt x="239" y="57"/>
                      <a:pt x="232" y="62"/>
                      <a:pt x="230" y="64"/>
                    </a:cubicBezTo>
                    <a:cubicBezTo>
                      <a:pt x="228" y="65"/>
                      <a:pt x="229" y="66"/>
                      <a:pt x="229" y="68"/>
                    </a:cubicBezTo>
                    <a:cubicBezTo>
                      <a:pt x="230" y="71"/>
                      <a:pt x="229" y="72"/>
                      <a:pt x="225" y="74"/>
                    </a:cubicBezTo>
                    <a:cubicBezTo>
                      <a:pt x="222" y="76"/>
                      <a:pt x="225" y="73"/>
                      <a:pt x="227" y="71"/>
                    </a:cubicBezTo>
                    <a:cubicBezTo>
                      <a:pt x="228" y="70"/>
                      <a:pt x="228" y="69"/>
                      <a:pt x="228" y="69"/>
                    </a:cubicBezTo>
                    <a:cubicBezTo>
                      <a:pt x="228" y="68"/>
                      <a:pt x="227" y="68"/>
                      <a:pt x="226" y="67"/>
                    </a:cubicBezTo>
                    <a:cubicBezTo>
                      <a:pt x="225" y="66"/>
                      <a:pt x="225" y="66"/>
                      <a:pt x="225" y="65"/>
                    </a:cubicBezTo>
                    <a:cubicBezTo>
                      <a:pt x="226" y="64"/>
                      <a:pt x="228" y="64"/>
                      <a:pt x="229" y="63"/>
                    </a:cubicBezTo>
                    <a:cubicBezTo>
                      <a:pt x="231" y="62"/>
                      <a:pt x="229" y="61"/>
                      <a:pt x="228" y="61"/>
                    </a:cubicBezTo>
                    <a:cubicBezTo>
                      <a:pt x="227" y="61"/>
                      <a:pt x="223" y="64"/>
                      <a:pt x="224" y="63"/>
                    </a:cubicBezTo>
                    <a:cubicBezTo>
                      <a:pt x="226" y="62"/>
                      <a:pt x="226" y="62"/>
                      <a:pt x="224" y="61"/>
                    </a:cubicBezTo>
                    <a:cubicBezTo>
                      <a:pt x="223" y="60"/>
                      <a:pt x="220" y="60"/>
                      <a:pt x="221" y="60"/>
                    </a:cubicBezTo>
                    <a:cubicBezTo>
                      <a:pt x="222" y="60"/>
                      <a:pt x="224" y="60"/>
                      <a:pt x="225" y="60"/>
                    </a:cubicBezTo>
                    <a:cubicBezTo>
                      <a:pt x="227" y="61"/>
                      <a:pt x="229" y="59"/>
                      <a:pt x="230" y="58"/>
                    </a:cubicBezTo>
                    <a:cubicBezTo>
                      <a:pt x="231" y="57"/>
                      <a:pt x="231" y="56"/>
                      <a:pt x="233" y="58"/>
                    </a:cubicBezTo>
                    <a:cubicBezTo>
                      <a:pt x="235" y="59"/>
                      <a:pt x="236" y="57"/>
                      <a:pt x="237" y="53"/>
                    </a:cubicBezTo>
                    <a:cubicBezTo>
                      <a:pt x="237" y="50"/>
                      <a:pt x="233" y="50"/>
                      <a:pt x="232" y="50"/>
                    </a:cubicBezTo>
                    <a:cubicBezTo>
                      <a:pt x="231" y="50"/>
                      <a:pt x="227" y="50"/>
                      <a:pt x="226" y="49"/>
                    </a:cubicBezTo>
                    <a:cubicBezTo>
                      <a:pt x="225" y="49"/>
                      <a:pt x="223" y="49"/>
                      <a:pt x="221" y="51"/>
                    </a:cubicBezTo>
                    <a:cubicBezTo>
                      <a:pt x="220" y="53"/>
                      <a:pt x="220" y="53"/>
                      <a:pt x="218" y="52"/>
                    </a:cubicBezTo>
                    <a:cubicBezTo>
                      <a:pt x="216" y="52"/>
                      <a:pt x="216" y="54"/>
                      <a:pt x="214" y="58"/>
                    </a:cubicBezTo>
                    <a:cubicBezTo>
                      <a:pt x="212" y="61"/>
                      <a:pt x="210" y="60"/>
                      <a:pt x="212" y="59"/>
                    </a:cubicBezTo>
                    <a:cubicBezTo>
                      <a:pt x="213" y="59"/>
                      <a:pt x="214" y="56"/>
                      <a:pt x="214" y="54"/>
                    </a:cubicBezTo>
                    <a:cubicBezTo>
                      <a:pt x="215" y="52"/>
                      <a:pt x="214" y="52"/>
                      <a:pt x="218" y="51"/>
                    </a:cubicBezTo>
                    <a:cubicBezTo>
                      <a:pt x="222" y="51"/>
                      <a:pt x="219" y="50"/>
                      <a:pt x="216" y="49"/>
                    </a:cubicBezTo>
                    <a:cubicBezTo>
                      <a:pt x="213" y="49"/>
                      <a:pt x="211" y="49"/>
                      <a:pt x="208" y="52"/>
                    </a:cubicBezTo>
                    <a:cubicBezTo>
                      <a:pt x="205" y="55"/>
                      <a:pt x="206" y="53"/>
                      <a:pt x="207" y="51"/>
                    </a:cubicBezTo>
                    <a:cubicBezTo>
                      <a:pt x="209" y="50"/>
                      <a:pt x="212" y="49"/>
                      <a:pt x="213" y="48"/>
                    </a:cubicBezTo>
                    <a:cubicBezTo>
                      <a:pt x="214" y="48"/>
                      <a:pt x="218" y="48"/>
                      <a:pt x="220" y="49"/>
                    </a:cubicBezTo>
                    <a:cubicBezTo>
                      <a:pt x="222" y="49"/>
                      <a:pt x="223" y="47"/>
                      <a:pt x="224" y="46"/>
                    </a:cubicBezTo>
                    <a:cubicBezTo>
                      <a:pt x="225" y="45"/>
                      <a:pt x="222" y="40"/>
                      <a:pt x="221" y="39"/>
                    </a:cubicBezTo>
                    <a:cubicBezTo>
                      <a:pt x="219" y="38"/>
                      <a:pt x="217" y="38"/>
                      <a:pt x="214" y="37"/>
                    </a:cubicBezTo>
                    <a:cubicBezTo>
                      <a:pt x="212" y="36"/>
                      <a:pt x="210" y="36"/>
                      <a:pt x="208" y="37"/>
                    </a:cubicBezTo>
                    <a:cubicBezTo>
                      <a:pt x="207" y="38"/>
                      <a:pt x="207" y="37"/>
                      <a:pt x="207" y="36"/>
                    </a:cubicBezTo>
                    <a:cubicBezTo>
                      <a:pt x="206" y="35"/>
                      <a:pt x="202" y="35"/>
                      <a:pt x="201" y="35"/>
                    </a:cubicBezTo>
                    <a:cubicBezTo>
                      <a:pt x="200" y="35"/>
                      <a:pt x="200" y="35"/>
                      <a:pt x="199" y="33"/>
                    </a:cubicBezTo>
                    <a:cubicBezTo>
                      <a:pt x="197" y="31"/>
                      <a:pt x="191" y="31"/>
                      <a:pt x="188" y="31"/>
                    </a:cubicBezTo>
                    <a:cubicBezTo>
                      <a:pt x="184" y="32"/>
                      <a:pt x="178" y="34"/>
                      <a:pt x="176" y="35"/>
                    </a:cubicBezTo>
                    <a:cubicBezTo>
                      <a:pt x="174" y="36"/>
                      <a:pt x="172" y="37"/>
                      <a:pt x="172" y="39"/>
                    </a:cubicBezTo>
                    <a:cubicBezTo>
                      <a:pt x="172" y="42"/>
                      <a:pt x="180" y="44"/>
                      <a:pt x="182" y="45"/>
                    </a:cubicBezTo>
                    <a:cubicBezTo>
                      <a:pt x="185" y="46"/>
                      <a:pt x="186" y="47"/>
                      <a:pt x="189" y="47"/>
                    </a:cubicBezTo>
                    <a:cubicBezTo>
                      <a:pt x="192" y="48"/>
                      <a:pt x="192" y="48"/>
                      <a:pt x="191" y="48"/>
                    </a:cubicBezTo>
                    <a:cubicBezTo>
                      <a:pt x="189" y="47"/>
                      <a:pt x="186" y="48"/>
                      <a:pt x="185" y="49"/>
                    </a:cubicBezTo>
                    <a:cubicBezTo>
                      <a:pt x="184" y="50"/>
                      <a:pt x="185" y="49"/>
                      <a:pt x="185" y="47"/>
                    </a:cubicBezTo>
                    <a:cubicBezTo>
                      <a:pt x="184" y="46"/>
                      <a:pt x="181" y="45"/>
                      <a:pt x="180" y="45"/>
                    </a:cubicBezTo>
                    <a:cubicBezTo>
                      <a:pt x="179" y="45"/>
                      <a:pt x="179" y="46"/>
                      <a:pt x="179" y="45"/>
                    </a:cubicBezTo>
                    <a:cubicBezTo>
                      <a:pt x="179" y="45"/>
                      <a:pt x="177" y="44"/>
                      <a:pt x="175" y="44"/>
                    </a:cubicBezTo>
                    <a:cubicBezTo>
                      <a:pt x="174" y="44"/>
                      <a:pt x="174" y="43"/>
                      <a:pt x="173" y="45"/>
                    </a:cubicBezTo>
                    <a:cubicBezTo>
                      <a:pt x="172" y="46"/>
                      <a:pt x="172" y="45"/>
                      <a:pt x="171" y="44"/>
                    </a:cubicBezTo>
                    <a:cubicBezTo>
                      <a:pt x="171" y="42"/>
                      <a:pt x="170" y="42"/>
                      <a:pt x="169" y="43"/>
                    </a:cubicBezTo>
                    <a:cubicBezTo>
                      <a:pt x="168" y="43"/>
                      <a:pt x="167" y="43"/>
                      <a:pt x="167" y="45"/>
                    </a:cubicBezTo>
                    <a:cubicBezTo>
                      <a:pt x="166" y="47"/>
                      <a:pt x="171" y="48"/>
                      <a:pt x="173" y="49"/>
                    </a:cubicBezTo>
                    <a:cubicBezTo>
                      <a:pt x="174" y="49"/>
                      <a:pt x="174" y="49"/>
                      <a:pt x="174" y="51"/>
                    </a:cubicBezTo>
                    <a:cubicBezTo>
                      <a:pt x="174" y="52"/>
                      <a:pt x="175" y="52"/>
                      <a:pt x="176" y="53"/>
                    </a:cubicBezTo>
                    <a:cubicBezTo>
                      <a:pt x="176" y="53"/>
                      <a:pt x="176" y="51"/>
                      <a:pt x="179" y="54"/>
                    </a:cubicBezTo>
                    <a:cubicBezTo>
                      <a:pt x="182" y="57"/>
                      <a:pt x="180" y="56"/>
                      <a:pt x="180" y="56"/>
                    </a:cubicBezTo>
                    <a:cubicBezTo>
                      <a:pt x="179" y="55"/>
                      <a:pt x="178" y="54"/>
                      <a:pt x="176" y="53"/>
                    </a:cubicBezTo>
                    <a:cubicBezTo>
                      <a:pt x="175" y="53"/>
                      <a:pt x="176" y="55"/>
                      <a:pt x="177" y="56"/>
                    </a:cubicBezTo>
                    <a:cubicBezTo>
                      <a:pt x="178" y="58"/>
                      <a:pt x="181" y="60"/>
                      <a:pt x="178" y="58"/>
                    </a:cubicBezTo>
                    <a:cubicBezTo>
                      <a:pt x="175" y="57"/>
                      <a:pt x="174" y="54"/>
                      <a:pt x="173" y="52"/>
                    </a:cubicBezTo>
                    <a:cubicBezTo>
                      <a:pt x="173" y="49"/>
                      <a:pt x="170" y="49"/>
                      <a:pt x="168" y="48"/>
                    </a:cubicBezTo>
                    <a:cubicBezTo>
                      <a:pt x="167" y="47"/>
                      <a:pt x="167" y="49"/>
                      <a:pt x="166" y="51"/>
                    </a:cubicBezTo>
                    <a:cubicBezTo>
                      <a:pt x="165" y="53"/>
                      <a:pt x="169" y="53"/>
                      <a:pt x="171" y="55"/>
                    </a:cubicBezTo>
                    <a:cubicBezTo>
                      <a:pt x="173" y="56"/>
                      <a:pt x="171" y="56"/>
                      <a:pt x="169" y="55"/>
                    </a:cubicBezTo>
                    <a:cubicBezTo>
                      <a:pt x="168" y="55"/>
                      <a:pt x="164" y="54"/>
                      <a:pt x="163" y="53"/>
                    </a:cubicBezTo>
                    <a:cubicBezTo>
                      <a:pt x="161" y="53"/>
                      <a:pt x="162" y="53"/>
                      <a:pt x="163" y="52"/>
                    </a:cubicBezTo>
                    <a:cubicBezTo>
                      <a:pt x="164" y="51"/>
                      <a:pt x="164" y="51"/>
                      <a:pt x="165" y="49"/>
                    </a:cubicBezTo>
                    <a:cubicBezTo>
                      <a:pt x="166" y="47"/>
                      <a:pt x="165" y="45"/>
                      <a:pt x="163" y="43"/>
                    </a:cubicBezTo>
                    <a:cubicBezTo>
                      <a:pt x="161" y="41"/>
                      <a:pt x="159" y="42"/>
                      <a:pt x="158" y="43"/>
                    </a:cubicBezTo>
                    <a:cubicBezTo>
                      <a:pt x="157" y="44"/>
                      <a:pt x="157" y="45"/>
                      <a:pt x="155" y="46"/>
                    </a:cubicBezTo>
                    <a:cubicBezTo>
                      <a:pt x="153" y="47"/>
                      <a:pt x="154" y="45"/>
                      <a:pt x="155" y="44"/>
                    </a:cubicBezTo>
                    <a:cubicBezTo>
                      <a:pt x="156" y="43"/>
                      <a:pt x="155" y="43"/>
                      <a:pt x="155" y="42"/>
                    </a:cubicBezTo>
                    <a:cubicBezTo>
                      <a:pt x="155" y="41"/>
                      <a:pt x="154" y="42"/>
                      <a:pt x="154" y="40"/>
                    </a:cubicBezTo>
                    <a:cubicBezTo>
                      <a:pt x="154" y="39"/>
                      <a:pt x="153" y="39"/>
                      <a:pt x="153" y="39"/>
                    </a:cubicBezTo>
                    <a:cubicBezTo>
                      <a:pt x="153" y="38"/>
                      <a:pt x="152" y="39"/>
                      <a:pt x="151" y="40"/>
                    </a:cubicBezTo>
                    <a:cubicBezTo>
                      <a:pt x="150" y="41"/>
                      <a:pt x="149" y="41"/>
                      <a:pt x="148" y="43"/>
                    </a:cubicBezTo>
                    <a:cubicBezTo>
                      <a:pt x="146" y="45"/>
                      <a:pt x="151" y="47"/>
                      <a:pt x="153" y="48"/>
                    </a:cubicBezTo>
                    <a:cubicBezTo>
                      <a:pt x="155" y="48"/>
                      <a:pt x="155" y="49"/>
                      <a:pt x="153" y="49"/>
                    </a:cubicBezTo>
                    <a:cubicBezTo>
                      <a:pt x="152" y="49"/>
                      <a:pt x="150" y="47"/>
                      <a:pt x="148" y="45"/>
                    </a:cubicBezTo>
                    <a:cubicBezTo>
                      <a:pt x="146" y="44"/>
                      <a:pt x="146" y="44"/>
                      <a:pt x="146" y="45"/>
                    </a:cubicBezTo>
                    <a:cubicBezTo>
                      <a:pt x="146" y="46"/>
                      <a:pt x="145" y="47"/>
                      <a:pt x="144" y="47"/>
                    </a:cubicBezTo>
                    <a:cubicBezTo>
                      <a:pt x="143" y="47"/>
                      <a:pt x="143" y="48"/>
                      <a:pt x="144" y="49"/>
                    </a:cubicBezTo>
                    <a:cubicBezTo>
                      <a:pt x="145" y="51"/>
                      <a:pt x="144" y="51"/>
                      <a:pt x="142" y="52"/>
                    </a:cubicBezTo>
                    <a:cubicBezTo>
                      <a:pt x="141" y="52"/>
                      <a:pt x="141" y="51"/>
                      <a:pt x="138" y="54"/>
                    </a:cubicBezTo>
                    <a:cubicBezTo>
                      <a:pt x="135" y="57"/>
                      <a:pt x="137" y="54"/>
                      <a:pt x="138" y="53"/>
                    </a:cubicBezTo>
                    <a:cubicBezTo>
                      <a:pt x="138" y="51"/>
                      <a:pt x="137" y="52"/>
                      <a:pt x="135" y="52"/>
                    </a:cubicBezTo>
                    <a:cubicBezTo>
                      <a:pt x="133" y="52"/>
                      <a:pt x="134" y="51"/>
                      <a:pt x="135" y="50"/>
                    </a:cubicBezTo>
                    <a:cubicBezTo>
                      <a:pt x="136" y="49"/>
                      <a:pt x="139" y="50"/>
                      <a:pt x="141" y="50"/>
                    </a:cubicBezTo>
                    <a:cubicBezTo>
                      <a:pt x="143" y="50"/>
                      <a:pt x="139" y="49"/>
                      <a:pt x="137" y="48"/>
                    </a:cubicBezTo>
                    <a:cubicBezTo>
                      <a:pt x="136" y="47"/>
                      <a:pt x="136" y="47"/>
                      <a:pt x="137" y="47"/>
                    </a:cubicBezTo>
                    <a:cubicBezTo>
                      <a:pt x="137" y="47"/>
                      <a:pt x="137" y="47"/>
                      <a:pt x="138" y="45"/>
                    </a:cubicBezTo>
                    <a:cubicBezTo>
                      <a:pt x="138" y="44"/>
                      <a:pt x="139" y="43"/>
                      <a:pt x="141" y="42"/>
                    </a:cubicBezTo>
                    <a:cubicBezTo>
                      <a:pt x="143" y="41"/>
                      <a:pt x="142" y="40"/>
                      <a:pt x="142" y="39"/>
                    </a:cubicBezTo>
                    <a:cubicBezTo>
                      <a:pt x="142" y="38"/>
                      <a:pt x="139" y="38"/>
                      <a:pt x="137" y="40"/>
                    </a:cubicBezTo>
                    <a:cubicBezTo>
                      <a:pt x="135" y="42"/>
                      <a:pt x="134" y="44"/>
                      <a:pt x="131" y="45"/>
                    </a:cubicBezTo>
                    <a:cubicBezTo>
                      <a:pt x="128" y="47"/>
                      <a:pt x="133" y="42"/>
                      <a:pt x="134" y="42"/>
                    </a:cubicBezTo>
                    <a:cubicBezTo>
                      <a:pt x="135" y="41"/>
                      <a:pt x="139" y="38"/>
                      <a:pt x="141" y="37"/>
                    </a:cubicBezTo>
                    <a:cubicBezTo>
                      <a:pt x="142" y="36"/>
                      <a:pt x="143" y="34"/>
                      <a:pt x="145" y="33"/>
                    </a:cubicBezTo>
                    <a:cubicBezTo>
                      <a:pt x="147" y="31"/>
                      <a:pt x="145" y="31"/>
                      <a:pt x="142" y="29"/>
                    </a:cubicBezTo>
                    <a:cubicBezTo>
                      <a:pt x="140" y="27"/>
                      <a:pt x="140" y="24"/>
                      <a:pt x="141" y="23"/>
                    </a:cubicBezTo>
                    <a:cubicBezTo>
                      <a:pt x="142" y="21"/>
                      <a:pt x="141" y="20"/>
                      <a:pt x="140" y="20"/>
                    </a:cubicBezTo>
                    <a:cubicBezTo>
                      <a:pt x="140" y="20"/>
                      <a:pt x="135" y="18"/>
                      <a:pt x="133" y="17"/>
                    </a:cubicBezTo>
                    <a:cubicBezTo>
                      <a:pt x="131" y="16"/>
                      <a:pt x="131" y="13"/>
                      <a:pt x="132" y="10"/>
                    </a:cubicBezTo>
                    <a:cubicBezTo>
                      <a:pt x="132" y="8"/>
                      <a:pt x="130" y="7"/>
                      <a:pt x="129" y="7"/>
                    </a:cubicBezTo>
                    <a:cubicBezTo>
                      <a:pt x="128" y="6"/>
                      <a:pt x="128" y="6"/>
                      <a:pt x="128" y="5"/>
                    </a:cubicBezTo>
                    <a:cubicBezTo>
                      <a:pt x="128" y="4"/>
                      <a:pt x="120" y="4"/>
                      <a:pt x="118" y="4"/>
                    </a:cubicBezTo>
                    <a:cubicBezTo>
                      <a:pt x="116" y="4"/>
                      <a:pt x="113" y="4"/>
                      <a:pt x="111" y="3"/>
                    </a:cubicBezTo>
                    <a:cubicBezTo>
                      <a:pt x="109" y="3"/>
                      <a:pt x="107" y="4"/>
                      <a:pt x="106" y="5"/>
                    </a:cubicBezTo>
                    <a:cubicBezTo>
                      <a:pt x="105" y="6"/>
                      <a:pt x="105" y="6"/>
                      <a:pt x="103" y="6"/>
                    </a:cubicBezTo>
                    <a:cubicBezTo>
                      <a:pt x="101" y="6"/>
                      <a:pt x="97" y="7"/>
                      <a:pt x="93" y="9"/>
                    </a:cubicBezTo>
                    <a:cubicBezTo>
                      <a:pt x="89" y="10"/>
                      <a:pt x="91" y="10"/>
                      <a:pt x="93" y="10"/>
                    </a:cubicBezTo>
                    <a:cubicBezTo>
                      <a:pt x="95" y="11"/>
                      <a:pt x="95" y="11"/>
                      <a:pt x="96" y="13"/>
                    </a:cubicBezTo>
                    <a:cubicBezTo>
                      <a:pt x="96" y="15"/>
                      <a:pt x="96" y="16"/>
                      <a:pt x="94" y="13"/>
                    </a:cubicBezTo>
                    <a:cubicBezTo>
                      <a:pt x="91" y="10"/>
                      <a:pt x="85" y="12"/>
                      <a:pt x="83" y="12"/>
                    </a:cubicBezTo>
                    <a:cubicBezTo>
                      <a:pt x="81" y="13"/>
                      <a:pt x="80" y="13"/>
                      <a:pt x="83" y="16"/>
                    </a:cubicBezTo>
                    <a:cubicBezTo>
                      <a:pt x="86" y="18"/>
                      <a:pt x="84" y="17"/>
                      <a:pt x="83" y="17"/>
                    </a:cubicBezTo>
                    <a:cubicBezTo>
                      <a:pt x="82" y="17"/>
                      <a:pt x="80" y="15"/>
                      <a:pt x="79" y="14"/>
                    </a:cubicBezTo>
                    <a:cubicBezTo>
                      <a:pt x="78" y="13"/>
                      <a:pt x="77" y="14"/>
                      <a:pt x="76" y="15"/>
                    </a:cubicBezTo>
                    <a:cubicBezTo>
                      <a:pt x="75" y="15"/>
                      <a:pt x="75" y="14"/>
                      <a:pt x="75" y="12"/>
                    </a:cubicBezTo>
                    <a:cubicBezTo>
                      <a:pt x="75" y="11"/>
                      <a:pt x="75" y="8"/>
                      <a:pt x="76" y="6"/>
                    </a:cubicBezTo>
                    <a:cubicBezTo>
                      <a:pt x="76" y="5"/>
                      <a:pt x="77" y="5"/>
                      <a:pt x="78" y="3"/>
                    </a:cubicBezTo>
                    <a:cubicBezTo>
                      <a:pt x="78" y="2"/>
                      <a:pt x="74" y="2"/>
                      <a:pt x="72" y="1"/>
                    </a:cubicBezTo>
                    <a:cubicBezTo>
                      <a:pt x="70" y="1"/>
                      <a:pt x="68" y="1"/>
                      <a:pt x="65" y="0"/>
                    </a:cubicBezTo>
                    <a:cubicBezTo>
                      <a:pt x="62" y="0"/>
                      <a:pt x="54" y="0"/>
                      <a:pt x="44" y="1"/>
                    </a:cubicBezTo>
                    <a:cubicBezTo>
                      <a:pt x="33" y="3"/>
                      <a:pt x="24" y="10"/>
                      <a:pt x="21" y="12"/>
                    </a:cubicBezTo>
                    <a:cubicBezTo>
                      <a:pt x="19" y="15"/>
                      <a:pt x="17" y="14"/>
                      <a:pt x="20" y="15"/>
                    </a:cubicBezTo>
                    <a:cubicBezTo>
                      <a:pt x="22" y="17"/>
                      <a:pt x="19" y="16"/>
                      <a:pt x="19" y="16"/>
                    </a:cubicBezTo>
                    <a:cubicBezTo>
                      <a:pt x="18" y="16"/>
                      <a:pt x="17" y="16"/>
                      <a:pt x="16" y="16"/>
                    </a:cubicBezTo>
                    <a:cubicBezTo>
                      <a:pt x="15" y="17"/>
                      <a:pt x="15" y="18"/>
                      <a:pt x="14" y="19"/>
                    </a:cubicBezTo>
                    <a:cubicBezTo>
                      <a:pt x="14" y="20"/>
                      <a:pt x="12" y="24"/>
                      <a:pt x="11" y="25"/>
                    </a:cubicBezTo>
                    <a:cubicBezTo>
                      <a:pt x="11" y="26"/>
                      <a:pt x="12" y="27"/>
                      <a:pt x="12" y="28"/>
                    </a:cubicBezTo>
                    <a:cubicBezTo>
                      <a:pt x="11" y="28"/>
                      <a:pt x="10" y="29"/>
                      <a:pt x="11" y="30"/>
                    </a:cubicBezTo>
                    <a:cubicBezTo>
                      <a:pt x="11" y="30"/>
                      <a:pt x="10" y="31"/>
                      <a:pt x="10" y="31"/>
                    </a:cubicBezTo>
                    <a:cubicBezTo>
                      <a:pt x="9" y="31"/>
                      <a:pt x="8" y="31"/>
                      <a:pt x="8" y="32"/>
                    </a:cubicBezTo>
                    <a:cubicBezTo>
                      <a:pt x="8" y="34"/>
                      <a:pt x="8" y="35"/>
                      <a:pt x="6" y="35"/>
                    </a:cubicBezTo>
                    <a:cubicBezTo>
                      <a:pt x="5" y="35"/>
                      <a:pt x="5" y="34"/>
                      <a:pt x="5" y="36"/>
                    </a:cubicBezTo>
                    <a:cubicBezTo>
                      <a:pt x="4" y="38"/>
                      <a:pt x="5" y="39"/>
                      <a:pt x="3" y="40"/>
                    </a:cubicBezTo>
                    <a:cubicBezTo>
                      <a:pt x="2" y="40"/>
                      <a:pt x="3" y="42"/>
                      <a:pt x="3" y="44"/>
                    </a:cubicBezTo>
                    <a:cubicBezTo>
                      <a:pt x="2" y="45"/>
                      <a:pt x="1" y="45"/>
                      <a:pt x="5" y="47"/>
                    </a:cubicBezTo>
                    <a:cubicBezTo>
                      <a:pt x="9" y="49"/>
                      <a:pt x="4" y="50"/>
                      <a:pt x="3" y="50"/>
                    </a:cubicBezTo>
                    <a:cubicBezTo>
                      <a:pt x="2" y="50"/>
                      <a:pt x="2" y="50"/>
                      <a:pt x="2" y="51"/>
                    </a:cubicBezTo>
                    <a:cubicBezTo>
                      <a:pt x="2" y="52"/>
                      <a:pt x="2" y="53"/>
                      <a:pt x="1" y="54"/>
                    </a:cubicBezTo>
                    <a:cubicBezTo>
                      <a:pt x="0" y="55"/>
                      <a:pt x="0" y="56"/>
                      <a:pt x="2" y="59"/>
                    </a:cubicBezTo>
                    <a:cubicBezTo>
                      <a:pt x="4" y="61"/>
                      <a:pt x="3" y="61"/>
                      <a:pt x="2" y="63"/>
                    </a:cubicBezTo>
                    <a:cubicBezTo>
                      <a:pt x="1" y="64"/>
                      <a:pt x="1" y="68"/>
                      <a:pt x="4" y="70"/>
                    </a:cubicBezTo>
                    <a:cubicBezTo>
                      <a:pt x="7" y="72"/>
                      <a:pt x="25" y="74"/>
                      <a:pt x="27" y="74"/>
                    </a:cubicBezTo>
                    <a:cubicBezTo>
                      <a:pt x="28" y="74"/>
                      <a:pt x="30" y="74"/>
                      <a:pt x="31" y="73"/>
                    </a:cubicBezTo>
                    <a:cubicBezTo>
                      <a:pt x="33" y="73"/>
                      <a:pt x="34" y="73"/>
                      <a:pt x="35" y="74"/>
                    </a:cubicBezTo>
                    <a:cubicBezTo>
                      <a:pt x="36" y="75"/>
                      <a:pt x="38" y="77"/>
                      <a:pt x="41" y="78"/>
                    </a:cubicBezTo>
                    <a:cubicBezTo>
                      <a:pt x="43" y="80"/>
                      <a:pt x="42" y="79"/>
                      <a:pt x="41" y="81"/>
                    </a:cubicBezTo>
                    <a:cubicBezTo>
                      <a:pt x="41" y="82"/>
                      <a:pt x="40" y="81"/>
                      <a:pt x="38" y="81"/>
                    </a:cubicBezTo>
                    <a:cubicBezTo>
                      <a:pt x="36" y="80"/>
                      <a:pt x="33" y="82"/>
                      <a:pt x="31" y="81"/>
                    </a:cubicBezTo>
                    <a:cubicBezTo>
                      <a:pt x="28" y="81"/>
                      <a:pt x="26" y="81"/>
                      <a:pt x="25" y="80"/>
                    </a:cubicBezTo>
                    <a:cubicBezTo>
                      <a:pt x="24" y="78"/>
                      <a:pt x="23" y="78"/>
                      <a:pt x="22" y="79"/>
                    </a:cubicBezTo>
                    <a:cubicBezTo>
                      <a:pt x="21" y="79"/>
                      <a:pt x="20" y="79"/>
                      <a:pt x="19" y="79"/>
                    </a:cubicBezTo>
                    <a:cubicBezTo>
                      <a:pt x="18" y="79"/>
                      <a:pt x="17" y="78"/>
                      <a:pt x="16" y="79"/>
                    </a:cubicBezTo>
                    <a:cubicBezTo>
                      <a:pt x="15" y="79"/>
                      <a:pt x="15" y="79"/>
                      <a:pt x="11" y="78"/>
                    </a:cubicBezTo>
                    <a:cubicBezTo>
                      <a:pt x="8" y="76"/>
                      <a:pt x="9" y="78"/>
                      <a:pt x="9" y="78"/>
                    </a:cubicBezTo>
                    <a:cubicBezTo>
                      <a:pt x="11" y="80"/>
                      <a:pt x="11" y="82"/>
                      <a:pt x="10" y="82"/>
                    </a:cubicBezTo>
                    <a:cubicBezTo>
                      <a:pt x="9" y="82"/>
                      <a:pt x="13" y="86"/>
                      <a:pt x="18" y="90"/>
                    </a:cubicBezTo>
                    <a:cubicBezTo>
                      <a:pt x="23" y="93"/>
                      <a:pt x="26" y="95"/>
                      <a:pt x="28" y="96"/>
                    </a:cubicBezTo>
                    <a:cubicBezTo>
                      <a:pt x="31" y="97"/>
                      <a:pt x="33" y="98"/>
                      <a:pt x="29" y="98"/>
                    </a:cubicBezTo>
                    <a:cubicBezTo>
                      <a:pt x="25" y="98"/>
                      <a:pt x="33" y="100"/>
                      <a:pt x="35" y="100"/>
                    </a:cubicBezTo>
                    <a:cubicBezTo>
                      <a:pt x="37" y="100"/>
                      <a:pt x="37" y="99"/>
                      <a:pt x="37" y="98"/>
                    </a:cubicBezTo>
                    <a:cubicBezTo>
                      <a:pt x="37" y="97"/>
                      <a:pt x="41" y="98"/>
                      <a:pt x="42" y="98"/>
                    </a:cubicBezTo>
                    <a:cubicBezTo>
                      <a:pt x="44" y="99"/>
                      <a:pt x="45" y="99"/>
                      <a:pt x="46" y="99"/>
                    </a:cubicBezTo>
                    <a:cubicBezTo>
                      <a:pt x="47" y="98"/>
                      <a:pt x="45" y="97"/>
                      <a:pt x="44" y="97"/>
                    </a:cubicBezTo>
                    <a:cubicBezTo>
                      <a:pt x="43" y="96"/>
                      <a:pt x="43" y="96"/>
                      <a:pt x="44" y="95"/>
                    </a:cubicBezTo>
                    <a:cubicBezTo>
                      <a:pt x="45" y="94"/>
                      <a:pt x="46" y="94"/>
                      <a:pt x="47" y="95"/>
                    </a:cubicBezTo>
                    <a:cubicBezTo>
                      <a:pt x="48" y="96"/>
                      <a:pt x="49" y="96"/>
                      <a:pt x="48" y="97"/>
                    </a:cubicBezTo>
                    <a:cubicBezTo>
                      <a:pt x="48" y="97"/>
                      <a:pt x="48" y="98"/>
                      <a:pt x="50" y="98"/>
                    </a:cubicBezTo>
                    <a:cubicBezTo>
                      <a:pt x="52" y="98"/>
                      <a:pt x="51" y="98"/>
                      <a:pt x="51" y="97"/>
                    </a:cubicBezTo>
                    <a:cubicBezTo>
                      <a:pt x="51" y="96"/>
                      <a:pt x="52" y="95"/>
                      <a:pt x="54" y="95"/>
                    </a:cubicBezTo>
                    <a:cubicBezTo>
                      <a:pt x="56" y="94"/>
                      <a:pt x="54" y="96"/>
                      <a:pt x="54" y="96"/>
                    </a:cubicBezTo>
                    <a:cubicBezTo>
                      <a:pt x="53" y="97"/>
                      <a:pt x="50" y="97"/>
                      <a:pt x="54" y="101"/>
                    </a:cubicBezTo>
                    <a:cubicBezTo>
                      <a:pt x="58" y="105"/>
                      <a:pt x="64" y="106"/>
                      <a:pt x="65" y="106"/>
                    </a:cubicBezTo>
                    <a:cubicBezTo>
                      <a:pt x="66" y="106"/>
                      <a:pt x="69" y="107"/>
                      <a:pt x="70" y="107"/>
                    </a:cubicBezTo>
                    <a:cubicBezTo>
                      <a:pt x="71" y="107"/>
                      <a:pt x="72" y="107"/>
                      <a:pt x="71" y="106"/>
                    </a:cubicBezTo>
                    <a:cubicBezTo>
                      <a:pt x="71" y="106"/>
                      <a:pt x="67" y="105"/>
                      <a:pt x="65" y="105"/>
                    </a:cubicBezTo>
                    <a:cubicBezTo>
                      <a:pt x="63" y="105"/>
                      <a:pt x="63" y="105"/>
                      <a:pt x="65" y="104"/>
                    </a:cubicBezTo>
                    <a:cubicBezTo>
                      <a:pt x="67" y="103"/>
                      <a:pt x="72" y="104"/>
                      <a:pt x="73" y="104"/>
                    </a:cubicBezTo>
                    <a:cubicBezTo>
                      <a:pt x="74" y="104"/>
                      <a:pt x="76" y="105"/>
                      <a:pt x="77" y="105"/>
                    </a:cubicBezTo>
                    <a:cubicBezTo>
                      <a:pt x="78" y="104"/>
                      <a:pt x="79" y="104"/>
                      <a:pt x="80" y="105"/>
                    </a:cubicBezTo>
                    <a:cubicBezTo>
                      <a:pt x="81" y="107"/>
                      <a:pt x="84" y="107"/>
                      <a:pt x="86" y="107"/>
                    </a:cubicBezTo>
                    <a:cubicBezTo>
                      <a:pt x="88" y="107"/>
                      <a:pt x="91" y="107"/>
                      <a:pt x="93" y="108"/>
                    </a:cubicBezTo>
                    <a:cubicBezTo>
                      <a:pt x="94" y="108"/>
                      <a:pt x="98" y="108"/>
                      <a:pt x="100" y="107"/>
                    </a:cubicBezTo>
                    <a:cubicBezTo>
                      <a:pt x="102" y="107"/>
                      <a:pt x="104" y="106"/>
                      <a:pt x="106" y="107"/>
                    </a:cubicBezTo>
                    <a:cubicBezTo>
                      <a:pt x="107" y="109"/>
                      <a:pt x="110" y="109"/>
                      <a:pt x="111" y="110"/>
                    </a:cubicBezTo>
                    <a:cubicBezTo>
                      <a:pt x="112" y="110"/>
                      <a:pt x="115" y="110"/>
                      <a:pt x="116" y="111"/>
                    </a:cubicBezTo>
                    <a:cubicBezTo>
                      <a:pt x="118" y="112"/>
                      <a:pt x="118" y="111"/>
                      <a:pt x="118" y="111"/>
                    </a:cubicBezTo>
                    <a:cubicBezTo>
                      <a:pt x="119" y="110"/>
                      <a:pt x="120" y="110"/>
                      <a:pt x="120" y="111"/>
                    </a:cubicBezTo>
                    <a:cubicBezTo>
                      <a:pt x="121" y="111"/>
                      <a:pt x="122" y="110"/>
                      <a:pt x="123" y="110"/>
                    </a:cubicBezTo>
                    <a:cubicBezTo>
                      <a:pt x="124" y="109"/>
                      <a:pt x="124" y="108"/>
                      <a:pt x="123" y="108"/>
                    </a:cubicBezTo>
                    <a:cubicBezTo>
                      <a:pt x="123" y="108"/>
                      <a:pt x="122" y="108"/>
                      <a:pt x="121" y="107"/>
                    </a:cubicBezTo>
                    <a:cubicBezTo>
                      <a:pt x="120" y="105"/>
                      <a:pt x="116" y="104"/>
                      <a:pt x="109" y="101"/>
                    </a:cubicBezTo>
                    <a:cubicBezTo>
                      <a:pt x="102" y="98"/>
                      <a:pt x="108" y="100"/>
                      <a:pt x="108" y="100"/>
                    </a:cubicBezTo>
                    <a:cubicBezTo>
                      <a:pt x="109" y="100"/>
                      <a:pt x="119" y="104"/>
                      <a:pt x="120" y="105"/>
                    </a:cubicBezTo>
                    <a:cubicBezTo>
                      <a:pt x="121" y="106"/>
                      <a:pt x="125" y="107"/>
                      <a:pt x="126" y="108"/>
                    </a:cubicBezTo>
                    <a:cubicBezTo>
                      <a:pt x="127" y="108"/>
                      <a:pt x="131" y="110"/>
                      <a:pt x="133" y="112"/>
                    </a:cubicBezTo>
                    <a:cubicBezTo>
                      <a:pt x="135" y="114"/>
                      <a:pt x="137" y="114"/>
                      <a:pt x="138" y="113"/>
                    </a:cubicBezTo>
                    <a:cubicBezTo>
                      <a:pt x="140" y="113"/>
                      <a:pt x="136" y="109"/>
                      <a:pt x="134" y="108"/>
                    </a:cubicBezTo>
                    <a:cubicBezTo>
                      <a:pt x="132" y="107"/>
                      <a:pt x="132" y="105"/>
                      <a:pt x="130" y="106"/>
                    </a:cubicBezTo>
                    <a:cubicBezTo>
                      <a:pt x="129" y="107"/>
                      <a:pt x="127" y="106"/>
                      <a:pt x="125" y="104"/>
                    </a:cubicBezTo>
                    <a:cubicBezTo>
                      <a:pt x="123" y="103"/>
                      <a:pt x="130" y="104"/>
                      <a:pt x="132" y="104"/>
                    </a:cubicBezTo>
                    <a:cubicBezTo>
                      <a:pt x="134" y="104"/>
                      <a:pt x="141" y="105"/>
                      <a:pt x="142" y="106"/>
                    </a:cubicBezTo>
                    <a:cubicBezTo>
                      <a:pt x="143" y="107"/>
                      <a:pt x="145" y="106"/>
                      <a:pt x="146" y="106"/>
                    </a:cubicBezTo>
                    <a:cubicBezTo>
                      <a:pt x="147" y="106"/>
                      <a:pt x="150" y="107"/>
                      <a:pt x="151" y="107"/>
                    </a:cubicBezTo>
                    <a:cubicBezTo>
                      <a:pt x="152" y="108"/>
                      <a:pt x="153" y="107"/>
                      <a:pt x="154" y="109"/>
                    </a:cubicBezTo>
                    <a:cubicBezTo>
                      <a:pt x="155" y="112"/>
                      <a:pt x="156" y="111"/>
                      <a:pt x="159" y="110"/>
                    </a:cubicBezTo>
                    <a:cubicBezTo>
                      <a:pt x="161" y="109"/>
                      <a:pt x="164" y="110"/>
                      <a:pt x="168" y="109"/>
                    </a:cubicBezTo>
                    <a:cubicBezTo>
                      <a:pt x="173" y="108"/>
                      <a:pt x="168" y="102"/>
                      <a:pt x="167" y="100"/>
                    </a:cubicBezTo>
                    <a:cubicBezTo>
                      <a:pt x="165" y="97"/>
                      <a:pt x="164" y="98"/>
                      <a:pt x="163" y="98"/>
                    </a:cubicBezTo>
                    <a:cubicBezTo>
                      <a:pt x="161" y="99"/>
                      <a:pt x="161" y="98"/>
                      <a:pt x="160" y="97"/>
                    </a:cubicBezTo>
                    <a:cubicBezTo>
                      <a:pt x="160" y="96"/>
                      <a:pt x="157" y="97"/>
                      <a:pt x="156" y="96"/>
                    </a:cubicBezTo>
                    <a:cubicBezTo>
                      <a:pt x="156" y="95"/>
                      <a:pt x="159" y="95"/>
                      <a:pt x="159" y="94"/>
                    </a:cubicBezTo>
                    <a:cubicBezTo>
                      <a:pt x="160" y="93"/>
                      <a:pt x="161" y="94"/>
                      <a:pt x="161" y="95"/>
                    </a:cubicBezTo>
                    <a:cubicBezTo>
                      <a:pt x="162" y="96"/>
                      <a:pt x="162" y="95"/>
                      <a:pt x="162" y="94"/>
                    </a:cubicBezTo>
                    <a:cubicBezTo>
                      <a:pt x="162" y="93"/>
                      <a:pt x="163" y="93"/>
                      <a:pt x="164" y="91"/>
                    </a:cubicBezTo>
                    <a:cubicBezTo>
                      <a:pt x="165" y="90"/>
                      <a:pt x="164" y="90"/>
                      <a:pt x="163" y="89"/>
                    </a:cubicBezTo>
                    <a:cubicBezTo>
                      <a:pt x="162" y="88"/>
                      <a:pt x="164" y="88"/>
                      <a:pt x="165" y="89"/>
                    </a:cubicBezTo>
                    <a:cubicBezTo>
                      <a:pt x="165" y="91"/>
                      <a:pt x="166" y="90"/>
                      <a:pt x="167" y="89"/>
                    </a:cubicBezTo>
                    <a:cubicBezTo>
                      <a:pt x="169" y="89"/>
                      <a:pt x="169" y="91"/>
                      <a:pt x="168" y="91"/>
                    </a:cubicBezTo>
                    <a:cubicBezTo>
                      <a:pt x="167" y="90"/>
                      <a:pt x="166" y="92"/>
                      <a:pt x="165" y="92"/>
                    </a:cubicBezTo>
                    <a:cubicBezTo>
                      <a:pt x="163" y="93"/>
                      <a:pt x="164" y="94"/>
                      <a:pt x="165" y="95"/>
                    </a:cubicBezTo>
                    <a:cubicBezTo>
                      <a:pt x="167" y="96"/>
                      <a:pt x="167" y="95"/>
                      <a:pt x="168" y="95"/>
                    </a:cubicBezTo>
                    <a:cubicBezTo>
                      <a:pt x="169" y="96"/>
                      <a:pt x="169" y="95"/>
                      <a:pt x="170" y="97"/>
                    </a:cubicBezTo>
                    <a:cubicBezTo>
                      <a:pt x="171" y="98"/>
                      <a:pt x="170" y="98"/>
                      <a:pt x="172" y="97"/>
                    </a:cubicBezTo>
                    <a:cubicBezTo>
                      <a:pt x="173" y="96"/>
                      <a:pt x="173" y="98"/>
                      <a:pt x="172" y="98"/>
                    </a:cubicBezTo>
                    <a:cubicBezTo>
                      <a:pt x="172" y="98"/>
                      <a:pt x="172" y="99"/>
                      <a:pt x="174" y="101"/>
                    </a:cubicBezTo>
                    <a:cubicBezTo>
                      <a:pt x="175" y="102"/>
                      <a:pt x="175" y="100"/>
                      <a:pt x="176" y="101"/>
                    </a:cubicBezTo>
                    <a:cubicBezTo>
                      <a:pt x="177" y="102"/>
                      <a:pt x="177" y="102"/>
                      <a:pt x="177" y="101"/>
                    </a:cubicBezTo>
                    <a:cubicBezTo>
                      <a:pt x="178" y="100"/>
                      <a:pt x="178" y="100"/>
                      <a:pt x="180" y="100"/>
                    </a:cubicBezTo>
                    <a:cubicBezTo>
                      <a:pt x="182" y="100"/>
                      <a:pt x="182" y="100"/>
                      <a:pt x="183" y="101"/>
                    </a:cubicBezTo>
                    <a:cubicBezTo>
                      <a:pt x="184" y="101"/>
                      <a:pt x="185" y="110"/>
                      <a:pt x="185" y="112"/>
                    </a:cubicBezTo>
                    <a:cubicBezTo>
                      <a:pt x="185" y="114"/>
                      <a:pt x="186" y="113"/>
                      <a:pt x="186" y="113"/>
                    </a:cubicBezTo>
                    <a:cubicBezTo>
                      <a:pt x="187" y="112"/>
                      <a:pt x="188" y="112"/>
                      <a:pt x="187" y="112"/>
                    </a:cubicBezTo>
                    <a:cubicBezTo>
                      <a:pt x="185" y="111"/>
                      <a:pt x="187" y="110"/>
                      <a:pt x="189" y="109"/>
                    </a:cubicBezTo>
                    <a:cubicBezTo>
                      <a:pt x="192" y="109"/>
                      <a:pt x="192" y="109"/>
                      <a:pt x="191" y="109"/>
                    </a:cubicBezTo>
                    <a:cubicBezTo>
                      <a:pt x="190" y="110"/>
                      <a:pt x="190" y="110"/>
                      <a:pt x="191" y="111"/>
                    </a:cubicBezTo>
                    <a:cubicBezTo>
                      <a:pt x="191" y="112"/>
                      <a:pt x="192" y="111"/>
                      <a:pt x="193" y="111"/>
                    </a:cubicBezTo>
                    <a:cubicBezTo>
                      <a:pt x="194" y="111"/>
                      <a:pt x="194" y="110"/>
                      <a:pt x="195" y="111"/>
                    </a:cubicBezTo>
                    <a:cubicBezTo>
                      <a:pt x="195" y="112"/>
                      <a:pt x="195" y="112"/>
                      <a:pt x="197" y="112"/>
                    </a:cubicBezTo>
                    <a:cubicBezTo>
                      <a:pt x="198" y="112"/>
                      <a:pt x="197" y="112"/>
                      <a:pt x="197" y="113"/>
                    </a:cubicBezTo>
                    <a:cubicBezTo>
                      <a:pt x="197" y="114"/>
                      <a:pt x="195" y="114"/>
                      <a:pt x="193" y="115"/>
                    </a:cubicBezTo>
                    <a:cubicBezTo>
                      <a:pt x="191" y="115"/>
                      <a:pt x="192" y="116"/>
                      <a:pt x="194" y="116"/>
                    </a:cubicBezTo>
                    <a:cubicBezTo>
                      <a:pt x="195" y="117"/>
                      <a:pt x="195" y="117"/>
                      <a:pt x="195" y="117"/>
                    </a:cubicBezTo>
                    <a:cubicBezTo>
                      <a:pt x="196" y="116"/>
                      <a:pt x="197" y="117"/>
                      <a:pt x="198" y="118"/>
                    </a:cubicBezTo>
                    <a:cubicBezTo>
                      <a:pt x="199" y="119"/>
                      <a:pt x="198" y="118"/>
                      <a:pt x="200" y="117"/>
                    </a:cubicBezTo>
                    <a:cubicBezTo>
                      <a:pt x="201" y="117"/>
                      <a:pt x="201" y="116"/>
                      <a:pt x="200" y="115"/>
                    </a:cubicBezTo>
                    <a:cubicBezTo>
                      <a:pt x="200" y="115"/>
                      <a:pt x="203" y="115"/>
                      <a:pt x="205" y="115"/>
                    </a:cubicBezTo>
                    <a:cubicBezTo>
                      <a:pt x="207" y="116"/>
                      <a:pt x="204" y="116"/>
                      <a:pt x="202" y="117"/>
                    </a:cubicBezTo>
                    <a:cubicBezTo>
                      <a:pt x="200" y="118"/>
                      <a:pt x="201" y="118"/>
                      <a:pt x="202" y="120"/>
                    </a:cubicBezTo>
                    <a:cubicBezTo>
                      <a:pt x="204" y="122"/>
                      <a:pt x="204" y="122"/>
                      <a:pt x="206" y="122"/>
                    </a:cubicBezTo>
                    <a:cubicBezTo>
                      <a:pt x="208" y="122"/>
                      <a:pt x="210" y="124"/>
                      <a:pt x="212" y="125"/>
                    </a:cubicBezTo>
                    <a:cubicBezTo>
                      <a:pt x="215" y="126"/>
                      <a:pt x="215" y="127"/>
                      <a:pt x="214" y="129"/>
                    </a:cubicBezTo>
                    <a:cubicBezTo>
                      <a:pt x="213" y="130"/>
                      <a:pt x="211" y="132"/>
                      <a:pt x="210" y="133"/>
                    </a:cubicBezTo>
                    <a:cubicBezTo>
                      <a:pt x="209" y="133"/>
                      <a:pt x="204" y="132"/>
                      <a:pt x="202" y="132"/>
                    </a:cubicBezTo>
                    <a:cubicBezTo>
                      <a:pt x="199" y="132"/>
                      <a:pt x="200" y="134"/>
                      <a:pt x="201" y="135"/>
                    </a:cubicBezTo>
                    <a:cubicBezTo>
                      <a:pt x="201" y="136"/>
                      <a:pt x="201" y="137"/>
                      <a:pt x="200" y="140"/>
                    </a:cubicBezTo>
                    <a:cubicBezTo>
                      <a:pt x="198" y="142"/>
                      <a:pt x="207" y="140"/>
                      <a:pt x="208" y="139"/>
                    </a:cubicBezTo>
                    <a:cubicBezTo>
                      <a:pt x="209" y="139"/>
                      <a:pt x="211" y="137"/>
                      <a:pt x="213" y="137"/>
                    </a:cubicBezTo>
                    <a:cubicBezTo>
                      <a:pt x="215" y="137"/>
                      <a:pt x="217" y="135"/>
                      <a:pt x="217" y="134"/>
                    </a:cubicBezTo>
                    <a:cubicBezTo>
                      <a:pt x="218" y="132"/>
                      <a:pt x="219" y="134"/>
                      <a:pt x="220" y="135"/>
                    </a:cubicBezTo>
                    <a:cubicBezTo>
                      <a:pt x="222" y="136"/>
                      <a:pt x="222" y="136"/>
                      <a:pt x="223" y="134"/>
                    </a:cubicBezTo>
                    <a:cubicBezTo>
                      <a:pt x="224" y="132"/>
                      <a:pt x="225" y="131"/>
                      <a:pt x="228" y="131"/>
                    </a:cubicBezTo>
                    <a:cubicBezTo>
                      <a:pt x="231" y="131"/>
                      <a:pt x="226" y="132"/>
                      <a:pt x="225" y="134"/>
                    </a:cubicBezTo>
                    <a:cubicBezTo>
                      <a:pt x="223" y="135"/>
                      <a:pt x="227" y="135"/>
                      <a:pt x="228" y="135"/>
                    </a:cubicBezTo>
                    <a:cubicBezTo>
                      <a:pt x="230" y="135"/>
                      <a:pt x="230" y="136"/>
                      <a:pt x="227" y="137"/>
                    </a:cubicBezTo>
                    <a:cubicBezTo>
                      <a:pt x="224" y="138"/>
                      <a:pt x="227" y="139"/>
                      <a:pt x="228" y="139"/>
                    </a:cubicBezTo>
                    <a:cubicBezTo>
                      <a:pt x="229" y="139"/>
                      <a:pt x="228" y="139"/>
                      <a:pt x="229" y="138"/>
                    </a:cubicBezTo>
                    <a:cubicBezTo>
                      <a:pt x="230" y="137"/>
                      <a:pt x="230" y="138"/>
                      <a:pt x="230" y="141"/>
                    </a:cubicBezTo>
                    <a:cubicBezTo>
                      <a:pt x="231" y="144"/>
                      <a:pt x="236" y="146"/>
                      <a:pt x="239" y="145"/>
                    </a:cubicBezTo>
                    <a:cubicBezTo>
                      <a:pt x="242" y="145"/>
                      <a:pt x="240" y="144"/>
                      <a:pt x="238" y="142"/>
                    </a:cubicBezTo>
                    <a:cubicBezTo>
                      <a:pt x="237" y="140"/>
                      <a:pt x="236" y="140"/>
                      <a:pt x="240" y="140"/>
                    </a:cubicBezTo>
                    <a:cubicBezTo>
                      <a:pt x="244" y="141"/>
                      <a:pt x="242" y="146"/>
                      <a:pt x="241" y="147"/>
                    </a:cubicBezTo>
                    <a:cubicBezTo>
                      <a:pt x="241" y="149"/>
                      <a:pt x="242" y="150"/>
                      <a:pt x="243" y="151"/>
                    </a:cubicBezTo>
                    <a:cubicBezTo>
                      <a:pt x="244" y="151"/>
                      <a:pt x="244" y="151"/>
                      <a:pt x="245" y="152"/>
                    </a:cubicBezTo>
                    <a:cubicBezTo>
                      <a:pt x="245" y="153"/>
                      <a:pt x="246" y="151"/>
                      <a:pt x="246" y="151"/>
                    </a:cubicBezTo>
                    <a:cubicBezTo>
                      <a:pt x="246" y="151"/>
                      <a:pt x="248" y="150"/>
                      <a:pt x="250" y="149"/>
                    </a:cubicBezTo>
                    <a:cubicBezTo>
                      <a:pt x="251" y="148"/>
                      <a:pt x="251" y="151"/>
                      <a:pt x="251" y="153"/>
                    </a:cubicBezTo>
                    <a:cubicBezTo>
                      <a:pt x="252" y="154"/>
                      <a:pt x="253" y="153"/>
                      <a:pt x="254" y="153"/>
                    </a:cubicBezTo>
                    <a:cubicBezTo>
                      <a:pt x="255" y="152"/>
                      <a:pt x="254" y="155"/>
                      <a:pt x="255" y="156"/>
                    </a:cubicBezTo>
                    <a:cubicBezTo>
                      <a:pt x="255" y="157"/>
                      <a:pt x="255" y="159"/>
                      <a:pt x="255" y="161"/>
                    </a:cubicBezTo>
                    <a:cubicBezTo>
                      <a:pt x="256" y="163"/>
                      <a:pt x="256" y="163"/>
                      <a:pt x="257" y="162"/>
                    </a:cubicBezTo>
                    <a:cubicBezTo>
                      <a:pt x="257" y="162"/>
                      <a:pt x="258" y="162"/>
                      <a:pt x="259" y="163"/>
                    </a:cubicBezTo>
                    <a:cubicBezTo>
                      <a:pt x="260" y="164"/>
                      <a:pt x="260" y="165"/>
                      <a:pt x="259" y="166"/>
                    </a:cubicBezTo>
                    <a:cubicBezTo>
                      <a:pt x="258" y="167"/>
                      <a:pt x="260" y="168"/>
                      <a:pt x="261" y="168"/>
                    </a:cubicBezTo>
                    <a:cubicBezTo>
                      <a:pt x="262" y="169"/>
                      <a:pt x="262" y="172"/>
                      <a:pt x="262" y="173"/>
                    </a:cubicBezTo>
                    <a:cubicBezTo>
                      <a:pt x="262" y="174"/>
                      <a:pt x="263" y="176"/>
                      <a:pt x="264" y="177"/>
                    </a:cubicBezTo>
                    <a:cubicBezTo>
                      <a:pt x="265" y="177"/>
                      <a:pt x="265" y="177"/>
                      <a:pt x="265" y="179"/>
                    </a:cubicBezTo>
                    <a:cubicBezTo>
                      <a:pt x="264" y="180"/>
                      <a:pt x="259" y="187"/>
                      <a:pt x="256" y="189"/>
                    </a:cubicBezTo>
                    <a:cubicBezTo>
                      <a:pt x="252" y="191"/>
                      <a:pt x="260" y="191"/>
                      <a:pt x="263" y="191"/>
                    </a:cubicBezTo>
                    <a:cubicBezTo>
                      <a:pt x="265" y="191"/>
                      <a:pt x="271" y="192"/>
                      <a:pt x="272" y="193"/>
                    </a:cubicBezTo>
                    <a:cubicBezTo>
                      <a:pt x="273" y="193"/>
                      <a:pt x="275" y="193"/>
                      <a:pt x="277" y="193"/>
                    </a:cubicBezTo>
                    <a:cubicBezTo>
                      <a:pt x="279" y="193"/>
                      <a:pt x="279" y="192"/>
                      <a:pt x="279" y="190"/>
                    </a:cubicBezTo>
                    <a:cubicBezTo>
                      <a:pt x="279" y="189"/>
                      <a:pt x="280" y="188"/>
                      <a:pt x="280" y="187"/>
                    </a:cubicBezTo>
                    <a:cubicBezTo>
                      <a:pt x="281" y="186"/>
                      <a:pt x="282" y="186"/>
                      <a:pt x="281" y="184"/>
                    </a:cubicBezTo>
                    <a:cubicBezTo>
                      <a:pt x="280" y="182"/>
                      <a:pt x="282" y="183"/>
                      <a:pt x="283" y="184"/>
                    </a:cubicBezTo>
                    <a:cubicBezTo>
                      <a:pt x="284" y="184"/>
                      <a:pt x="286" y="184"/>
                      <a:pt x="287" y="185"/>
                    </a:cubicBezTo>
                    <a:cubicBezTo>
                      <a:pt x="289" y="185"/>
                      <a:pt x="289" y="187"/>
                      <a:pt x="289" y="188"/>
                    </a:cubicBezTo>
                    <a:cubicBezTo>
                      <a:pt x="290" y="190"/>
                      <a:pt x="292" y="191"/>
                      <a:pt x="293" y="191"/>
                    </a:cubicBezTo>
                    <a:cubicBezTo>
                      <a:pt x="294" y="192"/>
                      <a:pt x="296" y="191"/>
                      <a:pt x="298" y="191"/>
                    </a:cubicBezTo>
                    <a:cubicBezTo>
                      <a:pt x="299" y="192"/>
                      <a:pt x="305" y="194"/>
                      <a:pt x="306" y="195"/>
                    </a:cubicBezTo>
                    <a:cubicBezTo>
                      <a:pt x="307" y="195"/>
                      <a:pt x="307" y="195"/>
                      <a:pt x="308" y="195"/>
                    </a:cubicBezTo>
                    <a:cubicBezTo>
                      <a:pt x="310" y="194"/>
                      <a:pt x="310" y="196"/>
                      <a:pt x="308" y="197"/>
                    </a:cubicBezTo>
                    <a:cubicBezTo>
                      <a:pt x="307" y="198"/>
                      <a:pt x="308" y="198"/>
                      <a:pt x="310" y="198"/>
                    </a:cubicBezTo>
                    <a:cubicBezTo>
                      <a:pt x="313" y="198"/>
                      <a:pt x="311" y="199"/>
                      <a:pt x="310" y="200"/>
                    </a:cubicBezTo>
                    <a:cubicBezTo>
                      <a:pt x="308" y="201"/>
                      <a:pt x="307" y="201"/>
                      <a:pt x="305" y="203"/>
                    </a:cubicBezTo>
                    <a:cubicBezTo>
                      <a:pt x="304" y="205"/>
                      <a:pt x="302" y="204"/>
                      <a:pt x="301" y="203"/>
                    </a:cubicBezTo>
                    <a:cubicBezTo>
                      <a:pt x="299" y="202"/>
                      <a:pt x="297" y="203"/>
                      <a:pt x="295" y="203"/>
                    </a:cubicBezTo>
                    <a:cubicBezTo>
                      <a:pt x="293" y="204"/>
                      <a:pt x="292" y="204"/>
                      <a:pt x="292" y="204"/>
                    </a:cubicBezTo>
                    <a:cubicBezTo>
                      <a:pt x="292" y="203"/>
                      <a:pt x="291" y="203"/>
                      <a:pt x="290" y="202"/>
                    </a:cubicBezTo>
                    <a:cubicBezTo>
                      <a:pt x="289" y="201"/>
                      <a:pt x="289" y="202"/>
                      <a:pt x="289" y="203"/>
                    </a:cubicBezTo>
                    <a:cubicBezTo>
                      <a:pt x="289" y="204"/>
                      <a:pt x="285" y="207"/>
                      <a:pt x="283" y="208"/>
                    </a:cubicBezTo>
                    <a:cubicBezTo>
                      <a:pt x="282" y="209"/>
                      <a:pt x="281" y="209"/>
                      <a:pt x="282" y="208"/>
                    </a:cubicBezTo>
                    <a:cubicBezTo>
                      <a:pt x="282" y="207"/>
                      <a:pt x="282" y="207"/>
                      <a:pt x="281" y="207"/>
                    </a:cubicBezTo>
                    <a:cubicBezTo>
                      <a:pt x="280" y="207"/>
                      <a:pt x="280" y="207"/>
                      <a:pt x="280" y="206"/>
                    </a:cubicBezTo>
                    <a:cubicBezTo>
                      <a:pt x="280" y="205"/>
                      <a:pt x="281" y="205"/>
                      <a:pt x="281" y="204"/>
                    </a:cubicBezTo>
                    <a:cubicBezTo>
                      <a:pt x="281" y="203"/>
                      <a:pt x="282" y="202"/>
                      <a:pt x="282" y="201"/>
                    </a:cubicBezTo>
                    <a:cubicBezTo>
                      <a:pt x="282" y="199"/>
                      <a:pt x="280" y="199"/>
                      <a:pt x="280" y="198"/>
                    </a:cubicBezTo>
                    <a:cubicBezTo>
                      <a:pt x="279" y="196"/>
                      <a:pt x="278" y="195"/>
                      <a:pt x="277" y="195"/>
                    </a:cubicBezTo>
                    <a:cubicBezTo>
                      <a:pt x="276" y="195"/>
                      <a:pt x="272" y="193"/>
                      <a:pt x="270" y="193"/>
                    </a:cubicBezTo>
                    <a:cubicBezTo>
                      <a:pt x="267" y="192"/>
                      <a:pt x="263" y="192"/>
                      <a:pt x="262" y="192"/>
                    </a:cubicBezTo>
                    <a:cubicBezTo>
                      <a:pt x="260" y="192"/>
                      <a:pt x="259" y="192"/>
                      <a:pt x="256" y="192"/>
                    </a:cubicBezTo>
                    <a:cubicBezTo>
                      <a:pt x="253" y="191"/>
                      <a:pt x="251" y="192"/>
                      <a:pt x="251" y="192"/>
                    </a:cubicBezTo>
                    <a:cubicBezTo>
                      <a:pt x="251" y="192"/>
                      <a:pt x="234" y="205"/>
                      <a:pt x="233" y="206"/>
                    </a:cubicBezTo>
                    <a:cubicBezTo>
                      <a:pt x="232" y="207"/>
                      <a:pt x="233" y="207"/>
                      <a:pt x="234" y="208"/>
                    </a:cubicBezTo>
                    <a:cubicBezTo>
                      <a:pt x="235" y="210"/>
                      <a:pt x="241" y="213"/>
                      <a:pt x="242" y="214"/>
                    </a:cubicBezTo>
                    <a:cubicBezTo>
                      <a:pt x="243" y="215"/>
                      <a:pt x="244" y="215"/>
                      <a:pt x="244" y="216"/>
                    </a:cubicBezTo>
                    <a:cubicBezTo>
                      <a:pt x="244" y="217"/>
                      <a:pt x="244" y="217"/>
                      <a:pt x="245" y="217"/>
                    </a:cubicBezTo>
                    <a:cubicBezTo>
                      <a:pt x="245" y="218"/>
                      <a:pt x="245" y="219"/>
                      <a:pt x="245" y="219"/>
                    </a:cubicBezTo>
                    <a:cubicBezTo>
                      <a:pt x="247" y="223"/>
                      <a:pt x="246" y="222"/>
                      <a:pt x="241" y="221"/>
                    </a:cubicBezTo>
                    <a:cubicBezTo>
                      <a:pt x="236" y="219"/>
                      <a:pt x="235" y="222"/>
                      <a:pt x="232" y="224"/>
                    </a:cubicBezTo>
                    <a:cubicBezTo>
                      <a:pt x="230" y="226"/>
                      <a:pt x="230" y="224"/>
                      <a:pt x="229" y="223"/>
                    </a:cubicBezTo>
                    <a:cubicBezTo>
                      <a:pt x="228" y="222"/>
                      <a:pt x="227" y="223"/>
                      <a:pt x="225" y="223"/>
                    </a:cubicBezTo>
                    <a:cubicBezTo>
                      <a:pt x="224" y="224"/>
                      <a:pt x="223" y="224"/>
                      <a:pt x="223" y="225"/>
                    </a:cubicBezTo>
                    <a:cubicBezTo>
                      <a:pt x="223" y="227"/>
                      <a:pt x="217" y="227"/>
                      <a:pt x="215" y="226"/>
                    </a:cubicBezTo>
                    <a:cubicBezTo>
                      <a:pt x="214" y="225"/>
                      <a:pt x="215" y="225"/>
                      <a:pt x="213" y="225"/>
                    </a:cubicBezTo>
                    <a:cubicBezTo>
                      <a:pt x="211" y="226"/>
                      <a:pt x="212" y="227"/>
                      <a:pt x="212" y="227"/>
                    </a:cubicBezTo>
                    <a:cubicBezTo>
                      <a:pt x="213" y="228"/>
                      <a:pt x="216" y="230"/>
                      <a:pt x="218" y="230"/>
                    </a:cubicBezTo>
                    <a:cubicBezTo>
                      <a:pt x="219" y="231"/>
                      <a:pt x="219" y="232"/>
                      <a:pt x="220" y="233"/>
                    </a:cubicBezTo>
                    <a:cubicBezTo>
                      <a:pt x="221" y="233"/>
                      <a:pt x="221" y="233"/>
                      <a:pt x="219" y="235"/>
                    </a:cubicBezTo>
                    <a:cubicBezTo>
                      <a:pt x="216" y="236"/>
                      <a:pt x="218" y="236"/>
                      <a:pt x="218" y="236"/>
                    </a:cubicBezTo>
                    <a:cubicBezTo>
                      <a:pt x="219" y="236"/>
                      <a:pt x="218" y="235"/>
                      <a:pt x="219" y="237"/>
                    </a:cubicBezTo>
                    <a:cubicBezTo>
                      <a:pt x="219" y="239"/>
                      <a:pt x="219" y="239"/>
                      <a:pt x="218" y="238"/>
                    </a:cubicBezTo>
                    <a:cubicBezTo>
                      <a:pt x="217" y="237"/>
                      <a:pt x="217" y="237"/>
                      <a:pt x="216" y="237"/>
                    </a:cubicBezTo>
                    <a:cubicBezTo>
                      <a:pt x="216" y="236"/>
                      <a:pt x="215" y="236"/>
                      <a:pt x="215" y="235"/>
                    </a:cubicBezTo>
                    <a:cubicBezTo>
                      <a:pt x="215" y="235"/>
                      <a:pt x="214" y="234"/>
                      <a:pt x="216" y="234"/>
                    </a:cubicBezTo>
                    <a:cubicBezTo>
                      <a:pt x="217" y="235"/>
                      <a:pt x="217" y="234"/>
                      <a:pt x="218" y="232"/>
                    </a:cubicBezTo>
                    <a:cubicBezTo>
                      <a:pt x="219" y="231"/>
                      <a:pt x="214" y="230"/>
                      <a:pt x="214" y="229"/>
                    </a:cubicBezTo>
                    <a:cubicBezTo>
                      <a:pt x="213" y="228"/>
                      <a:pt x="210" y="227"/>
                      <a:pt x="209" y="227"/>
                    </a:cubicBezTo>
                    <a:cubicBezTo>
                      <a:pt x="208" y="227"/>
                      <a:pt x="206" y="226"/>
                      <a:pt x="204" y="225"/>
                    </a:cubicBezTo>
                    <a:cubicBezTo>
                      <a:pt x="202" y="223"/>
                      <a:pt x="197" y="223"/>
                      <a:pt x="196" y="223"/>
                    </a:cubicBezTo>
                    <a:cubicBezTo>
                      <a:pt x="195" y="223"/>
                      <a:pt x="194" y="223"/>
                      <a:pt x="192" y="222"/>
                    </a:cubicBezTo>
                    <a:cubicBezTo>
                      <a:pt x="190" y="222"/>
                      <a:pt x="191" y="223"/>
                      <a:pt x="190" y="224"/>
                    </a:cubicBezTo>
                    <a:cubicBezTo>
                      <a:pt x="189" y="225"/>
                      <a:pt x="189" y="226"/>
                      <a:pt x="189" y="227"/>
                    </a:cubicBezTo>
                    <a:cubicBezTo>
                      <a:pt x="190" y="229"/>
                      <a:pt x="190" y="229"/>
                      <a:pt x="185" y="230"/>
                    </a:cubicBezTo>
                    <a:cubicBezTo>
                      <a:pt x="181" y="231"/>
                      <a:pt x="178" y="237"/>
                      <a:pt x="176" y="239"/>
                    </a:cubicBezTo>
                    <a:cubicBezTo>
                      <a:pt x="175" y="240"/>
                      <a:pt x="175" y="242"/>
                      <a:pt x="176" y="243"/>
                    </a:cubicBezTo>
                    <a:cubicBezTo>
                      <a:pt x="178" y="244"/>
                      <a:pt x="179" y="245"/>
                      <a:pt x="180" y="247"/>
                    </a:cubicBezTo>
                    <a:cubicBezTo>
                      <a:pt x="181" y="249"/>
                      <a:pt x="189" y="251"/>
                      <a:pt x="191" y="251"/>
                    </a:cubicBezTo>
                    <a:cubicBezTo>
                      <a:pt x="193" y="250"/>
                      <a:pt x="197" y="251"/>
                      <a:pt x="198" y="252"/>
                    </a:cubicBezTo>
                    <a:cubicBezTo>
                      <a:pt x="200" y="252"/>
                      <a:pt x="198" y="251"/>
                      <a:pt x="199" y="250"/>
                    </a:cubicBezTo>
                    <a:cubicBezTo>
                      <a:pt x="201" y="249"/>
                      <a:pt x="202" y="250"/>
                      <a:pt x="204" y="250"/>
                    </a:cubicBezTo>
                    <a:cubicBezTo>
                      <a:pt x="207" y="250"/>
                      <a:pt x="206" y="250"/>
                      <a:pt x="205" y="249"/>
                    </a:cubicBezTo>
                    <a:cubicBezTo>
                      <a:pt x="204" y="249"/>
                      <a:pt x="205" y="248"/>
                      <a:pt x="206" y="248"/>
                    </a:cubicBezTo>
                    <a:cubicBezTo>
                      <a:pt x="207" y="249"/>
                      <a:pt x="207" y="248"/>
                      <a:pt x="208" y="248"/>
                    </a:cubicBezTo>
                    <a:cubicBezTo>
                      <a:pt x="208" y="248"/>
                      <a:pt x="210" y="248"/>
                      <a:pt x="212" y="248"/>
                    </a:cubicBezTo>
                    <a:cubicBezTo>
                      <a:pt x="213" y="248"/>
                      <a:pt x="213" y="248"/>
                      <a:pt x="212" y="247"/>
                    </a:cubicBezTo>
                    <a:cubicBezTo>
                      <a:pt x="212" y="247"/>
                      <a:pt x="211" y="246"/>
                      <a:pt x="212" y="246"/>
                    </a:cubicBezTo>
                    <a:cubicBezTo>
                      <a:pt x="214" y="246"/>
                      <a:pt x="214" y="246"/>
                      <a:pt x="213" y="245"/>
                    </a:cubicBezTo>
                    <a:cubicBezTo>
                      <a:pt x="212" y="245"/>
                      <a:pt x="212" y="245"/>
                      <a:pt x="212" y="243"/>
                    </a:cubicBezTo>
                    <a:cubicBezTo>
                      <a:pt x="211" y="242"/>
                      <a:pt x="220" y="245"/>
                      <a:pt x="221" y="245"/>
                    </a:cubicBezTo>
                    <a:cubicBezTo>
                      <a:pt x="223" y="246"/>
                      <a:pt x="228" y="248"/>
                      <a:pt x="230" y="247"/>
                    </a:cubicBezTo>
                    <a:cubicBezTo>
                      <a:pt x="232" y="247"/>
                      <a:pt x="231" y="246"/>
                      <a:pt x="230" y="246"/>
                    </a:cubicBezTo>
                    <a:cubicBezTo>
                      <a:pt x="229" y="245"/>
                      <a:pt x="231" y="245"/>
                      <a:pt x="231" y="244"/>
                    </a:cubicBezTo>
                    <a:cubicBezTo>
                      <a:pt x="232" y="243"/>
                      <a:pt x="228" y="240"/>
                      <a:pt x="226" y="239"/>
                    </a:cubicBezTo>
                    <a:cubicBezTo>
                      <a:pt x="224" y="237"/>
                      <a:pt x="226" y="238"/>
                      <a:pt x="227" y="238"/>
                    </a:cubicBezTo>
                    <a:cubicBezTo>
                      <a:pt x="229" y="238"/>
                      <a:pt x="228" y="237"/>
                      <a:pt x="229" y="236"/>
                    </a:cubicBezTo>
                    <a:cubicBezTo>
                      <a:pt x="231" y="235"/>
                      <a:pt x="231" y="237"/>
                      <a:pt x="230" y="238"/>
                    </a:cubicBezTo>
                    <a:cubicBezTo>
                      <a:pt x="229" y="239"/>
                      <a:pt x="229" y="240"/>
                      <a:pt x="229" y="241"/>
                    </a:cubicBezTo>
                    <a:cubicBezTo>
                      <a:pt x="230" y="242"/>
                      <a:pt x="231" y="241"/>
                      <a:pt x="233" y="241"/>
                    </a:cubicBezTo>
                    <a:cubicBezTo>
                      <a:pt x="234" y="241"/>
                      <a:pt x="234" y="241"/>
                      <a:pt x="235" y="241"/>
                    </a:cubicBezTo>
                    <a:cubicBezTo>
                      <a:pt x="236" y="241"/>
                      <a:pt x="236" y="242"/>
                      <a:pt x="237" y="240"/>
                    </a:cubicBezTo>
                    <a:cubicBezTo>
                      <a:pt x="238" y="238"/>
                      <a:pt x="238" y="240"/>
                      <a:pt x="238" y="242"/>
                    </a:cubicBezTo>
                    <a:cubicBezTo>
                      <a:pt x="238" y="243"/>
                      <a:pt x="239" y="243"/>
                      <a:pt x="238" y="243"/>
                    </a:cubicBezTo>
                    <a:cubicBezTo>
                      <a:pt x="236" y="243"/>
                      <a:pt x="237" y="244"/>
                      <a:pt x="238" y="245"/>
                    </a:cubicBezTo>
                    <a:cubicBezTo>
                      <a:pt x="239" y="245"/>
                      <a:pt x="238" y="246"/>
                      <a:pt x="238" y="247"/>
                    </a:cubicBezTo>
                    <a:cubicBezTo>
                      <a:pt x="237" y="249"/>
                      <a:pt x="237" y="248"/>
                      <a:pt x="239" y="248"/>
                    </a:cubicBezTo>
                    <a:cubicBezTo>
                      <a:pt x="240" y="248"/>
                      <a:pt x="239" y="248"/>
                      <a:pt x="239" y="247"/>
                    </a:cubicBezTo>
                    <a:cubicBezTo>
                      <a:pt x="239" y="246"/>
                      <a:pt x="240" y="246"/>
                      <a:pt x="241" y="246"/>
                    </a:cubicBezTo>
                    <a:cubicBezTo>
                      <a:pt x="242" y="246"/>
                      <a:pt x="242" y="245"/>
                      <a:pt x="241" y="243"/>
                    </a:cubicBezTo>
                    <a:cubicBezTo>
                      <a:pt x="240" y="242"/>
                      <a:pt x="243" y="243"/>
                      <a:pt x="243" y="244"/>
                    </a:cubicBezTo>
                    <a:cubicBezTo>
                      <a:pt x="244" y="244"/>
                      <a:pt x="244" y="244"/>
                      <a:pt x="244" y="242"/>
                    </a:cubicBezTo>
                    <a:cubicBezTo>
                      <a:pt x="244" y="241"/>
                      <a:pt x="244" y="241"/>
                      <a:pt x="246" y="242"/>
                    </a:cubicBezTo>
                    <a:cubicBezTo>
                      <a:pt x="247" y="243"/>
                      <a:pt x="247" y="243"/>
                      <a:pt x="247" y="244"/>
                    </a:cubicBezTo>
                    <a:cubicBezTo>
                      <a:pt x="248" y="246"/>
                      <a:pt x="248" y="244"/>
                      <a:pt x="249" y="243"/>
                    </a:cubicBezTo>
                    <a:cubicBezTo>
                      <a:pt x="251" y="242"/>
                      <a:pt x="250" y="243"/>
                      <a:pt x="250" y="244"/>
                    </a:cubicBezTo>
                    <a:cubicBezTo>
                      <a:pt x="249" y="245"/>
                      <a:pt x="249" y="245"/>
                      <a:pt x="247" y="246"/>
                    </a:cubicBezTo>
                    <a:cubicBezTo>
                      <a:pt x="246" y="247"/>
                      <a:pt x="248" y="248"/>
                      <a:pt x="248" y="249"/>
                    </a:cubicBezTo>
                    <a:cubicBezTo>
                      <a:pt x="248" y="250"/>
                      <a:pt x="249" y="250"/>
                      <a:pt x="250" y="250"/>
                    </a:cubicBezTo>
                    <a:cubicBezTo>
                      <a:pt x="252" y="249"/>
                      <a:pt x="253" y="251"/>
                      <a:pt x="254" y="252"/>
                    </a:cubicBezTo>
                    <a:cubicBezTo>
                      <a:pt x="256" y="253"/>
                      <a:pt x="255" y="255"/>
                      <a:pt x="256" y="256"/>
                    </a:cubicBezTo>
                    <a:cubicBezTo>
                      <a:pt x="257" y="258"/>
                      <a:pt x="258" y="257"/>
                      <a:pt x="258" y="256"/>
                    </a:cubicBezTo>
                    <a:cubicBezTo>
                      <a:pt x="259" y="255"/>
                      <a:pt x="259" y="256"/>
                      <a:pt x="260" y="257"/>
                    </a:cubicBezTo>
                    <a:cubicBezTo>
                      <a:pt x="260" y="258"/>
                      <a:pt x="259" y="259"/>
                      <a:pt x="260" y="261"/>
                    </a:cubicBezTo>
                    <a:cubicBezTo>
                      <a:pt x="260" y="263"/>
                      <a:pt x="262" y="262"/>
                      <a:pt x="264" y="260"/>
                    </a:cubicBezTo>
                    <a:cubicBezTo>
                      <a:pt x="266" y="258"/>
                      <a:pt x="265" y="259"/>
                      <a:pt x="265" y="261"/>
                    </a:cubicBezTo>
                    <a:cubicBezTo>
                      <a:pt x="264" y="264"/>
                      <a:pt x="265" y="264"/>
                      <a:pt x="265" y="263"/>
                    </a:cubicBezTo>
                    <a:cubicBezTo>
                      <a:pt x="266" y="262"/>
                      <a:pt x="266" y="263"/>
                      <a:pt x="268" y="263"/>
                    </a:cubicBezTo>
                    <a:cubicBezTo>
                      <a:pt x="270" y="264"/>
                      <a:pt x="270" y="263"/>
                      <a:pt x="270" y="262"/>
                    </a:cubicBezTo>
                    <a:cubicBezTo>
                      <a:pt x="269" y="261"/>
                      <a:pt x="270" y="261"/>
                      <a:pt x="272" y="263"/>
                    </a:cubicBezTo>
                    <a:cubicBezTo>
                      <a:pt x="275" y="264"/>
                      <a:pt x="275" y="264"/>
                      <a:pt x="275" y="266"/>
                    </a:cubicBezTo>
                    <a:cubicBezTo>
                      <a:pt x="274" y="268"/>
                      <a:pt x="275" y="267"/>
                      <a:pt x="276" y="267"/>
                    </a:cubicBezTo>
                    <a:cubicBezTo>
                      <a:pt x="277" y="266"/>
                      <a:pt x="276" y="265"/>
                      <a:pt x="279" y="266"/>
                    </a:cubicBezTo>
                    <a:cubicBezTo>
                      <a:pt x="281" y="267"/>
                      <a:pt x="278" y="269"/>
                      <a:pt x="277" y="269"/>
                    </a:cubicBezTo>
                    <a:cubicBezTo>
                      <a:pt x="276" y="269"/>
                      <a:pt x="275" y="269"/>
                      <a:pt x="275" y="270"/>
                    </a:cubicBezTo>
                    <a:cubicBezTo>
                      <a:pt x="274" y="271"/>
                      <a:pt x="270" y="271"/>
                      <a:pt x="268" y="270"/>
                    </a:cubicBezTo>
                    <a:cubicBezTo>
                      <a:pt x="266" y="270"/>
                      <a:pt x="269" y="272"/>
                      <a:pt x="271" y="273"/>
                    </a:cubicBezTo>
                    <a:cubicBezTo>
                      <a:pt x="273" y="275"/>
                      <a:pt x="273" y="277"/>
                      <a:pt x="275" y="277"/>
                    </a:cubicBezTo>
                    <a:cubicBezTo>
                      <a:pt x="276" y="278"/>
                      <a:pt x="282" y="278"/>
                      <a:pt x="283" y="278"/>
                    </a:cubicBezTo>
                    <a:cubicBezTo>
                      <a:pt x="284" y="277"/>
                      <a:pt x="285" y="276"/>
                      <a:pt x="284" y="278"/>
                    </a:cubicBezTo>
                    <a:cubicBezTo>
                      <a:pt x="284" y="279"/>
                      <a:pt x="285" y="279"/>
                      <a:pt x="283" y="280"/>
                    </a:cubicBezTo>
                    <a:cubicBezTo>
                      <a:pt x="281" y="281"/>
                      <a:pt x="282" y="281"/>
                      <a:pt x="284" y="282"/>
                    </a:cubicBezTo>
                    <a:cubicBezTo>
                      <a:pt x="285" y="284"/>
                      <a:pt x="298" y="285"/>
                      <a:pt x="300" y="286"/>
                    </a:cubicBezTo>
                    <a:cubicBezTo>
                      <a:pt x="301" y="286"/>
                      <a:pt x="302" y="286"/>
                      <a:pt x="301" y="285"/>
                    </a:cubicBezTo>
                    <a:cubicBezTo>
                      <a:pt x="300" y="284"/>
                      <a:pt x="304" y="286"/>
                      <a:pt x="306" y="286"/>
                    </a:cubicBezTo>
                    <a:cubicBezTo>
                      <a:pt x="308" y="286"/>
                      <a:pt x="308" y="286"/>
                      <a:pt x="306" y="287"/>
                    </a:cubicBezTo>
                    <a:cubicBezTo>
                      <a:pt x="305" y="288"/>
                      <a:pt x="305" y="288"/>
                      <a:pt x="305" y="289"/>
                    </a:cubicBezTo>
                    <a:cubicBezTo>
                      <a:pt x="305" y="290"/>
                      <a:pt x="305" y="291"/>
                      <a:pt x="307" y="290"/>
                    </a:cubicBezTo>
                    <a:cubicBezTo>
                      <a:pt x="309" y="290"/>
                      <a:pt x="309" y="290"/>
                      <a:pt x="309" y="292"/>
                    </a:cubicBezTo>
                    <a:cubicBezTo>
                      <a:pt x="310" y="295"/>
                      <a:pt x="328" y="299"/>
                      <a:pt x="328" y="299"/>
                    </a:cubicBezTo>
                    <a:cubicBezTo>
                      <a:pt x="328" y="299"/>
                      <a:pt x="347" y="305"/>
                      <a:pt x="349" y="305"/>
                    </a:cubicBezTo>
                    <a:cubicBezTo>
                      <a:pt x="351" y="306"/>
                      <a:pt x="354" y="307"/>
                      <a:pt x="357" y="306"/>
                    </a:cubicBezTo>
                    <a:cubicBezTo>
                      <a:pt x="360" y="306"/>
                      <a:pt x="357" y="305"/>
                      <a:pt x="356" y="303"/>
                    </a:cubicBezTo>
                    <a:cubicBezTo>
                      <a:pt x="354" y="302"/>
                      <a:pt x="355" y="302"/>
                      <a:pt x="356" y="302"/>
                    </a:cubicBezTo>
                    <a:cubicBezTo>
                      <a:pt x="357" y="303"/>
                      <a:pt x="357" y="302"/>
                      <a:pt x="358" y="301"/>
                    </a:cubicBezTo>
                    <a:cubicBezTo>
                      <a:pt x="358" y="301"/>
                      <a:pt x="357" y="300"/>
                      <a:pt x="358" y="299"/>
                    </a:cubicBezTo>
                    <a:cubicBezTo>
                      <a:pt x="360" y="299"/>
                      <a:pt x="357" y="298"/>
                      <a:pt x="356" y="298"/>
                    </a:cubicBezTo>
                    <a:cubicBezTo>
                      <a:pt x="354" y="298"/>
                      <a:pt x="355" y="298"/>
                      <a:pt x="354" y="297"/>
                    </a:cubicBezTo>
                    <a:cubicBezTo>
                      <a:pt x="353" y="297"/>
                      <a:pt x="354" y="295"/>
                      <a:pt x="353" y="296"/>
                    </a:cubicBezTo>
                    <a:cubicBezTo>
                      <a:pt x="351" y="297"/>
                      <a:pt x="351" y="296"/>
                      <a:pt x="352" y="295"/>
                    </a:cubicBezTo>
                    <a:cubicBezTo>
                      <a:pt x="354" y="295"/>
                      <a:pt x="352" y="294"/>
                      <a:pt x="351" y="294"/>
                    </a:cubicBezTo>
                    <a:cubicBezTo>
                      <a:pt x="349" y="293"/>
                      <a:pt x="350" y="293"/>
                      <a:pt x="350" y="291"/>
                    </a:cubicBezTo>
                    <a:cubicBezTo>
                      <a:pt x="349" y="290"/>
                      <a:pt x="347" y="290"/>
                      <a:pt x="347" y="289"/>
                    </a:cubicBezTo>
                    <a:cubicBezTo>
                      <a:pt x="346" y="288"/>
                      <a:pt x="346" y="288"/>
                      <a:pt x="344" y="288"/>
                    </a:cubicBezTo>
                    <a:cubicBezTo>
                      <a:pt x="342" y="289"/>
                      <a:pt x="342" y="287"/>
                      <a:pt x="342" y="286"/>
                    </a:cubicBezTo>
                    <a:cubicBezTo>
                      <a:pt x="341" y="286"/>
                      <a:pt x="341" y="285"/>
                      <a:pt x="340" y="285"/>
                    </a:cubicBezTo>
                    <a:cubicBezTo>
                      <a:pt x="339" y="284"/>
                      <a:pt x="339" y="283"/>
                      <a:pt x="338" y="283"/>
                    </a:cubicBezTo>
                    <a:cubicBezTo>
                      <a:pt x="338" y="282"/>
                      <a:pt x="337" y="282"/>
                      <a:pt x="337" y="282"/>
                    </a:cubicBezTo>
                    <a:cubicBezTo>
                      <a:pt x="336" y="281"/>
                      <a:pt x="337" y="281"/>
                      <a:pt x="336" y="281"/>
                    </a:cubicBezTo>
                    <a:cubicBezTo>
                      <a:pt x="334" y="281"/>
                      <a:pt x="334" y="281"/>
                      <a:pt x="335" y="281"/>
                    </a:cubicBezTo>
                    <a:cubicBezTo>
                      <a:pt x="336" y="280"/>
                      <a:pt x="335" y="280"/>
                      <a:pt x="333" y="280"/>
                    </a:cubicBezTo>
                    <a:cubicBezTo>
                      <a:pt x="332" y="280"/>
                      <a:pt x="331" y="280"/>
                      <a:pt x="333" y="279"/>
                    </a:cubicBezTo>
                    <a:cubicBezTo>
                      <a:pt x="334" y="279"/>
                      <a:pt x="334" y="279"/>
                      <a:pt x="332" y="278"/>
                    </a:cubicBezTo>
                    <a:cubicBezTo>
                      <a:pt x="330" y="277"/>
                      <a:pt x="330" y="278"/>
                      <a:pt x="330" y="278"/>
                    </a:cubicBezTo>
                    <a:cubicBezTo>
                      <a:pt x="327" y="280"/>
                      <a:pt x="330" y="277"/>
                      <a:pt x="327" y="277"/>
                    </a:cubicBezTo>
                    <a:cubicBezTo>
                      <a:pt x="325" y="277"/>
                      <a:pt x="324" y="274"/>
                      <a:pt x="323" y="273"/>
                    </a:cubicBezTo>
                    <a:cubicBezTo>
                      <a:pt x="322" y="271"/>
                      <a:pt x="316" y="266"/>
                      <a:pt x="314" y="264"/>
                    </a:cubicBezTo>
                    <a:cubicBezTo>
                      <a:pt x="313" y="261"/>
                      <a:pt x="321" y="263"/>
                      <a:pt x="322" y="265"/>
                    </a:cubicBezTo>
                    <a:cubicBezTo>
                      <a:pt x="324" y="266"/>
                      <a:pt x="323" y="266"/>
                      <a:pt x="324" y="265"/>
                    </a:cubicBezTo>
                    <a:cubicBezTo>
                      <a:pt x="325" y="265"/>
                      <a:pt x="325" y="265"/>
                      <a:pt x="326" y="266"/>
                    </a:cubicBezTo>
                    <a:cubicBezTo>
                      <a:pt x="326" y="267"/>
                      <a:pt x="328" y="267"/>
                      <a:pt x="329" y="269"/>
                    </a:cubicBezTo>
                    <a:cubicBezTo>
                      <a:pt x="330" y="270"/>
                      <a:pt x="332" y="272"/>
                      <a:pt x="332" y="272"/>
                    </a:cubicBezTo>
                    <a:cubicBezTo>
                      <a:pt x="333" y="272"/>
                      <a:pt x="332" y="269"/>
                      <a:pt x="331" y="266"/>
                    </a:cubicBezTo>
                    <a:cubicBezTo>
                      <a:pt x="329" y="263"/>
                      <a:pt x="330" y="263"/>
                      <a:pt x="331" y="265"/>
                    </a:cubicBezTo>
                    <a:cubicBezTo>
                      <a:pt x="332" y="266"/>
                      <a:pt x="333" y="266"/>
                      <a:pt x="333" y="266"/>
                    </a:cubicBezTo>
                    <a:cubicBezTo>
                      <a:pt x="333" y="266"/>
                      <a:pt x="334" y="268"/>
                      <a:pt x="335" y="269"/>
                    </a:cubicBezTo>
                    <a:cubicBezTo>
                      <a:pt x="336" y="271"/>
                      <a:pt x="337" y="270"/>
                      <a:pt x="338" y="272"/>
                    </a:cubicBezTo>
                    <a:cubicBezTo>
                      <a:pt x="339" y="274"/>
                      <a:pt x="342" y="274"/>
                      <a:pt x="343" y="274"/>
                    </a:cubicBezTo>
                    <a:cubicBezTo>
                      <a:pt x="343" y="274"/>
                      <a:pt x="344" y="275"/>
                      <a:pt x="344" y="276"/>
                    </a:cubicBezTo>
                    <a:cubicBezTo>
                      <a:pt x="344" y="276"/>
                      <a:pt x="345" y="277"/>
                      <a:pt x="345" y="277"/>
                    </a:cubicBezTo>
                    <a:cubicBezTo>
                      <a:pt x="346" y="277"/>
                      <a:pt x="346" y="277"/>
                      <a:pt x="347" y="279"/>
                    </a:cubicBezTo>
                    <a:cubicBezTo>
                      <a:pt x="348" y="281"/>
                      <a:pt x="349" y="280"/>
                      <a:pt x="348" y="279"/>
                    </a:cubicBezTo>
                    <a:cubicBezTo>
                      <a:pt x="348" y="279"/>
                      <a:pt x="348" y="278"/>
                      <a:pt x="349" y="279"/>
                    </a:cubicBezTo>
                    <a:cubicBezTo>
                      <a:pt x="350" y="279"/>
                      <a:pt x="349" y="278"/>
                      <a:pt x="348" y="277"/>
                    </a:cubicBezTo>
                    <a:cubicBezTo>
                      <a:pt x="348" y="275"/>
                      <a:pt x="347" y="274"/>
                      <a:pt x="348" y="275"/>
                    </a:cubicBezTo>
                    <a:cubicBezTo>
                      <a:pt x="349" y="275"/>
                      <a:pt x="350" y="276"/>
                      <a:pt x="350" y="279"/>
                    </a:cubicBezTo>
                    <a:cubicBezTo>
                      <a:pt x="351" y="281"/>
                      <a:pt x="355" y="281"/>
                      <a:pt x="356" y="282"/>
                    </a:cubicBezTo>
                    <a:cubicBezTo>
                      <a:pt x="358" y="282"/>
                      <a:pt x="356" y="282"/>
                      <a:pt x="356" y="280"/>
                    </a:cubicBezTo>
                    <a:cubicBezTo>
                      <a:pt x="355" y="279"/>
                      <a:pt x="355" y="279"/>
                      <a:pt x="356" y="279"/>
                    </a:cubicBezTo>
                    <a:cubicBezTo>
                      <a:pt x="356" y="279"/>
                      <a:pt x="357" y="279"/>
                      <a:pt x="357" y="280"/>
                    </a:cubicBezTo>
                    <a:cubicBezTo>
                      <a:pt x="357" y="281"/>
                      <a:pt x="357" y="281"/>
                      <a:pt x="358" y="281"/>
                    </a:cubicBezTo>
                    <a:cubicBezTo>
                      <a:pt x="358" y="281"/>
                      <a:pt x="360" y="281"/>
                      <a:pt x="359" y="281"/>
                    </a:cubicBezTo>
                    <a:cubicBezTo>
                      <a:pt x="358" y="282"/>
                      <a:pt x="359" y="282"/>
                      <a:pt x="360" y="283"/>
                    </a:cubicBezTo>
                    <a:cubicBezTo>
                      <a:pt x="361" y="283"/>
                      <a:pt x="361" y="283"/>
                      <a:pt x="361" y="282"/>
                    </a:cubicBezTo>
                    <a:cubicBezTo>
                      <a:pt x="361" y="281"/>
                      <a:pt x="362" y="280"/>
                      <a:pt x="363" y="283"/>
                    </a:cubicBezTo>
                    <a:cubicBezTo>
                      <a:pt x="363" y="285"/>
                      <a:pt x="366" y="285"/>
                      <a:pt x="367" y="284"/>
                    </a:cubicBezTo>
                    <a:cubicBezTo>
                      <a:pt x="368" y="284"/>
                      <a:pt x="368" y="283"/>
                      <a:pt x="368" y="284"/>
                    </a:cubicBezTo>
                    <a:cubicBezTo>
                      <a:pt x="368" y="286"/>
                      <a:pt x="368" y="285"/>
                      <a:pt x="368" y="285"/>
                    </a:cubicBezTo>
                    <a:cubicBezTo>
                      <a:pt x="369" y="285"/>
                      <a:pt x="369" y="285"/>
                      <a:pt x="368" y="287"/>
                    </a:cubicBezTo>
                    <a:cubicBezTo>
                      <a:pt x="367" y="288"/>
                      <a:pt x="368" y="288"/>
                      <a:pt x="368" y="288"/>
                    </a:cubicBezTo>
                    <a:cubicBezTo>
                      <a:pt x="369" y="288"/>
                      <a:pt x="369" y="288"/>
                      <a:pt x="369" y="290"/>
                    </a:cubicBezTo>
                    <a:cubicBezTo>
                      <a:pt x="369" y="292"/>
                      <a:pt x="372" y="290"/>
                      <a:pt x="373" y="289"/>
                    </a:cubicBezTo>
                    <a:cubicBezTo>
                      <a:pt x="374" y="289"/>
                      <a:pt x="371" y="285"/>
                      <a:pt x="370" y="283"/>
                    </a:cubicBezTo>
                    <a:cubicBezTo>
                      <a:pt x="369" y="282"/>
                      <a:pt x="369" y="282"/>
                      <a:pt x="370" y="282"/>
                    </a:cubicBezTo>
                    <a:cubicBezTo>
                      <a:pt x="371" y="282"/>
                      <a:pt x="370" y="282"/>
                      <a:pt x="371" y="282"/>
                    </a:cubicBezTo>
                    <a:cubicBezTo>
                      <a:pt x="371" y="281"/>
                      <a:pt x="371" y="281"/>
                      <a:pt x="372" y="282"/>
                    </a:cubicBezTo>
                    <a:cubicBezTo>
                      <a:pt x="372" y="283"/>
                      <a:pt x="374" y="284"/>
                      <a:pt x="376" y="283"/>
                    </a:cubicBezTo>
                    <a:cubicBezTo>
                      <a:pt x="378" y="282"/>
                      <a:pt x="378" y="283"/>
                      <a:pt x="376" y="282"/>
                    </a:cubicBezTo>
                    <a:cubicBezTo>
                      <a:pt x="374" y="281"/>
                      <a:pt x="375" y="280"/>
                      <a:pt x="376" y="279"/>
                    </a:cubicBezTo>
                    <a:cubicBezTo>
                      <a:pt x="377" y="278"/>
                      <a:pt x="373" y="277"/>
                      <a:pt x="372" y="276"/>
                    </a:cubicBezTo>
                    <a:cubicBezTo>
                      <a:pt x="371" y="275"/>
                      <a:pt x="371" y="274"/>
                      <a:pt x="371" y="274"/>
                    </a:cubicBezTo>
                    <a:cubicBezTo>
                      <a:pt x="372" y="275"/>
                      <a:pt x="373" y="273"/>
                      <a:pt x="374" y="274"/>
                    </a:cubicBezTo>
                    <a:cubicBezTo>
                      <a:pt x="375" y="275"/>
                      <a:pt x="372" y="273"/>
                      <a:pt x="371" y="272"/>
                    </a:cubicBezTo>
                    <a:cubicBezTo>
                      <a:pt x="370" y="271"/>
                      <a:pt x="371" y="270"/>
                      <a:pt x="372" y="270"/>
                    </a:cubicBezTo>
                    <a:cubicBezTo>
                      <a:pt x="372" y="269"/>
                      <a:pt x="372" y="269"/>
                      <a:pt x="372" y="268"/>
                    </a:cubicBezTo>
                    <a:cubicBezTo>
                      <a:pt x="372" y="267"/>
                      <a:pt x="371" y="267"/>
                      <a:pt x="372" y="267"/>
                    </a:cubicBezTo>
                    <a:cubicBezTo>
                      <a:pt x="373" y="267"/>
                      <a:pt x="371" y="265"/>
                      <a:pt x="370" y="263"/>
                    </a:cubicBezTo>
                    <a:cubicBezTo>
                      <a:pt x="369" y="261"/>
                      <a:pt x="370" y="262"/>
                      <a:pt x="371" y="263"/>
                    </a:cubicBezTo>
                    <a:cubicBezTo>
                      <a:pt x="371" y="264"/>
                      <a:pt x="372" y="265"/>
                      <a:pt x="373" y="265"/>
                    </a:cubicBezTo>
                    <a:cubicBezTo>
                      <a:pt x="374" y="266"/>
                      <a:pt x="375" y="267"/>
                      <a:pt x="376" y="271"/>
                    </a:cubicBezTo>
                    <a:cubicBezTo>
                      <a:pt x="377" y="274"/>
                      <a:pt x="377" y="275"/>
                      <a:pt x="379" y="275"/>
                    </a:cubicBezTo>
                    <a:cubicBezTo>
                      <a:pt x="381" y="275"/>
                      <a:pt x="379" y="273"/>
                      <a:pt x="380" y="273"/>
                    </a:cubicBezTo>
                    <a:cubicBezTo>
                      <a:pt x="380" y="273"/>
                      <a:pt x="380" y="272"/>
                      <a:pt x="380" y="271"/>
                    </a:cubicBezTo>
                    <a:cubicBezTo>
                      <a:pt x="380" y="270"/>
                      <a:pt x="379" y="267"/>
                      <a:pt x="379" y="265"/>
                    </a:cubicBezTo>
                    <a:cubicBezTo>
                      <a:pt x="380" y="263"/>
                      <a:pt x="375" y="263"/>
                      <a:pt x="374" y="262"/>
                    </a:cubicBezTo>
                    <a:cubicBezTo>
                      <a:pt x="372" y="261"/>
                      <a:pt x="375" y="259"/>
                      <a:pt x="376" y="259"/>
                    </a:cubicBezTo>
                    <a:cubicBezTo>
                      <a:pt x="377" y="258"/>
                      <a:pt x="378" y="258"/>
                      <a:pt x="378" y="257"/>
                    </a:cubicBezTo>
                    <a:cubicBezTo>
                      <a:pt x="377" y="257"/>
                      <a:pt x="375" y="256"/>
                      <a:pt x="374" y="257"/>
                    </a:cubicBezTo>
                    <a:cubicBezTo>
                      <a:pt x="373" y="258"/>
                      <a:pt x="373" y="256"/>
                      <a:pt x="371" y="256"/>
                    </a:cubicBezTo>
                    <a:cubicBezTo>
                      <a:pt x="370" y="256"/>
                      <a:pt x="370" y="256"/>
                      <a:pt x="371" y="255"/>
                    </a:cubicBezTo>
                    <a:cubicBezTo>
                      <a:pt x="372" y="255"/>
                      <a:pt x="370" y="255"/>
                      <a:pt x="369" y="254"/>
                    </a:cubicBezTo>
                    <a:cubicBezTo>
                      <a:pt x="369" y="253"/>
                      <a:pt x="369" y="252"/>
                      <a:pt x="368" y="251"/>
                    </a:cubicBezTo>
                    <a:cubicBezTo>
                      <a:pt x="367" y="251"/>
                      <a:pt x="365" y="252"/>
                      <a:pt x="365" y="251"/>
                    </a:cubicBezTo>
                    <a:cubicBezTo>
                      <a:pt x="365" y="251"/>
                      <a:pt x="367" y="250"/>
                      <a:pt x="368" y="250"/>
                    </a:cubicBezTo>
                    <a:cubicBezTo>
                      <a:pt x="369" y="250"/>
                      <a:pt x="370" y="250"/>
                      <a:pt x="370" y="249"/>
                    </a:cubicBezTo>
                    <a:cubicBezTo>
                      <a:pt x="370" y="249"/>
                      <a:pt x="369" y="248"/>
                      <a:pt x="370" y="248"/>
                    </a:cubicBezTo>
                    <a:cubicBezTo>
                      <a:pt x="372" y="247"/>
                      <a:pt x="371" y="246"/>
                      <a:pt x="370" y="246"/>
                    </a:cubicBezTo>
                    <a:cubicBezTo>
                      <a:pt x="369" y="246"/>
                      <a:pt x="368" y="246"/>
                      <a:pt x="368" y="246"/>
                    </a:cubicBezTo>
                    <a:cubicBezTo>
                      <a:pt x="367" y="247"/>
                      <a:pt x="367" y="247"/>
                      <a:pt x="366" y="246"/>
                    </a:cubicBezTo>
                    <a:cubicBezTo>
                      <a:pt x="365" y="245"/>
                      <a:pt x="364" y="245"/>
                      <a:pt x="362" y="245"/>
                    </a:cubicBezTo>
                    <a:cubicBezTo>
                      <a:pt x="360" y="245"/>
                      <a:pt x="363" y="244"/>
                      <a:pt x="364" y="243"/>
                    </a:cubicBezTo>
                    <a:cubicBezTo>
                      <a:pt x="365" y="242"/>
                      <a:pt x="364" y="241"/>
                      <a:pt x="364" y="240"/>
                    </a:cubicBezTo>
                    <a:cubicBezTo>
                      <a:pt x="363" y="239"/>
                      <a:pt x="362" y="240"/>
                      <a:pt x="362" y="239"/>
                    </a:cubicBezTo>
                    <a:cubicBezTo>
                      <a:pt x="363" y="238"/>
                      <a:pt x="361" y="238"/>
                      <a:pt x="360" y="237"/>
                    </a:cubicBezTo>
                    <a:cubicBezTo>
                      <a:pt x="360" y="236"/>
                      <a:pt x="360" y="237"/>
                      <a:pt x="359" y="236"/>
                    </a:cubicBezTo>
                    <a:cubicBezTo>
                      <a:pt x="357" y="235"/>
                      <a:pt x="359" y="236"/>
                      <a:pt x="359" y="237"/>
                    </a:cubicBezTo>
                    <a:cubicBezTo>
                      <a:pt x="360" y="239"/>
                      <a:pt x="359" y="241"/>
                      <a:pt x="359" y="240"/>
                    </a:cubicBezTo>
                    <a:cubicBezTo>
                      <a:pt x="358" y="238"/>
                      <a:pt x="358" y="240"/>
                      <a:pt x="357" y="239"/>
                    </a:cubicBezTo>
                    <a:cubicBezTo>
                      <a:pt x="355" y="238"/>
                      <a:pt x="356" y="239"/>
                      <a:pt x="356" y="240"/>
                    </a:cubicBezTo>
                    <a:cubicBezTo>
                      <a:pt x="355" y="242"/>
                      <a:pt x="354" y="240"/>
                      <a:pt x="354" y="239"/>
                    </a:cubicBezTo>
                    <a:cubicBezTo>
                      <a:pt x="353" y="238"/>
                      <a:pt x="355" y="239"/>
                      <a:pt x="355" y="237"/>
                    </a:cubicBezTo>
                    <a:cubicBezTo>
                      <a:pt x="356" y="236"/>
                      <a:pt x="355" y="236"/>
                      <a:pt x="354" y="236"/>
                    </a:cubicBezTo>
                    <a:cubicBezTo>
                      <a:pt x="353" y="236"/>
                      <a:pt x="353" y="237"/>
                      <a:pt x="353" y="236"/>
                    </a:cubicBezTo>
                    <a:cubicBezTo>
                      <a:pt x="353" y="234"/>
                      <a:pt x="352" y="235"/>
                      <a:pt x="352" y="235"/>
                    </a:cubicBezTo>
                    <a:cubicBezTo>
                      <a:pt x="352" y="235"/>
                      <a:pt x="351" y="235"/>
                      <a:pt x="350" y="234"/>
                    </a:cubicBezTo>
                    <a:cubicBezTo>
                      <a:pt x="349" y="233"/>
                      <a:pt x="350" y="233"/>
                      <a:pt x="348" y="232"/>
                    </a:cubicBezTo>
                    <a:cubicBezTo>
                      <a:pt x="347" y="232"/>
                      <a:pt x="348" y="233"/>
                      <a:pt x="348" y="236"/>
                    </a:cubicBezTo>
                    <a:cubicBezTo>
                      <a:pt x="348" y="239"/>
                      <a:pt x="347" y="238"/>
                      <a:pt x="347" y="237"/>
                    </a:cubicBezTo>
                    <a:cubicBezTo>
                      <a:pt x="346" y="236"/>
                      <a:pt x="346" y="235"/>
                      <a:pt x="345" y="233"/>
                    </a:cubicBezTo>
                    <a:cubicBezTo>
                      <a:pt x="344" y="231"/>
                      <a:pt x="344" y="232"/>
                      <a:pt x="346" y="230"/>
                    </a:cubicBezTo>
                    <a:cubicBezTo>
                      <a:pt x="348" y="229"/>
                      <a:pt x="346" y="229"/>
                      <a:pt x="345" y="230"/>
                    </a:cubicBezTo>
                    <a:cubicBezTo>
                      <a:pt x="344" y="232"/>
                      <a:pt x="344" y="232"/>
                      <a:pt x="344" y="231"/>
                    </a:cubicBezTo>
                    <a:cubicBezTo>
                      <a:pt x="343" y="231"/>
                      <a:pt x="343" y="230"/>
                      <a:pt x="343" y="230"/>
                    </a:cubicBezTo>
                    <a:cubicBezTo>
                      <a:pt x="343" y="229"/>
                      <a:pt x="343" y="228"/>
                      <a:pt x="342" y="228"/>
                    </a:cubicBezTo>
                    <a:cubicBezTo>
                      <a:pt x="341" y="227"/>
                      <a:pt x="341" y="228"/>
                      <a:pt x="340" y="226"/>
                    </a:cubicBezTo>
                    <a:cubicBezTo>
                      <a:pt x="340" y="224"/>
                      <a:pt x="341" y="225"/>
                      <a:pt x="341" y="224"/>
                    </a:cubicBezTo>
                    <a:cubicBezTo>
                      <a:pt x="342" y="222"/>
                      <a:pt x="340" y="222"/>
                      <a:pt x="339" y="222"/>
                    </a:cubicBezTo>
                    <a:cubicBezTo>
                      <a:pt x="338" y="222"/>
                      <a:pt x="338" y="223"/>
                      <a:pt x="337" y="222"/>
                    </a:cubicBezTo>
                    <a:cubicBezTo>
                      <a:pt x="336" y="221"/>
                      <a:pt x="337" y="219"/>
                      <a:pt x="337" y="217"/>
                    </a:cubicBezTo>
                    <a:cubicBezTo>
                      <a:pt x="338" y="216"/>
                      <a:pt x="335" y="217"/>
                      <a:pt x="334" y="217"/>
                    </a:cubicBezTo>
                    <a:cubicBezTo>
                      <a:pt x="332" y="218"/>
                      <a:pt x="330" y="219"/>
                      <a:pt x="328" y="221"/>
                    </a:cubicBezTo>
                    <a:cubicBezTo>
                      <a:pt x="327" y="222"/>
                      <a:pt x="328" y="218"/>
                      <a:pt x="329" y="217"/>
                    </a:cubicBezTo>
                    <a:cubicBezTo>
                      <a:pt x="330" y="216"/>
                      <a:pt x="330" y="216"/>
                      <a:pt x="329" y="216"/>
                    </a:cubicBezTo>
                    <a:cubicBezTo>
                      <a:pt x="328" y="216"/>
                      <a:pt x="329" y="215"/>
                      <a:pt x="330" y="214"/>
                    </a:cubicBezTo>
                    <a:cubicBezTo>
                      <a:pt x="332" y="213"/>
                      <a:pt x="329" y="213"/>
                      <a:pt x="329" y="214"/>
                    </a:cubicBezTo>
                    <a:cubicBezTo>
                      <a:pt x="328" y="214"/>
                      <a:pt x="327" y="214"/>
                      <a:pt x="326" y="214"/>
                    </a:cubicBezTo>
                    <a:cubicBezTo>
                      <a:pt x="325" y="214"/>
                      <a:pt x="325" y="213"/>
                      <a:pt x="326" y="212"/>
                    </a:cubicBezTo>
                    <a:cubicBezTo>
                      <a:pt x="326" y="211"/>
                      <a:pt x="325" y="211"/>
                      <a:pt x="324" y="211"/>
                    </a:cubicBezTo>
                    <a:cubicBezTo>
                      <a:pt x="323" y="211"/>
                      <a:pt x="324" y="210"/>
                      <a:pt x="323" y="209"/>
                    </a:cubicBezTo>
                    <a:cubicBezTo>
                      <a:pt x="323" y="207"/>
                      <a:pt x="325" y="209"/>
                      <a:pt x="326" y="209"/>
                    </a:cubicBezTo>
                    <a:cubicBezTo>
                      <a:pt x="327" y="209"/>
                      <a:pt x="327" y="209"/>
                      <a:pt x="327" y="207"/>
                    </a:cubicBezTo>
                    <a:cubicBezTo>
                      <a:pt x="326" y="206"/>
                      <a:pt x="327" y="206"/>
                      <a:pt x="328" y="206"/>
                    </a:cubicBezTo>
                    <a:cubicBezTo>
                      <a:pt x="329" y="207"/>
                      <a:pt x="328" y="208"/>
                      <a:pt x="329" y="210"/>
                    </a:cubicBezTo>
                    <a:cubicBezTo>
                      <a:pt x="329" y="212"/>
                      <a:pt x="332" y="212"/>
                      <a:pt x="333" y="211"/>
                    </a:cubicBezTo>
                    <a:cubicBezTo>
                      <a:pt x="335" y="211"/>
                      <a:pt x="337" y="211"/>
                      <a:pt x="338" y="211"/>
                    </a:cubicBezTo>
                    <a:cubicBezTo>
                      <a:pt x="339" y="211"/>
                      <a:pt x="340" y="211"/>
                      <a:pt x="339" y="210"/>
                    </a:cubicBezTo>
                    <a:cubicBezTo>
                      <a:pt x="338" y="209"/>
                      <a:pt x="338" y="208"/>
                      <a:pt x="339" y="207"/>
                    </a:cubicBezTo>
                    <a:cubicBezTo>
                      <a:pt x="339" y="206"/>
                      <a:pt x="338" y="206"/>
                      <a:pt x="334" y="204"/>
                    </a:cubicBezTo>
                    <a:cubicBezTo>
                      <a:pt x="331" y="202"/>
                      <a:pt x="335" y="204"/>
                      <a:pt x="330" y="199"/>
                    </a:cubicBezTo>
                    <a:cubicBezTo>
                      <a:pt x="326" y="194"/>
                      <a:pt x="335" y="200"/>
                      <a:pt x="337" y="201"/>
                    </a:cubicBezTo>
                    <a:cubicBezTo>
                      <a:pt x="339" y="203"/>
                      <a:pt x="339" y="201"/>
                      <a:pt x="338" y="200"/>
                    </a:cubicBezTo>
                    <a:cubicBezTo>
                      <a:pt x="338" y="198"/>
                      <a:pt x="338" y="198"/>
                      <a:pt x="339" y="198"/>
                    </a:cubicBezTo>
                    <a:cubicBezTo>
                      <a:pt x="341" y="198"/>
                      <a:pt x="340" y="198"/>
                      <a:pt x="339" y="196"/>
                    </a:cubicBezTo>
                    <a:cubicBezTo>
                      <a:pt x="338" y="195"/>
                      <a:pt x="337" y="196"/>
                      <a:pt x="334" y="195"/>
                    </a:cubicBezTo>
                    <a:cubicBezTo>
                      <a:pt x="331" y="195"/>
                      <a:pt x="332" y="194"/>
                      <a:pt x="335" y="194"/>
                    </a:cubicBezTo>
                    <a:cubicBezTo>
                      <a:pt x="337" y="193"/>
                      <a:pt x="342" y="195"/>
                      <a:pt x="343" y="195"/>
                    </a:cubicBezTo>
                    <a:cubicBezTo>
                      <a:pt x="344" y="196"/>
                      <a:pt x="345" y="195"/>
                      <a:pt x="343" y="194"/>
                    </a:cubicBezTo>
                    <a:cubicBezTo>
                      <a:pt x="342" y="193"/>
                      <a:pt x="344" y="193"/>
                      <a:pt x="345" y="194"/>
                    </a:cubicBezTo>
                    <a:cubicBezTo>
                      <a:pt x="346" y="194"/>
                      <a:pt x="347" y="194"/>
                      <a:pt x="347" y="195"/>
                    </a:cubicBezTo>
                    <a:cubicBezTo>
                      <a:pt x="346" y="195"/>
                      <a:pt x="345" y="196"/>
                      <a:pt x="346" y="198"/>
                    </a:cubicBezTo>
                    <a:cubicBezTo>
                      <a:pt x="347" y="200"/>
                      <a:pt x="348" y="199"/>
                      <a:pt x="349" y="199"/>
                    </a:cubicBezTo>
                    <a:cubicBezTo>
                      <a:pt x="351" y="199"/>
                      <a:pt x="350" y="200"/>
                      <a:pt x="351" y="200"/>
                    </a:cubicBezTo>
                    <a:cubicBezTo>
                      <a:pt x="352" y="201"/>
                      <a:pt x="352" y="202"/>
                      <a:pt x="354" y="202"/>
                    </a:cubicBezTo>
                    <a:cubicBezTo>
                      <a:pt x="355" y="202"/>
                      <a:pt x="355" y="202"/>
                      <a:pt x="355" y="203"/>
                    </a:cubicBezTo>
                    <a:cubicBezTo>
                      <a:pt x="354" y="203"/>
                      <a:pt x="355" y="204"/>
                      <a:pt x="357" y="205"/>
                    </a:cubicBezTo>
                    <a:cubicBezTo>
                      <a:pt x="358" y="206"/>
                      <a:pt x="358" y="206"/>
                      <a:pt x="361" y="205"/>
                    </a:cubicBezTo>
                    <a:cubicBezTo>
                      <a:pt x="364" y="204"/>
                      <a:pt x="362" y="206"/>
                      <a:pt x="360" y="208"/>
                    </a:cubicBezTo>
                    <a:cubicBezTo>
                      <a:pt x="358" y="209"/>
                      <a:pt x="360" y="209"/>
                      <a:pt x="361" y="208"/>
                    </a:cubicBezTo>
                    <a:cubicBezTo>
                      <a:pt x="363" y="208"/>
                      <a:pt x="369" y="205"/>
                      <a:pt x="372" y="205"/>
                    </a:cubicBezTo>
                    <a:cubicBezTo>
                      <a:pt x="374" y="205"/>
                      <a:pt x="375" y="203"/>
                      <a:pt x="378" y="202"/>
                    </a:cubicBezTo>
                    <a:cubicBezTo>
                      <a:pt x="382" y="200"/>
                      <a:pt x="377" y="204"/>
                      <a:pt x="376" y="205"/>
                    </a:cubicBezTo>
                    <a:cubicBezTo>
                      <a:pt x="376" y="206"/>
                      <a:pt x="374" y="206"/>
                      <a:pt x="375" y="208"/>
                    </a:cubicBezTo>
                    <a:cubicBezTo>
                      <a:pt x="377" y="210"/>
                      <a:pt x="375" y="210"/>
                      <a:pt x="372" y="210"/>
                    </a:cubicBezTo>
                    <a:cubicBezTo>
                      <a:pt x="369" y="210"/>
                      <a:pt x="367" y="212"/>
                      <a:pt x="366" y="214"/>
                    </a:cubicBezTo>
                    <a:cubicBezTo>
                      <a:pt x="365" y="215"/>
                      <a:pt x="367" y="215"/>
                      <a:pt x="366" y="216"/>
                    </a:cubicBezTo>
                    <a:cubicBezTo>
                      <a:pt x="366" y="216"/>
                      <a:pt x="366" y="217"/>
                      <a:pt x="369" y="217"/>
                    </a:cubicBezTo>
                    <a:cubicBezTo>
                      <a:pt x="372" y="217"/>
                      <a:pt x="371" y="218"/>
                      <a:pt x="368" y="219"/>
                    </a:cubicBezTo>
                    <a:cubicBezTo>
                      <a:pt x="365" y="219"/>
                      <a:pt x="368" y="220"/>
                      <a:pt x="371" y="220"/>
                    </a:cubicBezTo>
                    <a:cubicBezTo>
                      <a:pt x="375" y="220"/>
                      <a:pt x="373" y="220"/>
                      <a:pt x="372" y="221"/>
                    </a:cubicBezTo>
                    <a:cubicBezTo>
                      <a:pt x="370" y="222"/>
                      <a:pt x="370" y="222"/>
                      <a:pt x="371" y="223"/>
                    </a:cubicBezTo>
                    <a:cubicBezTo>
                      <a:pt x="372" y="224"/>
                      <a:pt x="372" y="224"/>
                      <a:pt x="376" y="223"/>
                    </a:cubicBezTo>
                    <a:cubicBezTo>
                      <a:pt x="381" y="222"/>
                      <a:pt x="379" y="224"/>
                      <a:pt x="377" y="224"/>
                    </a:cubicBezTo>
                    <a:cubicBezTo>
                      <a:pt x="375" y="224"/>
                      <a:pt x="375" y="225"/>
                      <a:pt x="376" y="225"/>
                    </a:cubicBezTo>
                    <a:cubicBezTo>
                      <a:pt x="378" y="225"/>
                      <a:pt x="377" y="226"/>
                      <a:pt x="375" y="226"/>
                    </a:cubicBezTo>
                    <a:cubicBezTo>
                      <a:pt x="373" y="226"/>
                      <a:pt x="375" y="227"/>
                      <a:pt x="377" y="227"/>
                    </a:cubicBezTo>
                    <a:cubicBezTo>
                      <a:pt x="378" y="227"/>
                      <a:pt x="377" y="227"/>
                      <a:pt x="377" y="228"/>
                    </a:cubicBezTo>
                    <a:cubicBezTo>
                      <a:pt x="376" y="229"/>
                      <a:pt x="376" y="229"/>
                      <a:pt x="378" y="229"/>
                    </a:cubicBezTo>
                    <a:cubicBezTo>
                      <a:pt x="379" y="230"/>
                      <a:pt x="378" y="229"/>
                      <a:pt x="379" y="230"/>
                    </a:cubicBezTo>
                    <a:cubicBezTo>
                      <a:pt x="380" y="231"/>
                      <a:pt x="380" y="226"/>
                      <a:pt x="382" y="224"/>
                    </a:cubicBezTo>
                    <a:cubicBezTo>
                      <a:pt x="384" y="222"/>
                      <a:pt x="383" y="225"/>
                      <a:pt x="382" y="227"/>
                    </a:cubicBezTo>
                    <a:cubicBezTo>
                      <a:pt x="382" y="230"/>
                      <a:pt x="382" y="229"/>
                      <a:pt x="385" y="228"/>
                    </a:cubicBezTo>
                    <a:cubicBezTo>
                      <a:pt x="387" y="228"/>
                      <a:pt x="386" y="229"/>
                      <a:pt x="385" y="229"/>
                    </a:cubicBezTo>
                    <a:cubicBezTo>
                      <a:pt x="383" y="230"/>
                      <a:pt x="384" y="231"/>
                      <a:pt x="384" y="231"/>
                    </a:cubicBezTo>
                    <a:cubicBezTo>
                      <a:pt x="385" y="231"/>
                      <a:pt x="387" y="231"/>
                      <a:pt x="388" y="231"/>
                    </a:cubicBezTo>
                    <a:cubicBezTo>
                      <a:pt x="390" y="231"/>
                      <a:pt x="389" y="232"/>
                      <a:pt x="391" y="232"/>
                    </a:cubicBezTo>
                    <a:cubicBezTo>
                      <a:pt x="392" y="232"/>
                      <a:pt x="392" y="232"/>
                      <a:pt x="391" y="233"/>
                    </a:cubicBezTo>
                    <a:cubicBezTo>
                      <a:pt x="389" y="234"/>
                      <a:pt x="391" y="234"/>
                      <a:pt x="392" y="234"/>
                    </a:cubicBezTo>
                    <a:cubicBezTo>
                      <a:pt x="393" y="234"/>
                      <a:pt x="392" y="235"/>
                      <a:pt x="393" y="236"/>
                    </a:cubicBezTo>
                    <a:cubicBezTo>
                      <a:pt x="394" y="236"/>
                      <a:pt x="394" y="235"/>
                      <a:pt x="394" y="234"/>
                    </a:cubicBezTo>
                    <a:cubicBezTo>
                      <a:pt x="395" y="233"/>
                      <a:pt x="396" y="231"/>
                      <a:pt x="396" y="230"/>
                    </a:cubicBezTo>
                    <a:cubicBezTo>
                      <a:pt x="395" y="228"/>
                      <a:pt x="395" y="228"/>
                      <a:pt x="396" y="228"/>
                    </a:cubicBezTo>
                    <a:cubicBezTo>
                      <a:pt x="398" y="228"/>
                      <a:pt x="397" y="228"/>
                      <a:pt x="396" y="228"/>
                    </a:cubicBezTo>
                    <a:cubicBezTo>
                      <a:pt x="396" y="227"/>
                      <a:pt x="396" y="227"/>
                      <a:pt x="396" y="226"/>
                    </a:cubicBezTo>
                    <a:cubicBezTo>
                      <a:pt x="396" y="225"/>
                      <a:pt x="396" y="225"/>
                      <a:pt x="394" y="223"/>
                    </a:cubicBezTo>
                    <a:cubicBezTo>
                      <a:pt x="393" y="221"/>
                      <a:pt x="394" y="222"/>
                      <a:pt x="396" y="222"/>
                    </a:cubicBezTo>
                    <a:cubicBezTo>
                      <a:pt x="398" y="223"/>
                      <a:pt x="398" y="223"/>
                      <a:pt x="395" y="221"/>
                    </a:cubicBezTo>
                    <a:cubicBezTo>
                      <a:pt x="392" y="219"/>
                      <a:pt x="395" y="220"/>
                      <a:pt x="395" y="220"/>
                    </a:cubicBezTo>
                    <a:cubicBezTo>
                      <a:pt x="395" y="221"/>
                      <a:pt x="396" y="220"/>
                      <a:pt x="397" y="219"/>
                    </a:cubicBezTo>
                    <a:cubicBezTo>
                      <a:pt x="397" y="219"/>
                      <a:pt x="397" y="217"/>
                      <a:pt x="394" y="217"/>
                    </a:cubicBezTo>
                    <a:cubicBezTo>
                      <a:pt x="391" y="217"/>
                      <a:pt x="395" y="216"/>
                      <a:pt x="396" y="217"/>
                    </a:cubicBezTo>
                    <a:cubicBezTo>
                      <a:pt x="397" y="217"/>
                      <a:pt x="397" y="217"/>
                      <a:pt x="395" y="213"/>
                    </a:cubicBezTo>
                    <a:cubicBezTo>
                      <a:pt x="394" y="209"/>
                      <a:pt x="398" y="215"/>
                      <a:pt x="399" y="216"/>
                    </a:cubicBezTo>
                    <a:cubicBezTo>
                      <a:pt x="399" y="218"/>
                      <a:pt x="399" y="218"/>
                      <a:pt x="400" y="218"/>
                    </a:cubicBezTo>
                    <a:cubicBezTo>
                      <a:pt x="401" y="217"/>
                      <a:pt x="402" y="218"/>
                      <a:pt x="402" y="219"/>
                    </a:cubicBezTo>
                    <a:cubicBezTo>
                      <a:pt x="402" y="220"/>
                      <a:pt x="403" y="219"/>
                      <a:pt x="403" y="217"/>
                    </a:cubicBezTo>
                    <a:cubicBezTo>
                      <a:pt x="403" y="215"/>
                      <a:pt x="403" y="215"/>
                      <a:pt x="404" y="216"/>
                    </a:cubicBezTo>
                    <a:cubicBezTo>
                      <a:pt x="405" y="217"/>
                      <a:pt x="405" y="218"/>
                      <a:pt x="406" y="218"/>
                    </a:cubicBezTo>
                    <a:cubicBezTo>
                      <a:pt x="407" y="219"/>
                      <a:pt x="407" y="219"/>
                      <a:pt x="407" y="218"/>
                    </a:cubicBezTo>
                    <a:cubicBezTo>
                      <a:pt x="408" y="217"/>
                      <a:pt x="408" y="218"/>
                      <a:pt x="406" y="216"/>
                    </a:cubicBezTo>
                    <a:cubicBezTo>
                      <a:pt x="404" y="214"/>
                      <a:pt x="407" y="215"/>
                      <a:pt x="408" y="216"/>
                    </a:cubicBezTo>
                    <a:cubicBezTo>
                      <a:pt x="409" y="216"/>
                      <a:pt x="408" y="214"/>
                      <a:pt x="406" y="213"/>
                    </a:cubicBezTo>
                    <a:cubicBezTo>
                      <a:pt x="404" y="211"/>
                      <a:pt x="405" y="212"/>
                      <a:pt x="406" y="212"/>
                    </a:cubicBezTo>
                    <a:cubicBezTo>
                      <a:pt x="408" y="213"/>
                      <a:pt x="409" y="213"/>
                      <a:pt x="411" y="213"/>
                    </a:cubicBezTo>
                    <a:cubicBezTo>
                      <a:pt x="413" y="213"/>
                      <a:pt x="412" y="213"/>
                      <a:pt x="412" y="212"/>
                    </a:cubicBezTo>
                    <a:cubicBezTo>
                      <a:pt x="411" y="210"/>
                      <a:pt x="411" y="211"/>
                      <a:pt x="410" y="210"/>
                    </a:cubicBezTo>
                    <a:cubicBezTo>
                      <a:pt x="410" y="209"/>
                      <a:pt x="408" y="209"/>
                      <a:pt x="406" y="208"/>
                    </a:cubicBezTo>
                    <a:cubicBezTo>
                      <a:pt x="405" y="208"/>
                      <a:pt x="404" y="208"/>
                      <a:pt x="403" y="206"/>
                    </a:cubicBezTo>
                    <a:cubicBezTo>
                      <a:pt x="402" y="205"/>
                      <a:pt x="404" y="206"/>
                      <a:pt x="405" y="207"/>
                    </a:cubicBezTo>
                    <a:cubicBezTo>
                      <a:pt x="405" y="208"/>
                      <a:pt x="407" y="207"/>
                      <a:pt x="408" y="208"/>
                    </a:cubicBezTo>
                    <a:cubicBezTo>
                      <a:pt x="409" y="208"/>
                      <a:pt x="409" y="207"/>
                      <a:pt x="411" y="208"/>
                    </a:cubicBezTo>
                    <a:cubicBezTo>
                      <a:pt x="412" y="209"/>
                      <a:pt x="413" y="209"/>
                      <a:pt x="415" y="209"/>
                    </a:cubicBezTo>
                    <a:cubicBezTo>
                      <a:pt x="417" y="208"/>
                      <a:pt x="417" y="208"/>
                      <a:pt x="416" y="208"/>
                    </a:cubicBezTo>
                    <a:cubicBezTo>
                      <a:pt x="416" y="208"/>
                      <a:pt x="415" y="206"/>
                      <a:pt x="415" y="206"/>
                    </a:cubicBezTo>
                    <a:cubicBezTo>
                      <a:pt x="415" y="205"/>
                      <a:pt x="411" y="204"/>
                      <a:pt x="409" y="204"/>
                    </a:cubicBezTo>
                    <a:cubicBezTo>
                      <a:pt x="407" y="204"/>
                      <a:pt x="408" y="205"/>
                      <a:pt x="406" y="204"/>
                    </a:cubicBezTo>
                    <a:cubicBezTo>
                      <a:pt x="404" y="203"/>
                      <a:pt x="406" y="201"/>
                      <a:pt x="407" y="202"/>
                    </a:cubicBezTo>
                    <a:cubicBezTo>
                      <a:pt x="408" y="204"/>
                      <a:pt x="409" y="201"/>
                      <a:pt x="409" y="200"/>
                    </a:cubicBezTo>
                    <a:cubicBezTo>
                      <a:pt x="410" y="199"/>
                      <a:pt x="409" y="199"/>
                      <a:pt x="408" y="199"/>
                    </a:cubicBezTo>
                    <a:cubicBezTo>
                      <a:pt x="406" y="199"/>
                      <a:pt x="407" y="198"/>
                      <a:pt x="409" y="198"/>
                    </a:cubicBezTo>
                    <a:cubicBezTo>
                      <a:pt x="410" y="198"/>
                      <a:pt x="415" y="201"/>
                      <a:pt x="416" y="201"/>
                    </a:cubicBezTo>
                    <a:cubicBezTo>
                      <a:pt x="418" y="202"/>
                      <a:pt x="419" y="202"/>
                      <a:pt x="420" y="201"/>
                    </a:cubicBezTo>
                    <a:cubicBezTo>
                      <a:pt x="420" y="200"/>
                      <a:pt x="421" y="201"/>
                      <a:pt x="424" y="200"/>
                    </a:cubicBezTo>
                    <a:cubicBezTo>
                      <a:pt x="427" y="199"/>
                      <a:pt x="420" y="199"/>
                      <a:pt x="418" y="198"/>
                    </a:cubicBezTo>
                    <a:cubicBezTo>
                      <a:pt x="417" y="197"/>
                      <a:pt x="420" y="198"/>
                      <a:pt x="423" y="198"/>
                    </a:cubicBezTo>
                    <a:cubicBezTo>
                      <a:pt x="425" y="198"/>
                      <a:pt x="421" y="195"/>
                      <a:pt x="420" y="194"/>
                    </a:cubicBezTo>
                    <a:cubicBezTo>
                      <a:pt x="419" y="193"/>
                      <a:pt x="418" y="193"/>
                      <a:pt x="416" y="193"/>
                    </a:cubicBezTo>
                    <a:cubicBezTo>
                      <a:pt x="414" y="194"/>
                      <a:pt x="417" y="192"/>
                      <a:pt x="418" y="192"/>
                    </a:cubicBezTo>
                    <a:cubicBezTo>
                      <a:pt x="419" y="192"/>
                      <a:pt x="421" y="192"/>
                      <a:pt x="423" y="194"/>
                    </a:cubicBezTo>
                    <a:cubicBezTo>
                      <a:pt x="425" y="195"/>
                      <a:pt x="425" y="195"/>
                      <a:pt x="427" y="194"/>
                    </a:cubicBezTo>
                    <a:cubicBezTo>
                      <a:pt x="429" y="193"/>
                      <a:pt x="425" y="190"/>
                      <a:pt x="423" y="187"/>
                    </a:cubicBezTo>
                    <a:close/>
                    <a:moveTo>
                      <a:pt x="82" y="67"/>
                    </a:moveTo>
                    <a:cubicBezTo>
                      <a:pt x="82" y="68"/>
                      <a:pt x="80" y="69"/>
                      <a:pt x="79" y="69"/>
                    </a:cubicBezTo>
                    <a:cubicBezTo>
                      <a:pt x="78" y="69"/>
                      <a:pt x="79" y="72"/>
                      <a:pt x="79" y="73"/>
                    </a:cubicBezTo>
                    <a:cubicBezTo>
                      <a:pt x="80" y="74"/>
                      <a:pt x="80" y="74"/>
                      <a:pt x="79" y="75"/>
                    </a:cubicBezTo>
                    <a:cubicBezTo>
                      <a:pt x="78" y="76"/>
                      <a:pt x="78" y="77"/>
                      <a:pt x="79" y="79"/>
                    </a:cubicBezTo>
                    <a:cubicBezTo>
                      <a:pt x="79" y="81"/>
                      <a:pt x="79" y="82"/>
                      <a:pt x="77" y="82"/>
                    </a:cubicBezTo>
                    <a:cubicBezTo>
                      <a:pt x="76" y="82"/>
                      <a:pt x="76" y="80"/>
                      <a:pt x="76" y="80"/>
                    </a:cubicBezTo>
                    <a:cubicBezTo>
                      <a:pt x="76" y="79"/>
                      <a:pt x="76" y="78"/>
                      <a:pt x="75" y="78"/>
                    </a:cubicBezTo>
                    <a:cubicBezTo>
                      <a:pt x="73" y="77"/>
                      <a:pt x="75" y="77"/>
                      <a:pt x="76" y="77"/>
                    </a:cubicBezTo>
                    <a:cubicBezTo>
                      <a:pt x="77" y="78"/>
                      <a:pt x="77" y="78"/>
                      <a:pt x="77" y="77"/>
                    </a:cubicBezTo>
                    <a:cubicBezTo>
                      <a:pt x="78" y="76"/>
                      <a:pt x="77" y="76"/>
                      <a:pt x="76" y="75"/>
                    </a:cubicBezTo>
                    <a:cubicBezTo>
                      <a:pt x="75" y="75"/>
                      <a:pt x="75" y="75"/>
                      <a:pt x="75" y="74"/>
                    </a:cubicBezTo>
                    <a:cubicBezTo>
                      <a:pt x="75" y="73"/>
                      <a:pt x="75" y="72"/>
                      <a:pt x="77" y="72"/>
                    </a:cubicBezTo>
                    <a:cubicBezTo>
                      <a:pt x="79" y="72"/>
                      <a:pt x="78" y="70"/>
                      <a:pt x="76" y="69"/>
                    </a:cubicBezTo>
                    <a:cubicBezTo>
                      <a:pt x="75" y="67"/>
                      <a:pt x="76" y="65"/>
                      <a:pt x="76" y="64"/>
                    </a:cubicBezTo>
                    <a:cubicBezTo>
                      <a:pt x="76" y="63"/>
                      <a:pt x="77" y="63"/>
                      <a:pt x="77" y="62"/>
                    </a:cubicBezTo>
                    <a:cubicBezTo>
                      <a:pt x="78" y="62"/>
                      <a:pt x="79" y="62"/>
                      <a:pt x="80" y="61"/>
                    </a:cubicBezTo>
                    <a:cubicBezTo>
                      <a:pt x="82" y="60"/>
                      <a:pt x="82" y="65"/>
                      <a:pt x="82" y="67"/>
                    </a:cubicBezTo>
                    <a:close/>
                    <a:moveTo>
                      <a:pt x="86" y="51"/>
                    </a:moveTo>
                    <a:cubicBezTo>
                      <a:pt x="83" y="50"/>
                      <a:pt x="78" y="46"/>
                      <a:pt x="77" y="46"/>
                    </a:cubicBezTo>
                    <a:cubicBezTo>
                      <a:pt x="77" y="46"/>
                      <a:pt x="76" y="46"/>
                      <a:pt x="76" y="44"/>
                    </a:cubicBezTo>
                    <a:cubicBezTo>
                      <a:pt x="76" y="43"/>
                      <a:pt x="75" y="41"/>
                      <a:pt x="76" y="41"/>
                    </a:cubicBezTo>
                    <a:cubicBezTo>
                      <a:pt x="77" y="41"/>
                      <a:pt x="79" y="39"/>
                      <a:pt x="78" y="41"/>
                    </a:cubicBezTo>
                    <a:cubicBezTo>
                      <a:pt x="78" y="42"/>
                      <a:pt x="78" y="42"/>
                      <a:pt x="79" y="42"/>
                    </a:cubicBezTo>
                    <a:cubicBezTo>
                      <a:pt x="80" y="42"/>
                      <a:pt x="85" y="42"/>
                      <a:pt x="82" y="43"/>
                    </a:cubicBezTo>
                    <a:cubicBezTo>
                      <a:pt x="80" y="43"/>
                      <a:pt x="76" y="42"/>
                      <a:pt x="78" y="44"/>
                    </a:cubicBezTo>
                    <a:cubicBezTo>
                      <a:pt x="80" y="46"/>
                      <a:pt x="82" y="46"/>
                      <a:pt x="83" y="48"/>
                    </a:cubicBezTo>
                    <a:cubicBezTo>
                      <a:pt x="85" y="49"/>
                      <a:pt x="89" y="53"/>
                      <a:pt x="86" y="51"/>
                    </a:cubicBezTo>
                    <a:close/>
                    <a:moveTo>
                      <a:pt x="90" y="31"/>
                    </a:moveTo>
                    <a:cubicBezTo>
                      <a:pt x="87" y="31"/>
                      <a:pt x="85" y="29"/>
                      <a:pt x="83" y="29"/>
                    </a:cubicBezTo>
                    <a:cubicBezTo>
                      <a:pt x="81" y="28"/>
                      <a:pt x="77" y="28"/>
                      <a:pt x="77" y="27"/>
                    </a:cubicBezTo>
                    <a:cubicBezTo>
                      <a:pt x="77" y="27"/>
                      <a:pt x="75" y="27"/>
                      <a:pt x="75" y="26"/>
                    </a:cubicBezTo>
                    <a:cubicBezTo>
                      <a:pt x="76" y="25"/>
                      <a:pt x="75" y="24"/>
                      <a:pt x="77" y="26"/>
                    </a:cubicBezTo>
                    <a:cubicBezTo>
                      <a:pt x="79" y="27"/>
                      <a:pt x="80" y="26"/>
                      <a:pt x="81" y="27"/>
                    </a:cubicBezTo>
                    <a:cubicBezTo>
                      <a:pt x="81" y="27"/>
                      <a:pt x="84" y="28"/>
                      <a:pt x="85" y="29"/>
                    </a:cubicBezTo>
                    <a:cubicBezTo>
                      <a:pt x="86" y="29"/>
                      <a:pt x="92" y="30"/>
                      <a:pt x="90" y="31"/>
                    </a:cubicBezTo>
                    <a:close/>
                    <a:moveTo>
                      <a:pt x="91" y="24"/>
                    </a:moveTo>
                    <a:cubicBezTo>
                      <a:pt x="87" y="23"/>
                      <a:pt x="79" y="23"/>
                      <a:pt x="77" y="21"/>
                    </a:cubicBezTo>
                    <a:cubicBezTo>
                      <a:pt x="77" y="21"/>
                      <a:pt x="75" y="21"/>
                      <a:pt x="75" y="20"/>
                    </a:cubicBezTo>
                    <a:cubicBezTo>
                      <a:pt x="76" y="20"/>
                      <a:pt x="76" y="19"/>
                      <a:pt x="77" y="20"/>
                    </a:cubicBezTo>
                    <a:cubicBezTo>
                      <a:pt x="79" y="21"/>
                      <a:pt x="85" y="22"/>
                      <a:pt x="87" y="22"/>
                    </a:cubicBezTo>
                    <a:cubicBezTo>
                      <a:pt x="89" y="22"/>
                      <a:pt x="93" y="23"/>
                      <a:pt x="94" y="24"/>
                    </a:cubicBezTo>
                    <a:cubicBezTo>
                      <a:pt x="95" y="24"/>
                      <a:pt x="94" y="24"/>
                      <a:pt x="91" y="2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20" name="Freeform 303">
                <a:extLst>
                  <a:ext uri="{FF2B5EF4-FFF2-40B4-BE49-F238E27FC236}">
                    <a16:creationId xmlns:a16="http://schemas.microsoft.com/office/drawing/2014/main" id="{1FED0939-F555-46B3-A78E-3DA564BB5E9D}"/>
                  </a:ext>
                </a:extLst>
              </p:cNvPr>
              <p:cNvSpPr>
                <a:spLocks/>
              </p:cNvSpPr>
              <p:nvPr/>
            </p:nvSpPr>
            <p:spPr bwMode="auto">
              <a:xfrm>
                <a:off x="1841" y="960"/>
                <a:ext cx="34" cy="11"/>
              </a:xfrm>
              <a:custGeom>
                <a:avLst/>
                <a:gdLst>
                  <a:gd name="T0" fmla="*/ 3 w 24"/>
                  <a:gd name="T1" fmla="*/ 2 h 8"/>
                  <a:gd name="T2" fmla="*/ 3 w 24"/>
                  <a:gd name="T3" fmla="*/ 4 h 8"/>
                  <a:gd name="T4" fmla="*/ 7 w 24"/>
                  <a:gd name="T5" fmla="*/ 5 h 8"/>
                  <a:gd name="T6" fmla="*/ 8 w 24"/>
                  <a:gd name="T7" fmla="*/ 6 h 8"/>
                  <a:gd name="T8" fmla="*/ 9 w 24"/>
                  <a:gd name="T9" fmla="*/ 6 h 8"/>
                  <a:gd name="T10" fmla="*/ 12 w 24"/>
                  <a:gd name="T11" fmla="*/ 8 h 8"/>
                  <a:gd name="T12" fmla="*/ 12 w 24"/>
                  <a:gd name="T13" fmla="*/ 5 h 8"/>
                  <a:gd name="T14" fmla="*/ 14 w 24"/>
                  <a:gd name="T15" fmla="*/ 4 h 8"/>
                  <a:gd name="T16" fmla="*/ 20 w 24"/>
                  <a:gd name="T17" fmla="*/ 4 h 8"/>
                  <a:gd name="T18" fmla="*/ 20 w 24"/>
                  <a:gd name="T19" fmla="*/ 0 h 8"/>
                  <a:gd name="T20" fmla="*/ 14 w 24"/>
                  <a:gd name="T21" fmla="*/ 2 h 8"/>
                  <a:gd name="T22" fmla="*/ 8 w 24"/>
                  <a:gd name="T23" fmla="*/ 0 h 8"/>
                  <a:gd name="T24" fmla="*/ 7 w 24"/>
                  <a:gd name="T25" fmla="*/ 2 h 8"/>
                  <a:gd name="T26" fmla="*/ 3 w 24"/>
                  <a:gd name="T27" fmla="*/ 2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8">
                    <a:moveTo>
                      <a:pt x="3" y="2"/>
                    </a:moveTo>
                    <a:cubicBezTo>
                      <a:pt x="0" y="2"/>
                      <a:pt x="3" y="4"/>
                      <a:pt x="3" y="4"/>
                    </a:cubicBezTo>
                    <a:cubicBezTo>
                      <a:pt x="3" y="4"/>
                      <a:pt x="6" y="4"/>
                      <a:pt x="7" y="5"/>
                    </a:cubicBezTo>
                    <a:cubicBezTo>
                      <a:pt x="8" y="7"/>
                      <a:pt x="8" y="7"/>
                      <a:pt x="8" y="6"/>
                    </a:cubicBezTo>
                    <a:cubicBezTo>
                      <a:pt x="9" y="5"/>
                      <a:pt x="10" y="5"/>
                      <a:pt x="9" y="6"/>
                    </a:cubicBezTo>
                    <a:cubicBezTo>
                      <a:pt x="9" y="7"/>
                      <a:pt x="10" y="7"/>
                      <a:pt x="12" y="8"/>
                    </a:cubicBezTo>
                    <a:cubicBezTo>
                      <a:pt x="13" y="8"/>
                      <a:pt x="13" y="7"/>
                      <a:pt x="12" y="5"/>
                    </a:cubicBezTo>
                    <a:cubicBezTo>
                      <a:pt x="11" y="4"/>
                      <a:pt x="13" y="4"/>
                      <a:pt x="14" y="4"/>
                    </a:cubicBezTo>
                    <a:cubicBezTo>
                      <a:pt x="15" y="5"/>
                      <a:pt x="16" y="4"/>
                      <a:pt x="20" y="4"/>
                    </a:cubicBezTo>
                    <a:cubicBezTo>
                      <a:pt x="24" y="3"/>
                      <a:pt x="22" y="1"/>
                      <a:pt x="20" y="0"/>
                    </a:cubicBezTo>
                    <a:cubicBezTo>
                      <a:pt x="18" y="0"/>
                      <a:pt x="15" y="1"/>
                      <a:pt x="14" y="2"/>
                    </a:cubicBezTo>
                    <a:cubicBezTo>
                      <a:pt x="13" y="3"/>
                      <a:pt x="9" y="0"/>
                      <a:pt x="8" y="0"/>
                    </a:cubicBezTo>
                    <a:cubicBezTo>
                      <a:pt x="7" y="0"/>
                      <a:pt x="6" y="0"/>
                      <a:pt x="7" y="2"/>
                    </a:cubicBezTo>
                    <a:cubicBezTo>
                      <a:pt x="8" y="3"/>
                      <a:pt x="6" y="2"/>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21" name="Freeform 304">
                <a:extLst>
                  <a:ext uri="{FF2B5EF4-FFF2-40B4-BE49-F238E27FC236}">
                    <a16:creationId xmlns:a16="http://schemas.microsoft.com/office/drawing/2014/main" id="{5BD35ABB-619B-4065-A742-840A91409A97}"/>
                  </a:ext>
                </a:extLst>
              </p:cNvPr>
              <p:cNvSpPr>
                <a:spLocks/>
              </p:cNvSpPr>
              <p:nvPr/>
            </p:nvSpPr>
            <p:spPr bwMode="auto">
              <a:xfrm>
                <a:off x="1882" y="961"/>
                <a:ext cx="20" cy="12"/>
              </a:xfrm>
              <a:custGeom>
                <a:avLst/>
                <a:gdLst>
                  <a:gd name="T0" fmla="*/ 5 w 15"/>
                  <a:gd name="T1" fmla="*/ 7 h 9"/>
                  <a:gd name="T2" fmla="*/ 7 w 15"/>
                  <a:gd name="T3" fmla="*/ 6 h 9"/>
                  <a:gd name="T4" fmla="*/ 12 w 15"/>
                  <a:gd name="T5" fmla="*/ 5 h 9"/>
                  <a:gd name="T6" fmla="*/ 12 w 15"/>
                  <a:gd name="T7" fmla="*/ 1 h 9"/>
                  <a:gd name="T8" fmla="*/ 3 w 15"/>
                  <a:gd name="T9" fmla="*/ 6 h 9"/>
                  <a:gd name="T10" fmla="*/ 3 w 15"/>
                  <a:gd name="T11" fmla="*/ 8 h 9"/>
                  <a:gd name="T12" fmla="*/ 5 w 15"/>
                  <a:gd name="T13" fmla="*/ 7 h 9"/>
                </a:gdLst>
                <a:ahLst/>
                <a:cxnLst>
                  <a:cxn ang="0">
                    <a:pos x="T0" y="T1"/>
                  </a:cxn>
                  <a:cxn ang="0">
                    <a:pos x="T2" y="T3"/>
                  </a:cxn>
                  <a:cxn ang="0">
                    <a:pos x="T4" y="T5"/>
                  </a:cxn>
                  <a:cxn ang="0">
                    <a:pos x="T6" y="T7"/>
                  </a:cxn>
                  <a:cxn ang="0">
                    <a:pos x="T8" y="T9"/>
                  </a:cxn>
                  <a:cxn ang="0">
                    <a:pos x="T10" y="T11"/>
                  </a:cxn>
                  <a:cxn ang="0">
                    <a:pos x="T12" y="T13"/>
                  </a:cxn>
                </a:cxnLst>
                <a:rect l="0" t="0" r="r" b="b"/>
                <a:pathLst>
                  <a:path w="15" h="9">
                    <a:moveTo>
                      <a:pt x="5" y="7"/>
                    </a:moveTo>
                    <a:cubicBezTo>
                      <a:pt x="6" y="7"/>
                      <a:pt x="6" y="7"/>
                      <a:pt x="7" y="6"/>
                    </a:cubicBezTo>
                    <a:cubicBezTo>
                      <a:pt x="8" y="6"/>
                      <a:pt x="10" y="6"/>
                      <a:pt x="12" y="5"/>
                    </a:cubicBezTo>
                    <a:cubicBezTo>
                      <a:pt x="15" y="4"/>
                      <a:pt x="14" y="2"/>
                      <a:pt x="12" y="1"/>
                    </a:cubicBezTo>
                    <a:cubicBezTo>
                      <a:pt x="11" y="0"/>
                      <a:pt x="6" y="4"/>
                      <a:pt x="3" y="6"/>
                    </a:cubicBezTo>
                    <a:cubicBezTo>
                      <a:pt x="0" y="9"/>
                      <a:pt x="3" y="8"/>
                      <a:pt x="3" y="8"/>
                    </a:cubicBezTo>
                    <a:cubicBezTo>
                      <a:pt x="3" y="7"/>
                      <a:pt x="5" y="7"/>
                      <a:pt x="5"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22" name="Freeform 305">
                <a:extLst>
                  <a:ext uri="{FF2B5EF4-FFF2-40B4-BE49-F238E27FC236}">
                    <a16:creationId xmlns:a16="http://schemas.microsoft.com/office/drawing/2014/main" id="{2F622D9E-BD17-4C3E-BBE3-72B44B45F0F2}"/>
                  </a:ext>
                </a:extLst>
              </p:cNvPr>
              <p:cNvSpPr>
                <a:spLocks/>
              </p:cNvSpPr>
              <p:nvPr/>
            </p:nvSpPr>
            <p:spPr bwMode="auto">
              <a:xfrm>
                <a:off x="1870" y="975"/>
                <a:ext cx="28" cy="19"/>
              </a:xfrm>
              <a:custGeom>
                <a:avLst/>
                <a:gdLst>
                  <a:gd name="T0" fmla="*/ 14 w 20"/>
                  <a:gd name="T1" fmla="*/ 6 h 14"/>
                  <a:gd name="T2" fmla="*/ 15 w 20"/>
                  <a:gd name="T3" fmla="*/ 5 h 14"/>
                  <a:gd name="T4" fmla="*/ 18 w 20"/>
                  <a:gd name="T5" fmla="*/ 3 h 14"/>
                  <a:gd name="T6" fmla="*/ 15 w 20"/>
                  <a:gd name="T7" fmla="*/ 0 h 14"/>
                  <a:gd name="T8" fmla="*/ 12 w 20"/>
                  <a:gd name="T9" fmla="*/ 2 h 14"/>
                  <a:gd name="T10" fmla="*/ 3 w 20"/>
                  <a:gd name="T11" fmla="*/ 11 h 14"/>
                  <a:gd name="T12" fmla="*/ 2 w 20"/>
                  <a:gd name="T13" fmla="*/ 14 h 14"/>
                  <a:gd name="T14" fmla="*/ 10 w 20"/>
                  <a:gd name="T15" fmla="*/ 12 h 14"/>
                  <a:gd name="T16" fmla="*/ 12 w 20"/>
                  <a:gd name="T17" fmla="*/ 8 h 14"/>
                  <a:gd name="T18" fmla="*/ 14 w 20"/>
                  <a:gd name="T19"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4">
                    <a:moveTo>
                      <a:pt x="14" y="6"/>
                    </a:moveTo>
                    <a:cubicBezTo>
                      <a:pt x="15" y="4"/>
                      <a:pt x="15" y="4"/>
                      <a:pt x="15" y="5"/>
                    </a:cubicBezTo>
                    <a:cubicBezTo>
                      <a:pt x="16" y="5"/>
                      <a:pt x="17" y="4"/>
                      <a:pt x="18" y="3"/>
                    </a:cubicBezTo>
                    <a:cubicBezTo>
                      <a:pt x="20" y="1"/>
                      <a:pt x="17" y="0"/>
                      <a:pt x="15" y="0"/>
                    </a:cubicBezTo>
                    <a:cubicBezTo>
                      <a:pt x="14" y="0"/>
                      <a:pt x="13" y="1"/>
                      <a:pt x="12" y="2"/>
                    </a:cubicBezTo>
                    <a:cubicBezTo>
                      <a:pt x="11" y="4"/>
                      <a:pt x="7" y="8"/>
                      <a:pt x="3" y="11"/>
                    </a:cubicBezTo>
                    <a:cubicBezTo>
                      <a:pt x="0" y="14"/>
                      <a:pt x="2" y="14"/>
                      <a:pt x="2" y="14"/>
                    </a:cubicBezTo>
                    <a:cubicBezTo>
                      <a:pt x="5" y="14"/>
                      <a:pt x="8" y="13"/>
                      <a:pt x="10" y="12"/>
                    </a:cubicBezTo>
                    <a:cubicBezTo>
                      <a:pt x="11" y="11"/>
                      <a:pt x="12" y="9"/>
                      <a:pt x="12" y="8"/>
                    </a:cubicBezTo>
                    <a:cubicBezTo>
                      <a:pt x="13" y="8"/>
                      <a:pt x="14" y="7"/>
                      <a:pt x="14"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23" name="Freeform 306">
                <a:extLst>
                  <a:ext uri="{FF2B5EF4-FFF2-40B4-BE49-F238E27FC236}">
                    <a16:creationId xmlns:a16="http://schemas.microsoft.com/office/drawing/2014/main" id="{3E12FD88-159D-40A9-8175-6FA6786BF0F9}"/>
                  </a:ext>
                </a:extLst>
              </p:cNvPr>
              <p:cNvSpPr>
                <a:spLocks/>
              </p:cNvSpPr>
              <p:nvPr/>
            </p:nvSpPr>
            <p:spPr bwMode="auto">
              <a:xfrm>
                <a:off x="1912" y="973"/>
                <a:ext cx="18" cy="11"/>
              </a:xfrm>
              <a:custGeom>
                <a:avLst/>
                <a:gdLst>
                  <a:gd name="T0" fmla="*/ 3 w 13"/>
                  <a:gd name="T1" fmla="*/ 7 h 8"/>
                  <a:gd name="T2" fmla="*/ 7 w 13"/>
                  <a:gd name="T3" fmla="*/ 8 h 8"/>
                  <a:gd name="T4" fmla="*/ 8 w 13"/>
                  <a:gd name="T5" fmla="*/ 6 h 8"/>
                  <a:gd name="T6" fmla="*/ 11 w 13"/>
                  <a:gd name="T7" fmla="*/ 3 h 8"/>
                  <a:gd name="T8" fmla="*/ 8 w 13"/>
                  <a:gd name="T9" fmla="*/ 1 h 8"/>
                  <a:gd name="T10" fmla="*/ 3 w 13"/>
                  <a:gd name="T11" fmla="*/ 0 h 8"/>
                  <a:gd name="T12" fmla="*/ 1 w 13"/>
                  <a:gd name="T13" fmla="*/ 2 h 8"/>
                  <a:gd name="T14" fmla="*/ 3 w 13"/>
                  <a:gd name="T15" fmla="*/ 7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8">
                    <a:moveTo>
                      <a:pt x="3" y="7"/>
                    </a:moveTo>
                    <a:cubicBezTo>
                      <a:pt x="5" y="8"/>
                      <a:pt x="5" y="7"/>
                      <a:pt x="7" y="8"/>
                    </a:cubicBezTo>
                    <a:cubicBezTo>
                      <a:pt x="8" y="8"/>
                      <a:pt x="8" y="8"/>
                      <a:pt x="8" y="6"/>
                    </a:cubicBezTo>
                    <a:cubicBezTo>
                      <a:pt x="8" y="5"/>
                      <a:pt x="9" y="4"/>
                      <a:pt x="11" y="3"/>
                    </a:cubicBezTo>
                    <a:cubicBezTo>
                      <a:pt x="13" y="2"/>
                      <a:pt x="9" y="1"/>
                      <a:pt x="8" y="1"/>
                    </a:cubicBezTo>
                    <a:cubicBezTo>
                      <a:pt x="7" y="0"/>
                      <a:pt x="5" y="0"/>
                      <a:pt x="3" y="0"/>
                    </a:cubicBezTo>
                    <a:cubicBezTo>
                      <a:pt x="0" y="0"/>
                      <a:pt x="1" y="2"/>
                      <a:pt x="1" y="2"/>
                    </a:cubicBezTo>
                    <a:cubicBezTo>
                      <a:pt x="0" y="5"/>
                      <a:pt x="2" y="7"/>
                      <a:pt x="3"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24" name="Freeform 307">
                <a:extLst>
                  <a:ext uri="{FF2B5EF4-FFF2-40B4-BE49-F238E27FC236}">
                    <a16:creationId xmlns:a16="http://schemas.microsoft.com/office/drawing/2014/main" id="{CCCF8973-8452-4870-8921-210C63FBA2A9}"/>
                  </a:ext>
                </a:extLst>
              </p:cNvPr>
              <p:cNvSpPr>
                <a:spLocks/>
              </p:cNvSpPr>
              <p:nvPr/>
            </p:nvSpPr>
            <p:spPr bwMode="auto">
              <a:xfrm>
                <a:off x="1954" y="998"/>
                <a:ext cx="12" cy="15"/>
              </a:xfrm>
              <a:custGeom>
                <a:avLst/>
                <a:gdLst>
                  <a:gd name="T0" fmla="*/ 8 w 9"/>
                  <a:gd name="T1" fmla="*/ 10 h 11"/>
                  <a:gd name="T2" fmla="*/ 9 w 9"/>
                  <a:gd name="T3" fmla="*/ 8 h 11"/>
                  <a:gd name="T4" fmla="*/ 8 w 9"/>
                  <a:gd name="T5" fmla="*/ 6 h 11"/>
                  <a:gd name="T6" fmla="*/ 6 w 9"/>
                  <a:gd name="T7" fmla="*/ 3 h 11"/>
                  <a:gd name="T8" fmla="*/ 4 w 9"/>
                  <a:gd name="T9" fmla="*/ 1 h 11"/>
                  <a:gd name="T10" fmla="*/ 2 w 9"/>
                  <a:gd name="T11" fmla="*/ 1 h 11"/>
                  <a:gd name="T12" fmla="*/ 2 w 9"/>
                  <a:gd name="T13" fmla="*/ 3 h 11"/>
                  <a:gd name="T14" fmla="*/ 5 w 9"/>
                  <a:gd name="T15" fmla="*/ 9 h 11"/>
                  <a:gd name="T16" fmla="*/ 8 w 9"/>
                  <a:gd name="T17" fmla="*/ 1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1">
                    <a:moveTo>
                      <a:pt x="8" y="10"/>
                    </a:moveTo>
                    <a:cubicBezTo>
                      <a:pt x="9" y="11"/>
                      <a:pt x="9" y="10"/>
                      <a:pt x="9" y="8"/>
                    </a:cubicBezTo>
                    <a:cubicBezTo>
                      <a:pt x="9" y="7"/>
                      <a:pt x="9" y="6"/>
                      <a:pt x="8" y="6"/>
                    </a:cubicBezTo>
                    <a:cubicBezTo>
                      <a:pt x="7" y="5"/>
                      <a:pt x="7" y="4"/>
                      <a:pt x="6" y="3"/>
                    </a:cubicBezTo>
                    <a:cubicBezTo>
                      <a:pt x="6" y="1"/>
                      <a:pt x="5" y="1"/>
                      <a:pt x="4" y="1"/>
                    </a:cubicBezTo>
                    <a:cubicBezTo>
                      <a:pt x="3" y="1"/>
                      <a:pt x="3" y="0"/>
                      <a:pt x="2" y="1"/>
                    </a:cubicBezTo>
                    <a:cubicBezTo>
                      <a:pt x="0" y="1"/>
                      <a:pt x="2" y="3"/>
                      <a:pt x="2" y="3"/>
                    </a:cubicBezTo>
                    <a:cubicBezTo>
                      <a:pt x="2" y="3"/>
                      <a:pt x="4" y="7"/>
                      <a:pt x="5" y="9"/>
                    </a:cubicBezTo>
                    <a:cubicBezTo>
                      <a:pt x="6" y="10"/>
                      <a:pt x="6" y="10"/>
                      <a:pt x="8"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25" name="Freeform 308">
                <a:extLst>
                  <a:ext uri="{FF2B5EF4-FFF2-40B4-BE49-F238E27FC236}">
                    <a16:creationId xmlns:a16="http://schemas.microsoft.com/office/drawing/2014/main" id="{A2A27CDC-7D7C-42BE-8FC2-706AAB3BFC8A}"/>
                  </a:ext>
                </a:extLst>
              </p:cNvPr>
              <p:cNvSpPr>
                <a:spLocks/>
              </p:cNvSpPr>
              <p:nvPr/>
            </p:nvSpPr>
            <p:spPr bwMode="auto">
              <a:xfrm>
                <a:off x="1915" y="1011"/>
                <a:ext cx="50" cy="41"/>
              </a:xfrm>
              <a:custGeom>
                <a:avLst/>
                <a:gdLst>
                  <a:gd name="T0" fmla="*/ 19 w 36"/>
                  <a:gd name="T1" fmla="*/ 2 h 30"/>
                  <a:gd name="T2" fmla="*/ 17 w 36"/>
                  <a:gd name="T3" fmla="*/ 2 h 30"/>
                  <a:gd name="T4" fmla="*/ 11 w 36"/>
                  <a:gd name="T5" fmla="*/ 3 h 30"/>
                  <a:gd name="T6" fmla="*/ 3 w 36"/>
                  <a:gd name="T7" fmla="*/ 10 h 30"/>
                  <a:gd name="T8" fmla="*/ 0 w 36"/>
                  <a:gd name="T9" fmla="*/ 20 h 30"/>
                  <a:gd name="T10" fmla="*/ 9 w 36"/>
                  <a:gd name="T11" fmla="*/ 29 h 30"/>
                  <a:gd name="T12" fmla="*/ 28 w 36"/>
                  <a:gd name="T13" fmla="*/ 26 h 30"/>
                  <a:gd name="T14" fmla="*/ 33 w 36"/>
                  <a:gd name="T15" fmla="*/ 14 h 30"/>
                  <a:gd name="T16" fmla="*/ 33 w 36"/>
                  <a:gd name="T17" fmla="*/ 9 h 30"/>
                  <a:gd name="T18" fmla="*/ 30 w 36"/>
                  <a:gd name="T19" fmla="*/ 4 h 30"/>
                  <a:gd name="T20" fmla="*/ 26 w 36"/>
                  <a:gd name="T21" fmla="*/ 3 h 30"/>
                  <a:gd name="T22" fmla="*/ 19 w 36"/>
                  <a:gd name="T23"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30">
                    <a:moveTo>
                      <a:pt x="19" y="2"/>
                    </a:moveTo>
                    <a:cubicBezTo>
                      <a:pt x="18" y="2"/>
                      <a:pt x="17" y="2"/>
                      <a:pt x="17" y="2"/>
                    </a:cubicBezTo>
                    <a:cubicBezTo>
                      <a:pt x="15" y="0"/>
                      <a:pt x="14" y="2"/>
                      <a:pt x="11" y="3"/>
                    </a:cubicBezTo>
                    <a:cubicBezTo>
                      <a:pt x="8" y="4"/>
                      <a:pt x="5" y="7"/>
                      <a:pt x="3" y="10"/>
                    </a:cubicBezTo>
                    <a:cubicBezTo>
                      <a:pt x="2" y="13"/>
                      <a:pt x="0" y="14"/>
                      <a:pt x="0" y="20"/>
                    </a:cubicBezTo>
                    <a:cubicBezTo>
                      <a:pt x="1" y="25"/>
                      <a:pt x="6" y="27"/>
                      <a:pt x="9" y="29"/>
                    </a:cubicBezTo>
                    <a:cubicBezTo>
                      <a:pt x="12" y="30"/>
                      <a:pt x="22" y="28"/>
                      <a:pt x="28" y="26"/>
                    </a:cubicBezTo>
                    <a:cubicBezTo>
                      <a:pt x="35" y="23"/>
                      <a:pt x="33" y="17"/>
                      <a:pt x="33" y="14"/>
                    </a:cubicBezTo>
                    <a:cubicBezTo>
                      <a:pt x="32" y="12"/>
                      <a:pt x="30" y="13"/>
                      <a:pt x="33" y="9"/>
                    </a:cubicBezTo>
                    <a:cubicBezTo>
                      <a:pt x="36" y="4"/>
                      <a:pt x="32" y="4"/>
                      <a:pt x="30" y="4"/>
                    </a:cubicBezTo>
                    <a:cubicBezTo>
                      <a:pt x="29" y="4"/>
                      <a:pt x="28" y="4"/>
                      <a:pt x="26" y="3"/>
                    </a:cubicBezTo>
                    <a:cubicBezTo>
                      <a:pt x="24" y="1"/>
                      <a:pt x="21" y="1"/>
                      <a:pt x="19"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26" name="Freeform 309">
                <a:extLst>
                  <a:ext uri="{FF2B5EF4-FFF2-40B4-BE49-F238E27FC236}">
                    <a16:creationId xmlns:a16="http://schemas.microsoft.com/office/drawing/2014/main" id="{585BCCAF-BD19-4392-900F-4ADB4047D75B}"/>
                  </a:ext>
                </a:extLst>
              </p:cNvPr>
              <p:cNvSpPr>
                <a:spLocks/>
              </p:cNvSpPr>
              <p:nvPr/>
            </p:nvSpPr>
            <p:spPr bwMode="auto">
              <a:xfrm>
                <a:off x="1966" y="1017"/>
                <a:ext cx="30" cy="17"/>
              </a:xfrm>
              <a:custGeom>
                <a:avLst/>
                <a:gdLst>
                  <a:gd name="T0" fmla="*/ 8 w 22"/>
                  <a:gd name="T1" fmla="*/ 10 h 12"/>
                  <a:gd name="T2" fmla="*/ 15 w 22"/>
                  <a:gd name="T3" fmla="*/ 10 h 12"/>
                  <a:gd name="T4" fmla="*/ 21 w 22"/>
                  <a:gd name="T5" fmla="*/ 9 h 12"/>
                  <a:gd name="T6" fmla="*/ 18 w 22"/>
                  <a:gd name="T7" fmla="*/ 5 h 12"/>
                  <a:gd name="T8" fmla="*/ 12 w 22"/>
                  <a:gd name="T9" fmla="*/ 2 h 12"/>
                  <a:gd name="T10" fmla="*/ 6 w 22"/>
                  <a:gd name="T11" fmla="*/ 1 h 12"/>
                  <a:gd name="T12" fmla="*/ 3 w 22"/>
                  <a:gd name="T13" fmla="*/ 4 h 12"/>
                  <a:gd name="T14" fmla="*/ 1 w 22"/>
                  <a:gd name="T15" fmla="*/ 7 h 12"/>
                  <a:gd name="T16" fmla="*/ 8 w 22"/>
                  <a:gd name="T17" fmla="*/ 1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12">
                    <a:moveTo>
                      <a:pt x="8" y="10"/>
                    </a:moveTo>
                    <a:cubicBezTo>
                      <a:pt x="10" y="10"/>
                      <a:pt x="13" y="10"/>
                      <a:pt x="15" y="10"/>
                    </a:cubicBezTo>
                    <a:cubicBezTo>
                      <a:pt x="17" y="10"/>
                      <a:pt x="22" y="12"/>
                      <a:pt x="21" y="9"/>
                    </a:cubicBezTo>
                    <a:cubicBezTo>
                      <a:pt x="21" y="6"/>
                      <a:pt x="21" y="5"/>
                      <a:pt x="18" y="5"/>
                    </a:cubicBezTo>
                    <a:cubicBezTo>
                      <a:pt x="15" y="5"/>
                      <a:pt x="15" y="3"/>
                      <a:pt x="12" y="2"/>
                    </a:cubicBezTo>
                    <a:cubicBezTo>
                      <a:pt x="9" y="1"/>
                      <a:pt x="7" y="0"/>
                      <a:pt x="6" y="1"/>
                    </a:cubicBezTo>
                    <a:cubicBezTo>
                      <a:pt x="6" y="2"/>
                      <a:pt x="4" y="4"/>
                      <a:pt x="3" y="4"/>
                    </a:cubicBezTo>
                    <a:cubicBezTo>
                      <a:pt x="2" y="4"/>
                      <a:pt x="0" y="4"/>
                      <a:pt x="1" y="7"/>
                    </a:cubicBezTo>
                    <a:cubicBezTo>
                      <a:pt x="3" y="10"/>
                      <a:pt x="6" y="11"/>
                      <a:pt x="8"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27" name="Freeform 310">
                <a:extLst>
                  <a:ext uri="{FF2B5EF4-FFF2-40B4-BE49-F238E27FC236}">
                    <a16:creationId xmlns:a16="http://schemas.microsoft.com/office/drawing/2014/main" id="{E81F1F11-3927-4391-97AD-FDC9D877A17F}"/>
                  </a:ext>
                </a:extLst>
              </p:cNvPr>
              <p:cNvSpPr>
                <a:spLocks/>
              </p:cNvSpPr>
              <p:nvPr/>
            </p:nvSpPr>
            <p:spPr bwMode="auto">
              <a:xfrm>
                <a:off x="1858" y="1392"/>
                <a:ext cx="7" cy="6"/>
              </a:xfrm>
              <a:custGeom>
                <a:avLst/>
                <a:gdLst>
                  <a:gd name="T0" fmla="*/ 1 w 5"/>
                  <a:gd name="T1" fmla="*/ 3 h 4"/>
                  <a:gd name="T2" fmla="*/ 3 w 5"/>
                  <a:gd name="T3" fmla="*/ 1 h 4"/>
                  <a:gd name="T4" fmla="*/ 0 w 5"/>
                  <a:gd name="T5" fmla="*/ 3 h 4"/>
                  <a:gd name="T6" fmla="*/ 1 w 5"/>
                  <a:gd name="T7" fmla="*/ 3 h 4"/>
                </a:gdLst>
                <a:ahLst/>
                <a:cxnLst>
                  <a:cxn ang="0">
                    <a:pos x="T0" y="T1"/>
                  </a:cxn>
                  <a:cxn ang="0">
                    <a:pos x="T2" y="T3"/>
                  </a:cxn>
                  <a:cxn ang="0">
                    <a:pos x="T4" y="T5"/>
                  </a:cxn>
                  <a:cxn ang="0">
                    <a:pos x="T6" y="T7"/>
                  </a:cxn>
                </a:cxnLst>
                <a:rect l="0" t="0" r="r" b="b"/>
                <a:pathLst>
                  <a:path w="5" h="4">
                    <a:moveTo>
                      <a:pt x="1" y="3"/>
                    </a:moveTo>
                    <a:cubicBezTo>
                      <a:pt x="3" y="1"/>
                      <a:pt x="5" y="0"/>
                      <a:pt x="3" y="1"/>
                    </a:cubicBezTo>
                    <a:cubicBezTo>
                      <a:pt x="1" y="2"/>
                      <a:pt x="0" y="2"/>
                      <a:pt x="0" y="3"/>
                    </a:cubicBezTo>
                    <a:cubicBezTo>
                      <a:pt x="0" y="3"/>
                      <a:pt x="0" y="4"/>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28" name="Freeform 311">
                <a:extLst>
                  <a:ext uri="{FF2B5EF4-FFF2-40B4-BE49-F238E27FC236}">
                    <a16:creationId xmlns:a16="http://schemas.microsoft.com/office/drawing/2014/main" id="{A794CD5A-7A5E-44D2-93B1-C39B848CFD56}"/>
                  </a:ext>
                </a:extLst>
              </p:cNvPr>
              <p:cNvSpPr>
                <a:spLocks/>
              </p:cNvSpPr>
              <p:nvPr/>
            </p:nvSpPr>
            <p:spPr bwMode="auto">
              <a:xfrm>
                <a:off x="1858" y="1382"/>
                <a:ext cx="25" cy="26"/>
              </a:xfrm>
              <a:custGeom>
                <a:avLst/>
                <a:gdLst>
                  <a:gd name="T0" fmla="*/ 15 w 18"/>
                  <a:gd name="T1" fmla="*/ 12 h 19"/>
                  <a:gd name="T2" fmla="*/ 17 w 18"/>
                  <a:gd name="T3" fmla="*/ 6 h 19"/>
                  <a:gd name="T4" fmla="*/ 14 w 18"/>
                  <a:gd name="T5" fmla="*/ 6 h 19"/>
                  <a:gd name="T6" fmla="*/ 11 w 18"/>
                  <a:gd name="T7" fmla="*/ 3 h 19"/>
                  <a:gd name="T8" fmla="*/ 9 w 18"/>
                  <a:gd name="T9" fmla="*/ 11 h 19"/>
                  <a:gd name="T10" fmla="*/ 8 w 18"/>
                  <a:gd name="T11" fmla="*/ 10 h 19"/>
                  <a:gd name="T12" fmla="*/ 9 w 18"/>
                  <a:gd name="T13" fmla="*/ 4 h 19"/>
                  <a:gd name="T14" fmla="*/ 9 w 18"/>
                  <a:gd name="T15" fmla="*/ 5 h 19"/>
                  <a:gd name="T16" fmla="*/ 7 w 18"/>
                  <a:gd name="T17" fmla="*/ 11 h 19"/>
                  <a:gd name="T18" fmla="*/ 2 w 18"/>
                  <a:gd name="T19" fmla="*/ 17 h 19"/>
                  <a:gd name="T20" fmla="*/ 3 w 18"/>
                  <a:gd name="T21" fmla="*/ 17 h 19"/>
                  <a:gd name="T22" fmla="*/ 8 w 18"/>
                  <a:gd name="T23" fmla="*/ 13 h 19"/>
                  <a:gd name="T24" fmla="*/ 8 w 18"/>
                  <a:gd name="T25" fmla="*/ 14 h 19"/>
                  <a:gd name="T26" fmla="*/ 6 w 18"/>
                  <a:gd name="T27" fmla="*/ 18 h 19"/>
                  <a:gd name="T28" fmla="*/ 11 w 18"/>
                  <a:gd name="T29" fmla="*/ 14 h 19"/>
                  <a:gd name="T30" fmla="*/ 14 w 18"/>
                  <a:gd name="T31" fmla="*/ 11 h 19"/>
                  <a:gd name="T32" fmla="*/ 13 w 18"/>
                  <a:gd name="T33" fmla="*/ 14 h 19"/>
                  <a:gd name="T34" fmla="*/ 14 w 18"/>
                  <a:gd name="T35" fmla="*/ 11 h 19"/>
                  <a:gd name="T36" fmla="*/ 15 w 18"/>
                  <a:gd name="T37" fmla="*/ 1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 h="19">
                    <a:moveTo>
                      <a:pt x="15" y="12"/>
                    </a:moveTo>
                    <a:cubicBezTo>
                      <a:pt x="15" y="11"/>
                      <a:pt x="18" y="7"/>
                      <a:pt x="17" y="6"/>
                    </a:cubicBezTo>
                    <a:cubicBezTo>
                      <a:pt x="16" y="6"/>
                      <a:pt x="15" y="7"/>
                      <a:pt x="14" y="6"/>
                    </a:cubicBezTo>
                    <a:cubicBezTo>
                      <a:pt x="14" y="5"/>
                      <a:pt x="11" y="0"/>
                      <a:pt x="11" y="3"/>
                    </a:cubicBezTo>
                    <a:cubicBezTo>
                      <a:pt x="11" y="6"/>
                      <a:pt x="10" y="11"/>
                      <a:pt x="9" y="11"/>
                    </a:cubicBezTo>
                    <a:cubicBezTo>
                      <a:pt x="7" y="11"/>
                      <a:pt x="8" y="11"/>
                      <a:pt x="8" y="10"/>
                    </a:cubicBezTo>
                    <a:cubicBezTo>
                      <a:pt x="9" y="8"/>
                      <a:pt x="9" y="5"/>
                      <a:pt x="9" y="4"/>
                    </a:cubicBezTo>
                    <a:cubicBezTo>
                      <a:pt x="9" y="4"/>
                      <a:pt x="9" y="3"/>
                      <a:pt x="9" y="5"/>
                    </a:cubicBezTo>
                    <a:cubicBezTo>
                      <a:pt x="9" y="8"/>
                      <a:pt x="8" y="10"/>
                      <a:pt x="7" y="11"/>
                    </a:cubicBezTo>
                    <a:cubicBezTo>
                      <a:pt x="6" y="11"/>
                      <a:pt x="0" y="15"/>
                      <a:pt x="2" y="17"/>
                    </a:cubicBezTo>
                    <a:cubicBezTo>
                      <a:pt x="2" y="17"/>
                      <a:pt x="2" y="19"/>
                      <a:pt x="3" y="17"/>
                    </a:cubicBezTo>
                    <a:cubicBezTo>
                      <a:pt x="5" y="15"/>
                      <a:pt x="7" y="13"/>
                      <a:pt x="8" y="13"/>
                    </a:cubicBezTo>
                    <a:cubicBezTo>
                      <a:pt x="9" y="12"/>
                      <a:pt x="10" y="13"/>
                      <a:pt x="8" y="14"/>
                    </a:cubicBezTo>
                    <a:cubicBezTo>
                      <a:pt x="6" y="16"/>
                      <a:pt x="3" y="19"/>
                      <a:pt x="6" y="18"/>
                    </a:cubicBezTo>
                    <a:cubicBezTo>
                      <a:pt x="9" y="17"/>
                      <a:pt x="10" y="17"/>
                      <a:pt x="11" y="14"/>
                    </a:cubicBezTo>
                    <a:cubicBezTo>
                      <a:pt x="12" y="12"/>
                      <a:pt x="14" y="9"/>
                      <a:pt x="14" y="11"/>
                    </a:cubicBezTo>
                    <a:cubicBezTo>
                      <a:pt x="13" y="13"/>
                      <a:pt x="12" y="16"/>
                      <a:pt x="13" y="14"/>
                    </a:cubicBezTo>
                    <a:cubicBezTo>
                      <a:pt x="15" y="12"/>
                      <a:pt x="13" y="12"/>
                      <a:pt x="14" y="11"/>
                    </a:cubicBezTo>
                    <a:cubicBezTo>
                      <a:pt x="15" y="10"/>
                      <a:pt x="14" y="14"/>
                      <a:pt x="15"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29" name="Freeform 312">
                <a:extLst>
                  <a:ext uri="{FF2B5EF4-FFF2-40B4-BE49-F238E27FC236}">
                    <a16:creationId xmlns:a16="http://schemas.microsoft.com/office/drawing/2014/main" id="{94255122-20A2-4F7F-9A3D-66F2B90535E5}"/>
                  </a:ext>
                </a:extLst>
              </p:cNvPr>
              <p:cNvSpPr>
                <a:spLocks/>
              </p:cNvSpPr>
              <p:nvPr/>
            </p:nvSpPr>
            <p:spPr bwMode="auto">
              <a:xfrm>
                <a:off x="1880" y="1391"/>
                <a:ext cx="6" cy="9"/>
              </a:xfrm>
              <a:custGeom>
                <a:avLst/>
                <a:gdLst>
                  <a:gd name="T0" fmla="*/ 2 w 4"/>
                  <a:gd name="T1" fmla="*/ 6 h 7"/>
                  <a:gd name="T2" fmla="*/ 4 w 4"/>
                  <a:gd name="T3" fmla="*/ 3 h 7"/>
                  <a:gd name="T4" fmla="*/ 3 w 4"/>
                  <a:gd name="T5" fmla="*/ 3 h 7"/>
                  <a:gd name="T6" fmla="*/ 2 w 4"/>
                  <a:gd name="T7" fmla="*/ 6 h 7"/>
                </a:gdLst>
                <a:ahLst/>
                <a:cxnLst>
                  <a:cxn ang="0">
                    <a:pos x="T0" y="T1"/>
                  </a:cxn>
                  <a:cxn ang="0">
                    <a:pos x="T2" y="T3"/>
                  </a:cxn>
                  <a:cxn ang="0">
                    <a:pos x="T4" y="T5"/>
                  </a:cxn>
                  <a:cxn ang="0">
                    <a:pos x="T6" y="T7"/>
                  </a:cxn>
                </a:cxnLst>
                <a:rect l="0" t="0" r="r" b="b"/>
                <a:pathLst>
                  <a:path w="4" h="7">
                    <a:moveTo>
                      <a:pt x="2" y="6"/>
                    </a:moveTo>
                    <a:cubicBezTo>
                      <a:pt x="3" y="5"/>
                      <a:pt x="4" y="5"/>
                      <a:pt x="4" y="3"/>
                    </a:cubicBezTo>
                    <a:cubicBezTo>
                      <a:pt x="4" y="1"/>
                      <a:pt x="4" y="0"/>
                      <a:pt x="3" y="3"/>
                    </a:cubicBezTo>
                    <a:cubicBezTo>
                      <a:pt x="3" y="3"/>
                      <a:pt x="0" y="7"/>
                      <a:pt x="2"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30" name="Freeform 313">
                <a:extLst>
                  <a:ext uri="{FF2B5EF4-FFF2-40B4-BE49-F238E27FC236}">
                    <a16:creationId xmlns:a16="http://schemas.microsoft.com/office/drawing/2014/main" id="{0B12261C-53D7-4D11-97C8-6776D6BCAC87}"/>
                  </a:ext>
                </a:extLst>
              </p:cNvPr>
              <p:cNvSpPr>
                <a:spLocks/>
              </p:cNvSpPr>
              <p:nvPr/>
            </p:nvSpPr>
            <p:spPr bwMode="auto">
              <a:xfrm>
                <a:off x="1815" y="1480"/>
                <a:ext cx="31" cy="16"/>
              </a:xfrm>
              <a:custGeom>
                <a:avLst/>
                <a:gdLst>
                  <a:gd name="T0" fmla="*/ 3 w 22"/>
                  <a:gd name="T1" fmla="*/ 5 h 12"/>
                  <a:gd name="T2" fmla="*/ 9 w 22"/>
                  <a:gd name="T3" fmla="*/ 8 h 12"/>
                  <a:gd name="T4" fmla="*/ 19 w 22"/>
                  <a:gd name="T5" fmla="*/ 11 h 12"/>
                  <a:gd name="T6" fmla="*/ 21 w 22"/>
                  <a:gd name="T7" fmla="*/ 9 h 12"/>
                  <a:gd name="T8" fmla="*/ 16 w 22"/>
                  <a:gd name="T9" fmla="*/ 2 h 12"/>
                  <a:gd name="T10" fmla="*/ 3 w 22"/>
                  <a:gd name="T11" fmla="*/ 3 h 12"/>
                  <a:gd name="T12" fmla="*/ 3 w 22"/>
                  <a:gd name="T13" fmla="*/ 5 h 12"/>
                </a:gdLst>
                <a:ahLst/>
                <a:cxnLst>
                  <a:cxn ang="0">
                    <a:pos x="T0" y="T1"/>
                  </a:cxn>
                  <a:cxn ang="0">
                    <a:pos x="T2" y="T3"/>
                  </a:cxn>
                  <a:cxn ang="0">
                    <a:pos x="T4" y="T5"/>
                  </a:cxn>
                  <a:cxn ang="0">
                    <a:pos x="T6" y="T7"/>
                  </a:cxn>
                  <a:cxn ang="0">
                    <a:pos x="T8" y="T9"/>
                  </a:cxn>
                  <a:cxn ang="0">
                    <a:pos x="T10" y="T11"/>
                  </a:cxn>
                  <a:cxn ang="0">
                    <a:pos x="T12" y="T13"/>
                  </a:cxn>
                </a:cxnLst>
                <a:rect l="0" t="0" r="r" b="b"/>
                <a:pathLst>
                  <a:path w="22" h="12">
                    <a:moveTo>
                      <a:pt x="3" y="5"/>
                    </a:moveTo>
                    <a:cubicBezTo>
                      <a:pt x="3" y="5"/>
                      <a:pt x="8" y="7"/>
                      <a:pt x="9" y="8"/>
                    </a:cubicBezTo>
                    <a:cubicBezTo>
                      <a:pt x="11" y="9"/>
                      <a:pt x="17" y="9"/>
                      <a:pt x="19" y="11"/>
                    </a:cubicBezTo>
                    <a:cubicBezTo>
                      <a:pt x="22" y="12"/>
                      <a:pt x="22" y="11"/>
                      <a:pt x="21" y="9"/>
                    </a:cubicBezTo>
                    <a:cubicBezTo>
                      <a:pt x="21" y="7"/>
                      <a:pt x="18" y="4"/>
                      <a:pt x="16" y="2"/>
                    </a:cubicBezTo>
                    <a:cubicBezTo>
                      <a:pt x="14" y="0"/>
                      <a:pt x="6" y="2"/>
                      <a:pt x="3" y="3"/>
                    </a:cubicBezTo>
                    <a:cubicBezTo>
                      <a:pt x="0" y="4"/>
                      <a:pt x="3" y="5"/>
                      <a:pt x="3"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31" name="Freeform 314">
                <a:extLst>
                  <a:ext uri="{FF2B5EF4-FFF2-40B4-BE49-F238E27FC236}">
                    <a16:creationId xmlns:a16="http://schemas.microsoft.com/office/drawing/2014/main" id="{7B33F0B0-2098-40C3-854D-7D5D4D41DD49}"/>
                  </a:ext>
                </a:extLst>
              </p:cNvPr>
              <p:cNvSpPr>
                <a:spLocks/>
              </p:cNvSpPr>
              <p:nvPr/>
            </p:nvSpPr>
            <p:spPr bwMode="auto">
              <a:xfrm>
                <a:off x="1866" y="1513"/>
                <a:ext cx="7" cy="4"/>
              </a:xfrm>
              <a:custGeom>
                <a:avLst/>
                <a:gdLst>
                  <a:gd name="T0" fmla="*/ 4 w 5"/>
                  <a:gd name="T1" fmla="*/ 1 h 3"/>
                  <a:gd name="T2" fmla="*/ 4 w 5"/>
                  <a:gd name="T3" fmla="*/ 0 h 3"/>
                  <a:gd name="T4" fmla="*/ 2 w 5"/>
                  <a:gd name="T5" fmla="*/ 2 h 3"/>
                  <a:gd name="T6" fmla="*/ 4 w 5"/>
                  <a:gd name="T7" fmla="*/ 1 h 3"/>
                </a:gdLst>
                <a:ahLst/>
                <a:cxnLst>
                  <a:cxn ang="0">
                    <a:pos x="T0" y="T1"/>
                  </a:cxn>
                  <a:cxn ang="0">
                    <a:pos x="T2" y="T3"/>
                  </a:cxn>
                  <a:cxn ang="0">
                    <a:pos x="T4" y="T5"/>
                  </a:cxn>
                  <a:cxn ang="0">
                    <a:pos x="T6" y="T7"/>
                  </a:cxn>
                </a:cxnLst>
                <a:rect l="0" t="0" r="r" b="b"/>
                <a:pathLst>
                  <a:path w="5" h="3">
                    <a:moveTo>
                      <a:pt x="4" y="1"/>
                    </a:moveTo>
                    <a:cubicBezTo>
                      <a:pt x="5" y="0"/>
                      <a:pt x="5" y="0"/>
                      <a:pt x="4" y="0"/>
                    </a:cubicBezTo>
                    <a:cubicBezTo>
                      <a:pt x="2" y="1"/>
                      <a:pt x="0" y="1"/>
                      <a:pt x="2" y="2"/>
                    </a:cubicBezTo>
                    <a:cubicBezTo>
                      <a:pt x="2" y="2"/>
                      <a:pt x="4" y="3"/>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32" name="Freeform 315">
                <a:extLst>
                  <a:ext uri="{FF2B5EF4-FFF2-40B4-BE49-F238E27FC236}">
                    <a16:creationId xmlns:a16="http://schemas.microsoft.com/office/drawing/2014/main" id="{D724231D-D87C-4DDC-95CB-F96D743DBAEF}"/>
                  </a:ext>
                </a:extLst>
              </p:cNvPr>
              <p:cNvSpPr>
                <a:spLocks/>
              </p:cNvSpPr>
              <p:nvPr/>
            </p:nvSpPr>
            <p:spPr bwMode="auto">
              <a:xfrm>
                <a:off x="1714" y="2257"/>
                <a:ext cx="6" cy="9"/>
              </a:xfrm>
              <a:custGeom>
                <a:avLst/>
                <a:gdLst>
                  <a:gd name="T0" fmla="*/ 3 w 4"/>
                  <a:gd name="T1" fmla="*/ 0 h 7"/>
                  <a:gd name="T2" fmla="*/ 1 w 4"/>
                  <a:gd name="T3" fmla="*/ 4 h 7"/>
                  <a:gd name="T4" fmla="*/ 2 w 4"/>
                  <a:gd name="T5" fmla="*/ 4 h 7"/>
                  <a:gd name="T6" fmla="*/ 4 w 4"/>
                  <a:gd name="T7" fmla="*/ 1 h 7"/>
                  <a:gd name="T8" fmla="*/ 3 w 4"/>
                  <a:gd name="T9" fmla="*/ 0 h 7"/>
                </a:gdLst>
                <a:ahLst/>
                <a:cxnLst>
                  <a:cxn ang="0">
                    <a:pos x="T0" y="T1"/>
                  </a:cxn>
                  <a:cxn ang="0">
                    <a:pos x="T2" y="T3"/>
                  </a:cxn>
                  <a:cxn ang="0">
                    <a:pos x="T4" y="T5"/>
                  </a:cxn>
                  <a:cxn ang="0">
                    <a:pos x="T6" y="T7"/>
                  </a:cxn>
                  <a:cxn ang="0">
                    <a:pos x="T8" y="T9"/>
                  </a:cxn>
                </a:cxnLst>
                <a:rect l="0" t="0" r="r" b="b"/>
                <a:pathLst>
                  <a:path w="4" h="7">
                    <a:moveTo>
                      <a:pt x="3" y="0"/>
                    </a:moveTo>
                    <a:cubicBezTo>
                      <a:pt x="2" y="1"/>
                      <a:pt x="1" y="2"/>
                      <a:pt x="1" y="4"/>
                    </a:cubicBezTo>
                    <a:cubicBezTo>
                      <a:pt x="0" y="7"/>
                      <a:pt x="2" y="4"/>
                      <a:pt x="2" y="4"/>
                    </a:cubicBezTo>
                    <a:cubicBezTo>
                      <a:pt x="2" y="4"/>
                      <a:pt x="3" y="2"/>
                      <a:pt x="4" y="1"/>
                    </a:cubicBezTo>
                    <a:cubicBezTo>
                      <a:pt x="4" y="0"/>
                      <a:pt x="4" y="0"/>
                      <a:pt x="3"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33" name="Freeform 316">
                <a:extLst>
                  <a:ext uri="{FF2B5EF4-FFF2-40B4-BE49-F238E27FC236}">
                    <a16:creationId xmlns:a16="http://schemas.microsoft.com/office/drawing/2014/main" id="{F391616B-B67B-4CFC-BC21-9CE466994566}"/>
                  </a:ext>
                </a:extLst>
              </p:cNvPr>
              <p:cNvSpPr>
                <a:spLocks/>
              </p:cNvSpPr>
              <p:nvPr/>
            </p:nvSpPr>
            <p:spPr bwMode="auto">
              <a:xfrm>
                <a:off x="1220" y="2292"/>
                <a:ext cx="4" cy="4"/>
              </a:xfrm>
              <a:custGeom>
                <a:avLst/>
                <a:gdLst>
                  <a:gd name="T0" fmla="*/ 1 w 3"/>
                  <a:gd name="T1" fmla="*/ 2 h 3"/>
                  <a:gd name="T2" fmla="*/ 2 w 3"/>
                  <a:gd name="T3" fmla="*/ 2 h 3"/>
                  <a:gd name="T4" fmla="*/ 1 w 3"/>
                  <a:gd name="T5" fmla="*/ 2 h 3"/>
                </a:gdLst>
                <a:ahLst/>
                <a:cxnLst>
                  <a:cxn ang="0">
                    <a:pos x="T0" y="T1"/>
                  </a:cxn>
                  <a:cxn ang="0">
                    <a:pos x="T2" y="T3"/>
                  </a:cxn>
                  <a:cxn ang="0">
                    <a:pos x="T4" y="T5"/>
                  </a:cxn>
                </a:cxnLst>
                <a:rect l="0" t="0" r="r" b="b"/>
                <a:pathLst>
                  <a:path w="3" h="3">
                    <a:moveTo>
                      <a:pt x="1" y="2"/>
                    </a:moveTo>
                    <a:cubicBezTo>
                      <a:pt x="1" y="2"/>
                      <a:pt x="3" y="3"/>
                      <a:pt x="2" y="2"/>
                    </a:cubicBezTo>
                    <a:cubicBezTo>
                      <a:pt x="2" y="0"/>
                      <a:pt x="0"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34" name="Freeform 317">
                <a:extLst>
                  <a:ext uri="{FF2B5EF4-FFF2-40B4-BE49-F238E27FC236}">
                    <a16:creationId xmlns:a16="http://schemas.microsoft.com/office/drawing/2014/main" id="{0B385A0E-B304-4ECF-8B92-A172993BD291}"/>
                  </a:ext>
                </a:extLst>
              </p:cNvPr>
              <p:cNvSpPr>
                <a:spLocks/>
              </p:cNvSpPr>
              <p:nvPr/>
            </p:nvSpPr>
            <p:spPr bwMode="auto">
              <a:xfrm>
                <a:off x="1195" y="2154"/>
                <a:ext cx="7" cy="20"/>
              </a:xfrm>
              <a:custGeom>
                <a:avLst/>
                <a:gdLst>
                  <a:gd name="T0" fmla="*/ 2 w 5"/>
                  <a:gd name="T1" fmla="*/ 7 h 15"/>
                  <a:gd name="T2" fmla="*/ 2 w 5"/>
                  <a:gd name="T3" fmla="*/ 3 h 15"/>
                  <a:gd name="T4" fmla="*/ 1 w 5"/>
                  <a:gd name="T5" fmla="*/ 9 h 15"/>
                  <a:gd name="T6" fmla="*/ 2 w 5"/>
                  <a:gd name="T7" fmla="*/ 11 h 15"/>
                  <a:gd name="T8" fmla="*/ 3 w 5"/>
                  <a:gd name="T9" fmla="*/ 12 h 15"/>
                  <a:gd name="T10" fmla="*/ 2 w 5"/>
                  <a:gd name="T11" fmla="*/ 7 h 15"/>
                </a:gdLst>
                <a:ahLst/>
                <a:cxnLst>
                  <a:cxn ang="0">
                    <a:pos x="T0" y="T1"/>
                  </a:cxn>
                  <a:cxn ang="0">
                    <a:pos x="T2" y="T3"/>
                  </a:cxn>
                  <a:cxn ang="0">
                    <a:pos x="T4" y="T5"/>
                  </a:cxn>
                  <a:cxn ang="0">
                    <a:pos x="T6" y="T7"/>
                  </a:cxn>
                  <a:cxn ang="0">
                    <a:pos x="T8" y="T9"/>
                  </a:cxn>
                  <a:cxn ang="0">
                    <a:pos x="T10" y="T11"/>
                  </a:cxn>
                </a:cxnLst>
                <a:rect l="0" t="0" r="r" b="b"/>
                <a:pathLst>
                  <a:path w="5" h="15">
                    <a:moveTo>
                      <a:pt x="2" y="7"/>
                    </a:moveTo>
                    <a:cubicBezTo>
                      <a:pt x="2" y="5"/>
                      <a:pt x="3" y="0"/>
                      <a:pt x="2" y="3"/>
                    </a:cubicBezTo>
                    <a:cubicBezTo>
                      <a:pt x="1" y="6"/>
                      <a:pt x="0" y="8"/>
                      <a:pt x="1" y="9"/>
                    </a:cubicBezTo>
                    <a:cubicBezTo>
                      <a:pt x="3" y="11"/>
                      <a:pt x="2" y="11"/>
                      <a:pt x="2" y="11"/>
                    </a:cubicBezTo>
                    <a:cubicBezTo>
                      <a:pt x="2" y="11"/>
                      <a:pt x="5" y="15"/>
                      <a:pt x="3" y="12"/>
                    </a:cubicBezTo>
                    <a:cubicBezTo>
                      <a:pt x="2" y="9"/>
                      <a:pt x="1" y="9"/>
                      <a:pt x="2"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35" name="Freeform 318">
                <a:extLst>
                  <a:ext uri="{FF2B5EF4-FFF2-40B4-BE49-F238E27FC236}">
                    <a16:creationId xmlns:a16="http://schemas.microsoft.com/office/drawing/2014/main" id="{7F58BCAA-66FA-420A-B537-0254FA7703C8}"/>
                  </a:ext>
                </a:extLst>
              </p:cNvPr>
              <p:cNvSpPr>
                <a:spLocks/>
              </p:cNvSpPr>
              <p:nvPr/>
            </p:nvSpPr>
            <p:spPr bwMode="auto">
              <a:xfrm>
                <a:off x="1228" y="2158"/>
                <a:ext cx="5" cy="8"/>
              </a:xfrm>
              <a:custGeom>
                <a:avLst/>
                <a:gdLst>
                  <a:gd name="T0" fmla="*/ 1 w 3"/>
                  <a:gd name="T1" fmla="*/ 4 h 6"/>
                  <a:gd name="T2" fmla="*/ 2 w 3"/>
                  <a:gd name="T3" fmla="*/ 4 h 6"/>
                  <a:gd name="T4" fmla="*/ 1 w 3"/>
                  <a:gd name="T5" fmla="*/ 4 h 6"/>
                </a:gdLst>
                <a:ahLst/>
                <a:cxnLst>
                  <a:cxn ang="0">
                    <a:pos x="T0" y="T1"/>
                  </a:cxn>
                  <a:cxn ang="0">
                    <a:pos x="T2" y="T3"/>
                  </a:cxn>
                  <a:cxn ang="0">
                    <a:pos x="T4" y="T5"/>
                  </a:cxn>
                </a:cxnLst>
                <a:rect l="0" t="0" r="r" b="b"/>
                <a:pathLst>
                  <a:path w="3" h="6">
                    <a:moveTo>
                      <a:pt x="1" y="4"/>
                    </a:moveTo>
                    <a:cubicBezTo>
                      <a:pt x="1" y="4"/>
                      <a:pt x="3" y="6"/>
                      <a:pt x="2" y="4"/>
                    </a:cubicBezTo>
                    <a:cubicBezTo>
                      <a:pt x="1" y="3"/>
                      <a:pt x="0" y="0"/>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36" name="Freeform 319">
                <a:extLst>
                  <a:ext uri="{FF2B5EF4-FFF2-40B4-BE49-F238E27FC236}">
                    <a16:creationId xmlns:a16="http://schemas.microsoft.com/office/drawing/2014/main" id="{EFE42258-BFC2-4387-92A9-71EB4AE75475}"/>
                  </a:ext>
                </a:extLst>
              </p:cNvPr>
              <p:cNvSpPr>
                <a:spLocks/>
              </p:cNvSpPr>
              <p:nvPr/>
            </p:nvSpPr>
            <p:spPr bwMode="auto">
              <a:xfrm>
                <a:off x="1235" y="2173"/>
                <a:ext cx="2" cy="3"/>
              </a:xfrm>
              <a:custGeom>
                <a:avLst/>
                <a:gdLst>
                  <a:gd name="T0" fmla="*/ 1 w 1"/>
                  <a:gd name="T1" fmla="*/ 1 h 2"/>
                  <a:gd name="T2" fmla="*/ 0 w 1"/>
                  <a:gd name="T3" fmla="*/ 0 h 2"/>
                  <a:gd name="T4" fmla="*/ 1 w 1"/>
                  <a:gd name="T5" fmla="*/ 1 h 2"/>
                </a:gdLst>
                <a:ahLst/>
                <a:cxnLst>
                  <a:cxn ang="0">
                    <a:pos x="T0" y="T1"/>
                  </a:cxn>
                  <a:cxn ang="0">
                    <a:pos x="T2" y="T3"/>
                  </a:cxn>
                  <a:cxn ang="0">
                    <a:pos x="T4" y="T5"/>
                  </a:cxn>
                </a:cxnLst>
                <a:rect l="0" t="0" r="r" b="b"/>
                <a:pathLst>
                  <a:path w="1" h="2">
                    <a:moveTo>
                      <a:pt x="1" y="1"/>
                    </a:moveTo>
                    <a:cubicBezTo>
                      <a:pt x="1" y="0"/>
                      <a:pt x="0" y="0"/>
                      <a:pt x="0" y="0"/>
                    </a:cubicBezTo>
                    <a:cubicBezTo>
                      <a:pt x="0" y="0"/>
                      <a:pt x="0" y="2"/>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37" name="Freeform 320">
                <a:extLst>
                  <a:ext uri="{FF2B5EF4-FFF2-40B4-BE49-F238E27FC236}">
                    <a16:creationId xmlns:a16="http://schemas.microsoft.com/office/drawing/2014/main" id="{E789F23C-E02F-4654-A93B-8AFCA3EBF35C}"/>
                  </a:ext>
                </a:extLst>
              </p:cNvPr>
              <p:cNvSpPr>
                <a:spLocks/>
              </p:cNvSpPr>
              <p:nvPr/>
            </p:nvSpPr>
            <p:spPr bwMode="auto">
              <a:xfrm>
                <a:off x="1133" y="2092"/>
                <a:ext cx="3" cy="3"/>
              </a:xfrm>
              <a:custGeom>
                <a:avLst/>
                <a:gdLst>
                  <a:gd name="T0" fmla="*/ 1 w 2"/>
                  <a:gd name="T1" fmla="*/ 1 h 2"/>
                  <a:gd name="T2" fmla="*/ 1 w 2"/>
                  <a:gd name="T3" fmla="*/ 2 h 2"/>
                  <a:gd name="T4" fmla="*/ 2 w 2"/>
                  <a:gd name="T5" fmla="*/ 1 h 2"/>
                  <a:gd name="T6" fmla="*/ 1 w 2"/>
                  <a:gd name="T7" fmla="*/ 1 h 2"/>
                </a:gdLst>
                <a:ahLst/>
                <a:cxnLst>
                  <a:cxn ang="0">
                    <a:pos x="T0" y="T1"/>
                  </a:cxn>
                  <a:cxn ang="0">
                    <a:pos x="T2" y="T3"/>
                  </a:cxn>
                  <a:cxn ang="0">
                    <a:pos x="T4" y="T5"/>
                  </a:cxn>
                  <a:cxn ang="0">
                    <a:pos x="T6" y="T7"/>
                  </a:cxn>
                </a:cxnLst>
                <a:rect l="0" t="0" r="r" b="b"/>
                <a:pathLst>
                  <a:path w="2" h="2">
                    <a:moveTo>
                      <a:pt x="1" y="1"/>
                    </a:moveTo>
                    <a:cubicBezTo>
                      <a:pt x="1" y="1"/>
                      <a:pt x="0" y="2"/>
                      <a:pt x="1" y="2"/>
                    </a:cubicBezTo>
                    <a:cubicBezTo>
                      <a:pt x="1" y="2"/>
                      <a:pt x="2" y="2"/>
                      <a:pt x="2" y="1"/>
                    </a:cubicBezTo>
                    <a:cubicBezTo>
                      <a:pt x="2" y="0"/>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38" name="Freeform 321">
                <a:extLst>
                  <a:ext uri="{FF2B5EF4-FFF2-40B4-BE49-F238E27FC236}">
                    <a16:creationId xmlns:a16="http://schemas.microsoft.com/office/drawing/2014/main" id="{67286E9B-88D8-4E01-9363-C0F74F3DAAE9}"/>
                  </a:ext>
                </a:extLst>
              </p:cNvPr>
              <p:cNvSpPr>
                <a:spLocks/>
              </p:cNvSpPr>
              <p:nvPr/>
            </p:nvSpPr>
            <p:spPr bwMode="auto">
              <a:xfrm>
                <a:off x="1071" y="2069"/>
                <a:ext cx="3" cy="6"/>
              </a:xfrm>
              <a:custGeom>
                <a:avLst/>
                <a:gdLst>
                  <a:gd name="T0" fmla="*/ 1 w 2"/>
                  <a:gd name="T1" fmla="*/ 2 h 5"/>
                  <a:gd name="T2" fmla="*/ 1 w 2"/>
                  <a:gd name="T3" fmla="*/ 5 h 5"/>
                  <a:gd name="T4" fmla="*/ 1 w 2"/>
                  <a:gd name="T5" fmla="*/ 2 h 5"/>
                </a:gdLst>
                <a:ahLst/>
                <a:cxnLst>
                  <a:cxn ang="0">
                    <a:pos x="T0" y="T1"/>
                  </a:cxn>
                  <a:cxn ang="0">
                    <a:pos x="T2" y="T3"/>
                  </a:cxn>
                  <a:cxn ang="0">
                    <a:pos x="T4" y="T5"/>
                  </a:cxn>
                </a:cxnLst>
                <a:rect l="0" t="0" r="r" b="b"/>
                <a:pathLst>
                  <a:path w="2" h="5">
                    <a:moveTo>
                      <a:pt x="1" y="2"/>
                    </a:moveTo>
                    <a:cubicBezTo>
                      <a:pt x="0" y="4"/>
                      <a:pt x="1" y="5"/>
                      <a:pt x="1" y="5"/>
                    </a:cubicBezTo>
                    <a:cubicBezTo>
                      <a:pt x="1" y="5"/>
                      <a:pt x="2"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39" name="Freeform 322">
                <a:extLst>
                  <a:ext uri="{FF2B5EF4-FFF2-40B4-BE49-F238E27FC236}">
                    <a16:creationId xmlns:a16="http://schemas.microsoft.com/office/drawing/2014/main" id="{7AD3A171-BD42-40DB-994E-1593FD206DBD}"/>
                  </a:ext>
                </a:extLst>
              </p:cNvPr>
              <p:cNvSpPr>
                <a:spLocks/>
              </p:cNvSpPr>
              <p:nvPr/>
            </p:nvSpPr>
            <p:spPr bwMode="auto">
              <a:xfrm>
                <a:off x="1169" y="2062"/>
                <a:ext cx="10" cy="12"/>
              </a:xfrm>
              <a:custGeom>
                <a:avLst/>
                <a:gdLst>
                  <a:gd name="T0" fmla="*/ 5 w 7"/>
                  <a:gd name="T1" fmla="*/ 4 h 9"/>
                  <a:gd name="T2" fmla="*/ 3 w 7"/>
                  <a:gd name="T3" fmla="*/ 3 h 9"/>
                  <a:gd name="T4" fmla="*/ 1 w 7"/>
                  <a:gd name="T5" fmla="*/ 0 h 9"/>
                  <a:gd name="T6" fmla="*/ 0 w 7"/>
                  <a:gd name="T7" fmla="*/ 2 h 9"/>
                  <a:gd name="T8" fmla="*/ 6 w 7"/>
                  <a:gd name="T9" fmla="*/ 8 h 9"/>
                  <a:gd name="T10" fmla="*/ 7 w 7"/>
                  <a:gd name="T11" fmla="*/ 7 h 9"/>
                  <a:gd name="T12" fmla="*/ 5 w 7"/>
                  <a:gd name="T13" fmla="*/ 4 h 9"/>
                </a:gdLst>
                <a:ahLst/>
                <a:cxnLst>
                  <a:cxn ang="0">
                    <a:pos x="T0" y="T1"/>
                  </a:cxn>
                  <a:cxn ang="0">
                    <a:pos x="T2" y="T3"/>
                  </a:cxn>
                  <a:cxn ang="0">
                    <a:pos x="T4" y="T5"/>
                  </a:cxn>
                  <a:cxn ang="0">
                    <a:pos x="T6" y="T7"/>
                  </a:cxn>
                  <a:cxn ang="0">
                    <a:pos x="T8" y="T9"/>
                  </a:cxn>
                  <a:cxn ang="0">
                    <a:pos x="T10" y="T11"/>
                  </a:cxn>
                  <a:cxn ang="0">
                    <a:pos x="T12" y="T13"/>
                  </a:cxn>
                </a:cxnLst>
                <a:rect l="0" t="0" r="r" b="b"/>
                <a:pathLst>
                  <a:path w="7" h="9">
                    <a:moveTo>
                      <a:pt x="5" y="4"/>
                    </a:moveTo>
                    <a:cubicBezTo>
                      <a:pt x="4" y="4"/>
                      <a:pt x="3" y="4"/>
                      <a:pt x="3" y="3"/>
                    </a:cubicBezTo>
                    <a:cubicBezTo>
                      <a:pt x="3" y="2"/>
                      <a:pt x="2" y="0"/>
                      <a:pt x="1" y="0"/>
                    </a:cubicBezTo>
                    <a:cubicBezTo>
                      <a:pt x="0" y="0"/>
                      <a:pt x="0" y="0"/>
                      <a:pt x="0" y="2"/>
                    </a:cubicBezTo>
                    <a:cubicBezTo>
                      <a:pt x="1" y="3"/>
                      <a:pt x="2" y="5"/>
                      <a:pt x="6" y="8"/>
                    </a:cubicBezTo>
                    <a:cubicBezTo>
                      <a:pt x="6" y="8"/>
                      <a:pt x="7" y="9"/>
                      <a:pt x="7" y="7"/>
                    </a:cubicBezTo>
                    <a:cubicBezTo>
                      <a:pt x="6" y="4"/>
                      <a:pt x="6" y="4"/>
                      <a:pt x="5"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40" name="Freeform 323">
                <a:extLst>
                  <a:ext uri="{FF2B5EF4-FFF2-40B4-BE49-F238E27FC236}">
                    <a16:creationId xmlns:a16="http://schemas.microsoft.com/office/drawing/2014/main" id="{72B83BB9-352C-450D-9F56-0D40DA3B5DDF}"/>
                  </a:ext>
                </a:extLst>
              </p:cNvPr>
              <p:cNvSpPr>
                <a:spLocks/>
              </p:cNvSpPr>
              <p:nvPr/>
            </p:nvSpPr>
            <p:spPr bwMode="auto">
              <a:xfrm>
                <a:off x="1191" y="2069"/>
                <a:ext cx="7" cy="12"/>
              </a:xfrm>
              <a:custGeom>
                <a:avLst/>
                <a:gdLst>
                  <a:gd name="T0" fmla="*/ 2 w 5"/>
                  <a:gd name="T1" fmla="*/ 1 h 9"/>
                  <a:gd name="T2" fmla="*/ 0 w 5"/>
                  <a:gd name="T3" fmla="*/ 4 h 9"/>
                  <a:gd name="T4" fmla="*/ 1 w 5"/>
                  <a:gd name="T5" fmla="*/ 7 h 9"/>
                  <a:gd name="T6" fmla="*/ 4 w 5"/>
                  <a:gd name="T7" fmla="*/ 7 h 9"/>
                  <a:gd name="T8" fmla="*/ 4 w 5"/>
                  <a:gd name="T9" fmla="*/ 1 h 9"/>
                  <a:gd name="T10" fmla="*/ 2 w 5"/>
                  <a:gd name="T11" fmla="*/ 1 h 9"/>
                </a:gdLst>
                <a:ahLst/>
                <a:cxnLst>
                  <a:cxn ang="0">
                    <a:pos x="T0" y="T1"/>
                  </a:cxn>
                  <a:cxn ang="0">
                    <a:pos x="T2" y="T3"/>
                  </a:cxn>
                  <a:cxn ang="0">
                    <a:pos x="T4" y="T5"/>
                  </a:cxn>
                  <a:cxn ang="0">
                    <a:pos x="T6" y="T7"/>
                  </a:cxn>
                  <a:cxn ang="0">
                    <a:pos x="T8" y="T9"/>
                  </a:cxn>
                  <a:cxn ang="0">
                    <a:pos x="T10" y="T11"/>
                  </a:cxn>
                </a:cxnLst>
                <a:rect l="0" t="0" r="r" b="b"/>
                <a:pathLst>
                  <a:path w="5" h="9">
                    <a:moveTo>
                      <a:pt x="2" y="1"/>
                    </a:moveTo>
                    <a:cubicBezTo>
                      <a:pt x="1" y="1"/>
                      <a:pt x="1" y="3"/>
                      <a:pt x="0" y="4"/>
                    </a:cubicBezTo>
                    <a:cubicBezTo>
                      <a:pt x="0" y="6"/>
                      <a:pt x="0" y="6"/>
                      <a:pt x="1" y="7"/>
                    </a:cubicBezTo>
                    <a:cubicBezTo>
                      <a:pt x="1" y="7"/>
                      <a:pt x="3" y="9"/>
                      <a:pt x="4" y="7"/>
                    </a:cubicBezTo>
                    <a:cubicBezTo>
                      <a:pt x="5" y="5"/>
                      <a:pt x="4" y="2"/>
                      <a:pt x="4" y="1"/>
                    </a:cubicBezTo>
                    <a:cubicBezTo>
                      <a:pt x="4" y="1"/>
                      <a:pt x="3"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41" name="Freeform 324">
                <a:extLst>
                  <a:ext uri="{FF2B5EF4-FFF2-40B4-BE49-F238E27FC236}">
                    <a16:creationId xmlns:a16="http://schemas.microsoft.com/office/drawing/2014/main" id="{A0280E0A-22F8-4E11-A2D0-60FB8574CB13}"/>
                  </a:ext>
                </a:extLst>
              </p:cNvPr>
              <p:cNvSpPr>
                <a:spLocks/>
              </p:cNvSpPr>
              <p:nvPr/>
            </p:nvSpPr>
            <p:spPr bwMode="auto">
              <a:xfrm>
                <a:off x="1097" y="1990"/>
                <a:ext cx="624" cy="393"/>
              </a:xfrm>
              <a:custGeom>
                <a:avLst/>
                <a:gdLst>
                  <a:gd name="T0" fmla="*/ 433 w 451"/>
                  <a:gd name="T1" fmla="*/ 230 h 286"/>
                  <a:gd name="T2" fmla="*/ 441 w 451"/>
                  <a:gd name="T3" fmla="*/ 211 h 286"/>
                  <a:gd name="T4" fmla="*/ 443 w 451"/>
                  <a:gd name="T5" fmla="*/ 196 h 286"/>
                  <a:gd name="T6" fmla="*/ 441 w 451"/>
                  <a:gd name="T7" fmla="*/ 179 h 286"/>
                  <a:gd name="T8" fmla="*/ 396 w 451"/>
                  <a:gd name="T9" fmla="*/ 192 h 286"/>
                  <a:gd name="T10" fmla="*/ 382 w 451"/>
                  <a:gd name="T11" fmla="*/ 220 h 286"/>
                  <a:gd name="T12" fmla="*/ 375 w 451"/>
                  <a:gd name="T13" fmla="*/ 227 h 286"/>
                  <a:gd name="T14" fmla="*/ 363 w 451"/>
                  <a:gd name="T15" fmla="*/ 225 h 286"/>
                  <a:gd name="T16" fmla="*/ 328 w 451"/>
                  <a:gd name="T17" fmla="*/ 225 h 286"/>
                  <a:gd name="T18" fmla="*/ 314 w 451"/>
                  <a:gd name="T19" fmla="*/ 224 h 286"/>
                  <a:gd name="T20" fmla="*/ 294 w 451"/>
                  <a:gd name="T21" fmla="*/ 187 h 286"/>
                  <a:gd name="T22" fmla="*/ 293 w 451"/>
                  <a:gd name="T23" fmla="*/ 177 h 286"/>
                  <a:gd name="T24" fmla="*/ 288 w 451"/>
                  <a:gd name="T25" fmla="*/ 128 h 286"/>
                  <a:gd name="T26" fmla="*/ 292 w 451"/>
                  <a:gd name="T27" fmla="*/ 118 h 286"/>
                  <a:gd name="T28" fmla="*/ 293 w 451"/>
                  <a:gd name="T29" fmla="*/ 111 h 286"/>
                  <a:gd name="T30" fmla="*/ 268 w 451"/>
                  <a:gd name="T31" fmla="*/ 103 h 286"/>
                  <a:gd name="T32" fmla="*/ 255 w 451"/>
                  <a:gd name="T33" fmla="*/ 79 h 286"/>
                  <a:gd name="T34" fmla="*/ 226 w 451"/>
                  <a:gd name="T35" fmla="*/ 48 h 286"/>
                  <a:gd name="T36" fmla="*/ 210 w 451"/>
                  <a:gd name="T37" fmla="*/ 58 h 286"/>
                  <a:gd name="T38" fmla="*/ 181 w 451"/>
                  <a:gd name="T39" fmla="*/ 37 h 286"/>
                  <a:gd name="T40" fmla="*/ 156 w 451"/>
                  <a:gd name="T41" fmla="*/ 16 h 286"/>
                  <a:gd name="T42" fmla="*/ 87 w 451"/>
                  <a:gd name="T43" fmla="*/ 22 h 286"/>
                  <a:gd name="T44" fmla="*/ 2 w 451"/>
                  <a:gd name="T45" fmla="*/ 9 h 286"/>
                  <a:gd name="T46" fmla="*/ 19 w 451"/>
                  <a:gd name="T47" fmla="*/ 40 h 286"/>
                  <a:gd name="T48" fmla="*/ 43 w 451"/>
                  <a:gd name="T49" fmla="*/ 76 h 286"/>
                  <a:gd name="T50" fmla="*/ 46 w 451"/>
                  <a:gd name="T51" fmla="*/ 81 h 286"/>
                  <a:gd name="T52" fmla="*/ 46 w 451"/>
                  <a:gd name="T53" fmla="*/ 83 h 286"/>
                  <a:gd name="T54" fmla="*/ 36 w 451"/>
                  <a:gd name="T55" fmla="*/ 87 h 286"/>
                  <a:gd name="T56" fmla="*/ 57 w 451"/>
                  <a:gd name="T57" fmla="*/ 96 h 286"/>
                  <a:gd name="T58" fmla="*/ 74 w 451"/>
                  <a:gd name="T59" fmla="*/ 118 h 286"/>
                  <a:gd name="T60" fmla="*/ 79 w 451"/>
                  <a:gd name="T61" fmla="*/ 131 h 286"/>
                  <a:gd name="T62" fmla="*/ 108 w 451"/>
                  <a:gd name="T63" fmla="*/ 157 h 286"/>
                  <a:gd name="T64" fmla="*/ 107 w 451"/>
                  <a:gd name="T65" fmla="*/ 140 h 286"/>
                  <a:gd name="T66" fmla="*/ 95 w 451"/>
                  <a:gd name="T67" fmla="*/ 134 h 286"/>
                  <a:gd name="T68" fmla="*/ 87 w 451"/>
                  <a:gd name="T69" fmla="*/ 109 h 286"/>
                  <a:gd name="T70" fmla="*/ 74 w 451"/>
                  <a:gd name="T71" fmla="*/ 91 h 286"/>
                  <a:gd name="T72" fmla="*/ 55 w 451"/>
                  <a:gd name="T73" fmla="*/ 63 h 286"/>
                  <a:gd name="T74" fmla="*/ 37 w 451"/>
                  <a:gd name="T75" fmla="*/ 40 h 286"/>
                  <a:gd name="T76" fmla="*/ 42 w 451"/>
                  <a:gd name="T77" fmla="*/ 19 h 286"/>
                  <a:gd name="T78" fmla="*/ 60 w 451"/>
                  <a:gd name="T79" fmla="*/ 34 h 286"/>
                  <a:gd name="T80" fmla="*/ 90 w 451"/>
                  <a:gd name="T81" fmla="*/ 78 h 286"/>
                  <a:gd name="T82" fmla="*/ 106 w 451"/>
                  <a:gd name="T83" fmla="*/ 93 h 286"/>
                  <a:gd name="T84" fmla="*/ 114 w 451"/>
                  <a:gd name="T85" fmla="*/ 111 h 286"/>
                  <a:gd name="T86" fmla="*/ 118 w 451"/>
                  <a:gd name="T87" fmla="*/ 115 h 286"/>
                  <a:gd name="T88" fmla="*/ 138 w 451"/>
                  <a:gd name="T89" fmla="*/ 132 h 286"/>
                  <a:gd name="T90" fmla="*/ 156 w 451"/>
                  <a:gd name="T91" fmla="*/ 149 h 286"/>
                  <a:gd name="T92" fmla="*/ 174 w 451"/>
                  <a:gd name="T93" fmla="*/ 189 h 286"/>
                  <a:gd name="T94" fmla="*/ 170 w 451"/>
                  <a:gd name="T95" fmla="*/ 197 h 286"/>
                  <a:gd name="T96" fmla="*/ 222 w 451"/>
                  <a:gd name="T97" fmla="*/ 235 h 286"/>
                  <a:gd name="T98" fmla="*/ 274 w 451"/>
                  <a:gd name="T99" fmla="*/ 258 h 286"/>
                  <a:gd name="T100" fmla="*/ 315 w 451"/>
                  <a:gd name="T101" fmla="*/ 267 h 286"/>
                  <a:gd name="T102" fmla="*/ 331 w 451"/>
                  <a:gd name="T103" fmla="*/ 259 h 286"/>
                  <a:gd name="T104" fmla="*/ 342 w 451"/>
                  <a:gd name="T105" fmla="*/ 263 h 286"/>
                  <a:gd name="T106" fmla="*/ 362 w 451"/>
                  <a:gd name="T107" fmla="*/ 279 h 286"/>
                  <a:gd name="T108" fmla="*/ 371 w 451"/>
                  <a:gd name="T109" fmla="*/ 277 h 286"/>
                  <a:gd name="T110" fmla="*/ 382 w 451"/>
                  <a:gd name="T111" fmla="*/ 246 h 286"/>
                  <a:gd name="T112" fmla="*/ 415 w 451"/>
                  <a:gd name="T113" fmla="*/ 23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51" h="286">
                    <a:moveTo>
                      <a:pt x="427" y="226"/>
                    </a:moveTo>
                    <a:cubicBezTo>
                      <a:pt x="427" y="226"/>
                      <a:pt x="427" y="226"/>
                      <a:pt x="428" y="226"/>
                    </a:cubicBezTo>
                    <a:cubicBezTo>
                      <a:pt x="429" y="223"/>
                      <a:pt x="430" y="222"/>
                      <a:pt x="431" y="222"/>
                    </a:cubicBezTo>
                    <a:cubicBezTo>
                      <a:pt x="431" y="221"/>
                      <a:pt x="431" y="221"/>
                      <a:pt x="431" y="224"/>
                    </a:cubicBezTo>
                    <a:cubicBezTo>
                      <a:pt x="431" y="226"/>
                      <a:pt x="432" y="229"/>
                      <a:pt x="433" y="230"/>
                    </a:cubicBezTo>
                    <a:cubicBezTo>
                      <a:pt x="434" y="231"/>
                      <a:pt x="435" y="232"/>
                      <a:pt x="435" y="230"/>
                    </a:cubicBezTo>
                    <a:cubicBezTo>
                      <a:pt x="435" y="227"/>
                      <a:pt x="436" y="224"/>
                      <a:pt x="437" y="220"/>
                    </a:cubicBezTo>
                    <a:cubicBezTo>
                      <a:pt x="439" y="217"/>
                      <a:pt x="441" y="213"/>
                      <a:pt x="439" y="214"/>
                    </a:cubicBezTo>
                    <a:cubicBezTo>
                      <a:pt x="438" y="214"/>
                      <a:pt x="437" y="215"/>
                      <a:pt x="438" y="213"/>
                    </a:cubicBezTo>
                    <a:cubicBezTo>
                      <a:pt x="440" y="210"/>
                      <a:pt x="440" y="212"/>
                      <a:pt x="441" y="211"/>
                    </a:cubicBezTo>
                    <a:cubicBezTo>
                      <a:pt x="441" y="210"/>
                      <a:pt x="442" y="209"/>
                      <a:pt x="440" y="210"/>
                    </a:cubicBezTo>
                    <a:cubicBezTo>
                      <a:pt x="438" y="210"/>
                      <a:pt x="436" y="210"/>
                      <a:pt x="436" y="208"/>
                    </a:cubicBezTo>
                    <a:cubicBezTo>
                      <a:pt x="436" y="207"/>
                      <a:pt x="437" y="207"/>
                      <a:pt x="438" y="207"/>
                    </a:cubicBezTo>
                    <a:cubicBezTo>
                      <a:pt x="439" y="206"/>
                      <a:pt x="440" y="205"/>
                      <a:pt x="440" y="204"/>
                    </a:cubicBezTo>
                    <a:cubicBezTo>
                      <a:pt x="440" y="202"/>
                      <a:pt x="440" y="199"/>
                      <a:pt x="443" y="196"/>
                    </a:cubicBezTo>
                    <a:cubicBezTo>
                      <a:pt x="446" y="193"/>
                      <a:pt x="449" y="190"/>
                      <a:pt x="449" y="188"/>
                    </a:cubicBezTo>
                    <a:cubicBezTo>
                      <a:pt x="450" y="186"/>
                      <a:pt x="451" y="185"/>
                      <a:pt x="450" y="183"/>
                    </a:cubicBezTo>
                    <a:cubicBezTo>
                      <a:pt x="450" y="181"/>
                      <a:pt x="448" y="179"/>
                      <a:pt x="447" y="179"/>
                    </a:cubicBezTo>
                    <a:cubicBezTo>
                      <a:pt x="445" y="179"/>
                      <a:pt x="444" y="179"/>
                      <a:pt x="443" y="179"/>
                    </a:cubicBezTo>
                    <a:cubicBezTo>
                      <a:pt x="442" y="179"/>
                      <a:pt x="442" y="178"/>
                      <a:pt x="441" y="179"/>
                    </a:cubicBezTo>
                    <a:cubicBezTo>
                      <a:pt x="440" y="180"/>
                      <a:pt x="440" y="180"/>
                      <a:pt x="439" y="180"/>
                    </a:cubicBezTo>
                    <a:cubicBezTo>
                      <a:pt x="439" y="180"/>
                      <a:pt x="427" y="177"/>
                      <a:pt x="420" y="181"/>
                    </a:cubicBezTo>
                    <a:cubicBezTo>
                      <a:pt x="420" y="181"/>
                      <a:pt x="417" y="182"/>
                      <a:pt x="411" y="183"/>
                    </a:cubicBezTo>
                    <a:cubicBezTo>
                      <a:pt x="405" y="183"/>
                      <a:pt x="403" y="184"/>
                      <a:pt x="401" y="185"/>
                    </a:cubicBezTo>
                    <a:cubicBezTo>
                      <a:pt x="399" y="187"/>
                      <a:pt x="396" y="188"/>
                      <a:pt x="396" y="192"/>
                    </a:cubicBezTo>
                    <a:cubicBezTo>
                      <a:pt x="396" y="196"/>
                      <a:pt x="395" y="195"/>
                      <a:pt x="395" y="198"/>
                    </a:cubicBezTo>
                    <a:cubicBezTo>
                      <a:pt x="396" y="202"/>
                      <a:pt x="395" y="202"/>
                      <a:pt x="394" y="204"/>
                    </a:cubicBezTo>
                    <a:cubicBezTo>
                      <a:pt x="393" y="206"/>
                      <a:pt x="392" y="208"/>
                      <a:pt x="392" y="209"/>
                    </a:cubicBezTo>
                    <a:cubicBezTo>
                      <a:pt x="392" y="211"/>
                      <a:pt x="392" y="214"/>
                      <a:pt x="388" y="216"/>
                    </a:cubicBezTo>
                    <a:cubicBezTo>
                      <a:pt x="385" y="218"/>
                      <a:pt x="380" y="220"/>
                      <a:pt x="382" y="220"/>
                    </a:cubicBezTo>
                    <a:cubicBezTo>
                      <a:pt x="384" y="220"/>
                      <a:pt x="384" y="220"/>
                      <a:pt x="383" y="221"/>
                    </a:cubicBezTo>
                    <a:cubicBezTo>
                      <a:pt x="382" y="223"/>
                      <a:pt x="382" y="222"/>
                      <a:pt x="383" y="223"/>
                    </a:cubicBezTo>
                    <a:cubicBezTo>
                      <a:pt x="384" y="223"/>
                      <a:pt x="384" y="223"/>
                      <a:pt x="383" y="224"/>
                    </a:cubicBezTo>
                    <a:cubicBezTo>
                      <a:pt x="383" y="224"/>
                      <a:pt x="385" y="224"/>
                      <a:pt x="383" y="225"/>
                    </a:cubicBezTo>
                    <a:cubicBezTo>
                      <a:pt x="380" y="226"/>
                      <a:pt x="376" y="228"/>
                      <a:pt x="375" y="227"/>
                    </a:cubicBezTo>
                    <a:cubicBezTo>
                      <a:pt x="374" y="226"/>
                      <a:pt x="372" y="224"/>
                      <a:pt x="374" y="224"/>
                    </a:cubicBezTo>
                    <a:cubicBezTo>
                      <a:pt x="375" y="225"/>
                      <a:pt x="375" y="224"/>
                      <a:pt x="373" y="223"/>
                    </a:cubicBezTo>
                    <a:cubicBezTo>
                      <a:pt x="372" y="223"/>
                      <a:pt x="371" y="223"/>
                      <a:pt x="369" y="223"/>
                    </a:cubicBezTo>
                    <a:cubicBezTo>
                      <a:pt x="367" y="223"/>
                      <a:pt x="365" y="224"/>
                      <a:pt x="364" y="225"/>
                    </a:cubicBezTo>
                    <a:cubicBezTo>
                      <a:pt x="363" y="226"/>
                      <a:pt x="363" y="226"/>
                      <a:pt x="363" y="225"/>
                    </a:cubicBezTo>
                    <a:cubicBezTo>
                      <a:pt x="363" y="225"/>
                      <a:pt x="360" y="224"/>
                      <a:pt x="359" y="225"/>
                    </a:cubicBezTo>
                    <a:cubicBezTo>
                      <a:pt x="358" y="226"/>
                      <a:pt x="355" y="227"/>
                      <a:pt x="353" y="227"/>
                    </a:cubicBezTo>
                    <a:cubicBezTo>
                      <a:pt x="351" y="227"/>
                      <a:pt x="349" y="228"/>
                      <a:pt x="347" y="229"/>
                    </a:cubicBezTo>
                    <a:cubicBezTo>
                      <a:pt x="346" y="230"/>
                      <a:pt x="335" y="233"/>
                      <a:pt x="333" y="229"/>
                    </a:cubicBezTo>
                    <a:cubicBezTo>
                      <a:pt x="331" y="226"/>
                      <a:pt x="330" y="225"/>
                      <a:pt x="328" y="225"/>
                    </a:cubicBezTo>
                    <a:cubicBezTo>
                      <a:pt x="326" y="224"/>
                      <a:pt x="325" y="222"/>
                      <a:pt x="322" y="223"/>
                    </a:cubicBezTo>
                    <a:cubicBezTo>
                      <a:pt x="320" y="223"/>
                      <a:pt x="320" y="222"/>
                      <a:pt x="319" y="222"/>
                    </a:cubicBezTo>
                    <a:cubicBezTo>
                      <a:pt x="318" y="223"/>
                      <a:pt x="315" y="222"/>
                      <a:pt x="315" y="224"/>
                    </a:cubicBezTo>
                    <a:cubicBezTo>
                      <a:pt x="315" y="225"/>
                      <a:pt x="315" y="225"/>
                      <a:pt x="314" y="226"/>
                    </a:cubicBezTo>
                    <a:cubicBezTo>
                      <a:pt x="313" y="226"/>
                      <a:pt x="313" y="226"/>
                      <a:pt x="314" y="224"/>
                    </a:cubicBezTo>
                    <a:cubicBezTo>
                      <a:pt x="315" y="222"/>
                      <a:pt x="313" y="220"/>
                      <a:pt x="314" y="221"/>
                    </a:cubicBezTo>
                    <a:cubicBezTo>
                      <a:pt x="316" y="222"/>
                      <a:pt x="317" y="222"/>
                      <a:pt x="315" y="220"/>
                    </a:cubicBezTo>
                    <a:cubicBezTo>
                      <a:pt x="313" y="219"/>
                      <a:pt x="308" y="213"/>
                      <a:pt x="308" y="209"/>
                    </a:cubicBezTo>
                    <a:cubicBezTo>
                      <a:pt x="307" y="206"/>
                      <a:pt x="304" y="201"/>
                      <a:pt x="300" y="197"/>
                    </a:cubicBezTo>
                    <a:cubicBezTo>
                      <a:pt x="296" y="193"/>
                      <a:pt x="294" y="188"/>
                      <a:pt x="294" y="187"/>
                    </a:cubicBezTo>
                    <a:cubicBezTo>
                      <a:pt x="293" y="185"/>
                      <a:pt x="291" y="181"/>
                      <a:pt x="290" y="179"/>
                    </a:cubicBezTo>
                    <a:cubicBezTo>
                      <a:pt x="289" y="178"/>
                      <a:pt x="286" y="172"/>
                      <a:pt x="289" y="175"/>
                    </a:cubicBezTo>
                    <a:cubicBezTo>
                      <a:pt x="292" y="177"/>
                      <a:pt x="292" y="179"/>
                      <a:pt x="292" y="180"/>
                    </a:cubicBezTo>
                    <a:cubicBezTo>
                      <a:pt x="292" y="182"/>
                      <a:pt x="292" y="185"/>
                      <a:pt x="293" y="182"/>
                    </a:cubicBezTo>
                    <a:cubicBezTo>
                      <a:pt x="294" y="180"/>
                      <a:pt x="294" y="178"/>
                      <a:pt x="293" y="177"/>
                    </a:cubicBezTo>
                    <a:cubicBezTo>
                      <a:pt x="292" y="175"/>
                      <a:pt x="288" y="172"/>
                      <a:pt x="287" y="169"/>
                    </a:cubicBezTo>
                    <a:cubicBezTo>
                      <a:pt x="286" y="165"/>
                      <a:pt x="285" y="161"/>
                      <a:pt x="287" y="156"/>
                    </a:cubicBezTo>
                    <a:cubicBezTo>
                      <a:pt x="288" y="150"/>
                      <a:pt x="288" y="146"/>
                      <a:pt x="288" y="144"/>
                    </a:cubicBezTo>
                    <a:cubicBezTo>
                      <a:pt x="287" y="142"/>
                      <a:pt x="286" y="136"/>
                      <a:pt x="286" y="135"/>
                    </a:cubicBezTo>
                    <a:cubicBezTo>
                      <a:pt x="286" y="133"/>
                      <a:pt x="287" y="130"/>
                      <a:pt x="288" y="128"/>
                    </a:cubicBezTo>
                    <a:cubicBezTo>
                      <a:pt x="289" y="127"/>
                      <a:pt x="289" y="126"/>
                      <a:pt x="288" y="125"/>
                    </a:cubicBezTo>
                    <a:cubicBezTo>
                      <a:pt x="287" y="124"/>
                      <a:pt x="287" y="120"/>
                      <a:pt x="287" y="120"/>
                    </a:cubicBezTo>
                    <a:cubicBezTo>
                      <a:pt x="287" y="119"/>
                      <a:pt x="288" y="119"/>
                      <a:pt x="289" y="120"/>
                    </a:cubicBezTo>
                    <a:cubicBezTo>
                      <a:pt x="290" y="120"/>
                      <a:pt x="291" y="121"/>
                      <a:pt x="291" y="120"/>
                    </a:cubicBezTo>
                    <a:cubicBezTo>
                      <a:pt x="291" y="119"/>
                      <a:pt x="291" y="117"/>
                      <a:pt x="292" y="118"/>
                    </a:cubicBezTo>
                    <a:cubicBezTo>
                      <a:pt x="292" y="120"/>
                      <a:pt x="292" y="121"/>
                      <a:pt x="292" y="122"/>
                    </a:cubicBezTo>
                    <a:cubicBezTo>
                      <a:pt x="291" y="123"/>
                      <a:pt x="292" y="122"/>
                      <a:pt x="294" y="118"/>
                    </a:cubicBezTo>
                    <a:cubicBezTo>
                      <a:pt x="295" y="113"/>
                      <a:pt x="296" y="111"/>
                      <a:pt x="296" y="111"/>
                    </a:cubicBezTo>
                    <a:cubicBezTo>
                      <a:pt x="296" y="111"/>
                      <a:pt x="296" y="110"/>
                      <a:pt x="296" y="110"/>
                    </a:cubicBezTo>
                    <a:cubicBezTo>
                      <a:pt x="296" y="110"/>
                      <a:pt x="295" y="110"/>
                      <a:pt x="293" y="111"/>
                    </a:cubicBezTo>
                    <a:cubicBezTo>
                      <a:pt x="291" y="112"/>
                      <a:pt x="288" y="109"/>
                      <a:pt x="288" y="109"/>
                    </a:cubicBezTo>
                    <a:cubicBezTo>
                      <a:pt x="287" y="108"/>
                      <a:pt x="284" y="108"/>
                      <a:pt x="283" y="108"/>
                    </a:cubicBezTo>
                    <a:cubicBezTo>
                      <a:pt x="283" y="108"/>
                      <a:pt x="281" y="108"/>
                      <a:pt x="281" y="108"/>
                    </a:cubicBezTo>
                    <a:cubicBezTo>
                      <a:pt x="280" y="107"/>
                      <a:pt x="274" y="105"/>
                      <a:pt x="272" y="104"/>
                    </a:cubicBezTo>
                    <a:cubicBezTo>
                      <a:pt x="271" y="103"/>
                      <a:pt x="269" y="103"/>
                      <a:pt x="268" y="103"/>
                    </a:cubicBezTo>
                    <a:cubicBezTo>
                      <a:pt x="267" y="103"/>
                      <a:pt x="267" y="102"/>
                      <a:pt x="267" y="102"/>
                    </a:cubicBezTo>
                    <a:cubicBezTo>
                      <a:pt x="267" y="102"/>
                      <a:pt x="262" y="90"/>
                      <a:pt x="261" y="89"/>
                    </a:cubicBezTo>
                    <a:cubicBezTo>
                      <a:pt x="261" y="88"/>
                      <a:pt x="261" y="87"/>
                      <a:pt x="261" y="87"/>
                    </a:cubicBezTo>
                    <a:cubicBezTo>
                      <a:pt x="261" y="83"/>
                      <a:pt x="259" y="83"/>
                      <a:pt x="258" y="82"/>
                    </a:cubicBezTo>
                    <a:cubicBezTo>
                      <a:pt x="257" y="82"/>
                      <a:pt x="256" y="80"/>
                      <a:pt x="255" y="79"/>
                    </a:cubicBezTo>
                    <a:cubicBezTo>
                      <a:pt x="254" y="77"/>
                      <a:pt x="249" y="70"/>
                      <a:pt x="248" y="67"/>
                    </a:cubicBezTo>
                    <a:cubicBezTo>
                      <a:pt x="246" y="65"/>
                      <a:pt x="243" y="58"/>
                      <a:pt x="242" y="57"/>
                    </a:cubicBezTo>
                    <a:cubicBezTo>
                      <a:pt x="241" y="56"/>
                      <a:pt x="235" y="50"/>
                      <a:pt x="234" y="49"/>
                    </a:cubicBezTo>
                    <a:cubicBezTo>
                      <a:pt x="232" y="48"/>
                      <a:pt x="231" y="48"/>
                      <a:pt x="231" y="49"/>
                    </a:cubicBezTo>
                    <a:cubicBezTo>
                      <a:pt x="230" y="49"/>
                      <a:pt x="229" y="48"/>
                      <a:pt x="226" y="48"/>
                    </a:cubicBezTo>
                    <a:cubicBezTo>
                      <a:pt x="224" y="48"/>
                      <a:pt x="221" y="47"/>
                      <a:pt x="220" y="47"/>
                    </a:cubicBezTo>
                    <a:cubicBezTo>
                      <a:pt x="219" y="47"/>
                      <a:pt x="219" y="47"/>
                      <a:pt x="219" y="48"/>
                    </a:cubicBezTo>
                    <a:cubicBezTo>
                      <a:pt x="218" y="48"/>
                      <a:pt x="219" y="48"/>
                      <a:pt x="216" y="49"/>
                    </a:cubicBezTo>
                    <a:cubicBezTo>
                      <a:pt x="214" y="49"/>
                      <a:pt x="213" y="51"/>
                      <a:pt x="212" y="53"/>
                    </a:cubicBezTo>
                    <a:cubicBezTo>
                      <a:pt x="211" y="55"/>
                      <a:pt x="210" y="57"/>
                      <a:pt x="210" y="58"/>
                    </a:cubicBezTo>
                    <a:cubicBezTo>
                      <a:pt x="209" y="60"/>
                      <a:pt x="207" y="61"/>
                      <a:pt x="206" y="61"/>
                    </a:cubicBezTo>
                    <a:cubicBezTo>
                      <a:pt x="204" y="61"/>
                      <a:pt x="199" y="58"/>
                      <a:pt x="195" y="56"/>
                    </a:cubicBezTo>
                    <a:cubicBezTo>
                      <a:pt x="190" y="53"/>
                      <a:pt x="186" y="50"/>
                      <a:pt x="185" y="48"/>
                    </a:cubicBezTo>
                    <a:cubicBezTo>
                      <a:pt x="184" y="47"/>
                      <a:pt x="184" y="45"/>
                      <a:pt x="184" y="44"/>
                    </a:cubicBezTo>
                    <a:cubicBezTo>
                      <a:pt x="184" y="42"/>
                      <a:pt x="182" y="38"/>
                      <a:pt x="181" y="37"/>
                    </a:cubicBezTo>
                    <a:cubicBezTo>
                      <a:pt x="181" y="35"/>
                      <a:pt x="179" y="33"/>
                      <a:pt x="177" y="32"/>
                    </a:cubicBezTo>
                    <a:cubicBezTo>
                      <a:pt x="175" y="31"/>
                      <a:pt x="169" y="26"/>
                      <a:pt x="168" y="25"/>
                    </a:cubicBezTo>
                    <a:cubicBezTo>
                      <a:pt x="167" y="24"/>
                      <a:pt x="165" y="23"/>
                      <a:pt x="163" y="22"/>
                    </a:cubicBezTo>
                    <a:cubicBezTo>
                      <a:pt x="161" y="21"/>
                      <a:pt x="158" y="18"/>
                      <a:pt x="158" y="17"/>
                    </a:cubicBezTo>
                    <a:cubicBezTo>
                      <a:pt x="157" y="16"/>
                      <a:pt x="156" y="16"/>
                      <a:pt x="156" y="16"/>
                    </a:cubicBezTo>
                    <a:cubicBezTo>
                      <a:pt x="156" y="16"/>
                      <a:pt x="134" y="16"/>
                      <a:pt x="133" y="16"/>
                    </a:cubicBezTo>
                    <a:cubicBezTo>
                      <a:pt x="132" y="16"/>
                      <a:pt x="132" y="15"/>
                      <a:pt x="132" y="17"/>
                    </a:cubicBezTo>
                    <a:cubicBezTo>
                      <a:pt x="132" y="20"/>
                      <a:pt x="130" y="23"/>
                      <a:pt x="130" y="23"/>
                    </a:cubicBezTo>
                    <a:cubicBezTo>
                      <a:pt x="130" y="23"/>
                      <a:pt x="95" y="23"/>
                      <a:pt x="94" y="23"/>
                    </a:cubicBezTo>
                    <a:cubicBezTo>
                      <a:pt x="93" y="23"/>
                      <a:pt x="87" y="22"/>
                      <a:pt x="87" y="22"/>
                    </a:cubicBezTo>
                    <a:cubicBezTo>
                      <a:pt x="86" y="22"/>
                      <a:pt x="84" y="21"/>
                      <a:pt x="84" y="21"/>
                    </a:cubicBezTo>
                    <a:cubicBezTo>
                      <a:pt x="34" y="4"/>
                      <a:pt x="34" y="4"/>
                      <a:pt x="34" y="4"/>
                    </a:cubicBezTo>
                    <a:cubicBezTo>
                      <a:pt x="35" y="0"/>
                      <a:pt x="35" y="0"/>
                      <a:pt x="35" y="0"/>
                    </a:cubicBezTo>
                    <a:cubicBezTo>
                      <a:pt x="0" y="3"/>
                      <a:pt x="0" y="3"/>
                      <a:pt x="0" y="3"/>
                    </a:cubicBezTo>
                    <a:cubicBezTo>
                      <a:pt x="1" y="6"/>
                      <a:pt x="2" y="8"/>
                      <a:pt x="2" y="9"/>
                    </a:cubicBezTo>
                    <a:cubicBezTo>
                      <a:pt x="4" y="11"/>
                      <a:pt x="5" y="16"/>
                      <a:pt x="6" y="18"/>
                    </a:cubicBezTo>
                    <a:cubicBezTo>
                      <a:pt x="6" y="20"/>
                      <a:pt x="10" y="29"/>
                      <a:pt x="13" y="30"/>
                    </a:cubicBezTo>
                    <a:cubicBezTo>
                      <a:pt x="16" y="31"/>
                      <a:pt x="16" y="33"/>
                      <a:pt x="16" y="36"/>
                    </a:cubicBezTo>
                    <a:cubicBezTo>
                      <a:pt x="16" y="39"/>
                      <a:pt x="16" y="39"/>
                      <a:pt x="17" y="38"/>
                    </a:cubicBezTo>
                    <a:cubicBezTo>
                      <a:pt x="17" y="37"/>
                      <a:pt x="19" y="38"/>
                      <a:pt x="19" y="40"/>
                    </a:cubicBezTo>
                    <a:cubicBezTo>
                      <a:pt x="19" y="43"/>
                      <a:pt x="18" y="46"/>
                      <a:pt x="21" y="49"/>
                    </a:cubicBezTo>
                    <a:cubicBezTo>
                      <a:pt x="24" y="52"/>
                      <a:pt x="27" y="53"/>
                      <a:pt x="28" y="54"/>
                    </a:cubicBezTo>
                    <a:cubicBezTo>
                      <a:pt x="29" y="54"/>
                      <a:pt x="31" y="54"/>
                      <a:pt x="33" y="56"/>
                    </a:cubicBezTo>
                    <a:cubicBezTo>
                      <a:pt x="35" y="58"/>
                      <a:pt x="45" y="67"/>
                      <a:pt x="44" y="71"/>
                    </a:cubicBezTo>
                    <a:cubicBezTo>
                      <a:pt x="44" y="74"/>
                      <a:pt x="43" y="75"/>
                      <a:pt x="43" y="76"/>
                    </a:cubicBezTo>
                    <a:cubicBezTo>
                      <a:pt x="43" y="77"/>
                      <a:pt x="45" y="77"/>
                      <a:pt x="43" y="78"/>
                    </a:cubicBezTo>
                    <a:cubicBezTo>
                      <a:pt x="42" y="78"/>
                      <a:pt x="41" y="79"/>
                      <a:pt x="42" y="79"/>
                    </a:cubicBezTo>
                    <a:cubicBezTo>
                      <a:pt x="43" y="79"/>
                      <a:pt x="43" y="77"/>
                      <a:pt x="44" y="78"/>
                    </a:cubicBezTo>
                    <a:cubicBezTo>
                      <a:pt x="44" y="79"/>
                      <a:pt x="44" y="82"/>
                      <a:pt x="45" y="81"/>
                    </a:cubicBezTo>
                    <a:cubicBezTo>
                      <a:pt x="46" y="80"/>
                      <a:pt x="46" y="81"/>
                      <a:pt x="46" y="81"/>
                    </a:cubicBezTo>
                    <a:cubicBezTo>
                      <a:pt x="47" y="81"/>
                      <a:pt x="46" y="80"/>
                      <a:pt x="46" y="79"/>
                    </a:cubicBezTo>
                    <a:cubicBezTo>
                      <a:pt x="46" y="79"/>
                      <a:pt x="46" y="78"/>
                      <a:pt x="47" y="80"/>
                    </a:cubicBezTo>
                    <a:cubicBezTo>
                      <a:pt x="48" y="82"/>
                      <a:pt x="49" y="83"/>
                      <a:pt x="49" y="84"/>
                    </a:cubicBezTo>
                    <a:cubicBezTo>
                      <a:pt x="48" y="85"/>
                      <a:pt x="47" y="87"/>
                      <a:pt x="47" y="85"/>
                    </a:cubicBezTo>
                    <a:cubicBezTo>
                      <a:pt x="48" y="83"/>
                      <a:pt x="47" y="83"/>
                      <a:pt x="46" y="83"/>
                    </a:cubicBezTo>
                    <a:cubicBezTo>
                      <a:pt x="44" y="83"/>
                      <a:pt x="43" y="82"/>
                      <a:pt x="42" y="81"/>
                    </a:cubicBezTo>
                    <a:cubicBezTo>
                      <a:pt x="41" y="80"/>
                      <a:pt x="41" y="80"/>
                      <a:pt x="40" y="81"/>
                    </a:cubicBezTo>
                    <a:cubicBezTo>
                      <a:pt x="39" y="81"/>
                      <a:pt x="32" y="80"/>
                      <a:pt x="31" y="80"/>
                    </a:cubicBezTo>
                    <a:cubicBezTo>
                      <a:pt x="30" y="80"/>
                      <a:pt x="30" y="80"/>
                      <a:pt x="31" y="81"/>
                    </a:cubicBezTo>
                    <a:cubicBezTo>
                      <a:pt x="32" y="82"/>
                      <a:pt x="35" y="85"/>
                      <a:pt x="36" y="87"/>
                    </a:cubicBezTo>
                    <a:cubicBezTo>
                      <a:pt x="38" y="88"/>
                      <a:pt x="40" y="90"/>
                      <a:pt x="40" y="90"/>
                    </a:cubicBezTo>
                    <a:cubicBezTo>
                      <a:pt x="41" y="91"/>
                      <a:pt x="45" y="94"/>
                      <a:pt x="46" y="95"/>
                    </a:cubicBezTo>
                    <a:cubicBezTo>
                      <a:pt x="48" y="96"/>
                      <a:pt x="52" y="97"/>
                      <a:pt x="52" y="97"/>
                    </a:cubicBezTo>
                    <a:cubicBezTo>
                      <a:pt x="53" y="97"/>
                      <a:pt x="54" y="97"/>
                      <a:pt x="55" y="97"/>
                    </a:cubicBezTo>
                    <a:cubicBezTo>
                      <a:pt x="57" y="97"/>
                      <a:pt x="57" y="96"/>
                      <a:pt x="57" y="96"/>
                    </a:cubicBezTo>
                    <a:cubicBezTo>
                      <a:pt x="58" y="95"/>
                      <a:pt x="59" y="93"/>
                      <a:pt x="58" y="96"/>
                    </a:cubicBezTo>
                    <a:cubicBezTo>
                      <a:pt x="57" y="98"/>
                      <a:pt x="58" y="97"/>
                      <a:pt x="59" y="98"/>
                    </a:cubicBezTo>
                    <a:cubicBezTo>
                      <a:pt x="59" y="99"/>
                      <a:pt x="65" y="103"/>
                      <a:pt x="67" y="104"/>
                    </a:cubicBezTo>
                    <a:cubicBezTo>
                      <a:pt x="69" y="106"/>
                      <a:pt x="73" y="108"/>
                      <a:pt x="73" y="111"/>
                    </a:cubicBezTo>
                    <a:cubicBezTo>
                      <a:pt x="73" y="114"/>
                      <a:pt x="74" y="116"/>
                      <a:pt x="74" y="118"/>
                    </a:cubicBezTo>
                    <a:cubicBezTo>
                      <a:pt x="74" y="120"/>
                      <a:pt x="74" y="122"/>
                      <a:pt x="74" y="123"/>
                    </a:cubicBezTo>
                    <a:cubicBezTo>
                      <a:pt x="74" y="125"/>
                      <a:pt x="73" y="128"/>
                      <a:pt x="74" y="126"/>
                    </a:cubicBezTo>
                    <a:cubicBezTo>
                      <a:pt x="74" y="124"/>
                      <a:pt x="74" y="126"/>
                      <a:pt x="74" y="127"/>
                    </a:cubicBezTo>
                    <a:cubicBezTo>
                      <a:pt x="74" y="129"/>
                      <a:pt x="75" y="128"/>
                      <a:pt x="75" y="128"/>
                    </a:cubicBezTo>
                    <a:cubicBezTo>
                      <a:pt x="75" y="128"/>
                      <a:pt x="78" y="130"/>
                      <a:pt x="79" y="131"/>
                    </a:cubicBezTo>
                    <a:cubicBezTo>
                      <a:pt x="80" y="131"/>
                      <a:pt x="88" y="138"/>
                      <a:pt x="89" y="139"/>
                    </a:cubicBezTo>
                    <a:cubicBezTo>
                      <a:pt x="90" y="140"/>
                      <a:pt x="96" y="143"/>
                      <a:pt x="97" y="144"/>
                    </a:cubicBezTo>
                    <a:cubicBezTo>
                      <a:pt x="98" y="146"/>
                      <a:pt x="102" y="149"/>
                      <a:pt x="103" y="151"/>
                    </a:cubicBezTo>
                    <a:cubicBezTo>
                      <a:pt x="104" y="153"/>
                      <a:pt x="106" y="156"/>
                      <a:pt x="107" y="157"/>
                    </a:cubicBezTo>
                    <a:cubicBezTo>
                      <a:pt x="107" y="158"/>
                      <a:pt x="107" y="158"/>
                      <a:pt x="108" y="157"/>
                    </a:cubicBezTo>
                    <a:cubicBezTo>
                      <a:pt x="109" y="156"/>
                      <a:pt x="110" y="155"/>
                      <a:pt x="111" y="155"/>
                    </a:cubicBezTo>
                    <a:cubicBezTo>
                      <a:pt x="112" y="155"/>
                      <a:pt x="114" y="155"/>
                      <a:pt x="114" y="151"/>
                    </a:cubicBezTo>
                    <a:cubicBezTo>
                      <a:pt x="114" y="148"/>
                      <a:pt x="113" y="148"/>
                      <a:pt x="112" y="146"/>
                    </a:cubicBezTo>
                    <a:cubicBezTo>
                      <a:pt x="110" y="145"/>
                      <a:pt x="109" y="144"/>
                      <a:pt x="109" y="143"/>
                    </a:cubicBezTo>
                    <a:cubicBezTo>
                      <a:pt x="109" y="141"/>
                      <a:pt x="109" y="140"/>
                      <a:pt x="107" y="140"/>
                    </a:cubicBezTo>
                    <a:cubicBezTo>
                      <a:pt x="105" y="140"/>
                      <a:pt x="105" y="139"/>
                      <a:pt x="104" y="138"/>
                    </a:cubicBezTo>
                    <a:cubicBezTo>
                      <a:pt x="103" y="136"/>
                      <a:pt x="101" y="134"/>
                      <a:pt x="101" y="136"/>
                    </a:cubicBezTo>
                    <a:cubicBezTo>
                      <a:pt x="100" y="137"/>
                      <a:pt x="101" y="138"/>
                      <a:pt x="100" y="139"/>
                    </a:cubicBezTo>
                    <a:cubicBezTo>
                      <a:pt x="98" y="139"/>
                      <a:pt x="101" y="138"/>
                      <a:pt x="100" y="138"/>
                    </a:cubicBezTo>
                    <a:cubicBezTo>
                      <a:pt x="98" y="138"/>
                      <a:pt x="96" y="138"/>
                      <a:pt x="95" y="134"/>
                    </a:cubicBezTo>
                    <a:cubicBezTo>
                      <a:pt x="95" y="131"/>
                      <a:pt x="95" y="124"/>
                      <a:pt x="92" y="121"/>
                    </a:cubicBezTo>
                    <a:cubicBezTo>
                      <a:pt x="90" y="118"/>
                      <a:pt x="88" y="113"/>
                      <a:pt x="88" y="112"/>
                    </a:cubicBezTo>
                    <a:cubicBezTo>
                      <a:pt x="88" y="111"/>
                      <a:pt x="88" y="111"/>
                      <a:pt x="89" y="110"/>
                    </a:cubicBezTo>
                    <a:cubicBezTo>
                      <a:pt x="89" y="109"/>
                      <a:pt x="89" y="107"/>
                      <a:pt x="88" y="109"/>
                    </a:cubicBezTo>
                    <a:cubicBezTo>
                      <a:pt x="87" y="111"/>
                      <a:pt x="88" y="112"/>
                      <a:pt x="87" y="109"/>
                    </a:cubicBezTo>
                    <a:cubicBezTo>
                      <a:pt x="86" y="106"/>
                      <a:pt x="85" y="108"/>
                      <a:pt x="84" y="103"/>
                    </a:cubicBezTo>
                    <a:cubicBezTo>
                      <a:pt x="84" y="99"/>
                      <a:pt x="80" y="96"/>
                      <a:pt x="79" y="95"/>
                    </a:cubicBezTo>
                    <a:cubicBezTo>
                      <a:pt x="79" y="95"/>
                      <a:pt x="78" y="95"/>
                      <a:pt x="79" y="96"/>
                    </a:cubicBezTo>
                    <a:cubicBezTo>
                      <a:pt x="79" y="98"/>
                      <a:pt x="81" y="103"/>
                      <a:pt x="78" y="98"/>
                    </a:cubicBezTo>
                    <a:cubicBezTo>
                      <a:pt x="75" y="92"/>
                      <a:pt x="78" y="92"/>
                      <a:pt x="74" y="91"/>
                    </a:cubicBezTo>
                    <a:cubicBezTo>
                      <a:pt x="71" y="89"/>
                      <a:pt x="70" y="85"/>
                      <a:pt x="67" y="81"/>
                    </a:cubicBezTo>
                    <a:cubicBezTo>
                      <a:pt x="65" y="78"/>
                      <a:pt x="64" y="77"/>
                      <a:pt x="64" y="76"/>
                    </a:cubicBezTo>
                    <a:cubicBezTo>
                      <a:pt x="64" y="74"/>
                      <a:pt x="63" y="73"/>
                      <a:pt x="63" y="72"/>
                    </a:cubicBezTo>
                    <a:cubicBezTo>
                      <a:pt x="63" y="71"/>
                      <a:pt x="64" y="70"/>
                      <a:pt x="62" y="70"/>
                    </a:cubicBezTo>
                    <a:cubicBezTo>
                      <a:pt x="61" y="70"/>
                      <a:pt x="57" y="67"/>
                      <a:pt x="55" y="63"/>
                    </a:cubicBezTo>
                    <a:cubicBezTo>
                      <a:pt x="55" y="63"/>
                      <a:pt x="54" y="61"/>
                      <a:pt x="54" y="62"/>
                    </a:cubicBezTo>
                    <a:cubicBezTo>
                      <a:pt x="54" y="63"/>
                      <a:pt x="53" y="63"/>
                      <a:pt x="53" y="62"/>
                    </a:cubicBezTo>
                    <a:cubicBezTo>
                      <a:pt x="53" y="61"/>
                      <a:pt x="47" y="54"/>
                      <a:pt x="46" y="52"/>
                    </a:cubicBezTo>
                    <a:cubicBezTo>
                      <a:pt x="45" y="50"/>
                      <a:pt x="44" y="50"/>
                      <a:pt x="43" y="49"/>
                    </a:cubicBezTo>
                    <a:cubicBezTo>
                      <a:pt x="41" y="48"/>
                      <a:pt x="38" y="47"/>
                      <a:pt x="37" y="40"/>
                    </a:cubicBezTo>
                    <a:cubicBezTo>
                      <a:pt x="36" y="33"/>
                      <a:pt x="35" y="33"/>
                      <a:pt x="35" y="32"/>
                    </a:cubicBezTo>
                    <a:cubicBezTo>
                      <a:pt x="35" y="31"/>
                      <a:pt x="34" y="27"/>
                      <a:pt x="34" y="21"/>
                    </a:cubicBezTo>
                    <a:cubicBezTo>
                      <a:pt x="35" y="16"/>
                      <a:pt x="33" y="15"/>
                      <a:pt x="33" y="15"/>
                    </a:cubicBezTo>
                    <a:cubicBezTo>
                      <a:pt x="33" y="15"/>
                      <a:pt x="31" y="12"/>
                      <a:pt x="34" y="15"/>
                    </a:cubicBezTo>
                    <a:cubicBezTo>
                      <a:pt x="36" y="17"/>
                      <a:pt x="40" y="18"/>
                      <a:pt x="42" y="19"/>
                    </a:cubicBezTo>
                    <a:cubicBezTo>
                      <a:pt x="45" y="21"/>
                      <a:pt x="46" y="21"/>
                      <a:pt x="47" y="19"/>
                    </a:cubicBezTo>
                    <a:cubicBezTo>
                      <a:pt x="47" y="18"/>
                      <a:pt x="46" y="17"/>
                      <a:pt x="48" y="18"/>
                    </a:cubicBezTo>
                    <a:cubicBezTo>
                      <a:pt x="50" y="20"/>
                      <a:pt x="57" y="25"/>
                      <a:pt x="59" y="25"/>
                    </a:cubicBezTo>
                    <a:cubicBezTo>
                      <a:pt x="60" y="26"/>
                      <a:pt x="60" y="27"/>
                      <a:pt x="60" y="29"/>
                    </a:cubicBezTo>
                    <a:cubicBezTo>
                      <a:pt x="59" y="31"/>
                      <a:pt x="59" y="32"/>
                      <a:pt x="60" y="34"/>
                    </a:cubicBezTo>
                    <a:cubicBezTo>
                      <a:pt x="62" y="37"/>
                      <a:pt x="69" y="55"/>
                      <a:pt x="70" y="55"/>
                    </a:cubicBezTo>
                    <a:cubicBezTo>
                      <a:pt x="70" y="56"/>
                      <a:pt x="71" y="56"/>
                      <a:pt x="71" y="56"/>
                    </a:cubicBezTo>
                    <a:cubicBezTo>
                      <a:pt x="72" y="56"/>
                      <a:pt x="73" y="57"/>
                      <a:pt x="73" y="58"/>
                    </a:cubicBezTo>
                    <a:cubicBezTo>
                      <a:pt x="73" y="59"/>
                      <a:pt x="73" y="61"/>
                      <a:pt x="74" y="62"/>
                    </a:cubicBezTo>
                    <a:cubicBezTo>
                      <a:pt x="76" y="64"/>
                      <a:pt x="90" y="78"/>
                      <a:pt x="90" y="78"/>
                    </a:cubicBezTo>
                    <a:cubicBezTo>
                      <a:pt x="90" y="78"/>
                      <a:pt x="91" y="79"/>
                      <a:pt x="94" y="79"/>
                    </a:cubicBezTo>
                    <a:cubicBezTo>
                      <a:pt x="98" y="79"/>
                      <a:pt x="97" y="79"/>
                      <a:pt x="97" y="80"/>
                    </a:cubicBezTo>
                    <a:cubicBezTo>
                      <a:pt x="96" y="82"/>
                      <a:pt x="95" y="86"/>
                      <a:pt x="99" y="89"/>
                    </a:cubicBezTo>
                    <a:cubicBezTo>
                      <a:pt x="102" y="92"/>
                      <a:pt x="105" y="91"/>
                      <a:pt x="105" y="91"/>
                    </a:cubicBezTo>
                    <a:cubicBezTo>
                      <a:pt x="105" y="91"/>
                      <a:pt x="106" y="91"/>
                      <a:pt x="106" y="93"/>
                    </a:cubicBezTo>
                    <a:cubicBezTo>
                      <a:pt x="107" y="96"/>
                      <a:pt x="108" y="96"/>
                      <a:pt x="110" y="97"/>
                    </a:cubicBezTo>
                    <a:cubicBezTo>
                      <a:pt x="112" y="97"/>
                      <a:pt x="116" y="99"/>
                      <a:pt x="118" y="103"/>
                    </a:cubicBezTo>
                    <a:cubicBezTo>
                      <a:pt x="119" y="107"/>
                      <a:pt x="119" y="104"/>
                      <a:pt x="117" y="105"/>
                    </a:cubicBezTo>
                    <a:cubicBezTo>
                      <a:pt x="116" y="105"/>
                      <a:pt x="116" y="106"/>
                      <a:pt x="115" y="108"/>
                    </a:cubicBezTo>
                    <a:cubicBezTo>
                      <a:pt x="115" y="109"/>
                      <a:pt x="114" y="110"/>
                      <a:pt x="114" y="111"/>
                    </a:cubicBezTo>
                    <a:cubicBezTo>
                      <a:pt x="114" y="113"/>
                      <a:pt x="114" y="114"/>
                      <a:pt x="115" y="113"/>
                    </a:cubicBezTo>
                    <a:cubicBezTo>
                      <a:pt x="116" y="113"/>
                      <a:pt x="116" y="113"/>
                      <a:pt x="116" y="114"/>
                    </a:cubicBezTo>
                    <a:cubicBezTo>
                      <a:pt x="116" y="114"/>
                      <a:pt x="116" y="115"/>
                      <a:pt x="116" y="115"/>
                    </a:cubicBezTo>
                    <a:cubicBezTo>
                      <a:pt x="117" y="115"/>
                      <a:pt x="116" y="114"/>
                      <a:pt x="117" y="114"/>
                    </a:cubicBezTo>
                    <a:cubicBezTo>
                      <a:pt x="118" y="115"/>
                      <a:pt x="118" y="115"/>
                      <a:pt x="118" y="115"/>
                    </a:cubicBezTo>
                    <a:cubicBezTo>
                      <a:pt x="119" y="116"/>
                      <a:pt x="122" y="114"/>
                      <a:pt x="121" y="116"/>
                    </a:cubicBezTo>
                    <a:cubicBezTo>
                      <a:pt x="120" y="117"/>
                      <a:pt x="120" y="118"/>
                      <a:pt x="121" y="118"/>
                    </a:cubicBezTo>
                    <a:cubicBezTo>
                      <a:pt x="123" y="118"/>
                      <a:pt x="131" y="121"/>
                      <a:pt x="134" y="125"/>
                    </a:cubicBezTo>
                    <a:cubicBezTo>
                      <a:pt x="134" y="125"/>
                      <a:pt x="135" y="125"/>
                      <a:pt x="135" y="126"/>
                    </a:cubicBezTo>
                    <a:cubicBezTo>
                      <a:pt x="135" y="127"/>
                      <a:pt x="135" y="130"/>
                      <a:pt x="138" y="132"/>
                    </a:cubicBezTo>
                    <a:cubicBezTo>
                      <a:pt x="142" y="134"/>
                      <a:pt x="141" y="133"/>
                      <a:pt x="142" y="133"/>
                    </a:cubicBezTo>
                    <a:cubicBezTo>
                      <a:pt x="142" y="133"/>
                      <a:pt x="143" y="133"/>
                      <a:pt x="142" y="134"/>
                    </a:cubicBezTo>
                    <a:cubicBezTo>
                      <a:pt x="142" y="134"/>
                      <a:pt x="141" y="134"/>
                      <a:pt x="142" y="135"/>
                    </a:cubicBezTo>
                    <a:cubicBezTo>
                      <a:pt x="143" y="136"/>
                      <a:pt x="146" y="139"/>
                      <a:pt x="147" y="140"/>
                    </a:cubicBezTo>
                    <a:cubicBezTo>
                      <a:pt x="149" y="141"/>
                      <a:pt x="154" y="148"/>
                      <a:pt x="156" y="149"/>
                    </a:cubicBezTo>
                    <a:cubicBezTo>
                      <a:pt x="157" y="151"/>
                      <a:pt x="163" y="158"/>
                      <a:pt x="164" y="159"/>
                    </a:cubicBezTo>
                    <a:cubicBezTo>
                      <a:pt x="166" y="161"/>
                      <a:pt x="170" y="165"/>
                      <a:pt x="170" y="169"/>
                    </a:cubicBezTo>
                    <a:cubicBezTo>
                      <a:pt x="170" y="173"/>
                      <a:pt x="172" y="177"/>
                      <a:pt x="175" y="180"/>
                    </a:cubicBezTo>
                    <a:cubicBezTo>
                      <a:pt x="177" y="182"/>
                      <a:pt x="176" y="182"/>
                      <a:pt x="176" y="184"/>
                    </a:cubicBezTo>
                    <a:cubicBezTo>
                      <a:pt x="175" y="186"/>
                      <a:pt x="174" y="188"/>
                      <a:pt x="174" y="189"/>
                    </a:cubicBezTo>
                    <a:cubicBezTo>
                      <a:pt x="173" y="190"/>
                      <a:pt x="173" y="191"/>
                      <a:pt x="172" y="191"/>
                    </a:cubicBezTo>
                    <a:cubicBezTo>
                      <a:pt x="172" y="191"/>
                      <a:pt x="171" y="191"/>
                      <a:pt x="173" y="191"/>
                    </a:cubicBezTo>
                    <a:cubicBezTo>
                      <a:pt x="174" y="192"/>
                      <a:pt x="175" y="192"/>
                      <a:pt x="176" y="192"/>
                    </a:cubicBezTo>
                    <a:cubicBezTo>
                      <a:pt x="176" y="193"/>
                      <a:pt x="177" y="194"/>
                      <a:pt x="175" y="194"/>
                    </a:cubicBezTo>
                    <a:cubicBezTo>
                      <a:pt x="174" y="195"/>
                      <a:pt x="170" y="195"/>
                      <a:pt x="170" y="197"/>
                    </a:cubicBezTo>
                    <a:cubicBezTo>
                      <a:pt x="170" y="199"/>
                      <a:pt x="172" y="201"/>
                      <a:pt x="173" y="204"/>
                    </a:cubicBezTo>
                    <a:cubicBezTo>
                      <a:pt x="174" y="206"/>
                      <a:pt x="178" y="214"/>
                      <a:pt x="187" y="217"/>
                    </a:cubicBezTo>
                    <a:cubicBezTo>
                      <a:pt x="195" y="219"/>
                      <a:pt x="201" y="226"/>
                      <a:pt x="201" y="227"/>
                    </a:cubicBezTo>
                    <a:cubicBezTo>
                      <a:pt x="201" y="227"/>
                      <a:pt x="203" y="229"/>
                      <a:pt x="210" y="231"/>
                    </a:cubicBezTo>
                    <a:cubicBezTo>
                      <a:pt x="218" y="234"/>
                      <a:pt x="221" y="235"/>
                      <a:pt x="222" y="235"/>
                    </a:cubicBezTo>
                    <a:cubicBezTo>
                      <a:pt x="223" y="235"/>
                      <a:pt x="224" y="233"/>
                      <a:pt x="226" y="235"/>
                    </a:cubicBezTo>
                    <a:cubicBezTo>
                      <a:pt x="228" y="237"/>
                      <a:pt x="234" y="242"/>
                      <a:pt x="239" y="244"/>
                    </a:cubicBezTo>
                    <a:cubicBezTo>
                      <a:pt x="243" y="246"/>
                      <a:pt x="254" y="251"/>
                      <a:pt x="257" y="252"/>
                    </a:cubicBezTo>
                    <a:cubicBezTo>
                      <a:pt x="261" y="254"/>
                      <a:pt x="268" y="256"/>
                      <a:pt x="270" y="256"/>
                    </a:cubicBezTo>
                    <a:cubicBezTo>
                      <a:pt x="272" y="256"/>
                      <a:pt x="273" y="257"/>
                      <a:pt x="274" y="258"/>
                    </a:cubicBezTo>
                    <a:cubicBezTo>
                      <a:pt x="275" y="259"/>
                      <a:pt x="279" y="261"/>
                      <a:pt x="280" y="261"/>
                    </a:cubicBezTo>
                    <a:cubicBezTo>
                      <a:pt x="281" y="261"/>
                      <a:pt x="285" y="263"/>
                      <a:pt x="286" y="264"/>
                    </a:cubicBezTo>
                    <a:cubicBezTo>
                      <a:pt x="287" y="264"/>
                      <a:pt x="291" y="265"/>
                      <a:pt x="292" y="265"/>
                    </a:cubicBezTo>
                    <a:cubicBezTo>
                      <a:pt x="294" y="265"/>
                      <a:pt x="300" y="267"/>
                      <a:pt x="302" y="268"/>
                    </a:cubicBezTo>
                    <a:cubicBezTo>
                      <a:pt x="304" y="269"/>
                      <a:pt x="311" y="269"/>
                      <a:pt x="315" y="267"/>
                    </a:cubicBezTo>
                    <a:cubicBezTo>
                      <a:pt x="319" y="265"/>
                      <a:pt x="320" y="266"/>
                      <a:pt x="322" y="264"/>
                    </a:cubicBezTo>
                    <a:cubicBezTo>
                      <a:pt x="325" y="262"/>
                      <a:pt x="327" y="262"/>
                      <a:pt x="328" y="261"/>
                    </a:cubicBezTo>
                    <a:cubicBezTo>
                      <a:pt x="329" y="261"/>
                      <a:pt x="330" y="261"/>
                      <a:pt x="329" y="261"/>
                    </a:cubicBezTo>
                    <a:cubicBezTo>
                      <a:pt x="327" y="260"/>
                      <a:pt x="327" y="261"/>
                      <a:pt x="329" y="260"/>
                    </a:cubicBezTo>
                    <a:cubicBezTo>
                      <a:pt x="330" y="259"/>
                      <a:pt x="330" y="257"/>
                      <a:pt x="331" y="259"/>
                    </a:cubicBezTo>
                    <a:cubicBezTo>
                      <a:pt x="331" y="261"/>
                      <a:pt x="331" y="260"/>
                      <a:pt x="332" y="259"/>
                    </a:cubicBezTo>
                    <a:cubicBezTo>
                      <a:pt x="333" y="259"/>
                      <a:pt x="334" y="259"/>
                      <a:pt x="333" y="260"/>
                    </a:cubicBezTo>
                    <a:cubicBezTo>
                      <a:pt x="332" y="261"/>
                      <a:pt x="332" y="261"/>
                      <a:pt x="334" y="261"/>
                    </a:cubicBezTo>
                    <a:cubicBezTo>
                      <a:pt x="337" y="262"/>
                      <a:pt x="337" y="262"/>
                      <a:pt x="339" y="262"/>
                    </a:cubicBezTo>
                    <a:cubicBezTo>
                      <a:pt x="340" y="263"/>
                      <a:pt x="345" y="265"/>
                      <a:pt x="342" y="263"/>
                    </a:cubicBezTo>
                    <a:cubicBezTo>
                      <a:pt x="339" y="261"/>
                      <a:pt x="335" y="260"/>
                      <a:pt x="338" y="260"/>
                    </a:cubicBezTo>
                    <a:cubicBezTo>
                      <a:pt x="340" y="261"/>
                      <a:pt x="341" y="261"/>
                      <a:pt x="343" y="263"/>
                    </a:cubicBezTo>
                    <a:cubicBezTo>
                      <a:pt x="344" y="264"/>
                      <a:pt x="354" y="271"/>
                      <a:pt x="355" y="272"/>
                    </a:cubicBezTo>
                    <a:cubicBezTo>
                      <a:pt x="356" y="273"/>
                      <a:pt x="358" y="276"/>
                      <a:pt x="359" y="276"/>
                    </a:cubicBezTo>
                    <a:cubicBezTo>
                      <a:pt x="361" y="277"/>
                      <a:pt x="362" y="278"/>
                      <a:pt x="362" y="279"/>
                    </a:cubicBezTo>
                    <a:cubicBezTo>
                      <a:pt x="363" y="280"/>
                      <a:pt x="366" y="284"/>
                      <a:pt x="367" y="285"/>
                    </a:cubicBezTo>
                    <a:cubicBezTo>
                      <a:pt x="368" y="285"/>
                      <a:pt x="368" y="286"/>
                      <a:pt x="369" y="286"/>
                    </a:cubicBezTo>
                    <a:cubicBezTo>
                      <a:pt x="369" y="286"/>
                      <a:pt x="370" y="286"/>
                      <a:pt x="370" y="284"/>
                    </a:cubicBezTo>
                    <a:cubicBezTo>
                      <a:pt x="370" y="283"/>
                      <a:pt x="370" y="281"/>
                      <a:pt x="371" y="280"/>
                    </a:cubicBezTo>
                    <a:cubicBezTo>
                      <a:pt x="371" y="279"/>
                      <a:pt x="371" y="278"/>
                      <a:pt x="371" y="277"/>
                    </a:cubicBezTo>
                    <a:cubicBezTo>
                      <a:pt x="370" y="276"/>
                      <a:pt x="370" y="275"/>
                      <a:pt x="372" y="271"/>
                    </a:cubicBezTo>
                    <a:cubicBezTo>
                      <a:pt x="374" y="268"/>
                      <a:pt x="375" y="264"/>
                      <a:pt x="382" y="263"/>
                    </a:cubicBezTo>
                    <a:cubicBezTo>
                      <a:pt x="388" y="263"/>
                      <a:pt x="395" y="264"/>
                      <a:pt x="396" y="262"/>
                    </a:cubicBezTo>
                    <a:cubicBezTo>
                      <a:pt x="397" y="260"/>
                      <a:pt x="397" y="259"/>
                      <a:pt x="395" y="258"/>
                    </a:cubicBezTo>
                    <a:cubicBezTo>
                      <a:pt x="394" y="257"/>
                      <a:pt x="382" y="246"/>
                      <a:pt x="382" y="246"/>
                    </a:cubicBezTo>
                    <a:cubicBezTo>
                      <a:pt x="382" y="246"/>
                      <a:pt x="380" y="245"/>
                      <a:pt x="383" y="245"/>
                    </a:cubicBezTo>
                    <a:cubicBezTo>
                      <a:pt x="386" y="245"/>
                      <a:pt x="387" y="246"/>
                      <a:pt x="388" y="243"/>
                    </a:cubicBezTo>
                    <a:cubicBezTo>
                      <a:pt x="388" y="241"/>
                      <a:pt x="386" y="237"/>
                      <a:pt x="390" y="237"/>
                    </a:cubicBezTo>
                    <a:cubicBezTo>
                      <a:pt x="394" y="237"/>
                      <a:pt x="414" y="237"/>
                      <a:pt x="414" y="237"/>
                    </a:cubicBezTo>
                    <a:cubicBezTo>
                      <a:pt x="414" y="237"/>
                      <a:pt x="415" y="237"/>
                      <a:pt x="415" y="236"/>
                    </a:cubicBezTo>
                    <a:cubicBezTo>
                      <a:pt x="415" y="235"/>
                      <a:pt x="415" y="234"/>
                      <a:pt x="417" y="234"/>
                    </a:cubicBezTo>
                    <a:cubicBezTo>
                      <a:pt x="419" y="235"/>
                      <a:pt x="419" y="235"/>
                      <a:pt x="420" y="234"/>
                    </a:cubicBezTo>
                    <a:cubicBezTo>
                      <a:pt x="421" y="233"/>
                      <a:pt x="423" y="230"/>
                      <a:pt x="423" y="229"/>
                    </a:cubicBezTo>
                    <a:cubicBezTo>
                      <a:pt x="424" y="227"/>
                      <a:pt x="425" y="226"/>
                      <a:pt x="427" y="22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42" name="Freeform 325">
                <a:extLst>
                  <a:ext uri="{FF2B5EF4-FFF2-40B4-BE49-F238E27FC236}">
                    <a16:creationId xmlns:a16="http://schemas.microsoft.com/office/drawing/2014/main" id="{B20B8243-FFB9-4BA1-A7F7-701323E0F2D2}"/>
                  </a:ext>
                </a:extLst>
              </p:cNvPr>
              <p:cNvSpPr>
                <a:spLocks/>
              </p:cNvSpPr>
              <p:nvPr/>
            </p:nvSpPr>
            <p:spPr bwMode="auto">
              <a:xfrm>
                <a:off x="1608" y="2316"/>
                <a:ext cx="83" cy="85"/>
              </a:xfrm>
              <a:custGeom>
                <a:avLst/>
                <a:gdLst>
                  <a:gd name="T0" fmla="*/ 34 w 60"/>
                  <a:gd name="T1" fmla="*/ 58 h 62"/>
                  <a:gd name="T2" fmla="*/ 35 w 60"/>
                  <a:gd name="T3" fmla="*/ 57 h 62"/>
                  <a:gd name="T4" fmla="*/ 36 w 60"/>
                  <a:gd name="T5" fmla="*/ 57 h 62"/>
                  <a:gd name="T6" fmla="*/ 37 w 60"/>
                  <a:gd name="T7" fmla="*/ 56 h 62"/>
                  <a:gd name="T8" fmla="*/ 38 w 60"/>
                  <a:gd name="T9" fmla="*/ 55 h 62"/>
                  <a:gd name="T10" fmla="*/ 40 w 60"/>
                  <a:gd name="T11" fmla="*/ 54 h 62"/>
                  <a:gd name="T12" fmla="*/ 40 w 60"/>
                  <a:gd name="T13" fmla="*/ 53 h 62"/>
                  <a:gd name="T14" fmla="*/ 40 w 60"/>
                  <a:gd name="T15" fmla="*/ 52 h 62"/>
                  <a:gd name="T16" fmla="*/ 42 w 60"/>
                  <a:gd name="T17" fmla="*/ 51 h 62"/>
                  <a:gd name="T18" fmla="*/ 43 w 60"/>
                  <a:gd name="T19" fmla="*/ 51 h 62"/>
                  <a:gd name="T20" fmla="*/ 44 w 60"/>
                  <a:gd name="T21" fmla="*/ 50 h 62"/>
                  <a:gd name="T22" fmla="*/ 45 w 60"/>
                  <a:gd name="T23" fmla="*/ 49 h 62"/>
                  <a:gd name="T24" fmla="*/ 46 w 60"/>
                  <a:gd name="T25" fmla="*/ 48 h 62"/>
                  <a:gd name="T26" fmla="*/ 46 w 60"/>
                  <a:gd name="T27" fmla="*/ 46 h 62"/>
                  <a:gd name="T28" fmla="*/ 45 w 60"/>
                  <a:gd name="T29" fmla="*/ 45 h 62"/>
                  <a:gd name="T30" fmla="*/ 46 w 60"/>
                  <a:gd name="T31" fmla="*/ 43 h 62"/>
                  <a:gd name="T32" fmla="*/ 46 w 60"/>
                  <a:gd name="T33" fmla="*/ 41 h 62"/>
                  <a:gd name="T34" fmla="*/ 50 w 60"/>
                  <a:gd name="T35" fmla="*/ 39 h 62"/>
                  <a:gd name="T36" fmla="*/ 53 w 60"/>
                  <a:gd name="T37" fmla="*/ 38 h 62"/>
                  <a:gd name="T38" fmla="*/ 60 w 60"/>
                  <a:gd name="T39" fmla="*/ 32 h 62"/>
                  <a:gd name="T40" fmla="*/ 59 w 60"/>
                  <a:gd name="T41" fmla="*/ 30 h 62"/>
                  <a:gd name="T42" fmla="*/ 55 w 60"/>
                  <a:gd name="T43" fmla="*/ 28 h 62"/>
                  <a:gd name="T44" fmla="*/ 55 w 60"/>
                  <a:gd name="T45" fmla="*/ 31 h 62"/>
                  <a:gd name="T46" fmla="*/ 50 w 60"/>
                  <a:gd name="T47" fmla="*/ 30 h 62"/>
                  <a:gd name="T48" fmla="*/ 49 w 60"/>
                  <a:gd name="T49" fmla="*/ 29 h 62"/>
                  <a:gd name="T50" fmla="*/ 45 w 60"/>
                  <a:gd name="T51" fmla="*/ 29 h 62"/>
                  <a:gd name="T52" fmla="*/ 45 w 60"/>
                  <a:gd name="T53" fmla="*/ 28 h 62"/>
                  <a:gd name="T54" fmla="*/ 46 w 60"/>
                  <a:gd name="T55" fmla="*/ 2 h 62"/>
                  <a:gd name="T56" fmla="*/ 46 w 60"/>
                  <a:gd name="T57" fmla="*/ 0 h 62"/>
                  <a:gd name="T58" fmla="*/ 45 w 60"/>
                  <a:gd name="T59" fmla="*/ 0 h 62"/>
                  <a:gd name="T60" fmla="*/ 21 w 60"/>
                  <a:gd name="T61" fmla="*/ 0 h 62"/>
                  <a:gd name="T62" fmla="*/ 19 w 60"/>
                  <a:gd name="T63" fmla="*/ 6 h 62"/>
                  <a:gd name="T64" fmla="*/ 14 w 60"/>
                  <a:gd name="T65" fmla="*/ 8 h 62"/>
                  <a:gd name="T66" fmla="*/ 13 w 60"/>
                  <a:gd name="T67" fmla="*/ 9 h 62"/>
                  <a:gd name="T68" fmla="*/ 26 w 60"/>
                  <a:gd name="T69" fmla="*/ 21 h 62"/>
                  <a:gd name="T70" fmla="*/ 27 w 60"/>
                  <a:gd name="T71" fmla="*/ 25 h 62"/>
                  <a:gd name="T72" fmla="*/ 13 w 60"/>
                  <a:gd name="T73" fmla="*/ 26 h 62"/>
                  <a:gd name="T74" fmla="*/ 3 w 60"/>
                  <a:gd name="T75" fmla="*/ 34 h 62"/>
                  <a:gd name="T76" fmla="*/ 2 w 60"/>
                  <a:gd name="T77" fmla="*/ 40 h 62"/>
                  <a:gd name="T78" fmla="*/ 2 w 60"/>
                  <a:gd name="T79" fmla="*/ 43 h 62"/>
                  <a:gd name="T80" fmla="*/ 1 w 60"/>
                  <a:gd name="T81" fmla="*/ 47 h 62"/>
                  <a:gd name="T82" fmla="*/ 0 w 60"/>
                  <a:gd name="T83" fmla="*/ 49 h 62"/>
                  <a:gd name="T84" fmla="*/ 5 w 60"/>
                  <a:gd name="T85" fmla="*/ 53 h 62"/>
                  <a:gd name="T86" fmla="*/ 21 w 60"/>
                  <a:gd name="T87" fmla="*/ 59 h 62"/>
                  <a:gd name="T88" fmla="*/ 32 w 60"/>
                  <a:gd name="T89" fmla="*/ 62 h 62"/>
                  <a:gd name="T90" fmla="*/ 33 w 60"/>
                  <a:gd name="T91" fmla="*/ 59 h 62"/>
                  <a:gd name="T92" fmla="*/ 34 w 60"/>
                  <a:gd name="T93" fmla="*/ 5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0" h="62">
                    <a:moveTo>
                      <a:pt x="34" y="58"/>
                    </a:moveTo>
                    <a:cubicBezTo>
                      <a:pt x="35" y="58"/>
                      <a:pt x="35" y="57"/>
                      <a:pt x="35" y="57"/>
                    </a:cubicBezTo>
                    <a:cubicBezTo>
                      <a:pt x="36" y="57"/>
                      <a:pt x="36" y="57"/>
                      <a:pt x="36" y="57"/>
                    </a:cubicBezTo>
                    <a:cubicBezTo>
                      <a:pt x="37" y="57"/>
                      <a:pt x="37" y="57"/>
                      <a:pt x="37" y="56"/>
                    </a:cubicBezTo>
                    <a:cubicBezTo>
                      <a:pt x="37" y="56"/>
                      <a:pt x="38" y="55"/>
                      <a:pt x="38" y="55"/>
                    </a:cubicBezTo>
                    <a:cubicBezTo>
                      <a:pt x="39" y="55"/>
                      <a:pt x="40" y="55"/>
                      <a:pt x="40" y="54"/>
                    </a:cubicBezTo>
                    <a:cubicBezTo>
                      <a:pt x="40" y="54"/>
                      <a:pt x="40" y="54"/>
                      <a:pt x="40" y="53"/>
                    </a:cubicBezTo>
                    <a:cubicBezTo>
                      <a:pt x="40" y="52"/>
                      <a:pt x="39" y="52"/>
                      <a:pt x="40" y="52"/>
                    </a:cubicBezTo>
                    <a:cubicBezTo>
                      <a:pt x="41" y="51"/>
                      <a:pt x="42" y="51"/>
                      <a:pt x="42" y="51"/>
                    </a:cubicBezTo>
                    <a:cubicBezTo>
                      <a:pt x="42" y="51"/>
                      <a:pt x="43" y="51"/>
                      <a:pt x="43" y="51"/>
                    </a:cubicBezTo>
                    <a:cubicBezTo>
                      <a:pt x="43" y="51"/>
                      <a:pt x="44" y="50"/>
                      <a:pt x="44" y="50"/>
                    </a:cubicBezTo>
                    <a:cubicBezTo>
                      <a:pt x="44" y="50"/>
                      <a:pt x="44" y="49"/>
                      <a:pt x="45" y="49"/>
                    </a:cubicBezTo>
                    <a:cubicBezTo>
                      <a:pt x="46" y="49"/>
                      <a:pt x="46" y="49"/>
                      <a:pt x="46" y="48"/>
                    </a:cubicBezTo>
                    <a:cubicBezTo>
                      <a:pt x="46" y="48"/>
                      <a:pt x="46" y="47"/>
                      <a:pt x="46" y="46"/>
                    </a:cubicBezTo>
                    <a:cubicBezTo>
                      <a:pt x="46" y="46"/>
                      <a:pt x="45" y="45"/>
                      <a:pt x="45" y="45"/>
                    </a:cubicBezTo>
                    <a:cubicBezTo>
                      <a:pt x="45" y="44"/>
                      <a:pt x="45" y="43"/>
                      <a:pt x="46" y="43"/>
                    </a:cubicBezTo>
                    <a:cubicBezTo>
                      <a:pt x="46" y="42"/>
                      <a:pt x="46" y="42"/>
                      <a:pt x="46" y="41"/>
                    </a:cubicBezTo>
                    <a:cubicBezTo>
                      <a:pt x="47" y="41"/>
                      <a:pt x="49" y="40"/>
                      <a:pt x="50" y="39"/>
                    </a:cubicBezTo>
                    <a:cubicBezTo>
                      <a:pt x="51" y="38"/>
                      <a:pt x="52" y="38"/>
                      <a:pt x="53" y="38"/>
                    </a:cubicBezTo>
                    <a:cubicBezTo>
                      <a:pt x="53" y="37"/>
                      <a:pt x="58" y="33"/>
                      <a:pt x="60" y="32"/>
                    </a:cubicBezTo>
                    <a:cubicBezTo>
                      <a:pt x="60" y="31"/>
                      <a:pt x="59" y="31"/>
                      <a:pt x="59" y="30"/>
                    </a:cubicBezTo>
                    <a:cubicBezTo>
                      <a:pt x="57" y="29"/>
                      <a:pt x="53" y="27"/>
                      <a:pt x="55" y="28"/>
                    </a:cubicBezTo>
                    <a:cubicBezTo>
                      <a:pt x="56" y="30"/>
                      <a:pt x="56" y="30"/>
                      <a:pt x="55" y="31"/>
                    </a:cubicBezTo>
                    <a:cubicBezTo>
                      <a:pt x="53" y="31"/>
                      <a:pt x="51" y="31"/>
                      <a:pt x="50" y="30"/>
                    </a:cubicBezTo>
                    <a:cubicBezTo>
                      <a:pt x="50" y="29"/>
                      <a:pt x="50" y="29"/>
                      <a:pt x="49" y="29"/>
                    </a:cubicBezTo>
                    <a:cubicBezTo>
                      <a:pt x="48" y="29"/>
                      <a:pt x="45" y="29"/>
                      <a:pt x="45" y="29"/>
                    </a:cubicBezTo>
                    <a:cubicBezTo>
                      <a:pt x="44" y="29"/>
                      <a:pt x="45" y="28"/>
                      <a:pt x="45" y="28"/>
                    </a:cubicBezTo>
                    <a:cubicBezTo>
                      <a:pt x="45" y="22"/>
                      <a:pt x="46" y="3"/>
                      <a:pt x="46" y="2"/>
                    </a:cubicBezTo>
                    <a:cubicBezTo>
                      <a:pt x="46" y="1"/>
                      <a:pt x="46" y="1"/>
                      <a:pt x="46" y="0"/>
                    </a:cubicBezTo>
                    <a:cubicBezTo>
                      <a:pt x="45" y="0"/>
                      <a:pt x="45" y="0"/>
                      <a:pt x="45" y="0"/>
                    </a:cubicBezTo>
                    <a:cubicBezTo>
                      <a:pt x="45" y="0"/>
                      <a:pt x="25" y="0"/>
                      <a:pt x="21" y="0"/>
                    </a:cubicBezTo>
                    <a:cubicBezTo>
                      <a:pt x="17" y="0"/>
                      <a:pt x="19" y="4"/>
                      <a:pt x="19" y="6"/>
                    </a:cubicBezTo>
                    <a:cubicBezTo>
                      <a:pt x="18" y="9"/>
                      <a:pt x="17" y="8"/>
                      <a:pt x="14" y="8"/>
                    </a:cubicBezTo>
                    <a:cubicBezTo>
                      <a:pt x="11" y="8"/>
                      <a:pt x="13" y="9"/>
                      <a:pt x="13" y="9"/>
                    </a:cubicBezTo>
                    <a:cubicBezTo>
                      <a:pt x="13" y="9"/>
                      <a:pt x="25" y="20"/>
                      <a:pt x="26" y="21"/>
                    </a:cubicBezTo>
                    <a:cubicBezTo>
                      <a:pt x="28" y="22"/>
                      <a:pt x="28" y="23"/>
                      <a:pt x="27" y="25"/>
                    </a:cubicBezTo>
                    <a:cubicBezTo>
                      <a:pt x="26" y="27"/>
                      <a:pt x="19" y="26"/>
                      <a:pt x="13" y="26"/>
                    </a:cubicBezTo>
                    <a:cubicBezTo>
                      <a:pt x="6" y="27"/>
                      <a:pt x="5" y="31"/>
                      <a:pt x="3" y="34"/>
                    </a:cubicBezTo>
                    <a:cubicBezTo>
                      <a:pt x="1" y="38"/>
                      <a:pt x="1" y="39"/>
                      <a:pt x="2" y="40"/>
                    </a:cubicBezTo>
                    <a:cubicBezTo>
                      <a:pt x="2" y="41"/>
                      <a:pt x="2" y="42"/>
                      <a:pt x="2" y="43"/>
                    </a:cubicBezTo>
                    <a:cubicBezTo>
                      <a:pt x="1" y="44"/>
                      <a:pt x="1" y="46"/>
                      <a:pt x="1" y="47"/>
                    </a:cubicBezTo>
                    <a:cubicBezTo>
                      <a:pt x="1" y="49"/>
                      <a:pt x="0" y="49"/>
                      <a:pt x="0" y="49"/>
                    </a:cubicBezTo>
                    <a:cubicBezTo>
                      <a:pt x="0" y="49"/>
                      <a:pt x="3" y="52"/>
                      <a:pt x="5" y="53"/>
                    </a:cubicBezTo>
                    <a:cubicBezTo>
                      <a:pt x="7" y="55"/>
                      <a:pt x="15" y="60"/>
                      <a:pt x="21" y="59"/>
                    </a:cubicBezTo>
                    <a:cubicBezTo>
                      <a:pt x="25" y="58"/>
                      <a:pt x="30" y="60"/>
                      <a:pt x="32" y="62"/>
                    </a:cubicBezTo>
                    <a:cubicBezTo>
                      <a:pt x="32" y="61"/>
                      <a:pt x="33" y="60"/>
                      <a:pt x="33" y="59"/>
                    </a:cubicBezTo>
                    <a:cubicBezTo>
                      <a:pt x="33" y="59"/>
                      <a:pt x="33" y="58"/>
                      <a:pt x="34" y="5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43" name="Freeform 326">
                <a:extLst>
                  <a:ext uri="{FF2B5EF4-FFF2-40B4-BE49-F238E27FC236}">
                    <a16:creationId xmlns:a16="http://schemas.microsoft.com/office/drawing/2014/main" id="{A81A574F-E710-4594-807B-BF9291616D29}"/>
                  </a:ext>
                </a:extLst>
              </p:cNvPr>
              <p:cNvSpPr>
                <a:spLocks/>
              </p:cNvSpPr>
              <p:nvPr/>
            </p:nvSpPr>
            <p:spPr bwMode="auto">
              <a:xfrm>
                <a:off x="1668" y="2301"/>
                <a:ext cx="25" cy="54"/>
              </a:xfrm>
              <a:custGeom>
                <a:avLst/>
                <a:gdLst>
                  <a:gd name="T0" fmla="*/ 1 w 18"/>
                  <a:gd name="T1" fmla="*/ 39 h 40"/>
                  <a:gd name="T2" fmla="*/ 1 w 18"/>
                  <a:gd name="T3" fmla="*/ 40 h 40"/>
                  <a:gd name="T4" fmla="*/ 5 w 18"/>
                  <a:gd name="T5" fmla="*/ 40 h 40"/>
                  <a:gd name="T6" fmla="*/ 7 w 18"/>
                  <a:gd name="T7" fmla="*/ 38 h 40"/>
                  <a:gd name="T8" fmla="*/ 13 w 18"/>
                  <a:gd name="T9" fmla="*/ 30 h 40"/>
                  <a:gd name="T10" fmla="*/ 16 w 18"/>
                  <a:gd name="T11" fmla="*/ 23 h 40"/>
                  <a:gd name="T12" fmla="*/ 15 w 18"/>
                  <a:gd name="T13" fmla="*/ 17 h 40"/>
                  <a:gd name="T14" fmla="*/ 17 w 18"/>
                  <a:gd name="T15" fmla="*/ 6 h 40"/>
                  <a:gd name="T16" fmla="*/ 16 w 18"/>
                  <a:gd name="T17" fmla="*/ 3 h 40"/>
                  <a:gd name="T18" fmla="*/ 14 w 18"/>
                  <a:gd name="T19" fmla="*/ 0 h 40"/>
                  <a:gd name="T20" fmla="*/ 10 w 18"/>
                  <a:gd name="T21" fmla="*/ 3 h 40"/>
                  <a:gd name="T22" fmla="*/ 7 w 18"/>
                  <a:gd name="T23" fmla="*/ 8 h 40"/>
                  <a:gd name="T24" fmla="*/ 4 w 18"/>
                  <a:gd name="T25" fmla="*/ 8 h 40"/>
                  <a:gd name="T26" fmla="*/ 2 w 18"/>
                  <a:gd name="T27" fmla="*/ 10 h 40"/>
                  <a:gd name="T28" fmla="*/ 2 w 18"/>
                  <a:gd name="T29" fmla="*/ 11 h 40"/>
                  <a:gd name="T30" fmla="*/ 2 w 18"/>
                  <a:gd name="T31" fmla="*/ 13 h 40"/>
                  <a:gd name="T32" fmla="*/ 1 w 18"/>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40">
                    <a:moveTo>
                      <a:pt x="1" y="39"/>
                    </a:moveTo>
                    <a:cubicBezTo>
                      <a:pt x="1" y="39"/>
                      <a:pt x="0" y="40"/>
                      <a:pt x="1" y="40"/>
                    </a:cubicBezTo>
                    <a:cubicBezTo>
                      <a:pt x="1" y="40"/>
                      <a:pt x="4" y="40"/>
                      <a:pt x="5" y="40"/>
                    </a:cubicBezTo>
                    <a:cubicBezTo>
                      <a:pt x="5" y="40"/>
                      <a:pt x="6" y="39"/>
                      <a:pt x="7" y="38"/>
                    </a:cubicBezTo>
                    <a:cubicBezTo>
                      <a:pt x="9" y="36"/>
                      <a:pt x="13" y="32"/>
                      <a:pt x="13" y="30"/>
                    </a:cubicBezTo>
                    <a:cubicBezTo>
                      <a:pt x="14" y="28"/>
                      <a:pt x="17" y="25"/>
                      <a:pt x="16" y="23"/>
                    </a:cubicBezTo>
                    <a:cubicBezTo>
                      <a:pt x="15" y="20"/>
                      <a:pt x="15" y="19"/>
                      <a:pt x="15" y="17"/>
                    </a:cubicBezTo>
                    <a:cubicBezTo>
                      <a:pt x="16" y="15"/>
                      <a:pt x="17" y="7"/>
                      <a:pt x="17" y="6"/>
                    </a:cubicBezTo>
                    <a:cubicBezTo>
                      <a:pt x="17" y="5"/>
                      <a:pt x="18" y="2"/>
                      <a:pt x="16" y="3"/>
                    </a:cubicBezTo>
                    <a:cubicBezTo>
                      <a:pt x="14" y="3"/>
                      <a:pt x="13" y="2"/>
                      <a:pt x="14" y="0"/>
                    </a:cubicBezTo>
                    <a:cubicBezTo>
                      <a:pt x="12" y="0"/>
                      <a:pt x="11" y="1"/>
                      <a:pt x="10" y="3"/>
                    </a:cubicBezTo>
                    <a:cubicBezTo>
                      <a:pt x="10" y="4"/>
                      <a:pt x="8" y="7"/>
                      <a:pt x="7" y="8"/>
                    </a:cubicBezTo>
                    <a:cubicBezTo>
                      <a:pt x="6" y="9"/>
                      <a:pt x="6" y="9"/>
                      <a:pt x="4" y="8"/>
                    </a:cubicBezTo>
                    <a:cubicBezTo>
                      <a:pt x="2" y="8"/>
                      <a:pt x="2" y="9"/>
                      <a:pt x="2" y="10"/>
                    </a:cubicBezTo>
                    <a:cubicBezTo>
                      <a:pt x="2" y="10"/>
                      <a:pt x="2" y="11"/>
                      <a:pt x="2" y="11"/>
                    </a:cubicBezTo>
                    <a:cubicBezTo>
                      <a:pt x="2" y="12"/>
                      <a:pt x="2" y="12"/>
                      <a:pt x="2" y="13"/>
                    </a:cubicBezTo>
                    <a:cubicBezTo>
                      <a:pt x="2" y="14"/>
                      <a:pt x="1" y="33"/>
                      <a:pt x="1" y="3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44" name="Freeform 327">
                <a:extLst>
                  <a:ext uri="{FF2B5EF4-FFF2-40B4-BE49-F238E27FC236}">
                    <a16:creationId xmlns:a16="http://schemas.microsoft.com/office/drawing/2014/main" id="{29318D5C-DD4E-407C-B4BD-3894D85B2C40}"/>
                  </a:ext>
                </a:extLst>
              </p:cNvPr>
              <p:cNvSpPr>
                <a:spLocks/>
              </p:cNvSpPr>
              <p:nvPr/>
            </p:nvSpPr>
            <p:spPr bwMode="auto">
              <a:xfrm>
                <a:off x="1652" y="2386"/>
                <a:ext cx="48" cy="28"/>
              </a:xfrm>
              <a:custGeom>
                <a:avLst/>
                <a:gdLst>
                  <a:gd name="T0" fmla="*/ 11 w 35"/>
                  <a:gd name="T1" fmla="*/ 0 h 21"/>
                  <a:gd name="T2" fmla="*/ 10 w 35"/>
                  <a:gd name="T3" fmla="*/ 0 h 21"/>
                  <a:gd name="T4" fmla="*/ 8 w 35"/>
                  <a:gd name="T5" fmla="*/ 1 h 21"/>
                  <a:gd name="T6" fmla="*/ 8 w 35"/>
                  <a:gd name="T7" fmla="*/ 2 h 21"/>
                  <a:gd name="T8" fmla="*/ 8 w 35"/>
                  <a:gd name="T9" fmla="*/ 3 h 21"/>
                  <a:gd name="T10" fmla="*/ 6 w 35"/>
                  <a:gd name="T11" fmla="*/ 4 h 21"/>
                  <a:gd name="T12" fmla="*/ 5 w 35"/>
                  <a:gd name="T13" fmla="*/ 5 h 21"/>
                  <a:gd name="T14" fmla="*/ 4 w 35"/>
                  <a:gd name="T15" fmla="*/ 6 h 21"/>
                  <a:gd name="T16" fmla="*/ 3 w 35"/>
                  <a:gd name="T17" fmla="*/ 6 h 21"/>
                  <a:gd name="T18" fmla="*/ 2 w 35"/>
                  <a:gd name="T19" fmla="*/ 7 h 21"/>
                  <a:gd name="T20" fmla="*/ 1 w 35"/>
                  <a:gd name="T21" fmla="*/ 8 h 21"/>
                  <a:gd name="T22" fmla="*/ 0 w 35"/>
                  <a:gd name="T23" fmla="*/ 11 h 21"/>
                  <a:gd name="T24" fmla="*/ 1 w 35"/>
                  <a:gd name="T25" fmla="*/ 11 h 21"/>
                  <a:gd name="T26" fmla="*/ 10 w 35"/>
                  <a:gd name="T27" fmla="*/ 15 h 21"/>
                  <a:gd name="T28" fmla="*/ 17 w 35"/>
                  <a:gd name="T29" fmla="*/ 17 h 21"/>
                  <a:gd name="T30" fmla="*/ 26 w 35"/>
                  <a:gd name="T31" fmla="*/ 19 h 21"/>
                  <a:gd name="T32" fmla="*/ 33 w 35"/>
                  <a:gd name="T33" fmla="*/ 18 h 21"/>
                  <a:gd name="T34" fmla="*/ 34 w 35"/>
                  <a:gd name="T35" fmla="*/ 16 h 21"/>
                  <a:gd name="T36" fmla="*/ 35 w 35"/>
                  <a:gd name="T37" fmla="*/ 10 h 21"/>
                  <a:gd name="T38" fmla="*/ 34 w 35"/>
                  <a:gd name="T39" fmla="*/ 9 h 21"/>
                  <a:gd name="T40" fmla="*/ 32 w 35"/>
                  <a:gd name="T41" fmla="*/ 8 h 21"/>
                  <a:gd name="T42" fmla="*/ 31 w 35"/>
                  <a:gd name="T43" fmla="*/ 8 h 21"/>
                  <a:gd name="T44" fmla="*/ 30 w 35"/>
                  <a:gd name="T45" fmla="*/ 7 h 21"/>
                  <a:gd name="T46" fmla="*/ 28 w 35"/>
                  <a:gd name="T47" fmla="*/ 7 h 21"/>
                  <a:gd name="T48" fmla="*/ 27 w 35"/>
                  <a:gd name="T49" fmla="*/ 8 h 21"/>
                  <a:gd name="T50" fmla="*/ 24 w 35"/>
                  <a:gd name="T51" fmla="*/ 9 h 21"/>
                  <a:gd name="T52" fmla="*/ 24 w 35"/>
                  <a:gd name="T53" fmla="*/ 8 h 21"/>
                  <a:gd name="T54" fmla="*/ 21 w 35"/>
                  <a:gd name="T55" fmla="*/ 7 h 21"/>
                  <a:gd name="T56" fmla="*/ 20 w 35"/>
                  <a:gd name="T57" fmla="*/ 6 h 21"/>
                  <a:gd name="T58" fmla="*/ 19 w 35"/>
                  <a:gd name="T59" fmla="*/ 5 h 21"/>
                  <a:gd name="T60" fmla="*/ 17 w 35"/>
                  <a:gd name="T61" fmla="*/ 4 h 21"/>
                  <a:gd name="T62" fmla="*/ 15 w 35"/>
                  <a:gd name="T63" fmla="*/ 1 h 21"/>
                  <a:gd name="T64" fmla="*/ 14 w 35"/>
                  <a:gd name="T65" fmla="*/ 1 h 21"/>
                  <a:gd name="T66" fmla="*/ 11 w 35"/>
                  <a:gd name="T6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21">
                    <a:moveTo>
                      <a:pt x="11" y="0"/>
                    </a:moveTo>
                    <a:cubicBezTo>
                      <a:pt x="11" y="0"/>
                      <a:pt x="10" y="0"/>
                      <a:pt x="10" y="0"/>
                    </a:cubicBezTo>
                    <a:cubicBezTo>
                      <a:pt x="10" y="0"/>
                      <a:pt x="9" y="0"/>
                      <a:pt x="8" y="1"/>
                    </a:cubicBezTo>
                    <a:cubicBezTo>
                      <a:pt x="7" y="1"/>
                      <a:pt x="8" y="1"/>
                      <a:pt x="8" y="2"/>
                    </a:cubicBezTo>
                    <a:cubicBezTo>
                      <a:pt x="8" y="3"/>
                      <a:pt x="8" y="3"/>
                      <a:pt x="8" y="3"/>
                    </a:cubicBezTo>
                    <a:cubicBezTo>
                      <a:pt x="8" y="4"/>
                      <a:pt x="7" y="4"/>
                      <a:pt x="6" y="4"/>
                    </a:cubicBezTo>
                    <a:cubicBezTo>
                      <a:pt x="6" y="4"/>
                      <a:pt x="5" y="5"/>
                      <a:pt x="5" y="5"/>
                    </a:cubicBezTo>
                    <a:cubicBezTo>
                      <a:pt x="5" y="6"/>
                      <a:pt x="5" y="6"/>
                      <a:pt x="4" y="6"/>
                    </a:cubicBezTo>
                    <a:cubicBezTo>
                      <a:pt x="4" y="6"/>
                      <a:pt x="4" y="6"/>
                      <a:pt x="3" y="6"/>
                    </a:cubicBezTo>
                    <a:cubicBezTo>
                      <a:pt x="3" y="6"/>
                      <a:pt x="3" y="7"/>
                      <a:pt x="2" y="7"/>
                    </a:cubicBezTo>
                    <a:cubicBezTo>
                      <a:pt x="1" y="7"/>
                      <a:pt x="1" y="8"/>
                      <a:pt x="1" y="8"/>
                    </a:cubicBezTo>
                    <a:cubicBezTo>
                      <a:pt x="1" y="9"/>
                      <a:pt x="0" y="10"/>
                      <a:pt x="0" y="11"/>
                    </a:cubicBezTo>
                    <a:cubicBezTo>
                      <a:pt x="0" y="11"/>
                      <a:pt x="1" y="11"/>
                      <a:pt x="1" y="11"/>
                    </a:cubicBezTo>
                    <a:cubicBezTo>
                      <a:pt x="2" y="12"/>
                      <a:pt x="8" y="14"/>
                      <a:pt x="10" y="15"/>
                    </a:cubicBezTo>
                    <a:cubicBezTo>
                      <a:pt x="12" y="15"/>
                      <a:pt x="15" y="17"/>
                      <a:pt x="17" y="17"/>
                    </a:cubicBezTo>
                    <a:cubicBezTo>
                      <a:pt x="18" y="18"/>
                      <a:pt x="24" y="19"/>
                      <a:pt x="26" y="19"/>
                    </a:cubicBezTo>
                    <a:cubicBezTo>
                      <a:pt x="28" y="19"/>
                      <a:pt x="33" y="21"/>
                      <a:pt x="33" y="18"/>
                    </a:cubicBezTo>
                    <a:cubicBezTo>
                      <a:pt x="34" y="17"/>
                      <a:pt x="34" y="16"/>
                      <a:pt x="34" y="16"/>
                    </a:cubicBezTo>
                    <a:cubicBezTo>
                      <a:pt x="35" y="14"/>
                      <a:pt x="35" y="11"/>
                      <a:pt x="35" y="10"/>
                    </a:cubicBezTo>
                    <a:cubicBezTo>
                      <a:pt x="35" y="9"/>
                      <a:pt x="34" y="9"/>
                      <a:pt x="34" y="9"/>
                    </a:cubicBezTo>
                    <a:cubicBezTo>
                      <a:pt x="33" y="8"/>
                      <a:pt x="33" y="8"/>
                      <a:pt x="32" y="8"/>
                    </a:cubicBezTo>
                    <a:cubicBezTo>
                      <a:pt x="32" y="8"/>
                      <a:pt x="31" y="8"/>
                      <a:pt x="31" y="8"/>
                    </a:cubicBezTo>
                    <a:cubicBezTo>
                      <a:pt x="31" y="8"/>
                      <a:pt x="30" y="8"/>
                      <a:pt x="30" y="7"/>
                    </a:cubicBezTo>
                    <a:cubicBezTo>
                      <a:pt x="30" y="7"/>
                      <a:pt x="29" y="7"/>
                      <a:pt x="28" y="7"/>
                    </a:cubicBezTo>
                    <a:cubicBezTo>
                      <a:pt x="28" y="7"/>
                      <a:pt x="27" y="7"/>
                      <a:pt x="27" y="8"/>
                    </a:cubicBezTo>
                    <a:cubicBezTo>
                      <a:pt x="27" y="8"/>
                      <a:pt x="25" y="8"/>
                      <a:pt x="24" y="9"/>
                    </a:cubicBezTo>
                    <a:cubicBezTo>
                      <a:pt x="23" y="9"/>
                      <a:pt x="24" y="8"/>
                      <a:pt x="24" y="8"/>
                    </a:cubicBezTo>
                    <a:cubicBezTo>
                      <a:pt x="23" y="7"/>
                      <a:pt x="21" y="7"/>
                      <a:pt x="21" y="7"/>
                    </a:cubicBezTo>
                    <a:cubicBezTo>
                      <a:pt x="21" y="7"/>
                      <a:pt x="20" y="6"/>
                      <a:pt x="20" y="6"/>
                    </a:cubicBezTo>
                    <a:cubicBezTo>
                      <a:pt x="20" y="5"/>
                      <a:pt x="20" y="5"/>
                      <a:pt x="19" y="5"/>
                    </a:cubicBezTo>
                    <a:cubicBezTo>
                      <a:pt x="19" y="5"/>
                      <a:pt x="18" y="4"/>
                      <a:pt x="17" y="4"/>
                    </a:cubicBezTo>
                    <a:cubicBezTo>
                      <a:pt x="17" y="3"/>
                      <a:pt x="15" y="2"/>
                      <a:pt x="15" y="1"/>
                    </a:cubicBezTo>
                    <a:cubicBezTo>
                      <a:pt x="15" y="1"/>
                      <a:pt x="15" y="1"/>
                      <a:pt x="14" y="1"/>
                    </a:cubicBezTo>
                    <a:cubicBezTo>
                      <a:pt x="13" y="1"/>
                      <a:pt x="12" y="1"/>
                      <a:pt x="1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45" name="Freeform 328">
                <a:extLst>
                  <a:ext uri="{FF2B5EF4-FFF2-40B4-BE49-F238E27FC236}">
                    <a16:creationId xmlns:a16="http://schemas.microsoft.com/office/drawing/2014/main" id="{0425B2F0-329A-4ECE-AA75-1DA356112BA4}"/>
                  </a:ext>
                </a:extLst>
              </p:cNvPr>
              <p:cNvSpPr>
                <a:spLocks/>
              </p:cNvSpPr>
              <p:nvPr/>
            </p:nvSpPr>
            <p:spPr bwMode="auto">
              <a:xfrm>
                <a:off x="1667" y="2353"/>
                <a:ext cx="127" cy="63"/>
              </a:xfrm>
              <a:custGeom>
                <a:avLst/>
                <a:gdLst>
                  <a:gd name="T0" fmla="*/ 36 w 92"/>
                  <a:gd name="T1" fmla="*/ 44 h 46"/>
                  <a:gd name="T2" fmla="*/ 38 w 92"/>
                  <a:gd name="T3" fmla="*/ 42 h 46"/>
                  <a:gd name="T4" fmla="*/ 39 w 92"/>
                  <a:gd name="T5" fmla="*/ 38 h 46"/>
                  <a:gd name="T6" fmla="*/ 39 w 92"/>
                  <a:gd name="T7" fmla="*/ 34 h 46"/>
                  <a:gd name="T8" fmla="*/ 42 w 92"/>
                  <a:gd name="T9" fmla="*/ 34 h 46"/>
                  <a:gd name="T10" fmla="*/ 45 w 92"/>
                  <a:gd name="T11" fmla="*/ 34 h 46"/>
                  <a:gd name="T12" fmla="*/ 50 w 92"/>
                  <a:gd name="T13" fmla="*/ 30 h 46"/>
                  <a:gd name="T14" fmla="*/ 51 w 92"/>
                  <a:gd name="T15" fmla="*/ 32 h 46"/>
                  <a:gd name="T16" fmla="*/ 54 w 92"/>
                  <a:gd name="T17" fmla="*/ 33 h 46"/>
                  <a:gd name="T18" fmla="*/ 62 w 92"/>
                  <a:gd name="T19" fmla="*/ 26 h 46"/>
                  <a:gd name="T20" fmla="*/ 63 w 92"/>
                  <a:gd name="T21" fmla="*/ 22 h 46"/>
                  <a:gd name="T22" fmla="*/ 65 w 92"/>
                  <a:gd name="T23" fmla="*/ 19 h 46"/>
                  <a:gd name="T24" fmla="*/ 71 w 92"/>
                  <a:gd name="T25" fmla="*/ 21 h 46"/>
                  <a:gd name="T26" fmla="*/ 92 w 92"/>
                  <a:gd name="T27" fmla="*/ 16 h 46"/>
                  <a:gd name="T28" fmla="*/ 86 w 92"/>
                  <a:gd name="T29" fmla="*/ 12 h 46"/>
                  <a:gd name="T30" fmla="*/ 82 w 92"/>
                  <a:gd name="T31" fmla="*/ 12 h 46"/>
                  <a:gd name="T32" fmla="*/ 80 w 92"/>
                  <a:gd name="T33" fmla="*/ 8 h 46"/>
                  <a:gd name="T34" fmla="*/ 78 w 92"/>
                  <a:gd name="T35" fmla="*/ 5 h 46"/>
                  <a:gd name="T36" fmla="*/ 67 w 92"/>
                  <a:gd name="T37" fmla="*/ 2 h 46"/>
                  <a:gd name="T38" fmla="*/ 53 w 92"/>
                  <a:gd name="T39" fmla="*/ 1 h 46"/>
                  <a:gd name="T40" fmla="*/ 48 w 92"/>
                  <a:gd name="T41" fmla="*/ 2 h 46"/>
                  <a:gd name="T42" fmla="*/ 37 w 92"/>
                  <a:gd name="T43" fmla="*/ 4 h 46"/>
                  <a:gd name="T44" fmla="*/ 20 w 92"/>
                  <a:gd name="T45" fmla="*/ 4 h 46"/>
                  <a:gd name="T46" fmla="*/ 10 w 92"/>
                  <a:gd name="T47" fmla="*/ 11 h 46"/>
                  <a:gd name="T48" fmla="*/ 3 w 92"/>
                  <a:gd name="T49" fmla="*/ 14 h 46"/>
                  <a:gd name="T50" fmla="*/ 2 w 92"/>
                  <a:gd name="T51" fmla="*/ 18 h 46"/>
                  <a:gd name="T52" fmla="*/ 3 w 92"/>
                  <a:gd name="T53" fmla="*/ 21 h 46"/>
                  <a:gd name="T54" fmla="*/ 1 w 92"/>
                  <a:gd name="T55" fmla="*/ 23 h 46"/>
                  <a:gd name="T56" fmla="*/ 3 w 92"/>
                  <a:gd name="T57" fmla="*/ 25 h 46"/>
                  <a:gd name="T58" fmla="*/ 6 w 92"/>
                  <a:gd name="T59" fmla="*/ 28 h 46"/>
                  <a:gd name="T60" fmla="*/ 9 w 92"/>
                  <a:gd name="T61" fmla="*/ 30 h 46"/>
                  <a:gd name="T62" fmla="*/ 13 w 92"/>
                  <a:gd name="T63" fmla="*/ 32 h 46"/>
                  <a:gd name="T64" fmla="*/ 16 w 92"/>
                  <a:gd name="T65" fmla="*/ 32 h 46"/>
                  <a:gd name="T66" fmla="*/ 19 w 92"/>
                  <a:gd name="T67" fmla="*/ 31 h 46"/>
                  <a:gd name="T68" fmla="*/ 21 w 92"/>
                  <a:gd name="T69" fmla="*/ 32 h 46"/>
                  <a:gd name="T70" fmla="*/ 24 w 92"/>
                  <a:gd name="T71" fmla="*/ 34 h 46"/>
                  <a:gd name="T72" fmla="*/ 25 w 92"/>
                  <a:gd name="T73" fmla="*/ 39 h 46"/>
                  <a:gd name="T74" fmla="*/ 29 w 92"/>
                  <a:gd name="T75" fmla="*/ 43 h 46"/>
                  <a:gd name="T76" fmla="*/ 33 w 92"/>
                  <a:gd name="T7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2" h="46">
                    <a:moveTo>
                      <a:pt x="33" y="46"/>
                    </a:moveTo>
                    <a:cubicBezTo>
                      <a:pt x="34" y="45"/>
                      <a:pt x="36" y="44"/>
                      <a:pt x="36" y="44"/>
                    </a:cubicBezTo>
                    <a:cubicBezTo>
                      <a:pt x="36" y="43"/>
                      <a:pt x="36" y="42"/>
                      <a:pt x="37" y="42"/>
                    </a:cubicBezTo>
                    <a:cubicBezTo>
                      <a:pt x="37" y="42"/>
                      <a:pt x="38" y="42"/>
                      <a:pt x="38" y="42"/>
                    </a:cubicBezTo>
                    <a:cubicBezTo>
                      <a:pt x="39" y="42"/>
                      <a:pt x="39" y="42"/>
                      <a:pt x="39" y="41"/>
                    </a:cubicBezTo>
                    <a:cubicBezTo>
                      <a:pt x="39" y="41"/>
                      <a:pt x="39" y="39"/>
                      <a:pt x="39" y="38"/>
                    </a:cubicBezTo>
                    <a:cubicBezTo>
                      <a:pt x="38" y="37"/>
                      <a:pt x="38" y="36"/>
                      <a:pt x="38" y="35"/>
                    </a:cubicBezTo>
                    <a:cubicBezTo>
                      <a:pt x="38" y="35"/>
                      <a:pt x="38" y="34"/>
                      <a:pt x="39" y="34"/>
                    </a:cubicBezTo>
                    <a:cubicBezTo>
                      <a:pt x="40" y="34"/>
                      <a:pt x="41" y="34"/>
                      <a:pt x="41" y="34"/>
                    </a:cubicBezTo>
                    <a:cubicBezTo>
                      <a:pt x="41" y="34"/>
                      <a:pt x="42" y="34"/>
                      <a:pt x="42" y="34"/>
                    </a:cubicBezTo>
                    <a:cubicBezTo>
                      <a:pt x="42" y="34"/>
                      <a:pt x="43" y="35"/>
                      <a:pt x="44" y="35"/>
                    </a:cubicBezTo>
                    <a:cubicBezTo>
                      <a:pt x="44" y="35"/>
                      <a:pt x="45" y="34"/>
                      <a:pt x="45" y="34"/>
                    </a:cubicBezTo>
                    <a:cubicBezTo>
                      <a:pt x="45" y="34"/>
                      <a:pt x="48" y="30"/>
                      <a:pt x="49" y="30"/>
                    </a:cubicBezTo>
                    <a:cubicBezTo>
                      <a:pt x="49" y="30"/>
                      <a:pt x="50" y="30"/>
                      <a:pt x="50" y="30"/>
                    </a:cubicBezTo>
                    <a:cubicBezTo>
                      <a:pt x="49" y="31"/>
                      <a:pt x="49" y="31"/>
                      <a:pt x="50" y="31"/>
                    </a:cubicBezTo>
                    <a:cubicBezTo>
                      <a:pt x="50" y="32"/>
                      <a:pt x="51" y="32"/>
                      <a:pt x="51" y="32"/>
                    </a:cubicBezTo>
                    <a:cubicBezTo>
                      <a:pt x="51" y="33"/>
                      <a:pt x="53" y="33"/>
                      <a:pt x="53" y="33"/>
                    </a:cubicBezTo>
                    <a:cubicBezTo>
                      <a:pt x="53" y="33"/>
                      <a:pt x="54" y="33"/>
                      <a:pt x="54" y="33"/>
                    </a:cubicBezTo>
                    <a:cubicBezTo>
                      <a:pt x="54" y="32"/>
                      <a:pt x="56" y="30"/>
                      <a:pt x="57" y="29"/>
                    </a:cubicBezTo>
                    <a:cubicBezTo>
                      <a:pt x="59" y="29"/>
                      <a:pt x="62" y="26"/>
                      <a:pt x="62" y="26"/>
                    </a:cubicBezTo>
                    <a:cubicBezTo>
                      <a:pt x="62" y="26"/>
                      <a:pt x="62" y="26"/>
                      <a:pt x="62" y="25"/>
                    </a:cubicBezTo>
                    <a:cubicBezTo>
                      <a:pt x="62" y="25"/>
                      <a:pt x="62" y="23"/>
                      <a:pt x="63" y="22"/>
                    </a:cubicBezTo>
                    <a:cubicBezTo>
                      <a:pt x="63" y="22"/>
                      <a:pt x="64" y="22"/>
                      <a:pt x="64" y="21"/>
                    </a:cubicBezTo>
                    <a:cubicBezTo>
                      <a:pt x="64" y="21"/>
                      <a:pt x="64" y="20"/>
                      <a:pt x="65" y="19"/>
                    </a:cubicBezTo>
                    <a:cubicBezTo>
                      <a:pt x="66" y="18"/>
                      <a:pt x="67" y="19"/>
                      <a:pt x="68" y="19"/>
                    </a:cubicBezTo>
                    <a:cubicBezTo>
                      <a:pt x="68" y="19"/>
                      <a:pt x="70" y="20"/>
                      <a:pt x="71" y="21"/>
                    </a:cubicBezTo>
                    <a:cubicBezTo>
                      <a:pt x="72" y="21"/>
                      <a:pt x="73" y="21"/>
                      <a:pt x="75" y="21"/>
                    </a:cubicBezTo>
                    <a:cubicBezTo>
                      <a:pt x="77" y="20"/>
                      <a:pt x="88" y="17"/>
                      <a:pt x="92" y="16"/>
                    </a:cubicBezTo>
                    <a:cubicBezTo>
                      <a:pt x="92" y="16"/>
                      <a:pt x="92" y="15"/>
                      <a:pt x="91" y="15"/>
                    </a:cubicBezTo>
                    <a:cubicBezTo>
                      <a:pt x="89" y="14"/>
                      <a:pt x="85" y="13"/>
                      <a:pt x="86" y="12"/>
                    </a:cubicBezTo>
                    <a:cubicBezTo>
                      <a:pt x="87" y="11"/>
                      <a:pt x="86" y="11"/>
                      <a:pt x="84" y="12"/>
                    </a:cubicBezTo>
                    <a:cubicBezTo>
                      <a:pt x="83" y="13"/>
                      <a:pt x="83" y="12"/>
                      <a:pt x="82" y="12"/>
                    </a:cubicBezTo>
                    <a:cubicBezTo>
                      <a:pt x="81" y="12"/>
                      <a:pt x="78" y="11"/>
                      <a:pt x="78" y="9"/>
                    </a:cubicBezTo>
                    <a:cubicBezTo>
                      <a:pt x="78" y="7"/>
                      <a:pt x="78" y="7"/>
                      <a:pt x="80" y="8"/>
                    </a:cubicBezTo>
                    <a:cubicBezTo>
                      <a:pt x="82" y="10"/>
                      <a:pt x="85" y="11"/>
                      <a:pt x="83" y="9"/>
                    </a:cubicBezTo>
                    <a:cubicBezTo>
                      <a:pt x="82" y="8"/>
                      <a:pt x="79" y="5"/>
                      <a:pt x="78" y="5"/>
                    </a:cubicBezTo>
                    <a:cubicBezTo>
                      <a:pt x="78" y="5"/>
                      <a:pt x="75" y="3"/>
                      <a:pt x="74" y="3"/>
                    </a:cubicBezTo>
                    <a:cubicBezTo>
                      <a:pt x="72" y="4"/>
                      <a:pt x="68" y="3"/>
                      <a:pt x="67" y="2"/>
                    </a:cubicBezTo>
                    <a:cubicBezTo>
                      <a:pt x="66" y="1"/>
                      <a:pt x="64" y="0"/>
                      <a:pt x="61" y="1"/>
                    </a:cubicBezTo>
                    <a:cubicBezTo>
                      <a:pt x="59" y="2"/>
                      <a:pt x="53" y="1"/>
                      <a:pt x="53" y="1"/>
                    </a:cubicBezTo>
                    <a:cubicBezTo>
                      <a:pt x="51" y="0"/>
                      <a:pt x="51" y="0"/>
                      <a:pt x="50" y="1"/>
                    </a:cubicBezTo>
                    <a:cubicBezTo>
                      <a:pt x="50" y="2"/>
                      <a:pt x="49" y="2"/>
                      <a:pt x="48" y="2"/>
                    </a:cubicBezTo>
                    <a:cubicBezTo>
                      <a:pt x="47" y="3"/>
                      <a:pt x="44" y="4"/>
                      <a:pt x="43" y="4"/>
                    </a:cubicBezTo>
                    <a:cubicBezTo>
                      <a:pt x="42" y="4"/>
                      <a:pt x="38" y="3"/>
                      <a:pt x="37" y="4"/>
                    </a:cubicBezTo>
                    <a:cubicBezTo>
                      <a:pt x="36" y="4"/>
                      <a:pt x="29" y="3"/>
                      <a:pt x="26" y="2"/>
                    </a:cubicBezTo>
                    <a:cubicBezTo>
                      <a:pt x="24" y="1"/>
                      <a:pt x="22" y="2"/>
                      <a:pt x="20" y="4"/>
                    </a:cubicBezTo>
                    <a:cubicBezTo>
                      <a:pt x="18" y="4"/>
                      <a:pt x="18" y="5"/>
                      <a:pt x="17" y="5"/>
                    </a:cubicBezTo>
                    <a:cubicBezTo>
                      <a:pt x="15" y="6"/>
                      <a:pt x="10" y="10"/>
                      <a:pt x="10" y="11"/>
                    </a:cubicBezTo>
                    <a:cubicBezTo>
                      <a:pt x="9" y="11"/>
                      <a:pt x="8" y="11"/>
                      <a:pt x="7" y="12"/>
                    </a:cubicBezTo>
                    <a:cubicBezTo>
                      <a:pt x="6" y="13"/>
                      <a:pt x="4" y="14"/>
                      <a:pt x="3" y="14"/>
                    </a:cubicBezTo>
                    <a:cubicBezTo>
                      <a:pt x="3" y="15"/>
                      <a:pt x="3" y="15"/>
                      <a:pt x="3" y="16"/>
                    </a:cubicBezTo>
                    <a:cubicBezTo>
                      <a:pt x="2" y="16"/>
                      <a:pt x="2" y="17"/>
                      <a:pt x="2" y="18"/>
                    </a:cubicBezTo>
                    <a:cubicBezTo>
                      <a:pt x="2" y="18"/>
                      <a:pt x="3" y="19"/>
                      <a:pt x="3" y="19"/>
                    </a:cubicBezTo>
                    <a:cubicBezTo>
                      <a:pt x="3" y="20"/>
                      <a:pt x="3" y="21"/>
                      <a:pt x="3" y="21"/>
                    </a:cubicBezTo>
                    <a:cubicBezTo>
                      <a:pt x="3" y="22"/>
                      <a:pt x="3" y="22"/>
                      <a:pt x="2" y="22"/>
                    </a:cubicBezTo>
                    <a:cubicBezTo>
                      <a:pt x="1" y="22"/>
                      <a:pt x="1" y="23"/>
                      <a:pt x="1" y="23"/>
                    </a:cubicBezTo>
                    <a:cubicBezTo>
                      <a:pt x="1" y="23"/>
                      <a:pt x="0" y="24"/>
                      <a:pt x="0" y="24"/>
                    </a:cubicBezTo>
                    <a:cubicBezTo>
                      <a:pt x="1" y="25"/>
                      <a:pt x="2" y="25"/>
                      <a:pt x="3" y="25"/>
                    </a:cubicBezTo>
                    <a:cubicBezTo>
                      <a:pt x="4" y="25"/>
                      <a:pt x="4" y="25"/>
                      <a:pt x="4" y="25"/>
                    </a:cubicBezTo>
                    <a:cubicBezTo>
                      <a:pt x="4" y="26"/>
                      <a:pt x="6" y="27"/>
                      <a:pt x="6" y="28"/>
                    </a:cubicBezTo>
                    <a:cubicBezTo>
                      <a:pt x="7" y="28"/>
                      <a:pt x="8" y="29"/>
                      <a:pt x="8" y="29"/>
                    </a:cubicBezTo>
                    <a:cubicBezTo>
                      <a:pt x="9" y="29"/>
                      <a:pt x="9" y="29"/>
                      <a:pt x="9" y="30"/>
                    </a:cubicBezTo>
                    <a:cubicBezTo>
                      <a:pt x="9" y="30"/>
                      <a:pt x="10" y="31"/>
                      <a:pt x="10" y="31"/>
                    </a:cubicBezTo>
                    <a:cubicBezTo>
                      <a:pt x="10" y="31"/>
                      <a:pt x="12" y="31"/>
                      <a:pt x="13" y="32"/>
                    </a:cubicBezTo>
                    <a:cubicBezTo>
                      <a:pt x="13" y="32"/>
                      <a:pt x="12" y="33"/>
                      <a:pt x="13" y="33"/>
                    </a:cubicBezTo>
                    <a:cubicBezTo>
                      <a:pt x="14" y="32"/>
                      <a:pt x="16" y="32"/>
                      <a:pt x="16" y="32"/>
                    </a:cubicBezTo>
                    <a:cubicBezTo>
                      <a:pt x="16" y="31"/>
                      <a:pt x="17" y="31"/>
                      <a:pt x="17" y="31"/>
                    </a:cubicBezTo>
                    <a:cubicBezTo>
                      <a:pt x="18" y="31"/>
                      <a:pt x="19" y="31"/>
                      <a:pt x="19" y="31"/>
                    </a:cubicBezTo>
                    <a:cubicBezTo>
                      <a:pt x="19" y="32"/>
                      <a:pt x="20" y="32"/>
                      <a:pt x="20" y="32"/>
                    </a:cubicBezTo>
                    <a:cubicBezTo>
                      <a:pt x="20" y="32"/>
                      <a:pt x="21" y="32"/>
                      <a:pt x="21" y="32"/>
                    </a:cubicBezTo>
                    <a:cubicBezTo>
                      <a:pt x="22" y="32"/>
                      <a:pt x="22" y="32"/>
                      <a:pt x="23" y="33"/>
                    </a:cubicBezTo>
                    <a:cubicBezTo>
                      <a:pt x="23" y="33"/>
                      <a:pt x="24" y="33"/>
                      <a:pt x="24" y="34"/>
                    </a:cubicBezTo>
                    <a:cubicBezTo>
                      <a:pt x="24" y="35"/>
                      <a:pt x="24" y="38"/>
                      <a:pt x="23" y="40"/>
                    </a:cubicBezTo>
                    <a:cubicBezTo>
                      <a:pt x="24" y="40"/>
                      <a:pt x="24" y="39"/>
                      <a:pt x="25" y="39"/>
                    </a:cubicBezTo>
                    <a:cubicBezTo>
                      <a:pt x="26" y="39"/>
                      <a:pt x="30" y="39"/>
                      <a:pt x="28" y="41"/>
                    </a:cubicBezTo>
                    <a:cubicBezTo>
                      <a:pt x="26" y="42"/>
                      <a:pt x="28" y="42"/>
                      <a:pt x="29" y="43"/>
                    </a:cubicBezTo>
                    <a:cubicBezTo>
                      <a:pt x="30" y="44"/>
                      <a:pt x="31" y="46"/>
                      <a:pt x="31" y="46"/>
                    </a:cubicBezTo>
                    <a:cubicBezTo>
                      <a:pt x="33" y="46"/>
                      <a:pt x="33" y="46"/>
                      <a:pt x="33" y="46"/>
                    </a:cubicBezTo>
                    <a:cubicBezTo>
                      <a:pt x="33" y="46"/>
                      <a:pt x="33" y="46"/>
                      <a:pt x="33" y="4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46" name="Freeform 329">
                <a:extLst>
                  <a:ext uri="{FF2B5EF4-FFF2-40B4-BE49-F238E27FC236}">
                    <a16:creationId xmlns:a16="http://schemas.microsoft.com/office/drawing/2014/main" id="{780C0DBF-31AA-423C-9352-03B8DE56AF86}"/>
                  </a:ext>
                </a:extLst>
              </p:cNvPr>
              <p:cNvSpPr>
                <a:spLocks noEditPoints="1"/>
              </p:cNvSpPr>
              <p:nvPr/>
            </p:nvSpPr>
            <p:spPr bwMode="auto">
              <a:xfrm>
                <a:off x="1700" y="2375"/>
                <a:ext cx="96" cy="87"/>
              </a:xfrm>
              <a:custGeom>
                <a:avLst/>
                <a:gdLst>
                  <a:gd name="T0" fmla="*/ 68 w 69"/>
                  <a:gd name="T1" fmla="*/ 0 h 64"/>
                  <a:gd name="T2" fmla="*/ 47 w 69"/>
                  <a:gd name="T3" fmla="*/ 5 h 64"/>
                  <a:gd name="T4" fmla="*/ 41 w 69"/>
                  <a:gd name="T5" fmla="*/ 3 h 64"/>
                  <a:gd name="T6" fmla="*/ 39 w 69"/>
                  <a:gd name="T7" fmla="*/ 6 h 64"/>
                  <a:gd name="T8" fmla="*/ 38 w 69"/>
                  <a:gd name="T9" fmla="*/ 10 h 64"/>
                  <a:gd name="T10" fmla="*/ 30 w 69"/>
                  <a:gd name="T11" fmla="*/ 17 h 64"/>
                  <a:gd name="T12" fmla="*/ 27 w 69"/>
                  <a:gd name="T13" fmla="*/ 16 h 64"/>
                  <a:gd name="T14" fmla="*/ 26 w 69"/>
                  <a:gd name="T15" fmla="*/ 14 h 64"/>
                  <a:gd name="T16" fmla="*/ 21 w 69"/>
                  <a:gd name="T17" fmla="*/ 18 h 64"/>
                  <a:gd name="T18" fmla="*/ 18 w 69"/>
                  <a:gd name="T19" fmla="*/ 18 h 64"/>
                  <a:gd name="T20" fmla="*/ 15 w 69"/>
                  <a:gd name="T21" fmla="*/ 18 h 64"/>
                  <a:gd name="T22" fmla="*/ 15 w 69"/>
                  <a:gd name="T23" fmla="*/ 22 h 64"/>
                  <a:gd name="T24" fmla="*/ 14 w 69"/>
                  <a:gd name="T25" fmla="*/ 26 h 64"/>
                  <a:gd name="T26" fmla="*/ 12 w 69"/>
                  <a:gd name="T27" fmla="*/ 28 h 64"/>
                  <a:gd name="T28" fmla="*/ 9 w 69"/>
                  <a:gd name="T29" fmla="*/ 30 h 64"/>
                  <a:gd name="T30" fmla="*/ 7 w 69"/>
                  <a:gd name="T31" fmla="*/ 30 h 64"/>
                  <a:gd name="T32" fmla="*/ 2 w 69"/>
                  <a:gd name="T33" fmla="*/ 29 h 64"/>
                  <a:gd name="T34" fmla="*/ 12 w 69"/>
                  <a:gd name="T35" fmla="*/ 41 h 64"/>
                  <a:gd name="T36" fmla="*/ 26 w 69"/>
                  <a:gd name="T37" fmla="*/ 55 h 64"/>
                  <a:gd name="T38" fmla="*/ 31 w 69"/>
                  <a:gd name="T39" fmla="*/ 58 h 64"/>
                  <a:gd name="T40" fmla="*/ 42 w 69"/>
                  <a:gd name="T41" fmla="*/ 60 h 64"/>
                  <a:gd name="T42" fmla="*/ 47 w 69"/>
                  <a:gd name="T43" fmla="*/ 60 h 64"/>
                  <a:gd name="T44" fmla="*/ 52 w 69"/>
                  <a:gd name="T45" fmla="*/ 63 h 64"/>
                  <a:gd name="T46" fmla="*/ 58 w 69"/>
                  <a:gd name="T47" fmla="*/ 64 h 64"/>
                  <a:gd name="T48" fmla="*/ 60 w 69"/>
                  <a:gd name="T49" fmla="*/ 61 h 64"/>
                  <a:gd name="T50" fmla="*/ 58 w 69"/>
                  <a:gd name="T51" fmla="*/ 54 h 64"/>
                  <a:gd name="T52" fmla="*/ 58 w 69"/>
                  <a:gd name="T53" fmla="*/ 44 h 64"/>
                  <a:gd name="T54" fmla="*/ 60 w 69"/>
                  <a:gd name="T55" fmla="*/ 43 h 64"/>
                  <a:gd name="T56" fmla="*/ 61 w 69"/>
                  <a:gd name="T57" fmla="*/ 36 h 64"/>
                  <a:gd name="T58" fmla="*/ 62 w 69"/>
                  <a:gd name="T59" fmla="*/ 39 h 64"/>
                  <a:gd name="T60" fmla="*/ 63 w 69"/>
                  <a:gd name="T61" fmla="*/ 26 h 64"/>
                  <a:gd name="T62" fmla="*/ 67 w 69"/>
                  <a:gd name="T63" fmla="*/ 8 h 64"/>
                  <a:gd name="T64" fmla="*/ 35 w 69"/>
                  <a:gd name="T65" fmla="*/ 57 h 64"/>
                  <a:gd name="T66" fmla="*/ 28 w 69"/>
                  <a:gd name="T67" fmla="*/ 44 h 64"/>
                  <a:gd name="T68" fmla="*/ 35 w 69"/>
                  <a:gd name="T69" fmla="*/ 5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9" h="64">
                    <a:moveTo>
                      <a:pt x="66" y="1"/>
                    </a:moveTo>
                    <a:cubicBezTo>
                      <a:pt x="68" y="0"/>
                      <a:pt x="69" y="0"/>
                      <a:pt x="68" y="0"/>
                    </a:cubicBezTo>
                    <a:cubicBezTo>
                      <a:pt x="64" y="1"/>
                      <a:pt x="53" y="4"/>
                      <a:pt x="51" y="5"/>
                    </a:cubicBezTo>
                    <a:cubicBezTo>
                      <a:pt x="49" y="5"/>
                      <a:pt x="48" y="5"/>
                      <a:pt x="47" y="5"/>
                    </a:cubicBezTo>
                    <a:cubicBezTo>
                      <a:pt x="46" y="4"/>
                      <a:pt x="44" y="3"/>
                      <a:pt x="44" y="3"/>
                    </a:cubicBezTo>
                    <a:cubicBezTo>
                      <a:pt x="43" y="3"/>
                      <a:pt x="42" y="2"/>
                      <a:pt x="41" y="3"/>
                    </a:cubicBezTo>
                    <a:cubicBezTo>
                      <a:pt x="40" y="4"/>
                      <a:pt x="40" y="5"/>
                      <a:pt x="40" y="5"/>
                    </a:cubicBezTo>
                    <a:cubicBezTo>
                      <a:pt x="40" y="6"/>
                      <a:pt x="39" y="6"/>
                      <a:pt x="39" y="6"/>
                    </a:cubicBezTo>
                    <a:cubicBezTo>
                      <a:pt x="38" y="7"/>
                      <a:pt x="38" y="9"/>
                      <a:pt x="38" y="9"/>
                    </a:cubicBezTo>
                    <a:cubicBezTo>
                      <a:pt x="38" y="10"/>
                      <a:pt x="38" y="10"/>
                      <a:pt x="38" y="10"/>
                    </a:cubicBezTo>
                    <a:cubicBezTo>
                      <a:pt x="38" y="10"/>
                      <a:pt x="35" y="13"/>
                      <a:pt x="33" y="13"/>
                    </a:cubicBezTo>
                    <a:cubicBezTo>
                      <a:pt x="32" y="14"/>
                      <a:pt x="30" y="16"/>
                      <a:pt x="30" y="17"/>
                    </a:cubicBezTo>
                    <a:cubicBezTo>
                      <a:pt x="30" y="17"/>
                      <a:pt x="29" y="17"/>
                      <a:pt x="29" y="17"/>
                    </a:cubicBezTo>
                    <a:cubicBezTo>
                      <a:pt x="29" y="17"/>
                      <a:pt x="27" y="17"/>
                      <a:pt x="27" y="16"/>
                    </a:cubicBezTo>
                    <a:cubicBezTo>
                      <a:pt x="27" y="16"/>
                      <a:pt x="26" y="16"/>
                      <a:pt x="26" y="15"/>
                    </a:cubicBezTo>
                    <a:cubicBezTo>
                      <a:pt x="25" y="15"/>
                      <a:pt x="25" y="15"/>
                      <a:pt x="26" y="14"/>
                    </a:cubicBezTo>
                    <a:cubicBezTo>
                      <a:pt x="26" y="14"/>
                      <a:pt x="25" y="14"/>
                      <a:pt x="25" y="14"/>
                    </a:cubicBezTo>
                    <a:cubicBezTo>
                      <a:pt x="24" y="14"/>
                      <a:pt x="21" y="18"/>
                      <a:pt x="21" y="18"/>
                    </a:cubicBezTo>
                    <a:cubicBezTo>
                      <a:pt x="21" y="18"/>
                      <a:pt x="20" y="19"/>
                      <a:pt x="20" y="19"/>
                    </a:cubicBezTo>
                    <a:cubicBezTo>
                      <a:pt x="19" y="19"/>
                      <a:pt x="18" y="18"/>
                      <a:pt x="18" y="18"/>
                    </a:cubicBezTo>
                    <a:cubicBezTo>
                      <a:pt x="18" y="18"/>
                      <a:pt x="17" y="18"/>
                      <a:pt x="17" y="18"/>
                    </a:cubicBezTo>
                    <a:cubicBezTo>
                      <a:pt x="17" y="18"/>
                      <a:pt x="16" y="18"/>
                      <a:pt x="15" y="18"/>
                    </a:cubicBezTo>
                    <a:cubicBezTo>
                      <a:pt x="14" y="18"/>
                      <a:pt x="14" y="19"/>
                      <a:pt x="14" y="19"/>
                    </a:cubicBezTo>
                    <a:cubicBezTo>
                      <a:pt x="14" y="20"/>
                      <a:pt x="14" y="21"/>
                      <a:pt x="15" y="22"/>
                    </a:cubicBezTo>
                    <a:cubicBezTo>
                      <a:pt x="15" y="23"/>
                      <a:pt x="15" y="25"/>
                      <a:pt x="15" y="25"/>
                    </a:cubicBezTo>
                    <a:cubicBezTo>
                      <a:pt x="15" y="26"/>
                      <a:pt x="15" y="26"/>
                      <a:pt x="14" y="26"/>
                    </a:cubicBezTo>
                    <a:cubicBezTo>
                      <a:pt x="14" y="26"/>
                      <a:pt x="13" y="26"/>
                      <a:pt x="13" y="26"/>
                    </a:cubicBezTo>
                    <a:cubicBezTo>
                      <a:pt x="12" y="26"/>
                      <a:pt x="12" y="27"/>
                      <a:pt x="12" y="28"/>
                    </a:cubicBezTo>
                    <a:cubicBezTo>
                      <a:pt x="12" y="28"/>
                      <a:pt x="10" y="29"/>
                      <a:pt x="9" y="30"/>
                    </a:cubicBezTo>
                    <a:cubicBezTo>
                      <a:pt x="9" y="30"/>
                      <a:pt x="9" y="30"/>
                      <a:pt x="9" y="30"/>
                    </a:cubicBezTo>
                    <a:cubicBezTo>
                      <a:pt x="7" y="30"/>
                      <a:pt x="7" y="30"/>
                      <a:pt x="7" y="30"/>
                    </a:cubicBezTo>
                    <a:cubicBezTo>
                      <a:pt x="6" y="30"/>
                      <a:pt x="7" y="30"/>
                      <a:pt x="7" y="30"/>
                    </a:cubicBezTo>
                    <a:cubicBezTo>
                      <a:pt x="6" y="31"/>
                      <a:pt x="7" y="32"/>
                      <a:pt x="5" y="31"/>
                    </a:cubicBezTo>
                    <a:cubicBezTo>
                      <a:pt x="3" y="30"/>
                      <a:pt x="3" y="28"/>
                      <a:pt x="2" y="29"/>
                    </a:cubicBezTo>
                    <a:cubicBezTo>
                      <a:pt x="1" y="31"/>
                      <a:pt x="0" y="30"/>
                      <a:pt x="2" y="32"/>
                    </a:cubicBezTo>
                    <a:cubicBezTo>
                      <a:pt x="3" y="33"/>
                      <a:pt x="12" y="41"/>
                      <a:pt x="12" y="41"/>
                    </a:cubicBezTo>
                    <a:cubicBezTo>
                      <a:pt x="12" y="41"/>
                      <a:pt x="14" y="42"/>
                      <a:pt x="15" y="44"/>
                    </a:cubicBezTo>
                    <a:cubicBezTo>
                      <a:pt x="16" y="46"/>
                      <a:pt x="21" y="51"/>
                      <a:pt x="26" y="55"/>
                    </a:cubicBezTo>
                    <a:cubicBezTo>
                      <a:pt x="29" y="57"/>
                      <a:pt x="30" y="58"/>
                      <a:pt x="30" y="59"/>
                    </a:cubicBezTo>
                    <a:cubicBezTo>
                      <a:pt x="30" y="59"/>
                      <a:pt x="31" y="58"/>
                      <a:pt x="31" y="58"/>
                    </a:cubicBezTo>
                    <a:cubicBezTo>
                      <a:pt x="31" y="57"/>
                      <a:pt x="32" y="57"/>
                      <a:pt x="34" y="58"/>
                    </a:cubicBezTo>
                    <a:cubicBezTo>
                      <a:pt x="36" y="59"/>
                      <a:pt x="40" y="60"/>
                      <a:pt x="42" y="60"/>
                    </a:cubicBezTo>
                    <a:cubicBezTo>
                      <a:pt x="43" y="61"/>
                      <a:pt x="43" y="61"/>
                      <a:pt x="44" y="60"/>
                    </a:cubicBezTo>
                    <a:cubicBezTo>
                      <a:pt x="44" y="60"/>
                      <a:pt x="47" y="60"/>
                      <a:pt x="47" y="60"/>
                    </a:cubicBezTo>
                    <a:cubicBezTo>
                      <a:pt x="47" y="60"/>
                      <a:pt x="47" y="60"/>
                      <a:pt x="48" y="60"/>
                    </a:cubicBezTo>
                    <a:cubicBezTo>
                      <a:pt x="48" y="60"/>
                      <a:pt x="52" y="63"/>
                      <a:pt x="52" y="63"/>
                    </a:cubicBezTo>
                    <a:cubicBezTo>
                      <a:pt x="52" y="63"/>
                      <a:pt x="53" y="63"/>
                      <a:pt x="54" y="63"/>
                    </a:cubicBezTo>
                    <a:cubicBezTo>
                      <a:pt x="54" y="63"/>
                      <a:pt x="58" y="64"/>
                      <a:pt x="58" y="64"/>
                    </a:cubicBezTo>
                    <a:cubicBezTo>
                      <a:pt x="58" y="64"/>
                      <a:pt x="59" y="63"/>
                      <a:pt x="59" y="63"/>
                    </a:cubicBezTo>
                    <a:cubicBezTo>
                      <a:pt x="59" y="63"/>
                      <a:pt x="60" y="62"/>
                      <a:pt x="60" y="61"/>
                    </a:cubicBezTo>
                    <a:cubicBezTo>
                      <a:pt x="60" y="61"/>
                      <a:pt x="60" y="61"/>
                      <a:pt x="60" y="61"/>
                    </a:cubicBezTo>
                    <a:cubicBezTo>
                      <a:pt x="58" y="60"/>
                      <a:pt x="56" y="56"/>
                      <a:pt x="58" y="54"/>
                    </a:cubicBezTo>
                    <a:cubicBezTo>
                      <a:pt x="59" y="52"/>
                      <a:pt x="62" y="50"/>
                      <a:pt x="60" y="49"/>
                    </a:cubicBezTo>
                    <a:cubicBezTo>
                      <a:pt x="59" y="48"/>
                      <a:pt x="58" y="45"/>
                      <a:pt x="58" y="44"/>
                    </a:cubicBezTo>
                    <a:cubicBezTo>
                      <a:pt x="59" y="42"/>
                      <a:pt x="59" y="42"/>
                      <a:pt x="60" y="44"/>
                    </a:cubicBezTo>
                    <a:cubicBezTo>
                      <a:pt x="60" y="45"/>
                      <a:pt x="61" y="44"/>
                      <a:pt x="60" y="43"/>
                    </a:cubicBezTo>
                    <a:cubicBezTo>
                      <a:pt x="60" y="41"/>
                      <a:pt x="60" y="39"/>
                      <a:pt x="60" y="39"/>
                    </a:cubicBezTo>
                    <a:cubicBezTo>
                      <a:pt x="60" y="38"/>
                      <a:pt x="59" y="37"/>
                      <a:pt x="61" y="36"/>
                    </a:cubicBezTo>
                    <a:cubicBezTo>
                      <a:pt x="62" y="35"/>
                      <a:pt x="62" y="35"/>
                      <a:pt x="62" y="37"/>
                    </a:cubicBezTo>
                    <a:cubicBezTo>
                      <a:pt x="62" y="39"/>
                      <a:pt x="61" y="40"/>
                      <a:pt x="62" y="39"/>
                    </a:cubicBezTo>
                    <a:cubicBezTo>
                      <a:pt x="63" y="39"/>
                      <a:pt x="64" y="38"/>
                      <a:pt x="63" y="35"/>
                    </a:cubicBezTo>
                    <a:cubicBezTo>
                      <a:pt x="62" y="32"/>
                      <a:pt x="63" y="28"/>
                      <a:pt x="63" y="26"/>
                    </a:cubicBezTo>
                    <a:cubicBezTo>
                      <a:pt x="63" y="24"/>
                      <a:pt x="64" y="17"/>
                      <a:pt x="65" y="14"/>
                    </a:cubicBezTo>
                    <a:cubicBezTo>
                      <a:pt x="66" y="12"/>
                      <a:pt x="68" y="11"/>
                      <a:pt x="67" y="8"/>
                    </a:cubicBezTo>
                    <a:cubicBezTo>
                      <a:pt x="67" y="5"/>
                      <a:pt x="63" y="2"/>
                      <a:pt x="66" y="1"/>
                    </a:cubicBezTo>
                    <a:close/>
                    <a:moveTo>
                      <a:pt x="35" y="57"/>
                    </a:moveTo>
                    <a:cubicBezTo>
                      <a:pt x="28" y="54"/>
                      <a:pt x="28" y="50"/>
                      <a:pt x="28" y="50"/>
                    </a:cubicBezTo>
                    <a:cubicBezTo>
                      <a:pt x="28" y="50"/>
                      <a:pt x="26" y="46"/>
                      <a:pt x="28" y="44"/>
                    </a:cubicBezTo>
                    <a:cubicBezTo>
                      <a:pt x="31" y="42"/>
                      <a:pt x="40" y="50"/>
                      <a:pt x="43" y="55"/>
                    </a:cubicBezTo>
                    <a:cubicBezTo>
                      <a:pt x="46" y="60"/>
                      <a:pt x="42" y="60"/>
                      <a:pt x="35" y="5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47" name="Freeform 330">
                <a:extLst>
                  <a:ext uri="{FF2B5EF4-FFF2-40B4-BE49-F238E27FC236}">
                    <a16:creationId xmlns:a16="http://schemas.microsoft.com/office/drawing/2014/main" id="{EBB567D9-C0E3-4DC2-9171-6DF889DF28A3}"/>
                  </a:ext>
                </a:extLst>
              </p:cNvPr>
              <p:cNvSpPr>
                <a:spLocks/>
              </p:cNvSpPr>
              <p:nvPr/>
            </p:nvSpPr>
            <p:spPr bwMode="auto">
              <a:xfrm>
                <a:off x="1743" y="2446"/>
                <a:ext cx="6" cy="3"/>
              </a:xfrm>
              <a:custGeom>
                <a:avLst/>
                <a:gdLst>
                  <a:gd name="T0" fmla="*/ 0 w 4"/>
                  <a:gd name="T1" fmla="*/ 0 h 2"/>
                  <a:gd name="T2" fmla="*/ 2 w 4"/>
                  <a:gd name="T3" fmla="*/ 2 h 2"/>
                  <a:gd name="T4" fmla="*/ 0 w 4"/>
                  <a:gd name="T5" fmla="*/ 0 h 2"/>
                </a:gdLst>
                <a:ahLst/>
                <a:cxnLst>
                  <a:cxn ang="0">
                    <a:pos x="T0" y="T1"/>
                  </a:cxn>
                  <a:cxn ang="0">
                    <a:pos x="T2" y="T3"/>
                  </a:cxn>
                  <a:cxn ang="0">
                    <a:pos x="T4" y="T5"/>
                  </a:cxn>
                </a:cxnLst>
                <a:rect l="0" t="0" r="r" b="b"/>
                <a:pathLst>
                  <a:path w="4" h="2">
                    <a:moveTo>
                      <a:pt x="0" y="0"/>
                    </a:moveTo>
                    <a:cubicBezTo>
                      <a:pt x="0" y="0"/>
                      <a:pt x="1" y="2"/>
                      <a:pt x="2" y="2"/>
                    </a:cubicBezTo>
                    <a:cubicBezTo>
                      <a:pt x="4" y="2"/>
                      <a:pt x="1" y="0"/>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48" name="Freeform 331">
                <a:extLst>
                  <a:ext uri="{FF2B5EF4-FFF2-40B4-BE49-F238E27FC236}">
                    <a16:creationId xmlns:a16="http://schemas.microsoft.com/office/drawing/2014/main" id="{F5697123-D37F-4507-B95C-9CE0009B9078}"/>
                  </a:ext>
                </a:extLst>
              </p:cNvPr>
              <p:cNvSpPr>
                <a:spLocks/>
              </p:cNvSpPr>
              <p:nvPr/>
            </p:nvSpPr>
            <p:spPr bwMode="auto">
              <a:xfrm>
                <a:off x="1738" y="2453"/>
                <a:ext cx="69" cy="63"/>
              </a:xfrm>
              <a:custGeom>
                <a:avLst/>
                <a:gdLst>
                  <a:gd name="T0" fmla="*/ 44 w 50"/>
                  <a:gd name="T1" fmla="*/ 42 h 46"/>
                  <a:gd name="T2" fmla="*/ 45 w 50"/>
                  <a:gd name="T3" fmla="*/ 40 h 46"/>
                  <a:gd name="T4" fmla="*/ 45 w 50"/>
                  <a:gd name="T5" fmla="*/ 39 h 46"/>
                  <a:gd name="T6" fmla="*/ 45 w 50"/>
                  <a:gd name="T7" fmla="*/ 38 h 46"/>
                  <a:gd name="T8" fmla="*/ 45 w 50"/>
                  <a:gd name="T9" fmla="*/ 37 h 46"/>
                  <a:gd name="T10" fmla="*/ 47 w 50"/>
                  <a:gd name="T11" fmla="*/ 35 h 46"/>
                  <a:gd name="T12" fmla="*/ 47 w 50"/>
                  <a:gd name="T13" fmla="*/ 34 h 46"/>
                  <a:gd name="T14" fmla="*/ 45 w 50"/>
                  <a:gd name="T15" fmla="*/ 32 h 46"/>
                  <a:gd name="T16" fmla="*/ 44 w 50"/>
                  <a:gd name="T17" fmla="*/ 31 h 46"/>
                  <a:gd name="T18" fmla="*/ 45 w 50"/>
                  <a:gd name="T19" fmla="*/ 25 h 46"/>
                  <a:gd name="T20" fmla="*/ 46 w 50"/>
                  <a:gd name="T21" fmla="*/ 24 h 46"/>
                  <a:gd name="T22" fmla="*/ 48 w 50"/>
                  <a:gd name="T23" fmla="*/ 25 h 46"/>
                  <a:gd name="T24" fmla="*/ 50 w 50"/>
                  <a:gd name="T25" fmla="*/ 24 h 46"/>
                  <a:gd name="T26" fmla="*/ 49 w 50"/>
                  <a:gd name="T27" fmla="*/ 24 h 46"/>
                  <a:gd name="T28" fmla="*/ 34 w 50"/>
                  <a:gd name="T29" fmla="*/ 6 h 46"/>
                  <a:gd name="T30" fmla="*/ 33 w 50"/>
                  <a:gd name="T31" fmla="*/ 4 h 46"/>
                  <a:gd name="T32" fmla="*/ 32 w 50"/>
                  <a:gd name="T33" fmla="*/ 6 h 46"/>
                  <a:gd name="T34" fmla="*/ 31 w 50"/>
                  <a:gd name="T35" fmla="*/ 7 h 46"/>
                  <a:gd name="T36" fmla="*/ 27 w 50"/>
                  <a:gd name="T37" fmla="*/ 6 h 46"/>
                  <a:gd name="T38" fmla="*/ 25 w 50"/>
                  <a:gd name="T39" fmla="*/ 6 h 46"/>
                  <a:gd name="T40" fmla="*/ 21 w 50"/>
                  <a:gd name="T41" fmla="*/ 3 h 46"/>
                  <a:gd name="T42" fmla="*/ 20 w 50"/>
                  <a:gd name="T43" fmla="*/ 3 h 46"/>
                  <a:gd name="T44" fmla="*/ 17 w 50"/>
                  <a:gd name="T45" fmla="*/ 3 h 46"/>
                  <a:gd name="T46" fmla="*/ 15 w 50"/>
                  <a:gd name="T47" fmla="*/ 3 h 46"/>
                  <a:gd name="T48" fmla="*/ 7 w 50"/>
                  <a:gd name="T49" fmla="*/ 1 h 46"/>
                  <a:gd name="T50" fmla="*/ 4 w 50"/>
                  <a:gd name="T51" fmla="*/ 1 h 46"/>
                  <a:gd name="T52" fmla="*/ 3 w 50"/>
                  <a:gd name="T53" fmla="*/ 2 h 46"/>
                  <a:gd name="T54" fmla="*/ 3 w 50"/>
                  <a:gd name="T55" fmla="*/ 3 h 46"/>
                  <a:gd name="T56" fmla="*/ 2 w 50"/>
                  <a:gd name="T57" fmla="*/ 4 h 46"/>
                  <a:gd name="T58" fmla="*/ 0 w 50"/>
                  <a:gd name="T59" fmla="*/ 4 h 46"/>
                  <a:gd name="T60" fmla="*/ 1 w 50"/>
                  <a:gd name="T61" fmla="*/ 5 h 46"/>
                  <a:gd name="T62" fmla="*/ 4 w 50"/>
                  <a:gd name="T63" fmla="*/ 7 h 46"/>
                  <a:gd name="T64" fmla="*/ 4 w 50"/>
                  <a:gd name="T65" fmla="*/ 9 h 46"/>
                  <a:gd name="T66" fmla="*/ 2 w 50"/>
                  <a:gd name="T67" fmla="*/ 11 h 46"/>
                  <a:gd name="T68" fmla="*/ 3 w 50"/>
                  <a:gd name="T69" fmla="*/ 17 h 46"/>
                  <a:gd name="T70" fmla="*/ 6 w 50"/>
                  <a:gd name="T71" fmla="*/ 20 h 46"/>
                  <a:gd name="T72" fmla="*/ 11 w 50"/>
                  <a:gd name="T73" fmla="*/ 23 h 46"/>
                  <a:gd name="T74" fmla="*/ 13 w 50"/>
                  <a:gd name="T75" fmla="*/ 24 h 46"/>
                  <a:gd name="T76" fmla="*/ 15 w 50"/>
                  <a:gd name="T77" fmla="*/ 21 h 46"/>
                  <a:gd name="T78" fmla="*/ 14 w 50"/>
                  <a:gd name="T79" fmla="*/ 20 h 46"/>
                  <a:gd name="T80" fmla="*/ 10 w 50"/>
                  <a:gd name="T81" fmla="*/ 16 h 46"/>
                  <a:gd name="T82" fmla="*/ 12 w 50"/>
                  <a:gd name="T83" fmla="*/ 15 h 46"/>
                  <a:gd name="T84" fmla="*/ 17 w 50"/>
                  <a:gd name="T85" fmla="*/ 18 h 46"/>
                  <a:gd name="T86" fmla="*/ 18 w 50"/>
                  <a:gd name="T87" fmla="*/ 21 h 46"/>
                  <a:gd name="T88" fmla="*/ 22 w 50"/>
                  <a:gd name="T89" fmla="*/ 25 h 46"/>
                  <a:gd name="T90" fmla="*/ 33 w 50"/>
                  <a:gd name="T91" fmla="*/ 32 h 46"/>
                  <a:gd name="T92" fmla="*/ 33 w 50"/>
                  <a:gd name="T93" fmla="*/ 37 h 46"/>
                  <a:gd name="T94" fmla="*/ 35 w 50"/>
                  <a:gd name="T95" fmla="*/ 41 h 46"/>
                  <a:gd name="T96" fmla="*/ 38 w 50"/>
                  <a:gd name="T97" fmla="*/ 41 h 46"/>
                  <a:gd name="T98" fmla="*/ 38 w 50"/>
                  <a:gd name="T99" fmla="*/ 38 h 46"/>
                  <a:gd name="T100" fmla="*/ 41 w 50"/>
                  <a:gd name="T101" fmla="*/ 41 h 46"/>
                  <a:gd name="T102" fmla="*/ 44 w 50"/>
                  <a:gd name="T103" fmla="*/ 46 h 46"/>
                  <a:gd name="T104" fmla="*/ 43 w 50"/>
                  <a:gd name="T105" fmla="*/ 43 h 46"/>
                  <a:gd name="T106" fmla="*/ 44 w 50"/>
                  <a:gd name="T107" fmla="*/ 4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46">
                    <a:moveTo>
                      <a:pt x="44" y="42"/>
                    </a:moveTo>
                    <a:cubicBezTo>
                      <a:pt x="44" y="41"/>
                      <a:pt x="45" y="40"/>
                      <a:pt x="45" y="40"/>
                    </a:cubicBezTo>
                    <a:cubicBezTo>
                      <a:pt x="45" y="40"/>
                      <a:pt x="46" y="39"/>
                      <a:pt x="45" y="39"/>
                    </a:cubicBezTo>
                    <a:cubicBezTo>
                      <a:pt x="45" y="38"/>
                      <a:pt x="45" y="38"/>
                      <a:pt x="45" y="38"/>
                    </a:cubicBezTo>
                    <a:cubicBezTo>
                      <a:pt x="45" y="38"/>
                      <a:pt x="44" y="37"/>
                      <a:pt x="45" y="37"/>
                    </a:cubicBezTo>
                    <a:cubicBezTo>
                      <a:pt x="46" y="36"/>
                      <a:pt x="47" y="35"/>
                      <a:pt x="47" y="35"/>
                    </a:cubicBezTo>
                    <a:cubicBezTo>
                      <a:pt x="47" y="35"/>
                      <a:pt x="48" y="34"/>
                      <a:pt x="47" y="34"/>
                    </a:cubicBezTo>
                    <a:cubicBezTo>
                      <a:pt x="46" y="33"/>
                      <a:pt x="45" y="32"/>
                      <a:pt x="45" y="32"/>
                    </a:cubicBezTo>
                    <a:cubicBezTo>
                      <a:pt x="45" y="32"/>
                      <a:pt x="44" y="32"/>
                      <a:pt x="44" y="31"/>
                    </a:cubicBezTo>
                    <a:cubicBezTo>
                      <a:pt x="44" y="30"/>
                      <a:pt x="44" y="26"/>
                      <a:pt x="45" y="25"/>
                    </a:cubicBezTo>
                    <a:cubicBezTo>
                      <a:pt x="46" y="24"/>
                      <a:pt x="46" y="24"/>
                      <a:pt x="46" y="24"/>
                    </a:cubicBezTo>
                    <a:cubicBezTo>
                      <a:pt x="47" y="25"/>
                      <a:pt x="47" y="25"/>
                      <a:pt x="48" y="25"/>
                    </a:cubicBezTo>
                    <a:cubicBezTo>
                      <a:pt x="48" y="25"/>
                      <a:pt x="49" y="25"/>
                      <a:pt x="50" y="24"/>
                    </a:cubicBezTo>
                    <a:cubicBezTo>
                      <a:pt x="49" y="24"/>
                      <a:pt x="49" y="24"/>
                      <a:pt x="49" y="24"/>
                    </a:cubicBezTo>
                    <a:cubicBezTo>
                      <a:pt x="48" y="23"/>
                      <a:pt x="41" y="19"/>
                      <a:pt x="34" y="6"/>
                    </a:cubicBezTo>
                    <a:cubicBezTo>
                      <a:pt x="34" y="6"/>
                      <a:pt x="34" y="5"/>
                      <a:pt x="33" y="4"/>
                    </a:cubicBezTo>
                    <a:cubicBezTo>
                      <a:pt x="33" y="5"/>
                      <a:pt x="32" y="6"/>
                      <a:pt x="32" y="6"/>
                    </a:cubicBezTo>
                    <a:cubicBezTo>
                      <a:pt x="32" y="6"/>
                      <a:pt x="31" y="7"/>
                      <a:pt x="31" y="7"/>
                    </a:cubicBezTo>
                    <a:cubicBezTo>
                      <a:pt x="31" y="7"/>
                      <a:pt x="27" y="6"/>
                      <a:pt x="27" y="6"/>
                    </a:cubicBezTo>
                    <a:cubicBezTo>
                      <a:pt x="26" y="6"/>
                      <a:pt x="25" y="6"/>
                      <a:pt x="25" y="6"/>
                    </a:cubicBezTo>
                    <a:cubicBezTo>
                      <a:pt x="25" y="6"/>
                      <a:pt x="21" y="3"/>
                      <a:pt x="21" y="3"/>
                    </a:cubicBezTo>
                    <a:cubicBezTo>
                      <a:pt x="20" y="3"/>
                      <a:pt x="20" y="3"/>
                      <a:pt x="20" y="3"/>
                    </a:cubicBezTo>
                    <a:cubicBezTo>
                      <a:pt x="20" y="3"/>
                      <a:pt x="17" y="3"/>
                      <a:pt x="17" y="3"/>
                    </a:cubicBezTo>
                    <a:cubicBezTo>
                      <a:pt x="16" y="4"/>
                      <a:pt x="16" y="4"/>
                      <a:pt x="15" y="3"/>
                    </a:cubicBezTo>
                    <a:cubicBezTo>
                      <a:pt x="13" y="3"/>
                      <a:pt x="9" y="2"/>
                      <a:pt x="7" y="1"/>
                    </a:cubicBezTo>
                    <a:cubicBezTo>
                      <a:pt x="5" y="0"/>
                      <a:pt x="4" y="0"/>
                      <a:pt x="4" y="1"/>
                    </a:cubicBezTo>
                    <a:cubicBezTo>
                      <a:pt x="4" y="1"/>
                      <a:pt x="3" y="2"/>
                      <a:pt x="3" y="2"/>
                    </a:cubicBezTo>
                    <a:cubicBezTo>
                      <a:pt x="3" y="2"/>
                      <a:pt x="3" y="2"/>
                      <a:pt x="3" y="3"/>
                    </a:cubicBezTo>
                    <a:cubicBezTo>
                      <a:pt x="2" y="3"/>
                      <a:pt x="2" y="5"/>
                      <a:pt x="2" y="4"/>
                    </a:cubicBezTo>
                    <a:cubicBezTo>
                      <a:pt x="1" y="3"/>
                      <a:pt x="1" y="4"/>
                      <a:pt x="0" y="4"/>
                    </a:cubicBezTo>
                    <a:cubicBezTo>
                      <a:pt x="0" y="5"/>
                      <a:pt x="0" y="5"/>
                      <a:pt x="1" y="5"/>
                    </a:cubicBezTo>
                    <a:cubicBezTo>
                      <a:pt x="2" y="5"/>
                      <a:pt x="4" y="6"/>
                      <a:pt x="4" y="7"/>
                    </a:cubicBezTo>
                    <a:cubicBezTo>
                      <a:pt x="4" y="8"/>
                      <a:pt x="5" y="8"/>
                      <a:pt x="4" y="9"/>
                    </a:cubicBezTo>
                    <a:cubicBezTo>
                      <a:pt x="3" y="10"/>
                      <a:pt x="2" y="10"/>
                      <a:pt x="2" y="11"/>
                    </a:cubicBezTo>
                    <a:cubicBezTo>
                      <a:pt x="2" y="12"/>
                      <a:pt x="3" y="16"/>
                      <a:pt x="3" y="17"/>
                    </a:cubicBezTo>
                    <a:cubicBezTo>
                      <a:pt x="3" y="17"/>
                      <a:pt x="3" y="19"/>
                      <a:pt x="6" y="20"/>
                    </a:cubicBezTo>
                    <a:cubicBezTo>
                      <a:pt x="9" y="21"/>
                      <a:pt x="10" y="23"/>
                      <a:pt x="11" y="23"/>
                    </a:cubicBezTo>
                    <a:cubicBezTo>
                      <a:pt x="12" y="24"/>
                      <a:pt x="12" y="25"/>
                      <a:pt x="13" y="24"/>
                    </a:cubicBezTo>
                    <a:cubicBezTo>
                      <a:pt x="14" y="22"/>
                      <a:pt x="14" y="22"/>
                      <a:pt x="15" y="21"/>
                    </a:cubicBezTo>
                    <a:cubicBezTo>
                      <a:pt x="16" y="21"/>
                      <a:pt x="16" y="21"/>
                      <a:pt x="14" y="20"/>
                    </a:cubicBezTo>
                    <a:cubicBezTo>
                      <a:pt x="13" y="19"/>
                      <a:pt x="10" y="17"/>
                      <a:pt x="10" y="16"/>
                    </a:cubicBezTo>
                    <a:cubicBezTo>
                      <a:pt x="10" y="15"/>
                      <a:pt x="9" y="14"/>
                      <a:pt x="12" y="15"/>
                    </a:cubicBezTo>
                    <a:cubicBezTo>
                      <a:pt x="14" y="17"/>
                      <a:pt x="16" y="18"/>
                      <a:pt x="17" y="18"/>
                    </a:cubicBezTo>
                    <a:cubicBezTo>
                      <a:pt x="18" y="19"/>
                      <a:pt x="18" y="19"/>
                      <a:pt x="18" y="21"/>
                    </a:cubicBezTo>
                    <a:cubicBezTo>
                      <a:pt x="19" y="22"/>
                      <a:pt x="17" y="24"/>
                      <a:pt x="22" y="25"/>
                    </a:cubicBezTo>
                    <a:cubicBezTo>
                      <a:pt x="27" y="27"/>
                      <a:pt x="33" y="29"/>
                      <a:pt x="33" y="32"/>
                    </a:cubicBezTo>
                    <a:cubicBezTo>
                      <a:pt x="34" y="34"/>
                      <a:pt x="34" y="36"/>
                      <a:pt x="33" y="37"/>
                    </a:cubicBezTo>
                    <a:cubicBezTo>
                      <a:pt x="33" y="38"/>
                      <a:pt x="32" y="40"/>
                      <a:pt x="35" y="41"/>
                    </a:cubicBezTo>
                    <a:cubicBezTo>
                      <a:pt x="39" y="43"/>
                      <a:pt x="40" y="43"/>
                      <a:pt x="38" y="41"/>
                    </a:cubicBezTo>
                    <a:cubicBezTo>
                      <a:pt x="36" y="38"/>
                      <a:pt x="36" y="38"/>
                      <a:pt x="38" y="38"/>
                    </a:cubicBezTo>
                    <a:cubicBezTo>
                      <a:pt x="39" y="38"/>
                      <a:pt x="41" y="38"/>
                      <a:pt x="41" y="41"/>
                    </a:cubicBezTo>
                    <a:cubicBezTo>
                      <a:pt x="41" y="43"/>
                      <a:pt x="43" y="44"/>
                      <a:pt x="44" y="46"/>
                    </a:cubicBezTo>
                    <a:cubicBezTo>
                      <a:pt x="43" y="43"/>
                      <a:pt x="43" y="43"/>
                      <a:pt x="43" y="43"/>
                    </a:cubicBezTo>
                    <a:cubicBezTo>
                      <a:pt x="43" y="43"/>
                      <a:pt x="43" y="43"/>
                      <a:pt x="44" y="4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49" name="Freeform 332">
                <a:extLst>
                  <a:ext uri="{FF2B5EF4-FFF2-40B4-BE49-F238E27FC236}">
                    <a16:creationId xmlns:a16="http://schemas.microsoft.com/office/drawing/2014/main" id="{6E4311C3-C62E-449A-8A6B-C37D3C88CC23}"/>
                  </a:ext>
                </a:extLst>
              </p:cNvPr>
              <p:cNvSpPr>
                <a:spLocks/>
              </p:cNvSpPr>
              <p:nvPr/>
            </p:nvSpPr>
            <p:spPr bwMode="auto">
              <a:xfrm>
                <a:off x="1797" y="2484"/>
                <a:ext cx="121" cy="51"/>
              </a:xfrm>
              <a:custGeom>
                <a:avLst/>
                <a:gdLst>
                  <a:gd name="T0" fmla="*/ 79 w 87"/>
                  <a:gd name="T1" fmla="*/ 30 h 37"/>
                  <a:gd name="T2" fmla="*/ 82 w 87"/>
                  <a:gd name="T3" fmla="*/ 31 h 37"/>
                  <a:gd name="T4" fmla="*/ 87 w 87"/>
                  <a:gd name="T5" fmla="*/ 26 h 37"/>
                  <a:gd name="T6" fmla="*/ 85 w 87"/>
                  <a:gd name="T7" fmla="*/ 21 h 37"/>
                  <a:gd name="T8" fmla="*/ 83 w 87"/>
                  <a:gd name="T9" fmla="*/ 18 h 37"/>
                  <a:gd name="T10" fmla="*/ 84 w 87"/>
                  <a:gd name="T11" fmla="*/ 15 h 37"/>
                  <a:gd name="T12" fmla="*/ 79 w 87"/>
                  <a:gd name="T13" fmla="*/ 11 h 37"/>
                  <a:gd name="T14" fmla="*/ 59 w 87"/>
                  <a:gd name="T15" fmla="*/ 2 h 37"/>
                  <a:gd name="T16" fmla="*/ 36 w 87"/>
                  <a:gd name="T17" fmla="*/ 10 h 37"/>
                  <a:gd name="T18" fmla="*/ 19 w 87"/>
                  <a:gd name="T19" fmla="*/ 10 h 37"/>
                  <a:gd name="T20" fmla="*/ 16 w 87"/>
                  <a:gd name="T21" fmla="*/ 11 h 37"/>
                  <a:gd name="T22" fmla="*/ 11 w 87"/>
                  <a:gd name="T23" fmla="*/ 7 h 37"/>
                  <a:gd name="T24" fmla="*/ 7 w 87"/>
                  <a:gd name="T25" fmla="*/ 1 h 37"/>
                  <a:gd name="T26" fmla="*/ 3 w 87"/>
                  <a:gd name="T27" fmla="*/ 1 h 37"/>
                  <a:gd name="T28" fmla="*/ 1 w 87"/>
                  <a:gd name="T29" fmla="*/ 8 h 37"/>
                  <a:gd name="T30" fmla="*/ 4 w 87"/>
                  <a:gd name="T31" fmla="*/ 11 h 37"/>
                  <a:gd name="T32" fmla="*/ 2 w 87"/>
                  <a:gd name="T33" fmla="*/ 14 h 37"/>
                  <a:gd name="T34" fmla="*/ 2 w 87"/>
                  <a:gd name="T35" fmla="*/ 16 h 37"/>
                  <a:gd name="T36" fmla="*/ 1 w 87"/>
                  <a:gd name="T37" fmla="*/ 19 h 37"/>
                  <a:gd name="T38" fmla="*/ 1 w 87"/>
                  <a:gd name="T39" fmla="*/ 23 h 37"/>
                  <a:gd name="T40" fmla="*/ 3 w 87"/>
                  <a:gd name="T41" fmla="*/ 23 h 37"/>
                  <a:gd name="T42" fmla="*/ 11 w 87"/>
                  <a:gd name="T43" fmla="*/ 20 h 37"/>
                  <a:gd name="T44" fmla="*/ 14 w 87"/>
                  <a:gd name="T45" fmla="*/ 22 h 37"/>
                  <a:gd name="T46" fmla="*/ 19 w 87"/>
                  <a:gd name="T47" fmla="*/ 23 h 37"/>
                  <a:gd name="T48" fmla="*/ 22 w 87"/>
                  <a:gd name="T49" fmla="*/ 28 h 37"/>
                  <a:gd name="T50" fmla="*/ 27 w 87"/>
                  <a:gd name="T51" fmla="*/ 30 h 37"/>
                  <a:gd name="T52" fmla="*/ 29 w 87"/>
                  <a:gd name="T53" fmla="*/ 29 h 37"/>
                  <a:gd name="T54" fmla="*/ 32 w 87"/>
                  <a:gd name="T55" fmla="*/ 35 h 37"/>
                  <a:gd name="T56" fmla="*/ 37 w 87"/>
                  <a:gd name="T57" fmla="*/ 36 h 37"/>
                  <a:gd name="T58" fmla="*/ 44 w 87"/>
                  <a:gd name="T59" fmla="*/ 31 h 37"/>
                  <a:gd name="T60" fmla="*/ 40 w 87"/>
                  <a:gd name="T61" fmla="*/ 21 h 37"/>
                  <a:gd name="T62" fmla="*/ 48 w 87"/>
                  <a:gd name="T63" fmla="*/ 16 h 37"/>
                  <a:gd name="T64" fmla="*/ 48 w 87"/>
                  <a:gd name="T65" fmla="*/ 14 h 37"/>
                  <a:gd name="T66" fmla="*/ 51 w 87"/>
                  <a:gd name="T67" fmla="*/ 11 h 37"/>
                  <a:gd name="T68" fmla="*/ 58 w 87"/>
                  <a:gd name="T69" fmla="*/ 9 h 37"/>
                  <a:gd name="T70" fmla="*/ 59 w 87"/>
                  <a:gd name="T71" fmla="*/ 10 h 37"/>
                  <a:gd name="T72" fmla="*/ 67 w 87"/>
                  <a:gd name="T73" fmla="*/ 16 h 37"/>
                  <a:gd name="T74" fmla="*/ 69 w 87"/>
                  <a:gd name="T75" fmla="*/ 18 h 37"/>
                  <a:gd name="T76" fmla="*/ 71 w 87"/>
                  <a:gd name="T77" fmla="*/ 18 h 37"/>
                  <a:gd name="T78" fmla="*/ 73 w 87"/>
                  <a:gd name="T79" fmla="*/ 18 h 37"/>
                  <a:gd name="T80" fmla="*/ 74 w 87"/>
                  <a:gd name="T81" fmla="*/ 18 h 37"/>
                  <a:gd name="T82" fmla="*/ 74 w 87"/>
                  <a:gd name="T83" fmla="*/ 21 h 37"/>
                  <a:gd name="T84" fmla="*/ 69 w 87"/>
                  <a:gd name="T85" fmla="*/ 27 h 37"/>
                  <a:gd name="T86" fmla="*/ 78 w 87"/>
                  <a:gd name="T87" fmla="*/ 3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7" h="37">
                    <a:moveTo>
                      <a:pt x="78" y="30"/>
                    </a:moveTo>
                    <a:cubicBezTo>
                      <a:pt x="78" y="29"/>
                      <a:pt x="78" y="29"/>
                      <a:pt x="79" y="30"/>
                    </a:cubicBezTo>
                    <a:cubicBezTo>
                      <a:pt x="79" y="30"/>
                      <a:pt x="80" y="31"/>
                      <a:pt x="80" y="32"/>
                    </a:cubicBezTo>
                    <a:cubicBezTo>
                      <a:pt x="81" y="32"/>
                      <a:pt x="81" y="32"/>
                      <a:pt x="82" y="31"/>
                    </a:cubicBezTo>
                    <a:cubicBezTo>
                      <a:pt x="82" y="31"/>
                      <a:pt x="84" y="28"/>
                      <a:pt x="85" y="27"/>
                    </a:cubicBezTo>
                    <a:cubicBezTo>
                      <a:pt x="85" y="27"/>
                      <a:pt x="86" y="27"/>
                      <a:pt x="87" y="26"/>
                    </a:cubicBezTo>
                    <a:cubicBezTo>
                      <a:pt x="87" y="26"/>
                      <a:pt x="87" y="26"/>
                      <a:pt x="86" y="25"/>
                    </a:cubicBezTo>
                    <a:cubicBezTo>
                      <a:pt x="86" y="24"/>
                      <a:pt x="85" y="22"/>
                      <a:pt x="85" y="21"/>
                    </a:cubicBezTo>
                    <a:cubicBezTo>
                      <a:pt x="84" y="21"/>
                      <a:pt x="84" y="20"/>
                      <a:pt x="84" y="20"/>
                    </a:cubicBezTo>
                    <a:cubicBezTo>
                      <a:pt x="84" y="19"/>
                      <a:pt x="84" y="19"/>
                      <a:pt x="83" y="18"/>
                    </a:cubicBezTo>
                    <a:cubicBezTo>
                      <a:pt x="83" y="18"/>
                      <a:pt x="82" y="17"/>
                      <a:pt x="82" y="17"/>
                    </a:cubicBezTo>
                    <a:cubicBezTo>
                      <a:pt x="83" y="17"/>
                      <a:pt x="83" y="16"/>
                      <a:pt x="84" y="15"/>
                    </a:cubicBezTo>
                    <a:cubicBezTo>
                      <a:pt x="84" y="15"/>
                      <a:pt x="83" y="15"/>
                      <a:pt x="83" y="15"/>
                    </a:cubicBezTo>
                    <a:cubicBezTo>
                      <a:pt x="82" y="15"/>
                      <a:pt x="80" y="13"/>
                      <a:pt x="79" y="11"/>
                    </a:cubicBezTo>
                    <a:cubicBezTo>
                      <a:pt x="78" y="10"/>
                      <a:pt x="76" y="8"/>
                      <a:pt x="74" y="8"/>
                    </a:cubicBezTo>
                    <a:cubicBezTo>
                      <a:pt x="71" y="7"/>
                      <a:pt x="61" y="3"/>
                      <a:pt x="59" y="2"/>
                    </a:cubicBezTo>
                    <a:cubicBezTo>
                      <a:pt x="58" y="2"/>
                      <a:pt x="50" y="0"/>
                      <a:pt x="45" y="5"/>
                    </a:cubicBezTo>
                    <a:cubicBezTo>
                      <a:pt x="41" y="10"/>
                      <a:pt x="37" y="10"/>
                      <a:pt x="36" y="10"/>
                    </a:cubicBezTo>
                    <a:cubicBezTo>
                      <a:pt x="34" y="11"/>
                      <a:pt x="28" y="14"/>
                      <a:pt x="26" y="13"/>
                    </a:cubicBezTo>
                    <a:cubicBezTo>
                      <a:pt x="24" y="12"/>
                      <a:pt x="20" y="10"/>
                      <a:pt x="19" y="10"/>
                    </a:cubicBezTo>
                    <a:cubicBezTo>
                      <a:pt x="18" y="9"/>
                      <a:pt x="17" y="7"/>
                      <a:pt x="18" y="9"/>
                    </a:cubicBezTo>
                    <a:cubicBezTo>
                      <a:pt x="19" y="12"/>
                      <a:pt x="17" y="10"/>
                      <a:pt x="16" y="11"/>
                    </a:cubicBezTo>
                    <a:cubicBezTo>
                      <a:pt x="15" y="11"/>
                      <a:pt x="13" y="11"/>
                      <a:pt x="12" y="9"/>
                    </a:cubicBezTo>
                    <a:cubicBezTo>
                      <a:pt x="12" y="8"/>
                      <a:pt x="13" y="7"/>
                      <a:pt x="11" y="7"/>
                    </a:cubicBezTo>
                    <a:cubicBezTo>
                      <a:pt x="10" y="7"/>
                      <a:pt x="8" y="4"/>
                      <a:pt x="8" y="3"/>
                    </a:cubicBezTo>
                    <a:cubicBezTo>
                      <a:pt x="7" y="2"/>
                      <a:pt x="7" y="2"/>
                      <a:pt x="7" y="1"/>
                    </a:cubicBezTo>
                    <a:cubicBezTo>
                      <a:pt x="6" y="2"/>
                      <a:pt x="5" y="2"/>
                      <a:pt x="5" y="2"/>
                    </a:cubicBezTo>
                    <a:cubicBezTo>
                      <a:pt x="4" y="2"/>
                      <a:pt x="4" y="2"/>
                      <a:pt x="3" y="1"/>
                    </a:cubicBezTo>
                    <a:cubicBezTo>
                      <a:pt x="3" y="1"/>
                      <a:pt x="3" y="1"/>
                      <a:pt x="2" y="2"/>
                    </a:cubicBezTo>
                    <a:cubicBezTo>
                      <a:pt x="1" y="3"/>
                      <a:pt x="1" y="7"/>
                      <a:pt x="1" y="8"/>
                    </a:cubicBezTo>
                    <a:cubicBezTo>
                      <a:pt x="1" y="9"/>
                      <a:pt x="2" y="9"/>
                      <a:pt x="2" y="9"/>
                    </a:cubicBezTo>
                    <a:cubicBezTo>
                      <a:pt x="2" y="9"/>
                      <a:pt x="3" y="10"/>
                      <a:pt x="4" y="11"/>
                    </a:cubicBezTo>
                    <a:cubicBezTo>
                      <a:pt x="5" y="11"/>
                      <a:pt x="4" y="12"/>
                      <a:pt x="4" y="12"/>
                    </a:cubicBezTo>
                    <a:cubicBezTo>
                      <a:pt x="4" y="12"/>
                      <a:pt x="3" y="13"/>
                      <a:pt x="2" y="14"/>
                    </a:cubicBezTo>
                    <a:cubicBezTo>
                      <a:pt x="1" y="14"/>
                      <a:pt x="2" y="15"/>
                      <a:pt x="2" y="15"/>
                    </a:cubicBezTo>
                    <a:cubicBezTo>
                      <a:pt x="2" y="15"/>
                      <a:pt x="2" y="15"/>
                      <a:pt x="2" y="16"/>
                    </a:cubicBezTo>
                    <a:cubicBezTo>
                      <a:pt x="3" y="16"/>
                      <a:pt x="2" y="17"/>
                      <a:pt x="2" y="17"/>
                    </a:cubicBezTo>
                    <a:cubicBezTo>
                      <a:pt x="2" y="17"/>
                      <a:pt x="1" y="18"/>
                      <a:pt x="1" y="19"/>
                    </a:cubicBezTo>
                    <a:cubicBezTo>
                      <a:pt x="0" y="20"/>
                      <a:pt x="0" y="20"/>
                      <a:pt x="0" y="20"/>
                    </a:cubicBezTo>
                    <a:cubicBezTo>
                      <a:pt x="1" y="23"/>
                      <a:pt x="1" y="23"/>
                      <a:pt x="1" y="23"/>
                    </a:cubicBezTo>
                    <a:cubicBezTo>
                      <a:pt x="1" y="23"/>
                      <a:pt x="1" y="23"/>
                      <a:pt x="1" y="23"/>
                    </a:cubicBezTo>
                    <a:cubicBezTo>
                      <a:pt x="2" y="25"/>
                      <a:pt x="2" y="24"/>
                      <a:pt x="3" y="23"/>
                    </a:cubicBezTo>
                    <a:cubicBezTo>
                      <a:pt x="3" y="22"/>
                      <a:pt x="4" y="20"/>
                      <a:pt x="6" y="20"/>
                    </a:cubicBezTo>
                    <a:cubicBezTo>
                      <a:pt x="8" y="20"/>
                      <a:pt x="10" y="20"/>
                      <a:pt x="11" y="20"/>
                    </a:cubicBezTo>
                    <a:cubicBezTo>
                      <a:pt x="12" y="20"/>
                      <a:pt x="12" y="20"/>
                      <a:pt x="12" y="20"/>
                    </a:cubicBezTo>
                    <a:cubicBezTo>
                      <a:pt x="12" y="21"/>
                      <a:pt x="12" y="23"/>
                      <a:pt x="14" y="22"/>
                    </a:cubicBezTo>
                    <a:cubicBezTo>
                      <a:pt x="16" y="21"/>
                      <a:pt x="17" y="21"/>
                      <a:pt x="17" y="22"/>
                    </a:cubicBezTo>
                    <a:cubicBezTo>
                      <a:pt x="18" y="23"/>
                      <a:pt x="19" y="23"/>
                      <a:pt x="19" y="23"/>
                    </a:cubicBezTo>
                    <a:cubicBezTo>
                      <a:pt x="19" y="23"/>
                      <a:pt x="19" y="22"/>
                      <a:pt x="20" y="23"/>
                    </a:cubicBezTo>
                    <a:cubicBezTo>
                      <a:pt x="20" y="24"/>
                      <a:pt x="21" y="27"/>
                      <a:pt x="22" y="28"/>
                    </a:cubicBezTo>
                    <a:cubicBezTo>
                      <a:pt x="23" y="29"/>
                      <a:pt x="22" y="29"/>
                      <a:pt x="24" y="30"/>
                    </a:cubicBezTo>
                    <a:cubicBezTo>
                      <a:pt x="26" y="30"/>
                      <a:pt x="27" y="31"/>
                      <a:pt x="27" y="30"/>
                    </a:cubicBezTo>
                    <a:cubicBezTo>
                      <a:pt x="26" y="28"/>
                      <a:pt x="27" y="27"/>
                      <a:pt x="28" y="27"/>
                    </a:cubicBezTo>
                    <a:cubicBezTo>
                      <a:pt x="29" y="27"/>
                      <a:pt x="29" y="27"/>
                      <a:pt x="29" y="29"/>
                    </a:cubicBezTo>
                    <a:cubicBezTo>
                      <a:pt x="30" y="31"/>
                      <a:pt x="30" y="31"/>
                      <a:pt x="31" y="32"/>
                    </a:cubicBezTo>
                    <a:cubicBezTo>
                      <a:pt x="32" y="33"/>
                      <a:pt x="32" y="34"/>
                      <a:pt x="32" y="35"/>
                    </a:cubicBezTo>
                    <a:cubicBezTo>
                      <a:pt x="31" y="36"/>
                      <a:pt x="31" y="36"/>
                      <a:pt x="33" y="36"/>
                    </a:cubicBezTo>
                    <a:cubicBezTo>
                      <a:pt x="34" y="36"/>
                      <a:pt x="36" y="37"/>
                      <a:pt x="37" y="36"/>
                    </a:cubicBezTo>
                    <a:cubicBezTo>
                      <a:pt x="39" y="35"/>
                      <a:pt x="43" y="33"/>
                      <a:pt x="44" y="33"/>
                    </a:cubicBezTo>
                    <a:cubicBezTo>
                      <a:pt x="45" y="33"/>
                      <a:pt x="45" y="32"/>
                      <a:pt x="44" y="31"/>
                    </a:cubicBezTo>
                    <a:cubicBezTo>
                      <a:pt x="43" y="30"/>
                      <a:pt x="37" y="24"/>
                      <a:pt x="38" y="22"/>
                    </a:cubicBezTo>
                    <a:cubicBezTo>
                      <a:pt x="38" y="20"/>
                      <a:pt x="39" y="20"/>
                      <a:pt x="40" y="21"/>
                    </a:cubicBezTo>
                    <a:cubicBezTo>
                      <a:pt x="40" y="21"/>
                      <a:pt x="42" y="20"/>
                      <a:pt x="43" y="19"/>
                    </a:cubicBezTo>
                    <a:cubicBezTo>
                      <a:pt x="45" y="18"/>
                      <a:pt x="48" y="17"/>
                      <a:pt x="48" y="16"/>
                    </a:cubicBezTo>
                    <a:cubicBezTo>
                      <a:pt x="48" y="16"/>
                      <a:pt x="49" y="15"/>
                      <a:pt x="48" y="16"/>
                    </a:cubicBezTo>
                    <a:cubicBezTo>
                      <a:pt x="47" y="16"/>
                      <a:pt x="47" y="15"/>
                      <a:pt x="48" y="14"/>
                    </a:cubicBezTo>
                    <a:cubicBezTo>
                      <a:pt x="48" y="14"/>
                      <a:pt x="48" y="13"/>
                      <a:pt x="49" y="12"/>
                    </a:cubicBezTo>
                    <a:cubicBezTo>
                      <a:pt x="50" y="12"/>
                      <a:pt x="50" y="11"/>
                      <a:pt x="51" y="11"/>
                    </a:cubicBezTo>
                    <a:cubicBezTo>
                      <a:pt x="52" y="10"/>
                      <a:pt x="54" y="10"/>
                      <a:pt x="55" y="10"/>
                    </a:cubicBezTo>
                    <a:cubicBezTo>
                      <a:pt x="56" y="10"/>
                      <a:pt x="57" y="10"/>
                      <a:pt x="58" y="9"/>
                    </a:cubicBezTo>
                    <a:cubicBezTo>
                      <a:pt x="58" y="9"/>
                      <a:pt x="59" y="8"/>
                      <a:pt x="59" y="9"/>
                    </a:cubicBezTo>
                    <a:cubicBezTo>
                      <a:pt x="58" y="10"/>
                      <a:pt x="58" y="10"/>
                      <a:pt x="59" y="10"/>
                    </a:cubicBezTo>
                    <a:cubicBezTo>
                      <a:pt x="61" y="11"/>
                      <a:pt x="64" y="13"/>
                      <a:pt x="65" y="14"/>
                    </a:cubicBezTo>
                    <a:cubicBezTo>
                      <a:pt x="65" y="14"/>
                      <a:pt x="66" y="14"/>
                      <a:pt x="67" y="16"/>
                    </a:cubicBezTo>
                    <a:cubicBezTo>
                      <a:pt x="67" y="17"/>
                      <a:pt x="68" y="19"/>
                      <a:pt x="68" y="19"/>
                    </a:cubicBezTo>
                    <a:cubicBezTo>
                      <a:pt x="68" y="20"/>
                      <a:pt x="68" y="20"/>
                      <a:pt x="69" y="18"/>
                    </a:cubicBezTo>
                    <a:cubicBezTo>
                      <a:pt x="69" y="17"/>
                      <a:pt x="69" y="16"/>
                      <a:pt x="70" y="17"/>
                    </a:cubicBezTo>
                    <a:cubicBezTo>
                      <a:pt x="70" y="17"/>
                      <a:pt x="71" y="17"/>
                      <a:pt x="71" y="18"/>
                    </a:cubicBezTo>
                    <a:cubicBezTo>
                      <a:pt x="71" y="19"/>
                      <a:pt x="71" y="19"/>
                      <a:pt x="72" y="19"/>
                    </a:cubicBezTo>
                    <a:cubicBezTo>
                      <a:pt x="72" y="18"/>
                      <a:pt x="72" y="18"/>
                      <a:pt x="73" y="18"/>
                    </a:cubicBezTo>
                    <a:cubicBezTo>
                      <a:pt x="73" y="18"/>
                      <a:pt x="73" y="18"/>
                      <a:pt x="73" y="17"/>
                    </a:cubicBezTo>
                    <a:cubicBezTo>
                      <a:pt x="72" y="17"/>
                      <a:pt x="74" y="17"/>
                      <a:pt x="74" y="18"/>
                    </a:cubicBezTo>
                    <a:cubicBezTo>
                      <a:pt x="75" y="20"/>
                      <a:pt x="78" y="23"/>
                      <a:pt x="76" y="22"/>
                    </a:cubicBezTo>
                    <a:cubicBezTo>
                      <a:pt x="75" y="21"/>
                      <a:pt x="75" y="22"/>
                      <a:pt x="74" y="21"/>
                    </a:cubicBezTo>
                    <a:cubicBezTo>
                      <a:pt x="72" y="19"/>
                      <a:pt x="73" y="18"/>
                      <a:pt x="71" y="20"/>
                    </a:cubicBezTo>
                    <a:cubicBezTo>
                      <a:pt x="70" y="21"/>
                      <a:pt x="67" y="24"/>
                      <a:pt x="69" y="27"/>
                    </a:cubicBezTo>
                    <a:cubicBezTo>
                      <a:pt x="70" y="29"/>
                      <a:pt x="73" y="33"/>
                      <a:pt x="76" y="37"/>
                    </a:cubicBezTo>
                    <a:cubicBezTo>
                      <a:pt x="78" y="33"/>
                      <a:pt x="78" y="33"/>
                      <a:pt x="78" y="33"/>
                    </a:cubicBezTo>
                    <a:cubicBezTo>
                      <a:pt x="78" y="33"/>
                      <a:pt x="78" y="30"/>
                      <a:pt x="78" y="3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50" name="Freeform 333">
                <a:extLst>
                  <a:ext uri="{FF2B5EF4-FFF2-40B4-BE49-F238E27FC236}">
                    <a16:creationId xmlns:a16="http://schemas.microsoft.com/office/drawing/2014/main" id="{24ECD427-864C-41CA-B775-15531DBEA157}"/>
                  </a:ext>
                </a:extLst>
              </p:cNvPr>
              <p:cNvSpPr>
                <a:spLocks/>
              </p:cNvSpPr>
              <p:nvPr/>
            </p:nvSpPr>
            <p:spPr bwMode="auto">
              <a:xfrm>
                <a:off x="1818" y="2527"/>
                <a:ext cx="10" cy="5"/>
              </a:xfrm>
              <a:custGeom>
                <a:avLst/>
                <a:gdLst>
                  <a:gd name="T0" fmla="*/ 3 w 7"/>
                  <a:gd name="T1" fmla="*/ 0 h 4"/>
                  <a:gd name="T2" fmla="*/ 5 w 7"/>
                  <a:gd name="T3" fmla="*/ 4 h 4"/>
                  <a:gd name="T4" fmla="*/ 6 w 7"/>
                  <a:gd name="T5" fmla="*/ 3 h 4"/>
                  <a:gd name="T6" fmla="*/ 3 w 7"/>
                  <a:gd name="T7" fmla="*/ 0 h 4"/>
                </a:gdLst>
                <a:ahLst/>
                <a:cxnLst>
                  <a:cxn ang="0">
                    <a:pos x="T0" y="T1"/>
                  </a:cxn>
                  <a:cxn ang="0">
                    <a:pos x="T2" y="T3"/>
                  </a:cxn>
                  <a:cxn ang="0">
                    <a:pos x="T4" y="T5"/>
                  </a:cxn>
                  <a:cxn ang="0">
                    <a:pos x="T6" y="T7"/>
                  </a:cxn>
                </a:cxnLst>
                <a:rect l="0" t="0" r="r" b="b"/>
                <a:pathLst>
                  <a:path w="7" h="4">
                    <a:moveTo>
                      <a:pt x="3" y="0"/>
                    </a:moveTo>
                    <a:cubicBezTo>
                      <a:pt x="2" y="1"/>
                      <a:pt x="0" y="2"/>
                      <a:pt x="5" y="4"/>
                    </a:cubicBezTo>
                    <a:cubicBezTo>
                      <a:pt x="5" y="4"/>
                      <a:pt x="7" y="4"/>
                      <a:pt x="6" y="3"/>
                    </a:cubicBezTo>
                    <a:cubicBezTo>
                      <a:pt x="5" y="1"/>
                      <a:pt x="4" y="0"/>
                      <a:pt x="3"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51" name="Freeform 334">
                <a:extLst>
                  <a:ext uri="{FF2B5EF4-FFF2-40B4-BE49-F238E27FC236}">
                    <a16:creationId xmlns:a16="http://schemas.microsoft.com/office/drawing/2014/main" id="{73926DFE-BE62-4A04-958C-CF89031FC328}"/>
                  </a:ext>
                </a:extLst>
              </p:cNvPr>
              <p:cNvSpPr>
                <a:spLocks/>
              </p:cNvSpPr>
              <p:nvPr/>
            </p:nvSpPr>
            <p:spPr bwMode="auto">
              <a:xfrm>
                <a:off x="1880" y="2508"/>
                <a:ext cx="3" cy="5"/>
              </a:xfrm>
              <a:custGeom>
                <a:avLst/>
                <a:gdLst>
                  <a:gd name="T0" fmla="*/ 2 w 2"/>
                  <a:gd name="T1" fmla="*/ 4 h 4"/>
                  <a:gd name="T2" fmla="*/ 1 w 2"/>
                  <a:gd name="T3" fmla="*/ 1 h 4"/>
                  <a:gd name="T4" fmla="*/ 2 w 2"/>
                  <a:gd name="T5" fmla="*/ 4 h 4"/>
                </a:gdLst>
                <a:ahLst/>
                <a:cxnLst>
                  <a:cxn ang="0">
                    <a:pos x="T0" y="T1"/>
                  </a:cxn>
                  <a:cxn ang="0">
                    <a:pos x="T2" y="T3"/>
                  </a:cxn>
                  <a:cxn ang="0">
                    <a:pos x="T4" y="T5"/>
                  </a:cxn>
                </a:cxnLst>
                <a:rect l="0" t="0" r="r" b="b"/>
                <a:pathLst>
                  <a:path w="2" h="4">
                    <a:moveTo>
                      <a:pt x="2" y="4"/>
                    </a:moveTo>
                    <a:cubicBezTo>
                      <a:pt x="2" y="4"/>
                      <a:pt x="2" y="0"/>
                      <a:pt x="1" y="1"/>
                    </a:cubicBezTo>
                    <a:cubicBezTo>
                      <a:pt x="0" y="3"/>
                      <a:pt x="1" y="4"/>
                      <a:pt x="2"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52" name="Freeform 335">
                <a:extLst>
                  <a:ext uri="{FF2B5EF4-FFF2-40B4-BE49-F238E27FC236}">
                    <a16:creationId xmlns:a16="http://schemas.microsoft.com/office/drawing/2014/main" id="{BADB9D79-B807-445E-B5B0-94E59C76DAAC}"/>
                  </a:ext>
                </a:extLst>
              </p:cNvPr>
              <p:cNvSpPr>
                <a:spLocks/>
              </p:cNvSpPr>
              <p:nvPr/>
            </p:nvSpPr>
            <p:spPr bwMode="auto">
              <a:xfrm>
                <a:off x="1814" y="2490"/>
                <a:ext cx="4" cy="3"/>
              </a:xfrm>
              <a:custGeom>
                <a:avLst/>
                <a:gdLst>
                  <a:gd name="T0" fmla="*/ 1 w 3"/>
                  <a:gd name="T1" fmla="*/ 2 h 2"/>
                  <a:gd name="T2" fmla="*/ 1 w 3"/>
                  <a:gd name="T3" fmla="*/ 1 h 2"/>
                  <a:gd name="T4" fmla="*/ 1 w 3"/>
                  <a:gd name="T5" fmla="*/ 2 h 2"/>
                </a:gdLst>
                <a:ahLst/>
                <a:cxnLst>
                  <a:cxn ang="0">
                    <a:pos x="T0" y="T1"/>
                  </a:cxn>
                  <a:cxn ang="0">
                    <a:pos x="T2" y="T3"/>
                  </a:cxn>
                  <a:cxn ang="0">
                    <a:pos x="T4" y="T5"/>
                  </a:cxn>
                </a:cxnLst>
                <a:rect l="0" t="0" r="r" b="b"/>
                <a:pathLst>
                  <a:path w="3" h="2">
                    <a:moveTo>
                      <a:pt x="1" y="2"/>
                    </a:moveTo>
                    <a:cubicBezTo>
                      <a:pt x="1" y="2"/>
                      <a:pt x="3" y="2"/>
                      <a:pt x="1" y="1"/>
                    </a:cubicBezTo>
                    <a:cubicBezTo>
                      <a:pt x="0" y="0"/>
                      <a:pt x="0" y="1"/>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53" name="Freeform 336">
                <a:extLst>
                  <a:ext uri="{FF2B5EF4-FFF2-40B4-BE49-F238E27FC236}">
                    <a16:creationId xmlns:a16="http://schemas.microsoft.com/office/drawing/2014/main" id="{FFA42EFF-FDA2-4A25-BA3C-D703B9315254}"/>
                  </a:ext>
                </a:extLst>
              </p:cNvPr>
              <p:cNvSpPr>
                <a:spLocks/>
              </p:cNvSpPr>
              <p:nvPr/>
            </p:nvSpPr>
            <p:spPr bwMode="auto">
              <a:xfrm>
                <a:off x="1877" y="2427"/>
                <a:ext cx="252" cy="341"/>
              </a:xfrm>
              <a:custGeom>
                <a:avLst/>
                <a:gdLst>
                  <a:gd name="T0" fmla="*/ 20 w 182"/>
                  <a:gd name="T1" fmla="*/ 174 h 249"/>
                  <a:gd name="T2" fmla="*/ 31 w 182"/>
                  <a:gd name="T3" fmla="*/ 181 h 249"/>
                  <a:gd name="T4" fmla="*/ 57 w 182"/>
                  <a:gd name="T5" fmla="*/ 188 h 249"/>
                  <a:gd name="T6" fmla="*/ 70 w 182"/>
                  <a:gd name="T7" fmla="*/ 195 h 249"/>
                  <a:gd name="T8" fmla="*/ 80 w 182"/>
                  <a:gd name="T9" fmla="*/ 205 h 249"/>
                  <a:gd name="T10" fmla="*/ 93 w 182"/>
                  <a:gd name="T11" fmla="*/ 223 h 249"/>
                  <a:gd name="T12" fmla="*/ 97 w 182"/>
                  <a:gd name="T13" fmla="*/ 222 h 249"/>
                  <a:gd name="T14" fmla="*/ 107 w 182"/>
                  <a:gd name="T15" fmla="*/ 220 h 249"/>
                  <a:gd name="T16" fmla="*/ 119 w 182"/>
                  <a:gd name="T17" fmla="*/ 221 h 249"/>
                  <a:gd name="T18" fmla="*/ 128 w 182"/>
                  <a:gd name="T19" fmla="*/ 222 h 249"/>
                  <a:gd name="T20" fmla="*/ 127 w 182"/>
                  <a:gd name="T21" fmla="*/ 243 h 249"/>
                  <a:gd name="T22" fmla="*/ 140 w 182"/>
                  <a:gd name="T23" fmla="*/ 226 h 249"/>
                  <a:gd name="T24" fmla="*/ 139 w 182"/>
                  <a:gd name="T25" fmla="*/ 192 h 249"/>
                  <a:gd name="T26" fmla="*/ 142 w 182"/>
                  <a:gd name="T27" fmla="*/ 175 h 249"/>
                  <a:gd name="T28" fmla="*/ 147 w 182"/>
                  <a:gd name="T29" fmla="*/ 172 h 249"/>
                  <a:gd name="T30" fmla="*/ 137 w 182"/>
                  <a:gd name="T31" fmla="*/ 169 h 249"/>
                  <a:gd name="T32" fmla="*/ 162 w 182"/>
                  <a:gd name="T33" fmla="*/ 160 h 249"/>
                  <a:gd name="T34" fmla="*/ 169 w 182"/>
                  <a:gd name="T35" fmla="*/ 158 h 249"/>
                  <a:gd name="T36" fmla="*/ 177 w 182"/>
                  <a:gd name="T37" fmla="*/ 160 h 249"/>
                  <a:gd name="T38" fmla="*/ 182 w 182"/>
                  <a:gd name="T39" fmla="*/ 167 h 249"/>
                  <a:gd name="T40" fmla="*/ 168 w 182"/>
                  <a:gd name="T41" fmla="*/ 144 h 249"/>
                  <a:gd name="T42" fmla="*/ 175 w 182"/>
                  <a:gd name="T43" fmla="*/ 135 h 249"/>
                  <a:gd name="T44" fmla="*/ 169 w 182"/>
                  <a:gd name="T45" fmla="*/ 126 h 249"/>
                  <a:gd name="T46" fmla="*/ 168 w 182"/>
                  <a:gd name="T47" fmla="*/ 106 h 249"/>
                  <a:gd name="T48" fmla="*/ 158 w 182"/>
                  <a:gd name="T49" fmla="*/ 93 h 249"/>
                  <a:gd name="T50" fmla="*/ 133 w 182"/>
                  <a:gd name="T51" fmla="*/ 82 h 249"/>
                  <a:gd name="T52" fmla="*/ 110 w 182"/>
                  <a:gd name="T53" fmla="*/ 81 h 249"/>
                  <a:gd name="T54" fmla="*/ 100 w 182"/>
                  <a:gd name="T55" fmla="*/ 76 h 249"/>
                  <a:gd name="T56" fmla="*/ 100 w 182"/>
                  <a:gd name="T57" fmla="*/ 66 h 249"/>
                  <a:gd name="T58" fmla="*/ 94 w 182"/>
                  <a:gd name="T59" fmla="*/ 51 h 249"/>
                  <a:gd name="T60" fmla="*/ 90 w 182"/>
                  <a:gd name="T61" fmla="*/ 48 h 249"/>
                  <a:gd name="T62" fmla="*/ 91 w 182"/>
                  <a:gd name="T63" fmla="*/ 38 h 249"/>
                  <a:gd name="T64" fmla="*/ 93 w 182"/>
                  <a:gd name="T65" fmla="*/ 29 h 249"/>
                  <a:gd name="T66" fmla="*/ 99 w 182"/>
                  <a:gd name="T67" fmla="*/ 21 h 249"/>
                  <a:gd name="T68" fmla="*/ 112 w 182"/>
                  <a:gd name="T69" fmla="*/ 10 h 249"/>
                  <a:gd name="T70" fmla="*/ 102 w 182"/>
                  <a:gd name="T71" fmla="*/ 6 h 249"/>
                  <a:gd name="T72" fmla="*/ 73 w 182"/>
                  <a:gd name="T73" fmla="*/ 19 h 249"/>
                  <a:gd name="T74" fmla="*/ 63 w 182"/>
                  <a:gd name="T75" fmla="*/ 21 h 249"/>
                  <a:gd name="T76" fmla="*/ 53 w 182"/>
                  <a:gd name="T77" fmla="*/ 29 h 249"/>
                  <a:gd name="T78" fmla="*/ 51 w 182"/>
                  <a:gd name="T79" fmla="*/ 45 h 249"/>
                  <a:gd name="T80" fmla="*/ 33 w 182"/>
                  <a:gd name="T81" fmla="*/ 60 h 249"/>
                  <a:gd name="T82" fmla="*/ 24 w 182"/>
                  <a:gd name="T83" fmla="*/ 59 h 249"/>
                  <a:gd name="T84" fmla="*/ 28 w 182"/>
                  <a:gd name="T85" fmla="*/ 67 h 249"/>
                  <a:gd name="T86" fmla="*/ 22 w 182"/>
                  <a:gd name="T87" fmla="*/ 74 h 249"/>
                  <a:gd name="T88" fmla="*/ 18 w 182"/>
                  <a:gd name="T89" fmla="*/ 79 h 249"/>
                  <a:gd name="T90" fmla="*/ 27 w 182"/>
                  <a:gd name="T91" fmla="*/ 102 h 249"/>
                  <a:gd name="T92" fmla="*/ 27 w 182"/>
                  <a:gd name="T93" fmla="*/ 122 h 249"/>
                  <a:gd name="T94" fmla="*/ 29 w 182"/>
                  <a:gd name="T95" fmla="*/ 126 h 249"/>
                  <a:gd name="T96" fmla="*/ 22 w 182"/>
                  <a:gd name="T97" fmla="*/ 140 h 249"/>
                  <a:gd name="T98" fmla="*/ 8 w 182"/>
                  <a:gd name="T99" fmla="*/ 159 h 249"/>
                  <a:gd name="T100" fmla="*/ 4 w 182"/>
                  <a:gd name="T101" fmla="*/ 16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2" h="249">
                    <a:moveTo>
                      <a:pt x="9" y="168"/>
                    </a:moveTo>
                    <a:cubicBezTo>
                      <a:pt x="10" y="169"/>
                      <a:pt x="10" y="169"/>
                      <a:pt x="11" y="169"/>
                    </a:cubicBezTo>
                    <a:cubicBezTo>
                      <a:pt x="11" y="170"/>
                      <a:pt x="13" y="171"/>
                      <a:pt x="14" y="171"/>
                    </a:cubicBezTo>
                    <a:cubicBezTo>
                      <a:pt x="15" y="172"/>
                      <a:pt x="19" y="174"/>
                      <a:pt x="20" y="174"/>
                    </a:cubicBezTo>
                    <a:cubicBezTo>
                      <a:pt x="21" y="174"/>
                      <a:pt x="21" y="174"/>
                      <a:pt x="22" y="174"/>
                    </a:cubicBezTo>
                    <a:cubicBezTo>
                      <a:pt x="22" y="174"/>
                      <a:pt x="24" y="176"/>
                      <a:pt x="24" y="177"/>
                    </a:cubicBezTo>
                    <a:cubicBezTo>
                      <a:pt x="24" y="177"/>
                      <a:pt x="25" y="180"/>
                      <a:pt x="27" y="181"/>
                    </a:cubicBezTo>
                    <a:cubicBezTo>
                      <a:pt x="30" y="181"/>
                      <a:pt x="30" y="181"/>
                      <a:pt x="31" y="181"/>
                    </a:cubicBezTo>
                    <a:cubicBezTo>
                      <a:pt x="32" y="181"/>
                      <a:pt x="37" y="182"/>
                      <a:pt x="38" y="182"/>
                    </a:cubicBezTo>
                    <a:cubicBezTo>
                      <a:pt x="38" y="182"/>
                      <a:pt x="43" y="181"/>
                      <a:pt x="43" y="181"/>
                    </a:cubicBezTo>
                    <a:cubicBezTo>
                      <a:pt x="43" y="181"/>
                      <a:pt x="43" y="180"/>
                      <a:pt x="44" y="181"/>
                    </a:cubicBezTo>
                    <a:cubicBezTo>
                      <a:pt x="45" y="181"/>
                      <a:pt x="53" y="186"/>
                      <a:pt x="57" y="188"/>
                    </a:cubicBezTo>
                    <a:cubicBezTo>
                      <a:pt x="57" y="188"/>
                      <a:pt x="57" y="188"/>
                      <a:pt x="57" y="188"/>
                    </a:cubicBezTo>
                    <a:cubicBezTo>
                      <a:pt x="58" y="187"/>
                      <a:pt x="60" y="187"/>
                      <a:pt x="62" y="188"/>
                    </a:cubicBezTo>
                    <a:cubicBezTo>
                      <a:pt x="64" y="189"/>
                      <a:pt x="67" y="192"/>
                      <a:pt x="68" y="193"/>
                    </a:cubicBezTo>
                    <a:cubicBezTo>
                      <a:pt x="70" y="194"/>
                      <a:pt x="70" y="194"/>
                      <a:pt x="70" y="195"/>
                    </a:cubicBezTo>
                    <a:cubicBezTo>
                      <a:pt x="70" y="195"/>
                      <a:pt x="72" y="200"/>
                      <a:pt x="72" y="200"/>
                    </a:cubicBezTo>
                    <a:cubicBezTo>
                      <a:pt x="72" y="201"/>
                      <a:pt x="72" y="201"/>
                      <a:pt x="74" y="202"/>
                    </a:cubicBezTo>
                    <a:cubicBezTo>
                      <a:pt x="75" y="202"/>
                      <a:pt x="76" y="202"/>
                      <a:pt x="77" y="203"/>
                    </a:cubicBezTo>
                    <a:cubicBezTo>
                      <a:pt x="77" y="204"/>
                      <a:pt x="79" y="205"/>
                      <a:pt x="80" y="205"/>
                    </a:cubicBezTo>
                    <a:cubicBezTo>
                      <a:pt x="82" y="206"/>
                      <a:pt x="84" y="207"/>
                      <a:pt x="84" y="210"/>
                    </a:cubicBezTo>
                    <a:cubicBezTo>
                      <a:pt x="83" y="213"/>
                      <a:pt x="84" y="213"/>
                      <a:pt x="86" y="213"/>
                    </a:cubicBezTo>
                    <a:cubicBezTo>
                      <a:pt x="87" y="214"/>
                      <a:pt x="89" y="214"/>
                      <a:pt x="89" y="216"/>
                    </a:cubicBezTo>
                    <a:cubicBezTo>
                      <a:pt x="89" y="218"/>
                      <a:pt x="91" y="224"/>
                      <a:pt x="93" y="223"/>
                    </a:cubicBezTo>
                    <a:cubicBezTo>
                      <a:pt x="93" y="223"/>
                      <a:pt x="94" y="223"/>
                      <a:pt x="95" y="223"/>
                    </a:cubicBezTo>
                    <a:cubicBezTo>
                      <a:pt x="95" y="223"/>
                      <a:pt x="95" y="223"/>
                      <a:pt x="96" y="223"/>
                    </a:cubicBezTo>
                    <a:cubicBezTo>
                      <a:pt x="96" y="223"/>
                      <a:pt x="96" y="223"/>
                      <a:pt x="96" y="223"/>
                    </a:cubicBezTo>
                    <a:cubicBezTo>
                      <a:pt x="97" y="222"/>
                      <a:pt x="97" y="222"/>
                      <a:pt x="97" y="222"/>
                    </a:cubicBezTo>
                    <a:cubicBezTo>
                      <a:pt x="98" y="222"/>
                      <a:pt x="101" y="223"/>
                      <a:pt x="102" y="223"/>
                    </a:cubicBezTo>
                    <a:cubicBezTo>
                      <a:pt x="103" y="223"/>
                      <a:pt x="104" y="223"/>
                      <a:pt x="105" y="222"/>
                    </a:cubicBezTo>
                    <a:cubicBezTo>
                      <a:pt x="105" y="221"/>
                      <a:pt x="106" y="221"/>
                      <a:pt x="106" y="221"/>
                    </a:cubicBezTo>
                    <a:cubicBezTo>
                      <a:pt x="107" y="221"/>
                      <a:pt x="107" y="221"/>
                      <a:pt x="107" y="220"/>
                    </a:cubicBezTo>
                    <a:cubicBezTo>
                      <a:pt x="108" y="220"/>
                      <a:pt x="108" y="219"/>
                      <a:pt x="109" y="219"/>
                    </a:cubicBezTo>
                    <a:cubicBezTo>
                      <a:pt x="110" y="219"/>
                      <a:pt x="111" y="220"/>
                      <a:pt x="112" y="220"/>
                    </a:cubicBezTo>
                    <a:cubicBezTo>
                      <a:pt x="113" y="221"/>
                      <a:pt x="116" y="222"/>
                      <a:pt x="117" y="221"/>
                    </a:cubicBezTo>
                    <a:cubicBezTo>
                      <a:pt x="118" y="221"/>
                      <a:pt x="118" y="221"/>
                      <a:pt x="119" y="221"/>
                    </a:cubicBezTo>
                    <a:cubicBezTo>
                      <a:pt x="120" y="220"/>
                      <a:pt x="120" y="220"/>
                      <a:pt x="121" y="220"/>
                    </a:cubicBezTo>
                    <a:cubicBezTo>
                      <a:pt x="121" y="220"/>
                      <a:pt x="121" y="219"/>
                      <a:pt x="122" y="219"/>
                    </a:cubicBezTo>
                    <a:cubicBezTo>
                      <a:pt x="123" y="219"/>
                      <a:pt x="123" y="220"/>
                      <a:pt x="124" y="220"/>
                    </a:cubicBezTo>
                    <a:cubicBezTo>
                      <a:pt x="125" y="221"/>
                      <a:pt x="126" y="222"/>
                      <a:pt x="128" y="222"/>
                    </a:cubicBezTo>
                    <a:cubicBezTo>
                      <a:pt x="129" y="223"/>
                      <a:pt x="134" y="223"/>
                      <a:pt x="134" y="225"/>
                    </a:cubicBezTo>
                    <a:cubicBezTo>
                      <a:pt x="134" y="228"/>
                      <a:pt x="133" y="229"/>
                      <a:pt x="132" y="230"/>
                    </a:cubicBezTo>
                    <a:cubicBezTo>
                      <a:pt x="131" y="231"/>
                      <a:pt x="126" y="238"/>
                      <a:pt x="126" y="240"/>
                    </a:cubicBezTo>
                    <a:cubicBezTo>
                      <a:pt x="125" y="242"/>
                      <a:pt x="126" y="244"/>
                      <a:pt x="127" y="243"/>
                    </a:cubicBezTo>
                    <a:cubicBezTo>
                      <a:pt x="129" y="243"/>
                      <a:pt x="130" y="242"/>
                      <a:pt x="131" y="243"/>
                    </a:cubicBezTo>
                    <a:cubicBezTo>
                      <a:pt x="131" y="244"/>
                      <a:pt x="134" y="247"/>
                      <a:pt x="136" y="249"/>
                    </a:cubicBezTo>
                    <a:cubicBezTo>
                      <a:pt x="136" y="248"/>
                      <a:pt x="136" y="247"/>
                      <a:pt x="136" y="246"/>
                    </a:cubicBezTo>
                    <a:cubicBezTo>
                      <a:pt x="137" y="245"/>
                      <a:pt x="140" y="226"/>
                      <a:pt x="140" y="226"/>
                    </a:cubicBezTo>
                    <a:cubicBezTo>
                      <a:pt x="140" y="226"/>
                      <a:pt x="142" y="213"/>
                      <a:pt x="143" y="209"/>
                    </a:cubicBezTo>
                    <a:cubicBezTo>
                      <a:pt x="143" y="205"/>
                      <a:pt x="144" y="203"/>
                      <a:pt x="143" y="201"/>
                    </a:cubicBezTo>
                    <a:cubicBezTo>
                      <a:pt x="143" y="200"/>
                      <a:pt x="142" y="198"/>
                      <a:pt x="142" y="197"/>
                    </a:cubicBezTo>
                    <a:cubicBezTo>
                      <a:pt x="142" y="196"/>
                      <a:pt x="141" y="193"/>
                      <a:pt x="139" y="192"/>
                    </a:cubicBezTo>
                    <a:cubicBezTo>
                      <a:pt x="137" y="191"/>
                      <a:pt x="135" y="189"/>
                      <a:pt x="134" y="187"/>
                    </a:cubicBezTo>
                    <a:cubicBezTo>
                      <a:pt x="134" y="184"/>
                      <a:pt x="134" y="178"/>
                      <a:pt x="134" y="178"/>
                    </a:cubicBezTo>
                    <a:cubicBezTo>
                      <a:pt x="134" y="178"/>
                      <a:pt x="134" y="178"/>
                      <a:pt x="135" y="177"/>
                    </a:cubicBezTo>
                    <a:cubicBezTo>
                      <a:pt x="136" y="177"/>
                      <a:pt x="142" y="175"/>
                      <a:pt x="142" y="175"/>
                    </a:cubicBezTo>
                    <a:cubicBezTo>
                      <a:pt x="142" y="175"/>
                      <a:pt x="144" y="175"/>
                      <a:pt x="145" y="175"/>
                    </a:cubicBezTo>
                    <a:cubicBezTo>
                      <a:pt x="145" y="175"/>
                      <a:pt x="147" y="176"/>
                      <a:pt x="147" y="176"/>
                    </a:cubicBezTo>
                    <a:cubicBezTo>
                      <a:pt x="147" y="176"/>
                      <a:pt x="148" y="177"/>
                      <a:pt x="148" y="175"/>
                    </a:cubicBezTo>
                    <a:cubicBezTo>
                      <a:pt x="147" y="174"/>
                      <a:pt x="148" y="173"/>
                      <a:pt x="147" y="172"/>
                    </a:cubicBezTo>
                    <a:cubicBezTo>
                      <a:pt x="146" y="171"/>
                      <a:pt x="145" y="170"/>
                      <a:pt x="145" y="170"/>
                    </a:cubicBezTo>
                    <a:cubicBezTo>
                      <a:pt x="144" y="171"/>
                      <a:pt x="144" y="171"/>
                      <a:pt x="143" y="171"/>
                    </a:cubicBezTo>
                    <a:cubicBezTo>
                      <a:pt x="143" y="170"/>
                      <a:pt x="139" y="170"/>
                      <a:pt x="138" y="170"/>
                    </a:cubicBezTo>
                    <a:cubicBezTo>
                      <a:pt x="137" y="170"/>
                      <a:pt x="138" y="169"/>
                      <a:pt x="137" y="169"/>
                    </a:cubicBezTo>
                    <a:cubicBezTo>
                      <a:pt x="137" y="168"/>
                      <a:pt x="137" y="161"/>
                      <a:pt x="137" y="161"/>
                    </a:cubicBezTo>
                    <a:cubicBezTo>
                      <a:pt x="137" y="161"/>
                      <a:pt x="137" y="161"/>
                      <a:pt x="138" y="161"/>
                    </a:cubicBezTo>
                    <a:cubicBezTo>
                      <a:pt x="139" y="161"/>
                      <a:pt x="162" y="160"/>
                      <a:pt x="162" y="160"/>
                    </a:cubicBezTo>
                    <a:cubicBezTo>
                      <a:pt x="162" y="160"/>
                      <a:pt x="163" y="160"/>
                      <a:pt x="162" y="160"/>
                    </a:cubicBezTo>
                    <a:cubicBezTo>
                      <a:pt x="161" y="159"/>
                      <a:pt x="161" y="158"/>
                      <a:pt x="162" y="157"/>
                    </a:cubicBezTo>
                    <a:cubicBezTo>
                      <a:pt x="162" y="157"/>
                      <a:pt x="162" y="156"/>
                      <a:pt x="163" y="157"/>
                    </a:cubicBezTo>
                    <a:cubicBezTo>
                      <a:pt x="164" y="158"/>
                      <a:pt x="165" y="160"/>
                      <a:pt x="166" y="160"/>
                    </a:cubicBezTo>
                    <a:cubicBezTo>
                      <a:pt x="168" y="160"/>
                      <a:pt x="168" y="159"/>
                      <a:pt x="169" y="158"/>
                    </a:cubicBezTo>
                    <a:cubicBezTo>
                      <a:pt x="170" y="157"/>
                      <a:pt x="170" y="156"/>
                      <a:pt x="171" y="156"/>
                    </a:cubicBezTo>
                    <a:cubicBezTo>
                      <a:pt x="171" y="156"/>
                      <a:pt x="174" y="155"/>
                      <a:pt x="175" y="155"/>
                    </a:cubicBezTo>
                    <a:cubicBezTo>
                      <a:pt x="175" y="155"/>
                      <a:pt x="175" y="156"/>
                      <a:pt x="176" y="157"/>
                    </a:cubicBezTo>
                    <a:cubicBezTo>
                      <a:pt x="176" y="157"/>
                      <a:pt x="177" y="159"/>
                      <a:pt x="177" y="160"/>
                    </a:cubicBezTo>
                    <a:cubicBezTo>
                      <a:pt x="178" y="161"/>
                      <a:pt x="179" y="162"/>
                      <a:pt x="179" y="164"/>
                    </a:cubicBezTo>
                    <a:cubicBezTo>
                      <a:pt x="178" y="166"/>
                      <a:pt x="178" y="168"/>
                      <a:pt x="179" y="168"/>
                    </a:cubicBezTo>
                    <a:cubicBezTo>
                      <a:pt x="180" y="168"/>
                      <a:pt x="181" y="168"/>
                      <a:pt x="182" y="168"/>
                    </a:cubicBezTo>
                    <a:cubicBezTo>
                      <a:pt x="182" y="168"/>
                      <a:pt x="182" y="167"/>
                      <a:pt x="182" y="167"/>
                    </a:cubicBezTo>
                    <a:cubicBezTo>
                      <a:pt x="182" y="167"/>
                      <a:pt x="179" y="159"/>
                      <a:pt x="179" y="158"/>
                    </a:cubicBezTo>
                    <a:cubicBezTo>
                      <a:pt x="179" y="157"/>
                      <a:pt x="175" y="150"/>
                      <a:pt x="175" y="149"/>
                    </a:cubicBezTo>
                    <a:cubicBezTo>
                      <a:pt x="175" y="148"/>
                      <a:pt x="172" y="146"/>
                      <a:pt x="171" y="145"/>
                    </a:cubicBezTo>
                    <a:cubicBezTo>
                      <a:pt x="171" y="144"/>
                      <a:pt x="169" y="144"/>
                      <a:pt x="168" y="144"/>
                    </a:cubicBezTo>
                    <a:cubicBezTo>
                      <a:pt x="167" y="144"/>
                      <a:pt x="167" y="143"/>
                      <a:pt x="167" y="143"/>
                    </a:cubicBezTo>
                    <a:cubicBezTo>
                      <a:pt x="168" y="143"/>
                      <a:pt x="173" y="138"/>
                      <a:pt x="174" y="138"/>
                    </a:cubicBezTo>
                    <a:cubicBezTo>
                      <a:pt x="174" y="137"/>
                      <a:pt x="175" y="136"/>
                      <a:pt x="175" y="135"/>
                    </a:cubicBezTo>
                    <a:cubicBezTo>
                      <a:pt x="175" y="135"/>
                      <a:pt x="175" y="135"/>
                      <a:pt x="175" y="135"/>
                    </a:cubicBezTo>
                    <a:cubicBezTo>
                      <a:pt x="174" y="135"/>
                      <a:pt x="174" y="134"/>
                      <a:pt x="174" y="134"/>
                    </a:cubicBezTo>
                    <a:cubicBezTo>
                      <a:pt x="174" y="132"/>
                      <a:pt x="172" y="131"/>
                      <a:pt x="171" y="131"/>
                    </a:cubicBezTo>
                    <a:cubicBezTo>
                      <a:pt x="171" y="131"/>
                      <a:pt x="171" y="130"/>
                      <a:pt x="171" y="130"/>
                    </a:cubicBezTo>
                    <a:cubicBezTo>
                      <a:pt x="171" y="129"/>
                      <a:pt x="170" y="127"/>
                      <a:pt x="169" y="126"/>
                    </a:cubicBezTo>
                    <a:cubicBezTo>
                      <a:pt x="169" y="125"/>
                      <a:pt x="169" y="124"/>
                      <a:pt x="168" y="123"/>
                    </a:cubicBezTo>
                    <a:cubicBezTo>
                      <a:pt x="167" y="121"/>
                      <a:pt x="167" y="118"/>
                      <a:pt x="167" y="116"/>
                    </a:cubicBezTo>
                    <a:cubicBezTo>
                      <a:pt x="167" y="114"/>
                      <a:pt x="167" y="108"/>
                      <a:pt x="167" y="108"/>
                    </a:cubicBezTo>
                    <a:cubicBezTo>
                      <a:pt x="167" y="107"/>
                      <a:pt x="168" y="106"/>
                      <a:pt x="168" y="106"/>
                    </a:cubicBezTo>
                    <a:cubicBezTo>
                      <a:pt x="168" y="106"/>
                      <a:pt x="171" y="100"/>
                      <a:pt x="173" y="98"/>
                    </a:cubicBezTo>
                    <a:cubicBezTo>
                      <a:pt x="174" y="97"/>
                      <a:pt x="173" y="95"/>
                      <a:pt x="173" y="95"/>
                    </a:cubicBezTo>
                    <a:cubicBezTo>
                      <a:pt x="173" y="94"/>
                      <a:pt x="172" y="94"/>
                      <a:pt x="172" y="94"/>
                    </a:cubicBezTo>
                    <a:cubicBezTo>
                      <a:pt x="166" y="92"/>
                      <a:pt x="160" y="93"/>
                      <a:pt x="158" y="93"/>
                    </a:cubicBezTo>
                    <a:cubicBezTo>
                      <a:pt x="156" y="94"/>
                      <a:pt x="145" y="95"/>
                      <a:pt x="144" y="95"/>
                    </a:cubicBezTo>
                    <a:cubicBezTo>
                      <a:pt x="144" y="95"/>
                      <a:pt x="143" y="95"/>
                      <a:pt x="143" y="95"/>
                    </a:cubicBezTo>
                    <a:cubicBezTo>
                      <a:pt x="143" y="95"/>
                      <a:pt x="134" y="83"/>
                      <a:pt x="134" y="83"/>
                    </a:cubicBezTo>
                    <a:cubicBezTo>
                      <a:pt x="133" y="82"/>
                      <a:pt x="133" y="82"/>
                      <a:pt x="133" y="82"/>
                    </a:cubicBezTo>
                    <a:cubicBezTo>
                      <a:pt x="129" y="81"/>
                      <a:pt x="129" y="81"/>
                      <a:pt x="129" y="81"/>
                    </a:cubicBezTo>
                    <a:cubicBezTo>
                      <a:pt x="124" y="80"/>
                      <a:pt x="121" y="81"/>
                      <a:pt x="120" y="82"/>
                    </a:cubicBezTo>
                    <a:cubicBezTo>
                      <a:pt x="119" y="82"/>
                      <a:pt x="118" y="82"/>
                      <a:pt x="118" y="82"/>
                    </a:cubicBezTo>
                    <a:cubicBezTo>
                      <a:pt x="118" y="82"/>
                      <a:pt x="111" y="81"/>
                      <a:pt x="110" y="81"/>
                    </a:cubicBezTo>
                    <a:cubicBezTo>
                      <a:pt x="109" y="81"/>
                      <a:pt x="107" y="82"/>
                      <a:pt x="106" y="82"/>
                    </a:cubicBezTo>
                    <a:cubicBezTo>
                      <a:pt x="106" y="82"/>
                      <a:pt x="105" y="81"/>
                      <a:pt x="105" y="81"/>
                    </a:cubicBezTo>
                    <a:cubicBezTo>
                      <a:pt x="104" y="79"/>
                      <a:pt x="104" y="79"/>
                      <a:pt x="104" y="79"/>
                    </a:cubicBezTo>
                    <a:cubicBezTo>
                      <a:pt x="103" y="76"/>
                      <a:pt x="100" y="76"/>
                      <a:pt x="100" y="76"/>
                    </a:cubicBezTo>
                    <a:cubicBezTo>
                      <a:pt x="99" y="75"/>
                      <a:pt x="99" y="73"/>
                      <a:pt x="99" y="73"/>
                    </a:cubicBezTo>
                    <a:cubicBezTo>
                      <a:pt x="98" y="72"/>
                      <a:pt x="99" y="70"/>
                      <a:pt x="99" y="69"/>
                    </a:cubicBezTo>
                    <a:cubicBezTo>
                      <a:pt x="99" y="68"/>
                      <a:pt x="99" y="67"/>
                      <a:pt x="100" y="67"/>
                    </a:cubicBezTo>
                    <a:cubicBezTo>
                      <a:pt x="100" y="66"/>
                      <a:pt x="100" y="66"/>
                      <a:pt x="100" y="66"/>
                    </a:cubicBezTo>
                    <a:cubicBezTo>
                      <a:pt x="100" y="65"/>
                      <a:pt x="100" y="62"/>
                      <a:pt x="100" y="62"/>
                    </a:cubicBezTo>
                    <a:cubicBezTo>
                      <a:pt x="99" y="61"/>
                      <a:pt x="99" y="61"/>
                      <a:pt x="99" y="61"/>
                    </a:cubicBezTo>
                    <a:cubicBezTo>
                      <a:pt x="99" y="61"/>
                      <a:pt x="98" y="60"/>
                      <a:pt x="98" y="60"/>
                    </a:cubicBezTo>
                    <a:cubicBezTo>
                      <a:pt x="98" y="59"/>
                      <a:pt x="95" y="52"/>
                      <a:pt x="94" y="51"/>
                    </a:cubicBezTo>
                    <a:cubicBezTo>
                      <a:pt x="94" y="50"/>
                      <a:pt x="92" y="50"/>
                      <a:pt x="92" y="50"/>
                    </a:cubicBezTo>
                    <a:cubicBezTo>
                      <a:pt x="92" y="50"/>
                      <a:pt x="91" y="50"/>
                      <a:pt x="91" y="50"/>
                    </a:cubicBezTo>
                    <a:cubicBezTo>
                      <a:pt x="91" y="49"/>
                      <a:pt x="91" y="49"/>
                      <a:pt x="91" y="48"/>
                    </a:cubicBezTo>
                    <a:cubicBezTo>
                      <a:pt x="91" y="48"/>
                      <a:pt x="90" y="48"/>
                      <a:pt x="90" y="48"/>
                    </a:cubicBezTo>
                    <a:cubicBezTo>
                      <a:pt x="90" y="48"/>
                      <a:pt x="87" y="49"/>
                      <a:pt x="86" y="49"/>
                    </a:cubicBezTo>
                    <a:cubicBezTo>
                      <a:pt x="85" y="50"/>
                      <a:pt x="85" y="49"/>
                      <a:pt x="85" y="49"/>
                    </a:cubicBezTo>
                    <a:cubicBezTo>
                      <a:pt x="86" y="48"/>
                      <a:pt x="89" y="43"/>
                      <a:pt x="89" y="42"/>
                    </a:cubicBezTo>
                    <a:cubicBezTo>
                      <a:pt x="90" y="42"/>
                      <a:pt x="90" y="39"/>
                      <a:pt x="91" y="38"/>
                    </a:cubicBezTo>
                    <a:cubicBezTo>
                      <a:pt x="91" y="38"/>
                      <a:pt x="91" y="36"/>
                      <a:pt x="91" y="35"/>
                    </a:cubicBezTo>
                    <a:cubicBezTo>
                      <a:pt x="92" y="34"/>
                      <a:pt x="92" y="32"/>
                      <a:pt x="92" y="31"/>
                    </a:cubicBezTo>
                    <a:cubicBezTo>
                      <a:pt x="92" y="30"/>
                      <a:pt x="92" y="30"/>
                      <a:pt x="92" y="30"/>
                    </a:cubicBezTo>
                    <a:cubicBezTo>
                      <a:pt x="92" y="30"/>
                      <a:pt x="93" y="30"/>
                      <a:pt x="93" y="29"/>
                    </a:cubicBezTo>
                    <a:cubicBezTo>
                      <a:pt x="93" y="29"/>
                      <a:pt x="93" y="28"/>
                      <a:pt x="94" y="28"/>
                    </a:cubicBezTo>
                    <a:cubicBezTo>
                      <a:pt x="94" y="27"/>
                      <a:pt x="94" y="26"/>
                      <a:pt x="95" y="25"/>
                    </a:cubicBezTo>
                    <a:cubicBezTo>
                      <a:pt x="95" y="24"/>
                      <a:pt x="97" y="22"/>
                      <a:pt x="97" y="21"/>
                    </a:cubicBezTo>
                    <a:cubicBezTo>
                      <a:pt x="98" y="21"/>
                      <a:pt x="99" y="21"/>
                      <a:pt x="99" y="21"/>
                    </a:cubicBezTo>
                    <a:cubicBezTo>
                      <a:pt x="102" y="21"/>
                      <a:pt x="103" y="18"/>
                      <a:pt x="103" y="18"/>
                    </a:cubicBezTo>
                    <a:cubicBezTo>
                      <a:pt x="103" y="18"/>
                      <a:pt x="105" y="15"/>
                      <a:pt x="105" y="13"/>
                    </a:cubicBezTo>
                    <a:cubicBezTo>
                      <a:pt x="106" y="12"/>
                      <a:pt x="107" y="12"/>
                      <a:pt x="107" y="12"/>
                    </a:cubicBezTo>
                    <a:cubicBezTo>
                      <a:pt x="112" y="10"/>
                      <a:pt x="112" y="10"/>
                      <a:pt x="112" y="10"/>
                    </a:cubicBezTo>
                    <a:cubicBezTo>
                      <a:pt x="113" y="10"/>
                      <a:pt x="115" y="9"/>
                      <a:pt x="116" y="8"/>
                    </a:cubicBezTo>
                    <a:cubicBezTo>
                      <a:pt x="118" y="7"/>
                      <a:pt x="120" y="6"/>
                      <a:pt x="117" y="3"/>
                    </a:cubicBezTo>
                    <a:cubicBezTo>
                      <a:pt x="115" y="0"/>
                      <a:pt x="111" y="0"/>
                      <a:pt x="109" y="1"/>
                    </a:cubicBezTo>
                    <a:cubicBezTo>
                      <a:pt x="107" y="2"/>
                      <a:pt x="103" y="3"/>
                      <a:pt x="102" y="6"/>
                    </a:cubicBezTo>
                    <a:cubicBezTo>
                      <a:pt x="101" y="9"/>
                      <a:pt x="100" y="10"/>
                      <a:pt x="99" y="10"/>
                    </a:cubicBezTo>
                    <a:cubicBezTo>
                      <a:pt x="98" y="11"/>
                      <a:pt x="93" y="14"/>
                      <a:pt x="91" y="15"/>
                    </a:cubicBezTo>
                    <a:cubicBezTo>
                      <a:pt x="88" y="16"/>
                      <a:pt x="83" y="19"/>
                      <a:pt x="77" y="17"/>
                    </a:cubicBezTo>
                    <a:cubicBezTo>
                      <a:pt x="77" y="17"/>
                      <a:pt x="75" y="16"/>
                      <a:pt x="73" y="19"/>
                    </a:cubicBezTo>
                    <a:cubicBezTo>
                      <a:pt x="72" y="22"/>
                      <a:pt x="71" y="26"/>
                      <a:pt x="69" y="25"/>
                    </a:cubicBezTo>
                    <a:cubicBezTo>
                      <a:pt x="68" y="25"/>
                      <a:pt x="67" y="24"/>
                      <a:pt x="68" y="23"/>
                    </a:cubicBezTo>
                    <a:cubicBezTo>
                      <a:pt x="70" y="23"/>
                      <a:pt x="70" y="23"/>
                      <a:pt x="68" y="22"/>
                    </a:cubicBezTo>
                    <a:cubicBezTo>
                      <a:pt x="66" y="21"/>
                      <a:pt x="64" y="20"/>
                      <a:pt x="63" y="21"/>
                    </a:cubicBezTo>
                    <a:cubicBezTo>
                      <a:pt x="62" y="22"/>
                      <a:pt x="60" y="23"/>
                      <a:pt x="59" y="24"/>
                    </a:cubicBezTo>
                    <a:cubicBezTo>
                      <a:pt x="58" y="25"/>
                      <a:pt x="58" y="25"/>
                      <a:pt x="58" y="26"/>
                    </a:cubicBezTo>
                    <a:cubicBezTo>
                      <a:pt x="58" y="26"/>
                      <a:pt x="57" y="27"/>
                      <a:pt x="56" y="28"/>
                    </a:cubicBezTo>
                    <a:cubicBezTo>
                      <a:pt x="55" y="28"/>
                      <a:pt x="53" y="27"/>
                      <a:pt x="53" y="29"/>
                    </a:cubicBezTo>
                    <a:cubicBezTo>
                      <a:pt x="52" y="32"/>
                      <a:pt x="50" y="35"/>
                      <a:pt x="52" y="34"/>
                    </a:cubicBezTo>
                    <a:cubicBezTo>
                      <a:pt x="54" y="33"/>
                      <a:pt x="53" y="34"/>
                      <a:pt x="53" y="36"/>
                    </a:cubicBezTo>
                    <a:cubicBezTo>
                      <a:pt x="52" y="38"/>
                      <a:pt x="50" y="41"/>
                      <a:pt x="52" y="42"/>
                    </a:cubicBezTo>
                    <a:cubicBezTo>
                      <a:pt x="53" y="42"/>
                      <a:pt x="52" y="43"/>
                      <a:pt x="51" y="45"/>
                    </a:cubicBezTo>
                    <a:cubicBezTo>
                      <a:pt x="51" y="46"/>
                      <a:pt x="51" y="46"/>
                      <a:pt x="49" y="46"/>
                    </a:cubicBezTo>
                    <a:cubicBezTo>
                      <a:pt x="48" y="46"/>
                      <a:pt x="44" y="47"/>
                      <a:pt x="44" y="49"/>
                    </a:cubicBezTo>
                    <a:cubicBezTo>
                      <a:pt x="43" y="51"/>
                      <a:pt x="41" y="54"/>
                      <a:pt x="38" y="56"/>
                    </a:cubicBezTo>
                    <a:cubicBezTo>
                      <a:pt x="35" y="57"/>
                      <a:pt x="31" y="57"/>
                      <a:pt x="33" y="60"/>
                    </a:cubicBezTo>
                    <a:cubicBezTo>
                      <a:pt x="35" y="63"/>
                      <a:pt x="35" y="64"/>
                      <a:pt x="35" y="66"/>
                    </a:cubicBezTo>
                    <a:cubicBezTo>
                      <a:pt x="35" y="67"/>
                      <a:pt x="35" y="70"/>
                      <a:pt x="32" y="65"/>
                    </a:cubicBezTo>
                    <a:cubicBezTo>
                      <a:pt x="30" y="60"/>
                      <a:pt x="27" y="58"/>
                      <a:pt x="26" y="57"/>
                    </a:cubicBezTo>
                    <a:cubicBezTo>
                      <a:pt x="25" y="58"/>
                      <a:pt x="25" y="59"/>
                      <a:pt x="24" y="59"/>
                    </a:cubicBezTo>
                    <a:cubicBezTo>
                      <a:pt x="24" y="59"/>
                      <a:pt x="25" y="60"/>
                      <a:pt x="25" y="60"/>
                    </a:cubicBezTo>
                    <a:cubicBezTo>
                      <a:pt x="26" y="61"/>
                      <a:pt x="26" y="61"/>
                      <a:pt x="26" y="62"/>
                    </a:cubicBezTo>
                    <a:cubicBezTo>
                      <a:pt x="26" y="62"/>
                      <a:pt x="26" y="63"/>
                      <a:pt x="27" y="63"/>
                    </a:cubicBezTo>
                    <a:cubicBezTo>
                      <a:pt x="27" y="64"/>
                      <a:pt x="28" y="66"/>
                      <a:pt x="28" y="67"/>
                    </a:cubicBezTo>
                    <a:cubicBezTo>
                      <a:pt x="29" y="68"/>
                      <a:pt x="29" y="68"/>
                      <a:pt x="29" y="68"/>
                    </a:cubicBezTo>
                    <a:cubicBezTo>
                      <a:pt x="28" y="69"/>
                      <a:pt x="27" y="69"/>
                      <a:pt x="27" y="69"/>
                    </a:cubicBezTo>
                    <a:cubicBezTo>
                      <a:pt x="26" y="70"/>
                      <a:pt x="24" y="73"/>
                      <a:pt x="24" y="73"/>
                    </a:cubicBezTo>
                    <a:cubicBezTo>
                      <a:pt x="23" y="74"/>
                      <a:pt x="23" y="74"/>
                      <a:pt x="22" y="74"/>
                    </a:cubicBezTo>
                    <a:cubicBezTo>
                      <a:pt x="22" y="73"/>
                      <a:pt x="21" y="72"/>
                      <a:pt x="21" y="72"/>
                    </a:cubicBezTo>
                    <a:cubicBezTo>
                      <a:pt x="20" y="71"/>
                      <a:pt x="20" y="71"/>
                      <a:pt x="20" y="72"/>
                    </a:cubicBezTo>
                    <a:cubicBezTo>
                      <a:pt x="20" y="72"/>
                      <a:pt x="20" y="75"/>
                      <a:pt x="20" y="75"/>
                    </a:cubicBezTo>
                    <a:cubicBezTo>
                      <a:pt x="18" y="79"/>
                      <a:pt x="18" y="79"/>
                      <a:pt x="18" y="79"/>
                    </a:cubicBezTo>
                    <a:cubicBezTo>
                      <a:pt x="19" y="79"/>
                      <a:pt x="19" y="80"/>
                      <a:pt x="20" y="81"/>
                    </a:cubicBezTo>
                    <a:cubicBezTo>
                      <a:pt x="22" y="83"/>
                      <a:pt x="27" y="87"/>
                      <a:pt x="26" y="89"/>
                    </a:cubicBezTo>
                    <a:cubicBezTo>
                      <a:pt x="25" y="92"/>
                      <a:pt x="23" y="93"/>
                      <a:pt x="26" y="97"/>
                    </a:cubicBezTo>
                    <a:cubicBezTo>
                      <a:pt x="28" y="100"/>
                      <a:pt x="28" y="101"/>
                      <a:pt x="27" y="102"/>
                    </a:cubicBezTo>
                    <a:cubicBezTo>
                      <a:pt x="25" y="102"/>
                      <a:pt x="23" y="102"/>
                      <a:pt x="25" y="105"/>
                    </a:cubicBezTo>
                    <a:cubicBezTo>
                      <a:pt x="26" y="107"/>
                      <a:pt x="26" y="109"/>
                      <a:pt x="26" y="111"/>
                    </a:cubicBezTo>
                    <a:cubicBezTo>
                      <a:pt x="27" y="113"/>
                      <a:pt x="27" y="118"/>
                      <a:pt x="26" y="120"/>
                    </a:cubicBezTo>
                    <a:cubicBezTo>
                      <a:pt x="26" y="121"/>
                      <a:pt x="26" y="122"/>
                      <a:pt x="27" y="122"/>
                    </a:cubicBezTo>
                    <a:cubicBezTo>
                      <a:pt x="28" y="123"/>
                      <a:pt x="27" y="123"/>
                      <a:pt x="26" y="124"/>
                    </a:cubicBezTo>
                    <a:cubicBezTo>
                      <a:pt x="25" y="125"/>
                      <a:pt x="25" y="125"/>
                      <a:pt x="26" y="126"/>
                    </a:cubicBezTo>
                    <a:cubicBezTo>
                      <a:pt x="26" y="126"/>
                      <a:pt x="26" y="127"/>
                      <a:pt x="27" y="126"/>
                    </a:cubicBezTo>
                    <a:cubicBezTo>
                      <a:pt x="27" y="125"/>
                      <a:pt x="28" y="125"/>
                      <a:pt x="29" y="126"/>
                    </a:cubicBezTo>
                    <a:cubicBezTo>
                      <a:pt x="29" y="128"/>
                      <a:pt x="29" y="129"/>
                      <a:pt x="30" y="128"/>
                    </a:cubicBezTo>
                    <a:cubicBezTo>
                      <a:pt x="31" y="128"/>
                      <a:pt x="31" y="127"/>
                      <a:pt x="30" y="129"/>
                    </a:cubicBezTo>
                    <a:cubicBezTo>
                      <a:pt x="29" y="131"/>
                      <a:pt x="27" y="136"/>
                      <a:pt x="26" y="137"/>
                    </a:cubicBezTo>
                    <a:cubicBezTo>
                      <a:pt x="26" y="137"/>
                      <a:pt x="23" y="140"/>
                      <a:pt x="22" y="140"/>
                    </a:cubicBezTo>
                    <a:cubicBezTo>
                      <a:pt x="22" y="141"/>
                      <a:pt x="21" y="141"/>
                      <a:pt x="21" y="142"/>
                    </a:cubicBezTo>
                    <a:cubicBezTo>
                      <a:pt x="22" y="144"/>
                      <a:pt x="20" y="147"/>
                      <a:pt x="17" y="148"/>
                    </a:cubicBezTo>
                    <a:cubicBezTo>
                      <a:pt x="14" y="149"/>
                      <a:pt x="7" y="149"/>
                      <a:pt x="7" y="154"/>
                    </a:cubicBezTo>
                    <a:cubicBezTo>
                      <a:pt x="7" y="158"/>
                      <a:pt x="11" y="156"/>
                      <a:pt x="8" y="159"/>
                    </a:cubicBezTo>
                    <a:cubicBezTo>
                      <a:pt x="6" y="163"/>
                      <a:pt x="4" y="161"/>
                      <a:pt x="3" y="161"/>
                    </a:cubicBezTo>
                    <a:cubicBezTo>
                      <a:pt x="2" y="162"/>
                      <a:pt x="0" y="162"/>
                      <a:pt x="3" y="163"/>
                    </a:cubicBezTo>
                    <a:cubicBezTo>
                      <a:pt x="5" y="163"/>
                      <a:pt x="5" y="164"/>
                      <a:pt x="4" y="165"/>
                    </a:cubicBezTo>
                    <a:cubicBezTo>
                      <a:pt x="4" y="165"/>
                      <a:pt x="4" y="165"/>
                      <a:pt x="4" y="165"/>
                    </a:cubicBezTo>
                    <a:cubicBezTo>
                      <a:pt x="8" y="168"/>
                      <a:pt x="8" y="168"/>
                      <a:pt x="8" y="168"/>
                    </a:cubicBezTo>
                    <a:cubicBezTo>
                      <a:pt x="8" y="168"/>
                      <a:pt x="9" y="168"/>
                      <a:pt x="9" y="16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54" name="Freeform 337">
                <a:extLst>
                  <a:ext uri="{FF2B5EF4-FFF2-40B4-BE49-F238E27FC236}">
                    <a16:creationId xmlns:a16="http://schemas.microsoft.com/office/drawing/2014/main" id="{6196D867-AF51-41CB-BB59-463CA0E75919}"/>
                  </a:ext>
                </a:extLst>
              </p:cNvPr>
              <p:cNvSpPr>
                <a:spLocks/>
              </p:cNvSpPr>
              <p:nvPr/>
            </p:nvSpPr>
            <p:spPr bwMode="auto">
              <a:xfrm>
                <a:off x="1837" y="2653"/>
                <a:ext cx="121" cy="131"/>
              </a:xfrm>
              <a:custGeom>
                <a:avLst/>
                <a:gdLst>
                  <a:gd name="T0" fmla="*/ 9 w 87"/>
                  <a:gd name="T1" fmla="*/ 80 h 95"/>
                  <a:gd name="T2" fmla="*/ 9 w 87"/>
                  <a:gd name="T3" fmla="*/ 85 h 95"/>
                  <a:gd name="T4" fmla="*/ 12 w 87"/>
                  <a:gd name="T5" fmla="*/ 86 h 95"/>
                  <a:gd name="T6" fmla="*/ 19 w 87"/>
                  <a:gd name="T7" fmla="*/ 87 h 95"/>
                  <a:gd name="T8" fmla="*/ 24 w 87"/>
                  <a:gd name="T9" fmla="*/ 92 h 95"/>
                  <a:gd name="T10" fmla="*/ 31 w 87"/>
                  <a:gd name="T11" fmla="*/ 94 h 95"/>
                  <a:gd name="T12" fmla="*/ 36 w 87"/>
                  <a:gd name="T13" fmla="*/ 87 h 95"/>
                  <a:gd name="T14" fmla="*/ 40 w 87"/>
                  <a:gd name="T15" fmla="*/ 74 h 95"/>
                  <a:gd name="T16" fmla="*/ 43 w 87"/>
                  <a:gd name="T17" fmla="*/ 72 h 95"/>
                  <a:gd name="T18" fmla="*/ 48 w 87"/>
                  <a:gd name="T19" fmla="*/ 66 h 95"/>
                  <a:gd name="T20" fmla="*/ 64 w 87"/>
                  <a:gd name="T21" fmla="*/ 60 h 95"/>
                  <a:gd name="T22" fmla="*/ 78 w 87"/>
                  <a:gd name="T23" fmla="*/ 48 h 95"/>
                  <a:gd name="T24" fmla="*/ 85 w 87"/>
                  <a:gd name="T25" fmla="*/ 37 h 95"/>
                  <a:gd name="T26" fmla="*/ 85 w 87"/>
                  <a:gd name="T27" fmla="*/ 29 h 95"/>
                  <a:gd name="T28" fmla="*/ 82 w 87"/>
                  <a:gd name="T29" fmla="*/ 24 h 95"/>
                  <a:gd name="T30" fmla="*/ 81 w 87"/>
                  <a:gd name="T31" fmla="*/ 23 h 95"/>
                  <a:gd name="T32" fmla="*/ 86 w 87"/>
                  <a:gd name="T33" fmla="*/ 23 h 95"/>
                  <a:gd name="T34" fmla="*/ 72 w 87"/>
                  <a:gd name="T35" fmla="*/ 16 h 95"/>
                  <a:gd name="T36" fmla="*/ 60 w 87"/>
                  <a:gd name="T37" fmla="*/ 16 h 95"/>
                  <a:gd name="T38" fmla="*/ 53 w 87"/>
                  <a:gd name="T39" fmla="*/ 12 h 95"/>
                  <a:gd name="T40" fmla="*/ 49 w 87"/>
                  <a:gd name="T41" fmla="*/ 9 h 95"/>
                  <a:gd name="T42" fmla="*/ 40 w 87"/>
                  <a:gd name="T43" fmla="*/ 4 h 95"/>
                  <a:gd name="T44" fmla="*/ 37 w 87"/>
                  <a:gd name="T45" fmla="*/ 3 h 95"/>
                  <a:gd name="T46" fmla="*/ 30 w 87"/>
                  <a:gd name="T47" fmla="*/ 4 h 95"/>
                  <a:gd name="T48" fmla="*/ 21 w 87"/>
                  <a:gd name="T49" fmla="*/ 7 h 95"/>
                  <a:gd name="T50" fmla="*/ 15 w 87"/>
                  <a:gd name="T51" fmla="*/ 9 h 95"/>
                  <a:gd name="T52" fmla="*/ 15 w 87"/>
                  <a:gd name="T53" fmla="*/ 13 h 95"/>
                  <a:gd name="T54" fmla="*/ 16 w 87"/>
                  <a:gd name="T55" fmla="*/ 16 h 95"/>
                  <a:gd name="T56" fmla="*/ 12 w 87"/>
                  <a:gd name="T57" fmla="*/ 23 h 95"/>
                  <a:gd name="T58" fmla="*/ 10 w 87"/>
                  <a:gd name="T59" fmla="*/ 31 h 95"/>
                  <a:gd name="T60" fmla="*/ 5 w 87"/>
                  <a:gd name="T61" fmla="*/ 35 h 95"/>
                  <a:gd name="T62" fmla="*/ 4 w 87"/>
                  <a:gd name="T63" fmla="*/ 42 h 95"/>
                  <a:gd name="T64" fmla="*/ 3 w 87"/>
                  <a:gd name="T65" fmla="*/ 54 h 95"/>
                  <a:gd name="T66" fmla="*/ 7 w 87"/>
                  <a:gd name="T67" fmla="*/ 58 h 95"/>
                  <a:gd name="T68" fmla="*/ 12 w 87"/>
                  <a:gd name="T69" fmla="*/ 61 h 95"/>
                  <a:gd name="T70" fmla="*/ 15 w 87"/>
                  <a:gd name="T71" fmla="*/ 58 h 95"/>
                  <a:gd name="T72" fmla="*/ 16 w 87"/>
                  <a:gd name="T73" fmla="*/ 59 h 95"/>
                  <a:gd name="T74" fmla="*/ 18 w 87"/>
                  <a:gd name="T75" fmla="*/ 57 h 95"/>
                  <a:gd name="T76" fmla="*/ 19 w 87"/>
                  <a:gd name="T77" fmla="*/ 53 h 95"/>
                  <a:gd name="T78" fmla="*/ 19 w 87"/>
                  <a:gd name="T79" fmla="*/ 60 h 95"/>
                  <a:gd name="T80" fmla="*/ 13 w 87"/>
                  <a:gd name="T81" fmla="*/ 70 h 95"/>
                  <a:gd name="T82" fmla="*/ 13 w 87"/>
                  <a:gd name="T83" fmla="*/ 7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7" h="95">
                    <a:moveTo>
                      <a:pt x="13" y="79"/>
                    </a:moveTo>
                    <a:cubicBezTo>
                      <a:pt x="12" y="79"/>
                      <a:pt x="10" y="80"/>
                      <a:pt x="9" y="80"/>
                    </a:cubicBezTo>
                    <a:cubicBezTo>
                      <a:pt x="9" y="81"/>
                      <a:pt x="8" y="81"/>
                      <a:pt x="8" y="82"/>
                    </a:cubicBezTo>
                    <a:cubicBezTo>
                      <a:pt x="8" y="82"/>
                      <a:pt x="9" y="85"/>
                      <a:pt x="9" y="85"/>
                    </a:cubicBezTo>
                    <a:cubicBezTo>
                      <a:pt x="9" y="86"/>
                      <a:pt x="8" y="86"/>
                      <a:pt x="9" y="87"/>
                    </a:cubicBezTo>
                    <a:cubicBezTo>
                      <a:pt x="9" y="87"/>
                      <a:pt x="12" y="87"/>
                      <a:pt x="12" y="86"/>
                    </a:cubicBezTo>
                    <a:cubicBezTo>
                      <a:pt x="13" y="85"/>
                      <a:pt x="14" y="84"/>
                      <a:pt x="15" y="85"/>
                    </a:cubicBezTo>
                    <a:cubicBezTo>
                      <a:pt x="17" y="86"/>
                      <a:pt x="18" y="87"/>
                      <a:pt x="19" y="87"/>
                    </a:cubicBezTo>
                    <a:cubicBezTo>
                      <a:pt x="20" y="87"/>
                      <a:pt x="21" y="87"/>
                      <a:pt x="21" y="87"/>
                    </a:cubicBezTo>
                    <a:cubicBezTo>
                      <a:pt x="22" y="88"/>
                      <a:pt x="24" y="92"/>
                      <a:pt x="24" y="92"/>
                    </a:cubicBezTo>
                    <a:cubicBezTo>
                      <a:pt x="25" y="93"/>
                      <a:pt x="26" y="94"/>
                      <a:pt x="28" y="95"/>
                    </a:cubicBezTo>
                    <a:cubicBezTo>
                      <a:pt x="29" y="95"/>
                      <a:pt x="30" y="95"/>
                      <a:pt x="31" y="94"/>
                    </a:cubicBezTo>
                    <a:cubicBezTo>
                      <a:pt x="32" y="93"/>
                      <a:pt x="33" y="91"/>
                      <a:pt x="34" y="90"/>
                    </a:cubicBezTo>
                    <a:cubicBezTo>
                      <a:pt x="35" y="90"/>
                      <a:pt x="36" y="88"/>
                      <a:pt x="36" y="87"/>
                    </a:cubicBezTo>
                    <a:cubicBezTo>
                      <a:pt x="36" y="85"/>
                      <a:pt x="39" y="78"/>
                      <a:pt x="39" y="76"/>
                    </a:cubicBezTo>
                    <a:cubicBezTo>
                      <a:pt x="40" y="75"/>
                      <a:pt x="40" y="74"/>
                      <a:pt x="40" y="74"/>
                    </a:cubicBezTo>
                    <a:cubicBezTo>
                      <a:pt x="40" y="74"/>
                      <a:pt x="40" y="73"/>
                      <a:pt x="41" y="73"/>
                    </a:cubicBezTo>
                    <a:cubicBezTo>
                      <a:pt x="41" y="73"/>
                      <a:pt x="43" y="73"/>
                      <a:pt x="43" y="72"/>
                    </a:cubicBezTo>
                    <a:cubicBezTo>
                      <a:pt x="43" y="70"/>
                      <a:pt x="44" y="70"/>
                      <a:pt x="45" y="68"/>
                    </a:cubicBezTo>
                    <a:cubicBezTo>
                      <a:pt x="47" y="66"/>
                      <a:pt x="47" y="66"/>
                      <a:pt x="48" y="66"/>
                    </a:cubicBezTo>
                    <a:cubicBezTo>
                      <a:pt x="48" y="65"/>
                      <a:pt x="48" y="65"/>
                      <a:pt x="49" y="65"/>
                    </a:cubicBezTo>
                    <a:cubicBezTo>
                      <a:pt x="49" y="65"/>
                      <a:pt x="64" y="60"/>
                      <a:pt x="64" y="60"/>
                    </a:cubicBezTo>
                    <a:cubicBezTo>
                      <a:pt x="64" y="60"/>
                      <a:pt x="65" y="59"/>
                      <a:pt x="66" y="58"/>
                    </a:cubicBezTo>
                    <a:cubicBezTo>
                      <a:pt x="67" y="58"/>
                      <a:pt x="77" y="49"/>
                      <a:pt x="78" y="48"/>
                    </a:cubicBezTo>
                    <a:cubicBezTo>
                      <a:pt x="79" y="47"/>
                      <a:pt x="81" y="44"/>
                      <a:pt x="82" y="43"/>
                    </a:cubicBezTo>
                    <a:cubicBezTo>
                      <a:pt x="82" y="42"/>
                      <a:pt x="84" y="38"/>
                      <a:pt x="85" y="37"/>
                    </a:cubicBezTo>
                    <a:cubicBezTo>
                      <a:pt x="85" y="37"/>
                      <a:pt x="87" y="35"/>
                      <a:pt x="87" y="33"/>
                    </a:cubicBezTo>
                    <a:cubicBezTo>
                      <a:pt x="86" y="32"/>
                      <a:pt x="86" y="30"/>
                      <a:pt x="85" y="29"/>
                    </a:cubicBezTo>
                    <a:cubicBezTo>
                      <a:pt x="84" y="28"/>
                      <a:pt x="83" y="27"/>
                      <a:pt x="83" y="26"/>
                    </a:cubicBezTo>
                    <a:cubicBezTo>
                      <a:pt x="83" y="25"/>
                      <a:pt x="83" y="24"/>
                      <a:pt x="82" y="24"/>
                    </a:cubicBezTo>
                    <a:cubicBezTo>
                      <a:pt x="82" y="24"/>
                      <a:pt x="81" y="24"/>
                      <a:pt x="81" y="24"/>
                    </a:cubicBezTo>
                    <a:cubicBezTo>
                      <a:pt x="81" y="23"/>
                      <a:pt x="80" y="23"/>
                      <a:pt x="81" y="23"/>
                    </a:cubicBezTo>
                    <a:cubicBezTo>
                      <a:pt x="82" y="22"/>
                      <a:pt x="83" y="22"/>
                      <a:pt x="84" y="23"/>
                    </a:cubicBezTo>
                    <a:cubicBezTo>
                      <a:pt x="84" y="23"/>
                      <a:pt x="85" y="23"/>
                      <a:pt x="86" y="23"/>
                    </a:cubicBezTo>
                    <a:cubicBezTo>
                      <a:pt x="82" y="21"/>
                      <a:pt x="74" y="16"/>
                      <a:pt x="73" y="16"/>
                    </a:cubicBezTo>
                    <a:cubicBezTo>
                      <a:pt x="72" y="15"/>
                      <a:pt x="72" y="16"/>
                      <a:pt x="72" y="16"/>
                    </a:cubicBezTo>
                    <a:cubicBezTo>
                      <a:pt x="72" y="16"/>
                      <a:pt x="67" y="17"/>
                      <a:pt x="67" y="17"/>
                    </a:cubicBezTo>
                    <a:cubicBezTo>
                      <a:pt x="66" y="17"/>
                      <a:pt x="61" y="16"/>
                      <a:pt x="60" y="16"/>
                    </a:cubicBezTo>
                    <a:cubicBezTo>
                      <a:pt x="59" y="16"/>
                      <a:pt x="59" y="16"/>
                      <a:pt x="56" y="16"/>
                    </a:cubicBezTo>
                    <a:cubicBezTo>
                      <a:pt x="54" y="15"/>
                      <a:pt x="53" y="12"/>
                      <a:pt x="53" y="12"/>
                    </a:cubicBezTo>
                    <a:cubicBezTo>
                      <a:pt x="53" y="11"/>
                      <a:pt x="51" y="9"/>
                      <a:pt x="51" y="9"/>
                    </a:cubicBezTo>
                    <a:cubicBezTo>
                      <a:pt x="50" y="9"/>
                      <a:pt x="50" y="9"/>
                      <a:pt x="49" y="9"/>
                    </a:cubicBezTo>
                    <a:cubicBezTo>
                      <a:pt x="48" y="9"/>
                      <a:pt x="44" y="7"/>
                      <a:pt x="43" y="6"/>
                    </a:cubicBezTo>
                    <a:cubicBezTo>
                      <a:pt x="42" y="6"/>
                      <a:pt x="40" y="5"/>
                      <a:pt x="40" y="4"/>
                    </a:cubicBezTo>
                    <a:cubicBezTo>
                      <a:pt x="39" y="4"/>
                      <a:pt x="39" y="4"/>
                      <a:pt x="38" y="3"/>
                    </a:cubicBezTo>
                    <a:cubicBezTo>
                      <a:pt x="38" y="3"/>
                      <a:pt x="37" y="3"/>
                      <a:pt x="37" y="3"/>
                    </a:cubicBezTo>
                    <a:cubicBezTo>
                      <a:pt x="33" y="0"/>
                      <a:pt x="33" y="0"/>
                      <a:pt x="33" y="0"/>
                    </a:cubicBezTo>
                    <a:cubicBezTo>
                      <a:pt x="33" y="1"/>
                      <a:pt x="32" y="4"/>
                      <a:pt x="30" y="4"/>
                    </a:cubicBezTo>
                    <a:cubicBezTo>
                      <a:pt x="29" y="4"/>
                      <a:pt x="25" y="5"/>
                      <a:pt x="24" y="6"/>
                    </a:cubicBezTo>
                    <a:cubicBezTo>
                      <a:pt x="22" y="6"/>
                      <a:pt x="21" y="6"/>
                      <a:pt x="21" y="7"/>
                    </a:cubicBezTo>
                    <a:cubicBezTo>
                      <a:pt x="21" y="8"/>
                      <a:pt x="21" y="8"/>
                      <a:pt x="20" y="8"/>
                    </a:cubicBezTo>
                    <a:cubicBezTo>
                      <a:pt x="19" y="8"/>
                      <a:pt x="16" y="8"/>
                      <a:pt x="15" y="9"/>
                    </a:cubicBezTo>
                    <a:cubicBezTo>
                      <a:pt x="14" y="10"/>
                      <a:pt x="14" y="10"/>
                      <a:pt x="15" y="11"/>
                    </a:cubicBezTo>
                    <a:cubicBezTo>
                      <a:pt x="16" y="12"/>
                      <a:pt x="15" y="12"/>
                      <a:pt x="15" y="13"/>
                    </a:cubicBezTo>
                    <a:cubicBezTo>
                      <a:pt x="15" y="13"/>
                      <a:pt x="15" y="14"/>
                      <a:pt x="15" y="14"/>
                    </a:cubicBezTo>
                    <a:cubicBezTo>
                      <a:pt x="16" y="15"/>
                      <a:pt x="16" y="16"/>
                      <a:pt x="16" y="16"/>
                    </a:cubicBezTo>
                    <a:cubicBezTo>
                      <a:pt x="16" y="17"/>
                      <a:pt x="15" y="18"/>
                      <a:pt x="15" y="19"/>
                    </a:cubicBezTo>
                    <a:cubicBezTo>
                      <a:pt x="15" y="19"/>
                      <a:pt x="14" y="22"/>
                      <a:pt x="12" y="23"/>
                    </a:cubicBezTo>
                    <a:cubicBezTo>
                      <a:pt x="11" y="24"/>
                      <a:pt x="8" y="26"/>
                      <a:pt x="9" y="28"/>
                    </a:cubicBezTo>
                    <a:cubicBezTo>
                      <a:pt x="10" y="30"/>
                      <a:pt x="11" y="30"/>
                      <a:pt x="10" y="31"/>
                    </a:cubicBezTo>
                    <a:cubicBezTo>
                      <a:pt x="10" y="31"/>
                      <a:pt x="9" y="33"/>
                      <a:pt x="8" y="33"/>
                    </a:cubicBezTo>
                    <a:cubicBezTo>
                      <a:pt x="8" y="34"/>
                      <a:pt x="6" y="35"/>
                      <a:pt x="5" y="35"/>
                    </a:cubicBezTo>
                    <a:cubicBezTo>
                      <a:pt x="4" y="35"/>
                      <a:pt x="2" y="36"/>
                      <a:pt x="3" y="38"/>
                    </a:cubicBezTo>
                    <a:cubicBezTo>
                      <a:pt x="4" y="40"/>
                      <a:pt x="4" y="41"/>
                      <a:pt x="4" y="42"/>
                    </a:cubicBezTo>
                    <a:cubicBezTo>
                      <a:pt x="4" y="44"/>
                      <a:pt x="4" y="46"/>
                      <a:pt x="5" y="48"/>
                    </a:cubicBezTo>
                    <a:cubicBezTo>
                      <a:pt x="5" y="50"/>
                      <a:pt x="4" y="54"/>
                      <a:pt x="3" y="54"/>
                    </a:cubicBezTo>
                    <a:cubicBezTo>
                      <a:pt x="1" y="54"/>
                      <a:pt x="0" y="54"/>
                      <a:pt x="2" y="55"/>
                    </a:cubicBezTo>
                    <a:cubicBezTo>
                      <a:pt x="4" y="56"/>
                      <a:pt x="6" y="57"/>
                      <a:pt x="7" y="58"/>
                    </a:cubicBezTo>
                    <a:cubicBezTo>
                      <a:pt x="8" y="59"/>
                      <a:pt x="11" y="61"/>
                      <a:pt x="11" y="61"/>
                    </a:cubicBezTo>
                    <a:cubicBezTo>
                      <a:pt x="12" y="61"/>
                      <a:pt x="12" y="62"/>
                      <a:pt x="12" y="61"/>
                    </a:cubicBezTo>
                    <a:cubicBezTo>
                      <a:pt x="12" y="60"/>
                      <a:pt x="12" y="60"/>
                      <a:pt x="12" y="60"/>
                    </a:cubicBezTo>
                    <a:cubicBezTo>
                      <a:pt x="13" y="60"/>
                      <a:pt x="13" y="59"/>
                      <a:pt x="15" y="58"/>
                    </a:cubicBezTo>
                    <a:cubicBezTo>
                      <a:pt x="16" y="57"/>
                      <a:pt x="16" y="56"/>
                      <a:pt x="16" y="57"/>
                    </a:cubicBezTo>
                    <a:cubicBezTo>
                      <a:pt x="17" y="58"/>
                      <a:pt x="16" y="59"/>
                      <a:pt x="16" y="59"/>
                    </a:cubicBezTo>
                    <a:cubicBezTo>
                      <a:pt x="15" y="59"/>
                      <a:pt x="16" y="60"/>
                      <a:pt x="17" y="60"/>
                    </a:cubicBezTo>
                    <a:cubicBezTo>
                      <a:pt x="17" y="59"/>
                      <a:pt x="18" y="58"/>
                      <a:pt x="18" y="57"/>
                    </a:cubicBezTo>
                    <a:cubicBezTo>
                      <a:pt x="18" y="55"/>
                      <a:pt x="18" y="53"/>
                      <a:pt x="18" y="52"/>
                    </a:cubicBezTo>
                    <a:cubicBezTo>
                      <a:pt x="19" y="52"/>
                      <a:pt x="19" y="52"/>
                      <a:pt x="19" y="53"/>
                    </a:cubicBezTo>
                    <a:cubicBezTo>
                      <a:pt x="18" y="54"/>
                      <a:pt x="18" y="55"/>
                      <a:pt x="19" y="56"/>
                    </a:cubicBezTo>
                    <a:cubicBezTo>
                      <a:pt x="19" y="57"/>
                      <a:pt x="20" y="59"/>
                      <a:pt x="19" y="60"/>
                    </a:cubicBezTo>
                    <a:cubicBezTo>
                      <a:pt x="19" y="61"/>
                      <a:pt x="18" y="65"/>
                      <a:pt x="18" y="66"/>
                    </a:cubicBezTo>
                    <a:cubicBezTo>
                      <a:pt x="17" y="67"/>
                      <a:pt x="15" y="70"/>
                      <a:pt x="13" y="70"/>
                    </a:cubicBezTo>
                    <a:cubicBezTo>
                      <a:pt x="12" y="70"/>
                      <a:pt x="11" y="71"/>
                      <a:pt x="11" y="72"/>
                    </a:cubicBezTo>
                    <a:cubicBezTo>
                      <a:pt x="13" y="78"/>
                      <a:pt x="13" y="78"/>
                      <a:pt x="13" y="78"/>
                    </a:cubicBezTo>
                    <a:cubicBezTo>
                      <a:pt x="13" y="78"/>
                      <a:pt x="13" y="79"/>
                      <a:pt x="13" y="7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55" name="Freeform 338">
                <a:extLst>
                  <a:ext uri="{FF2B5EF4-FFF2-40B4-BE49-F238E27FC236}">
                    <a16:creationId xmlns:a16="http://schemas.microsoft.com/office/drawing/2014/main" id="{59EB8B7B-B62F-4589-ABE6-A19F9AB80AB6}"/>
                  </a:ext>
                </a:extLst>
              </p:cNvPr>
              <p:cNvSpPr>
                <a:spLocks/>
              </p:cNvSpPr>
              <p:nvPr/>
            </p:nvSpPr>
            <p:spPr bwMode="auto">
              <a:xfrm>
                <a:off x="1644" y="2707"/>
                <a:ext cx="2" cy="4"/>
              </a:xfrm>
              <a:custGeom>
                <a:avLst/>
                <a:gdLst>
                  <a:gd name="T0" fmla="*/ 0 w 2"/>
                  <a:gd name="T1" fmla="*/ 2 h 3"/>
                  <a:gd name="T2" fmla="*/ 2 w 2"/>
                  <a:gd name="T3" fmla="*/ 2 h 3"/>
                  <a:gd name="T4" fmla="*/ 0 w 2"/>
                  <a:gd name="T5" fmla="*/ 2 h 3"/>
                </a:gdLst>
                <a:ahLst/>
                <a:cxnLst>
                  <a:cxn ang="0">
                    <a:pos x="T0" y="T1"/>
                  </a:cxn>
                  <a:cxn ang="0">
                    <a:pos x="T2" y="T3"/>
                  </a:cxn>
                  <a:cxn ang="0">
                    <a:pos x="T4" y="T5"/>
                  </a:cxn>
                </a:cxnLst>
                <a:rect l="0" t="0" r="r" b="b"/>
                <a:pathLst>
                  <a:path w="2" h="3">
                    <a:moveTo>
                      <a:pt x="0" y="2"/>
                    </a:moveTo>
                    <a:cubicBezTo>
                      <a:pt x="0" y="2"/>
                      <a:pt x="2" y="3"/>
                      <a:pt x="2" y="2"/>
                    </a:cubicBezTo>
                    <a:cubicBezTo>
                      <a:pt x="2" y="0"/>
                      <a:pt x="1"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56" name="Freeform 339">
                <a:extLst>
                  <a:ext uri="{FF2B5EF4-FFF2-40B4-BE49-F238E27FC236}">
                    <a16:creationId xmlns:a16="http://schemas.microsoft.com/office/drawing/2014/main" id="{36F26171-88E1-4C99-88F3-BDD50F2340EA}"/>
                  </a:ext>
                </a:extLst>
              </p:cNvPr>
              <p:cNvSpPr>
                <a:spLocks/>
              </p:cNvSpPr>
              <p:nvPr/>
            </p:nvSpPr>
            <p:spPr bwMode="auto">
              <a:xfrm>
                <a:off x="1619" y="2678"/>
                <a:ext cx="19" cy="26"/>
              </a:xfrm>
              <a:custGeom>
                <a:avLst/>
                <a:gdLst>
                  <a:gd name="T0" fmla="*/ 12 w 14"/>
                  <a:gd name="T1" fmla="*/ 11 h 19"/>
                  <a:gd name="T2" fmla="*/ 9 w 14"/>
                  <a:gd name="T3" fmla="*/ 8 h 19"/>
                  <a:gd name="T4" fmla="*/ 8 w 14"/>
                  <a:gd name="T5" fmla="*/ 4 h 19"/>
                  <a:gd name="T6" fmla="*/ 5 w 14"/>
                  <a:gd name="T7" fmla="*/ 1 h 19"/>
                  <a:gd name="T8" fmla="*/ 2 w 14"/>
                  <a:gd name="T9" fmla="*/ 3 h 19"/>
                  <a:gd name="T10" fmla="*/ 4 w 14"/>
                  <a:gd name="T11" fmla="*/ 4 h 19"/>
                  <a:gd name="T12" fmla="*/ 6 w 14"/>
                  <a:gd name="T13" fmla="*/ 8 h 19"/>
                  <a:gd name="T14" fmla="*/ 9 w 14"/>
                  <a:gd name="T15" fmla="*/ 13 h 19"/>
                  <a:gd name="T16" fmla="*/ 3 w 14"/>
                  <a:gd name="T17" fmla="*/ 15 h 19"/>
                  <a:gd name="T18" fmla="*/ 7 w 14"/>
                  <a:gd name="T19" fmla="*/ 18 h 19"/>
                  <a:gd name="T20" fmla="*/ 9 w 14"/>
                  <a:gd name="T21" fmla="*/ 18 h 19"/>
                  <a:gd name="T22" fmla="*/ 13 w 14"/>
                  <a:gd name="T23" fmla="*/ 15 h 19"/>
                  <a:gd name="T24" fmla="*/ 13 w 14"/>
                  <a:gd name="T25" fmla="*/ 13 h 19"/>
                  <a:gd name="T26" fmla="*/ 12 w 14"/>
                  <a:gd name="T2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9">
                    <a:moveTo>
                      <a:pt x="12" y="11"/>
                    </a:moveTo>
                    <a:cubicBezTo>
                      <a:pt x="12" y="9"/>
                      <a:pt x="10" y="9"/>
                      <a:pt x="9" y="8"/>
                    </a:cubicBezTo>
                    <a:cubicBezTo>
                      <a:pt x="8" y="7"/>
                      <a:pt x="7" y="6"/>
                      <a:pt x="8" y="4"/>
                    </a:cubicBezTo>
                    <a:cubicBezTo>
                      <a:pt x="8" y="2"/>
                      <a:pt x="7" y="0"/>
                      <a:pt x="5" y="1"/>
                    </a:cubicBezTo>
                    <a:cubicBezTo>
                      <a:pt x="3" y="1"/>
                      <a:pt x="0" y="4"/>
                      <a:pt x="2" y="3"/>
                    </a:cubicBezTo>
                    <a:cubicBezTo>
                      <a:pt x="5" y="2"/>
                      <a:pt x="4" y="3"/>
                      <a:pt x="4" y="4"/>
                    </a:cubicBezTo>
                    <a:cubicBezTo>
                      <a:pt x="4" y="5"/>
                      <a:pt x="5" y="7"/>
                      <a:pt x="6" y="8"/>
                    </a:cubicBezTo>
                    <a:cubicBezTo>
                      <a:pt x="6" y="8"/>
                      <a:pt x="11" y="12"/>
                      <a:pt x="9" y="13"/>
                    </a:cubicBezTo>
                    <a:cubicBezTo>
                      <a:pt x="6" y="13"/>
                      <a:pt x="4" y="14"/>
                      <a:pt x="3" y="15"/>
                    </a:cubicBezTo>
                    <a:cubicBezTo>
                      <a:pt x="3" y="17"/>
                      <a:pt x="5" y="18"/>
                      <a:pt x="7" y="18"/>
                    </a:cubicBezTo>
                    <a:cubicBezTo>
                      <a:pt x="7" y="18"/>
                      <a:pt x="7" y="19"/>
                      <a:pt x="9" y="18"/>
                    </a:cubicBezTo>
                    <a:cubicBezTo>
                      <a:pt x="10" y="17"/>
                      <a:pt x="12" y="15"/>
                      <a:pt x="13" y="15"/>
                    </a:cubicBezTo>
                    <a:cubicBezTo>
                      <a:pt x="14" y="14"/>
                      <a:pt x="14" y="14"/>
                      <a:pt x="13" y="13"/>
                    </a:cubicBezTo>
                    <a:cubicBezTo>
                      <a:pt x="13" y="12"/>
                      <a:pt x="12" y="13"/>
                      <a:pt x="12"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57" name="Freeform 340">
                <a:extLst>
                  <a:ext uri="{FF2B5EF4-FFF2-40B4-BE49-F238E27FC236}">
                    <a16:creationId xmlns:a16="http://schemas.microsoft.com/office/drawing/2014/main" id="{6398A824-A021-4594-8FF7-E2260FC470C9}"/>
                  </a:ext>
                </a:extLst>
              </p:cNvPr>
              <p:cNvSpPr>
                <a:spLocks/>
              </p:cNvSpPr>
              <p:nvPr/>
            </p:nvSpPr>
            <p:spPr bwMode="auto">
              <a:xfrm>
                <a:off x="1620" y="2686"/>
                <a:ext cx="7" cy="6"/>
              </a:xfrm>
              <a:custGeom>
                <a:avLst/>
                <a:gdLst>
                  <a:gd name="T0" fmla="*/ 3 w 5"/>
                  <a:gd name="T1" fmla="*/ 2 h 4"/>
                  <a:gd name="T2" fmla="*/ 1 w 5"/>
                  <a:gd name="T3" fmla="*/ 1 h 4"/>
                  <a:gd name="T4" fmla="*/ 1 w 5"/>
                  <a:gd name="T5" fmla="*/ 3 h 4"/>
                  <a:gd name="T6" fmla="*/ 2 w 5"/>
                  <a:gd name="T7" fmla="*/ 4 h 4"/>
                  <a:gd name="T8" fmla="*/ 3 w 5"/>
                  <a:gd name="T9" fmla="*/ 2 h 4"/>
                </a:gdLst>
                <a:ahLst/>
                <a:cxnLst>
                  <a:cxn ang="0">
                    <a:pos x="T0" y="T1"/>
                  </a:cxn>
                  <a:cxn ang="0">
                    <a:pos x="T2" y="T3"/>
                  </a:cxn>
                  <a:cxn ang="0">
                    <a:pos x="T4" y="T5"/>
                  </a:cxn>
                  <a:cxn ang="0">
                    <a:pos x="T6" y="T7"/>
                  </a:cxn>
                  <a:cxn ang="0">
                    <a:pos x="T8" y="T9"/>
                  </a:cxn>
                </a:cxnLst>
                <a:rect l="0" t="0" r="r" b="b"/>
                <a:pathLst>
                  <a:path w="5" h="4">
                    <a:moveTo>
                      <a:pt x="3" y="2"/>
                    </a:moveTo>
                    <a:cubicBezTo>
                      <a:pt x="2" y="0"/>
                      <a:pt x="2" y="1"/>
                      <a:pt x="1" y="1"/>
                    </a:cubicBezTo>
                    <a:cubicBezTo>
                      <a:pt x="0" y="1"/>
                      <a:pt x="0" y="2"/>
                      <a:pt x="1" y="3"/>
                    </a:cubicBezTo>
                    <a:cubicBezTo>
                      <a:pt x="2" y="4"/>
                      <a:pt x="1" y="4"/>
                      <a:pt x="2" y="4"/>
                    </a:cubicBezTo>
                    <a:cubicBezTo>
                      <a:pt x="2" y="4"/>
                      <a:pt x="5" y="4"/>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58" name="Freeform 341">
                <a:extLst>
                  <a:ext uri="{FF2B5EF4-FFF2-40B4-BE49-F238E27FC236}">
                    <a16:creationId xmlns:a16="http://schemas.microsoft.com/office/drawing/2014/main" id="{E5620D5F-C28C-40B0-B89C-ED694F5E6770}"/>
                  </a:ext>
                </a:extLst>
              </p:cNvPr>
              <p:cNvSpPr>
                <a:spLocks/>
              </p:cNvSpPr>
              <p:nvPr/>
            </p:nvSpPr>
            <p:spPr bwMode="auto">
              <a:xfrm>
                <a:off x="1635" y="2685"/>
                <a:ext cx="7" cy="5"/>
              </a:xfrm>
              <a:custGeom>
                <a:avLst/>
                <a:gdLst>
                  <a:gd name="T0" fmla="*/ 2 w 5"/>
                  <a:gd name="T1" fmla="*/ 0 h 4"/>
                  <a:gd name="T2" fmla="*/ 1 w 5"/>
                  <a:gd name="T3" fmla="*/ 2 h 4"/>
                  <a:gd name="T4" fmla="*/ 5 w 5"/>
                  <a:gd name="T5" fmla="*/ 3 h 4"/>
                  <a:gd name="T6" fmla="*/ 2 w 5"/>
                  <a:gd name="T7" fmla="*/ 0 h 4"/>
                </a:gdLst>
                <a:ahLst/>
                <a:cxnLst>
                  <a:cxn ang="0">
                    <a:pos x="T0" y="T1"/>
                  </a:cxn>
                  <a:cxn ang="0">
                    <a:pos x="T2" y="T3"/>
                  </a:cxn>
                  <a:cxn ang="0">
                    <a:pos x="T4" y="T5"/>
                  </a:cxn>
                  <a:cxn ang="0">
                    <a:pos x="T6" y="T7"/>
                  </a:cxn>
                </a:cxnLst>
                <a:rect l="0" t="0" r="r" b="b"/>
                <a:pathLst>
                  <a:path w="5" h="4">
                    <a:moveTo>
                      <a:pt x="2" y="0"/>
                    </a:moveTo>
                    <a:cubicBezTo>
                      <a:pt x="1" y="0"/>
                      <a:pt x="0" y="1"/>
                      <a:pt x="1" y="2"/>
                    </a:cubicBezTo>
                    <a:cubicBezTo>
                      <a:pt x="1" y="2"/>
                      <a:pt x="5" y="4"/>
                      <a:pt x="5" y="3"/>
                    </a:cubicBezTo>
                    <a:cubicBezTo>
                      <a:pt x="5" y="1"/>
                      <a:pt x="3"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59" name="Freeform 342">
                <a:extLst>
                  <a:ext uri="{FF2B5EF4-FFF2-40B4-BE49-F238E27FC236}">
                    <a16:creationId xmlns:a16="http://schemas.microsoft.com/office/drawing/2014/main" id="{4E19367D-3C4F-42D5-AB19-4F46926566BC}"/>
                  </a:ext>
                </a:extLst>
              </p:cNvPr>
              <p:cNvSpPr>
                <a:spLocks/>
              </p:cNvSpPr>
              <p:nvPr/>
            </p:nvSpPr>
            <p:spPr bwMode="auto">
              <a:xfrm>
                <a:off x="1644" y="2692"/>
                <a:ext cx="6" cy="5"/>
              </a:xfrm>
              <a:custGeom>
                <a:avLst/>
                <a:gdLst>
                  <a:gd name="T0" fmla="*/ 0 w 5"/>
                  <a:gd name="T1" fmla="*/ 2 h 4"/>
                  <a:gd name="T2" fmla="*/ 2 w 5"/>
                  <a:gd name="T3" fmla="*/ 4 h 4"/>
                  <a:gd name="T4" fmla="*/ 5 w 5"/>
                  <a:gd name="T5" fmla="*/ 2 h 4"/>
                  <a:gd name="T6" fmla="*/ 0 w 5"/>
                  <a:gd name="T7" fmla="*/ 2 h 4"/>
                </a:gdLst>
                <a:ahLst/>
                <a:cxnLst>
                  <a:cxn ang="0">
                    <a:pos x="T0" y="T1"/>
                  </a:cxn>
                  <a:cxn ang="0">
                    <a:pos x="T2" y="T3"/>
                  </a:cxn>
                  <a:cxn ang="0">
                    <a:pos x="T4" y="T5"/>
                  </a:cxn>
                  <a:cxn ang="0">
                    <a:pos x="T6" y="T7"/>
                  </a:cxn>
                </a:cxnLst>
                <a:rect l="0" t="0" r="r" b="b"/>
                <a:pathLst>
                  <a:path w="5" h="4">
                    <a:moveTo>
                      <a:pt x="0" y="2"/>
                    </a:moveTo>
                    <a:cubicBezTo>
                      <a:pt x="0" y="2"/>
                      <a:pt x="0" y="4"/>
                      <a:pt x="2" y="4"/>
                    </a:cubicBezTo>
                    <a:cubicBezTo>
                      <a:pt x="5" y="4"/>
                      <a:pt x="5" y="3"/>
                      <a:pt x="5" y="2"/>
                    </a:cubicBezTo>
                    <a:cubicBezTo>
                      <a:pt x="4" y="0"/>
                      <a:pt x="0"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60" name="Freeform 343">
                <a:extLst>
                  <a:ext uri="{FF2B5EF4-FFF2-40B4-BE49-F238E27FC236}">
                    <a16:creationId xmlns:a16="http://schemas.microsoft.com/office/drawing/2014/main" id="{5B8BB18E-5CD3-492E-ADE2-07CFD7289C27}"/>
                  </a:ext>
                </a:extLst>
              </p:cNvPr>
              <p:cNvSpPr>
                <a:spLocks/>
              </p:cNvSpPr>
              <p:nvPr/>
            </p:nvSpPr>
            <p:spPr bwMode="auto">
              <a:xfrm>
                <a:off x="1662" y="2694"/>
                <a:ext cx="8" cy="7"/>
              </a:xfrm>
              <a:custGeom>
                <a:avLst/>
                <a:gdLst>
                  <a:gd name="T0" fmla="*/ 2 w 6"/>
                  <a:gd name="T1" fmla="*/ 3 h 5"/>
                  <a:gd name="T2" fmla="*/ 1 w 6"/>
                  <a:gd name="T3" fmla="*/ 5 h 5"/>
                  <a:gd name="T4" fmla="*/ 5 w 6"/>
                  <a:gd name="T5" fmla="*/ 3 h 5"/>
                  <a:gd name="T6" fmla="*/ 2 w 6"/>
                  <a:gd name="T7" fmla="*/ 3 h 5"/>
                </a:gdLst>
                <a:ahLst/>
                <a:cxnLst>
                  <a:cxn ang="0">
                    <a:pos x="T0" y="T1"/>
                  </a:cxn>
                  <a:cxn ang="0">
                    <a:pos x="T2" y="T3"/>
                  </a:cxn>
                  <a:cxn ang="0">
                    <a:pos x="T4" y="T5"/>
                  </a:cxn>
                  <a:cxn ang="0">
                    <a:pos x="T6" y="T7"/>
                  </a:cxn>
                </a:cxnLst>
                <a:rect l="0" t="0" r="r" b="b"/>
                <a:pathLst>
                  <a:path w="6" h="5">
                    <a:moveTo>
                      <a:pt x="2" y="3"/>
                    </a:moveTo>
                    <a:cubicBezTo>
                      <a:pt x="2" y="3"/>
                      <a:pt x="0" y="4"/>
                      <a:pt x="1" y="5"/>
                    </a:cubicBezTo>
                    <a:cubicBezTo>
                      <a:pt x="3" y="5"/>
                      <a:pt x="3" y="4"/>
                      <a:pt x="5" y="3"/>
                    </a:cubicBezTo>
                    <a:cubicBezTo>
                      <a:pt x="6" y="2"/>
                      <a:pt x="6" y="0"/>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61" name="Freeform 344">
                <a:extLst>
                  <a:ext uri="{FF2B5EF4-FFF2-40B4-BE49-F238E27FC236}">
                    <a16:creationId xmlns:a16="http://schemas.microsoft.com/office/drawing/2014/main" id="{13F0EC35-9C37-4FD0-BB02-21CBCFBD1A72}"/>
                  </a:ext>
                </a:extLst>
              </p:cNvPr>
              <p:cNvSpPr>
                <a:spLocks/>
              </p:cNvSpPr>
              <p:nvPr/>
            </p:nvSpPr>
            <p:spPr bwMode="auto">
              <a:xfrm>
                <a:off x="1854" y="2736"/>
                <a:ext cx="8" cy="9"/>
              </a:xfrm>
              <a:custGeom>
                <a:avLst/>
                <a:gdLst>
                  <a:gd name="T0" fmla="*/ 2 w 6"/>
                  <a:gd name="T1" fmla="*/ 5 h 7"/>
                  <a:gd name="T2" fmla="*/ 4 w 6"/>
                  <a:gd name="T3" fmla="*/ 1 h 7"/>
                  <a:gd name="T4" fmla="*/ 0 w 6"/>
                  <a:gd name="T5" fmla="*/ 5 h 7"/>
                  <a:gd name="T6" fmla="*/ 2 w 6"/>
                  <a:gd name="T7" fmla="*/ 5 h 7"/>
                </a:gdLst>
                <a:ahLst/>
                <a:cxnLst>
                  <a:cxn ang="0">
                    <a:pos x="T0" y="T1"/>
                  </a:cxn>
                  <a:cxn ang="0">
                    <a:pos x="T2" y="T3"/>
                  </a:cxn>
                  <a:cxn ang="0">
                    <a:pos x="T4" y="T5"/>
                  </a:cxn>
                  <a:cxn ang="0">
                    <a:pos x="T6" y="T7"/>
                  </a:cxn>
                </a:cxnLst>
                <a:rect l="0" t="0" r="r" b="b"/>
                <a:pathLst>
                  <a:path w="6" h="7">
                    <a:moveTo>
                      <a:pt x="2" y="5"/>
                    </a:moveTo>
                    <a:cubicBezTo>
                      <a:pt x="4" y="4"/>
                      <a:pt x="6" y="1"/>
                      <a:pt x="4" y="1"/>
                    </a:cubicBezTo>
                    <a:cubicBezTo>
                      <a:pt x="2" y="0"/>
                      <a:pt x="0" y="2"/>
                      <a:pt x="0" y="5"/>
                    </a:cubicBezTo>
                    <a:cubicBezTo>
                      <a:pt x="0" y="5"/>
                      <a:pt x="1" y="7"/>
                      <a:pt x="2"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62" name="Freeform 345">
                <a:extLst>
                  <a:ext uri="{FF2B5EF4-FFF2-40B4-BE49-F238E27FC236}">
                    <a16:creationId xmlns:a16="http://schemas.microsoft.com/office/drawing/2014/main" id="{691763B5-223A-40B8-95EC-2D3BE50FE8DA}"/>
                  </a:ext>
                </a:extLst>
              </p:cNvPr>
              <p:cNvSpPr>
                <a:spLocks/>
              </p:cNvSpPr>
              <p:nvPr/>
            </p:nvSpPr>
            <p:spPr bwMode="auto">
              <a:xfrm>
                <a:off x="1995" y="2432"/>
                <a:ext cx="280" cy="238"/>
              </a:xfrm>
              <a:custGeom>
                <a:avLst/>
                <a:gdLst>
                  <a:gd name="T0" fmla="*/ 179 w 202"/>
                  <a:gd name="T1" fmla="*/ 94 h 173"/>
                  <a:gd name="T2" fmla="*/ 182 w 202"/>
                  <a:gd name="T3" fmla="*/ 88 h 173"/>
                  <a:gd name="T4" fmla="*/ 184 w 202"/>
                  <a:gd name="T5" fmla="*/ 82 h 173"/>
                  <a:gd name="T6" fmla="*/ 189 w 202"/>
                  <a:gd name="T7" fmla="*/ 81 h 173"/>
                  <a:gd name="T8" fmla="*/ 193 w 202"/>
                  <a:gd name="T9" fmla="*/ 75 h 173"/>
                  <a:gd name="T10" fmla="*/ 189 w 202"/>
                  <a:gd name="T11" fmla="*/ 69 h 173"/>
                  <a:gd name="T12" fmla="*/ 193 w 202"/>
                  <a:gd name="T13" fmla="*/ 65 h 173"/>
                  <a:gd name="T14" fmla="*/ 199 w 202"/>
                  <a:gd name="T15" fmla="*/ 55 h 173"/>
                  <a:gd name="T16" fmla="*/ 182 w 202"/>
                  <a:gd name="T17" fmla="*/ 56 h 173"/>
                  <a:gd name="T18" fmla="*/ 181 w 202"/>
                  <a:gd name="T19" fmla="*/ 53 h 173"/>
                  <a:gd name="T20" fmla="*/ 186 w 202"/>
                  <a:gd name="T21" fmla="*/ 42 h 173"/>
                  <a:gd name="T22" fmla="*/ 174 w 202"/>
                  <a:gd name="T23" fmla="*/ 37 h 173"/>
                  <a:gd name="T24" fmla="*/ 167 w 202"/>
                  <a:gd name="T25" fmla="*/ 35 h 173"/>
                  <a:gd name="T26" fmla="*/ 161 w 202"/>
                  <a:gd name="T27" fmla="*/ 30 h 173"/>
                  <a:gd name="T28" fmla="*/ 156 w 202"/>
                  <a:gd name="T29" fmla="*/ 27 h 173"/>
                  <a:gd name="T30" fmla="*/ 168 w 202"/>
                  <a:gd name="T31" fmla="*/ 22 h 173"/>
                  <a:gd name="T32" fmla="*/ 141 w 202"/>
                  <a:gd name="T33" fmla="*/ 23 h 173"/>
                  <a:gd name="T34" fmla="*/ 142 w 202"/>
                  <a:gd name="T35" fmla="*/ 25 h 173"/>
                  <a:gd name="T36" fmla="*/ 122 w 202"/>
                  <a:gd name="T37" fmla="*/ 31 h 173"/>
                  <a:gd name="T38" fmla="*/ 85 w 202"/>
                  <a:gd name="T39" fmla="*/ 25 h 173"/>
                  <a:gd name="T40" fmla="*/ 57 w 202"/>
                  <a:gd name="T41" fmla="*/ 10 h 173"/>
                  <a:gd name="T42" fmla="*/ 47 w 202"/>
                  <a:gd name="T43" fmla="*/ 6 h 173"/>
                  <a:gd name="T44" fmla="*/ 53 w 202"/>
                  <a:gd name="T45" fmla="*/ 10 h 173"/>
                  <a:gd name="T46" fmla="*/ 48 w 202"/>
                  <a:gd name="T47" fmla="*/ 12 h 173"/>
                  <a:gd name="T48" fmla="*/ 28 w 202"/>
                  <a:gd name="T49" fmla="*/ 22 h 173"/>
                  <a:gd name="T50" fmla="*/ 25 w 202"/>
                  <a:gd name="T51" fmla="*/ 45 h 173"/>
                  <a:gd name="T52" fmla="*/ 26 w 202"/>
                  <a:gd name="T53" fmla="*/ 20 h 173"/>
                  <a:gd name="T54" fmla="*/ 22 w 202"/>
                  <a:gd name="T55" fmla="*/ 10 h 173"/>
                  <a:gd name="T56" fmla="*/ 20 w 202"/>
                  <a:gd name="T57" fmla="*/ 9 h 173"/>
                  <a:gd name="T58" fmla="*/ 12 w 202"/>
                  <a:gd name="T59" fmla="*/ 17 h 173"/>
                  <a:gd name="T60" fmla="*/ 8 w 202"/>
                  <a:gd name="T61" fmla="*/ 25 h 173"/>
                  <a:gd name="T62" fmla="*/ 6 w 202"/>
                  <a:gd name="T63" fmla="*/ 31 h 173"/>
                  <a:gd name="T64" fmla="*/ 0 w 202"/>
                  <a:gd name="T65" fmla="*/ 45 h 173"/>
                  <a:gd name="T66" fmla="*/ 6 w 202"/>
                  <a:gd name="T67" fmla="*/ 44 h 173"/>
                  <a:gd name="T68" fmla="*/ 9 w 202"/>
                  <a:gd name="T69" fmla="*/ 47 h 173"/>
                  <a:gd name="T70" fmla="*/ 15 w 202"/>
                  <a:gd name="T71" fmla="*/ 58 h 173"/>
                  <a:gd name="T72" fmla="*/ 14 w 202"/>
                  <a:gd name="T73" fmla="*/ 65 h 173"/>
                  <a:gd name="T74" fmla="*/ 19 w 202"/>
                  <a:gd name="T75" fmla="*/ 75 h 173"/>
                  <a:gd name="T76" fmla="*/ 25 w 202"/>
                  <a:gd name="T77" fmla="*/ 77 h 173"/>
                  <a:gd name="T78" fmla="*/ 44 w 202"/>
                  <a:gd name="T79" fmla="*/ 77 h 173"/>
                  <a:gd name="T80" fmla="*/ 58 w 202"/>
                  <a:gd name="T81" fmla="*/ 91 h 173"/>
                  <a:gd name="T82" fmla="*/ 87 w 202"/>
                  <a:gd name="T83" fmla="*/ 90 h 173"/>
                  <a:gd name="T84" fmla="*/ 83 w 202"/>
                  <a:gd name="T85" fmla="*/ 102 h 173"/>
                  <a:gd name="T86" fmla="*/ 83 w 202"/>
                  <a:gd name="T87" fmla="*/ 119 h 173"/>
                  <a:gd name="T88" fmla="*/ 86 w 202"/>
                  <a:gd name="T89" fmla="*/ 127 h 173"/>
                  <a:gd name="T90" fmla="*/ 90 w 202"/>
                  <a:gd name="T91" fmla="*/ 131 h 173"/>
                  <a:gd name="T92" fmla="*/ 83 w 202"/>
                  <a:gd name="T93" fmla="*/ 140 h 173"/>
                  <a:gd name="T94" fmla="*/ 94 w 202"/>
                  <a:gd name="T95" fmla="*/ 154 h 173"/>
                  <a:gd name="T96" fmla="*/ 97 w 202"/>
                  <a:gd name="T97" fmla="*/ 164 h 173"/>
                  <a:gd name="T98" fmla="*/ 116 w 202"/>
                  <a:gd name="T99" fmla="*/ 168 h 173"/>
                  <a:gd name="T100" fmla="*/ 116 w 202"/>
                  <a:gd name="T101" fmla="*/ 172 h 173"/>
                  <a:gd name="T102" fmla="*/ 126 w 202"/>
                  <a:gd name="T103" fmla="*/ 164 h 173"/>
                  <a:gd name="T104" fmla="*/ 134 w 202"/>
                  <a:gd name="T105" fmla="*/ 162 h 173"/>
                  <a:gd name="T106" fmla="*/ 148 w 202"/>
                  <a:gd name="T107" fmla="*/ 149 h 173"/>
                  <a:gd name="T108" fmla="*/ 140 w 202"/>
                  <a:gd name="T109" fmla="*/ 146 h 173"/>
                  <a:gd name="T110" fmla="*/ 136 w 202"/>
                  <a:gd name="T111" fmla="*/ 130 h 173"/>
                  <a:gd name="T112" fmla="*/ 128 w 202"/>
                  <a:gd name="T113" fmla="*/ 120 h 173"/>
                  <a:gd name="T114" fmla="*/ 139 w 202"/>
                  <a:gd name="T115" fmla="*/ 124 h 173"/>
                  <a:gd name="T116" fmla="*/ 147 w 202"/>
                  <a:gd name="T117" fmla="*/ 124 h 173"/>
                  <a:gd name="T118" fmla="*/ 155 w 202"/>
                  <a:gd name="T119" fmla="*/ 129 h 173"/>
                  <a:gd name="T120" fmla="*/ 159 w 202"/>
                  <a:gd name="T121" fmla="*/ 122 h 173"/>
                  <a:gd name="T122" fmla="*/ 180 w 202"/>
                  <a:gd name="T123" fmla="*/ 116 h 173"/>
                  <a:gd name="T124" fmla="*/ 189 w 202"/>
                  <a:gd name="T125" fmla="*/ 10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3">
                    <a:moveTo>
                      <a:pt x="188" y="105"/>
                    </a:moveTo>
                    <a:cubicBezTo>
                      <a:pt x="188" y="105"/>
                      <a:pt x="187" y="104"/>
                      <a:pt x="187" y="104"/>
                    </a:cubicBezTo>
                    <a:cubicBezTo>
                      <a:pt x="186" y="103"/>
                      <a:pt x="179" y="94"/>
                      <a:pt x="179" y="94"/>
                    </a:cubicBezTo>
                    <a:cubicBezTo>
                      <a:pt x="179" y="94"/>
                      <a:pt x="178" y="94"/>
                      <a:pt x="179" y="93"/>
                    </a:cubicBezTo>
                    <a:cubicBezTo>
                      <a:pt x="180" y="92"/>
                      <a:pt x="181" y="91"/>
                      <a:pt x="182" y="90"/>
                    </a:cubicBezTo>
                    <a:cubicBezTo>
                      <a:pt x="182" y="89"/>
                      <a:pt x="182" y="89"/>
                      <a:pt x="182" y="88"/>
                    </a:cubicBezTo>
                    <a:cubicBezTo>
                      <a:pt x="182" y="88"/>
                      <a:pt x="182" y="87"/>
                      <a:pt x="182" y="87"/>
                    </a:cubicBezTo>
                    <a:cubicBezTo>
                      <a:pt x="182" y="86"/>
                      <a:pt x="181" y="82"/>
                      <a:pt x="182" y="82"/>
                    </a:cubicBezTo>
                    <a:cubicBezTo>
                      <a:pt x="183" y="82"/>
                      <a:pt x="184" y="82"/>
                      <a:pt x="184" y="82"/>
                    </a:cubicBezTo>
                    <a:cubicBezTo>
                      <a:pt x="185" y="81"/>
                      <a:pt x="185" y="80"/>
                      <a:pt x="186" y="81"/>
                    </a:cubicBezTo>
                    <a:cubicBezTo>
                      <a:pt x="187" y="81"/>
                      <a:pt x="187" y="81"/>
                      <a:pt x="188" y="81"/>
                    </a:cubicBezTo>
                    <a:cubicBezTo>
                      <a:pt x="188" y="81"/>
                      <a:pt x="189" y="81"/>
                      <a:pt x="189" y="81"/>
                    </a:cubicBezTo>
                    <a:cubicBezTo>
                      <a:pt x="190" y="80"/>
                      <a:pt x="191" y="80"/>
                      <a:pt x="192" y="79"/>
                    </a:cubicBezTo>
                    <a:cubicBezTo>
                      <a:pt x="193" y="79"/>
                      <a:pt x="194" y="78"/>
                      <a:pt x="194" y="77"/>
                    </a:cubicBezTo>
                    <a:cubicBezTo>
                      <a:pt x="194" y="76"/>
                      <a:pt x="193" y="75"/>
                      <a:pt x="193" y="75"/>
                    </a:cubicBezTo>
                    <a:cubicBezTo>
                      <a:pt x="193" y="75"/>
                      <a:pt x="190" y="75"/>
                      <a:pt x="190" y="74"/>
                    </a:cubicBezTo>
                    <a:cubicBezTo>
                      <a:pt x="189" y="73"/>
                      <a:pt x="189" y="71"/>
                      <a:pt x="188" y="71"/>
                    </a:cubicBezTo>
                    <a:cubicBezTo>
                      <a:pt x="188" y="70"/>
                      <a:pt x="188" y="69"/>
                      <a:pt x="189" y="69"/>
                    </a:cubicBezTo>
                    <a:cubicBezTo>
                      <a:pt x="189" y="68"/>
                      <a:pt x="190" y="68"/>
                      <a:pt x="190" y="67"/>
                    </a:cubicBezTo>
                    <a:cubicBezTo>
                      <a:pt x="190" y="66"/>
                      <a:pt x="191" y="65"/>
                      <a:pt x="192" y="66"/>
                    </a:cubicBezTo>
                    <a:cubicBezTo>
                      <a:pt x="192" y="66"/>
                      <a:pt x="193" y="65"/>
                      <a:pt x="193" y="65"/>
                    </a:cubicBezTo>
                    <a:cubicBezTo>
                      <a:pt x="194" y="65"/>
                      <a:pt x="195" y="64"/>
                      <a:pt x="196" y="64"/>
                    </a:cubicBezTo>
                    <a:cubicBezTo>
                      <a:pt x="196" y="63"/>
                      <a:pt x="202" y="60"/>
                      <a:pt x="201" y="58"/>
                    </a:cubicBezTo>
                    <a:cubicBezTo>
                      <a:pt x="201" y="57"/>
                      <a:pt x="200" y="56"/>
                      <a:pt x="199" y="55"/>
                    </a:cubicBezTo>
                    <a:cubicBezTo>
                      <a:pt x="197" y="54"/>
                      <a:pt x="194" y="53"/>
                      <a:pt x="191" y="54"/>
                    </a:cubicBezTo>
                    <a:cubicBezTo>
                      <a:pt x="187" y="55"/>
                      <a:pt x="183" y="56"/>
                      <a:pt x="184" y="56"/>
                    </a:cubicBezTo>
                    <a:cubicBezTo>
                      <a:pt x="184" y="55"/>
                      <a:pt x="183" y="55"/>
                      <a:pt x="182" y="56"/>
                    </a:cubicBezTo>
                    <a:cubicBezTo>
                      <a:pt x="181" y="57"/>
                      <a:pt x="178" y="57"/>
                      <a:pt x="176" y="55"/>
                    </a:cubicBezTo>
                    <a:cubicBezTo>
                      <a:pt x="174" y="54"/>
                      <a:pt x="174" y="54"/>
                      <a:pt x="177" y="54"/>
                    </a:cubicBezTo>
                    <a:cubicBezTo>
                      <a:pt x="179" y="54"/>
                      <a:pt x="181" y="54"/>
                      <a:pt x="181" y="53"/>
                    </a:cubicBezTo>
                    <a:cubicBezTo>
                      <a:pt x="182" y="51"/>
                      <a:pt x="184" y="46"/>
                      <a:pt x="183" y="47"/>
                    </a:cubicBezTo>
                    <a:cubicBezTo>
                      <a:pt x="182" y="48"/>
                      <a:pt x="182" y="46"/>
                      <a:pt x="184" y="45"/>
                    </a:cubicBezTo>
                    <a:cubicBezTo>
                      <a:pt x="185" y="44"/>
                      <a:pt x="188" y="43"/>
                      <a:pt x="186" y="42"/>
                    </a:cubicBezTo>
                    <a:cubicBezTo>
                      <a:pt x="184" y="41"/>
                      <a:pt x="178" y="37"/>
                      <a:pt x="177" y="36"/>
                    </a:cubicBezTo>
                    <a:cubicBezTo>
                      <a:pt x="176" y="35"/>
                      <a:pt x="175" y="34"/>
                      <a:pt x="175" y="36"/>
                    </a:cubicBezTo>
                    <a:cubicBezTo>
                      <a:pt x="175" y="37"/>
                      <a:pt x="175" y="37"/>
                      <a:pt x="174" y="37"/>
                    </a:cubicBezTo>
                    <a:cubicBezTo>
                      <a:pt x="174" y="38"/>
                      <a:pt x="174" y="39"/>
                      <a:pt x="172" y="37"/>
                    </a:cubicBezTo>
                    <a:cubicBezTo>
                      <a:pt x="170" y="34"/>
                      <a:pt x="168" y="32"/>
                      <a:pt x="168" y="33"/>
                    </a:cubicBezTo>
                    <a:cubicBezTo>
                      <a:pt x="168" y="34"/>
                      <a:pt x="167" y="37"/>
                      <a:pt x="167" y="35"/>
                    </a:cubicBezTo>
                    <a:cubicBezTo>
                      <a:pt x="166" y="33"/>
                      <a:pt x="165" y="33"/>
                      <a:pt x="165" y="35"/>
                    </a:cubicBezTo>
                    <a:cubicBezTo>
                      <a:pt x="165" y="37"/>
                      <a:pt x="165" y="38"/>
                      <a:pt x="164" y="35"/>
                    </a:cubicBezTo>
                    <a:cubicBezTo>
                      <a:pt x="162" y="32"/>
                      <a:pt x="162" y="29"/>
                      <a:pt x="161" y="30"/>
                    </a:cubicBezTo>
                    <a:cubicBezTo>
                      <a:pt x="160" y="32"/>
                      <a:pt x="160" y="31"/>
                      <a:pt x="159" y="30"/>
                    </a:cubicBezTo>
                    <a:cubicBezTo>
                      <a:pt x="159" y="29"/>
                      <a:pt x="157" y="28"/>
                      <a:pt x="156" y="28"/>
                    </a:cubicBezTo>
                    <a:cubicBezTo>
                      <a:pt x="156" y="28"/>
                      <a:pt x="155" y="27"/>
                      <a:pt x="156" y="27"/>
                    </a:cubicBezTo>
                    <a:cubicBezTo>
                      <a:pt x="157" y="27"/>
                      <a:pt x="153" y="25"/>
                      <a:pt x="157" y="25"/>
                    </a:cubicBezTo>
                    <a:cubicBezTo>
                      <a:pt x="161" y="24"/>
                      <a:pt x="161" y="26"/>
                      <a:pt x="166" y="24"/>
                    </a:cubicBezTo>
                    <a:cubicBezTo>
                      <a:pt x="170" y="22"/>
                      <a:pt x="173" y="22"/>
                      <a:pt x="168" y="22"/>
                    </a:cubicBezTo>
                    <a:cubicBezTo>
                      <a:pt x="164" y="22"/>
                      <a:pt x="152" y="22"/>
                      <a:pt x="150" y="23"/>
                    </a:cubicBezTo>
                    <a:cubicBezTo>
                      <a:pt x="148" y="24"/>
                      <a:pt x="146" y="24"/>
                      <a:pt x="145" y="24"/>
                    </a:cubicBezTo>
                    <a:cubicBezTo>
                      <a:pt x="143" y="23"/>
                      <a:pt x="143" y="22"/>
                      <a:pt x="141" y="23"/>
                    </a:cubicBezTo>
                    <a:cubicBezTo>
                      <a:pt x="140" y="24"/>
                      <a:pt x="138" y="23"/>
                      <a:pt x="137" y="23"/>
                    </a:cubicBezTo>
                    <a:cubicBezTo>
                      <a:pt x="136" y="23"/>
                      <a:pt x="134" y="23"/>
                      <a:pt x="137" y="25"/>
                    </a:cubicBezTo>
                    <a:cubicBezTo>
                      <a:pt x="139" y="26"/>
                      <a:pt x="141" y="25"/>
                      <a:pt x="142" y="25"/>
                    </a:cubicBezTo>
                    <a:cubicBezTo>
                      <a:pt x="143" y="25"/>
                      <a:pt x="145" y="26"/>
                      <a:pt x="140" y="27"/>
                    </a:cubicBezTo>
                    <a:cubicBezTo>
                      <a:pt x="135" y="28"/>
                      <a:pt x="129" y="30"/>
                      <a:pt x="128" y="31"/>
                    </a:cubicBezTo>
                    <a:cubicBezTo>
                      <a:pt x="126" y="33"/>
                      <a:pt x="123" y="31"/>
                      <a:pt x="122" y="31"/>
                    </a:cubicBezTo>
                    <a:cubicBezTo>
                      <a:pt x="120" y="31"/>
                      <a:pt x="111" y="31"/>
                      <a:pt x="109" y="27"/>
                    </a:cubicBezTo>
                    <a:cubicBezTo>
                      <a:pt x="108" y="23"/>
                      <a:pt x="106" y="24"/>
                      <a:pt x="105" y="24"/>
                    </a:cubicBezTo>
                    <a:cubicBezTo>
                      <a:pt x="103" y="24"/>
                      <a:pt x="87" y="25"/>
                      <a:pt x="85" y="25"/>
                    </a:cubicBezTo>
                    <a:cubicBezTo>
                      <a:pt x="83" y="25"/>
                      <a:pt x="77" y="26"/>
                      <a:pt x="76" y="22"/>
                    </a:cubicBezTo>
                    <a:cubicBezTo>
                      <a:pt x="75" y="18"/>
                      <a:pt x="74" y="15"/>
                      <a:pt x="70" y="13"/>
                    </a:cubicBezTo>
                    <a:cubicBezTo>
                      <a:pt x="66" y="11"/>
                      <a:pt x="59" y="11"/>
                      <a:pt x="57" y="10"/>
                    </a:cubicBezTo>
                    <a:cubicBezTo>
                      <a:pt x="55" y="9"/>
                      <a:pt x="54" y="8"/>
                      <a:pt x="53" y="4"/>
                    </a:cubicBezTo>
                    <a:cubicBezTo>
                      <a:pt x="52" y="1"/>
                      <a:pt x="50" y="0"/>
                      <a:pt x="49" y="0"/>
                    </a:cubicBezTo>
                    <a:cubicBezTo>
                      <a:pt x="48" y="1"/>
                      <a:pt x="45" y="3"/>
                      <a:pt x="47" y="6"/>
                    </a:cubicBezTo>
                    <a:cubicBezTo>
                      <a:pt x="48" y="8"/>
                      <a:pt x="48" y="8"/>
                      <a:pt x="50" y="8"/>
                    </a:cubicBezTo>
                    <a:cubicBezTo>
                      <a:pt x="53" y="8"/>
                      <a:pt x="53" y="8"/>
                      <a:pt x="53" y="9"/>
                    </a:cubicBezTo>
                    <a:cubicBezTo>
                      <a:pt x="54" y="9"/>
                      <a:pt x="55" y="10"/>
                      <a:pt x="53" y="10"/>
                    </a:cubicBezTo>
                    <a:cubicBezTo>
                      <a:pt x="52" y="10"/>
                      <a:pt x="50" y="10"/>
                      <a:pt x="50" y="10"/>
                    </a:cubicBezTo>
                    <a:cubicBezTo>
                      <a:pt x="49" y="10"/>
                      <a:pt x="49" y="10"/>
                      <a:pt x="49" y="11"/>
                    </a:cubicBezTo>
                    <a:cubicBezTo>
                      <a:pt x="49" y="12"/>
                      <a:pt x="48" y="12"/>
                      <a:pt x="48" y="12"/>
                    </a:cubicBezTo>
                    <a:cubicBezTo>
                      <a:pt x="47" y="13"/>
                      <a:pt x="42" y="13"/>
                      <a:pt x="40" y="14"/>
                    </a:cubicBezTo>
                    <a:cubicBezTo>
                      <a:pt x="39" y="15"/>
                      <a:pt x="32" y="18"/>
                      <a:pt x="31" y="18"/>
                    </a:cubicBezTo>
                    <a:cubicBezTo>
                      <a:pt x="30" y="18"/>
                      <a:pt x="27" y="18"/>
                      <a:pt x="28" y="22"/>
                    </a:cubicBezTo>
                    <a:cubicBezTo>
                      <a:pt x="28" y="26"/>
                      <a:pt x="32" y="32"/>
                      <a:pt x="33" y="35"/>
                    </a:cubicBezTo>
                    <a:cubicBezTo>
                      <a:pt x="34" y="38"/>
                      <a:pt x="36" y="44"/>
                      <a:pt x="31" y="46"/>
                    </a:cubicBezTo>
                    <a:cubicBezTo>
                      <a:pt x="27" y="48"/>
                      <a:pt x="25" y="48"/>
                      <a:pt x="25" y="45"/>
                    </a:cubicBezTo>
                    <a:cubicBezTo>
                      <a:pt x="25" y="42"/>
                      <a:pt x="23" y="42"/>
                      <a:pt x="22" y="40"/>
                    </a:cubicBezTo>
                    <a:cubicBezTo>
                      <a:pt x="20" y="39"/>
                      <a:pt x="18" y="36"/>
                      <a:pt x="21" y="32"/>
                    </a:cubicBezTo>
                    <a:cubicBezTo>
                      <a:pt x="25" y="27"/>
                      <a:pt x="27" y="25"/>
                      <a:pt x="26" y="20"/>
                    </a:cubicBezTo>
                    <a:cubicBezTo>
                      <a:pt x="24" y="16"/>
                      <a:pt x="24" y="18"/>
                      <a:pt x="26" y="18"/>
                    </a:cubicBezTo>
                    <a:cubicBezTo>
                      <a:pt x="27" y="18"/>
                      <a:pt x="26" y="18"/>
                      <a:pt x="25" y="17"/>
                    </a:cubicBezTo>
                    <a:cubicBezTo>
                      <a:pt x="24" y="16"/>
                      <a:pt x="21" y="12"/>
                      <a:pt x="22" y="10"/>
                    </a:cubicBezTo>
                    <a:cubicBezTo>
                      <a:pt x="22" y="9"/>
                      <a:pt x="24" y="7"/>
                      <a:pt x="27" y="6"/>
                    </a:cubicBezTo>
                    <a:cubicBezTo>
                      <a:pt x="22" y="8"/>
                      <a:pt x="22" y="8"/>
                      <a:pt x="22" y="8"/>
                    </a:cubicBezTo>
                    <a:cubicBezTo>
                      <a:pt x="22" y="8"/>
                      <a:pt x="21" y="8"/>
                      <a:pt x="20" y="9"/>
                    </a:cubicBezTo>
                    <a:cubicBezTo>
                      <a:pt x="20" y="11"/>
                      <a:pt x="18" y="14"/>
                      <a:pt x="18" y="14"/>
                    </a:cubicBezTo>
                    <a:cubicBezTo>
                      <a:pt x="18" y="14"/>
                      <a:pt x="17" y="17"/>
                      <a:pt x="14" y="17"/>
                    </a:cubicBezTo>
                    <a:cubicBezTo>
                      <a:pt x="14" y="17"/>
                      <a:pt x="13" y="17"/>
                      <a:pt x="12" y="17"/>
                    </a:cubicBezTo>
                    <a:cubicBezTo>
                      <a:pt x="12" y="18"/>
                      <a:pt x="10" y="20"/>
                      <a:pt x="10" y="21"/>
                    </a:cubicBezTo>
                    <a:cubicBezTo>
                      <a:pt x="9" y="22"/>
                      <a:pt x="9" y="23"/>
                      <a:pt x="9" y="24"/>
                    </a:cubicBezTo>
                    <a:cubicBezTo>
                      <a:pt x="8" y="24"/>
                      <a:pt x="8" y="25"/>
                      <a:pt x="8" y="25"/>
                    </a:cubicBezTo>
                    <a:cubicBezTo>
                      <a:pt x="8" y="26"/>
                      <a:pt x="7" y="26"/>
                      <a:pt x="7" y="26"/>
                    </a:cubicBezTo>
                    <a:cubicBezTo>
                      <a:pt x="7" y="26"/>
                      <a:pt x="7" y="26"/>
                      <a:pt x="7" y="27"/>
                    </a:cubicBezTo>
                    <a:cubicBezTo>
                      <a:pt x="7" y="28"/>
                      <a:pt x="7" y="30"/>
                      <a:pt x="6" y="31"/>
                    </a:cubicBezTo>
                    <a:cubicBezTo>
                      <a:pt x="6" y="32"/>
                      <a:pt x="6" y="34"/>
                      <a:pt x="6" y="34"/>
                    </a:cubicBezTo>
                    <a:cubicBezTo>
                      <a:pt x="5" y="35"/>
                      <a:pt x="5" y="38"/>
                      <a:pt x="4" y="38"/>
                    </a:cubicBezTo>
                    <a:cubicBezTo>
                      <a:pt x="4" y="39"/>
                      <a:pt x="1" y="44"/>
                      <a:pt x="0" y="45"/>
                    </a:cubicBezTo>
                    <a:cubicBezTo>
                      <a:pt x="0" y="45"/>
                      <a:pt x="0" y="46"/>
                      <a:pt x="1" y="45"/>
                    </a:cubicBezTo>
                    <a:cubicBezTo>
                      <a:pt x="2" y="45"/>
                      <a:pt x="5" y="44"/>
                      <a:pt x="5" y="44"/>
                    </a:cubicBezTo>
                    <a:cubicBezTo>
                      <a:pt x="5" y="44"/>
                      <a:pt x="6" y="44"/>
                      <a:pt x="6" y="44"/>
                    </a:cubicBezTo>
                    <a:cubicBezTo>
                      <a:pt x="6" y="45"/>
                      <a:pt x="6" y="45"/>
                      <a:pt x="6" y="46"/>
                    </a:cubicBezTo>
                    <a:cubicBezTo>
                      <a:pt x="6" y="46"/>
                      <a:pt x="7" y="46"/>
                      <a:pt x="7" y="46"/>
                    </a:cubicBezTo>
                    <a:cubicBezTo>
                      <a:pt x="7" y="46"/>
                      <a:pt x="9" y="46"/>
                      <a:pt x="9" y="47"/>
                    </a:cubicBezTo>
                    <a:cubicBezTo>
                      <a:pt x="10" y="48"/>
                      <a:pt x="13" y="55"/>
                      <a:pt x="13" y="56"/>
                    </a:cubicBezTo>
                    <a:cubicBezTo>
                      <a:pt x="13" y="56"/>
                      <a:pt x="14" y="57"/>
                      <a:pt x="14" y="57"/>
                    </a:cubicBezTo>
                    <a:cubicBezTo>
                      <a:pt x="14" y="57"/>
                      <a:pt x="14" y="57"/>
                      <a:pt x="15" y="58"/>
                    </a:cubicBezTo>
                    <a:cubicBezTo>
                      <a:pt x="15" y="58"/>
                      <a:pt x="15" y="61"/>
                      <a:pt x="15" y="62"/>
                    </a:cubicBezTo>
                    <a:cubicBezTo>
                      <a:pt x="15" y="62"/>
                      <a:pt x="15" y="62"/>
                      <a:pt x="15" y="63"/>
                    </a:cubicBezTo>
                    <a:cubicBezTo>
                      <a:pt x="14" y="63"/>
                      <a:pt x="14" y="64"/>
                      <a:pt x="14" y="65"/>
                    </a:cubicBezTo>
                    <a:cubicBezTo>
                      <a:pt x="14" y="66"/>
                      <a:pt x="13" y="68"/>
                      <a:pt x="14" y="69"/>
                    </a:cubicBezTo>
                    <a:cubicBezTo>
                      <a:pt x="14" y="69"/>
                      <a:pt x="14" y="71"/>
                      <a:pt x="15" y="72"/>
                    </a:cubicBezTo>
                    <a:cubicBezTo>
                      <a:pt x="15" y="72"/>
                      <a:pt x="18" y="72"/>
                      <a:pt x="19" y="75"/>
                    </a:cubicBezTo>
                    <a:cubicBezTo>
                      <a:pt x="20" y="77"/>
                      <a:pt x="20" y="77"/>
                      <a:pt x="20" y="77"/>
                    </a:cubicBezTo>
                    <a:cubicBezTo>
                      <a:pt x="20" y="77"/>
                      <a:pt x="21" y="78"/>
                      <a:pt x="21" y="78"/>
                    </a:cubicBezTo>
                    <a:cubicBezTo>
                      <a:pt x="22" y="78"/>
                      <a:pt x="24" y="77"/>
                      <a:pt x="25" y="77"/>
                    </a:cubicBezTo>
                    <a:cubicBezTo>
                      <a:pt x="26" y="77"/>
                      <a:pt x="33" y="78"/>
                      <a:pt x="33" y="78"/>
                    </a:cubicBezTo>
                    <a:cubicBezTo>
                      <a:pt x="33" y="78"/>
                      <a:pt x="34" y="78"/>
                      <a:pt x="35" y="78"/>
                    </a:cubicBezTo>
                    <a:cubicBezTo>
                      <a:pt x="36" y="77"/>
                      <a:pt x="39" y="76"/>
                      <a:pt x="44" y="77"/>
                    </a:cubicBezTo>
                    <a:cubicBezTo>
                      <a:pt x="48" y="78"/>
                      <a:pt x="48" y="78"/>
                      <a:pt x="48" y="78"/>
                    </a:cubicBezTo>
                    <a:cubicBezTo>
                      <a:pt x="48" y="78"/>
                      <a:pt x="48" y="78"/>
                      <a:pt x="49" y="79"/>
                    </a:cubicBezTo>
                    <a:cubicBezTo>
                      <a:pt x="49" y="79"/>
                      <a:pt x="58" y="91"/>
                      <a:pt x="58" y="91"/>
                    </a:cubicBezTo>
                    <a:cubicBezTo>
                      <a:pt x="58" y="91"/>
                      <a:pt x="59" y="91"/>
                      <a:pt x="59" y="91"/>
                    </a:cubicBezTo>
                    <a:cubicBezTo>
                      <a:pt x="60" y="91"/>
                      <a:pt x="71" y="90"/>
                      <a:pt x="73" y="89"/>
                    </a:cubicBezTo>
                    <a:cubicBezTo>
                      <a:pt x="75" y="89"/>
                      <a:pt x="81" y="88"/>
                      <a:pt x="87" y="90"/>
                    </a:cubicBezTo>
                    <a:cubicBezTo>
                      <a:pt x="87" y="90"/>
                      <a:pt x="88" y="90"/>
                      <a:pt x="88" y="91"/>
                    </a:cubicBezTo>
                    <a:cubicBezTo>
                      <a:pt x="88" y="91"/>
                      <a:pt x="89" y="93"/>
                      <a:pt x="88" y="94"/>
                    </a:cubicBezTo>
                    <a:cubicBezTo>
                      <a:pt x="86" y="96"/>
                      <a:pt x="83" y="102"/>
                      <a:pt x="83" y="102"/>
                    </a:cubicBezTo>
                    <a:cubicBezTo>
                      <a:pt x="83" y="102"/>
                      <a:pt x="82" y="103"/>
                      <a:pt x="82" y="104"/>
                    </a:cubicBezTo>
                    <a:cubicBezTo>
                      <a:pt x="82" y="104"/>
                      <a:pt x="82" y="110"/>
                      <a:pt x="82" y="112"/>
                    </a:cubicBezTo>
                    <a:cubicBezTo>
                      <a:pt x="82" y="114"/>
                      <a:pt x="82" y="117"/>
                      <a:pt x="83" y="119"/>
                    </a:cubicBezTo>
                    <a:cubicBezTo>
                      <a:pt x="84" y="120"/>
                      <a:pt x="84" y="121"/>
                      <a:pt x="84" y="122"/>
                    </a:cubicBezTo>
                    <a:cubicBezTo>
                      <a:pt x="85" y="123"/>
                      <a:pt x="86" y="125"/>
                      <a:pt x="86" y="126"/>
                    </a:cubicBezTo>
                    <a:cubicBezTo>
                      <a:pt x="86" y="126"/>
                      <a:pt x="86" y="127"/>
                      <a:pt x="86" y="127"/>
                    </a:cubicBezTo>
                    <a:cubicBezTo>
                      <a:pt x="87" y="127"/>
                      <a:pt x="89" y="128"/>
                      <a:pt x="89" y="130"/>
                    </a:cubicBezTo>
                    <a:cubicBezTo>
                      <a:pt x="89" y="130"/>
                      <a:pt x="89" y="131"/>
                      <a:pt x="90" y="131"/>
                    </a:cubicBezTo>
                    <a:cubicBezTo>
                      <a:pt x="90" y="131"/>
                      <a:pt x="90" y="131"/>
                      <a:pt x="90" y="131"/>
                    </a:cubicBezTo>
                    <a:cubicBezTo>
                      <a:pt x="90" y="132"/>
                      <a:pt x="89" y="133"/>
                      <a:pt x="89" y="134"/>
                    </a:cubicBezTo>
                    <a:cubicBezTo>
                      <a:pt x="88" y="134"/>
                      <a:pt x="83" y="139"/>
                      <a:pt x="82" y="139"/>
                    </a:cubicBezTo>
                    <a:cubicBezTo>
                      <a:pt x="82" y="139"/>
                      <a:pt x="82" y="140"/>
                      <a:pt x="83" y="140"/>
                    </a:cubicBezTo>
                    <a:cubicBezTo>
                      <a:pt x="84" y="140"/>
                      <a:pt x="86" y="140"/>
                      <a:pt x="86" y="141"/>
                    </a:cubicBezTo>
                    <a:cubicBezTo>
                      <a:pt x="87" y="142"/>
                      <a:pt x="90" y="144"/>
                      <a:pt x="90" y="145"/>
                    </a:cubicBezTo>
                    <a:cubicBezTo>
                      <a:pt x="90" y="146"/>
                      <a:pt x="94" y="153"/>
                      <a:pt x="94" y="154"/>
                    </a:cubicBezTo>
                    <a:cubicBezTo>
                      <a:pt x="94" y="155"/>
                      <a:pt x="97" y="163"/>
                      <a:pt x="97" y="163"/>
                    </a:cubicBezTo>
                    <a:cubicBezTo>
                      <a:pt x="97" y="163"/>
                      <a:pt x="97" y="164"/>
                      <a:pt x="97" y="164"/>
                    </a:cubicBezTo>
                    <a:cubicBezTo>
                      <a:pt x="97" y="164"/>
                      <a:pt x="97" y="164"/>
                      <a:pt x="97" y="164"/>
                    </a:cubicBezTo>
                    <a:cubicBezTo>
                      <a:pt x="98" y="165"/>
                      <a:pt x="104" y="170"/>
                      <a:pt x="104" y="170"/>
                    </a:cubicBezTo>
                    <a:cubicBezTo>
                      <a:pt x="104" y="170"/>
                      <a:pt x="107" y="172"/>
                      <a:pt x="110" y="171"/>
                    </a:cubicBezTo>
                    <a:cubicBezTo>
                      <a:pt x="113" y="169"/>
                      <a:pt x="115" y="168"/>
                      <a:pt x="116" y="168"/>
                    </a:cubicBezTo>
                    <a:cubicBezTo>
                      <a:pt x="117" y="168"/>
                      <a:pt x="117" y="169"/>
                      <a:pt x="117" y="170"/>
                    </a:cubicBezTo>
                    <a:cubicBezTo>
                      <a:pt x="116" y="171"/>
                      <a:pt x="116" y="171"/>
                      <a:pt x="116" y="171"/>
                    </a:cubicBezTo>
                    <a:cubicBezTo>
                      <a:pt x="116" y="171"/>
                      <a:pt x="116" y="172"/>
                      <a:pt x="116" y="172"/>
                    </a:cubicBezTo>
                    <a:cubicBezTo>
                      <a:pt x="116" y="172"/>
                      <a:pt x="117" y="173"/>
                      <a:pt x="118" y="171"/>
                    </a:cubicBezTo>
                    <a:cubicBezTo>
                      <a:pt x="119" y="170"/>
                      <a:pt x="121" y="168"/>
                      <a:pt x="122" y="167"/>
                    </a:cubicBezTo>
                    <a:cubicBezTo>
                      <a:pt x="122" y="166"/>
                      <a:pt x="124" y="165"/>
                      <a:pt x="126" y="164"/>
                    </a:cubicBezTo>
                    <a:cubicBezTo>
                      <a:pt x="128" y="164"/>
                      <a:pt x="130" y="163"/>
                      <a:pt x="131" y="162"/>
                    </a:cubicBezTo>
                    <a:cubicBezTo>
                      <a:pt x="133" y="161"/>
                      <a:pt x="134" y="160"/>
                      <a:pt x="134" y="161"/>
                    </a:cubicBezTo>
                    <a:cubicBezTo>
                      <a:pt x="133" y="162"/>
                      <a:pt x="134" y="162"/>
                      <a:pt x="134" y="162"/>
                    </a:cubicBezTo>
                    <a:cubicBezTo>
                      <a:pt x="135" y="161"/>
                      <a:pt x="137" y="159"/>
                      <a:pt x="138" y="157"/>
                    </a:cubicBezTo>
                    <a:cubicBezTo>
                      <a:pt x="138" y="155"/>
                      <a:pt x="138" y="153"/>
                      <a:pt x="139" y="153"/>
                    </a:cubicBezTo>
                    <a:cubicBezTo>
                      <a:pt x="140" y="153"/>
                      <a:pt x="147" y="149"/>
                      <a:pt x="148" y="149"/>
                    </a:cubicBezTo>
                    <a:cubicBezTo>
                      <a:pt x="148" y="149"/>
                      <a:pt x="149" y="149"/>
                      <a:pt x="149" y="148"/>
                    </a:cubicBezTo>
                    <a:cubicBezTo>
                      <a:pt x="149" y="147"/>
                      <a:pt x="149" y="147"/>
                      <a:pt x="148" y="147"/>
                    </a:cubicBezTo>
                    <a:cubicBezTo>
                      <a:pt x="148" y="147"/>
                      <a:pt x="141" y="146"/>
                      <a:pt x="140" y="146"/>
                    </a:cubicBezTo>
                    <a:cubicBezTo>
                      <a:pt x="139" y="145"/>
                      <a:pt x="138" y="145"/>
                      <a:pt x="139" y="143"/>
                    </a:cubicBezTo>
                    <a:cubicBezTo>
                      <a:pt x="139" y="142"/>
                      <a:pt x="139" y="140"/>
                      <a:pt x="138" y="136"/>
                    </a:cubicBezTo>
                    <a:cubicBezTo>
                      <a:pt x="136" y="131"/>
                      <a:pt x="136" y="130"/>
                      <a:pt x="136" y="130"/>
                    </a:cubicBezTo>
                    <a:cubicBezTo>
                      <a:pt x="137" y="130"/>
                      <a:pt x="137" y="128"/>
                      <a:pt x="135" y="127"/>
                    </a:cubicBezTo>
                    <a:cubicBezTo>
                      <a:pt x="134" y="126"/>
                      <a:pt x="131" y="125"/>
                      <a:pt x="130" y="123"/>
                    </a:cubicBezTo>
                    <a:cubicBezTo>
                      <a:pt x="129" y="122"/>
                      <a:pt x="129" y="121"/>
                      <a:pt x="128" y="120"/>
                    </a:cubicBezTo>
                    <a:cubicBezTo>
                      <a:pt x="127" y="120"/>
                      <a:pt x="128" y="120"/>
                      <a:pt x="128" y="120"/>
                    </a:cubicBezTo>
                    <a:cubicBezTo>
                      <a:pt x="129" y="120"/>
                      <a:pt x="130" y="119"/>
                      <a:pt x="130" y="119"/>
                    </a:cubicBezTo>
                    <a:cubicBezTo>
                      <a:pt x="131" y="120"/>
                      <a:pt x="137" y="123"/>
                      <a:pt x="139" y="124"/>
                    </a:cubicBezTo>
                    <a:cubicBezTo>
                      <a:pt x="140" y="124"/>
                      <a:pt x="142" y="124"/>
                      <a:pt x="143" y="124"/>
                    </a:cubicBezTo>
                    <a:cubicBezTo>
                      <a:pt x="145" y="123"/>
                      <a:pt x="145" y="123"/>
                      <a:pt x="145" y="124"/>
                    </a:cubicBezTo>
                    <a:cubicBezTo>
                      <a:pt x="146" y="124"/>
                      <a:pt x="147" y="125"/>
                      <a:pt x="147" y="124"/>
                    </a:cubicBezTo>
                    <a:cubicBezTo>
                      <a:pt x="147" y="124"/>
                      <a:pt x="148" y="123"/>
                      <a:pt x="148" y="123"/>
                    </a:cubicBezTo>
                    <a:cubicBezTo>
                      <a:pt x="149" y="123"/>
                      <a:pt x="152" y="125"/>
                      <a:pt x="153" y="127"/>
                    </a:cubicBezTo>
                    <a:cubicBezTo>
                      <a:pt x="154" y="129"/>
                      <a:pt x="155" y="129"/>
                      <a:pt x="155" y="129"/>
                    </a:cubicBezTo>
                    <a:cubicBezTo>
                      <a:pt x="156" y="129"/>
                      <a:pt x="157" y="128"/>
                      <a:pt x="157" y="126"/>
                    </a:cubicBezTo>
                    <a:cubicBezTo>
                      <a:pt x="157" y="125"/>
                      <a:pt x="157" y="123"/>
                      <a:pt x="157" y="123"/>
                    </a:cubicBezTo>
                    <a:cubicBezTo>
                      <a:pt x="157" y="123"/>
                      <a:pt x="158" y="122"/>
                      <a:pt x="159" y="122"/>
                    </a:cubicBezTo>
                    <a:cubicBezTo>
                      <a:pt x="160" y="122"/>
                      <a:pt x="167" y="120"/>
                      <a:pt x="171" y="119"/>
                    </a:cubicBezTo>
                    <a:cubicBezTo>
                      <a:pt x="171" y="119"/>
                      <a:pt x="174" y="119"/>
                      <a:pt x="175" y="119"/>
                    </a:cubicBezTo>
                    <a:cubicBezTo>
                      <a:pt x="176" y="118"/>
                      <a:pt x="179" y="116"/>
                      <a:pt x="180" y="116"/>
                    </a:cubicBezTo>
                    <a:cubicBezTo>
                      <a:pt x="181" y="115"/>
                      <a:pt x="182" y="115"/>
                      <a:pt x="183" y="115"/>
                    </a:cubicBezTo>
                    <a:cubicBezTo>
                      <a:pt x="184" y="115"/>
                      <a:pt x="184" y="115"/>
                      <a:pt x="185" y="114"/>
                    </a:cubicBezTo>
                    <a:cubicBezTo>
                      <a:pt x="186" y="113"/>
                      <a:pt x="189" y="110"/>
                      <a:pt x="189" y="108"/>
                    </a:cubicBezTo>
                    <a:cubicBezTo>
                      <a:pt x="189" y="107"/>
                      <a:pt x="189" y="106"/>
                      <a:pt x="188" y="10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63" name="Freeform 346">
                <a:extLst>
                  <a:ext uri="{FF2B5EF4-FFF2-40B4-BE49-F238E27FC236}">
                    <a16:creationId xmlns:a16="http://schemas.microsoft.com/office/drawing/2014/main" id="{9F9E9553-3C7A-4D77-8E47-93C85E6C3CD4}"/>
                  </a:ext>
                </a:extLst>
              </p:cNvPr>
              <p:cNvSpPr>
                <a:spLocks/>
              </p:cNvSpPr>
              <p:nvPr/>
            </p:nvSpPr>
            <p:spPr bwMode="auto">
              <a:xfrm>
                <a:off x="2180" y="2453"/>
                <a:ext cx="13" cy="7"/>
              </a:xfrm>
              <a:custGeom>
                <a:avLst/>
                <a:gdLst>
                  <a:gd name="T0" fmla="*/ 6 w 9"/>
                  <a:gd name="T1" fmla="*/ 2 h 5"/>
                  <a:gd name="T2" fmla="*/ 2 w 9"/>
                  <a:gd name="T3" fmla="*/ 2 h 5"/>
                  <a:gd name="T4" fmla="*/ 1 w 9"/>
                  <a:gd name="T5" fmla="*/ 3 h 5"/>
                  <a:gd name="T6" fmla="*/ 5 w 9"/>
                  <a:gd name="T7" fmla="*/ 5 h 5"/>
                  <a:gd name="T8" fmla="*/ 8 w 9"/>
                  <a:gd name="T9" fmla="*/ 2 h 5"/>
                  <a:gd name="T10" fmla="*/ 6 w 9"/>
                  <a:gd name="T11" fmla="*/ 2 h 5"/>
                </a:gdLst>
                <a:ahLst/>
                <a:cxnLst>
                  <a:cxn ang="0">
                    <a:pos x="T0" y="T1"/>
                  </a:cxn>
                  <a:cxn ang="0">
                    <a:pos x="T2" y="T3"/>
                  </a:cxn>
                  <a:cxn ang="0">
                    <a:pos x="T4" y="T5"/>
                  </a:cxn>
                  <a:cxn ang="0">
                    <a:pos x="T6" y="T7"/>
                  </a:cxn>
                  <a:cxn ang="0">
                    <a:pos x="T8" y="T9"/>
                  </a:cxn>
                  <a:cxn ang="0">
                    <a:pos x="T10" y="T11"/>
                  </a:cxn>
                </a:cxnLst>
                <a:rect l="0" t="0" r="r" b="b"/>
                <a:pathLst>
                  <a:path w="9" h="5">
                    <a:moveTo>
                      <a:pt x="6" y="2"/>
                    </a:moveTo>
                    <a:cubicBezTo>
                      <a:pt x="5" y="3"/>
                      <a:pt x="4" y="3"/>
                      <a:pt x="2" y="2"/>
                    </a:cubicBezTo>
                    <a:cubicBezTo>
                      <a:pt x="0" y="1"/>
                      <a:pt x="1" y="3"/>
                      <a:pt x="1" y="3"/>
                    </a:cubicBezTo>
                    <a:cubicBezTo>
                      <a:pt x="2" y="4"/>
                      <a:pt x="3" y="5"/>
                      <a:pt x="5" y="5"/>
                    </a:cubicBezTo>
                    <a:cubicBezTo>
                      <a:pt x="7" y="4"/>
                      <a:pt x="9" y="3"/>
                      <a:pt x="8" y="2"/>
                    </a:cubicBezTo>
                    <a:cubicBezTo>
                      <a:pt x="8" y="0"/>
                      <a:pt x="6" y="1"/>
                      <a:pt x="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64" name="Freeform 347">
                <a:extLst>
                  <a:ext uri="{FF2B5EF4-FFF2-40B4-BE49-F238E27FC236}">
                    <a16:creationId xmlns:a16="http://schemas.microsoft.com/office/drawing/2014/main" id="{DC9BE6D3-AC53-4C27-B258-2D090A4EAC7F}"/>
                  </a:ext>
                </a:extLst>
              </p:cNvPr>
              <p:cNvSpPr>
                <a:spLocks/>
              </p:cNvSpPr>
              <p:nvPr/>
            </p:nvSpPr>
            <p:spPr bwMode="auto">
              <a:xfrm>
                <a:off x="2158" y="2457"/>
                <a:ext cx="4" cy="3"/>
              </a:xfrm>
              <a:custGeom>
                <a:avLst/>
                <a:gdLst>
                  <a:gd name="T0" fmla="*/ 1 w 3"/>
                  <a:gd name="T1" fmla="*/ 1 h 2"/>
                  <a:gd name="T2" fmla="*/ 2 w 3"/>
                  <a:gd name="T3" fmla="*/ 2 h 2"/>
                  <a:gd name="T4" fmla="*/ 1 w 3"/>
                  <a:gd name="T5" fmla="*/ 1 h 2"/>
                </a:gdLst>
                <a:ahLst/>
                <a:cxnLst>
                  <a:cxn ang="0">
                    <a:pos x="T0" y="T1"/>
                  </a:cxn>
                  <a:cxn ang="0">
                    <a:pos x="T2" y="T3"/>
                  </a:cxn>
                  <a:cxn ang="0">
                    <a:pos x="T4" y="T5"/>
                  </a:cxn>
                </a:cxnLst>
                <a:rect l="0" t="0" r="r" b="b"/>
                <a:pathLst>
                  <a:path w="3" h="2">
                    <a:moveTo>
                      <a:pt x="1" y="1"/>
                    </a:moveTo>
                    <a:cubicBezTo>
                      <a:pt x="0" y="1"/>
                      <a:pt x="1" y="1"/>
                      <a:pt x="2" y="2"/>
                    </a:cubicBezTo>
                    <a:cubicBezTo>
                      <a:pt x="2" y="2"/>
                      <a:pt x="3"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65" name="Freeform 348">
                <a:extLst>
                  <a:ext uri="{FF2B5EF4-FFF2-40B4-BE49-F238E27FC236}">
                    <a16:creationId xmlns:a16="http://schemas.microsoft.com/office/drawing/2014/main" id="{312A9D23-C570-4228-A7DB-0041B6E1385D}"/>
                  </a:ext>
                </a:extLst>
              </p:cNvPr>
              <p:cNvSpPr>
                <a:spLocks/>
              </p:cNvSpPr>
              <p:nvPr/>
            </p:nvSpPr>
            <p:spPr bwMode="auto">
              <a:xfrm>
                <a:off x="2097" y="2431"/>
                <a:ext cx="7" cy="4"/>
              </a:xfrm>
              <a:custGeom>
                <a:avLst/>
                <a:gdLst>
                  <a:gd name="T0" fmla="*/ 2 w 5"/>
                  <a:gd name="T1" fmla="*/ 0 h 3"/>
                  <a:gd name="T2" fmla="*/ 3 w 5"/>
                  <a:gd name="T3" fmla="*/ 3 h 3"/>
                  <a:gd name="T4" fmla="*/ 2 w 5"/>
                  <a:gd name="T5" fmla="*/ 0 h 3"/>
                </a:gdLst>
                <a:ahLst/>
                <a:cxnLst>
                  <a:cxn ang="0">
                    <a:pos x="T0" y="T1"/>
                  </a:cxn>
                  <a:cxn ang="0">
                    <a:pos x="T2" y="T3"/>
                  </a:cxn>
                  <a:cxn ang="0">
                    <a:pos x="T4" y="T5"/>
                  </a:cxn>
                </a:cxnLst>
                <a:rect l="0" t="0" r="r" b="b"/>
                <a:pathLst>
                  <a:path w="5" h="3">
                    <a:moveTo>
                      <a:pt x="2" y="0"/>
                    </a:moveTo>
                    <a:cubicBezTo>
                      <a:pt x="0" y="0"/>
                      <a:pt x="1" y="1"/>
                      <a:pt x="3" y="3"/>
                    </a:cubicBezTo>
                    <a:cubicBezTo>
                      <a:pt x="3" y="3"/>
                      <a:pt x="5" y="1"/>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66" name="Freeform 349">
                <a:extLst>
                  <a:ext uri="{FF2B5EF4-FFF2-40B4-BE49-F238E27FC236}">
                    <a16:creationId xmlns:a16="http://schemas.microsoft.com/office/drawing/2014/main" id="{31BC5B49-476A-450C-997E-77727A539883}"/>
                  </a:ext>
                </a:extLst>
              </p:cNvPr>
              <p:cNvSpPr>
                <a:spLocks/>
              </p:cNvSpPr>
              <p:nvPr/>
            </p:nvSpPr>
            <p:spPr bwMode="auto">
              <a:xfrm>
                <a:off x="2064" y="2421"/>
                <a:ext cx="3" cy="6"/>
              </a:xfrm>
              <a:custGeom>
                <a:avLst/>
                <a:gdLst>
                  <a:gd name="T0" fmla="*/ 0 w 2"/>
                  <a:gd name="T1" fmla="*/ 2 h 4"/>
                  <a:gd name="T2" fmla="*/ 2 w 2"/>
                  <a:gd name="T3" fmla="*/ 4 h 4"/>
                  <a:gd name="T4" fmla="*/ 0 w 2"/>
                  <a:gd name="T5" fmla="*/ 2 h 4"/>
                </a:gdLst>
                <a:ahLst/>
                <a:cxnLst>
                  <a:cxn ang="0">
                    <a:pos x="T0" y="T1"/>
                  </a:cxn>
                  <a:cxn ang="0">
                    <a:pos x="T2" y="T3"/>
                  </a:cxn>
                  <a:cxn ang="0">
                    <a:pos x="T4" y="T5"/>
                  </a:cxn>
                </a:cxnLst>
                <a:rect l="0" t="0" r="r" b="b"/>
                <a:pathLst>
                  <a:path w="2" h="4">
                    <a:moveTo>
                      <a:pt x="0" y="2"/>
                    </a:moveTo>
                    <a:cubicBezTo>
                      <a:pt x="0" y="4"/>
                      <a:pt x="1" y="4"/>
                      <a:pt x="2" y="4"/>
                    </a:cubicBezTo>
                    <a:cubicBezTo>
                      <a:pt x="2" y="4"/>
                      <a:pt x="0"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67" name="Freeform 350">
                <a:extLst>
                  <a:ext uri="{FF2B5EF4-FFF2-40B4-BE49-F238E27FC236}">
                    <a16:creationId xmlns:a16="http://schemas.microsoft.com/office/drawing/2014/main" id="{1091875C-B85B-4446-865E-9D4BF2B18AD4}"/>
                  </a:ext>
                </a:extLst>
              </p:cNvPr>
              <p:cNvSpPr>
                <a:spLocks/>
              </p:cNvSpPr>
              <p:nvPr/>
            </p:nvSpPr>
            <p:spPr bwMode="auto">
              <a:xfrm>
                <a:off x="2241" y="2508"/>
                <a:ext cx="101" cy="149"/>
              </a:xfrm>
              <a:custGeom>
                <a:avLst/>
                <a:gdLst>
                  <a:gd name="T0" fmla="*/ 15 w 73"/>
                  <a:gd name="T1" fmla="*/ 10 h 109"/>
                  <a:gd name="T2" fmla="*/ 12 w 73"/>
                  <a:gd name="T3" fmla="*/ 12 h 109"/>
                  <a:gd name="T4" fmla="*/ 10 w 73"/>
                  <a:gd name="T5" fmla="*/ 16 h 109"/>
                  <a:gd name="T6" fmla="*/ 15 w 73"/>
                  <a:gd name="T7" fmla="*/ 20 h 109"/>
                  <a:gd name="T8" fmla="*/ 14 w 73"/>
                  <a:gd name="T9" fmla="*/ 24 h 109"/>
                  <a:gd name="T10" fmla="*/ 10 w 73"/>
                  <a:gd name="T11" fmla="*/ 26 h 109"/>
                  <a:gd name="T12" fmla="*/ 6 w 73"/>
                  <a:gd name="T13" fmla="*/ 27 h 109"/>
                  <a:gd name="T14" fmla="*/ 4 w 73"/>
                  <a:gd name="T15" fmla="*/ 32 h 109"/>
                  <a:gd name="T16" fmla="*/ 4 w 73"/>
                  <a:gd name="T17" fmla="*/ 35 h 109"/>
                  <a:gd name="T18" fmla="*/ 1 w 73"/>
                  <a:gd name="T19" fmla="*/ 39 h 109"/>
                  <a:gd name="T20" fmla="*/ 10 w 73"/>
                  <a:gd name="T21" fmla="*/ 50 h 109"/>
                  <a:gd name="T22" fmla="*/ 20 w 73"/>
                  <a:gd name="T23" fmla="*/ 51 h 109"/>
                  <a:gd name="T24" fmla="*/ 19 w 73"/>
                  <a:gd name="T25" fmla="*/ 60 h 109"/>
                  <a:gd name="T26" fmla="*/ 21 w 73"/>
                  <a:gd name="T27" fmla="*/ 60 h 109"/>
                  <a:gd name="T28" fmla="*/ 25 w 73"/>
                  <a:gd name="T29" fmla="*/ 62 h 109"/>
                  <a:gd name="T30" fmla="*/ 27 w 73"/>
                  <a:gd name="T31" fmla="*/ 68 h 109"/>
                  <a:gd name="T32" fmla="*/ 25 w 73"/>
                  <a:gd name="T33" fmla="*/ 72 h 109"/>
                  <a:gd name="T34" fmla="*/ 23 w 73"/>
                  <a:gd name="T35" fmla="*/ 93 h 109"/>
                  <a:gd name="T36" fmla="*/ 25 w 73"/>
                  <a:gd name="T37" fmla="*/ 99 h 109"/>
                  <a:gd name="T38" fmla="*/ 31 w 73"/>
                  <a:gd name="T39" fmla="*/ 105 h 109"/>
                  <a:gd name="T40" fmla="*/ 36 w 73"/>
                  <a:gd name="T41" fmla="*/ 108 h 109"/>
                  <a:gd name="T42" fmla="*/ 43 w 73"/>
                  <a:gd name="T43" fmla="*/ 108 h 109"/>
                  <a:gd name="T44" fmla="*/ 43 w 73"/>
                  <a:gd name="T45" fmla="*/ 105 h 109"/>
                  <a:gd name="T46" fmla="*/ 59 w 73"/>
                  <a:gd name="T47" fmla="*/ 100 h 109"/>
                  <a:gd name="T48" fmla="*/ 64 w 73"/>
                  <a:gd name="T49" fmla="*/ 97 h 109"/>
                  <a:gd name="T50" fmla="*/ 73 w 73"/>
                  <a:gd name="T51" fmla="*/ 98 h 109"/>
                  <a:gd name="T52" fmla="*/ 67 w 73"/>
                  <a:gd name="T53" fmla="*/ 93 h 109"/>
                  <a:gd name="T54" fmla="*/ 63 w 73"/>
                  <a:gd name="T55" fmla="*/ 85 h 109"/>
                  <a:gd name="T56" fmla="*/ 61 w 73"/>
                  <a:gd name="T57" fmla="*/ 78 h 109"/>
                  <a:gd name="T58" fmla="*/ 55 w 73"/>
                  <a:gd name="T59" fmla="*/ 76 h 109"/>
                  <a:gd name="T60" fmla="*/ 50 w 73"/>
                  <a:gd name="T61" fmla="*/ 64 h 109"/>
                  <a:gd name="T62" fmla="*/ 53 w 73"/>
                  <a:gd name="T63" fmla="*/ 56 h 109"/>
                  <a:gd name="T64" fmla="*/ 61 w 73"/>
                  <a:gd name="T65" fmla="*/ 51 h 109"/>
                  <a:gd name="T66" fmla="*/ 62 w 73"/>
                  <a:gd name="T67" fmla="*/ 45 h 109"/>
                  <a:gd name="T68" fmla="*/ 62 w 73"/>
                  <a:gd name="T69" fmla="*/ 37 h 109"/>
                  <a:gd name="T70" fmla="*/ 55 w 73"/>
                  <a:gd name="T71" fmla="*/ 30 h 109"/>
                  <a:gd name="T72" fmla="*/ 43 w 73"/>
                  <a:gd name="T73" fmla="*/ 26 h 109"/>
                  <a:gd name="T74" fmla="*/ 41 w 73"/>
                  <a:gd name="T75" fmla="*/ 14 h 109"/>
                  <a:gd name="T76" fmla="*/ 22 w 73"/>
                  <a:gd name="T77" fmla="*/ 1 h 109"/>
                  <a:gd name="T78" fmla="*/ 23 w 73"/>
                  <a:gd name="T79" fmla="*/ 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3" h="109">
                    <a:moveTo>
                      <a:pt x="18" y="9"/>
                    </a:moveTo>
                    <a:cubicBezTo>
                      <a:pt x="17" y="9"/>
                      <a:pt x="16" y="10"/>
                      <a:pt x="15" y="10"/>
                    </a:cubicBezTo>
                    <a:cubicBezTo>
                      <a:pt x="15" y="10"/>
                      <a:pt x="14" y="11"/>
                      <a:pt x="14" y="11"/>
                    </a:cubicBezTo>
                    <a:cubicBezTo>
                      <a:pt x="13" y="10"/>
                      <a:pt x="12" y="11"/>
                      <a:pt x="12" y="12"/>
                    </a:cubicBezTo>
                    <a:cubicBezTo>
                      <a:pt x="12" y="13"/>
                      <a:pt x="11" y="13"/>
                      <a:pt x="11" y="14"/>
                    </a:cubicBezTo>
                    <a:cubicBezTo>
                      <a:pt x="10" y="14"/>
                      <a:pt x="10" y="15"/>
                      <a:pt x="10" y="16"/>
                    </a:cubicBezTo>
                    <a:cubicBezTo>
                      <a:pt x="11" y="16"/>
                      <a:pt x="11" y="18"/>
                      <a:pt x="12" y="19"/>
                    </a:cubicBezTo>
                    <a:cubicBezTo>
                      <a:pt x="12" y="20"/>
                      <a:pt x="15" y="20"/>
                      <a:pt x="15" y="20"/>
                    </a:cubicBezTo>
                    <a:cubicBezTo>
                      <a:pt x="15" y="20"/>
                      <a:pt x="16" y="21"/>
                      <a:pt x="16" y="22"/>
                    </a:cubicBezTo>
                    <a:cubicBezTo>
                      <a:pt x="16" y="23"/>
                      <a:pt x="15" y="24"/>
                      <a:pt x="14" y="24"/>
                    </a:cubicBezTo>
                    <a:cubicBezTo>
                      <a:pt x="13" y="25"/>
                      <a:pt x="12" y="25"/>
                      <a:pt x="11" y="26"/>
                    </a:cubicBezTo>
                    <a:cubicBezTo>
                      <a:pt x="11" y="26"/>
                      <a:pt x="10" y="26"/>
                      <a:pt x="10" y="26"/>
                    </a:cubicBezTo>
                    <a:cubicBezTo>
                      <a:pt x="9" y="26"/>
                      <a:pt x="9" y="26"/>
                      <a:pt x="8" y="26"/>
                    </a:cubicBezTo>
                    <a:cubicBezTo>
                      <a:pt x="7" y="25"/>
                      <a:pt x="7" y="26"/>
                      <a:pt x="6" y="27"/>
                    </a:cubicBezTo>
                    <a:cubicBezTo>
                      <a:pt x="6" y="27"/>
                      <a:pt x="5" y="27"/>
                      <a:pt x="4" y="27"/>
                    </a:cubicBezTo>
                    <a:cubicBezTo>
                      <a:pt x="3" y="27"/>
                      <a:pt x="4" y="31"/>
                      <a:pt x="4" y="32"/>
                    </a:cubicBezTo>
                    <a:cubicBezTo>
                      <a:pt x="4" y="32"/>
                      <a:pt x="4" y="33"/>
                      <a:pt x="4" y="33"/>
                    </a:cubicBezTo>
                    <a:cubicBezTo>
                      <a:pt x="4" y="34"/>
                      <a:pt x="4" y="34"/>
                      <a:pt x="4" y="35"/>
                    </a:cubicBezTo>
                    <a:cubicBezTo>
                      <a:pt x="3" y="36"/>
                      <a:pt x="2" y="37"/>
                      <a:pt x="1" y="38"/>
                    </a:cubicBezTo>
                    <a:cubicBezTo>
                      <a:pt x="0" y="39"/>
                      <a:pt x="1" y="39"/>
                      <a:pt x="1" y="39"/>
                    </a:cubicBezTo>
                    <a:cubicBezTo>
                      <a:pt x="1" y="39"/>
                      <a:pt x="8" y="48"/>
                      <a:pt x="9" y="49"/>
                    </a:cubicBezTo>
                    <a:cubicBezTo>
                      <a:pt x="9" y="49"/>
                      <a:pt x="10" y="50"/>
                      <a:pt x="10" y="50"/>
                    </a:cubicBezTo>
                    <a:cubicBezTo>
                      <a:pt x="11" y="50"/>
                      <a:pt x="12" y="49"/>
                      <a:pt x="13" y="49"/>
                    </a:cubicBezTo>
                    <a:cubicBezTo>
                      <a:pt x="14" y="49"/>
                      <a:pt x="18" y="49"/>
                      <a:pt x="20" y="51"/>
                    </a:cubicBezTo>
                    <a:cubicBezTo>
                      <a:pt x="22" y="53"/>
                      <a:pt x="20" y="56"/>
                      <a:pt x="20" y="57"/>
                    </a:cubicBezTo>
                    <a:cubicBezTo>
                      <a:pt x="19" y="59"/>
                      <a:pt x="18" y="60"/>
                      <a:pt x="19" y="60"/>
                    </a:cubicBezTo>
                    <a:cubicBezTo>
                      <a:pt x="19" y="60"/>
                      <a:pt x="19" y="60"/>
                      <a:pt x="20" y="60"/>
                    </a:cubicBezTo>
                    <a:cubicBezTo>
                      <a:pt x="20" y="60"/>
                      <a:pt x="20" y="60"/>
                      <a:pt x="21" y="60"/>
                    </a:cubicBezTo>
                    <a:cubicBezTo>
                      <a:pt x="21" y="60"/>
                      <a:pt x="22" y="60"/>
                      <a:pt x="23" y="60"/>
                    </a:cubicBezTo>
                    <a:cubicBezTo>
                      <a:pt x="23" y="61"/>
                      <a:pt x="26" y="62"/>
                      <a:pt x="25" y="62"/>
                    </a:cubicBezTo>
                    <a:cubicBezTo>
                      <a:pt x="25" y="63"/>
                      <a:pt x="25" y="64"/>
                      <a:pt x="26" y="66"/>
                    </a:cubicBezTo>
                    <a:cubicBezTo>
                      <a:pt x="27" y="67"/>
                      <a:pt x="27" y="68"/>
                      <a:pt x="27" y="68"/>
                    </a:cubicBezTo>
                    <a:cubicBezTo>
                      <a:pt x="28" y="68"/>
                      <a:pt x="27" y="69"/>
                      <a:pt x="27" y="69"/>
                    </a:cubicBezTo>
                    <a:cubicBezTo>
                      <a:pt x="27" y="70"/>
                      <a:pt x="26" y="72"/>
                      <a:pt x="25" y="72"/>
                    </a:cubicBezTo>
                    <a:cubicBezTo>
                      <a:pt x="25" y="73"/>
                      <a:pt x="24" y="75"/>
                      <a:pt x="23" y="77"/>
                    </a:cubicBezTo>
                    <a:cubicBezTo>
                      <a:pt x="22" y="79"/>
                      <a:pt x="19" y="88"/>
                      <a:pt x="23" y="93"/>
                    </a:cubicBezTo>
                    <a:cubicBezTo>
                      <a:pt x="23" y="93"/>
                      <a:pt x="24" y="93"/>
                      <a:pt x="24" y="93"/>
                    </a:cubicBezTo>
                    <a:cubicBezTo>
                      <a:pt x="24" y="94"/>
                      <a:pt x="25" y="99"/>
                      <a:pt x="25" y="99"/>
                    </a:cubicBezTo>
                    <a:cubicBezTo>
                      <a:pt x="26" y="100"/>
                      <a:pt x="26" y="100"/>
                      <a:pt x="26" y="100"/>
                    </a:cubicBezTo>
                    <a:cubicBezTo>
                      <a:pt x="27" y="101"/>
                      <a:pt x="30" y="105"/>
                      <a:pt x="31" y="105"/>
                    </a:cubicBezTo>
                    <a:cubicBezTo>
                      <a:pt x="31" y="106"/>
                      <a:pt x="33" y="107"/>
                      <a:pt x="34" y="107"/>
                    </a:cubicBezTo>
                    <a:cubicBezTo>
                      <a:pt x="34" y="107"/>
                      <a:pt x="36" y="107"/>
                      <a:pt x="36" y="108"/>
                    </a:cubicBezTo>
                    <a:cubicBezTo>
                      <a:pt x="37" y="108"/>
                      <a:pt x="38" y="109"/>
                      <a:pt x="40" y="109"/>
                    </a:cubicBezTo>
                    <a:cubicBezTo>
                      <a:pt x="41" y="109"/>
                      <a:pt x="43" y="108"/>
                      <a:pt x="43" y="108"/>
                    </a:cubicBezTo>
                    <a:cubicBezTo>
                      <a:pt x="43" y="108"/>
                      <a:pt x="44" y="107"/>
                      <a:pt x="43" y="106"/>
                    </a:cubicBezTo>
                    <a:cubicBezTo>
                      <a:pt x="43" y="106"/>
                      <a:pt x="43" y="105"/>
                      <a:pt x="43" y="105"/>
                    </a:cubicBezTo>
                    <a:cubicBezTo>
                      <a:pt x="44" y="105"/>
                      <a:pt x="55" y="103"/>
                      <a:pt x="55" y="103"/>
                    </a:cubicBezTo>
                    <a:cubicBezTo>
                      <a:pt x="55" y="103"/>
                      <a:pt x="57" y="102"/>
                      <a:pt x="59" y="100"/>
                    </a:cubicBezTo>
                    <a:cubicBezTo>
                      <a:pt x="60" y="98"/>
                      <a:pt x="62" y="97"/>
                      <a:pt x="63" y="97"/>
                    </a:cubicBezTo>
                    <a:cubicBezTo>
                      <a:pt x="64" y="97"/>
                      <a:pt x="64" y="97"/>
                      <a:pt x="64" y="97"/>
                    </a:cubicBezTo>
                    <a:cubicBezTo>
                      <a:pt x="64" y="98"/>
                      <a:pt x="64" y="98"/>
                      <a:pt x="66" y="98"/>
                    </a:cubicBezTo>
                    <a:cubicBezTo>
                      <a:pt x="67" y="99"/>
                      <a:pt x="71" y="98"/>
                      <a:pt x="73" y="98"/>
                    </a:cubicBezTo>
                    <a:cubicBezTo>
                      <a:pt x="72" y="98"/>
                      <a:pt x="72" y="98"/>
                      <a:pt x="71" y="97"/>
                    </a:cubicBezTo>
                    <a:cubicBezTo>
                      <a:pt x="69" y="97"/>
                      <a:pt x="68" y="94"/>
                      <a:pt x="67" y="93"/>
                    </a:cubicBezTo>
                    <a:cubicBezTo>
                      <a:pt x="67" y="92"/>
                      <a:pt x="65" y="90"/>
                      <a:pt x="64" y="89"/>
                    </a:cubicBezTo>
                    <a:cubicBezTo>
                      <a:pt x="64" y="88"/>
                      <a:pt x="63" y="85"/>
                      <a:pt x="63" y="85"/>
                    </a:cubicBezTo>
                    <a:cubicBezTo>
                      <a:pt x="62" y="84"/>
                      <a:pt x="62" y="82"/>
                      <a:pt x="61" y="81"/>
                    </a:cubicBezTo>
                    <a:cubicBezTo>
                      <a:pt x="61" y="80"/>
                      <a:pt x="61" y="79"/>
                      <a:pt x="61" y="78"/>
                    </a:cubicBezTo>
                    <a:cubicBezTo>
                      <a:pt x="61" y="77"/>
                      <a:pt x="59" y="77"/>
                      <a:pt x="58" y="77"/>
                    </a:cubicBezTo>
                    <a:cubicBezTo>
                      <a:pt x="57" y="77"/>
                      <a:pt x="55" y="77"/>
                      <a:pt x="55" y="76"/>
                    </a:cubicBezTo>
                    <a:cubicBezTo>
                      <a:pt x="54" y="75"/>
                      <a:pt x="50" y="68"/>
                      <a:pt x="50" y="67"/>
                    </a:cubicBezTo>
                    <a:cubicBezTo>
                      <a:pt x="49" y="65"/>
                      <a:pt x="50" y="65"/>
                      <a:pt x="50" y="64"/>
                    </a:cubicBezTo>
                    <a:cubicBezTo>
                      <a:pt x="51" y="63"/>
                      <a:pt x="51" y="62"/>
                      <a:pt x="52" y="61"/>
                    </a:cubicBezTo>
                    <a:cubicBezTo>
                      <a:pt x="52" y="60"/>
                      <a:pt x="52" y="59"/>
                      <a:pt x="53" y="56"/>
                    </a:cubicBezTo>
                    <a:cubicBezTo>
                      <a:pt x="53" y="52"/>
                      <a:pt x="57" y="53"/>
                      <a:pt x="59" y="53"/>
                    </a:cubicBezTo>
                    <a:cubicBezTo>
                      <a:pt x="61" y="53"/>
                      <a:pt x="61" y="51"/>
                      <a:pt x="61" y="51"/>
                    </a:cubicBezTo>
                    <a:cubicBezTo>
                      <a:pt x="62" y="50"/>
                      <a:pt x="62" y="49"/>
                      <a:pt x="62" y="47"/>
                    </a:cubicBezTo>
                    <a:cubicBezTo>
                      <a:pt x="61" y="45"/>
                      <a:pt x="62" y="45"/>
                      <a:pt x="62" y="45"/>
                    </a:cubicBezTo>
                    <a:cubicBezTo>
                      <a:pt x="62" y="44"/>
                      <a:pt x="63" y="43"/>
                      <a:pt x="63" y="42"/>
                    </a:cubicBezTo>
                    <a:cubicBezTo>
                      <a:pt x="63" y="41"/>
                      <a:pt x="63" y="40"/>
                      <a:pt x="62" y="37"/>
                    </a:cubicBezTo>
                    <a:cubicBezTo>
                      <a:pt x="61" y="34"/>
                      <a:pt x="62" y="35"/>
                      <a:pt x="59" y="34"/>
                    </a:cubicBezTo>
                    <a:cubicBezTo>
                      <a:pt x="57" y="34"/>
                      <a:pt x="58" y="32"/>
                      <a:pt x="55" y="30"/>
                    </a:cubicBezTo>
                    <a:cubicBezTo>
                      <a:pt x="53" y="29"/>
                      <a:pt x="51" y="27"/>
                      <a:pt x="49" y="26"/>
                    </a:cubicBezTo>
                    <a:cubicBezTo>
                      <a:pt x="46" y="26"/>
                      <a:pt x="45" y="23"/>
                      <a:pt x="43" y="26"/>
                    </a:cubicBezTo>
                    <a:cubicBezTo>
                      <a:pt x="41" y="29"/>
                      <a:pt x="42" y="28"/>
                      <a:pt x="44" y="23"/>
                    </a:cubicBezTo>
                    <a:cubicBezTo>
                      <a:pt x="44" y="23"/>
                      <a:pt x="45" y="17"/>
                      <a:pt x="41" y="14"/>
                    </a:cubicBezTo>
                    <a:cubicBezTo>
                      <a:pt x="37" y="11"/>
                      <a:pt x="34" y="7"/>
                      <a:pt x="31" y="7"/>
                    </a:cubicBezTo>
                    <a:cubicBezTo>
                      <a:pt x="28" y="6"/>
                      <a:pt x="25" y="3"/>
                      <a:pt x="22" y="1"/>
                    </a:cubicBezTo>
                    <a:cubicBezTo>
                      <a:pt x="22" y="1"/>
                      <a:pt x="22" y="0"/>
                      <a:pt x="21" y="0"/>
                    </a:cubicBezTo>
                    <a:cubicBezTo>
                      <a:pt x="22" y="1"/>
                      <a:pt x="23" y="2"/>
                      <a:pt x="23" y="3"/>
                    </a:cubicBezTo>
                    <a:cubicBezTo>
                      <a:pt x="24" y="5"/>
                      <a:pt x="18" y="8"/>
                      <a:pt x="18"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68" name="Freeform 351">
                <a:extLst>
                  <a:ext uri="{FF2B5EF4-FFF2-40B4-BE49-F238E27FC236}">
                    <a16:creationId xmlns:a16="http://schemas.microsoft.com/office/drawing/2014/main" id="{308C8AFA-A02F-4762-8301-DD7D4704AA97}"/>
                  </a:ext>
                </a:extLst>
              </p:cNvPr>
              <p:cNvSpPr>
                <a:spLocks/>
              </p:cNvSpPr>
              <p:nvPr/>
            </p:nvSpPr>
            <p:spPr bwMode="auto">
              <a:xfrm>
                <a:off x="2309" y="2560"/>
                <a:ext cx="85" cy="85"/>
              </a:xfrm>
              <a:custGeom>
                <a:avLst/>
                <a:gdLst>
                  <a:gd name="T0" fmla="*/ 13 w 61"/>
                  <a:gd name="T1" fmla="*/ 9 h 62"/>
                  <a:gd name="T2" fmla="*/ 12 w 61"/>
                  <a:gd name="T3" fmla="*/ 13 h 62"/>
                  <a:gd name="T4" fmla="*/ 10 w 61"/>
                  <a:gd name="T5" fmla="*/ 15 h 62"/>
                  <a:gd name="T6" fmla="*/ 4 w 61"/>
                  <a:gd name="T7" fmla="*/ 18 h 62"/>
                  <a:gd name="T8" fmla="*/ 3 w 61"/>
                  <a:gd name="T9" fmla="*/ 23 h 62"/>
                  <a:gd name="T10" fmla="*/ 1 w 61"/>
                  <a:gd name="T11" fmla="*/ 26 h 62"/>
                  <a:gd name="T12" fmla="*/ 1 w 61"/>
                  <a:gd name="T13" fmla="*/ 29 h 62"/>
                  <a:gd name="T14" fmla="*/ 6 w 61"/>
                  <a:gd name="T15" fmla="*/ 38 h 62"/>
                  <a:gd name="T16" fmla="*/ 9 w 61"/>
                  <a:gd name="T17" fmla="*/ 39 h 62"/>
                  <a:gd name="T18" fmla="*/ 12 w 61"/>
                  <a:gd name="T19" fmla="*/ 40 h 62"/>
                  <a:gd name="T20" fmla="*/ 12 w 61"/>
                  <a:gd name="T21" fmla="*/ 43 h 62"/>
                  <a:gd name="T22" fmla="*/ 14 w 61"/>
                  <a:gd name="T23" fmla="*/ 47 h 62"/>
                  <a:gd name="T24" fmla="*/ 15 w 61"/>
                  <a:gd name="T25" fmla="*/ 51 h 62"/>
                  <a:gd name="T26" fmla="*/ 18 w 61"/>
                  <a:gd name="T27" fmla="*/ 55 h 62"/>
                  <a:gd name="T28" fmla="*/ 22 w 61"/>
                  <a:gd name="T29" fmla="*/ 59 h 62"/>
                  <a:gd name="T30" fmla="*/ 24 w 61"/>
                  <a:gd name="T31" fmla="*/ 60 h 62"/>
                  <a:gd name="T32" fmla="*/ 25 w 61"/>
                  <a:gd name="T33" fmla="*/ 60 h 62"/>
                  <a:gd name="T34" fmla="*/ 31 w 61"/>
                  <a:gd name="T35" fmla="*/ 61 h 62"/>
                  <a:gd name="T36" fmla="*/ 32 w 61"/>
                  <a:gd name="T37" fmla="*/ 60 h 62"/>
                  <a:gd name="T38" fmla="*/ 31 w 61"/>
                  <a:gd name="T39" fmla="*/ 57 h 62"/>
                  <a:gd name="T40" fmla="*/ 30 w 61"/>
                  <a:gd name="T41" fmla="*/ 54 h 62"/>
                  <a:gd name="T42" fmla="*/ 32 w 61"/>
                  <a:gd name="T43" fmla="*/ 52 h 62"/>
                  <a:gd name="T44" fmla="*/ 34 w 61"/>
                  <a:gd name="T45" fmla="*/ 52 h 62"/>
                  <a:gd name="T46" fmla="*/ 40 w 61"/>
                  <a:gd name="T47" fmla="*/ 53 h 62"/>
                  <a:gd name="T48" fmla="*/ 45 w 61"/>
                  <a:gd name="T49" fmla="*/ 51 h 62"/>
                  <a:gd name="T50" fmla="*/ 47 w 61"/>
                  <a:gd name="T51" fmla="*/ 50 h 62"/>
                  <a:gd name="T52" fmla="*/ 47 w 61"/>
                  <a:gd name="T53" fmla="*/ 51 h 62"/>
                  <a:gd name="T54" fmla="*/ 51 w 61"/>
                  <a:gd name="T55" fmla="*/ 54 h 62"/>
                  <a:gd name="T56" fmla="*/ 52 w 61"/>
                  <a:gd name="T57" fmla="*/ 54 h 62"/>
                  <a:gd name="T58" fmla="*/ 57 w 61"/>
                  <a:gd name="T59" fmla="*/ 48 h 62"/>
                  <a:gd name="T60" fmla="*/ 59 w 61"/>
                  <a:gd name="T61" fmla="*/ 41 h 62"/>
                  <a:gd name="T62" fmla="*/ 60 w 61"/>
                  <a:gd name="T63" fmla="*/ 37 h 62"/>
                  <a:gd name="T64" fmla="*/ 60 w 61"/>
                  <a:gd name="T65" fmla="*/ 35 h 62"/>
                  <a:gd name="T66" fmla="*/ 59 w 61"/>
                  <a:gd name="T67" fmla="*/ 33 h 62"/>
                  <a:gd name="T68" fmla="*/ 55 w 61"/>
                  <a:gd name="T69" fmla="*/ 23 h 62"/>
                  <a:gd name="T70" fmla="*/ 54 w 61"/>
                  <a:gd name="T71" fmla="*/ 15 h 62"/>
                  <a:gd name="T72" fmla="*/ 57 w 61"/>
                  <a:gd name="T73" fmla="*/ 10 h 62"/>
                  <a:gd name="T74" fmla="*/ 59 w 61"/>
                  <a:gd name="T75" fmla="*/ 9 h 62"/>
                  <a:gd name="T76" fmla="*/ 59 w 61"/>
                  <a:gd name="T77" fmla="*/ 8 h 62"/>
                  <a:gd name="T78" fmla="*/ 60 w 61"/>
                  <a:gd name="T79" fmla="*/ 4 h 62"/>
                  <a:gd name="T80" fmla="*/ 58 w 61"/>
                  <a:gd name="T81" fmla="*/ 2 h 62"/>
                  <a:gd name="T82" fmla="*/ 46 w 61"/>
                  <a:gd name="T83" fmla="*/ 0 h 62"/>
                  <a:gd name="T84" fmla="*/ 44 w 61"/>
                  <a:gd name="T85" fmla="*/ 1 h 62"/>
                  <a:gd name="T86" fmla="*/ 42 w 61"/>
                  <a:gd name="T87" fmla="*/ 1 h 62"/>
                  <a:gd name="T88" fmla="*/ 35 w 61"/>
                  <a:gd name="T89" fmla="*/ 1 h 62"/>
                  <a:gd name="T90" fmla="*/ 33 w 61"/>
                  <a:gd name="T91" fmla="*/ 2 h 62"/>
                  <a:gd name="T92" fmla="*/ 31 w 61"/>
                  <a:gd name="T93" fmla="*/ 4 h 62"/>
                  <a:gd name="T94" fmla="*/ 18 w 61"/>
                  <a:gd name="T95" fmla="*/ 0 h 62"/>
                  <a:gd name="T96" fmla="*/ 14 w 61"/>
                  <a:gd name="T97" fmla="*/ 3 h 62"/>
                  <a:gd name="T98" fmla="*/ 14 w 61"/>
                  <a:gd name="T99" fmla="*/ 4 h 62"/>
                  <a:gd name="T100" fmla="*/ 13 w 61"/>
                  <a:gd name="T101" fmla="*/ 7 h 62"/>
                  <a:gd name="T102" fmla="*/ 13 w 61"/>
                  <a:gd name="T103" fmla="*/ 9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1" h="62">
                    <a:moveTo>
                      <a:pt x="13" y="9"/>
                    </a:moveTo>
                    <a:cubicBezTo>
                      <a:pt x="13" y="11"/>
                      <a:pt x="13" y="12"/>
                      <a:pt x="12" y="13"/>
                    </a:cubicBezTo>
                    <a:cubicBezTo>
                      <a:pt x="12" y="13"/>
                      <a:pt x="12" y="15"/>
                      <a:pt x="10" y="15"/>
                    </a:cubicBezTo>
                    <a:cubicBezTo>
                      <a:pt x="8" y="15"/>
                      <a:pt x="4" y="14"/>
                      <a:pt x="4" y="18"/>
                    </a:cubicBezTo>
                    <a:cubicBezTo>
                      <a:pt x="3" y="21"/>
                      <a:pt x="3" y="22"/>
                      <a:pt x="3" y="23"/>
                    </a:cubicBezTo>
                    <a:cubicBezTo>
                      <a:pt x="2" y="24"/>
                      <a:pt x="2" y="25"/>
                      <a:pt x="1" y="26"/>
                    </a:cubicBezTo>
                    <a:cubicBezTo>
                      <a:pt x="1" y="27"/>
                      <a:pt x="0" y="27"/>
                      <a:pt x="1" y="29"/>
                    </a:cubicBezTo>
                    <a:cubicBezTo>
                      <a:pt x="1" y="30"/>
                      <a:pt x="5" y="37"/>
                      <a:pt x="6" y="38"/>
                    </a:cubicBezTo>
                    <a:cubicBezTo>
                      <a:pt x="6" y="39"/>
                      <a:pt x="8" y="39"/>
                      <a:pt x="9" y="39"/>
                    </a:cubicBezTo>
                    <a:cubicBezTo>
                      <a:pt x="10" y="39"/>
                      <a:pt x="12" y="39"/>
                      <a:pt x="12" y="40"/>
                    </a:cubicBezTo>
                    <a:cubicBezTo>
                      <a:pt x="12" y="41"/>
                      <a:pt x="12" y="42"/>
                      <a:pt x="12" y="43"/>
                    </a:cubicBezTo>
                    <a:cubicBezTo>
                      <a:pt x="13" y="44"/>
                      <a:pt x="13" y="46"/>
                      <a:pt x="14" y="47"/>
                    </a:cubicBezTo>
                    <a:cubicBezTo>
                      <a:pt x="14" y="47"/>
                      <a:pt x="15" y="50"/>
                      <a:pt x="15" y="51"/>
                    </a:cubicBezTo>
                    <a:cubicBezTo>
                      <a:pt x="16" y="52"/>
                      <a:pt x="18" y="54"/>
                      <a:pt x="18" y="55"/>
                    </a:cubicBezTo>
                    <a:cubicBezTo>
                      <a:pt x="19" y="56"/>
                      <a:pt x="20" y="59"/>
                      <a:pt x="22" y="59"/>
                    </a:cubicBezTo>
                    <a:cubicBezTo>
                      <a:pt x="23" y="60"/>
                      <a:pt x="23" y="60"/>
                      <a:pt x="24" y="60"/>
                    </a:cubicBezTo>
                    <a:cubicBezTo>
                      <a:pt x="24" y="60"/>
                      <a:pt x="25" y="60"/>
                      <a:pt x="25" y="60"/>
                    </a:cubicBezTo>
                    <a:cubicBezTo>
                      <a:pt x="26" y="60"/>
                      <a:pt x="30" y="62"/>
                      <a:pt x="31" y="61"/>
                    </a:cubicBezTo>
                    <a:cubicBezTo>
                      <a:pt x="32" y="61"/>
                      <a:pt x="33" y="61"/>
                      <a:pt x="32" y="60"/>
                    </a:cubicBezTo>
                    <a:cubicBezTo>
                      <a:pt x="32" y="58"/>
                      <a:pt x="32" y="58"/>
                      <a:pt x="31" y="57"/>
                    </a:cubicBezTo>
                    <a:cubicBezTo>
                      <a:pt x="30" y="56"/>
                      <a:pt x="30" y="55"/>
                      <a:pt x="30" y="54"/>
                    </a:cubicBezTo>
                    <a:cubicBezTo>
                      <a:pt x="31" y="53"/>
                      <a:pt x="31" y="51"/>
                      <a:pt x="32" y="52"/>
                    </a:cubicBezTo>
                    <a:cubicBezTo>
                      <a:pt x="33" y="52"/>
                      <a:pt x="33" y="52"/>
                      <a:pt x="34" y="52"/>
                    </a:cubicBezTo>
                    <a:cubicBezTo>
                      <a:pt x="35" y="52"/>
                      <a:pt x="39" y="54"/>
                      <a:pt x="40" y="53"/>
                    </a:cubicBezTo>
                    <a:cubicBezTo>
                      <a:pt x="41" y="52"/>
                      <a:pt x="44" y="51"/>
                      <a:pt x="45" y="51"/>
                    </a:cubicBezTo>
                    <a:cubicBezTo>
                      <a:pt x="46" y="50"/>
                      <a:pt x="47" y="50"/>
                      <a:pt x="47" y="50"/>
                    </a:cubicBezTo>
                    <a:cubicBezTo>
                      <a:pt x="46" y="51"/>
                      <a:pt x="47" y="51"/>
                      <a:pt x="47" y="51"/>
                    </a:cubicBezTo>
                    <a:cubicBezTo>
                      <a:pt x="48" y="52"/>
                      <a:pt x="51" y="53"/>
                      <a:pt x="51" y="54"/>
                    </a:cubicBezTo>
                    <a:cubicBezTo>
                      <a:pt x="51" y="54"/>
                      <a:pt x="52" y="54"/>
                      <a:pt x="52" y="54"/>
                    </a:cubicBezTo>
                    <a:cubicBezTo>
                      <a:pt x="53" y="53"/>
                      <a:pt x="56" y="50"/>
                      <a:pt x="57" y="48"/>
                    </a:cubicBezTo>
                    <a:cubicBezTo>
                      <a:pt x="59" y="46"/>
                      <a:pt x="59" y="42"/>
                      <a:pt x="59" y="41"/>
                    </a:cubicBezTo>
                    <a:cubicBezTo>
                      <a:pt x="59" y="40"/>
                      <a:pt x="60" y="38"/>
                      <a:pt x="60" y="37"/>
                    </a:cubicBezTo>
                    <a:cubicBezTo>
                      <a:pt x="61" y="36"/>
                      <a:pt x="61" y="35"/>
                      <a:pt x="60" y="35"/>
                    </a:cubicBezTo>
                    <a:cubicBezTo>
                      <a:pt x="60" y="35"/>
                      <a:pt x="59" y="34"/>
                      <a:pt x="59" y="33"/>
                    </a:cubicBezTo>
                    <a:cubicBezTo>
                      <a:pt x="58" y="32"/>
                      <a:pt x="56" y="25"/>
                      <a:pt x="55" y="23"/>
                    </a:cubicBezTo>
                    <a:cubicBezTo>
                      <a:pt x="54" y="20"/>
                      <a:pt x="54" y="17"/>
                      <a:pt x="54" y="15"/>
                    </a:cubicBezTo>
                    <a:cubicBezTo>
                      <a:pt x="55" y="13"/>
                      <a:pt x="57" y="10"/>
                      <a:pt x="57" y="10"/>
                    </a:cubicBezTo>
                    <a:cubicBezTo>
                      <a:pt x="58" y="9"/>
                      <a:pt x="59" y="9"/>
                      <a:pt x="59" y="9"/>
                    </a:cubicBezTo>
                    <a:cubicBezTo>
                      <a:pt x="59" y="8"/>
                      <a:pt x="59" y="8"/>
                      <a:pt x="59" y="8"/>
                    </a:cubicBezTo>
                    <a:cubicBezTo>
                      <a:pt x="59" y="8"/>
                      <a:pt x="59" y="7"/>
                      <a:pt x="60" y="4"/>
                    </a:cubicBezTo>
                    <a:cubicBezTo>
                      <a:pt x="60" y="4"/>
                      <a:pt x="61" y="3"/>
                      <a:pt x="58" y="2"/>
                    </a:cubicBezTo>
                    <a:cubicBezTo>
                      <a:pt x="55" y="1"/>
                      <a:pt x="47" y="0"/>
                      <a:pt x="46" y="0"/>
                    </a:cubicBezTo>
                    <a:cubicBezTo>
                      <a:pt x="44" y="0"/>
                      <a:pt x="43" y="0"/>
                      <a:pt x="44" y="1"/>
                    </a:cubicBezTo>
                    <a:cubicBezTo>
                      <a:pt x="44" y="3"/>
                      <a:pt x="44" y="2"/>
                      <a:pt x="42" y="1"/>
                    </a:cubicBezTo>
                    <a:cubicBezTo>
                      <a:pt x="40" y="0"/>
                      <a:pt x="37" y="1"/>
                      <a:pt x="35" y="1"/>
                    </a:cubicBezTo>
                    <a:cubicBezTo>
                      <a:pt x="33" y="1"/>
                      <a:pt x="32" y="1"/>
                      <a:pt x="33" y="2"/>
                    </a:cubicBezTo>
                    <a:cubicBezTo>
                      <a:pt x="33" y="2"/>
                      <a:pt x="33" y="5"/>
                      <a:pt x="31" y="4"/>
                    </a:cubicBezTo>
                    <a:cubicBezTo>
                      <a:pt x="29" y="3"/>
                      <a:pt x="19" y="0"/>
                      <a:pt x="18" y="0"/>
                    </a:cubicBezTo>
                    <a:cubicBezTo>
                      <a:pt x="17" y="1"/>
                      <a:pt x="15" y="1"/>
                      <a:pt x="14" y="3"/>
                    </a:cubicBezTo>
                    <a:cubicBezTo>
                      <a:pt x="14" y="3"/>
                      <a:pt x="14" y="4"/>
                      <a:pt x="14" y="4"/>
                    </a:cubicBezTo>
                    <a:cubicBezTo>
                      <a:pt x="14" y="5"/>
                      <a:pt x="13" y="6"/>
                      <a:pt x="13" y="7"/>
                    </a:cubicBezTo>
                    <a:cubicBezTo>
                      <a:pt x="13" y="7"/>
                      <a:pt x="12" y="7"/>
                      <a:pt x="13"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69" name="Freeform 352">
                <a:extLst>
                  <a:ext uri="{FF2B5EF4-FFF2-40B4-BE49-F238E27FC236}">
                    <a16:creationId xmlns:a16="http://schemas.microsoft.com/office/drawing/2014/main" id="{05252A50-39D9-4947-AAA1-D8D44551ED39}"/>
                  </a:ext>
                </a:extLst>
              </p:cNvPr>
              <p:cNvSpPr>
                <a:spLocks/>
              </p:cNvSpPr>
              <p:nvPr/>
            </p:nvSpPr>
            <p:spPr bwMode="auto">
              <a:xfrm>
                <a:off x="2381" y="2563"/>
                <a:ext cx="61" cy="76"/>
              </a:xfrm>
              <a:custGeom>
                <a:avLst/>
                <a:gdLst>
                  <a:gd name="T0" fmla="*/ 5 w 44"/>
                  <a:gd name="T1" fmla="*/ 8 h 56"/>
                  <a:gd name="T2" fmla="*/ 2 w 44"/>
                  <a:gd name="T3" fmla="*/ 13 h 56"/>
                  <a:gd name="T4" fmla="*/ 3 w 44"/>
                  <a:gd name="T5" fmla="*/ 21 h 56"/>
                  <a:gd name="T6" fmla="*/ 7 w 44"/>
                  <a:gd name="T7" fmla="*/ 31 h 56"/>
                  <a:gd name="T8" fmla="*/ 8 w 44"/>
                  <a:gd name="T9" fmla="*/ 33 h 56"/>
                  <a:gd name="T10" fmla="*/ 8 w 44"/>
                  <a:gd name="T11" fmla="*/ 35 h 56"/>
                  <a:gd name="T12" fmla="*/ 7 w 44"/>
                  <a:gd name="T13" fmla="*/ 39 h 56"/>
                  <a:gd name="T14" fmla="*/ 5 w 44"/>
                  <a:gd name="T15" fmla="*/ 46 h 56"/>
                  <a:gd name="T16" fmla="*/ 0 w 44"/>
                  <a:gd name="T17" fmla="*/ 52 h 56"/>
                  <a:gd name="T18" fmla="*/ 3 w 44"/>
                  <a:gd name="T19" fmla="*/ 54 h 56"/>
                  <a:gd name="T20" fmla="*/ 7 w 44"/>
                  <a:gd name="T21" fmla="*/ 56 h 56"/>
                  <a:gd name="T22" fmla="*/ 9 w 44"/>
                  <a:gd name="T23" fmla="*/ 55 h 56"/>
                  <a:gd name="T24" fmla="*/ 12 w 44"/>
                  <a:gd name="T25" fmla="*/ 53 h 56"/>
                  <a:gd name="T26" fmla="*/ 18 w 44"/>
                  <a:gd name="T27" fmla="*/ 52 h 56"/>
                  <a:gd name="T28" fmla="*/ 19 w 44"/>
                  <a:gd name="T29" fmla="*/ 53 h 56"/>
                  <a:gd name="T30" fmla="*/ 20 w 44"/>
                  <a:gd name="T31" fmla="*/ 54 h 56"/>
                  <a:gd name="T32" fmla="*/ 20 w 44"/>
                  <a:gd name="T33" fmla="*/ 54 h 56"/>
                  <a:gd name="T34" fmla="*/ 25 w 44"/>
                  <a:gd name="T35" fmla="*/ 54 h 56"/>
                  <a:gd name="T36" fmla="*/ 30 w 44"/>
                  <a:gd name="T37" fmla="*/ 50 h 56"/>
                  <a:gd name="T38" fmla="*/ 31 w 44"/>
                  <a:gd name="T39" fmla="*/ 45 h 56"/>
                  <a:gd name="T40" fmla="*/ 33 w 44"/>
                  <a:gd name="T41" fmla="*/ 41 h 56"/>
                  <a:gd name="T42" fmla="*/ 37 w 44"/>
                  <a:gd name="T43" fmla="*/ 35 h 56"/>
                  <a:gd name="T44" fmla="*/ 44 w 44"/>
                  <a:gd name="T45" fmla="*/ 25 h 56"/>
                  <a:gd name="T46" fmla="*/ 44 w 44"/>
                  <a:gd name="T47" fmla="*/ 25 h 56"/>
                  <a:gd name="T48" fmla="*/ 40 w 44"/>
                  <a:gd name="T49" fmla="*/ 18 h 56"/>
                  <a:gd name="T50" fmla="*/ 37 w 44"/>
                  <a:gd name="T51" fmla="*/ 17 h 56"/>
                  <a:gd name="T52" fmla="*/ 35 w 44"/>
                  <a:gd name="T53" fmla="*/ 16 h 56"/>
                  <a:gd name="T54" fmla="*/ 33 w 44"/>
                  <a:gd name="T55" fmla="*/ 14 h 56"/>
                  <a:gd name="T56" fmla="*/ 19 w 44"/>
                  <a:gd name="T57" fmla="*/ 5 h 56"/>
                  <a:gd name="T58" fmla="*/ 10 w 44"/>
                  <a:gd name="T59" fmla="*/ 3 h 56"/>
                  <a:gd name="T60" fmla="*/ 7 w 44"/>
                  <a:gd name="T61" fmla="*/ 6 h 56"/>
                  <a:gd name="T62" fmla="*/ 7 w 44"/>
                  <a:gd name="T63" fmla="*/ 7 h 56"/>
                  <a:gd name="T64" fmla="*/ 5 w 44"/>
                  <a:gd name="T65" fmla="*/ 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6">
                    <a:moveTo>
                      <a:pt x="5" y="8"/>
                    </a:moveTo>
                    <a:cubicBezTo>
                      <a:pt x="5" y="8"/>
                      <a:pt x="3" y="11"/>
                      <a:pt x="2" y="13"/>
                    </a:cubicBezTo>
                    <a:cubicBezTo>
                      <a:pt x="2" y="15"/>
                      <a:pt x="2" y="18"/>
                      <a:pt x="3" y="21"/>
                    </a:cubicBezTo>
                    <a:cubicBezTo>
                      <a:pt x="4" y="23"/>
                      <a:pt x="6" y="30"/>
                      <a:pt x="7" y="31"/>
                    </a:cubicBezTo>
                    <a:cubicBezTo>
                      <a:pt x="7" y="32"/>
                      <a:pt x="8" y="33"/>
                      <a:pt x="8" y="33"/>
                    </a:cubicBezTo>
                    <a:cubicBezTo>
                      <a:pt x="9" y="33"/>
                      <a:pt x="9" y="34"/>
                      <a:pt x="8" y="35"/>
                    </a:cubicBezTo>
                    <a:cubicBezTo>
                      <a:pt x="8" y="36"/>
                      <a:pt x="7" y="38"/>
                      <a:pt x="7" y="39"/>
                    </a:cubicBezTo>
                    <a:cubicBezTo>
                      <a:pt x="7" y="40"/>
                      <a:pt x="7" y="44"/>
                      <a:pt x="5" y="46"/>
                    </a:cubicBezTo>
                    <a:cubicBezTo>
                      <a:pt x="4" y="48"/>
                      <a:pt x="1" y="51"/>
                      <a:pt x="0" y="52"/>
                    </a:cubicBezTo>
                    <a:cubicBezTo>
                      <a:pt x="1" y="53"/>
                      <a:pt x="3" y="54"/>
                      <a:pt x="3" y="54"/>
                    </a:cubicBezTo>
                    <a:cubicBezTo>
                      <a:pt x="3" y="54"/>
                      <a:pt x="6" y="56"/>
                      <a:pt x="7" y="56"/>
                    </a:cubicBezTo>
                    <a:cubicBezTo>
                      <a:pt x="8" y="55"/>
                      <a:pt x="8" y="55"/>
                      <a:pt x="9" y="55"/>
                    </a:cubicBezTo>
                    <a:cubicBezTo>
                      <a:pt x="9" y="54"/>
                      <a:pt x="11" y="54"/>
                      <a:pt x="12" y="53"/>
                    </a:cubicBezTo>
                    <a:cubicBezTo>
                      <a:pt x="13" y="53"/>
                      <a:pt x="18" y="52"/>
                      <a:pt x="18" y="52"/>
                    </a:cubicBezTo>
                    <a:cubicBezTo>
                      <a:pt x="18" y="52"/>
                      <a:pt x="19" y="52"/>
                      <a:pt x="19" y="53"/>
                    </a:cubicBezTo>
                    <a:cubicBezTo>
                      <a:pt x="19" y="54"/>
                      <a:pt x="20" y="54"/>
                      <a:pt x="20" y="54"/>
                    </a:cubicBezTo>
                    <a:cubicBezTo>
                      <a:pt x="20" y="54"/>
                      <a:pt x="20" y="54"/>
                      <a:pt x="20" y="54"/>
                    </a:cubicBezTo>
                    <a:cubicBezTo>
                      <a:pt x="21" y="54"/>
                      <a:pt x="23" y="55"/>
                      <a:pt x="25" y="54"/>
                    </a:cubicBezTo>
                    <a:cubicBezTo>
                      <a:pt x="26" y="54"/>
                      <a:pt x="29" y="52"/>
                      <a:pt x="30" y="50"/>
                    </a:cubicBezTo>
                    <a:cubicBezTo>
                      <a:pt x="31" y="48"/>
                      <a:pt x="31" y="47"/>
                      <a:pt x="31" y="45"/>
                    </a:cubicBezTo>
                    <a:cubicBezTo>
                      <a:pt x="32" y="44"/>
                      <a:pt x="33" y="43"/>
                      <a:pt x="33" y="41"/>
                    </a:cubicBezTo>
                    <a:cubicBezTo>
                      <a:pt x="34" y="40"/>
                      <a:pt x="36" y="36"/>
                      <a:pt x="37" y="35"/>
                    </a:cubicBezTo>
                    <a:cubicBezTo>
                      <a:pt x="38" y="34"/>
                      <a:pt x="43" y="28"/>
                      <a:pt x="44" y="25"/>
                    </a:cubicBezTo>
                    <a:cubicBezTo>
                      <a:pt x="44" y="25"/>
                      <a:pt x="44" y="25"/>
                      <a:pt x="44" y="25"/>
                    </a:cubicBezTo>
                    <a:cubicBezTo>
                      <a:pt x="43" y="22"/>
                      <a:pt x="42" y="17"/>
                      <a:pt x="40" y="18"/>
                    </a:cubicBezTo>
                    <a:cubicBezTo>
                      <a:pt x="39" y="20"/>
                      <a:pt x="38" y="19"/>
                      <a:pt x="37" y="17"/>
                    </a:cubicBezTo>
                    <a:cubicBezTo>
                      <a:pt x="36" y="15"/>
                      <a:pt x="35" y="15"/>
                      <a:pt x="35" y="16"/>
                    </a:cubicBezTo>
                    <a:cubicBezTo>
                      <a:pt x="34" y="16"/>
                      <a:pt x="35" y="16"/>
                      <a:pt x="33" y="14"/>
                    </a:cubicBezTo>
                    <a:cubicBezTo>
                      <a:pt x="31" y="11"/>
                      <a:pt x="25" y="6"/>
                      <a:pt x="19" y="5"/>
                    </a:cubicBezTo>
                    <a:cubicBezTo>
                      <a:pt x="13" y="3"/>
                      <a:pt x="12" y="0"/>
                      <a:pt x="10" y="3"/>
                    </a:cubicBezTo>
                    <a:cubicBezTo>
                      <a:pt x="8" y="4"/>
                      <a:pt x="7" y="6"/>
                      <a:pt x="7" y="6"/>
                    </a:cubicBezTo>
                    <a:cubicBezTo>
                      <a:pt x="7" y="7"/>
                      <a:pt x="7" y="7"/>
                      <a:pt x="7" y="7"/>
                    </a:cubicBezTo>
                    <a:cubicBezTo>
                      <a:pt x="7" y="7"/>
                      <a:pt x="6" y="7"/>
                      <a:pt x="5"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70" name="Freeform 353">
                <a:extLst>
                  <a:ext uri="{FF2B5EF4-FFF2-40B4-BE49-F238E27FC236}">
                    <a16:creationId xmlns:a16="http://schemas.microsoft.com/office/drawing/2014/main" id="{767F215C-6443-40B0-B78E-069969EEC2E3}"/>
                  </a:ext>
                </a:extLst>
              </p:cNvPr>
              <p:cNvSpPr>
                <a:spLocks/>
              </p:cNvSpPr>
              <p:nvPr/>
            </p:nvSpPr>
            <p:spPr bwMode="auto">
              <a:xfrm>
                <a:off x="2436" y="2690"/>
                <a:ext cx="17" cy="24"/>
              </a:xfrm>
              <a:custGeom>
                <a:avLst/>
                <a:gdLst>
                  <a:gd name="T0" fmla="*/ 5 w 12"/>
                  <a:gd name="T1" fmla="*/ 5 h 17"/>
                  <a:gd name="T2" fmla="*/ 1 w 12"/>
                  <a:gd name="T3" fmla="*/ 13 h 17"/>
                  <a:gd name="T4" fmla="*/ 2 w 12"/>
                  <a:gd name="T5" fmla="*/ 15 h 17"/>
                  <a:gd name="T6" fmla="*/ 7 w 12"/>
                  <a:gd name="T7" fmla="*/ 12 h 17"/>
                  <a:gd name="T8" fmla="*/ 11 w 12"/>
                  <a:gd name="T9" fmla="*/ 3 h 17"/>
                  <a:gd name="T10" fmla="*/ 5 w 12"/>
                  <a:gd name="T11" fmla="*/ 5 h 17"/>
                </a:gdLst>
                <a:ahLst/>
                <a:cxnLst>
                  <a:cxn ang="0">
                    <a:pos x="T0" y="T1"/>
                  </a:cxn>
                  <a:cxn ang="0">
                    <a:pos x="T2" y="T3"/>
                  </a:cxn>
                  <a:cxn ang="0">
                    <a:pos x="T4" y="T5"/>
                  </a:cxn>
                  <a:cxn ang="0">
                    <a:pos x="T6" y="T7"/>
                  </a:cxn>
                  <a:cxn ang="0">
                    <a:pos x="T8" y="T9"/>
                  </a:cxn>
                  <a:cxn ang="0">
                    <a:pos x="T10" y="T11"/>
                  </a:cxn>
                </a:cxnLst>
                <a:rect l="0" t="0" r="r" b="b"/>
                <a:pathLst>
                  <a:path w="12" h="17">
                    <a:moveTo>
                      <a:pt x="5" y="5"/>
                    </a:moveTo>
                    <a:cubicBezTo>
                      <a:pt x="3" y="6"/>
                      <a:pt x="2" y="10"/>
                      <a:pt x="1" y="13"/>
                    </a:cubicBezTo>
                    <a:cubicBezTo>
                      <a:pt x="0" y="17"/>
                      <a:pt x="2" y="15"/>
                      <a:pt x="2" y="15"/>
                    </a:cubicBezTo>
                    <a:cubicBezTo>
                      <a:pt x="2" y="15"/>
                      <a:pt x="5" y="14"/>
                      <a:pt x="7" y="12"/>
                    </a:cubicBezTo>
                    <a:cubicBezTo>
                      <a:pt x="9" y="10"/>
                      <a:pt x="11" y="6"/>
                      <a:pt x="11" y="3"/>
                    </a:cubicBezTo>
                    <a:cubicBezTo>
                      <a:pt x="12" y="0"/>
                      <a:pt x="7" y="3"/>
                      <a:pt x="5"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71" name="Freeform 354">
                <a:extLst>
                  <a:ext uri="{FF2B5EF4-FFF2-40B4-BE49-F238E27FC236}">
                    <a16:creationId xmlns:a16="http://schemas.microsoft.com/office/drawing/2014/main" id="{A7DB1A95-7298-4943-A5DE-72503877C189}"/>
                  </a:ext>
                </a:extLst>
              </p:cNvPr>
              <p:cNvSpPr>
                <a:spLocks/>
              </p:cNvSpPr>
              <p:nvPr/>
            </p:nvSpPr>
            <p:spPr bwMode="auto">
              <a:xfrm>
                <a:off x="2447" y="2682"/>
                <a:ext cx="7" cy="10"/>
              </a:xfrm>
              <a:custGeom>
                <a:avLst/>
                <a:gdLst>
                  <a:gd name="T0" fmla="*/ 4 w 5"/>
                  <a:gd name="T1" fmla="*/ 4 h 7"/>
                  <a:gd name="T2" fmla="*/ 2 w 5"/>
                  <a:gd name="T3" fmla="*/ 4 h 7"/>
                  <a:gd name="T4" fmla="*/ 1 w 5"/>
                  <a:gd name="T5" fmla="*/ 6 h 7"/>
                  <a:gd name="T6" fmla="*/ 4 w 5"/>
                  <a:gd name="T7" fmla="*/ 4 h 7"/>
                </a:gdLst>
                <a:ahLst/>
                <a:cxnLst>
                  <a:cxn ang="0">
                    <a:pos x="T0" y="T1"/>
                  </a:cxn>
                  <a:cxn ang="0">
                    <a:pos x="T2" y="T3"/>
                  </a:cxn>
                  <a:cxn ang="0">
                    <a:pos x="T4" y="T5"/>
                  </a:cxn>
                  <a:cxn ang="0">
                    <a:pos x="T6" y="T7"/>
                  </a:cxn>
                </a:cxnLst>
                <a:rect l="0" t="0" r="r" b="b"/>
                <a:pathLst>
                  <a:path w="5" h="7">
                    <a:moveTo>
                      <a:pt x="4" y="4"/>
                    </a:moveTo>
                    <a:cubicBezTo>
                      <a:pt x="4" y="3"/>
                      <a:pt x="5" y="0"/>
                      <a:pt x="2" y="4"/>
                    </a:cubicBezTo>
                    <a:cubicBezTo>
                      <a:pt x="0" y="7"/>
                      <a:pt x="1" y="6"/>
                      <a:pt x="1" y="6"/>
                    </a:cubicBezTo>
                    <a:cubicBezTo>
                      <a:pt x="1" y="6"/>
                      <a:pt x="3" y="5"/>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72" name="Freeform 355">
                <a:extLst>
                  <a:ext uri="{FF2B5EF4-FFF2-40B4-BE49-F238E27FC236}">
                    <a16:creationId xmlns:a16="http://schemas.microsoft.com/office/drawing/2014/main" id="{F8296133-088B-402E-B5F2-AFB4C41DE3C8}"/>
                  </a:ext>
                </a:extLst>
              </p:cNvPr>
              <p:cNvSpPr>
                <a:spLocks/>
              </p:cNvSpPr>
              <p:nvPr/>
            </p:nvSpPr>
            <p:spPr bwMode="auto">
              <a:xfrm>
                <a:off x="2452" y="2693"/>
                <a:ext cx="8" cy="8"/>
              </a:xfrm>
              <a:custGeom>
                <a:avLst/>
                <a:gdLst>
                  <a:gd name="T0" fmla="*/ 3 w 6"/>
                  <a:gd name="T1" fmla="*/ 4 h 6"/>
                  <a:gd name="T2" fmla="*/ 5 w 6"/>
                  <a:gd name="T3" fmla="*/ 2 h 6"/>
                  <a:gd name="T4" fmla="*/ 2 w 6"/>
                  <a:gd name="T5" fmla="*/ 2 h 6"/>
                  <a:gd name="T6" fmla="*/ 1 w 6"/>
                  <a:gd name="T7" fmla="*/ 6 h 6"/>
                  <a:gd name="T8" fmla="*/ 3 w 6"/>
                  <a:gd name="T9" fmla="*/ 4 h 6"/>
                </a:gdLst>
                <a:ahLst/>
                <a:cxnLst>
                  <a:cxn ang="0">
                    <a:pos x="T0" y="T1"/>
                  </a:cxn>
                  <a:cxn ang="0">
                    <a:pos x="T2" y="T3"/>
                  </a:cxn>
                  <a:cxn ang="0">
                    <a:pos x="T4" y="T5"/>
                  </a:cxn>
                  <a:cxn ang="0">
                    <a:pos x="T6" y="T7"/>
                  </a:cxn>
                  <a:cxn ang="0">
                    <a:pos x="T8" y="T9"/>
                  </a:cxn>
                </a:cxnLst>
                <a:rect l="0" t="0" r="r" b="b"/>
                <a:pathLst>
                  <a:path w="6" h="6">
                    <a:moveTo>
                      <a:pt x="3" y="4"/>
                    </a:moveTo>
                    <a:cubicBezTo>
                      <a:pt x="3" y="3"/>
                      <a:pt x="4" y="3"/>
                      <a:pt x="5" y="2"/>
                    </a:cubicBezTo>
                    <a:cubicBezTo>
                      <a:pt x="6" y="0"/>
                      <a:pt x="4" y="1"/>
                      <a:pt x="2" y="2"/>
                    </a:cubicBezTo>
                    <a:cubicBezTo>
                      <a:pt x="0" y="4"/>
                      <a:pt x="1" y="6"/>
                      <a:pt x="1" y="6"/>
                    </a:cubicBezTo>
                    <a:cubicBezTo>
                      <a:pt x="1" y="6"/>
                      <a:pt x="2" y="5"/>
                      <a:pt x="3"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73" name="Freeform 356">
                <a:extLst>
                  <a:ext uri="{FF2B5EF4-FFF2-40B4-BE49-F238E27FC236}">
                    <a16:creationId xmlns:a16="http://schemas.microsoft.com/office/drawing/2014/main" id="{969B6CEF-9A22-4EDB-B1C7-17D0501AD514}"/>
                  </a:ext>
                </a:extLst>
              </p:cNvPr>
              <p:cNvSpPr>
                <a:spLocks/>
              </p:cNvSpPr>
              <p:nvPr/>
            </p:nvSpPr>
            <p:spPr bwMode="auto">
              <a:xfrm>
                <a:off x="2453" y="2682"/>
                <a:ext cx="11" cy="7"/>
              </a:xfrm>
              <a:custGeom>
                <a:avLst/>
                <a:gdLst>
                  <a:gd name="T0" fmla="*/ 7 w 8"/>
                  <a:gd name="T1" fmla="*/ 2 h 5"/>
                  <a:gd name="T2" fmla="*/ 6 w 8"/>
                  <a:gd name="T3" fmla="*/ 0 h 5"/>
                  <a:gd name="T4" fmla="*/ 2 w 8"/>
                  <a:gd name="T5" fmla="*/ 1 h 5"/>
                  <a:gd name="T6" fmla="*/ 2 w 8"/>
                  <a:gd name="T7" fmla="*/ 4 h 5"/>
                  <a:gd name="T8" fmla="*/ 7 w 8"/>
                  <a:gd name="T9" fmla="*/ 2 h 5"/>
                </a:gdLst>
                <a:ahLst/>
                <a:cxnLst>
                  <a:cxn ang="0">
                    <a:pos x="T0" y="T1"/>
                  </a:cxn>
                  <a:cxn ang="0">
                    <a:pos x="T2" y="T3"/>
                  </a:cxn>
                  <a:cxn ang="0">
                    <a:pos x="T4" y="T5"/>
                  </a:cxn>
                  <a:cxn ang="0">
                    <a:pos x="T6" y="T7"/>
                  </a:cxn>
                  <a:cxn ang="0">
                    <a:pos x="T8" y="T9"/>
                  </a:cxn>
                </a:cxnLst>
                <a:rect l="0" t="0" r="r" b="b"/>
                <a:pathLst>
                  <a:path w="8" h="5">
                    <a:moveTo>
                      <a:pt x="7" y="2"/>
                    </a:moveTo>
                    <a:cubicBezTo>
                      <a:pt x="8" y="1"/>
                      <a:pt x="7" y="1"/>
                      <a:pt x="6" y="0"/>
                    </a:cubicBezTo>
                    <a:cubicBezTo>
                      <a:pt x="5" y="0"/>
                      <a:pt x="4" y="1"/>
                      <a:pt x="2" y="1"/>
                    </a:cubicBezTo>
                    <a:cubicBezTo>
                      <a:pt x="0" y="2"/>
                      <a:pt x="2" y="4"/>
                      <a:pt x="2" y="4"/>
                    </a:cubicBezTo>
                    <a:cubicBezTo>
                      <a:pt x="3" y="5"/>
                      <a:pt x="5" y="3"/>
                      <a:pt x="7"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74" name="Freeform 357">
                <a:extLst>
                  <a:ext uri="{FF2B5EF4-FFF2-40B4-BE49-F238E27FC236}">
                    <a16:creationId xmlns:a16="http://schemas.microsoft.com/office/drawing/2014/main" id="{F7B97198-BD23-4663-8749-45C06034221F}"/>
                  </a:ext>
                </a:extLst>
              </p:cNvPr>
              <p:cNvSpPr>
                <a:spLocks/>
              </p:cNvSpPr>
              <p:nvPr/>
            </p:nvSpPr>
            <p:spPr bwMode="auto">
              <a:xfrm>
                <a:off x="2464" y="2678"/>
                <a:ext cx="3" cy="4"/>
              </a:xfrm>
              <a:custGeom>
                <a:avLst/>
                <a:gdLst>
                  <a:gd name="T0" fmla="*/ 0 w 2"/>
                  <a:gd name="T1" fmla="*/ 2 h 3"/>
                  <a:gd name="T2" fmla="*/ 1 w 2"/>
                  <a:gd name="T3" fmla="*/ 3 h 3"/>
                  <a:gd name="T4" fmla="*/ 1 w 2"/>
                  <a:gd name="T5" fmla="*/ 1 h 3"/>
                  <a:gd name="T6" fmla="*/ 0 w 2"/>
                  <a:gd name="T7" fmla="*/ 2 h 3"/>
                </a:gdLst>
                <a:ahLst/>
                <a:cxnLst>
                  <a:cxn ang="0">
                    <a:pos x="T0" y="T1"/>
                  </a:cxn>
                  <a:cxn ang="0">
                    <a:pos x="T2" y="T3"/>
                  </a:cxn>
                  <a:cxn ang="0">
                    <a:pos x="T4" y="T5"/>
                  </a:cxn>
                  <a:cxn ang="0">
                    <a:pos x="T6" y="T7"/>
                  </a:cxn>
                </a:cxnLst>
                <a:rect l="0" t="0" r="r" b="b"/>
                <a:pathLst>
                  <a:path w="2" h="3">
                    <a:moveTo>
                      <a:pt x="0" y="2"/>
                    </a:moveTo>
                    <a:cubicBezTo>
                      <a:pt x="0" y="3"/>
                      <a:pt x="1" y="3"/>
                      <a:pt x="1" y="3"/>
                    </a:cubicBezTo>
                    <a:cubicBezTo>
                      <a:pt x="2" y="3"/>
                      <a:pt x="2" y="2"/>
                      <a:pt x="1" y="1"/>
                    </a:cubicBezTo>
                    <a:cubicBezTo>
                      <a:pt x="1" y="0"/>
                      <a:pt x="0"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75" name="Freeform 358">
                <a:extLst>
                  <a:ext uri="{FF2B5EF4-FFF2-40B4-BE49-F238E27FC236}">
                    <a16:creationId xmlns:a16="http://schemas.microsoft.com/office/drawing/2014/main" id="{0C54DAC7-504E-42CE-B1AC-E76459A30DEC}"/>
                  </a:ext>
                </a:extLst>
              </p:cNvPr>
              <p:cNvSpPr>
                <a:spLocks/>
              </p:cNvSpPr>
              <p:nvPr/>
            </p:nvSpPr>
            <p:spPr bwMode="auto">
              <a:xfrm>
                <a:off x="2465" y="2668"/>
                <a:ext cx="3" cy="11"/>
              </a:xfrm>
              <a:custGeom>
                <a:avLst/>
                <a:gdLst>
                  <a:gd name="T0" fmla="*/ 1 w 2"/>
                  <a:gd name="T1" fmla="*/ 5 h 8"/>
                  <a:gd name="T2" fmla="*/ 2 w 2"/>
                  <a:gd name="T3" fmla="*/ 6 h 8"/>
                  <a:gd name="T4" fmla="*/ 2 w 2"/>
                  <a:gd name="T5" fmla="*/ 2 h 8"/>
                  <a:gd name="T6" fmla="*/ 1 w 2"/>
                  <a:gd name="T7" fmla="*/ 5 h 8"/>
                </a:gdLst>
                <a:ahLst/>
                <a:cxnLst>
                  <a:cxn ang="0">
                    <a:pos x="T0" y="T1"/>
                  </a:cxn>
                  <a:cxn ang="0">
                    <a:pos x="T2" y="T3"/>
                  </a:cxn>
                  <a:cxn ang="0">
                    <a:pos x="T4" y="T5"/>
                  </a:cxn>
                  <a:cxn ang="0">
                    <a:pos x="T6" y="T7"/>
                  </a:cxn>
                </a:cxnLst>
                <a:rect l="0" t="0" r="r" b="b"/>
                <a:pathLst>
                  <a:path w="2" h="8">
                    <a:moveTo>
                      <a:pt x="1" y="5"/>
                    </a:moveTo>
                    <a:cubicBezTo>
                      <a:pt x="0" y="8"/>
                      <a:pt x="2" y="6"/>
                      <a:pt x="2" y="6"/>
                    </a:cubicBezTo>
                    <a:cubicBezTo>
                      <a:pt x="2" y="6"/>
                      <a:pt x="2" y="4"/>
                      <a:pt x="2" y="2"/>
                    </a:cubicBezTo>
                    <a:cubicBezTo>
                      <a:pt x="2" y="0"/>
                      <a:pt x="1" y="1"/>
                      <a:pt x="1"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76" name="Freeform 359">
                <a:extLst>
                  <a:ext uri="{FF2B5EF4-FFF2-40B4-BE49-F238E27FC236}">
                    <a16:creationId xmlns:a16="http://schemas.microsoft.com/office/drawing/2014/main" id="{E703BBA9-D329-44B9-AE8F-273107D1F091}"/>
                  </a:ext>
                </a:extLst>
              </p:cNvPr>
              <p:cNvSpPr>
                <a:spLocks/>
              </p:cNvSpPr>
              <p:nvPr/>
            </p:nvSpPr>
            <p:spPr bwMode="auto">
              <a:xfrm>
                <a:off x="2470" y="2668"/>
                <a:ext cx="8" cy="9"/>
              </a:xfrm>
              <a:custGeom>
                <a:avLst/>
                <a:gdLst>
                  <a:gd name="T0" fmla="*/ 0 w 6"/>
                  <a:gd name="T1" fmla="*/ 3 h 6"/>
                  <a:gd name="T2" fmla="*/ 2 w 6"/>
                  <a:gd name="T3" fmla="*/ 4 h 6"/>
                  <a:gd name="T4" fmla="*/ 2 w 6"/>
                  <a:gd name="T5" fmla="*/ 1 h 6"/>
                  <a:gd name="T6" fmla="*/ 0 w 6"/>
                  <a:gd name="T7" fmla="*/ 3 h 6"/>
                </a:gdLst>
                <a:ahLst/>
                <a:cxnLst>
                  <a:cxn ang="0">
                    <a:pos x="T0" y="T1"/>
                  </a:cxn>
                  <a:cxn ang="0">
                    <a:pos x="T2" y="T3"/>
                  </a:cxn>
                  <a:cxn ang="0">
                    <a:pos x="T4" y="T5"/>
                  </a:cxn>
                  <a:cxn ang="0">
                    <a:pos x="T6" y="T7"/>
                  </a:cxn>
                </a:cxnLst>
                <a:rect l="0" t="0" r="r" b="b"/>
                <a:pathLst>
                  <a:path w="6" h="6">
                    <a:moveTo>
                      <a:pt x="0" y="3"/>
                    </a:moveTo>
                    <a:cubicBezTo>
                      <a:pt x="0" y="6"/>
                      <a:pt x="2" y="4"/>
                      <a:pt x="2" y="4"/>
                    </a:cubicBezTo>
                    <a:cubicBezTo>
                      <a:pt x="6" y="0"/>
                      <a:pt x="4" y="1"/>
                      <a:pt x="2" y="1"/>
                    </a:cubicBezTo>
                    <a:cubicBezTo>
                      <a:pt x="1" y="1"/>
                      <a:pt x="1" y="0"/>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77" name="Freeform 360">
                <a:extLst>
                  <a:ext uri="{FF2B5EF4-FFF2-40B4-BE49-F238E27FC236}">
                    <a16:creationId xmlns:a16="http://schemas.microsoft.com/office/drawing/2014/main" id="{4AC86F69-2D4F-48FD-939B-4AB638A536CF}"/>
                  </a:ext>
                </a:extLst>
              </p:cNvPr>
              <p:cNvSpPr>
                <a:spLocks/>
              </p:cNvSpPr>
              <p:nvPr/>
            </p:nvSpPr>
            <p:spPr bwMode="auto">
              <a:xfrm>
                <a:off x="2470" y="2663"/>
                <a:ext cx="5" cy="5"/>
              </a:xfrm>
              <a:custGeom>
                <a:avLst/>
                <a:gdLst>
                  <a:gd name="T0" fmla="*/ 2 w 4"/>
                  <a:gd name="T1" fmla="*/ 2 h 4"/>
                  <a:gd name="T2" fmla="*/ 4 w 4"/>
                  <a:gd name="T3" fmla="*/ 2 h 4"/>
                  <a:gd name="T4" fmla="*/ 2 w 4"/>
                  <a:gd name="T5" fmla="*/ 2 h 4"/>
                </a:gdLst>
                <a:ahLst/>
                <a:cxnLst>
                  <a:cxn ang="0">
                    <a:pos x="T0" y="T1"/>
                  </a:cxn>
                  <a:cxn ang="0">
                    <a:pos x="T2" y="T3"/>
                  </a:cxn>
                  <a:cxn ang="0">
                    <a:pos x="T4" y="T5"/>
                  </a:cxn>
                </a:cxnLst>
                <a:rect l="0" t="0" r="r" b="b"/>
                <a:pathLst>
                  <a:path w="4" h="4">
                    <a:moveTo>
                      <a:pt x="2" y="2"/>
                    </a:moveTo>
                    <a:cubicBezTo>
                      <a:pt x="0" y="4"/>
                      <a:pt x="4" y="2"/>
                      <a:pt x="4" y="2"/>
                    </a:cubicBezTo>
                    <a:cubicBezTo>
                      <a:pt x="4" y="2"/>
                      <a:pt x="4" y="0"/>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78" name="Freeform 361">
                <a:extLst>
                  <a:ext uri="{FF2B5EF4-FFF2-40B4-BE49-F238E27FC236}">
                    <a16:creationId xmlns:a16="http://schemas.microsoft.com/office/drawing/2014/main" id="{3D15F851-687C-42B8-803E-92A7D942CAB7}"/>
                  </a:ext>
                </a:extLst>
              </p:cNvPr>
              <p:cNvSpPr>
                <a:spLocks/>
              </p:cNvSpPr>
              <p:nvPr/>
            </p:nvSpPr>
            <p:spPr bwMode="auto">
              <a:xfrm>
                <a:off x="2465" y="2675"/>
                <a:ext cx="20" cy="8"/>
              </a:xfrm>
              <a:custGeom>
                <a:avLst/>
                <a:gdLst>
                  <a:gd name="T0" fmla="*/ 9 w 14"/>
                  <a:gd name="T1" fmla="*/ 0 h 6"/>
                  <a:gd name="T2" fmla="*/ 3 w 14"/>
                  <a:gd name="T3" fmla="*/ 2 h 6"/>
                  <a:gd name="T4" fmla="*/ 3 w 14"/>
                  <a:gd name="T5" fmla="*/ 5 h 6"/>
                  <a:gd name="T6" fmla="*/ 7 w 14"/>
                  <a:gd name="T7" fmla="*/ 5 h 6"/>
                  <a:gd name="T8" fmla="*/ 10 w 14"/>
                  <a:gd name="T9" fmla="*/ 4 h 6"/>
                  <a:gd name="T10" fmla="*/ 13 w 14"/>
                  <a:gd name="T11" fmla="*/ 1 h 6"/>
                  <a:gd name="T12" fmla="*/ 9 w 14"/>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4" h="6">
                    <a:moveTo>
                      <a:pt x="9" y="0"/>
                    </a:moveTo>
                    <a:cubicBezTo>
                      <a:pt x="7" y="1"/>
                      <a:pt x="6" y="1"/>
                      <a:pt x="3" y="2"/>
                    </a:cubicBezTo>
                    <a:cubicBezTo>
                      <a:pt x="0" y="3"/>
                      <a:pt x="3" y="5"/>
                      <a:pt x="3" y="5"/>
                    </a:cubicBezTo>
                    <a:cubicBezTo>
                      <a:pt x="3" y="5"/>
                      <a:pt x="5" y="5"/>
                      <a:pt x="7" y="5"/>
                    </a:cubicBezTo>
                    <a:cubicBezTo>
                      <a:pt x="8" y="6"/>
                      <a:pt x="9" y="5"/>
                      <a:pt x="10" y="4"/>
                    </a:cubicBezTo>
                    <a:cubicBezTo>
                      <a:pt x="11" y="3"/>
                      <a:pt x="12" y="3"/>
                      <a:pt x="13" y="1"/>
                    </a:cubicBezTo>
                    <a:cubicBezTo>
                      <a:pt x="14" y="0"/>
                      <a:pt x="10" y="0"/>
                      <a:pt x="9"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79" name="Freeform 362">
                <a:extLst>
                  <a:ext uri="{FF2B5EF4-FFF2-40B4-BE49-F238E27FC236}">
                    <a16:creationId xmlns:a16="http://schemas.microsoft.com/office/drawing/2014/main" id="{B8BB7C56-D711-408A-A022-ACEF51543BFC}"/>
                  </a:ext>
                </a:extLst>
              </p:cNvPr>
              <p:cNvSpPr>
                <a:spLocks/>
              </p:cNvSpPr>
              <p:nvPr/>
            </p:nvSpPr>
            <p:spPr bwMode="auto">
              <a:xfrm>
                <a:off x="2478" y="2681"/>
                <a:ext cx="11" cy="4"/>
              </a:xfrm>
              <a:custGeom>
                <a:avLst/>
                <a:gdLst>
                  <a:gd name="T0" fmla="*/ 2 w 8"/>
                  <a:gd name="T1" fmla="*/ 1 h 3"/>
                  <a:gd name="T2" fmla="*/ 3 w 8"/>
                  <a:gd name="T3" fmla="*/ 3 h 3"/>
                  <a:gd name="T4" fmla="*/ 6 w 8"/>
                  <a:gd name="T5" fmla="*/ 2 h 3"/>
                  <a:gd name="T6" fmla="*/ 2 w 8"/>
                  <a:gd name="T7" fmla="*/ 1 h 3"/>
                </a:gdLst>
                <a:ahLst/>
                <a:cxnLst>
                  <a:cxn ang="0">
                    <a:pos x="T0" y="T1"/>
                  </a:cxn>
                  <a:cxn ang="0">
                    <a:pos x="T2" y="T3"/>
                  </a:cxn>
                  <a:cxn ang="0">
                    <a:pos x="T4" y="T5"/>
                  </a:cxn>
                  <a:cxn ang="0">
                    <a:pos x="T6" y="T7"/>
                  </a:cxn>
                </a:cxnLst>
                <a:rect l="0" t="0" r="r" b="b"/>
                <a:pathLst>
                  <a:path w="8" h="3">
                    <a:moveTo>
                      <a:pt x="2" y="1"/>
                    </a:moveTo>
                    <a:cubicBezTo>
                      <a:pt x="0" y="1"/>
                      <a:pt x="3" y="3"/>
                      <a:pt x="3" y="3"/>
                    </a:cubicBezTo>
                    <a:cubicBezTo>
                      <a:pt x="4" y="3"/>
                      <a:pt x="4" y="3"/>
                      <a:pt x="6" y="2"/>
                    </a:cubicBezTo>
                    <a:cubicBezTo>
                      <a:pt x="8" y="1"/>
                      <a:pt x="4"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80" name="Freeform 363">
                <a:extLst>
                  <a:ext uri="{FF2B5EF4-FFF2-40B4-BE49-F238E27FC236}">
                    <a16:creationId xmlns:a16="http://schemas.microsoft.com/office/drawing/2014/main" id="{5553C021-5AFE-4E22-B953-647BA7C5C5C5}"/>
                  </a:ext>
                </a:extLst>
              </p:cNvPr>
              <p:cNvSpPr>
                <a:spLocks/>
              </p:cNvSpPr>
              <p:nvPr/>
            </p:nvSpPr>
            <p:spPr bwMode="auto">
              <a:xfrm>
                <a:off x="2456" y="2685"/>
                <a:ext cx="55" cy="35"/>
              </a:xfrm>
              <a:custGeom>
                <a:avLst/>
                <a:gdLst>
                  <a:gd name="T0" fmla="*/ 10 w 40"/>
                  <a:gd name="T1" fmla="*/ 24 h 26"/>
                  <a:gd name="T2" fmla="*/ 15 w 40"/>
                  <a:gd name="T3" fmla="*/ 24 h 26"/>
                  <a:gd name="T4" fmla="*/ 18 w 40"/>
                  <a:gd name="T5" fmla="*/ 24 h 26"/>
                  <a:gd name="T6" fmla="*/ 20 w 40"/>
                  <a:gd name="T7" fmla="*/ 24 h 26"/>
                  <a:gd name="T8" fmla="*/ 21 w 40"/>
                  <a:gd name="T9" fmla="*/ 22 h 26"/>
                  <a:gd name="T10" fmla="*/ 22 w 40"/>
                  <a:gd name="T11" fmla="*/ 21 h 26"/>
                  <a:gd name="T12" fmla="*/ 24 w 40"/>
                  <a:gd name="T13" fmla="*/ 22 h 26"/>
                  <a:gd name="T14" fmla="*/ 29 w 40"/>
                  <a:gd name="T15" fmla="*/ 21 h 26"/>
                  <a:gd name="T16" fmla="*/ 34 w 40"/>
                  <a:gd name="T17" fmla="*/ 15 h 26"/>
                  <a:gd name="T18" fmla="*/ 35 w 40"/>
                  <a:gd name="T19" fmla="*/ 12 h 26"/>
                  <a:gd name="T20" fmla="*/ 36 w 40"/>
                  <a:gd name="T21" fmla="*/ 10 h 26"/>
                  <a:gd name="T22" fmla="*/ 37 w 40"/>
                  <a:gd name="T23" fmla="*/ 7 h 26"/>
                  <a:gd name="T24" fmla="*/ 38 w 40"/>
                  <a:gd name="T25" fmla="*/ 4 h 26"/>
                  <a:gd name="T26" fmla="*/ 30 w 40"/>
                  <a:gd name="T27" fmla="*/ 1 h 26"/>
                  <a:gd name="T28" fmla="*/ 24 w 40"/>
                  <a:gd name="T29" fmla="*/ 1 h 26"/>
                  <a:gd name="T30" fmla="*/ 15 w 40"/>
                  <a:gd name="T31" fmla="*/ 0 h 26"/>
                  <a:gd name="T32" fmla="*/ 7 w 40"/>
                  <a:gd name="T33" fmla="*/ 0 h 26"/>
                  <a:gd name="T34" fmla="*/ 4 w 40"/>
                  <a:gd name="T35" fmla="*/ 4 h 26"/>
                  <a:gd name="T36" fmla="*/ 5 w 40"/>
                  <a:gd name="T37" fmla="*/ 6 h 26"/>
                  <a:gd name="T38" fmla="*/ 4 w 40"/>
                  <a:gd name="T39" fmla="*/ 7 h 26"/>
                  <a:gd name="T40" fmla="*/ 3 w 40"/>
                  <a:gd name="T41" fmla="*/ 9 h 26"/>
                  <a:gd name="T42" fmla="*/ 5 w 40"/>
                  <a:gd name="T43" fmla="*/ 13 h 26"/>
                  <a:gd name="T44" fmla="*/ 3 w 40"/>
                  <a:gd name="T45" fmla="*/ 15 h 26"/>
                  <a:gd name="T46" fmla="*/ 6 w 40"/>
                  <a:gd name="T47" fmla="*/ 23 h 26"/>
                  <a:gd name="T48" fmla="*/ 10 w 40"/>
                  <a:gd name="T49" fmla="*/ 2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 h="26">
                    <a:moveTo>
                      <a:pt x="10" y="24"/>
                    </a:moveTo>
                    <a:cubicBezTo>
                      <a:pt x="12" y="24"/>
                      <a:pt x="13" y="24"/>
                      <a:pt x="15" y="24"/>
                    </a:cubicBezTo>
                    <a:cubicBezTo>
                      <a:pt x="16" y="25"/>
                      <a:pt x="17" y="25"/>
                      <a:pt x="18" y="24"/>
                    </a:cubicBezTo>
                    <a:cubicBezTo>
                      <a:pt x="19" y="24"/>
                      <a:pt x="19" y="24"/>
                      <a:pt x="20" y="24"/>
                    </a:cubicBezTo>
                    <a:cubicBezTo>
                      <a:pt x="21" y="24"/>
                      <a:pt x="21" y="24"/>
                      <a:pt x="21" y="22"/>
                    </a:cubicBezTo>
                    <a:cubicBezTo>
                      <a:pt x="22" y="20"/>
                      <a:pt x="22" y="21"/>
                      <a:pt x="22" y="21"/>
                    </a:cubicBezTo>
                    <a:cubicBezTo>
                      <a:pt x="23" y="22"/>
                      <a:pt x="23" y="22"/>
                      <a:pt x="24" y="22"/>
                    </a:cubicBezTo>
                    <a:cubicBezTo>
                      <a:pt x="26" y="22"/>
                      <a:pt x="27" y="22"/>
                      <a:pt x="29" y="21"/>
                    </a:cubicBezTo>
                    <a:cubicBezTo>
                      <a:pt x="32" y="20"/>
                      <a:pt x="33" y="16"/>
                      <a:pt x="34" y="15"/>
                    </a:cubicBezTo>
                    <a:cubicBezTo>
                      <a:pt x="35" y="13"/>
                      <a:pt x="35" y="14"/>
                      <a:pt x="35" y="12"/>
                    </a:cubicBezTo>
                    <a:cubicBezTo>
                      <a:pt x="36" y="11"/>
                      <a:pt x="36" y="11"/>
                      <a:pt x="36" y="10"/>
                    </a:cubicBezTo>
                    <a:cubicBezTo>
                      <a:pt x="37" y="9"/>
                      <a:pt x="37" y="8"/>
                      <a:pt x="37" y="7"/>
                    </a:cubicBezTo>
                    <a:cubicBezTo>
                      <a:pt x="37" y="6"/>
                      <a:pt x="37" y="6"/>
                      <a:pt x="38" y="4"/>
                    </a:cubicBezTo>
                    <a:cubicBezTo>
                      <a:pt x="40" y="1"/>
                      <a:pt x="33" y="1"/>
                      <a:pt x="30" y="1"/>
                    </a:cubicBezTo>
                    <a:cubicBezTo>
                      <a:pt x="27" y="1"/>
                      <a:pt x="24" y="1"/>
                      <a:pt x="24" y="1"/>
                    </a:cubicBezTo>
                    <a:cubicBezTo>
                      <a:pt x="23" y="2"/>
                      <a:pt x="16" y="1"/>
                      <a:pt x="15" y="0"/>
                    </a:cubicBezTo>
                    <a:cubicBezTo>
                      <a:pt x="14" y="0"/>
                      <a:pt x="10" y="0"/>
                      <a:pt x="7" y="0"/>
                    </a:cubicBezTo>
                    <a:cubicBezTo>
                      <a:pt x="5" y="0"/>
                      <a:pt x="4" y="4"/>
                      <a:pt x="4" y="4"/>
                    </a:cubicBezTo>
                    <a:cubicBezTo>
                      <a:pt x="4" y="6"/>
                      <a:pt x="5" y="6"/>
                      <a:pt x="5" y="6"/>
                    </a:cubicBezTo>
                    <a:cubicBezTo>
                      <a:pt x="6" y="8"/>
                      <a:pt x="5" y="8"/>
                      <a:pt x="4" y="7"/>
                    </a:cubicBezTo>
                    <a:cubicBezTo>
                      <a:pt x="4" y="6"/>
                      <a:pt x="4" y="6"/>
                      <a:pt x="3" y="9"/>
                    </a:cubicBezTo>
                    <a:cubicBezTo>
                      <a:pt x="2" y="11"/>
                      <a:pt x="3" y="13"/>
                      <a:pt x="5" y="13"/>
                    </a:cubicBezTo>
                    <a:cubicBezTo>
                      <a:pt x="7" y="14"/>
                      <a:pt x="6" y="15"/>
                      <a:pt x="3" y="15"/>
                    </a:cubicBezTo>
                    <a:cubicBezTo>
                      <a:pt x="0" y="14"/>
                      <a:pt x="4" y="20"/>
                      <a:pt x="6" y="23"/>
                    </a:cubicBezTo>
                    <a:cubicBezTo>
                      <a:pt x="8" y="26"/>
                      <a:pt x="8" y="25"/>
                      <a:pt x="10" y="2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81" name="Freeform 364">
                <a:extLst>
                  <a:ext uri="{FF2B5EF4-FFF2-40B4-BE49-F238E27FC236}">
                    <a16:creationId xmlns:a16="http://schemas.microsoft.com/office/drawing/2014/main" id="{149E212D-91FA-475A-84D6-A3DC375A6D46}"/>
                  </a:ext>
                </a:extLst>
              </p:cNvPr>
              <p:cNvSpPr>
                <a:spLocks/>
              </p:cNvSpPr>
              <p:nvPr/>
            </p:nvSpPr>
            <p:spPr bwMode="auto">
              <a:xfrm>
                <a:off x="1983" y="2575"/>
                <a:ext cx="805" cy="822"/>
              </a:xfrm>
              <a:custGeom>
                <a:avLst/>
                <a:gdLst>
                  <a:gd name="T0" fmla="*/ 238 w 582"/>
                  <a:gd name="T1" fmla="*/ 412 h 599"/>
                  <a:gd name="T2" fmla="*/ 274 w 582"/>
                  <a:gd name="T3" fmla="*/ 431 h 599"/>
                  <a:gd name="T4" fmla="*/ 292 w 582"/>
                  <a:gd name="T5" fmla="*/ 452 h 599"/>
                  <a:gd name="T6" fmla="*/ 302 w 582"/>
                  <a:gd name="T7" fmla="*/ 477 h 599"/>
                  <a:gd name="T8" fmla="*/ 276 w 582"/>
                  <a:gd name="T9" fmla="*/ 505 h 599"/>
                  <a:gd name="T10" fmla="*/ 243 w 582"/>
                  <a:gd name="T11" fmla="*/ 540 h 599"/>
                  <a:gd name="T12" fmla="*/ 270 w 582"/>
                  <a:gd name="T13" fmla="*/ 554 h 599"/>
                  <a:gd name="T14" fmla="*/ 291 w 582"/>
                  <a:gd name="T15" fmla="*/ 565 h 599"/>
                  <a:gd name="T16" fmla="*/ 306 w 582"/>
                  <a:gd name="T17" fmla="*/ 599 h 599"/>
                  <a:gd name="T18" fmla="*/ 347 w 582"/>
                  <a:gd name="T19" fmla="*/ 543 h 599"/>
                  <a:gd name="T20" fmla="*/ 331 w 582"/>
                  <a:gd name="T21" fmla="*/ 568 h 599"/>
                  <a:gd name="T22" fmla="*/ 378 w 582"/>
                  <a:gd name="T23" fmla="*/ 476 h 599"/>
                  <a:gd name="T24" fmla="*/ 415 w 582"/>
                  <a:gd name="T25" fmla="*/ 439 h 599"/>
                  <a:gd name="T26" fmla="*/ 442 w 582"/>
                  <a:gd name="T27" fmla="*/ 426 h 599"/>
                  <a:gd name="T28" fmla="*/ 490 w 582"/>
                  <a:gd name="T29" fmla="*/ 405 h 599"/>
                  <a:gd name="T30" fmla="*/ 520 w 582"/>
                  <a:gd name="T31" fmla="*/ 321 h 599"/>
                  <a:gd name="T32" fmla="*/ 533 w 582"/>
                  <a:gd name="T33" fmla="*/ 267 h 599"/>
                  <a:gd name="T34" fmla="*/ 568 w 582"/>
                  <a:gd name="T35" fmla="*/ 220 h 599"/>
                  <a:gd name="T36" fmla="*/ 492 w 582"/>
                  <a:gd name="T37" fmla="*/ 120 h 599"/>
                  <a:gd name="T38" fmla="*/ 443 w 582"/>
                  <a:gd name="T39" fmla="*/ 114 h 599"/>
                  <a:gd name="T40" fmla="*/ 432 w 582"/>
                  <a:gd name="T41" fmla="*/ 102 h 599"/>
                  <a:gd name="T42" fmla="*/ 412 w 582"/>
                  <a:gd name="T43" fmla="*/ 93 h 599"/>
                  <a:gd name="T44" fmla="*/ 382 w 582"/>
                  <a:gd name="T45" fmla="*/ 93 h 599"/>
                  <a:gd name="T46" fmla="*/ 365 w 582"/>
                  <a:gd name="T47" fmla="*/ 105 h 599"/>
                  <a:gd name="T48" fmla="*/ 327 w 582"/>
                  <a:gd name="T49" fmla="*/ 101 h 599"/>
                  <a:gd name="T50" fmla="*/ 357 w 582"/>
                  <a:gd name="T51" fmla="*/ 53 h 599"/>
                  <a:gd name="T52" fmla="*/ 332 w 582"/>
                  <a:gd name="T53" fmla="*/ 16 h 599"/>
                  <a:gd name="T54" fmla="*/ 307 w 582"/>
                  <a:gd name="T55" fmla="*/ 44 h 599"/>
                  <a:gd name="T56" fmla="*/ 283 w 582"/>
                  <a:gd name="T57" fmla="*/ 40 h 599"/>
                  <a:gd name="T58" fmla="*/ 268 w 582"/>
                  <a:gd name="T59" fmla="*/ 49 h 599"/>
                  <a:gd name="T60" fmla="*/ 242 w 582"/>
                  <a:gd name="T61" fmla="*/ 54 h 599"/>
                  <a:gd name="T62" fmla="*/ 213 w 582"/>
                  <a:gd name="T63" fmla="*/ 51 h 599"/>
                  <a:gd name="T64" fmla="*/ 213 w 582"/>
                  <a:gd name="T65" fmla="*/ 17 h 599"/>
                  <a:gd name="T66" fmla="*/ 200 w 582"/>
                  <a:gd name="T67" fmla="*/ 0 h 599"/>
                  <a:gd name="T68" fmla="*/ 168 w 582"/>
                  <a:gd name="T69" fmla="*/ 18 h 599"/>
                  <a:gd name="T70" fmla="*/ 152 w 582"/>
                  <a:gd name="T71" fmla="*/ 20 h 599"/>
                  <a:gd name="T72" fmla="*/ 147 w 582"/>
                  <a:gd name="T73" fmla="*/ 32 h 599"/>
                  <a:gd name="T74" fmla="*/ 143 w 582"/>
                  <a:gd name="T75" fmla="*/ 58 h 599"/>
                  <a:gd name="T76" fmla="*/ 126 w 582"/>
                  <a:gd name="T77" fmla="*/ 66 h 599"/>
                  <a:gd name="T78" fmla="*/ 101 w 582"/>
                  <a:gd name="T79" fmla="*/ 52 h 599"/>
                  <a:gd name="T80" fmla="*/ 86 w 582"/>
                  <a:gd name="T81" fmla="*/ 52 h 599"/>
                  <a:gd name="T82" fmla="*/ 71 w 582"/>
                  <a:gd name="T83" fmla="*/ 64 h 599"/>
                  <a:gd name="T84" fmla="*/ 63 w 582"/>
                  <a:gd name="T85" fmla="*/ 84 h 599"/>
                  <a:gd name="T86" fmla="*/ 58 w 582"/>
                  <a:gd name="T87" fmla="*/ 142 h 599"/>
                  <a:gd name="T88" fmla="*/ 37 w 582"/>
                  <a:gd name="T89" fmla="*/ 144 h 599"/>
                  <a:gd name="T90" fmla="*/ 3 w 582"/>
                  <a:gd name="T91" fmla="*/ 182 h 599"/>
                  <a:gd name="T92" fmla="*/ 14 w 582"/>
                  <a:gd name="T93" fmla="*/ 211 h 599"/>
                  <a:gd name="T94" fmla="*/ 30 w 582"/>
                  <a:gd name="T95" fmla="*/ 227 h 599"/>
                  <a:gd name="T96" fmla="*/ 50 w 582"/>
                  <a:gd name="T97" fmla="*/ 224 h 599"/>
                  <a:gd name="T98" fmla="*/ 69 w 582"/>
                  <a:gd name="T99" fmla="*/ 242 h 599"/>
                  <a:gd name="T100" fmla="*/ 110 w 582"/>
                  <a:gd name="T101" fmla="*/ 226 h 599"/>
                  <a:gd name="T102" fmla="*/ 128 w 582"/>
                  <a:gd name="T103" fmla="*/ 246 h 599"/>
                  <a:gd name="T104" fmla="*/ 164 w 582"/>
                  <a:gd name="T105" fmla="*/ 270 h 599"/>
                  <a:gd name="T106" fmla="*/ 203 w 582"/>
                  <a:gd name="T107" fmla="*/ 294 h 599"/>
                  <a:gd name="T108" fmla="*/ 232 w 582"/>
                  <a:gd name="T109" fmla="*/ 322 h 599"/>
                  <a:gd name="T110" fmla="*/ 242 w 582"/>
                  <a:gd name="T111" fmla="*/ 347 h 599"/>
                  <a:gd name="T112" fmla="*/ 235 w 582"/>
                  <a:gd name="T113" fmla="*/ 381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82" h="599">
                    <a:moveTo>
                      <a:pt x="235" y="381"/>
                    </a:moveTo>
                    <a:cubicBezTo>
                      <a:pt x="235" y="382"/>
                      <a:pt x="235" y="382"/>
                      <a:pt x="235" y="382"/>
                    </a:cubicBezTo>
                    <a:cubicBezTo>
                      <a:pt x="235" y="382"/>
                      <a:pt x="239" y="389"/>
                      <a:pt x="239" y="391"/>
                    </a:cubicBezTo>
                    <a:cubicBezTo>
                      <a:pt x="240" y="394"/>
                      <a:pt x="240" y="395"/>
                      <a:pt x="240" y="397"/>
                    </a:cubicBezTo>
                    <a:cubicBezTo>
                      <a:pt x="240" y="398"/>
                      <a:pt x="239" y="399"/>
                      <a:pt x="239" y="400"/>
                    </a:cubicBezTo>
                    <a:cubicBezTo>
                      <a:pt x="239" y="401"/>
                      <a:pt x="238" y="401"/>
                      <a:pt x="239" y="403"/>
                    </a:cubicBezTo>
                    <a:cubicBezTo>
                      <a:pt x="239" y="406"/>
                      <a:pt x="238" y="409"/>
                      <a:pt x="238" y="410"/>
                    </a:cubicBezTo>
                    <a:cubicBezTo>
                      <a:pt x="237" y="411"/>
                      <a:pt x="238" y="412"/>
                      <a:pt x="238" y="412"/>
                    </a:cubicBezTo>
                    <a:cubicBezTo>
                      <a:pt x="238" y="412"/>
                      <a:pt x="253" y="414"/>
                      <a:pt x="254" y="415"/>
                    </a:cubicBezTo>
                    <a:cubicBezTo>
                      <a:pt x="255" y="415"/>
                      <a:pt x="255" y="414"/>
                      <a:pt x="255" y="414"/>
                    </a:cubicBezTo>
                    <a:cubicBezTo>
                      <a:pt x="255" y="414"/>
                      <a:pt x="259" y="412"/>
                      <a:pt x="260" y="411"/>
                    </a:cubicBezTo>
                    <a:cubicBezTo>
                      <a:pt x="261" y="411"/>
                      <a:pt x="261" y="412"/>
                      <a:pt x="261" y="412"/>
                    </a:cubicBezTo>
                    <a:cubicBezTo>
                      <a:pt x="263" y="415"/>
                      <a:pt x="269" y="415"/>
                      <a:pt x="269" y="416"/>
                    </a:cubicBezTo>
                    <a:cubicBezTo>
                      <a:pt x="270" y="416"/>
                      <a:pt x="270" y="415"/>
                      <a:pt x="271" y="417"/>
                    </a:cubicBezTo>
                    <a:cubicBezTo>
                      <a:pt x="273" y="419"/>
                      <a:pt x="273" y="422"/>
                      <a:pt x="273" y="422"/>
                    </a:cubicBezTo>
                    <a:cubicBezTo>
                      <a:pt x="273" y="422"/>
                      <a:pt x="274" y="430"/>
                      <a:pt x="274" y="431"/>
                    </a:cubicBezTo>
                    <a:cubicBezTo>
                      <a:pt x="274" y="433"/>
                      <a:pt x="274" y="434"/>
                      <a:pt x="275" y="437"/>
                    </a:cubicBezTo>
                    <a:cubicBezTo>
                      <a:pt x="276" y="441"/>
                      <a:pt x="277" y="441"/>
                      <a:pt x="278" y="441"/>
                    </a:cubicBezTo>
                    <a:cubicBezTo>
                      <a:pt x="279" y="442"/>
                      <a:pt x="280" y="441"/>
                      <a:pt x="281" y="441"/>
                    </a:cubicBezTo>
                    <a:cubicBezTo>
                      <a:pt x="282" y="441"/>
                      <a:pt x="283" y="441"/>
                      <a:pt x="284" y="440"/>
                    </a:cubicBezTo>
                    <a:cubicBezTo>
                      <a:pt x="284" y="440"/>
                      <a:pt x="286" y="440"/>
                      <a:pt x="286" y="440"/>
                    </a:cubicBezTo>
                    <a:cubicBezTo>
                      <a:pt x="286" y="440"/>
                      <a:pt x="292" y="442"/>
                      <a:pt x="292" y="442"/>
                    </a:cubicBezTo>
                    <a:cubicBezTo>
                      <a:pt x="293" y="442"/>
                      <a:pt x="293" y="443"/>
                      <a:pt x="293" y="443"/>
                    </a:cubicBezTo>
                    <a:cubicBezTo>
                      <a:pt x="293" y="443"/>
                      <a:pt x="292" y="450"/>
                      <a:pt x="292" y="452"/>
                    </a:cubicBezTo>
                    <a:cubicBezTo>
                      <a:pt x="291" y="454"/>
                      <a:pt x="288" y="464"/>
                      <a:pt x="288" y="464"/>
                    </a:cubicBezTo>
                    <a:cubicBezTo>
                      <a:pt x="288" y="465"/>
                      <a:pt x="288" y="465"/>
                      <a:pt x="288" y="466"/>
                    </a:cubicBezTo>
                    <a:cubicBezTo>
                      <a:pt x="288" y="466"/>
                      <a:pt x="289" y="467"/>
                      <a:pt x="289" y="467"/>
                    </a:cubicBezTo>
                    <a:cubicBezTo>
                      <a:pt x="291" y="468"/>
                      <a:pt x="293" y="467"/>
                      <a:pt x="293" y="466"/>
                    </a:cubicBezTo>
                    <a:cubicBezTo>
                      <a:pt x="294" y="466"/>
                      <a:pt x="294" y="466"/>
                      <a:pt x="294" y="466"/>
                    </a:cubicBezTo>
                    <a:cubicBezTo>
                      <a:pt x="294" y="466"/>
                      <a:pt x="296" y="466"/>
                      <a:pt x="297" y="466"/>
                    </a:cubicBezTo>
                    <a:cubicBezTo>
                      <a:pt x="297" y="466"/>
                      <a:pt x="297" y="466"/>
                      <a:pt x="298" y="467"/>
                    </a:cubicBezTo>
                    <a:cubicBezTo>
                      <a:pt x="298" y="468"/>
                      <a:pt x="301" y="475"/>
                      <a:pt x="302" y="477"/>
                    </a:cubicBezTo>
                    <a:cubicBezTo>
                      <a:pt x="302" y="478"/>
                      <a:pt x="302" y="483"/>
                      <a:pt x="301" y="485"/>
                    </a:cubicBezTo>
                    <a:cubicBezTo>
                      <a:pt x="301" y="487"/>
                      <a:pt x="300" y="489"/>
                      <a:pt x="300" y="490"/>
                    </a:cubicBezTo>
                    <a:cubicBezTo>
                      <a:pt x="299" y="492"/>
                      <a:pt x="299" y="492"/>
                      <a:pt x="298" y="492"/>
                    </a:cubicBezTo>
                    <a:cubicBezTo>
                      <a:pt x="297" y="493"/>
                      <a:pt x="293" y="495"/>
                      <a:pt x="292" y="495"/>
                    </a:cubicBezTo>
                    <a:cubicBezTo>
                      <a:pt x="291" y="496"/>
                      <a:pt x="289" y="496"/>
                      <a:pt x="287" y="497"/>
                    </a:cubicBezTo>
                    <a:cubicBezTo>
                      <a:pt x="284" y="497"/>
                      <a:pt x="281" y="501"/>
                      <a:pt x="280" y="502"/>
                    </a:cubicBezTo>
                    <a:cubicBezTo>
                      <a:pt x="279" y="502"/>
                      <a:pt x="278" y="503"/>
                      <a:pt x="278" y="504"/>
                    </a:cubicBezTo>
                    <a:cubicBezTo>
                      <a:pt x="277" y="504"/>
                      <a:pt x="276" y="504"/>
                      <a:pt x="276" y="505"/>
                    </a:cubicBezTo>
                    <a:cubicBezTo>
                      <a:pt x="276" y="506"/>
                      <a:pt x="275" y="506"/>
                      <a:pt x="274" y="506"/>
                    </a:cubicBezTo>
                    <a:cubicBezTo>
                      <a:pt x="273" y="507"/>
                      <a:pt x="272" y="507"/>
                      <a:pt x="271" y="508"/>
                    </a:cubicBezTo>
                    <a:cubicBezTo>
                      <a:pt x="270" y="509"/>
                      <a:pt x="271" y="510"/>
                      <a:pt x="271" y="511"/>
                    </a:cubicBezTo>
                    <a:cubicBezTo>
                      <a:pt x="272" y="512"/>
                      <a:pt x="271" y="512"/>
                      <a:pt x="270" y="512"/>
                    </a:cubicBezTo>
                    <a:cubicBezTo>
                      <a:pt x="269" y="513"/>
                      <a:pt x="266" y="515"/>
                      <a:pt x="265" y="516"/>
                    </a:cubicBezTo>
                    <a:cubicBezTo>
                      <a:pt x="264" y="517"/>
                      <a:pt x="258" y="524"/>
                      <a:pt x="256" y="527"/>
                    </a:cubicBezTo>
                    <a:cubicBezTo>
                      <a:pt x="255" y="529"/>
                      <a:pt x="245" y="538"/>
                      <a:pt x="245" y="538"/>
                    </a:cubicBezTo>
                    <a:cubicBezTo>
                      <a:pt x="245" y="538"/>
                      <a:pt x="244" y="539"/>
                      <a:pt x="243" y="540"/>
                    </a:cubicBezTo>
                    <a:cubicBezTo>
                      <a:pt x="245" y="541"/>
                      <a:pt x="247" y="542"/>
                      <a:pt x="248" y="542"/>
                    </a:cubicBezTo>
                    <a:cubicBezTo>
                      <a:pt x="248" y="542"/>
                      <a:pt x="250" y="542"/>
                      <a:pt x="250" y="541"/>
                    </a:cubicBezTo>
                    <a:cubicBezTo>
                      <a:pt x="251" y="539"/>
                      <a:pt x="252" y="538"/>
                      <a:pt x="253" y="539"/>
                    </a:cubicBezTo>
                    <a:cubicBezTo>
                      <a:pt x="255" y="539"/>
                      <a:pt x="257" y="540"/>
                      <a:pt x="258" y="542"/>
                    </a:cubicBezTo>
                    <a:cubicBezTo>
                      <a:pt x="260" y="543"/>
                      <a:pt x="263" y="546"/>
                      <a:pt x="264" y="547"/>
                    </a:cubicBezTo>
                    <a:cubicBezTo>
                      <a:pt x="265" y="547"/>
                      <a:pt x="267" y="549"/>
                      <a:pt x="267" y="554"/>
                    </a:cubicBezTo>
                    <a:cubicBezTo>
                      <a:pt x="267" y="554"/>
                      <a:pt x="267" y="555"/>
                      <a:pt x="267" y="555"/>
                    </a:cubicBezTo>
                    <a:cubicBezTo>
                      <a:pt x="268" y="554"/>
                      <a:pt x="270" y="554"/>
                      <a:pt x="270" y="554"/>
                    </a:cubicBezTo>
                    <a:cubicBezTo>
                      <a:pt x="271" y="554"/>
                      <a:pt x="270" y="553"/>
                      <a:pt x="271" y="553"/>
                    </a:cubicBezTo>
                    <a:cubicBezTo>
                      <a:pt x="272" y="552"/>
                      <a:pt x="272" y="553"/>
                      <a:pt x="272" y="552"/>
                    </a:cubicBezTo>
                    <a:cubicBezTo>
                      <a:pt x="272" y="551"/>
                      <a:pt x="272" y="550"/>
                      <a:pt x="273" y="551"/>
                    </a:cubicBezTo>
                    <a:cubicBezTo>
                      <a:pt x="274" y="551"/>
                      <a:pt x="276" y="553"/>
                      <a:pt x="277" y="555"/>
                    </a:cubicBezTo>
                    <a:cubicBezTo>
                      <a:pt x="278" y="556"/>
                      <a:pt x="279" y="558"/>
                      <a:pt x="281" y="558"/>
                    </a:cubicBezTo>
                    <a:cubicBezTo>
                      <a:pt x="283" y="559"/>
                      <a:pt x="286" y="561"/>
                      <a:pt x="288" y="561"/>
                    </a:cubicBezTo>
                    <a:cubicBezTo>
                      <a:pt x="289" y="562"/>
                      <a:pt x="289" y="563"/>
                      <a:pt x="289" y="563"/>
                    </a:cubicBezTo>
                    <a:cubicBezTo>
                      <a:pt x="290" y="564"/>
                      <a:pt x="290" y="565"/>
                      <a:pt x="291" y="565"/>
                    </a:cubicBezTo>
                    <a:cubicBezTo>
                      <a:pt x="291" y="565"/>
                      <a:pt x="297" y="568"/>
                      <a:pt x="297" y="569"/>
                    </a:cubicBezTo>
                    <a:cubicBezTo>
                      <a:pt x="297" y="569"/>
                      <a:pt x="298" y="569"/>
                      <a:pt x="298" y="569"/>
                    </a:cubicBezTo>
                    <a:cubicBezTo>
                      <a:pt x="298" y="570"/>
                      <a:pt x="301" y="577"/>
                      <a:pt x="309" y="580"/>
                    </a:cubicBezTo>
                    <a:cubicBezTo>
                      <a:pt x="309" y="580"/>
                      <a:pt x="309" y="581"/>
                      <a:pt x="309" y="581"/>
                    </a:cubicBezTo>
                    <a:cubicBezTo>
                      <a:pt x="308" y="582"/>
                      <a:pt x="304" y="588"/>
                      <a:pt x="304" y="589"/>
                    </a:cubicBezTo>
                    <a:cubicBezTo>
                      <a:pt x="304" y="591"/>
                      <a:pt x="304" y="595"/>
                      <a:pt x="304" y="595"/>
                    </a:cubicBezTo>
                    <a:cubicBezTo>
                      <a:pt x="304" y="596"/>
                      <a:pt x="304" y="597"/>
                      <a:pt x="304" y="597"/>
                    </a:cubicBezTo>
                    <a:cubicBezTo>
                      <a:pt x="304" y="597"/>
                      <a:pt x="305" y="598"/>
                      <a:pt x="306" y="599"/>
                    </a:cubicBezTo>
                    <a:cubicBezTo>
                      <a:pt x="309" y="596"/>
                      <a:pt x="315" y="592"/>
                      <a:pt x="317" y="586"/>
                    </a:cubicBezTo>
                    <a:cubicBezTo>
                      <a:pt x="320" y="580"/>
                      <a:pt x="325" y="575"/>
                      <a:pt x="324" y="572"/>
                    </a:cubicBezTo>
                    <a:cubicBezTo>
                      <a:pt x="324" y="569"/>
                      <a:pt x="322" y="564"/>
                      <a:pt x="325" y="563"/>
                    </a:cubicBezTo>
                    <a:cubicBezTo>
                      <a:pt x="327" y="562"/>
                      <a:pt x="327" y="558"/>
                      <a:pt x="330" y="557"/>
                    </a:cubicBezTo>
                    <a:cubicBezTo>
                      <a:pt x="333" y="555"/>
                      <a:pt x="335" y="553"/>
                      <a:pt x="336" y="551"/>
                    </a:cubicBezTo>
                    <a:cubicBezTo>
                      <a:pt x="336" y="549"/>
                      <a:pt x="336" y="548"/>
                      <a:pt x="338" y="546"/>
                    </a:cubicBezTo>
                    <a:cubicBezTo>
                      <a:pt x="339" y="544"/>
                      <a:pt x="337" y="539"/>
                      <a:pt x="340" y="540"/>
                    </a:cubicBezTo>
                    <a:cubicBezTo>
                      <a:pt x="344" y="542"/>
                      <a:pt x="349" y="541"/>
                      <a:pt x="347" y="543"/>
                    </a:cubicBezTo>
                    <a:cubicBezTo>
                      <a:pt x="345" y="545"/>
                      <a:pt x="349" y="545"/>
                      <a:pt x="347" y="547"/>
                    </a:cubicBezTo>
                    <a:cubicBezTo>
                      <a:pt x="345" y="550"/>
                      <a:pt x="342" y="551"/>
                      <a:pt x="342" y="553"/>
                    </a:cubicBezTo>
                    <a:cubicBezTo>
                      <a:pt x="342" y="555"/>
                      <a:pt x="343" y="556"/>
                      <a:pt x="341" y="555"/>
                    </a:cubicBezTo>
                    <a:cubicBezTo>
                      <a:pt x="339" y="554"/>
                      <a:pt x="339" y="554"/>
                      <a:pt x="339" y="557"/>
                    </a:cubicBezTo>
                    <a:cubicBezTo>
                      <a:pt x="338" y="560"/>
                      <a:pt x="337" y="561"/>
                      <a:pt x="335" y="563"/>
                    </a:cubicBezTo>
                    <a:cubicBezTo>
                      <a:pt x="333" y="564"/>
                      <a:pt x="330" y="568"/>
                      <a:pt x="328" y="568"/>
                    </a:cubicBezTo>
                    <a:cubicBezTo>
                      <a:pt x="327" y="568"/>
                      <a:pt x="327" y="566"/>
                      <a:pt x="326" y="569"/>
                    </a:cubicBezTo>
                    <a:cubicBezTo>
                      <a:pt x="326" y="571"/>
                      <a:pt x="326" y="571"/>
                      <a:pt x="331" y="568"/>
                    </a:cubicBezTo>
                    <a:cubicBezTo>
                      <a:pt x="335" y="564"/>
                      <a:pt x="337" y="564"/>
                      <a:pt x="340" y="561"/>
                    </a:cubicBezTo>
                    <a:cubicBezTo>
                      <a:pt x="343" y="558"/>
                      <a:pt x="350" y="549"/>
                      <a:pt x="355" y="538"/>
                    </a:cubicBezTo>
                    <a:cubicBezTo>
                      <a:pt x="361" y="526"/>
                      <a:pt x="362" y="525"/>
                      <a:pt x="368" y="521"/>
                    </a:cubicBezTo>
                    <a:cubicBezTo>
                      <a:pt x="374" y="517"/>
                      <a:pt x="378" y="513"/>
                      <a:pt x="377" y="504"/>
                    </a:cubicBezTo>
                    <a:cubicBezTo>
                      <a:pt x="377" y="496"/>
                      <a:pt x="375" y="494"/>
                      <a:pt x="377" y="493"/>
                    </a:cubicBezTo>
                    <a:cubicBezTo>
                      <a:pt x="379" y="492"/>
                      <a:pt x="378" y="492"/>
                      <a:pt x="377" y="490"/>
                    </a:cubicBezTo>
                    <a:cubicBezTo>
                      <a:pt x="376" y="488"/>
                      <a:pt x="374" y="486"/>
                      <a:pt x="376" y="482"/>
                    </a:cubicBezTo>
                    <a:cubicBezTo>
                      <a:pt x="378" y="479"/>
                      <a:pt x="381" y="474"/>
                      <a:pt x="378" y="476"/>
                    </a:cubicBezTo>
                    <a:cubicBezTo>
                      <a:pt x="376" y="477"/>
                      <a:pt x="375" y="476"/>
                      <a:pt x="377" y="474"/>
                    </a:cubicBezTo>
                    <a:cubicBezTo>
                      <a:pt x="379" y="471"/>
                      <a:pt x="374" y="472"/>
                      <a:pt x="376" y="471"/>
                    </a:cubicBezTo>
                    <a:cubicBezTo>
                      <a:pt x="378" y="469"/>
                      <a:pt x="384" y="467"/>
                      <a:pt x="380" y="466"/>
                    </a:cubicBezTo>
                    <a:cubicBezTo>
                      <a:pt x="376" y="465"/>
                      <a:pt x="377" y="464"/>
                      <a:pt x="380" y="462"/>
                    </a:cubicBezTo>
                    <a:cubicBezTo>
                      <a:pt x="382" y="460"/>
                      <a:pt x="384" y="462"/>
                      <a:pt x="386" y="461"/>
                    </a:cubicBezTo>
                    <a:cubicBezTo>
                      <a:pt x="388" y="460"/>
                      <a:pt x="384" y="458"/>
                      <a:pt x="388" y="457"/>
                    </a:cubicBezTo>
                    <a:cubicBezTo>
                      <a:pt x="391" y="455"/>
                      <a:pt x="408" y="443"/>
                      <a:pt x="410" y="441"/>
                    </a:cubicBezTo>
                    <a:cubicBezTo>
                      <a:pt x="412" y="439"/>
                      <a:pt x="414" y="440"/>
                      <a:pt x="415" y="439"/>
                    </a:cubicBezTo>
                    <a:cubicBezTo>
                      <a:pt x="417" y="438"/>
                      <a:pt x="421" y="438"/>
                      <a:pt x="422" y="438"/>
                    </a:cubicBezTo>
                    <a:cubicBezTo>
                      <a:pt x="423" y="438"/>
                      <a:pt x="425" y="438"/>
                      <a:pt x="425" y="440"/>
                    </a:cubicBezTo>
                    <a:cubicBezTo>
                      <a:pt x="425" y="441"/>
                      <a:pt x="428" y="442"/>
                      <a:pt x="427" y="439"/>
                    </a:cubicBezTo>
                    <a:cubicBezTo>
                      <a:pt x="427" y="437"/>
                      <a:pt x="427" y="437"/>
                      <a:pt x="426" y="438"/>
                    </a:cubicBezTo>
                    <a:cubicBezTo>
                      <a:pt x="425" y="439"/>
                      <a:pt x="424" y="437"/>
                      <a:pt x="427" y="436"/>
                    </a:cubicBezTo>
                    <a:cubicBezTo>
                      <a:pt x="430" y="434"/>
                      <a:pt x="439" y="431"/>
                      <a:pt x="437" y="429"/>
                    </a:cubicBezTo>
                    <a:cubicBezTo>
                      <a:pt x="435" y="427"/>
                      <a:pt x="436" y="426"/>
                      <a:pt x="439" y="426"/>
                    </a:cubicBezTo>
                    <a:cubicBezTo>
                      <a:pt x="441" y="425"/>
                      <a:pt x="439" y="426"/>
                      <a:pt x="442" y="426"/>
                    </a:cubicBezTo>
                    <a:cubicBezTo>
                      <a:pt x="446" y="425"/>
                      <a:pt x="448" y="424"/>
                      <a:pt x="452" y="425"/>
                    </a:cubicBezTo>
                    <a:cubicBezTo>
                      <a:pt x="455" y="425"/>
                      <a:pt x="458" y="427"/>
                      <a:pt x="457" y="425"/>
                    </a:cubicBezTo>
                    <a:cubicBezTo>
                      <a:pt x="456" y="422"/>
                      <a:pt x="460" y="419"/>
                      <a:pt x="460" y="422"/>
                    </a:cubicBezTo>
                    <a:cubicBezTo>
                      <a:pt x="460" y="424"/>
                      <a:pt x="461" y="424"/>
                      <a:pt x="466" y="425"/>
                    </a:cubicBezTo>
                    <a:cubicBezTo>
                      <a:pt x="470" y="427"/>
                      <a:pt x="475" y="426"/>
                      <a:pt x="475" y="425"/>
                    </a:cubicBezTo>
                    <a:cubicBezTo>
                      <a:pt x="476" y="423"/>
                      <a:pt x="477" y="422"/>
                      <a:pt x="476" y="421"/>
                    </a:cubicBezTo>
                    <a:cubicBezTo>
                      <a:pt x="475" y="419"/>
                      <a:pt x="475" y="419"/>
                      <a:pt x="480" y="416"/>
                    </a:cubicBezTo>
                    <a:cubicBezTo>
                      <a:pt x="484" y="414"/>
                      <a:pt x="492" y="411"/>
                      <a:pt x="490" y="405"/>
                    </a:cubicBezTo>
                    <a:cubicBezTo>
                      <a:pt x="489" y="398"/>
                      <a:pt x="491" y="395"/>
                      <a:pt x="495" y="391"/>
                    </a:cubicBezTo>
                    <a:cubicBezTo>
                      <a:pt x="499" y="387"/>
                      <a:pt x="500" y="385"/>
                      <a:pt x="500" y="384"/>
                    </a:cubicBezTo>
                    <a:cubicBezTo>
                      <a:pt x="499" y="382"/>
                      <a:pt x="501" y="384"/>
                      <a:pt x="502" y="380"/>
                    </a:cubicBezTo>
                    <a:cubicBezTo>
                      <a:pt x="504" y="376"/>
                      <a:pt x="505" y="375"/>
                      <a:pt x="507" y="373"/>
                    </a:cubicBezTo>
                    <a:cubicBezTo>
                      <a:pt x="510" y="371"/>
                      <a:pt x="510" y="371"/>
                      <a:pt x="509" y="363"/>
                    </a:cubicBezTo>
                    <a:cubicBezTo>
                      <a:pt x="509" y="355"/>
                      <a:pt x="508" y="355"/>
                      <a:pt x="513" y="349"/>
                    </a:cubicBezTo>
                    <a:cubicBezTo>
                      <a:pt x="517" y="344"/>
                      <a:pt x="518" y="344"/>
                      <a:pt x="517" y="337"/>
                    </a:cubicBezTo>
                    <a:cubicBezTo>
                      <a:pt x="515" y="330"/>
                      <a:pt x="520" y="327"/>
                      <a:pt x="520" y="321"/>
                    </a:cubicBezTo>
                    <a:cubicBezTo>
                      <a:pt x="521" y="316"/>
                      <a:pt x="520" y="308"/>
                      <a:pt x="520" y="300"/>
                    </a:cubicBezTo>
                    <a:cubicBezTo>
                      <a:pt x="520" y="292"/>
                      <a:pt x="521" y="287"/>
                      <a:pt x="519" y="284"/>
                    </a:cubicBezTo>
                    <a:cubicBezTo>
                      <a:pt x="518" y="282"/>
                      <a:pt x="520" y="283"/>
                      <a:pt x="519" y="280"/>
                    </a:cubicBezTo>
                    <a:cubicBezTo>
                      <a:pt x="518" y="278"/>
                      <a:pt x="518" y="278"/>
                      <a:pt x="520" y="276"/>
                    </a:cubicBezTo>
                    <a:cubicBezTo>
                      <a:pt x="522" y="275"/>
                      <a:pt x="525" y="272"/>
                      <a:pt x="523" y="270"/>
                    </a:cubicBezTo>
                    <a:cubicBezTo>
                      <a:pt x="522" y="268"/>
                      <a:pt x="522" y="265"/>
                      <a:pt x="525" y="266"/>
                    </a:cubicBezTo>
                    <a:cubicBezTo>
                      <a:pt x="527" y="266"/>
                      <a:pt x="527" y="268"/>
                      <a:pt x="528" y="271"/>
                    </a:cubicBezTo>
                    <a:cubicBezTo>
                      <a:pt x="529" y="274"/>
                      <a:pt x="531" y="268"/>
                      <a:pt x="533" y="267"/>
                    </a:cubicBezTo>
                    <a:cubicBezTo>
                      <a:pt x="535" y="265"/>
                      <a:pt x="542" y="255"/>
                      <a:pt x="543" y="251"/>
                    </a:cubicBezTo>
                    <a:cubicBezTo>
                      <a:pt x="544" y="247"/>
                      <a:pt x="543" y="247"/>
                      <a:pt x="544" y="245"/>
                    </a:cubicBezTo>
                    <a:cubicBezTo>
                      <a:pt x="546" y="244"/>
                      <a:pt x="547" y="244"/>
                      <a:pt x="547" y="242"/>
                    </a:cubicBezTo>
                    <a:cubicBezTo>
                      <a:pt x="547" y="240"/>
                      <a:pt x="548" y="237"/>
                      <a:pt x="549" y="238"/>
                    </a:cubicBezTo>
                    <a:cubicBezTo>
                      <a:pt x="550" y="239"/>
                      <a:pt x="550" y="239"/>
                      <a:pt x="552" y="237"/>
                    </a:cubicBezTo>
                    <a:cubicBezTo>
                      <a:pt x="554" y="236"/>
                      <a:pt x="558" y="235"/>
                      <a:pt x="560" y="231"/>
                    </a:cubicBezTo>
                    <a:cubicBezTo>
                      <a:pt x="563" y="228"/>
                      <a:pt x="568" y="225"/>
                      <a:pt x="567" y="223"/>
                    </a:cubicBezTo>
                    <a:cubicBezTo>
                      <a:pt x="566" y="220"/>
                      <a:pt x="566" y="222"/>
                      <a:pt x="568" y="220"/>
                    </a:cubicBezTo>
                    <a:cubicBezTo>
                      <a:pt x="570" y="219"/>
                      <a:pt x="572" y="217"/>
                      <a:pt x="574" y="214"/>
                    </a:cubicBezTo>
                    <a:cubicBezTo>
                      <a:pt x="576" y="211"/>
                      <a:pt x="582" y="202"/>
                      <a:pt x="582" y="196"/>
                    </a:cubicBezTo>
                    <a:cubicBezTo>
                      <a:pt x="581" y="190"/>
                      <a:pt x="582" y="191"/>
                      <a:pt x="582" y="187"/>
                    </a:cubicBezTo>
                    <a:cubicBezTo>
                      <a:pt x="582" y="182"/>
                      <a:pt x="578" y="168"/>
                      <a:pt x="575" y="161"/>
                    </a:cubicBezTo>
                    <a:cubicBezTo>
                      <a:pt x="573" y="154"/>
                      <a:pt x="569" y="152"/>
                      <a:pt x="561" y="153"/>
                    </a:cubicBezTo>
                    <a:cubicBezTo>
                      <a:pt x="554" y="154"/>
                      <a:pt x="546" y="151"/>
                      <a:pt x="531" y="138"/>
                    </a:cubicBezTo>
                    <a:cubicBezTo>
                      <a:pt x="531" y="138"/>
                      <a:pt x="513" y="124"/>
                      <a:pt x="504" y="122"/>
                    </a:cubicBezTo>
                    <a:cubicBezTo>
                      <a:pt x="494" y="119"/>
                      <a:pt x="494" y="120"/>
                      <a:pt x="492" y="120"/>
                    </a:cubicBezTo>
                    <a:cubicBezTo>
                      <a:pt x="490" y="120"/>
                      <a:pt x="485" y="120"/>
                      <a:pt x="486" y="121"/>
                    </a:cubicBezTo>
                    <a:cubicBezTo>
                      <a:pt x="487" y="123"/>
                      <a:pt x="486" y="123"/>
                      <a:pt x="483" y="122"/>
                    </a:cubicBezTo>
                    <a:cubicBezTo>
                      <a:pt x="480" y="121"/>
                      <a:pt x="478" y="118"/>
                      <a:pt x="475" y="120"/>
                    </a:cubicBezTo>
                    <a:cubicBezTo>
                      <a:pt x="472" y="121"/>
                      <a:pt x="467" y="119"/>
                      <a:pt x="464" y="117"/>
                    </a:cubicBezTo>
                    <a:cubicBezTo>
                      <a:pt x="461" y="116"/>
                      <a:pt x="456" y="113"/>
                      <a:pt x="454" y="114"/>
                    </a:cubicBezTo>
                    <a:cubicBezTo>
                      <a:pt x="452" y="115"/>
                      <a:pt x="446" y="117"/>
                      <a:pt x="445" y="118"/>
                    </a:cubicBezTo>
                    <a:cubicBezTo>
                      <a:pt x="445" y="119"/>
                      <a:pt x="441" y="120"/>
                      <a:pt x="444" y="116"/>
                    </a:cubicBezTo>
                    <a:cubicBezTo>
                      <a:pt x="446" y="113"/>
                      <a:pt x="445" y="113"/>
                      <a:pt x="443" y="114"/>
                    </a:cubicBezTo>
                    <a:cubicBezTo>
                      <a:pt x="441" y="116"/>
                      <a:pt x="440" y="117"/>
                      <a:pt x="440" y="120"/>
                    </a:cubicBezTo>
                    <a:cubicBezTo>
                      <a:pt x="439" y="122"/>
                      <a:pt x="433" y="129"/>
                      <a:pt x="435" y="122"/>
                    </a:cubicBezTo>
                    <a:cubicBezTo>
                      <a:pt x="438" y="116"/>
                      <a:pt x="436" y="114"/>
                      <a:pt x="438" y="113"/>
                    </a:cubicBezTo>
                    <a:cubicBezTo>
                      <a:pt x="439" y="111"/>
                      <a:pt x="442" y="107"/>
                      <a:pt x="439" y="109"/>
                    </a:cubicBezTo>
                    <a:cubicBezTo>
                      <a:pt x="436" y="111"/>
                      <a:pt x="436" y="111"/>
                      <a:pt x="437" y="106"/>
                    </a:cubicBezTo>
                    <a:cubicBezTo>
                      <a:pt x="438" y="102"/>
                      <a:pt x="437" y="104"/>
                      <a:pt x="436" y="104"/>
                    </a:cubicBezTo>
                    <a:cubicBezTo>
                      <a:pt x="435" y="105"/>
                      <a:pt x="434" y="106"/>
                      <a:pt x="434" y="104"/>
                    </a:cubicBezTo>
                    <a:cubicBezTo>
                      <a:pt x="434" y="103"/>
                      <a:pt x="433" y="103"/>
                      <a:pt x="432" y="102"/>
                    </a:cubicBezTo>
                    <a:cubicBezTo>
                      <a:pt x="431" y="101"/>
                      <a:pt x="431" y="99"/>
                      <a:pt x="429" y="101"/>
                    </a:cubicBezTo>
                    <a:cubicBezTo>
                      <a:pt x="427" y="102"/>
                      <a:pt x="426" y="103"/>
                      <a:pt x="426" y="100"/>
                    </a:cubicBezTo>
                    <a:cubicBezTo>
                      <a:pt x="426" y="96"/>
                      <a:pt x="425" y="98"/>
                      <a:pt x="424" y="99"/>
                    </a:cubicBezTo>
                    <a:cubicBezTo>
                      <a:pt x="423" y="100"/>
                      <a:pt x="424" y="97"/>
                      <a:pt x="423" y="97"/>
                    </a:cubicBezTo>
                    <a:cubicBezTo>
                      <a:pt x="421" y="97"/>
                      <a:pt x="420" y="96"/>
                      <a:pt x="420" y="95"/>
                    </a:cubicBezTo>
                    <a:cubicBezTo>
                      <a:pt x="420" y="95"/>
                      <a:pt x="419" y="95"/>
                      <a:pt x="418" y="95"/>
                    </a:cubicBezTo>
                    <a:cubicBezTo>
                      <a:pt x="417" y="94"/>
                      <a:pt x="413" y="96"/>
                      <a:pt x="414" y="95"/>
                    </a:cubicBezTo>
                    <a:cubicBezTo>
                      <a:pt x="414" y="93"/>
                      <a:pt x="411" y="96"/>
                      <a:pt x="412" y="93"/>
                    </a:cubicBezTo>
                    <a:cubicBezTo>
                      <a:pt x="413" y="91"/>
                      <a:pt x="412" y="92"/>
                      <a:pt x="411" y="93"/>
                    </a:cubicBezTo>
                    <a:cubicBezTo>
                      <a:pt x="409" y="94"/>
                      <a:pt x="403" y="93"/>
                      <a:pt x="405" y="92"/>
                    </a:cubicBezTo>
                    <a:cubicBezTo>
                      <a:pt x="407" y="91"/>
                      <a:pt x="407" y="90"/>
                      <a:pt x="405" y="90"/>
                    </a:cubicBezTo>
                    <a:cubicBezTo>
                      <a:pt x="403" y="91"/>
                      <a:pt x="404" y="89"/>
                      <a:pt x="403" y="89"/>
                    </a:cubicBezTo>
                    <a:cubicBezTo>
                      <a:pt x="401" y="89"/>
                      <a:pt x="404" y="87"/>
                      <a:pt x="401" y="89"/>
                    </a:cubicBezTo>
                    <a:cubicBezTo>
                      <a:pt x="399" y="90"/>
                      <a:pt x="399" y="90"/>
                      <a:pt x="397" y="88"/>
                    </a:cubicBezTo>
                    <a:cubicBezTo>
                      <a:pt x="395" y="86"/>
                      <a:pt x="392" y="86"/>
                      <a:pt x="390" y="87"/>
                    </a:cubicBezTo>
                    <a:cubicBezTo>
                      <a:pt x="389" y="88"/>
                      <a:pt x="380" y="91"/>
                      <a:pt x="382" y="93"/>
                    </a:cubicBezTo>
                    <a:cubicBezTo>
                      <a:pt x="384" y="95"/>
                      <a:pt x="382" y="95"/>
                      <a:pt x="380" y="96"/>
                    </a:cubicBezTo>
                    <a:cubicBezTo>
                      <a:pt x="378" y="97"/>
                      <a:pt x="377" y="99"/>
                      <a:pt x="379" y="99"/>
                    </a:cubicBezTo>
                    <a:cubicBezTo>
                      <a:pt x="381" y="99"/>
                      <a:pt x="380" y="100"/>
                      <a:pt x="379" y="101"/>
                    </a:cubicBezTo>
                    <a:cubicBezTo>
                      <a:pt x="378" y="102"/>
                      <a:pt x="378" y="102"/>
                      <a:pt x="377" y="101"/>
                    </a:cubicBezTo>
                    <a:cubicBezTo>
                      <a:pt x="376" y="99"/>
                      <a:pt x="376" y="101"/>
                      <a:pt x="374" y="101"/>
                    </a:cubicBezTo>
                    <a:cubicBezTo>
                      <a:pt x="373" y="102"/>
                      <a:pt x="367" y="107"/>
                      <a:pt x="366" y="110"/>
                    </a:cubicBezTo>
                    <a:cubicBezTo>
                      <a:pt x="366" y="112"/>
                      <a:pt x="364" y="117"/>
                      <a:pt x="365" y="109"/>
                    </a:cubicBezTo>
                    <a:cubicBezTo>
                      <a:pt x="366" y="102"/>
                      <a:pt x="366" y="104"/>
                      <a:pt x="365" y="105"/>
                    </a:cubicBezTo>
                    <a:cubicBezTo>
                      <a:pt x="363" y="106"/>
                      <a:pt x="363" y="105"/>
                      <a:pt x="361" y="106"/>
                    </a:cubicBezTo>
                    <a:cubicBezTo>
                      <a:pt x="359" y="107"/>
                      <a:pt x="359" y="108"/>
                      <a:pt x="358" y="106"/>
                    </a:cubicBezTo>
                    <a:cubicBezTo>
                      <a:pt x="357" y="105"/>
                      <a:pt x="354" y="105"/>
                      <a:pt x="354" y="106"/>
                    </a:cubicBezTo>
                    <a:cubicBezTo>
                      <a:pt x="353" y="107"/>
                      <a:pt x="350" y="106"/>
                      <a:pt x="347" y="105"/>
                    </a:cubicBezTo>
                    <a:cubicBezTo>
                      <a:pt x="345" y="104"/>
                      <a:pt x="345" y="105"/>
                      <a:pt x="344" y="100"/>
                    </a:cubicBezTo>
                    <a:cubicBezTo>
                      <a:pt x="344" y="96"/>
                      <a:pt x="344" y="90"/>
                      <a:pt x="342" y="92"/>
                    </a:cubicBezTo>
                    <a:cubicBezTo>
                      <a:pt x="340" y="95"/>
                      <a:pt x="339" y="96"/>
                      <a:pt x="335" y="98"/>
                    </a:cubicBezTo>
                    <a:cubicBezTo>
                      <a:pt x="332" y="99"/>
                      <a:pt x="328" y="101"/>
                      <a:pt x="327" y="101"/>
                    </a:cubicBezTo>
                    <a:cubicBezTo>
                      <a:pt x="326" y="102"/>
                      <a:pt x="323" y="104"/>
                      <a:pt x="323" y="103"/>
                    </a:cubicBezTo>
                    <a:cubicBezTo>
                      <a:pt x="322" y="101"/>
                      <a:pt x="321" y="101"/>
                      <a:pt x="320" y="101"/>
                    </a:cubicBezTo>
                    <a:cubicBezTo>
                      <a:pt x="320" y="101"/>
                      <a:pt x="311" y="103"/>
                      <a:pt x="319" y="100"/>
                    </a:cubicBezTo>
                    <a:cubicBezTo>
                      <a:pt x="327" y="96"/>
                      <a:pt x="327" y="100"/>
                      <a:pt x="328" y="96"/>
                    </a:cubicBezTo>
                    <a:cubicBezTo>
                      <a:pt x="329" y="92"/>
                      <a:pt x="332" y="88"/>
                      <a:pt x="335" y="85"/>
                    </a:cubicBezTo>
                    <a:cubicBezTo>
                      <a:pt x="338" y="81"/>
                      <a:pt x="345" y="73"/>
                      <a:pt x="348" y="70"/>
                    </a:cubicBezTo>
                    <a:cubicBezTo>
                      <a:pt x="352" y="67"/>
                      <a:pt x="361" y="60"/>
                      <a:pt x="358" y="59"/>
                    </a:cubicBezTo>
                    <a:cubicBezTo>
                      <a:pt x="355" y="58"/>
                      <a:pt x="361" y="56"/>
                      <a:pt x="357" y="53"/>
                    </a:cubicBezTo>
                    <a:cubicBezTo>
                      <a:pt x="353" y="50"/>
                      <a:pt x="350" y="52"/>
                      <a:pt x="351" y="49"/>
                    </a:cubicBezTo>
                    <a:cubicBezTo>
                      <a:pt x="353" y="47"/>
                      <a:pt x="350" y="45"/>
                      <a:pt x="349" y="46"/>
                    </a:cubicBezTo>
                    <a:cubicBezTo>
                      <a:pt x="347" y="48"/>
                      <a:pt x="347" y="49"/>
                      <a:pt x="346" y="45"/>
                    </a:cubicBezTo>
                    <a:cubicBezTo>
                      <a:pt x="344" y="42"/>
                      <a:pt x="342" y="36"/>
                      <a:pt x="342" y="32"/>
                    </a:cubicBezTo>
                    <a:cubicBezTo>
                      <a:pt x="341" y="28"/>
                      <a:pt x="341" y="19"/>
                      <a:pt x="340" y="20"/>
                    </a:cubicBezTo>
                    <a:cubicBezTo>
                      <a:pt x="339" y="22"/>
                      <a:pt x="339" y="23"/>
                      <a:pt x="338" y="19"/>
                    </a:cubicBezTo>
                    <a:cubicBezTo>
                      <a:pt x="337" y="14"/>
                      <a:pt x="335" y="13"/>
                      <a:pt x="334" y="13"/>
                    </a:cubicBezTo>
                    <a:cubicBezTo>
                      <a:pt x="333" y="14"/>
                      <a:pt x="333" y="18"/>
                      <a:pt x="332" y="16"/>
                    </a:cubicBezTo>
                    <a:cubicBezTo>
                      <a:pt x="331" y="19"/>
                      <a:pt x="326" y="25"/>
                      <a:pt x="325" y="26"/>
                    </a:cubicBezTo>
                    <a:cubicBezTo>
                      <a:pt x="324" y="27"/>
                      <a:pt x="322" y="31"/>
                      <a:pt x="321" y="32"/>
                    </a:cubicBezTo>
                    <a:cubicBezTo>
                      <a:pt x="321" y="34"/>
                      <a:pt x="320" y="35"/>
                      <a:pt x="319" y="36"/>
                    </a:cubicBezTo>
                    <a:cubicBezTo>
                      <a:pt x="319" y="38"/>
                      <a:pt x="319" y="39"/>
                      <a:pt x="318" y="41"/>
                    </a:cubicBezTo>
                    <a:cubicBezTo>
                      <a:pt x="317" y="43"/>
                      <a:pt x="314" y="45"/>
                      <a:pt x="313" y="45"/>
                    </a:cubicBezTo>
                    <a:cubicBezTo>
                      <a:pt x="311" y="46"/>
                      <a:pt x="309" y="45"/>
                      <a:pt x="308" y="45"/>
                    </a:cubicBezTo>
                    <a:cubicBezTo>
                      <a:pt x="308" y="45"/>
                      <a:pt x="308" y="45"/>
                      <a:pt x="308" y="45"/>
                    </a:cubicBezTo>
                    <a:cubicBezTo>
                      <a:pt x="308" y="45"/>
                      <a:pt x="307" y="45"/>
                      <a:pt x="307" y="44"/>
                    </a:cubicBezTo>
                    <a:cubicBezTo>
                      <a:pt x="307" y="43"/>
                      <a:pt x="306" y="43"/>
                      <a:pt x="306" y="43"/>
                    </a:cubicBezTo>
                    <a:cubicBezTo>
                      <a:pt x="306" y="43"/>
                      <a:pt x="301" y="44"/>
                      <a:pt x="300" y="44"/>
                    </a:cubicBezTo>
                    <a:cubicBezTo>
                      <a:pt x="299" y="45"/>
                      <a:pt x="297" y="45"/>
                      <a:pt x="297" y="46"/>
                    </a:cubicBezTo>
                    <a:cubicBezTo>
                      <a:pt x="296" y="46"/>
                      <a:pt x="296" y="46"/>
                      <a:pt x="295" y="47"/>
                    </a:cubicBezTo>
                    <a:cubicBezTo>
                      <a:pt x="294" y="47"/>
                      <a:pt x="291" y="45"/>
                      <a:pt x="291" y="45"/>
                    </a:cubicBezTo>
                    <a:cubicBezTo>
                      <a:pt x="291" y="45"/>
                      <a:pt x="289" y="44"/>
                      <a:pt x="288" y="43"/>
                    </a:cubicBezTo>
                    <a:cubicBezTo>
                      <a:pt x="288" y="43"/>
                      <a:pt x="287" y="43"/>
                      <a:pt x="287" y="43"/>
                    </a:cubicBezTo>
                    <a:cubicBezTo>
                      <a:pt x="287" y="42"/>
                      <a:pt x="284" y="41"/>
                      <a:pt x="283" y="40"/>
                    </a:cubicBezTo>
                    <a:cubicBezTo>
                      <a:pt x="283" y="40"/>
                      <a:pt x="282" y="40"/>
                      <a:pt x="283" y="39"/>
                    </a:cubicBezTo>
                    <a:cubicBezTo>
                      <a:pt x="283" y="39"/>
                      <a:pt x="282" y="39"/>
                      <a:pt x="281" y="40"/>
                    </a:cubicBezTo>
                    <a:cubicBezTo>
                      <a:pt x="280" y="40"/>
                      <a:pt x="277" y="41"/>
                      <a:pt x="276" y="42"/>
                    </a:cubicBezTo>
                    <a:cubicBezTo>
                      <a:pt x="275" y="43"/>
                      <a:pt x="271" y="41"/>
                      <a:pt x="270" y="41"/>
                    </a:cubicBezTo>
                    <a:cubicBezTo>
                      <a:pt x="269" y="41"/>
                      <a:pt x="269" y="41"/>
                      <a:pt x="268" y="41"/>
                    </a:cubicBezTo>
                    <a:cubicBezTo>
                      <a:pt x="267" y="40"/>
                      <a:pt x="267" y="42"/>
                      <a:pt x="266" y="43"/>
                    </a:cubicBezTo>
                    <a:cubicBezTo>
                      <a:pt x="266" y="44"/>
                      <a:pt x="266" y="45"/>
                      <a:pt x="267" y="46"/>
                    </a:cubicBezTo>
                    <a:cubicBezTo>
                      <a:pt x="268" y="47"/>
                      <a:pt x="268" y="47"/>
                      <a:pt x="268" y="49"/>
                    </a:cubicBezTo>
                    <a:cubicBezTo>
                      <a:pt x="269" y="50"/>
                      <a:pt x="268" y="50"/>
                      <a:pt x="267" y="50"/>
                    </a:cubicBezTo>
                    <a:cubicBezTo>
                      <a:pt x="266" y="51"/>
                      <a:pt x="262" y="49"/>
                      <a:pt x="261" y="49"/>
                    </a:cubicBezTo>
                    <a:cubicBezTo>
                      <a:pt x="261" y="49"/>
                      <a:pt x="260" y="49"/>
                      <a:pt x="260" y="49"/>
                    </a:cubicBezTo>
                    <a:cubicBezTo>
                      <a:pt x="258" y="49"/>
                      <a:pt x="254" y="50"/>
                      <a:pt x="253" y="49"/>
                    </a:cubicBezTo>
                    <a:cubicBezTo>
                      <a:pt x="251" y="49"/>
                      <a:pt x="251" y="49"/>
                      <a:pt x="251" y="48"/>
                    </a:cubicBezTo>
                    <a:cubicBezTo>
                      <a:pt x="251" y="48"/>
                      <a:pt x="251" y="48"/>
                      <a:pt x="250" y="48"/>
                    </a:cubicBezTo>
                    <a:cubicBezTo>
                      <a:pt x="249" y="48"/>
                      <a:pt x="247" y="49"/>
                      <a:pt x="246" y="51"/>
                    </a:cubicBezTo>
                    <a:cubicBezTo>
                      <a:pt x="244" y="53"/>
                      <a:pt x="242" y="54"/>
                      <a:pt x="242" y="54"/>
                    </a:cubicBezTo>
                    <a:cubicBezTo>
                      <a:pt x="242" y="54"/>
                      <a:pt x="231" y="56"/>
                      <a:pt x="230" y="56"/>
                    </a:cubicBezTo>
                    <a:cubicBezTo>
                      <a:pt x="230" y="56"/>
                      <a:pt x="230" y="57"/>
                      <a:pt x="230" y="57"/>
                    </a:cubicBezTo>
                    <a:cubicBezTo>
                      <a:pt x="231" y="58"/>
                      <a:pt x="230" y="59"/>
                      <a:pt x="230" y="59"/>
                    </a:cubicBezTo>
                    <a:cubicBezTo>
                      <a:pt x="230" y="59"/>
                      <a:pt x="228" y="60"/>
                      <a:pt x="227" y="60"/>
                    </a:cubicBezTo>
                    <a:cubicBezTo>
                      <a:pt x="225" y="60"/>
                      <a:pt x="224" y="59"/>
                      <a:pt x="223" y="59"/>
                    </a:cubicBezTo>
                    <a:cubicBezTo>
                      <a:pt x="223" y="58"/>
                      <a:pt x="221" y="58"/>
                      <a:pt x="221" y="58"/>
                    </a:cubicBezTo>
                    <a:cubicBezTo>
                      <a:pt x="220" y="58"/>
                      <a:pt x="218" y="57"/>
                      <a:pt x="218" y="56"/>
                    </a:cubicBezTo>
                    <a:cubicBezTo>
                      <a:pt x="217" y="56"/>
                      <a:pt x="214" y="52"/>
                      <a:pt x="213" y="51"/>
                    </a:cubicBezTo>
                    <a:cubicBezTo>
                      <a:pt x="213" y="51"/>
                      <a:pt x="213" y="51"/>
                      <a:pt x="212" y="50"/>
                    </a:cubicBezTo>
                    <a:cubicBezTo>
                      <a:pt x="212" y="50"/>
                      <a:pt x="211" y="45"/>
                      <a:pt x="211" y="44"/>
                    </a:cubicBezTo>
                    <a:cubicBezTo>
                      <a:pt x="211" y="44"/>
                      <a:pt x="210" y="44"/>
                      <a:pt x="210" y="44"/>
                    </a:cubicBezTo>
                    <a:cubicBezTo>
                      <a:pt x="206" y="39"/>
                      <a:pt x="209" y="30"/>
                      <a:pt x="210" y="28"/>
                    </a:cubicBezTo>
                    <a:cubicBezTo>
                      <a:pt x="211" y="26"/>
                      <a:pt x="212" y="24"/>
                      <a:pt x="212" y="23"/>
                    </a:cubicBezTo>
                    <a:cubicBezTo>
                      <a:pt x="213" y="23"/>
                      <a:pt x="214" y="21"/>
                      <a:pt x="214" y="20"/>
                    </a:cubicBezTo>
                    <a:cubicBezTo>
                      <a:pt x="214" y="20"/>
                      <a:pt x="215" y="19"/>
                      <a:pt x="214" y="19"/>
                    </a:cubicBezTo>
                    <a:cubicBezTo>
                      <a:pt x="214" y="19"/>
                      <a:pt x="214" y="18"/>
                      <a:pt x="213" y="17"/>
                    </a:cubicBezTo>
                    <a:cubicBezTo>
                      <a:pt x="212" y="15"/>
                      <a:pt x="212" y="14"/>
                      <a:pt x="212" y="13"/>
                    </a:cubicBezTo>
                    <a:cubicBezTo>
                      <a:pt x="213" y="13"/>
                      <a:pt x="210" y="12"/>
                      <a:pt x="210" y="11"/>
                    </a:cubicBezTo>
                    <a:cubicBezTo>
                      <a:pt x="209" y="11"/>
                      <a:pt x="208" y="11"/>
                      <a:pt x="208" y="11"/>
                    </a:cubicBezTo>
                    <a:cubicBezTo>
                      <a:pt x="207" y="11"/>
                      <a:pt x="207" y="11"/>
                      <a:pt x="207" y="11"/>
                    </a:cubicBezTo>
                    <a:cubicBezTo>
                      <a:pt x="206" y="11"/>
                      <a:pt x="206" y="11"/>
                      <a:pt x="206" y="11"/>
                    </a:cubicBezTo>
                    <a:cubicBezTo>
                      <a:pt x="205" y="11"/>
                      <a:pt x="206" y="10"/>
                      <a:pt x="207" y="8"/>
                    </a:cubicBezTo>
                    <a:cubicBezTo>
                      <a:pt x="207" y="7"/>
                      <a:pt x="209" y="4"/>
                      <a:pt x="207" y="2"/>
                    </a:cubicBezTo>
                    <a:cubicBezTo>
                      <a:pt x="205" y="0"/>
                      <a:pt x="201" y="0"/>
                      <a:pt x="200" y="0"/>
                    </a:cubicBezTo>
                    <a:cubicBezTo>
                      <a:pt x="199" y="0"/>
                      <a:pt x="198" y="1"/>
                      <a:pt x="197" y="1"/>
                    </a:cubicBezTo>
                    <a:cubicBezTo>
                      <a:pt x="198" y="2"/>
                      <a:pt x="198" y="3"/>
                      <a:pt x="198" y="4"/>
                    </a:cubicBezTo>
                    <a:cubicBezTo>
                      <a:pt x="198" y="6"/>
                      <a:pt x="195" y="9"/>
                      <a:pt x="194" y="10"/>
                    </a:cubicBezTo>
                    <a:cubicBezTo>
                      <a:pt x="193" y="11"/>
                      <a:pt x="193" y="11"/>
                      <a:pt x="192" y="11"/>
                    </a:cubicBezTo>
                    <a:cubicBezTo>
                      <a:pt x="191" y="11"/>
                      <a:pt x="190" y="11"/>
                      <a:pt x="189" y="12"/>
                    </a:cubicBezTo>
                    <a:cubicBezTo>
                      <a:pt x="188" y="12"/>
                      <a:pt x="185" y="14"/>
                      <a:pt x="184" y="15"/>
                    </a:cubicBezTo>
                    <a:cubicBezTo>
                      <a:pt x="183" y="15"/>
                      <a:pt x="180" y="15"/>
                      <a:pt x="180" y="15"/>
                    </a:cubicBezTo>
                    <a:cubicBezTo>
                      <a:pt x="176" y="16"/>
                      <a:pt x="169" y="18"/>
                      <a:pt x="168" y="18"/>
                    </a:cubicBezTo>
                    <a:cubicBezTo>
                      <a:pt x="167" y="18"/>
                      <a:pt x="166" y="19"/>
                      <a:pt x="166" y="19"/>
                    </a:cubicBezTo>
                    <a:cubicBezTo>
                      <a:pt x="166" y="19"/>
                      <a:pt x="166" y="21"/>
                      <a:pt x="166" y="22"/>
                    </a:cubicBezTo>
                    <a:cubicBezTo>
                      <a:pt x="166" y="24"/>
                      <a:pt x="165" y="25"/>
                      <a:pt x="164" y="25"/>
                    </a:cubicBezTo>
                    <a:cubicBezTo>
                      <a:pt x="164" y="25"/>
                      <a:pt x="163" y="25"/>
                      <a:pt x="162" y="23"/>
                    </a:cubicBezTo>
                    <a:cubicBezTo>
                      <a:pt x="161" y="21"/>
                      <a:pt x="158" y="19"/>
                      <a:pt x="157" y="19"/>
                    </a:cubicBezTo>
                    <a:cubicBezTo>
                      <a:pt x="157" y="19"/>
                      <a:pt x="156" y="20"/>
                      <a:pt x="156" y="20"/>
                    </a:cubicBezTo>
                    <a:cubicBezTo>
                      <a:pt x="156" y="21"/>
                      <a:pt x="155" y="20"/>
                      <a:pt x="154" y="20"/>
                    </a:cubicBezTo>
                    <a:cubicBezTo>
                      <a:pt x="154" y="19"/>
                      <a:pt x="154" y="19"/>
                      <a:pt x="152" y="20"/>
                    </a:cubicBezTo>
                    <a:cubicBezTo>
                      <a:pt x="151" y="20"/>
                      <a:pt x="149" y="20"/>
                      <a:pt x="148" y="20"/>
                    </a:cubicBezTo>
                    <a:cubicBezTo>
                      <a:pt x="146" y="19"/>
                      <a:pt x="140" y="16"/>
                      <a:pt x="139" y="15"/>
                    </a:cubicBezTo>
                    <a:cubicBezTo>
                      <a:pt x="139" y="15"/>
                      <a:pt x="138" y="16"/>
                      <a:pt x="137" y="16"/>
                    </a:cubicBezTo>
                    <a:cubicBezTo>
                      <a:pt x="137" y="16"/>
                      <a:pt x="136" y="16"/>
                      <a:pt x="137" y="16"/>
                    </a:cubicBezTo>
                    <a:cubicBezTo>
                      <a:pt x="138" y="17"/>
                      <a:pt x="138" y="18"/>
                      <a:pt x="139" y="19"/>
                    </a:cubicBezTo>
                    <a:cubicBezTo>
                      <a:pt x="140" y="21"/>
                      <a:pt x="143" y="22"/>
                      <a:pt x="144" y="23"/>
                    </a:cubicBezTo>
                    <a:cubicBezTo>
                      <a:pt x="146" y="24"/>
                      <a:pt x="146" y="26"/>
                      <a:pt x="145" y="26"/>
                    </a:cubicBezTo>
                    <a:cubicBezTo>
                      <a:pt x="145" y="26"/>
                      <a:pt x="145" y="27"/>
                      <a:pt x="147" y="32"/>
                    </a:cubicBezTo>
                    <a:cubicBezTo>
                      <a:pt x="148" y="36"/>
                      <a:pt x="148" y="38"/>
                      <a:pt x="148" y="39"/>
                    </a:cubicBezTo>
                    <a:cubicBezTo>
                      <a:pt x="147" y="41"/>
                      <a:pt x="148" y="41"/>
                      <a:pt x="149" y="42"/>
                    </a:cubicBezTo>
                    <a:cubicBezTo>
                      <a:pt x="150" y="42"/>
                      <a:pt x="157" y="43"/>
                      <a:pt x="157" y="43"/>
                    </a:cubicBezTo>
                    <a:cubicBezTo>
                      <a:pt x="158" y="43"/>
                      <a:pt x="158" y="43"/>
                      <a:pt x="158" y="44"/>
                    </a:cubicBezTo>
                    <a:cubicBezTo>
                      <a:pt x="158" y="45"/>
                      <a:pt x="157" y="45"/>
                      <a:pt x="157" y="45"/>
                    </a:cubicBezTo>
                    <a:cubicBezTo>
                      <a:pt x="156" y="45"/>
                      <a:pt x="149" y="49"/>
                      <a:pt x="148" y="49"/>
                    </a:cubicBezTo>
                    <a:cubicBezTo>
                      <a:pt x="147" y="49"/>
                      <a:pt x="147" y="51"/>
                      <a:pt x="147" y="53"/>
                    </a:cubicBezTo>
                    <a:cubicBezTo>
                      <a:pt x="146" y="55"/>
                      <a:pt x="144" y="57"/>
                      <a:pt x="143" y="58"/>
                    </a:cubicBezTo>
                    <a:cubicBezTo>
                      <a:pt x="143" y="58"/>
                      <a:pt x="142" y="58"/>
                      <a:pt x="143" y="57"/>
                    </a:cubicBezTo>
                    <a:cubicBezTo>
                      <a:pt x="143" y="56"/>
                      <a:pt x="142" y="57"/>
                      <a:pt x="140" y="58"/>
                    </a:cubicBezTo>
                    <a:cubicBezTo>
                      <a:pt x="139" y="59"/>
                      <a:pt x="137" y="60"/>
                      <a:pt x="135" y="60"/>
                    </a:cubicBezTo>
                    <a:cubicBezTo>
                      <a:pt x="133" y="61"/>
                      <a:pt x="131" y="62"/>
                      <a:pt x="131" y="63"/>
                    </a:cubicBezTo>
                    <a:cubicBezTo>
                      <a:pt x="130" y="64"/>
                      <a:pt x="128" y="66"/>
                      <a:pt x="127" y="67"/>
                    </a:cubicBezTo>
                    <a:cubicBezTo>
                      <a:pt x="126" y="69"/>
                      <a:pt x="125" y="68"/>
                      <a:pt x="125" y="68"/>
                    </a:cubicBezTo>
                    <a:cubicBezTo>
                      <a:pt x="125" y="68"/>
                      <a:pt x="125" y="67"/>
                      <a:pt x="125" y="67"/>
                    </a:cubicBezTo>
                    <a:cubicBezTo>
                      <a:pt x="125" y="67"/>
                      <a:pt x="125" y="67"/>
                      <a:pt x="126" y="66"/>
                    </a:cubicBezTo>
                    <a:cubicBezTo>
                      <a:pt x="126" y="65"/>
                      <a:pt x="126" y="64"/>
                      <a:pt x="125" y="64"/>
                    </a:cubicBezTo>
                    <a:cubicBezTo>
                      <a:pt x="124" y="64"/>
                      <a:pt x="122" y="65"/>
                      <a:pt x="119" y="67"/>
                    </a:cubicBezTo>
                    <a:cubicBezTo>
                      <a:pt x="116" y="68"/>
                      <a:pt x="113" y="66"/>
                      <a:pt x="113" y="66"/>
                    </a:cubicBezTo>
                    <a:cubicBezTo>
                      <a:pt x="113" y="66"/>
                      <a:pt x="107" y="61"/>
                      <a:pt x="106" y="60"/>
                    </a:cubicBezTo>
                    <a:cubicBezTo>
                      <a:pt x="106" y="60"/>
                      <a:pt x="106" y="60"/>
                      <a:pt x="106" y="60"/>
                    </a:cubicBezTo>
                    <a:cubicBezTo>
                      <a:pt x="105" y="60"/>
                      <a:pt x="104" y="60"/>
                      <a:pt x="103" y="60"/>
                    </a:cubicBezTo>
                    <a:cubicBezTo>
                      <a:pt x="102" y="60"/>
                      <a:pt x="102" y="58"/>
                      <a:pt x="103" y="56"/>
                    </a:cubicBezTo>
                    <a:cubicBezTo>
                      <a:pt x="103" y="54"/>
                      <a:pt x="102" y="53"/>
                      <a:pt x="101" y="52"/>
                    </a:cubicBezTo>
                    <a:cubicBezTo>
                      <a:pt x="101" y="51"/>
                      <a:pt x="100" y="49"/>
                      <a:pt x="100" y="49"/>
                    </a:cubicBezTo>
                    <a:cubicBezTo>
                      <a:pt x="99" y="48"/>
                      <a:pt x="99" y="47"/>
                      <a:pt x="99" y="47"/>
                    </a:cubicBezTo>
                    <a:cubicBezTo>
                      <a:pt x="98" y="47"/>
                      <a:pt x="95" y="48"/>
                      <a:pt x="95" y="48"/>
                    </a:cubicBezTo>
                    <a:cubicBezTo>
                      <a:pt x="94" y="48"/>
                      <a:pt x="94" y="49"/>
                      <a:pt x="93" y="50"/>
                    </a:cubicBezTo>
                    <a:cubicBezTo>
                      <a:pt x="92" y="51"/>
                      <a:pt x="92" y="52"/>
                      <a:pt x="90" y="52"/>
                    </a:cubicBezTo>
                    <a:cubicBezTo>
                      <a:pt x="89" y="52"/>
                      <a:pt x="88" y="50"/>
                      <a:pt x="87" y="49"/>
                    </a:cubicBezTo>
                    <a:cubicBezTo>
                      <a:pt x="86" y="48"/>
                      <a:pt x="86" y="49"/>
                      <a:pt x="86" y="49"/>
                    </a:cubicBezTo>
                    <a:cubicBezTo>
                      <a:pt x="85" y="50"/>
                      <a:pt x="85" y="51"/>
                      <a:pt x="86" y="52"/>
                    </a:cubicBezTo>
                    <a:cubicBezTo>
                      <a:pt x="87" y="52"/>
                      <a:pt x="86" y="52"/>
                      <a:pt x="86" y="52"/>
                    </a:cubicBezTo>
                    <a:cubicBezTo>
                      <a:pt x="86" y="52"/>
                      <a:pt x="63" y="53"/>
                      <a:pt x="62" y="53"/>
                    </a:cubicBezTo>
                    <a:cubicBezTo>
                      <a:pt x="61" y="53"/>
                      <a:pt x="61" y="53"/>
                      <a:pt x="61" y="53"/>
                    </a:cubicBezTo>
                    <a:cubicBezTo>
                      <a:pt x="61" y="53"/>
                      <a:pt x="61" y="60"/>
                      <a:pt x="61" y="61"/>
                    </a:cubicBezTo>
                    <a:cubicBezTo>
                      <a:pt x="62" y="61"/>
                      <a:pt x="61" y="62"/>
                      <a:pt x="62" y="62"/>
                    </a:cubicBezTo>
                    <a:cubicBezTo>
                      <a:pt x="63" y="62"/>
                      <a:pt x="67" y="62"/>
                      <a:pt x="67" y="63"/>
                    </a:cubicBezTo>
                    <a:cubicBezTo>
                      <a:pt x="68" y="63"/>
                      <a:pt x="68" y="63"/>
                      <a:pt x="69" y="62"/>
                    </a:cubicBezTo>
                    <a:cubicBezTo>
                      <a:pt x="69" y="62"/>
                      <a:pt x="70" y="63"/>
                      <a:pt x="71" y="64"/>
                    </a:cubicBezTo>
                    <a:cubicBezTo>
                      <a:pt x="72" y="65"/>
                      <a:pt x="71" y="66"/>
                      <a:pt x="72" y="67"/>
                    </a:cubicBezTo>
                    <a:cubicBezTo>
                      <a:pt x="72" y="69"/>
                      <a:pt x="71" y="68"/>
                      <a:pt x="71" y="68"/>
                    </a:cubicBezTo>
                    <a:cubicBezTo>
                      <a:pt x="71" y="68"/>
                      <a:pt x="69" y="67"/>
                      <a:pt x="69" y="67"/>
                    </a:cubicBezTo>
                    <a:cubicBezTo>
                      <a:pt x="68" y="67"/>
                      <a:pt x="66" y="67"/>
                      <a:pt x="66" y="67"/>
                    </a:cubicBezTo>
                    <a:cubicBezTo>
                      <a:pt x="66" y="67"/>
                      <a:pt x="60" y="69"/>
                      <a:pt x="59" y="69"/>
                    </a:cubicBezTo>
                    <a:cubicBezTo>
                      <a:pt x="58" y="70"/>
                      <a:pt x="58" y="70"/>
                      <a:pt x="58" y="70"/>
                    </a:cubicBezTo>
                    <a:cubicBezTo>
                      <a:pt x="58" y="70"/>
                      <a:pt x="58" y="76"/>
                      <a:pt x="58" y="79"/>
                    </a:cubicBezTo>
                    <a:cubicBezTo>
                      <a:pt x="59" y="81"/>
                      <a:pt x="61" y="83"/>
                      <a:pt x="63" y="84"/>
                    </a:cubicBezTo>
                    <a:cubicBezTo>
                      <a:pt x="65" y="85"/>
                      <a:pt x="66" y="88"/>
                      <a:pt x="66" y="89"/>
                    </a:cubicBezTo>
                    <a:cubicBezTo>
                      <a:pt x="66" y="90"/>
                      <a:pt x="67" y="92"/>
                      <a:pt x="67" y="93"/>
                    </a:cubicBezTo>
                    <a:cubicBezTo>
                      <a:pt x="68" y="95"/>
                      <a:pt x="67" y="97"/>
                      <a:pt x="67" y="101"/>
                    </a:cubicBezTo>
                    <a:cubicBezTo>
                      <a:pt x="66" y="105"/>
                      <a:pt x="64" y="118"/>
                      <a:pt x="64" y="118"/>
                    </a:cubicBezTo>
                    <a:cubicBezTo>
                      <a:pt x="64" y="118"/>
                      <a:pt x="61" y="137"/>
                      <a:pt x="60" y="138"/>
                    </a:cubicBezTo>
                    <a:cubicBezTo>
                      <a:pt x="60" y="139"/>
                      <a:pt x="60" y="140"/>
                      <a:pt x="60" y="141"/>
                    </a:cubicBezTo>
                    <a:cubicBezTo>
                      <a:pt x="60" y="141"/>
                      <a:pt x="59" y="142"/>
                      <a:pt x="59" y="142"/>
                    </a:cubicBezTo>
                    <a:cubicBezTo>
                      <a:pt x="59" y="142"/>
                      <a:pt x="59" y="142"/>
                      <a:pt x="58" y="142"/>
                    </a:cubicBezTo>
                    <a:cubicBezTo>
                      <a:pt x="58" y="141"/>
                      <a:pt x="56" y="142"/>
                      <a:pt x="56" y="142"/>
                    </a:cubicBezTo>
                    <a:cubicBezTo>
                      <a:pt x="55" y="142"/>
                      <a:pt x="55" y="141"/>
                      <a:pt x="55" y="141"/>
                    </a:cubicBezTo>
                    <a:cubicBezTo>
                      <a:pt x="55" y="140"/>
                      <a:pt x="54" y="140"/>
                      <a:pt x="55" y="140"/>
                    </a:cubicBezTo>
                    <a:cubicBezTo>
                      <a:pt x="55" y="139"/>
                      <a:pt x="54" y="140"/>
                      <a:pt x="54" y="140"/>
                    </a:cubicBezTo>
                    <a:cubicBezTo>
                      <a:pt x="53" y="140"/>
                      <a:pt x="52" y="140"/>
                      <a:pt x="50" y="139"/>
                    </a:cubicBezTo>
                    <a:cubicBezTo>
                      <a:pt x="49" y="139"/>
                      <a:pt x="47" y="141"/>
                      <a:pt x="46" y="142"/>
                    </a:cubicBezTo>
                    <a:cubicBezTo>
                      <a:pt x="45" y="143"/>
                      <a:pt x="43" y="143"/>
                      <a:pt x="42" y="143"/>
                    </a:cubicBezTo>
                    <a:cubicBezTo>
                      <a:pt x="41" y="143"/>
                      <a:pt x="38" y="143"/>
                      <a:pt x="37" y="144"/>
                    </a:cubicBezTo>
                    <a:cubicBezTo>
                      <a:pt x="36" y="144"/>
                      <a:pt x="35" y="144"/>
                      <a:pt x="34" y="144"/>
                    </a:cubicBezTo>
                    <a:cubicBezTo>
                      <a:pt x="32" y="144"/>
                      <a:pt x="29" y="146"/>
                      <a:pt x="27" y="148"/>
                    </a:cubicBezTo>
                    <a:cubicBezTo>
                      <a:pt x="26" y="149"/>
                      <a:pt x="18" y="153"/>
                      <a:pt x="17" y="154"/>
                    </a:cubicBezTo>
                    <a:cubicBezTo>
                      <a:pt x="17" y="154"/>
                      <a:pt x="16" y="157"/>
                      <a:pt x="16" y="159"/>
                    </a:cubicBezTo>
                    <a:cubicBezTo>
                      <a:pt x="16" y="161"/>
                      <a:pt x="13" y="166"/>
                      <a:pt x="12" y="167"/>
                    </a:cubicBezTo>
                    <a:cubicBezTo>
                      <a:pt x="12" y="169"/>
                      <a:pt x="12" y="171"/>
                      <a:pt x="12" y="172"/>
                    </a:cubicBezTo>
                    <a:cubicBezTo>
                      <a:pt x="13" y="174"/>
                      <a:pt x="11" y="175"/>
                      <a:pt x="11" y="175"/>
                    </a:cubicBezTo>
                    <a:cubicBezTo>
                      <a:pt x="6" y="177"/>
                      <a:pt x="4" y="181"/>
                      <a:pt x="3" y="182"/>
                    </a:cubicBezTo>
                    <a:cubicBezTo>
                      <a:pt x="3" y="183"/>
                      <a:pt x="3" y="184"/>
                      <a:pt x="3" y="185"/>
                    </a:cubicBezTo>
                    <a:cubicBezTo>
                      <a:pt x="4" y="185"/>
                      <a:pt x="4" y="186"/>
                      <a:pt x="4" y="187"/>
                    </a:cubicBezTo>
                    <a:cubicBezTo>
                      <a:pt x="3" y="188"/>
                      <a:pt x="1" y="189"/>
                      <a:pt x="1" y="189"/>
                    </a:cubicBezTo>
                    <a:cubicBezTo>
                      <a:pt x="0" y="190"/>
                      <a:pt x="0" y="190"/>
                      <a:pt x="0" y="190"/>
                    </a:cubicBezTo>
                    <a:cubicBezTo>
                      <a:pt x="0" y="190"/>
                      <a:pt x="1" y="191"/>
                      <a:pt x="3" y="193"/>
                    </a:cubicBezTo>
                    <a:cubicBezTo>
                      <a:pt x="5" y="194"/>
                      <a:pt x="5" y="197"/>
                      <a:pt x="6" y="199"/>
                    </a:cubicBezTo>
                    <a:cubicBezTo>
                      <a:pt x="6" y="201"/>
                      <a:pt x="8" y="203"/>
                      <a:pt x="9" y="205"/>
                    </a:cubicBezTo>
                    <a:cubicBezTo>
                      <a:pt x="10" y="206"/>
                      <a:pt x="12" y="209"/>
                      <a:pt x="14" y="211"/>
                    </a:cubicBezTo>
                    <a:cubicBezTo>
                      <a:pt x="16" y="214"/>
                      <a:pt x="14" y="216"/>
                      <a:pt x="12" y="217"/>
                    </a:cubicBezTo>
                    <a:cubicBezTo>
                      <a:pt x="11" y="218"/>
                      <a:pt x="13" y="218"/>
                      <a:pt x="13" y="218"/>
                    </a:cubicBezTo>
                    <a:cubicBezTo>
                      <a:pt x="13" y="218"/>
                      <a:pt x="20" y="219"/>
                      <a:pt x="22" y="219"/>
                    </a:cubicBezTo>
                    <a:cubicBezTo>
                      <a:pt x="24" y="219"/>
                      <a:pt x="25" y="221"/>
                      <a:pt x="25" y="221"/>
                    </a:cubicBezTo>
                    <a:cubicBezTo>
                      <a:pt x="25" y="222"/>
                      <a:pt x="25" y="222"/>
                      <a:pt x="26" y="223"/>
                    </a:cubicBezTo>
                    <a:cubicBezTo>
                      <a:pt x="27" y="224"/>
                      <a:pt x="27" y="226"/>
                      <a:pt x="27" y="226"/>
                    </a:cubicBezTo>
                    <a:cubicBezTo>
                      <a:pt x="27" y="227"/>
                      <a:pt x="27" y="227"/>
                      <a:pt x="28" y="227"/>
                    </a:cubicBezTo>
                    <a:cubicBezTo>
                      <a:pt x="28" y="227"/>
                      <a:pt x="29" y="227"/>
                      <a:pt x="30" y="227"/>
                    </a:cubicBezTo>
                    <a:cubicBezTo>
                      <a:pt x="31" y="227"/>
                      <a:pt x="38" y="227"/>
                      <a:pt x="39" y="227"/>
                    </a:cubicBezTo>
                    <a:cubicBezTo>
                      <a:pt x="40" y="227"/>
                      <a:pt x="41" y="226"/>
                      <a:pt x="42" y="226"/>
                    </a:cubicBezTo>
                    <a:cubicBezTo>
                      <a:pt x="42" y="225"/>
                      <a:pt x="43" y="225"/>
                      <a:pt x="44" y="224"/>
                    </a:cubicBezTo>
                    <a:cubicBezTo>
                      <a:pt x="45" y="224"/>
                      <a:pt x="46" y="222"/>
                      <a:pt x="47" y="221"/>
                    </a:cubicBezTo>
                    <a:cubicBezTo>
                      <a:pt x="49" y="220"/>
                      <a:pt x="50" y="219"/>
                      <a:pt x="51" y="219"/>
                    </a:cubicBezTo>
                    <a:cubicBezTo>
                      <a:pt x="52" y="218"/>
                      <a:pt x="51" y="220"/>
                      <a:pt x="50" y="220"/>
                    </a:cubicBezTo>
                    <a:cubicBezTo>
                      <a:pt x="50" y="220"/>
                      <a:pt x="50" y="221"/>
                      <a:pt x="51" y="222"/>
                    </a:cubicBezTo>
                    <a:cubicBezTo>
                      <a:pt x="52" y="223"/>
                      <a:pt x="51" y="223"/>
                      <a:pt x="50" y="224"/>
                    </a:cubicBezTo>
                    <a:cubicBezTo>
                      <a:pt x="50" y="225"/>
                      <a:pt x="50" y="226"/>
                      <a:pt x="50" y="226"/>
                    </a:cubicBezTo>
                    <a:cubicBezTo>
                      <a:pt x="50" y="226"/>
                      <a:pt x="50" y="240"/>
                      <a:pt x="50" y="241"/>
                    </a:cubicBezTo>
                    <a:cubicBezTo>
                      <a:pt x="50" y="242"/>
                      <a:pt x="50" y="242"/>
                      <a:pt x="51" y="242"/>
                    </a:cubicBezTo>
                    <a:cubicBezTo>
                      <a:pt x="51" y="241"/>
                      <a:pt x="51" y="241"/>
                      <a:pt x="53" y="243"/>
                    </a:cubicBezTo>
                    <a:cubicBezTo>
                      <a:pt x="55" y="244"/>
                      <a:pt x="57" y="242"/>
                      <a:pt x="58" y="242"/>
                    </a:cubicBezTo>
                    <a:cubicBezTo>
                      <a:pt x="59" y="241"/>
                      <a:pt x="61" y="240"/>
                      <a:pt x="62" y="241"/>
                    </a:cubicBezTo>
                    <a:cubicBezTo>
                      <a:pt x="63" y="241"/>
                      <a:pt x="64" y="241"/>
                      <a:pt x="65" y="241"/>
                    </a:cubicBezTo>
                    <a:cubicBezTo>
                      <a:pt x="66" y="241"/>
                      <a:pt x="67" y="242"/>
                      <a:pt x="69" y="242"/>
                    </a:cubicBezTo>
                    <a:cubicBezTo>
                      <a:pt x="75" y="243"/>
                      <a:pt x="79" y="243"/>
                      <a:pt x="81" y="243"/>
                    </a:cubicBezTo>
                    <a:cubicBezTo>
                      <a:pt x="83" y="243"/>
                      <a:pt x="86" y="240"/>
                      <a:pt x="86" y="240"/>
                    </a:cubicBezTo>
                    <a:cubicBezTo>
                      <a:pt x="87" y="239"/>
                      <a:pt x="90" y="238"/>
                      <a:pt x="91" y="238"/>
                    </a:cubicBezTo>
                    <a:cubicBezTo>
                      <a:pt x="93" y="238"/>
                      <a:pt x="93" y="237"/>
                      <a:pt x="94" y="236"/>
                    </a:cubicBezTo>
                    <a:cubicBezTo>
                      <a:pt x="94" y="236"/>
                      <a:pt x="95" y="235"/>
                      <a:pt x="95" y="235"/>
                    </a:cubicBezTo>
                    <a:cubicBezTo>
                      <a:pt x="96" y="234"/>
                      <a:pt x="99" y="232"/>
                      <a:pt x="101" y="232"/>
                    </a:cubicBezTo>
                    <a:cubicBezTo>
                      <a:pt x="102" y="231"/>
                      <a:pt x="107" y="228"/>
                      <a:pt x="108" y="227"/>
                    </a:cubicBezTo>
                    <a:cubicBezTo>
                      <a:pt x="108" y="226"/>
                      <a:pt x="110" y="226"/>
                      <a:pt x="110" y="226"/>
                    </a:cubicBezTo>
                    <a:cubicBezTo>
                      <a:pt x="110" y="226"/>
                      <a:pt x="119" y="224"/>
                      <a:pt x="120" y="223"/>
                    </a:cubicBezTo>
                    <a:cubicBezTo>
                      <a:pt x="122" y="223"/>
                      <a:pt x="123" y="223"/>
                      <a:pt x="124" y="224"/>
                    </a:cubicBezTo>
                    <a:cubicBezTo>
                      <a:pt x="125" y="225"/>
                      <a:pt x="125" y="224"/>
                      <a:pt x="126" y="223"/>
                    </a:cubicBezTo>
                    <a:cubicBezTo>
                      <a:pt x="127" y="222"/>
                      <a:pt x="128" y="223"/>
                      <a:pt x="129" y="224"/>
                    </a:cubicBezTo>
                    <a:cubicBezTo>
                      <a:pt x="129" y="225"/>
                      <a:pt x="129" y="225"/>
                      <a:pt x="129" y="226"/>
                    </a:cubicBezTo>
                    <a:cubicBezTo>
                      <a:pt x="129" y="227"/>
                      <a:pt x="128" y="230"/>
                      <a:pt x="128" y="233"/>
                    </a:cubicBezTo>
                    <a:cubicBezTo>
                      <a:pt x="127" y="237"/>
                      <a:pt x="128" y="242"/>
                      <a:pt x="128" y="243"/>
                    </a:cubicBezTo>
                    <a:cubicBezTo>
                      <a:pt x="128" y="244"/>
                      <a:pt x="127" y="243"/>
                      <a:pt x="128" y="246"/>
                    </a:cubicBezTo>
                    <a:cubicBezTo>
                      <a:pt x="129" y="250"/>
                      <a:pt x="132" y="253"/>
                      <a:pt x="133" y="254"/>
                    </a:cubicBezTo>
                    <a:cubicBezTo>
                      <a:pt x="133" y="255"/>
                      <a:pt x="134" y="256"/>
                      <a:pt x="134" y="256"/>
                    </a:cubicBezTo>
                    <a:cubicBezTo>
                      <a:pt x="134" y="256"/>
                      <a:pt x="143" y="264"/>
                      <a:pt x="144" y="264"/>
                    </a:cubicBezTo>
                    <a:cubicBezTo>
                      <a:pt x="144" y="265"/>
                      <a:pt x="147" y="265"/>
                      <a:pt x="148" y="265"/>
                    </a:cubicBezTo>
                    <a:cubicBezTo>
                      <a:pt x="148" y="265"/>
                      <a:pt x="149" y="265"/>
                      <a:pt x="150" y="264"/>
                    </a:cubicBezTo>
                    <a:cubicBezTo>
                      <a:pt x="152" y="263"/>
                      <a:pt x="156" y="265"/>
                      <a:pt x="157" y="265"/>
                    </a:cubicBezTo>
                    <a:cubicBezTo>
                      <a:pt x="157" y="266"/>
                      <a:pt x="159" y="266"/>
                      <a:pt x="161" y="267"/>
                    </a:cubicBezTo>
                    <a:cubicBezTo>
                      <a:pt x="162" y="267"/>
                      <a:pt x="162" y="268"/>
                      <a:pt x="164" y="270"/>
                    </a:cubicBezTo>
                    <a:cubicBezTo>
                      <a:pt x="165" y="272"/>
                      <a:pt x="170" y="273"/>
                      <a:pt x="172" y="274"/>
                    </a:cubicBezTo>
                    <a:cubicBezTo>
                      <a:pt x="175" y="274"/>
                      <a:pt x="176" y="275"/>
                      <a:pt x="177" y="276"/>
                    </a:cubicBezTo>
                    <a:cubicBezTo>
                      <a:pt x="177" y="277"/>
                      <a:pt x="179" y="278"/>
                      <a:pt x="180" y="279"/>
                    </a:cubicBezTo>
                    <a:cubicBezTo>
                      <a:pt x="181" y="281"/>
                      <a:pt x="187" y="279"/>
                      <a:pt x="189" y="279"/>
                    </a:cubicBezTo>
                    <a:cubicBezTo>
                      <a:pt x="192" y="279"/>
                      <a:pt x="194" y="281"/>
                      <a:pt x="196" y="282"/>
                    </a:cubicBezTo>
                    <a:cubicBezTo>
                      <a:pt x="197" y="283"/>
                      <a:pt x="201" y="286"/>
                      <a:pt x="202" y="287"/>
                    </a:cubicBezTo>
                    <a:cubicBezTo>
                      <a:pt x="202" y="288"/>
                      <a:pt x="201" y="288"/>
                      <a:pt x="201" y="288"/>
                    </a:cubicBezTo>
                    <a:cubicBezTo>
                      <a:pt x="202" y="289"/>
                      <a:pt x="202" y="291"/>
                      <a:pt x="203" y="294"/>
                    </a:cubicBezTo>
                    <a:cubicBezTo>
                      <a:pt x="204" y="297"/>
                      <a:pt x="204" y="301"/>
                      <a:pt x="204" y="302"/>
                    </a:cubicBezTo>
                    <a:cubicBezTo>
                      <a:pt x="204" y="304"/>
                      <a:pt x="202" y="304"/>
                      <a:pt x="200" y="304"/>
                    </a:cubicBezTo>
                    <a:cubicBezTo>
                      <a:pt x="199" y="304"/>
                      <a:pt x="200" y="304"/>
                      <a:pt x="200" y="305"/>
                    </a:cubicBezTo>
                    <a:cubicBezTo>
                      <a:pt x="200" y="305"/>
                      <a:pt x="202" y="306"/>
                      <a:pt x="203" y="309"/>
                    </a:cubicBezTo>
                    <a:cubicBezTo>
                      <a:pt x="205" y="312"/>
                      <a:pt x="205" y="318"/>
                      <a:pt x="205" y="320"/>
                    </a:cubicBezTo>
                    <a:cubicBezTo>
                      <a:pt x="205" y="322"/>
                      <a:pt x="206" y="322"/>
                      <a:pt x="207" y="322"/>
                    </a:cubicBezTo>
                    <a:cubicBezTo>
                      <a:pt x="207" y="322"/>
                      <a:pt x="208" y="322"/>
                      <a:pt x="211" y="322"/>
                    </a:cubicBezTo>
                    <a:cubicBezTo>
                      <a:pt x="213" y="322"/>
                      <a:pt x="231" y="322"/>
                      <a:pt x="232" y="322"/>
                    </a:cubicBezTo>
                    <a:cubicBezTo>
                      <a:pt x="232" y="322"/>
                      <a:pt x="233" y="322"/>
                      <a:pt x="232" y="323"/>
                    </a:cubicBezTo>
                    <a:cubicBezTo>
                      <a:pt x="232" y="324"/>
                      <a:pt x="232" y="325"/>
                      <a:pt x="231" y="326"/>
                    </a:cubicBezTo>
                    <a:cubicBezTo>
                      <a:pt x="230" y="327"/>
                      <a:pt x="230" y="329"/>
                      <a:pt x="231" y="330"/>
                    </a:cubicBezTo>
                    <a:cubicBezTo>
                      <a:pt x="231" y="331"/>
                      <a:pt x="231" y="333"/>
                      <a:pt x="231" y="334"/>
                    </a:cubicBezTo>
                    <a:cubicBezTo>
                      <a:pt x="231" y="336"/>
                      <a:pt x="231" y="336"/>
                      <a:pt x="233" y="338"/>
                    </a:cubicBezTo>
                    <a:cubicBezTo>
                      <a:pt x="235" y="340"/>
                      <a:pt x="239" y="341"/>
                      <a:pt x="239" y="341"/>
                    </a:cubicBezTo>
                    <a:cubicBezTo>
                      <a:pt x="240" y="341"/>
                      <a:pt x="240" y="342"/>
                      <a:pt x="241" y="343"/>
                    </a:cubicBezTo>
                    <a:cubicBezTo>
                      <a:pt x="241" y="344"/>
                      <a:pt x="242" y="346"/>
                      <a:pt x="242" y="347"/>
                    </a:cubicBezTo>
                    <a:cubicBezTo>
                      <a:pt x="242" y="348"/>
                      <a:pt x="245" y="350"/>
                      <a:pt x="245" y="351"/>
                    </a:cubicBezTo>
                    <a:cubicBezTo>
                      <a:pt x="245" y="351"/>
                      <a:pt x="245" y="352"/>
                      <a:pt x="244" y="352"/>
                    </a:cubicBezTo>
                    <a:cubicBezTo>
                      <a:pt x="244" y="352"/>
                      <a:pt x="243" y="353"/>
                      <a:pt x="243" y="354"/>
                    </a:cubicBezTo>
                    <a:cubicBezTo>
                      <a:pt x="243" y="355"/>
                      <a:pt x="243" y="357"/>
                      <a:pt x="242" y="360"/>
                    </a:cubicBezTo>
                    <a:cubicBezTo>
                      <a:pt x="242" y="362"/>
                      <a:pt x="238" y="370"/>
                      <a:pt x="237" y="373"/>
                    </a:cubicBezTo>
                    <a:cubicBezTo>
                      <a:pt x="235" y="376"/>
                      <a:pt x="238" y="377"/>
                      <a:pt x="239" y="378"/>
                    </a:cubicBezTo>
                    <a:cubicBezTo>
                      <a:pt x="240" y="379"/>
                      <a:pt x="238" y="380"/>
                      <a:pt x="238" y="380"/>
                    </a:cubicBezTo>
                    <a:lnTo>
                      <a:pt x="235" y="381"/>
                    </a:ln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82" name="Freeform 365">
                <a:extLst>
                  <a:ext uri="{FF2B5EF4-FFF2-40B4-BE49-F238E27FC236}">
                    <a16:creationId xmlns:a16="http://schemas.microsoft.com/office/drawing/2014/main" id="{167AE8B9-DAD9-4EF9-B05A-EB61F7758DEE}"/>
                  </a:ext>
                </a:extLst>
              </p:cNvPr>
              <p:cNvSpPr>
                <a:spLocks/>
              </p:cNvSpPr>
              <p:nvPr/>
            </p:nvSpPr>
            <p:spPr bwMode="auto">
              <a:xfrm>
                <a:off x="2506" y="3252"/>
                <a:ext cx="5" cy="15"/>
              </a:xfrm>
              <a:custGeom>
                <a:avLst/>
                <a:gdLst>
                  <a:gd name="T0" fmla="*/ 1 w 4"/>
                  <a:gd name="T1" fmla="*/ 7 h 11"/>
                  <a:gd name="T2" fmla="*/ 2 w 4"/>
                  <a:gd name="T3" fmla="*/ 6 h 11"/>
                  <a:gd name="T4" fmla="*/ 1 w 4"/>
                  <a:gd name="T5" fmla="*/ 7 h 11"/>
                </a:gdLst>
                <a:ahLst/>
                <a:cxnLst>
                  <a:cxn ang="0">
                    <a:pos x="T0" y="T1"/>
                  </a:cxn>
                  <a:cxn ang="0">
                    <a:pos x="T2" y="T3"/>
                  </a:cxn>
                  <a:cxn ang="0">
                    <a:pos x="T4" y="T5"/>
                  </a:cxn>
                </a:cxnLst>
                <a:rect l="0" t="0" r="r" b="b"/>
                <a:pathLst>
                  <a:path w="4" h="11">
                    <a:moveTo>
                      <a:pt x="1" y="7"/>
                    </a:moveTo>
                    <a:cubicBezTo>
                      <a:pt x="1" y="7"/>
                      <a:pt x="0" y="11"/>
                      <a:pt x="2" y="6"/>
                    </a:cubicBezTo>
                    <a:cubicBezTo>
                      <a:pt x="4" y="0"/>
                      <a:pt x="1" y="2"/>
                      <a:pt x="1"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83" name="Freeform 366">
                <a:extLst>
                  <a:ext uri="{FF2B5EF4-FFF2-40B4-BE49-F238E27FC236}">
                    <a16:creationId xmlns:a16="http://schemas.microsoft.com/office/drawing/2014/main" id="{4FDBD307-0106-488A-BC66-75A285D17BA9}"/>
                  </a:ext>
                </a:extLst>
              </p:cNvPr>
              <p:cNvSpPr>
                <a:spLocks/>
              </p:cNvSpPr>
              <p:nvPr/>
            </p:nvSpPr>
            <p:spPr bwMode="auto">
              <a:xfrm>
                <a:off x="2591" y="3160"/>
                <a:ext cx="7" cy="4"/>
              </a:xfrm>
              <a:custGeom>
                <a:avLst/>
                <a:gdLst>
                  <a:gd name="T0" fmla="*/ 3 w 5"/>
                  <a:gd name="T1" fmla="*/ 1 h 3"/>
                  <a:gd name="T2" fmla="*/ 2 w 5"/>
                  <a:gd name="T3" fmla="*/ 3 h 3"/>
                  <a:gd name="T4" fmla="*/ 3 w 5"/>
                  <a:gd name="T5" fmla="*/ 1 h 3"/>
                </a:gdLst>
                <a:ahLst/>
                <a:cxnLst>
                  <a:cxn ang="0">
                    <a:pos x="T0" y="T1"/>
                  </a:cxn>
                  <a:cxn ang="0">
                    <a:pos x="T2" y="T3"/>
                  </a:cxn>
                  <a:cxn ang="0">
                    <a:pos x="T4" y="T5"/>
                  </a:cxn>
                </a:cxnLst>
                <a:rect l="0" t="0" r="r" b="b"/>
                <a:pathLst>
                  <a:path w="5" h="3">
                    <a:moveTo>
                      <a:pt x="3" y="1"/>
                    </a:moveTo>
                    <a:cubicBezTo>
                      <a:pt x="1" y="0"/>
                      <a:pt x="0" y="3"/>
                      <a:pt x="2" y="3"/>
                    </a:cubicBezTo>
                    <a:cubicBezTo>
                      <a:pt x="3" y="3"/>
                      <a:pt x="5" y="2"/>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84" name="Freeform 367">
                <a:extLst>
                  <a:ext uri="{FF2B5EF4-FFF2-40B4-BE49-F238E27FC236}">
                    <a16:creationId xmlns:a16="http://schemas.microsoft.com/office/drawing/2014/main" id="{D10C0766-0133-4465-92E9-53D90F781E8B}"/>
                  </a:ext>
                </a:extLst>
              </p:cNvPr>
              <p:cNvSpPr>
                <a:spLocks/>
              </p:cNvSpPr>
              <p:nvPr/>
            </p:nvSpPr>
            <p:spPr bwMode="auto">
              <a:xfrm>
                <a:off x="1830" y="2683"/>
                <a:ext cx="262" cy="376"/>
              </a:xfrm>
              <a:custGeom>
                <a:avLst/>
                <a:gdLst>
                  <a:gd name="T0" fmla="*/ 175 w 189"/>
                  <a:gd name="T1" fmla="*/ 258 h 274"/>
                  <a:gd name="T2" fmla="*/ 183 w 189"/>
                  <a:gd name="T3" fmla="*/ 247 h 274"/>
                  <a:gd name="T4" fmla="*/ 183 w 189"/>
                  <a:gd name="T5" fmla="*/ 242 h 274"/>
                  <a:gd name="T6" fmla="*/ 179 w 189"/>
                  <a:gd name="T7" fmla="*/ 231 h 274"/>
                  <a:gd name="T8" fmla="*/ 179 w 189"/>
                  <a:gd name="T9" fmla="*/ 224 h 274"/>
                  <a:gd name="T10" fmla="*/ 181 w 189"/>
                  <a:gd name="T11" fmla="*/ 217 h 274"/>
                  <a:gd name="T12" fmla="*/ 186 w 189"/>
                  <a:gd name="T13" fmla="*/ 211 h 274"/>
                  <a:gd name="T14" fmla="*/ 184 w 189"/>
                  <a:gd name="T15" fmla="*/ 194 h 274"/>
                  <a:gd name="T16" fmla="*/ 185 w 189"/>
                  <a:gd name="T17" fmla="*/ 178 h 274"/>
                  <a:gd name="T18" fmla="*/ 168 w 189"/>
                  <a:gd name="T19" fmla="*/ 163 h 274"/>
                  <a:gd name="T20" fmla="*/ 160 w 189"/>
                  <a:gd name="T21" fmla="*/ 162 h 274"/>
                  <a:gd name="T22" fmla="*/ 161 w 189"/>
                  <a:gd name="T23" fmla="*/ 143 h 274"/>
                  <a:gd name="T24" fmla="*/ 157 w 189"/>
                  <a:gd name="T25" fmla="*/ 142 h 274"/>
                  <a:gd name="T26" fmla="*/ 149 w 189"/>
                  <a:gd name="T27" fmla="*/ 148 h 274"/>
                  <a:gd name="T28" fmla="*/ 137 w 189"/>
                  <a:gd name="T29" fmla="*/ 147 h 274"/>
                  <a:gd name="T30" fmla="*/ 132 w 189"/>
                  <a:gd name="T31" fmla="*/ 140 h 274"/>
                  <a:gd name="T32" fmla="*/ 124 w 189"/>
                  <a:gd name="T33" fmla="*/ 132 h 274"/>
                  <a:gd name="T34" fmla="*/ 113 w 189"/>
                  <a:gd name="T35" fmla="*/ 114 h 274"/>
                  <a:gd name="T36" fmla="*/ 114 w 189"/>
                  <a:gd name="T37" fmla="*/ 108 h 274"/>
                  <a:gd name="T38" fmla="*/ 121 w 189"/>
                  <a:gd name="T39" fmla="*/ 96 h 274"/>
                  <a:gd name="T40" fmla="*/ 126 w 189"/>
                  <a:gd name="T41" fmla="*/ 80 h 274"/>
                  <a:gd name="T42" fmla="*/ 144 w 189"/>
                  <a:gd name="T43" fmla="*/ 65 h 274"/>
                  <a:gd name="T44" fmla="*/ 156 w 189"/>
                  <a:gd name="T45" fmla="*/ 63 h 274"/>
                  <a:gd name="T46" fmla="*/ 165 w 189"/>
                  <a:gd name="T47" fmla="*/ 61 h 274"/>
                  <a:gd name="T48" fmla="*/ 168 w 189"/>
                  <a:gd name="T49" fmla="*/ 63 h 274"/>
                  <a:gd name="T50" fmla="*/ 165 w 189"/>
                  <a:gd name="T51" fmla="*/ 56 h 274"/>
                  <a:gd name="T52" fmla="*/ 166 w 189"/>
                  <a:gd name="T53" fmla="*/ 43 h 274"/>
                  <a:gd name="T54" fmla="*/ 158 w 189"/>
                  <a:gd name="T55" fmla="*/ 33 h 274"/>
                  <a:gd name="T56" fmla="*/ 153 w 189"/>
                  <a:gd name="T57" fmla="*/ 34 h 274"/>
                  <a:gd name="T58" fmla="*/ 143 w 189"/>
                  <a:gd name="T59" fmla="*/ 32 h 274"/>
                  <a:gd name="T60" fmla="*/ 139 w 189"/>
                  <a:gd name="T61" fmla="*/ 35 h 274"/>
                  <a:gd name="T62" fmla="*/ 130 w 189"/>
                  <a:gd name="T63" fmla="*/ 36 h 274"/>
                  <a:gd name="T64" fmla="*/ 127 w 189"/>
                  <a:gd name="T65" fmla="*/ 36 h 274"/>
                  <a:gd name="T66" fmla="*/ 118 w 189"/>
                  <a:gd name="T67" fmla="*/ 23 h 274"/>
                  <a:gd name="T68" fmla="*/ 108 w 189"/>
                  <a:gd name="T69" fmla="*/ 15 h 274"/>
                  <a:gd name="T70" fmla="*/ 102 w 189"/>
                  <a:gd name="T71" fmla="*/ 6 h 274"/>
                  <a:gd name="T72" fmla="*/ 91 w 189"/>
                  <a:gd name="T73" fmla="*/ 1 h 274"/>
                  <a:gd name="T74" fmla="*/ 86 w 189"/>
                  <a:gd name="T75" fmla="*/ 2 h 274"/>
                  <a:gd name="T76" fmla="*/ 90 w 189"/>
                  <a:gd name="T77" fmla="*/ 7 h 274"/>
                  <a:gd name="T78" fmla="*/ 87 w 189"/>
                  <a:gd name="T79" fmla="*/ 21 h 274"/>
                  <a:gd name="T80" fmla="*/ 69 w 189"/>
                  <a:gd name="T81" fmla="*/ 38 h 274"/>
                  <a:gd name="T82" fmla="*/ 50 w 189"/>
                  <a:gd name="T83" fmla="*/ 46 h 274"/>
                  <a:gd name="T84" fmla="*/ 45 w 189"/>
                  <a:gd name="T85" fmla="*/ 52 h 274"/>
                  <a:gd name="T86" fmla="*/ 39 w 189"/>
                  <a:gd name="T87" fmla="*/ 68 h 274"/>
                  <a:gd name="T88" fmla="*/ 29 w 189"/>
                  <a:gd name="T89" fmla="*/ 70 h 274"/>
                  <a:gd name="T90" fmla="*/ 20 w 189"/>
                  <a:gd name="T91" fmla="*/ 63 h 274"/>
                  <a:gd name="T92" fmla="*/ 14 w 189"/>
                  <a:gd name="T93" fmla="*/ 63 h 274"/>
                  <a:gd name="T94" fmla="*/ 18 w 189"/>
                  <a:gd name="T95" fmla="*/ 57 h 274"/>
                  <a:gd name="T96" fmla="*/ 15 w 189"/>
                  <a:gd name="T97" fmla="*/ 50 h 274"/>
                  <a:gd name="T98" fmla="*/ 3 w 189"/>
                  <a:gd name="T99" fmla="*/ 62 h 274"/>
                  <a:gd name="T100" fmla="*/ 8 w 189"/>
                  <a:gd name="T101" fmla="*/ 85 h 274"/>
                  <a:gd name="T102" fmla="*/ 8 w 189"/>
                  <a:gd name="T103" fmla="*/ 92 h 274"/>
                  <a:gd name="T104" fmla="*/ 34 w 189"/>
                  <a:gd name="T105" fmla="*/ 121 h 274"/>
                  <a:gd name="T106" fmla="*/ 54 w 189"/>
                  <a:gd name="T107" fmla="*/ 160 h 274"/>
                  <a:gd name="T108" fmla="*/ 63 w 189"/>
                  <a:gd name="T109" fmla="*/ 174 h 274"/>
                  <a:gd name="T110" fmla="*/ 77 w 189"/>
                  <a:gd name="T111" fmla="*/ 203 h 274"/>
                  <a:gd name="T112" fmla="*/ 78 w 189"/>
                  <a:gd name="T113" fmla="*/ 212 h 274"/>
                  <a:gd name="T114" fmla="*/ 87 w 189"/>
                  <a:gd name="T115" fmla="*/ 222 h 274"/>
                  <a:gd name="T116" fmla="*/ 112 w 189"/>
                  <a:gd name="T117" fmla="*/ 240 h 274"/>
                  <a:gd name="T118" fmla="*/ 148 w 189"/>
                  <a:gd name="T119" fmla="*/ 260 h 274"/>
                  <a:gd name="T120" fmla="*/ 163 w 189"/>
                  <a:gd name="T121" fmla="*/ 274 h 274"/>
                  <a:gd name="T122" fmla="*/ 172 w 189"/>
                  <a:gd name="T123"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9" h="274">
                    <a:moveTo>
                      <a:pt x="176" y="262"/>
                    </a:moveTo>
                    <a:cubicBezTo>
                      <a:pt x="177" y="261"/>
                      <a:pt x="177" y="261"/>
                      <a:pt x="177" y="261"/>
                    </a:cubicBezTo>
                    <a:cubicBezTo>
                      <a:pt x="177" y="260"/>
                      <a:pt x="175" y="259"/>
                      <a:pt x="175" y="258"/>
                    </a:cubicBezTo>
                    <a:cubicBezTo>
                      <a:pt x="174" y="258"/>
                      <a:pt x="174" y="258"/>
                      <a:pt x="175" y="257"/>
                    </a:cubicBezTo>
                    <a:cubicBezTo>
                      <a:pt x="175" y="257"/>
                      <a:pt x="177" y="255"/>
                      <a:pt x="178" y="254"/>
                    </a:cubicBezTo>
                    <a:cubicBezTo>
                      <a:pt x="179" y="253"/>
                      <a:pt x="183" y="248"/>
                      <a:pt x="183" y="247"/>
                    </a:cubicBezTo>
                    <a:cubicBezTo>
                      <a:pt x="184" y="246"/>
                      <a:pt x="185" y="245"/>
                      <a:pt x="186" y="244"/>
                    </a:cubicBezTo>
                    <a:cubicBezTo>
                      <a:pt x="187" y="244"/>
                      <a:pt x="186" y="243"/>
                      <a:pt x="185" y="242"/>
                    </a:cubicBezTo>
                    <a:cubicBezTo>
                      <a:pt x="185" y="242"/>
                      <a:pt x="184" y="242"/>
                      <a:pt x="183" y="242"/>
                    </a:cubicBezTo>
                    <a:cubicBezTo>
                      <a:pt x="182" y="242"/>
                      <a:pt x="182" y="241"/>
                      <a:pt x="182" y="241"/>
                    </a:cubicBezTo>
                    <a:cubicBezTo>
                      <a:pt x="182" y="241"/>
                      <a:pt x="179" y="233"/>
                      <a:pt x="179" y="232"/>
                    </a:cubicBezTo>
                    <a:cubicBezTo>
                      <a:pt x="178" y="231"/>
                      <a:pt x="179" y="231"/>
                      <a:pt x="179" y="231"/>
                    </a:cubicBezTo>
                    <a:cubicBezTo>
                      <a:pt x="179" y="231"/>
                      <a:pt x="181" y="228"/>
                      <a:pt x="182" y="227"/>
                    </a:cubicBezTo>
                    <a:cubicBezTo>
                      <a:pt x="182" y="227"/>
                      <a:pt x="181" y="226"/>
                      <a:pt x="180" y="225"/>
                    </a:cubicBezTo>
                    <a:cubicBezTo>
                      <a:pt x="180" y="225"/>
                      <a:pt x="179" y="224"/>
                      <a:pt x="179" y="224"/>
                    </a:cubicBezTo>
                    <a:cubicBezTo>
                      <a:pt x="179" y="224"/>
                      <a:pt x="179" y="222"/>
                      <a:pt x="179" y="221"/>
                    </a:cubicBezTo>
                    <a:cubicBezTo>
                      <a:pt x="179" y="221"/>
                      <a:pt x="179" y="219"/>
                      <a:pt x="179" y="219"/>
                    </a:cubicBezTo>
                    <a:cubicBezTo>
                      <a:pt x="180" y="219"/>
                      <a:pt x="181" y="217"/>
                      <a:pt x="181" y="217"/>
                    </a:cubicBezTo>
                    <a:cubicBezTo>
                      <a:pt x="181" y="216"/>
                      <a:pt x="182" y="215"/>
                      <a:pt x="183" y="215"/>
                    </a:cubicBezTo>
                    <a:cubicBezTo>
                      <a:pt x="184" y="215"/>
                      <a:pt x="185" y="213"/>
                      <a:pt x="185" y="212"/>
                    </a:cubicBezTo>
                    <a:cubicBezTo>
                      <a:pt x="185" y="211"/>
                      <a:pt x="185" y="212"/>
                      <a:pt x="186" y="211"/>
                    </a:cubicBezTo>
                    <a:cubicBezTo>
                      <a:pt x="186" y="210"/>
                      <a:pt x="185" y="208"/>
                      <a:pt x="184" y="206"/>
                    </a:cubicBezTo>
                    <a:cubicBezTo>
                      <a:pt x="183" y="203"/>
                      <a:pt x="183" y="200"/>
                      <a:pt x="183" y="199"/>
                    </a:cubicBezTo>
                    <a:cubicBezTo>
                      <a:pt x="183" y="198"/>
                      <a:pt x="184" y="195"/>
                      <a:pt x="184" y="194"/>
                    </a:cubicBezTo>
                    <a:cubicBezTo>
                      <a:pt x="184" y="193"/>
                      <a:pt x="188" y="187"/>
                      <a:pt x="188" y="187"/>
                    </a:cubicBezTo>
                    <a:cubicBezTo>
                      <a:pt x="189" y="186"/>
                      <a:pt x="189" y="185"/>
                      <a:pt x="188" y="185"/>
                    </a:cubicBezTo>
                    <a:cubicBezTo>
                      <a:pt x="188" y="184"/>
                      <a:pt x="186" y="180"/>
                      <a:pt x="185" y="178"/>
                    </a:cubicBezTo>
                    <a:cubicBezTo>
                      <a:pt x="184" y="176"/>
                      <a:pt x="178" y="166"/>
                      <a:pt x="175" y="162"/>
                    </a:cubicBezTo>
                    <a:cubicBezTo>
                      <a:pt x="174" y="162"/>
                      <a:pt x="173" y="162"/>
                      <a:pt x="172" y="162"/>
                    </a:cubicBezTo>
                    <a:cubicBezTo>
                      <a:pt x="171" y="161"/>
                      <a:pt x="169" y="162"/>
                      <a:pt x="168" y="163"/>
                    </a:cubicBezTo>
                    <a:cubicBezTo>
                      <a:pt x="167" y="163"/>
                      <a:pt x="165" y="165"/>
                      <a:pt x="163" y="164"/>
                    </a:cubicBezTo>
                    <a:cubicBezTo>
                      <a:pt x="161" y="162"/>
                      <a:pt x="161" y="162"/>
                      <a:pt x="161" y="163"/>
                    </a:cubicBezTo>
                    <a:cubicBezTo>
                      <a:pt x="160" y="163"/>
                      <a:pt x="160" y="163"/>
                      <a:pt x="160" y="162"/>
                    </a:cubicBezTo>
                    <a:cubicBezTo>
                      <a:pt x="160" y="161"/>
                      <a:pt x="160" y="147"/>
                      <a:pt x="160" y="147"/>
                    </a:cubicBezTo>
                    <a:cubicBezTo>
                      <a:pt x="160" y="147"/>
                      <a:pt x="160" y="146"/>
                      <a:pt x="160" y="145"/>
                    </a:cubicBezTo>
                    <a:cubicBezTo>
                      <a:pt x="161" y="144"/>
                      <a:pt x="162" y="144"/>
                      <a:pt x="161" y="143"/>
                    </a:cubicBezTo>
                    <a:cubicBezTo>
                      <a:pt x="160" y="142"/>
                      <a:pt x="160" y="141"/>
                      <a:pt x="160" y="141"/>
                    </a:cubicBezTo>
                    <a:cubicBezTo>
                      <a:pt x="161" y="141"/>
                      <a:pt x="162" y="139"/>
                      <a:pt x="161" y="140"/>
                    </a:cubicBezTo>
                    <a:cubicBezTo>
                      <a:pt x="160" y="140"/>
                      <a:pt x="159" y="141"/>
                      <a:pt x="157" y="142"/>
                    </a:cubicBezTo>
                    <a:cubicBezTo>
                      <a:pt x="156" y="143"/>
                      <a:pt x="155" y="145"/>
                      <a:pt x="154" y="145"/>
                    </a:cubicBezTo>
                    <a:cubicBezTo>
                      <a:pt x="153" y="146"/>
                      <a:pt x="152" y="146"/>
                      <a:pt x="152" y="147"/>
                    </a:cubicBezTo>
                    <a:cubicBezTo>
                      <a:pt x="151" y="147"/>
                      <a:pt x="150" y="148"/>
                      <a:pt x="149" y="148"/>
                    </a:cubicBezTo>
                    <a:cubicBezTo>
                      <a:pt x="148" y="148"/>
                      <a:pt x="141" y="148"/>
                      <a:pt x="140" y="148"/>
                    </a:cubicBezTo>
                    <a:cubicBezTo>
                      <a:pt x="139" y="148"/>
                      <a:pt x="138" y="148"/>
                      <a:pt x="138" y="148"/>
                    </a:cubicBezTo>
                    <a:cubicBezTo>
                      <a:pt x="137" y="148"/>
                      <a:pt x="137" y="148"/>
                      <a:pt x="137" y="147"/>
                    </a:cubicBezTo>
                    <a:cubicBezTo>
                      <a:pt x="137" y="147"/>
                      <a:pt x="137" y="145"/>
                      <a:pt x="136" y="144"/>
                    </a:cubicBezTo>
                    <a:cubicBezTo>
                      <a:pt x="135" y="143"/>
                      <a:pt x="135" y="143"/>
                      <a:pt x="135" y="142"/>
                    </a:cubicBezTo>
                    <a:cubicBezTo>
                      <a:pt x="135" y="142"/>
                      <a:pt x="134" y="140"/>
                      <a:pt x="132" y="140"/>
                    </a:cubicBezTo>
                    <a:cubicBezTo>
                      <a:pt x="130" y="140"/>
                      <a:pt x="123" y="139"/>
                      <a:pt x="123" y="139"/>
                    </a:cubicBezTo>
                    <a:cubicBezTo>
                      <a:pt x="123" y="139"/>
                      <a:pt x="121" y="139"/>
                      <a:pt x="122" y="138"/>
                    </a:cubicBezTo>
                    <a:cubicBezTo>
                      <a:pt x="124" y="137"/>
                      <a:pt x="126" y="135"/>
                      <a:pt x="124" y="132"/>
                    </a:cubicBezTo>
                    <a:cubicBezTo>
                      <a:pt x="122" y="130"/>
                      <a:pt x="120" y="127"/>
                      <a:pt x="119" y="126"/>
                    </a:cubicBezTo>
                    <a:cubicBezTo>
                      <a:pt x="118" y="124"/>
                      <a:pt x="116" y="122"/>
                      <a:pt x="116" y="120"/>
                    </a:cubicBezTo>
                    <a:cubicBezTo>
                      <a:pt x="115" y="118"/>
                      <a:pt x="115" y="115"/>
                      <a:pt x="113" y="114"/>
                    </a:cubicBezTo>
                    <a:cubicBezTo>
                      <a:pt x="111" y="112"/>
                      <a:pt x="110" y="111"/>
                      <a:pt x="110" y="111"/>
                    </a:cubicBezTo>
                    <a:cubicBezTo>
                      <a:pt x="110" y="111"/>
                      <a:pt x="110" y="111"/>
                      <a:pt x="111" y="110"/>
                    </a:cubicBezTo>
                    <a:cubicBezTo>
                      <a:pt x="111" y="110"/>
                      <a:pt x="113" y="109"/>
                      <a:pt x="114" y="108"/>
                    </a:cubicBezTo>
                    <a:cubicBezTo>
                      <a:pt x="114" y="107"/>
                      <a:pt x="114" y="106"/>
                      <a:pt x="113" y="106"/>
                    </a:cubicBezTo>
                    <a:cubicBezTo>
                      <a:pt x="113" y="105"/>
                      <a:pt x="113" y="104"/>
                      <a:pt x="113" y="103"/>
                    </a:cubicBezTo>
                    <a:cubicBezTo>
                      <a:pt x="114" y="102"/>
                      <a:pt x="116" y="98"/>
                      <a:pt x="121" y="96"/>
                    </a:cubicBezTo>
                    <a:cubicBezTo>
                      <a:pt x="121" y="96"/>
                      <a:pt x="123" y="95"/>
                      <a:pt x="122" y="93"/>
                    </a:cubicBezTo>
                    <a:cubicBezTo>
                      <a:pt x="122" y="92"/>
                      <a:pt x="122" y="90"/>
                      <a:pt x="122" y="88"/>
                    </a:cubicBezTo>
                    <a:cubicBezTo>
                      <a:pt x="123" y="87"/>
                      <a:pt x="126" y="82"/>
                      <a:pt x="126" y="80"/>
                    </a:cubicBezTo>
                    <a:cubicBezTo>
                      <a:pt x="126" y="78"/>
                      <a:pt x="127" y="75"/>
                      <a:pt x="127" y="75"/>
                    </a:cubicBezTo>
                    <a:cubicBezTo>
                      <a:pt x="128" y="74"/>
                      <a:pt x="136" y="70"/>
                      <a:pt x="137" y="69"/>
                    </a:cubicBezTo>
                    <a:cubicBezTo>
                      <a:pt x="139" y="67"/>
                      <a:pt x="142" y="65"/>
                      <a:pt x="144" y="65"/>
                    </a:cubicBezTo>
                    <a:cubicBezTo>
                      <a:pt x="145" y="65"/>
                      <a:pt x="146" y="65"/>
                      <a:pt x="147" y="65"/>
                    </a:cubicBezTo>
                    <a:cubicBezTo>
                      <a:pt x="148" y="64"/>
                      <a:pt x="151" y="64"/>
                      <a:pt x="152" y="64"/>
                    </a:cubicBezTo>
                    <a:cubicBezTo>
                      <a:pt x="153" y="64"/>
                      <a:pt x="155" y="64"/>
                      <a:pt x="156" y="63"/>
                    </a:cubicBezTo>
                    <a:cubicBezTo>
                      <a:pt x="157" y="62"/>
                      <a:pt x="159" y="60"/>
                      <a:pt x="160" y="60"/>
                    </a:cubicBezTo>
                    <a:cubicBezTo>
                      <a:pt x="162" y="61"/>
                      <a:pt x="163" y="61"/>
                      <a:pt x="164" y="61"/>
                    </a:cubicBezTo>
                    <a:cubicBezTo>
                      <a:pt x="164" y="61"/>
                      <a:pt x="165" y="60"/>
                      <a:pt x="165" y="61"/>
                    </a:cubicBezTo>
                    <a:cubicBezTo>
                      <a:pt x="164" y="61"/>
                      <a:pt x="165" y="61"/>
                      <a:pt x="165" y="62"/>
                    </a:cubicBezTo>
                    <a:cubicBezTo>
                      <a:pt x="165" y="62"/>
                      <a:pt x="165" y="63"/>
                      <a:pt x="166" y="63"/>
                    </a:cubicBezTo>
                    <a:cubicBezTo>
                      <a:pt x="166" y="63"/>
                      <a:pt x="168" y="62"/>
                      <a:pt x="168" y="63"/>
                    </a:cubicBezTo>
                    <a:cubicBezTo>
                      <a:pt x="169" y="63"/>
                      <a:pt x="169" y="63"/>
                      <a:pt x="169" y="63"/>
                    </a:cubicBezTo>
                    <a:cubicBezTo>
                      <a:pt x="169" y="63"/>
                      <a:pt x="170" y="62"/>
                      <a:pt x="170" y="62"/>
                    </a:cubicBezTo>
                    <a:cubicBezTo>
                      <a:pt x="168" y="60"/>
                      <a:pt x="165" y="57"/>
                      <a:pt x="165" y="56"/>
                    </a:cubicBezTo>
                    <a:cubicBezTo>
                      <a:pt x="164" y="55"/>
                      <a:pt x="163" y="56"/>
                      <a:pt x="161" y="56"/>
                    </a:cubicBezTo>
                    <a:cubicBezTo>
                      <a:pt x="160" y="57"/>
                      <a:pt x="159" y="55"/>
                      <a:pt x="160" y="53"/>
                    </a:cubicBezTo>
                    <a:cubicBezTo>
                      <a:pt x="160" y="51"/>
                      <a:pt x="165" y="44"/>
                      <a:pt x="166" y="43"/>
                    </a:cubicBezTo>
                    <a:cubicBezTo>
                      <a:pt x="167" y="42"/>
                      <a:pt x="168" y="41"/>
                      <a:pt x="168" y="38"/>
                    </a:cubicBezTo>
                    <a:cubicBezTo>
                      <a:pt x="168" y="36"/>
                      <a:pt x="163" y="36"/>
                      <a:pt x="162" y="35"/>
                    </a:cubicBezTo>
                    <a:cubicBezTo>
                      <a:pt x="160" y="35"/>
                      <a:pt x="159" y="34"/>
                      <a:pt x="158" y="33"/>
                    </a:cubicBezTo>
                    <a:cubicBezTo>
                      <a:pt x="157" y="33"/>
                      <a:pt x="157" y="32"/>
                      <a:pt x="156" y="32"/>
                    </a:cubicBezTo>
                    <a:cubicBezTo>
                      <a:pt x="155" y="32"/>
                      <a:pt x="155" y="33"/>
                      <a:pt x="155" y="33"/>
                    </a:cubicBezTo>
                    <a:cubicBezTo>
                      <a:pt x="154" y="33"/>
                      <a:pt x="154" y="33"/>
                      <a:pt x="153" y="34"/>
                    </a:cubicBezTo>
                    <a:cubicBezTo>
                      <a:pt x="152" y="34"/>
                      <a:pt x="152" y="34"/>
                      <a:pt x="151" y="34"/>
                    </a:cubicBezTo>
                    <a:cubicBezTo>
                      <a:pt x="150" y="35"/>
                      <a:pt x="147" y="34"/>
                      <a:pt x="146" y="33"/>
                    </a:cubicBezTo>
                    <a:cubicBezTo>
                      <a:pt x="145" y="33"/>
                      <a:pt x="144" y="32"/>
                      <a:pt x="143" y="32"/>
                    </a:cubicBezTo>
                    <a:cubicBezTo>
                      <a:pt x="142" y="32"/>
                      <a:pt x="142" y="33"/>
                      <a:pt x="141" y="33"/>
                    </a:cubicBezTo>
                    <a:cubicBezTo>
                      <a:pt x="141" y="34"/>
                      <a:pt x="141" y="34"/>
                      <a:pt x="140" y="34"/>
                    </a:cubicBezTo>
                    <a:cubicBezTo>
                      <a:pt x="140" y="34"/>
                      <a:pt x="139" y="34"/>
                      <a:pt x="139" y="35"/>
                    </a:cubicBezTo>
                    <a:cubicBezTo>
                      <a:pt x="138" y="36"/>
                      <a:pt x="137" y="36"/>
                      <a:pt x="136" y="36"/>
                    </a:cubicBezTo>
                    <a:cubicBezTo>
                      <a:pt x="135" y="36"/>
                      <a:pt x="132" y="35"/>
                      <a:pt x="131" y="35"/>
                    </a:cubicBezTo>
                    <a:cubicBezTo>
                      <a:pt x="131" y="35"/>
                      <a:pt x="131" y="35"/>
                      <a:pt x="130" y="36"/>
                    </a:cubicBezTo>
                    <a:cubicBezTo>
                      <a:pt x="130" y="36"/>
                      <a:pt x="130" y="36"/>
                      <a:pt x="130" y="36"/>
                    </a:cubicBezTo>
                    <a:cubicBezTo>
                      <a:pt x="129" y="36"/>
                      <a:pt x="129" y="36"/>
                      <a:pt x="129" y="36"/>
                    </a:cubicBezTo>
                    <a:cubicBezTo>
                      <a:pt x="128" y="36"/>
                      <a:pt x="127" y="36"/>
                      <a:pt x="127" y="36"/>
                    </a:cubicBezTo>
                    <a:cubicBezTo>
                      <a:pt x="125" y="37"/>
                      <a:pt x="123" y="31"/>
                      <a:pt x="123" y="29"/>
                    </a:cubicBezTo>
                    <a:cubicBezTo>
                      <a:pt x="123" y="27"/>
                      <a:pt x="121" y="27"/>
                      <a:pt x="120" y="26"/>
                    </a:cubicBezTo>
                    <a:cubicBezTo>
                      <a:pt x="118" y="26"/>
                      <a:pt x="117" y="26"/>
                      <a:pt x="118" y="23"/>
                    </a:cubicBezTo>
                    <a:cubicBezTo>
                      <a:pt x="118" y="20"/>
                      <a:pt x="116" y="19"/>
                      <a:pt x="114" y="18"/>
                    </a:cubicBezTo>
                    <a:cubicBezTo>
                      <a:pt x="113" y="18"/>
                      <a:pt x="111" y="17"/>
                      <a:pt x="111" y="16"/>
                    </a:cubicBezTo>
                    <a:cubicBezTo>
                      <a:pt x="110" y="15"/>
                      <a:pt x="109" y="15"/>
                      <a:pt x="108" y="15"/>
                    </a:cubicBezTo>
                    <a:cubicBezTo>
                      <a:pt x="106" y="14"/>
                      <a:pt x="106" y="14"/>
                      <a:pt x="106" y="13"/>
                    </a:cubicBezTo>
                    <a:cubicBezTo>
                      <a:pt x="106" y="13"/>
                      <a:pt x="104" y="8"/>
                      <a:pt x="104" y="8"/>
                    </a:cubicBezTo>
                    <a:cubicBezTo>
                      <a:pt x="104" y="7"/>
                      <a:pt x="104" y="7"/>
                      <a:pt x="102" y="6"/>
                    </a:cubicBezTo>
                    <a:cubicBezTo>
                      <a:pt x="101" y="5"/>
                      <a:pt x="98" y="2"/>
                      <a:pt x="96" y="1"/>
                    </a:cubicBezTo>
                    <a:cubicBezTo>
                      <a:pt x="94" y="0"/>
                      <a:pt x="92" y="0"/>
                      <a:pt x="91" y="1"/>
                    </a:cubicBezTo>
                    <a:cubicBezTo>
                      <a:pt x="91" y="1"/>
                      <a:pt x="91" y="1"/>
                      <a:pt x="91" y="1"/>
                    </a:cubicBezTo>
                    <a:cubicBezTo>
                      <a:pt x="90" y="1"/>
                      <a:pt x="89" y="1"/>
                      <a:pt x="89" y="1"/>
                    </a:cubicBezTo>
                    <a:cubicBezTo>
                      <a:pt x="88" y="0"/>
                      <a:pt x="87" y="0"/>
                      <a:pt x="86" y="1"/>
                    </a:cubicBezTo>
                    <a:cubicBezTo>
                      <a:pt x="85" y="1"/>
                      <a:pt x="86" y="1"/>
                      <a:pt x="86" y="2"/>
                    </a:cubicBezTo>
                    <a:cubicBezTo>
                      <a:pt x="86" y="2"/>
                      <a:pt x="87" y="2"/>
                      <a:pt x="87" y="2"/>
                    </a:cubicBezTo>
                    <a:cubicBezTo>
                      <a:pt x="88" y="2"/>
                      <a:pt x="88" y="3"/>
                      <a:pt x="88" y="4"/>
                    </a:cubicBezTo>
                    <a:cubicBezTo>
                      <a:pt x="88" y="5"/>
                      <a:pt x="89" y="6"/>
                      <a:pt x="90" y="7"/>
                    </a:cubicBezTo>
                    <a:cubicBezTo>
                      <a:pt x="91" y="8"/>
                      <a:pt x="91" y="10"/>
                      <a:pt x="92" y="11"/>
                    </a:cubicBezTo>
                    <a:cubicBezTo>
                      <a:pt x="92" y="13"/>
                      <a:pt x="90" y="15"/>
                      <a:pt x="90" y="15"/>
                    </a:cubicBezTo>
                    <a:cubicBezTo>
                      <a:pt x="89" y="16"/>
                      <a:pt x="87" y="20"/>
                      <a:pt x="87" y="21"/>
                    </a:cubicBezTo>
                    <a:cubicBezTo>
                      <a:pt x="86" y="22"/>
                      <a:pt x="84" y="25"/>
                      <a:pt x="83" y="26"/>
                    </a:cubicBezTo>
                    <a:cubicBezTo>
                      <a:pt x="82" y="27"/>
                      <a:pt x="72" y="36"/>
                      <a:pt x="71" y="36"/>
                    </a:cubicBezTo>
                    <a:cubicBezTo>
                      <a:pt x="70" y="37"/>
                      <a:pt x="69" y="38"/>
                      <a:pt x="69" y="38"/>
                    </a:cubicBezTo>
                    <a:cubicBezTo>
                      <a:pt x="69" y="38"/>
                      <a:pt x="54" y="43"/>
                      <a:pt x="54" y="43"/>
                    </a:cubicBezTo>
                    <a:cubicBezTo>
                      <a:pt x="53" y="43"/>
                      <a:pt x="53" y="43"/>
                      <a:pt x="53" y="44"/>
                    </a:cubicBezTo>
                    <a:cubicBezTo>
                      <a:pt x="52" y="44"/>
                      <a:pt x="52" y="44"/>
                      <a:pt x="50" y="46"/>
                    </a:cubicBezTo>
                    <a:cubicBezTo>
                      <a:pt x="49" y="48"/>
                      <a:pt x="48" y="48"/>
                      <a:pt x="48" y="50"/>
                    </a:cubicBezTo>
                    <a:cubicBezTo>
                      <a:pt x="48" y="51"/>
                      <a:pt x="46" y="51"/>
                      <a:pt x="46" y="51"/>
                    </a:cubicBezTo>
                    <a:cubicBezTo>
                      <a:pt x="45" y="51"/>
                      <a:pt x="45" y="52"/>
                      <a:pt x="45" y="52"/>
                    </a:cubicBezTo>
                    <a:cubicBezTo>
                      <a:pt x="45" y="52"/>
                      <a:pt x="45" y="53"/>
                      <a:pt x="44" y="54"/>
                    </a:cubicBezTo>
                    <a:cubicBezTo>
                      <a:pt x="44" y="56"/>
                      <a:pt x="41" y="63"/>
                      <a:pt x="41" y="65"/>
                    </a:cubicBezTo>
                    <a:cubicBezTo>
                      <a:pt x="41" y="66"/>
                      <a:pt x="40" y="68"/>
                      <a:pt x="39" y="68"/>
                    </a:cubicBezTo>
                    <a:cubicBezTo>
                      <a:pt x="38" y="69"/>
                      <a:pt x="37" y="71"/>
                      <a:pt x="36" y="72"/>
                    </a:cubicBezTo>
                    <a:cubicBezTo>
                      <a:pt x="35" y="73"/>
                      <a:pt x="34" y="73"/>
                      <a:pt x="33" y="73"/>
                    </a:cubicBezTo>
                    <a:cubicBezTo>
                      <a:pt x="31" y="72"/>
                      <a:pt x="30" y="71"/>
                      <a:pt x="29" y="70"/>
                    </a:cubicBezTo>
                    <a:cubicBezTo>
                      <a:pt x="29" y="70"/>
                      <a:pt x="27" y="66"/>
                      <a:pt x="26" y="65"/>
                    </a:cubicBezTo>
                    <a:cubicBezTo>
                      <a:pt x="26" y="65"/>
                      <a:pt x="25" y="65"/>
                      <a:pt x="24" y="65"/>
                    </a:cubicBezTo>
                    <a:cubicBezTo>
                      <a:pt x="23" y="65"/>
                      <a:pt x="22" y="64"/>
                      <a:pt x="20" y="63"/>
                    </a:cubicBezTo>
                    <a:cubicBezTo>
                      <a:pt x="19" y="62"/>
                      <a:pt x="18" y="63"/>
                      <a:pt x="17" y="64"/>
                    </a:cubicBezTo>
                    <a:cubicBezTo>
                      <a:pt x="17" y="65"/>
                      <a:pt x="14" y="65"/>
                      <a:pt x="14" y="65"/>
                    </a:cubicBezTo>
                    <a:cubicBezTo>
                      <a:pt x="13" y="64"/>
                      <a:pt x="14" y="64"/>
                      <a:pt x="14" y="63"/>
                    </a:cubicBezTo>
                    <a:cubicBezTo>
                      <a:pt x="14" y="63"/>
                      <a:pt x="13" y="60"/>
                      <a:pt x="13" y="60"/>
                    </a:cubicBezTo>
                    <a:cubicBezTo>
                      <a:pt x="13" y="59"/>
                      <a:pt x="14" y="59"/>
                      <a:pt x="14" y="58"/>
                    </a:cubicBezTo>
                    <a:cubicBezTo>
                      <a:pt x="15" y="58"/>
                      <a:pt x="17" y="57"/>
                      <a:pt x="18" y="57"/>
                    </a:cubicBezTo>
                    <a:cubicBezTo>
                      <a:pt x="18" y="57"/>
                      <a:pt x="18" y="56"/>
                      <a:pt x="18" y="56"/>
                    </a:cubicBezTo>
                    <a:cubicBezTo>
                      <a:pt x="16" y="50"/>
                      <a:pt x="16" y="50"/>
                      <a:pt x="16" y="50"/>
                    </a:cubicBezTo>
                    <a:cubicBezTo>
                      <a:pt x="16" y="50"/>
                      <a:pt x="16" y="50"/>
                      <a:pt x="15" y="50"/>
                    </a:cubicBezTo>
                    <a:cubicBezTo>
                      <a:pt x="15" y="51"/>
                      <a:pt x="12" y="53"/>
                      <a:pt x="12" y="53"/>
                    </a:cubicBezTo>
                    <a:cubicBezTo>
                      <a:pt x="11" y="54"/>
                      <a:pt x="8" y="56"/>
                      <a:pt x="8" y="57"/>
                    </a:cubicBezTo>
                    <a:cubicBezTo>
                      <a:pt x="7" y="58"/>
                      <a:pt x="3" y="62"/>
                      <a:pt x="3" y="62"/>
                    </a:cubicBezTo>
                    <a:cubicBezTo>
                      <a:pt x="2" y="62"/>
                      <a:pt x="0" y="65"/>
                      <a:pt x="2" y="69"/>
                    </a:cubicBezTo>
                    <a:cubicBezTo>
                      <a:pt x="3" y="72"/>
                      <a:pt x="5" y="77"/>
                      <a:pt x="6" y="80"/>
                    </a:cubicBezTo>
                    <a:cubicBezTo>
                      <a:pt x="8" y="82"/>
                      <a:pt x="8" y="84"/>
                      <a:pt x="8" y="85"/>
                    </a:cubicBezTo>
                    <a:cubicBezTo>
                      <a:pt x="7" y="86"/>
                      <a:pt x="7" y="86"/>
                      <a:pt x="6" y="86"/>
                    </a:cubicBezTo>
                    <a:cubicBezTo>
                      <a:pt x="6" y="87"/>
                      <a:pt x="3" y="89"/>
                      <a:pt x="4" y="90"/>
                    </a:cubicBezTo>
                    <a:cubicBezTo>
                      <a:pt x="5" y="91"/>
                      <a:pt x="7" y="91"/>
                      <a:pt x="8" y="92"/>
                    </a:cubicBezTo>
                    <a:cubicBezTo>
                      <a:pt x="9" y="92"/>
                      <a:pt x="18" y="96"/>
                      <a:pt x="20" y="98"/>
                    </a:cubicBezTo>
                    <a:cubicBezTo>
                      <a:pt x="21" y="101"/>
                      <a:pt x="26" y="107"/>
                      <a:pt x="27" y="109"/>
                    </a:cubicBezTo>
                    <a:cubicBezTo>
                      <a:pt x="28" y="111"/>
                      <a:pt x="33" y="119"/>
                      <a:pt x="34" y="121"/>
                    </a:cubicBezTo>
                    <a:cubicBezTo>
                      <a:pt x="36" y="122"/>
                      <a:pt x="37" y="124"/>
                      <a:pt x="38" y="126"/>
                    </a:cubicBezTo>
                    <a:cubicBezTo>
                      <a:pt x="39" y="129"/>
                      <a:pt x="45" y="141"/>
                      <a:pt x="46" y="142"/>
                    </a:cubicBezTo>
                    <a:cubicBezTo>
                      <a:pt x="46" y="143"/>
                      <a:pt x="53" y="158"/>
                      <a:pt x="54" y="160"/>
                    </a:cubicBezTo>
                    <a:cubicBezTo>
                      <a:pt x="55" y="162"/>
                      <a:pt x="56" y="163"/>
                      <a:pt x="55" y="164"/>
                    </a:cubicBezTo>
                    <a:cubicBezTo>
                      <a:pt x="55" y="165"/>
                      <a:pt x="56" y="167"/>
                      <a:pt x="58" y="169"/>
                    </a:cubicBezTo>
                    <a:cubicBezTo>
                      <a:pt x="61" y="171"/>
                      <a:pt x="62" y="172"/>
                      <a:pt x="63" y="174"/>
                    </a:cubicBezTo>
                    <a:cubicBezTo>
                      <a:pt x="63" y="175"/>
                      <a:pt x="63" y="179"/>
                      <a:pt x="66" y="182"/>
                    </a:cubicBezTo>
                    <a:cubicBezTo>
                      <a:pt x="68" y="186"/>
                      <a:pt x="76" y="196"/>
                      <a:pt x="77" y="198"/>
                    </a:cubicBezTo>
                    <a:cubicBezTo>
                      <a:pt x="77" y="199"/>
                      <a:pt x="78" y="202"/>
                      <a:pt x="77" y="203"/>
                    </a:cubicBezTo>
                    <a:cubicBezTo>
                      <a:pt x="76" y="205"/>
                      <a:pt x="74" y="207"/>
                      <a:pt x="75" y="208"/>
                    </a:cubicBezTo>
                    <a:cubicBezTo>
                      <a:pt x="76" y="210"/>
                      <a:pt x="76" y="212"/>
                      <a:pt x="77" y="211"/>
                    </a:cubicBezTo>
                    <a:cubicBezTo>
                      <a:pt x="77" y="210"/>
                      <a:pt x="78" y="211"/>
                      <a:pt x="78" y="212"/>
                    </a:cubicBezTo>
                    <a:cubicBezTo>
                      <a:pt x="78" y="213"/>
                      <a:pt x="80" y="214"/>
                      <a:pt x="80" y="216"/>
                    </a:cubicBezTo>
                    <a:cubicBezTo>
                      <a:pt x="81" y="218"/>
                      <a:pt x="82" y="218"/>
                      <a:pt x="83" y="219"/>
                    </a:cubicBezTo>
                    <a:cubicBezTo>
                      <a:pt x="84" y="221"/>
                      <a:pt x="85" y="220"/>
                      <a:pt x="87" y="222"/>
                    </a:cubicBezTo>
                    <a:cubicBezTo>
                      <a:pt x="89" y="223"/>
                      <a:pt x="91" y="226"/>
                      <a:pt x="92" y="228"/>
                    </a:cubicBezTo>
                    <a:cubicBezTo>
                      <a:pt x="93" y="229"/>
                      <a:pt x="96" y="231"/>
                      <a:pt x="97" y="232"/>
                    </a:cubicBezTo>
                    <a:cubicBezTo>
                      <a:pt x="98" y="232"/>
                      <a:pt x="110" y="239"/>
                      <a:pt x="112" y="240"/>
                    </a:cubicBezTo>
                    <a:cubicBezTo>
                      <a:pt x="115" y="242"/>
                      <a:pt x="124" y="246"/>
                      <a:pt x="127" y="247"/>
                    </a:cubicBezTo>
                    <a:cubicBezTo>
                      <a:pt x="130" y="248"/>
                      <a:pt x="136" y="252"/>
                      <a:pt x="138" y="253"/>
                    </a:cubicBezTo>
                    <a:cubicBezTo>
                      <a:pt x="140" y="255"/>
                      <a:pt x="148" y="258"/>
                      <a:pt x="148" y="260"/>
                    </a:cubicBezTo>
                    <a:cubicBezTo>
                      <a:pt x="148" y="262"/>
                      <a:pt x="148" y="264"/>
                      <a:pt x="151" y="265"/>
                    </a:cubicBezTo>
                    <a:cubicBezTo>
                      <a:pt x="153" y="267"/>
                      <a:pt x="157" y="270"/>
                      <a:pt x="158" y="270"/>
                    </a:cubicBezTo>
                    <a:cubicBezTo>
                      <a:pt x="159" y="271"/>
                      <a:pt x="162" y="273"/>
                      <a:pt x="163" y="274"/>
                    </a:cubicBezTo>
                    <a:cubicBezTo>
                      <a:pt x="165" y="274"/>
                      <a:pt x="171" y="272"/>
                      <a:pt x="171" y="271"/>
                    </a:cubicBezTo>
                    <a:cubicBezTo>
                      <a:pt x="172" y="271"/>
                      <a:pt x="172" y="270"/>
                      <a:pt x="172" y="270"/>
                    </a:cubicBezTo>
                    <a:cubicBezTo>
                      <a:pt x="172" y="270"/>
                      <a:pt x="172" y="269"/>
                      <a:pt x="172" y="266"/>
                    </a:cubicBezTo>
                    <a:cubicBezTo>
                      <a:pt x="172" y="264"/>
                      <a:pt x="175" y="262"/>
                      <a:pt x="176" y="262"/>
                    </a:cubicBezTo>
                    <a:cubicBezTo>
                      <a:pt x="176" y="262"/>
                      <a:pt x="176" y="262"/>
                      <a:pt x="176" y="26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85" name="Freeform 368">
                <a:extLst>
                  <a:ext uri="{FF2B5EF4-FFF2-40B4-BE49-F238E27FC236}">
                    <a16:creationId xmlns:a16="http://schemas.microsoft.com/office/drawing/2014/main" id="{8E8E48F5-2267-4D20-BF94-F603849138F3}"/>
                  </a:ext>
                </a:extLst>
              </p:cNvPr>
              <p:cNvSpPr>
                <a:spLocks/>
              </p:cNvSpPr>
              <p:nvPr/>
            </p:nvSpPr>
            <p:spPr bwMode="auto">
              <a:xfrm>
                <a:off x="2071" y="2880"/>
                <a:ext cx="251" cy="275"/>
              </a:xfrm>
              <a:custGeom>
                <a:avLst/>
                <a:gdLst>
                  <a:gd name="T0" fmla="*/ 10 w 181"/>
                  <a:gd name="T1" fmla="*/ 51 h 201"/>
                  <a:gd name="T2" fmla="*/ 12 w 181"/>
                  <a:gd name="T3" fmla="*/ 68 h 201"/>
                  <a:gd name="T4" fmla="*/ 7 w 181"/>
                  <a:gd name="T5" fmla="*/ 74 h 201"/>
                  <a:gd name="T6" fmla="*/ 5 w 181"/>
                  <a:gd name="T7" fmla="*/ 81 h 201"/>
                  <a:gd name="T8" fmla="*/ 5 w 181"/>
                  <a:gd name="T9" fmla="*/ 88 h 201"/>
                  <a:gd name="T10" fmla="*/ 9 w 181"/>
                  <a:gd name="T11" fmla="*/ 99 h 201"/>
                  <a:gd name="T12" fmla="*/ 9 w 181"/>
                  <a:gd name="T13" fmla="*/ 104 h 201"/>
                  <a:gd name="T14" fmla="*/ 1 w 181"/>
                  <a:gd name="T15" fmla="*/ 115 h 201"/>
                  <a:gd name="T16" fmla="*/ 7 w 181"/>
                  <a:gd name="T17" fmla="*/ 126 h 201"/>
                  <a:gd name="T18" fmla="*/ 10 w 181"/>
                  <a:gd name="T19" fmla="*/ 139 h 201"/>
                  <a:gd name="T20" fmla="*/ 18 w 181"/>
                  <a:gd name="T21" fmla="*/ 148 h 201"/>
                  <a:gd name="T22" fmla="*/ 16 w 181"/>
                  <a:gd name="T23" fmla="*/ 154 h 201"/>
                  <a:gd name="T24" fmla="*/ 13 w 181"/>
                  <a:gd name="T25" fmla="*/ 159 h 201"/>
                  <a:gd name="T26" fmla="*/ 17 w 181"/>
                  <a:gd name="T27" fmla="*/ 170 h 201"/>
                  <a:gd name="T28" fmla="*/ 24 w 181"/>
                  <a:gd name="T29" fmla="*/ 185 h 201"/>
                  <a:gd name="T30" fmla="*/ 27 w 181"/>
                  <a:gd name="T31" fmla="*/ 196 h 201"/>
                  <a:gd name="T32" fmla="*/ 37 w 181"/>
                  <a:gd name="T33" fmla="*/ 201 h 201"/>
                  <a:gd name="T34" fmla="*/ 48 w 181"/>
                  <a:gd name="T35" fmla="*/ 190 h 201"/>
                  <a:gd name="T36" fmla="*/ 54 w 181"/>
                  <a:gd name="T37" fmla="*/ 186 h 201"/>
                  <a:gd name="T38" fmla="*/ 67 w 181"/>
                  <a:gd name="T39" fmla="*/ 190 h 201"/>
                  <a:gd name="T40" fmla="*/ 79 w 181"/>
                  <a:gd name="T41" fmla="*/ 200 h 201"/>
                  <a:gd name="T42" fmla="*/ 87 w 181"/>
                  <a:gd name="T43" fmla="*/ 188 h 201"/>
                  <a:gd name="T44" fmla="*/ 102 w 181"/>
                  <a:gd name="T45" fmla="*/ 189 h 201"/>
                  <a:gd name="T46" fmla="*/ 110 w 181"/>
                  <a:gd name="T47" fmla="*/ 170 h 201"/>
                  <a:gd name="T48" fmla="*/ 115 w 181"/>
                  <a:gd name="T49" fmla="*/ 159 h 201"/>
                  <a:gd name="T50" fmla="*/ 131 w 181"/>
                  <a:gd name="T51" fmla="*/ 149 h 201"/>
                  <a:gd name="T52" fmla="*/ 157 w 181"/>
                  <a:gd name="T53" fmla="*/ 146 h 201"/>
                  <a:gd name="T54" fmla="*/ 171 w 181"/>
                  <a:gd name="T55" fmla="*/ 158 h 201"/>
                  <a:gd name="T56" fmla="*/ 175 w 181"/>
                  <a:gd name="T57" fmla="*/ 156 h 201"/>
                  <a:gd name="T58" fmla="*/ 179 w 181"/>
                  <a:gd name="T59" fmla="*/ 132 h 201"/>
                  <a:gd name="T60" fmla="*/ 178 w 181"/>
                  <a:gd name="T61" fmla="*/ 125 h 201"/>
                  <a:gd name="T62" fmla="*/ 169 w 181"/>
                  <a:gd name="T63" fmla="*/ 116 h 201"/>
                  <a:gd name="T64" fmla="*/ 167 w 181"/>
                  <a:gd name="T65" fmla="*/ 104 h 201"/>
                  <a:gd name="T66" fmla="*/ 147 w 181"/>
                  <a:gd name="T67" fmla="*/ 100 h 201"/>
                  <a:gd name="T68" fmla="*/ 139 w 181"/>
                  <a:gd name="T69" fmla="*/ 87 h 201"/>
                  <a:gd name="T70" fmla="*/ 140 w 181"/>
                  <a:gd name="T71" fmla="*/ 80 h 201"/>
                  <a:gd name="T72" fmla="*/ 138 w 181"/>
                  <a:gd name="T73" fmla="*/ 65 h 201"/>
                  <a:gd name="T74" fmla="*/ 116 w 181"/>
                  <a:gd name="T75" fmla="*/ 57 h 201"/>
                  <a:gd name="T76" fmla="*/ 100 w 181"/>
                  <a:gd name="T77" fmla="*/ 48 h 201"/>
                  <a:gd name="T78" fmla="*/ 86 w 181"/>
                  <a:gd name="T79" fmla="*/ 42 h 201"/>
                  <a:gd name="T80" fmla="*/ 70 w 181"/>
                  <a:gd name="T81" fmla="*/ 34 h 201"/>
                  <a:gd name="T82" fmla="*/ 64 w 181"/>
                  <a:gd name="T83" fmla="*/ 21 h 201"/>
                  <a:gd name="T84" fmla="*/ 65 w 181"/>
                  <a:gd name="T85" fmla="*/ 2 h 201"/>
                  <a:gd name="T86" fmla="*/ 56 w 181"/>
                  <a:gd name="T87" fmla="*/ 1 h 201"/>
                  <a:gd name="T88" fmla="*/ 37 w 181"/>
                  <a:gd name="T89" fmla="*/ 10 h 201"/>
                  <a:gd name="T90" fmla="*/ 27 w 181"/>
                  <a:gd name="T91" fmla="*/ 16 h 201"/>
                  <a:gd name="T92" fmla="*/ 5 w 181"/>
                  <a:gd name="T93" fmla="*/ 20 h 201"/>
                  <a:gd name="T94" fmla="*/ 14 w 181"/>
                  <a:gd name="T95" fmla="*/ 42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1" h="201">
                    <a:moveTo>
                      <a:pt x="14" y="42"/>
                    </a:moveTo>
                    <a:cubicBezTo>
                      <a:pt x="15" y="42"/>
                      <a:pt x="15" y="43"/>
                      <a:pt x="14" y="44"/>
                    </a:cubicBezTo>
                    <a:cubicBezTo>
                      <a:pt x="14" y="44"/>
                      <a:pt x="10" y="50"/>
                      <a:pt x="10" y="51"/>
                    </a:cubicBezTo>
                    <a:cubicBezTo>
                      <a:pt x="10" y="52"/>
                      <a:pt x="9" y="55"/>
                      <a:pt x="9" y="56"/>
                    </a:cubicBezTo>
                    <a:cubicBezTo>
                      <a:pt x="9" y="57"/>
                      <a:pt x="9" y="60"/>
                      <a:pt x="10" y="63"/>
                    </a:cubicBezTo>
                    <a:cubicBezTo>
                      <a:pt x="11" y="65"/>
                      <a:pt x="12" y="67"/>
                      <a:pt x="12" y="68"/>
                    </a:cubicBezTo>
                    <a:cubicBezTo>
                      <a:pt x="11" y="69"/>
                      <a:pt x="11" y="68"/>
                      <a:pt x="11" y="69"/>
                    </a:cubicBezTo>
                    <a:cubicBezTo>
                      <a:pt x="11" y="70"/>
                      <a:pt x="10" y="72"/>
                      <a:pt x="9" y="72"/>
                    </a:cubicBezTo>
                    <a:cubicBezTo>
                      <a:pt x="8" y="72"/>
                      <a:pt x="7" y="73"/>
                      <a:pt x="7" y="74"/>
                    </a:cubicBezTo>
                    <a:cubicBezTo>
                      <a:pt x="7" y="74"/>
                      <a:pt x="6" y="76"/>
                      <a:pt x="5" y="76"/>
                    </a:cubicBezTo>
                    <a:cubicBezTo>
                      <a:pt x="5" y="76"/>
                      <a:pt x="5" y="78"/>
                      <a:pt x="5" y="78"/>
                    </a:cubicBezTo>
                    <a:cubicBezTo>
                      <a:pt x="5" y="79"/>
                      <a:pt x="5" y="81"/>
                      <a:pt x="5" y="81"/>
                    </a:cubicBezTo>
                    <a:cubicBezTo>
                      <a:pt x="5" y="81"/>
                      <a:pt x="6" y="82"/>
                      <a:pt x="6" y="82"/>
                    </a:cubicBezTo>
                    <a:cubicBezTo>
                      <a:pt x="7" y="83"/>
                      <a:pt x="8" y="84"/>
                      <a:pt x="8" y="84"/>
                    </a:cubicBezTo>
                    <a:cubicBezTo>
                      <a:pt x="7" y="85"/>
                      <a:pt x="5" y="88"/>
                      <a:pt x="5" y="88"/>
                    </a:cubicBezTo>
                    <a:cubicBezTo>
                      <a:pt x="5" y="88"/>
                      <a:pt x="4" y="88"/>
                      <a:pt x="5" y="89"/>
                    </a:cubicBezTo>
                    <a:cubicBezTo>
                      <a:pt x="5" y="90"/>
                      <a:pt x="8" y="98"/>
                      <a:pt x="8" y="98"/>
                    </a:cubicBezTo>
                    <a:cubicBezTo>
                      <a:pt x="8" y="98"/>
                      <a:pt x="8" y="99"/>
                      <a:pt x="9" y="99"/>
                    </a:cubicBezTo>
                    <a:cubicBezTo>
                      <a:pt x="10" y="99"/>
                      <a:pt x="11" y="99"/>
                      <a:pt x="11" y="99"/>
                    </a:cubicBezTo>
                    <a:cubicBezTo>
                      <a:pt x="12" y="100"/>
                      <a:pt x="13" y="101"/>
                      <a:pt x="12" y="101"/>
                    </a:cubicBezTo>
                    <a:cubicBezTo>
                      <a:pt x="11" y="102"/>
                      <a:pt x="10" y="103"/>
                      <a:pt x="9" y="104"/>
                    </a:cubicBezTo>
                    <a:cubicBezTo>
                      <a:pt x="9" y="105"/>
                      <a:pt x="5" y="110"/>
                      <a:pt x="4" y="111"/>
                    </a:cubicBezTo>
                    <a:cubicBezTo>
                      <a:pt x="3" y="112"/>
                      <a:pt x="1" y="114"/>
                      <a:pt x="1" y="114"/>
                    </a:cubicBezTo>
                    <a:cubicBezTo>
                      <a:pt x="0" y="115"/>
                      <a:pt x="0" y="115"/>
                      <a:pt x="1" y="115"/>
                    </a:cubicBezTo>
                    <a:cubicBezTo>
                      <a:pt x="1" y="116"/>
                      <a:pt x="3" y="117"/>
                      <a:pt x="3" y="118"/>
                    </a:cubicBezTo>
                    <a:cubicBezTo>
                      <a:pt x="3" y="118"/>
                      <a:pt x="3" y="118"/>
                      <a:pt x="2" y="119"/>
                    </a:cubicBezTo>
                    <a:cubicBezTo>
                      <a:pt x="3" y="121"/>
                      <a:pt x="5" y="126"/>
                      <a:pt x="7" y="126"/>
                    </a:cubicBezTo>
                    <a:cubicBezTo>
                      <a:pt x="8" y="127"/>
                      <a:pt x="8" y="127"/>
                      <a:pt x="8" y="127"/>
                    </a:cubicBezTo>
                    <a:cubicBezTo>
                      <a:pt x="8" y="127"/>
                      <a:pt x="9" y="127"/>
                      <a:pt x="9" y="128"/>
                    </a:cubicBezTo>
                    <a:cubicBezTo>
                      <a:pt x="9" y="129"/>
                      <a:pt x="10" y="137"/>
                      <a:pt x="10" y="139"/>
                    </a:cubicBezTo>
                    <a:cubicBezTo>
                      <a:pt x="10" y="139"/>
                      <a:pt x="10" y="140"/>
                      <a:pt x="11" y="141"/>
                    </a:cubicBezTo>
                    <a:cubicBezTo>
                      <a:pt x="11" y="142"/>
                      <a:pt x="18" y="147"/>
                      <a:pt x="18" y="147"/>
                    </a:cubicBezTo>
                    <a:cubicBezTo>
                      <a:pt x="18" y="147"/>
                      <a:pt x="18" y="148"/>
                      <a:pt x="18" y="148"/>
                    </a:cubicBezTo>
                    <a:cubicBezTo>
                      <a:pt x="17" y="149"/>
                      <a:pt x="16" y="150"/>
                      <a:pt x="16" y="150"/>
                    </a:cubicBezTo>
                    <a:cubicBezTo>
                      <a:pt x="16" y="151"/>
                      <a:pt x="16" y="151"/>
                      <a:pt x="15" y="151"/>
                    </a:cubicBezTo>
                    <a:cubicBezTo>
                      <a:pt x="15" y="152"/>
                      <a:pt x="14" y="153"/>
                      <a:pt x="16" y="154"/>
                    </a:cubicBezTo>
                    <a:cubicBezTo>
                      <a:pt x="17" y="155"/>
                      <a:pt x="16" y="156"/>
                      <a:pt x="16" y="157"/>
                    </a:cubicBezTo>
                    <a:cubicBezTo>
                      <a:pt x="15" y="157"/>
                      <a:pt x="15" y="158"/>
                      <a:pt x="14" y="158"/>
                    </a:cubicBezTo>
                    <a:cubicBezTo>
                      <a:pt x="14" y="158"/>
                      <a:pt x="13" y="159"/>
                      <a:pt x="13" y="159"/>
                    </a:cubicBezTo>
                    <a:cubicBezTo>
                      <a:pt x="13" y="160"/>
                      <a:pt x="13" y="164"/>
                      <a:pt x="17" y="166"/>
                    </a:cubicBezTo>
                    <a:cubicBezTo>
                      <a:pt x="17" y="166"/>
                      <a:pt x="18" y="167"/>
                      <a:pt x="18" y="168"/>
                    </a:cubicBezTo>
                    <a:cubicBezTo>
                      <a:pt x="18" y="168"/>
                      <a:pt x="17" y="170"/>
                      <a:pt x="17" y="170"/>
                    </a:cubicBezTo>
                    <a:cubicBezTo>
                      <a:pt x="17" y="170"/>
                      <a:pt x="17" y="171"/>
                      <a:pt x="17" y="171"/>
                    </a:cubicBezTo>
                    <a:cubicBezTo>
                      <a:pt x="18" y="172"/>
                      <a:pt x="22" y="175"/>
                      <a:pt x="23" y="181"/>
                    </a:cubicBezTo>
                    <a:cubicBezTo>
                      <a:pt x="23" y="181"/>
                      <a:pt x="24" y="184"/>
                      <a:pt x="24" y="185"/>
                    </a:cubicBezTo>
                    <a:cubicBezTo>
                      <a:pt x="24" y="186"/>
                      <a:pt x="24" y="187"/>
                      <a:pt x="25" y="188"/>
                    </a:cubicBezTo>
                    <a:cubicBezTo>
                      <a:pt x="25" y="190"/>
                      <a:pt x="26" y="191"/>
                      <a:pt x="26" y="193"/>
                    </a:cubicBezTo>
                    <a:cubicBezTo>
                      <a:pt x="26" y="194"/>
                      <a:pt x="27" y="195"/>
                      <a:pt x="27" y="196"/>
                    </a:cubicBezTo>
                    <a:cubicBezTo>
                      <a:pt x="27" y="197"/>
                      <a:pt x="27" y="198"/>
                      <a:pt x="27" y="199"/>
                    </a:cubicBezTo>
                    <a:cubicBezTo>
                      <a:pt x="27" y="200"/>
                      <a:pt x="26" y="200"/>
                      <a:pt x="30" y="201"/>
                    </a:cubicBezTo>
                    <a:cubicBezTo>
                      <a:pt x="32" y="201"/>
                      <a:pt x="35" y="201"/>
                      <a:pt x="37" y="201"/>
                    </a:cubicBezTo>
                    <a:cubicBezTo>
                      <a:pt x="37" y="200"/>
                      <a:pt x="37" y="200"/>
                      <a:pt x="38" y="200"/>
                    </a:cubicBezTo>
                    <a:cubicBezTo>
                      <a:pt x="38" y="199"/>
                      <a:pt x="44" y="192"/>
                      <a:pt x="44" y="192"/>
                    </a:cubicBezTo>
                    <a:cubicBezTo>
                      <a:pt x="44" y="192"/>
                      <a:pt x="46" y="190"/>
                      <a:pt x="48" y="190"/>
                    </a:cubicBezTo>
                    <a:cubicBezTo>
                      <a:pt x="50" y="190"/>
                      <a:pt x="51" y="188"/>
                      <a:pt x="51" y="187"/>
                    </a:cubicBezTo>
                    <a:cubicBezTo>
                      <a:pt x="51" y="185"/>
                      <a:pt x="51" y="185"/>
                      <a:pt x="52" y="185"/>
                    </a:cubicBezTo>
                    <a:cubicBezTo>
                      <a:pt x="52" y="185"/>
                      <a:pt x="53" y="185"/>
                      <a:pt x="54" y="186"/>
                    </a:cubicBezTo>
                    <a:cubicBezTo>
                      <a:pt x="54" y="186"/>
                      <a:pt x="56" y="187"/>
                      <a:pt x="56" y="188"/>
                    </a:cubicBezTo>
                    <a:cubicBezTo>
                      <a:pt x="57" y="188"/>
                      <a:pt x="58" y="190"/>
                      <a:pt x="59" y="190"/>
                    </a:cubicBezTo>
                    <a:cubicBezTo>
                      <a:pt x="61" y="190"/>
                      <a:pt x="67" y="190"/>
                      <a:pt x="67" y="190"/>
                    </a:cubicBezTo>
                    <a:cubicBezTo>
                      <a:pt x="68" y="190"/>
                      <a:pt x="69" y="190"/>
                      <a:pt x="70" y="190"/>
                    </a:cubicBezTo>
                    <a:cubicBezTo>
                      <a:pt x="72" y="190"/>
                      <a:pt x="75" y="190"/>
                      <a:pt x="76" y="193"/>
                    </a:cubicBezTo>
                    <a:cubicBezTo>
                      <a:pt x="78" y="196"/>
                      <a:pt x="79" y="200"/>
                      <a:pt x="79" y="200"/>
                    </a:cubicBezTo>
                    <a:cubicBezTo>
                      <a:pt x="80" y="201"/>
                      <a:pt x="80" y="201"/>
                      <a:pt x="80" y="200"/>
                    </a:cubicBezTo>
                    <a:cubicBezTo>
                      <a:pt x="81" y="199"/>
                      <a:pt x="83" y="192"/>
                      <a:pt x="84" y="191"/>
                    </a:cubicBezTo>
                    <a:cubicBezTo>
                      <a:pt x="84" y="190"/>
                      <a:pt x="85" y="188"/>
                      <a:pt x="87" y="188"/>
                    </a:cubicBezTo>
                    <a:cubicBezTo>
                      <a:pt x="89" y="188"/>
                      <a:pt x="94" y="188"/>
                      <a:pt x="95" y="188"/>
                    </a:cubicBezTo>
                    <a:cubicBezTo>
                      <a:pt x="97" y="187"/>
                      <a:pt x="100" y="187"/>
                      <a:pt x="102" y="188"/>
                    </a:cubicBezTo>
                    <a:cubicBezTo>
                      <a:pt x="103" y="188"/>
                      <a:pt x="102" y="189"/>
                      <a:pt x="102" y="189"/>
                    </a:cubicBezTo>
                    <a:cubicBezTo>
                      <a:pt x="102" y="190"/>
                      <a:pt x="103" y="191"/>
                      <a:pt x="104" y="192"/>
                    </a:cubicBezTo>
                    <a:cubicBezTo>
                      <a:pt x="105" y="188"/>
                      <a:pt x="109" y="176"/>
                      <a:pt x="109" y="174"/>
                    </a:cubicBezTo>
                    <a:cubicBezTo>
                      <a:pt x="110" y="173"/>
                      <a:pt x="110" y="172"/>
                      <a:pt x="110" y="170"/>
                    </a:cubicBezTo>
                    <a:cubicBezTo>
                      <a:pt x="110" y="168"/>
                      <a:pt x="111" y="165"/>
                      <a:pt x="111" y="165"/>
                    </a:cubicBezTo>
                    <a:cubicBezTo>
                      <a:pt x="111" y="165"/>
                      <a:pt x="111" y="164"/>
                      <a:pt x="112" y="163"/>
                    </a:cubicBezTo>
                    <a:cubicBezTo>
                      <a:pt x="112" y="162"/>
                      <a:pt x="115" y="159"/>
                      <a:pt x="115" y="159"/>
                    </a:cubicBezTo>
                    <a:cubicBezTo>
                      <a:pt x="115" y="159"/>
                      <a:pt x="115" y="157"/>
                      <a:pt x="116" y="156"/>
                    </a:cubicBezTo>
                    <a:cubicBezTo>
                      <a:pt x="116" y="156"/>
                      <a:pt x="117" y="151"/>
                      <a:pt x="120" y="151"/>
                    </a:cubicBezTo>
                    <a:cubicBezTo>
                      <a:pt x="123" y="150"/>
                      <a:pt x="129" y="149"/>
                      <a:pt x="131" y="149"/>
                    </a:cubicBezTo>
                    <a:cubicBezTo>
                      <a:pt x="133" y="149"/>
                      <a:pt x="138" y="148"/>
                      <a:pt x="141" y="147"/>
                    </a:cubicBezTo>
                    <a:cubicBezTo>
                      <a:pt x="143" y="146"/>
                      <a:pt x="147" y="146"/>
                      <a:pt x="149" y="146"/>
                    </a:cubicBezTo>
                    <a:cubicBezTo>
                      <a:pt x="150" y="146"/>
                      <a:pt x="157" y="146"/>
                      <a:pt x="157" y="146"/>
                    </a:cubicBezTo>
                    <a:cubicBezTo>
                      <a:pt x="157" y="146"/>
                      <a:pt x="157" y="146"/>
                      <a:pt x="158" y="146"/>
                    </a:cubicBezTo>
                    <a:cubicBezTo>
                      <a:pt x="159" y="147"/>
                      <a:pt x="167" y="152"/>
                      <a:pt x="168" y="152"/>
                    </a:cubicBezTo>
                    <a:cubicBezTo>
                      <a:pt x="169" y="153"/>
                      <a:pt x="172" y="154"/>
                      <a:pt x="171" y="158"/>
                    </a:cubicBezTo>
                    <a:cubicBezTo>
                      <a:pt x="171" y="159"/>
                      <a:pt x="171" y="159"/>
                      <a:pt x="171" y="159"/>
                    </a:cubicBezTo>
                    <a:cubicBezTo>
                      <a:pt x="174" y="158"/>
                      <a:pt x="174" y="158"/>
                      <a:pt x="174" y="158"/>
                    </a:cubicBezTo>
                    <a:cubicBezTo>
                      <a:pt x="174" y="158"/>
                      <a:pt x="176" y="157"/>
                      <a:pt x="175" y="156"/>
                    </a:cubicBezTo>
                    <a:cubicBezTo>
                      <a:pt x="174" y="155"/>
                      <a:pt x="171" y="154"/>
                      <a:pt x="173" y="151"/>
                    </a:cubicBezTo>
                    <a:cubicBezTo>
                      <a:pt x="174" y="148"/>
                      <a:pt x="178" y="140"/>
                      <a:pt x="178" y="138"/>
                    </a:cubicBezTo>
                    <a:cubicBezTo>
                      <a:pt x="179" y="135"/>
                      <a:pt x="179" y="133"/>
                      <a:pt x="179" y="132"/>
                    </a:cubicBezTo>
                    <a:cubicBezTo>
                      <a:pt x="179" y="131"/>
                      <a:pt x="180" y="130"/>
                      <a:pt x="180" y="130"/>
                    </a:cubicBezTo>
                    <a:cubicBezTo>
                      <a:pt x="181" y="130"/>
                      <a:pt x="181" y="129"/>
                      <a:pt x="181" y="129"/>
                    </a:cubicBezTo>
                    <a:cubicBezTo>
                      <a:pt x="181" y="128"/>
                      <a:pt x="178" y="126"/>
                      <a:pt x="178" y="125"/>
                    </a:cubicBezTo>
                    <a:cubicBezTo>
                      <a:pt x="178" y="124"/>
                      <a:pt x="177" y="122"/>
                      <a:pt x="177" y="121"/>
                    </a:cubicBezTo>
                    <a:cubicBezTo>
                      <a:pt x="176" y="120"/>
                      <a:pt x="176" y="119"/>
                      <a:pt x="175" y="119"/>
                    </a:cubicBezTo>
                    <a:cubicBezTo>
                      <a:pt x="175" y="119"/>
                      <a:pt x="171" y="118"/>
                      <a:pt x="169" y="116"/>
                    </a:cubicBezTo>
                    <a:cubicBezTo>
                      <a:pt x="167" y="114"/>
                      <a:pt x="167" y="114"/>
                      <a:pt x="167" y="112"/>
                    </a:cubicBezTo>
                    <a:cubicBezTo>
                      <a:pt x="167" y="111"/>
                      <a:pt x="167" y="109"/>
                      <a:pt x="167" y="108"/>
                    </a:cubicBezTo>
                    <a:cubicBezTo>
                      <a:pt x="166" y="107"/>
                      <a:pt x="166" y="105"/>
                      <a:pt x="167" y="104"/>
                    </a:cubicBezTo>
                    <a:cubicBezTo>
                      <a:pt x="168" y="103"/>
                      <a:pt x="168" y="102"/>
                      <a:pt x="168" y="101"/>
                    </a:cubicBezTo>
                    <a:cubicBezTo>
                      <a:pt x="169" y="100"/>
                      <a:pt x="168" y="100"/>
                      <a:pt x="168" y="100"/>
                    </a:cubicBezTo>
                    <a:cubicBezTo>
                      <a:pt x="167" y="100"/>
                      <a:pt x="149" y="100"/>
                      <a:pt x="147" y="100"/>
                    </a:cubicBezTo>
                    <a:cubicBezTo>
                      <a:pt x="144" y="100"/>
                      <a:pt x="143" y="100"/>
                      <a:pt x="143" y="100"/>
                    </a:cubicBezTo>
                    <a:cubicBezTo>
                      <a:pt x="142" y="100"/>
                      <a:pt x="141" y="100"/>
                      <a:pt x="141" y="98"/>
                    </a:cubicBezTo>
                    <a:cubicBezTo>
                      <a:pt x="141" y="96"/>
                      <a:pt x="141" y="90"/>
                      <a:pt x="139" y="87"/>
                    </a:cubicBezTo>
                    <a:cubicBezTo>
                      <a:pt x="138" y="84"/>
                      <a:pt x="136" y="83"/>
                      <a:pt x="136" y="83"/>
                    </a:cubicBezTo>
                    <a:cubicBezTo>
                      <a:pt x="136" y="82"/>
                      <a:pt x="135" y="82"/>
                      <a:pt x="136" y="82"/>
                    </a:cubicBezTo>
                    <a:cubicBezTo>
                      <a:pt x="138" y="82"/>
                      <a:pt x="140" y="82"/>
                      <a:pt x="140" y="80"/>
                    </a:cubicBezTo>
                    <a:cubicBezTo>
                      <a:pt x="140" y="79"/>
                      <a:pt x="140" y="75"/>
                      <a:pt x="139" y="72"/>
                    </a:cubicBezTo>
                    <a:cubicBezTo>
                      <a:pt x="138" y="69"/>
                      <a:pt x="138" y="67"/>
                      <a:pt x="137" y="66"/>
                    </a:cubicBezTo>
                    <a:cubicBezTo>
                      <a:pt x="137" y="66"/>
                      <a:pt x="138" y="66"/>
                      <a:pt x="138" y="65"/>
                    </a:cubicBezTo>
                    <a:cubicBezTo>
                      <a:pt x="137" y="64"/>
                      <a:pt x="133" y="61"/>
                      <a:pt x="132" y="60"/>
                    </a:cubicBezTo>
                    <a:cubicBezTo>
                      <a:pt x="130" y="59"/>
                      <a:pt x="128" y="57"/>
                      <a:pt x="125" y="57"/>
                    </a:cubicBezTo>
                    <a:cubicBezTo>
                      <a:pt x="123" y="57"/>
                      <a:pt x="117" y="59"/>
                      <a:pt x="116" y="57"/>
                    </a:cubicBezTo>
                    <a:cubicBezTo>
                      <a:pt x="115" y="56"/>
                      <a:pt x="113" y="55"/>
                      <a:pt x="113" y="54"/>
                    </a:cubicBezTo>
                    <a:cubicBezTo>
                      <a:pt x="112" y="53"/>
                      <a:pt x="111" y="52"/>
                      <a:pt x="108" y="52"/>
                    </a:cubicBezTo>
                    <a:cubicBezTo>
                      <a:pt x="106" y="51"/>
                      <a:pt x="101" y="50"/>
                      <a:pt x="100" y="48"/>
                    </a:cubicBezTo>
                    <a:cubicBezTo>
                      <a:pt x="98" y="46"/>
                      <a:pt x="98" y="45"/>
                      <a:pt x="97" y="45"/>
                    </a:cubicBezTo>
                    <a:cubicBezTo>
                      <a:pt x="95" y="44"/>
                      <a:pt x="93" y="44"/>
                      <a:pt x="93" y="43"/>
                    </a:cubicBezTo>
                    <a:cubicBezTo>
                      <a:pt x="92" y="43"/>
                      <a:pt x="88" y="41"/>
                      <a:pt x="86" y="42"/>
                    </a:cubicBezTo>
                    <a:cubicBezTo>
                      <a:pt x="85" y="43"/>
                      <a:pt x="84" y="43"/>
                      <a:pt x="84" y="43"/>
                    </a:cubicBezTo>
                    <a:cubicBezTo>
                      <a:pt x="83" y="43"/>
                      <a:pt x="80" y="43"/>
                      <a:pt x="80" y="42"/>
                    </a:cubicBezTo>
                    <a:cubicBezTo>
                      <a:pt x="79" y="42"/>
                      <a:pt x="70" y="34"/>
                      <a:pt x="70" y="34"/>
                    </a:cubicBezTo>
                    <a:cubicBezTo>
                      <a:pt x="70" y="34"/>
                      <a:pt x="69" y="33"/>
                      <a:pt x="69" y="32"/>
                    </a:cubicBezTo>
                    <a:cubicBezTo>
                      <a:pt x="68" y="31"/>
                      <a:pt x="65" y="28"/>
                      <a:pt x="64" y="24"/>
                    </a:cubicBezTo>
                    <a:cubicBezTo>
                      <a:pt x="63" y="21"/>
                      <a:pt x="64" y="22"/>
                      <a:pt x="64" y="21"/>
                    </a:cubicBezTo>
                    <a:cubicBezTo>
                      <a:pt x="64" y="20"/>
                      <a:pt x="63" y="15"/>
                      <a:pt x="64" y="11"/>
                    </a:cubicBezTo>
                    <a:cubicBezTo>
                      <a:pt x="64" y="8"/>
                      <a:pt x="65" y="5"/>
                      <a:pt x="65" y="4"/>
                    </a:cubicBezTo>
                    <a:cubicBezTo>
                      <a:pt x="65" y="3"/>
                      <a:pt x="65" y="3"/>
                      <a:pt x="65" y="2"/>
                    </a:cubicBezTo>
                    <a:cubicBezTo>
                      <a:pt x="64" y="1"/>
                      <a:pt x="63" y="0"/>
                      <a:pt x="62" y="1"/>
                    </a:cubicBezTo>
                    <a:cubicBezTo>
                      <a:pt x="61" y="2"/>
                      <a:pt x="61" y="3"/>
                      <a:pt x="60" y="2"/>
                    </a:cubicBezTo>
                    <a:cubicBezTo>
                      <a:pt x="59" y="1"/>
                      <a:pt x="58" y="1"/>
                      <a:pt x="56" y="1"/>
                    </a:cubicBezTo>
                    <a:cubicBezTo>
                      <a:pt x="55" y="2"/>
                      <a:pt x="46" y="4"/>
                      <a:pt x="46" y="4"/>
                    </a:cubicBezTo>
                    <a:cubicBezTo>
                      <a:pt x="46" y="4"/>
                      <a:pt x="44" y="4"/>
                      <a:pt x="44" y="5"/>
                    </a:cubicBezTo>
                    <a:cubicBezTo>
                      <a:pt x="43" y="6"/>
                      <a:pt x="38" y="9"/>
                      <a:pt x="37" y="10"/>
                    </a:cubicBezTo>
                    <a:cubicBezTo>
                      <a:pt x="35" y="10"/>
                      <a:pt x="32" y="12"/>
                      <a:pt x="31" y="13"/>
                    </a:cubicBezTo>
                    <a:cubicBezTo>
                      <a:pt x="31" y="13"/>
                      <a:pt x="30" y="14"/>
                      <a:pt x="30" y="14"/>
                    </a:cubicBezTo>
                    <a:cubicBezTo>
                      <a:pt x="29" y="15"/>
                      <a:pt x="29" y="16"/>
                      <a:pt x="27" y="16"/>
                    </a:cubicBezTo>
                    <a:cubicBezTo>
                      <a:pt x="26" y="16"/>
                      <a:pt x="23" y="17"/>
                      <a:pt x="22" y="18"/>
                    </a:cubicBezTo>
                    <a:cubicBezTo>
                      <a:pt x="22" y="18"/>
                      <a:pt x="19" y="21"/>
                      <a:pt x="17" y="21"/>
                    </a:cubicBezTo>
                    <a:cubicBezTo>
                      <a:pt x="15" y="21"/>
                      <a:pt x="11" y="21"/>
                      <a:pt x="5" y="20"/>
                    </a:cubicBezTo>
                    <a:cubicBezTo>
                      <a:pt x="3" y="20"/>
                      <a:pt x="2" y="19"/>
                      <a:pt x="1" y="19"/>
                    </a:cubicBezTo>
                    <a:cubicBezTo>
                      <a:pt x="4" y="23"/>
                      <a:pt x="10" y="33"/>
                      <a:pt x="11" y="35"/>
                    </a:cubicBezTo>
                    <a:cubicBezTo>
                      <a:pt x="12" y="37"/>
                      <a:pt x="14" y="41"/>
                      <a:pt x="14" y="4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86" name="Freeform 369">
                <a:extLst>
                  <a:ext uri="{FF2B5EF4-FFF2-40B4-BE49-F238E27FC236}">
                    <a16:creationId xmlns:a16="http://schemas.microsoft.com/office/drawing/2014/main" id="{A2C34464-C2B2-4F48-BE2A-C98F4F138985}"/>
                  </a:ext>
                </a:extLst>
              </p:cNvPr>
              <p:cNvSpPr>
                <a:spLocks/>
              </p:cNvSpPr>
              <p:nvPr/>
            </p:nvSpPr>
            <p:spPr bwMode="auto">
              <a:xfrm>
                <a:off x="2215" y="3080"/>
                <a:ext cx="173" cy="178"/>
              </a:xfrm>
              <a:custGeom>
                <a:avLst/>
                <a:gdLst>
                  <a:gd name="T0" fmla="*/ 120 w 125"/>
                  <a:gd name="T1" fmla="*/ 96 h 130"/>
                  <a:gd name="T2" fmla="*/ 125 w 125"/>
                  <a:gd name="T3" fmla="*/ 75 h 130"/>
                  <a:gd name="T4" fmla="*/ 118 w 125"/>
                  <a:gd name="T5" fmla="*/ 72 h 130"/>
                  <a:gd name="T6" fmla="*/ 113 w 125"/>
                  <a:gd name="T7" fmla="*/ 73 h 130"/>
                  <a:gd name="T8" fmla="*/ 107 w 125"/>
                  <a:gd name="T9" fmla="*/ 69 h 130"/>
                  <a:gd name="T10" fmla="*/ 105 w 125"/>
                  <a:gd name="T11" fmla="*/ 54 h 130"/>
                  <a:gd name="T12" fmla="*/ 101 w 125"/>
                  <a:gd name="T13" fmla="*/ 48 h 130"/>
                  <a:gd name="T14" fmla="*/ 92 w 125"/>
                  <a:gd name="T15" fmla="*/ 43 h 130"/>
                  <a:gd name="T16" fmla="*/ 86 w 125"/>
                  <a:gd name="T17" fmla="*/ 47 h 130"/>
                  <a:gd name="T18" fmla="*/ 70 w 125"/>
                  <a:gd name="T19" fmla="*/ 42 h 130"/>
                  <a:gd name="T20" fmla="*/ 71 w 125"/>
                  <a:gd name="T21" fmla="*/ 32 h 130"/>
                  <a:gd name="T22" fmla="*/ 71 w 125"/>
                  <a:gd name="T23" fmla="*/ 23 h 130"/>
                  <a:gd name="T24" fmla="*/ 67 w 125"/>
                  <a:gd name="T25" fmla="*/ 13 h 130"/>
                  <a:gd name="T26" fmla="*/ 64 w 125"/>
                  <a:gd name="T27" fmla="*/ 6 h 130"/>
                  <a:gd name="T28" fmla="*/ 53 w 125"/>
                  <a:gd name="T29" fmla="*/ 0 h 130"/>
                  <a:gd name="T30" fmla="*/ 37 w 125"/>
                  <a:gd name="T31" fmla="*/ 1 h 130"/>
                  <a:gd name="T32" fmla="*/ 16 w 125"/>
                  <a:gd name="T33" fmla="*/ 5 h 130"/>
                  <a:gd name="T34" fmla="*/ 11 w 125"/>
                  <a:gd name="T35" fmla="*/ 13 h 130"/>
                  <a:gd name="T36" fmla="*/ 7 w 125"/>
                  <a:gd name="T37" fmla="*/ 19 h 130"/>
                  <a:gd name="T38" fmla="*/ 5 w 125"/>
                  <a:gd name="T39" fmla="*/ 28 h 130"/>
                  <a:gd name="T40" fmla="*/ 3 w 125"/>
                  <a:gd name="T41" fmla="*/ 47 h 130"/>
                  <a:gd name="T42" fmla="*/ 11 w 125"/>
                  <a:gd name="T43" fmla="*/ 58 h 130"/>
                  <a:gd name="T44" fmla="*/ 24 w 125"/>
                  <a:gd name="T45" fmla="*/ 70 h 130"/>
                  <a:gd name="T46" fmla="*/ 34 w 125"/>
                  <a:gd name="T47" fmla="*/ 72 h 130"/>
                  <a:gd name="T48" fmla="*/ 55 w 125"/>
                  <a:gd name="T49" fmla="*/ 84 h 130"/>
                  <a:gd name="T50" fmla="*/ 75 w 125"/>
                  <a:gd name="T51" fmla="*/ 94 h 130"/>
                  <a:gd name="T52" fmla="*/ 71 w 125"/>
                  <a:gd name="T53" fmla="*/ 104 h 130"/>
                  <a:gd name="T54" fmla="*/ 66 w 125"/>
                  <a:gd name="T55" fmla="*/ 111 h 130"/>
                  <a:gd name="T56" fmla="*/ 64 w 125"/>
                  <a:gd name="T57" fmla="*/ 119 h 130"/>
                  <a:gd name="T58" fmla="*/ 61 w 125"/>
                  <a:gd name="T59" fmla="*/ 126 h 130"/>
                  <a:gd name="T60" fmla="*/ 74 w 125"/>
                  <a:gd name="T61" fmla="*/ 126 h 130"/>
                  <a:gd name="T62" fmla="*/ 81 w 125"/>
                  <a:gd name="T63" fmla="*/ 128 h 130"/>
                  <a:gd name="T64" fmla="*/ 90 w 125"/>
                  <a:gd name="T65" fmla="*/ 128 h 130"/>
                  <a:gd name="T66" fmla="*/ 94 w 125"/>
                  <a:gd name="T67" fmla="*/ 129 h 130"/>
                  <a:gd name="T68" fmla="*/ 99 w 125"/>
                  <a:gd name="T69" fmla="*/ 126 h 130"/>
                  <a:gd name="T70" fmla="*/ 102 w 125"/>
                  <a:gd name="T71" fmla="*/ 127 h 130"/>
                  <a:gd name="T72" fmla="*/ 105 w 125"/>
                  <a:gd name="T73" fmla="*/ 125 h 130"/>
                  <a:gd name="T74" fmla="*/ 111 w 125"/>
                  <a:gd name="T75" fmla="*/ 119 h 130"/>
                  <a:gd name="T76" fmla="*/ 117 w 125"/>
                  <a:gd name="T77" fmla="*/ 113 h 130"/>
                  <a:gd name="T78" fmla="*/ 120 w 125"/>
                  <a:gd name="T79" fmla="*/ 98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5" h="130">
                    <a:moveTo>
                      <a:pt x="120" y="98"/>
                    </a:moveTo>
                    <a:cubicBezTo>
                      <a:pt x="120" y="97"/>
                      <a:pt x="120" y="97"/>
                      <a:pt x="120" y="96"/>
                    </a:cubicBezTo>
                    <a:cubicBezTo>
                      <a:pt x="120" y="96"/>
                      <a:pt x="123" y="86"/>
                      <a:pt x="124" y="84"/>
                    </a:cubicBezTo>
                    <a:cubicBezTo>
                      <a:pt x="124" y="82"/>
                      <a:pt x="125" y="75"/>
                      <a:pt x="125" y="75"/>
                    </a:cubicBezTo>
                    <a:cubicBezTo>
                      <a:pt x="125" y="75"/>
                      <a:pt x="125" y="74"/>
                      <a:pt x="124" y="74"/>
                    </a:cubicBezTo>
                    <a:cubicBezTo>
                      <a:pt x="124" y="74"/>
                      <a:pt x="118" y="72"/>
                      <a:pt x="118" y="72"/>
                    </a:cubicBezTo>
                    <a:cubicBezTo>
                      <a:pt x="118" y="72"/>
                      <a:pt x="116" y="72"/>
                      <a:pt x="116" y="72"/>
                    </a:cubicBezTo>
                    <a:cubicBezTo>
                      <a:pt x="115" y="73"/>
                      <a:pt x="114" y="73"/>
                      <a:pt x="113" y="73"/>
                    </a:cubicBezTo>
                    <a:cubicBezTo>
                      <a:pt x="112" y="73"/>
                      <a:pt x="111" y="74"/>
                      <a:pt x="110" y="73"/>
                    </a:cubicBezTo>
                    <a:cubicBezTo>
                      <a:pt x="109" y="73"/>
                      <a:pt x="108" y="73"/>
                      <a:pt x="107" y="69"/>
                    </a:cubicBezTo>
                    <a:cubicBezTo>
                      <a:pt x="106" y="66"/>
                      <a:pt x="106" y="65"/>
                      <a:pt x="106" y="63"/>
                    </a:cubicBezTo>
                    <a:cubicBezTo>
                      <a:pt x="106" y="62"/>
                      <a:pt x="105" y="54"/>
                      <a:pt x="105" y="54"/>
                    </a:cubicBezTo>
                    <a:cubicBezTo>
                      <a:pt x="105" y="54"/>
                      <a:pt x="105" y="51"/>
                      <a:pt x="103" y="49"/>
                    </a:cubicBezTo>
                    <a:cubicBezTo>
                      <a:pt x="102" y="47"/>
                      <a:pt x="102" y="48"/>
                      <a:pt x="101" y="48"/>
                    </a:cubicBezTo>
                    <a:cubicBezTo>
                      <a:pt x="101" y="47"/>
                      <a:pt x="95" y="47"/>
                      <a:pt x="93" y="44"/>
                    </a:cubicBezTo>
                    <a:cubicBezTo>
                      <a:pt x="93" y="44"/>
                      <a:pt x="93" y="43"/>
                      <a:pt x="92" y="43"/>
                    </a:cubicBezTo>
                    <a:cubicBezTo>
                      <a:pt x="91" y="44"/>
                      <a:pt x="87" y="46"/>
                      <a:pt x="87" y="46"/>
                    </a:cubicBezTo>
                    <a:cubicBezTo>
                      <a:pt x="87" y="46"/>
                      <a:pt x="87" y="47"/>
                      <a:pt x="86" y="47"/>
                    </a:cubicBezTo>
                    <a:cubicBezTo>
                      <a:pt x="85" y="46"/>
                      <a:pt x="70" y="44"/>
                      <a:pt x="70" y="44"/>
                    </a:cubicBezTo>
                    <a:cubicBezTo>
                      <a:pt x="70" y="44"/>
                      <a:pt x="69" y="43"/>
                      <a:pt x="70" y="42"/>
                    </a:cubicBezTo>
                    <a:cubicBezTo>
                      <a:pt x="70" y="41"/>
                      <a:pt x="71" y="38"/>
                      <a:pt x="71" y="35"/>
                    </a:cubicBezTo>
                    <a:cubicBezTo>
                      <a:pt x="70" y="33"/>
                      <a:pt x="71" y="33"/>
                      <a:pt x="71" y="32"/>
                    </a:cubicBezTo>
                    <a:cubicBezTo>
                      <a:pt x="71" y="31"/>
                      <a:pt x="72" y="30"/>
                      <a:pt x="72" y="29"/>
                    </a:cubicBezTo>
                    <a:cubicBezTo>
                      <a:pt x="72" y="27"/>
                      <a:pt x="72" y="26"/>
                      <a:pt x="71" y="23"/>
                    </a:cubicBezTo>
                    <a:cubicBezTo>
                      <a:pt x="71" y="21"/>
                      <a:pt x="67" y="14"/>
                      <a:pt x="67" y="14"/>
                    </a:cubicBezTo>
                    <a:cubicBezTo>
                      <a:pt x="67" y="13"/>
                      <a:pt x="67" y="13"/>
                      <a:pt x="67" y="13"/>
                    </a:cubicBezTo>
                    <a:cubicBezTo>
                      <a:pt x="67" y="12"/>
                      <a:pt x="67" y="12"/>
                      <a:pt x="67" y="12"/>
                    </a:cubicBezTo>
                    <a:cubicBezTo>
                      <a:pt x="68" y="8"/>
                      <a:pt x="65" y="7"/>
                      <a:pt x="64" y="6"/>
                    </a:cubicBezTo>
                    <a:cubicBezTo>
                      <a:pt x="63" y="6"/>
                      <a:pt x="55" y="1"/>
                      <a:pt x="54" y="0"/>
                    </a:cubicBezTo>
                    <a:cubicBezTo>
                      <a:pt x="53" y="0"/>
                      <a:pt x="53" y="0"/>
                      <a:pt x="53" y="0"/>
                    </a:cubicBezTo>
                    <a:cubicBezTo>
                      <a:pt x="53" y="0"/>
                      <a:pt x="46" y="0"/>
                      <a:pt x="45" y="0"/>
                    </a:cubicBezTo>
                    <a:cubicBezTo>
                      <a:pt x="43" y="0"/>
                      <a:pt x="39" y="0"/>
                      <a:pt x="37" y="1"/>
                    </a:cubicBezTo>
                    <a:cubicBezTo>
                      <a:pt x="34" y="2"/>
                      <a:pt x="29" y="3"/>
                      <a:pt x="27" y="3"/>
                    </a:cubicBezTo>
                    <a:cubicBezTo>
                      <a:pt x="25" y="3"/>
                      <a:pt x="19" y="4"/>
                      <a:pt x="16" y="5"/>
                    </a:cubicBezTo>
                    <a:cubicBezTo>
                      <a:pt x="13" y="5"/>
                      <a:pt x="12" y="10"/>
                      <a:pt x="12" y="10"/>
                    </a:cubicBezTo>
                    <a:cubicBezTo>
                      <a:pt x="11" y="11"/>
                      <a:pt x="11" y="13"/>
                      <a:pt x="11" y="13"/>
                    </a:cubicBezTo>
                    <a:cubicBezTo>
                      <a:pt x="11" y="13"/>
                      <a:pt x="8" y="16"/>
                      <a:pt x="8" y="17"/>
                    </a:cubicBezTo>
                    <a:cubicBezTo>
                      <a:pt x="7" y="18"/>
                      <a:pt x="7" y="19"/>
                      <a:pt x="7" y="19"/>
                    </a:cubicBezTo>
                    <a:cubicBezTo>
                      <a:pt x="7" y="19"/>
                      <a:pt x="6" y="22"/>
                      <a:pt x="6" y="24"/>
                    </a:cubicBezTo>
                    <a:cubicBezTo>
                      <a:pt x="6" y="26"/>
                      <a:pt x="6" y="27"/>
                      <a:pt x="5" y="28"/>
                    </a:cubicBezTo>
                    <a:cubicBezTo>
                      <a:pt x="5" y="30"/>
                      <a:pt x="1" y="42"/>
                      <a:pt x="0" y="46"/>
                    </a:cubicBezTo>
                    <a:cubicBezTo>
                      <a:pt x="1" y="46"/>
                      <a:pt x="2" y="47"/>
                      <a:pt x="3" y="47"/>
                    </a:cubicBezTo>
                    <a:cubicBezTo>
                      <a:pt x="5" y="49"/>
                      <a:pt x="5" y="50"/>
                      <a:pt x="6" y="50"/>
                    </a:cubicBezTo>
                    <a:cubicBezTo>
                      <a:pt x="6" y="51"/>
                      <a:pt x="10" y="57"/>
                      <a:pt x="11" y="58"/>
                    </a:cubicBezTo>
                    <a:cubicBezTo>
                      <a:pt x="11" y="58"/>
                      <a:pt x="12" y="59"/>
                      <a:pt x="13" y="60"/>
                    </a:cubicBezTo>
                    <a:cubicBezTo>
                      <a:pt x="14" y="61"/>
                      <a:pt x="24" y="70"/>
                      <a:pt x="24" y="70"/>
                    </a:cubicBezTo>
                    <a:cubicBezTo>
                      <a:pt x="24" y="70"/>
                      <a:pt x="25" y="70"/>
                      <a:pt x="27" y="71"/>
                    </a:cubicBezTo>
                    <a:cubicBezTo>
                      <a:pt x="29" y="71"/>
                      <a:pt x="32" y="72"/>
                      <a:pt x="34" y="72"/>
                    </a:cubicBezTo>
                    <a:cubicBezTo>
                      <a:pt x="35" y="72"/>
                      <a:pt x="42" y="74"/>
                      <a:pt x="45" y="77"/>
                    </a:cubicBezTo>
                    <a:cubicBezTo>
                      <a:pt x="49" y="80"/>
                      <a:pt x="54" y="83"/>
                      <a:pt x="55" y="84"/>
                    </a:cubicBezTo>
                    <a:cubicBezTo>
                      <a:pt x="57" y="85"/>
                      <a:pt x="74" y="93"/>
                      <a:pt x="74" y="93"/>
                    </a:cubicBezTo>
                    <a:cubicBezTo>
                      <a:pt x="74" y="93"/>
                      <a:pt x="74" y="94"/>
                      <a:pt x="75" y="94"/>
                    </a:cubicBezTo>
                    <a:cubicBezTo>
                      <a:pt x="75" y="95"/>
                      <a:pt x="76" y="98"/>
                      <a:pt x="75" y="99"/>
                    </a:cubicBezTo>
                    <a:cubicBezTo>
                      <a:pt x="73" y="101"/>
                      <a:pt x="72" y="103"/>
                      <a:pt x="71" y="104"/>
                    </a:cubicBezTo>
                    <a:cubicBezTo>
                      <a:pt x="70" y="105"/>
                      <a:pt x="68" y="108"/>
                      <a:pt x="68" y="109"/>
                    </a:cubicBezTo>
                    <a:cubicBezTo>
                      <a:pt x="67" y="109"/>
                      <a:pt x="67" y="111"/>
                      <a:pt x="66" y="111"/>
                    </a:cubicBezTo>
                    <a:cubicBezTo>
                      <a:pt x="66" y="112"/>
                      <a:pt x="64" y="118"/>
                      <a:pt x="64" y="118"/>
                    </a:cubicBezTo>
                    <a:cubicBezTo>
                      <a:pt x="64" y="118"/>
                      <a:pt x="64" y="119"/>
                      <a:pt x="64" y="119"/>
                    </a:cubicBezTo>
                    <a:cubicBezTo>
                      <a:pt x="63" y="120"/>
                      <a:pt x="60" y="122"/>
                      <a:pt x="60" y="125"/>
                    </a:cubicBezTo>
                    <a:cubicBezTo>
                      <a:pt x="60" y="125"/>
                      <a:pt x="60" y="126"/>
                      <a:pt x="61" y="126"/>
                    </a:cubicBezTo>
                    <a:cubicBezTo>
                      <a:pt x="62" y="125"/>
                      <a:pt x="67" y="125"/>
                      <a:pt x="68" y="126"/>
                    </a:cubicBezTo>
                    <a:cubicBezTo>
                      <a:pt x="70" y="126"/>
                      <a:pt x="73" y="126"/>
                      <a:pt x="74" y="126"/>
                    </a:cubicBezTo>
                    <a:cubicBezTo>
                      <a:pt x="75" y="126"/>
                      <a:pt x="78" y="128"/>
                      <a:pt x="78" y="128"/>
                    </a:cubicBezTo>
                    <a:cubicBezTo>
                      <a:pt x="79" y="128"/>
                      <a:pt x="80" y="128"/>
                      <a:pt x="81" y="128"/>
                    </a:cubicBezTo>
                    <a:cubicBezTo>
                      <a:pt x="81" y="128"/>
                      <a:pt x="86" y="128"/>
                      <a:pt x="87" y="128"/>
                    </a:cubicBezTo>
                    <a:cubicBezTo>
                      <a:pt x="88" y="128"/>
                      <a:pt x="89" y="128"/>
                      <a:pt x="90" y="128"/>
                    </a:cubicBezTo>
                    <a:cubicBezTo>
                      <a:pt x="91" y="129"/>
                      <a:pt x="92" y="130"/>
                      <a:pt x="93" y="130"/>
                    </a:cubicBezTo>
                    <a:cubicBezTo>
                      <a:pt x="93" y="130"/>
                      <a:pt x="94" y="130"/>
                      <a:pt x="94" y="129"/>
                    </a:cubicBezTo>
                    <a:cubicBezTo>
                      <a:pt x="94" y="129"/>
                      <a:pt x="95" y="129"/>
                      <a:pt x="96" y="128"/>
                    </a:cubicBezTo>
                    <a:cubicBezTo>
                      <a:pt x="96" y="128"/>
                      <a:pt x="99" y="126"/>
                      <a:pt x="99" y="126"/>
                    </a:cubicBezTo>
                    <a:cubicBezTo>
                      <a:pt x="99" y="126"/>
                      <a:pt x="100" y="126"/>
                      <a:pt x="100" y="126"/>
                    </a:cubicBezTo>
                    <a:cubicBezTo>
                      <a:pt x="101" y="127"/>
                      <a:pt x="102" y="127"/>
                      <a:pt x="102" y="127"/>
                    </a:cubicBezTo>
                    <a:cubicBezTo>
                      <a:pt x="103" y="127"/>
                      <a:pt x="105" y="126"/>
                      <a:pt x="105" y="126"/>
                    </a:cubicBezTo>
                    <a:cubicBezTo>
                      <a:pt x="105" y="126"/>
                      <a:pt x="105" y="125"/>
                      <a:pt x="105" y="125"/>
                    </a:cubicBezTo>
                    <a:cubicBezTo>
                      <a:pt x="105" y="124"/>
                      <a:pt x="105" y="123"/>
                      <a:pt x="107" y="122"/>
                    </a:cubicBezTo>
                    <a:cubicBezTo>
                      <a:pt x="108" y="121"/>
                      <a:pt x="111" y="120"/>
                      <a:pt x="111" y="119"/>
                    </a:cubicBezTo>
                    <a:cubicBezTo>
                      <a:pt x="112" y="119"/>
                      <a:pt x="116" y="115"/>
                      <a:pt x="116" y="115"/>
                    </a:cubicBezTo>
                    <a:cubicBezTo>
                      <a:pt x="117" y="114"/>
                      <a:pt x="117" y="114"/>
                      <a:pt x="117" y="113"/>
                    </a:cubicBezTo>
                    <a:cubicBezTo>
                      <a:pt x="118" y="113"/>
                      <a:pt x="119" y="110"/>
                      <a:pt x="119" y="108"/>
                    </a:cubicBezTo>
                    <a:cubicBezTo>
                      <a:pt x="119" y="107"/>
                      <a:pt x="119" y="102"/>
                      <a:pt x="120" y="9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87" name="Freeform 370">
                <a:extLst>
                  <a:ext uri="{FF2B5EF4-FFF2-40B4-BE49-F238E27FC236}">
                    <a16:creationId xmlns:a16="http://schemas.microsoft.com/office/drawing/2014/main" id="{D0845600-ADBF-45A2-B59F-7450AF26268E}"/>
                  </a:ext>
                </a:extLst>
              </p:cNvPr>
              <p:cNvSpPr>
                <a:spLocks/>
              </p:cNvSpPr>
              <p:nvPr/>
            </p:nvSpPr>
            <p:spPr bwMode="auto">
              <a:xfrm>
                <a:off x="2301" y="3313"/>
                <a:ext cx="109" cy="113"/>
              </a:xfrm>
              <a:custGeom>
                <a:avLst/>
                <a:gdLst>
                  <a:gd name="T0" fmla="*/ 74 w 79"/>
                  <a:gd name="T1" fmla="*/ 59 h 82"/>
                  <a:gd name="T2" fmla="*/ 74 w 79"/>
                  <a:gd name="T3" fmla="*/ 57 h 82"/>
                  <a:gd name="T4" fmla="*/ 74 w 79"/>
                  <a:gd name="T5" fmla="*/ 51 h 82"/>
                  <a:gd name="T6" fmla="*/ 79 w 79"/>
                  <a:gd name="T7" fmla="*/ 43 h 82"/>
                  <a:gd name="T8" fmla="*/ 79 w 79"/>
                  <a:gd name="T9" fmla="*/ 42 h 82"/>
                  <a:gd name="T10" fmla="*/ 68 w 79"/>
                  <a:gd name="T11" fmla="*/ 31 h 82"/>
                  <a:gd name="T12" fmla="*/ 67 w 79"/>
                  <a:gd name="T13" fmla="*/ 31 h 82"/>
                  <a:gd name="T14" fmla="*/ 61 w 79"/>
                  <a:gd name="T15" fmla="*/ 27 h 82"/>
                  <a:gd name="T16" fmla="*/ 59 w 79"/>
                  <a:gd name="T17" fmla="*/ 25 h 82"/>
                  <a:gd name="T18" fmla="*/ 58 w 79"/>
                  <a:gd name="T19" fmla="*/ 23 h 82"/>
                  <a:gd name="T20" fmla="*/ 51 w 79"/>
                  <a:gd name="T21" fmla="*/ 20 h 82"/>
                  <a:gd name="T22" fmla="*/ 47 w 79"/>
                  <a:gd name="T23" fmla="*/ 17 h 82"/>
                  <a:gd name="T24" fmla="*/ 43 w 79"/>
                  <a:gd name="T25" fmla="*/ 13 h 82"/>
                  <a:gd name="T26" fmla="*/ 42 w 79"/>
                  <a:gd name="T27" fmla="*/ 14 h 82"/>
                  <a:gd name="T28" fmla="*/ 41 w 79"/>
                  <a:gd name="T29" fmla="*/ 15 h 82"/>
                  <a:gd name="T30" fmla="*/ 40 w 79"/>
                  <a:gd name="T31" fmla="*/ 16 h 82"/>
                  <a:gd name="T32" fmla="*/ 37 w 79"/>
                  <a:gd name="T33" fmla="*/ 17 h 82"/>
                  <a:gd name="T34" fmla="*/ 37 w 79"/>
                  <a:gd name="T35" fmla="*/ 16 h 82"/>
                  <a:gd name="T36" fmla="*/ 34 w 79"/>
                  <a:gd name="T37" fmla="*/ 9 h 82"/>
                  <a:gd name="T38" fmla="*/ 28 w 79"/>
                  <a:gd name="T39" fmla="*/ 4 h 82"/>
                  <a:gd name="T40" fmla="*/ 23 w 79"/>
                  <a:gd name="T41" fmla="*/ 1 h 82"/>
                  <a:gd name="T42" fmla="*/ 20 w 79"/>
                  <a:gd name="T43" fmla="*/ 3 h 82"/>
                  <a:gd name="T44" fmla="*/ 18 w 79"/>
                  <a:gd name="T45" fmla="*/ 4 h 82"/>
                  <a:gd name="T46" fmla="*/ 13 w 79"/>
                  <a:gd name="T47" fmla="*/ 2 h 82"/>
                  <a:gd name="T48" fmla="*/ 10 w 79"/>
                  <a:gd name="T49" fmla="*/ 6 h 82"/>
                  <a:gd name="T50" fmla="*/ 10 w 79"/>
                  <a:gd name="T51" fmla="*/ 11 h 82"/>
                  <a:gd name="T52" fmla="*/ 9 w 79"/>
                  <a:gd name="T53" fmla="*/ 18 h 82"/>
                  <a:gd name="T54" fmla="*/ 7 w 79"/>
                  <a:gd name="T55" fmla="*/ 23 h 82"/>
                  <a:gd name="T56" fmla="*/ 7 w 79"/>
                  <a:gd name="T57" fmla="*/ 27 h 82"/>
                  <a:gd name="T58" fmla="*/ 5 w 79"/>
                  <a:gd name="T59" fmla="*/ 29 h 82"/>
                  <a:gd name="T60" fmla="*/ 5 w 79"/>
                  <a:gd name="T61" fmla="*/ 37 h 82"/>
                  <a:gd name="T62" fmla="*/ 5 w 79"/>
                  <a:gd name="T63" fmla="*/ 40 h 82"/>
                  <a:gd name="T64" fmla="*/ 5 w 79"/>
                  <a:gd name="T65" fmla="*/ 40 h 82"/>
                  <a:gd name="T66" fmla="*/ 6 w 79"/>
                  <a:gd name="T67" fmla="*/ 48 h 82"/>
                  <a:gd name="T68" fmla="*/ 4 w 79"/>
                  <a:gd name="T69" fmla="*/ 51 h 82"/>
                  <a:gd name="T70" fmla="*/ 3 w 79"/>
                  <a:gd name="T71" fmla="*/ 54 h 82"/>
                  <a:gd name="T72" fmla="*/ 2 w 79"/>
                  <a:gd name="T73" fmla="*/ 64 h 82"/>
                  <a:gd name="T74" fmla="*/ 13 w 79"/>
                  <a:gd name="T75" fmla="*/ 73 h 82"/>
                  <a:gd name="T76" fmla="*/ 27 w 79"/>
                  <a:gd name="T77" fmla="*/ 75 h 82"/>
                  <a:gd name="T78" fmla="*/ 43 w 79"/>
                  <a:gd name="T79" fmla="*/ 79 h 82"/>
                  <a:gd name="T80" fmla="*/ 51 w 79"/>
                  <a:gd name="T81" fmla="*/ 81 h 82"/>
                  <a:gd name="T82" fmla="*/ 59 w 79"/>
                  <a:gd name="T83" fmla="*/ 79 h 82"/>
                  <a:gd name="T84" fmla="*/ 63 w 79"/>
                  <a:gd name="T85" fmla="*/ 74 h 82"/>
                  <a:gd name="T86" fmla="*/ 70 w 79"/>
                  <a:gd name="T87" fmla="*/ 71 h 82"/>
                  <a:gd name="T88" fmla="*/ 76 w 79"/>
                  <a:gd name="T89" fmla="*/ 61 h 82"/>
                  <a:gd name="T90" fmla="*/ 76 w 79"/>
                  <a:gd name="T91" fmla="*/ 61 h 82"/>
                  <a:gd name="T92" fmla="*/ 74 w 79"/>
                  <a:gd name="T93" fmla="*/ 5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9" h="82">
                    <a:moveTo>
                      <a:pt x="74" y="59"/>
                    </a:moveTo>
                    <a:cubicBezTo>
                      <a:pt x="74" y="59"/>
                      <a:pt x="74" y="58"/>
                      <a:pt x="74" y="57"/>
                    </a:cubicBezTo>
                    <a:cubicBezTo>
                      <a:pt x="74" y="57"/>
                      <a:pt x="74" y="53"/>
                      <a:pt x="74" y="51"/>
                    </a:cubicBezTo>
                    <a:cubicBezTo>
                      <a:pt x="74" y="50"/>
                      <a:pt x="78" y="44"/>
                      <a:pt x="79" y="43"/>
                    </a:cubicBezTo>
                    <a:cubicBezTo>
                      <a:pt x="79" y="43"/>
                      <a:pt x="79" y="42"/>
                      <a:pt x="79" y="42"/>
                    </a:cubicBezTo>
                    <a:cubicBezTo>
                      <a:pt x="71" y="39"/>
                      <a:pt x="68" y="32"/>
                      <a:pt x="68" y="31"/>
                    </a:cubicBezTo>
                    <a:cubicBezTo>
                      <a:pt x="68" y="31"/>
                      <a:pt x="67" y="31"/>
                      <a:pt x="67" y="31"/>
                    </a:cubicBezTo>
                    <a:cubicBezTo>
                      <a:pt x="67" y="30"/>
                      <a:pt x="61" y="27"/>
                      <a:pt x="61" y="27"/>
                    </a:cubicBezTo>
                    <a:cubicBezTo>
                      <a:pt x="60" y="27"/>
                      <a:pt x="60" y="26"/>
                      <a:pt x="59" y="25"/>
                    </a:cubicBezTo>
                    <a:cubicBezTo>
                      <a:pt x="59" y="25"/>
                      <a:pt x="59" y="24"/>
                      <a:pt x="58" y="23"/>
                    </a:cubicBezTo>
                    <a:cubicBezTo>
                      <a:pt x="56" y="23"/>
                      <a:pt x="53" y="21"/>
                      <a:pt x="51" y="20"/>
                    </a:cubicBezTo>
                    <a:cubicBezTo>
                      <a:pt x="49" y="20"/>
                      <a:pt x="48" y="18"/>
                      <a:pt x="47" y="17"/>
                    </a:cubicBezTo>
                    <a:cubicBezTo>
                      <a:pt x="46" y="15"/>
                      <a:pt x="44" y="13"/>
                      <a:pt x="43" y="13"/>
                    </a:cubicBezTo>
                    <a:cubicBezTo>
                      <a:pt x="42" y="12"/>
                      <a:pt x="42" y="13"/>
                      <a:pt x="42" y="14"/>
                    </a:cubicBezTo>
                    <a:cubicBezTo>
                      <a:pt x="42" y="15"/>
                      <a:pt x="42" y="14"/>
                      <a:pt x="41" y="15"/>
                    </a:cubicBezTo>
                    <a:cubicBezTo>
                      <a:pt x="40" y="15"/>
                      <a:pt x="41" y="16"/>
                      <a:pt x="40" y="16"/>
                    </a:cubicBezTo>
                    <a:cubicBezTo>
                      <a:pt x="40" y="16"/>
                      <a:pt x="38" y="16"/>
                      <a:pt x="37" y="17"/>
                    </a:cubicBezTo>
                    <a:cubicBezTo>
                      <a:pt x="37" y="17"/>
                      <a:pt x="37" y="16"/>
                      <a:pt x="37" y="16"/>
                    </a:cubicBezTo>
                    <a:cubicBezTo>
                      <a:pt x="37" y="11"/>
                      <a:pt x="35" y="9"/>
                      <a:pt x="34" y="9"/>
                    </a:cubicBezTo>
                    <a:cubicBezTo>
                      <a:pt x="33" y="8"/>
                      <a:pt x="30" y="5"/>
                      <a:pt x="28" y="4"/>
                    </a:cubicBezTo>
                    <a:cubicBezTo>
                      <a:pt x="27" y="2"/>
                      <a:pt x="25" y="1"/>
                      <a:pt x="23" y="1"/>
                    </a:cubicBezTo>
                    <a:cubicBezTo>
                      <a:pt x="22" y="0"/>
                      <a:pt x="21" y="1"/>
                      <a:pt x="20" y="3"/>
                    </a:cubicBezTo>
                    <a:cubicBezTo>
                      <a:pt x="20" y="4"/>
                      <a:pt x="18" y="4"/>
                      <a:pt x="18" y="4"/>
                    </a:cubicBezTo>
                    <a:cubicBezTo>
                      <a:pt x="17" y="4"/>
                      <a:pt x="15" y="3"/>
                      <a:pt x="13" y="2"/>
                    </a:cubicBezTo>
                    <a:cubicBezTo>
                      <a:pt x="12" y="3"/>
                      <a:pt x="10" y="5"/>
                      <a:pt x="10" y="6"/>
                    </a:cubicBezTo>
                    <a:cubicBezTo>
                      <a:pt x="9" y="8"/>
                      <a:pt x="10" y="9"/>
                      <a:pt x="10" y="11"/>
                    </a:cubicBezTo>
                    <a:cubicBezTo>
                      <a:pt x="11" y="12"/>
                      <a:pt x="10" y="15"/>
                      <a:pt x="9" y="18"/>
                    </a:cubicBezTo>
                    <a:cubicBezTo>
                      <a:pt x="8" y="21"/>
                      <a:pt x="7" y="22"/>
                      <a:pt x="7" y="23"/>
                    </a:cubicBezTo>
                    <a:cubicBezTo>
                      <a:pt x="7" y="24"/>
                      <a:pt x="7" y="27"/>
                      <a:pt x="7" y="27"/>
                    </a:cubicBezTo>
                    <a:cubicBezTo>
                      <a:pt x="7" y="28"/>
                      <a:pt x="6" y="28"/>
                      <a:pt x="5" y="29"/>
                    </a:cubicBezTo>
                    <a:cubicBezTo>
                      <a:pt x="4" y="30"/>
                      <a:pt x="5" y="34"/>
                      <a:pt x="5" y="37"/>
                    </a:cubicBezTo>
                    <a:cubicBezTo>
                      <a:pt x="5" y="38"/>
                      <a:pt x="5" y="39"/>
                      <a:pt x="5" y="40"/>
                    </a:cubicBezTo>
                    <a:cubicBezTo>
                      <a:pt x="5" y="40"/>
                      <a:pt x="5" y="40"/>
                      <a:pt x="5" y="40"/>
                    </a:cubicBezTo>
                    <a:cubicBezTo>
                      <a:pt x="6" y="42"/>
                      <a:pt x="7" y="47"/>
                      <a:pt x="6" y="48"/>
                    </a:cubicBezTo>
                    <a:cubicBezTo>
                      <a:pt x="6" y="50"/>
                      <a:pt x="5" y="50"/>
                      <a:pt x="4" y="51"/>
                    </a:cubicBezTo>
                    <a:cubicBezTo>
                      <a:pt x="3" y="52"/>
                      <a:pt x="3" y="53"/>
                      <a:pt x="3" y="54"/>
                    </a:cubicBezTo>
                    <a:cubicBezTo>
                      <a:pt x="2" y="57"/>
                      <a:pt x="0" y="61"/>
                      <a:pt x="2" y="64"/>
                    </a:cubicBezTo>
                    <a:cubicBezTo>
                      <a:pt x="5" y="68"/>
                      <a:pt x="9" y="73"/>
                      <a:pt x="13" y="73"/>
                    </a:cubicBezTo>
                    <a:cubicBezTo>
                      <a:pt x="17" y="73"/>
                      <a:pt x="22" y="71"/>
                      <a:pt x="27" y="75"/>
                    </a:cubicBezTo>
                    <a:cubicBezTo>
                      <a:pt x="33" y="80"/>
                      <a:pt x="38" y="80"/>
                      <a:pt x="43" y="79"/>
                    </a:cubicBezTo>
                    <a:cubicBezTo>
                      <a:pt x="47" y="78"/>
                      <a:pt x="50" y="81"/>
                      <a:pt x="51" y="81"/>
                    </a:cubicBezTo>
                    <a:cubicBezTo>
                      <a:pt x="53" y="82"/>
                      <a:pt x="55" y="80"/>
                      <a:pt x="59" y="79"/>
                    </a:cubicBezTo>
                    <a:cubicBezTo>
                      <a:pt x="62" y="77"/>
                      <a:pt x="60" y="75"/>
                      <a:pt x="63" y="74"/>
                    </a:cubicBezTo>
                    <a:cubicBezTo>
                      <a:pt x="67" y="73"/>
                      <a:pt x="68" y="73"/>
                      <a:pt x="70" y="71"/>
                    </a:cubicBezTo>
                    <a:cubicBezTo>
                      <a:pt x="73" y="68"/>
                      <a:pt x="74" y="63"/>
                      <a:pt x="76" y="61"/>
                    </a:cubicBezTo>
                    <a:cubicBezTo>
                      <a:pt x="76" y="61"/>
                      <a:pt x="76" y="61"/>
                      <a:pt x="76" y="61"/>
                    </a:cubicBezTo>
                    <a:cubicBezTo>
                      <a:pt x="75" y="60"/>
                      <a:pt x="74" y="59"/>
                      <a:pt x="74" y="5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88" name="Freeform 371">
                <a:extLst>
                  <a:ext uri="{FF2B5EF4-FFF2-40B4-BE49-F238E27FC236}">
                    <a16:creationId xmlns:a16="http://schemas.microsoft.com/office/drawing/2014/main" id="{353414C2-1ED9-4421-A0AB-BBCE64A638A9}"/>
                  </a:ext>
                </a:extLst>
              </p:cNvPr>
              <p:cNvSpPr>
                <a:spLocks/>
              </p:cNvSpPr>
              <p:nvPr/>
            </p:nvSpPr>
            <p:spPr bwMode="auto">
              <a:xfrm>
                <a:off x="2245" y="3842"/>
                <a:ext cx="7" cy="6"/>
              </a:xfrm>
              <a:custGeom>
                <a:avLst/>
                <a:gdLst>
                  <a:gd name="T0" fmla="*/ 4 w 5"/>
                  <a:gd name="T1" fmla="*/ 4 h 5"/>
                  <a:gd name="T2" fmla="*/ 5 w 5"/>
                  <a:gd name="T3" fmla="*/ 2 h 5"/>
                  <a:gd name="T4" fmla="*/ 2 w 5"/>
                  <a:gd name="T5" fmla="*/ 2 h 5"/>
                  <a:gd name="T6" fmla="*/ 2 w 5"/>
                  <a:gd name="T7" fmla="*/ 3 h 5"/>
                  <a:gd name="T8" fmla="*/ 4 w 5"/>
                  <a:gd name="T9" fmla="*/ 4 h 5"/>
                </a:gdLst>
                <a:ahLst/>
                <a:cxnLst>
                  <a:cxn ang="0">
                    <a:pos x="T0" y="T1"/>
                  </a:cxn>
                  <a:cxn ang="0">
                    <a:pos x="T2" y="T3"/>
                  </a:cxn>
                  <a:cxn ang="0">
                    <a:pos x="T4" y="T5"/>
                  </a:cxn>
                  <a:cxn ang="0">
                    <a:pos x="T6" y="T7"/>
                  </a:cxn>
                  <a:cxn ang="0">
                    <a:pos x="T8" y="T9"/>
                  </a:cxn>
                </a:cxnLst>
                <a:rect l="0" t="0" r="r" b="b"/>
                <a:pathLst>
                  <a:path w="5" h="5">
                    <a:moveTo>
                      <a:pt x="4" y="4"/>
                    </a:moveTo>
                    <a:cubicBezTo>
                      <a:pt x="5" y="4"/>
                      <a:pt x="5" y="3"/>
                      <a:pt x="5" y="2"/>
                    </a:cubicBezTo>
                    <a:cubicBezTo>
                      <a:pt x="5" y="0"/>
                      <a:pt x="3" y="2"/>
                      <a:pt x="2" y="2"/>
                    </a:cubicBezTo>
                    <a:cubicBezTo>
                      <a:pt x="0" y="2"/>
                      <a:pt x="2" y="3"/>
                      <a:pt x="2" y="3"/>
                    </a:cubicBezTo>
                    <a:cubicBezTo>
                      <a:pt x="2" y="4"/>
                      <a:pt x="3" y="5"/>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89" name="Freeform 372">
                <a:extLst>
                  <a:ext uri="{FF2B5EF4-FFF2-40B4-BE49-F238E27FC236}">
                    <a16:creationId xmlns:a16="http://schemas.microsoft.com/office/drawing/2014/main" id="{88BC8A7B-3F10-46B1-9429-7366D0EE35E4}"/>
                  </a:ext>
                </a:extLst>
              </p:cNvPr>
              <p:cNvSpPr>
                <a:spLocks/>
              </p:cNvSpPr>
              <p:nvPr/>
            </p:nvSpPr>
            <p:spPr bwMode="auto">
              <a:xfrm>
                <a:off x="2250" y="3831"/>
                <a:ext cx="37" cy="26"/>
              </a:xfrm>
              <a:custGeom>
                <a:avLst/>
                <a:gdLst>
                  <a:gd name="T0" fmla="*/ 23 w 27"/>
                  <a:gd name="T1" fmla="*/ 6 h 19"/>
                  <a:gd name="T2" fmla="*/ 24 w 27"/>
                  <a:gd name="T3" fmla="*/ 5 h 19"/>
                  <a:gd name="T4" fmla="*/ 26 w 27"/>
                  <a:gd name="T5" fmla="*/ 2 h 19"/>
                  <a:gd name="T6" fmla="*/ 22 w 27"/>
                  <a:gd name="T7" fmla="*/ 1 h 19"/>
                  <a:gd name="T8" fmla="*/ 18 w 27"/>
                  <a:gd name="T9" fmla="*/ 2 h 19"/>
                  <a:gd name="T10" fmla="*/ 13 w 27"/>
                  <a:gd name="T11" fmla="*/ 2 h 19"/>
                  <a:gd name="T12" fmla="*/ 7 w 27"/>
                  <a:gd name="T13" fmla="*/ 1 h 19"/>
                  <a:gd name="T14" fmla="*/ 8 w 27"/>
                  <a:gd name="T15" fmla="*/ 2 h 19"/>
                  <a:gd name="T16" fmla="*/ 8 w 27"/>
                  <a:gd name="T17" fmla="*/ 3 h 19"/>
                  <a:gd name="T18" fmla="*/ 10 w 27"/>
                  <a:gd name="T19" fmla="*/ 6 h 19"/>
                  <a:gd name="T20" fmla="*/ 12 w 27"/>
                  <a:gd name="T21" fmla="*/ 7 h 19"/>
                  <a:gd name="T22" fmla="*/ 8 w 27"/>
                  <a:gd name="T23" fmla="*/ 7 h 19"/>
                  <a:gd name="T24" fmla="*/ 7 w 27"/>
                  <a:gd name="T25" fmla="*/ 9 h 19"/>
                  <a:gd name="T26" fmla="*/ 10 w 27"/>
                  <a:gd name="T27" fmla="*/ 8 h 19"/>
                  <a:gd name="T28" fmla="*/ 10 w 27"/>
                  <a:gd name="T29" fmla="*/ 9 h 19"/>
                  <a:gd name="T30" fmla="*/ 7 w 27"/>
                  <a:gd name="T31" fmla="*/ 11 h 19"/>
                  <a:gd name="T32" fmla="*/ 8 w 27"/>
                  <a:gd name="T33" fmla="*/ 12 h 19"/>
                  <a:gd name="T34" fmla="*/ 4 w 27"/>
                  <a:gd name="T35" fmla="*/ 13 h 19"/>
                  <a:gd name="T36" fmla="*/ 1 w 27"/>
                  <a:gd name="T37" fmla="*/ 14 h 19"/>
                  <a:gd name="T38" fmla="*/ 1 w 27"/>
                  <a:gd name="T39" fmla="*/ 15 h 19"/>
                  <a:gd name="T40" fmla="*/ 2 w 27"/>
                  <a:gd name="T41" fmla="*/ 16 h 19"/>
                  <a:gd name="T42" fmla="*/ 7 w 27"/>
                  <a:gd name="T43" fmla="*/ 18 h 19"/>
                  <a:gd name="T44" fmla="*/ 7 w 27"/>
                  <a:gd name="T45" fmla="*/ 17 h 19"/>
                  <a:gd name="T46" fmla="*/ 9 w 27"/>
                  <a:gd name="T47" fmla="*/ 16 h 19"/>
                  <a:gd name="T48" fmla="*/ 11 w 27"/>
                  <a:gd name="T49" fmla="*/ 14 h 19"/>
                  <a:gd name="T50" fmla="*/ 12 w 27"/>
                  <a:gd name="T51" fmla="*/ 13 h 19"/>
                  <a:gd name="T52" fmla="*/ 14 w 27"/>
                  <a:gd name="T53" fmla="*/ 13 h 19"/>
                  <a:gd name="T54" fmla="*/ 16 w 27"/>
                  <a:gd name="T55" fmla="*/ 13 h 19"/>
                  <a:gd name="T56" fmla="*/ 21 w 27"/>
                  <a:gd name="T57" fmla="*/ 8 h 19"/>
                  <a:gd name="T58" fmla="*/ 23 w 27"/>
                  <a:gd name="T59" fmla="*/ 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7" h="19">
                    <a:moveTo>
                      <a:pt x="23" y="6"/>
                    </a:moveTo>
                    <a:cubicBezTo>
                      <a:pt x="24" y="7"/>
                      <a:pt x="24" y="6"/>
                      <a:pt x="24" y="5"/>
                    </a:cubicBezTo>
                    <a:cubicBezTo>
                      <a:pt x="24" y="4"/>
                      <a:pt x="25" y="3"/>
                      <a:pt x="26" y="2"/>
                    </a:cubicBezTo>
                    <a:cubicBezTo>
                      <a:pt x="27" y="0"/>
                      <a:pt x="23" y="0"/>
                      <a:pt x="22" y="1"/>
                    </a:cubicBezTo>
                    <a:cubicBezTo>
                      <a:pt x="20" y="2"/>
                      <a:pt x="18" y="2"/>
                      <a:pt x="18" y="2"/>
                    </a:cubicBezTo>
                    <a:cubicBezTo>
                      <a:pt x="17" y="1"/>
                      <a:pt x="15" y="2"/>
                      <a:pt x="13" y="2"/>
                    </a:cubicBezTo>
                    <a:cubicBezTo>
                      <a:pt x="11" y="3"/>
                      <a:pt x="9" y="2"/>
                      <a:pt x="7" y="1"/>
                    </a:cubicBezTo>
                    <a:cubicBezTo>
                      <a:pt x="5" y="0"/>
                      <a:pt x="6" y="2"/>
                      <a:pt x="8" y="2"/>
                    </a:cubicBezTo>
                    <a:cubicBezTo>
                      <a:pt x="9" y="3"/>
                      <a:pt x="9" y="3"/>
                      <a:pt x="8" y="3"/>
                    </a:cubicBezTo>
                    <a:cubicBezTo>
                      <a:pt x="7" y="3"/>
                      <a:pt x="9" y="5"/>
                      <a:pt x="10" y="6"/>
                    </a:cubicBezTo>
                    <a:cubicBezTo>
                      <a:pt x="12" y="6"/>
                      <a:pt x="12" y="7"/>
                      <a:pt x="12" y="7"/>
                    </a:cubicBezTo>
                    <a:cubicBezTo>
                      <a:pt x="12" y="7"/>
                      <a:pt x="9" y="7"/>
                      <a:pt x="8" y="7"/>
                    </a:cubicBezTo>
                    <a:cubicBezTo>
                      <a:pt x="7" y="7"/>
                      <a:pt x="6" y="7"/>
                      <a:pt x="7" y="9"/>
                    </a:cubicBezTo>
                    <a:cubicBezTo>
                      <a:pt x="7" y="10"/>
                      <a:pt x="8" y="9"/>
                      <a:pt x="10" y="8"/>
                    </a:cubicBezTo>
                    <a:cubicBezTo>
                      <a:pt x="12" y="7"/>
                      <a:pt x="11" y="9"/>
                      <a:pt x="10" y="9"/>
                    </a:cubicBezTo>
                    <a:cubicBezTo>
                      <a:pt x="9" y="10"/>
                      <a:pt x="8" y="10"/>
                      <a:pt x="7" y="11"/>
                    </a:cubicBezTo>
                    <a:cubicBezTo>
                      <a:pt x="7" y="12"/>
                      <a:pt x="7" y="12"/>
                      <a:pt x="8" y="12"/>
                    </a:cubicBezTo>
                    <a:cubicBezTo>
                      <a:pt x="7" y="12"/>
                      <a:pt x="5" y="13"/>
                      <a:pt x="4" y="13"/>
                    </a:cubicBezTo>
                    <a:cubicBezTo>
                      <a:pt x="3" y="13"/>
                      <a:pt x="2" y="13"/>
                      <a:pt x="1" y="14"/>
                    </a:cubicBezTo>
                    <a:cubicBezTo>
                      <a:pt x="0" y="14"/>
                      <a:pt x="1" y="15"/>
                      <a:pt x="1" y="15"/>
                    </a:cubicBezTo>
                    <a:cubicBezTo>
                      <a:pt x="2" y="16"/>
                      <a:pt x="2" y="16"/>
                      <a:pt x="2" y="16"/>
                    </a:cubicBezTo>
                    <a:cubicBezTo>
                      <a:pt x="3" y="16"/>
                      <a:pt x="6" y="19"/>
                      <a:pt x="7" y="18"/>
                    </a:cubicBezTo>
                    <a:cubicBezTo>
                      <a:pt x="7" y="18"/>
                      <a:pt x="8" y="18"/>
                      <a:pt x="7" y="17"/>
                    </a:cubicBezTo>
                    <a:cubicBezTo>
                      <a:pt x="7" y="16"/>
                      <a:pt x="8" y="16"/>
                      <a:pt x="9" y="16"/>
                    </a:cubicBezTo>
                    <a:cubicBezTo>
                      <a:pt x="11" y="16"/>
                      <a:pt x="11" y="15"/>
                      <a:pt x="11" y="14"/>
                    </a:cubicBezTo>
                    <a:cubicBezTo>
                      <a:pt x="11" y="13"/>
                      <a:pt x="11" y="13"/>
                      <a:pt x="12" y="13"/>
                    </a:cubicBezTo>
                    <a:cubicBezTo>
                      <a:pt x="13" y="14"/>
                      <a:pt x="13" y="14"/>
                      <a:pt x="14" y="13"/>
                    </a:cubicBezTo>
                    <a:cubicBezTo>
                      <a:pt x="14" y="12"/>
                      <a:pt x="14" y="13"/>
                      <a:pt x="16" y="13"/>
                    </a:cubicBezTo>
                    <a:cubicBezTo>
                      <a:pt x="17" y="13"/>
                      <a:pt x="20" y="9"/>
                      <a:pt x="21" y="8"/>
                    </a:cubicBezTo>
                    <a:cubicBezTo>
                      <a:pt x="22" y="7"/>
                      <a:pt x="22" y="6"/>
                      <a:pt x="23"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90" name="Freeform 373">
                <a:extLst>
                  <a:ext uri="{FF2B5EF4-FFF2-40B4-BE49-F238E27FC236}">
                    <a16:creationId xmlns:a16="http://schemas.microsoft.com/office/drawing/2014/main" id="{150414E0-9335-4107-8E10-A84AB23A9B3B}"/>
                  </a:ext>
                </a:extLst>
              </p:cNvPr>
              <p:cNvSpPr>
                <a:spLocks/>
              </p:cNvSpPr>
              <p:nvPr/>
            </p:nvSpPr>
            <p:spPr bwMode="auto">
              <a:xfrm>
                <a:off x="2276" y="3829"/>
                <a:ext cx="43" cy="30"/>
              </a:xfrm>
              <a:custGeom>
                <a:avLst/>
                <a:gdLst>
                  <a:gd name="T0" fmla="*/ 26 w 31"/>
                  <a:gd name="T1" fmla="*/ 6 h 22"/>
                  <a:gd name="T2" fmla="*/ 28 w 31"/>
                  <a:gd name="T3" fmla="*/ 5 h 22"/>
                  <a:gd name="T4" fmla="*/ 28 w 31"/>
                  <a:gd name="T5" fmla="*/ 3 h 22"/>
                  <a:gd name="T6" fmla="*/ 23 w 31"/>
                  <a:gd name="T7" fmla="*/ 2 h 22"/>
                  <a:gd name="T8" fmla="*/ 22 w 31"/>
                  <a:gd name="T9" fmla="*/ 5 h 22"/>
                  <a:gd name="T10" fmla="*/ 22 w 31"/>
                  <a:gd name="T11" fmla="*/ 6 h 22"/>
                  <a:gd name="T12" fmla="*/ 19 w 31"/>
                  <a:gd name="T13" fmla="*/ 5 h 22"/>
                  <a:gd name="T14" fmla="*/ 18 w 31"/>
                  <a:gd name="T15" fmla="*/ 4 h 22"/>
                  <a:gd name="T16" fmla="*/ 19 w 31"/>
                  <a:gd name="T17" fmla="*/ 3 h 22"/>
                  <a:gd name="T18" fmla="*/ 20 w 31"/>
                  <a:gd name="T19" fmla="*/ 2 h 22"/>
                  <a:gd name="T20" fmla="*/ 17 w 31"/>
                  <a:gd name="T21" fmla="*/ 1 h 22"/>
                  <a:gd name="T22" fmla="*/ 13 w 31"/>
                  <a:gd name="T23" fmla="*/ 0 h 22"/>
                  <a:gd name="T24" fmla="*/ 12 w 31"/>
                  <a:gd name="T25" fmla="*/ 1 h 22"/>
                  <a:gd name="T26" fmla="*/ 10 w 31"/>
                  <a:gd name="T27" fmla="*/ 3 h 22"/>
                  <a:gd name="T28" fmla="*/ 10 w 31"/>
                  <a:gd name="T29" fmla="*/ 4 h 22"/>
                  <a:gd name="T30" fmla="*/ 10 w 31"/>
                  <a:gd name="T31" fmla="*/ 6 h 22"/>
                  <a:gd name="T32" fmla="*/ 10 w 31"/>
                  <a:gd name="T33" fmla="*/ 7 h 22"/>
                  <a:gd name="T34" fmla="*/ 11 w 31"/>
                  <a:gd name="T35" fmla="*/ 9 h 22"/>
                  <a:gd name="T36" fmla="*/ 9 w 31"/>
                  <a:gd name="T37" fmla="*/ 8 h 22"/>
                  <a:gd name="T38" fmla="*/ 5 w 31"/>
                  <a:gd name="T39" fmla="*/ 11 h 22"/>
                  <a:gd name="T40" fmla="*/ 1 w 31"/>
                  <a:gd name="T41" fmla="*/ 15 h 22"/>
                  <a:gd name="T42" fmla="*/ 1 w 31"/>
                  <a:gd name="T43" fmla="*/ 17 h 22"/>
                  <a:gd name="T44" fmla="*/ 2 w 31"/>
                  <a:gd name="T45" fmla="*/ 19 h 22"/>
                  <a:gd name="T46" fmla="*/ 5 w 31"/>
                  <a:gd name="T47" fmla="*/ 21 h 22"/>
                  <a:gd name="T48" fmla="*/ 5 w 31"/>
                  <a:gd name="T49" fmla="*/ 18 h 22"/>
                  <a:gd name="T50" fmla="*/ 6 w 31"/>
                  <a:gd name="T51" fmla="*/ 18 h 22"/>
                  <a:gd name="T52" fmla="*/ 10 w 31"/>
                  <a:gd name="T53" fmla="*/ 19 h 22"/>
                  <a:gd name="T54" fmla="*/ 8 w 31"/>
                  <a:gd name="T55" fmla="*/ 15 h 22"/>
                  <a:gd name="T56" fmla="*/ 8 w 31"/>
                  <a:gd name="T57" fmla="*/ 14 h 22"/>
                  <a:gd name="T58" fmla="*/ 11 w 31"/>
                  <a:gd name="T59" fmla="*/ 15 h 22"/>
                  <a:gd name="T60" fmla="*/ 13 w 31"/>
                  <a:gd name="T61" fmla="*/ 16 h 22"/>
                  <a:gd name="T62" fmla="*/ 15 w 31"/>
                  <a:gd name="T63" fmla="*/ 16 h 22"/>
                  <a:gd name="T64" fmla="*/ 16 w 31"/>
                  <a:gd name="T65" fmla="*/ 16 h 22"/>
                  <a:gd name="T66" fmla="*/ 12 w 31"/>
                  <a:gd name="T67" fmla="*/ 12 h 22"/>
                  <a:gd name="T68" fmla="*/ 13 w 31"/>
                  <a:gd name="T69" fmla="*/ 12 h 22"/>
                  <a:gd name="T70" fmla="*/ 18 w 31"/>
                  <a:gd name="T71" fmla="*/ 12 h 22"/>
                  <a:gd name="T72" fmla="*/ 23 w 31"/>
                  <a:gd name="T73" fmla="*/ 10 h 22"/>
                  <a:gd name="T74" fmla="*/ 28 w 31"/>
                  <a:gd name="T75" fmla="*/ 9 h 22"/>
                  <a:gd name="T76" fmla="*/ 26 w 31"/>
                  <a:gd name="T77"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 h="22">
                    <a:moveTo>
                      <a:pt x="26" y="6"/>
                    </a:moveTo>
                    <a:cubicBezTo>
                      <a:pt x="21" y="6"/>
                      <a:pt x="25" y="5"/>
                      <a:pt x="28" y="5"/>
                    </a:cubicBezTo>
                    <a:cubicBezTo>
                      <a:pt x="30" y="6"/>
                      <a:pt x="29" y="4"/>
                      <a:pt x="28" y="3"/>
                    </a:cubicBezTo>
                    <a:cubicBezTo>
                      <a:pt x="27" y="2"/>
                      <a:pt x="24" y="2"/>
                      <a:pt x="23" y="2"/>
                    </a:cubicBezTo>
                    <a:cubicBezTo>
                      <a:pt x="22" y="3"/>
                      <a:pt x="21" y="3"/>
                      <a:pt x="22" y="5"/>
                    </a:cubicBezTo>
                    <a:cubicBezTo>
                      <a:pt x="24" y="8"/>
                      <a:pt x="22" y="7"/>
                      <a:pt x="22" y="6"/>
                    </a:cubicBezTo>
                    <a:cubicBezTo>
                      <a:pt x="21" y="5"/>
                      <a:pt x="20" y="6"/>
                      <a:pt x="19" y="5"/>
                    </a:cubicBezTo>
                    <a:cubicBezTo>
                      <a:pt x="19" y="4"/>
                      <a:pt x="19" y="5"/>
                      <a:pt x="18" y="4"/>
                    </a:cubicBezTo>
                    <a:cubicBezTo>
                      <a:pt x="17" y="4"/>
                      <a:pt x="18" y="3"/>
                      <a:pt x="19" y="3"/>
                    </a:cubicBezTo>
                    <a:cubicBezTo>
                      <a:pt x="21" y="3"/>
                      <a:pt x="21" y="3"/>
                      <a:pt x="20" y="2"/>
                    </a:cubicBezTo>
                    <a:cubicBezTo>
                      <a:pt x="19" y="1"/>
                      <a:pt x="18" y="1"/>
                      <a:pt x="17" y="1"/>
                    </a:cubicBezTo>
                    <a:cubicBezTo>
                      <a:pt x="15" y="1"/>
                      <a:pt x="14" y="1"/>
                      <a:pt x="13" y="0"/>
                    </a:cubicBezTo>
                    <a:cubicBezTo>
                      <a:pt x="12" y="0"/>
                      <a:pt x="12" y="0"/>
                      <a:pt x="12" y="1"/>
                    </a:cubicBezTo>
                    <a:cubicBezTo>
                      <a:pt x="13" y="3"/>
                      <a:pt x="11" y="3"/>
                      <a:pt x="10" y="3"/>
                    </a:cubicBezTo>
                    <a:cubicBezTo>
                      <a:pt x="9" y="3"/>
                      <a:pt x="9" y="3"/>
                      <a:pt x="10" y="4"/>
                    </a:cubicBezTo>
                    <a:cubicBezTo>
                      <a:pt x="11" y="5"/>
                      <a:pt x="11" y="6"/>
                      <a:pt x="10" y="6"/>
                    </a:cubicBezTo>
                    <a:cubicBezTo>
                      <a:pt x="9" y="5"/>
                      <a:pt x="9" y="6"/>
                      <a:pt x="10" y="7"/>
                    </a:cubicBezTo>
                    <a:cubicBezTo>
                      <a:pt x="10" y="8"/>
                      <a:pt x="11" y="7"/>
                      <a:pt x="11" y="9"/>
                    </a:cubicBezTo>
                    <a:cubicBezTo>
                      <a:pt x="11" y="10"/>
                      <a:pt x="10" y="9"/>
                      <a:pt x="9" y="8"/>
                    </a:cubicBezTo>
                    <a:cubicBezTo>
                      <a:pt x="8" y="7"/>
                      <a:pt x="6" y="10"/>
                      <a:pt x="5" y="11"/>
                    </a:cubicBezTo>
                    <a:cubicBezTo>
                      <a:pt x="5" y="12"/>
                      <a:pt x="2" y="14"/>
                      <a:pt x="1" y="15"/>
                    </a:cubicBezTo>
                    <a:cubicBezTo>
                      <a:pt x="0" y="17"/>
                      <a:pt x="1" y="17"/>
                      <a:pt x="1" y="17"/>
                    </a:cubicBezTo>
                    <a:cubicBezTo>
                      <a:pt x="1" y="17"/>
                      <a:pt x="2" y="18"/>
                      <a:pt x="2" y="19"/>
                    </a:cubicBezTo>
                    <a:cubicBezTo>
                      <a:pt x="3" y="20"/>
                      <a:pt x="4" y="20"/>
                      <a:pt x="5" y="21"/>
                    </a:cubicBezTo>
                    <a:cubicBezTo>
                      <a:pt x="7" y="22"/>
                      <a:pt x="5" y="20"/>
                      <a:pt x="5" y="18"/>
                    </a:cubicBezTo>
                    <a:cubicBezTo>
                      <a:pt x="4" y="17"/>
                      <a:pt x="5" y="17"/>
                      <a:pt x="6" y="18"/>
                    </a:cubicBezTo>
                    <a:cubicBezTo>
                      <a:pt x="8" y="18"/>
                      <a:pt x="9" y="19"/>
                      <a:pt x="10" y="19"/>
                    </a:cubicBezTo>
                    <a:cubicBezTo>
                      <a:pt x="10" y="19"/>
                      <a:pt x="10" y="16"/>
                      <a:pt x="8" y="15"/>
                    </a:cubicBezTo>
                    <a:cubicBezTo>
                      <a:pt x="6" y="15"/>
                      <a:pt x="7" y="14"/>
                      <a:pt x="8" y="14"/>
                    </a:cubicBezTo>
                    <a:cubicBezTo>
                      <a:pt x="9" y="14"/>
                      <a:pt x="11" y="15"/>
                      <a:pt x="11" y="15"/>
                    </a:cubicBezTo>
                    <a:cubicBezTo>
                      <a:pt x="12" y="16"/>
                      <a:pt x="12" y="16"/>
                      <a:pt x="13" y="16"/>
                    </a:cubicBezTo>
                    <a:cubicBezTo>
                      <a:pt x="14" y="15"/>
                      <a:pt x="14" y="15"/>
                      <a:pt x="15" y="16"/>
                    </a:cubicBezTo>
                    <a:cubicBezTo>
                      <a:pt x="16" y="18"/>
                      <a:pt x="16" y="17"/>
                      <a:pt x="16" y="16"/>
                    </a:cubicBezTo>
                    <a:cubicBezTo>
                      <a:pt x="17" y="15"/>
                      <a:pt x="15" y="14"/>
                      <a:pt x="12" y="12"/>
                    </a:cubicBezTo>
                    <a:cubicBezTo>
                      <a:pt x="9" y="10"/>
                      <a:pt x="13" y="11"/>
                      <a:pt x="13" y="12"/>
                    </a:cubicBezTo>
                    <a:cubicBezTo>
                      <a:pt x="14" y="13"/>
                      <a:pt x="16" y="13"/>
                      <a:pt x="18" y="12"/>
                    </a:cubicBezTo>
                    <a:cubicBezTo>
                      <a:pt x="20" y="12"/>
                      <a:pt x="21" y="12"/>
                      <a:pt x="23" y="10"/>
                    </a:cubicBezTo>
                    <a:cubicBezTo>
                      <a:pt x="24" y="9"/>
                      <a:pt x="25" y="9"/>
                      <a:pt x="28" y="9"/>
                    </a:cubicBezTo>
                    <a:cubicBezTo>
                      <a:pt x="30" y="9"/>
                      <a:pt x="31" y="7"/>
                      <a:pt x="26"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91" name="Freeform 374">
                <a:extLst>
                  <a:ext uri="{FF2B5EF4-FFF2-40B4-BE49-F238E27FC236}">
                    <a16:creationId xmlns:a16="http://schemas.microsoft.com/office/drawing/2014/main" id="{0A032F0A-EB7B-45D2-B497-DAED55736CEB}"/>
                  </a:ext>
                </a:extLst>
              </p:cNvPr>
              <p:cNvSpPr>
                <a:spLocks/>
              </p:cNvSpPr>
              <p:nvPr/>
            </p:nvSpPr>
            <p:spPr bwMode="auto">
              <a:xfrm>
                <a:off x="2174" y="3924"/>
                <a:ext cx="22" cy="5"/>
              </a:xfrm>
              <a:custGeom>
                <a:avLst/>
                <a:gdLst>
                  <a:gd name="T0" fmla="*/ 4 w 16"/>
                  <a:gd name="T1" fmla="*/ 1 h 4"/>
                  <a:gd name="T2" fmla="*/ 0 w 16"/>
                  <a:gd name="T3" fmla="*/ 3 h 4"/>
                  <a:gd name="T4" fmla="*/ 1 w 16"/>
                  <a:gd name="T5" fmla="*/ 4 h 4"/>
                  <a:gd name="T6" fmla="*/ 11 w 16"/>
                  <a:gd name="T7" fmla="*/ 1 h 4"/>
                  <a:gd name="T8" fmla="*/ 4 w 16"/>
                  <a:gd name="T9" fmla="*/ 1 h 4"/>
                </a:gdLst>
                <a:ahLst/>
                <a:cxnLst>
                  <a:cxn ang="0">
                    <a:pos x="T0" y="T1"/>
                  </a:cxn>
                  <a:cxn ang="0">
                    <a:pos x="T2" y="T3"/>
                  </a:cxn>
                  <a:cxn ang="0">
                    <a:pos x="T4" y="T5"/>
                  </a:cxn>
                  <a:cxn ang="0">
                    <a:pos x="T6" y="T7"/>
                  </a:cxn>
                  <a:cxn ang="0">
                    <a:pos x="T8" y="T9"/>
                  </a:cxn>
                </a:cxnLst>
                <a:rect l="0" t="0" r="r" b="b"/>
                <a:pathLst>
                  <a:path w="16" h="4">
                    <a:moveTo>
                      <a:pt x="4" y="1"/>
                    </a:moveTo>
                    <a:cubicBezTo>
                      <a:pt x="1" y="1"/>
                      <a:pt x="0" y="2"/>
                      <a:pt x="0" y="3"/>
                    </a:cubicBezTo>
                    <a:cubicBezTo>
                      <a:pt x="0" y="4"/>
                      <a:pt x="1" y="4"/>
                      <a:pt x="1" y="4"/>
                    </a:cubicBezTo>
                    <a:cubicBezTo>
                      <a:pt x="1" y="4"/>
                      <a:pt x="7" y="3"/>
                      <a:pt x="11" y="1"/>
                    </a:cubicBezTo>
                    <a:cubicBezTo>
                      <a:pt x="16" y="0"/>
                      <a:pt x="7" y="1"/>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1291" name="Group 576">
              <a:extLst>
                <a:ext uri="{FF2B5EF4-FFF2-40B4-BE49-F238E27FC236}">
                  <a16:creationId xmlns:a16="http://schemas.microsoft.com/office/drawing/2014/main" id="{83CFFEA2-9803-46F1-B14F-63C203D44405}"/>
                </a:ext>
              </a:extLst>
            </p:cNvPr>
            <p:cNvGrpSpPr>
              <a:grpSpLocks/>
            </p:cNvGrpSpPr>
            <p:nvPr/>
          </p:nvGrpSpPr>
          <p:grpSpPr bwMode="auto">
            <a:xfrm>
              <a:off x="268" y="2119"/>
              <a:ext cx="7144" cy="1837"/>
              <a:chOff x="268" y="2119"/>
              <a:chExt cx="7144" cy="1837"/>
            </a:xfrm>
            <a:grpFill/>
          </p:grpSpPr>
          <p:sp>
            <p:nvSpPr>
              <p:cNvPr id="1967" name="Freeform 376">
                <a:extLst>
                  <a:ext uri="{FF2B5EF4-FFF2-40B4-BE49-F238E27FC236}">
                    <a16:creationId xmlns:a16="http://schemas.microsoft.com/office/drawing/2014/main" id="{5110B4C4-5171-45C2-B39C-73294D364E58}"/>
                  </a:ext>
                </a:extLst>
              </p:cNvPr>
              <p:cNvSpPr>
                <a:spLocks/>
              </p:cNvSpPr>
              <p:nvPr/>
            </p:nvSpPr>
            <p:spPr bwMode="auto">
              <a:xfrm>
                <a:off x="2721" y="3905"/>
                <a:ext cx="46" cy="27"/>
              </a:xfrm>
              <a:custGeom>
                <a:avLst/>
                <a:gdLst>
                  <a:gd name="T0" fmla="*/ 31 w 33"/>
                  <a:gd name="T1" fmla="*/ 13 h 20"/>
                  <a:gd name="T2" fmla="*/ 30 w 33"/>
                  <a:gd name="T3" fmla="*/ 12 h 20"/>
                  <a:gd name="T4" fmla="*/ 30 w 33"/>
                  <a:gd name="T5" fmla="*/ 11 h 20"/>
                  <a:gd name="T6" fmla="*/ 27 w 33"/>
                  <a:gd name="T7" fmla="*/ 9 h 20"/>
                  <a:gd name="T8" fmla="*/ 26 w 33"/>
                  <a:gd name="T9" fmla="*/ 7 h 20"/>
                  <a:gd name="T10" fmla="*/ 24 w 33"/>
                  <a:gd name="T11" fmla="*/ 7 h 20"/>
                  <a:gd name="T12" fmla="*/ 22 w 33"/>
                  <a:gd name="T13" fmla="*/ 7 h 20"/>
                  <a:gd name="T14" fmla="*/ 21 w 33"/>
                  <a:gd name="T15" fmla="*/ 6 h 20"/>
                  <a:gd name="T16" fmla="*/ 21 w 33"/>
                  <a:gd name="T17" fmla="*/ 5 h 20"/>
                  <a:gd name="T18" fmla="*/ 22 w 33"/>
                  <a:gd name="T19" fmla="*/ 4 h 20"/>
                  <a:gd name="T20" fmla="*/ 21 w 33"/>
                  <a:gd name="T21" fmla="*/ 4 h 20"/>
                  <a:gd name="T22" fmla="*/ 20 w 33"/>
                  <a:gd name="T23" fmla="*/ 3 h 20"/>
                  <a:gd name="T24" fmla="*/ 18 w 33"/>
                  <a:gd name="T25" fmla="*/ 3 h 20"/>
                  <a:gd name="T26" fmla="*/ 17 w 33"/>
                  <a:gd name="T27" fmla="*/ 2 h 20"/>
                  <a:gd name="T28" fmla="*/ 15 w 33"/>
                  <a:gd name="T29" fmla="*/ 2 h 20"/>
                  <a:gd name="T30" fmla="*/ 13 w 33"/>
                  <a:gd name="T31" fmla="*/ 2 h 20"/>
                  <a:gd name="T32" fmla="*/ 12 w 33"/>
                  <a:gd name="T33" fmla="*/ 1 h 20"/>
                  <a:gd name="T34" fmla="*/ 9 w 33"/>
                  <a:gd name="T35" fmla="*/ 1 h 20"/>
                  <a:gd name="T36" fmla="*/ 6 w 33"/>
                  <a:gd name="T37" fmla="*/ 0 h 20"/>
                  <a:gd name="T38" fmla="*/ 5 w 33"/>
                  <a:gd name="T39" fmla="*/ 1 h 20"/>
                  <a:gd name="T40" fmla="*/ 3 w 33"/>
                  <a:gd name="T41" fmla="*/ 1 h 20"/>
                  <a:gd name="T42" fmla="*/ 5 w 33"/>
                  <a:gd name="T43" fmla="*/ 3 h 20"/>
                  <a:gd name="T44" fmla="*/ 10 w 33"/>
                  <a:gd name="T45" fmla="*/ 4 h 20"/>
                  <a:gd name="T46" fmla="*/ 10 w 33"/>
                  <a:gd name="T47" fmla="*/ 5 h 20"/>
                  <a:gd name="T48" fmla="*/ 12 w 33"/>
                  <a:gd name="T49" fmla="*/ 6 h 20"/>
                  <a:gd name="T50" fmla="*/ 28 w 33"/>
                  <a:gd name="T51" fmla="*/ 17 h 20"/>
                  <a:gd name="T52" fmla="*/ 30 w 33"/>
                  <a:gd name="T53" fmla="*/ 19 h 20"/>
                  <a:gd name="T54" fmla="*/ 30 w 33"/>
                  <a:gd name="T55" fmla="*/ 18 h 20"/>
                  <a:gd name="T56" fmla="*/ 32 w 33"/>
                  <a:gd name="T57" fmla="*/ 17 h 20"/>
                  <a:gd name="T58" fmla="*/ 32 w 33"/>
                  <a:gd name="T59" fmla="*/ 16 h 20"/>
                  <a:gd name="T60" fmla="*/ 31 w 33"/>
                  <a:gd name="T61"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 h="20">
                    <a:moveTo>
                      <a:pt x="31" y="13"/>
                    </a:moveTo>
                    <a:cubicBezTo>
                      <a:pt x="31" y="12"/>
                      <a:pt x="31" y="12"/>
                      <a:pt x="30" y="12"/>
                    </a:cubicBezTo>
                    <a:cubicBezTo>
                      <a:pt x="29" y="12"/>
                      <a:pt x="28" y="12"/>
                      <a:pt x="30" y="11"/>
                    </a:cubicBezTo>
                    <a:cubicBezTo>
                      <a:pt x="31" y="11"/>
                      <a:pt x="28" y="10"/>
                      <a:pt x="27" y="9"/>
                    </a:cubicBezTo>
                    <a:cubicBezTo>
                      <a:pt x="27" y="9"/>
                      <a:pt x="27" y="8"/>
                      <a:pt x="26" y="7"/>
                    </a:cubicBezTo>
                    <a:cubicBezTo>
                      <a:pt x="26" y="6"/>
                      <a:pt x="25" y="6"/>
                      <a:pt x="24" y="7"/>
                    </a:cubicBezTo>
                    <a:cubicBezTo>
                      <a:pt x="23" y="8"/>
                      <a:pt x="22" y="8"/>
                      <a:pt x="22" y="7"/>
                    </a:cubicBezTo>
                    <a:cubicBezTo>
                      <a:pt x="22" y="5"/>
                      <a:pt x="22" y="5"/>
                      <a:pt x="21" y="6"/>
                    </a:cubicBezTo>
                    <a:cubicBezTo>
                      <a:pt x="21" y="7"/>
                      <a:pt x="20" y="6"/>
                      <a:pt x="21" y="5"/>
                    </a:cubicBezTo>
                    <a:cubicBezTo>
                      <a:pt x="21" y="5"/>
                      <a:pt x="21" y="5"/>
                      <a:pt x="22" y="4"/>
                    </a:cubicBezTo>
                    <a:cubicBezTo>
                      <a:pt x="21" y="4"/>
                      <a:pt x="21" y="4"/>
                      <a:pt x="21" y="4"/>
                    </a:cubicBezTo>
                    <a:cubicBezTo>
                      <a:pt x="21" y="4"/>
                      <a:pt x="19" y="4"/>
                      <a:pt x="20" y="3"/>
                    </a:cubicBezTo>
                    <a:cubicBezTo>
                      <a:pt x="20" y="3"/>
                      <a:pt x="18" y="3"/>
                      <a:pt x="18" y="3"/>
                    </a:cubicBezTo>
                    <a:cubicBezTo>
                      <a:pt x="18" y="2"/>
                      <a:pt x="18" y="2"/>
                      <a:pt x="17" y="2"/>
                    </a:cubicBezTo>
                    <a:cubicBezTo>
                      <a:pt x="16" y="3"/>
                      <a:pt x="15" y="3"/>
                      <a:pt x="15" y="2"/>
                    </a:cubicBezTo>
                    <a:cubicBezTo>
                      <a:pt x="14" y="1"/>
                      <a:pt x="13" y="2"/>
                      <a:pt x="13" y="2"/>
                    </a:cubicBezTo>
                    <a:cubicBezTo>
                      <a:pt x="13" y="2"/>
                      <a:pt x="13" y="1"/>
                      <a:pt x="12" y="1"/>
                    </a:cubicBezTo>
                    <a:cubicBezTo>
                      <a:pt x="11" y="2"/>
                      <a:pt x="9" y="2"/>
                      <a:pt x="9" y="1"/>
                    </a:cubicBezTo>
                    <a:cubicBezTo>
                      <a:pt x="8" y="0"/>
                      <a:pt x="9" y="1"/>
                      <a:pt x="6" y="0"/>
                    </a:cubicBezTo>
                    <a:cubicBezTo>
                      <a:pt x="3" y="0"/>
                      <a:pt x="5" y="1"/>
                      <a:pt x="5" y="1"/>
                    </a:cubicBezTo>
                    <a:cubicBezTo>
                      <a:pt x="0" y="1"/>
                      <a:pt x="0" y="1"/>
                      <a:pt x="3" y="1"/>
                    </a:cubicBezTo>
                    <a:cubicBezTo>
                      <a:pt x="6" y="2"/>
                      <a:pt x="6" y="2"/>
                      <a:pt x="5" y="3"/>
                    </a:cubicBezTo>
                    <a:cubicBezTo>
                      <a:pt x="3" y="5"/>
                      <a:pt x="8" y="4"/>
                      <a:pt x="10" y="4"/>
                    </a:cubicBezTo>
                    <a:cubicBezTo>
                      <a:pt x="12" y="4"/>
                      <a:pt x="10" y="4"/>
                      <a:pt x="10" y="5"/>
                    </a:cubicBezTo>
                    <a:cubicBezTo>
                      <a:pt x="9" y="7"/>
                      <a:pt x="12" y="6"/>
                      <a:pt x="12" y="6"/>
                    </a:cubicBezTo>
                    <a:cubicBezTo>
                      <a:pt x="19" y="7"/>
                      <a:pt x="26" y="15"/>
                      <a:pt x="28" y="17"/>
                    </a:cubicBezTo>
                    <a:cubicBezTo>
                      <a:pt x="29" y="20"/>
                      <a:pt x="29" y="19"/>
                      <a:pt x="30" y="19"/>
                    </a:cubicBezTo>
                    <a:cubicBezTo>
                      <a:pt x="30" y="18"/>
                      <a:pt x="31" y="19"/>
                      <a:pt x="30" y="18"/>
                    </a:cubicBezTo>
                    <a:cubicBezTo>
                      <a:pt x="28" y="17"/>
                      <a:pt x="30" y="17"/>
                      <a:pt x="32" y="17"/>
                    </a:cubicBezTo>
                    <a:cubicBezTo>
                      <a:pt x="33" y="17"/>
                      <a:pt x="33" y="17"/>
                      <a:pt x="32" y="16"/>
                    </a:cubicBezTo>
                    <a:cubicBezTo>
                      <a:pt x="31" y="15"/>
                      <a:pt x="31" y="15"/>
                      <a:pt x="31" y="1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68" name="Freeform 377">
                <a:extLst>
                  <a:ext uri="{FF2B5EF4-FFF2-40B4-BE49-F238E27FC236}">
                    <a16:creationId xmlns:a16="http://schemas.microsoft.com/office/drawing/2014/main" id="{A1CEFE2E-07AA-4B34-A7C1-14E191955210}"/>
                  </a:ext>
                </a:extLst>
              </p:cNvPr>
              <p:cNvSpPr>
                <a:spLocks/>
              </p:cNvSpPr>
              <p:nvPr/>
            </p:nvSpPr>
            <p:spPr bwMode="auto">
              <a:xfrm>
                <a:off x="2093" y="3868"/>
                <a:ext cx="72" cy="67"/>
              </a:xfrm>
              <a:custGeom>
                <a:avLst/>
                <a:gdLst>
                  <a:gd name="T0" fmla="*/ 46 w 52"/>
                  <a:gd name="T1" fmla="*/ 40 h 49"/>
                  <a:gd name="T2" fmla="*/ 37 w 52"/>
                  <a:gd name="T3" fmla="*/ 38 h 49"/>
                  <a:gd name="T4" fmla="*/ 16 w 52"/>
                  <a:gd name="T5" fmla="*/ 25 h 49"/>
                  <a:gd name="T6" fmla="*/ 7 w 52"/>
                  <a:gd name="T7" fmla="*/ 16 h 49"/>
                  <a:gd name="T8" fmla="*/ 5 w 52"/>
                  <a:gd name="T9" fmla="*/ 13 h 49"/>
                  <a:gd name="T10" fmla="*/ 2 w 52"/>
                  <a:gd name="T11" fmla="*/ 11 h 49"/>
                  <a:gd name="T12" fmla="*/ 3 w 52"/>
                  <a:gd name="T13" fmla="*/ 7 h 49"/>
                  <a:gd name="T14" fmla="*/ 3 w 52"/>
                  <a:gd name="T15" fmla="*/ 5 h 49"/>
                  <a:gd name="T16" fmla="*/ 1 w 52"/>
                  <a:gd name="T17" fmla="*/ 0 h 49"/>
                  <a:gd name="T18" fmla="*/ 0 w 52"/>
                  <a:gd name="T19" fmla="*/ 0 h 49"/>
                  <a:gd name="T20" fmla="*/ 0 w 52"/>
                  <a:gd name="T21" fmla="*/ 45 h 49"/>
                  <a:gd name="T22" fmla="*/ 1 w 52"/>
                  <a:gd name="T23" fmla="*/ 45 h 49"/>
                  <a:gd name="T24" fmla="*/ 17 w 52"/>
                  <a:gd name="T25" fmla="*/ 45 h 49"/>
                  <a:gd name="T26" fmla="*/ 26 w 52"/>
                  <a:gd name="T27" fmla="*/ 47 h 49"/>
                  <a:gd name="T28" fmla="*/ 34 w 52"/>
                  <a:gd name="T29" fmla="*/ 48 h 49"/>
                  <a:gd name="T30" fmla="*/ 48 w 52"/>
                  <a:gd name="T31" fmla="*/ 46 h 49"/>
                  <a:gd name="T32" fmla="*/ 51 w 52"/>
                  <a:gd name="T33" fmla="*/ 41 h 49"/>
                  <a:gd name="T34" fmla="*/ 46 w 52"/>
                  <a:gd name="T35" fmla="*/ 4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2" h="49">
                    <a:moveTo>
                      <a:pt x="46" y="40"/>
                    </a:moveTo>
                    <a:cubicBezTo>
                      <a:pt x="44" y="41"/>
                      <a:pt x="38" y="39"/>
                      <a:pt x="37" y="38"/>
                    </a:cubicBezTo>
                    <a:cubicBezTo>
                      <a:pt x="35" y="38"/>
                      <a:pt x="18" y="26"/>
                      <a:pt x="16" y="25"/>
                    </a:cubicBezTo>
                    <a:cubicBezTo>
                      <a:pt x="14" y="24"/>
                      <a:pt x="9" y="17"/>
                      <a:pt x="7" y="16"/>
                    </a:cubicBezTo>
                    <a:cubicBezTo>
                      <a:pt x="6" y="14"/>
                      <a:pt x="5" y="13"/>
                      <a:pt x="5" y="13"/>
                    </a:cubicBezTo>
                    <a:cubicBezTo>
                      <a:pt x="4" y="12"/>
                      <a:pt x="3" y="13"/>
                      <a:pt x="2" y="11"/>
                    </a:cubicBezTo>
                    <a:cubicBezTo>
                      <a:pt x="0" y="9"/>
                      <a:pt x="2" y="7"/>
                      <a:pt x="3" y="7"/>
                    </a:cubicBezTo>
                    <a:cubicBezTo>
                      <a:pt x="4" y="6"/>
                      <a:pt x="3" y="5"/>
                      <a:pt x="3" y="5"/>
                    </a:cubicBezTo>
                    <a:cubicBezTo>
                      <a:pt x="3" y="5"/>
                      <a:pt x="1" y="1"/>
                      <a:pt x="1" y="0"/>
                    </a:cubicBezTo>
                    <a:cubicBezTo>
                      <a:pt x="0" y="0"/>
                      <a:pt x="0" y="0"/>
                      <a:pt x="0" y="0"/>
                    </a:cubicBezTo>
                    <a:cubicBezTo>
                      <a:pt x="0" y="45"/>
                      <a:pt x="0" y="45"/>
                      <a:pt x="0" y="45"/>
                    </a:cubicBezTo>
                    <a:cubicBezTo>
                      <a:pt x="0" y="45"/>
                      <a:pt x="0" y="45"/>
                      <a:pt x="1" y="45"/>
                    </a:cubicBezTo>
                    <a:cubicBezTo>
                      <a:pt x="1" y="45"/>
                      <a:pt x="16" y="45"/>
                      <a:pt x="17" y="45"/>
                    </a:cubicBezTo>
                    <a:cubicBezTo>
                      <a:pt x="18" y="45"/>
                      <a:pt x="22" y="45"/>
                      <a:pt x="26" y="47"/>
                    </a:cubicBezTo>
                    <a:cubicBezTo>
                      <a:pt x="31" y="49"/>
                      <a:pt x="34" y="48"/>
                      <a:pt x="34" y="48"/>
                    </a:cubicBezTo>
                    <a:cubicBezTo>
                      <a:pt x="35" y="48"/>
                      <a:pt x="46" y="47"/>
                      <a:pt x="48" y="46"/>
                    </a:cubicBezTo>
                    <a:cubicBezTo>
                      <a:pt x="50" y="45"/>
                      <a:pt x="50" y="43"/>
                      <a:pt x="51" y="41"/>
                    </a:cubicBezTo>
                    <a:cubicBezTo>
                      <a:pt x="52" y="39"/>
                      <a:pt x="48" y="40"/>
                      <a:pt x="46" y="4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69" name="Freeform 378">
                <a:extLst>
                  <a:ext uri="{FF2B5EF4-FFF2-40B4-BE49-F238E27FC236}">
                    <a16:creationId xmlns:a16="http://schemas.microsoft.com/office/drawing/2014/main" id="{42813684-DD77-4EB2-BB84-047F9E6CA238}"/>
                  </a:ext>
                </a:extLst>
              </p:cNvPr>
              <p:cNvSpPr>
                <a:spLocks/>
              </p:cNvSpPr>
              <p:nvPr/>
            </p:nvSpPr>
            <p:spPr bwMode="auto">
              <a:xfrm>
                <a:off x="1991" y="3134"/>
                <a:ext cx="409" cy="727"/>
              </a:xfrm>
              <a:custGeom>
                <a:avLst/>
                <a:gdLst>
                  <a:gd name="T0" fmla="*/ 88 w 296"/>
                  <a:gd name="T1" fmla="*/ 37 h 530"/>
                  <a:gd name="T2" fmla="*/ 76 w 296"/>
                  <a:gd name="T3" fmla="*/ 52 h 530"/>
                  <a:gd name="T4" fmla="*/ 74 w 296"/>
                  <a:gd name="T5" fmla="*/ 84 h 530"/>
                  <a:gd name="T6" fmla="*/ 54 w 296"/>
                  <a:gd name="T7" fmla="*/ 117 h 530"/>
                  <a:gd name="T8" fmla="*/ 50 w 296"/>
                  <a:gd name="T9" fmla="*/ 138 h 530"/>
                  <a:gd name="T10" fmla="*/ 45 w 296"/>
                  <a:gd name="T11" fmla="*/ 154 h 530"/>
                  <a:gd name="T12" fmla="*/ 52 w 296"/>
                  <a:gd name="T13" fmla="*/ 178 h 530"/>
                  <a:gd name="T14" fmla="*/ 55 w 296"/>
                  <a:gd name="T15" fmla="*/ 200 h 530"/>
                  <a:gd name="T16" fmla="*/ 45 w 296"/>
                  <a:gd name="T17" fmla="*/ 216 h 530"/>
                  <a:gd name="T18" fmla="*/ 43 w 296"/>
                  <a:gd name="T19" fmla="*/ 235 h 530"/>
                  <a:gd name="T20" fmla="*/ 40 w 296"/>
                  <a:gd name="T21" fmla="*/ 276 h 530"/>
                  <a:gd name="T22" fmla="*/ 29 w 296"/>
                  <a:gd name="T23" fmla="*/ 298 h 530"/>
                  <a:gd name="T24" fmla="*/ 25 w 296"/>
                  <a:gd name="T25" fmla="*/ 313 h 530"/>
                  <a:gd name="T26" fmla="*/ 21 w 296"/>
                  <a:gd name="T27" fmla="*/ 352 h 530"/>
                  <a:gd name="T28" fmla="*/ 27 w 296"/>
                  <a:gd name="T29" fmla="*/ 363 h 530"/>
                  <a:gd name="T30" fmla="*/ 36 w 296"/>
                  <a:gd name="T31" fmla="*/ 381 h 530"/>
                  <a:gd name="T32" fmla="*/ 30 w 296"/>
                  <a:gd name="T33" fmla="*/ 389 h 530"/>
                  <a:gd name="T34" fmla="*/ 28 w 296"/>
                  <a:gd name="T35" fmla="*/ 407 h 530"/>
                  <a:gd name="T36" fmla="*/ 25 w 296"/>
                  <a:gd name="T37" fmla="*/ 428 h 530"/>
                  <a:gd name="T38" fmla="*/ 19 w 296"/>
                  <a:gd name="T39" fmla="*/ 449 h 530"/>
                  <a:gd name="T40" fmla="*/ 2 w 296"/>
                  <a:gd name="T41" fmla="*/ 469 h 530"/>
                  <a:gd name="T42" fmla="*/ 5 w 296"/>
                  <a:gd name="T43" fmla="*/ 495 h 530"/>
                  <a:gd name="T44" fmla="*/ 19 w 296"/>
                  <a:gd name="T45" fmla="*/ 500 h 530"/>
                  <a:gd name="T46" fmla="*/ 20 w 296"/>
                  <a:gd name="T47" fmla="*/ 516 h 530"/>
                  <a:gd name="T48" fmla="*/ 72 w 296"/>
                  <a:gd name="T49" fmla="*/ 527 h 530"/>
                  <a:gd name="T50" fmla="*/ 62 w 296"/>
                  <a:gd name="T51" fmla="*/ 514 h 530"/>
                  <a:gd name="T52" fmla="*/ 64 w 296"/>
                  <a:gd name="T53" fmla="*/ 501 h 530"/>
                  <a:gd name="T54" fmla="*/ 72 w 296"/>
                  <a:gd name="T55" fmla="*/ 482 h 530"/>
                  <a:gd name="T56" fmla="*/ 88 w 296"/>
                  <a:gd name="T57" fmla="*/ 469 h 530"/>
                  <a:gd name="T58" fmla="*/ 114 w 296"/>
                  <a:gd name="T59" fmla="*/ 439 h 530"/>
                  <a:gd name="T60" fmla="*/ 104 w 296"/>
                  <a:gd name="T61" fmla="*/ 390 h 530"/>
                  <a:gd name="T62" fmla="*/ 131 w 296"/>
                  <a:gd name="T63" fmla="*/ 355 h 530"/>
                  <a:gd name="T64" fmla="*/ 140 w 296"/>
                  <a:gd name="T65" fmla="*/ 347 h 530"/>
                  <a:gd name="T66" fmla="*/ 140 w 296"/>
                  <a:gd name="T67" fmla="*/ 341 h 530"/>
                  <a:gd name="T68" fmla="*/ 131 w 296"/>
                  <a:gd name="T69" fmla="*/ 313 h 530"/>
                  <a:gd name="T70" fmla="*/ 166 w 296"/>
                  <a:gd name="T71" fmla="*/ 315 h 530"/>
                  <a:gd name="T72" fmla="*/ 170 w 296"/>
                  <a:gd name="T73" fmla="*/ 293 h 530"/>
                  <a:gd name="T74" fmla="*/ 188 w 296"/>
                  <a:gd name="T75" fmla="*/ 280 h 530"/>
                  <a:gd name="T76" fmla="*/ 243 w 296"/>
                  <a:gd name="T77" fmla="*/ 232 h 530"/>
                  <a:gd name="T78" fmla="*/ 227 w 296"/>
                  <a:gd name="T79" fmla="*/ 181 h 530"/>
                  <a:gd name="T80" fmla="*/ 231 w 296"/>
                  <a:gd name="T81" fmla="*/ 154 h 530"/>
                  <a:gd name="T82" fmla="*/ 250 w 296"/>
                  <a:gd name="T83" fmla="*/ 120 h 530"/>
                  <a:gd name="T84" fmla="*/ 270 w 296"/>
                  <a:gd name="T85" fmla="*/ 98 h 530"/>
                  <a:gd name="T86" fmla="*/ 294 w 296"/>
                  <a:gd name="T87" fmla="*/ 83 h 530"/>
                  <a:gd name="T88" fmla="*/ 287 w 296"/>
                  <a:gd name="T89" fmla="*/ 59 h 530"/>
                  <a:gd name="T90" fmla="*/ 273 w 296"/>
                  <a:gd name="T91" fmla="*/ 80 h 530"/>
                  <a:gd name="T92" fmla="*/ 261 w 296"/>
                  <a:gd name="T93" fmla="*/ 87 h 530"/>
                  <a:gd name="T94" fmla="*/ 243 w 296"/>
                  <a:gd name="T95" fmla="*/ 89 h 530"/>
                  <a:gd name="T96" fmla="*/ 226 w 296"/>
                  <a:gd name="T97" fmla="*/ 80 h 530"/>
                  <a:gd name="T98" fmla="*/ 237 w 296"/>
                  <a:gd name="T99" fmla="*/ 55 h 530"/>
                  <a:gd name="T100" fmla="*/ 186 w 296"/>
                  <a:gd name="T101" fmla="*/ 31 h 530"/>
                  <a:gd name="T102" fmla="*/ 160 w 296"/>
                  <a:gd name="T103" fmla="*/ 4 h 530"/>
                  <a:gd name="T104" fmla="*/ 137 w 296"/>
                  <a:gd name="T105" fmla="*/ 15 h 530"/>
                  <a:gd name="T106" fmla="*/ 112 w 296"/>
                  <a:gd name="T107" fmla="*/ 1 h 530"/>
                  <a:gd name="T108" fmla="*/ 95 w 296"/>
                  <a:gd name="T109" fmla="*/ 16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6" h="530">
                    <a:moveTo>
                      <a:pt x="95" y="16"/>
                    </a:moveTo>
                    <a:cubicBezTo>
                      <a:pt x="95" y="16"/>
                      <a:pt x="95" y="16"/>
                      <a:pt x="95" y="16"/>
                    </a:cubicBezTo>
                    <a:cubicBezTo>
                      <a:pt x="95" y="16"/>
                      <a:pt x="97" y="17"/>
                      <a:pt x="97" y="18"/>
                    </a:cubicBezTo>
                    <a:cubicBezTo>
                      <a:pt x="98" y="18"/>
                      <a:pt x="98" y="18"/>
                      <a:pt x="97" y="19"/>
                    </a:cubicBezTo>
                    <a:cubicBezTo>
                      <a:pt x="97" y="20"/>
                      <a:pt x="94" y="29"/>
                      <a:pt x="94" y="32"/>
                    </a:cubicBezTo>
                    <a:cubicBezTo>
                      <a:pt x="93" y="35"/>
                      <a:pt x="89" y="36"/>
                      <a:pt x="88" y="37"/>
                    </a:cubicBezTo>
                    <a:cubicBezTo>
                      <a:pt x="86" y="37"/>
                      <a:pt x="81" y="40"/>
                      <a:pt x="80" y="40"/>
                    </a:cubicBezTo>
                    <a:cubicBezTo>
                      <a:pt x="79" y="40"/>
                      <a:pt x="77" y="43"/>
                      <a:pt x="77" y="43"/>
                    </a:cubicBezTo>
                    <a:cubicBezTo>
                      <a:pt x="76" y="44"/>
                      <a:pt x="76" y="44"/>
                      <a:pt x="76" y="44"/>
                    </a:cubicBezTo>
                    <a:cubicBezTo>
                      <a:pt x="76" y="44"/>
                      <a:pt x="75" y="44"/>
                      <a:pt x="75" y="46"/>
                    </a:cubicBezTo>
                    <a:cubicBezTo>
                      <a:pt x="74" y="48"/>
                      <a:pt x="76" y="50"/>
                      <a:pt x="77" y="51"/>
                    </a:cubicBezTo>
                    <a:cubicBezTo>
                      <a:pt x="78" y="52"/>
                      <a:pt x="77" y="52"/>
                      <a:pt x="76" y="52"/>
                    </a:cubicBezTo>
                    <a:cubicBezTo>
                      <a:pt x="76" y="52"/>
                      <a:pt x="75" y="53"/>
                      <a:pt x="75" y="54"/>
                    </a:cubicBezTo>
                    <a:cubicBezTo>
                      <a:pt x="75" y="54"/>
                      <a:pt x="75" y="54"/>
                      <a:pt x="75" y="56"/>
                    </a:cubicBezTo>
                    <a:cubicBezTo>
                      <a:pt x="75" y="58"/>
                      <a:pt x="75" y="66"/>
                      <a:pt x="74" y="71"/>
                    </a:cubicBezTo>
                    <a:cubicBezTo>
                      <a:pt x="74" y="75"/>
                      <a:pt x="76" y="77"/>
                      <a:pt x="77" y="78"/>
                    </a:cubicBezTo>
                    <a:cubicBezTo>
                      <a:pt x="77" y="79"/>
                      <a:pt x="78" y="80"/>
                      <a:pt x="78" y="81"/>
                    </a:cubicBezTo>
                    <a:cubicBezTo>
                      <a:pt x="78" y="83"/>
                      <a:pt x="75" y="84"/>
                      <a:pt x="74" y="84"/>
                    </a:cubicBezTo>
                    <a:cubicBezTo>
                      <a:pt x="74" y="84"/>
                      <a:pt x="73" y="84"/>
                      <a:pt x="72" y="84"/>
                    </a:cubicBezTo>
                    <a:cubicBezTo>
                      <a:pt x="71" y="83"/>
                      <a:pt x="70" y="85"/>
                      <a:pt x="70" y="86"/>
                    </a:cubicBezTo>
                    <a:cubicBezTo>
                      <a:pt x="70" y="87"/>
                      <a:pt x="67" y="92"/>
                      <a:pt x="66" y="94"/>
                    </a:cubicBezTo>
                    <a:cubicBezTo>
                      <a:pt x="66" y="95"/>
                      <a:pt x="60" y="103"/>
                      <a:pt x="59" y="104"/>
                    </a:cubicBezTo>
                    <a:cubicBezTo>
                      <a:pt x="58" y="104"/>
                      <a:pt x="58" y="106"/>
                      <a:pt x="58" y="107"/>
                    </a:cubicBezTo>
                    <a:cubicBezTo>
                      <a:pt x="57" y="109"/>
                      <a:pt x="55" y="114"/>
                      <a:pt x="54" y="117"/>
                    </a:cubicBezTo>
                    <a:cubicBezTo>
                      <a:pt x="52" y="120"/>
                      <a:pt x="54" y="124"/>
                      <a:pt x="54" y="125"/>
                    </a:cubicBezTo>
                    <a:cubicBezTo>
                      <a:pt x="54" y="125"/>
                      <a:pt x="54" y="129"/>
                      <a:pt x="54" y="130"/>
                    </a:cubicBezTo>
                    <a:cubicBezTo>
                      <a:pt x="54" y="131"/>
                      <a:pt x="54" y="132"/>
                      <a:pt x="54" y="132"/>
                    </a:cubicBezTo>
                    <a:cubicBezTo>
                      <a:pt x="54" y="132"/>
                      <a:pt x="55" y="132"/>
                      <a:pt x="56" y="132"/>
                    </a:cubicBezTo>
                    <a:cubicBezTo>
                      <a:pt x="56" y="133"/>
                      <a:pt x="55" y="134"/>
                      <a:pt x="53" y="135"/>
                    </a:cubicBezTo>
                    <a:cubicBezTo>
                      <a:pt x="52" y="135"/>
                      <a:pt x="51" y="137"/>
                      <a:pt x="50" y="138"/>
                    </a:cubicBezTo>
                    <a:cubicBezTo>
                      <a:pt x="50" y="138"/>
                      <a:pt x="50" y="140"/>
                      <a:pt x="49" y="141"/>
                    </a:cubicBezTo>
                    <a:cubicBezTo>
                      <a:pt x="49" y="142"/>
                      <a:pt x="49" y="143"/>
                      <a:pt x="49" y="145"/>
                    </a:cubicBezTo>
                    <a:cubicBezTo>
                      <a:pt x="49" y="146"/>
                      <a:pt x="48" y="147"/>
                      <a:pt x="48" y="148"/>
                    </a:cubicBezTo>
                    <a:cubicBezTo>
                      <a:pt x="47" y="148"/>
                      <a:pt x="46" y="149"/>
                      <a:pt x="46" y="149"/>
                    </a:cubicBezTo>
                    <a:cubicBezTo>
                      <a:pt x="46" y="150"/>
                      <a:pt x="46" y="150"/>
                      <a:pt x="45" y="152"/>
                    </a:cubicBezTo>
                    <a:cubicBezTo>
                      <a:pt x="45" y="153"/>
                      <a:pt x="45" y="154"/>
                      <a:pt x="45" y="154"/>
                    </a:cubicBezTo>
                    <a:cubicBezTo>
                      <a:pt x="45" y="154"/>
                      <a:pt x="49" y="160"/>
                      <a:pt x="49" y="161"/>
                    </a:cubicBezTo>
                    <a:cubicBezTo>
                      <a:pt x="49" y="162"/>
                      <a:pt x="49" y="162"/>
                      <a:pt x="48" y="163"/>
                    </a:cubicBezTo>
                    <a:cubicBezTo>
                      <a:pt x="48" y="163"/>
                      <a:pt x="48" y="165"/>
                      <a:pt x="48" y="166"/>
                    </a:cubicBezTo>
                    <a:cubicBezTo>
                      <a:pt x="48" y="167"/>
                      <a:pt x="50" y="169"/>
                      <a:pt x="51" y="170"/>
                    </a:cubicBezTo>
                    <a:cubicBezTo>
                      <a:pt x="51" y="171"/>
                      <a:pt x="51" y="173"/>
                      <a:pt x="52" y="175"/>
                    </a:cubicBezTo>
                    <a:cubicBezTo>
                      <a:pt x="52" y="176"/>
                      <a:pt x="52" y="177"/>
                      <a:pt x="52" y="178"/>
                    </a:cubicBezTo>
                    <a:cubicBezTo>
                      <a:pt x="52" y="179"/>
                      <a:pt x="51" y="179"/>
                      <a:pt x="52" y="182"/>
                    </a:cubicBezTo>
                    <a:cubicBezTo>
                      <a:pt x="53" y="184"/>
                      <a:pt x="55" y="185"/>
                      <a:pt x="56" y="185"/>
                    </a:cubicBezTo>
                    <a:cubicBezTo>
                      <a:pt x="56" y="186"/>
                      <a:pt x="57" y="186"/>
                      <a:pt x="56" y="186"/>
                    </a:cubicBezTo>
                    <a:cubicBezTo>
                      <a:pt x="56" y="187"/>
                      <a:pt x="55" y="192"/>
                      <a:pt x="55" y="194"/>
                    </a:cubicBezTo>
                    <a:cubicBezTo>
                      <a:pt x="55" y="196"/>
                      <a:pt x="55" y="198"/>
                      <a:pt x="55" y="199"/>
                    </a:cubicBezTo>
                    <a:cubicBezTo>
                      <a:pt x="56" y="199"/>
                      <a:pt x="56" y="200"/>
                      <a:pt x="55" y="200"/>
                    </a:cubicBezTo>
                    <a:cubicBezTo>
                      <a:pt x="55" y="200"/>
                      <a:pt x="54" y="200"/>
                      <a:pt x="53" y="200"/>
                    </a:cubicBezTo>
                    <a:cubicBezTo>
                      <a:pt x="53" y="200"/>
                      <a:pt x="52" y="201"/>
                      <a:pt x="52" y="202"/>
                    </a:cubicBezTo>
                    <a:cubicBezTo>
                      <a:pt x="52" y="202"/>
                      <a:pt x="51" y="204"/>
                      <a:pt x="50" y="205"/>
                    </a:cubicBezTo>
                    <a:cubicBezTo>
                      <a:pt x="49" y="207"/>
                      <a:pt x="48" y="211"/>
                      <a:pt x="48" y="212"/>
                    </a:cubicBezTo>
                    <a:cubicBezTo>
                      <a:pt x="48" y="213"/>
                      <a:pt x="47" y="215"/>
                      <a:pt x="47" y="215"/>
                    </a:cubicBezTo>
                    <a:cubicBezTo>
                      <a:pt x="46" y="216"/>
                      <a:pt x="46" y="216"/>
                      <a:pt x="45" y="216"/>
                    </a:cubicBezTo>
                    <a:cubicBezTo>
                      <a:pt x="45" y="216"/>
                      <a:pt x="45" y="217"/>
                      <a:pt x="45" y="218"/>
                    </a:cubicBezTo>
                    <a:cubicBezTo>
                      <a:pt x="45" y="219"/>
                      <a:pt x="46" y="221"/>
                      <a:pt x="47" y="221"/>
                    </a:cubicBezTo>
                    <a:cubicBezTo>
                      <a:pt x="47" y="222"/>
                      <a:pt x="47" y="223"/>
                      <a:pt x="47" y="223"/>
                    </a:cubicBezTo>
                    <a:cubicBezTo>
                      <a:pt x="47" y="223"/>
                      <a:pt x="47" y="230"/>
                      <a:pt x="47" y="231"/>
                    </a:cubicBezTo>
                    <a:cubicBezTo>
                      <a:pt x="47" y="232"/>
                      <a:pt x="46" y="232"/>
                      <a:pt x="45" y="232"/>
                    </a:cubicBezTo>
                    <a:cubicBezTo>
                      <a:pt x="45" y="232"/>
                      <a:pt x="44" y="233"/>
                      <a:pt x="43" y="235"/>
                    </a:cubicBezTo>
                    <a:cubicBezTo>
                      <a:pt x="43" y="237"/>
                      <a:pt x="39" y="237"/>
                      <a:pt x="39" y="238"/>
                    </a:cubicBezTo>
                    <a:cubicBezTo>
                      <a:pt x="38" y="238"/>
                      <a:pt x="38" y="238"/>
                      <a:pt x="38" y="238"/>
                    </a:cubicBezTo>
                    <a:cubicBezTo>
                      <a:pt x="38" y="238"/>
                      <a:pt x="37" y="244"/>
                      <a:pt x="36" y="248"/>
                    </a:cubicBezTo>
                    <a:cubicBezTo>
                      <a:pt x="36" y="252"/>
                      <a:pt x="37" y="259"/>
                      <a:pt x="37" y="261"/>
                    </a:cubicBezTo>
                    <a:cubicBezTo>
                      <a:pt x="37" y="262"/>
                      <a:pt x="40" y="273"/>
                      <a:pt x="40" y="274"/>
                    </a:cubicBezTo>
                    <a:cubicBezTo>
                      <a:pt x="40" y="276"/>
                      <a:pt x="40" y="276"/>
                      <a:pt x="40" y="276"/>
                    </a:cubicBezTo>
                    <a:cubicBezTo>
                      <a:pt x="40" y="276"/>
                      <a:pt x="34" y="278"/>
                      <a:pt x="33" y="279"/>
                    </a:cubicBezTo>
                    <a:cubicBezTo>
                      <a:pt x="33" y="279"/>
                      <a:pt x="33" y="280"/>
                      <a:pt x="33" y="280"/>
                    </a:cubicBezTo>
                    <a:cubicBezTo>
                      <a:pt x="33" y="280"/>
                      <a:pt x="32" y="287"/>
                      <a:pt x="31" y="290"/>
                    </a:cubicBezTo>
                    <a:cubicBezTo>
                      <a:pt x="31" y="292"/>
                      <a:pt x="30" y="292"/>
                      <a:pt x="29" y="291"/>
                    </a:cubicBezTo>
                    <a:cubicBezTo>
                      <a:pt x="29" y="291"/>
                      <a:pt x="29" y="292"/>
                      <a:pt x="29" y="292"/>
                    </a:cubicBezTo>
                    <a:cubicBezTo>
                      <a:pt x="29" y="292"/>
                      <a:pt x="28" y="298"/>
                      <a:pt x="29" y="298"/>
                    </a:cubicBezTo>
                    <a:cubicBezTo>
                      <a:pt x="29" y="299"/>
                      <a:pt x="28" y="300"/>
                      <a:pt x="28" y="300"/>
                    </a:cubicBezTo>
                    <a:cubicBezTo>
                      <a:pt x="28" y="300"/>
                      <a:pt x="27" y="299"/>
                      <a:pt x="27" y="300"/>
                    </a:cubicBezTo>
                    <a:cubicBezTo>
                      <a:pt x="26" y="302"/>
                      <a:pt x="27" y="304"/>
                      <a:pt x="28" y="304"/>
                    </a:cubicBezTo>
                    <a:cubicBezTo>
                      <a:pt x="28" y="305"/>
                      <a:pt x="28" y="306"/>
                      <a:pt x="27" y="306"/>
                    </a:cubicBezTo>
                    <a:cubicBezTo>
                      <a:pt x="26" y="307"/>
                      <a:pt x="25" y="309"/>
                      <a:pt x="25" y="310"/>
                    </a:cubicBezTo>
                    <a:cubicBezTo>
                      <a:pt x="25" y="310"/>
                      <a:pt x="25" y="311"/>
                      <a:pt x="25" y="313"/>
                    </a:cubicBezTo>
                    <a:cubicBezTo>
                      <a:pt x="25" y="315"/>
                      <a:pt x="26" y="316"/>
                      <a:pt x="25" y="321"/>
                    </a:cubicBezTo>
                    <a:cubicBezTo>
                      <a:pt x="24" y="326"/>
                      <a:pt x="25" y="329"/>
                      <a:pt x="27" y="333"/>
                    </a:cubicBezTo>
                    <a:cubicBezTo>
                      <a:pt x="28" y="337"/>
                      <a:pt x="24" y="337"/>
                      <a:pt x="23" y="337"/>
                    </a:cubicBezTo>
                    <a:cubicBezTo>
                      <a:pt x="22" y="337"/>
                      <a:pt x="23" y="338"/>
                      <a:pt x="23" y="338"/>
                    </a:cubicBezTo>
                    <a:cubicBezTo>
                      <a:pt x="23" y="338"/>
                      <a:pt x="22" y="341"/>
                      <a:pt x="22" y="343"/>
                    </a:cubicBezTo>
                    <a:cubicBezTo>
                      <a:pt x="22" y="346"/>
                      <a:pt x="21" y="350"/>
                      <a:pt x="21" y="352"/>
                    </a:cubicBezTo>
                    <a:cubicBezTo>
                      <a:pt x="22" y="353"/>
                      <a:pt x="23" y="354"/>
                      <a:pt x="25" y="354"/>
                    </a:cubicBezTo>
                    <a:cubicBezTo>
                      <a:pt x="26" y="354"/>
                      <a:pt x="27" y="355"/>
                      <a:pt x="27" y="356"/>
                    </a:cubicBezTo>
                    <a:cubicBezTo>
                      <a:pt x="27" y="356"/>
                      <a:pt x="27" y="357"/>
                      <a:pt x="27" y="357"/>
                    </a:cubicBezTo>
                    <a:cubicBezTo>
                      <a:pt x="26" y="357"/>
                      <a:pt x="26" y="358"/>
                      <a:pt x="25" y="359"/>
                    </a:cubicBezTo>
                    <a:cubicBezTo>
                      <a:pt x="24" y="360"/>
                      <a:pt x="26" y="361"/>
                      <a:pt x="26" y="361"/>
                    </a:cubicBezTo>
                    <a:cubicBezTo>
                      <a:pt x="27" y="362"/>
                      <a:pt x="27" y="363"/>
                      <a:pt x="27" y="363"/>
                    </a:cubicBezTo>
                    <a:cubicBezTo>
                      <a:pt x="27" y="363"/>
                      <a:pt x="28" y="367"/>
                      <a:pt x="29" y="368"/>
                    </a:cubicBezTo>
                    <a:cubicBezTo>
                      <a:pt x="29" y="369"/>
                      <a:pt x="28" y="369"/>
                      <a:pt x="27" y="370"/>
                    </a:cubicBezTo>
                    <a:cubicBezTo>
                      <a:pt x="27" y="372"/>
                      <a:pt x="26" y="376"/>
                      <a:pt x="26" y="377"/>
                    </a:cubicBezTo>
                    <a:cubicBezTo>
                      <a:pt x="26" y="378"/>
                      <a:pt x="27" y="377"/>
                      <a:pt x="27" y="377"/>
                    </a:cubicBezTo>
                    <a:cubicBezTo>
                      <a:pt x="28" y="377"/>
                      <a:pt x="31" y="377"/>
                      <a:pt x="35" y="378"/>
                    </a:cubicBezTo>
                    <a:cubicBezTo>
                      <a:pt x="38" y="379"/>
                      <a:pt x="36" y="381"/>
                      <a:pt x="36" y="381"/>
                    </a:cubicBezTo>
                    <a:cubicBezTo>
                      <a:pt x="35" y="381"/>
                      <a:pt x="35" y="381"/>
                      <a:pt x="35" y="383"/>
                    </a:cubicBezTo>
                    <a:cubicBezTo>
                      <a:pt x="34" y="384"/>
                      <a:pt x="32" y="384"/>
                      <a:pt x="32" y="384"/>
                    </a:cubicBezTo>
                    <a:cubicBezTo>
                      <a:pt x="31" y="384"/>
                      <a:pt x="24" y="384"/>
                      <a:pt x="23" y="384"/>
                    </a:cubicBezTo>
                    <a:cubicBezTo>
                      <a:pt x="22" y="384"/>
                      <a:pt x="22" y="385"/>
                      <a:pt x="23" y="386"/>
                    </a:cubicBezTo>
                    <a:cubicBezTo>
                      <a:pt x="23" y="387"/>
                      <a:pt x="24" y="387"/>
                      <a:pt x="27" y="387"/>
                    </a:cubicBezTo>
                    <a:cubicBezTo>
                      <a:pt x="29" y="388"/>
                      <a:pt x="30" y="388"/>
                      <a:pt x="30" y="389"/>
                    </a:cubicBezTo>
                    <a:cubicBezTo>
                      <a:pt x="31" y="390"/>
                      <a:pt x="32" y="391"/>
                      <a:pt x="33" y="392"/>
                    </a:cubicBezTo>
                    <a:cubicBezTo>
                      <a:pt x="34" y="393"/>
                      <a:pt x="33" y="394"/>
                      <a:pt x="33" y="395"/>
                    </a:cubicBezTo>
                    <a:cubicBezTo>
                      <a:pt x="32" y="395"/>
                      <a:pt x="32" y="396"/>
                      <a:pt x="31" y="397"/>
                    </a:cubicBezTo>
                    <a:cubicBezTo>
                      <a:pt x="30" y="398"/>
                      <a:pt x="30" y="397"/>
                      <a:pt x="28" y="399"/>
                    </a:cubicBezTo>
                    <a:cubicBezTo>
                      <a:pt x="25" y="400"/>
                      <a:pt x="27" y="404"/>
                      <a:pt x="28" y="405"/>
                    </a:cubicBezTo>
                    <a:cubicBezTo>
                      <a:pt x="29" y="407"/>
                      <a:pt x="28" y="407"/>
                      <a:pt x="28" y="407"/>
                    </a:cubicBezTo>
                    <a:cubicBezTo>
                      <a:pt x="28" y="407"/>
                      <a:pt x="27" y="409"/>
                      <a:pt x="26" y="409"/>
                    </a:cubicBezTo>
                    <a:cubicBezTo>
                      <a:pt x="26" y="410"/>
                      <a:pt x="26" y="411"/>
                      <a:pt x="26" y="411"/>
                    </a:cubicBezTo>
                    <a:cubicBezTo>
                      <a:pt x="26" y="411"/>
                      <a:pt x="27" y="412"/>
                      <a:pt x="28" y="416"/>
                    </a:cubicBezTo>
                    <a:cubicBezTo>
                      <a:pt x="29" y="420"/>
                      <a:pt x="26" y="423"/>
                      <a:pt x="25" y="423"/>
                    </a:cubicBezTo>
                    <a:cubicBezTo>
                      <a:pt x="24" y="424"/>
                      <a:pt x="24" y="425"/>
                      <a:pt x="24" y="425"/>
                    </a:cubicBezTo>
                    <a:cubicBezTo>
                      <a:pt x="24" y="425"/>
                      <a:pt x="25" y="428"/>
                      <a:pt x="25" y="428"/>
                    </a:cubicBezTo>
                    <a:cubicBezTo>
                      <a:pt x="25" y="429"/>
                      <a:pt x="25" y="430"/>
                      <a:pt x="24" y="430"/>
                    </a:cubicBezTo>
                    <a:cubicBezTo>
                      <a:pt x="24" y="430"/>
                      <a:pt x="19" y="433"/>
                      <a:pt x="18" y="433"/>
                    </a:cubicBezTo>
                    <a:cubicBezTo>
                      <a:pt x="18" y="434"/>
                      <a:pt x="18" y="434"/>
                      <a:pt x="19" y="435"/>
                    </a:cubicBezTo>
                    <a:cubicBezTo>
                      <a:pt x="19" y="436"/>
                      <a:pt x="19" y="436"/>
                      <a:pt x="17" y="439"/>
                    </a:cubicBezTo>
                    <a:cubicBezTo>
                      <a:pt x="15" y="442"/>
                      <a:pt x="16" y="443"/>
                      <a:pt x="17" y="444"/>
                    </a:cubicBezTo>
                    <a:cubicBezTo>
                      <a:pt x="19" y="446"/>
                      <a:pt x="19" y="447"/>
                      <a:pt x="19" y="449"/>
                    </a:cubicBezTo>
                    <a:cubicBezTo>
                      <a:pt x="20" y="450"/>
                      <a:pt x="17" y="452"/>
                      <a:pt x="16" y="452"/>
                    </a:cubicBezTo>
                    <a:cubicBezTo>
                      <a:pt x="15" y="452"/>
                      <a:pt x="15" y="453"/>
                      <a:pt x="15" y="453"/>
                    </a:cubicBezTo>
                    <a:cubicBezTo>
                      <a:pt x="15" y="455"/>
                      <a:pt x="15" y="455"/>
                      <a:pt x="15" y="455"/>
                    </a:cubicBezTo>
                    <a:cubicBezTo>
                      <a:pt x="15" y="460"/>
                      <a:pt x="14" y="460"/>
                      <a:pt x="13" y="461"/>
                    </a:cubicBezTo>
                    <a:cubicBezTo>
                      <a:pt x="11" y="463"/>
                      <a:pt x="7" y="467"/>
                      <a:pt x="7" y="468"/>
                    </a:cubicBezTo>
                    <a:cubicBezTo>
                      <a:pt x="6" y="468"/>
                      <a:pt x="4" y="468"/>
                      <a:pt x="2" y="469"/>
                    </a:cubicBezTo>
                    <a:cubicBezTo>
                      <a:pt x="1" y="470"/>
                      <a:pt x="0" y="472"/>
                      <a:pt x="0" y="472"/>
                    </a:cubicBezTo>
                    <a:cubicBezTo>
                      <a:pt x="0" y="473"/>
                      <a:pt x="0" y="474"/>
                      <a:pt x="0" y="474"/>
                    </a:cubicBezTo>
                    <a:cubicBezTo>
                      <a:pt x="1" y="474"/>
                      <a:pt x="1" y="474"/>
                      <a:pt x="1" y="475"/>
                    </a:cubicBezTo>
                    <a:cubicBezTo>
                      <a:pt x="1" y="476"/>
                      <a:pt x="0" y="479"/>
                      <a:pt x="0" y="482"/>
                    </a:cubicBezTo>
                    <a:cubicBezTo>
                      <a:pt x="0" y="485"/>
                      <a:pt x="1" y="486"/>
                      <a:pt x="3" y="487"/>
                    </a:cubicBezTo>
                    <a:cubicBezTo>
                      <a:pt x="4" y="488"/>
                      <a:pt x="4" y="491"/>
                      <a:pt x="5" y="495"/>
                    </a:cubicBezTo>
                    <a:cubicBezTo>
                      <a:pt x="6" y="499"/>
                      <a:pt x="8" y="497"/>
                      <a:pt x="10" y="496"/>
                    </a:cubicBezTo>
                    <a:cubicBezTo>
                      <a:pt x="11" y="494"/>
                      <a:pt x="12" y="495"/>
                      <a:pt x="13" y="495"/>
                    </a:cubicBezTo>
                    <a:cubicBezTo>
                      <a:pt x="14" y="495"/>
                      <a:pt x="14" y="495"/>
                      <a:pt x="15" y="495"/>
                    </a:cubicBezTo>
                    <a:cubicBezTo>
                      <a:pt x="16" y="494"/>
                      <a:pt x="17" y="494"/>
                      <a:pt x="18" y="494"/>
                    </a:cubicBezTo>
                    <a:cubicBezTo>
                      <a:pt x="19" y="495"/>
                      <a:pt x="19" y="496"/>
                      <a:pt x="19" y="496"/>
                    </a:cubicBezTo>
                    <a:cubicBezTo>
                      <a:pt x="19" y="496"/>
                      <a:pt x="19" y="498"/>
                      <a:pt x="19" y="500"/>
                    </a:cubicBezTo>
                    <a:cubicBezTo>
                      <a:pt x="20" y="502"/>
                      <a:pt x="19" y="502"/>
                      <a:pt x="18" y="503"/>
                    </a:cubicBezTo>
                    <a:cubicBezTo>
                      <a:pt x="17" y="505"/>
                      <a:pt x="18" y="505"/>
                      <a:pt x="19" y="506"/>
                    </a:cubicBezTo>
                    <a:cubicBezTo>
                      <a:pt x="20" y="508"/>
                      <a:pt x="19" y="510"/>
                      <a:pt x="18" y="512"/>
                    </a:cubicBezTo>
                    <a:cubicBezTo>
                      <a:pt x="17" y="513"/>
                      <a:pt x="17" y="513"/>
                      <a:pt x="18" y="513"/>
                    </a:cubicBezTo>
                    <a:cubicBezTo>
                      <a:pt x="18" y="513"/>
                      <a:pt x="18" y="513"/>
                      <a:pt x="18" y="514"/>
                    </a:cubicBezTo>
                    <a:cubicBezTo>
                      <a:pt x="18" y="514"/>
                      <a:pt x="19" y="515"/>
                      <a:pt x="20" y="516"/>
                    </a:cubicBezTo>
                    <a:cubicBezTo>
                      <a:pt x="22" y="517"/>
                      <a:pt x="22" y="517"/>
                      <a:pt x="24" y="519"/>
                    </a:cubicBezTo>
                    <a:cubicBezTo>
                      <a:pt x="25" y="522"/>
                      <a:pt x="27" y="521"/>
                      <a:pt x="27" y="521"/>
                    </a:cubicBezTo>
                    <a:cubicBezTo>
                      <a:pt x="27" y="521"/>
                      <a:pt x="48" y="521"/>
                      <a:pt x="51" y="521"/>
                    </a:cubicBezTo>
                    <a:cubicBezTo>
                      <a:pt x="53" y="521"/>
                      <a:pt x="57" y="523"/>
                      <a:pt x="58" y="523"/>
                    </a:cubicBezTo>
                    <a:cubicBezTo>
                      <a:pt x="60" y="524"/>
                      <a:pt x="65" y="524"/>
                      <a:pt x="68" y="525"/>
                    </a:cubicBezTo>
                    <a:cubicBezTo>
                      <a:pt x="69" y="526"/>
                      <a:pt x="71" y="527"/>
                      <a:pt x="72" y="527"/>
                    </a:cubicBezTo>
                    <a:cubicBezTo>
                      <a:pt x="72" y="527"/>
                      <a:pt x="73" y="527"/>
                      <a:pt x="73" y="528"/>
                    </a:cubicBezTo>
                    <a:cubicBezTo>
                      <a:pt x="74" y="528"/>
                      <a:pt x="77" y="530"/>
                      <a:pt x="76" y="529"/>
                    </a:cubicBezTo>
                    <a:cubicBezTo>
                      <a:pt x="76" y="528"/>
                      <a:pt x="70" y="517"/>
                      <a:pt x="70" y="516"/>
                    </a:cubicBezTo>
                    <a:cubicBezTo>
                      <a:pt x="69" y="515"/>
                      <a:pt x="69" y="514"/>
                      <a:pt x="68" y="514"/>
                    </a:cubicBezTo>
                    <a:cubicBezTo>
                      <a:pt x="67" y="515"/>
                      <a:pt x="66" y="515"/>
                      <a:pt x="65" y="514"/>
                    </a:cubicBezTo>
                    <a:cubicBezTo>
                      <a:pt x="64" y="514"/>
                      <a:pt x="63" y="514"/>
                      <a:pt x="62" y="514"/>
                    </a:cubicBezTo>
                    <a:cubicBezTo>
                      <a:pt x="61" y="514"/>
                      <a:pt x="61" y="513"/>
                      <a:pt x="63" y="513"/>
                    </a:cubicBezTo>
                    <a:cubicBezTo>
                      <a:pt x="66" y="513"/>
                      <a:pt x="66" y="514"/>
                      <a:pt x="67" y="513"/>
                    </a:cubicBezTo>
                    <a:cubicBezTo>
                      <a:pt x="68" y="513"/>
                      <a:pt x="68" y="514"/>
                      <a:pt x="68" y="511"/>
                    </a:cubicBezTo>
                    <a:cubicBezTo>
                      <a:pt x="68" y="509"/>
                      <a:pt x="66" y="502"/>
                      <a:pt x="66" y="502"/>
                    </a:cubicBezTo>
                    <a:cubicBezTo>
                      <a:pt x="66" y="502"/>
                      <a:pt x="65" y="501"/>
                      <a:pt x="64" y="502"/>
                    </a:cubicBezTo>
                    <a:cubicBezTo>
                      <a:pt x="63" y="503"/>
                      <a:pt x="62" y="503"/>
                      <a:pt x="64" y="501"/>
                    </a:cubicBezTo>
                    <a:cubicBezTo>
                      <a:pt x="67" y="499"/>
                      <a:pt x="66" y="499"/>
                      <a:pt x="66" y="498"/>
                    </a:cubicBezTo>
                    <a:cubicBezTo>
                      <a:pt x="66" y="496"/>
                      <a:pt x="67" y="494"/>
                      <a:pt x="68" y="493"/>
                    </a:cubicBezTo>
                    <a:cubicBezTo>
                      <a:pt x="69" y="492"/>
                      <a:pt x="70" y="488"/>
                      <a:pt x="73" y="487"/>
                    </a:cubicBezTo>
                    <a:cubicBezTo>
                      <a:pt x="76" y="487"/>
                      <a:pt x="78" y="486"/>
                      <a:pt x="77" y="485"/>
                    </a:cubicBezTo>
                    <a:cubicBezTo>
                      <a:pt x="77" y="485"/>
                      <a:pt x="75" y="482"/>
                      <a:pt x="73" y="482"/>
                    </a:cubicBezTo>
                    <a:cubicBezTo>
                      <a:pt x="71" y="483"/>
                      <a:pt x="69" y="482"/>
                      <a:pt x="72" y="482"/>
                    </a:cubicBezTo>
                    <a:cubicBezTo>
                      <a:pt x="76" y="481"/>
                      <a:pt x="73" y="478"/>
                      <a:pt x="73" y="478"/>
                    </a:cubicBezTo>
                    <a:cubicBezTo>
                      <a:pt x="73" y="478"/>
                      <a:pt x="73" y="476"/>
                      <a:pt x="75" y="480"/>
                    </a:cubicBezTo>
                    <a:cubicBezTo>
                      <a:pt x="77" y="484"/>
                      <a:pt x="77" y="484"/>
                      <a:pt x="80" y="484"/>
                    </a:cubicBezTo>
                    <a:cubicBezTo>
                      <a:pt x="82" y="483"/>
                      <a:pt x="87" y="482"/>
                      <a:pt x="87" y="479"/>
                    </a:cubicBezTo>
                    <a:cubicBezTo>
                      <a:pt x="87" y="476"/>
                      <a:pt x="88" y="473"/>
                      <a:pt x="88" y="472"/>
                    </a:cubicBezTo>
                    <a:cubicBezTo>
                      <a:pt x="88" y="470"/>
                      <a:pt x="89" y="467"/>
                      <a:pt x="88" y="469"/>
                    </a:cubicBezTo>
                    <a:cubicBezTo>
                      <a:pt x="87" y="470"/>
                      <a:pt x="85" y="470"/>
                      <a:pt x="87" y="468"/>
                    </a:cubicBezTo>
                    <a:cubicBezTo>
                      <a:pt x="88" y="466"/>
                      <a:pt x="95" y="457"/>
                      <a:pt x="101" y="454"/>
                    </a:cubicBezTo>
                    <a:cubicBezTo>
                      <a:pt x="107" y="451"/>
                      <a:pt x="113" y="447"/>
                      <a:pt x="114" y="446"/>
                    </a:cubicBezTo>
                    <a:cubicBezTo>
                      <a:pt x="115" y="444"/>
                      <a:pt x="116" y="444"/>
                      <a:pt x="115" y="443"/>
                    </a:cubicBezTo>
                    <a:cubicBezTo>
                      <a:pt x="114" y="442"/>
                      <a:pt x="115" y="441"/>
                      <a:pt x="114" y="440"/>
                    </a:cubicBezTo>
                    <a:cubicBezTo>
                      <a:pt x="114" y="440"/>
                      <a:pt x="113" y="440"/>
                      <a:pt x="114" y="439"/>
                    </a:cubicBezTo>
                    <a:cubicBezTo>
                      <a:pt x="115" y="439"/>
                      <a:pt x="117" y="433"/>
                      <a:pt x="117" y="431"/>
                    </a:cubicBezTo>
                    <a:cubicBezTo>
                      <a:pt x="116" y="429"/>
                      <a:pt x="116" y="429"/>
                      <a:pt x="114" y="428"/>
                    </a:cubicBezTo>
                    <a:cubicBezTo>
                      <a:pt x="112" y="428"/>
                      <a:pt x="101" y="426"/>
                      <a:pt x="98" y="423"/>
                    </a:cubicBezTo>
                    <a:cubicBezTo>
                      <a:pt x="96" y="420"/>
                      <a:pt x="86" y="414"/>
                      <a:pt x="89" y="407"/>
                    </a:cubicBezTo>
                    <a:cubicBezTo>
                      <a:pt x="93" y="400"/>
                      <a:pt x="96" y="395"/>
                      <a:pt x="97" y="394"/>
                    </a:cubicBezTo>
                    <a:cubicBezTo>
                      <a:pt x="98" y="393"/>
                      <a:pt x="102" y="391"/>
                      <a:pt x="104" y="390"/>
                    </a:cubicBezTo>
                    <a:cubicBezTo>
                      <a:pt x="106" y="389"/>
                      <a:pt x="110" y="387"/>
                      <a:pt x="113" y="388"/>
                    </a:cubicBezTo>
                    <a:cubicBezTo>
                      <a:pt x="116" y="388"/>
                      <a:pt x="120" y="390"/>
                      <a:pt x="119" y="386"/>
                    </a:cubicBezTo>
                    <a:cubicBezTo>
                      <a:pt x="118" y="382"/>
                      <a:pt x="117" y="383"/>
                      <a:pt x="120" y="381"/>
                    </a:cubicBezTo>
                    <a:cubicBezTo>
                      <a:pt x="123" y="379"/>
                      <a:pt x="125" y="376"/>
                      <a:pt x="125" y="371"/>
                    </a:cubicBezTo>
                    <a:cubicBezTo>
                      <a:pt x="124" y="366"/>
                      <a:pt x="122" y="369"/>
                      <a:pt x="124" y="365"/>
                    </a:cubicBezTo>
                    <a:cubicBezTo>
                      <a:pt x="125" y="361"/>
                      <a:pt x="127" y="356"/>
                      <a:pt x="131" y="355"/>
                    </a:cubicBezTo>
                    <a:cubicBezTo>
                      <a:pt x="135" y="353"/>
                      <a:pt x="139" y="351"/>
                      <a:pt x="138" y="351"/>
                    </a:cubicBezTo>
                    <a:cubicBezTo>
                      <a:pt x="137" y="351"/>
                      <a:pt x="135" y="352"/>
                      <a:pt x="132" y="350"/>
                    </a:cubicBezTo>
                    <a:cubicBezTo>
                      <a:pt x="128" y="348"/>
                      <a:pt x="126" y="347"/>
                      <a:pt x="129" y="345"/>
                    </a:cubicBezTo>
                    <a:cubicBezTo>
                      <a:pt x="131" y="344"/>
                      <a:pt x="137" y="341"/>
                      <a:pt x="139" y="345"/>
                    </a:cubicBezTo>
                    <a:cubicBezTo>
                      <a:pt x="139" y="345"/>
                      <a:pt x="139" y="346"/>
                      <a:pt x="139" y="346"/>
                    </a:cubicBezTo>
                    <a:cubicBezTo>
                      <a:pt x="139" y="347"/>
                      <a:pt x="139" y="346"/>
                      <a:pt x="140" y="347"/>
                    </a:cubicBezTo>
                    <a:cubicBezTo>
                      <a:pt x="141" y="347"/>
                      <a:pt x="146" y="347"/>
                      <a:pt x="147" y="347"/>
                    </a:cubicBezTo>
                    <a:cubicBezTo>
                      <a:pt x="148" y="347"/>
                      <a:pt x="148" y="347"/>
                      <a:pt x="148" y="346"/>
                    </a:cubicBezTo>
                    <a:cubicBezTo>
                      <a:pt x="148" y="344"/>
                      <a:pt x="149" y="336"/>
                      <a:pt x="146" y="336"/>
                    </a:cubicBezTo>
                    <a:cubicBezTo>
                      <a:pt x="144" y="336"/>
                      <a:pt x="141" y="337"/>
                      <a:pt x="139" y="338"/>
                    </a:cubicBezTo>
                    <a:cubicBezTo>
                      <a:pt x="137" y="338"/>
                      <a:pt x="138" y="339"/>
                      <a:pt x="140" y="339"/>
                    </a:cubicBezTo>
                    <a:cubicBezTo>
                      <a:pt x="142" y="339"/>
                      <a:pt x="142" y="341"/>
                      <a:pt x="140" y="341"/>
                    </a:cubicBezTo>
                    <a:cubicBezTo>
                      <a:pt x="138" y="341"/>
                      <a:pt x="134" y="342"/>
                      <a:pt x="134" y="341"/>
                    </a:cubicBezTo>
                    <a:cubicBezTo>
                      <a:pt x="134" y="340"/>
                      <a:pt x="131" y="337"/>
                      <a:pt x="128" y="336"/>
                    </a:cubicBezTo>
                    <a:cubicBezTo>
                      <a:pt x="126" y="334"/>
                      <a:pt x="127" y="333"/>
                      <a:pt x="127" y="331"/>
                    </a:cubicBezTo>
                    <a:cubicBezTo>
                      <a:pt x="128" y="329"/>
                      <a:pt x="128" y="323"/>
                      <a:pt x="126" y="318"/>
                    </a:cubicBezTo>
                    <a:cubicBezTo>
                      <a:pt x="124" y="312"/>
                      <a:pt x="128" y="311"/>
                      <a:pt x="129" y="311"/>
                    </a:cubicBezTo>
                    <a:cubicBezTo>
                      <a:pt x="129" y="311"/>
                      <a:pt x="132" y="312"/>
                      <a:pt x="131" y="313"/>
                    </a:cubicBezTo>
                    <a:cubicBezTo>
                      <a:pt x="129" y="313"/>
                      <a:pt x="128" y="313"/>
                      <a:pt x="131" y="313"/>
                    </a:cubicBezTo>
                    <a:cubicBezTo>
                      <a:pt x="134" y="313"/>
                      <a:pt x="136" y="314"/>
                      <a:pt x="137" y="315"/>
                    </a:cubicBezTo>
                    <a:cubicBezTo>
                      <a:pt x="138" y="316"/>
                      <a:pt x="146" y="319"/>
                      <a:pt x="148" y="319"/>
                    </a:cubicBezTo>
                    <a:cubicBezTo>
                      <a:pt x="151" y="319"/>
                      <a:pt x="153" y="319"/>
                      <a:pt x="155" y="319"/>
                    </a:cubicBezTo>
                    <a:cubicBezTo>
                      <a:pt x="157" y="319"/>
                      <a:pt x="158" y="318"/>
                      <a:pt x="160" y="317"/>
                    </a:cubicBezTo>
                    <a:cubicBezTo>
                      <a:pt x="162" y="315"/>
                      <a:pt x="164" y="316"/>
                      <a:pt x="166" y="315"/>
                    </a:cubicBezTo>
                    <a:cubicBezTo>
                      <a:pt x="167" y="314"/>
                      <a:pt x="169" y="311"/>
                      <a:pt x="169" y="310"/>
                    </a:cubicBezTo>
                    <a:cubicBezTo>
                      <a:pt x="169" y="310"/>
                      <a:pt x="169" y="310"/>
                      <a:pt x="168" y="308"/>
                    </a:cubicBezTo>
                    <a:cubicBezTo>
                      <a:pt x="167" y="306"/>
                      <a:pt x="165" y="305"/>
                      <a:pt x="166" y="303"/>
                    </a:cubicBezTo>
                    <a:cubicBezTo>
                      <a:pt x="167" y="301"/>
                      <a:pt x="167" y="299"/>
                      <a:pt x="168" y="297"/>
                    </a:cubicBezTo>
                    <a:cubicBezTo>
                      <a:pt x="168" y="295"/>
                      <a:pt x="167" y="296"/>
                      <a:pt x="168" y="296"/>
                    </a:cubicBezTo>
                    <a:cubicBezTo>
                      <a:pt x="169" y="295"/>
                      <a:pt x="170" y="294"/>
                      <a:pt x="170" y="293"/>
                    </a:cubicBezTo>
                    <a:cubicBezTo>
                      <a:pt x="171" y="292"/>
                      <a:pt x="172" y="289"/>
                      <a:pt x="170" y="288"/>
                    </a:cubicBezTo>
                    <a:cubicBezTo>
                      <a:pt x="167" y="287"/>
                      <a:pt x="168" y="286"/>
                      <a:pt x="170" y="287"/>
                    </a:cubicBezTo>
                    <a:cubicBezTo>
                      <a:pt x="171" y="287"/>
                      <a:pt x="173" y="288"/>
                      <a:pt x="171" y="287"/>
                    </a:cubicBezTo>
                    <a:cubicBezTo>
                      <a:pt x="169" y="285"/>
                      <a:pt x="168" y="286"/>
                      <a:pt x="167" y="284"/>
                    </a:cubicBezTo>
                    <a:cubicBezTo>
                      <a:pt x="167" y="282"/>
                      <a:pt x="165" y="277"/>
                      <a:pt x="167" y="278"/>
                    </a:cubicBezTo>
                    <a:cubicBezTo>
                      <a:pt x="169" y="279"/>
                      <a:pt x="183" y="280"/>
                      <a:pt x="188" y="280"/>
                    </a:cubicBezTo>
                    <a:cubicBezTo>
                      <a:pt x="193" y="280"/>
                      <a:pt x="212" y="277"/>
                      <a:pt x="219" y="274"/>
                    </a:cubicBezTo>
                    <a:cubicBezTo>
                      <a:pt x="226" y="272"/>
                      <a:pt x="233" y="271"/>
                      <a:pt x="236" y="266"/>
                    </a:cubicBezTo>
                    <a:cubicBezTo>
                      <a:pt x="239" y="261"/>
                      <a:pt x="247" y="252"/>
                      <a:pt x="249" y="248"/>
                    </a:cubicBezTo>
                    <a:cubicBezTo>
                      <a:pt x="252" y="244"/>
                      <a:pt x="252" y="244"/>
                      <a:pt x="251" y="240"/>
                    </a:cubicBezTo>
                    <a:cubicBezTo>
                      <a:pt x="251" y="235"/>
                      <a:pt x="251" y="235"/>
                      <a:pt x="250" y="235"/>
                    </a:cubicBezTo>
                    <a:cubicBezTo>
                      <a:pt x="249" y="236"/>
                      <a:pt x="244" y="236"/>
                      <a:pt x="243" y="232"/>
                    </a:cubicBezTo>
                    <a:cubicBezTo>
                      <a:pt x="242" y="229"/>
                      <a:pt x="241" y="226"/>
                      <a:pt x="242" y="224"/>
                    </a:cubicBezTo>
                    <a:cubicBezTo>
                      <a:pt x="244" y="222"/>
                      <a:pt x="246" y="218"/>
                      <a:pt x="241" y="215"/>
                    </a:cubicBezTo>
                    <a:cubicBezTo>
                      <a:pt x="236" y="211"/>
                      <a:pt x="224" y="208"/>
                      <a:pt x="224" y="202"/>
                    </a:cubicBezTo>
                    <a:cubicBezTo>
                      <a:pt x="224" y="196"/>
                      <a:pt x="224" y="194"/>
                      <a:pt x="224" y="192"/>
                    </a:cubicBezTo>
                    <a:cubicBezTo>
                      <a:pt x="223" y="190"/>
                      <a:pt x="224" y="187"/>
                      <a:pt x="224" y="186"/>
                    </a:cubicBezTo>
                    <a:cubicBezTo>
                      <a:pt x="224" y="186"/>
                      <a:pt x="225" y="182"/>
                      <a:pt x="227" y="181"/>
                    </a:cubicBezTo>
                    <a:cubicBezTo>
                      <a:pt x="227" y="181"/>
                      <a:pt x="230" y="181"/>
                      <a:pt x="230" y="178"/>
                    </a:cubicBezTo>
                    <a:cubicBezTo>
                      <a:pt x="229" y="176"/>
                      <a:pt x="228" y="169"/>
                      <a:pt x="229" y="171"/>
                    </a:cubicBezTo>
                    <a:cubicBezTo>
                      <a:pt x="229" y="170"/>
                      <a:pt x="229" y="169"/>
                      <a:pt x="229" y="168"/>
                    </a:cubicBezTo>
                    <a:cubicBezTo>
                      <a:pt x="229" y="165"/>
                      <a:pt x="228" y="161"/>
                      <a:pt x="229" y="160"/>
                    </a:cubicBezTo>
                    <a:cubicBezTo>
                      <a:pt x="230" y="159"/>
                      <a:pt x="231" y="159"/>
                      <a:pt x="231" y="158"/>
                    </a:cubicBezTo>
                    <a:cubicBezTo>
                      <a:pt x="231" y="158"/>
                      <a:pt x="231" y="155"/>
                      <a:pt x="231" y="154"/>
                    </a:cubicBezTo>
                    <a:cubicBezTo>
                      <a:pt x="231" y="153"/>
                      <a:pt x="232" y="152"/>
                      <a:pt x="233" y="149"/>
                    </a:cubicBezTo>
                    <a:cubicBezTo>
                      <a:pt x="234" y="146"/>
                      <a:pt x="235" y="143"/>
                      <a:pt x="234" y="142"/>
                    </a:cubicBezTo>
                    <a:cubicBezTo>
                      <a:pt x="234" y="140"/>
                      <a:pt x="233" y="139"/>
                      <a:pt x="234" y="137"/>
                    </a:cubicBezTo>
                    <a:cubicBezTo>
                      <a:pt x="234" y="136"/>
                      <a:pt x="236" y="134"/>
                      <a:pt x="237" y="133"/>
                    </a:cubicBezTo>
                    <a:cubicBezTo>
                      <a:pt x="238" y="132"/>
                      <a:pt x="239" y="131"/>
                      <a:pt x="239" y="131"/>
                    </a:cubicBezTo>
                    <a:cubicBezTo>
                      <a:pt x="239" y="131"/>
                      <a:pt x="249" y="122"/>
                      <a:pt x="250" y="120"/>
                    </a:cubicBezTo>
                    <a:cubicBezTo>
                      <a:pt x="252" y="117"/>
                      <a:pt x="258" y="110"/>
                      <a:pt x="259" y="109"/>
                    </a:cubicBezTo>
                    <a:cubicBezTo>
                      <a:pt x="260" y="108"/>
                      <a:pt x="263" y="106"/>
                      <a:pt x="264" y="105"/>
                    </a:cubicBezTo>
                    <a:cubicBezTo>
                      <a:pt x="265" y="105"/>
                      <a:pt x="266" y="105"/>
                      <a:pt x="265" y="104"/>
                    </a:cubicBezTo>
                    <a:cubicBezTo>
                      <a:pt x="265" y="103"/>
                      <a:pt x="264" y="102"/>
                      <a:pt x="265" y="101"/>
                    </a:cubicBezTo>
                    <a:cubicBezTo>
                      <a:pt x="266" y="100"/>
                      <a:pt x="267" y="100"/>
                      <a:pt x="268" y="99"/>
                    </a:cubicBezTo>
                    <a:cubicBezTo>
                      <a:pt x="269" y="99"/>
                      <a:pt x="270" y="99"/>
                      <a:pt x="270" y="98"/>
                    </a:cubicBezTo>
                    <a:cubicBezTo>
                      <a:pt x="270" y="97"/>
                      <a:pt x="271" y="97"/>
                      <a:pt x="272" y="97"/>
                    </a:cubicBezTo>
                    <a:cubicBezTo>
                      <a:pt x="272" y="96"/>
                      <a:pt x="273" y="95"/>
                      <a:pt x="274" y="95"/>
                    </a:cubicBezTo>
                    <a:cubicBezTo>
                      <a:pt x="275" y="94"/>
                      <a:pt x="278" y="90"/>
                      <a:pt x="281" y="90"/>
                    </a:cubicBezTo>
                    <a:cubicBezTo>
                      <a:pt x="283" y="89"/>
                      <a:pt x="285" y="89"/>
                      <a:pt x="286" y="88"/>
                    </a:cubicBezTo>
                    <a:cubicBezTo>
                      <a:pt x="287" y="88"/>
                      <a:pt x="291" y="86"/>
                      <a:pt x="292" y="85"/>
                    </a:cubicBezTo>
                    <a:cubicBezTo>
                      <a:pt x="293" y="85"/>
                      <a:pt x="293" y="85"/>
                      <a:pt x="294" y="83"/>
                    </a:cubicBezTo>
                    <a:cubicBezTo>
                      <a:pt x="294" y="82"/>
                      <a:pt x="295" y="80"/>
                      <a:pt x="295" y="78"/>
                    </a:cubicBezTo>
                    <a:cubicBezTo>
                      <a:pt x="296" y="76"/>
                      <a:pt x="296" y="71"/>
                      <a:pt x="296" y="70"/>
                    </a:cubicBezTo>
                    <a:cubicBezTo>
                      <a:pt x="295" y="68"/>
                      <a:pt x="292" y="61"/>
                      <a:pt x="292" y="60"/>
                    </a:cubicBezTo>
                    <a:cubicBezTo>
                      <a:pt x="291" y="59"/>
                      <a:pt x="291" y="59"/>
                      <a:pt x="291" y="59"/>
                    </a:cubicBezTo>
                    <a:cubicBezTo>
                      <a:pt x="290" y="59"/>
                      <a:pt x="288" y="59"/>
                      <a:pt x="288" y="59"/>
                    </a:cubicBezTo>
                    <a:cubicBezTo>
                      <a:pt x="288" y="59"/>
                      <a:pt x="288" y="59"/>
                      <a:pt x="287" y="59"/>
                    </a:cubicBezTo>
                    <a:cubicBezTo>
                      <a:pt x="287" y="60"/>
                      <a:pt x="285" y="61"/>
                      <a:pt x="283" y="60"/>
                    </a:cubicBezTo>
                    <a:cubicBezTo>
                      <a:pt x="283" y="60"/>
                      <a:pt x="282" y="59"/>
                      <a:pt x="282" y="59"/>
                    </a:cubicBezTo>
                    <a:cubicBezTo>
                      <a:pt x="281" y="63"/>
                      <a:pt x="281" y="68"/>
                      <a:pt x="281" y="69"/>
                    </a:cubicBezTo>
                    <a:cubicBezTo>
                      <a:pt x="281" y="71"/>
                      <a:pt x="280" y="74"/>
                      <a:pt x="279" y="74"/>
                    </a:cubicBezTo>
                    <a:cubicBezTo>
                      <a:pt x="279" y="75"/>
                      <a:pt x="279" y="75"/>
                      <a:pt x="278" y="76"/>
                    </a:cubicBezTo>
                    <a:cubicBezTo>
                      <a:pt x="278" y="76"/>
                      <a:pt x="274" y="80"/>
                      <a:pt x="273" y="80"/>
                    </a:cubicBezTo>
                    <a:cubicBezTo>
                      <a:pt x="273" y="81"/>
                      <a:pt x="270" y="82"/>
                      <a:pt x="269" y="83"/>
                    </a:cubicBezTo>
                    <a:cubicBezTo>
                      <a:pt x="267" y="84"/>
                      <a:pt x="267" y="85"/>
                      <a:pt x="267" y="86"/>
                    </a:cubicBezTo>
                    <a:cubicBezTo>
                      <a:pt x="267" y="86"/>
                      <a:pt x="267" y="87"/>
                      <a:pt x="267" y="87"/>
                    </a:cubicBezTo>
                    <a:cubicBezTo>
                      <a:pt x="267" y="87"/>
                      <a:pt x="265" y="88"/>
                      <a:pt x="264" y="88"/>
                    </a:cubicBezTo>
                    <a:cubicBezTo>
                      <a:pt x="264" y="88"/>
                      <a:pt x="263" y="88"/>
                      <a:pt x="262" y="87"/>
                    </a:cubicBezTo>
                    <a:cubicBezTo>
                      <a:pt x="262" y="87"/>
                      <a:pt x="261" y="87"/>
                      <a:pt x="261" y="87"/>
                    </a:cubicBezTo>
                    <a:cubicBezTo>
                      <a:pt x="261" y="87"/>
                      <a:pt x="258" y="89"/>
                      <a:pt x="258" y="89"/>
                    </a:cubicBezTo>
                    <a:cubicBezTo>
                      <a:pt x="257" y="90"/>
                      <a:pt x="256" y="90"/>
                      <a:pt x="256" y="90"/>
                    </a:cubicBezTo>
                    <a:cubicBezTo>
                      <a:pt x="256" y="91"/>
                      <a:pt x="255" y="91"/>
                      <a:pt x="255" y="91"/>
                    </a:cubicBezTo>
                    <a:cubicBezTo>
                      <a:pt x="254" y="91"/>
                      <a:pt x="253" y="90"/>
                      <a:pt x="252" y="89"/>
                    </a:cubicBezTo>
                    <a:cubicBezTo>
                      <a:pt x="251" y="89"/>
                      <a:pt x="250" y="89"/>
                      <a:pt x="249" y="89"/>
                    </a:cubicBezTo>
                    <a:cubicBezTo>
                      <a:pt x="248" y="89"/>
                      <a:pt x="243" y="89"/>
                      <a:pt x="243" y="89"/>
                    </a:cubicBezTo>
                    <a:cubicBezTo>
                      <a:pt x="242" y="89"/>
                      <a:pt x="241" y="89"/>
                      <a:pt x="240" y="89"/>
                    </a:cubicBezTo>
                    <a:cubicBezTo>
                      <a:pt x="240" y="89"/>
                      <a:pt x="237" y="87"/>
                      <a:pt x="236" y="87"/>
                    </a:cubicBezTo>
                    <a:cubicBezTo>
                      <a:pt x="235" y="87"/>
                      <a:pt x="232" y="87"/>
                      <a:pt x="230" y="87"/>
                    </a:cubicBezTo>
                    <a:cubicBezTo>
                      <a:pt x="229" y="86"/>
                      <a:pt x="224" y="86"/>
                      <a:pt x="223" y="87"/>
                    </a:cubicBezTo>
                    <a:cubicBezTo>
                      <a:pt x="222" y="87"/>
                      <a:pt x="222" y="86"/>
                      <a:pt x="222" y="86"/>
                    </a:cubicBezTo>
                    <a:cubicBezTo>
                      <a:pt x="222" y="83"/>
                      <a:pt x="225" y="81"/>
                      <a:pt x="226" y="80"/>
                    </a:cubicBezTo>
                    <a:cubicBezTo>
                      <a:pt x="226" y="80"/>
                      <a:pt x="226" y="79"/>
                      <a:pt x="226" y="79"/>
                    </a:cubicBezTo>
                    <a:cubicBezTo>
                      <a:pt x="226" y="79"/>
                      <a:pt x="228" y="73"/>
                      <a:pt x="228" y="72"/>
                    </a:cubicBezTo>
                    <a:cubicBezTo>
                      <a:pt x="229" y="72"/>
                      <a:pt x="229" y="70"/>
                      <a:pt x="230" y="70"/>
                    </a:cubicBezTo>
                    <a:cubicBezTo>
                      <a:pt x="230" y="69"/>
                      <a:pt x="232" y="66"/>
                      <a:pt x="233" y="65"/>
                    </a:cubicBezTo>
                    <a:cubicBezTo>
                      <a:pt x="234" y="64"/>
                      <a:pt x="235" y="62"/>
                      <a:pt x="237" y="60"/>
                    </a:cubicBezTo>
                    <a:cubicBezTo>
                      <a:pt x="238" y="59"/>
                      <a:pt x="237" y="56"/>
                      <a:pt x="237" y="55"/>
                    </a:cubicBezTo>
                    <a:cubicBezTo>
                      <a:pt x="236" y="55"/>
                      <a:pt x="236" y="54"/>
                      <a:pt x="236" y="54"/>
                    </a:cubicBezTo>
                    <a:cubicBezTo>
                      <a:pt x="236" y="54"/>
                      <a:pt x="219" y="46"/>
                      <a:pt x="217" y="45"/>
                    </a:cubicBezTo>
                    <a:cubicBezTo>
                      <a:pt x="216" y="44"/>
                      <a:pt x="211" y="41"/>
                      <a:pt x="207" y="38"/>
                    </a:cubicBezTo>
                    <a:cubicBezTo>
                      <a:pt x="204" y="35"/>
                      <a:pt x="197" y="33"/>
                      <a:pt x="196" y="33"/>
                    </a:cubicBezTo>
                    <a:cubicBezTo>
                      <a:pt x="194" y="33"/>
                      <a:pt x="191" y="32"/>
                      <a:pt x="189" y="32"/>
                    </a:cubicBezTo>
                    <a:cubicBezTo>
                      <a:pt x="187" y="31"/>
                      <a:pt x="186" y="31"/>
                      <a:pt x="186" y="31"/>
                    </a:cubicBezTo>
                    <a:cubicBezTo>
                      <a:pt x="186" y="31"/>
                      <a:pt x="176" y="22"/>
                      <a:pt x="175" y="21"/>
                    </a:cubicBezTo>
                    <a:cubicBezTo>
                      <a:pt x="174" y="20"/>
                      <a:pt x="173" y="19"/>
                      <a:pt x="173" y="19"/>
                    </a:cubicBezTo>
                    <a:cubicBezTo>
                      <a:pt x="172" y="18"/>
                      <a:pt x="168" y="12"/>
                      <a:pt x="168" y="11"/>
                    </a:cubicBezTo>
                    <a:cubicBezTo>
                      <a:pt x="167" y="11"/>
                      <a:pt x="167" y="10"/>
                      <a:pt x="165" y="8"/>
                    </a:cubicBezTo>
                    <a:cubicBezTo>
                      <a:pt x="164" y="8"/>
                      <a:pt x="163" y="7"/>
                      <a:pt x="162" y="7"/>
                    </a:cubicBezTo>
                    <a:cubicBezTo>
                      <a:pt x="161" y="6"/>
                      <a:pt x="160" y="5"/>
                      <a:pt x="160" y="4"/>
                    </a:cubicBezTo>
                    <a:cubicBezTo>
                      <a:pt x="160" y="4"/>
                      <a:pt x="161" y="3"/>
                      <a:pt x="160" y="3"/>
                    </a:cubicBezTo>
                    <a:cubicBezTo>
                      <a:pt x="158" y="2"/>
                      <a:pt x="155" y="2"/>
                      <a:pt x="153" y="3"/>
                    </a:cubicBezTo>
                    <a:cubicBezTo>
                      <a:pt x="152" y="3"/>
                      <a:pt x="147" y="3"/>
                      <a:pt x="145" y="3"/>
                    </a:cubicBezTo>
                    <a:cubicBezTo>
                      <a:pt x="143" y="3"/>
                      <a:pt x="142" y="5"/>
                      <a:pt x="142" y="6"/>
                    </a:cubicBezTo>
                    <a:cubicBezTo>
                      <a:pt x="141" y="7"/>
                      <a:pt x="139" y="14"/>
                      <a:pt x="138" y="15"/>
                    </a:cubicBezTo>
                    <a:cubicBezTo>
                      <a:pt x="138" y="16"/>
                      <a:pt x="138" y="16"/>
                      <a:pt x="137" y="15"/>
                    </a:cubicBezTo>
                    <a:cubicBezTo>
                      <a:pt x="137" y="15"/>
                      <a:pt x="136" y="11"/>
                      <a:pt x="134" y="8"/>
                    </a:cubicBezTo>
                    <a:cubicBezTo>
                      <a:pt x="133" y="5"/>
                      <a:pt x="130" y="5"/>
                      <a:pt x="128" y="5"/>
                    </a:cubicBezTo>
                    <a:cubicBezTo>
                      <a:pt x="127" y="5"/>
                      <a:pt x="126" y="5"/>
                      <a:pt x="125" y="5"/>
                    </a:cubicBezTo>
                    <a:cubicBezTo>
                      <a:pt x="125" y="5"/>
                      <a:pt x="119" y="5"/>
                      <a:pt x="117" y="5"/>
                    </a:cubicBezTo>
                    <a:cubicBezTo>
                      <a:pt x="116" y="5"/>
                      <a:pt x="115" y="3"/>
                      <a:pt x="114" y="3"/>
                    </a:cubicBezTo>
                    <a:cubicBezTo>
                      <a:pt x="114" y="2"/>
                      <a:pt x="112" y="1"/>
                      <a:pt x="112" y="1"/>
                    </a:cubicBezTo>
                    <a:cubicBezTo>
                      <a:pt x="111" y="0"/>
                      <a:pt x="110" y="0"/>
                      <a:pt x="110" y="0"/>
                    </a:cubicBezTo>
                    <a:cubicBezTo>
                      <a:pt x="109" y="0"/>
                      <a:pt x="109" y="0"/>
                      <a:pt x="109" y="2"/>
                    </a:cubicBezTo>
                    <a:cubicBezTo>
                      <a:pt x="109" y="3"/>
                      <a:pt x="108" y="5"/>
                      <a:pt x="106" y="5"/>
                    </a:cubicBezTo>
                    <a:cubicBezTo>
                      <a:pt x="104" y="5"/>
                      <a:pt x="102" y="7"/>
                      <a:pt x="102" y="7"/>
                    </a:cubicBezTo>
                    <a:cubicBezTo>
                      <a:pt x="102" y="7"/>
                      <a:pt x="96" y="14"/>
                      <a:pt x="96" y="15"/>
                    </a:cubicBezTo>
                    <a:cubicBezTo>
                      <a:pt x="95" y="15"/>
                      <a:pt x="95" y="15"/>
                      <a:pt x="95" y="1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70" name="Freeform 379">
                <a:extLst>
                  <a:ext uri="{FF2B5EF4-FFF2-40B4-BE49-F238E27FC236}">
                    <a16:creationId xmlns:a16="http://schemas.microsoft.com/office/drawing/2014/main" id="{D91614BF-06A6-4E76-84A6-65B1EB7286CD}"/>
                  </a:ext>
                </a:extLst>
              </p:cNvPr>
              <p:cNvSpPr>
                <a:spLocks/>
              </p:cNvSpPr>
              <p:nvPr/>
            </p:nvSpPr>
            <p:spPr bwMode="auto">
              <a:xfrm>
                <a:off x="2227" y="3521"/>
                <a:ext cx="6" cy="4"/>
              </a:xfrm>
              <a:custGeom>
                <a:avLst/>
                <a:gdLst>
                  <a:gd name="T0" fmla="*/ 1 w 4"/>
                  <a:gd name="T1" fmla="*/ 2 h 3"/>
                  <a:gd name="T2" fmla="*/ 3 w 4"/>
                  <a:gd name="T3" fmla="*/ 3 h 3"/>
                  <a:gd name="T4" fmla="*/ 2 w 4"/>
                  <a:gd name="T5" fmla="*/ 1 h 3"/>
                  <a:gd name="T6" fmla="*/ 1 w 4"/>
                  <a:gd name="T7" fmla="*/ 2 h 3"/>
                </a:gdLst>
                <a:ahLst/>
                <a:cxnLst>
                  <a:cxn ang="0">
                    <a:pos x="T0" y="T1"/>
                  </a:cxn>
                  <a:cxn ang="0">
                    <a:pos x="T2" y="T3"/>
                  </a:cxn>
                  <a:cxn ang="0">
                    <a:pos x="T4" y="T5"/>
                  </a:cxn>
                  <a:cxn ang="0">
                    <a:pos x="T6" y="T7"/>
                  </a:cxn>
                </a:cxnLst>
                <a:rect l="0" t="0" r="r" b="b"/>
                <a:pathLst>
                  <a:path w="4" h="3">
                    <a:moveTo>
                      <a:pt x="1" y="2"/>
                    </a:moveTo>
                    <a:cubicBezTo>
                      <a:pt x="1" y="2"/>
                      <a:pt x="2" y="3"/>
                      <a:pt x="3" y="3"/>
                    </a:cubicBezTo>
                    <a:cubicBezTo>
                      <a:pt x="4" y="3"/>
                      <a:pt x="4" y="3"/>
                      <a:pt x="2" y="1"/>
                    </a:cubicBezTo>
                    <a:cubicBezTo>
                      <a:pt x="0" y="0"/>
                      <a:pt x="1"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71" name="Freeform 380">
                <a:extLst>
                  <a:ext uri="{FF2B5EF4-FFF2-40B4-BE49-F238E27FC236}">
                    <a16:creationId xmlns:a16="http://schemas.microsoft.com/office/drawing/2014/main" id="{F89000FB-1679-4AF1-A6D9-A0743512AC0C}"/>
                  </a:ext>
                </a:extLst>
              </p:cNvPr>
              <p:cNvSpPr>
                <a:spLocks/>
              </p:cNvSpPr>
              <p:nvPr/>
            </p:nvSpPr>
            <p:spPr bwMode="auto">
              <a:xfrm>
                <a:off x="2019" y="3899"/>
                <a:ext cx="26" cy="17"/>
              </a:xfrm>
              <a:custGeom>
                <a:avLst/>
                <a:gdLst>
                  <a:gd name="T0" fmla="*/ 6 w 19"/>
                  <a:gd name="T1" fmla="*/ 10 h 12"/>
                  <a:gd name="T2" fmla="*/ 6 w 19"/>
                  <a:gd name="T3" fmla="*/ 7 h 12"/>
                  <a:gd name="T4" fmla="*/ 5 w 19"/>
                  <a:gd name="T5" fmla="*/ 5 h 12"/>
                  <a:gd name="T6" fmla="*/ 9 w 19"/>
                  <a:gd name="T7" fmla="*/ 8 h 12"/>
                  <a:gd name="T8" fmla="*/ 12 w 19"/>
                  <a:gd name="T9" fmla="*/ 7 h 12"/>
                  <a:gd name="T10" fmla="*/ 15 w 19"/>
                  <a:gd name="T11" fmla="*/ 9 h 12"/>
                  <a:gd name="T12" fmla="*/ 18 w 19"/>
                  <a:gd name="T13" fmla="*/ 9 h 12"/>
                  <a:gd name="T14" fmla="*/ 17 w 19"/>
                  <a:gd name="T15" fmla="*/ 6 h 12"/>
                  <a:gd name="T16" fmla="*/ 15 w 19"/>
                  <a:gd name="T17" fmla="*/ 7 h 12"/>
                  <a:gd name="T18" fmla="*/ 14 w 19"/>
                  <a:gd name="T19" fmla="*/ 5 h 12"/>
                  <a:gd name="T20" fmla="*/ 10 w 19"/>
                  <a:gd name="T21" fmla="*/ 3 h 12"/>
                  <a:gd name="T22" fmla="*/ 8 w 19"/>
                  <a:gd name="T23" fmla="*/ 5 h 12"/>
                  <a:gd name="T24" fmla="*/ 9 w 19"/>
                  <a:gd name="T25" fmla="*/ 3 h 12"/>
                  <a:gd name="T26" fmla="*/ 7 w 19"/>
                  <a:gd name="T27" fmla="*/ 2 h 12"/>
                  <a:gd name="T28" fmla="*/ 6 w 19"/>
                  <a:gd name="T29" fmla="*/ 1 h 12"/>
                  <a:gd name="T30" fmla="*/ 3 w 19"/>
                  <a:gd name="T31" fmla="*/ 2 h 12"/>
                  <a:gd name="T32" fmla="*/ 1 w 19"/>
                  <a:gd name="T33" fmla="*/ 2 h 12"/>
                  <a:gd name="T34" fmla="*/ 1 w 19"/>
                  <a:gd name="T35" fmla="*/ 4 h 12"/>
                  <a:gd name="T36" fmla="*/ 4 w 19"/>
                  <a:gd name="T37" fmla="*/ 8 h 12"/>
                  <a:gd name="T38" fmla="*/ 6 w 19"/>
                  <a:gd name="T39" fmla="*/ 1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 h="12">
                    <a:moveTo>
                      <a:pt x="6" y="10"/>
                    </a:moveTo>
                    <a:cubicBezTo>
                      <a:pt x="6" y="9"/>
                      <a:pt x="8" y="10"/>
                      <a:pt x="6" y="7"/>
                    </a:cubicBezTo>
                    <a:cubicBezTo>
                      <a:pt x="3" y="3"/>
                      <a:pt x="5" y="5"/>
                      <a:pt x="5" y="5"/>
                    </a:cubicBezTo>
                    <a:cubicBezTo>
                      <a:pt x="6" y="6"/>
                      <a:pt x="8" y="7"/>
                      <a:pt x="9" y="8"/>
                    </a:cubicBezTo>
                    <a:cubicBezTo>
                      <a:pt x="9" y="9"/>
                      <a:pt x="11" y="8"/>
                      <a:pt x="12" y="7"/>
                    </a:cubicBezTo>
                    <a:cubicBezTo>
                      <a:pt x="13" y="5"/>
                      <a:pt x="13" y="7"/>
                      <a:pt x="15" y="9"/>
                    </a:cubicBezTo>
                    <a:cubicBezTo>
                      <a:pt x="17" y="12"/>
                      <a:pt x="18" y="11"/>
                      <a:pt x="18" y="9"/>
                    </a:cubicBezTo>
                    <a:cubicBezTo>
                      <a:pt x="19" y="8"/>
                      <a:pt x="18" y="7"/>
                      <a:pt x="17" y="6"/>
                    </a:cubicBezTo>
                    <a:cubicBezTo>
                      <a:pt x="16" y="4"/>
                      <a:pt x="16" y="7"/>
                      <a:pt x="15" y="7"/>
                    </a:cubicBezTo>
                    <a:cubicBezTo>
                      <a:pt x="15" y="7"/>
                      <a:pt x="14" y="7"/>
                      <a:pt x="14" y="5"/>
                    </a:cubicBezTo>
                    <a:cubicBezTo>
                      <a:pt x="15" y="3"/>
                      <a:pt x="10" y="3"/>
                      <a:pt x="10" y="3"/>
                    </a:cubicBezTo>
                    <a:cubicBezTo>
                      <a:pt x="9" y="3"/>
                      <a:pt x="9" y="5"/>
                      <a:pt x="8" y="5"/>
                    </a:cubicBezTo>
                    <a:cubicBezTo>
                      <a:pt x="8" y="5"/>
                      <a:pt x="8" y="4"/>
                      <a:pt x="9" y="3"/>
                    </a:cubicBezTo>
                    <a:cubicBezTo>
                      <a:pt x="9" y="1"/>
                      <a:pt x="7" y="2"/>
                      <a:pt x="7" y="2"/>
                    </a:cubicBezTo>
                    <a:cubicBezTo>
                      <a:pt x="6" y="3"/>
                      <a:pt x="6" y="3"/>
                      <a:pt x="6" y="1"/>
                    </a:cubicBezTo>
                    <a:cubicBezTo>
                      <a:pt x="5" y="0"/>
                      <a:pt x="4" y="1"/>
                      <a:pt x="3" y="2"/>
                    </a:cubicBezTo>
                    <a:cubicBezTo>
                      <a:pt x="2" y="3"/>
                      <a:pt x="2" y="3"/>
                      <a:pt x="1" y="2"/>
                    </a:cubicBezTo>
                    <a:cubicBezTo>
                      <a:pt x="0" y="2"/>
                      <a:pt x="1" y="4"/>
                      <a:pt x="1" y="4"/>
                    </a:cubicBezTo>
                    <a:cubicBezTo>
                      <a:pt x="1" y="4"/>
                      <a:pt x="2" y="5"/>
                      <a:pt x="4" y="8"/>
                    </a:cubicBezTo>
                    <a:cubicBezTo>
                      <a:pt x="6" y="10"/>
                      <a:pt x="6" y="10"/>
                      <a:pt x="6"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72" name="Freeform 381">
                <a:extLst>
                  <a:ext uri="{FF2B5EF4-FFF2-40B4-BE49-F238E27FC236}">
                    <a16:creationId xmlns:a16="http://schemas.microsoft.com/office/drawing/2014/main" id="{0AC4DDE1-79BF-45F4-9424-5025F2CEDB75}"/>
                  </a:ext>
                </a:extLst>
              </p:cNvPr>
              <p:cNvSpPr>
                <a:spLocks/>
              </p:cNvSpPr>
              <p:nvPr/>
            </p:nvSpPr>
            <p:spPr bwMode="auto">
              <a:xfrm>
                <a:off x="2046" y="3891"/>
                <a:ext cx="13" cy="19"/>
              </a:xfrm>
              <a:custGeom>
                <a:avLst/>
                <a:gdLst>
                  <a:gd name="T0" fmla="*/ 5 w 9"/>
                  <a:gd name="T1" fmla="*/ 2 h 14"/>
                  <a:gd name="T2" fmla="*/ 3 w 9"/>
                  <a:gd name="T3" fmla="*/ 5 h 14"/>
                  <a:gd name="T4" fmla="*/ 1 w 9"/>
                  <a:gd name="T5" fmla="*/ 6 h 14"/>
                  <a:gd name="T6" fmla="*/ 0 w 9"/>
                  <a:gd name="T7" fmla="*/ 9 h 14"/>
                  <a:gd name="T8" fmla="*/ 3 w 9"/>
                  <a:gd name="T9" fmla="*/ 13 h 14"/>
                  <a:gd name="T10" fmla="*/ 5 w 9"/>
                  <a:gd name="T11" fmla="*/ 13 h 14"/>
                  <a:gd name="T12" fmla="*/ 4 w 9"/>
                  <a:gd name="T13" fmla="*/ 10 h 14"/>
                  <a:gd name="T14" fmla="*/ 7 w 9"/>
                  <a:gd name="T15" fmla="*/ 11 h 14"/>
                  <a:gd name="T16" fmla="*/ 7 w 9"/>
                  <a:gd name="T17" fmla="*/ 8 h 14"/>
                  <a:gd name="T18" fmla="*/ 7 w 9"/>
                  <a:gd name="T19" fmla="*/ 2 h 14"/>
                  <a:gd name="T20" fmla="*/ 5 w 9"/>
                  <a:gd name="T21"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4">
                    <a:moveTo>
                      <a:pt x="5" y="2"/>
                    </a:moveTo>
                    <a:cubicBezTo>
                      <a:pt x="4" y="2"/>
                      <a:pt x="3" y="3"/>
                      <a:pt x="3" y="5"/>
                    </a:cubicBezTo>
                    <a:cubicBezTo>
                      <a:pt x="3" y="7"/>
                      <a:pt x="2" y="7"/>
                      <a:pt x="1" y="6"/>
                    </a:cubicBezTo>
                    <a:cubicBezTo>
                      <a:pt x="0" y="6"/>
                      <a:pt x="0" y="9"/>
                      <a:pt x="0" y="9"/>
                    </a:cubicBezTo>
                    <a:cubicBezTo>
                      <a:pt x="0" y="9"/>
                      <a:pt x="1" y="12"/>
                      <a:pt x="3" y="13"/>
                    </a:cubicBezTo>
                    <a:cubicBezTo>
                      <a:pt x="5" y="14"/>
                      <a:pt x="5" y="14"/>
                      <a:pt x="5" y="13"/>
                    </a:cubicBezTo>
                    <a:cubicBezTo>
                      <a:pt x="5" y="13"/>
                      <a:pt x="6" y="12"/>
                      <a:pt x="4" y="10"/>
                    </a:cubicBezTo>
                    <a:cubicBezTo>
                      <a:pt x="3" y="7"/>
                      <a:pt x="6" y="10"/>
                      <a:pt x="7" y="11"/>
                    </a:cubicBezTo>
                    <a:cubicBezTo>
                      <a:pt x="8" y="11"/>
                      <a:pt x="9" y="10"/>
                      <a:pt x="7" y="8"/>
                    </a:cubicBezTo>
                    <a:cubicBezTo>
                      <a:pt x="6" y="7"/>
                      <a:pt x="7" y="4"/>
                      <a:pt x="7" y="2"/>
                    </a:cubicBezTo>
                    <a:cubicBezTo>
                      <a:pt x="7" y="0"/>
                      <a:pt x="6" y="1"/>
                      <a:pt x="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73" name="Freeform 382">
                <a:extLst>
                  <a:ext uri="{FF2B5EF4-FFF2-40B4-BE49-F238E27FC236}">
                    <a16:creationId xmlns:a16="http://schemas.microsoft.com/office/drawing/2014/main" id="{08A10146-6A18-47CA-A29D-A8DEB8F80285}"/>
                  </a:ext>
                </a:extLst>
              </p:cNvPr>
              <p:cNvSpPr>
                <a:spLocks/>
              </p:cNvSpPr>
              <p:nvPr/>
            </p:nvSpPr>
            <p:spPr bwMode="auto">
              <a:xfrm>
                <a:off x="2035" y="3927"/>
                <a:ext cx="11" cy="4"/>
              </a:xfrm>
              <a:custGeom>
                <a:avLst/>
                <a:gdLst>
                  <a:gd name="T0" fmla="*/ 3 w 8"/>
                  <a:gd name="T1" fmla="*/ 1 h 3"/>
                  <a:gd name="T2" fmla="*/ 1 w 8"/>
                  <a:gd name="T3" fmla="*/ 2 h 3"/>
                  <a:gd name="T4" fmla="*/ 2 w 8"/>
                  <a:gd name="T5" fmla="*/ 3 h 3"/>
                  <a:gd name="T6" fmla="*/ 4 w 8"/>
                  <a:gd name="T7" fmla="*/ 2 h 3"/>
                  <a:gd name="T8" fmla="*/ 7 w 8"/>
                  <a:gd name="T9" fmla="*/ 3 h 3"/>
                  <a:gd name="T10" fmla="*/ 3 w 8"/>
                  <a:gd name="T11" fmla="*/ 1 h 3"/>
                </a:gdLst>
                <a:ahLst/>
                <a:cxnLst>
                  <a:cxn ang="0">
                    <a:pos x="T0" y="T1"/>
                  </a:cxn>
                  <a:cxn ang="0">
                    <a:pos x="T2" y="T3"/>
                  </a:cxn>
                  <a:cxn ang="0">
                    <a:pos x="T4" y="T5"/>
                  </a:cxn>
                  <a:cxn ang="0">
                    <a:pos x="T6" y="T7"/>
                  </a:cxn>
                  <a:cxn ang="0">
                    <a:pos x="T8" y="T9"/>
                  </a:cxn>
                  <a:cxn ang="0">
                    <a:pos x="T10" y="T11"/>
                  </a:cxn>
                </a:cxnLst>
                <a:rect l="0" t="0" r="r" b="b"/>
                <a:pathLst>
                  <a:path w="8" h="3">
                    <a:moveTo>
                      <a:pt x="3" y="1"/>
                    </a:moveTo>
                    <a:cubicBezTo>
                      <a:pt x="2" y="0"/>
                      <a:pt x="1" y="0"/>
                      <a:pt x="1" y="2"/>
                    </a:cubicBezTo>
                    <a:cubicBezTo>
                      <a:pt x="0" y="3"/>
                      <a:pt x="2" y="3"/>
                      <a:pt x="2" y="3"/>
                    </a:cubicBezTo>
                    <a:cubicBezTo>
                      <a:pt x="1" y="2"/>
                      <a:pt x="3" y="2"/>
                      <a:pt x="4" y="2"/>
                    </a:cubicBezTo>
                    <a:cubicBezTo>
                      <a:pt x="5" y="2"/>
                      <a:pt x="6" y="3"/>
                      <a:pt x="7" y="3"/>
                    </a:cubicBezTo>
                    <a:cubicBezTo>
                      <a:pt x="8" y="3"/>
                      <a:pt x="4" y="1"/>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74" name="Freeform 383">
                <a:extLst>
                  <a:ext uri="{FF2B5EF4-FFF2-40B4-BE49-F238E27FC236}">
                    <a16:creationId xmlns:a16="http://schemas.microsoft.com/office/drawing/2014/main" id="{1C440FFB-EAD6-4AEB-BE64-0983CDCF1A0F}"/>
                  </a:ext>
                </a:extLst>
              </p:cNvPr>
              <p:cNvSpPr>
                <a:spLocks/>
              </p:cNvSpPr>
              <p:nvPr/>
            </p:nvSpPr>
            <p:spPr bwMode="auto">
              <a:xfrm>
                <a:off x="2045" y="3929"/>
                <a:ext cx="15" cy="9"/>
              </a:xfrm>
              <a:custGeom>
                <a:avLst/>
                <a:gdLst>
                  <a:gd name="T0" fmla="*/ 5 w 11"/>
                  <a:gd name="T1" fmla="*/ 3 h 6"/>
                  <a:gd name="T2" fmla="*/ 6 w 11"/>
                  <a:gd name="T3" fmla="*/ 2 h 6"/>
                  <a:gd name="T4" fmla="*/ 8 w 11"/>
                  <a:gd name="T5" fmla="*/ 1 h 6"/>
                  <a:gd name="T6" fmla="*/ 5 w 11"/>
                  <a:gd name="T7" fmla="*/ 1 h 6"/>
                  <a:gd name="T8" fmla="*/ 2 w 11"/>
                  <a:gd name="T9" fmla="*/ 2 h 6"/>
                  <a:gd name="T10" fmla="*/ 1 w 11"/>
                  <a:gd name="T11" fmla="*/ 1 h 6"/>
                  <a:gd name="T12" fmla="*/ 1 w 11"/>
                  <a:gd name="T13" fmla="*/ 2 h 6"/>
                  <a:gd name="T14" fmla="*/ 7 w 11"/>
                  <a:gd name="T15" fmla="*/ 5 h 6"/>
                  <a:gd name="T16" fmla="*/ 10 w 11"/>
                  <a:gd name="T17" fmla="*/ 4 h 6"/>
                  <a:gd name="T18" fmla="*/ 5 w 11"/>
                  <a:gd name="T19"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6">
                    <a:moveTo>
                      <a:pt x="5" y="3"/>
                    </a:moveTo>
                    <a:cubicBezTo>
                      <a:pt x="3" y="3"/>
                      <a:pt x="5" y="2"/>
                      <a:pt x="6" y="2"/>
                    </a:cubicBezTo>
                    <a:cubicBezTo>
                      <a:pt x="7" y="2"/>
                      <a:pt x="6" y="1"/>
                      <a:pt x="8" y="1"/>
                    </a:cubicBezTo>
                    <a:cubicBezTo>
                      <a:pt x="10" y="0"/>
                      <a:pt x="5" y="1"/>
                      <a:pt x="5" y="1"/>
                    </a:cubicBezTo>
                    <a:cubicBezTo>
                      <a:pt x="4" y="2"/>
                      <a:pt x="3" y="1"/>
                      <a:pt x="2" y="2"/>
                    </a:cubicBezTo>
                    <a:cubicBezTo>
                      <a:pt x="2" y="2"/>
                      <a:pt x="2" y="1"/>
                      <a:pt x="1" y="1"/>
                    </a:cubicBezTo>
                    <a:cubicBezTo>
                      <a:pt x="0" y="1"/>
                      <a:pt x="1" y="2"/>
                      <a:pt x="1" y="2"/>
                    </a:cubicBezTo>
                    <a:cubicBezTo>
                      <a:pt x="1" y="2"/>
                      <a:pt x="5" y="4"/>
                      <a:pt x="7" y="5"/>
                    </a:cubicBezTo>
                    <a:cubicBezTo>
                      <a:pt x="9" y="6"/>
                      <a:pt x="9" y="5"/>
                      <a:pt x="10" y="4"/>
                    </a:cubicBezTo>
                    <a:cubicBezTo>
                      <a:pt x="11" y="3"/>
                      <a:pt x="7" y="3"/>
                      <a:pt x="5"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75" name="Freeform 384">
                <a:extLst>
                  <a:ext uri="{FF2B5EF4-FFF2-40B4-BE49-F238E27FC236}">
                    <a16:creationId xmlns:a16="http://schemas.microsoft.com/office/drawing/2014/main" id="{57086BAD-A33E-4ECB-BBB1-A44305A0EA6E}"/>
                  </a:ext>
                </a:extLst>
              </p:cNvPr>
              <p:cNvSpPr>
                <a:spLocks/>
              </p:cNvSpPr>
              <p:nvPr/>
            </p:nvSpPr>
            <p:spPr bwMode="auto">
              <a:xfrm>
                <a:off x="2064" y="3931"/>
                <a:ext cx="43" cy="23"/>
              </a:xfrm>
              <a:custGeom>
                <a:avLst/>
                <a:gdLst>
                  <a:gd name="T0" fmla="*/ 28 w 31"/>
                  <a:gd name="T1" fmla="*/ 11 h 17"/>
                  <a:gd name="T2" fmla="*/ 26 w 31"/>
                  <a:gd name="T3" fmla="*/ 9 h 17"/>
                  <a:gd name="T4" fmla="*/ 22 w 31"/>
                  <a:gd name="T5" fmla="*/ 9 h 17"/>
                  <a:gd name="T6" fmla="*/ 21 w 31"/>
                  <a:gd name="T7" fmla="*/ 8 h 17"/>
                  <a:gd name="T8" fmla="*/ 26 w 31"/>
                  <a:gd name="T9" fmla="*/ 7 h 17"/>
                  <a:gd name="T10" fmla="*/ 23 w 31"/>
                  <a:gd name="T11" fmla="*/ 5 h 17"/>
                  <a:gd name="T12" fmla="*/ 16 w 31"/>
                  <a:gd name="T13" fmla="*/ 3 h 17"/>
                  <a:gd name="T14" fmla="*/ 19 w 31"/>
                  <a:gd name="T15" fmla="*/ 4 h 17"/>
                  <a:gd name="T16" fmla="*/ 22 w 31"/>
                  <a:gd name="T17" fmla="*/ 3 h 17"/>
                  <a:gd name="T18" fmla="*/ 24 w 31"/>
                  <a:gd name="T19" fmla="*/ 3 h 17"/>
                  <a:gd name="T20" fmla="*/ 24 w 31"/>
                  <a:gd name="T21" fmla="*/ 1 h 17"/>
                  <a:gd name="T22" fmla="*/ 16 w 31"/>
                  <a:gd name="T23" fmla="*/ 1 h 17"/>
                  <a:gd name="T24" fmla="*/ 11 w 31"/>
                  <a:gd name="T25" fmla="*/ 1 h 17"/>
                  <a:gd name="T26" fmla="*/ 8 w 31"/>
                  <a:gd name="T27" fmla="*/ 2 h 17"/>
                  <a:gd name="T28" fmla="*/ 7 w 31"/>
                  <a:gd name="T29" fmla="*/ 3 h 17"/>
                  <a:gd name="T30" fmla="*/ 6 w 31"/>
                  <a:gd name="T31" fmla="*/ 3 h 17"/>
                  <a:gd name="T32" fmla="*/ 2 w 31"/>
                  <a:gd name="T33" fmla="*/ 3 h 17"/>
                  <a:gd name="T34" fmla="*/ 2 w 31"/>
                  <a:gd name="T35" fmla="*/ 4 h 17"/>
                  <a:gd name="T36" fmla="*/ 7 w 31"/>
                  <a:gd name="T37" fmla="*/ 6 h 17"/>
                  <a:gd name="T38" fmla="*/ 5 w 31"/>
                  <a:gd name="T39" fmla="*/ 7 h 17"/>
                  <a:gd name="T40" fmla="*/ 6 w 31"/>
                  <a:gd name="T41" fmla="*/ 8 h 17"/>
                  <a:gd name="T42" fmla="*/ 8 w 31"/>
                  <a:gd name="T43" fmla="*/ 10 h 17"/>
                  <a:gd name="T44" fmla="*/ 9 w 31"/>
                  <a:gd name="T45" fmla="*/ 11 h 17"/>
                  <a:gd name="T46" fmla="*/ 10 w 31"/>
                  <a:gd name="T47" fmla="*/ 10 h 17"/>
                  <a:gd name="T48" fmla="*/ 10 w 31"/>
                  <a:gd name="T49" fmla="*/ 8 h 17"/>
                  <a:gd name="T50" fmla="*/ 9 w 31"/>
                  <a:gd name="T51" fmla="*/ 6 h 17"/>
                  <a:gd name="T52" fmla="*/ 11 w 31"/>
                  <a:gd name="T53" fmla="*/ 5 h 17"/>
                  <a:gd name="T54" fmla="*/ 12 w 31"/>
                  <a:gd name="T55" fmla="*/ 4 h 17"/>
                  <a:gd name="T56" fmla="*/ 16 w 31"/>
                  <a:gd name="T57" fmla="*/ 5 h 17"/>
                  <a:gd name="T58" fmla="*/ 17 w 31"/>
                  <a:gd name="T59" fmla="*/ 7 h 17"/>
                  <a:gd name="T60" fmla="*/ 16 w 31"/>
                  <a:gd name="T61" fmla="*/ 9 h 17"/>
                  <a:gd name="T62" fmla="*/ 17 w 31"/>
                  <a:gd name="T63" fmla="*/ 9 h 17"/>
                  <a:gd name="T64" fmla="*/ 17 w 31"/>
                  <a:gd name="T65" fmla="*/ 10 h 17"/>
                  <a:gd name="T66" fmla="*/ 22 w 31"/>
                  <a:gd name="T67" fmla="*/ 10 h 17"/>
                  <a:gd name="T68" fmla="*/ 29 w 31"/>
                  <a:gd name="T69" fmla="*/ 16 h 17"/>
                  <a:gd name="T70" fmla="*/ 30 w 31"/>
                  <a:gd name="T71" fmla="*/ 13 h 17"/>
                  <a:gd name="T72" fmla="*/ 28 w 31"/>
                  <a:gd name="T73"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 h="17">
                    <a:moveTo>
                      <a:pt x="28" y="11"/>
                    </a:moveTo>
                    <a:cubicBezTo>
                      <a:pt x="28" y="11"/>
                      <a:pt x="28" y="9"/>
                      <a:pt x="26" y="9"/>
                    </a:cubicBezTo>
                    <a:cubicBezTo>
                      <a:pt x="25" y="9"/>
                      <a:pt x="23" y="8"/>
                      <a:pt x="22" y="9"/>
                    </a:cubicBezTo>
                    <a:cubicBezTo>
                      <a:pt x="21" y="9"/>
                      <a:pt x="20" y="8"/>
                      <a:pt x="21" y="8"/>
                    </a:cubicBezTo>
                    <a:cubicBezTo>
                      <a:pt x="23" y="7"/>
                      <a:pt x="26" y="8"/>
                      <a:pt x="26" y="7"/>
                    </a:cubicBezTo>
                    <a:cubicBezTo>
                      <a:pt x="26" y="6"/>
                      <a:pt x="26" y="5"/>
                      <a:pt x="23" y="5"/>
                    </a:cubicBezTo>
                    <a:cubicBezTo>
                      <a:pt x="21" y="6"/>
                      <a:pt x="16" y="4"/>
                      <a:pt x="16" y="3"/>
                    </a:cubicBezTo>
                    <a:cubicBezTo>
                      <a:pt x="16" y="3"/>
                      <a:pt x="18" y="4"/>
                      <a:pt x="19" y="4"/>
                    </a:cubicBezTo>
                    <a:cubicBezTo>
                      <a:pt x="20" y="4"/>
                      <a:pt x="21" y="4"/>
                      <a:pt x="22" y="3"/>
                    </a:cubicBezTo>
                    <a:cubicBezTo>
                      <a:pt x="23" y="3"/>
                      <a:pt x="23" y="3"/>
                      <a:pt x="24" y="3"/>
                    </a:cubicBezTo>
                    <a:cubicBezTo>
                      <a:pt x="25" y="3"/>
                      <a:pt x="27" y="1"/>
                      <a:pt x="24" y="1"/>
                    </a:cubicBezTo>
                    <a:cubicBezTo>
                      <a:pt x="21" y="0"/>
                      <a:pt x="18" y="0"/>
                      <a:pt x="16" y="1"/>
                    </a:cubicBezTo>
                    <a:cubicBezTo>
                      <a:pt x="15" y="1"/>
                      <a:pt x="13" y="1"/>
                      <a:pt x="11" y="1"/>
                    </a:cubicBezTo>
                    <a:cubicBezTo>
                      <a:pt x="9" y="2"/>
                      <a:pt x="10" y="2"/>
                      <a:pt x="8" y="2"/>
                    </a:cubicBezTo>
                    <a:cubicBezTo>
                      <a:pt x="7" y="2"/>
                      <a:pt x="7" y="2"/>
                      <a:pt x="7" y="3"/>
                    </a:cubicBezTo>
                    <a:cubicBezTo>
                      <a:pt x="7" y="4"/>
                      <a:pt x="6" y="5"/>
                      <a:pt x="6" y="3"/>
                    </a:cubicBezTo>
                    <a:cubicBezTo>
                      <a:pt x="6" y="2"/>
                      <a:pt x="4" y="2"/>
                      <a:pt x="2" y="3"/>
                    </a:cubicBezTo>
                    <a:cubicBezTo>
                      <a:pt x="1" y="3"/>
                      <a:pt x="0" y="4"/>
                      <a:pt x="2" y="4"/>
                    </a:cubicBezTo>
                    <a:cubicBezTo>
                      <a:pt x="4" y="5"/>
                      <a:pt x="8" y="5"/>
                      <a:pt x="7" y="6"/>
                    </a:cubicBezTo>
                    <a:cubicBezTo>
                      <a:pt x="5" y="6"/>
                      <a:pt x="6" y="7"/>
                      <a:pt x="5" y="7"/>
                    </a:cubicBezTo>
                    <a:cubicBezTo>
                      <a:pt x="4" y="8"/>
                      <a:pt x="4" y="8"/>
                      <a:pt x="6" y="8"/>
                    </a:cubicBezTo>
                    <a:cubicBezTo>
                      <a:pt x="7" y="9"/>
                      <a:pt x="8" y="10"/>
                      <a:pt x="8" y="10"/>
                    </a:cubicBezTo>
                    <a:cubicBezTo>
                      <a:pt x="8" y="10"/>
                      <a:pt x="9" y="12"/>
                      <a:pt x="9" y="11"/>
                    </a:cubicBezTo>
                    <a:cubicBezTo>
                      <a:pt x="10" y="9"/>
                      <a:pt x="10" y="10"/>
                      <a:pt x="10" y="10"/>
                    </a:cubicBezTo>
                    <a:cubicBezTo>
                      <a:pt x="11" y="9"/>
                      <a:pt x="12" y="9"/>
                      <a:pt x="10" y="8"/>
                    </a:cubicBezTo>
                    <a:cubicBezTo>
                      <a:pt x="9" y="8"/>
                      <a:pt x="7" y="6"/>
                      <a:pt x="9" y="6"/>
                    </a:cubicBezTo>
                    <a:cubicBezTo>
                      <a:pt x="11" y="6"/>
                      <a:pt x="12" y="6"/>
                      <a:pt x="11" y="5"/>
                    </a:cubicBezTo>
                    <a:cubicBezTo>
                      <a:pt x="10" y="5"/>
                      <a:pt x="11" y="4"/>
                      <a:pt x="12" y="4"/>
                    </a:cubicBezTo>
                    <a:cubicBezTo>
                      <a:pt x="14" y="5"/>
                      <a:pt x="16" y="6"/>
                      <a:pt x="16" y="5"/>
                    </a:cubicBezTo>
                    <a:cubicBezTo>
                      <a:pt x="17" y="5"/>
                      <a:pt x="18" y="6"/>
                      <a:pt x="17" y="7"/>
                    </a:cubicBezTo>
                    <a:cubicBezTo>
                      <a:pt x="16" y="8"/>
                      <a:pt x="16" y="9"/>
                      <a:pt x="16" y="9"/>
                    </a:cubicBezTo>
                    <a:cubicBezTo>
                      <a:pt x="17" y="9"/>
                      <a:pt x="17" y="9"/>
                      <a:pt x="17" y="9"/>
                    </a:cubicBezTo>
                    <a:cubicBezTo>
                      <a:pt x="16" y="10"/>
                      <a:pt x="16" y="10"/>
                      <a:pt x="17" y="10"/>
                    </a:cubicBezTo>
                    <a:cubicBezTo>
                      <a:pt x="18" y="11"/>
                      <a:pt x="21" y="9"/>
                      <a:pt x="22" y="10"/>
                    </a:cubicBezTo>
                    <a:cubicBezTo>
                      <a:pt x="23" y="12"/>
                      <a:pt x="29" y="17"/>
                      <a:pt x="29" y="16"/>
                    </a:cubicBezTo>
                    <a:cubicBezTo>
                      <a:pt x="30" y="14"/>
                      <a:pt x="31" y="14"/>
                      <a:pt x="30" y="13"/>
                    </a:cubicBezTo>
                    <a:cubicBezTo>
                      <a:pt x="29" y="12"/>
                      <a:pt x="29" y="11"/>
                      <a:pt x="28"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76" name="Freeform 385">
                <a:extLst>
                  <a:ext uri="{FF2B5EF4-FFF2-40B4-BE49-F238E27FC236}">
                    <a16:creationId xmlns:a16="http://schemas.microsoft.com/office/drawing/2014/main" id="{2866D9AF-24B9-4279-9EFB-A3112E7495DE}"/>
                  </a:ext>
                </a:extLst>
              </p:cNvPr>
              <p:cNvSpPr>
                <a:spLocks/>
              </p:cNvSpPr>
              <p:nvPr/>
            </p:nvSpPr>
            <p:spPr bwMode="auto">
              <a:xfrm>
                <a:off x="2067" y="3928"/>
                <a:ext cx="15" cy="7"/>
              </a:xfrm>
              <a:custGeom>
                <a:avLst/>
                <a:gdLst>
                  <a:gd name="T0" fmla="*/ 3 w 11"/>
                  <a:gd name="T1" fmla="*/ 4 h 5"/>
                  <a:gd name="T2" fmla="*/ 9 w 11"/>
                  <a:gd name="T3" fmla="*/ 3 h 5"/>
                  <a:gd name="T4" fmla="*/ 4 w 11"/>
                  <a:gd name="T5" fmla="*/ 1 h 5"/>
                  <a:gd name="T6" fmla="*/ 0 w 11"/>
                  <a:gd name="T7" fmla="*/ 3 h 5"/>
                  <a:gd name="T8" fmla="*/ 3 w 11"/>
                  <a:gd name="T9" fmla="*/ 4 h 5"/>
                </a:gdLst>
                <a:ahLst/>
                <a:cxnLst>
                  <a:cxn ang="0">
                    <a:pos x="T0" y="T1"/>
                  </a:cxn>
                  <a:cxn ang="0">
                    <a:pos x="T2" y="T3"/>
                  </a:cxn>
                  <a:cxn ang="0">
                    <a:pos x="T4" y="T5"/>
                  </a:cxn>
                  <a:cxn ang="0">
                    <a:pos x="T6" y="T7"/>
                  </a:cxn>
                  <a:cxn ang="0">
                    <a:pos x="T8" y="T9"/>
                  </a:cxn>
                </a:cxnLst>
                <a:rect l="0" t="0" r="r" b="b"/>
                <a:pathLst>
                  <a:path w="11" h="5">
                    <a:moveTo>
                      <a:pt x="3" y="4"/>
                    </a:moveTo>
                    <a:cubicBezTo>
                      <a:pt x="3" y="4"/>
                      <a:pt x="6" y="3"/>
                      <a:pt x="9" y="3"/>
                    </a:cubicBezTo>
                    <a:cubicBezTo>
                      <a:pt x="11" y="2"/>
                      <a:pt x="6" y="1"/>
                      <a:pt x="4" y="1"/>
                    </a:cubicBezTo>
                    <a:cubicBezTo>
                      <a:pt x="2" y="0"/>
                      <a:pt x="1" y="1"/>
                      <a:pt x="0" y="3"/>
                    </a:cubicBezTo>
                    <a:cubicBezTo>
                      <a:pt x="0" y="5"/>
                      <a:pt x="3" y="4"/>
                      <a:pt x="3"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77" name="Freeform 386">
                <a:extLst>
                  <a:ext uri="{FF2B5EF4-FFF2-40B4-BE49-F238E27FC236}">
                    <a16:creationId xmlns:a16="http://schemas.microsoft.com/office/drawing/2014/main" id="{8B449CC1-898E-4DC3-A4BE-3C8FE9CA3D5C}"/>
                  </a:ext>
                </a:extLst>
              </p:cNvPr>
              <p:cNvSpPr>
                <a:spLocks/>
              </p:cNvSpPr>
              <p:nvPr/>
            </p:nvSpPr>
            <p:spPr bwMode="auto">
              <a:xfrm>
                <a:off x="2097" y="3929"/>
                <a:ext cx="31" cy="16"/>
              </a:xfrm>
              <a:custGeom>
                <a:avLst/>
                <a:gdLst>
                  <a:gd name="T0" fmla="*/ 14 w 22"/>
                  <a:gd name="T1" fmla="*/ 1 h 11"/>
                  <a:gd name="T2" fmla="*/ 9 w 22"/>
                  <a:gd name="T3" fmla="*/ 1 h 11"/>
                  <a:gd name="T4" fmla="*/ 3 w 22"/>
                  <a:gd name="T5" fmla="*/ 0 h 11"/>
                  <a:gd name="T6" fmla="*/ 2 w 22"/>
                  <a:gd name="T7" fmla="*/ 2 h 11"/>
                  <a:gd name="T8" fmla="*/ 4 w 22"/>
                  <a:gd name="T9" fmla="*/ 6 h 11"/>
                  <a:gd name="T10" fmla="*/ 9 w 22"/>
                  <a:gd name="T11" fmla="*/ 7 h 11"/>
                  <a:gd name="T12" fmla="*/ 13 w 22"/>
                  <a:gd name="T13" fmla="*/ 6 h 11"/>
                  <a:gd name="T14" fmla="*/ 15 w 22"/>
                  <a:gd name="T15" fmla="*/ 8 h 11"/>
                  <a:gd name="T16" fmla="*/ 20 w 22"/>
                  <a:gd name="T17" fmla="*/ 6 h 11"/>
                  <a:gd name="T18" fmla="*/ 14 w 22"/>
                  <a:gd name="T19"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1">
                    <a:moveTo>
                      <a:pt x="14" y="1"/>
                    </a:moveTo>
                    <a:cubicBezTo>
                      <a:pt x="12" y="1"/>
                      <a:pt x="10" y="1"/>
                      <a:pt x="9" y="1"/>
                    </a:cubicBezTo>
                    <a:cubicBezTo>
                      <a:pt x="8" y="1"/>
                      <a:pt x="6" y="0"/>
                      <a:pt x="3" y="0"/>
                    </a:cubicBezTo>
                    <a:cubicBezTo>
                      <a:pt x="0" y="0"/>
                      <a:pt x="2" y="2"/>
                      <a:pt x="2" y="2"/>
                    </a:cubicBezTo>
                    <a:cubicBezTo>
                      <a:pt x="3" y="3"/>
                      <a:pt x="4" y="4"/>
                      <a:pt x="4" y="6"/>
                    </a:cubicBezTo>
                    <a:cubicBezTo>
                      <a:pt x="4" y="7"/>
                      <a:pt x="7" y="7"/>
                      <a:pt x="9" y="7"/>
                    </a:cubicBezTo>
                    <a:cubicBezTo>
                      <a:pt x="11" y="7"/>
                      <a:pt x="11" y="7"/>
                      <a:pt x="13" y="6"/>
                    </a:cubicBezTo>
                    <a:cubicBezTo>
                      <a:pt x="14" y="5"/>
                      <a:pt x="14" y="5"/>
                      <a:pt x="15" y="8"/>
                    </a:cubicBezTo>
                    <a:cubicBezTo>
                      <a:pt x="15" y="11"/>
                      <a:pt x="18" y="8"/>
                      <a:pt x="20" y="6"/>
                    </a:cubicBezTo>
                    <a:cubicBezTo>
                      <a:pt x="22" y="4"/>
                      <a:pt x="15" y="2"/>
                      <a:pt x="1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78" name="Freeform 387">
                <a:extLst>
                  <a:ext uri="{FF2B5EF4-FFF2-40B4-BE49-F238E27FC236}">
                    <a16:creationId xmlns:a16="http://schemas.microsoft.com/office/drawing/2014/main" id="{5E922A9C-AFAA-42B6-ADCE-03378033163A}"/>
                  </a:ext>
                </a:extLst>
              </p:cNvPr>
              <p:cNvSpPr>
                <a:spLocks/>
              </p:cNvSpPr>
              <p:nvPr/>
            </p:nvSpPr>
            <p:spPr bwMode="auto">
              <a:xfrm>
                <a:off x="2125" y="3938"/>
                <a:ext cx="4" cy="2"/>
              </a:xfrm>
              <a:custGeom>
                <a:avLst/>
                <a:gdLst>
                  <a:gd name="T0" fmla="*/ 0 w 3"/>
                  <a:gd name="T1" fmla="*/ 2 h 2"/>
                  <a:gd name="T2" fmla="*/ 2 w 3"/>
                  <a:gd name="T3" fmla="*/ 1 h 2"/>
                  <a:gd name="T4" fmla="*/ 0 w 3"/>
                  <a:gd name="T5" fmla="*/ 2 h 2"/>
                </a:gdLst>
                <a:ahLst/>
                <a:cxnLst>
                  <a:cxn ang="0">
                    <a:pos x="T0" y="T1"/>
                  </a:cxn>
                  <a:cxn ang="0">
                    <a:pos x="T2" y="T3"/>
                  </a:cxn>
                  <a:cxn ang="0">
                    <a:pos x="T4" y="T5"/>
                  </a:cxn>
                </a:cxnLst>
                <a:rect l="0" t="0" r="r" b="b"/>
                <a:pathLst>
                  <a:path w="3" h="2">
                    <a:moveTo>
                      <a:pt x="0" y="2"/>
                    </a:moveTo>
                    <a:cubicBezTo>
                      <a:pt x="0" y="2"/>
                      <a:pt x="3" y="2"/>
                      <a:pt x="2" y="1"/>
                    </a:cubicBezTo>
                    <a:cubicBezTo>
                      <a:pt x="2" y="0"/>
                      <a:pt x="0" y="2"/>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79" name="Freeform 388">
                <a:extLst>
                  <a:ext uri="{FF2B5EF4-FFF2-40B4-BE49-F238E27FC236}">
                    <a16:creationId xmlns:a16="http://schemas.microsoft.com/office/drawing/2014/main" id="{AF340081-DCC6-43A5-9870-30F591419DD8}"/>
                  </a:ext>
                </a:extLst>
              </p:cNvPr>
              <p:cNvSpPr>
                <a:spLocks/>
              </p:cNvSpPr>
              <p:nvPr/>
            </p:nvSpPr>
            <p:spPr bwMode="auto">
              <a:xfrm>
                <a:off x="2113" y="3947"/>
                <a:ext cx="8" cy="9"/>
              </a:xfrm>
              <a:custGeom>
                <a:avLst/>
                <a:gdLst>
                  <a:gd name="T0" fmla="*/ 4 w 6"/>
                  <a:gd name="T1" fmla="*/ 3 h 6"/>
                  <a:gd name="T2" fmla="*/ 3 w 6"/>
                  <a:gd name="T3" fmla="*/ 4 h 6"/>
                  <a:gd name="T4" fmla="*/ 2 w 6"/>
                  <a:gd name="T5" fmla="*/ 5 h 6"/>
                  <a:gd name="T6" fmla="*/ 6 w 6"/>
                  <a:gd name="T7" fmla="*/ 5 h 6"/>
                  <a:gd name="T8" fmla="*/ 4 w 6"/>
                  <a:gd name="T9" fmla="*/ 3 h 6"/>
                </a:gdLst>
                <a:ahLst/>
                <a:cxnLst>
                  <a:cxn ang="0">
                    <a:pos x="T0" y="T1"/>
                  </a:cxn>
                  <a:cxn ang="0">
                    <a:pos x="T2" y="T3"/>
                  </a:cxn>
                  <a:cxn ang="0">
                    <a:pos x="T4" y="T5"/>
                  </a:cxn>
                  <a:cxn ang="0">
                    <a:pos x="T6" y="T7"/>
                  </a:cxn>
                  <a:cxn ang="0">
                    <a:pos x="T8" y="T9"/>
                  </a:cxn>
                </a:cxnLst>
                <a:rect l="0" t="0" r="r" b="b"/>
                <a:pathLst>
                  <a:path w="6" h="6">
                    <a:moveTo>
                      <a:pt x="4" y="3"/>
                    </a:moveTo>
                    <a:cubicBezTo>
                      <a:pt x="4" y="3"/>
                      <a:pt x="4" y="4"/>
                      <a:pt x="3" y="4"/>
                    </a:cubicBezTo>
                    <a:cubicBezTo>
                      <a:pt x="3" y="4"/>
                      <a:pt x="0" y="4"/>
                      <a:pt x="2" y="5"/>
                    </a:cubicBezTo>
                    <a:cubicBezTo>
                      <a:pt x="4" y="6"/>
                      <a:pt x="6" y="6"/>
                      <a:pt x="6" y="5"/>
                    </a:cubicBezTo>
                    <a:cubicBezTo>
                      <a:pt x="5" y="3"/>
                      <a:pt x="4" y="0"/>
                      <a:pt x="4"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80" name="Freeform 389">
                <a:extLst>
                  <a:ext uri="{FF2B5EF4-FFF2-40B4-BE49-F238E27FC236}">
                    <a16:creationId xmlns:a16="http://schemas.microsoft.com/office/drawing/2014/main" id="{35F4013C-C432-4C24-AC21-BBADE19CAB89}"/>
                  </a:ext>
                </a:extLst>
              </p:cNvPr>
              <p:cNvSpPr>
                <a:spLocks/>
              </p:cNvSpPr>
              <p:nvPr/>
            </p:nvSpPr>
            <p:spPr bwMode="auto">
              <a:xfrm>
                <a:off x="2013" y="3913"/>
                <a:ext cx="6" cy="3"/>
              </a:xfrm>
              <a:custGeom>
                <a:avLst/>
                <a:gdLst>
                  <a:gd name="T0" fmla="*/ 1 w 4"/>
                  <a:gd name="T1" fmla="*/ 1 h 2"/>
                  <a:gd name="T2" fmla="*/ 1 w 4"/>
                  <a:gd name="T3" fmla="*/ 2 h 2"/>
                  <a:gd name="T4" fmla="*/ 3 w 4"/>
                  <a:gd name="T5" fmla="*/ 1 h 2"/>
                  <a:gd name="T6" fmla="*/ 1 w 4"/>
                  <a:gd name="T7" fmla="*/ 1 h 2"/>
                </a:gdLst>
                <a:ahLst/>
                <a:cxnLst>
                  <a:cxn ang="0">
                    <a:pos x="T0" y="T1"/>
                  </a:cxn>
                  <a:cxn ang="0">
                    <a:pos x="T2" y="T3"/>
                  </a:cxn>
                  <a:cxn ang="0">
                    <a:pos x="T4" y="T5"/>
                  </a:cxn>
                  <a:cxn ang="0">
                    <a:pos x="T6" y="T7"/>
                  </a:cxn>
                </a:cxnLst>
                <a:rect l="0" t="0" r="r" b="b"/>
                <a:pathLst>
                  <a:path w="4" h="2">
                    <a:moveTo>
                      <a:pt x="1" y="1"/>
                    </a:moveTo>
                    <a:cubicBezTo>
                      <a:pt x="0" y="1"/>
                      <a:pt x="0" y="2"/>
                      <a:pt x="1" y="2"/>
                    </a:cubicBezTo>
                    <a:cubicBezTo>
                      <a:pt x="2" y="2"/>
                      <a:pt x="3" y="1"/>
                      <a:pt x="3" y="1"/>
                    </a:cubicBezTo>
                    <a:cubicBezTo>
                      <a:pt x="4" y="0"/>
                      <a:pt x="2" y="1"/>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81" name="Freeform 390">
                <a:extLst>
                  <a:ext uri="{FF2B5EF4-FFF2-40B4-BE49-F238E27FC236}">
                    <a16:creationId xmlns:a16="http://schemas.microsoft.com/office/drawing/2014/main" id="{BCFA7DDC-BDA4-431C-A3C5-FABF9C8898A1}"/>
                  </a:ext>
                </a:extLst>
              </p:cNvPr>
              <p:cNvSpPr>
                <a:spLocks/>
              </p:cNvSpPr>
              <p:nvPr/>
            </p:nvSpPr>
            <p:spPr bwMode="auto">
              <a:xfrm>
                <a:off x="2016" y="3909"/>
                <a:ext cx="3" cy="3"/>
              </a:xfrm>
              <a:custGeom>
                <a:avLst/>
                <a:gdLst>
                  <a:gd name="T0" fmla="*/ 0 w 2"/>
                  <a:gd name="T1" fmla="*/ 1 h 2"/>
                  <a:gd name="T2" fmla="*/ 2 w 2"/>
                  <a:gd name="T3" fmla="*/ 1 h 2"/>
                  <a:gd name="T4" fmla="*/ 0 w 2"/>
                  <a:gd name="T5" fmla="*/ 1 h 2"/>
                </a:gdLst>
                <a:ahLst/>
                <a:cxnLst>
                  <a:cxn ang="0">
                    <a:pos x="T0" y="T1"/>
                  </a:cxn>
                  <a:cxn ang="0">
                    <a:pos x="T2" y="T3"/>
                  </a:cxn>
                  <a:cxn ang="0">
                    <a:pos x="T4" y="T5"/>
                  </a:cxn>
                </a:cxnLst>
                <a:rect l="0" t="0" r="r" b="b"/>
                <a:pathLst>
                  <a:path w="2" h="2">
                    <a:moveTo>
                      <a:pt x="0" y="1"/>
                    </a:moveTo>
                    <a:cubicBezTo>
                      <a:pt x="0" y="1"/>
                      <a:pt x="1" y="2"/>
                      <a:pt x="2" y="1"/>
                    </a:cubicBezTo>
                    <a:cubicBezTo>
                      <a:pt x="2" y="0"/>
                      <a:pt x="0"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82" name="Freeform 391">
                <a:extLst>
                  <a:ext uri="{FF2B5EF4-FFF2-40B4-BE49-F238E27FC236}">
                    <a16:creationId xmlns:a16="http://schemas.microsoft.com/office/drawing/2014/main" id="{A6D696DC-625A-4440-AB9D-7B57ACF20616}"/>
                  </a:ext>
                </a:extLst>
              </p:cNvPr>
              <p:cNvSpPr>
                <a:spLocks/>
              </p:cNvSpPr>
              <p:nvPr/>
            </p:nvSpPr>
            <p:spPr bwMode="auto">
              <a:xfrm>
                <a:off x="1994" y="3905"/>
                <a:ext cx="5" cy="4"/>
              </a:xfrm>
              <a:custGeom>
                <a:avLst/>
                <a:gdLst>
                  <a:gd name="T0" fmla="*/ 0 w 4"/>
                  <a:gd name="T1" fmla="*/ 1 h 3"/>
                  <a:gd name="T2" fmla="*/ 3 w 4"/>
                  <a:gd name="T3" fmla="*/ 2 h 3"/>
                  <a:gd name="T4" fmla="*/ 0 w 4"/>
                  <a:gd name="T5" fmla="*/ 1 h 3"/>
                </a:gdLst>
                <a:ahLst/>
                <a:cxnLst>
                  <a:cxn ang="0">
                    <a:pos x="T0" y="T1"/>
                  </a:cxn>
                  <a:cxn ang="0">
                    <a:pos x="T2" y="T3"/>
                  </a:cxn>
                  <a:cxn ang="0">
                    <a:pos x="T4" y="T5"/>
                  </a:cxn>
                </a:cxnLst>
                <a:rect l="0" t="0" r="r" b="b"/>
                <a:pathLst>
                  <a:path w="4" h="3">
                    <a:moveTo>
                      <a:pt x="0" y="1"/>
                    </a:moveTo>
                    <a:cubicBezTo>
                      <a:pt x="0" y="1"/>
                      <a:pt x="4" y="3"/>
                      <a:pt x="3" y="2"/>
                    </a:cubicBezTo>
                    <a:cubicBezTo>
                      <a:pt x="2" y="0"/>
                      <a:pt x="0" y="1"/>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83" name="Freeform 392">
                <a:extLst>
                  <a:ext uri="{FF2B5EF4-FFF2-40B4-BE49-F238E27FC236}">
                    <a16:creationId xmlns:a16="http://schemas.microsoft.com/office/drawing/2014/main" id="{4504E70D-B6EB-49DB-AEE5-077FF0001479}"/>
                  </a:ext>
                </a:extLst>
              </p:cNvPr>
              <p:cNvSpPr>
                <a:spLocks/>
              </p:cNvSpPr>
              <p:nvPr/>
            </p:nvSpPr>
            <p:spPr bwMode="auto">
              <a:xfrm>
                <a:off x="1989" y="3887"/>
                <a:ext cx="31" cy="22"/>
              </a:xfrm>
              <a:custGeom>
                <a:avLst/>
                <a:gdLst>
                  <a:gd name="T0" fmla="*/ 19 w 22"/>
                  <a:gd name="T1" fmla="*/ 7 h 16"/>
                  <a:gd name="T2" fmla="*/ 18 w 22"/>
                  <a:gd name="T3" fmla="*/ 5 h 16"/>
                  <a:gd name="T4" fmla="*/ 15 w 22"/>
                  <a:gd name="T5" fmla="*/ 4 h 16"/>
                  <a:gd name="T6" fmla="*/ 12 w 22"/>
                  <a:gd name="T7" fmla="*/ 2 h 16"/>
                  <a:gd name="T8" fmla="*/ 9 w 22"/>
                  <a:gd name="T9" fmla="*/ 1 h 16"/>
                  <a:gd name="T10" fmla="*/ 7 w 22"/>
                  <a:gd name="T11" fmla="*/ 2 h 16"/>
                  <a:gd name="T12" fmla="*/ 5 w 22"/>
                  <a:gd name="T13" fmla="*/ 3 h 16"/>
                  <a:gd name="T14" fmla="*/ 9 w 22"/>
                  <a:gd name="T15" fmla="*/ 5 h 16"/>
                  <a:gd name="T16" fmla="*/ 9 w 22"/>
                  <a:gd name="T17" fmla="*/ 6 h 16"/>
                  <a:gd name="T18" fmla="*/ 5 w 22"/>
                  <a:gd name="T19" fmla="*/ 5 h 16"/>
                  <a:gd name="T20" fmla="*/ 1 w 22"/>
                  <a:gd name="T21" fmla="*/ 5 h 16"/>
                  <a:gd name="T22" fmla="*/ 5 w 22"/>
                  <a:gd name="T23" fmla="*/ 7 h 16"/>
                  <a:gd name="T24" fmla="*/ 6 w 22"/>
                  <a:gd name="T25" fmla="*/ 11 h 16"/>
                  <a:gd name="T26" fmla="*/ 8 w 22"/>
                  <a:gd name="T27" fmla="*/ 11 h 16"/>
                  <a:gd name="T28" fmla="*/ 11 w 22"/>
                  <a:gd name="T29" fmla="*/ 10 h 16"/>
                  <a:gd name="T30" fmla="*/ 13 w 22"/>
                  <a:gd name="T31" fmla="*/ 9 h 16"/>
                  <a:gd name="T32" fmla="*/ 14 w 22"/>
                  <a:gd name="T33" fmla="*/ 11 h 16"/>
                  <a:gd name="T34" fmla="*/ 11 w 22"/>
                  <a:gd name="T35" fmla="*/ 13 h 16"/>
                  <a:gd name="T36" fmla="*/ 11 w 22"/>
                  <a:gd name="T37" fmla="*/ 15 h 16"/>
                  <a:gd name="T38" fmla="*/ 14 w 22"/>
                  <a:gd name="T39" fmla="*/ 14 h 16"/>
                  <a:gd name="T40" fmla="*/ 16 w 22"/>
                  <a:gd name="T41" fmla="*/ 14 h 16"/>
                  <a:gd name="T42" fmla="*/ 17 w 22"/>
                  <a:gd name="T43" fmla="*/ 13 h 16"/>
                  <a:gd name="T44" fmla="*/ 20 w 22"/>
                  <a:gd name="T45" fmla="*/ 13 h 16"/>
                  <a:gd name="T46" fmla="*/ 19 w 22"/>
                  <a:gd name="T47" fmla="*/ 11 h 16"/>
                  <a:gd name="T48" fmla="*/ 20 w 22"/>
                  <a:gd name="T49" fmla="*/ 10 h 16"/>
                  <a:gd name="T50" fmla="*/ 22 w 22"/>
                  <a:gd name="T51" fmla="*/ 9 h 16"/>
                  <a:gd name="T52" fmla="*/ 19 w 22"/>
                  <a:gd name="T53" fmla="*/ 7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 h="16">
                    <a:moveTo>
                      <a:pt x="19" y="7"/>
                    </a:moveTo>
                    <a:cubicBezTo>
                      <a:pt x="17" y="7"/>
                      <a:pt x="18" y="6"/>
                      <a:pt x="18" y="5"/>
                    </a:cubicBezTo>
                    <a:cubicBezTo>
                      <a:pt x="18" y="3"/>
                      <a:pt x="16" y="4"/>
                      <a:pt x="15" y="4"/>
                    </a:cubicBezTo>
                    <a:cubicBezTo>
                      <a:pt x="14" y="4"/>
                      <a:pt x="13" y="3"/>
                      <a:pt x="12" y="2"/>
                    </a:cubicBezTo>
                    <a:cubicBezTo>
                      <a:pt x="11" y="2"/>
                      <a:pt x="10" y="2"/>
                      <a:pt x="9" y="1"/>
                    </a:cubicBezTo>
                    <a:cubicBezTo>
                      <a:pt x="9" y="0"/>
                      <a:pt x="8" y="1"/>
                      <a:pt x="7" y="2"/>
                    </a:cubicBezTo>
                    <a:cubicBezTo>
                      <a:pt x="7" y="3"/>
                      <a:pt x="5" y="2"/>
                      <a:pt x="5" y="3"/>
                    </a:cubicBezTo>
                    <a:cubicBezTo>
                      <a:pt x="6" y="3"/>
                      <a:pt x="8" y="5"/>
                      <a:pt x="9" y="5"/>
                    </a:cubicBezTo>
                    <a:cubicBezTo>
                      <a:pt x="11" y="4"/>
                      <a:pt x="10" y="6"/>
                      <a:pt x="9" y="6"/>
                    </a:cubicBezTo>
                    <a:cubicBezTo>
                      <a:pt x="9" y="7"/>
                      <a:pt x="6" y="6"/>
                      <a:pt x="5" y="5"/>
                    </a:cubicBezTo>
                    <a:cubicBezTo>
                      <a:pt x="4" y="4"/>
                      <a:pt x="2" y="4"/>
                      <a:pt x="1" y="5"/>
                    </a:cubicBezTo>
                    <a:cubicBezTo>
                      <a:pt x="0" y="7"/>
                      <a:pt x="2" y="8"/>
                      <a:pt x="5" y="7"/>
                    </a:cubicBezTo>
                    <a:cubicBezTo>
                      <a:pt x="7" y="6"/>
                      <a:pt x="6" y="9"/>
                      <a:pt x="6" y="11"/>
                    </a:cubicBezTo>
                    <a:cubicBezTo>
                      <a:pt x="5" y="12"/>
                      <a:pt x="8" y="12"/>
                      <a:pt x="8" y="11"/>
                    </a:cubicBezTo>
                    <a:cubicBezTo>
                      <a:pt x="9" y="9"/>
                      <a:pt x="10" y="9"/>
                      <a:pt x="11" y="10"/>
                    </a:cubicBezTo>
                    <a:cubicBezTo>
                      <a:pt x="12" y="10"/>
                      <a:pt x="12" y="9"/>
                      <a:pt x="13" y="9"/>
                    </a:cubicBezTo>
                    <a:cubicBezTo>
                      <a:pt x="15" y="9"/>
                      <a:pt x="15" y="10"/>
                      <a:pt x="14" y="11"/>
                    </a:cubicBezTo>
                    <a:cubicBezTo>
                      <a:pt x="14" y="11"/>
                      <a:pt x="13" y="12"/>
                      <a:pt x="11" y="13"/>
                    </a:cubicBezTo>
                    <a:cubicBezTo>
                      <a:pt x="10" y="14"/>
                      <a:pt x="11" y="15"/>
                      <a:pt x="11" y="15"/>
                    </a:cubicBezTo>
                    <a:cubicBezTo>
                      <a:pt x="12" y="15"/>
                      <a:pt x="13" y="16"/>
                      <a:pt x="14" y="14"/>
                    </a:cubicBezTo>
                    <a:cubicBezTo>
                      <a:pt x="15" y="13"/>
                      <a:pt x="16" y="13"/>
                      <a:pt x="16" y="14"/>
                    </a:cubicBezTo>
                    <a:cubicBezTo>
                      <a:pt x="16" y="15"/>
                      <a:pt x="17" y="15"/>
                      <a:pt x="17" y="13"/>
                    </a:cubicBezTo>
                    <a:cubicBezTo>
                      <a:pt x="18" y="12"/>
                      <a:pt x="19" y="14"/>
                      <a:pt x="20" y="13"/>
                    </a:cubicBezTo>
                    <a:cubicBezTo>
                      <a:pt x="21" y="13"/>
                      <a:pt x="19" y="12"/>
                      <a:pt x="19" y="11"/>
                    </a:cubicBezTo>
                    <a:cubicBezTo>
                      <a:pt x="18" y="9"/>
                      <a:pt x="20" y="9"/>
                      <a:pt x="20" y="10"/>
                    </a:cubicBezTo>
                    <a:cubicBezTo>
                      <a:pt x="21" y="11"/>
                      <a:pt x="22" y="10"/>
                      <a:pt x="22" y="9"/>
                    </a:cubicBezTo>
                    <a:cubicBezTo>
                      <a:pt x="22" y="8"/>
                      <a:pt x="20" y="7"/>
                      <a:pt x="19"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84" name="Freeform 393">
                <a:extLst>
                  <a:ext uri="{FF2B5EF4-FFF2-40B4-BE49-F238E27FC236}">
                    <a16:creationId xmlns:a16="http://schemas.microsoft.com/office/drawing/2014/main" id="{EFBFF675-8D9C-4004-8B87-20158E22815E}"/>
                  </a:ext>
                </a:extLst>
              </p:cNvPr>
              <p:cNvSpPr>
                <a:spLocks/>
              </p:cNvSpPr>
              <p:nvPr/>
            </p:nvSpPr>
            <p:spPr bwMode="auto">
              <a:xfrm>
                <a:off x="1985" y="3888"/>
                <a:ext cx="3" cy="6"/>
              </a:xfrm>
              <a:custGeom>
                <a:avLst/>
                <a:gdLst>
                  <a:gd name="T0" fmla="*/ 0 w 2"/>
                  <a:gd name="T1" fmla="*/ 1 h 4"/>
                  <a:gd name="T2" fmla="*/ 1 w 2"/>
                  <a:gd name="T3" fmla="*/ 3 h 4"/>
                  <a:gd name="T4" fmla="*/ 0 w 2"/>
                  <a:gd name="T5" fmla="*/ 1 h 4"/>
                </a:gdLst>
                <a:ahLst/>
                <a:cxnLst>
                  <a:cxn ang="0">
                    <a:pos x="T0" y="T1"/>
                  </a:cxn>
                  <a:cxn ang="0">
                    <a:pos x="T2" y="T3"/>
                  </a:cxn>
                  <a:cxn ang="0">
                    <a:pos x="T4" y="T5"/>
                  </a:cxn>
                </a:cxnLst>
                <a:rect l="0" t="0" r="r" b="b"/>
                <a:pathLst>
                  <a:path w="2" h="4">
                    <a:moveTo>
                      <a:pt x="0" y="1"/>
                    </a:moveTo>
                    <a:cubicBezTo>
                      <a:pt x="0" y="1"/>
                      <a:pt x="0" y="4"/>
                      <a:pt x="1" y="3"/>
                    </a:cubicBezTo>
                    <a:cubicBezTo>
                      <a:pt x="2" y="2"/>
                      <a:pt x="1"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85" name="Freeform 394">
                <a:extLst>
                  <a:ext uri="{FF2B5EF4-FFF2-40B4-BE49-F238E27FC236}">
                    <a16:creationId xmlns:a16="http://schemas.microsoft.com/office/drawing/2014/main" id="{E594B0F4-1DF2-4D09-96A2-64E4C49BEAC3}"/>
                  </a:ext>
                </a:extLst>
              </p:cNvPr>
              <p:cNvSpPr>
                <a:spLocks/>
              </p:cNvSpPr>
              <p:nvPr/>
            </p:nvSpPr>
            <p:spPr bwMode="auto">
              <a:xfrm>
                <a:off x="1967" y="3868"/>
                <a:ext cx="35" cy="19"/>
              </a:xfrm>
              <a:custGeom>
                <a:avLst/>
                <a:gdLst>
                  <a:gd name="T0" fmla="*/ 23 w 25"/>
                  <a:gd name="T1" fmla="*/ 13 h 14"/>
                  <a:gd name="T2" fmla="*/ 21 w 25"/>
                  <a:gd name="T3" fmla="*/ 12 h 14"/>
                  <a:gd name="T4" fmla="*/ 19 w 25"/>
                  <a:gd name="T5" fmla="*/ 9 h 14"/>
                  <a:gd name="T6" fmla="*/ 18 w 25"/>
                  <a:gd name="T7" fmla="*/ 11 h 14"/>
                  <a:gd name="T8" fmla="*/ 17 w 25"/>
                  <a:gd name="T9" fmla="*/ 9 h 14"/>
                  <a:gd name="T10" fmla="*/ 15 w 25"/>
                  <a:gd name="T11" fmla="*/ 8 h 14"/>
                  <a:gd name="T12" fmla="*/ 12 w 25"/>
                  <a:gd name="T13" fmla="*/ 7 h 14"/>
                  <a:gd name="T14" fmla="*/ 10 w 25"/>
                  <a:gd name="T15" fmla="*/ 6 h 14"/>
                  <a:gd name="T16" fmla="*/ 6 w 25"/>
                  <a:gd name="T17" fmla="*/ 5 h 14"/>
                  <a:gd name="T18" fmla="*/ 4 w 25"/>
                  <a:gd name="T19" fmla="*/ 4 h 14"/>
                  <a:gd name="T20" fmla="*/ 1 w 25"/>
                  <a:gd name="T21" fmla="*/ 2 h 14"/>
                  <a:gd name="T22" fmla="*/ 0 w 25"/>
                  <a:gd name="T23" fmla="*/ 2 h 14"/>
                  <a:gd name="T24" fmla="*/ 6 w 25"/>
                  <a:gd name="T25" fmla="*/ 8 h 14"/>
                  <a:gd name="T26" fmla="*/ 12 w 25"/>
                  <a:gd name="T27" fmla="*/ 8 h 14"/>
                  <a:gd name="T28" fmla="*/ 16 w 25"/>
                  <a:gd name="T29" fmla="*/ 11 h 14"/>
                  <a:gd name="T30" fmla="*/ 22 w 25"/>
                  <a:gd name="T31" fmla="*/ 14 h 14"/>
                  <a:gd name="T32" fmla="*/ 23 w 25"/>
                  <a:gd name="T33"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14">
                    <a:moveTo>
                      <a:pt x="23" y="13"/>
                    </a:moveTo>
                    <a:cubicBezTo>
                      <a:pt x="23" y="13"/>
                      <a:pt x="21" y="12"/>
                      <a:pt x="21" y="12"/>
                    </a:cubicBezTo>
                    <a:cubicBezTo>
                      <a:pt x="20" y="12"/>
                      <a:pt x="20" y="10"/>
                      <a:pt x="19" y="9"/>
                    </a:cubicBezTo>
                    <a:cubicBezTo>
                      <a:pt x="19" y="8"/>
                      <a:pt x="19" y="9"/>
                      <a:pt x="18" y="11"/>
                    </a:cubicBezTo>
                    <a:cubicBezTo>
                      <a:pt x="17" y="13"/>
                      <a:pt x="18" y="10"/>
                      <a:pt x="17" y="9"/>
                    </a:cubicBezTo>
                    <a:cubicBezTo>
                      <a:pt x="17" y="8"/>
                      <a:pt x="15" y="8"/>
                      <a:pt x="15" y="8"/>
                    </a:cubicBezTo>
                    <a:cubicBezTo>
                      <a:pt x="14" y="8"/>
                      <a:pt x="13" y="7"/>
                      <a:pt x="12" y="7"/>
                    </a:cubicBezTo>
                    <a:cubicBezTo>
                      <a:pt x="12" y="7"/>
                      <a:pt x="11" y="6"/>
                      <a:pt x="10" y="6"/>
                    </a:cubicBezTo>
                    <a:cubicBezTo>
                      <a:pt x="9" y="5"/>
                      <a:pt x="8" y="5"/>
                      <a:pt x="6" y="5"/>
                    </a:cubicBezTo>
                    <a:cubicBezTo>
                      <a:pt x="5" y="5"/>
                      <a:pt x="5" y="4"/>
                      <a:pt x="4" y="4"/>
                    </a:cubicBezTo>
                    <a:cubicBezTo>
                      <a:pt x="4" y="3"/>
                      <a:pt x="3" y="3"/>
                      <a:pt x="1" y="2"/>
                    </a:cubicBezTo>
                    <a:cubicBezTo>
                      <a:pt x="0" y="0"/>
                      <a:pt x="0" y="2"/>
                      <a:pt x="0" y="2"/>
                    </a:cubicBezTo>
                    <a:cubicBezTo>
                      <a:pt x="0" y="3"/>
                      <a:pt x="4" y="6"/>
                      <a:pt x="6" y="8"/>
                    </a:cubicBezTo>
                    <a:cubicBezTo>
                      <a:pt x="7" y="9"/>
                      <a:pt x="10" y="8"/>
                      <a:pt x="12" y="8"/>
                    </a:cubicBezTo>
                    <a:cubicBezTo>
                      <a:pt x="13" y="7"/>
                      <a:pt x="14" y="10"/>
                      <a:pt x="16" y="11"/>
                    </a:cubicBezTo>
                    <a:cubicBezTo>
                      <a:pt x="17" y="13"/>
                      <a:pt x="19" y="14"/>
                      <a:pt x="22" y="14"/>
                    </a:cubicBezTo>
                    <a:cubicBezTo>
                      <a:pt x="25" y="14"/>
                      <a:pt x="24" y="14"/>
                      <a:pt x="23" y="1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86" name="Freeform 395">
                <a:extLst>
                  <a:ext uri="{FF2B5EF4-FFF2-40B4-BE49-F238E27FC236}">
                    <a16:creationId xmlns:a16="http://schemas.microsoft.com/office/drawing/2014/main" id="{8164966E-2D26-467B-BBD5-9ECC6FB5DED6}"/>
                  </a:ext>
                </a:extLst>
              </p:cNvPr>
              <p:cNvSpPr>
                <a:spLocks/>
              </p:cNvSpPr>
              <p:nvPr/>
            </p:nvSpPr>
            <p:spPr bwMode="auto">
              <a:xfrm>
                <a:off x="1977" y="3861"/>
                <a:ext cx="12" cy="9"/>
              </a:xfrm>
              <a:custGeom>
                <a:avLst/>
                <a:gdLst>
                  <a:gd name="T0" fmla="*/ 5 w 9"/>
                  <a:gd name="T1" fmla="*/ 6 h 7"/>
                  <a:gd name="T2" fmla="*/ 8 w 9"/>
                  <a:gd name="T3" fmla="*/ 3 h 7"/>
                  <a:gd name="T4" fmla="*/ 9 w 9"/>
                  <a:gd name="T5" fmla="*/ 1 h 7"/>
                  <a:gd name="T6" fmla="*/ 7 w 9"/>
                  <a:gd name="T7" fmla="*/ 0 h 7"/>
                  <a:gd name="T8" fmla="*/ 6 w 9"/>
                  <a:gd name="T9" fmla="*/ 3 h 7"/>
                  <a:gd name="T10" fmla="*/ 5 w 9"/>
                  <a:gd name="T11" fmla="*/ 6 h 7"/>
                </a:gdLst>
                <a:ahLst/>
                <a:cxnLst>
                  <a:cxn ang="0">
                    <a:pos x="T0" y="T1"/>
                  </a:cxn>
                  <a:cxn ang="0">
                    <a:pos x="T2" y="T3"/>
                  </a:cxn>
                  <a:cxn ang="0">
                    <a:pos x="T4" y="T5"/>
                  </a:cxn>
                  <a:cxn ang="0">
                    <a:pos x="T6" y="T7"/>
                  </a:cxn>
                  <a:cxn ang="0">
                    <a:pos x="T8" y="T9"/>
                  </a:cxn>
                  <a:cxn ang="0">
                    <a:pos x="T10" y="T11"/>
                  </a:cxn>
                </a:cxnLst>
                <a:rect l="0" t="0" r="r" b="b"/>
                <a:pathLst>
                  <a:path w="9" h="7">
                    <a:moveTo>
                      <a:pt x="5" y="6"/>
                    </a:moveTo>
                    <a:cubicBezTo>
                      <a:pt x="7" y="5"/>
                      <a:pt x="8" y="5"/>
                      <a:pt x="8" y="3"/>
                    </a:cubicBezTo>
                    <a:cubicBezTo>
                      <a:pt x="8" y="2"/>
                      <a:pt x="8" y="2"/>
                      <a:pt x="9" y="1"/>
                    </a:cubicBezTo>
                    <a:cubicBezTo>
                      <a:pt x="9" y="1"/>
                      <a:pt x="8" y="0"/>
                      <a:pt x="7" y="0"/>
                    </a:cubicBezTo>
                    <a:cubicBezTo>
                      <a:pt x="6" y="1"/>
                      <a:pt x="0" y="4"/>
                      <a:pt x="6" y="3"/>
                    </a:cubicBezTo>
                    <a:cubicBezTo>
                      <a:pt x="6" y="3"/>
                      <a:pt x="4" y="7"/>
                      <a:pt x="5"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87" name="Freeform 396">
                <a:extLst>
                  <a:ext uri="{FF2B5EF4-FFF2-40B4-BE49-F238E27FC236}">
                    <a16:creationId xmlns:a16="http://schemas.microsoft.com/office/drawing/2014/main" id="{FCE451F3-F1AD-45B0-AC3A-055340A76C48}"/>
                  </a:ext>
                </a:extLst>
              </p:cNvPr>
              <p:cNvSpPr>
                <a:spLocks/>
              </p:cNvSpPr>
              <p:nvPr/>
            </p:nvSpPr>
            <p:spPr bwMode="auto">
              <a:xfrm>
                <a:off x="1973" y="3851"/>
                <a:ext cx="12" cy="10"/>
              </a:xfrm>
              <a:custGeom>
                <a:avLst/>
                <a:gdLst>
                  <a:gd name="T0" fmla="*/ 7 w 9"/>
                  <a:gd name="T1" fmla="*/ 6 h 7"/>
                  <a:gd name="T2" fmla="*/ 7 w 9"/>
                  <a:gd name="T3" fmla="*/ 4 h 7"/>
                  <a:gd name="T4" fmla="*/ 2 w 9"/>
                  <a:gd name="T5" fmla="*/ 1 h 7"/>
                  <a:gd name="T6" fmla="*/ 2 w 9"/>
                  <a:gd name="T7" fmla="*/ 2 h 7"/>
                  <a:gd name="T8" fmla="*/ 5 w 9"/>
                  <a:gd name="T9" fmla="*/ 3 h 7"/>
                  <a:gd name="T10" fmla="*/ 7 w 9"/>
                  <a:gd name="T11" fmla="*/ 6 h 7"/>
                </a:gdLst>
                <a:ahLst/>
                <a:cxnLst>
                  <a:cxn ang="0">
                    <a:pos x="T0" y="T1"/>
                  </a:cxn>
                  <a:cxn ang="0">
                    <a:pos x="T2" y="T3"/>
                  </a:cxn>
                  <a:cxn ang="0">
                    <a:pos x="T4" y="T5"/>
                  </a:cxn>
                  <a:cxn ang="0">
                    <a:pos x="T6" y="T7"/>
                  </a:cxn>
                  <a:cxn ang="0">
                    <a:pos x="T8" y="T9"/>
                  </a:cxn>
                  <a:cxn ang="0">
                    <a:pos x="T10" y="T11"/>
                  </a:cxn>
                </a:cxnLst>
                <a:rect l="0" t="0" r="r" b="b"/>
                <a:pathLst>
                  <a:path w="9" h="7">
                    <a:moveTo>
                      <a:pt x="7" y="6"/>
                    </a:moveTo>
                    <a:cubicBezTo>
                      <a:pt x="7" y="6"/>
                      <a:pt x="9" y="6"/>
                      <a:pt x="7" y="4"/>
                    </a:cubicBezTo>
                    <a:cubicBezTo>
                      <a:pt x="6" y="2"/>
                      <a:pt x="4" y="0"/>
                      <a:pt x="2" y="1"/>
                    </a:cubicBezTo>
                    <a:cubicBezTo>
                      <a:pt x="1" y="1"/>
                      <a:pt x="0" y="2"/>
                      <a:pt x="2" y="2"/>
                    </a:cubicBezTo>
                    <a:cubicBezTo>
                      <a:pt x="4" y="2"/>
                      <a:pt x="6" y="2"/>
                      <a:pt x="5" y="3"/>
                    </a:cubicBezTo>
                    <a:cubicBezTo>
                      <a:pt x="4" y="5"/>
                      <a:pt x="4" y="7"/>
                      <a:pt x="7"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88" name="Freeform 397">
                <a:extLst>
                  <a:ext uri="{FF2B5EF4-FFF2-40B4-BE49-F238E27FC236}">
                    <a16:creationId xmlns:a16="http://schemas.microsoft.com/office/drawing/2014/main" id="{FF7F332B-B388-47E8-91EE-3EC2C20700AA}"/>
                  </a:ext>
                </a:extLst>
              </p:cNvPr>
              <p:cNvSpPr>
                <a:spLocks/>
              </p:cNvSpPr>
              <p:nvPr/>
            </p:nvSpPr>
            <p:spPr bwMode="auto">
              <a:xfrm>
                <a:off x="1963" y="3854"/>
                <a:ext cx="10" cy="4"/>
              </a:xfrm>
              <a:custGeom>
                <a:avLst/>
                <a:gdLst>
                  <a:gd name="T0" fmla="*/ 3 w 7"/>
                  <a:gd name="T1" fmla="*/ 3 h 3"/>
                  <a:gd name="T2" fmla="*/ 4 w 7"/>
                  <a:gd name="T3" fmla="*/ 1 h 3"/>
                  <a:gd name="T4" fmla="*/ 1 w 7"/>
                  <a:gd name="T5" fmla="*/ 2 h 3"/>
                  <a:gd name="T6" fmla="*/ 3 w 7"/>
                  <a:gd name="T7" fmla="*/ 3 h 3"/>
                </a:gdLst>
                <a:ahLst/>
                <a:cxnLst>
                  <a:cxn ang="0">
                    <a:pos x="T0" y="T1"/>
                  </a:cxn>
                  <a:cxn ang="0">
                    <a:pos x="T2" y="T3"/>
                  </a:cxn>
                  <a:cxn ang="0">
                    <a:pos x="T4" y="T5"/>
                  </a:cxn>
                  <a:cxn ang="0">
                    <a:pos x="T6" y="T7"/>
                  </a:cxn>
                </a:cxnLst>
                <a:rect l="0" t="0" r="r" b="b"/>
                <a:pathLst>
                  <a:path w="7" h="3">
                    <a:moveTo>
                      <a:pt x="3" y="3"/>
                    </a:moveTo>
                    <a:cubicBezTo>
                      <a:pt x="3" y="3"/>
                      <a:pt x="7" y="1"/>
                      <a:pt x="4" y="1"/>
                    </a:cubicBezTo>
                    <a:cubicBezTo>
                      <a:pt x="2" y="1"/>
                      <a:pt x="0" y="0"/>
                      <a:pt x="1" y="2"/>
                    </a:cubicBezTo>
                    <a:cubicBezTo>
                      <a:pt x="2" y="3"/>
                      <a:pt x="3" y="3"/>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89" name="Freeform 398">
                <a:extLst>
                  <a:ext uri="{FF2B5EF4-FFF2-40B4-BE49-F238E27FC236}">
                    <a16:creationId xmlns:a16="http://schemas.microsoft.com/office/drawing/2014/main" id="{D9649E8E-D972-4BB7-B614-B10E4EAE9204}"/>
                  </a:ext>
                </a:extLst>
              </p:cNvPr>
              <p:cNvSpPr>
                <a:spLocks/>
              </p:cNvSpPr>
              <p:nvPr/>
            </p:nvSpPr>
            <p:spPr bwMode="auto">
              <a:xfrm>
                <a:off x="1962" y="3839"/>
                <a:ext cx="5" cy="15"/>
              </a:xfrm>
              <a:custGeom>
                <a:avLst/>
                <a:gdLst>
                  <a:gd name="T0" fmla="*/ 4 w 4"/>
                  <a:gd name="T1" fmla="*/ 2 h 11"/>
                  <a:gd name="T2" fmla="*/ 2 w 4"/>
                  <a:gd name="T3" fmla="*/ 1 h 11"/>
                  <a:gd name="T4" fmla="*/ 2 w 4"/>
                  <a:gd name="T5" fmla="*/ 4 h 11"/>
                  <a:gd name="T6" fmla="*/ 0 w 4"/>
                  <a:gd name="T7" fmla="*/ 6 h 11"/>
                  <a:gd name="T8" fmla="*/ 1 w 4"/>
                  <a:gd name="T9" fmla="*/ 9 h 11"/>
                  <a:gd name="T10" fmla="*/ 4 w 4"/>
                  <a:gd name="T11" fmla="*/ 2 h 11"/>
                </a:gdLst>
                <a:ahLst/>
                <a:cxnLst>
                  <a:cxn ang="0">
                    <a:pos x="T0" y="T1"/>
                  </a:cxn>
                  <a:cxn ang="0">
                    <a:pos x="T2" y="T3"/>
                  </a:cxn>
                  <a:cxn ang="0">
                    <a:pos x="T4" y="T5"/>
                  </a:cxn>
                  <a:cxn ang="0">
                    <a:pos x="T6" y="T7"/>
                  </a:cxn>
                  <a:cxn ang="0">
                    <a:pos x="T8" y="T9"/>
                  </a:cxn>
                  <a:cxn ang="0">
                    <a:pos x="T10" y="T11"/>
                  </a:cxn>
                </a:cxnLst>
                <a:rect l="0" t="0" r="r" b="b"/>
                <a:pathLst>
                  <a:path w="4" h="11">
                    <a:moveTo>
                      <a:pt x="4" y="2"/>
                    </a:moveTo>
                    <a:cubicBezTo>
                      <a:pt x="3" y="0"/>
                      <a:pt x="2" y="0"/>
                      <a:pt x="2" y="1"/>
                    </a:cubicBezTo>
                    <a:cubicBezTo>
                      <a:pt x="2" y="3"/>
                      <a:pt x="3" y="4"/>
                      <a:pt x="2" y="4"/>
                    </a:cubicBezTo>
                    <a:cubicBezTo>
                      <a:pt x="1" y="4"/>
                      <a:pt x="0" y="4"/>
                      <a:pt x="0" y="6"/>
                    </a:cubicBezTo>
                    <a:cubicBezTo>
                      <a:pt x="0" y="7"/>
                      <a:pt x="0" y="11"/>
                      <a:pt x="1" y="9"/>
                    </a:cubicBezTo>
                    <a:cubicBezTo>
                      <a:pt x="1" y="9"/>
                      <a:pt x="4" y="4"/>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90" name="Freeform 399">
                <a:extLst>
                  <a:ext uri="{FF2B5EF4-FFF2-40B4-BE49-F238E27FC236}">
                    <a16:creationId xmlns:a16="http://schemas.microsoft.com/office/drawing/2014/main" id="{3DD09748-E296-40FC-A652-CFC46F7FD2CC}"/>
                  </a:ext>
                </a:extLst>
              </p:cNvPr>
              <p:cNvSpPr>
                <a:spLocks/>
              </p:cNvSpPr>
              <p:nvPr/>
            </p:nvSpPr>
            <p:spPr bwMode="auto">
              <a:xfrm>
                <a:off x="1960" y="3843"/>
                <a:ext cx="3" cy="4"/>
              </a:xfrm>
              <a:custGeom>
                <a:avLst/>
                <a:gdLst>
                  <a:gd name="T0" fmla="*/ 1 w 2"/>
                  <a:gd name="T1" fmla="*/ 0 h 3"/>
                  <a:gd name="T2" fmla="*/ 0 w 2"/>
                  <a:gd name="T3" fmla="*/ 3 h 3"/>
                  <a:gd name="T4" fmla="*/ 1 w 2"/>
                  <a:gd name="T5" fmla="*/ 0 h 3"/>
                </a:gdLst>
                <a:ahLst/>
                <a:cxnLst>
                  <a:cxn ang="0">
                    <a:pos x="T0" y="T1"/>
                  </a:cxn>
                  <a:cxn ang="0">
                    <a:pos x="T2" y="T3"/>
                  </a:cxn>
                  <a:cxn ang="0">
                    <a:pos x="T4" y="T5"/>
                  </a:cxn>
                </a:cxnLst>
                <a:rect l="0" t="0" r="r" b="b"/>
                <a:pathLst>
                  <a:path w="2" h="3">
                    <a:moveTo>
                      <a:pt x="1" y="0"/>
                    </a:moveTo>
                    <a:cubicBezTo>
                      <a:pt x="1" y="0"/>
                      <a:pt x="0" y="3"/>
                      <a:pt x="0" y="3"/>
                    </a:cubicBezTo>
                    <a:cubicBezTo>
                      <a:pt x="0" y="2"/>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91" name="Freeform 400">
                <a:extLst>
                  <a:ext uri="{FF2B5EF4-FFF2-40B4-BE49-F238E27FC236}">
                    <a16:creationId xmlns:a16="http://schemas.microsoft.com/office/drawing/2014/main" id="{B8584A88-53F7-49BD-877D-08C75B9B30FB}"/>
                  </a:ext>
                </a:extLst>
              </p:cNvPr>
              <p:cNvSpPr>
                <a:spLocks/>
              </p:cNvSpPr>
              <p:nvPr/>
            </p:nvSpPr>
            <p:spPr bwMode="auto">
              <a:xfrm>
                <a:off x="1971" y="3842"/>
                <a:ext cx="10" cy="5"/>
              </a:xfrm>
              <a:custGeom>
                <a:avLst/>
                <a:gdLst>
                  <a:gd name="T0" fmla="*/ 5 w 7"/>
                  <a:gd name="T1" fmla="*/ 4 h 4"/>
                  <a:gd name="T2" fmla="*/ 1 w 7"/>
                  <a:gd name="T3" fmla="*/ 0 h 4"/>
                  <a:gd name="T4" fmla="*/ 5 w 7"/>
                  <a:gd name="T5" fmla="*/ 4 h 4"/>
                </a:gdLst>
                <a:ahLst/>
                <a:cxnLst>
                  <a:cxn ang="0">
                    <a:pos x="T0" y="T1"/>
                  </a:cxn>
                  <a:cxn ang="0">
                    <a:pos x="T2" y="T3"/>
                  </a:cxn>
                  <a:cxn ang="0">
                    <a:pos x="T4" y="T5"/>
                  </a:cxn>
                </a:cxnLst>
                <a:rect l="0" t="0" r="r" b="b"/>
                <a:pathLst>
                  <a:path w="7" h="4">
                    <a:moveTo>
                      <a:pt x="5" y="4"/>
                    </a:moveTo>
                    <a:cubicBezTo>
                      <a:pt x="7" y="3"/>
                      <a:pt x="2" y="1"/>
                      <a:pt x="1" y="0"/>
                    </a:cubicBezTo>
                    <a:cubicBezTo>
                      <a:pt x="0" y="0"/>
                      <a:pt x="5" y="4"/>
                      <a:pt x="5"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92" name="Freeform 401">
                <a:extLst>
                  <a:ext uri="{FF2B5EF4-FFF2-40B4-BE49-F238E27FC236}">
                    <a16:creationId xmlns:a16="http://schemas.microsoft.com/office/drawing/2014/main" id="{FFC04EF8-0B48-4D64-BB65-251B682F27C5}"/>
                  </a:ext>
                </a:extLst>
              </p:cNvPr>
              <p:cNvSpPr>
                <a:spLocks/>
              </p:cNvSpPr>
              <p:nvPr/>
            </p:nvSpPr>
            <p:spPr bwMode="auto">
              <a:xfrm>
                <a:off x="1981" y="3846"/>
                <a:ext cx="7" cy="8"/>
              </a:xfrm>
              <a:custGeom>
                <a:avLst/>
                <a:gdLst>
                  <a:gd name="T0" fmla="*/ 1 w 5"/>
                  <a:gd name="T1" fmla="*/ 2 h 6"/>
                  <a:gd name="T2" fmla="*/ 3 w 5"/>
                  <a:gd name="T3" fmla="*/ 2 h 6"/>
                  <a:gd name="T4" fmla="*/ 1 w 5"/>
                  <a:gd name="T5" fmla="*/ 2 h 6"/>
                </a:gdLst>
                <a:ahLst/>
                <a:cxnLst>
                  <a:cxn ang="0">
                    <a:pos x="T0" y="T1"/>
                  </a:cxn>
                  <a:cxn ang="0">
                    <a:pos x="T2" y="T3"/>
                  </a:cxn>
                  <a:cxn ang="0">
                    <a:pos x="T4" y="T5"/>
                  </a:cxn>
                </a:cxnLst>
                <a:rect l="0" t="0" r="r" b="b"/>
                <a:pathLst>
                  <a:path w="5" h="6">
                    <a:moveTo>
                      <a:pt x="1" y="2"/>
                    </a:moveTo>
                    <a:cubicBezTo>
                      <a:pt x="4" y="6"/>
                      <a:pt x="5" y="5"/>
                      <a:pt x="3" y="2"/>
                    </a:cubicBezTo>
                    <a:cubicBezTo>
                      <a:pt x="0" y="0"/>
                      <a:pt x="1"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93" name="Freeform 402">
                <a:extLst>
                  <a:ext uri="{FF2B5EF4-FFF2-40B4-BE49-F238E27FC236}">
                    <a16:creationId xmlns:a16="http://schemas.microsoft.com/office/drawing/2014/main" id="{EBB8194D-671C-4D69-98E8-99A04CA30726}"/>
                  </a:ext>
                </a:extLst>
              </p:cNvPr>
              <p:cNvSpPr>
                <a:spLocks/>
              </p:cNvSpPr>
              <p:nvPr/>
            </p:nvSpPr>
            <p:spPr bwMode="auto">
              <a:xfrm>
                <a:off x="1977" y="3838"/>
                <a:ext cx="7" cy="6"/>
              </a:xfrm>
              <a:custGeom>
                <a:avLst/>
                <a:gdLst>
                  <a:gd name="T0" fmla="*/ 3 w 5"/>
                  <a:gd name="T1" fmla="*/ 0 h 5"/>
                  <a:gd name="T2" fmla="*/ 2 w 5"/>
                  <a:gd name="T3" fmla="*/ 2 h 5"/>
                  <a:gd name="T4" fmla="*/ 1 w 5"/>
                  <a:gd name="T5" fmla="*/ 3 h 5"/>
                  <a:gd name="T6" fmla="*/ 4 w 5"/>
                  <a:gd name="T7" fmla="*/ 3 h 5"/>
                  <a:gd name="T8" fmla="*/ 3 w 5"/>
                  <a:gd name="T9" fmla="*/ 0 h 5"/>
                </a:gdLst>
                <a:ahLst/>
                <a:cxnLst>
                  <a:cxn ang="0">
                    <a:pos x="T0" y="T1"/>
                  </a:cxn>
                  <a:cxn ang="0">
                    <a:pos x="T2" y="T3"/>
                  </a:cxn>
                  <a:cxn ang="0">
                    <a:pos x="T4" y="T5"/>
                  </a:cxn>
                  <a:cxn ang="0">
                    <a:pos x="T6" y="T7"/>
                  </a:cxn>
                  <a:cxn ang="0">
                    <a:pos x="T8" y="T9"/>
                  </a:cxn>
                </a:cxnLst>
                <a:rect l="0" t="0" r="r" b="b"/>
                <a:pathLst>
                  <a:path w="5" h="5">
                    <a:moveTo>
                      <a:pt x="3" y="0"/>
                    </a:moveTo>
                    <a:cubicBezTo>
                      <a:pt x="2" y="0"/>
                      <a:pt x="2" y="1"/>
                      <a:pt x="2" y="2"/>
                    </a:cubicBezTo>
                    <a:cubicBezTo>
                      <a:pt x="2" y="2"/>
                      <a:pt x="0" y="2"/>
                      <a:pt x="1" y="3"/>
                    </a:cubicBezTo>
                    <a:cubicBezTo>
                      <a:pt x="1" y="3"/>
                      <a:pt x="5" y="5"/>
                      <a:pt x="4" y="3"/>
                    </a:cubicBezTo>
                    <a:cubicBezTo>
                      <a:pt x="3" y="2"/>
                      <a:pt x="4" y="0"/>
                      <a:pt x="3"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94" name="Freeform 403">
                <a:extLst>
                  <a:ext uri="{FF2B5EF4-FFF2-40B4-BE49-F238E27FC236}">
                    <a16:creationId xmlns:a16="http://schemas.microsoft.com/office/drawing/2014/main" id="{6D3A2DBD-7B88-4654-84B2-F1DCD5002596}"/>
                  </a:ext>
                </a:extLst>
              </p:cNvPr>
              <p:cNvSpPr>
                <a:spLocks/>
              </p:cNvSpPr>
              <p:nvPr/>
            </p:nvSpPr>
            <p:spPr bwMode="auto">
              <a:xfrm>
                <a:off x="1956" y="3829"/>
                <a:ext cx="7" cy="11"/>
              </a:xfrm>
              <a:custGeom>
                <a:avLst/>
                <a:gdLst>
                  <a:gd name="T0" fmla="*/ 3 w 5"/>
                  <a:gd name="T1" fmla="*/ 1 h 8"/>
                  <a:gd name="T2" fmla="*/ 1 w 5"/>
                  <a:gd name="T3" fmla="*/ 2 h 8"/>
                  <a:gd name="T4" fmla="*/ 0 w 5"/>
                  <a:gd name="T5" fmla="*/ 5 h 8"/>
                  <a:gd name="T6" fmla="*/ 0 w 5"/>
                  <a:gd name="T7" fmla="*/ 7 h 8"/>
                  <a:gd name="T8" fmla="*/ 2 w 5"/>
                  <a:gd name="T9" fmla="*/ 5 h 8"/>
                  <a:gd name="T10" fmla="*/ 3 w 5"/>
                  <a:gd name="T11" fmla="*/ 3 h 8"/>
                  <a:gd name="T12" fmla="*/ 3 w 5"/>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5" h="8">
                    <a:moveTo>
                      <a:pt x="3" y="1"/>
                    </a:moveTo>
                    <a:cubicBezTo>
                      <a:pt x="2" y="1"/>
                      <a:pt x="1" y="0"/>
                      <a:pt x="1" y="2"/>
                    </a:cubicBezTo>
                    <a:cubicBezTo>
                      <a:pt x="1" y="3"/>
                      <a:pt x="0" y="5"/>
                      <a:pt x="0" y="5"/>
                    </a:cubicBezTo>
                    <a:cubicBezTo>
                      <a:pt x="0" y="5"/>
                      <a:pt x="0" y="8"/>
                      <a:pt x="0" y="7"/>
                    </a:cubicBezTo>
                    <a:cubicBezTo>
                      <a:pt x="1" y="6"/>
                      <a:pt x="2" y="6"/>
                      <a:pt x="2" y="5"/>
                    </a:cubicBezTo>
                    <a:cubicBezTo>
                      <a:pt x="2" y="3"/>
                      <a:pt x="3" y="3"/>
                      <a:pt x="3" y="3"/>
                    </a:cubicBezTo>
                    <a:cubicBezTo>
                      <a:pt x="4" y="3"/>
                      <a:pt x="5" y="2"/>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95" name="Freeform 404">
                <a:extLst>
                  <a:ext uri="{FF2B5EF4-FFF2-40B4-BE49-F238E27FC236}">
                    <a16:creationId xmlns:a16="http://schemas.microsoft.com/office/drawing/2014/main" id="{A93BB04E-C863-46F6-82C6-3C4B8E35B896}"/>
                  </a:ext>
                </a:extLst>
              </p:cNvPr>
              <p:cNvSpPr>
                <a:spLocks/>
              </p:cNvSpPr>
              <p:nvPr/>
            </p:nvSpPr>
            <p:spPr bwMode="auto">
              <a:xfrm>
                <a:off x="1962" y="3827"/>
                <a:ext cx="9" cy="8"/>
              </a:xfrm>
              <a:custGeom>
                <a:avLst/>
                <a:gdLst>
                  <a:gd name="T0" fmla="*/ 6 w 7"/>
                  <a:gd name="T1" fmla="*/ 1 h 6"/>
                  <a:gd name="T2" fmla="*/ 2 w 7"/>
                  <a:gd name="T3" fmla="*/ 4 h 6"/>
                  <a:gd name="T4" fmla="*/ 2 w 7"/>
                  <a:gd name="T5" fmla="*/ 6 h 6"/>
                  <a:gd name="T6" fmla="*/ 4 w 7"/>
                  <a:gd name="T7" fmla="*/ 3 h 6"/>
                  <a:gd name="T8" fmla="*/ 6 w 7"/>
                  <a:gd name="T9" fmla="*/ 5 h 6"/>
                  <a:gd name="T10" fmla="*/ 6 w 7"/>
                  <a:gd name="T11" fmla="*/ 3 h 6"/>
                  <a:gd name="T12" fmla="*/ 6 w 7"/>
                  <a:gd name="T13" fmla="*/ 1 h 6"/>
                </a:gdLst>
                <a:ahLst/>
                <a:cxnLst>
                  <a:cxn ang="0">
                    <a:pos x="T0" y="T1"/>
                  </a:cxn>
                  <a:cxn ang="0">
                    <a:pos x="T2" y="T3"/>
                  </a:cxn>
                  <a:cxn ang="0">
                    <a:pos x="T4" y="T5"/>
                  </a:cxn>
                  <a:cxn ang="0">
                    <a:pos x="T6" y="T7"/>
                  </a:cxn>
                  <a:cxn ang="0">
                    <a:pos x="T8" y="T9"/>
                  </a:cxn>
                  <a:cxn ang="0">
                    <a:pos x="T10" y="T11"/>
                  </a:cxn>
                  <a:cxn ang="0">
                    <a:pos x="T12" y="T13"/>
                  </a:cxn>
                </a:cxnLst>
                <a:rect l="0" t="0" r="r" b="b"/>
                <a:pathLst>
                  <a:path w="7" h="6">
                    <a:moveTo>
                      <a:pt x="6" y="1"/>
                    </a:moveTo>
                    <a:cubicBezTo>
                      <a:pt x="5" y="0"/>
                      <a:pt x="3" y="2"/>
                      <a:pt x="2" y="4"/>
                    </a:cubicBezTo>
                    <a:cubicBezTo>
                      <a:pt x="0" y="6"/>
                      <a:pt x="2" y="6"/>
                      <a:pt x="2" y="6"/>
                    </a:cubicBezTo>
                    <a:cubicBezTo>
                      <a:pt x="4" y="5"/>
                      <a:pt x="4" y="5"/>
                      <a:pt x="4" y="3"/>
                    </a:cubicBezTo>
                    <a:cubicBezTo>
                      <a:pt x="4" y="2"/>
                      <a:pt x="5" y="3"/>
                      <a:pt x="6" y="5"/>
                    </a:cubicBezTo>
                    <a:cubicBezTo>
                      <a:pt x="7" y="6"/>
                      <a:pt x="6" y="3"/>
                      <a:pt x="6" y="3"/>
                    </a:cubicBezTo>
                    <a:cubicBezTo>
                      <a:pt x="6" y="2"/>
                      <a:pt x="7" y="2"/>
                      <a:pt x="6"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96" name="Freeform 405">
                <a:extLst>
                  <a:ext uri="{FF2B5EF4-FFF2-40B4-BE49-F238E27FC236}">
                    <a16:creationId xmlns:a16="http://schemas.microsoft.com/office/drawing/2014/main" id="{4CA31D90-FAD8-43FD-86C0-66E9E8E38E10}"/>
                  </a:ext>
                </a:extLst>
              </p:cNvPr>
              <p:cNvSpPr>
                <a:spLocks/>
              </p:cNvSpPr>
              <p:nvPr/>
            </p:nvSpPr>
            <p:spPr bwMode="auto">
              <a:xfrm>
                <a:off x="1962" y="3816"/>
                <a:ext cx="14" cy="9"/>
              </a:xfrm>
              <a:custGeom>
                <a:avLst/>
                <a:gdLst>
                  <a:gd name="T0" fmla="*/ 8 w 10"/>
                  <a:gd name="T1" fmla="*/ 6 h 7"/>
                  <a:gd name="T2" fmla="*/ 9 w 10"/>
                  <a:gd name="T3" fmla="*/ 3 h 7"/>
                  <a:gd name="T4" fmla="*/ 7 w 10"/>
                  <a:gd name="T5" fmla="*/ 0 h 7"/>
                  <a:gd name="T6" fmla="*/ 6 w 10"/>
                  <a:gd name="T7" fmla="*/ 2 h 7"/>
                  <a:gd name="T8" fmla="*/ 2 w 10"/>
                  <a:gd name="T9" fmla="*/ 3 h 7"/>
                  <a:gd name="T10" fmla="*/ 2 w 10"/>
                  <a:gd name="T11" fmla="*/ 4 h 7"/>
                  <a:gd name="T12" fmla="*/ 6 w 10"/>
                  <a:gd name="T13" fmla="*/ 6 h 7"/>
                  <a:gd name="T14" fmla="*/ 8 w 10"/>
                  <a:gd name="T15" fmla="*/ 6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7">
                    <a:moveTo>
                      <a:pt x="8" y="6"/>
                    </a:moveTo>
                    <a:cubicBezTo>
                      <a:pt x="10" y="6"/>
                      <a:pt x="9" y="5"/>
                      <a:pt x="9" y="3"/>
                    </a:cubicBezTo>
                    <a:cubicBezTo>
                      <a:pt x="8" y="1"/>
                      <a:pt x="8" y="1"/>
                      <a:pt x="7" y="0"/>
                    </a:cubicBezTo>
                    <a:cubicBezTo>
                      <a:pt x="5" y="0"/>
                      <a:pt x="7" y="0"/>
                      <a:pt x="6" y="2"/>
                    </a:cubicBezTo>
                    <a:cubicBezTo>
                      <a:pt x="5" y="3"/>
                      <a:pt x="4" y="4"/>
                      <a:pt x="2" y="3"/>
                    </a:cubicBezTo>
                    <a:cubicBezTo>
                      <a:pt x="0" y="2"/>
                      <a:pt x="2" y="4"/>
                      <a:pt x="2" y="4"/>
                    </a:cubicBezTo>
                    <a:cubicBezTo>
                      <a:pt x="4" y="7"/>
                      <a:pt x="5" y="7"/>
                      <a:pt x="6" y="6"/>
                    </a:cubicBezTo>
                    <a:cubicBezTo>
                      <a:pt x="7" y="5"/>
                      <a:pt x="7" y="5"/>
                      <a:pt x="8"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97" name="Freeform 406">
                <a:extLst>
                  <a:ext uri="{FF2B5EF4-FFF2-40B4-BE49-F238E27FC236}">
                    <a16:creationId xmlns:a16="http://schemas.microsoft.com/office/drawing/2014/main" id="{6FD660E7-CACD-4722-BA12-50957B3D01EC}"/>
                  </a:ext>
                </a:extLst>
              </p:cNvPr>
              <p:cNvSpPr>
                <a:spLocks/>
              </p:cNvSpPr>
              <p:nvPr/>
            </p:nvSpPr>
            <p:spPr bwMode="auto">
              <a:xfrm>
                <a:off x="1951" y="3807"/>
                <a:ext cx="9" cy="10"/>
              </a:xfrm>
              <a:custGeom>
                <a:avLst/>
                <a:gdLst>
                  <a:gd name="T0" fmla="*/ 3 w 7"/>
                  <a:gd name="T1" fmla="*/ 3 h 7"/>
                  <a:gd name="T2" fmla="*/ 6 w 7"/>
                  <a:gd name="T3" fmla="*/ 2 h 7"/>
                  <a:gd name="T4" fmla="*/ 4 w 7"/>
                  <a:gd name="T5" fmla="*/ 1 h 7"/>
                  <a:gd name="T6" fmla="*/ 1 w 7"/>
                  <a:gd name="T7" fmla="*/ 3 h 7"/>
                  <a:gd name="T8" fmla="*/ 2 w 7"/>
                  <a:gd name="T9" fmla="*/ 6 h 7"/>
                  <a:gd name="T10" fmla="*/ 4 w 7"/>
                  <a:gd name="T11" fmla="*/ 5 h 7"/>
                  <a:gd name="T12" fmla="*/ 3 w 7"/>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3" y="3"/>
                    </a:moveTo>
                    <a:cubicBezTo>
                      <a:pt x="2" y="2"/>
                      <a:pt x="5" y="3"/>
                      <a:pt x="6" y="2"/>
                    </a:cubicBezTo>
                    <a:cubicBezTo>
                      <a:pt x="7" y="1"/>
                      <a:pt x="5" y="1"/>
                      <a:pt x="4" y="1"/>
                    </a:cubicBezTo>
                    <a:cubicBezTo>
                      <a:pt x="2" y="0"/>
                      <a:pt x="1" y="1"/>
                      <a:pt x="1" y="3"/>
                    </a:cubicBezTo>
                    <a:cubicBezTo>
                      <a:pt x="1" y="5"/>
                      <a:pt x="0" y="4"/>
                      <a:pt x="2" y="6"/>
                    </a:cubicBezTo>
                    <a:cubicBezTo>
                      <a:pt x="4" y="7"/>
                      <a:pt x="4" y="5"/>
                      <a:pt x="4" y="5"/>
                    </a:cubicBezTo>
                    <a:cubicBezTo>
                      <a:pt x="4" y="5"/>
                      <a:pt x="4" y="4"/>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98" name="Freeform 407">
                <a:extLst>
                  <a:ext uri="{FF2B5EF4-FFF2-40B4-BE49-F238E27FC236}">
                    <a16:creationId xmlns:a16="http://schemas.microsoft.com/office/drawing/2014/main" id="{8482D8BA-C424-40F0-92B8-CF3FCBFC6094}"/>
                  </a:ext>
                </a:extLst>
              </p:cNvPr>
              <p:cNvSpPr>
                <a:spLocks/>
              </p:cNvSpPr>
              <p:nvPr/>
            </p:nvSpPr>
            <p:spPr bwMode="auto">
              <a:xfrm>
                <a:off x="1963" y="3813"/>
                <a:ext cx="4" cy="7"/>
              </a:xfrm>
              <a:custGeom>
                <a:avLst/>
                <a:gdLst>
                  <a:gd name="T0" fmla="*/ 2 w 3"/>
                  <a:gd name="T1" fmla="*/ 1 h 5"/>
                  <a:gd name="T2" fmla="*/ 1 w 3"/>
                  <a:gd name="T3" fmla="*/ 2 h 5"/>
                  <a:gd name="T4" fmla="*/ 3 w 3"/>
                  <a:gd name="T5" fmla="*/ 3 h 5"/>
                  <a:gd name="T6" fmla="*/ 2 w 3"/>
                  <a:gd name="T7" fmla="*/ 1 h 5"/>
                </a:gdLst>
                <a:ahLst/>
                <a:cxnLst>
                  <a:cxn ang="0">
                    <a:pos x="T0" y="T1"/>
                  </a:cxn>
                  <a:cxn ang="0">
                    <a:pos x="T2" y="T3"/>
                  </a:cxn>
                  <a:cxn ang="0">
                    <a:pos x="T4" y="T5"/>
                  </a:cxn>
                  <a:cxn ang="0">
                    <a:pos x="T6" y="T7"/>
                  </a:cxn>
                </a:cxnLst>
                <a:rect l="0" t="0" r="r" b="b"/>
                <a:pathLst>
                  <a:path w="3" h="5">
                    <a:moveTo>
                      <a:pt x="2" y="1"/>
                    </a:moveTo>
                    <a:cubicBezTo>
                      <a:pt x="1" y="1"/>
                      <a:pt x="0" y="1"/>
                      <a:pt x="1" y="2"/>
                    </a:cubicBezTo>
                    <a:cubicBezTo>
                      <a:pt x="2" y="3"/>
                      <a:pt x="3" y="5"/>
                      <a:pt x="3" y="3"/>
                    </a:cubicBezTo>
                    <a:cubicBezTo>
                      <a:pt x="3" y="1"/>
                      <a:pt x="2"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99" name="Freeform 408">
                <a:extLst>
                  <a:ext uri="{FF2B5EF4-FFF2-40B4-BE49-F238E27FC236}">
                    <a16:creationId xmlns:a16="http://schemas.microsoft.com/office/drawing/2014/main" id="{F8FAC0A8-5E1C-4425-B9C0-F74599364B0C}"/>
                  </a:ext>
                </a:extLst>
              </p:cNvPr>
              <p:cNvSpPr>
                <a:spLocks/>
              </p:cNvSpPr>
              <p:nvPr/>
            </p:nvSpPr>
            <p:spPr bwMode="auto">
              <a:xfrm>
                <a:off x="1966" y="3805"/>
                <a:ext cx="14" cy="13"/>
              </a:xfrm>
              <a:custGeom>
                <a:avLst/>
                <a:gdLst>
                  <a:gd name="T0" fmla="*/ 7 w 10"/>
                  <a:gd name="T1" fmla="*/ 4 h 10"/>
                  <a:gd name="T2" fmla="*/ 5 w 10"/>
                  <a:gd name="T3" fmla="*/ 2 h 10"/>
                  <a:gd name="T4" fmla="*/ 3 w 10"/>
                  <a:gd name="T5" fmla="*/ 5 h 10"/>
                  <a:gd name="T6" fmla="*/ 7 w 10"/>
                  <a:gd name="T7" fmla="*/ 9 h 10"/>
                  <a:gd name="T8" fmla="*/ 9 w 10"/>
                  <a:gd name="T9" fmla="*/ 9 h 10"/>
                  <a:gd name="T10" fmla="*/ 7 w 10"/>
                  <a:gd name="T11" fmla="*/ 6 h 10"/>
                  <a:gd name="T12" fmla="*/ 7 w 10"/>
                  <a:gd name="T13" fmla="*/ 4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7" y="4"/>
                    </a:moveTo>
                    <a:cubicBezTo>
                      <a:pt x="6" y="2"/>
                      <a:pt x="7" y="2"/>
                      <a:pt x="5" y="2"/>
                    </a:cubicBezTo>
                    <a:cubicBezTo>
                      <a:pt x="4" y="2"/>
                      <a:pt x="0" y="0"/>
                      <a:pt x="3" y="5"/>
                    </a:cubicBezTo>
                    <a:cubicBezTo>
                      <a:pt x="3" y="5"/>
                      <a:pt x="5" y="9"/>
                      <a:pt x="7" y="9"/>
                    </a:cubicBezTo>
                    <a:cubicBezTo>
                      <a:pt x="9" y="10"/>
                      <a:pt x="10" y="10"/>
                      <a:pt x="9" y="9"/>
                    </a:cubicBezTo>
                    <a:cubicBezTo>
                      <a:pt x="7" y="7"/>
                      <a:pt x="7" y="6"/>
                      <a:pt x="7" y="6"/>
                    </a:cubicBezTo>
                    <a:cubicBezTo>
                      <a:pt x="8" y="6"/>
                      <a:pt x="8" y="5"/>
                      <a:pt x="7"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00" name="Freeform 409">
                <a:extLst>
                  <a:ext uri="{FF2B5EF4-FFF2-40B4-BE49-F238E27FC236}">
                    <a16:creationId xmlns:a16="http://schemas.microsoft.com/office/drawing/2014/main" id="{B9BBFF1C-E8CE-4511-B168-05BAB9E28F85}"/>
                  </a:ext>
                </a:extLst>
              </p:cNvPr>
              <p:cNvSpPr>
                <a:spLocks/>
              </p:cNvSpPr>
              <p:nvPr/>
            </p:nvSpPr>
            <p:spPr bwMode="auto">
              <a:xfrm>
                <a:off x="1954" y="3796"/>
                <a:ext cx="13" cy="13"/>
              </a:xfrm>
              <a:custGeom>
                <a:avLst/>
                <a:gdLst>
                  <a:gd name="T0" fmla="*/ 4 w 10"/>
                  <a:gd name="T1" fmla="*/ 7 h 9"/>
                  <a:gd name="T2" fmla="*/ 7 w 10"/>
                  <a:gd name="T3" fmla="*/ 4 h 9"/>
                  <a:gd name="T4" fmla="*/ 9 w 10"/>
                  <a:gd name="T5" fmla="*/ 2 h 9"/>
                  <a:gd name="T6" fmla="*/ 5 w 10"/>
                  <a:gd name="T7" fmla="*/ 2 h 9"/>
                  <a:gd name="T8" fmla="*/ 6 w 10"/>
                  <a:gd name="T9" fmla="*/ 1 h 9"/>
                  <a:gd name="T10" fmla="*/ 3 w 10"/>
                  <a:gd name="T11" fmla="*/ 0 h 9"/>
                  <a:gd name="T12" fmla="*/ 1 w 10"/>
                  <a:gd name="T13" fmla="*/ 1 h 9"/>
                  <a:gd name="T14" fmla="*/ 3 w 10"/>
                  <a:gd name="T15" fmla="*/ 3 h 9"/>
                  <a:gd name="T16" fmla="*/ 0 w 10"/>
                  <a:gd name="T17" fmla="*/ 4 h 9"/>
                  <a:gd name="T18" fmla="*/ 3 w 10"/>
                  <a:gd name="T19" fmla="*/ 5 h 9"/>
                  <a:gd name="T20" fmla="*/ 4 w 10"/>
                  <a:gd name="T2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9">
                    <a:moveTo>
                      <a:pt x="4" y="7"/>
                    </a:moveTo>
                    <a:cubicBezTo>
                      <a:pt x="4" y="7"/>
                      <a:pt x="6" y="4"/>
                      <a:pt x="7" y="4"/>
                    </a:cubicBezTo>
                    <a:cubicBezTo>
                      <a:pt x="9" y="3"/>
                      <a:pt x="10" y="2"/>
                      <a:pt x="9" y="2"/>
                    </a:cubicBezTo>
                    <a:cubicBezTo>
                      <a:pt x="7" y="2"/>
                      <a:pt x="4" y="3"/>
                      <a:pt x="5" y="2"/>
                    </a:cubicBezTo>
                    <a:cubicBezTo>
                      <a:pt x="6" y="1"/>
                      <a:pt x="7" y="1"/>
                      <a:pt x="6" y="1"/>
                    </a:cubicBezTo>
                    <a:cubicBezTo>
                      <a:pt x="4" y="1"/>
                      <a:pt x="4" y="0"/>
                      <a:pt x="3" y="0"/>
                    </a:cubicBezTo>
                    <a:cubicBezTo>
                      <a:pt x="2" y="0"/>
                      <a:pt x="0" y="0"/>
                      <a:pt x="1" y="1"/>
                    </a:cubicBezTo>
                    <a:cubicBezTo>
                      <a:pt x="2" y="2"/>
                      <a:pt x="5" y="3"/>
                      <a:pt x="3" y="3"/>
                    </a:cubicBezTo>
                    <a:cubicBezTo>
                      <a:pt x="2" y="4"/>
                      <a:pt x="0" y="2"/>
                      <a:pt x="0" y="4"/>
                    </a:cubicBezTo>
                    <a:cubicBezTo>
                      <a:pt x="1" y="5"/>
                      <a:pt x="2" y="4"/>
                      <a:pt x="3" y="5"/>
                    </a:cubicBezTo>
                    <a:cubicBezTo>
                      <a:pt x="3" y="6"/>
                      <a:pt x="2" y="9"/>
                      <a:pt x="4"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01" name="Freeform 410">
                <a:extLst>
                  <a:ext uri="{FF2B5EF4-FFF2-40B4-BE49-F238E27FC236}">
                    <a16:creationId xmlns:a16="http://schemas.microsoft.com/office/drawing/2014/main" id="{3D2CBA11-9ADC-47DB-80CB-409A829EDD85}"/>
                  </a:ext>
                </a:extLst>
              </p:cNvPr>
              <p:cNvSpPr>
                <a:spLocks/>
              </p:cNvSpPr>
              <p:nvPr/>
            </p:nvSpPr>
            <p:spPr bwMode="auto">
              <a:xfrm>
                <a:off x="1949" y="3785"/>
                <a:ext cx="10" cy="7"/>
              </a:xfrm>
              <a:custGeom>
                <a:avLst/>
                <a:gdLst>
                  <a:gd name="T0" fmla="*/ 4 w 7"/>
                  <a:gd name="T1" fmla="*/ 4 h 5"/>
                  <a:gd name="T2" fmla="*/ 6 w 7"/>
                  <a:gd name="T3" fmla="*/ 5 h 5"/>
                  <a:gd name="T4" fmla="*/ 5 w 7"/>
                  <a:gd name="T5" fmla="*/ 3 h 5"/>
                  <a:gd name="T6" fmla="*/ 2 w 7"/>
                  <a:gd name="T7" fmla="*/ 0 h 5"/>
                  <a:gd name="T8" fmla="*/ 0 w 7"/>
                  <a:gd name="T9" fmla="*/ 2 h 5"/>
                  <a:gd name="T10" fmla="*/ 2 w 7"/>
                  <a:gd name="T11" fmla="*/ 3 h 5"/>
                  <a:gd name="T12" fmla="*/ 4 w 7"/>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4" y="4"/>
                    </a:moveTo>
                    <a:cubicBezTo>
                      <a:pt x="3" y="5"/>
                      <a:pt x="5" y="5"/>
                      <a:pt x="6" y="5"/>
                    </a:cubicBezTo>
                    <a:cubicBezTo>
                      <a:pt x="6" y="5"/>
                      <a:pt x="7" y="5"/>
                      <a:pt x="5" y="3"/>
                    </a:cubicBezTo>
                    <a:cubicBezTo>
                      <a:pt x="3" y="0"/>
                      <a:pt x="3" y="0"/>
                      <a:pt x="2" y="0"/>
                    </a:cubicBezTo>
                    <a:cubicBezTo>
                      <a:pt x="1" y="1"/>
                      <a:pt x="0" y="0"/>
                      <a:pt x="0" y="2"/>
                    </a:cubicBezTo>
                    <a:cubicBezTo>
                      <a:pt x="0" y="4"/>
                      <a:pt x="0" y="3"/>
                      <a:pt x="2" y="3"/>
                    </a:cubicBezTo>
                    <a:cubicBezTo>
                      <a:pt x="3" y="3"/>
                      <a:pt x="4" y="2"/>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02" name="Freeform 411">
                <a:extLst>
                  <a:ext uri="{FF2B5EF4-FFF2-40B4-BE49-F238E27FC236}">
                    <a16:creationId xmlns:a16="http://schemas.microsoft.com/office/drawing/2014/main" id="{736F9CDD-C38F-42E2-B9E3-F55B15CCC7F0}"/>
                  </a:ext>
                </a:extLst>
              </p:cNvPr>
              <p:cNvSpPr>
                <a:spLocks/>
              </p:cNvSpPr>
              <p:nvPr/>
            </p:nvSpPr>
            <p:spPr bwMode="auto">
              <a:xfrm>
                <a:off x="1952" y="3759"/>
                <a:ext cx="22" cy="37"/>
              </a:xfrm>
              <a:custGeom>
                <a:avLst/>
                <a:gdLst>
                  <a:gd name="T0" fmla="*/ 14 w 16"/>
                  <a:gd name="T1" fmla="*/ 5 h 27"/>
                  <a:gd name="T2" fmla="*/ 13 w 16"/>
                  <a:gd name="T3" fmla="*/ 2 h 27"/>
                  <a:gd name="T4" fmla="*/ 8 w 16"/>
                  <a:gd name="T5" fmla="*/ 2 h 27"/>
                  <a:gd name="T6" fmla="*/ 8 w 16"/>
                  <a:gd name="T7" fmla="*/ 4 h 27"/>
                  <a:gd name="T8" fmla="*/ 8 w 16"/>
                  <a:gd name="T9" fmla="*/ 6 h 27"/>
                  <a:gd name="T10" fmla="*/ 9 w 16"/>
                  <a:gd name="T11" fmla="*/ 7 h 27"/>
                  <a:gd name="T12" fmla="*/ 9 w 16"/>
                  <a:gd name="T13" fmla="*/ 8 h 27"/>
                  <a:gd name="T14" fmla="*/ 10 w 16"/>
                  <a:gd name="T15" fmla="*/ 12 h 27"/>
                  <a:gd name="T16" fmla="*/ 8 w 16"/>
                  <a:gd name="T17" fmla="*/ 13 h 27"/>
                  <a:gd name="T18" fmla="*/ 6 w 16"/>
                  <a:gd name="T19" fmla="*/ 12 h 27"/>
                  <a:gd name="T20" fmla="*/ 5 w 16"/>
                  <a:gd name="T21" fmla="*/ 13 h 27"/>
                  <a:gd name="T22" fmla="*/ 3 w 16"/>
                  <a:gd name="T23" fmla="*/ 12 h 27"/>
                  <a:gd name="T24" fmla="*/ 2 w 16"/>
                  <a:gd name="T25" fmla="*/ 13 h 27"/>
                  <a:gd name="T26" fmla="*/ 0 w 16"/>
                  <a:gd name="T27" fmla="*/ 14 h 27"/>
                  <a:gd name="T28" fmla="*/ 3 w 16"/>
                  <a:gd name="T29" fmla="*/ 19 h 27"/>
                  <a:gd name="T30" fmla="*/ 5 w 16"/>
                  <a:gd name="T31" fmla="*/ 23 h 27"/>
                  <a:gd name="T32" fmla="*/ 8 w 16"/>
                  <a:gd name="T33" fmla="*/ 21 h 27"/>
                  <a:gd name="T34" fmla="*/ 7 w 16"/>
                  <a:gd name="T35" fmla="*/ 17 h 27"/>
                  <a:gd name="T36" fmla="*/ 10 w 16"/>
                  <a:gd name="T37" fmla="*/ 16 h 27"/>
                  <a:gd name="T38" fmla="*/ 10 w 16"/>
                  <a:gd name="T39" fmla="*/ 17 h 27"/>
                  <a:gd name="T40" fmla="*/ 10 w 16"/>
                  <a:gd name="T41" fmla="*/ 18 h 27"/>
                  <a:gd name="T42" fmla="*/ 10 w 16"/>
                  <a:gd name="T43" fmla="*/ 19 h 27"/>
                  <a:gd name="T44" fmla="*/ 9 w 16"/>
                  <a:gd name="T45" fmla="*/ 20 h 27"/>
                  <a:gd name="T46" fmla="*/ 10 w 16"/>
                  <a:gd name="T47" fmla="*/ 23 h 27"/>
                  <a:gd name="T48" fmla="*/ 10 w 16"/>
                  <a:gd name="T49" fmla="*/ 24 h 27"/>
                  <a:gd name="T50" fmla="*/ 11 w 16"/>
                  <a:gd name="T51" fmla="*/ 25 h 27"/>
                  <a:gd name="T52" fmla="*/ 10 w 16"/>
                  <a:gd name="T53" fmla="*/ 26 h 27"/>
                  <a:gd name="T54" fmla="*/ 14 w 16"/>
                  <a:gd name="T55" fmla="*/ 26 h 27"/>
                  <a:gd name="T56" fmla="*/ 15 w 16"/>
                  <a:gd name="T57" fmla="*/ 24 h 27"/>
                  <a:gd name="T58" fmla="*/ 16 w 16"/>
                  <a:gd name="T59" fmla="*/ 20 h 27"/>
                  <a:gd name="T60" fmla="*/ 14 w 16"/>
                  <a:gd name="T61" fmla="*/ 16 h 27"/>
                  <a:gd name="T62" fmla="*/ 15 w 16"/>
                  <a:gd name="T63" fmla="*/ 11 h 27"/>
                  <a:gd name="T64" fmla="*/ 15 w 16"/>
                  <a:gd name="T65" fmla="*/ 7 h 27"/>
                  <a:gd name="T66" fmla="*/ 14 w 16"/>
                  <a:gd name="T67" fmla="*/ 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 h="27">
                    <a:moveTo>
                      <a:pt x="14" y="5"/>
                    </a:moveTo>
                    <a:cubicBezTo>
                      <a:pt x="14" y="4"/>
                      <a:pt x="15" y="1"/>
                      <a:pt x="13" y="2"/>
                    </a:cubicBezTo>
                    <a:cubicBezTo>
                      <a:pt x="12" y="2"/>
                      <a:pt x="10" y="0"/>
                      <a:pt x="8" y="2"/>
                    </a:cubicBezTo>
                    <a:cubicBezTo>
                      <a:pt x="7" y="3"/>
                      <a:pt x="7" y="4"/>
                      <a:pt x="8" y="4"/>
                    </a:cubicBezTo>
                    <a:cubicBezTo>
                      <a:pt x="9" y="4"/>
                      <a:pt x="7" y="6"/>
                      <a:pt x="8" y="6"/>
                    </a:cubicBezTo>
                    <a:cubicBezTo>
                      <a:pt x="10" y="6"/>
                      <a:pt x="10" y="6"/>
                      <a:pt x="9" y="7"/>
                    </a:cubicBezTo>
                    <a:cubicBezTo>
                      <a:pt x="9" y="7"/>
                      <a:pt x="8" y="7"/>
                      <a:pt x="9" y="8"/>
                    </a:cubicBezTo>
                    <a:cubicBezTo>
                      <a:pt x="10" y="9"/>
                      <a:pt x="10" y="11"/>
                      <a:pt x="10" y="12"/>
                    </a:cubicBezTo>
                    <a:cubicBezTo>
                      <a:pt x="9" y="14"/>
                      <a:pt x="9" y="14"/>
                      <a:pt x="8" y="13"/>
                    </a:cubicBezTo>
                    <a:cubicBezTo>
                      <a:pt x="7" y="12"/>
                      <a:pt x="6" y="11"/>
                      <a:pt x="6" y="12"/>
                    </a:cubicBezTo>
                    <a:cubicBezTo>
                      <a:pt x="6" y="13"/>
                      <a:pt x="5" y="13"/>
                      <a:pt x="5" y="13"/>
                    </a:cubicBezTo>
                    <a:cubicBezTo>
                      <a:pt x="4" y="13"/>
                      <a:pt x="3" y="11"/>
                      <a:pt x="3" y="12"/>
                    </a:cubicBezTo>
                    <a:cubicBezTo>
                      <a:pt x="2" y="13"/>
                      <a:pt x="2" y="13"/>
                      <a:pt x="2" y="13"/>
                    </a:cubicBezTo>
                    <a:cubicBezTo>
                      <a:pt x="1" y="13"/>
                      <a:pt x="0" y="12"/>
                      <a:pt x="0" y="14"/>
                    </a:cubicBezTo>
                    <a:cubicBezTo>
                      <a:pt x="1" y="15"/>
                      <a:pt x="2" y="18"/>
                      <a:pt x="3" y="19"/>
                    </a:cubicBezTo>
                    <a:cubicBezTo>
                      <a:pt x="3" y="20"/>
                      <a:pt x="4" y="23"/>
                      <a:pt x="5" y="23"/>
                    </a:cubicBezTo>
                    <a:cubicBezTo>
                      <a:pt x="7" y="23"/>
                      <a:pt x="8" y="23"/>
                      <a:pt x="8" y="21"/>
                    </a:cubicBezTo>
                    <a:cubicBezTo>
                      <a:pt x="8" y="20"/>
                      <a:pt x="6" y="17"/>
                      <a:pt x="7" y="17"/>
                    </a:cubicBezTo>
                    <a:cubicBezTo>
                      <a:pt x="8" y="16"/>
                      <a:pt x="9" y="17"/>
                      <a:pt x="10" y="16"/>
                    </a:cubicBezTo>
                    <a:cubicBezTo>
                      <a:pt x="11" y="16"/>
                      <a:pt x="10" y="16"/>
                      <a:pt x="10" y="17"/>
                    </a:cubicBezTo>
                    <a:cubicBezTo>
                      <a:pt x="9" y="18"/>
                      <a:pt x="9" y="17"/>
                      <a:pt x="10" y="18"/>
                    </a:cubicBezTo>
                    <a:cubicBezTo>
                      <a:pt x="10" y="18"/>
                      <a:pt x="11" y="19"/>
                      <a:pt x="10" y="19"/>
                    </a:cubicBezTo>
                    <a:cubicBezTo>
                      <a:pt x="9" y="19"/>
                      <a:pt x="8" y="19"/>
                      <a:pt x="9" y="20"/>
                    </a:cubicBezTo>
                    <a:cubicBezTo>
                      <a:pt x="10" y="21"/>
                      <a:pt x="11" y="22"/>
                      <a:pt x="10" y="23"/>
                    </a:cubicBezTo>
                    <a:cubicBezTo>
                      <a:pt x="9" y="24"/>
                      <a:pt x="9" y="24"/>
                      <a:pt x="10" y="24"/>
                    </a:cubicBezTo>
                    <a:cubicBezTo>
                      <a:pt x="12" y="24"/>
                      <a:pt x="12" y="25"/>
                      <a:pt x="11" y="25"/>
                    </a:cubicBezTo>
                    <a:cubicBezTo>
                      <a:pt x="11" y="25"/>
                      <a:pt x="8" y="25"/>
                      <a:pt x="10" y="26"/>
                    </a:cubicBezTo>
                    <a:cubicBezTo>
                      <a:pt x="11" y="27"/>
                      <a:pt x="13" y="27"/>
                      <a:pt x="14" y="26"/>
                    </a:cubicBezTo>
                    <a:cubicBezTo>
                      <a:pt x="14" y="26"/>
                      <a:pt x="15" y="25"/>
                      <a:pt x="15" y="24"/>
                    </a:cubicBezTo>
                    <a:cubicBezTo>
                      <a:pt x="15" y="23"/>
                      <a:pt x="16" y="21"/>
                      <a:pt x="16" y="20"/>
                    </a:cubicBezTo>
                    <a:cubicBezTo>
                      <a:pt x="15" y="18"/>
                      <a:pt x="13" y="17"/>
                      <a:pt x="14" y="16"/>
                    </a:cubicBezTo>
                    <a:cubicBezTo>
                      <a:pt x="15" y="14"/>
                      <a:pt x="15" y="12"/>
                      <a:pt x="15" y="11"/>
                    </a:cubicBezTo>
                    <a:cubicBezTo>
                      <a:pt x="15" y="10"/>
                      <a:pt x="14" y="8"/>
                      <a:pt x="15" y="7"/>
                    </a:cubicBezTo>
                    <a:cubicBezTo>
                      <a:pt x="15" y="6"/>
                      <a:pt x="15" y="5"/>
                      <a:pt x="14"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03" name="Freeform 412">
                <a:extLst>
                  <a:ext uri="{FF2B5EF4-FFF2-40B4-BE49-F238E27FC236}">
                    <a16:creationId xmlns:a16="http://schemas.microsoft.com/office/drawing/2014/main" id="{F1A8C098-BDB0-4030-B64D-A4BBE7B2721E}"/>
                  </a:ext>
                </a:extLst>
              </p:cNvPr>
              <p:cNvSpPr>
                <a:spLocks/>
              </p:cNvSpPr>
              <p:nvPr/>
            </p:nvSpPr>
            <p:spPr bwMode="auto">
              <a:xfrm>
                <a:off x="1958" y="3768"/>
                <a:ext cx="7" cy="9"/>
              </a:xfrm>
              <a:custGeom>
                <a:avLst/>
                <a:gdLst>
                  <a:gd name="T0" fmla="*/ 4 w 5"/>
                  <a:gd name="T1" fmla="*/ 6 h 7"/>
                  <a:gd name="T2" fmla="*/ 5 w 5"/>
                  <a:gd name="T3" fmla="*/ 3 h 7"/>
                  <a:gd name="T4" fmla="*/ 3 w 5"/>
                  <a:gd name="T5" fmla="*/ 2 h 7"/>
                  <a:gd name="T6" fmla="*/ 1 w 5"/>
                  <a:gd name="T7" fmla="*/ 4 h 7"/>
                  <a:gd name="T8" fmla="*/ 4 w 5"/>
                  <a:gd name="T9" fmla="*/ 6 h 7"/>
                </a:gdLst>
                <a:ahLst/>
                <a:cxnLst>
                  <a:cxn ang="0">
                    <a:pos x="T0" y="T1"/>
                  </a:cxn>
                  <a:cxn ang="0">
                    <a:pos x="T2" y="T3"/>
                  </a:cxn>
                  <a:cxn ang="0">
                    <a:pos x="T4" y="T5"/>
                  </a:cxn>
                  <a:cxn ang="0">
                    <a:pos x="T6" y="T7"/>
                  </a:cxn>
                  <a:cxn ang="0">
                    <a:pos x="T8" y="T9"/>
                  </a:cxn>
                </a:cxnLst>
                <a:rect l="0" t="0" r="r" b="b"/>
                <a:pathLst>
                  <a:path w="5" h="7">
                    <a:moveTo>
                      <a:pt x="4" y="6"/>
                    </a:moveTo>
                    <a:cubicBezTo>
                      <a:pt x="5" y="7"/>
                      <a:pt x="5" y="5"/>
                      <a:pt x="5" y="3"/>
                    </a:cubicBezTo>
                    <a:cubicBezTo>
                      <a:pt x="5" y="2"/>
                      <a:pt x="3" y="2"/>
                      <a:pt x="3" y="2"/>
                    </a:cubicBezTo>
                    <a:cubicBezTo>
                      <a:pt x="1" y="0"/>
                      <a:pt x="1" y="3"/>
                      <a:pt x="1" y="4"/>
                    </a:cubicBezTo>
                    <a:cubicBezTo>
                      <a:pt x="0" y="5"/>
                      <a:pt x="2" y="5"/>
                      <a:pt x="4"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04" name="Freeform 413">
                <a:extLst>
                  <a:ext uri="{FF2B5EF4-FFF2-40B4-BE49-F238E27FC236}">
                    <a16:creationId xmlns:a16="http://schemas.microsoft.com/office/drawing/2014/main" id="{AD6DCB4B-0DFB-4378-BB0F-D93F68595B03}"/>
                  </a:ext>
                </a:extLst>
              </p:cNvPr>
              <p:cNvSpPr>
                <a:spLocks/>
              </p:cNvSpPr>
              <p:nvPr/>
            </p:nvSpPr>
            <p:spPr bwMode="auto">
              <a:xfrm>
                <a:off x="1949" y="3768"/>
                <a:ext cx="7" cy="8"/>
              </a:xfrm>
              <a:custGeom>
                <a:avLst/>
                <a:gdLst>
                  <a:gd name="T0" fmla="*/ 1 w 5"/>
                  <a:gd name="T1" fmla="*/ 5 h 6"/>
                  <a:gd name="T2" fmla="*/ 2 w 5"/>
                  <a:gd name="T3" fmla="*/ 5 h 6"/>
                  <a:gd name="T4" fmla="*/ 4 w 5"/>
                  <a:gd name="T5" fmla="*/ 2 h 6"/>
                  <a:gd name="T6" fmla="*/ 1 w 5"/>
                  <a:gd name="T7" fmla="*/ 3 h 6"/>
                  <a:gd name="T8" fmla="*/ 1 w 5"/>
                  <a:gd name="T9" fmla="*/ 5 h 6"/>
                </a:gdLst>
                <a:ahLst/>
                <a:cxnLst>
                  <a:cxn ang="0">
                    <a:pos x="T0" y="T1"/>
                  </a:cxn>
                  <a:cxn ang="0">
                    <a:pos x="T2" y="T3"/>
                  </a:cxn>
                  <a:cxn ang="0">
                    <a:pos x="T4" y="T5"/>
                  </a:cxn>
                  <a:cxn ang="0">
                    <a:pos x="T6" y="T7"/>
                  </a:cxn>
                  <a:cxn ang="0">
                    <a:pos x="T8" y="T9"/>
                  </a:cxn>
                </a:cxnLst>
                <a:rect l="0" t="0" r="r" b="b"/>
                <a:pathLst>
                  <a:path w="5" h="6">
                    <a:moveTo>
                      <a:pt x="1" y="5"/>
                    </a:moveTo>
                    <a:cubicBezTo>
                      <a:pt x="2" y="6"/>
                      <a:pt x="2" y="5"/>
                      <a:pt x="2" y="5"/>
                    </a:cubicBezTo>
                    <a:cubicBezTo>
                      <a:pt x="3" y="3"/>
                      <a:pt x="5" y="3"/>
                      <a:pt x="4" y="2"/>
                    </a:cubicBezTo>
                    <a:cubicBezTo>
                      <a:pt x="4" y="0"/>
                      <a:pt x="2" y="2"/>
                      <a:pt x="1" y="3"/>
                    </a:cubicBezTo>
                    <a:cubicBezTo>
                      <a:pt x="0" y="4"/>
                      <a:pt x="0" y="5"/>
                      <a:pt x="1"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05" name="Freeform 414">
                <a:extLst>
                  <a:ext uri="{FF2B5EF4-FFF2-40B4-BE49-F238E27FC236}">
                    <a16:creationId xmlns:a16="http://schemas.microsoft.com/office/drawing/2014/main" id="{36AD42F9-04E0-490A-8029-03FD478D409B}"/>
                  </a:ext>
                </a:extLst>
              </p:cNvPr>
              <p:cNvSpPr>
                <a:spLocks/>
              </p:cNvSpPr>
              <p:nvPr/>
            </p:nvSpPr>
            <p:spPr bwMode="auto">
              <a:xfrm>
                <a:off x="1949" y="3763"/>
                <a:ext cx="11" cy="7"/>
              </a:xfrm>
              <a:custGeom>
                <a:avLst/>
                <a:gdLst>
                  <a:gd name="T0" fmla="*/ 5 w 8"/>
                  <a:gd name="T1" fmla="*/ 2 h 5"/>
                  <a:gd name="T2" fmla="*/ 3 w 8"/>
                  <a:gd name="T3" fmla="*/ 2 h 5"/>
                  <a:gd name="T4" fmla="*/ 1 w 8"/>
                  <a:gd name="T5" fmla="*/ 1 h 5"/>
                  <a:gd name="T6" fmla="*/ 1 w 8"/>
                  <a:gd name="T7" fmla="*/ 3 h 5"/>
                  <a:gd name="T8" fmla="*/ 5 w 8"/>
                  <a:gd name="T9" fmla="*/ 2 h 5"/>
                </a:gdLst>
                <a:ahLst/>
                <a:cxnLst>
                  <a:cxn ang="0">
                    <a:pos x="T0" y="T1"/>
                  </a:cxn>
                  <a:cxn ang="0">
                    <a:pos x="T2" y="T3"/>
                  </a:cxn>
                  <a:cxn ang="0">
                    <a:pos x="T4" y="T5"/>
                  </a:cxn>
                  <a:cxn ang="0">
                    <a:pos x="T6" y="T7"/>
                  </a:cxn>
                  <a:cxn ang="0">
                    <a:pos x="T8" y="T9"/>
                  </a:cxn>
                </a:cxnLst>
                <a:rect l="0" t="0" r="r" b="b"/>
                <a:pathLst>
                  <a:path w="8" h="5">
                    <a:moveTo>
                      <a:pt x="5" y="2"/>
                    </a:moveTo>
                    <a:cubicBezTo>
                      <a:pt x="4" y="0"/>
                      <a:pt x="3" y="1"/>
                      <a:pt x="3" y="2"/>
                    </a:cubicBezTo>
                    <a:cubicBezTo>
                      <a:pt x="2" y="3"/>
                      <a:pt x="2" y="2"/>
                      <a:pt x="1" y="1"/>
                    </a:cubicBezTo>
                    <a:cubicBezTo>
                      <a:pt x="0" y="0"/>
                      <a:pt x="1" y="3"/>
                      <a:pt x="1" y="3"/>
                    </a:cubicBezTo>
                    <a:cubicBezTo>
                      <a:pt x="8" y="5"/>
                      <a:pt x="5" y="3"/>
                      <a:pt x="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06" name="Freeform 415">
                <a:extLst>
                  <a:ext uri="{FF2B5EF4-FFF2-40B4-BE49-F238E27FC236}">
                    <a16:creationId xmlns:a16="http://schemas.microsoft.com/office/drawing/2014/main" id="{F2367214-0E37-4CFC-BF4C-197051078070}"/>
                  </a:ext>
                </a:extLst>
              </p:cNvPr>
              <p:cNvSpPr>
                <a:spLocks/>
              </p:cNvSpPr>
              <p:nvPr/>
            </p:nvSpPr>
            <p:spPr bwMode="auto">
              <a:xfrm>
                <a:off x="1947" y="3754"/>
                <a:ext cx="9" cy="8"/>
              </a:xfrm>
              <a:custGeom>
                <a:avLst/>
                <a:gdLst>
                  <a:gd name="T0" fmla="*/ 4 w 7"/>
                  <a:gd name="T1" fmla="*/ 4 h 6"/>
                  <a:gd name="T2" fmla="*/ 5 w 7"/>
                  <a:gd name="T3" fmla="*/ 4 h 6"/>
                  <a:gd name="T4" fmla="*/ 6 w 7"/>
                  <a:gd name="T5" fmla="*/ 1 h 6"/>
                  <a:gd name="T6" fmla="*/ 3 w 7"/>
                  <a:gd name="T7" fmla="*/ 1 h 6"/>
                  <a:gd name="T8" fmla="*/ 2 w 7"/>
                  <a:gd name="T9" fmla="*/ 2 h 6"/>
                  <a:gd name="T10" fmla="*/ 4 w 7"/>
                  <a:gd name="T11" fmla="*/ 4 h 6"/>
                </a:gdLst>
                <a:ahLst/>
                <a:cxnLst>
                  <a:cxn ang="0">
                    <a:pos x="T0" y="T1"/>
                  </a:cxn>
                  <a:cxn ang="0">
                    <a:pos x="T2" y="T3"/>
                  </a:cxn>
                  <a:cxn ang="0">
                    <a:pos x="T4" y="T5"/>
                  </a:cxn>
                  <a:cxn ang="0">
                    <a:pos x="T6" y="T7"/>
                  </a:cxn>
                  <a:cxn ang="0">
                    <a:pos x="T8" y="T9"/>
                  </a:cxn>
                  <a:cxn ang="0">
                    <a:pos x="T10" y="T11"/>
                  </a:cxn>
                </a:cxnLst>
                <a:rect l="0" t="0" r="r" b="b"/>
                <a:pathLst>
                  <a:path w="7" h="6">
                    <a:moveTo>
                      <a:pt x="4" y="4"/>
                    </a:moveTo>
                    <a:cubicBezTo>
                      <a:pt x="3" y="5"/>
                      <a:pt x="4" y="6"/>
                      <a:pt x="5" y="4"/>
                    </a:cubicBezTo>
                    <a:cubicBezTo>
                      <a:pt x="6" y="3"/>
                      <a:pt x="7" y="1"/>
                      <a:pt x="6" y="1"/>
                    </a:cubicBezTo>
                    <a:cubicBezTo>
                      <a:pt x="4" y="1"/>
                      <a:pt x="3" y="1"/>
                      <a:pt x="3" y="1"/>
                    </a:cubicBezTo>
                    <a:cubicBezTo>
                      <a:pt x="3" y="1"/>
                      <a:pt x="0" y="0"/>
                      <a:pt x="2" y="2"/>
                    </a:cubicBezTo>
                    <a:cubicBezTo>
                      <a:pt x="4" y="3"/>
                      <a:pt x="5" y="4"/>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07" name="Freeform 416">
                <a:extLst>
                  <a:ext uri="{FF2B5EF4-FFF2-40B4-BE49-F238E27FC236}">
                    <a16:creationId xmlns:a16="http://schemas.microsoft.com/office/drawing/2014/main" id="{6B2CB423-543E-4320-A8C5-CA0901EBF90C}"/>
                  </a:ext>
                </a:extLst>
              </p:cNvPr>
              <p:cNvSpPr>
                <a:spLocks/>
              </p:cNvSpPr>
              <p:nvPr/>
            </p:nvSpPr>
            <p:spPr bwMode="auto">
              <a:xfrm>
                <a:off x="1955" y="3735"/>
                <a:ext cx="7" cy="5"/>
              </a:xfrm>
              <a:custGeom>
                <a:avLst/>
                <a:gdLst>
                  <a:gd name="T0" fmla="*/ 1 w 5"/>
                  <a:gd name="T1" fmla="*/ 2 h 4"/>
                  <a:gd name="T2" fmla="*/ 3 w 5"/>
                  <a:gd name="T3" fmla="*/ 3 h 4"/>
                  <a:gd name="T4" fmla="*/ 4 w 5"/>
                  <a:gd name="T5" fmla="*/ 1 h 4"/>
                  <a:gd name="T6" fmla="*/ 1 w 5"/>
                  <a:gd name="T7" fmla="*/ 2 h 4"/>
                </a:gdLst>
                <a:ahLst/>
                <a:cxnLst>
                  <a:cxn ang="0">
                    <a:pos x="T0" y="T1"/>
                  </a:cxn>
                  <a:cxn ang="0">
                    <a:pos x="T2" y="T3"/>
                  </a:cxn>
                  <a:cxn ang="0">
                    <a:pos x="T4" y="T5"/>
                  </a:cxn>
                  <a:cxn ang="0">
                    <a:pos x="T6" y="T7"/>
                  </a:cxn>
                </a:cxnLst>
                <a:rect l="0" t="0" r="r" b="b"/>
                <a:pathLst>
                  <a:path w="5" h="4">
                    <a:moveTo>
                      <a:pt x="1" y="2"/>
                    </a:moveTo>
                    <a:cubicBezTo>
                      <a:pt x="1" y="2"/>
                      <a:pt x="2" y="4"/>
                      <a:pt x="3" y="3"/>
                    </a:cubicBezTo>
                    <a:cubicBezTo>
                      <a:pt x="4" y="3"/>
                      <a:pt x="5" y="2"/>
                      <a:pt x="4" y="1"/>
                    </a:cubicBezTo>
                    <a:cubicBezTo>
                      <a:pt x="3" y="1"/>
                      <a:pt x="0"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08" name="Freeform 417">
                <a:extLst>
                  <a:ext uri="{FF2B5EF4-FFF2-40B4-BE49-F238E27FC236}">
                    <a16:creationId xmlns:a16="http://schemas.microsoft.com/office/drawing/2014/main" id="{89D4BE31-0C9D-4EF4-9A57-A7A20E17F893}"/>
                  </a:ext>
                </a:extLst>
              </p:cNvPr>
              <p:cNvSpPr>
                <a:spLocks/>
              </p:cNvSpPr>
              <p:nvPr/>
            </p:nvSpPr>
            <p:spPr bwMode="auto">
              <a:xfrm>
                <a:off x="1955" y="3737"/>
                <a:ext cx="11" cy="9"/>
              </a:xfrm>
              <a:custGeom>
                <a:avLst/>
                <a:gdLst>
                  <a:gd name="T0" fmla="*/ 6 w 8"/>
                  <a:gd name="T1" fmla="*/ 2 h 6"/>
                  <a:gd name="T2" fmla="*/ 5 w 8"/>
                  <a:gd name="T3" fmla="*/ 3 h 6"/>
                  <a:gd name="T4" fmla="*/ 3 w 8"/>
                  <a:gd name="T5" fmla="*/ 3 h 6"/>
                  <a:gd name="T6" fmla="*/ 2 w 8"/>
                  <a:gd name="T7" fmla="*/ 4 h 6"/>
                  <a:gd name="T8" fmla="*/ 8 w 8"/>
                  <a:gd name="T9" fmla="*/ 4 h 6"/>
                  <a:gd name="T10" fmla="*/ 6 w 8"/>
                  <a:gd name="T11" fmla="*/ 2 h 6"/>
                </a:gdLst>
                <a:ahLst/>
                <a:cxnLst>
                  <a:cxn ang="0">
                    <a:pos x="T0" y="T1"/>
                  </a:cxn>
                  <a:cxn ang="0">
                    <a:pos x="T2" y="T3"/>
                  </a:cxn>
                  <a:cxn ang="0">
                    <a:pos x="T4" y="T5"/>
                  </a:cxn>
                  <a:cxn ang="0">
                    <a:pos x="T6" y="T7"/>
                  </a:cxn>
                  <a:cxn ang="0">
                    <a:pos x="T8" y="T9"/>
                  </a:cxn>
                  <a:cxn ang="0">
                    <a:pos x="T10" y="T11"/>
                  </a:cxn>
                </a:cxnLst>
                <a:rect l="0" t="0" r="r" b="b"/>
                <a:pathLst>
                  <a:path w="8" h="6">
                    <a:moveTo>
                      <a:pt x="6" y="2"/>
                    </a:moveTo>
                    <a:cubicBezTo>
                      <a:pt x="6" y="4"/>
                      <a:pt x="6" y="4"/>
                      <a:pt x="5" y="3"/>
                    </a:cubicBezTo>
                    <a:cubicBezTo>
                      <a:pt x="3" y="3"/>
                      <a:pt x="3" y="3"/>
                      <a:pt x="3" y="3"/>
                    </a:cubicBezTo>
                    <a:cubicBezTo>
                      <a:pt x="3" y="3"/>
                      <a:pt x="0" y="4"/>
                      <a:pt x="2" y="4"/>
                    </a:cubicBezTo>
                    <a:cubicBezTo>
                      <a:pt x="4" y="5"/>
                      <a:pt x="8" y="6"/>
                      <a:pt x="8" y="4"/>
                    </a:cubicBezTo>
                    <a:cubicBezTo>
                      <a:pt x="8" y="3"/>
                      <a:pt x="6" y="0"/>
                      <a:pt x="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09" name="Freeform 418">
                <a:extLst>
                  <a:ext uri="{FF2B5EF4-FFF2-40B4-BE49-F238E27FC236}">
                    <a16:creationId xmlns:a16="http://schemas.microsoft.com/office/drawing/2014/main" id="{AF94D9F0-1C4F-4C45-9F81-3ABFFFC8D20C}"/>
                  </a:ext>
                </a:extLst>
              </p:cNvPr>
              <p:cNvSpPr>
                <a:spLocks/>
              </p:cNvSpPr>
              <p:nvPr/>
            </p:nvSpPr>
            <p:spPr bwMode="auto">
              <a:xfrm>
                <a:off x="1949" y="3741"/>
                <a:ext cx="13" cy="22"/>
              </a:xfrm>
              <a:custGeom>
                <a:avLst/>
                <a:gdLst>
                  <a:gd name="T0" fmla="*/ 3 w 9"/>
                  <a:gd name="T1" fmla="*/ 1 h 16"/>
                  <a:gd name="T2" fmla="*/ 1 w 9"/>
                  <a:gd name="T3" fmla="*/ 4 h 16"/>
                  <a:gd name="T4" fmla="*/ 2 w 9"/>
                  <a:gd name="T5" fmla="*/ 7 h 16"/>
                  <a:gd name="T6" fmla="*/ 4 w 9"/>
                  <a:gd name="T7" fmla="*/ 7 h 16"/>
                  <a:gd name="T8" fmla="*/ 2 w 9"/>
                  <a:gd name="T9" fmla="*/ 8 h 16"/>
                  <a:gd name="T10" fmla="*/ 5 w 9"/>
                  <a:gd name="T11" fmla="*/ 9 h 16"/>
                  <a:gd name="T12" fmla="*/ 6 w 9"/>
                  <a:gd name="T13" fmla="*/ 14 h 16"/>
                  <a:gd name="T14" fmla="*/ 7 w 9"/>
                  <a:gd name="T15" fmla="*/ 8 h 16"/>
                  <a:gd name="T16" fmla="*/ 4 w 9"/>
                  <a:gd name="T17" fmla="*/ 3 h 16"/>
                  <a:gd name="T18" fmla="*/ 3 w 9"/>
                  <a:gd name="T19"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6">
                    <a:moveTo>
                      <a:pt x="3" y="1"/>
                    </a:moveTo>
                    <a:cubicBezTo>
                      <a:pt x="2" y="2"/>
                      <a:pt x="1" y="2"/>
                      <a:pt x="1" y="4"/>
                    </a:cubicBezTo>
                    <a:cubicBezTo>
                      <a:pt x="2" y="6"/>
                      <a:pt x="0" y="7"/>
                      <a:pt x="2" y="7"/>
                    </a:cubicBezTo>
                    <a:cubicBezTo>
                      <a:pt x="4" y="6"/>
                      <a:pt x="4" y="7"/>
                      <a:pt x="4" y="7"/>
                    </a:cubicBezTo>
                    <a:cubicBezTo>
                      <a:pt x="4" y="7"/>
                      <a:pt x="0" y="9"/>
                      <a:pt x="2" y="8"/>
                    </a:cubicBezTo>
                    <a:cubicBezTo>
                      <a:pt x="4" y="8"/>
                      <a:pt x="5" y="8"/>
                      <a:pt x="5" y="9"/>
                    </a:cubicBezTo>
                    <a:cubicBezTo>
                      <a:pt x="5" y="11"/>
                      <a:pt x="5" y="16"/>
                      <a:pt x="6" y="14"/>
                    </a:cubicBezTo>
                    <a:cubicBezTo>
                      <a:pt x="7" y="13"/>
                      <a:pt x="9" y="11"/>
                      <a:pt x="7" y="8"/>
                    </a:cubicBezTo>
                    <a:cubicBezTo>
                      <a:pt x="5" y="5"/>
                      <a:pt x="5" y="4"/>
                      <a:pt x="4" y="3"/>
                    </a:cubicBezTo>
                    <a:cubicBezTo>
                      <a:pt x="4" y="2"/>
                      <a:pt x="4" y="0"/>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10" name="Freeform 419">
                <a:extLst>
                  <a:ext uri="{FF2B5EF4-FFF2-40B4-BE49-F238E27FC236}">
                    <a16:creationId xmlns:a16="http://schemas.microsoft.com/office/drawing/2014/main" id="{C35B679E-EDF8-428E-A7D9-B582A3C6F658}"/>
                  </a:ext>
                </a:extLst>
              </p:cNvPr>
              <p:cNvSpPr>
                <a:spLocks/>
              </p:cNvSpPr>
              <p:nvPr/>
            </p:nvSpPr>
            <p:spPr bwMode="auto">
              <a:xfrm>
                <a:off x="1955" y="3744"/>
                <a:ext cx="12" cy="13"/>
              </a:xfrm>
              <a:custGeom>
                <a:avLst/>
                <a:gdLst>
                  <a:gd name="T0" fmla="*/ 7 w 9"/>
                  <a:gd name="T1" fmla="*/ 4 h 9"/>
                  <a:gd name="T2" fmla="*/ 2 w 9"/>
                  <a:gd name="T3" fmla="*/ 0 h 9"/>
                  <a:gd name="T4" fmla="*/ 4 w 9"/>
                  <a:gd name="T5" fmla="*/ 6 h 9"/>
                  <a:gd name="T6" fmla="*/ 7 w 9"/>
                  <a:gd name="T7" fmla="*/ 4 h 9"/>
                  <a:gd name="T8" fmla="*/ 7 w 9"/>
                  <a:gd name="T9" fmla="*/ 4 h 9"/>
                </a:gdLst>
                <a:ahLst/>
                <a:cxnLst>
                  <a:cxn ang="0">
                    <a:pos x="T0" y="T1"/>
                  </a:cxn>
                  <a:cxn ang="0">
                    <a:pos x="T2" y="T3"/>
                  </a:cxn>
                  <a:cxn ang="0">
                    <a:pos x="T4" y="T5"/>
                  </a:cxn>
                  <a:cxn ang="0">
                    <a:pos x="T6" y="T7"/>
                  </a:cxn>
                  <a:cxn ang="0">
                    <a:pos x="T8" y="T9"/>
                  </a:cxn>
                </a:cxnLst>
                <a:rect l="0" t="0" r="r" b="b"/>
                <a:pathLst>
                  <a:path w="9" h="9">
                    <a:moveTo>
                      <a:pt x="7" y="4"/>
                    </a:moveTo>
                    <a:cubicBezTo>
                      <a:pt x="6" y="1"/>
                      <a:pt x="4" y="1"/>
                      <a:pt x="2" y="0"/>
                    </a:cubicBezTo>
                    <a:cubicBezTo>
                      <a:pt x="0" y="0"/>
                      <a:pt x="3" y="4"/>
                      <a:pt x="4" y="6"/>
                    </a:cubicBezTo>
                    <a:cubicBezTo>
                      <a:pt x="4" y="9"/>
                      <a:pt x="6" y="5"/>
                      <a:pt x="7" y="4"/>
                    </a:cubicBezTo>
                    <a:cubicBezTo>
                      <a:pt x="9" y="3"/>
                      <a:pt x="7" y="4"/>
                      <a:pt x="7"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11" name="Freeform 420">
                <a:extLst>
                  <a:ext uri="{FF2B5EF4-FFF2-40B4-BE49-F238E27FC236}">
                    <a16:creationId xmlns:a16="http://schemas.microsoft.com/office/drawing/2014/main" id="{99DBA01D-DA76-44B6-81DA-FA59CA1C404F}"/>
                  </a:ext>
                </a:extLst>
              </p:cNvPr>
              <p:cNvSpPr>
                <a:spLocks/>
              </p:cNvSpPr>
              <p:nvPr/>
            </p:nvSpPr>
            <p:spPr bwMode="auto">
              <a:xfrm>
                <a:off x="1970" y="3737"/>
                <a:ext cx="18" cy="4"/>
              </a:xfrm>
              <a:custGeom>
                <a:avLst/>
                <a:gdLst>
                  <a:gd name="T0" fmla="*/ 7 w 13"/>
                  <a:gd name="T1" fmla="*/ 3 h 3"/>
                  <a:gd name="T2" fmla="*/ 11 w 13"/>
                  <a:gd name="T3" fmla="*/ 3 h 3"/>
                  <a:gd name="T4" fmla="*/ 11 w 13"/>
                  <a:gd name="T5" fmla="*/ 2 h 3"/>
                  <a:gd name="T6" fmla="*/ 5 w 13"/>
                  <a:gd name="T7" fmla="*/ 1 h 3"/>
                  <a:gd name="T8" fmla="*/ 4 w 13"/>
                  <a:gd name="T9" fmla="*/ 3 h 3"/>
                  <a:gd name="T10" fmla="*/ 7 w 13"/>
                  <a:gd name="T11" fmla="*/ 3 h 3"/>
                </a:gdLst>
                <a:ahLst/>
                <a:cxnLst>
                  <a:cxn ang="0">
                    <a:pos x="T0" y="T1"/>
                  </a:cxn>
                  <a:cxn ang="0">
                    <a:pos x="T2" y="T3"/>
                  </a:cxn>
                  <a:cxn ang="0">
                    <a:pos x="T4" y="T5"/>
                  </a:cxn>
                  <a:cxn ang="0">
                    <a:pos x="T6" y="T7"/>
                  </a:cxn>
                  <a:cxn ang="0">
                    <a:pos x="T8" y="T9"/>
                  </a:cxn>
                  <a:cxn ang="0">
                    <a:pos x="T10" y="T11"/>
                  </a:cxn>
                </a:cxnLst>
                <a:rect l="0" t="0" r="r" b="b"/>
                <a:pathLst>
                  <a:path w="13" h="3">
                    <a:moveTo>
                      <a:pt x="7" y="3"/>
                    </a:moveTo>
                    <a:cubicBezTo>
                      <a:pt x="10" y="3"/>
                      <a:pt x="10" y="2"/>
                      <a:pt x="11" y="3"/>
                    </a:cubicBezTo>
                    <a:cubicBezTo>
                      <a:pt x="11" y="3"/>
                      <a:pt x="13" y="3"/>
                      <a:pt x="11" y="2"/>
                    </a:cubicBezTo>
                    <a:cubicBezTo>
                      <a:pt x="10" y="1"/>
                      <a:pt x="6" y="0"/>
                      <a:pt x="5" y="1"/>
                    </a:cubicBezTo>
                    <a:cubicBezTo>
                      <a:pt x="5" y="1"/>
                      <a:pt x="0" y="2"/>
                      <a:pt x="4" y="3"/>
                    </a:cubicBezTo>
                    <a:cubicBezTo>
                      <a:pt x="4" y="3"/>
                      <a:pt x="5" y="3"/>
                      <a:pt x="7"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12" name="Freeform 421">
                <a:extLst>
                  <a:ext uri="{FF2B5EF4-FFF2-40B4-BE49-F238E27FC236}">
                    <a16:creationId xmlns:a16="http://schemas.microsoft.com/office/drawing/2014/main" id="{6326FBE9-CEC9-4C3B-8CA9-5AACF0AABFF2}"/>
                  </a:ext>
                </a:extLst>
              </p:cNvPr>
              <p:cNvSpPr>
                <a:spLocks/>
              </p:cNvSpPr>
              <p:nvPr/>
            </p:nvSpPr>
            <p:spPr bwMode="auto">
              <a:xfrm>
                <a:off x="1959" y="3744"/>
                <a:ext cx="14" cy="17"/>
              </a:xfrm>
              <a:custGeom>
                <a:avLst/>
                <a:gdLst>
                  <a:gd name="T0" fmla="*/ 6 w 10"/>
                  <a:gd name="T1" fmla="*/ 3 h 12"/>
                  <a:gd name="T2" fmla="*/ 5 w 10"/>
                  <a:gd name="T3" fmla="*/ 4 h 12"/>
                  <a:gd name="T4" fmla="*/ 5 w 10"/>
                  <a:gd name="T5" fmla="*/ 7 h 12"/>
                  <a:gd name="T6" fmla="*/ 2 w 10"/>
                  <a:gd name="T7" fmla="*/ 9 h 12"/>
                  <a:gd name="T8" fmla="*/ 8 w 10"/>
                  <a:gd name="T9" fmla="*/ 12 h 12"/>
                  <a:gd name="T10" fmla="*/ 8 w 10"/>
                  <a:gd name="T11" fmla="*/ 8 h 12"/>
                  <a:gd name="T12" fmla="*/ 6 w 10"/>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10" h="12">
                    <a:moveTo>
                      <a:pt x="6" y="3"/>
                    </a:moveTo>
                    <a:cubicBezTo>
                      <a:pt x="6" y="0"/>
                      <a:pt x="5" y="1"/>
                      <a:pt x="5" y="4"/>
                    </a:cubicBezTo>
                    <a:cubicBezTo>
                      <a:pt x="5" y="7"/>
                      <a:pt x="5" y="8"/>
                      <a:pt x="5" y="7"/>
                    </a:cubicBezTo>
                    <a:cubicBezTo>
                      <a:pt x="4" y="7"/>
                      <a:pt x="3" y="7"/>
                      <a:pt x="2" y="9"/>
                    </a:cubicBezTo>
                    <a:cubicBezTo>
                      <a:pt x="0" y="11"/>
                      <a:pt x="7" y="11"/>
                      <a:pt x="8" y="12"/>
                    </a:cubicBezTo>
                    <a:cubicBezTo>
                      <a:pt x="10" y="12"/>
                      <a:pt x="9" y="9"/>
                      <a:pt x="8" y="8"/>
                    </a:cubicBezTo>
                    <a:cubicBezTo>
                      <a:pt x="7" y="6"/>
                      <a:pt x="6" y="3"/>
                      <a:pt x="6"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13" name="Freeform 422">
                <a:extLst>
                  <a:ext uri="{FF2B5EF4-FFF2-40B4-BE49-F238E27FC236}">
                    <a16:creationId xmlns:a16="http://schemas.microsoft.com/office/drawing/2014/main" id="{19331F79-5D57-4BE3-BA89-45186E1DED78}"/>
                  </a:ext>
                </a:extLst>
              </p:cNvPr>
              <p:cNvSpPr>
                <a:spLocks/>
              </p:cNvSpPr>
              <p:nvPr/>
            </p:nvSpPr>
            <p:spPr bwMode="auto">
              <a:xfrm>
                <a:off x="1967" y="3680"/>
                <a:ext cx="4" cy="7"/>
              </a:xfrm>
              <a:custGeom>
                <a:avLst/>
                <a:gdLst>
                  <a:gd name="T0" fmla="*/ 1 w 3"/>
                  <a:gd name="T1" fmla="*/ 4 h 5"/>
                  <a:gd name="T2" fmla="*/ 3 w 3"/>
                  <a:gd name="T3" fmla="*/ 2 h 5"/>
                  <a:gd name="T4" fmla="*/ 1 w 3"/>
                  <a:gd name="T5" fmla="*/ 4 h 5"/>
                </a:gdLst>
                <a:ahLst/>
                <a:cxnLst>
                  <a:cxn ang="0">
                    <a:pos x="T0" y="T1"/>
                  </a:cxn>
                  <a:cxn ang="0">
                    <a:pos x="T2" y="T3"/>
                  </a:cxn>
                  <a:cxn ang="0">
                    <a:pos x="T4" y="T5"/>
                  </a:cxn>
                </a:cxnLst>
                <a:rect l="0" t="0" r="r" b="b"/>
                <a:pathLst>
                  <a:path w="3" h="5">
                    <a:moveTo>
                      <a:pt x="1" y="4"/>
                    </a:moveTo>
                    <a:cubicBezTo>
                      <a:pt x="2" y="5"/>
                      <a:pt x="3" y="2"/>
                      <a:pt x="3" y="2"/>
                    </a:cubicBezTo>
                    <a:cubicBezTo>
                      <a:pt x="2" y="0"/>
                      <a:pt x="0" y="3"/>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14" name="Freeform 423">
                <a:extLst>
                  <a:ext uri="{FF2B5EF4-FFF2-40B4-BE49-F238E27FC236}">
                    <a16:creationId xmlns:a16="http://schemas.microsoft.com/office/drawing/2014/main" id="{A2EEB275-A720-4E4F-877A-4B97D1376573}"/>
                  </a:ext>
                </a:extLst>
              </p:cNvPr>
              <p:cNvSpPr>
                <a:spLocks/>
              </p:cNvSpPr>
              <p:nvPr/>
            </p:nvSpPr>
            <p:spPr bwMode="auto">
              <a:xfrm>
                <a:off x="1973" y="3676"/>
                <a:ext cx="5" cy="9"/>
              </a:xfrm>
              <a:custGeom>
                <a:avLst/>
                <a:gdLst>
                  <a:gd name="T0" fmla="*/ 2 w 4"/>
                  <a:gd name="T1" fmla="*/ 6 h 7"/>
                  <a:gd name="T2" fmla="*/ 4 w 4"/>
                  <a:gd name="T3" fmla="*/ 4 h 7"/>
                  <a:gd name="T4" fmla="*/ 0 w 4"/>
                  <a:gd name="T5" fmla="*/ 5 h 7"/>
                  <a:gd name="T6" fmla="*/ 2 w 4"/>
                  <a:gd name="T7" fmla="*/ 6 h 7"/>
                </a:gdLst>
                <a:ahLst/>
                <a:cxnLst>
                  <a:cxn ang="0">
                    <a:pos x="T0" y="T1"/>
                  </a:cxn>
                  <a:cxn ang="0">
                    <a:pos x="T2" y="T3"/>
                  </a:cxn>
                  <a:cxn ang="0">
                    <a:pos x="T4" y="T5"/>
                  </a:cxn>
                  <a:cxn ang="0">
                    <a:pos x="T6" y="T7"/>
                  </a:cxn>
                </a:cxnLst>
                <a:rect l="0" t="0" r="r" b="b"/>
                <a:pathLst>
                  <a:path w="4" h="7">
                    <a:moveTo>
                      <a:pt x="2" y="6"/>
                    </a:moveTo>
                    <a:cubicBezTo>
                      <a:pt x="4" y="5"/>
                      <a:pt x="4" y="6"/>
                      <a:pt x="4" y="4"/>
                    </a:cubicBezTo>
                    <a:cubicBezTo>
                      <a:pt x="3" y="2"/>
                      <a:pt x="1" y="0"/>
                      <a:pt x="0" y="5"/>
                    </a:cubicBezTo>
                    <a:cubicBezTo>
                      <a:pt x="0" y="5"/>
                      <a:pt x="0" y="7"/>
                      <a:pt x="2"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15" name="Freeform 424">
                <a:extLst>
                  <a:ext uri="{FF2B5EF4-FFF2-40B4-BE49-F238E27FC236}">
                    <a16:creationId xmlns:a16="http://schemas.microsoft.com/office/drawing/2014/main" id="{7156A4D9-A8FA-47D5-9AF5-7A711E00AF80}"/>
                  </a:ext>
                </a:extLst>
              </p:cNvPr>
              <p:cNvSpPr>
                <a:spLocks/>
              </p:cNvSpPr>
              <p:nvPr/>
            </p:nvSpPr>
            <p:spPr bwMode="auto">
              <a:xfrm>
                <a:off x="1981" y="3680"/>
                <a:ext cx="3" cy="5"/>
              </a:xfrm>
              <a:custGeom>
                <a:avLst/>
                <a:gdLst>
                  <a:gd name="T0" fmla="*/ 0 w 2"/>
                  <a:gd name="T1" fmla="*/ 1 h 4"/>
                  <a:gd name="T2" fmla="*/ 2 w 2"/>
                  <a:gd name="T3" fmla="*/ 2 h 4"/>
                  <a:gd name="T4" fmla="*/ 0 w 2"/>
                  <a:gd name="T5" fmla="*/ 1 h 4"/>
                </a:gdLst>
                <a:ahLst/>
                <a:cxnLst>
                  <a:cxn ang="0">
                    <a:pos x="T0" y="T1"/>
                  </a:cxn>
                  <a:cxn ang="0">
                    <a:pos x="T2" y="T3"/>
                  </a:cxn>
                  <a:cxn ang="0">
                    <a:pos x="T4" y="T5"/>
                  </a:cxn>
                </a:cxnLst>
                <a:rect l="0" t="0" r="r" b="b"/>
                <a:pathLst>
                  <a:path w="2" h="4">
                    <a:moveTo>
                      <a:pt x="0" y="1"/>
                    </a:moveTo>
                    <a:cubicBezTo>
                      <a:pt x="0" y="1"/>
                      <a:pt x="2" y="4"/>
                      <a:pt x="2" y="2"/>
                    </a:cubicBezTo>
                    <a:cubicBezTo>
                      <a:pt x="2" y="1"/>
                      <a:pt x="0"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16" name="Freeform 425">
                <a:extLst>
                  <a:ext uri="{FF2B5EF4-FFF2-40B4-BE49-F238E27FC236}">
                    <a16:creationId xmlns:a16="http://schemas.microsoft.com/office/drawing/2014/main" id="{D9FDC90E-89E0-4F75-A973-6CC2F2D7D8EA}"/>
                  </a:ext>
                </a:extLst>
              </p:cNvPr>
              <p:cNvSpPr>
                <a:spLocks/>
              </p:cNvSpPr>
              <p:nvPr/>
            </p:nvSpPr>
            <p:spPr bwMode="auto">
              <a:xfrm>
                <a:off x="1987" y="3678"/>
                <a:ext cx="2" cy="7"/>
              </a:xfrm>
              <a:custGeom>
                <a:avLst/>
                <a:gdLst>
                  <a:gd name="T0" fmla="*/ 2 w 2"/>
                  <a:gd name="T1" fmla="*/ 2 h 5"/>
                  <a:gd name="T2" fmla="*/ 0 w 2"/>
                  <a:gd name="T3" fmla="*/ 2 h 5"/>
                  <a:gd name="T4" fmla="*/ 1 w 2"/>
                  <a:gd name="T5" fmla="*/ 4 h 5"/>
                  <a:gd name="T6" fmla="*/ 2 w 2"/>
                  <a:gd name="T7" fmla="*/ 2 h 5"/>
                </a:gdLst>
                <a:ahLst/>
                <a:cxnLst>
                  <a:cxn ang="0">
                    <a:pos x="T0" y="T1"/>
                  </a:cxn>
                  <a:cxn ang="0">
                    <a:pos x="T2" y="T3"/>
                  </a:cxn>
                  <a:cxn ang="0">
                    <a:pos x="T4" y="T5"/>
                  </a:cxn>
                  <a:cxn ang="0">
                    <a:pos x="T6" y="T7"/>
                  </a:cxn>
                </a:cxnLst>
                <a:rect l="0" t="0" r="r" b="b"/>
                <a:pathLst>
                  <a:path w="2" h="5">
                    <a:moveTo>
                      <a:pt x="2" y="2"/>
                    </a:moveTo>
                    <a:cubicBezTo>
                      <a:pt x="2" y="0"/>
                      <a:pt x="1" y="0"/>
                      <a:pt x="0" y="2"/>
                    </a:cubicBezTo>
                    <a:cubicBezTo>
                      <a:pt x="0" y="2"/>
                      <a:pt x="0" y="4"/>
                      <a:pt x="1" y="4"/>
                    </a:cubicBezTo>
                    <a:cubicBezTo>
                      <a:pt x="2" y="5"/>
                      <a:pt x="2" y="4"/>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17" name="Freeform 426">
                <a:extLst>
                  <a:ext uri="{FF2B5EF4-FFF2-40B4-BE49-F238E27FC236}">
                    <a16:creationId xmlns:a16="http://schemas.microsoft.com/office/drawing/2014/main" id="{78CAE180-8AA5-4451-9BFE-DF02A5A0C548}"/>
                  </a:ext>
                </a:extLst>
              </p:cNvPr>
              <p:cNvSpPr>
                <a:spLocks/>
              </p:cNvSpPr>
              <p:nvPr/>
            </p:nvSpPr>
            <p:spPr bwMode="auto">
              <a:xfrm>
                <a:off x="1980" y="3677"/>
                <a:ext cx="8" cy="4"/>
              </a:xfrm>
              <a:custGeom>
                <a:avLst/>
                <a:gdLst>
                  <a:gd name="T0" fmla="*/ 4 w 6"/>
                  <a:gd name="T1" fmla="*/ 1 h 3"/>
                  <a:gd name="T2" fmla="*/ 0 w 6"/>
                  <a:gd name="T3" fmla="*/ 1 h 3"/>
                  <a:gd name="T4" fmla="*/ 3 w 6"/>
                  <a:gd name="T5" fmla="*/ 2 h 3"/>
                  <a:gd name="T6" fmla="*/ 4 w 6"/>
                  <a:gd name="T7" fmla="*/ 1 h 3"/>
                </a:gdLst>
                <a:ahLst/>
                <a:cxnLst>
                  <a:cxn ang="0">
                    <a:pos x="T0" y="T1"/>
                  </a:cxn>
                  <a:cxn ang="0">
                    <a:pos x="T2" y="T3"/>
                  </a:cxn>
                  <a:cxn ang="0">
                    <a:pos x="T4" y="T5"/>
                  </a:cxn>
                  <a:cxn ang="0">
                    <a:pos x="T6" y="T7"/>
                  </a:cxn>
                </a:cxnLst>
                <a:rect l="0" t="0" r="r" b="b"/>
                <a:pathLst>
                  <a:path w="6" h="3">
                    <a:moveTo>
                      <a:pt x="4" y="1"/>
                    </a:moveTo>
                    <a:cubicBezTo>
                      <a:pt x="2" y="0"/>
                      <a:pt x="1" y="0"/>
                      <a:pt x="0" y="1"/>
                    </a:cubicBezTo>
                    <a:cubicBezTo>
                      <a:pt x="0" y="2"/>
                      <a:pt x="1" y="3"/>
                      <a:pt x="3" y="2"/>
                    </a:cubicBezTo>
                    <a:cubicBezTo>
                      <a:pt x="3" y="2"/>
                      <a:pt x="6" y="2"/>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18" name="Freeform 427">
                <a:extLst>
                  <a:ext uri="{FF2B5EF4-FFF2-40B4-BE49-F238E27FC236}">
                    <a16:creationId xmlns:a16="http://schemas.microsoft.com/office/drawing/2014/main" id="{59F25CF3-D596-4E6A-B9C3-9268A47AC0B3}"/>
                  </a:ext>
                </a:extLst>
              </p:cNvPr>
              <p:cNvSpPr>
                <a:spLocks/>
              </p:cNvSpPr>
              <p:nvPr/>
            </p:nvSpPr>
            <p:spPr bwMode="auto">
              <a:xfrm>
                <a:off x="1971" y="3673"/>
                <a:ext cx="3" cy="3"/>
              </a:xfrm>
              <a:custGeom>
                <a:avLst/>
                <a:gdLst>
                  <a:gd name="T0" fmla="*/ 2 w 2"/>
                  <a:gd name="T1" fmla="*/ 2 h 2"/>
                  <a:gd name="T2" fmla="*/ 1 w 2"/>
                  <a:gd name="T3" fmla="*/ 1 h 2"/>
                  <a:gd name="T4" fmla="*/ 2 w 2"/>
                  <a:gd name="T5" fmla="*/ 2 h 2"/>
                </a:gdLst>
                <a:ahLst/>
                <a:cxnLst>
                  <a:cxn ang="0">
                    <a:pos x="T0" y="T1"/>
                  </a:cxn>
                  <a:cxn ang="0">
                    <a:pos x="T2" y="T3"/>
                  </a:cxn>
                  <a:cxn ang="0">
                    <a:pos x="T4" y="T5"/>
                  </a:cxn>
                </a:cxnLst>
                <a:rect l="0" t="0" r="r" b="b"/>
                <a:pathLst>
                  <a:path w="2" h="2">
                    <a:moveTo>
                      <a:pt x="2" y="2"/>
                    </a:moveTo>
                    <a:cubicBezTo>
                      <a:pt x="2" y="2"/>
                      <a:pt x="2" y="0"/>
                      <a:pt x="1" y="1"/>
                    </a:cubicBezTo>
                    <a:cubicBezTo>
                      <a:pt x="0" y="1"/>
                      <a:pt x="1" y="2"/>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19" name="Freeform 428">
                <a:extLst>
                  <a:ext uri="{FF2B5EF4-FFF2-40B4-BE49-F238E27FC236}">
                    <a16:creationId xmlns:a16="http://schemas.microsoft.com/office/drawing/2014/main" id="{7767F41D-B310-4EE2-B609-10D07F5E8784}"/>
                  </a:ext>
                </a:extLst>
              </p:cNvPr>
              <p:cNvSpPr>
                <a:spLocks/>
              </p:cNvSpPr>
              <p:nvPr/>
            </p:nvSpPr>
            <p:spPr bwMode="auto">
              <a:xfrm>
                <a:off x="1959" y="3660"/>
                <a:ext cx="3" cy="3"/>
              </a:xfrm>
              <a:custGeom>
                <a:avLst/>
                <a:gdLst>
                  <a:gd name="T0" fmla="*/ 1 w 2"/>
                  <a:gd name="T1" fmla="*/ 0 h 2"/>
                  <a:gd name="T2" fmla="*/ 1 w 2"/>
                  <a:gd name="T3" fmla="*/ 2 h 2"/>
                  <a:gd name="T4" fmla="*/ 1 w 2"/>
                  <a:gd name="T5" fmla="*/ 0 h 2"/>
                </a:gdLst>
                <a:ahLst/>
                <a:cxnLst>
                  <a:cxn ang="0">
                    <a:pos x="T0" y="T1"/>
                  </a:cxn>
                  <a:cxn ang="0">
                    <a:pos x="T2" y="T3"/>
                  </a:cxn>
                  <a:cxn ang="0">
                    <a:pos x="T4" y="T5"/>
                  </a:cxn>
                </a:cxnLst>
                <a:rect l="0" t="0" r="r" b="b"/>
                <a:pathLst>
                  <a:path w="2" h="2">
                    <a:moveTo>
                      <a:pt x="1" y="0"/>
                    </a:moveTo>
                    <a:cubicBezTo>
                      <a:pt x="0" y="0"/>
                      <a:pt x="0" y="2"/>
                      <a:pt x="1" y="2"/>
                    </a:cubicBezTo>
                    <a:cubicBezTo>
                      <a:pt x="1" y="2"/>
                      <a:pt x="2" y="1"/>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20" name="Freeform 429">
                <a:extLst>
                  <a:ext uri="{FF2B5EF4-FFF2-40B4-BE49-F238E27FC236}">
                    <a16:creationId xmlns:a16="http://schemas.microsoft.com/office/drawing/2014/main" id="{BE948EA6-8591-4778-B25F-FA2DD2FFA721}"/>
                  </a:ext>
                </a:extLst>
              </p:cNvPr>
              <p:cNvSpPr>
                <a:spLocks/>
              </p:cNvSpPr>
              <p:nvPr/>
            </p:nvSpPr>
            <p:spPr bwMode="auto">
              <a:xfrm>
                <a:off x="1974" y="3670"/>
                <a:ext cx="3" cy="3"/>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1" y="2"/>
                      <a:pt x="2" y="1"/>
                      <a:pt x="1" y="0"/>
                    </a:cubicBezTo>
                    <a:cubicBezTo>
                      <a:pt x="0" y="0"/>
                      <a:pt x="0"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21" name="Freeform 430">
                <a:extLst>
                  <a:ext uri="{FF2B5EF4-FFF2-40B4-BE49-F238E27FC236}">
                    <a16:creationId xmlns:a16="http://schemas.microsoft.com/office/drawing/2014/main" id="{EFDF163A-7B4A-46FC-BC08-954AB8DA17E5}"/>
                  </a:ext>
                </a:extLst>
              </p:cNvPr>
              <p:cNvSpPr>
                <a:spLocks/>
              </p:cNvSpPr>
              <p:nvPr/>
            </p:nvSpPr>
            <p:spPr bwMode="auto">
              <a:xfrm>
                <a:off x="1978" y="3671"/>
                <a:ext cx="9" cy="5"/>
              </a:xfrm>
              <a:custGeom>
                <a:avLst/>
                <a:gdLst>
                  <a:gd name="T0" fmla="*/ 6 w 6"/>
                  <a:gd name="T1" fmla="*/ 2 h 3"/>
                  <a:gd name="T2" fmla="*/ 3 w 6"/>
                  <a:gd name="T3" fmla="*/ 0 h 3"/>
                  <a:gd name="T4" fmla="*/ 2 w 6"/>
                  <a:gd name="T5" fmla="*/ 2 h 3"/>
                  <a:gd name="T6" fmla="*/ 6 w 6"/>
                  <a:gd name="T7" fmla="*/ 2 h 3"/>
                </a:gdLst>
                <a:ahLst/>
                <a:cxnLst>
                  <a:cxn ang="0">
                    <a:pos x="T0" y="T1"/>
                  </a:cxn>
                  <a:cxn ang="0">
                    <a:pos x="T2" y="T3"/>
                  </a:cxn>
                  <a:cxn ang="0">
                    <a:pos x="T4" y="T5"/>
                  </a:cxn>
                  <a:cxn ang="0">
                    <a:pos x="T6" y="T7"/>
                  </a:cxn>
                </a:cxnLst>
                <a:rect l="0" t="0" r="r" b="b"/>
                <a:pathLst>
                  <a:path w="6" h="3">
                    <a:moveTo>
                      <a:pt x="6" y="2"/>
                    </a:moveTo>
                    <a:cubicBezTo>
                      <a:pt x="6" y="2"/>
                      <a:pt x="4" y="1"/>
                      <a:pt x="3" y="0"/>
                    </a:cubicBezTo>
                    <a:cubicBezTo>
                      <a:pt x="2" y="0"/>
                      <a:pt x="0" y="2"/>
                      <a:pt x="2" y="2"/>
                    </a:cubicBezTo>
                    <a:cubicBezTo>
                      <a:pt x="2" y="2"/>
                      <a:pt x="6" y="3"/>
                      <a:pt x="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22" name="Freeform 431">
                <a:extLst>
                  <a:ext uri="{FF2B5EF4-FFF2-40B4-BE49-F238E27FC236}">
                    <a16:creationId xmlns:a16="http://schemas.microsoft.com/office/drawing/2014/main" id="{6B4B862F-AC50-4545-A0A4-EA08AAD233CF}"/>
                  </a:ext>
                </a:extLst>
              </p:cNvPr>
              <p:cNvSpPr>
                <a:spLocks/>
              </p:cNvSpPr>
              <p:nvPr/>
            </p:nvSpPr>
            <p:spPr bwMode="auto">
              <a:xfrm>
                <a:off x="1977" y="3666"/>
                <a:ext cx="11" cy="10"/>
              </a:xfrm>
              <a:custGeom>
                <a:avLst/>
                <a:gdLst>
                  <a:gd name="T0" fmla="*/ 8 w 8"/>
                  <a:gd name="T1" fmla="*/ 4 h 7"/>
                  <a:gd name="T2" fmla="*/ 5 w 8"/>
                  <a:gd name="T3" fmla="*/ 0 h 7"/>
                  <a:gd name="T4" fmla="*/ 2 w 8"/>
                  <a:gd name="T5" fmla="*/ 2 h 7"/>
                  <a:gd name="T6" fmla="*/ 8 w 8"/>
                  <a:gd name="T7" fmla="*/ 4 h 7"/>
                </a:gdLst>
                <a:ahLst/>
                <a:cxnLst>
                  <a:cxn ang="0">
                    <a:pos x="T0" y="T1"/>
                  </a:cxn>
                  <a:cxn ang="0">
                    <a:pos x="T2" y="T3"/>
                  </a:cxn>
                  <a:cxn ang="0">
                    <a:pos x="T4" y="T5"/>
                  </a:cxn>
                  <a:cxn ang="0">
                    <a:pos x="T6" y="T7"/>
                  </a:cxn>
                </a:cxnLst>
                <a:rect l="0" t="0" r="r" b="b"/>
                <a:pathLst>
                  <a:path w="8" h="7">
                    <a:moveTo>
                      <a:pt x="8" y="4"/>
                    </a:moveTo>
                    <a:cubicBezTo>
                      <a:pt x="8" y="1"/>
                      <a:pt x="7" y="0"/>
                      <a:pt x="5" y="0"/>
                    </a:cubicBezTo>
                    <a:cubicBezTo>
                      <a:pt x="4" y="0"/>
                      <a:pt x="0" y="1"/>
                      <a:pt x="2" y="2"/>
                    </a:cubicBezTo>
                    <a:cubicBezTo>
                      <a:pt x="2" y="2"/>
                      <a:pt x="8" y="7"/>
                      <a:pt x="8"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23" name="Freeform 432">
                <a:extLst>
                  <a:ext uri="{FF2B5EF4-FFF2-40B4-BE49-F238E27FC236}">
                    <a16:creationId xmlns:a16="http://schemas.microsoft.com/office/drawing/2014/main" id="{FACBAE57-30A1-4FB7-AE60-E9A5D97DC6F5}"/>
                  </a:ext>
                </a:extLst>
              </p:cNvPr>
              <p:cNvSpPr>
                <a:spLocks/>
              </p:cNvSpPr>
              <p:nvPr/>
            </p:nvSpPr>
            <p:spPr bwMode="auto">
              <a:xfrm>
                <a:off x="1976" y="3663"/>
                <a:ext cx="9" cy="3"/>
              </a:xfrm>
              <a:custGeom>
                <a:avLst/>
                <a:gdLst>
                  <a:gd name="T0" fmla="*/ 5 w 7"/>
                  <a:gd name="T1" fmla="*/ 1 h 2"/>
                  <a:gd name="T2" fmla="*/ 2 w 7"/>
                  <a:gd name="T3" fmla="*/ 2 h 2"/>
                  <a:gd name="T4" fmla="*/ 5 w 7"/>
                  <a:gd name="T5" fmla="*/ 1 h 2"/>
                </a:gdLst>
                <a:ahLst/>
                <a:cxnLst>
                  <a:cxn ang="0">
                    <a:pos x="T0" y="T1"/>
                  </a:cxn>
                  <a:cxn ang="0">
                    <a:pos x="T2" y="T3"/>
                  </a:cxn>
                  <a:cxn ang="0">
                    <a:pos x="T4" y="T5"/>
                  </a:cxn>
                </a:cxnLst>
                <a:rect l="0" t="0" r="r" b="b"/>
                <a:pathLst>
                  <a:path w="7" h="2">
                    <a:moveTo>
                      <a:pt x="5" y="1"/>
                    </a:moveTo>
                    <a:cubicBezTo>
                      <a:pt x="3" y="0"/>
                      <a:pt x="0" y="1"/>
                      <a:pt x="2" y="2"/>
                    </a:cubicBezTo>
                    <a:cubicBezTo>
                      <a:pt x="2" y="2"/>
                      <a:pt x="7" y="2"/>
                      <a:pt x="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24" name="Freeform 433">
                <a:extLst>
                  <a:ext uri="{FF2B5EF4-FFF2-40B4-BE49-F238E27FC236}">
                    <a16:creationId xmlns:a16="http://schemas.microsoft.com/office/drawing/2014/main" id="{895F700D-B522-4B5A-91E8-E51A85AB68ED}"/>
                  </a:ext>
                </a:extLst>
              </p:cNvPr>
              <p:cNvSpPr>
                <a:spLocks/>
              </p:cNvSpPr>
              <p:nvPr/>
            </p:nvSpPr>
            <p:spPr bwMode="auto">
              <a:xfrm>
                <a:off x="1984" y="3660"/>
                <a:ext cx="4" cy="5"/>
              </a:xfrm>
              <a:custGeom>
                <a:avLst/>
                <a:gdLst>
                  <a:gd name="T0" fmla="*/ 2 w 3"/>
                  <a:gd name="T1" fmla="*/ 0 h 3"/>
                  <a:gd name="T2" fmla="*/ 2 w 3"/>
                  <a:gd name="T3" fmla="*/ 3 h 3"/>
                  <a:gd name="T4" fmla="*/ 2 w 3"/>
                  <a:gd name="T5" fmla="*/ 0 h 3"/>
                </a:gdLst>
                <a:ahLst/>
                <a:cxnLst>
                  <a:cxn ang="0">
                    <a:pos x="T0" y="T1"/>
                  </a:cxn>
                  <a:cxn ang="0">
                    <a:pos x="T2" y="T3"/>
                  </a:cxn>
                  <a:cxn ang="0">
                    <a:pos x="T4" y="T5"/>
                  </a:cxn>
                </a:cxnLst>
                <a:rect l="0" t="0" r="r" b="b"/>
                <a:pathLst>
                  <a:path w="3" h="3">
                    <a:moveTo>
                      <a:pt x="2" y="0"/>
                    </a:moveTo>
                    <a:cubicBezTo>
                      <a:pt x="0" y="0"/>
                      <a:pt x="1" y="2"/>
                      <a:pt x="2" y="3"/>
                    </a:cubicBezTo>
                    <a:cubicBezTo>
                      <a:pt x="2" y="3"/>
                      <a:pt x="3"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25" name="Freeform 434">
                <a:extLst>
                  <a:ext uri="{FF2B5EF4-FFF2-40B4-BE49-F238E27FC236}">
                    <a16:creationId xmlns:a16="http://schemas.microsoft.com/office/drawing/2014/main" id="{ED483B6F-2ED4-4434-A548-4150909024AF}"/>
                  </a:ext>
                </a:extLst>
              </p:cNvPr>
              <p:cNvSpPr>
                <a:spLocks/>
              </p:cNvSpPr>
              <p:nvPr/>
            </p:nvSpPr>
            <p:spPr bwMode="auto">
              <a:xfrm>
                <a:off x="1994" y="3650"/>
                <a:ext cx="16" cy="15"/>
              </a:xfrm>
              <a:custGeom>
                <a:avLst/>
                <a:gdLst>
                  <a:gd name="T0" fmla="*/ 3 w 12"/>
                  <a:gd name="T1" fmla="*/ 4 h 11"/>
                  <a:gd name="T2" fmla="*/ 1 w 12"/>
                  <a:gd name="T3" fmla="*/ 6 h 11"/>
                  <a:gd name="T4" fmla="*/ 3 w 12"/>
                  <a:gd name="T5" fmla="*/ 8 h 11"/>
                  <a:gd name="T6" fmla="*/ 2 w 12"/>
                  <a:gd name="T7" fmla="*/ 9 h 11"/>
                  <a:gd name="T8" fmla="*/ 4 w 12"/>
                  <a:gd name="T9" fmla="*/ 10 h 11"/>
                  <a:gd name="T10" fmla="*/ 7 w 12"/>
                  <a:gd name="T11" fmla="*/ 8 h 11"/>
                  <a:gd name="T12" fmla="*/ 9 w 12"/>
                  <a:gd name="T13" fmla="*/ 6 h 11"/>
                  <a:gd name="T14" fmla="*/ 9 w 12"/>
                  <a:gd name="T15" fmla="*/ 5 h 11"/>
                  <a:gd name="T16" fmla="*/ 11 w 12"/>
                  <a:gd name="T17" fmla="*/ 3 h 11"/>
                  <a:gd name="T18" fmla="*/ 7 w 12"/>
                  <a:gd name="T19" fmla="*/ 3 h 11"/>
                  <a:gd name="T20" fmla="*/ 6 w 12"/>
                  <a:gd name="T21" fmla="*/ 1 h 11"/>
                  <a:gd name="T22" fmla="*/ 4 w 12"/>
                  <a:gd name="T23" fmla="*/ 2 h 11"/>
                  <a:gd name="T24" fmla="*/ 4 w 12"/>
                  <a:gd name="T25" fmla="*/ 4 h 11"/>
                  <a:gd name="T26" fmla="*/ 3 w 12"/>
                  <a:gd name="T27" fmla="*/ 4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11">
                    <a:moveTo>
                      <a:pt x="3" y="4"/>
                    </a:moveTo>
                    <a:cubicBezTo>
                      <a:pt x="1" y="5"/>
                      <a:pt x="0" y="5"/>
                      <a:pt x="1" y="6"/>
                    </a:cubicBezTo>
                    <a:cubicBezTo>
                      <a:pt x="3" y="7"/>
                      <a:pt x="4" y="8"/>
                      <a:pt x="3" y="8"/>
                    </a:cubicBezTo>
                    <a:cubicBezTo>
                      <a:pt x="1" y="9"/>
                      <a:pt x="1" y="9"/>
                      <a:pt x="2" y="9"/>
                    </a:cubicBezTo>
                    <a:cubicBezTo>
                      <a:pt x="2" y="9"/>
                      <a:pt x="3" y="11"/>
                      <a:pt x="4" y="10"/>
                    </a:cubicBezTo>
                    <a:cubicBezTo>
                      <a:pt x="6" y="9"/>
                      <a:pt x="6" y="8"/>
                      <a:pt x="7" y="8"/>
                    </a:cubicBezTo>
                    <a:cubicBezTo>
                      <a:pt x="8" y="8"/>
                      <a:pt x="10" y="7"/>
                      <a:pt x="9" y="6"/>
                    </a:cubicBezTo>
                    <a:cubicBezTo>
                      <a:pt x="7" y="6"/>
                      <a:pt x="8" y="5"/>
                      <a:pt x="9" y="5"/>
                    </a:cubicBezTo>
                    <a:cubicBezTo>
                      <a:pt x="11" y="5"/>
                      <a:pt x="12" y="4"/>
                      <a:pt x="11" y="3"/>
                    </a:cubicBezTo>
                    <a:cubicBezTo>
                      <a:pt x="10" y="2"/>
                      <a:pt x="8" y="2"/>
                      <a:pt x="7" y="3"/>
                    </a:cubicBezTo>
                    <a:cubicBezTo>
                      <a:pt x="7" y="3"/>
                      <a:pt x="8" y="0"/>
                      <a:pt x="6" y="1"/>
                    </a:cubicBezTo>
                    <a:cubicBezTo>
                      <a:pt x="5" y="1"/>
                      <a:pt x="3" y="1"/>
                      <a:pt x="4" y="2"/>
                    </a:cubicBezTo>
                    <a:cubicBezTo>
                      <a:pt x="4" y="3"/>
                      <a:pt x="5" y="4"/>
                      <a:pt x="4" y="4"/>
                    </a:cubicBezTo>
                    <a:cubicBezTo>
                      <a:pt x="3" y="4"/>
                      <a:pt x="4" y="4"/>
                      <a:pt x="3"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26" name="Freeform 435">
                <a:extLst>
                  <a:ext uri="{FF2B5EF4-FFF2-40B4-BE49-F238E27FC236}">
                    <a16:creationId xmlns:a16="http://schemas.microsoft.com/office/drawing/2014/main" id="{DA38F758-BB7F-454C-9BF0-F4D0AE8E3492}"/>
                  </a:ext>
                </a:extLst>
              </p:cNvPr>
              <p:cNvSpPr>
                <a:spLocks/>
              </p:cNvSpPr>
              <p:nvPr/>
            </p:nvSpPr>
            <p:spPr bwMode="auto">
              <a:xfrm>
                <a:off x="1965" y="3655"/>
                <a:ext cx="2" cy="3"/>
              </a:xfrm>
              <a:custGeom>
                <a:avLst/>
                <a:gdLst>
                  <a:gd name="T0" fmla="*/ 2 w 2"/>
                  <a:gd name="T1" fmla="*/ 2 h 2"/>
                  <a:gd name="T2" fmla="*/ 2 w 2"/>
                  <a:gd name="T3" fmla="*/ 1 h 2"/>
                  <a:gd name="T4" fmla="*/ 2 w 2"/>
                  <a:gd name="T5" fmla="*/ 2 h 2"/>
                </a:gdLst>
                <a:ahLst/>
                <a:cxnLst>
                  <a:cxn ang="0">
                    <a:pos x="T0" y="T1"/>
                  </a:cxn>
                  <a:cxn ang="0">
                    <a:pos x="T2" y="T3"/>
                  </a:cxn>
                  <a:cxn ang="0">
                    <a:pos x="T4" y="T5"/>
                  </a:cxn>
                </a:cxnLst>
                <a:rect l="0" t="0" r="r" b="b"/>
                <a:pathLst>
                  <a:path w="2" h="2">
                    <a:moveTo>
                      <a:pt x="2" y="2"/>
                    </a:moveTo>
                    <a:cubicBezTo>
                      <a:pt x="2" y="2"/>
                      <a:pt x="2" y="0"/>
                      <a:pt x="2" y="1"/>
                    </a:cubicBezTo>
                    <a:cubicBezTo>
                      <a:pt x="1" y="1"/>
                      <a:pt x="0" y="2"/>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27" name="Freeform 436">
                <a:extLst>
                  <a:ext uri="{FF2B5EF4-FFF2-40B4-BE49-F238E27FC236}">
                    <a16:creationId xmlns:a16="http://schemas.microsoft.com/office/drawing/2014/main" id="{9F7B6402-DCE4-4D2B-B607-653422350F65}"/>
                  </a:ext>
                </a:extLst>
              </p:cNvPr>
              <p:cNvSpPr>
                <a:spLocks/>
              </p:cNvSpPr>
              <p:nvPr/>
            </p:nvSpPr>
            <p:spPr bwMode="auto">
              <a:xfrm>
                <a:off x="1969" y="3656"/>
                <a:ext cx="5" cy="3"/>
              </a:xfrm>
              <a:custGeom>
                <a:avLst/>
                <a:gdLst>
                  <a:gd name="T0" fmla="*/ 1 w 4"/>
                  <a:gd name="T1" fmla="*/ 1 h 2"/>
                  <a:gd name="T2" fmla="*/ 3 w 4"/>
                  <a:gd name="T3" fmla="*/ 1 h 2"/>
                  <a:gd name="T4" fmla="*/ 1 w 4"/>
                  <a:gd name="T5" fmla="*/ 1 h 2"/>
                </a:gdLst>
                <a:ahLst/>
                <a:cxnLst>
                  <a:cxn ang="0">
                    <a:pos x="T0" y="T1"/>
                  </a:cxn>
                  <a:cxn ang="0">
                    <a:pos x="T2" y="T3"/>
                  </a:cxn>
                  <a:cxn ang="0">
                    <a:pos x="T4" y="T5"/>
                  </a:cxn>
                </a:cxnLst>
                <a:rect l="0" t="0" r="r" b="b"/>
                <a:pathLst>
                  <a:path w="4" h="2">
                    <a:moveTo>
                      <a:pt x="1" y="1"/>
                    </a:moveTo>
                    <a:cubicBezTo>
                      <a:pt x="1" y="1"/>
                      <a:pt x="4" y="2"/>
                      <a:pt x="3" y="1"/>
                    </a:cubicBezTo>
                    <a:cubicBezTo>
                      <a:pt x="2" y="0"/>
                      <a:pt x="0"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28" name="Freeform 437">
                <a:extLst>
                  <a:ext uri="{FF2B5EF4-FFF2-40B4-BE49-F238E27FC236}">
                    <a16:creationId xmlns:a16="http://schemas.microsoft.com/office/drawing/2014/main" id="{0A618F2E-A33E-44F6-A318-D57C2EE99370}"/>
                  </a:ext>
                </a:extLst>
              </p:cNvPr>
              <p:cNvSpPr>
                <a:spLocks/>
              </p:cNvSpPr>
              <p:nvPr/>
            </p:nvSpPr>
            <p:spPr bwMode="auto">
              <a:xfrm>
                <a:off x="1973" y="3659"/>
                <a:ext cx="1" cy="4"/>
              </a:xfrm>
              <a:custGeom>
                <a:avLst/>
                <a:gdLst>
                  <a:gd name="T0" fmla="*/ 1 w 1"/>
                  <a:gd name="T1" fmla="*/ 2 h 3"/>
                  <a:gd name="T2" fmla="*/ 0 w 1"/>
                  <a:gd name="T3" fmla="*/ 0 h 3"/>
                  <a:gd name="T4" fmla="*/ 1 w 1"/>
                  <a:gd name="T5" fmla="*/ 2 h 3"/>
                </a:gdLst>
                <a:ahLst/>
                <a:cxnLst>
                  <a:cxn ang="0">
                    <a:pos x="T0" y="T1"/>
                  </a:cxn>
                  <a:cxn ang="0">
                    <a:pos x="T2" y="T3"/>
                  </a:cxn>
                  <a:cxn ang="0">
                    <a:pos x="T4" y="T5"/>
                  </a:cxn>
                </a:cxnLst>
                <a:rect l="0" t="0" r="r" b="b"/>
                <a:pathLst>
                  <a:path w="1" h="3">
                    <a:moveTo>
                      <a:pt x="1" y="2"/>
                    </a:moveTo>
                    <a:cubicBezTo>
                      <a:pt x="1" y="0"/>
                      <a:pt x="0" y="0"/>
                      <a:pt x="0" y="0"/>
                    </a:cubicBezTo>
                    <a:cubicBezTo>
                      <a:pt x="0" y="0"/>
                      <a:pt x="1" y="3"/>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29" name="Freeform 438">
                <a:extLst>
                  <a:ext uri="{FF2B5EF4-FFF2-40B4-BE49-F238E27FC236}">
                    <a16:creationId xmlns:a16="http://schemas.microsoft.com/office/drawing/2014/main" id="{A87975DB-C2CE-407E-8B4C-EB18388CEC7E}"/>
                  </a:ext>
                </a:extLst>
              </p:cNvPr>
              <p:cNvSpPr>
                <a:spLocks/>
              </p:cNvSpPr>
              <p:nvPr/>
            </p:nvSpPr>
            <p:spPr bwMode="auto">
              <a:xfrm>
                <a:off x="1976" y="3655"/>
                <a:ext cx="9" cy="7"/>
              </a:xfrm>
              <a:custGeom>
                <a:avLst/>
                <a:gdLst>
                  <a:gd name="T0" fmla="*/ 2 w 7"/>
                  <a:gd name="T1" fmla="*/ 4 h 5"/>
                  <a:gd name="T2" fmla="*/ 6 w 7"/>
                  <a:gd name="T3" fmla="*/ 2 h 5"/>
                  <a:gd name="T4" fmla="*/ 5 w 7"/>
                  <a:gd name="T5" fmla="*/ 1 h 5"/>
                  <a:gd name="T6" fmla="*/ 0 w 7"/>
                  <a:gd name="T7" fmla="*/ 2 h 5"/>
                  <a:gd name="T8" fmla="*/ 2 w 7"/>
                  <a:gd name="T9" fmla="*/ 4 h 5"/>
                </a:gdLst>
                <a:ahLst/>
                <a:cxnLst>
                  <a:cxn ang="0">
                    <a:pos x="T0" y="T1"/>
                  </a:cxn>
                  <a:cxn ang="0">
                    <a:pos x="T2" y="T3"/>
                  </a:cxn>
                  <a:cxn ang="0">
                    <a:pos x="T4" y="T5"/>
                  </a:cxn>
                  <a:cxn ang="0">
                    <a:pos x="T6" y="T7"/>
                  </a:cxn>
                  <a:cxn ang="0">
                    <a:pos x="T8" y="T9"/>
                  </a:cxn>
                </a:cxnLst>
                <a:rect l="0" t="0" r="r" b="b"/>
                <a:pathLst>
                  <a:path w="7" h="5">
                    <a:moveTo>
                      <a:pt x="2" y="4"/>
                    </a:moveTo>
                    <a:cubicBezTo>
                      <a:pt x="4" y="4"/>
                      <a:pt x="5" y="2"/>
                      <a:pt x="6" y="2"/>
                    </a:cubicBezTo>
                    <a:cubicBezTo>
                      <a:pt x="7" y="3"/>
                      <a:pt x="7" y="1"/>
                      <a:pt x="5" y="1"/>
                    </a:cubicBezTo>
                    <a:cubicBezTo>
                      <a:pt x="3" y="0"/>
                      <a:pt x="0" y="1"/>
                      <a:pt x="0" y="2"/>
                    </a:cubicBezTo>
                    <a:cubicBezTo>
                      <a:pt x="0" y="2"/>
                      <a:pt x="0" y="5"/>
                      <a:pt x="2"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30" name="Freeform 439">
                <a:extLst>
                  <a:ext uri="{FF2B5EF4-FFF2-40B4-BE49-F238E27FC236}">
                    <a16:creationId xmlns:a16="http://schemas.microsoft.com/office/drawing/2014/main" id="{C26C1714-93CE-4787-B55F-9594A320443C}"/>
                  </a:ext>
                </a:extLst>
              </p:cNvPr>
              <p:cNvSpPr>
                <a:spLocks/>
              </p:cNvSpPr>
              <p:nvPr/>
            </p:nvSpPr>
            <p:spPr bwMode="auto">
              <a:xfrm>
                <a:off x="1985" y="3655"/>
                <a:ext cx="4" cy="4"/>
              </a:xfrm>
              <a:custGeom>
                <a:avLst/>
                <a:gdLst>
                  <a:gd name="T0" fmla="*/ 3 w 3"/>
                  <a:gd name="T1" fmla="*/ 1 h 3"/>
                  <a:gd name="T2" fmla="*/ 1 w 3"/>
                  <a:gd name="T3" fmla="*/ 1 h 3"/>
                  <a:gd name="T4" fmla="*/ 1 w 3"/>
                  <a:gd name="T5" fmla="*/ 3 h 3"/>
                  <a:gd name="T6" fmla="*/ 3 w 3"/>
                  <a:gd name="T7" fmla="*/ 1 h 3"/>
                </a:gdLst>
                <a:ahLst/>
                <a:cxnLst>
                  <a:cxn ang="0">
                    <a:pos x="T0" y="T1"/>
                  </a:cxn>
                  <a:cxn ang="0">
                    <a:pos x="T2" y="T3"/>
                  </a:cxn>
                  <a:cxn ang="0">
                    <a:pos x="T4" y="T5"/>
                  </a:cxn>
                  <a:cxn ang="0">
                    <a:pos x="T6" y="T7"/>
                  </a:cxn>
                </a:cxnLst>
                <a:rect l="0" t="0" r="r" b="b"/>
                <a:pathLst>
                  <a:path w="3" h="3">
                    <a:moveTo>
                      <a:pt x="3" y="1"/>
                    </a:moveTo>
                    <a:cubicBezTo>
                      <a:pt x="3" y="0"/>
                      <a:pt x="1" y="0"/>
                      <a:pt x="1" y="1"/>
                    </a:cubicBezTo>
                    <a:cubicBezTo>
                      <a:pt x="1" y="1"/>
                      <a:pt x="0" y="3"/>
                      <a:pt x="1" y="3"/>
                    </a:cubicBezTo>
                    <a:cubicBezTo>
                      <a:pt x="3" y="2"/>
                      <a:pt x="3" y="2"/>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31" name="Freeform 440">
                <a:extLst>
                  <a:ext uri="{FF2B5EF4-FFF2-40B4-BE49-F238E27FC236}">
                    <a16:creationId xmlns:a16="http://schemas.microsoft.com/office/drawing/2014/main" id="{6510F86A-CAB5-4868-82E5-6CA5B1F6D566}"/>
                  </a:ext>
                </a:extLst>
              </p:cNvPr>
              <p:cNvSpPr>
                <a:spLocks/>
              </p:cNvSpPr>
              <p:nvPr/>
            </p:nvSpPr>
            <p:spPr bwMode="auto">
              <a:xfrm>
                <a:off x="1980" y="3652"/>
                <a:ext cx="3" cy="3"/>
              </a:xfrm>
              <a:custGeom>
                <a:avLst/>
                <a:gdLst>
                  <a:gd name="T0" fmla="*/ 0 w 2"/>
                  <a:gd name="T1" fmla="*/ 1 h 2"/>
                  <a:gd name="T2" fmla="*/ 1 w 2"/>
                  <a:gd name="T3" fmla="*/ 2 h 2"/>
                  <a:gd name="T4" fmla="*/ 0 w 2"/>
                  <a:gd name="T5" fmla="*/ 1 h 2"/>
                </a:gdLst>
                <a:ahLst/>
                <a:cxnLst>
                  <a:cxn ang="0">
                    <a:pos x="T0" y="T1"/>
                  </a:cxn>
                  <a:cxn ang="0">
                    <a:pos x="T2" y="T3"/>
                  </a:cxn>
                  <a:cxn ang="0">
                    <a:pos x="T4" y="T5"/>
                  </a:cxn>
                </a:cxnLst>
                <a:rect l="0" t="0" r="r" b="b"/>
                <a:pathLst>
                  <a:path w="2" h="2">
                    <a:moveTo>
                      <a:pt x="0" y="1"/>
                    </a:moveTo>
                    <a:cubicBezTo>
                      <a:pt x="0" y="1"/>
                      <a:pt x="0" y="2"/>
                      <a:pt x="1" y="2"/>
                    </a:cubicBezTo>
                    <a:cubicBezTo>
                      <a:pt x="2" y="1"/>
                      <a:pt x="0"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32" name="Freeform 441">
                <a:extLst>
                  <a:ext uri="{FF2B5EF4-FFF2-40B4-BE49-F238E27FC236}">
                    <a16:creationId xmlns:a16="http://schemas.microsoft.com/office/drawing/2014/main" id="{17BCD2CB-05AE-4DA0-BBA4-397A6D96B07C}"/>
                  </a:ext>
                </a:extLst>
              </p:cNvPr>
              <p:cNvSpPr>
                <a:spLocks/>
              </p:cNvSpPr>
              <p:nvPr/>
            </p:nvSpPr>
            <p:spPr bwMode="auto">
              <a:xfrm>
                <a:off x="1971" y="3651"/>
                <a:ext cx="9" cy="1"/>
              </a:xfrm>
              <a:custGeom>
                <a:avLst/>
                <a:gdLst>
                  <a:gd name="T0" fmla="*/ 0 w 6"/>
                  <a:gd name="T1" fmla="*/ 1 h 1"/>
                  <a:gd name="T2" fmla="*/ 3 w 6"/>
                  <a:gd name="T3" fmla="*/ 1 h 1"/>
                  <a:gd name="T4" fmla="*/ 4 w 6"/>
                  <a:gd name="T5" fmla="*/ 0 h 1"/>
                  <a:gd name="T6" fmla="*/ 2 w 6"/>
                  <a:gd name="T7" fmla="*/ 1 h 1"/>
                  <a:gd name="T8" fmla="*/ 0 w 6"/>
                  <a:gd name="T9" fmla="*/ 1 h 1"/>
                </a:gdLst>
                <a:ahLst/>
                <a:cxnLst>
                  <a:cxn ang="0">
                    <a:pos x="T0" y="T1"/>
                  </a:cxn>
                  <a:cxn ang="0">
                    <a:pos x="T2" y="T3"/>
                  </a:cxn>
                  <a:cxn ang="0">
                    <a:pos x="T4" y="T5"/>
                  </a:cxn>
                  <a:cxn ang="0">
                    <a:pos x="T6" y="T7"/>
                  </a:cxn>
                  <a:cxn ang="0">
                    <a:pos x="T8" y="T9"/>
                  </a:cxn>
                </a:cxnLst>
                <a:rect l="0" t="0" r="r" b="b"/>
                <a:pathLst>
                  <a:path w="6" h="1">
                    <a:moveTo>
                      <a:pt x="0" y="1"/>
                    </a:moveTo>
                    <a:cubicBezTo>
                      <a:pt x="0" y="1"/>
                      <a:pt x="2" y="1"/>
                      <a:pt x="3" y="1"/>
                    </a:cubicBezTo>
                    <a:cubicBezTo>
                      <a:pt x="4" y="1"/>
                      <a:pt x="6" y="1"/>
                      <a:pt x="4" y="0"/>
                    </a:cubicBezTo>
                    <a:cubicBezTo>
                      <a:pt x="3" y="0"/>
                      <a:pt x="3" y="1"/>
                      <a:pt x="2" y="1"/>
                    </a:cubicBezTo>
                    <a:cubicBezTo>
                      <a:pt x="1" y="1"/>
                      <a:pt x="0" y="1"/>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33" name="Freeform 442">
                <a:extLst>
                  <a:ext uri="{FF2B5EF4-FFF2-40B4-BE49-F238E27FC236}">
                    <a16:creationId xmlns:a16="http://schemas.microsoft.com/office/drawing/2014/main" id="{5DB4D740-C02F-410F-912F-6D3DE9A26326}"/>
                  </a:ext>
                </a:extLst>
              </p:cNvPr>
              <p:cNvSpPr>
                <a:spLocks/>
              </p:cNvSpPr>
              <p:nvPr/>
            </p:nvSpPr>
            <p:spPr bwMode="auto">
              <a:xfrm>
                <a:off x="1981" y="3645"/>
                <a:ext cx="3" cy="6"/>
              </a:xfrm>
              <a:custGeom>
                <a:avLst/>
                <a:gdLst>
                  <a:gd name="T0" fmla="*/ 1 w 2"/>
                  <a:gd name="T1" fmla="*/ 2 h 4"/>
                  <a:gd name="T2" fmla="*/ 0 w 2"/>
                  <a:gd name="T3" fmla="*/ 0 h 4"/>
                  <a:gd name="T4" fmla="*/ 1 w 2"/>
                  <a:gd name="T5" fmla="*/ 2 h 4"/>
                </a:gdLst>
                <a:ahLst/>
                <a:cxnLst>
                  <a:cxn ang="0">
                    <a:pos x="T0" y="T1"/>
                  </a:cxn>
                  <a:cxn ang="0">
                    <a:pos x="T2" y="T3"/>
                  </a:cxn>
                  <a:cxn ang="0">
                    <a:pos x="T4" y="T5"/>
                  </a:cxn>
                </a:cxnLst>
                <a:rect l="0" t="0" r="r" b="b"/>
                <a:pathLst>
                  <a:path w="2" h="4">
                    <a:moveTo>
                      <a:pt x="1" y="2"/>
                    </a:moveTo>
                    <a:cubicBezTo>
                      <a:pt x="2" y="1"/>
                      <a:pt x="2" y="1"/>
                      <a:pt x="0" y="0"/>
                    </a:cubicBezTo>
                    <a:cubicBezTo>
                      <a:pt x="0" y="0"/>
                      <a:pt x="0" y="4"/>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34" name="Freeform 443">
                <a:extLst>
                  <a:ext uri="{FF2B5EF4-FFF2-40B4-BE49-F238E27FC236}">
                    <a16:creationId xmlns:a16="http://schemas.microsoft.com/office/drawing/2014/main" id="{C54058E9-A209-4F79-825A-6AEE118A1AB1}"/>
                  </a:ext>
                </a:extLst>
              </p:cNvPr>
              <p:cNvSpPr>
                <a:spLocks/>
              </p:cNvSpPr>
              <p:nvPr/>
            </p:nvSpPr>
            <p:spPr bwMode="auto">
              <a:xfrm>
                <a:off x="1983" y="3644"/>
                <a:ext cx="2" cy="3"/>
              </a:xfrm>
              <a:custGeom>
                <a:avLst/>
                <a:gdLst>
                  <a:gd name="T0" fmla="*/ 2 w 2"/>
                  <a:gd name="T1" fmla="*/ 1 h 2"/>
                  <a:gd name="T2" fmla="*/ 0 w 2"/>
                  <a:gd name="T3" fmla="*/ 0 h 2"/>
                  <a:gd name="T4" fmla="*/ 2 w 2"/>
                  <a:gd name="T5" fmla="*/ 1 h 2"/>
                </a:gdLst>
                <a:ahLst/>
                <a:cxnLst>
                  <a:cxn ang="0">
                    <a:pos x="T0" y="T1"/>
                  </a:cxn>
                  <a:cxn ang="0">
                    <a:pos x="T2" y="T3"/>
                  </a:cxn>
                  <a:cxn ang="0">
                    <a:pos x="T4" y="T5"/>
                  </a:cxn>
                </a:cxnLst>
                <a:rect l="0" t="0" r="r" b="b"/>
                <a:pathLst>
                  <a:path w="2" h="2">
                    <a:moveTo>
                      <a:pt x="2" y="1"/>
                    </a:moveTo>
                    <a:cubicBezTo>
                      <a:pt x="2" y="0"/>
                      <a:pt x="1" y="0"/>
                      <a:pt x="0" y="0"/>
                    </a:cubicBezTo>
                    <a:cubicBezTo>
                      <a:pt x="0" y="0"/>
                      <a:pt x="2" y="2"/>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35" name="Freeform 444">
                <a:extLst>
                  <a:ext uri="{FF2B5EF4-FFF2-40B4-BE49-F238E27FC236}">
                    <a16:creationId xmlns:a16="http://schemas.microsoft.com/office/drawing/2014/main" id="{CBD8A306-D8D9-4448-9746-9A66369C127C}"/>
                  </a:ext>
                </a:extLst>
              </p:cNvPr>
              <p:cNvSpPr>
                <a:spLocks/>
              </p:cNvSpPr>
              <p:nvPr/>
            </p:nvSpPr>
            <p:spPr bwMode="auto">
              <a:xfrm>
                <a:off x="1966" y="3630"/>
                <a:ext cx="4" cy="2"/>
              </a:xfrm>
              <a:custGeom>
                <a:avLst/>
                <a:gdLst>
                  <a:gd name="T0" fmla="*/ 1 w 3"/>
                  <a:gd name="T1" fmla="*/ 1 h 1"/>
                  <a:gd name="T2" fmla="*/ 3 w 3"/>
                  <a:gd name="T3" fmla="*/ 0 h 1"/>
                  <a:gd name="T4" fmla="*/ 1 w 3"/>
                  <a:gd name="T5" fmla="*/ 1 h 1"/>
                </a:gdLst>
                <a:ahLst/>
                <a:cxnLst>
                  <a:cxn ang="0">
                    <a:pos x="T0" y="T1"/>
                  </a:cxn>
                  <a:cxn ang="0">
                    <a:pos x="T2" y="T3"/>
                  </a:cxn>
                  <a:cxn ang="0">
                    <a:pos x="T4" y="T5"/>
                  </a:cxn>
                </a:cxnLst>
                <a:rect l="0" t="0" r="r" b="b"/>
                <a:pathLst>
                  <a:path w="3" h="1">
                    <a:moveTo>
                      <a:pt x="1" y="1"/>
                    </a:moveTo>
                    <a:cubicBezTo>
                      <a:pt x="1" y="1"/>
                      <a:pt x="3" y="1"/>
                      <a:pt x="3" y="0"/>
                    </a:cubicBezTo>
                    <a:cubicBezTo>
                      <a:pt x="2" y="0"/>
                      <a:pt x="0"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36" name="Freeform 445">
                <a:extLst>
                  <a:ext uri="{FF2B5EF4-FFF2-40B4-BE49-F238E27FC236}">
                    <a16:creationId xmlns:a16="http://schemas.microsoft.com/office/drawing/2014/main" id="{8783F4F4-8BC9-4AA7-8F76-19874092F7A4}"/>
                  </a:ext>
                </a:extLst>
              </p:cNvPr>
              <p:cNvSpPr>
                <a:spLocks/>
              </p:cNvSpPr>
              <p:nvPr/>
            </p:nvSpPr>
            <p:spPr bwMode="auto">
              <a:xfrm>
                <a:off x="1980" y="3634"/>
                <a:ext cx="8" cy="7"/>
              </a:xfrm>
              <a:custGeom>
                <a:avLst/>
                <a:gdLst>
                  <a:gd name="T0" fmla="*/ 2 w 6"/>
                  <a:gd name="T1" fmla="*/ 1 h 5"/>
                  <a:gd name="T2" fmla="*/ 0 w 6"/>
                  <a:gd name="T3" fmla="*/ 2 h 5"/>
                  <a:gd name="T4" fmla="*/ 3 w 6"/>
                  <a:gd name="T5" fmla="*/ 3 h 5"/>
                  <a:gd name="T6" fmla="*/ 4 w 6"/>
                  <a:gd name="T7" fmla="*/ 2 h 5"/>
                  <a:gd name="T8" fmla="*/ 5 w 6"/>
                  <a:gd name="T9" fmla="*/ 2 h 5"/>
                  <a:gd name="T10" fmla="*/ 2 w 6"/>
                  <a:gd name="T11" fmla="*/ 1 h 5"/>
                </a:gdLst>
                <a:ahLst/>
                <a:cxnLst>
                  <a:cxn ang="0">
                    <a:pos x="T0" y="T1"/>
                  </a:cxn>
                  <a:cxn ang="0">
                    <a:pos x="T2" y="T3"/>
                  </a:cxn>
                  <a:cxn ang="0">
                    <a:pos x="T4" y="T5"/>
                  </a:cxn>
                  <a:cxn ang="0">
                    <a:pos x="T6" y="T7"/>
                  </a:cxn>
                  <a:cxn ang="0">
                    <a:pos x="T8" y="T9"/>
                  </a:cxn>
                  <a:cxn ang="0">
                    <a:pos x="T10" y="T11"/>
                  </a:cxn>
                </a:cxnLst>
                <a:rect l="0" t="0" r="r" b="b"/>
                <a:pathLst>
                  <a:path w="6" h="5">
                    <a:moveTo>
                      <a:pt x="2" y="1"/>
                    </a:moveTo>
                    <a:cubicBezTo>
                      <a:pt x="1" y="1"/>
                      <a:pt x="0" y="2"/>
                      <a:pt x="0" y="2"/>
                    </a:cubicBezTo>
                    <a:cubicBezTo>
                      <a:pt x="0" y="2"/>
                      <a:pt x="2" y="5"/>
                      <a:pt x="3" y="3"/>
                    </a:cubicBezTo>
                    <a:cubicBezTo>
                      <a:pt x="3" y="2"/>
                      <a:pt x="3" y="2"/>
                      <a:pt x="4" y="2"/>
                    </a:cubicBezTo>
                    <a:cubicBezTo>
                      <a:pt x="4" y="2"/>
                      <a:pt x="6" y="3"/>
                      <a:pt x="5" y="2"/>
                    </a:cubicBezTo>
                    <a:cubicBezTo>
                      <a:pt x="4" y="0"/>
                      <a:pt x="3" y="2"/>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37" name="Freeform 446">
                <a:extLst>
                  <a:ext uri="{FF2B5EF4-FFF2-40B4-BE49-F238E27FC236}">
                    <a16:creationId xmlns:a16="http://schemas.microsoft.com/office/drawing/2014/main" id="{06A8BA47-BB9A-45E4-9570-E30ACB6A4E4E}"/>
                  </a:ext>
                </a:extLst>
              </p:cNvPr>
              <p:cNvSpPr>
                <a:spLocks/>
              </p:cNvSpPr>
              <p:nvPr/>
            </p:nvSpPr>
            <p:spPr bwMode="auto">
              <a:xfrm>
                <a:off x="1974" y="3586"/>
                <a:ext cx="24" cy="39"/>
              </a:xfrm>
              <a:custGeom>
                <a:avLst/>
                <a:gdLst>
                  <a:gd name="T0" fmla="*/ 1 w 17"/>
                  <a:gd name="T1" fmla="*/ 27 h 28"/>
                  <a:gd name="T2" fmla="*/ 9 w 17"/>
                  <a:gd name="T3" fmla="*/ 28 h 28"/>
                  <a:gd name="T4" fmla="*/ 9 w 17"/>
                  <a:gd name="T5" fmla="*/ 25 h 28"/>
                  <a:gd name="T6" fmla="*/ 13 w 17"/>
                  <a:gd name="T7" fmla="*/ 24 h 28"/>
                  <a:gd name="T8" fmla="*/ 11 w 17"/>
                  <a:gd name="T9" fmla="*/ 20 h 28"/>
                  <a:gd name="T10" fmla="*/ 13 w 17"/>
                  <a:gd name="T11" fmla="*/ 19 h 28"/>
                  <a:gd name="T12" fmla="*/ 9 w 17"/>
                  <a:gd name="T13" fmla="*/ 14 h 28"/>
                  <a:gd name="T14" fmla="*/ 11 w 17"/>
                  <a:gd name="T15" fmla="*/ 13 h 28"/>
                  <a:gd name="T16" fmla="*/ 11 w 17"/>
                  <a:gd name="T17" fmla="*/ 11 h 28"/>
                  <a:gd name="T18" fmla="*/ 14 w 17"/>
                  <a:gd name="T19" fmla="*/ 9 h 28"/>
                  <a:gd name="T20" fmla="*/ 14 w 17"/>
                  <a:gd name="T21" fmla="*/ 7 h 28"/>
                  <a:gd name="T22" fmla="*/ 14 w 17"/>
                  <a:gd name="T23" fmla="*/ 6 h 28"/>
                  <a:gd name="T24" fmla="*/ 13 w 17"/>
                  <a:gd name="T25" fmla="*/ 3 h 28"/>
                  <a:gd name="T26" fmla="*/ 13 w 17"/>
                  <a:gd name="T27" fmla="*/ 1 h 28"/>
                  <a:gd name="T28" fmla="*/ 8 w 17"/>
                  <a:gd name="T29" fmla="*/ 1 h 28"/>
                  <a:gd name="T30" fmla="*/ 7 w 17"/>
                  <a:gd name="T31" fmla="*/ 1 h 28"/>
                  <a:gd name="T32" fmla="*/ 5 w 17"/>
                  <a:gd name="T33" fmla="*/ 3 h 28"/>
                  <a:gd name="T34" fmla="*/ 3 w 17"/>
                  <a:gd name="T35" fmla="*/ 14 h 28"/>
                  <a:gd name="T36" fmla="*/ 1 w 17"/>
                  <a:gd name="T37" fmla="*/ 25 h 28"/>
                  <a:gd name="T38" fmla="*/ 1 w 17"/>
                  <a:gd name="T39"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 h="28">
                    <a:moveTo>
                      <a:pt x="1" y="27"/>
                    </a:moveTo>
                    <a:cubicBezTo>
                      <a:pt x="3" y="27"/>
                      <a:pt x="7" y="28"/>
                      <a:pt x="9" y="28"/>
                    </a:cubicBezTo>
                    <a:cubicBezTo>
                      <a:pt x="11" y="28"/>
                      <a:pt x="11" y="27"/>
                      <a:pt x="9" y="25"/>
                    </a:cubicBezTo>
                    <a:cubicBezTo>
                      <a:pt x="8" y="24"/>
                      <a:pt x="11" y="24"/>
                      <a:pt x="13" y="24"/>
                    </a:cubicBezTo>
                    <a:cubicBezTo>
                      <a:pt x="15" y="23"/>
                      <a:pt x="12" y="21"/>
                      <a:pt x="11" y="20"/>
                    </a:cubicBezTo>
                    <a:cubicBezTo>
                      <a:pt x="10" y="19"/>
                      <a:pt x="11" y="19"/>
                      <a:pt x="13" y="19"/>
                    </a:cubicBezTo>
                    <a:cubicBezTo>
                      <a:pt x="15" y="19"/>
                      <a:pt x="10" y="15"/>
                      <a:pt x="9" y="14"/>
                    </a:cubicBezTo>
                    <a:cubicBezTo>
                      <a:pt x="8" y="12"/>
                      <a:pt x="9" y="13"/>
                      <a:pt x="11" y="13"/>
                    </a:cubicBezTo>
                    <a:cubicBezTo>
                      <a:pt x="12" y="14"/>
                      <a:pt x="11" y="13"/>
                      <a:pt x="11" y="11"/>
                    </a:cubicBezTo>
                    <a:cubicBezTo>
                      <a:pt x="11" y="9"/>
                      <a:pt x="12" y="10"/>
                      <a:pt x="14" y="9"/>
                    </a:cubicBezTo>
                    <a:cubicBezTo>
                      <a:pt x="17" y="9"/>
                      <a:pt x="15" y="7"/>
                      <a:pt x="14" y="7"/>
                    </a:cubicBezTo>
                    <a:cubicBezTo>
                      <a:pt x="13" y="7"/>
                      <a:pt x="13" y="6"/>
                      <a:pt x="14" y="6"/>
                    </a:cubicBezTo>
                    <a:cubicBezTo>
                      <a:pt x="14" y="6"/>
                      <a:pt x="14" y="5"/>
                      <a:pt x="13" y="3"/>
                    </a:cubicBezTo>
                    <a:cubicBezTo>
                      <a:pt x="12" y="2"/>
                      <a:pt x="12" y="2"/>
                      <a:pt x="13" y="1"/>
                    </a:cubicBezTo>
                    <a:cubicBezTo>
                      <a:pt x="14" y="0"/>
                      <a:pt x="9" y="1"/>
                      <a:pt x="8" y="1"/>
                    </a:cubicBezTo>
                    <a:cubicBezTo>
                      <a:pt x="7" y="2"/>
                      <a:pt x="6" y="2"/>
                      <a:pt x="7" y="1"/>
                    </a:cubicBezTo>
                    <a:cubicBezTo>
                      <a:pt x="8" y="0"/>
                      <a:pt x="6" y="1"/>
                      <a:pt x="5" y="3"/>
                    </a:cubicBezTo>
                    <a:cubicBezTo>
                      <a:pt x="4" y="4"/>
                      <a:pt x="2" y="11"/>
                      <a:pt x="3" y="14"/>
                    </a:cubicBezTo>
                    <a:cubicBezTo>
                      <a:pt x="4" y="17"/>
                      <a:pt x="2" y="23"/>
                      <a:pt x="1" y="25"/>
                    </a:cubicBezTo>
                    <a:cubicBezTo>
                      <a:pt x="0" y="26"/>
                      <a:pt x="1" y="27"/>
                      <a:pt x="1" y="2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38" name="Freeform 447">
                <a:extLst>
                  <a:ext uri="{FF2B5EF4-FFF2-40B4-BE49-F238E27FC236}">
                    <a16:creationId xmlns:a16="http://schemas.microsoft.com/office/drawing/2014/main" id="{ECDB2B00-8CF7-4903-8E0F-11E8F46ADB39}"/>
                  </a:ext>
                </a:extLst>
              </p:cNvPr>
              <p:cNvSpPr>
                <a:spLocks/>
              </p:cNvSpPr>
              <p:nvPr/>
            </p:nvSpPr>
            <p:spPr bwMode="auto">
              <a:xfrm>
                <a:off x="1253" y="3247"/>
                <a:ext cx="7" cy="3"/>
              </a:xfrm>
              <a:custGeom>
                <a:avLst/>
                <a:gdLst>
                  <a:gd name="T0" fmla="*/ 1 w 5"/>
                  <a:gd name="T1" fmla="*/ 2 h 2"/>
                  <a:gd name="T2" fmla="*/ 3 w 5"/>
                  <a:gd name="T3" fmla="*/ 1 h 2"/>
                  <a:gd name="T4" fmla="*/ 1 w 5"/>
                  <a:gd name="T5" fmla="*/ 2 h 2"/>
                </a:gdLst>
                <a:ahLst/>
                <a:cxnLst>
                  <a:cxn ang="0">
                    <a:pos x="T0" y="T1"/>
                  </a:cxn>
                  <a:cxn ang="0">
                    <a:pos x="T2" y="T3"/>
                  </a:cxn>
                  <a:cxn ang="0">
                    <a:pos x="T4" y="T5"/>
                  </a:cxn>
                </a:cxnLst>
                <a:rect l="0" t="0" r="r" b="b"/>
                <a:pathLst>
                  <a:path w="5" h="2">
                    <a:moveTo>
                      <a:pt x="1" y="2"/>
                    </a:moveTo>
                    <a:cubicBezTo>
                      <a:pt x="1" y="2"/>
                      <a:pt x="5" y="2"/>
                      <a:pt x="3" y="1"/>
                    </a:cubicBezTo>
                    <a:cubicBezTo>
                      <a:pt x="2" y="0"/>
                      <a:pt x="0"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39" name="Freeform 448">
                <a:extLst>
                  <a:ext uri="{FF2B5EF4-FFF2-40B4-BE49-F238E27FC236}">
                    <a16:creationId xmlns:a16="http://schemas.microsoft.com/office/drawing/2014/main" id="{4C12B08C-DB69-4905-9C7C-50E4275DC55A}"/>
                  </a:ext>
                </a:extLst>
              </p:cNvPr>
              <p:cNvSpPr>
                <a:spLocks/>
              </p:cNvSpPr>
              <p:nvPr/>
            </p:nvSpPr>
            <p:spPr bwMode="auto">
              <a:xfrm>
                <a:off x="1880" y="3393"/>
                <a:ext cx="6" cy="3"/>
              </a:xfrm>
              <a:custGeom>
                <a:avLst/>
                <a:gdLst>
                  <a:gd name="T0" fmla="*/ 1 w 4"/>
                  <a:gd name="T1" fmla="*/ 1 h 2"/>
                  <a:gd name="T2" fmla="*/ 2 w 4"/>
                  <a:gd name="T3" fmla="*/ 2 h 2"/>
                  <a:gd name="T4" fmla="*/ 1 w 4"/>
                  <a:gd name="T5" fmla="*/ 1 h 2"/>
                </a:gdLst>
                <a:ahLst/>
                <a:cxnLst>
                  <a:cxn ang="0">
                    <a:pos x="T0" y="T1"/>
                  </a:cxn>
                  <a:cxn ang="0">
                    <a:pos x="T2" y="T3"/>
                  </a:cxn>
                  <a:cxn ang="0">
                    <a:pos x="T4" y="T5"/>
                  </a:cxn>
                </a:cxnLst>
                <a:rect l="0" t="0" r="r" b="b"/>
                <a:pathLst>
                  <a:path w="4" h="2">
                    <a:moveTo>
                      <a:pt x="1" y="1"/>
                    </a:moveTo>
                    <a:cubicBezTo>
                      <a:pt x="1" y="1"/>
                      <a:pt x="0" y="2"/>
                      <a:pt x="2" y="2"/>
                    </a:cubicBezTo>
                    <a:cubicBezTo>
                      <a:pt x="4" y="1"/>
                      <a:pt x="3"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40" name="Freeform 449">
                <a:extLst>
                  <a:ext uri="{FF2B5EF4-FFF2-40B4-BE49-F238E27FC236}">
                    <a16:creationId xmlns:a16="http://schemas.microsoft.com/office/drawing/2014/main" id="{4783928D-D63D-423D-835B-9C54E8D6060C}"/>
                  </a:ext>
                </a:extLst>
              </p:cNvPr>
              <p:cNvSpPr>
                <a:spLocks/>
              </p:cNvSpPr>
              <p:nvPr/>
            </p:nvSpPr>
            <p:spPr bwMode="auto">
              <a:xfrm>
                <a:off x="2024" y="3861"/>
                <a:ext cx="69" cy="70"/>
              </a:xfrm>
              <a:custGeom>
                <a:avLst/>
                <a:gdLst>
                  <a:gd name="T0" fmla="*/ 38 w 50"/>
                  <a:gd name="T1" fmla="*/ 1 h 51"/>
                  <a:gd name="T2" fmla="*/ 31 w 50"/>
                  <a:gd name="T3" fmla="*/ 8 h 51"/>
                  <a:gd name="T4" fmla="*/ 25 w 50"/>
                  <a:gd name="T5" fmla="*/ 7 h 51"/>
                  <a:gd name="T6" fmla="*/ 27 w 50"/>
                  <a:gd name="T7" fmla="*/ 9 h 51"/>
                  <a:gd name="T8" fmla="*/ 24 w 50"/>
                  <a:gd name="T9" fmla="*/ 11 h 51"/>
                  <a:gd name="T10" fmla="*/ 30 w 50"/>
                  <a:gd name="T11" fmla="*/ 19 h 51"/>
                  <a:gd name="T12" fmla="*/ 38 w 50"/>
                  <a:gd name="T13" fmla="*/ 23 h 51"/>
                  <a:gd name="T14" fmla="*/ 28 w 50"/>
                  <a:gd name="T15" fmla="*/ 26 h 51"/>
                  <a:gd name="T16" fmla="*/ 33 w 50"/>
                  <a:gd name="T17" fmla="*/ 36 h 51"/>
                  <a:gd name="T18" fmla="*/ 44 w 50"/>
                  <a:gd name="T19" fmla="*/ 42 h 51"/>
                  <a:gd name="T20" fmla="*/ 40 w 50"/>
                  <a:gd name="T21" fmla="*/ 42 h 51"/>
                  <a:gd name="T22" fmla="*/ 37 w 50"/>
                  <a:gd name="T23" fmla="*/ 40 h 51"/>
                  <a:gd name="T24" fmla="*/ 33 w 50"/>
                  <a:gd name="T25" fmla="*/ 42 h 51"/>
                  <a:gd name="T26" fmla="*/ 28 w 50"/>
                  <a:gd name="T27" fmla="*/ 39 h 51"/>
                  <a:gd name="T28" fmla="*/ 17 w 50"/>
                  <a:gd name="T29" fmla="*/ 35 h 51"/>
                  <a:gd name="T30" fmla="*/ 21 w 50"/>
                  <a:gd name="T31" fmla="*/ 38 h 51"/>
                  <a:gd name="T32" fmla="*/ 24 w 50"/>
                  <a:gd name="T33" fmla="*/ 42 h 51"/>
                  <a:gd name="T34" fmla="*/ 21 w 50"/>
                  <a:gd name="T35" fmla="*/ 40 h 51"/>
                  <a:gd name="T36" fmla="*/ 19 w 50"/>
                  <a:gd name="T37" fmla="*/ 40 h 51"/>
                  <a:gd name="T38" fmla="*/ 8 w 50"/>
                  <a:gd name="T39" fmla="*/ 41 h 51"/>
                  <a:gd name="T40" fmla="*/ 4 w 50"/>
                  <a:gd name="T41" fmla="*/ 43 h 51"/>
                  <a:gd name="T42" fmla="*/ 1 w 50"/>
                  <a:gd name="T43" fmla="*/ 44 h 51"/>
                  <a:gd name="T44" fmla="*/ 9 w 50"/>
                  <a:gd name="T45" fmla="*/ 43 h 51"/>
                  <a:gd name="T46" fmla="*/ 10 w 50"/>
                  <a:gd name="T47" fmla="*/ 46 h 51"/>
                  <a:gd name="T48" fmla="*/ 14 w 50"/>
                  <a:gd name="T49" fmla="*/ 46 h 51"/>
                  <a:gd name="T50" fmla="*/ 19 w 50"/>
                  <a:gd name="T51" fmla="*/ 45 h 51"/>
                  <a:gd name="T52" fmla="*/ 20 w 50"/>
                  <a:gd name="T53" fmla="*/ 47 h 51"/>
                  <a:gd name="T54" fmla="*/ 23 w 50"/>
                  <a:gd name="T55" fmla="*/ 48 h 51"/>
                  <a:gd name="T56" fmla="*/ 29 w 50"/>
                  <a:gd name="T57" fmla="*/ 48 h 51"/>
                  <a:gd name="T58" fmla="*/ 33 w 50"/>
                  <a:gd name="T59" fmla="*/ 47 h 51"/>
                  <a:gd name="T60" fmla="*/ 41 w 50"/>
                  <a:gd name="T61" fmla="*/ 50 h 51"/>
                  <a:gd name="T62" fmla="*/ 47 w 50"/>
                  <a:gd name="T63" fmla="*/ 49 h 51"/>
                  <a:gd name="T64" fmla="*/ 50 w 50"/>
                  <a:gd name="T65" fmla="*/ 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 h="51">
                    <a:moveTo>
                      <a:pt x="44" y="4"/>
                    </a:moveTo>
                    <a:cubicBezTo>
                      <a:pt x="42" y="4"/>
                      <a:pt x="40" y="2"/>
                      <a:pt x="38" y="1"/>
                    </a:cubicBezTo>
                    <a:cubicBezTo>
                      <a:pt x="37" y="0"/>
                      <a:pt x="35" y="2"/>
                      <a:pt x="34" y="4"/>
                    </a:cubicBezTo>
                    <a:cubicBezTo>
                      <a:pt x="33" y="6"/>
                      <a:pt x="33" y="7"/>
                      <a:pt x="31" y="8"/>
                    </a:cubicBezTo>
                    <a:cubicBezTo>
                      <a:pt x="29" y="8"/>
                      <a:pt x="27" y="6"/>
                      <a:pt x="25" y="6"/>
                    </a:cubicBezTo>
                    <a:cubicBezTo>
                      <a:pt x="24" y="6"/>
                      <a:pt x="24" y="7"/>
                      <a:pt x="25" y="7"/>
                    </a:cubicBezTo>
                    <a:cubicBezTo>
                      <a:pt x="25" y="7"/>
                      <a:pt x="25" y="8"/>
                      <a:pt x="25" y="9"/>
                    </a:cubicBezTo>
                    <a:cubicBezTo>
                      <a:pt x="26" y="10"/>
                      <a:pt x="26" y="9"/>
                      <a:pt x="27" y="9"/>
                    </a:cubicBezTo>
                    <a:cubicBezTo>
                      <a:pt x="29" y="9"/>
                      <a:pt x="27" y="11"/>
                      <a:pt x="26" y="11"/>
                    </a:cubicBezTo>
                    <a:cubicBezTo>
                      <a:pt x="25" y="12"/>
                      <a:pt x="24" y="12"/>
                      <a:pt x="24" y="11"/>
                    </a:cubicBezTo>
                    <a:cubicBezTo>
                      <a:pt x="24" y="10"/>
                      <a:pt x="23" y="13"/>
                      <a:pt x="23" y="13"/>
                    </a:cubicBezTo>
                    <a:cubicBezTo>
                      <a:pt x="23" y="22"/>
                      <a:pt x="27" y="21"/>
                      <a:pt x="30" y="19"/>
                    </a:cubicBezTo>
                    <a:cubicBezTo>
                      <a:pt x="34" y="17"/>
                      <a:pt x="38" y="19"/>
                      <a:pt x="39" y="19"/>
                    </a:cubicBezTo>
                    <a:cubicBezTo>
                      <a:pt x="40" y="19"/>
                      <a:pt x="38" y="22"/>
                      <a:pt x="38" y="23"/>
                    </a:cubicBezTo>
                    <a:cubicBezTo>
                      <a:pt x="37" y="23"/>
                      <a:pt x="33" y="24"/>
                      <a:pt x="32" y="24"/>
                    </a:cubicBezTo>
                    <a:cubicBezTo>
                      <a:pt x="31" y="24"/>
                      <a:pt x="29" y="26"/>
                      <a:pt x="28" y="26"/>
                    </a:cubicBezTo>
                    <a:cubicBezTo>
                      <a:pt x="27" y="27"/>
                      <a:pt x="27" y="30"/>
                      <a:pt x="28" y="32"/>
                    </a:cubicBezTo>
                    <a:cubicBezTo>
                      <a:pt x="29" y="34"/>
                      <a:pt x="32" y="35"/>
                      <a:pt x="33" y="36"/>
                    </a:cubicBezTo>
                    <a:cubicBezTo>
                      <a:pt x="33" y="36"/>
                      <a:pt x="41" y="40"/>
                      <a:pt x="43" y="40"/>
                    </a:cubicBezTo>
                    <a:cubicBezTo>
                      <a:pt x="45" y="40"/>
                      <a:pt x="44" y="42"/>
                      <a:pt x="44" y="42"/>
                    </a:cubicBezTo>
                    <a:cubicBezTo>
                      <a:pt x="43" y="43"/>
                      <a:pt x="40" y="44"/>
                      <a:pt x="39" y="44"/>
                    </a:cubicBezTo>
                    <a:cubicBezTo>
                      <a:pt x="38" y="45"/>
                      <a:pt x="39" y="43"/>
                      <a:pt x="40" y="42"/>
                    </a:cubicBezTo>
                    <a:cubicBezTo>
                      <a:pt x="41" y="41"/>
                      <a:pt x="39" y="40"/>
                      <a:pt x="38" y="39"/>
                    </a:cubicBezTo>
                    <a:cubicBezTo>
                      <a:pt x="37" y="38"/>
                      <a:pt x="37" y="39"/>
                      <a:pt x="37" y="40"/>
                    </a:cubicBezTo>
                    <a:cubicBezTo>
                      <a:pt x="36" y="41"/>
                      <a:pt x="34" y="38"/>
                      <a:pt x="33" y="37"/>
                    </a:cubicBezTo>
                    <a:cubicBezTo>
                      <a:pt x="32" y="37"/>
                      <a:pt x="32" y="39"/>
                      <a:pt x="33" y="42"/>
                    </a:cubicBezTo>
                    <a:cubicBezTo>
                      <a:pt x="33" y="45"/>
                      <a:pt x="30" y="40"/>
                      <a:pt x="29" y="38"/>
                    </a:cubicBezTo>
                    <a:cubicBezTo>
                      <a:pt x="28" y="36"/>
                      <a:pt x="28" y="38"/>
                      <a:pt x="28" y="39"/>
                    </a:cubicBezTo>
                    <a:cubicBezTo>
                      <a:pt x="28" y="40"/>
                      <a:pt x="27" y="40"/>
                      <a:pt x="26" y="40"/>
                    </a:cubicBezTo>
                    <a:cubicBezTo>
                      <a:pt x="26" y="40"/>
                      <a:pt x="19" y="36"/>
                      <a:pt x="17" y="35"/>
                    </a:cubicBezTo>
                    <a:cubicBezTo>
                      <a:pt x="15" y="33"/>
                      <a:pt x="18" y="36"/>
                      <a:pt x="18" y="37"/>
                    </a:cubicBezTo>
                    <a:cubicBezTo>
                      <a:pt x="19" y="38"/>
                      <a:pt x="20" y="37"/>
                      <a:pt x="21" y="38"/>
                    </a:cubicBezTo>
                    <a:cubicBezTo>
                      <a:pt x="22" y="38"/>
                      <a:pt x="22" y="40"/>
                      <a:pt x="24" y="41"/>
                    </a:cubicBezTo>
                    <a:cubicBezTo>
                      <a:pt x="25" y="42"/>
                      <a:pt x="25" y="42"/>
                      <a:pt x="24" y="42"/>
                    </a:cubicBezTo>
                    <a:cubicBezTo>
                      <a:pt x="23" y="42"/>
                      <a:pt x="22" y="41"/>
                      <a:pt x="22" y="41"/>
                    </a:cubicBezTo>
                    <a:cubicBezTo>
                      <a:pt x="21" y="40"/>
                      <a:pt x="21" y="40"/>
                      <a:pt x="21" y="40"/>
                    </a:cubicBezTo>
                    <a:cubicBezTo>
                      <a:pt x="20" y="41"/>
                      <a:pt x="20" y="42"/>
                      <a:pt x="19" y="43"/>
                    </a:cubicBezTo>
                    <a:cubicBezTo>
                      <a:pt x="18" y="43"/>
                      <a:pt x="18" y="41"/>
                      <a:pt x="19" y="40"/>
                    </a:cubicBezTo>
                    <a:cubicBezTo>
                      <a:pt x="20" y="38"/>
                      <a:pt x="17" y="40"/>
                      <a:pt x="15" y="40"/>
                    </a:cubicBezTo>
                    <a:cubicBezTo>
                      <a:pt x="14" y="41"/>
                      <a:pt x="10" y="41"/>
                      <a:pt x="8" y="41"/>
                    </a:cubicBezTo>
                    <a:cubicBezTo>
                      <a:pt x="7" y="40"/>
                      <a:pt x="7" y="42"/>
                      <a:pt x="6" y="42"/>
                    </a:cubicBezTo>
                    <a:cubicBezTo>
                      <a:pt x="5" y="42"/>
                      <a:pt x="5" y="43"/>
                      <a:pt x="4" y="43"/>
                    </a:cubicBezTo>
                    <a:cubicBezTo>
                      <a:pt x="4" y="44"/>
                      <a:pt x="2" y="43"/>
                      <a:pt x="1" y="43"/>
                    </a:cubicBezTo>
                    <a:cubicBezTo>
                      <a:pt x="0" y="42"/>
                      <a:pt x="0" y="44"/>
                      <a:pt x="1" y="44"/>
                    </a:cubicBezTo>
                    <a:cubicBezTo>
                      <a:pt x="1" y="45"/>
                      <a:pt x="6" y="45"/>
                      <a:pt x="6" y="44"/>
                    </a:cubicBezTo>
                    <a:cubicBezTo>
                      <a:pt x="7" y="44"/>
                      <a:pt x="9" y="44"/>
                      <a:pt x="9" y="43"/>
                    </a:cubicBezTo>
                    <a:cubicBezTo>
                      <a:pt x="9" y="43"/>
                      <a:pt x="10" y="43"/>
                      <a:pt x="10" y="44"/>
                    </a:cubicBezTo>
                    <a:cubicBezTo>
                      <a:pt x="11" y="45"/>
                      <a:pt x="10" y="45"/>
                      <a:pt x="10" y="46"/>
                    </a:cubicBezTo>
                    <a:cubicBezTo>
                      <a:pt x="11" y="46"/>
                      <a:pt x="12" y="46"/>
                      <a:pt x="13" y="45"/>
                    </a:cubicBezTo>
                    <a:cubicBezTo>
                      <a:pt x="14" y="44"/>
                      <a:pt x="14" y="45"/>
                      <a:pt x="14" y="46"/>
                    </a:cubicBezTo>
                    <a:cubicBezTo>
                      <a:pt x="14" y="47"/>
                      <a:pt x="15" y="47"/>
                      <a:pt x="15" y="46"/>
                    </a:cubicBezTo>
                    <a:cubicBezTo>
                      <a:pt x="16" y="45"/>
                      <a:pt x="18" y="45"/>
                      <a:pt x="19" y="45"/>
                    </a:cubicBezTo>
                    <a:cubicBezTo>
                      <a:pt x="20" y="45"/>
                      <a:pt x="21" y="45"/>
                      <a:pt x="21" y="45"/>
                    </a:cubicBezTo>
                    <a:cubicBezTo>
                      <a:pt x="22" y="44"/>
                      <a:pt x="21" y="46"/>
                      <a:pt x="20" y="47"/>
                    </a:cubicBezTo>
                    <a:cubicBezTo>
                      <a:pt x="19" y="47"/>
                      <a:pt x="18" y="47"/>
                      <a:pt x="17" y="48"/>
                    </a:cubicBezTo>
                    <a:cubicBezTo>
                      <a:pt x="17" y="49"/>
                      <a:pt x="22" y="48"/>
                      <a:pt x="23" y="48"/>
                    </a:cubicBezTo>
                    <a:cubicBezTo>
                      <a:pt x="24" y="47"/>
                      <a:pt x="25" y="47"/>
                      <a:pt x="25" y="49"/>
                    </a:cubicBezTo>
                    <a:cubicBezTo>
                      <a:pt x="24" y="50"/>
                      <a:pt x="28" y="48"/>
                      <a:pt x="29" y="48"/>
                    </a:cubicBezTo>
                    <a:cubicBezTo>
                      <a:pt x="29" y="47"/>
                      <a:pt x="30" y="46"/>
                      <a:pt x="30" y="47"/>
                    </a:cubicBezTo>
                    <a:cubicBezTo>
                      <a:pt x="30" y="49"/>
                      <a:pt x="32" y="47"/>
                      <a:pt x="33" y="47"/>
                    </a:cubicBezTo>
                    <a:cubicBezTo>
                      <a:pt x="34" y="46"/>
                      <a:pt x="34" y="47"/>
                      <a:pt x="35" y="48"/>
                    </a:cubicBezTo>
                    <a:cubicBezTo>
                      <a:pt x="35" y="50"/>
                      <a:pt x="40" y="50"/>
                      <a:pt x="41" y="50"/>
                    </a:cubicBezTo>
                    <a:cubicBezTo>
                      <a:pt x="42" y="51"/>
                      <a:pt x="45" y="50"/>
                      <a:pt x="45" y="49"/>
                    </a:cubicBezTo>
                    <a:cubicBezTo>
                      <a:pt x="45" y="49"/>
                      <a:pt x="46" y="48"/>
                      <a:pt x="47" y="49"/>
                    </a:cubicBezTo>
                    <a:cubicBezTo>
                      <a:pt x="48" y="49"/>
                      <a:pt x="49" y="49"/>
                      <a:pt x="50" y="50"/>
                    </a:cubicBezTo>
                    <a:cubicBezTo>
                      <a:pt x="50" y="5"/>
                      <a:pt x="50" y="5"/>
                      <a:pt x="50" y="5"/>
                    </a:cubicBezTo>
                    <a:cubicBezTo>
                      <a:pt x="48" y="4"/>
                      <a:pt x="45" y="4"/>
                      <a:pt x="4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41" name="Freeform 450">
                <a:extLst>
                  <a:ext uri="{FF2B5EF4-FFF2-40B4-BE49-F238E27FC236}">
                    <a16:creationId xmlns:a16="http://schemas.microsoft.com/office/drawing/2014/main" id="{2173135B-CC8B-4196-BE5D-1D4BE2AAB6A6}"/>
                  </a:ext>
                </a:extLst>
              </p:cNvPr>
              <p:cNvSpPr>
                <a:spLocks/>
              </p:cNvSpPr>
              <p:nvPr/>
            </p:nvSpPr>
            <p:spPr bwMode="auto">
              <a:xfrm>
                <a:off x="1945" y="3043"/>
                <a:ext cx="181" cy="859"/>
              </a:xfrm>
              <a:custGeom>
                <a:avLst/>
                <a:gdLst>
                  <a:gd name="T0" fmla="*/ 52 w 131"/>
                  <a:gd name="T1" fmla="*/ 572 h 626"/>
                  <a:gd name="T2" fmla="*/ 36 w 131"/>
                  <a:gd name="T3" fmla="*/ 553 h 626"/>
                  <a:gd name="T4" fmla="*/ 48 w 131"/>
                  <a:gd name="T5" fmla="*/ 519 h 626"/>
                  <a:gd name="T6" fmla="*/ 57 w 131"/>
                  <a:gd name="T7" fmla="*/ 491 h 626"/>
                  <a:gd name="T8" fmla="*/ 66 w 131"/>
                  <a:gd name="T9" fmla="*/ 461 h 626"/>
                  <a:gd name="T10" fmla="*/ 68 w 131"/>
                  <a:gd name="T11" fmla="*/ 444 h 626"/>
                  <a:gd name="T12" fmla="*/ 60 w 131"/>
                  <a:gd name="T13" fmla="*/ 422 h 626"/>
                  <a:gd name="T14" fmla="*/ 58 w 131"/>
                  <a:gd name="T15" fmla="*/ 376 h 626"/>
                  <a:gd name="T16" fmla="*/ 66 w 131"/>
                  <a:gd name="T17" fmla="*/ 346 h 626"/>
                  <a:gd name="T18" fmla="*/ 78 w 131"/>
                  <a:gd name="T19" fmla="*/ 298 h 626"/>
                  <a:gd name="T20" fmla="*/ 85 w 131"/>
                  <a:gd name="T21" fmla="*/ 268 h 626"/>
                  <a:gd name="T22" fmla="*/ 85 w 131"/>
                  <a:gd name="T23" fmla="*/ 241 h 626"/>
                  <a:gd name="T24" fmla="*/ 82 w 131"/>
                  <a:gd name="T25" fmla="*/ 211 h 626"/>
                  <a:gd name="T26" fmla="*/ 91 w 131"/>
                  <a:gd name="T27" fmla="*/ 173 h 626"/>
                  <a:gd name="T28" fmla="*/ 108 w 131"/>
                  <a:gd name="T29" fmla="*/ 122 h 626"/>
                  <a:gd name="T30" fmla="*/ 127 w 131"/>
                  <a:gd name="T31" fmla="*/ 98 h 626"/>
                  <a:gd name="T32" fmla="*/ 116 w 131"/>
                  <a:gd name="T33" fmla="*/ 69 h 626"/>
                  <a:gd name="T34" fmla="*/ 107 w 131"/>
                  <a:gd name="T35" fmla="*/ 38 h 626"/>
                  <a:gd name="T36" fmla="*/ 99 w 131"/>
                  <a:gd name="T37" fmla="*/ 8 h 626"/>
                  <a:gd name="T38" fmla="*/ 81 w 131"/>
                  <a:gd name="T39" fmla="*/ 19 h 626"/>
                  <a:gd name="T40" fmla="*/ 79 w 131"/>
                  <a:gd name="T41" fmla="*/ 94 h 626"/>
                  <a:gd name="T42" fmla="*/ 65 w 131"/>
                  <a:gd name="T43" fmla="*/ 177 h 626"/>
                  <a:gd name="T44" fmla="*/ 61 w 131"/>
                  <a:gd name="T45" fmla="*/ 203 h 626"/>
                  <a:gd name="T46" fmla="*/ 47 w 131"/>
                  <a:gd name="T47" fmla="*/ 290 h 626"/>
                  <a:gd name="T48" fmla="*/ 32 w 131"/>
                  <a:gd name="T49" fmla="*/ 321 h 626"/>
                  <a:gd name="T50" fmla="*/ 28 w 131"/>
                  <a:gd name="T51" fmla="*/ 385 h 626"/>
                  <a:gd name="T52" fmla="*/ 48 w 131"/>
                  <a:gd name="T53" fmla="*/ 395 h 626"/>
                  <a:gd name="T54" fmla="*/ 46 w 131"/>
                  <a:gd name="T55" fmla="*/ 409 h 626"/>
                  <a:gd name="T56" fmla="*/ 41 w 131"/>
                  <a:gd name="T57" fmla="*/ 435 h 626"/>
                  <a:gd name="T58" fmla="*/ 39 w 131"/>
                  <a:gd name="T59" fmla="*/ 453 h 626"/>
                  <a:gd name="T60" fmla="*/ 39 w 131"/>
                  <a:gd name="T61" fmla="*/ 460 h 626"/>
                  <a:gd name="T62" fmla="*/ 33 w 131"/>
                  <a:gd name="T63" fmla="*/ 472 h 626"/>
                  <a:gd name="T64" fmla="*/ 30 w 131"/>
                  <a:gd name="T65" fmla="*/ 477 h 626"/>
                  <a:gd name="T66" fmla="*/ 26 w 131"/>
                  <a:gd name="T67" fmla="*/ 471 h 626"/>
                  <a:gd name="T68" fmla="*/ 13 w 131"/>
                  <a:gd name="T69" fmla="*/ 470 h 626"/>
                  <a:gd name="T70" fmla="*/ 15 w 131"/>
                  <a:gd name="T71" fmla="*/ 476 h 626"/>
                  <a:gd name="T72" fmla="*/ 2 w 131"/>
                  <a:gd name="T73" fmla="*/ 487 h 626"/>
                  <a:gd name="T74" fmla="*/ 11 w 131"/>
                  <a:gd name="T75" fmla="*/ 483 h 626"/>
                  <a:gd name="T76" fmla="*/ 23 w 131"/>
                  <a:gd name="T77" fmla="*/ 488 h 626"/>
                  <a:gd name="T78" fmla="*/ 22 w 131"/>
                  <a:gd name="T79" fmla="*/ 501 h 626"/>
                  <a:gd name="T80" fmla="*/ 21 w 131"/>
                  <a:gd name="T81" fmla="*/ 502 h 626"/>
                  <a:gd name="T82" fmla="*/ 36 w 131"/>
                  <a:gd name="T83" fmla="*/ 509 h 626"/>
                  <a:gd name="T84" fmla="*/ 30 w 131"/>
                  <a:gd name="T85" fmla="*/ 511 h 626"/>
                  <a:gd name="T86" fmla="*/ 20 w 131"/>
                  <a:gd name="T87" fmla="*/ 512 h 626"/>
                  <a:gd name="T88" fmla="*/ 22 w 131"/>
                  <a:gd name="T89" fmla="*/ 523 h 626"/>
                  <a:gd name="T90" fmla="*/ 26 w 131"/>
                  <a:gd name="T91" fmla="*/ 531 h 626"/>
                  <a:gd name="T92" fmla="*/ 30 w 131"/>
                  <a:gd name="T93" fmla="*/ 543 h 626"/>
                  <a:gd name="T94" fmla="*/ 28 w 131"/>
                  <a:gd name="T95" fmla="*/ 548 h 626"/>
                  <a:gd name="T96" fmla="*/ 24 w 131"/>
                  <a:gd name="T97" fmla="*/ 553 h 626"/>
                  <a:gd name="T98" fmla="*/ 27 w 131"/>
                  <a:gd name="T99" fmla="*/ 559 h 626"/>
                  <a:gd name="T100" fmla="*/ 31 w 131"/>
                  <a:gd name="T101" fmla="*/ 562 h 626"/>
                  <a:gd name="T102" fmla="*/ 31 w 131"/>
                  <a:gd name="T103" fmla="*/ 574 h 626"/>
                  <a:gd name="T104" fmla="*/ 34 w 131"/>
                  <a:gd name="T105" fmla="*/ 582 h 626"/>
                  <a:gd name="T106" fmla="*/ 32 w 131"/>
                  <a:gd name="T107" fmla="*/ 591 h 626"/>
                  <a:gd name="T108" fmla="*/ 37 w 131"/>
                  <a:gd name="T109" fmla="*/ 600 h 626"/>
                  <a:gd name="T110" fmla="*/ 36 w 131"/>
                  <a:gd name="T111" fmla="*/ 607 h 626"/>
                  <a:gd name="T112" fmla="*/ 50 w 131"/>
                  <a:gd name="T113" fmla="*/ 599 h 626"/>
                  <a:gd name="T114" fmla="*/ 44 w 131"/>
                  <a:gd name="T115" fmla="*/ 605 h 626"/>
                  <a:gd name="T116" fmla="*/ 50 w 131"/>
                  <a:gd name="T117" fmla="*/ 618 h 626"/>
                  <a:gd name="T118" fmla="*/ 52 w 131"/>
                  <a:gd name="T119" fmla="*/ 610 h 626"/>
                  <a:gd name="T120" fmla="*/ 60 w 131"/>
                  <a:gd name="T121" fmla="*/ 618 h 626"/>
                  <a:gd name="T122" fmla="*/ 53 w 131"/>
                  <a:gd name="T123" fmla="*/ 619 h 626"/>
                  <a:gd name="T124" fmla="*/ 75 w 131"/>
                  <a:gd name="T125" fmla="*/ 603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1" h="626">
                    <a:moveTo>
                      <a:pt x="91" y="589"/>
                    </a:moveTo>
                    <a:cubicBezTo>
                      <a:pt x="90" y="589"/>
                      <a:pt x="86" y="587"/>
                      <a:pt x="84" y="587"/>
                    </a:cubicBezTo>
                    <a:cubicBezTo>
                      <a:pt x="81" y="587"/>
                      <a:pt x="60" y="587"/>
                      <a:pt x="60" y="587"/>
                    </a:cubicBezTo>
                    <a:cubicBezTo>
                      <a:pt x="60" y="587"/>
                      <a:pt x="58" y="588"/>
                      <a:pt x="57" y="585"/>
                    </a:cubicBezTo>
                    <a:cubicBezTo>
                      <a:pt x="55" y="583"/>
                      <a:pt x="55" y="583"/>
                      <a:pt x="53" y="582"/>
                    </a:cubicBezTo>
                    <a:cubicBezTo>
                      <a:pt x="52" y="581"/>
                      <a:pt x="51" y="580"/>
                      <a:pt x="51" y="580"/>
                    </a:cubicBezTo>
                    <a:cubicBezTo>
                      <a:pt x="51" y="579"/>
                      <a:pt x="51" y="579"/>
                      <a:pt x="51" y="579"/>
                    </a:cubicBezTo>
                    <a:cubicBezTo>
                      <a:pt x="50" y="579"/>
                      <a:pt x="50" y="579"/>
                      <a:pt x="51" y="578"/>
                    </a:cubicBezTo>
                    <a:cubicBezTo>
                      <a:pt x="52" y="576"/>
                      <a:pt x="53" y="574"/>
                      <a:pt x="52" y="572"/>
                    </a:cubicBezTo>
                    <a:cubicBezTo>
                      <a:pt x="51" y="571"/>
                      <a:pt x="50" y="571"/>
                      <a:pt x="51" y="569"/>
                    </a:cubicBezTo>
                    <a:cubicBezTo>
                      <a:pt x="52" y="568"/>
                      <a:pt x="53" y="568"/>
                      <a:pt x="52" y="566"/>
                    </a:cubicBezTo>
                    <a:cubicBezTo>
                      <a:pt x="52" y="564"/>
                      <a:pt x="52" y="562"/>
                      <a:pt x="52" y="562"/>
                    </a:cubicBezTo>
                    <a:cubicBezTo>
                      <a:pt x="52" y="562"/>
                      <a:pt x="52" y="561"/>
                      <a:pt x="51" y="560"/>
                    </a:cubicBezTo>
                    <a:cubicBezTo>
                      <a:pt x="50" y="560"/>
                      <a:pt x="49" y="560"/>
                      <a:pt x="48" y="561"/>
                    </a:cubicBezTo>
                    <a:cubicBezTo>
                      <a:pt x="47" y="561"/>
                      <a:pt x="47" y="561"/>
                      <a:pt x="46" y="561"/>
                    </a:cubicBezTo>
                    <a:cubicBezTo>
                      <a:pt x="45" y="561"/>
                      <a:pt x="44" y="560"/>
                      <a:pt x="43" y="562"/>
                    </a:cubicBezTo>
                    <a:cubicBezTo>
                      <a:pt x="41" y="563"/>
                      <a:pt x="39" y="565"/>
                      <a:pt x="38" y="561"/>
                    </a:cubicBezTo>
                    <a:cubicBezTo>
                      <a:pt x="37" y="557"/>
                      <a:pt x="37" y="554"/>
                      <a:pt x="36" y="553"/>
                    </a:cubicBezTo>
                    <a:cubicBezTo>
                      <a:pt x="34" y="552"/>
                      <a:pt x="33" y="551"/>
                      <a:pt x="33" y="548"/>
                    </a:cubicBezTo>
                    <a:cubicBezTo>
                      <a:pt x="33" y="545"/>
                      <a:pt x="34" y="542"/>
                      <a:pt x="34" y="541"/>
                    </a:cubicBezTo>
                    <a:cubicBezTo>
                      <a:pt x="34" y="540"/>
                      <a:pt x="34" y="540"/>
                      <a:pt x="33" y="540"/>
                    </a:cubicBezTo>
                    <a:cubicBezTo>
                      <a:pt x="33" y="540"/>
                      <a:pt x="33" y="539"/>
                      <a:pt x="33" y="538"/>
                    </a:cubicBezTo>
                    <a:cubicBezTo>
                      <a:pt x="33" y="538"/>
                      <a:pt x="34" y="536"/>
                      <a:pt x="35" y="535"/>
                    </a:cubicBezTo>
                    <a:cubicBezTo>
                      <a:pt x="37" y="534"/>
                      <a:pt x="39" y="534"/>
                      <a:pt x="40" y="534"/>
                    </a:cubicBezTo>
                    <a:cubicBezTo>
                      <a:pt x="40" y="533"/>
                      <a:pt x="44" y="529"/>
                      <a:pt x="46" y="527"/>
                    </a:cubicBezTo>
                    <a:cubicBezTo>
                      <a:pt x="47" y="526"/>
                      <a:pt x="48" y="526"/>
                      <a:pt x="48" y="521"/>
                    </a:cubicBezTo>
                    <a:cubicBezTo>
                      <a:pt x="48" y="519"/>
                      <a:pt x="48" y="519"/>
                      <a:pt x="48" y="519"/>
                    </a:cubicBezTo>
                    <a:cubicBezTo>
                      <a:pt x="48" y="519"/>
                      <a:pt x="48" y="518"/>
                      <a:pt x="49" y="518"/>
                    </a:cubicBezTo>
                    <a:cubicBezTo>
                      <a:pt x="50" y="518"/>
                      <a:pt x="53" y="516"/>
                      <a:pt x="52" y="515"/>
                    </a:cubicBezTo>
                    <a:cubicBezTo>
                      <a:pt x="52" y="513"/>
                      <a:pt x="52" y="512"/>
                      <a:pt x="50" y="510"/>
                    </a:cubicBezTo>
                    <a:cubicBezTo>
                      <a:pt x="49" y="509"/>
                      <a:pt x="48" y="508"/>
                      <a:pt x="50" y="505"/>
                    </a:cubicBezTo>
                    <a:cubicBezTo>
                      <a:pt x="52" y="502"/>
                      <a:pt x="52" y="502"/>
                      <a:pt x="52" y="501"/>
                    </a:cubicBezTo>
                    <a:cubicBezTo>
                      <a:pt x="51" y="500"/>
                      <a:pt x="51" y="500"/>
                      <a:pt x="51" y="499"/>
                    </a:cubicBezTo>
                    <a:cubicBezTo>
                      <a:pt x="52" y="499"/>
                      <a:pt x="57" y="496"/>
                      <a:pt x="57" y="496"/>
                    </a:cubicBezTo>
                    <a:cubicBezTo>
                      <a:pt x="58" y="496"/>
                      <a:pt x="58" y="495"/>
                      <a:pt x="58" y="494"/>
                    </a:cubicBezTo>
                    <a:cubicBezTo>
                      <a:pt x="58" y="494"/>
                      <a:pt x="57" y="491"/>
                      <a:pt x="57" y="491"/>
                    </a:cubicBezTo>
                    <a:cubicBezTo>
                      <a:pt x="57" y="491"/>
                      <a:pt x="57" y="490"/>
                      <a:pt x="58" y="489"/>
                    </a:cubicBezTo>
                    <a:cubicBezTo>
                      <a:pt x="59" y="489"/>
                      <a:pt x="62" y="486"/>
                      <a:pt x="61" y="482"/>
                    </a:cubicBezTo>
                    <a:cubicBezTo>
                      <a:pt x="60" y="478"/>
                      <a:pt x="59" y="477"/>
                      <a:pt x="59" y="477"/>
                    </a:cubicBezTo>
                    <a:cubicBezTo>
                      <a:pt x="59" y="477"/>
                      <a:pt x="59" y="476"/>
                      <a:pt x="59" y="475"/>
                    </a:cubicBezTo>
                    <a:cubicBezTo>
                      <a:pt x="60" y="475"/>
                      <a:pt x="61" y="473"/>
                      <a:pt x="61" y="473"/>
                    </a:cubicBezTo>
                    <a:cubicBezTo>
                      <a:pt x="61" y="473"/>
                      <a:pt x="62" y="473"/>
                      <a:pt x="61" y="471"/>
                    </a:cubicBezTo>
                    <a:cubicBezTo>
                      <a:pt x="60" y="470"/>
                      <a:pt x="58" y="466"/>
                      <a:pt x="61" y="465"/>
                    </a:cubicBezTo>
                    <a:cubicBezTo>
                      <a:pt x="63" y="463"/>
                      <a:pt x="63" y="464"/>
                      <a:pt x="64" y="463"/>
                    </a:cubicBezTo>
                    <a:cubicBezTo>
                      <a:pt x="65" y="462"/>
                      <a:pt x="65" y="461"/>
                      <a:pt x="66" y="461"/>
                    </a:cubicBezTo>
                    <a:cubicBezTo>
                      <a:pt x="66" y="460"/>
                      <a:pt x="67" y="459"/>
                      <a:pt x="66" y="458"/>
                    </a:cubicBezTo>
                    <a:cubicBezTo>
                      <a:pt x="65" y="457"/>
                      <a:pt x="64" y="456"/>
                      <a:pt x="63" y="455"/>
                    </a:cubicBezTo>
                    <a:cubicBezTo>
                      <a:pt x="63" y="454"/>
                      <a:pt x="62" y="454"/>
                      <a:pt x="60" y="453"/>
                    </a:cubicBezTo>
                    <a:cubicBezTo>
                      <a:pt x="57" y="453"/>
                      <a:pt x="56" y="453"/>
                      <a:pt x="56" y="452"/>
                    </a:cubicBezTo>
                    <a:cubicBezTo>
                      <a:pt x="55" y="451"/>
                      <a:pt x="55" y="450"/>
                      <a:pt x="56" y="450"/>
                    </a:cubicBezTo>
                    <a:cubicBezTo>
                      <a:pt x="57" y="450"/>
                      <a:pt x="64" y="450"/>
                      <a:pt x="65" y="450"/>
                    </a:cubicBezTo>
                    <a:cubicBezTo>
                      <a:pt x="65" y="450"/>
                      <a:pt x="67" y="450"/>
                      <a:pt x="68" y="449"/>
                    </a:cubicBezTo>
                    <a:cubicBezTo>
                      <a:pt x="68" y="447"/>
                      <a:pt x="68" y="447"/>
                      <a:pt x="69" y="447"/>
                    </a:cubicBezTo>
                    <a:cubicBezTo>
                      <a:pt x="69" y="447"/>
                      <a:pt x="71" y="445"/>
                      <a:pt x="68" y="444"/>
                    </a:cubicBezTo>
                    <a:cubicBezTo>
                      <a:pt x="64" y="443"/>
                      <a:pt x="61" y="443"/>
                      <a:pt x="60" y="443"/>
                    </a:cubicBezTo>
                    <a:cubicBezTo>
                      <a:pt x="60" y="443"/>
                      <a:pt x="59" y="444"/>
                      <a:pt x="59" y="443"/>
                    </a:cubicBezTo>
                    <a:cubicBezTo>
                      <a:pt x="59" y="442"/>
                      <a:pt x="60" y="438"/>
                      <a:pt x="60" y="436"/>
                    </a:cubicBezTo>
                    <a:cubicBezTo>
                      <a:pt x="61" y="435"/>
                      <a:pt x="62" y="435"/>
                      <a:pt x="62" y="434"/>
                    </a:cubicBezTo>
                    <a:cubicBezTo>
                      <a:pt x="61" y="433"/>
                      <a:pt x="60" y="429"/>
                      <a:pt x="60" y="429"/>
                    </a:cubicBezTo>
                    <a:cubicBezTo>
                      <a:pt x="60" y="429"/>
                      <a:pt x="60" y="428"/>
                      <a:pt x="59" y="427"/>
                    </a:cubicBezTo>
                    <a:cubicBezTo>
                      <a:pt x="59" y="427"/>
                      <a:pt x="57" y="426"/>
                      <a:pt x="58" y="425"/>
                    </a:cubicBezTo>
                    <a:cubicBezTo>
                      <a:pt x="59" y="424"/>
                      <a:pt x="59" y="423"/>
                      <a:pt x="60" y="423"/>
                    </a:cubicBezTo>
                    <a:cubicBezTo>
                      <a:pt x="60" y="423"/>
                      <a:pt x="60" y="422"/>
                      <a:pt x="60" y="422"/>
                    </a:cubicBezTo>
                    <a:cubicBezTo>
                      <a:pt x="60" y="421"/>
                      <a:pt x="59" y="420"/>
                      <a:pt x="58" y="420"/>
                    </a:cubicBezTo>
                    <a:cubicBezTo>
                      <a:pt x="56" y="420"/>
                      <a:pt x="55" y="419"/>
                      <a:pt x="54" y="418"/>
                    </a:cubicBezTo>
                    <a:cubicBezTo>
                      <a:pt x="54" y="416"/>
                      <a:pt x="55" y="412"/>
                      <a:pt x="55" y="409"/>
                    </a:cubicBezTo>
                    <a:cubicBezTo>
                      <a:pt x="55" y="407"/>
                      <a:pt x="56" y="404"/>
                      <a:pt x="56" y="404"/>
                    </a:cubicBezTo>
                    <a:cubicBezTo>
                      <a:pt x="56" y="404"/>
                      <a:pt x="55" y="403"/>
                      <a:pt x="56" y="403"/>
                    </a:cubicBezTo>
                    <a:cubicBezTo>
                      <a:pt x="57" y="403"/>
                      <a:pt x="61" y="403"/>
                      <a:pt x="60" y="399"/>
                    </a:cubicBezTo>
                    <a:cubicBezTo>
                      <a:pt x="58" y="395"/>
                      <a:pt x="57" y="392"/>
                      <a:pt x="58" y="387"/>
                    </a:cubicBezTo>
                    <a:cubicBezTo>
                      <a:pt x="59" y="382"/>
                      <a:pt x="58" y="381"/>
                      <a:pt x="58" y="379"/>
                    </a:cubicBezTo>
                    <a:cubicBezTo>
                      <a:pt x="58" y="377"/>
                      <a:pt x="58" y="376"/>
                      <a:pt x="58" y="376"/>
                    </a:cubicBezTo>
                    <a:cubicBezTo>
                      <a:pt x="58" y="375"/>
                      <a:pt x="59" y="373"/>
                      <a:pt x="60" y="372"/>
                    </a:cubicBezTo>
                    <a:cubicBezTo>
                      <a:pt x="61" y="372"/>
                      <a:pt x="61" y="371"/>
                      <a:pt x="61" y="370"/>
                    </a:cubicBezTo>
                    <a:cubicBezTo>
                      <a:pt x="60" y="370"/>
                      <a:pt x="59" y="368"/>
                      <a:pt x="60" y="366"/>
                    </a:cubicBezTo>
                    <a:cubicBezTo>
                      <a:pt x="60" y="365"/>
                      <a:pt x="61" y="366"/>
                      <a:pt x="61" y="366"/>
                    </a:cubicBezTo>
                    <a:cubicBezTo>
                      <a:pt x="61" y="366"/>
                      <a:pt x="62" y="365"/>
                      <a:pt x="62" y="364"/>
                    </a:cubicBezTo>
                    <a:cubicBezTo>
                      <a:pt x="61" y="364"/>
                      <a:pt x="62" y="358"/>
                      <a:pt x="62" y="358"/>
                    </a:cubicBezTo>
                    <a:cubicBezTo>
                      <a:pt x="62" y="358"/>
                      <a:pt x="62" y="357"/>
                      <a:pt x="62" y="357"/>
                    </a:cubicBezTo>
                    <a:cubicBezTo>
                      <a:pt x="63" y="358"/>
                      <a:pt x="64" y="358"/>
                      <a:pt x="64" y="356"/>
                    </a:cubicBezTo>
                    <a:cubicBezTo>
                      <a:pt x="65" y="353"/>
                      <a:pt x="66" y="346"/>
                      <a:pt x="66" y="346"/>
                    </a:cubicBezTo>
                    <a:cubicBezTo>
                      <a:pt x="66" y="346"/>
                      <a:pt x="66" y="345"/>
                      <a:pt x="66" y="345"/>
                    </a:cubicBezTo>
                    <a:cubicBezTo>
                      <a:pt x="67" y="344"/>
                      <a:pt x="73" y="342"/>
                      <a:pt x="73" y="342"/>
                    </a:cubicBezTo>
                    <a:cubicBezTo>
                      <a:pt x="73" y="342"/>
                      <a:pt x="73" y="342"/>
                      <a:pt x="73" y="340"/>
                    </a:cubicBezTo>
                    <a:cubicBezTo>
                      <a:pt x="73" y="339"/>
                      <a:pt x="70" y="328"/>
                      <a:pt x="70" y="327"/>
                    </a:cubicBezTo>
                    <a:cubicBezTo>
                      <a:pt x="70" y="325"/>
                      <a:pt x="69" y="318"/>
                      <a:pt x="69" y="314"/>
                    </a:cubicBezTo>
                    <a:cubicBezTo>
                      <a:pt x="70" y="310"/>
                      <a:pt x="71" y="304"/>
                      <a:pt x="71" y="304"/>
                    </a:cubicBezTo>
                    <a:cubicBezTo>
                      <a:pt x="71" y="304"/>
                      <a:pt x="71" y="304"/>
                      <a:pt x="72" y="304"/>
                    </a:cubicBezTo>
                    <a:cubicBezTo>
                      <a:pt x="72" y="303"/>
                      <a:pt x="76" y="303"/>
                      <a:pt x="76" y="301"/>
                    </a:cubicBezTo>
                    <a:cubicBezTo>
                      <a:pt x="77" y="299"/>
                      <a:pt x="78" y="298"/>
                      <a:pt x="78" y="298"/>
                    </a:cubicBezTo>
                    <a:cubicBezTo>
                      <a:pt x="79" y="298"/>
                      <a:pt x="80" y="298"/>
                      <a:pt x="80" y="297"/>
                    </a:cubicBezTo>
                    <a:cubicBezTo>
                      <a:pt x="80" y="296"/>
                      <a:pt x="80" y="289"/>
                      <a:pt x="80" y="289"/>
                    </a:cubicBezTo>
                    <a:cubicBezTo>
                      <a:pt x="80" y="289"/>
                      <a:pt x="80" y="288"/>
                      <a:pt x="80" y="287"/>
                    </a:cubicBezTo>
                    <a:cubicBezTo>
                      <a:pt x="79" y="287"/>
                      <a:pt x="78" y="285"/>
                      <a:pt x="78" y="284"/>
                    </a:cubicBezTo>
                    <a:cubicBezTo>
                      <a:pt x="78" y="283"/>
                      <a:pt x="78" y="282"/>
                      <a:pt x="78" y="282"/>
                    </a:cubicBezTo>
                    <a:cubicBezTo>
                      <a:pt x="79" y="282"/>
                      <a:pt x="79" y="282"/>
                      <a:pt x="80" y="281"/>
                    </a:cubicBezTo>
                    <a:cubicBezTo>
                      <a:pt x="80" y="281"/>
                      <a:pt x="81" y="279"/>
                      <a:pt x="81" y="278"/>
                    </a:cubicBezTo>
                    <a:cubicBezTo>
                      <a:pt x="81" y="277"/>
                      <a:pt x="82" y="273"/>
                      <a:pt x="83" y="271"/>
                    </a:cubicBezTo>
                    <a:cubicBezTo>
                      <a:pt x="84" y="270"/>
                      <a:pt x="85" y="268"/>
                      <a:pt x="85" y="268"/>
                    </a:cubicBezTo>
                    <a:cubicBezTo>
                      <a:pt x="85" y="267"/>
                      <a:pt x="86" y="266"/>
                      <a:pt x="86" y="266"/>
                    </a:cubicBezTo>
                    <a:cubicBezTo>
                      <a:pt x="87" y="266"/>
                      <a:pt x="88" y="266"/>
                      <a:pt x="88" y="266"/>
                    </a:cubicBezTo>
                    <a:cubicBezTo>
                      <a:pt x="89" y="266"/>
                      <a:pt x="89" y="265"/>
                      <a:pt x="88" y="265"/>
                    </a:cubicBezTo>
                    <a:cubicBezTo>
                      <a:pt x="88" y="264"/>
                      <a:pt x="88" y="262"/>
                      <a:pt x="88" y="260"/>
                    </a:cubicBezTo>
                    <a:cubicBezTo>
                      <a:pt x="88" y="258"/>
                      <a:pt x="89" y="253"/>
                      <a:pt x="89" y="252"/>
                    </a:cubicBezTo>
                    <a:cubicBezTo>
                      <a:pt x="90" y="252"/>
                      <a:pt x="89" y="252"/>
                      <a:pt x="89" y="251"/>
                    </a:cubicBezTo>
                    <a:cubicBezTo>
                      <a:pt x="88" y="251"/>
                      <a:pt x="86" y="250"/>
                      <a:pt x="85" y="248"/>
                    </a:cubicBezTo>
                    <a:cubicBezTo>
                      <a:pt x="84" y="245"/>
                      <a:pt x="85" y="245"/>
                      <a:pt x="85" y="244"/>
                    </a:cubicBezTo>
                    <a:cubicBezTo>
                      <a:pt x="85" y="243"/>
                      <a:pt x="85" y="242"/>
                      <a:pt x="85" y="241"/>
                    </a:cubicBezTo>
                    <a:cubicBezTo>
                      <a:pt x="84" y="239"/>
                      <a:pt x="84" y="237"/>
                      <a:pt x="84" y="236"/>
                    </a:cubicBezTo>
                    <a:cubicBezTo>
                      <a:pt x="83" y="235"/>
                      <a:pt x="81" y="233"/>
                      <a:pt x="81" y="232"/>
                    </a:cubicBezTo>
                    <a:cubicBezTo>
                      <a:pt x="81" y="231"/>
                      <a:pt x="81" y="229"/>
                      <a:pt x="81" y="229"/>
                    </a:cubicBezTo>
                    <a:cubicBezTo>
                      <a:pt x="82" y="228"/>
                      <a:pt x="82" y="228"/>
                      <a:pt x="82" y="227"/>
                    </a:cubicBezTo>
                    <a:cubicBezTo>
                      <a:pt x="82" y="226"/>
                      <a:pt x="78" y="220"/>
                      <a:pt x="78" y="220"/>
                    </a:cubicBezTo>
                    <a:cubicBezTo>
                      <a:pt x="78" y="220"/>
                      <a:pt x="78" y="219"/>
                      <a:pt x="78" y="218"/>
                    </a:cubicBezTo>
                    <a:cubicBezTo>
                      <a:pt x="79" y="216"/>
                      <a:pt x="79" y="216"/>
                      <a:pt x="79" y="215"/>
                    </a:cubicBezTo>
                    <a:cubicBezTo>
                      <a:pt x="79" y="215"/>
                      <a:pt x="80" y="214"/>
                      <a:pt x="81" y="214"/>
                    </a:cubicBezTo>
                    <a:cubicBezTo>
                      <a:pt x="81" y="213"/>
                      <a:pt x="82" y="212"/>
                      <a:pt x="82" y="211"/>
                    </a:cubicBezTo>
                    <a:cubicBezTo>
                      <a:pt x="82" y="209"/>
                      <a:pt x="82" y="208"/>
                      <a:pt x="82" y="207"/>
                    </a:cubicBezTo>
                    <a:cubicBezTo>
                      <a:pt x="83" y="206"/>
                      <a:pt x="83" y="204"/>
                      <a:pt x="83" y="204"/>
                    </a:cubicBezTo>
                    <a:cubicBezTo>
                      <a:pt x="84" y="203"/>
                      <a:pt x="85" y="201"/>
                      <a:pt x="86" y="201"/>
                    </a:cubicBezTo>
                    <a:cubicBezTo>
                      <a:pt x="88" y="200"/>
                      <a:pt x="89" y="199"/>
                      <a:pt x="89" y="198"/>
                    </a:cubicBezTo>
                    <a:cubicBezTo>
                      <a:pt x="88" y="198"/>
                      <a:pt x="87" y="198"/>
                      <a:pt x="87" y="198"/>
                    </a:cubicBezTo>
                    <a:cubicBezTo>
                      <a:pt x="87" y="198"/>
                      <a:pt x="87" y="197"/>
                      <a:pt x="87" y="196"/>
                    </a:cubicBezTo>
                    <a:cubicBezTo>
                      <a:pt x="87" y="195"/>
                      <a:pt x="87" y="191"/>
                      <a:pt x="87" y="191"/>
                    </a:cubicBezTo>
                    <a:cubicBezTo>
                      <a:pt x="87" y="190"/>
                      <a:pt x="85" y="186"/>
                      <a:pt x="87" y="183"/>
                    </a:cubicBezTo>
                    <a:cubicBezTo>
                      <a:pt x="88" y="180"/>
                      <a:pt x="90" y="175"/>
                      <a:pt x="91" y="173"/>
                    </a:cubicBezTo>
                    <a:cubicBezTo>
                      <a:pt x="91" y="172"/>
                      <a:pt x="91" y="170"/>
                      <a:pt x="92" y="170"/>
                    </a:cubicBezTo>
                    <a:cubicBezTo>
                      <a:pt x="93" y="169"/>
                      <a:pt x="99" y="161"/>
                      <a:pt x="99" y="160"/>
                    </a:cubicBezTo>
                    <a:cubicBezTo>
                      <a:pt x="100" y="158"/>
                      <a:pt x="103" y="153"/>
                      <a:pt x="103" y="152"/>
                    </a:cubicBezTo>
                    <a:cubicBezTo>
                      <a:pt x="103" y="151"/>
                      <a:pt x="104" y="149"/>
                      <a:pt x="105" y="150"/>
                    </a:cubicBezTo>
                    <a:cubicBezTo>
                      <a:pt x="106" y="150"/>
                      <a:pt x="107" y="150"/>
                      <a:pt x="107" y="150"/>
                    </a:cubicBezTo>
                    <a:cubicBezTo>
                      <a:pt x="108" y="150"/>
                      <a:pt x="111" y="149"/>
                      <a:pt x="111" y="147"/>
                    </a:cubicBezTo>
                    <a:cubicBezTo>
                      <a:pt x="111" y="146"/>
                      <a:pt x="110" y="145"/>
                      <a:pt x="110" y="144"/>
                    </a:cubicBezTo>
                    <a:cubicBezTo>
                      <a:pt x="109" y="143"/>
                      <a:pt x="107" y="141"/>
                      <a:pt x="107" y="137"/>
                    </a:cubicBezTo>
                    <a:cubicBezTo>
                      <a:pt x="108" y="132"/>
                      <a:pt x="108" y="124"/>
                      <a:pt x="108" y="122"/>
                    </a:cubicBezTo>
                    <a:cubicBezTo>
                      <a:pt x="108" y="120"/>
                      <a:pt x="108" y="120"/>
                      <a:pt x="108" y="120"/>
                    </a:cubicBezTo>
                    <a:cubicBezTo>
                      <a:pt x="108" y="119"/>
                      <a:pt x="109" y="118"/>
                      <a:pt x="109" y="118"/>
                    </a:cubicBezTo>
                    <a:cubicBezTo>
                      <a:pt x="110" y="118"/>
                      <a:pt x="111" y="118"/>
                      <a:pt x="110" y="117"/>
                    </a:cubicBezTo>
                    <a:cubicBezTo>
                      <a:pt x="109" y="116"/>
                      <a:pt x="107" y="114"/>
                      <a:pt x="108" y="112"/>
                    </a:cubicBezTo>
                    <a:cubicBezTo>
                      <a:pt x="108" y="110"/>
                      <a:pt x="109" y="110"/>
                      <a:pt x="109" y="110"/>
                    </a:cubicBezTo>
                    <a:cubicBezTo>
                      <a:pt x="109" y="110"/>
                      <a:pt x="109" y="110"/>
                      <a:pt x="110" y="109"/>
                    </a:cubicBezTo>
                    <a:cubicBezTo>
                      <a:pt x="110" y="109"/>
                      <a:pt x="112" y="106"/>
                      <a:pt x="113" y="106"/>
                    </a:cubicBezTo>
                    <a:cubicBezTo>
                      <a:pt x="114" y="106"/>
                      <a:pt x="119" y="103"/>
                      <a:pt x="121" y="103"/>
                    </a:cubicBezTo>
                    <a:cubicBezTo>
                      <a:pt x="122" y="102"/>
                      <a:pt x="126" y="101"/>
                      <a:pt x="127" y="98"/>
                    </a:cubicBezTo>
                    <a:cubicBezTo>
                      <a:pt x="127" y="95"/>
                      <a:pt x="130" y="86"/>
                      <a:pt x="130" y="85"/>
                    </a:cubicBezTo>
                    <a:cubicBezTo>
                      <a:pt x="131" y="84"/>
                      <a:pt x="131" y="84"/>
                      <a:pt x="130" y="84"/>
                    </a:cubicBezTo>
                    <a:cubicBezTo>
                      <a:pt x="130" y="83"/>
                      <a:pt x="128" y="82"/>
                      <a:pt x="128" y="82"/>
                    </a:cubicBezTo>
                    <a:cubicBezTo>
                      <a:pt x="128" y="82"/>
                      <a:pt x="128" y="82"/>
                      <a:pt x="128" y="82"/>
                    </a:cubicBezTo>
                    <a:cubicBezTo>
                      <a:pt x="126" y="82"/>
                      <a:pt x="123" y="82"/>
                      <a:pt x="121" y="82"/>
                    </a:cubicBezTo>
                    <a:cubicBezTo>
                      <a:pt x="117" y="81"/>
                      <a:pt x="118" y="81"/>
                      <a:pt x="118" y="80"/>
                    </a:cubicBezTo>
                    <a:cubicBezTo>
                      <a:pt x="118" y="79"/>
                      <a:pt x="118" y="78"/>
                      <a:pt x="118" y="77"/>
                    </a:cubicBezTo>
                    <a:cubicBezTo>
                      <a:pt x="118" y="76"/>
                      <a:pt x="117" y="75"/>
                      <a:pt x="117" y="74"/>
                    </a:cubicBezTo>
                    <a:cubicBezTo>
                      <a:pt x="117" y="72"/>
                      <a:pt x="116" y="71"/>
                      <a:pt x="116" y="69"/>
                    </a:cubicBezTo>
                    <a:cubicBezTo>
                      <a:pt x="115" y="68"/>
                      <a:pt x="115" y="67"/>
                      <a:pt x="115" y="66"/>
                    </a:cubicBezTo>
                    <a:cubicBezTo>
                      <a:pt x="115" y="65"/>
                      <a:pt x="114" y="62"/>
                      <a:pt x="114" y="62"/>
                    </a:cubicBezTo>
                    <a:cubicBezTo>
                      <a:pt x="113" y="56"/>
                      <a:pt x="109" y="53"/>
                      <a:pt x="108" y="52"/>
                    </a:cubicBezTo>
                    <a:cubicBezTo>
                      <a:pt x="108" y="52"/>
                      <a:pt x="108" y="51"/>
                      <a:pt x="108" y="51"/>
                    </a:cubicBezTo>
                    <a:cubicBezTo>
                      <a:pt x="108" y="51"/>
                      <a:pt x="109" y="49"/>
                      <a:pt x="109" y="49"/>
                    </a:cubicBezTo>
                    <a:cubicBezTo>
                      <a:pt x="109" y="48"/>
                      <a:pt x="108" y="47"/>
                      <a:pt x="108" y="47"/>
                    </a:cubicBezTo>
                    <a:cubicBezTo>
                      <a:pt x="104" y="45"/>
                      <a:pt x="104" y="41"/>
                      <a:pt x="104" y="40"/>
                    </a:cubicBezTo>
                    <a:cubicBezTo>
                      <a:pt x="104" y="40"/>
                      <a:pt x="105" y="39"/>
                      <a:pt x="105" y="39"/>
                    </a:cubicBezTo>
                    <a:cubicBezTo>
                      <a:pt x="106" y="39"/>
                      <a:pt x="106" y="38"/>
                      <a:pt x="107" y="38"/>
                    </a:cubicBezTo>
                    <a:cubicBezTo>
                      <a:pt x="107" y="37"/>
                      <a:pt x="108" y="36"/>
                      <a:pt x="107" y="35"/>
                    </a:cubicBezTo>
                    <a:cubicBezTo>
                      <a:pt x="105" y="34"/>
                      <a:pt x="106" y="33"/>
                      <a:pt x="106" y="32"/>
                    </a:cubicBezTo>
                    <a:cubicBezTo>
                      <a:pt x="107" y="32"/>
                      <a:pt x="107" y="32"/>
                      <a:pt x="107" y="31"/>
                    </a:cubicBezTo>
                    <a:cubicBezTo>
                      <a:pt x="107" y="31"/>
                      <a:pt x="108" y="30"/>
                      <a:pt x="109" y="29"/>
                    </a:cubicBezTo>
                    <a:cubicBezTo>
                      <a:pt x="109" y="29"/>
                      <a:pt x="109" y="28"/>
                      <a:pt x="109" y="28"/>
                    </a:cubicBezTo>
                    <a:cubicBezTo>
                      <a:pt x="109" y="28"/>
                      <a:pt x="102" y="23"/>
                      <a:pt x="102" y="22"/>
                    </a:cubicBezTo>
                    <a:cubicBezTo>
                      <a:pt x="101" y="21"/>
                      <a:pt x="101" y="20"/>
                      <a:pt x="101" y="20"/>
                    </a:cubicBezTo>
                    <a:cubicBezTo>
                      <a:pt x="101" y="18"/>
                      <a:pt x="100" y="10"/>
                      <a:pt x="100" y="9"/>
                    </a:cubicBezTo>
                    <a:cubicBezTo>
                      <a:pt x="100" y="8"/>
                      <a:pt x="99" y="8"/>
                      <a:pt x="99" y="8"/>
                    </a:cubicBezTo>
                    <a:cubicBezTo>
                      <a:pt x="98" y="7"/>
                      <a:pt x="98" y="7"/>
                      <a:pt x="98" y="7"/>
                    </a:cubicBezTo>
                    <a:cubicBezTo>
                      <a:pt x="96" y="7"/>
                      <a:pt x="94" y="2"/>
                      <a:pt x="93" y="0"/>
                    </a:cubicBezTo>
                    <a:cubicBezTo>
                      <a:pt x="93" y="0"/>
                      <a:pt x="93" y="0"/>
                      <a:pt x="93" y="0"/>
                    </a:cubicBezTo>
                    <a:cubicBezTo>
                      <a:pt x="92" y="0"/>
                      <a:pt x="89" y="2"/>
                      <a:pt x="89" y="4"/>
                    </a:cubicBezTo>
                    <a:cubicBezTo>
                      <a:pt x="89" y="7"/>
                      <a:pt x="89" y="8"/>
                      <a:pt x="89" y="8"/>
                    </a:cubicBezTo>
                    <a:cubicBezTo>
                      <a:pt x="89" y="8"/>
                      <a:pt x="89" y="9"/>
                      <a:pt x="88" y="9"/>
                    </a:cubicBezTo>
                    <a:cubicBezTo>
                      <a:pt x="88" y="10"/>
                      <a:pt x="82" y="12"/>
                      <a:pt x="80" y="12"/>
                    </a:cubicBezTo>
                    <a:cubicBezTo>
                      <a:pt x="80" y="13"/>
                      <a:pt x="81" y="13"/>
                      <a:pt x="81" y="13"/>
                    </a:cubicBezTo>
                    <a:cubicBezTo>
                      <a:pt x="81" y="14"/>
                      <a:pt x="81" y="18"/>
                      <a:pt x="81" y="19"/>
                    </a:cubicBezTo>
                    <a:cubicBezTo>
                      <a:pt x="82" y="20"/>
                      <a:pt x="84" y="36"/>
                      <a:pt x="84" y="39"/>
                    </a:cubicBezTo>
                    <a:cubicBezTo>
                      <a:pt x="84" y="42"/>
                      <a:pt x="85" y="54"/>
                      <a:pt x="85" y="56"/>
                    </a:cubicBezTo>
                    <a:cubicBezTo>
                      <a:pt x="86" y="58"/>
                      <a:pt x="86" y="62"/>
                      <a:pt x="85" y="63"/>
                    </a:cubicBezTo>
                    <a:cubicBezTo>
                      <a:pt x="85" y="65"/>
                      <a:pt x="82" y="78"/>
                      <a:pt x="82" y="80"/>
                    </a:cubicBezTo>
                    <a:cubicBezTo>
                      <a:pt x="82" y="83"/>
                      <a:pt x="81" y="85"/>
                      <a:pt x="79" y="85"/>
                    </a:cubicBezTo>
                    <a:cubicBezTo>
                      <a:pt x="78" y="86"/>
                      <a:pt x="78" y="86"/>
                      <a:pt x="78" y="87"/>
                    </a:cubicBezTo>
                    <a:cubicBezTo>
                      <a:pt x="78" y="88"/>
                      <a:pt x="78" y="91"/>
                      <a:pt x="77" y="91"/>
                    </a:cubicBezTo>
                    <a:cubicBezTo>
                      <a:pt x="77" y="92"/>
                      <a:pt x="77" y="93"/>
                      <a:pt x="78" y="93"/>
                    </a:cubicBezTo>
                    <a:cubicBezTo>
                      <a:pt x="79" y="92"/>
                      <a:pt x="79" y="93"/>
                      <a:pt x="79" y="94"/>
                    </a:cubicBezTo>
                    <a:cubicBezTo>
                      <a:pt x="79" y="95"/>
                      <a:pt x="77" y="110"/>
                      <a:pt x="79" y="114"/>
                    </a:cubicBezTo>
                    <a:cubicBezTo>
                      <a:pt x="80" y="118"/>
                      <a:pt x="80" y="122"/>
                      <a:pt x="79" y="123"/>
                    </a:cubicBezTo>
                    <a:cubicBezTo>
                      <a:pt x="77" y="125"/>
                      <a:pt x="75" y="129"/>
                      <a:pt x="77" y="131"/>
                    </a:cubicBezTo>
                    <a:cubicBezTo>
                      <a:pt x="78" y="133"/>
                      <a:pt x="76" y="136"/>
                      <a:pt x="76" y="138"/>
                    </a:cubicBezTo>
                    <a:cubicBezTo>
                      <a:pt x="76" y="140"/>
                      <a:pt x="74" y="146"/>
                      <a:pt x="74" y="146"/>
                    </a:cubicBezTo>
                    <a:cubicBezTo>
                      <a:pt x="73" y="147"/>
                      <a:pt x="72" y="151"/>
                      <a:pt x="72" y="154"/>
                    </a:cubicBezTo>
                    <a:cubicBezTo>
                      <a:pt x="73" y="157"/>
                      <a:pt x="72" y="158"/>
                      <a:pt x="71" y="161"/>
                    </a:cubicBezTo>
                    <a:cubicBezTo>
                      <a:pt x="70" y="163"/>
                      <a:pt x="69" y="166"/>
                      <a:pt x="69" y="169"/>
                    </a:cubicBezTo>
                    <a:cubicBezTo>
                      <a:pt x="69" y="173"/>
                      <a:pt x="66" y="177"/>
                      <a:pt x="65" y="177"/>
                    </a:cubicBezTo>
                    <a:cubicBezTo>
                      <a:pt x="65" y="178"/>
                      <a:pt x="62" y="178"/>
                      <a:pt x="65" y="183"/>
                    </a:cubicBezTo>
                    <a:cubicBezTo>
                      <a:pt x="67" y="188"/>
                      <a:pt x="68" y="187"/>
                      <a:pt x="67" y="189"/>
                    </a:cubicBezTo>
                    <a:cubicBezTo>
                      <a:pt x="67" y="192"/>
                      <a:pt x="67" y="193"/>
                      <a:pt x="67" y="194"/>
                    </a:cubicBezTo>
                    <a:cubicBezTo>
                      <a:pt x="67" y="194"/>
                      <a:pt x="67" y="195"/>
                      <a:pt x="67" y="196"/>
                    </a:cubicBezTo>
                    <a:cubicBezTo>
                      <a:pt x="66" y="197"/>
                      <a:pt x="66" y="198"/>
                      <a:pt x="66" y="198"/>
                    </a:cubicBezTo>
                    <a:cubicBezTo>
                      <a:pt x="66" y="199"/>
                      <a:pt x="65" y="200"/>
                      <a:pt x="65" y="199"/>
                    </a:cubicBezTo>
                    <a:cubicBezTo>
                      <a:pt x="65" y="199"/>
                      <a:pt x="65" y="199"/>
                      <a:pt x="64" y="200"/>
                    </a:cubicBezTo>
                    <a:cubicBezTo>
                      <a:pt x="64" y="200"/>
                      <a:pt x="63" y="201"/>
                      <a:pt x="63" y="201"/>
                    </a:cubicBezTo>
                    <a:cubicBezTo>
                      <a:pt x="62" y="201"/>
                      <a:pt x="61" y="202"/>
                      <a:pt x="61" y="203"/>
                    </a:cubicBezTo>
                    <a:cubicBezTo>
                      <a:pt x="62" y="205"/>
                      <a:pt x="63" y="217"/>
                      <a:pt x="63" y="220"/>
                    </a:cubicBezTo>
                    <a:cubicBezTo>
                      <a:pt x="63" y="222"/>
                      <a:pt x="63" y="231"/>
                      <a:pt x="64" y="233"/>
                    </a:cubicBezTo>
                    <a:cubicBezTo>
                      <a:pt x="65" y="234"/>
                      <a:pt x="66" y="235"/>
                      <a:pt x="65" y="236"/>
                    </a:cubicBezTo>
                    <a:cubicBezTo>
                      <a:pt x="65" y="238"/>
                      <a:pt x="64" y="241"/>
                      <a:pt x="63" y="243"/>
                    </a:cubicBezTo>
                    <a:cubicBezTo>
                      <a:pt x="62" y="244"/>
                      <a:pt x="59" y="246"/>
                      <a:pt x="61" y="249"/>
                    </a:cubicBezTo>
                    <a:cubicBezTo>
                      <a:pt x="62" y="251"/>
                      <a:pt x="62" y="257"/>
                      <a:pt x="60" y="259"/>
                    </a:cubicBezTo>
                    <a:cubicBezTo>
                      <a:pt x="58" y="262"/>
                      <a:pt x="58" y="265"/>
                      <a:pt x="57" y="267"/>
                    </a:cubicBezTo>
                    <a:cubicBezTo>
                      <a:pt x="57" y="269"/>
                      <a:pt x="53" y="281"/>
                      <a:pt x="50" y="285"/>
                    </a:cubicBezTo>
                    <a:cubicBezTo>
                      <a:pt x="47" y="289"/>
                      <a:pt x="47" y="289"/>
                      <a:pt x="47" y="290"/>
                    </a:cubicBezTo>
                    <a:cubicBezTo>
                      <a:pt x="48" y="291"/>
                      <a:pt x="48" y="292"/>
                      <a:pt x="47" y="293"/>
                    </a:cubicBezTo>
                    <a:cubicBezTo>
                      <a:pt x="46" y="294"/>
                      <a:pt x="45" y="296"/>
                      <a:pt x="44" y="300"/>
                    </a:cubicBezTo>
                    <a:cubicBezTo>
                      <a:pt x="43" y="305"/>
                      <a:pt x="43" y="308"/>
                      <a:pt x="41" y="308"/>
                    </a:cubicBezTo>
                    <a:cubicBezTo>
                      <a:pt x="40" y="308"/>
                      <a:pt x="39" y="308"/>
                      <a:pt x="39" y="310"/>
                    </a:cubicBezTo>
                    <a:cubicBezTo>
                      <a:pt x="40" y="311"/>
                      <a:pt x="39" y="311"/>
                      <a:pt x="39" y="313"/>
                    </a:cubicBezTo>
                    <a:cubicBezTo>
                      <a:pt x="39" y="314"/>
                      <a:pt x="39" y="315"/>
                      <a:pt x="38" y="315"/>
                    </a:cubicBezTo>
                    <a:cubicBezTo>
                      <a:pt x="37" y="316"/>
                      <a:pt x="35" y="316"/>
                      <a:pt x="35" y="316"/>
                    </a:cubicBezTo>
                    <a:cubicBezTo>
                      <a:pt x="34" y="316"/>
                      <a:pt x="32" y="315"/>
                      <a:pt x="32" y="317"/>
                    </a:cubicBezTo>
                    <a:cubicBezTo>
                      <a:pt x="32" y="318"/>
                      <a:pt x="33" y="319"/>
                      <a:pt x="32" y="321"/>
                    </a:cubicBezTo>
                    <a:cubicBezTo>
                      <a:pt x="32" y="322"/>
                      <a:pt x="32" y="325"/>
                      <a:pt x="33" y="327"/>
                    </a:cubicBezTo>
                    <a:cubicBezTo>
                      <a:pt x="34" y="329"/>
                      <a:pt x="34" y="331"/>
                      <a:pt x="34" y="334"/>
                    </a:cubicBezTo>
                    <a:cubicBezTo>
                      <a:pt x="34" y="337"/>
                      <a:pt x="34" y="342"/>
                      <a:pt x="35" y="345"/>
                    </a:cubicBezTo>
                    <a:cubicBezTo>
                      <a:pt x="37" y="348"/>
                      <a:pt x="39" y="355"/>
                      <a:pt x="37" y="360"/>
                    </a:cubicBezTo>
                    <a:cubicBezTo>
                      <a:pt x="36" y="365"/>
                      <a:pt x="36" y="364"/>
                      <a:pt x="36" y="363"/>
                    </a:cubicBezTo>
                    <a:cubicBezTo>
                      <a:pt x="35" y="361"/>
                      <a:pt x="35" y="362"/>
                      <a:pt x="33" y="363"/>
                    </a:cubicBezTo>
                    <a:cubicBezTo>
                      <a:pt x="31" y="364"/>
                      <a:pt x="31" y="366"/>
                      <a:pt x="31" y="368"/>
                    </a:cubicBezTo>
                    <a:cubicBezTo>
                      <a:pt x="30" y="370"/>
                      <a:pt x="29" y="375"/>
                      <a:pt x="28" y="378"/>
                    </a:cubicBezTo>
                    <a:cubicBezTo>
                      <a:pt x="27" y="381"/>
                      <a:pt x="27" y="383"/>
                      <a:pt x="28" y="385"/>
                    </a:cubicBezTo>
                    <a:cubicBezTo>
                      <a:pt x="28" y="387"/>
                      <a:pt x="29" y="389"/>
                      <a:pt x="30" y="390"/>
                    </a:cubicBezTo>
                    <a:cubicBezTo>
                      <a:pt x="30" y="391"/>
                      <a:pt x="30" y="393"/>
                      <a:pt x="33" y="393"/>
                    </a:cubicBezTo>
                    <a:cubicBezTo>
                      <a:pt x="35" y="392"/>
                      <a:pt x="34" y="393"/>
                      <a:pt x="32" y="394"/>
                    </a:cubicBezTo>
                    <a:cubicBezTo>
                      <a:pt x="31" y="394"/>
                      <a:pt x="30" y="395"/>
                      <a:pt x="33" y="396"/>
                    </a:cubicBezTo>
                    <a:cubicBezTo>
                      <a:pt x="36" y="396"/>
                      <a:pt x="36" y="396"/>
                      <a:pt x="38" y="396"/>
                    </a:cubicBezTo>
                    <a:cubicBezTo>
                      <a:pt x="39" y="396"/>
                      <a:pt x="40" y="396"/>
                      <a:pt x="41" y="394"/>
                    </a:cubicBezTo>
                    <a:cubicBezTo>
                      <a:pt x="41" y="392"/>
                      <a:pt x="40" y="392"/>
                      <a:pt x="42" y="393"/>
                    </a:cubicBezTo>
                    <a:cubicBezTo>
                      <a:pt x="44" y="394"/>
                      <a:pt x="47" y="394"/>
                      <a:pt x="48" y="394"/>
                    </a:cubicBezTo>
                    <a:cubicBezTo>
                      <a:pt x="48" y="395"/>
                      <a:pt x="50" y="394"/>
                      <a:pt x="48" y="395"/>
                    </a:cubicBezTo>
                    <a:cubicBezTo>
                      <a:pt x="46" y="396"/>
                      <a:pt x="43" y="398"/>
                      <a:pt x="44" y="399"/>
                    </a:cubicBezTo>
                    <a:cubicBezTo>
                      <a:pt x="45" y="400"/>
                      <a:pt x="46" y="400"/>
                      <a:pt x="48" y="400"/>
                    </a:cubicBezTo>
                    <a:cubicBezTo>
                      <a:pt x="49" y="400"/>
                      <a:pt x="50" y="399"/>
                      <a:pt x="50" y="401"/>
                    </a:cubicBezTo>
                    <a:cubicBezTo>
                      <a:pt x="50" y="402"/>
                      <a:pt x="50" y="405"/>
                      <a:pt x="50" y="405"/>
                    </a:cubicBezTo>
                    <a:cubicBezTo>
                      <a:pt x="51" y="406"/>
                      <a:pt x="51" y="410"/>
                      <a:pt x="49" y="407"/>
                    </a:cubicBezTo>
                    <a:cubicBezTo>
                      <a:pt x="48" y="404"/>
                      <a:pt x="48" y="403"/>
                      <a:pt x="47" y="403"/>
                    </a:cubicBezTo>
                    <a:cubicBezTo>
                      <a:pt x="46" y="404"/>
                      <a:pt x="43" y="405"/>
                      <a:pt x="45" y="406"/>
                    </a:cubicBezTo>
                    <a:cubicBezTo>
                      <a:pt x="47" y="407"/>
                      <a:pt x="49" y="410"/>
                      <a:pt x="48" y="409"/>
                    </a:cubicBezTo>
                    <a:cubicBezTo>
                      <a:pt x="46" y="408"/>
                      <a:pt x="47" y="409"/>
                      <a:pt x="46" y="409"/>
                    </a:cubicBezTo>
                    <a:cubicBezTo>
                      <a:pt x="45" y="410"/>
                      <a:pt x="43" y="411"/>
                      <a:pt x="44" y="414"/>
                    </a:cubicBezTo>
                    <a:cubicBezTo>
                      <a:pt x="45" y="417"/>
                      <a:pt x="46" y="420"/>
                      <a:pt x="45" y="419"/>
                    </a:cubicBezTo>
                    <a:cubicBezTo>
                      <a:pt x="44" y="418"/>
                      <a:pt x="44" y="418"/>
                      <a:pt x="43" y="420"/>
                    </a:cubicBezTo>
                    <a:cubicBezTo>
                      <a:pt x="43" y="421"/>
                      <a:pt x="44" y="422"/>
                      <a:pt x="42" y="423"/>
                    </a:cubicBezTo>
                    <a:cubicBezTo>
                      <a:pt x="41" y="424"/>
                      <a:pt x="40" y="426"/>
                      <a:pt x="41" y="428"/>
                    </a:cubicBezTo>
                    <a:cubicBezTo>
                      <a:pt x="43" y="429"/>
                      <a:pt x="43" y="429"/>
                      <a:pt x="42" y="430"/>
                    </a:cubicBezTo>
                    <a:cubicBezTo>
                      <a:pt x="42" y="430"/>
                      <a:pt x="41" y="431"/>
                      <a:pt x="42" y="431"/>
                    </a:cubicBezTo>
                    <a:cubicBezTo>
                      <a:pt x="44" y="430"/>
                      <a:pt x="46" y="431"/>
                      <a:pt x="44" y="432"/>
                    </a:cubicBezTo>
                    <a:cubicBezTo>
                      <a:pt x="42" y="433"/>
                      <a:pt x="42" y="432"/>
                      <a:pt x="41" y="435"/>
                    </a:cubicBezTo>
                    <a:cubicBezTo>
                      <a:pt x="40" y="437"/>
                      <a:pt x="40" y="438"/>
                      <a:pt x="39" y="438"/>
                    </a:cubicBezTo>
                    <a:cubicBezTo>
                      <a:pt x="38" y="439"/>
                      <a:pt x="38" y="439"/>
                      <a:pt x="40" y="440"/>
                    </a:cubicBezTo>
                    <a:cubicBezTo>
                      <a:pt x="41" y="442"/>
                      <a:pt x="43" y="441"/>
                      <a:pt x="44" y="443"/>
                    </a:cubicBezTo>
                    <a:cubicBezTo>
                      <a:pt x="45" y="445"/>
                      <a:pt x="46" y="445"/>
                      <a:pt x="46" y="445"/>
                    </a:cubicBezTo>
                    <a:cubicBezTo>
                      <a:pt x="47" y="445"/>
                      <a:pt x="47" y="445"/>
                      <a:pt x="47" y="446"/>
                    </a:cubicBezTo>
                    <a:cubicBezTo>
                      <a:pt x="46" y="446"/>
                      <a:pt x="47" y="447"/>
                      <a:pt x="46" y="448"/>
                    </a:cubicBezTo>
                    <a:cubicBezTo>
                      <a:pt x="46" y="449"/>
                      <a:pt x="46" y="449"/>
                      <a:pt x="45" y="450"/>
                    </a:cubicBezTo>
                    <a:cubicBezTo>
                      <a:pt x="44" y="450"/>
                      <a:pt x="43" y="451"/>
                      <a:pt x="42" y="452"/>
                    </a:cubicBezTo>
                    <a:cubicBezTo>
                      <a:pt x="41" y="452"/>
                      <a:pt x="40" y="453"/>
                      <a:pt x="39" y="453"/>
                    </a:cubicBezTo>
                    <a:cubicBezTo>
                      <a:pt x="38" y="453"/>
                      <a:pt x="37" y="453"/>
                      <a:pt x="37" y="454"/>
                    </a:cubicBezTo>
                    <a:cubicBezTo>
                      <a:pt x="36" y="454"/>
                      <a:pt x="35" y="455"/>
                      <a:pt x="36" y="455"/>
                    </a:cubicBezTo>
                    <a:cubicBezTo>
                      <a:pt x="37" y="456"/>
                      <a:pt x="38" y="456"/>
                      <a:pt x="37" y="457"/>
                    </a:cubicBezTo>
                    <a:cubicBezTo>
                      <a:pt x="36" y="458"/>
                      <a:pt x="34" y="459"/>
                      <a:pt x="36" y="459"/>
                    </a:cubicBezTo>
                    <a:cubicBezTo>
                      <a:pt x="37" y="460"/>
                      <a:pt x="37" y="459"/>
                      <a:pt x="38" y="459"/>
                    </a:cubicBezTo>
                    <a:cubicBezTo>
                      <a:pt x="39" y="459"/>
                      <a:pt x="39" y="458"/>
                      <a:pt x="40" y="460"/>
                    </a:cubicBezTo>
                    <a:cubicBezTo>
                      <a:pt x="41" y="461"/>
                      <a:pt x="43" y="461"/>
                      <a:pt x="43" y="462"/>
                    </a:cubicBezTo>
                    <a:cubicBezTo>
                      <a:pt x="43" y="462"/>
                      <a:pt x="45" y="464"/>
                      <a:pt x="43" y="463"/>
                    </a:cubicBezTo>
                    <a:cubicBezTo>
                      <a:pt x="40" y="462"/>
                      <a:pt x="39" y="461"/>
                      <a:pt x="39" y="460"/>
                    </a:cubicBezTo>
                    <a:cubicBezTo>
                      <a:pt x="39" y="460"/>
                      <a:pt x="38" y="460"/>
                      <a:pt x="38" y="460"/>
                    </a:cubicBezTo>
                    <a:cubicBezTo>
                      <a:pt x="37" y="461"/>
                      <a:pt x="37" y="462"/>
                      <a:pt x="37" y="461"/>
                    </a:cubicBezTo>
                    <a:cubicBezTo>
                      <a:pt x="36" y="461"/>
                      <a:pt x="36" y="461"/>
                      <a:pt x="36" y="462"/>
                    </a:cubicBezTo>
                    <a:cubicBezTo>
                      <a:pt x="35" y="463"/>
                      <a:pt x="34" y="466"/>
                      <a:pt x="34" y="467"/>
                    </a:cubicBezTo>
                    <a:cubicBezTo>
                      <a:pt x="33" y="467"/>
                      <a:pt x="32" y="469"/>
                      <a:pt x="34" y="467"/>
                    </a:cubicBezTo>
                    <a:cubicBezTo>
                      <a:pt x="36" y="466"/>
                      <a:pt x="37" y="466"/>
                      <a:pt x="38" y="466"/>
                    </a:cubicBezTo>
                    <a:cubicBezTo>
                      <a:pt x="39" y="466"/>
                      <a:pt x="39" y="467"/>
                      <a:pt x="37" y="467"/>
                    </a:cubicBezTo>
                    <a:cubicBezTo>
                      <a:pt x="36" y="467"/>
                      <a:pt x="35" y="467"/>
                      <a:pt x="34" y="469"/>
                    </a:cubicBezTo>
                    <a:cubicBezTo>
                      <a:pt x="34" y="471"/>
                      <a:pt x="33" y="471"/>
                      <a:pt x="33" y="472"/>
                    </a:cubicBezTo>
                    <a:cubicBezTo>
                      <a:pt x="32" y="472"/>
                      <a:pt x="32" y="473"/>
                      <a:pt x="32" y="475"/>
                    </a:cubicBezTo>
                    <a:cubicBezTo>
                      <a:pt x="32" y="477"/>
                      <a:pt x="31" y="479"/>
                      <a:pt x="32" y="479"/>
                    </a:cubicBezTo>
                    <a:cubicBezTo>
                      <a:pt x="33" y="478"/>
                      <a:pt x="33" y="476"/>
                      <a:pt x="34" y="477"/>
                    </a:cubicBezTo>
                    <a:cubicBezTo>
                      <a:pt x="34" y="478"/>
                      <a:pt x="34" y="479"/>
                      <a:pt x="34" y="479"/>
                    </a:cubicBezTo>
                    <a:cubicBezTo>
                      <a:pt x="33" y="480"/>
                      <a:pt x="31" y="482"/>
                      <a:pt x="31" y="482"/>
                    </a:cubicBezTo>
                    <a:cubicBezTo>
                      <a:pt x="30" y="482"/>
                      <a:pt x="30" y="482"/>
                      <a:pt x="30" y="483"/>
                    </a:cubicBezTo>
                    <a:cubicBezTo>
                      <a:pt x="29" y="483"/>
                      <a:pt x="28" y="485"/>
                      <a:pt x="28" y="483"/>
                    </a:cubicBezTo>
                    <a:cubicBezTo>
                      <a:pt x="28" y="481"/>
                      <a:pt x="29" y="481"/>
                      <a:pt x="29" y="481"/>
                    </a:cubicBezTo>
                    <a:cubicBezTo>
                      <a:pt x="29" y="480"/>
                      <a:pt x="31" y="479"/>
                      <a:pt x="30" y="477"/>
                    </a:cubicBezTo>
                    <a:cubicBezTo>
                      <a:pt x="30" y="476"/>
                      <a:pt x="29" y="476"/>
                      <a:pt x="28" y="476"/>
                    </a:cubicBezTo>
                    <a:cubicBezTo>
                      <a:pt x="27" y="476"/>
                      <a:pt x="27" y="476"/>
                      <a:pt x="28" y="477"/>
                    </a:cubicBezTo>
                    <a:cubicBezTo>
                      <a:pt x="28" y="478"/>
                      <a:pt x="29" y="479"/>
                      <a:pt x="28" y="478"/>
                    </a:cubicBezTo>
                    <a:cubicBezTo>
                      <a:pt x="27" y="478"/>
                      <a:pt x="27" y="477"/>
                      <a:pt x="26" y="477"/>
                    </a:cubicBezTo>
                    <a:cubicBezTo>
                      <a:pt x="26" y="478"/>
                      <a:pt x="26" y="477"/>
                      <a:pt x="26" y="476"/>
                    </a:cubicBezTo>
                    <a:cubicBezTo>
                      <a:pt x="26" y="476"/>
                      <a:pt x="24" y="477"/>
                      <a:pt x="26" y="476"/>
                    </a:cubicBezTo>
                    <a:cubicBezTo>
                      <a:pt x="28" y="475"/>
                      <a:pt x="28" y="474"/>
                      <a:pt x="27" y="474"/>
                    </a:cubicBezTo>
                    <a:cubicBezTo>
                      <a:pt x="27" y="473"/>
                      <a:pt x="25" y="475"/>
                      <a:pt x="26" y="473"/>
                    </a:cubicBezTo>
                    <a:cubicBezTo>
                      <a:pt x="27" y="471"/>
                      <a:pt x="26" y="471"/>
                      <a:pt x="26" y="471"/>
                    </a:cubicBezTo>
                    <a:cubicBezTo>
                      <a:pt x="25" y="471"/>
                      <a:pt x="25" y="471"/>
                      <a:pt x="25" y="470"/>
                    </a:cubicBezTo>
                    <a:cubicBezTo>
                      <a:pt x="26" y="469"/>
                      <a:pt x="25" y="469"/>
                      <a:pt x="24" y="469"/>
                    </a:cubicBezTo>
                    <a:cubicBezTo>
                      <a:pt x="23" y="469"/>
                      <a:pt x="22" y="470"/>
                      <a:pt x="21" y="469"/>
                    </a:cubicBezTo>
                    <a:cubicBezTo>
                      <a:pt x="20" y="469"/>
                      <a:pt x="20" y="470"/>
                      <a:pt x="20" y="470"/>
                    </a:cubicBezTo>
                    <a:cubicBezTo>
                      <a:pt x="20" y="471"/>
                      <a:pt x="19" y="472"/>
                      <a:pt x="19" y="471"/>
                    </a:cubicBezTo>
                    <a:cubicBezTo>
                      <a:pt x="18" y="469"/>
                      <a:pt x="18" y="470"/>
                      <a:pt x="17" y="470"/>
                    </a:cubicBezTo>
                    <a:cubicBezTo>
                      <a:pt x="17" y="470"/>
                      <a:pt x="16" y="470"/>
                      <a:pt x="16" y="470"/>
                    </a:cubicBezTo>
                    <a:cubicBezTo>
                      <a:pt x="16" y="469"/>
                      <a:pt x="16" y="469"/>
                      <a:pt x="15" y="469"/>
                    </a:cubicBezTo>
                    <a:cubicBezTo>
                      <a:pt x="14" y="470"/>
                      <a:pt x="12" y="469"/>
                      <a:pt x="13" y="470"/>
                    </a:cubicBezTo>
                    <a:cubicBezTo>
                      <a:pt x="14" y="471"/>
                      <a:pt x="13" y="471"/>
                      <a:pt x="13" y="471"/>
                    </a:cubicBezTo>
                    <a:cubicBezTo>
                      <a:pt x="12" y="470"/>
                      <a:pt x="10" y="470"/>
                      <a:pt x="11" y="471"/>
                    </a:cubicBezTo>
                    <a:cubicBezTo>
                      <a:pt x="11" y="472"/>
                      <a:pt x="11" y="472"/>
                      <a:pt x="12" y="472"/>
                    </a:cubicBezTo>
                    <a:cubicBezTo>
                      <a:pt x="13" y="472"/>
                      <a:pt x="14" y="472"/>
                      <a:pt x="13" y="473"/>
                    </a:cubicBezTo>
                    <a:cubicBezTo>
                      <a:pt x="12" y="473"/>
                      <a:pt x="11" y="473"/>
                      <a:pt x="12" y="474"/>
                    </a:cubicBezTo>
                    <a:cubicBezTo>
                      <a:pt x="13" y="474"/>
                      <a:pt x="14" y="474"/>
                      <a:pt x="14" y="474"/>
                    </a:cubicBezTo>
                    <a:cubicBezTo>
                      <a:pt x="15" y="473"/>
                      <a:pt x="16" y="471"/>
                      <a:pt x="16" y="471"/>
                    </a:cubicBezTo>
                    <a:cubicBezTo>
                      <a:pt x="17" y="471"/>
                      <a:pt x="17" y="472"/>
                      <a:pt x="16" y="473"/>
                    </a:cubicBezTo>
                    <a:cubicBezTo>
                      <a:pt x="16" y="474"/>
                      <a:pt x="16" y="477"/>
                      <a:pt x="15" y="476"/>
                    </a:cubicBezTo>
                    <a:cubicBezTo>
                      <a:pt x="14" y="476"/>
                      <a:pt x="14" y="477"/>
                      <a:pt x="14" y="477"/>
                    </a:cubicBezTo>
                    <a:cubicBezTo>
                      <a:pt x="13" y="477"/>
                      <a:pt x="12" y="477"/>
                      <a:pt x="12" y="477"/>
                    </a:cubicBezTo>
                    <a:cubicBezTo>
                      <a:pt x="11" y="477"/>
                      <a:pt x="10" y="477"/>
                      <a:pt x="10" y="478"/>
                    </a:cubicBezTo>
                    <a:cubicBezTo>
                      <a:pt x="10" y="478"/>
                      <a:pt x="12" y="479"/>
                      <a:pt x="11" y="479"/>
                    </a:cubicBezTo>
                    <a:cubicBezTo>
                      <a:pt x="10" y="479"/>
                      <a:pt x="10" y="479"/>
                      <a:pt x="10" y="480"/>
                    </a:cubicBezTo>
                    <a:cubicBezTo>
                      <a:pt x="9" y="480"/>
                      <a:pt x="9" y="480"/>
                      <a:pt x="9" y="480"/>
                    </a:cubicBezTo>
                    <a:cubicBezTo>
                      <a:pt x="8" y="479"/>
                      <a:pt x="8" y="480"/>
                      <a:pt x="7" y="480"/>
                    </a:cubicBezTo>
                    <a:cubicBezTo>
                      <a:pt x="7" y="481"/>
                      <a:pt x="5" y="482"/>
                      <a:pt x="4" y="483"/>
                    </a:cubicBezTo>
                    <a:cubicBezTo>
                      <a:pt x="3" y="484"/>
                      <a:pt x="0" y="485"/>
                      <a:pt x="2" y="487"/>
                    </a:cubicBezTo>
                    <a:cubicBezTo>
                      <a:pt x="3" y="489"/>
                      <a:pt x="5" y="490"/>
                      <a:pt x="6" y="490"/>
                    </a:cubicBezTo>
                    <a:cubicBezTo>
                      <a:pt x="7" y="490"/>
                      <a:pt x="7" y="489"/>
                      <a:pt x="7" y="489"/>
                    </a:cubicBezTo>
                    <a:cubicBezTo>
                      <a:pt x="6" y="488"/>
                      <a:pt x="7" y="488"/>
                      <a:pt x="6" y="487"/>
                    </a:cubicBezTo>
                    <a:cubicBezTo>
                      <a:pt x="5" y="486"/>
                      <a:pt x="7" y="486"/>
                      <a:pt x="6" y="486"/>
                    </a:cubicBezTo>
                    <a:cubicBezTo>
                      <a:pt x="5" y="485"/>
                      <a:pt x="5" y="485"/>
                      <a:pt x="4" y="486"/>
                    </a:cubicBezTo>
                    <a:cubicBezTo>
                      <a:pt x="3" y="486"/>
                      <a:pt x="3" y="485"/>
                      <a:pt x="5" y="485"/>
                    </a:cubicBezTo>
                    <a:cubicBezTo>
                      <a:pt x="7" y="484"/>
                      <a:pt x="8" y="484"/>
                      <a:pt x="9" y="484"/>
                    </a:cubicBezTo>
                    <a:cubicBezTo>
                      <a:pt x="9" y="484"/>
                      <a:pt x="9" y="484"/>
                      <a:pt x="10" y="484"/>
                    </a:cubicBezTo>
                    <a:cubicBezTo>
                      <a:pt x="10" y="484"/>
                      <a:pt x="11" y="484"/>
                      <a:pt x="11" y="483"/>
                    </a:cubicBezTo>
                    <a:cubicBezTo>
                      <a:pt x="11" y="483"/>
                      <a:pt x="11" y="483"/>
                      <a:pt x="11" y="484"/>
                    </a:cubicBezTo>
                    <a:cubicBezTo>
                      <a:pt x="12" y="485"/>
                      <a:pt x="11" y="487"/>
                      <a:pt x="13" y="488"/>
                    </a:cubicBezTo>
                    <a:cubicBezTo>
                      <a:pt x="15" y="488"/>
                      <a:pt x="14" y="487"/>
                      <a:pt x="15" y="488"/>
                    </a:cubicBezTo>
                    <a:cubicBezTo>
                      <a:pt x="16" y="489"/>
                      <a:pt x="18" y="489"/>
                      <a:pt x="19" y="489"/>
                    </a:cubicBezTo>
                    <a:cubicBezTo>
                      <a:pt x="20" y="489"/>
                      <a:pt x="21" y="489"/>
                      <a:pt x="19" y="488"/>
                    </a:cubicBezTo>
                    <a:cubicBezTo>
                      <a:pt x="18" y="488"/>
                      <a:pt x="18" y="487"/>
                      <a:pt x="19" y="487"/>
                    </a:cubicBezTo>
                    <a:cubicBezTo>
                      <a:pt x="20" y="487"/>
                      <a:pt x="20" y="487"/>
                      <a:pt x="19" y="487"/>
                    </a:cubicBezTo>
                    <a:cubicBezTo>
                      <a:pt x="19" y="486"/>
                      <a:pt x="19" y="486"/>
                      <a:pt x="21" y="487"/>
                    </a:cubicBezTo>
                    <a:cubicBezTo>
                      <a:pt x="22" y="487"/>
                      <a:pt x="22" y="487"/>
                      <a:pt x="23" y="488"/>
                    </a:cubicBezTo>
                    <a:cubicBezTo>
                      <a:pt x="24" y="490"/>
                      <a:pt x="25" y="491"/>
                      <a:pt x="27" y="491"/>
                    </a:cubicBezTo>
                    <a:cubicBezTo>
                      <a:pt x="29" y="492"/>
                      <a:pt x="28" y="492"/>
                      <a:pt x="28" y="494"/>
                    </a:cubicBezTo>
                    <a:cubicBezTo>
                      <a:pt x="28" y="495"/>
                      <a:pt x="27" y="498"/>
                      <a:pt x="27" y="496"/>
                    </a:cubicBezTo>
                    <a:cubicBezTo>
                      <a:pt x="27" y="494"/>
                      <a:pt x="27" y="495"/>
                      <a:pt x="26" y="496"/>
                    </a:cubicBezTo>
                    <a:cubicBezTo>
                      <a:pt x="26" y="497"/>
                      <a:pt x="25" y="498"/>
                      <a:pt x="25" y="497"/>
                    </a:cubicBezTo>
                    <a:cubicBezTo>
                      <a:pt x="25" y="495"/>
                      <a:pt x="25" y="495"/>
                      <a:pt x="24" y="495"/>
                    </a:cubicBezTo>
                    <a:cubicBezTo>
                      <a:pt x="22" y="496"/>
                      <a:pt x="22" y="497"/>
                      <a:pt x="21" y="498"/>
                    </a:cubicBezTo>
                    <a:cubicBezTo>
                      <a:pt x="19" y="499"/>
                      <a:pt x="19" y="500"/>
                      <a:pt x="20" y="500"/>
                    </a:cubicBezTo>
                    <a:cubicBezTo>
                      <a:pt x="21" y="500"/>
                      <a:pt x="21" y="501"/>
                      <a:pt x="22" y="501"/>
                    </a:cubicBezTo>
                    <a:cubicBezTo>
                      <a:pt x="23" y="502"/>
                      <a:pt x="24" y="502"/>
                      <a:pt x="25" y="502"/>
                    </a:cubicBezTo>
                    <a:cubicBezTo>
                      <a:pt x="25" y="502"/>
                      <a:pt x="28" y="503"/>
                      <a:pt x="26" y="503"/>
                    </a:cubicBezTo>
                    <a:cubicBezTo>
                      <a:pt x="24" y="503"/>
                      <a:pt x="22" y="504"/>
                      <a:pt x="23" y="504"/>
                    </a:cubicBezTo>
                    <a:cubicBezTo>
                      <a:pt x="24" y="504"/>
                      <a:pt x="24" y="504"/>
                      <a:pt x="23" y="504"/>
                    </a:cubicBezTo>
                    <a:cubicBezTo>
                      <a:pt x="23" y="504"/>
                      <a:pt x="22" y="505"/>
                      <a:pt x="23" y="505"/>
                    </a:cubicBezTo>
                    <a:cubicBezTo>
                      <a:pt x="24" y="505"/>
                      <a:pt x="22" y="505"/>
                      <a:pt x="22" y="504"/>
                    </a:cubicBezTo>
                    <a:cubicBezTo>
                      <a:pt x="22" y="504"/>
                      <a:pt x="23" y="504"/>
                      <a:pt x="22" y="504"/>
                    </a:cubicBezTo>
                    <a:cubicBezTo>
                      <a:pt x="21" y="504"/>
                      <a:pt x="21" y="503"/>
                      <a:pt x="21" y="503"/>
                    </a:cubicBezTo>
                    <a:cubicBezTo>
                      <a:pt x="22" y="503"/>
                      <a:pt x="22" y="502"/>
                      <a:pt x="21" y="502"/>
                    </a:cubicBezTo>
                    <a:cubicBezTo>
                      <a:pt x="20" y="502"/>
                      <a:pt x="21" y="501"/>
                      <a:pt x="20" y="502"/>
                    </a:cubicBezTo>
                    <a:cubicBezTo>
                      <a:pt x="19" y="503"/>
                      <a:pt x="20" y="504"/>
                      <a:pt x="18" y="504"/>
                    </a:cubicBezTo>
                    <a:cubicBezTo>
                      <a:pt x="17" y="504"/>
                      <a:pt x="16" y="505"/>
                      <a:pt x="18" y="505"/>
                    </a:cubicBezTo>
                    <a:cubicBezTo>
                      <a:pt x="19" y="506"/>
                      <a:pt x="19" y="505"/>
                      <a:pt x="21" y="505"/>
                    </a:cubicBezTo>
                    <a:cubicBezTo>
                      <a:pt x="22" y="505"/>
                      <a:pt x="25" y="506"/>
                      <a:pt x="26" y="507"/>
                    </a:cubicBezTo>
                    <a:cubicBezTo>
                      <a:pt x="27" y="507"/>
                      <a:pt x="30" y="508"/>
                      <a:pt x="30" y="506"/>
                    </a:cubicBezTo>
                    <a:cubicBezTo>
                      <a:pt x="30" y="504"/>
                      <a:pt x="32" y="499"/>
                      <a:pt x="32" y="503"/>
                    </a:cubicBezTo>
                    <a:cubicBezTo>
                      <a:pt x="31" y="506"/>
                      <a:pt x="33" y="508"/>
                      <a:pt x="34" y="508"/>
                    </a:cubicBezTo>
                    <a:cubicBezTo>
                      <a:pt x="34" y="509"/>
                      <a:pt x="35" y="509"/>
                      <a:pt x="36" y="509"/>
                    </a:cubicBezTo>
                    <a:cubicBezTo>
                      <a:pt x="37" y="510"/>
                      <a:pt x="39" y="510"/>
                      <a:pt x="36" y="510"/>
                    </a:cubicBezTo>
                    <a:cubicBezTo>
                      <a:pt x="33" y="510"/>
                      <a:pt x="32" y="509"/>
                      <a:pt x="33" y="510"/>
                    </a:cubicBezTo>
                    <a:cubicBezTo>
                      <a:pt x="34" y="512"/>
                      <a:pt x="35" y="513"/>
                      <a:pt x="35" y="513"/>
                    </a:cubicBezTo>
                    <a:cubicBezTo>
                      <a:pt x="36" y="513"/>
                      <a:pt x="38" y="512"/>
                      <a:pt x="37" y="513"/>
                    </a:cubicBezTo>
                    <a:cubicBezTo>
                      <a:pt x="36" y="514"/>
                      <a:pt x="36" y="514"/>
                      <a:pt x="35" y="514"/>
                    </a:cubicBezTo>
                    <a:cubicBezTo>
                      <a:pt x="35" y="513"/>
                      <a:pt x="34" y="513"/>
                      <a:pt x="34" y="514"/>
                    </a:cubicBezTo>
                    <a:cubicBezTo>
                      <a:pt x="33" y="514"/>
                      <a:pt x="33" y="514"/>
                      <a:pt x="33" y="513"/>
                    </a:cubicBezTo>
                    <a:cubicBezTo>
                      <a:pt x="33" y="512"/>
                      <a:pt x="32" y="512"/>
                      <a:pt x="31" y="512"/>
                    </a:cubicBezTo>
                    <a:cubicBezTo>
                      <a:pt x="30" y="512"/>
                      <a:pt x="31" y="511"/>
                      <a:pt x="30" y="511"/>
                    </a:cubicBezTo>
                    <a:cubicBezTo>
                      <a:pt x="29" y="512"/>
                      <a:pt x="29" y="513"/>
                      <a:pt x="29" y="512"/>
                    </a:cubicBezTo>
                    <a:cubicBezTo>
                      <a:pt x="28" y="510"/>
                      <a:pt x="27" y="510"/>
                      <a:pt x="25" y="510"/>
                    </a:cubicBezTo>
                    <a:cubicBezTo>
                      <a:pt x="23" y="510"/>
                      <a:pt x="22" y="510"/>
                      <a:pt x="23" y="511"/>
                    </a:cubicBezTo>
                    <a:cubicBezTo>
                      <a:pt x="23" y="512"/>
                      <a:pt x="25" y="514"/>
                      <a:pt x="24" y="514"/>
                    </a:cubicBezTo>
                    <a:cubicBezTo>
                      <a:pt x="23" y="514"/>
                      <a:pt x="23" y="513"/>
                      <a:pt x="22" y="512"/>
                    </a:cubicBezTo>
                    <a:cubicBezTo>
                      <a:pt x="22" y="511"/>
                      <a:pt x="21" y="509"/>
                      <a:pt x="20" y="509"/>
                    </a:cubicBezTo>
                    <a:cubicBezTo>
                      <a:pt x="18" y="510"/>
                      <a:pt x="17" y="510"/>
                      <a:pt x="18" y="511"/>
                    </a:cubicBezTo>
                    <a:cubicBezTo>
                      <a:pt x="18" y="512"/>
                      <a:pt x="18" y="512"/>
                      <a:pt x="19" y="511"/>
                    </a:cubicBezTo>
                    <a:cubicBezTo>
                      <a:pt x="19" y="511"/>
                      <a:pt x="20" y="512"/>
                      <a:pt x="20" y="512"/>
                    </a:cubicBezTo>
                    <a:cubicBezTo>
                      <a:pt x="21" y="513"/>
                      <a:pt x="21" y="514"/>
                      <a:pt x="22" y="514"/>
                    </a:cubicBezTo>
                    <a:cubicBezTo>
                      <a:pt x="23" y="515"/>
                      <a:pt x="23" y="516"/>
                      <a:pt x="23" y="516"/>
                    </a:cubicBezTo>
                    <a:cubicBezTo>
                      <a:pt x="23" y="516"/>
                      <a:pt x="23" y="516"/>
                      <a:pt x="24" y="516"/>
                    </a:cubicBezTo>
                    <a:cubicBezTo>
                      <a:pt x="25" y="517"/>
                      <a:pt x="24" y="517"/>
                      <a:pt x="25" y="517"/>
                    </a:cubicBezTo>
                    <a:cubicBezTo>
                      <a:pt x="27" y="517"/>
                      <a:pt x="26" y="518"/>
                      <a:pt x="27" y="518"/>
                    </a:cubicBezTo>
                    <a:cubicBezTo>
                      <a:pt x="27" y="518"/>
                      <a:pt x="28" y="518"/>
                      <a:pt x="28" y="519"/>
                    </a:cubicBezTo>
                    <a:cubicBezTo>
                      <a:pt x="28" y="520"/>
                      <a:pt x="27" y="522"/>
                      <a:pt x="27" y="521"/>
                    </a:cubicBezTo>
                    <a:cubicBezTo>
                      <a:pt x="26" y="520"/>
                      <a:pt x="25" y="518"/>
                      <a:pt x="24" y="519"/>
                    </a:cubicBezTo>
                    <a:cubicBezTo>
                      <a:pt x="23" y="520"/>
                      <a:pt x="21" y="521"/>
                      <a:pt x="22" y="523"/>
                    </a:cubicBezTo>
                    <a:cubicBezTo>
                      <a:pt x="22" y="524"/>
                      <a:pt x="22" y="523"/>
                      <a:pt x="24" y="524"/>
                    </a:cubicBezTo>
                    <a:cubicBezTo>
                      <a:pt x="25" y="524"/>
                      <a:pt x="27" y="524"/>
                      <a:pt x="24" y="524"/>
                    </a:cubicBezTo>
                    <a:cubicBezTo>
                      <a:pt x="21" y="524"/>
                      <a:pt x="20" y="525"/>
                      <a:pt x="21" y="527"/>
                    </a:cubicBezTo>
                    <a:cubicBezTo>
                      <a:pt x="21" y="528"/>
                      <a:pt x="21" y="528"/>
                      <a:pt x="21" y="529"/>
                    </a:cubicBezTo>
                    <a:cubicBezTo>
                      <a:pt x="20" y="529"/>
                      <a:pt x="20" y="530"/>
                      <a:pt x="21" y="531"/>
                    </a:cubicBezTo>
                    <a:cubicBezTo>
                      <a:pt x="21" y="533"/>
                      <a:pt x="20" y="537"/>
                      <a:pt x="22" y="538"/>
                    </a:cubicBezTo>
                    <a:cubicBezTo>
                      <a:pt x="24" y="539"/>
                      <a:pt x="25" y="540"/>
                      <a:pt x="25" y="536"/>
                    </a:cubicBezTo>
                    <a:cubicBezTo>
                      <a:pt x="24" y="532"/>
                      <a:pt x="24" y="533"/>
                      <a:pt x="25" y="533"/>
                    </a:cubicBezTo>
                    <a:cubicBezTo>
                      <a:pt x="26" y="533"/>
                      <a:pt x="26" y="533"/>
                      <a:pt x="26" y="531"/>
                    </a:cubicBezTo>
                    <a:cubicBezTo>
                      <a:pt x="27" y="530"/>
                      <a:pt x="27" y="529"/>
                      <a:pt x="28" y="530"/>
                    </a:cubicBezTo>
                    <a:cubicBezTo>
                      <a:pt x="29" y="530"/>
                      <a:pt x="28" y="530"/>
                      <a:pt x="28" y="531"/>
                    </a:cubicBezTo>
                    <a:cubicBezTo>
                      <a:pt x="28" y="532"/>
                      <a:pt x="26" y="533"/>
                      <a:pt x="28" y="534"/>
                    </a:cubicBezTo>
                    <a:cubicBezTo>
                      <a:pt x="29" y="535"/>
                      <a:pt x="30" y="537"/>
                      <a:pt x="28" y="536"/>
                    </a:cubicBezTo>
                    <a:cubicBezTo>
                      <a:pt x="27" y="535"/>
                      <a:pt x="26" y="536"/>
                      <a:pt x="26" y="537"/>
                    </a:cubicBezTo>
                    <a:cubicBezTo>
                      <a:pt x="26" y="538"/>
                      <a:pt x="25" y="538"/>
                      <a:pt x="26" y="539"/>
                    </a:cubicBezTo>
                    <a:cubicBezTo>
                      <a:pt x="27" y="539"/>
                      <a:pt x="28" y="539"/>
                      <a:pt x="29" y="540"/>
                    </a:cubicBezTo>
                    <a:cubicBezTo>
                      <a:pt x="30" y="542"/>
                      <a:pt x="30" y="542"/>
                      <a:pt x="30" y="542"/>
                    </a:cubicBezTo>
                    <a:cubicBezTo>
                      <a:pt x="31" y="543"/>
                      <a:pt x="30" y="544"/>
                      <a:pt x="30" y="543"/>
                    </a:cubicBezTo>
                    <a:cubicBezTo>
                      <a:pt x="29" y="542"/>
                      <a:pt x="27" y="540"/>
                      <a:pt x="27" y="540"/>
                    </a:cubicBezTo>
                    <a:cubicBezTo>
                      <a:pt x="27" y="540"/>
                      <a:pt x="27" y="540"/>
                      <a:pt x="26" y="540"/>
                    </a:cubicBezTo>
                    <a:cubicBezTo>
                      <a:pt x="25" y="539"/>
                      <a:pt x="24" y="540"/>
                      <a:pt x="24" y="540"/>
                    </a:cubicBezTo>
                    <a:cubicBezTo>
                      <a:pt x="23" y="541"/>
                      <a:pt x="21" y="542"/>
                      <a:pt x="23" y="543"/>
                    </a:cubicBezTo>
                    <a:cubicBezTo>
                      <a:pt x="24" y="544"/>
                      <a:pt x="27" y="543"/>
                      <a:pt x="24" y="544"/>
                    </a:cubicBezTo>
                    <a:cubicBezTo>
                      <a:pt x="21" y="544"/>
                      <a:pt x="21" y="545"/>
                      <a:pt x="22" y="546"/>
                    </a:cubicBezTo>
                    <a:cubicBezTo>
                      <a:pt x="24" y="547"/>
                      <a:pt x="25" y="547"/>
                      <a:pt x="25" y="547"/>
                    </a:cubicBezTo>
                    <a:cubicBezTo>
                      <a:pt x="26" y="548"/>
                      <a:pt x="26" y="548"/>
                      <a:pt x="27" y="547"/>
                    </a:cubicBezTo>
                    <a:cubicBezTo>
                      <a:pt x="27" y="547"/>
                      <a:pt x="28" y="547"/>
                      <a:pt x="28" y="548"/>
                    </a:cubicBezTo>
                    <a:cubicBezTo>
                      <a:pt x="27" y="549"/>
                      <a:pt x="27" y="550"/>
                      <a:pt x="26" y="549"/>
                    </a:cubicBezTo>
                    <a:cubicBezTo>
                      <a:pt x="25" y="548"/>
                      <a:pt x="24" y="548"/>
                      <a:pt x="24" y="548"/>
                    </a:cubicBezTo>
                    <a:cubicBezTo>
                      <a:pt x="23" y="547"/>
                      <a:pt x="23" y="547"/>
                      <a:pt x="22" y="547"/>
                    </a:cubicBezTo>
                    <a:cubicBezTo>
                      <a:pt x="22" y="548"/>
                      <a:pt x="21" y="548"/>
                      <a:pt x="22" y="549"/>
                    </a:cubicBezTo>
                    <a:cubicBezTo>
                      <a:pt x="23" y="550"/>
                      <a:pt x="24" y="550"/>
                      <a:pt x="24" y="551"/>
                    </a:cubicBezTo>
                    <a:cubicBezTo>
                      <a:pt x="24" y="552"/>
                      <a:pt x="25" y="552"/>
                      <a:pt x="26" y="553"/>
                    </a:cubicBezTo>
                    <a:cubicBezTo>
                      <a:pt x="27" y="553"/>
                      <a:pt x="28" y="553"/>
                      <a:pt x="28" y="554"/>
                    </a:cubicBezTo>
                    <a:cubicBezTo>
                      <a:pt x="28" y="554"/>
                      <a:pt x="28" y="554"/>
                      <a:pt x="27" y="554"/>
                    </a:cubicBezTo>
                    <a:cubicBezTo>
                      <a:pt x="26" y="553"/>
                      <a:pt x="24" y="554"/>
                      <a:pt x="24" y="553"/>
                    </a:cubicBezTo>
                    <a:cubicBezTo>
                      <a:pt x="23" y="552"/>
                      <a:pt x="22" y="550"/>
                      <a:pt x="21" y="550"/>
                    </a:cubicBezTo>
                    <a:cubicBezTo>
                      <a:pt x="20" y="551"/>
                      <a:pt x="20" y="551"/>
                      <a:pt x="19" y="551"/>
                    </a:cubicBezTo>
                    <a:cubicBezTo>
                      <a:pt x="18" y="552"/>
                      <a:pt x="17" y="552"/>
                      <a:pt x="18" y="553"/>
                    </a:cubicBezTo>
                    <a:cubicBezTo>
                      <a:pt x="20" y="554"/>
                      <a:pt x="21" y="556"/>
                      <a:pt x="21" y="556"/>
                    </a:cubicBezTo>
                    <a:cubicBezTo>
                      <a:pt x="22" y="556"/>
                      <a:pt x="22" y="556"/>
                      <a:pt x="22" y="556"/>
                    </a:cubicBezTo>
                    <a:cubicBezTo>
                      <a:pt x="23" y="557"/>
                      <a:pt x="23" y="557"/>
                      <a:pt x="24" y="557"/>
                    </a:cubicBezTo>
                    <a:cubicBezTo>
                      <a:pt x="25" y="557"/>
                      <a:pt x="26" y="556"/>
                      <a:pt x="26" y="557"/>
                    </a:cubicBezTo>
                    <a:cubicBezTo>
                      <a:pt x="26" y="557"/>
                      <a:pt x="25" y="558"/>
                      <a:pt x="26" y="558"/>
                    </a:cubicBezTo>
                    <a:cubicBezTo>
                      <a:pt x="27" y="558"/>
                      <a:pt x="29" y="560"/>
                      <a:pt x="27" y="559"/>
                    </a:cubicBezTo>
                    <a:cubicBezTo>
                      <a:pt x="25" y="558"/>
                      <a:pt x="26" y="559"/>
                      <a:pt x="26" y="559"/>
                    </a:cubicBezTo>
                    <a:cubicBezTo>
                      <a:pt x="25" y="560"/>
                      <a:pt x="24" y="560"/>
                      <a:pt x="24" y="559"/>
                    </a:cubicBezTo>
                    <a:cubicBezTo>
                      <a:pt x="23" y="558"/>
                      <a:pt x="23" y="558"/>
                      <a:pt x="23" y="560"/>
                    </a:cubicBezTo>
                    <a:cubicBezTo>
                      <a:pt x="24" y="561"/>
                      <a:pt x="25" y="565"/>
                      <a:pt x="27" y="564"/>
                    </a:cubicBezTo>
                    <a:cubicBezTo>
                      <a:pt x="29" y="564"/>
                      <a:pt x="29" y="563"/>
                      <a:pt x="30" y="561"/>
                    </a:cubicBezTo>
                    <a:cubicBezTo>
                      <a:pt x="31" y="558"/>
                      <a:pt x="32" y="558"/>
                      <a:pt x="32" y="557"/>
                    </a:cubicBezTo>
                    <a:cubicBezTo>
                      <a:pt x="33" y="557"/>
                      <a:pt x="31" y="559"/>
                      <a:pt x="32" y="560"/>
                    </a:cubicBezTo>
                    <a:cubicBezTo>
                      <a:pt x="32" y="560"/>
                      <a:pt x="36" y="563"/>
                      <a:pt x="34" y="562"/>
                    </a:cubicBezTo>
                    <a:cubicBezTo>
                      <a:pt x="32" y="561"/>
                      <a:pt x="32" y="560"/>
                      <a:pt x="31" y="562"/>
                    </a:cubicBezTo>
                    <a:cubicBezTo>
                      <a:pt x="31" y="564"/>
                      <a:pt x="30" y="569"/>
                      <a:pt x="29" y="567"/>
                    </a:cubicBezTo>
                    <a:cubicBezTo>
                      <a:pt x="29" y="566"/>
                      <a:pt x="29" y="566"/>
                      <a:pt x="28" y="566"/>
                    </a:cubicBezTo>
                    <a:cubicBezTo>
                      <a:pt x="26" y="566"/>
                      <a:pt x="25" y="566"/>
                      <a:pt x="24" y="567"/>
                    </a:cubicBezTo>
                    <a:cubicBezTo>
                      <a:pt x="24" y="568"/>
                      <a:pt x="23" y="569"/>
                      <a:pt x="24" y="571"/>
                    </a:cubicBezTo>
                    <a:cubicBezTo>
                      <a:pt x="25" y="572"/>
                      <a:pt x="26" y="573"/>
                      <a:pt x="26" y="571"/>
                    </a:cubicBezTo>
                    <a:cubicBezTo>
                      <a:pt x="27" y="570"/>
                      <a:pt x="27" y="570"/>
                      <a:pt x="28" y="571"/>
                    </a:cubicBezTo>
                    <a:cubicBezTo>
                      <a:pt x="28" y="572"/>
                      <a:pt x="29" y="573"/>
                      <a:pt x="30" y="572"/>
                    </a:cubicBezTo>
                    <a:cubicBezTo>
                      <a:pt x="31" y="571"/>
                      <a:pt x="32" y="571"/>
                      <a:pt x="31" y="572"/>
                    </a:cubicBezTo>
                    <a:cubicBezTo>
                      <a:pt x="30" y="573"/>
                      <a:pt x="30" y="573"/>
                      <a:pt x="31" y="574"/>
                    </a:cubicBezTo>
                    <a:cubicBezTo>
                      <a:pt x="31" y="574"/>
                      <a:pt x="30" y="575"/>
                      <a:pt x="31" y="576"/>
                    </a:cubicBezTo>
                    <a:cubicBezTo>
                      <a:pt x="32" y="576"/>
                      <a:pt x="33" y="576"/>
                      <a:pt x="33" y="578"/>
                    </a:cubicBezTo>
                    <a:cubicBezTo>
                      <a:pt x="33" y="579"/>
                      <a:pt x="33" y="582"/>
                      <a:pt x="33" y="580"/>
                    </a:cubicBezTo>
                    <a:cubicBezTo>
                      <a:pt x="32" y="578"/>
                      <a:pt x="32" y="579"/>
                      <a:pt x="31" y="577"/>
                    </a:cubicBezTo>
                    <a:cubicBezTo>
                      <a:pt x="30" y="576"/>
                      <a:pt x="29" y="575"/>
                      <a:pt x="29" y="577"/>
                    </a:cubicBezTo>
                    <a:cubicBezTo>
                      <a:pt x="29" y="578"/>
                      <a:pt x="28" y="580"/>
                      <a:pt x="29" y="580"/>
                    </a:cubicBezTo>
                    <a:cubicBezTo>
                      <a:pt x="29" y="581"/>
                      <a:pt x="30" y="581"/>
                      <a:pt x="31" y="582"/>
                    </a:cubicBezTo>
                    <a:cubicBezTo>
                      <a:pt x="31" y="583"/>
                      <a:pt x="32" y="584"/>
                      <a:pt x="32" y="583"/>
                    </a:cubicBezTo>
                    <a:cubicBezTo>
                      <a:pt x="33" y="582"/>
                      <a:pt x="33" y="582"/>
                      <a:pt x="34" y="582"/>
                    </a:cubicBezTo>
                    <a:cubicBezTo>
                      <a:pt x="34" y="582"/>
                      <a:pt x="34" y="582"/>
                      <a:pt x="34" y="582"/>
                    </a:cubicBezTo>
                    <a:cubicBezTo>
                      <a:pt x="34" y="582"/>
                      <a:pt x="34" y="582"/>
                      <a:pt x="34" y="583"/>
                    </a:cubicBezTo>
                    <a:cubicBezTo>
                      <a:pt x="34" y="584"/>
                      <a:pt x="34" y="584"/>
                      <a:pt x="35" y="586"/>
                    </a:cubicBezTo>
                    <a:cubicBezTo>
                      <a:pt x="36" y="588"/>
                      <a:pt x="35" y="589"/>
                      <a:pt x="34" y="587"/>
                    </a:cubicBezTo>
                    <a:cubicBezTo>
                      <a:pt x="34" y="585"/>
                      <a:pt x="34" y="585"/>
                      <a:pt x="33" y="586"/>
                    </a:cubicBezTo>
                    <a:cubicBezTo>
                      <a:pt x="32" y="587"/>
                      <a:pt x="32" y="586"/>
                      <a:pt x="33" y="587"/>
                    </a:cubicBezTo>
                    <a:cubicBezTo>
                      <a:pt x="34" y="589"/>
                      <a:pt x="36" y="590"/>
                      <a:pt x="35" y="590"/>
                    </a:cubicBezTo>
                    <a:cubicBezTo>
                      <a:pt x="34" y="589"/>
                      <a:pt x="31" y="588"/>
                      <a:pt x="31" y="589"/>
                    </a:cubicBezTo>
                    <a:cubicBezTo>
                      <a:pt x="31" y="590"/>
                      <a:pt x="31" y="590"/>
                      <a:pt x="32" y="591"/>
                    </a:cubicBezTo>
                    <a:cubicBezTo>
                      <a:pt x="34" y="592"/>
                      <a:pt x="34" y="591"/>
                      <a:pt x="33" y="593"/>
                    </a:cubicBezTo>
                    <a:cubicBezTo>
                      <a:pt x="33" y="594"/>
                      <a:pt x="32" y="593"/>
                      <a:pt x="33" y="594"/>
                    </a:cubicBezTo>
                    <a:cubicBezTo>
                      <a:pt x="33" y="595"/>
                      <a:pt x="34" y="595"/>
                      <a:pt x="33" y="595"/>
                    </a:cubicBezTo>
                    <a:cubicBezTo>
                      <a:pt x="32" y="595"/>
                      <a:pt x="32" y="596"/>
                      <a:pt x="33" y="596"/>
                    </a:cubicBezTo>
                    <a:cubicBezTo>
                      <a:pt x="34" y="596"/>
                      <a:pt x="34" y="597"/>
                      <a:pt x="33" y="598"/>
                    </a:cubicBezTo>
                    <a:cubicBezTo>
                      <a:pt x="33" y="599"/>
                      <a:pt x="31" y="600"/>
                      <a:pt x="32" y="601"/>
                    </a:cubicBezTo>
                    <a:cubicBezTo>
                      <a:pt x="33" y="601"/>
                      <a:pt x="33" y="601"/>
                      <a:pt x="33" y="602"/>
                    </a:cubicBezTo>
                    <a:cubicBezTo>
                      <a:pt x="33" y="603"/>
                      <a:pt x="35" y="601"/>
                      <a:pt x="35" y="600"/>
                    </a:cubicBezTo>
                    <a:cubicBezTo>
                      <a:pt x="36" y="598"/>
                      <a:pt x="36" y="599"/>
                      <a:pt x="37" y="600"/>
                    </a:cubicBezTo>
                    <a:cubicBezTo>
                      <a:pt x="37" y="601"/>
                      <a:pt x="38" y="600"/>
                      <a:pt x="39" y="599"/>
                    </a:cubicBezTo>
                    <a:cubicBezTo>
                      <a:pt x="39" y="598"/>
                      <a:pt x="41" y="597"/>
                      <a:pt x="41" y="597"/>
                    </a:cubicBezTo>
                    <a:cubicBezTo>
                      <a:pt x="42" y="597"/>
                      <a:pt x="43" y="598"/>
                      <a:pt x="41" y="599"/>
                    </a:cubicBezTo>
                    <a:cubicBezTo>
                      <a:pt x="40" y="600"/>
                      <a:pt x="38" y="601"/>
                      <a:pt x="38" y="602"/>
                    </a:cubicBezTo>
                    <a:cubicBezTo>
                      <a:pt x="38" y="603"/>
                      <a:pt x="38" y="603"/>
                      <a:pt x="37" y="603"/>
                    </a:cubicBezTo>
                    <a:cubicBezTo>
                      <a:pt x="37" y="603"/>
                      <a:pt x="35" y="604"/>
                      <a:pt x="34" y="604"/>
                    </a:cubicBezTo>
                    <a:cubicBezTo>
                      <a:pt x="33" y="603"/>
                      <a:pt x="34" y="604"/>
                      <a:pt x="35" y="605"/>
                    </a:cubicBezTo>
                    <a:cubicBezTo>
                      <a:pt x="36" y="605"/>
                      <a:pt x="40" y="606"/>
                      <a:pt x="39" y="606"/>
                    </a:cubicBezTo>
                    <a:cubicBezTo>
                      <a:pt x="38" y="607"/>
                      <a:pt x="36" y="607"/>
                      <a:pt x="36" y="607"/>
                    </a:cubicBezTo>
                    <a:cubicBezTo>
                      <a:pt x="35" y="607"/>
                      <a:pt x="35" y="607"/>
                      <a:pt x="36" y="608"/>
                    </a:cubicBezTo>
                    <a:cubicBezTo>
                      <a:pt x="37" y="609"/>
                      <a:pt x="38" y="610"/>
                      <a:pt x="40" y="610"/>
                    </a:cubicBezTo>
                    <a:cubicBezTo>
                      <a:pt x="41" y="609"/>
                      <a:pt x="42" y="609"/>
                      <a:pt x="42" y="606"/>
                    </a:cubicBezTo>
                    <a:cubicBezTo>
                      <a:pt x="41" y="603"/>
                      <a:pt x="42" y="604"/>
                      <a:pt x="43" y="603"/>
                    </a:cubicBezTo>
                    <a:cubicBezTo>
                      <a:pt x="44" y="603"/>
                      <a:pt x="47" y="601"/>
                      <a:pt x="46" y="600"/>
                    </a:cubicBezTo>
                    <a:cubicBezTo>
                      <a:pt x="45" y="599"/>
                      <a:pt x="44" y="600"/>
                      <a:pt x="43" y="600"/>
                    </a:cubicBezTo>
                    <a:cubicBezTo>
                      <a:pt x="43" y="601"/>
                      <a:pt x="42" y="600"/>
                      <a:pt x="44" y="599"/>
                    </a:cubicBezTo>
                    <a:cubicBezTo>
                      <a:pt x="46" y="598"/>
                      <a:pt x="49" y="598"/>
                      <a:pt x="50" y="598"/>
                    </a:cubicBezTo>
                    <a:cubicBezTo>
                      <a:pt x="50" y="598"/>
                      <a:pt x="51" y="598"/>
                      <a:pt x="50" y="599"/>
                    </a:cubicBezTo>
                    <a:cubicBezTo>
                      <a:pt x="49" y="600"/>
                      <a:pt x="50" y="600"/>
                      <a:pt x="51" y="601"/>
                    </a:cubicBezTo>
                    <a:cubicBezTo>
                      <a:pt x="51" y="601"/>
                      <a:pt x="53" y="601"/>
                      <a:pt x="54" y="601"/>
                    </a:cubicBezTo>
                    <a:cubicBezTo>
                      <a:pt x="54" y="601"/>
                      <a:pt x="55" y="601"/>
                      <a:pt x="53" y="602"/>
                    </a:cubicBezTo>
                    <a:cubicBezTo>
                      <a:pt x="51" y="603"/>
                      <a:pt x="51" y="603"/>
                      <a:pt x="51" y="604"/>
                    </a:cubicBezTo>
                    <a:cubicBezTo>
                      <a:pt x="50" y="605"/>
                      <a:pt x="50" y="605"/>
                      <a:pt x="50" y="605"/>
                    </a:cubicBezTo>
                    <a:cubicBezTo>
                      <a:pt x="49" y="604"/>
                      <a:pt x="49" y="604"/>
                      <a:pt x="48" y="604"/>
                    </a:cubicBezTo>
                    <a:cubicBezTo>
                      <a:pt x="47" y="605"/>
                      <a:pt x="46" y="605"/>
                      <a:pt x="47" y="604"/>
                    </a:cubicBezTo>
                    <a:cubicBezTo>
                      <a:pt x="48" y="602"/>
                      <a:pt x="48" y="602"/>
                      <a:pt x="47" y="602"/>
                    </a:cubicBezTo>
                    <a:cubicBezTo>
                      <a:pt x="46" y="603"/>
                      <a:pt x="44" y="603"/>
                      <a:pt x="44" y="605"/>
                    </a:cubicBezTo>
                    <a:cubicBezTo>
                      <a:pt x="43" y="607"/>
                      <a:pt x="42" y="609"/>
                      <a:pt x="43" y="610"/>
                    </a:cubicBezTo>
                    <a:cubicBezTo>
                      <a:pt x="44" y="611"/>
                      <a:pt x="47" y="614"/>
                      <a:pt x="46" y="613"/>
                    </a:cubicBezTo>
                    <a:cubicBezTo>
                      <a:pt x="44" y="612"/>
                      <a:pt x="43" y="610"/>
                      <a:pt x="41" y="611"/>
                    </a:cubicBezTo>
                    <a:cubicBezTo>
                      <a:pt x="40" y="611"/>
                      <a:pt x="39" y="611"/>
                      <a:pt x="39" y="611"/>
                    </a:cubicBezTo>
                    <a:cubicBezTo>
                      <a:pt x="38" y="611"/>
                      <a:pt x="37" y="611"/>
                      <a:pt x="38" y="612"/>
                    </a:cubicBezTo>
                    <a:cubicBezTo>
                      <a:pt x="40" y="613"/>
                      <a:pt x="42" y="614"/>
                      <a:pt x="43" y="615"/>
                    </a:cubicBezTo>
                    <a:cubicBezTo>
                      <a:pt x="44" y="615"/>
                      <a:pt x="45" y="616"/>
                      <a:pt x="45" y="616"/>
                    </a:cubicBezTo>
                    <a:cubicBezTo>
                      <a:pt x="45" y="616"/>
                      <a:pt x="46" y="616"/>
                      <a:pt x="46" y="617"/>
                    </a:cubicBezTo>
                    <a:cubicBezTo>
                      <a:pt x="46" y="617"/>
                      <a:pt x="50" y="619"/>
                      <a:pt x="50" y="618"/>
                    </a:cubicBezTo>
                    <a:cubicBezTo>
                      <a:pt x="51" y="618"/>
                      <a:pt x="51" y="618"/>
                      <a:pt x="50" y="617"/>
                    </a:cubicBezTo>
                    <a:cubicBezTo>
                      <a:pt x="49" y="616"/>
                      <a:pt x="47" y="615"/>
                      <a:pt x="48" y="615"/>
                    </a:cubicBezTo>
                    <a:cubicBezTo>
                      <a:pt x="50" y="615"/>
                      <a:pt x="49" y="614"/>
                      <a:pt x="49" y="614"/>
                    </a:cubicBezTo>
                    <a:cubicBezTo>
                      <a:pt x="49" y="613"/>
                      <a:pt x="49" y="613"/>
                      <a:pt x="50" y="613"/>
                    </a:cubicBezTo>
                    <a:cubicBezTo>
                      <a:pt x="51" y="613"/>
                      <a:pt x="50" y="613"/>
                      <a:pt x="50" y="613"/>
                    </a:cubicBezTo>
                    <a:cubicBezTo>
                      <a:pt x="49" y="612"/>
                      <a:pt x="49" y="612"/>
                      <a:pt x="50" y="612"/>
                    </a:cubicBezTo>
                    <a:cubicBezTo>
                      <a:pt x="52" y="612"/>
                      <a:pt x="51" y="612"/>
                      <a:pt x="52" y="612"/>
                    </a:cubicBezTo>
                    <a:cubicBezTo>
                      <a:pt x="53" y="612"/>
                      <a:pt x="54" y="612"/>
                      <a:pt x="54" y="611"/>
                    </a:cubicBezTo>
                    <a:cubicBezTo>
                      <a:pt x="53" y="611"/>
                      <a:pt x="52" y="611"/>
                      <a:pt x="52" y="610"/>
                    </a:cubicBezTo>
                    <a:cubicBezTo>
                      <a:pt x="52" y="610"/>
                      <a:pt x="50" y="609"/>
                      <a:pt x="50" y="609"/>
                    </a:cubicBezTo>
                    <a:cubicBezTo>
                      <a:pt x="49" y="609"/>
                      <a:pt x="48" y="608"/>
                      <a:pt x="50" y="609"/>
                    </a:cubicBezTo>
                    <a:cubicBezTo>
                      <a:pt x="52" y="609"/>
                      <a:pt x="53" y="609"/>
                      <a:pt x="54" y="610"/>
                    </a:cubicBezTo>
                    <a:cubicBezTo>
                      <a:pt x="55" y="610"/>
                      <a:pt x="56" y="611"/>
                      <a:pt x="57" y="609"/>
                    </a:cubicBezTo>
                    <a:cubicBezTo>
                      <a:pt x="59" y="607"/>
                      <a:pt x="63" y="605"/>
                      <a:pt x="67" y="604"/>
                    </a:cubicBezTo>
                    <a:cubicBezTo>
                      <a:pt x="70" y="604"/>
                      <a:pt x="71" y="604"/>
                      <a:pt x="69" y="606"/>
                    </a:cubicBezTo>
                    <a:cubicBezTo>
                      <a:pt x="67" y="608"/>
                      <a:pt x="67" y="610"/>
                      <a:pt x="65" y="611"/>
                    </a:cubicBezTo>
                    <a:cubicBezTo>
                      <a:pt x="62" y="611"/>
                      <a:pt x="60" y="612"/>
                      <a:pt x="60" y="613"/>
                    </a:cubicBezTo>
                    <a:cubicBezTo>
                      <a:pt x="60" y="615"/>
                      <a:pt x="62" y="618"/>
                      <a:pt x="60" y="618"/>
                    </a:cubicBezTo>
                    <a:cubicBezTo>
                      <a:pt x="57" y="619"/>
                      <a:pt x="55" y="619"/>
                      <a:pt x="58" y="618"/>
                    </a:cubicBezTo>
                    <a:cubicBezTo>
                      <a:pt x="61" y="616"/>
                      <a:pt x="60" y="617"/>
                      <a:pt x="60" y="615"/>
                    </a:cubicBezTo>
                    <a:cubicBezTo>
                      <a:pt x="59" y="612"/>
                      <a:pt x="59" y="612"/>
                      <a:pt x="57" y="612"/>
                    </a:cubicBezTo>
                    <a:cubicBezTo>
                      <a:pt x="56" y="612"/>
                      <a:pt x="56" y="613"/>
                      <a:pt x="57" y="614"/>
                    </a:cubicBezTo>
                    <a:cubicBezTo>
                      <a:pt x="57" y="615"/>
                      <a:pt x="56" y="616"/>
                      <a:pt x="55" y="616"/>
                    </a:cubicBezTo>
                    <a:cubicBezTo>
                      <a:pt x="55" y="616"/>
                      <a:pt x="54" y="616"/>
                      <a:pt x="55" y="615"/>
                    </a:cubicBezTo>
                    <a:cubicBezTo>
                      <a:pt x="56" y="614"/>
                      <a:pt x="55" y="612"/>
                      <a:pt x="54" y="612"/>
                    </a:cubicBezTo>
                    <a:cubicBezTo>
                      <a:pt x="52" y="612"/>
                      <a:pt x="52" y="613"/>
                      <a:pt x="52" y="614"/>
                    </a:cubicBezTo>
                    <a:cubicBezTo>
                      <a:pt x="52" y="616"/>
                      <a:pt x="52" y="618"/>
                      <a:pt x="53" y="619"/>
                    </a:cubicBezTo>
                    <a:cubicBezTo>
                      <a:pt x="55" y="621"/>
                      <a:pt x="55" y="621"/>
                      <a:pt x="57" y="622"/>
                    </a:cubicBezTo>
                    <a:cubicBezTo>
                      <a:pt x="59" y="622"/>
                      <a:pt x="60" y="623"/>
                      <a:pt x="62" y="624"/>
                    </a:cubicBezTo>
                    <a:cubicBezTo>
                      <a:pt x="63" y="624"/>
                      <a:pt x="68" y="626"/>
                      <a:pt x="69" y="625"/>
                    </a:cubicBezTo>
                    <a:cubicBezTo>
                      <a:pt x="71" y="624"/>
                      <a:pt x="72" y="622"/>
                      <a:pt x="72" y="621"/>
                    </a:cubicBezTo>
                    <a:cubicBezTo>
                      <a:pt x="73" y="620"/>
                      <a:pt x="72" y="619"/>
                      <a:pt x="72" y="617"/>
                    </a:cubicBezTo>
                    <a:cubicBezTo>
                      <a:pt x="72" y="616"/>
                      <a:pt x="71" y="615"/>
                      <a:pt x="72" y="613"/>
                    </a:cubicBezTo>
                    <a:cubicBezTo>
                      <a:pt x="73" y="611"/>
                      <a:pt x="74" y="608"/>
                      <a:pt x="74" y="607"/>
                    </a:cubicBezTo>
                    <a:cubicBezTo>
                      <a:pt x="74" y="606"/>
                      <a:pt x="73" y="606"/>
                      <a:pt x="74" y="605"/>
                    </a:cubicBezTo>
                    <a:cubicBezTo>
                      <a:pt x="74" y="604"/>
                      <a:pt x="75" y="604"/>
                      <a:pt x="75" y="603"/>
                    </a:cubicBezTo>
                    <a:cubicBezTo>
                      <a:pt x="74" y="603"/>
                      <a:pt x="74" y="602"/>
                      <a:pt x="75" y="602"/>
                    </a:cubicBezTo>
                    <a:cubicBezTo>
                      <a:pt x="76" y="602"/>
                      <a:pt x="81" y="601"/>
                      <a:pt x="81" y="601"/>
                    </a:cubicBezTo>
                    <a:cubicBezTo>
                      <a:pt x="82" y="600"/>
                      <a:pt x="87" y="600"/>
                      <a:pt x="88" y="599"/>
                    </a:cubicBezTo>
                    <a:cubicBezTo>
                      <a:pt x="90" y="599"/>
                      <a:pt x="92" y="597"/>
                      <a:pt x="94" y="595"/>
                    </a:cubicBezTo>
                    <a:cubicBezTo>
                      <a:pt x="96" y="593"/>
                      <a:pt x="98" y="592"/>
                      <a:pt x="100" y="592"/>
                    </a:cubicBezTo>
                    <a:cubicBezTo>
                      <a:pt x="101" y="593"/>
                      <a:pt x="104" y="593"/>
                      <a:pt x="105" y="593"/>
                    </a:cubicBezTo>
                    <a:cubicBezTo>
                      <a:pt x="104" y="593"/>
                      <a:pt x="102" y="592"/>
                      <a:pt x="101" y="591"/>
                    </a:cubicBezTo>
                    <a:cubicBezTo>
                      <a:pt x="98" y="590"/>
                      <a:pt x="93" y="590"/>
                      <a:pt x="91" y="58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42" name="Freeform 451">
                <a:extLst>
                  <a:ext uri="{FF2B5EF4-FFF2-40B4-BE49-F238E27FC236}">
                    <a16:creationId xmlns:a16="http://schemas.microsoft.com/office/drawing/2014/main" id="{32B90E06-8410-4D09-B49E-9BE5A47AA01C}"/>
                  </a:ext>
                </a:extLst>
              </p:cNvPr>
              <p:cNvSpPr>
                <a:spLocks/>
              </p:cNvSpPr>
              <p:nvPr/>
            </p:nvSpPr>
            <p:spPr bwMode="auto">
              <a:xfrm>
                <a:off x="1883" y="2122"/>
                <a:ext cx="19" cy="7"/>
              </a:xfrm>
              <a:custGeom>
                <a:avLst/>
                <a:gdLst>
                  <a:gd name="T0" fmla="*/ 12 w 14"/>
                  <a:gd name="T1" fmla="*/ 1 h 5"/>
                  <a:gd name="T2" fmla="*/ 6 w 14"/>
                  <a:gd name="T3" fmla="*/ 2 h 5"/>
                  <a:gd name="T4" fmla="*/ 3 w 14"/>
                  <a:gd name="T5" fmla="*/ 2 h 5"/>
                  <a:gd name="T6" fmla="*/ 2 w 14"/>
                  <a:gd name="T7" fmla="*/ 5 h 5"/>
                  <a:gd name="T8" fmla="*/ 5 w 14"/>
                  <a:gd name="T9" fmla="*/ 4 h 5"/>
                  <a:gd name="T10" fmla="*/ 11 w 14"/>
                  <a:gd name="T11" fmla="*/ 3 h 5"/>
                  <a:gd name="T12" fmla="*/ 14 w 14"/>
                  <a:gd name="T13" fmla="*/ 2 h 5"/>
                  <a:gd name="T14" fmla="*/ 12 w 14"/>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5">
                    <a:moveTo>
                      <a:pt x="12" y="1"/>
                    </a:moveTo>
                    <a:cubicBezTo>
                      <a:pt x="11" y="1"/>
                      <a:pt x="7" y="3"/>
                      <a:pt x="6" y="2"/>
                    </a:cubicBezTo>
                    <a:cubicBezTo>
                      <a:pt x="4" y="1"/>
                      <a:pt x="3" y="0"/>
                      <a:pt x="3" y="2"/>
                    </a:cubicBezTo>
                    <a:cubicBezTo>
                      <a:pt x="2" y="3"/>
                      <a:pt x="0" y="4"/>
                      <a:pt x="2" y="5"/>
                    </a:cubicBezTo>
                    <a:cubicBezTo>
                      <a:pt x="2" y="5"/>
                      <a:pt x="3" y="5"/>
                      <a:pt x="5" y="4"/>
                    </a:cubicBezTo>
                    <a:cubicBezTo>
                      <a:pt x="6" y="3"/>
                      <a:pt x="9" y="2"/>
                      <a:pt x="11" y="3"/>
                    </a:cubicBezTo>
                    <a:cubicBezTo>
                      <a:pt x="13" y="3"/>
                      <a:pt x="14" y="3"/>
                      <a:pt x="14" y="2"/>
                    </a:cubicBezTo>
                    <a:cubicBezTo>
                      <a:pt x="14" y="1"/>
                      <a:pt x="13" y="1"/>
                      <a:pt x="1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43" name="Freeform 452">
                <a:extLst>
                  <a:ext uri="{FF2B5EF4-FFF2-40B4-BE49-F238E27FC236}">
                    <a16:creationId xmlns:a16="http://schemas.microsoft.com/office/drawing/2014/main" id="{7A52476D-4578-4B53-8331-761635D3B48A}"/>
                  </a:ext>
                </a:extLst>
              </p:cNvPr>
              <p:cNvSpPr>
                <a:spLocks/>
              </p:cNvSpPr>
              <p:nvPr/>
            </p:nvSpPr>
            <p:spPr bwMode="auto">
              <a:xfrm>
                <a:off x="1902" y="2119"/>
                <a:ext cx="18" cy="24"/>
              </a:xfrm>
              <a:custGeom>
                <a:avLst/>
                <a:gdLst>
                  <a:gd name="T0" fmla="*/ 10 w 13"/>
                  <a:gd name="T1" fmla="*/ 17 h 17"/>
                  <a:gd name="T2" fmla="*/ 11 w 13"/>
                  <a:gd name="T3" fmla="*/ 12 h 17"/>
                  <a:gd name="T4" fmla="*/ 13 w 13"/>
                  <a:gd name="T5" fmla="*/ 10 h 17"/>
                  <a:gd name="T6" fmla="*/ 13 w 13"/>
                  <a:gd name="T7" fmla="*/ 8 h 17"/>
                  <a:gd name="T8" fmla="*/ 11 w 13"/>
                  <a:gd name="T9" fmla="*/ 6 h 17"/>
                  <a:gd name="T10" fmla="*/ 8 w 13"/>
                  <a:gd name="T11" fmla="*/ 4 h 17"/>
                  <a:gd name="T12" fmla="*/ 3 w 13"/>
                  <a:gd name="T13" fmla="*/ 0 h 17"/>
                  <a:gd name="T14" fmla="*/ 1 w 13"/>
                  <a:gd name="T15" fmla="*/ 1 h 17"/>
                  <a:gd name="T16" fmla="*/ 7 w 13"/>
                  <a:gd name="T17" fmla="*/ 3 h 17"/>
                  <a:gd name="T18" fmla="*/ 9 w 13"/>
                  <a:gd name="T19" fmla="*/ 6 h 17"/>
                  <a:gd name="T20" fmla="*/ 11 w 13"/>
                  <a:gd name="T21" fmla="*/ 7 h 17"/>
                  <a:gd name="T22" fmla="*/ 9 w 13"/>
                  <a:gd name="T23" fmla="*/ 14 h 17"/>
                  <a:gd name="T24" fmla="*/ 10 w 13"/>
                  <a:gd name="T25"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17">
                    <a:moveTo>
                      <a:pt x="10" y="17"/>
                    </a:moveTo>
                    <a:cubicBezTo>
                      <a:pt x="11" y="17"/>
                      <a:pt x="11" y="13"/>
                      <a:pt x="11" y="12"/>
                    </a:cubicBezTo>
                    <a:cubicBezTo>
                      <a:pt x="11" y="11"/>
                      <a:pt x="12" y="10"/>
                      <a:pt x="13" y="10"/>
                    </a:cubicBezTo>
                    <a:cubicBezTo>
                      <a:pt x="13" y="9"/>
                      <a:pt x="13" y="9"/>
                      <a:pt x="13" y="8"/>
                    </a:cubicBezTo>
                    <a:cubicBezTo>
                      <a:pt x="13" y="7"/>
                      <a:pt x="12" y="6"/>
                      <a:pt x="11" y="6"/>
                    </a:cubicBezTo>
                    <a:cubicBezTo>
                      <a:pt x="10" y="5"/>
                      <a:pt x="9" y="5"/>
                      <a:pt x="8" y="4"/>
                    </a:cubicBezTo>
                    <a:cubicBezTo>
                      <a:pt x="8" y="3"/>
                      <a:pt x="6" y="1"/>
                      <a:pt x="3" y="0"/>
                    </a:cubicBezTo>
                    <a:cubicBezTo>
                      <a:pt x="0" y="0"/>
                      <a:pt x="1" y="1"/>
                      <a:pt x="1" y="1"/>
                    </a:cubicBezTo>
                    <a:cubicBezTo>
                      <a:pt x="1" y="2"/>
                      <a:pt x="6" y="2"/>
                      <a:pt x="7" y="3"/>
                    </a:cubicBezTo>
                    <a:cubicBezTo>
                      <a:pt x="8" y="4"/>
                      <a:pt x="8" y="5"/>
                      <a:pt x="9" y="6"/>
                    </a:cubicBezTo>
                    <a:cubicBezTo>
                      <a:pt x="10" y="6"/>
                      <a:pt x="10" y="6"/>
                      <a:pt x="11" y="7"/>
                    </a:cubicBezTo>
                    <a:cubicBezTo>
                      <a:pt x="12" y="8"/>
                      <a:pt x="10" y="13"/>
                      <a:pt x="9" y="14"/>
                    </a:cubicBezTo>
                    <a:cubicBezTo>
                      <a:pt x="8" y="14"/>
                      <a:pt x="8" y="16"/>
                      <a:pt x="10" y="1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44" name="Freeform 453">
                <a:extLst>
                  <a:ext uri="{FF2B5EF4-FFF2-40B4-BE49-F238E27FC236}">
                    <a16:creationId xmlns:a16="http://schemas.microsoft.com/office/drawing/2014/main" id="{3A10F6C3-8E58-4332-B0C9-AC630CC43495}"/>
                  </a:ext>
                </a:extLst>
              </p:cNvPr>
              <p:cNvSpPr>
                <a:spLocks/>
              </p:cNvSpPr>
              <p:nvPr/>
            </p:nvSpPr>
            <p:spPr bwMode="auto">
              <a:xfrm>
                <a:off x="1891" y="2158"/>
                <a:ext cx="15" cy="20"/>
              </a:xfrm>
              <a:custGeom>
                <a:avLst/>
                <a:gdLst>
                  <a:gd name="T0" fmla="*/ 5 w 11"/>
                  <a:gd name="T1" fmla="*/ 0 h 15"/>
                  <a:gd name="T2" fmla="*/ 4 w 11"/>
                  <a:gd name="T3" fmla="*/ 2 h 15"/>
                  <a:gd name="T4" fmla="*/ 3 w 11"/>
                  <a:gd name="T5" fmla="*/ 6 h 15"/>
                  <a:gd name="T6" fmla="*/ 3 w 11"/>
                  <a:gd name="T7" fmla="*/ 9 h 15"/>
                  <a:gd name="T8" fmla="*/ 2 w 11"/>
                  <a:gd name="T9" fmla="*/ 9 h 15"/>
                  <a:gd name="T10" fmla="*/ 1 w 11"/>
                  <a:gd name="T11" fmla="*/ 8 h 15"/>
                  <a:gd name="T12" fmla="*/ 4 w 11"/>
                  <a:gd name="T13" fmla="*/ 12 h 15"/>
                  <a:gd name="T14" fmla="*/ 5 w 11"/>
                  <a:gd name="T15" fmla="*/ 13 h 15"/>
                  <a:gd name="T16" fmla="*/ 8 w 11"/>
                  <a:gd name="T17" fmla="*/ 14 h 15"/>
                  <a:gd name="T18" fmla="*/ 10 w 11"/>
                  <a:gd name="T19" fmla="*/ 12 h 15"/>
                  <a:gd name="T20" fmla="*/ 11 w 11"/>
                  <a:gd name="T21" fmla="*/ 9 h 15"/>
                  <a:gd name="T22" fmla="*/ 8 w 11"/>
                  <a:gd name="T23" fmla="*/ 3 h 15"/>
                  <a:gd name="T24" fmla="*/ 5 w 11"/>
                  <a:gd name="T25"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 h="15">
                    <a:moveTo>
                      <a:pt x="5" y="0"/>
                    </a:moveTo>
                    <a:cubicBezTo>
                      <a:pt x="3" y="0"/>
                      <a:pt x="4" y="1"/>
                      <a:pt x="4" y="2"/>
                    </a:cubicBezTo>
                    <a:cubicBezTo>
                      <a:pt x="4" y="3"/>
                      <a:pt x="4" y="5"/>
                      <a:pt x="3" y="6"/>
                    </a:cubicBezTo>
                    <a:cubicBezTo>
                      <a:pt x="2" y="7"/>
                      <a:pt x="2" y="7"/>
                      <a:pt x="3" y="9"/>
                    </a:cubicBezTo>
                    <a:cubicBezTo>
                      <a:pt x="5" y="10"/>
                      <a:pt x="3" y="10"/>
                      <a:pt x="2" y="9"/>
                    </a:cubicBezTo>
                    <a:cubicBezTo>
                      <a:pt x="2" y="8"/>
                      <a:pt x="1" y="8"/>
                      <a:pt x="1" y="8"/>
                    </a:cubicBezTo>
                    <a:cubicBezTo>
                      <a:pt x="0" y="10"/>
                      <a:pt x="2" y="11"/>
                      <a:pt x="4" y="12"/>
                    </a:cubicBezTo>
                    <a:cubicBezTo>
                      <a:pt x="5" y="12"/>
                      <a:pt x="5" y="12"/>
                      <a:pt x="5" y="13"/>
                    </a:cubicBezTo>
                    <a:cubicBezTo>
                      <a:pt x="6" y="15"/>
                      <a:pt x="7" y="15"/>
                      <a:pt x="8" y="14"/>
                    </a:cubicBezTo>
                    <a:cubicBezTo>
                      <a:pt x="9" y="13"/>
                      <a:pt x="9" y="12"/>
                      <a:pt x="10" y="12"/>
                    </a:cubicBezTo>
                    <a:cubicBezTo>
                      <a:pt x="11" y="11"/>
                      <a:pt x="11" y="10"/>
                      <a:pt x="11" y="9"/>
                    </a:cubicBezTo>
                    <a:cubicBezTo>
                      <a:pt x="10" y="8"/>
                      <a:pt x="9" y="5"/>
                      <a:pt x="8" y="3"/>
                    </a:cubicBezTo>
                    <a:cubicBezTo>
                      <a:pt x="8" y="2"/>
                      <a:pt x="6" y="1"/>
                      <a:pt x="5"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45" name="Freeform 454">
                <a:extLst>
                  <a:ext uri="{FF2B5EF4-FFF2-40B4-BE49-F238E27FC236}">
                    <a16:creationId xmlns:a16="http://schemas.microsoft.com/office/drawing/2014/main" id="{CA9C9F63-F833-4A15-9640-986D51563E19}"/>
                  </a:ext>
                </a:extLst>
              </p:cNvPr>
              <p:cNvSpPr>
                <a:spLocks/>
              </p:cNvSpPr>
              <p:nvPr/>
            </p:nvSpPr>
            <p:spPr bwMode="auto">
              <a:xfrm>
                <a:off x="1900" y="2177"/>
                <a:ext cx="11" cy="14"/>
              </a:xfrm>
              <a:custGeom>
                <a:avLst/>
                <a:gdLst>
                  <a:gd name="T0" fmla="*/ 7 w 8"/>
                  <a:gd name="T1" fmla="*/ 4 h 10"/>
                  <a:gd name="T2" fmla="*/ 6 w 8"/>
                  <a:gd name="T3" fmla="*/ 2 h 10"/>
                  <a:gd name="T4" fmla="*/ 5 w 8"/>
                  <a:gd name="T5" fmla="*/ 1 h 10"/>
                  <a:gd name="T6" fmla="*/ 2 w 8"/>
                  <a:gd name="T7" fmla="*/ 2 h 10"/>
                  <a:gd name="T8" fmla="*/ 3 w 8"/>
                  <a:gd name="T9" fmla="*/ 4 h 10"/>
                  <a:gd name="T10" fmla="*/ 4 w 8"/>
                  <a:gd name="T11" fmla="*/ 6 h 10"/>
                  <a:gd name="T12" fmla="*/ 4 w 8"/>
                  <a:gd name="T13" fmla="*/ 9 h 10"/>
                  <a:gd name="T14" fmla="*/ 7 w 8"/>
                  <a:gd name="T15" fmla="*/ 8 h 10"/>
                  <a:gd name="T16" fmla="*/ 7 w 8"/>
                  <a:gd name="T17" fmla="*/ 4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0">
                    <a:moveTo>
                      <a:pt x="7" y="4"/>
                    </a:moveTo>
                    <a:cubicBezTo>
                      <a:pt x="7" y="3"/>
                      <a:pt x="7" y="1"/>
                      <a:pt x="6" y="2"/>
                    </a:cubicBezTo>
                    <a:cubicBezTo>
                      <a:pt x="5" y="3"/>
                      <a:pt x="4" y="2"/>
                      <a:pt x="5" y="1"/>
                    </a:cubicBezTo>
                    <a:cubicBezTo>
                      <a:pt x="5" y="0"/>
                      <a:pt x="4" y="0"/>
                      <a:pt x="2" y="2"/>
                    </a:cubicBezTo>
                    <a:cubicBezTo>
                      <a:pt x="0" y="3"/>
                      <a:pt x="3" y="4"/>
                      <a:pt x="3" y="4"/>
                    </a:cubicBezTo>
                    <a:cubicBezTo>
                      <a:pt x="3" y="4"/>
                      <a:pt x="3" y="4"/>
                      <a:pt x="4" y="6"/>
                    </a:cubicBezTo>
                    <a:cubicBezTo>
                      <a:pt x="4" y="7"/>
                      <a:pt x="4" y="8"/>
                      <a:pt x="4" y="9"/>
                    </a:cubicBezTo>
                    <a:cubicBezTo>
                      <a:pt x="5" y="10"/>
                      <a:pt x="6" y="9"/>
                      <a:pt x="7" y="8"/>
                    </a:cubicBezTo>
                    <a:cubicBezTo>
                      <a:pt x="8" y="7"/>
                      <a:pt x="7" y="4"/>
                      <a:pt x="7"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46" name="Freeform 455">
                <a:extLst>
                  <a:ext uri="{FF2B5EF4-FFF2-40B4-BE49-F238E27FC236}">
                    <a16:creationId xmlns:a16="http://schemas.microsoft.com/office/drawing/2014/main" id="{F364DEEA-2FE2-40D6-BFF9-FD352C493E6B}"/>
                  </a:ext>
                </a:extLst>
              </p:cNvPr>
              <p:cNvSpPr>
                <a:spLocks/>
              </p:cNvSpPr>
              <p:nvPr/>
            </p:nvSpPr>
            <p:spPr bwMode="auto">
              <a:xfrm>
                <a:off x="1936" y="2159"/>
                <a:ext cx="4" cy="13"/>
              </a:xfrm>
              <a:custGeom>
                <a:avLst/>
                <a:gdLst>
                  <a:gd name="T0" fmla="*/ 0 w 3"/>
                  <a:gd name="T1" fmla="*/ 6 h 9"/>
                  <a:gd name="T2" fmla="*/ 2 w 3"/>
                  <a:gd name="T3" fmla="*/ 6 h 9"/>
                  <a:gd name="T4" fmla="*/ 2 w 3"/>
                  <a:gd name="T5" fmla="*/ 2 h 9"/>
                  <a:gd name="T6" fmla="*/ 2 w 3"/>
                  <a:gd name="T7" fmla="*/ 2 h 9"/>
                  <a:gd name="T8" fmla="*/ 1 w 3"/>
                  <a:gd name="T9" fmla="*/ 5 h 9"/>
                  <a:gd name="T10" fmla="*/ 0 w 3"/>
                  <a:gd name="T11" fmla="*/ 6 h 9"/>
                </a:gdLst>
                <a:ahLst/>
                <a:cxnLst>
                  <a:cxn ang="0">
                    <a:pos x="T0" y="T1"/>
                  </a:cxn>
                  <a:cxn ang="0">
                    <a:pos x="T2" y="T3"/>
                  </a:cxn>
                  <a:cxn ang="0">
                    <a:pos x="T4" y="T5"/>
                  </a:cxn>
                  <a:cxn ang="0">
                    <a:pos x="T6" y="T7"/>
                  </a:cxn>
                  <a:cxn ang="0">
                    <a:pos x="T8" y="T9"/>
                  </a:cxn>
                  <a:cxn ang="0">
                    <a:pos x="T10" y="T11"/>
                  </a:cxn>
                </a:cxnLst>
                <a:rect l="0" t="0" r="r" b="b"/>
                <a:pathLst>
                  <a:path w="3" h="9">
                    <a:moveTo>
                      <a:pt x="0" y="6"/>
                    </a:moveTo>
                    <a:cubicBezTo>
                      <a:pt x="0" y="6"/>
                      <a:pt x="2" y="9"/>
                      <a:pt x="2" y="6"/>
                    </a:cubicBezTo>
                    <a:cubicBezTo>
                      <a:pt x="2" y="4"/>
                      <a:pt x="2" y="3"/>
                      <a:pt x="2" y="2"/>
                    </a:cubicBezTo>
                    <a:cubicBezTo>
                      <a:pt x="2" y="1"/>
                      <a:pt x="3" y="0"/>
                      <a:pt x="2" y="2"/>
                    </a:cubicBezTo>
                    <a:cubicBezTo>
                      <a:pt x="1" y="4"/>
                      <a:pt x="2" y="4"/>
                      <a:pt x="1" y="5"/>
                    </a:cubicBezTo>
                    <a:cubicBezTo>
                      <a:pt x="1" y="5"/>
                      <a:pt x="0" y="5"/>
                      <a:pt x="0"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47" name="Freeform 456">
                <a:extLst>
                  <a:ext uri="{FF2B5EF4-FFF2-40B4-BE49-F238E27FC236}">
                    <a16:creationId xmlns:a16="http://schemas.microsoft.com/office/drawing/2014/main" id="{AF3DF5DC-8A0E-4E5A-8571-FFBA79664050}"/>
                  </a:ext>
                </a:extLst>
              </p:cNvPr>
              <p:cNvSpPr>
                <a:spLocks/>
              </p:cNvSpPr>
              <p:nvPr/>
            </p:nvSpPr>
            <p:spPr bwMode="auto">
              <a:xfrm>
                <a:off x="1947" y="2170"/>
                <a:ext cx="9" cy="11"/>
              </a:xfrm>
              <a:custGeom>
                <a:avLst/>
                <a:gdLst>
                  <a:gd name="T0" fmla="*/ 5 w 7"/>
                  <a:gd name="T1" fmla="*/ 6 h 8"/>
                  <a:gd name="T2" fmla="*/ 5 w 7"/>
                  <a:gd name="T3" fmla="*/ 7 h 8"/>
                  <a:gd name="T4" fmla="*/ 0 w 7"/>
                  <a:gd name="T5" fmla="*/ 0 h 8"/>
                  <a:gd name="T6" fmla="*/ 5 w 7"/>
                  <a:gd name="T7" fmla="*/ 6 h 8"/>
                </a:gdLst>
                <a:ahLst/>
                <a:cxnLst>
                  <a:cxn ang="0">
                    <a:pos x="T0" y="T1"/>
                  </a:cxn>
                  <a:cxn ang="0">
                    <a:pos x="T2" y="T3"/>
                  </a:cxn>
                  <a:cxn ang="0">
                    <a:pos x="T4" y="T5"/>
                  </a:cxn>
                  <a:cxn ang="0">
                    <a:pos x="T6" y="T7"/>
                  </a:cxn>
                </a:cxnLst>
                <a:rect l="0" t="0" r="r" b="b"/>
                <a:pathLst>
                  <a:path w="7" h="8">
                    <a:moveTo>
                      <a:pt x="5" y="6"/>
                    </a:moveTo>
                    <a:cubicBezTo>
                      <a:pt x="5" y="8"/>
                      <a:pt x="4" y="8"/>
                      <a:pt x="5" y="7"/>
                    </a:cubicBezTo>
                    <a:cubicBezTo>
                      <a:pt x="7" y="6"/>
                      <a:pt x="0" y="0"/>
                      <a:pt x="0" y="0"/>
                    </a:cubicBezTo>
                    <a:cubicBezTo>
                      <a:pt x="0" y="0"/>
                      <a:pt x="4" y="5"/>
                      <a:pt x="5"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48" name="Freeform 457">
                <a:extLst>
                  <a:ext uri="{FF2B5EF4-FFF2-40B4-BE49-F238E27FC236}">
                    <a16:creationId xmlns:a16="http://schemas.microsoft.com/office/drawing/2014/main" id="{61C14EE6-2F33-4EE0-A9C7-75FF70E35A09}"/>
                  </a:ext>
                </a:extLst>
              </p:cNvPr>
              <p:cNvSpPr>
                <a:spLocks/>
              </p:cNvSpPr>
              <p:nvPr/>
            </p:nvSpPr>
            <p:spPr bwMode="auto">
              <a:xfrm>
                <a:off x="1958" y="2199"/>
                <a:ext cx="4" cy="5"/>
              </a:xfrm>
              <a:custGeom>
                <a:avLst/>
                <a:gdLst>
                  <a:gd name="T0" fmla="*/ 1 w 3"/>
                  <a:gd name="T1" fmla="*/ 2 h 4"/>
                  <a:gd name="T2" fmla="*/ 3 w 3"/>
                  <a:gd name="T3" fmla="*/ 3 h 4"/>
                  <a:gd name="T4" fmla="*/ 2 w 3"/>
                  <a:gd name="T5" fmla="*/ 0 h 4"/>
                  <a:gd name="T6" fmla="*/ 1 w 3"/>
                  <a:gd name="T7" fmla="*/ 2 h 4"/>
                </a:gdLst>
                <a:ahLst/>
                <a:cxnLst>
                  <a:cxn ang="0">
                    <a:pos x="T0" y="T1"/>
                  </a:cxn>
                  <a:cxn ang="0">
                    <a:pos x="T2" y="T3"/>
                  </a:cxn>
                  <a:cxn ang="0">
                    <a:pos x="T4" y="T5"/>
                  </a:cxn>
                  <a:cxn ang="0">
                    <a:pos x="T6" y="T7"/>
                  </a:cxn>
                </a:cxnLst>
                <a:rect l="0" t="0" r="r" b="b"/>
                <a:pathLst>
                  <a:path w="3" h="4">
                    <a:moveTo>
                      <a:pt x="1" y="2"/>
                    </a:moveTo>
                    <a:cubicBezTo>
                      <a:pt x="2" y="3"/>
                      <a:pt x="3" y="4"/>
                      <a:pt x="3" y="3"/>
                    </a:cubicBezTo>
                    <a:cubicBezTo>
                      <a:pt x="3" y="2"/>
                      <a:pt x="3" y="1"/>
                      <a:pt x="2" y="0"/>
                    </a:cubicBezTo>
                    <a:cubicBezTo>
                      <a:pt x="2" y="0"/>
                      <a:pt x="0" y="1"/>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49" name="Freeform 458">
                <a:extLst>
                  <a:ext uri="{FF2B5EF4-FFF2-40B4-BE49-F238E27FC236}">
                    <a16:creationId xmlns:a16="http://schemas.microsoft.com/office/drawing/2014/main" id="{695179A1-4D1D-4FA0-ABDF-E0011BD15F0F}"/>
                  </a:ext>
                </a:extLst>
              </p:cNvPr>
              <p:cNvSpPr>
                <a:spLocks/>
              </p:cNvSpPr>
              <p:nvPr/>
            </p:nvSpPr>
            <p:spPr bwMode="auto">
              <a:xfrm>
                <a:off x="1944" y="2193"/>
                <a:ext cx="4" cy="3"/>
              </a:xfrm>
              <a:custGeom>
                <a:avLst/>
                <a:gdLst>
                  <a:gd name="T0" fmla="*/ 3 w 3"/>
                  <a:gd name="T1" fmla="*/ 1 h 2"/>
                  <a:gd name="T2" fmla="*/ 0 w 3"/>
                  <a:gd name="T3" fmla="*/ 0 h 2"/>
                  <a:gd name="T4" fmla="*/ 3 w 3"/>
                  <a:gd name="T5" fmla="*/ 1 h 2"/>
                </a:gdLst>
                <a:ahLst/>
                <a:cxnLst>
                  <a:cxn ang="0">
                    <a:pos x="T0" y="T1"/>
                  </a:cxn>
                  <a:cxn ang="0">
                    <a:pos x="T2" y="T3"/>
                  </a:cxn>
                  <a:cxn ang="0">
                    <a:pos x="T4" y="T5"/>
                  </a:cxn>
                </a:cxnLst>
                <a:rect l="0" t="0" r="r" b="b"/>
                <a:pathLst>
                  <a:path w="3" h="2">
                    <a:moveTo>
                      <a:pt x="3" y="1"/>
                    </a:moveTo>
                    <a:cubicBezTo>
                      <a:pt x="3" y="1"/>
                      <a:pt x="0" y="0"/>
                      <a:pt x="0" y="0"/>
                    </a:cubicBezTo>
                    <a:cubicBezTo>
                      <a:pt x="0" y="0"/>
                      <a:pt x="2" y="2"/>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50" name="Freeform 459">
                <a:extLst>
                  <a:ext uri="{FF2B5EF4-FFF2-40B4-BE49-F238E27FC236}">
                    <a16:creationId xmlns:a16="http://schemas.microsoft.com/office/drawing/2014/main" id="{1DE2F462-9EB9-4272-B142-13313542D4E1}"/>
                  </a:ext>
                </a:extLst>
              </p:cNvPr>
              <p:cNvSpPr>
                <a:spLocks/>
              </p:cNvSpPr>
              <p:nvPr/>
            </p:nvSpPr>
            <p:spPr bwMode="auto">
              <a:xfrm>
                <a:off x="1976" y="2209"/>
                <a:ext cx="12" cy="15"/>
              </a:xfrm>
              <a:custGeom>
                <a:avLst/>
                <a:gdLst>
                  <a:gd name="T0" fmla="*/ 6 w 9"/>
                  <a:gd name="T1" fmla="*/ 5 h 11"/>
                  <a:gd name="T2" fmla="*/ 3 w 9"/>
                  <a:gd name="T3" fmla="*/ 9 h 11"/>
                  <a:gd name="T4" fmla="*/ 7 w 9"/>
                  <a:gd name="T5" fmla="*/ 2 h 11"/>
                  <a:gd name="T6" fmla="*/ 5 w 9"/>
                  <a:gd name="T7" fmla="*/ 3 h 11"/>
                  <a:gd name="T8" fmla="*/ 6 w 9"/>
                  <a:gd name="T9" fmla="*/ 5 h 11"/>
                </a:gdLst>
                <a:ahLst/>
                <a:cxnLst>
                  <a:cxn ang="0">
                    <a:pos x="T0" y="T1"/>
                  </a:cxn>
                  <a:cxn ang="0">
                    <a:pos x="T2" y="T3"/>
                  </a:cxn>
                  <a:cxn ang="0">
                    <a:pos x="T4" y="T5"/>
                  </a:cxn>
                  <a:cxn ang="0">
                    <a:pos x="T6" y="T7"/>
                  </a:cxn>
                  <a:cxn ang="0">
                    <a:pos x="T8" y="T9"/>
                  </a:cxn>
                </a:cxnLst>
                <a:rect l="0" t="0" r="r" b="b"/>
                <a:pathLst>
                  <a:path w="9" h="11">
                    <a:moveTo>
                      <a:pt x="6" y="5"/>
                    </a:moveTo>
                    <a:cubicBezTo>
                      <a:pt x="5" y="6"/>
                      <a:pt x="0" y="11"/>
                      <a:pt x="3" y="9"/>
                    </a:cubicBezTo>
                    <a:cubicBezTo>
                      <a:pt x="5" y="7"/>
                      <a:pt x="9" y="5"/>
                      <a:pt x="7" y="2"/>
                    </a:cubicBezTo>
                    <a:cubicBezTo>
                      <a:pt x="6" y="0"/>
                      <a:pt x="3" y="4"/>
                      <a:pt x="5" y="3"/>
                    </a:cubicBezTo>
                    <a:cubicBezTo>
                      <a:pt x="5" y="3"/>
                      <a:pt x="8" y="4"/>
                      <a:pt x="6"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51" name="Freeform 460">
                <a:extLst>
                  <a:ext uri="{FF2B5EF4-FFF2-40B4-BE49-F238E27FC236}">
                    <a16:creationId xmlns:a16="http://schemas.microsoft.com/office/drawing/2014/main" id="{FAF4E510-4B7C-4A55-A8A7-6831D4ACC56E}"/>
                  </a:ext>
                </a:extLst>
              </p:cNvPr>
              <p:cNvSpPr>
                <a:spLocks/>
              </p:cNvSpPr>
              <p:nvPr/>
            </p:nvSpPr>
            <p:spPr bwMode="auto">
              <a:xfrm>
                <a:off x="1998" y="2217"/>
                <a:ext cx="12" cy="3"/>
              </a:xfrm>
              <a:custGeom>
                <a:avLst/>
                <a:gdLst>
                  <a:gd name="T0" fmla="*/ 7 w 9"/>
                  <a:gd name="T1" fmla="*/ 2 h 2"/>
                  <a:gd name="T2" fmla="*/ 4 w 9"/>
                  <a:gd name="T3" fmla="*/ 0 h 2"/>
                  <a:gd name="T4" fmla="*/ 1 w 9"/>
                  <a:gd name="T5" fmla="*/ 1 h 2"/>
                  <a:gd name="T6" fmla="*/ 3 w 9"/>
                  <a:gd name="T7" fmla="*/ 2 h 2"/>
                  <a:gd name="T8" fmla="*/ 7 w 9"/>
                  <a:gd name="T9" fmla="*/ 2 h 2"/>
                </a:gdLst>
                <a:ahLst/>
                <a:cxnLst>
                  <a:cxn ang="0">
                    <a:pos x="T0" y="T1"/>
                  </a:cxn>
                  <a:cxn ang="0">
                    <a:pos x="T2" y="T3"/>
                  </a:cxn>
                  <a:cxn ang="0">
                    <a:pos x="T4" y="T5"/>
                  </a:cxn>
                  <a:cxn ang="0">
                    <a:pos x="T6" y="T7"/>
                  </a:cxn>
                  <a:cxn ang="0">
                    <a:pos x="T8" y="T9"/>
                  </a:cxn>
                </a:cxnLst>
                <a:rect l="0" t="0" r="r" b="b"/>
                <a:pathLst>
                  <a:path w="9" h="2">
                    <a:moveTo>
                      <a:pt x="7" y="2"/>
                    </a:moveTo>
                    <a:cubicBezTo>
                      <a:pt x="9" y="2"/>
                      <a:pt x="5" y="0"/>
                      <a:pt x="4" y="0"/>
                    </a:cubicBezTo>
                    <a:cubicBezTo>
                      <a:pt x="3" y="0"/>
                      <a:pt x="2" y="0"/>
                      <a:pt x="1" y="1"/>
                    </a:cubicBezTo>
                    <a:cubicBezTo>
                      <a:pt x="0" y="2"/>
                      <a:pt x="3" y="2"/>
                      <a:pt x="3" y="2"/>
                    </a:cubicBezTo>
                    <a:cubicBezTo>
                      <a:pt x="3" y="2"/>
                      <a:pt x="5" y="2"/>
                      <a:pt x="7"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52" name="Freeform 461">
                <a:extLst>
                  <a:ext uri="{FF2B5EF4-FFF2-40B4-BE49-F238E27FC236}">
                    <a16:creationId xmlns:a16="http://schemas.microsoft.com/office/drawing/2014/main" id="{6AFC9882-04FE-417A-82EB-039F598C1E6E}"/>
                  </a:ext>
                </a:extLst>
              </p:cNvPr>
              <p:cNvSpPr>
                <a:spLocks/>
              </p:cNvSpPr>
              <p:nvPr/>
            </p:nvSpPr>
            <p:spPr bwMode="auto">
              <a:xfrm>
                <a:off x="1987" y="2240"/>
                <a:ext cx="18" cy="10"/>
              </a:xfrm>
              <a:custGeom>
                <a:avLst/>
                <a:gdLst>
                  <a:gd name="T0" fmla="*/ 8 w 13"/>
                  <a:gd name="T1" fmla="*/ 3 h 7"/>
                  <a:gd name="T2" fmla="*/ 5 w 13"/>
                  <a:gd name="T3" fmla="*/ 3 h 7"/>
                  <a:gd name="T4" fmla="*/ 2 w 13"/>
                  <a:gd name="T5" fmla="*/ 4 h 7"/>
                  <a:gd name="T6" fmla="*/ 3 w 13"/>
                  <a:gd name="T7" fmla="*/ 7 h 7"/>
                  <a:gd name="T8" fmla="*/ 10 w 13"/>
                  <a:gd name="T9" fmla="*/ 5 h 7"/>
                  <a:gd name="T10" fmla="*/ 11 w 13"/>
                  <a:gd name="T11" fmla="*/ 1 h 7"/>
                  <a:gd name="T12" fmla="*/ 8 w 13"/>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13" h="7">
                    <a:moveTo>
                      <a:pt x="8" y="3"/>
                    </a:moveTo>
                    <a:cubicBezTo>
                      <a:pt x="7" y="3"/>
                      <a:pt x="6" y="2"/>
                      <a:pt x="5" y="3"/>
                    </a:cubicBezTo>
                    <a:cubicBezTo>
                      <a:pt x="3" y="3"/>
                      <a:pt x="2" y="4"/>
                      <a:pt x="2" y="4"/>
                    </a:cubicBezTo>
                    <a:cubicBezTo>
                      <a:pt x="2" y="4"/>
                      <a:pt x="0" y="6"/>
                      <a:pt x="3" y="7"/>
                    </a:cubicBezTo>
                    <a:cubicBezTo>
                      <a:pt x="6" y="7"/>
                      <a:pt x="9" y="7"/>
                      <a:pt x="10" y="5"/>
                    </a:cubicBezTo>
                    <a:cubicBezTo>
                      <a:pt x="11" y="3"/>
                      <a:pt x="13" y="0"/>
                      <a:pt x="11" y="1"/>
                    </a:cubicBezTo>
                    <a:cubicBezTo>
                      <a:pt x="10" y="2"/>
                      <a:pt x="9" y="4"/>
                      <a:pt x="8"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53" name="Freeform 462">
                <a:extLst>
                  <a:ext uri="{FF2B5EF4-FFF2-40B4-BE49-F238E27FC236}">
                    <a16:creationId xmlns:a16="http://schemas.microsoft.com/office/drawing/2014/main" id="{12C51284-3737-4C57-B532-8DF1955E2CD6}"/>
                  </a:ext>
                </a:extLst>
              </p:cNvPr>
              <p:cNvSpPr>
                <a:spLocks/>
              </p:cNvSpPr>
              <p:nvPr/>
            </p:nvSpPr>
            <p:spPr bwMode="auto">
              <a:xfrm>
                <a:off x="1971" y="2180"/>
                <a:ext cx="3" cy="4"/>
              </a:xfrm>
              <a:custGeom>
                <a:avLst/>
                <a:gdLst>
                  <a:gd name="T0" fmla="*/ 1 w 2"/>
                  <a:gd name="T1" fmla="*/ 1 h 3"/>
                  <a:gd name="T2" fmla="*/ 0 w 2"/>
                  <a:gd name="T3" fmla="*/ 3 h 3"/>
                  <a:gd name="T4" fmla="*/ 1 w 2"/>
                  <a:gd name="T5" fmla="*/ 1 h 3"/>
                </a:gdLst>
                <a:ahLst/>
                <a:cxnLst>
                  <a:cxn ang="0">
                    <a:pos x="T0" y="T1"/>
                  </a:cxn>
                  <a:cxn ang="0">
                    <a:pos x="T2" y="T3"/>
                  </a:cxn>
                  <a:cxn ang="0">
                    <a:pos x="T4" y="T5"/>
                  </a:cxn>
                </a:cxnLst>
                <a:rect l="0" t="0" r="r" b="b"/>
                <a:pathLst>
                  <a:path w="2" h="3">
                    <a:moveTo>
                      <a:pt x="1" y="1"/>
                    </a:moveTo>
                    <a:cubicBezTo>
                      <a:pt x="0" y="2"/>
                      <a:pt x="0" y="3"/>
                      <a:pt x="0" y="3"/>
                    </a:cubicBezTo>
                    <a:cubicBezTo>
                      <a:pt x="0" y="3"/>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54" name="Freeform 463">
                <a:extLst>
                  <a:ext uri="{FF2B5EF4-FFF2-40B4-BE49-F238E27FC236}">
                    <a16:creationId xmlns:a16="http://schemas.microsoft.com/office/drawing/2014/main" id="{F7962127-5B3A-4053-8ACF-7C8A3AEE7CF2}"/>
                  </a:ext>
                </a:extLst>
              </p:cNvPr>
              <p:cNvSpPr>
                <a:spLocks/>
              </p:cNvSpPr>
              <p:nvPr/>
            </p:nvSpPr>
            <p:spPr bwMode="auto">
              <a:xfrm>
                <a:off x="2025" y="2229"/>
                <a:ext cx="7" cy="3"/>
              </a:xfrm>
              <a:custGeom>
                <a:avLst/>
                <a:gdLst>
                  <a:gd name="T0" fmla="*/ 4 w 5"/>
                  <a:gd name="T1" fmla="*/ 1 h 2"/>
                  <a:gd name="T2" fmla="*/ 1 w 5"/>
                  <a:gd name="T3" fmla="*/ 2 h 2"/>
                  <a:gd name="T4" fmla="*/ 4 w 5"/>
                  <a:gd name="T5" fmla="*/ 1 h 2"/>
                </a:gdLst>
                <a:ahLst/>
                <a:cxnLst>
                  <a:cxn ang="0">
                    <a:pos x="T0" y="T1"/>
                  </a:cxn>
                  <a:cxn ang="0">
                    <a:pos x="T2" y="T3"/>
                  </a:cxn>
                  <a:cxn ang="0">
                    <a:pos x="T4" y="T5"/>
                  </a:cxn>
                </a:cxnLst>
                <a:rect l="0" t="0" r="r" b="b"/>
                <a:pathLst>
                  <a:path w="5" h="2">
                    <a:moveTo>
                      <a:pt x="4" y="1"/>
                    </a:moveTo>
                    <a:cubicBezTo>
                      <a:pt x="3" y="0"/>
                      <a:pt x="0" y="1"/>
                      <a:pt x="1" y="2"/>
                    </a:cubicBezTo>
                    <a:cubicBezTo>
                      <a:pt x="1" y="2"/>
                      <a:pt x="5" y="2"/>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55" name="Freeform 464">
                <a:extLst>
                  <a:ext uri="{FF2B5EF4-FFF2-40B4-BE49-F238E27FC236}">
                    <a16:creationId xmlns:a16="http://schemas.microsoft.com/office/drawing/2014/main" id="{2C5E5F42-8DDB-4B95-9CBF-9DFE8B5CEBEE}"/>
                  </a:ext>
                </a:extLst>
              </p:cNvPr>
              <p:cNvSpPr>
                <a:spLocks/>
              </p:cNvSpPr>
              <p:nvPr/>
            </p:nvSpPr>
            <p:spPr bwMode="auto">
              <a:xfrm>
                <a:off x="1794" y="2228"/>
                <a:ext cx="14" cy="11"/>
              </a:xfrm>
              <a:custGeom>
                <a:avLst/>
                <a:gdLst>
                  <a:gd name="T0" fmla="*/ 3 w 10"/>
                  <a:gd name="T1" fmla="*/ 7 h 8"/>
                  <a:gd name="T2" fmla="*/ 9 w 10"/>
                  <a:gd name="T3" fmla="*/ 6 h 8"/>
                  <a:gd name="T4" fmla="*/ 7 w 10"/>
                  <a:gd name="T5" fmla="*/ 2 h 8"/>
                  <a:gd name="T6" fmla="*/ 4 w 10"/>
                  <a:gd name="T7" fmla="*/ 0 h 8"/>
                  <a:gd name="T8" fmla="*/ 2 w 10"/>
                  <a:gd name="T9" fmla="*/ 2 h 8"/>
                  <a:gd name="T10" fmla="*/ 3 w 10"/>
                  <a:gd name="T11" fmla="*/ 7 h 8"/>
                </a:gdLst>
                <a:ahLst/>
                <a:cxnLst>
                  <a:cxn ang="0">
                    <a:pos x="T0" y="T1"/>
                  </a:cxn>
                  <a:cxn ang="0">
                    <a:pos x="T2" y="T3"/>
                  </a:cxn>
                  <a:cxn ang="0">
                    <a:pos x="T4" y="T5"/>
                  </a:cxn>
                  <a:cxn ang="0">
                    <a:pos x="T6" y="T7"/>
                  </a:cxn>
                  <a:cxn ang="0">
                    <a:pos x="T8" y="T9"/>
                  </a:cxn>
                  <a:cxn ang="0">
                    <a:pos x="T10" y="T11"/>
                  </a:cxn>
                </a:cxnLst>
                <a:rect l="0" t="0" r="r" b="b"/>
                <a:pathLst>
                  <a:path w="10" h="8">
                    <a:moveTo>
                      <a:pt x="3" y="7"/>
                    </a:moveTo>
                    <a:cubicBezTo>
                      <a:pt x="5" y="8"/>
                      <a:pt x="7" y="7"/>
                      <a:pt x="9" y="6"/>
                    </a:cubicBezTo>
                    <a:cubicBezTo>
                      <a:pt x="10" y="5"/>
                      <a:pt x="8" y="3"/>
                      <a:pt x="7" y="2"/>
                    </a:cubicBezTo>
                    <a:cubicBezTo>
                      <a:pt x="7" y="1"/>
                      <a:pt x="6" y="1"/>
                      <a:pt x="4" y="0"/>
                    </a:cubicBezTo>
                    <a:cubicBezTo>
                      <a:pt x="1" y="0"/>
                      <a:pt x="2" y="2"/>
                      <a:pt x="2" y="2"/>
                    </a:cubicBezTo>
                    <a:cubicBezTo>
                      <a:pt x="0" y="4"/>
                      <a:pt x="2" y="6"/>
                      <a:pt x="3"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56" name="Freeform 465">
                <a:extLst>
                  <a:ext uri="{FF2B5EF4-FFF2-40B4-BE49-F238E27FC236}">
                    <a16:creationId xmlns:a16="http://schemas.microsoft.com/office/drawing/2014/main" id="{A114F9FE-2B14-4F7B-A9D1-A12409D680EE}"/>
                  </a:ext>
                </a:extLst>
              </p:cNvPr>
              <p:cNvSpPr>
                <a:spLocks/>
              </p:cNvSpPr>
              <p:nvPr/>
            </p:nvSpPr>
            <p:spPr bwMode="auto">
              <a:xfrm>
                <a:off x="1754" y="2200"/>
                <a:ext cx="229" cy="74"/>
              </a:xfrm>
              <a:custGeom>
                <a:avLst/>
                <a:gdLst>
                  <a:gd name="T0" fmla="*/ 151 w 165"/>
                  <a:gd name="T1" fmla="*/ 51 h 54"/>
                  <a:gd name="T2" fmla="*/ 160 w 165"/>
                  <a:gd name="T3" fmla="*/ 49 h 54"/>
                  <a:gd name="T4" fmla="*/ 157 w 165"/>
                  <a:gd name="T5" fmla="*/ 43 h 54"/>
                  <a:gd name="T6" fmla="*/ 146 w 165"/>
                  <a:gd name="T7" fmla="*/ 39 h 54"/>
                  <a:gd name="T8" fmla="*/ 142 w 165"/>
                  <a:gd name="T9" fmla="*/ 37 h 54"/>
                  <a:gd name="T10" fmla="*/ 136 w 165"/>
                  <a:gd name="T11" fmla="*/ 33 h 54"/>
                  <a:gd name="T12" fmla="*/ 132 w 165"/>
                  <a:gd name="T13" fmla="*/ 32 h 54"/>
                  <a:gd name="T14" fmla="*/ 129 w 165"/>
                  <a:gd name="T15" fmla="*/ 30 h 54"/>
                  <a:gd name="T16" fmla="*/ 121 w 165"/>
                  <a:gd name="T17" fmla="*/ 27 h 54"/>
                  <a:gd name="T18" fmla="*/ 116 w 165"/>
                  <a:gd name="T19" fmla="*/ 23 h 54"/>
                  <a:gd name="T20" fmla="*/ 115 w 165"/>
                  <a:gd name="T21" fmla="*/ 24 h 54"/>
                  <a:gd name="T22" fmla="*/ 106 w 165"/>
                  <a:gd name="T23" fmla="*/ 19 h 54"/>
                  <a:gd name="T24" fmla="*/ 89 w 165"/>
                  <a:gd name="T25" fmla="*/ 13 h 54"/>
                  <a:gd name="T26" fmla="*/ 82 w 165"/>
                  <a:gd name="T27" fmla="*/ 9 h 54"/>
                  <a:gd name="T28" fmla="*/ 76 w 165"/>
                  <a:gd name="T29" fmla="*/ 6 h 54"/>
                  <a:gd name="T30" fmla="*/ 69 w 165"/>
                  <a:gd name="T31" fmla="*/ 4 h 54"/>
                  <a:gd name="T32" fmla="*/ 59 w 165"/>
                  <a:gd name="T33" fmla="*/ 2 h 54"/>
                  <a:gd name="T34" fmla="*/ 55 w 165"/>
                  <a:gd name="T35" fmla="*/ 2 h 54"/>
                  <a:gd name="T36" fmla="*/ 46 w 165"/>
                  <a:gd name="T37" fmla="*/ 1 h 54"/>
                  <a:gd name="T38" fmla="*/ 27 w 165"/>
                  <a:gd name="T39" fmla="*/ 5 h 54"/>
                  <a:gd name="T40" fmla="*/ 13 w 165"/>
                  <a:gd name="T41" fmla="*/ 11 h 54"/>
                  <a:gd name="T42" fmla="*/ 12 w 165"/>
                  <a:gd name="T43" fmla="*/ 17 h 54"/>
                  <a:gd name="T44" fmla="*/ 7 w 165"/>
                  <a:gd name="T45" fmla="*/ 19 h 54"/>
                  <a:gd name="T46" fmla="*/ 3 w 165"/>
                  <a:gd name="T47" fmla="*/ 21 h 54"/>
                  <a:gd name="T48" fmla="*/ 4 w 165"/>
                  <a:gd name="T49" fmla="*/ 22 h 54"/>
                  <a:gd name="T50" fmla="*/ 9 w 165"/>
                  <a:gd name="T51" fmla="*/ 23 h 54"/>
                  <a:gd name="T52" fmla="*/ 14 w 165"/>
                  <a:gd name="T53" fmla="*/ 21 h 54"/>
                  <a:gd name="T54" fmla="*/ 17 w 165"/>
                  <a:gd name="T55" fmla="*/ 18 h 54"/>
                  <a:gd name="T56" fmla="*/ 18 w 165"/>
                  <a:gd name="T57" fmla="*/ 17 h 54"/>
                  <a:gd name="T58" fmla="*/ 23 w 165"/>
                  <a:gd name="T59" fmla="*/ 16 h 54"/>
                  <a:gd name="T60" fmla="*/ 26 w 165"/>
                  <a:gd name="T61" fmla="*/ 15 h 54"/>
                  <a:gd name="T62" fmla="*/ 32 w 165"/>
                  <a:gd name="T63" fmla="*/ 11 h 54"/>
                  <a:gd name="T64" fmla="*/ 38 w 165"/>
                  <a:gd name="T65" fmla="*/ 8 h 54"/>
                  <a:gd name="T66" fmla="*/ 49 w 165"/>
                  <a:gd name="T67" fmla="*/ 9 h 54"/>
                  <a:gd name="T68" fmla="*/ 46 w 165"/>
                  <a:gd name="T69" fmla="*/ 13 h 54"/>
                  <a:gd name="T70" fmla="*/ 46 w 165"/>
                  <a:gd name="T71" fmla="*/ 15 h 54"/>
                  <a:gd name="T72" fmla="*/ 57 w 165"/>
                  <a:gd name="T73" fmla="*/ 15 h 54"/>
                  <a:gd name="T74" fmla="*/ 59 w 165"/>
                  <a:gd name="T75" fmla="*/ 16 h 54"/>
                  <a:gd name="T76" fmla="*/ 65 w 165"/>
                  <a:gd name="T77" fmla="*/ 18 h 54"/>
                  <a:gd name="T78" fmla="*/ 71 w 165"/>
                  <a:gd name="T79" fmla="*/ 20 h 54"/>
                  <a:gd name="T80" fmla="*/ 92 w 165"/>
                  <a:gd name="T81" fmla="*/ 25 h 54"/>
                  <a:gd name="T82" fmla="*/ 98 w 165"/>
                  <a:gd name="T83" fmla="*/ 32 h 54"/>
                  <a:gd name="T84" fmla="*/ 108 w 165"/>
                  <a:gd name="T85" fmla="*/ 39 h 54"/>
                  <a:gd name="T86" fmla="*/ 114 w 165"/>
                  <a:gd name="T87" fmla="*/ 39 h 54"/>
                  <a:gd name="T88" fmla="*/ 118 w 165"/>
                  <a:gd name="T89" fmla="*/ 42 h 54"/>
                  <a:gd name="T90" fmla="*/ 111 w 165"/>
                  <a:gd name="T91" fmla="*/ 51 h 54"/>
                  <a:gd name="T92" fmla="*/ 120 w 165"/>
                  <a:gd name="T93" fmla="*/ 52 h 54"/>
                  <a:gd name="T94" fmla="*/ 135 w 165"/>
                  <a:gd name="T95" fmla="*/ 51 h 54"/>
                  <a:gd name="T96" fmla="*/ 145 w 165"/>
                  <a:gd name="T97" fmla="*/ 52 h 54"/>
                  <a:gd name="T98" fmla="*/ 148 w 165"/>
                  <a:gd name="T99" fmla="*/ 51 h 54"/>
                  <a:gd name="T100" fmla="*/ 149 w 165"/>
                  <a:gd name="T101" fmla="*/ 51 h 54"/>
                  <a:gd name="T102" fmla="*/ 151 w 165"/>
                  <a:gd name="T103" fmla="*/ 5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5" h="54">
                    <a:moveTo>
                      <a:pt x="151" y="51"/>
                    </a:moveTo>
                    <a:cubicBezTo>
                      <a:pt x="152" y="50"/>
                      <a:pt x="156" y="49"/>
                      <a:pt x="160" y="49"/>
                    </a:cubicBezTo>
                    <a:cubicBezTo>
                      <a:pt x="165" y="48"/>
                      <a:pt x="162" y="46"/>
                      <a:pt x="157" y="43"/>
                    </a:cubicBezTo>
                    <a:cubicBezTo>
                      <a:pt x="152" y="40"/>
                      <a:pt x="147" y="39"/>
                      <a:pt x="146" y="39"/>
                    </a:cubicBezTo>
                    <a:cubicBezTo>
                      <a:pt x="146" y="39"/>
                      <a:pt x="143" y="41"/>
                      <a:pt x="142" y="37"/>
                    </a:cubicBezTo>
                    <a:cubicBezTo>
                      <a:pt x="141" y="32"/>
                      <a:pt x="138" y="33"/>
                      <a:pt x="136" y="33"/>
                    </a:cubicBezTo>
                    <a:cubicBezTo>
                      <a:pt x="135" y="33"/>
                      <a:pt x="133" y="33"/>
                      <a:pt x="132" y="32"/>
                    </a:cubicBezTo>
                    <a:cubicBezTo>
                      <a:pt x="132" y="31"/>
                      <a:pt x="131" y="31"/>
                      <a:pt x="129" y="30"/>
                    </a:cubicBezTo>
                    <a:cubicBezTo>
                      <a:pt x="127" y="29"/>
                      <a:pt x="122" y="28"/>
                      <a:pt x="121" y="27"/>
                    </a:cubicBezTo>
                    <a:cubicBezTo>
                      <a:pt x="120" y="27"/>
                      <a:pt x="118" y="25"/>
                      <a:pt x="116" y="23"/>
                    </a:cubicBezTo>
                    <a:cubicBezTo>
                      <a:pt x="114" y="22"/>
                      <a:pt x="114" y="23"/>
                      <a:pt x="115" y="24"/>
                    </a:cubicBezTo>
                    <a:cubicBezTo>
                      <a:pt x="115" y="25"/>
                      <a:pt x="111" y="23"/>
                      <a:pt x="106" y="19"/>
                    </a:cubicBezTo>
                    <a:cubicBezTo>
                      <a:pt x="101" y="15"/>
                      <a:pt x="91" y="14"/>
                      <a:pt x="89" y="13"/>
                    </a:cubicBezTo>
                    <a:cubicBezTo>
                      <a:pt x="87" y="12"/>
                      <a:pt x="84" y="12"/>
                      <a:pt x="82" y="9"/>
                    </a:cubicBezTo>
                    <a:cubicBezTo>
                      <a:pt x="81" y="7"/>
                      <a:pt x="77" y="6"/>
                      <a:pt x="76" y="6"/>
                    </a:cubicBezTo>
                    <a:cubicBezTo>
                      <a:pt x="75" y="5"/>
                      <a:pt x="72" y="6"/>
                      <a:pt x="69" y="4"/>
                    </a:cubicBezTo>
                    <a:cubicBezTo>
                      <a:pt x="66" y="1"/>
                      <a:pt x="60" y="3"/>
                      <a:pt x="59" y="2"/>
                    </a:cubicBezTo>
                    <a:cubicBezTo>
                      <a:pt x="58" y="2"/>
                      <a:pt x="57" y="2"/>
                      <a:pt x="55" y="2"/>
                    </a:cubicBezTo>
                    <a:cubicBezTo>
                      <a:pt x="54" y="2"/>
                      <a:pt x="47" y="1"/>
                      <a:pt x="46" y="1"/>
                    </a:cubicBezTo>
                    <a:cubicBezTo>
                      <a:pt x="44" y="0"/>
                      <a:pt x="30" y="4"/>
                      <a:pt x="27" y="5"/>
                    </a:cubicBezTo>
                    <a:cubicBezTo>
                      <a:pt x="25" y="6"/>
                      <a:pt x="15" y="9"/>
                      <a:pt x="13" y="11"/>
                    </a:cubicBezTo>
                    <a:cubicBezTo>
                      <a:pt x="11" y="12"/>
                      <a:pt x="10" y="15"/>
                      <a:pt x="12" y="17"/>
                    </a:cubicBezTo>
                    <a:cubicBezTo>
                      <a:pt x="13" y="20"/>
                      <a:pt x="9" y="19"/>
                      <a:pt x="7" y="19"/>
                    </a:cubicBezTo>
                    <a:cubicBezTo>
                      <a:pt x="6" y="19"/>
                      <a:pt x="6" y="20"/>
                      <a:pt x="3" y="21"/>
                    </a:cubicBezTo>
                    <a:cubicBezTo>
                      <a:pt x="0" y="22"/>
                      <a:pt x="4" y="22"/>
                      <a:pt x="4" y="22"/>
                    </a:cubicBezTo>
                    <a:cubicBezTo>
                      <a:pt x="5" y="22"/>
                      <a:pt x="8" y="22"/>
                      <a:pt x="9" y="23"/>
                    </a:cubicBezTo>
                    <a:cubicBezTo>
                      <a:pt x="10" y="23"/>
                      <a:pt x="11" y="22"/>
                      <a:pt x="14" y="21"/>
                    </a:cubicBezTo>
                    <a:cubicBezTo>
                      <a:pt x="17" y="20"/>
                      <a:pt x="16" y="19"/>
                      <a:pt x="17" y="18"/>
                    </a:cubicBezTo>
                    <a:cubicBezTo>
                      <a:pt x="17" y="17"/>
                      <a:pt x="17" y="18"/>
                      <a:pt x="18" y="17"/>
                    </a:cubicBezTo>
                    <a:cubicBezTo>
                      <a:pt x="19" y="16"/>
                      <a:pt x="21" y="15"/>
                      <a:pt x="23" y="16"/>
                    </a:cubicBezTo>
                    <a:cubicBezTo>
                      <a:pt x="24" y="16"/>
                      <a:pt x="25" y="16"/>
                      <a:pt x="26" y="15"/>
                    </a:cubicBezTo>
                    <a:cubicBezTo>
                      <a:pt x="27" y="14"/>
                      <a:pt x="30" y="12"/>
                      <a:pt x="32" y="11"/>
                    </a:cubicBezTo>
                    <a:cubicBezTo>
                      <a:pt x="35" y="9"/>
                      <a:pt x="35" y="8"/>
                      <a:pt x="38" y="8"/>
                    </a:cubicBezTo>
                    <a:cubicBezTo>
                      <a:pt x="40" y="8"/>
                      <a:pt x="45" y="8"/>
                      <a:pt x="49" y="9"/>
                    </a:cubicBezTo>
                    <a:cubicBezTo>
                      <a:pt x="54" y="11"/>
                      <a:pt x="48" y="13"/>
                      <a:pt x="46" y="13"/>
                    </a:cubicBezTo>
                    <a:cubicBezTo>
                      <a:pt x="45" y="13"/>
                      <a:pt x="42" y="12"/>
                      <a:pt x="46" y="15"/>
                    </a:cubicBezTo>
                    <a:cubicBezTo>
                      <a:pt x="51" y="18"/>
                      <a:pt x="56" y="16"/>
                      <a:pt x="57" y="15"/>
                    </a:cubicBezTo>
                    <a:cubicBezTo>
                      <a:pt x="58" y="15"/>
                      <a:pt x="57" y="14"/>
                      <a:pt x="59" y="16"/>
                    </a:cubicBezTo>
                    <a:cubicBezTo>
                      <a:pt x="61" y="19"/>
                      <a:pt x="63" y="18"/>
                      <a:pt x="65" y="18"/>
                    </a:cubicBezTo>
                    <a:cubicBezTo>
                      <a:pt x="67" y="18"/>
                      <a:pt x="68" y="17"/>
                      <a:pt x="71" y="20"/>
                    </a:cubicBezTo>
                    <a:cubicBezTo>
                      <a:pt x="75" y="23"/>
                      <a:pt x="89" y="25"/>
                      <a:pt x="92" y="25"/>
                    </a:cubicBezTo>
                    <a:cubicBezTo>
                      <a:pt x="95" y="25"/>
                      <a:pt x="97" y="27"/>
                      <a:pt x="98" y="32"/>
                    </a:cubicBezTo>
                    <a:cubicBezTo>
                      <a:pt x="98" y="36"/>
                      <a:pt x="107" y="38"/>
                      <a:pt x="108" y="39"/>
                    </a:cubicBezTo>
                    <a:cubicBezTo>
                      <a:pt x="109" y="39"/>
                      <a:pt x="113" y="40"/>
                      <a:pt x="114" y="39"/>
                    </a:cubicBezTo>
                    <a:cubicBezTo>
                      <a:pt x="115" y="39"/>
                      <a:pt x="116" y="39"/>
                      <a:pt x="118" y="42"/>
                    </a:cubicBezTo>
                    <a:cubicBezTo>
                      <a:pt x="120" y="45"/>
                      <a:pt x="115" y="47"/>
                      <a:pt x="111" y="51"/>
                    </a:cubicBezTo>
                    <a:cubicBezTo>
                      <a:pt x="106" y="54"/>
                      <a:pt x="117" y="53"/>
                      <a:pt x="120" y="52"/>
                    </a:cubicBezTo>
                    <a:cubicBezTo>
                      <a:pt x="122" y="52"/>
                      <a:pt x="132" y="51"/>
                      <a:pt x="135" y="51"/>
                    </a:cubicBezTo>
                    <a:cubicBezTo>
                      <a:pt x="138" y="51"/>
                      <a:pt x="145" y="52"/>
                      <a:pt x="145" y="52"/>
                    </a:cubicBezTo>
                    <a:cubicBezTo>
                      <a:pt x="146" y="52"/>
                      <a:pt x="147" y="52"/>
                      <a:pt x="148" y="51"/>
                    </a:cubicBezTo>
                    <a:cubicBezTo>
                      <a:pt x="149" y="50"/>
                      <a:pt x="149" y="51"/>
                      <a:pt x="149" y="51"/>
                    </a:cubicBezTo>
                    <a:cubicBezTo>
                      <a:pt x="149" y="52"/>
                      <a:pt x="149" y="52"/>
                      <a:pt x="151" y="5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57" name="Freeform 466">
                <a:extLst>
                  <a:ext uri="{FF2B5EF4-FFF2-40B4-BE49-F238E27FC236}">
                    <a16:creationId xmlns:a16="http://schemas.microsoft.com/office/drawing/2014/main" id="{EBEE9426-A917-4162-B719-436F898759D9}"/>
                  </a:ext>
                </a:extLst>
              </p:cNvPr>
              <p:cNvSpPr>
                <a:spLocks/>
              </p:cNvSpPr>
              <p:nvPr/>
            </p:nvSpPr>
            <p:spPr bwMode="auto">
              <a:xfrm>
                <a:off x="1887" y="2214"/>
                <a:ext cx="7" cy="4"/>
              </a:xfrm>
              <a:custGeom>
                <a:avLst/>
                <a:gdLst>
                  <a:gd name="T0" fmla="*/ 3 w 5"/>
                  <a:gd name="T1" fmla="*/ 1 h 3"/>
                  <a:gd name="T2" fmla="*/ 1 w 5"/>
                  <a:gd name="T3" fmla="*/ 1 h 3"/>
                  <a:gd name="T4" fmla="*/ 5 w 5"/>
                  <a:gd name="T5" fmla="*/ 2 h 3"/>
                  <a:gd name="T6" fmla="*/ 3 w 5"/>
                  <a:gd name="T7" fmla="*/ 1 h 3"/>
                </a:gdLst>
                <a:ahLst/>
                <a:cxnLst>
                  <a:cxn ang="0">
                    <a:pos x="T0" y="T1"/>
                  </a:cxn>
                  <a:cxn ang="0">
                    <a:pos x="T2" y="T3"/>
                  </a:cxn>
                  <a:cxn ang="0">
                    <a:pos x="T4" y="T5"/>
                  </a:cxn>
                  <a:cxn ang="0">
                    <a:pos x="T6" y="T7"/>
                  </a:cxn>
                </a:cxnLst>
                <a:rect l="0" t="0" r="r" b="b"/>
                <a:pathLst>
                  <a:path w="5" h="3">
                    <a:moveTo>
                      <a:pt x="3" y="1"/>
                    </a:moveTo>
                    <a:cubicBezTo>
                      <a:pt x="2" y="1"/>
                      <a:pt x="0" y="0"/>
                      <a:pt x="1" y="1"/>
                    </a:cubicBezTo>
                    <a:cubicBezTo>
                      <a:pt x="1" y="1"/>
                      <a:pt x="5" y="3"/>
                      <a:pt x="5" y="2"/>
                    </a:cubicBezTo>
                    <a:cubicBezTo>
                      <a:pt x="4" y="1"/>
                      <a:pt x="4" y="1"/>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58" name="Freeform 467">
                <a:extLst>
                  <a:ext uri="{FF2B5EF4-FFF2-40B4-BE49-F238E27FC236}">
                    <a16:creationId xmlns:a16="http://schemas.microsoft.com/office/drawing/2014/main" id="{B2CE1620-D5B1-44C4-8A2D-6601434BD9C3}"/>
                  </a:ext>
                </a:extLst>
              </p:cNvPr>
              <p:cNvSpPr>
                <a:spLocks/>
              </p:cNvSpPr>
              <p:nvPr/>
            </p:nvSpPr>
            <p:spPr bwMode="auto">
              <a:xfrm>
                <a:off x="1893" y="2215"/>
                <a:ext cx="8" cy="6"/>
              </a:xfrm>
              <a:custGeom>
                <a:avLst/>
                <a:gdLst>
                  <a:gd name="T0" fmla="*/ 3 w 6"/>
                  <a:gd name="T1" fmla="*/ 3 h 4"/>
                  <a:gd name="T2" fmla="*/ 5 w 6"/>
                  <a:gd name="T3" fmla="*/ 3 h 4"/>
                  <a:gd name="T4" fmla="*/ 3 w 6"/>
                  <a:gd name="T5" fmla="*/ 3 h 4"/>
                </a:gdLst>
                <a:ahLst/>
                <a:cxnLst>
                  <a:cxn ang="0">
                    <a:pos x="T0" y="T1"/>
                  </a:cxn>
                  <a:cxn ang="0">
                    <a:pos x="T2" y="T3"/>
                  </a:cxn>
                  <a:cxn ang="0">
                    <a:pos x="T4" y="T5"/>
                  </a:cxn>
                </a:cxnLst>
                <a:rect l="0" t="0" r="r" b="b"/>
                <a:pathLst>
                  <a:path w="6" h="4">
                    <a:moveTo>
                      <a:pt x="3" y="3"/>
                    </a:moveTo>
                    <a:cubicBezTo>
                      <a:pt x="3" y="3"/>
                      <a:pt x="6" y="4"/>
                      <a:pt x="5" y="3"/>
                    </a:cubicBezTo>
                    <a:cubicBezTo>
                      <a:pt x="4" y="2"/>
                      <a:pt x="0" y="0"/>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59" name="Freeform 468">
                <a:extLst>
                  <a:ext uri="{FF2B5EF4-FFF2-40B4-BE49-F238E27FC236}">
                    <a16:creationId xmlns:a16="http://schemas.microsoft.com/office/drawing/2014/main" id="{C4DE5158-9919-4DA6-BDDA-3A6C6CEB5022}"/>
                  </a:ext>
                </a:extLst>
              </p:cNvPr>
              <p:cNvSpPr>
                <a:spLocks/>
              </p:cNvSpPr>
              <p:nvPr/>
            </p:nvSpPr>
            <p:spPr bwMode="auto">
              <a:xfrm>
                <a:off x="1900" y="2220"/>
                <a:ext cx="8" cy="8"/>
              </a:xfrm>
              <a:custGeom>
                <a:avLst/>
                <a:gdLst>
                  <a:gd name="T0" fmla="*/ 3 w 6"/>
                  <a:gd name="T1" fmla="*/ 3 h 6"/>
                  <a:gd name="T2" fmla="*/ 1 w 6"/>
                  <a:gd name="T3" fmla="*/ 2 h 6"/>
                  <a:gd name="T4" fmla="*/ 5 w 6"/>
                  <a:gd name="T5" fmla="*/ 6 h 6"/>
                  <a:gd name="T6" fmla="*/ 6 w 6"/>
                  <a:gd name="T7" fmla="*/ 5 h 6"/>
                  <a:gd name="T8" fmla="*/ 5 w 6"/>
                  <a:gd name="T9" fmla="*/ 4 h 6"/>
                  <a:gd name="T10" fmla="*/ 3 w 6"/>
                  <a:gd name="T11" fmla="*/ 3 h 6"/>
                </a:gdLst>
                <a:ahLst/>
                <a:cxnLst>
                  <a:cxn ang="0">
                    <a:pos x="T0" y="T1"/>
                  </a:cxn>
                  <a:cxn ang="0">
                    <a:pos x="T2" y="T3"/>
                  </a:cxn>
                  <a:cxn ang="0">
                    <a:pos x="T4" y="T5"/>
                  </a:cxn>
                  <a:cxn ang="0">
                    <a:pos x="T6" y="T7"/>
                  </a:cxn>
                  <a:cxn ang="0">
                    <a:pos x="T8" y="T9"/>
                  </a:cxn>
                  <a:cxn ang="0">
                    <a:pos x="T10" y="T11"/>
                  </a:cxn>
                </a:cxnLst>
                <a:rect l="0" t="0" r="r" b="b"/>
                <a:pathLst>
                  <a:path w="6" h="6">
                    <a:moveTo>
                      <a:pt x="3" y="3"/>
                    </a:moveTo>
                    <a:cubicBezTo>
                      <a:pt x="2" y="2"/>
                      <a:pt x="0" y="0"/>
                      <a:pt x="1" y="2"/>
                    </a:cubicBezTo>
                    <a:cubicBezTo>
                      <a:pt x="1" y="2"/>
                      <a:pt x="4" y="5"/>
                      <a:pt x="5" y="6"/>
                    </a:cubicBezTo>
                    <a:cubicBezTo>
                      <a:pt x="6" y="6"/>
                      <a:pt x="5" y="6"/>
                      <a:pt x="6" y="5"/>
                    </a:cubicBezTo>
                    <a:cubicBezTo>
                      <a:pt x="6" y="5"/>
                      <a:pt x="6" y="4"/>
                      <a:pt x="5" y="4"/>
                    </a:cubicBezTo>
                    <a:cubicBezTo>
                      <a:pt x="4" y="4"/>
                      <a:pt x="3" y="4"/>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60" name="Freeform 469">
                <a:extLst>
                  <a:ext uri="{FF2B5EF4-FFF2-40B4-BE49-F238E27FC236}">
                    <a16:creationId xmlns:a16="http://schemas.microsoft.com/office/drawing/2014/main" id="{7A25475E-5738-44B7-BBCE-3A14C72472BB}"/>
                  </a:ext>
                </a:extLst>
              </p:cNvPr>
              <p:cNvSpPr>
                <a:spLocks/>
              </p:cNvSpPr>
              <p:nvPr/>
            </p:nvSpPr>
            <p:spPr bwMode="auto">
              <a:xfrm>
                <a:off x="1893" y="2301"/>
                <a:ext cx="49" cy="17"/>
              </a:xfrm>
              <a:custGeom>
                <a:avLst/>
                <a:gdLst>
                  <a:gd name="T0" fmla="*/ 21 w 36"/>
                  <a:gd name="T1" fmla="*/ 9 h 13"/>
                  <a:gd name="T2" fmla="*/ 31 w 36"/>
                  <a:gd name="T3" fmla="*/ 10 h 13"/>
                  <a:gd name="T4" fmla="*/ 25 w 36"/>
                  <a:gd name="T5" fmla="*/ 4 h 13"/>
                  <a:gd name="T6" fmla="*/ 12 w 36"/>
                  <a:gd name="T7" fmla="*/ 1 h 13"/>
                  <a:gd name="T8" fmla="*/ 3 w 36"/>
                  <a:gd name="T9" fmla="*/ 2 h 13"/>
                  <a:gd name="T10" fmla="*/ 3 w 36"/>
                  <a:gd name="T11" fmla="*/ 4 h 13"/>
                  <a:gd name="T12" fmla="*/ 14 w 36"/>
                  <a:gd name="T13" fmla="*/ 10 h 13"/>
                  <a:gd name="T14" fmla="*/ 17 w 36"/>
                  <a:gd name="T15" fmla="*/ 12 h 13"/>
                  <a:gd name="T16" fmla="*/ 18 w 36"/>
                  <a:gd name="T17" fmla="*/ 11 h 13"/>
                  <a:gd name="T18" fmla="*/ 21 w 36"/>
                  <a:gd name="T19" fmla="*/ 9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3">
                    <a:moveTo>
                      <a:pt x="21" y="9"/>
                    </a:moveTo>
                    <a:cubicBezTo>
                      <a:pt x="25" y="8"/>
                      <a:pt x="26" y="10"/>
                      <a:pt x="31" y="10"/>
                    </a:cubicBezTo>
                    <a:cubicBezTo>
                      <a:pt x="36" y="9"/>
                      <a:pt x="27" y="5"/>
                      <a:pt x="25" y="4"/>
                    </a:cubicBezTo>
                    <a:cubicBezTo>
                      <a:pt x="22" y="3"/>
                      <a:pt x="16" y="1"/>
                      <a:pt x="12" y="1"/>
                    </a:cubicBezTo>
                    <a:cubicBezTo>
                      <a:pt x="8" y="0"/>
                      <a:pt x="7" y="1"/>
                      <a:pt x="3" y="2"/>
                    </a:cubicBezTo>
                    <a:cubicBezTo>
                      <a:pt x="0" y="3"/>
                      <a:pt x="3" y="4"/>
                      <a:pt x="3" y="4"/>
                    </a:cubicBezTo>
                    <a:cubicBezTo>
                      <a:pt x="5" y="6"/>
                      <a:pt x="13" y="10"/>
                      <a:pt x="14" y="10"/>
                    </a:cubicBezTo>
                    <a:cubicBezTo>
                      <a:pt x="15" y="10"/>
                      <a:pt x="16" y="11"/>
                      <a:pt x="17" y="12"/>
                    </a:cubicBezTo>
                    <a:cubicBezTo>
                      <a:pt x="18" y="13"/>
                      <a:pt x="19" y="12"/>
                      <a:pt x="18" y="11"/>
                    </a:cubicBezTo>
                    <a:cubicBezTo>
                      <a:pt x="17" y="10"/>
                      <a:pt x="18" y="10"/>
                      <a:pt x="21"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61" name="Freeform 470">
                <a:extLst>
                  <a:ext uri="{FF2B5EF4-FFF2-40B4-BE49-F238E27FC236}">
                    <a16:creationId xmlns:a16="http://schemas.microsoft.com/office/drawing/2014/main" id="{21473D69-4441-43EC-B001-87CE1335BE0D}"/>
                  </a:ext>
                </a:extLst>
              </p:cNvPr>
              <p:cNvSpPr>
                <a:spLocks/>
              </p:cNvSpPr>
              <p:nvPr/>
            </p:nvSpPr>
            <p:spPr bwMode="auto">
              <a:xfrm>
                <a:off x="1996" y="2292"/>
                <a:ext cx="11" cy="6"/>
              </a:xfrm>
              <a:custGeom>
                <a:avLst/>
                <a:gdLst>
                  <a:gd name="T0" fmla="*/ 8 w 8"/>
                  <a:gd name="T1" fmla="*/ 3 h 4"/>
                  <a:gd name="T2" fmla="*/ 2 w 8"/>
                  <a:gd name="T3" fmla="*/ 0 h 4"/>
                  <a:gd name="T4" fmla="*/ 2 w 8"/>
                  <a:gd name="T5" fmla="*/ 1 h 4"/>
                  <a:gd name="T6" fmla="*/ 8 w 8"/>
                  <a:gd name="T7" fmla="*/ 3 h 4"/>
                </a:gdLst>
                <a:ahLst/>
                <a:cxnLst>
                  <a:cxn ang="0">
                    <a:pos x="T0" y="T1"/>
                  </a:cxn>
                  <a:cxn ang="0">
                    <a:pos x="T2" y="T3"/>
                  </a:cxn>
                  <a:cxn ang="0">
                    <a:pos x="T4" y="T5"/>
                  </a:cxn>
                  <a:cxn ang="0">
                    <a:pos x="T6" y="T7"/>
                  </a:cxn>
                </a:cxnLst>
                <a:rect l="0" t="0" r="r" b="b"/>
                <a:pathLst>
                  <a:path w="8" h="4">
                    <a:moveTo>
                      <a:pt x="8" y="3"/>
                    </a:moveTo>
                    <a:cubicBezTo>
                      <a:pt x="7" y="1"/>
                      <a:pt x="7" y="0"/>
                      <a:pt x="2" y="0"/>
                    </a:cubicBezTo>
                    <a:cubicBezTo>
                      <a:pt x="2" y="0"/>
                      <a:pt x="0" y="0"/>
                      <a:pt x="2" y="1"/>
                    </a:cubicBezTo>
                    <a:cubicBezTo>
                      <a:pt x="3" y="2"/>
                      <a:pt x="8" y="4"/>
                      <a:pt x="8"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62" name="Freeform 471">
                <a:extLst>
                  <a:ext uri="{FF2B5EF4-FFF2-40B4-BE49-F238E27FC236}">
                    <a16:creationId xmlns:a16="http://schemas.microsoft.com/office/drawing/2014/main" id="{A18B47F8-051A-49C2-AB53-141DE09F43A5}"/>
                  </a:ext>
                </a:extLst>
              </p:cNvPr>
              <p:cNvSpPr>
                <a:spLocks/>
              </p:cNvSpPr>
              <p:nvPr/>
            </p:nvSpPr>
            <p:spPr bwMode="auto">
              <a:xfrm>
                <a:off x="1973" y="2270"/>
                <a:ext cx="58" cy="41"/>
              </a:xfrm>
              <a:custGeom>
                <a:avLst/>
                <a:gdLst>
                  <a:gd name="T0" fmla="*/ 40 w 42"/>
                  <a:gd name="T1" fmla="*/ 25 h 30"/>
                  <a:gd name="T2" fmla="*/ 39 w 42"/>
                  <a:gd name="T3" fmla="*/ 23 h 30"/>
                  <a:gd name="T4" fmla="*/ 37 w 42"/>
                  <a:gd name="T5" fmla="*/ 20 h 30"/>
                  <a:gd name="T6" fmla="*/ 39 w 42"/>
                  <a:gd name="T7" fmla="*/ 20 h 30"/>
                  <a:gd name="T8" fmla="*/ 40 w 42"/>
                  <a:gd name="T9" fmla="*/ 18 h 30"/>
                  <a:gd name="T10" fmla="*/ 39 w 42"/>
                  <a:gd name="T11" fmla="*/ 15 h 30"/>
                  <a:gd name="T12" fmla="*/ 40 w 42"/>
                  <a:gd name="T13" fmla="*/ 14 h 30"/>
                  <a:gd name="T14" fmla="*/ 42 w 42"/>
                  <a:gd name="T15" fmla="*/ 11 h 30"/>
                  <a:gd name="T16" fmla="*/ 41 w 42"/>
                  <a:gd name="T17" fmla="*/ 10 h 30"/>
                  <a:gd name="T18" fmla="*/ 40 w 42"/>
                  <a:gd name="T19" fmla="*/ 10 h 30"/>
                  <a:gd name="T20" fmla="*/ 41 w 42"/>
                  <a:gd name="T21" fmla="*/ 9 h 30"/>
                  <a:gd name="T22" fmla="*/ 41 w 42"/>
                  <a:gd name="T23" fmla="*/ 7 h 30"/>
                  <a:gd name="T24" fmla="*/ 40 w 42"/>
                  <a:gd name="T25" fmla="*/ 6 h 30"/>
                  <a:gd name="T26" fmla="*/ 40 w 42"/>
                  <a:gd name="T27" fmla="*/ 4 h 30"/>
                  <a:gd name="T28" fmla="*/ 39 w 42"/>
                  <a:gd name="T29" fmla="*/ 4 h 30"/>
                  <a:gd name="T30" fmla="*/ 34 w 42"/>
                  <a:gd name="T31" fmla="*/ 3 h 30"/>
                  <a:gd name="T32" fmla="*/ 29 w 42"/>
                  <a:gd name="T33" fmla="*/ 1 h 30"/>
                  <a:gd name="T34" fmla="*/ 20 w 42"/>
                  <a:gd name="T35" fmla="*/ 0 h 30"/>
                  <a:gd name="T36" fmla="*/ 16 w 42"/>
                  <a:gd name="T37" fmla="*/ 3 h 30"/>
                  <a:gd name="T38" fmla="*/ 19 w 42"/>
                  <a:gd name="T39" fmla="*/ 5 h 30"/>
                  <a:gd name="T40" fmla="*/ 24 w 42"/>
                  <a:gd name="T41" fmla="*/ 6 h 30"/>
                  <a:gd name="T42" fmla="*/ 25 w 42"/>
                  <a:gd name="T43" fmla="*/ 10 h 30"/>
                  <a:gd name="T44" fmla="*/ 31 w 42"/>
                  <a:gd name="T45" fmla="*/ 19 h 30"/>
                  <a:gd name="T46" fmla="*/ 30 w 42"/>
                  <a:gd name="T47" fmla="*/ 21 h 30"/>
                  <a:gd name="T48" fmla="*/ 27 w 42"/>
                  <a:gd name="T49" fmla="*/ 23 h 30"/>
                  <a:gd name="T50" fmla="*/ 23 w 42"/>
                  <a:gd name="T51" fmla="*/ 23 h 30"/>
                  <a:gd name="T52" fmla="*/ 16 w 42"/>
                  <a:gd name="T53" fmla="*/ 22 h 30"/>
                  <a:gd name="T54" fmla="*/ 6 w 42"/>
                  <a:gd name="T55" fmla="*/ 20 h 30"/>
                  <a:gd name="T56" fmla="*/ 0 w 42"/>
                  <a:gd name="T57" fmla="*/ 22 h 30"/>
                  <a:gd name="T58" fmla="*/ 2 w 42"/>
                  <a:gd name="T59" fmla="*/ 24 h 30"/>
                  <a:gd name="T60" fmla="*/ 7 w 42"/>
                  <a:gd name="T61" fmla="*/ 28 h 30"/>
                  <a:gd name="T62" fmla="*/ 10 w 42"/>
                  <a:gd name="T63" fmla="*/ 27 h 30"/>
                  <a:gd name="T64" fmla="*/ 23 w 42"/>
                  <a:gd name="T65" fmla="*/ 27 h 30"/>
                  <a:gd name="T66" fmla="*/ 34 w 42"/>
                  <a:gd name="T67" fmla="*/ 26 h 30"/>
                  <a:gd name="T68" fmla="*/ 40 w 42"/>
                  <a:gd name="T69" fmla="*/ 30 h 30"/>
                  <a:gd name="T70" fmla="*/ 41 w 42"/>
                  <a:gd name="T71" fmla="*/ 26 h 30"/>
                  <a:gd name="T72" fmla="*/ 40 w 42"/>
                  <a:gd name="T73" fmla="*/ 2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 h="30">
                    <a:moveTo>
                      <a:pt x="40" y="25"/>
                    </a:moveTo>
                    <a:cubicBezTo>
                      <a:pt x="40" y="24"/>
                      <a:pt x="39" y="24"/>
                      <a:pt x="39" y="23"/>
                    </a:cubicBezTo>
                    <a:cubicBezTo>
                      <a:pt x="38" y="23"/>
                      <a:pt x="37" y="21"/>
                      <a:pt x="37" y="20"/>
                    </a:cubicBezTo>
                    <a:cubicBezTo>
                      <a:pt x="37" y="20"/>
                      <a:pt x="39" y="20"/>
                      <a:pt x="39" y="20"/>
                    </a:cubicBezTo>
                    <a:cubicBezTo>
                      <a:pt x="40" y="19"/>
                      <a:pt x="40" y="19"/>
                      <a:pt x="40" y="18"/>
                    </a:cubicBezTo>
                    <a:cubicBezTo>
                      <a:pt x="41" y="17"/>
                      <a:pt x="39" y="16"/>
                      <a:pt x="39" y="15"/>
                    </a:cubicBezTo>
                    <a:cubicBezTo>
                      <a:pt x="38" y="15"/>
                      <a:pt x="40" y="14"/>
                      <a:pt x="40" y="14"/>
                    </a:cubicBezTo>
                    <a:cubicBezTo>
                      <a:pt x="41" y="13"/>
                      <a:pt x="41" y="12"/>
                      <a:pt x="42" y="11"/>
                    </a:cubicBezTo>
                    <a:cubicBezTo>
                      <a:pt x="42" y="11"/>
                      <a:pt x="41" y="11"/>
                      <a:pt x="41" y="10"/>
                    </a:cubicBezTo>
                    <a:cubicBezTo>
                      <a:pt x="40" y="10"/>
                      <a:pt x="40" y="10"/>
                      <a:pt x="40" y="10"/>
                    </a:cubicBezTo>
                    <a:cubicBezTo>
                      <a:pt x="40" y="9"/>
                      <a:pt x="40" y="9"/>
                      <a:pt x="41" y="9"/>
                    </a:cubicBezTo>
                    <a:cubicBezTo>
                      <a:pt x="41" y="9"/>
                      <a:pt x="41" y="8"/>
                      <a:pt x="41" y="7"/>
                    </a:cubicBezTo>
                    <a:cubicBezTo>
                      <a:pt x="41" y="7"/>
                      <a:pt x="40" y="6"/>
                      <a:pt x="40" y="6"/>
                    </a:cubicBezTo>
                    <a:cubicBezTo>
                      <a:pt x="40" y="5"/>
                      <a:pt x="40" y="4"/>
                      <a:pt x="40" y="4"/>
                    </a:cubicBezTo>
                    <a:cubicBezTo>
                      <a:pt x="40" y="4"/>
                      <a:pt x="39" y="4"/>
                      <a:pt x="39" y="4"/>
                    </a:cubicBezTo>
                    <a:cubicBezTo>
                      <a:pt x="38" y="4"/>
                      <a:pt x="35" y="3"/>
                      <a:pt x="34" y="3"/>
                    </a:cubicBezTo>
                    <a:cubicBezTo>
                      <a:pt x="33" y="3"/>
                      <a:pt x="30" y="2"/>
                      <a:pt x="29" y="1"/>
                    </a:cubicBezTo>
                    <a:cubicBezTo>
                      <a:pt x="27" y="0"/>
                      <a:pt x="21" y="0"/>
                      <a:pt x="20" y="0"/>
                    </a:cubicBezTo>
                    <a:cubicBezTo>
                      <a:pt x="19" y="1"/>
                      <a:pt x="16" y="2"/>
                      <a:pt x="16" y="3"/>
                    </a:cubicBezTo>
                    <a:cubicBezTo>
                      <a:pt x="15" y="5"/>
                      <a:pt x="18" y="5"/>
                      <a:pt x="19" y="5"/>
                    </a:cubicBezTo>
                    <a:cubicBezTo>
                      <a:pt x="21" y="4"/>
                      <a:pt x="22" y="6"/>
                      <a:pt x="24" y="6"/>
                    </a:cubicBezTo>
                    <a:cubicBezTo>
                      <a:pt x="26" y="7"/>
                      <a:pt x="27" y="9"/>
                      <a:pt x="25" y="10"/>
                    </a:cubicBezTo>
                    <a:cubicBezTo>
                      <a:pt x="24" y="12"/>
                      <a:pt x="29" y="17"/>
                      <a:pt x="31" y="19"/>
                    </a:cubicBezTo>
                    <a:cubicBezTo>
                      <a:pt x="33" y="21"/>
                      <a:pt x="31" y="22"/>
                      <a:pt x="30" y="21"/>
                    </a:cubicBezTo>
                    <a:cubicBezTo>
                      <a:pt x="29" y="21"/>
                      <a:pt x="28" y="22"/>
                      <a:pt x="27" y="23"/>
                    </a:cubicBezTo>
                    <a:cubicBezTo>
                      <a:pt x="26" y="23"/>
                      <a:pt x="25" y="23"/>
                      <a:pt x="23" y="23"/>
                    </a:cubicBezTo>
                    <a:cubicBezTo>
                      <a:pt x="22" y="22"/>
                      <a:pt x="17" y="22"/>
                      <a:pt x="16" y="22"/>
                    </a:cubicBezTo>
                    <a:cubicBezTo>
                      <a:pt x="15" y="22"/>
                      <a:pt x="8" y="22"/>
                      <a:pt x="6" y="20"/>
                    </a:cubicBezTo>
                    <a:cubicBezTo>
                      <a:pt x="3" y="19"/>
                      <a:pt x="1" y="19"/>
                      <a:pt x="0" y="22"/>
                    </a:cubicBezTo>
                    <a:cubicBezTo>
                      <a:pt x="0" y="24"/>
                      <a:pt x="2" y="24"/>
                      <a:pt x="2" y="24"/>
                    </a:cubicBezTo>
                    <a:cubicBezTo>
                      <a:pt x="3" y="24"/>
                      <a:pt x="5" y="26"/>
                      <a:pt x="7" y="28"/>
                    </a:cubicBezTo>
                    <a:cubicBezTo>
                      <a:pt x="10" y="30"/>
                      <a:pt x="9" y="30"/>
                      <a:pt x="10" y="27"/>
                    </a:cubicBezTo>
                    <a:cubicBezTo>
                      <a:pt x="11" y="25"/>
                      <a:pt x="20" y="27"/>
                      <a:pt x="23" y="27"/>
                    </a:cubicBezTo>
                    <a:cubicBezTo>
                      <a:pt x="27" y="28"/>
                      <a:pt x="32" y="27"/>
                      <a:pt x="34" y="26"/>
                    </a:cubicBezTo>
                    <a:cubicBezTo>
                      <a:pt x="37" y="26"/>
                      <a:pt x="39" y="28"/>
                      <a:pt x="40" y="30"/>
                    </a:cubicBezTo>
                    <a:cubicBezTo>
                      <a:pt x="40" y="29"/>
                      <a:pt x="41" y="27"/>
                      <a:pt x="41" y="26"/>
                    </a:cubicBezTo>
                    <a:cubicBezTo>
                      <a:pt x="41" y="26"/>
                      <a:pt x="40" y="25"/>
                      <a:pt x="40" y="2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63" name="Freeform 472">
                <a:extLst>
                  <a:ext uri="{FF2B5EF4-FFF2-40B4-BE49-F238E27FC236}">
                    <a16:creationId xmlns:a16="http://schemas.microsoft.com/office/drawing/2014/main" id="{0D422533-DFE5-4887-8337-0F72DA266813}"/>
                  </a:ext>
                </a:extLst>
              </p:cNvPr>
              <p:cNvSpPr>
                <a:spLocks/>
              </p:cNvSpPr>
              <p:nvPr/>
            </p:nvSpPr>
            <p:spPr bwMode="auto">
              <a:xfrm>
                <a:off x="2024" y="2270"/>
                <a:ext cx="76" cy="51"/>
              </a:xfrm>
              <a:custGeom>
                <a:avLst/>
                <a:gdLst>
                  <a:gd name="T0" fmla="*/ 49 w 55"/>
                  <a:gd name="T1" fmla="*/ 16 h 37"/>
                  <a:gd name="T2" fmla="*/ 40 w 55"/>
                  <a:gd name="T3" fmla="*/ 14 h 37"/>
                  <a:gd name="T4" fmla="*/ 35 w 55"/>
                  <a:gd name="T5" fmla="*/ 12 h 37"/>
                  <a:gd name="T6" fmla="*/ 38 w 55"/>
                  <a:gd name="T7" fmla="*/ 11 h 37"/>
                  <a:gd name="T8" fmla="*/ 42 w 55"/>
                  <a:gd name="T9" fmla="*/ 9 h 37"/>
                  <a:gd name="T10" fmla="*/ 40 w 55"/>
                  <a:gd name="T11" fmla="*/ 9 h 37"/>
                  <a:gd name="T12" fmla="*/ 38 w 55"/>
                  <a:gd name="T13" fmla="*/ 10 h 37"/>
                  <a:gd name="T14" fmla="*/ 34 w 55"/>
                  <a:gd name="T15" fmla="*/ 10 h 37"/>
                  <a:gd name="T16" fmla="*/ 32 w 55"/>
                  <a:gd name="T17" fmla="*/ 5 h 37"/>
                  <a:gd name="T18" fmla="*/ 29 w 55"/>
                  <a:gd name="T19" fmla="*/ 4 h 37"/>
                  <a:gd name="T20" fmla="*/ 17 w 55"/>
                  <a:gd name="T21" fmla="*/ 1 h 37"/>
                  <a:gd name="T22" fmla="*/ 12 w 55"/>
                  <a:gd name="T23" fmla="*/ 1 h 37"/>
                  <a:gd name="T24" fmla="*/ 6 w 55"/>
                  <a:gd name="T25" fmla="*/ 1 h 37"/>
                  <a:gd name="T26" fmla="*/ 4 w 55"/>
                  <a:gd name="T27" fmla="*/ 1 h 37"/>
                  <a:gd name="T28" fmla="*/ 4 w 55"/>
                  <a:gd name="T29" fmla="*/ 3 h 37"/>
                  <a:gd name="T30" fmla="*/ 3 w 55"/>
                  <a:gd name="T31" fmla="*/ 4 h 37"/>
                  <a:gd name="T32" fmla="*/ 3 w 55"/>
                  <a:gd name="T33" fmla="*/ 6 h 37"/>
                  <a:gd name="T34" fmla="*/ 4 w 55"/>
                  <a:gd name="T35" fmla="*/ 7 h 37"/>
                  <a:gd name="T36" fmla="*/ 4 w 55"/>
                  <a:gd name="T37" fmla="*/ 9 h 37"/>
                  <a:gd name="T38" fmla="*/ 3 w 55"/>
                  <a:gd name="T39" fmla="*/ 10 h 37"/>
                  <a:gd name="T40" fmla="*/ 4 w 55"/>
                  <a:gd name="T41" fmla="*/ 10 h 37"/>
                  <a:gd name="T42" fmla="*/ 5 w 55"/>
                  <a:gd name="T43" fmla="*/ 11 h 37"/>
                  <a:gd name="T44" fmla="*/ 3 w 55"/>
                  <a:gd name="T45" fmla="*/ 14 h 37"/>
                  <a:gd name="T46" fmla="*/ 2 w 55"/>
                  <a:gd name="T47" fmla="*/ 15 h 37"/>
                  <a:gd name="T48" fmla="*/ 3 w 55"/>
                  <a:gd name="T49" fmla="*/ 18 h 37"/>
                  <a:gd name="T50" fmla="*/ 2 w 55"/>
                  <a:gd name="T51" fmla="*/ 20 h 37"/>
                  <a:gd name="T52" fmla="*/ 0 w 55"/>
                  <a:gd name="T53" fmla="*/ 20 h 37"/>
                  <a:gd name="T54" fmla="*/ 2 w 55"/>
                  <a:gd name="T55" fmla="*/ 23 h 37"/>
                  <a:gd name="T56" fmla="*/ 3 w 55"/>
                  <a:gd name="T57" fmla="*/ 25 h 37"/>
                  <a:gd name="T58" fmla="*/ 4 w 55"/>
                  <a:gd name="T59" fmla="*/ 26 h 37"/>
                  <a:gd name="T60" fmla="*/ 3 w 55"/>
                  <a:gd name="T61" fmla="*/ 30 h 37"/>
                  <a:gd name="T62" fmla="*/ 3 w 55"/>
                  <a:gd name="T63" fmla="*/ 30 h 37"/>
                  <a:gd name="T64" fmla="*/ 8 w 55"/>
                  <a:gd name="T65" fmla="*/ 36 h 37"/>
                  <a:gd name="T66" fmla="*/ 12 w 55"/>
                  <a:gd name="T67" fmla="*/ 27 h 37"/>
                  <a:gd name="T68" fmla="*/ 15 w 55"/>
                  <a:gd name="T69" fmla="*/ 26 h 37"/>
                  <a:gd name="T70" fmla="*/ 18 w 55"/>
                  <a:gd name="T71" fmla="*/ 24 h 37"/>
                  <a:gd name="T72" fmla="*/ 21 w 55"/>
                  <a:gd name="T73" fmla="*/ 25 h 37"/>
                  <a:gd name="T74" fmla="*/ 25 w 55"/>
                  <a:gd name="T75" fmla="*/ 26 h 37"/>
                  <a:gd name="T76" fmla="*/ 28 w 55"/>
                  <a:gd name="T77" fmla="*/ 25 h 37"/>
                  <a:gd name="T78" fmla="*/ 34 w 55"/>
                  <a:gd name="T79" fmla="*/ 23 h 37"/>
                  <a:gd name="T80" fmla="*/ 44 w 55"/>
                  <a:gd name="T81" fmla="*/ 24 h 37"/>
                  <a:gd name="T82" fmla="*/ 49 w 55"/>
                  <a:gd name="T83" fmla="*/ 26 h 37"/>
                  <a:gd name="T84" fmla="*/ 50 w 55"/>
                  <a:gd name="T85" fmla="*/ 26 h 37"/>
                  <a:gd name="T86" fmla="*/ 51 w 55"/>
                  <a:gd name="T87" fmla="*/ 25 h 37"/>
                  <a:gd name="T88" fmla="*/ 54 w 55"/>
                  <a:gd name="T89" fmla="*/ 21 h 37"/>
                  <a:gd name="T90" fmla="*/ 49 w 55"/>
                  <a:gd name="T91" fmla="*/ 1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5" h="37">
                    <a:moveTo>
                      <a:pt x="49" y="16"/>
                    </a:moveTo>
                    <a:cubicBezTo>
                      <a:pt x="48" y="15"/>
                      <a:pt x="43" y="14"/>
                      <a:pt x="40" y="14"/>
                    </a:cubicBezTo>
                    <a:cubicBezTo>
                      <a:pt x="37" y="13"/>
                      <a:pt x="36" y="14"/>
                      <a:pt x="35" y="12"/>
                    </a:cubicBezTo>
                    <a:cubicBezTo>
                      <a:pt x="35" y="11"/>
                      <a:pt x="36" y="11"/>
                      <a:pt x="38" y="11"/>
                    </a:cubicBezTo>
                    <a:cubicBezTo>
                      <a:pt x="39" y="11"/>
                      <a:pt x="41" y="10"/>
                      <a:pt x="42" y="9"/>
                    </a:cubicBezTo>
                    <a:cubicBezTo>
                      <a:pt x="43" y="8"/>
                      <a:pt x="41" y="9"/>
                      <a:pt x="40" y="9"/>
                    </a:cubicBezTo>
                    <a:cubicBezTo>
                      <a:pt x="40" y="10"/>
                      <a:pt x="39" y="10"/>
                      <a:pt x="38" y="10"/>
                    </a:cubicBezTo>
                    <a:cubicBezTo>
                      <a:pt x="37" y="9"/>
                      <a:pt x="36" y="9"/>
                      <a:pt x="34" y="10"/>
                    </a:cubicBezTo>
                    <a:cubicBezTo>
                      <a:pt x="32" y="10"/>
                      <a:pt x="33" y="7"/>
                      <a:pt x="32" y="5"/>
                    </a:cubicBezTo>
                    <a:cubicBezTo>
                      <a:pt x="31" y="4"/>
                      <a:pt x="30" y="4"/>
                      <a:pt x="29" y="4"/>
                    </a:cubicBezTo>
                    <a:cubicBezTo>
                      <a:pt x="28" y="5"/>
                      <a:pt x="19" y="2"/>
                      <a:pt x="17" y="1"/>
                    </a:cubicBezTo>
                    <a:cubicBezTo>
                      <a:pt x="16" y="1"/>
                      <a:pt x="14" y="0"/>
                      <a:pt x="12" y="1"/>
                    </a:cubicBezTo>
                    <a:cubicBezTo>
                      <a:pt x="10" y="2"/>
                      <a:pt x="7" y="1"/>
                      <a:pt x="6" y="1"/>
                    </a:cubicBezTo>
                    <a:cubicBezTo>
                      <a:pt x="5" y="0"/>
                      <a:pt x="5" y="1"/>
                      <a:pt x="4" y="1"/>
                    </a:cubicBezTo>
                    <a:cubicBezTo>
                      <a:pt x="4" y="2"/>
                      <a:pt x="4" y="2"/>
                      <a:pt x="4" y="3"/>
                    </a:cubicBezTo>
                    <a:cubicBezTo>
                      <a:pt x="3" y="3"/>
                      <a:pt x="3" y="4"/>
                      <a:pt x="3" y="4"/>
                    </a:cubicBezTo>
                    <a:cubicBezTo>
                      <a:pt x="3" y="4"/>
                      <a:pt x="3" y="5"/>
                      <a:pt x="3" y="6"/>
                    </a:cubicBezTo>
                    <a:cubicBezTo>
                      <a:pt x="3" y="6"/>
                      <a:pt x="4" y="7"/>
                      <a:pt x="4" y="7"/>
                    </a:cubicBezTo>
                    <a:cubicBezTo>
                      <a:pt x="4" y="8"/>
                      <a:pt x="4" y="9"/>
                      <a:pt x="4" y="9"/>
                    </a:cubicBezTo>
                    <a:cubicBezTo>
                      <a:pt x="3" y="9"/>
                      <a:pt x="3" y="9"/>
                      <a:pt x="3" y="10"/>
                    </a:cubicBezTo>
                    <a:cubicBezTo>
                      <a:pt x="3" y="10"/>
                      <a:pt x="3" y="10"/>
                      <a:pt x="4" y="10"/>
                    </a:cubicBezTo>
                    <a:cubicBezTo>
                      <a:pt x="4" y="11"/>
                      <a:pt x="5" y="11"/>
                      <a:pt x="5" y="11"/>
                    </a:cubicBezTo>
                    <a:cubicBezTo>
                      <a:pt x="4" y="12"/>
                      <a:pt x="4" y="13"/>
                      <a:pt x="3" y="14"/>
                    </a:cubicBezTo>
                    <a:cubicBezTo>
                      <a:pt x="3" y="14"/>
                      <a:pt x="1" y="15"/>
                      <a:pt x="2" y="15"/>
                    </a:cubicBezTo>
                    <a:cubicBezTo>
                      <a:pt x="2" y="16"/>
                      <a:pt x="4" y="17"/>
                      <a:pt x="3" y="18"/>
                    </a:cubicBezTo>
                    <a:cubicBezTo>
                      <a:pt x="3" y="19"/>
                      <a:pt x="3" y="19"/>
                      <a:pt x="2" y="20"/>
                    </a:cubicBezTo>
                    <a:cubicBezTo>
                      <a:pt x="2" y="20"/>
                      <a:pt x="0" y="20"/>
                      <a:pt x="0" y="20"/>
                    </a:cubicBezTo>
                    <a:cubicBezTo>
                      <a:pt x="0" y="21"/>
                      <a:pt x="1" y="23"/>
                      <a:pt x="2" y="23"/>
                    </a:cubicBezTo>
                    <a:cubicBezTo>
                      <a:pt x="2" y="24"/>
                      <a:pt x="3" y="24"/>
                      <a:pt x="3" y="25"/>
                    </a:cubicBezTo>
                    <a:cubicBezTo>
                      <a:pt x="3" y="25"/>
                      <a:pt x="4" y="26"/>
                      <a:pt x="4" y="26"/>
                    </a:cubicBezTo>
                    <a:cubicBezTo>
                      <a:pt x="4" y="27"/>
                      <a:pt x="3" y="29"/>
                      <a:pt x="3" y="30"/>
                    </a:cubicBezTo>
                    <a:cubicBezTo>
                      <a:pt x="3" y="30"/>
                      <a:pt x="3" y="30"/>
                      <a:pt x="3" y="30"/>
                    </a:cubicBezTo>
                    <a:cubicBezTo>
                      <a:pt x="4" y="32"/>
                      <a:pt x="7" y="36"/>
                      <a:pt x="8" y="36"/>
                    </a:cubicBezTo>
                    <a:cubicBezTo>
                      <a:pt x="9" y="37"/>
                      <a:pt x="12" y="30"/>
                      <a:pt x="12" y="27"/>
                    </a:cubicBezTo>
                    <a:cubicBezTo>
                      <a:pt x="13" y="24"/>
                      <a:pt x="14" y="25"/>
                      <a:pt x="15" y="26"/>
                    </a:cubicBezTo>
                    <a:cubicBezTo>
                      <a:pt x="16" y="27"/>
                      <a:pt x="16" y="26"/>
                      <a:pt x="18" y="24"/>
                    </a:cubicBezTo>
                    <a:cubicBezTo>
                      <a:pt x="20" y="23"/>
                      <a:pt x="21" y="23"/>
                      <a:pt x="21" y="25"/>
                    </a:cubicBezTo>
                    <a:cubicBezTo>
                      <a:pt x="21" y="27"/>
                      <a:pt x="23" y="26"/>
                      <a:pt x="25" y="26"/>
                    </a:cubicBezTo>
                    <a:cubicBezTo>
                      <a:pt x="26" y="27"/>
                      <a:pt x="27" y="26"/>
                      <a:pt x="28" y="25"/>
                    </a:cubicBezTo>
                    <a:cubicBezTo>
                      <a:pt x="30" y="23"/>
                      <a:pt x="31" y="23"/>
                      <a:pt x="34" y="23"/>
                    </a:cubicBezTo>
                    <a:cubicBezTo>
                      <a:pt x="36" y="24"/>
                      <a:pt x="42" y="24"/>
                      <a:pt x="44" y="24"/>
                    </a:cubicBezTo>
                    <a:cubicBezTo>
                      <a:pt x="46" y="23"/>
                      <a:pt x="48" y="26"/>
                      <a:pt x="49" y="26"/>
                    </a:cubicBezTo>
                    <a:cubicBezTo>
                      <a:pt x="50" y="27"/>
                      <a:pt x="50" y="26"/>
                      <a:pt x="50" y="26"/>
                    </a:cubicBezTo>
                    <a:cubicBezTo>
                      <a:pt x="50" y="25"/>
                      <a:pt x="50" y="25"/>
                      <a:pt x="51" y="25"/>
                    </a:cubicBezTo>
                    <a:cubicBezTo>
                      <a:pt x="53" y="25"/>
                      <a:pt x="53" y="22"/>
                      <a:pt x="54" y="21"/>
                    </a:cubicBezTo>
                    <a:cubicBezTo>
                      <a:pt x="55" y="20"/>
                      <a:pt x="50" y="17"/>
                      <a:pt x="49" y="1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64" name="Freeform 473">
                <a:extLst>
                  <a:ext uri="{FF2B5EF4-FFF2-40B4-BE49-F238E27FC236}">
                    <a16:creationId xmlns:a16="http://schemas.microsoft.com/office/drawing/2014/main" id="{FD324996-11A1-478D-910E-8BAB2C754836}"/>
                  </a:ext>
                </a:extLst>
              </p:cNvPr>
              <p:cNvSpPr>
                <a:spLocks/>
              </p:cNvSpPr>
              <p:nvPr/>
            </p:nvSpPr>
            <p:spPr bwMode="auto">
              <a:xfrm>
                <a:off x="2090" y="2307"/>
                <a:ext cx="5" cy="2"/>
              </a:xfrm>
              <a:custGeom>
                <a:avLst/>
                <a:gdLst>
                  <a:gd name="T0" fmla="*/ 0 w 3"/>
                  <a:gd name="T1" fmla="*/ 0 h 1"/>
                  <a:gd name="T2" fmla="*/ 2 w 3"/>
                  <a:gd name="T3" fmla="*/ 1 h 1"/>
                  <a:gd name="T4" fmla="*/ 0 w 3"/>
                  <a:gd name="T5" fmla="*/ 0 h 1"/>
                </a:gdLst>
                <a:ahLst/>
                <a:cxnLst>
                  <a:cxn ang="0">
                    <a:pos x="T0" y="T1"/>
                  </a:cxn>
                  <a:cxn ang="0">
                    <a:pos x="T2" y="T3"/>
                  </a:cxn>
                  <a:cxn ang="0">
                    <a:pos x="T4" y="T5"/>
                  </a:cxn>
                </a:cxnLst>
                <a:rect l="0" t="0" r="r" b="b"/>
                <a:pathLst>
                  <a:path w="3" h="1">
                    <a:moveTo>
                      <a:pt x="0" y="0"/>
                    </a:moveTo>
                    <a:cubicBezTo>
                      <a:pt x="0" y="0"/>
                      <a:pt x="2" y="1"/>
                      <a:pt x="2" y="1"/>
                    </a:cubicBezTo>
                    <a:cubicBezTo>
                      <a:pt x="3" y="0"/>
                      <a:pt x="0" y="0"/>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65" name="Freeform 474">
                <a:extLst>
                  <a:ext uri="{FF2B5EF4-FFF2-40B4-BE49-F238E27FC236}">
                    <a16:creationId xmlns:a16="http://schemas.microsoft.com/office/drawing/2014/main" id="{289AE785-2ADC-49BD-953E-BB86D7449A6E}"/>
                  </a:ext>
                </a:extLst>
              </p:cNvPr>
              <p:cNvSpPr>
                <a:spLocks/>
              </p:cNvSpPr>
              <p:nvPr/>
            </p:nvSpPr>
            <p:spPr bwMode="auto">
              <a:xfrm>
                <a:off x="2120" y="2301"/>
                <a:ext cx="38" cy="13"/>
              </a:xfrm>
              <a:custGeom>
                <a:avLst/>
                <a:gdLst>
                  <a:gd name="T0" fmla="*/ 3 w 28"/>
                  <a:gd name="T1" fmla="*/ 1 h 10"/>
                  <a:gd name="T2" fmla="*/ 2 w 28"/>
                  <a:gd name="T3" fmla="*/ 7 h 10"/>
                  <a:gd name="T4" fmla="*/ 7 w 28"/>
                  <a:gd name="T5" fmla="*/ 9 h 10"/>
                  <a:gd name="T6" fmla="*/ 14 w 28"/>
                  <a:gd name="T7" fmla="*/ 8 h 10"/>
                  <a:gd name="T8" fmla="*/ 22 w 28"/>
                  <a:gd name="T9" fmla="*/ 7 h 10"/>
                  <a:gd name="T10" fmla="*/ 23 w 28"/>
                  <a:gd name="T11" fmla="*/ 1 h 10"/>
                  <a:gd name="T12" fmla="*/ 16 w 28"/>
                  <a:gd name="T13" fmla="*/ 1 h 10"/>
                  <a:gd name="T14" fmla="*/ 5 w 28"/>
                  <a:gd name="T15" fmla="*/ 0 h 10"/>
                  <a:gd name="T16" fmla="*/ 3 w 28"/>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10">
                    <a:moveTo>
                      <a:pt x="3" y="1"/>
                    </a:moveTo>
                    <a:cubicBezTo>
                      <a:pt x="2" y="2"/>
                      <a:pt x="0" y="2"/>
                      <a:pt x="2" y="7"/>
                    </a:cubicBezTo>
                    <a:cubicBezTo>
                      <a:pt x="2" y="7"/>
                      <a:pt x="4" y="10"/>
                      <a:pt x="7" y="9"/>
                    </a:cubicBezTo>
                    <a:cubicBezTo>
                      <a:pt x="9" y="8"/>
                      <a:pt x="12" y="8"/>
                      <a:pt x="14" y="8"/>
                    </a:cubicBezTo>
                    <a:cubicBezTo>
                      <a:pt x="16" y="8"/>
                      <a:pt x="21" y="9"/>
                      <a:pt x="22" y="7"/>
                    </a:cubicBezTo>
                    <a:cubicBezTo>
                      <a:pt x="24" y="5"/>
                      <a:pt x="28" y="3"/>
                      <a:pt x="23" y="1"/>
                    </a:cubicBezTo>
                    <a:cubicBezTo>
                      <a:pt x="19" y="0"/>
                      <a:pt x="18" y="1"/>
                      <a:pt x="16" y="1"/>
                    </a:cubicBezTo>
                    <a:cubicBezTo>
                      <a:pt x="14" y="0"/>
                      <a:pt x="6" y="0"/>
                      <a:pt x="5" y="0"/>
                    </a:cubicBezTo>
                    <a:cubicBezTo>
                      <a:pt x="4" y="0"/>
                      <a:pt x="3" y="0"/>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66" name="Freeform 475">
                <a:extLst>
                  <a:ext uri="{FF2B5EF4-FFF2-40B4-BE49-F238E27FC236}">
                    <a16:creationId xmlns:a16="http://schemas.microsoft.com/office/drawing/2014/main" id="{C87BA8C7-357F-44F3-9A73-0C63E5927537}"/>
                  </a:ext>
                </a:extLst>
              </p:cNvPr>
              <p:cNvSpPr>
                <a:spLocks/>
              </p:cNvSpPr>
              <p:nvPr/>
            </p:nvSpPr>
            <p:spPr bwMode="auto">
              <a:xfrm>
                <a:off x="2175" y="2301"/>
                <a:ext cx="3" cy="2"/>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2"/>
                      <a:pt x="2" y="1"/>
                      <a:pt x="2" y="0"/>
                    </a:cubicBezTo>
                    <a:cubicBezTo>
                      <a:pt x="2" y="0"/>
                      <a:pt x="0" y="1"/>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67" name="Freeform 476">
                <a:extLst>
                  <a:ext uri="{FF2B5EF4-FFF2-40B4-BE49-F238E27FC236}">
                    <a16:creationId xmlns:a16="http://schemas.microsoft.com/office/drawing/2014/main" id="{39B76CDA-C7CC-4615-868E-F852C549BC24}"/>
                  </a:ext>
                </a:extLst>
              </p:cNvPr>
              <p:cNvSpPr>
                <a:spLocks/>
              </p:cNvSpPr>
              <p:nvPr/>
            </p:nvSpPr>
            <p:spPr bwMode="auto">
              <a:xfrm>
                <a:off x="2211" y="2324"/>
                <a:ext cx="5" cy="3"/>
              </a:xfrm>
              <a:custGeom>
                <a:avLst/>
                <a:gdLst>
                  <a:gd name="T0" fmla="*/ 3 w 4"/>
                  <a:gd name="T1" fmla="*/ 2 h 2"/>
                  <a:gd name="T2" fmla="*/ 0 w 4"/>
                  <a:gd name="T3" fmla="*/ 0 h 2"/>
                  <a:gd name="T4" fmla="*/ 3 w 4"/>
                  <a:gd name="T5" fmla="*/ 2 h 2"/>
                </a:gdLst>
                <a:ahLst/>
                <a:cxnLst>
                  <a:cxn ang="0">
                    <a:pos x="T0" y="T1"/>
                  </a:cxn>
                  <a:cxn ang="0">
                    <a:pos x="T2" y="T3"/>
                  </a:cxn>
                  <a:cxn ang="0">
                    <a:pos x="T4" y="T5"/>
                  </a:cxn>
                </a:cxnLst>
                <a:rect l="0" t="0" r="r" b="b"/>
                <a:pathLst>
                  <a:path w="4" h="2">
                    <a:moveTo>
                      <a:pt x="3" y="2"/>
                    </a:moveTo>
                    <a:cubicBezTo>
                      <a:pt x="4" y="2"/>
                      <a:pt x="1" y="1"/>
                      <a:pt x="0" y="0"/>
                    </a:cubicBezTo>
                    <a:cubicBezTo>
                      <a:pt x="0" y="0"/>
                      <a:pt x="2" y="2"/>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68" name="Freeform 477">
                <a:extLst>
                  <a:ext uri="{FF2B5EF4-FFF2-40B4-BE49-F238E27FC236}">
                    <a16:creationId xmlns:a16="http://schemas.microsoft.com/office/drawing/2014/main" id="{C7970B23-DD03-4B75-825E-99F09784C0B3}"/>
                  </a:ext>
                </a:extLst>
              </p:cNvPr>
              <p:cNvSpPr>
                <a:spLocks/>
              </p:cNvSpPr>
              <p:nvPr/>
            </p:nvSpPr>
            <p:spPr bwMode="auto">
              <a:xfrm>
                <a:off x="2232" y="2328"/>
                <a:ext cx="4" cy="4"/>
              </a:xfrm>
              <a:custGeom>
                <a:avLst/>
                <a:gdLst>
                  <a:gd name="T0" fmla="*/ 0 w 3"/>
                  <a:gd name="T1" fmla="*/ 1 h 3"/>
                  <a:gd name="T2" fmla="*/ 1 w 3"/>
                  <a:gd name="T3" fmla="*/ 3 h 3"/>
                  <a:gd name="T4" fmla="*/ 2 w 3"/>
                  <a:gd name="T5" fmla="*/ 2 h 3"/>
                  <a:gd name="T6" fmla="*/ 0 w 3"/>
                  <a:gd name="T7" fmla="*/ 1 h 3"/>
                </a:gdLst>
                <a:ahLst/>
                <a:cxnLst>
                  <a:cxn ang="0">
                    <a:pos x="T0" y="T1"/>
                  </a:cxn>
                  <a:cxn ang="0">
                    <a:pos x="T2" y="T3"/>
                  </a:cxn>
                  <a:cxn ang="0">
                    <a:pos x="T4" y="T5"/>
                  </a:cxn>
                  <a:cxn ang="0">
                    <a:pos x="T6" y="T7"/>
                  </a:cxn>
                </a:cxnLst>
                <a:rect l="0" t="0" r="r" b="b"/>
                <a:pathLst>
                  <a:path w="3" h="3">
                    <a:moveTo>
                      <a:pt x="0" y="1"/>
                    </a:moveTo>
                    <a:cubicBezTo>
                      <a:pt x="0" y="1"/>
                      <a:pt x="0" y="3"/>
                      <a:pt x="1" y="3"/>
                    </a:cubicBezTo>
                    <a:cubicBezTo>
                      <a:pt x="3" y="3"/>
                      <a:pt x="3" y="3"/>
                      <a:pt x="2" y="2"/>
                    </a:cubicBezTo>
                    <a:cubicBezTo>
                      <a:pt x="2" y="1"/>
                      <a:pt x="1"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69" name="Freeform 478">
                <a:extLst>
                  <a:ext uri="{FF2B5EF4-FFF2-40B4-BE49-F238E27FC236}">
                    <a16:creationId xmlns:a16="http://schemas.microsoft.com/office/drawing/2014/main" id="{75EA2334-47FC-4A48-B46C-F810D1D6C9CD}"/>
                  </a:ext>
                </a:extLst>
              </p:cNvPr>
              <p:cNvSpPr>
                <a:spLocks/>
              </p:cNvSpPr>
              <p:nvPr/>
            </p:nvSpPr>
            <p:spPr bwMode="auto">
              <a:xfrm>
                <a:off x="2233" y="2347"/>
                <a:ext cx="6" cy="7"/>
              </a:xfrm>
              <a:custGeom>
                <a:avLst/>
                <a:gdLst>
                  <a:gd name="T0" fmla="*/ 3 w 4"/>
                  <a:gd name="T1" fmla="*/ 2 h 5"/>
                  <a:gd name="T2" fmla="*/ 2 w 4"/>
                  <a:gd name="T3" fmla="*/ 0 h 5"/>
                  <a:gd name="T4" fmla="*/ 1 w 4"/>
                  <a:gd name="T5" fmla="*/ 1 h 5"/>
                  <a:gd name="T6" fmla="*/ 3 w 4"/>
                  <a:gd name="T7" fmla="*/ 4 h 5"/>
                  <a:gd name="T8" fmla="*/ 3 w 4"/>
                  <a:gd name="T9" fmla="*/ 2 h 5"/>
                </a:gdLst>
                <a:ahLst/>
                <a:cxnLst>
                  <a:cxn ang="0">
                    <a:pos x="T0" y="T1"/>
                  </a:cxn>
                  <a:cxn ang="0">
                    <a:pos x="T2" y="T3"/>
                  </a:cxn>
                  <a:cxn ang="0">
                    <a:pos x="T4" y="T5"/>
                  </a:cxn>
                  <a:cxn ang="0">
                    <a:pos x="T6" y="T7"/>
                  </a:cxn>
                  <a:cxn ang="0">
                    <a:pos x="T8" y="T9"/>
                  </a:cxn>
                </a:cxnLst>
                <a:rect l="0" t="0" r="r" b="b"/>
                <a:pathLst>
                  <a:path w="4" h="5">
                    <a:moveTo>
                      <a:pt x="3" y="2"/>
                    </a:moveTo>
                    <a:cubicBezTo>
                      <a:pt x="3" y="1"/>
                      <a:pt x="3" y="0"/>
                      <a:pt x="2" y="0"/>
                    </a:cubicBezTo>
                    <a:cubicBezTo>
                      <a:pt x="0" y="0"/>
                      <a:pt x="1" y="1"/>
                      <a:pt x="1" y="1"/>
                    </a:cubicBezTo>
                    <a:cubicBezTo>
                      <a:pt x="1" y="3"/>
                      <a:pt x="1" y="5"/>
                      <a:pt x="3" y="4"/>
                    </a:cubicBezTo>
                    <a:cubicBezTo>
                      <a:pt x="4" y="4"/>
                      <a:pt x="4" y="3"/>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70" name="Freeform 479">
                <a:extLst>
                  <a:ext uri="{FF2B5EF4-FFF2-40B4-BE49-F238E27FC236}">
                    <a16:creationId xmlns:a16="http://schemas.microsoft.com/office/drawing/2014/main" id="{4ABA8A1C-C8F2-4D58-BA43-61529B71EEB2}"/>
                  </a:ext>
                </a:extLst>
              </p:cNvPr>
              <p:cNvSpPr>
                <a:spLocks/>
              </p:cNvSpPr>
              <p:nvPr/>
            </p:nvSpPr>
            <p:spPr bwMode="auto">
              <a:xfrm>
                <a:off x="2239" y="2344"/>
                <a:ext cx="8" cy="5"/>
              </a:xfrm>
              <a:custGeom>
                <a:avLst/>
                <a:gdLst>
                  <a:gd name="T0" fmla="*/ 4 w 6"/>
                  <a:gd name="T1" fmla="*/ 2 h 3"/>
                  <a:gd name="T2" fmla="*/ 1 w 6"/>
                  <a:gd name="T3" fmla="*/ 0 h 3"/>
                  <a:gd name="T4" fmla="*/ 3 w 6"/>
                  <a:gd name="T5" fmla="*/ 3 h 3"/>
                  <a:gd name="T6" fmla="*/ 4 w 6"/>
                  <a:gd name="T7" fmla="*/ 2 h 3"/>
                </a:gdLst>
                <a:ahLst/>
                <a:cxnLst>
                  <a:cxn ang="0">
                    <a:pos x="T0" y="T1"/>
                  </a:cxn>
                  <a:cxn ang="0">
                    <a:pos x="T2" y="T3"/>
                  </a:cxn>
                  <a:cxn ang="0">
                    <a:pos x="T4" y="T5"/>
                  </a:cxn>
                  <a:cxn ang="0">
                    <a:pos x="T6" y="T7"/>
                  </a:cxn>
                </a:cxnLst>
                <a:rect l="0" t="0" r="r" b="b"/>
                <a:pathLst>
                  <a:path w="6" h="3">
                    <a:moveTo>
                      <a:pt x="4" y="2"/>
                    </a:moveTo>
                    <a:cubicBezTo>
                      <a:pt x="2" y="1"/>
                      <a:pt x="2" y="0"/>
                      <a:pt x="1" y="0"/>
                    </a:cubicBezTo>
                    <a:cubicBezTo>
                      <a:pt x="1" y="0"/>
                      <a:pt x="0" y="3"/>
                      <a:pt x="3" y="3"/>
                    </a:cubicBezTo>
                    <a:cubicBezTo>
                      <a:pt x="5" y="3"/>
                      <a:pt x="6" y="3"/>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71" name="Freeform 480">
                <a:extLst>
                  <a:ext uri="{FF2B5EF4-FFF2-40B4-BE49-F238E27FC236}">
                    <a16:creationId xmlns:a16="http://schemas.microsoft.com/office/drawing/2014/main" id="{A155C42E-F2D0-4820-8A78-E988FB6CA23D}"/>
                  </a:ext>
                </a:extLst>
              </p:cNvPr>
              <p:cNvSpPr>
                <a:spLocks/>
              </p:cNvSpPr>
              <p:nvPr/>
            </p:nvSpPr>
            <p:spPr bwMode="auto">
              <a:xfrm>
                <a:off x="2243" y="2353"/>
                <a:ext cx="2" cy="2"/>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1" y="2"/>
                      <a:pt x="2" y="1"/>
                    </a:cubicBezTo>
                    <a:cubicBezTo>
                      <a:pt x="2" y="0"/>
                      <a:pt x="0" y="1"/>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72" name="Freeform 481">
                <a:extLst>
                  <a:ext uri="{FF2B5EF4-FFF2-40B4-BE49-F238E27FC236}">
                    <a16:creationId xmlns:a16="http://schemas.microsoft.com/office/drawing/2014/main" id="{AB4CD8BB-A15A-40D0-8C98-CC40164551C1}"/>
                  </a:ext>
                </a:extLst>
              </p:cNvPr>
              <p:cNvSpPr>
                <a:spLocks/>
              </p:cNvSpPr>
              <p:nvPr/>
            </p:nvSpPr>
            <p:spPr bwMode="auto">
              <a:xfrm>
                <a:off x="2239" y="2361"/>
                <a:ext cx="5" cy="9"/>
              </a:xfrm>
              <a:custGeom>
                <a:avLst/>
                <a:gdLst>
                  <a:gd name="T0" fmla="*/ 2 w 4"/>
                  <a:gd name="T1" fmla="*/ 0 h 7"/>
                  <a:gd name="T2" fmla="*/ 2 w 4"/>
                  <a:gd name="T3" fmla="*/ 5 h 7"/>
                  <a:gd name="T4" fmla="*/ 4 w 4"/>
                  <a:gd name="T5" fmla="*/ 5 h 7"/>
                  <a:gd name="T6" fmla="*/ 2 w 4"/>
                  <a:gd name="T7" fmla="*/ 0 h 7"/>
                </a:gdLst>
                <a:ahLst/>
                <a:cxnLst>
                  <a:cxn ang="0">
                    <a:pos x="T0" y="T1"/>
                  </a:cxn>
                  <a:cxn ang="0">
                    <a:pos x="T2" y="T3"/>
                  </a:cxn>
                  <a:cxn ang="0">
                    <a:pos x="T4" y="T5"/>
                  </a:cxn>
                  <a:cxn ang="0">
                    <a:pos x="T6" y="T7"/>
                  </a:cxn>
                </a:cxnLst>
                <a:rect l="0" t="0" r="r" b="b"/>
                <a:pathLst>
                  <a:path w="4" h="7">
                    <a:moveTo>
                      <a:pt x="2" y="0"/>
                    </a:moveTo>
                    <a:cubicBezTo>
                      <a:pt x="2" y="0"/>
                      <a:pt x="0" y="4"/>
                      <a:pt x="2" y="5"/>
                    </a:cubicBezTo>
                    <a:cubicBezTo>
                      <a:pt x="3" y="7"/>
                      <a:pt x="4" y="7"/>
                      <a:pt x="4" y="5"/>
                    </a:cubicBezTo>
                    <a:cubicBezTo>
                      <a:pt x="4" y="3"/>
                      <a:pt x="3"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73" name="Freeform 482">
                <a:extLst>
                  <a:ext uri="{FF2B5EF4-FFF2-40B4-BE49-F238E27FC236}">
                    <a16:creationId xmlns:a16="http://schemas.microsoft.com/office/drawing/2014/main" id="{CB2E7251-81DF-4EA1-B3F0-3327941A1EFC}"/>
                  </a:ext>
                </a:extLst>
              </p:cNvPr>
              <p:cNvSpPr>
                <a:spLocks/>
              </p:cNvSpPr>
              <p:nvPr/>
            </p:nvSpPr>
            <p:spPr bwMode="auto">
              <a:xfrm>
                <a:off x="2244" y="2376"/>
                <a:ext cx="10" cy="10"/>
              </a:xfrm>
              <a:custGeom>
                <a:avLst/>
                <a:gdLst>
                  <a:gd name="T0" fmla="*/ 5 w 7"/>
                  <a:gd name="T1" fmla="*/ 3 h 7"/>
                  <a:gd name="T2" fmla="*/ 1 w 7"/>
                  <a:gd name="T3" fmla="*/ 1 h 7"/>
                  <a:gd name="T4" fmla="*/ 2 w 7"/>
                  <a:gd name="T5" fmla="*/ 4 h 7"/>
                  <a:gd name="T6" fmla="*/ 2 w 7"/>
                  <a:gd name="T7" fmla="*/ 6 h 7"/>
                  <a:gd name="T8" fmla="*/ 5 w 7"/>
                  <a:gd name="T9" fmla="*/ 7 h 7"/>
                  <a:gd name="T10" fmla="*/ 5 w 7"/>
                  <a:gd name="T11" fmla="*/ 3 h 7"/>
                </a:gdLst>
                <a:ahLst/>
                <a:cxnLst>
                  <a:cxn ang="0">
                    <a:pos x="T0" y="T1"/>
                  </a:cxn>
                  <a:cxn ang="0">
                    <a:pos x="T2" y="T3"/>
                  </a:cxn>
                  <a:cxn ang="0">
                    <a:pos x="T4" y="T5"/>
                  </a:cxn>
                  <a:cxn ang="0">
                    <a:pos x="T6" y="T7"/>
                  </a:cxn>
                  <a:cxn ang="0">
                    <a:pos x="T8" y="T9"/>
                  </a:cxn>
                  <a:cxn ang="0">
                    <a:pos x="T10" y="T11"/>
                  </a:cxn>
                </a:cxnLst>
                <a:rect l="0" t="0" r="r" b="b"/>
                <a:pathLst>
                  <a:path w="7" h="7">
                    <a:moveTo>
                      <a:pt x="5" y="3"/>
                    </a:moveTo>
                    <a:cubicBezTo>
                      <a:pt x="4" y="2"/>
                      <a:pt x="2" y="0"/>
                      <a:pt x="1" y="1"/>
                    </a:cubicBezTo>
                    <a:cubicBezTo>
                      <a:pt x="0" y="2"/>
                      <a:pt x="2" y="4"/>
                      <a:pt x="2" y="4"/>
                    </a:cubicBezTo>
                    <a:cubicBezTo>
                      <a:pt x="4" y="5"/>
                      <a:pt x="2" y="5"/>
                      <a:pt x="2" y="6"/>
                    </a:cubicBezTo>
                    <a:cubicBezTo>
                      <a:pt x="3" y="7"/>
                      <a:pt x="3" y="6"/>
                      <a:pt x="5" y="7"/>
                    </a:cubicBezTo>
                    <a:cubicBezTo>
                      <a:pt x="7" y="7"/>
                      <a:pt x="6" y="5"/>
                      <a:pt x="5"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74" name="Freeform 483">
                <a:extLst>
                  <a:ext uri="{FF2B5EF4-FFF2-40B4-BE49-F238E27FC236}">
                    <a16:creationId xmlns:a16="http://schemas.microsoft.com/office/drawing/2014/main" id="{3AC96292-580F-4480-A189-2862E3AA3733}"/>
                  </a:ext>
                </a:extLst>
              </p:cNvPr>
              <p:cNvSpPr>
                <a:spLocks/>
              </p:cNvSpPr>
              <p:nvPr/>
            </p:nvSpPr>
            <p:spPr bwMode="auto">
              <a:xfrm>
                <a:off x="2247" y="2391"/>
                <a:ext cx="5" cy="10"/>
              </a:xfrm>
              <a:custGeom>
                <a:avLst/>
                <a:gdLst>
                  <a:gd name="T0" fmla="*/ 3 w 4"/>
                  <a:gd name="T1" fmla="*/ 5 h 7"/>
                  <a:gd name="T2" fmla="*/ 3 w 4"/>
                  <a:gd name="T3" fmla="*/ 2 h 7"/>
                  <a:gd name="T4" fmla="*/ 2 w 4"/>
                  <a:gd name="T5" fmla="*/ 6 h 7"/>
                  <a:gd name="T6" fmla="*/ 3 w 4"/>
                  <a:gd name="T7" fmla="*/ 5 h 7"/>
                </a:gdLst>
                <a:ahLst/>
                <a:cxnLst>
                  <a:cxn ang="0">
                    <a:pos x="T0" y="T1"/>
                  </a:cxn>
                  <a:cxn ang="0">
                    <a:pos x="T2" y="T3"/>
                  </a:cxn>
                  <a:cxn ang="0">
                    <a:pos x="T4" y="T5"/>
                  </a:cxn>
                  <a:cxn ang="0">
                    <a:pos x="T6" y="T7"/>
                  </a:cxn>
                </a:cxnLst>
                <a:rect l="0" t="0" r="r" b="b"/>
                <a:pathLst>
                  <a:path w="4" h="7">
                    <a:moveTo>
                      <a:pt x="3" y="5"/>
                    </a:moveTo>
                    <a:cubicBezTo>
                      <a:pt x="4" y="3"/>
                      <a:pt x="3" y="0"/>
                      <a:pt x="3" y="2"/>
                    </a:cubicBezTo>
                    <a:cubicBezTo>
                      <a:pt x="3" y="2"/>
                      <a:pt x="0" y="4"/>
                      <a:pt x="2" y="6"/>
                    </a:cubicBezTo>
                    <a:cubicBezTo>
                      <a:pt x="3" y="7"/>
                      <a:pt x="3" y="6"/>
                      <a:pt x="3"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75" name="Freeform 484">
                <a:extLst>
                  <a:ext uri="{FF2B5EF4-FFF2-40B4-BE49-F238E27FC236}">
                    <a16:creationId xmlns:a16="http://schemas.microsoft.com/office/drawing/2014/main" id="{B1DA888A-FBF2-4B0A-AA18-3DDDB23707E1}"/>
                  </a:ext>
                </a:extLst>
              </p:cNvPr>
              <p:cNvSpPr>
                <a:spLocks/>
              </p:cNvSpPr>
              <p:nvPr/>
            </p:nvSpPr>
            <p:spPr bwMode="auto">
              <a:xfrm>
                <a:off x="2243" y="2408"/>
                <a:ext cx="5" cy="5"/>
              </a:xfrm>
              <a:custGeom>
                <a:avLst/>
                <a:gdLst>
                  <a:gd name="T0" fmla="*/ 3 w 4"/>
                  <a:gd name="T1" fmla="*/ 2 h 4"/>
                  <a:gd name="T2" fmla="*/ 2 w 4"/>
                  <a:gd name="T3" fmla="*/ 1 h 4"/>
                  <a:gd name="T4" fmla="*/ 1 w 4"/>
                  <a:gd name="T5" fmla="*/ 3 h 4"/>
                  <a:gd name="T6" fmla="*/ 3 w 4"/>
                  <a:gd name="T7" fmla="*/ 2 h 4"/>
                </a:gdLst>
                <a:ahLst/>
                <a:cxnLst>
                  <a:cxn ang="0">
                    <a:pos x="T0" y="T1"/>
                  </a:cxn>
                  <a:cxn ang="0">
                    <a:pos x="T2" y="T3"/>
                  </a:cxn>
                  <a:cxn ang="0">
                    <a:pos x="T4" y="T5"/>
                  </a:cxn>
                  <a:cxn ang="0">
                    <a:pos x="T6" y="T7"/>
                  </a:cxn>
                </a:cxnLst>
                <a:rect l="0" t="0" r="r" b="b"/>
                <a:pathLst>
                  <a:path w="4" h="4">
                    <a:moveTo>
                      <a:pt x="3" y="2"/>
                    </a:moveTo>
                    <a:cubicBezTo>
                      <a:pt x="4" y="1"/>
                      <a:pt x="2" y="0"/>
                      <a:pt x="2" y="1"/>
                    </a:cubicBezTo>
                    <a:cubicBezTo>
                      <a:pt x="2" y="1"/>
                      <a:pt x="0" y="3"/>
                      <a:pt x="1" y="3"/>
                    </a:cubicBezTo>
                    <a:cubicBezTo>
                      <a:pt x="2" y="4"/>
                      <a:pt x="3" y="3"/>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76" name="Freeform 485">
                <a:extLst>
                  <a:ext uri="{FF2B5EF4-FFF2-40B4-BE49-F238E27FC236}">
                    <a16:creationId xmlns:a16="http://schemas.microsoft.com/office/drawing/2014/main" id="{A68578FD-222C-4EA1-B2F5-F5D3818E35D9}"/>
                  </a:ext>
                </a:extLst>
              </p:cNvPr>
              <p:cNvSpPr>
                <a:spLocks/>
              </p:cNvSpPr>
              <p:nvPr/>
            </p:nvSpPr>
            <p:spPr bwMode="auto">
              <a:xfrm>
                <a:off x="2277" y="2409"/>
                <a:ext cx="4" cy="5"/>
              </a:xfrm>
              <a:custGeom>
                <a:avLst/>
                <a:gdLst>
                  <a:gd name="T0" fmla="*/ 1 w 3"/>
                  <a:gd name="T1" fmla="*/ 1 h 4"/>
                  <a:gd name="T2" fmla="*/ 1 w 3"/>
                  <a:gd name="T3" fmla="*/ 3 h 4"/>
                  <a:gd name="T4" fmla="*/ 3 w 3"/>
                  <a:gd name="T5" fmla="*/ 3 h 4"/>
                  <a:gd name="T6" fmla="*/ 1 w 3"/>
                  <a:gd name="T7" fmla="*/ 1 h 4"/>
                </a:gdLst>
                <a:ahLst/>
                <a:cxnLst>
                  <a:cxn ang="0">
                    <a:pos x="T0" y="T1"/>
                  </a:cxn>
                  <a:cxn ang="0">
                    <a:pos x="T2" y="T3"/>
                  </a:cxn>
                  <a:cxn ang="0">
                    <a:pos x="T4" y="T5"/>
                  </a:cxn>
                  <a:cxn ang="0">
                    <a:pos x="T6" y="T7"/>
                  </a:cxn>
                </a:cxnLst>
                <a:rect l="0" t="0" r="r" b="b"/>
                <a:pathLst>
                  <a:path w="3" h="4">
                    <a:moveTo>
                      <a:pt x="1" y="1"/>
                    </a:moveTo>
                    <a:cubicBezTo>
                      <a:pt x="0" y="1"/>
                      <a:pt x="0" y="2"/>
                      <a:pt x="1" y="3"/>
                    </a:cubicBezTo>
                    <a:cubicBezTo>
                      <a:pt x="2" y="4"/>
                      <a:pt x="2" y="4"/>
                      <a:pt x="3" y="3"/>
                    </a:cubicBezTo>
                    <a:cubicBezTo>
                      <a:pt x="3" y="3"/>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77" name="Freeform 486">
                <a:extLst>
                  <a:ext uri="{FF2B5EF4-FFF2-40B4-BE49-F238E27FC236}">
                    <a16:creationId xmlns:a16="http://schemas.microsoft.com/office/drawing/2014/main" id="{F953A6A4-5BD4-49F4-986F-93C40CA694AC}"/>
                  </a:ext>
                </a:extLst>
              </p:cNvPr>
              <p:cNvSpPr>
                <a:spLocks/>
              </p:cNvSpPr>
              <p:nvPr/>
            </p:nvSpPr>
            <p:spPr bwMode="auto">
              <a:xfrm>
                <a:off x="2233" y="2431"/>
                <a:ext cx="6" cy="5"/>
              </a:xfrm>
              <a:custGeom>
                <a:avLst/>
                <a:gdLst>
                  <a:gd name="T0" fmla="*/ 2 w 4"/>
                  <a:gd name="T1" fmla="*/ 0 h 4"/>
                  <a:gd name="T2" fmla="*/ 1 w 4"/>
                  <a:gd name="T3" fmla="*/ 3 h 4"/>
                  <a:gd name="T4" fmla="*/ 2 w 4"/>
                  <a:gd name="T5" fmla="*/ 0 h 4"/>
                </a:gdLst>
                <a:ahLst/>
                <a:cxnLst>
                  <a:cxn ang="0">
                    <a:pos x="T0" y="T1"/>
                  </a:cxn>
                  <a:cxn ang="0">
                    <a:pos x="T2" y="T3"/>
                  </a:cxn>
                  <a:cxn ang="0">
                    <a:pos x="T4" y="T5"/>
                  </a:cxn>
                </a:cxnLst>
                <a:rect l="0" t="0" r="r" b="b"/>
                <a:pathLst>
                  <a:path w="4" h="4">
                    <a:moveTo>
                      <a:pt x="2" y="0"/>
                    </a:moveTo>
                    <a:cubicBezTo>
                      <a:pt x="2" y="0"/>
                      <a:pt x="0" y="4"/>
                      <a:pt x="1" y="3"/>
                    </a:cubicBezTo>
                    <a:cubicBezTo>
                      <a:pt x="3" y="1"/>
                      <a:pt x="4"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78" name="Freeform 487">
                <a:extLst>
                  <a:ext uri="{FF2B5EF4-FFF2-40B4-BE49-F238E27FC236}">
                    <a16:creationId xmlns:a16="http://schemas.microsoft.com/office/drawing/2014/main" id="{0069AE04-F4C1-44B6-A1CB-AC91E94291F2}"/>
                  </a:ext>
                </a:extLst>
              </p:cNvPr>
              <p:cNvSpPr>
                <a:spLocks/>
              </p:cNvSpPr>
              <p:nvPr/>
            </p:nvSpPr>
            <p:spPr bwMode="auto">
              <a:xfrm>
                <a:off x="2229" y="2460"/>
                <a:ext cx="23" cy="18"/>
              </a:xfrm>
              <a:custGeom>
                <a:avLst/>
                <a:gdLst>
                  <a:gd name="T0" fmla="*/ 8 w 17"/>
                  <a:gd name="T1" fmla="*/ 2 h 13"/>
                  <a:gd name="T2" fmla="*/ 6 w 17"/>
                  <a:gd name="T3" fmla="*/ 3 h 13"/>
                  <a:gd name="T4" fmla="*/ 8 w 17"/>
                  <a:gd name="T5" fmla="*/ 7 h 13"/>
                  <a:gd name="T6" fmla="*/ 3 w 17"/>
                  <a:gd name="T7" fmla="*/ 11 h 13"/>
                  <a:gd name="T8" fmla="*/ 10 w 17"/>
                  <a:gd name="T9" fmla="*/ 12 h 13"/>
                  <a:gd name="T10" fmla="*/ 14 w 17"/>
                  <a:gd name="T11" fmla="*/ 8 h 13"/>
                  <a:gd name="T12" fmla="*/ 16 w 17"/>
                  <a:gd name="T13" fmla="*/ 1 h 13"/>
                  <a:gd name="T14" fmla="*/ 8 w 17"/>
                  <a:gd name="T15" fmla="*/ 2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3">
                    <a:moveTo>
                      <a:pt x="8" y="2"/>
                    </a:moveTo>
                    <a:cubicBezTo>
                      <a:pt x="5" y="2"/>
                      <a:pt x="6" y="3"/>
                      <a:pt x="6" y="3"/>
                    </a:cubicBezTo>
                    <a:cubicBezTo>
                      <a:pt x="7" y="3"/>
                      <a:pt x="8" y="4"/>
                      <a:pt x="8" y="7"/>
                    </a:cubicBezTo>
                    <a:cubicBezTo>
                      <a:pt x="9" y="10"/>
                      <a:pt x="6" y="9"/>
                      <a:pt x="3" y="11"/>
                    </a:cubicBezTo>
                    <a:cubicBezTo>
                      <a:pt x="0" y="12"/>
                      <a:pt x="7" y="13"/>
                      <a:pt x="10" y="12"/>
                    </a:cubicBezTo>
                    <a:cubicBezTo>
                      <a:pt x="13" y="12"/>
                      <a:pt x="15" y="10"/>
                      <a:pt x="14" y="8"/>
                    </a:cubicBezTo>
                    <a:cubicBezTo>
                      <a:pt x="14" y="5"/>
                      <a:pt x="15" y="3"/>
                      <a:pt x="16" y="1"/>
                    </a:cubicBezTo>
                    <a:cubicBezTo>
                      <a:pt x="17" y="0"/>
                      <a:pt x="11" y="1"/>
                      <a:pt x="8"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79" name="Freeform 488">
                <a:extLst>
                  <a:ext uri="{FF2B5EF4-FFF2-40B4-BE49-F238E27FC236}">
                    <a16:creationId xmlns:a16="http://schemas.microsoft.com/office/drawing/2014/main" id="{40DE1003-191F-4ED3-BFCA-20B5A7A2511E}"/>
                  </a:ext>
                </a:extLst>
              </p:cNvPr>
              <p:cNvSpPr>
                <a:spLocks/>
              </p:cNvSpPr>
              <p:nvPr/>
            </p:nvSpPr>
            <p:spPr bwMode="auto">
              <a:xfrm>
                <a:off x="2254" y="2450"/>
                <a:ext cx="5" cy="3"/>
              </a:xfrm>
              <a:custGeom>
                <a:avLst/>
                <a:gdLst>
                  <a:gd name="T0" fmla="*/ 0 w 4"/>
                  <a:gd name="T1" fmla="*/ 2 h 2"/>
                  <a:gd name="T2" fmla="*/ 4 w 4"/>
                  <a:gd name="T3" fmla="*/ 1 h 2"/>
                  <a:gd name="T4" fmla="*/ 0 w 4"/>
                  <a:gd name="T5" fmla="*/ 2 h 2"/>
                </a:gdLst>
                <a:ahLst/>
                <a:cxnLst>
                  <a:cxn ang="0">
                    <a:pos x="T0" y="T1"/>
                  </a:cxn>
                  <a:cxn ang="0">
                    <a:pos x="T2" y="T3"/>
                  </a:cxn>
                  <a:cxn ang="0">
                    <a:pos x="T4" y="T5"/>
                  </a:cxn>
                </a:cxnLst>
                <a:rect l="0" t="0" r="r" b="b"/>
                <a:pathLst>
                  <a:path w="4" h="2">
                    <a:moveTo>
                      <a:pt x="0" y="2"/>
                    </a:moveTo>
                    <a:cubicBezTo>
                      <a:pt x="0" y="2"/>
                      <a:pt x="4" y="2"/>
                      <a:pt x="4" y="1"/>
                    </a:cubicBezTo>
                    <a:cubicBezTo>
                      <a:pt x="4" y="0"/>
                      <a:pt x="1" y="1"/>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80" name="Freeform 489">
                <a:extLst>
                  <a:ext uri="{FF2B5EF4-FFF2-40B4-BE49-F238E27FC236}">
                    <a16:creationId xmlns:a16="http://schemas.microsoft.com/office/drawing/2014/main" id="{4C92C9E5-303A-4AD3-805D-672B54DD6FEE}"/>
                  </a:ext>
                </a:extLst>
              </p:cNvPr>
              <p:cNvSpPr>
                <a:spLocks/>
              </p:cNvSpPr>
              <p:nvPr/>
            </p:nvSpPr>
            <p:spPr bwMode="auto">
              <a:xfrm>
                <a:off x="2205" y="2305"/>
                <a:ext cx="6" cy="2"/>
              </a:xfrm>
              <a:custGeom>
                <a:avLst/>
                <a:gdLst>
                  <a:gd name="T0" fmla="*/ 0 w 4"/>
                  <a:gd name="T1" fmla="*/ 2 h 2"/>
                  <a:gd name="T2" fmla="*/ 2 w 4"/>
                  <a:gd name="T3" fmla="*/ 1 h 2"/>
                  <a:gd name="T4" fmla="*/ 0 w 4"/>
                  <a:gd name="T5" fmla="*/ 2 h 2"/>
                </a:gdLst>
                <a:ahLst/>
                <a:cxnLst>
                  <a:cxn ang="0">
                    <a:pos x="T0" y="T1"/>
                  </a:cxn>
                  <a:cxn ang="0">
                    <a:pos x="T2" y="T3"/>
                  </a:cxn>
                  <a:cxn ang="0">
                    <a:pos x="T4" y="T5"/>
                  </a:cxn>
                </a:cxnLst>
                <a:rect l="0" t="0" r="r" b="b"/>
                <a:pathLst>
                  <a:path w="4" h="2">
                    <a:moveTo>
                      <a:pt x="0" y="2"/>
                    </a:moveTo>
                    <a:cubicBezTo>
                      <a:pt x="0" y="2"/>
                      <a:pt x="4" y="1"/>
                      <a:pt x="2" y="1"/>
                    </a:cubicBezTo>
                    <a:cubicBezTo>
                      <a:pt x="1" y="0"/>
                      <a:pt x="1" y="2"/>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81" name="Freeform 490">
                <a:extLst>
                  <a:ext uri="{FF2B5EF4-FFF2-40B4-BE49-F238E27FC236}">
                    <a16:creationId xmlns:a16="http://schemas.microsoft.com/office/drawing/2014/main" id="{F586A1D8-BB1D-4B4D-9167-1FEFE24382E9}"/>
                  </a:ext>
                </a:extLst>
              </p:cNvPr>
              <p:cNvSpPr>
                <a:spLocks/>
              </p:cNvSpPr>
              <p:nvPr/>
            </p:nvSpPr>
            <p:spPr bwMode="auto">
              <a:xfrm>
                <a:off x="1830" y="2283"/>
                <a:ext cx="6" cy="2"/>
              </a:xfrm>
              <a:custGeom>
                <a:avLst/>
                <a:gdLst>
                  <a:gd name="T0" fmla="*/ 0 w 4"/>
                  <a:gd name="T1" fmla="*/ 1 h 2"/>
                  <a:gd name="T2" fmla="*/ 2 w 4"/>
                  <a:gd name="T3" fmla="*/ 1 h 2"/>
                  <a:gd name="T4" fmla="*/ 2 w 4"/>
                  <a:gd name="T5" fmla="*/ 0 h 2"/>
                  <a:gd name="T6" fmla="*/ 0 w 4"/>
                  <a:gd name="T7" fmla="*/ 1 h 2"/>
                </a:gdLst>
                <a:ahLst/>
                <a:cxnLst>
                  <a:cxn ang="0">
                    <a:pos x="T0" y="T1"/>
                  </a:cxn>
                  <a:cxn ang="0">
                    <a:pos x="T2" y="T3"/>
                  </a:cxn>
                  <a:cxn ang="0">
                    <a:pos x="T4" y="T5"/>
                  </a:cxn>
                  <a:cxn ang="0">
                    <a:pos x="T6" y="T7"/>
                  </a:cxn>
                </a:cxnLst>
                <a:rect l="0" t="0" r="r" b="b"/>
                <a:pathLst>
                  <a:path w="4" h="2">
                    <a:moveTo>
                      <a:pt x="0" y="1"/>
                    </a:moveTo>
                    <a:cubicBezTo>
                      <a:pt x="0" y="1"/>
                      <a:pt x="0" y="2"/>
                      <a:pt x="2" y="1"/>
                    </a:cubicBezTo>
                    <a:cubicBezTo>
                      <a:pt x="4" y="0"/>
                      <a:pt x="3" y="0"/>
                      <a:pt x="2" y="0"/>
                    </a:cubicBezTo>
                    <a:cubicBezTo>
                      <a:pt x="1" y="0"/>
                      <a:pt x="0" y="1"/>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82" name="Freeform 491">
                <a:extLst>
                  <a:ext uri="{FF2B5EF4-FFF2-40B4-BE49-F238E27FC236}">
                    <a16:creationId xmlns:a16="http://schemas.microsoft.com/office/drawing/2014/main" id="{800CA805-B4CF-4F0D-957C-8471E31AF49F}"/>
                  </a:ext>
                </a:extLst>
              </p:cNvPr>
              <p:cNvSpPr>
                <a:spLocks/>
              </p:cNvSpPr>
              <p:nvPr/>
            </p:nvSpPr>
            <p:spPr bwMode="auto">
              <a:xfrm>
                <a:off x="423" y="3043"/>
                <a:ext cx="3" cy="1"/>
              </a:xfrm>
              <a:custGeom>
                <a:avLst/>
                <a:gdLst>
                  <a:gd name="T0" fmla="*/ 1 w 2"/>
                  <a:gd name="T1" fmla="*/ 0 h 1"/>
                  <a:gd name="T2" fmla="*/ 0 w 2"/>
                  <a:gd name="T3" fmla="*/ 0 h 1"/>
                  <a:gd name="T4" fmla="*/ 1 w 2"/>
                  <a:gd name="T5" fmla="*/ 0 h 1"/>
                </a:gdLst>
                <a:ahLst/>
                <a:cxnLst>
                  <a:cxn ang="0">
                    <a:pos x="T0" y="T1"/>
                  </a:cxn>
                  <a:cxn ang="0">
                    <a:pos x="T2" y="T3"/>
                  </a:cxn>
                  <a:cxn ang="0">
                    <a:pos x="T4" y="T5"/>
                  </a:cxn>
                </a:cxnLst>
                <a:rect l="0" t="0" r="r" b="b"/>
                <a:pathLst>
                  <a:path w="2" h="1">
                    <a:moveTo>
                      <a:pt x="1" y="0"/>
                    </a:moveTo>
                    <a:cubicBezTo>
                      <a:pt x="2" y="0"/>
                      <a:pt x="1" y="0"/>
                      <a:pt x="0" y="0"/>
                    </a:cubicBezTo>
                    <a:cubicBezTo>
                      <a:pt x="0" y="0"/>
                      <a:pt x="1" y="1"/>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83" name="Freeform 492">
                <a:extLst>
                  <a:ext uri="{FF2B5EF4-FFF2-40B4-BE49-F238E27FC236}">
                    <a16:creationId xmlns:a16="http://schemas.microsoft.com/office/drawing/2014/main" id="{FC51025C-0B52-4629-99C4-13596AE2CAC9}"/>
                  </a:ext>
                </a:extLst>
              </p:cNvPr>
              <p:cNvSpPr>
                <a:spLocks/>
              </p:cNvSpPr>
              <p:nvPr/>
            </p:nvSpPr>
            <p:spPr bwMode="auto">
              <a:xfrm>
                <a:off x="427" y="3042"/>
                <a:ext cx="13" cy="9"/>
              </a:xfrm>
              <a:custGeom>
                <a:avLst/>
                <a:gdLst>
                  <a:gd name="T0" fmla="*/ 6 w 9"/>
                  <a:gd name="T1" fmla="*/ 2 h 7"/>
                  <a:gd name="T2" fmla="*/ 2 w 9"/>
                  <a:gd name="T3" fmla="*/ 1 h 7"/>
                  <a:gd name="T4" fmla="*/ 2 w 9"/>
                  <a:gd name="T5" fmla="*/ 3 h 7"/>
                  <a:gd name="T6" fmla="*/ 8 w 9"/>
                  <a:gd name="T7" fmla="*/ 5 h 7"/>
                  <a:gd name="T8" fmla="*/ 6 w 9"/>
                  <a:gd name="T9" fmla="*/ 5 h 7"/>
                  <a:gd name="T10" fmla="*/ 6 w 9"/>
                  <a:gd name="T11" fmla="*/ 2 h 7"/>
                </a:gdLst>
                <a:ahLst/>
                <a:cxnLst>
                  <a:cxn ang="0">
                    <a:pos x="T0" y="T1"/>
                  </a:cxn>
                  <a:cxn ang="0">
                    <a:pos x="T2" y="T3"/>
                  </a:cxn>
                  <a:cxn ang="0">
                    <a:pos x="T4" y="T5"/>
                  </a:cxn>
                  <a:cxn ang="0">
                    <a:pos x="T6" y="T7"/>
                  </a:cxn>
                  <a:cxn ang="0">
                    <a:pos x="T8" y="T9"/>
                  </a:cxn>
                  <a:cxn ang="0">
                    <a:pos x="T10" y="T11"/>
                  </a:cxn>
                </a:cxnLst>
                <a:rect l="0" t="0" r="r" b="b"/>
                <a:pathLst>
                  <a:path w="9" h="7">
                    <a:moveTo>
                      <a:pt x="6" y="2"/>
                    </a:moveTo>
                    <a:cubicBezTo>
                      <a:pt x="6" y="0"/>
                      <a:pt x="3" y="0"/>
                      <a:pt x="2" y="1"/>
                    </a:cubicBezTo>
                    <a:cubicBezTo>
                      <a:pt x="0" y="3"/>
                      <a:pt x="2" y="3"/>
                      <a:pt x="2" y="3"/>
                    </a:cubicBezTo>
                    <a:cubicBezTo>
                      <a:pt x="4" y="4"/>
                      <a:pt x="7" y="7"/>
                      <a:pt x="8" y="5"/>
                    </a:cubicBezTo>
                    <a:cubicBezTo>
                      <a:pt x="9" y="4"/>
                      <a:pt x="7" y="5"/>
                      <a:pt x="6" y="5"/>
                    </a:cubicBezTo>
                    <a:cubicBezTo>
                      <a:pt x="5" y="4"/>
                      <a:pt x="6" y="4"/>
                      <a:pt x="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84" name="Freeform 493">
                <a:extLst>
                  <a:ext uri="{FF2B5EF4-FFF2-40B4-BE49-F238E27FC236}">
                    <a16:creationId xmlns:a16="http://schemas.microsoft.com/office/drawing/2014/main" id="{6AAFA8F5-D1D6-4DE7-92F7-5477E6FE2F24}"/>
                  </a:ext>
                </a:extLst>
              </p:cNvPr>
              <p:cNvSpPr>
                <a:spLocks/>
              </p:cNvSpPr>
              <p:nvPr/>
            </p:nvSpPr>
            <p:spPr bwMode="auto">
              <a:xfrm>
                <a:off x="268" y="2639"/>
                <a:ext cx="6" cy="9"/>
              </a:xfrm>
              <a:custGeom>
                <a:avLst/>
                <a:gdLst>
                  <a:gd name="T0" fmla="*/ 3 w 4"/>
                  <a:gd name="T1" fmla="*/ 5 h 6"/>
                  <a:gd name="T2" fmla="*/ 2 w 4"/>
                  <a:gd name="T3" fmla="*/ 3 h 6"/>
                  <a:gd name="T4" fmla="*/ 1 w 4"/>
                  <a:gd name="T5" fmla="*/ 1 h 6"/>
                  <a:gd name="T6" fmla="*/ 0 w 4"/>
                  <a:gd name="T7" fmla="*/ 1 h 6"/>
                  <a:gd name="T8" fmla="*/ 2 w 4"/>
                  <a:gd name="T9" fmla="*/ 5 h 6"/>
                  <a:gd name="T10" fmla="*/ 3 w 4"/>
                  <a:gd name="T11" fmla="*/ 5 h 6"/>
                </a:gdLst>
                <a:ahLst/>
                <a:cxnLst>
                  <a:cxn ang="0">
                    <a:pos x="T0" y="T1"/>
                  </a:cxn>
                  <a:cxn ang="0">
                    <a:pos x="T2" y="T3"/>
                  </a:cxn>
                  <a:cxn ang="0">
                    <a:pos x="T4" y="T5"/>
                  </a:cxn>
                  <a:cxn ang="0">
                    <a:pos x="T6" y="T7"/>
                  </a:cxn>
                  <a:cxn ang="0">
                    <a:pos x="T8" y="T9"/>
                  </a:cxn>
                  <a:cxn ang="0">
                    <a:pos x="T10" y="T11"/>
                  </a:cxn>
                </a:cxnLst>
                <a:rect l="0" t="0" r="r" b="b"/>
                <a:pathLst>
                  <a:path w="4" h="6">
                    <a:moveTo>
                      <a:pt x="3" y="5"/>
                    </a:moveTo>
                    <a:cubicBezTo>
                      <a:pt x="2" y="5"/>
                      <a:pt x="2" y="4"/>
                      <a:pt x="2" y="3"/>
                    </a:cubicBezTo>
                    <a:cubicBezTo>
                      <a:pt x="2" y="2"/>
                      <a:pt x="3" y="2"/>
                      <a:pt x="1" y="1"/>
                    </a:cubicBezTo>
                    <a:cubicBezTo>
                      <a:pt x="0" y="0"/>
                      <a:pt x="0" y="1"/>
                      <a:pt x="0" y="1"/>
                    </a:cubicBezTo>
                    <a:cubicBezTo>
                      <a:pt x="1" y="1"/>
                      <a:pt x="0" y="3"/>
                      <a:pt x="2" y="5"/>
                    </a:cubicBezTo>
                    <a:cubicBezTo>
                      <a:pt x="4" y="6"/>
                      <a:pt x="4" y="5"/>
                      <a:pt x="3"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85" name="Freeform 494">
                <a:extLst>
                  <a:ext uri="{FF2B5EF4-FFF2-40B4-BE49-F238E27FC236}">
                    <a16:creationId xmlns:a16="http://schemas.microsoft.com/office/drawing/2014/main" id="{7CCF012F-0034-4CA8-945B-6F36561B6843}"/>
                  </a:ext>
                </a:extLst>
              </p:cNvPr>
              <p:cNvSpPr>
                <a:spLocks/>
              </p:cNvSpPr>
              <p:nvPr/>
            </p:nvSpPr>
            <p:spPr bwMode="auto">
              <a:xfrm>
                <a:off x="621" y="2862"/>
                <a:ext cx="7" cy="4"/>
              </a:xfrm>
              <a:custGeom>
                <a:avLst/>
                <a:gdLst>
                  <a:gd name="T0" fmla="*/ 2 w 5"/>
                  <a:gd name="T1" fmla="*/ 1 h 3"/>
                  <a:gd name="T2" fmla="*/ 2 w 5"/>
                  <a:gd name="T3" fmla="*/ 2 h 3"/>
                  <a:gd name="T4" fmla="*/ 4 w 5"/>
                  <a:gd name="T5" fmla="*/ 2 h 3"/>
                  <a:gd name="T6" fmla="*/ 2 w 5"/>
                  <a:gd name="T7" fmla="*/ 1 h 3"/>
                </a:gdLst>
                <a:ahLst/>
                <a:cxnLst>
                  <a:cxn ang="0">
                    <a:pos x="T0" y="T1"/>
                  </a:cxn>
                  <a:cxn ang="0">
                    <a:pos x="T2" y="T3"/>
                  </a:cxn>
                  <a:cxn ang="0">
                    <a:pos x="T4" y="T5"/>
                  </a:cxn>
                  <a:cxn ang="0">
                    <a:pos x="T6" y="T7"/>
                  </a:cxn>
                </a:cxnLst>
                <a:rect l="0" t="0" r="r" b="b"/>
                <a:pathLst>
                  <a:path w="5" h="3">
                    <a:moveTo>
                      <a:pt x="2" y="1"/>
                    </a:moveTo>
                    <a:cubicBezTo>
                      <a:pt x="0" y="2"/>
                      <a:pt x="2" y="2"/>
                      <a:pt x="2" y="2"/>
                    </a:cubicBezTo>
                    <a:cubicBezTo>
                      <a:pt x="2" y="3"/>
                      <a:pt x="3" y="2"/>
                      <a:pt x="4" y="2"/>
                    </a:cubicBezTo>
                    <a:cubicBezTo>
                      <a:pt x="5" y="1"/>
                      <a:pt x="4"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86" name="Freeform 495">
                <a:extLst>
                  <a:ext uri="{FF2B5EF4-FFF2-40B4-BE49-F238E27FC236}">
                    <a16:creationId xmlns:a16="http://schemas.microsoft.com/office/drawing/2014/main" id="{24E78AFD-8728-4755-922F-D158B825AACE}"/>
                  </a:ext>
                </a:extLst>
              </p:cNvPr>
              <p:cNvSpPr>
                <a:spLocks/>
              </p:cNvSpPr>
              <p:nvPr/>
            </p:nvSpPr>
            <p:spPr bwMode="auto">
              <a:xfrm>
                <a:off x="645" y="2880"/>
                <a:ext cx="5" cy="4"/>
              </a:xfrm>
              <a:custGeom>
                <a:avLst/>
                <a:gdLst>
                  <a:gd name="T0" fmla="*/ 1 w 4"/>
                  <a:gd name="T1" fmla="*/ 1 h 3"/>
                  <a:gd name="T2" fmla="*/ 0 w 4"/>
                  <a:gd name="T3" fmla="*/ 2 h 3"/>
                  <a:gd name="T4" fmla="*/ 3 w 4"/>
                  <a:gd name="T5" fmla="*/ 2 h 3"/>
                  <a:gd name="T6" fmla="*/ 1 w 4"/>
                  <a:gd name="T7" fmla="*/ 1 h 3"/>
                </a:gdLst>
                <a:ahLst/>
                <a:cxnLst>
                  <a:cxn ang="0">
                    <a:pos x="T0" y="T1"/>
                  </a:cxn>
                  <a:cxn ang="0">
                    <a:pos x="T2" y="T3"/>
                  </a:cxn>
                  <a:cxn ang="0">
                    <a:pos x="T4" y="T5"/>
                  </a:cxn>
                  <a:cxn ang="0">
                    <a:pos x="T6" y="T7"/>
                  </a:cxn>
                </a:cxnLst>
                <a:rect l="0" t="0" r="r" b="b"/>
                <a:pathLst>
                  <a:path w="4" h="3">
                    <a:moveTo>
                      <a:pt x="1" y="1"/>
                    </a:moveTo>
                    <a:cubicBezTo>
                      <a:pt x="0" y="2"/>
                      <a:pt x="0" y="2"/>
                      <a:pt x="0" y="2"/>
                    </a:cubicBezTo>
                    <a:cubicBezTo>
                      <a:pt x="0" y="3"/>
                      <a:pt x="2" y="2"/>
                      <a:pt x="3" y="2"/>
                    </a:cubicBezTo>
                    <a:cubicBezTo>
                      <a:pt x="4" y="1"/>
                      <a:pt x="3"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87" name="Freeform 496">
                <a:extLst>
                  <a:ext uri="{FF2B5EF4-FFF2-40B4-BE49-F238E27FC236}">
                    <a16:creationId xmlns:a16="http://schemas.microsoft.com/office/drawing/2014/main" id="{154740DD-71D6-4DE0-8606-25E4932A4A46}"/>
                  </a:ext>
                </a:extLst>
              </p:cNvPr>
              <p:cNvSpPr>
                <a:spLocks/>
              </p:cNvSpPr>
              <p:nvPr/>
            </p:nvSpPr>
            <p:spPr bwMode="auto">
              <a:xfrm>
                <a:off x="645" y="2884"/>
                <a:ext cx="1" cy="2"/>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2"/>
                      <a:pt x="1" y="0"/>
                      <a:pt x="1" y="0"/>
                    </a:cubicBezTo>
                    <a:cubicBezTo>
                      <a:pt x="1" y="0"/>
                      <a:pt x="0" y="2"/>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88" name="Freeform 497">
                <a:extLst>
                  <a:ext uri="{FF2B5EF4-FFF2-40B4-BE49-F238E27FC236}">
                    <a16:creationId xmlns:a16="http://schemas.microsoft.com/office/drawing/2014/main" id="{D09D5EDF-B2E6-4CF2-8F84-21777BCD45C5}"/>
                  </a:ext>
                </a:extLst>
              </p:cNvPr>
              <p:cNvSpPr>
                <a:spLocks/>
              </p:cNvSpPr>
              <p:nvPr/>
            </p:nvSpPr>
            <p:spPr bwMode="auto">
              <a:xfrm>
                <a:off x="508" y="3011"/>
                <a:ext cx="4" cy="4"/>
              </a:xfrm>
              <a:custGeom>
                <a:avLst/>
                <a:gdLst>
                  <a:gd name="T0" fmla="*/ 1 w 3"/>
                  <a:gd name="T1" fmla="*/ 1 h 3"/>
                  <a:gd name="T2" fmla="*/ 3 w 3"/>
                  <a:gd name="T3" fmla="*/ 3 h 3"/>
                  <a:gd name="T4" fmla="*/ 1 w 3"/>
                  <a:gd name="T5" fmla="*/ 1 h 3"/>
                </a:gdLst>
                <a:ahLst/>
                <a:cxnLst>
                  <a:cxn ang="0">
                    <a:pos x="T0" y="T1"/>
                  </a:cxn>
                  <a:cxn ang="0">
                    <a:pos x="T2" y="T3"/>
                  </a:cxn>
                  <a:cxn ang="0">
                    <a:pos x="T4" y="T5"/>
                  </a:cxn>
                </a:cxnLst>
                <a:rect l="0" t="0" r="r" b="b"/>
                <a:pathLst>
                  <a:path w="3" h="3">
                    <a:moveTo>
                      <a:pt x="1" y="1"/>
                    </a:moveTo>
                    <a:cubicBezTo>
                      <a:pt x="0" y="1"/>
                      <a:pt x="3" y="3"/>
                      <a:pt x="3" y="3"/>
                    </a:cubicBezTo>
                    <a:cubicBezTo>
                      <a:pt x="3" y="2"/>
                      <a:pt x="3"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89" name="Freeform 498">
                <a:extLst>
                  <a:ext uri="{FF2B5EF4-FFF2-40B4-BE49-F238E27FC236}">
                    <a16:creationId xmlns:a16="http://schemas.microsoft.com/office/drawing/2014/main" id="{E7D2F376-1423-41CC-96C1-82A73FE4AA8F}"/>
                  </a:ext>
                </a:extLst>
              </p:cNvPr>
              <p:cNvSpPr>
                <a:spLocks/>
              </p:cNvSpPr>
              <p:nvPr/>
            </p:nvSpPr>
            <p:spPr bwMode="auto">
              <a:xfrm>
                <a:off x="7348" y="2958"/>
                <a:ext cx="14" cy="7"/>
              </a:xfrm>
              <a:custGeom>
                <a:avLst/>
                <a:gdLst>
                  <a:gd name="T0" fmla="*/ 6 w 10"/>
                  <a:gd name="T1" fmla="*/ 0 h 5"/>
                  <a:gd name="T2" fmla="*/ 1 w 10"/>
                  <a:gd name="T3" fmla="*/ 2 h 5"/>
                  <a:gd name="T4" fmla="*/ 5 w 10"/>
                  <a:gd name="T5" fmla="*/ 4 h 5"/>
                  <a:gd name="T6" fmla="*/ 9 w 10"/>
                  <a:gd name="T7" fmla="*/ 5 h 5"/>
                  <a:gd name="T8" fmla="*/ 9 w 10"/>
                  <a:gd name="T9" fmla="*/ 3 h 5"/>
                  <a:gd name="T10" fmla="*/ 6 w 10"/>
                  <a:gd name="T11" fmla="*/ 0 h 5"/>
                </a:gdLst>
                <a:ahLst/>
                <a:cxnLst>
                  <a:cxn ang="0">
                    <a:pos x="T0" y="T1"/>
                  </a:cxn>
                  <a:cxn ang="0">
                    <a:pos x="T2" y="T3"/>
                  </a:cxn>
                  <a:cxn ang="0">
                    <a:pos x="T4" y="T5"/>
                  </a:cxn>
                  <a:cxn ang="0">
                    <a:pos x="T6" y="T7"/>
                  </a:cxn>
                  <a:cxn ang="0">
                    <a:pos x="T8" y="T9"/>
                  </a:cxn>
                  <a:cxn ang="0">
                    <a:pos x="T10" y="T11"/>
                  </a:cxn>
                </a:cxnLst>
                <a:rect l="0" t="0" r="r" b="b"/>
                <a:pathLst>
                  <a:path w="10" h="5">
                    <a:moveTo>
                      <a:pt x="6" y="0"/>
                    </a:moveTo>
                    <a:cubicBezTo>
                      <a:pt x="4" y="0"/>
                      <a:pt x="0" y="0"/>
                      <a:pt x="1" y="2"/>
                    </a:cubicBezTo>
                    <a:cubicBezTo>
                      <a:pt x="1" y="2"/>
                      <a:pt x="3" y="3"/>
                      <a:pt x="5" y="4"/>
                    </a:cubicBezTo>
                    <a:cubicBezTo>
                      <a:pt x="7" y="4"/>
                      <a:pt x="9" y="5"/>
                      <a:pt x="9" y="5"/>
                    </a:cubicBezTo>
                    <a:cubicBezTo>
                      <a:pt x="9" y="5"/>
                      <a:pt x="10" y="5"/>
                      <a:pt x="9" y="3"/>
                    </a:cubicBezTo>
                    <a:cubicBezTo>
                      <a:pt x="9" y="1"/>
                      <a:pt x="9" y="0"/>
                      <a:pt x="6"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90" name="Freeform 499">
                <a:extLst>
                  <a:ext uri="{FF2B5EF4-FFF2-40B4-BE49-F238E27FC236}">
                    <a16:creationId xmlns:a16="http://schemas.microsoft.com/office/drawing/2014/main" id="{74039E27-F7FA-4D50-BC75-BE3C232E0ED3}"/>
                  </a:ext>
                </a:extLst>
              </p:cNvPr>
              <p:cNvSpPr>
                <a:spLocks/>
              </p:cNvSpPr>
              <p:nvPr/>
            </p:nvSpPr>
            <p:spPr bwMode="auto">
              <a:xfrm>
                <a:off x="7365" y="2965"/>
                <a:ext cx="14" cy="7"/>
              </a:xfrm>
              <a:custGeom>
                <a:avLst/>
                <a:gdLst>
                  <a:gd name="T0" fmla="*/ 4 w 10"/>
                  <a:gd name="T1" fmla="*/ 0 h 5"/>
                  <a:gd name="T2" fmla="*/ 0 w 10"/>
                  <a:gd name="T3" fmla="*/ 1 h 5"/>
                  <a:gd name="T4" fmla="*/ 4 w 10"/>
                  <a:gd name="T5" fmla="*/ 3 h 5"/>
                  <a:gd name="T6" fmla="*/ 8 w 10"/>
                  <a:gd name="T7" fmla="*/ 3 h 5"/>
                  <a:gd name="T8" fmla="*/ 4 w 10"/>
                  <a:gd name="T9" fmla="*/ 0 h 5"/>
                </a:gdLst>
                <a:ahLst/>
                <a:cxnLst>
                  <a:cxn ang="0">
                    <a:pos x="T0" y="T1"/>
                  </a:cxn>
                  <a:cxn ang="0">
                    <a:pos x="T2" y="T3"/>
                  </a:cxn>
                  <a:cxn ang="0">
                    <a:pos x="T4" y="T5"/>
                  </a:cxn>
                  <a:cxn ang="0">
                    <a:pos x="T6" y="T7"/>
                  </a:cxn>
                  <a:cxn ang="0">
                    <a:pos x="T8" y="T9"/>
                  </a:cxn>
                </a:cxnLst>
                <a:rect l="0" t="0" r="r" b="b"/>
                <a:pathLst>
                  <a:path w="10" h="5">
                    <a:moveTo>
                      <a:pt x="4" y="0"/>
                    </a:moveTo>
                    <a:cubicBezTo>
                      <a:pt x="4" y="0"/>
                      <a:pt x="1" y="0"/>
                      <a:pt x="0" y="1"/>
                    </a:cubicBezTo>
                    <a:cubicBezTo>
                      <a:pt x="0" y="2"/>
                      <a:pt x="1" y="3"/>
                      <a:pt x="4" y="3"/>
                    </a:cubicBezTo>
                    <a:cubicBezTo>
                      <a:pt x="6" y="3"/>
                      <a:pt x="10" y="5"/>
                      <a:pt x="8" y="3"/>
                    </a:cubicBezTo>
                    <a:cubicBezTo>
                      <a:pt x="6" y="1"/>
                      <a:pt x="5" y="0"/>
                      <a:pt x="4"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91" name="Freeform 500">
                <a:extLst>
                  <a:ext uri="{FF2B5EF4-FFF2-40B4-BE49-F238E27FC236}">
                    <a16:creationId xmlns:a16="http://schemas.microsoft.com/office/drawing/2014/main" id="{67EDD7FE-A930-4FEA-B081-AACA307BAD29}"/>
                  </a:ext>
                </a:extLst>
              </p:cNvPr>
              <p:cNvSpPr>
                <a:spLocks/>
              </p:cNvSpPr>
              <p:nvPr/>
            </p:nvSpPr>
            <p:spPr bwMode="auto">
              <a:xfrm>
                <a:off x="7390" y="2974"/>
                <a:ext cx="4" cy="3"/>
              </a:xfrm>
              <a:custGeom>
                <a:avLst/>
                <a:gdLst>
                  <a:gd name="T0" fmla="*/ 0 w 3"/>
                  <a:gd name="T1" fmla="*/ 1 h 2"/>
                  <a:gd name="T2" fmla="*/ 2 w 3"/>
                  <a:gd name="T3" fmla="*/ 1 h 2"/>
                  <a:gd name="T4" fmla="*/ 0 w 3"/>
                  <a:gd name="T5" fmla="*/ 1 h 2"/>
                </a:gdLst>
                <a:ahLst/>
                <a:cxnLst>
                  <a:cxn ang="0">
                    <a:pos x="T0" y="T1"/>
                  </a:cxn>
                  <a:cxn ang="0">
                    <a:pos x="T2" y="T3"/>
                  </a:cxn>
                  <a:cxn ang="0">
                    <a:pos x="T4" y="T5"/>
                  </a:cxn>
                </a:cxnLst>
                <a:rect l="0" t="0" r="r" b="b"/>
                <a:pathLst>
                  <a:path w="3" h="2">
                    <a:moveTo>
                      <a:pt x="0" y="1"/>
                    </a:moveTo>
                    <a:cubicBezTo>
                      <a:pt x="0" y="1"/>
                      <a:pt x="2" y="2"/>
                      <a:pt x="2" y="1"/>
                    </a:cubicBezTo>
                    <a:cubicBezTo>
                      <a:pt x="3" y="0"/>
                      <a:pt x="1" y="1"/>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92" name="Freeform 501">
                <a:extLst>
                  <a:ext uri="{FF2B5EF4-FFF2-40B4-BE49-F238E27FC236}">
                    <a16:creationId xmlns:a16="http://schemas.microsoft.com/office/drawing/2014/main" id="{6B25B2DA-E15A-4175-A3CD-8E11B14CFA21}"/>
                  </a:ext>
                </a:extLst>
              </p:cNvPr>
              <p:cNvSpPr>
                <a:spLocks/>
              </p:cNvSpPr>
              <p:nvPr/>
            </p:nvSpPr>
            <p:spPr bwMode="auto">
              <a:xfrm>
                <a:off x="7297" y="3117"/>
                <a:ext cx="7" cy="7"/>
              </a:xfrm>
              <a:custGeom>
                <a:avLst/>
                <a:gdLst>
                  <a:gd name="T0" fmla="*/ 3 w 5"/>
                  <a:gd name="T1" fmla="*/ 1 h 5"/>
                  <a:gd name="T2" fmla="*/ 1 w 5"/>
                  <a:gd name="T3" fmla="*/ 2 h 5"/>
                  <a:gd name="T4" fmla="*/ 4 w 5"/>
                  <a:gd name="T5" fmla="*/ 3 h 5"/>
                  <a:gd name="T6" fmla="*/ 3 w 5"/>
                  <a:gd name="T7" fmla="*/ 1 h 5"/>
                </a:gdLst>
                <a:ahLst/>
                <a:cxnLst>
                  <a:cxn ang="0">
                    <a:pos x="T0" y="T1"/>
                  </a:cxn>
                  <a:cxn ang="0">
                    <a:pos x="T2" y="T3"/>
                  </a:cxn>
                  <a:cxn ang="0">
                    <a:pos x="T4" y="T5"/>
                  </a:cxn>
                  <a:cxn ang="0">
                    <a:pos x="T6" y="T7"/>
                  </a:cxn>
                </a:cxnLst>
                <a:rect l="0" t="0" r="r" b="b"/>
                <a:pathLst>
                  <a:path w="5" h="5">
                    <a:moveTo>
                      <a:pt x="3" y="1"/>
                    </a:moveTo>
                    <a:cubicBezTo>
                      <a:pt x="2" y="1"/>
                      <a:pt x="0" y="0"/>
                      <a:pt x="1" y="2"/>
                    </a:cubicBezTo>
                    <a:cubicBezTo>
                      <a:pt x="1" y="3"/>
                      <a:pt x="3" y="5"/>
                      <a:pt x="4" y="3"/>
                    </a:cubicBezTo>
                    <a:cubicBezTo>
                      <a:pt x="4" y="3"/>
                      <a:pt x="5" y="2"/>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93" name="Freeform 502">
                <a:extLst>
                  <a:ext uri="{FF2B5EF4-FFF2-40B4-BE49-F238E27FC236}">
                    <a16:creationId xmlns:a16="http://schemas.microsoft.com/office/drawing/2014/main" id="{60237F89-EAF7-4B64-B14A-D7B0E8707BF5}"/>
                  </a:ext>
                </a:extLst>
              </p:cNvPr>
              <p:cNvSpPr>
                <a:spLocks/>
              </p:cNvSpPr>
              <p:nvPr/>
            </p:nvSpPr>
            <p:spPr bwMode="auto">
              <a:xfrm>
                <a:off x="7323" y="3065"/>
                <a:ext cx="3" cy="3"/>
              </a:xfrm>
              <a:custGeom>
                <a:avLst/>
                <a:gdLst>
                  <a:gd name="T0" fmla="*/ 1 w 2"/>
                  <a:gd name="T1" fmla="*/ 1 h 2"/>
                  <a:gd name="T2" fmla="*/ 2 w 2"/>
                  <a:gd name="T3" fmla="*/ 2 h 2"/>
                  <a:gd name="T4" fmla="*/ 1 w 2"/>
                  <a:gd name="T5" fmla="*/ 1 h 2"/>
                </a:gdLst>
                <a:ahLst/>
                <a:cxnLst>
                  <a:cxn ang="0">
                    <a:pos x="T0" y="T1"/>
                  </a:cxn>
                  <a:cxn ang="0">
                    <a:pos x="T2" y="T3"/>
                  </a:cxn>
                  <a:cxn ang="0">
                    <a:pos x="T4" y="T5"/>
                  </a:cxn>
                </a:cxnLst>
                <a:rect l="0" t="0" r="r" b="b"/>
                <a:pathLst>
                  <a:path w="2" h="2">
                    <a:moveTo>
                      <a:pt x="1" y="1"/>
                    </a:moveTo>
                    <a:cubicBezTo>
                      <a:pt x="0" y="0"/>
                      <a:pt x="0" y="2"/>
                      <a:pt x="2" y="2"/>
                    </a:cubicBezTo>
                    <a:cubicBezTo>
                      <a:pt x="2" y="2"/>
                      <a:pt x="1" y="1"/>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94" name="Freeform 503">
                <a:extLst>
                  <a:ext uri="{FF2B5EF4-FFF2-40B4-BE49-F238E27FC236}">
                    <a16:creationId xmlns:a16="http://schemas.microsoft.com/office/drawing/2014/main" id="{33251A12-DC64-4CF4-A555-FC1717F9F38B}"/>
                  </a:ext>
                </a:extLst>
              </p:cNvPr>
              <p:cNvSpPr>
                <a:spLocks/>
              </p:cNvSpPr>
              <p:nvPr/>
            </p:nvSpPr>
            <p:spPr bwMode="auto">
              <a:xfrm>
                <a:off x="7159" y="3072"/>
                <a:ext cx="14" cy="5"/>
              </a:xfrm>
              <a:custGeom>
                <a:avLst/>
                <a:gdLst>
                  <a:gd name="T0" fmla="*/ 3 w 10"/>
                  <a:gd name="T1" fmla="*/ 2 h 4"/>
                  <a:gd name="T2" fmla="*/ 2 w 10"/>
                  <a:gd name="T3" fmla="*/ 4 h 4"/>
                  <a:gd name="T4" fmla="*/ 4 w 10"/>
                  <a:gd name="T5" fmla="*/ 3 h 4"/>
                  <a:gd name="T6" fmla="*/ 6 w 10"/>
                  <a:gd name="T7" fmla="*/ 2 h 4"/>
                  <a:gd name="T8" fmla="*/ 8 w 10"/>
                  <a:gd name="T9" fmla="*/ 1 h 4"/>
                  <a:gd name="T10" fmla="*/ 3 w 10"/>
                  <a:gd name="T11" fmla="*/ 2 h 4"/>
                </a:gdLst>
                <a:ahLst/>
                <a:cxnLst>
                  <a:cxn ang="0">
                    <a:pos x="T0" y="T1"/>
                  </a:cxn>
                  <a:cxn ang="0">
                    <a:pos x="T2" y="T3"/>
                  </a:cxn>
                  <a:cxn ang="0">
                    <a:pos x="T4" y="T5"/>
                  </a:cxn>
                  <a:cxn ang="0">
                    <a:pos x="T6" y="T7"/>
                  </a:cxn>
                  <a:cxn ang="0">
                    <a:pos x="T8" y="T9"/>
                  </a:cxn>
                  <a:cxn ang="0">
                    <a:pos x="T10" y="T11"/>
                  </a:cxn>
                </a:cxnLst>
                <a:rect l="0" t="0" r="r" b="b"/>
                <a:pathLst>
                  <a:path w="10" h="4">
                    <a:moveTo>
                      <a:pt x="3" y="2"/>
                    </a:moveTo>
                    <a:cubicBezTo>
                      <a:pt x="1" y="3"/>
                      <a:pt x="0" y="4"/>
                      <a:pt x="2" y="4"/>
                    </a:cubicBezTo>
                    <a:cubicBezTo>
                      <a:pt x="4" y="4"/>
                      <a:pt x="4" y="4"/>
                      <a:pt x="4" y="3"/>
                    </a:cubicBezTo>
                    <a:cubicBezTo>
                      <a:pt x="4" y="3"/>
                      <a:pt x="4" y="2"/>
                      <a:pt x="6" y="2"/>
                    </a:cubicBezTo>
                    <a:cubicBezTo>
                      <a:pt x="8" y="2"/>
                      <a:pt x="10" y="2"/>
                      <a:pt x="8" y="1"/>
                    </a:cubicBezTo>
                    <a:cubicBezTo>
                      <a:pt x="6" y="0"/>
                      <a:pt x="5" y="0"/>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95" name="Freeform 504">
                <a:extLst>
                  <a:ext uri="{FF2B5EF4-FFF2-40B4-BE49-F238E27FC236}">
                    <a16:creationId xmlns:a16="http://schemas.microsoft.com/office/drawing/2014/main" id="{2FC61EE8-57F9-44D3-9917-BFF3F4199B4D}"/>
                  </a:ext>
                </a:extLst>
              </p:cNvPr>
              <p:cNvSpPr>
                <a:spLocks/>
              </p:cNvSpPr>
              <p:nvPr/>
            </p:nvSpPr>
            <p:spPr bwMode="auto">
              <a:xfrm>
                <a:off x="7144" y="3037"/>
                <a:ext cx="31" cy="21"/>
              </a:xfrm>
              <a:custGeom>
                <a:avLst/>
                <a:gdLst>
                  <a:gd name="T0" fmla="*/ 21 w 23"/>
                  <a:gd name="T1" fmla="*/ 7 h 15"/>
                  <a:gd name="T2" fmla="*/ 20 w 23"/>
                  <a:gd name="T3" fmla="*/ 5 h 15"/>
                  <a:gd name="T4" fmla="*/ 16 w 23"/>
                  <a:gd name="T5" fmla="*/ 1 h 15"/>
                  <a:gd name="T6" fmla="*/ 14 w 23"/>
                  <a:gd name="T7" fmla="*/ 1 h 15"/>
                  <a:gd name="T8" fmla="*/ 9 w 23"/>
                  <a:gd name="T9" fmla="*/ 2 h 15"/>
                  <a:gd name="T10" fmla="*/ 5 w 23"/>
                  <a:gd name="T11" fmla="*/ 4 h 15"/>
                  <a:gd name="T12" fmla="*/ 2 w 23"/>
                  <a:gd name="T13" fmla="*/ 11 h 15"/>
                  <a:gd name="T14" fmla="*/ 7 w 23"/>
                  <a:gd name="T15" fmla="*/ 14 h 15"/>
                  <a:gd name="T16" fmla="*/ 17 w 23"/>
                  <a:gd name="T17" fmla="*/ 14 h 15"/>
                  <a:gd name="T18" fmla="*/ 21 w 23"/>
                  <a:gd name="T19" fmla="*/ 12 h 15"/>
                  <a:gd name="T20" fmla="*/ 22 w 23"/>
                  <a:gd name="T21" fmla="*/ 11 h 15"/>
                  <a:gd name="T22" fmla="*/ 21 w 23"/>
                  <a:gd name="T23"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15">
                    <a:moveTo>
                      <a:pt x="21" y="7"/>
                    </a:moveTo>
                    <a:cubicBezTo>
                      <a:pt x="21" y="6"/>
                      <a:pt x="22" y="6"/>
                      <a:pt x="20" y="5"/>
                    </a:cubicBezTo>
                    <a:cubicBezTo>
                      <a:pt x="19" y="4"/>
                      <a:pt x="17" y="2"/>
                      <a:pt x="16" y="1"/>
                    </a:cubicBezTo>
                    <a:cubicBezTo>
                      <a:pt x="15" y="0"/>
                      <a:pt x="15" y="1"/>
                      <a:pt x="14" y="1"/>
                    </a:cubicBezTo>
                    <a:cubicBezTo>
                      <a:pt x="13" y="2"/>
                      <a:pt x="11" y="2"/>
                      <a:pt x="9" y="2"/>
                    </a:cubicBezTo>
                    <a:cubicBezTo>
                      <a:pt x="8" y="2"/>
                      <a:pt x="7" y="2"/>
                      <a:pt x="5" y="4"/>
                    </a:cubicBezTo>
                    <a:cubicBezTo>
                      <a:pt x="3" y="6"/>
                      <a:pt x="0" y="8"/>
                      <a:pt x="2" y="11"/>
                    </a:cubicBezTo>
                    <a:cubicBezTo>
                      <a:pt x="3" y="14"/>
                      <a:pt x="5" y="14"/>
                      <a:pt x="7" y="14"/>
                    </a:cubicBezTo>
                    <a:cubicBezTo>
                      <a:pt x="10" y="15"/>
                      <a:pt x="15" y="14"/>
                      <a:pt x="17" y="14"/>
                    </a:cubicBezTo>
                    <a:cubicBezTo>
                      <a:pt x="19" y="13"/>
                      <a:pt x="20" y="13"/>
                      <a:pt x="21" y="12"/>
                    </a:cubicBezTo>
                    <a:cubicBezTo>
                      <a:pt x="21" y="12"/>
                      <a:pt x="23" y="12"/>
                      <a:pt x="22" y="11"/>
                    </a:cubicBezTo>
                    <a:cubicBezTo>
                      <a:pt x="20" y="9"/>
                      <a:pt x="20" y="9"/>
                      <a:pt x="21"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96" name="Freeform 505">
                <a:extLst>
                  <a:ext uri="{FF2B5EF4-FFF2-40B4-BE49-F238E27FC236}">
                    <a16:creationId xmlns:a16="http://schemas.microsoft.com/office/drawing/2014/main" id="{1B35F712-B6F4-4704-8164-3C342B2BA281}"/>
                  </a:ext>
                </a:extLst>
              </p:cNvPr>
              <p:cNvSpPr>
                <a:spLocks/>
              </p:cNvSpPr>
              <p:nvPr/>
            </p:nvSpPr>
            <p:spPr bwMode="auto">
              <a:xfrm>
                <a:off x="7168" y="3013"/>
                <a:ext cx="35" cy="19"/>
              </a:xfrm>
              <a:custGeom>
                <a:avLst/>
                <a:gdLst>
                  <a:gd name="T0" fmla="*/ 20 w 25"/>
                  <a:gd name="T1" fmla="*/ 7 h 14"/>
                  <a:gd name="T2" fmla="*/ 17 w 25"/>
                  <a:gd name="T3" fmla="*/ 8 h 14"/>
                  <a:gd name="T4" fmla="*/ 21 w 25"/>
                  <a:gd name="T5" fmla="*/ 4 h 14"/>
                  <a:gd name="T6" fmla="*/ 23 w 25"/>
                  <a:gd name="T7" fmla="*/ 1 h 14"/>
                  <a:gd name="T8" fmla="*/ 20 w 25"/>
                  <a:gd name="T9" fmla="*/ 1 h 14"/>
                  <a:gd name="T10" fmla="*/ 18 w 25"/>
                  <a:gd name="T11" fmla="*/ 2 h 14"/>
                  <a:gd name="T12" fmla="*/ 16 w 25"/>
                  <a:gd name="T13" fmla="*/ 3 h 14"/>
                  <a:gd name="T14" fmla="*/ 13 w 25"/>
                  <a:gd name="T15" fmla="*/ 5 h 14"/>
                  <a:gd name="T16" fmla="*/ 8 w 25"/>
                  <a:gd name="T17" fmla="*/ 6 h 14"/>
                  <a:gd name="T18" fmla="*/ 6 w 25"/>
                  <a:gd name="T19" fmla="*/ 8 h 14"/>
                  <a:gd name="T20" fmla="*/ 4 w 25"/>
                  <a:gd name="T21" fmla="*/ 8 h 14"/>
                  <a:gd name="T22" fmla="*/ 2 w 25"/>
                  <a:gd name="T23" fmla="*/ 8 h 14"/>
                  <a:gd name="T24" fmla="*/ 2 w 25"/>
                  <a:gd name="T25" fmla="*/ 10 h 14"/>
                  <a:gd name="T26" fmla="*/ 4 w 25"/>
                  <a:gd name="T27" fmla="*/ 12 h 14"/>
                  <a:gd name="T28" fmla="*/ 7 w 25"/>
                  <a:gd name="T29" fmla="*/ 13 h 14"/>
                  <a:gd name="T30" fmla="*/ 13 w 25"/>
                  <a:gd name="T31" fmla="*/ 11 h 14"/>
                  <a:gd name="T32" fmla="*/ 19 w 25"/>
                  <a:gd name="T33" fmla="*/ 10 h 14"/>
                  <a:gd name="T34" fmla="*/ 22 w 25"/>
                  <a:gd name="T35" fmla="*/ 9 h 14"/>
                  <a:gd name="T36" fmla="*/ 20 w 25"/>
                  <a:gd name="T37"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14">
                    <a:moveTo>
                      <a:pt x="20" y="7"/>
                    </a:moveTo>
                    <a:cubicBezTo>
                      <a:pt x="19" y="9"/>
                      <a:pt x="15" y="12"/>
                      <a:pt x="17" y="8"/>
                    </a:cubicBezTo>
                    <a:cubicBezTo>
                      <a:pt x="18" y="5"/>
                      <a:pt x="19" y="6"/>
                      <a:pt x="21" y="4"/>
                    </a:cubicBezTo>
                    <a:cubicBezTo>
                      <a:pt x="23" y="2"/>
                      <a:pt x="25" y="0"/>
                      <a:pt x="23" y="1"/>
                    </a:cubicBezTo>
                    <a:cubicBezTo>
                      <a:pt x="20" y="2"/>
                      <a:pt x="22" y="1"/>
                      <a:pt x="20" y="1"/>
                    </a:cubicBezTo>
                    <a:cubicBezTo>
                      <a:pt x="18" y="1"/>
                      <a:pt x="19" y="1"/>
                      <a:pt x="18" y="2"/>
                    </a:cubicBezTo>
                    <a:cubicBezTo>
                      <a:pt x="17" y="2"/>
                      <a:pt x="17" y="2"/>
                      <a:pt x="16" y="3"/>
                    </a:cubicBezTo>
                    <a:cubicBezTo>
                      <a:pt x="15" y="4"/>
                      <a:pt x="15" y="5"/>
                      <a:pt x="13" y="5"/>
                    </a:cubicBezTo>
                    <a:cubicBezTo>
                      <a:pt x="12" y="5"/>
                      <a:pt x="8" y="5"/>
                      <a:pt x="8" y="6"/>
                    </a:cubicBezTo>
                    <a:cubicBezTo>
                      <a:pt x="7" y="6"/>
                      <a:pt x="7" y="7"/>
                      <a:pt x="6" y="8"/>
                    </a:cubicBezTo>
                    <a:cubicBezTo>
                      <a:pt x="5" y="8"/>
                      <a:pt x="5" y="8"/>
                      <a:pt x="4" y="8"/>
                    </a:cubicBezTo>
                    <a:cubicBezTo>
                      <a:pt x="3" y="8"/>
                      <a:pt x="3" y="7"/>
                      <a:pt x="2" y="8"/>
                    </a:cubicBezTo>
                    <a:cubicBezTo>
                      <a:pt x="2" y="9"/>
                      <a:pt x="0" y="10"/>
                      <a:pt x="2" y="10"/>
                    </a:cubicBezTo>
                    <a:cubicBezTo>
                      <a:pt x="2" y="10"/>
                      <a:pt x="4" y="11"/>
                      <a:pt x="4" y="12"/>
                    </a:cubicBezTo>
                    <a:cubicBezTo>
                      <a:pt x="4" y="14"/>
                      <a:pt x="5" y="14"/>
                      <a:pt x="7" y="13"/>
                    </a:cubicBezTo>
                    <a:cubicBezTo>
                      <a:pt x="9" y="12"/>
                      <a:pt x="11" y="11"/>
                      <a:pt x="13" y="11"/>
                    </a:cubicBezTo>
                    <a:cubicBezTo>
                      <a:pt x="15" y="11"/>
                      <a:pt x="19" y="10"/>
                      <a:pt x="19" y="10"/>
                    </a:cubicBezTo>
                    <a:cubicBezTo>
                      <a:pt x="20" y="10"/>
                      <a:pt x="22" y="11"/>
                      <a:pt x="22" y="9"/>
                    </a:cubicBezTo>
                    <a:cubicBezTo>
                      <a:pt x="21" y="6"/>
                      <a:pt x="22" y="6"/>
                      <a:pt x="20"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97" name="Freeform 506">
                <a:extLst>
                  <a:ext uri="{FF2B5EF4-FFF2-40B4-BE49-F238E27FC236}">
                    <a16:creationId xmlns:a16="http://schemas.microsoft.com/office/drawing/2014/main" id="{24508846-FF36-480A-9504-308E2A7AD15D}"/>
                  </a:ext>
                </a:extLst>
              </p:cNvPr>
              <p:cNvSpPr>
                <a:spLocks/>
              </p:cNvSpPr>
              <p:nvPr/>
            </p:nvSpPr>
            <p:spPr bwMode="auto">
              <a:xfrm>
                <a:off x="7199" y="3025"/>
                <a:ext cx="8" cy="6"/>
              </a:xfrm>
              <a:custGeom>
                <a:avLst/>
                <a:gdLst>
                  <a:gd name="T0" fmla="*/ 4 w 6"/>
                  <a:gd name="T1" fmla="*/ 1 h 4"/>
                  <a:gd name="T2" fmla="*/ 1 w 6"/>
                  <a:gd name="T3" fmla="*/ 3 h 4"/>
                  <a:gd name="T4" fmla="*/ 1 w 6"/>
                  <a:gd name="T5" fmla="*/ 4 h 4"/>
                  <a:gd name="T6" fmla="*/ 3 w 6"/>
                  <a:gd name="T7" fmla="*/ 3 h 4"/>
                  <a:gd name="T8" fmla="*/ 4 w 6"/>
                  <a:gd name="T9" fmla="*/ 1 h 4"/>
                </a:gdLst>
                <a:ahLst/>
                <a:cxnLst>
                  <a:cxn ang="0">
                    <a:pos x="T0" y="T1"/>
                  </a:cxn>
                  <a:cxn ang="0">
                    <a:pos x="T2" y="T3"/>
                  </a:cxn>
                  <a:cxn ang="0">
                    <a:pos x="T4" y="T5"/>
                  </a:cxn>
                  <a:cxn ang="0">
                    <a:pos x="T6" y="T7"/>
                  </a:cxn>
                  <a:cxn ang="0">
                    <a:pos x="T8" y="T9"/>
                  </a:cxn>
                </a:cxnLst>
                <a:rect l="0" t="0" r="r" b="b"/>
                <a:pathLst>
                  <a:path w="6" h="4">
                    <a:moveTo>
                      <a:pt x="4" y="1"/>
                    </a:moveTo>
                    <a:cubicBezTo>
                      <a:pt x="2" y="1"/>
                      <a:pt x="1" y="2"/>
                      <a:pt x="1" y="3"/>
                    </a:cubicBezTo>
                    <a:cubicBezTo>
                      <a:pt x="0" y="4"/>
                      <a:pt x="0" y="4"/>
                      <a:pt x="1" y="4"/>
                    </a:cubicBezTo>
                    <a:cubicBezTo>
                      <a:pt x="1" y="4"/>
                      <a:pt x="2" y="4"/>
                      <a:pt x="3" y="3"/>
                    </a:cubicBezTo>
                    <a:cubicBezTo>
                      <a:pt x="4" y="2"/>
                      <a:pt x="6" y="0"/>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98" name="Freeform 507">
                <a:extLst>
                  <a:ext uri="{FF2B5EF4-FFF2-40B4-BE49-F238E27FC236}">
                    <a16:creationId xmlns:a16="http://schemas.microsoft.com/office/drawing/2014/main" id="{50FC1429-FFBC-4FEA-8914-F364F2200E77}"/>
                  </a:ext>
                </a:extLst>
              </p:cNvPr>
              <p:cNvSpPr>
                <a:spLocks/>
              </p:cNvSpPr>
              <p:nvPr/>
            </p:nvSpPr>
            <p:spPr bwMode="auto">
              <a:xfrm>
                <a:off x="7185" y="3051"/>
                <a:ext cx="3" cy="4"/>
              </a:xfrm>
              <a:custGeom>
                <a:avLst/>
                <a:gdLst>
                  <a:gd name="T0" fmla="*/ 1 w 2"/>
                  <a:gd name="T1" fmla="*/ 1 h 3"/>
                  <a:gd name="T2" fmla="*/ 2 w 2"/>
                  <a:gd name="T3" fmla="*/ 3 h 3"/>
                  <a:gd name="T4" fmla="*/ 1 w 2"/>
                  <a:gd name="T5" fmla="*/ 1 h 3"/>
                </a:gdLst>
                <a:ahLst/>
                <a:cxnLst>
                  <a:cxn ang="0">
                    <a:pos x="T0" y="T1"/>
                  </a:cxn>
                  <a:cxn ang="0">
                    <a:pos x="T2" y="T3"/>
                  </a:cxn>
                  <a:cxn ang="0">
                    <a:pos x="T4" y="T5"/>
                  </a:cxn>
                </a:cxnLst>
                <a:rect l="0" t="0" r="r" b="b"/>
                <a:pathLst>
                  <a:path w="2" h="3">
                    <a:moveTo>
                      <a:pt x="1" y="1"/>
                    </a:moveTo>
                    <a:cubicBezTo>
                      <a:pt x="0" y="0"/>
                      <a:pt x="1" y="2"/>
                      <a:pt x="2" y="3"/>
                    </a:cubicBezTo>
                    <a:cubicBezTo>
                      <a:pt x="2" y="3"/>
                      <a:pt x="2" y="1"/>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99" name="Freeform 508">
                <a:extLst>
                  <a:ext uri="{FF2B5EF4-FFF2-40B4-BE49-F238E27FC236}">
                    <a16:creationId xmlns:a16="http://schemas.microsoft.com/office/drawing/2014/main" id="{1DBBF748-18BD-4B7C-B405-B65AA953A9F3}"/>
                  </a:ext>
                </a:extLst>
              </p:cNvPr>
              <p:cNvSpPr>
                <a:spLocks/>
              </p:cNvSpPr>
              <p:nvPr/>
            </p:nvSpPr>
            <p:spPr bwMode="auto">
              <a:xfrm>
                <a:off x="7175" y="3044"/>
                <a:ext cx="2" cy="3"/>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1" y="2"/>
                      <a:pt x="1" y="0"/>
                      <a:pt x="1" y="0"/>
                    </a:cubicBezTo>
                    <a:cubicBezTo>
                      <a:pt x="1" y="0"/>
                      <a:pt x="0"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00" name="Freeform 509">
                <a:extLst>
                  <a:ext uri="{FF2B5EF4-FFF2-40B4-BE49-F238E27FC236}">
                    <a16:creationId xmlns:a16="http://schemas.microsoft.com/office/drawing/2014/main" id="{2CD03851-4506-4C39-B54F-535E3A0639F4}"/>
                  </a:ext>
                </a:extLst>
              </p:cNvPr>
              <p:cNvSpPr>
                <a:spLocks/>
              </p:cNvSpPr>
              <p:nvPr/>
            </p:nvSpPr>
            <p:spPr bwMode="auto">
              <a:xfrm>
                <a:off x="6910" y="3809"/>
                <a:ext cx="9" cy="11"/>
              </a:xfrm>
              <a:custGeom>
                <a:avLst/>
                <a:gdLst>
                  <a:gd name="T0" fmla="*/ 6 w 7"/>
                  <a:gd name="T1" fmla="*/ 1 h 8"/>
                  <a:gd name="T2" fmla="*/ 4 w 7"/>
                  <a:gd name="T3" fmla="*/ 2 h 8"/>
                  <a:gd name="T4" fmla="*/ 3 w 7"/>
                  <a:gd name="T5" fmla="*/ 4 h 8"/>
                  <a:gd name="T6" fmla="*/ 4 w 7"/>
                  <a:gd name="T7" fmla="*/ 6 h 8"/>
                  <a:gd name="T8" fmla="*/ 6 w 7"/>
                  <a:gd name="T9" fmla="*/ 5 h 8"/>
                  <a:gd name="T10" fmla="*/ 6 w 7"/>
                  <a:gd name="T11" fmla="*/ 2 h 8"/>
                  <a:gd name="T12" fmla="*/ 6 w 7"/>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7" h="8">
                    <a:moveTo>
                      <a:pt x="6" y="1"/>
                    </a:moveTo>
                    <a:cubicBezTo>
                      <a:pt x="5" y="0"/>
                      <a:pt x="5" y="1"/>
                      <a:pt x="4" y="2"/>
                    </a:cubicBezTo>
                    <a:cubicBezTo>
                      <a:pt x="4" y="4"/>
                      <a:pt x="4" y="3"/>
                      <a:pt x="3" y="4"/>
                    </a:cubicBezTo>
                    <a:cubicBezTo>
                      <a:pt x="2" y="5"/>
                      <a:pt x="0" y="6"/>
                      <a:pt x="4" y="6"/>
                    </a:cubicBezTo>
                    <a:cubicBezTo>
                      <a:pt x="4" y="6"/>
                      <a:pt x="7" y="8"/>
                      <a:pt x="6" y="5"/>
                    </a:cubicBezTo>
                    <a:cubicBezTo>
                      <a:pt x="4" y="3"/>
                      <a:pt x="5" y="3"/>
                      <a:pt x="6" y="2"/>
                    </a:cubicBezTo>
                    <a:cubicBezTo>
                      <a:pt x="7" y="1"/>
                      <a:pt x="7" y="1"/>
                      <a:pt x="6"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01" name="Freeform 510">
                <a:extLst>
                  <a:ext uri="{FF2B5EF4-FFF2-40B4-BE49-F238E27FC236}">
                    <a16:creationId xmlns:a16="http://schemas.microsoft.com/office/drawing/2014/main" id="{9E0AE41A-E1D1-4767-8332-4612A6C3B648}"/>
                  </a:ext>
                </a:extLst>
              </p:cNvPr>
              <p:cNvSpPr>
                <a:spLocks/>
              </p:cNvSpPr>
              <p:nvPr/>
            </p:nvSpPr>
            <p:spPr bwMode="auto">
              <a:xfrm>
                <a:off x="6976" y="3861"/>
                <a:ext cx="4" cy="4"/>
              </a:xfrm>
              <a:custGeom>
                <a:avLst/>
                <a:gdLst>
                  <a:gd name="T0" fmla="*/ 0 w 3"/>
                  <a:gd name="T1" fmla="*/ 2 h 3"/>
                  <a:gd name="T2" fmla="*/ 3 w 3"/>
                  <a:gd name="T3" fmla="*/ 2 h 3"/>
                  <a:gd name="T4" fmla="*/ 0 w 3"/>
                  <a:gd name="T5" fmla="*/ 2 h 3"/>
                </a:gdLst>
                <a:ahLst/>
                <a:cxnLst>
                  <a:cxn ang="0">
                    <a:pos x="T0" y="T1"/>
                  </a:cxn>
                  <a:cxn ang="0">
                    <a:pos x="T2" y="T3"/>
                  </a:cxn>
                  <a:cxn ang="0">
                    <a:pos x="T4" y="T5"/>
                  </a:cxn>
                </a:cxnLst>
                <a:rect l="0" t="0" r="r" b="b"/>
                <a:pathLst>
                  <a:path w="3" h="3">
                    <a:moveTo>
                      <a:pt x="0" y="2"/>
                    </a:moveTo>
                    <a:cubicBezTo>
                      <a:pt x="0" y="2"/>
                      <a:pt x="2" y="3"/>
                      <a:pt x="3" y="2"/>
                    </a:cubicBezTo>
                    <a:cubicBezTo>
                      <a:pt x="3" y="0"/>
                      <a:pt x="1" y="1"/>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02" name="Freeform 511">
                <a:extLst>
                  <a:ext uri="{FF2B5EF4-FFF2-40B4-BE49-F238E27FC236}">
                    <a16:creationId xmlns:a16="http://schemas.microsoft.com/office/drawing/2014/main" id="{081DCD85-7123-4EDC-BA0C-B30DE863CB25}"/>
                  </a:ext>
                </a:extLst>
              </p:cNvPr>
              <p:cNvSpPr>
                <a:spLocks/>
              </p:cNvSpPr>
              <p:nvPr/>
            </p:nvSpPr>
            <p:spPr bwMode="auto">
              <a:xfrm>
                <a:off x="6944" y="3707"/>
                <a:ext cx="16" cy="18"/>
              </a:xfrm>
              <a:custGeom>
                <a:avLst/>
                <a:gdLst>
                  <a:gd name="T0" fmla="*/ 10 w 11"/>
                  <a:gd name="T1" fmla="*/ 6 h 13"/>
                  <a:gd name="T2" fmla="*/ 8 w 11"/>
                  <a:gd name="T3" fmla="*/ 5 h 13"/>
                  <a:gd name="T4" fmla="*/ 8 w 11"/>
                  <a:gd name="T5" fmla="*/ 3 h 13"/>
                  <a:gd name="T6" fmla="*/ 5 w 11"/>
                  <a:gd name="T7" fmla="*/ 1 h 13"/>
                  <a:gd name="T8" fmla="*/ 4 w 11"/>
                  <a:gd name="T9" fmla="*/ 4 h 13"/>
                  <a:gd name="T10" fmla="*/ 3 w 11"/>
                  <a:gd name="T11" fmla="*/ 8 h 13"/>
                  <a:gd name="T12" fmla="*/ 1 w 11"/>
                  <a:gd name="T13" fmla="*/ 12 h 13"/>
                  <a:gd name="T14" fmla="*/ 2 w 11"/>
                  <a:gd name="T15" fmla="*/ 11 h 13"/>
                  <a:gd name="T16" fmla="*/ 4 w 11"/>
                  <a:gd name="T17" fmla="*/ 10 h 13"/>
                  <a:gd name="T18" fmla="*/ 7 w 11"/>
                  <a:gd name="T19" fmla="*/ 10 h 13"/>
                  <a:gd name="T20" fmla="*/ 10 w 11"/>
                  <a:gd name="T21" fmla="*/ 9 h 13"/>
                  <a:gd name="T22" fmla="*/ 11 w 11"/>
                  <a:gd name="T23" fmla="*/ 7 h 13"/>
                  <a:gd name="T24" fmla="*/ 10 w 11"/>
                  <a:gd name="T25"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 h="13">
                    <a:moveTo>
                      <a:pt x="10" y="6"/>
                    </a:moveTo>
                    <a:cubicBezTo>
                      <a:pt x="9" y="6"/>
                      <a:pt x="7" y="5"/>
                      <a:pt x="8" y="5"/>
                    </a:cubicBezTo>
                    <a:cubicBezTo>
                      <a:pt x="9" y="5"/>
                      <a:pt x="9" y="4"/>
                      <a:pt x="8" y="3"/>
                    </a:cubicBezTo>
                    <a:cubicBezTo>
                      <a:pt x="8" y="2"/>
                      <a:pt x="6" y="0"/>
                      <a:pt x="5" y="1"/>
                    </a:cubicBezTo>
                    <a:cubicBezTo>
                      <a:pt x="3" y="2"/>
                      <a:pt x="4" y="2"/>
                      <a:pt x="4" y="4"/>
                    </a:cubicBezTo>
                    <a:cubicBezTo>
                      <a:pt x="5" y="5"/>
                      <a:pt x="4" y="7"/>
                      <a:pt x="3" y="8"/>
                    </a:cubicBezTo>
                    <a:cubicBezTo>
                      <a:pt x="2" y="10"/>
                      <a:pt x="1" y="11"/>
                      <a:pt x="1" y="12"/>
                    </a:cubicBezTo>
                    <a:cubicBezTo>
                      <a:pt x="0" y="13"/>
                      <a:pt x="1" y="13"/>
                      <a:pt x="2" y="11"/>
                    </a:cubicBezTo>
                    <a:cubicBezTo>
                      <a:pt x="2" y="11"/>
                      <a:pt x="2" y="10"/>
                      <a:pt x="4" y="10"/>
                    </a:cubicBezTo>
                    <a:cubicBezTo>
                      <a:pt x="5" y="11"/>
                      <a:pt x="6" y="10"/>
                      <a:pt x="7" y="10"/>
                    </a:cubicBezTo>
                    <a:cubicBezTo>
                      <a:pt x="7" y="10"/>
                      <a:pt x="9" y="9"/>
                      <a:pt x="10" y="9"/>
                    </a:cubicBezTo>
                    <a:cubicBezTo>
                      <a:pt x="10" y="9"/>
                      <a:pt x="11" y="9"/>
                      <a:pt x="11" y="7"/>
                    </a:cubicBezTo>
                    <a:cubicBezTo>
                      <a:pt x="10" y="6"/>
                      <a:pt x="11" y="6"/>
                      <a:pt x="10"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03" name="Freeform 512">
                <a:extLst>
                  <a:ext uri="{FF2B5EF4-FFF2-40B4-BE49-F238E27FC236}">
                    <a16:creationId xmlns:a16="http://schemas.microsoft.com/office/drawing/2014/main" id="{DCB36C29-910E-4331-B95B-E31383E66CDE}"/>
                  </a:ext>
                </a:extLst>
              </p:cNvPr>
              <p:cNvSpPr>
                <a:spLocks/>
              </p:cNvSpPr>
              <p:nvPr/>
            </p:nvSpPr>
            <p:spPr bwMode="auto">
              <a:xfrm>
                <a:off x="6922" y="3555"/>
                <a:ext cx="165" cy="154"/>
              </a:xfrm>
              <a:custGeom>
                <a:avLst/>
                <a:gdLst>
                  <a:gd name="T0" fmla="*/ 115 w 119"/>
                  <a:gd name="T1" fmla="*/ 12 h 112"/>
                  <a:gd name="T2" fmla="*/ 116 w 119"/>
                  <a:gd name="T3" fmla="*/ 10 h 112"/>
                  <a:gd name="T4" fmla="*/ 112 w 119"/>
                  <a:gd name="T5" fmla="*/ 13 h 112"/>
                  <a:gd name="T6" fmla="*/ 111 w 119"/>
                  <a:gd name="T7" fmla="*/ 9 h 112"/>
                  <a:gd name="T8" fmla="*/ 102 w 119"/>
                  <a:gd name="T9" fmla="*/ 13 h 112"/>
                  <a:gd name="T10" fmla="*/ 97 w 119"/>
                  <a:gd name="T11" fmla="*/ 6 h 112"/>
                  <a:gd name="T12" fmla="*/ 94 w 119"/>
                  <a:gd name="T13" fmla="*/ 0 h 112"/>
                  <a:gd name="T14" fmla="*/ 87 w 119"/>
                  <a:gd name="T15" fmla="*/ 4 h 112"/>
                  <a:gd name="T16" fmla="*/ 83 w 119"/>
                  <a:gd name="T17" fmla="*/ 17 h 112"/>
                  <a:gd name="T18" fmla="*/ 75 w 119"/>
                  <a:gd name="T19" fmla="*/ 23 h 112"/>
                  <a:gd name="T20" fmla="*/ 69 w 119"/>
                  <a:gd name="T21" fmla="*/ 39 h 112"/>
                  <a:gd name="T22" fmla="*/ 38 w 119"/>
                  <a:gd name="T23" fmla="*/ 61 h 112"/>
                  <a:gd name="T24" fmla="*/ 27 w 119"/>
                  <a:gd name="T25" fmla="*/ 66 h 112"/>
                  <a:gd name="T26" fmla="*/ 21 w 119"/>
                  <a:gd name="T27" fmla="*/ 74 h 112"/>
                  <a:gd name="T28" fmla="*/ 16 w 119"/>
                  <a:gd name="T29" fmla="*/ 77 h 112"/>
                  <a:gd name="T30" fmla="*/ 14 w 119"/>
                  <a:gd name="T31" fmla="*/ 81 h 112"/>
                  <a:gd name="T32" fmla="*/ 11 w 119"/>
                  <a:gd name="T33" fmla="*/ 82 h 112"/>
                  <a:gd name="T34" fmla="*/ 10 w 119"/>
                  <a:gd name="T35" fmla="*/ 84 h 112"/>
                  <a:gd name="T36" fmla="*/ 10 w 119"/>
                  <a:gd name="T37" fmla="*/ 87 h 112"/>
                  <a:gd name="T38" fmla="*/ 10 w 119"/>
                  <a:gd name="T39" fmla="*/ 90 h 112"/>
                  <a:gd name="T40" fmla="*/ 8 w 119"/>
                  <a:gd name="T41" fmla="*/ 88 h 112"/>
                  <a:gd name="T42" fmla="*/ 5 w 119"/>
                  <a:gd name="T43" fmla="*/ 91 h 112"/>
                  <a:gd name="T44" fmla="*/ 5 w 119"/>
                  <a:gd name="T45" fmla="*/ 93 h 112"/>
                  <a:gd name="T46" fmla="*/ 7 w 119"/>
                  <a:gd name="T47" fmla="*/ 94 h 112"/>
                  <a:gd name="T48" fmla="*/ 1 w 119"/>
                  <a:gd name="T49" fmla="*/ 98 h 112"/>
                  <a:gd name="T50" fmla="*/ 4 w 119"/>
                  <a:gd name="T51" fmla="*/ 98 h 112"/>
                  <a:gd name="T52" fmla="*/ 5 w 119"/>
                  <a:gd name="T53" fmla="*/ 100 h 112"/>
                  <a:gd name="T54" fmla="*/ 17 w 119"/>
                  <a:gd name="T55" fmla="*/ 103 h 112"/>
                  <a:gd name="T56" fmla="*/ 22 w 119"/>
                  <a:gd name="T57" fmla="*/ 107 h 112"/>
                  <a:gd name="T58" fmla="*/ 30 w 119"/>
                  <a:gd name="T59" fmla="*/ 111 h 112"/>
                  <a:gd name="T60" fmla="*/ 45 w 119"/>
                  <a:gd name="T61" fmla="*/ 110 h 112"/>
                  <a:gd name="T62" fmla="*/ 58 w 119"/>
                  <a:gd name="T63" fmla="*/ 99 h 112"/>
                  <a:gd name="T64" fmla="*/ 64 w 119"/>
                  <a:gd name="T65" fmla="*/ 96 h 112"/>
                  <a:gd name="T66" fmla="*/ 62 w 119"/>
                  <a:gd name="T67" fmla="*/ 93 h 112"/>
                  <a:gd name="T68" fmla="*/ 71 w 119"/>
                  <a:gd name="T69" fmla="*/ 76 h 112"/>
                  <a:gd name="T70" fmla="*/ 72 w 119"/>
                  <a:gd name="T71" fmla="*/ 69 h 112"/>
                  <a:gd name="T72" fmla="*/ 89 w 119"/>
                  <a:gd name="T73" fmla="*/ 59 h 112"/>
                  <a:gd name="T74" fmla="*/ 91 w 119"/>
                  <a:gd name="T75" fmla="*/ 59 h 112"/>
                  <a:gd name="T76" fmla="*/ 95 w 119"/>
                  <a:gd name="T77" fmla="*/ 60 h 112"/>
                  <a:gd name="T78" fmla="*/ 98 w 119"/>
                  <a:gd name="T79" fmla="*/ 57 h 112"/>
                  <a:gd name="T80" fmla="*/ 95 w 119"/>
                  <a:gd name="T81" fmla="*/ 56 h 112"/>
                  <a:gd name="T82" fmla="*/ 95 w 119"/>
                  <a:gd name="T83" fmla="*/ 49 h 112"/>
                  <a:gd name="T84" fmla="*/ 115 w 119"/>
                  <a:gd name="T85" fmla="*/ 24 h 112"/>
                  <a:gd name="T86" fmla="*/ 115 w 119"/>
                  <a:gd name="T87" fmla="*/ 15 h 112"/>
                  <a:gd name="T88" fmla="*/ 113 w 119"/>
                  <a:gd name="T89" fmla="*/ 1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9" h="112">
                    <a:moveTo>
                      <a:pt x="113" y="13"/>
                    </a:moveTo>
                    <a:cubicBezTo>
                      <a:pt x="115" y="12"/>
                      <a:pt x="115" y="12"/>
                      <a:pt x="115" y="12"/>
                    </a:cubicBezTo>
                    <a:cubicBezTo>
                      <a:pt x="115" y="11"/>
                      <a:pt x="116" y="11"/>
                      <a:pt x="117" y="10"/>
                    </a:cubicBezTo>
                    <a:cubicBezTo>
                      <a:pt x="117" y="9"/>
                      <a:pt x="118" y="9"/>
                      <a:pt x="116" y="10"/>
                    </a:cubicBezTo>
                    <a:cubicBezTo>
                      <a:pt x="114" y="10"/>
                      <a:pt x="110" y="12"/>
                      <a:pt x="112" y="12"/>
                    </a:cubicBezTo>
                    <a:cubicBezTo>
                      <a:pt x="113" y="12"/>
                      <a:pt x="114" y="12"/>
                      <a:pt x="112" y="13"/>
                    </a:cubicBezTo>
                    <a:cubicBezTo>
                      <a:pt x="110" y="14"/>
                      <a:pt x="110" y="14"/>
                      <a:pt x="110" y="12"/>
                    </a:cubicBezTo>
                    <a:cubicBezTo>
                      <a:pt x="111" y="11"/>
                      <a:pt x="111" y="10"/>
                      <a:pt x="111" y="9"/>
                    </a:cubicBezTo>
                    <a:cubicBezTo>
                      <a:pt x="112" y="8"/>
                      <a:pt x="113" y="7"/>
                      <a:pt x="111" y="8"/>
                    </a:cubicBezTo>
                    <a:cubicBezTo>
                      <a:pt x="110" y="9"/>
                      <a:pt x="103" y="12"/>
                      <a:pt x="102" y="13"/>
                    </a:cubicBezTo>
                    <a:cubicBezTo>
                      <a:pt x="100" y="15"/>
                      <a:pt x="100" y="13"/>
                      <a:pt x="100" y="11"/>
                    </a:cubicBezTo>
                    <a:cubicBezTo>
                      <a:pt x="100" y="9"/>
                      <a:pt x="99" y="7"/>
                      <a:pt x="97" y="6"/>
                    </a:cubicBezTo>
                    <a:cubicBezTo>
                      <a:pt x="95" y="6"/>
                      <a:pt x="94" y="5"/>
                      <a:pt x="94" y="2"/>
                    </a:cubicBezTo>
                    <a:cubicBezTo>
                      <a:pt x="95" y="0"/>
                      <a:pt x="95" y="1"/>
                      <a:pt x="94" y="0"/>
                    </a:cubicBezTo>
                    <a:cubicBezTo>
                      <a:pt x="93" y="0"/>
                      <a:pt x="92" y="0"/>
                      <a:pt x="91" y="1"/>
                    </a:cubicBezTo>
                    <a:cubicBezTo>
                      <a:pt x="90" y="2"/>
                      <a:pt x="88" y="3"/>
                      <a:pt x="87" y="4"/>
                    </a:cubicBezTo>
                    <a:cubicBezTo>
                      <a:pt x="87" y="5"/>
                      <a:pt x="86" y="6"/>
                      <a:pt x="85" y="9"/>
                    </a:cubicBezTo>
                    <a:cubicBezTo>
                      <a:pt x="85" y="12"/>
                      <a:pt x="85" y="15"/>
                      <a:pt x="83" y="17"/>
                    </a:cubicBezTo>
                    <a:cubicBezTo>
                      <a:pt x="82" y="19"/>
                      <a:pt x="79" y="21"/>
                      <a:pt x="78" y="22"/>
                    </a:cubicBezTo>
                    <a:cubicBezTo>
                      <a:pt x="76" y="22"/>
                      <a:pt x="75" y="22"/>
                      <a:pt x="75" y="23"/>
                    </a:cubicBezTo>
                    <a:cubicBezTo>
                      <a:pt x="74" y="25"/>
                      <a:pt x="73" y="31"/>
                      <a:pt x="72" y="32"/>
                    </a:cubicBezTo>
                    <a:cubicBezTo>
                      <a:pt x="72" y="33"/>
                      <a:pt x="71" y="38"/>
                      <a:pt x="69" y="39"/>
                    </a:cubicBezTo>
                    <a:cubicBezTo>
                      <a:pt x="67" y="40"/>
                      <a:pt x="60" y="45"/>
                      <a:pt x="58" y="47"/>
                    </a:cubicBezTo>
                    <a:cubicBezTo>
                      <a:pt x="56" y="48"/>
                      <a:pt x="38" y="60"/>
                      <a:pt x="38" y="61"/>
                    </a:cubicBezTo>
                    <a:cubicBezTo>
                      <a:pt x="37" y="61"/>
                      <a:pt x="34" y="62"/>
                      <a:pt x="31" y="63"/>
                    </a:cubicBezTo>
                    <a:cubicBezTo>
                      <a:pt x="29" y="63"/>
                      <a:pt x="28" y="64"/>
                      <a:pt x="27" y="66"/>
                    </a:cubicBezTo>
                    <a:cubicBezTo>
                      <a:pt x="26" y="68"/>
                      <a:pt x="25" y="69"/>
                      <a:pt x="23" y="70"/>
                    </a:cubicBezTo>
                    <a:cubicBezTo>
                      <a:pt x="21" y="71"/>
                      <a:pt x="20" y="72"/>
                      <a:pt x="21" y="74"/>
                    </a:cubicBezTo>
                    <a:cubicBezTo>
                      <a:pt x="22" y="75"/>
                      <a:pt x="22" y="75"/>
                      <a:pt x="21" y="75"/>
                    </a:cubicBezTo>
                    <a:cubicBezTo>
                      <a:pt x="20" y="76"/>
                      <a:pt x="17" y="77"/>
                      <a:pt x="16" y="77"/>
                    </a:cubicBezTo>
                    <a:cubicBezTo>
                      <a:pt x="16" y="78"/>
                      <a:pt x="14" y="78"/>
                      <a:pt x="14" y="79"/>
                    </a:cubicBezTo>
                    <a:cubicBezTo>
                      <a:pt x="15" y="80"/>
                      <a:pt x="15" y="81"/>
                      <a:pt x="14" y="81"/>
                    </a:cubicBezTo>
                    <a:cubicBezTo>
                      <a:pt x="12" y="81"/>
                      <a:pt x="11" y="81"/>
                      <a:pt x="12" y="81"/>
                    </a:cubicBezTo>
                    <a:cubicBezTo>
                      <a:pt x="13" y="82"/>
                      <a:pt x="12" y="82"/>
                      <a:pt x="11" y="82"/>
                    </a:cubicBezTo>
                    <a:cubicBezTo>
                      <a:pt x="10" y="83"/>
                      <a:pt x="9" y="82"/>
                      <a:pt x="10" y="83"/>
                    </a:cubicBezTo>
                    <a:cubicBezTo>
                      <a:pt x="10" y="84"/>
                      <a:pt x="10" y="84"/>
                      <a:pt x="10" y="84"/>
                    </a:cubicBezTo>
                    <a:cubicBezTo>
                      <a:pt x="9" y="84"/>
                      <a:pt x="9" y="85"/>
                      <a:pt x="9" y="85"/>
                    </a:cubicBezTo>
                    <a:cubicBezTo>
                      <a:pt x="9" y="86"/>
                      <a:pt x="10" y="86"/>
                      <a:pt x="10" y="87"/>
                    </a:cubicBezTo>
                    <a:cubicBezTo>
                      <a:pt x="9" y="87"/>
                      <a:pt x="10" y="88"/>
                      <a:pt x="10" y="88"/>
                    </a:cubicBezTo>
                    <a:cubicBezTo>
                      <a:pt x="11" y="89"/>
                      <a:pt x="11" y="91"/>
                      <a:pt x="10" y="90"/>
                    </a:cubicBezTo>
                    <a:cubicBezTo>
                      <a:pt x="9" y="88"/>
                      <a:pt x="10" y="88"/>
                      <a:pt x="9" y="88"/>
                    </a:cubicBezTo>
                    <a:cubicBezTo>
                      <a:pt x="9" y="88"/>
                      <a:pt x="9" y="89"/>
                      <a:pt x="8" y="88"/>
                    </a:cubicBezTo>
                    <a:cubicBezTo>
                      <a:pt x="7" y="87"/>
                      <a:pt x="5" y="87"/>
                      <a:pt x="5" y="88"/>
                    </a:cubicBezTo>
                    <a:cubicBezTo>
                      <a:pt x="4" y="90"/>
                      <a:pt x="4" y="92"/>
                      <a:pt x="5" y="91"/>
                    </a:cubicBezTo>
                    <a:cubicBezTo>
                      <a:pt x="6" y="91"/>
                      <a:pt x="9" y="91"/>
                      <a:pt x="7" y="92"/>
                    </a:cubicBezTo>
                    <a:cubicBezTo>
                      <a:pt x="5" y="92"/>
                      <a:pt x="4" y="93"/>
                      <a:pt x="5" y="93"/>
                    </a:cubicBezTo>
                    <a:cubicBezTo>
                      <a:pt x="6" y="93"/>
                      <a:pt x="7" y="93"/>
                      <a:pt x="6" y="93"/>
                    </a:cubicBezTo>
                    <a:cubicBezTo>
                      <a:pt x="6" y="94"/>
                      <a:pt x="5" y="94"/>
                      <a:pt x="7" y="94"/>
                    </a:cubicBezTo>
                    <a:cubicBezTo>
                      <a:pt x="9" y="94"/>
                      <a:pt x="8" y="94"/>
                      <a:pt x="6" y="95"/>
                    </a:cubicBezTo>
                    <a:cubicBezTo>
                      <a:pt x="5" y="95"/>
                      <a:pt x="0" y="97"/>
                      <a:pt x="1" y="98"/>
                    </a:cubicBezTo>
                    <a:cubicBezTo>
                      <a:pt x="1" y="99"/>
                      <a:pt x="1" y="100"/>
                      <a:pt x="2" y="99"/>
                    </a:cubicBezTo>
                    <a:cubicBezTo>
                      <a:pt x="3" y="97"/>
                      <a:pt x="4" y="98"/>
                      <a:pt x="4" y="98"/>
                    </a:cubicBezTo>
                    <a:cubicBezTo>
                      <a:pt x="3" y="99"/>
                      <a:pt x="2" y="102"/>
                      <a:pt x="3" y="100"/>
                    </a:cubicBezTo>
                    <a:cubicBezTo>
                      <a:pt x="5" y="99"/>
                      <a:pt x="6" y="99"/>
                      <a:pt x="5" y="100"/>
                    </a:cubicBezTo>
                    <a:cubicBezTo>
                      <a:pt x="5" y="101"/>
                      <a:pt x="3" y="102"/>
                      <a:pt x="4" y="103"/>
                    </a:cubicBezTo>
                    <a:cubicBezTo>
                      <a:pt x="5" y="103"/>
                      <a:pt x="5" y="104"/>
                      <a:pt x="17" y="103"/>
                    </a:cubicBezTo>
                    <a:cubicBezTo>
                      <a:pt x="17" y="103"/>
                      <a:pt x="18" y="103"/>
                      <a:pt x="19" y="104"/>
                    </a:cubicBezTo>
                    <a:cubicBezTo>
                      <a:pt x="20" y="106"/>
                      <a:pt x="20" y="107"/>
                      <a:pt x="22" y="107"/>
                    </a:cubicBezTo>
                    <a:cubicBezTo>
                      <a:pt x="25" y="107"/>
                      <a:pt x="29" y="107"/>
                      <a:pt x="29" y="109"/>
                    </a:cubicBezTo>
                    <a:cubicBezTo>
                      <a:pt x="28" y="110"/>
                      <a:pt x="28" y="110"/>
                      <a:pt x="30" y="111"/>
                    </a:cubicBezTo>
                    <a:cubicBezTo>
                      <a:pt x="32" y="111"/>
                      <a:pt x="34" y="111"/>
                      <a:pt x="35" y="112"/>
                    </a:cubicBezTo>
                    <a:cubicBezTo>
                      <a:pt x="37" y="112"/>
                      <a:pt x="43" y="112"/>
                      <a:pt x="45" y="110"/>
                    </a:cubicBezTo>
                    <a:cubicBezTo>
                      <a:pt x="48" y="108"/>
                      <a:pt x="51" y="108"/>
                      <a:pt x="53" y="105"/>
                    </a:cubicBezTo>
                    <a:cubicBezTo>
                      <a:pt x="55" y="101"/>
                      <a:pt x="56" y="100"/>
                      <a:pt x="58" y="99"/>
                    </a:cubicBezTo>
                    <a:cubicBezTo>
                      <a:pt x="60" y="98"/>
                      <a:pt x="62" y="98"/>
                      <a:pt x="63" y="97"/>
                    </a:cubicBezTo>
                    <a:cubicBezTo>
                      <a:pt x="64" y="97"/>
                      <a:pt x="65" y="97"/>
                      <a:pt x="64" y="96"/>
                    </a:cubicBezTo>
                    <a:cubicBezTo>
                      <a:pt x="62" y="96"/>
                      <a:pt x="62" y="97"/>
                      <a:pt x="62" y="97"/>
                    </a:cubicBezTo>
                    <a:cubicBezTo>
                      <a:pt x="61" y="97"/>
                      <a:pt x="61" y="96"/>
                      <a:pt x="62" y="93"/>
                    </a:cubicBezTo>
                    <a:cubicBezTo>
                      <a:pt x="63" y="91"/>
                      <a:pt x="67" y="86"/>
                      <a:pt x="68" y="83"/>
                    </a:cubicBezTo>
                    <a:cubicBezTo>
                      <a:pt x="70" y="81"/>
                      <a:pt x="71" y="78"/>
                      <a:pt x="71" y="76"/>
                    </a:cubicBezTo>
                    <a:cubicBezTo>
                      <a:pt x="70" y="74"/>
                      <a:pt x="70" y="73"/>
                      <a:pt x="71" y="72"/>
                    </a:cubicBezTo>
                    <a:cubicBezTo>
                      <a:pt x="72" y="71"/>
                      <a:pt x="71" y="70"/>
                      <a:pt x="72" y="69"/>
                    </a:cubicBezTo>
                    <a:cubicBezTo>
                      <a:pt x="72" y="68"/>
                      <a:pt x="72" y="68"/>
                      <a:pt x="74" y="67"/>
                    </a:cubicBezTo>
                    <a:cubicBezTo>
                      <a:pt x="75" y="67"/>
                      <a:pt x="88" y="59"/>
                      <a:pt x="89" y="59"/>
                    </a:cubicBezTo>
                    <a:cubicBezTo>
                      <a:pt x="90" y="58"/>
                      <a:pt x="91" y="58"/>
                      <a:pt x="92" y="58"/>
                    </a:cubicBezTo>
                    <a:cubicBezTo>
                      <a:pt x="92" y="59"/>
                      <a:pt x="92" y="59"/>
                      <a:pt x="91" y="59"/>
                    </a:cubicBezTo>
                    <a:cubicBezTo>
                      <a:pt x="90" y="59"/>
                      <a:pt x="89" y="60"/>
                      <a:pt x="92" y="60"/>
                    </a:cubicBezTo>
                    <a:cubicBezTo>
                      <a:pt x="95" y="60"/>
                      <a:pt x="94" y="60"/>
                      <a:pt x="95" y="60"/>
                    </a:cubicBezTo>
                    <a:cubicBezTo>
                      <a:pt x="96" y="60"/>
                      <a:pt x="97" y="62"/>
                      <a:pt x="98" y="60"/>
                    </a:cubicBezTo>
                    <a:cubicBezTo>
                      <a:pt x="99" y="57"/>
                      <a:pt x="99" y="57"/>
                      <a:pt x="98" y="57"/>
                    </a:cubicBezTo>
                    <a:cubicBezTo>
                      <a:pt x="97" y="56"/>
                      <a:pt x="97" y="57"/>
                      <a:pt x="96" y="56"/>
                    </a:cubicBezTo>
                    <a:cubicBezTo>
                      <a:pt x="95" y="55"/>
                      <a:pt x="95" y="56"/>
                      <a:pt x="95" y="56"/>
                    </a:cubicBezTo>
                    <a:cubicBezTo>
                      <a:pt x="94" y="56"/>
                      <a:pt x="93" y="56"/>
                      <a:pt x="93" y="55"/>
                    </a:cubicBezTo>
                    <a:cubicBezTo>
                      <a:pt x="93" y="54"/>
                      <a:pt x="93" y="51"/>
                      <a:pt x="95" y="49"/>
                    </a:cubicBezTo>
                    <a:cubicBezTo>
                      <a:pt x="97" y="47"/>
                      <a:pt x="102" y="41"/>
                      <a:pt x="106" y="36"/>
                    </a:cubicBezTo>
                    <a:cubicBezTo>
                      <a:pt x="109" y="31"/>
                      <a:pt x="114" y="26"/>
                      <a:pt x="115" y="24"/>
                    </a:cubicBezTo>
                    <a:cubicBezTo>
                      <a:pt x="116" y="23"/>
                      <a:pt x="118" y="23"/>
                      <a:pt x="116" y="19"/>
                    </a:cubicBezTo>
                    <a:cubicBezTo>
                      <a:pt x="114" y="16"/>
                      <a:pt x="113" y="15"/>
                      <a:pt x="115" y="15"/>
                    </a:cubicBezTo>
                    <a:cubicBezTo>
                      <a:pt x="116" y="14"/>
                      <a:pt x="119" y="12"/>
                      <a:pt x="116" y="13"/>
                    </a:cubicBezTo>
                    <a:cubicBezTo>
                      <a:pt x="114" y="14"/>
                      <a:pt x="112" y="14"/>
                      <a:pt x="113" y="1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04" name="Freeform 513">
                <a:extLst>
                  <a:ext uri="{FF2B5EF4-FFF2-40B4-BE49-F238E27FC236}">
                    <a16:creationId xmlns:a16="http://schemas.microsoft.com/office/drawing/2014/main" id="{63BCA589-FD06-47E5-BEB0-8A70A2335BE8}"/>
                  </a:ext>
                </a:extLst>
              </p:cNvPr>
              <p:cNvSpPr>
                <a:spLocks/>
              </p:cNvSpPr>
              <p:nvPr/>
            </p:nvSpPr>
            <p:spPr bwMode="auto">
              <a:xfrm>
                <a:off x="7049" y="3411"/>
                <a:ext cx="122" cy="171"/>
              </a:xfrm>
              <a:custGeom>
                <a:avLst/>
                <a:gdLst>
                  <a:gd name="T0" fmla="*/ 76 w 88"/>
                  <a:gd name="T1" fmla="*/ 58 h 125"/>
                  <a:gd name="T2" fmla="*/ 55 w 88"/>
                  <a:gd name="T3" fmla="*/ 56 h 125"/>
                  <a:gd name="T4" fmla="*/ 51 w 88"/>
                  <a:gd name="T5" fmla="*/ 55 h 125"/>
                  <a:gd name="T6" fmla="*/ 47 w 88"/>
                  <a:gd name="T7" fmla="*/ 41 h 125"/>
                  <a:gd name="T8" fmla="*/ 45 w 88"/>
                  <a:gd name="T9" fmla="*/ 39 h 125"/>
                  <a:gd name="T10" fmla="*/ 43 w 88"/>
                  <a:gd name="T11" fmla="*/ 37 h 125"/>
                  <a:gd name="T12" fmla="*/ 43 w 88"/>
                  <a:gd name="T13" fmla="*/ 44 h 125"/>
                  <a:gd name="T14" fmla="*/ 37 w 88"/>
                  <a:gd name="T15" fmla="*/ 44 h 125"/>
                  <a:gd name="T16" fmla="*/ 32 w 88"/>
                  <a:gd name="T17" fmla="*/ 42 h 125"/>
                  <a:gd name="T18" fmla="*/ 32 w 88"/>
                  <a:gd name="T19" fmla="*/ 37 h 125"/>
                  <a:gd name="T20" fmla="*/ 31 w 88"/>
                  <a:gd name="T21" fmla="*/ 31 h 125"/>
                  <a:gd name="T22" fmla="*/ 26 w 88"/>
                  <a:gd name="T23" fmla="*/ 25 h 125"/>
                  <a:gd name="T24" fmla="*/ 26 w 88"/>
                  <a:gd name="T25" fmla="*/ 20 h 125"/>
                  <a:gd name="T26" fmla="*/ 24 w 88"/>
                  <a:gd name="T27" fmla="*/ 15 h 125"/>
                  <a:gd name="T28" fmla="*/ 21 w 88"/>
                  <a:gd name="T29" fmla="*/ 13 h 125"/>
                  <a:gd name="T30" fmla="*/ 17 w 88"/>
                  <a:gd name="T31" fmla="*/ 10 h 125"/>
                  <a:gd name="T32" fmla="*/ 12 w 88"/>
                  <a:gd name="T33" fmla="*/ 8 h 125"/>
                  <a:gd name="T34" fmla="*/ 10 w 88"/>
                  <a:gd name="T35" fmla="*/ 10 h 125"/>
                  <a:gd name="T36" fmla="*/ 5 w 88"/>
                  <a:gd name="T37" fmla="*/ 4 h 125"/>
                  <a:gd name="T38" fmla="*/ 6 w 88"/>
                  <a:gd name="T39" fmla="*/ 1 h 125"/>
                  <a:gd name="T40" fmla="*/ 6 w 88"/>
                  <a:gd name="T41" fmla="*/ 7 h 125"/>
                  <a:gd name="T42" fmla="*/ 11 w 88"/>
                  <a:gd name="T43" fmla="*/ 18 h 125"/>
                  <a:gd name="T44" fmla="*/ 14 w 88"/>
                  <a:gd name="T45" fmla="*/ 20 h 125"/>
                  <a:gd name="T46" fmla="*/ 22 w 88"/>
                  <a:gd name="T47" fmla="*/ 34 h 125"/>
                  <a:gd name="T48" fmla="*/ 23 w 88"/>
                  <a:gd name="T49" fmla="*/ 31 h 125"/>
                  <a:gd name="T50" fmla="*/ 25 w 88"/>
                  <a:gd name="T51" fmla="*/ 31 h 125"/>
                  <a:gd name="T52" fmla="*/ 25 w 88"/>
                  <a:gd name="T53" fmla="*/ 33 h 125"/>
                  <a:gd name="T54" fmla="*/ 24 w 88"/>
                  <a:gd name="T55" fmla="*/ 36 h 125"/>
                  <a:gd name="T56" fmla="*/ 28 w 88"/>
                  <a:gd name="T57" fmla="*/ 45 h 125"/>
                  <a:gd name="T58" fmla="*/ 33 w 88"/>
                  <a:gd name="T59" fmla="*/ 45 h 125"/>
                  <a:gd name="T60" fmla="*/ 31 w 88"/>
                  <a:gd name="T61" fmla="*/ 48 h 125"/>
                  <a:gd name="T62" fmla="*/ 34 w 88"/>
                  <a:gd name="T63" fmla="*/ 57 h 125"/>
                  <a:gd name="T64" fmla="*/ 33 w 88"/>
                  <a:gd name="T65" fmla="*/ 61 h 125"/>
                  <a:gd name="T66" fmla="*/ 33 w 88"/>
                  <a:gd name="T67" fmla="*/ 64 h 125"/>
                  <a:gd name="T68" fmla="*/ 25 w 88"/>
                  <a:gd name="T69" fmla="*/ 79 h 125"/>
                  <a:gd name="T70" fmla="*/ 17 w 88"/>
                  <a:gd name="T71" fmla="*/ 85 h 125"/>
                  <a:gd name="T72" fmla="*/ 39 w 88"/>
                  <a:gd name="T73" fmla="*/ 102 h 125"/>
                  <a:gd name="T74" fmla="*/ 30 w 88"/>
                  <a:gd name="T75" fmla="*/ 120 h 125"/>
                  <a:gd name="T76" fmla="*/ 33 w 88"/>
                  <a:gd name="T77" fmla="*/ 120 h 125"/>
                  <a:gd name="T78" fmla="*/ 39 w 88"/>
                  <a:gd name="T79" fmla="*/ 123 h 125"/>
                  <a:gd name="T80" fmla="*/ 50 w 88"/>
                  <a:gd name="T81" fmla="*/ 118 h 125"/>
                  <a:gd name="T82" fmla="*/ 61 w 88"/>
                  <a:gd name="T83" fmla="*/ 102 h 125"/>
                  <a:gd name="T84" fmla="*/ 65 w 88"/>
                  <a:gd name="T85" fmla="*/ 90 h 125"/>
                  <a:gd name="T86" fmla="*/ 77 w 88"/>
                  <a:gd name="T87" fmla="*/ 80 h 125"/>
                  <a:gd name="T88" fmla="*/ 79 w 88"/>
                  <a:gd name="T89" fmla="*/ 82 h 125"/>
                  <a:gd name="T90" fmla="*/ 82 w 88"/>
                  <a:gd name="T91" fmla="*/ 73 h 125"/>
                  <a:gd name="T92" fmla="*/ 87 w 88"/>
                  <a:gd name="T93" fmla="*/ 5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8" h="125">
                    <a:moveTo>
                      <a:pt x="83" y="54"/>
                    </a:moveTo>
                    <a:cubicBezTo>
                      <a:pt x="81" y="54"/>
                      <a:pt x="80" y="55"/>
                      <a:pt x="76" y="58"/>
                    </a:cubicBezTo>
                    <a:cubicBezTo>
                      <a:pt x="72" y="61"/>
                      <a:pt x="71" y="61"/>
                      <a:pt x="68" y="62"/>
                    </a:cubicBezTo>
                    <a:cubicBezTo>
                      <a:pt x="66" y="62"/>
                      <a:pt x="55" y="57"/>
                      <a:pt x="55" y="56"/>
                    </a:cubicBezTo>
                    <a:cubicBezTo>
                      <a:pt x="54" y="56"/>
                      <a:pt x="54" y="56"/>
                      <a:pt x="53" y="56"/>
                    </a:cubicBezTo>
                    <a:cubicBezTo>
                      <a:pt x="52" y="56"/>
                      <a:pt x="52" y="56"/>
                      <a:pt x="51" y="55"/>
                    </a:cubicBezTo>
                    <a:cubicBezTo>
                      <a:pt x="50" y="54"/>
                      <a:pt x="49" y="48"/>
                      <a:pt x="49" y="46"/>
                    </a:cubicBezTo>
                    <a:cubicBezTo>
                      <a:pt x="48" y="45"/>
                      <a:pt x="48" y="42"/>
                      <a:pt x="47" y="41"/>
                    </a:cubicBezTo>
                    <a:cubicBezTo>
                      <a:pt x="46" y="41"/>
                      <a:pt x="46" y="40"/>
                      <a:pt x="47" y="40"/>
                    </a:cubicBezTo>
                    <a:cubicBezTo>
                      <a:pt x="48" y="40"/>
                      <a:pt x="46" y="39"/>
                      <a:pt x="45" y="39"/>
                    </a:cubicBezTo>
                    <a:cubicBezTo>
                      <a:pt x="44" y="39"/>
                      <a:pt x="44" y="39"/>
                      <a:pt x="44" y="38"/>
                    </a:cubicBezTo>
                    <a:cubicBezTo>
                      <a:pt x="44" y="37"/>
                      <a:pt x="44" y="37"/>
                      <a:pt x="43" y="37"/>
                    </a:cubicBezTo>
                    <a:cubicBezTo>
                      <a:pt x="42" y="37"/>
                      <a:pt x="42" y="39"/>
                      <a:pt x="42" y="40"/>
                    </a:cubicBezTo>
                    <a:cubicBezTo>
                      <a:pt x="43" y="42"/>
                      <a:pt x="42" y="42"/>
                      <a:pt x="43" y="44"/>
                    </a:cubicBezTo>
                    <a:cubicBezTo>
                      <a:pt x="44" y="47"/>
                      <a:pt x="43" y="47"/>
                      <a:pt x="42" y="47"/>
                    </a:cubicBezTo>
                    <a:cubicBezTo>
                      <a:pt x="40" y="47"/>
                      <a:pt x="38" y="45"/>
                      <a:pt x="37" y="44"/>
                    </a:cubicBezTo>
                    <a:cubicBezTo>
                      <a:pt x="36" y="42"/>
                      <a:pt x="36" y="44"/>
                      <a:pt x="35" y="43"/>
                    </a:cubicBezTo>
                    <a:cubicBezTo>
                      <a:pt x="34" y="42"/>
                      <a:pt x="33" y="42"/>
                      <a:pt x="32" y="42"/>
                    </a:cubicBezTo>
                    <a:cubicBezTo>
                      <a:pt x="31" y="42"/>
                      <a:pt x="32" y="41"/>
                      <a:pt x="33" y="40"/>
                    </a:cubicBezTo>
                    <a:cubicBezTo>
                      <a:pt x="34" y="40"/>
                      <a:pt x="33" y="38"/>
                      <a:pt x="32" y="37"/>
                    </a:cubicBezTo>
                    <a:cubicBezTo>
                      <a:pt x="30" y="37"/>
                      <a:pt x="32" y="35"/>
                      <a:pt x="32" y="34"/>
                    </a:cubicBezTo>
                    <a:cubicBezTo>
                      <a:pt x="33" y="33"/>
                      <a:pt x="32" y="32"/>
                      <a:pt x="31" y="31"/>
                    </a:cubicBezTo>
                    <a:cubicBezTo>
                      <a:pt x="30" y="30"/>
                      <a:pt x="29" y="29"/>
                      <a:pt x="29" y="27"/>
                    </a:cubicBezTo>
                    <a:cubicBezTo>
                      <a:pt x="28" y="26"/>
                      <a:pt x="28" y="25"/>
                      <a:pt x="26" y="25"/>
                    </a:cubicBezTo>
                    <a:cubicBezTo>
                      <a:pt x="25" y="24"/>
                      <a:pt x="26" y="23"/>
                      <a:pt x="26" y="23"/>
                    </a:cubicBezTo>
                    <a:cubicBezTo>
                      <a:pt x="27" y="23"/>
                      <a:pt x="26" y="21"/>
                      <a:pt x="26" y="20"/>
                    </a:cubicBezTo>
                    <a:cubicBezTo>
                      <a:pt x="26" y="20"/>
                      <a:pt x="26" y="16"/>
                      <a:pt x="26" y="15"/>
                    </a:cubicBezTo>
                    <a:cubicBezTo>
                      <a:pt x="26" y="14"/>
                      <a:pt x="24" y="14"/>
                      <a:pt x="24" y="15"/>
                    </a:cubicBezTo>
                    <a:cubicBezTo>
                      <a:pt x="24" y="17"/>
                      <a:pt x="22" y="16"/>
                      <a:pt x="21" y="15"/>
                    </a:cubicBezTo>
                    <a:cubicBezTo>
                      <a:pt x="20" y="15"/>
                      <a:pt x="21" y="14"/>
                      <a:pt x="21" y="13"/>
                    </a:cubicBezTo>
                    <a:cubicBezTo>
                      <a:pt x="22" y="12"/>
                      <a:pt x="21" y="12"/>
                      <a:pt x="20" y="12"/>
                    </a:cubicBezTo>
                    <a:cubicBezTo>
                      <a:pt x="20" y="12"/>
                      <a:pt x="18" y="10"/>
                      <a:pt x="17" y="10"/>
                    </a:cubicBezTo>
                    <a:cubicBezTo>
                      <a:pt x="15" y="10"/>
                      <a:pt x="14" y="9"/>
                      <a:pt x="13" y="9"/>
                    </a:cubicBezTo>
                    <a:cubicBezTo>
                      <a:pt x="12" y="10"/>
                      <a:pt x="12" y="9"/>
                      <a:pt x="12" y="8"/>
                    </a:cubicBezTo>
                    <a:cubicBezTo>
                      <a:pt x="12" y="8"/>
                      <a:pt x="12" y="7"/>
                      <a:pt x="11" y="8"/>
                    </a:cubicBezTo>
                    <a:cubicBezTo>
                      <a:pt x="10" y="9"/>
                      <a:pt x="11" y="10"/>
                      <a:pt x="10" y="10"/>
                    </a:cubicBezTo>
                    <a:cubicBezTo>
                      <a:pt x="10" y="11"/>
                      <a:pt x="9" y="9"/>
                      <a:pt x="8" y="8"/>
                    </a:cubicBezTo>
                    <a:cubicBezTo>
                      <a:pt x="7" y="7"/>
                      <a:pt x="6" y="5"/>
                      <a:pt x="5" y="4"/>
                    </a:cubicBezTo>
                    <a:cubicBezTo>
                      <a:pt x="4" y="2"/>
                      <a:pt x="5" y="2"/>
                      <a:pt x="6" y="2"/>
                    </a:cubicBezTo>
                    <a:cubicBezTo>
                      <a:pt x="7" y="2"/>
                      <a:pt x="6" y="1"/>
                      <a:pt x="6" y="1"/>
                    </a:cubicBezTo>
                    <a:cubicBezTo>
                      <a:pt x="5" y="0"/>
                      <a:pt x="3" y="1"/>
                      <a:pt x="2" y="1"/>
                    </a:cubicBezTo>
                    <a:cubicBezTo>
                      <a:pt x="0" y="1"/>
                      <a:pt x="4" y="5"/>
                      <a:pt x="6" y="7"/>
                    </a:cubicBezTo>
                    <a:cubicBezTo>
                      <a:pt x="8" y="9"/>
                      <a:pt x="10" y="16"/>
                      <a:pt x="10" y="18"/>
                    </a:cubicBezTo>
                    <a:cubicBezTo>
                      <a:pt x="11" y="20"/>
                      <a:pt x="11" y="19"/>
                      <a:pt x="11" y="18"/>
                    </a:cubicBezTo>
                    <a:cubicBezTo>
                      <a:pt x="11" y="18"/>
                      <a:pt x="12" y="18"/>
                      <a:pt x="13" y="17"/>
                    </a:cubicBezTo>
                    <a:cubicBezTo>
                      <a:pt x="14" y="17"/>
                      <a:pt x="13" y="19"/>
                      <a:pt x="14" y="20"/>
                    </a:cubicBezTo>
                    <a:cubicBezTo>
                      <a:pt x="14" y="21"/>
                      <a:pt x="19" y="29"/>
                      <a:pt x="20" y="32"/>
                    </a:cubicBezTo>
                    <a:cubicBezTo>
                      <a:pt x="21" y="34"/>
                      <a:pt x="22" y="35"/>
                      <a:pt x="22" y="34"/>
                    </a:cubicBezTo>
                    <a:cubicBezTo>
                      <a:pt x="23" y="34"/>
                      <a:pt x="24" y="33"/>
                      <a:pt x="22" y="31"/>
                    </a:cubicBezTo>
                    <a:cubicBezTo>
                      <a:pt x="20" y="30"/>
                      <a:pt x="21" y="30"/>
                      <a:pt x="23" y="31"/>
                    </a:cubicBezTo>
                    <a:cubicBezTo>
                      <a:pt x="25" y="32"/>
                      <a:pt x="25" y="31"/>
                      <a:pt x="24" y="30"/>
                    </a:cubicBezTo>
                    <a:cubicBezTo>
                      <a:pt x="23" y="30"/>
                      <a:pt x="24" y="31"/>
                      <a:pt x="25" y="31"/>
                    </a:cubicBezTo>
                    <a:cubicBezTo>
                      <a:pt x="26" y="30"/>
                      <a:pt x="25" y="32"/>
                      <a:pt x="26" y="32"/>
                    </a:cubicBezTo>
                    <a:cubicBezTo>
                      <a:pt x="27" y="32"/>
                      <a:pt x="26" y="32"/>
                      <a:pt x="25" y="33"/>
                    </a:cubicBezTo>
                    <a:cubicBezTo>
                      <a:pt x="24" y="34"/>
                      <a:pt x="26" y="34"/>
                      <a:pt x="26" y="37"/>
                    </a:cubicBezTo>
                    <a:cubicBezTo>
                      <a:pt x="27" y="39"/>
                      <a:pt x="26" y="36"/>
                      <a:pt x="24" y="36"/>
                    </a:cubicBezTo>
                    <a:cubicBezTo>
                      <a:pt x="23" y="35"/>
                      <a:pt x="23" y="36"/>
                      <a:pt x="25" y="37"/>
                    </a:cubicBezTo>
                    <a:cubicBezTo>
                      <a:pt x="26" y="38"/>
                      <a:pt x="27" y="43"/>
                      <a:pt x="28" y="45"/>
                    </a:cubicBezTo>
                    <a:cubicBezTo>
                      <a:pt x="29" y="46"/>
                      <a:pt x="29" y="45"/>
                      <a:pt x="30" y="44"/>
                    </a:cubicBezTo>
                    <a:cubicBezTo>
                      <a:pt x="31" y="43"/>
                      <a:pt x="31" y="44"/>
                      <a:pt x="33" y="45"/>
                    </a:cubicBezTo>
                    <a:cubicBezTo>
                      <a:pt x="34" y="45"/>
                      <a:pt x="33" y="46"/>
                      <a:pt x="33" y="46"/>
                    </a:cubicBezTo>
                    <a:cubicBezTo>
                      <a:pt x="32" y="47"/>
                      <a:pt x="32" y="47"/>
                      <a:pt x="31" y="48"/>
                    </a:cubicBezTo>
                    <a:cubicBezTo>
                      <a:pt x="30" y="49"/>
                      <a:pt x="31" y="50"/>
                      <a:pt x="31" y="50"/>
                    </a:cubicBezTo>
                    <a:cubicBezTo>
                      <a:pt x="33" y="51"/>
                      <a:pt x="34" y="56"/>
                      <a:pt x="34" y="57"/>
                    </a:cubicBezTo>
                    <a:cubicBezTo>
                      <a:pt x="35" y="58"/>
                      <a:pt x="35" y="58"/>
                      <a:pt x="34" y="59"/>
                    </a:cubicBezTo>
                    <a:cubicBezTo>
                      <a:pt x="33" y="59"/>
                      <a:pt x="33" y="60"/>
                      <a:pt x="33" y="61"/>
                    </a:cubicBezTo>
                    <a:cubicBezTo>
                      <a:pt x="32" y="62"/>
                      <a:pt x="32" y="63"/>
                      <a:pt x="33" y="63"/>
                    </a:cubicBezTo>
                    <a:cubicBezTo>
                      <a:pt x="34" y="63"/>
                      <a:pt x="34" y="63"/>
                      <a:pt x="33" y="64"/>
                    </a:cubicBezTo>
                    <a:cubicBezTo>
                      <a:pt x="32" y="65"/>
                      <a:pt x="31" y="69"/>
                      <a:pt x="31" y="71"/>
                    </a:cubicBezTo>
                    <a:cubicBezTo>
                      <a:pt x="31" y="74"/>
                      <a:pt x="26" y="79"/>
                      <a:pt x="25" y="79"/>
                    </a:cubicBezTo>
                    <a:cubicBezTo>
                      <a:pt x="25" y="79"/>
                      <a:pt x="19" y="83"/>
                      <a:pt x="18" y="84"/>
                    </a:cubicBezTo>
                    <a:cubicBezTo>
                      <a:pt x="16" y="85"/>
                      <a:pt x="17" y="85"/>
                      <a:pt x="17" y="85"/>
                    </a:cubicBezTo>
                    <a:cubicBezTo>
                      <a:pt x="21" y="89"/>
                      <a:pt x="28" y="93"/>
                      <a:pt x="31" y="94"/>
                    </a:cubicBezTo>
                    <a:cubicBezTo>
                      <a:pt x="34" y="94"/>
                      <a:pt x="38" y="97"/>
                      <a:pt x="39" y="102"/>
                    </a:cubicBezTo>
                    <a:cubicBezTo>
                      <a:pt x="41" y="108"/>
                      <a:pt x="33" y="115"/>
                      <a:pt x="32" y="117"/>
                    </a:cubicBezTo>
                    <a:cubicBezTo>
                      <a:pt x="30" y="118"/>
                      <a:pt x="30" y="120"/>
                      <a:pt x="30" y="120"/>
                    </a:cubicBezTo>
                    <a:cubicBezTo>
                      <a:pt x="30" y="121"/>
                      <a:pt x="31" y="120"/>
                      <a:pt x="32" y="119"/>
                    </a:cubicBezTo>
                    <a:cubicBezTo>
                      <a:pt x="33" y="118"/>
                      <a:pt x="33" y="119"/>
                      <a:pt x="33" y="120"/>
                    </a:cubicBezTo>
                    <a:cubicBezTo>
                      <a:pt x="33" y="120"/>
                      <a:pt x="34" y="122"/>
                      <a:pt x="36" y="121"/>
                    </a:cubicBezTo>
                    <a:cubicBezTo>
                      <a:pt x="38" y="120"/>
                      <a:pt x="39" y="122"/>
                      <a:pt x="39" y="123"/>
                    </a:cubicBezTo>
                    <a:cubicBezTo>
                      <a:pt x="39" y="124"/>
                      <a:pt x="40" y="125"/>
                      <a:pt x="41" y="124"/>
                    </a:cubicBezTo>
                    <a:cubicBezTo>
                      <a:pt x="41" y="123"/>
                      <a:pt x="48" y="120"/>
                      <a:pt x="50" y="118"/>
                    </a:cubicBezTo>
                    <a:cubicBezTo>
                      <a:pt x="53" y="116"/>
                      <a:pt x="54" y="111"/>
                      <a:pt x="55" y="110"/>
                    </a:cubicBezTo>
                    <a:cubicBezTo>
                      <a:pt x="55" y="108"/>
                      <a:pt x="60" y="104"/>
                      <a:pt x="61" y="102"/>
                    </a:cubicBezTo>
                    <a:cubicBezTo>
                      <a:pt x="62" y="100"/>
                      <a:pt x="65" y="93"/>
                      <a:pt x="66" y="92"/>
                    </a:cubicBezTo>
                    <a:cubicBezTo>
                      <a:pt x="66" y="90"/>
                      <a:pt x="66" y="91"/>
                      <a:pt x="65" y="90"/>
                    </a:cubicBezTo>
                    <a:cubicBezTo>
                      <a:pt x="64" y="89"/>
                      <a:pt x="63" y="87"/>
                      <a:pt x="65" y="83"/>
                    </a:cubicBezTo>
                    <a:cubicBezTo>
                      <a:pt x="68" y="79"/>
                      <a:pt x="75" y="80"/>
                      <a:pt x="77" y="80"/>
                    </a:cubicBezTo>
                    <a:cubicBezTo>
                      <a:pt x="79" y="80"/>
                      <a:pt x="78" y="80"/>
                      <a:pt x="78" y="81"/>
                    </a:cubicBezTo>
                    <a:cubicBezTo>
                      <a:pt x="78" y="83"/>
                      <a:pt x="79" y="82"/>
                      <a:pt x="79" y="82"/>
                    </a:cubicBezTo>
                    <a:cubicBezTo>
                      <a:pt x="80" y="82"/>
                      <a:pt x="80" y="81"/>
                      <a:pt x="79" y="80"/>
                    </a:cubicBezTo>
                    <a:cubicBezTo>
                      <a:pt x="78" y="78"/>
                      <a:pt x="79" y="75"/>
                      <a:pt x="82" y="73"/>
                    </a:cubicBezTo>
                    <a:cubicBezTo>
                      <a:pt x="85" y="70"/>
                      <a:pt x="85" y="65"/>
                      <a:pt x="86" y="63"/>
                    </a:cubicBezTo>
                    <a:cubicBezTo>
                      <a:pt x="86" y="61"/>
                      <a:pt x="86" y="59"/>
                      <a:pt x="87" y="57"/>
                    </a:cubicBezTo>
                    <a:cubicBezTo>
                      <a:pt x="88" y="56"/>
                      <a:pt x="85" y="55"/>
                      <a:pt x="83" y="5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05" name="Freeform 514">
                <a:extLst>
                  <a:ext uri="{FF2B5EF4-FFF2-40B4-BE49-F238E27FC236}">
                    <a16:creationId xmlns:a16="http://schemas.microsoft.com/office/drawing/2014/main" id="{9B4DA7BA-6631-46CD-B457-A8B36759DE7B}"/>
                  </a:ext>
                </a:extLst>
              </p:cNvPr>
              <p:cNvSpPr>
                <a:spLocks/>
              </p:cNvSpPr>
              <p:nvPr/>
            </p:nvSpPr>
            <p:spPr bwMode="auto">
              <a:xfrm>
                <a:off x="7264" y="3633"/>
                <a:ext cx="18" cy="12"/>
              </a:xfrm>
              <a:custGeom>
                <a:avLst/>
                <a:gdLst>
                  <a:gd name="T0" fmla="*/ 9 w 13"/>
                  <a:gd name="T1" fmla="*/ 1 h 9"/>
                  <a:gd name="T2" fmla="*/ 4 w 13"/>
                  <a:gd name="T3" fmla="*/ 1 h 9"/>
                  <a:gd name="T4" fmla="*/ 2 w 13"/>
                  <a:gd name="T5" fmla="*/ 2 h 9"/>
                  <a:gd name="T6" fmla="*/ 4 w 13"/>
                  <a:gd name="T7" fmla="*/ 3 h 9"/>
                  <a:gd name="T8" fmla="*/ 5 w 13"/>
                  <a:gd name="T9" fmla="*/ 4 h 9"/>
                  <a:gd name="T10" fmla="*/ 5 w 13"/>
                  <a:gd name="T11" fmla="*/ 6 h 9"/>
                  <a:gd name="T12" fmla="*/ 6 w 13"/>
                  <a:gd name="T13" fmla="*/ 8 h 9"/>
                  <a:gd name="T14" fmla="*/ 8 w 13"/>
                  <a:gd name="T15" fmla="*/ 7 h 9"/>
                  <a:gd name="T16" fmla="*/ 8 w 13"/>
                  <a:gd name="T17" fmla="*/ 5 h 9"/>
                  <a:gd name="T18" fmla="*/ 6 w 13"/>
                  <a:gd name="T19" fmla="*/ 3 h 9"/>
                  <a:gd name="T20" fmla="*/ 6 w 13"/>
                  <a:gd name="T21" fmla="*/ 2 h 9"/>
                  <a:gd name="T22" fmla="*/ 9 w 13"/>
                  <a:gd name="T23" fmla="*/ 2 h 9"/>
                  <a:gd name="T24" fmla="*/ 9 w 13"/>
                  <a:gd name="T25"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9">
                    <a:moveTo>
                      <a:pt x="9" y="1"/>
                    </a:moveTo>
                    <a:cubicBezTo>
                      <a:pt x="6" y="0"/>
                      <a:pt x="5" y="0"/>
                      <a:pt x="4" y="1"/>
                    </a:cubicBezTo>
                    <a:cubicBezTo>
                      <a:pt x="3" y="2"/>
                      <a:pt x="0" y="2"/>
                      <a:pt x="2" y="2"/>
                    </a:cubicBezTo>
                    <a:cubicBezTo>
                      <a:pt x="3" y="3"/>
                      <a:pt x="3" y="3"/>
                      <a:pt x="4" y="3"/>
                    </a:cubicBezTo>
                    <a:cubicBezTo>
                      <a:pt x="5" y="3"/>
                      <a:pt x="6" y="3"/>
                      <a:pt x="5" y="4"/>
                    </a:cubicBezTo>
                    <a:cubicBezTo>
                      <a:pt x="4" y="6"/>
                      <a:pt x="5" y="6"/>
                      <a:pt x="5" y="6"/>
                    </a:cubicBezTo>
                    <a:cubicBezTo>
                      <a:pt x="5" y="6"/>
                      <a:pt x="4" y="9"/>
                      <a:pt x="6" y="8"/>
                    </a:cubicBezTo>
                    <a:cubicBezTo>
                      <a:pt x="7" y="7"/>
                      <a:pt x="8" y="7"/>
                      <a:pt x="8" y="7"/>
                    </a:cubicBezTo>
                    <a:cubicBezTo>
                      <a:pt x="9" y="7"/>
                      <a:pt x="9" y="7"/>
                      <a:pt x="8" y="5"/>
                    </a:cubicBezTo>
                    <a:cubicBezTo>
                      <a:pt x="7" y="3"/>
                      <a:pt x="6" y="4"/>
                      <a:pt x="6" y="3"/>
                    </a:cubicBezTo>
                    <a:cubicBezTo>
                      <a:pt x="7" y="3"/>
                      <a:pt x="5" y="2"/>
                      <a:pt x="6" y="2"/>
                    </a:cubicBezTo>
                    <a:cubicBezTo>
                      <a:pt x="7" y="1"/>
                      <a:pt x="9" y="2"/>
                      <a:pt x="9" y="2"/>
                    </a:cubicBezTo>
                    <a:cubicBezTo>
                      <a:pt x="9" y="2"/>
                      <a:pt x="13" y="2"/>
                      <a:pt x="9"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06" name="Freeform 515">
                <a:extLst>
                  <a:ext uri="{FF2B5EF4-FFF2-40B4-BE49-F238E27FC236}">
                    <a16:creationId xmlns:a16="http://schemas.microsoft.com/office/drawing/2014/main" id="{516994FD-F7F1-4AE3-B1B7-D85161857AFF}"/>
                  </a:ext>
                </a:extLst>
              </p:cNvPr>
              <p:cNvSpPr>
                <a:spLocks/>
              </p:cNvSpPr>
              <p:nvPr/>
            </p:nvSpPr>
            <p:spPr bwMode="auto">
              <a:xfrm>
                <a:off x="7278" y="3645"/>
                <a:ext cx="3" cy="6"/>
              </a:xfrm>
              <a:custGeom>
                <a:avLst/>
                <a:gdLst>
                  <a:gd name="T0" fmla="*/ 0 w 2"/>
                  <a:gd name="T1" fmla="*/ 2 h 4"/>
                  <a:gd name="T2" fmla="*/ 1 w 2"/>
                  <a:gd name="T3" fmla="*/ 2 h 4"/>
                  <a:gd name="T4" fmla="*/ 0 w 2"/>
                  <a:gd name="T5" fmla="*/ 2 h 4"/>
                </a:gdLst>
                <a:ahLst/>
                <a:cxnLst>
                  <a:cxn ang="0">
                    <a:pos x="T0" y="T1"/>
                  </a:cxn>
                  <a:cxn ang="0">
                    <a:pos x="T2" y="T3"/>
                  </a:cxn>
                  <a:cxn ang="0">
                    <a:pos x="T4" y="T5"/>
                  </a:cxn>
                </a:cxnLst>
                <a:rect l="0" t="0" r="r" b="b"/>
                <a:pathLst>
                  <a:path w="2" h="4">
                    <a:moveTo>
                      <a:pt x="0" y="2"/>
                    </a:moveTo>
                    <a:cubicBezTo>
                      <a:pt x="0" y="2"/>
                      <a:pt x="1" y="4"/>
                      <a:pt x="1" y="2"/>
                    </a:cubicBezTo>
                    <a:cubicBezTo>
                      <a:pt x="2" y="0"/>
                      <a:pt x="0" y="1"/>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07" name="Freeform 516">
                <a:extLst>
                  <a:ext uri="{FF2B5EF4-FFF2-40B4-BE49-F238E27FC236}">
                    <a16:creationId xmlns:a16="http://schemas.microsoft.com/office/drawing/2014/main" id="{8F91A10A-332C-46CC-9F6C-DD55134A1669}"/>
                  </a:ext>
                </a:extLst>
              </p:cNvPr>
              <p:cNvSpPr>
                <a:spLocks/>
              </p:cNvSpPr>
              <p:nvPr/>
            </p:nvSpPr>
            <p:spPr bwMode="auto">
              <a:xfrm>
                <a:off x="7408" y="3073"/>
                <a:ext cx="4" cy="4"/>
              </a:xfrm>
              <a:custGeom>
                <a:avLst/>
                <a:gdLst>
                  <a:gd name="T0" fmla="*/ 2 w 3"/>
                  <a:gd name="T1" fmla="*/ 0 h 3"/>
                  <a:gd name="T2" fmla="*/ 1 w 3"/>
                  <a:gd name="T3" fmla="*/ 2 h 3"/>
                  <a:gd name="T4" fmla="*/ 2 w 3"/>
                  <a:gd name="T5" fmla="*/ 1 h 3"/>
                  <a:gd name="T6" fmla="*/ 2 w 3"/>
                  <a:gd name="T7" fmla="*/ 0 h 3"/>
                </a:gdLst>
                <a:ahLst/>
                <a:cxnLst>
                  <a:cxn ang="0">
                    <a:pos x="T0" y="T1"/>
                  </a:cxn>
                  <a:cxn ang="0">
                    <a:pos x="T2" y="T3"/>
                  </a:cxn>
                  <a:cxn ang="0">
                    <a:pos x="T4" y="T5"/>
                  </a:cxn>
                  <a:cxn ang="0">
                    <a:pos x="T6" y="T7"/>
                  </a:cxn>
                </a:cxnLst>
                <a:rect l="0" t="0" r="r" b="b"/>
                <a:pathLst>
                  <a:path w="3" h="3">
                    <a:moveTo>
                      <a:pt x="2" y="0"/>
                    </a:moveTo>
                    <a:cubicBezTo>
                      <a:pt x="0" y="1"/>
                      <a:pt x="0" y="2"/>
                      <a:pt x="1" y="2"/>
                    </a:cubicBezTo>
                    <a:cubicBezTo>
                      <a:pt x="1" y="2"/>
                      <a:pt x="2" y="3"/>
                      <a:pt x="2" y="1"/>
                    </a:cubicBezTo>
                    <a:cubicBezTo>
                      <a:pt x="3" y="0"/>
                      <a:pt x="3"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08" name="Freeform 517">
                <a:extLst>
                  <a:ext uri="{FF2B5EF4-FFF2-40B4-BE49-F238E27FC236}">
                    <a16:creationId xmlns:a16="http://schemas.microsoft.com/office/drawing/2014/main" id="{96B09065-A75D-4B07-B7A2-74A54B67EE21}"/>
                  </a:ext>
                </a:extLst>
              </p:cNvPr>
              <p:cNvSpPr>
                <a:spLocks/>
              </p:cNvSpPr>
              <p:nvPr/>
            </p:nvSpPr>
            <p:spPr bwMode="auto">
              <a:xfrm>
                <a:off x="5007" y="3876"/>
                <a:ext cx="14" cy="7"/>
              </a:xfrm>
              <a:custGeom>
                <a:avLst/>
                <a:gdLst>
                  <a:gd name="T0" fmla="*/ 7 w 10"/>
                  <a:gd name="T1" fmla="*/ 3 h 5"/>
                  <a:gd name="T2" fmla="*/ 1 w 10"/>
                  <a:gd name="T3" fmla="*/ 0 h 5"/>
                  <a:gd name="T4" fmla="*/ 3 w 10"/>
                  <a:gd name="T5" fmla="*/ 3 h 5"/>
                  <a:gd name="T6" fmla="*/ 5 w 10"/>
                  <a:gd name="T7" fmla="*/ 4 h 5"/>
                  <a:gd name="T8" fmla="*/ 7 w 10"/>
                  <a:gd name="T9" fmla="*/ 3 h 5"/>
                </a:gdLst>
                <a:ahLst/>
                <a:cxnLst>
                  <a:cxn ang="0">
                    <a:pos x="T0" y="T1"/>
                  </a:cxn>
                  <a:cxn ang="0">
                    <a:pos x="T2" y="T3"/>
                  </a:cxn>
                  <a:cxn ang="0">
                    <a:pos x="T4" y="T5"/>
                  </a:cxn>
                  <a:cxn ang="0">
                    <a:pos x="T6" y="T7"/>
                  </a:cxn>
                  <a:cxn ang="0">
                    <a:pos x="T8" y="T9"/>
                  </a:cxn>
                </a:cxnLst>
                <a:rect l="0" t="0" r="r" b="b"/>
                <a:pathLst>
                  <a:path w="10" h="5">
                    <a:moveTo>
                      <a:pt x="7" y="3"/>
                    </a:moveTo>
                    <a:cubicBezTo>
                      <a:pt x="5" y="1"/>
                      <a:pt x="0" y="0"/>
                      <a:pt x="1" y="0"/>
                    </a:cubicBezTo>
                    <a:cubicBezTo>
                      <a:pt x="2" y="1"/>
                      <a:pt x="2" y="1"/>
                      <a:pt x="3" y="3"/>
                    </a:cubicBezTo>
                    <a:cubicBezTo>
                      <a:pt x="3" y="3"/>
                      <a:pt x="3" y="5"/>
                      <a:pt x="5" y="4"/>
                    </a:cubicBezTo>
                    <a:cubicBezTo>
                      <a:pt x="6" y="3"/>
                      <a:pt x="10" y="4"/>
                      <a:pt x="7"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09" name="Freeform 518">
                <a:extLst>
                  <a:ext uri="{FF2B5EF4-FFF2-40B4-BE49-F238E27FC236}">
                    <a16:creationId xmlns:a16="http://schemas.microsoft.com/office/drawing/2014/main" id="{5FCDCE3E-D663-43AC-8496-1BF0D516EF26}"/>
                  </a:ext>
                </a:extLst>
              </p:cNvPr>
              <p:cNvSpPr>
                <a:spLocks/>
              </p:cNvSpPr>
              <p:nvPr/>
            </p:nvSpPr>
            <p:spPr bwMode="auto">
              <a:xfrm>
                <a:off x="6459" y="3533"/>
                <a:ext cx="7" cy="12"/>
              </a:xfrm>
              <a:custGeom>
                <a:avLst/>
                <a:gdLst>
                  <a:gd name="T0" fmla="*/ 2 w 5"/>
                  <a:gd name="T1" fmla="*/ 1 h 9"/>
                  <a:gd name="T2" fmla="*/ 1 w 5"/>
                  <a:gd name="T3" fmla="*/ 2 h 9"/>
                  <a:gd name="T4" fmla="*/ 0 w 5"/>
                  <a:gd name="T5" fmla="*/ 6 h 9"/>
                  <a:gd name="T6" fmla="*/ 1 w 5"/>
                  <a:gd name="T7" fmla="*/ 9 h 9"/>
                  <a:gd name="T8" fmla="*/ 3 w 5"/>
                  <a:gd name="T9" fmla="*/ 8 h 9"/>
                  <a:gd name="T10" fmla="*/ 4 w 5"/>
                  <a:gd name="T11" fmla="*/ 5 h 9"/>
                  <a:gd name="T12" fmla="*/ 2 w 5"/>
                  <a:gd name="T13" fmla="*/ 1 h 9"/>
                </a:gdLst>
                <a:ahLst/>
                <a:cxnLst>
                  <a:cxn ang="0">
                    <a:pos x="T0" y="T1"/>
                  </a:cxn>
                  <a:cxn ang="0">
                    <a:pos x="T2" y="T3"/>
                  </a:cxn>
                  <a:cxn ang="0">
                    <a:pos x="T4" y="T5"/>
                  </a:cxn>
                  <a:cxn ang="0">
                    <a:pos x="T6" y="T7"/>
                  </a:cxn>
                  <a:cxn ang="0">
                    <a:pos x="T8" y="T9"/>
                  </a:cxn>
                  <a:cxn ang="0">
                    <a:pos x="T10" y="T11"/>
                  </a:cxn>
                  <a:cxn ang="0">
                    <a:pos x="T12" y="T13"/>
                  </a:cxn>
                </a:cxnLst>
                <a:rect l="0" t="0" r="r" b="b"/>
                <a:pathLst>
                  <a:path w="5" h="9">
                    <a:moveTo>
                      <a:pt x="2" y="1"/>
                    </a:moveTo>
                    <a:cubicBezTo>
                      <a:pt x="1" y="0"/>
                      <a:pt x="2" y="0"/>
                      <a:pt x="1" y="2"/>
                    </a:cubicBezTo>
                    <a:cubicBezTo>
                      <a:pt x="0" y="3"/>
                      <a:pt x="0" y="3"/>
                      <a:pt x="0" y="6"/>
                    </a:cubicBezTo>
                    <a:cubicBezTo>
                      <a:pt x="0" y="9"/>
                      <a:pt x="1" y="9"/>
                      <a:pt x="1" y="9"/>
                    </a:cubicBezTo>
                    <a:cubicBezTo>
                      <a:pt x="2" y="9"/>
                      <a:pt x="2" y="9"/>
                      <a:pt x="3" y="8"/>
                    </a:cubicBezTo>
                    <a:cubicBezTo>
                      <a:pt x="5" y="8"/>
                      <a:pt x="4" y="6"/>
                      <a:pt x="4" y="5"/>
                    </a:cubicBezTo>
                    <a:cubicBezTo>
                      <a:pt x="4" y="3"/>
                      <a:pt x="3" y="2"/>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10" name="Freeform 519">
                <a:extLst>
                  <a:ext uri="{FF2B5EF4-FFF2-40B4-BE49-F238E27FC236}">
                    <a16:creationId xmlns:a16="http://schemas.microsoft.com/office/drawing/2014/main" id="{E0D5D7D3-478D-400F-BEDD-98D24BCE81B8}"/>
                  </a:ext>
                </a:extLst>
              </p:cNvPr>
              <p:cNvSpPr>
                <a:spLocks/>
              </p:cNvSpPr>
              <p:nvPr/>
            </p:nvSpPr>
            <p:spPr bwMode="auto">
              <a:xfrm>
                <a:off x="6543" y="3551"/>
                <a:ext cx="11" cy="5"/>
              </a:xfrm>
              <a:custGeom>
                <a:avLst/>
                <a:gdLst>
                  <a:gd name="T0" fmla="*/ 6 w 8"/>
                  <a:gd name="T1" fmla="*/ 0 h 4"/>
                  <a:gd name="T2" fmla="*/ 3 w 8"/>
                  <a:gd name="T3" fmla="*/ 1 h 4"/>
                  <a:gd name="T4" fmla="*/ 2 w 8"/>
                  <a:gd name="T5" fmla="*/ 2 h 4"/>
                  <a:gd name="T6" fmla="*/ 6 w 8"/>
                  <a:gd name="T7" fmla="*/ 3 h 4"/>
                  <a:gd name="T8" fmla="*/ 7 w 8"/>
                  <a:gd name="T9" fmla="*/ 1 h 4"/>
                  <a:gd name="T10" fmla="*/ 6 w 8"/>
                  <a:gd name="T11" fmla="*/ 0 h 4"/>
                </a:gdLst>
                <a:ahLst/>
                <a:cxnLst>
                  <a:cxn ang="0">
                    <a:pos x="T0" y="T1"/>
                  </a:cxn>
                  <a:cxn ang="0">
                    <a:pos x="T2" y="T3"/>
                  </a:cxn>
                  <a:cxn ang="0">
                    <a:pos x="T4" y="T5"/>
                  </a:cxn>
                  <a:cxn ang="0">
                    <a:pos x="T6" y="T7"/>
                  </a:cxn>
                  <a:cxn ang="0">
                    <a:pos x="T8" y="T9"/>
                  </a:cxn>
                  <a:cxn ang="0">
                    <a:pos x="T10" y="T11"/>
                  </a:cxn>
                </a:cxnLst>
                <a:rect l="0" t="0" r="r" b="b"/>
                <a:pathLst>
                  <a:path w="8" h="4">
                    <a:moveTo>
                      <a:pt x="6" y="0"/>
                    </a:moveTo>
                    <a:cubicBezTo>
                      <a:pt x="5" y="1"/>
                      <a:pt x="5" y="1"/>
                      <a:pt x="3" y="1"/>
                    </a:cubicBezTo>
                    <a:cubicBezTo>
                      <a:pt x="0" y="1"/>
                      <a:pt x="2" y="2"/>
                      <a:pt x="2" y="2"/>
                    </a:cubicBezTo>
                    <a:cubicBezTo>
                      <a:pt x="2" y="2"/>
                      <a:pt x="5" y="3"/>
                      <a:pt x="6" y="3"/>
                    </a:cubicBezTo>
                    <a:cubicBezTo>
                      <a:pt x="7" y="4"/>
                      <a:pt x="8" y="2"/>
                      <a:pt x="7" y="1"/>
                    </a:cubicBezTo>
                    <a:cubicBezTo>
                      <a:pt x="7" y="0"/>
                      <a:pt x="7" y="0"/>
                      <a:pt x="6"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11" name="Freeform 520">
                <a:extLst>
                  <a:ext uri="{FF2B5EF4-FFF2-40B4-BE49-F238E27FC236}">
                    <a16:creationId xmlns:a16="http://schemas.microsoft.com/office/drawing/2014/main" id="{E732E2DB-76DF-4086-A9C9-55A12E9D9000}"/>
                  </a:ext>
                </a:extLst>
              </p:cNvPr>
              <p:cNvSpPr>
                <a:spLocks/>
              </p:cNvSpPr>
              <p:nvPr/>
            </p:nvSpPr>
            <p:spPr bwMode="auto">
              <a:xfrm>
                <a:off x="6546" y="3555"/>
                <a:ext cx="3" cy="3"/>
              </a:xfrm>
              <a:custGeom>
                <a:avLst/>
                <a:gdLst>
                  <a:gd name="T0" fmla="*/ 2 w 2"/>
                  <a:gd name="T1" fmla="*/ 1 h 2"/>
                  <a:gd name="T2" fmla="*/ 1 w 2"/>
                  <a:gd name="T3" fmla="*/ 2 h 2"/>
                  <a:gd name="T4" fmla="*/ 2 w 2"/>
                  <a:gd name="T5" fmla="*/ 1 h 2"/>
                </a:gdLst>
                <a:ahLst/>
                <a:cxnLst>
                  <a:cxn ang="0">
                    <a:pos x="T0" y="T1"/>
                  </a:cxn>
                  <a:cxn ang="0">
                    <a:pos x="T2" y="T3"/>
                  </a:cxn>
                  <a:cxn ang="0">
                    <a:pos x="T4" y="T5"/>
                  </a:cxn>
                </a:cxnLst>
                <a:rect l="0" t="0" r="r" b="b"/>
                <a:pathLst>
                  <a:path w="2" h="2">
                    <a:moveTo>
                      <a:pt x="2" y="1"/>
                    </a:moveTo>
                    <a:cubicBezTo>
                      <a:pt x="2" y="0"/>
                      <a:pt x="0" y="1"/>
                      <a:pt x="1" y="2"/>
                    </a:cubicBezTo>
                    <a:cubicBezTo>
                      <a:pt x="1" y="2"/>
                      <a:pt x="2" y="1"/>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12" name="Freeform 521">
                <a:extLst>
                  <a:ext uri="{FF2B5EF4-FFF2-40B4-BE49-F238E27FC236}">
                    <a16:creationId xmlns:a16="http://schemas.microsoft.com/office/drawing/2014/main" id="{404FE6EB-9696-4D78-92CA-A1280189CF36}"/>
                  </a:ext>
                </a:extLst>
              </p:cNvPr>
              <p:cNvSpPr>
                <a:spLocks/>
              </p:cNvSpPr>
              <p:nvPr/>
            </p:nvSpPr>
            <p:spPr bwMode="auto">
              <a:xfrm>
                <a:off x="6538" y="3536"/>
                <a:ext cx="13" cy="13"/>
              </a:xfrm>
              <a:custGeom>
                <a:avLst/>
                <a:gdLst>
                  <a:gd name="T0" fmla="*/ 5 w 10"/>
                  <a:gd name="T1" fmla="*/ 9 h 10"/>
                  <a:gd name="T2" fmla="*/ 8 w 10"/>
                  <a:gd name="T3" fmla="*/ 9 h 10"/>
                  <a:gd name="T4" fmla="*/ 10 w 10"/>
                  <a:gd name="T5" fmla="*/ 8 h 10"/>
                  <a:gd name="T6" fmla="*/ 5 w 10"/>
                  <a:gd name="T7" fmla="*/ 1 h 10"/>
                  <a:gd name="T8" fmla="*/ 2 w 10"/>
                  <a:gd name="T9" fmla="*/ 2 h 10"/>
                  <a:gd name="T10" fmla="*/ 2 w 10"/>
                  <a:gd name="T11" fmla="*/ 4 h 10"/>
                  <a:gd name="T12" fmla="*/ 5 w 10"/>
                  <a:gd name="T13" fmla="*/ 9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5" y="9"/>
                    </a:moveTo>
                    <a:cubicBezTo>
                      <a:pt x="6" y="10"/>
                      <a:pt x="7" y="10"/>
                      <a:pt x="8" y="9"/>
                    </a:cubicBezTo>
                    <a:cubicBezTo>
                      <a:pt x="9" y="9"/>
                      <a:pt x="10" y="10"/>
                      <a:pt x="10" y="8"/>
                    </a:cubicBezTo>
                    <a:cubicBezTo>
                      <a:pt x="10" y="6"/>
                      <a:pt x="6" y="2"/>
                      <a:pt x="5" y="1"/>
                    </a:cubicBezTo>
                    <a:cubicBezTo>
                      <a:pt x="3" y="0"/>
                      <a:pt x="3" y="1"/>
                      <a:pt x="2" y="2"/>
                    </a:cubicBezTo>
                    <a:cubicBezTo>
                      <a:pt x="0" y="3"/>
                      <a:pt x="2" y="4"/>
                      <a:pt x="2" y="4"/>
                    </a:cubicBezTo>
                    <a:cubicBezTo>
                      <a:pt x="2" y="5"/>
                      <a:pt x="4" y="8"/>
                      <a:pt x="5"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13" name="Freeform 522">
                <a:extLst>
                  <a:ext uri="{FF2B5EF4-FFF2-40B4-BE49-F238E27FC236}">
                    <a16:creationId xmlns:a16="http://schemas.microsoft.com/office/drawing/2014/main" id="{73CE4D6D-BC05-4BED-AD73-84DC61CFDE28}"/>
                  </a:ext>
                </a:extLst>
              </p:cNvPr>
              <p:cNvSpPr>
                <a:spLocks/>
              </p:cNvSpPr>
              <p:nvPr/>
            </p:nvSpPr>
            <p:spPr bwMode="auto">
              <a:xfrm>
                <a:off x="6479" y="3558"/>
                <a:ext cx="5" cy="2"/>
              </a:xfrm>
              <a:custGeom>
                <a:avLst/>
                <a:gdLst>
                  <a:gd name="T0" fmla="*/ 1 w 3"/>
                  <a:gd name="T1" fmla="*/ 1 h 2"/>
                  <a:gd name="T2" fmla="*/ 3 w 3"/>
                  <a:gd name="T3" fmla="*/ 2 h 2"/>
                  <a:gd name="T4" fmla="*/ 1 w 3"/>
                  <a:gd name="T5" fmla="*/ 1 h 2"/>
                </a:gdLst>
                <a:ahLst/>
                <a:cxnLst>
                  <a:cxn ang="0">
                    <a:pos x="T0" y="T1"/>
                  </a:cxn>
                  <a:cxn ang="0">
                    <a:pos x="T2" y="T3"/>
                  </a:cxn>
                  <a:cxn ang="0">
                    <a:pos x="T4" y="T5"/>
                  </a:cxn>
                </a:cxnLst>
                <a:rect l="0" t="0" r="r" b="b"/>
                <a:pathLst>
                  <a:path w="3" h="2">
                    <a:moveTo>
                      <a:pt x="1" y="1"/>
                    </a:moveTo>
                    <a:cubicBezTo>
                      <a:pt x="0" y="1"/>
                      <a:pt x="2" y="2"/>
                      <a:pt x="3" y="2"/>
                    </a:cubicBezTo>
                    <a:cubicBezTo>
                      <a:pt x="3" y="2"/>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14" name="Freeform 523">
                <a:extLst>
                  <a:ext uri="{FF2B5EF4-FFF2-40B4-BE49-F238E27FC236}">
                    <a16:creationId xmlns:a16="http://schemas.microsoft.com/office/drawing/2014/main" id="{54EE6C2A-2A15-404D-8A08-5153FBF0E2C3}"/>
                  </a:ext>
                </a:extLst>
              </p:cNvPr>
              <p:cNvSpPr>
                <a:spLocks/>
              </p:cNvSpPr>
              <p:nvPr/>
            </p:nvSpPr>
            <p:spPr bwMode="auto">
              <a:xfrm>
                <a:off x="6475" y="3559"/>
                <a:ext cx="76" cy="73"/>
              </a:xfrm>
              <a:custGeom>
                <a:avLst/>
                <a:gdLst>
                  <a:gd name="T0" fmla="*/ 54 w 55"/>
                  <a:gd name="T1" fmla="*/ 10 h 53"/>
                  <a:gd name="T2" fmla="*/ 54 w 55"/>
                  <a:gd name="T3" fmla="*/ 7 h 53"/>
                  <a:gd name="T4" fmla="*/ 50 w 55"/>
                  <a:gd name="T5" fmla="*/ 2 h 53"/>
                  <a:gd name="T6" fmla="*/ 46 w 55"/>
                  <a:gd name="T7" fmla="*/ 3 h 53"/>
                  <a:gd name="T8" fmla="*/ 34 w 55"/>
                  <a:gd name="T9" fmla="*/ 7 h 53"/>
                  <a:gd name="T10" fmla="*/ 33 w 55"/>
                  <a:gd name="T11" fmla="*/ 8 h 53"/>
                  <a:gd name="T12" fmla="*/ 31 w 55"/>
                  <a:gd name="T13" fmla="*/ 8 h 53"/>
                  <a:gd name="T14" fmla="*/ 24 w 55"/>
                  <a:gd name="T15" fmla="*/ 9 h 53"/>
                  <a:gd name="T16" fmla="*/ 16 w 55"/>
                  <a:gd name="T17" fmla="*/ 6 h 53"/>
                  <a:gd name="T18" fmla="*/ 7 w 55"/>
                  <a:gd name="T19" fmla="*/ 2 h 53"/>
                  <a:gd name="T20" fmla="*/ 3 w 55"/>
                  <a:gd name="T21" fmla="*/ 1 h 53"/>
                  <a:gd name="T22" fmla="*/ 1 w 55"/>
                  <a:gd name="T23" fmla="*/ 0 h 53"/>
                  <a:gd name="T24" fmla="*/ 1 w 55"/>
                  <a:gd name="T25" fmla="*/ 1 h 53"/>
                  <a:gd name="T26" fmla="*/ 0 w 55"/>
                  <a:gd name="T27" fmla="*/ 9 h 53"/>
                  <a:gd name="T28" fmla="*/ 4 w 55"/>
                  <a:gd name="T29" fmla="*/ 19 h 53"/>
                  <a:gd name="T30" fmla="*/ 9 w 55"/>
                  <a:gd name="T31" fmla="*/ 25 h 53"/>
                  <a:gd name="T32" fmla="*/ 11 w 55"/>
                  <a:gd name="T33" fmla="*/ 29 h 53"/>
                  <a:gd name="T34" fmla="*/ 12 w 55"/>
                  <a:gd name="T35" fmla="*/ 32 h 53"/>
                  <a:gd name="T36" fmla="*/ 9 w 55"/>
                  <a:gd name="T37" fmla="*/ 29 h 53"/>
                  <a:gd name="T38" fmla="*/ 8 w 55"/>
                  <a:gd name="T39" fmla="*/ 30 h 53"/>
                  <a:gd name="T40" fmla="*/ 9 w 55"/>
                  <a:gd name="T41" fmla="*/ 34 h 53"/>
                  <a:gd name="T42" fmla="*/ 12 w 55"/>
                  <a:gd name="T43" fmla="*/ 40 h 53"/>
                  <a:gd name="T44" fmla="*/ 17 w 55"/>
                  <a:gd name="T45" fmla="*/ 46 h 53"/>
                  <a:gd name="T46" fmla="*/ 19 w 55"/>
                  <a:gd name="T47" fmla="*/ 46 h 53"/>
                  <a:gd name="T48" fmla="*/ 23 w 55"/>
                  <a:gd name="T49" fmla="*/ 48 h 53"/>
                  <a:gd name="T50" fmla="*/ 22 w 55"/>
                  <a:gd name="T51" fmla="*/ 49 h 53"/>
                  <a:gd name="T52" fmla="*/ 21 w 55"/>
                  <a:gd name="T53" fmla="*/ 51 h 53"/>
                  <a:gd name="T54" fmla="*/ 25 w 55"/>
                  <a:gd name="T55" fmla="*/ 51 h 53"/>
                  <a:gd name="T56" fmla="*/ 33 w 55"/>
                  <a:gd name="T57" fmla="*/ 52 h 53"/>
                  <a:gd name="T58" fmla="*/ 34 w 55"/>
                  <a:gd name="T59" fmla="*/ 52 h 53"/>
                  <a:gd name="T60" fmla="*/ 35 w 55"/>
                  <a:gd name="T61" fmla="*/ 48 h 53"/>
                  <a:gd name="T62" fmla="*/ 35 w 55"/>
                  <a:gd name="T63" fmla="*/ 45 h 53"/>
                  <a:gd name="T64" fmla="*/ 37 w 55"/>
                  <a:gd name="T65" fmla="*/ 46 h 53"/>
                  <a:gd name="T66" fmla="*/ 39 w 55"/>
                  <a:gd name="T67" fmla="*/ 45 h 53"/>
                  <a:gd name="T68" fmla="*/ 39 w 55"/>
                  <a:gd name="T69" fmla="*/ 39 h 53"/>
                  <a:gd name="T70" fmla="*/ 42 w 55"/>
                  <a:gd name="T71" fmla="*/ 41 h 53"/>
                  <a:gd name="T72" fmla="*/ 43 w 55"/>
                  <a:gd name="T73" fmla="*/ 39 h 53"/>
                  <a:gd name="T74" fmla="*/ 47 w 55"/>
                  <a:gd name="T75" fmla="*/ 41 h 53"/>
                  <a:gd name="T76" fmla="*/ 46 w 55"/>
                  <a:gd name="T77" fmla="*/ 44 h 53"/>
                  <a:gd name="T78" fmla="*/ 48 w 55"/>
                  <a:gd name="T79" fmla="*/ 46 h 53"/>
                  <a:gd name="T80" fmla="*/ 49 w 55"/>
                  <a:gd name="T81" fmla="*/ 45 h 53"/>
                  <a:gd name="T82" fmla="*/ 49 w 55"/>
                  <a:gd name="T83" fmla="*/ 42 h 53"/>
                  <a:gd name="T84" fmla="*/ 48 w 55"/>
                  <a:gd name="T85" fmla="*/ 39 h 53"/>
                  <a:gd name="T86" fmla="*/ 48 w 55"/>
                  <a:gd name="T87" fmla="*/ 36 h 53"/>
                  <a:gd name="T88" fmla="*/ 50 w 55"/>
                  <a:gd name="T89" fmla="*/ 28 h 53"/>
                  <a:gd name="T90" fmla="*/ 52 w 55"/>
                  <a:gd name="T91" fmla="*/ 25 h 53"/>
                  <a:gd name="T92" fmla="*/ 53 w 55"/>
                  <a:gd name="T93" fmla="*/ 24 h 53"/>
                  <a:gd name="T94" fmla="*/ 53 w 55"/>
                  <a:gd name="T95" fmla="*/ 25 h 53"/>
                  <a:gd name="T96" fmla="*/ 55 w 55"/>
                  <a:gd name="T97" fmla="*/ 27 h 53"/>
                  <a:gd name="T98" fmla="*/ 54 w 55"/>
                  <a:gd name="T99" fmla="*/ 19 h 53"/>
                  <a:gd name="T100" fmla="*/ 54 w 55"/>
                  <a:gd name="T101" fmla="*/ 1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5" h="53">
                    <a:moveTo>
                      <a:pt x="54" y="10"/>
                    </a:moveTo>
                    <a:cubicBezTo>
                      <a:pt x="54" y="10"/>
                      <a:pt x="54" y="10"/>
                      <a:pt x="54" y="7"/>
                    </a:cubicBezTo>
                    <a:cubicBezTo>
                      <a:pt x="55" y="5"/>
                      <a:pt x="51" y="2"/>
                      <a:pt x="50" y="2"/>
                    </a:cubicBezTo>
                    <a:cubicBezTo>
                      <a:pt x="49" y="1"/>
                      <a:pt x="48" y="3"/>
                      <a:pt x="46" y="3"/>
                    </a:cubicBezTo>
                    <a:cubicBezTo>
                      <a:pt x="45" y="4"/>
                      <a:pt x="35" y="7"/>
                      <a:pt x="34" y="7"/>
                    </a:cubicBezTo>
                    <a:cubicBezTo>
                      <a:pt x="32" y="7"/>
                      <a:pt x="31" y="8"/>
                      <a:pt x="33" y="8"/>
                    </a:cubicBezTo>
                    <a:cubicBezTo>
                      <a:pt x="34" y="9"/>
                      <a:pt x="34" y="9"/>
                      <a:pt x="31" y="8"/>
                    </a:cubicBezTo>
                    <a:cubicBezTo>
                      <a:pt x="28" y="8"/>
                      <a:pt x="25" y="9"/>
                      <a:pt x="24" y="9"/>
                    </a:cubicBezTo>
                    <a:cubicBezTo>
                      <a:pt x="23" y="9"/>
                      <a:pt x="18" y="7"/>
                      <a:pt x="16" y="6"/>
                    </a:cubicBezTo>
                    <a:cubicBezTo>
                      <a:pt x="14" y="5"/>
                      <a:pt x="9" y="3"/>
                      <a:pt x="7" y="2"/>
                    </a:cubicBezTo>
                    <a:cubicBezTo>
                      <a:pt x="4" y="1"/>
                      <a:pt x="4" y="2"/>
                      <a:pt x="3" y="1"/>
                    </a:cubicBezTo>
                    <a:cubicBezTo>
                      <a:pt x="3" y="0"/>
                      <a:pt x="3" y="0"/>
                      <a:pt x="1" y="0"/>
                    </a:cubicBezTo>
                    <a:cubicBezTo>
                      <a:pt x="0" y="0"/>
                      <a:pt x="1" y="1"/>
                      <a:pt x="1" y="1"/>
                    </a:cubicBezTo>
                    <a:cubicBezTo>
                      <a:pt x="0" y="4"/>
                      <a:pt x="0" y="7"/>
                      <a:pt x="0" y="9"/>
                    </a:cubicBezTo>
                    <a:cubicBezTo>
                      <a:pt x="1" y="11"/>
                      <a:pt x="2" y="15"/>
                      <a:pt x="4" y="19"/>
                    </a:cubicBezTo>
                    <a:cubicBezTo>
                      <a:pt x="7" y="22"/>
                      <a:pt x="9" y="24"/>
                      <a:pt x="9" y="25"/>
                    </a:cubicBezTo>
                    <a:cubicBezTo>
                      <a:pt x="9" y="26"/>
                      <a:pt x="9" y="28"/>
                      <a:pt x="11" y="29"/>
                    </a:cubicBezTo>
                    <a:cubicBezTo>
                      <a:pt x="12" y="30"/>
                      <a:pt x="13" y="31"/>
                      <a:pt x="12" y="32"/>
                    </a:cubicBezTo>
                    <a:cubicBezTo>
                      <a:pt x="12" y="34"/>
                      <a:pt x="10" y="30"/>
                      <a:pt x="9" y="29"/>
                    </a:cubicBezTo>
                    <a:cubicBezTo>
                      <a:pt x="8" y="27"/>
                      <a:pt x="8" y="29"/>
                      <a:pt x="8" y="30"/>
                    </a:cubicBezTo>
                    <a:cubicBezTo>
                      <a:pt x="8" y="31"/>
                      <a:pt x="8" y="33"/>
                      <a:pt x="9" y="34"/>
                    </a:cubicBezTo>
                    <a:cubicBezTo>
                      <a:pt x="10" y="36"/>
                      <a:pt x="10" y="38"/>
                      <a:pt x="12" y="40"/>
                    </a:cubicBezTo>
                    <a:cubicBezTo>
                      <a:pt x="14" y="42"/>
                      <a:pt x="16" y="45"/>
                      <a:pt x="17" y="46"/>
                    </a:cubicBezTo>
                    <a:cubicBezTo>
                      <a:pt x="18" y="47"/>
                      <a:pt x="18" y="47"/>
                      <a:pt x="19" y="46"/>
                    </a:cubicBezTo>
                    <a:cubicBezTo>
                      <a:pt x="21" y="45"/>
                      <a:pt x="23" y="47"/>
                      <a:pt x="23" y="48"/>
                    </a:cubicBezTo>
                    <a:cubicBezTo>
                      <a:pt x="24" y="49"/>
                      <a:pt x="22" y="49"/>
                      <a:pt x="22" y="49"/>
                    </a:cubicBezTo>
                    <a:cubicBezTo>
                      <a:pt x="21" y="48"/>
                      <a:pt x="21" y="50"/>
                      <a:pt x="21" y="51"/>
                    </a:cubicBezTo>
                    <a:cubicBezTo>
                      <a:pt x="20" y="52"/>
                      <a:pt x="22" y="51"/>
                      <a:pt x="25" y="51"/>
                    </a:cubicBezTo>
                    <a:cubicBezTo>
                      <a:pt x="28" y="50"/>
                      <a:pt x="32" y="52"/>
                      <a:pt x="33" y="52"/>
                    </a:cubicBezTo>
                    <a:cubicBezTo>
                      <a:pt x="34" y="53"/>
                      <a:pt x="34" y="53"/>
                      <a:pt x="34" y="52"/>
                    </a:cubicBezTo>
                    <a:cubicBezTo>
                      <a:pt x="34" y="51"/>
                      <a:pt x="34" y="49"/>
                      <a:pt x="35" y="48"/>
                    </a:cubicBezTo>
                    <a:cubicBezTo>
                      <a:pt x="36" y="47"/>
                      <a:pt x="36" y="47"/>
                      <a:pt x="35" y="45"/>
                    </a:cubicBezTo>
                    <a:cubicBezTo>
                      <a:pt x="34" y="43"/>
                      <a:pt x="36" y="44"/>
                      <a:pt x="37" y="46"/>
                    </a:cubicBezTo>
                    <a:cubicBezTo>
                      <a:pt x="38" y="47"/>
                      <a:pt x="38" y="46"/>
                      <a:pt x="39" y="45"/>
                    </a:cubicBezTo>
                    <a:cubicBezTo>
                      <a:pt x="39" y="43"/>
                      <a:pt x="39" y="41"/>
                      <a:pt x="39" y="39"/>
                    </a:cubicBezTo>
                    <a:cubicBezTo>
                      <a:pt x="39" y="37"/>
                      <a:pt x="41" y="39"/>
                      <a:pt x="42" y="41"/>
                    </a:cubicBezTo>
                    <a:cubicBezTo>
                      <a:pt x="43" y="42"/>
                      <a:pt x="43" y="41"/>
                      <a:pt x="43" y="39"/>
                    </a:cubicBezTo>
                    <a:cubicBezTo>
                      <a:pt x="43" y="38"/>
                      <a:pt x="45" y="39"/>
                      <a:pt x="47" y="41"/>
                    </a:cubicBezTo>
                    <a:cubicBezTo>
                      <a:pt x="48" y="42"/>
                      <a:pt x="46" y="43"/>
                      <a:pt x="46" y="44"/>
                    </a:cubicBezTo>
                    <a:cubicBezTo>
                      <a:pt x="45" y="46"/>
                      <a:pt x="47" y="46"/>
                      <a:pt x="48" y="46"/>
                    </a:cubicBezTo>
                    <a:cubicBezTo>
                      <a:pt x="50" y="46"/>
                      <a:pt x="50" y="45"/>
                      <a:pt x="49" y="45"/>
                    </a:cubicBezTo>
                    <a:cubicBezTo>
                      <a:pt x="49" y="44"/>
                      <a:pt x="49" y="43"/>
                      <a:pt x="49" y="42"/>
                    </a:cubicBezTo>
                    <a:cubicBezTo>
                      <a:pt x="49" y="41"/>
                      <a:pt x="49" y="38"/>
                      <a:pt x="48" y="39"/>
                    </a:cubicBezTo>
                    <a:cubicBezTo>
                      <a:pt x="47" y="40"/>
                      <a:pt x="47" y="37"/>
                      <a:pt x="48" y="36"/>
                    </a:cubicBezTo>
                    <a:cubicBezTo>
                      <a:pt x="48" y="34"/>
                      <a:pt x="49" y="30"/>
                      <a:pt x="50" y="28"/>
                    </a:cubicBezTo>
                    <a:cubicBezTo>
                      <a:pt x="51" y="27"/>
                      <a:pt x="52" y="26"/>
                      <a:pt x="52" y="25"/>
                    </a:cubicBezTo>
                    <a:cubicBezTo>
                      <a:pt x="52" y="24"/>
                      <a:pt x="53" y="23"/>
                      <a:pt x="53" y="24"/>
                    </a:cubicBezTo>
                    <a:cubicBezTo>
                      <a:pt x="53" y="25"/>
                      <a:pt x="52" y="25"/>
                      <a:pt x="53" y="25"/>
                    </a:cubicBezTo>
                    <a:cubicBezTo>
                      <a:pt x="54" y="25"/>
                      <a:pt x="54" y="26"/>
                      <a:pt x="55" y="27"/>
                    </a:cubicBezTo>
                    <a:cubicBezTo>
                      <a:pt x="55" y="27"/>
                      <a:pt x="54" y="22"/>
                      <a:pt x="54" y="19"/>
                    </a:cubicBezTo>
                    <a:cubicBezTo>
                      <a:pt x="53" y="16"/>
                      <a:pt x="54" y="10"/>
                      <a:pt x="54"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15" name="Freeform 524">
                <a:extLst>
                  <a:ext uri="{FF2B5EF4-FFF2-40B4-BE49-F238E27FC236}">
                    <a16:creationId xmlns:a16="http://schemas.microsoft.com/office/drawing/2014/main" id="{BF1760FE-1525-4F7C-83AC-A4B13AF3EDDD}"/>
                  </a:ext>
                </a:extLst>
              </p:cNvPr>
              <p:cNvSpPr>
                <a:spLocks/>
              </p:cNvSpPr>
              <p:nvPr/>
            </p:nvSpPr>
            <p:spPr bwMode="auto">
              <a:xfrm>
                <a:off x="6525" y="3618"/>
                <a:ext cx="7" cy="11"/>
              </a:xfrm>
              <a:custGeom>
                <a:avLst/>
                <a:gdLst>
                  <a:gd name="T0" fmla="*/ 4 w 5"/>
                  <a:gd name="T1" fmla="*/ 1 h 8"/>
                  <a:gd name="T2" fmla="*/ 2 w 5"/>
                  <a:gd name="T3" fmla="*/ 5 h 8"/>
                  <a:gd name="T4" fmla="*/ 1 w 5"/>
                  <a:gd name="T5" fmla="*/ 6 h 8"/>
                  <a:gd name="T6" fmla="*/ 0 w 5"/>
                  <a:gd name="T7" fmla="*/ 7 h 8"/>
                  <a:gd name="T8" fmla="*/ 1 w 5"/>
                  <a:gd name="T9" fmla="*/ 7 h 8"/>
                  <a:gd name="T10" fmla="*/ 4 w 5"/>
                  <a:gd name="T11" fmla="*/ 6 h 8"/>
                  <a:gd name="T12" fmla="*/ 5 w 5"/>
                  <a:gd name="T13" fmla="*/ 3 h 8"/>
                  <a:gd name="T14" fmla="*/ 4 w 5"/>
                  <a:gd name="T15" fmla="*/ 1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8">
                    <a:moveTo>
                      <a:pt x="4" y="1"/>
                    </a:moveTo>
                    <a:cubicBezTo>
                      <a:pt x="4" y="1"/>
                      <a:pt x="3" y="4"/>
                      <a:pt x="2" y="5"/>
                    </a:cubicBezTo>
                    <a:cubicBezTo>
                      <a:pt x="1" y="6"/>
                      <a:pt x="1" y="6"/>
                      <a:pt x="1" y="6"/>
                    </a:cubicBezTo>
                    <a:cubicBezTo>
                      <a:pt x="2" y="7"/>
                      <a:pt x="1" y="7"/>
                      <a:pt x="0" y="7"/>
                    </a:cubicBezTo>
                    <a:cubicBezTo>
                      <a:pt x="0" y="7"/>
                      <a:pt x="0" y="7"/>
                      <a:pt x="1" y="7"/>
                    </a:cubicBezTo>
                    <a:cubicBezTo>
                      <a:pt x="2" y="8"/>
                      <a:pt x="4" y="8"/>
                      <a:pt x="4" y="6"/>
                    </a:cubicBezTo>
                    <a:cubicBezTo>
                      <a:pt x="4" y="4"/>
                      <a:pt x="5" y="3"/>
                      <a:pt x="5" y="3"/>
                    </a:cubicBezTo>
                    <a:cubicBezTo>
                      <a:pt x="5" y="3"/>
                      <a:pt x="5" y="0"/>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16" name="Freeform 525">
                <a:extLst>
                  <a:ext uri="{FF2B5EF4-FFF2-40B4-BE49-F238E27FC236}">
                    <a16:creationId xmlns:a16="http://schemas.microsoft.com/office/drawing/2014/main" id="{6E162CDC-4D21-4ED1-9694-1992CF87D636}"/>
                  </a:ext>
                </a:extLst>
              </p:cNvPr>
              <p:cNvSpPr>
                <a:spLocks/>
              </p:cNvSpPr>
              <p:nvPr/>
            </p:nvSpPr>
            <p:spPr bwMode="auto">
              <a:xfrm>
                <a:off x="6543" y="3606"/>
                <a:ext cx="6" cy="5"/>
              </a:xfrm>
              <a:custGeom>
                <a:avLst/>
                <a:gdLst>
                  <a:gd name="T0" fmla="*/ 2 w 4"/>
                  <a:gd name="T1" fmla="*/ 3 h 4"/>
                  <a:gd name="T2" fmla="*/ 3 w 4"/>
                  <a:gd name="T3" fmla="*/ 1 h 4"/>
                  <a:gd name="T4" fmla="*/ 2 w 4"/>
                  <a:gd name="T5" fmla="*/ 3 h 4"/>
                </a:gdLst>
                <a:ahLst/>
                <a:cxnLst>
                  <a:cxn ang="0">
                    <a:pos x="T0" y="T1"/>
                  </a:cxn>
                  <a:cxn ang="0">
                    <a:pos x="T2" y="T3"/>
                  </a:cxn>
                  <a:cxn ang="0">
                    <a:pos x="T4" y="T5"/>
                  </a:cxn>
                </a:cxnLst>
                <a:rect l="0" t="0" r="r" b="b"/>
                <a:pathLst>
                  <a:path w="4" h="4">
                    <a:moveTo>
                      <a:pt x="2" y="3"/>
                    </a:moveTo>
                    <a:cubicBezTo>
                      <a:pt x="2" y="3"/>
                      <a:pt x="4" y="1"/>
                      <a:pt x="3" y="1"/>
                    </a:cubicBezTo>
                    <a:cubicBezTo>
                      <a:pt x="2" y="0"/>
                      <a:pt x="0" y="4"/>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17" name="Freeform 526">
                <a:extLst>
                  <a:ext uri="{FF2B5EF4-FFF2-40B4-BE49-F238E27FC236}">
                    <a16:creationId xmlns:a16="http://schemas.microsoft.com/office/drawing/2014/main" id="{6472255B-64C1-4341-8134-0FA4AF02839B}"/>
                  </a:ext>
                </a:extLst>
              </p:cNvPr>
              <p:cNvSpPr>
                <a:spLocks/>
              </p:cNvSpPr>
              <p:nvPr/>
            </p:nvSpPr>
            <p:spPr bwMode="auto">
              <a:xfrm>
                <a:off x="5828" y="2900"/>
                <a:ext cx="831" cy="625"/>
              </a:xfrm>
              <a:custGeom>
                <a:avLst/>
                <a:gdLst>
                  <a:gd name="T0" fmla="*/ 590 w 601"/>
                  <a:gd name="T1" fmla="*/ 226 h 455"/>
                  <a:gd name="T2" fmla="*/ 562 w 601"/>
                  <a:gd name="T3" fmla="*/ 198 h 455"/>
                  <a:gd name="T4" fmla="*/ 549 w 601"/>
                  <a:gd name="T5" fmla="*/ 176 h 455"/>
                  <a:gd name="T6" fmla="*/ 529 w 601"/>
                  <a:gd name="T7" fmla="*/ 150 h 455"/>
                  <a:gd name="T8" fmla="*/ 509 w 601"/>
                  <a:gd name="T9" fmla="*/ 132 h 455"/>
                  <a:gd name="T10" fmla="*/ 488 w 601"/>
                  <a:gd name="T11" fmla="*/ 101 h 455"/>
                  <a:gd name="T12" fmla="*/ 478 w 601"/>
                  <a:gd name="T13" fmla="*/ 68 h 455"/>
                  <a:gd name="T14" fmla="*/ 457 w 601"/>
                  <a:gd name="T15" fmla="*/ 58 h 455"/>
                  <a:gd name="T16" fmla="*/ 443 w 601"/>
                  <a:gd name="T17" fmla="*/ 19 h 455"/>
                  <a:gd name="T18" fmla="*/ 423 w 601"/>
                  <a:gd name="T19" fmla="*/ 25 h 455"/>
                  <a:gd name="T20" fmla="*/ 422 w 601"/>
                  <a:gd name="T21" fmla="*/ 56 h 455"/>
                  <a:gd name="T22" fmla="*/ 386 w 601"/>
                  <a:gd name="T23" fmla="*/ 96 h 455"/>
                  <a:gd name="T24" fmla="*/ 333 w 601"/>
                  <a:gd name="T25" fmla="*/ 58 h 455"/>
                  <a:gd name="T26" fmla="*/ 348 w 601"/>
                  <a:gd name="T27" fmla="*/ 35 h 455"/>
                  <a:gd name="T28" fmla="*/ 348 w 601"/>
                  <a:gd name="T29" fmla="*/ 19 h 455"/>
                  <a:gd name="T30" fmla="*/ 335 w 601"/>
                  <a:gd name="T31" fmla="*/ 23 h 455"/>
                  <a:gd name="T32" fmla="*/ 321 w 601"/>
                  <a:gd name="T33" fmla="*/ 20 h 455"/>
                  <a:gd name="T34" fmla="*/ 295 w 601"/>
                  <a:gd name="T35" fmla="*/ 11 h 455"/>
                  <a:gd name="T36" fmla="*/ 278 w 601"/>
                  <a:gd name="T37" fmla="*/ 8 h 455"/>
                  <a:gd name="T38" fmla="*/ 290 w 601"/>
                  <a:gd name="T39" fmla="*/ 21 h 455"/>
                  <a:gd name="T40" fmla="*/ 266 w 601"/>
                  <a:gd name="T41" fmla="*/ 24 h 455"/>
                  <a:gd name="T42" fmla="*/ 253 w 601"/>
                  <a:gd name="T43" fmla="*/ 33 h 455"/>
                  <a:gd name="T44" fmla="*/ 242 w 601"/>
                  <a:gd name="T45" fmla="*/ 57 h 455"/>
                  <a:gd name="T46" fmla="*/ 238 w 601"/>
                  <a:gd name="T47" fmla="*/ 66 h 455"/>
                  <a:gd name="T48" fmla="*/ 222 w 601"/>
                  <a:gd name="T49" fmla="*/ 68 h 455"/>
                  <a:gd name="T50" fmla="*/ 199 w 601"/>
                  <a:gd name="T51" fmla="*/ 52 h 455"/>
                  <a:gd name="T52" fmla="*/ 189 w 601"/>
                  <a:gd name="T53" fmla="*/ 58 h 455"/>
                  <a:gd name="T54" fmla="*/ 181 w 601"/>
                  <a:gd name="T55" fmla="*/ 64 h 455"/>
                  <a:gd name="T56" fmla="*/ 172 w 601"/>
                  <a:gd name="T57" fmla="*/ 70 h 455"/>
                  <a:gd name="T58" fmla="*/ 169 w 601"/>
                  <a:gd name="T59" fmla="*/ 86 h 455"/>
                  <a:gd name="T60" fmla="*/ 157 w 601"/>
                  <a:gd name="T61" fmla="*/ 83 h 455"/>
                  <a:gd name="T62" fmla="*/ 159 w 601"/>
                  <a:gd name="T63" fmla="*/ 94 h 455"/>
                  <a:gd name="T64" fmla="*/ 149 w 601"/>
                  <a:gd name="T65" fmla="*/ 93 h 455"/>
                  <a:gd name="T66" fmla="*/ 135 w 601"/>
                  <a:gd name="T67" fmla="*/ 98 h 455"/>
                  <a:gd name="T68" fmla="*/ 116 w 601"/>
                  <a:gd name="T69" fmla="*/ 136 h 455"/>
                  <a:gd name="T70" fmla="*/ 55 w 601"/>
                  <a:gd name="T71" fmla="*/ 151 h 455"/>
                  <a:gd name="T72" fmla="*/ 8 w 601"/>
                  <a:gd name="T73" fmla="*/ 180 h 455"/>
                  <a:gd name="T74" fmla="*/ 9 w 601"/>
                  <a:gd name="T75" fmla="*/ 238 h 455"/>
                  <a:gd name="T76" fmla="*/ 6 w 601"/>
                  <a:gd name="T77" fmla="*/ 243 h 455"/>
                  <a:gd name="T78" fmla="*/ 20 w 601"/>
                  <a:gd name="T79" fmla="*/ 276 h 455"/>
                  <a:gd name="T80" fmla="*/ 27 w 601"/>
                  <a:gd name="T81" fmla="*/ 364 h 455"/>
                  <a:gd name="T82" fmla="*/ 77 w 601"/>
                  <a:gd name="T83" fmla="*/ 382 h 455"/>
                  <a:gd name="T84" fmla="*/ 133 w 601"/>
                  <a:gd name="T85" fmla="*/ 366 h 455"/>
                  <a:gd name="T86" fmla="*/ 196 w 601"/>
                  <a:gd name="T87" fmla="*/ 337 h 455"/>
                  <a:gd name="T88" fmla="*/ 302 w 601"/>
                  <a:gd name="T89" fmla="*/ 335 h 455"/>
                  <a:gd name="T90" fmla="*/ 318 w 601"/>
                  <a:gd name="T91" fmla="*/ 353 h 455"/>
                  <a:gd name="T92" fmla="*/ 326 w 601"/>
                  <a:gd name="T93" fmla="*/ 375 h 455"/>
                  <a:gd name="T94" fmla="*/ 347 w 601"/>
                  <a:gd name="T95" fmla="*/ 365 h 455"/>
                  <a:gd name="T96" fmla="*/ 368 w 601"/>
                  <a:gd name="T97" fmla="*/ 351 h 455"/>
                  <a:gd name="T98" fmla="*/ 353 w 601"/>
                  <a:gd name="T99" fmla="*/ 387 h 455"/>
                  <a:gd name="T100" fmla="*/ 372 w 601"/>
                  <a:gd name="T101" fmla="*/ 391 h 455"/>
                  <a:gd name="T102" fmla="*/ 391 w 601"/>
                  <a:gd name="T103" fmla="*/ 401 h 455"/>
                  <a:gd name="T104" fmla="*/ 428 w 601"/>
                  <a:gd name="T105" fmla="*/ 440 h 455"/>
                  <a:gd name="T106" fmla="*/ 464 w 601"/>
                  <a:gd name="T107" fmla="*/ 436 h 455"/>
                  <a:gd name="T108" fmla="*/ 480 w 601"/>
                  <a:gd name="T109" fmla="*/ 442 h 455"/>
                  <a:gd name="T110" fmla="*/ 497 w 601"/>
                  <a:gd name="T111" fmla="*/ 445 h 455"/>
                  <a:gd name="T112" fmla="*/ 547 w 601"/>
                  <a:gd name="T113" fmla="*/ 420 h 455"/>
                  <a:gd name="T114" fmla="*/ 559 w 601"/>
                  <a:gd name="T115" fmla="*/ 380 h 455"/>
                  <a:gd name="T116" fmla="*/ 578 w 601"/>
                  <a:gd name="T117" fmla="*/ 346 h 455"/>
                  <a:gd name="T118" fmla="*/ 600 w 601"/>
                  <a:gd name="T119" fmla="*/ 281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01" h="455">
                    <a:moveTo>
                      <a:pt x="596" y="262"/>
                    </a:moveTo>
                    <a:cubicBezTo>
                      <a:pt x="594" y="260"/>
                      <a:pt x="593" y="257"/>
                      <a:pt x="593" y="256"/>
                    </a:cubicBezTo>
                    <a:cubicBezTo>
                      <a:pt x="592" y="255"/>
                      <a:pt x="593" y="254"/>
                      <a:pt x="594" y="253"/>
                    </a:cubicBezTo>
                    <a:cubicBezTo>
                      <a:pt x="595" y="253"/>
                      <a:pt x="594" y="250"/>
                      <a:pt x="593" y="246"/>
                    </a:cubicBezTo>
                    <a:cubicBezTo>
                      <a:pt x="592" y="243"/>
                      <a:pt x="593" y="238"/>
                      <a:pt x="594" y="237"/>
                    </a:cubicBezTo>
                    <a:cubicBezTo>
                      <a:pt x="595" y="235"/>
                      <a:pt x="595" y="235"/>
                      <a:pt x="594" y="235"/>
                    </a:cubicBezTo>
                    <a:cubicBezTo>
                      <a:pt x="592" y="234"/>
                      <a:pt x="592" y="234"/>
                      <a:pt x="591" y="231"/>
                    </a:cubicBezTo>
                    <a:cubicBezTo>
                      <a:pt x="590" y="229"/>
                      <a:pt x="590" y="227"/>
                      <a:pt x="590" y="226"/>
                    </a:cubicBezTo>
                    <a:cubicBezTo>
                      <a:pt x="591" y="225"/>
                      <a:pt x="590" y="224"/>
                      <a:pt x="588" y="224"/>
                    </a:cubicBezTo>
                    <a:cubicBezTo>
                      <a:pt x="586" y="223"/>
                      <a:pt x="586" y="222"/>
                      <a:pt x="585" y="221"/>
                    </a:cubicBezTo>
                    <a:cubicBezTo>
                      <a:pt x="584" y="220"/>
                      <a:pt x="585" y="217"/>
                      <a:pt x="581" y="215"/>
                    </a:cubicBezTo>
                    <a:cubicBezTo>
                      <a:pt x="576" y="212"/>
                      <a:pt x="577" y="210"/>
                      <a:pt x="577" y="209"/>
                    </a:cubicBezTo>
                    <a:cubicBezTo>
                      <a:pt x="576" y="207"/>
                      <a:pt x="574" y="206"/>
                      <a:pt x="573" y="205"/>
                    </a:cubicBezTo>
                    <a:cubicBezTo>
                      <a:pt x="573" y="205"/>
                      <a:pt x="571" y="205"/>
                      <a:pt x="570" y="204"/>
                    </a:cubicBezTo>
                    <a:cubicBezTo>
                      <a:pt x="569" y="203"/>
                      <a:pt x="567" y="201"/>
                      <a:pt x="566" y="201"/>
                    </a:cubicBezTo>
                    <a:cubicBezTo>
                      <a:pt x="565" y="200"/>
                      <a:pt x="565" y="199"/>
                      <a:pt x="562" y="198"/>
                    </a:cubicBezTo>
                    <a:cubicBezTo>
                      <a:pt x="559" y="197"/>
                      <a:pt x="559" y="194"/>
                      <a:pt x="558" y="192"/>
                    </a:cubicBezTo>
                    <a:cubicBezTo>
                      <a:pt x="558" y="190"/>
                      <a:pt x="558" y="189"/>
                      <a:pt x="559" y="188"/>
                    </a:cubicBezTo>
                    <a:cubicBezTo>
                      <a:pt x="559" y="187"/>
                      <a:pt x="559" y="186"/>
                      <a:pt x="559" y="184"/>
                    </a:cubicBezTo>
                    <a:cubicBezTo>
                      <a:pt x="559" y="182"/>
                      <a:pt x="559" y="182"/>
                      <a:pt x="558" y="182"/>
                    </a:cubicBezTo>
                    <a:cubicBezTo>
                      <a:pt x="557" y="181"/>
                      <a:pt x="558" y="181"/>
                      <a:pt x="557" y="179"/>
                    </a:cubicBezTo>
                    <a:cubicBezTo>
                      <a:pt x="557" y="178"/>
                      <a:pt x="556" y="179"/>
                      <a:pt x="556" y="181"/>
                    </a:cubicBezTo>
                    <a:cubicBezTo>
                      <a:pt x="556" y="182"/>
                      <a:pt x="554" y="182"/>
                      <a:pt x="553" y="180"/>
                    </a:cubicBezTo>
                    <a:cubicBezTo>
                      <a:pt x="552" y="179"/>
                      <a:pt x="550" y="179"/>
                      <a:pt x="549" y="176"/>
                    </a:cubicBezTo>
                    <a:cubicBezTo>
                      <a:pt x="547" y="174"/>
                      <a:pt x="547" y="178"/>
                      <a:pt x="548" y="181"/>
                    </a:cubicBezTo>
                    <a:cubicBezTo>
                      <a:pt x="548" y="184"/>
                      <a:pt x="547" y="183"/>
                      <a:pt x="546" y="181"/>
                    </a:cubicBezTo>
                    <a:cubicBezTo>
                      <a:pt x="545" y="180"/>
                      <a:pt x="544" y="180"/>
                      <a:pt x="543" y="181"/>
                    </a:cubicBezTo>
                    <a:cubicBezTo>
                      <a:pt x="542" y="181"/>
                      <a:pt x="541" y="177"/>
                      <a:pt x="541" y="175"/>
                    </a:cubicBezTo>
                    <a:cubicBezTo>
                      <a:pt x="541" y="174"/>
                      <a:pt x="538" y="166"/>
                      <a:pt x="537" y="164"/>
                    </a:cubicBezTo>
                    <a:cubicBezTo>
                      <a:pt x="537" y="162"/>
                      <a:pt x="536" y="160"/>
                      <a:pt x="536" y="159"/>
                    </a:cubicBezTo>
                    <a:cubicBezTo>
                      <a:pt x="535" y="158"/>
                      <a:pt x="532" y="156"/>
                      <a:pt x="530" y="154"/>
                    </a:cubicBezTo>
                    <a:cubicBezTo>
                      <a:pt x="528" y="153"/>
                      <a:pt x="528" y="151"/>
                      <a:pt x="529" y="150"/>
                    </a:cubicBezTo>
                    <a:cubicBezTo>
                      <a:pt x="529" y="148"/>
                      <a:pt x="530" y="150"/>
                      <a:pt x="530" y="149"/>
                    </a:cubicBezTo>
                    <a:cubicBezTo>
                      <a:pt x="530" y="148"/>
                      <a:pt x="527" y="146"/>
                      <a:pt x="526" y="144"/>
                    </a:cubicBezTo>
                    <a:cubicBezTo>
                      <a:pt x="525" y="142"/>
                      <a:pt x="525" y="144"/>
                      <a:pt x="524" y="144"/>
                    </a:cubicBezTo>
                    <a:cubicBezTo>
                      <a:pt x="524" y="145"/>
                      <a:pt x="523" y="144"/>
                      <a:pt x="522" y="142"/>
                    </a:cubicBezTo>
                    <a:cubicBezTo>
                      <a:pt x="522" y="141"/>
                      <a:pt x="518" y="140"/>
                      <a:pt x="516" y="139"/>
                    </a:cubicBezTo>
                    <a:cubicBezTo>
                      <a:pt x="515" y="138"/>
                      <a:pt x="514" y="138"/>
                      <a:pt x="514" y="139"/>
                    </a:cubicBezTo>
                    <a:cubicBezTo>
                      <a:pt x="513" y="140"/>
                      <a:pt x="512" y="138"/>
                      <a:pt x="512" y="137"/>
                    </a:cubicBezTo>
                    <a:cubicBezTo>
                      <a:pt x="511" y="136"/>
                      <a:pt x="510" y="134"/>
                      <a:pt x="509" y="132"/>
                    </a:cubicBezTo>
                    <a:cubicBezTo>
                      <a:pt x="509" y="131"/>
                      <a:pt x="508" y="132"/>
                      <a:pt x="506" y="133"/>
                    </a:cubicBezTo>
                    <a:cubicBezTo>
                      <a:pt x="505" y="133"/>
                      <a:pt x="504" y="132"/>
                      <a:pt x="504" y="131"/>
                    </a:cubicBezTo>
                    <a:cubicBezTo>
                      <a:pt x="504" y="129"/>
                      <a:pt x="504" y="129"/>
                      <a:pt x="502" y="130"/>
                    </a:cubicBezTo>
                    <a:cubicBezTo>
                      <a:pt x="501" y="132"/>
                      <a:pt x="499" y="130"/>
                      <a:pt x="496" y="128"/>
                    </a:cubicBezTo>
                    <a:cubicBezTo>
                      <a:pt x="494" y="126"/>
                      <a:pt x="492" y="125"/>
                      <a:pt x="493" y="122"/>
                    </a:cubicBezTo>
                    <a:cubicBezTo>
                      <a:pt x="493" y="120"/>
                      <a:pt x="492" y="119"/>
                      <a:pt x="490" y="118"/>
                    </a:cubicBezTo>
                    <a:cubicBezTo>
                      <a:pt x="489" y="116"/>
                      <a:pt x="489" y="113"/>
                      <a:pt x="489" y="111"/>
                    </a:cubicBezTo>
                    <a:cubicBezTo>
                      <a:pt x="489" y="108"/>
                      <a:pt x="489" y="103"/>
                      <a:pt x="488" y="101"/>
                    </a:cubicBezTo>
                    <a:cubicBezTo>
                      <a:pt x="488" y="100"/>
                      <a:pt x="487" y="98"/>
                      <a:pt x="487" y="96"/>
                    </a:cubicBezTo>
                    <a:cubicBezTo>
                      <a:pt x="487" y="94"/>
                      <a:pt x="487" y="95"/>
                      <a:pt x="486" y="95"/>
                    </a:cubicBezTo>
                    <a:cubicBezTo>
                      <a:pt x="484" y="96"/>
                      <a:pt x="485" y="94"/>
                      <a:pt x="484" y="94"/>
                    </a:cubicBezTo>
                    <a:cubicBezTo>
                      <a:pt x="484" y="93"/>
                      <a:pt x="482" y="91"/>
                      <a:pt x="481" y="90"/>
                    </a:cubicBezTo>
                    <a:cubicBezTo>
                      <a:pt x="480" y="88"/>
                      <a:pt x="478" y="86"/>
                      <a:pt x="479" y="84"/>
                    </a:cubicBezTo>
                    <a:cubicBezTo>
                      <a:pt x="479" y="81"/>
                      <a:pt x="478" y="77"/>
                      <a:pt x="478" y="75"/>
                    </a:cubicBezTo>
                    <a:cubicBezTo>
                      <a:pt x="477" y="73"/>
                      <a:pt x="477" y="71"/>
                      <a:pt x="478" y="70"/>
                    </a:cubicBezTo>
                    <a:cubicBezTo>
                      <a:pt x="478" y="69"/>
                      <a:pt x="478" y="69"/>
                      <a:pt x="478" y="68"/>
                    </a:cubicBezTo>
                    <a:cubicBezTo>
                      <a:pt x="477" y="68"/>
                      <a:pt x="477" y="67"/>
                      <a:pt x="478" y="66"/>
                    </a:cubicBezTo>
                    <a:cubicBezTo>
                      <a:pt x="478" y="64"/>
                      <a:pt x="477" y="64"/>
                      <a:pt x="476" y="63"/>
                    </a:cubicBezTo>
                    <a:cubicBezTo>
                      <a:pt x="475" y="63"/>
                      <a:pt x="474" y="62"/>
                      <a:pt x="473" y="61"/>
                    </a:cubicBezTo>
                    <a:cubicBezTo>
                      <a:pt x="471" y="60"/>
                      <a:pt x="471" y="59"/>
                      <a:pt x="469" y="59"/>
                    </a:cubicBezTo>
                    <a:cubicBezTo>
                      <a:pt x="468" y="58"/>
                      <a:pt x="466" y="56"/>
                      <a:pt x="465" y="55"/>
                    </a:cubicBezTo>
                    <a:cubicBezTo>
                      <a:pt x="464" y="53"/>
                      <a:pt x="463" y="55"/>
                      <a:pt x="462" y="54"/>
                    </a:cubicBezTo>
                    <a:cubicBezTo>
                      <a:pt x="462" y="54"/>
                      <a:pt x="461" y="54"/>
                      <a:pt x="460" y="56"/>
                    </a:cubicBezTo>
                    <a:cubicBezTo>
                      <a:pt x="460" y="57"/>
                      <a:pt x="459" y="58"/>
                      <a:pt x="457" y="58"/>
                    </a:cubicBezTo>
                    <a:cubicBezTo>
                      <a:pt x="455" y="58"/>
                      <a:pt x="454" y="53"/>
                      <a:pt x="454" y="51"/>
                    </a:cubicBezTo>
                    <a:cubicBezTo>
                      <a:pt x="453" y="49"/>
                      <a:pt x="451" y="36"/>
                      <a:pt x="451" y="34"/>
                    </a:cubicBezTo>
                    <a:cubicBezTo>
                      <a:pt x="451" y="33"/>
                      <a:pt x="451" y="33"/>
                      <a:pt x="450" y="33"/>
                    </a:cubicBezTo>
                    <a:cubicBezTo>
                      <a:pt x="450" y="33"/>
                      <a:pt x="448" y="33"/>
                      <a:pt x="449" y="32"/>
                    </a:cubicBezTo>
                    <a:cubicBezTo>
                      <a:pt x="450" y="30"/>
                      <a:pt x="448" y="26"/>
                      <a:pt x="447" y="26"/>
                    </a:cubicBezTo>
                    <a:cubicBezTo>
                      <a:pt x="446" y="25"/>
                      <a:pt x="445" y="25"/>
                      <a:pt x="445" y="24"/>
                    </a:cubicBezTo>
                    <a:cubicBezTo>
                      <a:pt x="444" y="23"/>
                      <a:pt x="445" y="22"/>
                      <a:pt x="446" y="21"/>
                    </a:cubicBezTo>
                    <a:cubicBezTo>
                      <a:pt x="447" y="20"/>
                      <a:pt x="447" y="19"/>
                      <a:pt x="443" y="19"/>
                    </a:cubicBezTo>
                    <a:cubicBezTo>
                      <a:pt x="440" y="18"/>
                      <a:pt x="440" y="9"/>
                      <a:pt x="439" y="6"/>
                    </a:cubicBezTo>
                    <a:cubicBezTo>
                      <a:pt x="439" y="3"/>
                      <a:pt x="438" y="4"/>
                      <a:pt x="437" y="4"/>
                    </a:cubicBezTo>
                    <a:cubicBezTo>
                      <a:pt x="436" y="4"/>
                      <a:pt x="436" y="4"/>
                      <a:pt x="437" y="3"/>
                    </a:cubicBezTo>
                    <a:cubicBezTo>
                      <a:pt x="437" y="2"/>
                      <a:pt x="437" y="2"/>
                      <a:pt x="437" y="1"/>
                    </a:cubicBezTo>
                    <a:cubicBezTo>
                      <a:pt x="437" y="0"/>
                      <a:pt x="434" y="2"/>
                      <a:pt x="433" y="3"/>
                    </a:cubicBezTo>
                    <a:cubicBezTo>
                      <a:pt x="431" y="4"/>
                      <a:pt x="431" y="3"/>
                      <a:pt x="430" y="6"/>
                    </a:cubicBezTo>
                    <a:cubicBezTo>
                      <a:pt x="430" y="10"/>
                      <a:pt x="427" y="18"/>
                      <a:pt x="426" y="20"/>
                    </a:cubicBezTo>
                    <a:cubicBezTo>
                      <a:pt x="425" y="21"/>
                      <a:pt x="424" y="24"/>
                      <a:pt x="423" y="25"/>
                    </a:cubicBezTo>
                    <a:cubicBezTo>
                      <a:pt x="423" y="27"/>
                      <a:pt x="423" y="27"/>
                      <a:pt x="424" y="27"/>
                    </a:cubicBezTo>
                    <a:cubicBezTo>
                      <a:pt x="425" y="27"/>
                      <a:pt x="426" y="28"/>
                      <a:pt x="427" y="29"/>
                    </a:cubicBezTo>
                    <a:cubicBezTo>
                      <a:pt x="428" y="30"/>
                      <a:pt x="427" y="31"/>
                      <a:pt x="427" y="30"/>
                    </a:cubicBezTo>
                    <a:cubicBezTo>
                      <a:pt x="426" y="29"/>
                      <a:pt x="425" y="31"/>
                      <a:pt x="424" y="32"/>
                    </a:cubicBezTo>
                    <a:cubicBezTo>
                      <a:pt x="423" y="33"/>
                      <a:pt x="424" y="34"/>
                      <a:pt x="424" y="36"/>
                    </a:cubicBezTo>
                    <a:cubicBezTo>
                      <a:pt x="424" y="37"/>
                      <a:pt x="424" y="40"/>
                      <a:pt x="422" y="42"/>
                    </a:cubicBezTo>
                    <a:cubicBezTo>
                      <a:pt x="421" y="44"/>
                      <a:pt x="421" y="49"/>
                      <a:pt x="422" y="50"/>
                    </a:cubicBezTo>
                    <a:cubicBezTo>
                      <a:pt x="422" y="52"/>
                      <a:pt x="423" y="54"/>
                      <a:pt x="422" y="56"/>
                    </a:cubicBezTo>
                    <a:cubicBezTo>
                      <a:pt x="422" y="59"/>
                      <a:pt x="422" y="63"/>
                      <a:pt x="423" y="65"/>
                    </a:cubicBezTo>
                    <a:cubicBezTo>
                      <a:pt x="424" y="66"/>
                      <a:pt x="421" y="76"/>
                      <a:pt x="420" y="77"/>
                    </a:cubicBezTo>
                    <a:cubicBezTo>
                      <a:pt x="420" y="79"/>
                      <a:pt x="419" y="80"/>
                      <a:pt x="420" y="82"/>
                    </a:cubicBezTo>
                    <a:cubicBezTo>
                      <a:pt x="420" y="83"/>
                      <a:pt x="420" y="83"/>
                      <a:pt x="419" y="84"/>
                    </a:cubicBezTo>
                    <a:cubicBezTo>
                      <a:pt x="419" y="85"/>
                      <a:pt x="415" y="95"/>
                      <a:pt x="412" y="101"/>
                    </a:cubicBezTo>
                    <a:cubicBezTo>
                      <a:pt x="410" y="106"/>
                      <a:pt x="402" y="107"/>
                      <a:pt x="400" y="107"/>
                    </a:cubicBezTo>
                    <a:cubicBezTo>
                      <a:pt x="398" y="107"/>
                      <a:pt x="394" y="103"/>
                      <a:pt x="391" y="102"/>
                    </a:cubicBezTo>
                    <a:cubicBezTo>
                      <a:pt x="389" y="100"/>
                      <a:pt x="386" y="97"/>
                      <a:pt x="386" y="96"/>
                    </a:cubicBezTo>
                    <a:cubicBezTo>
                      <a:pt x="385" y="95"/>
                      <a:pt x="382" y="93"/>
                      <a:pt x="382" y="93"/>
                    </a:cubicBezTo>
                    <a:cubicBezTo>
                      <a:pt x="382" y="93"/>
                      <a:pt x="372" y="90"/>
                      <a:pt x="371" y="90"/>
                    </a:cubicBezTo>
                    <a:cubicBezTo>
                      <a:pt x="369" y="89"/>
                      <a:pt x="365" y="86"/>
                      <a:pt x="364" y="86"/>
                    </a:cubicBezTo>
                    <a:cubicBezTo>
                      <a:pt x="363" y="85"/>
                      <a:pt x="355" y="80"/>
                      <a:pt x="354" y="80"/>
                    </a:cubicBezTo>
                    <a:cubicBezTo>
                      <a:pt x="353" y="79"/>
                      <a:pt x="352" y="80"/>
                      <a:pt x="351" y="80"/>
                    </a:cubicBezTo>
                    <a:cubicBezTo>
                      <a:pt x="350" y="80"/>
                      <a:pt x="348" y="78"/>
                      <a:pt x="347" y="77"/>
                    </a:cubicBezTo>
                    <a:cubicBezTo>
                      <a:pt x="346" y="75"/>
                      <a:pt x="338" y="70"/>
                      <a:pt x="334" y="66"/>
                    </a:cubicBezTo>
                    <a:cubicBezTo>
                      <a:pt x="329" y="62"/>
                      <a:pt x="333" y="58"/>
                      <a:pt x="333" y="58"/>
                    </a:cubicBezTo>
                    <a:cubicBezTo>
                      <a:pt x="337" y="54"/>
                      <a:pt x="339" y="48"/>
                      <a:pt x="340" y="47"/>
                    </a:cubicBezTo>
                    <a:cubicBezTo>
                      <a:pt x="341" y="45"/>
                      <a:pt x="340" y="45"/>
                      <a:pt x="338" y="46"/>
                    </a:cubicBezTo>
                    <a:cubicBezTo>
                      <a:pt x="337" y="46"/>
                      <a:pt x="337" y="44"/>
                      <a:pt x="337" y="42"/>
                    </a:cubicBezTo>
                    <a:cubicBezTo>
                      <a:pt x="337" y="41"/>
                      <a:pt x="338" y="40"/>
                      <a:pt x="339" y="40"/>
                    </a:cubicBezTo>
                    <a:cubicBezTo>
                      <a:pt x="340" y="40"/>
                      <a:pt x="342" y="38"/>
                      <a:pt x="344" y="38"/>
                    </a:cubicBezTo>
                    <a:cubicBezTo>
                      <a:pt x="345" y="37"/>
                      <a:pt x="345" y="38"/>
                      <a:pt x="345" y="39"/>
                    </a:cubicBezTo>
                    <a:cubicBezTo>
                      <a:pt x="345" y="40"/>
                      <a:pt x="347" y="38"/>
                      <a:pt x="347" y="37"/>
                    </a:cubicBezTo>
                    <a:cubicBezTo>
                      <a:pt x="347" y="35"/>
                      <a:pt x="347" y="34"/>
                      <a:pt x="348" y="35"/>
                    </a:cubicBezTo>
                    <a:cubicBezTo>
                      <a:pt x="349" y="35"/>
                      <a:pt x="348" y="34"/>
                      <a:pt x="347" y="33"/>
                    </a:cubicBezTo>
                    <a:cubicBezTo>
                      <a:pt x="346" y="33"/>
                      <a:pt x="347" y="32"/>
                      <a:pt x="348" y="32"/>
                    </a:cubicBezTo>
                    <a:cubicBezTo>
                      <a:pt x="349" y="33"/>
                      <a:pt x="349" y="32"/>
                      <a:pt x="349" y="30"/>
                    </a:cubicBezTo>
                    <a:cubicBezTo>
                      <a:pt x="350" y="29"/>
                      <a:pt x="350" y="27"/>
                      <a:pt x="352" y="26"/>
                    </a:cubicBezTo>
                    <a:cubicBezTo>
                      <a:pt x="354" y="25"/>
                      <a:pt x="354" y="25"/>
                      <a:pt x="353" y="24"/>
                    </a:cubicBezTo>
                    <a:cubicBezTo>
                      <a:pt x="352" y="23"/>
                      <a:pt x="352" y="23"/>
                      <a:pt x="351" y="23"/>
                    </a:cubicBezTo>
                    <a:cubicBezTo>
                      <a:pt x="351" y="24"/>
                      <a:pt x="349" y="24"/>
                      <a:pt x="349" y="23"/>
                    </a:cubicBezTo>
                    <a:cubicBezTo>
                      <a:pt x="348" y="22"/>
                      <a:pt x="346" y="21"/>
                      <a:pt x="348" y="19"/>
                    </a:cubicBezTo>
                    <a:cubicBezTo>
                      <a:pt x="349" y="18"/>
                      <a:pt x="345" y="20"/>
                      <a:pt x="343" y="21"/>
                    </a:cubicBezTo>
                    <a:cubicBezTo>
                      <a:pt x="342" y="22"/>
                      <a:pt x="342" y="23"/>
                      <a:pt x="344" y="24"/>
                    </a:cubicBezTo>
                    <a:cubicBezTo>
                      <a:pt x="345" y="24"/>
                      <a:pt x="345" y="24"/>
                      <a:pt x="344" y="25"/>
                    </a:cubicBezTo>
                    <a:cubicBezTo>
                      <a:pt x="343" y="26"/>
                      <a:pt x="343" y="27"/>
                      <a:pt x="342" y="26"/>
                    </a:cubicBezTo>
                    <a:cubicBezTo>
                      <a:pt x="341" y="26"/>
                      <a:pt x="341" y="25"/>
                      <a:pt x="340" y="24"/>
                    </a:cubicBezTo>
                    <a:cubicBezTo>
                      <a:pt x="339" y="23"/>
                      <a:pt x="339" y="23"/>
                      <a:pt x="340" y="22"/>
                    </a:cubicBezTo>
                    <a:cubicBezTo>
                      <a:pt x="341" y="21"/>
                      <a:pt x="338" y="23"/>
                      <a:pt x="337" y="24"/>
                    </a:cubicBezTo>
                    <a:cubicBezTo>
                      <a:pt x="336" y="24"/>
                      <a:pt x="335" y="24"/>
                      <a:pt x="335" y="23"/>
                    </a:cubicBezTo>
                    <a:cubicBezTo>
                      <a:pt x="334" y="22"/>
                      <a:pt x="335" y="21"/>
                      <a:pt x="337" y="20"/>
                    </a:cubicBezTo>
                    <a:cubicBezTo>
                      <a:pt x="338" y="19"/>
                      <a:pt x="338" y="20"/>
                      <a:pt x="338" y="19"/>
                    </a:cubicBezTo>
                    <a:cubicBezTo>
                      <a:pt x="337" y="19"/>
                      <a:pt x="337" y="20"/>
                      <a:pt x="338" y="18"/>
                    </a:cubicBezTo>
                    <a:cubicBezTo>
                      <a:pt x="339" y="15"/>
                      <a:pt x="337" y="17"/>
                      <a:pt x="335" y="19"/>
                    </a:cubicBezTo>
                    <a:cubicBezTo>
                      <a:pt x="333" y="21"/>
                      <a:pt x="333" y="22"/>
                      <a:pt x="331" y="22"/>
                    </a:cubicBezTo>
                    <a:cubicBezTo>
                      <a:pt x="330" y="22"/>
                      <a:pt x="328" y="23"/>
                      <a:pt x="329" y="24"/>
                    </a:cubicBezTo>
                    <a:cubicBezTo>
                      <a:pt x="330" y="24"/>
                      <a:pt x="328" y="24"/>
                      <a:pt x="327" y="24"/>
                    </a:cubicBezTo>
                    <a:cubicBezTo>
                      <a:pt x="325" y="23"/>
                      <a:pt x="322" y="21"/>
                      <a:pt x="321" y="20"/>
                    </a:cubicBezTo>
                    <a:cubicBezTo>
                      <a:pt x="321" y="19"/>
                      <a:pt x="318" y="21"/>
                      <a:pt x="317" y="21"/>
                    </a:cubicBezTo>
                    <a:cubicBezTo>
                      <a:pt x="316" y="21"/>
                      <a:pt x="315" y="21"/>
                      <a:pt x="314" y="21"/>
                    </a:cubicBezTo>
                    <a:cubicBezTo>
                      <a:pt x="313" y="21"/>
                      <a:pt x="312" y="20"/>
                      <a:pt x="312" y="19"/>
                    </a:cubicBezTo>
                    <a:cubicBezTo>
                      <a:pt x="312" y="18"/>
                      <a:pt x="309" y="17"/>
                      <a:pt x="308" y="16"/>
                    </a:cubicBezTo>
                    <a:cubicBezTo>
                      <a:pt x="307" y="16"/>
                      <a:pt x="306" y="17"/>
                      <a:pt x="304" y="17"/>
                    </a:cubicBezTo>
                    <a:cubicBezTo>
                      <a:pt x="303" y="17"/>
                      <a:pt x="303" y="17"/>
                      <a:pt x="303" y="16"/>
                    </a:cubicBezTo>
                    <a:cubicBezTo>
                      <a:pt x="303" y="15"/>
                      <a:pt x="301" y="16"/>
                      <a:pt x="299" y="15"/>
                    </a:cubicBezTo>
                    <a:cubicBezTo>
                      <a:pt x="297" y="14"/>
                      <a:pt x="296" y="13"/>
                      <a:pt x="295" y="11"/>
                    </a:cubicBezTo>
                    <a:cubicBezTo>
                      <a:pt x="294" y="10"/>
                      <a:pt x="293" y="10"/>
                      <a:pt x="293" y="11"/>
                    </a:cubicBezTo>
                    <a:cubicBezTo>
                      <a:pt x="292" y="12"/>
                      <a:pt x="292" y="12"/>
                      <a:pt x="290" y="12"/>
                    </a:cubicBezTo>
                    <a:cubicBezTo>
                      <a:pt x="289" y="12"/>
                      <a:pt x="286" y="9"/>
                      <a:pt x="286" y="8"/>
                    </a:cubicBezTo>
                    <a:cubicBezTo>
                      <a:pt x="285" y="7"/>
                      <a:pt x="285" y="7"/>
                      <a:pt x="284" y="8"/>
                    </a:cubicBezTo>
                    <a:cubicBezTo>
                      <a:pt x="284" y="9"/>
                      <a:pt x="284" y="9"/>
                      <a:pt x="283" y="8"/>
                    </a:cubicBezTo>
                    <a:cubicBezTo>
                      <a:pt x="283" y="7"/>
                      <a:pt x="282" y="5"/>
                      <a:pt x="283" y="9"/>
                    </a:cubicBezTo>
                    <a:cubicBezTo>
                      <a:pt x="284" y="12"/>
                      <a:pt x="282" y="9"/>
                      <a:pt x="281" y="8"/>
                    </a:cubicBezTo>
                    <a:cubicBezTo>
                      <a:pt x="281" y="7"/>
                      <a:pt x="279" y="8"/>
                      <a:pt x="278" y="8"/>
                    </a:cubicBezTo>
                    <a:cubicBezTo>
                      <a:pt x="277" y="8"/>
                      <a:pt x="277" y="9"/>
                      <a:pt x="279" y="9"/>
                    </a:cubicBezTo>
                    <a:cubicBezTo>
                      <a:pt x="280" y="10"/>
                      <a:pt x="279" y="11"/>
                      <a:pt x="280" y="11"/>
                    </a:cubicBezTo>
                    <a:cubicBezTo>
                      <a:pt x="280" y="11"/>
                      <a:pt x="281" y="12"/>
                      <a:pt x="281" y="12"/>
                    </a:cubicBezTo>
                    <a:cubicBezTo>
                      <a:pt x="281" y="13"/>
                      <a:pt x="282" y="12"/>
                      <a:pt x="283" y="12"/>
                    </a:cubicBezTo>
                    <a:cubicBezTo>
                      <a:pt x="284" y="12"/>
                      <a:pt x="287" y="12"/>
                      <a:pt x="287" y="12"/>
                    </a:cubicBezTo>
                    <a:cubicBezTo>
                      <a:pt x="288" y="13"/>
                      <a:pt x="288" y="14"/>
                      <a:pt x="289" y="14"/>
                    </a:cubicBezTo>
                    <a:cubicBezTo>
                      <a:pt x="290" y="15"/>
                      <a:pt x="290" y="15"/>
                      <a:pt x="290" y="17"/>
                    </a:cubicBezTo>
                    <a:cubicBezTo>
                      <a:pt x="289" y="19"/>
                      <a:pt x="289" y="20"/>
                      <a:pt x="290" y="21"/>
                    </a:cubicBezTo>
                    <a:cubicBezTo>
                      <a:pt x="291" y="23"/>
                      <a:pt x="289" y="23"/>
                      <a:pt x="287" y="24"/>
                    </a:cubicBezTo>
                    <a:cubicBezTo>
                      <a:pt x="286" y="25"/>
                      <a:pt x="286" y="24"/>
                      <a:pt x="286" y="23"/>
                    </a:cubicBezTo>
                    <a:cubicBezTo>
                      <a:pt x="285" y="22"/>
                      <a:pt x="283" y="23"/>
                      <a:pt x="282" y="24"/>
                    </a:cubicBezTo>
                    <a:cubicBezTo>
                      <a:pt x="280" y="25"/>
                      <a:pt x="275" y="25"/>
                      <a:pt x="273" y="24"/>
                    </a:cubicBezTo>
                    <a:cubicBezTo>
                      <a:pt x="271" y="24"/>
                      <a:pt x="271" y="24"/>
                      <a:pt x="270" y="22"/>
                    </a:cubicBezTo>
                    <a:cubicBezTo>
                      <a:pt x="269" y="21"/>
                      <a:pt x="269" y="22"/>
                      <a:pt x="269" y="22"/>
                    </a:cubicBezTo>
                    <a:cubicBezTo>
                      <a:pt x="269" y="23"/>
                      <a:pt x="268" y="23"/>
                      <a:pt x="267" y="22"/>
                    </a:cubicBezTo>
                    <a:cubicBezTo>
                      <a:pt x="266" y="22"/>
                      <a:pt x="265" y="23"/>
                      <a:pt x="266" y="24"/>
                    </a:cubicBezTo>
                    <a:cubicBezTo>
                      <a:pt x="266" y="25"/>
                      <a:pt x="265" y="25"/>
                      <a:pt x="264" y="25"/>
                    </a:cubicBezTo>
                    <a:cubicBezTo>
                      <a:pt x="263" y="26"/>
                      <a:pt x="263" y="26"/>
                      <a:pt x="264" y="28"/>
                    </a:cubicBezTo>
                    <a:cubicBezTo>
                      <a:pt x="265" y="29"/>
                      <a:pt x="264" y="29"/>
                      <a:pt x="263" y="29"/>
                    </a:cubicBezTo>
                    <a:cubicBezTo>
                      <a:pt x="263" y="29"/>
                      <a:pt x="262" y="28"/>
                      <a:pt x="262" y="27"/>
                    </a:cubicBezTo>
                    <a:cubicBezTo>
                      <a:pt x="261" y="27"/>
                      <a:pt x="261" y="26"/>
                      <a:pt x="260" y="26"/>
                    </a:cubicBezTo>
                    <a:cubicBezTo>
                      <a:pt x="259" y="26"/>
                      <a:pt x="259" y="26"/>
                      <a:pt x="259" y="29"/>
                    </a:cubicBezTo>
                    <a:cubicBezTo>
                      <a:pt x="259" y="31"/>
                      <a:pt x="259" y="29"/>
                      <a:pt x="257" y="30"/>
                    </a:cubicBezTo>
                    <a:cubicBezTo>
                      <a:pt x="256" y="30"/>
                      <a:pt x="256" y="31"/>
                      <a:pt x="253" y="33"/>
                    </a:cubicBezTo>
                    <a:cubicBezTo>
                      <a:pt x="251" y="35"/>
                      <a:pt x="253" y="37"/>
                      <a:pt x="254" y="39"/>
                    </a:cubicBezTo>
                    <a:cubicBezTo>
                      <a:pt x="255" y="40"/>
                      <a:pt x="255" y="41"/>
                      <a:pt x="254" y="41"/>
                    </a:cubicBezTo>
                    <a:cubicBezTo>
                      <a:pt x="253" y="41"/>
                      <a:pt x="252" y="42"/>
                      <a:pt x="250" y="43"/>
                    </a:cubicBezTo>
                    <a:cubicBezTo>
                      <a:pt x="249" y="43"/>
                      <a:pt x="250" y="42"/>
                      <a:pt x="249" y="42"/>
                    </a:cubicBezTo>
                    <a:cubicBezTo>
                      <a:pt x="248" y="42"/>
                      <a:pt x="246" y="49"/>
                      <a:pt x="245" y="50"/>
                    </a:cubicBezTo>
                    <a:cubicBezTo>
                      <a:pt x="244" y="51"/>
                      <a:pt x="244" y="51"/>
                      <a:pt x="243" y="51"/>
                    </a:cubicBezTo>
                    <a:cubicBezTo>
                      <a:pt x="242" y="50"/>
                      <a:pt x="243" y="51"/>
                      <a:pt x="242" y="53"/>
                    </a:cubicBezTo>
                    <a:cubicBezTo>
                      <a:pt x="241" y="54"/>
                      <a:pt x="242" y="55"/>
                      <a:pt x="242" y="57"/>
                    </a:cubicBezTo>
                    <a:cubicBezTo>
                      <a:pt x="243" y="59"/>
                      <a:pt x="245" y="61"/>
                      <a:pt x="247" y="62"/>
                    </a:cubicBezTo>
                    <a:cubicBezTo>
                      <a:pt x="249" y="62"/>
                      <a:pt x="249" y="63"/>
                      <a:pt x="247" y="63"/>
                    </a:cubicBezTo>
                    <a:cubicBezTo>
                      <a:pt x="246" y="64"/>
                      <a:pt x="245" y="64"/>
                      <a:pt x="245" y="65"/>
                    </a:cubicBezTo>
                    <a:cubicBezTo>
                      <a:pt x="245" y="67"/>
                      <a:pt x="246" y="68"/>
                      <a:pt x="245" y="68"/>
                    </a:cubicBezTo>
                    <a:cubicBezTo>
                      <a:pt x="244" y="68"/>
                      <a:pt x="243" y="65"/>
                      <a:pt x="242" y="64"/>
                    </a:cubicBezTo>
                    <a:cubicBezTo>
                      <a:pt x="241" y="64"/>
                      <a:pt x="240" y="64"/>
                      <a:pt x="239" y="65"/>
                    </a:cubicBezTo>
                    <a:cubicBezTo>
                      <a:pt x="239" y="67"/>
                      <a:pt x="239" y="67"/>
                      <a:pt x="238" y="68"/>
                    </a:cubicBezTo>
                    <a:cubicBezTo>
                      <a:pt x="237" y="69"/>
                      <a:pt x="238" y="67"/>
                      <a:pt x="238" y="66"/>
                    </a:cubicBezTo>
                    <a:cubicBezTo>
                      <a:pt x="239" y="65"/>
                      <a:pt x="237" y="64"/>
                      <a:pt x="235" y="63"/>
                    </a:cubicBezTo>
                    <a:cubicBezTo>
                      <a:pt x="233" y="62"/>
                      <a:pt x="230" y="63"/>
                      <a:pt x="228" y="62"/>
                    </a:cubicBezTo>
                    <a:cubicBezTo>
                      <a:pt x="226" y="62"/>
                      <a:pt x="227" y="63"/>
                      <a:pt x="227" y="65"/>
                    </a:cubicBezTo>
                    <a:cubicBezTo>
                      <a:pt x="227" y="67"/>
                      <a:pt x="227" y="66"/>
                      <a:pt x="225" y="66"/>
                    </a:cubicBezTo>
                    <a:cubicBezTo>
                      <a:pt x="224" y="65"/>
                      <a:pt x="224" y="67"/>
                      <a:pt x="224" y="69"/>
                    </a:cubicBezTo>
                    <a:cubicBezTo>
                      <a:pt x="225" y="70"/>
                      <a:pt x="225" y="71"/>
                      <a:pt x="224" y="71"/>
                    </a:cubicBezTo>
                    <a:cubicBezTo>
                      <a:pt x="223" y="71"/>
                      <a:pt x="223" y="70"/>
                      <a:pt x="222" y="72"/>
                    </a:cubicBezTo>
                    <a:cubicBezTo>
                      <a:pt x="221" y="74"/>
                      <a:pt x="221" y="70"/>
                      <a:pt x="222" y="68"/>
                    </a:cubicBezTo>
                    <a:cubicBezTo>
                      <a:pt x="222" y="66"/>
                      <a:pt x="222" y="64"/>
                      <a:pt x="223" y="63"/>
                    </a:cubicBezTo>
                    <a:cubicBezTo>
                      <a:pt x="224" y="62"/>
                      <a:pt x="224" y="60"/>
                      <a:pt x="223" y="59"/>
                    </a:cubicBezTo>
                    <a:cubicBezTo>
                      <a:pt x="222" y="58"/>
                      <a:pt x="214" y="51"/>
                      <a:pt x="213" y="50"/>
                    </a:cubicBezTo>
                    <a:cubicBezTo>
                      <a:pt x="212" y="49"/>
                      <a:pt x="209" y="49"/>
                      <a:pt x="208" y="49"/>
                    </a:cubicBezTo>
                    <a:cubicBezTo>
                      <a:pt x="207" y="49"/>
                      <a:pt x="206" y="48"/>
                      <a:pt x="206" y="47"/>
                    </a:cubicBezTo>
                    <a:cubicBezTo>
                      <a:pt x="205" y="45"/>
                      <a:pt x="205" y="48"/>
                      <a:pt x="204" y="49"/>
                    </a:cubicBezTo>
                    <a:cubicBezTo>
                      <a:pt x="203" y="50"/>
                      <a:pt x="202" y="52"/>
                      <a:pt x="200" y="54"/>
                    </a:cubicBezTo>
                    <a:cubicBezTo>
                      <a:pt x="199" y="55"/>
                      <a:pt x="200" y="53"/>
                      <a:pt x="199" y="52"/>
                    </a:cubicBezTo>
                    <a:cubicBezTo>
                      <a:pt x="198" y="52"/>
                      <a:pt x="198" y="52"/>
                      <a:pt x="199" y="50"/>
                    </a:cubicBezTo>
                    <a:cubicBezTo>
                      <a:pt x="200" y="48"/>
                      <a:pt x="196" y="50"/>
                      <a:pt x="195" y="51"/>
                    </a:cubicBezTo>
                    <a:cubicBezTo>
                      <a:pt x="194" y="52"/>
                      <a:pt x="194" y="53"/>
                      <a:pt x="194" y="51"/>
                    </a:cubicBezTo>
                    <a:cubicBezTo>
                      <a:pt x="194" y="50"/>
                      <a:pt x="193" y="49"/>
                      <a:pt x="192" y="50"/>
                    </a:cubicBezTo>
                    <a:cubicBezTo>
                      <a:pt x="191" y="50"/>
                      <a:pt x="192" y="51"/>
                      <a:pt x="193" y="51"/>
                    </a:cubicBezTo>
                    <a:cubicBezTo>
                      <a:pt x="194" y="52"/>
                      <a:pt x="193" y="53"/>
                      <a:pt x="192" y="56"/>
                    </a:cubicBezTo>
                    <a:cubicBezTo>
                      <a:pt x="191" y="59"/>
                      <a:pt x="191" y="58"/>
                      <a:pt x="190" y="58"/>
                    </a:cubicBezTo>
                    <a:cubicBezTo>
                      <a:pt x="189" y="59"/>
                      <a:pt x="188" y="59"/>
                      <a:pt x="189" y="58"/>
                    </a:cubicBezTo>
                    <a:cubicBezTo>
                      <a:pt x="189" y="57"/>
                      <a:pt x="188" y="57"/>
                      <a:pt x="187" y="57"/>
                    </a:cubicBezTo>
                    <a:cubicBezTo>
                      <a:pt x="186" y="57"/>
                      <a:pt x="186" y="57"/>
                      <a:pt x="186" y="55"/>
                    </a:cubicBezTo>
                    <a:cubicBezTo>
                      <a:pt x="186" y="54"/>
                      <a:pt x="185" y="55"/>
                      <a:pt x="185" y="56"/>
                    </a:cubicBezTo>
                    <a:cubicBezTo>
                      <a:pt x="186" y="57"/>
                      <a:pt x="184" y="58"/>
                      <a:pt x="183" y="58"/>
                    </a:cubicBezTo>
                    <a:cubicBezTo>
                      <a:pt x="182" y="59"/>
                      <a:pt x="182" y="59"/>
                      <a:pt x="181" y="58"/>
                    </a:cubicBezTo>
                    <a:cubicBezTo>
                      <a:pt x="180" y="57"/>
                      <a:pt x="179" y="59"/>
                      <a:pt x="179" y="61"/>
                    </a:cubicBezTo>
                    <a:cubicBezTo>
                      <a:pt x="179" y="62"/>
                      <a:pt x="179" y="63"/>
                      <a:pt x="179" y="63"/>
                    </a:cubicBezTo>
                    <a:cubicBezTo>
                      <a:pt x="180" y="63"/>
                      <a:pt x="181" y="63"/>
                      <a:pt x="181" y="64"/>
                    </a:cubicBezTo>
                    <a:cubicBezTo>
                      <a:pt x="180" y="66"/>
                      <a:pt x="181" y="65"/>
                      <a:pt x="181" y="66"/>
                    </a:cubicBezTo>
                    <a:cubicBezTo>
                      <a:pt x="181" y="67"/>
                      <a:pt x="180" y="67"/>
                      <a:pt x="180" y="66"/>
                    </a:cubicBezTo>
                    <a:cubicBezTo>
                      <a:pt x="179" y="65"/>
                      <a:pt x="178" y="66"/>
                      <a:pt x="177" y="65"/>
                    </a:cubicBezTo>
                    <a:cubicBezTo>
                      <a:pt x="176" y="64"/>
                      <a:pt x="177" y="67"/>
                      <a:pt x="176" y="69"/>
                    </a:cubicBezTo>
                    <a:cubicBezTo>
                      <a:pt x="176" y="70"/>
                      <a:pt x="177" y="70"/>
                      <a:pt x="177" y="71"/>
                    </a:cubicBezTo>
                    <a:cubicBezTo>
                      <a:pt x="178" y="72"/>
                      <a:pt x="178" y="72"/>
                      <a:pt x="178" y="73"/>
                    </a:cubicBezTo>
                    <a:cubicBezTo>
                      <a:pt x="177" y="73"/>
                      <a:pt x="176" y="72"/>
                      <a:pt x="176" y="72"/>
                    </a:cubicBezTo>
                    <a:cubicBezTo>
                      <a:pt x="175" y="71"/>
                      <a:pt x="174" y="70"/>
                      <a:pt x="172" y="70"/>
                    </a:cubicBezTo>
                    <a:cubicBezTo>
                      <a:pt x="171" y="69"/>
                      <a:pt x="170" y="71"/>
                      <a:pt x="171" y="72"/>
                    </a:cubicBezTo>
                    <a:cubicBezTo>
                      <a:pt x="171" y="73"/>
                      <a:pt x="169" y="73"/>
                      <a:pt x="168" y="73"/>
                    </a:cubicBezTo>
                    <a:cubicBezTo>
                      <a:pt x="166" y="73"/>
                      <a:pt x="167" y="77"/>
                      <a:pt x="168" y="79"/>
                    </a:cubicBezTo>
                    <a:cubicBezTo>
                      <a:pt x="168" y="80"/>
                      <a:pt x="169" y="79"/>
                      <a:pt x="169" y="79"/>
                    </a:cubicBezTo>
                    <a:cubicBezTo>
                      <a:pt x="169" y="79"/>
                      <a:pt x="170" y="79"/>
                      <a:pt x="170" y="81"/>
                    </a:cubicBezTo>
                    <a:cubicBezTo>
                      <a:pt x="169" y="82"/>
                      <a:pt x="170" y="82"/>
                      <a:pt x="169" y="82"/>
                    </a:cubicBezTo>
                    <a:cubicBezTo>
                      <a:pt x="168" y="81"/>
                      <a:pt x="167" y="82"/>
                      <a:pt x="167" y="84"/>
                    </a:cubicBezTo>
                    <a:cubicBezTo>
                      <a:pt x="166" y="85"/>
                      <a:pt x="167" y="86"/>
                      <a:pt x="169" y="86"/>
                    </a:cubicBezTo>
                    <a:cubicBezTo>
                      <a:pt x="170" y="86"/>
                      <a:pt x="170" y="87"/>
                      <a:pt x="169" y="87"/>
                    </a:cubicBezTo>
                    <a:cubicBezTo>
                      <a:pt x="168" y="87"/>
                      <a:pt x="167" y="86"/>
                      <a:pt x="166" y="86"/>
                    </a:cubicBezTo>
                    <a:cubicBezTo>
                      <a:pt x="165" y="87"/>
                      <a:pt x="165" y="87"/>
                      <a:pt x="164" y="86"/>
                    </a:cubicBezTo>
                    <a:cubicBezTo>
                      <a:pt x="164" y="85"/>
                      <a:pt x="163" y="85"/>
                      <a:pt x="161" y="84"/>
                    </a:cubicBezTo>
                    <a:cubicBezTo>
                      <a:pt x="160" y="84"/>
                      <a:pt x="160" y="84"/>
                      <a:pt x="161" y="85"/>
                    </a:cubicBezTo>
                    <a:cubicBezTo>
                      <a:pt x="161" y="86"/>
                      <a:pt x="160" y="86"/>
                      <a:pt x="159" y="86"/>
                    </a:cubicBezTo>
                    <a:cubicBezTo>
                      <a:pt x="158" y="86"/>
                      <a:pt x="158" y="85"/>
                      <a:pt x="158" y="84"/>
                    </a:cubicBezTo>
                    <a:cubicBezTo>
                      <a:pt x="158" y="83"/>
                      <a:pt x="158" y="83"/>
                      <a:pt x="157" y="83"/>
                    </a:cubicBezTo>
                    <a:cubicBezTo>
                      <a:pt x="156" y="82"/>
                      <a:pt x="155" y="82"/>
                      <a:pt x="156" y="84"/>
                    </a:cubicBezTo>
                    <a:cubicBezTo>
                      <a:pt x="157" y="85"/>
                      <a:pt x="157" y="86"/>
                      <a:pt x="156" y="86"/>
                    </a:cubicBezTo>
                    <a:cubicBezTo>
                      <a:pt x="155" y="87"/>
                      <a:pt x="156" y="86"/>
                      <a:pt x="155" y="87"/>
                    </a:cubicBezTo>
                    <a:cubicBezTo>
                      <a:pt x="154" y="88"/>
                      <a:pt x="155" y="88"/>
                      <a:pt x="154" y="88"/>
                    </a:cubicBezTo>
                    <a:cubicBezTo>
                      <a:pt x="153" y="88"/>
                      <a:pt x="153" y="89"/>
                      <a:pt x="154" y="89"/>
                    </a:cubicBezTo>
                    <a:cubicBezTo>
                      <a:pt x="155" y="89"/>
                      <a:pt x="155" y="89"/>
                      <a:pt x="155" y="91"/>
                    </a:cubicBezTo>
                    <a:cubicBezTo>
                      <a:pt x="155" y="92"/>
                      <a:pt x="156" y="92"/>
                      <a:pt x="157" y="93"/>
                    </a:cubicBezTo>
                    <a:cubicBezTo>
                      <a:pt x="158" y="94"/>
                      <a:pt x="158" y="95"/>
                      <a:pt x="159" y="94"/>
                    </a:cubicBezTo>
                    <a:cubicBezTo>
                      <a:pt x="161" y="93"/>
                      <a:pt x="160" y="95"/>
                      <a:pt x="159" y="95"/>
                    </a:cubicBezTo>
                    <a:cubicBezTo>
                      <a:pt x="159" y="96"/>
                      <a:pt x="159" y="96"/>
                      <a:pt x="159" y="98"/>
                    </a:cubicBezTo>
                    <a:cubicBezTo>
                      <a:pt x="159" y="99"/>
                      <a:pt x="158" y="98"/>
                      <a:pt x="157" y="96"/>
                    </a:cubicBezTo>
                    <a:cubicBezTo>
                      <a:pt x="156" y="95"/>
                      <a:pt x="155" y="95"/>
                      <a:pt x="156" y="97"/>
                    </a:cubicBezTo>
                    <a:cubicBezTo>
                      <a:pt x="156" y="99"/>
                      <a:pt x="155" y="99"/>
                      <a:pt x="155" y="104"/>
                    </a:cubicBezTo>
                    <a:cubicBezTo>
                      <a:pt x="155" y="108"/>
                      <a:pt x="153" y="103"/>
                      <a:pt x="153" y="102"/>
                    </a:cubicBezTo>
                    <a:cubicBezTo>
                      <a:pt x="152" y="100"/>
                      <a:pt x="151" y="97"/>
                      <a:pt x="150" y="96"/>
                    </a:cubicBezTo>
                    <a:cubicBezTo>
                      <a:pt x="149" y="95"/>
                      <a:pt x="149" y="94"/>
                      <a:pt x="149" y="93"/>
                    </a:cubicBezTo>
                    <a:cubicBezTo>
                      <a:pt x="148" y="92"/>
                      <a:pt x="148" y="92"/>
                      <a:pt x="147" y="91"/>
                    </a:cubicBezTo>
                    <a:cubicBezTo>
                      <a:pt x="146" y="91"/>
                      <a:pt x="146" y="90"/>
                      <a:pt x="146" y="89"/>
                    </a:cubicBezTo>
                    <a:cubicBezTo>
                      <a:pt x="146" y="88"/>
                      <a:pt x="147" y="87"/>
                      <a:pt x="146" y="86"/>
                    </a:cubicBezTo>
                    <a:cubicBezTo>
                      <a:pt x="145" y="86"/>
                      <a:pt x="144" y="89"/>
                      <a:pt x="144" y="90"/>
                    </a:cubicBezTo>
                    <a:cubicBezTo>
                      <a:pt x="143" y="91"/>
                      <a:pt x="143" y="92"/>
                      <a:pt x="142" y="92"/>
                    </a:cubicBezTo>
                    <a:cubicBezTo>
                      <a:pt x="140" y="92"/>
                      <a:pt x="140" y="93"/>
                      <a:pt x="140" y="94"/>
                    </a:cubicBezTo>
                    <a:cubicBezTo>
                      <a:pt x="139" y="95"/>
                      <a:pt x="139" y="95"/>
                      <a:pt x="138" y="95"/>
                    </a:cubicBezTo>
                    <a:cubicBezTo>
                      <a:pt x="137" y="94"/>
                      <a:pt x="137" y="96"/>
                      <a:pt x="135" y="98"/>
                    </a:cubicBezTo>
                    <a:cubicBezTo>
                      <a:pt x="134" y="100"/>
                      <a:pt x="133" y="104"/>
                      <a:pt x="134" y="105"/>
                    </a:cubicBezTo>
                    <a:cubicBezTo>
                      <a:pt x="134" y="106"/>
                      <a:pt x="134" y="107"/>
                      <a:pt x="134" y="109"/>
                    </a:cubicBezTo>
                    <a:cubicBezTo>
                      <a:pt x="134" y="111"/>
                      <a:pt x="134" y="111"/>
                      <a:pt x="135" y="111"/>
                    </a:cubicBezTo>
                    <a:cubicBezTo>
                      <a:pt x="135" y="110"/>
                      <a:pt x="135" y="110"/>
                      <a:pt x="137" y="111"/>
                    </a:cubicBezTo>
                    <a:cubicBezTo>
                      <a:pt x="139" y="112"/>
                      <a:pt x="132" y="116"/>
                      <a:pt x="130" y="118"/>
                    </a:cubicBezTo>
                    <a:cubicBezTo>
                      <a:pt x="128" y="119"/>
                      <a:pt x="128" y="121"/>
                      <a:pt x="127" y="122"/>
                    </a:cubicBezTo>
                    <a:cubicBezTo>
                      <a:pt x="126" y="123"/>
                      <a:pt x="126" y="125"/>
                      <a:pt x="125" y="127"/>
                    </a:cubicBezTo>
                    <a:cubicBezTo>
                      <a:pt x="124" y="129"/>
                      <a:pt x="119" y="135"/>
                      <a:pt x="116" y="136"/>
                    </a:cubicBezTo>
                    <a:cubicBezTo>
                      <a:pt x="113" y="138"/>
                      <a:pt x="101" y="142"/>
                      <a:pt x="98" y="142"/>
                    </a:cubicBezTo>
                    <a:cubicBezTo>
                      <a:pt x="96" y="143"/>
                      <a:pt x="96" y="143"/>
                      <a:pt x="92" y="142"/>
                    </a:cubicBezTo>
                    <a:cubicBezTo>
                      <a:pt x="88" y="141"/>
                      <a:pt x="86" y="145"/>
                      <a:pt x="85" y="146"/>
                    </a:cubicBezTo>
                    <a:cubicBezTo>
                      <a:pt x="83" y="147"/>
                      <a:pt x="77" y="148"/>
                      <a:pt x="75" y="147"/>
                    </a:cubicBezTo>
                    <a:cubicBezTo>
                      <a:pt x="74" y="147"/>
                      <a:pt x="70" y="151"/>
                      <a:pt x="68" y="152"/>
                    </a:cubicBezTo>
                    <a:cubicBezTo>
                      <a:pt x="66" y="152"/>
                      <a:pt x="61" y="153"/>
                      <a:pt x="60" y="152"/>
                    </a:cubicBezTo>
                    <a:cubicBezTo>
                      <a:pt x="60" y="151"/>
                      <a:pt x="59" y="151"/>
                      <a:pt x="58" y="152"/>
                    </a:cubicBezTo>
                    <a:cubicBezTo>
                      <a:pt x="56" y="152"/>
                      <a:pt x="54" y="153"/>
                      <a:pt x="55" y="151"/>
                    </a:cubicBezTo>
                    <a:cubicBezTo>
                      <a:pt x="55" y="149"/>
                      <a:pt x="52" y="151"/>
                      <a:pt x="51" y="153"/>
                    </a:cubicBezTo>
                    <a:cubicBezTo>
                      <a:pt x="49" y="154"/>
                      <a:pt x="36" y="163"/>
                      <a:pt x="35" y="164"/>
                    </a:cubicBezTo>
                    <a:cubicBezTo>
                      <a:pt x="33" y="165"/>
                      <a:pt x="26" y="169"/>
                      <a:pt x="23" y="170"/>
                    </a:cubicBezTo>
                    <a:cubicBezTo>
                      <a:pt x="20" y="172"/>
                      <a:pt x="19" y="177"/>
                      <a:pt x="19" y="179"/>
                    </a:cubicBezTo>
                    <a:cubicBezTo>
                      <a:pt x="18" y="181"/>
                      <a:pt x="17" y="181"/>
                      <a:pt x="15" y="181"/>
                    </a:cubicBezTo>
                    <a:cubicBezTo>
                      <a:pt x="14" y="181"/>
                      <a:pt x="14" y="174"/>
                      <a:pt x="14" y="171"/>
                    </a:cubicBezTo>
                    <a:cubicBezTo>
                      <a:pt x="13" y="168"/>
                      <a:pt x="12" y="171"/>
                      <a:pt x="11" y="174"/>
                    </a:cubicBezTo>
                    <a:cubicBezTo>
                      <a:pt x="11" y="176"/>
                      <a:pt x="10" y="178"/>
                      <a:pt x="8" y="180"/>
                    </a:cubicBezTo>
                    <a:cubicBezTo>
                      <a:pt x="6" y="182"/>
                      <a:pt x="9" y="185"/>
                      <a:pt x="10" y="188"/>
                    </a:cubicBezTo>
                    <a:cubicBezTo>
                      <a:pt x="11" y="192"/>
                      <a:pt x="10" y="196"/>
                      <a:pt x="8" y="198"/>
                    </a:cubicBezTo>
                    <a:cubicBezTo>
                      <a:pt x="6" y="200"/>
                      <a:pt x="6" y="202"/>
                      <a:pt x="4" y="206"/>
                    </a:cubicBezTo>
                    <a:cubicBezTo>
                      <a:pt x="3" y="210"/>
                      <a:pt x="7" y="215"/>
                      <a:pt x="8" y="217"/>
                    </a:cubicBezTo>
                    <a:cubicBezTo>
                      <a:pt x="9" y="220"/>
                      <a:pt x="13" y="228"/>
                      <a:pt x="15" y="232"/>
                    </a:cubicBezTo>
                    <a:cubicBezTo>
                      <a:pt x="17" y="235"/>
                      <a:pt x="15" y="238"/>
                      <a:pt x="14" y="240"/>
                    </a:cubicBezTo>
                    <a:cubicBezTo>
                      <a:pt x="13" y="243"/>
                      <a:pt x="12" y="241"/>
                      <a:pt x="11" y="238"/>
                    </a:cubicBezTo>
                    <a:cubicBezTo>
                      <a:pt x="11" y="234"/>
                      <a:pt x="11" y="236"/>
                      <a:pt x="9" y="238"/>
                    </a:cubicBezTo>
                    <a:cubicBezTo>
                      <a:pt x="8" y="240"/>
                      <a:pt x="8" y="236"/>
                      <a:pt x="8" y="234"/>
                    </a:cubicBezTo>
                    <a:cubicBezTo>
                      <a:pt x="8" y="232"/>
                      <a:pt x="7" y="232"/>
                      <a:pt x="5" y="230"/>
                    </a:cubicBezTo>
                    <a:cubicBezTo>
                      <a:pt x="4" y="228"/>
                      <a:pt x="4" y="231"/>
                      <a:pt x="4" y="233"/>
                    </a:cubicBezTo>
                    <a:cubicBezTo>
                      <a:pt x="5" y="235"/>
                      <a:pt x="7" y="238"/>
                      <a:pt x="9" y="239"/>
                    </a:cubicBezTo>
                    <a:cubicBezTo>
                      <a:pt x="11" y="241"/>
                      <a:pt x="10" y="241"/>
                      <a:pt x="10" y="243"/>
                    </a:cubicBezTo>
                    <a:cubicBezTo>
                      <a:pt x="10" y="244"/>
                      <a:pt x="10" y="245"/>
                      <a:pt x="9" y="245"/>
                    </a:cubicBezTo>
                    <a:cubicBezTo>
                      <a:pt x="7" y="246"/>
                      <a:pt x="7" y="244"/>
                      <a:pt x="6" y="245"/>
                    </a:cubicBezTo>
                    <a:cubicBezTo>
                      <a:pt x="6" y="246"/>
                      <a:pt x="6" y="244"/>
                      <a:pt x="6" y="243"/>
                    </a:cubicBezTo>
                    <a:cubicBezTo>
                      <a:pt x="5" y="242"/>
                      <a:pt x="5" y="240"/>
                      <a:pt x="4" y="239"/>
                    </a:cubicBezTo>
                    <a:cubicBezTo>
                      <a:pt x="3" y="238"/>
                      <a:pt x="3" y="238"/>
                      <a:pt x="3" y="239"/>
                    </a:cubicBezTo>
                    <a:cubicBezTo>
                      <a:pt x="3" y="241"/>
                      <a:pt x="2" y="240"/>
                      <a:pt x="2" y="238"/>
                    </a:cubicBezTo>
                    <a:cubicBezTo>
                      <a:pt x="2" y="236"/>
                      <a:pt x="2" y="239"/>
                      <a:pt x="1" y="239"/>
                    </a:cubicBezTo>
                    <a:cubicBezTo>
                      <a:pt x="0" y="238"/>
                      <a:pt x="1" y="240"/>
                      <a:pt x="2" y="241"/>
                    </a:cubicBezTo>
                    <a:cubicBezTo>
                      <a:pt x="2" y="242"/>
                      <a:pt x="5" y="246"/>
                      <a:pt x="5" y="246"/>
                    </a:cubicBezTo>
                    <a:cubicBezTo>
                      <a:pt x="5" y="246"/>
                      <a:pt x="13" y="255"/>
                      <a:pt x="14" y="262"/>
                    </a:cubicBezTo>
                    <a:cubicBezTo>
                      <a:pt x="15" y="269"/>
                      <a:pt x="15" y="268"/>
                      <a:pt x="20" y="276"/>
                    </a:cubicBezTo>
                    <a:cubicBezTo>
                      <a:pt x="25" y="284"/>
                      <a:pt x="26" y="288"/>
                      <a:pt x="27" y="298"/>
                    </a:cubicBezTo>
                    <a:cubicBezTo>
                      <a:pt x="28" y="308"/>
                      <a:pt x="34" y="320"/>
                      <a:pt x="34" y="320"/>
                    </a:cubicBezTo>
                    <a:cubicBezTo>
                      <a:pt x="41" y="337"/>
                      <a:pt x="39" y="340"/>
                      <a:pt x="39" y="343"/>
                    </a:cubicBezTo>
                    <a:cubicBezTo>
                      <a:pt x="39" y="345"/>
                      <a:pt x="38" y="346"/>
                      <a:pt x="37" y="344"/>
                    </a:cubicBezTo>
                    <a:cubicBezTo>
                      <a:pt x="36" y="342"/>
                      <a:pt x="37" y="343"/>
                      <a:pt x="38" y="350"/>
                    </a:cubicBezTo>
                    <a:cubicBezTo>
                      <a:pt x="39" y="357"/>
                      <a:pt x="34" y="357"/>
                      <a:pt x="33" y="358"/>
                    </a:cubicBezTo>
                    <a:cubicBezTo>
                      <a:pt x="32" y="359"/>
                      <a:pt x="30" y="359"/>
                      <a:pt x="29" y="358"/>
                    </a:cubicBezTo>
                    <a:cubicBezTo>
                      <a:pt x="28" y="357"/>
                      <a:pt x="27" y="358"/>
                      <a:pt x="27" y="364"/>
                    </a:cubicBezTo>
                    <a:cubicBezTo>
                      <a:pt x="27" y="371"/>
                      <a:pt x="30" y="372"/>
                      <a:pt x="33" y="373"/>
                    </a:cubicBezTo>
                    <a:cubicBezTo>
                      <a:pt x="36" y="375"/>
                      <a:pt x="41" y="377"/>
                      <a:pt x="42" y="379"/>
                    </a:cubicBezTo>
                    <a:cubicBezTo>
                      <a:pt x="43" y="380"/>
                      <a:pt x="46" y="382"/>
                      <a:pt x="50" y="383"/>
                    </a:cubicBezTo>
                    <a:cubicBezTo>
                      <a:pt x="53" y="384"/>
                      <a:pt x="57" y="383"/>
                      <a:pt x="59" y="383"/>
                    </a:cubicBezTo>
                    <a:cubicBezTo>
                      <a:pt x="62" y="383"/>
                      <a:pt x="68" y="384"/>
                      <a:pt x="70" y="384"/>
                    </a:cubicBezTo>
                    <a:cubicBezTo>
                      <a:pt x="72" y="385"/>
                      <a:pt x="72" y="384"/>
                      <a:pt x="71" y="384"/>
                    </a:cubicBezTo>
                    <a:cubicBezTo>
                      <a:pt x="70" y="383"/>
                      <a:pt x="70" y="383"/>
                      <a:pt x="72" y="383"/>
                    </a:cubicBezTo>
                    <a:cubicBezTo>
                      <a:pt x="75" y="383"/>
                      <a:pt x="77" y="382"/>
                      <a:pt x="77" y="382"/>
                    </a:cubicBezTo>
                    <a:cubicBezTo>
                      <a:pt x="77" y="382"/>
                      <a:pt x="85" y="376"/>
                      <a:pt x="86" y="374"/>
                    </a:cubicBezTo>
                    <a:cubicBezTo>
                      <a:pt x="87" y="373"/>
                      <a:pt x="89" y="374"/>
                      <a:pt x="89" y="375"/>
                    </a:cubicBezTo>
                    <a:cubicBezTo>
                      <a:pt x="90" y="375"/>
                      <a:pt x="91" y="375"/>
                      <a:pt x="93" y="374"/>
                    </a:cubicBezTo>
                    <a:cubicBezTo>
                      <a:pt x="94" y="373"/>
                      <a:pt x="94" y="372"/>
                      <a:pt x="94" y="371"/>
                    </a:cubicBezTo>
                    <a:cubicBezTo>
                      <a:pt x="94" y="370"/>
                      <a:pt x="95" y="368"/>
                      <a:pt x="98" y="367"/>
                    </a:cubicBezTo>
                    <a:cubicBezTo>
                      <a:pt x="101" y="366"/>
                      <a:pt x="119" y="364"/>
                      <a:pt x="120" y="363"/>
                    </a:cubicBezTo>
                    <a:cubicBezTo>
                      <a:pt x="122" y="363"/>
                      <a:pt x="128" y="364"/>
                      <a:pt x="130" y="364"/>
                    </a:cubicBezTo>
                    <a:cubicBezTo>
                      <a:pt x="132" y="364"/>
                      <a:pt x="133" y="365"/>
                      <a:pt x="133" y="366"/>
                    </a:cubicBezTo>
                    <a:cubicBezTo>
                      <a:pt x="133" y="368"/>
                      <a:pt x="142" y="365"/>
                      <a:pt x="144" y="364"/>
                    </a:cubicBezTo>
                    <a:cubicBezTo>
                      <a:pt x="146" y="363"/>
                      <a:pt x="148" y="364"/>
                      <a:pt x="148" y="365"/>
                    </a:cubicBezTo>
                    <a:cubicBezTo>
                      <a:pt x="148" y="366"/>
                      <a:pt x="150" y="365"/>
                      <a:pt x="152" y="365"/>
                    </a:cubicBezTo>
                    <a:cubicBezTo>
                      <a:pt x="153" y="364"/>
                      <a:pt x="155" y="364"/>
                      <a:pt x="155" y="364"/>
                    </a:cubicBezTo>
                    <a:cubicBezTo>
                      <a:pt x="160" y="361"/>
                      <a:pt x="162" y="355"/>
                      <a:pt x="163" y="352"/>
                    </a:cubicBezTo>
                    <a:cubicBezTo>
                      <a:pt x="164" y="350"/>
                      <a:pt x="167" y="349"/>
                      <a:pt x="168" y="348"/>
                    </a:cubicBezTo>
                    <a:cubicBezTo>
                      <a:pt x="169" y="347"/>
                      <a:pt x="179" y="344"/>
                      <a:pt x="185" y="341"/>
                    </a:cubicBezTo>
                    <a:cubicBezTo>
                      <a:pt x="190" y="337"/>
                      <a:pt x="193" y="337"/>
                      <a:pt x="196" y="337"/>
                    </a:cubicBezTo>
                    <a:cubicBezTo>
                      <a:pt x="200" y="338"/>
                      <a:pt x="207" y="338"/>
                      <a:pt x="213" y="337"/>
                    </a:cubicBezTo>
                    <a:cubicBezTo>
                      <a:pt x="218" y="335"/>
                      <a:pt x="233" y="328"/>
                      <a:pt x="235" y="328"/>
                    </a:cubicBezTo>
                    <a:cubicBezTo>
                      <a:pt x="238" y="327"/>
                      <a:pt x="249" y="326"/>
                      <a:pt x="252" y="326"/>
                    </a:cubicBezTo>
                    <a:cubicBezTo>
                      <a:pt x="254" y="326"/>
                      <a:pt x="262" y="327"/>
                      <a:pt x="265" y="326"/>
                    </a:cubicBezTo>
                    <a:cubicBezTo>
                      <a:pt x="268" y="324"/>
                      <a:pt x="271" y="326"/>
                      <a:pt x="277" y="329"/>
                    </a:cubicBezTo>
                    <a:cubicBezTo>
                      <a:pt x="283" y="332"/>
                      <a:pt x="281" y="335"/>
                      <a:pt x="286" y="333"/>
                    </a:cubicBezTo>
                    <a:cubicBezTo>
                      <a:pt x="290" y="330"/>
                      <a:pt x="297" y="335"/>
                      <a:pt x="298" y="336"/>
                    </a:cubicBezTo>
                    <a:cubicBezTo>
                      <a:pt x="299" y="336"/>
                      <a:pt x="300" y="336"/>
                      <a:pt x="302" y="335"/>
                    </a:cubicBezTo>
                    <a:cubicBezTo>
                      <a:pt x="303" y="334"/>
                      <a:pt x="305" y="335"/>
                      <a:pt x="306" y="336"/>
                    </a:cubicBezTo>
                    <a:cubicBezTo>
                      <a:pt x="307" y="337"/>
                      <a:pt x="308" y="339"/>
                      <a:pt x="308" y="341"/>
                    </a:cubicBezTo>
                    <a:cubicBezTo>
                      <a:pt x="308" y="342"/>
                      <a:pt x="309" y="342"/>
                      <a:pt x="311" y="341"/>
                    </a:cubicBezTo>
                    <a:cubicBezTo>
                      <a:pt x="313" y="340"/>
                      <a:pt x="313" y="343"/>
                      <a:pt x="313" y="344"/>
                    </a:cubicBezTo>
                    <a:cubicBezTo>
                      <a:pt x="313" y="346"/>
                      <a:pt x="313" y="346"/>
                      <a:pt x="312" y="345"/>
                    </a:cubicBezTo>
                    <a:cubicBezTo>
                      <a:pt x="310" y="344"/>
                      <a:pt x="311" y="346"/>
                      <a:pt x="311" y="347"/>
                    </a:cubicBezTo>
                    <a:cubicBezTo>
                      <a:pt x="311" y="348"/>
                      <a:pt x="310" y="348"/>
                      <a:pt x="312" y="351"/>
                    </a:cubicBezTo>
                    <a:cubicBezTo>
                      <a:pt x="314" y="353"/>
                      <a:pt x="317" y="353"/>
                      <a:pt x="318" y="353"/>
                    </a:cubicBezTo>
                    <a:cubicBezTo>
                      <a:pt x="319" y="353"/>
                      <a:pt x="319" y="353"/>
                      <a:pt x="319" y="354"/>
                    </a:cubicBezTo>
                    <a:cubicBezTo>
                      <a:pt x="320" y="354"/>
                      <a:pt x="323" y="362"/>
                      <a:pt x="325" y="362"/>
                    </a:cubicBezTo>
                    <a:cubicBezTo>
                      <a:pt x="326" y="363"/>
                      <a:pt x="327" y="365"/>
                      <a:pt x="328" y="366"/>
                    </a:cubicBezTo>
                    <a:cubicBezTo>
                      <a:pt x="329" y="367"/>
                      <a:pt x="328" y="368"/>
                      <a:pt x="329" y="369"/>
                    </a:cubicBezTo>
                    <a:cubicBezTo>
                      <a:pt x="329" y="370"/>
                      <a:pt x="329" y="371"/>
                      <a:pt x="330" y="373"/>
                    </a:cubicBezTo>
                    <a:cubicBezTo>
                      <a:pt x="330" y="376"/>
                      <a:pt x="331" y="376"/>
                      <a:pt x="330" y="376"/>
                    </a:cubicBezTo>
                    <a:cubicBezTo>
                      <a:pt x="329" y="376"/>
                      <a:pt x="329" y="375"/>
                      <a:pt x="328" y="374"/>
                    </a:cubicBezTo>
                    <a:cubicBezTo>
                      <a:pt x="327" y="373"/>
                      <a:pt x="327" y="373"/>
                      <a:pt x="326" y="375"/>
                    </a:cubicBezTo>
                    <a:cubicBezTo>
                      <a:pt x="326" y="376"/>
                      <a:pt x="327" y="376"/>
                      <a:pt x="328" y="377"/>
                    </a:cubicBezTo>
                    <a:cubicBezTo>
                      <a:pt x="330" y="377"/>
                      <a:pt x="331" y="378"/>
                      <a:pt x="333" y="380"/>
                    </a:cubicBezTo>
                    <a:cubicBezTo>
                      <a:pt x="334" y="382"/>
                      <a:pt x="334" y="382"/>
                      <a:pt x="335" y="381"/>
                    </a:cubicBezTo>
                    <a:cubicBezTo>
                      <a:pt x="336" y="381"/>
                      <a:pt x="337" y="381"/>
                      <a:pt x="338" y="382"/>
                    </a:cubicBezTo>
                    <a:cubicBezTo>
                      <a:pt x="339" y="384"/>
                      <a:pt x="339" y="382"/>
                      <a:pt x="339" y="382"/>
                    </a:cubicBezTo>
                    <a:cubicBezTo>
                      <a:pt x="340" y="381"/>
                      <a:pt x="340" y="378"/>
                      <a:pt x="338" y="379"/>
                    </a:cubicBezTo>
                    <a:cubicBezTo>
                      <a:pt x="337" y="380"/>
                      <a:pt x="337" y="379"/>
                      <a:pt x="337" y="379"/>
                    </a:cubicBezTo>
                    <a:cubicBezTo>
                      <a:pt x="338" y="376"/>
                      <a:pt x="346" y="367"/>
                      <a:pt x="347" y="365"/>
                    </a:cubicBezTo>
                    <a:cubicBezTo>
                      <a:pt x="349" y="364"/>
                      <a:pt x="353" y="362"/>
                      <a:pt x="355" y="361"/>
                    </a:cubicBezTo>
                    <a:cubicBezTo>
                      <a:pt x="357" y="360"/>
                      <a:pt x="358" y="359"/>
                      <a:pt x="359" y="356"/>
                    </a:cubicBezTo>
                    <a:cubicBezTo>
                      <a:pt x="361" y="352"/>
                      <a:pt x="363" y="349"/>
                      <a:pt x="364" y="349"/>
                    </a:cubicBezTo>
                    <a:cubicBezTo>
                      <a:pt x="365" y="348"/>
                      <a:pt x="365" y="347"/>
                      <a:pt x="366" y="346"/>
                    </a:cubicBezTo>
                    <a:cubicBezTo>
                      <a:pt x="366" y="346"/>
                      <a:pt x="366" y="345"/>
                      <a:pt x="366" y="343"/>
                    </a:cubicBezTo>
                    <a:cubicBezTo>
                      <a:pt x="365" y="342"/>
                      <a:pt x="366" y="342"/>
                      <a:pt x="366" y="342"/>
                    </a:cubicBezTo>
                    <a:cubicBezTo>
                      <a:pt x="366" y="342"/>
                      <a:pt x="368" y="347"/>
                      <a:pt x="369" y="349"/>
                    </a:cubicBezTo>
                    <a:cubicBezTo>
                      <a:pt x="369" y="350"/>
                      <a:pt x="369" y="351"/>
                      <a:pt x="368" y="351"/>
                    </a:cubicBezTo>
                    <a:cubicBezTo>
                      <a:pt x="367" y="352"/>
                      <a:pt x="366" y="352"/>
                      <a:pt x="367" y="355"/>
                    </a:cubicBezTo>
                    <a:cubicBezTo>
                      <a:pt x="368" y="358"/>
                      <a:pt x="366" y="359"/>
                      <a:pt x="365" y="362"/>
                    </a:cubicBezTo>
                    <a:cubicBezTo>
                      <a:pt x="363" y="365"/>
                      <a:pt x="361" y="372"/>
                      <a:pt x="362" y="374"/>
                    </a:cubicBezTo>
                    <a:cubicBezTo>
                      <a:pt x="362" y="376"/>
                      <a:pt x="361" y="380"/>
                      <a:pt x="360" y="381"/>
                    </a:cubicBezTo>
                    <a:cubicBezTo>
                      <a:pt x="360" y="382"/>
                      <a:pt x="357" y="381"/>
                      <a:pt x="356" y="381"/>
                    </a:cubicBezTo>
                    <a:cubicBezTo>
                      <a:pt x="355" y="381"/>
                      <a:pt x="354" y="381"/>
                      <a:pt x="354" y="382"/>
                    </a:cubicBezTo>
                    <a:cubicBezTo>
                      <a:pt x="353" y="383"/>
                      <a:pt x="354" y="384"/>
                      <a:pt x="353" y="385"/>
                    </a:cubicBezTo>
                    <a:cubicBezTo>
                      <a:pt x="352" y="387"/>
                      <a:pt x="352" y="387"/>
                      <a:pt x="353" y="387"/>
                    </a:cubicBezTo>
                    <a:cubicBezTo>
                      <a:pt x="354" y="386"/>
                      <a:pt x="359" y="386"/>
                      <a:pt x="360" y="385"/>
                    </a:cubicBezTo>
                    <a:cubicBezTo>
                      <a:pt x="361" y="385"/>
                      <a:pt x="363" y="385"/>
                      <a:pt x="364" y="385"/>
                    </a:cubicBezTo>
                    <a:cubicBezTo>
                      <a:pt x="365" y="386"/>
                      <a:pt x="366" y="383"/>
                      <a:pt x="367" y="380"/>
                    </a:cubicBezTo>
                    <a:cubicBezTo>
                      <a:pt x="367" y="378"/>
                      <a:pt x="369" y="371"/>
                      <a:pt x="370" y="370"/>
                    </a:cubicBezTo>
                    <a:cubicBezTo>
                      <a:pt x="371" y="369"/>
                      <a:pt x="371" y="369"/>
                      <a:pt x="372" y="371"/>
                    </a:cubicBezTo>
                    <a:cubicBezTo>
                      <a:pt x="373" y="372"/>
                      <a:pt x="374" y="375"/>
                      <a:pt x="376" y="377"/>
                    </a:cubicBezTo>
                    <a:cubicBezTo>
                      <a:pt x="378" y="379"/>
                      <a:pt x="377" y="380"/>
                      <a:pt x="376" y="384"/>
                    </a:cubicBezTo>
                    <a:cubicBezTo>
                      <a:pt x="376" y="387"/>
                      <a:pt x="374" y="390"/>
                      <a:pt x="372" y="391"/>
                    </a:cubicBezTo>
                    <a:cubicBezTo>
                      <a:pt x="370" y="392"/>
                      <a:pt x="371" y="393"/>
                      <a:pt x="373" y="393"/>
                    </a:cubicBezTo>
                    <a:cubicBezTo>
                      <a:pt x="374" y="393"/>
                      <a:pt x="376" y="393"/>
                      <a:pt x="376" y="393"/>
                    </a:cubicBezTo>
                    <a:cubicBezTo>
                      <a:pt x="377" y="393"/>
                      <a:pt x="380" y="392"/>
                      <a:pt x="381" y="392"/>
                    </a:cubicBezTo>
                    <a:cubicBezTo>
                      <a:pt x="382" y="392"/>
                      <a:pt x="385" y="389"/>
                      <a:pt x="386" y="389"/>
                    </a:cubicBezTo>
                    <a:cubicBezTo>
                      <a:pt x="388" y="388"/>
                      <a:pt x="388" y="389"/>
                      <a:pt x="388" y="390"/>
                    </a:cubicBezTo>
                    <a:cubicBezTo>
                      <a:pt x="387" y="392"/>
                      <a:pt x="386" y="391"/>
                      <a:pt x="386" y="391"/>
                    </a:cubicBezTo>
                    <a:cubicBezTo>
                      <a:pt x="385" y="392"/>
                      <a:pt x="385" y="393"/>
                      <a:pt x="384" y="393"/>
                    </a:cubicBezTo>
                    <a:cubicBezTo>
                      <a:pt x="382" y="393"/>
                      <a:pt x="387" y="398"/>
                      <a:pt x="391" y="401"/>
                    </a:cubicBezTo>
                    <a:cubicBezTo>
                      <a:pt x="394" y="403"/>
                      <a:pt x="397" y="410"/>
                      <a:pt x="396" y="413"/>
                    </a:cubicBezTo>
                    <a:cubicBezTo>
                      <a:pt x="395" y="416"/>
                      <a:pt x="394" y="421"/>
                      <a:pt x="398" y="423"/>
                    </a:cubicBezTo>
                    <a:cubicBezTo>
                      <a:pt x="402" y="426"/>
                      <a:pt x="404" y="431"/>
                      <a:pt x="404" y="432"/>
                    </a:cubicBezTo>
                    <a:cubicBezTo>
                      <a:pt x="405" y="433"/>
                      <a:pt x="409" y="435"/>
                      <a:pt x="412" y="435"/>
                    </a:cubicBezTo>
                    <a:cubicBezTo>
                      <a:pt x="414" y="435"/>
                      <a:pt x="413" y="436"/>
                      <a:pt x="415" y="436"/>
                    </a:cubicBezTo>
                    <a:cubicBezTo>
                      <a:pt x="416" y="437"/>
                      <a:pt x="419" y="438"/>
                      <a:pt x="419" y="440"/>
                    </a:cubicBezTo>
                    <a:cubicBezTo>
                      <a:pt x="419" y="441"/>
                      <a:pt x="422" y="441"/>
                      <a:pt x="423" y="440"/>
                    </a:cubicBezTo>
                    <a:cubicBezTo>
                      <a:pt x="425" y="439"/>
                      <a:pt x="427" y="439"/>
                      <a:pt x="428" y="440"/>
                    </a:cubicBezTo>
                    <a:cubicBezTo>
                      <a:pt x="430" y="440"/>
                      <a:pt x="431" y="441"/>
                      <a:pt x="434" y="440"/>
                    </a:cubicBezTo>
                    <a:cubicBezTo>
                      <a:pt x="436" y="439"/>
                      <a:pt x="438" y="442"/>
                      <a:pt x="440" y="443"/>
                    </a:cubicBezTo>
                    <a:cubicBezTo>
                      <a:pt x="442" y="444"/>
                      <a:pt x="448" y="447"/>
                      <a:pt x="450" y="448"/>
                    </a:cubicBezTo>
                    <a:cubicBezTo>
                      <a:pt x="451" y="448"/>
                      <a:pt x="452" y="448"/>
                      <a:pt x="453" y="447"/>
                    </a:cubicBezTo>
                    <a:cubicBezTo>
                      <a:pt x="454" y="446"/>
                      <a:pt x="460" y="443"/>
                      <a:pt x="461" y="441"/>
                    </a:cubicBezTo>
                    <a:cubicBezTo>
                      <a:pt x="463" y="439"/>
                      <a:pt x="466" y="439"/>
                      <a:pt x="468" y="438"/>
                    </a:cubicBezTo>
                    <a:cubicBezTo>
                      <a:pt x="470" y="437"/>
                      <a:pt x="469" y="436"/>
                      <a:pt x="467" y="437"/>
                    </a:cubicBezTo>
                    <a:cubicBezTo>
                      <a:pt x="465" y="437"/>
                      <a:pt x="463" y="437"/>
                      <a:pt x="464" y="436"/>
                    </a:cubicBezTo>
                    <a:cubicBezTo>
                      <a:pt x="465" y="435"/>
                      <a:pt x="469" y="433"/>
                      <a:pt x="470" y="432"/>
                    </a:cubicBezTo>
                    <a:cubicBezTo>
                      <a:pt x="471" y="432"/>
                      <a:pt x="472" y="431"/>
                      <a:pt x="473" y="432"/>
                    </a:cubicBezTo>
                    <a:cubicBezTo>
                      <a:pt x="473" y="433"/>
                      <a:pt x="475" y="436"/>
                      <a:pt x="474" y="437"/>
                    </a:cubicBezTo>
                    <a:cubicBezTo>
                      <a:pt x="474" y="439"/>
                      <a:pt x="472" y="440"/>
                      <a:pt x="471" y="440"/>
                    </a:cubicBezTo>
                    <a:cubicBezTo>
                      <a:pt x="470" y="440"/>
                      <a:pt x="470" y="441"/>
                      <a:pt x="471" y="442"/>
                    </a:cubicBezTo>
                    <a:cubicBezTo>
                      <a:pt x="472" y="443"/>
                      <a:pt x="474" y="441"/>
                      <a:pt x="476" y="440"/>
                    </a:cubicBezTo>
                    <a:cubicBezTo>
                      <a:pt x="478" y="439"/>
                      <a:pt x="478" y="439"/>
                      <a:pt x="480" y="438"/>
                    </a:cubicBezTo>
                    <a:cubicBezTo>
                      <a:pt x="481" y="437"/>
                      <a:pt x="481" y="441"/>
                      <a:pt x="480" y="442"/>
                    </a:cubicBezTo>
                    <a:cubicBezTo>
                      <a:pt x="479" y="443"/>
                      <a:pt x="479" y="443"/>
                      <a:pt x="481" y="444"/>
                    </a:cubicBezTo>
                    <a:cubicBezTo>
                      <a:pt x="482" y="445"/>
                      <a:pt x="485" y="448"/>
                      <a:pt x="485" y="448"/>
                    </a:cubicBezTo>
                    <a:cubicBezTo>
                      <a:pt x="486" y="449"/>
                      <a:pt x="487" y="449"/>
                      <a:pt x="488" y="448"/>
                    </a:cubicBezTo>
                    <a:cubicBezTo>
                      <a:pt x="490" y="448"/>
                      <a:pt x="491" y="450"/>
                      <a:pt x="493" y="452"/>
                    </a:cubicBezTo>
                    <a:cubicBezTo>
                      <a:pt x="494" y="455"/>
                      <a:pt x="493" y="451"/>
                      <a:pt x="493" y="450"/>
                    </a:cubicBezTo>
                    <a:cubicBezTo>
                      <a:pt x="493" y="449"/>
                      <a:pt x="493" y="449"/>
                      <a:pt x="492" y="449"/>
                    </a:cubicBezTo>
                    <a:cubicBezTo>
                      <a:pt x="492" y="449"/>
                      <a:pt x="491" y="448"/>
                      <a:pt x="491" y="447"/>
                    </a:cubicBezTo>
                    <a:cubicBezTo>
                      <a:pt x="491" y="446"/>
                      <a:pt x="496" y="445"/>
                      <a:pt x="497" y="445"/>
                    </a:cubicBezTo>
                    <a:cubicBezTo>
                      <a:pt x="499" y="445"/>
                      <a:pt x="500" y="446"/>
                      <a:pt x="500" y="445"/>
                    </a:cubicBezTo>
                    <a:cubicBezTo>
                      <a:pt x="501" y="445"/>
                      <a:pt x="509" y="439"/>
                      <a:pt x="512" y="436"/>
                    </a:cubicBezTo>
                    <a:cubicBezTo>
                      <a:pt x="515" y="432"/>
                      <a:pt x="518" y="432"/>
                      <a:pt x="520" y="431"/>
                    </a:cubicBezTo>
                    <a:cubicBezTo>
                      <a:pt x="521" y="431"/>
                      <a:pt x="532" y="430"/>
                      <a:pt x="535" y="430"/>
                    </a:cubicBezTo>
                    <a:cubicBezTo>
                      <a:pt x="539" y="431"/>
                      <a:pt x="541" y="429"/>
                      <a:pt x="542" y="427"/>
                    </a:cubicBezTo>
                    <a:cubicBezTo>
                      <a:pt x="543" y="426"/>
                      <a:pt x="544" y="426"/>
                      <a:pt x="546" y="426"/>
                    </a:cubicBezTo>
                    <a:cubicBezTo>
                      <a:pt x="547" y="426"/>
                      <a:pt x="547" y="425"/>
                      <a:pt x="548" y="424"/>
                    </a:cubicBezTo>
                    <a:cubicBezTo>
                      <a:pt x="548" y="422"/>
                      <a:pt x="548" y="420"/>
                      <a:pt x="547" y="420"/>
                    </a:cubicBezTo>
                    <a:cubicBezTo>
                      <a:pt x="546" y="419"/>
                      <a:pt x="546" y="418"/>
                      <a:pt x="546" y="417"/>
                    </a:cubicBezTo>
                    <a:cubicBezTo>
                      <a:pt x="546" y="415"/>
                      <a:pt x="547" y="412"/>
                      <a:pt x="548" y="410"/>
                    </a:cubicBezTo>
                    <a:cubicBezTo>
                      <a:pt x="548" y="408"/>
                      <a:pt x="550" y="400"/>
                      <a:pt x="551" y="397"/>
                    </a:cubicBezTo>
                    <a:cubicBezTo>
                      <a:pt x="552" y="394"/>
                      <a:pt x="554" y="390"/>
                      <a:pt x="555" y="388"/>
                    </a:cubicBezTo>
                    <a:cubicBezTo>
                      <a:pt x="556" y="386"/>
                      <a:pt x="557" y="386"/>
                      <a:pt x="558" y="386"/>
                    </a:cubicBezTo>
                    <a:cubicBezTo>
                      <a:pt x="559" y="386"/>
                      <a:pt x="559" y="385"/>
                      <a:pt x="558" y="384"/>
                    </a:cubicBezTo>
                    <a:cubicBezTo>
                      <a:pt x="558" y="384"/>
                      <a:pt x="558" y="384"/>
                      <a:pt x="559" y="384"/>
                    </a:cubicBezTo>
                    <a:cubicBezTo>
                      <a:pt x="560" y="384"/>
                      <a:pt x="560" y="382"/>
                      <a:pt x="559" y="380"/>
                    </a:cubicBezTo>
                    <a:cubicBezTo>
                      <a:pt x="558" y="379"/>
                      <a:pt x="560" y="378"/>
                      <a:pt x="560" y="377"/>
                    </a:cubicBezTo>
                    <a:cubicBezTo>
                      <a:pt x="561" y="377"/>
                      <a:pt x="561" y="376"/>
                      <a:pt x="560" y="376"/>
                    </a:cubicBezTo>
                    <a:cubicBezTo>
                      <a:pt x="559" y="375"/>
                      <a:pt x="559" y="375"/>
                      <a:pt x="560" y="374"/>
                    </a:cubicBezTo>
                    <a:cubicBezTo>
                      <a:pt x="561" y="372"/>
                      <a:pt x="561" y="370"/>
                      <a:pt x="564" y="367"/>
                    </a:cubicBezTo>
                    <a:cubicBezTo>
                      <a:pt x="568" y="365"/>
                      <a:pt x="567" y="361"/>
                      <a:pt x="567" y="360"/>
                    </a:cubicBezTo>
                    <a:cubicBezTo>
                      <a:pt x="566" y="359"/>
                      <a:pt x="567" y="358"/>
                      <a:pt x="568" y="356"/>
                    </a:cubicBezTo>
                    <a:cubicBezTo>
                      <a:pt x="569" y="355"/>
                      <a:pt x="571" y="352"/>
                      <a:pt x="573" y="350"/>
                    </a:cubicBezTo>
                    <a:cubicBezTo>
                      <a:pt x="574" y="348"/>
                      <a:pt x="576" y="347"/>
                      <a:pt x="578" y="346"/>
                    </a:cubicBezTo>
                    <a:cubicBezTo>
                      <a:pt x="580" y="346"/>
                      <a:pt x="579" y="345"/>
                      <a:pt x="578" y="345"/>
                    </a:cubicBezTo>
                    <a:cubicBezTo>
                      <a:pt x="577" y="344"/>
                      <a:pt x="579" y="343"/>
                      <a:pt x="583" y="342"/>
                    </a:cubicBezTo>
                    <a:cubicBezTo>
                      <a:pt x="586" y="341"/>
                      <a:pt x="585" y="337"/>
                      <a:pt x="585" y="335"/>
                    </a:cubicBezTo>
                    <a:cubicBezTo>
                      <a:pt x="585" y="333"/>
                      <a:pt x="586" y="332"/>
                      <a:pt x="586" y="332"/>
                    </a:cubicBezTo>
                    <a:cubicBezTo>
                      <a:pt x="592" y="328"/>
                      <a:pt x="592" y="318"/>
                      <a:pt x="592" y="315"/>
                    </a:cubicBezTo>
                    <a:cubicBezTo>
                      <a:pt x="591" y="312"/>
                      <a:pt x="593" y="305"/>
                      <a:pt x="594" y="304"/>
                    </a:cubicBezTo>
                    <a:cubicBezTo>
                      <a:pt x="595" y="302"/>
                      <a:pt x="596" y="294"/>
                      <a:pt x="596" y="292"/>
                    </a:cubicBezTo>
                    <a:cubicBezTo>
                      <a:pt x="597" y="290"/>
                      <a:pt x="599" y="284"/>
                      <a:pt x="600" y="281"/>
                    </a:cubicBezTo>
                    <a:cubicBezTo>
                      <a:pt x="601" y="279"/>
                      <a:pt x="600" y="275"/>
                      <a:pt x="600" y="273"/>
                    </a:cubicBezTo>
                    <a:cubicBezTo>
                      <a:pt x="599" y="270"/>
                      <a:pt x="597" y="264"/>
                      <a:pt x="596" y="26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18" name="Freeform 527">
                <a:extLst>
                  <a:ext uri="{FF2B5EF4-FFF2-40B4-BE49-F238E27FC236}">
                    <a16:creationId xmlns:a16="http://schemas.microsoft.com/office/drawing/2014/main" id="{163964E7-5111-41B7-9D33-8D85F9FA2F67}"/>
                  </a:ext>
                </a:extLst>
              </p:cNvPr>
              <p:cNvSpPr>
                <a:spLocks/>
              </p:cNvSpPr>
              <p:nvPr/>
            </p:nvSpPr>
            <p:spPr bwMode="auto">
              <a:xfrm>
                <a:off x="6174" y="2914"/>
                <a:ext cx="15" cy="11"/>
              </a:xfrm>
              <a:custGeom>
                <a:avLst/>
                <a:gdLst>
                  <a:gd name="T0" fmla="*/ 1 w 11"/>
                  <a:gd name="T1" fmla="*/ 6 h 8"/>
                  <a:gd name="T2" fmla="*/ 2 w 11"/>
                  <a:gd name="T3" fmla="*/ 7 h 8"/>
                  <a:gd name="T4" fmla="*/ 8 w 11"/>
                  <a:gd name="T5" fmla="*/ 7 h 8"/>
                  <a:gd name="T6" fmla="*/ 8 w 11"/>
                  <a:gd name="T7" fmla="*/ 6 h 8"/>
                  <a:gd name="T8" fmla="*/ 7 w 11"/>
                  <a:gd name="T9" fmla="*/ 4 h 8"/>
                  <a:gd name="T10" fmla="*/ 6 w 11"/>
                  <a:gd name="T11" fmla="*/ 1 h 8"/>
                  <a:gd name="T12" fmla="*/ 4 w 11"/>
                  <a:gd name="T13" fmla="*/ 1 h 8"/>
                  <a:gd name="T14" fmla="*/ 3 w 11"/>
                  <a:gd name="T15" fmla="*/ 3 h 8"/>
                  <a:gd name="T16" fmla="*/ 3 w 11"/>
                  <a:gd name="T17" fmla="*/ 5 h 8"/>
                  <a:gd name="T18" fmla="*/ 1 w 11"/>
                  <a:gd name="T19"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8">
                    <a:moveTo>
                      <a:pt x="1" y="6"/>
                    </a:moveTo>
                    <a:cubicBezTo>
                      <a:pt x="0" y="6"/>
                      <a:pt x="2" y="7"/>
                      <a:pt x="2" y="7"/>
                    </a:cubicBezTo>
                    <a:cubicBezTo>
                      <a:pt x="3" y="7"/>
                      <a:pt x="6" y="8"/>
                      <a:pt x="8" y="7"/>
                    </a:cubicBezTo>
                    <a:cubicBezTo>
                      <a:pt x="11" y="7"/>
                      <a:pt x="9" y="6"/>
                      <a:pt x="8" y="6"/>
                    </a:cubicBezTo>
                    <a:cubicBezTo>
                      <a:pt x="7" y="6"/>
                      <a:pt x="7" y="5"/>
                      <a:pt x="7" y="4"/>
                    </a:cubicBezTo>
                    <a:cubicBezTo>
                      <a:pt x="6" y="4"/>
                      <a:pt x="6" y="2"/>
                      <a:pt x="6" y="1"/>
                    </a:cubicBezTo>
                    <a:cubicBezTo>
                      <a:pt x="6" y="0"/>
                      <a:pt x="5" y="0"/>
                      <a:pt x="4" y="1"/>
                    </a:cubicBezTo>
                    <a:cubicBezTo>
                      <a:pt x="2" y="1"/>
                      <a:pt x="3" y="3"/>
                      <a:pt x="3" y="3"/>
                    </a:cubicBezTo>
                    <a:cubicBezTo>
                      <a:pt x="3" y="4"/>
                      <a:pt x="3" y="4"/>
                      <a:pt x="3" y="5"/>
                    </a:cubicBezTo>
                    <a:cubicBezTo>
                      <a:pt x="2" y="6"/>
                      <a:pt x="2" y="5"/>
                      <a:pt x="1"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19" name="Freeform 528">
                <a:extLst>
                  <a:ext uri="{FF2B5EF4-FFF2-40B4-BE49-F238E27FC236}">
                    <a16:creationId xmlns:a16="http://schemas.microsoft.com/office/drawing/2014/main" id="{188BE92F-A7FC-4212-BA3B-623EE9357515}"/>
                  </a:ext>
                </a:extLst>
              </p:cNvPr>
              <p:cNvSpPr>
                <a:spLocks/>
              </p:cNvSpPr>
              <p:nvPr/>
            </p:nvSpPr>
            <p:spPr bwMode="auto">
              <a:xfrm>
                <a:off x="6181" y="2910"/>
                <a:ext cx="24" cy="16"/>
              </a:xfrm>
              <a:custGeom>
                <a:avLst/>
                <a:gdLst>
                  <a:gd name="T0" fmla="*/ 12 w 18"/>
                  <a:gd name="T1" fmla="*/ 10 h 12"/>
                  <a:gd name="T2" fmla="*/ 16 w 18"/>
                  <a:gd name="T3" fmla="*/ 7 h 12"/>
                  <a:gd name="T4" fmla="*/ 18 w 18"/>
                  <a:gd name="T5" fmla="*/ 4 h 12"/>
                  <a:gd name="T6" fmla="*/ 17 w 18"/>
                  <a:gd name="T7" fmla="*/ 2 h 12"/>
                  <a:gd name="T8" fmla="*/ 14 w 18"/>
                  <a:gd name="T9" fmla="*/ 2 h 12"/>
                  <a:gd name="T10" fmla="*/ 13 w 18"/>
                  <a:gd name="T11" fmla="*/ 2 h 12"/>
                  <a:gd name="T12" fmla="*/ 8 w 18"/>
                  <a:gd name="T13" fmla="*/ 3 h 12"/>
                  <a:gd name="T14" fmla="*/ 2 w 18"/>
                  <a:gd name="T15" fmla="*/ 2 h 12"/>
                  <a:gd name="T16" fmla="*/ 1 w 18"/>
                  <a:gd name="T17" fmla="*/ 3 h 12"/>
                  <a:gd name="T18" fmla="*/ 3 w 18"/>
                  <a:gd name="T19" fmla="*/ 7 h 12"/>
                  <a:gd name="T20" fmla="*/ 8 w 18"/>
                  <a:gd name="T21" fmla="*/ 11 h 12"/>
                  <a:gd name="T22" fmla="*/ 12 w 18"/>
                  <a:gd name="T23" fmla="*/ 1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2">
                    <a:moveTo>
                      <a:pt x="12" y="10"/>
                    </a:moveTo>
                    <a:cubicBezTo>
                      <a:pt x="13" y="9"/>
                      <a:pt x="14" y="8"/>
                      <a:pt x="16" y="7"/>
                    </a:cubicBezTo>
                    <a:cubicBezTo>
                      <a:pt x="17" y="7"/>
                      <a:pt x="18" y="5"/>
                      <a:pt x="18" y="4"/>
                    </a:cubicBezTo>
                    <a:cubicBezTo>
                      <a:pt x="17" y="3"/>
                      <a:pt x="18" y="3"/>
                      <a:pt x="17" y="2"/>
                    </a:cubicBezTo>
                    <a:cubicBezTo>
                      <a:pt x="15" y="1"/>
                      <a:pt x="14" y="0"/>
                      <a:pt x="14" y="2"/>
                    </a:cubicBezTo>
                    <a:cubicBezTo>
                      <a:pt x="13" y="3"/>
                      <a:pt x="13" y="3"/>
                      <a:pt x="13" y="2"/>
                    </a:cubicBezTo>
                    <a:cubicBezTo>
                      <a:pt x="12" y="2"/>
                      <a:pt x="10" y="2"/>
                      <a:pt x="8" y="3"/>
                    </a:cubicBezTo>
                    <a:cubicBezTo>
                      <a:pt x="5" y="5"/>
                      <a:pt x="4" y="4"/>
                      <a:pt x="2" y="2"/>
                    </a:cubicBezTo>
                    <a:cubicBezTo>
                      <a:pt x="0" y="0"/>
                      <a:pt x="1" y="3"/>
                      <a:pt x="1" y="3"/>
                    </a:cubicBezTo>
                    <a:cubicBezTo>
                      <a:pt x="2" y="4"/>
                      <a:pt x="3" y="5"/>
                      <a:pt x="3" y="7"/>
                    </a:cubicBezTo>
                    <a:cubicBezTo>
                      <a:pt x="3" y="8"/>
                      <a:pt x="7" y="10"/>
                      <a:pt x="8" y="11"/>
                    </a:cubicBezTo>
                    <a:cubicBezTo>
                      <a:pt x="9" y="12"/>
                      <a:pt x="12" y="11"/>
                      <a:pt x="12"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20" name="Freeform 529">
                <a:extLst>
                  <a:ext uri="{FF2B5EF4-FFF2-40B4-BE49-F238E27FC236}">
                    <a16:creationId xmlns:a16="http://schemas.microsoft.com/office/drawing/2014/main" id="{97E73398-2350-4496-8CCE-A761D1FF3A60}"/>
                  </a:ext>
                </a:extLst>
              </p:cNvPr>
              <p:cNvSpPr>
                <a:spLocks/>
              </p:cNvSpPr>
              <p:nvPr/>
            </p:nvSpPr>
            <p:spPr bwMode="auto">
              <a:xfrm>
                <a:off x="6225" y="2907"/>
                <a:ext cx="3" cy="8"/>
              </a:xfrm>
              <a:custGeom>
                <a:avLst/>
                <a:gdLst>
                  <a:gd name="T0" fmla="*/ 1 w 2"/>
                  <a:gd name="T1" fmla="*/ 0 h 6"/>
                  <a:gd name="T2" fmla="*/ 0 w 2"/>
                  <a:gd name="T3" fmla="*/ 1 h 6"/>
                  <a:gd name="T4" fmla="*/ 1 w 2"/>
                  <a:gd name="T5" fmla="*/ 4 h 6"/>
                  <a:gd name="T6" fmla="*/ 2 w 2"/>
                  <a:gd name="T7" fmla="*/ 1 h 6"/>
                  <a:gd name="T8" fmla="*/ 1 w 2"/>
                  <a:gd name="T9" fmla="*/ 0 h 6"/>
                </a:gdLst>
                <a:ahLst/>
                <a:cxnLst>
                  <a:cxn ang="0">
                    <a:pos x="T0" y="T1"/>
                  </a:cxn>
                  <a:cxn ang="0">
                    <a:pos x="T2" y="T3"/>
                  </a:cxn>
                  <a:cxn ang="0">
                    <a:pos x="T4" y="T5"/>
                  </a:cxn>
                  <a:cxn ang="0">
                    <a:pos x="T6" y="T7"/>
                  </a:cxn>
                  <a:cxn ang="0">
                    <a:pos x="T8" y="T9"/>
                  </a:cxn>
                </a:cxnLst>
                <a:rect l="0" t="0" r="r" b="b"/>
                <a:pathLst>
                  <a:path w="2" h="6">
                    <a:moveTo>
                      <a:pt x="1" y="0"/>
                    </a:moveTo>
                    <a:cubicBezTo>
                      <a:pt x="0" y="0"/>
                      <a:pt x="0" y="1"/>
                      <a:pt x="0" y="1"/>
                    </a:cubicBezTo>
                    <a:cubicBezTo>
                      <a:pt x="0" y="1"/>
                      <a:pt x="0" y="1"/>
                      <a:pt x="1" y="4"/>
                    </a:cubicBezTo>
                    <a:cubicBezTo>
                      <a:pt x="2" y="6"/>
                      <a:pt x="2" y="2"/>
                      <a:pt x="2" y="1"/>
                    </a:cubicBezTo>
                    <a:cubicBezTo>
                      <a:pt x="2" y="0"/>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21" name="Freeform 530">
                <a:extLst>
                  <a:ext uri="{FF2B5EF4-FFF2-40B4-BE49-F238E27FC236}">
                    <a16:creationId xmlns:a16="http://schemas.microsoft.com/office/drawing/2014/main" id="{7D195EA8-8340-4799-AF87-4B92214CABF6}"/>
                  </a:ext>
                </a:extLst>
              </p:cNvPr>
              <p:cNvSpPr>
                <a:spLocks/>
              </p:cNvSpPr>
              <p:nvPr/>
            </p:nvSpPr>
            <p:spPr bwMode="auto">
              <a:xfrm>
                <a:off x="6305" y="2962"/>
                <a:ext cx="13" cy="14"/>
              </a:xfrm>
              <a:custGeom>
                <a:avLst/>
                <a:gdLst>
                  <a:gd name="T0" fmla="*/ 1 w 9"/>
                  <a:gd name="T1" fmla="*/ 8 h 10"/>
                  <a:gd name="T2" fmla="*/ 6 w 9"/>
                  <a:gd name="T3" fmla="*/ 9 h 10"/>
                  <a:gd name="T4" fmla="*/ 8 w 9"/>
                  <a:gd name="T5" fmla="*/ 8 h 10"/>
                  <a:gd name="T6" fmla="*/ 6 w 9"/>
                  <a:gd name="T7" fmla="*/ 8 h 10"/>
                  <a:gd name="T8" fmla="*/ 5 w 9"/>
                  <a:gd name="T9" fmla="*/ 6 h 10"/>
                  <a:gd name="T10" fmla="*/ 8 w 9"/>
                  <a:gd name="T11" fmla="*/ 3 h 10"/>
                  <a:gd name="T12" fmla="*/ 7 w 9"/>
                  <a:gd name="T13" fmla="*/ 2 h 10"/>
                  <a:gd name="T14" fmla="*/ 5 w 9"/>
                  <a:gd name="T15" fmla="*/ 2 h 10"/>
                  <a:gd name="T16" fmla="*/ 4 w 9"/>
                  <a:gd name="T17" fmla="*/ 0 h 10"/>
                  <a:gd name="T18" fmla="*/ 4 w 9"/>
                  <a:gd name="T19" fmla="*/ 1 h 10"/>
                  <a:gd name="T20" fmla="*/ 3 w 9"/>
                  <a:gd name="T21" fmla="*/ 2 h 10"/>
                  <a:gd name="T22" fmla="*/ 1 w 9"/>
                  <a:gd name="T23" fmla="*/ 3 h 10"/>
                  <a:gd name="T24" fmla="*/ 0 w 9"/>
                  <a:gd name="T25" fmla="*/ 7 h 10"/>
                  <a:gd name="T26" fmla="*/ 1 w 9"/>
                  <a:gd name="T27"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10">
                    <a:moveTo>
                      <a:pt x="1" y="8"/>
                    </a:moveTo>
                    <a:cubicBezTo>
                      <a:pt x="2" y="8"/>
                      <a:pt x="4" y="9"/>
                      <a:pt x="6" y="9"/>
                    </a:cubicBezTo>
                    <a:cubicBezTo>
                      <a:pt x="8" y="10"/>
                      <a:pt x="8" y="10"/>
                      <a:pt x="8" y="8"/>
                    </a:cubicBezTo>
                    <a:cubicBezTo>
                      <a:pt x="8" y="7"/>
                      <a:pt x="8" y="8"/>
                      <a:pt x="6" y="8"/>
                    </a:cubicBezTo>
                    <a:cubicBezTo>
                      <a:pt x="5" y="8"/>
                      <a:pt x="5" y="7"/>
                      <a:pt x="5" y="6"/>
                    </a:cubicBezTo>
                    <a:cubicBezTo>
                      <a:pt x="5" y="5"/>
                      <a:pt x="7" y="4"/>
                      <a:pt x="8" y="3"/>
                    </a:cubicBezTo>
                    <a:cubicBezTo>
                      <a:pt x="9" y="1"/>
                      <a:pt x="7" y="1"/>
                      <a:pt x="7" y="2"/>
                    </a:cubicBezTo>
                    <a:cubicBezTo>
                      <a:pt x="6" y="4"/>
                      <a:pt x="5" y="3"/>
                      <a:pt x="5" y="2"/>
                    </a:cubicBezTo>
                    <a:cubicBezTo>
                      <a:pt x="5" y="1"/>
                      <a:pt x="6" y="0"/>
                      <a:pt x="4" y="0"/>
                    </a:cubicBezTo>
                    <a:cubicBezTo>
                      <a:pt x="3" y="1"/>
                      <a:pt x="3" y="1"/>
                      <a:pt x="4" y="1"/>
                    </a:cubicBezTo>
                    <a:cubicBezTo>
                      <a:pt x="4" y="2"/>
                      <a:pt x="3" y="2"/>
                      <a:pt x="3" y="2"/>
                    </a:cubicBezTo>
                    <a:cubicBezTo>
                      <a:pt x="2" y="2"/>
                      <a:pt x="1" y="2"/>
                      <a:pt x="1" y="3"/>
                    </a:cubicBezTo>
                    <a:cubicBezTo>
                      <a:pt x="1" y="4"/>
                      <a:pt x="1" y="6"/>
                      <a:pt x="0" y="7"/>
                    </a:cubicBezTo>
                    <a:cubicBezTo>
                      <a:pt x="0" y="8"/>
                      <a:pt x="1" y="8"/>
                      <a:pt x="1"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22" name="Freeform 531">
                <a:extLst>
                  <a:ext uri="{FF2B5EF4-FFF2-40B4-BE49-F238E27FC236}">
                    <a16:creationId xmlns:a16="http://schemas.microsoft.com/office/drawing/2014/main" id="{A2586D0A-30EB-47F8-B4DD-6863A1CCE54D}"/>
                  </a:ext>
                </a:extLst>
              </p:cNvPr>
              <p:cNvSpPr>
                <a:spLocks/>
              </p:cNvSpPr>
              <p:nvPr/>
            </p:nvSpPr>
            <p:spPr bwMode="auto">
              <a:xfrm>
                <a:off x="6301" y="2961"/>
                <a:ext cx="3" cy="6"/>
              </a:xfrm>
              <a:custGeom>
                <a:avLst/>
                <a:gdLst>
                  <a:gd name="T0" fmla="*/ 1 w 2"/>
                  <a:gd name="T1" fmla="*/ 3 h 5"/>
                  <a:gd name="T2" fmla="*/ 1 w 2"/>
                  <a:gd name="T3" fmla="*/ 2 h 5"/>
                  <a:gd name="T4" fmla="*/ 1 w 2"/>
                  <a:gd name="T5" fmla="*/ 3 h 5"/>
                </a:gdLst>
                <a:ahLst/>
                <a:cxnLst>
                  <a:cxn ang="0">
                    <a:pos x="T0" y="T1"/>
                  </a:cxn>
                  <a:cxn ang="0">
                    <a:pos x="T2" y="T3"/>
                  </a:cxn>
                  <a:cxn ang="0">
                    <a:pos x="T4" y="T5"/>
                  </a:cxn>
                </a:cxnLst>
                <a:rect l="0" t="0" r="r" b="b"/>
                <a:pathLst>
                  <a:path w="2" h="5">
                    <a:moveTo>
                      <a:pt x="1" y="3"/>
                    </a:moveTo>
                    <a:cubicBezTo>
                      <a:pt x="2" y="0"/>
                      <a:pt x="0" y="1"/>
                      <a:pt x="1" y="2"/>
                    </a:cubicBezTo>
                    <a:cubicBezTo>
                      <a:pt x="1" y="2"/>
                      <a:pt x="0" y="5"/>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23" name="Freeform 532">
                <a:extLst>
                  <a:ext uri="{FF2B5EF4-FFF2-40B4-BE49-F238E27FC236}">
                    <a16:creationId xmlns:a16="http://schemas.microsoft.com/office/drawing/2014/main" id="{584D0652-9D1A-4798-93BD-B4E8D1B1535E}"/>
                  </a:ext>
                </a:extLst>
              </p:cNvPr>
              <p:cNvSpPr>
                <a:spLocks/>
              </p:cNvSpPr>
              <p:nvPr/>
            </p:nvSpPr>
            <p:spPr bwMode="auto">
              <a:xfrm>
                <a:off x="6300" y="2955"/>
                <a:ext cx="1" cy="4"/>
              </a:xfrm>
              <a:custGeom>
                <a:avLst/>
                <a:gdLst>
                  <a:gd name="T0" fmla="*/ 0 w 1"/>
                  <a:gd name="T1" fmla="*/ 1 h 3"/>
                  <a:gd name="T2" fmla="*/ 1 w 1"/>
                  <a:gd name="T3" fmla="*/ 3 h 3"/>
                  <a:gd name="T4" fmla="*/ 0 w 1"/>
                  <a:gd name="T5" fmla="*/ 1 h 3"/>
                </a:gdLst>
                <a:ahLst/>
                <a:cxnLst>
                  <a:cxn ang="0">
                    <a:pos x="T0" y="T1"/>
                  </a:cxn>
                  <a:cxn ang="0">
                    <a:pos x="T2" y="T3"/>
                  </a:cxn>
                  <a:cxn ang="0">
                    <a:pos x="T4" y="T5"/>
                  </a:cxn>
                </a:cxnLst>
                <a:rect l="0" t="0" r="r" b="b"/>
                <a:pathLst>
                  <a:path w="1" h="3">
                    <a:moveTo>
                      <a:pt x="0" y="1"/>
                    </a:moveTo>
                    <a:cubicBezTo>
                      <a:pt x="0" y="2"/>
                      <a:pt x="0" y="2"/>
                      <a:pt x="1" y="3"/>
                    </a:cubicBezTo>
                    <a:cubicBezTo>
                      <a:pt x="1" y="3"/>
                      <a:pt x="0"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24" name="Freeform 533">
                <a:extLst>
                  <a:ext uri="{FF2B5EF4-FFF2-40B4-BE49-F238E27FC236}">
                    <a16:creationId xmlns:a16="http://schemas.microsoft.com/office/drawing/2014/main" id="{B956E0F3-F266-46A4-94B6-7B3A8B9519BC}"/>
                  </a:ext>
                </a:extLst>
              </p:cNvPr>
              <p:cNvSpPr>
                <a:spLocks/>
              </p:cNvSpPr>
              <p:nvPr/>
            </p:nvSpPr>
            <p:spPr bwMode="auto">
              <a:xfrm>
                <a:off x="6301" y="2917"/>
                <a:ext cx="7" cy="4"/>
              </a:xfrm>
              <a:custGeom>
                <a:avLst/>
                <a:gdLst>
                  <a:gd name="T0" fmla="*/ 4 w 5"/>
                  <a:gd name="T1" fmla="*/ 1 h 3"/>
                  <a:gd name="T2" fmla="*/ 0 w 5"/>
                  <a:gd name="T3" fmla="*/ 3 h 3"/>
                  <a:gd name="T4" fmla="*/ 4 w 5"/>
                  <a:gd name="T5" fmla="*/ 1 h 3"/>
                </a:gdLst>
                <a:ahLst/>
                <a:cxnLst>
                  <a:cxn ang="0">
                    <a:pos x="T0" y="T1"/>
                  </a:cxn>
                  <a:cxn ang="0">
                    <a:pos x="T2" y="T3"/>
                  </a:cxn>
                  <a:cxn ang="0">
                    <a:pos x="T4" y="T5"/>
                  </a:cxn>
                </a:cxnLst>
                <a:rect l="0" t="0" r="r" b="b"/>
                <a:pathLst>
                  <a:path w="5" h="3">
                    <a:moveTo>
                      <a:pt x="4" y="1"/>
                    </a:moveTo>
                    <a:cubicBezTo>
                      <a:pt x="5" y="0"/>
                      <a:pt x="2" y="1"/>
                      <a:pt x="0" y="3"/>
                    </a:cubicBezTo>
                    <a:cubicBezTo>
                      <a:pt x="0" y="3"/>
                      <a:pt x="3" y="2"/>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25" name="Freeform 534">
                <a:extLst>
                  <a:ext uri="{FF2B5EF4-FFF2-40B4-BE49-F238E27FC236}">
                    <a16:creationId xmlns:a16="http://schemas.microsoft.com/office/drawing/2014/main" id="{79F7D0EF-BF93-4A1C-AED5-7EAFA7EAF5C3}"/>
                  </a:ext>
                </a:extLst>
              </p:cNvPr>
              <p:cNvSpPr>
                <a:spLocks/>
              </p:cNvSpPr>
              <p:nvPr/>
            </p:nvSpPr>
            <p:spPr bwMode="auto">
              <a:xfrm>
                <a:off x="6309" y="2908"/>
                <a:ext cx="4" cy="7"/>
              </a:xfrm>
              <a:custGeom>
                <a:avLst/>
                <a:gdLst>
                  <a:gd name="T0" fmla="*/ 3 w 3"/>
                  <a:gd name="T1" fmla="*/ 0 h 5"/>
                  <a:gd name="T2" fmla="*/ 0 w 3"/>
                  <a:gd name="T3" fmla="*/ 5 h 5"/>
                  <a:gd name="T4" fmla="*/ 3 w 3"/>
                  <a:gd name="T5" fmla="*/ 0 h 5"/>
                </a:gdLst>
                <a:ahLst/>
                <a:cxnLst>
                  <a:cxn ang="0">
                    <a:pos x="T0" y="T1"/>
                  </a:cxn>
                  <a:cxn ang="0">
                    <a:pos x="T2" y="T3"/>
                  </a:cxn>
                  <a:cxn ang="0">
                    <a:pos x="T4" y="T5"/>
                  </a:cxn>
                </a:cxnLst>
                <a:rect l="0" t="0" r="r" b="b"/>
                <a:pathLst>
                  <a:path w="3" h="5">
                    <a:moveTo>
                      <a:pt x="3" y="0"/>
                    </a:moveTo>
                    <a:cubicBezTo>
                      <a:pt x="3" y="0"/>
                      <a:pt x="1" y="2"/>
                      <a:pt x="0" y="5"/>
                    </a:cubicBezTo>
                    <a:cubicBezTo>
                      <a:pt x="0" y="5"/>
                      <a:pt x="3" y="2"/>
                      <a:pt x="3"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26" name="Freeform 535">
                <a:extLst>
                  <a:ext uri="{FF2B5EF4-FFF2-40B4-BE49-F238E27FC236}">
                    <a16:creationId xmlns:a16="http://schemas.microsoft.com/office/drawing/2014/main" id="{A156D71D-9D6F-49D8-BFDD-265CCEBCBE1B}"/>
                  </a:ext>
                </a:extLst>
              </p:cNvPr>
              <p:cNvSpPr>
                <a:spLocks/>
              </p:cNvSpPr>
              <p:nvPr/>
            </p:nvSpPr>
            <p:spPr bwMode="auto">
              <a:xfrm>
                <a:off x="6362" y="3020"/>
                <a:ext cx="12" cy="6"/>
              </a:xfrm>
              <a:custGeom>
                <a:avLst/>
                <a:gdLst>
                  <a:gd name="T0" fmla="*/ 7 w 9"/>
                  <a:gd name="T1" fmla="*/ 1 h 5"/>
                  <a:gd name="T2" fmla="*/ 8 w 9"/>
                  <a:gd name="T3" fmla="*/ 2 h 5"/>
                  <a:gd name="T4" fmla="*/ 7 w 9"/>
                  <a:gd name="T5" fmla="*/ 0 h 5"/>
                  <a:gd name="T6" fmla="*/ 5 w 9"/>
                  <a:gd name="T7" fmla="*/ 0 h 5"/>
                  <a:gd name="T8" fmla="*/ 1 w 9"/>
                  <a:gd name="T9" fmla="*/ 2 h 5"/>
                  <a:gd name="T10" fmla="*/ 2 w 9"/>
                  <a:gd name="T11" fmla="*/ 4 h 5"/>
                  <a:gd name="T12" fmla="*/ 5 w 9"/>
                  <a:gd name="T13" fmla="*/ 2 h 5"/>
                  <a:gd name="T14" fmla="*/ 7 w 9"/>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7" y="1"/>
                    </a:moveTo>
                    <a:cubicBezTo>
                      <a:pt x="7" y="2"/>
                      <a:pt x="8" y="2"/>
                      <a:pt x="8" y="2"/>
                    </a:cubicBezTo>
                    <a:cubicBezTo>
                      <a:pt x="9" y="1"/>
                      <a:pt x="9" y="0"/>
                      <a:pt x="7" y="0"/>
                    </a:cubicBezTo>
                    <a:cubicBezTo>
                      <a:pt x="6" y="0"/>
                      <a:pt x="5" y="0"/>
                      <a:pt x="5" y="0"/>
                    </a:cubicBezTo>
                    <a:cubicBezTo>
                      <a:pt x="5" y="0"/>
                      <a:pt x="2" y="1"/>
                      <a:pt x="1" y="2"/>
                    </a:cubicBezTo>
                    <a:cubicBezTo>
                      <a:pt x="0" y="4"/>
                      <a:pt x="0" y="5"/>
                      <a:pt x="2" y="4"/>
                    </a:cubicBezTo>
                    <a:cubicBezTo>
                      <a:pt x="5" y="3"/>
                      <a:pt x="4" y="3"/>
                      <a:pt x="5" y="2"/>
                    </a:cubicBezTo>
                    <a:cubicBezTo>
                      <a:pt x="6" y="1"/>
                      <a:pt x="6" y="1"/>
                      <a:pt x="7"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27" name="Freeform 536">
                <a:extLst>
                  <a:ext uri="{FF2B5EF4-FFF2-40B4-BE49-F238E27FC236}">
                    <a16:creationId xmlns:a16="http://schemas.microsoft.com/office/drawing/2014/main" id="{AEFBE9FF-FB31-402E-96B0-C300F6B5A9D3}"/>
                  </a:ext>
                </a:extLst>
              </p:cNvPr>
              <p:cNvSpPr>
                <a:spLocks/>
              </p:cNvSpPr>
              <p:nvPr/>
            </p:nvSpPr>
            <p:spPr bwMode="auto">
              <a:xfrm>
                <a:off x="6367" y="3032"/>
                <a:ext cx="3" cy="3"/>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2" y="1"/>
                      <a:pt x="2" y="0"/>
                      <a:pt x="1" y="0"/>
                    </a:cubicBezTo>
                    <a:cubicBezTo>
                      <a:pt x="1" y="0"/>
                      <a:pt x="0"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28" name="Freeform 537">
                <a:extLst>
                  <a:ext uri="{FF2B5EF4-FFF2-40B4-BE49-F238E27FC236}">
                    <a16:creationId xmlns:a16="http://schemas.microsoft.com/office/drawing/2014/main" id="{6D86D45C-291C-436D-B4EA-70E7416FA0D9}"/>
                  </a:ext>
                </a:extLst>
              </p:cNvPr>
              <p:cNvSpPr>
                <a:spLocks/>
              </p:cNvSpPr>
              <p:nvPr/>
            </p:nvSpPr>
            <p:spPr bwMode="auto">
              <a:xfrm>
                <a:off x="6423" y="2886"/>
                <a:ext cx="2" cy="5"/>
              </a:xfrm>
              <a:custGeom>
                <a:avLst/>
                <a:gdLst>
                  <a:gd name="T0" fmla="*/ 1 w 2"/>
                  <a:gd name="T1" fmla="*/ 3 h 3"/>
                  <a:gd name="T2" fmla="*/ 1 w 2"/>
                  <a:gd name="T3" fmla="*/ 1 h 3"/>
                  <a:gd name="T4" fmla="*/ 1 w 2"/>
                  <a:gd name="T5" fmla="*/ 3 h 3"/>
                </a:gdLst>
                <a:ahLst/>
                <a:cxnLst>
                  <a:cxn ang="0">
                    <a:pos x="T0" y="T1"/>
                  </a:cxn>
                  <a:cxn ang="0">
                    <a:pos x="T2" y="T3"/>
                  </a:cxn>
                  <a:cxn ang="0">
                    <a:pos x="T4" y="T5"/>
                  </a:cxn>
                </a:cxnLst>
                <a:rect l="0" t="0" r="r" b="b"/>
                <a:pathLst>
                  <a:path w="2" h="3">
                    <a:moveTo>
                      <a:pt x="1" y="3"/>
                    </a:moveTo>
                    <a:cubicBezTo>
                      <a:pt x="1" y="3"/>
                      <a:pt x="2" y="0"/>
                      <a:pt x="1" y="1"/>
                    </a:cubicBezTo>
                    <a:cubicBezTo>
                      <a:pt x="0" y="1"/>
                      <a:pt x="1" y="2"/>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29" name="Freeform 538">
                <a:extLst>
                  <a:ext uri="{FF2B5EF4-FFF2-40B4-BE49-F238E27FC236}">
                    <a16:creationId xmlns:a16="http://schemas.microsoft.com/office/drawing/2014/main" id="{688CFAD2-60BF-4B24-A073-6C080843AF86}"/>
                  </a:ext>
                </a:extLst>
              </p:cNvPr>
              <p:cNvSpPr>
                <a:spLocks/>
              </p:cNvSpPr>
              <p:nvPr/>
            </p:nvSpPr>
            <p:spPr bwMode="auto">
              <a:xfrm>
                <a:off x="6424" y="2899"/>
                <a:ext cx="3" cy="4"/>
              </a:xfrm>
              <a:custGeom>
                <a:avLst/>
                <a:gdLst>
                  <a:gd name="T0" fmla="*/ 1 w 2"/>
                  <a:gd name="T1" fmla="*/ 1 h 3"/>
                  <a:gd name="T2" fmla="*/ 1 w 2"/>
                  <a:gd name="T3" fmla="*/ 2 h 3"/>
                  <a:gd name="T4" fmla="*/ 1 w 2"/>
                  <a:gd name="T5" fmla="*/ 1 h 3"/>
                </a:gdLst>
                <a:ahLst/>
                <a:cxnLst>
                  <a:cxn ang="0">
                    <a:pos x="T0" y="T1"/>
                  </a:cxn>
                  <a:cxn ang="0">
                    <a:pos x="T2" y="T3"/>
                  </a:cxn>
                  <a:cxn ang="0">
                    <a:pos x="T4" y="T5"/>
                  </a:cxn>
                </a:cxnLst>
                <a:rect l="0" t="0" r="r" b="b"/>
                <a:pathLst>
                  <a:path w="2" h="3">
                    <a:moveTo>
                      <a:pt x="1" y="1"/>
                    </a:moveTo>
                    <a:cubicBezTo>
                      <a:pt x="1" y="1"/>
                      <a:pt x="0" y="3"/>
                      <a:pt x="1" y="2"/>
                    </a:cubicBezTo>
                    <a:cubicBezTo>
                      <a:pt x="2" y="1"/>
                      <a:pt x="1"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30" name="Freeform 539">
                <a:extLst>
                  <a:ext uri="{FF2B5EF4-FFF2-40B4-BE49-F238E27FC236}">
                    <a16:creationId xmlns:a16="http://schemas.microsoft.com/office/drawing/2014/main" id="{8A7563FD-AF35-4AE1-A679-BDB87CB0B1F3}"/>
                  </a:ext>
                </a:extLst>
              </p:cNvPr>
              <p:cNvSpPr>
                <a:spLocks/>
              </p:cNvSpPr>
              <p:nvPr/>
            </p:nvSpPr>
            <p:spPr bwMode="auto">
              <a:xfrm>
                <a:off x="6425" y="2889"/>
                <a:ext cx="3" cy="3"/>
              </a:xfrm>
              <a:custGeom>
                <a:avLst/>
                <a:gdLst>
                  <a:gd name="T0" fmla="*/ 1 w 2"/>
                  <a:gd name="T1" fmla="*/ 0 h 2"/>
                  <a:gd name="T2" fmla="*/ 0 w 2"/>
                  <a:gd name="T3" fmla="*/ 2 h 2"/>
                  <a:gd name="T4" fmla="*/ 1 w 2"/>
                  <a:gd name="T5" fmla="*/ 0 h 2"/>
                </a:gdLst>
                <a:ahLst/>
                <a:cxnLst>
                  <a:cxn ang="0">
                    <a:pos x="T0" y="T1"/>
                  </a:cxn>
                  <a:cxn ang="0">
                    <a:pos x="T2" y="T3"/>
                  </a:cxn>
                  <a:cxn ang="0">
                    <a:pos x="T4" y="T5"/>
                  </a:cxn>
                </a:cxnLst>
                <a:rect l="0" t="0" r="r" b="b"/>
                <a:pathLst>
                  <a:path w="2" h="2">
                    <a:moveTo>
                      <a:pt x="1" y="0"/>
                    </a:moveTo>
                    <a:cubicBezTo>
                      <a:pt x="0" y="0"/>
                      <a:pt x="0" y="1"/>
                      <a:pt x="0" y="2"/>
                    </a:cubicBezTo>
                    <a:cubicBezTo>
                      <a:pt x="0" y="2"/>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31" name="Freeform 540">
                <a:extLst>
                  <a:ext uri="{FF2B5EF4-FFF2-40B4-BE49-F238E27FC236}">
                    <a16:creationId xmlns:a16="http://schemas.microsoft.com/office/drawing/2014/main" id="{E7E2F920-5BF2-4D05-8295-B52851220DA3}"/>
                  </a:ext>
                </a:extLst>
              </p:cNvPr>
              <p:cNvSpPr>
                <a:spLocks/>
              </p:cNvSpPr>
              <p:nvPr/>
            </p:nvSpPr>
            <p:spPr bwMode="auto">
              <a:xfrm>
                <a:off x="6506" y="3058"/>
                <a:ext cx="4" cy="4"/>
              </a:xfrm>
              <a:custGeom>
                <a:avLst/>
                <a:gdLst>
                  <a:gd name="T0" fmla="*/ 2 w 3"/>
                  <a:gd name="T1" fmla="*/ 0 h 3"/>
                  <a:gd name="T2" fmla="*/ 0 w 3"/>
                  <a:gd name="T3" fmla="*/ 1 h 3"/>
                  <a:gd name="T4" fmla="*/ 2 w 3"/>
                  <a:gd name="T5" fmla="*/ 3 h 3"/>
                  <a:gd name="T6" fmla="*/ 2 w 3"/>
                  <a:gd name="T7" fmla="*/ 2 h 3"/>
                  <a:gd name="T8" fmla="*/ 2 w 3"/>
                  <a:gd name="T9" fmla="*/ 0 h 3"/>
                </a:gdLst>
                <a:ahLst/>
                <a:cxnLst>
                  <a:cxn ang="0">
                    <a:pos x="T0" y="T1"/>
                  </a:cxn>
                  <a:cxn ang="0">
                    <a:pos x="T2" y="T3"/>
                  </a:cxn>
                  <a:cxn ang="0">
                    <a:pos x="T4" y="T5"/>
                  </a:cxn>
                  <a:cxn ang="0">
                    <a:pos x="T6" y="T7"/>
                  </a:cxn>
                  <a:cxn ang="0">
                    <a:pos x="T8" y="T9"/>
                  </a:cxn>
                </a:cxnLst>
                <a:rect l="0" t="0" r="r" b="b"/>
                <a:pathLst>
                  <a:path w="3" h="3">
                    <a:moveTo>
                      <a:pt x="2" y="0"/>
                    </a:moveTo>
                    <a:cubicBezTo>
                      <a:pt x="1" y="0"/>
                      <a:pt x="0" y="0"/>
                      <a:pt x="0" y="1"/>
                    </a:cubicBezTo>
                    <a:cubicBezTo>
                      <a:pt x="0" y="1"/>
                      <a:pt x="1" y="2"/>
                      <a:pt x="2" y="3"/>
                    </a:cubicBezTo>
                    <a:cubicBezTo>
                      <a:pt x="3" y="3"/>
                      <a:pt x="3" y="3"/>
                      <a:pt x="2" y="2"/>
                    </a:cubicBezTo>
                    <a:cubicBezTo>
                      <a:pt x="2" y="0"/>
                      <a:pt x="3"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32" name="Freeform 541">
                <a:extLst>
                  <a:ext uri="{FF2B5EF4-FFF2-40B4-BE49-F238E27FC236}">
                    <a16:creationId xmlns:a16="http://schemas.microsoft.com/office/drawing/2014/main" id="{19822B41-8EC9-40CC-B73A-2C271149D0D8}"/>
                  </a:ext>
                </a:extLst>
              </p:cNvPr>
              <p:cNvSpPr>
                <a:spLocks/>
              </p:cNvSpPr>
              <p:nvPr/>
            </p:nvSpPr>
            <p:spPr bwMode="auto">
              <a:xfrm>
                <a:off x="6562" y="3099"/>
                <a:ext cx="3" cy="3"/>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2" y="1"/>
                      <a:pt x="2" y="0"/>
                      <a:pt x="1" y="0"/>
                    </a:cubicBezTo>
                    <a:cubicBezTo>
                      <a:pt x="1" y="0"/>
                      <a:pt x="0"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33" name="Freeform 542">
                <a:extLst>
                  <a:ext uri="{FF2B5EF4-FFF2-40B4-BE49-F238E27FC236}">
                    <a16:creationId xmlns:a16="http://schemas.microsoft.com/office/drawing/2014/main" id="{6E306862-5ADB-4665-9C60-C4A38B02273B}"/>
                  </a:ext>
                </a:extLst>
              </p:cNvPr>
              <p:cNvSpPr>
                <a:spLocks/>
              </p:cNvSpPr>
              <p:nvPr/>
            </p:nvSpPr>
            <p:spPr bwMode="auto">
              <a:xfrm>
                <a:off x="6605" y="3168"/>
                <a:ext cx="6" cy="8"/>
              </a:xfrm>
              <a:custGeom>
                <a:avLst/>
                <a:gdLst>
                  <a:gd name="T0" fmla="*/ 2 w 4"/>
                  <a:gd name="T1" fmla="*/ 1 h 6"/>
                  <a:gd name="T2" fmla="*/ 2 w 4"/>
                  <a:gd name="T3" fmla="*/ 3 h 6"/>
                  <a:gd name="T4" fmla="*/ 4 w 4"/>
                  <a:gd name="T5" fmla="*/ 4 h 6"/>
                  <a:gd name="T6" fmla="*/ 2 w 4"/>
                  <a:gd name="T7" fmla="*/ 1 h 6"/>
                </a:gdLst>
                <a:ahLst/>
                <a:cxnLst>
                  <a:cxn ang="0">
                    <a:pos x="T0" y="T1"/>
                  </a:cxn>
                  <a:cxn ang="0">
                    <a:pos x="T2" y="T3"/>
                  </a:cxn>
                  <a:cxn ang="0">
                    <a:pos x="T4" y="T5"/>
                  </a:cxn>
                  <a:cxn ang="0">
                    <a:pos x="T6" y="T7"/>
                  </a:cxn>
                </a:cxnLst>
                <a:rect l="0" t="0" r="r" b="b"/>
                <a:pathLst>
                  <a:path w="4" h="6">
                    <a:moveTo>
                      <a:pt x="2" y="1"/>
                    </a:moveTo>
                    <a:cubicBezTo>
                      <a:pt x="0" y="0"/>
                      <a:pt x="2" y="3"/>
                      <a:pt x="2" y="3"/>
                    </a:cubicBezTo>
                    <a:cubicBezTo>
                      <a:pt x="3" y="6"/>
                      <a:pt x="4" y="5"/>
                      <a:pt x="4" y="4"/>
                    </a:cubicBezTo>
                    <a:cubicBezTo>
                      <a:pt x="4" y="3"/>
                      <a:pt x="3" y="2"/>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34" name="Freeform 543">
                <a:extLst>
                  <a:ext uri="{FF2B5EF4-FFF2-40B4-BE49-F238E27FC236}">
                    <a16:creationId xmlns:a16="http://schemas.microsoft.com/office/drawing/2014/main" id="{E6782649-D882-44A1-BDCF-778BE472C6DE}"/>
                  </a:ext>
                </a:extLst>
              </p:cNvPr>
              <p:cNvSpPr>
                <a:spLocks/>
              </p:cNvSpPr>
              <p:nvPr/>
            </p:nvSpPr>
            <p:spPr bwMode="auto">
              <a:xfrm>
                <a:off x="6645" y="3195"/>
                <a:ext cx="10" cy="25"/>
              </a:xfrm>
              <a:custGeom>
                <a:avLst/>
                <a:gdLst>
                  <a:gd name="T0" fmla="*/ 2 w 7"/>
                  <a:gd name="T1" fmla="*/ 7 h 18"/>
                  <a:gd name="T2" fmla="*/ 2 w 7"/>
                  <a:gd name="T3" fmla="*/ 9 h 18"/>
                  <a:gd name="T4" fmla="*/ 1 w 7"/>
                  <a:gd name="T5" fmla="*/ 13 h 18"/>
                  <a:gd name="T6" fmla="*/ 1 w 7"/>
                  <a:gd name="T7" fmla="*/ 17 h 18"/>
                  <a:gd name="T8" fmla="*/ 2 w 7"/>
                  <a:gd name="T9" fmla="*/ 16 h 18"/>
                  <a:gd name="T10" fmla="*/ 6 w 7"/>
                  <a:gd name="T11" fmla="*/ 7 h 18"/>
                  <a:gd name="T12" fmla="*/ 5 w 7"/>
                  <a:gd name="T13" fmla="*/ 1 h 18"/>
                  <a:gd name="T14" fmla="*/ 4 w 7"/>
                  <a:gd name="T15" fmla="*/ 1 h 18"/>
                  <a:gd name="T16" fmla="*/ 3 w 7"/>
                  <a:gd name="T17" fmla="*/ 2 h 18"/>
                  <a:gd name="T18" fmla="*/ 2 w 7"/>
                  <a:gd name="T19" fmla="*/ 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18">
                    <a:moveTo>
                      <a:pt x="2" y="7"/>
                    </a:moveTo>
                    <a:cubicBezTo>
                      <a:pt x="1" y="8"/>
                      <a:pt x="1" y="8"/>
                      <a:pt x="2" y="9"/>
                    </a:cubicBezTo>
                    <a:cubicBezTo>
                      <a:pt x="2" y="9"/>
                      <a:pt x="1" y="11"/>
                      <a:pt x="1" y="13"/>
                    </a:cubicBezTo>
                    <a:cubicBezTo>
                      <a:pt x="0" y="14"/>
                      <a:pt x="0" y="15"/>
                      <a:pt x="1" y="17"/>
                    </a:cubicBezTo>
                    <a:cubicBezTo>
                      <a:pt x="2" y="18"/>
                      <a:pt x="2" y="17"/>
                      <a:pt x="2" y="16"/>
                    </a:cubicBezTo>
                    <a:cubicBezTo>
                      <a:pt x="3" y="15"/>
                      <a:pt x="5" y="9"/>
                      <a:pt x="6" y="7"/>
                    </a:cubicBezTo>
                    <a:cubicBezTo>
                      <a:pt x="7" y="5"/>
                      <a:pt x="5" y="3"/>
                      <a:pt x="5" y="1"/>
                    </a:cubicBezTo>
                    <a:cubicBezTo>
                      <a:pt x="5" y="0"/>
                      <a:pt x="4" y="1"/>
                      <a:pt x="4" y="1"/>
                    </a:cubicBezTo>
                    <a:cubicBezTo>
                      <a:pt x="3" y="2"/>
                      <a:pt x="3" y="2"/>
                      <a:pt x="3" y="2"/>
                    </a:cubicBezTo>
                    <a:cubicBezTo>
                      <a:pt x="5" y="5"/>
                      <a:pt x="3" y="6"/>
                      <a:pt x="2"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35" name="Freeform 544">
                <a:extLst>
                  <a:ext uri="{FF2B5EF4-FFF2-40B4-BE49-F238E27FC236}">
                    <a16:creationId xmlns:a16="http://schemas.microsoft.com/office/drawing/2014/main" id="{B9C8BDA0-66ED-4A08-956E-DBD43681A6A1}"/>
                  </a:ext>
                </a:extLst>
              </p:cNvPr>
              <p:cNvSpPr>
                <a:spLocks/>
              </p:cNvSpPr>
              <p:nvPr/>
            </p:nvSpPr>
            <p:spPr bwMode="auto">
              <a:xfrm>
                <a:off x="6655" y="3253"/>
                <a:ext cx="3" cy="11"/>
              </a:xfrm>
              <a:custGeom>
                <a:avLst/>
                <a:gdLst>
                  <a:gd name="T0" fmla="*/ 1 w 2"/>
                  <a:gd name="T1" fmla="*/ 4 h 8"/>
                  <a:gd name="T2" fmla="*/ 1 w 2"/>
                  <a:gd name="T3" fmla="*/ 1 h 8"/>
                  <a:gd name="T4" fmla="*/ 0 w 2"/>
                  <a:gd name="T5" fmla="*/ 3 h 8"/>
                  <a:gd name="T6" fmla="*/ 1 w 2"/>
                  <a:gd name="T7" fmla="*/ 4 h 8"/>
                </a:gdLst>
                <a:ahLst/>
                <a:cxnLst>
                  <a:cxn ang="0">
                    <a:pos x="T0" y="T1"/>
                  </a:cxn>
                  <a:cxn ang="0">
                    <a:pos x="T2" y="T3"/>
                  </a:cxn>
                  <a:cxn ang="0">
                    <a:pos x="T4" y="T5"/>
                  </a:cxn>
                  <a:cxn ang="0">
                    <a:pos x="T6" y="T7"/>
                  </a:cxn>
                </a:cxnLst>
                <a:rect l="0" t="0" r="r" b="b"/>
                <a:pathLst>
                  <a:path w="2" h="8">
                    <a:moveTo>
                      <a:pt x="1" y="4"/>
                    </a:moveTo>
                    <a:cubicBezTo>
                      <a:pt x="2" y="0"/>
                      <a:pt x="1" y="1"/>
                      <a:pt x="1" y="1"/>
                    </a:cubicBezTo>
                    <a:cubicBezTo>
                      <a:pt x="1" y="1"/>
                      <a:pt x="0" y="1"/>
                      <a:pt x="0" y="3"/>
                    </a:cubicBezTo>
                    <a:cubicBezTo>
                      <a:pt x="0" y="3"/>
                      <a:pt x="0" y="8"/>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36" name="Freeform 545">
                <a:extLst>
                  <a:ext uri="{FF2B5EF4-FFF2-40B4-BE49-F238E27FC236}">
                    <a16:creationId xmlns:a16="http://schemas.microsoft.com/office/drawing/2014/main" id="{D40E7470-7D0E-49E8-BDE1-54661749DE15}"/>
                  </a:ext>
                </a:extLst>
              </p:cNvPr>
              <p:cNvSpPr>
                <a:spLocks/>
              </p:cNvSpPr>
              <p:nvPr/>
            </p:nvSpPr>
            <p:spPr bwMode="auto">
              <a:xfrm>
                <a:off x="6308" y="3438"/>
                <a:ext cx="34" cy="13"/>
              </a:xfrm>
              <a:custGeom>
                <a:avLst/>
                <a:gdLst>
                  <a:gd name="T0" fmla="*/ 21 w 25"/>
                  <a:gd name="T1" fmla="*/ 4 h 9"/>
                  <a:gd name="T2" fmla="*/ 19 w 25"/>
                  <a:gd name="T3" fmla="*/ 4 h 9"/>
                  <a:gd name="T4" fmla="*/ 18 w 25"/>
                  <a:gd name="T5" fmla="*/ 3 h 9"/>
                  <a:gd name="T6" fmla="*/ 16 w 25"/>
                  <a:gd name="T7" fmla="*/ 1 h 9"/>
                  <a:gd name="T8" fmla="*/ 10 w 25"/>
                  <a:gd name="T9" fmla="*/ 2 h 9"/>
                  <a:gd name="T10" fmla="*/ 3 w 25"/>
                  <a:gd name="T11" fmla="*/ 3 h 9"/>
                  <a:gd name="T12" fmla="*/ 1 w 25"/>
                  <a:gd name="T13" fmla="*/ 6 h 9"/>
                  <a:gd name="T14" fmla="*/ 3 w 25"/>
                  <a:gd name="T15" fmla="*/ 8 h 9"/>
                  <a:gd name="T16" fmla="*/ 6 w 25"/>
                  <a:gd name="T17" fmla="*/ 8 h 9"/>
                  <a:gd name="T18" fmla="*/ 10 w 25"/>
                  <a:gd name="T19" fmla="*/ 8 h 9"/>
                  <a:gd name="T20" fmla="*/ 13 w 25"/>
                  <a:gd name="T21" fmla="*/ 8 h 9"/>
                  <a:gd name="T22" fmla="*/ 17 w 25"/>
                  <a:gd name="T23" fmla="*/ 6 h 9"/>
                  <a:gd name="T24" fmla="*/ 23 w 25"/>
                  <a:gd name="T25" fmla="*/ 5 h 9"/>
                  <a:gd name="T26" fmla="*/ 23 w 25"/>
                  <a:gd name="T27" fmla="*/ 4 h 9"/>
                  <a:gd name="T28" fmla="*/ 21 w 25"/>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 h="9">
                    <a:moveTo>
                      <a:pt x="21" y="4"/>
                    </a:moveTo>
                    <a:cubicBezTo>
                      <a:pt x="20" y="5"/>
                      <a:pt x="19" y="4"/>
                      <a:pt x="19" y="4"/>
                    </a:cubicBezTo>
                    <a:cubicBezTo>
                      <a:pt x="19" y="4"/>
                      <a:pt x="19" y="3"/>
                      <a:pt x="18" y="3"/>
                    </a:cubicBezTo>
                    <a:cubicBezTo>
                      <a:pt x="17" y="3"/>
                      <a:pt x="17" y="2"/>
                      <a:pt x="16" y="1"/>
                    </a:cubicBezTo>
                    <a:cubicBezTo>
                      <a:pt x="15" y="0"/>
                      <a:pt x="11" y="1"/>
                      <a:pt x="10" y="2"/>
                    </a:cubicBezTo>
                    <a:cubicBezTo>
                      <a:pt x="9" y="2"/>
                      <a:pt x="7" y="3"/>
                      <a:pt x="3" y="3"/>
                    </a:cubicBezTo>
                    <a:cubicBezTo>
                      <a:pt x="0" y="3"/>
                      <a:pt x="1" y="6"/>
                      <a:pt x="1" y="6"/>
                    </a:cubicBezTo>
                    <a:cubicBezTo>
                      <a:pt x="1" y="7"/>
                      <a:pt x="2" y="8"/>
                      <a:pt x="3" y="8"/>
                    </a:cubicBezTo>
                    <a:cubicBezTo>
                      <a:pt x="3" y="9"/>
                      <a:pt x="5" y="8"/>
                      <a:pt x="6" y="8"/>
                    </a:cubicBezTo>
                    <a:cubicBezTo>
                      <a:pt x="7" y="8"/>
                      <a:pt x="9" y="8"/>
                      <a:pt x="10" y="8"/>
                    </a:cubicBezTo>
                    <a:cubicBezTo>
                      <a:pt x="11" y="8"/>
                      <a:pt x="12" y="7"/>
                      <a:pt x="13" y="8"/>
                    </a:cubicBezTo>
                    <a:cubicBezTo>
                      <a:pt x="14" y="9"/>
                      <a:pt x="15" y="8"/>
                      <a:pt x="17" y="6"/>
                    </a:cubicBezTo>
                    <a:cubicBezTo>
                      <a:pt x="19" y="5"/>
                      <a:pt x="21" y="5"/>
                      <a:pt x="23" y="5"/>
                    </a:cubicBezTo>
                    <a:cubicBezTo>
                      <a:pt x="25" y="5"/>
                      <a:pt x="24" y="5"/>
                      <a:pt x="23" y="4"/>
                    </a:cubicBezTo>
                    <a:cubicBezTo>
                      <a:pt x="22" y="3"/>
                      <a:pt x="22" y="3"/>
                      <a:pt x="2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37" name="Freeform 546">
                <a:extLst>
                  <a:ext uri="{FF2B5EF4-FFF2-40B4-BE49-F238E27FC236}">
                    <a16:creationId xmlns:a16="http://schemas.microsoft.com/office/drawing/2014/main" id="{E3FD83BD-E186-4C4C-8505-F4B14CAF7F95}"/>
                  </a:ext>
                </a:extLst>
              </p:cNvPr>
              <p:cNvSpPr>
                <a:spLocks/>
              </p:cNvSpPr>
              <p:nvPr/>
            </p:nvSpPr>
            <p:spPr bwMode="auto">
              <a:xfrm>
                <a:off x="6484" y="3507"/>
                <a:ext cx="6" cy="3"/>
              </a:xfrm>
              <a:custGeom>
                <a:avLst/>
                <a:gdLst>
                  <a:gd name="T0" fmla="*/ 2 w 5"/>
                  <a:gd name="T1" fmla="*/ 1 h 2"/>
                  <a:gd name="T2" fmla="*/ 4 w 5"/>
                  <a:gd name="T3" fmla="*/ 1 h 2"/>
                  <a:gd name="T4" fmla="*/ 2 w 5"/>
                  <a:gd name="T5" fmla="*/ 0 h 2"/>
                  <a:gd name="T6" fmla="*/ 2 w 5"/>
                  <a:gd name="T7" fmla="*/ 1 h 2"/>
                </a:gdLst>
                <a:ahLst/>
                <a:cxnLst>
                  <a:cxn ang="0">
                    <a:pos x="T0" y="T1"/>
                  </a:cxn>
                  <a:cxn ang="0">
                    <a:pos x="T2" y="T3"/>
                  </a:cxn>
                  <a:cxn ang="0">
                    <a:pos x="T4" y="T5"/>
                  </a:cxn>
                  <a:cxn ang="0">
                    <a:pos x="T6" y="T7"/>
                  </a:cxn>
                </a:cxnLst>
                <a:rect l="0" t="0" r="r" b="b"/>
                <a:pathLst>
                  <a:path w="5" h="2">
                    <a:moveTo>
                      <a:pt x="2" y="1"/>
                    </a:moveTo>
                    <a:cubicBezTo>
                      <a:pt x="2" y="2"/>
                      <a:pt x="2" y="2"/>
                      <a:pt x="4" y="1"/>
                    </a:cubicBezTo>
                    <a:cubicBezTo>
                      <a:pt x="5" y="1"/>
                      <a:pt x="4" y="0"/>
                      <a:pt x="2" y="0"/>
                    </a:cubicBezTo>
                    <a:cubicBezTo>
                      <a:pt x="0" y="0"/>
                      <a:pt x="2" y="1"/>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38" name="Freeform 547">
                <a:extLst>
                  <a:ext uri="{FF2B5EF4-FFF2-40B4-BE49-F238E27FC236}">
                    <a16:creationId xmlns:a16="http://schemas.microsoft.com/office/drawing/2014/main" id="{EA9E7543-38FF-4B24-8673-2B47EAF8D8C5}"/>
                  </a:ext>
                </a:extLst>
              </p:cNvPr>
              <p:cNvSpPr>
                <a:spLocks/>
              </p:cNvSpPr>
              <p:nvPr/>
            </p:nvSpPr>
            <p:spPr bwMode="auto">
              <a:xfrm>
                <a:off x="6488" y="3503"/>
                <a:ext cx="4" cy="2"/>
              </a:xfrm>
              <a:custGeom>
                <a:avLst/>
                <a:gdLst>
                  <a:gd name="T0" fmla="*/ 1 w 3"/>
                  <a:gd name="T1" fmla="*/ 0 h 2"/>
                  <a:gd name="T2" fmla="*/ 1 w 3"/>
                  <a:gd name="T3" fmla="*/ 2 h 2"/>
                  <a:gd name="T4" fmla="*/ 1 w 3"/>
                  <a:gd name="T5" fmla="*/ 0 h 2"/>
                </a:gdLst>
                <a:ahLst/>
                <a:cxnLst>
                  <a:cxn ang="0">
                    <a:pos x="T0" y="T1"/>
                  </a:cxn>
                  <a:cxn ang="0">
                    <a:pos x="T2" y="T3"/>
                  </a:cxn>
                  <a:cxn ang="0">
                    <a:pos x="T4" y="T5"/>
                  </a:cxn>
                </a:cxnLst>
                <a:rect l="0" t="0" r="r" b="b"/>
                <a:pathLst>
                  <a:path w="3" h="2">
                    <a:moveTo>
                      <a:pt x="1" y="0"/>
                    </a:moveTo>
                    <a:cubicBezTo>
                      <a:pt x="0" y="0"/>
                      <a:pt x="1" y="2"/>
                      <a:pt x="1" y="2"/>
                    </a:cubicBezTo>
                    <a:cubicBezTo>
                      <a:pt x="2" y="1"/>
                      <a:pt x="3" y="1"/>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39" name="Freeform 548">
                <a:extLst>
                  <a:ext uri="{FF2B5EF4-FFF2-40B4-BE49-F238E27FC236}">
                    <a16:creationId xmlns:a16="http://schemas.microsoft.com/office/drawing/2014/main" id="{A4A0196B-EF80-4FBB-9BF4-F099415D40C5}"/>
                  </a:ext>
                </a:extLst>
              </p:cNvPr>
              <p:cNvSpPr>
                <a:spLocks/>
              </p:cNvSpPr>
              <p:nvPr/>
            </p:nvSpPr>
            <p:spPr bwMode="auto">
              <a:xfrm>
                <a:off x="5824" y="3209"/>
                <a:ext cx="6" cy="19"/>
              </a:xfrm>
              <a:custGeom>
                <a:avLst/>
                <a:gdLst>
                  <a:gd name="T0" fmla="*/ 3 w 5"/>
                  <a:gd name="T1" fmla="*/ 10 h 14"/>
                  <a:gd name="T2" fmla="*/ 0 w 5"/>
                  <a:gd name="T3" fmla="*/ 5 h 14"/>
                  <a:gd name="T4" fmla="*/ 3 w 5"/>
                  <a:gd name="T5" fmla="*/ 12 h 14"/>
                  <a:gd name="T6" fmla="*/ 3 w 5"/>
                  <a:gd name="T7" fmla="*/ 10 h 14"/>
                </a:gdLst>
                <a:ahLst/>
                <a:cxnLst>
                  <a:cxn ang="0">
                    <a:pos x="T0" y="T1"/>
                  </a:cxn>
                  <a:cxn ang="0">
                    <a:pos x="T2" y="T3"/>
                  </a:cxn>
                  <a:cxn ang="0">
                    <a:pos x="T4" y="T5"/>
                  </a:cxn>
                  <a:cxn ang="0">
                    <a:pos x="T6" y="T7"/>
                  </a:cxn>
                </a:cxnLst>
                <a:rect l="0" t="0" r="r" b="b"/>
                <a:pathLst>
                  <a:path w="5" h="14">
                    <a:moveTo>
                      <a:pt x="3" y="10"/>
                    </a:moveTo>
                    <a:cubicBezTo>
                      <a:pt x="1" y="8"/>
                      <a:pt x="0" y="0"/>
                      <a:pt x="0" y="5"/>
                    </a:cubicBezTo>
                    <a:cubicBezTo>
                      <a:pt x="1" y="9"/>
                      <a:pt x="3" y="12"/>
                      <a:pt x="3" y="12"/>
                    </a:cubicBezTo>
                    <a:cubicBezTo>
                      <a:pt x="5" y="14"/>
                      <a:pt x="3" y="10"/>
                      <a:pt x="3"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40" name="Freeform 549">
                <a:extLst>
                  <a:ext uri="{FF2B5EF4-FFF2-40B4-BE49-F238E27FC236}">
                    <a16:creationId xmlns:a16="http://schemas.microsoft.com/office/drawing/2014/main" id="{0FC15BF9-365D-4800-B650-B7AD801AB392}"/>
                  </a:ext>
                </a:extLst>
              </p:cNvPr>
              <p:cNvSpPr>
                <a:spLocks/>
              </p:cNvSpPr>
              <p:nvPr/>
            </p:nvSpPr>
            <p:spPr bwMode="auto">
              <a:xfrm>
                <a:off x="6980" y="3081"/>
                <a:ext cx="6" cy="7"/>
              </a:xfrm>
              <a:custGeom>
                <a:avLst/>
                <a:gdLst>
                  <a:gd name="T0" fmla="*/ 0 w 4"/>
                  <a:gd name="T1" fmla="*/ 1 h 5"/>
                  <a:gd name="T2" fmla="*/ 2 w 4"/>
                  <a:gd name="T3" fmla="*/ 4 h 5"/>
                  <a:gd name="T4" fmla="*/ 3 w 4"/>
                  <a:gd name="T5" fmla="*/ 3 h 5"/>
                  <a:gd name="T6" fmla="*/ 1 w 4"/>
                  <a:gd name="T7" fmla="*/ 1 h 5"/>
                  <a:gd name="T8" fmla="*/ 0 w 4"/>
                  <a:gd name="T9" fmla="*/ 1 h 5"/>
                </a:gdLst>
                <a:ahLst/>
                <a:cxnLst>
                  <a:cxn ang="0">
                    <a:pos x="T0" y="T1"/>
                  </a:cxn>
                  <a:cxn ang="0">
                    <a:pos x="T2" y="T3"/>
                  </a:cxn>
                  <a:cxn ang="0">
                    <a:pos x="T4" y="T5"/>
                  </a:cxn>
                  <a:cxn ang="0">
                    <a:pos x="T6" y="T7"/>
                  </a:cxn>
                  <a:cxn ang="0">
                    <a:pos x="T8" y="T9"/>
                  </a:cxn>
                </a:cxnLst>
                <a:rect l="0" t="0" r="r" b="b"/>
                <a:pathLst>
                  <a:path w="4" h="5">
                    <a:moveTo>
                      <a:pt x="0" y="1"/>
                    </a:moveTo>
                    <a:cubicBezTo>
                      <a:pt x="0" y="3"/>
                      <a:pt x="1" y="4"/>
                      <a:pt x="2" y="4"/>
                    </a:cubicBezTo>
                    <a:cubicBezTo>
                      <a:pt x="2" y="4"/>
                      <a:pt x="4" y="5"/>
                      <a:pt x="3" y="3"/>
                    </a:cubicBezTo>
                    <a:cubicBezTo>
                      <a:pt x="3" y="1"/>
                      <a:pt x="2" y="1"/>
                      <a:pt x="1" y="1"/>
                    </a:cubicBezTo>
                    <a:cubicBezTo>
                      <a:pt x="0" y="0"/>
                      <a:pt x="0"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41" name="Freeform 550">
                <a:extLst>
                  <a:ext uri="{FF2B5EF4-FFF2-40B4-BE49-F238E27FC236}">
                    <a16:creationId xmlns:a16="http://schemas.microsoft.com/office/drawing/2014/main" id="{2662160C-D8EA-427E-8146-95404315D82F}"/>
                  </a:ext>
                </a:extLst>
              </p:cNvPr>
              <p:cNvSpPr>
                <a:spLocks/>
              </p:cNvSpPr>
              <p:nvPr/>
            </p:nvSpPr>
            <p:spPr bwMode="auto">
              <a:xfrm>
                <a:off x="6975" y="3064"/>
                <a:ext cx="8" cy="9"/>
              </a:xfrm>
              <a:custGeom>
                <a:avLst/>
                <a:gdLst>
                  <a:gd name="T0" fmla="*/ 0 w 6"/>
                  <a:gd name="T1" fmla="*/ 3 h 7"/>
                  <a:gd name="T2" fmla="*/ 3 w 6"/>
                  <a:gd name="T3" fmla="*/ 6 h 7"/>
                  <a:gd name="T4" fmla="*/ 4 w 6"/>
                  <a:gd name="T5" fmla="*/ 4 h 7"/>
                  <a:gd name="T6" fmla="*/ 0 w 6"/>
                  <a:gd name="T7" fmla="*/ 3 h 7"/>
                </a:gdLst>
                <a:ahLst/>
                <a:cxnLst>
                  <a:cxn ang="0">
                    <a:pos x="T0" y="T1"/>
                  </a:cxn>
                  <a:cxn ang="0">
                    <a:pos x="T2" y="T3"/>
                  </a:cxn>
                  <a:cxn ang="0">
                    <a:pos x="T4" y="T5"/>
                  </a:cxn>
                  <a:cxn ang="0">
                    <a:pos x="T6" y="T7"/>
                  </a:cxn>
                </a:cxnLst>
                <a:rect l="0" t="0" r="r" b="b"/>
                <a:pathLst>
                  <a:path w="6" h="7">
                    <a:moveTo>
                      <a:pt x="0" y="3"/>
                    </a:moveTo>
                    <a:cubicBezTo>
                      <a:pt x="0" y="5"/>
                      <a:pt x="2" y="5"/>
                      <a:pt x="3" y="6"/>
                    </a:cubicBezTo>
                    <a:cubicBezTo>
                      <a:pt x="3" y="6"/>
                      <a:pt x="6" y="7"/>
                      <a:pt x="4" y="4"/>
                    </a:cubicBezTo>
                    <a:cubicBezTo>
                      <a:pt x="3" y="2"/>
                      <a:pt x="1" y="0"/>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42" name="Freeform 551">
                <a:extLst>
                  <a:ext uri="{FF2B5EF4-FFF2-40B4-BE49-F238E27FC236}">
                    <a16:creationId xmlns:a16="http://schemas.microsoft.com/office/drawing/2014/main" id="{A5FC66C5-1856-419F-B98E-BC8958C3744C}"/>
                  </a:ext>
                </a:extLst>
              </p:cNvPr>
              <p:cNvSpPr>
                <a:spLocks/>
              </p:cNvSpPr>
              <p:nvPr/>
            </p:nvSpPr>
            <p:spPr bwMode="auto">
              <a:xfrm>
                <a:off x="6957" y="3042"/>
                <a:ext cx="9" cy="8"/>
              </a:xfrm>
              <a:custGeom>
                <a:avLst/>
                <a:gdLst>
                  <a:gd name="T0" fmla="*/ 4 w 7"/>
                  <a:gd name="T1" fmla="*/ 1 h 6"/>
                  <a:gd name="T2" fmla="*/ 2 w 7"/>
                  <a:gd name="T3" fmla="*/ 4 h 6"/>
                  <a:gd name="T4" fmla="*/ 6 w 7"/>
                  <a:gd name="T5" fmla="*/ 4 h 6"/>
                  <a:gd name="T6" fmla="*/ 6 w 7"/>
                  <a:gd name="T7" fmla="*/ 3 h 6"/>
                  <a:gd name="T8" fmla="*/ 4 w 7"/>
                  <a:gd name="T9" fmla="*/ 1 h 6"/>
                </a:gdLst>
                <a:ahLst/>
                <a:cxnLst>
                  <a:cxn ang="0">
                    <a:pos x="T0" y="T1"/>
                  </a:cxn>
                  <a:cxn ang="0">
                    <a:pos x="T2" y="T3"/>
                  </a:cxn>
                  <a:cxn ang="0">
                    <a:pos x="T4" y="T5"/>
                  </a:cxn>
                  <a:cxn ang="0">
                    <a:pos x="T6" y="T7"/>
                  </a:cxn>
                  <a:cxn ang="0">
                    <a:pos x="T8" y="T9"/>
                  </a:cxn>
                </a:cxnLst>
                <a:rect l="0" t="0" r="r" b="b"/>
                <a:pathLst>
                  <a:path w="7" h="6">
                    <a:moveTo>
                      <a:pt x="4" y="1"/>
                    </a:moveTo>
                    <a:cubicBezTo>
                      <a:pt x="2" y="2"/>
                      <a:pt x="0" y="4"/>
                      <a:pt x="2" y="4"/>
                    </a:cubicBezTo>
                    <a:cubicBezTo>
                      <a:pt x="4" y="4"/>
                      <a:pt x="4" y="6"/>
                      <a:pt x="6" y="4"/>
                    </a:cubicBezTo>
                    <a:cubicBezTo>
                      <a:pt x="6" y="4"/>
                      <a:pt x="7" y="4"/>
                      <a:pt x="6" y="3"/>
                    </a:cubicBezTo>
                    <a:cubicBezTo>
                      <a:pt x="5" y="2"/>
                      <a:pt x="5" y="0"/>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43" name="Freeform 552">
                <a:extLst>
                  <a:ext uri="{FF2B5EF4-FFF2-40B4-BE49-F238E27FC236}">
                    <a16:creationId xmlns:a16="http://schemas.microsoft.com/office/drawing/2014/main" id="{7AD1C6D7-DBB3-4B0F-B182-3868A7F0E835}"/>
                  </a:ext>
                </a:extLst>
              </p:cNvPr>
              <p:cNvSpPr>
                <a:spLocks/>
              </p:cNvSpPr>
              <p:nvPr/>
            </p:nvSpPr>
            <p:spPr bwMode="auto">
              <a:xfrm>
                <a:off x="6958" y="3022"/>
                <a:ext cx="7" cy="7"/>
              </a:xfrm>
              <a:custGeom>
                <a:avLst/>
                <a:gdLst>
                  <a:gd name="T0" fmla="*/ 1 w 5"/>
                  <a:gd name="T1" fmla="*/ 2 h 5"/>
                  <a:gd name="T2" fmla="*/ 0 w 5"/>
                  <a:gd name="T3" fmla="*/ 2 h 5"/>
                  <a:gd name="T4" fmla="*/ 1 w 5"/>
                  <a:gd name="T5" fmla="*/ 4 h 5"/>
                  <a:gd name="T6" fmla="*/ 4 w 5"/>
                  <a:gd name="T7" fmla="*/ 4 h 5"/>
                  <a:gd name="T8" fmla="*/ 1 w 5"/>
                  <a:gd name="T9" fmla="*/ 2 h 5"/>
                </a:gdLst>
                <a:ahLst/>
                <a:cxnLst>
                  <a:cxn ang="0">
                    <a:pos x="T0" y="T1"/>
                  </a:cxn>
                  <a:cxn ang="0">
                    <a:pos x="T2" y="T3"/>
                  </a:cxn>
                  <a:cxn ang="0">
                    <a:pos x="T4" y="T5"/>
                  </a:cxn>
                  <a:cxn ang="0">
                    <a:pos x="T6" y="T7"/>
                  </a:cxn>
                  <a:cxn ang="0">
                    <a:pos x="T8" y="T9"/>
                  </a:cxn>
                </a:cxnLst>
                <a:rect l="0" t="0" r="r" b="b"/>
                <a:pathLst>
                  <a:path w="5" h="5">
                    <a:moveTo>
                      <a:pt x="1" y="2"/>
                    </a:moveTo>
                    <a:cubicBezTo>
                      <a:pt x="1" y="1"/>
                      <a:pt x="0" y="0"/>
                      <a:pt x="0" y="2"/>
                    </a:cubicBezTo>
                    <a:cubicBezTo>
                      <a:pt x="0" y="3"/>
                      <a:pt x="1" y="4"/>
                      <a:pt x="1" y="4"/>
                    </a:cubicBezTo>
                    <a:cubicBezTo>
                      <a:pt x="2" y="4"/>
                      <a:pt x="3" y="5"/>
                      <a:pt x="4" y="4"/>
                    </a:cubicBezTo>
                    <a:cubicBezTo>
                      <a:pt x="5" y="4"/>
                      <a:pt x="2" y="3"/>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44" name="Freeform 553">
                <a:extLst>
                  <a:ext uri="{FF2B5EF4-FFF2-40B4-BE49-F238E27FC236}">
                    <a16:creationId xmlns:a16="http://schemas.microsoft.com/office/drawing/2014/main" id="{59516FD0-CE32-42C8-A3F6-EAC62EA7991A}"/>
                  </a:ext>
                </a:extLst>
              </p:cNvPr>
              <p:cNvSpPr>
                <a:spLocks/>
              </p:cNvSpPr>
              <p:nvPr/>
            </p:nvSpPr>
            <p:spPr bwMode="auto">
              <a:xfrm>
                <a:off x="6937" y="3007"/>
                <a:ext cx="16" cy="17"/>
              </a:xfrm>
              <a:custGeom>
                <a:avLst/>
                <a:gdLst>
                  <a:gd name="T0" fmla="*/ 0 w 11"/>
                  <a:gd name="T1" fmla="*/ 3 h 12"/>
                  <a:gd name="T2" fmla="*/ 3 w 11"/>
                  <a:gd name="T3" fmla="*/ 5 h 12"/>
                  <a:gd name="T4" fmla="*/ 4 w 11"/>
                  <a:gd name="T5" fmla="*/ 9 h 12"/>
                  <a:gd name="T6" fmla="*/ 9 w 11"/>
                  <a:gd name="T7" fmla="*/ 10 h 12"/>
                  <a:gd name="T8" fmla="*/ 8 w 11"/>
                  <a:gd name="T9" fmla="*/ 7 h 12"/>
                  <a:gd name="T10" fmla="*/ 4 w 11"/>
                  <a:gd name="T11" fmla="*/ 4 h 12"/>
                  <a:gd name="T12" fmla="*/ 1 w 11"/>
                  <a:gd name="T13" fmla="*/ 1 h 12"/>
                  <a:gd name="T14" fmla="*/ 0 w 11"/>
                  <a:gd name="T15" fmla="*/ 3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12">
                    <a:moveTo>
                      <a:pt x="0" y="3"/>
                    </a:moveTo>
                    <a:cubicBezTo>
                      <a:pt x="1" y="5"/>
                      <a:pt x="2" y="5"/>
                      <a:pt x="3" y="5"/>
                    </a:cubicBezTo>
                    <a:cubicBezTo>
                      <a:pt x="3" y="5"/>
                      <a:pt x="3" y="5"/>
                      <a:pt x="4" y="9"/>
                    </a:cubicBezTo>
                    <a:cubicBezTo>
                      <a:pt x="4" y="12"/>
                      <a:pt x="6" y="11"/>
                      <a:pt x="9" y="10"/>
                    </a:cubicBezTo>
                    <a:cubicBezTo>
                      <a:pt x="11" y="9"/>
                      <a:pt x="8" y="7"/>
                      <a:pt x="8" y="7"/>
                    </a:cubicBezTo>
                    <a:cubicBezTo>
                      <a:pt x="8" y="6"/>
                      <a:pt x="5" y="4"/>
                      <a:pt x="4" y="4"/>
                    </a:cubicBezTo>
                    <a:cubicBezTo>
                      <a:pt x="3" y="3"/>
                      <a:pt x="3" y="2"/>
                      <a:pt x="1" y="1"/>
                    </a:cubicBezTo>
                    <a:cubicBezTo>
                      <a:pt x="0" y="0"/>
                      <a:pt x="0" y="3"/>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45" name="Freeform 554">
                <a:extLst>
                  <a:ext uri="{FF2B5EF4-FFF2-40B4-BE49-F238E27FC236}">
                    <a16:creationId xmlns:a16="http://schemas.microsoft.com/office/drawing/2014/main" id="{FA55C420-9BF3-42A0-B22D-D1E6DCFF5A0F}"/>
                  </a:ext>
                </a:extLst>
              </p:cNvPr>
              <p:cNvSpPr>
                <a:spLocks/>
              </p:cNvSpPr>
              <p:nvPr/>
            </p:nvSpPr>
            <p:spPr bwMode="auto">
              <a:xfrm>
                <a:off x="6951" y="3011"/>
                <a:ext cx="10" cy="7"/>
              </a:xfrm>
              <a:custGeom>
                <a:avLst/>
                <a:gdLst>
                  <a:gd name="T0" fmla="*/ 3 w 7"/>
                  <a:gd name="T1" fmla="*/ 5 h 5"/>
                  <a:gd name="T2" fmla="*/ 7 w 7"/>
                  <a:gd name="T3" fmla="*/ 4 h 5"/>
                  <a:gd name="T4" fmla="*/ 5 w 7"/>
                  <a:gd name="T5" fmla="*/ 1 h 5"/>
                  <a:gd name="T6" fmla="*/ 4 w 7"/>
                  <a:gd name="T7" fmla="*/ 2 h 5"/>
                  <a:gd name="T8" fmla="*/ 3 w 7"/>
                  <a:gd name="T9" fmla="*/ 3 h 5"/>
                  <a:gd name="T10" fmla="*/ 3 w 7"/>
                  <a:gd name="T11" fmla="*/ 5 h 5"/>
                </a:gdLst>
                <a:ahLst/>
                <a:cxnLst>
                  <a:cxn ang="0">
                    <a:pos x="T0" y="T1"/>
                  </a:cxn>
                  <a:cxn ang="0">
                    <a:pos x="T2" y="T3"/>
                  </a:cxn>
                  <a:cxn ang="0">
                    <a:pos x="T4" y="T5"/>
                  </a:cxn>
                  <a:cxn ang="0">
                    <a:pos x="T6" y="T7"/>
                  </a:cxn>
                  <a:cxn ang="0">
                    <a:pos x="T8" y="T9"/>
                  </a:cxn>
                  <a:cxn ang="0">
                    <a:pos x="T10" y="T11"/>
                  </a:cxn>
                </a:cxnLst>
                <a:rect l="0" t="0" r="r" b="b"/>
                <a:pathLst>
                  <a:path w="7" h="5">
                    <a:moveTo>
                      <a:pt x="3" y="5"/>
                    </a:moveTo>
                    <a:cubicBezTo>
                      <a:pt x="4" y="5"/>
                      <a:pt x="6" y="5"/>
                      <a:pt x="7" y="4"/>
                    </a:cubicBezTo>
                    <a:cubicBezTo>
                      <a:pt x="7" y="3"/>
                      <a:pt x="6" y="3"/>
                      <a:pt x="5" y="1"/>
                    </a:cubicBezTo>
                    <a:cubicBezTo>
                      <a:pt x="5" y="0"/>
                      <a:pt x="4" y="2"/>
                      <a:pt x="4" y="2"/>
                    </a:cubicBezTo>
                    <a:cubicBezTo>
                      <a:pt x="4" y="2"/>
                      <a:pt x="5" y="2"/>
                      <a:pt x="3" y="3"/>
                    </a:cubicBezTo>
                    <a:cubicBezTo>
                      <a:pt x="0" y="3"/>
                      <a:pt x="3" y="5"/>
                      <a:pt x="3"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46" name="Freeform 555">
                <a:extLst>
                  <a:ext uri="{FF2B5EF4-FFF2-40B4-BE49-F238E27FC236}">
                    <a16:creationId xmlns:a16="http://schemas.microsoft.com/office/drawing/2014/main" id="{F593492E-6622-4E93-83B9-C9FA06890D6C}"/>
                  </a:ext>
                </a:extLst>
              </p:cNvPr>
              <p:cNvSpPr>
                <a:spLocks/>
              </p:cNvSpPr>
              <p:nvPr/>
            </p:nvSpPr>
            <p:spPr bwMode="auto">
              <a:xfrm>
                <a:off x="6958" y="2998"/>
                <a:ext cx="2" cy="13"/>
              </a:xfrm>
              <a:custGeom>
                <a:avLst/>
                <a:gdLst>
                  <a:gd name="T0" fmla="*/ 1 w 1"/>
                  <a:gd name="T1" fmla="*/ 8 h 10"/>
                  <a:gd name="T2" fmla="*/ 0 w 1"/>
                  <a:gd name="T3" fmla="*/ 3 h 10"/>
                  <a:gd name="T4" fmla="*/ 1 w 1"/>
                  <a:gd name="T5" fmla="*/ 8 h 10"/>
                </a:gdLst>
                <a:ahLst/>
                <a:cxnLst>
                  <a:cxn ang="0">
                    <a:pos x="T0" y="T1"/>
                  </a:cxn>
                  <a:cxn ang="0">
                    <a:pos x="T2" y="T3"/>
                  </a:cxn>
                  <a:cxn ang="0">
                    <a:pos x="T4" y="T5"/>
                  </a:cxn>
                </a:cxnLst>
                <a:rect l="0" t="0" r="r" b="b"/>
                <a:pathLst>
                  <a:path w="1" h="10">
                    <a:moveTo>
                      <a:pt x="1" y="8"/>
                    </a:moveTo>
                    <a:cubicBezTo>
                      <a:pt x="1" y="8"/>
                      <a:pt x="0" y="0"/>
                      <a:pt x="0" y="3"/>
                    </a:cubicBezTo>
                    <a:cubicBezTo>
                      <a:pt x="0" y="6"/>
                      <a:pt x="1" y="10"/>
                      <a:pt x="1"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47" name="Freeform 556">
                <a:extLst>
                  <a:ext uri="{FF2B5EF4-FFF2-40B4-BE49-F238E27FC236}">
                    <a16:creationId xmlns:a16="http://schemas.microsoft.com/office/drawing/2014/main" id="{17176056-DDB9-4140-87D1-B46FBC7AB3DC}"/>
                  </a:ext>
                </a:extLst>
              </p:cNvPr>
              <p:cNvSpPr>
                <a:spLocks/>
              </p:cNvSpPr>
              <p:nvPr/>
            </p:nvSpPr>
            <p:spPr bwMode="auto">
              <a:xfrm>
                <a:off x="6957" y="2980"/>
                <a:ext cx="1" cy="23"/>
              </a:xfrm>
              <a:custGeom>
                <a:avLst/>
                <a:gdLst>
                  <a:gd name="T0" fmla="*/ 0 w 1"/>
                  <a:gd name="T1" fmla="*/ 10 h 17"/>
                  <a:gd name="T2" fmla="*/ 1 w 1"/>
                  <a:gd name="T3" fmla="*/ 11 h 17"/>
                  <a:gd name="T4" fmla="*/ 0 w 1"/>
                  <a:gd name="T5" fmla="*/ 10 h 17"/>
                </a:gdLst>
                <a:ahLst/>
                <a:cxnLst>
                  <a:cxn ang="0">
                    <a:pos x="T0" y="T1"/>
                  </a:cxn>
                  <a:cxn ang="0">
                    <a:pos x="T2" y="T3"/>
                  </a:cxn>
                  <a:cxn ang="0">
                    <a:pos x="T4" y="T5"/>
                  </a:cxn>
                </a:cxnLst>
                <a:rect l="0" t="0" r="r" b="b"/>
                <a:pathLst>
                  <a:path w="1" h="17">
                    <a:moveTo>
                      <a:pt x="0" y="10"/>
                    </a:moveTo>
                    <a:cubicBezTo>
                      <a:pt x="0" y="10"/>
                      <a:pt x="1" y="17"/>
                      <a:pt x="1" y="11"/>
                    </a:cubicBezTo>
                    <a:cubicBezTo>
                      <a:pt x="1" y="11"/>
                      <a:pt x="0" y="0"/>
                      <a:pt x="0"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48" name="Freeform 557">
                <a:extLst>
                  <a:ext uri="{FF2B5EF4-FFF2-40B4-BE49-F238E27FC236}">
                    <a16:creationId xmlns:a16="http://schemas.microsoft.com/office/drawing/2014/main" id="{9EED6CF9-703D-4E2F-B6B3-A764AB1D01C8}"/>
                  </a:ext>
                </a:extLst>
              </p:cNvPr>
              <p:cNvSpPr>
                <a:spLocks/>
              </p:cNvSpPr>
              <p:nvPr/>
            </p:nvSpPr>
            <p:spPr bwMode="auto">
              <a:xfrm>
                <a:off x="6947" y="2995"/>
                <a:ext cx="8" cy="5"/>
              </a:xfrm>
              <a:custGeom>
                <a:avLst/>
                <a:gdLst>
                  <a:gd name="T0" fmla="*/ 4 w 6"/>
                  <a:gd name="T1" fmla="*/ 1 h 4"/>
                  <a:gd name="T2" fmla="*/ 2 w 6"/>
                  <a:gd name="T3" fmla="*/ 4 h 4"/>
                  <a:gd name="T4" fmla="*/ 4 w 6"/>
                  <a:gd name="T5" fmla="*/ 2 h 4"/>
                  <a:gd name="T6" fmla="*/ 4 w 6"/>
                  <a:gd name="T7" fmla="*/ 1 h 4"/>
                </a:gdLst>
                <a:ahLst/>
                <a:cxnLst>
                  <a:cxn ang="0">
                    <a:pos x="T0" y="T1"/>
                  </a:cxn>
                  <a:cxn ang="0">
                    <a:pos x="T2" y="T3"/>
                  </a:cxn>
                  <a:cxn ang="0">
                    <a:pos x="T4" y="T5"/>
                  </a:cxn>
                  <a:cxn ang="0">
                    <a:pos x="T6" y="T7"/>
                  </a:cxn>
                </a:cxnLst>
                <a:rect l="0" t="0" r="r" b="b"/>
                <a:pathLst>
                  <a:path w="6" h="4">
                    <a:moveTo>
                      <a:pt x="4" y="1"/>
                    </a:moveTo>
                    <a:cubicBezTo>
                      <a:pt x="2" y="2"/>
                      <a:pt x="0" y="3"/>
                      <a:pt x="2" y="4"/>
                    </a:cubicBezTo>
                    <a:cubicBezTo>
                      <a:pt x="4" y="4"/>
                      <a:pt x="4" y="3"/>
                      <a:pt x="4" y="2"/>
                    </a:cubicBezTo>
                    <a:cubicBezTo>
                      <a:pt x="4" y="2"/>
                      <a:pt x="6" y="0"/>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49" name="Freeform 558">
                <a:extLst>
                  <a:ext uri="{FF2B5EF4-FFF2-40B4-BE49-F238E27FC236}">
                    <a16:creationId xmlns:a16="http://schemas.microsoft.com/office/drawing/2014/main" id="{C000CB2F-E34B-4EDB-BB1B-7C5619BFDBCB}"/>
                  </a:ext>
                </a:extLst>
              </p:cNvPr>
              <p:cNvSpPr>
                <a:spLocks/>
              </p:cNvSpPr>
              <p:nvPr/>
            </p:nvSpPr>
            <p:spPr bwMode="auto">
              <a:xfrm>
                <a:off x="6935" y="3002"/>
                <a:ext cx="4" cy="4"/>
              </a:xfrm>
              <a:custGeom>
                <a:avLst/>
                <a:gdLst>
                  <a:gd name="T0" fmla="*/ 1 w 3"/>
                  <a:gd name="T1" fmla="*/ 1 h 3"/>
                  <a:gd name="T2" fmla="*/ 3 w 3"/>
                  <a:gd name="T3" fmla="*/ 3 h 3"/>
                  <a:gd name="T4" fmla="*/ 1 w 3"/>
                  <a:gd name="T5" fmla="*/ 1 h 3"/>
                </a:gdLst>
                <a:ahLst/>
                <a:cxnLst>
                  <a:cxn ang="0">
                    <a:pos x="T0" y="T1"/>
                  </a:cxn>
                  <a:cxn ang="0">
                    <a:pos x="T2" y="T3"/>
                  </a:cxn>
                  <a:cxn ang="0">
                    <a:pos x="T4" y="T5"/>
                  </a:cxn>
                </a:cxnLst>
                <a:rect l="0" t="0" r="r" b="b"/>
                <a:pathLst>
                  <a:path w="3" h="3">
                    <a:moveTo>
                      <a:pt x="1" y="1"/>
                    </a:moveTo>
                    <a:cubicBezTo>
                      <a:pt x="0" y="3"/>
                      <a:pt x="3" y="3"/>
                      <a:pt x="3" y="3"/>
                    </a:cubicBezTo>
                    <a:cubicBezTo>
                      <a:pt x="3" y="3"/>
                      <a:pt x="3"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50" name="Freeform 559">
                <a:extLst>
                  <a:ext uri="{FF2B5EF4-FFF2-40B4-BE49-F238E27FC236}">
                    <a16:creationId xmlns:a16="http://schemas.microsoft.com/office/drawing/2014/main" id="{A35ABD90-8CE4-4CAE-8570-7B2AE9FABDD2}"/>
                  </a:ext>
                </a:extLst>
              </p:cNvPr>
              <p:cNvSpPr>
                <a:spLocks/>
              </p:cNvSpPr>
              <p:nvPr/>
            </p:nvSpPr>
            <p:spPr bwMode="auto">
              <a:xfrm>
                <a:off x="6925" y="2980"/>
                <a:ext cx="14" cy="23"/>
              </a:xfrm>
              <a:custGeom>
                <a:avLst/>
                <a:gdLst>
                  <a:gd name="T0" fmla="*/ 0 w 10"/>
                  <a:gd name="T1" fmla="*/ 3 h 17"/>
                  <a:gd name="T2" fmla="*/ 1 w 10"/>
                  <a:gd name="T3" fmla="*/ 9 h 17"/>
                  <a:gd name="T4" fmla="*/ 2 w 10"/>
                  <a:gd name="T5" fmla="*/ 14 h 17"/>
                  <a:gd name="T6" fmla="*/ 5 w 10"/>
                  <a:gd name="T7" fmla="*/ 17 h 17"/>
                  <a:gd name="T8" fmla="*/ 9 w 10"/>
                  <a:gd name="T9" fmla="*/ 15 h 17"/>
                  <a:gd name="T10" fmla="*/ 9 w 10"/>
                  <a:gd name="T11" fmla="*/ 12 h 17"/>
                  <a:gd name="T12" fmla="*/ 8 w 10"/>
                  <a:gd name="T13" fmla="*/ 7 h 17"/>
                  <a:gd name="T14" fmla="*/ 6 w 10"/>
                  <a:gd name="T15" fmla="*/ 7 h 17"/>
                  <a:gd name="T16" fmla="*/ 4 w 10"/>
                  <a:gd name="T17" fmla="*/ 9 h 17"/>
                  <a:gd name="T18" fmla="*/ 2 w 10"/>
                  <a:gd name="T19" fmla="*/ 4 h 17"/>
                  <a:gd name="T20" fmla="*/ 0 w 10"/>
                  <a:gd name="T21"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7">
                    <a:moveTo>
                      <a:pt x="0" y="3"/>
                    </a:moveTo>
                    <a:cubicBezTo>
                      <a:pt x="0" y="6"/>
                      <a:pt x="0" y="7"/>
                      <a:pt x="1" y="9"/>
                    </a:cubicBezTo>
                    <a:cubicBezTo>
                      <a:pt x="2" y="10"/>
                      <a:pt x="1" y="12"/>
                      <a:pt x="2" y="14"/>
                    </a:cubicBezTo>
                    <a:cubicBezTo>
                      <a:pt x="4" y="16"/>
                      <a:pt x="3" y="17"/>
                      <a:pt x="5" y="17"/>
                    </a:cubicBezTo>
                    <a:cubicBezTo>
                      <a:pt x="6" y="16"/>
                      <a:pt x="8" y="17"/>
                      <a:pt x="9" y="15"/>
                    </a:cubicBezTo>
                    <a:cubicBezTo>
                      <a:pt x="10" y="14"/>
                      <a:pt x="10" y="15"/>
                      <a:pt x="9" y="12"/>
                    </a:cubicBezTo>
                    <a:cubicBezTo>
                      <a:pt x="8" y="10"/>
                      <a:pt x="8" y="7"/>
                      <a:pt x="8" y="7"/>
                    </a:cubicBezTo>
                    <a:cubicBezTo>
                      <a:pt x="8" y="7"/>
                      <a:pt x="7" y="5"/>
                      <a:pt x="6" y="7"/>
                    </a:cubicBezTo>
                    <a:cubicBezTo>
                      <a:pt x="6" y="9"/>
                      <a:pt x="4" y="12"/>
                      <a:pt x="4" y="9"/>
                    </a:cubicBezTo>
                    <a:cubicBezTo>
                      <a:pt x="3" y="6"/>
                      <a:pt x="3" y="5"/>
                      <a:pt x="2" y="4"/>
                    </a:cubicBezTo>
                    <a:cubicBezTo>
                      <a:pt x="1" y="3"/>
                      <a:pt x="0" y="0"/>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51" name="Freeform 560">
                <a:extLst>
                  <a:ext uri="{FF2B5EF4-FFF2-40B4-BE49-F238E27FC236}">
                    <a16:creationId xmlns:a16="http://schemas.microsoft.com/office/drawing/2014/main" id="{E929D8C2-142C-4347-99C2-C9FC48C412AB}"/>
                  </a:ext>
                </a:extLst>
              </p:cNvPr>
              <p:cNvSpPr>
                <a:spLocks/>
              </p:cNvSpPr>
              <p:nvPr/>
            </p:nvSpPr>
            <p:spPr bwMode="auto">
              <a:xfrm>
                <a:off x="6942" y="2970"/>
                <a:ext cx="6" cy="7"/>
              </a:xfrm>
              <a:custGeom>
                <a:avLst/>
                <a:gdLst>
                  <a:gd name="T0" fmla="*/ 1 w 5"/>
                  <a:gd name="T1" fmla="*/ 4 h 5"/>
                  <a:gd name="T2" fmla="*/ 4 w 5"/>
                  <a:gd name="T3" fmla="*/ 2 h 5"/>
                  <a:gd name="T4" fmla="*/ 1 w 5"/>
                  <a:gd name="T5" fmla="*/ 4 h 5"/>
                </a:gdLst>
                <a:ahLst/>
                <a:cxnLst>
                  <a:cxn ang="0">
                    <a:pos x="T0" y="T1"/>
                  </a:cxn>
                  <a:cxn ang="0">
                    <a:pos x="T2" y="T3"/>
                  </a:cxn>
                  <a:cxn ang="0">
                    <a:pos x="T4" y="T5"/>
                  </a:cxn>
                </a:cxnLst>
                <a:rect l="0" t="0" r="r" b="b"/>
                <a:pathLst>
                  <a:path w="5" h="5">
                    <a:moveTo>
                      <a:pt x="1" y="4"/>
                    </a:moveTo>
                    <a:cubicBezTo>
                      <a:pt x="1" y="4"/>
                      <a:pt x="5" y="5"/>
                      <a:pt x="4" y="2"/>
                    </a:cubicBezTo>
                    <a:cubicBezTo>
                      <a:pt x="3" y="0"/>
                      <a:pt x="0" y="3"/>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52" name="Freeform 561">
                <a:extLst>
                  <a:ext uri="{FF2B5EF4-FFF2-40B4-BE49-F238E27FC236}">
                    <a16:creationId xmlns:a16="http://schemas.microsoft.com/office/drawing/2014/main" id="{B5C76EAB-636B-4EEA-BEEB-7FF5E805C94B}"/>
                  </a:ext>
                </a:extLst>
              </p:cNvPr>
              <p:cNvSpPr>
                <a:spLocks/>
              </p:cNvSpPr>
              <p:nvPr/>
            </p:nvSpPr>
            <p:spPr bwMode="auto">
              <a:xfrm>
                <a:off x="6944" y="2962"/>
                <a:ext cx="2" cy="7"/>
              </a:xfrm>
              <a:custGeom>
                <a:avLst/>
                <a:gdLst>
                  <a:gd name="T0" fmla="*/ 1 w 1"/>
                  <a:gd name="T1" fmla="*/ 3 h 5"/>
                  <a:gd name="T2" fmla="*/ 0 w 1"/>
                  <a:gd name="T3" fmla="*/ 2 h 5"/>
                  <a:gd name="T4" fmla="*/ 1 w 1"/>
                  <a:gd name="T5" fmla="*/ 3 h 5"/>
                </a:gdLst>
                <a:ahLst/>
                <a:cxnLst>
                  <a:cxn ang="0">
                    <a:pos x="T0" y="T1"/>
                  </a:cxn>
                  <a:cxn ang="0">
                    <a:pos x="T2" y="T3"/>
                  </a:cxn>
                  <a:cxn ang="0">
                    <a:pos x="T4" y="T5"/>
                  </a:cxn>
                </a:cxnLst>
                <a:rect l="0" t="0" r="r" b="b"/>
                <a:pathLst>
                  <a:path w="1" h="5">
                    <a:moveTo>
                      <a:pt x="1" y="3"/>
                    </a:moveTo>
                    <a:cubicBezTo>
                      <a:pt x="1" y="3"/>
                      <a:pt x="0" y="0"/>
                      <a:pt x="0" y="2"/>
                    </a:cubicBezTo>
                    <a:cubicBezTo>
                      <a:pt x="0" y="4"/>
                      <a:pt x="0" y="5"/>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53" name="Freeform 562">
                <a:extLst>
                  <a:ext uri="{FF2B5EF4-FFF2-40B4-BE49-F238E27FC236}">
                    <a16:creationId xmlns:a16="http://schemas.microsoft.com/office/drawing/2014/main" id="{4B734BDF-2E41-4EF8-8A1E-C9205EFA95A8}"/>
                  </a:ext>
                </a:extLst>
              </p:cNvPr>
              <p:cNvSpPr>
                <a:spLocks/>
              </p:cNvSpPr>
              <p:nvPr/>
            </p:nvSpPr>
            <p:spPr bwMode="auto">
              <a:xfrm>
                <a:off x="6929" y="2919"/>
                <a:ext cx="6" cy="3"/>
              </a:xfrm>
              <a:custGeom>
                <a:avLst/>
                <a:gdLst>
                  <a:gd name="T0" fmla="*/ 2 w 4"/>
                  <a:gd name="T1" fmla="*/ 0 h 2"/>
                  <a:gd name="T2" fmla="*/ 3 w 4"/>
                  <a:gd name="T3" fmla="*/ 2 h 2"/>
                  <a:gd name="T4" fmla="*/ 2 w 4"/>
                  <a:gd name="T5" fmla="*/ 0 h 2"/>
                </a:gdLst>
                <a:ahLst/>
                <a:cxnLst>
                  <a:cxn ang="0">
                    <a:pos x="T0" y="T1"/>
                  </a:cxn>
                  <a:cxn ang="0">
                    <a:pos x="T2" y="T3"/>
                  </a:cxn>
                  <a:cxn ang="0">
                    <a:pos x="T4" y="T5"/>
                  </a:cxn>
                </a:cxnLst>
                <a:rect l="0" t="0" r="r" b="b"/>
                <a:pathLst>
                  <a:path w="4" h="2">
                    <a:moveTo>
                      <a:pt x="2" y="0"/>
                    </a:moveTo>
                    <a:cubicBezTo>
                      <a:pt x="0" y="1"/>
                      <a:pt x="2" y="2"/>
                      <a:pt x="3" y="2"/>
                    </a:cubicBezTo>
                    <a:cubicBezTo>
                      <a:pt x="3" y="2"/>
                      <a:pt x="4"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54" name="Freeform 563">
                <a:extLst>
                  <a:ext uri="{FF2B5EF4-FFF2-40B4-BE49-F238E27FC236}">
                    <a16:creationId xmlns:a16="http://schemas.microsoft.com/office/drawing/2014/main" id="{E0F8006A-60C9-412F-AD9A-C2248F700E65}"/>
                  </a:ext>
                </a:extLst>
              </p:cNvPr>
              <p:cNvSpPr>
                <a:spLocks/>
              </p:cNvSpPr>
              <p:nvPr/>
            </p:nvSpPr>
            <p:spPr bwMode="auto">
              <a:xfrm>
                <a:off x="6910" y="2900"/>
                <a:ext cx="9" cy="3"/>
              </a:xfrm>
              <a:custGeom>
                <a:avLst/>
                <a:gdLst>
                  <a:gd name="T0" fmla="*/ 2 w 7"/>
                  <a:gd name="T1" fmla="*/ 2 h 2"/>
                  <a:gd name="T2" fmla="*/ 4 w 7"/>
                  <a:gd name="T3" fmla="*/ 1 h 2"/>
                  <a:gd name="T4" fmla="*/ 4 w 7"/>
                  <a:gd name="T5" fmla="*/ 0 h 2"/>
                  <a:gd name="T6" fmla="*/ 1 w 7"/>
                  <a:gd name="T7" fmla="*/ 1 h 2"/>
                  <a:gd name="T8" fmla="*/ 2 w 7"/>
                  <a:gd name="T9" fmla="*/ 2 h 2"/>
                </a:gdLst>
                <a:ahLst/>
                <a:cxnLst>
                  <a:cxn ang="0">
                    <a:pos x="T0" y="T1"/>
                  </a:cxn>
                  <a:cxn ang="0">
                    <a:pos x="T2" y="T3"/>
                  </a:cxn>
                  <a:cxn ang="0">
                    <a:pos x="T4" y="T5"/>
                  </a:cxn>
                  <a:cxn ang="0">
                    <a:pos x="T6" y="T7"/>
                  </a:cxn>
                  <a:cxn ang="0">
                    <a:pos x="T8" y="T9"/>
                  </a:cxn>
                </a:cxnLst>
                <a:rect l="0" t="0" r="r" b="b"/>
                <a:pathLst>
                  <a:path w="7" h="2">
                    <a:moveTo>
                      <a:pt x="2" y="2"/>
                    </a:moveTo>
                    <a:cubicBezTo>
                      <a:pt x="3" y="1"/>
                      <a:pt x="3" y="2"/>
                      <a:pt x="4" y="1"/>
                    </a:cubicBezTo>
                    <a:cubicBezTo>
                      <a:pt x="4" y="1"/>
                      <a:pt x="7" y="0"/>
                      <a:pt x="4" y="0"/>
                    </a:cubicBezTo>
                    <a:cubicBezTo>
                      <a:pt x="0" y="0"/>
                      <a:pt x="2" y="0"/>
                      <a:pt x="1" y="1"/>
                    </a:cubicBezTo>
                    <a:cubicBezTo>
                      <a:pt x="1" y="2"/>
                      <a:pt x="1" y="2"/>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55" name="Freeform 564">
                <a:extLst>
                  <a:ext uri="{FF2B5EF4-FFF2-40B4-BE49-F238E27FC236}">
                    <a16:creationId xmlns:a16="http://schemas.microsoft.com/office/drawing/2014/main" id="{A1668F26-511D-4FA3-B98D-A92CC7A92005}"/>
                  </a:ext>
                </a:extLst>
              </p:cNvPr>
              <p:cNvSpPr>
                <a:spLocks/>
              </p:cNvSpPr>
              <p:nvPr/>
            </p:nvSpPr>
            <p:spPr bwMode="auto">
              <a:xfrm>
                <a:off x="6704" y="2825"/>
                <a:ext cx="2" cy="2"/>
              </a:xfrm>
              <a:custGeom>
                <a:avLst/>
                <a:gdLst>
                  <a:gd name="T0" fmla="*/ 0 w 2"/>
                  <a:gd name="T1" fmla="*/ 0 h 2"/>
                  <a:gd name="T2" fmla="*/ 1 w 2"/>
                  <a:gd name="T3" fmla="*/ 1 h 2"/>
                  <a:gd name="T4" fmla="*/ 0 w 2"/>
                  <a:gd name="T5" fmla="*/ 0 h 2"/>
                </a:gdLst>
                <a:ahLst/>
                <a:cxnLst>
                  <a:cxn ang="0">
                    <a:pos x="T0" y="T1"/>
                  </a:cxn>
                  <a:cxn ang="0">
                    <a:pos x="T2" y="T3"/>
                  </a:cxn>
                  <a:cxn ang="0">
                    <a:pos x="T4" y="T5"/>
                  </a:cxn>
                </a:cxnLst>
                <a:rect l="0" t="0" r="r" b="b"/>
                <a:pathLst>
                  <a:path w="2" h="2">
                    <a:moveTo>
                      <a:pt x="0" y="0"/>
                    </a:moveTo>
                    <a:cubicBezTo>
                      <a:pt x="0" y="0"/>
                      <a:pt x="0" y="2"/>
                      <a:pt x="1" y="1"/>
                    </a:cubicBezTo>
                    <a:cubicBezTo>
                      <a:pt x="2" y="0"/>
                      <a:pt x="1" y="1"/>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56" name="Freeform 565">
                <a:extLst>
                  <a:ext uri="{FF2B5EF4-FFF2-40B4-BE49-F238E27FC236}">
                    <a16:creationId xmlns:a16="http://schemas.microsoft.com/office/drawing/2014/main" id="{C1A0531E-8F61-40BB-979D-34C021E0CF7A}"/>
                  </a:ext>
                </a:extLst>
              </p:cNvPr>
              <p:cNvSpPr>
                <a:spLocks/>
              </p:cNvSpPr>
              <p:nvPr/>
            </p:nvSpPr>
            <p:spPr bwMode="auto">
              <a:xfrm>
                <a:off x="6716" y="2817"/>
                <a:ext cx="28" cy="16"/>
              </a:xfrm>
              <a:custGeom>
                <a:avLst/>
                <a:gdLst>
                  <a:gd name="T0" fmla="*/ 15 w 20"/>
                  <a:gd name="T1" fmla="*/ 12 h 12"/>
                  <a:gd name="T2" fmla="*/ 16 w 20"/>
                  <a:gd name="T3" fmla="*/ 10 h 12"/>
                  <a:gd name="T4" fmla="*/ 11 w 20"/>
                  <a:gd name="T5" fmla="*/ 7 h 12"/>
                  <a:gd name="T6" fmla="*/ 8 w 20"/>
                  <a:gd name="T7" fmla="*/ 4 h 12"/>
                  <a:gd name="T8" fmla="*/ 5 w 20"/>
                  <a:gd name="T9" fmla="*/ 2 h 12"/>
                  <a:gd name="T10" fmla="*/ 2 w 20"/>
                  <a:gd name="T11" fmla="*/ 1 h 12"/>
                  <a:gd name="T12" fmla="*/ 2 w 20"/>
                  <a:gd name="T13" fmla="*/ 3 h 12"/>
                  <a:gd name="T14" fmla="*/ 6 w 20"/>
                  <a:gd name="T15" fmla="*/ 7 h 12"/>
                  <a:gd name="T16" fmla="*/ 12 w 20"/>
                  <a:gd name="T17" fmla="*/ 11 h 12"/>
                  <a:gd name="T18" fmla="*/ 15 w 20"/>
                  <a:gd name="T19"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2">
                    <a:moveTo>
                      <a:pt x="15" y="12"/>
                    </a:moveTo>
                    <a:cubicBezTo>
                      <a:pt x="16" y="12"/>
                      <a:pt x="20" y="11"/>
                      <a:pt x="16" y="10"/>
                    </a:cubicBezTo>
                    <a:cubicBezTo>
                      <a:pt x="13" y="10"/>
                      <a:pt x="11" y="9"/>
                      <a:pt x="11" y="7"/>
                    </a:cubicBezTo>
                    <a:cubicBezTo>
                      <a:pt x="11" y="6"/>
                      <a:pt x="10" y="4"/>
                      <a:pt x="8" y="4"/>
                    </a:cubicBezTo>
                    <a:cubicBezTo>
                      <a:pt x="7" y="4"/>
                      <a:pt x="6" y="2"/>
                      <a:pt x="5" y="2"/>
                    </a:cubicBezTo>
                    <a:cubicBezTo>
                      <a:pt x="4" y="1"/>
                      <a:pt x="3" y="0"/>
                      <a:pt x="2" y="1"/>
                    </a:cubicBezTo>
                    <a:cubicBezTo>
                      <a:pt x="2" y="1"/>
                      <a:pt x="0" y="2"/>
                      <a:pt x="2" y="3"/>
                    </a:cubicBezTo>
                    <a:cubicBezTo>
                      <a:pt x="5" y="5"/>
                      <a:pt x="5" y="6"/>
                      <a:pt x="6" y="7"/>
                    </a:cubicBezTo>
                    <a:cubicBezTo>
                      <a:pt x="8" y="8"/>
                      <a:pt x="11" y="10"/>
                      <a:pt x="12" y="11"/>
                    </a:cubicBezTo>
                    <a:cubicBezTo>
                      <a:pt x="12" y="11"/>
                      <a:pt x="14" y="12"/>
                      <a:pt x="15"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57" name="Freeform 566">
                <a:extLst>
                  <a:ext uri="{FF2B5EF4-FFF2-40B4-BE49-F238E27FC236}">
                    <a16:creationId xmlns:a16="http://schemas.microsoft.com/office/drawing/2014/main" id="{62AB467C-9441-4989-AC5E-443A2CC4E7B5}"/>
                  </a:ext>
                </a:extLst>
              </p:cNvPr>
              <p:cNvSpPr>
                <a:spLocks/>
              </p:cNvSpPr>
              <p:nvPr/>
            </p:nvSpPr>
            <p:spPr bwMode="auto">
              <a:xfrm>
                <a:off x="6719" y="2834"/>
                <a:ext cx="7" cy="10"/>
              </a:xfrm>
              <a:custGeom>
                <a:avLst/>
                <a:gdLst>
                  <a:gd name="T0" fmla="*/ 2 w 5"/>
                  <a:gd name="T1" fmla="*/ 2 h 7"/>
                  <a:gd name="T2" fmla="*/ 1 w 5"/>
                  <a:gd name="T3" fmla="*/ 3 h 7"/>
                  <a:gd name="T4" fmla="*/ 4 w 5"/>
                  <a:gd name="T5" fmla="*/ 5 h 7"/>
                  <a:gd name="T6" fmla="*/ 2 w 5"/>
                  <a:gd name="T7" fmla="*/ 2 h 7"/>
                </a:gdLst>
                <a:ahLst/>
                <a:cxnLst>
                  <a:cxn ang="0">
                    <a:pos x="T0" y="T1"/>
                  </a:cxn>
                  <a:cxn ang="0">
                    <a:pos x="T2" y="T3"/>
                  </a:cxn>
                  <a:cxn ang="0">
                    <a:pos x="T4" y="T5"/>
                  </a:cxn>
                  <a:cxn ang="0">
                    <a:pos x="T6" y="T7"/>
                  </a:cxn>
                </a:cxnLst>
                <a:rect l="0" t="0" r="r" b="b"/>
                <a:pathLst>
                  <a:path w="5" h="7">
                    <a:moveTo>
                      <a:pt x="2" y="2"/>
                    </a:moveTo>
                    <a:cubicBezTo>
                      <a:pt x="0" y="0"/>
                      <a:pt x="1" y="3"/>
                      <a:pt x="1" y="3"/>
                    </a:cubicBezTo>
                    <a:cubicBezTo>
                      <a:pt x="2" y="7"/>
                      <a:pt x="3" y="6"/>
                      <a:pt x="4" y="5"/>
                    </a:cubicBezTo>
                    <a:cubicBezTo>
                      <a:pt x="4" y="4"/>
                      <a:pt x="5" y="4"/>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58" name="Freeform 567">
                <a:extLst>
                  <a:ext uri="{FF2B5EF4-FFF2-40B4-BE49-F238E27FC236}">
                    <a16:creationId xmlns:a16="http://schemas.microsoft.com/office/drawing/2014/main" id="{179B2A03-D773-4EF5-98D7-6101B3053166}"/>
                  </a:ext>
                </a:extLst>
              </p:cNvPr>
              <p:cNvSpPr>
                <a:spLocks/>
              </p:cNvSpPr>
              <p:nvPr/>
            </p:nvSpPr>
            <p:spPr bwMode="auto">
              <a:xfrm>
                <a:off x="6727" y="2843"/>
                <a:ext cx="7" cy="8"/>
              </a:xfrm>
              <a:custGeom>
                <a:avLst/>
                <a:gdLst>
                  <a:gd name="T0" fmla="*/ 2 w 5"/>
                  <a:gd name="T1" fmla="*/ 0 h 6"/>
                  <a:gd name="T2" fmla="*/ 0 w 5"/>
                  <a:gd name="T3" fmla="*/ 2 h 6"/>
                  <a:gd name="T4" fmla="*/ 4 w 5"/>
                  <a:gd name="T5" fmla="*/ 2 h 6"/>
                  <a:gd name="T6" fmla="*/ 2 w 5"/>
                  <a:gd name="T7" fmla="*/ 0 h 6"/>
                </a:gdLst>
                <a:ahLst/>
                <a:cxnLst>
                  <a:cxn ang="0">
                    <a:pos x="T0" y="T1"/>
                  </a:cxn>
                  <a:cxn ang="0">
                    <a:pos x="T2" y="T3"/>
                  </a:cxn>
                  <a:cxn ang="0">
                    <a:pos x="T4" y="T5"/>
                  </a:cxn>
                  <a:cxn ang="0">
                    <a:pos x="T6" y="T7"/>
                  </a:cxn>
                </a:cxnLst>
                <a:rect l="0" t="0" r="r" b="b"/>
                <a:pathLst>
                  <a:path w="5" h="6">
                    <a:moveTo>
                      <a:pt x="2" y="0"/>
                    </a:moveTo>
                    <a:cubicBezTo>
                      <a:pt x="0" y="0"/>
                      <a:pt x="0" y="2"/>
                      <a:pt x="0" y="2"/>
                    </a:cubicBezTo>
                    <a:cubicBezTo>
                      <a:pt x="4" y="6"/>
                      <a:pt x="4" y="3"/>
                      <a:pt x="4" y="2"/>
                    </a:cubicBezTo>
                    <a:cubicBezTo>
                      <a:pt x="5" y="1"/>
                      <a:pt x="3"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59" name="Freeform 568">
                <a:extLst>
                  <a:ext uri="{FF2B5EF4-FFF2-40B4-BE49-F238E27FC236}">
                    <a16:creationId xmlns:a16="http://schemas.microsoft.com/office/drawing/2014/main" id="{190778E4-B0D3-4628-B5BF-2347B842A677}"/>
                  </a:ext>
                </a:extLst>
              </p:cNvPr>
              <p:cNvSpPr>
                <a:spLocks/>
              </p:cNvSpPr>
              <p:nvPr/>
            </p:nvSpPr>
            <p:spPr bwMode="auto">
              <a:xfrm>
                <a:off x="6730" y="2844"/>
                <a:ext cx="18" cy="14"/>
              </a:xfrm>
              <a:custGeom>
                <a:avLst/>
                <a:gdLst>
                  <a:gd name="T0" fmla="*/ 8 w 13"/>
                  <a:gd name="T1" fmla="*/ 2 h 10"/>
                  <a:gd name="T2" fmla="*/ 5 w 13"/>
                  <a:gd name="T3" fmla="*/ 1 h 10"/>
                  <a:gd name="T4" fmla="*/ 4 w 13"/>
                  <a:gd name="T5" fmla="*/ 5 h 10"/>
                  <a:gd name="T6" fmla="*/ 7 w 13"/>
                  <a:gd name="T7" fmla="*/ 6 h 10"/>
                  <a:gd name="T8" fmla="*/ 10 w 13"/>
                  <a:gd name="T9" fmla="*/ 9 h 10"/>
                  <a:gd name="T10" fmla="*/ 11 w 13"/>
                  <a:gd name="T11" fmla="*/ 6 h 10"/>
                  <a:gd name="T12" fmla="*/ 8 w 13"/>
                  <a:gd name="T13" fmla="*/ 2 h 10"/>
                </a:gdLst>
                <a:ahLst/>
                <a:cxnLst>
                  <a:cxn ang="0">
                    <a:pos x="T0" y="T1"/>
                  </a:cxn>
                  <a:cxn ang="0">
                    <a:pos x="T2" y="T3"/>
                  </a:cxn>
                  <a:cxn ang="0">
                    <a:pos x="T4" y="T5"/>
                  </a:cxn>
                  <a:cxn ang="0">
                    <a:pos x="T6" y="T7"/>
                  </a:cxn>
                  <a:cxn ang="0">
                    <a:pos x="T8" y="T9"/>
                  </a:cxn>
                  <a:cxn ang="0">
                    <a:pos x="T10" y="T11"/>
                  </a:cxn>
                  <a:cxn ang="0">
                    <a:pos x="T12" y="T13"/>
                  </a:cxn>
                </a:cxnLst>
                <a:rect l="0" t="0" r="r" b="b"/>
                <a:pathLst>
                  <a:path w="13" h="10">
                    <a:moveTo>
                      <a:pt x="8" y="2"/>
                    </a:moveTo>
                    <a:cubicBezTo>
                      <a:pt x="8" y="2"/>
                      <a:pt x="7" y="0"/>
                      <a:pt x="5" y="1"/>
                    </a:cubicBezTo>
                    <a:cubicBezTo>
                      <a:pt x="4" y="3"/>
                      <a:pt x="0" y="7"/>
                      <a:pt x="4" y="5"/>
                    </a:cubicBezTo>
                    <a:cubicBezTo>
                      <a:pt x="4" y="5"/>
                      <a:pt x="6" y="4"/>
                      <a:pt x="7" y="6"/>
                    </a:cubicBezTo>
                    <a:cubicBezTo>
                      <a:pt x="7" y="7"/>
                      <a:pt x="9" y="8"/>
                      <a:pt x="10" y="9"/>
                    </a:cubicBezTo>
                    <a:cubicBezTo>
                      <a:pt x="11" y="10"/>
                      <a:pt x="13" y="8"/>
                      <a:pt x="11" y="6"/>
                    </a:cubicBezTo>
                    <a:cubicBezTo>
                      <a:pt x="10" y="4"/>
                      <a:pt x="9" y="3"/>
                      <a:pt x="8"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60" name="Freeform 569">
                <a:extLst>
                  <a:ext uri="{FF2B5EF4-FFF2-40B4-BE49-F238E27FC236}">
                    <a16:creationId xmlns:a16="http://schemas.microsoft.com/office/drawing/2014/main" id="{6DFE05B6-0C9E-4089-8DB4-43D16FDDBC93}"/>
                  </a:ext>
                </a:extLst>
              </p:cNvPr>
              <p:cNvSpPr>
                <a:spLocks/>
              </p:cNvSpPr>
              <p:nvPr/>
            </p:nvSpPr>
            <p:spPr bwMode="auto">
              <a:xfrm>
                <a:off x="6734" y="2854"/>
                <a:ext cx="4" cy="5"/>
              </a:xfrm>
              <a:custGeom>
                <a:avLst/>
                <a:gdLst>
                  <a:gd name="T0" fmla="*/ 0 w 3"/>
                  <a:gd name="T1" fmla="*/ 2 h 4"/>
                  <a:gd name="T2" fmla="*/ 1 w 3"/>
                  <a:gd name="T3" fmla="*/ 3 h 4"/>
                  <a:gd name="T4" fmla="*/ 2 w 3"/>
                  <a:gd name="T5" fmla="*/ 2 h 4"/>
                  <a:gd name="T6" fmla="*/ 2 w 3"/>
                  <a:gd name="T7" fmla="*/ 1 h 4"/>
                  <a:gd name="T8" fmla="*/ 0 w 3"/>
                  <a:gd name="T9" fmla="*/ 2 h 4"/>
                </a:gdLst>
                <a:ahLst/>
                <a:cxnLst>
                  <a:cxn ang="0">
                    <a:pos x="T0" y="T1"/>
                  </a:cxn>
                  <a:cxn ang="0">
                    <a:pos x="T2" y="T3"/>
                  </a:cxn>
                  <a:cxn ang="0">
                    <a:pos x="T4" y="T5"/>
                  </a:cxn>
                  <a:cxn ang="0">
                    <a:pos x="T6" y="T7"/>
                  </a:cxn>
                  <a:cxn ang="0">
                    <a:pos x="T8" y="T9"/>
                  </a:cxn>
                </a:cxnLst>
                <a:rect l="0" t="0" r="r" b="b"/>
                <a:pathLst>
                  <a:path w="3" h="4">
                    <a:moveTo>
                      <a:pt x="0" y="2"/>
                    </a:moveTo>
                    <a:cubicBezTo>
                      <a:pt x="0" y="3"/>
                      <a:pt x="0" y="4"/>
                      <a:pt x="1" y="3"/>
                    </a:cubicBezTo>
                    <a:cubicBezTo>
                      <a:pt x="2" y="2"/>
                      <a:pt x="2" y="2"/>
                      <a:pt x="2" y="2"/>
                    </a:cubicBezTo>
                    <a:cubicBezTo>
                      <a:pt x="2" y="2"/>
                      <a:pt x="3" y="1"/>
                      <a:pt x="2" y="1"/>
                    </a:cubicBezTo>
                    <a:cubicBezTo>
                      <a:pt x="1" y="0"/>
                      <a:pt x="0" y="1"/>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61" name="Freeform 570">
                <a:extLst>
                  <a:ext uri="{FF2B5EF4-FFF2-40B4-BE49-F238E27FC236}">
                    <a16:creationId xmlns:a16="http://schemas.microsoft.com/office/drawing/2014/main" id="{CF7CC73D-FA77-4B94-98FB-F652C8386430}"/>
                  </a:ext>
                </a:extLst>
              </p:cNvPr>
              <p:cNvSpPr>
                <a:spLocks/>
              </p:cNvSpPr>
              <p:nvPr/>
            </p:nvSpPr>
            <p:spPr bwMode="auto">
              <a:xfrm>
                <a:off x="6748" y="2856"/>
                <a:ext cx="5" cy="7"/>
              </a:xfrm>
              <a:custGeom>
                <a:avLst/>
                <a:gdLst>
                  <a:gd name="T0" fmla="*/ 3 w 4"/>
                  <a:gd name="T1" fmla="*/ 0 h 5"/>
                  <a:gd name="T2" fmla="*/ 0 w 4"/>
                  <a:gd name="T3" fmla="*/ 2 h 5"/>
                  <a:gd name="T4" fmla="*/ 2 w 4"/>
                  <a:gd name="T5" fmla="*/ 3 h 5"/>
                  <a:gd name="T6" fmla="*/ 3 w 4"/>
                  <a:gd name="T7" fmla="*/ 0 h 5"/>
                </a:gdLst>
                <a:ahLst/>
                <a:cxnLst>
                  <a:cxn ang="0">
                    <a:pos x="T0" y="T1"/>
                  </a:cxn>
                  <a:cxn ang="0">
                    <a:pos x="T2" y="T3"/>
                  </a:cxn>
                  <a:cxn ang="0">
                    <a:pos x="T4" y="T5"/>
                  </a:cxn>
                  <a:cxn ang="0">
                    <a:pos x="T6" y="T7"/>
                  </a:cxn>
                </a:cxnLst>
                <a:rect l="0" t="0" r="r" b="b"/>
                <a:pathLst>
                  <a:path w="4" h="5">
                    <a:moveTo>
                      <a:pt x="3" y="0"/>
                    </a:moveTo>
                    <a:cubicBezTo>
                      <a:pt x="1" y="0"/>
                      <a:pt x="0" y="1"/>
                      <a:pt x="0" y="2"/>
                    </a:cubicBezTo>
                    <a:cubicBezTo>
                      <a:pt x="0" y="2"/>
                      <a:pt x="1" y="5"/>
                      <a:pt x="2" y="3"/>
                    </a:cubicBezTo>
                    <a:cubicBezTo>
                      <a:pt x="3" y="1"/>
                      <a:pt x="4" y="0"/>
                      <a:pt x="3"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62" name="Freeform 571">
                <a:extLst>
                  <a:ext uri="{FF2B5EF4-FFF2-40B4-BE49-F238E27FC236}">
                    <a16:creationId xmlns:a16="http://schemas.microsoft.com/office/drawing/2014/main" id="{AF7EF759-344D-4718-98CB-1EE7994847B8}"/>
                  </a:ext>
                </a:extLst>
              </p:cNvPr>
              <p:cNvSpPr>
                <a:spLocks/>
              </p:cNvSpPr>
              <p:nvPr/>
            </p:nvSpPr>
            <p:spPr bwMode="auto">
              <a:xfrm>
                <a:off x="6738" y="2860"/>
                <a:ext cx="4" cy="2"/>
              </a:xfrm>
              <a:custGeom>
                <a:avLst/>
                <a:gdLst>
                  <a:gd name="T0" fmla="*/ 0 w 3"/>
                  <a:gd name="T1" fmla="*/ 0 h 1"/>
                  <a:gd name="T2" fmla="*/ 2 w 3"/>
                  <a:gd name="T3" fmla="*/ 1 h 1"/>
                  <a:gd name="T4" fmla="*/ 0 w 3"/>
                  <a:gd name="T5" fmla="*/ 0 h 1"/>
                </a:gdLst>
                <a:ahLst/>
                <a:cxnLst>
                  <a:cxn ang="0">
                    <a:pos x="T0" y="T1"/>
                  </a:cxn>
                  <a:cxn ang="0">
                    <a:pos x="T2" y="T3"/>
                  </a:cxn>
                  <a:cxn ang="0">
                    <a:pos x="T4" y="T5"/>
                  </a:cxn>
                </a:cxnLst>
                <a:rect l="0" t="0" r="r" b="b"/>
                <a:pathLst>
                  <a:path w="3" h="1">
                    <a:moveTo>
                      <a:pt x="0" y="0"/>
                    </a:moveTo>
                    <a:cubicBezTo>
                      <a:pt x="0" y="0"/>
                      <a:pt x="3" y="1"/>
                      <a:pt x="2" y="1"/>
                    </a:cubicBezTo>
                    <a:cubicBezTo>
                      <a:pt x="2" y="0"/>
                      <a:pt x="1" y="0"/>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63" name="Freeform 572">
                <a:extLst>
                  <a:ext uri="{FF2B5EF4-FFF2-40B4-BE49-F238E27FC236}">
                    <a16:creationId xmlns:a16="http://schemas.microsoft.com/office/drawing/2014/main" id="{77337545-C2A9-4489-BC7D-8B42A1A38F9F}"/>
                  </a:ext>
                </a:extLst>
              </p:cNvPr>
              <p:cNvSpPr>
                <a:spLocks/>
              </p:cNvSpPr>
              <p:nvPr/>
            </p:nvSpPr>
            <p:spPr bwMode="auto">
              <a:xfrm>
                <a:off x="6758" y="2836"/>
                <a:ext cx="30" cy="20"/>
              </a:xfrm>
              <a:custGeom>
                <a:avLst/>
                <a:gdLst>
                  <a:gd name="T0" fmla="*/ 21 w 22"/>
                  <a:gd name="T1" fmla="*/ 14 h 15"/>
                  <a:gd name="T2" fmla="*/ 21 w 22"/>
                  <a:gd name="T3" fmla="*/ 12 h 15"/>
                  <a:gd name="T4" fmla="*/ 20 w 22"/>
                  <a:gd name="T5" fmla="*/ 10 h 15"/>
                  <a:gd name="T6" fmla="*/ 15 w 22"/>
                  <a:gd name="T7" fmla="*/ 7 h 15"/>
                  <a:gd name="T8" fmla="*/ 11 w 22"/>
                  <a:gd name="T9" fmla="*/ 6 h 15"/>
                  <a:gd name="T10" fmla="*/ 8 w 22"/>
                  <a:gd name="T11" fmla="*/ 3 h 15"/>
                  <a:gd name="T12" fmla="*/ 2 w 22"/>
                  <a:gd name="T13" fmla="*/ 0 h 15"/>
                  <a:gd name="T14" fmla="*/ 2 w 22"/>
                  <a:gd name="T15" fmla="*/ 1 h 15"/>
                  <a:gd name="T16" fmla="*/ 3 w 22"/>
                  <a:gd name="T17" fmla="*/ 3 h 15"/>
                  <a:gd name="T18" fmla="*/ 5 w 22"/>
                  <a:gd name="T19" fmla="*/ 5 h 15"/>
                  <a:gd name="T20" fmla="*/ 14 w 22"/>
                  <a:gd name="T21" fmla="*/ 11 h 15"/>
                  <a:gd name="T22" fmla="*/ 20 w 22"/>
                  <a:gd name="T23" fmla="*/ 14 h 15"/>
                  <a:gd name="T24" fmla="*/ 21 w 22"/>
                  <a:gd name="T25"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15">
                    <a:moveTo>
                      <a:pt x="21" y="14"/>
                    </a:moveTo>
                    <a:cubicBezTo>
                      <a:pt x="21" y="13"/>
                      <a:pt x="21" y="13"/>
                      <a:pt x="21" y="12"/>
                    </a:cubicBezTo>
                    <a:cubicBezTo>
                      <a:pt x="22" y="12"/>
                      <a:pt x="20" y="11"/>
                      <a:pt x="20" y="10"/>
                    </a:cubicBezTo>
                    <a:cubicBezTo>
                      <a:pt x="20" y="10"/>
                      <a:pt x="16" y="8"/>
                      <a:pt x="15" y="7"/>
                    </a:cubicBezTo>
                    <a:cubicBezTo>
                      <a:pt x="13" y="7"/>
                      <a:pt x="11" y="6"/>
                      <a:pt x="11" y="6"/>
                    </a:cubicBezTo>
                    <a:cubicBezTo>
                      <a:pt x="10" y="5"/>
                      <a:pt x="9" y="5"/>
                      <a:pt x="8" y="3"/>
                    </a:cubicBezTo>
                    <a:cubicBezTo>
                      <a:pt x="6" y="2"/>
                      <a:pt x="3" y="1"/>
                      <a:pt x="2" y="0"/>
                    </a:cubicBezTo>
                    <a:cubicBezTo>
                      <a:pt x="0" y="0"/>
                      <a:pt x="1" y="1"/>
                      <a:pt x="2" y="1"/>
                    </a:cubicBezTo>
                    <a:cubicBezTo>
                      <a:pt x="2" y="2"/>
                      <a:pt x="3" y="3"/>
                      <a:pt x="3" y="3"/>
                    </a:cubicBezTo>
                    <a:cubicBezTo>
                      <a:pt x="3" y="4"/>
                      <a:pt x="4" y="4"/>
                      <a:pt x="5" y="5"/>
                    </a:cubicBezTo>
                    <a:cubicBezTo>
                      <a:pt x="6" y="7"/>
                      <a:pt x="13" y="10"/>
                      <a:pt x="14" y="11"/>
                    </a:cubicBezTo>
                    <a:cubicBezTo>
                      <a:pt x="15" y="11"/>
                      <a:pt x="18" y="13"/>
                      <a:pt x="20" y="14"/>
                    </a:cubicBezTo>
                    <a:cubicBezTo>
                      <a:pt x="21" y="15"/>
                      <a:pt x="22" y="15"/>
                      <a:pt x="21" y="1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64" name="Freeform 573">
                <a:extLst>
                  <a:ext uri="{FF2B5EF4-FFF2-40B4-BE49-F238E27FC236}">
                    <a16:creationId xmlns:a16="http://schemas.microsoft.com/office/drawing/2014/main" id="{B635B99A-4EE4-44CC-B22E-480E76D4256B}"/>
                  </a:ext>
                </a:extLst>
              </p:cNvPr>
              <p:cNvSpPr>
                <a:spLocks/>
              </p:cNvSpPr>
              <p:nvPr/>
            </p:nvSpPr>
            <p:spPr bwMode="auto">
              <a:xfrm>
                <a:off x="6792" y="2866"/>
                <a:ext cx="4" cy="3"/>
              </a:xfrm>
              <a:custGeom>
                <a:avLst/>
                <a:gdLst>
                  <a:gd name="T0" fmla="*/ 1 w 3"/>
                  <a:gd name="T1" fmla="*/ 0 h 2"/>
                  <a:gd name="T2" fmla="*/ 3 w 3"/>
                  <a:gd name="T3" fmla="*/ 2 h 2"/>
                  <a:gd name="T4" fmla="*/ 1 w 3"/>
                  <a:gd name="T5" fmla="*/ 0 h 2"/>
                </a:gdLst>
                <a:ahLst/>
                <a:cxnLst>
                  <a:cxn ang="0">
                    <a:pos x="T0" y="T1"/>
                  </a:cxn>
                  <a:cxn ang="0">
                    <a:pos x="T2" y="T3"/>
                  </a:cxn>
                  <a:cxn ang="0">
                    <a:pos x="T4" y="T5"/>
                  </a:cxn>
                </a:cxnLst>
                <a:rect l="0" t="0" r="r" b="b"/>
                <a:pathLst>
                  <a:path w="3" h="2">
                    <a:moveTo>
                      <a:pt x="1" y="0"/>
                    </a:moveTo>
                    <a:cubicBezTo>
                      <a:pt x="0" y="0"/>
                      <a:pt x="1" y="2"/>
                      <a:pt x="3" y="2"/>
                    </a:cubicBezTo>
                    <a:cubicBezTo>
                      <a:pt x="3" y="2"/>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65" name="Freeform 574">
                <a:extLst>
                  <a:ext uri="{FF2B5EF4-FFF2-40B4-BE49-F238E27FC236}">
                    <a16:creationId xmlns:a16="http://schemas.microsoft.com/office/drawing/2014/main" id="{5DE9A6FB-7739-4E42-B277-9BC21A979E90}"/>
                  </a:ext>
                </a:extLst>
              </p:cNvPr>
              <p:cNvSpPr>
                <a:spLocks/>
              </p:cNvSpPr>
              <p:nvPr/>
            </p:nvSpPr>
            <p:spPr bwMode="auto">
              <a:xfrm>
                <a:off x="6795" y="2867"/>
                <a:ext cx="3" cy="3"/>
              </a:xfrm>
              <a:custGeom>
                <a:avLst/>
                <a:gdLst>
                  <a:gd name="T0" fmla="*/ 2 w 2"/>
                  <a:gd name="T1" fmla="*/ 2 h 2"/>
                  <a:gd name="T2" fmla="*/ 0 w 2"/>
                  <a:gd name="T3" fmla="*/ 2 h 2"/>
                  <a:gd name="T4" fmla="*/ 2 w 2"/>
                  <a:gd name="T5" fmla="*/ 2 h 2"/>
                </a:gdLst>
                <a:ahLst/>
                <a:cxnLst>
                  <a:cxn ang="0">
                    <a:pos x="T0" y="T1"/>
                  </a:cxn>
                  <a:cxn ang="0">
                    <a:pos x="T2" y="T3"/>
                  </a:cxn>
                  <a:cxn ang="0">
                    <a:pos x="T4" y="T5"/>
                  </a:cxn>
                </a:cxnLst>
                <a:rect l="0" t="0" r="r" b="b"/>
                <a:pathLst>
                  <a:path w="2" h="2">
                    <a:moveTo>
                      <a:pt x="2" y="2"/>
                    </a:moveTo>
                    <a:cubicBezTo>
                      <a:pt x="2" y="2"/>
                      <a:pt x="2" y="0"/>
                      <a:pt x="0" y="2"/>
                    </a:cubicBezTo>
                    <a:cubicBezTo>
                      <a:pt x="0" y="2"/>
                      <a:pt x="1" y="2"/>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66" name="Freeform 575">
                <a:extLst>
                  <a:ext uri="{FF2B5EF4-FFF2-40B4-BE49-F238E27FC236}">
                    <a16:creationId xmlns:a16="http://schemas.microsoft.com/office/drawing/2014/main" id="{A6C0E8A5-0F6F-4614-9744-4010788CA733}"/>
                  </a:ext>
                </a:extLst>
              </p:cNvPr>
              <p:cNvSpPr>
                <a:spLocks/>
              </p:cNvSpPr>
              <p:nvPr/>
            </p:nvSpPr>
            <p:spPr bwMode="auto">
              <a:xfrm>
                <a:off x="6781" y="2869"/>
                <a:ext cx="26" cy="17"/>
              </a:xfrm>
              <a:custGeom>
                <a:avLst/>
                <a:gdLst>
                  <a:gd name="T0" fmla="*/ 12 w 19"/>
                  <a:gd name="T1" fmla="*/ 5 h 13"/>
                  <a:gd name="T2" fmla="*/ 4 w 19"/>
                  <a:gd name="T3" fmla="*/ 3 h 13"/>
                  <a:gd name="T4" fmla="*/ 1 w 19"/>
                  <a:gd name="T5" fmla="*/ 3 h 13"/>
                  <a:gd name="T6" fmla="*/ 2 w 19"/>
                  <a:gd name="T7" fmla="*/ 7 h 13"/>
                  <a:gd name="T8" fmla="*/ 8 w 19"/>
                  <a:gd name="T9" fmla="*/ 10 h 13"/>
                  <a:gd name="T10" fmla="*/ 13 w 19"/>
                  <a:gd name="T11" fmla="*/ 11 h 13"/>
                  <a:gd name="T12" fmla="*/ 17 w 19"/>
                  <a:gd name="T13" fmla="*/ 12 h 13"/>
                  <a:gd name="T14" fmla="*/ 18 w 19"/>
                  <a:gd name="T15" fmla="*/ 8 h 13"/>
                  <a:gd name="T16" fmla="*/ 12 w 19"/>
                  <a:gd name="T17"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2" y="5"/>
                    </a:moveTo>
                    <a:cubicBezTo>
                      <a:pt x="9" y="5"/>
                      <a:pt x="6" y="4"/>
                      <a:pt x="4" y="3"/>
                    </a:cubicBezTo>
                    <a:cubicBezTo>
                      <a:pt x="4" y="3"/>
                      <a:pt x="2" y="0"/>
                      <a:pt x="1" y="3"/>
                    </a:cubicBezTo>
                    <a:cubicBezTo>
                      <a:pt x="0" y="5"/>
                      <a:pt x="1" y="6"/>
                      <a:pt x="2" y="7"/>
                    </a:cubicBezTo>
                    <a:cubicBezTo>
                      <a:pt x="4" y="9"/>
                      <a:pt x="7" y="11"/>
                      <a:pt x="8" y="10"/>
                    </a:cubicBezTo>
                    <a:cubicBezTo>
                      <a:pt x="10" y="10"/>
                      <a:pt x="12" y="11"/>
                      <a:pt x="13" y="11"/>
                    </a:cubicBezTo>
                    <a:cubicBezTo>
                      <a:pt x="14" y="11"/>
                      <a:pt x="16" y="13"/>
                      <a:pt x="17" y="12"/>
                    </a:cubicBezTo>
                    <a:cubicBezTo>
                      <a:pt x="18" y="10"/>
                      <a:pt x="19" y="10"/>
                      <a:pt x="18" y="8"/>
                    </a:cubicBezTo>
                    <a:cubicBezTo>
                      <a:pt x="17" y="7"/>
                      <a:pt x="14" y="4"/>
                      <a:pt x="12"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1292" name="Group 777">
              <a:extLst>
                <a:ext uri="{FF2B5EF4-FFF2-40B4-BE49-F238E27FC236}">
                  <a16:creationId xmlns:a16="http://schemas.microsoft.com/office/drawing/2014/main" id="{FE521FFF-8F5E-429D-BEDD-1D47AE43CD42}"/>
                </a:ext>
              </a:extLst>
            </p:cNvPr>
            <p:cNvGrpSpPr>
              <a:grpSpLocks/>
            </p:cNvGrpSpPr>
            <p:nvPr/>
          </p:nvGrpSpPr>
          <p:grpSpPr bwMode="auto">
            <a:xfrm>
              <a:off x="4030" y="453"/>
              <a:ext cx="3404" cy="2473"/>
              <a:chOff x="4030" y="453"/>
              <a:chExt cx="3404" cy="2473"/>
            </a:xfrm>
            <a:grpFill/>
          </p:grpSpPr>
          <p:sp>
            <p:nvSpPr>
              <p:cNvPr id="1767" name="Freeform 577">
                <a:extLst>
                  <a:ext uri="{FF2B5EF4-FFF2-40B4-BE49-F238E27FC236}">
                    <a16:creationId xmlns:a16="http://schemas.microsoft.com/office/drawing/2014/main" id="{8F8A7E42-E006-4C76-A9A7-34CBAA550823}"/>
                  </a:ext>
                </a:extLst>
              </p:cNvPr>
              <p:cNvSpPr>
                <a:spLocks/>
              </p:cNvSpPr>
              <p:nvPr/>
            </p:nvSpPr>
            <p:spPr bwMode="auto">
              <a:xfrm>
                <a:off x="6800" y="2851"/>
                <a:ext cx="18" cy="29"/>
              </a:xfrm>
              <a:custGeom>
                <a:avLst/>
                <a:gdLst>
                  <a:gd name="T0" fmla="*/ 13 w 13"/>
                  <a:gd name="T1" fmla="*/ 19 h 21"/>
                  <a:gd name="T2" fmla="*/ 12 w 13"/>
                  <a:gd name="T3" fmla="*/ 15 h 21"/>
                  <a:gd name="T4" fmla="*/ 10 w 13"/>
                  <a:gd name="T5" fmla="*/ 10 h 21"/>
                  <a:gd name="T6" fmla="*/ 8 w 13"/>
                  <a:gd name="T7" fmla="*/ 6 h 21"/>
                  <a:gd name="T8" fmla="*/ 4 w 13"/>
                  <a:gd name="T9" fmla="*/ 1 h 21"/>
                  <a:gd name="T10" fmla="*/ 2 w 13"/>
                  <a:gd name="T11" fmla="*/ 1 h 21"/>
                  <a:gd name="T12" fmla="*/ 3 w 13"/>
                  <a:gd name="T13" fmla="*/ 3 h 21"/>
                  <a:gd name="T14" fmla="*/ 3 w 13"/>
                  <a:gd name="T15" fmla="*/ 7 h 21"/>
                  <a:gd name="T16" fmla="*/ 7 w 13"/>
                  <a:gd name="T17" fmla="*/ 14 h 21"/>
                  <a:gd name="T18" fmla="*/ 11 w 13"/>
                  <a:gd name="T19" fmla="*/ 19 h 21"/>
                  <a:gd name="T20" fmla="*/ 13 w 13"/>
                  <a:gd name="T21" fmla="*/ 19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21">
                    <a:moveTo>
                      <a:pt x="13" y="19"/>
                    </a:moveTo>
                    <a:cubicBezTo>
                      <a:pt x="12" y="18"/>
                      <a:pt x="12" y="16"/>
                      <a:pt x="12" y="15"/>
                    </a:cubicBezTo>
                    <a:cubicBezTo>
                      <a:pt x="12" y="13"/>
                      <a:pt x="10" y="11"/>
                      <a:pt x="10" y="10"/>
                    </a:cubicBezTo>
                    <a:cubicBezTo>
                      <a:pt x="9" y="10"/>
                      <a:pt x="8" y="8"/>
                      <a:pt x="8" y="6"/>
                    </a:cubicBezTo>
                    <a:cubicBezTo>
                      <a:pt x="7" y="4"/>
                      <a:pt x="5" y="2"/>
                      <a:pt x="4" y="1"/>
                    </a:cubicBezTo>
                    <a:cubicBezTo>
                      <a:pt x="3" y="0"/>
                      <a:pt x="3" y="2"/>
                      <a:pt x="2" y="1"/>
                    </a:cubicBezTo>
                    <a:cubicBezTo>
                      <a:pt x="0" y="1"/>
                      <a:pt x="3" y="3"/>
                      <a:pt x="3" y="3"/>
                    </a:cubicBezTo>
                    <a:cubicBezTo>
                      <a:pt x="3" y="3"/>
                      <a:pt x="3" y="4"/>
                      <a:pt x="3" y="7"/>
                    </a:cubicBezTo>
                    <a:cubicBezTo>
                      <a:pt x="3" y="9"/>
                      <a:pt x="6" y="13"/>
                      <a:pt x="7" y="14"/>
                    </a:cubicBezTo>
                    <a:cubicBezTo>
                      <a:pt x="8" y="15"/>
                      <a:pt x="10" y="17"/>
                      <a:pt x="11" y="19"/>
                    </a:cubicBezTo>
                    <a:cubicBezTo>
                      <a:pt x="13" y="21"/>
                      <a:pt x="13" y="20"/>
                      <a:pt x="13" y="1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68" name="Freeform 578">
                <a:extLst>
                  <a:ext uri="{FF2B5EF4-FFF2-40B4-BE49-F238E27FC236}">
                    <a16:creationId xmlns:a16="http://schemas.microsoft.com/office/drawing/2014/main" id="{2E48AFCF-4396-483B-946F-EE99C2561A7A}"/>
                  </a:ext>
                </a:extLst>
              </p:cNvPr>
              <p:cNvSpPr>
                <a:spLocks/>
              </p:cNvSpPr>
              <p:nvPr/>
            </p:nvSpPr>
            <p:spPr bwMode="auto">
              <a:xfrm>
                <a:off x="6818" y="2874"/>
                <a:ext cx="6" cy="8"/>
              </a:xfrm>
              <a:custGeom>
                <a:avLst/>
                <a:gdLst>
                  <a:gd name="T0" fmla="*/ 0 w 4"/>
                  <a:gd name="T1" fmla="*/ 0 h 6"/>
                  <a:gd name="T2" fmla="*/ 3 w 4"/>
                  <a:gd name="T3" fmla="*/ 6 h 6"/>
                  <a:gd name="T4" fmla="*/ 0 w 4"/>
                  <a:gd name="T5" fmla="*/ 0 h 6"/>
                </a:gdLst>
                <a:ahLst/>
                <a:cxnLst>
                  <a:cxn ang="0">
                    <a:pos x="T0" y="T1"/>
                  </a:cxn>
                  <a:cxn ang="0">
                    <a:pos x="T2" y="T3"/>
                  </a:cxn>
                  <a:cxn ang="0">
                    <a:pos x="T4" y="T5"/>
                  </a:cxn>
                </a:cxnLst>
                <a:rect l="0" t="0" r="r" b="b"/>
                <a:pathLst>
                  <a:path w="4" h="6">
                    <a:moveTo>
                      <a:pt x="0" y="0"/>
                    </a:moveTo>
                    <a:cubicBezTo>
                      <a:pt x="0" y="0"/>
                      <a:pt x="3" y="4"/>
                      <a:pt x="3" y="6"/>
                    </a:cubicBezTo>
                    <a:cubicBezTo>
                      <a:pt x="3" y="6"/>
                      <a:pt x="4" y="3"/>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69" name="Freeform 579">
                <a:extLst>
                  <a:ext uri="{FF2B5EF4-FFF2-40B4-BE49-F238E27FC236}">
                    <a16:creationId xmlns:a16="http://schemas.microsoft.com/office/drawing/2014/main" id="{D76B82E0-697D-4A26-A6DC-45C3740D6232}"/>
                  </a:ext>
                </a:extLst>
              </p:cNvPr>
              <p:cNvSpPr>
                <a:spLocks/>
              </p:cNvSpPr>
              <p:nvPr/>
            </p:nvSpPr>
            <p:spPr bwMode="auto">
              <a:xfrm>
                <a:off x="6789" y="2915"/>
                <a:ext cx="13" cy="11"/>
              </a:xfrm>
              <a:custGeom>
                <a:avLst/>
                <a:gdLst>
                  <a:gd name="T0" fmla="*/ 6 w 9"/>
                  <a:gd name="T1" fmla="*/ 3 h 8"/>
                  <a:gd name="T2" fmla="*/ 1 w 9"/>
                  <a:gd name="T3" fmla="*/ 2 h 8"/>
                  <a:gd name="T4" fmla="*/ 9 w 9"/>
                  <a:gd name="T5" fmla="*/ 6 h 8"/>
                  <a:gd name="T6" fmla="*/ 6 w 9"/>
                  <a:gd name="T7" fmla="*/ 3 h 8"/>
                </a:gdLst>
                <a:ahLst/>
                <a:cxnLst>
                  <a:cxn ang="0">
                    <a:pos x="T0" y="T1"/>
                  </a:cxn>
                  <a:cxn ang="0">
                    <a:pos x="T2" y="T3"/>
                  </a:cxn>
                  <a:cxn ang="0">
                    <a:pos x="T4" y="T5"/>
                  </a:cxn>
                  <a:cxn ang="0">
                    <a:pos x="T6" y="T7"/>
                  </a:cxn>
                </a:cxnLst>
                <a:rect l="0" t="0" r="r" b="b"/>
                <a:pathLst>
                  <a:path w="9" h="8">
                    <a:moveTo>
                      <a:pt x="6" y="3"/>
                    </a:moveTo>
                    <a:cubicBezTo>
                      <a:pt x="4" y="3"/>
                      <a:pt x="0" y="0"/>
                      <a:pt x="1" y="2"/>
                    </a:cubicBezTo>
                    <a:cubicBezTo>
                      <a:pt x="3" y="4"/>
                      <a:pt x="8" y="8"/>
                      <a:pt x="9" y="6"/>
                    </a:cubicBezTo>
                    <a:cubicBezTo>
                      <a:pt x="9" y="6"/>
                      <a:pt x="8" y="4"/>
                      <a:pt x="6"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70" name="Freeform 580">
                <a:extLst>
                  <a:ext uri="{FF2B5EF4-FFF2-40B4-BE49-F238E27FC236}">
                    <a16:creationId xmlns:a16="http://schemas.microsoft.com/office/drawing/2014/main" id="{078EC0BE-E924-436A-9B8E-77F25D4E3A96}"/>
                  </a:ext>
                </a:extLst>
              </p:cNvPr>
              <p:cNvSpPr>
                <a:spLocks/>
              </p:cNvSpPr>
              <p:nvPr/>
            </p:nvSpPr>
            <p:spPr bwMode="auto">
              <a:xfrm>
                <a:off x="6817" y="2889"/>
                <a:ext cx="25" cy="15"/>
              </a:xfrm>
              <a:custGeom>
                <a:avLst/>
                <a:gdLst>
                  <a:gd name="T0" fmla="*/ 13 w 18"/>
                  <a:gd name="T1" fmla="*/ 5 h 11"/>
                  <a:gd name="T2" fmla="*/ 9 w 18"/>
                  <a:gd name="T3" fmla="*/ 5 h 11"/>
                  <a:gd name="T4" fmla="*/ 3 w 18"/>
                  <a:gd name="T5" fmla="*/ 1 h 11"/>
                  <a:gd name="T6" fmla="*/ 0 w 18"/>
                  <a:gd name="T7" fmla="*/ 2 h 11"/>
                  <a:gd name="T8" fmla="*/ 2 w 18"/>
                  <a:gd name="T9" fmla="*/ 3 h 11"/>
                  <a:gd name="T10" fmla="*/ 3 w 18"/>
                  <a:gd name="T11" fmla="*/ 5 h 11"/>
                  <a:gd name="T12" fmla="*/ 7 w 18"/>
                  <a:gd name="T13" fmla="*/ 8 h 11"/>
                  <a:gd name="T14" fmla="*/ 16 w 18"/>
                  <a:gd name="T15" fmla="*/ 11 h 11"/>
                  <a:gd name="T16" fmla="*/ 13 w 18"/>
                  <a:gd name="T17"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1">
                    <a:moveTo>
                      <a:pt x="13" y="5"/>
                    </a:moveTo>
                    <a:cubicBezTo>
                      <a:pt x="11" y="4"/>
                      <a:pt x="11" y="5"/>
                      <a:pt x="9" y="5"/>
                    </a:cubicBezTo>
                    <a:cubicBezTo>
                      <a:pt x="8" y="4"/>
                      <a:pt x="4" y="2"/>
                      <a:pt x="3" y="1"/>
                    </a:cubicBezTo>
                    <a:cubicBezTo>
                      <a:pt x="1" y="0"/>
                      <a:pt x="0" y="1"/>
                      <a:pt x="0" y="2"/>
                    </a:cubicBezTo>
                    <a:cubicBezTo>
                      <a:pt x="1" y="3"/>
                      <a:pt x="1" y="3"/>
                      <a:pt x="2" y="3"/>
                    </a:cubicBezTo>
                    <a:cubicBezTo>
                      <a:pt x="3" y="3"/>
                      <a:pt x="3" y="5"/>
                      <a:pt x="3" y="5"/>
                    </a:cubicBezTo>
                    <a:cubicBezTo>
                      <a:pt x="4" y="5"/>
                      <a:pt x="4" y="6"/>
                      <a:pt x="7" y="8"/>
                    </a:cubicBezTo>
                    <a:cubicBezTo>
                      <a:pt x="10" y="10"/>
                      <a:pt x="15" y="11"/>
                      <a:pt x="16" y="11"/>
                    </a:cubicBezTo>
                    <a:cubicBezTo>
                      <a:pt x="18" y="10"/>
                      <a:pt x="14" y="7"/>
                      <a:pt x="13"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71" name="Freeform 581">
                <a:extLst>
                  <a:ext uri="{FF2B5EF4-FFF2-40B4-BE49-F238E27FC236}">
                    <a16:creationId xmlns:a16="http://schemas.microsoft.com/office/drawing/2014/main" id="{F637CB52-5CD2-460A-AC55-F23B6F5CCC8D}"/>
                  </a:ext>
                </a:extLst>
              </p:cNvPr>
              <p:cNvSpPr>
                <a:spLocks/>
              </p:cNvSpPr>
              <p:nvPr/>
            </p:nvSpPr>
            <p:spPr bwMode="auto">
              <a:xfrm>
                <a:off x="4641" y="2118"/>
                <a:ext cx="19" cy="10"/>
              </a:xfrm>
              <a:custGeom>
                <a:avLst/>
                <a:gdLst>
                  <a:gd name="T0" fmla="*/ 2 w 14"/>
                  <a:gd name="T1" fmla="*/ 6 h 7"/>
                  <a:gd name="T2" fmla="*/ 9 w 14"/>
                  <a:gd name="T3" fmla="*/ 3 h 7"/>
                  <a:gd name="T4" fmla="*/ 11 w 14"/>
                  <a:gd name="T5" fmla="*/ 1 h 7"/>
                  <a:gd name="T6" fmla="*/ 6 w 14"/>
                  <a:gd name="T7" fmla="*/ 3 h 7"/>
                  <a:gd name="T8" fmla="*/ 2 w 14"/>
                  <a:gd name="T9" fmla="*/ 6 h 7"/>
                </a:gdLst>
                <a:ahLst/>
                <a:cxnLst>
                  <a:cxn ang="0">
                    <a:pos x="T0" y="T1"/>
                  </a:cxn>
                  <a:cxn ang="0">
                    <a:pos x="T2" y="T3"/>
                  </a:cxn>
                  <a:cxn ang="0">
                    <a:pos x="T4" y="T5"/>
                  </a:cxn>
                  <a:cxn ang="0">
                    <a:pos x="T6" y="T7"/>
                  </a:cxn>
                  <a:cxn ang="0">
                    <a:pos x="T8" y="T9"/>
                  </a:cxn>
                </a:cxnLst>
                <a:rect l="0" t="0" r="r" b="b"/>
                <a:pathLst>
                  <a:path w="14" h="7">
                    <a:moveTo>
                      <a:pt x="2" y="6"/>
                    </a:moveTo>
                    <a:cubicBezTo>
                      <a:pt x="4" y="5"/>
                      <a:pt x="9" y="3"/>
                      <a:pt x="9" y="3"/>
                    </a:cubicBezTo>
                    <a:cubicBezTo>
                      <a:pt x="9" y="3"/>
                      <a:pt x="14" y="0"/>
                      <a:pt x="11" y="1"/>
                    </a:cubicBezTo>
                    <a:cubicBezTo>
                      <a:pt x="7" y="1"/>
                      <a:pt x="7" y="1"/>
                      <a:pt x="6" y="3"/>
                    </a:cubicBezTo>
                    <a:cubicBezTo>
                      <a:pt x="4" y="4"/>
                      <a:pt x="0" y="7"/>
                      <a:pt x="2"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72" name="Freeform 582">
                <a:extLst>
                  <a:ext uri="{FF2B5EF4-FFF2-40B4-BE49-F238E27FC236}">
                    <a16:creationId xmlns:a16="http://schemas.microsoft.com/office/drawing/2014/main" id="{FBFB95AB-0450-439C-A07E-93FEEFAF06F2}"/>
                  </a:ext>
                </a:extLst>
              </p:cNvPr>
              <p:cNvSpPr>
                <a:spLocks/>
              </p:cNvSpPr>
              <p:nvPr/>
            </p:nvSpPr>
            <p:spPr bwMode="auto">
              <a:xfrm>
                <a:off x="4407" y="1826"/>
                <a:ext cx="395" cy="333"/>
              </a:xfrm>
              <a:custGeom>
                <a:avLst/>
                <a:gdLst>
                  <a:gd name="T0" fmla="*/ 13 w 286"/>
                  <a:gd name="T1" fmla="*/ 52 h 243"/>
                  <a:gd name="T2" fmla="*/ 18 w 286"/>
                  <a:gd name="T3" fmla="*/ 59 h 243"/>
                  <a:gd name="T4" fmla="*/ 23 w 286"/>
                  <a:gd name="T5" fmla="*/ 65 h 243"/>
                  <a:gd name="T6" fmla="*/ 34 w 286"/>
                  <a:gd name="T7" fmla="*/ 68 h 243"/>
                  <a:gd name="T8" fmla="*/ 32 w 286"/>
                  <a:gd name="T9" fmla="*/ 77 h 243"/>
                  <a:gd name="T10" fmla="*/ 28 w 286"/>
                  <a:gd name="T11" fmla="*/ 82 h 243"/>
                  <a:gd name="T12" fmla="*/ 23 w 286"/>
                  <a:gd name="T13" fmla="*/ 89 h 243"/>
                  <a:gd name="T14" fmla="*/ 21 w 286"/>
                  <a:gd name="T15" fmla="*/ 100 h 243"/>
                  <a:gd name="T16" fmla="*/ 30 w 286"/>
                  <a:gd name="T17" fmla="*/ 113 h 243"/>
                  <a:gd name="T18" fmla="*/ 46 w 286"/>
                  <a:gd name="T19" fmla="*/ 124 h 243"/>
                  <a:gd name="T20" fmla="*/ 57 w 286"/>
                  <a:gd name="T21" fmla="*/ 136 h 243"/>
                  <a:gd name="T22" fmla="*/ 55 w 286"/>
                  <a:gd name="T23" fmla="*/ 149 h 243"/>
                  <a:gd name="T24" fmla="*/ 60 w 286"/>
                  <a:gd name="T25" fmla="*/ 157 h 243"/>
                  <a:gd name="T26" fmla="*/ 67 w 286"/>
                  <a:gd name="T27" fmla="*/ 165 h 243"/>
                  <a:gd name="T28" fmla="*/ 81 w 286"/>
                  <a:gd name="T29" fmla="*/ 163 h 243"/>
                  <a:gd name="T30" fmla="*/ 99 w 286"/>
                  <a:gd name="T31" fmla="*/ 176 h 243"/>
                  <a:gd name="T32" fmla="*/ 115 w 286"/>
                  <a:gd name="T33" fmla="*/ 200 h 243"/>
                  <a:gd name="T34" fmla="*/ 142 w 286"/>
                  <a:gd name="T35" fmla="*/ 216 h 243"/>
                  <a:gd name="T36" fmla="*/ 171 w 286"/>
                  <a:gd name="T37" fmla="*/ 216 h 243"/>
                  <a:gd name="T38" fmla="*/ 219 w 286"/>
                  <a:gd name="T39" fmla="*/ 236 h 243"/>
                  <a:gd name="T40" fmla="*/ 247 w 286"/>
                  <a:gd name="T41" fmla="*/ 240 h 243"/>
                  <a:gd name="T42" fmla="*/ 264 w 286"/>
                  <a:gd name="T43" fmla="*/ 233 h 243"/>
                  <a:gd name="T44" fmla="*/ 273 w 286"/>
                  <a:gd name="T45" fmla="*/ 221 h 243"/>
                  <a:gd name="T46" fmla="*/ 286 w 286"/>
                  <a:gd name="T47" fmla="*/ 210 h 243"/>
                  <a:gd name="T48" fmla="*/ 279 w 286"/>
                  <a:gd name="T49" fmla="*/ 195 h 243"/>
                  <a:gd name="T50" fmla="*/ 251 w 286"/>
                  <a:gd name="T51" fmla="*/ 168 h 243"/>
                  <a:gd name="T52" fmla="*/ 251 w 286"/>
                  <a:gd name="T53" fmla="*/ 167 h 243"/>
                  <a:gd name="T54" fmla="*/ 264 w 286"/>
                  <a:gd name="T55" fmla="*/ 150 h 243"/>
                  <a:gd name="T56" fmla="*/ 261 w 286"/>
                  <a:gd name="T57" fmla="*/ 142 h 243"/>
                  <a:gd name="T58" fmla="*/ 250 w 286"/>
                  <a:gd name="T59" fmla="*/ 130 h 243"/>
                  <a:gd name="T60" fmla="*/ 251 w 286"/>
                  <a:gd name="T61" fmla="*/ 108 h 243"/>
                  <a:gd name="T62" fmla="*/ 245 w 286"/>
                  <a:gd name="T63" fmla="*/ 99 h 243"/>
                  <a:gd name="T64" fmla="*/ 249 w 286"/>
                  <a:gd name="T65" fmla="*/ 91 h 243"/>
                  <a:gd name="T66" fmla="*/ 254 w 286"/>
                  <a:gd name="T67" fmla="*/ 82 h 243"/>
                  <a:gd name="T68" fmla="*/ 255 w 286"/>
                  <a:gd name="T69" fmla="*/ 67 h 243"/>
                  <a:gd name="T70" fmla="*/ 250 w 286"/>
                  <a:gd name="T71" fmla="*/ 54 h 243"/>
                  <a:gd name="T72" fmla="*/ 232 w 286"/>
                  <a:gd name="T73" fmla="*/ 46 h 243"/>
                  <a:gd name="T74" fmla="*/ 223 w 286"/>
                  <a:gd name="T75" fmla="*/ 38 h 243"/>
                  <a:gd name="T76" fmla="*/ 212 w 286"/>
                  <a:gd name="T77" fmla="*/ 37 h 243"/>
                  <a:gd name="T78" fmla="*/ 204 w 286"/>
                  <a:gd name="T79" fmla="*/ 33 h 243"/>
                  <a:gd name="T80" fmla="*/ 197 w 286"/>
                  <a:gd name="T81" fmla="*/ 28 h 243"/>
                  <a:gd name="T82" fmla="*/ 182 w 286"/>
                  <a:gd name="T83" fmla="*/ 29 h 243"/>
                  <a:gd name="T84" fmla="*/ 169 w 286"/>
                  <a:gd name="T85" fmla="*/ 31 h 243"/>
                  <a:gd name="T86" fmla="*/ 155 w 286"/>
                  <a:gd name="T87" fmla="*/ 41 h 243"/>
                  <a:gd name="T88" fmla="*/ 148 w 286"/>
                  <a:gd name="T89" fmla="*/ 47 h 243"/>
                  <a:gd name="T90" fmla="*/ 133 w 286"/>
                  <a:gd name="T91" fmla="*/ 52 h 243"/>
                  <a:gd name="T92" fmla="*/ 88 w 286"/>
                  <a:gd name="T93" fmla="*/ 40 h 243"/>
                  <a:gd name="T94" fmla="*/ 68 w 286"/>
                  <a:gd name="T95" fmla="*/ 24 h 243"/>
                  <a:gd name="T96" fmla="*/ 63 w 286"/>
                  <a:gd name="T97" fmla="*/ 19 h 243"/>
                  <a:gd name="T98" fmla="*/ 64 w 286"/>
                  <a:gd name="T99" fmla="*/ 13 h 243"/>
                  <a:gd name="T100" fmla="*/ 64 w 286"/>
                  <a:gd name="T101" fmla="*/ 7 h 243"/>
                  <a:gd name="T102" fmla="*/ 57 w 286"/>
                  <a:gd name="T103" fmla="*/ 2 h 243"/>
                  <a:gd name="T104" fmla="*/ 43 w 286"/>
                  <a:gd name="T105" fmla="*/ 11 h 243"/>
                  <a:gd name="T106" fmla="*/ 33 w 286"/>
                  <a:gd name="T107" fmla="*/ 16 h 243"/>
                  <a:gd name="T108" fmla="*/ 22 w 286"/>
                  <a:gd name="T109" fmla="*/ 14 h 243"/>
                  <a:gd name="T110" fmla="*/ 10 w 286"/>
                  <a:gd name="T111" fmla="*/ 1 h 243"/>
                  <a:gd name="T112" fmla="*/ 1 w 286"/>
                  <a:gd name="T113" fmla="*/ 7 h 243"/>
                  <a:gd name="T114" fmla="*/ 5 w 286"/>
                  <a:gd name="T115" fmla="*/ 24 h 243"/>
                  <a:gd name="T116" fmla="*/ 5 w 286"/>
                  <a:gd name="T117" fmla="*/ 33 h 243"/>
                  <a:gd name="T118" fmla="*/ 9 w 286"/>
                  <a:gd name="T119" fmla="*/ 4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86" h="243">
                    <a:moveTo>
                      <a:pt x="12" y="46"/>
                    </a:moveTo>
                    <a:cubicBezTo>
                      <a:pt x="12" y="47"/>
                      <a:pt x="13" y="48"/>
                      <a:pt x="13" y="49"/>
                    </a:cubicBezTo>
                    <a:cubicBezTo>
                      <a:pt x="13" y="49"/>
                      <a:pt x="13" y="51"/>
                      <a:pt x="13" y="52"/>
                    </a:cubicBezTo>
                    <a:cubicBezTo>
                      <a:pt x="13" y="52"/>
                      <a:pt x="13" y="52"/>
                      <a:pt x="13" y="52"/>
                    </a:cubicBezTo>
                    <a:cubicBezTo>
                      <a:pt x="16" y="53"/>
                      <a:pt x="16" y="55"/>
                      <a:pt x="15" y="56"/>
                    </a:cubicBezTo>
                    <a:cubicBezTo>
                      <a:pt x="15" y="56"/>
                      <a:pt x="15" y="57"/>
                      <a:pt x="15" y="57"/>
                    </a:cubicBezTo>
                    <a:cubicBezTo>
                      <a:pt x="15" y="57"/>
                      <a:pt x="17" y="58"/>
                      <a:pt x="18" y="58"/>
                    </a:cubicBezTo>
                    <a:cubicBezTo>
                      <a:pt x="18" y="58"/>
                      <a:pt x="18" y="59"/>
                      <a:pt x="18" y="59"/>
                    </a:cubicBezTo>
                    <a:cubicBezTo>
                      <a:pt x="18" y="59"/>
                      <a:pt x="20" y="65"/>
                      <a:pt x="20" y="65"/>
                    </a:cubicBezTo>
                    <a:cubicBezTo>
                      <a:pt x="20" y="66"/>
                      <a:pt x="21" y="66"/>
                      <a:pt x="21" y="66"/>
                    </a:cubicBezTo>
                    <a:cubicBezTo>
                      <a:pt x="21" y="66"/>
                      <a:pt x="21" y="66"/>
                      <a:pt x="22" y="65"/>
                    </a:cubicBezTo>
                    <a:cubicBezTo>
                      <a:pt x="23" y="65"/>
                      <a:pt x="23" y="65"/>
                      <a:pt x="23" y="65"/>
                    </a:cubicBezTo>
                    <a:cubicBezTo>
                      <a:pt x="23" y="65"/>
                      <a:pt x="25" y="68"/>
                      <a:pt x="26" y="68"/>
                    </a:cubicBezTo>
                    <a:cubicBezTo>
                      <a:pt x="26" y="69"/>
                      <a:pt x="27" y="69"/>
                      <a:pt x="27" y="69"/>
                    </a:cubicBezTo>
                    <a:cubicBezTo>
                      <a:pt x="27" y="69"/>
                      <a:pt x="30" y="68"/>
                      <a:pt x="31" y="68"/>
                    </a:cubicBezTo>
                    <a:cubicBezTo>
                      <a:pt x="32" y="68"/>
                      <a:pt x="32" y="68"/>
                      <a:pt x="34" y="68"/>
                    </a:cubicBezTo>
                    <a:cubicBezTo>
                      <a:pt x="35" y="69"/>
                      <a:pt x="34" y="69"/>
                      <a:pt x="34" y="69"/>
                    </a:cubicBezTo>
                    <a:cubicBezTo>
                      <a:pt x="34" y="69"/>
                      <a:pt x="32" y="70"/>
                      <a:pt x="31" y="70"/>
                    </a:cubicBezTo>
                    <a:cubicBezTo>
                      <a:pt x="30" y="71"/>
                      <a:pt x="30" y="73"/>
                      <a:pt x="30" y="74"/>
                    </a:cubicBezTo>
                    <a:cubicBezTo>
                      <a:pt x="30" y="75"/>
                      <a:pt x="31" y="76"/>
                      <a:pt x="32" y="77"/>
                    </a:cubicBezTo>
                    <a:cubicBezTo>
                      <a:pt x="32" y="78"/>
                      <a:pt x="32" y="79"/>
                      <a:pt x="32" y="80"/>
                    </a:cubicBezTo>
                    <a:cubicBezTo>
                      <a:pt x="32" y="80"/>
                      <a:pt x="32" y="81"/>
                      <a:pt x="31" y="81"/>
                    </a:cubicBezTo>
                    <a:cubicBezTo>
                      <a:pt x="31" y="81"/>
                      <a:pt x="29" y="81"/>
                      <a:pt x="29" y="81"/>
                    </a:cubicBezTo>
                    <a:cubicBezTo>
                      <a:pt x="29" y="81"/>
                      <a:pt x="28" y="81"/>
                      <a:pt x="28" y="82"/>
                    </a:cubicBezTo>
                    <a:cubicBezTo>
                      <a:pt x="28" y="82"/>
                      <a:pt x="27" y="83"/>
                      <a:pt x="27" y="83"/>
                    </a:cubicBezTo>
                    <a:cubicBezTo>
                      <a:pt x="26" y="84"/>
                      <a:pt x="26" y="88"/>
                      <a:pt x="26" y="89"/>
                    </a:cubicBezTo>
                    <a:cubicBezTo>
                      <a:pt x="26" y="90"/>
                      <a:pt x="25" y="90"/>
                      <a:pt x="25" y="90"/>
                    </a:cubicBezTo>
                    <a:cubicBezTo>
                      <a:pt x="25" y="90"/>
                      <a:pt x="24" y="89"/>
                      <a:pt x="23" y="89"/>
                    </a:cubicBezTo>
                    <a:cubicBezTo>
                      <a:pt x="22" y="89"/>
                      <a:pt x="22" y="89"/>
                      <a:pt x="21" y="91"/>
                    </a:cubicBezTo>
                    <a:cubicBezTo>
                      <a:pt x="21" y="92"/>
                      <a:pt x="23" y="93"/>
                      <a:pt x="23" y="94"/>
                    </a:cubicBezTo>
                    <a:cubicBezTo>
                      <a:pt x="24" y="95"/>
                      <a:pt x="21" y="98"/>
                      <a:pt x="21" y="99"/>
                    </a:cubicBezTo>
                    <a:cubicBezTo>
                      <a:pt x="21" y="99"/>
                      <a:pt x="21" y="100"/>
                      <a:pt x="21" y="100"/>
                    </a:cubicBezTo>
                    <a:cubicBezTo>
                      <a:pt x="21" y="100"/>
                      <a:pt x="25" y="104"/>
                      <a:pt x="26" y="105"/>
                    </a:cubicBezTo>
                    <a:cubicBezTo>
                      <a:pt x="26" y="105"/>
                      <a:pt x="28" y="106"/>
                      <a:pt x="28" y="106"/>
                    </a:cubicBezTo>
                    <a:cubicBezTo>
                      <a:pt x="29" y="106"/>
                      <a:pt x="29" y="106"/>
                      <a:pt x="29" y="107"/>
                    </a:cubicBezTo>
                    <a:cubicBezTo>
                      <a:pt x="29" y="108"/>
                      <a:pt x="29" y="110"/>
                      <a:pt x="30" y="113"/>
                    </a:cubicBezTo>
                    <a:cubicBezTo>
                      <a:pt x="31" y="116"/>
                      <a:pt x="32" y="116"/>
                      <a:pt x="33" y="116"/>
                    </a:cubicBezTo>
                    <a:cubicBezTo>
                      <a:pt x="33" y="116"/>
                      <a:pt x="34" y="116"/>
                      <a:pt x="35" y="117"/>
                    </a:cubicBezTo>
                    <a:cubicBezTo>
                      <a:pt x="36" y="117"/>
                      <a:pt x="37" y="117"/>
                      <a:pt x="38" y="118"/>
                    </a:cubicBezTo>
                    <a:cubicBezTo>
                      <a:pt x="39" y="119"/>
                      <a:pt x="46" y="124"/>
                      <a:pt x="46" y="124"/>
                    </a:cubicBezTo>
                    <a:cubicBezTo>
                      <a:pt x="47" y="125"/>
                      <a:pt x="47" y="125"/>
                      <a:pt x="47" y="125"/>
                    </a:cubicBezTo>
                    <a:cubicBezTo>
                      <a:pt x="49" y="124"/>
                      <a:pt x="51" y="126"/>
                      <a:pt x="53" y="128"/>
                    </a:cubicBezTo>
                    <a:cubicBezTo>
                      <a:pt x="54" y="131"/>
                      <a:pt x="56" y="134"/>
                      <a:pt x="57" y="135"/>
                    </a:cubicBezTo>
                    <a:cubicBezTo>
                      <a:pt x="57" y="136"/>
                      <a:pt x="57" y="136"/>
                      <a:pt x="57" y="136"/>
                    </a:cubicBezTo>
                    <a:cubicBezTo>
                      <a:pt x="57" y="136"/>
                      <a:pt x="56" y="139"/>
                      <a:pt x="56" y="140"/>
                    </a:cubicBezTo>
                    <a:cubicBezTo>
                      <a:pt x="55" y="141"/>
                      <a:pt x="55" y="142"/>
                      <a:pt x="55" y="143"/>
                    </a:cubicBezTo>
                    <a:cubicBezTo>
                      <a:pt x="55" y="144"/>
                      <a:pt x="55" y="147"/>
                      <a:pt x="55" y="148"/>
                    </a:cubicBezTo>
                    <a:cubicBezTo>
                      <a:pt x="55" y="148"/>
                      <a:pt x="55" y="149"/>
                      <a:pt x="55" y="149"/>
                    </a:cubicBezTo>
                    <a:cubicBezTo>
                      <a:pt x="55" y="149"/>
                      <a:pt x="58" y="149"/>
                      <a:pt x="59" y="149"/>
                    </a:cubicBezTo>
                    <a:cubicBezTo>
                      <a:pt x="59" y="149"/>
                      <a:pt x="59" y="149"/>
                      <a:pt x="60" y="149"/>
                    </a:cubicBezTo>
                    <a:cubicBezTo>
                      <a:pt x="60" y="149"/>
                      <a:pt x="60" y="150"/>
                      <a:pt x="60" y="150"/>
                    </a:cubicBezTo>
                    <a:cubicBezTo>
                      <a:pt x="60" y="150"/>
                      <a:pt x="60" y="156"/>
                      <a:pt x="60" y="157"/>
                    </a:cubicBezTo>
                    <a:cubicBezTo>
                      <a:pt x="60" y="157"/>
                      <a:pt x="60" y="157"/>
                      <a:pt x="61" y="158"/>
                    </a:cubicBezTo>
                    <a:cubicBezTo>
                      <a:pt x="62" y="158"/>
                      <a:pt x="63" y="160"/>
                      <a:pt x="64" y="160"/>
                    </a:cubicBezTo>
                    <a:cubicBezTo>
                      <a:pt x="65" y="161"/>
                      <a:pt x="65" y="162"/>
                      <a:pt x="65" y="162"/>
                    </a:cubicBezTo>
                    <a:cubicBezTo>
                      <a:pt x="67" y="165"/>
                      <a:pt x="67" y="165"/>
                      <a:pt x="67" y="165"/>
                    </a:cubicBezTo>
                    <a:cubicBezTo>
                      <a:pt x="68" y="165"/>
                      <a:pt x="70" y="165"/>
                      <a:pt x="71" y="165"/>
                    </a:cubicBezTo>
                    <a:cubicBezTo>
                      <a:pt x="74" y="164"/>
                      <a:pt x="74" y="163"/>
                      <a:pt x="73" y="161"/>
                    </a:cubicBezTo>
                    <a:cubicBezTo>
                      <a:pt x="73" y="160"/>
                      <a:pt x="73" y="159"/>
                      <a:pt x="75" y="159"/>
                    </a:cubicBezTo>
                    <a:cubicBezTo>
                      <a:pt x="78" y="160"/>
                      <a:pt x="81" y="162"/>
                      <a:pt x="81" y="163"/>
                    </a:cubicBezTo>
                    <a:cubicBezTo>
                      <a:pt x="82" y="163"/>
                      <a:pt x="82" y="165"/>
                      <a:pt x="85" y="164"/>
                    </a:cubicBezTo>
                    <a:cubicBezTo>
                      <a:pt x="87" y="163"/>
                      <a:pt x="91" y="161"/>
                      <a:pt x="92" y="164"/>
                    </a:cubicBezTo>
                    <a:cubicBezTo>
                      <a:pt x="93" y="167"/>
                      <a:pt x="95" y="170"/>
                      <a:pt x="97" y="172"/>
                    </a:cubicBezTo>
                    <a:cubicBezTo>
                      <a:pt x="99" y="174"/>
                      <a:pt x="100" y="176"/>
                      <a:pt x="99" y="176"/>
                    </a:cubicBezTo>
                    <a:cubicBezTo>
                      <a:pt x="99" y="177"/>
                      <a:pt x="99" y="178"/>
                      <a:pt x="100" y="179"/>
                    </a:cubicBezTo>
                    <a:cubicBezTo>
                      <a:pt x="101" y="179"/>
                      <a:pt x="103" y="180"/>
                      <a:pt x="103" y="182"/>
                    </a:cubicBezTo>
                    <a:cubicBezTo>
                      <a:pt x="103" y="184"/>
                      <a:pt x="108" y="195"/>
                      <a:pt x="110" y="197"/>
                    </a:cubicBezTo>
                    <a:cubicBezTo>
                      <a:pt x="111" y="199"/>
                      <a:pt x="114" y="200"/>
                      <a:pt x="115" y="200"/>
                    </a:cubicBezTo>
                    <a:cubicBezTo>
                      <a:pt x="117" y="200"/>
                      <a:pt x="120" y="200"/>
                      <a:pt x="121" y="201"/>
                    </a:cubicBezTo>
                    <a:cubicBezTo>
                      <a:pt x="123" y="202"/>
                      <a:pt x="128" y="205"/>
                      <a:pt x="129" y="207"/>
                    </a:cubicBezTo>
                    <a:cubicBezTo>
                      <a:pt x="131" y="209"/>
                      <a:pt x="135" y="212"/>
                      <a:pt x="136" y="212"/>
                    </a:cubicBezTo>
                    <a:cubicBezTo>
                      <a:pt x="138" y="213"/>
                      <a:pt x="140" y="214"/>
                      <a:pt x="142" y="216"/>
                    </a:cubicBezTo>
                    <a:cubicBezTo>
                      <a:pt x="143" y="217"/>
                      <a:pt x="146" y="218"/>
                      <a:pt x="149" y="219"/>
                    </a:cubicBezTo>
                    <a:cubicBezTo>
                      <a:pt x="153" y="219"/>
                      <a:pt x="155" y="219"/>
                      <a:pt x="157" y="220"/>
                    </a:cubicBezTo>
                    <a:cubicBezTo>
                      <a:pt x="158" y="221"/>
                      <a:pt x="158" y="221"/>
                      <a:pt x="159" y="221"/>
                    </a:cubicBezTo>
                    <a:cubicBezTo>
                      <a:pt x="160" y="221"/>
                      <a:pt x="170" y="218"/>
                      <a:pt x="171" y="216"/>
                    </a:cubicBezTo>
                    <a:cubicBezTo>
                      <a:pt x="172" y="215"/>
                      <a:pt x="173" y="212"/>
                      <a:pt x="178" y="212"/>
                    </a:cubicBezTo>
                    <a:cubicBezTo>
                      <a:pt x="183" y="211"/>
                      <a:pt x="192" y="210"/>
                      <a:pt x="193" y="216"/>
                    </a:cubicBezTo>
                    <a:cubicBezTo>
                      <a:pt x="195" y="221"/>
                      <a:pt x="195" y="232"/>
                      <a:pt x="200" y="233"/>
                    </a:cubicBezTo>
                    <a:cubicBezTo>
                      <a:pt x="206" y="234"/>
                      <a:pt x="219" y="236"/>
                      <a:pt x="219" y="236"/>
                    </a:cubicBezTo>
                    <a:cubicBezTo>
                      <a:pt x="219" y="236"/>
                      <a:pt x="221" y="236"/>
                      <a:pt x="222" y="237"/>
                    </a:cubicBezTo>
                    <a:cubicBezTo>
                      <a:pt x="223" y="238"/>
                      <a:pt x="225" y="238"/>
                      <a:pt x="228" y="238"/>
                    </a:cubicBezTo>
                    <a:cubicBezTo>
                      <a:pt x="230" y="238"/>
                      <a:pt x="242" y="238"/>
                      <a:pt x="243" y="238"/>
                    </a:cubicBezTo>
                    <a:cubicBezTo>
                      <a:pt x="245" y="238"/>
                      <a:pt x="246" y="239"/>
                      <a:pt x="247" y="240"/>
                    </a:cubicBezTo>
                    <a:cubicBezTo>
                      <a:pt x="248" y="241"/>
                      <a:pt x="249" y="241"/>
                      <a:pt x="250" y="242"/>
                    </a:cubicBezTo>
                    <a:cubicBezTo>
                      <a:pt x="251" y="242"/>
                      <a:pt x="256" y="243"/>
                      <a:pt x="257" y="243"/>
                    </a:cubicBezTo>
                    <a:cubicBezTo>
                      <a:pt x="258" y="243"/>
                      <a:pt x="260" y="242"/>
                      <a:pt x="261" y="242"/>
                    </a:cubicBezTo>
                    <a:cubicBezTo>
                      <a:pt x="262" y="239"/>
                      <a:pt x="263" y="234"/>
                      <a:pt x="264" y="233"/>
                    </a:cubicBezTo>
                    <a:cubicBezTo>
                      <a:pt x="264" y="232"/>
                      <a:pt x="264" y="230"/>
                      <a:pt x="265" y="228"/>
                    </a:cubicBezTo>
                    <a:cubicBezTo>
                      <a:pt x="265" y="225"/>
                      <a:pt x="267" y="225"/>
                      <a:pt x="267" y="224"/>
                    </a:cubicBezTo>
                    <a:cubicBezTo>
                      <a:pt x="268" y="224"/>
                      <a:pt x="271" y="221"/>
                      <a:pt x="272" y="221"/>
                    </a:cubicBezTo>
                    <a:cubicBezTo>
                      <a:pt x="272" y="221"/>
                      <a:pt x="273" y="221"/>
                      <a:pt x="273" y="221"/>
                    </a:cubicBezTo>
                    <a:cubicBezTo>
                      <a:pt x="273" y="221"/>
                      <a:pt x="283" y="219"/>
                      <a:pt x="284" y="219"/>
                    </a:cubicBezTo>
                    <a:cubicBezTo>
                      <a:pt x="284" y="219"/>
                      <a:pt x="284" y="218"/>
                      <a:pt x="284" y="218"/>
                    </a:cubicBezTo>
                    <a:cubicBezTo>
                      <a:pt x="284" y="218"/>
                      <a:pt x="286" y="211"/>
                      <a:pt x="286" y="210"/>
                    </a:cubicBezTo>
                    <a:cubicBezTo>
                      <a:pt x="286" y="210"/>
                      <a:pt x="286" y="210"/>
                      <a:pt x="286" y="210"/>
                    </a:cubicBezTo>
                    <a:cubicBezTo>
                      <a:pt x="286" y="210"/>
                      <a:pt x="285" y="210"/>
                      <a:pt x="282" y="210"/>
                    </a:cubicBezTo>
                    <a:cubicBezTo>
                      <a:pt x="279" y="210"/>
                      <a:pt x="279" y="208"/>
                      <a:pt x="278" y="207"/>
                    </a:cubicBezTo>
                    <a:cubicBezTo>
                      <a:pt x="278" y="206"/>
                      <a:pt x="279" y="201"/>
                      <a:pt x="279" y="200"/>
                    </a:cubicBezTo>
                    <a:cubicBezTo>
                      <a:pt x="279" y="200"/>
                      <a:pt x="279" y="195"/>
                      <a:pt x="279" y="195"/>
                    </a:cubicBezTo>
                    <a:cubicBezTo>
                      <a:pt x="279" y="194"/>
                      <a:pt x="279" y="194"/>
                      <a:pt x="279" y="194"/>
                    </a:cubicBezTo>
                    <a:cubicBezTo>
                      <a:pt x="279" y="194"/>
                      <a:pt x="267" y="189"/>
                      <a:pt x="266" y="189"/>
                    </a:cubicBezTo>
                    <a:cubicBezTo>
                      <a:pt x="266" y="188"/>
                      <a:pt x="266" y="188"/>
                      <a:pt x="266" y="188"/>
                    </a:cubicBezTo>
                    <a:cubicBezTo>
                      <a:pt x="266" y="188"/>
                      <a:pt x="251" y="168"/>
                      <a:pt x="251" y="168"/>
                    </a:cubicBezTo>
                    <a:cubicBezTo>
                      <a:pt x="251" y="168"/>
                      <a:pt x="251" y="167"/>
                      <a:pt x="251" y="167"/>
                    </a:cubicBezTo>
                    <a:cubicBezTo>
                      <a:pt x="251" y="167"/>
                      <a:pt x="251" y="167"/>
                      <a:pt x="251" y="167"/>
                    </a:cubicBezTo>
                    <a:cubicBezTo>
                      <a:pt x="251" y="167"/>
                      <a:pt x="251" y="167"/>
                      <a:pt x="251" y="167"/>
                    </a:cubicBezTo>
                    <a:cubicBezTo>
                      <a:pt x="251" y="167"/>
                      <a:pt x="251" y="167"/>
                      <a:pt x="251" y="167"/>
                    </a:cubicBezTo>
                    <a:cubicBezTo>
                      <a:pt x="251" y="167"/>
                      <a:pt x="251" y="167"/>
                      <a:pt x="251" y="167"/>
                    </a:cubicBezTo>
                    <a:cubicBezTo>
                      <a:pt x="251" y="167"/>
                      <a:pt x="251" y="166"/>
                      <a:pt x="251" y="166"/>
                    </a:cubicBezTo>
                    <a:cubicBezTo>
                      <a:pt x="251" y="166"/>
                      <a:pt x="264" y="151"/>
                      <a:pt x="264" y="151"/>
                    </a:cubicBezTo>
                    <a:cubicBezTo>
                      <a:pt x="264" y="151"/>
                      <a:pt x="264" y="150"/>
                      <a:pt x="264" y="150"/>
                    </a:cubicBezTo>
                    <a:cubicBezTo>
                      <a:pt x="264" y="150"/>
                      <a:pt x="265" y="148"/>
                      <a:pt x="265" y="148"/>
                    </a:cubicBezTo>
                    <a:cubicBezTo>
                      <a:pt x="265" y="148"/>
                      <a:pt x="265" y="147"/>
                      <a:pt x="265" y="147"/>
                    </a:cubicBezTo>
                    <a:cubicBezTo>
                      <a:pt x="265" y="147"/>
                      <a:pt x="262" y="143"/>
                      <a:pt x="262" y="143"/>
                    </a:cubicBezTo>
                    <a:cubicBezTo>
                      <a:pt x="261" y="142"/>
                      <a:pt x="261" y="142"/>
                      <a:pt x="261" y="142"/>
                    </a:cubicBezTo>
                    <a:cubicBezTo>
                      <a:pt x="261" y="142"/>
                      <a:pt x="251" y="141"/>
                      <a:pt x="251" y="141"/>
                    </a:cubicBezTo>
                    <a:cubicBezTo>
                      <a:pt x="250" y="141"/>
                      <a:pt x="250" y="140"/>
                      <a:pt x="250" y="140"/>
                    </a:cubicBezTo>
                    <a:cubicBezTo>
                      <a:pt x="250" y="140"/>
                      <a:pt x="250" y="132"/>
                      <a:pt x="250" y="132"/>
                    </a:cubicBezTo>
                    <a:cubicBezTo>
                      <a:pt x="250" y="131"/>
                      <a:pt x="250" y="130"/>
                      <a:pt x="250" y="130"/>
                    </a:cubicBezTo>
                    <a:cubicBezTo>
                      <a:pt x="250" y="129"/>
                      <a:pt x="250" y="128"/>
                      <a:pt x="250" y="128"/>
                    </a:cubicBezTo>
                    <a:cubicBezTo>
                      <a:pt x="250" y="128"/>
                      <a:pt x="246" y="114"/>
                      <a:pt x="246" y="114"/>
                    </a:cubicBezTo>
                    <a:cubicBezTo>
                      <a:pt x="246" y="113"/>
                      <a:pt x="247" y="113"/>
                      <a:pt x="247" y="113"/>
                    </a:cubicBezTo>
                    <a:cubicBezTo>
                      <a:pt x="247" y="113"/>
                      <a:pt x="250" y="108"/>
                      <a:pt x="251" y="108"/>
                    </a:cubicBezTo>
                    <a:cubicBezTo>
                      <a:pt x="251" y="107"/>
                      <a:pt x="251" y="107"/>
                      <a:pt x="251" y="107"/>
                    </a:cubicBezTo>
                    <a:cubicBezTo>
                      <a:pt x="249" y="107"/>
                      <a:pt x="249" y="107"/>
                      <a:pt x="249" y="107"/>
                    </a:cubicBezTo>
                    <a:cubicBezTo>
                      <a:pt x="246" y="106"/>
                      <a:pt x="246" y="104"/>
                      <a:pt x="245" y="104"/>
                    </a:cubicBezTo>
                    <a:cubicBezTo>
                      <a:pt x="245" y="103"/>
                      <a:pt x="245" y="100"/>
                      <a:pt x="245" y="99"/>
                    </a:cubicBezTo>
                    <a:cubicBezTo>
                      <a:pt x="245" y="99"/>
                      <a:pt x="245" y="97"/>
                      <a:pt x="245" y="97"/>
                    </a:cubicBezTo>
                    <a:cubicBezTo>
                      <a:pt x="246" y="94"/>
                      <a:pt x="250" y="94"/>
                      <a:pt x="250" y="94"/>
                    </a:cubicBezTo>
                    <a:cubicBezTo>
                      <a:pt x="251" y="94"/>
                      <a:pt x="251" y="94"/>
                      <a:pt x="251" y="93"/>
                    </a:cubicBezTo>
                    <a:cubicBezTo>
                      <a:pt x="251" y="93"/>
                      <a:pt x="249" y="91"/>
                      <a:pt x="249" y="91"/>
                    </a:cubicBezTo>
                    <a:cubicBezTo>
                      <a:pt x="248" y="90"/>
                      <a:pt x="249" y="90"/>
                      <a:pt x="249" y="90"/>
                    </a:cubicBezTo>
                    <a:cubicBezTo>
                      <a:pt x="249" y="90"/>
                      <a:pt x="253" y="86"/>
                      <a:pt x="253" y="85"/>
                    </a:cubicBezTo>
                    <a:cubicBezTo>
                      <a:pt x="254" y="85"/>
                      <a:pt x="253" y="85"/>
                      <a:pt x="253" y="84"/>
                    </a:cubicBezTo>
                    <a:cubicBezTo>
                      <a:pt x="253" y="84"/>
                      <a:pt x="254" y="82"/>
                      <a:pt x="254" y="82"/>
                    </a:cubicBezTo>
                    <a:cubicBezTo>
                      <a:pt x="254" y="82"/>
                      <a:pt x="256" y="73"/>
                      <a:pt x="256" y="73"/>
                    </a:cubicBezTo>
                    <a:cubicBezTo>
                      <a:pt x="256" y="73"/>
                      <a:pt x="256" y="72"/>
                      <a:pt x="256" y="72"/>
                    </a:cubicBezTo>
                    <a:cubicBezTo>
                      <a:pt x="256" y="72"/>
                      <a:pt x="256" y="71"/>
                      <a:pt x="256" y="71"/>
                    </a:cubicBezTo>
                    <a:cubicBezTo>
                      <a:pt x="256" y="70"/>
                      <a:pt x="256" y="68"/>
                      <a:pt x="255" y="67"/>
                    </a:cubicBezTo>
                    <a:cubicBezTo>
                      <a:pt x="255" y="66"/>
                      <a:pt x="255" y="62"/>
                      <a:pt x="255" y="61"/>
                    </a:cubicBezTo>
                    <a:cubicBezTo>
                      <a:pt x="255" y="60"/>
                      <a:pt x="255" y="56"/>
                      <a:pt x="255" y="55"/>
                    </a:cubicBezTo>
                    <a:cubicBezTo>
                      <a:pt x="255" y="54"/>
                      <a:pt x="253" y="54"/>
                      <a:pt x="253" y="54"/>
                    </a:cubicBezTo>
                    <a:cubicBezTo>
                      <a:pt x="252" y="54"/>
                      <a:pt x="250" y="54"/>
                      <a:pt x="250" y="54"/>
                    </a:cubicBezTo>
                    <a:cubicBezTo>
                      <a:pt x="249" y="54"/>
                      <a:pt x="243" y="54"/>
                      <a:pt x="243" y="54"/>
                    </a:cubicBezTo>
                    <a:cubicBezTo>
                      <a:pt x="242" y="54"/>
                      <a:pt x="242" y="54"/>
                      <a:pt x="242" y="54"/>
                    </a:cubicBezTo>
                    <a:cubicBezTo>
                      <a:pt x="242" y="54"/>
                      <a:pt x="241" y="53"/>
                      <a:pt x="240" y="50"/>
                    </a:cubicBezTo>
                    <a:cubicBezTo>
                      <a:pt x="238" y="47"/>
                      <a:pt x="233" y="46"/>
                      <a:pt x="232" y="46"/>
                    </a:cubicBezTo>
                    <a:cubicBezTo>
                      <a:pt x="232" y="46"/>
                      <a:pt x="232" y="45"/>
                      <a:pt x="232" y="45"/>
                    </a:cubicBezTo>
                    <a:cubicBezTo>
                      <a:pt x="232" y="45"/>
                      <a:pt x="230" y="42"/>
                      <a:pt x="229" y="40"/>
                    </a:cubicBezTo>
                    <a:cubicBezTo>
                      <a:pt x="228" y="39"/>
                      <a:pt x="225" y="38"/>
                      <a:pt x="225" y="38"/>
                    </a:cubicBezTo>
                    <a:cubicBezTo>
                      <a:pt x="224" y="38"/>
                      <a:pt x="224" y="38"/>
                      <a:pt x="223" y="38"/>
                    </a:cubicBezTo>
                    <a:cubicBezTo>
                      <a:pt x="222" y="38"/>
                      <a:pt x="217" y="37"/>
                      <a:pt x="216" y="37"/>
                    </a:cubicBezTo>
                    <a:cubicBezTo>
                      <a:pt x="216" y="37"/>
                      <a:pt x="215" y="37"/>
                      <a:pt x="215" y="37"/>
                    </a:cubicBezTo>
                    <a:cubicBezTo>
                      <a:pt x="215" y="37"/>
                      <a:pt x="214" y="37"/>
                      <a:pt x="214" y="37"/>
                    </a:cubicBezTo>
                    <a:cubicBezTo>
                      <a:pt x="214" y="37"/>
                      <a:pt x="212" y="37"/>
                      <a:pt x="212" y="37"/>
                    </a:cubicBezTo>
                    <a:cubicBezTo>
                      <a:pt x="211" y="37"/>
                      <a:pt x="211" y="37"/>
                      <a:pt x="211" y="37"/>
                    </a:cubicBezTo>
                    <a:cubicBezTo>
                      <a:pt x="211" y="37"/>
                      <a:pt x="208" y="34"/>
                      <a:pt x="208" y="34"/>
                    </a:cubicBezTo>
                    <a:cubicBezTo>
                      <a:pt x="208" y="34"/>
                      <a:pt x="207" y="34"/>
                      <a:pt x="207" y="34"/>
                    </a:cubicBezTo>
                    <a:cubicBezTo>
                      <a:pt x="207" y="34"/>
                      <a:pt x="205" y="33"/>
                      <a:pt x="204" y="33"/>
                    </a:cubicBezTo>
                    <a:cubicBezTo>
                      <a:pt x="204" y="33"/>
                      <a:pt x="204" y="33"/>
                      <a:pt x="203" y="33"/>
                    </a:cubicBezTo>
                    <a:cubicBezTo>
                      <a:pt x="203" y="33"/>
                      <a:pt x="201" y="32"/>
                      <a:pt x="201" y="32"/>
                    </a:cubicBezTo>
                    <a:cubicBezTo>
                      <a:pt x="198" y="32"/>
                      <a:pt x="198" y="29"/>
                      <a:pt x="198" y="29"/>
                    </a:cubicBezTo>
                    <a:cubicBezTo>
                      <a:pt x="198" y="29"/>
                      <a:pt x="197" y="28"/>
                      <a:pt x="197" y="28"/>
                    </a:cubicBezTo>
                    <a:cubicBezTo>
                      <a:pt x="197" y="28"/>
                      <a:pt x="196" y="27"/>
                      <a:pt x="196" y="27"/>
                    </a:cubicBezTo>
                    <a:cubicBezTo>
                      <a:pt x="195" y="27"/>
                      <a:pt x="195" y="27"/>
                      <a:pt x="194" y="27"/>
                    </a:cubicBezTo>
                    <a:cubicBezTo>
                      <a:pt x="194" y="27"/>
                      <a:pt x="190" y="26"/>
                      <a:pt x="187" y="27"/>
                    </a:cubicBezTo>
                    <a:cubicBezTo>
                      <a:pt x="184" y="27"/>
                      <a:pt x="182" y="29"/>
                      <a:pt x="182" y="29"/>
                    </a:cubicBezTo>
                    <a:cubicBezTo>
                      <a:pt x="182" y="30"/>
                      <a:pt x="181" y="30"/>
                      <a:pt x="181" y="30"/>
                    </a:cubicBezTo>
                    <a:cubicBezTo>
                      <a:pt x="181" y="30"/>
                      <a:pt x="180" y="30"/>
                      <a:pt x="179" y="29"/>
                    </a:cubicBezTo>
                    <a:cubicBezTo>
                      <a:pt x="178" y="29"/>
                      <a:pt x="173" y="29"/>
                      <a:pt x="172" y="29"/>
                    </a:cubicBezTo>
                    <a:cubicBezTo>
                      <a:pt x="172" y="29"/>
                      <a:pt x="171" y="30"/>
                      <a:pt x="169" y="31"/>
                    </a:cubicBezTo>
                    <a:cubicBezTo>
                      <a:pt x="166" y="31"/>
                      <a:pt x="165" y="33"/>
                      <a:pt x="164" y="34"/>
                    </a:cubicBezTo>
                    <a:cubicBezTo>
                      <a:pt x="163" y="35"/>
                      <a:pt x="158" y="40"/>
                      <a:pt x="157" y="40"/>
                    </a:cubicBezTo>
                    <a:cubicBezTo>
                      <a:pt x="157" y="40"/>
                      <a:pt x="156" y="41"/>
                      <a:pt x="156" y="41"/>
                    </a:cubicBezTo>
                    <a:cubicBezTo>
                      <a:pt x="155" y="42"/>
                      <a:pt x="155" y="41"/>
                      <a:pt x="155" y="41"/>
                    </a:cubicBezTo>
                    <a:cubicBezTo>
                      <a:pt x="147" y="42"/>
                      <a:pt x="147" y="42"/>
                      <a:pt x="147" y="42"/>
                    </a:cubicBezTo>
                    <a:cubicBezTo>
                      <a:pt x="147" y="42"/>
                      <a:pt x="148" y="43"/>
                      <a:pt x="148" y="43"/>
                    </a:cubicBezTo>
                    <a:cubicBezTo>
                      <a:pt x="149" y="43"/>
                      <a:pt x="151" y="43"/>
                      <a:pt x="150" y="44"/>
                    </a:cubicBezTo>
                    <a:cubicBezTo>
                      <a:pt x="148" y="45"/>
                      <a:pt x="147" y="45"/>
                      <a:pt x="148" y="47"/>
                    </a:cubicBezTo>
                    <a:cubicBezTo>
                      <a:pt x="149" y="49"/>
                      <a:pt x="150" y="50"/>
                      <a:pt x="148" y="51"/>
                    </a:cubicBezTo>
                    <a:cubicBezTo>
                      <a:pt x="147" y="52"/>
                      <a:pt x="144" y="51"/>
                      <a:pt x="145" y="51"/>
                    </a:cubicBezTo>
                    <a:cubicBezTo>
                      <a:pt x="146" y="50"/>
                      <a:pt x="148" y="50"/>
                      <a:pt x="146" y="50"/>
                    </a:cubicBezTo>
                    <a:cubicBezTo>
                      <a:pt x="144" y="50"/>
                      <a:pt x="136" y="51"/>
                      <a:pt x="133" y="52"/>
                    </a:cubicBezTo>
                    <a:cubicBezTo>
                      <a:pt x="130" y="53"/>
                      <a:pt x="120" y="55"/>
                      <a:pt x="119" y="55"/>
                    </a:cubicBezTo>
                    <a:cubicBezTo>
                      <a:pt x="117" y="55"/>
                      <a:pt x="106" y="53"/>
                      <a:pt x="104" y="52"/>
                    </a:cubicBezTo>
                    <a:cubicBezTo>
                      <a:pt x="103" y="51"/>
                      <a:pt x="96" y="46"/>
                      <a:pt x="94" y="45"/>
                    </a:cubicBezTo>
                    <a:cubicBezTo>
                      <a:pt x="92" y="44"/>
                      <a:pt x="89" y="40"/>
                      <a:pt x="88" y="40"/>
                    </a:cubicBezTo>
                    <a:cubicBezTo>
                      <a:pt x="86" y="41"/>
                      <a:pt x="77" y="39"/>
                      <a:pt x="75" y="36"/>
                    </a:cubicBezTo>
                    <a:cubicBezTo>
                      <a:pt x="74" y="34"/>
                      <a:pt x="73" y="28"/>
                      <a:pt x="73" y="24"/>
                    </a:cubicBezTo>
                    <a:cubicBezTo>
                      <a:pt x="72" y="24"/>
                      <a:pt x="69" y="24"/>
                      <a:pt x="69" y="24"/>
                    </a:cubicBezTo>
                    <a:cubicBezTo>
                      <a:pt x="68" y="24"/>
                      <a:pt x="68" y="24"/>
                      <a:pt x="68" y="24"/>
                    </a:cubicBezTo>
                    <a:cubicBezTo>
                      <a:pt x="68" y="24"/>
                      <a:pt x="67" y="23"/>
                      <a:pt x="67" y="22"/>
                    </a:cubicBezTo>
                    <a:cubicBezTo>
                      <a:pt x="67" y="22"/>
                      <a:pt x="66" y="21"/>
                      <a:pt x="66" y="21"/>
                    </a:cubicBezTo>
                    <a:cubicBezTo>
                      <a:pt x="66" y="21"/>
                      <a:pt x="64" y="20"/>
                      <a:pt x="64" y="20"/>
                    </a:cubicBezTo>
                    <a:cubicBezTo>
                      <a:pt x="63" y="20"/>
                      <a:pt x="63" y="19"/>
                      <a:pt x="63" y="19"/>
                    </a:cubicBezTo>
                    <a:cubicBezTo>
                      <a:pt x="63" y="18"/>
                      <a:pt x="61" y="17"/>
                      <a:pt x="60" y="17"/>
                    </a:cubicBezTo>
                    <a:cubicBezTo>
                      <a:pt x="59" y="16"/>
                      <a:pt x="60" y="16"/>
                      <a:pt x="60" y="16"/>
                    </a:cubicBezTo>
                    <a:cubicBezTo>
                      <a:pt x="60" y="16"/>
                      <a:pt x="63" y="14"/>
                      <a:pt x="64" y="13"/>
                    </a:cubicBezTo>
                    <a:cubicBezTo>
                      <a:pt x="64" y="13"/>
                      <a:pt x="64" y="13"/>
                      <a:pt x="64" y="13"/>
                    </a:cubicBezTo>
                    <a:cubicBezTo>
                      <a:pt x="64" y="13"/>
                      <a:pt x="63" y="11"/>
                      <a:pt x="62" y="11"/>
                    </a:cubicBezTo>
                    <a:cubicBezTo>
                      <a:pt x="61" y="10"/>
                      <a:pt x="62" y="10"/>
                      <a:pt x="62" y="10"/>
                    </a:cubicBezTo>
                    <a:cubicBezTo>
                      <a:pt x="62" y="10"/>
                      <a:pt x="63" y="9"/>
                      <a:pt x="64" y="8"/>
                    </a:cubicBezTo>
                    <a:cubicBezTo>
                      <a:pt x="64" y="7"/>
                      <a:pt x="64" y="7"/>
                      <a:pt x="64" y="7"/>
                    </a:cubicBezTo>
                    <a:cubicBezTo>
                      <a:pt x="64" y="7"/>
                      <a:pt x="62" y="5"/>
                      <a:pt x="62" y="4"/>
                    </a:cubicBezTo>
                    <a:cubicBezTo>
                      <a:pt x="61" y="3"/>
                      <a:pt x="60" y="2"/>
                      <a:pt x="60" y="2"/>
                    </a:cubicBezTo>
                    <a:cubicBezTo>
                      <a:pt x="59" y="1"/>
                      <a:pt x="58" y="2"/>
                      <a:pt x="58" y="2"/>
                    </a:cubicBezTo>
                    <a:cubicBezTo>
                      <a:pt x="58" y="2"/>
                      <a:pt x="57" y="2"/>
                      <a:pt x="57" y="2"/>
                    </a:cubicBezTo>
                    <a:cubicBezTo>
                      <a:pt x="56" y="3"/>
                      <a:pt x="51" y="5"/>
                      <a:pt x="51" y="6"/>
                    </a:cubicBezTo>
                    <a:cubicBezTo>
                      <a:pt x="51" y="6"/>
                      <a:pt x="50" y="6"/>
                      <a:pt x="50" y="6"/>
                    </a:cubicBezTo>
                    <a:cubicBezTo>
                      <a:pt x="50" y="6"/>
                      <a:pt x="49" y="7"/>
                      <a:pt x="49" y="7"/>
                    </a:cubicBezTo>
                    <a:cubicBezTo>
                      <a:pt x="49" y="8"/>
                      <a:pt x="44" y="10"/>
                      <a:pt x="43" y="11"/>
                    </a:cubicBezTo>
                    <a:cubicBezTo>
                      <a:pt x="43" y="11"/>
                      <a:pt x="39" y="15"/>
                      <a:pt x="38" y="16"/>
                    </a:cubicBezTo>
                    <a:cubicBezTo>
                      <a:pt x="38" y="16"/>
                      <a:pt x="38" y="16"/>
                      <a:pt x="38" y="16"/>
                    </a:cubicBezTo>
                    <a:cubicBezTo>
                      <a:pt x="37" y="16"/>
                      <a:pt x="37" y="16"/>
                      <a:pt x="37" y="16"/>
                    </a:cubicBezTo>
                    <a:cubicBezTo>
                      <a:pt x="36" y="16"/>
                      <a:pt x="34" y="16"/>
                      <a:pt x="33" y="16"/>
                    </a:cubicBezTo>
                    <a:cubicBezTo>
                      <a:pt x="33" y="16"/>
                      <a:pt x="32" y="17"/>
                      <a:pt x="32" y="17"/>
                    </a:cubicBezTo>
                    <a:cubicBezTo>
                      <a:pt x="32" y="17"/>
                      <a:pt x="32" y="17"/>
                      <a:pt x="32" y="17"/>
                    </a:cubicBezTo>
                    <a:cubicBezTo>
                      <a:pt x="31" y="16"/>
                      <a:pt x="23" y="15"/>
                      <a:pt x="23" y="14"/>
                    </a:cubicBezTo>
                    <a:cubicBezTo>
                      <a:pt x="22" y="14"/>
                      <a:pt x="22" y="14"/>
                      <a:pt x="22" y="14"/>
                    </a:cubicBezTo>
                    <a:cubicBezTo>
                      <a:pt x="21" y="14"/>
                      <a:pt x="18" y="10"/>
                      <a:pt x="17" y="9"/>
                    </a:cubicBezTo>
                    <a:cubicBezTo>
                      <a:pt x="17" y="9"/>
                      <a:pt x="14" y="6"/>
                      <a:pt x="13" y="4"/>
                    </a:cubicBezTo>
                    <a:cubicBezTo>
                      <a:pt x="13" y="4"/>
                      <a:pt x="12" y="3"/>
                      <a:pt x="12" y="3"/>
                    </a:cubicBezTo>
                    <a:cubicBezTo>
                      <a:pt x="11" y="2"/>
                      <a:pt x="11" y="2"/>
                      <a:pt x="10" y="1"/>
                    </a:cubicBezTo>
                    <a:cubicBezTo>
                      <a:pt x="9" y="0"/>
                      <a:pt x="8" y="1"/>
                      <a:pt x="7" y="1"/>
                    </a:cubicBezTo>
                    <a:cubicBezTo>
                      <a:pt x="7" y="2"/>
                      <a:pt x="7" y="2"/>
                      <a:pt x="7" y="2"/>
                    </a:cubicBezTo>
                    <a:cubicBezTo>
                      <a:pt x="7" y="5"/>
                      <a:pt x="6" y="6"/>
                      <a:pt x="5" y="6"/>
                    </a:cubicBezTo>
                    <a:cubicBezTo>
                      <a:pt x="5" y="7"/>
                      <a:pt x="2" y="7"/>
                      <a:pt x="1" y="7"/>
                    </a:cubicBezTo>
                    <a:cubicBezTo>
                      <a:pt x="0" y="7"/>
                      <a:pt x="0" y="8"/>
                      <a:pt x="1" y="8"/>
                    </a:cubicBezTo>
                    <a:cubicBezTo>
                      <a:pt x="1" y="8"/>
                      <a:pt x="2" y="13"/>
                      <a:pt x="3" y="14"/>
                    </a:cubicBezTo>
                    <a:cubicBezTo>
                      <a:pt x="3" y="15"/>
                      <a:pt x="4" y="16"/>
                      <a:pt x="4" y="17"/>
                    </a:cubicBezTo>
                    <a:cubicBezTo>
                      <a:pt x="5" y="17"/>
                      <a:pt x="5" y="23"/>
                      <a:pt x="5" y="24"/>
                    </a:cubicBezTo>
                    <a:cubicBezTo>
                      <a:pt x="5" y="25"/>
                      <a:pt x="5" y="25"/>
                      <a:pt x="5" y="24"/>
                    </a:cubicBezTo>
                    <a:cubicBezTo>
                      <a:pt x="6" y="24"/>
                      <a:pt x="6" y="24"/>
                      <a:pt x="7" y="25"/>
                    </a:cubicBezTo>
                    <a:cubicBezTo>
                      <a:pt x="7" y="25"/>
                      <a:pt x="6" y="28"/>
                      <a:pt x="4" y="31"/>
                    </a:cubicBezTo>
                    <a:cubicBezTo>
                      <a:pt x="3" y="33"/>
                      <a:pt x="5" y="33"/>
                      <a:pt x="5" y="33"/>
                    </a:cubicBezTo>
                    <a:cubicBezTo>
                      <a:pt x="6" y="33"/>
                      <a:pt x="6" y="34"/>
                      <a:pt x="6" y="34"/>
                    </a:cubicBezTo>
                    <a:cubicBezTo>
                      <a:pt x="6" y="35"/>
                      <a:pt x="6" y="34"/>
                      <a:pt x="7" y="35"/>
                    </a:cubicBezTo>
                    <a:cubicBezTo>
                      <a:pt x="8" y="35"/>
                      <a:pt x="9" y="36"/>
                      <a:pt x="9" y="36"/>
                    </a:cubicBezTo>
                    <a:cubicBezTo>
                      <a:pt x="9" y="37"/>
                      <a:pt x="9" y="39"/>
                      <a:pt x="9" y="40"/>
                    </a:cubicBezTo>
                    <a:cubicBezTo>
                      <a:pt x="9" y="41"/>
                      <a:pt x="9" y="41"/>
                      <a:pt x="11" y="42"/>
                    </a:cubicBezTo>
                    <a:cubicBezTo>
                      <a:pt x="12" y="43"/>
                      <a:pt x="12" y="45"/>
                      <a:pt x="12" y="46"/>
                    </a:cubicBezTo>
                    <a:cubicBezTo>
                      <a:pt x="12" y="46"/>
                      <a:pt x="12" y="46"/>
                      <a:pt x="12" y="4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73" name="Freeform 583">
                <a:extLst>
                  <a:ext uri="{FF2B5EF4-FFF2-40B4-BE49-F238E27FC236}">
                    <a16:creationId xmlns:a16="http://schemas.microsoft.com/office/drawing/2014/main" id="{DECAC565-C3AA-4936-B9D0-4D5C1633DD8A}"/>
                  </a:ext>
                </a:extLst>
              </p:cNvPr>
              <p:cNvSpPr>
                <a:spLocks/>
              </p:cNvSpPr>
              <p:nvPr/>
            </p:nvSpPr>
            <p:spPr bwMode="auto">
              <a:xfrm>
                <a:off x="4427" y="1775"/>
                <a:ext cx="114" cy="84"/>
              </a:xfrm>
              <a:custGeom>
                <a:avLst/>
                <a:gdLst>
                  <a:gd name="T0" fmla="*/ 21 w 82"/>
                  <a:gd name="T1" fmla="*/ 1 h 61"/>
                  <a:gd name="T2" fmla="*/ 19 w 82"/>
                  <a:gd name="T3" fmla="*/ 5 h 61"/>
                  <a:gd name="T4" fmla="*/ 24 w 82"/>
                  <a:gd name="T5" fmla="*/ 9 h 61"/>
                  <a:gd name="T6" fmla="*/ 24 w 82"/>
                  <a:gd name="T7" fmla="*/ 13 h 61"/>
                  <a:gd name="T8" fmla="*/ 12 w 82"/>
                  <a:gd name="T9" fmla="*/ 12 h 61"/>
                  <a:gd name="T10" fmla="*/ 8 w 82"/>
                  <a:gd name="T11" fmla="*/ 9 h 61"/>
                  <a:gd name="T12" fmla="*/ 4 w 82"/>
                  <a:gd name="T13" fmla="*/ 8 h 61"/>
                  <a:gd name="T14" fmla="*/ 3 w 82"/>
                  <a:gd name="T15" fmla="*/ 13 h 61"/>
                  <a:gd name="T16" fmla="*/ 2 w 82"/>
                  <a:gd name="T17" fmla="*/ 15 h 61"/>
                  <a:gd name="T18" fmla="*/ 7 w 82"/>
                  <a:gd name="T19" fmla="*/ 17 h 61"/>
                  <a:gd name="T20" fmla="*/ 7 w 82"/>
                  <a:gd name="T21" fmla="*/ 20 h 61"/>
                  <a:gd name="T22" fmla="*/ 6 w 82"/>
                  <a:gd name="T23" fmla="*/ 23 h 61"/>
                  <a:gd name="T24" fmla="*/ 12 w 82"/>
                  <a:gd name="T25" fmla="*/ 28 h 61"/>
                  <a:gd name="T26" fmla="*/ 12 w 82"/>
                  <a:gd name="T27" fmla="*/ 33 h 61"/>
                  <a:gd name="T28" fmla="*/ 9 w 82"/>
                  <a:gd name="T29" fmla="*/ 34 h 61"/>
                  <a:gd name="T30" fmla="*/ 15 w 82"/>
                  <a:gd name="T31" fmla="*/ 38 h 61"/>
                  <a:gd name="T32" fmla="*/ 22 w 82"/>
                  <a:gd name="T33" fmla="*/ 43 h 61"/>
                  <a:gd name="T34" fmla="*/ 23 w 82"/>
                  <a:gd name="T35" fmla="*/ 47 h 61"/>
                  <a:gd name="T36" fmla="*/ 22 w 82"/>
                  <a:gd name="T37" fmla="*/ 50 h 61"/>
                  <a:gd name="T38" fmla="*/ 23 w 82"/>
                  <a:gd name="T39" fmla="*/ 53 h 61"/>
                  <a:gd name="T40" fmla="*/ 34 w 82"/>
                  <a:gd name="T41" fmla="*/ 44 h 61"/>
                  <a:gd name="T42" fmla="*/ 36 w 82"/>
                  <a:gd name="T43" fmla="*/ 43 h 61"/>
                  <a:gd name="T44" fmla="*/ 43 w 82"/>
                  <a:gd name="T45" fmla="*/ 39 h 61"/>
                  <a:gd name="T46" fmla="*/ 47 w 82"/>
                  <a:gd name="T47" fmla="*/ 41 h 61"/>
                  <a:gd name="T48" fmla="*/ 49 w 82"/>
                  <a:gd name="T49" fmla="*/ 45 h 61"/>
                  <a:gd name="T50" fmla="*/ 47 w 82"/>
                  <a:gd name="T51" fmla="*/ 48 h 61"/>
                  <a:gd name="T52" fmla="*/ 49 w 82"/>
                  <a:gd name="T53" fmla="*/ 50 h 61"/>
                  <a:gd name="T54" fmla="*/ 45 w 82"/>
                  <a:gd name="T55" fmla="*/ 54 h 61"/>
                  <a:gd name="T56" fmla="*/ 49 w 82"/>
                  <a:gd name="T57" fmla="*/ 57 h 61"/>
                  <a:gd name="T58" fmla="*/ 52 w 82"/>
                  <a:gd name="T59" fmla="*/ 59 h 61"/>
                  <a:gd name="T60" fmla="*/ 54 w 82"/>
                  <a:gd name="T61" fmla="*/ 61 h 61"/>
                  <a:gd name="T62" fmla="*/ 58 w 82"/>
                  <a:gd name="T63" fmla="*/ 57 h 61"/>
                  <a:gd name="T64" fmla="*/ 61 w 82"/>
                  <a:gd name="T65" fmla="*/ 50 h 61"/>
                  <a:gd name="T66" fmla="*/ 64 w 82"/>
                  <a:gd name="T67" fmla="*/ 45 h 61"/>
                  <a:gd name="T68" fmla="*/ 65 w 82"/>
                  <a:gd name="T69" fmla="*/ 39 h 61"/>
                  <a:gd name="T70" fmla="*/ 77 w 82"/>
                  <a:gd name="T71" fmla="*/ 27 h 61"/>
                  <a:gd name="T72" fmla="*/ 74 w 82"/>
                  <a:gd name="T73" fmla="*/ 23 h 61"/>
                  <a:gd name="T74" fmla="*/ 61 w 82"/>
                  <a:gd name="T75" fmla="*/ 11 h 61"/>
                  <a:gd name="T76" fmla="*/ 52 w 82"/>
                  <a:gd name="T77" fmla="*/ 3 h 61"/>
                  <a:gd name="T78" fmla="*/ 43 w 82"/>
                  <a:gd name="T79" fmla="*/ 12 h 61"/>
                  <a:gd name="T80" fmla="*/ 36 w 82"/>
                  <a:gd name="T81" fmla="*/ 11 h 61"/>
                  <a:gd name="T82" fmla="*/ 33 w 82"/>
                  <a:gd name="T83" fmla="*/ 8 h 61"/>
                  <a:gd name="T84" fmla="*/ 26 w 82"/>
                  <a:gd name="T85" fmla="*/ 1 h 61"/>
                  <a:gd name="T86" fmla="*/ 23 w 82"/>
                  <a:gd name="T8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2" h="61">
                    <a:moveTo>
                      <a:pt x="22" y="0"/>
                    </a:moveTo>
                    <a:cubicBezTo>
                      <a:pt x="21" y="0"/>
                      <a:pt x="21" y="1"/>
                      <a:pt x="21" y="1"/>
                    </a:cubicBezTo>
                    <a:cubicBezTo>
                      <a:pt x="21" y="1"/>
                      <a:pt x="18" y="4"/>
                      <a:pt x="18" y="4"/>
                    </a:cubicBezTo>
                    <a:cubicBezTo>
                      <a:pt x="18" y="5"/>
                      <a:pt x="18" y="5"/>
                      <a:pt x="19" y="5"/>
                    </a:cubicBezTo>
                    <a:cubicBezTo>
                      <a:pt x="19" y="6"/>
                      <a:pt x="20" y="7"/>
                      <a:pt x="21" y="7"/>
                    </a:cubicBezTo>
                    <a:cubicBezTo>
                      <a:pt x="21" y="8"/>
                      <a:pt x="23" y="9"/>
                      <a:pt x="24" y="9"/>
                    </a:cubicBezTo>
                    <a:cubicBezTo>
                      <a:pt x="24" y="9"/>
                      <a:pt x="24" y="10"/>
                      <a:pt x="24" y="10"/>
                    </a:cubicBezTo>
                    <a:cubicBezTo>
                      <a:pt x="24" y="10"/>
                      <a:pt x="24" y="12"/>
                      <a:pt x="24" y="13"/>
                    </a:cubicBezTo>
                    <a:cubicBezTo>
                      <a:pt x="24" y="14"/>
                      <a:pt x="23" y="14"/>
                      <a:pt x="23" y="14"/>
                    </a:cubicBezTo>
                    <a:cubicBezTo>
                      <a:pt x="23" y="14"/>
                      <a:pt x="13" y="12"/>
                      <a:pt x="12" y="12"/>
                    </a:cubicBezTo>
                    <a:cubicBezTo>
                      <a:pt x="12" y="12"/>
                      <a:pt x="11" y="11"/>
                      <a:pt x="11" y="11"/>
                    </a:cubicBezTo>
                    <a:cubicBezTo>
                      <a:pt x="11" y="11"/>
                      <a:pt x="9" y="10"/>
                      <a:pt x="8" y="9"/>
                    </a:cubicBezTo>
                    <a:cubicBezTo>
                      <a:pt x="7" y="9"/>
                      <a:pt x="6" y="8"/>
                      <a:pt x="5" y="8"/>
                    </a:cubicBezTo>
                    <a:cubicBezTo>
                      <a:pt x="5" y="8"/>
                      <a:pt x="4" y="8"/>
                      <a:pt x="4" y="8"/>
                    </a:cubicBezTo>
                    <a:cubicBezTo>
                      <a:pt x="4" y="8"/>
                      <a:pt x="2" y="10"/>
                      <a:pt x="0" y="11"/>
                    </a:cubicBezTo>
                    <a:cubicBezTo>
                      <a:pt x="3" y="13"/>
                      <a:pt x="3" y="13"/>
                      <a:pt x="3" y="13"/>
                    </a:cubicBezTo>
                    <a:cubicBezTo>
                      <a:pt x="3" y="13"/>
                      <a:pt x="3" y="14"/>
                      <a:pt x="3" y="14"/>
                    </a:cubicBezTo>
                    <a:cubicBezTo>
                      <a:pt x="2" y="14"/>
                      <a:pt x="1" y="15"/>
                      <a:pt x="2" y="15"/>
                    </a:cubicBezTo>
                    <a:cubicBezTo>
                      <a:pt x="4" y="15"/>
                      <a:pt x="6" y="15"/>
                      <a:pt x="6" y="16"/>
                    </a:cubicBezTo>
                    <a:cubicBezTo>
                      <a:pt x="6" y="17"/>
                      <a:pt x="7" y="17"/>
                      <a:pt x="7" y="17"/>
                    </a:cubicBezTo>
                    <a:cubicBezTo>
                      <a:pt x="8" y="18"/>
                      <a:pt x="9" y="19"/>
                      <a:pt x="9" y="20"/>
                    </a:cubicBezTo>
                    <a:cubicBezTo>
                      <a:pt x="8" y="20"/>
                      <a:pt x="7" y="20"/>
                      <a:pt x="7" y="20"/>
                    </a:cubicBezTo>
                    <a:cubicBezTo>
                      <a:pt x="6" y="21"/>
                      <a:pt x="6" y="21"/>
                      <a:pt x="6" y="21"/>
                    </a:cubicBezTo>
                    <a:cubicBezTo>
                      <a:pt x="6" y="22"/>
                      <a:pt x="6" y="22"/>
                      <a:pt x="6" y="23"/>
                    </a:cubicBezTo>
                    <a:cubicBezTo>
                      <a:pt x="7" y="23"/>
                      <a:pt x="8" y="24"/>
                      <a:pt x="8" y="25"/>
                    </a:cubicBezTo>
                    <a:cubicBezTo>
                      <a:pt x="9" y="25"/>
                      <a:pt x="12" y="28"/>
                      <a:pt x="12" y="28"/>
                    </a:cubicBezTo>
                    <a:cubicBezTo>
                      <a:pt x="13" y="28"/>
                      <a:pt x="14" y="29"/>
                      <a:pt x="14" y="29"/>
                    </a:cubicBezTo>
                    <a:cubicBezTo>
                      <a:pt x="14" y="29"/>
                      <a:pt x="14" y="33"/>
                      <a:pt x="12" y="33"/>
                    </a:cubicBezTo>
                    <a:cubicBezTo>
                      <a:pt x="11" y="34"/>
                      <a:pt x="9" y="34"/>
                      <a:pt x="9" y="34"/>
                    </a:cubicBezTo>
                    <a:cubicBezTo>
                      <a:pt x="9" y="34"/>
                      <a:pt x="8" y="34"/>
                      <a:pt x="9" y="34"/>
                    </a:cubicBezTo>
                    <a:cubicBezTo>
                      <a:pt x="10" y="35"/>
                      <a:pt x="12" y="36"/>
                      <a:pt x="12" y="36"/>
                    </a:cubicBezTo>
                    <a:cubicBezTo>
                      <a:pt x="13" y="37"/>
                      <a:pt x="14" y="38"/>
                      <a:pt x="15" y="38"/>
                    </a:cubicBezTo>
                    <a:cubicBezTo>
                      <a:pt x="15" y="38"/>
                      <a:pt x="22" y="42"/>
                      <a:pt x="22" y="42"/>
                    </a:cubicBezTo>
                    <a:cubicBezTo>
                      <a:pt x="22" y="42"/>
                      <a:pt x="23" y="43"/>
                      <a:pt x="22" y="43"/>
                    </a:cubicBezTo>
                    <a:cubicBezTo>
                      <a:pt x="21" y="43"/>
                      <a:pt x="20" y="44"/>
                      <a:pt x="21" y="45"/>
                    </a:cubicBezTo>
                    <a:cubicBezTo>
                      <a:pt x="22" y="46"/>
                      <a:pt x="25" y="47"/>
                      <a:pt x="23" y="47"/>
                    </a:cubicBezTo>
                    <a:cubicBezTo>
                      <a:pt x="22" y="47"/>
                      <a:pt x="21" y="47"/>
                      <a:pt x="21" y="48"/>
                    </a:cubicBezTo>
                    <a:cubicBezTo>
                      <a:pt x="22" y="49"/>
                      <a:pt x="22" y="50"/>
                      <a:pt x="22" y="50"/>
                    </a:cubicBezTo>
                    <a:cubicBezTo>
                      <a:pt x="22" y="50"/>
                      <a:pt x="23" y="52"/>
                      <a:pt x="23" y="53"/>
                    </a:cubicBezTo>
                    <a:cubicBezTo>
                      <a:pt x="23" y="53"/>
                      <a:pt x="23" y="53"/>
                      <a:pt x="23" y="53"/>
                    </a:cubicBezTo>
                    <a:cubicBezTo>
                      <a:pt x="24" y="52"/>
                      <a:pt x="28" y="48"/>
                      <a:pt x="28" y="48"/>
                    </a:cubicBezTo>
                    <a:cubicBezTo>
                      <a:pt x="29" y="47"/>
                      <a:pt x="34" y="45"/>
                      <a:pt x="34" y="44"/>
                    </a:cubicBezTo>
                    <a:cubicBezTo>
                      <a:pt x="34" y="44"/>
                      <a:pt x="35" y="43"/>
                      <a:pt x="35" y="43"/>
                    </a:cubicBezTo>
                    <a:cubicBezTo>
                      <a:pt x="35" y="43"/>
                      <a:pt x="36" y="43"/>
                      <a:pt x="36" y="43"/>
                    </a:cubicBezTo>
                    <a:cubicBezTo>
                      <a:pt x="36" y="42"/>
                      <a:pt x="41" y="40"/>
                      <a:pt x="42" y="39"/>
                    </a:cubicBezTo>
                    <a:cubicBezTo>
                      <a:pt x="42" y="39"/>
                      <a:pt x="43" y="39"/>
                      <a:pt x="43" y="39"/>
                    </a:cubicBezTo>
                    <a:cubicBezTo>
                      <a:pt x="43" y="39"/>
                      <a:pt x="44" y="38"/>
                      <a:pt x="45" y="39"/>
                    </a:cubicBezTo>
                    <a:cubicBezTo>
                      <a:pt x="45" y="39"/>
                      <a:pt x="46" y="40"/>
                      <a:pt x="47" y="41"/>
                    </a:cubicBezTo>
                    <a:cubicBezTo>
                      <a:pt x="47" y="42"/>
                      <a:pt x="49" y="44"/>
                      <a:pt x="49" y="44"/>
                    </a:cubicBezTo>
                    <a:cubicBezTo>
                      <a:pt x="49" y="44"/>
                      <a:pt x="49" y="44"/>
                      <a:pt x="49" y="45"/>
                    </a:cubicBezTo>
                    <a:cubicBezTo>
                      <a:pt x="48" y="46"/>
                      <a:pt x="47" y="47"/>
                      <a:pt x="47" y="47"/>
                    </a:cubicBezTo>
                    <a:cubicBezTo>
                      <a:pt x="47" y="47"/>
                      <a:pt x="46" y="47"/>
                      <a:pt x="47" y="48"/>
                    </a:cubicBezTo>
                    <a:cubicBezTo>
                      <a:pt x="48" y="48"/>
                      <a:pt x="49" y="50"/>
                      <a:pt x="49" y="50"/>
                    </a:cubicBezTo>
                    <a:cubicBezTo>
                      <a:pt x="49" y="50"/>
                      <a:pt x="49" y="50"/>
                      <a:pt x="49" y="50"/>
                    </a:cubicBezTo>
                    <a:cubicBezTo>
                      <a:pt x="48" y="51"/>
                      <a:pt x="45" y="53"/>
                      <a:pt x="45" y="53"/>
                    </a:cubicBezTo>
                    <a:cubicBezTo>
                      <a:pt x="45" y="53"/>
                      <a:pt x="44" y="53"/>
                      <a:pt x="45" y="54"/>
                    </a:cubicBezTo>
                    <a:cubicBezTo>
                      <a:pt x="46" y="54"/>
                      <a:pt x="48" y="55"/>
                      <a:pt x="48" y="56"/>
                    </a:cubicBezTo>
                    <a:cubicBezTo>
                      <a:pt x="48" y="56"/>
                      <a:pt x="48" y="57"/>
                      <a:pt x="49" y="57"/>
                    </a:cubicBezTo>
                    <a:cubicBezTo>
                      <a:pt x="49" y="57"/>
                      <a:pt x="51" y="58"/>
                      <a:pt x="51" y="58"/>
                    </a:cubicBezTo>
                    <a:cubicBezTo>
                      <a:pt x="51" y="58"/>
                      <a:pt x="52" y="59"/>
                      <a:pt x="52" y="59"/>
                    </a:cubicBezTo>
                    <a:cubicBezTo>
                      <a:pt x="52" y="60"/>
                      <a:pt x="53" y="61"/>
                      <a:pt x="53" y="61"/>
                    </a:cubicBezTo>
                    <a:cubicBezTo>
                      <a:pt x="53" y="61"/>
                      <a:pt x="53" y="61"/>
                      <a:pt x="54" y="61"/>
                    </a:cubicBezTo>
                    <a:cubicBezTo>
                      <a:pt x="54" y="61"/>
                      <a:pt x="57" y="61"/>
                      <a:pt x="58" y="61"/>
                    </a:cubicBezTo>
                    <a:cubicBezTo>
                      <a:pt x="58" y="59"/>
                      <a:pt x="58" y="58"/>
                      <a:pt x="58" y="57"/>
                    </a:cubicBezTo>
                    <a:cubicBezTo>
                      <a:pt x="58" y="54"/>
                      <a:pt x="58" y="48"/>
                      <a:pt x="59" y="48"/>
                    </a:cubicBezTo>
                    <a:cubicBezTo>
                      <a:pt x="60" y="48"/>
                      <a:pt x="61" y="48"/>
                      <a:pt x="61" y="50"/>
                    </a:cubicBezTo>
                    <a:cubicBezTo>
                      <a:pt x="61" y="51"/>
                      <a:pt x="62" y="51"/>
                      <a:pt x="62" y="49"/>
                    </a:cubicBezTo>
                    <a:cubicBezTo>
                      <a:pt x="63" y="46"/>
                      <a:pt x="63" y="45"/>
                      <a:pt x="64" y="45"/>
                    </a:cubicBezTo>
                    <a:cubicBezTo>
                      <a:pt x="65" y="45"/>
                      <a:pt x="66" y="46"/>
                      <a:pt x="65" y="44"/>
                    </a:cubicBezTo>
                    <a:cubicBezTo>
                      <a:pt x="65" y="42"/>
                      <a:pt x="64" y="41"/>
                      <a:pt x="65" y="39"/>
                    </a:cubicBezTo>
                    <a:cubicBezTo>
                      <a:pt x="66" y="36"/>
                      <a:pt x="68" y="29"/>
                      <a:pt x="70" y="28"/>
                    </a:cubicBezTo>
                    <a:cubicBezTo>
                      <a:pt x="72" y="27"/>
                      <a:pt x="75" y="27"/>
                      <a:pt x="77" y="27"/>
                    </a:cubicBezTo>
                    <a:cubicBezTo>
                      <a:pt x="78" y="28"/>
                      <a:pt x="82" y="30"/>
                      <a:pt x="79" y="27"/>
                    </a:cubicBezTo>
                    <a:cubicBezTo>
                      <a:pt x="77" y="24"/>
                      <a:pt x="75" y="23"/>
                      <a:pt x="74" y="23"/>
                    </a:cubicBezTo>
                    <a:cubicBezTo>
                      <a:pt x="73" y="23"/>
                      <a:pt x="72" y="24"/>
                      <a:pt x="71" y="23"/>
                    </a:cubicBezTo>
                    <a:cubicBezTo>
                      <a:pt x="69" y="22"/>
                      <a:pt x="63" y="16"/>
                      <a:pt x="61" y="11"/>
                    </a:cubicBezTo>
                    <a:cubicBezTo>
                      <a:pt x="59" y="6"/>
                      <a:pt x="56" y="3"/>
                      <a:pt x="53" y="1"/>
                    </a:cubicBezTo>
                    <a:cubicBezTo>
                      <a:pt x="53" y="2"/>
                      <a:pt x="52" y="3"/>
                      <a:pt x="52" y="3"/>
                    </a:cubicBezTo>
                    <a:cubicBezTo>
                      <a:pt x="52" y="3"/>
                      <a:pt x="46" y="8"/>
                      <a:pt x="45" y="8"/>
                    </a:cubicBezTo>
                    <a:cubicBezTo>
                      <a:pt x="45" y="9"/>
                      <a:pt x="43" y="11"/>
                      <a:pt x="43" y="12"/>
                    </a:cubicBezTo>
                    <a:cubicBezTo>
                      <a:pt x="42" y="12"/>
                      <a:pt x="41" y="12"/>
                      <a:pt x="41" y="12"/>
                    </a:cubicBezTo>
                    <a:cubicBezTo>
                      <a:pt x="40" y="13"/>
                      <a:pt x="37" y="11"/>
                      <a:pt x="36" y="11"/>
                    </a:cubicBezTo>
                    <a:cubicBezTo>
                      <a:pt x="35" y="11"/>
                      <a:pt x="34" y="10"/>
                      <a:pt x="34" y="10"/>
                    </a:cubicBezTo>
                    <a:cubicBezTo>
                      <a:pt x="33" y="9"/>
                      <a:pt x="33" y="8"/>
                      <a:pt x="33" y="8"/>
                    </a:cubicBezTo>
                    <a:cubicBezTo>
                      <a:pt x="33" y="8"/>
                      <a:pt x="31" y="6"/>
                      <a:pt x="30" y="6"/>
                    </a:cubicBezTo>
                    <a:cubicBezTo>
                      <a:pt x="30" y="6"/>
                      <a:pt x="27" y="2"/>
                      <a:pt x="26" y="1"/>
                    </a:cubicBezTo>
                    <a:cubicBezTo>
                      <a:pt x="26" y="1"/>
                      <a:pt x="26" y="1"/>
                      <a:pt x="26" y="1"/>
                    </a:cubicBezTo>
                    <a:cubicBezTo>
                      <a:pt x="26" y="1"/>
                      <a:pt x="24" y="0"/>
                      <a:pt x="23" y="0"/>
                    </a:cubicBezTo>
                    <a:cubicBezTo>
                      <a:pt x="22" y="0"/>
                      <a:pt x="22" y="0"/>
                      <a:pt x="2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74" name="Freeform 584">
                <a:extLst>
                  <a:ext uri="{FF2B5EF4-FFF2-40B4-BE49-F238E27FC236}">
                    <a16:creationId xmlns:a16="http://schemas.microsoft.com/office/drawing/2014/main" id="{5A153BA3-B5D3-48DB-9245-0C59D4F08C05}"/>
                  </a:ext>
                </a:extLst>
              </p:cNvPr>
              <p:cNvSpPr>
                <a:spLocks/>
              </p:cNvSpPr>
              <p:nvPr/>
            </p:nvSpPr>
            <p:spPr bwMode="auto">
              <a:xfrm>
                <a:off x="4423" y="1827"/>
                <a:ext cx="28" cy="22"/>
              </a:xfrm>
              <a:custGeom>
                <a:avLst/>
                <a:gdLst>
                  <a:gd name="T0" fmla="*/ 5 w 20"/>
                  <a:gd name="T1" fmla="*/ 8 h 16"/>
                  <a:gd name="T2" fmla="*/ 10 w 20"/>
                  <a:gd name="T3" fmla="*/ 13 h 16"/>
                  <a:gd name="T4" fmla="*/ 11 w 20"/>
                  <a:gd name="T5" fmla="*/ 13 h 16"/>
                  <a:gd name="T6" fmla="*/ 20 w 20"/>
                  <a:gd name="T7" fmla="*/ 16 h 16"/>
                  <a:gd name="T8" fmla="*/ 20 w 20"/>
                  <a:gd name="T9" fmla="*/ 16 h 16"/>
                  <a:gd name="T10" fmla="*/ 18 w 20"/>
                  <a:gd name="T11" fmla="*/ 9 h 16"/>
                  <a:gd name="T12" fmla="*/ 17 w 20"/>
                  <a:gd name="T13" fmla="*/ 8 h 16"/>
                  <a:gd name="T14" fmla="*/ 15 w 20"/>
                  <a:gd name="T15" fmla="*/ 7 h 16"/>
                  <a:gd name="T16" fmla="*/ 14 w 20"/>
                  <a:gd name="T17" fmla="*/ 6 h 16"/>
                  <a:gd name="T18" fmla="*/ 13 w 20"/>
                  <a:gd name="T19" fmla="*/ 3 h 16"/>
                  <a:gd name="T20" fmla="*/ 13 w 20"/>
                  <a:gd name="T21" fmla="*/ 3 h 16"/>
                  <a:gd name="T22" fmla="*/ 10 w 20"/>
                  <a:gd name="T23" fmla="*/ 4 h 16"/>
                  <a:gd name="T24" fmla="*/ 8 w 20"/>
                  <a:gd name="T25" fmla="*/ 3 h 16"/>
                  <a:gd name="T26" fmla="*/ 4 w 20"/>
                  <a:gd name="T27" fmla="*/ 0 h 16"/>
                  <a:gd name="T28" fmla="*/ 4 w 20"/>
                  <a:gd name="T29" fmla="*/ 0 h 16"/>
                  <a:gd name="T30" fmla="*/ 0 w 20"/>
                  <a:gd name="T31" fmla="*/ 1 h 16"/>
                  <a:gd name="T32" fmla="*/ 0 w 20"/>
                  <a:gd name="T33" fmla="*/ 1 h 16"/>
                  <a:gd name="T34" fmla="*/ 0 w 20"/>
                  <a:gd name="T35" fmla="*/ 2 h 16"/>
                  <a:gd name="T36" fmla="*/ 1 w 20"/>
                  <a:gd name="T37" fmla="*/ 3 h 16"/>
                  <a:gd name="T38" fmla="*/ 5 w 20"/>
                  <a:gd name="T39"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 h="16">
                    <a:moveTo>
                      <a:pt x="5" y="8"/>
                    </a:moveTo>
                    <a:cubicBezTo>
                      <a:pt x="6" y="9"/>
                      <a:pt x="9" y="13"/>
                      <a:pt x="10" y="13"/>
                    </a:cubicBezTo>
                    <a:cubicBezTo>
                      <a:pt x="10" y="13"/>
                      <a:pt x="10" y="13"/>
                      <a:pt x="11" y="13"/>
                    </a:cubicBezTo>
                    <a:cubicBezTo>
                      <a:pt x="11" y="14"/>
                      <a:pt x="19" y="15"/>
                      <a:pt x="20" y="16"/>
                    </a:cubicBezTo>
                    <a:cubicBezTo>
                      <a:pt x="20" y="16"/>
                      <a:pt x="20" y="16"/>
                      <a:pt x="20" y="16"/>
                    </a:cubicBezTo>
                    <a:cubicBezTo>
                      <a:pt x="19" y="13"/>
                      <a:pt x="18" y="10"/>
                      <a:pt x="18" y="9"/>
                    </a:cubicBezTo>
                    <a:cubicBezTo>
                      <a:pt x="18" y="8"/>
                      <a:pt x="17" y="8"/>
                      <a:pt x="17" y="8"/>
                    </a:cubicBezTo>
                    <a:cubicBezTo>
                      <a:pt x="17" y="8"/>
                      <a:pt x="16" y="7"/>
                      <a:pt x="15" y="7"/>
                    </a:cubicBezTo>
                    <a:cubicBezTo>
                      <a:pt x="15" y="7"/>
                      <a:pt x="14" y="6"/>
                      <a:pt x="14" y="6"/>
                    </a:cubicBezTo>
                    <a:cubicBezTo>
                      <a:pt x="14" y="6"/>
                      <a:pt x="13" y="4"/>
                      <a:pt x="13" y="3"/>
                    </a:cubicBezTo>
                    <a:cubicBezTo>
                      <a:pt x="13" y="3"/>
                      <a:pt x="13" y="3"/>
                      <a:pt x="13" y="3"/>
                    </a:cubicBezTo>
                    <a:cubicBezTo>
                      <a:pt x="13" y="3"/>
                      <a:pt x="11" y="4"/>
                      <a:pt x="10" y="4"/>
                    </a:cubicBezTo>
                    <a:cubicBezTo>
                      <a:pt x="10" y="4"/>
                      <a:pt x="8" y="3"/>
                      <a:pt x="8" y="3"/>
                    </a:cubicBezTo>
                    <a:cubicBezTo>
                      <a:pt x="7" y="3"/>
                      <a:pt x="5" y="0"/>
                      <a:pt x="4" y="0"/>
                    </a:cubicBezTo>
                    <a:cubicBezTo>
                      <a:pt x="4" y="0"/>
                      <a:pt x="4" y="0"/>
                      <a:pt x="4" y="0"/>
                    </a:cubicBezTo>
                    <a:cubicBezTo>
                      <a:pt x="0" y="1"/>
                      <a:pt x="0" y="1"/>
                      <a:pt x="0" y="1"/>
                    </a:cubicBezTo>
                    <a:cubicBezTo>
                      <a:pt x="0" y="1"/>
                      <a:pt x="0" y="1"/>
                      <a:pt x="0" y="1"/>
                    </a:cubicBezTo>
                    <a:cubicBezTo>
                      <a:pt x="0" y="1"/>
                      <a:pt x="0" y="2"/>
                      <a:pt x="0" y="2"/>
                    </a:cubicBezTo>
                    <a:cubicBezTo>
                      <a:pt x="0" y="2"/>
                      <a:pt x="1" y="3"/>
                      <a:pt x="1" y="3"/>
                    </a:cubicBezTo>
                    <a:cubicBezTo>
                      <a:pt x="2" y="5"/>
                      <a:pt x="5" y="8"/>
                      <a:pt x="5"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75" name="Freeform 585">
                <a:extLst>
                  <a:ext uri="{FF2B5EF4-FFF2-40B4-BE49-F238E27FC236}">
                    <a16:creationId xmlns:a16="http://schemas.microsoft.com/office/drawing/2014/main" id="{1B2AD852-E9A7-45DD-A568-2BF8F35B9947}"/>
                  </a:ext>
                </a:extLst>
              </p:cNvPr>
              <p:cNvSpPr>
                <a:spLocks/>
              </p:cNvSpPr>
              <p:nvPr/>
            </p:nvSpPr>
            <p:spPr bwMode="auto">
              <a:xfrm>
                <a:off x="4396" y="1790"/>
                <a:ext cx="66" cy="59"/>
              </a:xfrm>
              <a:custGeom>
                <a:avLst/>
                <a:gdLst>
                  <a:gd name="T0" fmla="*/ 24 w 48"/>
                  <a:gd name="T1" fmla="*/ 27 h 43"/>
                  <a:gd name="T2" fmla="*/ 28 w 48"/>
                  <a:gd name="T3" fmla="*/ 30 h 43"/>
                  <a:gd name="T4" fmla="*/ 30 w 48"/>
                  <a:gd name="T5" fmla="*/ 31 h 43"/>
                  <a:gd name="T6" fmla="*/ 33 w 48"/>
                  <a:gd name="T7" fmla="*/ 30 h 43"/>
                  <a:gd name="T8" fmla="*/ 33 w 48"/>
                  <a:gd name="T9" fmla="*/ 30 h 43"/>
                  <a:gd name="T10" fmla="*/ 34 w 48"/>
                  <a:gd name="T11" fmla="*/ 33 h 43"/>
                  <a:gd name="T12" fmla="*/ 35 w 48"/>
                  <a:gd name="T13" fmla="*/ 34 h 43"/>
                  <a:gd name="T14" fmla="*/ 37 w 48"/>
                  <a:gd name="T15" fmla="*/ 35 h 43"/>
                  <a:gd name="T16" fmla="*/ 38 w 48"/>
                  <a:gd name="T17" fmla="*/ 36 h 43"/>
                  <a:gd name="T18" fmla="*/ 40 w 48"/>
                  <a:gd name="T19" fmla="*/ 43 h 43"/>
                  <a:gd name="T20" fmla="*/ 41 w 48"/>
                  <a:gd name="T21" fmla="*/ 42 h 43"/>
                  <a:gd name="T22" fmla="*/ 45 w 48"/>
                  <a:gd name="T23" fmla="*/ 42 h 43"/>
                  <a:gd name="T24" fmla="*/ 46 w 48"/>
                  <a:gd name="T25" fmla="*/ 42 h 43"/>
                  <a:gd name="T26" fmla="*/ 45 w 48"/>
                  <a:gd name="T27" fmla="*/ 39 h 43"/>
                  <a:gd name="T28" fmla="*/ 44 w 48"/>
                  <a:gd name="T29" fmla="*/ 37 h 43"/>
                  <a:gd name="T30" fmla="*/ 46 w 48"/>
                  <a:gd name="T31" fmla="*/ 36 h 43"/>
                  <a:gd name="T32" fmla="*/ 44 w 48"/>
                  <a:gd name="T33" fmla="*/ 34 h 43"/>
                  <a:gd name="T34" fmla="*/ 45 w 48"/>
                  <a:gd name="T35" fmla="*/ 32 h 43"/>
                  <a:gd name="T36" fmla="*/ 45 w 48"/>
                  <a:gd name="T37" fmla="*/ 31 h 43"/>
                  <a:gd name="T38" fmla="*/ 38 w 48"/>
                  <a:gd name="T39" fmla="*/ 27 h 43"/>
                  <a:gd name="T40" fmla="*/ 35 w 48"/>
                  <a:gd name="T41" fmla="*/ 25 h 43"/>
                  <a:gd name="T42" fmla="*/ 32 w 48"/>
                  <a:gd name="T43" fmla="*/ 23 h 43"/>
                  <a:gd name="T44" fmla="*/ 32 w 48"/>
                  <a:gd name="T45" fmla="*/ 23 h 43"/>
                  <a:gd name="T46" fmla="*/ 35 w 48"/>
                  <a:gd name="T47" fmla="*/ 22 h 43"/>
                  <a:gd name="T48" fmla="*/ 37 w 48"/>
                  <a:gd name="T49" fmla="*/ 18 h 43"/>
                  <a:gd name="T50" fmla="*/ 35 w 48"/>
                  <a:gd name="T51" fmla="*/ 17 h 43"/>
                  <a:gd name="T52" fmla="*/ 31 w 48"/>
                  <a:gd name="T53" fmla="*/ 14 h 43"/>
                  <a:gd name="T54" fmla="*/ 29 w 48"/>
                  <a:gd name="T55" fmla="*/ 12 h 43"/>
                  <a:gd name="T56" fmla="*/ 29 w 48"/>
                  <a:gd name="T57" fmla="*/ 10 h 43"/>
                  <a:gd name="T58" fmla="*/ 30 w 48"/>
                  <a:gd name="T59" fmla="*/ 9 h 43"/>
                  <a:gd name="T60" fmla="*/ 32 w 48"/>
                  <a:gd name="T61" fmla="*/ 9 h 43"/>
                  <a:gd name="T62" fmla="*/ 30 w 48"/>
                  <a:gd name="T63" fmla="*/ 6 h 43"/>
                  <a:gd name="T64" fmla="*/ 29 w 48"/>
                  <a:gd name="T65" fmla="*/ 5 h 43"/>
                  <a:gd name="T66" fmla="*/ 25 w 48"/>
                  <a:gd name="T67" fmla="*/ 4 h 43"/>
                  <a:gd name="T68" fmla="*/ 26 w 48"/>
                  <a:gd name="T69" fmla="*/ 3 h 43"/>
                  <a:gd name="T70" fmla="*/ 26 w 48"/>
                  <a:gd name="T71" fmla="*/ 2 h 43"/>
                  <a:gd name="T72" fmla="*/ 23 w 48"/>
                  <a:gd name="T73" fmla="*/ 0 h 43"/>
                  <a:gd name="T74" fmla="*/ 22 w 48"/>
                  <a:gd name="T75" fmla="*/ 1 h 43"/>
                  <a:gd name="T76" fmla="*/ 21 w 48"/>
                  <a:gd name="T77" fmla="*/ 1 h 43"/>
                  <a:gd name="T78" fmla="*/ 15 w 48"/>
                  <a:gd name="T79" fmla="*/ 1 h 43"/>
                  <a:gd name="T80" fmla="*/ 11 w 48"/>
                  <a:gd name="T81" fmla="*/ 2 h 43"/>
                  <a:gd name="T82" fmla="*/ 8 w 48"/>
                  <a:gd name="T83" fmla="*/ 2 h 43"/>
                  <a:gd name="T84" fmla="*/ 0 w 48"/>
                  <a:gd name="T85" fmla="*/ 3 h 43"/>
                  <a:gd name="T86" fmla="*/ 1 w 48"/>
                  <a:gd name="T87" fmla="*/ 4 h 43"/>
                  <a:gd name="T88" fmla="*/ 3 w 48"/>
                  <a:gd name="T89" fmla="*/ 6 h 43"/>
                  <a:gd name="T90" fmla="*/ 3 w 48"/>
                  <a:gd name="T91" fmla="*/ 12 h 43"/>
                  <a:gd name="T92" fmla="*/ 3 w 48"/>
                  <a:gd name="T93" fmla="*/ 12 h 43"/>
                  <a:gd name="T94" fmla="*/ 2 w 48"/>
                  <a:gd name="T95" fmla="*/ 14 h 43"/>
                  <a:gd name="T96" fmla="*/ 2 w 48"/>
                  <a:gd name="T97" fmla="*/ 15 h 43"/>
                  <a:gd name="T98" fmla="*/ 4 w 48"/>
                  <a:gd name="T99" fmla="*/ 17 h 43"/>
                  <a:gd name="T100" fmla="*/ 3 w 48"/>
                  <a:gd name="T101" fmla="*/ 18 h 43"/>
                  <a:gd name="T102" fmla="*/ 3 w 48"/>
                  <a:gd name="T103" fmla="*/ 20 h 43"/>
                  <a:gd name="T104" fmla="*/ 6 w 48"/>
                  <a:gd name="T105" fmla="*/ 22 h 43"/>
                  <a:gd name="T106" fmla="*/ 13 w 48"/>
                  <a:gd name="T107" fmla="*/ 22 h 43"/>
                  <a:gd name="T108" fmla="*/ 14 w 48"/>
                  <a:gd name="T109" fmla="*/ 23 h 43"/>
                  <a:gd name="T110" fmla="*/ 19 w 48"/>
                  <a:gd name="T111" fmla="*/ 27 h 43"/>
                  <a:gd name="T112" fmla="*/ 20 w 48"/>
                  <a:gd name="T113" fmla="*/ 28 h 43"/>
                  <a:gd name="T114" fmla="*/ 24 w 48"/>
                  <a:gd name="T115" fmla="*/ 27 h 43"/>
                  <a:gd name="T116" fmla="*/ 24 w 48"/>
                  <a:gd name="T117" fmla="*/ 2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8" h="43">
                    <a:moveTo>
                      <a:pt x="24" y="27"/>
                    </a:moveTo>
                    <a:cubicBezTo>
                      <a:pt x="25" y="27"/>
                      <a:pt x="27" y="30"/>
                      <a:pt x="28" y="30"/>
                    </a:cubicBezTo>
                    <a:cubicBezTo>
                      <a:pt x="28" y="30"/>
                      <a:pt x="30" y="31"/>
                      <a:pt x="30" y="31"/>
                    </a:cubicBezTo>
                    <a:cubicBezTo>
                      <a:pt x="31" y="31"/>
                      <a:pt x="33" y="30"/>
                      <a:pt x="33" y="30"/>
                    </a:cubicBezTo>
                    <a:cubicBezTo>
                      <a:pt x="33" y="30"/>
                      <a:pt x="33" y="30"/>
                      <a:pt x="33" y="30"/>
                    </a:cubicBezTo>
                    <a:cubicBezTo>
                      <a:pt x="33" y="31"/>
                      <a:pt x="34" y="33"/>
                      <a:pt x="34" y="33"/>
                    </a:cubicBezTo>
                    <a:cubicBezTo>
                      <a:pt x="34" y="33"/>
                      <a:pt x="35" y="34"/>
                      <a:pt x="35" y="34"/>
                    </a:cubicBezTo>
                    <a:cubicBezTo>
                      <a:pt x="36" y="34"/>
                      <a:pt x="37" y="35"/>
                      <a:pt x="37" y="35"/>
                    </a:cubicBezTo>
                    <a:cubicBezTo>
                      <a:pt x="37" y="35"/>
                      <a:pt x="38" y="35"/>
                      <a:pt x="38" y="36"/>
                    </a:cubicBezTo>
                    <a:cubicBezTo>
                      <a:pt x="38" y="37"/>
                      <a:pt x="39" y="40"/>
                      <a:pt x="40" y="43"/>
                    </a:cubicBezTo>
                    <a:cubicBezTo>
                      <a:pt x="40" y="43"/>
                      <a:pt x="41" y="42"/>
                      <a:pt x="41" y="42"/>
                    </a:cubicBezTo>
                    <a:cubicBezTo>
                      <a:pt x="42" y="42"/>
                      <a:pt x="44" y="42"/>
                      <a:pt x="45" y="42"/>
                    </a:cubicBezTo>
                    <a:cubicBezTo>
                      <a:pt x="45" y="42"/>
                      <a:pt x="45" y="42"/>
                      <a:pt x="46" y="42"/>
                    </a:cubicBezTo>
                    <a:cubicBezTo>
                      <a:pt x="46" y="41"/>
                      <a:pt x="45" y="39"/>
                      <a:pt x="45" y="39"/>
                    </a:cubicBezTo>
                    <a:cubicBezTo>
                      <a:pt x="45" y="39"/>
                      <a:pt x="45" y="38"/>
                      <a:pt x="44" y="37"/>
                    </a:cubicBezTo>
                    <a:cubicBezTo>
                      <a:pt x="44" y="36"/>
                      <a:pt x="45" y="36"/>
                      <a:pt x="46" y="36"/>
                    </a:cubicBezTo>
                    <a:cubicBezTo>
                      <a:pt x="48" y="36"/>
                      <a:pt x="45" y="35"/>
                      <a:pt x="44" y="34"/>
                    </a:cubicBezTo>
                    <a:cubicBezTo>
                      <a:pt x="43" y="33"/>
                      <a:pt x="44" y="32"/>
                      <a:pt x="45" y="32"/>
                    </a:cubicBezTo>
                    <a:cubicBezTo>
                      <a:pt x="46" y="32"/>
                      <a:pt x="45" y="31"/>
                      <a:pt x="45" y="31"/>
                    </a:cubicBezTo>
                    <a:cubicBezTo>
                      <a:pt x="45" y="31"/>
                      <a:pt x="38" y="27"/>
                      <a:pt x="38" y="27"/>
                    </a:cubicBezTo>
                    <a:cubicBezTo>
                      <a:pt x="37" y="27"/>
                      <a:pt x="36" y="26"/>
                      <a:pt x="35" y="25"/>
                    </a:cubicBezTo>
                    <a:cubicBezTo>
                      <a:pt x="35" y="25"/>
                      <a:pt x="33" y="24"/>
                      <a:pt x="32" y="23"/>
                    </a:cubicBezTo>
                    <a:cubicBezTo>
                      <a:pt x="31" y="23"/>
                      <a:pt x="32" y="23"/>
                      <a:pt x="32" y="23"/>
                    </a:cubicBezTo>
                    <a:cubicBezTo>
                      <a:pt x="32" y="23"/>
                      <a:pt x="34" y="23"/>
                      <a:pt x="35" y="22"/>
                    </a:cubicBezTo>
                    <a:cubicBezTo>
                      <a:pt x="37" y="22"/>
                      <a:pt x="37" y="18"/>
                      <a:pt x="37" y="18"/>
                    </a:cubicBezTo>
                    <a:cubicBezTo>
                      <a:pt x="37" y="18"/>
                      <a:pt x="36" y="17"/>
                      <a:pt x="35" y="17"/>
                    </a:cubicBezTo>
                    <a:cubicBezTo>
                      <a:pt x="35" y="17"/>
                      <a:pt x="32" y="14"/>
                      <a:pt x="31" y="14"/>
                    </a:cubicBezTo>
                    <a:cubicBezTo>
                      <a:pt x="31" y="13"/>
                      <a:pt x="30" y="12"/>
                      <a:pt x="29" y="12"/>
                    </a:cubicBezTo>
                    <a:cubicBezTo>
                      <a:pt x="29" y="11"/>
                      <a:pt x="29" y="11"/>
                      <a:pt x="29" y="10"/>
                    </a:cubicBezTo>
                    <a:cubicBezTo>
                      <a:pt x="29" y="10"/>
                      <a:pt x="29" y="10"/>
                      <a:pt x="30" y="9"/>
                    </a:cubicBezTo>
                    <a:cubicBezTo>
                      <a:pt x="30" y="9"/>
                      <a:pt x="31" y="9"/>
                      <a:pt x="32" y="9"/>
                    </a:cubicBezTo>
                    <a:cubicBezTo>
                      <a:pt x="32" y="8"/>
                      <a:pt x="31" y="7"/>
                      <a:pt x="30" y="6"/>
                    </a:cubicBezTo>
                    <a:cubicBezTo>
                      <a:pt x="30" y="6"/>
                      <a:pt x="29" y="6"/>
                      <a:pt x="29" y="5"/>
                    </a:cubicBezTo>
                    <a:cubicBezTo>
                      <a:pt x="29" y="4"/>
                      <a:pt x="27" y="4"/>
                      <a:pt x="25" y="4"/>
                    </a:cubicBezTo>
                    <a:cubicBezTo>
                      <a:pt x="24" y="4"/>
                      <a:pt x="25" y="3"/>
                      <a:pt x="26" y="3"/>
                    </a:cubicBezTo>
                    <a:cubicBezTo>
                      <a:pt x="26" y="3"/>
                      <a:pt x="26" y="2"/>
                      <a:pt x="26" y="2"/>
                    </a:cubicBezTo>
                    <a:cubicBezTo>
                      <a:pt x="23" y="0"/>
                      <a:pt x="23" y="0"/>
                      <a:pt x="23" y="0"/>
                    </a:cubicBezTo>
                    <a:cubicBezTo>
                      <a:pt x="23" y="0"/>
                      <a:pt x="22" y="1"/>
                      <a:pt x="22" y="1"/>
                    </a:cubicBezTo>
                    <a:cubicBezTo>
                      <a:pt x="21" y="1"/>
                      <a:pt x="21" y="1"/>
                      <a:pt x="21" y="1"/>
                    </a:cubicBezTo>
                    <a:cubicBezTo>
                      <a:pt x="21" y="1"/>
                      <a:pt x="15" y="1"/>
                      <a:pt x="15" y="1"/>
                    </a:cubicBezTo>
                    <a:cubicBezTo>
                      <a:pt x="14" y="1"/>
                      <a:pt x="11" y="1"/>
                      <a:pt x="11" y="2"/>
                    </a:cubicBezTo>
                    <a:cubicBezTo>
                      <a:pt x="10" y="2"/>
                      <a:pt x="8" y="2"/>
                      <a:pt x="8" y="2"/>
                    </a:cubicBezTo>
                    <a:cubicBezTo>
                      <a:pt x="0" y="3"/>
                      <a:pt x="0" y="3"/>
                      <a:pt x="0" y="3"/>
                    </a:cubicBezTo>
                    <a:cubicBezTo>
                      <a:pt x="0" y="3"/>
                      <a:pt x="1" y="4"/>
                      <a:pt x="1" y="4"/>
                    </a:cubicBezTo>
                    <a:cubicBezTo>
                      <a:pt x="2" y="4"/>
                      <a:pt x="3" y="6"/>
                      <a:pt x="3" y="6"/>
                    </a:cubicBezTo>
                    <a:cubicBezTo>
                      <a:pt x="3" y="7"/>
                      <a:pt x="3" y="12"/>
                      <a:pt x="3" y="12"/>
                    </a:cubicBezTo>
                    <a:cubicBezTo>
                      <a:pt x="3" y="12"/>
                      <a:pt x="3" y="12"/>
                      <a:pt x="3" y="12"/>
                    </a:cubicBezTo>
                    <a:cubicBezTo>
                      <a:pt x="3" y="13"/>
                      <a:pt x="2" y="14"/>
                      <a:pt x="2" y="14"/>
                    </a:cubicBezTo>
                    <a:cubicBezTo>
                      <a:pt x="2" y="14"/>
                      <a:pt x="2" y="14"/>
                      <a:pt x="2" y="15"/>
                    </a:cubicBezTo>
                    <a:cubicBezTo>
                      <a:pt x="3" y="16"/>
                      <a:pt x="4" y="17"/>
                      <a:pt x="4" y="17"/>
                    </a:cubicBezTo>
                    <a:cubicBezTo>
                      <a:pt x="4" y="17"/>
                      <a:pt x="4" y="18"/>
                      <a:pt x="3" y="18"/>
                    </a:cubicBezTo>
                    <a:cubicBezTo>
                      <a:pt x="3" y="19"/>
                      <a:pt x="3" y="20"/>
                      <a:pt x="3" y="20"/>
                    </a:cubicBezTo>
                    <a:cubicBezTo>
                      <a:pt x="4" y="21"/>
                      <a:pt x="5" y="22"/>
                      <a:pt x="6" y="22"/>
                    </a:cubicBezTo>
                    <a:cubicBezTo>
                      <a:pt x="7" y="22"/>
                      <a:pt x="13" y="22"/>
                      <a:pt x="13" y="22"/>
                    </a:cubicBezTo>
                    <a:cubicBezTo>
                      <a:pt x="13" y="22"/>
                      <a:pt x="14" y="23"/>
                      <a:pt x="14" y="23"/>
                    </a:cubicBezTo>
                    <a:cubicBezTo>
                      <a:pt x="14" y="23"/>
                      <a:pt x="19" y="27"/>
                      <a:pt x="19" y="27"/>
                    </a:cubicBezTo>
                    <a:cubicBezTo>
                      <a:pt x="19" y="27"/>
                      <a:pt x="19" y="27"/>
                      <a:pt x="20" y="28"/>
                    </a:cubicBezTo>
                    <a:cubicBezTo>
                      <a:pt x="24" y="27"/>
                      <a:pt x="24" y="27"/>
                      <a:pt x="24" y="27"/>
                    </a:cubicBezTo>
                    <a:cubicBezTo>
                      <a:pt x="24" y="27"/>
                      <a:pt x="24" y="27"/>
                      <a:pt x="24" y="2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76" name="Freeform 586">
                <a:extLst>
                  <a:ext uri="{FF2B5EF4-FFF2-40B4-BE49-F238E27FC236}">
                    <a16:creationId xmlns:a16="http://schemas.microsoft.com/office/drawing/2014/main" id="{57B45E2C-A76F-41D1-B356-9AD0ED468ED1}"/>
                  </a:ext>
                </a:extLst>
              </p:cNvPr>
              <p:cNvSpPr>
                <a:spLocks/>
              </p:cNvSpPr>
              <p:nvPr/>
            </p:nvSpPr>
            <p:spPr bwMode="auto">
              <a:xfrm>
                <a:off x="4325" y="1734"/>
                <a:ext cx="136" cy="60"/>
              </a:xfrm>
              <a:custGeom>
                <a:avLst/>
                <a:gdLst>
                  <a:gd name="T0" fmla="*/ 78 w 98"/>
                  <a:gd name="T1" fmla="*/ 38 h 44"/>
                  <a:gd name="T2" fmla="*/ 82 w 98"/>
                  <a:gd name="T3" fmla="*/ 39 h 44"/>
                  <a:gd name="T4" fmla="*/ 86 w 98"/>
                  <a:gd name="T5" fmla="*/ 42 h 44"/>
                  <a:gd name="T6" fmla="*/ 98 w 98"/>
                  <a:gd name="T7" fmla="*/ 43 h 44"/>
                  <a:gd name="T8" fmla="*/ 98 w 98"/>
                  <a:gd name="T9" fmla="*/ 39 h 44"/>
                  <a:gd name="T10" fmla="*/ 93 w 98"/>
                  <a:gd name="T11" fmla="*/ 35 h 44"/>
                  <a:gd name="T12" fmla="*/ 95 w 98"/>
                  <a:gd name="T13" fmla="*/ 31 h 44"/>
                  <a:gd name="T14" fmla="*/ 93 w 98"/>
                  <a:gd name="T15" fmla="*/ 29 h 44"/>
                  <a:gd name="T16" fmla="*/ 90 w 98"/>
                  <a:gd name="T17" fmla="*/ 28 h 44"/>
                  <a:gd name="T18" fmla="*/ 84 w 98"/>
                  <a:gd name="T19" fmla="*/ 24 h 44"/>
                  <a:gd name="T20" fmla="*/ 85 w 98"/>
                  <a:gd name="T21" fmla="*/ 20 h 44"/>
                  <a:gd name="T22" fmla="*/ 75 w 98"/>
                  <a:gd name="T23" fmla="*/ 16 h 44"/>
                  <a:gd name="T24" fmla="*/ 71 w 98"/>
                  <a:gd name="T25" fmla="*/ 16 h 44"/>
                  <a:gd name="T26" fmla="*/ 69 w 98"/>
                  <a:gd name="T27" fmla="*/ 16 h 44"/>
                  <a:gd name="T28" fmla="*/ 64 w 98"/>
                  <a:gd name="T29" fmla="*/ 15 h 44"/>
                  <a:gd name="T30" fmla="*/ 60 w 98"/>
                  <a:gd name="T31" fmla="*/ 18 h 44"/>
                  <a:gd name="T32" fmla="*/ 56 w 98"/>
                  <a:gd name="T33" fmla="*/ 17 h 44"/>
                  <a:gd name="T34" fmla="*/ 56 w 98"/>
                  <a:gd name="T35" fmla="*/ 15 h 44"/>
                  <a:gd name="T36" fmla="*/ 51 w 98"/>
                  <a:gd name="T37" fmla="*/ 12 h 44"/>
                  <a:gd name="T38" fmla="*/ 46 w 98"/>
                  <a:gd name="T39" fmla="*/ 11 h 44"/>
                  <a:gd name="T40" fmla="*/ 41 w 98"/>
                  <a:gd name="T41" fmla="*/ 7 h 44"/>
                  <a:gd name="T42" fmla="*/ 32 w 98"/>
                  <a:gd name="T43" fmla="*/ 6 h 44"/>
                  <a:gd name="T44" fmla="*/ 22 w 98"/>
                  <a:gd name="T45" fmla="*/ 5 h 44"/>
                  <a:gd name="T46" fmla="*/ 10 w 98"/>
                  <a:gd name="T47" fmla="*/ 1 h 44"/>
                  <a:gd name="T48" fmla="*/ 3 w 98"/>
                  <a:gd name="T49" fmla="*/ 0 h 44"/>
                  <a:gd name="T50" fmla="*/ 0 w 98"/>
                  <a:gd name="T51" fmla="*/ 3 h 44"/>
                  <a:gd name="T52" fmla="*/ 16 w 98"/>
                  <a:gd name="T53" fmla="*/ 12 h 44"/>
                  <a:gd name="T54" fmla="*/ 23 w 98"/>
                  <a:gd name="T55" fmla="*/ 21 h 44"/>
                  <a:gd name="T56" fmla="*/ 26 w 98"/>
                  <a:gd name="T57" fmla="*/ 26 h 44"/>
                  <a:gd name="T58" fmla="*/ 23 w 98"/>
                  <a:gd name="T59" fmla="*/ 37 h 44"/>
                  <a:gd name="T60" fmla="*/ 24 w 98"/>
                  <a:gd name="T61" fmla="*/ 37 h 44"/>
                  <a:gd name="T62" fmla="*/ 30 w 98"/>
                  <a:gd name="T63" fmla="*/ 37 h 44"/>
                  <a:gd name="T64" fmla="*/ 32 w 98"/>
                  <a:gd name="T65" fmla="*/ 37 h 44"/>
                  <a:gd name="T66" fmla="*/ 37 w 98"/>
                  <a:gd name="T67" fmla="*/ 38 h 44"/>
                  <a:gd name="T68" fmla="*/ 39 w 98"/>
                  <a:gd name="T69" fmla="*/ 35 h 44"/>
                  <a:gd name="T70" fmla="*/ 44 w 98"/>
                  <a:gd name="T71" fmla="*/ 39 h 44"/>
                  <a:gd name="T72" fmla="*/ 47 w 98"/>
                  <a:gd name="T73" fmla="*/ 41 h 44"/>
                  <a:gd name="T74" fmla="*/ 51 w 98"/>
                  <a:gd name="T75" fmla="*/ 43 h 44"/>
                  <a:gd name="T76" fmla="*/ 59 w 98"/>
                  <a:gd name="T77" fmla="*/ 43 h 44"/>
                  <a:gd name="T78" fmla="*/ 66 w 98"/>
                  <a:gd name="T79" fmla="*/ 42 h 44"/>
                  <a:gd name="T80" fmla="*/ 73 w 98"/>
                  <a:gd name="T81" fmla="*/ 4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44">
                    <a:moveTo>
                      <a:pt x="74" y="41"/>
                    </a:moveTo>
                    <a:cubicBezTo>
                      <a:pt x="76" y="40"/>
                      <a:pt x="78" y="38"/>
                      <a:pt x="78" y="38"/>
                    </a:cubicBezTo>
                    <a:cubicBezTo>
                      <a:pt x="78" y="38"/>
                      <a:pt x="79" y="38"/>
                      <a:pt x="79" y="38"/>
                    </a:cubicBezTo>
                    <a:cubicBezTo>
                      <a:pt x="80" y="38"/>
                      <a:pt x="81" y="39"/>
                      <a:pt x="82" y="39"/>
                    </a:cubicBezTo>
                    <a:cubicBezTo>
                      <a:pt x="83" y="40"/>
                      <a:pt x="85" y="41"/>
                      <a:pt x="85" y="41"/>
                    </a:cubicBezTo>
                    <a:cubicBezTo>
                      <a:pt x="85" y="41"/>
                      <a:pt x="86" y="42"/>
                      <a:pt x="86" y="42"/>
                    </a:cubicBezTo>
                    <a:cubicBezTo>
                      <a:pt x="87" y="42"/>
                      <a:pt x="97" y="44"/>
                      <a:pt x="97" y="44"/>
                    </a:cubicBezTo>
                    <a:cubicBezTo>
                      <a:pt x="97" y="44"/>
                      <a:pt x="98" y="44"/>
                      <a:pt x="98" y="43"/>
                    </a:cubicBezTo>
                    <a:cubicBezTo>
                      <a:pt x="98" y="42"/>
                      <a:pt x="98" y="40"/>
                      <a:pt x="98" y="40"/>
                    </a:cubicBezTo>
                    <a:cubicBezTo>
                      <a:pt x="98" y="40"/>
                      <a:pt x="98" y="39"/>
                      <a:pt x="98" y="39"/>
                    </a:cubicBezTo>
                    <a:cubicBezTo>
                      <a:pt x="97" y="39"/>
                      <a:pt x="95" y="38"/>
                      <a:pt x="95" y="37"/>
                    </a:cubicBezTo>
                    <a:cubicBezTo>
                      <a:pt x="94" y="37"/>
                      <a:pt x="93" y="36"/>
                      <a:pt x="93" y="35"/>
                    </a:cubicBezTo>
                    <a:cubicBezTo>
                      <a:pt x="92" y="35"/>
                      <a:pt x="92" y="35"/>
                      <a:pt x="92" y="34"/>
                    </a:cubicBezTo>
                    <a:cubicBezTo>
                      <a:pt x="92" y="34"/>
                      <a:pt x="95" y="31"/>
                      <a:pt x="95" y="31"/>
                    </a:cubicBezTo>
                    <a:cubicBezTo>
                      <a:pt x="95" y="31"/>
                      <a:pt x="95" y="30"/>
                      <a:pt x="96" y="30"/>
                    </a:cubicBezTo>
                    <a:cubicBezTo>
                      <a:pt x="94" y="30"/>
                      <a:pt x="93" y="29"/>
                      <a:pt x="93" y="29"/>
                    </a:cubicBezTo>
                    <a:cubicBezTo>
                      <a:pt x="92" y="28"/>
                      <a:pt x="92" y="28"/>
                      <a:pt x="91" y="28"/>
                    </a:cubicBezTo>
                    <a:cubicBezTo>
                      <a:pt x="91" y="28"/>
                      <a:pt x="90" y="28"/>
                      <a:pt x="90" y="28"/>
                    </a:cubicBezTo>
                    <a:cubicBezTo>
                      <a:pt x="90" y="28"/>
                      <a:pt x="85" y="25"/>
                      <a:pt x="84" y="25"/>
                    </a:cubicBezTo>
                    <a:cubicBezTo>
                      <a:pt x="83" y="24"/>
                      <a:pt x="84" y="24"/>
                      <a:pt x="84" y="24"/>
                    </a:cubicBezTo>
                    <a:cubicBezTo>
                      <a:pt x="84" y="24"/>
                      <a:pt x="85" y="21"/>
                      <a:pt x="85" y="20"/>
                    </a:cubicBezTo>
                    <a:cubicBezTo>
                      <a:pt x="85" y="20"/>
                      <a:pt x="85" y="20"/>
                      <a:pt x="85" y="20"/>
                    </a:cubicBezTo>
                    <a:cubicBezTo>
                      <a:pt x="85" y="20"/>
                      <a:pt x="79" y="18"/>
                      <a:pt x="79" y="18"/>
                    </a:cubicBezTo>
                    <a:cubicBezTo>
                      <a:pt x="78" y="18"/>
                      <a:pt x="76" y="16"/>
                      <a:pt x="75" y="16"/>
                    </a:cubicBezTo>
                    <a:cubicBezTo>
                      <a:pt x="75" y="16"/>
                      <a:pt x="73" y="15"/>
                      <a:pt x="73" y="15"/>
                    </a:cubicBezTo>
                    <a:cubicBezTo>
                      <a:pt x="72" y="15"/>
                      <a:pt x="72" y="15"/>
                      <a:pt x="71" y="16"/>
                    </a:cubicBezTo>
                    <a:cubicBezTo>
                      <a:pt x="71" y="17"/>
                      <a:pt x="71" y="17"/>
                      <a:pt x="71" y="17"/>
                    </a:cubicBezTo>
                    <a:cubicBezTo>
                      <a:pt x="71" y="17"/>
                      <a:pt x="70" y="16"/>
                      <a:pt x="69" y="16"/>
                    </a:cubicBezTo>
                    <a:cubicBezTo>
                      <a:pt x="69" y="15"/>
                      <a:pt x="69" y="15"/>
                      <a:pt x="68" y="15"/>
                    </a:cubicBezTo>
                    <a:cubicBezTo>
                      <a:pt x="67" y="14"/>
                      <a:pt x="65" y="15"/>
                      <a:pt x="64" y="15"/>
                    </a:cubicBezTo>
                    <a:cubicBezTo>
                      <a:pt x="64" y="15"/>
                      <a:pt x="63" y="16"/>
                      <a:pt x="62" y="17"/>
                    </a:cubicBezTo>
                    <a:cubicBezTo>
                      <a:pt x="62" y="17"/>
                      <a:pt x="61" y="17"/>
                      <a:pt x="60" y="18"/>
                    </a:cubicBezTo>
                    <a:cubicBezTo>
                      <a:pt x="59" y="18"/>
                      <a:pt x="58" y="18"/>
                      <a:pt x="58" y="18"/>
                    </a:cubicBezTo>
                    <a:cubicBezTo>
                      <a:pt x="58" y="18"/>
                      <a:pt x="56" y="17"/>
                      <a:pt x="56" y="17"/>
                    </a:cubicBezTo>
                    <a:cubicBezTo>
                      <a:pt x="55" y="17"/>
                      <a:pt x="55" y="16"/>
                      <a:pt x="55" y="16"/>
                    </a:cubicBezTo>
                    <a:cubicBezTo>
                      <a:pt x="55" y="16"/>
                      <a:pt x="55" y="15"/>
                      <a:pt x="56" y="15"/>
                    </a:cubicBezTo>
                    <a:cubicBezTo>
                      <a:pt x="56" y="14"/>
                      <a:pt x="55" y="14"/>
                      <a:pt x="55" y="14"/>
                    </a:cubicBezTo>
                    <a:cubicBezTo>
                      <a:pt x="55" y="14"/>
                      <a:pt x="51" y="12"/>
                      <a:pt x="51" y="12"/>
                    </a:cubicBezTo>
                    <a:cubicBezTo>
                      <a:pt x="51" y="12"/>
                      <a:pt x="48" y="11"/>
                      <a:pt x="48" y="11"/>
                    </a:cubicBezTo>
                    <a:cubicBezTo>
                      <a:pt x="47" y="11"/>
                      <a:pt x="46" y="11"/>
                      <a:pt x="46" y="11"/>
                    </a:cubicBezTo>
                    <a:cubicBezTo>
                      <a:pt x="46" y="11"/>
                      <a:pt x="43" y="8"/>
                      <a:pt x="43" y="8"/>
                    </a:cubicBezTo>
                    <a:cubicBezTo>
                      <a:pt x="42" y="8"/>
                      <a:pt x="41" y="7"/>
                      <a:pt x="41" y="7"/>
                    </a:cubicBezTo>
                    <a:cubicBezTo>
                      <a:pt x="41" y="7"/>
                      <a:pt x="37" y="6"/>
                      <a:pt x="36" y="6"/>
                    </a:cubicBezTo>
                    <a:cubicBezTo>
                      <a:pt x="34" y="6"/>
                      <a:pt x="33" y="6"/>
                      <a:pt x="32" y="6"/>
                    </a:cubicBezTo>
                    <a:cubicBezTo>
                      <a:pt x="31" y="7"/>
                      <a:pt x="30" y="7"/>
                      <a:pt x="30" y="7"/>
                    </a:cubicBezTo>
                    <a:cubicBezTo>
                      <a:pt x="30" y="7"/>
                      <a:pt x="23" y="5"/>
                      <a:pt x="22" y="5"/>
                    </a:cubicBezTo>
                    <a:cubicBezTo>
                      <a:pt x="21" y="5"/>
                      <a:pt x="15" y="3"/>
                      <a:pt x="14" y="2"/>
                    </a:cubicBezTo>
                    <a:cubicBezTo>
                      <a:pt x="14" y="2"/>
                      <a:pt x="11" y="1"/>
                      <a:pt x="10" y="1"/>
                    </a:cubicBezTo>
                    <a:cubicBezTo>
                      <a:pt x="10" y="0"/>
                      <a:pt x="8" y="1"/>
                      <a:pt x="7" y="1"/>
                    </a:cubicBezTo>
                    <a:cubicBezTo>
                      <a:pt x="7" y="1"/>
                      <a:pt x="4" y="0"/>
                      <a:pt x="3" y="0"/>
                    </a:cubicBezTo>
                    <a:cubicBezTo>
                      <a:pt x="1" y="0"/>
                      <a:pt x="0" y="1"/>
                      <a:pt x="0" y="1"/>
                    </a:cubicBezTo>
                    <a:cubicBezTo>
                      <a:pt x="0" y="3"/>
                      <a:pt x="0" y="3"/>
                      <a:pt x="0" y="3"/>
                    </a:cubicBezTo>
                    <a:cubicBezTo>
                      <a:pt x="3" y="5"/>
                      <a:pt x="6" y="8"/>
                      <a:pt x="8" y="8"/>
                    </a:cubicBezTo>
                    <a:cubicBezTo>
                      <a:pt x="13" y="10"/>
                      <a:pt x="14" y="10"/>
                      <a:pt x="16" y="12"/>
                    </a:cubicBezTo>
                    <a:cubicBezTo>
                      <a:pt x="17" y="14"/>
                      <a:pt x="17" y="15"/>
                      <a:pt x="20" y="16"/>
                    </a:cubicBezTo>
                    <a:cubicBezTo>
                      <a:pt x="22" y="16"/>
                      <a:pt x="22" y="19"/>
                      <a:pt x="23" y="21"/>
                    </a:cubicBezTo>
                    <a:cubicBezTo>
                      <a:pt x="24" y="23"/>
                      <a:pt x="24" y="25"/>
                      <a:pt x="25" y="26"/>
                    </a:cubicBezTo>
                    <a:cubicBezTo>
                      <a:pt x="26" y="26"/>
                      <a:pt x="26" y="26"/>
                      <a:pt x="26" y="26"/>
                    </a:cubicBezTo>
                    <a:cubicBezTo>
                      <a:pt x="25" y="27"/>
                      <a:pt x="25" y="29"/>
                      <a:pt x="26" y="29"/>
                    </a:cubicBezTo>
                    <a:cubicBezTo>
                      <a:pt x="26" y="30"/>
                      <a:pt x="25" y="33"/>
                      <a:pt x="23" y="37"/>
                    </a:cubicBezTo>
                    <a:cubicBezTo>
                      <a:pt x="23" y="37"/>
                      <a:pt x="23" y="37"/>
                      <a:pt x="23" y="37"/>
                    </a:cubicBezTo>
                    <a:cubicBezTo>
                      <a:pt x="23" y="37"/>
                      <a:pt x="24" y="37"/>
                      <a:pt x="24" y="37"/>
                    </a:cubicBezTo>
                    <a:cubicBezTo>
                      <a:pt x="25" y="37"/>
                      <a:pt x="28" y="37"/>
                      <a:pt x="29" y="37"/>
                    </a:cubicBezTo>
                    <a:cubicBezTo>
                      <a:pt x="29" y="37"/>
                      <a:pt x="30" y="37"/>
                      <a:pt x="30" y="37"/>
                    </a:cubicBezTo>
                    <a:cubicBezTo>
                      <a:pt x="30" y="37"/>
                      <a:pt x="30" y="37"/>
                      <a:pt x="31" y="37"/>
                    </a:cubicBezTo>
                    <a:cubicBezTo>
                      <a:pt x="31" y="37"/>
                      <a:pt x="31" y="37"/>
                      <a:pt x="32" y="37"/>
                    </a:cubicBezTo>
                    <a:cubicBezTo>
                      <a:pt x="32" y="37"/>
                      <a:pt x="36" y="38"/>
                      <a:pt x="36" y="38"/>
                    </a:cubicBezTo>
                    <a:cubicBezTo>
                      <a:pt x="36" y="38"/>
                      <a:pt x="37" y="38"/>
                      <a:pt x="37" y="38"/>
                    </a:cubicBezTo>
                    <a:cubicBezTo>
                      <a:pt x="37" y="37"/>
                      <a:pt x="38" y="36"/>
                      <a:pt x="38" y="36"/>
                    </a:cubicBezTo>
                    <a:cubicBezTo>
                      <a:pt x="38" y="36"/>
                      <a:pt x="38" y="35"/>
                      <a:pt x="39" y="35"/>
                    </a:cubicBezTo>
                    <a:cubicBezTo>
                      <a:pt x="39" y="35"/>
                      <a:pt x="41" y="35"/>
                      <a:pt x="42" y="36"/>
                    </a:cubicBezTo>
                    <a:cubicBezTo>
                      <a:pt x="42" y="36"/>
                      <a:pt x="44" y="39"/>
                      <a:pt x="44" y="39"/>
                    </a:cubicBezTo>
                    <a:cubicBezTo>
                      <a:pt x="44" y="39"/>
                      <a:pt x="45" y="39"/>
                      <a:pt x="45" y="40"/>
                    </a:cubicBezTo>
                    <a:cubicBezTo>
                      <a:pt x="46" y="40"/>
                      <a:pt x="47" y="41"/>
                      <a:pt x="47" y="41"/>
                    </a:cubicBezTo>
                    <a:cubicBezTo>
                      <a:pt x="48" y="41"/>
                      <a:pt x="49" y="42"/>
                      <a:pt x="50" y="42"/>
                    </a:cubicBezTo>
                    <a:cubicBezTo>
                      <a:pt x="50" y="42"/>
                      <a:pt x="50" y="43"/>
                      <a:pt x="51" y="43"/>
                    </a:cubicBezTo>
                    <a:cubicBezTo>
                      <a:pt x="51" y="43"/>
                      <a:pt x="51" y="44"/>
                      <a:pt x="51" y="44"/>
                    </a:cubicBezTo>
                    <a:cubicBezTo>
                      <a:pt x="59" y="43"/>
                      <a:pt x="59" y="43"/>
                      <a:pt x="59" y="43"/>
                    </a:cubicBezTo>
                    <a:cubicBezTo>
                      <a:pt x="59" y="43"/>
                      <a:pt x="61" y="43"/>
                      <a:pt x="62" y="43"/>
                    </a:cubicBezTo>
                    <a:cubicBezTo>
                      <a:pt x="62" y="42"/>
                      <a:pt x="65" y="42"/>
                      <a:pt x="66" y="42"/>
                    </a:cubicBezTo>
                    <a:cubicBezTo>
                      <a:pt x="66" y="42"/>
                      <a:pt x="72" y="42"/>
                      <a:pt x="72" y="42"/>
                    </a:cubicBezTo>
                    <a:cubicBezTo>
                      <a:pt x="72" y="42"/>
                      <a:pt x="72" y="42"/>
                      <a:pt x="73" y="42"/>
                    </a:cubicBezTo>
                    <a:cubicBezTo>
                      <a:pt x="73" y="42"/>
                      <a:pt x="74" y="41"/>
                      <a:pt x="74" y="4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77" name="Freeform 587">
                <a:extLst>
                  <a:ext uri="{FF2B5EF4-FFF2-40B4-BE49-F238E27FC236}">
                    <a16:creationId xmlns:a16="http://schemas.microsoft.com/office/drawing/2014/main" id="{45FB24C2-D5D0-483C-87D1-21B48A5C59D7}"/>
                  </a:ext>
                </a:extLst>
              </p:cNvPr>
              <p:cNvSpPr>
                <a:spLocks/>
              </p:cNvSpPr>
              <p:nvPr/>
            </p:nvSpPr>
            <p:spPr bwMode="auto">
              <a:xfrm>
                <a:off x="4491" y="2051"/>
                <a:ext cx="6" cy="11"/>
              </a:xfrm>
              <a:custGeom>
                <a:avLst/>
                <a:gdLst>
                  <a:gd name="T0" fmla="*/ 1 w 4"/>
                  <a:gd name="T1" fmla="*/ 2 h 8"/>
                  <a:gd name="T2" fmla="*/ 2 w 4"/>
                  <a:gd name="T3" fmla="*/ 6 h 8"/>
                  <a:gd name="T4" fmla="*/ 3 w 4"/>
                  <a:gd name="T5" fmla="*/ 3 h 8"/>
                  <a:gd name="T6" fmla="*/ 1 w 4"/>
                  <a:gd name="T7" fmla="*/ 2 h 8"/>
                </a:gdLst>
                <a:ahLst/>
                <a:cxnLst>
                  <a:cxn ang="0">
                    <a:pos x="T0" y="T1"/>
                  </a:cxn>
                  <a:cxn ang="0">
                    <a:pos x="T2" y="T3"/>
                  </a:cxn>
                  <a:cxn ang="0">
                    <a:pos x="T4" y="T5"/>
                  </a:cxn>
                  <a:cxn ang="0">
                    <a:pos x="T6" y="T7"/>
                  </a:cxn>
                </a:cxnLst>
                <a:rect l="0" t="0" r="r" b="b"/>
                <a:pathLst>
                  <a:path w="4" h="8">
                    <a:moveTo>
                      <a:pt x="1" y="2"/>
                    </a:moveTo>
                    <a:cubicBezTo>
                      <a:pt x="0" y="4"/>
                      <a:pt x="1" y="8"/>
                      <a:pt x="2" y="6"/>
                    </a:cubicBezTo>
                    <a:cubicBezTo>
                      <a:pt x="4" y="5"/>
                      <a:pt x="4" y="5"/>
                      <a:pt x="3" y="3"/>
                    </a:cubicBezTo>
                    <a:cubicBezTo>
                      <a:pt x="3" y="3"/>
                      <a:pt x="1"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78" name="Freeform 588">
                <a:extLst>
                  <a:ext uri="{FF2B5EF4-FFF2-40B4-BE49-F238E27FC236}">
                    <a16:creationId xmlns:a16="http://schemas.microsoft.com/office/drawing/2014/main" id="{BEC4273D-45BB-4D9A-8355-8239DD8F4FCF}"/>
                  </a:ext>
                </a:extLst>
              </p:cNvPr>
              <p:cNvSpPr>
                <a:spLocks/>
              </p:cNvSpPr>
              <p:nvPr/>
            </p:nvSpPr>
            <p:spPr bwMode="auto">
              <a:xfrm>
                <a:off x="4459" y="2049"/>
                <a:ext cx="39" cy="36"/>
              </a:xfrm>
              <a:custGeom>
                <a:avLst/>
                <a:gdLst>
                  <a:gd name="T0" fmla="*/ 0 w 28"/>
                  <a:gd name="T1" fmla="*/ 16 h 26"/>
                  <a:gd name="T2" fmla="*/ 1 w 28"/>
                  <a:gd name="T3" fmla="*/ 17 h 26"/>
                  <a:gd name="T4" fmla="*/ 14 w 28"/>
                  <a:gd name="T5" fmla="*/ 20 h 26"/>
                  <a:gd name="T6" fmla="*/ 14 w 28"/>
                  <a:gd name="T7" fmla="*/ 21 h 26"/>
                  <a:gd name="T8" fmla="*/ 19 w 28"/>
                  <a:gd name="T9" fmla="*/ 26 h 26"/>
                  <a:gd name="T10" fmla="*/ 28 w 28"/>
                  <a:gd name="T11" fmla="*/ 26 h 26"/>
                  <a:gd name="T12" fmla="*/ 23 w 28"/>
                  <a:gd name="T13" fmla="*/ 14 h 26"/>
                  <a:gd name="T14" fmla="*/ 20 w 28"/>
                  <a:gd name="T15" fmla="*/ 12 h 26"/>
                  <a:gd name="T16" fmla="*/ 19 w 28"/>
                  <a:gd name="T17" fmla="*/ 11 h 26"/>
                  <a:gd name="T18" fmla="*/ 22 w 28"/>
                  <a:gd name="T19" fmla="*/ 8 h 26"/>
                  <a:gd name="T20" fmla="*/ 23 w 28"/>
                  <a:gd name="T21" fmla="*/ 7 h 26"/>
                  <a:gd name="T22" fmla="*/ 21 w 28"/>
                  <a:gd name="T23" fmla="*/ 2 h 26"/>
                  <a:gd name="T24" fmla="*/ 14 w 28"/>
                  <a:gd name="T25" fmla="*/ 0 h 26"/>
                  <a:gd name="T26" fmla="*/ 8 w 28"/>
                  <a:gd name="T27" fmla="*/ 3 h 26"/>
                  <a:gd name="T28" fmla="*/ 5 w 28"/>
                  <a:gd name="T29" fmla="*/ 8 h 26"/>
                  <a:gd name="T30" fmla="*/ 0 w 28"/>
                  <a:gd name="T31" fmla="*/ 16 h 26"/>
                  <a:gd name="T32" fmla="*/ 0 w 28"/>
                  <a:gd name="T33" fmla="*/ 1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6">
                    <a:moveTo>
                      <a:pt x="0" y="16"/>
                    </a:moveTo>
                    <a:cubicBezTo>
                      <a:pt x="0" y="17"/>
                      <a:pt x="0" y="17"/>
                      <a:pt x="1" y="17"/>
                    </a:cubicBezTo>
                    <a:cubicBezTo>
                      <a:pt x="2" y="17"/>
                      <a:pt x="14" y="20"/>
                      <a:pt x="14" y="20"/>
                    </a:cubicBezTo>
                    <a:cubicBezTo>
                      <a:pt x="14" y="20"/>
                      <a:pt x="14" y="20"/>
                      <a:pt x="14" y="21"/>
                    </a:cubicBezTo>
                    <a:cubicBezTo>
                      <a:pt x="15" y="21"/>
                      <a:pt x="15" y="25"/>
                      <a:pt x="19" y="26"/>
                    </a:cubicBezTo>
                    <a:cubicBezTo>
                      <a:pt x="22" y="26"/>
                      <a:pt x="26" y="26"/>
                      <a:pt x="28" y="26"/>
                    </a:cubicBezTo>
                    <a:cubicBezTo>
                      <a:pt x="26" y="20"/>
                      <a:pt x="23" y="15"/>
                      <a:pt x="23" y="14"/>
                    </a:cubicBezTo>
                    <a:cubicBezTo>
                      <a:pt x="21" y="12"/>
                      <a:pt x="21" y="12"/>
                      <a:pt x="20" y="12"/>
                    </a:cubicBezTo>
                    <a:cubicBezTo>
                      <a:pt x="19" y="12"/>
                      <a:pt x="18" y="11"/>
                      <a:pt x="19" y="11"/>
                    </a:cubicBezTo>
                    <a:cubicBezTo>
                      <a:pt x="19" y="10"/>
                      <a:pt x="20" y="8"/>
                      <a:pt x="22" y="8"/>
                    </a:cubicBezTo>
                    <a:cubicBezTo>
                      <a:pt x="24" y="9"/>
                      <a:pt x="24" y="8"/>
                      <a:pt x="23" y="7"/>
                    </a:cubicBezTo>
                    <a:cubicBezTo>
                      <a:pt x="22" y="6"/>
                      <a:pt x="21" y="3"/>
                      <a:pt x="21" y="2"/>
                    </a:cubicBezTo>
                    <a:cubicBezTo>
                      <a:pt x="19" y="1"/>
                      <a:pt x="16" y="0"/>
                      <a:pt x="14" y="0"/>
                    </a:cubicBezTo>
                    <a:cubicBezTo>
                      <a:pt x="12" y="0"/>
                      <a:pt x="9" y="1"/>
                      <a:pt x="8" y="3"/>
                    </a:cubicBezTo>
                    <a:cubicBezTo>
                      <a:pt x="7" y="5"/>
                      <a:pt x="6" y="7"/>
                      <a:pt x="5" y="8"/>
                    </a:cubicBezTo>
                    <a:cubicBezTo>
                      <a:pt x="5" y="8"/>
                      <a:pt x="0" y="16"/>
                      <a:pt x="0" y="16"/>
                    </a:cubicBezTo>
                    <a:cubicBezTo>
                      <a:pt x="0" y="16"/>
                      <a:pt x="0" y="16"/>
                      <a:pt x="0" y="1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79" name="Freeform 589">
                <a:extLst>
                  <a:ext uri="{FF2B5EF4-FFF2-40B4-BE49-F238E27FC236}">
                    <a16:creationId xmlns:a16="http://schemas.microsoft.com/office/drawing/2014/main" id="{84A359E1-FF29-424A-B2C3-D9F806B3AA0F}"/>
                  </a:ext>
                </a:extLst>
              </p:cNvPr>
              <p:cNvSpPr>
                <a:spLocks/>
              </p:cNvSpPr>
              <p:nvPr/>
            </p:nvSpPr>
            <p:spPr bwMode="auto">
              <a:xfrm>
                <a:off x="4300" y="1883"/>
                <a:ext cx="199" cy="190"/>
              </a:xfrm>
              <a:custGeom>
                <a:avLst/>
                <a:gdLst>
                  <a:gd name="T0" fmla="*/ 138 w 144"/>
                  <a:gd name="T1" fmla="*/ 116 h 138"/>
                  <a:gd name="T2" fmla="*/ 137 w 144"/>
                  <a:gd name="T3" fmla="*/ 108 h 138"/>
                  <a:gd name="T4" fmla="*/ 136 w 144"/>
                  <a:gd name="T5" fmla="*/ 107 h 138"/>
                  <a:gd name="T6" fmla="*/ 132 w 144"/>
                  <a:gd name="T7" fmla="*/ 106 h 138"/>
                  <a:gd name="T8" fmla="*/ 133 w 144"/>
                  <a:gd name="T9" fmla="*/ 98 h 138"/>
                  <a:gd name="T10" fmla="*/ 134 w 144"/>
                  <a:gd name="T11" fmla="*/ 93 h 138"/>
                  <a:gd name="T12" fmla="*/ 124 w 144"/>
                  <a:gd name="T13" fmla="*/ 83 h 138"/>
                  <a:gd name="T14" fmla="*/ 115 w 144"/>
                  <a:gd name="T15" fmla="*/ 76 h 138"/>
                  <a:gd name="T16" fmla="*/ 110 w 144"/>
                  <a:gd name="T17" fmla="*/ 74 h 138"/>
                  <a:gd name="T18" fmla="*/ 106 w 144"/>
                  <a:gd name="T19" fmla="*/ 65 h 138"/>
                  <a:gd name="T20" fmla="*/ 103 w 144"/>
                  <a:gd name="T21" fmla="*/ 63 h 138"/>
                  <a:gd name="T22" fmla="*/ 98 w 144"/>
                  <a:gd name="T23" fmla="*/ 57 h 138"/>
                  <a:gd name="T24" fmla="*/ 98 w 144"/>
                  <a:gd name="T25" fmla="*/ 49 h 138"/>
                  <a:gd name="T26" fmla="*/ 102 w 144"/>
                  <a:gd name="T27" fmla="*/ 48 h 138"/>
                  <a:gd name="T28" fmla="*/ 104 w 144"/>
                  <a:gd name="T29" fmla="*/ 41 h 138"/>
                  <a:gd name="T30" fmla="*/ 106 w 144"/>
                  <a:gd name="T31" fmla="*/ 39 h 138"/>
                  <a:gd name="T32" fmla="*/ 109 w 144"/>
                  <a:gd name="T33" fmla="*/ 38 h 138"/>
                  <a:gd name="T34" fmla="*/ 107 w 144"/>
                  <a:gd name="T35" fmla="*/ 32 h 138"/>
                  <a:gd name="T36" fmla="*/ 111 w 144"/>
                  <a:gd name="T37" fmla="*/ 27 h 138"/>
                  <a:gd name="T38" fmla="*/ 108 w 144"/>
                  <a:gd name="T39" fmla="*/ 26 h 138"/>
                  <a:gd name="T40" fmla="*/ 103 w 144"/>
                  <a:gd name="T41" fmla="*/ 26 h 138"/>
                  <a:gd name="T42" fmla="*/ 99 w 144"/>
                  <a:gd name="T43" fmla="*/ 23 h 138"/>
                  <a:gd name="T44" fmla="*/ 97 w 144"/>
                  <a:gd name="T45" fmla="*/ 23 h 138"/>
                  <a:gd name="T46" fmla="*/ 95 w 144"/>
                  <a:gd name="T47" fmla="*/ 16 h 138"/>
                  <a:gd name="T48" fmla="*/ 92 w 144"/>
                  <a:gd name="T49" fmla="*/ 14 h 138"/>
                  <a:gd name="T50" fmla="*/ 90 w 144"/>
                  <a:gd name="T51" fmla="*/ 10 h 138"/>
                  <a:gd name="T52" fmla="*/ 89 w 144"/>
                  <a:gd name="T53" fmla="*/ 4 h 138"/>
                  <a:gd name="T54" fmla="*/ 82 w 144"/>
                  <a:gd name="T55" fmla="*/ 6 h 138"/>
                  <a:gd name="T56" fmla="*/ 78 w 144"/>
                  <a:gd name="T57" fmla="*/ 1 h 138"/>
                  <a:gd name="T58" fmla="*/ 76 w 144"/>
                  <a:gd name="T59" fmla="*/ 1 h 138"/>
                  <a:gd name="T60" fmla="*/ 65 w 144"/>
                  <a:gd name="T61" fmla="*/ 0 h 138"/>
                  <a:gd name="T62" fmla="*/ 59 w 144"/>
                  <a:gd name="T63" fmla="*/ 0 h 138"/>
                  <a:gd name="T64" fmla="*/ 53 w 144"/>
                  <a:gd name="T65" fmla="*/ 5 h 138"/>
                  <a:gd name="T66" fmla="*/ 52 w 144"/>
                  <a:gd name="T67" fmla="*/ 6 h 138"/>
                  <a:gd name="T68" fmla="*/ 44 w 144"/>
                  <a:gd name="T69" fmla="*/ 13 h 138"/>
                  <a:gd name="T70" fmla="*/ 38 w 144"/>
                  <a:gd name="T71" fmla="*/ 15 h 138"/>
                  <a:gd name="T72" fmla="*/ 37 w 144"/>
                  <a:gd name="T73" fmla="*/ 20 h 138"/>
                  <a:gd name="T74" fmla="*/ 36 w 144"/>
                  <a:gd name="T75" fmla="*/ 35 h 138"/>
                  <a:gd name="T76" fmla="*/ 34 w 144"/>
                  <a:gd name="T77" fmla="*/ 46 h 138"/>
                  <a:gd name="T78" fmla="*/ 29 w 144"/>
                  <a:gd name="T79" fmla="*/ 51 h 138"/>
                  <a:gd name="T80" fmla="*/ 0 w 144"/>
                  <a:gd name="T81" fmla="*/ 68 h 138"/>
                  <a:gd name="T82" fmla="*/ 4 w 144"/>
                  <a:gd name="T83" fmla="*/ 85 h 138"/>
                  <a:gd name="T84" fmla="*/ 7 w 144"/>
                  <a:gd name="T85" fmla="*/ 87 h 138"/>
                  <a:gd name="T86" fmla="*/ 23 w 144"/>
                  <a:gd name="T87" fmla="*/ 91 h 138"/>
                  <a:gd name="T88" fmla="*/ 37 w 144"/>
                  <a:gd name="T89" fmla="*/ 99 h 138"/>
                  <a:gd name="T90" fmla="*/ 55 w 144"/>
                  <a:gd name="T91" fmla="*/ 110 h 138"/>
                  <a:gd name="T92" fmla="*/ 84 w 144"/>
                  <a:gd name="T93" fmla="*/ 133 h 138"/>
                  <a:gd name="T94" fmla="*/ 111 w 144"/>
                  <a:gd name="T95" fmla="*/ 138 h 138"/>
                  <a:gd name="T96" fmla="*/ 115 w 144"/>
                  <a:gd name="T97" fmla="*/ 137 h 138"/>
                  <a:gd name="T98" fmla="*/ 120 w 144"/>
                  <a:gd name="T99" fmla="*/ 129 h 138"/>
                  <a:gd name="T100" fmla="*/ 129 w 144"/>
                  <a:gd name="T101" fmla="*/ 121 h 138"/>
                  <a:gd name="T102" fmla="*/ 136 w 144"/>
                  <a:gd name="T103" fmla="*/ 122 h 138"/>
                  <a:gd name="T104" fmla="*/ 144 w 144"/>
                  <a:gd name="T105" fmla="*/ 123 h 138"/>
                  <a:gd name="T106" fmla="*/ 141 w 144"/>
                  <a:gd name="T107" fmla="*/ 11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4" h="138">
                    <a:moveTo>
                      <a:pt x="141" y="118"/>
                    </a:moveTo>
                    <a:cubicBezTo>
                      <a:pt x="140" y="118"/>
                      <a:pt x="139" y="116"/>
                      <a:pt x="138" y="116"/>
                    </a:cubicBezTo>
                    <a:cubicBezTo>
                      <a:pt x="137" y="115"/>
                      <a:pt x="137" y="115"/>
                      <a:pt x="137" y="115"/>
                    </a:cubicBezTo>
                    <a:cubicBezTo>
                      <a:pt x="137" y="114"/>
                      <a:pt x="137" y="108"/>
                      <a:pt x="137" y="108"/>
                    </a:cubicBezTo>
                    <a:cubicBezTo>
                      <a:pt x="137" y="108"/>
                      <a:pt x="137" y="107"/>
                      <a:pt x="137" y="107"/>
                    </a:cubicBezTo>
                    <a:cubicBezTo>
                      <a:pt x="136" y="107"/>
                      <a:pt x="136" y="107"/>
                      <a:pt x="136" y="107"/>
                    </a:cubicBezTo>
                    <a:cubicBezTo>
                      <a:pt x="135" y="107"/>
                      <a:pt x="132" y="107"/>
                      <a:pt x="132" y="107"/>
                    </a:cubicBezTo>
                    <a:cubicBezTo>
                      <a:pt x="132" y="107"/>
                      <a:pt x="132" y="106"/>
                      <a:pt x="132" y="106"/>
                    </a:cubicBezTo>
                    <a:cubicBezTo>
                      <a:pt x="132" y="105"/>
                      <a:pt x="132" y="102"/>
                      <a:pt x="132" y="101"/>
                    </a:cubicBezTo>
                    <a:cubicBezTo>
                      <a:pt x="132" y="100"/>
                      <a:pt x="132" y="99"/>
                      <a:pt x="133" y="98"/>
                    </a:cubicBezTo>
                    <a:cubicBezTo>
                      <a:pt x="133" y="97"/>
                      <a:pt x="134" y="94"/>
                      <a:pt x="134" y="94"/>
                    </a:cubicBezTo>
                    <a:cubicBezTo>
                      <a:pt x="134" y="94"/>
                      <a:pt x="134" y="94"/>
                      <a:pt x="134" y="93"/>
                    </a:cubicBezTo>
                    <a:cubicBezTo>
                      <a:pt x="133" y="92"/>
                      <a:pt x="131" y="89"/>
                      <a:pt x="130" y="86"/>
                    </a:cubicBezTo>
                    <a:cubicBezTo>
                      <a:pt x="128" y="84"/>
                      <a:pt x="126" y="82"/>
                      <a:pt x="124" y="83"/>
                    </a:cubicBezTo>
                    <a:cubicBezTo>
                      <a:pt x="124" y="83"/>
                      <a:pt x="124" y="83"/>
                      <a:pt x="123" y="82"/>
                    </a:cubicBezTo>
                    <a:cubicBezTo>
                      <a:pt x="123" y="82"/>
                      <a:pt x="116" y="77"/>
                      <a:pt x="115" y="76"/>
                    </a:cubicBezTo>
                    <a:cubicBezTo>
                      <a:pt x="114" y="75"/>
                      <a:pt x="113" y="75"/>
                      <a:pt x="112" y="75"/>
                    </a:cubicBezTo>
                    <a:cubicBezTo>
                      <a:pt x="111" y="74"/>
                      <a:pt x="110" y="74"/>
                      <a:pt x="110" y="74"/>
                    </a:cubicBezTo>
                    <a:cubicBezTo>
                      <a:pt x="109" y="74"/>
                      <a:pt x="108" y="74"/>
                      <a:pt x="107" y="71"/>
                    </a:cubicBezTo>
                    <a:cubicBezTo>
                      <a:pt x="106" y="68"/>
                      <a:pt x="106" y="66"/>
                      <a:pt x="106" y="65"/>
                    </a:cubicBezTo>
                    <a:cubicBezTo>
                      <a:pt x="106" y="64"/>
                      <a:pt x="106" y="64"/>
                      <a:pt x="105" y="64"/>
                    </a:cubicBezTo>
                    <a:cubicBezTo>
                      <a:pt x="105" y="64"/>
                      <a:pt x="103" y="63"/>
                      <a:pt x="103" y="63"/>
                    </a:cubicBezTo>
                    <a:cubicBezTo>
                      <a:pt x="102" y="62"/>
                      <a:pt x="98" y="58"/>
                      <a:pt x="98" y="58"/>
                    </a:cubicBezTo>
                    <a:cubicBezTo>
                      <a:pt x="98" y="58"/>
                      <a:pt x="98" y="57"/>
                      <a:pt x="98" y="57"/>
                    </a:cubicBezTo>
                    <a:cubicBezTo>
                      <a:pt x="98" y="56"/>
                      <a:pt x="101" y="53"/>
                      <a:pt x="100" y="52"/>
                    </a:cubicBezTo>
                    <a:cubicBezTo>
                      <a:pt x="100" y="51"/>
                      <a:pt x="98" y="50"/>
                      <a:pt x="98" y="49"/>
                    </a:cubicBezTo>
                    <a:cubicBezTo>
                      <a:pt x="99" y="47"/>
                      <a:pt x="99" y="47"/>
                      <a:pt x="100" y="47"/>
                    </a:cubicBezTo>
                    <a:cubicBezTo>
                      <a:pt x="101" y="47"/>
                      <a:pt x="102" y="48"/>
                      <a:pt x="102" y="48"/>
                    </a:cubicBezTo>
                    <a:cubicBezTo>
                      <a:pt x="102" y="48"/>
                      <a:pt x="103" y="48"/>
                      <a:pt x="103" y="47"/>
                    </a:cubicBezTo>
                    <a:cubicBezTo>
                      <a:pt x="103" y="46"/>
                      <a:pt x="103" y="42"/>
                      <a:pt x="104" y="41"/>
                    </a:cubicBezTo>
                    <a:cubicBezTo>
                      <a:pt x="104" y="41"/>
                      <a:pt x="105" y="40"/>
                      <a:pt x="105" y="40"/>
                    </a:cubicBezTo>
                    <a:cubicBezTo>
                      <a:pt x="105" y="39"/>
                      <a:pt x="106" y="39"/>
                      <a:pt x="106" y="39"/>
                    </a:cubicBezTo>
                    <a:cubicBezTo>
                      <a:pt x="106" y="39"/>
                      <a:pt x="108" y="39"/>
                      <a:pt x="108" y="39"/>
                    </a:cubicBezTo>
                    <a:cubicBezTo>
                      <a:pt x="109" y="39"/>
                      <a:pt x="109" y="38"/>
                      <a:pt x="109" y="38"/>
                    </a:cubicBezTo>
                    <a:cubicBezTo>
                      <a:pt x="109" y="37"/>
                      <a:pt x="109" y="36"/>
                      <a:pt x="109" y="35"/>
                    </a:cubicBezTo>
                    <a:cubicBezTo>
                      <a:pt x="108" y="34"/>
                      <a:pt x="107" y="33"/>
                      <a:pt x="107" y="32"/>
                    </a:cubicBezTo>
                    <a:cubicBezTo>
                      <a:pt x="107" y="31"/>
                      <a:pt x="107" y="29"/>
                      <a:pt x="108" y="28"/>
                    </a:cubicBezTo>
                    <a:cubicBezTo>
                      <a:pt x="109" y="28"/>
                      <a:pt x="111" y="27"/>
                      <a:pt x="111" y="27"/>
                    </a:cubicBezTo>
                    <a:cubicBezTo>
                      <a:pt x="111" y="27"/>
                      <a:pt x="112" y="27"/>
                      <a:pt x="111" y="26"/>
                    </a:cubicBezTo>
                    <a:cubicBezTo>
                      <a:pt x="109" y="26"/>
                      <a:pt x="109" y="26"/>
                      <a:pt x="108" y="26"/>
                    </a:cubicBezTo>
                    <a:cubicBezTo>
                      <a:pt x="107" y="26"/>
                      <a:pt x="104" y="27"/>
                      <a:pt x="104" y="27"/>
                    </a:cubicBezTo>
                    <a:cubicBezTo>
                      <a:pt x="104" y="27"/>
                      <a:pt x="103" y="27"/>
                      <a:pt x="103" y="26"/>
                    </a:cubicBezTo>
                    <a:cubicBezTo>
                      <a:pt x="102" y="26"/>
                      <a:pt x="100" y="23"/>
                      <a:pt x="100" y="23"/>
                    </a:cubicBezTo>
                    <a:cubicBezTo>
                      <a:pt x="100" y="23"/>
                      <a:pt x="100" y="23"/>
                      <a:pt x="99" y="23"/>
                    </a:cubicBezTo>
                    <a:cubicBezTo>
                      <a:pt x="98" y="24"/>
                      <a:pt x="98" y="24"/>
                      <a:pt x="98" y="24"/>
                    </a:cubicBezTo>
                    <a:cubicBezTo>
                      <a:pt x="98" y="24"/>
                      <a:pt x="97" y="24"/>
                      <a:pt x="97" y="23"/>
                    </a:cubicBezTo>
                    <a:cubicBezTo>
                      <a:pt x="97" y="23"/>
                      <a:pt x="95" y="17"/>
                      <a:pt x="95" y="17"/>
                    </a:cubicBezTo>
                    <a:cubicBezTo>
                      <a:pt x="95" y="17"/>
                      <a:pt x="95" y="16"/>
                      <a:pt x="95" y="16"/>
                    </a:cubicBezTo>
                    <a:cubicBezTo>
                      <a:pt x="94" y="16"/>
                      <a:pt x="92" y="15"/>
                      <a:pt x="92" y="15"/>
                    </a:cubicBezTo>
                    <a:cubicBezTo>
                      <a:pt x="92" y="15"/>
                      <a:pt x="92" y="14"/>
                      <a:pt x="92" y="14"/>
                    </a:cubicBezTo>
                    <a:cubicBezTo>
                      <a:pt x="93" y="13"/>
                      <a:pt x="93" y="11"/>
                      <a:pt x="90" y="10"/>
                    </a:cubicBezTo>
                    <a:cubicBezTo>
                      <a:pt x="90" y="10"/>
                      <a:pt x="90" y="10"/>
                      <a:pt x="90" y="10"/>
                    </a:cubicBezTo>
                    <a:cubicBezTo>
                      <a:pt x="90" y="9"/>
                      <a:pt x="90" y="7"/>
                      <a:pt x="90" y="7"/>
                    </a:cubicBezTo>
                    <a:cubicBezTo>
                      <a:pt x="90" y="6"/>
                      <a:pt x="89" y="5"/>
                      <a:pt x="89" y="4"/>
                    </a:cubicBezTo>
                    <a:cubicBezTo>
                      <a:pt x="87" y="5"/>
                      <a:pt x="83" y="6"/>
                      <a:pt x="83" y="6"/>
                    </a:cubicBezTo>
                    <a:cubicBezTo>
                      <a:pt x="82" y="7"/>
                      <a:pt x="82" y="6"/>
                      <a:pt x="82" y="6"/>
                    </a:cubicBezTo>
                    <a:cubicBezTo>
                      <a:pt x="82" y="6"/>
                      <a:pt x="80" y="2"/>
                      <a:pt x="80" y="2"/>
                    </a:cubicBezTo>
                    <a:cubicBezTo>
                      <a:pt x="80" y="1"/>
                      <a:pt x="79" y="1"/>
                      <a:pt x="78" y="1"/>
                    </a:cubicBezTo>
                    <a:cubicBezTo>
                      <a:pt x="78" y="1"/>
                      <a:pt x="77" y="1"/>
                      <a:pt x="77" y="1"/>
                    </a:cubicBezTo>
                    <a:cubicBezTo>
                      <a:pt x="77" y="2"/>
                      <a:pt x="76" y="1"/>
                      <a:pt x="76" y="1"/>
                    </a:cubicBezTo>
                    <a:cubicBezTo>
                      <a:pt x="76" y="1"/>
                      <a:pt x="69" y="1"/>
                      <a:pt x="68" y="1"/>
                    </a:cubicBezTo>
                    <a:cubicBezTo>
                      <a:pt x="67" y="1"/>
                      <a:pt x="65" y="0"/>
                      <a:pt x="65" y="0"/>
                    </a:cubicBezTo>
                    <a:cubicBezTo>
                      <a:pt x="64" y="0"/>
                      <a:pt x="64" y="0"/>
                      <a:pt x="64" y="0"/>
                    </a:cubicBezTo>
                    <a:cubicBezTo>
                      <a:pt x="64" y="0"/>
                      <a:pt x="59" y="0"/>
                      <a:pt x="59" y="0"/>
                    </a:cubicBezTo>
                    <a:cubicBezTo>
                      <a:pt x="58" y="0"/>
                      <a:pt x="58" y="1"/>
                      <a:pt x="58" y="1"/>
                    </a:cubicBezTo>
                    <a:cubicBezTo>
                      <a:pt x="53" y="5"/>
                      <a:pt x="53" y="5"/>
                      <a:pt x="53" y="5"/>
                    </a:cubicBezTo>
                    <a:cubicBezTo>
                      <a:pt x="53" y="5"/>
                      <a:pt x="53" y="5"/>
                      <a:pt x="53" y="5"/>
                    </a:cubicBezTo>
                    <a:cubicBezTo>
                      <a:pt x="53" y="6"/>
                      <a:pt x="52" y="6"/>
                      <a:pt x="52" y="6"/>
                    </a:cubicBezTo>
                    <a:cubicBezTo>
                      <a:pt x="52" y="6"/>
                      <a:pt x="45" y="13"/>
                      <a:pt x="45" y="13"/>
                    </a:cubicBezTo>
                    <a:cubicBezTo>
                      <a:pt x="44" y="13"/>
                      <a:pt x="44" y="13"/>
                      <a:pt x="44" y="13"/>
                    </a:cubicBezTo>
                    <a:cubicBezTo>
                      <a:pt x="44" y="13"/>
                      <a:pt x="39" y="14"/>
                      <a:pt x="39" y="14"/>
                    </a:cubicBezTo>
                    <a:cubicBezTo>
                      <a:pt x="39" y="15"/>
                      <a:pt x="38" y="15"/>
                      <a:pt x="38" y="15"/>
                    </a:cubicBezTo>
                    <a:cubicBezTo>
                      <a:pt x="38" y="15"/>
                      <a:pt x="37" y="18"/>
                      <a:pt x="37" y="18"/>
                    </a:cubicBezTo>
                    <a:cubicBezTo>
                      <a:pt x="37" y="19"/>
                      <a:pt x="37" y="20"/>
                      <a:pt x="37" y="20"/>
                    </a:cubicBezTo>
                    <a:cubicBezTo>
                      <a:pt x="37" y="20"/>
                      <a:pt x="37" y="29"/>
                      <a:pt x="37" y="31"/>
                    </a:cubicBezTo>
                    <a:cubicBezTo>
                      <a:pt x="37" y="32"/>
                      <a:pt x="37" y="33"/>
                      <a:pt x="36" y="35"/>
                    </a:cubicBezTo>
                    <a:cubicBezTo>
                      <a:pt x="36" y="36"/>
                      <a:pt x="36" y="40"/>
                      <a:pt x="36" y="41"/>
                    </a:cubicBezTo>
                    <a:cubicBezTo>
                      <a:pt x="36" y="43"/>
                      <a:pt x="35" y="46"/>
                      <a:pt x="34" y="46"/>
                    </a:cubicBezTo>
                    <a:cubicBezTo>
                      <a:pt x="34" y="47"/>
                      <a:pt x="33" y="48"/>
                      <a:pt x="33" y="49"/>
                    </a:cubicBezTo>
                    <a:cubicBezTo>
                      <a:pt x="33" y="50"/>
                      <a:pt x="30" y="51"/>
                      <a:pt x="29" y="51"/>
                    </a:cubicBezTo>
                    <a:cubicBezTo>
                      <a:pt x="28" y="52"/>
                      <a:pt x="26" y="52"/>
                      <a:pt x="26" y="52"/>
                    </a:cubicBezTo>
                    <a:cubicBezTo>
                      <a:pt x="26" y="52"/>
                      <a:pt x="13" y="60"/>
                      <a:pt x="0" y="68"/>
                    </a:cubicBezTo>
                    <a:cubicBezTo>
                      <a:pt x="1" y="73"/>
                      <a:pt x="3" y="84"/>
                      <a:pt x="3" y="84"/>
                    </a:cubicBezTo>
                    <a:cubicBezTo>
                      <a:pt x="4" y="85"/>
                      <a:pt x="4" y="85"/>
                      <a:pt x="4" y="85"/>
                    </a:cubicBezTo>
                    <a:cubicBezTo>
                      <a:pt x="4" y="85"/>
                      <a:pt x="6" y="85"/>
                      <a:pt x="7" y="86"/>
                    </a:cubicBezTo>
                    <a:cubicBezTo>
                      <a:pt x="7" y="86"/>
                      <a:pt x="7" y="86"/>
                      <a:pt x="7" y="87"/>
                    </a:cubicBezTo>
                    <a:cubicBezTo>
                      <a:pt x="6" y="87"/>
                      <a:pt x="5" y="88"/>
                      <a:pt x="5" y="88"/>
                    </a:cubicBezTo>
                    <a:cubicBezTo>
                      <a:pt x="23" y="91"/>
                      <a:pt x="23" y="91"/>
                      <a:pt x="23" y="91"/>
                    </a:cubicBezTo>
                    <a:cubicBezTo>
                      <a:pt x="23" y="91"/>
                      <a:pt x="25" y="91"/>
                      <a:pt x="26" y="92"/>
                    </a:cubicBezTo>
                    <a:cubicBezTo>
                      <a:pt x="27" y="93"/>
                      <a:pt x="36" y="99"/>
                      <a:pt x="37" y="99"/>
                    </a:cubicBezTo>
                    <a:cubicBezTo>
                      <a:pt x="38" y="100"/>
                      <a:pt x="44" y="103"/>
                      <a:pt x="45" y="103"/>
                    </a:cubicBezTo>
                    <a:cubicBezTo>
                      <a:pt x="46" y="104"/>
                      <a:pt x="54" y="109"/>
                      <a:pt x="55" y="110"/>
                    </a:cubicBezTo>
                    <a:cubicBezTo>
                      <a:pt x="57" y="111"/>
                      <a:pt x="69" y="122"/>
                      <a:pt x="70" y="122"/>
                    </a:cubicBezTo>
                    <a:cubicBezTo>
                      <a:pt x="71" y="123"/>
                      <a:pt x="82" y="132"/>
                      <a:pt x="84" y="133"/>
                    </a:cubicBezTo>
                    <a:cubicBezTo>
                      <a:pt x="85" y="133"/>
                      <a:pt x="89" y="136"/>
                      <a:pt x="92" y="136"/>
                    </a:cubicBezTo>
                    <a:cubicBezTo>
                      <a:pt x="95" y="136"/>
                      <a:pt x="111" y="138"/>
                      <a:pt x="111" y="138"/>
                    </a:cubicBezTo>
                    <a:cubicBezTo>
                      <a:pt x="111" y="138"/>
                      <a:pt x="113" y="138"/>
                      <a:pt x="113" y="138"/>
                    </a:cubicBezTo>
                    <a:cubicBezTo>
                      <a:pt x="113" y="138"/>
                      <a:pt x="114" y="138"/>
                      <a:pt x="115" y="137"/>
                    </a:cubicBezTo>
                    <a:cubicBezTo>
                      <a:pt x="115" y="137"/>
                      <a:pt x="115" y="137"/>
                      <a:pt x="115" y="137"/>
                    </a:cubicBezTo>
                    <a:cubicBezTo>
                      <a:pt x="115" y="137"/>
                      <a:pt x="120" y="129"/>
                      <a:pt x="120" y="129"/>
                    </a:cubicBezTo>
                    <a:cubicBezTo>
                      <a:pt x="121" y="128"/>
                      <a:pt x="122" y="126"/>
                      <a:pt x="123" y="124"/>
                    </a:cubicBezTo>
                    <a:cubicBezTo>
                      <a:pt x="124" y="122"/>
                      <a:pt x="127" y="121"/>
                      <a:pt x="129" y="121"/>
                    </a:cubicBezTo>
                    <a:cubicBezTo>
                      <a:pt x="131" y="121"/>
                      <a:pt x="134" y="122"/>
                      <a:pt x="136" y="123"/>
                    </a:cubicBezTo>
                    <a:cubicBezTo>
                      <a:pt x="136" y="123"/>
                      <a:pt x="136" y="122"/>
                      <a:pt x="136" y="122"/>
                    </a:cubicBezTo>
                    <a:cubicBezTo>
                      <a:pt x="137" y="121"/>
                      <a:pt x="137" y="122"/>
                      <a:pt x="138" y="122"/>
                    </a:cubicBezTo>
                    <a:cubicBezTo>
                      <a:pt x="138" y="122"/>
                      <a:pt x="141" y="123"/>
                      <a:pt x="144" y="123"/>
                    </a:cubicBezTo>
                    <a:cubicBezTo>
                      <a:pt x="142" y="120"/>
                      <a:pt x="142" y="120"/>
                      <a:pt x="142" y="120"/>
                    </a:cubicBezTo>
                    <a:cubicBezTo>
                      <a:pt x="142" y="120"/>
                      <a:pt x="142" y="119"/>
                      <a:pt x="141" y="11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80" name="Freeform 590">
                <a:extLst>
                  <a:ext uri="{FF2B5EF4-FFF2-40B4-BE49-F238E27FC236}">
                    <a16:creationId xmlns:a16="http://schemas.microsoft.com/office/drawing/2014/main" id="{CCFC5911-5E2F-4369-B9BA-00AD16070961}"/>
                  </a:ext>
                </a:extLst>
              </p:cNvPr>
              <p:cNvSpPr>
                <a:spLocks/>
              </p:cNvSpPr>
              <p:nvPr/>
            </p:nvSpPr>
            <p:spPr bwMode="auto">
              <a:xfrm>
                <a:off x="4234" y="1886"/>
                <a:ext cx="139" cy="114"/>
              </a:xfrm>
              <a:custGeom>
                <a:avLst/>
                <a:gdLst>
                  <a:gd name="T0" fmla="*/ 100 w 101"/>
                  <a:gd name="T1" fmla="*/ 0 h 83"/>
                  <a:gd name="T2" fmla="*/ 95 w 101"/>
                  <a:gd name="T3" fmla="*/ 2 h 83"/>
                  <a:gd name="T4" fmla="*/ 77 w 101"/>
                  <a:gd name="T5" fmla="*/ 3 h 83"/>
                  <a:gd name="T6" fmla="*/ 66 w 101"/>
                  <a:gd name="T7" fmla="*/ 7 h 83"/>
                  <a:gd name="T8" fmla="*/ 52 w 101"/>
                  <a:gd name="T9" fmla="*/ 10 h 83"/>
                  <a:gd name="T10" fmla="*/ 45 w 101"/>
                  <a:gd name="T11" fmla="*/ 8 h 83"/>
                  <a:gd name="T12" fmla="*/ 39 w 101"/>
                  <a:gd name="T13" fmla="*/ 6 h 83"/>
                  <a:gd name="T14" fmla="*/ 35 w 101"/>
                  <a:gd name="T15" fmla="*/ 8 h 83"/>
                  <a:gd name="T16" fmla="*/ 30 w 101"/>
                  <a:gd name="T17" fmla="*/ 9 h 83"/>
                  <a:gd name="T18" fmla="*/ 27 w 101"/>
                  <a:gd name="T19" fmla="*/ 11 h 83"/>
                  <a:gd name="T20" fmla="*/ 22 w 101"/>
                  <a:gd name="T21" fmla="*/ 11 h 83"/>
                  <a:gd name="T22" fmla="*/ 16 w 101"/>
                  <a:gd name="T23" fmla="*/ 8 h 83"/>
                  <a:gd name="T24" fmla="*/ 15 w 101"/>
                  <a:gd name="T25" fmla="*/ 13 h 83"/>
                  <a:gd name="T26" fmla="*/ 15 w 101"/>
                  <a:gd name="T27" fmla="*/ 15 h 83"/>
                  <a:gd name="T28" fmla="*/ 16 w 101"/>
                  <a:gd name="T29" fmla="*/ 16 h 83"/>
                  <a:gd name="T30" fmla="*/ 12 w 101"/>
                  <a:gd name="T31" fmla="*/ 19 h 83"/>
                  <a:gd name="T32" fmla="*/ 11 w 101"/>
                  <a:gd name="T33" fmla="*/ 21 h 83"/>
                  <a:gd name="T34" fmla="*/ 9 w 101"/>
                  <a:gd name="T35" fmla="*/ 23 h 83"/>
                  <a:gd name="T36" fmla="*/ 8 w 101"/>
                  <a:gd name="T37" fmla="*/ 24 h 83"/>
                  <a:gd name="T38" fmla="*/ 5 w 101"/>
                  <a:gd name="T39" fmla="*/ 23 h 83"/>
                  <a:gd name="T40" fmla="*/ 3 w 101"/>
                  <a:gd name="T41" fmla="*/ 29 h 83"/>
                  <a:gd name="T42" fmla="*/ 6 w 101"/>
                  <a:gd name="T43" fmla="*/ 43 h 83"/>
                  <a:gd name="T44" fmla="*/ 12 w 101"/>
                  <a:gd name="T45" fmla="*/ 44 h 83"/>
                  <a:gd name="T46" fmla="*/ 12 w 101"/>
                  <a:gd name="T47" fmla="*/ 46 h 83"/>
                  <a:gd name="T48" fmla="*/ 13 w 101"/>
                  <a:gd name="T49" fmla="*/ 47 h 83"/>
                  <a:gd name="T50" fmla="*/ 15 w 101"/>
                  <a:gd name="T51" fmla="*/ 51 h 83"/>
                  <a:gd name="T52" fmla="*/ 11 w 101"/>
                  <a:gd name="T53" fmla="*/ 56 h 83"/>
                  <a:gd name="T54" fmla="*/ 10 w 101"/>
                  <a:gd name="T55" fmla="*/ 57 h 83"/>
                  <a:gd name="T56" fmla="*/ 7 w 101"/>
                  <a:gd name="T57" fmla="*/ 58 h 83"/>
                  <a:gd name="T58" fmla="*/ 6 w 101"/>
                  <a:gd name="T59" fmla="*/ 61 h 83"/>
                  <a:gd name="T60" fmla="*/ 5 w 101"/>
                  <a:gd name="T61" fmla="*/ 64 h 83"/>
                  <a:gd name="T62" fmla="*/ 1 w 101"/>
                  <a:gd name="T63" fmla="*/ 67 h 83"/>
                  <a:gd name="T64" fmla="*/ 1 w 101"/>
                  <a:gd name="T65" fmla="*/ 68 h 83"/>
                  <a:gd name="T66" fmla="*/ 1 w 101"/>
                  <a:gd name="T67" fmla="*/ 68 h 83"/>
                  <a:gd name="T68" fmla="*/ 1 w 101"/>
                  <a:gd name="T69" fmla="*/ 75 h 83"/>
                  <a:gd name="T70" fmla="*/ 2 w 101"/>
                  <a:gd name="T71" fmla="*/ 77 h 83"/>
                  <a:gd name="T72" fmla="*/ 7 w 101"/>
                  <a:gd name="T73" fmla="*/ 79 h 83"/>
                  <a:gd name="T74" fmla="*/ 15 w 101"/>
                  <a:gd name="T75" fmla="*/ 82 h 83"/>
                  <a:gd name="T76" fmla="*/ 48 w 101"/>
                  <a:gd name="T77" fmla="*/ 66 h 83"/>
                  <a:gd name="T78" fmla="*/ 77 w 101"/>
                  <a:gd name="T79" fmla="*/ 49 h 83"/>
                  <a:gd name="T80" fmla="*/ 82 w 101"/>
                  <a:gd name="T81" fmla="*/ 44 h 83"/>
                  <a:gd name="T82" fmla="*/ 84 w 101"/>
                  <a:gd name="T83" fmla="*/ 33 h 83"/>
                  <a:gd name="T84" fmla="*/ 85 w 101"/>
                  <a:gd name="T85" fmla="*/ 18 h 83"/>
                  <a:gd name="T86" fmla="*/ 86 w 101"/>
                  <a:gd name="T87" fmla="*/ 13 h 83"/>
                  <a:gd name="T88" fmla="*/ 92 w 101"/>
                  <a:gd name="T89" fmla="*/ 11 h 83"/>
                  <a:gd name="T90" fmla="*/ 100 w 101"/>
                  <a:gd name="T91" fmla="*/ 4 h 83"/>
                  <a:gd name="T92" fmla="*/ 101 w 101"/>
                  <a:gd name="T93" fmla="*/ 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1" h="83">
                    <a:moveTo>
                      <a:pt x="101" y="3"/>
                    </a:moveTo>
                    <a:cubicBezTo>
                      <a:pt x="100" y="2"/>
                      <a:pt x="100" y="0"/>
                      <a:pt x="100" y="0"/>
                    </a:cubicBezTo>
                    <a:cubicBezTo>
                      <a:pt x="100" y="0"/>
                      <a:pt x="100" y="0"/>
                      <a:pt x="99" y="0"/>
                    </a:cubicBezTo>
                    <a:cubicBezTo>
                      <a:pt x="99" y="0"/>
                      <a:pt x="96" y="1"/>
                      <a:pt x="95" y="2"/>
                    </a:cubicBezTo>
                    <a:cubicBezTo>
                      <a:pt x="95" y="2"/>
                      <a:pt x="90" y="3"/>
                      <a:pt x="89" y="3"/>
                    </a:cubicBezTo>
                    <a:cubicBezTo>
                      <a:pt x="89" y="3"/>
                      <a:pt x="77" y="3"/>
                      <a:pt x="77" y="3"/>
                    </a:cubicBezTo>
                    <a:cubicBezTo>
                      <a:pt x="77" y="3"/>
                      <a:pt x="77" y="2"/>
                      <a:pt x="76" y="3"/>
                    </a:cubicBezTo>
                    <a:cubicBezTo>
                      <a:pt x="76" y="3"/>
                      <a:pt x="68" y="6"/>
                      <a:pt x="66" y="7"/>
                    </a:cubicBezTo>
                    <a:cubicBezTo>
                      <a:pt x="64" y="8"/>
                      <a:pt x="58" y="10"/>
                      <a:pt x="57" y="10"/>
                    </a:cubicBezTo>
                    <a:cubicBezTo>
                      <a:pt x="56" y="10"/>
                      <a:pt x="53" y="10"/>
                      <a:pt x="52" y="10"/>
                    </a:cubicBezTo>
                    <a:cubicBezTo>
                      <a:pt x="52" y="10"/>
                      <a:pt x="46" y="9"/>
                      <a:pt x="46" y="9"/>
                    </a:cubicBezTo>
                    <a:cubicBezTo>
                      <a:pt x="45" y="8"/>
                      <a:pt x="45" y="8"/>
                      <a:pt x="45" y="8"/>
                    </a:cubicBezTo>
                    <a:cubicBezTo>
                      <a:pt x="44" y="7"/>
                      <a:pt x="44" y="7"/>
                      <a:pt x="43" y="7"/>
                    </a:cubicBezTo>
                    <a:cubicBezTo>
                      <a:pt x="42" y="7"/>
                      <a:pt x="39" y="6"/>
                      <a:pt x="39" y="6"/>
                    </a:cubicBezTo>
                    <a:cubicBezTo>
                      <a:pt x="39" y="6"/>
                      <a:pt x="38" y="6"/>
                      <a:pt x="38" y="6"/>
                    </a:cubicBezTo>
                    <a:cubicBezTo>
                      <a:pt x="38" y="6"/>
                      <a:pt x="36" y="8"/>
                      <a:pt x="35" y="8"/>
                    </a:cubicBezTo>
                    <a:cubicBezTo>
                      <a:pt x="34" y="8"/>
                      <a:pt x="32" y="9"/>
                      <a:pt x="31" y="9"/>
                    </a:cubicBezTo>
                    <a:cubicBezTo>
                      <a:pt x="30" y="9"/>
                      <a:pt x="30" y="9"/>
                      <a:pt x="30" y="9"/>
                    </a:cubicBezTo>
                    <a:cubicBezTo>
                      <a:pt x="29" y="10"/>
                      <a:pt x="29" y="10"/>
                      <a:pt x="28" y="10"/>
                    </a:cubicBezTo>
                    <a:cubicBezTo>
                      <a:pt x="28" y="10"/>
                      <a:pt x="27" y="11"/>
                      <a:pt x="27" y="11"/>
                    </a:cubicBezTo>
                    <a:cubicBezTo>
                      <a:pt x="27" y="10"/>
                      <a:pt x="26" y="10"/>
                      <a:pt x="26" y="10"/>
                    </a:cubicBezTo>
                    <a:cubicBezTo>
                      <a:pt x="25" y="10"/>
                      <a:pt x="22" y="11"/>
                      <a:pt x="22" y="11"/>
                    </a:cubicBezTo>
                    <a:cubicBezTo>
                      <a:pt x="22" y="11"/>
                      <a:pt x="22" y="11"/>
                      <a:pt x="21" y="11"/>
                    </a:cubicBezTo>
                    <a:cubicBezTo>
                      <a:pt x="21" y="10"/>
                      <a:pt x="16" y="8"/>
                      <a:pt x="16" y="8"/>
                    </a:cubicBezTo>
                    <a:cubicBezTo>
                      <a:pt x="16" y="8"/>
                      <a:pt x="16" y="7"/>
                      <a:pt x="16" y="8"/>
                    </a:cubicBezTo>
                    <a:cubicBezTo>
                      <a:pt x="16" y="9"/>
                      <a:pt x="15" y="12"/>
                      <a:pt x="15" y="13"/>
                    </a:cubicBezTo>
                    <a:cubicBezTo>
                      <a:pt x="15" y="13"/>
                      <a:pt x="14" y="14"/>
                      <a:pt x="15" y="14"/>
                    </a:cubicBezTo>
                    <a:cubicBezTo>
                      <a:pt x="15" y="14"/>
                      <a:pt x="15" y="15"/>
                      <a:pt x="15" y="15"/>
                    </a:cubicBezTo>
                    <a:cubicBezTo>
                      <a:pt x="15" y="15"/>
                      <a:pt x="15" y="16"/>
                      <a:pt x="16" y="16"/>
                    </a:cubicBezTo>
                    <a:cubicBezTo>
                      <a:pt x="16" y="16"/>
                      <a:pt x="16" y="16"/>
                      <a:pt x="16" y="16"/>
                    </a:cubicBezTo>
                    <a:cubicBezTo>
                      <a:pt x="15" y="17"/>
                      <a:pt x="12" y="18"/>
                      <a:pt x="12" y="18"/>
                    </a:cubicBezTo>
                    <a:cubicBezTo>
                      <a:pt x="12" y="18"/>
                      <a:pt x="12" y="18"/>
                      <a:pt x="12" y="19"/>
                    </a:cubicBezTo>
                    <a:cubicBezTo>
                      <a:pt x="12" y="19"/>
                      <a:pt x="12" y="21"/>
                      <a:pt x="12" y="21"/>
                    </a:cubicBezTo>
                    <a:cubicBezTo>
                      <a:pt x="11" y="21"/>
                      <a:pt x="11" y="21"/>
                      <a:pt x="11" y="21"/>
                    </a:cubicBezTo>
                    <a:cubicBezTo>
                      <a:pt x="10" y="22"/>
                      <a:pt x="10" y="22"/>
                      <a:pt x="10" y="22"/>
                    </a:cubicBezTo>
                    <a:cubicBezTo>
                      <a:pt x="10" y="22"/>
                      <a:pt x="9" y="23"/>
                      <a:pt x="9" y="23"/>
                    </a:cubicBezTo>
                    <a:cubicBezTo>
                      <a:pt x="9" y="23"/>
                      <a:pt x="9" y="24"/>
                      <a:pt x="9" y="24"/>
                    </a:cubicBezTo>
                    <a:cubicBezTo>
                      <a:pt x="9" y="24"/>
                      <a:pt x="8" y="25"/>
                      <a:pt x="8" y="24"/>
                    </a:cubicBezTo>
                    <a:cubicBezTo>
                      <a:pt x="8" y="24"/>
                      <a:pt x="6" y="24"/>
                      <a:pt x="5" y="23"/>
                    </a:cubicBezTo>
                    <a:cubicBezTo>
                      <a:pt x="5" y="23"/>
                      <a:pt x="5" y="23"/>
                      <a:pt x="5" y="23"/>
                    </a:cubicBezTo>
                    <a:cubicBezTo>
                      <a:pt x="4" y="23"/>
                      <a:pt x="3" y="23"/>
                      <a:pt x="3" y="25"/>
                    </a:cubicBezTo>
                    <a:cubicBezTo>
                      <a:pt x="3" y="28"/>
                      <a:pt x="2" y="28"/>
                      <a:pt x="3" y="29"/>
                    </a:cubicBezTo>
                    <a:cubicBezTo>
                      <a:pt x="4" y="30"/>
                      <a:pt x="6" y="33"/>
                      <a:pt x="5" y="34"/>
                    </a:cubicBezTo>
                    <a:cubicBezTo>
                      <a:pt x="5" y="36"/>
                      <a:pt x="4" y="41"/>
                      <a:pt x="6" y="43"/>
                    </a:cubicBezTo>
                    <a:cubicBezTo>
                      <a:pt x="6" y="44"/>
                      <a:pt x="6" y="44"/>
                      <a:pt x="7" y="44"/>
                    </a:cubicBezTo>
                    <a:cubicBezTo>
                      <a:pt x="9" y="44"/>
                      <a:pt x="12" y="44"/>
                      <a:pt x="12" y="44"/>
                    </a:cubicBezTo>
                    <a:cubicBezTo>
                      <a:pt x="13" y="44"/>
                      <a:pt x="13" y="45"/>
                      <a:pt x="13" y="45"/>
                    </a:cubicBezTo>
                    <a:cubicBezTo>
                      <a:pt x="13" y="45"/>
                      <a:pt x="12" y="45"/>
                      <a:pt x="12" y="46"/>
                    </a:cubicBezTo>
                    <a:cubicBezTo>
                      <a:pt x="11" y="47"/>
                      <a:pt x="12" y="47"/>
                      <a:pt x="12" y="47"/>
                    </a:cubicBezTo>
                    <a:cubicBezTo>
                      <a:pt x="12" y="47"/>
                      <a:pt x="12" y="47"/>
                      <a:pt x="13" y="47"/>
                    </a:cubicBezTo>
                    <a:cubicBezTo>
                      <a:pt x="13" y="47"/>
                      <a:pt x="14" y="48"/>
                      <a:pt x="14" y="48"/>
                    </a:cubicBezTo>
                    <a:cubicBezTo>
                      <a:pt x="14" y="48"/>
                      <a:pt x="15" y="50"/>
                      <a:pt x="15" y="51"/>
                    </a:cubicBezTo>
                    <a:cubicBezTo>
                      <a:pt x="16" y="51"/>
                      <a:pt x="15" y="52"/>
                      <a:pt x="15" y="52"/>
                    </a:cubicBezTo>
                    <a:cubicBezTo>
                      <a:pt x="15" y="52"/>
                      <a:pt x="12" y="55"/>
                      <a:pt x="11" y="56"/>
                    </a:cubicBezTo>
                    <a:cubicBezTo>
                      <a:pt x="11" y="56"/>
                      <a:pt x="11" y="57"/>
                      <a:pt x="11" y="58"/>
                    </a:cubicBezTo>
                    <a:cubicBezTo>
                      <a:pt x="12" y="58"/>
                      <a:pt x="10" y="57"/>
                      <a:pt x="10" y="57"/>
                    </a:cubicBezTo>
                    <a:cubicBezTo>
                      <a:pt x="10" y="57"/>
                      <a:pt x="9" y="58"/>
                      <a:pt x="8" y="58"/>
                    </a:cubicBezTo>
                    <a:cubicBezTo>
                      <a:pt x="8" y="58"/>
                      <a:pt x="7" y="58"/>
                      <a:pt x="7" y="58"/>
                    </a:cubicBezTo>
                    <a:cubicBezTo>
                      <a:pt x="7" y="58"/>
                      <a:pt x="6" y="59"/>
                      <a:pt x="6" y="60"/>
                    </a:cubicBezTo>
                    <a:cubicBezTo>
                      <a:pt x="6" y="60"/>
                      <a:pt x="6" y="60"/>
                      <a:pt x="6" y="61"/>
                    </a:cubicBezTo>
                    <a:cubicBezTo>
                      <a:pt x="6" y="61"/>
                      <a:pt x="6" y="61"/>
                      <a:pt x="7" y="62"/>
                    </a:cubicBezTo>
                    <a:cubicBezTo>
                      <a:pt x="7" y="63"/>
                      <a:pt x="6" y="64"/>
                      <a:pt x="5" y="64"/>
                    </a:cubicBezTo>
                    <a:cubicBezTo>
                      <a:pt x="4" y="65"/>
                      <a:pt x="4" y="65"/>
                      <a:pt x="3" y="66"/>
                    </a:cubicBezTo>
                    <a:cubicBezTo>
                      <a:pt x="3" y="66"/>
                      <a:pt x="2" y="67"/>
                      <a:pt x="1" y="67"/>
                    </a:cubicBezTo>
                    <a:cubicBezTo>
                      <a:pt x="1" y="67"/>
                      <a:pt x="1" y="67"/>
                      <a:pt x="1" y="67"/>
                    </a:cubicBezTo>
                    <a:cubicBezTo>
                      <a:pt x="1" y="68"/>
                      <a:pt x="1" y="68"/>
                      <a:pt x="1" y="68"/>
                    </a:cubicBezTo>
                    <a:cubicBezTo>
                      <a:pt x="1" y="68"/>
                      <a:pt x="1" y="68"/>
                      <a:pt x="1" y="67"/>
                    </a:cubicBezTo>
                    <a:cubicBezTo>
                      <a:pt x="1" y="67"/>
                      <a:pt x="1" y="68"/>
                      <a:pt x="1" y="68"/>
                    </a:cubicBezTo>
                    <a:cubicBezTo>
                      <a:pt x="1" y="69"/>
                      <a:pt x="1" y="71"/>
                      <a:pt x="1" y="72"/>
                    </a:cubicBezTo>
                    <a:cubicBezTo>
                      <a:pt x="0" y="73"/>
                      <a:pt x="1" y="75"/>
                      <a:pt x="1" y="75"/>
                    </a:cubicBezTo>
                    <a:cubicBezTo>
                      <a:pt x="1" y="76"/>
                      <a:pt x="1" y="76"/>
                      <a:pt x="1" y="77"/>
                    </a:cubicBezTo>
                    <a:cubicBezTo>
                      <a:pt x="1" y="77"/>
                      <a:pt x="2" y="77"/>
                      <a:pt x="2" y="77"/>
                    </a:cubicBezTo>
                    <a:cubicBezTo>
                      <a:pt x="2" y="76"/>
                      <a:pt x="3" y="76"/>
                      <a:pt x="3" y="76"/>
                    </a:cubicBezTo>
                    <a:cubicBezTo>
                      <a:pt x="3" y="76"/>
                      <a:pt x="7" y="79"/>
                      <a:pt x="7" y="79"/>
                    </a:cubicBezTo>
                    <a:cubicBezTo>
                      <a:pt x="7" y="79"/>
                      <a:pt x="8" y="80"/>
                      <a:pt x="8" y="80"/>
                    </a:cubicBezTo>
                    <a:cubicBezTo>
                      <a:pt x="9" y="80"/>
                      <a:pt x="14" y="82"/>
                      <a:pt x="15" y="82"/>
                    </a:cubicBezTo>
                    <a:cubicBezTo>
                      <a:pt x="15" y="82"/>
                      <a:pt x="18" y="83"/>
                      <a:pt x="20" y="82"/>
                    </a:cubicBezTo>
                    <a:cubicBezTo>
                      <a:pt x="21" y="82"/>
                      <a:pt x="34" y="74"/>
                      <a:pt x="48" y="66"/>
                    </a:cubicBezTo>
                    <a:cubicBezTo>
                      <a:pt x="61" y="58"/>
                      <a:pt x="74" y="50"/>
                      <a:pt x="74" y="50"/>
                    </a:cubicBezTo>
                    <a:cubicBezTo>
                      <a:pt x="74" y="50"/>
                      <a:pt x="76" y="50"/>
                      <a:pt x="77" y="49"/>
                    </a:cubicBezTo>
                    <a:cubicBezTo>
                      <a:pt x="78" y="49"/>
                      <a:pt x="81" y="48"/>
                      <a:pt x="81" y="47"/>
                    </a:cubicBezTo>
                    <a:cubicBezTo>
                      <a:pt x="81" y="46"/>
                      <a:pt x="82" y="45"/>
                      <a:pt x="82" y="44"/>
                    </a:cubicBezTo>
                    <a:cubicBezTo>
                      <a:pt x="83" y="44"/>
                      <a:pt x="84" y="41"/>
                      <a:pt x="84" y="39"/>
                    </a:cubicBezTo>
                    <a:cubicBezTo>
                      <a:pt x="84" y="38"/>
                      <a:pt x="84" y="34"/>
                      <a:pt x="84" y="33"/>
                    </a:cubicBezTo>
                    <a:cubicBezTo>
                      <a:pt x="85" y="31"/>
                      <a:pt x="85" y="30"/>
                      <a:pt x="85" y="29"/>
                    </a:cubicBezTo>
                    <a:cubicBezTo>
                      <a:pt x="85" y="27"/>
                      <a:pt x="85" y="18"/>
                      <a:pt x="85" y="18"/>
                    </a:cubicBezTo>
                    <a:cubicBezTo>
                      <a:pt x="85" y="18"/>
                      <a:pt x="85" y="17"/>
                      <a:pt x="85" y="16"/>
                    </a:cubicBezTo>
                    <a:cubicBezTo>
                      <a:pt x="85" y="16"/>
                      <a:pt x="86" y="13"/>
                      <a:pt x="86" y="13"/>
                    </a:cubicBezTo>
                    <a:cubicBezTo>
                      <a:pt x="86" y="13"/>
                      <a:pt x="87" y="13"/>
                      <a:pt x="87" y="12"/>
                    </a:cubicBezTo>
                    <a:cubicBezTo>
                      <a:pt x="87" y="12"/>
                      <a:pt x="92" y="11"/>
                      <a:pt x="92" y="11"/>
                    </a:cubicBezTo>
                    <a:cubicBezTo>
                      <a:pt x="92" y="11"/>
                      <a:pt x="92" y="11"/>
                      <a:pt x="93" y="11"/>
                    </a:cubicBezTo>
                    <a:cubicBezTo>
                      <a:pt x="93" y="11"/>
                      <a:pt x="100" y="4"/>
                      <a:pt x="100" y="4"/>
                    </a:cubicBezTo>
                    <a:cubicBezTo>
                      <a:pt x="100" y="4"/>
                      <a:pt x="101" y="4"/>
                      <a:pt x="101" y="3"/>
                    </a:cubicBezTo>
                    <a:cubicBezTo>
                      <a:pt x="101" y="3"/>
                      <a:pt x="101" y="3"/>
                      <a:pt x="10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81" name="Freeform 591">
                <a:extLst>
                  <a:ext uri="{FF2B5EF4-FFF2-40B4-BE49-F238E27FC236}">
                    <a16:creationId xmlns:a16="http://schemas.microsoft.com/office/drawing/2014/main" id="{19E99318-EC4C-4D21-84CA-9D97B3F6F4D2}"/>
                  </a:ext>
                </a:extLst>
              </p:cNvPr>
              <p:cNvSpPr>
                <a:spLocks/>
              </p:cNvSpPr>
              <p:nvPr/>
            </p:nvSpPr>
            <p:spPr bwMode="auto">
              <a:xfrm>
                <a:off x="4224" y="1946"/>
                <a:ext cx="32" cy="36"/>
              </a:xfrm>
              <a:custGeom>
                <a:avLst/>
                <a:gdLst>
                  <a:gd name="T0" fmla="*/ 8 w 23"/>
                  <a:gd name="T1" fmla="*/ 23 h 26"/>
                  <a:gd name="T2" fmla="*/ 10 w 23"/>
                  <a:gd name="T3" fmla="*/ 22 h 26"/>
                  <a:gd name="T4" fmla="*/ 12 w 23"/>
                  <a:gd name="T5" fmla="*/ 20 h 26"/>
                  <a:gd name="T6" fmla="*/ 14 w 23"/>
                  <a:gd name="T7" fmla="*/ 18 h 26"/>
                  <a:gd name="T8" fmla="*/ 13 w 23"/>
                  <a:gd name="T9" fmla="*/ 17 h 26"/>
                  <a:gd name="T10" fmla="*/ 13 w 23"/>
                  <a:gd name="T11" fmla="*/ 16 h 26"/>
                  <a:gd name="T12" fmla="*/ 14 w 23"/>
                  <a:gd name="T13" fmla="*/ 14 h 26"/>
                  <a:gd name="T14" fmla="*/ 15 w 23"/>
                  <a:gd name="T15" fmla="*/ 14 h 26"/>
                  <a:gd name="T16" fmla="*/ 17 w 23"/>
                  <a:gd name="T17" fmla="*/ 13 h 26"/>
                  <a:gd name="T18" fmla="*/ 18 w 23"/>
                  <a:gd name="T19" fmla="*/ 14 h 26"/>
                  <a:gd name="T20" fmla="*/ 18 w 23"/>
                  <a:gd name="T21" fmla="*/ 12 h 26"/>
                  <a:gd name="T22" fmla="*/ 22 w 23"/>
                  <a:gd name="T23" fmla="*/ 8 h 26"/>
                  <a:gd name="T24" fmla="*/ 22 w 23"/>
                  <a:gd name="T25" fmla="*/ 7 h 26"/>
                  <a:gd name="T26" fmla="*/ 21 w 23"/>
                  <a:gd name="T27" fmla="*/ 4 h 26"/>
                  <a:gd name="T28" fmla="*/ 20 w 23"/>
                  <a:gd name="T29" fmla="*/ 3 h 26"/>
                  <a:gd name="T30" fmla="*/ 19 w 23"/>
                  <a:gd name="T31" fmla="*/ 3 h 26"/>
                  <a:gd name="T32" fmla="*/ 19 w 23"/>
                  <a:gd name="T33" fmla="*/ 2 h 26"/>
                  <a:gd name="T34" fmla="*/ 20 w 23"/>
                  <a:gd name="T35" fmla="*/ 1 h 26"/>
                  <a:gd name="T36" fmla="*/ 19 w 23"/>
                  <a:gd name="T37" fmla="*/ 0 h 26"/>
                  <a:gd name="T38" fmla="*/ 14 w 23"/>
                  <a:gd name="T39" fmla="*/ 0 h 26"/>
                  <a:gd name="T40" fmla="*/ 13 w 23"/>
                  <a:gd name="T41" fmla="*/ 1 h 26"/>
                  <a:gd name="T42" fmla="*/ 13 w 23"/>
                  <a:gd name="T43" fmla="*/ 2 h 26"/>
                  <a:gd name="T44" fmla="*/ 10 w 23"/>
                  <a:gd name="T45" fmla="*/ 4 h 26"/>
                  <a:gd name="T46" fmla="*/ 8 w 23"/>
                  <a:gd name="T47" fmla="*/ 10 h 26"/>
                  <a:gd name="T48" fmla="*/ 6 w 23"/>
                  <a:gd name="T49" fmla="*/ 13 h 26"/>
                  <a:gd name="T50" fmla="*/ 4 w 23"/>
                  <a:gd name="T51" fmla="*/ 17 h 26"/>
                  <a:gd name="T52" fmla="*/ 1 w 23"/>
                  <a:gd name="T53" fmla="*/ 25 h 26"/>
                  <a:gd name="T54" fmla="*/ 0 w 23"/>
                  <a:gd name="T55" fmla="*/ 26 h 26"/>
                  <a:gd name="T56" fmla="*/ 5 w 23"/>
                  <a:gd name="T57" fmla="*/ 26 h 26"/>
                  <a:gd name="T58" fmla="*/ 7 w 23"/>
                  <a:gd name="T59" fmla="*/ 24 h 26"/>
                  <a:gd name="T60" fmla="*/ 8 w 23"/>
                  <a:gd name="T61" fmla="*/ 24 h 26"/>
                  <a:gd name="T62" fmla="*/ 8 w 23"/>
                  <a:gd name="T63" fmla="*/ 23 h 26"/>
                  <a:gd name="T64" fmla="*/ 8 w 23"/>
                  <a:gd name="T65" fmla="*/ 2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 h="26">
                    <a:moveTo>
                      <a:pt x="8" y="23"/>
                    </a:moveTo>
                    <a:cubicBezTo>
                      <a:pt x="9" y="23"/>
                      <a:pt x="10" y="22"/>
                      <a:pt x="10" y="22"/>
                    </a:cubicBezTo>
                    <a:cubicBezTo>
                      <a:pt x="11" y="21"/>
                      <a:pt x="11" y="21"/>
                      <a:pt x="12" y="20"/>
                    </a:cubicBezTo>
                    <a:cubicBezTo>
                      <a:pt x="13" y="20"/>
                      <a:pt x="14" y="19"/>
                      <a:pt x="14" y="18"/>
                    </a:cubicBezTo>
                    <a:cubicBezTo>
                      <a:pt x="13" y="17"/>
                      <a:pt x="13" y="17"/>
                      <a:pt x="13" y="17"/>
                    </a:cubicBezTo>
                    <a:cubicBezTo>
                      <a:pt x="13" y="16"/>
                      <a:pt x="13" y="16"/>
                      <a:pt x="13" y="16"/>
                    </a:cubicBezTo>
                    <a:cubicBezTo>
                      <a:pt x="13" y="15"/>
                      <a:pt x="14" y="14"/>
                      <a:pt x="14" y="14"/>
                    </a:cubicBezTo>
                    <a:cubicBezTo>
                      <a:pt x="14" y="14"/>
                      <a:pt x="15" y="14"/>
                      <a:pt x="15" y="14"/>
                    </a:cubicBezTo>
                    <a:cubicBezTo>
                      <a:pt x="16" y="14"/>
                      <a:pt x="17" y="13"/>
                      <a:pt x="17" y="13"/>
                    </a:cubicBezTo>
                    <a:cubicBezTo>
                      <a:pt x="17" y="13"/>
                      <a:pt x="19" y="14"/>
                      <a:pt x="18" y="14"/>
                    </a:cubicBezTo>
                    <a:cubicBezTo>
                      <a:pt x="18" y="13"/>
                      <a:pt x="18" y="12"/>
                      <a:pt x="18" y="12"/>
                    </a:cubicBezTo>
                    <a:cubicBezTo>
                      <a:pt x="19" y="11"/>
                      <a:pt x="22" y="8"/>
                      <a:pt x="22" y="8"/>
                    </a:cubicBezTo>
                    <a:cubicBezTo>
                      <a:pt x="22" y="8"/>
                      <a:pt x="23" y="7"/>
                      <a:pt x="22" y="7"/>
                    </a:cubicBezTo>
                    <a:cubicBezTo>
                      <a:pt x="22" y="6"/>
                      <a:pt x="21" y="4"/>
                      <a:pt x="21" y="4"/>
                    </a:cubicBezTo>
                    <a:cubicBezTo>
                      <a:pt x="21" y="4"/>
                      <a:pt x="20" y="3"/>
                      <a:pt x="20" y="3"/>
                    </a:cubicBezTo>
                    <a:cubicBezTo>
                      <a:pt x="19" y="3"/>
                      <a:pt x="19" y="3"/>
                      <a:pt x="19" y="3"/>
                    </a:cubicBezTo>
                    <a:cubicBezTo>
                      <a:pt x="19" y="3"/>
                      <a:pt x="18" y="3"/>
                      <a:pt x="19" y="2"/>
                    </a:cubicBezTo>
                    <a:cubicBezTo>
                      <a:pt x="19" y="1"/>
                      <a:pt x="20" y="1"/>
                      <a:pt x="20" y="1"/>
                    </a:cubicBezTo>
                    <a:cubicBezTo>
                      <a:pt x="20" y="1"/>
                      <a:pt x="20" y="0"/>
                      <a:pt x="19" y="0"/>
                    </a:cubicBezTo>
                    <a:cubicBezTo>
                      <a:pt x="19" y="0"/>
                      <a:pt x="16" y="0"/>
                      <a:pt x="14" y="0"/>
                    </a:cubicBezTo>
                    <a:cubicBezTo>
                      <a:pt x="14" y="1"/>
                      <a:pt x="14" y="1"/>
                      <a:pt x="13" y="1"/>
                    </a:cubicBezTo>
                    <a:cubicBezTo>
                      <a:pt x="12" y="1"/>
                      <a:pt x="13" y="2"/>
                      <a:pt x="13" y="2"/>
                    </a:cubicBezTo>
                    <a:cubicBezTo>
                      <a:pt x="13" y="3"/>
                      <a:pt x="11" y="4"/>
                      <a:pt x="10" y="4"/>
                    </a:cubicBezTo>
                    <a:cubicBezTo>
                      <a:pt x="10" y="5"/>
                      <a:pt x="8" y="7"/>
                      <a:pt x="8" y="10"/>
                    </a:cubicBezTo>
                    <a:cubicBezTo>
                      <a:pt x="8" y="10"/>
                      <a:pt x="7" y="12"/>
                      <a:pt x="6" y="13"/>
                    </a:cubicBezTo>
                    <a:cubicBezTo>
                      <a:pt x="6" y="14"/>
                      <a:pt x="5" y="15"/>
                      <a:pt x="4" y="17"/>
                    </a:cubicBezTo>
                    <a:cubicBezTo>
                      <a:pt x="4" y="19"/>
                      <a:pt x="1" y="24"/>
                      <a:pt x="1" y="25"/>
                    </a:cubicBezTo>
                    <a:cubicBezTo>
                      <a:pt x="0" y="26"/>
                      <a:pt x="0" y="26"/>
                      <a:pt x="0" y="26"/>
                    </a:cubicBezTo>
                    <a:cubicBezTo>
                      <a:pt x="2" y="26"/>
                      <a:pt x="5" y="26"/>
                      <a:pt x="5" y="26"/>
                    </a:cubicBezTo>
                    <a:cubicBezTo>
                      <a:pt x="6" y="26"/>
                      <a:pt x="6" y="25"/>
                      <a:pt x="7" y="24"/>
                    </a:cubicBezTo>
                    <a:cubicBezTo>
                      <a:pt x="7" y="24"/>
                      <a:pt x="7" y="24"/>
                      <a:pt x="8" y="24"/>
                    </a:cubicBezTo>
                    <a:cubicBezTo>
                      <a:pt x="8" y="23"/>
                      <a:pt x="8" y="23"/>
                      <a:pt x="8" y="23"/>
                    </a:cubicBezTo>
                    <a:cubicBezTo>
                      <a:pt x="8" y="23"/>
                      <a:pt x="8" y="23"/>
                      <a:pt x="8" y="2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82" name="Freeform 592">
                <a:extLst>
                  <a:ext uri="{FF2B5EF4-FFF2-40B4-BE49-F238E27FC236}">
                    <a16:creationId xmlns:a16="http://schemas.microsoft.com/office/drawing/2014/main" id="{9114D25E-B6E3-436F-9FB0-A70ED675B663}"/>
                  </a:ext>
                </a:extLst>
              </p:cNvPr>
              <p:cNvSpPr>
                <a:spLocks/>
              </p:cNvSpPr>
              <p:nvPr/>
            </p:nvSpPr>
            <p:spPr bwMode="auto">
              <a:xfrm>
                <a:off x="4545" y="2136"/>
                <a:ext cx="19" cy="36"/>
              </a:xfrm>
              <a:custGeom>
                <a:avLst/>
                <a:gdLst>
                  <a:gd name="T0" fmla="*/ 4 w 14"/>
                  <a:gd name="T1" fmla="*/ 25 h 26"/>
                  <a:gd name="T2" fmla="*/ 11 w 14"/>
                  <a:gd name="T3" fmla="*/ 25 h 26"/>
                  <a:gd name="T4" fmla="*/ 11 w 14"/>
                  <a:gd name="T5" fmla="*/ 23 h 26"/>
                  <a:gd name="T6" fmla="*/ 12 w 14"/>
                  <a:gd name="T7" fmla="*/ 20 h 26"/>
                  <a:gd name="T8" fmla="*/ 13 w 14"/>
                  <a:gd name="T9" fmla="*/ 14 h 26"/>
                  <a:gd name="T10" fmla="*/ 12 w 14"/>
                  <a:gd name="T11" fmla="*/ 8 h 26"/>
                  <a:gd name="T12" fmla="*/ 12 w 14"/>
                  <a:gd name="T13" fmla="*/ 4 h 26"/>
                  <a:gd name="T14" fmla="*/ 9 w 14"/>
                  <a:gd name="T15" fmla="*/ 3 h 26"/>
                  <a:gd name="T16" fmla="*/ 5 w 14"/>
                  <a:gd name="T17" fmla="*/ 2 h 26"/>
                  <a:gd name="T18" fmla="*/ 4 w 14"/>
                  <a:gd name="T19" fmla="*/ 4 h 26"/>
                  <a:gd name="T20" fmla="*/ 3 w 14"/>
                  <a:gd name="T21" fmla="*/ 7 h 26"/>
                  <a:gd name="T22" fmla="*/ 1 w 14"/>
                  <a:gd name="T23" fmla="*/ 17 h 26"/>
                  <a:gd name="T24" fmla="*/ 1 w 14"/>
                  <a:gd name="T25" fmla="*/ 22 h 26"/>
                  <a:gd name="T26" fmla="*/ 4 w 14"/>
                  <a:gd name="T2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6">
                    <a:moveTo>
                      <a:pt x="4" y="25"/>
                    </a:moveTo>
                    <a:cubicBezTo>
                      <a:pt x="5" y="26"/>
                      <a:pt x="8" y="25"/>
                      <a:pt x="11" y="25"/>
                    </a:cubicBezTo>
                    <a:cubicBezTo>
                      <a:pt x="11" y="24"/>
                      <a:pt x="11" y="24"/>
                      <a:pt x="11" y="23"/>
                    </a:cubicBezTo>
                    <a:cubicBezTo>
                      <a:pt x="12" y="22"/>
                      <a:pt x="11" y="21"/>
                      <a:pt x="12" y="20"/>
                    </a:cubicBezTo>
                    <a:cubicBezTo>
                      <a:pt x="12" y="19"/>
                      <a:pt x="14" y="15"/>
                      <a:pt x="13" y="14"/>
                    </a:cubicBezTo>
                    <a:cubicBezTo>
                      <a:pt x="12" y="13"/>
                      <a:pt x="11" y="12"/>
                      <a:pt x="12" y="8"/>
                    </a:cubicBezTo>
                    <a:cubicBezTo>
                      <a:pt x="13" y="5"/>
                      <a:pt x="13" y="4"/>
                      <a:pt x="12" y="4"/>
                    </a:cubicBezTo>
                    <a:cubicBezTo>
                      <a:pt x="10" y="4"/>
                      <a:pt x="10" y="3"/>
                      <a:pt x="9" y="3"/>
                    </a:cubicBezTo>
                    <a:cubicBezTo>
                      <a:pt x="9" y="2"/>
                      <a:pt x="7" y="0"/>
                      <a:pt x="5" y="2"/>
                    </a:cubicBezTo>
                    <a:cubicBezTo>
                      <a:pt x="3" y="4"/>
                      <a:pt x="4" y="4"/>
                      <a:pt x="4" y="4"/>
                    </a:cubicBezTo>
                    <a:cubicBezTo>
                      <a:pt x="4" y="5"/>
                      <a:pt x="3" y="7"/>
                      <a:pt x="3" y="7"/>
                    </a:cubicBezTo>
                    <a:cubicBezTo>
                      <a:pt x="3" y="7"/>
                      <a:pt x="0" y="15"/>
                      <a:pt x="1" y="17"/>
                    </a:cubicBezTo>
                    <a:cubicBezTo>
                      <a:pt x="1" y="18"/>
                      <a:pt x="2" y="22"/>
                      <a:pt x="1" y="22"/>
                    </a:cubicBezTo>
                    <a:cubicBezTo>
                      <a:pt x="2" y="23"/>
                      <a:pt x="3" y="25"/>
                      <a:pt x="4" y="2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83" name="Freeform 593">
                <a:extLst>
                  <a:ext uri="{FF2B5EF4-FFF2-40B4-BE49-F238E27FC236}">
                    <a16:creationId xmlns:a16="http://schemas.microsoft.com/office/drawing/2014/main" id="{EE286A2D-0929-4F9F-A3EB-45669650B313}"/>
                  </a:ext>
                </a:extLst>
              </p:cNvPr>
              <p:cNvSpPr>
                <a:spLocks/>
              </p:cNvSpPr>
              <p:nvPr/>
            </p:nvSpPr>
            <p:spPr bwMode="auto">
              <a:xfrm>
                <a:off x="4571" y="2162"/>
                <a:ext cx="164" cy="178"/>
              </a:xfrm>
              <a:custGeom>
                <a:avLst/>
                <a:gdLst>
                  <a:gd name="T0" fmla="*/ 64 w 118"/>
                  <a:gd name="T1" fmla="*/ 1 h 130"/>
                  <a:gd name="T2" fmla="*/ 64 w 118"/>
                  <a:gd name="T3" fmla="*/ 2 h 130"/>
                  <a:gd name="T4" fmla="*/ 62 w 118"/>
                  <a:gd name="T5" fmla="*/ 3 h 130"/>
                  <a:gd name="T6" fmla="*/ 61 w 118"/>
                  <a:gd name="T7" fmla="*/ 4 h 130"/>
                  <a:gd name="T8" fmla="*/ 60 w 118"/>
                  <a:gd name="T9" fmla="*/ 3 h 130"/>
                  <a:gd name="T10" fmla="*/ 59 w 118"/>
                  <a:gd name="T11" fmla="*/ 1 h 130"/>
                  <a:gd name="T12" fmla="*/ 59 w 118"/>
                  <a:gd name="T13" fmla="*/ 1 h 130"/>
                  <a:gd name="T14" fmla="*/ 57 w 118"/>
                  <a:gd name="T15" fmla="*/ 4 h 130"/>
                  <a:gd name="T16" fmla="*/ 56 w 118"/>
                  <a:gd name="T17" fmla="*/ 7 h 130"/>
                  <a:gd name="T18" fmla="*/ 56 w 118"/>
                  <a:gd name="T19" fmla="*/ 12 h 130"/>
                  <a:gd name="T20" fmla="*/ 59 w 118"/>
                  <a:gd name="T21" fmla="*/ 14 h 130"/>
                  <a:gd name="T22" fmla="*/ 59 w 118"/>
                  <a:gd name="T23" fmla="*/ 15 h 130"/>
                  <a:gd name="T24" fmla="*/ 54 w 118"/>
                  <a:gd name="T25" fmla="*/ 15 h 130"/>
                  <a:gd name="T26" fmla="*/ 51 w 118"/>
                  <a:gd name="T27" fmla="*/ 19 h 130"/>
                  <a:gd name="T28" fmla="*/ 47 w 118"/>
                  <a:gd name="T29" fmla="*/ 36 h 130"/>
                  <a:gd name="T30" fmla="*/ 47 w 118"/>
                  <a:gd name="T31" fmla="*/ 36 h 130"/>
                  <a:gd name="T32" fmla="*/ 52 w 118"/>
                  <a:gd name="T33" fmla="*/ 45 h 130"/>
                  <a:gd name="T34" fmla="*/ 52 w 118"/>
                  <a:gd name="T35" fmla="*/ 54 h 130"/>
                  <a:gd name="T36" fmla="*/ 44 w 118"/>
                  <a:gd name="T37" fmla="*/ 77 h 130"/>
                  <a:gd name="T38" fmla="*/ 44 w 118"/>
                  <a:gd name="T39" fmla="*/ 78 h 130"/>
                  <a:gd name="T40" fmla="*/ 2 w 118"/>
                  <a:gd name="T41" fmla="*/ 93 h 130"/>
                  <a:gd name="T42" fmla="*/ 0 w 118"/>
                  <a:gd name="T43" fmla="*/ 94 h 130"/>
                  <a:gd name="T44" fmla="*/ 16 w 118"/>
                  <a:gd name="T45" fmla="*/ 130 h 130"/>
                  <a:gd name="T46" fmla="*/ 29 w 118"/>
                  <a:gd name="T47" fmla="*/ 125 h 130"/>
                  <a:gd name="T48" fmla="*/ 40 w 118"/>
                  <a:gd name="T49" fmla="*/ 124 h 130"/>
                  <a:gd name="T50" fmla="*/ 48 w 118"/>
                  <a:gd name="T51" fmla="*/ 119 h 130"/>
                  <a:gd name="T52" fmla="*/ 56 w 118"/>
                  <a:gd name="T53" fmla="*/ 110 h 130"/>
                  <a:gd name="T54" fmla="*/ 68 w 118"/>
                  <a:gd name="T55" fmla="*/ 105 h 130"/>
                  <a:gd name="T56" fmla="*/ 74 w 118"/>
                  <a:gd name="T57" fmla="*/ 97 h 130"/>
                  <a:gd name="T58" fmla="*/ 86 w 118"/>
                  <a:gd name="T59" fmla="*/ 91 h 130"/>
                  <a:gd name="T60" fmla="*/ 85 w 118"/>
                  <a:gd name="T61" fmla="*/ 88 h 130"/>
                  <a:gd name="T62" fmla="*/ 85 w 118"/>
                  <a:gd name="T63" fmla="*/ 85 h 130"/>
                  <a:gd name="T64" fmla="*/ 86 w 118"/>
                  <a:gd name="T65" fmla="*/ 80 h 130"/>
                  <a:gd name="T66" fmla="*/ 92 w 118"/>
                  <a:gd name="T67" fmla="*/ 69 h 130"/>
                  <a:gd name="T68" fmla="*/ 93 w 118"/>
                  <a:gd name="T69" fmla="*/ 70 h 130"/>
                  <a:gd name="T70" fmla="*/ 93 w 118"/>
                  <a:gd name="T71" fmla="*/ 72 h 130"/>
                  <a:gd name="T72" fmla="*/ 97 w 118"/>
                  <a:gd name="T73" fmla="*/ 70 h 130"/>
                  <a:gd name="T74" fmla="*/ 100 w 118"/>
                  <a:gd name="T75" fmla="*/ 67 h 130"/>
                  <a:gd name="T76" fmla="*/ 104 w 118"/>
                  <a:gd name="T77" fmla="*/ 59 h 130"/>
                  <a:gd name="T78" fmla="*/ 112 w 118"/>
                  <a:gd name="T79" fmla="*/ 51 h 130"/>
                  <a:gd name="T80" fmla="*/ 115 w 118"/>
                  <a:gd name="T81" fmla="*/ 45 h 130"/>
                  <a:gd name="T82" fmla="*/ 115 w 118"/>
                  <a:gd name="T83" fmla="*/ 39 h 130"/>
                  <a:gd name="T84" fmla="*/ 108 w 118"/>
                  <a:gd name="T85" fmla="*/ 35 h 130"/>
                  <a:gd name="T86" fmla="*/ 100 w 118"/>
                  <a:gd name="T87" fmla="*/ 23 h 130"/>
                  <a:gd name="T88" fmla="*/ 96 w 118"/>
                  <a:gd name="T89" fmla="*/ 21 h 130"/>
                  <a:gd name="T90" fmla="*/ 93 w 118"/>
                  <a:gd name="T91" fmla="*/ 21 h 130"/>
                  <a:gd name="T92" fmla="*/ 89 w 118"/>
                  <a:gd name="T93" fmla="*/ 20 h 130"/>
                  <a:gd name="T94" fmla="*/ 85 w 118"/>
                  <a:gd name="T95" fmla="*/ 19 h 130"/>
                  <a:gd name="T96" fmla="*/ 80 w 118"/>
                  <a:gd name="T97" fmla="*/ 17 h 130"/>
                  <a:gd name="T98" fmla="*/ 72 w 118"/>
                  <a:gd name="T99" fmla="*/ 12 h 130"/>
                  <a:gd name="T100" fmla="*/ 69 w 118"/>
                  <a:gd name="T101" fmla="*/ 8 h 130"/>
                  <a:gd name="T102" fmla="*/ 65 w 118"/>
                  <a:gd name="T103" fmla="*/ 0 h 130"/>
                  <a:gd name="T104" fmla="*/ 65 w 118"/>
                  <a:gd name="T105" fmla="*/ 0 h 130"/>
                  <a:gd name="T106" fmla="*/ 64 w 118"/>
                  <a:gd name="T107" fmla="*/ 1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8" h="130">
                    <a:moveTo>
                      <a:pt x="64" y="1"/>
                    </a:moveTo>
                    <a:cubicBezTo>
                      <a:pt x="64" y="1"/>
                      <a:pt x="64" y="1"/>
                      <a:pt x="64" y="2"/>
                    </a:cubicBezTo>
                    <a:cubicBezTo>
                      <a:pt x="64" y="2"/>
                      <a:pt x="63" y="2"/>
                      <a:pt x="62" y="3"/>
                    </a:cubicBezTo>
                    <a:cubicBezTo>
                      <a:pt x="62" y="3"/>
                      <a:pt x="61" y="3"/>
                      <a:pt x="61" y="4"/>
                    </a:cubicBezTo>
                    <a:cubicBezTo>
                      <a:pt x="60" y="5"/>
                      <a:pt x="60" y="3"/>
                      <a:pt x="60" y="3"/>
                    </a:cubicBezTo>
                    <a:cubicBezTo>
                      <a:pt x="60" y="2"/>
                      <a:pt x="60" y="1"/>
                      <a:pt x="59" y="1"/>
                    </a:cubicBezTo>
                    <a:cubicBezTo>
                      <a:pt x="59" y="0"/>
                      <a:pt x="59" y="1"/>
                      <a:pt x="59" y="1"/>
                    </a:cubicBezTo>
                    <a:cubicBezTo>
                      <a:pt x="59" y="1"/>
                      <a:pt x="57" y="3"/>
                      <a:pt x="57" y="4"/>
                    </a:cubicBezTo>
                    <a:cubicBezTo>
                      <a:pt x="56" y="5"/>
                      <a:pt x="56" y="6"/>
                      <a:pt x="56" y="7"/>
                    </a:cubicBezTo>
                    <a:cubicBezTo>
                      <a:pt x="56" y="8"/>
                      <a:pt x="56" y="11"/>
                      <a:pt x="56" y="12"/>
                    </a:cubicBezTo>
                    <a:cubicBezTo>
                      <a:pt x="56" y="13"/>
                      <a:pt x="58" y="14"/>
                      <a:pt x="59" y="14"/>
                    </a:cubicBezTo>
                    <a:cubicBezTo>
                      <a:pt x="60" y="15"/>
                      <a:pt x="59" y="15"/>
                      <a:pt x="59" y="15"/>
                    </a:cubicBezTo>
                    <a:cubicBezTo>
                      <a:pt x="59" y="15"/>
                      <a:pt x="58" y="15"/>
                      <a:pt x="54" y="15"/>
                    </a:cubicBezTo>
                    <a:cubicBezTo>
                      <a:pt x="51" y="16"/>
                      <a:pt x="51" y="19"/>
                      <a:pt x="51" y="19"/>
                    </a:cubicBezTo>
                    <a:cubicBezTo>
                      <a:pt x="47" y="36"/>
                      <a:pt x="47" y="36"/>
                      <a:pt x="47" y="36"/>
                    </a:cubicBezTo>
                    <a:cubicBezTo>
                      <a:pt x="47" y="36"/>
                      <a:pt x="47" y="36"/>
                      <a:pt x="47" y="36"/>
                    </a:cubicBezTo>
                    <a:cubicBezTo>
                      <a:pt x="49" y="38"/>
                      <a:pt x="51" y="43"/>
                      <a:pt x="52" y="45"/>
                    </a:cubicBezTo>
                    <a:cubicBezTo>
                      <a:pt x="54" y="48"/>
                      <a:pt x="52" y="53"/>
                      <a:pt x="52" y="54"/>
                    </a:cubicBezTo>
                    <a:cubicBezTo>
                      <a:pt x="52" y="54"/>
                      <a:pt x="45" y="77"/>
                      <a:pt x="44" y="77"/>
                    </a:cubicBezTo>
                    <a:cubicBezTo>
                      <a:pt x="44" y="78"/>
                      <a:pt x="44" y="78"/>
                      <a:pt x="44" y="78"/>
                    </a:cubicBezTo>
                    <a:cubicBezTo>
                      <a:pt x="44" y="78"/>
                      <a:pt x="3" y="93"/>
                      <a:pt x="2" y="93"/>
                    </a:cubicBezTo>
                    <a:cubicBezTo>
                      <a:pt x="1" y="93"/>
                      <a:pt x="0" y="93"/>
                      <a:pt x="0" y="94"/>
                    </a:cubicBezTo>
                    <a:cubicBezTo>
                      <a:pt x="16" y="130"/>
                      <a:pt x="16" y="130"/>
                      <a:pt x="16" y="130"/>
                    </a:cubicBezTo>
                    <a:cubicBezTo>
                      <a:pt x="22" y="128"/>
                      <a:pt x="29" y="125"/>
                      <a:pt x="29" y="125"/>
                    </a:cubicBezTo>
                    <a:cubicBezTo>
                      <a:pt x="30" y="124"/>
                      <a:pt x="35" y="123"/>
                      <a:pt x="40" y="124"/>
                    </a:cubicBezTo>
                    <a:cubicBezTo>
                      <a:pt x="44" y="125"/>
                      <a:pt x="48" y="122"/>
                      <a:pt x="48" y="119"/>
                    </a:cubicBezTo>
                    <a:cubicBezTo>
                      <a:pt x="48" y="115"/>
                      <a:pt x="51" y="111"/>
                      <a:pt x="56" y="110"/>
                    </a:cubicBezTo>
                    <a:cubicBezTo>
                      <a:pt x="62" y="110"/>
                      <a:pt x="66" y="109"/>
                      <a:pt x="68" y="105"/>
                    </a:cubicBezTo>
                    <a:cubicBezTo>
                      <a:pt x="69" y="101"/>
                      <a:pt x="72" y="97"/>
                      <a:pt x="74" y="97"/>
                    </a:cubicBezTo>
                    <a:cubicBezTo>
                      <a:pt x="76" y="96"/>
                      <a:pt x="87" y="95"/>
                      <a:pt x="86" y="91"/>
                    </a:cubicBezTo>
                    <a:cubicBezTo>
                      <a:pt x="85" y="88"/>
                      <a:pt x="85" y="90"/>
                      <a:pt x="85" y="88"/>
                    </a:cubicBezTo>
                    <a:cubicBezTo>
                      <a:pt x="85" y="87"/>
                      <a:pt x="86" y="86"/>
                      <a:pt x="85" y="85"/>
                    </a:cubicBezTo>
                    <a:cubicBezTo>
                      <a:pt x="85" y="84"/>
                      <a:pt x="84" y="83"/>
                      <a:pt x="86" y="80"/>
                    </a:cubicBezTo>
                    <a:cubicBezTo>
                      <a:pt x="87" y="78"/>
                      <a:pt x="89" y="69"/>
                      <a:pt x="92" y="69"/>
                    </a:cubicBezTo>
                    <a:cubicBezTo>
                      <a:pt x="94" y="68"/>
                      <a:pt x="93" y="69"/>
                      <a:pt x="93" y="70"/>
                    </a:cubicBezTo>
                    <a:cubicBezTo>
                      <a:pt x="92" y="71"/>
                      <a:pt x="92" y="72"/>
                      <a:pt x="93" y="72"/>
                    </a:cubicBezTo>
                    <a:cubicBezTo>
                      <a:pt x="94" y="72"/>
                      <a:pt x="96" y="72"/>
                      <a:pt x="97" y="70"/>
                    </a:cubicBezTo>
                    <a:cubicBezTo>
                      <a:pt x="97" y="69"/>
                      <a:pt x="99" y="68"/>
                      <a:pt x="100" y="67"/>
                    </a:cubicBezTo>
                    <a:cubicBezTo>
                      <a:pt x="100" y="66"/>
                      <a:pt x="103" y="61"/>
                      <a:pt x="104" y="59"/>
                    </a:cubicBezTo>
                    <a:cubicBezTo>
                      <a:pt x="106" y="58"/>
                      <a:pt x="111" y="55"/>
                      <a:pt x="112" y="51"/>
                    </a:cubicBezTo>
                    <a:cubicBezTo>
                      <a:pt x="114" y="47"/>
                      <a:pt x="115" y="46"/>
                      <a:pt x="115" y="45"/>
                    </a:cubicBezTo>
                    <a:cubicBezTo>
                      <a:pt x="115" y="45"/>
                      <a:pt x="118" y="40"/>
                      <a:pt x="115" y="39"/>
                    </a:cubicBezTo>
                    <a:cubicBezTo>
                      <a:pt x="113" y="38"/>
                      <a:pt x="111" y="39"/>
                      <a:pt x="108" y="35"/>
                    </a:cubicBezTo>
                    <a:cubicBezTo>
                      <a:pt x="106" y="30"/>
                      <a:pt x="100" y="24"/>
                      <a:pt x="100" y="23"/>
                    </a:cubicBezTo>
                    <a:cubicBezTo>
                      <a:pt x="99" y="22"/>
                      <a:pt x="98" y="21"/>
                      <a:pt x="96" y="21"/>
                    </a:cubicBezTo>
                    <a:cubicBezTo>
                      <a:pt x="95" y="22"/>
                      <a:pt x="94" y="22"/>
                      <a:pt x="93" y="21"/>
                    </a:cubicBezTo>
                    <a:cubicBezTo>
                      <a:pt x="92" y="21"/>
                      <a:pt x="90" y="20"/>
                      <a:pt x="89" y="20"/>
                    </a:cubicBezTo>
                    <a:cubicBezTo>
                      <a:pt x="88" y="20"/>
                      <a:pt x="86" y="19"/>
                      <a:pt x="85" y="19"/>
                    </a:cubicBezTo>
                    <a:cubicBezTo>
                      <a:pt x="84" y="18"/>
                      <a:pt x="82" y="17"/>
                      <a:pt x="80" y="17"/>
                    </a:cubicBezTo>
                    <a:cubicBezTo>
                      <a:pt x="79" y="17"/>
                      <a:pt x="75" y="16"/>
                      <a:pt x="72" y="12"/>
                    </a:cubicBezTo>
                    <a:cubicBezTo>
                      <a:pt x="70" y="8"/>
                      <a:pt x="69" y="9"/>
                      <a:pt x="69" y="8"/>
                    </a:cubicBezTo>
                    <a:cubicBezTo>
                      <a:pt x="68" y="8"/>
                      <a:pt x="66" y="3"/>
                      <a:pt x="65" y="0"/>
                    </a:cubicBezTo>
                    <a:cubicBezTo>
                      <a:pt x="65" y="0"/>
                      <a:pt x="65" y="0"/>
                      <a:pt x="65" y="0"/>
                    </a:cubicBezTo>
                    <a:cubicBezTo>
                      <a:pt x="64" y="0"/>
                      <a:pt x="64" y="1"/>
                      <a:pt x="6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84" name="Freeform 594">
                <a:extLst>
                  <a:ext uri="{FF2B5EF4-FFF2-40B4-BE49-F238E27FC236}">
                    <a16:creationId xmlns:a16="http://schemas.microsoft.com/office/drawing/2014/main" id="{19F552F7-059C-4676-BD73-987E6846E2B7}"/>
                  </a:ext>
                </a:extLst>
              </p:cNvPr>
              <p:cNvSpPr>
                <a:spLocks/>
              </p:cNvSpPr>
              <p:nvPr/>
            </p:nvSpPr>
            <p:spPr bwMode="auto">
              <a:xfrm>
                <a:off x="4654" y="2132"/>
                <a:ext cx="11" cy="16"/>
              </a:xfrm>
              <a:custGeom>
                <a:avLst/>
                <a:gdLst>
                  <a:gd name="T0" fmla="*/ 2 w 8"/>
                  <a:gd name="T1" fmla="*/ 12 h 12"/>
                  <a:gd name="T2" fmla="*/ 4 w 8"/>
                  <a:gd name="T3" fmla="*/ 12 h 12"/>
                  <a:gd name="T4" fmla="*/ 4 w 8"/>
                  <a:gd name="T5" fmla="*/ 11 h 12"/>
                  <a:gd name="T6" fmla="*/ 6 w 8"/>
                  <a:gd name="T7" fmla="*/ 5 h 12"/>
                  <a:gd name="T8" fmla="*/ 6 w 8"/>
                  <a:gd name="T9" fmla="*/ 3 h 12"/>
                  <a:gd name="T10" fmla="*/ 6 w 8"/>
                  <a:gd name="T11" fmla="*/ 1 h 12"/>
                  <a:gd name="T12" fmla="*/ 2 w 8"/>
                  <a:gd name="T13" fmla="*/ 3 h 12"/>
                  <a:gd name="T14" fmla="*/ 0 w 8"/>
                  <a:gd name="T15" fmla="*/ 5 h 12"/>
                  <a:gd name="T16" fmla="*/ 1 w 8"/>
                  <a:gd name="T17" fmla="*/ 11 h 12"/>
                  <a:gd name="T18" fmla="*/ 2 w 8"/>
                  <a:gd name="T19"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12">
                    <a:moveTo>
                      <a:pt x="2" y="12"/>
                    </a:moveTo>
                    <a:cubicBezTo>
                      <a:pt x="2" y="12"/>
                      <a:pt x="3" y="12"/>
                      <a:pt x="4" y="12"/>
                    </a:cubicBezTo>
                    <a:cubicBezTo>
                      <a:pt x="4" y="12"/>
                      <a:pt x="4" y="11"/>
                      <a:pt x="4" y="11"/>
                    </a:cubicBezTo>
                    <a:cubicBezTo>
                      <a:pt x="5" y="9"/>
                      <a:pt x="7" y="6"/>
                      <a:pt x="6" y="5"/>
                    </a:cubicBezTo>
                    <a:cubicBezTo>
                      <a:pt x="6" y="4"/>
                      <a:pt x="4" y="4"/>
                      <a:pt x="6" y="3"/>
                    </a:cubicBezTo>
                    <a:cubicBezTo>
                      <a:pt x="7" y="2"/>
                      <a:pt x="8" y="1"/>
                      <a:pt x="6" y="1"/>
                    </a:cubicBezTo>
                    <a:cubicBezTo>
                      <a:pt x="5" y="1"/>
                      <a:pt x="4" y="0"/>
                      <a:pt x="2" y="3"/>
                    </a:cubicBezTo>
                    <a:cubicBezTo>
                      <a:pt x="1" y="4"/>
                      <a:pt x="1" y="5"/>
                      <a:pt x="0" y="5"/>
                    </a:cubicBezTo>
                    <a:cubicBezTo>
                      <a:pt x="1" y="11"/>
                      <a:pt x="1" y="11"/>
                      <a:pt x="1" y="11"/>
                    </a:cubicBezTo>
                    <a:cubicBezTo>
                      <a:pt x="1" y="11"/>
                      <a:pt x="1" y="12"/>
                      <a:pt x="2"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85" name="Freeform 595">
                <a:extLst>
                  <a:ext uri="{FF2B5EF4-FFF2-40B4-BE49-F238E27FC236}">
                    <a16:creationId xmlns:a16="http://schemas.microsoft.com/office/drawing/2014/main" id="{F790E3D8-1A1F-4D03-927A-EA8CECC3CF16}"/>
                  </a:ext>
                </a:extLst>
              </p:cNvPr>
              <p:cNvSpPr>
                <a:spLocks/>
              </p:cNvSpPr>
              <p:nvPr/>
            </p:nvSpPr>
            <p:spPr bwMode="auto">
              <a:xfrm>
                <a:off x="4707" y="2254"/>
                <a:ext cx="7" cy="15"/>
              </a:xfrm>
              <a:custGeom>
                <a:avLst/>
                <a:gdLst>
                  <a:gd name="T0" fmla="*/ 3 w 5"/>
                  <a:gd name="T1" fmla="*/ 5 h 11"/>
                  <a:gd name="T2" fmla="*/ 5 w 5"/>
                  <a:gd name="T3" fmla="*/ 4 h 11"/>
                  <a:gd name="T4" fmla="*/ 3 w 5"/>
                  <a:gd name="T5" fmla="*/ 5 h 11"/>
                </a:gdLst>
                <a:ahLst/>
                <a:cxnLst>
                  <a:cxn ang="0">
                    <a:pos x="T0" y="T1"/>
                  </a:cxn>
                  <a:cxn ang="0">
                    <a:pos x="T2" y="T3"/>
                  </a:cxn>
                  <a:cxn ang="0">
                    <a:pos x="T4" y="T5"/>
                  </a:cxn>
                </a:cxnLst>
                <a:rect l="0" t="0" r="r" b="b"/>
                <a:pathLst>
                  <a:path w="5" h="11">
                    <a:moveTo>
                      <a:pt x="3" y="5"/>
                    </a:moveTo>
                    <a:cubicBezTo>
                      <a:pt x="0" y="11"/>
                      <a:pt x="3" y="6"/>
                      <a:pt x="5" y="4"/>
                    </a:cubicBezTo>
                    <a:cubicBezTo>
                      <a:pt x="5" y="4"/>
                      <a:pt x="5" y="0"/>
                      <a:pt x="3"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86" name="Freeform 596">
                <a:extLst>
                  <a:ext uri="{FF2B5EF4-FFF2-40B4-BE49-F238E27FC236}">
                    <a16:creationId xmlns:a16="http://schemas.microsoft.com/office/drawing/2014/main" id="{44744FA0-3CA2-46FE-B3C3-AF8723615437}"/>
                  </a:ext>
                </a:extLst>
              </p:cNvPr>
              <p:cNvSpPr>
                <a:spLocks/>
              </p:cNvSpPr>
              <p:nvPr/>
            </p:nvSpPr>
            <p:spPr bwMode="auto">
              <a:xfrm>
                <a:off x="4221" y="1977"/>
                <a:ext cx="89" cy="93"/>
              </a:xfrm>
              <a:custGeom>
                <a:avLst/>
                <a:gdLst>
                  <a:gd name="T0" fmla="*/ 62 w 64"/>
                  <a:gd name="T1" fmla="*/ 20 h 68"/>
                  <a:gd name="T2" fmla="*/ 64 w 64"/>
                  <a:gd name="T3" fmla="*/ 19 h 68"/>
                  <a:gd name="T4" fmla="*/ 64 w 64"/>
                  <a:gd name="T5" fmla="*/ 18 h 68"/>
                  <a:gd name="T6" fmla="*/ 61 w 64"/>
                  <a:gd name="T7" fmla="*/ 17 h 68"/>
                  <a:gd name="T8" fmla="*/ 60 w 64"/>
                  <a:gd name="T9" fmla="*/ 16 h 68"/>
                  <a:gd name="T10" fmla="*/ 57 w 64"/>
                  <a:gd name="T11" fmla="*/ 0 h 68"/>
                  <a:gd name="T12" fmla="*/ 29 w 64"/>
                  <a:gd name="T13" fmla="*/ 16 h 68"/>
                  <a:gd name="T14" fmla="*/ 24 w 64"/>
                  <a:gd name="T15" fmla="*/ 16 h 68"/>
                  <a:gd name="T16" fmla="*/ 17 w 64"/>
                  <a:gd name="T17" fmla="*/ 14 h 68"/>
                  <a:gd name="T18" fmla="*/ 16 w 64"/>
                  <a:gd name="T19" fmla="*/ 13 h 68"/>
                  <a:gd name="T20" fmla="*/ 12 w 64"/>
                  <a:gd name="T21" fmla="*/ 10 h 68"/>
                  <a:gd name="T22" fmla="*/ 11 w 64"/>
                  <a:gd name="T23" fmla="*/ 11 h 68"/>
                  <a:gd name="T24" fmla="*/ 10 w 64"/>
                  <a:gd name="T25" fmla="*/ 11 h 68"/>
                  <a:gd name="T26" fmla="*/ 9 w 64"/>
                  <a:gd name="T27" fmla="*/ 15 h 68"/>
                  <a:gd name="T28" fmla="*/ 9 w 64"/>
                  <a:gd name="T29" fmla="*/ 20 h 68"/>
                  <a:gd name="T30" fmla="*/ 8 w 64"/>
                  <a:gd name="T31" fmla="*/ 29 h 68"/>
                  <a:gd name="T32" fmla="*/ 7 w 64"/>
                  <a:gd name="T33" fmla="*/ 32 h 68"/>
                  <a:gd name="T34" fmla="*/ 6 w 64"/>
                  <a:gd name="T35" fmla="*/ 40 h 68"/>
                  <a:gd name="T36" fmla="*/ 3 w 64"/>
                  <a:gd name="T37" fmla="*/ 48 h 68"/>
                  <a:gd name="T38" fmla="*/ 0 w 64"/>
                  <a:gd name="T39" fmla="*/ 62 h 68"/>
                  <a:gd name="T40" fmla="*/ 0 w 64"/>
                  <a:gd name="T41" fmla="*/ 64 h 68"/>
                  <a:gd name="T42" fmla="*/ 0 w 64"/>
                  <a:gd name="T43" fmla="*/ 65 h 68"/>
                  <a:gd name="T44" fmla="*/ 16 w 64"/>
                  <a:gd name="T45" fmla="*/ 68 h 68"/>
                  <a:gd name="T46" fmla="*/ 17 w 64"/>
                  <a:gd name="T47" fmla="*/ 68 h 68"/>
                  <a:gd name="T48" fmla="*/ 24 w 64"/>
                  <a:gd name="T49" fmla="*/ 59 h 68"/>
                  <a:gd name="T50" fmla="*/ 30 w 64"/>
                  <a:gd name="T51" fmla="*/ 57 h 68"/>
                  <a:gd name="T52" fmla="*/ 38 w 64"/>
                  <a:gd name="T53" fmla="*/ 54 h 68"/>
                  <a:gd name="T54" fmla="*/ 44 w 64"/>
                  <a:gd name="T55" fmla="*/ 47 h 68"/>
                  <a:gd name="T56" fmla="*/ 44 w 64"/>
                  <a:gd name="T57" fmla="*/ 45 h 68"/>
                  <a:gd name="T58" fmla="*/ 39 w 64"/>
                  <a:gd name="T59" fmla="*/ 40 h 68"/>
                  <a:gd name="T60" fmla="*/ 35 w 64"/>
                  <a:gd name="T61" fmla="*/ 36 h 68"/>
                  <a:gd name="T62" fmla="*/ 30 w 64"/>
                  <a:gd name="T63" fmla="*/ 31 h 68"/>
                  <a:gd name="T64" fmla="*/ 31 w 64"/>
                  <a:gd name="T65" fmla="*/ 30 h 68"/>
                  <a:gd name="T66" fmla="*/ 44 w 64"/>
                  <a:gd name="T67" fmla="*/ 26 h 68"/>
                  <a:gd name="T68" fmla="*/ 54 w 64"/>
                  <a:gd name="T69" fmla="*/ 23 h 68"/>
                  <a:gd name="T70" fmla="*/ 62 w 64"/>
                  <a:gd name="T71" fmla="*/ 20 h 68"/>
                  <a:gd name="T72" fmla="*/ 62 w 64"/>
                  <a:gd name="T73"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4" h="68">
                    <a:moveTo>
                      <a:pt x="62" y="20"/>
                    </a:moveTo>
                    <a:cubicBezTo>
                      <a:pt x="62" y="20"/>
                      <a:pt x="63" y="19"/>
                      <a:pt x="64" y="19"/>
                    </a:cubicBezTo>
                    <a:cubicBezTo>
                      <a:pt x="64" y="18"/>
                      <a:pt x="64" y="18"/>
                      <a:pt x="64" y="18"/>
                    </a:cubicBezTo>
                    <a:cubicBezTo>
                      <a:pt x="63" y="17"/>
                      <a:pt x="61" y="17"/>
                      <a:pt x="61" y="17"/>
                    </a:cubicBezTo>
                    <a:cubicBezTo>
                      <a:pt x="61" y="17"/>
                      <a:pt x="61" y="17"/>
                      <a:pt x="60" y="16"/>
                    </a:cubicBezTo>
                    <a:cubicBezTo>
                      <a:pt x="60" y="16"/>
                      <a:pt x="58" y="5"/>
                      <a:pt x="57" y="0"/>
                    </a:cubicBezTo>
                    <a:cubicBezTo>
                      <a:pt x="43" y="8"/>
                      <a:pt x="30" y="16"/>
                      <a:pt x="29" y="16"/>
                    </a:cubicBezTo>
                    <a:cubicBezTo>
                      <a:pt x="27" y="17"/>
                      <a:pt x="24" y="16"/>
                      <a:pt x="24" y="16"/>
                    </a:cubicBezTo>
                    <a:cubicBezTo>
                      <a:pt x="23" y="16"/>
                      <a:pt x="18" y="14"/>
                      <a:pt x="17" y="14"/>
                    </a:cubicBezTo>
                    <a:cubicBezTo>
                      <a:pt x="17" y="14"/>
                      <a:pt x="16" y="13"/>
                      <a:pt x="16" y="13"/>
                    </a:cubicBezTo>
                    <a:cubicBezTo>
                      <a:pt x="16" y="13"/>
                      <a:pt x="12" y="10"/>
                      <a:pt x="12" y="10"/>
                    </a:cubicBezTo>
                    <a:cubicBezTo>
                      <a:pt x="12" y="10"/>
                      <a:pt x="11" y="10"/>
                      <a:pt x="11" y="11"/>
                    </a:cubicBezTo>
                    <a:cubicBezTo>
                      <a:pt x="11" y="11"/>
                      <a:pt x="10" y="11"/>
                      <a:pt x="10" y="11"/>
                    </a:cubicBezTo>
                    <a:cubicBezTo>
                      <a:pt x="9" y="12"/>
                      <a:pt x="9" y="14"/>
                      <a:pt x="9" y="15"/>
                    </a:cubicBezTo>
                    <a:cubicBezTo>
                      <a:pt x="9" y="16"/>
                      <a:pt x="9" y="18"/>
                      <a:pt x="9" y="20"/>
                    </a:cubicBezTo>
                    <a:cubicBezTo>
                      <a:pt x="9" y="21"/>
                      <a:pt x="8" y="28"/>
                      <a:pt x="8" y="29"/>
                    </a:cubicBezTo>
                    <a:cubicBezTo>
                      <a:pt x="7" y="30"/>
                      <a:pt x="8" y="32"/>
                      <a:pt x="7" y="32"/>
                    </a:cubicBezTo>
                    <a:cubicBezTo>
                      <a:pt x="7" y="33"/>
                      <a:pt x="6" y="39"/>
                      <a:pt x="6" y="40"/>
                    </a:cubicBezTo>
                    <a:cubicBezTo>
                      <a:pt x="5" y="41"/>
                      <a:pt x="4" y="47"/>
                      <a:pt x="3" y="48"/>
                    </a:cubicBezTo>
                    <a:cubicBezTo>
                      <a:pt x="3" y="49"/>
                      <a:pt x="1" y="58"/>
                      <a:pt x="0" y="62"/>
                    </a:cubicBezTo>
                    <a:cubicBezTo>
                      <a:pt x="0" y="62"/>
                      <a:pt x="0" y="63"/>
                      <a:pt x="0" y="64"/>
                    </a:cubicBezTo>
                    <a:cubicBezTo>
                      <a:pt x="0" y="64"/>
                      <a:pt x="0" y="65"/>
                      <a:pt x="0" y="65"/>
                    </a:cubicBezTo>
                    <a:cubicBezTo>
                      <a:pt x="16" y="68"/>
                      <a:pt x="16" y="68"/>
                      <a:pt x="16" y="68"/>
                    </a:cubicBezTo>
                    <a:cubicBezTo>
                      <a:pt x="16" y="68"/>
                      <a:pt x="17" y="68"/>
                      <a:pt x="17" y="68"/>
                    </a:cubicBezTo>
                    <a:cubicBezTo>
                      <a:pt x="17" y="67"/>
                      <a:pt x="23" y="60"/>
                      <a:pt x="24" y="59"/>
                    </a:cubicBezTo>
                    <a:cubicBezTo>
                      <a:pt x="25" y="58"/>
                      <a:pt x="27" y="57"/>
                      <a:pt x="30" y="57"/>
                    </a:cubicBezTo>
                    <a:cubicBezTo>
                      <a:pt x="33" y="56"/>
                      <a:pt x="37" y="55"/>
                      <a:pt x="38" y="54"/>
                    </a:cubicBezTo>
                    <a:cubicBezTo>
                      <a:pt x="39" y="53"/>
                      <a:pt x="44" y="48"/>
                      <a:pt x="44" y="47"/>
                    </a:cubicBezTo>
                    <a:cubicBezTo>
                      <a:pt x="45" y="47"/>
                      <a:pt x="45" y="46"/>
                      <a:pt x="44" y="45"/>
                    </a:cubicBezTo>
                    <a:cubicBezTo>
                      <a:pt x="43" y="44"/>
                      <a:pt x="40" y="41"/>
                      <a:pt x="39" y="40"/>
                    </a:cubicBezTo>
                    <a:cubicBezTo>
                      <a:pt x="39" y="40"/>
                      <a:pt x="36" y="37"/>
                      <a:pt x="35" y="36"/>
                    </a:cubicBezTo>
                    <a:cubicBezTo>
                      <a:pt x="34" y="35"/>
                      <a:pt x="30" y="31"/>
                      <a:pt x="30" y="31"/>
                    </a:cubicBezTo>
                    <a:cubicBezTo>
                      <a:pt x="30" y="31"/>
                      <a:pt x="30" y="30"/>
                      <a:pt x="31" y="30"/>
                    </a:cubicBezTo>
                    <a:cubicBezTo>
                      <a:pt x="32" y="30"/>
                      <a:pt x="43" y="27"/>
                      <a:pt x="44" y="26"/>
                    </a:cubicBezTo>
                    <a:cubicBezTo>
                      <a:pt x="45" y="26"/>
                      <a:pt x="52" y="24"/>
                      <a:pt x="54" y="23"/>
                    </a:cubicBezTo>
                    <a:cubicBezTo>
                      <a:pt x="55" y="22"/>
                      <a:pt x="61" y="20"/>
                      <a:pt x="62" y="20"/>
                    </a:cubicBezTo>
                    <a:cubicBezTo>
                      <a:pt x="62" y="20"/>
                      <a:pt x="62" y="20"/>
                      <a:pt x="62" y="2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87" name="Freeform 597">
                <a:extLst>
                  <a:ext uri="{FF2B5EF4-FFF2-40B4-BE49-F238E27FC236}">
                    <a16:creationId xmlns:a16="http://schemas.microsoft.com/office/drawing/2014/main" id="{E7F96CB8-BD89-4417-9EF0-602E64255F73}"/>
                  </a:ext>
                </a:extLst>
              </p:cNvPr>
              <p:cNvSpPr>
                <a:spLocks/>
              </p:cNvSpPr>
              <p:nvPr/>
            </p:nvSpPr>
            <p:spPr bwMode="auto">
              <a:xfrm>
                <a:off x="4206" y="1978"/>
                <a:ext cx="29" cy="85"/>
              </a:xfrm>
              <a:custGeom>
                <a:avLst/>
                <a:gdLst>
                  <a:gd name="T0" fmla="*/ 21 w 21"/>
                  <a:gd name="T1" fmla="*/ 10 h 62"/>
                  <a:gd name="T2" fmla="*/ 21 w 21"/>
                  <a:gd name="T3" fmla="*/ 8 h 62"/>
                  <a:gd name="T4" fmla="*/ 21 w 21"/>
                  <a:gd name="T5" fmla="*/ 5 h 62"/>
                  <a:gd name="T6" fmla="*/ 21 w 21"/>
                  <a:gd name="T7" fmla="*/ 1 h 62"/>
                  <a:gd name="T8" fmla="*/ 21 w 21"/>
                  <a:gd name="T9" fmla="*/ 0 h 62"/>
                  <a:gd name="T10" fmla="*/ 21 w 21"/>
                  <a:gd name="T11" fmla="*/ 1 h 62"/>
                  <a:gd name="T12" fmla="*/ 20 w 21"/>
                  <a:gd name="T13" fmla="*/ 1 h 62"/>
                  <a:gd name="T14" fmla="*/ 18 w 21"/>
                  <a:gd name="T15" fmla="*/ 3 h 62"/>
                  <a:gd name="T16" fmla="*/ 13 w 21"/>
                  <a:gd name="T17" fmla="*/ 3 h 62"/>
                  <a:gd name="T18" fmla="*/ 14 w 21"/>
                  <a:gd name="T19" fmla="*/ 3 h 62"/>
                  <a:gd name="T20" fmla="*/ 13 w 21"/>
                  <a:gd name="T21" fmla="*/ 5 h 62"/>
                  <a:gd name="T22" fmla="*/ 11 w 21"/>
                  <a:gd name="T23" fmla="*/ 11 h 62"/>
                  <a:gd name="T24" fmla="*/ 5 w 21"/>
                  <a:gd name="T25" fmla="*/ 26 h 62"/>
                  <a:gd name="T26" fmla="*/ 3 w 21"/>
                  <a:gd name="T27" fmla="*/ 29 h 62"/>
                  <a:gd name="T28" fmla="*/ 1 w 21"/>
                  <a:gd name="T29" fmla="*/ 32 h 62"/>
                  <a:gd name="T30" fmla="*/ 0 w 21"/>
                  <a:gd name="T31" fmla="*/ 32 h 62"/>
                  <a:gd name="T32" fmla="*/ 2 w 21"/>
                  <a:gd name="T33" fmla="*/ 40 h 62"/>
                  <a:gd name="T34" fmla="*/ 10 w 21"/>
                  <a:gd name="T35" fmla="*/ 62 h 62"/>
                  <a:gd name="T36" fmla="*/ 10 w 21"/>
                  <a:gd name="T37" fmla="*/ 62 h 62"/>
                  <a:gd name="T38" fmla="*/ 11 w 21"/>
                  <a:gd name="T39" fmla="*/ 61 h 62"/>
                  <a:gd name="T40" fmla="*/ 14 w 21"/>
                  <a:gd name="T41" fmla="*/ 47 h 62"/>
                  <a:gd name="T42" fmla="*/ 17 w 21"/>
                  <a:gd name="T43" fmla="*/ 39 h 62"/>
                  <a:gd name="T44" fmla="*/ 18 w 21"/>
                  <a:gd name="T45" fmla="*/ 31 h 62"/>
                  <a:gd name="T46" fmla="*/ 19 w 21"/>
                  <a:gd name="T47" fmla="*/ 28 h 62"/>
                  <a:gd name="T48" fmla="*/ 20 w 21"/>
                  <a:gd name="T49" fmla="*/ 19 h 62"/>
                  <a:gd name="T50" fmla="*/ 20 w 21"/>
                  <a:gd name="T51" fmla="*/ 14 h 62"/>
                  <a:gd name="T52" fmla="*/ 21 w 21"/>
                  <a:gd name="T53" fmla="*/ 1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 h="62">
                    <a:moveTo>
                      <a:pt x="21" y="10"/>
                    </a:moveTo>
                    <a:cubicBezTo>
                      <a:pt x="21" y="9"/>
                      <a:pt x="21" y="9"/>
                      <a:pt x="21" y="8"/>
                    </a:cubicBezTo>
                    <a:cubicBezTo>
                      <a:pt x="21" y="8"/>
                      <a:pt x="20" y="6"/>
                      <a:pt x="21" y="5"/>
                    </a:cubicBezTo>
                    <a:cubicBezTo>
                      <a:pt x="21" y="4"/>
                      <a:pt x="21" y="2"/>
                      <a:pt x="21" y="1"/>
                    </a:cubicBezTo>
                    <a:cubicBezTo>
                      <a:pt x="21" y="1"/>
                      <a:pt x="21" y="0"/>
                      <a:pt x="21" y="0"/>
                    </a:cubicBezTo>
                    <a:cubicBezTo>
                      <a:pt x="21" y="1"/>
                      <a:pt x="21" y="1"/>
                      <a:pt x="21" y="1"/>
                    </a:cubicBezTo>
                    <a:cubicBezTo>
                      <a:pt x="20" y="1"/>
                      <a:pt x="20" y="1"/>
                      <a:pt x="20" y="1"/>
                    </a:cubicBezTo>
                    <a:cubicBezTo>
                      <a:pt x="19" y="2"/>
                      <a:pt x="19" y="3"/>
                      <a:pt x="18" y="3"/>
                    </a:cubicBezTo>
                    <a:cubicBezTo>
                      <a:pt x="18" y="3"/>
                      <a:pt x="15" y="3"/>
                      <a:pt x="13" y="3"/>
                    </a:cubicBezTo>
                    <a:cubicBezTo>
                      <a:pt x="13" y="3"/>
                      <a:pt x="14" y="3"/>
                      <a:pt x="14" y="3"/>
                    </a:cubicBezTo>
                    <a:cubicBezTo>
                      <a:pt x="14" y="3"/>
                      <a:pt x="13" y="3"/>
                      <a:pt x="13" y="5"/>
                    </a:cubicBezTo>
                    <a:cubicBezTo>
                      <a:pt x="13" y="7"/>
                      <a:pt x="12" y="9"/>
                      <a:pt x="11" y="11"/>
                    </a:cubicBezTo>
                    <a:cubicBezTo>
                      <a:pt x="10" y="13"/>
                      <a:pt x="6" y="25"/>
                      <a:pt x="5" y="26"/>
                    </a:cubicBezTo>
                    <a:cubicBezTo>
                      <a:pt x="4" y="28"/>
                      <a:pt x="4" y="29"/>
                      <a:pt x="3" y="29"/>
                    </a:cubicBezTo>
                    <a:cubicBezTo>
                      <a:pt x="2" y="30"/>
                      <a:pt x="1" y="31"/>
                      <a:pt x="1" y="32"/>
                    </a:cubicBezTo>
                    <a:cubicBezTo>
                      <a:pt x="0" y="33"/>
                      <a:pt x="0" y="32"/>
                      <a:pt x="0" y="32"/>
                    </a:cubicBezTo>
                    <a:cubicBezTo>
                      <a:pt x="0" y="35"/>
                      <a:pt x="2" y="38"/>
                      <a:pt x="2" y="40"/>
                    </a:cubicBezTo>
                    <a:cubicBezTo>
                      <a:pt x="3" y="42"/>
                      <a:pt x="8" y="58"/>
                      <a:pt x="10" y="62"/>
                    </a:cubicBezTo>
                    <a:cubicBezTo>
                      <a:pt x="10" y="62"/>
                      <a:pt x="10" y="62"/>
                      <a:pt x="10" y="62"/>
                    </a:cubicBezTo>
                    <a:cubicBezTo>
                      <a:pt x="10" y="62"/>
                      <a:pt x="11" y="61"/>
                      <a:pt x="11" y="61"/>
                    </a:cubicBezTo>
                    <a:cubicBezTo>
                      <a:pt x="12" y="57"/>
                      <a:pt x="14" y="48"/>
                      <a:pt x="14" y="47"/>
                    </a:cubicBezTo>
                    <a:cubicBezTo>
                      <a:pt x="15" y="46"/>
                      <a:pt x="16" y="40"/>
                      <a:pt x="17" y="39"/>
                    </a:cubicBezTo>
                    <a:cubicBezTo>
                      <a:pt x="17" y="38"/>
                      <a:pt x="18" y="32"/>
                      <a:pt x="18" y="31"/>
                    </a:cubicBezTo>
                    <a:cubicBezTo>
                      <a:pt x="19" y="31"/>
                      <a:pt x="18" y="29"/>
                      <a:pt x="19" y="28"/>
                    </a:cubicBezTo>
                    <a:cubicBezTo>
                      <a:pt x="19" y="27"/>
                      <a:pt x="20" y="20"/>
                      <a:pt x="20" y="19"/>
                    </a:cubicBezTo>
                    <a:cubicBezTo>
                      <a:pt x="20" y="17"/>
                      <a:pt x="20" y="15"/>
                      <a:pt x="20" y="14"/>
                    </a:cubicBezTo>
                    <a:cubicBezTo>
                      <a:pt x="20" y="13"/>
                      <a:pt x="20" y="11"/>
                      <a:pt x="21"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88" name="Freeform 598">
                <a:extLst>
                  <a:ext uri="{FF2B5EF4-FFF2-40B4-BE49-F238E27FC236}">
                    <a16:creationId xmlns:a16="http://schemas.microsoft.com/office/drawing/2014/main" id="{4F6C34D9-BF45-4D59-A058-8D0AA60E0DF6}"/>
                  </a:ext>
                </a:extLst>
              </p:cNvPr>
              <p:cNvSpPr>
                <a:spLocks/>
              </p:cNvSpPr>
              <p:nvPr/>
            </p:nvSpPr>
            <p:spPr bwMode="auto">
              <a:xfrm>
                <a:off x="4030" y="1817"/>
                <a:ext cx="10" cy="2"/>
              </a:xfrm>
              <a:custGeom>
                <a:avLst/>
                <a:gdLst>
                  <a:gd name="T0" fmla="*/ 2 w 7"/>
                  <a:gd name="T1" fmla="*/ 1 h 1"/>
                  <a:gd name="T2" fmla="*/ 4 w 7"/>
                  <a:gd name="T3" fmla="*/ 0 h 1"/>
                  <a:gd name="T4" fmla="*/ 2 w 7"/>
                  <a:gd name="T5" fmla="*/ 1 h 1"/>
                </a:gdLst>
                <a:ahLst/>
                <a:cxnLst>
                  <a:cxn ang="0">
                    <a:pos x="T0" y="T1"/>
                  </a:cxn>
                  <a:cxn ang="0">
                    <a:pos x="T2" y="T3"/>
                  </a:cxn>
                  <a:cxn ang="0">
                    <a:pos x="T4" y="T5"/>
                  </a:cxn>
                </a:cxnLst>
                <a:rect l="0" t="0" r="r" b="b"/>
                <a:pathLst>
                  <a:path w="7" h="1">
                    <a:moveTo>
                      <a:pt x="2" y="1"/>
                    </a:moveTo>
                    <a:cubicBezTo>
                      <a:pt x="2" y="1"/>
                      <a:pt x="7" y="0"/>
                      <a:pt x="4" y="0"/>
                    </a:cubicBezTo>
                    <a:cubicBezTo>
                      <a:pt x="1" y="0"/>
                      <a:pt x="0" y="1"/>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89" name="Freeform 599">
                <a:extLst>
                  <a:ext uri="{FF2B5EF4-FFF2-40B4-BE49-F238E27FC236}">
                    <a16:creationId xmlns:a16="http://schemas.microsoft.com/office/drawing/2014/main" id="{BC1B244A-8944-45FD-9EE7-A4508E9D58C3}"/>
                  </a:ext>
                </a:extLst>
              </p:cNvPr>
              <p:cNvSpPr>
                <a:spLocks/>
              </p:cNvSpPr>
              <p:nvPr/>
            </p:nvSpPr>
            <p:spPr bwMode="auto">
              <a:xfrm>
                <a:off x="4037" y="1771"/>
                <a:ext cx="65" cy="51"/>
              </a:xfrm>
              <a:custGeom>
                <a:avLst/>
                <a:gdLst>
                  <a:gd name="T0" fmla="*/ 8 w 47"/>
                  <a:gd name="T1" fmla="*/ 26 h 37"/>
                  <a:gd name="T2" fmla="*/ 11 w 47"/>
                  <a:gd name="T3" fmla="*/ 26 h 37"/>
                  <a:gd name="T4" fmla="*/ 8 w 47"/>
                  <a:gd name="T5" fmla="*/ 28 h 37"/>
                  <a:gd name="T6" fmla="*/ 3 w 47"/>
                  <a:gd name="T7" fmla="*/ 33 h 37"/>
                  <a:gd name="T8" fmla="*/ 5 w 47"/>
                  <a:gd name="T9" fmla="*/ 33 h 37"/>
                  <a:gd name="T10" fmla="*/ 15 w 47"/>
                  <a:gd name="T11" fmla="*/ 26 h 37"/>
                  <a:gd name="T12" fmla="*/ 22 w 47"/>
                  <a:gd name="T13" fmla="*/ 21 h 37"/>
                  <a:gd name="T14" fmla="*/ 28 w 47"/>
                  <a:gd name="T15" fmla="*/ 19 h 37"/>
                  <a:gd name="T16" fmla="*/ 37 w 47"/>
                  <a:gd name="T17" fmla="*/ 18 h 37"/>
                  <a:gd name="T18" fmla="*/ 45 w 47"/>
                  <a:gd name="T19" fmla="*/ 18 h 37"/>
                  <a:gd name="T20" fmla="*/ 45 w 47"/>
                  <a:gd name="T21" fmla="*/ 14 h 37"/>
                  <a:gd name="T22" fmla="*/ 31 w 47"/>
                  <a:gd name="T23" fmla="*/ 7 h 37"/>
                  <a:gd name="T24" fmla="*/ 30 w 47"/>
                  <a:gd name="T25" fmla="*/ 1 h 37"/>
                  <a:gd name="T26" fmla="*/ 24 w 47"/>
                  <a:gd name="T27" fmla="*/ 2 h 37"/>
                  <a:gd name="T28" fmla="*/ 22 w 47"/>
                  <a:gd name="T29" fmla="*/ 2 h 37"/>
                  <a:gd name="T30" fmla="*/ 20 w 47"/>
                  <a:gd name="T31" fmla="*/ 0 h 37"/>
                  <a:gd name="T32" fmla="*/ 19 w 47"/>
                  <a:gd name="T33" fmla="*/ 0 h 37"/>
                  <a:gd name="T34" fmla="*/ 9 w 47"/>
                  <a:gd name="T35" fmla="*/ 3 h 37"/>
                  <a:gd name="T36" fmla="*/ 8 w 47"/>
                  <a:gd name="T37" fmla="*/ 3 h 37"/>
                  <a:gd name="T38" fmla="*/ 7 w 47"/>
                  <a:gd name="T39" fmla="*/ 4 h 37"/>
                  <a:gd name="T40" fmla="*/ 5 w 47"/>
                  <a:gd name="T41" fmla="*/ 6 h 37"/>
                  <a:gd name="T42" fmla="*/ 7 w 47"/>
                  <a:gd name="T43" fmla="*/ 7 h 37"/>
                  <a:gd name="T44" fmla="*/ 9 w 47"/>
                  <a:gd name="T45" fmla="*/ 11 h 37"/>
                  <a:gd name="T46" fmla="*/ 8 w 47"/>
                  <a:gd name="T47" fmla="*/ 12 h 37"/>
                  <a:gd name="T48" fmla="*/ 6 w 47"/>
                  <a:gd name="T49" fmla="*/ 14 h 37"/>
                  <a:gd name="T50" fmla="*/ 5 w 47"/>
                  <a:gd name="T51" fmla="*/ 17 h 37"/>
                  <a:gd name="T52" fmla="*/ 5 w 47"/>
                  <a:gd name="T53" fmla="*/ 19 h 37"/>
                  <a:gd name="T54" fmla="*/ 3 w 47"/>
                  <a:gd name="T55" fmla="*/ 21 h 37"/>
                  <a:gd name="T56" fmla="*/ 2 w 47"/>
                  <a:gd name="T57" fmla="*/ 23 h 37"/>
                  <a:gd name="T58" fmla="*/ 1 w 47"/>
                  <a:gd name="T59" fmla="*/ 23 h 37"/>
                  <a:gd name="T60" fmla="*/ 1 w 47"/>
                  <a:gd name="T61" fmla="*/ 24 h 37"/>
                  <a:gd name="T62" fmla="*/ 8 w 47"/>
                  <a:gd name="T63" fmla="*/ 2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7" h="37">
                    <a:moveTo>
                      <a:pt x="8" y="26"/>
                    </a:moveTo>
                    <a:cubicBezTo>
                      <a:pt x="8" y="26"/>
                      <a:pt x="11" y="25"/>
                      <a:pt x="11" y="26"/>
                    </a:cubicBezTo>
                    <a:cubicBezTo>
                      <a:pt x="11" y="27"/>
                      <a:pt x="10" y="28"/>
                      <a:pt x="8" y="28"/>
                    </a:cubicBezTo>
                    <a:cubicBezTo>
                      <a:pt x="7" y="29"/>
                      <a:pt x="3" y="30"/>
                      <a:pt x="3" y="33"/>
                    </a:cubicBezTo>
                    <a:cubicBezTo>
                      <a:pt x="2" y="37"/>
                      <a:pt x="2" y="36"/>
                      <a:pt x="5" y="33"/>
                    </a:cubicBezTo>
                    <a:cubicBezTo>
                      <a:pt x="8" y="31"/>
                      <a:pt x="13" y="28"/>
                      <a:pt x="15" y="26"/>
                    </a:cubicBezTo>
                    <a:cubicBezTo>
                      <a:pt x="17" y="25"/>
                      <a:pt x="21" y="22"/>
                      <a:pt x="22" y="21"/>
                    </a:cubicBezTo>
                    <a:cubicBezTo>
                      <a:pt x="23" y="20"/>
                      <a:pt x="24" y="19"/>
                      <a:pt x="28" y="19"/>
                    </a:cubicBezTo>
                    <a:cubicBezTo>
                      <a:pt x="32" y="18"/>
                      <a:pt x="35" y="18"/>
                      <a:pt x="37" y="18"/>
                    </a:cubicBezTo>
                    <a:cubicBezTo>
                      <a:pt x="39" y="19"/>
                      <a:pt x="43" y="21"/>
                      <a:pt x="45" y="18"/>
                    </a:cubicBezTo>
                    <a:cubicBezTo>
                      <a:pt x="47" y="15"/>
                      <a:pt x="47" y="14"/>
                      <a:pt x="45" y="14"/>
                    </a:cubicBezTo>
                    <a:cubicBezTo>
                      <a:pt x="44" y="14"/>
                      <a:pt x="32" y="10"/>
                      <a:pt x="31" y="7"/>
                    </a:cubicBezTo>
                    <a:cubicBezTo>
                      <a:pt x="30" y="5"/>
                      <a:pt x="30" y="3"/>
                      <a:pt x="30" y="1"/>
                    </a:cubicBezTo>
                    <a:cubicBezTo>
                      <a:pt x="24" y="2"/>
                      <a:pt x="24" y="2"/>
                      <a:pt x="24" y="2"/>
                    </a:cubicBezTo>
                    <a:cubicBezTo>
                      <a:pt x="24" y="2"/>
                      <a:pt x="22" y="2"/>
                      <a:pt x="22" y="2"/>
                    </a:cubicBezTo>
                    <a:cubicBezTo>
                      <a:pt x="22" y="2"/>
                      <a:pt x="20" y="0"/>
                      <a:pt x="20" y="0"/>
                    </a:cubicBezTo>
                    <a:cubicBezTo>
                      <a:pt x="20" y="0"/>
                      <a:pt x="19" y="0"/>
                      <a:pt x="19" y="0"/>
                    </a:cubicBezTo>
                    <a:cubicBezTo>
                      <a:pt x="18" y="0"/>
                      <a:pt x="9" y="3"/>
                      <a:pt x="9" y="3"/>
                    </a:cubicBezTo>
                    <a:cubicBezTo>
                      <a:pt x="9" y="3"/>
                      <a:pt x="8" y="3"/>
                      <a:pt x="8" y="3"/>
                    </a:cubicBezTo>
                    <a:cubicBezTo>
                      <a:pt x="8" y="3"/>
                      <a:pt x="8" y="4"/>
                      <a:pt x="7" y="4"/>
                    </a:cubicBezTo>
                    <a:cubicBezTo>
                      <a:pt x="7" y="4"/>
                      <a:pt x="6" y="6"/>
                      <a:pt x="5" y="6"/>
                    </a:cubicBezTo>
                    <a:cubicBezTo>
                      <a:pt x="6" y="6"/>
                      <a:pt x="6" y="7"/>
                      <a:pt x="7" y="7"/>
                    </a:cubicBezTo>
                    <a:cubicBezTo>
                      <a:pt x="8" y="8"/>
                      <a:pt x="9" y="10"/>
                      <a:pt x="9" y="11"/>
                    </a:cubicBezTo>
                    <a:cubicBezTo>
                      <a:pt x="9" y="11"/>
                      <a:pt x="9" y="12"/>
                      <a:pt x="8" y="12"/>
                    </a:cubicBezTo>
                    <a:cubicBezTo>
                      <a:pt x="7" y="13"/>
                      <a:pt x="7" y="13"/>
                      <a:pt x="6" y="14"/>
                    </a:cubicBezTo>
                    <a:cubicBezTo>
                      <a:pt x="4" y="15"/>
                      <a:pt x="5" y="17"/>
                      <a:pt x="5" y="17"/>
                    </a:cubicBezTo>
                    <a:cubicBezTo>
                      <a:pt x="5" y="18"/>
                      <a:pt x="5" y="19"/>
                      <a:pt x="5" y="19"/>
                    </a:cubicBezTo>
                    <a:cubicBezTo>
                      <a:pt x="5" y="19"/>
                      <a:pt x="3" y="21"/>
                      <a:pt x="3" y="21"/>
                    </a:cubicBezTo>
                    <a:cubicBezTo>
                      <a:pt x="2" y="22"/>
                      <a:pt x="2" y="23"/>
                      <a:pt x="2" y="23"/>
                    </a:cubicBezTo>
                    <a:cubicBezTo>
                      <a:pt x="1" y="23"/>
                      <a:pt x="1" y="23"/>
                      <a:pt x="1" y="23"/>
                    </a:cubicBezTo>
                    <a:cubicBezTo>
                      <a:pt x="1" y="24"/>
                      <a:pt x="1" y="24"/>
                      <a:pt x="1" y="24"/>
                    </a:cubicBezTo>
                    <a:cubicBezTo>
                      <a:pt x="0" y="25"/>
                      <a:pt x="0" y="27"/>
                      <a:pt x="8" y="2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90" name="Freeform 600">
                <a:extLst>
                  <a:ext uri="{FF2B5EF4-FFF2-40B4-BE49-F238E27FC236}">
                    <a16:creationId xmlns:a16="http://schemas.microsoft.com/office/drawing/2014/main" id="{13791941-8304-453E-974B-0C53B557A2D8}"/>
                  </a:ext>
                </a:extLst>
              </p:cNvPr>
              <p:cNvSpPr>
                <a:spLocks/>
              </p:cNvSpPr>
              <p:nvPr/>
            </p:nvSpPr>
            <p:spPr bwMode="auto">
              <a:xfrm>
                <a:off x="4037" y="1771"/>
                <a:ext cx="386" cy="149"/>
              </a:xfrm>
              <a:custGeom>
                <a:avLst/>
                <a:gdLst>
                  <a:gd name="T0" fmla="*/ 255 w 279"/>
                  <a:gd name="T1" fmla="*/ 14 h 109"/>
                  <a:gd name="T2" fmla="*/ 247 w 279"/>
                  <a:gd name="T3" fmla="*/ 8 h 109"/>
                  <a:gd name="T4" fmla="*/ 240 w 279"/>
                  <a:gd name="T5" fmla="*/ 10 h 109"/>
                  <a:gd name="T6" fmla="*/ 232 w 279"/>
                  <a:gd name="T7" fmla="*/ 10 h 109"/>
                  <a:gd name="T8" fmla="*/ 221 w 279"/>
                  <a:gd name="T9" fmla="*/ 15 h 109"/>
                  <a:gd name="T10" fmla="*/ 201 w 279"/>
                  <a:gd name="T11" fmla="*/ 18 h 109"/>
                  <a:gd name="T12" fmla="*/ 170 w 279"/>
                  <a:gd name="T13" fmla="*/ 18 h 109"/>
                  <a:gd name="T14" fmla="*/ 145 w 279"/>
                  <a:gd name="T15" fmla="*/ 7 h 109"/>
                  <a:gd name="T16" fmla="*/ 132 w 279"/>
                  <a:gd name="T17" fmla="*/ 1 h 109"/>
                  <a:gd name="T18" fmla="*/ 99 w 279"/>
                  <a:gd name="T19" fmla="*/ 4 h 109"/>
                  <a:gd name="T20" fmla="*/ 76 w 279"/>
                  <a:gd name="T21" fmla="*/ 17 h 109"/>
                  <a:gd name="T22" fmla="*/ 46 w 279"/>
                  <a:gd name="T23" fmla="*/ 17 h 109"/>
                  <a:gd name="T24" fmla="*/ 43 w 279"/>
                  <a:gd name="T25" fmla="*/ 28 h 109"/>
                  <a:gd name="T26" fmla="*/ 28 w 279"/>
                  <a:gd name="T27" fmla="*/ 29 h 109"/>
                  <a:gd name="T28" fmla="*/ 24 w 279"/>
                  <a:gd name="T29" fmla="*/ 31 h 109"/>
                  <a:gd name="T30" fmla="*/ 2 w 279"/>
                  <a:gd name="T31" fmla="*/ 39 h 109"/>
                  <a:gd name="T32" fmla="*/ 7 w 279"/>
                  <a:gd name="T33" fmla="*/ 45 h 109"/>
                  <a:gd name="T34" fmla="*/ 12 w 279"/>
                  <a:gd name="T35" fmla="*/ 53 h 109"/>
                  <a:gd name="T36" fmla="*/ 11 w 279"/>
                  <a:gd name="T37" fmla="*/ 60 h 109"/>
                  <a:gd name="T38" fmla="*/ 7 w 279"/>
                  <a:gd name="T39" fmla="*/ 60 h 109"/>
                  <a:gd name="T40" fmla="*/ 4 w 279"/>
                  <a:gd name="T41" fmla="*/ 66 h 109"/>
                  <a:gd name="T42" fmla="*/ 17 w 279"/>
                  <a:gd name="T43" fmla="*/ 71 h 109"/>
                  <a:gd name="T44" fmla="*/ 19 w 279"/>
                  <a:gd name="T45" fmla="*/ 82 h 109"/>
                  <a:gd name="T46" fmla="*/ 20 w 279"/>
                  <a:gd name="T47" fmla="*/ 89 h 109"/>
                  <a:gd name="T48" fmla="*/ 27 w 279"/>
                  <a:gd name="T49" fmla="*/ 92 h 109"/>
                  <a:gd name="T50" fmla="*/ 30 w 279"/>
                  <a:gd name="T51" fmla="*/ 93 h 109"/>
                  <a:gd name="T52" fmla="*/ 39 w 279"/>
                  <a:gd name="T53" fmla="*/ 92 h 109"/>
                  <a:gd name="T54" fmla="*/ 51 w 279"/>
                  <a:gd name="T55" fmla="*/ 101 h 109"/>
                  <a:gd name="T56" fmla="*/ 71 w 279"/>
                  <a:gd name="T57" fmla="*/ 90 h 109"/>
                  <a:gd name="T58" fmla="*/ 120 w 279"/>
                  <a:gd name="T59" fmla="*/ 99 h 109"/>
                  <a:gd name="T60" fmla="*/ 142 w 279"/>
                  <a:gd name="T61" fmla="*/ 95 h 109"/>
                  <a:gd name="T62" fmla="*/ 148 w 279"/>
                  <a:gd name="T63" fmla="*/ 106 h 109"/>
                  <a:gd name="T64" fmla="*/ 151 w 279"/>
                  <a:gd name="T65" fmla="*/ 108 h 109"/>
                  <a:gd name="T66" fmla="*/ 154 w 279"/>
                  <a:gd name="T67" fmla="*/ 105 h 109"/>
                  <a:gd name="T68" fmla="*/ 158 w 279"/>
                  <a:gd name="T69" fmla="*/ 100 h 109"/>
                  <a:gd name="T70" fmla="*/ 158 w 279"/>
                  <a:gd name="T71" fmla="*/ 92 h 109"/>
                  <a:gd name="T72" fmla="*/ 168 w 279"/>
                  <a:gd name="T73" fmla="*/ 94 h 109"/>
                  <a:gd name="T74" fmla="*/ 173 w 279"/>
                  <a:gd name="T75" fmla="*/ 93 h 109"/>
                  <a:gd name="T76" fmla="*/ 185 w 279"/>
                  <a:gd name="T77" fmla="*/ 91 h 109"/>
                  <a:gd name="T78" fmla="*/ 199 w 279"/>
                  <a:gd name="T79" fmla="*/ 94 h 109"/>
                  <a:gd name="T80" fmla="*/ 231 w 279"/>
                  <a:gd name="T81" fmla="*/ 87 h 109"/>
                  <a:gd name="T82" fmla="*/ 243 w 279"/>
                  <a:gd name="T83" fmla="*/ 87 h 109"/>
                  <a:gd name="T84" fmla="*/ 255 w 279"/>
                  <a:gd name="T85" fmla="*/ 82 h 109"/>
                  <a:gd name="T86" fmla="*/ 268 w 279"/>
                  <a:gd name="T87" fmla="*/ 83 h 109"/>
                  <a:gd name="T88" fmla="*/ 279 w 279"/>
                  <a:gd name="T89" fmla="*/ 86 h 109"/>
                  <a:gd name="T90" fmla="*/ 276 w 279"/>
                  <a:gd name="T91" fmla="*/ 76 h 109"/>
                  <a:gd name="T92" fmla="*/ 271 w 279"/>
                  <a:gd name="T93" fmla="*/ 71 h 109"/>
                  <a:gd name="T94" fmla="*/ 271 w 279"/>
                  <a:gd name="T95" fmla="*/ 57 h 109"/>
                  <a:gd name="T96" fmla="*/ 272 w 279"/>
                  <a:gd name="T97" fmla="*/ 46 h 109"/>
                  <a:gd name="T98" fmla="*/ 279 w 279"/>
                  <a:gd name="T99" fmla="*/ 43 h 109"/>
                  <a:gd name="T100" fmla="*/ 273 w 279"/>
                  <a:gd name="T101" fmla="*/ 37 h 109"/>
                  <a:gd name="T102" fmla="*/ 262 w 279"/>
                  <a:gd name="T103" fmla="*/ 32 h 109"/>
                  <a:gd name="T104" fmla="*/ 262 w 279"/>
                  <a:gd name="T105" fmla="*/ 26 h 109"/>
                  <a:gd name="T106" fmla="*/ 259 w 279"/>
                  <a:gd name="T107" fmla="*/ 1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79" h="109">
                    <a:moveTo>
                      <a:pt x="259" y="17"/>
                    </a:moveTo>
                    <a:cubicBezTo>
                      <a:pt x="259" y="17"/>
                      <a:pt x="259" y="16"/>
                      <a:pt x="259" y="16"/>
                    </a:cubicBezTo>
                    <a:cubicBezTo>
                      <a:pt x="258" y="16"/>
                      <a:pt x="258" y="15"/>
                      <a:pt x="258" y="15"/>
                    </a:cubicBezTo>
                    <a:cubicBezTo>
                      <a:pt x="257" y="15"/>
                      <a:pt x="256" y="14"/>
                      <a:pt x="255" y="14"/>
                    </a:cubicBezTo>
                    <a:cubicBezTo>
                      <a:pt x="255" y="14"/>
                      <a:pt x="254" y="13"/>
                      <a:pt x="253" y="13"/>
                    </a:cubicBezTo>
                    <a:cubicBezTo>
                      <a:pt x="253" y="12"/>
                      <a:pt x="252" y="12"/>
                      <a:pt x="252" y="12"/>
                    </a:cubicBezTo>
                    <a:cubicBezTo>
                      <a:pt x="252" y="12"/>
                      <a:pt x="250" y="9"/>
                      <a:pt x="250" y="9"/>
                    </a:cubicBezTo>
                    <a:cubicBezTo>
                      <a:pt x="249" y="8"/>
                      <a:pt x="247" y="8"/>
                      <a:pt x="247" y="8"/>
                    </a:cubicBezTo>
                    <a:cubicBezTo>
                      <a:pt x="246" y="8"/>
                      <a:pt x="246" y="9"/>
                      <a:pt x="246" y="9"/>
                    </a:cubicBezTo>
                    <a:cubicBezTo>
                      <a:pt x="246" y="9"/>
                      <a:pt x="245" y="10"/>
                      <a:pt x="245" y="11"/>
                    </a:cubicBezTo>
                    <a:cubicBezTo>
                      <a:pt x="245" y="11"/>
                      <a:pt x="244" y="11"/>
                      <a:pt x="244" y="11"/>
                    </a:cubicBezTo>
                    <a:cubicBezTo>
                      <a:pt x="244" y="11"/>
                      <a:pt x="240" y="10"/>
                      <a:pt x="240" y="10"/>
                    </a:cubicBezTo>
                    <a:cubicBezTo>
                      <a:pt x="239" y="10"/>
                      <a:pt x="239" y="10"/>
                      <a:pt x="239" y="10"/>
                    </a:cubicBezTo>
                    <a:cubicBezTo>
                      <a:pt x="238" y="10"/>
                      <a:pt x="238" y="10"/>
                      <a:pt x="238" y="10"/>
                    </a:cubicBezTo>
                    <a:cubicBezTo>
                      <a:pt x="238" y="10"/>
                      <a:pt x="237" y="10"/>
                      <a:pt x="237" y="10"/>
                    </a:cubicBezTo>
                    <a:cubicBezTo>
                      <a:pt x="236" y="10"/>
                      <a:pt x="233" y="10"/>
                      <a:pt x="232" y="10"/>
                    </a:cubicBezTo>
                    <a:cubicBezTo>
                      <a:pt x="232" y="10"/>
                      <a:pt x="231" y="10"/>
                      <a:pt x="231" y="10"/>
                    </a:cubicBezTo>
                    <a:cubicBezTo>
                      <a:pt x="231" y="10"/>
                      <a:pt x="231" y="10"/>
                      <a:pt x="231" y="10"/>
                    </a:cubicBezTo>
                    <a:cubicBezTo>
                      <a:pt x="230" y="10"/>
                      <a:pt x="229" y="11"/>
                      <a:pt x="228" y="12"/>
                    </a:cubicBezTo>
                    <a:cubicBezTo>
                      <a:pt x="223" y="15"/>
                      <a:pt x="223" y="15"/>
                      <a:pt x="221" y="15"/>
                    </a:cubicBezTo>
                    <a:cubicBezTo>
                      <a:pt x="220" y="16"/>
                      <a:pt x="219" y="16"/>
                      <a:pt x="218" y="17"/>
                    </a:cubicBezTo>
                    <a:cubicBezTo>
                      <a:pt x="216" y="18"/>
                      <a:pt x="211" y="20"/>
                      <a:pt x="210" y="20"/>
                    </a:cubicBezTo>
                    <a:cubicBezTo>
                      <a:pt x="208" y="20"/>
                      <a:pt x="209" y="19"/>
                      <a:pt x="207" y="20"/>
                    </a:cubicBezTo>
                    <a:cubicBezTo>
                      <a:pt x="205" y="20"/>
                      <a:pt x="202" y="19"/>
                      <a:pt x="201" y="18"/>
                    </a:cubicBezTo>
                    <a:cubicBezTo>
                      <a:pt x="200" y="18"/>
                      <a:pt x="199" y="17"/>
                      <a:pt x="198" y="18"/>
                    </a:cubicBezTo>
                    <a:cubicBezTo>
                      <a:pt x="197" y="19"/>
                      <a:pt x="197" y="17"/>
                      <a:pt x="194" y="18"/>
                    </a:cubicBezTo>
                    <a:cubicBezTo>
                      <a:pt x="191" y="19"/>
                      <a:pt x="184" y="21"/>
                      <a:pt x="179" y="19"/>
                    </a:cubicBezTo>
                    <a:cubicBezTo>
                      <a:pt x="173" y="17"/>
                      <a:pt x="173" y="19"/>
                      <a:pt x="170" y="18"/>
                    </a:cubicBezTo>
                    <a:cubicBezTo>
                      <a:pt x="168" y="17"/>
                      <a:pt x="164" y="15"/>
                      <a:pt x="162" y="14"/>
                    </a:cubicBezTo>
                    <a:cubicBezTo>
                      <a:pt x="161" y="13"/>
                      <a:pt x="161" y="12"/>
                      <a:pt x="159" y="13"/>
                    </a:cubicBezTo>
                    <a:cubicBezTo>
                      <a:pt x="156" y="14"/>
                      <a:pt x="152" y="15"/>
                      <a:pt x="150" y="10"/>
                    </a:cubicBezTo>
                    <a:cubicBezTo>
                      <a:pt x="148" y="5"/>
                      <a:pt x="148" y="6"/>
                      <a:pt x="145" y="7"/>
                    </a:cubicBezTo>
                    <a:cubicBezTo>
                      <a:pt x="142" y="8"/>
                      <a:pt x="140" y="8"/>
                      <a:pt x="136" y="4"/>
                    </a:cubicBezTo>
                    <a:cubicBezTo>
                      <a:pt x="133" y="1"/>
                      <a:pt x="136" y="1"/>
                      <a:pt x="137" y="1"/>
                    </a:cubicBezTo>
                    <a:cubicBezTo>
                      <a:pt x="138" y="1"/>
                      <a:pt x="137" y="0"/>
                      <a:pt x="136" y="0"/>
                    </a:cubicBezTo>
                    <a:cubicBezTo>
                      <a:pt x="134" y="1"/>
                      <a:pt x="133" y="0"/>
                      <a:pt x="132" y="1"/>
                    </a:cubicBezTo>
                    <a:cubicBezTo>
                      <a:pt x="131" y="2"/>
                      <a:pt x="129" y="2"/>
                      <a:pt x="127" y="2"/>
                    </a:cubicBezTo>
                    <a:cubicBezTo>
                      <a:pt x="125" y="2"/>
                      <a:pt x="116" y="1"/>
                      <a:pt x="114" y="1"/>
                    </a:cubicBezTo>
                    <a:cubicBezTo>
                      <a:pt x="112" y="1"/>
                      <a:pt x="107" y="0"/>
                      <a:pt x="105" y="2"/>
                    </a:cubicBezTo>
                    <a:cubicBezTo>
                      <a:pt x="102" y="4"/>
                      <a:pt x="100" y="3"/>
                      <a:pt x="99" y="4"/>
                    </a:cubicBezTo>
                    <a:cubicBezTo>
                      <a:pt x="98" y="5"/>
                      <a:pt x="93" y="6"/>
                      <a:pt x="91" y="8"/>
                    </a:cubicBezTo>
                    <a:cubicBezTo>
                      <a:pt x="89" y="10"/>
                      <a:pt x="86" y="11"/>
                      <a:pt x="85" y="11"/>
                    </a:cubicBezTo>
                    <a:cubicBezTo>
                      <a:pt x="84" y="12"/>
                      <a:pt x="81" y="15"/>
                      <a:pt x="80" y="16"/>
                    </a:cubicBezTo>
                    <a:cubicBezTo>
                      <a:pt x="80" y="16"/>
                      <a:pt x="78" y="17"/>
                      <a:pt x="76" y="17"/>
                    </a:cubicBezTo>
                    <a:cubicBezTo>
                      <a:pt x="74" y="18"/>
                      <a:pt x="69" y="17"/>
                      <a:pt x="67" y="17"/>
                    </a:cubicBezTo>
                    <a:cubicBezTo>
                      <a:pt x="66" y="16"/>
                      <a:pt x="63" y="15"/>
                      <a:pt x="61" y="16"/>
                    </a:cubicBezTo>
                    <a:cubicBezTo>
                      <a:pt x="60" y="16"/>
                      <a:pt x="55" y="17"/>
                      <a:pt x="54" y="16"/>
                    </a:cubicBezTo>
                    <a:cubicBezTo>
                      <a:pt x="53" y="16"/>
                      <a:pt x="47" y="13"/>
                      <a:pt x="46" y="17"/>
                    </a:cubicBezTo>
                    <a:cubicBezTo>
                      <a:pt x="45" y="21"/>
                      <a:pt x="47" y="21"/>
                      <a:pt x="50" y="22"/>
                    </a:cubicBezTo>
                    <a:cubicBezTo>
                      <a:pt x="53" y="23"/>
                      <a:pt x="61" y="24"/>
                      <a:pt x="55" y="24"/>
                    </a:cubicBezTo>
                    <a:cubicBezTo>
                      <a:pt x="49" y="25"/>
                      <a:pt x="44" y="25"/>
                      <a:pt x="43" y="26"/>
                    </a:cubicBezTo>
                    <a:cubicBezTo>
                      <a:pt x="41" y="27"/>
                      <a:pt x="41" y="27"/>
                      <a:pt x="43" y="28"/>
                    </a:cubicBezTo>
                    <a:cubicBezTo>
                      <a:pt x="46" y="28"/>
                      <a:pt x="48" y="29"/>
                      <a:pt x="45" y="30"/>
                    </a:cubicBezTo>
                    <a:cubicBezTo>
                      <a:pt x="43" y="30"/>
                      <a:pt x="40" y="30"/>
                      <a:pt x="38" y="30"/>
                    </a:cubicBezTo>
                    <a:cubicBezTo>
                      <a:pt x="37" y="30"/>
                      <a:pt x="31" y="29"/>
                      <a:pt x="30" y="29"/>
                    </a:cubicBezTo>
                    <a:cubicBezTo>
                      <a:pt x="28" y="30"/>
                      <a:pt x="28" y="30"/>
                      <a:pt x="28" y="29"/>
                    </a:cubicBezTo>
                    <a:cubicBezTo>
                      <a:pt x="28" y="28"/>
                      <a:pt x="28" y="27"/>
                      <a:pt x="27" y="27"/>
                    </a:cubicBezTo>
                    <a:cubicBezTo>
                      <a:pt x="26" y="27"/>
                      <a:pt x="25" y="27"/>
                      <a:pt x="27" y="29"/>
                    </a:cubicBezTo>
                    <a:cubicBezTo>
                      <a:pt x="29" y="31"/>
                      <a:pt x="28" y="30"/>
                      <a:pt x="27" y="30"/>
                    </a:cubicBezTo>
                    <a:cubicBezTo>
                      <a:pt x="27" y="30"/>
                      <a:pt x="25" y="30"/>
                      <a:pt x="24" y="31"/>
                    </a:cubicBezTo>
                    <a:cubicBezTo>
                      <a:pt x="23" y="31"/>
                      <a:pt x="22" y="31"/>
                      <a:pt x="21" y="30"/>
                    </a:cubicBezTo>
                    <a:cubicBezTo>
                      <a:pt x="20" y="29"/>
                      <a:pt x="19" y="28"/>
                      <a:pt x="18" y="29"/>
                    </a:cubicBezTo>
                    <a:cubicBezTo>
                      <a:pt x="16" y="30"/>
                      <a:pt x="10" y="32"/>
                      <a:pt x="8" y="32"/>
                    </a:cubicBezTo>
                    <a:cubicBezTo>
                      <a:pt x="7" y="33"/>
                      <a:pt x="2" y="36"/>
                      <a:pt x="2" y="39"/>
                    </a:cubicBezTo>
                    <a:cubicBezTo>
                      <a:pt x="2" y="42"/>
                      <a:pt x="2" y="43"/>
                      <a:pt x="2" y="43"/>
                    </a:cubicBezTo>
                    <a:cubicBezTo>
                      <a:pt x="2" y="44"/>
                      <a:pt x="1" y="44"/>
                      <a:pt x="1" y="45"/>
                    </a:cubicBezTo>
                    <a:cubicBezTo>
                      <a:pt x="1" y="45"/>
                      <a:pt x="0" y="46"/>
                      <a:pt x="2" y="46"/>
                    </a:cubicBezTo>
                    <a:cubicBezTo>
                      <a:pt x="4" y="46"/>
                      <a:pt x="5" y="45"/>
                      <a:pt x="7" y="45"/>
                    </a:cubicBezTo>
                    <a:cubicBezTo>
                      <a:pt x="9" y="45"/>
                      <a:pt x="12" y="44"/>
                      <a:pt x="13" y="44"/>
                    </a:cubicBezTo>
                    <a:cubicBezTo>
                      <a:pt x="14" y="44"/>
                      <a:pt x="15" y="44"/>
                      <a:pt x="13" y="46"/>
                    </a:cubicBezTo>
                    <a:cubicBezTo>
                      <a:pt x="11" y="47"/>
                      <a:pt x="9" y="48"/>
                      <a:pt x="11" y="50"/>
                    </a:cubicBezTo>
                    <a:cubicBezTo>
                      <a:pt x="12" y="52"/>
                      <a:pt x="12" y="52"/>
                      <a:pt x="12" y="53"/>
                    </a:cubicBezTo>
                    <a:cubicBezTo>
                      <a:pt x="12" y="53"/>
                      <a:pt x="12" y="55"/>
                      <a:pt x="15" y="55"/>
                    </a:cubicBezTo>
                    <a:cubicBezTo>
                      <a:pt x="17" y="55"/>
                      <a:pt x="15" y="56"/>
                      <a:pt x="14" y="57"/>
                    </a:cubicBezTo>
                    <a:cubicBezTo>
                      <a:pt x="14" y="58"/>
                      <a:pt x="13" y="58"/>
                      <a:pt x="12" y="59"/>
                    </a:cubicBezTo>
                    <a:cubicBezTo>
                      <a:pt x="11" y="59"/>
                      <a:pt x="10" y="58"/>
                      <a:pt x="11" y="60"/>
                    </a:cubicBezTo>
                    <a:cubicBezTo>
                      <a:pt x="12" y="62"/>
                      <a:pt x="13" y="63"/>
                      <a:pt x="15" y="63"/>
                    </a:cubicBezTo>
                    <a:cubicBezTo>
                      <a:pt x="16" y="64"/>
                      <a:pt x="17" y="65"/>
                      <a:pt x="14" y="65"/>
                    </a:cubicBezTo>
                    <a:cubicBezTo>
                      <a:pt x="12" y="65"/>
                      <a:pt x="9" y="64"/>
                      <a:pt x="9" y="63"/>
                    </a:cubicBezTo>
                    <a:cubicBezTo>
                      <a:pt x="8" y="61"/>
                      <a:pt x="8" y="60"/>
                      <a:pt x="7" y="60"/>
                    </a:cubicBezTo>
                    <a:cubicBezTo>
                      <a:pt x="6" y="60"/>
                      <a:pt x="6" y="60"/>
                      <a:pt x="6" y="61"/>
                    </a:cubicBezTo>
                    <a:cubicBezTo>
                      <a:pt x="7" y="63"/>
                      <a:pt x="7" y="65"/>
                      <a:pt x="6" y="65"/>
                    </a:cubicBezTo>
                    <a:cubicBezTo>
                      <a:pt x="4" y="65"/>
                      <a:pt x="5" y="64"/>
                      <a:pt x="4" y="65"/>
                    </a:cubicBezTo>
                    <a:cubicBezTo>
                      <a:pt x="4" y="66"/>
                      <a:pt x="4" y="66"/>
                      <a:pt x="4" y="66"/>
                    </a:cubicBezTo>
                    <a:cubicBezTo>
                      <a:pt x="4" y="67"/>
                      <a:pt x="3" y="67"/>
                      <a:pt x="5" y="67"/>
                    </a:cubicBezTo>
                    <a:cubicBezTo>
                      <a:pt x="6" y="67"/>
                      <a:pt x="8" y="68"/>
                      <a:pt x="9" y="68"/>
                    </a:cubicBezTo>
                    <a:cubicBezTo>
                      <a:pt x="10" y="67"/>
                      <a:pt x="12" y="68"/>
                      <a:pt x="13" y="69"/>
                    </a:cubicBezTo>
                    <a:cubicBezTo>
                      <a:pt x="13" y="70"/>
                      <a:pt x="16" y="71"/>
                      <a:pt x="17" y="71"/>
                    </a:cubicBezTo>
                    <a:cubicBezTo>
                      <a:pt x="18" y="72"/>
                      <a:pt x="21" y="75"/>
                      <a:pt x="17" y="77"/>
                    </a:cubicBezTo>
                    <a:cubicBezTo>
                      <a:pt x="14" y="78"/>
                      <a:pt x="14" y="77"/>
                      <a:pt x="16" y="78"/>
                    </a:cubicBezTo>
                    <a:cubicBezTo>
                      <a:pt x="18" y="80"/>
                      <a:pt x="18" y="79"/>
                      <a:pt x="18" y="81"/>
                    </a:cubicBezTo>
                    <a:cubicBezTo>
                      <a:pt x="18" y="82"/>
                      <a:pt x="17" y="83"/>
                      <a:pt x="19" y="82"/>
                    </a:cubicBezTo>
                    <a:cubicBezTo>
                      <a:pt x="21" y="82"/>
                      <a:pt x="24" y="82"/>
                      <a:pt x="24" y="85"/>
                    </a:cubicBezTo>
                    <a:cubicBezTo>
                      <a:pt x="23" y="87"/>
                      <a:pt x="23" y="87"/>
                      <a:pt x="21" y="87"/>
                    </a:cubicBezTo>
                    <a:cubicBezTo>
                      <a:pt x="20" y="86"/>
                      <a:pt x="19" y="86"/>
                      <a:pt x="18" y="87"/>
                    </a:cubicBezTo>
                    <a:cubicBezTo>
                      <a:pt x="18" y="88"/>
                      <a:pt x="18" y="89"/>
                      <a:pt x="20" y="89"/>
                    </a:cubicBezTo>
                    <a:cubicBezTo>
                      <a:pt x="22" y="89"/>
                      <a:pt x="33" y="88"/>
                      <a:pt x="33" y="88"/>
                    </a:cubicBezTo>
                    <a:cubicBezTo>
                      <a:pt x="33" y="88"/>
                      <a:pt x="35" y="87"/>
                      <a:pt x="33" y="89"/>
                    </a:cubicBezTo>
                    <a:cubicBezTo>
                      <a:pt x="31" y="90"/>
                      <a:pt x="31" y="91"/>
                      <a:pt x="30" y="91"/>
                    </a:cubicBezTo>
                    <a:cubicBezTo>
                      <a:pt x="29" y="91"/>
                      <a:pt x="28" y="92"/>
                      <a:pt x="27" y="92"/>
                    </a:cubicBezTo>
                    <a:cubicBezTo>
                      <a:pt x="25" y="92"/>
                      <a:pt x="23" y="92"/>
                      <a:pt x="22" y="93"/>
                    </a:cubicBezTo>
                    <a:cubicBezTo>
                      <a:pt x="21" y="93"/>
                      <a:pt x="19" y="94"/>
                      <a:pt x="22" y="94"/>
                    </a:cubicBezTo>
                    <a:cubicBezTo>
                      <a:pt x="24" y="94"/>
                      <a:pt x="29" y="92"/>
                      <a:pt x="30" y="92"/>
                    </a:cubicBezTo>
                    <a:cubicBezTo>
                      <a:pt x="30" y="92"/>
                      <a:pt x="31" y="91"/>
                      <a:pt x="30" y="93"/>
                    </a:cubicBezTo>
                    <a:cubicBezTo>
                      <a:pt x="30" y="94"/>
                      <a:pt x="29" y="94"/>
                      <a:pt x="30" y="94"/>
                    </a:cubicBezTo>
                    <a:cubicBezTo>
                      <a:pt x="31" y="94"/>
                      <a:pt x="31" y="94"/>
                      <a:pt x="32" y="94"/>
                    </a:cubicBezTo>
                    <a:cubicBezTo>
                      <a:pt x="32" y="93"/>
                      <a:pt x="35" y="91"/>
                      <a:pt x="37" y="91"/>
                    </a:cubicBezTo>
                    <a:cubicBezTo>
                      <a:pt x="38" y="91"/>
                      <a:pt x="39" y="91"/>
                      <a:pt x="39" y="92"/>
                    </a:cubicBezTo>
                    <a:cubicBezTo>
                      <a:pt x="39" y="93"/>
                      <a:pt x="39" y="94"/>
                      <a:pt x="41" y="94"/>
                    </a:cubicBezTo>
                    <a:cubicBezTo>
                      <a:pt x="42" y="94"/>
                      <a:pt x="42" y="96"/>
                      <a:pt x="43" y="94"/>
                    </a:cubicBezTo>
                    <a:cubicBezTo>
                      <a:pt x="43" y="93"/>
                      <a:pt x="43" y="92"/>
                      <a:pt x="44" y="94"/>
                    </a:cubicBezTo>
                    <a:cubicBezTo>
                      <a:pt x="45" y="96"/>
                      <a:pt x="47" y="100"/>
                      <a:pt x="51" y="101"/>
                    </a:cubicBezTo>
                    <a:cubicBezTo>
                      <a:pt x="55" y="102"/>
                      <a:pt x="55" y="104"/>
                      <a:pt x="59" y="102"/>
                    </a:cubicBezTo>
                    <a:cubicBezTo>
                      <a:pt x="63" y="101"/>
                      <a:pt x="63" y="100"/>
                      <a:pt x="63" y="101"/>
                    </a:cubicBezTo>
                    <a:cubicBezTo>
                      <a:pt x="64" y="102"/>
                      <a:pt x="66" y="102"/>
                      <a:pt x="66" y="100"/>
                    </a:cubicBezTo>
                    <a:cubicBezTo>
                      <a:pt x="67" y="98"/>
                      <a:pt x="67" y="90"/>
                      <a:pt x="71" y="90"/>
                    </a:cubicBezTo>
                    <a:cubicBezTo>
                      <a:pt x="75" y="91"/>
                      <a:pt x="84" y="92"/>
                      <a:pt x="94" y="101"/>
                    </a:cubicBezTo>
                    <a:cubicBezTo>
                      <a:pt x="94" y="101"/>
                      <a:pt x="97" y="105"/>
                      <a:pt x="105" y="103"/>
                    </a:cubicBezTo>
                    <a:cubicBezTo>
                      <a:pt x="113" y="102"/>
                      <a:pt x="113" y="103"/>
                      <a:pt x="114" y="103"/>
                    </a:cubicBezTo>
                    <a:cubicBezTo>
                      <a:pt x="116" y="103"/>
                      <a:pt x="118" y="101"/>
                      <a:pt x="120" y="99"/>
                    </a:cubicBezTo>
                    <a:cubicBezTo>
                      <a:pt x="121" y="97"/>
                      <a:pt x="126" y="93"/>
                      <a:pt x="129" y="92"/>
                    </a:cubicBezTo>
                    <a:cubicBezTo>
                      <a:pt x="129" y="92"/>
                      <a:pt x="130" y="91"/>
                      <a:pt x="132" y="93"/>
                    </a:cubicBezTo>
                    <a:cubicBezTo>
                      <a:pt x="134" y="94"/>
                      <a:pt x="137" y="95"/>
                      <a:pt x="138" y="96"/>
                    </a:cubicBezTo>
                    <a:cubicBezTo>
                      <a:pt x="138" y="96"/>
                      <a:pt x="140" y="96"/>
                      <a:pt x="142" y="95"/>
                    </a:cubicBezTo>
                    <a:cubicBezTo>
                      <a:pt x="143" y="93"/>
                      <a:pt x="147" y="90"/>
                      <a:pt x="149" y="91"/>
                    </a:cubicBezTo>
                    <a:cubicBezTo>
                      <a:pt x="152" y="92"/>
                      <a:pt x="152" y="94"/>
                      <a:pt x="147" y="99"/>
                    </a:cubicBezTo>
                    <a:cubicBezTo>
                      <a:pt x="147" y="99"/>
                      <a:pt x="145" y="101"/>
                      <a:pt x="147" y="103"/>
                    </a:cubicBezTo>
                    <a:cubicBezTo>
                      <a:pt x="149" y="106"/>
                      <a:pt x="148" y="105"/>
                      <a:pt x="148" y="106"/>
                    </a:cubicBezTo>
                    <a:cubicBezTo>
                      <a:pt x="148" y="106"/>
                      <a:pt x="147" y="106"/>
                      <a:pt x="148" y="107"/>
                    </a:cubicBezTo>
                    <a:cubicBezTo>
                      <a:pt x="148" y="107"/>
                      <a:pt x="148" y="107"/>
                      <a:pt x="147" y="107"/>
                    </a:cubicBezTo>
                    <a:cubicBezTo>
                      <a:pt x="148" y="108"/>
                      <a:pt x="150" y="108"/>
                      <a:pt x="150" y="108"/>
                    </a:cubicBezTo>
                    <a:cubicBezTo>
                      <a:pt x="150" y="109"/>
                      <a:pt x="151" y="108"/>
                      <a:pt x="151" y="108"/>
                    </a:cubicBezTo>
                    <a:cubicBezTo>
                      <a:pt x="151" y="108"/>
                      <a:pt x="151" y="107"/>
                      <a:pt x="151" y="107"/>
                    </a:cubicBezTo>
                    <a:cubicBezTo>
                      <a:pt x="151" y="107"/>
                      <a:pt x="152" y="106"/>
                      <a:pt x="152" y="106"/>
                    </a:cubicBezTo>
                    <a:cubicBezTo>
                      <a:pt x="153" y="105"/>
                      <a:pt x="153" y="105"/>
                      <a:pt x="153" y="105"/>
                    </a:cubicBezTo>
                    <a:cubicBezTo>
                      <a:pt x="154" y="105"/>
                      <a:pt x="154" y="105"/>
                      <a:pt x="154" y="105"/>
                    </a:cubicBezTo>
                    <a:cubicBezTo>
                      <a:pt x="154" y="105"/>
                      <a:pt x="154" y="103"/>
                      <a:pt x="154" y="103"/>
                    </a:cubicBezTo>
                    <a:cubicBezTo>
                      <a:pt x="154" y="102"/>
                      <a:pt x="154" y="102"/>
                      <a:pt x="154" y="102"/>
                    </a:cubicBezTo>
                    <a:cubicBezTo>
                      <a:pt x="154" y="102"/>
                      <a:pt x="157" y="101"/>
                      <a:pt x="158" y="100"/>
                    </a:cubicBezTo>
                    <a:cubicBezTo>
                      <a:pt x="158" y="100"/>
                      <a:pt x="158" y="100"/>
                      <a:pt x="158" y="100"/>
                    </a:cubicBezTo>
                    <a:cubicBezTo>
                      <a:pt x="157" y="100"/>
                      <a:pt x="157" y="99"/>
                      <a:pt x="157" y="99"/>
                    </a:cubicBezTo>
                    <a:cubicBezTo>
                      <a:pt x="157" y="99"/>
                      <a:pt x="157" y="98"/>
                      <a:pt x="157" y="98"/>
                    </a:cubicBezTo>
                    <a:cubicBezTo>
                      <a:pt x="156" y="98"/>
                      <a:pt x="157" y="97"/>
                      <a:pt x="157" y="97"/>
                    </a:cubicBezTo>
                    <a:cubicBezTo>
                      <a:pt x="157" y="96"/>
                      <a:pt x="158" y="93"/>
                      <a:pt x="158" y="92"/>
                    </a:cubicBezTo>
                    <a:cubicBezTo>
                      <a:pt x="158" y="91"/>
                      <a:pt x="158" y="92"/>
                      <a:pt x="158" y="92"/>
                    </a:cubicBezTo>
                    <a:cubicBezTo>
                      <a:pt x="158" y="92"/>
                      <a:pt x="163" y="94"/>
                      <a:pt x="163" y="95"/>
                    </a:cubicBezTo>
                    <a:cubicBezTo>
                      <a:pt x="164" y="95"/>
                      <a:pt x="164" y="95"/>
                      <a:pt x="164" y="95"/>
                    </a:cubicBezTo>
                    <a:cubicBezTo>
                      <a:pt x="164" y="95"/>
                      <a:pt x="167" y="94"/>
                      <a:pt x="168" y="94"/>
                    </a:cubicBezTo>
                    <a:cubicBezTo>
                      <a:pt x="168" y="94"/>
                      <a:pt x="169" y="94"/>
                      <a:pt x="169" y="95"/>
                    </a:cubicBezTo>
                    <a:cubicBezTo>
                      <a:pt x="169" y="95"/>
                      <a:pt x="170" y="94"/>
                      <a:pt x="170" y="94"/>
                    </a:cubicBezTo>
                    <a:cubicBezTo>
                      <a:pt x="171" y="94"/>
                      <a:pt x="171" y="94"/>
                      <a:pt x="172" y="93"/>
                    </a:cubicBezTo>
                    <a:cubicBezTo>
                      <a:pt x="172" y="93"/>
                      <a:pt x="172" y="93"/>
                      <a:pt x="173" y="93"/>
                    </a:cubicBezTo>
                    <a:cubicBezTo>
                      <a:pt x="174" y="93"/>
                      <a:pt x="176" y="92"/>
                      <a:pt x="177" y="92"/>
                    </a:cubicBezTo>
                    <a:cubicBezTo>
                      <a:pt x="178" y="92"/>
                      <a:pt x="180" y="90"/>
                      <a:pt x="180" y="90"/>
                    </a:cubicBezTo>
                    <a:cubicBezTo>
                      <a:pt x="180" y="90"/>
                      <a:pt x="181" y="90"/>
                      <a:pt x="181" y="90"/>
                    </a:cubicBezTo>
                    <a:cubicBezTo>
                      <a:pt x="181" y="90"/>
                      <a:pt x="184" y="91"/>
                      <a:pt x="185" y="91"/>
                    </a:cubicBezTo>
                    <a:cubicBezTo>
                      <a:pt x="186" y="91"/>
                      <a:pt x="186" y="91"/>
                      <a:pt x="187" y="92"/>
                    </a:cubicBezTo>
                    <a:cubicBezTo>
                      <a:pt x="187" y="92"/>
                      <a:pt x="187" y="92"/>
                      <a:pt x="188" y="93"/>
                    </a:cubicBezTo>
                    <a:cubicBezTo>
                      <a:pt x="188" y="93"/>
                      <a:pt x="194" y="94"/>
                      <a:pt x="194" y="94"/>
                    </a:cubicBezTo>
                    <a:cubicBezTo>
                      <a:pt x="195" y="94"/>
                      <a:pt x="198" y="94"/>
                      <a:pt x="199" y="94"/>
                    </a:cubicBezTo>
                    <a:cubicBezTo>
                      <a:pt x="200" y="94"/>
                      <a:pt x="206" y="92"/>
                      <a:pt x="208" y="91"/>
                    </a:cubicBezTo>
                    <a:cubicBezTo>
                      <a:pt x="210" y="90"/>
                      <a:pt x="218" y="87"/>
                      <a:pt x="218" y="87"/>
                    </a:cubicBezTo>
                    <a:cubicBezTo>
                      <a:pt x="219" y="86"/>
                      <a:pt x="219" y="87"/>
                      <a:pt x="219" y="87"/>
                    </a:cubicBezTo>
                    <a:cubicBezTo>
                      <a:pt x="219" y="87"/>
                      <a:pt x="231" y="87"/>
                      <a:pt x="231" y="87"/>
                    </a:cubicBezTo>
                    <a:cubicBezTo>
                      <a:pt x="232" y="87"/>
                      <a:pt x="237" y="86"/>
                      <a:pt x="237" y="86"/>
                    </a:cubicBezTo>
                    <a:cubicBezTo>
                      <a:pt x="238" y="85"/>
                      <a:pt x="241" y="84"/>
                      <a:pt x="241" y="84"/>
                    </a:cubicBezTo>
                    <a:cubicBezTo>
                      <a:pt x="242" y="84"/>
                      <a:pt x="242" y="84"/>
                      <a:pt x="242" y="84"/>
                    </a:cubicBezTo>
                    <a:cubicBezTo>
                      <a:pt x="242" y="84"/>
                      <a:pt x="242" y="86"/>
                      <a:pt x="243" y="87"/>
                    </a:cubicBezTo>
                    <a:cubicBezTo>
                      <a:pt x="248" y="83"/>
                      <a:pt x="248" y="83"/>
                      <a:pt x="248" y="83"/>
                    </a:cubicBezTo>
                    <a:cubicBezTo>
                      <a:pt x="248" y="83"/>
                      <a:pt x="248" y="82"/>
                      <a:pt x="249" y="82"/>
                    </a:cubicBezTo>
                    <a:cubicBezTo>
                      <a:pt x="249" y="82"/>
                      <a:pt x="254" y="82"/>
                      <a:pt x="254" y="82"/>
                    </a:cubicBezTo>
                    <a:cubicBezTo>
                      <a:pt x="254" y="82"/>
                      <a:pt x="254" y="82"/>
                      <a:pt x="255" y="82"/>
                    </a:cubicBezTo>
                    <a:cubicBezTo>
                      <a:pt x="255" y="82"/>
                      <a:pt x="257" y="83"/>
                      <a:pt x="258" y="83"/>
                    </a:cubicBezTo>
                    <a:cubicBezTo>
                      <a:pt x="259" y="83"/>
                      <a:pt x="266" y="83"/>
                      <a:pt x="266" y="83"/>
                    </a:cubicBezTo>
                    <a:cubicBezTo>
                      <a:pt x="266" y="83"/>
                      <a:pt x="267" y="84"/>
                      <a:pt x="267" y="83"/>
                    </a:cubicBezTo>
                    <a:cubicBezTo>
                      <a:pt x="267" y="83"/>
                      <a:pt x="268" y="83"/>
                      <a:pt x="268" y="83"/>
                    </a:cubicBezTo>
                    <a:cubicBezTo>
                      <a:pt x="269" y="83"/>
                      <a:pt x="270" y="83"/>
                      <a:pt x="270" y="84"/>
                    </a:cubicBezTo>
                    <a:cubicBezTo>
                      <a:pt x="270" y="84"/>
                      <a:pt x="272" y="88"/>
                      <a:pt x="272" y="88"/>
                    </a:cubicBezTo>
                    <a:cubicBezTo>
                      <a:pt x="272" y="88"/>
                      <a:pt x="272" y="89"/>
                      <a:pt x="273" y="88"/>
                    </a:cubicBezTo>
                    <a:cubicBezTo>
                      <a:pt x="273" y="88"/>
                      <a:pt x="277" y="87"/>
                      <a:pt x="279" y="86"/>
                    </a:cubicBezTo>
                    <a:cubicBezTo>
                      <a:pt x="279" y="86"/>
                      <a:pt x="279" y="86"/>
                      <a:pt x="279" y="86"/>
                    </a:cubicBezTo>
                    <a:cubicBezTo>
                      <a:pt x="279" y="85"/>
                      <a:pt x="279" y="83"/>
                      <a:pt x="278" y="82"/>
                    </a:cubicBezTo>
                    <a:cubicBezTo>
                      <a:pt x="276" y="81"/>
                      <a:pt x="276" y="81"/>
                      <a:pt x="276" y="80"/>
                    </a:cubicBezTo>
                    <a:cubicBezTo>
                      <a:pt x="276" y="79"/>
                      <a:pt x="276" y="77"/>
                      <a:pt x="276" y="76"/>
                    </a:cubicBezTo>
                    <a:cubicBezTo>
                      <a:pt x="276" y="76"/>
                      <a:pt x="275" y="75"/>
                      <a:pt x="274" y="75"/>
                    </a:cubicBezTo>
                    <a:cubicBezTo>
                      <a:pt x="273" y="74"/>
                      <a:pt x="273" y="75"/>
                      <a:pt x="273" y="74"/>
                    </a:cubicBezTo>
                    <a:cubicBezTo>
                      <a:pt x="273" y="74"/>
                      <a:pt x="273" y="73"/>
                      <a:pt x="272" y="73"/>
                    </a:cubicBezTo>
                    <a:cubicBezTo>
                      <a:pt x="272" y="73"/>
                      <a:pt x="270" y="73"/>
                      <a:pt x="271" y="71"/>
                    </a:cubicBezTo>
                    <a:cubicBezTo>
                      <a:pt x="273" y="68"/>
                      <a:pt x="274" y="65"/>
                      <a:pt x="274" y="65"/>
                    </a:cubicBezTo>
                    <a:cubicBezTo>
                      <a:pt x="273" y="64"/>
                      <a:pt x="273" y="64"/>
                      <a:pt x="272" y="64"/>
                    </a:cubicBezTo>
                    <a:cubicBezTo>
                      <a:pt x="272" y="65"/>
                      <a:pt x="272" y="65"/>
                      <a:pt x="272" y="64"/>
                    </a:cubicBezTo>
                    <a:cubicBezTo>
                      <a:pt x="272" y="63"/>
                      <a:pt x="272" y="57"/>
                      <a:pt x="271" y="57"/>
                    </a:cubicBezTo>
                    <a:cubicBezTo>
                      <a:pt x="271" y="56"/>
                      <a:pt x="270" y="55"/>
                      <a:pt x="270" y="54"/>
                    </a:cubicBezTo>
                    <a:cubicBezTo>
                      <a:pt x="269" y="53"/>
                      <a:pt x="268" y="48"/>
                      <a:pt x="268" y="48"/>
                    </a:cubicBezTo>
                    <a:cubicBezTo>
                      <a:pt x="267" y="48"/>
                      <a:pt x="267" y="47"/>
                      <a:pt x="268" y="47"/>
                    </a:cubicBezTo>
                    <a:cubicBezTo>
                      <a:pt x="269" y="47"/>
                      <a:pt x="272" y="47"/>
                      <a:pt x="272" y="46"/>
                    </a:cubicBezTo>
                    <a:cubicBezTo>
                      <a:pt x="273" y="46"/>
                      <a:pt x="274" y="45"/>
                      <a:pt x="274" y="42"/>
                    </a:cubicBezTo>
                    <a:cubicBezTo>
                      <a:pt x="274" y="42"/>
                      <a:pt x="274" y="42"/>
                      <a:pt x="274" y="41"/>
                    </a:cubicBezTo>
                    <a:cubicBezTo>
                      <a:pt x="275" y="41"/>
                      <a:pt x="276" y="40"/>
                      <a:pt x="277" y="41"/>
                    </a:cubicBezTo>
                    <a:cubicBezTo>
                      <a:pt x="278" y="42"/>
                      <a:pt x="278" y="42"/>
                      <a:pt x="279" y="43"/>
                    </a:cubicBezTo>
                    <a:cubicBezTo>
                      <a:pt x="279" y="43"/>
                      <a:pt x="279" y="42"/>
                      <a:pt x="279" y="42"/>
                    </a:cubicBezTo>
                    <a:cubicBezTo>
                      <a:pt x="279" y="42"/>
                      <a:pt x="279" y="42"/>
                      <a:pt x="279" y="42"/>
                    </a:cubicBezTo>
                    <a:cubicBezTo>
                      <a:pt x="278" y="41"/>
                      <a:pt x="278" y="41"/>
                      <a:pt x="278" y="41"/>
                    </a:cubicBezTo>
                    <a:cubicBezTo>
                      <a:pt x="278" y="41"/>
                      <a:pt x="273" y="37"/>
                      <a:pt x="273" y="37"/>
                    </a:cubicBezTo>
                    <a:cubicBezTo>
                      <a:pt x="273" y="37"/>
                      <a:pt x="272" y="36"/>
                      <a:pt x="272" y="36"/>
                    </a:cubicBezTo>
                    <a:cubicBezTo>
                      <a:pt x="272" y="36"/>
                      <a:pt x="266" y="36"/>
                      <a:pt x="265" y="36"/>
                    </a:cubicBezTo>
                    <a:cubicBezTo>
                      <a:pt x="264" y="36"/>
                      <a:pt x="263" y="35"/>
                      <a:pt x="262" y="34"/>
                    </a:cubicBezTo>
                    <a:cubicBezTo>
                      <a:pt x="262" y="34"/>
                      <a:pt x="262" y="33"/>
                      <a:pt x="262" y="32"/>
                    </a:cubicBezTo>
                    <a:cubicBezTo>
                      <a:pt x="263" y="32"/>
                      <a:pt x="263" y="31"/>
                      <a:pt x="263" y="31"/>
                    </a:cubicBezTo>
                    <a:cubicBezTo>
                      <a:pt x="263" y="31"/>
                      <a:pt x="262" y="30"/>
                      <a:pt x="261" y="29"/>
                    </a:cubicBezTo>
                    <a:cubicBezTo>
                      <a:pt x="261" y="28"/>
                      <a:pt x="261" y="28"/>
                      <a:pt x="261" y="28"/>
                    </a:cubicBezTo>
                    <a:cubicBezTo>
                      <a:pt x="261" y="28"/>
                      <a:pt x="262" y="27"/>
                      <a:pt x="262" y="26"/>
                    </a:cubicBezTo>
                    <a:cubicBezTo>
                      <a:pt x="262" y="26"/>
                      <a:pt x="262" y="26"/>
                      <a:pt x="262" y="26"/>
                    </a:cubicBezTo>
                    <a:cubicBezTo>
                      <a:pt x="262" y="26"/>
                      <a:pt x="262" y="21"/>
                      <a:pt x="262" y="20"/>
                    </a:cubicBezTo>
                    <a:cubicBezTo>
                      <a:pt x="262" y="20"/>
                      <a:pt x="261" y="18"/>
                      <a:pt x="260" y="18"/>
                    </a:cubicBezTo>
                    <a:cubicBezTo>
                      <a:pt x="260" y="18"/>
                      <a:pt x="259" y="17"/>
                      <a:pt x="259" y="1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91" name="Freeform 601">
                <a:extLst>
                  <a:ext uri="{FF2B5EF4-FFF2-40B4-BE49-F238E27FC236}">
                    <a16:creationId xmlns:a16="http://schemas.microsoft.com/office/drawing/2014/main" id="{AA572420-B288-470E-BE96-35610CEB022D}"/>
                  </a:ext>
                </a:extLst>
              </p:cNvPr>
              <p:cNvSpPr>
                <a:spLocks/>
              </p:cNvSpPr>
              <p:nvPr/>
            </p:nvSpPr>
            <p:spPr bwMode="auto">
              <a:xfrm>
                <a:off x="5381" y="481"/>
                <a:ext cx="134" cy="62"/>
              </a:xfrm>
              <a:custGeom>
                <a:avLst/>
                <a:gdLst>
                  <a:gd name="T0" fmla="*/ 8 w 97"/>
                  <a:gd name="T1" fmla="*/ 32 h 45"/>
                  <a:gd name="T2" fmla="*/ 2 w 97"/>
                  <a:gd name="T3" fmla="*/ 33 h 45"/>
                  <a:gd name="T4" fmla="*/ 3 w 97"/>
                  <a:gd name="T5" fmla="*/ 35 h 45"/>
                  <a:gd name="T6" fmla="*/ 17 w 97"/>
                  <a:gd name="T7" fmla="*/ 34 h 45"/>
                  <a:gd name="T8" fmla="*/ 27 w 97"/>
                  <a:gd name="T9" fmla="*/ 34 h 45"/>
                  <a:gd name="T10" fmla="*/ 15 w 97"/>
                  <a:gd name="T11" fmla="*/ 35 h 45"/>
                  <a:gd name="T12" fmla="*/ 16 w 97"/>
                  <a:gd name="T13" fmla="*/ 37 h 45"/>
                  <a:gd name="T14" fmla="*/ 17 w 97"/>
                  <a:gd name="T15" fmla="*/ 38 h 45"/>
                  <a:gd name="T16" fmla="*/ 17 w 97"/>
                  <a:gd name="T17" fmla="*/ 40 h 45"/>
                  <a:gd name="T18" fmla="*/ 23 w 97"/>
                  <a:gd name="T19" fmla="*/ 41 h 45"/>
                  <a:gd name="T20" fmla="*/ 32 w 97"/>
                  <a:gd name="T21" fmla="*/ 45 h 45"/>
                  <a:gd name="T22" fmla="*/ 42 w 97"/>
                  <a:gd name="T23" fmla="*/ 44 h 45"/>
                  <a:gd name="T24" fmla="*/ 55 w 97"/>
                  <a:gd name="T25" fmla="*/ 40 h 45"/>
                  <a:gd name="T26" fmla="*/ 72 w 97"/>
                  <a:gd name="T27" fmla="*/ 38 h 45"/>
                  <a:gd name="T28" fmla="*/ 84 w 97"/>
                  <a:gd name="T29" fmla="*/ 37 h 45"/>
                  <a:gd name="T30" fmla="*/ 86 w 97"/>
                  <a:gd name="T31" fmla="*/ 33 h 45"/>
                  <a:gd name="T32" fmla="*/ 85 w 97"/>
                  <a:gd name="T33" fmla="*/ 29 h 45"/>
                  <a:gd name="T34" fmla="*/ 84 w 97"/>
                  <a:gd name="T35" fmla="*/ 25 h 45"/>
                  <a:gd name="T36" fmla="*/ 95 w 97"/>
                  <a:gd name="T37" fmla="*/ 21 h 45"/>
                  <a:gd name="T38" fmla="*/ 97 w 97"/>
                  <a:gd name="T39" fmla="*/ 20 h 45"/>
                  <a:gd name="T40" fmla="*/ 65 w 97"/>
                  <a:gd name="T41" fmla="*/ 1 h 45"/>
                  <a:gd name="T42" fmla="*/ 56 w 97"/>
                  <a:gd name="T43" fmla="*/ 1 h 45"/>
                  <a:gd name="T44" fmla="*/ 55 w 97"/>
                  <a:gd name="T45" fmla="*/ 3 h 45"/>
                  <a:gd name="T46" fmla="*/ 53 w 97"/>
                  <a:gd name="T47" fmla="*/ 5 h 45"/>
                  <a:gd name="T48" fmla="*/ 46 w 97"/>
                  <a:gd name="T49" fmla="*/ 7 h 45"/>
                  <a:gd name="T50" fmla="*/ 40 w 97"/>
                  <a:gd name="T51" fmla="*/ 8 h 45"/>
                  <a:gd name="T52" fmla="*/ 33 w 97"/>
                  <a:gd name="T53" fmla="*/ 9 h 45"/>
                  <a:gd name="T54" fmla="*/ 27 w 97"/>
                  <a:gd name="T55" fmla="*/ 10 h 45"/>
                  <a:gd name="T56" fmla="*/ 26 w 97"/>
                  <a:gd name="T57" fmla="*/ 13 h 45"/>
                  <a:gd name="T58" fmla="*/ 21 w 97"/>
                  <a:gd name="T59" fmla="*/ 14 h 45"/>
                  <a:gd name="T60" fmla="*/ 20 w 97"/>
                  <a:gd name="T61" fmla="*/ 15 h 45"/>
                  <a:gd name="T62" fmla="*/ 17 w 97"/>
                  <a:gd name="T63" fmla="*/ 18 h 45"/>
                  <a:gd name="T64" fmla="*/ 20 w 97"/>
                  <a:gd name="T65" fmla="*/ 21 h 45"/>
                  <a:gd name="T66" fmla="*/ 21 w 97"/>
                  <a:gd name="T67" fmla="*/ 26 h 45"/>
                  <a:gd name="T68" fmla="*/ 10 w 97"/>
                  <a:gd name="T69" fmla="*/ 29 h 45"/>
                  <a:gd name="T70" fmla="*/ 9 w 97"/>
                  <a:gd name="T71" fmla="*/ 30 h 45"/>
                  <a:gd name="T72" fmla="*/ 8 w 97"/>
                  <a:gd name="T73" fmla="*/ 32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7" h="45">
                    <a:moveTo>
                      <a:pt x="8" y="32"/>
                    </a:moveTo>
                    <a:cubicBezTo>
                      <a:pt x="6" y="32"/>
                      <a:pt x="4" y="32"/>
                      <a:pt x="2" y="33"/>
                    </a:cubicBezTo>
                    <a:cubicBezTo>
                      <a:pt x="0" y="35"/>
                      <a:pt x="3" y="35"/>
                      <a:pt x="3" y="35"/>
                    </a:cubicBezTo>
                    <a:cubicBezTo>
                      <a:pt x="3" y="35"/>
                      <a:pt x="11" y="34"/>
                      <a:pt x="17" y="34"/>
                    </a:cubicBezTo>
                    <a:cubicBezTo>
                      <a:pt x="23" y="34"/>
                      <a:pt x="19" y="33"/>
                      <a:pt x="27" y="34"/>
                    </a:cubicBezTo>
                    <a:cubicBezTo>
                      <a:pt x="35" y="36"/>
                      <a:pt x="17" y="35"/>
                      <a:pt x="15" y="35"/>
                    </a:cubicBezTo>
                    <a:cubicBezTo>
                      <a:pt x="13" y="35"/>
                      <a:pt x="9" y="36"/>
                      <a:pt x="16" y="37"/>
                    </a:cubicBezTo>
                    <a:cubicBezTo>
                      <a:pt x="22" y="39"/>
                      <a:pt x="22" y="39"/>
                      <a:pt x="17" y="38"/>
                    </a:cubicBezTo>
                    <a:cubicBezTo>
                      <a:pt x="12" y="38"/>
                      <a:pt x="16" y="39"/>
                      <a:pt x="17" y="40"/>
                    </a:cubicBezTo>
                    <a:cubicBezTo>
                      <a:pt x="19" y="40"/>
                      <a:pt x="22" y="41"/>
                      <a:pt x="23" y="41"/>
                    </a:cubicBezTo>
                    <a:cubicBezTo>
                      <a:pt x="25" y="42"/>
                      <a:pt x="29" y="44"/>
                      <a:pt x="32" y="45"/>
                    </a:cubicBezTo>
                    <a:cubicBezTo>
                      <a:pt x="34" y="45"/>
                      <a:pt x="40" y="44"/>
                      <a:pt x="42" y="44"/>
                    </a:cubicBezTo>
                    <a:cubicBezTo>
                      <a:pt x="45" y="43"/>
                      <a:pt x="53" y="41"/>
                      <a:pt x="55" y="40"/>
                    </a:cubicBezTo>
                    <a:cubicBezTo>
                      <a:pt x="57" y="39"/>
                      <a:pt x="68" y="38"/>
                      <a:pt x="72" y="38"/>
                    </a:cubicBezTo>
                    <a:cubicBezTo>
                      <a:pt x="76" y="38"/>
                      <a:pt x="80" y="37"/>
                      <a:pt x="84" y="37"/>
                    </a:cubicBezTo>
                    <a:cubicBezTo>
                      <a:pt x="87" y="37"/>
                      <a:pt x="86" y="35"/>
                      <a:pt x="86" y="33"/>
                    </a:cubicBezTo>
                    <a:cubicBezTo>
                      <a:pt x="86" y="32"/>
                      <a:pt x="87" y="31"/>
                      <a:pt x="85" y="29"/>
                    </a:cubicBezTo>
                    <a:cubicBezTo>
                      <a:pt x="84" y="27"/>
                      <a:pt x="84" y="28"/>
                      <a:pt x="84" y="25"/>
                    </a:cubicBezTo>
                    <a:cubicBezTo>
                      <a:pt x="84" y="22"/>
                      <a:pt x="92" y="21"/>
                      <a:pt x="95" y="21"/>
                    </a:cubicBezTo>
                    <a:cubicBezTo>
                      <a:pt x="97" y="21"/>
                      <a:pt x="97" y="20"/>
                      <a:pt x="97" y="20"/>
                    </a:cubicBezTo>
                    <a:cubicBezTo>
                      <a:pt x="97" y="20"/>
                      <a:pt x="67" y="2"/>
                      <a:pt x="65" y="1"/>
                    </a:cubicBezTo>
                    <a:cubicBezTo>
                      <a:pt x="63" y="0"/>
                      <a:pt x="57" y="1"/>
                      <a:pt x="56" y="1"/>
                    </a:cubicBezTo>
                    <a:cubicBezTo>
                      <a:pt x="55" y="2"/>
                      <a:pt x="55" y="2"/>
                      <a:pt x="55" y="3"/>
                    </a:cubicBezTo>
                    <a:cubicBezTo>
                      <a:pt x="56" y="4"/>
                      <a:pt x="54" y="5"/>
                      <a:pt x="53" y="5"/>
                    </a:cubicBezTo>
                    <a:cubicBezTo>
                      <a:pt x="52" y="6"/>
                      <a:pt x="47" y="7"/>
                      <a:pt x="46" y="7"/>
                    </a:cubicBezTo>
                    <a:cubicBezTo>
                      <a:pt x="45" y="6"/>
                      <a:pt x="42" y="7"/>
                      <a:pt x="40" y="8"/>
                    </a:cubicBezTo>
                    <a:cubicBezTo>
                      <a:pt x="39" y="9"/>
                      <a:pt x="35" y="9"/>
                      <a:pt x="33" y="9"/>
                    </a:cubicBezTo>
                    <a:cubicBezTo>
                      <a:pt x="31" y="9"/>
                      <a:pt x="29" y="9"/>
                      <a:pt x="27" y="10"/>
                    </a:cubicBezTo>
                    <a:cubicBezTo>
                      <a:pt x="25" y="10"/>
                      <a:pt x="25" y="11"/>
                      <a:pt x="26" y="13"/>
                    </a:cubicBezTo>
                    <a:cubicBezTo>
                      <a:pt x="27" y="14"/>
                      <a:pt x="23" y="14"/>
                      <a:pt x="21" y="14"/>
                    </a:cubicBezTo>
                    <a:cubicBezTo>
                      <a:pt x="20" y="14"/>
                      <a:pt x="20" y="14"/>
                      <a:pt x="20" y="15"/>
                    </a:cubicBezTo>
                    <a:cubicBezTo>
                      <a:pt x="20" y="15"/>
                      <a:pt x="19" y="17"/>
                      <a:pt x="17" y="18"/>
                    </a:cubicBezTo>
                    <a:cubicBezTo>
                      <a:pt x="16" y="19"/>
                      <a:pt x="17" y="20"/>
                      <a:pt x="20" y="21"/>
                    </a:cubicBezTo>
                    <a:cubicBezTo>
                      <a:pt x="22" y="22"/>
                      <a:pt x="21" y="24"/>
                      <a:pt x="21" y="26"/>
                    </a:cubicBezTo>
                    <a:cubicBezTo>
                      <a:pt x="21" y="28"/>
                      <a:pt x="11" y="28"/>
                      <a:pt x="10" y="29"/>
                    </a:cubicBezTo>
                    <a:cubicBezTo>
                      <a:pt x="8" y="29"/>
                      <a:pt x="8" y="30"/>
                      <a:pt x="9" y="30"/>
                    </a:cubicBezTo>
                    <a:cubicBezTo>
                      <a:pt x="10" y="31"/>
                      <a:pt x="9" y="32"/>
                      <a:pt x="8" y="3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92" name="Freeform 602">
                <a:extLst>
                  <a:ext uri="{FF2B5EF4-FFF2-40B4-BE49-F238E27FC236}">
                    <a16:creationId xmlns:a16="http://schemas.microsoft.com/office/drawing/2014/main" id="{2F187321-B3D8-43A8-A567-02FC4AB98E30}"/>
                  </a:ext>
                </a:extLst>
              </p:cNvPr>
              <p:cNvSpPr>
                <a:spLocks/>
              </p:cNvSpPr>
              <p:nvPr/>
            </p:nvSpPr>
            <p:spPr bwMode="auto">
              <a:xfrm>
                <a:off x="5370" y="540"/>
                <a:ext cx="65" cy="19"/>
              </a:xfrm>
              <a:custGeom>
                <a:avLst/>
                <a:gdLst>
                  <a:gd name="T0" fmla="*/ 21 w 47"/>
                  <a:gd name="T1" fmla="*/ 13 h 14"/>
                  <a:gd name="T2" fmla="*/ 28 w 47"/>
                  <a:gd name="T3" fmla="*/ 13 h 14"/>
                  <a:gd name="T4" fmla="*/ 42 w 47"/>
                  <a:gd name="T5" fmla="*/ 6 h 14"/>
                  <a:gd name="T6" fmla="*/ 34 w 47"/>
                  <a:gd name="T7" fmla="*/ 2 h 14"/>
                  <a:gd name="T8" fmla="*/ 18 w 47"/>
                  <a:gd name="T9" fmla="*/ 1 h 14"/>
                  <a:gd name="T10" fmla="*/ 3 w 47"/>
                  <a:gd name="T11" fmla="*/ 0 h 14"/>
                  <a:gd name="T12" fmla="*/ 2 w 47"/>
                  <a:gd name="T13" fmla="*/ 2 h 14"/>
                  <a:gd name="T14" fmla="*/ 3 w 47"/>
                  <a:gd name="T15" fmla="*/ 6 h 14"/>
                  <a:gd name="T16" fmla="*/ 16 w 47"/>
                  <a:gd name="T17" fmla="*/ 8 h 14"/>
                  <a:gd name="T18" fmla="*/ 17 w 47"/>
                  <a:gd name="T19" fmla="*/ 11 h 14"/>
                  <a:gd name="T20" fmla="*/ 21 w 47"/>
                  <a:gd name="T21"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 h="14">
                    <a:moveTo>
                      <a:pt x="21" y="13"/>
                    </a:moveTo>
                    <a:cubicBezTo>
                      <a:pt x="23" y="13"/>
                      <a:pt x="27" y="14"/>
                      <a:pt x="28" y="13"/>
                    </a:cubicBezTo>
                    <a:cubicBezTo>
                      <a:pt x="30" y="13"/>
                      <a:pt x="37" y="10"/>
                      <a:pt x="42" y="6"/>
                    </a:cubicBezTo>
                    <a:cubicBezTo>
                      <a:pt x="47" y="3"/>
                      <a:pt x="36" y="3"/>
                      <a:pt x="34" y="2"/>
                    </a:cubicBezTo>
                    <a:cubicBezTo>
                      <a:pt x="32" y="2"/>
                      <a:pt x="20" y="1"/>
                      <a:pt x="18" y="1"/>
                    </a:cubicBezTo>
                    <a:cubicBezTo>
                      <a:pt x="16" y="1"/>
                      <a:pt x="5" y="1"/>
                      <a:pt x="3" y="0"/>
                    </a:cubicBezTo>
                    <a:cubicBezTo>
                      <a:pt x="0" y="0"/>
                      <a:pt x="2" y="2"/>
                      <a:pt x="2" y="2"/>
                    </a:cubicBezTo>
                    <a:cubicBezTo>
                      <a:pt x="3" y="3"/>
                      <a:pt x="4" y="4"/>
                      <a:pt x="3" y="6"/>
                    </a:cubicBezTo>
                    <a:cubicBezTo>
                      <a:pt x="3" y="8"/>
                      <a:pt x="14" y="9"/>
                      <a:pt x="16" y="8"/>
                    </a:cubicBezTo>
                    <a:cubicBezTo>
                      <a:pt x="18" y="8"/>
                      <a:pt x="17" y="9"/>
                      <a:pt x="17" y="11"/>
                    </a:cubicBezTo>
                    <a:cubicBezTo>
                      <a:pt x="16" y="13"/>
                      <a:pt x="19" y="13"/>
                      <a:pt x="21" y="1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93" name="Freeform 603">
                <a:extLst>
                  <a:ext uri="{FF2B5EF4-FFF2-40B4-BE49-F238E27FC236}">
                    <a16:creationId xmlns:a16="http://schemas.microsoft.com/office/drawing/2014/main" id="{EAF8B9BC-D921-40B0-89E1-A18D4C5C46F2}"/>
                  </a:ext>
                </a:extLst>
              </p:cNvPr>
              <p:cNvSpPr>
                <a:spLocks/>
              </p:cNvSpPr>
              <p:nvPr/>
            </p:nvSpPr>
            <p:spPr bwMode="auto">
              <a:xfrm>
                <a:off x="5350" y="485"/>
                <a:ext cx="38" cy="5"/>
              </a:xfrm>
              <a:custGeom>
                <a:avLst/>
                <a:gdLst>
                  <a:gd name="T0" fmla="*/ 2 w 27"/>
                  <a:gd name="T1" fmla="*/ 4 h 4"/>
                  <a:gd name="T2" fmla="*/ 24 w 27"/>
                  <a:gd name="T3" fmla="*/ 3 h 4"/>
                  <a:gd name="T4" fmla="*/ 23 w 27"/>
                  <a:gd name="T5" fmla="*/ 1 h 4"/>
                  <a:gd name="T6" fmla="*/ 3 w 27"/>
                  <a:gd name="T7" fmla="*/ 0 h 4"/>
                  <a:gd name="T8" fmla="*/ 0 w 27"/>
                  <a:gd name="T9" fmla="*/ 3 h 4"/>
                  <a:gd name="T10" fmla="*/ 2 w 27"/>
                  <a:gd name="T11" fmla="*/ 4 h 4"/>
                </a:gdLst>
                <a:ahLst/>
                <a:cxnLst>
                  <a:cxn ang="0">
                    <a:pos x="T0" y="T1"/>
                  </a:cxn>
                  <a:cxn ang="0">
                    <a:pos x="T2" y="T3"/>
                  </a:cxn>
                  <a:cxn ang="0">
                    <a:pos x="T4" y="T5"/>
                  </a:cxn>
                  <a:cxn ang="0">
                    <a:pos x="T6" y="T7"/>
                  </a:cxn>
                  <a:cxn ang="0">
                    <a:pos x="T8" y="T9"/>
                  </a:cxn>
                  <a:cxn ang="0">
                    <a:pos x="T10" y="T11"/>
                  </a:cxn>
                </a:cxnLst>
                <a:rect l="0" t="0" r="r" b="b"/>
                <a:pathLst>
                  <a:path w="27" h="4">
                    <a:moveTo>
                      <a:pt x="2" y="4"/>
                    </a:moveTo>
                    <a:cubicBezTo>
                      <a:pt x="2" y="4"/>
                      <a:pt x="20" y="3"/>
                      <a:pt x="24" y="3"/>
                    </a:cubicBezTo>
                    <a:cubicBezTo>
                      <a:pt x="27" y="3"/>
                      <a:pt x="24" y="1"/>
                      <a:pt x="23" y="1"/>
                    </a:cubicBezTo>
                    <a:cubicBezTo>
                      <a:pt x="21" y="0"/>
                      <a:pt x="5" y="0"/>
                      <a:pt x="3" y="0"/>
                    </a:cubicBezTo>
                    <a:cubicBezTo>
                      <a:pt x="2" y="0"/>
                      <a:pt x="1" y="1"/>
                      <a:pt x="0" y="3"/>
                    </a:cubicBezTo>
                    <a:cubicBezTo>
                      <a:pt x="0" y="4"/>
                      <a:pt x="2" y="4"/>
                      <a:pt x="2"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94" name="Freeform 604">
                <a:extLst>
                  <a:ext uri="{FF2B5EF4-FFF2-40B4-BE49-F238E27FC236}">
                    <a16:creationId xmlns:a16="http://schemas.microsoft.com/office/drawing/2014/main" id="{BD1466B5-F5C2-466F-8007-CECFD23D600F}"/>
                  </a:ext>
                </a:extLst>
              </p:cNvPr>
              <p:cNvSpPr>
                <a:spLocks/>
              </p:cNvSpPr>
              <p:nvPr/>
            </p:nvSpPr>
            <p:spPr bwMode="auto">
              <a:xfrm>
                <a:off x="5410" y="534"/>
                <a:ext cx="151" cy="65"/>
              </a:xfrm>
              <a:custGeom>
                <a:avLst/>
                <a:gdLst>
                  <a:gd name="T0" fmla="*/ 60 w 109"/>
                  <a:gd name="T1" fmla="*/ 2 h 47"/>
                  <a:gd name="T2" fmla="*/ 54 w 109"/>
                  <a:gd name="T3" fmla="*/ 2 h 47"/>
                  <a:gd name="T4" fmla="*/ 50 w 109"/>
                  <a:gd name="T5" fmla="*/ 3 h 47"/>
                  <a:gd name="T6" fmla="*/ 41 w 109"/>
                  <a:gd name="T7" fmla="*/ 2 h 47"/>
                  <a:gd name="T8" fmla="*/ 37 w 109"/>
                  <a:gd name="T9" fmla="*/ 5 h 47"/>
                  <a:gd name="T10" fmla="*/ 33 w 109"/>
                  <a:gd name="T11" fmla="*/ 3 h 47"/>
                  <a:gd name="T12" fmla="*/ 27 w 109"/>
                  <a:gd name="T13" fmla="*/ 6 h 47"/>
                  <a:gd name="T14" fmla="*/ 22 w 109"/>
                  <a:gd name="T15" fmla="*/ 8 h 47"/>
                  <a:gd name="T16" fmla="*/ 24 w 109"/>
                  <a:gd name="T17" fmla="*/ 12 h 47"/>
                  <a:gd name="T18" fmla="*/ 22 w 109"/>
                  <a:gd name="T19" fmla="*/ 13 h 47"/>
                  <a:gd name="T20" fmla="*/ 15 w 109"/>
                  <a:gd name="T21" fmla="*/ 17 h 47"/>
                  <a:gd name="T22" fmla="*/ 9 w 109"/>
                  <a:gd name="T23" fmla="*/ 21 h 47"/>
                  <a:gd name="T24" fmla="*/ 3 w 109"/>
                  <a:gd name="T25" fmla="*/ 21 h 47"/>
                  <a:gd name="T26" fmla="*/ 3 w 109"/>
                  <a:gd name="T27" fmla="*/ 23 h 47"/>
                  <a:gd name="T28" fmla="*/ 13 w 109"/>
                  <a:gd name="T29" fmla="*/ 20 h 47"/>
                  <a:gd name="T30" fmla="*/ 16 w 109"/>
                  <a:gd name="T31" fmla="*/ 22 h 47"/>
                  <a:gd name="T32" fmla="*/ 15 w 109"/>
                  <a:gd name="T33" fmla="*/ 25 h 47"/>
                  <a:gd name="T34" fmla="*/ 21 w 109"/>
                  <a:gd name="T35" fmla="*/ 25 h 47"/>
                  <a:gd name="T36" fmla="*/ 22 w 109"/>
                  <a:gd name="T37" fmla="*/ 28 h 47"/>
                  <a:gd name="T38" fmla="*/ 24 w 109"/>
                  <a:gd name="T39" fmla="*/ 32 h 47"/>
                  <a:gd name="T40" fmla="*/ 27 w 109"/>
                  <a:gd name="T41" fmla="*/ 33 h 47"/>
                  <a:gd name="T42" fmla="*/ 30 w 109"/>
                  <a:gd name="T43" fmla="*/ 37 h 47"/>
                  <a:gd name="T44" fmla="*/ 40 w 109"/>
                  <a:gd name="T45" fmla="*/ 37 h 47"/>
                  <a:gd name="T46" fmla="*/ 42 w 109"/>
                  <a:gd name="T47" fmla="*/ 38 h 47"/>
                  <a:gd name="T48" fmla="*/ 50 w 109"/>
                  <a:gd name="T49" fmla="*/ 39 h 47"/>
                  <a:gd name="T50" fmla="*/ 52 w 109"/>
                  <a:gd name="T51" fmla="*/ 39 h 47"/>
                  <a:gd name="T52" fmla="*/ 57 w 109"/>
                  <a:gd name="T53" fmla="*/ 40 h 47"/>
                  <a:gd name="T54" fmla="*/ 60 w 109"/>
                  <a:gd name="T55" fmla="*/ 40 h 47"/>
                  <a:gd name="T56" fmla="*/ 67 w 109"/>
                  <a:gd name="T57" fmla="*/ 44 h 47"/>
                  <a:gd name="T58" fmla="*/ 69 w 109"/>
                  <a:gd name="T59" fmla="*/ 45 h 47"/>
                  <a:gd name="T60" fmla="*/ 79 w 109"/>
                  <a:gd name="T61" fmla="*/ 46 h 47"/>
                  <a:gd name="T62" fmla="*/ 84 w 109"/>
                  <a:gd name="T63" fmla="*/ 47 h 47"/>
                  <a:gd name="T64" fmla="*/ 95 w 109"/>
                  <a:gd name="T65" fmla="*/ 45 h 47"/>
                  <a:gd name="T66" fmla="*/ 99 w 109"/>
                  <a:gd name="T67" fmla="*/ 44 h 47"/>
                  <a:gd name="T68" fmla="*/ 105 w 109"/>
                  <a:gd name="T69" fmla="*/ 42 h 47"/>
                  <a:gd name="T70" fmla="*/ 105 w 109"/>
                  <a:gd name="T71" fmla="*/ 38 h 47"/>
                  <a:gd name="T72" fmla="*/ 95 w 109"/>
                  <a:gd name="T73" fmla="*/ 31 h 47"/>
                  <a:gd name="T74" fmla="*/ 98 w 109"/>
                  <a:gd name="T75" fmla="*/ 30 h 47"/>
                  <a:gd name="T76" fmla="*/ 101 w 109"/>
                  <a:gd name="T77" fmla="*/ 30 h 47"/>
                  <a:gd name="T78" fmla="*/ 103 w 109"/>
                  <a:gd name="T79" fmla="*/ 27 h 47"/>
                  <a:gd name="T80" fmla="*/ 103 w 109"/>
                  <a:gd name="T81" fmla="*/ 23 h 47"/>
                  <a:gd name="T82" fmla="*/ 103 w 109"/>
                  <a:gd name="T83" fmla="*/ 20 h 47"/>
                  <a:gd name="T84" fmla="*/ 104 w 109"/>
                  <a:gd name="T85" fmla="*/ 16 h 47"/>
                  <a:gd name="T86" fmla="*/ 107 w 109"/>
                  <a:gd name="T87" fmla="*/ 14 h 47"/>
                  <a:gd name="T88" fmla="*/ 104 w 109"/>
                  <a:gd name="T89" fmla="*/ 10 h 47"/>
                  <a:gd name="T90" fmla="*/ 97 w 109"/>
                  <a:gd name="T91" fmla="*/ 5 h 47"/>
                  <a:gd name="T92" fmla="*/ 80 w 109"/>
                  <a:gd name="T93" fmla="*/ 8 h 47"/>
                  <a:gd name="T94" fmla="*/ 74 w 109"/>
                  <a:gd name="T95" fmla="*/ 13 h 47"/>
                  <a:gd name="T96" fmla="*/ 69 w 109"/>
                  <a:gd name="T97" fmla="*/ 15 h 47"/>
                  <a:gd name="T98" fmla="*/ 67 w 109"/>
                  <a:gd name="T99" fmla="*/ 15 h 47"/>
                  <a:gd name="T100" fmla="*/ 77 w 109"/>
                  <a:gd name="T101" fmla="*/ 5 h 47"/>
                  <a:gd name="T102" fmla="*/ 76 w 109"/>
                  <a:gd name="T103" fmla="*/ 3 h 47"/>
                  <a:gd name="T104" fmla="*/ 70 w 109"/>
                  <a:gd name="T105" fmla="*/ 0 h 47"/>
                  <a:gd name="T106" fmla="*/ 60 w 109"/>
                  <a:gd name="T10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9" h="47">
                    <a:moveTo>
                      <a:pt x="60" y="2"/>
                    </a:moveTo>
                    <a:cubicBezTo>
                      <a:pt x="60" y="2"/>
                      <a:pt x="56" y="3"/>
                      <a:pt x="54" y="2"/>
                    </a:cubicBezTo>
                    <a:cubicBezTo>
                      <a:pt x="53" y="2"/>
                      <a:pt x="51" y="3"/>
                      <a:pt x="50" y="3"/>
                    </a:cubicBezTo>
                    <a:cubicBezTo>
                      <a:pt x="49" y="3"/>
                      <a:pt x="42" y="3"/>
                      <a:pt x="41" y="2"/>
                    </a:cubicBezTo>
                    <a:cubicBezTo>
                      <a:pt x="39" y="2"/>
                      <a:pt x="38" y="4"/>
                      <a:pt x="37" y="5"/>
                    </a:cubicBezTo>
                    <a:cubicBezTo>
                      <a:pt x="36" y="6"/>
                      <a:pt x="34" y="4"/>
                      <a:pt x="33" y="3"/>
                    </a:cubicBezTo>
                    <a:cubicBezTo>
                      <a:pt x="31" y="2"/>
                      <a:pt x="30" y="5"/>
                      <a:pt x="27" y="6"/>
                    </a:cubicBezTo>
                    <a:cubicBezTo>
                      <a:pt x="25" y="7"/>
                      <a:pt x="24" y="7"/>
                      <a:pt x="22" y="8"/>
                    </a:cubicBezTo>
                    <a:cubicBezTo>
                      <a:pt x="21" y="9"/>
                      <a:pt x="22" y="10"/>
                      <a:pt x="24" y="12"/>
                    </a:cubicBezTo>
                    <a:cubicBezTo>
                      <a:pt x="26" y="14"/>
                      <a:pt x="23" y="13"/>
                      <a:pt x="22" y="13"/>
                    </a:cubicBezTo>
                    <a:cubicBezTo>
                      <a:pt x="21" y="13"/>
                      <a:pt x="16" y="16"/>
                      <a:pt x="15" y="17"/>
                    </a:cubicBezTo>
                    <a:cubicBezTo>
                      <a:pt x="14" y="18"/>
                      <a:pt x="10" y="20"/>
                      <a:pt x="9" y="21"/>
                    </a:cubicBezTo>
                    <a:cubicBezTo>
                      <a:pt x="7" y="21"/>
                      <a:pt x="7" y="22"/>
                      <a:pt x="3" y="21"/>
                    </a:cubicBezTo>
                    <a:cubicBezTo>
                      <a:pt x="0" y="20"/>
                      <a:pt x="3" y="23"/>
                      <a:pt x="3" y="23"/>
                    </a:cubicBezTo>
                    <a:cubicBezTo>
                      <a:pt x="6" y="26"/>
                      <a:pt x="12" y="21"/>
                      <a:pt x="13" y="20"/>
                    </a:cubicBezTo>
                    <a:cubicBezTo>
                      <a:pt x="15" y="19"/>
                      <a:pt x="15" y="20"/>
                      <a:pt x="16" y="22"/>
                    </a:cubicBezTo>
                    <a:cubicBezTo>
                      <a:pt x="18" y="24"/>
                      <a:pt x="15" y="23"/>
                      <a:pt x="15" y="25"/>
                    </a:cubicBezTo>
                    <a:cubicBezTo>
                      <a:pt x="15" y="26"/>
                      <a:pt x="19" y="25"/>
                      <a:pt x="21" y="25"/>
                    </a:cubicBezTo>
                    <a:cubicBezTo>
                      <a:pt x="23" y="26"/>
                      <a:pt x="23" y="25"/>
                      <a:pt x="22" y="28"/>
                    </a:cubicBezTo>
                    <a:cubicBezTo>
                      <a:pt x="22" y="30"/>
                      <a:pt x="22" y="32"/>
                      <a:pt x="24" y="32"/>
                    </a:cubicBezTo>
                    <a:cubicBezTo>
                      <a:pt x="27" y="32"/>
                      <a:pt x="25" y="32"/>
                      <a:pt x="27" y="33"/>
                    </a:cubicBezTo>
                    <a:cubicBezTo>
                      <a:pt x="28" y="34"/>
                      <a:pt x="28" y="35"/>
                      <a:pt x="30" y="37"/>
                    </a:cubicBezTo>
                    <a:cubicBezTo>
                      <a:pt x="31" y="39"/>
                      <a:pt x="37" y="38"/>
                      <a:pt x="40" y="37"/>
                    </a:cubicBezTo>
                    <a:cubicBezTo>
                      <a:pt x="42" y="37"/>
                      <a:pt x="43" y="37"/>
                      <a:pt x="42" y="38"/>
                    </a:cubicBezTo>
                    <a:cubicBezTo>
                      <a:pt x="42" y="39"/>
                      <a:pt x="49" y="39"/>
                      <a:pt x="50" y="39"/>
                    </a:cubicBezTo>
                    <a:cubicBezTo>
                      <a:pt x="52" y="39"/>
                      <a:pt x="52" y="39"/>
                      <a:pt x="52" y="39"/>
                    </a:cubicBezTo>
                    <a:cubicBezTo>
                      <a:pt x="51" y="40"/>
                      <a:pt x="54" y="40"/>
                      <a:pt x="57" y="40"/>
                    </a:cubicBezTo>
                    <a:cubicBezTo>
                      <a:pt x="60" y="40"/>
                      <a:pt x="59" y="39"/>
                      <a:pt x="60" y="40"/>
                    </a:cubicBezTo>
                    <a:cubicBezTo>
                      <a:pt x="61" y="42"/>
                      <a:pt x="65" y="44"/>
                      <a:pt x="67" y="44"/>
                    </a:cubicBezTo>
                    <a:cubicBezTo>
                      <a:pt x="69" y="44"/>
                      <a:pt x="71" y="45"/>
                      <a:pt x="69" y="45"/>
                    </a:cubicBezTo>
                    <a:cubicBezTo>
                      <a:pt x="68" y="45"/>
                      <a:pt x="76" y="46"/>
                      <a:pt x="79" y="46"/>
                    </a:cubicBezTo>
                    <a:cubicBezTo>
                      <a:pt x="81" y="47"/>
                      <a:pt x="82" y="47"/>
                      <a:pt x="84" y="47"/>
                    </a:cubicBezTo>
                    <a:cubicBezTo>
                      <a:pt x="86" y="47"/>
                      <a:pt x="93" y="46"/>
                      <a:pt x="95" y="45"/>
                    </a:cubicBezTo>
                    <a:cubicBezTo>
                      <a:pt x="97" y="45"/>
                      <a:pt x="98" y="45"/>
                      <a:pt x="99" y="44"/>
                    </a:cubicBezTo>
                    <a:cubicBezTo>
                      <a:pt x="100" y="43"/>
                      <a:pt x="102" y="43"/>
                      <a:pt x="105" y="42"/>
                    </a:cubicBezTo>
                    <a:cubicBezTo>
                      <a:pt x="107" y="41"/>
                      <a:pt x="105" y="39"/>
                      <a:pt x="105" y="38"/>
                    </a:cubicBezTo>
                    <a:cubicBezTo>
                      <a:pt x="104" y="37"/>
                      <a:pt x="97" y="33"/>
                      <a:pt x="95" y="31"/>
                    </a:cubicBezTo>
                    <a:cubicBezTo>
                      <a:pt x="93" y="30"/>
                      <a:pt x="97" y="30"/>
                      <a:pt x="98" y="30"/>
                    </a:cubicBezTo>
                    <a:cubicBezTo>
                      <a:pt x="99" y="31"/>
                      <a:pt x="100" y="30"/>
                      <a:pt x="101" y="30"/>
                    </a:cubicBezTo>
                    <a:cubicBezTo>
                      <a:pt x="103" y="29"/>
                      <a:pt x="103" y="28"/>
                      <a:pt x="103" y="27"/>
                    </a:cubicBezTo>
                    <a:cubicBezTo>
                      <a:pt x="103" y="26"/>
                      <a:pt x="103" y="24"/>
                      <a:pt x="103" y="23"/>
                    </a:cubicBezTo>
                    <a:cubicBezTo>
                      <a:pt x="103" y="21"/>
                      <a:pt x="104" y="21"/>
                      <a:pt x="103" y="20"/>
                    </a:cubicBezTo>
                    <a:cubicBezTo>
                      <a:pt x="103" y="18"/>
                      <a:pt x="104" y="17"/>
                      <a:pt x="104" y="16"/>
                    </a:cubicBezTo>
                    <a:cubicBezTo>
                      <a:pt x="104" y="15"/>
                      <a:pt x="106" y="14"/>
                      <a:pt x="107" y="14"/>
                    </a:cubicBezTo>
                    <a:cubicBezTo>
                      <a:pt x="109" y="13"/>
                      <a:pt x="106" y="11"/>
                      <a:pt x="104" y="10"/>
                    </a:cubicBezTo>
                    <a:cubicBezTo>
                      <a:pt x="102" y="9"/>
                      <a:pt x="98" y="6"/>
                      <a:pt x="97" y="5"/>
                    </a:cubicBezTo>
                    <a:cubicBezTo>
                      <a:pt x="95" y="4"/>
                      <a:pt x="81" y="8"/>
                      <a:pt x="80" y="8"/>
                    </a:cubicBezTo>
                    <a:cubicBezTo>
                      <a:pt x="79" y="9"/>
                      <a:pt x="75" y="11"/>
                      <a:pt x="74" y="13"/>
                    </a:cubicBezTo>
                    <a:cubicBezTo>
                      <a:pt x="73" y="14"/>
                      <a:pt x="70" y="15"/>
                      <a:pt x="69" y="15"/>
                    </a:cubicBezTo>
                    <a:cubicBezTo>
                      <a:pt x="67" y="16"/>
                      <a:pt x="66" y="16"/>
                      <a:pt x="67" y="15"/>
                    </a:cubicBezTo>
                    <a:cubicBezTo>
                      <a:pt x="67" y="13"/>
                      <a:pt x="75" y="6"/>
                      <a:pt x="77" y="5"/>
                    </a:cubicBezTo>
                    <a:cubicBezTo>
                      <a:pt x="80" y="4"/>
                      <a:pt x="77" y="3"/>
                      <a:pt x="76" y="3"/>
                    </a:cubicBezTo>
                    <a:cubicBezTo>
                      <a:pt x="75" y="2"/>
                      <a:pt x="72" y="0"/>
                      <a:pt x="70" y="0"/>
                    </a:cubicBezTo>
                    <a:cubicBezTo>
                      <a:pt x="69" y="0"/>
                      <a:pt x="61" y="1"/>
                      <a:pt x="6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95" name="Freeform 605">
                <a:extLst>
                  <a:ext uri="{FF2B5EF4-FFF2-40B4-BE49-F238E27FC236}">
                    <a16:creationId xmlns:a16="http://schemas.microsoft.com/office/drawing/2014/main" id="{3F6E5135-DBDA-446A-BED7-BF58FD34BB11}"/>
                  </a:ext>
                </a:extLst>
              </p:cNvPr>
              <p:cNvSpPr>
                <a:spLocks/>
              </p:cNvSpPr>
              <p:nvPr/>
            </p:nvSpPr>
            <p:spPr bwMode="auto">
              <a:xfrm>
                <a:off x="5544" y="567"/>
                <a:ext cx="129" cy="69"/>
              </a:xfrm>
              <a:custGeom>
                <a:avLst/>
                <a:gdLst>
                  <a:gd name="T0" fmla="*/ 3 w 93"/>
                  <a:gd name="T1" fmla="*/ 43 h 50"/>
                  <a:gd name="T2" fmla="*/ 2 w 93"/>
                  <a:gd name="T3" fmla="*/ 48 h 50"/>
                  <a:gd name="T4" fmla="*/ 11 w 93"/>
                  <a:gd name="T5" fmla="*/ 49 h 50"/>
                  <a:gd name="T6" fmla="*/ 20 w 93"/>
                  <a:gd name="T7" fmla="*/ 45 h 50"/>
                  <a:gd name="T8" fmla="*/ 30 w 93"/>
                  <a:gd name="T9" fmla="*/ 41 h 50"/>
                  <a:gd name="T10" fmla="*/ 39 w 93"/>
                  <a:gd name="T11" fmla="*/ 41 h 50"/>
                  <a:gd name="T12" fmla="*/ 47 w 93"/>
                  <a:gd name="T13" fmla="*/ 41 h 50"/>
                  <a:gd name="T14" fmla="*/ 50 w 93"/>
                  <a:gd name="T15" fmla="*/ 42 h 50"/>
                  <a:gd name="T16" fmla="*/ 54 w 93"/>
                  <a:gd name="T17" fmla="*/ 41 h 50"/>
                  <a:gd name="T18" fmla="*/ 58 w 93"/>
                  <a:gd name="T19" fmla="*/ 40 h 50"/>
                  <a:gd name="T20" fmla="*/ 68 w 93"/>
                  <a:gd name="T21" fmla="*/ 39 h 50"/>
                  <a:gd name="T22" fmla="*/ 74 w 93"/>
                  <a:gd name="T23" fmla="*/ 37 h 50"/>
                  <a:gd name="T24" fmla="*/ 80 w 93"/>
                  <a:gd name="T25" fmla="*/ 37 h 50"/>
                  <a:gd name="T26" fmla="*/ 85 w 93"/>
                  <a:gd name="T27" fmla="*/ 36 h 50"/>
                  <a:gd name="T28" fmla="*/ 91 w 93"/>
                  <a:gd name="T29" fmla="*/ 31 h 50"/>
                  <a:gd name="T30" fmla="*/ 91 w 93"/>
                  <a:gd name="T31" fmla="*/ 27 h 50"/>
                  <a:gd name="T32" fmla="*/ 89 w 93"/>
                  <a:gd name="T33" fmla="*/ 22 h 50"/>
                  <a:gd name="T34" fmla="*/ 78 w 93"/>
                  <a:gd name="T35" fmla="*/ 20 h 50"/>
                  <a:gd name="T36" fmla="*/ 78 w 93"/>
                  <a:gd name="T37" fmla="*/ 18 h 50"/>
                  <a:gd name="T38" fmla="*/ 73 w 93"/>
                  <a:gd name="T39" fmla="*/ 16 h 50"/>
                  <a:gd name="T40" fmla="*/ 71 w 93"/>
                  <a:gd name="T41" fmla="*/ 13 h 50"/>
                  <a:gd name="T42" fmla="*/ 67 w 93"/>
                  <a:gd name="T43" fmla="*/ 10 h 50"/>
                  <a:gd name="T44" fmla="*/ 51 w 93"/>
                  <a:gd name="T45" fmla="*/ 13 h 50"/>
                  <a:gd name="T46" fmla="*/ 51 w 93"/>
                  <a:gd name="T47" fmla="*/ 11 h 50"/>
                  <a:gd name="T48" fmla="*/ 52 w 93"/>
                  <a:gd name="T49" fmla="*/ 8 h 50"/>
                  <a:gd name="T50" fmla="*/ 55 w 93"/>
                  <a:gd name="T51" fmla="*/ 6 h 50"/>
                  <a:gd name="T52" fmla="*/ 55 w 93"/>
                  <a:gd name="T53" fmla="*/ 4 h 50"/>
                  <a:gd name="T54" fmla="*/ 53 w 93"/>
                  <a:gd name="T55" fmla="*/ 3 h 50"/>
                  <a:gd name="T56" fmla="*/ 46 w 93"/>
                  <a:gd name="T57" fmla="*/ 1 h 50"/>
                  <a:gd name="T58" fmla="*/ 42 w 93"/>
                  <a:gd name="T59" fmla="*/ 7 h 50"/>
                  <a:gd name="T60" fmla="*/ 38 w 93"/>
                  <a:gd name="T61" fmla="*/ 4 h 50"/>
                  <a:gd name="T62" fmla="*/ 29 w 93"/>
                  <a:gd name="T63" fmla="*/ 8 h 50"/>
                  <a:gd name="T64" fmla="*/ 28 w 93"/>
                  <a:gd name="T65" fmla="*/ 13 h 50"/>
                  <a:gd name="T66" fmla="*/ 26 w 93"/>
                  <a:gd name="T67" fmla="*/ 14 h 50"/>
                  <a:gd name="T68" fmla="*/ 23 w 93"/>
                  <a:gd name="T69" fmla="*/ 20 h 50"/>
                  <a:gd name="T70" fmla="*/ 26 w 93"/>
                  <a:gd name="T71" fmla="*/ 23 h 50"/>
                  <a:gd name="T72" fmla="*/ 20 w 93"/>
                  <a:gd name="T73" fmla="*/ 22 h 50"/>
                  <a:gd name="T74" fmla="*/ 14 w 93"/>
                  <a:gd name="T75" fmla="*/ 27 h 50"/>
                  <a:gd name="T76" fmla="*/ 9 w 93"/>
                  <a:gd name="T77" fmla="*/ 38 h 50"/>
                  <a:gd name="T78" fmla="*/ 3 w 93"/>
                  <a:gd name="T79" fmla="*/ 4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50">
                    <a:moveTo>
                      <a:pt x="3" y="43"/>
                    </a:moveTo>
                    <a:cubicBezTo>
                      <a:pt x="0" y="45"/>
                      <a:pt x="2" y="48"/>
                      <a:pt x="2" y="48"/>
                    </a:cubicBezTo>
                    <a:cubicBezTo>
                      <a:pt x="4" y="50"/>
                      <a:pt x="9" y="50"/>
                      <a:pt x="11" y="49"/>
                    </a:cubicBezTo>
                    <a:cubicBezTo>
                      <a:pt x="12" y="49"/>
                      <a:pt x="18" y="46"/>
                      <a:pt x="20" y="45"/>
                    </a:cubicBezTo>
                    <a:cubicBezTo>
                      <a:pt x="23" y="44"/>
                      <a:pt x="28" y="42"/>
                      <a:pt x="30" y="41"/>
                    </a:cubicBezTo>
                    <a:cubicBezTo>
                      <a:pt x="32" y="41"/>
                      <a:pt x="38" y="41"/>
                      <a:pt x="39" y="41"/>
                    </a:cubicBezTo>
                    <a:cubicBezTo>
                      <a:pt x="40" y="42"/>
                      <a:pt x="46" y="41"/>
                      <a:pt x="47" y="41"/>
                    </a:cubicBezTo>
                    <a:cubicBezTo>
                      <a:pt x="49" y="40"/>
                      <a:pt x="49" y="41"/>
                      <a:pt x="50" y="42"/>
                    </a:cubicBezTo>
                    <a:cubicBezTo>
                      <a:pt x="51" y="43"/>
                      <a:pt x="52" y="41"/>
                      <a:pt x="54" y="41"/>
                    </a:cubicBezTo>
                    <a:cubicBezTo>
                      <a:pt x="55" y="40"/>
                      <a:pt x="57" y="40"/>
                      <a:pt x="58" y="40"/>
                    </a:cubicBezTo>
                    <a:cubicBezTo>
                      <a:pt x="60" y="40"/>
                      <a:pt x="66" y="39"/>
                      <a:pt x="68" y="39"/>
                    </a:cubicBezTo>
                    <a:cubicBezTo>
                      <a:pt x="70" y="39"/>
                      <a:pt x="72" y="38"/>
                      <a:pt x="74" y="37"/>
                    </a:cubicBezTo>
                    <a:cubicBezTo>
                      <a:pt x="76" y="36"/>
                      <a:pt x="79" y="36"/>
                      <a:pt x="80" y="37"/>
                    </a:cubicBezTo>
                    <a:cubicBezTo>
                      <a:pt x="82" y="37"/>
                      <a:pt x="83" y="37"/>
                      <a:pt x="85" y="36"/>
                    </a:cubicBezTo>
                    <a:cubicBezTo>
                      <a:pt x="86" y="35"/>
                      <a:pt x="89" y="33"/>
                      <a:pt x="91" y="31"/>
                    </a:cubicBezTo>
                    <a:cubicBezTo>
                      <a:pt x="93" y="29"/>
                      <a:pt x="92" y="29"/>
                      <a:pt x="91" y="27"/>
                    </a:cubicBezTo>
                    <a:cubicBezTo>
                      <a:pt x="90" y="26"/>
                      <a:pt x="91" y="26"/>
                      <a:pt x="89" y="22"/>
                    </a:cubicBezTo>
                    <a:cubicBezTo>
                      <a:pt x="88" y="19"/>
                      <a:pt x="79" y="20"/>
                      <a:pt x="78" y="20"/>
                    </a:cubicBezTo>
                    <a:cubicBezTo>
                      <a:pt x="76" y="20"/>
                      <a:pt x="79" y="19"/>
                      <a:pt x="78" y="18"/>
                    </a:cubicBezTo>
                    <a:cubicBezTo>
                      <a:pt x="77" y="16"/>
                      <a:pt x="75" y="16"/>
                      <a:pt x="73" y="16"/>
                    </a:cubicBezTo>
                    <a:cubicBezTo>
                      <a:pt x="72" y="16"/>
                      <a:pt x="71" y="16"/>
                      <a:pt x="71" y="13"/>
                    </a:cubicBezTo>
                    <a:cubicBezTo>
                      <a:pt x="71" y="11"/>
                      <a:pt x="70" y="11"/>
                      <a:pt x="67" y="10"/>
                    </a:cubicBezTo>
                    <a:cubicBezTo>
                      <a:pt x="64" y="9"/>
                      <a:pt x="52" y="12"/>
                      <a:pt x="51" y="13"/>
                    </a:cubicBezTo>
                    <a:cubicBezTo>
                      <a:pt x="49" y="13"/>
                      <a:pt x="52" y="12"/>
                      <a:pt x="51" y="11"/>
                    </a:cubicBezTo>
                    <a:cubicBezTo>
                      <a:pt x="50" y="10"/>
                      <a:pt x="52" y="10"/>
                      <a:pt x="52" y="8"/>
                    </a:cubicBezTo>
                    <a:cubicBezTo>
                      <a:pt x="52" y="7"/>
                      <a:pt x="53" y="7"/>
                      <a:pt x="55" y="6"/>
                    </a:cubicBezTo>
                    <a:cubicBezTo>
                      <a:pt x="57" y="5"/>
                      <a:pt x="56" y="5"/>
                      <a:pt x="55" y="4"/>
                    </a:cubicBezTo>
                    <a:cubicBezTo>
                      <a:pt x="55" y="4"/>
                      <a:pt x="54" y="3"/>
                      <a:pt x="53" y="3"/>
                    </a:cubicBezTo>
                    <a:cubicBezTo>
                      <a:pt x="52" y="2"/>
                      <a:pt x="48" y="2"/>
                      <a:pt x="46" y="1"/>
                    </a:cubicBezTo>
                    <a:cubicBezTo>
                      <a:pt x="44" y="0"/>
                      <a:pt x="43" y="6"/>
                      <a:pt x="42" y="7"/>
                    </a:cubicBezTo>
                    <a:cubicBezTo>
                      <a:pt x="41" y="8"/>
                      <a:pt x="39" y="7"/>
                      <a:pt x="38" y="4"/>
                    </a:cubicBezTo>
                    <a:cubicBezTo>
                      <a:pt x="37" y="2"/>
                      <a:pt x="30" y="6"/>
                      <a:pt x="29" y="8"/>
                    </a:cubicBezTo>
                    <a:cubicBezTo>
                      <a:pt x="27" y="9"/>
                      <a:pt x="27" y="11"/>
                      <a:pt x="28" y="13"/>
                    </a:cubicBezTo>
                    <a:cubicBezTo>
                      <a:pt x="29" y="15"/>
                      <a:pt x="28" y="14"/>
                      <a:pt x="26" y="14"/>
                    </a:cubicBezTo>
                    <a:cubicBezTo>
                      <a:pt x="24" y="14"/>
                      <a:pt x="23" y="19"/>
                      <a:pt x="23" y="20"/>
                    </a:cubicBezTo>
                    <a:cubicBezTo>
                      <a:pt x="22" y="22"/>
                      <a:pt x="24" y="21"/>
                      <a:pt x="26" y="23"/>
                    </a:cubicBezTo>
                    <a:cubicBezTo>
                      <a:pt x="28" y="24"/>
                      <a:pt x="21" y="23"/>
                      <a:pt x="20" y="22"/>
                    </a:cubicBezTo>
                    <a:cubicBezTo>
                      <a:pt x="18" y="22"/>
                      <a:pt x="15" y="25"/>
                      <a:pt x="14" y="27"/>
                    </a:cubicBezTo>
                    <a:cubicBezTo>
                      <a:pt x="12" y="29"/>
                      <a:pt x="10" y="35"/>
                      <a:pt x="9" y="38"/>
                    </a:cubicBezTo>
                    <a:cubicBezTo>
                      <a:pt x="8" y="40"/>
                      <a:pt x="5" y="42"/>
                      <a:pt x="3" y="4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96" name="Freeform 606">
                <a:extLst>
                  <a:ext uri="{FF2B5EF4-FFF2-40B4-BE49-F238E27FC236}">
                    <a16:creationId xmlns:a16="http://schemas.microsoft.com/office/drawing/2014/main" id="{F7348572-A887-45A2-BAA5-DDD1D9E7B7EE}"/>
                  </a:ext>
                </a:extLst>
              </p:cNvPr>
              <p:cNvSpPr>
                <a:spLocks/>
              </p:cNvSpPr>
              <p:nvPr/>
            </p:nvSpPr>
            <p:spPr bwMode="auto">
              <a:xfrm>
                <a:off x="5123" y="497"/>
                <a:ext cx="34" cy="10"/>
              </a:xfrm>
              <a:custGeom>
                <a:avLst/>
                <a:gdLst>
                  <a:gd name="T0" fmla="*/ 5 w 24"/>
                  <a:gd name="T1" fmla="*/ 5 h 7"/>
                  <a:gd name="T2" fmla="*/ 22 w 24"/>
                  <a:gd name="T3" fmla="*/ 2 h 7"/>
                  <a:gd name="T4" fmla="*/ 16 w 24"/>
                  <a:gd name="T5" fmla="*/ 0 h 7"/>
                  <a:gd name="T6" fmla="*/ 7 w 24"/>
                  <a:gd name="T7" fmla="*/ 0 h 7"/>
                  <a:gd name="T8" fmla="*/ 3 w 24"/>
                  <a:gd name="T9" fmla="*/ 3 h 7"/>
                  <a:gd name="T10" fmla="*/ 5 w 24"/>
                  <a:gd name="T11" fmla="*/ 5 h 7"/>
                </a:gdLst>
                <a:ahLst/>
                <a:cxnLst>
                  <a:cxn ang="0">
                    <a:pos x="T0" y="T1"/>
                  </a:cxn>
                  <a:cxn ang="0">
                    <a:pos x="T2" y="T3"/>
                  </a:cxn>
                  <a:cxn ang="0">
                    <a:pos x="T4" y="T5"/>
                  </a:cxn>
                  <a:cxn ang="0">
                    <a:pos x="T6" y="T7"/>
                  </a:cxn>
                  <a:cxn ang="0">
                    <a:pos x="T8" y="T9"/>
                  </a:cxn>
                  <a:cxn ang="0">
                    <a:pos x="T10" y="T11"/>
                  </a:cxn>
                </a:cxnLst>
                <a:rect l="0" t="0" r="r" b="b"/>
                <a:pathLst>
                  <a:path w="24" h="7">
                    <a:moveTo>
                      <a:pt x="5" y="5"/>
                    </a:moveTo>
                    <a:cubicBezTo>
                      <a:pt x="10" y="5"/>
                      <a:pt x="19" y="4"/>
                      <a:pt x="22" y="2"/>
                    </a:cubicBezTo>
                    <a:cubicBezTo>
                      <a:pt x="24" y="0"/>
                      <a:pt x="18" y="0"/>
                      <a:pt x="16" y="0"/>
                    </a:cubicBezTo>
                    <a:cubicBezTo>
                      <a:pt x="15" y="0"/>
                      <a:pt x="9" y="0"/>
                      <a:pt x="7" y="0"/>
                    </a:cubicBezTo>
                    <a:cubicBezTo>
                      <a:pt x="5" y="0"/>
                      <a:pt x="5" y="0"/>
                      <a:pt x="3" y="3"/>
                    </a:cubicBezTo>
                    <a:cubicBezTo>
                      <a:pt x="0" y="7"/>
                      <a:pt x="5" y="5"/>
                      <a:pt x="5"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97" name="Freeform 607">
                <a:extLst>
                  <a:ext uri="{FF2B5EF4-FFF2-40B4-BE49-F238E27FC236}">
                    <a16:creationId xmlns:a16="http://schemas.microsoft.com/office/drawing/2014/main" id="{887BD6A1-B1D7-4885-8D91-C26DFE4FF78A}"/>
                  </a:ext>
                </a:extLst>
              </p:cNvPr>
              <p:cNvSpPr>
                <a:spLocks/>
              </p:cNvSpPr>
              <p:nvPr/>
            </p:nvSpPr>
            <p:spPr bwMode="auto">
              <a:xfrm>
                <a:off x="4938" y="820"/>
                <a:ext cx="39" cy="19"/>
              </a:xfrm>
              <a:custGeom>
                <a:avLst/>
                <a:gdLst>
                  <a:gd name="T0" fmla="*/ 2 w 28"/>
                  <a:gd name="T1" fmla="*/ 14 h 14"/>
                  <a:gd name="T2" fmla="*/ 4 w 28"/>
                  <a:gd name="T3" fmla="*/ 13 h 14"/>
                  <a:gd name="T4" fmla="*/ 6 w 28"/>
                  <a:gd name="T5" fmla="*/ 13 h 14"/>
                  <a:gd name="T6" fmla="*/ 12 w 28"/>
                  <a:gd name="T7" fmla="*/ 12 h 14"/>
                  <a:gd name="T8" fmla="*/ 18 w 28"/>
                  <a:gd name="T9" fmla="*/ 11 h 14"/>
                  <a:gd name="T10" fmla="*/ 22 w 28"/>
                  <a:gd name="T11" fmla="*/ 10 h 14"/>
                  <a:gd name="T12" fmla="*/ 26 w 28"/>
                  <a:gd name="T13" fmla="*/ 10 h 14"/>
                  <a:gd name="T14" fmla="*/ 26 w 28"/>
                  <a:gd name="T15" fmla="*/ 7 h 14"/>
                  <a:gd name="T16" fmla="*/ 22 w 28"/>
                  <a:gd name="T17" fmla="*/ 6 h 14"/>
                  <a:gd name="T18" fmla="*/ 19 w 28"/>
                  <a:gd name="T19" fmla="*/ 4 h 14"/>
                  <a:gd name="T20" fmla="*/ 20 w 28"/>
                  <a:gd name="T21" fmla="*/ 2 h 14"/>
                  <a:gd name="T22" fmla="*/ 19 w 28"/>
                  <a:gd name="T23" fmla="*/ 1 h 14"/>
                  <a:gd name="T24" fmla="*/ 11 w 28"/>
                  <a:gd name="T25" fmla="*/ 1 h 14"/>
                  <a:gd name="T26" fmla="*/ 3 w 28"/>
                  <a:gd name="T27" fmla="*/ 2 h 14"/>
                  <a:gd name="T28" fmla="*/ 2 w 28"/>
                  <a:gd name="T29" fmla="*/ 4 h 14"/>
                  <a:gd name="T30" fmla="*/ 2 w 28"/>
                  <a:gd name="T31" fmla="*/ 8 h 14"/>
                  <a:gd name="T32" fmla="*/ 1 w 28"/>
                  <a:gd name="T33" fmla="*/ 12 h 14"/>
                  <a:gd name="T34" fmla="*/ 2 w 28"/>
                  <a:gd name="T35"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14">
                    <a:moveTo>
                      <a:pt x="2" y="14"/>
                    </a:moveTo>
                    <a:cubicBezTo>
                      <a:pt x="3" y="14"/>
                      <a:pt x="4" y="14"/>
                      <a:pt x="4" y="13"/>
                    </a:cubicBezTo>
                    <a:cubicBezTo>
                      <a:pt x="5" y="12"/>
                      <a:pt x="5" y="12"/>
                      <a:pt x="6" y="13"/>
                    </a:cubicBezTo>
                    <a:cubicBezTo>
                      <a:pt x="8" y="14"/>
                      <a:pt x="9" y="13"/>
                      <a:pt x="12" y="12"/>
                    </a:cubicBezTo>
                    <a:cubicBezTo>
                      <a:pt x="14" y="11"/>
                      <a:pt x="16" y="11"/>
                      <a:pt x="18" y="11"/>
                    </a:cubicBezTo>
                    <a:cubicBezTo>
                      <a:pt x="19" y="11"/>
                      <a:pt x="21" y="11"/>
                      <a:pt x="22" y="10"/>
                    </a:cubicBezTo>
                    <a:cubicBezTo>
                      <a:pt x="23" y="9"/>
                      <a:pt x="25" y="10"/>
                      <a:pt x="26" y="10"/>
                    </a:cubicBezTo>
                    <a:cubicBezTo>
                      <a:pt x="28" y="10"/>
                      <a:pt x="27" y="8"/>
                      <a:pt x="26" y="7"/>
                    </a:cubicBezTo>
                    <a:cubicBezTo>
                      <a:pt x="25" y="5"/>
                      <a:pt x="23" y="5"/>
                      <a:pt x="22" y="6"/>
                    </a:cubicBezTo>
                    <a:cubicBezTo>
                      <a:pt x="21" y="6"/>
                      <a:pt x="20" y="5"/>
                      <a:pt x="19" y="4"/>
                    </a:cubicBezTo>
                    <a:cubicBezTo>
                      <a:pt x="18" y="2"/>
                      <a:pt x="19" y="2"/>
                      <a:pt x="20" y="2"/>
                    </a:cubicBezTo>
                    <a:cubicBezTo>
                      <a:pt x="21" y="2"/>
                      <a:pt x="21" y="1"/>
                      <a:pt x="19" y="1"/>
                    </a:cubicBezTo>
                    <a:cubicBezTo>
                      <a:pt x="18" y="0"/>
                      <a:pt x="13" y="1"/>
                      <a:pt x="11" y="1"/>
                    </a:cubicBezTo>
                    <a:cubicBezTo>
                      <a:pt x="10" y="1"/>
                      <a:pt x="5" y="2"/>
                      <a:pt x="3" y="2"/>
                    </a:cubicBezTo>
                    <a:cubicBezTo>
                      <a:pt x="2" y="3"/>
                      <a:pt x="2" y="4"/>
                      <a:pt x="2" y="4"/>
                    </a:cubicBezTo>
                    <a:cubicBezTo>
                      <a:pt x="2" y="4"/>
                      <a:pt x="3" y="6"/>
                      <a:pt x="2" y="8"/>
                    </a:cubicBezTo>
                    <a:cubicBezTo>
                      <a:pt x="2" y="10"/>
                      <a:pt x="2" y="10"/>
                      <a:pt x="1" y="12"/>
                    </a:cubicBezTo>
                    <a:cubicBezTo>
                      <a:pt x="0" y="13"/>
                      <a:pt x="1" y="13"/>
                      <a:pt x="2" y="1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98" name="Freeform 608">
                <a:extLst>
                  <a:ext uri="{FF2B5EF4-FFF2-40B4-BE49-F238E27FC236}">
                    <a16:creationId xmlns:a16="http://schemas.microsoft.com/office/drawing/2014/main" id="{B4E5034A-1C69-464E-9FE6-10BEF2916226}"/>
                  </a:ext>
                </a:extLst>
              </p:cNvPr>
              <p:cNvSpPr>
                <a:spLocks/>
              </p:cNvSpPr>
              <p:nvPr/>
            </p:nvSpPr>
            <p:spPr bwMode="auto">
              <a:xfrm>
                <a:off x="4425" y="501"/>
                <a:ext cx="81" cy="21"/>
              </a:xfrm>
              <a:custGeom>
                <a:avLst/>
                <a:gdLst>
                  <a:gd name="T0" fmla="*/ 4 w 59"/>
                  <a:gd name="T1" fmla="*/ 9 h 15"/>
                  <a:gd name="T2" fmla="*/ 9 w 59"/>
                  <a:gd name="T3" fmla="*/ 11 h 15"/>
                  <a:gd name="T4" fmla="*/ 16 w 59"/>
                  <a:gd name="T5" fmla="*/ 11 h 15"/>
                  <a:gd name="T6" fmla="*/ 18 w 59"/>
                  <a:gd name="T7" fmla="*/ 13 h 15"/>
                  <a:gd name="T8" fmla="*/ 21 w 59"/>
                  <a:gd name="T9" fmla="*/ 14 h 15"/>
                  <a:gd name="T10" fmla="*/ 26 w 59"/>
                  <a:gd name="T11" fmla="*/ 12 h 15"/>
                  <a:gd name="T12" fmla="*/ 30 w 59"/>
                  <a:gd name="T13" fmla="*/ 11 h 15"/>
                  <a:gd name="T14" fmla="*/ 33 w 59"/>
                  <a:gd name="T15" fmla="*/ 10 h 15"/>
                  <a:gd name="T16" fmla="*/ 37 w 59"/>
                  <a:gd name="T17" fmla="*/ 10 h 15"/>
                  <a:gd name="T18" fmla="*/ 39 w 59"/>
                  <a:gd name="T19" fmla="*/ 7 h 15"/>
                  <a:gd name="T20" fmla="*/ 42 w 59"/>
                  <a:gd name="T21" fmla="*/ 4 h 15"/>
                  <a:gd name="T22" fmla="*/ 44 w 59"/>
                  <a:gd name="T23" fmla="*/ 5 h 15"/>
                  <a:gd name="T24" fmla="*/ 48 w 59"/>
                  <a:gd name="T25" fmla="*/ 7 h 15"/>
                  <a:gd name="T26" fmla="*/ 53 w 59"/>
                  <a:gd name="T27" fmla="*/ 8 h 15"/>
                  <a:gd name="T28" fmla="*/ 57 w 59"/>
                  <a:gd name="T29" fmla="*/ 9 h 15"/>
                  <a:gd name="T30" fmla="*/ 56 w 59"/>
                  <a:gd name="T31" fmla="*/ 6 h 15"/>
                  <a:gd name="T32" fmla="*/ 56 w 59"/>
                  <a:gd name="T33" fmla="*/ 4 h 15"/>
                  <a:gd name="T34" fmla="*/ 50 w 59"/>
                  <a:gd name="T35" fmla="*/ 1 h 15"/>
                  <a:gd name="T36" fmla="*/ 42 w 59"/>
                  <a:gd name="T37" fmla="*/ 1 h 15"/>
                  <a:gd name="T38" fmla="*/ 36 w 59"/>
                  <a:gd name="T39" fmla="*/ 1 h 15"/>
                  <a:gd name="T40" fmla="*/ 5 w 59"/>
                  <a:gd name="T41" fmla="*/ 8 h 15"/>
                  <a:gd name="T42" fmla="*/ 4 w 59"/>
                  <a:gd name="T43" fmla="*/ 9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9" h="15">
                    <a:moveTo>
                      <a:pt x="4" y="9"/>
                    </a:moveTo>
                    <a:cubicBezTo>
                      <a:pt x="5" y="9"/>
                      <a:pt x="7" y="10"/>
                      <a:pt x="9" y="11"/>
                    </a:cubicBezTo>
                    <a:cubicBezTo>
                      <a:pt x="11" y="13"/>
                      <a:pt x="13" y="12"/>
                      <a:pt x="16" y="11"/>
                    </a:cubicBezTo>
                    <a:cubicBezTo>
                      <a:pt x="18" y="10"/>
                      <a:pt x="18" y="11"/>
                      <a:pt x="18" y="13"/>
                    </a:cubicBezTo>
                    <a:cubicBezTo>
                      <a:pt x="17" y="15"/>
                      <a:pt x="19" y="15"/>
                      <a:pt x="21" y="14"/>
                    </a:cubicBezTo>
                    <a:cubicBezTo>
                      <a:pt x="23" y="14"/>
                      <a:pt x="26" y="14"/>
                      <a:pt x="26" y="12"/>
                    </a:cubicBezTo>
                    <a:cubicBezTo>
                      <a:pt x="27" y="11"/>
                      <a:pt x="29" y="11"/>
                      <a:pt x="30" y="11"/>
                    </a:cubicBezTo>
                    <a:cubicBezTo>
                      <a:pt x="31" y="11"/>
                      <a:pt x="33" y="11"/>
                      <a:pt x="33" y="10"/>
                    </a:cubicBezTo>
                    <a:cubicBezTo>
                      <a:pt x="34" y="8"/>
                      <a:pt x="36" y="9"/>
                      <a:pt x="37" y="10"/>
                    </a:cubicBezTo>
                    <a:cubicBezTo>
                      <a:pt x="39" y="10"/>
                      <a:pt x="39" y="7"/>
                      <a:pt x="39" y="7"/>
                    </a:cubicBezTo>
                    <a:cubicBezTo>
                      <a:pt x="40" y="7"/>
                      <a:pt x="40" y="5"/>
                      <a:pt x="42" y="4"/>
                    </a:cubicBezTo>
                    <a:cubicBezTo>
                      <a:pt x="43" y="3"/>
                      <a:pt x="43" y="4"/>
                      <a:pt x="44" y="5"/>
                    </a:cubicBezTo>
                    <a:cubicBezTo>
                      <a:pt x="45" y="6"/>
                      <a:pt x="46" y="5"/>
                      <a:pt x="48" y="7"/>
                    </a:cubicBezTo>
                    <a:cubicBezTo>
                      <a:pt x="49" y="8"/>
                      <a:pt x="52" y="8"/>
                      <a:pt x="53" y="8"/>
                    </a:cubicBezTo>
                    <a:cubicBezTo>
                      <a:pt x="55" y="8"/>
                      <a:pt x="56" y="9"/>
                      <a:pt x="57" y="9"/>
                    </a:cubicBezTo>
                    <a:cubicBezTo>
                      <a:pt x="59" y="9"/>
                      <a:pt x="57" y="7"/>
                      <a:pt x="56" y="6"/>
                    </a:cubicBezTo>
                    <a:cubicBezTo>
                      <a:pt x="56" y="5"/>
                      <a:pt x="55" y="5"/>
                      <a:pt x="56" y="4"/>
                    </a:cubicBezTo>
                    <a:cubicBezTo>
                      <a:pt x="56" y="3"/>
                      <a:pt x="51" y="2"/>
                      <a:pt x="50" y="1"/>
                    </a:cubicBezTo>
                    <a:cubicBezTo>
                      <a:pt x="49" y="1"/>
                      <a:pt x="45" y="2"/>
                      <a:pt x="42" y="1"/>
                    </a:cubicBezTo>
                    <a:cubicBezTo>
                      <a:pt x="39" y="0"/>
                      <a:pt x="36" y="1"/>
                      <a:pt x="36" y="1"/>
                    </a:cubicBezTo>
                    <a:cubicBezTo>
                      <a:pt x="36" y="1"/>
                      <a:pt x="10" y="7"/>
                      <a:pt x="5" y="8"/>
                    </a:cubicBezTo>
                    <a:cubicBezTo>
                      <a:pt x="0" y="9"/>
                      <a:pt x="4" y="9"/>
                      <a:pt x="4"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99" name="Freeform 609">
                <a:extLst>
                  <a:ext uri="{FF2B5EF4-FFF2-40B4-BE49-F238E27FC236}">
                    <a16:creationId xmlns:a16="http://schemas.microsoft.com/office/drawing/2014/main" id="{23159224-2361-4CB0-9F87-B9CCB2B923A3}"/>
                  </a:ext>
                </a:extLst>
              </p:cNvPr>
              <p:cNvSpPr>
                <a:spLocks/>
              </p:cNvSpPr>
              <p:nvPr/>
            </p:nvSpPr>
            <p:spPr bwMode="auto">
              <a:xfrm>
                <a:off x="4461" y="499"/>
                <a:ext cx="108" cy="41"/>
              </a:xfrm>
              <a:custGeom>
                <a:avLst/>
                <a:gdLst>
                  <a:gd name="T0" fmla="*/ 43 w 78"/>
                  <a:gd name="T1" fmla="*/ 10 h 30"/>
                  <a:gd name="T2" fmla="*/ 40 w 78"/>
                  <a:gd name="T3" fmla="*/ 12 h 30"/>
                  <a:gd name="T4" fmla="*/ 37 w 78"/>
                  <a:gd name="T5" fmla="*/ 14 h 30"/>
                  <a:gd name="T6" fmla="*/ 32 w 78"/>
                  <a:gd name="T7" fmla="*/ 15 h 30"/>
                  <a:gd name="T8" fmla="*/ 27 w 78"/>
                  <a:gd name="T9" fmla="*/ 13 h 30"/>
                  <a:gd name="T10" fmla="*/ 24 w 78"/>
                  <a:gd name="T11" fmla="*/ 14 h 30"/>
                  <a:gd name="T12" fmla="*/ 21 w 78"/>
                  <a:gd name="T13" fmla="*/ 13 h 30"/>
                  <a:gd name="T14" fmla="*/ 13 w 78"/>
                  <a:gd name="T15" fmla="*/ 16 h 30"/>
                  <a:gd name="T16" fmla="*/ 17 w 78"/>
                  <a:gd name="T17" fmla="*/ 16 h 30"/>
                  <a:gd name="T18" fmla="*/ 22 w 78"/>
                  <a:gd name="T19" fmla="*/ 16 h 30"/>
                  <a:gd name="T20" fmla="*/ 22 w 78"/>
                  <a:gd name="T21" fmla="*/ 18 h 30"/>
                  <a:gd name="T22" fmla="*/ 16 w 78"/>
                  <a:gd name="T23" fmla="*/ 18 h 30"/>
                  <a:gd name="T24" fmla="*/ 20 w 78"/>
                  <a:gd name="T25" fmla="*/ 20 h 30"/>
                  <a:gd name="T26" fmla="*/ 22 w 78"/>
                  <a:gd name="T27" fmla="*/ 21 h 30"/>
                  <a:gd name="T28" fmla="*/ 18 w 78"/>
                  <a:gd name="T29" fmla="*/ 22 h 30"/>
                  <a:gd name="T30" fmla="*/ 8 w 78"/>
                  <a:gd name="T31" fmla="*/ 20 h 30"/>
                  <a:gd name="T32" fmla="*/ 2 w 78"/>
                  <a:gd name="T33" fmla="*/ 21 h 30"/>
                  <a:gd name="T34" fmla="*/ 2 w 78"/>
                  <a:gd name="T35" fmla="*/ 23 h 30"/>
                  <a:gd name="T36" fmla="*/ 4 w 78"/>
                  <a:gd name="T37" fmla="*/ 25 h 30"/>
                  <a:gd name="T38" fmla="*/ 10 w 78"/>
                  <a:gd name="T39" fmla="*/ 25 h 30"/>
                  <a:gd name="T40" fmla="*/ 18 w 78"/>
                  <a:gd name="T41" fmla="*/ 24 h 30"/>
                  <a:gd name="T42" fmla="*/ 19 w 78"/>
                  <a:gd name="T43" fmla="*/ 26 h 30"/>
                  <a:gd name="T44" fmla="*/ 16 w 78"/>
                  <a:gd name="T45" fmla="*/ 28 h 30"/>
                  <a:gd name="T46" fmla="*/ 27 w 78"/>
                  <a:gd name="T47" fmla="*/ 28 h 30"/>
                  <a:gd name="T48" fmla="*/ 36 w 78"/>
                  <a:gd name="T49" fmla="*/ 26 h 30"/>
                  <a:gd name="T50" fmla="*/ 36 w 78"/>
                  <a:gd name="T51" fmla="*/ 24 h 30"/>
                  <a:gd name="T52" fmla="*/ 34 w 78"/>
                  <a:gd name="T53" fmla="*/ 22 h 30"/>
                  <a:gd name="T54" fmla="*/ 36 w 78"/>
                  <a:gd name="T55" fmla="*/ 18 h 30"/>
                  <a:gd name="T56" fmla="*/ 74 w 78"/>
                  <a:gd name="T57" fmla="*/ 8 h 30"/>
                  <a:gd name="T58" fmla="*/ 73 w 78"/>
                  <a:gd name="T59" fmla="*/ 7 h 30"/>
                  <a:gd name="T60" fmla="*/ 70 w 78"/>
                  <a:gd name="T61" fmla="*/ 6 h 30"/>
                  <a:gd name="T62" fmla="*/ 68 w 78"/>
                  <a:gd name="T63" fmla="*/ 6 h 30"/>
                  <a:gd name="T64" fmla="*/ 65 w 78"/>
                  <a:gd name="T65" fmla="*/ 2 h 30"/>
                  <a:gd name="T66" fmla="*/ 61 w 78"/>
                  <a:gd name="T67" fmla="*/ 2 h 30"/>
                  <a:gd name="T68" fmla="*/ 56 w 78"/>
                  <a:gd name="T69" fmla="*/ 1 h 30"/>
                  <a:gd name="T70" fmla="*/ 50 w 78"/>
                  <a:gd name="T71" fmla="*/ 1 h 30"/>
                  <a:gd name="T72" fmla="*/ 43 w 78"/>
                  <a:gd name="T73" fmla="*/ 3 h 30"/>
                  <a:gd name="T74" fmla="*/ 35 w 78"/>
                  <a:gd name="T75" fmla="*/ 6 h 30"/>
                  <a:gd name="T76" fmla="*/ 37 w 78"/>
                  <a:gd name="T77" fmla="*/ 7 h 30"/>
                  <a:gd name="T78" fmla="*/ 39 w 78"/>
                  <a:gd name="T79" fmla="*/ 8 h 30"/>
                  <a:gd name="T80" fmla="*/ 42 w 78"/>
                  <a:gd name="T81" fmla="*/ 8 h 30"/>
                  <a:gd name="T82" fmla="*/ 45 w 78"/>
                  <a:gd name="T83" fmla="*/ 10 h 30"/>
                  <a:gd name="T84" fmla="*/ 43 w 78"/>
                  <a:gd name="T85" fmla="*/ 1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8" h="30">
                    <a:moveTo>
                      <a:pt x="43" y="10"/>
                    </a:moveTo>
                    <a:cubicBezTo>
                      <a:pt x="41" y="9"/>
                      <a:pt x="41" y="12"/>
                      <a:pt x="40" y="12"/>
                    </a:cubicBezTo>
                    <a:cubicBezTo>
                      <a:pt x="39" y="13"/>
                      <a:pt x="38" y="14"/>
                      <a:pt x="37" y="14"/>
                    </a:cubicBezTo>
                    <a:cubicBezTo>
                      <a:pt x="36" y="14"/>
                      <a:pt x="33" y="15"/>
                      <a:pt x="32" y="15"/>
                    </a:cubicBezTo>
                    <a:cubicBezTo>
                      <a:pt x="32" y="15"/>
                      <a:pt x="28" y="14"/>
                      <a:pt x="27" y="13"/>
                    </a:cubicBezTo>
                    <a:cubicBezTo>
                      <a:pt x="26" y="12"/>
                      <a:pt x="25" y="13"/>
                      <a:pt x="24" y="14"/>
                    </a:cubicBezTo>
                    <a:cubicBezTo>
                      <a:pt x="24" y="14"/>
                      <a:pt x="23" y="14"/>
                      <a:pt x="21" y="13"/>
                    </a:cubicBezTo>
                    <a:cubicBezTo>
                      <a:pt x="19" y="13"/>
                      <a:pt x="16" y="15"/>
                      <a:pt x="13" y="16"/>
                    </a:cubicBezTo>
                    <a:cubicBezTo>
                      <a:pt x="11" y="17"/>
                      <a:pt x="16" y="17"/>
                      <a:pt x="17" y="16"/>
                    </a:cubicBezTo>
                    <a:cubicBezTo>
                      <a:pt x="19" y="15"/>
                      <a:pt x="19" y="16"/>
                      <a:pt x="22" y="16"/>
                    </a:cubicBezTo>
                    <a:cubicBezTo>
                      <a:pt x="24" y="17"/>
                      <a:pt x="23" y="18"/>
                      <a:pt x="22" y="18"/>
                    </a:cubicBezTo>
                    <a:cubicBezTo>
                      <a:pt x="21" y="18"/>
                      <a:pt x="18" y="18"/>
                      <a:pt x="16" y="18"/>
                    </a:cubicBezTo>
                    <a:cubicBezTo>
                      <a:pt x="14" y="18"/>
                      <a:pt x="18" y="20"/>
                      <a:pt x="20" y="20"/>
                    </a:cubicBezTo>
                    <a:cubicBezTo>
                      <a:pt x="22" y="20"/>
                      <a:pt x="22" y="21"/>
                      <a:pt x="22" y="21"/>
                    </a:cubicBezTo>
                    <a:cubicBezTo>
                      <a:pt x="22" y="21"/>
                      <a:pt x="20" y="21"/>
                      <a:pt x="18" y="22"/>
                    </a:cubicBezTo>
                    <a:cubicBezTo>
                      <a:pt x="16" y="22"/>
                      <a:pt x="11" y="21"/>
                      <a:pt x="8" y="20"/>
                    </a:cubicBezTo>
                    <a:cubicBezTo>
                      <a:pt x="6" y="19"/>
                      <a:pt x="3" y="21"/>
                      <a:pt x="2" y="21"/>
                    </a:cubicBezTo>
                    <a:cubicBezTo>
                      <a:pt x="0" y="22"/>
                      <a:pt x="1" y="23"/>
                      <a:pt x="2" y="23"/>
                    </a:cubicBezTo>
                    <a:cubicBezTo>
                      <a:pt x="3" y="24"/>
                      <a:pt x="4" y="25"/>
                      <a:pt x="4" y="25"/>
                    </a:cubicBezTo>
                    <a:cubicBezTo>
                      <a:pt x="5" y="27"/>
                      <a:pt x="7" y="26"/>
                      <a:pt x="10" y="25"/>
                    </a:cubicBezTo>
                    <a:cubicBezTo>
                      <a:pt x="12" y="23"/>
                      <a:pt x="13" y="24"/>
                      <a:pt x="18" y="24"/>
                    </a:cubicBezTo>
                    <a:cubicBezTo>
                      <a:pt x="23" y="25"/>
                      <a:pt x="20" y="25"/>
                      <a:pt x="19" y="26"/>
                    </a:cubicBezTo>
                    <a:cubicBezTo>
                      <a:pt x="18" y="26"/>
                      <a:pt x="18" y="26"/>
                      <a:pt x="16" y="28"/>
                    </a:cubicBezTo>
                    <a:cubicBezTo>
                      <a:pt x="14" y="30"/>
                      <a:pt x="23" y="28"/>
                      <a:pt x="27" y="28"/>
                    </a:cubicBezTo>
                    <a:cubicBezTo>
                      <a:pt x="31" y="27"/>
                      <a:pt x="34" y="27"/>
                      <a:pt x="36" y="26"/>
                    </a:cubicBezTo>
                    <a:cubicBezTo>
                      <a:pt x="39" y="25"/>
                      <a:pt x="36" y="25"/>
                      <a:pt x="36" y="24"/>
                    </a:cubicBezTo>
                    <a:cubicBezTo>
                      <a:pt x="36" y="24"/>
                      <a:pt x="36" y="24"/>
                      <a:pt x="34" y="22"/>
                    </a:cubicBezTo>
                    <a:cubicBezTo>
                      <a:pt x="31" y="19"/>
                      <a:pt x="36" y="18"/>
                      <a:pt x="36" y="18"/>
                    </a:cubicBezTo>
                    <a:cubicBezTo>
                      <a:pt x="37" y="18"/>
                      <a:pt x="70" y="10"/>
                      <a:pt x="74" y="8"/>
                    </a:cubicBezTo>
                    <a:cubicBezTo>
                      <a:pt x="78" y="7"/>
                      <a:pt x="75" y="7"/>
                      <a:pt x="73" y="7"/>
                    </a:cubicBezTo>
                    <a:cubicBezTo>
                      <a:pt x="72" y="6"/>
                      <a:pt x="71" y="7"/>
                      <a:pt x="70" y="6"/>
                    </a:cubicBezTo>
                    <a:cubicBezTo>
                      <a:pt x="69" y="5"/>
                      <a:pt x="68" y="5"/>
                      <a:pt x="68" y="6"/>
                    </a:cubicBezTo>
                    <a:cubicBezTo>
                      <a:pt x="67" y="7"/>
                      <a:pt x="65" y="4"/>
                      <a:pt x="65" y="2"/>
                    </a:cubicBezTo>
                    <a:cubicBezTo>
                      <a:pt x="64" y="0"/>
                      <a:pt x="62" y="1"/>
                      <a:pt x="61" y="2"/>
                    </a:cubicBezTo>
                    <a:cubicBezTo>
                      <a:pt x="60" y="2"/>
                      <a:pt x="58" y="2"/>
                      <a:pt x="56" y="1"/>
                    </a:cubicBezTo>
                    <a:cubicBezTo>
                      <a:pt x="55" y="0"/>
                      <a:pt x="51" y="1"/>
                      <a:pt x="50" y="1"/>
                    </a:cubicBezTo>
                    <a:cubicBezTo>
                      <a:pt x="49" y="1"/>
                      <a:pt x="44" y="3"/>
                      <a:pt x="43" y="3"/>
                    </a:cubicBezTo>
                    <a:cubicBezTo>
                      <a:pt x="42" y="4"/>
                      <a:pt x="38" y="4"/>
                      <a:pt x="35" y="6"/>
                    </a:cubicBezTo>
                    <a:cubicBezTo>
                      <a:pt x="33" y="7"/>
                      <a:pt x="36" y="8"/>
                      <a:pt x="37" y="7"/>
                    </a:cubicBezTo>
                    <a:cubicBezTo>
                      <a:pt x="38" y="7"/>
                      <a:pt x="40" y="7"/>
                      <a:pt x="39" y="8"/>
                    </a:cubicBezTo>
                    <a:cubicBezTo>
                      <a:pt x="38" y="9"/>
                      <a:pt x="42" y="8"/>
                      <a:pt x="42" y="8"/>
                    </a:cubicBezTo>
                    <a:cubicBezTo>
                      <a:pt x="43" y="7"/>
                      <a:pt x="45" y="8"/>
                      <a:pt x="45" y="10"/>
                    </a:cubicBezTo>
                    <a:cubicBezTo>
                      <a:pt x="45" y="11"/>
                      <a:pt x="44" y="10"/>
                      <a:pt x="43"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00" name="Freeform 610">
                <a:extLst>
                  <a:ext uri="{FF2B5EF4-FFF2-40B4-BE49-F238E27FC236}">
                    <a16:creationId xmlns:a16="http://schemas.microsoft.com/office/drawing/2014/main" id="{3874149B-5F63-4AF4-8DB4-8EAE884787A0}"/>
                  </a:ext>
                </a:extLst>
              </p:cNvPr>
              <p:cNvSpPr>
                <a:spLocks/>
              </p:cNvSpPr>
              <p:nvPr/>
            </p:nvSpPr>
            <p:spPr bwMode="auto">
              <a:xfrm>
                <a:off x="4577" y="521"/>
                <a:ext cx="33" cy="13"/>
              </a:xfrm>
              <a:custGeom>
                <a:avLst/>
                <a:gdLst>
                  <a:gd name="T0" fmla="*/ 3 w 24"/>
                  <a:gd name="T1" fmla="*/ 9 h 10"/>
                  <a:gd name="T2" fmla="*/ 10 w 24"/>
                  <a:gd name="T3" fmla="*/ 10 h 10"/>
                  <a:gd name="T4" fmla="*/ 17 w 24"/>
                  <a:gd name="T5" fmla="*/ 10 h 10"/>
                  <a:gd name="T6" fmla="*/ 19 w 24"/>
                  <a:gd name="T7" fmla="*/ 9 h 10"/>
                  <a:gd name="T8" fmla="*/ 23 w 24"/>
                  <a:gd name="T9" fmla="*/ 8 h 10"/>
                  <a:gd name="T10" fmla="*/ 19 w 24"/>
                  <a:gd name="T11" fmla="*/ 6 h 10"/>
                  <a:gd name="T12" fmla="*/ 14 w 24"/>
                  <a:gd name="T13" fmla="*/ 2 h 10"/>
                  <a:gd name="T14" fmla="*/ 3 w 24"/>
                  <a:gd name="T15" fmla="*/ 7 h 10"/>
                  <a:gd name="T16" fmla="*/ 3 w 24"/>
                  <a:gd name="T17"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0">
                    <a:moveTo>
                      <a:pt x="3" y="9"/>
                    </a:moveTo>
                    <a:cubicBezTo>
                      <a:pt x="4" y="9"/>
                      <a:pt x="8" y="10"/>
                      <a:pt x="10" y="10"/>
                    </a:cubicBezTo>
                    <a:cubicBezTo>
                      <a:pt x="12" y="10"/>
                      <a:pt x="14" y="10"/>
                      <a:pt x="17" y="10"/>
                    </a:cubicBezTo>
                    <a:cubicBezTo>
                      <a:pt x="19" y="10"/>
                      <a:pt x="18" y="10"/>
                      <a:pt x="19" y="9"/>
                    </a:cubicBezTo>
                    <a:cubicBezTo>
                      <a:pt x="19" y="8"/>
                      <a:pt x="21" y="9"/>
                      <a:pt x="23" y="8"/>
                    </a:cubicBezTo>
                    <a:cubicBezTo>
                      <a:pt x="24" y="8"/>
                      <a:pt x="23" y="7"/>
                      <a:pt x="19" y="6"/>
                    </a:cubicBezTo>
                    <a:cubicBezTo>
                      <a:pt x="15" y="5"/>
                      <a:pt x="18" y="4"/>
                      <a:pt x="14" y="2"/>
                    </a:cubicBezTo>
                    <a:cubicBezTo>
                      <a:pt x="11" y="0"/>
                      <a:pt x="6" y="5"/>
                      <a:pt x="3" y="7"/>
                    </a:cubicBezTo>
                    <a:cubicBezTo>
                      <a:pt x="0" y="9"/>
                      <a:pt x="3" y="9"/>
                      <a:pt x="3"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01" name="Freeform 611">
                <a:extLst>
                  <a:ext uri="{FF2B5EF4-FFF2-40B4-BE49-F238E27FC236}">
                    <a16:creationId xmlns:a16="http://schemas.microsoft.com/office/drawing/2014/main" id="{5688B8D3-1E62-40E9-8770-99D33DDEBBB8}"/>
                  </a:ext>
                </a:extLst>
              </p:cNvPr>
              <p:cNvSpPr>
                <a:spLocks/>
              </p:cNvSpPr>
              <p:nvPr/>
            </p:nvSpPr>
            <p:spPr bwMode="auto">
              <a:xfrm>
                <a:off x="4610" y="503"/>
                <a:ext cx="44" cy="7"/>
              </a:xfrm>
              <a:custGeom>
                <a:avLst/>
                <a:gdLst>
                  <a:gd name="T0" fmla="*/ 3 w 32"/>
                  <a:gd name="T1" fmla="*/ 2 h 5"/>
                  <a:gd name="T2" fmla="*/ 9 w 32"/>
                  <a:gd name="T3" fmla="*/ 2 h 5"/>
                  <a:gd name="T4" fmla="*/ 12 w 32"/>
                  <a:gd name="T5" fmla="*/ 4 h 5"/>
                  <a:gd name="T6" fmla="*/ 18 w 32"/>
                  <a:gd name="T7" fmla="*/ 4 h 5"/>
                  <a:gd name="T8" fmla="*/ 28 w 32"/>
                  <a:gd name="T9" fmla="*/ 2 h 5"/>
                  <a:gd name="T10" fmla="*/ 27 w 32"/>
                  <a:gd name="T11" fmla="*/ 1 h 5"/>
                  <a:gd name="T12" fmla="*/ 4 w 32"/>
                  <a:gd name="T13" fmla="*/ 1 h 5"/>
                  <a:gd name="T14" fmla="*/ 3 w 32"/>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5">
                    <a:moveTo>
                      <a:pt x="3" y="2"/>
                    </a:moveTo>
                    <a:cubicBezTo>
                      <a:pt x="5" y="3"/>
                      <a:pt x="7" y="3"/>
                      <a:pt x="9" y="2"/>
                    </a:cubicBezTo>
                    <a:cubicBezTo>
                      <a:pt x="11" y="2"/>
                      <a:pt x="11" y="3"/>
                      <a:pt x="12" y="4"/>
                    </a:cubicBezTo>
                    <a:cubicBezTo>
                      <a:pt x="14" y="5"/>
                      <a:pt x="16" y="4"/>
                      <a:pt x="18" y="4"/>
                    </a:cubicBezTo>
                    <a:cubicBezTo>
                      <a:pt x="20" y="3"/>
                      <a:pt x="25" y="3"/>
                      <a:pt x="28" y="2"/>
                    </a:cubicBezTo>
                    <a:cubicBezTo>
                      <a:pt x="32" y="1"/>
                      <a:pt x="28" y="1"/>
                      <a:pt x="27" y="1"/>
                    </a:cubicBezTo>
                    <a:cubicBezTo>
                      <a:pt x="26" y="2"/>
                      <a:pt x="8" y="1"/>
                      <a:pt x="4" y="1"/>
                    </a:cubicBezTo>
                    <a:cubicBezTo>
                      <a:pt x="0" y="0"/>
                      <a:pt x="3" y="2"/>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02" name="Freeform 612">
                <a:extLst>
                  <a:ext uri="{FF2B5EF4-FFF2-40B4-BE49-F238E27FC236}">
                    <a16:creationId xmlns:a16="http://schemas.microsoft.com/office/drawing/2014/main" id="{29FC038F-C31E-4B07-9752-04531ABF92A9}"/>
                  </a:ext>
                </a:extLst>
              </p:cNvPr>
              <p:cNvSpPr>
                <a:spLocks/>
              </p:cNvSpPr>
              <p:nvPr/>
            </p:nvSpPr>
            <p:spPr bwMode="auto">
              <a:xfrm>
                <a:off x="4618" y="493"/>
                <a:ext cx="72" cy="19"/>
              </a:xfrm>
              <a:custGeom>
                <a:avLst/>
                <a:gdLst>
                  <a:gd name="T0" fmla="*/ 6 w 52"/>
                  <a:gd name="T1" fmla="*/ 2 h 14"/>
                  <a:gd name="T2" fmla="*/ 9 w 52"/>
                  <a:gd name="T3" fmla="*/ 3 h 14"/>
                  <a:gd name="T4" fmla="*/ 15 w 52"/>
                  <a:gd name="T5" fmla="*/ 3 h 14"/>
                  <a:gd name="T6" fmla="*/ 18 w 52"/>
                  <a:gd name="T7" fmla="*/ 5 h 14"/>
                  <a:gd name="T8" fmla="*/ 22 w 52"/>
                  <a:gd name="T9" fmla="*/ 6 h 14"/>
                  <a:gd name="T10" fmla="*/ 32 w 52"/>
                  <a:gd name="T11" fmla="*/ 8 h 14"/>
                  <a:gd name="T12" fmla="*/ 40 w 52"/>
                  <a:gd name="T13" fmla="*/ 12 h 14"/>
                  <a:gd name="T14" fmla="*/ 49 w 52"/>
                  <a:gd name="T15" fmla="*/ 10 h 14"/>
                  <a:gd name="T16" fmla="*/ 49 w 52"/>
                  <a:gd name="T17" fmla="*/ 8 h 14"/>
                  <a:gd name="T18" fmla="*/ 29 w 52"/>
                  <a:gd name="T19" fmla="*/ 1 h 14"/>
                  <a:gd name="T20" fmla="*/ 14 w 52"/>
                  <a:gd name="T21" fmla="*/ 1 h 14"/>
                  <a:gd name="T22" fmla="*/ 3 w 52"/>
                  <a:gd name="T23" fmla="*/ 1 h 14"/>
                  <a:gd name="T24" fmla="*/ 6 w 52"/>
                  <a:gd name="T25"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14">
                    <a:moveTo>
                      <a:pt x="6" y="2"/>
                    </a:moveTo>
                    <a:cubicBezTo>
                      <a:pt x="6" y="1"/>
                      <a:pt x="8" y="2"/>
                      <a:pt x="9" y="3"/>
                    </a:cubicBezTo>
                    <a:cubicBezTo>
                      <a:pt x="11" y="4"/>
                      <a:pt x="12" y="4"/>
                      <a:pt x="15" y="3"/>
                    </a:cubicBezTo>
                    <a:cubicBezTo>
                      <a:pt x="17" y="2"/>
                      <a:pt x="17" y="3"/>
                      <a:pt x="18" y="5"/>
                    </a:cubicBezTo>
                    <a:cubicBezTo>
                      <a:pt x="19" y="6"/>
                      <a:pt x="21" y="6"/>
                      <a:pt x="22" y="6"/>
                    </a:cubicBezTo>
                    <a:cubicBezTo>
                      <a:pt x="24" y="7"/>
                      <a:pt x="28" y="8"/>
                      <a:pt x="32" y="8"/>
                    </a:cubicBezTo>
                    <a:cubicBezTo>
                      <a:pt x="35" y="8"/>
                      <a:pt x="37" y="10"/>
                      <a:pt x="40" y="12"/>
                    </a:cubicBezTo>
                    <a:cubicBezTo>
                      <a:pt x="42" y="14"/>
                      <a:pt x="47" y="11"/>
                      <a:pt x="49" y="10"/>
                    </a:cubicBezTo>
                    <a:cubicBezTo>
                      <a:pt x="52" y="9"/>
                      <a:pt x="50" y="9"/>
                      <a:pt x="49" y="8"/>
                    </a:cubicBezTo>
                    <a:cubicBezTo>
                      <a:pt x="48" y="8"/>
                      <a:pt x="31" y="2"/>
                      <a:pt x="29" y="1"/>
                    </a:cubicBezTo>
                    <a:cubicBezTo>
                      <a:pt x="27" y="0"/>
                      <a:pt x="15" y="1"/>
                      <a:pt x="14" y="1"/>
                    </a:cubicBezTo>
                    <a:cubicBezTo>
                      <a:pt x="13" y="1"/>
                      <a:pt x="6" y="0"/>
                      <a:pt x="3" y="1"/>
                    </a:cubicBezTo>
                    <a:cubicBezTo>
                      <a:pt x="0" y="1"/>
                      <a:pt x="5" y="2"/>
                      <a:pt x="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03" name="Freeform 613">
                <a:extLst>
                  <a:ext uri="{FF2B5EF4-FFF2-40B4-BE49-F238E27FC236}">
                    <a16:creationId xmlns:a16="http://schemas.microsoft.com/office/drawing/2014/main" id="{FB91FAB2-DA48-48CE-82A9-054998334E1B}"/>
                  </a:ext>
                </a:extLst>
              </p:cNvPr>
              <p:cNvSpPr>
                <a:spLocks/>
              </p:cNvSpPr>
              <p:nvPr/>
            </p:nvSpPr>
            <p:spPr bwMode="auto">
              <a:xfrm>
                <a:off x="4643" y="508"/>
                <a:ext cx="32" cy="6"/>
              </a:xfrm>
              <a:custGeom>
                <a:avLst/>
                <a:gdLst>
                  <a:gd name="T0" fmla="*/ 9 w 23"/>
                  <a:gd name="T1" fmla="*/ 3 h 4"/>
                  <a:gd name="T2" fmla="*/ 13 w 23"/>
                  <a:gd name="T3" fmla="*/ 3 h 4"/>
                  <a:gd name="T4" fmla="*/ 21 w 23"/>
                  <a:gd name="T5" fmla="*/ 3 h 4"/>
                  <a:gd name="T6" fmla="*/ 19 w 23"/>
                  <a:gd name="T7" fmla="*/ 1 h 4"/>
                  <a:gd name="T8" fmla="*/ 4 w 23"/>
                  <a:gd name="T9" fmla="*/ 0 h 4"/>
                  <a:gd name="T10" fmla="*/ 2 w 23"/>
                  <a:gd name="T11" fmla="*/ 1 h 4"/>
                  <a:gd name="T12" fmla="*/ 3 w 23"/>
                  <a:gd name="T13" fmla="*/ 2 h 4"/>
                  <a:gd name="T14" fmla="*/ 9 w 23"/>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4">
                    <a:moveTo>
                      <a:pt x="9" y="3"/>
                    </a:moveTo>
                    <a:cubicBezTo>
                      <a:pt x="11" y="3"/>
                      <a:pt x="11" y="2"/>
                      <a:pt x="13" y="3"/>
                    </a:cubicBezTo>
                    <a:cubicBezTo>
                      <a:pt x="15" y="4"/>
                      <a:pt x="18" y="4"/>
                      <a:pt x="21" y="3"/>
                    </a:cubicBezTo>
                    <a:cubicBezTo>
                      <a:pt x="23" y="2"/>
                      <a:pt x="20" y="1"/>
                      <a:pt x="19" y="1"/>
                    </a:cubicBezTo>
                    <a:cubicBezTo>
                      <a:pt x="17" y="1"/>
                      <a:pt x="9" y="0"/>
                      <a:pt x="4" y="0"/>
                    </a:cubicBezTo>
                    <a:cubicBezTo>
                      <a:pt x="0" y="0"/>
                      <a:pt x="2" y="1"/>
                      <a:pt x="2" y="1"/>
                    </a:cubicBezTo>
                    <a:cubicBezTo>
                      <a:pt x="3" y="1"/>
                      <a:pt x="3" y="1"/>
                      <a:pt x="3" y="2"/>
                    </a:cubicBezTo>
                    <a:cubicBezTo>
                      <a:pt x="4" y="4"/>
                      <a:pt x="7" y="3"/>
                      <a:pt x="9"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04" name="Freeform 614">
                <a:extLst>
                  <a:ext uri="{FF2B5EF4-FFF2-40B4-BE49-F238E27FC236}">
                    <a16:creationId xmlns:a16="http://schemas.microsoft.com/office/drawing/2014/main" id="{28C09A3C-85F1-4C81-B430-28FF2306C3C3}"/>
                  </a:ext>
                </a:extLst>
              </p:cNvPr>
              <p:cNvSpPr>
                <a:spLocks/>
              </p:cNvSpPr>
              <p:nvPr/>
            </p:nvSpPr>
            <p:spPr bwMode="auto">
              <a:xfrm>
                <a:off x="4647" y="523"/>
                <a:ext cx="32" cy="17"/>
              </a:xfrm>
              <a:custGeom>
                <a:avLst/>
                <a:gdLst>
                  <a:gd name="T0" fmla="*/ 3 w 23"/>
                  <a:gd name="T1" fmla="*/ 11 h 12"/>
                  <a:gd name="T2" fmla="*/ 13 w 23"/>
                  <a:gd name="T3" fmla="*/ 11 h 12"/>
                  <a:gd name="T4" fmla="*/ 20 w 23"/>
                  <a:gd name="T5" fmla="*/ 11 h 12"/>
                  <a:gd name="T6" fmla="*/ 21 w 23"/>
                  <a:gd name="T7" fmla="*/ 3 h 12"/>
                  <a:gd name="T8" fmla="*/ 9 w 23"/>
                  <a:gd name="T9" fmla="*/ 2 h 12"/>
                  <a:gd name="T10" fmla="*/ 2 w 23"/>
                  <a:gd name="T11" fmla="*/ 8 h 12"/>
                  <a:gd name="T12" fmla="*/ 3 w 23"/>
                  <a:gd name="T13" fmla="*/ 11 h 12"/>
                </a:gdLst>
                <a:ahLst/>
                <a:cxnLst>
                  <a:cxn ang="0">
                    <a:pos x="T0" y="T1"/>
                  </a:cxn>
                  <a:cxn ang="0">
                    <a:pos x="T2" y="T3"/>
                  </a:cxn>
                  <a:cxn ang="0">
                    <a:pos x="T4" y="T5"/>
                  </a:cxn>
                  <a:cxn ang="0">
                    <a:pos x="T6" y="T7"/>
                  </a:cxn>
                  <a:cxn ang="0">
                    <a:pos x="T8" y="T9"/>
                  </a:cxn>
                  <a:cxn ang="0">
                    <a:pos x="T10" y="T11"/>
                  </a:cxn>
                  <a:cxn ang="0">
                    <a:pos x="T12" y="T13"/>
                  </a:cxn>
                </a:cxnLst>
                <a:rect l="0" t="0" r="r" b="b"/>
                <a:pathLst>
                  <a:path w="23" h="12">
                    <a:moveTo>
                      <a:pt x="3" y="11"/>
                    </a:moveTo>
                    <a:cubicBezTo>
                      <a:pt x="5" y="11"/>
                      <a:pt x="11" y="11"/>
                      <a:pt x="13" y="11"/>
                    </a:cubicBezTo>
                    <a:cubicBezTo>
                      <a:pt x="15" y="12"/>
                      <a:pt x="17" y="12"/>
                      <a:pt x="20" y="11"/>
                    </a:cubicBezTo>
                    <a:cubicBezTo>
                      <a:pt x="23" y="10"/>
                      <a:pt x="22" y="6"/>
                      <a:pt x="21" y="3"/>
                    </a:cubicBezTo>
                    <a:cubicBezTo>
                      <a:pt x="20" y="0"/>
                      <a:pt x="11" y="2"/>
                      <a:pt x="9" y="2"/>
                    </a:cubicBezTo>
                    <a:cubicBezTo>
                      <a:pt x="7" y="2"/>
                      <a:pt x="4" y="6"/>
                      <a:pt x="2" y="8"/>
                    </a:cubicBezTo>
                    <a:cubicBezTo>
                      <a:pt x="0" y="10"/>
                      <a:pt x="3" y="11"/>
                      <a:pt x="3"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05" name="Freeform 615">
                <a:extLst>
                  <a:ext uri="{FF2B5EF4-FFF2-40B4-BE49-F238E27FC236}">
                    <a16:creationId xmlns:a16="http://schemas.microsoft.com/office/drawing/2014/main" id="{2A3517DB-06C1-4A23-9CF9-6F889FBCA9DC}"/>
                  </a:ext>
                </a:extLst>
              </p:cNvPr>
              <p:cNvSpPr>
                <a:spLocks/>
              </p:cNvSpPr>
              <p:nvPr/>
            </p:nvSpPr>
            <p:spPr bwMode="auto">
              <a:xfrm>
                <a:off x="4643" y="477"/>
                <a:ext cx="53" cy="12"/>
              </a:xfrm>
              <a:custGeom>
                <a:avLst/>
                <a:gdLst>
                  <a:gd name="T0" fmla="*/ 2 w 38"/>
                  <a:gd name="T1" fmla="*/ 6 h 9"/>
                  <a:gd name="T2" fmla="*/ 10 w 38"/>
                  <a:gd name="T3" fmla="*/ 6 h 9"/>
                  <a:gd name="T4" fmla="*/ 14 w 38"/>
                  <a:gd name="T5" fmla="*/ 7 h 9"/>
                  <a:gd name="T6" fmla="*/ 20 w 38"/>
                  <a:gd name="T7" fmla="*/ 6 h 9"/>
                  <a:gd name="T8" fmla="*/ 33 w 38"/>
                  <a:gd name="T9" fmla="*/ 4 h 9"/>
                  <a:gd name="T10" fmla="*/ 27 w 38"/>
                  <a:gd name="T11" fmla="*/ 1 h 9"/>
                  <a:gd name="T12" fmla="*/ 15 w 38"/>
                  <a:gd name="T13" fmla="*/ 0 h 9"/>
                  <a:gd name="T14" fmla="*/ 15 w 38"/>
                  <a:gd name="T15" fmla="*/ 3 h 9"/>
                  <a:gd name="T16" fmla="*/ 5 w 38"/>
                  <a:gd name="T17" fmla="*/ 4 h 9"/>
                  <a:gd name="T18" fmla="*/ 1 w 38"/>
                  <a:gd name="T19" fmla="*/ 5 h 9"/>
                  <a:gd name="T20" fmla="*/ 2 w 38"/>
                  <a:gd name="T21" fmla="*/ 6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9">
                    <a:moveTo>
                      <a:pt x="2" y="6"/>
                    </a:moveTo>
                    <a:cubicBezTo>
                      <a:pt x="3" y="7"/>
                      <a:pt x="8" y="7"/>
                      <a:pt x="10" y="6"/>
                    </a:cubicBezTo>
                    <a:cubicBezTo>
                      <a:pt x="12" y="5"/>
                      <a:pt x="13" y="5"/>
                      <a:pt x="14" y="7"/>
                    </a:cubicBezTo>
                    <a:cubicBezTo>
                      <a:pt x="15" y="9"/>
                      <a:pt x="20" y="6"/>
                      <a:pt x="20" y="6"/>
                    </a:cubicBezTo>
                    <a:cubicBezTo>
                      <a:pt x="23" y="4"/>
                      <a:pt x="28" y="4"/>
                      <a:pt x="33" y="4"/>
                    </a:cubicBezTo>
                    <a:cubicBezTo>
                      <a:pt x="38" y="3"/>
                      <a:pt x="28" y="1"/>
                      <a:pt x="27" y="1"/>
                    </a:cubicBezTo>
                    <a:cubicBezTo>
                      <a:pt x="25" y="1"/>
                      <a:pt x="17" y="0"/>
                      <a:pt x="15" y="0"/>
                    </a:cubicBezTo>
                    <a:cubicBezTo>
                      <a:pt x="13" y="0"/>
                      <a:pt x="13" y="2"/>
                      <a:pt x="15" y="3"/>
                    </a:cubicBezTo>
                    <a:cubicBezTo>
                      <a:pt x="18" y="5"/>
                      <a:pt x="7" y="4"/>
                      <a:pt x="5" y="4"/>
                    </a:cubicBezTo>
                    <a:cubicBezTo>
                      <a:pt x="3" y="3"/>
                      <a:pt x="2" y="3"/>
                      <a:pt x="1" y="5"/>
                    </a:cubicBezTo>
                    <a:cubicBezTo>
                      <a:pt x="0" y="6"/>
                      <a:pt x="2" y="6"/>
                      <a:pt x="2"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06" name="Freeform 616">
                <a:extLst>
                  <a:ext uri="{FF2B5EF4-FFF2-40B4-BE49-F238E27FC236}">
                    <a16:creationId xmlns:a16="http://schemas.microsoft.com/office/drawing/2014/main" id="{0E2D061D-7FC3-44E3-A9C8-8AC49942590E}"/>
                  </a:ext>
                </a:extLst>
              </p:cNvPr>
              <p:cNvSpPr>
                <a:spLocks/>
              </p:cNvSpPr>
              <p:nvPr/>
            </p:nvSpPr>
            <p:spPr bwMode="auto">
              <a:xfrm>
                <a:off x="4667" y="466"/>
                <a:ext cx="43" cy="12"/>
              </a:xfrm>
              <a:custGeom>
                <a:avLst/>
                <a:gdLst>
                  <a:gd name="T0" fmla="*/ 4 w 31"/>
                  <a:gd name="T1" fmla="*/ 7 h 9"/>
                  <a:gd name="T2" fmla="*/ 18 w 31"/>
                  <a:gd name="T3" fmla="*/ 8 h 9"/>
                  <a:gd name="T4" fmla="*/ 26 w 31"/>
                  <a:gd name="T5" fmla="*/ 8 h 9"/>
                  <a:gd name="T6" fmla="*/ 21 w 31"/>
                  <a:gd name="T7" fmla="*/ 5 h 9"/>
                  <a:gd name="T8" fmla="*/ 18 w 31"/>
                  <a:gd name="T9" fmla="*/ 2 h 9"/>
                  <a:gd name="T10" fmla="*/ 9 w 31"/>
                  <a:gd name="T11" fmla="*/ 3 h 9"/>
                  <a:gd name="T12" fmla="*/ 3 w 31"/>
                  <a:gd name="T13" fmla="*/ 5 h 9"/>
                  <a:gd name="T14" fmla="*/ 4 w 31"/>
                  <a:gd name="T15" fmla="*/ 7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9">
                    <a:moveTo>
                      <a:pt x="4" y="7"/>
                    </a:moveTo>
                    <a:cubicBezTo>
                      <a:pt x="5" y="7"/>
                      <a:pt x="15" y="8"/>
                      <a:pt x="18" y="8"/>
                    </a:cubicBezTo>
                    <a:cubicBezTo>
                      <a:pt x="21" y="9"/>
                      <a:pt x="22" y="9"/>
                      <a:pt x="26" y="8"/>
                    </a:cubicBezTo>
                    <a:cubicBezTo>
                      <a:pt x="31" y="6"/>
                      <a:pt x="24" y="5"/>
                      <a:pt x="21" y="5"/>
                    </a:cubicBezTo>
                    <a:cubicBezTo>
                      <a:pt x="19" y="5"/>
                      <a:pt x="17" y="4"/>
                      <a:pt x="18" y="2"/>
                    </a:cubicBezTo>
                    <a:cubicBezTo>
                      <a:pt x="18" y="0"/>
                      <a:pt x="11" y="3"/>
                      <a:pt x="9" y="3"/>
                    </a:cubicBezTo>
                    <a:cubicBezTo>
                      <a:pt x="7" y="4"/>
                      <a:pt x="6" y="3"/>
                      <a:pt x="3" y="5"/>
                    </a:cubicBezTo>
                    <a:cubicBezTo>
                      <a:pt x="0" y="6"/>
                      <a:pt x="4" y="7"/>
                      <a:pt x="4"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07" name="Freeform 617">
                <a:extLst>
                  <a:ext uri="{FF2B5EF4-FFF2-40B4-BE49-F238E27FC236}">
                    <a16:creationId xmlns:a16="http://schemas.microsoft.com/office/drawing/2014/main" id="{75592EB8-257D-4791-9C21-3F900045F6EE}"/>
                  </a:ext>
                </a:extLst>
              </p:cNvPr>
              <p:cNvSpPr>
                <a:spLocks/>
              </p:cNvSpPr>
              <p:nvPr/>
            </p:nvSpPr>
            <p:spPr bwMode="auto">
              <a:xfrm>
                <a:off x="4653" y="490"/>
                <a:ext cx="48" cy="14"/>
              </a:xfrm>
              <a:custGeom>
                <a:avLst/>
                <a:gdLst>
                  <a:gd name="T0" fmla="*/ 10 w 35"/>
                  <a:gd name="T1" fmla="*/ 1 h 10"/>
                  <a:gd name="T2" fmla="*/ 8 w 35"/>
                  <a:gd name="T3" fmla="*/ 2 h 10"/>
                  <a:gd name="T4" fmla="*/ 13 w 35"/>
                  <a:gd name="T5" fmla="*/ 4 h 10"/>
                  <a:gd name="T6" fmla="*/ 17 w 35"/>
                  <a:gd name="T7" fmla="*/ 4 h 10"/>
                  <a:gd name="T8" fmla="*/ 20 w 35"/>
                  <a:gd name="T9" fmla="*/ 7 h 10"/>
                  <a:gd name="T10" fmla="*/ 33 w 35"/>
                  <a:gd name="T11" fmla="*/ 7 h 10"/>
                  <a:gd name="T12" fmla="*/ 10 w 35"/>
                  <a:gd name="T13" fmla="*/ 1 h 10"/>
                </a:gdLst>
                <a:ahLst/>
                <a:cxnLst>
                  <a:cxn ang="0">
                    <a:pos x="T0" y="T1"/>
                  </a:cxn>
                  <a:cxn ang="0">
                    <a:pos x="T2" y="T3"/>
                  </a:cxn>
                  <a:cxn ang="0">
                    <a:pos x="T4" y="T5"/>
                  </a:cxn>
                  <a:cxn ang="0">
                    <a:pos x="T6" y="T7"/>
                  </a:cxn>
                  <a:cxn ang="0">
                    <a:pos x="T8" y="T9"/>
                  </a:cxn>
                  <a:cxn ang="0">
                    <a:pos x="T10" y="T11"/>
                  </a:cxn>
                  <a:cxn ang="0">
                    <a:pos x="T12" y="T13"/>
                  </a:cxn>
                </a:cxnLst>
                <a:rect l="0" t="0" r="r" b="b"/>
                <a:pathLst>
                  <a:path w="35" h="10">
                    <a:moveTo>
                      <a:pt x="10" y="1"/>
                    </a:moveTo>
                    <a:cubicBezTo>
                      <a:pt x="0" y="0"/>
                      <a:pt x="8" y="2"/>
                      <a:pt x="8" y="2"/>
                    </a:cubicBezTo>
                    <a:cubicBezTo>
                      <a:pt x="9" y="2"/>
                      <a:pt x="11" y="3"/>
                      <a:pt x="13" y="4"/>
                    </a:cubicBezTo>
                    <a:cubicBezTo>
                      <a:pt x="14" y="5"/>
                      <a:pt x="16" y="5"/>
                      <a:pt x="17" y="4"/>
                    </a:cubicBezTo>
                    <a:cubicBezTo>
                      <a:pt x="18" y="4"/>
                      <a:pt x="17" y="4"/>
                      <a:pt x="20" y="7"/>
                    </a:cubicBezTo>
                    <a:cubicBezTo>
                      <a:pt x="23" y="10"/>
                      <a:pt x="31" y="8"/>
                      <a:pt x="33" y="7"/>
                    </a:cubicBezTo>
                    <a:cubicBezTo>
                      <a:pt x="35" y="6"/>
                      <a:pt x="19" y="3"/>
                      <a:pt x="1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08" name="Freeform 618">
                <a:extLst>
                  <a:ext uri="{FF2B5EF4-FFF2-40B4-BE49-F238E27FC236}">
                    <a16:creationId xmlns:a16="http://schemas.microsoft.com/office/drawing/2014/main" id="{9921F60A-AD0E-454D-A380-0090C5DD6080}"/>
                  </a:ext>
                </a:extLst>
              </p:cNvPr>
              <p:cNvSpPr>
                <a:spLocks/>
              </p:cNvSpPr>
              <p:nvPr/>
            </p:nvSpPr>
            <p:spPr bwMode="auto">
              <a:xfrm>
                <a:off x="4693" y="453"/>
                <a:ext cx="32" cy="10"/>
              </a:xfrm>
              <a:custGeom>
                <a:avLst/>
                <a:gdLst>
                  <a:gd name="T0" fmla="*/ 1 w 23"/>
                  <a:gd name="T1" fmla="*/ 6 h 7"/>
                  <a:gd name="T2" fmla="*/ 7 w 23"/>
                  <a:gd name="T3" fmla="*/ 6 h 7"/>
                  <a:gd name="T4" fmla="*/ 15 w 23"/>
                  <a:gd name="T5" fmla="*/ 5 h 7"/>
                  <a:gd name="T6" fmla="*/ 22 w 23"/>
                  <a:gd name="T7" fmla="*/ 3 h 7"/>
                  <a:gd name="T8" fmla="*/ 15 w 23"/>
                  <a:gd name="T9" fmla="*/ 1 h 7"/>
                  <a:gd name="T10" fmla="*/ 4 w 23"/>
                  <a:gd name="T11" fmla="*/ 1 h 7"/>
                  <a:gd name="T12" fmla="*/ 1 w 23"/>
                  <a:gd name="T13" fmla="*/ 4 h 7"/>
                  <a:gd name="T14" fmla="*/ 1 w 23"/>
                  <a:gd name="T15" fmla="*/ 6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7">
                    <a:moveTo>
                      <a:pt x="1" y="6"/>
                    </a:moveTo>
                    <a:cubicBezTo>
                      <a:pt x="2" y="7"/>
                      <a:pt x="5" y="7"/>
                      <a:pt x="7" y="6"/>
                    </a:cubicBezTo>
                    <a:cubicBezTo>
                      <a:pt x="10" y="5"/>
                      <a:pt x="12" y="5"/>
                      <a:pt x="15" y="5"/>
                    </a:cubicBezTo>
                    <a:cubicBezTo>
                      <a:pt x="18" y="5"/>
                      <a:pt x="20" y="5"/>
                      <a:pt x="22" y="3"/>
                    </a:cubicBezTo>
                    <a:cubicBezTo>
                      <a:pt x="23" y="1"/>
                      <a:pt x="16" y="0"/>
                      <a:pt x="15" y="1"/>
                    </a:cubicBezTo>
                    <a:cubicBezTo>
                      <a:pt x="13" y="1"/>
                      <a:pt x="5" y="1"/>
                      <a:pt x="4" y="1"/>
                    </a:cubicBezTo>
                    <a:cubicBezTo>
                      <a:pt x="2" y="1"/>
                      <a:pt x="2" y="3"/>
                      <a:pt x="1" y="4"/>
                    </a:cubicBezTo>
                    <a:cubicBezTo>
                      <a:pt x="0" y="5"/>
                      <a:pt x="1" y="6"/>
                      <a:pt x="1"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09" name="Freeform 619">
                <a:extLst>
                  <a:ext uri="{FF2B5EF4-FFF2-40B4-BE49-F238E27FC236}">
                    <a16:creationId xmlns:a16="http://schemas.microsoft.com/office/drawing/2014/main" id="{676F65C5-6B04-4864-A5A0-51C508B9AB39}"/>
                  </a:ext>
                </a:extLst>
              </p:cNvPr>
              <p:cNvSpPr>
                <a:spLocks/>
              </p:cNvSpPr>
              <p:nvPr/>
            </p:nvSpPr>
            <p:spPr bwMode="auto">
              <a:xfrm>
                <a:off x="4674" y="518"/>
                <a:ext cx="51" cy="20"/>
              </a:xfrm>
              <a:custGeom>
                <a:avLst/>
                <a:gdLst>
                  <a:gd name="T0" fmla="*/ 32 w 37"/>
                  <a:gd name="T1" fmla="*/ 7 h 15"/>
                  <a:gd name="T2" fmla="*/ 28 w 37"/>
                  <a:gd name="T3" fmla="*/ 3 h 15"/>
                  <a:gd name="T4" fmla="*/ 13 w 37"/>
                  <a:gd name="T5" fmla="*/ 1 h 15"/>
                  <a:gd name="T6" fmla="*/ 4 w 37"/>
                  <a:gd name="T7" fmla="*/ 1 h 15"/>
                  <a:gd name="T8" fmla="*/ 2 w 37"/>
                  <a:gd name="T9" fmla="*/ 3 h 15"/>
                  <a:gd name="T10" fmla="*/ 4 w 37"/>
                  <a:gd name="T11" fmla="*/ 10 h 15"/>
                  <a:gd name="T12" fmla="*/ 12 w 37"/>
                  <a:gd name="T13" fmla="*/ 15 h 15"/>
                  <a:gd name="T14" fmla="*/ 15 w 37"/>
                  <a:gd name="T15" fmla="*/ 13 h 15"/>
                  <a:gd name="T16" fmla="*/ 20 w 37"/>
                  <a:gd name="T17" fmla="*/ 12 h 15"/>
                  <a:gd name="T18" fmla="*/ 19 w 37"/>
                  <a:gd name="T19" fmla="*/ 9 h 15"/>
                  <a:gd name="T20" fmla="*/ 24 w 37"/>
                  <a:gd name="T21" fmla="*/ 7 h 15"/>
                  <a:gd name="T22" fmla="*/ 32 w 37"/>
                  <a:gd name="T23"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15">
                    <a:moveTo>
                      <a:pt x="32" y="7"/>
                    </a:moveTo>
                    <a:cubicBezTo>
                      <a:pt x="37" y="8"/>
                      <a:pt x="30" y="4"/>
                      <a:pt x="28" y="3"/>
                    </a:cubicBezTo>
                    <a:cubicBezTo>
                      <a:pt x="25" y="3"/>
                      <a:pt x="15" y="1"/>
                      <a:pt x="13" y="1"/>
                    </a:cubicBezTo>
                    <a:cubicBezTo>
                      <a:pt x="12" y="1"/>
                      <a:pt x="9" y="2"/>
                      <a:pt x="4" y="1"/>
                    </a:cubicBezTo>
                    <a:cubicBezTo>
                      <a:pt x="0" y="0"/>
                      <a:pt x="2" y="3"/>
                      <a:pt x="2" y="3"/>
                    </a:cubicBezTo>
                    <a:cubicBezTo>
                      <a:pt x="1" y="4"/>
                      <a:pt x="4" y="7"/>
                      <a:pt x="4" y="10"/>
                    </a:cubicBezTo>
                    <a:cubicBezTo>
                      <a:pt x="5" y="13"/>
                      <a:pt x="10" y="15"/>
                      <a:pt x="12" y="15"/>
                    </a:cubicBezTo>
                    <a:cubicBezTo>
                      <a:pt x="14" y="15"/>
                      <a:pt x="15" y="15"/>
                      <a:pt x="15" y="13"/>
                    </a:cubicBezTo>
                    <a:cubicBezTo>
                      <a:pt x="16" y="11"/>
                      <a:pt x="17" y="12"/>
                      <a:pt x="20" y="12"/>
                    </a:cubicBezTo>
                    <a:cubicBezTo>
                      <a:pt x="23" y="13"/>
                      <a:pt x="22" y="10"/>
                      <a:pt x="19" y="9"/>
                    </a:cubicBezTo>
                    <a:cubicBezTo>
                      <a:pt x="17" y="7"/>
                      <a:pt x="22" y="7"/>
                      <a:pt x="24" y="7"/>
                    </a:cubicBezTo>
                    <a:cubicBezTo>
                      <a:pt x="27" y="7"/>
                      <a:pt x="27" y="7"/>
                      <a:pt x="32"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10" name="Freeform 620">
                <a:extLst>
                  <a:ext uri="{FF2B5EF4-FFF2-40B4-BE49-F238E27FC236}">
                    <a16:creationId xmlns:a16="http://schemas.microsoft.com/office/drawing/2014/main" id="{349F248C-101E-495B-A410-754CE411A1CF}"/>
                  </a:ext>
                </a:extLst>
              </p:cNvPr>
              <p:cNvSpPr>
                <a:spLocks/>
              </p:cNvSpPr>
              <p:nvPr/>
            </p:nvSpPr>
            <p:spPr bwMode="auto">
              <a:xfrm>
                <a:off x="4708" y="537"/>
                <a:ext cx="27" cy="10"/>
              </a:xfrm>
              <a:custGeom>
                <a:avLst/>
                <a:gdLst>
                  <a:gd name="T0" fmla="*/ 4 w 19"/>
                  <a:gd name="T1" fmla="*/ 4 h 7"/>
                  <a:gd name="T2" fmla="*/ 9 w 19"/>
                  <a:gd name="T3" fmla="*/ 6 h 7"/>
                  <a:gd name="T4" fmla="*/ 15 w 19"/>
                  <a:gd name="T5" fmla="*/ 6 h 7"/>
                  <a:gd name="T6" fmla="*/ 17 w 19"/>
                  <a:gd name="T7" fmla="*/ 2 h 7"/>
                  <a:gd name="T8" fmla="*/ 4 w 19"/>
                  <a:gd name="T9" fmla="*/ 2 h 7"/>
                  <a:gd name="T10" fmla="*/ 4 w 19"/>
                  <a:gd name="T11" fmla="*/ 4 h 7"/>
                </a:gdLst>
                <a:ahLst/>
                <a:cxnLst>
                  <a:cxn ang="0">
                    <a:pos x="T0" y="T1"/>
                  </a:cxn>
                  <a:cxn ang="0">
                    <a:pos x="T2" y="T3"/>
                  </a:cxn>
                  <a:cxn ang="0">
                    <a:pos x="T4" y="T5"/>
                  </a:cxn>
                  <a:cxn ang="0">
                    <a:pos x="T6" y="T7"/>
                  </a:cxn>
                  <a:cxn ang="0">
                    <a:pos x="T8" y="T9"/>
                  </a:cxn>
                  <a:cxn ang="0">
                    <a:pos x="T10" y="T11"/>
                  </a:cxn>
                </a:cxnLst>
                <a:rect l="0" t="0" r="r" b="b"/>
                <a:pathLst>
                  <a:path w="19" h="7">
                    <a:moveTo>
                      <a:pt x="4" y="4"/>
                    </a:moveTo>
                    <a:cubicBezTo>
                      <a:pt x="4" y="4"/>
                      <a:pt x="8" y="6"/>
                      <a:pt x="9" y="6"/>
                    </a:cubicBezTo>
                    <a:cubicBezTo>
                      <a:pt x="11" y="7"/>
                      <a:pt x="13" y="7"/>
                      <a:pt x="15" y="6"/>
                    </a:cubicBezTo>
                    <a:cubicBezTo>
                      <a:pt x="18" y="5"/>
                      <a:pt x="19" y="4"/>
                      <a:pt x="17" y="2"/>
                    </a:cubicBezTo>
                    <a:cubicBezTo>
                      <a:pt x="15" y="0"/>
                      <a:pt x="8" y="1"/>
                      <a:pt x="4" y="2"/>
                    </a:cubicBezTo>
                    <a:cubicBezTo>
                      <a:pt x="0" y="3"/>
                      <a:pt x="4" y="4"/>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11" name="Freeform 621">
                <a:extLst>
                  <a:ext uri="{FF2B5EF4-FFF2-40B4-BE49-F238E27FC236}">
                    <a16:creationId xmlns:a16="http://schemas.microsoft.com/office/drawing/2014/main" id="{EEF9B521-E6C6-465C-AD8B-73352338B2BD}"/>
                  </a:ext>
                </a:extLst>
              </p:cNvPr>
              <p:cNvSpPr>
                <a:spLocks/>
              </p:cNvSpPr>
              <p:nvPr/>
            </p:nvSpPr>
            <p:spPr bwMode="auto">
              <a:xfrm>
                <a:off x="4722" y="500"/>
                <a:ext cx="62" cy="25"/>
              </a:xfrm>
              <a:custGeom>
                <a:avLst/>
                <a:gdLst>
                  <a:gd name="T0" fmla="*/ 0 w 45"/>
                  <a:gd name="T1" fmla="*/ 9 h 18"/>
                  <a:gd name="T2" fmla="*/ 2 w 45"/>
                  <a:gd name="T3" fmla="*/ 15 h 18"/>
                  <a:gd name="T4" fmla="*/ 9 w 45"/>
                  <a:gd name="T5" fmla="*/ 16 h 18"/>
                  <a:gd name="T6" fmla="*/ 16 w 45"/>
                  <a:gd name="T7" fmla="*/ 15 h 18"/>
                  <a:gd name="T8" fmla="*/ 27 w 45"/>
                  <a:gd name="T9" fmla="*/ 16 h 18"/>
                  <a:gd name="T10" fmla="*/ 36 w 45"/>
                  <a:gd name="T11" fmla="*/ 11 h 18"/>
                  <a:gd name="T12" fmla="*/ 41 w 45"/>
                  <a:gd name="T13" fmla="*/ 8 h 18"/>
                  <a:gd name="T14" fmla="*/ 43 w 45"/>
                  <a:gd name="T15" fmla="*/ 3 h 18"/>
                  <a:gd name="T16" fmla="*/ 35 w 45"/>
                  <a:gd name="T17" fmla="*/ 0 h 18"/>
                  <a:gd name="T18" fmla="*/ 24 w 45"/>
                  <a:gd name="T19" fmla="*/ 2 h 18"/>
                  <a:gd name="T20" fmla="*/ 13 w 45"/>
                  <a:gd name="T21" fmla="*/ 3 h 18"/>
                  <a:gd name="T22" fmla="*/ 12 w 45"/>
                  <a:gd name="T23" fmla="*/ 2 h 18"/>
                  <a:gd name="T24" fmla="*/ 10 w 45"/>
                  <a:gd name="T25" fmla="*/ 2 h 18"/>
                  <a:gd name="T26" fmla="*/ 2 w 45"/>
                  <a:gd name="T27" fmla="*/ 5 h 18"/>
                  <a:gd name="T28" fmla="*/ 0 w 45"/>
                  <a:gd name="T29"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 h="18">
                    <a:moveTo>
                      <a:pt x="0" y="9"/>
                    </a:moveTo>
                    <a:cubicBezTo>
                      <a:pt x="0" y="12"/>
                      <a:pt x="0" y="13"/>
                      <a:pt x="2" y="15"/>
                    </a:cubicBezTo>
                    <a:cubicBezTo>
                      <a:pt x="5" y="16"/>
                      <a:pt x="7" y="16"/>
                      <a:pt x="9" y="16"/>
                    </a:cubicBezTo>
                    <a:cubicBezTo>
                      <a:pt x="11" y="15"/>
                      <a:pt x="14" y="13"/>
                      <a:pt x="16" y="15"/>
                    </a:cubicBezTo>
                    <a:cubicBezTo>
                      <a:pt x="18" y="16"/>
                      <a:pt x="24" y="18"/>
                      <a:pt x="27" y="16"/>
                    </a:cubicBezTo>
                    <a:cubicBezTo>
                      <a:pt x="31" y="14"/>
                      <a:pt x="35" y="11"/>
                      <a:pt x="36" y="11"/>
                    </a:cubicBezTo>
                    <a:cubicBezTo>
                      <a:pt x="38" y="11"/>
                      <a:pt x="41" y="10"/>
                      <a:pt x="41" y="8"/>
                    </a:cubicBezTo>
                    <a:cubicBezTo>
                      <a:pt x="42" y="7"/>
                      <a:pt x="45" y="4"/>
                      <a:pt x="43" y="3"/>
                    </a:cubicBezTo>
                    <a:cubicBezTo>
                      <a:pt x="40" y="1"/>
                      <a:pt x="38" y="0"/>
                      <a:pt x="35" y="0"/>
                    </a:cubicBezTo>
                    <a:cubicBezTo>
                      <a:pt x="33" y="1"/>
                      <a:pt x="26" y="2"/>
                      <a:pt x="24" y="2"/>
                    </a:cubicBezTo>
                    <a:cubicBezTo>
                      <a:pt x="22" y="2"/>
                      <a:pt x="14" y="3"/>
                      <a:pt x="13" y="3"/>
                    </a:cubicBezTo>
                    <a:cubicBezTo>
                      <a:pt x="11" y="3"/>
                      <a:pt x="8" y="4"/>
                      <a:pt x="12" y="2"/>
                    </a:cubicBezTo>
                    <a:cubicBezTo>
                      <a:pt x="12" y="2"/>
                      <a:pt x="13" y="1"/>
                      <a:pt x="10" y="2"/>
                    </a:cubicBezTo>
                    <a:cubicBezTo>
                      <a:pt x="7" y="3"/>
                      <a:pt x="3" y="4"/>
                      <a:pt x="2" y="5"/>
                    </a:cubicBezTo>
                    <a:cubicBezTo>
                      <a:pt x="1" y="6"/>
                      <a:pt x="0" y="6"/>
                      <a:pt x="0"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12" name="Freeform 622">
                <a:extLst>
                  <a:ext uri="{FF2B5EF4-FFF2-40B4-BE49-F238E27FC236}">
                    <a16:creationId xmlns:a16="http://schemas.microsoft.com/office/drawing/2014/main" id="{B0ADC3A0-7F0C-4213-BBC7-8E142BFD0FF1}"/>
                  </a:ext>
                </a:extLst>
              </p:cNvPr>
              <p:cNvSpPr>
                <a:spLocks/>
              </p:cNvSpPr>
              <p:nvPr/>
            </p:nvSpPr>
            <p:spPr bwMode="auto">
              <a:xfrm>
                <a:off x="4735" y="490"/>
                <a:ext cx="38" cy="9"/>
              </a:xfrm>
              <a:custGeom>
                <a:avLst/>
                <a:gdLst>
                  <a:gd name="T0" fmla="*/ 4 w 28"/>
                  <a:gd name="T1" fmla="*/ 4 h 6"/>
                  <a:gd name="T2" fmla="*/ 15 w 28"/>
                  <a:gd name="T3" fmla="*/ 6 h 6"/>
                  <a:gd name="T4" fmla="*/ 25 w 28"/>
                  <a:gd name="T5" fmla="*/ 2 h 6"/>
                  <a:gd name="T6" fmla="*/ 25 w 28"/>
                  <a:gd name="T7" fmla="*/ 0 h 6"/>
                  <a:gd name="T8" fmla="*/ 5 w 28"/>
                  <a:gd name="T9" fmla="*/ 3 h 6"/>
                  <a:gd name="T10" fmla="*/ 4 w 28"/>
                  <a:gd name="T11" fmla="*/ 4 h 6"/>
                </a:gdLst>
                <a:ahLst/>
                <a:cxnLst>
                  <a:cxn ang="0">
                    <a:pos x="T0" y="T1"/>
                  </a:cxn>
                  <a:cxn ang="0">
                    <a:pos x="T2" y="T3"/>
                  </a:cxn>
                  <a:cxn ang="0">
                    <a:pos x="T4" y="T5"/>
                  </a:cxn>
                  <a:cxn ang="0">
                    <a:pos x="T6" y="T7"/>
                  </a:cxn>
                  <a:cxn ang="0">
                    <a:pos x="T8" y="T9"/>
                  </a:cxn>
                  <a:cxn ang="0">
                    <a:pos x="T10" y="T11"/>
                  </a:cxn>
                </a:cxnLst>
                <a:rect l="0" t="0" r="r" b="b"/>
                <a:pathLst>
                  <a:path w="28" h="6">
                    <a:moveTo>
                      <a:pt x="4" y="4"/>
                    </a:moveTo>
                    <a:cubicBezTo>
                      <a:pt x="6" y="5"/>
                      <a:pt x="12" y="6"/>
                      <a:pt x="15" y="6"/>
                    </a:cubicBezTo>
                    <a:cubicBezTo>
                      <a:pt x="19" y="6"/>
                      <a:pt x="23" y="3"/>
                      <a:pt x="25" y="2"/>
                    </a:cubicBezTo>
                    <a:cubicBezTo>
                      <a:pt x="28" y="0"/>
                      <a:pt x="25" y="0"/>
                      <a:pt x="25" y="0"/>
                    </a:cubicBezTo>
                    <a:cubicBezTo>
                      <a:pt x="24" y="0"/>
                      <a:pt x="11" y="2"/>
                      <a:pt x="5" y="3"/>
                    </a:cubicBezTo>
                    <a:cubicBezTo>
                      <a:pt x="0" y="4"/>
                      <a:pt x="4" y="4"/>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13" name="Freeform 623">
                <a:extLst>
                  <a:ext uri="{FF2B5EF4-FFF2-40B4-BE49-F238E27FC236}">
                    <a16:creationId xmlns:a16="http://schemas.microsoft.com/office/drawing/2014/main" id="{671FCBB1-94DB-4CA4-B880-D22DAF0E28F2}"/>
                  </a:ext>
                </a:extLst>
              </p:cNvPr>
              <p:cNvSpPr>
                <a:spLocks/>
              </p:cNvSpPr>
              <p:nvPr/>
            </p:nvSpPr>
            <p:spPr bwMode="auto">
              <a:xfrm>
                <a:off x="4771" y="464"/>
                <a:ext cx="11" cy="6"/>
              </a:xfrm>
              <a:custGeom>
                <a:avLst/>
                <a:gdLst>
                  <a:gd name="T0" fmla="*/ 6 w 8"/>
                  <a:gd name="T1" fmla="*/ 3 h 4"/>
                  <a:gd name="T2" fmla="*/ 3 w 8"/>
                  <a:gd name="T3" fmla="*/ 1 h 4"/>
                  <a:gd name="T4" fmla="*/ 2 w 8"/>
                  <a:gd name="T5" fmla="*/ 2 h 4"/>
                  <a:gd name="T6" fmla="*/ 6 w 8"/>
                  <a:gd name="T7" fmla="*/ 3 h 4"/>
                </a:gdLst>
                <a:ahLst/>
                <a:cxnLst>
                  <a:cxn ang="0">
                    <a:pos x="T0" y="T1"/>
                  </a:cxn>
                  <a:cxn ang="0">
                    <a:pos x="T2" y="T3"/>
                  </a:cxn>
                  <a:cxn ang="0">
                    <a:pos x="T4" y="T5"/>
                  </a:cxn>
                  <a:cxn ang="0">
                    <a:pos x="T6" y="T7"/>
                  </a:cxn>
                </a:cxnLst>
                <a:rect l="0" t="0" r="r" b="b"/>
                <a:pathLst>
                  <a:path w="8" h="4">
                    <a:moveTo>
                      <a:pt x="6" y="3"/>
                    </a:moveTo>
                    <a:cubicBezTo>
                      <a:pt x="8" y="3"/>
                      <a:pt x="7" y="2"/>
                      <a:pt x="3" y="1"/>
                    </a:cubicBezTo>
                    <a:cubicBezTo>
                      <a:pt x="0" y="0"/>
                      <a:pt x="2" y="2"/>
                      <a:pt x="2" y="2"/>
                    </a:cubicBezTo>
                    <a:cubicBezTo>
                      <a:pt x="3" y="4"/>
                      <a:pt x="3" y="4"/>
                      <a:pt x="6"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14" name="Freeform 624">
                <a:extLst>
                  <a:ext uri="{FF2B5EF4-FFF2-40B4-BE49-F238E27FC236}">
                    <a16:creationId xmlns:a16="http://schemas.microsoft.com/office/drawing/2014/main" id="{CC55CE9B-8493-453A-AB07-3715EB4423CB}"/>
                  </a:ext>
                </a:extLst>
              </p:cNvPr>
              <p:cNvSpPr>
                <a:spLocks/>
              </p:cNvSpPr>
              <p:nvPr/>
            </p:nvSpPr>
            <p:spPr bwMode="auto">
              <a:xfrm>
                <a:off x="4776" y="462"/>
                <a:ext cx="40" cy="6"/>
              </a:xfrm>
              <a:custGeom>
                <a:avLst/>
                <a:gdLst>
                  <a:gd name="T0" fmla="*/ 6 w 29"/>
                  <a:gd name="T1" fmla="*/ 1 h 5"/>
                  <a:gd name="T2" fmla="*/ 16 w 29"/>
                  <a:gd name="T3" fmla="*/ 4 h 5"/>
                  <a:gd name="T4" fmla="*/ 27 w 29"/>
                  <a:gd name="T5" fmla="*/ 2 h 5"/>
                  <a:gd name="T6" fmla="*/ 8 w 29"/>
                  <a:gd name="T7" fmla="*/ 0 h 5"/>
                  <a:gd name="T8" fmla="*/ 6 w 29"/>
                  <a:gd name="T9" fmla="*/ 1 h 5"/>
                </a:gdLst>
                <a:ahLst/>
                <a:cxnLst>
                  <a:cxn ang="0">
                    <a:pos x="T0" y="T1"/>
                  </a:cxn>
                  <a:cxn ang="0">
                    <a:pos x="T2" y="T3"/>
                  </a:cxn>
                  <a:cxn ang="0">
                    <a:pos x="T4" y="T5"/>
                  </a:cxn>
                  <a:cxn ang="0">
                    <a:pos x="T6" y="T7"/>
                  </a:cxn>
                  <a:cxn ang="0">
                    <a:pos x="T8" y="T9"/>
                  </a:cxn>
                </a:cxnLst>
                <a:rect l="0" t="0" r="r" b="b"/>
                <a:pathLst>
                  <a:path w="29" h="5">
                    <a:moveTo>
                      <a:pt x="6" y="1"/>
                    </a:moveTo>
                    <a:cubicBezTo>
                      <a:pt x="6" y="1"/>
                      <a:pt x="12" y="3"/>
                      <a:pt x="16" y="4"/>
                    </a:cubicBezTo>
                    <a:cubicBezTo>
                      <a:pt x="20" y="5"/>
                      <a:pt x="25" y="4"/>
                      <a:pt x="27" y="2"/>
                    </a:cubicBezTo>
                    <a:cubicBezTo>
                      <a:pt x="29" y="1"/>
                      <a:pt x="16" y="1"/>
                      <a:pt x="8" y="0"/>
                    </a:cubicBezTo>
                    <a:cubicBezTo>
                      <a:pt x="0" y="0"/>
                      <a:pt x="6" y="1"/>
                      <a:pt x="6"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15" name="Freeform 625">
                <a:extLst>
                  <a:ext uri="{FF2B5EF4-FFF2-40B4-BE49-F238E27FC236}">
                    <a16:creationId xmlns:a16="http://schemas.microsoft.com/office/drawing/2014/main" id="{86A207FD-2669-4E31-90E5-51527C988C9E}"/>
                  </a:ext>
                </a:extLst>
              </p:cNvPr>
              <p:cNvSpPr>
                <a:spLocks/>
              </p:cNvSpPr>
              <p:nvPr/>
            </p:nvSpPr>
            <p:spPr bwMode="auto">
              <a:xfrm>
                <a:off x="4786" y="486"/>
                <a:ext cx="63" cy="25"/>
              </a:xfrm>
              <a:custGeom>
                <a:avLst/>
                <a:gdLst>
                  <a:gd name="T0" fmla="*/ 3 w 46"/>
                  <a:gd name="T1" fmla="*/ 11 h 18"/>
                  <a:gd name="T2" fmla="*/ 3 w 46"/>
                  <a:gd name="T3" fmla="*/ 14 h 18"/>
                  <a:gd name="T4" fmla="*/ 10 w 46"/>
                  <a:gd name="T5" fmla="*/ 17 h 18"/>
                  <a:gd name="T6" fmla="*/ 16 w 46"/>
                  <a:gd name="T7" fmla="*/ 17 h 18"/>
                  <a:gd name="T8" fmla="*/ 43 w 46"/>
                  <a:gd name="T9" fmla="*/ 10 h 18"/>
                  <a:gd name="T10" fmla="*/ 44 w 46"/>
                  <a:gd name="T11" fmla="*/ 8 h 18"/>
                  <a:gd name="T12" fmla="*/ 42 w 46"/>
                  <a:gd name="T13" fmla="*/ 4 h 18"/>
                  <a:gd name="T14" fmla="*/ 30 w 46"/>
                  <a:gd name="T15" fmla="*/ 0 h 18"/>
                  <a:gd name="T16" fmla="*/ 25 w 46"/>
                  <a:gd name="T17" fmla="*/ 5 h 18"/>
                  <a:gd name="T18" fmla="*/ 20 w 46"/>
                  <a:gd name="T19" fmla="*/ 7 h 18"/>
                  <a:gd name="T20" fmla="*/ 10 w 46"/>
                  <a:gd name="T21" fmla="*/ 8 h 18"/>
                  <a:gd name="T22" fmla="*/ 3 w 46"/>
                  <a:gd name="T23" fmla="*/ 1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 h="18">
                    <a:moveTo>
                      <a:pt x="3" y="11"/>
                    </a:moveTo>
                    <a:cubicBezTo>
                      <a:pt x="0" y="13"/>
                      <a:pt x="3" y="14"/>
                      <a:pt x="3" y="14"/>
                    </a:cubicBezTo>
                    <a:cubicBezTo>
                      <a:pt x="3" y="14"/>
                      <a:pt x="9" y="16"/>
                      <a:pt x="10" y="17"/>
                    </a:cubicBezTo>
                    <a:cubicBezTo>
                      <a:pt x="11" y="18"/>
                      <a:pt x="13" y="18"/>
                      <a:pt x="16" y="17"/>
                    </a:cubicBezTo>
                    <a:cubicBezTo>
                      <a:pt x="19" y="16"/>
                      <a:pt x="39" y="10"/>
                      <a:pt x="43" y="10"/>
                    </a:cubicBezTo>
                    <a:cubicBezTo>
                      <a:pt x="46" y="9"/>
                      <a:pt x="45" y="8"/>
                      <a:pt x="44" y="8"/>
                    </a:cubicBezTo>
                    <a:cubicBezTo>
                      <a:pt x="43" y="7"/>
                      <a:pt x="42" y="7"/>
                      <a:pt x="42" y="4"/>
                    </a:cubicBezTo>
                    <a:cubicBezTo>
                      <a:pt x="42" y="0"/>
                      <a:pt x="32" y="0"/>
                      <a:pt x="30" y="0"/>
                    </a:cubicBezTo>
                    <a:cubicBezTo>
                      <a:pt x="28" y="1"/>
                      <a:pt x="26" y="2"/>
                      <a:pt x="25" y="5"/>
                    </a:cubicBezTo>
                    <a:cubicBezTo>
                      <a:pt x="24" y="8"/>
                      <a:pt x="23" y="7"/>
                      <a:pt x="20" y="7"/>
                    </a:cubicBezTo>
                    <a:cubicBezTo>
                      <a:pt x="17" y="7"/>
                      <a:pt x="11" y="8"/>
                      <a:pt x="10" y="8"/>
                    </a:cubicBezTo>
                    <a:cubicBezTo>
                      <a:pt x="9" y="9"/>
                      <a:pt x="6" y="10"/>
                      <a:pt x="3"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16" name="Freeform 626">
                <a:extLst>
                  <a:ext uri="{FF2B5EF4-FFF2-40B4-BE49-F238E27FC236}">
                    <a16:creationId xmlns:a16="http://schemas.microsoft.com/office/drawing/2014/main" id="{7D3C2442-9A6E-42AB-B422-D664BA925FB4}"/>
                  </a:ext>
                </a:extLst>
              </p:cNvPr>
              <p:cNvSpPr>
                <a:spLocks/>
              </p:cNvSpPr>
              <p:nvPr/>
            </p:nvSpPr>
            <p:spPr bwMode="auto">
              <a:xfrm>
                <a:off x="4559" y="825"/>
                <a:ext cx="130" cy="109"/>
              </a:xfrm>
              <a:custGeom>
                <a:avLst/>
                <a:gdLst>
                  <a:gd name="T0" fmla="*/ 1 w 94"/>
                  <a:gd name="T1" fmla="*/ 46 h 79"/>
                  <a:gd name="T2" fmla="*/ 8 w 94"/>
                  <a:gd name="T3" fmla="*/ 50 h 79"/>
                  <a:gd name="T4" fmla="*/ 16 w 94"/>
                  <a:gd name="T5" fmla="*/ 49 h 79"/>
                  <a:gd name="T6" fmla="*/ 21 w 94"/>
                  <a:gd name="T7" fmla="*/ 54 h 79"/>
                  <a:gd name="T8" fmla="*/ 26 w 94"/>
                  <a:gd name="T9" fmla="*/ 52 h 79"/>
                  <a:gd name="T10" fmla="*/ 28 w 94"/>
                  <a:gd name="T11" fmla="*/ 53 h 79"/>
                  <a:gd name="T12" fmla="*/ 34 w 94"/>
                  <a:gd name="T13" fmla="*/ 55 h 79"/>
                  <a:gd name="T14" fmla="*/ 31 w 94"/>
                  <a:gd name="T15" fmla="*/ 58 h 79"/>
                  <a:gd name="T16" fmla="*/ 37 w 94"/>
                  <a:gd name="T17" fmla="*/ 63 h 79"/>
                  <a:gd name="T18" fmla="*/ 34 w 94"/>
                  <a:gd name="T19" fmla="*/ 64 h 79"/>
                  <a:gd name="T20" fmla="*/ 34 w 94"/>
                  <a:gd name="T21" fmla="*/ 68 h 79"/>
                  <a:gd name="T22" fmla="*/ 32 w 94"/>
                  <a:gd name="T23" fmla="*/ 71 h 79"/>
                  <a:gd name="T24" fmla="*/ 47 w 94"/>
                  <a:gd name="T25" fmla="*/ 75 h 79"/>
                  <a:gd name="T26" fmla="*/ 47 w 94"/>
                  <a:gd name="T27" fmla="*/ 72 h 79"/>
                  <a:gd name="T28" fmla="*/ 59 w 94"/>
                  <a:gd name="T29" fmla="*/ 74 h 79"/>
                  <a:gd name="T30" fmla="*/ 65 w 94"/>
                  <a:gd name="T31" fmla="*/ 76 h 79"/>
                  <a:gd name="T32" fmla="*/ 67 w 94"/>
                  <a:gd name="T33" fmla="*/ 75 h 79"/>
                  <a:gd name="T34" fmla="*/ 72 w 94"/>
                  <a:gd name="T35" fmla="*/ 76 h 79"/>
                  <a:gd name="T36" fmla="*/ 72 w 94"/>
                  <a:gd name="T37" fmla="*/ 74 h 79"/>
                  <a:gd name="T38" fmla="*/ 87 w 94"/>
                  <a:gd name="T39" fmla="*/ 77 h 79"/>
                  <a:gd name="T40" fmla="*/ 87 w 94"/>
                  <a:gd name="T41" fmla="*/ 76 h 79"/>
                  <a:gd name="T42" fmla="*/ 92 w 94"/>
                  <a:gd name="T43" fmla="*/ 73 h 79"/>
                  <a:gd name="T44" fmla="*/ 81 w 94"/>
                  <a:gd name="T45" fmla="*/ 67 h 79"/>
                  <a:gd name="T46" fmla="*/ 70 w 94"/>
                  <a:gd name="T47" fmla="*/ 58 h 79"/>
                  <a:gd name="T48" fmla="*/ 62 w 94"/>
                  <a:gd name="T49" fmla="*/ 46 h 79"/>
                  <a:gd name="T50" fmla="*/ 59 w 94"/>
                  <a:gd name="T51" fmla="*/ 40 h 79"/>
                  <a:gd name="T52" fmla="*/ 61 w 94"/>
                  <a:gd name="T53" fmla="*/ 34 h 79"/>
                  <a:gd name="T54" fmla="*/ 60 w 94"/>
                  <a:gd name="T55" fmla="*/ 29 h 79"/>
                  <a:gd name="T56" fmla="*/ 61 w 94"/>
                  <a:gd name="T57" fmla="*/ 25 h 79"/>
                  <a:gd name="T58" fmla="*/ 63 w 94"/>
                  <a:gd name="T59" fmla="*/ 23 h 79"/>
                  <a:gd name="T60" fmla="*/ 67 w 94"/>
                  <a:gd name="T61" fmla="*/ 20 h 79"/>
                  <a:gd name="T62" fmla="*/ 65 w 94"/>
                  <a:gd name="T63" fmla="*/ 16 h 79"/>
                  <a:gd name="T64" fmla="*/ 72 w 94"/>
                  <a:gd name="T65" fmla="*/ 14 h 79"/>
                  <a:gd name="T66" fmla="*/ 70 w 94"/>
                  <a:gd name="T67" fmla="*/ 10 h 79"/>
                  <a:gd name="T68" fmla="*/ 69 w 94"/>
                  <a:gd name="T69" fmla="*/ 9 h 79"/>
                  <a:gd name="T70" fmla="*/ 62 w 94"/>
                  <a:gd name="T71" fmla="*/ 2 h 79"/>
                  <a:gd name="T72" fmla="*/ 43 w 94"/>
                  <a:gd name="T73" fmla="*/ 1 h 79"/>
                  <a:gd name="T74" fmla="*/ 26 w 94"/>
                  <a:gd name="T75" fmla="*/ 9 h 79"/>
                  <a:gd name="T76" fmla="*/ 25 w 94"/>
                  <a:gd name="T77" fmla="*/ 13 h 79"/>
                  <a:gd name="T78" fmla="*/ 16 w 94"/>
                  <a:gd name="T79" fmla="*/ 17 h 79"/>
                  <a:gd name="T80" fmla="*/ 23 w 94"/>
                  <a:gd name="T81" fmla="*/ 20 h 79"/>
                  <a:gd name="T82" fmla="*/ 24 w 94"/>
                  <a:gd name="T83" fmla="*/ 22 h 79"/>
                  <a:gd name="T84" fmla="*/ 19 w 94"/>
                  <a:gd name="T85" fmla="*/ 26 h 79"/>
                  <a:gd name="T86" fmla="*/ 18 w 94"/>
                  <a:gd name="T87" fmla="*/ 30 h 79"/>
                  <a:gd name="T88" fmla="*/ 16 w 94"/>
                  <a:gd name="T89" fmla="*/ 32 h 79"/>
                  <a:gd name="T90" fmla="*/ 15 w 94"/>
                  <a:gd name="T91" fmla="*/ 35 h 79"/>
                  <a:gd name="T92" fmla="*/ 10 w 94"/>
                  <a:gd name="T93" fmla="*/ 36 h 79"/>
                  <a:gd name="T94" fmla="*/ 4 w 94"/>
                  <a:gd name="T95" fmla="*/ 3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4" h="79">
                    <a:moveTo>
                      <a:pt x="4" y="36"/>
                    </a:moveTo>
                    <a:cubicBezTo>
                      <a:pt x="0" y="39"/>
                      <a:pt x="0" y="45"/>
                      <a:pt x="1" y="46"/>
                    </a:cubicBezTo>
                    <a:cubicBezTo>
                      <a:pt x="3" y="48"/>
                      <a:pt x="2" y="49"/>
                      <a:pt x="2" y="50"/>
                    </a:cubicBezTo>
                    <a:cubicBezTo>
                      <a:pt x="2" y="51"/>
                      <a:pt x="6" y="51"/>
                      <a:pt x="8" y="50"/>
                    </a:cubicBezTo>
                    <a:cubicBezTo>
                      <a:pt x="9" y="50"/>
                      <a:pt x="14" y="50"/>
                      <a:pt x="15" y="50"/>
                    </a:cubicBezTo>
                    <a:cubicBezTo>
                      <a:pt x="16" y="50"/>
                      <a:pt x="16" y="51"/>
                      <a:pt x="16" y="49"/>
                    </a:cubicBezTo>
                    <a:cubicBezTo>
                      <a:pt x="17" y="48"/>
                      <a:pt x="18" y="50"/>
                      <a:pt x="18" y="52"/>
                    </a:cubicBezTo>
                    <a:cubicBezTo>
                      <a:pt x="18" y="54"/>
                      <a:pt x="19" y="53"/>
                      <a:pt x="21" y="54"/>
                    </a:cubicBezTo>
                    <a:cubicBezTo>
                      <a:pt x="23" y="55"/>
                      <a:pt x="23" y="54"/>
                      <a:pt x="24" y="53"/>
                    </a:cubicBezTo>
                    <a:cubicBezTo>
                      <a:pt x="24" y="53"/>
                      <a:pt x="24" y="52"/>
                      <a:pt x="26" y="52"/>
                    </a:cubicBezTo>
                    <a:cubicBezTo>
                      <a:pt x="27" y="53"/>
                      <a:pt x="26" y="52"/>
                      <a:pt x="28" y="51"/>
                    </a:cubicBezTo>
                    <a:cubicBezTo>
                      <a:pt x="29" y="50"/>
                      <a:pt x="29" y="52"/>
                      <a:pt x="28" y="53"/>
                    </a:cubicBezTo>
                    <a:cubicBezTo>
                      <a:pt x="27" y="54"/>
                      <a:pt x="29" y="55"/>
                      <a:pt x="30" y="57"/>
                    </a:cubicBezTo>
                    <a:cubicBezTo>
                      <a:pt x="31" y="59"/>
                      <a:pt x="32" y="56"/>
                      <a:pt x="34" y="55"/>
                    </a:cubicBezTo>
                    <a:cubicBezTo>
                      <a:pt x="36" y="53"/>
                      <a:pt x="34" y="55"/>
                      <a:pt x="34" y="56"/>
                    </a:cubicBezTo>
                    <a:cubicBezTo>
                      <a:pt x="34" y="57"/>
                      <a:pt x="33" y="57"/>
                      <a:pt x="31" y="58"/>
                    </a:cubicBezTo>
                    <a:cubicBezTo>
                      <a:pt x="29" y="59"/>
                      <a:pt x="35" y="61"/>
                      <a:pt x="36" y="62"/>
                    </a:cubicBezTo>
                    <a:cubicBezTo>
                      <a:pt x="38" y="62"/>
                      <a:pt x="38" y="63"/>
                      <a:pt x="37" y="63"/>
                    </a:cubicBezTo>
                    <a:cubicBezTo>
                      <a:pt x="36" y="63"/>
                      <a:pt x="36" y="63"/>
                      <a:pt x="37" y="64"/>
                    </a:cubicBezTo>
                    <a:cubicBezTo>
                      <a:pt x="38" y="65"/>
                      <a:pt x="38" y="64"/>
                      <a:pt x="34" y="64"/>
                    </a:cubicBezTo>
                    <a:cubicBezTo>
                      <a:pt x="30" y="63"/>
                      <a:pt x="32" y="65"/>
                      <a:pt x="34" y="66"/>
                    </a:cubicBezTo>
                    <a:cubicBezTo>
                      <a:pt x="35" y="67"/>
                      <a:pt x="35" y="66"/>
                      <a:pt x="34" y="68"/>
                    </a:cubicBezTo>
                    <a:cubicBezTo>
                      <a:pt x="34" y="70"/>
                      <a:pt x="35" y="71"/>
                      <a:pt x="31" y="70"/>
                    </a:cubicBezTo>
                    <a:cubicBezTo>
                      <a:pt x="27" y="69"/>
                      <a:pt x="30" y="71"/>
                      <a:pt x="32" y="71"/>
                    </a:cubicBezTo>
                    <a:cubicBezTo>
                      <a:pt x="33" y="71"/>
                      <a:pt x="36" y="72"/>
                      <a:pt x="38" y="72"/>
                    </a:cubicBezTo>
                    <a:cubicBezTo>
                      <a:pt x="41" y="73"/>
                      <a:pt x="46" y="74"/>
                      <a:pt x="47" y="75"/>
                    </a:cubicBezTo>
                    <a:cubicBezTo>
                      <a:pt x="48" y="76"/>
                      <a:pt x="48" y="74"/>
                      <a:pt x="47" y="74"/>
                    </a:cubicBezTo>
                    <a:cubicBezTo>
                      <a:pt x="46" y="73"/>
                      <a:pt x="47" y="73"/>
                      <a:pt x="47" y="72"/>
                    </a:cubicBezTo>
                    <a:cubicBezTo>
                      <a:pt x="48" y="71"/>
                      <a:pt x="53" y="76"/>
                      <a:pt x="54" y="77"/>
                    </a:cubicBezTo>
                    <a:cubicBezTo>
                      <a:pt x="56" y="78"/>
                      <a:pt x="58" y="75"/>
                      <a:pt x="59" y="74"/>
                    </a:cubicBezTo>
                    <a:cubicBezTo>
                      <a:pt x="60" y="72"/>
                      <a:pt x="62" y="73"/>
                      <a:pt x="63" y="73"/>
                    </a:cubicBezTo>
                    <a:cubicBezTo>
                      <a:pt x="65" y="74"/>
                      <a:pt x="65" y="75"/>
                      <a:pt x="65" y="76"/>
                    </a:cubicBezTo>
                    <a:cubicBezTo>
                      <a:pt x="65" y="77"/>
                      <a:pt x="66" y="77"/>
                      <a:pt x="67" y="77"/>
                    </a:cubicBezTo>
                    <a:cubicBezTo>
                      <a:pt x="68" y="77"/>
                      <a:pt x="68" y="77"/>
                      <a:pt x="67" y="75"/>
                    </a:cubicBezTo>
                    <a:cubicBezTo>
                      <a:pt x="66" y="74"/>
                      <a:pt x="67" y="75"/>
                      <a:pt x="68" y="75"/>
                    </a:cubicBezTo>
                    <a:cubicBezTo>
                      <a:pt x="69" y="76"/>
                      <a:pt x="71" y="76"/>
                      <a:pt x="72" y="76"/>
                    </a:cubicBezTo>
                    <a:cubicBezTo>
                      <a:pt x="74" y="76"/>
                      <a:pt x="75" y="79"/>
                      <a:pt x="75" y="76"/>
                    </a:cubicBezTo>
                    <a:cubicBezTo>
                      <a:pt x="75" y="73"/>
                      <a:pt x="72" y="76"/>
                      <a:pt x="72" y="74"/>
                    </a:cubicBezTo>
                    <a:cubicBezTo>
                      <a:pt x="72" y="72"/>
                      <a:pt x="77" y="74"/>
                      <a:pt x="79" y="76"/>
                    </a:cubicBezTo>
                    <a:cubicBezTo>
                      <a:pt x="81" y="77"/>
                      <a:pt x="85" y="78"/>
                      <a:pt x="87" y="77"/>
                    </a:cubicBezTo>
                    <a:cubicBezTo>
                      <a:pt x="88" y="77"/>
                      <a:pt x="83" y="76"/>
                      <a:pt x="80" y="75"/>
                    </a:cubicBezTo>
                    <a:cubicBezTo>
                      <a:pt x="78" y="74"/>
                      <a:pt x="85" y="75"/>
                      <a:pt x="87" y="76"/>
                    </a:cubicBezTo>
                    <a:cubicBezTo>
                      <a:pt x="88" y="76"/>
                      <a:pt x="89" y="76"/>
                      <a:pt x="89" y="75"/>
                    </a:cubicBezTo>
                    <a:cubicBezTo>
                      <a:pt x="90" y="74"/>
                      <a:pt x="89" y="73"/>
                      <a:pt x="92" y="73"/>
                    </a:cubicBezTo>
                    <a:cubicBezTo>
                      <a:pt x="94" y="74"/>
                      <a:pt x="90" y="72"/>
                      <a:pt x="89" y="71"/>
                    </a:cubicBezTo>
                    <a:cubicBezTo>
                      <a:pt x="87" y="71"/>
                      <a:pt x="82" y="68"/>
                      <a:pt x="81" y="67"/>
                    </a:cubicBezTo>
                    <a:cubicBezTo>
                      <a:pt x="80" y="66"/>
                      <a:pt x="77" y="64"/>
                      <a:pt x="75" y="63"/>
                    </a:cubicBezTo>
                    <a:cubicBezTo>
                      <a:pt x="74" y="62"/>
                      <a:pt x="70" y="59"/>
                      <a:pt x="70" y="58"/>
                    </a:cubicBezTo>
                    <a:cubicBezTo>
                      <a:pt x="69" y="56"/>
                      <a:pt x="67" y="54"/>
                      <a:pt x="66" y="53"/>
                    </a:cubicBezTo>
                    <a:cubicBezTo>
                      <a:pt x="65" y="51"/>
                      <a:pt x="63" y="48"/>
                      <a:pt x="62" y="46"/>
                    </a:cubicBezTo>
                    <a:cubicBezTo>
                      <a:pt x="62" y="44"/>
                      <a:pt x="61" y="42"/>
                      <a:pt x="59" y="41"/>
                    </a:cubicBezTo>
                    <a:cubicBezTo>
                      <a:pt x="58" y="41"/>
                      <a:pt x="58" y="40"/>
                      <a:pt x="59" y="40"/>
                    </a:cubicBezTo>
                    <a:cubicBezTo>
                      <a:pt x="60" y="39"/>
                      <a:pt x="59" y="38"/>
                      <a:pt x="59" y="37"/>
                    </a:cubicBezTo>
                    <a:cubicBezTo>
                      <a:pt x="59" y="36"/>
                      <a:pt x="60" y="35"/>
                      <a:pt x="61" y="34"/>
                    </a:cubicBezTo>
                    <a:cubicBezTo>
                      <a:pt x="62" y="33"/>
                      <a:pt x="61" y="32"/>
                      <a:pt x="60" y="31"/>
                    </a:cubicBezTo>
                    <a:cubicBezTo>
                      <a:pt x="59" y="31"/>
                      <a:pt x="60" y="30"/>
                      <a:pt x="60" y="29"/>
                    </a:cubicBezTo>
                    <a:cubicBezTo>
                      <a:pt x="61" y="28"/>
                      <a:pt x="61" y="27"/>
                      <a:pt x="58" y="26"/>
                    </a:cubicBezTo>
                    <a:cubicBezTo>
                      <a:pt x="55" y="26"/>
                      <a:pt x="59" y="25"/>
                      <a:pt x="61" y="25"/>
                    </a:cubicBezTo>
                    <a:cubicBezTo>
                      <a:pt x="63" y="25"/>
                      <a:pt x="62" y="24"/>
                      <a:pt x="60" y="23"/>
                    </a:cubicBezTo>
                    <a:cubicBezTo>
                      <a:pt x="59" y="22"/>
                      <a:pt x="61" y="23"/>
                      <a:pt x="63" y="23"/>
                    </a:cubicBezTo>
                    <a:cubicBezTo>
                      <a:pt x="64" y="23"/>
                      <a:pt x="64" y="22"/>
                      <a:pt x="65" y="21"/>
                    </a:cubicBezTo>
                    <a:cubicBezTo>
                      <a:pt x="65" y="20"/>
                      <a:pt x="65" y="20"/>
                      <a:pt x="67" y="20"/>
                    </a:cubicBezTo>
                    <a:cubicBezTo>
                      <a:pt x="68" y="20"/>
                      <a:pt x="65" y="18"/>
                      <a:pt x="62" y="17"/>
                    </a:cubicBezTo>
                    <a:cubicBezTo>
                      <a:pt x="59" y="16"/>
                      <a:pt x="65" y="16"/>
                      <a:pt x="65" y="16"/>
                    </a:cubicBezTo>
                    <a:cubicBezTo>
                      <a:pt x="66" y="16"/>
                      <a:pt x="67" y="16"/>
                      <a:pt x="69" y="16"/>
                    </a:cubicBezTo>
                    <a:cubicBezTo>
                      <a:pt x="71" y="17"/>
                      <a:pt x="71" y="16"/>
                      <a:pt x="72" y="14"/>
                    </a:cubicBezTo>
                    <a:cubicBezTo>
                      <a:pt x="73" y="12"/>
                      <a:pt x="72" y="12"/>
                      <a:pt x="66" y="12"/>
                    </a:cubicBezTo>
                    <a:cubicBezTo>
                      <a:pt x="60" y="12"/>
                      <a:pt x="69" y="11"/>
                      <a:pt x="70" y="10"/>
                    </a:cubicBezTo>
                    <a:cubicBezTo>
                      <a:pt x="72" y="10"/>
                      <a:pt x="73" y="10"/>
                      <a:pt x="74" y="10"/>
                    </a:cubicBezTo>
                    <a:cubicBezTo>
                      <a:pt x="75" y="9"/>
                      <a:pt x="72" y="9"/>
                      <a:pt x="69" y="9"/>
                    </a:cubicBezTo>
                    <a:cubicBezTo>
                      <a:pt x="65" y="9"/>
                      <a:pt x="73" y="8"/>
                      <a:pt x="76" y="7"/>
                    </a:cubicBezTo>
                    <a:cubicBezTo>
                      <a:pt x="79" y="6"/>
                      <a:pt x="64" y="3"/>
                      <a:pt x="62" y="2"/>
                    </a:cubicBezTo>
                    <a:cubicBezTo>
                      <a:pt x="59" y="1"/>
                      <a:pt x="52" y="1"/>
                      <a:pt x="50" y="0"/>
                    </a:cubicBezTo>
                    <a:cubicBezTo>
                      <a:pt x="47" y="0"/>
                      <a:pt x="44" y="1"/>
                      <a:pt x="43" y="1"/>
                    </a:cubicBezTo>
                    <a:cubicBezTo>
                      <a:pt x="43" y="0"/>
                      <a:pt x="31" y="3"/>
                      <a:pt x="28" y="4"/>
                    </a:cubicBezTo>
                    <a:cubicBezTo>
                      <a:pt x="26" y="6"/>
                      <a:pt x="25" y="7"/>
                      <a:pt x="26" y="9"/>
                    </a:cubicBezTo>
                    <a:cubicBezTo>
                      <a:pt x="27" y="10"/>
                      <a:pt x="25" y="10"/>
                      <a:pt x="27" y="12"/>
                    </a:cubicBezTo>
                    <a:cubicBezTo>
                      <a:pt x="28" y="14"/>
                      <a:pt x="26" y="13"/>
                      <a:pt x="25" y="13"/>
                    </a:cubicBezTo>
                    <a:cubicBezTo>
                      <a:pt x="23" y="13"/>
                      <a:pt x="21" y="14"/>
                      <a:pt x="20" y="14"/>
                    </a:cubicBezTo>
                    <a:cubicBezTo>
                      <a:pt x="18" y="14"/>
                      <a:pt x="17" y="16"/>
                      <a:pt x="16" y="17"/>
                    </a:cubicBezTo>
                    <a:cubicBezTo>
                      <a:pt x="14" y="19"/>
                      <a:pt x="17" y="19"/>
                      <a:pt x="22" y="19"/>
                    </a:cubicBezTo>
                    <a:cubicBezTo>
                      <a:pt x="26" y="19"/>
                      <a:pt x="24" y="20"/>
                      <a:pt x="23" y="20"/>
                    </a:cubicBezTo>
                    <a:cubicBezTo>
                      <a:pt x="21" y="20"/>
                      <a:pt x="21" y="21"/>
                      <a:pt x="20" y="22"/>
                    </a:cubicBezTo>
                    <a:cubicBezTo>
                      <a:pt x="20" y="23"/>
                      <a:pt x="22" y="23"/>
                      <a:pt x="24" y="22"/>
                    </a:cubicBezTo>
                    <a:cubicBezTo>
                      <a:pt x="26" y="21"/>
                      <a:pt x="23" y="24"/>
                      <a:pt x="21" y="24"/>
                    </a:cubicBezTo>
                    <a:cubicBezTo>
                      <a:pt x="20" y="24"/>
                      <a:pt x="20" y="25"/>
                      <a:pt x="19" y="26"/>
                    </a:cubicBezTo>
                    <a:cubicBezTo>
                      <a:pt x="19" y="28"/>
                      <a:pt x="20" y="29"/>
                      <a:pt x="19" y="28"/>
                    </a:cubicBezTo>
                    <a:cubicBezTo>
                      <a:pt x="18" y="28"/>
                      <a:pt x="18" y="29"/>
                      <a:pt x="18" y="30"/>
                    </a:cubicBezTo>
                    <a:cubicBezTo>
                      <a:pt x="18" y="31"/>
                      <a:pt x="18" y="31"/>
                      <a:pt x="17" y="30"/>
                    </a:cubicBezTo>
                    <a:cubicBezTo>
                      <a:pt x="16" y="30"/>
                      <a:pt x="16" y="31"/>
                      <a:pt x="16" y="32"/>
                    </a:cubicBezTo>
                    <a:cubicBezTo>
                      <a:pt x="15" y="33"/>
                      <a:pt x="16" y="34"/>
                      <a:pt x="15" y="34"/>
                    </a:cubicBezTo>
                    <a:cubicBezTo>
                      <a:pt x="15" y="33"/>
                      <a:pt x="15" y="34"/>
                      <a:pt x="15" y="35"/>
                    </a:cubicBezTo>
                    <a:cubicBezTo>
                      <a:pt x="15" y="37"/>
                      <a:pt x="14" y="37"/>
                      <a:pt x="13" y="36"/>
                    </a:cubicBezTo>
                    <a:cubicBezTo>
                      <a:pt x="13" y="36"/>
                      <a:pt x="12" y="36"/>
                      <a:pt x="10" y="36"/>
                    </a:cubicBezTo>
                    <a:cubicBezTo>
                      <a:pt x="9" y="36"/>
                      <a:pt x="8" y="36"/>
                      <a:pt x="7" y="35"/>
                    </a:cubicBezTo>
                    <a:cubicBezTo>
                      <a:pt x="6" y="34"/>
                      <a:pt x="4" y="36"/>
                      <a:pt x="4" y="3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17" name="Freeform 627">
                <a:extLst>
                  <a:ext uri="{FF2B5EF4-FFF2-40B4-BE49-F238E27FC236}">
                    <a16:creationId xmlns:a16="http://schemas.microsoft.com/office/drawing/2014/main" id="{7458AA22-A9EA-44B8-9181-E42AF3A17CEB}"/>
                  </a:ext>
                </a:extLst>
              </p:cNvPr>
              <p:cNvSpPr>
                <a:spLocks/>
              </p:cNvSpPr>
              <p:nvPr/>
            </p:nvSpPr>
            <p:spPr bwMode="auto">
              <a:xfrm>
                <a:off x="4576" y="901"/>
                <a:ext cx="22" cy="16"/>
              </a:xfrm>
              <a:custGeom>
                <a:avLst/>
                <a:gdLst>
                  <a:gd name="T0" fmla="*/ 14 w 16"/>
                  <a:gd name="T1" fmla="*/ 9 h 12"/>
                  <a:gd name="T2" fmla="*/ 15 w 16"/>
                  <a:gd name="T3" fmla="*/ 5 h 12"/>
                  <a:gd name="T4" fmla="*/ 13 w 16"/>
                  <a:gd name="T5" fmla="*/ 4 h 12"/>
                  <a:gd name="T6" fmla="*/ 9 w 16"/>
                  <a:gd name="T7" fmla="*/ 2 h 12"/>
                  <a:gd name="T8" fmla="*/ 12 w 16"/>
                  <a:gd name="T9" fmla="*/ 3 h 12"/>
                  <a:gd name="T10" fmla="*/ 10 w 16"/>
                  <a:gd name="T11" fmla="*/ 1 h 12"/>
                  <a:gd name="T12" fmla="*/ 2 w 16"/>
                  <a:gd name="T13" fmla="*/ 1 h 12"/>
                  <a:gd name="T14" fmla="*/ 2 w 16"/>
                  <a:gd name="T15" fmla="*/ 3 h 12"/>
                  <a:gd name="T16" fmla="*/ 9 w 16"/>
                  <a:gd name="T17" fmla="*/ 9 h 12"/>
                  <a:gd name="T18" fmla="*/ 13 w 16"/>
                  <a:gd name="T19" fmla="*/ 12 h 12"/>
                  <a:gd name="T20" fmla="*/ 13 w 16"/>
                  <a:gd name="T21" fmla="*/ 10 h 12"/>
                  <a:gd name="T22" fmla="*/ 14 w 16"/>
                  <a:gd name="T23" fmla="*/ 9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12">
                    <a:moveTo>
                      <a:pt x="14" y="9"/>
                    </a:moveTo>
                    <a:cubicBezTo>
                      <a:pt x="15" y="9"/>
                      <a:pt x="14" y="7"/>
                      <a:pt x="15" y="5"/>
                    </a:cubicBezTo>
                    <a:cubicBezTo>
                      <a:pt x="16" y="3"/>
                      <a:pt x="14" y="4"/>
                      <a:pt x="13" y="4"/>
                    </a:cubicBezTo>
                    <a:cubicBezTo>
                      <a:pt x="12" y="4"/>
                      <a:pt x="11" y="4"/>
                      <a:pt x="9" y="2"/>
                    </a:cubicBezTo>
                    <a:cubicBezTo>
                      <a:pt x="8" y="0"/>
                      <a:pt x="10" y="3"/>
                      <a:pt x="12" y="3"/>
                    </a:cubicBezTo>
                    <a:cubicBezTo>
                      <a:pt x="14" y="3"/>
                      <a:pt x="11" y="2"/>
                      <a:pt x="10" y="1"/>
                    </a:cubicBezTo>
                    <a:cubicBezTo>
                      <a:pt x="9" y="0"/>
                      <a:pt x="5" y="0"/>
                      <a:pt x="2" y="1"/>
                    </a:cubicBezTo>
                    <a:cubicBezTo>
                      <a:pt x="0" y="2"/>
                      <a:pt x="2" y="3"/>
                      <a:pt x="2" y="3"/>
                    </a:cubicBezTo>
                    <a:cubicBezTo>
                      <a:pt x="2" y="3"/>
                      <a:pt x="8" y="8"/>
                      <a:pt x="9" y="9"/>
                    </a:cubicBezTo>
                    <a:cubicBezTo>
                      <a:pt x="10" y="10"/>
                      <a:pt x="11" y="11"/>
                      <a:pt x="13" y="12"/>
                    </a:cubicBezTo>
                    <a:cubicBezTo>
                      <a:pt x="15" y="12"/>
                      <a:pt x="14" y="11"/>
                      <a:pt x="13" y="10"/>
                    </a:cubicBezTo>
                    <a:cubicBezTo>
                      <a:pt x="13" y="9"/>
                      <a:pt x="12" y="9"/>
                      <a:pt x="14"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18" name="Freeform 628">
                <a:extLst>
                  <a:ext uri="{FF2B5EF4-FFF2-40B4-BE49-F238E27FC236}">
                    <a16:creationId xmlns:a16="http://schemas.microsoft.com/office/drawing/2014/main" id="{14E15B27-4B54-4B4F-8C80-4BC93AEE97C5}"/>
                  </a:ext>
                </a:extLst>
              </p:cNvPr>
              <p:cNvSpPr>
                <a:spLocks/>
              </p:cNvSpPr>
              <p:nvPr/>
            </p:nvSpPr>
            <p:spPr bwMode="auto">
              <a:xfrm>
                <a:off x="4603" y="674"/>
                <a:ext cx="320" cy="155"/>
              </a:xfrm>
              <a:custGeom>
                <a:avLst/>
                <a:gdLst>
                  <a:gd name="T0" fmla="*/ 24 w 231"/>
                  <a:gd name="T1" fmla="*/ 101 h 113"/>
                  <a:gd name="T2" fmla="*/ 11 w 231"/>
                  <a:gd name="T3" fmla="*/ 106 h 113"/>
                  <a:gd name="T4" fmla="*/ 18 w 231"/>
                  <a:gd name="T5" fmla="*/ 108 h 113"/>
                  <a:gd name="T6" fmla="*/ 34 w 231"/>
                  <a:gd name="T7" fmla="*/ 111 h 113"/>
                  <a:gd name="T8" fmla="*/ 41 w 231"/>
                  <a:gd name="T9" fmla="*/ 112 h 113"/>
                  <a:gd name="T10" fmla="*/ 54 w 231"/>
                  <a:gd name="T11" fmla="*/ 107 h 113"/>
                  <a:gd name="T12" fmla="*/ 54 w 231"/>
                  <a:gd name="T13" fmla="*/ 104 h 113"/>
                  <a:gd name="T14" fmla="*/ 47 w 231"/>
                  <a:gd name="T15" fmla="*/ 96 h 113"/>
                  <a:gd name="T16" fmla="*/ 64 w 231"/>
                  <a:gd name="T17" fmla="*/ 95 h 113"/>
                  <a:gd name="T18" fmla="*/ 58 w 231"/>
                  <a:gd name="T19" fmla="*/ 87 h 113"/>
                  <a:gd name="T20" fmla="*/ 68 w 231"/>
                  <a:gd name="T21" fmla="*/ 90 h 113"/>
                  <a:gd name="T22" fmla="*/ 75 w 231"/>
                  <a:gd name="T23" fmla="*/ 85 h 113"/>
                  <a:gd name="T24" fmla="*/ 70 w 231"/>
                  <a:gd name="T25" fmla="*/ 76 h 113"/>
                  <a:gd name="T26" fmla="*/ 83 w 231"/>
                  <a:gd name="T27" fmla="*/ 73 h 113"/>
                  <a:gd name="T28" fmla="*/ 93 w 231"/>
                  <a:gd name="T29" fmla="*/ 72 h 113"/>
                  <a:gd name="T30" fmla="*/ 99 w 231"/>
                  <a:gd name="T31" fmla="*/ 68 h 113"/>
                  <a:gd name="T32" fmla="*/ 104 w 231"/>
                  <a:gd name="T33" fmla="*/ 62 h 113"/>
                  <a:gd name="T34" fmla="*/ 114 w 231"/>
                  <a:gd name="T35" fmla="*/ 54 h 113"/>
                  <a:gd name="T36" fmla="*/ 126 w 231"/>
                  <a:gd name="T37" fmla="*/ 50 h 113"/>
                  <a:gd name="T38" fmla="*/ 166 w 231"/>
                  <a:gd name="T39" fmla="*/ 39 h 113"/>
                  <a:gd name="T40" fmla="*/ 191 w 231"/>
                  <a:gd name="T41" fmla="*/ 33 h 113"/>
                  <a:gd name="T42" fmla="*/ 219 w 231"/>
                  <a:gd name="T43" fmla="*/ 22 h 113"/>
                  <a:gd name="T44" fmla="*/ 229 w 231"/>
                  <a:gd name="T45" fmla="*/ 12 h 113"/>
                  <a:gd name="T46" fmla="*/ 224 w 231"/>
                  <a:gd name="T47" fmla="*/ 4 h 113"/>
                  <a:gd name="T48" fmla="*/ 210 w 231"/>
                  <a:gd name="T49" fmla="*/ 1 h 113"/>
                  <a:gd name="T50" fmla="*/ 184 w 231"/>
                  <a:gd name="T51" fmla="*/ 10 h 113"/>
                  <a:gd name="T52" fmla="*/ 173 w 231"/>
                  <a:gd name="T53" fmla="*/ 17 h 113"/>
                  <a:gd name="T54" fmla="*/ 155 w 231"/>
                  <a:gd name="T55" fmla="*/ 22 h 113"/>
                  <a:gd name="T56" fmla="*/ 133 w 231"/>
                  <a:gd name="T57" fmla="*/ 26 h 113"/>
                  <a:gd name="T58" fmla="*/ 126 w 231"/>
                  <a:gd name="T59" fmla="*/ 24 h 113"/>
                  <a:gd name="T60" fmla="*/ 113 w 231"/>
                  <a:gd name="T61" fmla="*/ 24 h 113"/>
                  <a:gd name="T62" fmla="*/ 112 w 231"/>
                  <a:gd name="T63" fmla="*/ 30 h 113"/>
                  <a:gd name="T64" fmla="*/ 105 w 231"/>
                  <a:gd name="T65" fmla="*/ 29 h 113"/>
                  <a:gd name="T66" fmla="*/ 98 w 231"/>
                  <a:gd name="T67" fmla="*/ 32 h 113"/>
                  <a:gd name="T68" fmla="*/ 84 w 231"/>
                  <a:gd name="T69" fmla="*/ 35 h 113"/>
                  <a:gd name="T70" fmla="*/ 68 w 231"/>
                  <a:gd name="T71" fmla="*/ 42 h 113"/>
                  <a:gd name="T72" fmla="*/ 61 w 231"/>
                  <a:gd name="T73" fmla="*/ 49 h 113"/>
                  <a:gd name="T74" fmla="*/ 49 w 231"/>
                  <a:gd name="T75" fmla="*/ 52 h 113"/>
                  <a:gd name="T76" fmla="*/ 43 w 231"/>
                  <a:gd name="T77" fmla="*/ 58 h 113"/>
                  <a:gd name="T78" fmla="*/ 33 w 231"/>
                  <a:gd name="T79" fmla="*/ 58 h 113"/>
                  <a:gd name="T80" fmla="*/ 41 w 231"/>
                  <a:gd name="T81" fmla="*/ 62 h 113"/>
                  <a:gd name="T82" fmla="*/ 45 w 231"/>
                  <a:gd name="T83" fmla="*/ 65 h 113"/>
                  <a:gd name="T84" fmla="*/ 42 w 231"/>
                  <a:gd name="T85" fmla="*/ 68 h 113"/>
                  <a:gd name="T86" fmla="*/ 48 w 231"/>
                  <a:gd name="T87" fmla="*/ 72 h 113"/>
                  <a:gd name="T88" fmla="*/ 35 w 231"/>
                  <a:gd name="T89" fmla="*/ 72 h 113"/>
                  <a:gd name="T90" fmla="*/ 34 w 231"/>
                  <a:gd name="T91" fmla="*/ 76 h 113"/>
                  <a:gd name="T92" fmla="*/ 28 w 231"/>
                  <a:gd name="T93" fmla="*/ 79 h 113"/>
                  <a:gd name="T94" fmla="*/ 24 w 231"/>
                  <a:gd name="T95" fmla="*/ 84 h 113"/>
                  <a:gd name="T96" fmla="*/ 30 w 231"/>
                  <a:gd name="T97" fmla="*/ 88 h 113"/>
                  <a:gd name="T98" fmla="*/ 17 w 231"/>
                  <a:gd name="T99" fmla="*/ 89 h 113"/>
                  <a:gd name="T100" fmla="*/ 7 w 231"/>
                  <a:gd name="T101" fmla="*/ 97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1" h="113">
                    <a:moveTo>
                      <a:pt x="7" y="100"/>
                    </a:moveTo>
                    <a:cubicBezTo>
                      <a:pt x="9" y="100"/>
                      <a:pt x="15" y="100"/>
                      <a:pt x="22" y="100"/>
                    </a:cubicBezTo>
                    <a:cubicBezTo>
                      <a:pt x="29" y="99"/>
                      <a:pt x="24" y="100"/>
                      <a:pt x="24" y="101"/>
                    </a:cubicBezTo>
                    <a:cubicBezTo>
                      <a:pt x="23" y="101"/>
                      <a:pt x="20" y="101"/>
                      <a:pt x="19" y="101"/>
                    </a:cubicBezTo>
                    <a:cubicBezTo>
                      <a:pt x="18" y="101"/>
                      <a:pt x="16" y="102"/>
                      <a:pt x="16" y="103"/>
                    </a:cubicBezTo>
                    <a:cubicBezTo>
                      <a:pt x="15" y="103"/>
                      <a:pt x="12" y="105"/>
                      <a:pt x="11" y="106"/>
                    </a:cubicBezTo>
                    <a:cubicBezTo>
                      <a:pt x="9" y="106"/>
                      <a:pt x="10" y="107"/>
                      <a:pt x="8" y="109"/>
                    </a:cubicBezTo>
                    <a:cubicBezTo>
                      <a:pt x="7" y="110"/>
                      <a:pt x="9" y="110"/>
                      <a:pt x="9" y="110"/>
                    </a:cubicBezTo>
                    <a:cubicBezTo>
                      <a:pt x="12" y="110"/>
                      <a:pt x="16" y="110"/>
                      <a:pt x="18" y="108"/>
                    </a:cubicBezTo>
                    <a:cubicBezTo>
                      <a:pt x="21" y="107"/>
                      <a:pt x="21" y="109"/>
                      <a:pt x="23" y="110"/>
                    </a:cubicBezTo>
                    <a:cubicBezTo>
                      <a:pt x="25" y="111"/>
                      <a:pt x="27" y="111"/>
                      <a:pt x="29" y="110"/>
                    </a:cubicBezTo>
                    <a:cubicBezTo>
                      <a:pt x="31" y="110"/>
                      <a:pt x="33" y="111"/>
                      <a:pt x="34" y="111"/>
                    </a:cubicBezTo>
                    <a:cubicBezTo>
                      <a:pt x="35" y="111"/>
                      <a:pt x="36" y="111"/>
                      <a:pt x="36" y="110"/>
                    </a:cubicBezTo>
                    <a:cubicBezTo>
                      <a:pt x="36" y="108"/>
                      <a:pt x="36" y="110"/>
                      <a:pt x="37" y="111"/>
                    </a:cubicBezTo>
                    <a:cubicBezTo>
                      <a:pt x="38" y="113"/>
                      <a:pt x="39" y="113"/>
                      <a:pt x="41" y="112"/>
                    </a:cubicBezTo>
                    <a:cubicBezTo>
                      <a:pt x="43" y="112"/>
                      <a:pt x="46" y="113"/>
                      <a:pt x="47" y="113"/>
                    </a:cubicBezTo>
                    <a:cubicBezTo>
                      <a:pt x="49" y="113"/>
                      <a:pt x="48" y="111"/>
                      <a:pt x="49" y="109"/>
                    </a:cubicBezTo>
                    <a:cubicBezTo>
                      <a:pt x="50" y="107"/>
                      <a:pt x="52" y="108"/>
                      <a:pt x="54" y="107"/>
                    </a:cubicBezTo>
                    <a:cubicBezTo>
                      <a:pt x="57" y="105"/>
                      <a:pt x="51" y="104"/>
                      <a:pt x="49" y="103"/>
                    </a:cubicBezTo>
                    <a:cubicBezTo>
                      <a:pt x="47" y="102"/>
                      <a:pt x="48" y="101"/>
                      <a:pt x="49" y="102"/>
                    </a:cubicBezTo>
                    <a:cubicBezTo>
                      <a:pt x="50" y="102"/>
                      <a:pt x="53" y="104"/>
                      <a:pt x="54" y="104"/>
                    </a:cubicBezTo>
                    <a:cubicBezTo>
                      <a:pt x="56" y="105"/>
                      <a:pt x="56" y="104"/>
                      <a:pt x="57" y="103"/>
                    </a:cubicBezTo>
                    <a:cubicBezTo>
                      <a:pt x="59" y="102"/>
                      <a:pt x="60" y="101"/>
                      <a:pt x="58" y="98"/>
                    </a:cubicBezTo>
                    <a:cubicBezTo>
                      <a:pt x="56" y="95"/>
                      <a:pt x="53" y="98"/>
                      <a:pt x="47" y="96"/>
                    </a:cubicBezTo>
                    <a:cubicBezTo>
                      <a:pt x="42" y="95"/>
                      <a:pt x="56" y="96"/>
                      <a:pt x="58" y="96"/>
                    </a:cubicBezTo>
                    <a:cubicBezTo>
                      <a:pt x="59" y="97"/>
                      <a:pt x="60" y="98"/>
                      <a:pt x="62" y="100"/>
                    </a:cubicBezTo>
                    <a:cubicBezTo>
                      <a:pt x="64" y="101"/>
                      <a:pt x="63" y="96"/>
                      <a:pt x="64" y="95"/>
                    </a:cubicBezTo>
                    <a:cubicBezTo>
                      <a:pt x="65" y="93"/>
                      <a:pt x="61" y="91"/>
                      <a:pt x="60" y="90"/>
                    </a:cubicBezTo>
                    <a:cubicBezTo>
                      <a:pt x="59" y="89"/>
                      <a:pt x="58" y="90"/>
                      <a:pt x="57" y="89"/>
                    </a:cubicBezTo>
                    <a:cubicBezTo>
                      <a:pt x="55" y="89"/>
                      <a:pt x="58" y="89"/>
                      <a:pt x="58" y="87"/>
                    </a:cubicBezTo>
                    <a:cubicBezTo>
                      <a:pt x="58" y="85"/>
                      <a:pt x="60" y="88"/>
                      <a:pt x="61" y="89"/>
                    </a:cubicBezTo>
                    <a:cubicBezTo>
                      <a:pt x="62" y="90"/>
                      <a:pt x="65" y="92"/>
                      <a:pt x="67" y="92"/>
                    </a:cubicBezTo>
                    <a:cubicBezTo>
                      <a:pt x="70" y="92"/>
                      <a:pt x="68" y="91"/>
                      <a:pt x="68" y="90"/>
                    </a:cubicBezTo>
                    <a:cubicBezTo>
                      <a:pt x="68" y="89"/>
                      <a:pt x="69" y="88"/>
                      <a:pt x="69" y="87"/>
                    </a:cubicBezTo>
                    <a:cubicBezTo>
                      <a:pt x="70" y="85"/>
                      <a:pt x="71" y="86"/>
                      <a:pt x="73" y="87"/>
                    </a:cubicBezTo>
                    <a:cubicBezTo>
                      <a:pt x="75" y="87"/>
                      <a:pt x="75" y="87"/>
                      <a:pt x="75" y="85"/>
                    </a:cubicBezTo>
                    <a:cubicBezTo>
                      <a:pt x="76" y="84"/>
                      <a:pt x="76" y="83"/>
                      <a:pt x="75" y="82"/>
                    </a:cubicBezTo>
                    <a:cubicBezTo>
                      <a:pt x="75" y="81"/>
                      <a:pt x="75" y="81"/>
                      <a:pt x="75" y="80"/>
                    </a:cubicBezTo>
                    <a:cubicBezTo>
                      <a:pt x="76" y="79"/>
                      <a:pt x="74" y="78"/>
                      <a:pt x="70" y="76"/>
                    </a:cubicBezTo>
                    <a:cubicBezTo>
                      <a:pt x="66" y="74"/>
                      <a:pt x="81" y="79"/>
                      <a:pt x="83" y="79"/>
                    </a:cubicBezTo>
                    <a:cubicBezTo>
                      <a:pt x="85" y="79"/>
                      <a:pt x="83" y="75"/>
                      <a:pt x="84" y="74"/>
                    </a:cubicBezTo>
                    <a:cubicBezTo>
                      <a:pt x="86" y="73"/>
                      <a:pt x="84" y="73"/>
                      <a:pt x="83" y="73"/>
                    </a:cubicBezTo>
                    <a:cubicBezTo>
                      <a:pt x="82" y="72"/>
                      <a:pt x="84" y="72"/>
                      <a:pt x="83" y="71"/>
                    </a:cubicBezTo>
                    <a:cubicBezTo>
                      <a:pt x="82" y="69"/>
                      <a:pt x="86" y="72"/>
                      <a:pt x="89" y="73"/>
                    </a:cubicBezTo>
                    <a:cubicBezTo>
                      <a:pt x="91" y="75"/>
                      <a:pt x="92" y="74"/>
                      <a:pt x="93" y="72"/>
                    </a:cubicBezTo>
                    <a:cubicBezTo>
                      <a:pt x="94" y="71"/>
                      <a:pt x="91" y="71"/>
                      <a:pt x="90" y="69"/>
                    </a:cubicBezTo>
                    <a:cubicBezTo>
                      <a:pt x="88" y="68"/>
                      <a:pt x="96" y="70"/>
                      <a:pt x="97" y="70"/>
                    </a:cubicBezTo>
                    <a:cubicBezTo>
                      <a:pt x="99" y="70"/>
                      <a:pt x="99" y="69"/>
                      <a:pt x="99" y="68"/>
                    </a:cubicBezTo>
                    <a:cubicBezTo>
                      <a:pt x="99" y="67"/>
                      <a:pt x="99" y="66"/>
                      <a:pt x="102" y="65"/>
                    </a:cubicBezTo>
                    <a:cubicBezTo>
                      <a:pt x="104" y="64"/>
                      <a:pt x="108" y="63"/>
                      <a:pt x="99" y="63"/>
                    </a:cubicBezTo>
                    <a:cubicBezTo>
                      <a:pt x="91" y="63"/>
                      <a:pt x="103" y="62"/>
                      <a:pt x="104" y="62"/>
                    </a:cubicBezTo>
                    <a:cubicBezTo>
                      <a:pt x="106" y="62"/>
                      <a:pt x="106" y="61"/>
                      <a:pt x="107" y="60"/>
                    </a:cubicBezTo>
                    <a:cubicBezTo>
                      <a:pt x="108" y="59"/>
                      <a:pt x="108" y="58"/>
                      <a:pt x="110" y="57"/>
                    </a:cubicBezTo>
                    <a:cubicBezTo>
                      <a:pt x="112" y="56"/>
                      <a:pt x="114" y="56"/>
                      <a:pt x="114" y="54"/>
                    </a:cubicBezTo>
                    <a:cubicBezTo>
                      <a:pt x="115" y="53"/>
                      <a:pt x="116" y="54"/>
                      <a:pt x="117" y="55"/>
                    </a:cubicBezTo>
                    <a:cubicBezTo>
                      <a:pt x="119" y="56"/>
                      <a:pt x="119" y="54"/>
                      <a:pt x="121" y="52"/>
                    </a:cubicBezTo>
                    <a:cubicBezTo>
                      <a:pt x="123" y="50"/>
                      <a:pt x="124" y="50"/>
                      <a:pt x="126" y="50"/>
                    </a:cubicBezTo>
                    <a:cubicBezTo>
                      <a:pt x="127" y="49"/>
                      <a:pt x="143" y="45"/>
                      <a:pt x="144" y="45"/>
                    </a:cubicBezTo>
                    <a:cubicBezTo>
                      <a:pt x="146" y="44"/>
                      <a:pt x="157" y="42"/>
                      <a:pt x="157" y="42"/>
                    </a:cubicBezTo>
                    <a:cubicBezTo>
                      <a:pt x="158" y="41"/>
                      <a:pt x="164" y="39"/>
                      <a:pt x="166" y="39"/>
                    </a:cubicBezTo>
                    <a:cubicBezTo>
                      <a:pt x="167" y="39"/>
                      <a:pt x="174" y="37"/>
                      <a:pt x="177" y="36"/>
                    </a:cubicBezTo>
                    <a:cubicBezTo>
                      <a:pt x="180" y="35"/>
                      <a:pt x="183" y="35"/>
                      <a:pt x="184" y="34"/>
                    </a:cubicBezTo>
                    <a:cubicBezTo>
                      <a:pt x="185" y="34"/>
                      <a:pt x="189" y="33"/>
                      <a:pt x="191" y="33"/>
                    </a:cubicBezTo>
                    <a:cubicBezTo>
                      <a:pt x="193" y="32"/>
                      <a:pt x="200" y="30"/>
                      <a:pt x="202" y="29"/>
                    </a:cubicBezTo>
                    <a:cubicBezTo>
                      <a:pt x="203" y="28"/>
                      <a:pt x="216" y="24"/>
                      <a:pt x="218" y="24"/>
                    </a:cubicBezTo>
                    <a:cubicBezTo>
                      <a:pt x="219" y="23"/>
                      <a:pt x="218" y="23"/>
                      <a:pt x="219" y="22"/>
                    </a:cubicBezTo>
                    <a:cubicBezTo>
                      <a:pt x="220" y="21"/>
                      <a:pt x="223" y="19"/>
                      <a:pt x="225" y="18"/>
                    </a:cubicBezTo>
                    <a:cubicBezTo>
                      <a:pt x="226" y="17"/>
                      <a:pt x="226" y="17"/>
                      <a:pt x="227" y="15"/>
                    </a:cubicBezTo>
                    <a:cubicBezTo>
                      <a:pt x="227" y="14"/>
                      <a:pt x="227" y="13"/>
                      <a:pt x="229" y="12"/>
                    </a:cubicBezTo>
                    <a:cubicBezTo>
                      <a:pt x="231" y="10"/>
                      <a:pt x="228" y="9"/>
                      <a:pt x="227" y="9"/>
                    </a:cubicBezTo>
                    <a:cubicBezTo>
                      <a:pt x="226" y="8"/>
                      <a:pt x="226" y="7"/>
                      <a:pt x="226" y="6"/>
                    </a:cubicBezTo>
                    <a:cubicBezTo>
                      <a:pt x="227" y="6"/>
                      <a:pt x="225" y="5"/>
                      <a:pt x="224" y="4"/>
                    </a:cubicBezTo>
                    <a:cubicBezTo>
                      <a:pt x="223" y="4"/>
                      <a:pt x="222" y="3"/>
                      <a:pt x="222" y="3"/>
                    </a:cubicBezTo>
                    <a:cubicBezTo>
                      <a:pt x="221" y="2"/>
                      <a:pt x="217" y="3"/>
                      <a:pt x="215" y="2"/>
                    </a:cubicBezTo>
                    <a:cubicBezTo>
                      <a:pt x="213" y="1"/>
                      <a:pt x="212" y="0"/>
                      <a:pt x="210" y="1"/>
                    </a:cubicBezTo>
                    <a:cubicBezTo>
                      <a:pt x="208" y="2"/>
                      <a:pt x="204" y="3"/>
                      <a:pt x="202" y="2"/>
                    </a:cubicBezTo>
                    <a:cubicBezTo>
                      <a:pt x="200" y="2"/>
                      <a:pt x="196" y="4"/>
                      <a:pt x="194" y="5"/>
                    </a:cubicBezTo>
                    <a:cubicBezTo>
                      <a:pt x="191" y="5"/>
                      <a:pt x="186" y="8"/>
                      <a:pt x="184" y="10"/>
                    </a:cubicBezTo>
                    <a:cubicBezTo>
                      <a:pt x="182" y="11"/>
                      <a:pt x="184" y="14"/>
                      <a:pt x="185" y="16"/>
                    </a:cubicBezTo>
                    <a:cubicBezTo>
                      <a:pt x="186" y="17"/>
                      <a:pt x="180" y="15"/>
                      <a:pt x="178" y="14"/>
                    </a:cubicBezTo>
                    <a:cubicBezTo>
                      <a:pt x="177" y="14"/>
                      <a:pt x="175" y="16"/>
                      <a:pt x="173" y="17"/>
                    </a:cubicBezTo>
                    <a:cubicBezTo>
                      <a:pt x="171" y="18"/>
                      <a:pt x="172" y="18"/>
                      <a:pt x="171" y="17"/>
                    </a:cubicBezTo>
                    <a:cubicBezTo>
                      <a:pt x="169" y="16"/>
                      <a:pt x="160" y="22"/>
                      <a:pt x="158" y="22"/>
                    </a:cubicBezTo>
                    <a:cubicBezTo>
                      <a:pt x="157" y="23"/>
                      <a:pt x="156" y="23"/>
                      <a:pt x="155" y="22"/>
                    </a:cubicBezTo>
                    <a:cubicBezTo>
                      <a:pt x="154" y="22"/>
                      <a:pt x="142" y="25"/>
                      <a:pt x="141" y="26"/>
                    </a:cubicBezTo>
                    <a:cubicBezTo>
                      <a:pt x="140" y="26"/>
                      <a:pt x="139" y="25"/>
                      <a:pt x="138" y="24"/>
                    </a:cubicBezTo>
                    <a:cubicBezTo>
                      <a:pt x="138" y="23"/>
                      <a:pt x="135" y="26"/>
                      <a:pt x="133" y="26"/>
                    </a:cubicBezTo>
                    <a:cubicBezTo>
                      <a:pt x="132" y="27"/>
                      <a:pt x="131" y="26"/>
                      <a:pt x="132" y="25"/>
                    </a:cubicBezTo>
                    <a:cubicBezTo>
                      <a:pt x="132" y="24"/>
                      <a:pt x="131" y="24"/>
                      <a:pt x="131" y="24"/>
                    </a:cubicBezTo>
                    <a:cubicBezTo>
                      <a:pt x="130" y="25"/>
                      <a:pt x="127" y="25"/>
                      <a:pt x="126" y="24"/>
                    </a:cubicBezTo>
                    <a:cubicBezTo>
                      <a:pt x="125" y="24"/>
                      <a:pt x="123" y="23"/>
                      <a:pt x="122" y="23"/>
                    </a:cubicBezTo>
                    <a:cubicBezTo>
                      <a:pt x="121" y="22"/>
                      <a:pt x="120" y="23"/>
                      <a:pt x="118" y="23"/>
                    </a:cubicBezTo>
                    <a:cubicBezTo>
                      <a:pt x="117" y="23"/>
                      <a:pt x="114" y="24"/>
                      <a:pt x="113" y="24"/>
                    </a:cubicBezTo>
                    <a:cubicBezTo>
                      <a:pt x="112" y="25"/>
                      <a:pt x="111" y="25"/>
                      <a:pt x="111" y="26"/>
                    </a:cubicBezTo>
                    <a:cubicBezTo>
                      <a:pt x="111" y="28"/>
                      <a:pt x="112" y="27"/>
                      <a:pt x="113" y="28"/>
                    </a:cubicBezTo>
                    <a:cubicBezTo>
                      <a:pt x="113" y="29"/>
                      <a:pt x="112" y="30"/>
                      <a:pt x="112" y="30"/>
                    </a:cubicBezTo>
                    <a:cubicBezTo>
                      <a:pt x="111" y="30"/>
                      <a:pt x="108" y="31"/>
                      <a:pt x="107" y="32"/>
                    </a:cubicBezTo>
                    <a:cubicBezTo>
                      <a:pt x="106" y="32"/>
                      <a:pt x="105" y="33"/>
                      <a:pt x="103" y="32"/>
                    </a:cubicBezTo>
                    <a:cubicBezTo>
                      <a:pt x="102" y="32"/>
                      <a:pt x="103" y="31"/>
                      <a:pt x="105" y="29"/>
                    </a:cubicBezTo>
                    <a:cubicBezTo>
                      <a:pt x="106" y="28"/>
                      <a:pt x="102" y="29"/>
                      <a:pt x="101" y="29"/>
                    </a:cubicBezTo>
                    <a:cubicBezTo>
                      <a:pt x="99" y="29"/>
                      <a:pt x="98" y="31"/>
                      <a:pt x="100" y="32"/>
                    </a:cubicBezTo>
                    <a:cubicBezTo>
                      <a:pt x="101" y="33"/>
                      <a:pt x="100" y="33"/>
                      <a:pt x="98" y="32"/>
                    </a:cubicBezTo>
                    <a:cubicBezTo>
                      <a:pt x="97" y="32"/>
                      <a:pt x="95" y="33"/>
                      <a:pt x="94" y="33"/>
                    </a:cubicBezTo>
                    <a:cubicBezTo>
                      <a:pt x="93" y="34"/>
                      <a:pt x="91" y="35"/>
                      <a:pt x="90" y="34"/>
                    </a:cubicBezTo>
                    <a:cubicBezTo>
                      <a:pt x="88" y="34"/>
                      <a:pt x="86" y="35"/>
                      <a:pt x="84" y="35"/>
                    </a:cubicBezTo>
                    <a:cubicBezTo>
                      <a:pt x="83" y="36"/>
                      <a:pt x="81" y="37"/>
                      <a:pt x="80" y="37"/>
                    </a:cubicBezTo>
                    <a:cubicBezTo>
                      <a:pt x="79" y="37"/>
                      <a:pt x="76" y="38"/>
                      <a:pt x="74" y="39"/>
                    </a:cubicBezTo>
                    <a:cubicBezTo>
                      <a:pt x="73" y="41"/>
                      <a:pt x="70" y="41"/>
                      <a:pt x="68" y="42"/>
                    </a:cubicBezTo>
                    <a:cubicBezTo>
                      <a:pt x="67" y="43"/>
                      <a:pt x="68" y="43"/>
                      <a:pt x="69" y="44"/>
                    </a:cubicBezTo>
                    <a:cubicBezTo>
                      <a:pt x="69" y="44"/>
                      <a:pt x="64" y="46"/>
                      <a:pt x="62" y="46"/>
                    </a:cubicBezTo>
                    <a:cubicBezTo>
                      <a:pt x="59" y="47"/>
                      <a:pt x="60" y="47"/>
                      <a:pt x="61" y="49"/>
                    </a:cubicBezTo>
                    <a:cubicBezTo>
                      <a:pt x="61" y="51"/>
                      <a:pt x="62" y="51"/>
                      <a:pt x="61" y="52"/>
                    </a:cubicBezTo>
                    <a:cubicBezTo>
                      <a:pt x="60" y="54"/>
                      <a:pt x="59" y="52"/>
                      <a:pt x="57" y="51"/>
                    </a:cubicBezTo>
                    <a:cubicBezTo>
                      <a:pt x="54" y="51"/>
                      <a:pt x="50" y="51"/>
                      <a:pt x="49" y="52"/>
                    </a:cubicBezTo>
                    <a:cubicBezTo>
                      <a:pt x="48" y="53"/>
                      <a:pt x="49" y="53"/>
                      <a:pt x="50" y="55"/>
                    </a:cubicBezTo>
                    <a:cubicBezTo>
                      <a:pt x="50" y="57"/>
                      <a:pt x="46" y="59"/>
                      <a:pt x="45" y="60"/>
                    </a:cubicBezTo>
                    <a:cubicBezTo>
                      <a:pt x="43" y="61"/>
                      <a:pt x="43" y="59"/>
                      <a:pt x="43" y="58"/>
                    </a:cubicBezTo>
                    <a:cubicBezTo>
                      <a:pt x="43" y="56"/>
                      <a:pt x="41" y="57"/>
                      <a:pt x="40" y="57"/>
                    </a:cubicBezTo>
                    <a:cubicBezTo>
                      <a:pt x="40" y="58"/>
                      <a:pt x="39" y="57"/>
                      <a:pt x="38" y="56"/>
                    </a:cubicBezTo>
                    <a:cubicBezTo>
                      <a:pt x="37" y="55"/>
                      <a:pt x="34" y="57"/>
                      <a:pt x="33" y="58"/>
                    </a:cubicBezTo>
                    <a:cubicBezTo>
                      <a:pt x="32" y="60"/>
                      <a:pt x="33" y="60"/>
                      <a:pt x="34" y="60"/>
                    </a:cubicBezTo>
                    <a:cubicBezTo>
                      <a:pt x="35" y="60"/>
                      <a:pt x="36" y="60"/>
                      <a:pt x="36" y="62"/>
                    </a:cubicBezTo>
                    <a:cubicBezTo>
                      <a:pt x="36" y="63"/>
                      <a:pt x="38" y="62"/>
                      <a:pt x="41" y="62"/>
                    </a:cubicBezTo>
                    <a:cubicBezTo>
                      <a:pt x="44" y="61"/>
                      <a:pt x="43" y="62"/>
                      <a:pt x="42" y="63"/>
                    </a:cubicBezTo>
                    <a:cubicBezTo>
                      <a:pt x="41" y="65"/>
                      <a:pt x="43" y="64"/>
                      <a:pt x="45" y="64"/>
                    </a:cubicBezTo>
                    <a:cubicBezTo>
                      <a:pt x="47" y="63"/>
                      <a:pt x="46" y="64"/>
                      <a:pt x="45" y="65"/>
                    </a:cubicBezTo>
                    <a:cubicBezTo>
                      <a:pt x="44" y="65"/>
                      <a:pt x="40" y="66"/>
                      <a:pt x="37" y="67"/>
                    </a:cubicBezTo>
                    <a:cubicBezTo>
                      <a:pt x="35" y="67"/>
                      <a:pt x="35" y="68"/>
                      <a:pt x="35" y="69"/>
                    </a:cubicBezTo>
                    <a:cubicBezTo>
                      <a:pt x="36" y="69"/>
                      <a:pt x="40" y="68"/>
                      <a:pt x="42" y="68"/>
                    </a:cubicBezTo>
                    <a:cubicBezTo>
                      <a:pt x="44" y="67"/>
                      <a:pt x="44" y="68"/>
                      <a:pt x="45" y="70"/>
                    </a:cubicBezTo>
                    <a:cubicBezTo>
                      <a:pt x="46" y="72"/>
                      <a:pt x="46" y="71"/>
                      <a:pt x="49" y="71"/>
                    </a:cubicBezTo>
                    <a:cubicBezTo>
                      <a:pt x="52" y="71"/>
                      <a:pt x="49" y="72"/>
                      <a:pt x="48" y="72"/>
                    </a:cubicBezTo>
                    <a:cubicBezTo>
                      <a:pt x="47" y="73"/>
                      <a:pt x="45" y="72"/>
                      <a:pt x="43" y="71"/>
                    </a:cubicBezTo>
                    <a:cubicBezTo>
                      <a:pt x="42" y="71"/>
                      <a:pt x="40" y="71"/>
                      <a:pt x="39" y="71"/>
                    </a:cubicBezTo>
                    <a:cubicBezTo>
                      <a:pt x="38" y="72"/>
                      <a:pt x="36" y="73"/>
                      <a:pt x="35" y="72"/>
                    </a:cubicBezTo>
                    <a:cubicBezTo>
                      <a:pt x="34" y="72"/>
                      <a:pt x="33" y="72"/>
                      <a:pt x="31" y="72"/>
                    </a:cubicBezTo>
                    <a:cubicBezTo>
                      <a:pt x="30" y="72"/>
                      <a:pt x="30" y="73"/>
                      <a:pt x="31" y="74"/>
                    </a:cubicBezTo>
                    <a:cubicBezTo>
                      <a:pt x="32" y="76"/>
                      <a:pt x="33" y="76"/>
                      <a:pt x="34" y="76"/>
                    </a:cubicBezTo>
                    <a:cubicBezTo>
                      <a:pt x="35" y="75"/>
                      <a:pt x="36" y="76"/>
                      <a:pt x="38" y="77"/>
                    </a:cubicBezTo>
                    <a:cubicBezTo>
                      <a:pt x="40" y="78"/>
                      <a:pt x="38" y="78"/>
                      <a:pt x="37" y="79"/>
                    </a:cubicBezTo>
                    <a:cubicBezTo>
                      <a:pt x="37" y="79"/>
                      <a:pt x="32" y="78"/>
                      <a:pt x="28" y="79"/>
                    </a:cubicBezTo>
                    <a:cubicBezTo>
                      <a:pt x="25" y="79"/>
                      <a:pt x="24" y="80"/>
                      <a:pt x="29" y="82"/>
                    </a:cubicBezTo>
                    <a:cubicBezTo>
                      <a:pt x="33" y="83"/>
                      <a:pt x="31" y="83"/>
                      <a:pt x="30" y="83"/>
                    </a:cubicBezTo>
                    <a:cubicBezTo>
                      <a:pt x="30" y="84"/>
                      <a:pt x="26" y="83"/>
                      <a:pt x="24" y="84"/>
                    </a:cubicBezTo>
                    <a:cubicBezTo>
                      <a:pt x="22" y="84"/>
                      <a:pt x="27" y="85"/>
                      <a:pt x="29" y="86"/>
                    </a:cubicBezTo>
                    <a:cubicBezTo>
                      <a:pt x="30" y="87"/>
                      <a:pt x="30" y="86"/>
                      <a:pt x="33" y="87"/>
                    </a:cubicBezTo>
                    <a:cubicBezTo>
                      <a:pt x="36" y="88"/>
                      <a:pt x="31" y="88"/>
                      <a:pt x="30" y="88"/>
                    </a:cubicBezTo>
                    <a:cubicBezTo>
                      <a:pt x="30" y="88"/>
                      <a:pt x="26" y="87"/>
                      <a:pt x="25" y="87"/>
                    </a:cubicBezTo>
                    <a:cubicBezTo>
                      <a:pt x="24" y="86"/>
                      <a:pt x="23" y="86"/>
                      <a:pt x="22" y="87"/>
                    </a:cubicBezTo>
                    <a:cubicBezTo>
                      <a:pt x="21" y="88"/>
                      <a:pt x="19" y="89"/>
                      <a:pt x="17" y="89"/>
                    </a:cubicBezTo>
                    <a:cubicBezTo>
                      <a:pt x="16" y="90"/>
                      <a:pt x="17" y="91"/>
                      <a:pt x="18" y="92"/>
                    </a:cubicBezTo>
                    <a:cubicBezTo>
                      <a:pt x="19" y="93"/>
                      <a:pt x="14" y="94"/>
                      <a:pt x="12" y="94"/>
                    </a:cubicBezTo>
                    <a:cubicBezTo>
                      <a:pt x="10" y="95"/>
                      <a:pt x="7" y="97"/>
                      <a:pt x="7" y="97"/>
                    </a:cubicBezTo>
                    <a:cubicBezTo>
                      <a:pt x="6" y="98"/>
                      <a:pt x="5" y="99"/>
                      <a:pt x="3" y="98"/>
                    </a:cubicBezTo>
                    <a:cubicBezTo>
                      <a:pt x="0" y="97"/>
                      <a:pt x="4" y="99"/>
                      <a:pt x="7" y="10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19" name="Freeform 629">
                <a:extLst>
                  <a:ext uri="{FF2B5EF4-FFF2-40B4-BE49-F238E27FC236}">
                    <a16:creationId xmlns:a16="http://schemas.microsoft.com/office/drawing/2014/main" id="{2F722C34-1CDB-4F3B-ACEE-D2B2F5C9C230}"/>
                  </a:ext>
                </a:extLst>
              </p:cNvPr>
              <p:cNvSpPr>
                <a:spLocks/>
              </p:cNvSpPr>
              <p:nvPr/>
            </p:nvSpPr>
            <p:spPr bwMode="auto">
              <a:xfrm>
                <a:off x="5790" y="777"/>
                <a:ext cx="43" cy="19"/>
              </a:xfrm>
              <a:custGeom>
                <a:avLst/>
                <a:gdLst>
                  <a:gd name="T0" fmla="*/ 3 w 31"/>
                  <a:gd name="T1" fmla="*/ 7 h 14"/>
                  <a:gd name="T2" fmla="*/ 3 w 31"/>
                  <a:gd name="T3" fmla="*/ 9 h 14"/>
                  <a:gd name="T4" fmla="*/ 7 w 31"/>
                  <a:gd name="T5" fmla="*/ 10 h 14"/>
                  <a:gd name="T6" fmla="*/ 11 w 31"/>
                  <a:gd name="T7" fmla="*/ 11 h 14"/>
                  <a:gd name="T8" fmla="*/ 15 w 31"/>
                  <a:gd name="T9" fmla="*/ 13 h 14"/>
                  <a:gd name="T10" fmla="*/ 21 w 31"/>
                  <a:gd name="T11" fmla="*/ 14 h 14"/>
                  <a:gd name="T12" fmla="*/ 28 w 31"/>
                  <a:gd name="T13" fmla="*/ 8 h 14"/>
                  <a:gd name="T14" fmla="*/ 30 w 31"/>
                  <a:gd name="T15" fmla="*/ 4 h 14"/>
                  <a:gd name="T16" fmla="*/ 21 w 31"/>
                  <a:gd name="T17" fmla="*/ 2 h 14"/>
                  <a:gd name="T18" fmla="*/ 13 w 31"/>
                  <a:gd name="T19" fmla="*/ 1 h 14"/>
                  <a:gd name="T20" fmla="*/ 10 w 31"/>
                  <a:gd name="T21" fmla="*/ 4 h 14"/>
                  <a:gd name="T22" fmla="*/ 3 w 31"/>
                  <a:gd name="T23"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14">
                    <a:moveTo>
                      <a:pt x="3" y="7"/>
                    </a:moveTo>
                    <a:cubicBezTo>
                      <a:pt x="0" y="7"/>
                      <a:pt x="3" y="9"/>
                      <a:pt x="3" y="9"/>
                    </a:cubicBezTo>
                    <a:cubicBezTo>
                      <a:pt x="4" y="9"/>
                      <a:pt x="5" y="10"/>
                      <a:pt x="7" y="10"/>
                    </a:cubicBezTo>
                    <a:cubicBezTo>
                      <a:pt x="9" y="11"/>
                      <a:pt x="8" y="10"/>
                      <a:pt x="11" y="11"/>
                    </a:cubicBezTo>
                    <a:cubicBezTo>
                      <a:pt x="13" y="13"/>
                      <a:pt x="13" y="13"/>
                      <a:pt x="15" y="13"/>
                    </a:cubicBezTo>
                    <a:cubicBezTo>
                      <a:pt x="17" y="13"/>
                      <a:pt x="19" y="13"/>
                      <a:pt x="21" y="14"/>
                    </a:cubicBezTo>
                    <a:cubicBezTo>
                      <a:pt x="24" y="14"/>
                      <a:pt x="27" y="9"/>
                      <a:pt x="28" y="8"/>
                    </a:cubicBezTo>
                    <a:cubicBezTo>
                      <a:pt x="30" y="6"/>
                      <a:pt x="31" y="6"/>
                      <a:pt x="30" y="4"/>
                    </a:cubicBezTo>
                    <a:cubicBezTo>
                      <a:pt x="29" y="2"/>
                      <a:pt x="22" y="2"/>
                      <a:pt x="21" y="2"/>
                    </a:cubicBezTo>
                    <a:cubicBezTo>
                      <a:pt x="19" y="2"/>
                      <a:pt x="16" y="2"/>
                      <a:pt x="13" y="1"/>
                    </a:cubicBezTo>
                    <a:cubicBezTo>
                      <a:pt x="10" y="0"/>
                      <a:pt x="9" y="2"/>
                      <a:pt x="10" y="4"/>
                    </a:cubicBezTo>
                    <a:cubicBezTo>
                      <a:pt x="10" y="7"/>
                      <a:pt x="7" y="7"/>
                      <a:pt x="3"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20" name="Freeform 630">
                <a:extLst>
                  <a:ext uri="{FF2B5EF4-FFF2-40B4-BE49-F238E27FC236}">
                    <a16:creationId xmlns:a16="http://schemas.microsoft.com/office/drawing/2014/main" id="{1ADF4BC5-AD94-4857-BDFD-11C53D0B4D26}"/>
                  </a:ext>
                </a:extLst>
              </p:cNvPr>
              <p:cNvSpPr>
                <a:spLocks/>
              </p:cNvSpPr>
              <p:nvPr/>
            </p:nvSpPr>
            <p:spPr bwMode="auto">
              <a:xfrm>
                <a:off x="6283" y="722"/>
                <a:ext cx="18" cy="25"/>
              </a:xfrm>
              <a:custGeom>
                <a:avLst/>
                <a:gdLst>
                  <a:gd name="T0" fmla="*/ 6 w 13"/>
                  <a:gd name="T1" fmla="*/ 16 h 18"/>
                  <a:gd name="T2" fmla="*/ 12 w 13"/>
                  <a:gd name="T3" fmla="*/ 12 h 18"/>
                  <a:gd name="T4" fmla="*/ 10 w 13"/>
                  <a:gd name="T5" fmla="*/ 7 h 18"/>
                  <a:gd name="T6" fmla="*/ 7 w 13"/>
                  <a:gd name="T7" fmla="*/ 2 h 18"/>
                  <a:gd name="T8" fmla="*/ 5 w 13"/>
                  <a:gd name="T9" fmla="*/ 3 h 18"/>
                  <a:gd name="T10" fmla="*/ 4 w 13"/>
                  <a:gd name="T11" fmla="*/ 9 h 18"/>
                  <a:gd name="T12" fmla="*/ 2 w 13"/>
                  <a:gd name="T13" fmla="*/ 15 h 18"/>
                  <a:gd name="T14" fmla="*/ 6 w 13"/>
                  <a:gd name="T15" fmla="*/ 16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8">
                    <a:moveTo>
                      <a:pt x="6" y="16"/>
                    </a:moveTo>
                    <a:cubicBezTo>
                      <a:pt x="10" y="15"/>
                      <a:pt x="11" y="14"/>
                      <a:pt x="12" y="12"/>
                    </a:cubicBezTo>
                    <a:cubicBezTo>
                      <a:pt x="13" y="11"/>
                      <a:pt x="11" y="8"/>
                      <a:pt x="10" y="7"/>
                    </a:cubicBezTo>
                    <a:cubicBezTo>
                      <a:pt x="8" y="6"/>
                      <a:pt x="8" y="4"/>
                      <a:pt x="7" y="2"/>
                    </a:cubicBezTo>
                    <a:cubicBezTo>
                      <a:pt x="6" y="0"/>
                      <a:pt x="5" y="3"/>
                      <a:pt x="5" y="3"/>
                    </a:cubicBezTo>
                    <a:cubicBezTo>
                      <a:pt x="5" y="4"/>
                      <a:pt x="3" y="7"/>
                      <a:pt x="4" y="9"/>
                    </a:cubicBezTo>
                    <a:cubicBezTo>
                      <a:pt x="4" y="11"/>
                      <a:pt x="4" y="11"/>
                      <a:pt x="2" y="15"/>
                    </a:cubicBezTo>
                    <a:cubicBezTo>
                      <a:pt x="0" y="18"/>
                      <a:pt x="3" y="17"/>
                      <a:pt x="6" y="1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21" name="Freeform 631">
                <a:extLst>
                  <a:ext uri="{FF2B5EF4-FFF2-40B4-BE49-F238E27FC236}">
                    <a16:creationId xmlns:a16="http://schemas.microsoft.com/office/drawing/2014/main" id="{BCEBDC18-2C8C-4297-B245-25F9319566A6}"/>
                  </a:ext>
                </a:extLst>
              </p:cNvPr>
              <p:cNvSpPr>
                <a:spLocks/>
              </p:cNvSpPr>
              <p:nvPr/>
            </p:nvSpPr>
            <p:spPr bwMode="auto">
              <a:xfrm>
                <a:off x="6283" y="788"/>
                <a:ext cx="22" cy="17"/>
              </a:xfrm>
              <a:custGeom>
                <a:avLst/>
                <a:gdLst>
                  <a:gd name="T0" fmla="*/ 3 w 16"/>
                  <a:gd name="T1" fmla="*/ 3 h 12"/>
                  <a:gd name="T2" fmla="*/ 14 w 16"/>
                  <a:gd name="T3" fmla="*/ 11 h 12"/>
                  <a:gd name="T4" fmla="*/ 5 w 16"/>
                  <a:gd name="T5" fmla="*/ 3 h 12"/>
                  <a:gd name="T6" fmla="*/ 3 w 16"/>
                  <a:gd name="T7" fmla="*/ 3 h 12"/>
                </a:gdLst>
                <a:ahLst/>
                <a:cxnLst>
                  <a:cxn ang="0">
                    <a:pos x="T0" y="T1"/>
                  </a:cxn>
                  <a:cxn ang="0">
                    <a:pos x="T2" y="T3"/>
                  </a:cxn>
                  <a:cxn ang="0">
                    <a:pos x="T4" y="T5"/>
                  </a:cxn>
                  <a:cxn ang="0">
                    <a:pos x="T6" y="T7"/>
                  </a:cxn>
                </a:cxnLst>
                <a:rect l="0" t="0" r="r" b="b"/>
                <a:pathLst>
                  <a:path w="16" h="12">
                    <a:moveTo>
                      <a:pt x="3" y="3"/>
                    </a:moveTo>
                    <a:cubicBezTo>
                      <a:pt x="9" y="10"/>
                      <a:pt x="13" y="12"/>
                      <a:pt x="14" y="11"/>
                    </a:cubicBezTo>
                    <a:cubicBezTo>
                      <a:pt x="16" y="9"/>
                      <a:pt x="9" y="5"/>
                      <a:pt x="5" y="3"/>
                    </a:cubicBezTo>
                    <a:cubicBezTo>
                      <a:pt x="0" y="0"/>
                      <a:pt x="3" y="3"/>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22" name="Freeform 632">
                <a:extLst>
                  <a:ext uri="{FF2B5EF4-FFF2-40B4-BE49-F238E27FC236}">
                    <a16:creationId xmlns:a16="http://schemas.microsoft.com/office/drawing/2014/main" id="{DB6E3E88-1F6B-401E-AAA6-2606D16DFB5C}"/>
                  </a:ext>
                </a:extLst>
              </p:cNvPr>
              <p:cNvSpPr>
                <a:spLocks/>
              </p:cNvSpPr>
              <p:nvPr/>
            </p:nvSpPr>
            <p:spPr bwMode="auto">
              <a:xfrm>
                <a:off x="6316" y="710"/>
                <a:ext cx="177" cy="64"/>
              </a:xfrm>
              <a:custGeom>
                <a:avLst/>
                <a:gdLst>
                  <a:gd name="T0" fmla="*/ 11 w 128"/>
                  <a:gd name="T1" fmla="*/ 37 h 47"/>
                  <a:gd name="T2" fmla="*/ 17 w 128"/>
                  <a:gd name="T3" fmla="*/ 42 h 47"/>
                  <a:gd name="T4" fmla="*/ 36 w 128"/>
                  <a:gd name="T5" fmla="*/ 46 h 47"/>
                  <a:gd name="T6" fmla="*/ 39 w 128"/>
                  <a:gd name="T7" fmla="*/ 40 h 47"/>
                  <a:gd name="T8" fmla="*/ 44 w 128"/>
                  <a:gd name="T9" fmla="*/ 37 h 47"/>
                  <a:gd name="T10" fmla="*/ 57 w 128"/>
                  <a:gd name="T11" fmla="*/ 39 h 47"/>
                  <a:gd name="T12" fmla="*/ 79 w 128"/>
                  <a:gd name="T13" fmla="*/ 37 h 47"/>
                  <a:gd name="T14" fmla="*/ 76 w 128"/>
                  <a:gd name="T15" fmla="*/ 39 h 47"/>
                  <a:gd name="T16" fmla="*/ 88 w 128"/>
                  <a:gd name="T17" fmla="*/ 40 h 47"/>
                  <a:gd name="T18" fmla="*/ 98 w 128"/>
                  <a:gd name="T19" fmla="*/ 37 h 47"/>
                  <a:gd name="T20" fmla="*/ 79 w 128"/>
                  <a:gd name="T21" fmla="*/ 27 h 47"/>
                  <a:gd name="T22" fmla="*/ 77 w 128"/>
                  <a:gd name="T23" fmla="*/ 21 h 47"/>
                  <a:gd name="T24" fmla="*/ 77 w 128"/>
                  <a:gd name="T25" fmla="*/ 18 h 47"/>
                  <a:gd name="T26" fmla="*/ 82 w 128"/>
                  <a:gd name="T27" fmla="*/ 16 h 47"/>
                  <a:gd name="T28" fmla="*/ 89 w 128"/>
                  <a:gd name="T29" fmla="*/ 16 h 47"/>
                  <a:gd name="T30" fmla="*/ 85 w 128"/>
                  <a:gd name="T31" fmla="*/ 22 h 47"/>
                  <a:gd name="T32" fmla="*/ 86 w 128"/>
                  <a:gd name="T33" fmla="*/ 29 h 47"/>
                  <a:gd name="T34" fmla="*/ 94 w 128"/>
                  <a:gd name="T35" fmla="*/ 34 h 47"/>
                  <a:gd name="T36" fmla="*/ 106 w 128"/>
                  <a:gd name="T37" fmla="*/ 36 h 47"/>
                  <a:gd name="T38" fmla="*/ 115 w 128"/>
                  <a:gd name="T39" fmla="*/ 32 h 47"/>
                  <a:gd name="T40" fmla="*/ 118 w 128"/>
                  <a:gd name="T41" fmla="*/ 27 h 47"/>
                  <a:gd name="T42" fmla="*/ 123 w 128"/>
                  <a:gd name="T43" fmla="*/ 21 h 47"/>
                  <a:gd name="T44" fmla="*/ 111 w 128"/>
                  <a:gd name="T45" fmla="*/ 14 h 47"/>
                  <a:gd name="T46" fmla="*/ 76 w 128"/>
                  <a:gd name="T47" fmla="*/ 5 h 47"/>
                  <a:gd name="T48" fmla="*/ 67 w 128"/>
                  <a:gd name="T49" fmla="*/ 2 h 47"/>
                  <a:gd name="T50" fmla="*/ 68 w 128"/>
                  <a:gd name="T51" fmla="*/ 6 h 47"/>
                  <a:gd name="T52" fmla="*/ 60 w 128"/>
                  <a:gd name="T53" fmla="*/ 15 h 47"/>
                  <a:gd name="T54" fmla="*/ 55 w 128"/>
                  <a:gd name="T55" fmla="*/ 16 h 47"/>
                  <a:gd name="T56" fmla="*/ 42 w 128"/>
                  <a:gd name="T57" fmla="*/ 9 h 47"/>
                  <a:gd name="T58" fmla="*/ 29 w 128"/>
                  <a:gd name="T59" fmla="*/ 1 h 47"/>
                  <a:gd name="T60" fmla="*/ 19 w 128"/>
                  <a:gd name="T61" fmla="*/ 3 h 47"/>
                  <a:gd name="T62" fmla="*/ 13 w 128"/>
                  <a:gd name="T63" fmla="*/ 6 h 47"/>
                  <a:gd name="T64" fmla="*/ 5 w 128"/>
                  <a:gd name="T65" fmla="*/ 13 h 47"/>
                  <a:gd name="T66" fmla="*/ 2 w 128"/>
                  <a:gd name="T67" fmla="*/ 18 h 47"/>
                  <a:gd name="T68" fmla="*/ 4 w 128"/>
                  <a:gd name="T69" fmla="*/ 21 h 47"/>
                  <a:gd name="T70" fmla="*/ 4 w 128"/>
                  <a:gd name="T71" fmla="*/ 24 h 47"/>
                  <a:gd name="T72" fmla="*/ 0 w 128"/>
                  <a:gd name="T73"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8" h="47">
                    <a:moveTo>
                      <a:pt x="3" y="31"/>
                    </a:moveTo>
                    <a:cubicBezTo>
                      <a:pt x="5" y="33"/>
                      <a:pt x="10" y="36"/>
                      <a:pt x="11" y="37"/>
                    </a:cubicBezTo>
                    <a:cubicBezTo>
                      <a:pt x="13" y="38"/>
                      <a:pt x="13" y="40"/>
                      <a:pt x="14" y="40"/>
                    </a:cubicBezTo>
                    <a:cubicBezTo>
                      <a:pt x="15" y="41"/>
                      <a:pt x="16" y="41"/>
                      <a:pt x="17" y="42"/>
                    </a:cubicBezTo>
                    <a:cubicBezTo>
                      <a:pt x="18" y="42"/>
                      <a:pt x="27" y="45"/>
                      <a:pt x="30" y="46"/>
                    </a:cubicBezTo>
                    <a:cubicBezTo>
                      <a:pt x="32" y="47"/>
                      <a:pt x="34" y="47"/>
                      <a:pt x="36" y="46"/>
                    </a:cubicBezTo>
                    <a:cubicBezTo>
                      <a:pt x="38" y="44"/>
                      <a:pt x="38" y="43"/>
                      <a:pt x="39" y="42"/>
                    </a:cubicBezTo>
                    <a:cubicBezTo>
                      <a:pt x="39" y="41"/>
                      <a:pt x="40" y="41"/>
                      <a:pt x="39" y="40"/>
                    </a:cubicBezTo>
                    <a:cubicBezTo>
                      <a:pt x="38" y="40"/>
                      <a:pt x="38" y="39"/>
                      <a:pt x="39" y="38"/>
                    </a:cubicBezTo>
                    <a:cubicBezTo>
                      <a:pt x="40" y="37"/>
                      <a:pt x="43" y="36"/>
                      <a:pt x="44" y="37"/>
                    </a:cubicBezTo>
                    <a:cubicBezTo>
                      <a:pt x="45" y="38"/>
                      <a:pt x="46" y="41"/>
                      <a:pt x="48" y="41"/>
                    </a:cubicBezTo>
                    <a:cubicBezTo>
                      <a:pt x="50" y="41"/>
                      <a:pt x="55" y="39"/>
                      <a:pt x="57" y="39"/>
                    </a:cubicBezTo>
                    <a:cubicBezTo>
                      <a:pt x="59" y="39"/>
                      <a:pt x="70" y="38"/>
                      <a:pt x="72" y="37"/>
                    </a:cubicBezTo>
                    <a:cubicBezTo>
                      <a:pt x="75" y="36"/>
                      <a:pt x="77" y="36"/>
                      <a:pt x="79" y="37"/>
                    </a:cubicBezTo>
                    <a:cubicBezTo>
                      <a:pt x="80" y="37"/>
                      <a:pt x="81" y="38"/>
                      <a:pt x="79" y="38"/>
                    </a:cubicBezTo>
                    <a:cubicBezTo>
                      <a:pt x="77" y="38"/>
                      <a:pt x="74" y="38"/>
                      <a:pt x="76" y="39"/>
                    </a:cubicBezTo>
                    <a:cubicBezTo>
                      <a:pt x="78" y="40"/>
                      <a:pt x="82" y="42"/>
                      <a:pt x="84" y="41"/>
                    </a:cubicBezTo>
                    <a:cubicBezTo>
                      <a:pt x="86" y="40"/>
                      <a:pt x="87" y="40"/>
                      <a:pt x="88" y="40"/>
                    </a:cubicBezTo>
                    <a:cubicBezTo>
                      <a:pt x="89" y="41"/>
                      <a:pt x="98" y="39"/>
                      <a:pt x="99" y="39"/>
                    </a:cubicBezTo>
                    <a:cubicBezTo>
                      <a:pt x="101" y="38"/>
                      <a:pt x="101" y="38"/>
                      <a:pt x="98" y="37"/>
                    </a:cubicBezTo>
                    <a:cubicBezTo>
                      <a:pt x="95" y="36"/>
                      <a:pt x="87" y="34"/>
                      <a:pt x="85" y="32"/>
                    </a:cubicBezTo>
                    <a:cubicBezTo>
                      <a:pt x="83" y="31"/>
                      <a:pt x="80" y="28"/>
                      <a:pt x="79" y="27"/>
                    </a:cubicBezTo>
                    <a:cubicBezTo>
                      <a:pt x="78" y="26"/>
                      <a:pt x="77" y="24"/>
                      <a:pt x="78" y="23"/>
                    </a:cubicBezTo>
                    <a:cubicBezTo>
                      <a:pt x="78" y="22"/>
                      <a:pt x="78" y="22"/>
                      <a:pt x="77" y="21"/>
                    </a:cubicBezTo>
                    <a:cubicBezTo>
                      <a:pt x="77" y="20"/>
                      <a:pt x="76" y="20"/>
                      <a:pt x="77" y="20"/>
                    </a:cubicBezTo>
                    <a:cubicBezTo>
                      <a:pt x="77" y="19"/>
                      <a:pt x="77" y="18"/>
                      <a:pt x="77" y="18"/>
                    </a:cubicBezTo>
                    <a:cubicBezTo>
                      <a:pt x="78" y="18"/>
                      <a:pt x="78" y="17"/>
                      <a:pt x="79" y="17"/>
                    </a:cubicBezTo>
                    <a:cubicBezTo>
                      <a:pt x="80" y="17"/>
                      <a:pt x="82" y="16"/>
                      <a:pt x="82" y="16"/>
                    </a:cubicBezTo>
                    <a:cubicBezTo>
                      <a:pt x="81" y="15"/>
                      <a:pt x="81" y="15"/>
                      <a:pt x="83" y="15"/>
                    </a:cubicBezTo>
                    <a:cubicBezTo>
                      <a:pt x="85" y="15"/>
                      <a:pt x="88" y="14"/>
                      <a:pt x="89" y="16"/>
                    </a:cubicBezTo>
                    <a:cubicBezTo>
                      <a:pt x="90" y="17"/>
                      <a:pt x="91" y="18"/>
                      <a:pt x="89" y="19"/>
                    </a:cubicBezTo>
                    <a:cubicBezTo>
                      <a:pt x="87" y="19"/>
                      <a:pt x="86" y="20"/>
                      <a:pt x="85" y="22"/>
                    </a:cubicBezTo>
                    <a:cubicBezTo>
                      <a:pt x="84" y="23"/>
                      <a:pt x="81" y="24"/>
                      <a:pt x="83" y="25"/>
                    </a:cubicBezTo>
                    <a:cubicBezTo>
                      <a:pt x="85" y="26"/>
                      <a:pt x="85" y="28"/>
                      <a:pt x="86" y="29"/>
                    </a:cubicBezTo>
                    <a:cubicBezTo>
                      <a:pt x="86" y="30"/>
                      <a:pt x="86" y="30"/>
                      <a:pt x="87" y="30"/>
                    </a:cubicBezTo>
                    <a:cubicBezTo>
                      <a:pt x="88" y="31"/>
                      <a:pt x="89" y="34"/>
                      <a:pt x="94" y="34"/>
                    </a:cubicBezTo>
                    <a:cubicBezTo>
                      <a:pt x="98" y="34"/>
                      <a:pt x="101" y="34"/>
                      <a:pt x="103" y="35"/>
                    </a:cubicBezTo>
                    <a:cubicBezTo>
                      <a:pt x="104" y="36"/>
                      <a:pt x="106" y="36"/>
                      <a:pt x="106" y="36"/>
                    </a:cubicBezTo>
                    <a:cubicBezTo>
                      <a:pt x="107" y="35"/>
                      <a:pt x="110" y="34"/>
                      <a:pt x="110" y="35"/>
                    </a:cubicBezTo>
                    <a:cubicBezTo>
                      <a:pt x="111" y="35"/>
                      <a:pt x="114" y="34"/>
                      <a:pt x="115" y="32"/>
                    </a:cubicBezTo>
                    <a:cubicBezTo>
                      <a:pt x="116" y="31"/>
                      <a:pt x="116" y="29"/>
                      <a:pt x="117" y="29"/>
                    </a:cubicBezTo>
                    <a:cubicBezTo>
                      <a:pt x="118" y="29"/>
                      <a:pt x="119" y="28"/>
                      <a:pt x="118" y="27"/>
                    </a:cubicBezTo>
                    <a:cubicBezTo>
                      <a:pt x="117" y="25"/>
                      <a:pt x="115" y="23"/>
                      <a:pt x="117" y="23"/>
                    </a:cubicBezTo>
                    <a:cubicBezTo>
                      <a:pt x="118" y="22"/>
                      <a:pt x="123" y="22"/>
                      <a:pt x="123" y="21"/>
                    </a:cubicBezTo>
                    <a:cubicBezTo>
                      <a:pt x="124" y="21"/>
                      <a:pt x="128" y="22"/>
                      <a:pt x="124" y="20"/>
                    </a:cubicBezTo>
                    <a:cubicBezTo>
                      <a:pt x="120" y="18"/>
                      <a:pt x="112" y="15"/>
                      <a:pt x="111" y="14"/>
                    </a:cubicBezTo>
                    <a:cubicBezTo>
                      <a:pt x="109" y="13"/>
                      <a:pt x="103" y="10"/>
                      <a:pt x="99" y="10"/>
                    </a:cubicBezTo>
                    <a:cubicBezTo>
                      <a:pt x="96" y="10"/>
                      <a:pt x="77" y="6"/>
                      <a:pt x="76" y="5"/>
                    </a:cubicBezTo>
                    <a:cubicBezTo>
                      <a:pt x="74" y="4"/>
                      <a:pt x="71" y="3"/>
                      <a:pt x="70" y="2"/>
                    </a:cubicBezTo>
                    <a:cubicBezTo>
                      <a:pt x="69" y="2"/>
                      <a:pt x="66" y="0"/>
                      <a:pt x="67" y="2"/>
                    </a:cubicBezTo>
                    <a:cubicBezTo>
                      <a:pt x="68" y="4"/>
                      <a:pt x="68" y="4"/>
                      <a:pt x="69" y="5"/>
                    </a:cubicBezTo>
                    <a:cubicBezTo>
                      <a:pt x="69" y="5"/>
                      <a:pt x="70" y="6"/>
                      <a:pt x="68" y="6"/>
                    </a:cubicBezTo>
                    <a:cubicBezTo>
                      <a:pt x="66" y="6"/>
                      <a:pt x="59" y="5"/>
                      <a:pt x="59" y="8"/>
                    </a:cubicBezTo>
                    <a:cubicBezTo>
                      <a:pt x="59" y="10"/>
                      <a:pt x="59" y="14"/>
                      <a:pt x="60" y="15"/>
                    </a:cubicBezTo>
                    <a:cubicBezTo>
                      <a:pt x="61" y="16"/>
                      <a:pt x="62" y="18"/>
                      <a:pt x="60" y="18"/>
                    </a:cubicBezTo>
                    <a:cubicBezTo>
                      <a:pt x="58" y="18"/>
                      <a:pt x="56" y="18"/>
                      <a:pt x="55" y="16"/>
                    </a:cubicBezTo>
                    <a:cubicBezTo>
                      <a:pt x="54" y="14"/>
                      <a:pt x="53" y="12"/>
                      <a:pt x="51" y="12"/>
                    </a:cubicBezTo>
                    <a:cubicBezTo>
                      <a:pt x="49" y="12"/>
                      <a:pt x="45" y="12"/>
                      <a:pt x="42" y="9"/>
                    </a:cubicBezTo>
                    <a:cubicBezTo>
                      <a:pt x="38" y="6"/>
                      <a:pt x="32" y="1"/>
                      <a:pt x="32" y="1"/>
                    </a:cubicBezTo>
                    <a:cubicBezTo>
                      <a:pt x="32" y="1"/>
                      <a:pt x="30" y="0"/>
                      <a:pt x="29" y="1"/>
                    </a:cubicBezTo>
                    <a:cubicBezTo>
                      <a:pt x="29" y="1"/>
                      <a:pt x="23" y="6"/>
                      <a:pt x="22" y="4"/>
                    </a:cubicBezTo>
                    <a:cubicBezTo>
                      <a:pt x="22" y="1"/>
                      <a:pt x="20" y="2"/>
                      <a:pt x="19" y="3"/>
                    </a:cubicBezTo>
                    <a:cubicBezTo>
                      <a:pt x="18" y="3"/>
                      <a:pt x="18" y="4"/>
                      <a:pt x="16" y="5"/>
                    </a:cubicBezTo>
                    <a:cubicBezTo>
                      <a:pt x="15" y="6"/>
                      <a:pt x="14" y="6"/>
                      <a:pt x="13" y="6"/>
                    </a:cubicBezTo>
                    <a:cubicBezTo>
                      <a:pt x="12" y="5"/>
                      <a:pt x="7" y="7"/>
                      <a:pt x="8" y="9"/>
                    </a:cubicBezTo>
                    <a:cubicBezTo>
                      <a:pt x="9" y="11"/>
                      <a:pt x="8" y="14"/>
                      <a:pt x="5" y="13"/>
                    </a:cubicBezTo>
                    <a:cubicBezTo>
                      <a:pt x="4" y="12"/>
                      <a:pt x="3" y="14"/>
                      <a:pt x="2" y="16"/>
                    </a:cubicBezTo>
                    <a:cubicBezTo>
                      <a:pt x="1" y="18"/>
                      <a:pt x="2" y="18"/>
                      <a:pt x="2" y="18"/>
                    </a:cubicBezTo>
                    <a:cubicBezTo>
                      <a:pt x="2" y="18"/>
                      <a:pt x="4" y="17"/>
                      <a:pt x="4" y="18"/>
                    </a:cubicBezTo>
                    <a:cubicBezTo>
                      <a:pt x="4" y="20"/>
                      <a:pt x="4" y="20"/>
                      <a:pt x="4" y="21"/>
                    </a:cubicBezTo>
                    <a:cubicBezTo>
                      <a:pt x="5" y="21"/>
                      <a:pt x="5" y="22"/>
                      <a:pt x="4" y="22"/>
                    </a:cubicBezTo>
                    <a:cubicBezTo>
                      <a:pt x="3" y="23"/>
                      <a:pt x="3" y="23"/>
                      <a:pt x="4" y="24"/>
                    </a:cubicBezTo>
                    <a:cubicBezTo>
                      <a:pt x="5" y="24"/>
                      <a:pt x="7" y="27"/>
                      <a:pt x="4" y="26"/>
                    </a:cubicBezTo>
                    <a:cubicBezTo>
                      <a:pt x="1" y="25"/>
                      <a:pt x="0" y="24"/>
                      <a:pt x="0" y="26"/>
                    </a:cubicBezTo>
                    <a:cubicBezTo>
                      <a:pt x="0" y="28"/>
                      <a:pt x="1" y="29"/>
                      <a:pt x="3" y="3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23" name="Freeform 633">
                <a:extLst>
                  <a:ext uri="{FF2B5EF4-FFF2-40B4-BE49-F238E27FC236}">
                    <a16:creationId xmlns:a16="http://schemas.microsoft.com/office/drawing/2014/main" id="{3058E2E6-67FC-415C-A231-83C6FA44F09E}"/>
                  </a:ext>
                </a:extLst>
              </p:cNvPr>
              <p:cNvSpPr>
                <a:spLocks/>
              </p:cNvSpPr>
              <p:nvPr/>
            </p:nvSpPr>
            <p:spPr bwMode="auto">
              <a:xfrm>
                <a:off x="6381" y="788"/>
                <a:ext cx="21" cy="17"/>
              </a:xfrm>
              <a:custGeom>
                <a:avLst/>
                <a:gdLst>
                  <a:gd name="T0" fmla="*/ 7 w 15"/>
                  <a:gd name="T1" fmla="*/ 11 h 12"/>
                  <a:gd name="T2" fmla="*/ 12 w 15"/>
                  <a:gd name="T3" fmla="*/ 10 h 12"/>
                  <a:gd name="T4" fmla="*/ 15 w 15"/>
                  <a:gd name="T5" fmla="*/ 6 h 12"/>
                  <a:gd name="T6" fmla="*/ 13 w 15"/>
                  <a:gd name="T7" fmla="*/ 1 h 12"/>
                  <a:gd name="T8" fmla="*/ 4 w 15"/>
                  <a:gd name="T9" fmla="*/ 1 h 12"/>
                  <a:gd name="T10" fmla="*/ 0 w 15"/>
                  <a:gd name="T11" fmla="*/ 6 h 12"/>
                  <a:gd name="T12" fmla="*/ 4 w 15"/>
                  <a:gd name="T13" fmla="*/ 11 h 12"/>
                  <a:gd name="T14" fmla="*/ 7 w 15"/>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7" y="11"/>
                    </a:moveTo>
                    <a:cubicBezTo>
                      <a:pt x="7" y="10"/>
                      <a:pt x="9" y="10"/>
                      <a:pt x="12" y="10"/>
                    </a:cubicBezTo>
                    <a:cubicBezTo>
                      <a:pt x="15" y="10"/>
                      <a:pt x="15" y="7"/>
                      <a:pt x="15" y="6"/>
                    </a:cubicBezTo>
                    <a:cubicBezTo>
                      <a:pt x="15" y="4"/>
                      <a:pt x="15" y="2"/>
                      <a:pt x="13" y="1"/>
                    </a:cubicBezTo>
                    <a:cubicBezTo>
                      <a:pt x="12" y="0"/>
                      <a:pt x="6" y="1"/>
                      <a:pt x="4" y="1"/>
                    </a:cubicBezTo>
                    <a:cubicBezTo>
                      <a:pt x="2" y="2"/>
                      <a:pt x="1" y="4"/>
                      <a:pt x="0" y="6"/>
                    </a:cubicBezTo>
                    <a:cubicBezTo>
                      <a:pt x="0" y="7"/>
                      <a:pt x="3" y="10"/>
                      <a:pt x="4" y="11"/>
                    </a:cubicBezTo>
                    <a:cubicBezTo>
                      <a:pt x="6" y="12"/>
                      <a:pt x="7" y="11"/>
                      <a:pt x="7"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24" name="Freeform 634">
                <a:extLst>
                  <a:ext uri="{FF2B5EF4-FFF2-40B4-BE49-F238E27FC236}">
                    <a16:creationId xmlns:a16="http://schemas.microsoft.com/office/drawing/2014/main" id="{74D2FD00-1970-47D9-88CE-40BF5AD1B395}"/>
                  </a:ext>
                </a:extLst>
              </p:cNvPr>
              <p:cNvSpPr>
                <a:spLocks/>
              </p:cNvSpPr>
              <p:nvPr/>
            </p:nvSpPr>
            <p:spPr bwMode="auto">
              <a:xfrm>
                <a:off x="6373" y="803"/>
                <a:ext cx="79" cy="29"/>
              </a:xfrm>
              <a:custGeom>
                <a:avLst/>
                <a:gdLst>
                  <a:gd name="T0" fmla="*/ 53 w 57"/>
                  <a:gd name="T1" fmla="*/ 9 h 21"/>
                  <a:gd name="T2" fmla="*/ 42 w 57"/>
                  <a:gd name="T3" fmla="*/ 3 h 21"/>
                  <a:gd name="T4" fmla="*/ 30 w 57"/>
                  <a:gd name="T5" fmla="*/ 1 h 21"/>
                  <a:gd name="T6" fmla="*/ 22 w 57"/>
                  <a:gd name="T7" fmla="*/ 1 h 21"/>
                  <a:gd name="T8" fmla="*/ 17 w 57"/>
                  <a:gd name="T9" fmla="*/ 5 h 21"/>
                  <a:gd name="T10" fmla="*/ 12 w 57"/>
                  <a:gd name="T11" fmla="*/ 12 h 21"/>
                  <a:gd name="T12" fmla="*/ 3 w 57"/>
                  <a:gd name="T13" fmla="*/ 14 h 21"/>
                  <a:gd name="T14" fmla="*/ 0 w 57"/>
                  <a:gd name="T15" fmla="*/ 16 h 21"/>
                  <a:gd name="T16" fmla="*/ 2 w 57"/>
                  <a:gd name="T17" fmla="*/ 16 h 21"/>
                  <a:gd name="T18" fmla="*/ 10 w 57"/>
                  <a:gd name="T19" fmla="*/ 15 h 21"/>
                  <a:gd name="T20" fmla="*/ 21 w 57"/>
                  <a:gd name="T21" fmla="*/ 15 h 21"/>
                  <a:gd name="T22" fmla="*/ 33 w 57"/>
                  <a:gd name="T23" fmla="*/ 18 h 21"/>
                  <a:gd name="T24" fmla="*/ 39 w 57"/>
                  <a:gd name="T25" fmla="*/ 19 h 21"/>
                  <a:gd name="T26" fmla="*/ 44 w 57"/>
                  <a:gd name="T27" fmla="*/ 19 h 21"/>
                  <a:gd name="T28" fmla="*/ 51 w 57"/>
                  <a:gd name="T29" fmla="*/ 20 h 21"/>
                  <a:gd name="T30" fmla="*/ 55 w 57"/>
                  <a:gd name="T31" fmla="*/ 20 h 21"/>
                  <a:gd name="T32" fmla="*/ 56 w 57"/>
                  <a:gd name="T33" fmla="*/ 18 h 21"/>
                  <a:gd name="T34" fmla="*/ 57 w 57"/>
                  <a:gd name="T35" fmla="*/ 15 h 21"/>
                  <a:gd name="T36" fmla="*/ 53 w 57"/>
                  <a:gd name="T37" fmla="*/ 9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21">
                    <a:moveTo>
                      <a:pt x="53" y="9"/>
                    </a:moveTo>
                    <a:cubicBezTo>
                      <a:pt x="51" y="8"/>
                      <a:pt x="47" y="6"/>
                      <a:pt x="42" y="3"/>
                    </a:cubicBezTo>
                    <a:cubicBezTo>
                      <a:pt x="37" y="0"/>
                      <a:pt x="32" y="0"/>
                      <a:pt x="30" y="1"/>
                    </a:cubicBezTo>
                    <a:cubicBezTo>
                      <a:pt x="27" y="1"/>
                      <a:pt x="24" y="2"/>
                      <a:pt x="22" y="1"/>
                    </a:cubicBezTo>
                    <a:cubicBezTo>
                      <a:pt x="20" y="1"/>
                      <a:pt x="18" y="4"/>
                      <a:pt x="17" y="5"/>
                    </a:cubicBezTo>
                    <a:cubicBezTo>
                      <a:pt x="17" y="6"/>
                      <a:pt x="13" y="11"/>
                      <a:pt x="12" y="12"/>
                    </a:cubicBezTo>
                    <a:cubicBezTo>
                      <a:pt x="11" y="14"/>
                      <a:pt x="4" y="14"/>
                      <a:pt x="3" y="14"/>
                    </a:cubicBezTo>
                    <a:cubicBezTo>
                      <a:pt x="1" y="14"/>
                      <a:pt x="0" y="14"/>
                      <a:pt x="0" y="16"/>
                    </a:cubicBezTo>
                    <a:cubicBezTo>
                      <a:pt x="0" y="17"/>
                      <a:pt x="2" y="16"/>
                      <a:pt x="2" y="16"/>
                    </a:cubicBezTo>
                    <a:cubicBezTo>
                      <a:pt x="2" y="16"/>
                      <a:pt x="6" y="16"/>
                      <a:pt x="10" y="15"/>
                    </a:cubicBezTo>
                    <a:cubicBezTo>
                      <a:pt x="14" y="13"/>
                      <a:pt x="19" y="14"/>
                      <a:pt x="21" y="15"/>
                    </a:cubicBezTo>
                    <a:cubicBezTo>
                      <a:pt x="23" y="16"/>
                      <a:pt x="31" y="18"/>
                      <a:pt x="33" y="18"/>
                    </a:cubicBezTo>
                    <a:cubicBezTo>
                      <a:pt x="34" y="18"/>
                      <a:pt x="37" y="19"/>
                      <a:pt x="39" y="19"/>
                    </a:cubicBezTo>
                    <a:cubicBezTo>
                      <a:pt x="40" y="20"/>
                      <a:pt x="42" y="19"/>
                      <a:pt x="44" y="19"/>
                    </a:cubicBezTo>
                    <a:cubicBezTo>
                      <a:pt x="47" y="18"/>
                      <a:pt x="50" y="20"/>
                      <a:pt x="51" y="20"/>
                    </a:cubicBezTo>
                    <a:cubicBezTo>
                      <a:pt x="52" y="21"/>
                      <a:pt x="54" y="20"/>
                      <a:pt x="55" y="20"/>
                    </a:cubicBezTo>
                    <a:cubicBezTo>
                      <a:pt x="57" y="20"/>
                      <a:pt x="57" y="19"/>
                      <a:pt x="56" y="18"/>
                    </a:cubicBezTo>
                    <a:cubicBezTo>
                      <a:pt x="56" y="17"/>
                      <a:pt x="56" y="17"/>
                      <a:pt x="57" y="15"/>
                    </a:cubicBezTo>
                    <a:cubicBezTo>
                      <a:pt x="57" y="12"/>
                      <a:pt x="55" y="9"/>
                      <a:pt x="53"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25" name="Freeform 635">
                <a:extLst>
                  <a:ext uri="{FF2B5EF4-FFF2-40B4-BE49-F238E27FC236}">
                    <a16:creationId xmlns:a16="http://schemas.microsoft.com/office/drawing/2014/main" id="{10BBAC0A-A3D0-4A61-8920-515CCD802168}"/>
                  </a:ext>
                </a:extLst>
              </p:cNvPr>
              <p:cNvSpPr>
                <a:spLocks/>
              </p:cNvSpPr>
              <p:nvPr/>
            </p:nvSpPr>
            <p:spPr bwMode="auto">
              <a:xfrm>
                <a:off x="6503" y="735"/>
                <a:ext cx="102" cy="34"/>
              </a:xfrm>
              <a:custGeom>
                <a:avLst/>
                <a:gdLst>
                  <a:gd name="T0" fmla="*/ 2 w 74"/>
                  <a:gd name="T1" fmla="*/ 12 h 25"/>
                  <a:gd name="T2" fmla="*/ 18 w 74"/>
                  <a:gd name="T3" fmla="*/ 19 h 25"/>
                  <a:gd name="T4" fmla="*/ 36 w 74"/>
                  <a:gd name="T5" fmla="*/ 25 h 25"/>
                  <a:gd name="T6" fmla="*/ 51 w 74"/>
                  <a:gd name="T7" fmla="*/ 25 h 25"/>
                  <a:gd name="T8" fmla="*/ 57 w 74"/>
                  <a:gd name="T9" fmla="*/ 24 h 25"/>
                  <a:gd name="T10" fmla="*/ 66 w 74"/>
                  <a:gd name="T11" fmla="*/ 22 h 25"/>
                  <a:gd name="T12" fmla="*/ 70 w 74"/>
                  <a:gd name="T13" fmla="*/ 19 h 25"/>
                  <a:gd name="T14" fmla="*/ 72 w 74"/>
                  <a:gd name="T15" fmla="*/ 15 h 25"/>
                  <a:gd name="T16" fmla="*/ 70 w 74"/>
                  <a:gd name="T17" fmla="*/ 14 h 25"/>
                  <a:gd name="T18" fmla="*/ 63 w 74"/>
                  <a:gd name="T19" fmla="*/ 14 h 25"/>
                  <a:gd name="T20" fmla="*/ 62 w 74"/>
                  <a:gd name="T21" fmla="*/ 12 h 25"/>
                  <a:gd name="T22" fmla="*/ 50 w 74"/>
                  <a:gd name="T23" fmla="*/ 10 h 25"/>
                  <a:gd name="T24" fmla="*/ 40 w 74"/>
                  <a:gd name="T25" fmla="*/ 12 h 25"/>
                  <a:gd name="T26" fmla="*/ 37 w 74"/>
                  <a:gd name="T27" fmla="*/ 8 h 25"/>
                  <a:gd name="T28" fmla="*/ 32 w 74"/>
                  <a:gd name="T29" fmla="*/ 6 h 25"/>
                  <a:gd name="T30" fmla="*/ 26 w 74"/>
                  <a:gd name="T31" fmla="*/ 6 h 25"/>
                  <a:gd name="T32" fmla="*/ 17 w 74"/>
                  <a:gd name="T33" fmla="*/ 7 h 25"/>
                  <a:gd name="T34" fmla="*/ 12 w 74"/>
                  <a:gd name="T35" fmla="*/ 7 h 25"/>
                  <a:gd name="T36" fmla="*/ 10 w 74"/>
                  <a:gd name="T37" fmla="*/ 5 h 25"/>
                  <a:gd name="T38" fmla="*/ 10 w 74"/>
                  <a:gd name="T39" fmla="*/ 4 h 25"/>
                  <a:gd name="T40" fmla="*/ 6 w 74"/>
                  <a:gd name="T41" fmla="*/ 1 h 25"/>
                  <a:gd name="T42" fmla="*/ 5 w 74"/>
                  <a:gd name="T43" fmla="*/ 4 h 25"/>
                  <a:gd name="T44" fmla="*/ 3 w 74"/>
                  <a:gd name="T45" fmla="*/ 6 h 25"/>
                  <a:gd name="T46" fmla="*/ 2 w 74"/>
                  <a:gd name="T47" fmla="*/ 9 h 25"/>
                  <a:gd name="T48" fmla="*/ 1 w 74"/>
                  <a:gd name="T49" fmla="*/ 11 h 25"/>
                  <a:gd name="T50" fmla="*/ 2 w 74"/>
                  <a:gd name="T51"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4" h="25">
                    <a:moveTo>
                      <a:pt x="2" y="12"/>
                    </a:moveTo>
                    <a:cubicBezTo>
                      <a:pt x="5" y="12"/>
                      <a:pt x="18" y="19"/>
                      <a:pt x="18" y="19"/>
                    </a:cubicBezTo>
                    <a:cubicBezTo>
                      <a:pt x="19" y="19"/>
                      <a:pt x="34" y="24"/>
                      <a:pt x="36" y="25"/>
                    </a:cubicBezTo>
                    <a:cubicBezTo>
                      <a:pt x="37" y="25"/>
                      <a:pt x="48" y="25"/>
                      <a:pt x="51" y="25"/>
                    </a:cubicBezTo>
                    <a:cubicBezTo>
                      <a:pt x="54" y="25"/>
                      <a:pt x="55" y="25"/>
                      <a:pt x="57" y="24"/>
                    </a:cubicBezTo>
                    <a:cubicBezTo>
                      <a:pt x="59" y="23"/>
                      <a:pt x="64" y="23"/>
                      <a:pt x="66" y="22"/>
                    </a:cubicBezTo>
                    <a:cubicBezTo>
                      <a:pt x="69" y="22"/>
                      <a:pt x="69" y="21"/>
                      <a:pt x="70" y="19"/>
                    </a:cubicBezTo>
                    <a:cubicBezTo>
                      <a:pt x="70" y="18"/>
                      <a:pt x="70" y="17"/>
                      <a:pt x="72" y="15"/>
                    </a:cubicBezTo>
                    <a:cubicBezTo>
                      <a:pt x="74" y="14"/>
                      <a:pt x="71" y="14"/>
                      <a:pt x="70" y="14"/>
                    </a:cubicBezTo>
                    <a:cubicBezTo>
                      <a:pt x="69" y="14"/>
                      <a:pt x="64" y="14"/>
                      <a:pt x="63" y="14"/>
                    </a:cubicBezTo>
                    <a:cubicBezTo>
                      <a:pt x="62" y="14"/>
                      <a:pt x="62" y="13"/>
                      <a:pt x="62" y="12"/>
                    </a:cubicBezTo>
                    <a:cubicBezTo>
                      <a:pt x="62" y="12"/>
                      <a:pt x="53" y="11"/>
                      <a:pt x="50" y="10"/>
                    </a:cubicBezTo>
                    <a:cubicBezTo>
                      <a:pt x="47" y="10"/>
                      <a:pt x="43" y="12"/>
                      <a:pt x="40" y="12"/>
                    </a:cubicBezTo>
                    <a:cubicBezTo>
                      <a:pt x="36" y="12"/>
                      <a:pt x="36" y="11"/>
                      <a:pt x="37" y="8"/>
                    </a:cubicBezTo>
                    <a:cubicBezTo>
                      <a:pt x="39" y="6"/>
                      <a:pt x="33" y="6"/>
                      <a:pt x="32" y="6"/>
                    </a:cubicBezTo>
                    <a:cubicBezTo>
                      <a:pt x="31" y="7"/>
                      <a:pt x="29" y="6"/>
                      <a:pt x="26" y="6"/>
                    </a:cubicBezTo>
                    <a:cubicBezTo>
                      <a:pt x="24" y="5"/>
                      <a:pt x="19" y="5"/>
                      <a:pt x="17" y="7"/>
                    </a:cubicBezTo>
                    <a:cubicBezTo>
                      <a:pt x="16" y="9"/>
                      <a:pt x="14" y="8"/>
                      <a:pt x="12" y="7"/>
                    </a:cubicBezTo>
                    <a:cubicBezTo>
                      <a:pt x="9" y="7"/>
                      <a:pt x="10" y="5"/>
                      <a:pt x="10" y="5"/>
                    </a:cubicBezTo>
                    <a:cubicBezTo>
                      <a:pt x="10" y="5"/>
                      <a:pt x="10" y="5"/>
                      <a:pt x="10" y="4"/>
                    </a:cubicBezTo>
                    <a:cubicBezTo>
                      <a:pt x="11" y="2"/>
                      <a:pt x="8" y="1"/>
                      <a:pt x="6" y="1"/>
                    </a:cubicBezTo>
                    <a:cubicBezTo>
                      <a:pt x="5" y="0"/>
                      <a:pt x="5" y="2"/>
                      <a:pt x="5" y="4"/>
                    </a:cubicBezTo>
                    <a:cubicBezTo>
                      <a:pt x="5" y="5"/>
                      <a:pt x="4" y="6"/>
                      <a:pt x="3" y="6"/>
                    </a:cubicBezTo>
                    <a:cubicBezTo>
                      <a:pt x="2" y="7"/>
                      <a:pt x="2" y="8"/>
                      <a:pt x="2" y="9"/>
                    </a:cubicBezTo>
                    <a:cubicBezTo>
                      <a:pt x="2" y="10"/>
                      <a:pt x="2" y="10"/>
                      <a:pt x="1" y="11"/>
                    </a:cubicBezTo>
                    <a:cubicBezTo>
                      <a:pt x="0" y="12"/>
                      <a:pt x="2" y="12"/>
                      <a:pt x="2"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26" name="Freeform 636">
                <a:extLst>
                  <a:ext uri="{FF2B5EF4-FFF2-40B4-BE49-F238E27FC236}">
                    <a16:creationId xmlns:a16="http://schemas.microsoft.com/office/drawing/2014/main" id="{ADD17877-34AD-4F96-B45D-DA1F27C08095}"/>
                  </a:ext>
                </a:extLst>
              </p:cNvPr>
              <p:cNvSpPr>
                <a:spLocks/>
              </p:cNvSpPr>
              <p:nvPr/>
            </p:nvSpPr>
            <p:spPr bwMode="auto">
              <a:xfrm>
                <a:off x="6551" y="685"/>
                <a:ext cx="21" cy="7"/>
              </a:xfrm>
              <a:custGeom>
                <a:avLst/>
                <a:gdLst>
                  <a:gd name="T0" fmla="*/ 2 w 15"/>
                  <a:gd name="T1" fmla="*/ 5 h 5"/>
                  <a:gd name="T2" fmla="*/ 9 w 15"/>
                  <a:gd name="T3" fmla="*/ 2 h 5"/>
                  <a:gd name="T4" fmla="*/ 14 w 15"/>
                  <a:gd name="T5" fmla="*/ 1 h 5"/>
                  <a:gd name="T6" fmla="*/ 2 w 15"/>
                  <a:gd name="T7" fmla="*/ 3 h 5"/>
                  <a:gd name="T8" fmla="*/ 2 w 15"/>
                  <a:gd name="T9" fmla="*/ 5 h 5"/>
                </a:gdLst>
                <a:ahLst/>
                <a:cxnLst>
                  <a:cxn ang="0">
                    <a:pos x="T0" y="T1"/>
                  </a:cxn>
                  <a:cxn ang="0">
                    <a:pos x="T2" y="T3"/>
                  </a:cxn>
                  <a:cxn ang="0">
                    <a:pos x="T4" y="T5"/>
                  </a:cxn>
                  <a:cxn ang="0">
                    <a:pos x="T6" y="T7"/>
                  </a:cxn>
                  <a:cxn ang="0">
                    <a:pos x="T8" y="T9"/>
                  </a:cxn>
                </a:cxnLst>
                <a:rect l="0" t="0" r="r" b="b"/>
                <a:pathLst>
                  <a:path w="15" h="5">
                    <a:moveTo>
                      <a:pt x="2" y="5"/>
                    </a:moveTo>
                    <a:cubicBezTo>
                      <a:pt x="2" y="5"/>
                      <a:pt x="5" y="4"/>
                      <a:pt x="9" y="2"/>
                    </a:cubicBezTo>
                    <a:cubicBezTo>
                      <a:pt x="14" y="1"/>
                      <a:pt x="15" y="0"/>
                      <a:pt x="14" y="1"/>
                    </a:cubicBezTo>
                    <a:cubicBezTo>
                      <a:pt x="13" y="1"/>
                      <a:pt x="4" y="2"/>
                      <a:pt x="2" y="3"/>
                    </a:cubicBezTo>
                    <a:cubicBezTo>
                      <a:pt x="0" y="4"/>
                      <a:pt x="1" y="5"/>
                      <a:pt x="2"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27" name="Freeform 637">
                <a:extLst>
                  <a:ext uri="{FF2B5EF4-FFF2-40B4-BE49-F238E27FC236}">
                    <a16:creationId xmlns:a16="http://schemas.microsoft.com/office/drawing/2014/main" id="{6A60E3CB-52DB-4191-85C7-757F58E0D226}"/>
                  </a:ext>
                </a:extLst>
              </p:cNvPr>
              <p:cNvSpPr>
                <a:spLocks/>
              </p:cNvSpPr>
              <p:nvPr/>
            </p:nvSpPr>
            <p:spPr bwMode="auto">
              <a:xfrm>
                <a:off x="7173" y="895"/>
                <a:ext cx="80" cy="29"/>
              </a:xfrm>
              <a:custGeom>
                <a:avLst/>
                <a:gdLst>
                  <a:gd name="T0" fmla="*/ 2 w 58"/>
                  <a:gd name="T1" fmla="*/ 19 h 21"/>
                  <a:gd name="T2" fmla="*/ 6 w 58"/>
                  <a:gd name="T3" fmla="*/ 20 h 21"/>
                  <a:gd name="T4" fmla="*/ 20 w 58"/>
                  <a:gd name="T5" fmla="*/ 15 h 21"/>
                  <a:gd name="T6" fmla="*/ 26 w 58"/>
                  <a:gd name="T7" fmla="*/ 17 h 21"/>
                  <a:gd name="T8" fmla="*/ 33 w 58"/>
                  <a:gd name="T9" fmla="*/ 17 h 21"/>
                  <a:gd name="T10" fmla="*/ 45 w 58"/>
                  <a:gd name="T11" fmla="*/ 15 h 21"/>
                  <a:gd name="T12" fmla="*/ 57 w 58"/>
                  <a:gd name="T13" fmla="*/ 9 h 21"/>
                  <a:gd name="T14" fmla="*/ 57 w 58"/>
                  <a:gd name="T15" fmla="*/ 8 h 21"/>
                  <a:gd name="T16" fmla="*/ 50 w 58"/>
                  <a:gd name="T17" fmla="*/ 3 h 21"/>
                  <a:gd name="T18" fmla="*/ 47 w 58"/>
                  <a:gd name="T19" fmla="*/ 1 h 21"/>
                  <a:gd name="T20" fmla="*/ 43 w 58"/>
                  <a:gd name="T21" fmla="*/ 0 h 21"/>
                  <a:gd name="T22" fmla="*/ 23 w 58"/>
                  <a:gd name="T23" fmla="*/ 0 h 21"/>
                  <a:gd name="T24" fmla="*/ 18 w 58"/>
                  <a:gd name="T25" fmla="*/ 1 h 21"/>
                  <a:gd name="T26" fmla="*/ 2 w 58"/>
                  <a:gd name="T27" fmla="*/ 10 h 21"/>
                  <a:gd name="T28" fmla="*/ 1 w 58"/>
                  <a:gd name="T29" fmla="*/ 16 h 21"/>
                  <a:gd name="T30" fmla="*/ 2 w 58"/>
                  <a:gd name="T31" fmla="*/ 19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8" h="21">
                    <a:moveTo>
                      <a:pt x="2" y="19"/>
                    </a:moveTo>
                    <a:cubicBezTo>
                      <a:pt x="2" y="21"/>
                      <a:pt x="6" y="20"/>
                      <a:pt x="6" y="20"/>
                    </a:cubicBezTo>
                    <a:cubicBezTo>
                      <a:pt x="6" y="20"/>
                      <a:pt x="19" y="15"/>
                      <a:pt x="20" y="15"/>
                    </a:cubicBezTo>
                    <a:cubicBezTo>
                      <a:pt x="21" y="14"/>
                      <a:pt x="25" y="16"/>
                      <a:pt x="26" y="17"/>
                    </a:cubicBezTo>
                    <a:cubicBezTo>
                      <a:pt x="28" y="18"/>
                      <a:pt x="31" y="17"/>
                      <a:pt x="33" y="17"/>
                    </a:cubicBezTo>
                    <a:cubicBezTo>
                      <a:pt x="34" y="17"/>
                      <a:pt x="39" y="16"/>
                      <a:pt x="45" y="15"/>
                    </a:cubicBezTo>
                    <a:cubicBezTo>
                      <a:pt x="51" y="14"/>
                      <a:pt x="55" y="11"/>
                      <a:pt x="57" y="9"/>
                    </a:cubicBezTo>
                    <a:cubicBezTo>
                      <a:pt x="58" y="8"/>
                      <a:pt x="57" y="8"/>
                      <a:pt x="57" y="8"/>
                    </a:cubicBezTo>
                    <a:cubicBezTo>
                      <a:pt x="57" y="8"/>
                      <a:pt x="51" y="4"/>
                      <a:pt x="50" y="3"/>
                    </a:cubicBezTo>
                    <a:cubicBezTo>
                      <a:pt x="49" y="2"/>
                      <a:pt x="47" y="1"/>
                      <a:pt x="47" y="1"/>
                    </a:cubicBezTo>
                    <a:cubicBezTo>
                      <a:pt x="46" y="0"/>
                      <a:pt x="44" y="0"/>
                      <a:pt x="43" y="0"/>
                    </a:cubicBezTo>
                    <a:cubicBezTo>
                      <a:pt x="42" y="0"/>
                      <a:pt x="26" y="0"/>
                      <a:pt x="23" y="0"/>
                    </a:cubicBezTo>
                    <a:cubicBezTo>
                      <a:pt x="21" y="0"/>
                      <a:pt x="18" y="1"/>
                      <a:pt x="18" y="1"/>
                    </a:cubicBezTo>
                    <a:cubicBezTo>
                      <a:pt x="18" y="2"/>
                      <a:pt x="4" y="9"/>
                      <a:pt x="2" y="10"/>
                    </a:cubicBezTo>
                    <a:cubicBezTo>
                      <a:pt x="1" y="11"/>
                      <a:pt x="0" y="15"/>
                      <a:pt x="1" y="16"/>
                    </a:cubicBezTo>
                    <a:cubicBezTo>
                      <a:pt x="2" y="17"/>
                      <a:pt x="2" y="17"/>
                      <a:pt x="2" y="1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28" name="Freeform 638">
                <a:extLst>
                  <a:ext uri="{FF2B5EF4-FFF2-40B4-BE49-F238E27FC236}">
                    <a16:creationId xmlns:a16="http://schemas.microsoft.com/office/drawing/2014/main" id="{31363AC1-0846-4CE8-9383-141539EEA608}"/>
                  </a:ext>
                </a:extLst>
              </p:cNvPr>
              <p:cNvSpPr>
                <a:spLocks/>
              </p:cNvSpPr>
              <p:nvPr/>
            </p:nvSpPr>
            <p:spPr bwMode="auto">
              <a:xfrm>
                <a:off x="7369" y="1164"/>
                <a:ext cx="65" cy="29"/>
              </a:xfrm>
              <a:custGeom>
                <a:avLst/>
                <a:gdLst>
                  <a:gd name="T0" fmla="*/ 46 w 47"/>
                  <a:gd name="T1" fmla="*/ 14 h 21"/>
                  <a:gd name="T2" fmla="*/ 45 w 47"/>
                  <a:gd name="T3" fmla="*/ 12 h 21"/>
                  <a:gd name="T4" fmla="*/ 26 w 47"/>
                  <a:gd name="T5" fmla="*/ 5 h 21"/>
                  <a:gd name="T6" fmla="*/ 16 w 47"/>
                  <a:gd name="T7" fmla="*/ 6 h 21"/>
                  <a:gd name="T8" fmla="*/ 7 w 47"/>
                  <a:gd name="T9" fmla="*/ 5 h 21"/>
                  <a:gd name="T10" fmla="*/ 3 w 47"/>
                  <a:gd name="T11" fmla="*/ 2 h 21"/>
                  <a:gd name="T12" fmla="*/ 1 w 47"/>
                  <a:gd name="T13" fmla="*/ 2 h 21"/>
                  <a:gd name="T14" fmla="*/ 0 w 47"/>
                  <a:gd name="T15" fmla="*/ 6 h 21"/>
                  <a:gd name="T16" fmla="*/ 1 w 47"/>
                  <a:gd name="T17" fmla="*/ 10 h 21"/>
                  <a:gd name="T18" fmla="*/ 6 w 47"/>
                  <a:gd name="T19" fmla="*/ 11 h 21"/>
                  <a:gd name="T20" fmla="*/ 11 w 47"/>
                  <a:gd name="T21" fmla="*/ 10 h 21"/>
                  <a:gd name="T22" fmla="*/ 20 w 47"/>
                  <a:gd name="T23" fmla="*/ 12 h 21"/>
                  <a:gd name="T24" fmla="*/ 14 w 47"/>
                  <a:gd name="T25" fmla="*/ 10 h 21"/>
                  <a:gd name="T26" fmla="*/ 15 w 47"/>
                  <a:gd name="T27" fmla="*/ 9 h 21"/>
                  <a:gd name="T28" fmla="*/ 23 w 47"/>
                  <a:gd name="T29" fmla="*/ 13 h 21"/>
                  <a:gd name="T30" fmla="*/ 24 w 47"/>
                  <a:gd name="T31" fmla="*/ 14 h 21"/>
                  <a:gd name="T32" fmla="*/ 25 w 47"/>
                  <a:gd name="T33" fmla="*/ 15 h 21"/>
                  <a:gd name="T34" fmla="*/ 30 w 47"/>
                  <a:gd name="T35" fmla="*/ 17 h 21"/>
                  <a:gd name="T36" fmla="*/ 31 w 47"/>
                  <a:gd name="T37" fmla="*/ 20 h 21"/>
                  <a:gd name="T38" fmla="*/ 33 w 47"/>
                  <a:gd name="T39" fmla="*/ 20 h 21"/>
                  <a:gd name="T40" fmla="*/ 35 w 47"/>
                  <a:gd name="T41" fmla="*/ 17 h 21"/>
                  <a:gd name="T42" fmla="*/ 41 w 47"/>
                  <a:gd name="T43" fmla="*/ 15 h 21"/>
                  <a:gd name="T44" fmla="*/ 46 w 47"/>
                  <a:gd name="T45"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7" h="21">
                    <a:moveTo>
                      <a:pt x="46" y="14"/>
                    </a:moveTo>
                    <a:cubicBezTo>
                      <a:pt x="47" y="13"/>
                      <a:pt x="45" y="12"/>
                      <a:pt x="45" y="12"/>
                    </a:cubicBezTo>
                    <a:cubicBezTo>
                      <a:pt x="45" y="12"/>
                      <a:pt x="31" y="6"/>
                      <a:pt x="26" y="5"/>
                    </a:cubicBezTo>
                    <a:cubicBezTo>
                      <a:pt x="21" y="3"/>
                      <a:pt x="17" y="5"/>
                      <a:pt x="16" y="6"/>
                    </a:cubicBezTo>
                    <a:cubicBezTo>
                      <a:pt x="15" y="6"/>
                      <a:pt x="8" y="6"/>
                      <a:pt x="7" y="5"/>
                    </a:cubicBezTo>
                    <a:cubicBezTo>
                      <a:pt x="5" y="5"/>
                      <a:pt x="4" y="5"/>
                      <a:pt x="3" y="2"/>
                    </a:cubicBezTo>
                    <a:cubicBezTo>
                      <a:pt x="1" y="0"/>
                      <a:pt x="1" y="2"/>
                      <a:pt x="1" y="2"/>
                    </a:cubicBezTo>
                    <a:cubicBezTo>
                      <a:pt x="2" y="3"/>
                      <a:pt x="1" y="4"/>
                      <a:pt x="0" y="6"/>
                    </a:cubicBezTo>
                    <a:cubicBezTo>
                      <a:pt x="0" y="7"/>
                      <a:pt x="0" y="8"/>
                      <a:pt x="1" y="10"/>
                    </a:cubicBezTo>
                    <a:cubicBezTo>
                      <a:pt x="2" y="13"/>
                      <a:pt x="5" y="11"/>
                      <a:pt x="6" y="11"/>
                    </a:cubicBezTo>
                    <a:cubicBezTo>
                      <a:pt x="7" y="11"/>
                      <a:pt x="9" y="10"/>
                      <a:pt x="11" y="10"/>
                    </a:cubicBezTo>
                    <a:cubicBezTo>
                      <a:pt x="13" y="10"/>
                      <a:pt x="16" y="11"/>
                      <a:pt x="20" y="12"/>
                    </a:cubicBezTo>
                    <a:cubicBezTo>
                      <a:pt x="23" y="13"/>
                      <a:pt x="16" y="10"/>
                      <a:pt x="14" y="10"/>
                    </a:cubicBezTo>
                    <a:cubicBezTo>
                      <a:pt x="11" y="9"/>
                      <a:pt x="14" y="9"/>
                      <a:pt x="15" y="9"/>
                    </a:cubicBezTo>
                    <a:cubicBezTo>
                      <a:pt x="16" y="9"/>
                      <a:pt x="22" y="12"/>
                      <a:pt x="23" y="13"/>
                    </a:cubicBezTo>
                    <a:cubicBezTo>
                      <a:pt x="23" y="13"/>
                      <a:pt x="24" y="13"/>
                      <a:pt x="24" y="14"/>
                    </a:cubicBezTo>
                    <a:cubicBezTo>
                      <a:pt x="24" y="15"/>
                      <a:pt x="24" y="15"/>
                      <a:pt x="25" y="15"/>
                    </a:cubicBezTo>
                    <a:cubicBezTo>
                      <a:pt x="26" y="15"/>
                      <a:pt x="29" y="17"/>
                      <a:pt x="30" y="17"/>
                    </a:cubicBezTo>
                    <a:cubicBezTo>
                      <a:pt x="31" y="18"/>
                      <a:pt x="32" y="19"/>
                      <a:pt x="31" y="20"/>
                    </a:cubicBezTo>
                    <a:cubicBezTo>
                      <a:pt x="30" y="21"/>
                      <a:pt x="32" y="20"/>
                      <a:pt x="33" y="20"/>
                    </a:cubicBezTo>
                    <a:cubicBezTo>
                      <a:pt x="34" y="20"/>
                      <a:pt x="34" y="19"/>
                      <a:pt x="35" y="17"/>
                    </a:cubicBezTo>
                    <a:cubicBezTo>
                      <a:pt x="37" y="16"/>
                      <a:pt x="39" y="15"/>
                      <a:pt x="41" y="15"/>
                    </a:cubicBezTo>
                    <a:cubicBezTo>
                      <a:pt x="43" y="16"/>
                      <a:pt x="45" y="15"/>
                      <a:pt x="46" y="1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29" name="Freeform 639">
                <a:extLst>
                  <a:ext uri="{FF2B5EF4-FFF2-40B4-BE49-F238E27FC236}">
                    <a16:creationId xmlns:a16="http://schemas.microsoft.com/office/drawing/2014/main" id="{5A4E9F00-054E-43B0-97D9-D144E5DEDE6F}"/>
                  </a:ext>
                </a:extLst>
              </p:cNvPr>
              <p:cNvSpPr>
                <a:spLocks/>
              </p:cNvSpPr>
              <p:nvPr/>
            </p:nvSpPr>
            <p:spPr bwMode="auto">
              <a:xfrm>
                <a:off x="6859" y="1307"/>
                <a:ext cx="30" cy="23"/>
              </a:xfrm>
              <a:custGeom>
                <a:avLst/>
                <a:gdLst>
                  <a:gd name="T0" fmla="*/ 20 w 22"/>
                  <a:gd name="T1" fmla="*/ 8 h 17"/>
                  <a:gd name="T2" fmla="*/ 19 w 22"/>
                  <a:gd name="T3" fmla="*/ 2 h 17"/>
                  <a:gd name="T4" fmla="*/ 15 w 22"/>
                  <a:gd name="T5" fmla="*/ 3 h 17"/>
                  <a:gd name="T6" fmla="*/ 9 w 22"/>
                  <a:gd name="T7" fmla="*/ 5 h 17"/>
                  <a:gd name="T8" fmla="*/ 7 w 22"/>
                  <a:gd name="T9" fmla="*/ 6 h 17"/>
                  <a:gd name="T10" fmla="*/ 8 w 22"/>
                  <a:gd name="T11" fmla="*/ 6 h 17"/>
                  <a:gd name="T12" fmla="*/ 5 w 22"/>
                  <a:gd name="T13" fmla="*/ 11 h 17"/>
                  <a:gd name="T14" fmla="*/ 2 w 22"/>
                  <a:gd name="T15" fmla="*/ 15 h 17"/>
                  <a:gd name="T16" fmla="*/ 2 w 22"/>
                  <a:gd name="T17" fmla="*/ 16 h 17"/>
                  <a:gd name="T18" fmla="*/ 4 w 22"/>
                  <a:gd name="T19" fmla="*/ 16 h 17"/>
                  <a:gd name="T20" fmla="*/ 11 w 22"/>
                  <a:gd name="T21" fmla="*/ 13 h 17"/>
                  <a:gd name="T22" fmla="*/ 20 w 22"/>
                  <a:gd name="T23"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17">
                    <a:moveTo>
                      <a:pt x="20" y="8"/>
                    </a:moveTo>
                    <a:cubicBezTo>
                      <a:pt x="22" y="7"/>
                      <a:pt x="20" y="3"/>
                      <a:pt x="19" y="2"/>
                    </a:cubicBezTo>
                    <a:cubicBezTo>
                      <a:pt x="18" y="0"/>
                      <a:pt x="16" y="2"/>
                      <a:pt x="15" y="3"/>
                    </a:cubicBezTo>
                    <a:cubicBezTo>
                      <a:pt x="14" y="4"/>
                      <a:pt x="12" y="4"/>
                      <a:pt x="9" y="5"/>
                    </a:cubicBezTo>
                    <a:cubicBezTo>
                      <a:pt x="6" y="5"/>
                      <a:pt x="6" y="6"/>
                      <a:pt x="7" y="6"/>
                    </a:cubicBezTo>
                    <a:cubicBezTo>
                      <a:pt x="7" y="6"/>
                      <a:pt x="9" y="6"/>
                      <a:pt x="8" y="6"/>
                    </a:cubicBezTo>
                    <a:cubicBezTo>
                      <a:pt x="7" y="7"/>
                      <a:pt x="6" y="10"/>
                      <a:pt x="5" y="11"/>
                    </a:cubicBezTo>
                    <a:cubicBezTo>
                      <a:pt x="4" y="13"/>
                      <a:pt x="4" y="14"/>
                      <a:pt x="2" y="15"/>
                    </a:cubicBezTo>
                    <a:cubicBezTo>
                      <a:pt x="0" y="15"/>
                      <a:pt x="2" y="16"/>
                      <a:pt x="2" y="16"/>
                    </a:cubicBezTo>
                    <a:cubicBezTo>
                      <a:pt x="2" y="17"/>
                      <a:pt x="3" y="17"/>
                      <a:pt x="4" y="16"/>
                    </a:cubicBezTo>
                    <a:cubicBezTo>
                      <a:pt x="5" y="16"/>
                      <a:pt x="10" y="13"/>
                      <a:pt x="11" y="13"/>
                    </a:cubicBezTo>
                    <a:cubicBezTo>
                      <a:pt x="12" y="12"/>
                      <a:pt x="18" y="9"/>
                      <a:pt x="20"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30" name="Freeform 640">
                <a:extLst>
                  <a:ext uri="{FF2B5EF4-FFF2-40B4-BE49-F238E27FC236}">
                    <a16:creationId xmlns:a16="http://schemas.microsoft.com/office/drawing/2014/main" id="{C6A6C215-763F-4FF4-BD07-9885281E6C1D}"/>
                  </a:ext>
                </a:extLst>
              </p:cNvPr>
              <p:cNvSpPr>
                <a:spLocks/>
              </p:cNvSpPr>
              <p:nvPr/>
            </p:nvSpPr>
            <p:spPr bwMode="auto">
              <a:xfrm>
                <a:off x="6907" y="1421"/>
                <a:ext cx="21" cy="19"/>
              </a:xfrm>
              <a:custGeom>
                <a:avLst/>
                <a:gdLst>
                  <a:gd name="T0" fmla="*/ 12 w 15"/>
                  <a:gd name="T1" fmla="*/ 9 h 14"/>
                  <a:gd name="T2" fmla="*/ 8 w 15"/>
                  <a:gd name="T3" fmla="*/ 2 h 14"/>
                  <a:gd name="T4" fmla="*/ 5 w 15"/>
                  <a:gd name="T5" fmla="*/ 1 h 14"/>
                  <a:gd name="T6" fmla="*/ 3 w 15"/>
                  <a:gd name="T7" fmla="*/ 2 h 14"/>
                  <a:gd name="T8" fmla="*/ 6 w 15"/>
                  <a:gd name="T9" fmla="*/ 6 h 14"/>
                  <a:gd name="T10" fmla="*/ 13 w 15"/>
                  <a:gd name="T11" fmla="*/ 13 h 14"/>
                  <a:gd name="T12" fmla="*/ 15 w 15"/>
                  <a:gd name="T13" fmla="*/ 13 h 14"/>
                  <a:gd name="T14" fmla="*/ 12 w 15"/>
                  <a:gd name="T15" fmla="*/ 9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4">
                    <a:moveTo>
                      <a:pt x="12" y="9"/>
                    </a:moveTo>
                    <a:cubicBezTo>
                      <a:pt x="10" y="8"/>
                      <a:pt x="9" y="4"/>
                      <a:pt x="8" y="2"/>
                    </a:cubicBezTo>
                    <a:cubicBezTo>
                      <a:pt x="8" y="1"/>
                      <a:pt x="9" y="0"/>
                      <a:pt x="5" y="1"/>
                    </a:cubicBezTo>
                    <a:cubicBezTo>
                      <a:pt x="0" y="2"/>
                      <a:pt x="3" y="2"/>
                      <a:pt x="3" y="2"/>
                    </a:cubicBezTo>
                    <a:cubicBezTo>
                      <a:pt x="4" y="2"/>
                      <a:pt x="4" y="3"/>
                      <a:pt x="6" y="6"/>
                    </a:cubicBezTo>
                    <a:cubicBezTo>
                      <a:pt x="7" y="9"/>
                      <a:pt x="12" y="11"/>
                      <a:pt x="13" y="13"/>
                    </a:cubicBezTo>
                    <a:cubicBezTo>
                      <a:pt x="15" y="14"/>
                      <a:pt x="15" y="14"/>
                      <a:pt x="15" y="13"/>
                    </a:cubicBezTo>
                    <a:cubicBezTo>
                      <a:pt x="15" y="12"/>
                      <a:pt x="14" y="10"/>
                      <a:pt x="12"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31" name="Freeform 641">
                <a:extLst>
                  <a:ext uri="{FF2B5EF4-FFF2-40B4-BE49-F238E27FC236}">
                    <a16:creationId xmlns:a16="http://schemas.microsoft.com/office/drawing/2014/main" id="{31509A36-3B8B-43A5-87E3-3294D4E8AC35}"/>
                  </a:ext>
                </a:extLst>
              </p:cNvPr>
              <p:cNvSpPr>
                <a:spLocks/>
              </p:cNvSpPr>
              <p:nvPr/>
            </p:nvSpPr>
            <p:spPr bwMode="auto">
              <a:xfrm>
                <a:off x="7411" y="1384"/>
                <a:ext cx="7" cy="4"/>
              </a:xfrm>
              <a:custGeom>
                <a:avLst/>
                <a:gdLst>
                  <a:gd name="T0" fmla="*/ 3 w 5"/>
                  <a:gd name="T1" fmla="*/ 1 h 3"/>
                  <a:gd name="T2" fmla="*/ 2 w 5"/>
                  <a:gd name="T3" fmla="*/ 2 h 3"/>
                  <a:gd name="T4" fmla="*/ 4 w 5"/>
                  <a:gd name="T5" fmla="*/ 2 h 3"/>
                  <a:gd name="T6" fmla="*/ 3 w 5"/>
                  <a:gd name="T7" fmla="*/ 1 h 3"/>
                </a:gdLst>
                <a:ahLst/>
                <a:cxnLst>
                  <a:cxn ang="0">
                    <a:pos x="T0" y="T1"/>
                  </a:cxn>
                  <a:cxn ang="0">
                    <a:pos x="T2" y="T3"/>
                  </a:cxn>
                  <a:cxn ang="0">
                    <a:pos x="T4" y="T5"/>
                  </a:cxn>
                  <a:cxn ang="0">
                    <a:pos x="T6" y="T7"/>
                  </a:cxn>
                </a:cxnLst>
                <a:rect l="0" t="0" r="r" b="b"/>
                <a:pathLst>
                  <a:path w="5" h="3">
                    <a:moveTo>
                      <a:pt x="3" y="1"/>
                    </a:moveTo>
                    <a:cubicBezTo>
                      <a:pt x="2" y="1"/>
                      <a:pt x="0" y="0"/>
                      <a:pt x="2" y="2"/>
                    </a:cubicBezTo>
                    <a:cubicBezTo>
                      <a:pt x="2" y="2"/>
                      <a:pt x="3" y="3"/>
                      <a:pt x="4" y="2"/>
                    </a:cubicBezTo>
                    <a:cubicBezTo>
                      <a:pt x="5" y="2"/>
                      <a:pt x="4" y="1"/>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32" name="Freeform 642">
                <a:extLst>
                  <a:ext uri="{FF2B5EF4-FFF2-40B4-BE49-F238E27FC236}">
                    <a16:creationId xmlns:a16="http://schemas.microsoft.com/office/drawing/2014/main" id="{0799D60F-1762-4372-8A15-8BB26433203A}"/>
                  </a:ext>
                </a:extLst>
              </p:cNvPr>
              <p:cNvSpPr>
                <a:spLocks/>
              </p:cNvSpPr>
              <p:nvPr/>
            </p:nvSpPr>
            <p:spPr bwMode="auto">
              <a:xfrm>
                <a:off x="7398" y="1366"/>
                <a:ext cx="7" cy="5"/>
              </a:xfrm>
              <a:custGeom>
                <a:avLst/>
                <a:gdLst>
                  <a:gd name="T0" fmla="*/ 3 w 5"/>
                  <a:gd name="T1" fmla="*/ 1 h 4"/>
                  <a:gd name="T2" fmla="*/ 1 w 5"/>
                  <a:gd name="T3" fmla="*/ 3 h 4"/>
                  <a:gd name="T4" fmla="*/ 3 w 5"/>
                  <a:gd name="T5" fmla="*/ 2 h 4"/>
                  <a:gd name="T6" fmla="*/ 3 w 5"/>
                  <a:gd name="T7" fmla="*/ 1 h 4"/>
                </a:gdLst>
                <a:ahLst/>
                <a:cxnLst>
                  <a:cxn ang="0">
                    <a:pos x="T0" y="T1"/>
                  </a:cxn>
                  <a:cxn ang="0">
                    <a:pos x="T2" y="T3"/>
                  </a:cxn>
                  <a:cxn ang="0">
                    <a:pos x="T4" y="T5"/>
                  </a:cxn>
                  <a:cxn ang="0">
                    <a:pos x="T6" y="T7"/>
                  </a:cxn>
                </a:cxnLst>
                <a:rect l="0" t="0" r="r" b="b"/>
                <a:pathLst>
                  <a:path w="5" h="4">
                    <a:moveTo>
                      <a:pt x="3" y="1"/>
                    </a:moveTo>
                    <a:cubicBezTo>
                      <a:pt x="2" y="1"/>
                      <a:pt x="0" y="1"/>
                      <a:pt x="1" y="3"/>
                    </a:cubicBezTo>
                    <a:cubicBezTo>
                      <a:pt x="1" y="3"/>
                      <a:pt x="2" y="4"/>
                      <a:pt x="3" y="2"/>
                    </a:cubicBezTo>
                    <a:cubicBezTo>
                      <a:pt x="5" y="1"/>
                      <a:pt x="5" y="0"/>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33" name="Freeform 643">
                <a:extLst>
                  <a:ext uri="{FF2B5EF4-FFF2-40B4-BE49-F238E27FC236}">
                    <a16:creationId xmlns:a16="http://schemas.microsoft.com/office/drawing/2014/main" id="{0482656E-178F-40C6-8F4D-85EFCB0ECAE0}"/>
                  </a:ext>
                </a:extLst>
              </p:cNvPr>
              <p:cNvSpPr>
                <a:spLocks/>
              </p:cNvSpPr>
              <p:nvPr/>
            </p:nvSpPr>
            <p:spPr bwMode="auto">
              <a:xfrm>
                <a:off x="4217" y="1245"/>
                <a:ext cx="15" cy="8"/>
              </a:xfrm>
              <a:custGeom>
                <a:avLst/>
                <a:gdLst>
                  <a:gd name="T0" fmla="*/ 7 w 11"/>
                  <a:gd name="T1" fmla="*/ 6 h 6"/>
                  <a:gd name="T2" fmla="*/ 5 w 11"/>
                  <a:gd name="T3" fmla="*/ 5 h 6"/>
                  <a:gd name="T4" fmla="*/ 2 w 11"/>
                  <a:gd name="T5" fmla="*/ 5 h 6"/>
                  <a:gd name="T6" fmla="*/ 1 w 11"/>
                  <a:gd name="T7" fmla="*/ 3 h 6"/>
                  <a:gd name="T8" fmla="*/ 8 w 11"/>
                  <a:gd name="T9" fmla="*/ 4 h 6"/>
                  <a:gd name="T10" fmla="*/ 7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7" y="6"/>
                    </a:moveTo>
                    <a:cubicBezTo>
                      <a:pt x="6" y="6"/>
                      <a:pt x="5" y="6"/>
                      <a:pt x="5" y="5"/>
                    </a:cubicBezTo>
                    <a:cubicBezTo>
                      <a:pt x="5" y="4"/>
                      <a:pt x="4" y="5"/>
                      <a:pt x="2" y="5"/>
                    </a:cubicBezTo>
                    <a:cubicBezTo>
                      <a:pt x="0" y="5"/>
                      <a:pt x="1" y="3"/>
                      <a:pt x="1" y="3"/>
                    </a:cubicBezTo>
                    <a:cubicBezTo>
                      <a:pt x="2" y="0"/>
                      <a:pt x="5" y="3"/>
                      <a:pt x="8" y="4"/>
                    </a:cubicBezTo>
                    <a:cubicBezTo>
                      <a:pt x="11" y="5"/>
                      <a:pt x="8" y="6"/>
                      <a:pt x="7"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34" name="Freeform 644">
                <a:extLst>
                  <a:ext uri="{FF2B5EF4-FFF2-40B4-BE49-F238E27FC236}">
                    <a16:creationId xmlns:a16="http://schemas.microsoft.com/office/drawing/2014/main" id="{F5B00476-BB24-4A87-9D8D-CCF9F8B2BE78}"/>
                  </a:ext>
                </a:extLst>
              </p:cNvPr>
              <p:cNvSpPr>
                <a:spLocks/>
              </p:cNvSpPr>
              <p:nvPr/>
            </p:nvSpPr>
            <p:spPr bwMode="auto">
              <a:xfrm>
                <a:off x="4706" y="935"/>
                <a:ext cx="41" cy="30"/>
              </a:xfrm>
              <a:custGeom>
                <a:avLst/>
                <a:gdLst>
                  <a:gd name="T0" fmla="*/ 19 w 30"/>
                  <a:gd name="T1" fmla="*/ 21 h 22"/>
                  <a:gd name="T2" fmla="*/ 22 w 30"/>
                  <a:gd name="T3" fmla="*/ 21 h 22"/>
                  <a:gd name="T4" fmla="*/ 24 w 30"/>
                  <a:gd name="T5" fmla="*/ 21 h 22"/>
                  <a:gd name="T6" fmla="*/ 28 w 30"/>
                  <a:gd name="T7" fmla="*/ 20 h 22"/>
                  <a:gd name="T8" fmla="*/ 28 w 30"/>
                  <a:gd name="T9" fmla="*/ 15 h 22"/>
                  <a:gd name="T10" fmla="*/ 27 w 30"/>
                  <a:gd name="T11" fmla="*/ 14 h 22"/>
                  <a:gd name="T12" fmla="*/ 10 w 30"/>
                  <a:gd name="T13" fmla="*/ 2 h 22"/>
                  <a:gd name="T14" fmla="*/ 5 w 30"/>
                  <a:gd name="T15" fmla="*/ 1 h 22"/>
                  <a:gd name="T16" fmla="*/ 1 w 30"/>
                  <a:gd name="T17" fmla="*/ 3 h 22"/>
                  <a:gd name="T18" fmla="*/ 1 w 30"/>
                  <a:gd name="T19" fmla="*/ 5 h 22"/>
                  <a:gd name="T20" fmla="*/ 2 w 30"/>
                  <a:gd name="T21" fmla="*/ 7 h 22"/>
                  <a:gd name="T22" fmla="*/ 0 w 30"/>
                  <a:gd name="T23" fmla="*/ 8 h 22"/>
                  <a:gd name="T24" fmla="*/ 7 w 30"/>
                  <a:gd name="T25" fmla="*/ 16 h 22"/>
                  <a:gd name="T26" fmla="*/ 7 w 30"/>
                  <a:gd name="T27" fmla="*/ 15 h 22"/>
                  <a:gd name="T28" fmla="*/ 15 w 30"/>
                  <a:gd name="T29" fmla="*/ 17 h 22"/>
                  <a:gd name="T30" fmla="*/ 16 w 30"/>
                  <a:gd name="T31" fmla="*/ 19 h 22"/>
                  <a:gd name="T32" fmla="*/ 19 w 30"/>
                  <a:gd name="T33" fmla="*/ 2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 h="22">
                    <a:moveTo>
                      <a:pt x="19" y="21"/>
                    </a:moveTo>
                    <a:cubicBezTo>
                      <a:pt x="21" y="21"/>
                      <a:pt x="21" y="21"/>
                      <a:pt x="22" y="21"/>
                    </a:cubicBezTo>
                    <a:cubicBezTo>
                      <a:pt x="23" y="20"/>
                      <a:pt x="23" y="20"/>
                      <a:pt x="24" y="21"/>
                    </a:cubicBezTo>
                    <a:cubicBezTo>
                      <a:pt x="26" y="22"/>
                      <a:pt x="26" y="20"/>
                      <a:pt x="28" y="20"/>
                    </a:cubicBezTo>
                    <a:cubicBezTo>
                      <a:pt x="30" y="20"/>
                      <a:pt x="28" y="17"/>
                      <a:pt x="28" y="15"/>
                    </a:cubicBezTo>
                    <a:cubicBezTo>
                      <a:pt x="27" y="14"/>
                      <a:pt x="27" y="14"/>
                      <a:pt x="27" y="14"/>
                    </a:cubicBezTo>
                    <a:cubicBezTo>
                      <a:pt x="27" y="14"/>
                      <a:pt x="12" y="4"/>
                      <a:pt x="10" y="2"/>
                    </a:cubicBezTo>
                    <a:cubicBezTo>
                      <a:pt x="8" y="0"/>
                      <a:pt x="7" y="0"/>
                      <a:pt x="5" y="1"/>
                    </a:cubicBezTo>
                    <a:cubicBezTo>
                      <a:pt x="4" y="1"/>
                      <a:pt x="3" y="2"/>
                      <a:pt x="1" y="3"/>
                    </a:cubicBezTo>
                    <a:cubicBezTo>
                      <a:pt x="0" y="4"/>
                      <a:pt x="0" y="4"/>
                      <a:pt x="1" y="5"/>
                    </a:cubicBezTo>
                    <a:cubicBezTo>
                      <a:pt x="3" y="6"/>
                      <a:pt x="4" y="8"/>
                      <a:pt x="2" y="7"/>
                    </a:cubicBezTo>
                    <a:cubicBezTo>
                      <a:pt x="0" y="6"/>
                      <a:pt x="1" y="7"/>
                      <a:pt x="0" y="8"/>
                    </a:cubicBezTo>
                    <a:cubicBezTo>
                      <a:pt x="0" y="10"/>
                      <a:pt x="5" y="15"/>
                      <a:pt x="7" y="16"/>
                    </a:cubicBezTo>
                    <a:cubicBezTo>
                      <a:pt x="9" y="17"/>
                      <a:pt x="7" y="15"/>
                      <a:pt x="7" y="15"/>
                    </a:cubicBezTo>
                    <a:cubicBezTo>
                      <a:pt x="6" y="13"/>
                      <a:pt x="13" y="17"/>
                      <a:pt x="15" y="17"/>
                    </a:cubicBezTo>
                    <a:cubicBezTo>
                      <a:pt x="16" y="17"/>
                      <a:pt x="16" y="17"/>
                      <a:pt x="16" y="19"/>
                    </a:cubicBezTo>
                    <a:cubicBezTo>
                      <a:pt x="15" y="21"/>
                      <a:pt x="18" y="21"/>
                      <a:pt x="19" y="2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35" name="Freeform 645">
                <a:extLst>
                  <a:ext uri="{FF2B5EF4-FFF2-40B4-BE49-F238E27FC236}">
                    <a16:creationId xmlns:a16="http://schemas.microsoft.com/office/drawing/2014/main" id="{58FC2F5A-E084-4F05-BD3A-7683F81508C9}"/>
                  </a:ext>
                </a:extLst>
              </p:cNvPr>
              <p:cNvSpPr>
                <a:spLocks/>
              </p:cNvSpPr>
              <p:nvPr/>
            </p:nvSpPr>
            <p:spPr bwMode="auto">
              <a:xfrm>
                <a:off x="4494" y="971"/>
                <a:ext cx="44" cy="27"/>
              </a:xfrm>
              <a:custGeom>
                <a:avLst/>
                <a:gdLst>
                  <a:gd name="T0" fmla="*/ 31 w 32"/>
                  <a:gd name="T1" fmla="*/ 10 h 20"/>
                  <a:gd name="T2" fmla="*/ 27 w 32"/>
                  <a:gd name="T3" fmla="*/ 5 h 20"/>
                  <a:gd name="T4" fmla="*/ 16 w 32"/>
                  <a:gd name="T5" fmla="*/ 0 h 20"/>
                  <a:gd name="T6" fmla="*/ 6 w 32"/>
                  <a:gd name="T7" fmla="*/ 2 h 20"/>
                  <a:gd name="T8" fmla="*/ 1 w 32"/>
                  <a:gd name="T9" fmla="*/ 9 h 20"/>
                  <a:gd name="T10" fmla="*/ 0 w 32"/>
                  <a:gd name="T11" fmla="*/ 14 h 20"/>
                  <a:gd name="T12" fmla="*/ 6 w 32"/>
                  <a:gd name="T13" fmla="*/ 19 h 20"/>
                  <a:gd name="T14" fmla="*/ 10 w 32"/>
                  <a:gd name="T15" fmla="*/ 20 h 20"/>
                  <a:gd name="T16" fmla="*/ 25 w 32"/>
                  <a:gd name="T17" fmla="*/ 14 h 20"/>
                  <a:gd name="T18" fmla="*/ 28 w 32"/>
                  <a:gd name="T19" fmla="*/ 10 h 20"/>
                  <a:gd name="T20" fmla="*/ 29 w 32"/>
                  <a:gd name="T21" fmla="*/ 11 h 20"/>
                  <a:gd name="T22" fmla="*/ 31 w 32"/>
                  <a:gd name="T23"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20">
                    <a:moveTo>
                      <a:pt x="31" y="10"/>
                    </a:moveTo>
                    <a:cubicBezTo>
                      <a:pt x="32" y="8"/>
                      <a:pt x="30" y="6"/>
                      <a:pt x="27" y="5"/>
                    </a:cubicBezTo>
                    <a:cubicBezTo>
                      <a:pt x="25" y="4"/>
                      <a:pt x="18" y="1"/>
                      <a:pt x="16" y="0"/>
                    </a:cubicBezTo>
                    <a:cubicBezTo>
                      <a:pt x="14" y="0"/>
                      <a:pt x="10" y="0"/>
                      <a:pt x="6" y="2"/>
                    </a:cubicBezTo>
                    <a:cubicBezTo>
                      <a:pt x="1" y="5"/>
                      <a:pt x="1" y="9"/>
                      <a:pt x="1" y="9"/>
                    </a:cubicBezTo>
                    <a:cubicBezTo>
                      <a:pt x="1" y="9"/>
                      <a:pt x="0" y="10"/>
                      <a:pt x="0" y="14"/>
                    </a:cubicBezTo>
                    <a:cubicBezTo>
                      <a:pt x="1" y="18"/>
                      <a:pt x="5" y="19"/>
                      <a:pt x="6" y="19"/>
                    </a:cubicBezTo>
                    <a:cubicBezTo>
                      <a:pt x="7" y="20"/>
                      <a:pt x="8" y="20"/>
                      <a:pt x="10" y="20"/>
                    </a:cubicBezTo>
                    <a:cubicBezTo>
                      <a:pt x="13" y="19"/>
                      <a:pt x="23" y="15"/>
                      <a:pt x="25" y="14"/>
                    </a:cubicBezTo>
                    <a:cubicBezTo>
                      <a:pt x="26" y="12"/>
                      <a:pt x="27" y="10"/>
                      <a:pt x="28" y="10"/>
                    </a:cubicBezTo>
                    <a:cubicBezTo>
                      <a:pt x="29" y="9"/>
                      <a:pt x="30" y="8"/>
                      <a:pt x="29" y="11"/>
                    </a:cubicBezTo>
                    <a:cubicBezTo>
                      <a:pt x="28" y="14"/>
                      <a:pt x="30" y="12"/>
                      <a:pt x="31"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36" name="Freeform 646">
                <a:extLst>
                  <a:ext uri="{FF2B5EF4-FFF2-40B4-BE49-F238E27FC236}">
                    <a16:creationId xmlns:a16="http://schemas.microsoft.com/office/drawing/2014/main" id="{80FD0A85-2DF8-4255-A70F-CF41AD543C66}"/>
                  </a:ext>
                </a:extLst>
              </p:cNvPr>
              <p:cNvSpPr>
                <a:spLocks/>
              </p:cNvSpPr>
              <p:nvPr/>
            </p:nvSpPr>
            <p:spPr bwMode="auto">
              <a:xfrm>
                <a:off x="5249" y="768"/>
                <a:ext cx="16" cy="4"/>
              </a:xfrm>
              <a:custGeom>
                <a:avLst/>
                <a:gdLst>
                  <a:gd name="T0" fmla="*/ 8 w 11"/>
                  <a:gd name="T1" fmla="*/ 2 h 3"/>
                  <a:gd name="T2" fmla="*/ 9 w 11"/>
                  <a:gd name="T3" fmla="*/ 1 h 3"/>
                  <a:gd name="T4" fmla="*/ 4 w 11"/>
                  <a:gd name="T5" fmla="*/ 1 h 3"/>
                  <a:gd name="T6" fmla="*/ 4 w 11"/>
                  <a:gd name="T7" fmla="*/ 2 h 3"/>
                  <a:gd name="T8" fmla="*/ 8 w 11"/>
                  <a:gd name="T9" fmla="*/ 2 h 3"/>
                </a:gdLst>
                <a:ahLst/>
                <a:cxnLst>
                  <a:cxn ang="0">
                    <a:pos x="T0" y="T1"/>
                  </a:cxn>
                  <a:cxn ang="0">
                    <a:pos x="T2" y="T3"/>
                  </a:cxn>
                  <a:cxn ang="0">
                    <a:pos x="T4" y="T5"/>
                  </a:cxn>
                  <a:cxn ang="0">
                    <a:pos x="T6" y="T7"/>
                  </a:cxn>
                  <a:cxn ang="0">
                    <a:pos x="T8" y="T9"/>
                  </a:cxn>
                </a:cxnLst>
                <a:rect l="0" t="0" r="r" b="b"/>
                <a:pathLst>
                  <a:path w="11" h="3">
                    <a:moveTo>
                      <a:pt x="8" y="2"/>
                    </a:moveTo>
                    <a:cubicBezTo>
                      <a:pt x="11" y="2"/>
                      <a:pt x="10" y="1"/>
                      <a:pt x="9" y="1"/>
                    </a:cubicBezTo>
                    <a:cubicBezTo>
                      <a:pt x="8" y="0"/>
                      <a:pt x="8" y="0"/>
                      <a:pt x="4" y="1"/>
                    </a:cubicBezTo>
                    <a:cubicBezTo>
                      <a:pt x="0" y="2"/>
                      <a:pt x="4" y="2"/>
                      <a:pt x="4" y="2"/>
                    </a:cubicBezTo>
                    <a:cubicBezTo>
                      <a:pt x="4" y="2"/>
                      <a:pt x="6" y="3"/>
                      <a:pt x="8"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37" name="Freeform 647">
                <a:extLst>
                  <a:ext uri="{FF2B5EF4-FFF2-40B4-BE49-F238E27FC236}">
                    <a16:creationId xmlns:a16="http://schemas.microsoft.com/office/drawing/2014/main" id="{8F839922-C8CA-49D1-9FBD-EC747D8D6736}"/>
                  </a:ext>
                </a:extLst>
              </p:cNvPr>
              <p:cNvSpPr>
                <a:spLocks/>
              </p:cNvSpPr>
              <p:nvPr/>
            </p:nvSpPr>
            <p:spPr bwMode="auto">
              <a:xfrm>
                <a:off x="6056" y="802"/>
                <a:ext cx="8" cy="5"/>
              </a:xfrm>
              <a:custGeom>
                <a:avLst/>
                <a:gdLst>
                  <a:gd name="T0" fmla="*/ 2 w 6"/>
                  <a:gd name="T1" fmla="*/ 3 h 4"/>
                  <a:gd name="T2" fmla="*/ 5 w 6"/>
                  <a:gd name="T3" fmla="*/ 3 h 4"/>
                  <a:gd name="T4" fmla="*/ 4 w 6"/>
                  <a:gd name="T5" fmla="*/ 1 h 4"/>
                  <a:gd name="T6" fmla="*/ 2 w 6"/>
                  <a:gd name="T7" fmla="*/ 2 h 4"/>
                  <a:gd name="T8" fmla="*/ 2 w 6"/>
                  <a:gd name="T9" fmla="*/ 3 h 4"/>
                </a:gdLst>
                <a:ahLst/>
                <a:cxnLst>
                  <a:cxn ang="0">
                    <a:pos x="T0" y="T1"/>
                  </a:cxn>
                  <a:cxn ang="0">
                    <a:pos x="T2" y="T3"/>
                  </a:cxn>
                  <a:cxn ang="0">
                    <a:pos x="T4" y="T5"/>
                  </a:cxn>
                  <a:cxn ang="0">
                    <a:pos x="T6" y="T7"/>
                  </a:cxn>
                  <a:cxn ang="0">
                    <a:pos x="T8" y="T9"/>
                  </a:cxn>
                </a:cxnLst>
                <a:rect l="0" t="0" r="r" b="b"/>
                <a:pathLst>
                  <a:path w="6" h="4">
                    <a:moveTo>
                      <a:pt x="2" y="3"/>
                    </a:moveTo>
                    <a:cubicBezTo>
                      <a:pt x="3" y="4"/>
                      <a:pt x="4" y="3"/>
                      <a:pt x="5" y="3"/>
                    </a:cubicBezTo>
                    <a:cubicBezTo>
                      <a:pt x="6" y="2"/>
                      <a:pt x="5" y="1"/>
                      <a:pt x="4" y="1"/>
                    </a:cubicBezTo>
                    <a:cubicBezTo>
                      <a:pt x="4" y="0"/>
                      <a:pt x="3" y="1"/>
                      <a:pt x="2" y="2"/>
                    </a:cubicBezTo>
                    <a:cubicBezTo>
                      <a:pt x="0" y="3"/>
                      <a:pt x="2"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38" name="Freeform 648">
                <a:extLst>
                  <a:ext uri="{FF2B5EF4-FFF2-40B4-BE49-F238E27FC236}">
                    <a16:creationId xmlns:a16="http://schemas.microsoft.com/office/drawing/2014/main" id="{916CDBF1-2BC9-4752-ABF9-38819BB93586}"/>
                  </a:ext>
                </a:extLst>
              </p:cNvPr>
              <p:cNvSpPr>
                <a:spLocks/>
              </p:cNvSpPr>
              <p:nvPr/>
            </p:nvSpPr>
            <p:spPr bwMode="auto">
              <a:xfrm>
                <a:off x="6313" y="895"/>
                <a:ext cx="31" cy="4"/>
              </a:xfrm>
              <a:custGeom>
                <a:avLst/>
                <a:gdLst>
                  <a:gd name="T0" fmla="*/ 5 w 22"/>
                  <a:gd name="T1" fmla="*/ 2 h 3"/>
                  <a:gd name="T2" fmla="*/ 8 w 22"/>
                  <a:gd name="T3" fmla="*/ 1 h 3"/>
                  <a:gd name="T4" fmla="*/ 13 w 22"/>
                  <a:gd name="T5" fmla="*/ 3 h 3"/>
                  <a:gd name="T6" fmla="*/ 11 w 22"/>
                  <a:gd name="T7" fmla="*/ 0 h 3"/>
                  <a:gd name="T8" fmla="*/ 5 w 22"/>
                  <a:gd name="T9" fmla="*/ 2 h 3"/>
                </a:gdLst>
                <a:ahLst/>
                <a:cxnLst>
                  <a:cxn ang="0">
                    <a:pos x="T0" y="T1"/>
                  </a:cxn>
                  <a:cxn ang="0">
                    <a:pos x="T2" y="T3"/>
                  </a:cxn>
                  <a:cxn ang="0">
                    <a:pos x="T4" y="T5"/>
                  </a:cxn>
                  <a:cxn ang="0">
                    <a:pos x="T6" y="T7"/>
                  </a:cxn>
                  <a:cxn ang="0">
                    <a:pos x="T8" y="T9"/>
                  </a:cxn>
                </a:cxnLst>
                <a:rect l="0" t="0" r="r" b="b"/>
                <a:pathLst>
                  <a:path w="22" h="3">
                    <a:moveTo>
                      <a:pt x="5" y="2"/>
                    </a:moveTo>
                    <a:cubicBezTo>
                      <a:pt x="5" y="2"/>
                      <a:pt x="7" y="2"/>
                      <a:pt x="8" y="1"/>
                    </a:cubicBezTo>
                    <a:cubicBezTo>
                      <a:pt x="9" y="1"/>
                      <a:pt x="11" y="3"/>
                      <a:pt x="13" y="3"/>
                    </a:cubicBezTo>
                    <a:cubicBezTo>
                      <a:pt x="14" y="3"/>
                      <a:pt x="22" y="1"/>
                      <a:pt x="11" y="0"/>
                    </a:cubicBezTo>
                    <a:cubicBezTo>
                      <a:pt x="0" y="0"/>
                      <a:pt x="5" y="2"/>
                      <a:pt x="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39" name="Freeform 649">
                <a:extLst>
                  <a:ext uri="{FF2B5EF4-FFF2-40B4-BE49-F238E27FC236}">
                    <a16:creationId xmlns:a16="http://schemas.microsoft.com/office/drawing/2014/main" id="{9412E22B-2669-4216-9A86-406F42BDEB6F}"/>
                  </a:ext>
                </a:extLst>
              </p:cNvPr>
              <p:cNvSpPr>
                <a:spLocks/>
              </p:cNvSpPr>
              <p:nvPr/>
            </p:nvSpPr>
            <p:spPr bwMode="auto">
              <a:xfrm>
                <a:off x="6948" y="952"/>
                <a:ext cx="35" cy="16"/>
              </a:xfrm>
              <a:custGeom>
                <a:avLst/>
                <a:gdLst>
                  <a:gd name="T0" fmla="*/ 3 w 25"/>
                  <a:gd name="T1" fmla="*/ 6 h 12"/>
                  <a:gd name="T2" fmla="*/ 9 w 25"/>
                  <a:gd name="T3" fmla="*/ 9 h 12"/>
                  <a:gd name="T4" fmla="*/ 20 w 25"/>
                  <a:gd name="T5" fmla="*/ 12 h 12"/>
                  <a:gd name="T6" fmla="*/ 24 w 25"/>
                  <a:gd name="T7" fmla="*/ 5 h 12"/>
                  <a:gd name="T8" fmla="*/ 20 w 25"/>
                  <a:gd name="T9" fmla="*/ 3 h 12"/>
                  <a:gd name="T10" fmla="*/ 12 w 25"/>
                  <a:gd name="T11" fmla="*/ 1 h 12"/>
                  <a:gd name="T12" fmla="*/ 2 w 25"/>
                  <a:gd name="T13" fmla="*/ 4 h 12"/>
                  <a:gd name="T14" fmla="*/ 3 w 25"/>
                  <a:gd name="T15" fmla="*/ 6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12">
                    <a:moveTo>
                      <a:pt x="3" y="6"/>
                    </a:moveTo>
                    <a:cubicBezTo>
                      <a:pt x="5" y="7"/>
                      <a:pt x="5" y="7"/>
                      <a:pt x="9" y="9"/>
                    </a:cubicBezTo>
                    <a:cubicBezTo>
                      <a:pt x="12" y="11"/>
                      <a:pt x="15" y="11"/>
                      <a:pt x="20" y="12"/>
                    </a:cubicBezTo>
                    <a:cubicBezTo>
                      <a:pt x="24" y="12"/>
                      <a:pt x="25" y="7"/>
                      <a:pt x="24" y="5"/>
                    </a:cubicBezTo>
                    <a:cubicBezTo>
                      <a:pt x="24" y="2"/>
                      <a:pt x="22" y="3"/>
                      <a:pt x="20" y="3"/>
                    </a:cubicBezTo>
                    <a:cubicBezTo>
                      <a:pt x="18" y="3"/>
                      <a:pt x="16" y="2"/>
                      <a:pt x="12" y="1"/>
                    </a:cubicBezTo>
                    <a:cubicBezTo>
                      <a:pt x="7" y="0"/>
                      <a:pt x="4" y="2"/>
                      <a:pt x="2" y="4"/>
                    </a:cubicBezTo>
                    <a:cubicBezTo>
                      <a:pt x="0" y="6"/>
                      <a:pt x="3" y="6"/>
                      <a:pt x="3"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40" name="Freeform 650">
                <a:extLst>
                  <a:ext uri="{FF2B5EF4-FFF2-40B4-BE49-F238E27FC236}">
                    <a16:creationId xmlns:a16="http://schemas.microsoft.com/office/drawing/2014/main" id="{641BF621-F929-49A9-970C-7A0504BAF1D8}"/>
                  </a:ext>
                </a:extLst>
              </p:cNvPr>
              <p:cNvSpPr>
                <a:spLocks/>
              </p:cNvSpPr>
              <p:nvPr/>
            </p:nvSpPr>
            <p:spPr bwMode="auto">
              <a:xfrm>
                <a:off x="6796" y="920"/>
                <a:ext cx="10" cy="4"/>
              </a:xfrm>
              <a:custGeom>
                <a:avLst/>
                <a:gdLst>
                  <a:gd name="T0" fmla="*/ 3 w 7"/>
                  <a:gd name="T1" fmla="*/ 1 h 3"/>
                  <a:gd name="T2" fmla="*/ 4 w 7"/>
                  <a:gd name="T3" fmla="*/ 0 h 3"/>
                  <a:gd name="T4" fmla="*/ 3 w 7"/>
                  <a:gd name="T5" fmla="*/ 1 h 3"/>
                </a:gdLst>
                <a:ahLst/>
                <a:cxnLst>
                  <a:cxn ang="0">
                    <a:pos x="T0" y="T1"/>
                  </a:cxn>
                  <a:cxn ang="0">
                    <a:pos x="T2" y="T3"/>
                  </a:cxn>
                  <a:cxn ang="0">
                    <a:pos x="T4" y="T5"/>
                  </a:cxn>
                </a:cxnLst>
                <a:rect l="0" t="0" r="r" b="b"/>
                <a:pathLst>
                  <a:path w="7" h="3">
                    <a:moveTo>
                      <a:pt x="3" y="1"/>
                    </a:moveTo>
                    <a:cubicBezTo>
                      <a:pt x="7" y="3"/>
                      <a:pt x="7" y="2"/>
                      <a:pt x="4" y="0"/>
                    </a:cubicBezTo>
                    <a:cubicBezTo>
                      <a:pt x="4" y="0"/>
                      <a:pt x="0" y="0"/>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41" name="Freeform 651">
                <a:extLst>
                  <a:ext uri="{FF2B5EF4-FFF2-40B4-BE49-F238E27FC236}">
                    <a16:creationId xmlns:a16="http://schemas.microsoft.com/office/drawing/2014/main" id="{269BF0CC-CF0D-40CE-8C8C-0FBE945A3A2A}"/>
                  </a:ext>
                </a:extLst>
              </p:cNvPr>
              <p:cNvSpPr>
                <a:spLocks/>
              </p:cNvSpPr>
              <p:nvPr/>
            </p:nvSpPr>
            <p:spPr bwMode="auto">
              <a:xfrm>
                <a:off x="6490" y="1710"/>
                <a:ext cx="25" cy="22"/>
              </a:xfrm>
              <a:custGeom>
                <a:avLst/>
                <a:gdLst>
                  <a:gd name="T0" fmla="*/ 15 w 18"/>
                  <a:gd name="T1" fmla="*/ 1 h 16"/>
                  <a:gd name="T2" fmla="*/ 12 w 18"/>
                  <a:gd name="T3" fmla="*/ 0 h 16"/>
                  <a:gd name="T4" fmla="*/ 10 w 18"/>
                  <a:gd name="T5" fmla="*/ 1 h 16"/>
                  <a:gd name="T6" fmla="*/ 1 w 18"/>
                  <a:gd name="T7" fmla="*/ 11 h 16"/>
                  <a:gd name="T8" fmla="*/ 1 w 18"/>
                  <a:gd name="T9" fmla="*/ 15 h 16"/>
                  <a:gd name="T10" fmla="*/ 3 w 18"/>
                  <a:gd name="T11" fmla="*/ 13 h 16"/>
                  <a:gd name="T12" fmla="*/ 5 w 18"/>
                  <a:gd name="T13" fmla="*/ 11 h 16"/>
                  <a:gd name="T14" fmla="*/ 8 w 18"/>
                  <a:gd name="T15" fmla="*/ 6 h 16"/>
                  <a:gd name="T16" fmla="*/ 11 w 18"/>
                  <a:gd name="T17" fmla="*/ 5 h 16"/>
                  <a:gd name="T18" fmla="*/ 15 w 18"/>
                  <a:gd name="T19" fmla="*/ 2 h 16"/>
                  <a:gd name="T20" fmla="*/ 15 w 18"/>
                  <a:gd name="T21"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16">
                    <a:moveTo>
                      <a:pt x="15" y="1"/>
                    </a:moveTo>
                    <a:cubicBezTo>
                      <a:pt x="14" y="1"/>
                      <a:pt x="13" y="1"/>
                      <a:pt x="12" y="0"/>
                    </a:cubicBezTo>
                    <a:cubicBezTo>
                      <a:pt x="11" y="0"/>
                      <a:pt x="11" y="0"/>
                      <a:pt x="10" y="1"/>
                    </a:cubicBezTo>
                    <a:cubicBezTo>
                      <a:pt x="9" y="2"/>
                      <a:pt x="3" y="9"/>
                      <a:pt x="1" y="11"/>
                    </a:cubicBezTo>
                    <a:cubicBezTo>
                      <a:pt x="0" y="13"/>
                      <a:pt x="1" y="15"/>
                      <a:pt x="1" y="15"/>
                    </a:cubicBezTo>
                    <a:cubicBezTo>
                      <a:pt x="2" y="16"/>
                      <a:pt x="3" y="15"/>
                      <a:pt x="3" y="13"/>
                    </a:cubicBezTo>
                    <a:cubicBezTo>
                      <a:pt x="3" y="12"/>
                      <a:pt x="3" y="11"/>
                      <a:pt x="5" y="11"/>
                    </a:cubicBezTo>
                    <a:cubicBezTo>
                      <a:pt x="6" y="11"/>
                      <a:pt x="8" y="7"/>
                      <a:pt x="8" y="6"/>
                    </a:cubicBezTo>
                    <a:cubicBezTo>
                      <a:pt x="9" y="6"/>
                      <a:pt x="10" y="6"/>
                      <a:pt x="11" y="5"/>
                    </a:cubicBezTo>
                    <a:cubicBezTo>
                      <a:pt x="12" y="4"/>
                      <a:pt x="13" y="4"/>
                      <a:pt x="15" y="2"/>
                    </a:cubicBezTo>
                    <a:cubicBezTo>
                      <a:pt x="18" y="1"/>
                      <a:pt x="16" y="1"/>
                      <a:pt x="1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42" name="Freeform 652">
                <a:extLst>
                  <a:ext uri="{FF2B5EF4-FFF2-40B4-BE49-F238E27FC236}">
                    <a16:creationId xmlns:a16="http://schemas.microsoft.com/office/drawing/2014/main" id="{8F96287C-652D-4729-9DD0-2B174637E0D3}"/>
                  </a:ext>
                </a:extLst>
              </p:cNvPr>
              <p:cNvSpPr>
                <a:spLocks/>
              </p:cNvSpPr>
              <p:nvPr/>
            </p:nvSpPr>
            <p:spPr bwMode="auto">
              <a:xfrm>
                <a:off x="6515" y="1727"/>
                <a:ext cx="6" cy="3"/>
              </a:xfrm>
              <a:custGeom>
                <a:avLst/>
                <a:gdLst>
                  <a:gd name="T0" fmla="*/ 3 w 4"/>
                  <a:gd name="T1" fmla="*/ 0 h 2"/>
                  <a:gd name="T2" fmla="*/ 0 w 4"/>
                  <a:gd name="T3" fmla="*/ 1 h 2"/>
                  <a:gd name="T4" fmla="*/ 3 w 4"/>
                  <a:gd name="T5" fmla="*/ 0 h 2"/>
                </a:gdLst>
                <a:ahLst/>
                <a:cxnLst>
                  <a:cxn ang="0">
                    <a:pos x="T0" y="T1"/>
                  </a:cxn>
                  <a:cxn ang="0">
                    <a:pos x="T2" y="T3"/>
                  </a:cxn>
                  <a:cxn ang="0">
                    <a:pos x="T4" y="T5"/>
                  </a:cxn>
                </a:cxnLst>
                <a:rect l="0" t="0" r="r" b="b"/>
                <a:pathLst>
                  <a:path w="4" h="2">
                    <a:moveTo>
                      <a:pt x="3" y="0"/>
                    </a:moveTo>
                    <a:cubicBezTo>
                      <a:pt x="2" y="0"/>
                      <a:pt x="0" y="1"/>
                      <a:pt x="0" y="1"/>
                    </a:cubicBezTo>
                    <a:cubicBezTo>
                      <a:pt x="1" y="2"/>
                      <a:pt x="4" y="0"/>
                      <a:pt x="3"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43" name="Freeform 653">
                <a:extLst>
                  <a:ext uri="{FF2B5EF4-FFF2-40B4-BE49-F238E27FC236}">
                    <a16:creationId xmlns:a16="http://schemas.microsoft.com/office/drawing/2014/main" id="{7B78725B-58B8-44E7-877D-53922D1D345F}"/>
                  </a:ext>
                </a:extLst>
              </p:cNvPr>
              <p:cNvSpPr>
                <a:spLocks/>
              </p:cNvSpPr>
              <p:nvPr/>
            </p:nvSpPr>
            <p:spPr bwMode="auto">
              <a:xfrm>
                <a:off x="6520" y="1686"/>
                <a:ext cx="41" cy="27"/>
              </a:xfrm>
              <a:custGeom>
                <a:avLst/>
                <a:gdLst>
                  <a:gd name="T0" fmla="*/ 28 w 30"/>
                  <a:gd name="T1" fmla="*/ 1 h 20"/>
                  <a:gd name="T2" fmla="*/ 21 w 30"/>
                  <a:gd name="T3" fmla="*/ 4 h 20"/>
                  <a:gd name="T4" fmla="*/ 17 w 30"/>
                  <a:gd name="T5" fmla="*/ 2 h 20"/>
                  <a:gd name="T6" fmla="*/ 14 w 30"/>
                  <a:gd name="T7" fmla="*/ 5 h 20"/>
                  <a:gd name="T8" fmla="*/ 5 w 30"/>
                  <a:gd name="T9" fmla="*/ 12 h 20"/>
                  <a:gd name="T10" fmla="*/ 3 w 30"/>
                  <a:gd name="T11" fmla="*/ 16 h 20"/>
                  <a:gd name="T12" fmla="*/ 1 w 30"/>
                  <a:gd name="T13" fmla="*/ 20 h 20"/>
                  <a:gd name="T14" fmla="*/ 2 w 30"/>
                  <a:gd name="T15" fmla="*/ 19 h 20"/>
                  <a:gd name="T16" fmla="*/ 5 w 30"/>
                  <a:gd name="T17" fmla="*/ 18 h 20"/>
                  <a:gd name="T18" fmla="*/ 7 w 30"/>
                  <a:gd name="T19" fmla="*/ 16 h 20"/>
                  <a:gd name="T20" fmla="*/ 10 w 30"/>
                  <a:gd name="T21" fmla="*/ 13 h 20"/>
                  <a:gd name="T22" fmla="*/ 12 w 30"/>
                  <a:gd name="T23" fmla="*/ 11 h 20"/>
                  <a:gd name="T24" fmla="*/ 14 w 30"/>
                  <a:gd name="T25" fmla="*/ 10 h 20"/>
                  <a:gd name="T26" fmla="*/ 19 w 30"/>
                  <a:gd name="T27" fmla="*/ 7 h 20"/>
                  <a:gd name="T28" fmla="*/ 28 w 30"/>
                  <a:gd name="T29" fmla="*/ 3 h 20"/>
                  <a:gd name="T30" fmla="*/ 29 w 30"/>
                  <a:gd name="T31" fmla="*/ 1 h 20"/>
                  <a:gd name="T32" fmla="*/ 28 w 30"/>
                  <a:gd name="T33"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 h="20">
                    <a:moveTo>
                      <a:pt x="28" y="1"/>
                    </a:moveTo>
                    <a:cubicBezTo>
                      <a:pt x="27" y="1"/>
                      <a:pt x="23" y="4"/>
                      <a:pt x="21" y="4"/>
                    </a:cubicBezTo>
                    <a:cubicBezTo>
                      <a:pt x="20" y="5"/>
                      <a:pt x="18" y="4"/>
                      <a:pt x="17" y="2"/>
                    </a:cubicBezTo>
                    <a:cubicBezTo>
                      <a:pt x="16" y="1"/>
                      <a:pt x="15" y="4"/>
                      <a:pt x="14" y="5"/>
                    </a:cubicBezTo>
                    <a:cubicBezTo>
                      <a:pt x="13" y="6"/>
                      <a:pt x="7" y="11"/>
                      <a:pt x="5" y="12"/>
                    </a:cubicBezTo>
                    <a:cubicBezTo>
                      <a:pt x="4" y="13"/>
                      <a:pt x="5" y="14"/>
                      <a:pt x="3" y="16"/>
                    </a:cubicBezTo>
                    <a:cubicBezTo>
                      <a:pt x="0" y="17"/>
                      <a:pt x="1" y="20"/>
                      <a:pt x="1" y="20"/>
                    </a:cubicBezTo>
                    <a:cubicBezTo>
                      <a:pt x="1" y="20"/>
                      <a:pt x="2" y="20"/>
                      <a:pt x="2" y="19"/>
                    </a:cubicBezTo>
                    <a:cubicBezTo>
                      <a:pt x="2" y="18"/>
                      <a:pt x="3" y="18"/>
                      <a:pt x="5" y="18"/>
                    </a:cubicBezTo>
                    <a:cubicBezTo>
                      <a:pt x="6" y="18"/>
                      <a:pt x="7" y="17"/>
                      <a:pt x="7" y="16"/>
                    </a:cubicBezTo>
                    <a:cubicBezTo>
                      <a:pt x="7" y="15"/>
                      <a:pt x="8" y="14"/>
                      <a:pt x="10" y="13"/>
                    </a:cubicBezTo>
                    <a:cubicBezTo>
                      <a:pt x="11" y="13"/>
                      <a:pt x="12" y="12"/>
                      <a:pt x="12" y="11"/>
                    </a:cubicBezTo>
                    <a:cubicBezTo>
                      <a:pt x="12" y="10"/>
                      <a:pt x="13" y="9"/>
                      <a:pt x="14" y="10"/>
                    </a:cubicBezTo>
                    <a:cubicBezTo>
                      <a:pt x="16" y="10"/>
                      <a:pt x="17" y="8"/>
                      <a:pt x="19" y="7"/>
                    </a:cubicBezTo>
                    <a:cubicBezTo>
                      <a:pt x="21" y="5"/>
                      <a:pt x="26" y="4"/>
                      <a:pt x="28" y="3"/>
                    </a:cubicBezTo>
                    <a:cubicBezTo>
                      <a:pt x="30" y="3"/>
                      <a:pt x="30" y="2"/>
                      <a:pt x="29" y="1"/>
                    </a:cubicBezTo>
                    <a:cubicBezTo>
                      <a:pt x="29" y="0"/>
                      <a:pt x="29" y="0"/>
                      <a:pt x="28"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44" name="Freeform 654">
                <a:extLst>
                  <a:ext uri="{FF2B5EF4-FFF2-40B4-BE49-F238E27FC236}">
                    <a16:creationId xmlns:a16="http://schemas.microsoft.com/office/drawing/2014/main" id="{82A6CBAE-B504-4C36-9C81-0B71E7A907DB}"/>
                  </a:ext>
                </a:extLst>
              </p:cNvPr>
              <p:cNvSpPr>
                <a:spLocks/>
              </p:cNvSpPr>
              <p:nvPr/>
            </p:nvSpPr>
            <p:spPr bwMode="auto">
              <a:xfrm>
                <a:off x="6573" y="1668"/>
                <a:ext cx="23" cy="16"/>
              </a:xfrm>
              <a:custGeom>
                <a:avLst/>
                <a:gdLst>
                  <a:gd name="T0" fmla="*/ 15 w 16"/>
                  <a:gd name="T1" fmla="*/ 0 h 12"/>
                  <a:gd name="T2" fmla="*/ 12 w 16"/>
                  <a:gd name="T3" fmla="*/ 0 h 12"/>
                  <a:gd name="T4" fmla="*/ 9 w 16"/>
                  <a:gd name="T5" fmla="*/ 2 h 12"/>
                  <a:gd name="T6" fmla="*/ 2 w 16"/>
                  <a:gd name="T7" fmla="*/ 10 h 12"/>
                  <a:gd name="T8" fmla="*/ 1 w 16"/>
                  <a:gd name="T9" fmla="*/ 11 h 12"/>
                  <a:gd name="T10" fmla="*/ 5 w 16"/>
                  <a:gd name="T11" fmla="*/ 9 h 12"/>
                  <a:gd name="T12" fmla="*/ 15 w 16"/>
                  <a:gd name="T13" fmla="*/ 1 h 12"/>
                  <a:gd name="T14" fmla="*/ 15 w 16"/>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2">
                    <a:moveTo>
                      <a:pt x="15" y="0"/>
                    </a:moveTo>
                    <a:cubicBezTo>
                      <a:pt x="14" y="0"/>
                      <a:pt x="13" y="0"/>
                      <a:pt x="12" y="0"/>
                    </a:cubicBezTo>
                    <a:cubicBezTo>
                      <a:pt x="12" y="1"/>
                      <a:pt x="10" y="2"/>
                      <a:pt x="9" y="2"/>
                    </a:cubicBezTo>
                    <a:cubicBezTo>
                      <a:pt x="8" y="2"/>
                      <a:pt x="3" y="8"/>
                      <a:pt x="2" y="10"/>
                    </a:cubicBezTo>
                    <a:cubicBezTo>
                      <a:pt x="0" y="12"/>
                      <a:pt x="1" y="11"/>
                      <a:pt x="1" y="11"/>
                    </a:cubicBezTo>
                    <a:cubicBezTo>
                      <a:pt x="2" y="10"/>
                      <a:pt x="4" y="10"/>
                      <a:pt x="5" y="9"/>
                    </a:cubicBezTo>
                    <a:cubicBezTo>
                      <a:pt x="7" y="8"/>
                      <a:pt x="13" y="3"/>
                      <a:pt x="15" y="1"/>
                    </a:cubicBezTo>
                    <a:cubicBezTo>
                      <a:pt x="16" y="0"/>
                      <a:pt x="16" y="0"/>
                      <a:pt x="15"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45" name="Freeform 655">
                <a:extLst>
                  <a:ext uri="{FF2B5EF4-FFF2-40B4-BE49-F238E27FC236}">
                    <a16:creationId xmlns:a16="http://schemas.microsoft.com/office/drawing/2014/main" id="{CC5320D6-3126-4D57-A3FA-588B9E62B37C}"/>
                  </a:ext>
                </a:extLst>
              </p:cNvPr>
              <p:cNvSpPr>
                <a:spLocks/>
              </p:cNvSpPr>
              <p:nvPr/>
            </p:nvSpPr>
            <p:spPr bwMode="auto">
              <a:xfrm>
                <a:off x="6622" y="1642"/>
                <a:ext cx="11" cy="11"/>
              </a:xfrm>
              <a:custGeom>
                <a:avLst/>
                <a:gdLst>
                  <a:gd name="T0" fmla="*/ 4 w 8"/>
                  <a:gd name="T1" fmla="*/ 3 h 8"/>
                  <a:gd name="T2" fmla="*/ 0 w 8"/>
                  <a:gd name="T3" fmla="*/ 8 h 8"/>
                  <a:gd name="T4" fmla="*/ 4 w 8"/>
                  <a:gd name="T5" fmla="*/ 3 h 8"/>
                </a:gdLst>
                <a:ahLst/>
                <a:cxnLst>
                  <a:cxn ang="0">
                    <a:pos x="T0" y="T1"/>
                  </a:cxn>
                  <a:cxn ang="0">
                    <a:pos x="T2" y="T3"/>
                  </a:cxn>
                  <a:cxn ang="0">
                    <a:pos x="T4" y="T5"/>
                  </a:cxn>
                </a:cxnLst>
                <a:rect l="0" t="0" r="r" b="b"/>
                <a:pathLst>
                  <a:path w="8" h="8">
                    <a:moveTo>
                      <a:pt x="4" y="3"/>
                    </a:moveTo>
                    <a:cubicBezTo>
                      <a:pt x="0" y="6"/>
                      <a:pt x="0" y="8"/>
                      <a:pt x="0" y="8"/>
                    </a:cubicBezTo>
                    <a:cubicBezTo>
                      <a:pt x="2" y="8"/>
                      <a:pt x="8" y="0"/>
                      <a:pt x="4"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46" name="Freeform 656">
                <a:extLst>
                  <a:ext uri="{FF2B5EF4-FFF2-40B4-BE49-F238E27FC236}">
                    <a16:creationId xmlns:a16="http://schemas.microsoft.com/office/drawing/2014/main" id="{C7B68823-7DAB-4226-96B9-752945CF5A5E}"/>
                  </a:ext>
                </a:extLst>
              </p:cNvPr>
              <p:cNvSpPr>
                <a:spLocks/>
              </p:cNvSpPr>
              <p:nvPr/>
            </p:nvSpPr>
            <p:spPr bwMode="auto">
              <a:xfrm>
                <a:off x="6634" y="1638"/>
                <a:ext cx="3" cy="1"/>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0" y="0"/>
                      <a:pt x="1" y="1"/>
                    </a:cubicBezTo>
                    <a:cubicBezTo>
                      <a:pt x="1" y="1"/>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47" name="Freeform 657">
                <a:extLst>
                  <a:ext uri="{FF2B5EF4-FFF2-40B4-BE49-F238E27FC236}">
                    <a16:creationId xmlns:a16="http://schemas.microsoft.com/office/drawing/2014/main" id="{E75E0175-1FA5-4EAA-89BE-9BB4CA33DE6C}"/>
                  </a:ext>
                </a:extLst>
              </p:cNvPr>
              <p:cNvSpPr>
                <a:spLocks/>
              </p:cNvSpPr>
              <p:nvPr/>
            </p:nvSpPr>
            <p:spPr bwMode="auto">
              <a:xfrm>
                <a:off x="6647" y="1627"/>
                <a:ext cx="1" cy="1"/>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0" y="0"/>
                      <a:pt x="0" y="1"/>
                      <a:pt x="0" y="1"/>
                    </a:cubicBezTo>
                    <a:cubicBezTo>
                      <a:pt x="0" y="1"/>
                      <a:pt x="1"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48" name="Freeform 658">
                <a:extLst>
                  <a:ext uri="{FF2B5EF4-FFF2-40B4-BE49-F238E27FC236}">
                    <a16:creationId xmlns:a16="http://schemas.microsoft.com/office/drawing/2014/main" id="{70F899A8-AFBD-4B62-A524-E5738DA4BBD5}"/>
                  </a:ext>
                </a:extLst>
              </p:cNvPr>
              <p:cNvSpPr>
                <a:spLocks/>
              </p:cNvSpPr>
              <p:nvPr/>
            </p:nvSpPr>
            <p:spPr bwMode="auto">
              <a:xfrm>
                <a:off x="6668" y="1597"/>
                <a:ext cx="4" cy="5"/>
              </a:xfrm>
              <a:custGeom>
                <a:avLst/>
                <a:gdLst>
                  <a:gd name="T0" fmla="*/ 3 w 3"/>
                  <a:gd name="T1" fmla="*/ 1 h 4"/>
                  <a:gd name="T2" fmla="*/ 0 w 3"/>
                  <a:gd name="T3" fmla="*/ 4 h 4"/>
                  <a:gd name="T4" fmla="*/ 3 w 3"/>
                  <a:gd name="T5" fmla="*/ 1 h 4"/>
                </a:gdLst>
                <a:ahLst/>
                <a:cxnLst>
                  <a:cxn ang="0">
                    <a:pos x="T0" y="T1"/>
                  </a:cxn>
                  <a:cxn ang="0">
                    <a:pos x="T2" y="T3"/>
                  </a:cxn>
                  <a:cxn ang="0">
                    <a:pos x="T4" y="T5"/>
                  </a:cxn>
                </a:cxnLst>
                <a:rect l="0" t="0" r="r" b="b"/>
                <a:pathLst>
                  <a:path w="3" h="4">
                    <a:moveTo>
                      <a:pt x="3" y="1"/>
                    </a:moveTo>
                    <a:cubicBezTo>
                      <a:pt x="2" y="0"/>
                      <a:pt x="0" y="3"/>
                      <a:pt x="0" y="4"/>
                    </a:cubicBezTo>
                    <a:cubicBezTo>
                      <a:pt x="0" y="4"/>
                      <a:pt x="3" y="2"/>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49" name="Freeform 659">
                <a:extLst>
                  <a:ext uri="{FF2B5EF4-FFF2-40B4-BE49-F238E27FC236}">
                    <a16:creationId xmlns:a16="http://schemas.microsoft.com/office/drawing/2014/main" id="{CD818FF6-D330-41DF-BD5B-6FF8AB533051}"/>
                  </a:ext>
                </a:extLst>
              </p:cNvPr>
              <p:cNvSpPr>
                <a:spLocks/>
              </p:cNvSpPr>
              <p:nvPr/>
            </p:nvSpPr>
            <p:spPr bwMode="auto">
              <a:xfrm>
                <a:off x="6677" y="1576"/>
                <a:ext cx="9" cy="12"/>
              </a:xfrm>
              <a:custGeom>
                <a:avLst/>
                <a:gdLst>
                  <a:gd name="T0" fmla="*/ 5 w 6"/>
                  <a:gd name="T1" fmla="*/ 5 h 9"/>
                  <a:gd name="T2" fmla="*/ 4 w 6"/>
                  <a:gd name="T3" fmla="*/ 2 h 9"/>
                  <a:gd name="T4" fmla="*/ 2 w 6"/>
                  <a:gd name="T5" fmla="*/ 8 h 9"/>
                  <a:gd name="T6" fmla="*/ 5 w 6"/>
                  <a:gd name="T7" fmla="*/ 5 h 9"/>
                </a:gdLst>
                <a:ahLst/>
                <a:cxnLst>
                  <a:cxn ang="0">
                    <a:pos x="T0" y="T1"/>
                  </a:cxn>
                  <a:cxn ang="0">
                    <a:pos x="T2" y="T3"/>
                  </a:cxn>
                  <a:cxn ang="0">
                    <a:pos x="T4" y="T5"/>
                  </a:cxn>
                  <a:cxn ang="0">
                    <a:pos x="T6" y="T7"/>
                  </a:cxn>
                </a:cxnLst>
                <a:rect l="0" t="0" r="r" b="b"/>
                <a:pathLst>
                  <a:path w="6" h="9">
                    <a:moveTo>
                      <a:pt x="5" y="5"/>
                    </a:moveTo>
                    <a:cubicBezTo>
                      <a:pt x="5" y="2"/>
                      <a:pt x="6" y="0"/>
                      <a:pt x="4" y="2"/>
                    </a:cubicBezTo>
                    <a:cubicBezTo>
                      <a:pt x="3" y="4"/>
                      <a:pt x="0" y="8"/>
                      <a:pt x="2" y="8"/>
                    </a:cubicBezTo>
                    <a:cubicBezTo>
                      <a:pt x="2" y="8"/>
                      <a:pt x="5" y="9"/>
                      <a:pt x="5"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50" name="Freeform 660">
                <a:extLst>
                  <a:ext uri="{FF2B5EF4-FFF2-40B4-BE49-F238E27FC236}">
                    <a16:creationId xmlns:a16="http://schemas.microsoft.com/office/drawing/2014/main" id="{E8C4118F-E021-4052-82C5-77F95D048A8F}"/>
                  </a:ext>
                </a:extLst>
              </p:cNvPr>
              <p:cNvSpPr>
                <a:spLocks/>
              </p:cNvSpPr>
              <p:nvPr/>
            </p:nvSpPr>
            <p:spPr bwMode="auto">
              <a:xfrm>
                <a:off x="6691" y="1546"/>
                <a:ext cx="22" cy="24"/>
              </a:xfrm>
              <a:custGeom>
                <a:avLst/>
                <a:gdLst>
                  <a:gd name="T0" fmla="*/ 11 w 16"/>
                  <a:gd name="T1" fmla="*/ 3 h 18"/>
                  <a:gd name="T2" fmla="*/ 8 w 16"/>
                  <a:gd name="T3" fmla="*/ 8 h 18"/>
                  <a:gd name="T4" fmla="*/ 4 w 16"/>
                  <a:gd name="T5" fmla="*/ 11 h 18"/>
                  <a:gd name="T6" fmla="*/ 1 w 16"/>
                  <a:gd name="T7" fmla="*/ 11 h 18"/>
                  <a:gd name="T8" fmla="*/ 1 w 16"/>
                  <a:gd name="T9" fmla="*/ 13 h 18"/>
                  <a:gd name="T10" fmla="*/ 1 w 16"/>
                  <a:gd name="T11" fmla="*/ 15 h 18"/>
                  <a:gd name="T12" fmla="*/ 2 w 16"/>
                  <a:gd name="T13" fmla="*/ 16 h 18"/>
                  <a:gd name="T14" fmla="*/ 5 w 16"/>
                  <a:gd name="T15" fmla="*/ 15 h 18"/>
                  <a:gd name="T16" fmla="*/ 10 w 16"/>
                  <a:gd name="T17" fmla="*/ 11 h 18"/>
                  <a:gd name="T18" fmla="*/ 15 w 16"/>
                  <a:gd name="T19" fmla="*/ 4 h 18"/>
                  <a:gd name="T20" fmla="*/ 11 w 16"/>
                  <a:gd name="T21"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18">
                    <a:moveTo>
                      <a:pt x="11" y="3"/>
                    </a:moveTo>
                    <a:cubicBezTo>
                      <a:pt x="10" y="5"/>
                      <a:pt x="10" y="7"/>
                      <a:pt x="8" y="8"/>
                    </a:cubicBezTo>
                    <a:cubicBezTo>
                      <a:pt x="5" y="10"/>
                      <a:pt x="5" y="9"/>
                      <a:pt x="4" y="11"/>
                    </a:cubicBezTo>
                    <a:cubicBezTo>
                      <a:pt x="2" y="12"/>
                      <a:pt x="1" y="11"/>
                      <a:pt x="1" y="11"/>
                    </a:cubicBezTo>
                    <a:cubicBezTo>
                      <a:pt x="1" y="11"/>
                      <a:pt x="0" y="12"/>
                      <a:pt x="1" y="13"/>
                    </a:cubicBezTo>
                    <a:cubicBezTo>
                      <a:pt x="2" y="14"/>
                      <a:pt x="1" y="15"/>
                      <a:pt x="1" y="15"/>
                    </a:cubicBezTo>
                    <a:cubicBezTo>
                      <a:pt x="1" y="15"/>
                      <a:pt x="1" y="16"/>
                      <a:pt x="2" y="16"/>
                    </a:cubicBezTo>
                    <a:cubicBezTo>
                      <a:pt x="2" y="16"/>
                      <a:pt x="3" y="18"/>
                      <a:pt x="5" y="15"/>
                    </a:cubicBezTo>
                    <a:cubicBezTo>
                      <a:pt x="7" y="13"/>
                      <a:pt x="9" y="12"/>
                      <a:pt x="10" y="11"/>
                    </a:cubicBezTo>
                    <a:cubicBezTo>
                      <a:pt x="11" y="10"/>
                      <a:pt x="16" y="6"/>
                      <a:pt x="15" y="4"/>
                    </a:cubicBezTo>
                    <a:cubicBezTo>
                      <a:pt x="14" y="1"/>
                      <a:pt x="12" y="0"/>
                      <a:pt x="1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51" name="Freeform 661">
                <a:extLst>
                  <a:ext uri="{FF2B5EF4-FFF2-40B4-BE49-F238E27FC236}">
                    <a16:creationId xmlns:a16="http://schemas.microsoft.com/office/drawing/2014/main" id="{E9290A1E-2977-4DF4-AA30-36D5AEDFE183}"/>
                  </a:ext>
                </a:extLst>
              </p:cNvPr>
              <p:cNvSpPr>
                <a:spLocks/>
              </p:cNvSpPr>
              <p:nvPr/>
            </p:nvSpPr>
            <p:spPr bwMode="auto">
              <a:xfrm>
                <a:off x="6413" y="1447"/>
                <a:ext cx="64" cy="230"/>
              </a:xfrm>
              <a:custGeom>
                <a:avLst/>
                <a:gdLst>
                  <a:gd name="T0" fmla="*/ 2 w 46"/>
                  <a:gd name="T1" fmla="*/ 55 h 168"/>
                  <a:gd name="T2" fmla="*/ 7 w 46"/>
                  <a:gd name="T3" fmla="*/ 78 h 168"/>
                  <a:gd name="T4" fmla="*/ 4 w 46"/>
                  <a:gd name="T5" fmla="*/ 115 h 168"/>
                  <a:gd name="T6" fmla="*/ 6 w 46"/>
                  <a:gd name="T7" fmla="*/ 132 h 168"/>
                  <a:gd name="T8" fmla="*/ 5 w 46"/>
                  <a:gd name="T9" fmla="*/ 150 h 168"/>
                  <a:gd name="T10" fmla="*/ 7 w 46"/>
                  <a:gd name="T11" fmla="*/ 165 h 168"/>
                  <a:gd name="T12" fmla="*/ 16 w 46"/>
                  <a:gd name="T13" fmla="*/ 151 h 168"/>
                  <a:gd name="T14" fmla="*/ 26 w 46"/>
                  <a:gd name="T15" fmla="*/ 155 h 168"/>
                  <a:gd name="T16" fmla="*/ 27 w 46"/>
                  <a:gd name="T17" fmla="*/ 163 h 168"/>
                  <a:gd name="T18" fmla="*/ 29 w 46"/>
                  <a:gd name="T19" fmla="*/ 157 h 168"/>
                  <a:gd name="T20" fmla="*/ 25 w 46"/>
                  <a:gd name="T21" fmla="*/ 149 h 168"/>
                  <a:gd name="T22" fmla="*/ 25 w 46"/>
                  <a:gd name="T23" fmla="*/ 151 h 168"/>
                  <a:gd name="T24" fmla="*/ 21 w 46"/>
                  <a:gd name="T25" fmla="*/ 144 h 168"/>
                  <a:gd name="T26" fmla="*/ 14 w 46"/>
                  <a:gd name="T27" fmla="*/ 126 h 168"/>
                  <a:gd name="T28" fmla="*/ 27 w 46"/>
                  <a:gd name="T29" fmla="*/ 102 h 168"/>
                  <a:gd name="T30" fmla="*/ 41 w 46"/>
                  <a:gd name="T31" fmla="*/ 108 h 168"/>
                  <a:gd name="T32" fmla="*/ 46 w 46"/>
                  <a:gd name="T33" fmla="*/ 112 h 168"/>
                  <a:gd name="T34" fmla="*/ 40 w 46"/>
                  <a:gd name="T35" fmla="*/ 104 h 168"/>
                  <a:gd name="T36" fmla="*/ 38 w 46"/>
                  <a:gd name="T37" fmla="*/ 96 h 168"/>
                  <a:gd name="T38" fmla="*/ 27 w 46"/>
                  <a:gd name="T39" fmla="*/ 63 h 168"/>
                  <a:gd name="T40" fmla="*/ 26 w 46"/>
                  <a:gd name="T41" fmla="*/ 57 h 168"/>
                  <a:gd name="T42" fmla="*/ 24 w 46"/>
                  <a:gd name="T43" fmla="*/ 59 h 168"/>
                  <a:gd name="T44" fmla="*/ 22 w 46"/>
                  <a:gd name="T45" fmla="*/ 47 h 168"/>
                  <a:gd name="T46" fmla="*/ 24 w 46"/>
                  <a:gd name="T47" fmla="*/ 37 h 168"/>
                  <a:gd name="T48" fmla="*/ 22 w 46"/>
                  <a:gd name="T49" fmla="*/ 22 h 168"/>
                  <a:gd name="T50" fmla="*/ 23 w 46"/>
                  <a:gd name="T51" fmla="*/ 25 h 168"/>
                  <a:gd name="T52" fmla="*/ 24 w 46"/>
                  <a:gd name="T53" fmla="*/ 24 h 168"/>
                  <a:gd name="T54" fmla="*/ 19 w 46"/>
                  <a:gd name="T55" fmla="*/ 10 h 168"/>
                  <a:gd name="T56" fmla="*/ 16 w 46"/>
                  <a:gd name="T57" fmla="*/ 2 h 168"/>
                  <a:gd name="T58" fmla="*/ 13 w 46"/>
                  <a:gd name="T59" fmla="*/ 3 h 168"/>
                  <a:gd name="T60" fmla="*/ 16 w 46"/>
                  <a:gd name="T61" fmla="*/ 11 h 168"/>
                  <a:gd name="T62" fmla="*/ 16 w 46"/>
                  <a:gd name="T63" fmla="*/ 16 h 168"/>
                  <a:gd name="T64" fmla="*/ 14 w 46"/>
                  <a:gd name="T65" fmla="*/ 18 h 168"/>
                  <a:gd name="T66" fmla="*/ 10 w 46"/>
                  <a:gd name="T67" fmla="*/ 22 h 168"/>
                  <a:gd name="T68" fmla="*/ 2 w 46"/>
                  <a:gd name="T69" fmla="*/ 23 h 168"/>
                  <a:gd name="T70" fmla="*/ 1 w 46"/>
                  <a:gd name="T71" fmla="*/ 4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 h="168">
                    <a:moveTo>
                      <a:pt x="1" y="47"/>
                    </a:moveTo>
                    <a:cubicBezTo>
                      <a:pt x="0" y="50"/>
                      <a:pt x="0" y="51"/>
                      <a:pt x="2" y="55"/>
                    </a:cubicBezTo>
                    <a:cubicBezTo>
                      <a:pt x="4" y="58"/>
                      <a:pt x="11" y="67"/>
                      <a:pt x="9" y="69"/>
                    </a:cubicBezTo>
                    <a:cubicBezTo>
                      <a:pt x="7" y="71"/>
                      <a:pt x="7" y="74"/>
                      <a:pt x="7" y="78"/>
                    </a:cubicBezTo>
                    <a:cubicBezTo>
                      <a:pt x="8" y="81"/>
                      <a:pt x="8" y="96"/>
                      <a:pt x="5" y="104"/>
                    </a:cubicBezTo>
                    <a:cubicBezTo>
                      <a:pt x="5" y="104"/>
                      <a:pt x="2" y="112"/>
                      <a:pt x="4" y="115"/>
                    </a:cubicBezTo>
                    <a:cubicBezTo>
                      <a:pt x="7" y="118"/>
                      <a:pt x="8" y="122"/>
                      <a:pt x="8" y="124"/>
                    </a:cubicBezTo>
                    <a:cubicBezTo>
                      <a:pt x="8" y="126"/>
                      <a:pt x="8" y="130"/>
                      <a:pt x="6" y="132"/>
                    </a:cubicBezTo>
                    <a:cubicBezTo>
                      <a:pt x="4" y="133"/>
                      <a:pt x="5" y="135"/>
                      <a:pt x="6" y="137"/>
                    </a:cubicBezTo>
                    <a:cubicBezTo>
                      <a:pt x="6" y="140"/>
                      <a:pt x="7" y="146"/>
                      <a:pt x="5" y="150"/>
                    </a:cubicBezTo>
                    <a:cubicBezTo>
                      <a:pt x="2" y="154"/>
                      <a:pt x="4" y="162"/>
                      <a:pt x="6" y="165"/>
                    </a:cubicBezTo>
                    <a:cubicBezTo>
                      <a:pt x="6" y="165"/>
                      <a:pt x="7" y="168"/>
                      <a:pt x="7" y="165"/>
                    </a:cubicBezTo>
                    <a:cubicBezTo>
                      <a:pt x="8" y="162"/>
                      <a:pt x="12" y="153"/>
                      <a:pt x="13" y="152"/>
                    </a:cubicBezTo>
                    <a:cubicBezTo>
                      <a:pt x="14" y="151"/>
                      <a:pt x="16" y="150"/>
                      <a:pt x="16" y="151"/>
                    </a:cubicBezTo>
                    <a:cubicBezTo>
                      <a:pt x="17" y="152"/>
                      <a:pt x="17" y="154"/>
                      <a:pt x="21" y="154"/>
                    </a:cubicBezTo>
                    <a:cubicBezTo>
                      <a:pt x="26" y="154"/>
                      <a:pt x="26" y="155"/>
                      <a:pt x="26" y="155"/>
                    </a:cubicBezTo>
                    <a:cubicBezTo>
                      <a:pt x="25" y="156"/>
                      <a:pt x="26" y="157"/>
                      <a:pt x="26" y="159"/>
                    </a:cubicBezTo>
                    <a:cubicBezTo>
                      <a:pt x="26" y="161"/>
                      <a:pt x="27" y="166"/>
                      <a:pt x="27" y="163"/>
                    </a:cubicBezTo>
                    <a:cubicBezTo>
                      <a:pt x="28" y="160"/>
                      <a:pt x="28" y="160"/>
                      <a:pt x="29" y="159"/>
                    </a:cubicBezTo>
                    <a:cubicBezTo>
                      <a:pt x="30" y="157"/>
                      <a:pt x="29" y="157"/>
                      <a:pt x="29" y="157"/>
                    </a:cubicBezTo>
                    <a:cubicBezTo>
                      <a:pt x="29" y="157"/>
                      <a:pt x="28" y="152"/>
                      <a:pt x="27" y="150"/>
                    </a:cubicBezTo>
                    <a:cubicBezTo>
                      <a:pt x="27" y="149"/>
                      <a:pt x="27" y="149"/>
                      <a:pt x="25" y="149"/>
                    </a:cubicBezTo>
                    <a:cubicBezTo>
                      <a:pt x="24" y="149"/>
                      <a:pt x="23" y="149"/>
                      <a:pt x="25" y="150"/>
                    </a:cubicBezTo>
                    <a:cubicBezTo>
                      <a:pt x="26" y="151"/>
                      <a:pt x="26" y="151"/>
                      <a:pt x="25" y="151"/>
                    </a:cubicBezTo>
                    <a:cubicBezTo>
                      <a:pt x="23" y="151"/>
                      <a:pt x="22" y="151"/>
                      <a:pt x="22" y="149"/>
                    </a:cubicBezTo>
                    <a:cubicBezTo>
                      <a:pt x="22" y="148"/>
                      <a:pt x="21" y="145"/>
                      <a:pt x="21" y="144"/>
                    </a:cubicBezTo>
                    <a:cubicBezTo>
                      <a:pt x="21" y="144"/>
                      <a:pt x="19" y="139"/>
                      <a:pt x="17" y="137"/>
                    </a:cubicBezTo>
                    <a:cubicBezTo>
                      <a:pt x="15" y="135"/>
                      <a:pt x="12" y="132"/>
                      <a:pt x="14" y="126"/>
                    </a:cubicBezTo>
                    <a:cubicBezTo>
                      <a:pt x="16" y="121"/>
                      <a:pt x="20" y="109"/>
                      <a:pt x="21" y="106"/>
                    </a:cubicBezTo>
                    <a:cubicBezTo>
                      <a:pt x="21" y="103"/>
                      <a:pt x="24" y="102"/>
                      <a:pt x="27" y="102"/>
                    </a:cubicBezTo>
                    <a:cubicBezTo>
                      <a:pt x="31" y="102"/>
                      <a:pt x="37" y="102"/>
                      <a:pt x="39" y="105"/>
                    </a:cubicBezTo>
                    <a:cubicBezTo>
                      <a:pt x="41" y="108"/>
                      <a:pt x="40" y="107"/>
                      <a:pt x="41" y="108"/>
                    </a:cubicBezTo>
                    <a:cubicBezTo>
                      <a:pt x="43" y="109"/>
                      <a:pt x="43" y="109"/>
                      <a:pt x="44" y="110"/>
                    </a:cubicBezTo>
                    <a:cubicBezTo>
                      <a:pt x="45" y="112"/>
                      <a:pt x="46" y="115"/>
                      <a:pt x="46" y="112"/>
                    </a:cubicBezTo>
                    <a:cubicBezTo>
                      <a:pt x="45" y="109"/>
                      <a:pt x="44" y="109"/>
                      <a:pt x="43" y="108"/>
                    </a:cubicBezTo>
                    <a:cubicBezTo>
                      <a:pt x="42" y="108"/>
                      <a:pt x="40" y="106"/>
                      <a:pt x="40" y="104"/>
                    </a:cubicBezTo>
                    <a:cubicBezTo>
                      <a:pt x="39" y="102"/>
                      <a:pt x="39" y="101"/>
                      <a:pt x="39" y="100"/>
                    </a:cubicBezTo>
                    <a:cubicBezTo>
                      <a:pt x="38" y="99"/>
                      <a:pt x="38" y="97"/>
                      <a:pt x="38" y="96"/>
                    </a:cubicBezTo>
                    <a:cubicBezTo>
                      <a:pt x="37" y="95"/>
                      <a:pt x="29" y="65"/>
                      <a:pt x="29" y="65"/>
                    </a:cubicBezTo>
                    <a:cubicBezTo>
                      <a:pt x="29" y="65"/>
                      <a:pt x="28" y="63"/>
                      <a:pt x="27" y="63"/>
                    </a:cubicBezTo>
                    <a:cubicBezTo>
                      <a:pt x="26" y="63"/>
                      <a:pt x="26" y="62"/>
                      <a:pt x="27" y="61"/>
                    </a:cubicBezTo>
                    <a:cubicBezTo>
                      <a:pt x="27" y="60"/>
                      <a:pt x="27" y="57"/>
                      <a:pt x="26" y="57"/>
                    </a:cubicBezTo>
                    <a:cubicBezTo>
                      <a:pt x="25" y="56"/>
                      <a:pt x="25" y="57"/>
                      <a:pt x="25" y="58"/>
                    </a:cubicBezTo>
                    <a:cubicBezTo>
                      <a:pt x="26" y="59"/>
                      <a:pt x="25" y="59"/>
                      <a:pt x="24" y="59"/>
                    </a:cubicBezTo>
                    <a:cubicBezTo>
                      <a:pt x="23" y="59"/>
                      <a:pt x="23" y="55"/>
                      <a:pt x="23" y="54"/>
                    </a:cubicBezTo>
                    <a:cubicBezTo>
                      <a:pt x="22" y="52"/>
                      <a:pt x="21" y="48"/>
                      <a:pt x="22" y="47"/>
                    </a:cubicBezTo>
                    <a:cubicBezTo>
                      <a:pt x="22" y="46"/>
                      <a:pt x="22" y="43"/>
                      <a:pt x="22" y="42"/>
                    </a:cubicBezTo>
                    <a:cubicBezTo>
                      <a:pt x="22" y="41"/>
                      <a:pt x="24" y="39"/>
                      <a:pt x="24" y="37"/>
                    </a:cubicBezTo>
                    <a:cubicBezTo>
                      <a:pt x="24" y="35"/>
                      <a:pt x="25" y="33"/>
                      <a:pt x="23" y="29"/>
                    </a:cubicBezTo>
                    <a:cubicBezTo>
                      <a:pt x="21" y="24"/>
                      <a:pt x="21" y="22"/>
                      <a:pt x="22" y="22"/>
                    </a:cubicBezTo>
                    <a:cubicBezTo>
                      <a:pt x="24" y="22"/>
                      <a:pt x="24" y="22"/>
                      <a:pt x="23" y="23"/>
                    </a:cubicBezTo>
                    <a:cubicBezTo>
                      <a:pt x="23" y="24"/>
                      <a:pt x="23" y="24"/>
                      <a:pt x="23" y="25"/>
                    </a:cubicBezTo>
                    <a:cubicBezTo>
                      <a:pt x="24" y="26"/>
                      <a:pt x="25" y="27"/>
                      <a:pt x="25" y="28"/>
                    </a:cubicBezTo>
                    <a:cubicBezTo>
                      <a:pt x="25" y="29"/>
                      <a:pt x="25" y="28"/>
                      <a:pt x="24" y="24"/>
                    </a:cubicBezTo>
                    <a:cubicBezTo>
                      <a:pt x="23" y="20"/>
                      <a:pt x="20" y="14"/>
                      <a:pt x="19" y="13"/>
                    </a:cubicBezTo>
                    <a:cubicBezTo>
                      <a:pt x="18" y="12"/>
                      <a:pt x="19" y="11"/>
                      <a:pt x="19" y="10"/>
                    </a:cubicBezTo>
                    <a:cubicBezTo>
                      <a:pt x="20" y="9"/>
                      <a:pt x="21" y="7"/>
                      <a:pt x="18" y="4"/>
                    </a:cubicBezTo>
                    <a:cubicBezTo>
                      <a:pt x="16" y="0"/>
                      <a:pt x="16" y="0"/>
                      <a:pt x="16" y="2"/>
                    </a:cubicBezTo>
                    <a:cubicBezTo>
                      <a:pt x="15" y="3"/>
                      <a:pt x="16" y="4"/>
                      <a:pt x="15" y="3"/>
                    </a:cubicBezTo>
                    <a:cubicBezTo>
                      <a:pt x="14" y="2"/>
                      <a:pt x="14" y="3"/>
                      <a:pt x="13" y="3"/>
                    </a:cubicBezTo>
                    <a:cubicBezTo>
                      <a:pt x="13" y="3"/>
                      <a:pt x="9" y="3"/>
                      <a:pt x="10" y="4"/>
                    </a:cubicBezTo>
                    <a:cubicBezTo>
                      <a:pt x="11" y="4"/>
                      <a:pt x="17" y="9"/>
                      <a:pt x="16" y="11"/>
                    </a:cubicBezTo>
                    <a:cubicBezTo>
                      <a:pt x="15" y="12"/>
                      <a:pt x="14" y="14"/>
                      <a:pt x="15" y="15"/>
                    </a:cubicBezTo>
                    <a:cubicBezTo>
                      <a:pt x="15" y="15"/>
                      <a:pt x="18" y="16"/>
                      <a:pt x="16" y="16"/>
                    </a:cubicBezTo>
                    <a:cubicBezTo>
                      <a:pt x="15" y="17"/>
                      <a:pt x="15" y="15"/>
                      <a:pt x="14" y="16"/>
                    </a:cubicBezTo>
                    <a:cubicBezTo>
                      <a:pt x="13" y="17"/>
                      <a:pt x="13" y="18"/>
                      <a:pt x="14" y="18"/>
                    </a:cubicBezTo>
                    <a:cubicBezTo>
                      <a:pt x="15" y="18"/>
                      <a:pt x="15" y="19"/>
                      <a:pt x="14" y="20"/>
                    </a:cubicBezTo>
                    <a:cubicBezTo>
                      <a:pt x="13" y="21"/>
                      <a:pt x="12" y="22"/>
                      <a:pt x="10" y="22"/>
                    </a:cubicBezTo>
                    <a:cubicBezTo>
                      <a:pt x="9" y="22"/>
                      <a:pt x="10" y="18"/>
                      <a:pt x="8" y="19"/>
                    </a:cubicBezTo>
                    <a:cubicBezTo>
                      <a:pt x="6" y="20"/>
                      <a:pt x="1" y="21"/>
                      <a:pt x="2" y="23"/>
                    </a:cubicBezTo>
                    <a:cubicBezTo>
                      <a:pt x="3" y="25"/>
                      <a:pt x="4" y="27"/>
                      <a:pt x="4" y="32"/>
                    </a:cubicBezTo>
                    <a:cubicBezTo>
                      <a:pt x="3" y="37"/>
                      <a:pt x="2" y="45"/>
                      <a:pt x="1" y="4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52" name="Freeform 662">
                <a:extLst>
                  <a:ext uri="{FF2B5EF4-FFF2-40B4-BE49-F238E27FC236}">
                    <a16:creationId xmlns:a16="http://schemas.microsoft.com/office/drawing/2014/main" id="{9C235EC9-7C80-4085-A361-379EC63CDD7D}"/>
                  </a:ext>
                </a:extLst>
              </p:cNvPr>
              <p:cNvSpPr>
                <a:spLocks/>
              </p:cNvSpPr>
              <p:nvPr/>
            </p:nvSpPr>
            <p:spPr bwMode="auto">
              <a:xfrm>
                <a:off x="6312" y="1428"/>
                <a:ext cx="10" cy="7"/>
              </a:xfrm>
              <a:custGeom>
                <a:avLst/>
                <a:gdLst>
                  <a:gd name="T0" fmla="*/ 0 w 7"/>
                  <a:gd name="T1" fmla="*/ 4 h 5"/>
                  <a:gd name="T2" fmla="*/ 2 w 7"/>
                  <a:gd name="T3" fmla="*/ 5 h 5"/>
                  <a:gd name="T4" fmla="*/ 6 w 7"/>
                  <a:gd name="T5" fmla="*/ 2 h 5"/>
                  <a:gd name="T6" fmla="*/ 6 w 7"/>
                  <a:gd name="T7" fmla="*/ 0 h 5"/>
                  <a:gd name="T8" fmla="*/ 0 w 7"/>
                  <a:gd name="T9" fmla="*/ 4 h 5"/>
                </a:gdLst>
                <a:ahLst/>
                <a:cxnLst>
                  <a:cxn ang="0">
                    <a:pos x="T0" y="T1"/>
                  </a:cxn>
                  <a:cxn ang="0">
                    <a:pos x="T2" y="T3"/>
                  </a:cxn>
                  <a:cxn ang="0">
                    <a:pos x="T4" y="T5"/>
                  </a:cxn>
                  <a:cxn ang="0">
                    <a:pos x="T6" y="T7"/>
                  </a:cxn>
                  <a:cxn ang="0">
                    <a:pos x="T8" y="T9"/>
                  </a:cxn>
                </a:cxnLst>
                <a:rect l="0" t="0" r="r" b="b"/>
                <a:pathLst>
                  <a:path w="7" h="5">
                    <a:moveTo>
                      <a:pt x="0" y="4"/>
                    </a:moveTo>
                    <a:cubicBezTo>
                      <a:pt x="0" y="4"/>
                      <a:pt x="0" y="5"/>
                      <a:pt x="2" y="5"/>
                    </a:cubicBezTo>
                    <a:cubicBezTo>
                      <a:pt x="3" y="5"/>
                      <a:pt x="5" y="4"/>
                      <a:pt x="6" y="2"/>
                    </a:cubicBezTo>
                    <a:cubicBezTo>
                      <a:pt x="7" y="0"/>
                      <a:pt x="7" y="0"/>
                      <a:pt x="6" y="0"/>
                    </a:cubicBezTo>
                    <a:cubicBezTo>
                      <a:pt x="4" y="1"/>
                      <a:pt x="1" y="2"/>
                      <a:pt x="0"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53" name="Freeform 663">
                <a:extLst>
                  <a:ext uri="{FF2B5EF4-FFF2-40B4-BE49-F238E27FC236}">
                    <a16:creationId xmlns:a16="http://schemas.microsoft.com/office/drawing/2014/main" id="{909FB36B-5F6D-4B4A-9FB3-3BA059753B59}"/>
                  </a:ext>
                </a:extLst>
              </p:cNvPr>
              <p:cNvSpPr>
                <a:spLocks/>
              </p:cNvSpPr>
              <p:nvPr/>
            </p:nvSpPr>
            <p:spPr bwMode="auto">
              <a:xfrm>
                <a:off x="6322" y="1426"/>
                <a:ext cx="20" cy="18"/>
              </a:xfrm>
              <a:custGeom>
                <a:avLst/>
                <a:gdLst>
                  <a:gd name="T0" fmla="*/ 12 w 15"/>
                  <a:gd name="T1" fmla="*/ 2 h 13"/>
                  <a:gd name="T2" fmla="*/ 10 w 15"/>
                  <a:gd name="T3" fmla="*/ 1 h 13"/>
                  <a:gd name="T4" fmla="*/ 7 w 15"/>
                  <a:gd name="T5" fmla="*/ 0 h 13"/>
                  <a:gd name="T6" fmla="*/ 5 w 15"/>
                  <a:gd name="T7" fmla="*/ 1 h 13"/>
                  <a:gd name="T8" fmla="*/ 4 w 15"/>
                  <a:gd name="T9" fmla="*/ 3 h 13"/>
                  <a:gd name="T10" fmla="*/ 1 w 15"/>
                  <a:gd name="T11" fmla="*/ 6 h 13"/>
                  <a:gd name="T12" fmla="*/ 2 w 15"/>
                  <a:gd name="T13" fmla="*/ 7 h 13"/>
                  <a:gd name="T14" fmla="*/ 6 w 15"/>
                  <a:gd name="T15" fmla="*/ 9 h 13"/>
                  <a:gd name="T16" fmla="*/ 8 w 15"/>
                  <a:gd name="T17" fmla="*/ 11 h 13"/>
                  <a:gd name="T18" fmla="*/ 14 w 15"/>
                  <a:gd name="T19" fmla="*/ 4 h 13"/>
                  <a:gd name="T20" fmla="*/ 14 w 15"/>
                  <a:gd name="T21" fmla="*/ 2 h 13"/>
                  <a:gd name="T22" fmla="*/ 12 w 15"/>
                  <a:gd name="T23"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3">
                    <a:moveTo>
                      <a:pt x="12" y="2"/>
                    </a:moveTo>
                    <a:cubicBezTo>
                      <a:pt x="12" y="1"/>
                      <a:pt x="11" y="1"/>
                      <a:pt x="10" y="1"/>
                    </a:cubicBezTo>
                    <a:cubicBezTo>
                      <a:pt x="8" y="1"/>
                      <a:pt x="8" y="1"/>
                      <a:pt x="7" y="0"/>
                    </a:cubicBezTo>
                    <a:cubicBezTo>
                      <a:pt x="6" y="0"/>
                      <a:pt x="5" y="0"/>
                      <a:pt x="5" y="1"/>
                    </a:cubicBezTo>
                    <a:cubicBezTo>
                      <a:pt x="5" y="2"/>
                      <a:pt x="4" y="3"/>
                      <a:pt x="4" y="3"/>
                    </a:cubicBezTo>
                    <a:cubicBezTo>
                      <a:pt x="3" y="3"/>
                      <a:pt x="2" y="5"/>
                      <a:pt x="1" y="6"/>
                    </a:cubicBezTo>
                    <a:cubicBezTo>
                      <a:pt x="1" y="7"/>
                      <a:pt x="0" y="9"/>
                      <a:pt x="2" y="7"/>
                    </a:cubicBezTo>
                    <a:cubicBezTo>
                      <a:pt x="2" y="7"/>
                      <a:pt x="5" y="5"/>
                      <a:pt x="6" y="9"/>
                    </a:cubicBezTo>
                    <a:cubicBezTo>
                      <a:pt x="8" y="13"/>
                      <a:pt x="8" y="11"/>
                      <a:pt x="8" y="11"/>
                    </a:cubicBezTo>
                    <a:cubicBezTo>
                      <a:pt x="9" y="10"/>
                      <a:pt x="14" y="4"/>
                      <a:pt x="14" y="4"/>
                    </a:cubicBezTo>
                    <a:cubicBezTo>
                      <a:pt x="14" y="3"/>
                      <a:pt x="15" y="2"/>
                      <a:pt x="14" y="2"/>
                    </a:cubicBezTo>
                    <a:cubicBezTo>
                      <a:pt x="13" y="2"/>
                      <a:pt x="12" y="3"/>
                      <a:pt x="1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54" name="Freeform 664">
                <a:extLst>
                  <a:ext uri="{FF2B5EF4-FFF2-40B4-BE49-F238E27FC236}">
                    <a16:creationId xmlns:a16="http://schemas.microsoft.com/office/drawing/2014/main" id="{B50DD2EC-661B-4A0D-AD1D-65982AF63B75}"/>
                  </a:ext>
                </a:extLst>
              </p:cNvPr>
              <p:cNvSpPr>
                <a:spLocks noEditPoints="1"/>
              </p:cNvSpPr>
              <p:nvPr/>
            </p:nvSpPr>
            <p:spPr bwMode="auto">
              <a:xfrm>
                <a:off x="4065" y="645"/>
                <a:ext cx="3350" cy="1148"/>
              </a:xfrm>
              <a:custGeom>
                <a:avLst/>
                <a:gdLst>
                  <a:gd name="T0" fmla="*/ 1464 w 2421"/>
                  <a:gd name="T1" fmla="*/ 622 h 836"/>
                  <a:gd name="T2" fmla="*/ 1574 w 2421"/>
                  <a:gd name="T3" fmla="*/ 709 h 836"/>
                  <a:gd name="T4" fmla="*/ 1534 w 2421"/>
                  <a:gd name="T5" fmla="*/ 816 h 836"/>
                  <a:gd name="T6" fmla="*/ 1684 w 2421"/>
                  <a:gd name="T7" fmla="*/ 646 h 836"/>
                  <a:gd name="T8" fmla="*/ 1603 w 2421"/>
                  <a:gd name="T9" fmla="*/ 579 h 836"/>
                  <a:gd name="T10" fmla="*/ 1838 w 2421"/>
                  <a:gd name="T11" fmla="*/ 487 h 836"/>
                  <a:gd name="T12" fmla="*/ 1967 w 2421"/>
                  <a:gd name="T13" fmla="*/ 438 h 836"/>
                  <a:gd name="T14" fmla="*/ 1940 w 2421"/>
                  <a:gd name="T15" fmla="*/ 510 h 836"/>
                  <a:gd name="T16" fmla="*/ 1995 w 2421"/>
                  <a:gd name="T17" fmla="*/ 582 h 836"/>
                  <a:gd name="T18" fmla="*/ 2038 w 2421"/>
                  <a:gd name="T19" fmla="*/ 465 h 836"/>
                  <a:gd name="T20" fmla="*/ 2188 w 2421"/>
                  <a:gd name="T21" fmla="*/ 422 h 836"/>
                  <a:gd name="T22" fmla="*/ 2221 w 2421"/>
                  <a:gd name="T23" fmla="*/ 354 h 836"/>
                  <a:gd name="T24" fmla="*/ 2353 w 2421"/>
                  <a:gd name="T25" fmla="*/ 361 h 836"/>
                  <a:gd name="T26" fmla="*/ 2393 w 2421"/>
                  <a:gd name="T27" fmla="*/ 305 h 836"/>
                  <a:gd name="T28" fmla="*/ 2271 w 2421"/>
                  <a:gd name="T29" fmla="*/ 251 h 836"/>
                  <a:gd name="T30" fmla="*/ 2044 w 2421"/>
                  <a:gd name="T31" fmla="*/ 233 h 836"/>
                  <a:gd name="T32" fmla="*/ 1813 w 2421"/>
                  <a:gd name="T33" fmla="*/ 173 h 836"/>
                  <a:gd name="T34" fmla="*/ 1683 w 2421"/>
                  <a:gd name="T35" fmla="*/ 146 h 836"/>
                  <a:gd name="T36" fmla="*/ 1615 w 2421"/>
                  <a:gd name="T37" fmla="*/ 180 h 836"/>
                  <a:gd name="T38" fmla="*/ 1498 w 2421"/>
                  <a:gd name="T39" fmla="*/ 166 h 836"/>
                  <a:gd name="T40" fmla="*/ 1445 w 2421"/>
                  <a:gd name="T41" fmla="*/ 120 h 836"/>
                  <a:gd name="T42" fmla="*/ 1299 w 2421"/>
                  <a:gd name="T43" fmla="*/ 124 h 836"/>
                  <a:gd name="T44" fmla="*/ 1154 w 2421"/>
                  <a:gd name="T45" fmla="*/ 147 h 836"/>
                  <a:gd name="T46" fmla="*/ 1279 w 2421"/>
                  <a:gd name="T47" fmla="*/ 51 h 836"/>
                  <a:gd name="T48" fmla="*/ 1196 w 2421"/>
                  <a:gd name="T49" fmla="*/ 32 h 836"/>
                  <a:gd name="T50" fmla="*/ 1162 w 2421"/>
                  <a:gd name="T51" fmla="*/ 12 h 836"/>
                  <a:gd name="T52" fmla="*/ 1089 w 2421"/>
                  <a:gd name="T53" fmla="*/ 38 h 836"/>
                  <a:gd name="T54" fmla="*/ 982 w 2421"/>
                  <a:gd name="T55" fmla="*/ 55 h 836"/>
                  <a:gd name="T56" fmla="*/ 871 w 2421"/>
                  <a:gd name="T57" fmla="*/ 95 h 836"/>
                  <a:gd name="T58" fmla="*/ 786 w 2421"/>
                  <a:gd name="T59" fmla="*/ 136 h 836"/>
                  <a:gd name="T60" fmla="*/ 739 w 2421"/>
                  <a:gd name="T61" fmla="*/ 186 h 836"/>
                  <a:gd name="T62" fmla="*/ 714 w 2421"/>
                  <a:gd name="T63" fmla="*/ 178 h 836"/>
                  <a:gd name="T64" fmla="*/ 691 w 2421"/>
                  <a:gd name="T65" fmla="*/ 239 h 836"/>
                  <a:gd name="T66" fmla="*/ 766 w 2421"/>
                  <a:gd name="T67" fmla="*/ 287 h 836"/>
                  <a:gd name="T68" fmla="*/ 668 w 2421"/>
                  <a:gd name="T69" fmla="*/ 315 h 836"/>
                  <a:gd name="T70" fmla="*/ 672 w 2421"/>
                  <a:gd name="T71" fmla="*/ 235 h 836"/>
                  <a:gd name="T72" fmla="*/ 629 w 2421"/>
                  <a:gd name="T73" fmla="*/ 142 h 836"/>
                  <a:gd name="T74" fmla="*/ 593 w 2421"/>
                  <a:gd name="T75" fmla="*/ 212 h 836"/>
                  <a:gd name="T76" fmla="*/ 556 w 2421"/>
                  <a:gd name="T77" fmla="*/ 245 h 836"/>
                  <a:gd name="T78" fmla="*/ 399 w 2421"/>
                  <a:gd name="T79" fmla="*/ 269 h 836"/>
                  <a:gd name="T80" fmla="*/ 303 w 2421"/>
                  <a:gd name="T81" fmla="*/ 296 h 836"/>
                  <a:gd name="T82" fmla="*/ 238 w 2421"/>
                  <a:gd name="T83" fmla="*/ 323 h 836"/>
                  <a:gd name="T84" fmla="*/ 112 w 2421"/>
                  <a:gd name="T85" fmla="*/ 355 h 836"/>
                  <a:gd name="T86" fmla="*/ 202 w 2421"/>
                  <a:gd name="T87" fmla="*/ 283 h 836"/>
                  <a:gd name="T88" fmla="*/ 52 w 2421"/>
                  <a:gd name="T89" fmla="*/ 230 h 836"/>
                  <a:gd name="T90" fmla="*/ 59 w 2421"/>
                  <a:gd name="T91" fmla="*/ 394 h 836"/>
                  <a:gd name="T92" fmla="*/ 3 w 2421"/>
                  <a:gd name="T93" fmla="*/ 514 h 836"/>
                  <a:gd name="T94" fmla="*/ 71 w 2421"/>
                  <a:gd name="T95" fmla="*/ 611 h 836"/>
                  <a:gd name="T96" fmla="*/ 162 w 2421"/>
                  <a:gd name="T97" fmla="*/ 672 h 836"/>
                  <a:gd name="T98" fmla="*/ 157 w 2421"/>
                  <a:gd name="T99" fmla="*/ 748 h 836"/>
                  <a:gd name="T100" fmla="*/ 273 w 2421"/>
                  <a:gd name="T101" fmla="*/ 813 h 836"/>
                  <a:gd name="T102" fmla="*/ 319 w 2421"/>
                  <a:gd name="T103" fmla="*/ 740 h 836"/>
                  <a:gd name="T104" fmla="*/ 348 w 2421"/>
                  <a:gd name="T105" fmla="*/ 639 h 836"/>
                  <a:gd name="T106" fmla="*/ 469 w 2421"/>
                  <a:gd name="T107" fmla="*/ 659 h 836"/>
                  <a:gd name="T108" fmla="*/ 508 w 2421"/>
                  <a:gd name="T109" fmla="*/ 603 h 836"/>
                  <a:gd name="T110" fmla="*/ 650 w 2421"/>
                  <a:gd name="T111" fmla="*/ 587 h 836"/>
                  <a:gd name="T112" fmla="*/ 770 w 2421"/>
                  <a:gd name="T113" fmla="*/ 636 h 836"/>
                  <a:gd name="T114" fmla="*/ 880 w 2421"/>
                  <a:gd name="T115" fmla="*/ 677 h 836"/>
                  <a:gd name="T116" fmla="*/ 1053 w 2421"/>
                  <a:gd name="T117" fmla="*/ 662 h 836"/>
                  <a:gd name="T118" fmla="*/ 1271 w 2421"/>
                  <a:gd name="T119" fmla="*/ 681 h 836"/>
                  <a:gd name="T120" fmla="*/ 105 w 2421"/>
                  <a:gd name="T121" fmla="*/ 419 h 836"/>
                  <a:gd name="T122" fmla="*/ 1212 w 2421"/>
                  <a:gd name="T123" fmla="*/ 598 h 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21" h="836">
                    <a:moveTo>
                      <a:pt x="1327" y="676"/>
                    </a:moveTo>
                    <a:cubicBezTo>
                      <a:pt x="1327" y="676"/>
                      <a:pt x="1327" y="676"/>
                      <a:pt x="1327" y="676"/>
                    </a:cubicBezTo>
                    <a:cubicBezTo>
                      <a:pt x="1328" y="676"/>
                      <a:pt x="1344" y="681"/>
                      <a:pt x="1344" y="681"/>
                    </a:cubicBezTo>
                    <a:cubicBezTo>
                      <a:pt x="1344" y="681"/>
                      <a:pt x="1344" y="681"/>
                      <a:pt x="1345" y="681"/>
                    </a:cubicBezTo>
                    <a:cubicBezTo>
                      <a:pt x="1345" y="681"/>
                      <a:pt x="1352" y="676"/>
                      <a:pt x="1353" y="675"/>
                    </a:cubicBezTo>
                    <a:cubicBezTo>
                      <a:pt x="1354" y="674"/>
                      <a:pt x="1357" y="673"/>
                      <a:pt x="1359" y="673"/>
                    </a:cubicBezTo>
                    <a:cubicBezTo>
                      <a:pt x="1360" y="673"/>
                      <a:pt x="1361" y="673"/>
                      <a:pt x="1361" y="673"/>
                    </a:cubicBezTo>
                    <a:cubicBezTo>
                      <a:pt x="1362" y="672"/>
                      <a:pt x="1365" y="671"/>
                      <a:pt x="1365" y="670"/>
                    </a:cubicBezTo>
                    <a:cubicBezTo>
                      <a:pt x="1366" y="670"/>
                      <a:pt x="1366" y="669"/>
                      <a:pt x="1366" y="669"/>
                    </a:cubicBezTo>
                    <a:cubicBezTo>
                      <a:pt x="1366" y="669"/>
                      <a:pt x="1366" y="668"/>
                      <a:pt x="1365" y="667"/>
                    </a:cubicBezTo>
                    <a:cubicBezTo>
                      <a:pt x="1365" y="667"/>
                      <a:pt x="1366" y="660"/>
                      <a:pt x="1367" y="659"/>
                    </a:cubicBezTo>
                    <a:cubicBezTo>
                      <a:pt x="1367" y="658"/>
                      <a:pt x="1371" y="651"/>
                      <a:pt x="1371" y="650"/>
                    </a:cubicBezTo>
                    <a:cubicBezTo>
                      <a:pt x="1371" y="650"/>
                      <a:pt x="1375" y="644"/>
                      <a:pt x="1376" y="643"/>
                    </a:cubicBezTo>
                    <a:cubicBezTo>
                      <a:pt x="1377" y="642"/>
                      <a:pt x="1385" y="633"/>
                      <a:pt x="1386" y="633"/>
                    </a:cubicBezTo>
                    <a:cubicBezTo>
                      <a:pt x="1386" y="632"/>
                      <a:pt x="1387" y="631"/>
                      <a:pt x="1387" y="630"/>
                    </a:cubicBezTo>
                    <a:cubicBezTo>
                      <a:pt x="1387" y="629"/>
                      <a:pt x="1387" y="629"/>
                      <a:pt x="1387" y="629"/>
                    </a:cubicBezTo>
                    <a:cubicBezTo>
                      <a:pt x="1387" y="629"/>
                      <a:pt x="1386" y="629"/>
                      <a:pt x="1386" y="628"/>
                    </a:cubicBezTo>
                    <a:cubicBezTo>
                      <a:pt x="1386" y="628"/>
                      <a:pt x="1386" y="627"/>
                      <a:pt x="1386" y="627"/>
                    </a:cubicBezTo>
                    <a:cubicBezTo>
                      <a:pt x="1386" y="626"/>
                      <a:pt x="1386" y="624"/>
                      <a:pt x="1386" y="623"/>
                    </a:cubicBezTo>
                    <a:cubicBezTo>
                      <a:pt x="1386" y="623"/>
                      <a:pt x="1386" y="622"/>
                      <a:pt x="1385" y="622"/>
                    </a:cubicBezTo>
                    <a:cubicBezTo>
                      <a:pt x="1385" y="622"/>
                      <a:pt x="1384" y="622"/>
                      <a:pt x="1384" y="622"/>
                    </a:cubicBezTo>
                    <a:cubicBezTo>
                      <a:pt x="1383" y="621"/>
                      <a:pt x="1382" y="621"/>
                      <a:pt x="1381" y="621"/>
                    </a:cubicBezTo>
                    <a:cubicBezTo>
                      <a:pt x="1380" y="621"/>
                      <a:pt x="1378" y="622"/>
                      <a:pt x="1377" y="622"/>
                    </a:cubicBezTo>
                    <a:cubicBezTo>
                      <a:pt x="1377" y="622"/>
                      <a:pt x="1377" y="622"/>
                      <a:pt x="1377" y="621"/>
                    </a:cubicBezTo>
                    <a:cubicBezTo>
                      <a:pt x="1377" y="620"/>
                      <a:pt x="1376" y="618"/>
                      <a:pt x="1377" y="617"/>
                    </a:cubicBezTo>
                    <a:cubicBezTo>
                      <a:pt x="1378" y="616"/>
                      <a:pt x="1381" y="614"/>
                      <a:pt x="1382" y="614"/>
                    </a:cubicBezTo>
                    <a:cubicBezTo>
                      <a:pt x="1382" y="613"/>
                      <a:pt x="1386" y="610"/>
                      <a:pt x="1386" y="609"/>
                    </a:cubicBezTo>
                    <a:cubicBezTo>
                      <a:pt x="1387" y="609"/>
                      <a:pt x="1390" y="607"/>
                      <a:pt x="1392" y="607"/>
                    </a:cubicBezTo>
                    <a:cubicBezTo>
                      <a:pt x="1393" y="607"/>
                      <a:pt x="1397" y="607"/>
                      <a:pt x="1397" y="607"/>
                    </a:cubicBezTo>
                    <a:cubicBezTo>
                      <a:pt x="1398" y="607"/>
                      <a:pt x="1405" y="605"/>
                      <a:pt x="1406" y="605"/>
                    </a:cubicBezTo>
                    <a:cubicBezTo>
                      <a:pt x="1408" y="605"/>
                      <a:pt x="1415" y="605"/>
                      <a:pt x="1416" y="605"/>
                    </a:cubicBezTo>
                    <a:cubicBezTo>
                      <a:pt x="1418" y="604"/>
                      <a:pt x="1420" y="604"/>
                      <a:pt x="1421" y="604"/>
                    </a:cubicBezTo>
                    <a:cubicBezTo>
                      <a:pt x="1421" y="603"/>
                      <a:pt x="1423" y="603"/>
                      <a:pt x="1423" y="603"/>
                    </a:cubicBezTo>
                    <a:cubicBezTo>
                      <a:pt x="1424" y="602"/>
                      <a:pt x="1424" y="602"/>
                      <a:pt x="1425" y="602"/>
                    </a:cubicBezTo>
                    <a:cubicBezTo>
                      <a:pt x="1426" y="602"/>
                      <a:pt x="1431" y="603"/>
                      <a:pt x="1432" y="603"/>
                    </a:cubicBezTo>
                    <a:cubicBezTo>
                      <a:pt x="1433" y="604"/>
                      <a:pt x="1444" y="609"/>
                      <a:pt x="1444" y="609"/>
                    </a:cubicBezTo>
                    <a:cubicBezTo>
                      <a:pt x="1444" y="609"/>
                      <a:pt x="1445" y="610"/>
                      <a:pt x="1445" y="610"/>
                    </a:cubicBezTo>
                    <a:cubicBezTo>
                      <a:pt x="1446" y="610"/>
                      <a:pt x="1449" y="610"/>
                      <a:pt x="1450" y="610"/>
                    </a:cubicBezTo>
                    <a:cubicBezTo>
                      <a:pt x="1450" y="609"/>
                      <a:pt x="1452" y="609"/>
                      <a:pt x="1454" y="610"/>
                    </a:cubicBezTo>
                    <a:cubicBezTo>
                      <a:pt x="1455" y="611"/>
                      <a:pt x="1456" y="611"/>
                      <a:pt x="1457" y="612"/>
                    </a:cubicBezTo>
                    <a:cubicBezTo>
                      <a:pt x="1459" y="612"/>
                      <a:pt x="1460" y="614"/>
                      <a:pt x="1461" y="614"/>
                    </a:cubicBezTo>
                    <a:cubicBezTo>
                      <a:pt x="1462" y="615"/>
                      <a:pt x="1463" y="616"/>
                      <a:pt x="1464" y="617"/>
                    </a:cubicBezTo>
                    <a:cubicBezTo>
                      <a:pt x="1465" y="617"/>
                      <a:pt x="1466" y="618"/>
                      <a:pt x="1465" y="619"/>
                    </a:cubicBezTo>
                    <a:cubicBezTo>
                      <a:pt x="1464" y="620"/>
                      <a:pt x="1464" y="621"/>
                      <a:pt x="1464" y="622"/>
                    </a:cubicBezTo>
                    <a:cubicBezTo>
                      <a:pt x="1465" y="623"/>
                      <a:pt x="1468" y="626"/>
                      <a:pt x="1469" y="627"/>
                    </a:cubicBezTo>
                    <a:cubicBezTo>
                      <a:pt x="1470" y="627"/>
                      <a:pt x="1472" y="630"/>
                      <a:pt x="1472" y="631"/>
                    </a:cubicBezTo>
                    <a:cubicBezTo>
                      <a:pt x="1471" y="632"/>
                      <a:pt x="1472" y="634"/>
                      <a:pt x="1472" y="635"/>
                    </a:cubicBezTo>
                    <a:cubicBezTo>
                      <a:pt x="1472" y="636"/>
                      <a:pt x="1475" y="641"/>
                      <a:pt x="1475" y="642"/>
                    </a:cubicBezTo>
                    <a:cubicBezTo>
                      <a:pt x="1475" y="642"/>
                      <a:pt x="1477" y="646"/>
                      <a:pt x="1477" y="647"/>
                    </a:cubicBezTo>
                    <a:cubicBezTo>
                      <a:pt x="1477" y="648"/>
                      <a:pt x="1477" y="648"/>
                      <a:pt x="1477" y="648"/>
                    </a:cubicBezTo>
                    <a:cubicBezTo>
                      <a:pt x="1478" y="648"/>
                      <a:pt x="1479" y="647"/>
                      <a:pt x="1479" y="647"/>
                    </a:cubicBezTo>
                    <a:cubicBezTo>
                      <a:pt x="1479" y="647"/>
                      <a:pt x="1479" y="647"/>
                      <a:pt x="1479" y="648"/>
                    </a:cubicBezTo>
                    <a:cubicBezTo>
                      <a:pt x="1479" y="648"/>
                      <a:pt x="1480" y="653"/>
                      <a:pt x="1480" y="653"/>
                    </a:cubicBezTo>
                    <a:cubicBezTo>
                      <a:pt x="1480" y="653"/>
                      <a:pt x="1480" y="654"/>
                      <a:pt x="1480" y="654"/>
                    </a:cubicBezTo>
                    <a:cubicBezTo>
                      <a:pt x="1481" y="654"/>
                      <a:pt x="1482" y="655"/>
                      <a:pt x="1482" y="656"/>
                    </a:cubicBezTo>
                    <a:cubicBezTo>
                      <a:pt x="1482" y="656"/>
                      <a:pt x="1485" y="664"/>
                      <a:pt x="1486" y="666"/>
                    </a:cubicBezTo>
                    <a:cubicBezTo>
                      <a:pt x="1487" y="667"/>
                      <a:pt x="1488" y="668"/>
                      <a:pt x="1488" y="669"/>
                    </a:cubicBezTo>
                    <a:cubicBezTo>
                      <a:pt x="1488" y="670"/>
                      <a:pt x="1487" y="673"/>
                      <a:pt x="1487" y="673"/>
                    </a:cubicBezTo>
                    <a:cubicBezTo>
                      <a:pt x="1487" y="673"/>
                      <a:pt x="1487" y="674"/>
                      <a:pt x="1487" y="674"/>
                    </a:cubicBezTo>
                    <a:cubicBezTo>
                      <a:pt x="1487" y="675"/>
                      <a:pt x="1490" y="679"/>
                      <a:pt x="1491" y="679"/>
                    </a:cubicBezTo>
                    <a:cubicBezTo>
                      <a:pt x="1491" y="680"/>
                      <a:pt x="1492" y="681"/>
                      <a:pt x="1493" y="681"/>
                    </a:cubicBezTo>
                    <a:cubicBezTo>
                      <a:pt x="1494" y="681"/>
                      <a:pt x="1497" y="681"/>
                      <a:pt x="1497" y="681"/>
                    </a:cubicBezTo>
                    <a:cubicBezTo>
                      <a:pt x="1498" y="680"/>
                      <a:pt x="1501" y="681"/>
                      <a:pt x="1501" y="681"/>
                    </a:cubicBezTo>
                    <a:cubicBezTo>
                      <a:pt x="1501" y="681"/>
                      <a:pt x="1502" y="681"/>
                      <a:pt x="1502" y="681"/>
                    </a:cubicBezTo>
                    <a:cubicBezTo>
                      <a:pt x="1513" y="685"/>
                      <a:pt x="1513" y="685"/>
                      <a:pt x="1513" y="685"/>
                    </a:cubicBezTo>
                    <a:cubicBezTo>
                      <a:pt x="1513" y="685"/>
                      <a:pt x="1513" y="685"/>
                      <a:pt x="1513" y="684"/>
                    </a:cubicBezTo>
                    <a:cubicBezTo>
                      <a:pt x="1513" y="684"/>
                      <a:pt x="1514" y="684"/>
                      <a:pt x="1515" y="684"/>
                    </a:cubicBezTo>
                    <a:cubicBezTo>
                      <a:pt x="1515" y="684"/>
                      <a:pt x="1515" y="683"/>
                      <a:pt x="1516" y="684"/>
                    </a:cubicBezTo>
                    <a:cubicBezTo>
                      <a:pt x="1516" y="684"/>
                      <a:pt x="1517" y="684"/>
                      <a:pt x="1517" y="684"/>
                    </a:cubicBezTo>
                    <a:cubicBezTo>
                      <a:pt x="1517" y="685"/>
                      <a:pt x="1526" y="693"/>
                      <a:pt x="1526" y="694"/>
                    </a:cubicBezTo>
                    <a:cubicBezTo>
                      <a:pt x="1527" y="694"/>
                      <a:pt x="1529" y="695"/>
                      <a:pt x="1530" y="695"/>
                    </a:cubicBezTo>
                    <a:cubicBezTo>
                      <a:pt x="1533" y="694"/>
                      <a:pt x="1533" y="694"/>
                      <a:pt x="1533" y="694"/>
                    </a:cubicBezTo>
                    <a:cubicBezTo>
                      <a:pt x="1533" y="694"/>
                      <a:pt x="1533" y="695"/>
                      <a:pt x="1533" y="695"/>
                    </a:cubicBezTo>
                    <a:cubicBezTo>
                      <a:pt x="1533" y="696"/>
                      <a:pt x="1532" y="698"/>
                      <a:pt x="1532" y="699"/>
                    </a:cubicBezTo>
                    <a:cubicBezTo>
                      <a:pt x="1532" y="700"/>
                      <a:pt x="1534" y="701"/>
                      <a:pt x="1535" y="701"/>
                    </a:cubicBezTo>
                    <a:cubicBezTo>
                      <a:pt x="1535" y="702"/>
                      <a:pt x="1535" y="702"/>
                      <a:pt x="1535" y="702"/>
                    </a:cubicBezTo>
                    <a:cubicBezTo>
                      <a:pt x="1536" y="703"/>
                      <a:pt x="1536" y="705"/>
                      <a:pt x="1536" y="705"/>
                    </a:cubicBezTo>
                    <a:cubicBezTo>
                      <a:pt x="1536" y="706"/>
                      <a:pt x="1534" y="708"/>
                      <a:pt x="1534" y="709"/>
                    </a:cubicBezTo>
                    <a:cubicBezTo>
                      <a:pt x="1534" y="710"/>
                      <a:pt x="1535" y="711"/>
                      <a:pt x="1536" y="712"/>
                    </a:cubicBezTo>
                    <a:cubicBezTo>
                      <a:pt x="1536" y="712"/>
                      <a:pt x="1537" y="713"/>
                      <a:pt x="1538" y="714"/>
                    </a:cubicBezTo>
                    <a:cubicBezTo>
                      <a:pt x="1538" y="715"/>
                      <a:pt x="1538" y="717"/>
                      <a:pt x="1540" y="717"/>
                    </a:cubicBezTo>
                    <a:cubicBezTo>
                      <a:pt x="1542" y="717"/>
                      <a:pt x="1551" y="717"/>
                      <a:pt x="1551" y="717"/>
                    </a:cubicBezTo>
                    <a:cubicBezTo>
                      <a:pt x="1552" y="717"/>
                      <a:pt x="1556" y="717"/>
                      <a:pt x="1556" y="717"/>
                    </a:cubicBezTo>
                    <a:cubicBezTo>
                      <a:pt x="1557" y="717"/>
                      <a:pt x="1561" y="716"/>
                      <a:pt x="1561" y="716"/>
                    </a:cubicBezTo>
                    <a:cubicBezTo>
                      <a:pt x="1561" y="716"/>
                      <a:pt x="1562" y="716"/>
                      <a:pt x="1562" y="716"/>
                    </a:cubicBezTo>
                    <a:cubicBezTo>
                      <a:pt x="1562" y="715"/>
                      <a:pt x="1564" y="711"/>
                      <a:pt x="1566" y="711"/>
                    </a:cubicBezTo>
                    <a:cubicBezTo>
                      <a:pt x="1568" y="710"/>
                      <a:pt x="1570" y="709"/>
                      <a:pt x="1570" y="709"/>
                    </a:cubicBezTo>
                    <a:cubicBezTo>
                      <a:pt x="1571" y="709"/>
                      <a:pt x="1573" y="709"/>
                      <a:pt x="1574" y="709"/>
                    </a:cubicBezTo>
                    <a:cubicBezTo>
                      <a:pt x="1574" y="709"/>
                      <a:pt x="1584" y="705"/>
                      <a:pt x="1585" y="705"/>
                    </a:cubicBezTo>
                    <a:cubicBezTo>
                      <a:pt x="1585" y="704"/>
                      <a:pt x="1589" y="704"/>
                      <a:pt x="1589" y="704"/>
                    </a:cubicBezTo>
                    <a:cubicBezTo>
                      <a:pt x="1589" y="704"/>
                      <a:pt x="1590" y="704"/>
                      <a:pt x="1591" y="704"/>
                    </a:cubicBezTo>
                    <a:cubicBezTo>
                      <a:pt x="1591" y="704"/>
                      <a:pt x="1594" y="706"/>
                      <a:pt x="1594" y="706"/>
                    </a:cubicBezTo>
                    <a:cubicBezTo>
                      <a:pt x="1594" y="706"/>
                      <a:pt x="1595" y="706"/>
                      <a:pt x="1594" y="707"/>
                    </a:cubicBezTo>
                    <a:cubicBezTo>
                      <a:pt x="1593" y="707"/>
                      <a:pt x="1592" y="709"/>
                      <a:pt x="1592" y="711"/>
                    </a:cubicBezTo>
                    <a:cubicBezTo>
                      <a:pt x="1592" y="713"/>
                      <a:pt x="1594" y="714"/>
                      <a:pt x="1594" y="715"/>
                    </a:cubicBezTo>
                    <a:cubicBezTo>
                      <a:pt x="1595" y="716"/>
                      <a:pt x="1595" y="718"/>
                      <a:pt x="1593" y="719"/>
                    </a:cubicBezTo>
                    <a:cubicBezTo>
                      <a:pt x="1591" y="720"/>
                      <a:pt x="1586" y="723"/>
                      <a:pt x="1586" y="725"/>
                    </a:cubicBezTo>
                    <a:cubicBezTo>
                      <a:pt x="1586" y="727"/>
                      <a:pt x="1586" y="729"/>
                      <a:pt x="1585" y="729"/>
                    </a:cubicBezTo>
                    <a:cubicBezTo>
                      <a:pt x="1585" y="730"/>
                      <a:pt x="1584" y="736"/>
                      <a:pt x="1584" y="736"/>
                    </a:cubicBezTo>
                    <a:cubicBezTo>
                      <a:pt x="1584" y="736"/>
                      <a:pt x="1583" y="737"/>
                      <a:pt x="1583" y="737"/>
                    </a:cubicBezTo>
                    <a:cubicBezTo>
                      <a:pt x="1582" y="738"/>
                      <a:pt x="1582" y="738"/>
                      <a:pt x="1582" y="739"/>
                    </a:cubicBezTo>
                    <a:cubicBezTo>
                      <a:pt x="1582" y="740"/>
                      <a:pt x="1581" y="744"/>
                      <a:pt x="1581" y="744"/>
                    </a:cubicBezTo>
                    <a:cubicBezTo>
                      <a:pt x="1581" y="744"/>
                      <a:pt x="1581" y="745"/>
                      <a:pt x="1580" y="745"/>
                    </a:cubicBezTo>
                    <a:cubicBezTo>
                      <a:pt x="1580" y="746"/>
                      <a:pt x="1576" y="751"/>
                      <a:pt x="1576" y="751"/>
                    </a:cubicBezTo>
                    <a:cubicBezTo>
                      <a:pt x="1576" y="751"/>
                      <a:pt x="1576" y="752"/>
                      <a:pt x="1576" y="752"/>
                    </a:cubicBezTo>
                    <a:cubicBezTo>
                      <a:pt x="1576" y="753"/>
                      <a:pt x="1576" y="755"/>
                      <a:pt x="1574" y="757"/>
                    </a:cubicBezTo>
                    <a:cubicBezTo>
                      <a:pt x="1572" y="758"/>
                      <a:pt x="1571" y="759"/>
                      <a:pt x="1571" y="759"/>
                    </a:cubicBezTo>
                    <a:cubicBezTo>
                      <a:pt x="1571" y="759"/>
                      <a:pt x="1570" y="759"/>
                      <a:pt x="1570" y="760"/>
                    </a:cubicBezTo>
                    <a:cubicBezTo>
                      <a:pt x="1570" y="760"/>
                      <a:pt x="1570" y="762"/>
                      <a:pt x="1570" y="763"/>
                    </a:cubicBezTo>
                    <a:cubicBezTo>
                      <a:pt x="1570" y="764"/>
                      <a:pt x="1570" y="764"/>
                      <a:pt x="1570" y="765"/>
                    </a:cubicBezTo>
                    <a:cubicBezTo>
                      <a:pt x="1570" y="765"/>
                      <a:pt x="1567" y="766"/>
                      <a:pt x="1567" y="766"/>
                    </a:cubicBezTo>
                    <a:cubicBezTo>
                      <a:pt x="1567" y="766"/>
                      <a:pt x="1566" y="766"/>
                      <a:pt x="1565" y="766"/>
                    </a:cubicBezTo>
                    <a:cubicBezTo>
                      <a:pt x="1565" y="765"/>
                      <a:pt x="1554" y="763"/>
                      <a:pt x="1554" y="763"/>
                    </a:cubicBezTo>
                    <a:cubicBezTo>
                      <a:pt x="1554" y="763"/>
                      <a:pt x="1554" y="762"/>
                      <a:pt x="1553" y="762"/>
                    </a:cubicBezTo>
                    <a:cubicBezTo>
                      <a:pt x="1553" y="762"/>
                      <a:pt x="1552" y="760"/>
                      <a:pt x="1551" y="761"/>
                    </a:cubicBezTo>
                    <a:cubicBezTo>
                      <a:pt x="1550" y="762"/>
                      <a:pt x="1550" y="763"/>
                      <a:pt x="1549" y="763"/>
                    </a:cubicBezTo>
                    <a:cubicBezTo>
                      <a:pt x="1549" y="764"/>
                      <a:pt x="1546" y="767"/>
                      <a:pt x="1546" y="767"/>
                    </a:cubicBezTo>
                    <a:cubicBezTo>
                      <a:pt x="1546" y="767"/>
                      <a:pt x="1546" y="767"/>
                      <a:pt x="1545" y="767"/>
                    </a:cubicBezTo>
                    <a:cubicBezTo>
                      <a:pt x="1544" y="768"/>
                      <a:pt x="1539" y="769"/>
                      <a:pt x="1539" y="769"/>
                    </a:cubicBezTo>
                    <a:cubicBezTo>
                      <a:pt x="1539" y="769"/>
                      <a:pt x="1538" y="770"/>
                      <a:pt x="1539" y="770"/>
                    </a:cubicBezTo>
                    <a:cubicBezTo>
                      <a:pt x="1539" y="770"/>
                      <a:pt x="1541" y="775"/>
                      <a:pt x="1541" y="775"/>
                    </a:cubicBezTo>
                    <a:cubicBezTo>
                      <a:pt x="1541" y="776"/>
                      <a:pt x="1542" y="780"/>
                      <a:pt x="1542" y="781"/>
                    </a:cubicBezTo>
                    <a:cubicBezTo>
                      <a:pt x="1542" y="782"/>
                      <a:pt x="1543" y="790"/>
                      <a:pt x="1543" y="792"/>
                    </a:cubicBezTo>
                    <a:cubicBezTo>
                      <a:pt x="1543" y="795"/>
                      <a:pt x="1543" y="795"/>
                      <a:pt x="1543" y="795"/>
                    </a:cubicBezTo>
                    <a:cubicBezTo>
                      <a:pt x="1543" y="795"/>
                      <a:pt x="1543" y="796"/>
                      <a:pt x="1543" y="796"/>
                    </a:cubicBezTo>
                    <a:cubicBezTo>
                      <a:pt x="1543" y="796"/>
                      <a:pt x="1542" y="804"/>
                      <a:pt x="1540" y="805"/>
                    </a:cubicBezTo>
                    <a:cubicBezTo>
                      <a:pt x="1537" y="806"/>
                      <a:pt x="1537" y="806"/>
                      <a:pt x="1536" y="806"/>
                    </a:cubicBezTo>
                    <a:cubicBezTo>
                      <a:pt x="1535" y="806"/>
                      <a:pt x="1531" y="808"/>
                      <a:pt x="1531" y="808"/>
                    </a:cubicBezTo>
                    <a:cubicBezTo>
                      <a:pt x="1530" y="808"/>
                      <a:pt x="1530" y="809"/>
                      <a:pt x="1531" y="809"/>
                    </a:cubicBezTo>
                    <a:cubicBezTo>
                      <a:pt x="1531" y="809"/>
                      <a:pt x="1533" y="809"/>
                      <a:pt x="1533" y="811"/>
                    </a:cubicBezTo>
                    <a:cubicBezTo>
                      <a:pt x="1533" y="812"/>
                      <a:pt x="1533" y="813"/>
                      <a:pt x="1533" y="814"/>
                    </a:cubicBezTo>
                    <a:cubicBezTo>
                      <a:pt x="1533" y="814"/>
                      <a:pt x="1534" y="815"/>
                      <a:pt x="1534" y="816"/>
                    </a:cubicBezTo>
                    <a:cubicBezTo>
                      <a:pt x="1535" y="816"/>
                      <a:pt x="1535" y="816"/>
                      <a:pt x="1535" y="815"/>
                    </a:cubicBezTo>
                    <a:cubicBezTo>
                      <a:pt x="1536" y="814"/>
                      <a:pt x="1538" y="812"/>
                      <a:pt x="1537" y="811"/>
                    </a:cubicBezTo>
                    <a:cubicBezTo>
                      <a:pt x="1536" y="810"/>
                      <a:pt x="1535" y="809"/>
                      <a:pt x="1538" y="810"/>
                    </a:cubicBezTo>
                    <a:cubicBezTo>
                      <a:pt x="1540" y="810"/>
                      <a:pt x="1539" y="810"/>
                      <a:pt x="1540" y="810"/>
                    </a:cubicBezTo>
                    <a:cubicBezTo>
                      <a:pt x="1540" y="810"/>
                      <a:pt x="1541" y="810"/>
                      <a:pt x="1541" y="810"/>
                    </a:cubicBezTo>
                    <a:cubicBezTo>
                      <a:pt x="1542" y="811"/>
                      <a:pt x="1542" y="811"/>
                      <a:pt x="1543" y="810"/>
                    </a:cubicBezTo>
                    <a:cubicBezTo>
                      <a:pt x="1543" y="809"/>
                      <a:pt x="1544" y="808"/>
                      <a:pt x="1545" y="807"/>
                    </a:cubicBezTo>
                    <a:cubicBezTo>
                      <a:pt x="1546" y="806"/>
                      <a:pt x="1548" y="803"/>
                      <a:pt x="1548" y="802"/>
                    </a:cubicBezTo>
                    <a:cubicBezTo>
                      <a:pt x="1549" y="800"/>
                      <a:pt x="1550" y="798"/>
                      <a:pt x="1552" y="798"/>
                    </a:cubicBezTo>
                    <a:cubicBezTo>
                      <a:pt x="1554" y="797"/>
                      <a:pt x="1555" y="797"/>
                      <a:pt x="1554" y="799"/>
                    </a:cubicBezTo>
                    <a:cubicBezTo>
                      <a:pt x="1552" y="800"/>
                      <a:pt x="1551" y="802"/>
                      <a:pt x="1553" y="802"/>
                    </a:cubicBezTo>
                    <a:cubicBezTo>
                      <a:pt x="1554" y="801"/>
                      <a:pt x="1556" y="800"/>
                      <a:pt x="1557" y="799"/>
                    </a:cubicBezTo>
                    <a:cubicBezTo>
                      <a:pt x="1558" y="798"/>
                      <a:pt x="1558" y="798"/>
                      <a:pt x="1558" y="800"/>
                    </a:cubicBezTo>
                    <a:cubicBezTo>
                      <a:pt x="1558" y="802"/>
                      <a:pt x="1558" y="805"/>
                      <a:pt x="1559" y="806"/>
                    </a:cubicBezTo>
                    <a:cubicBezTo>
                      <a:pt x="1559" y="806"/>
                      <a:pt x="1560" y="806"/>
                      <a:pt x="1560" y="805"/>
                    </a:cubicBezTo>
                    <a:cubicBezTo>
                      <a:pt x="1560" y="805"/>
                      <a:pt x="1560" y="805"/>
                      <a:pt x="1561" y="805"/>
                    </a:cubicBezTo>
                    <a:cubicBezTo>
                      <a:pt x="1561" y="806"/>
                      <a:pt x="1562" y="806"/>
                      <a:pt x="1563" y="806"/>
                    </a:cubicBezTo>
                    <a:cubicBezTo>
                      <a:pt x="1564" y="806"/>
                      <a:pt x="1565" y="805"/>
                      <a:pt x="1567" y="806"/>
                    </a:cubicBezTo>
                    <a:cubicBezTo>
                      <a:pt x="1568" y="808"/>
                      <a:pt x="1570" y="810"/>
                      <a:pt x="1572" y="808"/>
                    </a:cubicBezTo>
                    <a:cubicBezTo>
                      <a:pt x="1574" y="807"/>
                      <a:pt x="1576" y="807"/>
                      <a:pt x="1579" y="807"/>
                    </a:cubicBezTo>
                    <a:cubicBezTo>
                      <a:pt x="1581" y="806"/>
                      <a:pt x="1586" y="804"/>
                      <a:pt x="1588" y="802"/>
                    </a:cubicBezTo>
                    <a:cubicBezTo>
                      <a:pt x="1590" y="801"/>
                      <a:pt x="1594" y="798"/>
                      <a:pt x="1596" y="797"/>
                    </a:cubicBezTo>
                    <a:cubicBezTo>
                      <a:pt x="1598" y="796"/>
                      <a:pt x="1605" y="791"/>
                      <a:pt x="1607" y="785"/>
                    </a:cubicBezTo>
                    <a:cubicBezTo>
                      <a:pt x="1607" y="785"/>
                      <a:pt x="1608" y="782"/>
                      <a:pt x="1610" y="781"/>
                    </a:cubicBezTo>
                    <a:cubicBezTo>
                      <a:pt x="1611" y="780"/>
                      <a:pt x="1617" y="774"/>
                      <a:pt x="1619" y="772"/>
                    </a:cubicBezTo>
                    <a:cubicBezTo>
                      <a:pt x="1621" y="769"/>
                      <a:pt x="1627" y="762"/>
                      <a:pt x="1629" y="761"/>
                    </a:cubicBezTo>
                    <a:cubicBezTo>
                      <a:pt x="1631" y="759"/>
                      <a:pt x="1641" y="748"/>
                      <a:pt x="1643" y="746"/>
                    </a:cubicBezTo>
                    <a:cubicBezTo>
                      <a:pt x="1645" y="743"/>
                      <a:pt x="1648" y="738"/>
                      <a:pt x="1649" y="735"/>
                    </a:cubicBezTo>
                    <a:cubicBezTo>
                      <a:pt x="1650" y="732"/>
                      <a:pt x="1652" y="728"/>
                      <a:pt x="1654" y="726"/>
                    </a:cubicBezTo>
                    <a:cubicBezTo>
                      <a:pt x="1657" y="724"/>
                      <a:pt x="1659" y="721"/>
                      <a:pt x="1660" y="718"/>
                    </a:cubicBezTo>
                    <a:cubicBezTo>
                      <a:pt x="1661" y="715"/>
                      <a:pt x="1666" y="712"/>
                      <a:pt x="1669" y="709"/>
                    </a:cubicBezTo>
                    <a:cubicBezTo>
                      <a:pt x="1672" y="706"/>
                      <a:pt x="1675" y="700"/>
                      <a:pt x="1676" y="697"/>
                    </a:cubicBezTo>
                    <a:cubicBezTo>
                      <a:pt x="1677" y="694"/>
                      <a:pt x="1679" y="691"/>
                      <a:pt x="1677" y="691"/>
                    </a:cubicBezTo>
                    <a:cubicBezTo>
                      <a:pt x="1676" y="691"/>
                      <a:pt x="1677" y="690"/>
                      <a:pt x="1678" y="688"/>
                    </a:cubicBezTo>
                    <a:cubicBezTo>
                      <a:pt x="1679" y="687"/>
                      <a:pt x="1681" y="682"/>
                      <a:pt x="1681" y="680"/>
                    </a:cubicBezTo>
                    <a:cubicBezTo>
                      <a:pt x="1681" y="678"/>
                      <a:pt x="1680" y="677"/>
                      <a:pt x="1681" y="677"/>
                    </a:cubicBezTo>
                    <a:cubicBezTo>
                      <a:pt x="1681" y="676"/>
                      <a:pt x="1680" y="676"/>
                      <a:pt x="1680" y="676"/>
                    </a:cubicBezTo>
                    <a:cubicBezTo>
                      <a:pt x="1679" y="675"/>
                      <a:pt x="1679" y="675"/>
                      <a:pt x="1680" y="673"/>
                    </a:cubicBezTo>
                    <a:cubicBezTo>
                      <a:pt x="1682" y="672"/>
                      <a:pt x="1684" y="671"/>
                      <a:pt x="1683" y="671"/>
                    </a:cubicBezTo>
                    <a:cubicBezTo>
                      <a:pt x="1681" y="670"/>
                      <a:pt x="1681" y="670"/>
                      <a:pt x="1681" y="669"/>
                    </a:cubicBezTo>
                    <a:cubicBezTo>
                      <a:pt x="1681" y="667"/>
                      <a:pt x="1680" y="663"/>
                      <a:pt x="1680" y="662"/>
                    </a:cubicBezTo>
                    <a:cubicBezTo>
                      <a:pt x="1680" y="660"/>
                      <a:pt x="1680" y="658"/>
                      <a:pt x="1681" y="656"/>
                    </a:cubicBezTo>
                    <a:cubicBezTo>
                      <a:pt x="1682" y="655"/>
                      <a:pt x="1682" y="651"/>
                      <a:pt x="1682" y="650"/>
                    </a:cubicBezTo>
                    <a:cubicBezTo>
                      <a:pt x="1682" y="648"/>
                      <a:pt x="1683" y="647"/>
                      <a:pt x="1684" y="646"/>
                    </a:cubicBezTo>
                    <a:cubicBezTo>
                      <a:pt x="1685" y="646"/>
                      <a:pt x="1686" y="645"/>
                      <a:pt x="1685" y="645"/>
                    </a:cubicBezTo>
                    <a:cubicBezTo>
                      <a:pt x="1685" y="644"/>
                      <a:pt x="1685" y="642"/>
                      <a:pt x="1688" y="639"/>
                    </a:cubicBezTo>
                    <a:cubicBezTo>
                      <a:pt x="1691" y="637"/>
                      <a:pt x="1695" y="635"/>
                      <a:pt x="1694" y="634"/>
                    </a:cubicBezTo>
                    <a:cubicBezTo>
                      <a:pt x="1693" y="633"/>
                      <a:pt x="1692" y="632"/>
                      <a:pt x="1693" y="631"/>
                    </a:cubicBezTo>
                    <a:cubicBezTo>
                      <a:pt x="1694" y="630"/>
                      <a:pt x="1696" y="629"/>
                      <a:pt x="1694" y="629"/>
                    </a:cubicBezTo>
                    <a:cubicBezTo>
                      <a:pt x="1693" y="628"/>
                      <a:pt x="1689" y="626"/>
                      <a:pt x="1690" y="624"/>
                    </a:cubicBezTo>
                    <a:cubicBezTo>
                      <a:pt x="1691" y="623"/>
                      <a:pt x="1691" y="623"/>
                      <a:pt x="1691" y="622"/>
                    </a:cubicBezTo>
                    <a:cubicBezTo>
                      <a:pt x="1691" y="621"/>
                      <a:pt x="1692" y="617"/>
                      <a:pt x="1691" y="616"/>
                    </a:cubicBezTo>
                    <a:cubicBezTo>
                      <a:pt x="1689" y="615"/>
                      <a:pt x="1688" y="615"/>
                      <a:pt x="1688" y="614"/>
                    </a:cubicBezTo>
                    <a:cubicBezTo>
                      <a:pt x="1687" y="613"/>
                      <a:pt x="1685" y="612"/>
                      <a:pt x="1689" y="613"/>
                    </a:cubicBezTo>
                    <a:cubicBezTo>
                      <a:pt x="1692" y="613"/>
                      <a:pt x="1693" y="612"/>
                      <a:pt x="1693" y="612"/>
                    </a:cubicBezTo>
                    <a:cubicBezTo>
                      <a:pt x="1693" y="611"/>
                      <a:pt x="1695" y="608"/>
                      <a:pt x="1692" y="607"/>
                    </a:cubicBezTo>
                    <a:cubicBezTo>
                      <a:pt x="1689" y="605"/>
                      <a:pt x="1679" y="601"/>
                      <a:pt x="1671" y="589"/>
                    </a:cubicBezTo>
                    <a:cubicBezTo>
                      <a:pt x="1671" y="589"/>
                      <a:pt x="1671" y="587"/>
                      <a:pt x="1667" y="588"/>
                    </a:cubicBezTo>
                    <a:cubicBezTo>
                      <a:pt x="1663" y="588"/>
                      <a:pt x="1657" y="587"/>
                      <a:pt x="1656" y="587"/>
                    </a:cubicBezTo>
                    <a:cubicBezTo>
                      <a:pt x="1654" y="587"/>
                      <a:pt x="1654" y="587"/>
                      <a:pt x="1654" y="588"/>
                    </a:cubicBezTo>
                    <a:cubicBezTo>
                      <a:pt x="1654" y="590"/>
                      <a:pt x="1653" y="591"/>
                      <a:pt x="1654" y="591"/>
                    </a:cubicBezTo>
                    <a:cubicBezTo>
                      <a:pt x="1655" y="591"/>
                      <a:pt x="1655" y="591"/>
                      <a:pt x="1654" y="593"/>
                    </a:cubicBezTo>
                    <a:cubicBezTo>
                      <a:pt x="1654" y="594"/>
                      <a:pt x="1653" y="595"/>
                      <a:pt x="1653" y="596"/>
                    </a:cubicBezTo>
                    <a:cubicBezTo>
                      <a:pt x="1653" y="597"/>
                      <a:pt x="1651" y="601"/>
                      <a:pt x="1650" y="602"/>
                    </a:cubicBezTo>
                    <a:cubicBezTo>
                      <a:pt x="1650" y="603"/>
                      <a:pt x="1646" y="604"/>
                      <a:pt x="1647" y="602"/>
                    </a:cubicBezTo>
                    <a:cubicBezTo>
                      <a:pt x="1649" y="600"/>
                      <a:pt x="1650" y="599"/>
                      <a:pt x="1650" y="598"/>
                    </a:cubicBezTo>
                    <a:cubicBezTo>
                      <a:pt x="1651" y="598"/>
                      <a:pt x="1653" y="595"/>
                      <a:pt x="1652" y="594"/>
                    </a:cubicBezTo>
                    <a:cubicBezTo>
                      <a:pt x="1650" y="593"/>
                      <a:pt x="1649" y="594"/>
                      <a:pt x="1648" y="595"/>
                    </a:cubicBezTo>
                    <a:cubicBezTo>
                      <a:pt x="1646" y="597"/>
                      <a:pt x="1643" y="603"/>
                      <a:pt x="1636" y="602"/>
                    </a:cubicBezTo>
                    <a:cubicBezTo>
                      <a:pt x="1629" y="602"/>
                      <a:pt x="1632" y="600"/>
                      <a:pt x="1634" y="600"/>
                    </a:cubicBezTo>
                    <a:cubicBezTo>
                      <a:pt x="1636" y="600"/>
                      <a:pt x="1636" y="599"/>
                      <a:pt x="1637" y="598"/>
                    </a:cubicBezTo>
                    <a:cubicBezTo>
                      <a:pt x="1637" y="597"/>
                      <a:pt x="1637" y="597"/>
                      <a:pt x="1638" y="596"/>
                    </a:cubicBezTo>
                    <a:cubicBezTo>
                      <a:pt x="1639" y="596"/>
                      <a:pt x="1642" y="595"/>
                      <a:pt x="1639" y="594"/>
                    </a:cubicBezTo>
                    <a:cubicBezTo>
                      <a:pt x="1637" y="594"/>
                      <a:pt x="1632" y="592"/>
                      <a:pt x="1634" y="591"/>
                    </a:cubicBezTo>
                    <a:cubicBezTo>
                      <a:pt x="1636" y="591"/>
                      <a:pt x="1637" y="590"/>
                      <a:pt x="1636" y="590"/>
                    </a:cubicBezTo>
                    <a:cubicBezTo>
                      <a:pt x="1636" y="589"/>
                      <a:pt x="1636" y="587"/>
                      <a:pt x="1634" y="588"/>
                    </a:cubicBezTo>
                    <a:cubicBezTo>
                      <a:pt x="1633" y="588"/>
                      <a:pt x="1632" y="589"/>
                      <a:pt x="1631" y="589"/>
                    </a:cubicBezTo>
                    <a:cubicBezTo>
                      <a:pt x="1630" y="589"/>
                      <a:pt x="1629" y="590"/>
                      <a:pt x="1630" y="591"/>
                    </a:cubicBezTo>
                    <a:cubicBezTo>
                      <a:pt x="1631" y="592"/>
                      <a:pt x="1633" y="593"/>
                      <a:pt x="1632" y="594"/>
                    </a:cubicBezTo>
                    <a:cubicBezTo>
                      <a:pt x="1631" y="595"/>
                      <a:pt x="1623" y="600"/>
                      <a:pt x="1623" y="596"/>
                    </a:cubicBezTo>
                    <a:cubicBezTo>
                      <a:pt x="1623" y="593"/>
                      <a:pt x="1624" y="593"/>
                      <a:pt x="1625" y="592"/>
                    </a:cubicBezTo>
                    <a:cubicBezTo>
                      <a:pt x="1625" y="590"/>
                      <a:pt x="1625" y="590"/>
                      <a:pt x="1625" y="589"/>
                    </a:cubicBezTo>
                    <a:cubicBezTo>
                      <a:pt x="1625" y="589"/>
                      <a:pt x="1625" y="588"/>
                      <a:pt x="1625" y="588"/>
                    </a:cubicBezTo>
                    <a:cubicBezTo>
                      <a:pt x="1625" y="587"/>
                      <a:pt x="1625" y="587"/>
                      <a:pt x="1625" y="586"/>
                    </a:cubicBezTo>
                    <a:cubicBezTo>
                      <a:pt x="1625" y="586"/>
                      <a:pt x="1624" y="585"/>
                      <a:pt x="1625" y="585"/>
                    </a:cubicBezTo>
                    <a:cubicBezTo>
                      <a:pt x="1626" y="584"/>
                      <a:pt x="1626" y="583"/>
                      <a:pt x="1626" y="582"/>
                    </a:cubicBezTo>
                    <a:cubicBezTo>
                      <a:pt x="1626" y="582"/>
                      <a:pt x="1625" y="579"/>
                      <a:pt x="1620" y="579"/>
                    </a:cubicBezTo>
                    <a:cubicBezTo>
                      <a:pt x="1614" y="580"/>
                      <a:pt x="1605" y="579"/>
                      <a:pt x="1603" y="579"/>
                    </a:cubicBezTo>
                    <a:cubicBezTo>
                      <a:pt x="1601" y="578"/>
                      <a:pt x="1602" y="578"/>
                      <a:pt x="1602" y="577"/>
                    </a:cubicBezTo>
                    <a:cubicBezTo>
                      <a:pt x="1601" y="576"/>
                      <a:pt x="1600" y="575"/>
                      <a:pt x="1601" y="574"/>
                    </a:cubicBezTo>
                    <a:cubicBezTo>
                      <a:pt x="1603" y="573"/>
                      <a:pt x="1606" y="571"/>
                      <a:pt x="1608" y="570"/>
                    </a:cubicBezTo>
                    <a:cubicBezTo>
                      <a:pt x="1610" y="569"/>
                      <a:pt x="1616" y="566"/>
                      <a:pt x="1616" y="565"/>
                    </a:cubicBezTo>
                    <a:cubicBezTo>
                      <a:pt x="1617" y="564"/>
                      <a:pt x="1620" y="562"/>
                      <a:pt x="1622" y="561"/>
                    </a:cubicBezTo>
                    <a:cubicBezTo>
                      <a:pt x="1624" y="559"/>
                      <a:pt x="1633" y="554"/>
                      <a:pt x="1635" y="553"/>
                    </a:cubicBezTo>
                    <a:cubicBezTo>
                      <a:pt x="1636" y="551"/>
                      <a:pt x="1640" y="548"/>
                      <a:pt x="1642" y="546"/>
                    </a:cubicBezTo>
                    <a:cubicBezTo>
                      <a:pt x="1645" y="544"/>
                      <a:pt x="1647" y="542"/>
                      <a:pt x="1646" y="541"/>
                    </a:cubicBezTo>
                    <a:cubicBezTo>
                      <a:pt x="1645" y="540"/>
                      <a:pt x="1646" y="540"/>
                      <a:pt x="1647" y="539"/>
                    </a:cubicBezTo>
                    <a:cubicBezTo>
                      <a:pt x="1648" y="538"/>
                      <a:pt x="1650" y="534"/>
                      <a:pt x="1651" y="532"/>
                    </a:cubicBezTo>
                    <a:cubicBezTo>
                      <a:pt x="1652" y="531"/>
                      <a:pt x="1658" y="527"/>
                      <a:pt x="1661" y="525"/>
                    </a:cubicBezTo>
                    <a:cubicBezTo>
                      <a:pt x="1663" y="523"/>
                      <a:pt x="1668" y="518"/>
                      <a:pt x="1671" y="517"/>
                    </a:cubicBezTo>
                    <a:cubicBezTo>
                      <a:pt x="1674" y="516"/>
                      <a:pt x="1680" y="514"/>
                      <a:pt x="1681" y="511"/>
                    </a:cubicBezTo>
                    <a:cubicBezTo>
                      <a:pt x="1682" y="508"/>
                      <a:pt x="1685" y="503"/>
                      <a:pt x="1688" y="500"/>
                    </a:cubicBezTo>
                    <a:cubicBezTo>
                      <a:pt x="1692" y="496"/>
                      <a:pt x="1715" y="478"/>
                      <a:pt x="1720" y="479"/>
                    </a:cubicBezTo>
                    <a:cubicBezTo>
                      <a:pt x="1726" y="481"/>
                      <a:pt x="1727" y="480"/>
                      <a:pt x="1729" y="479"/>
                    </a:cubicBezTo>
                    <a:cubicBezTo>
                      <a:pt x="1730" y="478"/>
                      <a:pt x="1737" y="479"/>
                      <a:pt x="1738" y="479"/>
                    </a:cubicBezTo>
                    <a:cubicBezTo>
                      <a:pt x="1740" y="480"/>
                      <a:pt x="1741" y="479"/>
                      <a:pt x="1742" y="479"/>
                    </a:cubicBezTo>
                    <a:cubicBezTo>
                      <a:pt x="1743" y="479"/>
                      <a:pt x="1744" y="479"/>
                      <a:pt x="1746" y="479"/>
                    </a:cubicBezTo>
                    <a:cubicBezTo>
                      <a:pt x="1747" y="479"/>
                      <a:pt x="1750" y="478"/>
                      <a:pt x="1751" y="479"/>
                    </a:cubicBezTo>
                    <a:cubicBezTo>
                      <a:pt x="1752" y="479"/>
                      <a:pt x="1754" y="479"/>
                      <a:pt x="1754" y="479"/>
                    </a:cubicBezTo>
                    <a:cubicBezTo>
                      <a:pt x="1755" y="479"/>
                      <a:pt x="1762" y="478"/>
                      <a:pt x="1760" y="480"/>
                    </a:cubicBezTo>
                    <a:cubicBezTo>
                      <a:pt x="1758" y="482"/>
                      <a:pt x="1759" y="483"/>
                      <a:pt x="1762" y="483"/>
                    </a:cubicBezTo>
                    <a:cubicBezTo>
                      <a:pt x="1764" y="483"/>
                      <a:pt x="1767" y="484"/>
                      <a:pt x="1767" y="482"/>
                    </a:cubicBezTo>
                    <a:cubicBezTo>
                      <a:pt x="1767" y="479"/>
                      <a:pt x="1768" y="477"/>
                      <a:pt x="1770" y="478"/>
                    </a:cubicBezTo>
                    <a:cubicBezTo>
                      <a:pt x="1772" y="478"/>
                      <a:pt x="1778" y="481"/>
                      <a:pt x="1780" y="481"/>
                    </a:cubicBezTo>
                    <a:cubicBezTo>
                      <a:pt x="1782" y="482"/>
                      <a:pt x="1786" y="484"/>
                      <a:pt x="1791" y="480"/>
                    </a:cubicBezTo>
                    <a:cubicBezTo>
                      <a:pt x="1797" y="477"/>
                      <a:pt x="1798" y="480"/>
                      <a:pt x="1801" y="481"/>
                    </a:cubicBezTo>
                    <a:cubicBezTo>
                      <a:pt x="1803" y="482"/>
                      <a:pt x="1806" y="483"/>
                      <a:pt x="1806" y="481"/>
                    </a:cubicBezTo>
                    <a:cubicBezTo>
                      <a:pt x="1805" y="480"/>
                      <a:pt x="1804" y="481"/>
                      <a:pt x="1804" y="480"/>
                    </a:cubicBezTo>
                    <a:cubicBezTo>
                      <a:pt x="1803" y="479"/>
                      <a:pt x="1802" y="478"/>
                      <a:pt x="1804" y="477"/>
                    </a:cubicBezTo>
                    <a:cubicBezTo>
                      <a:pt x="1806" y="476"/>
                      <a:pt x="1808" y="477"/>
                      <a:pt x="1808" y="477"/>
                    </a:cubicBezTo>
                    <a:cubicBezTo>
                      <a:pt x="1809" y="477"/>
                      <a:pt x="1811" y="478"/>
                      <a:pt x="1809" y="476"/>
                    </a:cubicBezTo>
                    <a:cubicBezTo>
                      <a:pt x="1808" y="475"/>
                      <a:pt x="1808" y="474"/>
                      <a:pt x="1810" y="472"/>
                    </a:cubicBezTo>
                    <a:cubicBezTo>
                      <a:pt x="1812" y="471"/>
                      <a:pt x="1815" y="470"/>
                      <a:pt x="1819" y="472"/>
                    </a:cubicBezTo>
                    <a:cubicBezTo>
                      <a:pt x="1824" y="473"/>
                      <a:pt x="1829" y="475"/>
                      <a:pt x="1830" y="476"/>
                    </a:cubicBezTo>
                    <a:cubicBezTo>
                      <a:pt x="1831" y="477"/>
                      <a:pt x="1832" y="479"/>
                      <a:pt x="1834" y="478"/>
                    </a:cubicBezTo>
                    <a:cubicBezTo>
                      <a:pt x="1835" y="477"/>
                      <a:pt x="1836" y="475"/>
                      <a:pt x="1840" y="476"/>
                    </a:cubicBezTo>
                    <a:cubicBezTo>
                      <a:pt x="1843" y="477"/>
                      <a:pt x="1846" y="479"/>
                      <a:pt x="1846" y="479"/>
                    </a:cubicBezTo>
                    <a:cubicBezTo>
                      <a:pt x="1846" y="480"/>
                      <a:pt x="1846" y="481"/>
                      <a:pt x="1847" y="481"/>
                    </a:cubicBezTo>
                    <a:cubicBezTo>
                      <a:pt x="1849" y="481"/>
                      <a:pt x="1858" y="482"/>
                      <a:pt x="1854" y="484"/>
                    </a:cubicBezTo>
                    <a:cubicBezTo>
                      <a:pt x="1850" y="485"/>
                      <a:pt x="1845" y="485"/>
                      <a:pt x="1844" y="484"/>
                    </a:cubicBezTo>
                    <a:cubicBezTo>
                      <a:pt x="1842" y="484"/>
                      <a:pt x="1840" y="485"/>
                      <a:pt x="1840" y="485"/>
                    </a:cubicBezTo>
                    <a:cubicBezTo>
                      <a:pt x="1839" y="486"/>
                      <a:pt x="1837" y="486"/>
                      <a:pt x="1838" y="487"/>
                    </a:cubicBezTo>
                    <a:cubicBezTo>
                      <a:pt x="1840" y="489"/>
                      <a:pt x="1840" y="492"/>
                      <a:pt x="1843" y="491"/>
                    </a:cubicBezTo>
                    <a:cubicBezTo>
                      <a:pt x="1845" y="490"/>
                      <a:pt x="1852" y="488"/>
                      <a:pt x="1854" y="488"/>
                    </a:cubicBezTo>
                    <a:cubicBezTo>
                      <a:pt x="1856" y="487"/>
                      <a:pt x="1856" y="487"/>
                      <a:pt x="1858" y="488"/>
                    </a:cubicBezTo>
                    <a:cubicBezTo>
                      <a:pt x="1860" y="489"/>
                      <a:pt x="1863" y="491"/>
                      <a:pt x="1865" y="488"/>
                    </a:cubicBezTo>
                    <a:cubicBezTo>
                      <a:pt x="1866" y="485"/>
                      <a:pt x="1867" y="486"/>
                      <a:pt x="1868" y="486"/>
                    </a:cubicBezTo>
                    <a:cubicBezTo>
                      <a:pt x="1869" y="485"/>
                      <a:pt x="1870" y="485"/>
                      <a:pt x="1870" y="484"/>
                    </a:cubicBezTo>
                    <a:cubicBezTo>
                      <a:pt x="1871" y="483"/>
                      <a:pt x="1872" y="483"/>
                      <a:pt x="1873" y="484"/>
                    </a:cubicBezTo>
                    <a:cubicBezTo>
                      <a:pt x="1875" y="484"/>
                      <a:pt x="1878" y="485"/>
                      <a:pt x="1879" y="486"/>
                    </a:cubicBezTo>
                    <a:cubicBezTo>
                      <a:pt x="1880" y="487"/>
                      <a:pt x="1882" y="486"/>
                      <a:pt x="1883" y="485"/>
                    </a:cubicBezTo>
                    <a:cubicBezTo>
                      <a:pt x="1884" y="484"/>
                      <a:pt x="1886" y="483"/>
                      <a:pt x="1889" y="483"/>
                    </a:cubicBezTo>
                    <a:cubicBezTo>
                      <a:pt x="1893" y="484"/>
                      <a:pt x="1898" y="484"/>
                      <a:pt x="1898" y="483"/>
                    </a:cubicBezTo>
                    <a:cubicBezTo>
                      <a:pt x="1898" y="482"/>
                      <a:pt x="1898" y="478"/>
                      <a:pt x="1896" y="478"/>
                    </a:cubicBezTo>
                    <a:cubicBezTo>
                      <a:pt x="1893" y="478"/>
                      <a:pt x="1893" y="477"/>
                      <a:pt x="1892" y="477"/>
                    </a:cubicBezTo>
                    <a:cubicBezTo>
                      <a:pt x="1891" y="477"/>
                      <a:pt x="1889" y="476"/>
                      <a:pt x="1888" y="476"/>
                    </a:cubicBezTo>
                    <a:cubicBezTo>
                      <a:pt x="1887" y="477"/>
                      <a:pt x="1887" y="477"/>
                      <a:pt x="1887" y="477"/>
                    </a:cubicBezTo>
                    <a:cubicBezTo>
                      <a:pt x="1887" y="478"/>
                      <a:pt x="1887" y="479"/>
                      <a:pt x="1887" y="478"/>
                    </a:cubicBezTo>
                    <a:cubicBezTo>
                      <a:pt x="1886" y="477"/>
                      <a:pt x="1886" y="477"/>
                      <a:pt x="1885" y="477"/>
                    </a:cubicBezTo>
                    <a:cubicBezTo>
                      <a:pt x="1885" y="478"/>
                      <a:pt x="1882" y="477"/>
                      <a:pt x="1884" y="476"/>
                    </a:cubicBezTo>
                    <a:cubicBezTo>
                      <a:pt x="1886" y="475"/>
                      <a:pt x="1887" y="475"/>
                      <a:pt x="1886" y="474"/>
                    </a:cubicBezTo>
                    <a:cubicBezTo>
                      <a:pt x="1885" y="473"/>
                      <a:pt x="1883" y="469"/>
                      <a:pt x="1885" y="469"/>
                    </a:cubicBezTo>
                    <a:cubicBezTo>
                      <a:pt x="1887" y="468"/>
                      <a:pt x="1888" y="468"/>
                      <a:pt x="1888" y="467"/>
                    </a:cubicBezTo>
                    <a:cubicBezTo>
                      <a:pt x="1888" y="466"/>
                      <a:pt x="1888" y="465"/>
                      <a:pt x="1890" y="465"/>
                    </a:cubicBezTo>
                    <a:cubicBezTo>
                      <a:pt x="1891" y="464"/>
                      <a:pt x="1906" y="451"/>
                      <a:pt x="1906" y="451"/>
                    </a:cubicBezTo>
                    <a:cubicBezTo>
                      <a:pt x="1906" y="451"/>
                      <a:pt x="1907" y="450"/>
                      <a:pt x="1908" y="450"/>
                    </a:cubicBezTo>
                    <a:cubicBezTo>
                      <a:pt x="1908" y="450"/>
                      <a:pt x="1909" y="448"/>
                      <a:pt x="1910" y="446"/>
                    </a:cubicBezTo>
                    <a:cubicBezTo>
                      <a:pt x="1911" y="444"/>
                      <a:pt x="1912" y="443"/>
                      <a:pt x="1914" y="442"/>
                    </a:cubicBezTo>
                    <a:cubicBezTo>
                      <a:pt x="1917" y="440"/>
                      <a:pt x="1920" y="438"/>
                      <a:pt x="1920" y="436"/>
                    </a:cubicBezTo>
                    <a:cubicBezTo>
                      <a:pt x="1920" y="433"/>
                      <a:pt x="1920" y="431"/>
                      <a:pt x="1928" y="428"/>
                    </a:cubicBezTo>
                    <a:cubicBezTo>
                      <a:pt x="1936" y="425"/>
                      <a:pt x="1945" y="425"/>
                      <a:pt x="1948" y="425"/>
                    </a:cubicBezTo>
                    <a:cubicBezTo>
                      <a:pt x="1951" y="425"/>
                      <a:pt x="1952" y="424"/>
                      <a:pt x="1953" y="424"/>
                    </a:cubicBezTo>
                    <a:cubicBezTo>
                      <a:pt x="1954" y="423"/>
                      <a:pt x="1957" y="422"/>
                      <a:pt x="1958" y="423"/>
                    </a:cubicBezTo>
                    <a:cubicBezTo>
                      <a:pt x="1960" y="424"/>
                      <a:pt x="1960" y="424"/>
                      <a:pt x="1961" y="425"/>
                    </a:cubicBezTo>
                    <a:cubicBezTo>
                      <a:pt x="1962" y="425"/>
                      <a:pt x="1963" y="426"/>
                      <a:pt x="1962" y="427"/>
                    </a:cubicBezTo>
                    <a:cubicBezTo>
                      <a:pt x="1962" y="428"/>
                      <a:pt x="1962" y="429"/>
                      <a:pt x="1964" y="428"/>
                    </a:cubicBezTo>
                    <a:cubicBezTo>
                      <a:pt x="1965" y="428"/>
                      <a:pt x="1968" y="426"/>
                      <a:pt x="1970" y="424"/>
                    </a:cubicBezTo>
                    <a:cubicBezTo>
                      <a:pt x="1971" y="423"/>
                      <a:pt x="1974" y="422"/>
                      <a:pt x="1975" y="423"/>
                    </a:cubicBezTo>
                    <a:cubicBezTo>
                      <a:pt x="1975" y="425"/>
                      <a:pt x="1975" y="426"/>
                      <a:pt x="1975" y="427"/>
                    </a:cubicBezTo>
                    <a:cubicBezTo>
                      <a:pt x="1974" y="427"/>
                      <a:pt x="1973" y="427"/>
                      <a:pt x="1973" y="428"/>
                    </a:cubicBezTo>
                    <a:cubicBezTo>
                      <a:pt x="1974" y="429"/>
                      <a:pt x="1974" y="430"/>
                      <a:pt x="1973" y="431"/>
                    </a:cubicBezTo>
                    <a:cubicBezTo>
                      <a:pt x="1972" y="431"/>
                      <a:pt x="1970" y="432"/>
                      <a:pt x="1970" y="433"/>
                    </a:cubicBezTo>
                    <a:cubicBezTo>
                      <a:pt x="1971" y="433"/>
                      <a:pt x="1971" y="434"/>
                      <a:pt x="1970" y="434"/>
                    </a:cubicBezTo>
                    <a:cubicBezTo>
                      <a:pt x="1969" y="435"/>
                      <a:pt x="1968" y="436"/>
                      <a:pt x="1969" y="436"/>
                    </a:cubicBezTo>
                    <a:cubicBezTo>
                      <a:pt x="1969" y="436"/>
                      <a:pt x="1969" y="437"/>
                      <a:pt x="1968" y="437"/>
                    </a:cubicBezTo>
                    <a:cubicBezTo>
                      <a:pt x="1968" y="437"/>
                      <a:pt x="1966" y="438"/>
                      <a:pt x="1967" y="438"/>
                    </a:cubicBezTo>
                    <a:cubicBezTo>
                      <a:pt x="1968" y="439"/>
                      <a:pt x="1969" y="439"/>
                      <a:pt x="1969" y="441"/>
                    </a:cubicBezTo>
                    <a:cubicBezTo>
                      <a:pt x="1968" y="442"/>
                      <a:pt x="1966" y="444"/>
                      <a:pt x="1968" y="444"/>
                    </a:cubicBezTo>
                    <a:cubicBezTo>
                      <a:pt x="1970" y="444"/>
                      <a:pt x="1976" y="444"/>
                      <a:pt x="1974" y="446"/>
                    </a:cubicBezTo>
                    <a:cubicBezTo>
                      <a:pt x="1973" y="447"/>
                      <a:pt x="1972" y="447"/>
                      <a:pt x="1973" y="448"/>
                    </a:cubicBezTo>
                    <a:cubicBezTo>
                      <a:pt x="1973" y="449"/>
                      <a:pt x="1973" y="449"/>
                      <a:pt x="1973" y="450"/>
                    </a:cubicBezTo>
                    <a:cubicBezTo>
                      <a:pt x="1972" y="450"/>
                      <a:pt x="1970" y="453"/>
                      <a:pt x="1973" y="452"/>
                    </a:cubicBezTo>
                    <a:cubicBezTo>
                      <a:pt x="1975" y="451"/>
                      <a:pt x="1978" y="451"/>
                      <a:pt x="1980" y="450"/>
                    </a:cubicBezTo>
                    <a:cubicBezTo>
                      <a:pt x="1981" y="450"/>
                      <a:pt x="1982" y="448"/>
                      <a:pt x="1982" y="447"/>
                    </a:cubicBezTo>
                    <a:cubicBezTo>
                      <a:pt x="1983" y="446"/>
                      <a:pt x="1983" y="445"/>
                      <a:pt x="1985" y="444"/>
                    </a:cubicBezTo>
                    <a:cubicBezTo>
                      <a:pt x="1986" y="443"/>
                      <a:pt x="2004" y="431"/>
                      <a:pt x="2006" y="430"/>
                    </a:cubicBezTo>
                    <a:cubicBezTo>
                      <a:pt x="2007" y="429"/>
                      <a:pt x="2007" y="428"/>
                      <a:pt x="2008" y="429"/>
                    </a:cubicBezTo>
                    <a:cubicBezTo>
                      <a:pt x="2009" y="429"/>
                      <a:pt x="2010" y="429"/>
                      <a:pt x="2011" y="428"/>
                    </a:cubicBezTo>
                    <a:cubicBezTo>
                      <a:pt x="2012" y="427"/>
                      <a:pt x="2013" y="427"/>
                      <a:pt x="2014" y="428"/>
                    </a:cubicBezTo>
                    <a:cubicBezTo>
                      <a:pt x="2014" y="430"/>
                      <a:pt x="2015" y="432"/>
                      <a:pt x="2016" y="431"/>
                    </a:cubicBezTo>
                    <a:cubicBezTo>
                      <a:pt x="2018" y="430"/>
                      <a:pt x="2020" y="427"/>
                      <a:pt x="2017" y="426"/>
                    </a:cubicBezTo>
                    <a:cubicBezTo>
                      <a:pt x="2015" y="426"/>
                      <a:pt x="2013" y="426"/>
                      <a:pt x="2014" y="424"/>
                    </a:cubicBezTo>
                    <a:cubicBezTo>
                      <a:pt x="2016" y="422"/>
                      <a:pt x="2016" y="420"/>
                      <a:pt x="2016" y="419"/>
                    </a:cubicBezTo>
                    <a:cubicBezTo>
                      <a:pt x="2017" y="418"/>
                      <a:pt x="2017" y="416"/>
                      <a:pt x="2018" y="415"/>
                    </a:cubicBezTo>
                    <a:cubicBezTo>
                      <a:pt x="2018" y="415"/>
                      <a:pt x="2020" y="413"/>
                      <a:pt x="2019" y="411"/>
                    </a:cubicBezTo>
                    <a:cubicBezTo>
                      <a:pt x="2019" y="409"/>
                      <a:pt x="2019" y="408"/>
                      <a:pt x="2022" y="407"/>
                    </a:cubicBezTo>
                    <a:cubicBezTo>
                      <a:pt x="2024" y="407"/>
                      <a:pt x="2033" y="405"/>
                      <a:pt x="2033" y="404"/>
                    </a:cubicBezTo>
                    <a:cubicBezTo>
                      <a:pt x="2034" y="404"/>
                      <a:pt x="2036" y="405"/>
                      <a:pt x="2038" y="406"/>
                    </a:cubicBezTo>
                    <a:cubicBezTo>
                      <a:pt x="2039" y="407"/>
                      <a:pt x="2042" y="408"/>
                      <a:pt x="2043" y="408"/>
                    </a:cubicBezTo>
                    <a:cubicBezTo>
                      <a:pt x="2044" y="408"/>
                      <a:pt x="2048" y="410"/>
                      <a:pt x="2045" y="410"/>
                    </a:cubicBezTo>
                    <a:cubicBezTo>
                      <a:pt x="2041" y="411"/>
                      <a:pt x="2041" y="410"/>
                      <a:pt x="2040" y="410"/>
                    </a:cubicBezTo>
                    <a:cubicBezTo>
                      <a:pt x="2038" y="410"/>
                      <a:pt x="2037" y="409"/>
                      <a:pt x="2036" y="411"/>
                    </a:cubicBezTo>
                    <a:cubicBezTo>
                      <a:pt x="2035" y="412"/>
                      <a:pt x="2034" y="413"/>
                      <a:pt x="2033" y="413"/>
                    </a:cubicBezTo>
                    <a:cubicBezTo>
                      <a:pt x="2032" y="414"/>
                      <a:pt x="2030" y="414"/>
                      <a:pt x="2031" y="417"/>
                    </a:cubicBezTo>
                    <a:cubicBezTo>
                      <a:pt x="2031" y="419"/>
                      <a:pt x="2031" y="427"/>
                      <a:pt x="2029" y="428"/>
                    </a:cubicBezTo>
                    <a:cubicBezTo>
                      <a:pt x="2027" y="429"/>
                      <a:pt x="2026" y="430"/>
                      <a:pt x="2027" y="431"/>
                    </a:cubicBezTo>
                    <a:cubicBezTo>
                      <a:pt x="2027" y="432"/>
                      <a:pt x="2031" y="436"/>
                      <a:pt x="2028" y="438"/>
                    </a:cubicBezTo>
                    <a:cubicBezTo>
                      <a:pt x="2024" y="440"/>
                      <a:pt x="2023" y="441"/>
                      <a:pt x="2023" y="444"/>
                    </a:cubicBezTo>
                    <a:cubicBezTo>
                      <a:pt x="2024" y="446"/>
                      <a:pt x="2024" y="446"/>
                      <a:pt x="2023" y="447"/>
                    </a:cubicBezTo>
                    <a:cubicBezTo>
                      <a:pt x="2022" y="448"/>
                      <a:pt x="2001" y="455"/>
                      <a:pt x="2000" y="456"/>
                    </a:cubicBezTo>
                    <a:cubicBezTo>
                      <a:pt x="1999" y="456"/>
                      <a:pt x="1998" y="456"/>
                      <a:pt x="1998" y="457"/>
                    </a:cubicBezTo>
                    <a:cubicBezTo>
                      <a:pt x="1998" y="459"/>
                      <a:pt x="1998" y="459"/>
                      <a:pt x="1997" y="460"/>
                    </a:cubicBezTo>
                    <a:cubicBezTo>
                      <a:pt x="1996" y="461"/>
                      <a:pt x="1982" y="473"/>
                      <a:pt x="1978" y="476"/>
                    </a:cubicBezTo>
                    <a:cubicBezTo>
                      <a:pt x="1974" y="479"/>
                      <a:pt x="1967" y="486"/>
                      <a:pt x="1964" y="492"/>
                    </a:cubicBezTo>
                    <a:cubicBezTo>
                      <a:pt x="1961" y="497"/>
                      <a:pt x="1959" y="499"/>
                      <a:pt x="1958" y="499"/>
                    </a:cubicBezTo>
                    <a:cubicBezTo>
                      <a:pt x="1957" y="500"/>
                      <a:pt x="1957" y="499"/>
                      <a:pt x="1955" y="500"/>
                    </a:cubicBezTo>
                    <a:cubicBezTo>
                      <a:pt x="1954" y="501"/>
                      <a:pt x="1946" y="507"/>
                      <a:pt x="1945" y="508"/>
                    </a:cubicBezTo>
                    <a:cubicBezTo>
                      <a:pt x="1944" y="508"/>
                      <a:pt x="1944" y="508"/>
                      <a:pt x="1944" y="509"/>
                    </a:cubicBezTo>
                    <a:cubicBezTo>
                      <a:pt x="1945" y="510"/>
                      <a:pt x="1944" y="510"/>
                      <a:pt x="1943" y="510"/>
                    </a:cubicBezTo>
                    <a:cubicBezTo>
                      <a:pt x="1942" y="509"/>
                      <a:pt x="1941" y="510"/>
                      <a:pt x="1940" y="510"/>
                    </a:cubicBezTo>
                    <a:cubicBezTo>
                      <a:pt x="1939" y="510"/>
                      <a:pt x="1938" y="510"/>
                      <a:pt x="1938" y="510"/>
                    </a:cubicBezTo>
                    <a:cubicBezTo>
                      <a:pt x="1937" y="510"/>
                      <a:pt x="1935" y="509"/>
                      <a:pt x="1934" y="511"/>
                    </a:cubicBezTo>
                    <a:cubicBezTo>
                      <a:pt x="1934" y="513"/>
                      <a:pt x="1932" y="514"/>
                      <a:pt x="1931" y="514"/>
                    </a:cubicBezTo>
                    <a:cubicBezTo>
                      <a:pt x="1930" y="514"/>
                      <a:pt x="1921" y="514"/>
                      <a:pt x="1922" y="516"/>
                    </a:cubicBezTo>
                    <a:cubicBezTo>
                      <a:pt x="1924" y="518"/>
                      <a:pt x="1925" y="522"/>
                      <a:pt x="1924" y="524"/>
                    </a:cubicBezTo>
                    <a:cubicBezTo>
                      <a:pt x="1924" y="525"/>
                      <a:pt x="1921" y="531"/>
                      <a:pt x="1920" y="529"/>
                    </a:cubicBezTo>
                    <a:cubicBezTo>
                      <a:pt x="1920" y="528"/>
                      <a:pt x="1919" y="529"/>
                      <a:pt x="1918" y="530"/>
                    </a:cubicBezTo>
                    <a:cubicBezTo>
                      <a:pt x="1918" y="531"/>
                      <a:pt x="1917" y="533"/>
                      <a:pt x="1916" y="533"/>
                    </a:cubicBezTo>
                    <a:cubicBezTo>
                      <a:pt x="1915" y="533"/>
                      <a:pt x="1912" y="536"/>
                      <a:pt x="1911" y="538"/>
                    </a:cubicBezTo>
                    <a:cubicBezTo>
                      <a:pt x="1910" y="539"/>
                      <a:pt x="1906" y="551"/>
                      <a:pt x="1905" y="559"/>
                    </a:cubicBezTo>
                    <a:cubicBezTo>
                      <a:pt x="1905" y="568"/>
                      <a:pt x="1905" y="578"/>
                      <a:pt x="1906" y="582"/>
                    </a:cubicBezTo>
                    <a:cubicBezTo>
                      <a:pt x="1907" y="586"/>
                      <a:pt x="1911" y="605"/>
                      <a:pt x="1911" y="611"/>
                    </a:cubicBezTo>
                    <a:cubicBezTo>
                      <a:pt x="1912" y="617"/>
                      <a:pt x="1913" y="622"/>
                      <a:pt x="1915" y="623"/>
                    </a:cubicBezTo>
                    <a:cubicBezTo>
                      <a:pt x="1917" y="624"/>
                      <a:pt x="1917" y="624"/>
                      <a:pt x="1916" y="624"/>
                    </a:cubicBezTo>
                    <a:cubicBezTo>
                      <a:pt x="1916" y="625"/>
                      <a:pt x="1916" y="626"/>
                      <a:pt x="1916" y="627"/>
                    </a:cubicBezTo>
                    <a:cubicBezTo>
                      <a:pt x="1916" y="627"/>
                      <a:pt x="1918" y="635"/>
                      <a:pt x="1918" y="638"/>
                    </a:cubicBezTo>
                    <a:cubicBezTo>
                      <a:pt x="1918" y="640"/>
                      <a:pt x="1917" y="648"/>
                      <a:pt x="1919" y="649"/>
                    </a:cubicBezTo>
                    <a:cubicBezTo>
                      <a:pt x="1921" y="651"/>
                      <a:pt x="1922" y="652"/>
                      <a:pt x="1921" y="653"/>
                    </a:cubicBezTo>
                    <a:cubicBezTo>
                      <a:pt x="1921" y="654"/>
                      <a:pt x="1920" y="656"/>
                      <a:pt x="1922" y="654"/>
                    </a:cubicBezTo>
                    <a:cubicBezTo>
                      <a:pt x="1925" y="652"/>
                      <a:pt x="1928" y="649"/>
                      <a:pt x="1930" y="648"/>
                    </a:cubicBezTo>
                    <a:cubicBezTo>
                      <a:pt x="1931" y="647"/>
                      <a:pt x="1937" y="640"/>
                      <a:pt x="1939" y="638"/>
                    </a:cubicBezTo>
                    <a:cubicBezTo>
                      <a:pt x="1941" y="635"/>
                      <a:pt x="1945" y="631"/>
                      <a:pt x="1947" y="629"/>
                    </a:cubicBezTo>
                    <a:cubicBezTo>
                      <a:pt x="1948" y="628"/>
                      <a:pt x="1949" y="626"/>
                      <a:pt x="1948" y="625"/>
                    </a:cubicBezTo>
                    <a:cubicBezTo>
                      <a:pt x="1947" y="623"/>
                      <a:pt x="1948" y="623"/>
                      <a:pt x="1948" y="622"/>
                    </a:cubicBezTo>
                    <a:cubicBezTo>
                      <a:pt x="1947" y="622"/>
                      <a:pt x="1947" y="620"/>
                      <a:pt x="1948" y="620"/>
                    </a:cubicBezTo>
                    <a:cubicBezTo>
                      <a:pt x="1949" y="619"/>
                      <a:pt x="1949" y="617"/>
                      <a:pt x="1949" y="617"/>
                    </a:cubicBezTo>
                    <a:cubicBezTo>
                      <a:pt x="1949" y="616"/>
                      <a:pt x="1949" y="614"/>
                      <a:pt x="1948" y="615"/>
                    </a:cubicBezTo>
                    <a:cubicBezTo>
                      <a:pt x="1948" y="615"/>
                      <a:pt x="1946" y="613"/>
                      <a:pt x="1947" y="612"/>
                    </a:cubicBezTo>
                    <a:cubicBezTo>
                      <a:pt x="1948" y="611"/>
                      <a:pt x="1949" y="611"/>
                      <a:pt x="1949" y="613"/>
                    </a:cubicBezTo>
                    <a:cubicBezTo>
                      <a:pt x="1950" y="614"/>
                      <a:pt x="1952" y="615"/>
                      <a:pt x="1953" y="614"/>
                    </a:cubicBezTo>
                    <a:cubicBezTo>
                      <a:pt x="1953" y="613"/>
                      <a:pt x="1955" y="612"/>
                      <a:pt x="1957" y="611"/>
                    </a:cubicBezTo>
                    <a:cubicBezTo>
                      <a:pt x="1958" y="610"/>
                      <a:pt x="1961" y="610"/>
                      <a:pt x="1962" y="609"/>
                    </a:cubicBezTo>
                    <a:cubicBezTo>
                      <a:pt x="1963" y="609"/>
                      <a:pt x="1965" y="608"/>
                      <a:pt x="1966" y="609"/>
                    </a:cubicBezTo>
                    <a:cubicBezTo>
                      <a:pt x="1967" y="609"/>
                      <a:pt x="1968" y="610"/>
                      <a:pt x="1969" y="610"/>
                    </a:cubicBezTo>
                    <a:cubicBezTo>
                      <a:pt x="1969" y="611"/>
                      <a:pt x="1971" y="611"/>
                      <a:pt x="1970" y="609"/>
                    </a:cubicBezTo>
                    <a:cubicBezTo>
                      <a:pt x="1970" y="608"/>
                      <a:pt x="1969" y="609"/>
                      <a:pt x="1969" y="607"/>
                    </a:cubicBezTo>
                    <a:cubicBezTo>
                      <a:pt x="1969" y="606"/>
                      <a:pt x="1968" y="606"/>
                      <a:pt x="1968" y="606"/>
                    </a:cubicBezTo>
                    <a:cubicBezTo>
                      <a:pt x="1968" y="606"/>
                      <a:pt x="1966" y="603"/>
                      <a:pt x="1968" y="603"/>
                    </a:cubicBezTo>
                    <a:cubicBezTo>
                      <a:pt x="1969" y="603"/>
                      <a:pt x="1970" y="602"/>
                      <a:pt x="1969" y="601"/>
                    </a:cubicBezTo>
                    <a:cubicBezTo>
                      <a:pt x="1967" y="600"/>
                      <a:pt x="1967" y="599"/>
                      <a:pt x="1967" y="597"/>
                    </a:cubicBezTo>
                    <a:cubicBezTo>
                      <a:pt x="1968" y="595"/>
                      <a:pt x="1969" y="590"/>
                      <a:pt x="1971" y="589"/>
                    </a:cubicBezTo>
                    <a:cubicBezTo>
                      <a:pt x="1973" y="588"/>
                      <a:pt x="1977" y="585"/>
                      <a:pt x="1978" y="584"/>
                    </a:cubicBezTo>
                    <a:cubicBezTo>
                      <a:pt x="1979" y="583"/>
                      <a:pt x="1986" y="580"/>
                      <a:pt x="1987" y="582"/>
                    </a:cubicBezTo>
                    <a:cubicBezTo>
                      <a:pt x="1989" y="583"/>
                      <a:pt x="1991" y="584"/>
                      <a:pt x="1995" y="582"/>
                    </a:cubicBezTo>
                    <a:cubicBezTo>
                      <a:pt x="1998" y="580"/>
                      <a:pt x="2003" y="578"/>
                      <a:pt x="2000" y="574"/>
                    </a:cubicBezTo>
                    <a:cubicBezTo>
                      <a:pt x="1998" y="570"/>
                      <a:pt x="1998" y="572"/>
                      <a:pt x="1997" y="569"/>
                    </a:cubicBezTo>
                    <a:cubicBezTo>
                      <a:pt x="1996" y="565"/>
                      <a:pt x="1996" y="560"/>
                      <a:pt x="1997" y="556"/>
                    </a:cubicBezTo>
                    <a:cubicBezTo>
                      <a:pt x="1999" y="553"/>
                      <a:pt x="1999" y="552"/>
                      <a:pt x="2000" y="551"/>
                    </a:cubicBezTo>
                    <a:cubicBezTo>
                      <a:pt x="2001" y="550"/>
                      <a:pt x="2002" y="549"/>
                      <a:pt x="2004" y="548"/>
                    </a:cubicBezTo>
                    <a:cubicBezTo>
                      <a:pt x="2005" y="548"/>
                      <a:pt x="2009" y="547"/>
                      <a:pt x="2007" y="545"/>
                    </a:cubicBezTo>
                    <a:cubicBezTo>
                      <a:pt x="2006" y="544"/>
                      <a:pt x="2006" y="543"/>
                      <a:pt x="2007" y="543"/>
                    </a:cubicBezTo>
                    <a:cubicBezTo>
                      <a:pt x="2009" y="542"/>
                      <a:pt x="2010" y="543"/>
                      <a:pt x="2011" y="542"/>
                    </a:cubicBezTo>
                    <a:cubicBezTo>
                      <a:pt x="2012" y="541"/>
                      <a:pt x="2016" y="540"/>
                      <a:pt x="2014" y="542"/>
                    </a:cubicBezTo>
                    <a:cubicBezTo>
                      <a:pt x="2012" y="544"/>
                      <a:pt x="2011" y="545"/>
                      <a:pt x="2010" y="545"/>
                    </a:cubicBezTo>
                    <a:cubicBezTo>
                      <a:pt x="2010" y="545"/>
                      <a:pt x="2008" y="547"/>
                      <a:pt x="2009" y="547"/>
                    </a:cubicBezTo>
                    <a:cubicBezTo>
                      <a:pt x="2010" y="548"/>
                      <a:pt x="2011" y="549"/>
                      <a:pt x="2011" y="550"/>
                    </a:cubicBezTo>
                    <a:cubicBezTo>
                      <a:pt x="2012" y="550"/>
                      <a:pt x="2013" y="552"/>
                      <a:pt x="2015" y="550"/>
                    </a:cubicBezTo>
                    <a:cubicBezTo>
                      <a:pt x="2018" y="548"/>
                      <a:pt x="2017" y="549"/>
                      <a:pt x="2018" y="548"/>
                    </a:cubicBezTo>
                    <a:cubicBezTo>
                      <a:pt x="2019" y="548"/>
                      <a:pt x="2020" y="547"/>
                      <a:pt x="2019" y="546"/>
                    </a:cubicBezTo>
                    <a:cubicBezTo>
                      <a:pt x="2019" y="544"/>
                      <a:pt x="2018" y="541"/>
                      <a:pt x="2018" y="540"/>
                    </a:cubicBezTo>
                    <a:cubicBezTo>
                      <a:pt x="2018" y="538"/>
                      <a:pt x="2018" y="536"/>
                      <a:pt x="2015" y="536"/>
                    </a:cubicBezTo>
                    <a:cubicBezTo>
                      <a:pt x="2013" y="536"/>
                      <a:pt x="2011" y="536"/>
                      <a:pt x="2011" y="533"/>
                    </a:cubicBezTo>
                    <a:cubicBezTo>
                      <a:pt x="2012" y="531"/>
                      <a:pt x="2011" y="528"/>
                      <a:pt x="2011" y="526"/>
                    </a:cubicBezTo>
                    <a:cubicBezTo>
                      <a:pt x="2011" y="524"/>
                      <a:pt x="2011" y="522"/>
                      <a:pt x="2013" y="521"/>
                    </a:cubicBezTo>
                    <a:cubicBezTo>
                      <a:pt x="2014" y="519"/>
                      <a:pt x="2017" y="517"/>
                      <a:pt x="2017" y="515"/>
                    </a:cubicBezTo>
                    <a:cubicBezTo>
                      <a:pt x="2018" y="514"/>
                      <a:pt x="2018" y="513"/>
                      <a:pt x="2016" y="513"/>
                    </a:cubicBezTo>
                    <a:cubicBezTo>
                      <a:pt x="2014" y="512"/>
                      <a:pt x="2012" y="512"/>
                      <a:pt x="2012" y="511"/>
                    </a:cubicBezTo>
                    <a:cubicBezTo>
                      <a:pt x="2011" y="511"/>
                      <a:pt x="2009" y="510"/>
                      <a:pt x="2008" y="511"/>
                    </a:cubicBezTo>
                    <a:cubicBezTo>
                      <a:pt x="2006" y="512"/>
                      <a:pt x="2006" y="514"/>
                      <a:pt x="2006" y="514"/>
                    </a:cubicBezTo>
                    <a:cubicBezTo>
                      <a:pt x="2006" y="515"/>
                      <a:pt x="2004" y="516"/>
                      <a:pt x="2005" y="515"/>
                    </a:cubicBezTo>
                    <a:cubicBezTo>
                      <a:pt x="2005" y="513"/>
                      <a:pt x="2005" y="513"/>
                      <a:pt x="2004" y="513"/>
                    </a:cubicBezTo>
                    <a:cubicBezTo>
                      <a:pt x="2002" y="512"/>
                      <a:pt x="1996" y="512"/>
                      <a:pt x="2000" y="504"/>
                    </a:cubicBezTo>
                    <a:cubicBezTo>
                      <a:pt x="2003" y="497"/>
                      <a:pt x="2004" y="495"/>
                      <a:pt x="2007" y="494"/>
                    </a:cubicBezTo>
                    <a:cubicBezTo>
                      <a:pt x="2009" y="492"/>
                      <a:pt x="2011" y="492"/>
                      <a:pt x="2010" y="491"/>
                    </a:cubicBezTo>
                    <a:cubicBezTo>
                      <a:pt x="2010" y="490"/>
                      <a:pt x="2010" y="490"/>
                      <a:pt x="2012" y="490"/>
                    </a:cubicBezTo>
                    <a:cubicBezTo>
                      <a:pt x="2013" y="489"/>
                      <a:pt x="2015" y="488"/>
                      <a:pt x="2014" y="487"/>
                    </a:cubicBezTo>
                    <a:cubicBezTo>
                      <a:pt x="2014" y="487"/>
                      <a:pt x="2012" y="484"/>
                      <a:pt x="2013" y="484"/>
                    </a:cubicBezTo>
                    <a:cubicBezTo>
                      <a:pt x="2015" y="484"/>
                      <a:pt x="2015" y="485"/>
                      <a:pt x="2016" y="485"/>
                    </a:cubicBezTo>
                    <a:cubicBezTo>
                      <a:pt x="2017" y="485"/>
                      <a:pt x="2018" y="485"/>
                      <a:pt x="2016" y="484"/>
                    </a:cubicBezTo>
                    <a:cubicBezTo>
                      <a:pt x="2015" y="482"/>
                      <a:pt x="2016" y="482"/>
                      <a:pt x="2017" y="481"/>
                    </a:cubicBezTo>
                    <a:cubicBezTo>
                      <a:pt x="2018" y="481"/>
                      <a:pt x="2020" y="480"/>
                      <a:pt x="2018" y="478"/>
                    </a:cubicBezTo>
                    <a:cubicBezTo>
                      <a:pt x="2017" y="476"/>
                      <a:pt x="2017" y="474"/>
                      <a:pt x="2018" y="473"/>
                    </a:cubicBezTo>
                    <a:cubicBezTo>
                      <a:pt x="2019" y="471"/>
                      <a:pt x="2020" y="469"/>
                      <a:pt x="2021" y="468"/>
                    </a:cubicBezTo>
                    <a:cubicBezTo>
                      <a:pt x="2023" y="468"/>
                      <a:pt x="2025" y="468"/>
                      <a:pt x="2025" y="467"/>
                    </a:cubicBezTo>
                    <a:cubicBezTo>
                      <a:pt x="2025" y="466"/>
                      <a:pt x="2023" y="465"/>
                      <a:pt x="2025" y="465"/>
                    </a:cubicBezTo>
                    <a:cubicBezTo>
                      <a:pt x="2027" y="465"/>
                      <a:pt x="2031" y="465"/>
                      <a:pt x="2031" y="467"/>
                    </a:cubicBezTo>
                    <a:cubicBezTo>
                      <a:pt x="2030" y="468"/>
                      <a:pt x="2031" y="468"/>
                      <a:pt x="2031" y="467"/>
                    </a:cubicBezTo>
                    <a:cubicBezTo>
                      <a:pt x="2032" y="466"/>
                      <a:pt x="2035" y="464"/>
                      <a:pt x="2038" y="465"/>
                    </a:cubicBezTo>
                    <a:cubicBezTo>
                      <a:pt x="2040" y="466"/>
                      <a:pt x="2040" y="467"/>
                      <a:pt x="2040" y="468"/>
                    </a:cubicBezTo>
                    <a:cubicBezTo>
                      <a:pt x="2041" y="469"/>
                      <a:pt x="2043" y="471"/>
                      <a:pt x="2045" y="468"/>
                    </a:cubicBezTo>
                    <a:cubicBezTo>
                      <a:pt x="2046" y="466"/>
                      <a:pt x="2045" y="466"/>
                      <a:pt x="2046" y="465"/>
                    </a:cubicBezTo>
                    <a:cubicBezTo>
                      <a:pt x="2047" y="464"/>
                      <a:pt x="2060" y="457"/>
                      <a:pt x="2061" y="456"/>
                    </a:cubicBezTo>
                    <a:cubicBezTo>
                      <a:pt x="2062" y="456"/>
                      <a:pt x="2064" y="455"/>
                      <a:pt x="2063" y="458"/>
                    </a:cubicBezTo>
                    <a:cubicBezTo>
                      <a:pt x="2063" y="458"/>
                      <a:pt x="2063" y="458"/>
                      <a:pt x="2063" y="459"/>
                    </a:cubicBezTo>
                    <a:cubicBezTo>
                      <a:pt x="2063" y="460"/>
                      <a:pt x="2063" y="462"/>
                      <a:pt x="2062" y="463"/>
                    </a:cubicBezTo>
                    <a:cubicBezTo>
                      <a:pt x="2061" y="464"/>
                      <a:pt x="2060" y="467"/>
                      <a:pt x="2061" y="469"/>
                    </a:cubicBezTo>
                    <a:cubicBezTo>
                      <a:pt x="2062" y="470"/>
                      <a:pt x="2064" y="469"/>
                      <a:pt x="2065" y="468"/>
                    </a:cubicBezTo>
                    <a:cubicBezTo>
                      <a:pt x="2067" y="466"/>
                      <a:pt x="2070" y="462"/>
                      <a:pt x="2071" y="461"/>
                    </a:cubicBezTo>
                    <a:cubicBezTo>
                      <a:pt x="2072" y="460"/>
                      <a:pt x="2073" y="459"/>
                      <a:pt x="2074" y="458"/>
                    </a:cubicBezTo>
                    <a:cubicBezTo>
                      <a:pt x="2076" y="458"/>
                      <a:pt x="2080" y="456"/>
                      <a:pt x="2081" y="456"/>
                    </a:cubicBezTo>
                    <a:cubicBezTo>
                      <a:pt x="2083" y="455"/>
                      <a:pt x="2087" y="453"/>
                      <a:pt x="2094" y="453"/>
                    </a:cubicBezTo>
                    <a:cubicBezTo>
                      <a:pt x="2100" y="452"/>
                      <a:pt x="2104" y="452"/>
                      <a:pt x="2104" y="452"/>
                    </a:cubicBezTo>
                    <a:cubicBezTo>
                      <a:pt x="2105" y="452"/>
                      <a:pt x="2109" y="452"/>
                      <a:pt x="2108" y="453"/>
                    </a:cubicBezTo>
                    <a:cubicBezTo>
                      <a:pt x="2107" y="454"/>
                      <a:pt x="2108" y="454"/>
                      <a:pt x="2109" y="454"/>
                    </a:cubicBezTo>
                    <a:cubicBezTo>
                      <a:pt x="2110" y="455"/>
                      <a:pt x="2114" y="456"/>
                      <a:pt x="2114" y="457"/>
                    </a:cubicBezTo>
                    <a:cubicBezTo>
                      <a:pt x="2115" y="459"/>
                      <a:pt x="2115" y="460"/>
                      <a:pt x="2116" y="460"/>
                    </a:cubicBezTo>
                    <a:cubicBezTo>
                      <a:pt x="2117" y="460"/>
                      <a:pt x="2118" y="460"/>
                      <a:pt x="2117" y="461"/>
                    </a:cubicBezTo>
                    <a:cubicBezTo>
                      <a:pt x="2116" y="462"/>
                      <a:pt x="2115" y="463"/>
                      <a:pt x="2118" y="465"/>
                    </a:cubicBezTo>
                    <a:cubicBezTo>
                      <a:pt x="2121" y="466"/>
                      <a:pt x="2121" y="467"/>
                      <a:pt x="2121" y="467"/>
                    </a:cubicBezTo>
                    <a:cubicBezTo>
                      <a:pt x="2122" y="468"/>
                      <a:pt x="2124" y="468"/>
                      <a:pt x="2125" y="465"/>
                    </a:cubicBezTo>
                    <a:cubicBezTo>
                      <a:pt x="2125" y="461"/>
                      <a:pt x="2124" y="461"/>
                      <a:pt x="2126" y="460"/>
                    </a:cubicBezTo>
                    <a:cubicBezTo>
                      <a:pt x="2128" y="459"/>
                      <a:pt x="2128" y="459"/>
                      <a:pt x="2128" y="458"/>
                    </a:cubicBezTo>
                    <a:cubicBezTo>
                      <a:pt x="2128" y="457"/>
                      <a:pt x="2128" y="457"/>
                      <a:pt x="2129" y="456"/>
                    </a:cubicBezTo>
                    <a:cubicBezTo>
                      <a:pt x="2130" y="456"/>
                      <a:pt x="2130" y="455"/>
                      <a:pt x="2131" y="455"/>
                    </a:cubicBezTo>
                    <a:cubicBezTo>
                      <a:pt x="2132" y="455"/>
                      <a:pt x="2137" y="453"/>
                      <a:pt x="2138" y="451"/>
                    </a:cubicBezTo>
                    <a:cubicBezTo>
                      <a:pt x="2139" y="449"/>
                      <a:pt x="2141" y="449"/>
                      <a:pt x="2143" y="448"/>
                    </a:cubicBezTo>
                    <a:cubicBezTo>
                      <a:pt x="2145" y="448"/>
                      <a:pt x="2151" y="446"/>
                      <a:pt x="2150" y="444"/>
                    </a:cubicBezTo>
                    <a:cubicBezTo>
                      <a:pt x="2150" y="442"/>
                      <a:pt x="2150" y="442"/>
                      <a:pt x="2151" y="442"/>
                    </a:cubicBezTo>
                    <a:cubicBezTo>
                      <a:pt x="2152" y="442"/>
                      <a:pt x="2155" y="442"/>
                      <a:pt x="2154" y="442"/>
                    </a:cubicBezTo>
                    <a:cubicBezTo>
                      <a:pt x="2153" y="441"/>
                      <a:pt x="2153" y="441"/>
                      <a:pt x="2154" y="440"/>
                    </a:cubicBezTo>
                    <a:cubicBezTo>
                      <a:pt x="2154" y="439"/>
                      <a:pt x="2154" y="439"/>
                      <a:pt x="2154" y="438"/>
                    </a:cubicBezTo>
                    <a:cubicBezTo>
                      <a:pt x="2154" y="438"/>
                      <a:pt x="2157" y="439"/>
                      <a:pt x="2158" y="438"/>
                    </a:cubicBezTo>
                    <a:cubicBezTo>
                      <a:pt x="2159" y="436"/>
                      <a:pt x="2158" y="436"/>
                      <a:pt x="2160" y="436"/>
                    </a:cubicBezTo>
                    <a:cubicBezTo>
                      <a:pt x="2161" y="437"/>
                      <a:pt x="2163" y="436"/>
                      <a:pt x="2161" y="435"/>
                    </a:cubicBezTo>
                    <a:cubicBezTo>
                      <a:pt x="2160" y="434"/>
                      <a:pt x="2158" y="433"/>
                      <a:pt x="2160" y="433"/>
                    </a:cubicBezTo>
                    <a:cubicBezTo>
                      <a:pt x="2162" y="432"/>
                      <a:pt x="2162" y="434"/>
                      <a:pt x="2163" y="433"/>
                    </a:cubicBezTo>
                    <a:cubicBezTo>
                      <a:pt x="2164" y="433"/>
                      <a:pt x="2170" y="431"/>
                      <a:pt x="2170" y="430"/>
                    </a:cubicBezTo>
                    <a:cubicBezTo>
                      <a:pt x="2171" y="429"/>
                      <a:pt x="2170" y="426"/>
                      <a:pt x="2172" y="427"/>
                    </a:cubicBezTo>
                    <a:cubicBezTo>
                      <a:pt x="2174" y="428"/>
                      <a:pt x="2175" y="426"/>
                      <a:pt x="2177" y="425"/>
                    </a:cubicBezTo>
                    <a:cubicBezTo>
                      <a:pt x="2178" y="425"/>
                      <a:pt x="2180" y="424"/>
                      <a:pt x="2181" y="425"/>
                    </a:cubicBezTo>
                    <a:cubicBezTo>
                      <a:pt x="2183" y="425"/>
                      <a:pt x="2186" y="425"/>
                      <a:pt x="2188" y="424"/>
                    </a:cubicBezTo>
                    <a:cubicBezTo>
                      <a:pt x="2189" y="423"/>
                      <a:pt x="2189" y="423"/>
                      <a:pt x="2188" y="422"/>
                    </a:cubicBezTo>
                    <a:cubicBezTo>
                      <a:pt x="2187" y="421"/>
                      <a:pt x="2187" y="421"/>
                      <a:pt x="2189" y="421"/>
                    </a:cubicBezTo>
                    <a:cubicBezTo>
                      <a:pt x="2190" y="421"/>
                      <a:pt x="2195" y="420"/>
                      <a:pt x="2195" y="419"/>
                    </a:cubicBezTo>
                    <a:cubicBezTo>
                      <a:pt x="2196" y="417"/>
                      <a:pt x="2198" y="416"/>
                      <a:pt x="2199" y="416"/>
                    </a:cubicBezTo>
                    <a:cubicBezTo>
                      <a:pt x="2200" y="415"/>
                      <a:pt x="2214" y="410"/>
                      <a:pt x="2216" y="409"/>
                    </a:cubicBezTo>
                    <a:cubicBezTo>
                      <a:pt x="2217" y="409"/>
                      <a:pt x="2223" y="407"/>
                      <a:pt x="2224" y="407"/>
                    </a:cubicBezTo>
                    <a:cubicBezTo>
                      <a:pt x="2225" y="407"/>
                      <a:pt x="2225" y="407"/>
                      <a:pt x="2223" y="407"/>
                    </a:cubicBezTo>
                    <a:cubicBezTo>
                      <a:pt x="2221" y="407"/>
                      <a:pt x="2221" y="405"/>
                      <a:pt x="2222" y="405"/>
                    </a:cubicBezTo>
                    <a:cubicBezTo>
                      <a:pt x="2223" y="404"/>
                      <a:pt x="2223" y="403"/>
                      <a:pt x="2223" y="402"/>
                    </a:cubicBezTo>
                    <a:cubicBezTo>
                      <a:pt x="2223" y="402"/>
                      <a:pt x="2222" y="401"/>
                      <a:pt x="2224" y="402"/>
                    </a:cubicBezTo>
                    <a:cubicBezTo>
                      <a:pt x="2226" y="404"/>
                      <a:pt x="2226" y="402"/>
                      <a:pt x="2227" y="402"/>
                    </a:cubicBezTo>
                    <a:cubicBezTo>
                      <a:pt x="2228" y="402"/>
                      <a:pt x="2229" y="402"/>
                      <a:pt x="2227" y="404"/>
                    </a:cubicBezTo>
                    <a:cubicBezTo>
                      <a:pt x="2226" y="406"/>
                      <a:pt x="2226" y="407"/>
                      <a:pt x="2228" y="407"/>
                    </a:cubicBezTo>
                    <a:cubicBezTo>
                      <a:pt x="2231" y="407"/>
                      <a:pt x="2237" y="408"/>
                      <a:pt x="2239" y="409"/>
                    </a:cubicBezTo>
                    <a:cubicBezTo>
                      <a:pt x="2241" y="409"/>
                      <a:pt x="2246" y="411"/>
                      <a:pt x="2247" y="411"/>
                    </a:cubicBezTo>
                    <a:cubicBezTo>
                      <a:pt x="2248" y="412"/>
                      <a:pt x="2254" y="415"/>
                      <a:pt x="2254" y="412"/>
                    </a:cubicBezTo>
                    <a:cubicBezTo>
                      <a:pt x="2254" y="409"/>
                      <a:pt x="2255" y="409"/>
                      <a:pt x="2257" y="408"/>
                    </a:cubicBezTo>
                    <a:cubicBezTo>
                      <a:pt x="2259" y="407"/>
                      <a:pt x="2264" y="403"/>
                      <a:pt x="2258" y="400"/>
                    </a:cubicBezTo>
                    <a:cubicBezTo>
                      <a:pt x="2258" y="400"/>
                      <a:pt x="2256" y="400"/>
                      <a:pt x="2257" y="397"/>
                    </a:cubicBezTo>
                    <a:cubicBezTo>
                      <a:pt x="2259" y="394"/>
                      <a:pt x="2257" y="392"/>
                      <a:pt x="2255" y="392"/>
                    </a:cubicBezTo>
                    <a:cubicBezTo>
                      <a:pt x="2252" y="392"/>
                      <a:pt x="2250" y="389"/>
                      <a:pt x="2250" y="389"/>
                    </a:cubicBezTo>
                    <a:cubicBezTo>
                      <a:pt x="2251" y="389"/>
                      <a:pt x="2251" y="388"/>
                      <a:pt x="2250" y="387"/>
                    </a:cubicBezTo>
                    <a:cubicBezTo>
                      <a:pt x="2249" y="386"/>
                      <a:pt x="2249" y="386"/>
                      <a:pt x="2249" y="387"/>
                    </a:cubicBezTo>
                    <a:cubicBezTo>
                      <a:pt x="2249" y="389"/>
                      <a:pt x="2247" y="389"/>
                      <a:pt x="2247" y="387"/>
                    </a:cubicBezTo>
                    <a:cubicBezTo>
                      <a:pt x="2248" y="386"/>
                      <a:pt x="2247" y="384"/>
                      <a:pt x="2246" y="384"/>
                    </a:cubicBezTo>
                    <a:cubicBezTo>
                      <a:pt x="2244" y="385"/>
                      <a:pt x="2241" y="384"/>
                      <a:pt x="2244" y="383"/>
                    </a:cubicBezTo>
                    <a:cubicBezTo>
                      <a:pt x="2247" y="383"/>
                      <a:pt x="2248" y="383"/>
                      <a:pt x="2248" y="382"/>
                    </a:cubicBezTo>
                    <a:cubicBezTo>
                      <a:pt x="2248" y="381"/>
                      <a:pt x="2247" y="378"/>
                      <a:pt x="2247" y="377"/>
                    </a:cubicBezTo>
                    <a:cubicBezTo>
                      <a:pt x="2247" y="376"/>
                      <a:pt x="2247" y="375"/>
                      <a:pt x="2246" y="375"/>
                    </a:cubicBezTo>
                    <a:cubicBezTo>
                      <a:pt x="2245" y="375"/>
                      <a:pt x="2245" y="375"/>
                      <a:pt x="2245" y="374"/>
                    </a:cubicBezTo>
                    <a:cubicBezTo>
                      <a:pt x="2245" y="373"/>
                      <a:pt x="2243" y="370"/>
                      <a:pt x="2243" y="369"/>
                    </a:cubicBezTo>
                    <a:cubicBezTo>
                      <a:pt x="2243" y="368"/>
                      <a:pt x="2242" y="366"/>
                      <a:pt x="2241" y="367"/>
                    </a:cubicBezTo>
                    <a:cubicBezTo>
                      <a:pt x="2240" y="367"/>
                      <a:pt x="2239" y="368"/>
                      <a:pt x="2239" y="368"/>
                    </a:cubicBezTo>
                    <a:cubicBezTo>
                      <a:pt x="2239" y="369"/>
                      <a:pt x="2239" y="369"/>
                      <a:pt x="2238" y="369"/>
                    </a:cubicBezTo>
                    <a:cubicBezTo>
                      <a:pt x="2237" y="369"/>
                      <a:pt x="2230" y="368"/>
                      <a:pt x="2229" y="363"/>
                    </a:cubicBezTo>
                    <a:cubicBezTo>
                      <a:pt x="2228" y="358"/>
                      <a:pt x="2228" y="355"/>
                      <a:pt x="2226" y="356"/>
                    </a:cubicBezTo>
                    <a:cubicBezTo>
                      <a:pt x="2223" y="357"/>
                      <a:pt x="2222" y="357"/>
                      <a:pt x="2221" y="358"/>
                    </a:cubicBezTo>
                    <a:cubicBezTo>
                      <a:pt x="2220" y="358"/>
                      <a:pt x="2218" y="358"/>
                      <a:pt x="2217" y="358"/>
                    </a:cubicBezTo>
                    <a:cubicBezTo>
                      <a:pt x="2216" y="358"/>
                      <a:pt x="2215" y="357"/>
                      <a:pt x="2214" y="358"/>
                    </a:cubicBezTo>
                    <a:cubicBezTo>
                      <a:pt x="2213" y="360"/>
                      <a:pt x="2208" y="361"/>
                      <a:pt x="2210" y="359"/>
                    </a:cubicBezTo>
                    <a:cubicBezTo>
                      <a:pt x="2212" y="357"/>
                      <a:pt x="2210" y="356"/>
                      <a:pt x="2210" y="356"/>
                    </a:cubicBezTo>
                    <a:cubicBezTo>
                      <a:pt x="2210" y="356"/>
                      <a:pt x="2205" y="354"/>
                      <a:pt x="2207" y="352"/>
                    </a:cubicBezTo>
                    <a:cubicBezTo>
                      <a:pt x="2209" y="351"/>
                      <a:pt x="2211" y="352"/>
                      <a:pt x="2212" y="354"/>
                    </a:cubicBezTo>
                    <a:cubicBezTo>
                      <a:pt x="2214" y="355"/>
                      <a:pt x="2216" y="354"/>
                      <a:pt x="2217" y="354"/>
                    </a:cubicBezTo>
                    <a:cubicBezTo>
                      <a:pt x="2218" y="354"/>
                      <a:pt x="2219" y="353"/>
                      <a:pt x="2221" y="354"/>
                    </a:cubicBezTo>
                    <a:cubicBezTo>
                      <a:pt x="2223" y="355"/>
                      <a:pt x="2224" y="355"/>
                      <a:pt x="2225" y="355"/>
                    </a:cubicBezTo>
                    <a:cubicBezTo>
                      <a:pt x="2225" y="354"/>
                      <a:pt x="2225" y="351"/>
                      <a:pt x="2223" y="350"/>
                    </a:cubicBezTo>
                    <a:cubicBezTo>
                      <a:pt x="2220" y="350"/>
                      <a:pt x="2220" y="349"/>
                      <a:pt x="2219" y="349"/>
                    </a:cubicBezTo>
                    <a:cubicBezTo>
                      <a:pt x="2217" y="350"/>
                      <a:pt x="2217" y="348"/>
                      <a:pt x="2220" y="348"/>
                    </a:cubicBezTo>
                    <a:cubicBezTo>
                      <a:pt x="2223" y="348"/>
                      <a:pt x="2224" y="349"/>
                      <a:pt x="2225" y="351"/>
                    </a:cubicBezTo>
                    <a:cubicBezTo>
                      <a:pt x="2226" y="352"/>
                      <a:pt x="2226" y="352"/>
                      <a:pt x="2227" y="352"/>
                    </a:cubicBezTo>
                    <a:cubicBezTo>
                      <a:pt x="2228" y="352"/>
                      <a:pt x="2230" y="353"/>
                      <a:pt x="2229" y="353"/>
                    </a:cubicBezTo>
                    <a:cubicBezTo>
                      <a:pt x="2229" y="354"/>
                      <a:pt x="2228" y="355"/>
                      <a:pt x="2229" y="355"/>
                    </a:cubicBezTo>
                    <a:cubicBezTo>
                      <a:pt x="2231" y="356"/>
                      <a:pt x="2231" y="356"/>
                      <a:pt x="2232" y="357"/>
                    </a:cubicBezTo>
                    <a:cubicBezTo>
                      <a:pt x="2232" y="357"/>
                      <a:pt x="2238" y="359"/>
                      <a:pt x="2243" y="357"/>
                    </a:cubicBezTo>
                    <a:cubicBezTo>
                      <a:pt x="2247" y="356"/>
                      <a:pt x="2258" y="352"/>
                      <a:pt x="2261" y="352"/>
                    </a:cubicBezTo>
                    <a:cubicBezTo>
                      <a:pt x="2264" y="351"/>
                      <a:pt x="2265" y="350"/>
                      <a:pt x="2266" y="349"/>
                    </a:cubicBezTo>
                    <a:cubicBezTo>
                      <a:pt x="2266" y="349"/>
                      <a:pt x="2267" y="348"/>
                      <a:pt x="2268" y="348"/>
                    </a:cubicBezTo>
                    <a:cubicBezTo>
                      <a:pt x="2269" y="348"/>
                      <a:pt x="2273" y="346"/>
                      <a:pt x="2273" y="344"/>
                    </a:cubicBezTo>
                    <a:cubicBezTo>
                      <a:pt x="2274" y="342"/>
                      <a:pt x="2275" y="341"/>
                      <a:pt x="2273" y="341"/>
                    </a:cubicBezTo>
                    <a:cubicBezTo>
                      <a:pt x="2270" y="342"/>
                      <a:pt x="2264" y="343"/>
                      <a:pt x="2265" y="341"/>
                    </a:cubicBezTo>
                    <a:cubicBezTo>
                      <a:pt x="2267" y="340"/>
                      <a:pt x="2268" y="340"/>
                      <a:pt x="2270" y="339"/>
                    </a:cubicBezTo>
                    <a:cubicBezTo>
                      <a:pt x="2271" y="339"/>
                      <a:pt x="2278" y="337"/>
                      <a:pt x="2277" y="336"/>
                    </a:cubicBezTo>
                    <a:cubicBezTo>
                      <a:pt x="2276" y="335"/>
                      <a:pt x="2277" y="335"/>
                      <a:pt x="2276" y="334"/>
                    </a:cubicBezTo>
                    <a:cubicBezTo>
                      <a:pt x="2274" y="333"/>
                      <a:pt x="2269" y="332"/>
                      <a:pt x="2270" y="326"/>
                    </a:cubicBezTo>
                    <a:cubicBezTo>
                      <a:pt x="2272" y="319"/>
                      <a:pt x="2272" y="321"/>
                      <a:pt x="2272" y="321"/>
                    </a:cubicBezTo>
                    <a:cubicBezTo>
                      <a:pt x="2272" y="322"/>
                      <a:pt x="2271" y="323"/>
                      <a:pt x="2273" y="323"/>
                    </a:cubicBezTo>
                    <a:cubicBezTo>
                      <a:pt x="2275" y="322"/>
                      <a:pt x="2278" y="321"/>
                      <a:pt x="2277" y="319"/>
                    </a:cubicBezTo>
                    <a:cubicBezTo>
                      <a:pt x="2276" y="318"/>
                      <a:pt x="2276" y="317"/>
                      <a:pt x="2277" y="316"/>
                    </a:cubicBezTo>
                    <a:cubicBezTo>
                      <a:pt x="2279" y="316"/>
                      <a:pt x="2280" y="315"/>
                      <a:pt x="2280" y="318"/>
                    </a:cubicBezTo>
                    <a:cubicBezTo>
                      <a:pt x="2280" y="320"/>
                      <a:pt x="2280" y="322"/>
                      <a:pt x="2282" y="320"/>
                    </a:cubicBezTo>
                    <a:cubicBezTo>
                      <a:pt x="2284" y="319"/>
                      <a:pt x="2289" y="315"/>
                      <a:pt x="2289" y="318"/>
                    </a:cubicBezTo>
                    <a:cubicBezTo>
                      <a:pt x="2289" y="320"/>
                      <a:pt x="2289" y="321"/>
                      <a:pt x="2288" y="322"/>
                    </a:cubicBezTo>
                    <a:cubicBezTo>
                      <a:pt x="2286" y="323"/>
                      <a:pt x="2286" y="324"/>
                      <a:pt x="2286" y="324"/>
                    </a:cubicBezTo>
                    <a:cubicBezTo>
                      <a:pt x="2286" y="325"/>
                      <a:pt x="2285" y="326"/>
                      <a:pt x="2284" y="325"/>
                    </a:cubicBezTo>
                    <a:cubicBezTo>
                      <a:pt x="2283" y="325"/>
                      <a:pt x="2283" y="324"/>
                      <a:pt x="2283" y="326"/>
                    </a:cubicBezTo>
                    <a:cubicBezTo>
                      <a:pt x="2283" y="328"/>
                      <a:pt x="2284" y="328"/>
                      <a:pt x="2284" y="329"/>
                    </a:cubicBezTo>
                    <a:cubicBezTo>
                      <a:pt x="2285" y="330"/>
                      <a:pt x="2287" y="331"/>
                      <a:pt x="2288" y="332"/>
                    </a:cubicBezTo>
                    <a:cubicBezTo>
                      <a:pt x="2289" y="332"/>
                      <a:pt x="2290" y="332"/>
                      <a:pt x="2289" y="333"/>
                    </a:cubicBezTo>
                    <a:cubicBezTo>
                      <a:pt x="2289" y="334"/>
                      <a:pt x="2288" y="336"/>
                      <a:pt x="2290" y="336"/>
                    </a:cubicBezTo>
                    <a:cubicBezTo>
                      <a:pt x="2292" y="336"/>
                      <a:pt x="2310" y="336"/>
                      <a:pt x="2313" y="336"/>
                    </a:cubicBezTo>
                    <a:cubicBezTo>
                      <a:pt x="2316" y="337"/>
                      <a:pt x="2327" y="339"/>
                      <a:pt x="2327" y="341"/>
                    </a:cubicBezTo>
                    <a:cubicBezTo>
                      <a:pt x="2328" y="344"/>
                      <a:pt x="2328" y="344"/>
                      <a:pt x="2329" y="344"/>
                    </a:cubicBezTo>
                    <a:cubicBezTo>
                      <a:pt x="2329" y="345"/>
                      <a:pt x="2329" y="345"/>
                      <a:pt x="2329" y="346"/>
                    </a:cubicBezTo>
                    <a:cubicBezTo>
                      <a:pt x="2329" y="347"/>
                      <a:pt x="2329" y="348"/>
                      <a:pt x="2330" y="349"/>
                    </a:cubicBezTo>
                    <a:cubicBezTo>
                      <a:pt x="2330" y="349"/>
                      <a:pt x="2332" y="353"/>
                      <a:pt x="2333" y="354"/>
                    </a:cubicBezTo>
                    <a:cubicBezTo>
                      <a:pt x="2334" y="355"/>
                      <a:pt x="2335" y="355"/>
                      <a:pt x="2337" y="355"/>
                    </a:cubicBezTo>
                    <a:cubicBezTo>
                      <a:pt x="2338" y="355"/>
                      <a:pt x="2342" y="355"/>
                      <a:pt x="2343" y="355"/>
                    </a:cubicBezTo>
                    <a:cubicBezTo>
                      <a:pt x="2345" y="356"/>
                      <a:pt x="2352" y="358"/>
                      <a:pt x="2353" y="361"/>
                    </a:cubicBezTo>
                    <a:cubicBezTo>
                      <a:pt x="2354" y="363"/>
                      <a:pt x="2358" y="366"/>
                      <a:pt x="2360" y="366"/>
                    </a:cubicBezTo>
                    <a:cubicBezTo>
                      <a:pt x="2363" y="366"/>
                      <a:pt x="2364" y="365"/>
                      <a:pt x="2365" y="363"/>
                    </a:cubicBezTo>
                    <a:cubicBezTo>
                      <a:pt x="2365" y="361"/>
                      <a:pt x="2365" y="358"/>
                      <a:pt x="2365" y="360"/>
                    </a:cubicBezTo>
                    <a:cubicBezTo>
                      <a:pt x="2366" y="362"/>
                      <a:pt x="2366" y="363"/>
                      <a:pt x="2366" y="365"/>
                    </a:cubicBezTo>
                    <a:cubicBezTo>
                      <a:pt x="2367" y="366"/>
                      <a:pt x="2367" y="369"/>
                      <a:pt x="2370" y="368"/>
                    </a:cubicBezTo>
                    <a:cubicBezTo>
                      <a:pt x="2372" y="366"/>
                      <a:pt x="2372" y="365"/>
                      <a:pt x="2371" y="364"/>
                    </a:cubicBezTo>
                    <a:cubicBezTo>
                      <a:pt x="2370" y="363"/>
                      <a:pt x="2370" y="363"/>
                      <a:pt x="2372" y="364"/>
                    </a:cubicBezTo>
                    <a:cubicBezTo>
                      <a:pt x="2375" y="365"/>
                      <a:pt x="2377" y="365"/>
                      <a:pt x="2378" y="364"/>
                    </a:cubicBezTo>
                    <a:cubicBezTo>
                      <a:pt x="2379" y="364"/>
                      <a:pt x="2383" y="364"/>
                      <a:pt x="2378" y="363"/>
                    </a:cubicBezTo>
                    <a:cubicBezTo>
                      <a:pt x="2374" y="362"/>
                      <a:pt x="2367" y="359"/>
                      <a:pt x="2371" y="357"/>
                    </a:cubicBezTo>
                    <a:cubicBezTo>
                      <a:pt x="2374" y="356"/>
                      <a:pt x="2374" y="354"/>
                      <a:pt x="2372" y="354"/>
                    </a:cubicBezTo>
                    <a:cubicBezTo>
                      <a:pt x="2370" y="354"/>
                      <a:pt x="2370" y="353"/>
                      <a:pt x="2371" y="353"/>
                    </a:cubicBezTo>
                    <a:cubicBezTo>
                      <a:pt x="2373" y="353"/>
                      <a:pt x="2374" y="354"/>
                      <a:pt x="2375" y="353"/>
                    </a:cubicBezTo>
                    <a:cubicBezTo>
                      <a:pt x="2377" y="352"/>
                      <a:pt x="2378" y="352"/>
                      <a:pt x="2379" y="352"/>
                    </a:cubicBezTo>
                    <a:cubicBezTo>
                      <a:pt x="2380" y="351"/>
                      <a:pt x="2384" y="348"/>
                      <a:pt x="2383" y="347"/>
                    </a:cubicBezTo>
                    <a:cubicBezTo>
                      <a:pt x="2381" y="345"/>
                      <a:pt x="2380" y="345"/>
                      <a:pt x="2379" y="345"/>
                    </a:cubicBezTo>
                    <a:cubicBezTo>
                      <a:pt x="2378" y="345"/>
                      <a:pt x="2376" y="345"/>
                      <a:pt x="2376" y="344"/>
                    </a:cubicBezTo>
                    <a:cubicBezTo>
                      <a:pt x="2375" y="343"/>
                      <a:pt x="2376" y="344"/>
                      <a:pt x="2377" y="344"/>
                    </a:cubicBezTo>
                    <a:cubicBezTo>
                      <a:pt x="2378" y="344"/>
                      <a:pt x="2378" y="344"/>
                      <a:pt x="2379" y="344"/>
                    </a:cubicBezTo>
                    <a:cubicBezTo>
                      <a:pt x="2380" y="343"/>
                      <a:pt x="2382" y="343"/>
                      <a:pt x="2382" y="342"/>
                    </a:cubicBezTo>
                    <a:cubicBezTo>
                      <a:pt x="2382" y="341"/>
                      <a:pt x="2384" y="338"/>
                      <a:pt x="2382" y="339"/>
                    </a:cubicBezTo>
                    <a:cubicBezTo>
                      <a:pt x="2380" y="341"/>
                      <a:pt x="2378" y="339"/>
                      <a:pt x="2380" y="338"/>
                    </a:cubicBezTo>
                    <a:cubicBezTo>
                      <a:pt x="2381" y="338"/>
                      <a:pt x="2379" y="335"/>
                      <a:pt x="2378" y="335"/>
                    </a:cubicBezTo>
                    <a:cubicBezTo>
                      <a:pt x="2376" y="335"/>
                      <a:pt x="2374" y="333"/>
                      <a:pt x="2377" y="334"/>
                    </a:cubicBezTo>
                    <a:cubicBezTo>
                      <a:pt x="2380" y="334"/>
                      <a:pt x="2381" y="334"/>
                      <a:pt x="2381" y="335"/>
                    </a:cubicBezTo>
                    <a:cubicBezTo>
                      <a:pt x="2381" y="336"/>
                      <a:pt x="2381" y="336"/>
                      <a:pt x="2382" y="337"/>
                    </a:cubicBezTo>
                    <a:cubicBezTo>
                      <a:pt x="2383" y="337"/>
                      <a:pt x="2398" y="338"/>
                      <a:pt x="2398" y="338"/>
                    </a:cubicBezTo>
                    <a:cubicBezTo>
                      <a:pt x="2398" y="338"/>
                      <a:pt x="2402" y="338"/>
                      <a:pt x="2400" y="336"/>
                    </a:cubicBezTo>
                    <a:cubicBezTo>
                      <a:pt x="2398" y="334"/>
                      <a:pt x="2397" y="334"/>
                      <a:pt x="2396" y="334"/>
                    </a:cubicBezTo>
                    <a:cubicBezTo>
                      <a:pt x="2395" y="333"/>
                      <a:pt x="2395" y="332"/>
                      <a:pt x="2394" y="332"/>
                    </a:cubicBezTo>
                    <a:cubicBezTo>
                      <a:pt x="2393" y="331"/>
                      <a:pt x="2392" y="330"/>
                      <a:pt x="2394" y="330"/>
                    </a:cubicBezTo>
                    <a:cubicBezTo>
                      <a:pt x="2396" y="331"/>
                      <a:pt x="2397" y="332"/>
                      <a:pt x="2397" y="333"/>
                    </a:cubicBezTo>
                    <a:cubicBezTo>
                      <a:pt x="2398" y="333"/>
                      <a:pt x="2400" y="334"/>
                      <a:pt x="2401" y="334"/>
                    </a:cubicBezTo>
                    <a:cubicBezTo>
                      <a:pt x="2403" y="335"/>
                      <a:pt x="2406" y="336"/>
                      <a:pt x="2407" y="333"/>
                    </a:cubicBezTo>
                    <a:cubicBezTo>
                      <a:pt x="2408" y="331"/>
                      <a:pt x="2409" y="331"/>
                      <a:pt x="2411" y="330"/>
                    </a:cubicBezTo>
                    <a:cubicBezTo>
                      <a:pt x="2413" y="329"/>
                      <a:pt x="2418" y="326"/>
                      <a:pt x="2419" y="325"/>
                    </a:cubicBezTo>
                    <a:cubicBezTo>
                      <a:pt x="2419" y="325"/>
                      <a:pt x="2421" y="322"/>
                      <a:pt x="2418" y="322"/>
                    </a:cubicBezTo>
                    <a:cubicBezTo>
                      <a:pt x="2414" y="323"/>
                      <a:pt x="2415" y="322"/>
                      <a:pt x="2414" y="322"/>
                    </a:cubicBezTo>
                    <a:cubicBezTo>
                      <a:pt x="2414" y="322"/>
                      <a:pt x="2413" y="322"/>
                      <a:pt x="2413" y="322"/>
                    </a:cubicBezTo>
                    <a:cubicBezTo>
                      <a:pt x="2412" y="322"/>
                      <a:pt x="2412" y="322"/>
                      <a:pt x="2413" y="321"/>
                    </a:cubicBezTo>
                    <a:cubicBezTo>
                      <a:pt x="2413" y="321"/>
                      <a:pt x="2413" y="319"/>
                      <a:pt x="2411" y="319"/>
                    </a:cubicBezTo>
                    <a:cubicBezTo>
                      <a:pt x="2410" y="319"/>
                      <a:pt x="2408" y="318"/>
                      <a:pt x="2406" y="316"/>
                    </a:cubicBezTo>
                    <a:cubicBezTo>
                      <a:pt x="2403" y="314"/>
                      <a:pt x="2402" y="313"/>
                      <a:pt x="2401" y="312"/>
                    </a:cubicBezTo>
                    <a:cubicBezTo>
                      <a:pt x="2399" y="311"/>
                      <a:pt x="2394" y="307"/>
                      <a:pt x="2393" y="305"/>
                    </a:cubicBezTo>
                    <a:cubicBezTo>
                      <a:pt x="2391" y="304"/>
                      <a:pt x="2388" y="302"/>
                      <a:pt x="2385" y="302"/>
                    </a:cubicBezTo>
                    <a:cubicBezTo>
                      <a:pt x="2383" y="302"/>
                      <a:pt x="2379" y="302"/>
                      <a:pt x="2378" y="301"/>
                    </a:cubicBezTo>
                    <a:cubicBezTo>
                      <a:pt x="2377" y="301"/>
                      <a:pt x="2375" y="300"/>
                      <a:pt x="2377" y="301"/>
                    </a:cubicBezTo>
                    <a:cubicBezTo>
                      <a:pt x="2379" y="302"/>
                      <a:pt x="2379" y="303"/>
                      <a:pt x="2377" y="303"/>
                    </a:cubicBezTo>
                    <a:cubicBezTo>
                      <a:pt x="2375" y="302"/>
                      <a:pt x="2369" y="300"/>
                      <a:pt x="2368" y="301"/>
                    </a:cubicBezTo>
                    <a:cubicBezTo>
                      <a:pt x="2367" y="303"/>
                      <a:pt x="2365" y="306"/>
                      <a:pt x="2365" y="303"/>
                    </a:cubicBezTo>
                    <a:cubicBezTo>
                      <a:pt x="2366" y="301"/>
                      <a:pt x="2366" y="301"/>
                      <a:pt x="2367" y="300"/>
                    </a:cubicBezTo>
                    <a:cubicBezTo>
                      <a:pt x="2367" y="300"/>
                      <a:pt x="2369" y="299"/>
                      <a:pt x="2367" y="299"/>
                    </a:cubicBezTo>
                    <a:cubicBezTo>
                      <a:pt x="2365" y="299"/>
                      <a:pt x="2363" y="299"/>
                      <a:pt x="2363" y="298"/>
                    </a:cubicBezTo>
                    <a:cubicBezTo>
                      <a:pt x="2362" y="298"/>
                      <a:pt x="2361" y="298"/>
                      <a:pt x="2359" y="298"/>
                    </a:cubicBezTo>
                    <a:cubicBezTo>
                      <a:pt x="2358" y="299"/>
                      <a:pt x="2354" y="299"/>
                      <a:pt x="2353" y="299"/>
                    </a:cubicBezTo>
                    <a:cubicBezTo>
                      <a:pt x="2352" y="299"/>
                      <a:pt x="2350" y="298"/>
                      <a:pt x="2349" y="298"/>
                    </a:cubicBezTo>
                    <a:cubicBezTo>
                      <a:pt x="2348" y="299"/>
                      <a:pt x="2346" y="299"/>
                      <a:pt x="2347" y="299"/>
                    </a:cubicBezTo>
                    <a:cubicBezTo>
                      <a:pt x="2347" y="300"/>
                      <a:pt x="2350" y="299"/>
                      <a:pt x="2349" y="299"/>
                    </a:cubicBezTo>
                    <a:cubicBezTo>
                      <a:pt x="2348" y="300"/>
                      <a:pt x="2349" y="300"/>
                      <a:pt x="2350" y="300"/>
                    </a:cubicBezTo>
                    <a:cubicBezTo>
                      <a:pt x="2351" y="300"/>
                      <a:pt x="2353" y="300"/>
                      <a:pt x="2352" y="301"/>
                    </a:cubicBezTo>
                    <a:cubicBezTo>
                      <a:pt x="2351" y="302"/>
                      <a:pt x="2352" y="301"/>
                      <a:pt x="2353" y="301"/>
                    </a:cubicBezTo>
                    <a:cubicBezTo>
                      <a:pt x="2354" y="301"/>
                      <a:pt x="2355" y="302"/>
                      <a:pt x="2355" y="303"/>
                    </a:cubicBezTo>
                    <a:cubicBezTo>
                      <a:pt x="2355" y="304"/>
                      <a:pt x="2357" y="309"/>
                      <a:pt x="2355" y="309"/>
                    </a:cubicBezTo>
                    <a:cubicBezTo>
                      <a:pt x="2354" y="310"/>
                      <a:pt x="2351" y="311"/>
                      <a:pt x="2353" y="312"/>
                    </a:cubicBezTo>
                    <a:cubicBezTo>
                      <a:pt x="2355" y="312"/>
                      <a:pt x="2360" y="314"/>
                      <a:pt x="2359" y="315"/>
                    </a:cubicBezTo>
                    <a:cubicBezTo>
                      <a:pt x="2359" y="317"/>
                      <a:pt x="2358" y="317"/>
                      <a:pt x="2357" y="317"/>
                    </a:cubicBezTo>
                    <a:cubicBezTo>
                      <a:pt x="2357" y="317"/>
                      <a:pt x="2356" y="318"/>
                      <a:pt x="2356" y="318"/>
                    </a:cubicBezTo>
                    <a:cubicBezTo>
                      <a:pt x="2356" y="319"/>
                      <a:pt x="2356" y="318"/>
                      <a:pt x="2356" y="316"/>
                    </a:cubicBezTo>
                    <a:cubicBezTo>
                      <a:pt x="2356" y="315"/>
                      <a:pt x="2356" y="314"/>
                      <a:pt x="2355" y="314"/>
                    </a:cubicBezTo>
                    <a:cubicBezTo>
                      <a:pt x="2353" y="314"/>
                      <a:pt x="2353" y="314"/>
                      <a:pt x="2352" y="314"/>
                    </a:cubicBezTo>
                    <a:cubicBezTo>
                      <a:pt x="2352" y="315"/>
                      <a:pt x="2350" y="317"/>
                      <a:pt x="2350" y="317"/>
                    </a:cubicBezTo>
                    <a:cubicBezTo>
                      <a:pt x="2349" y="317"/>
                      <a:pt x="2349" y="318"/>
                      <a:pt x="2349" y="316"/>
                    </a:cubicBezTo>
                    <a:cubicBezTo>
                      <a:pt x="2349" y="315"/>
                      <a:pt x="2348" y="312"/>
                      <a:pt x="2347" y="312"/>
                    </a:cubicBezTo>
                    <a:cubicBezTo>
                      <a:pt x="2345" y="311"/>
                      <a:pt x="2339" y="310"/>
                      <a:pt x="2343" y="308"/>
                    </a:cubicBezTo>
                    <a:cubicBezTo>
                      <a:pt x="2346" y="307"/>
                      <a:pt x="2344" y="303"/>
                      <a:pt x="2344" y="303"/>
                    </a:cubicBezTo>
                    <a:cubicBezTo>
                      <a:pt x="2344" y="303"/>
                      <a:pt x="2340" y="300"/>
                      <a:pt x="2342" y="296"/>
                    </a:cubicBezTo>
                    <a:cubicBezTo>
                      <a:pt x="2344" y="292"/>
                      <a:pt x="2342" y="290"/>
                      <a:pt x="2341" y="290"/>
                    </a:cubicBezTo>
                    <a:cubicBezTo>
                      <a:pt x="2341" y="289"/>
                      <a:pt x="2340" y="289"/>
                      <a:pt x="2340" y="290"/>
                    </a:cubicBezTo>
                    <a:cubicBezTo>
                      <a:pt x="2340" y="291"/>
                      <a:pt x="2338" y="292"/>
                      <a:pt x="2337" y="292"/>
                    </a:cubicBezTo>
                    <a:cubicBezTo>
                      <a:pt x="2335" y="292"/>
                      <a:pt x="2335" y="292"/>
                      <a:pt x="2336" y="291"/>
                    </a:cubicBezTo>
                    <a:cubicBezTo>
                      <a:pt x="2337" y="289"/>
                      <a:pt x="2338" y="284"/>
                      <a:pt x="2334" y="283"/>
                    </a:cubicBezTo>
                    <a:cubicBezTo>
                      <a:pt x="2330" y="281"/>
                      <a:pt x="2308" y="271"/>
                      <a:pt x="2308" y="271"/>
                    </a:cubicBezTo>
                    <a:cubicBezTo>
                      <a:pt x="2308" y="271"/>
                      <a:pt x="2306" y="270"/>
                      <a:pt x="2305" y="270"/>
                    </a:cubicBezTo>
                    <a:cubicBezTo>
                      <a:pt x="2304" y="270"/>
                      <a:pt x="2301" y="270"/>
                      <a:pt x="2302" y="269"/>
                    </a:cubicBezTo>
                    <a:cubicBezTo>
                      <a:pt x="2304" y="268"/>
                      <a:pt x="2303" y="268"/>
                      <a:pt x="2302" y="268"/>
                    </a:cubicBezTo>
                    <a:cubicBezTo>
                      <a:pt x="2301" y="267"/>
                      <a:pt x="2288" y="263"/>
                      <a:pt x="2286" y="262"/>
                    </a:cubicBezTo>
                    <a:cubicBezTo>
                      <a:pt x="2284" y="261"/>
                      <a:pt x="2285" y="260"/>
                      <a:pt x="2284" y="260"/>
                    </a:cubicBezTo>
                    <a:cubicBezTo>
                      <a:pt x="2284" y="260"/>
                      <a:pt x="2277" y="251"/>
                      <a:pt x="2271" y="251"/>
                    </a:cubicBezTo>
                    <a:cubicBezTo>
                      <a:pt x="2265" y="250"/>
                      <a:pt x="2266" y="250"/>
                      <a:pt x="2262" y="248"/>
                    </a:cubicBezTo>
                    <a:cubicBezTo>
                      <a:pt x="2259" y="246"/>
                      <a:pt x="2241" y="237"/>
                      <a:pt x="2238" y="236"/>
                    </a:cubicBezTo>
                    <a:cubicBezTo>
                      <a:pt x="2236" y="236"/>
                      <a:pt x="2231" y="235"/>
                      <a:pt x="2230" y="235"/>
                    </a:cubicBezTo>
                    <a:cubicBezTo>
                      <a:pt x="2228" y="235"/>
                      <a:pt x="2219" y="233"/>
                      <a:pt x="2218" y="233"/>
                    </a:cubicBezTo>
                    <a:cubicBezTo>
                      <a:pt x="2217" y="232"/>
                      <a:pt x="2211" y="227"/>
                      <a:pt x="2208" y="227"/>
                    </a:cubicBezTo>
                    <a:cubicBezTo>
                      <a:pt x="2205" y="226"/>
                      <a:pt x="2202" y="226"/>
                      <a:pt x="2200" y="227"/>
                    </a:cubicBezTo>
                    <a:cubicBezTo>
                      <a:pt x="2198" y="227"/>
                      <a:pt x="2195" y="228"/>
                      <a:pt x="2194" y="228"/>
                    </a:cubicBezTo>
                    <a:cubicBezTo>
                      <a:pt x="2193" y="227"/>
                      <a:pt x="2174" y="225"/>
                      <a:pt x="2172" y="225"/>
                    </a:cubicBezTo>
                    <a:cubicBezTo>
                      <a:pt x="2170" y="225"/>
                      <a:pt x="2166" y="225"/>
                      <a:pt x="2167" y="226"/>
                    </a:cubicBezTo>
                    <a:cubicBezTo>
                      <a:pt x="2167" y="226"/>
                      <a:pt x="2168" y="226"/>
                      <a:pt x="2168" y="227"/>
                    </a:cubicBezTo>
                    <a:cubicBezTo>
                      <a:pt x="2168" y="227"/>
                      <a:pt x="2167" y="228"/>
                      <a:pt x="2167" y="228"/>
                    </a:cubicBezTo>
                    <a:cubicBezTo>
                      <a:pt x="2166" y="229"/>
                      <a:pt x="2166" y="230"/>
                      <a:pt x="2165" y="229"/>
                    </a:cubicBezTo>
                    <a:cubicBezTo>
                      <a:pt x="2163" y="227"/>
                      <a:pt x="2160" y="225"/>
                      <a:pt x="2160" y="225"/>
                    </a:cubicBezTo>
                    <a:cubicBezTo>
                      <a:pt x="2160" y="225"/>
                      <a:pt x="2159" y="224"/>
                      <a:pt x="2158" y="224"/>
                    </a:cubicBezTo>
                    <a:cubicBezTo>
                      <a:pt x="2157" y="225"/>
                      <a:pt x="2156" y="225"/>
                      <a:pt x="2155" y="225"/>
                    </a:cubicBezTo>
                    <a:cubicBezTo>
                      <a:pt x="2154" y="225"/>
                      <a:pt x="2128" y="221"/>
                      <a:pt x="2128" y="221"/>
                    </a:cubicBezTo>
                    <a:cubicBezTo>
                      <a:pt x="2128" y="221"/>
                      <a:pt x="2123" y="220"/>
                      <a:pt x="2126" y="221"/>
                    </a:cubicBezTo>
                    <a:cubicBezTo>
                      <a:pt x="2128" y="222"/>
                      <a:pt x="2126" y="223"/>
                      <a:pt x="2126" y="223"/>
                    </a:cubicBezTo>
                    <a:cubicBezTo>
                      <a:pt x="2126" y="223"/>
                      <a:pt x="2126" y="224"/>
                      <a:pt x="2126" y="226"/>
                    </a:cubicBezTo>
                    <a:cubicBezTo>
                      <a:pt x="2127" y="227"/>
                      <a:pt x="2126" y="228"/>
                      <a:pt x="2125" y="229"/>
                    </a:cubicBezTo>
                    <a:cubicBezTo>
                      <a:pt x="2125" y="229"/>
                      <a:pt x="2120" y="232"/>
                      <a:pt x="2120" y="234"/>
                    </a:cubicBezTo>
                    <a:cubicBezTo>
                      <a:pt x="2121" y="235"/>
                      <a:pt x="2122" y="235"/>
                      <a:pt x="2125" y="234"/>
                    </a:cubicBezTo>
                    <a:cubicBezTo>
                      <a:pt x="2127" y="234"/>
                      <a:pt x="2128" y="235"/>
                      <a:pt x="2128" y="236"/>
                    </a:cubicBezTo>
                    <a:cubicBezTo>
                      <a:pt x="2128" y="238"/>
                      <a:pt x="2130" y="241"/>
                      <a:pt x="2131" y="241"/>
                    </a:cubicBezTo>
                    <a:cubicBezTo>
                      <a:pt x="2132" y="242"/>
                      <a:pt x="2132" y="243"/>
                      <a:pt x="2132" y="244"/>
                    </a:cubicBezTo>
                    <a:cubicBezTo>
                      <a:pt x="2132" y="245"/>
                      <a:pt x="2131" y="245"/>
                      <a:pt x="2132" y="246"/>
                    </a:cubicBezTo>
                    <a:cubicBezTo>
                      <a:pt x="2133" y="246"/>
                      <a:pt x="2134" y="248"/>
                      <a:pt x="2132" y="249"/>
                    </a:cubicBezTo>
                    <a:cubicBezTo>
                      <a:pt x="2131" y="250"/>
                      <a:pt x="2129" y="251"/>
                      <a:pt x="2129" y="252"/>
                    </a:cubicBezTo>
                    <a:cubicBezTo>
                      <a:pt x="2129" y="254"/>
                      <a:pt x="2129" y="255"/>
                      <a:pt x="2128" y="254"/>
                    </a:cubicBezTo>
                    <a:cubicBezTo>
                      <a:pt x="2127" y="254"/>
                      <a:pt x="2125" y="253"/>
                      <a:pt x="2125" y="254"/>
                    </a:cubicBezTo>
                    <a:cubicBezTo>
                      <a:pt x="2126" y="254"/>
                      <a:pt x="2128" y="256"/>
                      <a:pt x="2127" y="256"/>
                    </a:cubicBezTo>
                    <a:cubicBezTo>
                      <a:pt x="2126" y="255"/>
                      <a:pt x="2121" y="254"/>
                      <a:pt x="2118" y="255"/>
                    </a:cubicBezTo>
                    <a:cubicBezTo>
                      <a:pt x="2115" y="257"/>
                      <a:pt x="2109" y="256"/>
                      <a:pt x="2110" y="251"/>
                    </a:cubicBezTo>
                    <a:cubicBezTo>
                      <a:pt x="2110" y="246"/>
                      <a:pt x="2105" y="247"/>
                      <a:pt x="2105" y="247"/>
                    </a:cubicBezTo>
                    <a:cubicBezTo>
                      <a:pt x="2105" y="247"/>
                      <a:pt x="2103" y="247"/>
                      <a:pt x="2101" y="245"/>
                    </a:cubicBezTo>
                    <a:cubicBezTo>
                      <a:pt x="2099" y="244"/>
                      <a:pt x="2098" y="245"/>
                      <a:pt x="2097" y="244"/>
                    </a:cubicBezTo>
                    <a:cubicBezTo>
                      <a:pt x="2096" y="244"/>
                      <a:pt x="2090" y="244"/>
                      <a:pt x="2091" y="239"/>
                    </a:cubicBezTo>
                    <a:cubicBezTo>
                      <a:pt x="2092" y="234"/>
                      <a:pt x="2092" y="235"/>
                      <a:pt x="2090" y="234"/>
                    </a:cubicBezTo>
                    <a:cubicBezTo>
                      <a:pt x="2088" y="233"/>
                      <a:pt x="2087" y="233"/>
                      <a:pt x="2088" y="232"/>
                    </a:cubicBezTo>
                    <a:cubicBezTo>
                      <a:pt x="2088" y="232"/>
                      <a:pt x="2087" y="230"/>
                      <a:pt x="2085" y="230"/>
                    </a:cubicBezTo>
                    <a:cubicBezTo>
                      <a:pt x="2084" y="230"/>
                      <a:pt x="2083" y="231"/>
                      <a:pt x="2081" y="232"/>
                    </a:cubicBezTo>
                    <a:cubicBezTo>
                      <a:pt x="2079" y="233"/>
                      <a:pt x="2077" y="235"/>
                      <a:pt x="2075" y="235"/>
                    </a:cubicBezTo>
                    <a:cubicBezTo>
                      <a:pt x="2072" y="235"/>
                      <a:pt x="2052" y="235"/>
                      <a:pt x="2052" y="235"/>
                    </a:cubicBezTo>
                    <a:cubicBezTo>
                      <a:pt x="2052" y="235"/>
                      <a:pt x="2049" y="235"/>
                      <a:pt x="2044" y="233"/>
                    </a:cubicBezTo>
                    <a:cubicBezTo>
                      <a:pt x="2039" y="232"/>
                      <a:pt x="2031" y="230"/>
                      <a:pt x="2031" y="230"/>
                    </a:cubicBezTo>
                    <a:cubicBezTo>
                      <a:pt x="2031" y="230"/>
                      <a:pt x="2029" y="229"/>
                      <a:pt x="2027" y="230"/>
                    </a:cubicBezTo>
                    <a:cubicBezTo>
                      <a:pt x="2026" y="231"/>
                      <a:pt x="2025" y="231"/>
                      <a:pt x="2024" y="231"/>
                    </a:cubicBezTo>
                    <a:cubicBezTo>
                      <a:pt x="2023" y="231"/>
                      <a:pt x="1986" y="235"/>
                      <a:pt x="1986" y="235"/>
                    </a:cubicBezTo>
                    <a:cubicBezTo>
                      <a:pt x="1986" y="235"/>
                      <a:pt x="1984" y="235"/>
                      <a:pt x="1982" y="234"/>
                    </a:cubicBezTo>
                    <a:cubicBezTo>
                      <a:pt x="1980" y="234"/>
                      <a:pt x="1967" y="231"/>
                      <a:pt x="1967" y="231"/>
                    </a:cubicBezTo>
                    <a:cubicBezTo>
                      <a:pt x="1967" y="231"/>
                      <a:pt x="1966" y="230"/>
                      <a:pt x="1967" y="230"/>
                    </a:cubicBezTo>
                    <a:cubicBezTo>
                      <a:pt x="1967" y="229"/>
                      <a:pt x="1966" y="228"/>
                      <a:pt x="1966" y="228"/>
                    </a:cubicBezTo>
                    <a:cubicBezTo>
                      <a:pt x="1965" y="227"/>
                      <a:pt x="1964" y="226"/>
                      <a:pt x="1966" y="225"/>
                    </a:cubicBezTo>
                    <a:cubicBezTo>
                      <a:pt x="1967" y="224"/>
                      <a:pt x="1967" y="223"/>
                      <a:pt x="1966" y="221"/>
                    </a:cubicBezTo>
                    <a:cubicBezTo>
                      <a:pt x="1965" y="219"/>
                      <a:pt x="1967" y="220"/>
                      <a:pt x="1968" y="220"/>
                    </a:cubicBezTo>
                    <a:cubicBezTo>
                      <a:pt x="1968" y="220"/>
                      <a:pt x="1970" y="220"/>
                      <a:pt x="1970" y="218"/>
                    </a:cubicBezTo>
                    <a:cubicBezTo>
                      <a:pt x="1970" y="216"/>
                      <a:pt x="1969" y="212"/>
                      <a:pt x="1968" y="210"/>
                    </a:cubicBezTo>
                    <a:cubicBezTo>
                      <a:pt x="1967" y="208"/>
                      <a:pt x="1965" y="203"/>
                      <a:pt x="1948" y="198"/>
                    </a:cubicBezTo>
                    <a:cubicBezTo>
                      <a:pt x="1931" y="193"/>
                      <a:pt x="1923" y="194"/>
                      <a:pt x="1919" y="194"/>
                    </a:cubicBezTo>
                    <a:cubicBezTo>
                      <a:pt x="1914" y="194"/>
                      <a:pt x="1913" y="194"/>
                      <a:pt x="1912" y="194"/>
                    </a:cubicBezTo>
                    <a:cubicBezTo>
                      <a:pt x="1911" y="194"/>
                      <a:pt x="1907" y="194"/>
                      <a:pt x="1905" y="195"/>
                    </a:cubicBezTo>
                    <a:cubicBezTo>
                      <a:pt x="1904" y="195"/>
                      <a:pt x="1892" y="197"/>
                      <a:pt x="1890" y="197"/>
                    </a:cubicBezTo>
                    <a:cubicBezTo>
                      <a:pt x="1888" y="197"/>
                      <a:pt x="1884" y="198"/>
                      <a:pt x="1883" y="199"/>
                    </a:cubicBezTo>
                    <a:cubicBezTo>
                      <a:pt x="1881" y="199"/>
                      <a:pt x="1874" y="200"/>
                      <a:pt x="1872" y="200"/>
                    </a:cubicBezTo>
                    <a:cubicBezTo>
                      <a:pt x="1871" y="200"/>
                      <a:pt x="1863" y="201"/>
                      <a:pt x="1862" y="202"/>
                    </a:cubicBezTo>
                    <a:cubicBezTo>
                      <a:pt x="1861" y="202"/>
                      <a:pt x="1858" y="202"/>
                      <a:pt x="1855" y="201"/>
                    </a:cubicBezTo>
                    <a:cubicBezTo>
                      <a:pt x="1851" y="199"/>
                      <a:pt x="1846" y="198"/>
                      <a:pt x="1849" y="197"/>
                    </a:cubicBezTo>
                    <a:cubicBezTo>
                      <a:pt x="1851" y="197"/>
                      <a:pt x="1848" y="195"/>
                      <a:pt x="1848" y="195"/>
                    </a:cubicBezTo>
                    <a:cubicBezTo>
                      <a:pt x="1848" y="195"/>
                      <a:pt x="1845" y="191"/>
                      <a:pt x="1844" y="190"/>
                    </a:cubicBezTo>
                    <a:cubicBezTo>
                      <a:pt x="1844" y="189"/>
                      <a:pt x="1842" y="187"/>
                      <a:pt x="1839" y="187"/>
                    </a:cubicBezTo>
                    <a:cubicBezTo>
                      <a:pt x="1836" y="186"/>
                      <a:pt x="1834" y="186"/>
                      <a:pt x="1833" y="187"/>
                    </a:cubicBezTo>
                    <a:cubicBezTo>
                      <a:pt x="1832" y="189"/>
                      <a:pt x="1830" y="190"/>
                      <a:pt x="1831" y="188"/>
                    </a:cubicBezTo>
                    <a:cubicBezTo>
                      <a:pt x="1832" y="186"/>
                      <a:pt x="1831" y="186"/>
                      <a:pt x="1830" y="187"/>
                    </a:cubicBezTo>
                    <a:cubicBezTo>
                      <a:pt x="1829" y="188"/>
                      <a:pt x="1818" y="194"/>
                      <a:pt x="1822" y="190"/>
                    </a:cubicBezTo>
                    <a:cubicBezTo>
                      <a:pt x="1826" y="187"/>
                      <a:pt x="1828" y="185"/>
                      <a:pt x="1829" y="185"/>
                    </a:cubicBezTo>
                    <a:cubicBezTo>
                      <a:pt x="1830" y="184"/>
                      <a:pt x="1832" y="182"/>
                      <a:pt x="1828" y="183"/>
                    </a:cubicBezTo>
                    <a:cubicBezTo>
                      <a:pt x="1825" y="184"/>
                      <a:pt x="1825" y="183"/>
                      <a:pt x="1825" y="183"/>
                    </a:cubicBezTo>
                    <a:cubicBezTo>
                      <a:pt x="1824" y="183"/>
                      <a:pt x="1823" y="183"/>
                      <a:pt x="1822" y="183"/>
                    </a:cubicBezTo>
                    <a:cubicBezTo>
                      <a:pt x="1821" y="184"/>
                      <a:pt x="1818" y="184"/>
                      <a:pt x="1820" y="182"/>
                    </a:cubicBezTo>
                    <a:cubicBezTo>
                      <a:pt x="1823" y="180"/>
                      <a:pt x="1824" y="180"/>
                      <a:pt x="1822" y="179"/>
                    </a:cubicBezTo>
                    <a:cubicBezTo>
                      <a:pt x="1820" y="179"/>
                      <a:pt x="1817" y="179"/>
                      <a:pt x="1815" y="179"/>
                    </a:cubicBezTo>
                    <a:cubicBezTo>
                      <a:pt x="1814" y="180"/>
                      <a:pt x="1813" y="179"/>
                      <a:pt x="1812" y="179"/>
                    </a:cubicBezTo>
                    <a:cubicBezTo>
                      <a:pt x="1811" y="179"/>
                      <a:pt x="1807" y="178"/>
                      <a:pt x="1806" y="178"/>
                    </a:cubicBezTo>
                    <a:cubicBezTo>
                      <a:pt x="1805" y="178"/>
                      <a:pt x="1804" y="179"/>
                      <a:pt x="1804" y="178"/>
                    </a:cubicBezTo>
                    <a:cubicBezTo>
                      <a:pt x="1805" y="177"/>
                      <a:pt x="1805" y="177"/>
                      <a:pt x="1804" y="176"/>
                    </a:cubicBezTo>
                    <a:cubicBezTo>
                      <a:pt x="1804" y="175"/>
                      <a:pt x="1804" y="175"/>
                      <a:pt x="1805" y="175"/>
                    </a:cubicBezTo>
                    <a:cubicBezTo>
                      <a:pt x="1807" y="176"/>
                      <a:pt x="1808" y="176"/>
                      <a:pt x="1809" y="175"/>
                    </a:cubicBezTo>
                    <a:cubicBezTo>
                      <a:pt x="1810" y="173"/>
                      <a:pt x="1811" y="171"/>
                      <a:pt x="1813" y="173"/>
                    </a:cubicBezTo>
                    <a:cubicBezTo>
                      <a:pt x="1816" y="175"/>
                      <a:pt x="1816" y="176"/>
                      <a:pt x="1818" y="175"/>
                    </a:cubicBezTo>
                    <a:cubicBezTo>
                      <a:pt x="1821" y="174"/>
                      <a:pt x="1824" y="172"/>
                      <a:pt x="1820" y="169"/>
                    </a:cubicBezTo>
                    <a:cubicBezTo>
                      <a:pt x="1816" y="166"/>
                      <a:pt x="1814" y="164"/>
                      <a:pt x="1811" y="164"/>
                    </a:cubicBezTo>
                    <a:cubicBezTo>
                      <a:pt x="1807" y="163"/>
                      <a:pt x="1798" y="161"/>
                      <a:pt x="1797" y="161"/>
                    </a:cubicBezTo>
                    <a:cubicBezTo>
                      <a:pt x="1796" y="160"/>
                      <a:pt x="1790" y="160"/>
                      <a:pt x="1789" y="160"/>
                    </a:cubicBezTo>
                    <a:cubicBezTo>
                      <a:pt x="1788" y="160"/>
                      <a:pt x="1779" y="159"/>
                      <a:pt x="1777" y="162"/>
                    </a:cubicBezTo>
                    <a:cubicBezTo>
                      <a:pt x="1774" y="166"/>
                      <a:pt x="1773" y="166"/>
                      <a:pt x="1772" y="167"/>
                    </a:cubicBezTo>
                    <a:cubicBezTo>
                      <a:pt x="1772" y="167"/>
                      <a:pt x="1769" y="170"/>
                      <a:pt x="1768" y="171"/>
                    </a:cubicBezTo>
                    <a:cubicBezTo>
                      <a:pt x="1768" y="172"/>
                      <a:pt x="1763" y="175"/>
                      <a:pt x="1762" y="176"/>
                    </a:cubicBezTo>
                    <a:cubicBezTo>
                      <a:pt x="1760" y="176"/>
                      <a:pt x="1758" y="176"/>
                      <a:pt x="1757" y="177"/>
                    </a:cubicBezTo>
                    <a:cubicBezTo>
                      <a:pt x="1756" y="177"/>
                      <a:pt x="1751" y="177"/>
                      <a:pt x="1750" y="178"/>
                    </a:cubicBezTo>
                    <a:cubicBezTo>
                      <a:pt x="1749" y="178"/>
                      <a:pt x="1746" y="178"/>
                      <a:pt x="1746" y="178"/>
                    </a:cubicBezTo>
                    <a:cubicBezTo>
                      <a:pt x="1745" y="177"/>
                      <a:pt x="1745" y="176"/>
                      <a:pt x="1747" y="176"/>
                    </a:cubicBezTo>
                    <a:cubicBezTo>
                      <a:pt x="1749" y="175"/>
                      <a:pt x="1750" y="175"/>
                      <a:pt x="1749" y="174"/>
                    </a:cubicBezTo>
                    <a:cubicBezTo>
                      <a:pt x="1747" y="173"/>
                      <a:pt x="1745" y="171"/>
                      <a:pt x="1748" y="171"/>
                    </a:cubicBezTo>
                    <a:cubicBezTo>
                      <a:pt x="1750" y="172"/>
                      <a:pt x="1753" y="173"/>
                      <a:pt x="1754" y="173"/>
                    </a:cubicBezTo>
                    <a:cubicBezTo>
                      <a:pt x="1755" y="172"/>
                      <a:pt x="1756" y="172"/>
                      <a:pt x="1757" y="172"/>
                    </a:cubicBezTo>
                    <a:cubicBezTo>
                      <a:pt x="1758" y="172"/>
                      <a:pt x="1760" y="172"/>
                      <a:pt x="1758" y="170"/>
                    </a:cubicBezTo>
                    <a:cubicBezTo>
                      <a:pt x="1756" y="168"/>
                      <a:pt x="1756" y="167"/>
                      <a:pt x="1757" y="166"/>
                    </a:cubicBezTo>
                    <a:cubicBezTo>
                      <a:pt x="1757" y="165"/>
                      <a:pt x="1759" y="160"/>
                      <a:pt x="1761" y="165"/>
                    </a:cubicBezTo>
                    <a:cubicBezTo>
                      <a:pt x="1762" y="169"/>
                      <a:pt x="1761" y="167"/>
                      <a:pt x="1763" y="166"/>
                    </a:cubicBezTo>
                    <a:cubicBezTo>
                      <a:pt x="1764" y="165"/>
                      <a:pt x="1768" y="165"/>
                      <a:pt x="1766" y="166"/>
                    </a:cubicBezTo>
                    <a:cubicBezTo>
                      <a:pt x="1764" y="168"/>
                      <a:pt x="1763" y="169"/>
                      <a:pt x="1762" y="169"/>
                    </a:cubicBezTo>
                    <a:cubicBezTo>
                      <a:pt x="1762" y="169"/>
                      <a:pt x="1762" y="169"/>
                      <a:pt x="1762" y="170"/>
                    </a:cubicBezTo>
                    <a:cubicBezTo>
                      <a:pt x="1762" y="171"/>
                      <a:pt x="1761" y="174"/>
                      <a:pt x="1762" y="173"/>
                    </a:cubicBezTo>
                    <a:cubicBezTo>
                      <a:pt x="1763" y="173"/>
                      <a:pt x="1763" y="172"/>
                      <a:pt x="1764" y="171"/>
                    </a:cubicBezTo>
                    <a:cubicBezTo>
                      <a:pt x="1765" y="171"/>
                      <a:pt x="1766" y="170"/>
                      <a:pt x="1767" y="169"/>
                    </a:cubicBezTo>
                    <a:cubicBezTo>
                      <a:pt x="1768" y="169"/>
                      <a:pt x="1771" y="166"/>
                      <a:pt x="1772" y="165"/>
                    </a:cubicBezTo>
                    <a:cubicBezTo>
                      <a:pt x="1773" y="164"/>
                      <a:pt x="1777" y="161"/>
                      <a:pt x="1774" y="161"/>
                    </a:cubicBezTo>
                    <a:cubicBezTo>
                      <a:pt x="1771" y="161"/>
                      <a:pt x="1765" y="161"/>
                      <a:pt x="1764" y="161"/>
                    </a:cubicBezTo>
                    <a:cubicBezTo>
                      <a:pt x="1762" y="161"/>
                      <a:pt x="1742" y="163"/>
                      <a:pt x="1740" y="163"/>
                    </a:cubicBezTo>
                    <a:cubicBezTo>
                      <a:pt x="1738" y="163"/>
                      <a:pt x="1735" y="163"/>
                      <a:pt x="1738" y="162"/>
                    </a:cubicBezTo>
                    <a:cubicBezTo>
                      <a:pt x="1742" y="160"/>
                      <a:pt x="1746" y="157"/>
                      <a:pt x="1748" y="158"/>
                    </a:cubicBezTo>
                    <a:cubicBezTo>
                      <a:pt x="1751" y="159"/>
                      <a:pt x="1755" y="159"/>
                      <a:pt x="1756" y="159"/>
                    </a:cubicBezTo>
                    <a:cubicBezTo>
                      <a:pt x="1757" y="159"/>
                      <a:pt x="1772" y="160"/>
                      <a:pt x="1773" y="160"/>
                    </a:cubicBezTo>
                    <a:cubicBezTo>
                      <a:pt x="1773" y="160"/>
                      <a:pt x="1773" y="159"/>
                      <a:pt x="1769" y="158"/>
                    </a:cubicBezTo>
                    <a:cubicBezTo>
                      <a:pt x="1765" y="157"/>
                      <a:pt x="1747" y="153"/>
                      <a:pt x="1745" y="153"/>
                    </a:cubicBezTo>
                    <a:cubicBezTo>
                      <a:pt x="1743" y="153"/>
                      <a:pt x="1740" y="152"/>
                      <a:pt x="1740" y="152"/>
                    </a:cubicBezTo>
                    <a:cubicBezTo>
                      <a:pt x="1739" y="152"/>
                      <a:pt x="1735" y="151"/>
                      <a:pt x="1733" y="151"/>
                    </a:cubicBezTo>
                    <a:cubicBezTo>
                      <a:pt x="1732" y="151"/>
                      <a:pt x="1723" y="150"/>
                      <a:pt x="1721" y="150"/>
                    </a:cubicBezTo>
                    <a:cubicBezTo>
                      <a:pt x="1719" y="150"/>
                      <a:pt x="1710" y="150"/>
                      <a:pt x="1708" y="150"/>
                    </a:cubicBezTo>
                    <a:cubicBezTo>
                      <a:pt x="1706" y="150"/>
                      <a:pt x="1697" y="147"/>
                      <a:pt x="1695" y="146"/>
                    </a:cubicBezTo>
                    <a:cubicBezTo>
                      <a:pt x="1693" y="145"/>
                      <a:pt x="1686" y="145"/>
                      <a:pt x="1684" y="145"/>
                    </a:cubicBezTo>
                    <a:cubicBezTo>
                      <a:pt x="1683" y="145"/>
                      <a:pt x="1680" y="144"/>
                      <a:pt x="1683" y="146"/>
                    </a:cubicBezTo>
                    <a:cubicBezTo>
                      <a:pt x="1685" y="148"/>
                      <a:pt x="1688" y="151"/>
                      <a:pt x="1688" y="152"/>
                    </a:cubicBezTo>
                    <a:cubicBezTo>
                      <a:pt x="1688" y="153"/>
                      <a:pt x="1688" y="153"/>
                      <a:pt x="1688" y="153"/>
                    </a:cubicBezTo>
                    <a:cubicBezTo>
                      <a:pt x="1687" y="154"/>
                      <a:pt x="1685" y="154"/>
                      <a:pt x="1684" y="155"/>
                    </a:cubicBezTo>
                    <a:cubicBezTo>
                      <a:pt x="1684" y="155"/>
                      <a:pt x="1678" y="156"/>
                      <a:pt x="1676" y="156"/>
                    </a:cubicBezTo>
                    <a:cubicBezTo>
                      <a:pt x="1674" y="156"/>
                      <a:pt x="1671" y="156"/>
                      <a:pt x="1668" y="158"/>
                    </a:cubicBezTo>
                    <a:cubicBezTo>
                      <a:pt x="1666" y="160"/>
                      <a:pt x="1662" y="161"/>
                      <a:pt x="1661" y="162"/>
                    </a:cubicBezTo>
                    <a:cubicBezTo>
                      <a:pt x="1661" y="162"/>
                      <a:pt x="1658" y="163"/>
                      <a:pt x="1660" y="164"/>
                    </a:cubicBezTo>
                    <a:cubicBezTo>
                      <a:pt x="1662" y="166"/>
                      <a:pt x="1663" y="165"/>
                      <a:pt x="1665" y="164"/>
                    </a:cubicBezTo>
                    <a:cubicBezTo>
                      <a:pt x="1666" y="163"/>
                      <a:pt x="1668" y="163"/>
                      <a:pt x="1669" y="163"/>
                    </a:cubicBezTo>
                    <a:cubicBezTo>
                      <a:pt x="1670" y="163"/>
                      <a:pt x="1672" y="163"/>
                      <a:pt x="1672" y="163"/>
                    </a:cubicBezTo>
                    <a:cubicBezTo>
                      <a:pt x="1673" y="163"/>
                      <a:pt x="1676" y="163"/>
                      <a:pt x="1675" y="165"/>
                    </a:cubicBezTo>
                    <a:cubicBezTo>
                      <a:pt x="1674" y="166"/>
                      <a:pt x="1673" y="165"/>
                      <a:pt x="1671" y="167"/>
                    </a:cubicBezTo>
                    <a:cubicBezTo>
                      <a:pt x="1669" y="169"/>
                      <a:pt x="1668" y="170"/>
                      <a:pt x="1667" y="170"/>
                    </a:cubicBezTo>
                    <a:cubicBezTo>
                      <a:pt x="1666" y="171"/>
                      <a:pt x="1663" y="171"/>
                      <a:pt x="1665" y="171"/>
                    </a:cubicBezTo>
                    <a:cubicBezTo>
                      <a:pt x="1667" y="172"/>
                      <a:pt x="1667" y="172"/>
                      <a:pt x="1668" y="173"/>
                    </a:cubicBezTo>
                    <a:cubicBezTo>
                      <a:pt x="1668" y="175"/>
                      <a:pt x="1668" y="179"/>
                      <a:pt x="1671" y="181"/>
                    </a:cubicBezTo>
                    <a:cubicBezTo>
                      <a:pt x="1673" y="183"/>
                      <a:pt x="1673" y="184"/>
                      <a:pt x="1672" y="184"/>
                    </a:cubicBezTo>
                    <a:cubicBezTo>
                      <a:pt x="1671" y="183"/>
                      <a:pt x="1670" y="184"/>
                      <a:pt x="1670" y="184"/>
                    </a:cubicBezTo>
                    <a:cubicBezTo>
                      <a:pt x="1669" y="185"/>
                      <a:pt x="1668" y="184"/>
                      <a:pt x="1667" y="184"/>
                    </a:cubicBezTo>
                    <a:cubicBezTo>
                      <a:pt x="1667" y="184"/>
                      <a:pt x="1665" y="184"/>
                      <a:pt x="1664" y="185"/>
                    </a:cubicBezTo>
                    <a:cubicBezTo>
                      <a:pt x="1662" y="186"/>
                      <a:pt x="1660" y="186"/>
                      <a:pt x="1659" y="182"/>
                    </a:cubicBezTo>
                    <a:cubicBezTo>
                      <a:pt x="1658" y="179"/>
                      <a:pt x="1654" y="180"/>
                      <a:pt x="1653" y="181"/>
                    </a:cubicBezTo>
                    <a:cubicBezTo>
                      <a:pt x="1652" y="181"/>
                      <a:pt x="1648" y="184"/>
                      <a:pt x="1650" y="181"/>
                    </a:cubicBezTo>
                    <a:cubicBezTo>
                      <a:pt x="1650" y="181"/>
                      <a:pt x="1650" y="180"/>
                      <a:pt x="1649" y="180"/>
                    </a:cubicBezTo>
                    <a:cubicBezTo>
                      <a:pt x="1647" y="181"/>
                      <a:pt x="1645" y="181"/>
                      <a:pt x="1643" y="183"/>
                    </a:cubicBezTo>
                    <a:cubicBezTo>
                      <a:pt x="1641" y="185"/>
                      <a:pt x="1640" y="186"/>
                      <a:pt x="1642" y="187"/>
                    </a:cubicBezTo>
                    <a:cubicBezTo>
                      <a:pt x="1644" y="187"/>
                      <a:pt x="1641" y="187"/>
                      <a:pt x="1644" y="188"/>
                    </a:cubicBezTo>
                    <a:cubicBezTo>
                      <a:pt x="1647" y="188"/>
                      <a:pt x="1648" y="188"/>
                      <a:pt x="1646" y="188"/>
                    </a:cubicBezTo>
                    <a:cubicBezTo>
                      <a:pt x="1644" y="189"/>
                      <a:pt x="1643" y="189"/>
                      <a:pt x="1645" y="189"/>
                    </a:cubicBezTo>
                    <a:cubicBezTo>
                      <a:pt x="1647" y="190"/>
                      <a:pt x="1646" y="190"/>
                      <a:pt x="1644" y="191"/>
                    </a:cubicBezTo>
                    <a:cubicBezTo>
                      <a:pt x="1643" y="191"/>
                      <a:pt x="1639" y="191"/>
                      <a:pt x="1640" y="191"/>
                    </a:cubicBezTo>
                    <a:cubicBezTo>
                      <a:pt x="1642" y="192"/>
                      <a:pt x="1642" y="192"/>
                      <a:pt x="1642" y="193"/>
                    </a:cubicBezTo>
                    <a:cubicBezTo>
                      <a:pt x="1643" y="193"/>
                      <a:pt x="1642" y="193"/>
                      <a:pt x="1642" y="194"/>
                    </a:cubicBezTo>
                    <a:cubicBezTo>
                      <a:pt x="1641" y="194"/>
                      <a:pt x="1640" y="194"/>
                      <a:pt x="1640" y="193"/>
                    </a:cubicBezTo>
                    <a:cubicBezTo>
                      <a:pt x="1639" y="192"/>
                      <a:pt x="1637" y="192"/>
                      <a:pt x="1638" y="191"/>
                    </a:cubicBezTo>
                    <a:cubicBezTo>
                      <a:pt x="1639" y="190"/>
                      <a:pt x="1639" y="190"/>
                      <a:pt x="1638" y="190"/>
                    </a:cubicBezTo>
                    <a:cubicBezTo>
                      <a:pt x="1637" y="190"/>
                      <a:pt x="1634" y="190"/>
                      <a:pt x="1635" y="188"/>
                    </a:cubicBezTo>
                    <a:cubicBezTo>
                      <a:pt x="1635" y="187"/>
                      <a:pt x="1635" y="187"/>
                      <a:pt x="1634" y="187"/>
                    </a:cubicBezTo>
                    <a:cubicBezTo>
                      <a:pt x="1633" y="187"/>
                      <a:pt x="1632" y="187"/>
                      <a:pt x="1632" y="187"/>
                    </a:cubicBezTo>
                    <a:cubicBezTo>
                      <a:pt x="1632" y="186"/>
                      <a:pt x="1631" y="186"/>
                      <a:pt x="1629" y="185"/>
                    </a:cubicBezTo>
                    <a:cubicBezTo>
                      <a:pt x="1627" y="185"/>
                      <a:pt x="1627" y="183"/>
                      <a:pt x="1624" y="184"/>
                    </a:cubicBezTo>
                    <a:cubicBezTo>
                      <a:pt x="1621" y="184"/>
                      <a:pt x="1621" y="184"/>
                      <a:pt x="1621" y="183"/>
                    </a:cubicBezTo>
                    <a:cubicBezTo>
                      <a:pt x="1621" y="182"/>
                      <a:pt x="1620" y="181"/>
                      <a:pt x="1619" y="181"/>
                    </a:cubicBezTo>
                    <a:cubicBezTo>
                      <a:pt x="1618" y="181"/>
                      <a:pt x="1616" y="180"/>
                      <a:pt x="1615" y="180"/>
                    </a:cubicBezTo>
                    <a:cubicBezTo>
                      <a:pt x="1615" y="180"/>
                      <a:pt x="1613" y="179"/>
                      <a:pt x="1610" y="180"/>
                    </a:cubicBezTo>
                    <a:cubicBezTo>
                      <a:pt x="1608" y="181"/>
                      <a:pt x="1599" y="183"/>
                      <a:pt x="1598" y="183"/>
                    </a:cubicBezTo>
                    <a:cubicBezTo>
                      <a:pt x="1596" y="184"/>
                      <a:pt x="1595" y="184"/>
                      <a:pt x="1595" y="185"/>
                    </a:cubicBezTo>
                    <a:cubicBezTo>
                      <a:pt x="1595" y="186"/>
                      <a:pt x="1595" y="187"/>
                      <a:pt x="1595" y="188"/>
                    </a:cubicBezTo>
                    <a:cubicBezTo>
                      <a:pt x="1594" y="188"/>
                      <a:pt x="1594" y="189"/>
                      <a:pt x="1594" y="188"/>
                    </a:cubicBezTo>
                    <a:cubicBezTo>
                      <a:pt x="1594" y="187"/>
                      <a:pt x="1594" y="186"/>
                      <a:pt x="1593" y="186"/>
                    </a:cubicBezTo>
                    <a:cubicBezTo>
                      <a:pt x="1592" y="187"/>
                      <a:pt x="1585" y="187"/>
                      <a:pt x="1582" y="186"/>
                    </a:cubicBezTo>
                    <a:cubicBezTo>
                      <a:pt x="1580" y="185"/>
                      <a:pt x="1573" y="183"/>
                      <a:pt x="1570" y="180"/>
                    </a:cubicBezTo>
                    <a:cubicBezTo>
                      <a:pt x="1567" y="176"/>
                      <a:pt x="1566" y="177"/>
                      <a:pt x="1566" y="176"/>
                    </a:cubicBezTo>
                    <a:cubicBezTo>
                      <a:pt x="1565" y="176"/>
                      <a:pt x="1565" y="176"/>
                      <a:pt x="1565" y="175"/>
                    </a:cubicBezTo>
                    <a:cubicBezTo>
                      <a:pt x="1565" y="174"/>
                      <a:pt x="1564" y="172"/>
                      <a:pt x="1563" y="172"/>
                    </a:cubicBezTo>
                    <a:cubicBezTo>
                      <a:pt x="1562" y="172"/>
                      <a:pt x="1562" y="173"/>
                      <a:pt x="1561" y="174"/>
                    </a:cubicBezTo>
                    <a:cubicBezTo>
                      <a:pt x="1560" y="175"/>
                      <a:pt x="1556" y="181"/>
                      <a:pt x="1555" y="185"/>
                    </a:cubicBezTo>
                    <a:cubicBezTo>
                      <a:pt x="1555" y="185"/>
                      <a:pt x="1555" y="187"/>
                      <a:pt x="1554" y="188"/>
                    </a:cubicBezTo>
                    <a:cubicBezTo>
                      <a:pt x="1553" y="189"/>
                      <a:pt x="1553" y="190"/>
                      <a:pt x="1553" y="191"/>
                    </a:cubicBezTo>
                    <a:cubicBezTo>
                      <a:pt x="1552" y="192"/>
                      <a:pt x="1552" y="193"/>
                      <a:pt x="1551" y="194"/>
                    </a:cubicBezTo>
                    <a:cubicBezTo>
                      <a:pt x="1551" y="194"/>
                      <a:pt x="1544" y="200"/>
                      <a:pt x="1543" y="202"/>
                    </a:cubicBezTo>
                    <a:cubicBezTo>
                      <a:pt x="1542" y="203"/>
                      <a:pt x="1540" y="204"/>
                      <a:pt x="1539" y="204"/>
                    </a:cubicBezTo>
                    <a:cubicBezTo>
                      <a:pt x="1538" y="204"/>
                      <a:pt x="1537" y="204"/>
                      <a:pt x="1537" y="203"/>
                    </a:cubicBezTo>
                    <a:cubicBezTo>
                      <a:pt x="1538" y="201"/>
                      <a:pt x="1538" y="200"/>
                      <a:pt x="1536" y="201"/>
                    </a:cubicBezTo>
                    <a:cubicBezTo>
                      <a:pt x="1535" y="201"/>
                      <a:pt x="1532" y="200"/>
                      <a:pt x="1532" y="200"/>
                    </a:cubicBezTo>
                    <a:cubicBezTo>
                      <a:pt x="1532" y="199"/>
                      <a:pt x="1531" y="199"/>
                      <a:pt x="1530" y="199"/>
                    </a:cubicBezTo>
                    <a:cubicBezTo>
                      <a:pt x="1529" y="199"/>
                      <a:pt x="1527" y="198"/>
                      <a:pt x="1527" y="198"/>
                    </a:cubicBezTo>
                    <a:cubicBezTo>
                      <a:pt x="1528" y="197"/>
                      <a:pt x="1527" y="197"/>
                      <a:pt x="1526" y="197"/>
                    </a:cubicBezTo>
                    <a:cubicBezTo>
                      <a:pt x="1525" y="196"/>
                      <a:pt x="1518" y="195"/>
                      <a:pt x="1520" y="194"/>
                    </a:cubicBezTo>
                    <a:cubicBezTo>
                      <a:pt x="1521" y="193"/>
                      <a:pt x="1521" y="193"/>
                      <a:pt x="1520" y="192"/>
                    </a:cubicBezTo>
                    <a:cubicBezTo>
                      <a:pt x="1520" y="192"/>
                      <a:pt x="1520" y="191"/>
                      <a:pt x="1520" y="191"/>
                    </a:cubicBezTo>
                    <a:cubicBezTo>
                      <a:pt x="1520" y="190"/>
                      <a:pt x="1518" y="189"/>
                      <a:pt x="1517" y="189"/>
                    </a:cubicBezTo>
                    <a:cubicBezTo>
                      <a:pt x="1515" y="188"/>
                      <a:pt x="1515" y="187"/>
                      <a:pt x="1515" y="186"/>
                    </a:cubicBezTo>
                    <a:cubicBezTo>
                      <a:pt x="1514" y="185"/>
                      <a:pt x="1513" y="184"/>
                      <a:pt x="1513" y="183"/>
                    </a:cubicBezTo>
                    <a:cubicBezTo>
                      <a:pt x="1512" y="183"/>
                      <a:pt x="1507" y="180"/>
                      <a:pt x="1507" y="180"/>
                    </a:cubicBezTo>
                    <a:cubicBezTo>
                      <a:pt x="1507" y="179"/>
                      <a:pt x="1506" y="178"/>
                      <a:pt x="1508" y="178"/>
                    </a:cubicBezTo>
                    <a:cubicBezTo>
                      <a:pt x="1510" y="177"/>
                      <a:pt x="1511" y="178"/>
                      <a:pt x="1512" y="177"/>
                    </a:cubicBezTo>
                    <a:cubicBezTo>
                      <a:pt x="1513" y="176"/>
                      <a:pt x="1513" y="176"/>
                      <a:pt x="1514" y="177"/>
                    </a:cubicBezTo>
                    <a:cubicBezTo>
                      <a:pt x="1515" y="177"/>
                      <a:pt x="1518" y="178"/>
                      <a:pt x="1516" y="176"/>
                    </a:cubicBezTo>
                    <a:cubicBezTo>
                      <a:pt x="1513" y="174"/>
                      <a:pt x="1514" y="174"/>
                      <a:pt x="1513" y="173"/>
                    </a:cubicBezTo>
                    <a:cubicBezTo>
                      <a:pt x="1513" y="173"/>
                      <a:pt x="1511" y="170"/>
                      <a:pt x="1510" y="170"/>
                    </a:cubicBezTo>
                    <a:cubicBezTo>
                      <a:pt x="1510" y="169"/>
                      <a:pt x="1510" y="169"/>
                      <a:pt x="1510" y="170"/>
                    </a:cubicBezTo>
                    <a:cubicBezTo>
                      <a:pt x="1511" y="171"/>
                      <a:pt x="1511" y="172"/>
                      <a:pt x="1511" y="172"/>
                    </a:cubicBezTo>
                    <a:cubicBezTo>
                      <a:pt x="1512" y="173"/>
                      <a:pt x="1513" y="175"/>
                      <a:pt x="1512" y="175"/>
                    </a:cubicBezTo>
                    <a:cubicBezTo>
                      <a:pt x="1511" y="175"/>
                      <a:pt x="1504" y="176"/>
                      <a:pt x="1504" y="174"/>
                    </a:cubicBezTo>
                    <a:cubicBezTo>
                      <a:pt x="1505" y="172"/>
                      <a:pt x="1503" y="172"/>
                      <a:pt x="1503" y="172"/>
                    </a:cubicBezTo>
                    <a:cubicBezTo>
                      <a:pt x="1502" y="172"/>
                      <a:pt x="1502" y="171"/>
                      <a:pt x="1501" y="170"/>
                    </a:cubicBezTo>
                    <a:cubicBezTo>
                      <a:pt x="1501" y="170"/>
                      <a:pt x="1498" y="166"/>
                      <a:pt x="1498" y="166"/>
                    </a:cubicBezTo>
                    <a:cubicBezTo>
                      <a:pt x="1498" y="165"/>
                      <a:pt x="1497" y="162"/>
                      <a:pt x="1499" y="163"/>
                    </a:cubicBezTo>
                    <a:cubicBezTo>
                      <a:pt x="1501" y="164"/>
                      <a:pt x="1503" y="164"/>
                      <a:pt x="1503" y="165"/>
                    </a:cubicBezTo>
                    <a:cubicBezTo>
                      <a:pt x="1503" y="166"/>
                      <a:pt x="1503" y="166"/>
                      <a:pt x="1504" y="167"/>
                    </a:cubicBezTo>
                    <a:cubicBezTo>
                      <a:pt x="1505" y="167"/>
                      <a:pt x="1505" y="167"/>
                      <a:pt x="1506" y="167"/>
                    </a:cubicBezTo>
                    <a:cubicBezTo>
                      <a:pt x="1507" y="167"/>
                      <a:pt x="1508" y="168"/>
                      <a:pt x="1509" y="168"/>
                    </a:cubicBezTo>
                    <a:cubicBezTo>
                      <a:pt x="1509" y="168"/>
                      <a:pt x="1510" y="168"/>
                      <a:pt x="1510" y="167"/>
                    </a:cubicBezTo>
                    <a:cubicBezTo>
                      <a:pt x="1511" y="167"/>
                      <a:pt x="1512" y="167"/>
                      <a:pt x="1512" y="167"/>
                    </a:cubicBezTo>
                    <a:cubicBezTo>
                      <a:pt x="1513" y="167"/>
                      <a:pt x="1515" y="167"/>
                      <a:pt x="1516" y="166"/>
                    </a:cubicBezTo>
                    <a:cubicBezTo>
                      <a:pt x="1517" y="166"/>
                      <a:pt x="1518" y="164"/>
                      <a:pt x="1517" y="162"/>
                    </a:cubicBezTo>
                    <a:cubicBezTo>
                      <a:pt x="1517" y="161"/>
                      <a:pt x="1517" y="159"/>
                      <a:pt x="1516" y="159"/>
                    </a:cubicBezTo>
                    <a:cubicBezTo>
                      <a:pt x="1515" y="159"/>
                      <a:pt x="1514" y="158"/>
                      <a:pt x="1513" y="158"/>
                    </a:cubicBezTo>
                    <a:cubicBezTo>
                      <a:pt x="1513" y="157"/>
                      <a:pt x="1513" y="156"/>
                      <a:pt x="1513" y="156"/>
                    </a:cubicBezTo>
                    <a:cubicBezTo>
                      <a:pt x="1512" y="157"/>
                      <a:pt x="1503" y="155"/>
                      <a:pt x="1502" y="155"/>
                    </a:cubicBezTo>
                    <a:cubicBezTo>
                      <a:pt x="1500" y="155"/>
                      <a:pt x="1499" y="154"/>
                      <a:pt x="1501" y="154"/>
                    </a:cubicBezTo>
                    <a:cubicBezTo>
                      <a:pt x="1503" y="154"/>
                      <a:pt x="1503" y="155"/>
                      <a:pt x="1504" y="155"/>
                    </a:cubicBezTo>
                    <a:cubicBezTo>
                      <a:pt x="1506" y="154"/>
                      <a:pt x="1506" y="154"/>
                      <a:pt x="1507" y="154"/>
                    </a:cubicBezTo>
                    <a:cubicBezTo>
                      <a:pt x="1507" y="153"/>
                      <a:pt x="1507" y="153"/>
                      <a:pt x="1508" y="153"/>
                    </a:cubicBezTo>
                    <a:cubicBezTo>
                      <a:pt x="1509" y="153"/>
                      <a:pt x="1509" y="153"/>
                      <a:pt x="1509" y="152"/>
                    </a:cubicBezTo>
                    <a:cubicBezTo>
                      <a:pt x="1510" y="151"/>
                      <a:pt x="1510" y="151"/>
                      <a:pt x="1511" y="151"/>
                    </a:cubicBezTo>
                    <a:cubicBezTo>
                      <a:pt x="1512" y="151"/>
                      <a:pt x="1512" y="151"/>
                      <a:pt x="1513" y="151"/>
                    </a:cubicBezTo>
                    <a:cubicBezTo>
                      <a:pt x="1513" y="150"/>
                      <a:pt x="1515" y="151"/>
                      <a:pt x="1514" y="150"/>
                    </a:cubicBezTo>
                    <a:cubicBezTo>
                      <a:pt x="1512" y="149"/>
                      <a:pt x="1503" y="145"/>
                      <a:pt x="1503" y="144"/>
                    </a:cubicBezTo>
                    <a:cubicBezTo>
                      <a:pt x="1502" y="144"/>
                      <a:pt x="1500" y="143"/>
                      <a:pt x="1503" y="143"/>
                    </a:cubicBezTo>
                    <a:cubicBezTo>
                      <a:pt x="1505" y="143"/>
                      <a:pt x="1508" y="142"/>
                      <a:pt x="1509" y="142"/>
                    </a:cubicBezTo>
                    <a:cubicBezTo>
                      <a:pt x="1510" y="141"/>
                      <a:pt x="1511" y="140"/>
                      <a:pt x="1511" y="139"/>
                    </a:cubicBezTo>
                    <a:cubicBezTo>
                      <a:pt x="1511" y="138"/>
                      <a:pt x="1510" y="138"/>
                      <a:pt x="1510" y="137"/>
                    </a:cubicBezTo>
                    <a:cubicBezTo>
                      <a:pt x="1509" y="137"/>
                      <a:pt x="1503" y="133"/>
                      <a:pt x="1502" y="132"/>
                    </a:cubicBezTo>
                    <a:cubicBezTo>
                      <a:pt x="1501" y="132"/>
                      <a:pt x="1494" y="128"/>
                      <a:pt x="1491" y="128"/>
                    </a:cubicBezTo>
                    <a:cubicBezTo>
                      <a:pt x="1489" y="127"/>
                      <a:pt x="1478" y="125"/>
                      <a:pt x="1478" y="127"/>
                    </a:cubicBezTo>
                    <a:cubicBezTo>
                      <a:pt x="1479" y="130"/>
                      <a:pt x="1477" y="130"/>
                      <a:pt x="1477" y="130"/>
                    </a:cubicBezTo>
                    <a:cubicBezTo>
                      <a:pt x="1476" y="130"/>
                      <a:pt x="1472" y="131"/>
                      <a:pt x="1471" y="131"/>
                    </a:cubicBezTo>
                    <a:cubicBezTo>
                      <a:pt x="1471" y="131"/>
                      <a:pt x="1466" y="129"/>
                      <a:pt x="1468" y="128"/>
                    </a:cubicBezTo>
                    <a:cubicBezTo>
                      <a:pt x="1470" y="128"/>
                      <a:pt x="1471" y="128"/>
                      <a:pt x="1470" y="126"/>
                    </a:cubicBezTo>
                    <a:cubicBezTo>
                      <a:pt x="1469" y="125"/>
                      <a:pt x="1468" y="126"/>
                      <a:pt x="1468" y="126"/>
                    </a:cubicBezTo>
                    <a:cubicBezTo>
                      <a:pt x="1467" y="126"/>
                      <a:pt x="1459" y="126"/>
                      <a:pt x="1459" y="126"/>
                    </a:cubicBezTo>
                    <a:cubicBezTo>
                      <a:pt x="1458" y="126"/>
                      <a:pt x="1458" y="126"/>
                      <a:pt x="1458" y="126"/>
                    </a:cubicBezTo>
                    <a:cubicBezTo>
                      <a:pt x="1457" y="126"/>
                      <a:pt x="1457" y="125"/>
                      <a:pt x="1456" y="125"/>
                    </a:cubicBezTo>
                    <a:cubicBezTo>
                      <a:pt x="1455" y="125"/>
                      <a:pt x="1452" y="126"/>
                      <a:pt x="1453" y="125"/>
                    </a:cubicBezTo>
                    <a:cubicBezTo>
                      <a:pt x="1453" y="123"/>
                      <a:pt x="1453" y="123"/>
                      <a:pt x="1453" y="123"/>
                    </a:cubicBezTo>
                    <a:cubicBezTo>
                      <a:pt x="1452" y="122"/>
                      <a:pt x="1453" y="122"/>
                      <a:pt x="1452" y="122"/>
                    </a:cubicBezTo>
                    <a:cubicBezTo>
                      <a:pt x="1452" y="121"/>
                      <a:pt x="1449" y="122"/>
                      <a:pt x="1449" y="122"/>
                    </a:cubicBezTo>
                    <a:cubicBezTo>
                      <a:pt x="1448" y="122"/>
                      <a:pt x="1448" y="122"/>
                      <a:pt x="1447" y="121"/>
                    </a:cubicBezTo>
                    <a:cubicBezTo>
                      <a:pt x="1447" y="120"/>
                      <a:pt x="1447" y="121"/>
                      <a:pt x="1446" y="121"/>
                    </a:cubicBezTo>
                    <a:cubicBezTo>
                      <a:pt x="1446" y="121"/>
                      <a:pt x="1446" y="120"/>
                      <a:pt x="1445" y="120"/>
                    </a:cubicBezTo>
                    <a:cubicBezTo>
                      <a:pt x="1444" y="120"/>
                      <a:pt x="1443" y="120"/>
                      <a:pt x="1442" y="120"/>
                    </a:cubicBezTo>
                    <a:cubicBezTo>
                      <a:pt x="1442" y="119"/>
                      <a:pt x="1442" y="119"/>
                      <a:pt x="1441" y="119"/>
                    </a:cubicBezTo>
                    <a:cubicBezTo>
                      <a:pt x="1441" y="119"/>
                      <a:pt x="1440" y="119"/>
                      <a:pt x="1440" y="119"/>
                    </a:cubicBezTo>
                    <a:cubicBezTo>
                      <a:pt x="1439" y="120"/>
                      <a:pt x="1435" y="123"/>
                      <a:pt x="1435" y="121"/>
                    </a:cubicBezTo>
                    <a:cubicBezTo>
                      <a:pt x="1435" y="119"/>
                      <a:pt x="1435" y="119"/>
                      <a:pt x="1434" y="119"/>
                    </a:cubicBezTo>
                    <a:cubicBezTo>
                      <a:pt x="1433" y="120"/>
                      <a:pt x="1433" y="120"/>
                      <a:pt x="1434" y="121"/>
                    </a:cubicBezTo>
                    <a:cubicBezTo>
                      <a:pt x="1435" y="122"/>
                      <a:pt x="1435" y="122"/>
                      <a:pt x="1435" y="123"/>
                    </a:cubicBezTo>
                    <a:cubicBezTo>
                      <a:pt x="1434" y="123"/>
                      <a:pt x="1432" y="124"/>
                      <a:pt x="1432" y="124"/>
                    </a:cubicBezTo>
                    <a:cubicBezTo>
                      <a:pt x="1431" y="124"/>
                      <a:pt x="1429" y="125"/>
                      <a:pt x="1429" y="124"/>
                    </a:cubicBezTo>
                    <a:cubicBezTo>
                      <a:pt x="1430" y="123"/>
                      <a:pt x="1429" y="123"/>
                      <a:pt x="1429" y="123"/>
                    </a:cubicBezTo>
                    <a:cubicBezTo>
                      <a:pt x="1429" y="123"/>
                      <a:pt x="1429" y="122"/>
                      <a:pt x="1429" y="122"/>
                    </a:cubicBezTo>
                    <a:cubicBezTo>
                      <a:pt x="1429" y="122"/>
                      <a:pt x="1429" y="121"/>
                      <a:pt x="1428" y="121"/>
                    </a:cubicBezTo>
                    <a:cubicBezTo>
                      <a:pt x="1428" y="122"/>
                      <a:pt x="1427" y="122"/>
                      <a:pt x="1427" y="122"/>
                    </a:cubicBezTo>
                    <a:cubicBezTo>
                      <a:pt x="1426" y="123"/>
                      <a:pt x="1426" y="123"/>
                      <a:pt x="1425" y="124"/>
                    </a:cubicBezTo>
                    <a:cubicBezTo>
                      <a:pt x="1425" y="126"/>
                      <a:pt x="1425" y="126"/>
                      <a:pt x="1426" y="127"/>
                    </a:cubicBezTo>
                    <a:cubicBezTo>
                      <a:pt x="1426" y="128"/>
                      <a:pt x="1427" y="128"/>
                      <a:pt x="1426" y="128"/>
                    </a:cubicBezTo>
                    <a:cubicBezTo>
                      <a:pt x="1425" y="128"/>
                      <a:pt x="1424" y="128"/>
                      <a:pt x="1424" y="129"/>
                    </a:cubicBezTo>
                    <a:cubicBezTo>
                      <a:pt x="1424" y="130"/>
                      <a:pt x="1424" y="130"/>
                      <a:pt x="1426" y="130"/>
                    </a:cubicBezTo>
                    <a:cubicBezTo>
                      <a:pt x="1427" y="131"/>
                      <a:pt x="1427" y="132"/>
                      <a:pt x="1427" y="132"/>
                    </a:cubicBezTo>
                    <a:cubicBezTo>
                      <a:pt x="1427" y="133"/>
                      <a:pt x="1428" y="135"/>
                      <a:pt x="1429" y="135"/>
                    </a:cubicBezTo>
                    <a:cubicBezTo>
                      <a:pt x="1430" y="135"/>
                      <a:pt x="1430" y="136"/>
                      <a:pt x="1429" y="136"/>
                    </a:cubicBezTo>
                    <a:cubicBezTo>
                      <a:pt x="1428" y="136"/>
                      <a:pt x="1426" y="137"/>
                      <a:pt x="1426" y="138"/>
                    </a:cubicBezTo>
                    <a:cubicBezTo>
                      <a:pt x="1427" y="139"/>
                      <a:pt x="1426" y="140"/>
                      <a:pt x="1426" y="141"/>
                    </a:cubicBezTo>
                    <a:cubicBezTo>
                      <a:pt x="1425" y="141"/>
                      <a:pt x="1423" y="144"/>
                      <a:pt x="1421" y="144"/>
                    </a:cubicBezTo>
                    <a:cubicBezTo>
                      <a:pt x="1419" y="143"/>
                      <a:pt x="1417" y="143"/>
                      <a:pt x="1415" y="142"/>
                    </a:cubicBezTo>
                    <a:cubicBezTo>
                      <a:pt x="1414" y="142"/>
                      <a:pt x="1411" y="142"/>
                      <a:pt x="1408" y="142"/>
                    </a:cubicBezTo>
                    <a:cubicBezTo>
                      <a:pt x="1406" y="143"/>
                      <a:pt x="1398" y="142"/>
                      <a:pt x="1396" y="142"/>
                    </a:cubicBezTo>
                    <a:cubicBezTo>
                      <a:pt x="1395" y="142"/>
                      <a:pt x="1375" y="141"/>
                      <a:pt x="1374" y="141"/>
                    </a:cubicBezTo>
                    <a:cubicBezTo>
                      <a:pt x="1373" y="141"/>
                      <a:pt x="1372" y="141"/>
                      <a:pt x="1372" y="141"/>
                    </a:cubicBezTo>
                    <a:cubicBezTo>
                      <a:pt x="1371" y="141"/>
                      <a:pt x="1370" y="142"/>
                      <a:pt x="1370" y="141"/>
                    </a:cubicBezTo>
                    <a:cubicBezTo>
                      <a:pt x="1369" y="141"/>
                      <a:pt x="1354" y="136"/>
                      <a:pt x="1354" y="136"/>
                    </a:cubicBezTo>
                    <a:cubicBezTo>
                      <a:pt x="1354" y="136"/>
                      <a:pt x="1353" y="136"/>
                      <a:pt x="1352" y="134"/>
                    </a:cubicBezTo>
                    <a:cubicBezTo>
                      <a:pt x="1352" y="133"/>
                      <a:pt x="1351" y="132"/>
                      <a:pt x="1352" y="131"/>
                    </a:cubicBezTo>
                    <a:cubicBezTo>
                      <a:pt x="1353" y="129"/>
                      <a:pt x="1353" y="128"/>
                      <a:pt x="1354" y="128"/>
                    </a:cubicBezTo>
                    <a:cubicBezTo>
                      <a:pt x="1355" y="127"/>
                      <a:pt x="1357" y="128"/>
                      <a:pt x="1358" y="128"/>
                    </a:cubicBezTo>
                    <a:cubicBezTo>
                      <a:pt x="1358" y="127"/>
                      <a:pt x="1362" y="128"/>
                      <a:pt x="1360" y="127"/>
                    </a:cubicBezTo>
                    <a:cubicBezTo>
                      <a:pt x="1358" y="126"/>
                      <a:pt x="1357" y="125"/>
                      <a:pt x="1356" y="125"/>
                    </a:cubicBezTo>
                    <a:cubicBezTo>
                      <a:pt x="1356" y="125"/>
                      <a:pt x="1353" y="125"/>
                      <a:pt x="1352" y="125"/>
                    </a:cubicBezTo>
                    <a:cubicBezTo>
                      <a:pt x="1351" y="125"/>
                      <a:pt x="1342" y="125"/>
                      <a:pt x="1341" y="125"/>
                    </a:cubicBezTo>
                    <a:cubicBezTo>
                      <a:pt x="1339" y="125"/>
                      <a:pt x="1333" y="124"/>
                      <a:pt x="1332" y="124"/>
                    </a:cubicBezTo>
                    <a:cubicBezTo>
                      <a:pt x="1331" y="123"/>
                      <a:pt x="1325" y="123"/>
                      <a:pt x="1324" y="122"/>
                    </a:cubicBezTo>
                    <a:cubicBezTo>
                      <a:pt x="1323" y="122"/>
                      <a:pt x="1309" y="121"/>
                      <a:pt x="1307" y="121"/>
                    </a:cubicBezTo>
                    <a:cubicBezTo>
                      <a:pt x="1304" y="122"/>
                      <a:pt x="1301" y="123"/>
                      <a:pt x="1301" y="123"/>
                    </a:cubicBezTo>
                    <a:cubicBezTo>
                      <a:pt x="1300" y="124"/>
                      <a:pt x="1300" y="124"/>
                      <a:pt x="1299" y="124"/>
                    </a:cubicBezTo>
                    <a:cubicBezTo>
                      <a:pt x="1298" y="124"/>
                      <a:pt x="1289" y="125"/>
                      <a:pt x="1289" y="125"/>
                    </a:cubicBezTo>
                    <a:cubicBezTo>
                      <a:pt x="1289" y="125"/>
                      <a:pt x="1287" y="125"/>
                      <a:pt x="1286" y="125"/>
                    </a:cubicBezTo>
                    <a:cubicBezTo>
                      <a:pt x="1285" y="126"/>
                      <a:pt x="1284" y="126"/>
                      <a:pt x="1283" y="126"/>
                    </a:cubicBezTo>
                    <a:cubicBezTo>
                      <a:pt x="1282" y="126"/>
                      <a:pt x="1278" y="126"/>
                      <a:pt x="1279" y="128"/>
                    </a:cubicBezTo>
                    <a:cubicBezTo>
                      <a:pt x="1279" y="129"/>
                      <a:pt x="1281" y="130"/>
                      <a:pt x="1281" y="130"/>
                    </a:cubicBezTo>
                    <a:cubicBezTo>
                      <a:pt x="1282" y="130"/>
                      <a:pt x="1283" y="131"/>
                      <a:pt x="1282" y="132"/>
                    </a:cubicBezTo>
                    <a:cubicBezTo>
                      <a:pt x="1282" y="133"/>
                      <a:pt x="1280" y="134"/>
                      <a:pt x="1279" y="134"/>
                    </a:cubicBezTo>
                    <a:cubicBezTo>
                      <a:pt x="1279" y="134"/>
                      <a:pt x="1278" y="133"/>
                      <a:pt x="1278" y="133"/>
                    </a:cubicBezTo>
                    <a:cubicBezTo>
                      <a:pt x="1278" y="132"/>
                      <a:pt x="1275" y="129"/>
                      <a:pt x="1275" y="127"/>
                    </a:cubicBezTo>
                    <a:cubicBezTo>
                      <a:pt x="1275" y="126"/>
                      <a:pt x="1276" y="125"/>
                      <a:pt x="1277" y="125"/>
                    </a:cubicBezTo>
                    <a:cubicBezTo>
                      <a:pt x="1278" y="124"/>
                      <a:pt x="1279" y="123"/>
                      <a:pt x="1278" y="122"/>
                    </a:cubicBezTo>
                    <a:cubicBezTo>
                      <a:pt x="1277" y="120"/>
                      <a:pt x="1275" y="118"/>
                      <a:pt x="1275" y="118"/>
                    </a:cubicBezTo>
                    <a:cubicBezTo>
                      <a:pt x="1274" y="117"/>
                      <a:pt x="1273" y="115"/>
                      <a:pt x="1272" y="114"/>
                    </a:cubicBezTo>
                    <a:cubicBezTo>
                      <a:pt x="1271" y="114"/>
                      <a:pt x="1269" y="111"/>
                      <a:pt x="1269" y="113"/>
                    </a:cubicBezTo>
                    <a:cubicBezTo>
                      <a:pt x="1270" y="115"/>
                      <a:pt x="1270" y="117"/>
                      <a:pt x="1271" y="117"/>
                    </a:cubicBezTo>
                    <a:cubicBezTo>
                      <a:pt x="1271" y="118"/>
                      <a:pt x="1271" y="119"/>
                      <a:pt x="1271" y="120"/>
                    </a:cubicBezTo>
                    <a:cubicBezTo>
                      <a:pt x="1270" y="120"/>
                      <a:pt x="1269" y="121"/>
                      <a:pt x="1267" y="121"/>
                    </a:cubicBezTo>
                    <a:cubicBezTo>
                      <a:pt x="1266" y="121"/>
                      <a:pt x="1263" y="121"/>
                      <a:pt x="1262" y="122"/>
                    </a:cubicBezTo>
                    <a:cubicBezTo>
                      <a:pt x="1261" y="122"/>
                      <a:pt x="1260" y="121"/>
                      <a:pt x="1260" y="121"/>
                    </a:cubicBezTo>
                    <a:cubicBezTo>
                      <a:pt x="1259" y="121"/>
                      <a:pt x="1247" y="117"/>
                      <a:pt x="1247" y="117"/>
                    </a:cubicBezTo>
                    <a:cubicBezTo>
                      <a:pt x="1247" y="117"/>
                      <a:pt x="1246" y="117"/>
                      <a:pt x="1247" y="116"/>
                    </a:cubicBezTo>
                    <a:cubicBezTo>
                      <a:pt x="1248" y="115"/>
                      <a:pt x="1249" y="112"/>
                      <a:pt x="1249" y="112"/>
                    </a:cubicBezTo>
                    <a:cubicBezTo>
                      <a:pt x="1248" y="111"/>
                      <a:pt x="1248" y="111"/>
                      <a:pt x="1246" y="112"/>
                    </a:cubicBezTo>
                    <a:cubicBezTo>
                      <a:pt x="1244" y="112"/>
                      <a:pt x="1244" y="113"/>
                      <a:pt x="1243" y="113"/>
                    </a:cubicBezTo>
                    <a:cubicBezTo>
                      <a:pt x="1242" y="113"/>
                      <a:pt x="1229" y="113"/>
                      <a:pt x="1228" y="113"/>
                    </a:cubicBezTo>
                    <a:cubicBezTo>
                      <a:pt x="1228" y="113"/>
                      <a:pt x="1226" y="113"/>
                      <a:pt x="1225" y="114"/>
                    </a:cubicBezTo>
                    <a:cubicBezTo>
                      <a:pt x="1224" y="115"/>
                      <a:pt x="1219" y="118"/>
                      <a:pt x="1220" y="119"/>
                    </a:cubicBezTo>
                    <a:cubicBezTo>
                      <a:pt x="1221" y="120"/>
                      <a:pt x="1222" y="123"/>
                      <a:pt x="1223" y="122"/>
                    </a:cubicBezTo>
                    <a:cubicBezTo>
                      <a:pt x="1225" y="121"/>
                      <a:pt x="1226" y="121"/>
                      <a:pt x="1226" y="121"/>
                    </a:cubicBezTo>
                    <a:cubicBezTo>
                      <a:pt x="1227" y="121"/>
                      <a:pt x="1239" y="120"/>
                      <a:pt x="1239" y="120"/>
                    </a:cubicBezTo>
                    <a:cubicBezTo>
                      <a:pt x="1239" y="120"/>
                      <a:pt x="1240" y="120"/>
                      <a:pt x="1240" y="121"/>
                    </a:cubicBezTo>
                    <a:cubicBezTo>
                      <a:pt x="1240" y="121"/>
                      <a:pt x="1240" y="122"/>
                      <a:pt x="1239" y="122"/>
                    </a:cubicBezTo>
                    <a:cubicBezTo>
                      <a:pt x="1238" y="122"/>
                      <a:pt x="1228" y="127"/>
                      <a:pt x="1228" y="127"/>
                    </a:cubicBezTo>
                    <a:cubicBezTo>
                      <a:pt x="1228" y="127"/>
                      <a:pt x="1227" y="127"/>
                      <a:pt x="1226" y="127"/>
                    </a:cubicBezTo>
                    <a:cubicBezTo>
                      <a:pt x="1225" y="127"/>
                      <a:pt x="1216" y="126"/>
                      <a:pt x="1216" y="126"/>
                    </a:cubicBezTo>
                    <a:cubicBezTo>
                      <a:pt x="1216" y="126"/>
                      <a:pt x="1214" y="126"/>
                      <a:pt x="1215" y="127"/>
                    </a:cubicBezTo>
                    <a:cubicBezTo>
                      <a:pt x="1215" y="128"/>
                      <a:pt x="1216" y="130"/>
                      <a:pt x="1215" y="130"/>
                    </a:cubicBezTo>
                    <a:cubicBezTo>
                      <a:pt x="1214" y="131"/>
                      <a:pt x="1213" y="131"/>
                      <a:pt x="1213" y="131"/>
                    </a:cubicBezTo>
                    <a:cubicBezTo>
                      <a:pt x="1213" y="131"/>
                      <a:pt x="1197" y="135"/>
                      <a:pt x="1196" y="135"/>
                    </a:cubicBezTo>
                    <a:cubicBezTo>
                      <a:pt x="1195" y="136"/>
                      <a:pt x="1171" y="139"/>
                      <a:pt x="1170" y="139"/>
                    </a:cubicBezTo>
                    <a:cubicBezTo>
                      <a:pt x="1170" y="139"/>
                      <a:pt x="1169" y="139"/>
                      <a:pt x="1169" y="140"/>
                    </a:cubicBezTo>
                    <a:cubicBezTo>
                      <a:pt x="1170" y="141"/>
                      <a:pt x="1171" y="142"/>
                      <a:pt x="1170" y="143"/>
                    </a:cubicBezTo>
                    <a:cubicBezTo>
                      <a:pt x="1169" y="143"/>
                      <a:pt x="1154" y="148"/>
                      <a:pt x="1154" y="148"/>
                    </a:cubicBezTo>
                    <a:cubicBezTo>
                      <a:pt x="1154" y="148"/>
                      <a:pt x="1150" y="149"/>
                      <a:pt x="1154" y="147"/>
                    </a:cubicBezTo>
                    <a:cubicBezTo>
                      <a:pt x="1159" y="145"/>
                      <a:pt x="1163" y="142"/>
                      <a:pt x="1164" y="141"/>
                    </a:cubicBezTo>
                    <a:cubicBezTo>
                      <a:pt x="1165" y="139"/>
                      <a:pt x="1167" y="133"/>
                      <a:pt x="1169" y="133"/>
                    </a:cubicBezTo>
                    <a:cubicBezTo>
                      <a:pt x="1172" y="132"/>
                      <a:pt x="1178" y="132"/>
                      <a:pt x="1179" y="131"/>
                    </a:cubicBezTo>
                    <a:cubicBezTo>
                      <a:pt x="1180" y="129"/>
                      <a:pt x="1184" y="124"/>
                      <a:pt x="1184" y="124"/>
                    </a:cubicBezTo>
                    <a:cubicBezTo>
                      <a:pt x="1185" y="124"/>
                      <a:pt x="1186" y="124"/>
                      <a:pt x="1187" y="124"/>
                    </a:cubicBezTo>
                    <a:cubicBezTo>
                      <a:pt x="1187" y="123"/>
                      <a:pt x="1188" y="124"/>
                      <a:pt x="1188" y="124"/>
                    </a:cubicBezTo>
                    <a:cubicBezTo>
                      <a:pt x="1189" y="124"/>
                      <a:pt x="1191" y="123"/>
                      <a:pt x="1192" y="123"/>
                    </a:cubicBezTo>
                    <a:cubicBezTo>
                      <a:pt x="1193" y="122"/>
                      <a:pt x="1224" y="108"/>
                      <a:pt x="1224" y="108"/>
                    </a:cubicBezTo>
                    <a:cubicBezTo>
                      <a:pt x="1224" y="108"/>
                      <a:pt x="1226" y="107"/>
                      <a:pt x="1226" y="105"/>
                    </a:cubicBezTo>
                    <a:cubicBezTo>
                      <a:pt x="1227" y="104"/>
                      <a:pt x="1226" y="104"/>
                      <a:pt x="1225" y="104"/>
                    </a:cubicBezTo>
                    <a:cubicBezTo>
                      <a:pt x="1224" y="104"/>
                      <a:pt x="1220" y="104"/>
                      <a:pt x="1222" y="103"/>
                    </a:cubicBezTo>
                    <a:cubicBezTo>
                      <a:pt x="1224" y="103"/>
                      <a:pt x="1230" y="100"/>
                      <a:pt x="1231" y="99"/>
                    </a:cubicBezTo>
                    <a:cubicBezTo>
                      <a:pt x="1232" y="98"/>
                      <a:pt x="1232" y="98"/>
                      <a:pt x="1233" y="99"/>
                    </a:cubicBezTo>
                    <a:cubicBezTo>
                      <a:pt x="1234" y="99"/>
                      <a:pt x="1235" y="99"/>
                      <a:pt x="1236" y="98"/>
                    </a:cubicBezTo>
                    <a:cubicBezTo>
                      <a:pt x="1237" y="97"/>
                      <a:pt x="1276" y="78"/>
                      <a:pt x="1276" y="78"/>
                    </a:cubicBezTo>
                    <a:cubicBezTo>
                      <a:pt x="1276" y="78"/>
                      <a:pt x="1280" y="76"/>
                      <a:pt x="1281" y="74"/>
                    </a:cubicBezTo>
                    <a:cubicBezTo>
                      <a:pt x="1282" y="72"/>
                      <a:pt x="1282" y="72"/>
                      <a:pt x="1282" y="71"/>
                    </a:cubicBezTo>
                    <a:cubicBezTo>
                      <a:pt x="1282" y="71"/>
                      <a:pt x="1282" y="70"/>
                      <a:pt x="1282" y="69"/>
                    </a:cubicBezTo>
                    <a:cubicBezTo>
                      <a:pt x="1282" y="68"/>
                      <a:pt x="1281" y="68"/>
                      <a:pt x="1281" y="68"/>
                    </a:cubicBezTo>
                    <a:cubicBezTo>
                      <a:pt x="1280" y="68"/>
                      <a:pt x="1275" y="68"/>
                      <a:pt x="1276" y="66"/>
                    </a:cubicBezTo>
                    <a:cubicBezTo>
                      <a:pt x="1276" y="65"/>
                      <a:pt x="1276" y="64"/>
                      <a:pt x="1276" y="64"/>
                    </a:cubicBezTo>
                    <a:cubicBezTo>
                      <a:pt x="1275" y="65"/>
                      <a:pt x="1272" y="68"/>
                      <a:pt x="1270" y="67"/>
                    </a:cubicBezTo>
                    <a:cubicBezTo>
                      <a:pt x="1269" y="67"/>
                      <a:pt x="1268" y="67"/>
                      <a:pt x="1269" y="65"/>
                    </a:cubicBezTo>
                    <a:cubicBezTo>
                      <a:pt x="1270" y="64"/>
                      <a:pt x="1270" y="64"/>
                      <a:pt x="1269" y="64"/>
                    </a:cubicBezTo>
                    <a:cubicBezTo>
                      <a:pt x="1269" y="63"/>
                      <a:pt x="1269" y="63"/>
                      <a:pt x="1269" y="63"/>
                    </a:cubicBezTo>
                    <a:cubicBezTo>
                      <a:pt x="1270" y="63"/>
                      <a:pt x="1270" y="62"/>
                      <a:pt x="1269" y="61"/>
                    </a:cubicBezTo>
                    <a:cubicBezTo>
                      <a:pt x="1268" y="61"/>
                      <a:pt x="1268" y="61"/>
                      <a:pt x="1267" y="61"/>
                    </a:cubicBezTo>
                    <a:cubicBezTo>
                      <a:pt x="1267" y="60"/>
                      <a:pt x="1266" y="60"/>
                      <a:pt x="1266" y="60"/>
                    </a:cubicBezTo>
                    <a:cubicBezTo>
                      <a:pt x="1265" y="60"/>
                      <a:pt x="1264" y="60"/>
                      <a:pt x="1264" y="60"/>
                    </a:cubicBezTo>
                    <a:cubicBezTo>
                      <a:pt x="1263" y="59"/>
                      <a:pt x="1261" y="58"/>
                      <a:pt x="1263" y="58"/>
                    </a:cubicBezTo>
                    <a:cubicBezTo>
                      <a:pt x="1266" y="58"/>
                      <a:pt x="1268" y="59"/>
                      <a:pt x="1270" y="60"/>
                    </a:cubicBezTo>
                    <a:cubicBezTo>
                      <a:pt x="1273" y="62"/>
                      <a:pt x="1274" y="62"/>
                      <a:pt x="1273" y="63"/>
                    </a:cubicBezTo>
                    <a:cubicBezTo>
                      <a:pt x="1273" y="63"/>
                      <a:pt x="1273" y="63"/>
                      <a:pt x="1274" y="63"/>
                    </a:cubicBezTo>
                    <a:cubicBezTo>
                      <a:pt x="1275" y="63"/>
                      <a:pt x="1279" y="63"/>
                      <a:pt x="1280" y="64"/>
                    </a:cubicBezTo>
                    <a:cubicBezTo>
                      <a:pt x="1281" y="65"/>
                      <a:pt x="1280" y="66"/>
                      <a:pt x="1281" y="66"/>
                    </a:cubicBezTo>
                    <a:cubicBezTo>
                      <a:pt x="1282" y="65"/>
                      <a:pt x="1282" y="65"/>
                      <a:pt x="1282" y="64"/>
                    </a:cubicBezTo>
                    <a:cubicBezTo>
                      <a:pt x="1283" y="63"/>
                      <a:pt x="1283" y="61"/>
                      <a:pt x="1284" y="60"/>
                    </a:cubicBezTo>
                    <a:cubicBezTo>
                      <a:pt x="1284" y="59"/>
                      <a:pt x="1285" y="57"/>
                      <a:pt x="1284" y="57"/>
                    </a:cubicBezTo>
                    <a:cubicBezTo>
                      <a:pt x="1284" y="56"/>
                      <a:pt x="1284" y="55"/>
                      <a:pt x="1283" y="56"/>
                    </a:cubicBezTo>
                    <a:cubicBezTo>
                      <a:pt x="1282" y="56"/>
                      <a:pt x="1282" y="56"/>
                      <a:pt x="1281" y="56"/>
                    </a:cubicBezTo>
                    <a:cubicBezTo>
                      <a:pt x="1281" y="57"/>
                      <a:pt x="1280" y="58"/>
                      <a:pt x="1280" y="57"/>
                    </a:cubicBezTo>
                    <a:cubicBezTo>
                      <a:pt x="1280" y="57"/>
                      <a:pt x="1280" y="55"/>
                      <a:pt x="1280" y="54"/>
                    </a:cubicBezTo>
                    <a:cubicBezTo>
                      <a:pt x="1280" y="53"/>
                      <a:pt x="1280" y="53"/>
                      <a:pt x="1279" y="53"/>
                    </a:cubicBezTo>
                    <a:cubicBezTo>
                      <a:pt x="1279" y="52"/>
                      <a:pt x="1279" y="52"/>
                      <a:pt x="1279" y="51"/>
                    </a:cubicBezTo>
                    <a:cubicBezTo>
                      <a:pt x="1279" y="49"/>
                      <a:pt x="1278" y="48"/>
                      <a:pt x="1278" y="48"/>
                    </a:cubicBezTo>
                    <a:cubicBezTo>
                      <a:pt x="1277" y="47"/>
                      <a:pt x="1276" y="47"/>
                      <a:pt x="1276" y="47"/>
                    </a:cubicBezTo>
                    <a:cubicBezTo>
                      <a:pt x="1275" y="47"/>
                      <a:pt x="1275" y="47"/>
                      <a:pt x="1275" y="46"/>
                    </a:cubicBezTo>
                    <a:cubicBezTo>
                      <a:pt x="1276" y="46"/>
                      <a:pt x="1276" y="45"/>
                      <a:pt x="1275" y="45"/>
                    </a:cubicBezTo>
                    <a:cubicBezTo>
                      <a:pt x="1273" y="45"/>
                      <a:pt x="1271" y="45"/>
                      <a:pt x="1271" y="46"/>
                    </a:cubicBezTo>
                    <a:cubicBezTo>
                      <a:pt x="1272" y="47"/>
                      <a:pt x="1272" y="47"/>
                      <a:pt x="1273" y="47"/>
                    </a:cubicBezTo>
                    <a:cubicBezTo>
                      <a:pt x="1275" y="48"/>
                      <a:pt x="1276" y="49"/>
                      <a:pt x="1275" y="49"/>
                    </a:cubicBezTo>
                    <a:cubicBezTo>
                      <a:pt x="1274" y="49"/>
                      <a:pt x="1273" y="48"/>
                      <a:pt x="1273" y="49"/>
                    </a:cubicBezTo>
                    <a:cubicBezTo>
                      <a:pt x="1272" y="50"/>
                      <a:pt x="1272" y="51"/>
                      <a:pt x="1271" y="51"/>
                    </a:cubicBezTo>
                    <a:cubicBezTo>
                      <a:pt x="1270" y="52"/>
                      <a:pt x="1269" y="52"/>
                      <a:pt x="1269" y="50"/>
                    </a:cubicBezTo>
                    <a:cubicBezTo>
                      <a:pt x="1269" y="48"/>
                      <a:pt x="1269" y="48"/>
                      <a:pt x="1269" y="48"/>
                    </a:cubicBezTo>
                    <a:cubicBezTo>
                      <a:pt x="1268" y="48"/>
                      <a:pt x="1268" y="47"/>
                      <a:pt x="1268" y="46"/>
                    </a:cubicBezTo>
                    <a:cubicBezTo>
                      <a:pt x="1268" y="44"/>
                      <a:pt x="1268" y="43"/>
                      <a:pt x="1266" y="42"/>
                    </a:cubicBezTo>
                    <a:cubicBezTo>
                      <a:pt x="1265" y="42"/>
                      <a:pt x="1261" y="40"/>
                      <a:pt x="1261" y="40"/>
                    </a:cubicBezTo>
                    <a:cubicBezTo>
                      <a:pt x="1261" y="40"/>
                      <a:pt x="1260" y="40"/>
                      <a:pt x="1260" y="40"/>
                    </a:cubicBezTo>
                    <a:cubicBezTo>
                      <a:pt x="1260" y="40"/>
                      <a:pt x="1260" y="40"/>
                      <a:pt x="1259" y="39"/>
                    </a:cubicBezTo>
                    <a:cubicBezTo>
                      <a:pt x="1259" y="39"/>
                      <a:pt x="1258" y="38"/>
                      <a:pt x="1258" y="37"/>
                    </a:cubicBezTo>
                    <a:cubicBezTo>
                      <a:pt x="1257" y="37"/>
                      <a:pt x="1256" y="37"/>
                      <a:pt x="1255" y="36"/>
                    </a:cubicBezTo>
                    <a:cubicBezTo>
                      <a:pt x="1255" y="36"/>
                      <a:pt x="1253" y="34"/>
                      <a:pt x="1252" y="35"/>
                    </a:cubicBezTo>
                    <a:cubicBezTo>
                      <a:pt x="1251" y="35"/>
                      <a:pt x="1250" y="34"/>
                      <a:pt x="1250" y="33"/>
                    </a:cubicBezTo>
                    <a:cubicBezTo>
                      <a:pt x="1250" y="33"/>
                      <a:pt x="1249" y="32"/>
                      <a:pt x="1248" y="32"/>
                    </a:cubicBezTo>
                    <a:cubicBezTo>
                      <a:pt x="1247" y="32"/>
                      <a:pt x="1245" y="32"/>
                      <a:pt x="1245" y="32"/>
                    </a:cubicBezTo>
                    <a:cubicBezTo>
                      <a:pt x="1245" y="32"/>
                      <a:pt x="1244" y="32"/>
                      <a:pt x="1244" y="32"/>
                    </a:cubicBezTo>
                    <a:cubicBezTo>
                      <a:pt x="1244" y="32"/>
                      <a:pt x="1244" y="32"/>
                      <a:pt x="1244" y="31"/>
                    </a:cubicBezTo>
                    <a:cubicBezTo>
                      <a:pt x="1244" y="30"/>
                      <a:pt x="1243" y="30"/>
                      <a:pt x="1243" y="30"/>
                    </a:cubicBezTo>
                    <a:cubicBezTo>
                      <a:pt x="1242" y="30"/>
                      <a:pt x="1241" y="30"/>
                      <a:pt x="1241" y="31"/>
                    </a:cubicBezTo>
                    <a:cubicBezTo>
                      <a:pt x="1240" y="31"/>
                      <a:pt x="1240" y="31"/>
                      <a:pt x="1239" y="31"/>
                    </a:cubicBezTo>
                    <a:cubicBezTo>
                      <a:pt x="1239" y="31"/>
                      <a:pt x="1237" y="31"/>
                      <a:pt x="1237" y="31"/>
                    </a:cubicBezTo>
                    <a:cubicBezTo>
                      <a:pt x="1236" y="30"/>
                      <a:pt x="1236" y="30"/>
                      <a:pt x="1235" y="30"/>
                    </a:cubicBezTo>
                    <a:cubicBezTo>
                      <a:pt x="1234" y="30"/>
                      <a:pt x="1231" y="31"/>
                      <a:pt x="1230" y="31"/>
                    </a:cubicBezTo>
                    <a:cubicBezTo>
                      <a:pt x="1229" y="32"/>
                      <a:pt x="1228" y="32"/>
                      <a:pt x="1227" y="32"/>
                    </a:cubicBezTo>
                    <a:cubicBezTo>
                      <a:pt x="1227" y="32"/>
                      <a:pt x="1226" y="32"/>
                      <a:pt x="1226" y="32"/>
                    </a:cubicBezTo>
                    <a:cubicBezTo>
                      <a:pt x="1225" y="32"/>
                      <a:pt x="1224" y="31"/>
                      <a:pt x="1224" y="31"/>
                    </a:cubicBezTo>
                    <a:cubicBezTo>
                      <a:pt x="1223" y="32"/>
                      <a:pt x="1222" y="31"/>
                      <a:pt x="1221" y="31"/>
                    </a:cubicBezTo>
                    <a:cubicBezTo>
                      <a:pt x="1221" y="31"/>
                      <a:pt x="1220" y="31"/>
                      <a:pt x="1219" y="31"/>
                    </a:cubicBezTo>
                    <a:cubicBezTo>
                      <a:pt x="1219" y="31"/>
                      <a:pt x="1218" y="30"/>
                      <a:pt x="1217" y="30"/>
                    </a:cubicBezTo>
                    <a:cubicBezTo>
                      <a:pt x="1216" y="31"/>
                      <a:pt x="1214" y="31"/>
                      <a:pt x="1213" y="31"/>
                    </a:cubicBezTo>
                    <a:cubicBezTo>
                      <a:pt x="1213" y="31"/>
                      <a:pt x="1212" y="31"/>
                      <a:pt x="1212" y="31"/>
                    </a:cubicBezTo>
                    <a:cubicBezTo>
                      <a:pt x="1211" y="31"/>
                      <a:pt x="1205" y="31"/>
                      <a:pt x="1204" y="31"/>
                    </a:cubicBezTo>
                    <a:cubicBezTo>
                      <a:pt x="1203" y="31"/>
                      <a:pt x="1203" y="31"/>
                      <a:pt x="1203" y="31"/>
                    </a:cubicBezTo>
                    <a:cubicBezTo>
                      <a:pt x="1202" y="32"/>
                      <a:pt x="1202" y="32"/>
                      <a:pt x="1202" y="31"/>
                    </a:cubicBezTo>
                    <a:cubicBezTo>
                      <a:pt x="1201" y="31"/>
                      <a:pt x="1201" y="31"/>
                      <a:pt x="1200" y="31"/>
                    </a:cubicBezTo>
                    <a:cubicBezTo>
                      <a:pt x="1199" y="31"/>
                      <a:pt x="1198" y="31"/>
                      <a:pt x="1197" y="31"/>
                    </a:cubicBezTo>
                    <a:cubicBezTo>
                      <a:pt x="1197" y="31"/>
                      <a:pt x="1195" y="31"/>
                      <a:pt x="1196" y="32"/>
                    </a:cubicBezTo>
                    <a:cubicBezTo>
                      <a:pt x="1196" y="33"/>
                      <a:pt x="1196" y="34"/>
                      <a:pt x="1196" y="35"/>
                    </a:cubicBezTo>
                    <a:cubicBezTo>
                      <a:pt x="1196" y="35"/>
                      <a:pt x="1194" y="38"/>
                      <a:pt x="1190" y="38"/>
                    </a:cubicBezTo>
                    <a:cubicBezTo>
                      <a:pt x="1187" y="38"/>
                      <a:pt x="1189" y="37"/>
                      <a:pt x="1185" y="37"/>
                    </a:cubicBezTo>
                    <a:cubicBezTo>
                      <a:pt x="1181" y="38"/>
                      <a:pt x="1181" y="38"/>
                      <a:pt x="1181" y="38"/>
                    </a:cubicBezTo>
                    <a:cubicBezTo>
                      <a:pt x="1181" y="38"/>
                      <a:pt x="1180" y="38"/>
                      <a:pt x="1180" y="38"/>
                    </a:cubicBezTo>
                    <a:cubicBezTo>
                      <a:pt x="1179" y="39"/>
                      <a:pt x="1179" y="39"/>
                      <a:pt x="1178" y="39"/>
                    </a:cubicBezTo>
                    <a:cubicBezTo>
                      <a:pt x="1178" y="38"/>
                      <a:pt x="1177" y="38"/>
                      <a:pt x="1176" y="38"/>
                    </a:cubicBezTo>
                    <a:cubicBezTo>
                      <a:pt x="1175" y="38"/>
                      <a:pt x="1174" y="38"/>
                      <a:pt x="1173" y="38"/>
                    </a:cubicBezTo>
                    <a:cubicBezTo>
                      <a:pt x="1173" y="38"/>
                      <a:pt x="1172" y="37"/>
                      <a:pt x="1173" y="36"/>
                    </a:cubicBezTo>
                    <a:cubicBezTo>
                      <a:pt x="1175" y="35"/>
                      <a:pt x="1188" y="26"/>
                      <a:pt x="1188" y="26"/>
                    </a:cubicBezTo>
                    <a:cubicBezTo>
                      <a:pt x="1188" y="26"/>
                      <a:pt x="1190" y="25"/>
                      <a:pt x="1188" y="25"/>
                    </a:cubicBezTo>
                    <a:cubicBezTo>
                      <a:pt x="1186" y="24"/>
                      <a:pt x="1186" y="24"/>
                      <a:pt x="1186" y="23"/>
                    </a:cubicBezTo>
                    <a:cubicBezTo>
                      <a:pt x="1186" y="23"/>
                      <a:pt x="1185" y="22"/>
                      <a:pt x="1184" y="22"/>
                    </a:cubicBezTo>
                    <a:cubicBezTo>
                      <a:pt x="1183" y="22"/>
                      <a:pt x="1182" y="22"/>
                      <a:pt x="1181" y="21"/>
                    </a:cubicBezTo>
                    <a:cubicBezTo>
                      <a:pt x="1180" y="21"/>
                      <a:pt x="1178" y="21"/>
                      <a:pt x="1178" y="21"/>
                    </a:cubicBezTo>
                    <a:cubicBezTo>
                      <a:pt x="1178" y="22"/>
                      <a:pt x="1176" y="22"/>
                      <a:pt x="1177" y="22"/>
                    </a:cubicBezTo>
                    <a:cubicBezTo>
                      <a:pt x="1178" y="22"/>
                      <a:pt x="1178" y="23"/>
                      <a:pt x="1177" y="23"/>
                    </a:cubicBezTo>
                    <a:cubicBezTo>
                      <a:pt x="1176" y="22"/>
                      <a:pt x="1171" y="21"/>
                      <a:pt x="1170" y="21"/>
                    </a:cubicBezTo>
                    <a:cubicBezTo>
                      <a:pt x="1170" y="21"/>
                      <a:pt x="1169" y="20"/>
                      <a:pt x="1168" y="21"/>
                    </a:cubicBezTo>
                    <a:cubicBezTo>
                      <a:pt x="1167" y="22"/>
                      <a:pt x="1166" y="23"/>
                      <a:pt x="1165" y="23"/>
                    </a:cubicBezTo>
                    <a:cubicBezTo>
                      <a:pt x="1164" y="23"/>
                      <a:pt x="1163" y="23"/>
                      <a:pt x="1162" y="23"/>
                    </a:cubicBezTo>
                    <a:cubicBezTo>
                      <a:pt x="1161" y="23"/>
                      <a:pt x="1156" y="23"/>
                      <a:pt x="1158" y="22"/>
                    </a:cubicBezTo>
                    <a:cubicBezTo>
                      <a:pt x="1159" y="22"/>
                      <a:pt x="1160" y="22"/>
                      <a:pt x="1161" y="22"/>
                    </a:cubicBezTo>
                    <a:cubicBezTo>
                      <a:pt x="1162" y="22"/>
                      <a:pt x="1162" y="22"/>
                      <a:pt x="1162" y="21"/>
                    </a:cubicBezTo>
                    <a:cubicBezTo>
                      <a:pt x="1163" y="20"/>
                      <a:pt x="1163" y="21"/>
                      <a:pt x="1163" y="20"/>
                    </a:cubicBezTo>
                    <a:cubicBezTo>
                      <a:pt x="1164" y="20"/>
                      <a:pt x="1164" y="20"/>
                      <a:pt x="1165" y="19"/>
                    </a:cubicBezTo>
                    <a:cubicBezTo>
                      <a:pt x="1165" y="19"/>
                      <a:pt x="1165" y="18"/>
                      <a:pt x="1164" y="19"/>
                    </a:cubicBezTo>
                    <a:cubicBezTo>
                      <a:pt x="1162" y="20"/>
                      <a:pt x="1163" y="19"/>
                      <a:pt x="1162" y="19"/>
                    </a:cubicBezTo>
                    <a:cubicBezTo>
                      <a:pt x="1161" y="19"/>
                      <a:pt x="1160" y="19"/>
                      <a:pt x="1159" y="19"/>
                    </a:cubicBezTo>
                    <a:cubicBezTo>
                      <a:pt x="1158" y="20"/>
                      <a:pt x="1157" y="20"/>
                      <a:pt x="1155" y="20"/>
                    </a:cubicBezTo>
                    <a:cubicBezTo>
                      <a:pt x="1154" y="19"/>
                      <a:pt x="1153" y="19"/>
                      <a:pt x="1153" y="19"/>
                    </a:cubicBezTo>
                    <a:cubicBezTo>
                      <a:pt x="1153" y="20"/>
                      <a:pt x="1151" y="20"/>
                      <a:pt x="1149" y="20"/>
                    </a:cubicBezTo>
                    <a:cubicBezTo>
                      <a:pt x="1147" y="19"/>
                      <a:pt x="1147" y="19"/>
                      <a:pt x="1146" y="19"/>
                    </a:cubicBezTo>
                    <a:cubicBezTo>
                      <a:pt x="1146" y="19"/>
                      <a:pt x="1141" y="20"/>
                      <a:pt x="1141" y="20"/>
                    </a:cubicBezTo>
                    <a:cubicBezTo>
                      <a:pt x="1140" y="20"/>
                      <a:pt x="1136" y="19"/>
                      <a:pt x="1140" y="19"/>
                    </a:cubicBezTo>
                    <a:cubicBezTo>
                      <a:pt x="1140" y="19"/>
                      <a:pt x="1143" y="19"/>
                      <a:pt x="1144" y="18"/>
                    </a:cubicBezTo>
                    <a:cubicBezTo>
                      <a:pt x="1145" y="18"/>
                      <a:pt x="1146" y="17"/>
                      <a:pt x="1147" y="17"/>
                    </a:cubicBezTo>
                    <a:cubicBezTo>
                      <a:pt x="1148" y="18"/>
                      <a:pt x="1150" y="17"/>
                      <a:pt x="1150" y="17"/>
                    </a:cubicBezTo>
                    <a:cubicBezTo>
                      <a:pt x="1151" y="17"/>
                      <a:pt x="1152" y="17"/>
                      <a:pt x="1153" y="17"/>
                    </a:cubicBezTo>
                    <a:cubicBezTo>
                      <a:pt x="1154" y="16"/>
                      <a:pt x="1155" y="16"/>
                      <a:pt x="1156" y="16"/>
                    </a:cubicBezTo>
                    <a:cubicBezTo>
                      <a:pt x="1156" y="16"/>
                      <a:pt x="1156" y="16"/>
                      <a:pt x="1157" y="15"/>
                    </a:cubicBezTo>
                    <a:cubicBezTo>
                      <a:pt x="1157" y="15"/>
                      <a:pt x="1158" y="15"/>
                      <a:pt x="1158" y="14"/>
                    </a:cubicBezTo>
                    <a:cubicBezTo>
                      <a:pt x="1158" y="14"/>
                      <a:pt x="1158" y="14"/>
                      <a:pt x="1159" y="13"/>
                    </a:cubicBezTo>
                    <a:cubicBezTo>
                      <a:pt x="1160" y="13"/>
                      <a:pt x="1161" y="12"/>
                      <a:pt x="1162" y="12"/>
                    </a:cubicBezTo>
                    <a:cubicBezTo>
                      <a:pt x="1163" y="11"/>
                      <a:pt x="1163" y="11"/>
                      <a:pt x="1164" y="11"/>
                    </a:cubicBezTo>
                    <a:cubicBezTo>
                      <a:pt x="1164" y="11"/>
                      <a:pt x="1166" y="11"/>
                      <a:pt x="1166" y="11"/>
                    </a:cubicBezTo>
                    <a:cubicBezTo>
                      <a:pt x="1167" y="11"/>
                      <a:pt x="1167" y="11"/>
                      <a:pt x="1168" y="11"/>
                    </a:cubicBezTo>
                    <a:cubicBezTo>
                      <a:pt x="1168" y="12"/>
                      <a:pt x="1169" y="12"/>
                      <a:pt x="1170" y="11"/>
                    </a:cubicBezTo>
                    <a:cubicBezTo>
                      <a:pt x="1170" y="11"/>
                      <a:pt x="1170" y="11"/>
                      <a:pt x="1170" y="10"/>
                    </a:cubicBezTo>
                    <a:cubicBezTo>
                      <a:pt x="1169" y="10"/>
                      <a:pt x="1165" y="5"/>
                      <a:pt x="1165" y="5"/>
                    </a:cubicBezTo>
                    <a:cubicBezTo>
                      <a:pt x="1165" y="5"/>
                      <a:pt x="1164" y="5"/>
                      <a:pt x="1163" y="4"/>
                    </a:cubicBezTo>
                    <a:cubicBezTo>
                      <a:pt x="1162" y="4"/>
                      <a:pt x="1152" y="2"/>
                      <a:pt x="1151" y="2"/>
                    </a:cubicBezTo>
                    <a:cubicBezTo>
                      <a:pt x="1150" y="1"/>
                      <a:pt x="1141" y="0"/>
                      <a:pt x="1139" y="0"/>
                    </a:cubicBezTo>
                    <a:cubicBezTo>
                      <a:pt x="1136" y="0"/>
                      <a:pt x="1135" y="0"/>
                      <a:pt x="1135" y="0"/>
                    </a:cubicBezTo>
                    <a:cubicBezTo>
                      <a:pt x="1134" y="0"/>
                      <a:pt x="1134" y="1"/>
                      <a:pt x="1133" y="1"/>
                    </a:cubicBezTo>
                    <a:cubicBezTo>
                      <a:pt x="1132" y="1"/>
                      <a:pt x="1127" y="2"/>
                      <a:pt x="1125" y="3"/>
                    </a:cubicBezTo>
                    <a:cubicBezTo>
                      <a:pt x="1123" y="3"/>
                      <a:pt x="1119" y="4"/>
                      <a:pt x="1118" y="5"/>
                    </a:cubicBezTo>
                    <a:cubicBezTo>
                      <a:pt x="1117" y="6"/>
                      <a:pt x="1110" y="9"/>
                      <a:pt x="1109" y="9"/>
                    </a:cubicBezTo>
                    <a:cubicBezTo>
                      <a:pt x="1108" y="10"/>
                      <a:pt x="1105" y="11"/>
                      <a:pt x="1105" y="11"/>
                    </a:cubicBezTo>
                    <a:cubicBezTo>
                      <a:pt x="1104" y="12"/>
                      <a:pt x="1104" y="12"/>
                      <a:pt x="1105" y="12"/>
                    </a:cubicBezTo>
                    <a:cubicBezTo>
                      <a:pt x="1106" y="12"/>
                      <a:pt x="1109" y="12"/>
                      <a:pt x="1107" y="13"/>
                    </a:cubicBezTo>
                    <a:cubicBezTo>
                      <a:pt x="1105" y="14"/>
                      <a:pt x="1102" y="16"/>
                      <a:pt x="1101" y="16"/>
                    </a:cubicBezTo>
                    <a:cubicBezTo>
                      <a:pt x="1101" y="17"/>
                      <a:pt x="1099" y="18"/>
                      <a:pt x="1098" y="19"/>
                    </a:cubicBezTo>
                    <a:cubicBezTo>
                      <a:pt x="1097" y="19"/>
                      <a:pt x="1096" y="20"/>
                      <a:pt x="1096" y="20"/>
                    </a:cubicBezTo>
                    <a:cubicBezTo>
                      <a:pt x="1097" y="21"/>
                      <a:pt x="1096" y="21"/>
                      <a:pt x="1096" y="22"/>
                    </a:cubicBezTo>
                    <a:cubicBezTo>
                      <a:pt x="1095" y="22"/>
                      <a:pt x="1092" y="23"/>
                      <a:pt x="1093" y="24"/>
                    </a:cubicBezTo>
                    <a:cubicBezTo>
                      <a:pt x="1093" y="24"/>
                      <a:pt x="1092" y="25"/>
                      <a:pt x="1092" y="25"/>
                    </a:cubicBezTo>
                    <a:cubicBezTo>
                      <a:pt x="1092" y="26"/>
                      <a:pt x="1092" y="26"/>
                      <a:pt x="1092" y="26"/>
                    </a:cubicBezTo>
                    <a:cubicBezTo>
                      <a:pt x="1092" y="27"/>
                      <a:pt x="1092" y="27"/>
                      <a:pt x="1092" y="27"/>
                    </a:cubicBezTo>
                    <a:cubicBezTo>
                      <a:pt x="1092" y="28"/>
                      <a:pt x="1092" y="28"/>
                      <a:pt x="1092" y="28"/>
                    </a:cubicBezTo>
                    <a:cubicBezTo>
                      <a:pt x="1093" y="29"/>
                      <a:pt x="1094" y="30"/>
                      <a:pt x="1095" y="29"/>
                    </a:cubicBezTo>
                    <a:cubicBezTo>
                      <a:pt x="1095" y="29"/>
                      <a:pt x="1097" y="29"/>
                      <a:pt x="1096" y="31"/>
                    </a:cubicBezTo>
                    <a:cubicBezTo>
                      <a:pt x="1095" y="32"/>
                      <a:pt x="1095" y="32"/>
                      <a:pt x="1095" y="33"/>
                    </a:cubicBezTo>
                    <a:cubicBezTo>
                      <a:pt x="1095" y="33"/>
                      <a:pt x="1095" y="34"/>
                      <a:pt x="1094" y="35"/>
                    </a:cubicBezTo>
                    <a:cubicBezTo>
                      <a:pt x="1094" y="35"/>
                      <a:pt x="1092" y="36"/>
                      <a:pt x="1093" y="37"/>
                    </a:cubicBezTo>
                    <a:cubicBezTo>
                      <a:pt x="1094" y="37"/>
                      <a:pt x="1095" y="38"/>
                      <a:pt x="1096" y="37"/>
                    </a:cubicBezTo>
                    <a:cubicBezTo>
                      <a:pt x="1097" y="37"/>
                      <a:pt x="1100" y="37"/>
                      <a:pt x="1101" y="38"/>
                    </a:cubicBezTo>
                    <a:cubicBezTo>
                      <a:pt x="1101" y="38"/>
                      <a:pt x="1103" y="39"/>
                      <a:pt x="1103" y="39"/>
                    </a:cubicBezTo>
                    <a:cubicBezTo>
                      <a:pt x="1104" y="39"/>
                      <a:pt x="1105" y="39"/>
                      <a:pt x="1106" y="39"/>
                    </a:cubicBezTo>
                    <a:cubicBezTo>
                      <a:pt x="1106" y="39"/>
                      <a:pt x="1107" y="39"/>
                      <a:pt x="1107" y="40"/>
                    </a:cubicBezTo>
                    <a:cubicBezTo>
                      <a:pt x="1108" y="40"/>
                      <a:pt x="1113" y="42"/>
                      <a:pt x="1110" y="41"/>
                    </a:cubicBezTo>
                    <a:cubicBezTo>
                      <a:pt x="1106" y="41"/>
                      <a:pt x="1106" y="41"/>
                      <a:pt x="1105" y="41"/>
                    </a:cubicBezTo>
                    <a:cubicBezTo>
                      <a:pt x="1105" y="40"/>
                      <a:pt x="1104" y="39"/>
                      <a:pt x="1103" y="40"/>
                    </a:cubicBezTo>
                    <a:cubicBezTo>
                      <a:pt x="1102" y="40"/>
                      <a:pt x="1100" y="39"/>
                      <a:pt x="1100" y="39"/>
                    </a:cubicBezTo>
                    <a:cubicBezTo>
                      <a:pt x="1099" y="39"/>
                      <a:pt x="1097" y="39"/>
                      <a:pt x="1096" y="39"/>
                    </a:cubicBezTo>
                    <a:cubicBezTo>
                      <a:pt x="1096" y="39"/>
                      <a:pt x="1094" y="40"/>
                      <a:pt x="1094" y="39"/>
                    </a:cubicBezTo>
                    <a:cubicBezTo>
                      <a:pt x="1094" y="38"/>
                      <a:pt x="1094" y="38"/>
                      <a:pt x="1093" y="38"/>
                    </a:cubicBezTo>
                    <a:cubicBezTo>
                      <a:pt x="1092" y="38"/>
                      <a:pt x="1091" y="37"/>
                      <a:pt x="1089" y="38"/>
                    </a:cubicBezTo>
                    <a:cubicBezTo>
                      <a:pt x="1088" y="39"/>
                      <a:pt x="1083" y="39"/>
                      <a:pt x="1083" y="39"/>
                    </a:cubicBezTo>
                    <a:cubicBezTo>
                      <a:pt x="1083" y="39"/>
                      <a:pt x="1082" y="39"/>
                      <a:pt x="1082" y="39"/>
                    </a:cubicBezTo>
                    <a:cubicBezTo>
                      <a:pt x="1081" y="38"/>
                      <a:pt x="1077" y="39"/>
                      <a:pt x="1075" y="39"/>
                    </a:cubicBezTo>
                    <a:cubicBezTo>
                      <a:pt x="1074" y="39"/>
                      <a:pt x="1070" y="39"/>
                      <a:pt x="1068" y="39"/>
                    </a:cubicBezTo>
                    <a:cubicBezTo>
                      <a:pt x="1067" y="39"/>
                      <a:pt x="1062" y="37"/>
                      <a:pt x="1061" y="38"/>
                    </a:cubicBezTo>
                    <a:cubicBezTo>
                      <a:pt x="1061" y="39"/>
                      <a:pt x="1062" y="39"/>
                      <a:pt x="1063" y="40"/>
                    </a:cubicBezTo>
                    <a:cubicBezTo>
                      <a:pt x="1064" y="40"/>
                      <a:pt x="1064" y="40"/>
                      <a:pt x="1064" y="41"/>
                    </a:cubicBezTo>
                    <a:cubicBezTo>
                      <a:pt x="1064" y="42"/>
                      <a:pt x="1064" y="43"/>
                      <a:pt x="1065" y="43"/>
                    </a:cubicBezTo>
                    <a:cubicBezTo>
                      <a:pt x="1066" y="43"/>
                      <a:pt x="1068" y="42"/>
                      <a:pt x="1069" y="43"/>
                    </a:cubicBezTo>
                    <a:cubicBezTo>
                      <a:pt x="1070" y="45"/>
                      <a:pt x="1070" y="45"/>
                      <a:pt x="1071" y="45"/>
                    </a:cubicBezTo>
                    <a:cubicBezTo>
                      <a:pt x="1072" y="45"/>
                      <a:pt x="1073" y="45"/>
                      <a:pt x="1073" y="46"/>
                    </a:cubicBezTo>
                    <a:cubicBezTo>
                      <a:pt x="1073" y="47"/>
                      <a:pt x="1073" y="48"/>
                      <a:pt x="1074" y="48"/>
                    </a:cubicBezTo>
                    <a:cubicBezTo>
                      <a:pt x="1075" y="48"/>
                      <a:pt x="1076" y="49"/>
                      <a:pt x="1076" y="50"/>
                    </a:cubicBezTo>
                    <a:cubicBezTo>
                      <a:pt x="1077" y="51"/>
                      <a:pt x="1077" y="52"/>
                      <a:pt x="1076" y="52"/>
                    </a:cubicBezTo>
                    <a:cubicBezTo>
                      <a:pt x="1075" y="52"/>
                      <a:pt x="1073" y="51"/>
                      <a:pt x="1072" y="51"/>
                    </a:cubicBezTo>
                    <a:cubicBezTo>
                      <a:pt x="1072" y="50"/>
                      <a:pt x="1062" y="46"/>
                      <a:pt x="1062" y="46"/>
                    </a:cubicBezTo>
                    <a:cubicBezTo>
                      <a:pt x="1062" y="46"/>
                      <a:pt x="1060" y="45"/>
                      <a:pt x="1059" y="46"/>
                    </a:cubicBezTo>
                    <a:cubicBezTo>
                      <a:pt x="1058" y="46"/>
                      <a:pt x="1058" y="46"/>
                      <a:pt x="1057" y="46"/>
                    </a:cubicBezTo>
                    <a:cubicBezTo>
                      <a:pt x="1057" y="47"/>
                      <a:pt x="1057" y="47"/>
                      <a:pt x="1057" y="47"/>
                    </a:cubicBezTo>
                    <a:cubicBezTo>
                      <a:pt x="1056" y="47"/>
                      <a:pt x="1055" y="48"/>
                      <a:pt x="1055" y="48"/>
                    </a:cubicBezTo>
                    <a:cubicBezTo>
                      <a:pt x="1055" y="48"/>
                      <a:pt x="1049" y="48"/>
                      <a:pt x="1048" y="49"/>
                    </a:cubicBezTo>
                    <a:cubicBezTo>
                      <a:pt x="1048" y="50"/>
                      <a:pt x="1048" y="50"/>
                      <a:pt x="1048" y="50"/>
                    </a:cubicBezTo>
                    <a:cubicBezTo>
                      <a:pt x="1047" y="50"/>
                      <a:pt x="1044" y="51"/>
                      <a:pt x="1044" y="51"/>
                    </a:cubicBezTo>
                    <a:cubicBezTo>
                      <a:pt x="1043" y="51"/>
                      <a:pt x="1040" y="54"/>
                      <a:pt x="1039" y="54"/>
                    </a:cubicBezTo>
                    <a:cubicBezTo>
                      <a:pt x="1039" y="54"/>
                      <a:pt x="1037" y="55"/>
                      <a:pt x="1038" y="54"/>
                    </a:cubicBezTo>
                    <a:cubicBezTo>
                      <a:pt x="1039" y="53"/>
                      <a:pt x="1040" y="52"/>
                      <a:pt x="1038" y="52"/>
                    </a:cubicBezTo>
                    <a:cubicBezTo>
                      <a:pt x="1037" y="53"/>
                      <a:pt x="1035" y="53"/>
                      <a:pt x="1035" y="54"/>
                    </a:cubicBezTo>
                    <a:cubicBezTo>
                      <a:pt x="1034" y="54"/>
                      <a:pt x="1028" y="56"/>
                      <a:pt x="1027" y="57"/>
                    </a:cubicBezTo>
                    <a:cubicBezTo>
                      <a:pt x="1027" y="57"/>
                      <a:pt x="1026" y="57"/>
                      <a:pt x="1027" y="56"/>
                    </a:cubicBezTo>
                    <a:cubicBezTo>
                      <a:pt x="1027" y="56"/>
                      <a:pt x="1028" y="54"/>
                      <a:pt x="1027" y="54"/>
                    </a:cubicBezTo>
                    <a:cubicBezTo>
                      <a:pt x="1026" y="53"/>
                      <a:pt x="1026" y="53"/>
                      <a:pt x="1025" y="53"/>
                    </a:cubicBezTo>
                    <a:cubicBezTo>
                      <a:pt x="1024" y="53"/>
                      <a:pt x="1023" y="54"/>
                      <a:pt x="1022" y="55"/>
                    </a:cubicBezTo>
                    <a:cubicBezTo>
                      <a:pt x="1020" y="55"/>
                      <a:pt x="1016" y="57"/>
                      <a:pt x="1016" y="58"/>
                    </a:cubicBezTo>
                    <a:cubicBezTo>
                      <a:pt x="1015" y="58"/>
                      <a:pt x="1012" y="57"/>
                      <a:pt x="1014" y="56"/>
                    </a:cubicBezTo>
                    <a:cubicBezTo>
                      <a:pt x="1016" y="56"/>
                      <a:pt x="1018" y="54"/>
                      <a:pt x="1017" y="54"/>
                    </a:cubicBezTo>
                    <a:cubicBezTo>
                      <a:pt x="1016" y="54"/>
                      <a:pt x="1014" y="54"/>
                      <a:pt x="1013" y="54"/>
                    </a:cubicBezTo>
                    <a:cubicBezTo>
                      <a:pt x="1012" y="54"/>
                      <a:pt x="979" y="50"/>
                      <a:pt x="979" y="50"/>
                    </a:cubicBezTo>
                    <a:cubicBezTo>
                      <a:pt x="979" y="50"/>
                      <a:pt x="977" y="50"/>
                      <a:pt x="977" y="50"/>
                    </a:cubicBezTo>
                    <a:cubicBezTo>
                      <a:pt x="976" y="51"/>
                      <a:pt x="976" y="51"/>
                      <a:pt x="975" y="51"/>
                    </a:cubicBezTo>
                    <a:cubicBezTo>
                      <a:pt x="975" y="51"/>
                      <a:pt x="974" y="51"/>
                      <a:pt x="974" y="52"/>
                    </a:cubicBezTo>
                    <a:cubicBezTo>
                      <a:pt x="974" y="53"/>
                      <a:pt x="974" y="53"/>
                      <a:pt x="974" y="54"/>
                    </a:cubicBezTo>
                    <a:cubicBezTo>
                      <a:pt x="973" y="54"/>
                      <a:pt x="972" y="54"/>
                      <a:pt x="973" y="54"/>
                    </a:cubicBezTo>
                    <a:cubicBezTo>
                      <a:pt x="974" y="54"/>
                      <a:pt x="980" y="54"/>
                      <a:pt x="979" y="55"/>
                    </a:cubicBezTo>
                    <a:cubicBezTo>
                      <a:pt x="978" y="55"/>
                      <a:pt x="980" y="55"/>
                      <a:pt x="982" y="55"/>
                    </a:cubicBezTo>
                    <a:cubicBezTo>
                      <a:pt x="983" y="55"/>
                      <a:pt x="984" y="56"/>
                      <a:pt x="985" y="55"/>
                    </a:cubicBezTo>
                    <a:cubicBezTo>
                      <a:pt x="986" y="55"/>
                      <a:pt x="994" y="54"/>
                      <a:pt x="991" y="56"/>
                    </a:cubicBezTo>
                    <a:cubicBezTo>
                      <a:pt x="989" y="57"/>
                      <a:pt x="969" y="59"/>
                      <a:pt x="969" y="59"/>
                    </a:cubicBezTo>
                    <a:cubicBezTo>
                      <a:pt x="969" y="59"/>
                      <a:pt x="938" y="64"/>
                      <a:pt x="937" y="65"/>
                    </a:cubicBezTo>
                    <a:cubicBezTo>
                      <a:pt x="935" y="65"/>
                      <a:pt x="931" y="66"/>
                      <a:pt x="930" y="66"/>
                    </a:cubicBezTo>
                    <a:cubicBezTo>
                      <a:pt x="929" y="67"/>
                      <a:pt x="922" y="68"/>
                      <a:pt x="921" y="68"/>
                    </a:cubicBezTo>
                    <a:cubicBezTo>
                      <a:pt x="920" y="68"/>
                      <a:pt x="919" y="69"/>
                      <a:pt x="918" y="69"/>
                    </a:cubicBezTo>
                    <a:cubicBezTo>
                      <a:pt x="918" y="70"/>
                      <a:pt x="917" y="70"/>
                      <a:pt x="917" y="70"/>
                    </a:cubicBezTo>
                    <a:cubicBezTo>
                      <a:pt x="916" y="70"/>
                      <a:pt x="915" y="70"/>
                      <a:pt x="915" y="70"/>
                    </a:cubicBezTo>
                    <a:cubicBezTo>
                      <a:pt x="916" y="71"/>
                      <a:pt x="915" y="71"/>
                      <a:pt x="915" y="71"/>
                    </a:cubicBezTo>
                    <a:cubicBezTo>
                      <a:pt x="915" y="71"/>
                      <a:pt x="912" y="72"/>
                      <a:pt x="912" y="72"/>
                    </a:cubicBezTo>
                    <a:cubicBezTo>
                      <a:pt x="912" y="73"/>
                      <a:pt x="912" y="73"/>
                      <a:pt x="912" y="73"/>
                    </a:cubicBezTo>
                    <a:cubicBezTo>
                      <a:pt x="911" y="73"/>
                      <a:pt x="909" y="73"/>
                      <a:pt x="909" y="74"/>
                    </a:cubicBezTo>
                    <a:cubicBezTo>
                      <a:pt x="909" y="74"/>
                      <a:pt x="909" y="75"/>
                      <a:pt x="908" y="75"/>
                    </a:cubicBezTo>
                    <a:cubicBezTo>
                      <a:pt x="908" y="75"/>
                      <a:pt x="905" y="77"/>
                      <a:pt x="903" y="78"/>
                    </a:cubicBezTo>
                    <a:cubicBezTo>
                      <a:pt x="902" y="79"/>
                      <a:pt x="900" y="80"/>
                      <a:pt x="900" y="80"/>
                    </a:cubicBezTo>
                    <a:cubicBezTo>
                      <a:pt x="900" y="80"/>
                      <a:pt x="899" y="80"/>
                      <a:pt x="898" y="80"/>
                    </a:cubicBezTo>
                    <a:cubicBezTo>
                      <a:pt x="898" y="80"/>
                      <a:pt x="886" y="79"/>
                      <a:pt x="886" y="79"/>
                    </a:cubicBezTo>
                    <a:cubicBezTo>
                      <a:pt x="886" y="79"/>
                      <a:pt x="885" y="79"/>
                      <a:pt x="884" y="80"/>
                    </a:cubicBezTo>
                    <a:cubicBezTo>
                      <a:pt x="884" y="81"/>
                      <a:pt x="884" y="81"/>
                      <a:pt x="885" y="81"/>
                    </a:cubicBezTo>
                    <a:cubicBezTo>
                      <a:pt x="886" y="81"/>
                      <a:pt x="887" y="81"/>
                      <a:pt x="887" y="81"/>
                    </a:cubicBezTo>
                    <a:cubicBezTo>
                      <a:pt x="888" y="81"/>
                      <a:pt x="888" y="81"/>
                      <a:pt x="889" y="81"/>
                    </a:cubicBezTo>
                    <a:cubicBezTo>
                      <a:pt x="890" y="81"/>
                      <a:pt x="890" y="81"/>
                      <a:pt x="891" y="82"/>
                    </a:cubicBezTo>
                    <a:cubicBezTo>
                      <a:pt x="891" y="82"/>
                      <a:pt x="892" y="82"/>
                      <a:pt x="892" y="82"/>
                    </a:cubicBezTo>
                    <a:cubicBezTo>
                      <a:pt x="892" y="82"/>
                      <a:pt x="894" y="82"/>
                      <a:pt x="892" y="83"/>
                    </a:cubicBezTo>
                    <a:cubicBezTo>
                      <a:pt x="890" y="83"/>
                      <a:pt x="888" y="83"/>
                      <a:pt x="889" y="84"/>
                    </a:cubicBezTo>
                    <a:cubicBezTo>
                      <a:pt x="889" y="84"/>
                      <a:pt x="890" y="84"/>
                      <a:pt x="891" y="85"/>
                    </a:cubicBezTo>
                    <a:cubicBezTo>
                      <a:pt x="891" y="85"/>
                      <a:pt x="892" y="85"/>
                      <a:pt x="891" y="85"/>
                    </a:cubicBezTo>
                    <a:cubicBezTo>
                      <a:pt x="890" y="86"/>
                      <a:pt x="888" y="87"/>
                      <a:pt x="888" y="88"/>
                    </a:cubicBezTo>
                    <a:cubicBezTo>
                      <a:pt x="887" y="88"/>
                      <a:pt x="886" y="89"/>
                      <a:pt x="886" y="89"/>
                    </a:cubicBezTo>
                    <a:cubicBezTo>
                      <a:pt x="886" y="90"/>
                      <a:pt x="886" y="90"/>
                      <a:pt x="886" y="90"/>
                    </a:cubicBezTo>
                    <a:cubicBezTo>
                      <a:pt x="885" y="91"/>
                      <a:pt x="882" y="91"/>
                      <a:pt x="883" y="93"/>
                    </a:cubicBezTo>
                    <a:cubicBezTo>
                      <a:pt x="883" y="94"/>
                      <a:pt x="885" y="95"/>
                      <a:pt x="884" y="95"/>
                    </a:cubicBezTo>
                    <a:cubicBezTo>
                      <a:pt x="883" y="95"/>
                      <a:pt x="881" y="95"/>
                      <a:pt x="881" y="94"/>
                    </a:cubicBezTo>
                    <a:cubicBezTo>
                      <a:pt x="881" y="94"/>
                      <a:pt x="881" y="94"/>
                      <a:pt x="880" y="94"/>
                    </a:cubicBezTo>
                    <a:cubicBezTo>
                      <a:pt x="880" y="93"/>
                      <a:pt x="880" y="93"/>
                      <a:pt x="880" y="93"/>
                    </a:cubicBezTo>
                    <a:cubicBezTo>
                      <a:pt x="880" y="93"/>
                      <a:pt x="880" y="92"/>
                      <a:pt x="880" y="92"/>
                    </a:cubicBezTo>
                    <a:cubicBezTo>
                      <a:pt x="879" y="92"/>
                      <a:pt x="875" y="93"/>
                      <a:pt x="875" y="91"/>
                    </a:cubicBezTo>
                    <a:cubicBezTo>
                      <a:pt x="874" y="90"/>
                      <a:pt x="873" y="89"/>
                      <a:pt x="872" y="89"/>
                    </a:cubicBezTo>
                    <a:cubicBezTo>
                      <a:pt x="872" y="90"/>
                      <a:pt x="873" y="90"/>
                      <a:pt x="872" y="90"/>
                    </a:cubicBezTo>
                    <a:cubicBezTo>
                      <a:pt x="872" y="91"/>
                      <a:pt x="868" y="92"/>
                      <a:pt x="868" y="93"/>
                    </a:cubicBezTo>
                    <a:cubicBezTo>
                      <a:pt x="869" y="93"/>
                      <a:pt x="868" y="93"/>
                      <a:pt x="868" y="94"/>
                    </a:cubicBezTo>
                    <a:cubicBezTo>
                      <a:pt x="868" y="94"/>
                      <a:pt x="867" y="94"/>
                      <a:pt x="868" y="94"/>
                    </a:cubicBezTo>
                    <a:cubicBezTo>
                      <a:pt x="870" y="94"/>
                      <a:pt x="870" y="95"/>
                      <a:pt x="871" y="95"/>
                    </a:cubicBezTo>
                    <a:cubicBezTo>
                      <a:pt x="872" y="94"/>
                      <a:pt x="875" y="95"/>
                      <a:pt x="876" y="95"/>
                    </a:cubicBezTo>
                    <a:cubicBezTo>
                      <a:pt x="876" y="96"/>
                      <a:pt x="877" y="96"/>
                      <a:pt x="877" y="96"/>
                    </a:cubicBezTo>
                    <a:cubicBezTo>
                      <a:pt x="878" y="96"/>
                      <a:pt x="878" y="96"/>
                      <a:pt x="879" y="96"/>
                    </a:cubicBezTo>
                    <a:cubicBezTo>
                      <a:pt x="879" y="96"/>
                      <a:pt x="883" y="96"/>
                      <a:pt x="881" y="97"/>
                    </a:cubicBezTo>
                    <a:cubicBezTo>
                      <a:pt x="879" y="98"/>
                      <a:pt x="879" y="98"/>
                      <a:pt x="880" y="98"/>
                    </a:cubicBezTo>
                    <a:cubicBezTo>
                      <a:pt x="880" y="98"/>
                      <a:pt x="881" y="98"/>
                      <a:pt x="881" y="99"/>
                    </a:cubicBezTo>
                    <a:cubicBezTo>
                      <a:pt x="881" y="99"/>
                      <a:pt x="881" y="100"/>
                      <a:pt x="882" y="100"/>
                    </a:cubicBezTo>
                    <a:cubicBezTo>
                      <a:pt x="882" y="100"/>
                      <a:pt x="883" y="101"/>
                      <a:pt x="883" y="100"/>
                    </a:cubicBezTo>
                    <a:cubicBezTo>
                      <a:pt x="884" y="100"/>
                      <a:pt x="887" y="100"/>
                      <a:pt x="887" y="101"/>
                    </a:cubicBezTo>
                    <a:cubicBezTo>
                      <a:pt x="886" y="101"/>
                      <a:pt x="887" y="101"/>
                      <a:pt x="887" y="101"/>
                    </a:cubicBezTo>
                    <a:cubicBezTo>
                      <a:pt x="887" y="102"/>
                      <a:pt x="886" y="104"/>
                      <a:pt x="886" y="104"/>
                    </a:cubicBezTo>
                    <a:cubicBezTo>
                      <a:pt x="886" y="105"/>
                      <a:pt x="885" y="105"/>
                      <a:pt x="885" y="104"/>
                    </a:cubicBezTo>
                    <a:cubicBezTo>
                      <a:pt x="885" y="104"/>
                      <a:pt x="886" y="104"/>
                      <a:pt x="885" y="104"/>
                    </a:cubicBezTo>
                    <a:cubicBezTo>
                      <a:pt x="884" y="104"/>
                      <a:pt x="880" y="104"/>
                      <a:pt x="883" y="103"/>
                    </a:cubicBezTo>
                    <a:cubicBezTo>
                      <a:pt x="886" y="102"/>
                      <a:pt x="884" y="101"/>
                      <a:pt x="883" y="102"/>
                    </a:cubicBezTo>
                    <a:cubicBezTo>
                      <a:pt x="883" y="102"/>
                      <a:pt x="882" y="102"/>
                      <a:pt x="882" y="102"/>
                    </a:cubicBezTo>
                    <a:cubicBezTo>
                      <a:pt x="881" y="101"/>
                      <a:pt x="878" y="101"/>
                      <a:pt x="878" y="101"/>
                    </a:cubicBezTo>
                    <a:cubicBezTo>
                      <a:pt x="877" y="101"/>
                      <a:pt x="871" y="101"/>
                      <a:pt x="872" y="101"/>
                    </a:cubicBezTo>
                    <a:cubicBezTo>
                      <a:pt x="872" y="102"/>
                      <a:pt x="871" y="102"/>
                      <a:pt x="871" y="102"/>
                    </a:cubicBezTo>
                    <a:cubicBezTo>
                      <a:pt x="870" y="102"/>
                      <a:pt x="869" y="102"/>
                      <a:pt x="870" y="103"/>
                    </a:cubicBezTo>
                    <a:cubicBezTo>
                      <a:pt x="870" y="103"/>
                      <a:pt x="870" y="104"/>
                      <a:pt x="870" y="104"/>
                    </a:cubicBezTo>
                    <a:cubicBezTo>
                      <a:pt x="870" y="104"/>
                      <a:pt x="870" y="105"/>
                      <a:pt x="871" y="105"/>
                    </a:cubicBezTo>
                    <a:cubicBezTo>
                      <a:pt x="873" y="105"/>
                      <a:pt x="875" y="105"/>
                      <a:pt x="876" y="105"/>
                    </a:cubicBezTo>
                    <a:cubicBezTo>
                      <a:pt x="876" y="105"/>
                      <a:pt x="878" y="105"/>
                      <a:pt x="879" y="105"/>
                    </a:cubicBezTo>
                    <a:cubicBezTo>
                      <a:pt x="880" y="106"/>
                      <a:pt x="884" y="107"/>
                      <a:pt x="883" y="108"/>
                    </a:cubicBezTo>
                    <a:cubicBezTo>
                      <a:pt x="881" y="109"/>
                      <a:pt x="881" y="109"/>
                      <a:pt x="882" y="109"/>
                    </a:cubicBezTo>
                    <a:cubicBezTo>
                      <a:pt x="883" y="110"/>
                      <a:pt x="884" y="109"/>
                      <a:pt x="883" y="110"/>
                    </a:cubicBezTo>
                    <a:cubicBezTo>
                      <a:pt x="883" y="110"/>
                      <a:pt x="884" y="111"/>
                      <a:pt x="885" y="111"/>
                    </a:cubicBezTo>
                    <a:cubicBezTo>
                      <a:pt x="886" y="111"/>
                      <a:pt x="892" y="112"/>
                      <a:pt x="889" y="112"/>
                    </a:cubicBezTo>
                    <a:cubicBezTo>
                      <a:pt x="887" y="112"/>
                      <a:pt x="886" y="111"/>
                      <a:pt x="885" y="112"/>
                    </a:cubicBezTo>
                    <a:cubicBezTo>
                      <a:pt x="885" y="112"/>
                      <a:pt x="885" y="112"/>
                      <a:pt x="886" y="113"/>
                    </a:cubicBezTo>
                    <a:cubicBezTo>
                      <a:pt x="887" y="114"/>
                      <a:pt x="889" y="115"/>
                      <a:pt x="888" y="116"/>
                    </a:cubicBezTo>
                    <a:cubicBezTo>
                      <a:pt x="886" y="117"/>
                      <a:pt x="882" y="117"/>
                      <a:pt x="881" y="117"/>
                    </a:cubicBezTo>
                    <a:cubicBezTo>
                      <a:pt x="880" y="117"/>
                      <a:pt x="817" y="123"/>
                      <a:pt x="817" y="123"/>
                    </a:cubicBezTo>
                    <a:cubicBezTo>
                      <a:pt x="793" y="125"/>
                      <a:pt x="793" y="125"/>
                      <a:pt x="793" y="125"/>
                    </a:cubicBezTo>
                    <a:cubicBezTo>
                      <a:pt x="793" y="125"/>
                      <a:pt x="789" y="125"/>
                      <a:pt x="790" y="125"/>
                    </a:cubicBezTo>
                    <a:cubicBezTo>
                      <a:pt x="790" y="126"/>
                      <a:pt x="789" y="127"/>
                      <a:pt x="790" y="127"/>
                    </a:cubicBezTo>
                    <a:cubicBezTo>
                      <a:pt x="791" y="126"/>
                      <a:pt x="792" y="127"/>
                      <a:pt x="791" y="127"/>
                    </a:cubicBezTo>
                    <a:cubicBezTo>
                      <a:pt x="790" y="128"/>
                      <a:pt x="790" y="129"/>
                      <a:pt x="789" y="130"/>
                    </a:cubicBezTo>
                    <a:cubicBezTo>
                      <a:pt x="788" y="130"/>
                      <a:pt x="787" y="131"/>
                      <a:pt x="787" y="131"/>
                    </a:cubicBezTo>
                    <a:cubicBezTo>
                      <a:pt x="786" y="131"/>
                      <a:pt x="785" y="132"/>
                      <a:pt x="786" y="132"/>
                    </a:cubicBezTo>
                    <a:cubicBezTo>
                      <a:pt x="786" y="133"/>
                      <a:pt x="787" y="133"/>
                      <a:pt x="788" y="133"/>
                    </a:cubicBezTo>
                    <a:cubicBezTo>
                      <a:pt x="789" y="133"/>
                      <a:pt x="790" y="134"/>
                      <a:pt x="789" y="134"/>
                    </a:cubicBezTo>
                    <a:cubicBezTo>
                      <a:pt x="788" y="135"/>
                      <a:pt x="785" y="136"/>
                      <a:pt x="786" y="136"/>
                    </a:cubicBezTo>
                    <a:cubicBezTo>
                      <a:pt x="786" y="136"/>
                      <a:pt x="787" y="137"/>
                      <a:pt x="788" y="137"/>
                    </a:cubicBezTo>
                    <a:cubicBezTo>
                      <a:pt x="788" y="137"/>
                      <a:pt x="790" y="137"/>
                      <a:pt x="789" y="138"/>
                    </a:cubicBezTo>
                    <a:cubicBezTo>
                      <a:pt x="789" y="138"/>
                      <a:pt x="788" y="139"/>
                      <a:pt x="789" y="139"/>
                    </a:cubicBezTo>
                    <a:cubicBezTo>
                      <a:pt x="789" y="139"/>
                      <a:pt x="792" y="139"/>
                      <a:pt x="793" y="141"/>
                    </a:cubicBezTo>
                    <a:cubicBezTo>
                      <a:pt x="794" y="143"/>
                      <a:pt x="795" y="144"/>
                      <a:pt x="793" y="146"/>
                    </a:cubicBezTo>
                    <a:cubicBezTo>
                      <a:pt x="792" y="148"/>
                      <a:pt x="791" y="149"/>
                      <a:pt x="791" y="150"/>
                    </a:cubicBezTo>
                    <a:cubicBezTo>
                      <a:pt x="791" y="150"/>
                      <a:pt x="792" y="152"/>
                      <a:pt x="793" y="152"/>
                    </a:cubicBezTo>
                    <a:cubicBezTo>
                      <a:pt x="794" y="152"/>
                      <a:pt x="794" y="152"/>
                      <a:pt x="794" y="153"/>
                    </a:cubicBezTo>
                    <a:cubicBezTo>
                      <a:pt x="793" y="153"/>
                      <a:pt x="792" y="154"/>
                      <a:pt x="793" y="155"/>
                    </a:cubicBezTo>
                    <a:cubicBezTo>
                      <a:pt x="794" y="156"/>
                      <a:pt x="796" y="157"/>
                      <a:pt x="796" y="157"/>
                    </a:cubicBezTo>
                    <a:cubicBezTo>
                      <a:pt x="796" y="157"/>
                      <a:pt x="797" y="158"/>
                      <a:pt x="798" y="158"/>
                    </a:cubicBezTo>
                    <a:cubicBezTo>
                      <a:pt x="799" y="158"/>
                      <a:pt x="813" y="161"/>
                      <a:pt x="813" y="161"/>
                    </a:cubicBezTo>
                    <a:cubicBezTo>
                      <a:pt x="813" y="161"/>
                      <a:pt x="814" y="161"/>
                      <a:pt x="814" y="162"/>
                    </a:cubicBezTo>
                    <a:cubicBezTo>
                      <a:pt x="814" y="164"/>
                      <a:pt x="815" y="167"/>
                      <a:pt x="815" y="167"/>
                    </a:cubicBezTo>
                    <a:cubicBezTo>
                      <a:pt x="816" y="168"/>
                      <a:pt x="821" y="173"/>
                      <a:pt x="821" y="173"/>
                    </a:cubicBezTo>
                    <a:cubicBezTo>
                      <a:pt x="821" y="173"/>
                      <a:pt x="822" y="173"/>
                      <a:pt x="822" y="174"/>
                    </a:cubicBezTo>
                    <a:cubicBezTo>
                      <a:pt x="822" y="175"/>
                      <a:pt x="822" y="176"/>
                      <a:pt x="821" y="176"/>
                    </a:cubicBezTo>
                    <a:cubicBezTo>
                      <a:pt x="820" y="177"/>
                      <a:pt x="816" y="177"/>
                      <a:pt x="815" y="177"/>
                    </a:cubicBezTo>
                    <a:cubicBezTo>
                      <a:pt x="815" y="178"/>
                      <a:pt x="812" y="178"/>
                      <a:pt x="812" y="178"/>
                    </a:cubicBezTo>
                    <a:cubicBezTo>
                      <a:pt x="812" y="178"/>
                      <a:pt x="809" y="178"/>
                      <a:pt x="808" y="178"/>
                    </a:cubicBezTo>
                    <a:cubicBezTo>
                      <a:pt x="808" y="178"/>
                      <a:pt x="807" y="178"/>
                      <a:pt x="806" y="177"/>
                    </a:cubicBezTo>
                    <a:cubicBezTo>
                      <a:pt x="806" y="177"/>
                      <a:pt x="795" y="168"/>
                      <a:pt x="795" y="168"/>
                    </a:cubicBezTo>
                    <a:cubicBezTo>
                      <a:pt x="795" y="168"/>
                      <a:pt x="794" y="167"/>
                      <a:pt x="792" y="167"/>
                    </a:cubicBezTo>
                    <a:cubicBezTo>
                      <a:pt x="790" y="166"/>
                      <a:pt x="761" y="159"/>
                      <a:pt x="761" y="159"/>
                    </a:cubicBezTo>
                    <a:cubicBezTo>
                      <a:pt x="761" y="159"/>
                      <a:pt x="759" y="159"/>
                      <a:pt x="758" y="159"/>
                    </a:cubicBezTo>
                    <a:cubicBezTo>
                      <a:pt x="756" y="160"/>
                      <a:pt x="745" y="163"/>
                      <a:pt x="745" y="163"/>
                    </a:cubicBezTo>
                    <a:cubicBezTo>
                      <a:pt x="745" y="163"/>
                      <a:pt x="744" y="164"/>
                      <a:pt x="743" y="164"/>
                    </a:cubicBezTo>
                    <a:cubicBezTo>
                      <a:pt x="743" y="165"/>
                      <a:pt x="742" y="167"/>
                      <a:pt x="743" y="167"/>
                    </a:cubicBezTo>
                    <a:cubicBezTo>
                      <a:pt x="744" y="167"/>
                      <a:pt x="745" y="168"/>
                      <a:pt x="746" y="167"/>
                    </a:cubicBezTo>
                    <a:cubicBezTo>
                      <a:pt x="748" y="166"/>
                      <a:pt x="751" y="166"/>
                      <a:pt x="752" y="166"/>
                    </a:cubicBezTo>
                    <a:cubicBezTo>
                      <a:pt x="753" y="167"/>
                      <a:pt x="754" y="167"/>
                      <a:pt x="754" y="169"/>
                    </a:cubicBezTo>
                    <a:cubicBezTo>
                      <a:pt x="754" y="171"/>
                      <a:pt x="754" y="173"/>
                      <a:pt x="753" y="173"/>
                    </a:cubicBezTo>
                    <a:cubicBezTo>
                      <a:pt x="751" y="173"/>
                      <a:pt x="746" y="175"/>
                      <a:pt x="744" y="173"/>
                    </a:cubicBezTo>
                    <a:cubicBezTo>
                      <a:pt x="742" y="172"/>
                      <a:pt x="741" y="171"/>
                      <a:pt x="741" y="171"/>
                    </a:cubicBezTo>
                    <a:cubicBezTo>
                      <a:pt x="740" y="170"/>
                      <a:pt x="738" y="169"/>
                      <a:pt x="737" y="170"/>
                    </a:cubicBezTo>
                    <a:cubicBezTo>
                      <a:pt x="736" y="170"/>
                      <a:pt x="724" y="171"/>
                      <a:pt x="724" y="171"/>
                    </a:cubicBezTo>
                    <a:cubicBezTo>
                      <a:pt x="724" y="171"/>
                      <a:pt x="722" y="171"/>
                      <a:pt x="723" y="173"/>
                    </a:cubicBezTo>
                    <a:cubicBezTo>
                      <a:pt x="724" y="174"/>
                      <a:pt x="724" y="174"/>
                      <a:pt x="724" y="175"/>
                    </a:cubicBezTo>
                    <a:cubicBezTo>
                      <a:pt x="724" y="176"/>
                      <a:pt x="725" y="177"/>
                      <a:pt x="725" y="177"/>
                    </a:cubicBezTo>
                    <a:cubicBezTo>
                      <a:pt x="726" y="178"/>
                      <a:pt x="726" y="179"/>
                      <a:pt x="726" y="179"/>
                    </a:cubicBezTo>
                    <a:cubicBezTo>
                      <a:pt x="726" y="180"/>
                      <a:pt x="726" y="182"/>
                      <a:pt x="728" y="182"/>
                    </a:cubicBezTo>
                    <a:cubicBezTo>
                      <a:pt x="730" y="182"/>
                      <a:pt x="731" y="183"/>
                      <a:pt x="732" y="184"/>
                    </a:cubicBezTo>
                    <a:cubicBezTo>
                      <a:pt x="733" y="185"/>
                      <a:pt x="736" y="185"/>
                      <a:pt x="737" y="185"/>
                    </a:cubicBezTo>
                    <a:cubicBezTo>
                      <a:pt x="738" y="186"/>
                      <a:pt x="738" y="185"/>
                      <a:pt x="739" y="186"/>
                    </a:cubicBezTo>
                    <a:cubicBezTo>
                      <a:pt x="741" y="187"/>
                      <a:pt x="743" y="188"/>
                      <a:pt x="744" y="188"/>
                    </a:cubicBezTo>
                    <a:cubicBezTo>
                      <a:pt x="745" y="188"/>
                      <a:pt x="745" y="188"/>
                      <a:pt x="746" y="188"/>
                    </a:cubicBezTo>
                    <a:cubicBezTo>
                      <a:pt x="747" y="189"/>
                      <a:pt x="748" y="190"/>
                      <a:pt x="748" y="189"/>
                    </a:cubicBezTo>
                    <a:cubicBezTo>
                      <a:pt x="749" y="188"/>
                      <a:pt x="749" y="188"/>
                      <a:pt x="749" y="188"/>
                    </a:cubicBezTo>
                    <a:cubicBezTo>
                      <a:pt x="750" y="188"/>
                      <a:pt x="752" y="186"/>
                      <a:pt x="752" y="188"/>
                    </a:cubicBezTo>
                    <a:cubicBezTo>
                      <a:pt x="751" y="189"/>
                      <a:pt x="751" y="190"/>
                      <a:pt x="752" y="190"/>
                    </a:cubicBezTo>
                    <a:cubicBezTo>
                      <a:pt x="753" y="189"/>
                      <a:pt x="754" y="190"/>
                      <a:pt x="755" y="190"/>
                    </a:cubicBezTo>
                    <a:cubicBezTo>
                      <a:pt x="756" y="190"/>
                      <a:pt x="757" y="190"/>
                      <a:pt x="757" y="192"/>
                    </a:cubicBezTo>
                    <a:cubicBezTo>
                      <a:pt x="756" y="194"/>
                      <a:pt x="755" y="194"/>
                      <a:pt x="757" y="195"/>
                    </a:cubicBezTo>
                    <a:cubicBezTo>
                      <a:pt x="758" y="196"/>
                      <a:pt x="758" y="196"/>
                      <a:pt x="758" y="195"/>
                    </a:cubicBezTo>
                    <a:cubicBezTo>
                      <a:pt x="759" y="194"/>
                      <a:pt x="760" y="194"/>
                      <a:pt x="760" y="195"/>
                    </a:cubicBezTo>
                    <a:cubicBezTo>
                      <a:pt x="760" y="196"/>
                      <a:pt x="760" y="196"/>
                      <a:pt x="760" y="196"/>
                    </a:cubicBezTo>
                    <a:cubicBezTo>
                      <a:pt x="759" y="196"/>
                      <a:pt x="759" y="196"/>
                      <a:pt x="759" y="197"/>
                    </a:cubicBezTo>
                    <a:cubicBezTo>
                      <a:pt x="759" y="198"/>
                      <a:pt x="758" y="199"/>
                      <a:pt x="760" y="198"/>
                    </a:cubicBezTo>
                    <a:cubicBezTo>
                      <a:pt x="761" y="197"/>
                      <a:pt x="761" y="198"/>
                      <a:pt x="761" y="198"/>
                    </a:cubicBezTo>
                    <a:cubicBezTo>
                      <a:pt x="762" y="198"/>
                      <a:pt x="764" y="199"/>
                      <a:pt x="764" y="197"/>
                    </a:cubicBezTo>
                    <a:cubicBezTo>
                      <a:pt x="764" y="196"/>
                      <a:pt x="764" y="197"/>
                      <a:pt x="765" y="197"/>
                    </a:cubicBezTo>
                    <a:cubicBezTo>
                      <a:pt x="766" y="197"/>
                      <a:pt x="769" y="196"/>
                      <a:pt x="768" y="197"/>
                    </a:cubicBezTo>
                    <a:cubicBezTo>
                      <a:pt x="766" y="199"/>
                      <a:pt x="765" y="199"/>
                      <a:pt x="763" y="199"/>
                    </a:cubicBezTo>
                    <a:cubicBezTo>
                      <a:pt x="761" y="199"/>
                      <a:pt x="760" y="199"/>
                      <a:pt x="760" y="200"/>
                    </a:cubicBezTo>
                    <a:cubicBezTo>
                      <a:pt x="759" y="200"/>
                      <a:pt x="758" y="200"/>
                      <a:pt x="757" y="199"/>
                    </a:cubicBezTo>
                    <a:cubicBezTo>
                      <a:pt x="756" y="199"/>
                      <a:pt x="756" y="199"/>
                      <a:pt x="756" y="199"/>
                    </a:cubicBezTo>
                    <a:cubicBezTo>
                      <a:pt x="755" y="199"/>
                      <a:pt x="754" y="198"/>
                      <a:pt x="753" y="198"/>
                    </a:cubicBezTo>
                    <a:cubicBezTo>
                      <a:pt x="752" y="198"/>
                      <a:pt x="750" y="198"/>
                      <a:pt x="750" y="196"/>
                    </a:cubicBezTo>
                    <a:cubicBezTo>
                      <a:pt x="751" y="194"/>
                      <a:pt x="749" y="192"/>
                      <a:pt x="746" y="192"/>
                    </a:cubicBezTo>
                    <a:cubicBezTo>
                      <a:pt x="743" y="192"/>
                      <a:pt x="739" y="192"/>
                      <a:pt x="739" y="192"/>
                    </a:cubicBezTo>
                    <a:cubicBezTo>
                      <a:pt x="739" y="192"/>
                      <a:pt x="738" y="192"/>
                      <a:pt x="737" y="193"/>
                    </a:cubicBezTo>
                    <a:cubicBezTo>
                      <a:pt x="737" y="194"/>
                      <a:pt x="736" y="195"/>
                      <a:pt x="736" y="194"/>
                    </a:cubicBezTo>
                    <a:cubicBezTo>
                      <a:pt x="736" y="193"/>
                      <a:pt x="735" y="194"/>
                      <a:pt x="736" y="193"/>
                    </a:cubicBezTo>
                    <a:cubicBezTo>
                      <a:pt x="736" y="192"/>
                      <a:pt x="736" y="192"/>
                      <a:pt x="735" y="192"/>
                    </a:cubicBezTo>
                    <a:cubicBezTo>
                      <a:pt x="734" y="191"/>
                      <a:pt x="731" y="191"/>
                      <a:pt x="729" y="191"/>
                    </a:cubicBezTo>
                    <a:cubicBezTo>
                      <a:pt x="728" y="192"/>
                      <a:pt x="728" y="191"/>
                      <a:pt x="727" y="191"/>
                    </a:cubicBezTo>
                    <a:cubicBezTo>
                      <a:pt x="726" y="191"/>
                      <a:pt x="726" y="191"/>
                      <a:pt x="725" y="191"/>
                    </a:cubicBezTo>
                    <a:cubicBezTo>
                      <a:pt x="725" y="191"/>
                      <a:pt x="724" y="192"/>
                      <a:pt x="724" y="191"/>
                    </a:cubicBezTo>
                    <a:cubicBezTo>
                      <a:pt x="723" y="190"/>
                      <a:pt x="722" y="190"/>
                      <a:pt x="721" y="190"/>
                    </a:cubicBezTo>
                    <a:cubicBezTo>
                      <a:pt x="720" y="190"/>
                      <a:pt x="718" y="190"/>
                      <a:pt x="717" y="189"/>
                    </a:cubicBezTo>
                    <a:cubicBezTo>
                      <a:pt x="716" y="189"/>
                      <a:pt x="715" y="189"/>
                      <a:pt x="714" y="188"/>
                    </a:cubicBezTo>
                    <a:cubicBezTo>
                      <a:pt x="714" y="188"/>
                      <a:pt x="711" y="187"/>
                      <a:pt x="711" y="186"/>
                    </a:cubicBezTo>
                    <a:cubicBezTo>
                      <a:pt x="711" y="184"/>
                      <a:pt x="711" y="184"/>
                      <a:pt x="712" y="184"/>
                    </a:cubicBezTo>
                    <a:cubicBezTo>
                      <a:pt x="713" y="185"/>
                      <a:pt x="714" y="185"/>
                      <a:pt x="714" y="184"/>
                    </a:cubicBezTo>
                    <a:cubicBezTo>
                      <a:pt x="714" y="183"/>
                      <a:pt x="714" y="183"/>
                      <a:pt x="715" y="183"/>
                    </a:cubicBezTo>
                    <a:cubicBezTo>
                      <a:pt x="715" y="183"/>
                      <a:pt x="716" y="182"/>
                      <a:pt x="715" y="181"/>
                    </a:cubicBezTo>
                    <a:cubicBezTo>
                      <a:pt x="714" y="181"/>
                      <a:pt x="713" y="180"/>
                      <a:pt x="714" y="180"/>
                    </a:cubicBezTo>
                    <a:cubicBezTo>
                      <a:pt x="715" y="180"/>
                      <a:pt x="715" y="179"/>
                      <a:pt x="714" y="178"/>
                    </a:cubicBezTo>
                    <a:cubicBezTo>
                      <a:pt x="713" y="178"/>
                      <a:pt x="711" y="177"/>
                      <a:pt x="711" y="176"/>
                    </a:cubicBezTo>
                    <a:cubicBezTo>
                      <a:pt x="711" y="175"/>
                      <a:pt x="710" y="175"/>
                      <a:pt x="711" y="175"/>
                    </a:cubicBezTo>
                    <a:cubicBezTo>
                      <a:pt x="711" y="174"/>
                      <a:pt x="711" y="173"/>
                      <a:pt x="711" y="173"/>
                    </a:cubicBezTo>
                    <a:cubicBezTo>
                      <a:pt x="712" y="173"/>
                      <a:pt x="712" y="172"/>
                      <a:pt x="711" y="172"/>
                    </a:cubicBezTo>
                    <a:cubicBezTo>
                      <a:pt x="711" y="171"/>
                      <a:pt x="711" y="171"/>
                      <a:pt x="712" y="171"/>
                    </a:cubicBezTo>
                    <a:cubicBezTo>
                      <a:pt x="713" y="171"/>
                      <a:pt x="714" y="170"/>
                      <a:pt x="714" y="169"/>
                    </a:cubicBezTo>
                    <a:cubicBezTo>
                      <a:pt x="714" y="168"/>
                      <a:pt x="714" y="168"/>
                      <a:pt x="715" y="168"/>
                    </a:cubicBezTo>
                    <a:cubicBezTo>
                      <a:pt x="715" y="167"/>
                      <a:pt x="716" y="167"/>
                      <a:pt x="715" y="166"/>
                    </a:cubicBezTo>
                    <a:cubicBezTo>
                      <a:pt x="715" y="165"/>
                      <a:pt x="715" y="165"/>
                      <a:pt x="716" y="165"/>
                    </a:cubicBezTo>
                    <a:cubicBezTo>
                      <a:pt x="716" y="164"/>
                      <a:pt x="716" y="164"/>
                      <a:pt x="716" y="164"/>
                    </a:cubicBezTo>
                    <a:cubicBezTo>
                      <a:pt x="717" y="163"/>
                      <a:pt x="717" y="163"/>
                      <a:pt x="718" y="163"/>
                    </a:cubicBezTo>
                    <a:cubicBezTo>
                      <a:pt x="718" y="163"/>
                      <a:pt x="719" y="162"/>
                      <a:pt x="718" y="161"/>
                    </a:cubicBezTo>
                    <a:cubicBezTo>
                      <a:pt x="718" y="161"/>
                      <a:pt x="718" y="160"/>
                      <a:pt x="717" y="159"/>
                    </a:cubicBezTo>
                    <a:cubicBezTo>
                      <a:pt x="717" y="159"/>
                      <a:pt x="717" y="158"/>
                      <a:pt x="717" y="158"/>
                    </a:cubicBezTo>
                    <a:cubicBezTo>
                      <a:pt x="716" y="157"/>
                      <a:pt x="716" y="156"/>
                      <a:pt x="716" y="156"/>
                    </a:cubicBezTo>
                    <a:cubicBezTo>
                      <a:pt x="716" y="155"/>
                      <a:pt x="716" y="155"/>
                      <a:pt x="715" y="154"/>
                    </a:cubicBezTo>
                    <a:cubicBezTo>
                      <a:pt x="715" y="154"/>
                      <a:pt x="708" y="146"/>
                      <a:pt x="708" y="146"/>
                    </a:cubicBezTo>
                    <a:cubicBezTo>
                      <a:pt x="707" y="145"/>
                      <a:pt x="707" y="145"/>
                      <a:pt x="706" y="145"/>
                    </a:cubicBezTo>
                    <a:cubicBezTo>
                      <a:pt x="705" y="146"/>
                      <a:pt x="705" y="146"/>
                      <a:pt x="704" y="146"/>
                    </a:cubicBezTo>
                    <a:cubicBezTo>
                      <a:pt x="704" y="146"/>
                      <a:pt x="703" y="147"/>
                      <a:pt x="705" y="148"/>
                    </a:cubicBezTo>
                    <a:cubicBezTo>
                      <a:pt x="706" y="148"/>
                      <a:pt x="708" y="151"/>
                      <a:pt x="708" y="152"/>
                    </a:cubicBezTo>
                    <a:cubicBezTo>
                      <a:pt x="708" y="153"/>
                      <a:pt x="708" y="154"/>
                      <a:pt x="709" y="155"/>
                    </a:cubicBezTo>
                    <a:cubicBezTo>
                      <a:pt x="709" y="156"/>
                      <a:pt x="710" y="163"/>
                      <a:pt x="708" y="165"/>
                    </a:cubicBezTo>
                    <a:cubicBezTo>
                      <a:pt x="706" y="167"/>
                      <a:pt x="705" y="168"/>
                      <a:pt x="704" y="168"/>
                    </a:cubicBezTo>
                    <a:cubicBezTo>
                      <a:pt x="703" y="168"/>
                      <a:pt x="702" y="168"/>
                      <a:pt x="701" y="169"/>
                    </a:cubicBezTo>
                    <a:cubicBezTo>
                      <a:pt x="701" y="169"/>
                      <a:pt x="699" y="170"/>
                      <a:pt x="698" y="170"/>
                    </a:cubicBezTo>
                    <a:cubicBezTo>
                      <a:pt x="697" y="170"/>
                      <a:pt x="689" y="173"/>
                      <a:pt x="688" y="173"/>
                    </a:cubicBezTo>
                    <a:cubicBezTo>
                      <a:pt x="687" y="174"/>
                      <a:pt x="684" y="175"/>
                      <a:pt x="685" y="176"/>
                    </a:cubicBezTo>
                    <a:cubicBezTo>
                      <a:pt x="686" y="178"/>
                      <a:pt x="686" y="178"/>
                      <a:pt x="685" y="179"/>
                    </a:cubicBezTo>
                    <a:cubicBezTo>
                      <a:pt x="684" y="180"/>
                      <a:pt x="681" y="183"/>
                      <a:pt x="681" y="183"/>
                    </a:cubicBezTo>
                    <a:cubicBezTo>
                      <a:pt x="680" y="184"/>
                      <a:pt x="677" y="186"/>
                      <a:pt x="679" y="186"/>
                    </a:cubicBezTo>
                    <a:cubicBezTo>
                      <a:pt x="681" y="186"/>
                      <a:pt x="686" y="189"/>
                      <a:pt x="687" y="191"/>
                    </a:cubicBezTo>
                    <a:cubicBezTo>
                      <a:pt x="687" y="193"/>
                      <a:pt x="688" y="195"/>
                      <a:pt x="690" y="196"/>
                    </a:cubicBezTo>
                    <a:cubicBezTo>
                      <a:pt x="692" y="198"/>
                      <a:pt x="692" y="199"/>
                      <a:pt x="691" y="200"/>
                    </a:cubicBezTo>
                    <a:cubicBezTo>
                      <a:pt x="691" y="201"/>
                      <a:pt x="693" y="202"/>
                      <a:pt x="693" y="203"/>
                    </a:cubicBezTo>
                    <a:cubicBezTo>
                      <a:pt x="694" y="203"/>
                      <a:pt x="697" y="205"/>
                      <a:pt x="697" y="206"/>
                    </a:cubicBezTo>
                    <a:cubicBezTo>
                      <a:pt x="698" y="207"/>
                      <a:pt x="698" y="209"/>
                      <a:pt x="697" y="209"/>
                    </a:cubicBezTo>
                    <a:cubicBezTo>
                      <a:pt x="696" y="210"/>
                      <a:pt x="689" y="219"/>
                      <a:pt x="689" y="219"/>
                    </a:cubicBezTo>
                    <a:cubicBezTo>
                      <a:pt x="689" y="219"/>
                      <a:pt x="687" y="220"/>
                      <a:pt x="689" y="221"/>
                    </a:cubicBezTo>
                    <a:cubicBezTo>
                      <a:pt x="690" y="222"/>
                      <a:pt x="689" y="222"/>
                      <a:pt x="689" y="223"/>
                    </a:cubicBezTo>
                    <a:cubicBezTo>
                      <a:pt x="688" y="223"/>
                      <a:pt x="688" y="226"/>
                      <a:pt x="687" y="227"/>
                    </a:cubicBezTo>
                    <a:cubicBezTo>
                      <a:pt x="687" y="228"/>
                      <a:pt x="685" y="231"/>
                      <a:pt x="686" y="232"/>
                    </a:cubicBezTo>
                    <a:cubicBezTo>
                      <a:pt x="687" y="233"/>
                      <a:pt x="688" y="234"/>
                      <a:pt x="689" y="235"/>
                    </a:cubicBezTo>
                    <a:cubicBezTo>
                      <a:pt x="689" y="236"/>
                      <a:pt x="691" y="237"/>
                      <a:pt x="691" y="239"/>
                    </a:cubicBezTo>
                    <a:cubicBezTo>
                      <a:pt x="690" y="240"/>
                      <a:pt x="689" y="244"/>
                      <a:pt x="689" y="245"/>
                    </a:cubicBezTo>
                    <a:cubicBezTo>
                      <a:pt x="689" y="245"/>
                      <a:pt x="689" y="246"/>
                      <a:pt x="690" y="247"/>
                    </a:cubicBezTo>
                    <a:cubicBezTo>
                      <a:pt x="691" y="247"/>
                      <a:pt x="691" y="249"/>
                      <a:pt x="693" y="248"/>
                    </a:cubicBezTo>
                    <a:cubicBezTo>
                      <a:pt x="695" y="247"/>
                      <a:pt x="697" y="246"/>
                      <a:pt x="698" y="246"/>
                    </a:cubicBezTo>
                    <a:cubicBezTo>
                      <a:pt x="699" y="247"/>
                      <a:pt x="701" y="247"/>
                      <a:pt x="703" y="248"/>
                    </a:cubicBezTo>
                    <a:cubicBezTo>
                      <a:pt x="704" y="248"/>
                      <a:pt x="705" y="248"/>
                      <a:pt x="706" y="248"/>
                    </a:cubicBezTo>
                    <a:cubicBezTo>
                      <a:pt x="706" y="248"/>
                      <a:pt x="707" y="247"/>
                      <a:pt x="708" y="247"/>
                    </a:cubicBezTo>
                    <a:cubicBezTo>
                      <a:pt x="709" y="247"/>
                      <a:pt x="709" y="248"/>
                      <a:pt x="709" y="247"/>
                    </a:cubicBezTo>
                    <a:cubicBezTo>
                      <a:pt x="709" y="246"/>
                      <a:pt x="710" y="246"/>
                      <a:pt x="711" y="245"/>
                    </a:cubicBezTo>
                    <a:cubicBezTo>
                      <a:pt x="712" y="245"/>
                      <a:pt x="713" y="245"/>
                      <a:pt x="713" y="244"/>
                    </a:cubicBezTo>
                    <a:cubicBezTo>
                      <a:pt x="713" y="244"/>
                      <a:pt x="715" y="243"/>
                      <a:pt x="716" y="243"/>
                    </a:cubicBezTo>
                    <a:cubicBezTo>
                      <a:pt x="717" y="243"/>
                      <a:pt x="720" y="244"/>
                      <a:pt x="721" y="244"/>
                    </a:cubicBezTo>
                    <a:cubicBezTo>
                      <a:pt x="722" y="243"/>
                      <a:pt x="724" y="244"/>
                      <a:pt x="725" y="245"/>
                    </a:cubicBezTo>
                    <a:cubicBezTo>
                      <a:pt x="725" y="245"/>
                      <a:pt x="726" y="245"/>
                      <a:pt x="727" y="245"/>
                    </a:cubicBezTo>
                    <a:cubicBezTo>
                      <a:pt x="727" y="245"/>
                      <a:pt x="728" y="246"/>
                      <a:pt x="728" y="246"/>
                    </a:cubicBezTo>
                    <a:cubicBezTo>
                      <a:pt x="729" y="246"/>
                      <a:pt x="730" y="247"/>
                      <a:pt x="731" y="247"/>
                    </a:cubicBezTo>
                    <a:cubicBezTo>
                      <a:pt x="731" y="246"/>
                      <a:pt x="732" y="246"/>
                      <a:pt x="733" y="246"/>
                    </a:cubicBezTo>
                    <a:cubicBezTo>
                      <a:pt x="734" y="247"/>
                      <a:pt x="734" y="247"/>
                      <a:pt x="735" y="248"/>
                    </a:cubicBezTo>
                    <a:cubicBezTo>
                      <a:pt x="735" y="249"/>
                      <a:pt x="736" y="250"/>
                      <a:pt x="737" y="250"/>
                    </a:cubicBezTo>
                    <a:cubicBezTo>
                      <a:pt x="737" y="250"/>
                      <a:pt x="740" y="250"/>
                      <a:pt x="741" y="250"/>
                    </a:cubicBezTo>
                    <a:cubicBezTo>
                      <a:pt x="741" y="251"/>
                      <a:pt x="744" y="252"/>
                      <a:pt x="744" y="252"/>
                    </a:cubicBezTo>
                    <a:cubicBezTo>
                      <a:pt x="745" y="252"/>
                      <a:pt x="746" y="252"/>
                      <a:pt x="746" y="253"/>
                    </a:cubicBezTo>
                    <a:cubicBezTo>
                      <a:pt x="747" y="254"/>
                      <a:pt x="748" y="261"/>
                      <a:pt x="749" y="261"/>
                    </a:cubicBezTo>
                    <a:cubicBezTo>
                      <a:pt x="749" y="262"/>
                      <a:pt x="749" y="263"/>
                      <a:pt x="749" y="263"/>
                    </a:cubicBezTo>
                    <a:cubicBezTo>
                      <a:pt x="750" y="263"/>
                      <a:pt x="750" y="263"/>
                      <a:pt x="750" y="263"/>
                    </a:cubicBezTo>
                    <a:cubicBezTo>
                      <a:pt x="751" y="264"/>
                      <a:pt x="751" y="266"/>
                      <a:pt x="752" y="266"/>
                    </a:cubicBezTo>
                    <a:cubicBezTo>
                      <a:pt x="752" y="266"/>
                      <a:pt x="756" y="269"/>
                      <a:pt x="753" y="269"/>
                    </a:cubicBezTo>
                    <a:cubicBezTo>
                      <a:pt x="751" y="270"/>
                      <a:pt x="747" y="270"/>
                      <a:pt x="746" y="271"/>
                    </a:cubicBezTo>
                    <a:cubicBezTo>
                      <a:pt x="745" y="273"/>
                      <a:pt x="744" y="276"/>
                      <a:pt x="745" y="276"/>
                    </a:cubicBezTo>
                    <a:cubicBezTo>
                      <a:pt x="745" y="277"/>
                      <a:pt x="746" y="277"/>
                      <a:pt x="745" y="278"/>
                    </a:cubicBezTo>
                    <a:cubicBezTo>
                      <a:pt x="745" y="279"/>
                      <a:pt x="743" y="281"/>
                      <a:pt x="745" y="282"/>
                    </a:cubicBezTo>
                    <a:cubicBezTo>
                      <a:pt x="747" y="283"/>
                      <a:pt x="748" y="283"/>
                      <a:pt x="749" y="282"/>
                    </a:cubicBezTo>
                    <a:cubicBezTo>
                      <a:pt x="749" y="282"/>
                      <a:pt x="749" y="282"/>
                      <a:pt x="749" y="283"/>
                    </a:cubicBezTo>
                    <a:cubicBezTo>
                      <a:pt x="750" y="284"/>
                      <a:pt x="750" y="284"/>
                      <a:pt x="751" y="284"/>
                    </a:cubicBezTo>
                    <a:cubicBezTo>
                      <a:pt x="752" y="284"/>
                      <a:pt x="752" y="284"/>
                      <a:pt x="753" y="284"/>
                    </a:cubicBezTo>
                    <a:cubicBezTo>
                      <a:pt x="753" y="285"/>
                      <a:pt x="754" y="284"/>
                      <a:pt x="754" y="284"/>
                    </a:cubicBezTo>
                    <a:cubicBezTo>
                      <a:pt x="755" y="284"/>
                      <a:pt x="755" y="285"/>
                      <a:pt x="756" y="284"/>
                    </a:cubicBezTo>
                    <a:cubicBezTo>
                      <a:pt x="756" y="284"/>
                      <a:pt x="757" y="284"/>
                      <a:pt x="757" y="285"/>
                    </a:cubicBezTo>
                    <a:cubicBezTo>
                      <a:pt x="758" y="285"/>
                      <a:pt x="758" y="285"/>
                      <a:pt x="758" y="285"/>
                    </a:cubicBezTo>
                    <a:cubicBezTo>
                      <a:pt x="759" y="284"/>
                      <a:pt x="759" y="284"/>
                      <a:pt x="759" y="284"/>
                    </a:cubicBezTo>
                    <a:cubicBezTo>
                      <a:pt x="760" y="285"/>
                      <a:pt x="761" y="285"/>
                      <a:pt x="760" y="285"/>
                    </a:cubicBezTo>
                    <a:cubicBezTo>
                      <a:pt x="758" y="285"/>
                      <a:pt x="760" y="286"/>
                      <a:pt x="760" y="286"/>
                    </a:cubicBezTo>
                    <a:cubicBezTo>
                      <a:pt x="761" y="286"/>
                      <a:pt x="762" y="285"/>
                      <a:pt x="763" y="285"/>
                    </a:cubicBezTo>
                    <a:cubicBezTo>
                      <a:pt x="764" y="285"/>
                      <a:pt x="769" y="288"/>
                      <a:pt x="766" y="287"/>
                    </a:cubicBezTo>
                    <a:cubicBezTo>
                      <a:pt x="763" y="286"/>
                      <a:pt x="763" y="286"/>
                      <a:pt x="762" y="286"/>
                    </a:cubicBezTo>
                    <a:cubicBezTo>
                      <a:pt x="762" y="287"/>
                      <a:pt x="761" y="287"/>
                      <a:pt x="760" y="287"/>
                    </a:cubicBezTo>
                    <a:cubicBezTo>
                      <a:pt x="759" y="287"/>
                      <a:pt x="756" y="287"/>
                      <a:pt x="755" y="287"/>
                    </a:cubicBezTo>
                    <a:cubicBezTo>
                      <a:pt x="755" y="287"/>
                      <a:pt x="747" y="287"/>
                      <a:pt x="747" y="287"/>
                    </a:cubicBezTo>
                    <a:cubicBezTo>
                      <a:pt x="746" y="287"/>
                      <a:pt x="742" y="283"/>
                      <a:pt x="741" y="282"/>
                    </a:cubicBezTo>
                    <a:cubicBezTo>
                      <a:pt x="740" y="282"/>
                      <a:pt x="738" y="281"/>
                      <a:pt x="739" y="280"/>
                    </a:cubicBezTo>
                    <a:cubicBezTo>
                      <a:pt x="739" y="280"/>
                      <a:pt x="739" y="280"/>
                      <a:pt x="740" y="280"/>
                    </a:cubicBezTo>
                    <a:cubicBezTo>
                      <a:pt x="740" y="280"/>
                      <a:pt x="741" y="280"/>
                      <a:pt x="741" y="279"/>
                    </a:cubicBezTo>
                    <a:cubicBezTo>
                      <a:pt x="741" y="278"/>
                      <a:pt x="741" y="274"/>
                      <a:pt x="741" y="273"/>
                    </a:cubicBezTo>
                    <a:cubicBezTo>
                      <a:pt x="741" y="271"/>
                      <a:pt x="743" y="270"/>
                      <a:pt x="742" y="269"/>
                    </a:cubicBezTo>
                    <a:cubicBezTo>
                      <a:pt x="741" y="269"/>
                      <a:pt x="739" y="269"/>
                      <a:pt x="740" y="267"/>
                    </a:cubicBezTo>
                    <a:cubicBezTo>
                      <a:pt x="741" y="265"/>
                      <a:pt x="742" y="262"/>
                      <a:pt x="741" y="262"/>
                    </a:cubicBezTo>
                    <a:cubicBezTo>
                      <a:pt x="740" y="261"/>
                      <a:pt x="739" y="260"/>
                      <a:pt x="739" y="260"/>
                    </a:cubicBezTo>
                    <a:cubicBezTo>
                      <a:pt x="739" y="261"/>
                      <a:pt x="739" y="261"/>
                      <a:pt x="739" y="260"/>
                    </a:cubicBezTo>
                    <a:cubicBezTo>
                      <a:pt x="738" y="260"/>
                      <a:pt x="738" y="259"/>
                      <a:pt x="737" y="259"/>
                    </a:cubicBezTo>
                    <a:cubicBezTo>
                      <a:pt x="736" y="259"/>
                      <a:pt x="732" y="252"/>
                      <a:pt x="732" y="252"/>
                    </a:cubicBezTo>
                    <a:cubicBezTo>
                      <a:pt x="731" y="251"/>
                      <a:pt x="731" y="250"/>
                      <a:pt x="730" y="250"/>
                    </a:cubicBezTo>
                    <a:cubicBezTo>
                      <a:pt x="729" y="250"/>
                      <a:pt x="729" y="250"/>
                      <a:pt x="728" y="250"/>
                    </a:cubicBezTo>
                    <a:cubicBezTo>
                      <a:pt x="727" y="250"/>
                      <a:pt x="724" y="250"/>
                      <a:pt x="723" y="251"/>
                    </a:cubicBezTo>
                    <a:cubicBezTo>
                      <a:pt x="722" y="251"/>
                      <a:pt x="721" y="251"/>
                      <a:pt x="720" y="251"/>
                    </a:cubicBezTo>
                    <a:cubicBezTo>
                      <a:pt x="720" y="251"/>
                      <a:pt x="716" y="253"/>
                      <a:pt x="715" y="253"/>
                    </a:cubicBezTo>
                    <a:cubicBezTo>
                      <a:pt x="714" y="253"/>
                      <a:pt x="702" y="257"/>
                      <a:pt x="702" y="257"/>
                    </a:cubicBezTo>
                    <a:cubicBezTo>
                      <a:pt x="701" y="257"/>
                      <a:pt x="699" y="257"/>
                      <a:pt x="699" y="258"/>
                    </a:cubicBezTo>
                    <a:cubicBezTo>
                      <a:pt x="699" y="259"/>
                      <a:pt x="699" y="260"/>
                      <a:pt x="699" y="260"/>
                    </a:cubicBezTo>
                    <a:cubicBezTo>
                      <a:pt x="699" y="260"/>
                      <a:pt x="698" y="261"/>
                      <a:pt x="699" y="261"/>
                    </a:cubicBezTo>
                    <a:cubicBezTo>
                      <a:pt x="700" y="261"/>
                      <a:pt x="700" y="262"/>
                      <a:pt x="699" y="263"/>
                    </a:cubicBezTo>
                    <a:cubicBezTo>
                      <a:pt x="699" y="264"/>
                      <a:pt x="696" y="266"/>
                      <a:pt x="699" y="267"/>
                    </a:cubicBezTo>
                    <a:cubicBezTo>
                      <a:pt x="702" y="268"/>
                      <a:pt x="703" y="271"/>
                      <a:pt x="704" y="272"/>
                    </a:cubicBezTo>
                    <a:cubicBezTo>
                      <a:pt x="704" y="273"/>
                      <a:pt x="704" y="274"/>
                      <a:pt x="704" y="275"/>
                    </a:cubicBezTo>
                    <a:cubicBezTo>
                      <a:pt x="705" y="276"/>
                      <a:pt x="705" y="278"/>
                      <a:pt x="705" y="279"/>
                    </a:cubicBezTo>
                    <a:cubicBezTo>
                      <a:pt x="705" y="280"/>
                      <a:pt x="704" y="284"/>
                      <a:pt x="703" y="284"/>
                    </a:cubicBezTo>
                    <a:cubicBezTo>
                      <a:pt x="702" y="285"/>
                      <a:pt x="693" y="291"/>
                      <a:pt x="692" y="293"/>
                    </a:cubicBezTo>
                    <a:cubicBezTo>
                      <a:pt x="691" y="295"/>
                      <a:pt x="692" y="294"/>
                      <a:pt x="692" y="295"/>
                    </a:cubicBezTo>
                    <a:cubicBezTo>
                      <a:pt x="692" y="296"/>
                      <a:pt x="691" y="300"/>
                      <a:pt x="691" y="300"/>
                    </a:cubicBezTo>
                    <a:cubicBezTo>
                      <a:pt x="691" y="301"/>
                      <a:pt x="690" y="302"/>
                      <a:pt x="689" y="302"/>
                    </a:cubicBezTo>
                    <a:cubicBezTo>
                      <a:pt x="689" y="302"/>
                      <a:pt x="688" y="303"/>
                      <a:pt x="687" y="303"/>
                    </a:cubicBezTo>
                    <a:cubicBezTo>
                      <a:pt x="686" y="304"/>
                      <a:pt x="685" y="305"/>
                      <a:pt x="684" y="306"/>
                    </a:cubicBezTo>
                    <a:cubicBezTo>
                      <a:pt x="684" y="306"/>
                      <a:pt x="680" y="306"/>
                      <a:pt x="679" y="308"/>
                    </a:cubicBezTo>
                    <a:cubicBezTo>
                      <a:pt x="677" y="310"/>
                      <a:pt x="677" y="310"/>
                      <a:pt x="676" y="310"/>
                    </a:cubicBezTo>
                    <a:cubicBezTo>
                      <a:pt x="676" y="310"/>
                      <a:pt x="676" y="309"/>
                      <a:pt x="675" y="310"/>
                    </a:cubicBezTo>
                    <a:cubicBezTo>
                      <a:pt x="674" y="311"/>
                      <a:pt x="674" y="310"/>
                      <a:pt x="673" y="310"/>
                    </a:cubicBezTo>
                    <a:cubicBezTo>
                      <a:pt x="673" y="310"/>
                      <a:pt x="669" y="312"/>
                      <a:pt x="669" y="313"/>
                    </a:cubicBezTo>
                    <a:cubicBezTo>
                      <a:pt x="668" y="313"/>
                      <a:pt x="668" y="313"/>
                      <a:pt x="668" y="313"/>
                    </a:cubicBezTo>
                    <a:cubicBezTo>
                      <a:pt x="669" y="314"/>
                      <a:pt x="668" y="314"/>
                      <a:pt x="668" y="315"/>
                    </a:cubicBezTo>
                    <a:cubicBezTo>
                      <a:pt x="668" y="315"/>
                      <a:pt x="668" y="317"/>
                      <a:pt x="668" y="317"/>
                    </a:cubicBezTo>
                    <a:cubicBezTo>
                      <a:pt x="668" y="318"/>
                      <a:pt x="668" y="318"/>
                      <a:pt x="667" y="319"/>
                    </a:cubicBezTo>
                    <a:cubicBezTo>
                      <a:pt x="666" y="319"/>
                      <a:pt x="664" y="320"/>
                      <a:pt x="664" y="320"/>
                    </a:cubicBezTo>
                    <a:cubicBezTo>
                      <a:pt x="664" y="320"/>
                      <a:pt x="663" y="320"/>
                      <a:pt x="662" y="320"/>
                    </a:cubicBezTo>
                    <a:cubicBezTo>
                      <a:pt x="662" y="320"/>
                      <a:pt x="662" y="319"/>
                      <a:pt x="661" y="320"/>
                    </a:cubicBezTo>
                    <a:cubicBezTo>
                      <a:pt x="661" y="320"/>
                      <a:pt x="660" y="320"/>
                      <a:pt x="660" y="319"/>
                    </a:cubicBezTo>
                    <a:cubicBezTo>
                      <a:pt x="660" y="318"/>
                      <a:pt x="658" y="318"/>
                      <a:pt x="657" y="318"/>
                    </a:cubicBezTo>
                    <a:cubicBezTo>
                      <a:pt x="657" y="318"/>
                      <a:pt x="653" y="316"/>
                      <a:pt x="651" y="317"/>
                    </a:cubicBezTo>
                    <a:cubicBezTo>
                      <a:pt x="650" y="317"/>
                      <a:pt x="648" y="316"/>
                      <a:pt x="644" y="317"/>
                    </a:cubicBezTo>
                    <a:cubicBezTo>
                      <a:pt x="640" y="318"/>
                      <a:pt x="637" y="317"/>
                      <a:pt x="636" y="317"/>
                    </a:cubicBezTo>
                    <a:cubicBezTo>
                      <a:pt x="635" y="317"/>
                      <a:pt x="634" y="316"/>
                      <a:pt x="633" y="316"/>
                    </a:cubicBezTo>
                    <a:cubicBezTo>
                      <a:pt x="632" y="316"/>
                      <a:pt x="631" y="313"/>
                      <a:pt x="626" y="313"/>
                    </a:cubicBezTo>
                    <a:cubicBezTo>
                      <a:pt x="626" y="313"/>
                      <a:pt x="623" y="313"/>
                      <a:pt x="621" y="311"/>
                    </a:cubicBezTo>
                    <a:cubicBezTo>
                      <a:pt x="619" y="310"/>
                      <a:pt x="620" y="309"/>
                      <a:pt x="619" y="308"/>
                    </a:cubicBezTo>
                    <a:cubicBezTo>
                      <a:pt x="618" y="307"/>
                      <a:pt x="617" y="306"/>
                      <a:pt x="619" y="306"/>
                    </a:cubicBezTo>
                    <a:cubicBezTo>
                      <a:pt x="622" y="306"/>
                      <a:pt x="629" y="305"/>
                      <a:pt x="631" y="305"/>
                    </a:cubicBezTo>
                    <a:cubicBezTo>
                      <a:pt x="632" y="304"/>
                      <a:pt x="632" y="305"/>
                      <a:pt x="633" y="305"/>
                    </a:cubicBezTo>
                    <a:cubicBezTo>
                      <a:pt x="633" y="306"/>
                      <a:pt x="637" y="309"/>
                      <a:pt x="638" y="309"/>
                    </a:cubicBezTo>
                    <a:cubicBezTo>
                      <a:pt x="640" y="309"/>
                      <a:pt x="641" y="309"/>
                      <a:pt x="641" y="309"/>
                    </a:cubicBezTo>
                    <a:cubicBezTo>
                      <a:pt x="641" y="308"/>
                      <a:pt x="640" y="308"/>
                      <a:pt x="641" y="308"/>
                    </a:cubicBezTo>
                    <a:cubicBezTo>
                      <a:pt x="642" y="307"/>
                      <a:pt x="642" y="307"/>
                      <a:pt x="643" y="307"/>
                    </a:cubicBezTo>
                    <a:cubicBezTo>
                      <a:pt x="644" y="307"/>
                      <a:pt x="658" y="304"/>
                      <a:pt x="658" y="304"/>
                    </a:cubicBezTo>
                    <a:cubicBezTo>
                      <a:pt x="658" y="304"/>
                      <a:pt x="659" y="303"/>
                      <a:pt x="660" y="303"/>
                    </a:cubicBezTo>
                    <a:cubicBezTo>
                      <a:pt x="660" y="302"/>
                      <a:pt x="661" y="301"/>
                      <a:pt x="662" y="301"/>
                    </a:cubicBezTo>
                    <a:cubicBezTo>
                      <a:pt x="662" y="300"/>
                      <a:pt x="665" y="298"/>
                      <a:pt x="666" y="298"/>
                    </a:cubicBezTo>
                    <a:cubicBezTo>
                      <a:pt x="666" y="297"/>
                      <a:pt x="667" y="297"/>
                      <a:pt x="666" y="296"/>
                    </a:cubicBezTo>
                    <a:cubicBezTo>
                      <a:pt x="666" y="296"/>
                      <a:pt x="666" y="295"/>
                      <a:pt x="667" y="294"/>
                    </a:cubicBezTo>
                    <a:cubicBezTo>
                      <a:pt x="667" y="294"/>
                      <a:pt x="669" y="293"/>
                      <a:pt x="669" y="292"/>
                    </a:cubicBezTo>
                    <a:cubicBezTo>
                      <a:pt x="669" y="291"/>
                      <a:pt x="670" y="290"/>
                      <a:pt x="670" y="290"/>
                    </a:cubicBezTo>
                    <a:cubicBezTo>
                      <a:pt x="671" y="290"/>
                      <a:pt x="679" y="284"/>
                      <a:pt x="679" y="284"/>
                    </a:cubicBezTo>
                    <a:cubicBezTo>
                      <a:pt x="679" y="284"/>
                      <a:pt x="681" y="283"/>
                      <a:pt x="680" y="282"/>
                    </a:cubicBezTo>
                    <a:cubicBezTo>
                      <a:pt x="679" y="281"/>
                      <a:pt x="678" y="281"/>
                      <a:pt x="680" y="280"/>
                    </a:cubicBezTo>
                    <a:cubicBezTo>
                      <a:pt x="681" y="280"/>
                      <a:pt x="681" y="279"/>
                      <a:pt x="681" y="278"/>
                    </a:cubicBezTo>
                    <a:cubicBezTo>
                      <a:pt x="681" y="277"/>
                      <a:pt x="680" y="275"/>
                      <a:pt x="680" y="274"/>
                    </a:cubicBezTo>
                    <a:cubicBezTo>
                      <a:pt x="679" y="274"/>
                      <a:pt x="678" y="273"/>
                      <a:pt x="680" y="272"/>
                    </a:cubicBezTo>
                    <a:cubicBezTo>
                      <a:pt x="681" y="271"/>
                      <a:pt x="687" y="265"/>
                      <a:pt x="687" y="265"/>
                    </a:cubicBezTo>
                    <a:cubicBezTo>
                      <a:pt x="687" y="265"/>
                      <a:pt x="689" y="263"/>
                      <a:pt x="686" y="261"/>
                    </a:cubicBezTo>
                    <a:cubicBezTo>
                      <a:pt x="682" y="259"/>
                      <a:pt x="683" y="259"/>
                      <a:pt x="682" y="258"/>
                    </a:cubicBezTo>
                    <a:cubicBezTo>
                      <a:pt x="681" y="258"/>
                      <a:pt x="679" y="256"/>
                      <a:pt x="678" y="256"/>
                    </a:cubicBezTo>
                    <a:cubicBezTo>
                      <a:pt x="676" y="255"/>
                      <a:pt x="671" y="252"/>
                      <a:pt x="671" y="249"/>
                    </a:cubicBezTo>
                    <a:cubicBezTo>
                      <a:pt x="671" y="246"/>
                      <a:pt x="672" y="246"/>
                      <a:pt x="672" y="244"/>
                    </a:cubicBezTo>
                    <a:cubicBezTo>
                      <a:pt x="673" y="243"/>
                      <a:pt x="673" y="242"/>
                      <a:pt x="672" y="241"/>
                    </a:cubicBezTo>
                    <a:cubicBezTo>
                      <a:pt x="672" y="240"/>
                      <a:pt x="672" y="239"/>
                      <a:pt x="672" y="239"/>
                    </a:cubicBezTo>
                    <a:cubicBezTo>
                      <a:pt x="672" y="239"/>
                      <a:pt x="672" y="237"/>
                      <a:pt x="672" y="235"/>
                    </a:cubicBezTo>
                    <a:cubicBezTo>
                      <a:pt x="671" y="234"/>
                      <a:pt x="671" y="234"/>
                      <a:pt x="672" y="233"/>
                    </a:cubicBezTo>
                    <a:cubicBezTo>
                      <a:pt x="672" y="232"/>
                      <a:pt x="674" y="228"/>
                      <a:pt x="673" y="226"/>
                    </a:cubicBezTo>
                    <a:cubicBezTo>
                      <a:pt x="672" y="225"/>
                      <a:pt x="670" y="225"/>
                      <a:pt x="671" y="223"/>
                    </a:cubicBezTo>
                    <a:cubicBezTo>
                      <a:pt x="672" y="221"/>
                      <a:pt x="673" y="219"/>
                      <a:pt x="672" y="218"/>
                    </a:cubicBezTo>
                    <a:cubicBezTo>
                      <a:pt x="670" y="217"/>
                      <a:pt x="669" y="216"/>
                      <a:pt x="671" y="214"/>
                    </a:cubicBezTo>
                    <a:cubicBezTo>
                      <a:pt x="673" y="213"/>
                      <a:pt x="675" y="213"/>
                      <a:pt x="674" y="212"/>
                    </a:cubicBezTo>
                    <a:cubicBezTo>
                      <a:pt x="674" y="211"/>
                      <a:pt x="674" y="210"/>
                      <a:pt x="675" y="210"/>
                    </a:cubicBezTo>
                    <a:cubicBezTo>
                      <a:pt x="675" y="209"/>
                      <a:pt x="674" y="209"/>
                      <a:pt x="674" y="209"/>
                    </a:cubicBezTo>
                    <a:cubicBezTo>
                      <a:pt x="674" y="208"/>
                      <a:pt x="674" y="207"/>
                      <a:pt x="674" y="207"/>
                    </a:cubicBezTo>
                    <a:cubicBezTo>
                      <a:pt x="674" y="207"/>
                      <a:pt x="675" y="203"/>
                      <a:pt x="675" y="202"/>
                    </a:cubicBezTo>
                    <a:cubicBezTo>
                      <a:pt x="675" y="201"/>
                      <a:pt x="676" y="200"/>
                      <a:pt x="675" y="199"/>
                    </a:cubicBezTo>
                    <a:cubicBezTo>
                      <a:pt x="674" y="198"/>
                      <a:pt x="674" y="197"/>
                      <a:pt x="673" y="197"/>
                    </a:cubicBezTo>
                    <a:cubicBezTo>
                      <a:pt x="672" y="196"/>
                      <a:pt x="672" y="196"/>
                      <a:pt x="673" y="195"/>
                    </a:cubicBezTo>
                    <a:cubicBezTo>
                      <a:pt x="673" y="194"/>
                      <a:pt x="673" y="193"/>
                      <a:pt x="672" y="193"/>
                    </a:cubicBezTo>
                    <a:cubicBezTo>
                      <a:pt x="671" y="192"/>
                      <a:pt x="667" y="191"/>
                      <a:pt x="666" y="190"/>
                    </a:cubicBezTo>
                    <a:cubicBezTo>
                      <a:pt x="665" y="189"/>
                      <a:pt x="662" y="187"/>
                      <a:pt x="661" y="186"/>
                    </a:cubicBezTo>
                    <a:cubicBezTo>
                      <a:pt x="661" y="184"/>
                      <a:pt x="660" y="183"/>
                      <a:pt x="661" y="182"/>
                    </a:cubicBezTo>
                    <a:cubicBezTo>
                      <a:pt x="662" y="181"/>
                      <a:pt x="662" y="181"/>
                      <a:pt x="663" y="181"/>
                    </a:cubicBezTo>
                    <a:cubicBezTo>
                      <a:pt x="664" y="181"/>
                      <a:pt x="665" y="180"/>
                      <a:pt x="666" y="180"/>
                    </a:cubicBezTo>
                    <a:cubicBezTo>
                      <a:pt x="666" y="179"/>
                      <a:pt x="667" y="177"/>
                      <a:pt x="668" y="176"/>
                    </a:cubicBezTo>
                    <a:cubicBezTo>
                      <a:pt x="668" y="175"/>
                      <a:pt x="668" y="173"/>
                      <a:pt x="669" y="173"/>
                    </a:cubicBezTo>
                    <a:cubicBezTo>
                      <a:pt x="669" y="172"/>
                      <a:pt x="670" y="172"/>
                      <a:pt x="670" y="171"/>
                    </a:cubicBezTo>
                    <a:cubicBezTo>
                      <a:pt x="670" y="171"/>
                      <a:pt x="672" y="167"/>
                      <a:pt x="673" y="165"/>
                    </a:cubicBezTo>
                    <a:cubicBezTo>
                      <a:pt x="674" y="164"/>
                      <a:pt x="676" y="162"/>
                      <a:pt x="676" y="160"/>
                    </a:cubicBezTo>
                    <a:cubicBezTo>
                      <a:pt x="675" y="159"/>
                      <a:pt x="675" y="158"/>
                      <a:pt x="675" y="158"/>
                    </a:cubicBezTo>
                    <a:cubicBezTo>
                      <a:pt x="675" y="157"/>
                      <a:pt x="675" y="153"/>
                      <a:pt x="675" y="152"/>
                    </a:cubicBezTo>
                    <a:cubicBezTo>
                      <a:pt x="675" y="151"/>
                      <a:pt x="675" y="149"/>
                      <a:pt x="674" y="149"/>
                    </a:cubicBezTo>
                    <a:cubicBezTo>
                      <a:pt x="673" y="149"/>
                      <a:pt x="671" y="148"/>
                      <a:pt x="670" y="148"/>
                    </a:cubicBezTo>
                    <a:cubicBezTo>
                      <a:pt x="670" y="148"/>
                      <a:pt x="667" y="147"/>
                      <a:pt x="667" y="147"/>
                    </a:cubicBezTo>
                    <a:cubicBezTo>
                      <a:pt x="667" y="147"/>
                      <a:pt x="665" y="146"/>
                      <a:pt x="664" y="146"/>
                    </a:cubicBezTo>
                    <a:cubicBezTo>
                      <a:pt x="664" y="147"/>
                      <a:pt x="662" y="147"/>
                      <a:pt x="662" y="147"/>
                    </a:cubicBezTo>
                    <a:cubicBezTo>
                      <a:pt x="661" y="147"/>
                      <a:pt x="661" y="147"/>
                      <a:pt x="662" y="146"/>
                    </a:cubicBezTo>
                    <a:cubicBezTo>
                      <a:pt x="663" y="146"/>
                      <a:pt x="663" y="146"/>
                      <a:pt x="662" y="146"/>
                    </a:cubicBezTo>
                    <a:cubicBezTo>
                      <a:pt x="661" y="145"/>
                      <a:pt x="659" y="145"/>
                      <a:pt x="658" y="145"/>
                    </a:cubicBezTo>
                    <a:cubicBezTo>
                      <a:pt x="657" y="144"/>
                      <a:pt x="655" y="144"/>
                      <a:pt x="654" y="144"/>
                    </a:cubicBezTo>
                    <a:cubicBezTo>
                      <a:pt x="653" y="144"/>
                      <a:pt x="652" y="145"/>
                      <a:pt x="651" y="144"/>
                    </a:cubicBezTo>
                    <a:cubicBezTo>
                      <a:pt x="651" y="144"/>
                      <a:pt x="650" y="144"/>
                      <a:pt x="650" y="144"/>
                    </a:cubicBezTo>
                    <a:cubicBezTo>
                      <a:pt x="649" y="144"/>
                      <a:pt x="647" y="144"/>
                      <a:pt x="646" y="144"/>
                    </a:cubicBezTo>
                    <a:cubicBezTo>
                      <a:pt x="645" y="145"/>
                      <a:pt x="642" y="145"/>
                      <a:pt x="641" y="144"/>
                    </a:cubicBezTo>
                    <a:cubicBezTo>
                      <a:pt x="640" y="144"/>
                      <a:pt x="636" y="144"/>
                      <a:pt x="635" y="144"/>
                    </a:cubicBezTo>
                    <a:cubicBezTo>
                      <a:pt x="634" y="145"/>
                      <a:pt x="633" y="144"/>
                      <a:pt x="633" y="144"/>
                    </a:cubicBezTo>
                    <a:cubicBezTo>
                      <a:pt x="632" y="144"/>
                      <a:pt x="631" y="145"/>
                      <a:pt x="630" y="145"/>
                    </a:cubicBezTo>
                    <a:cubicBezTo>
                      <a:pt x="629" y="145"/>
                      <a:pt x="625" y="145"/>
                      <a:pt x="628" y="144"/>
                    </a:cubicBezTo>
                    <a:cubicBezTo>
                      <a:pt x="631" y="143"/>
                      <a:pt x="630" y="142"/>
                      <a:pt x="629" y="142"/>
                    </a:cubicBezTo>
                    <a:cubicBezTo>
                      <a:pt x="628" y="142"/>
                      <a:pt x="626" y="142"/>
                      <a:pt x="626" y="142"/>
                    </a:cubicBezTo>
                    <a:cubicBezTo>
                      <a:pt x="625" y="142"/>
                      <a:pt x="623" y="142"/>
                      <a:pt x="623" y="144"/>
                    </a:cubicBezTo>
                    <a:cubicBezTo>
                      <a:pt x="623" y="145"/>
                      <a:pt x="623" y="146"/>
                      <a:pt x="622" y="146"/>
                    </a:cubicBezTo>
                    <a:cubicBezTo>
                      <a:pt x="622" y="146"/>
                      <a:pt x="622" y="148"/>
                      <a:pt x="621" y="148"/>
                    </a:cubicBezTo>
                    <a:cubicBezTo>
                      <a:pt x="621" y="148"/>
                      <a:pt x="619" y="149"/>
                      <a:pt x="619" y="149"/>
                    </a:cubicBezTo>
                    <a:cubicBezTo>
                      <a:pt x="619" y="150"/>
                      <a:pt x="620" y="151"/>
                      <a:pt x="619" y="151"/>
                    </a:cubicBezTo>
                    <a:cubicBezTo>
                      <a:pt x="618" y="151"/>
                      <a:pt x="618" y="152"/>
                      <a:pt x="618" y="153"/>
                    </a:cubicBezTo>
                    <a:cubicBezTo>
                      <a:pt x="617" y="153"/>
                      <a:pt x="618" y="155"/>
                      <a:pt x="617" y="156"/>
                    </a:cubicBezTo>
                    <a:cubicBezTo>
                      <a:pt x="617" y="156"/>
                      <a:pt x="616" y="157"/>
                      <a:pt x="616" y="158"/>
                    </a:cubicBezTo>
                    <a:cubicBezTo>
                      <a:pt x="616" y="158"/>
                      <a:pt x="616" y="160"/>
                      <a:pt x="616" y="161"/>
                    </a:cubicBezTo>
                    <a:cubicBezTo>
                      <a:pt x="615" y="161"/>
                      <a:pt x="614" y="163"/>
                      <a:pt x="614" y="164"/>
                    </a:cubicBezTo>
                    <a:cubicBezTo>
                      <a:pt x="614" y="165"/>
                      <a:pt x="614" y="166"/>
                      <a:pt x="613" y="167"/>
                    </a:cubicBezTo>
                    <a:cubicBezTo>
                      <a:pt x="613" y="168"/>
                      <a:pt x="613" y="169"/>
                      <a:pt x="613" y="169"/>
                    </a:cubicBezTo>
                    <a:cubicBezTo>
                      <a:pt x="612" y="170"/>
                      <a:pt x="612" y="170"/>
                      <a:pt x="612" y="171"/>
                    </a:cubicBezTo>
                    <a:cubicBezTo>
                      <a:pt x="612" y="171"/>
                      <a:pt x="612" y="172"/>
                      <a:pt x="611" y="172"/>
                    </a:cubicBezTo>
                    <a:cubicBezTo>
                      <a:pt x="611" y="173"/>
                      <a:pt x="611" y="174"/>
                      <a:pt x="611" y="175"/>
                    </a:cubicBezTo>
                    <a:cubicBezTo>
                      <a:pt x="610" y="175"/>
                      <a:pt x="609" y="176"/>
                      <a:pt x="609" y="177"/>
                    </a:cubicBezTo>
                    <a:cubicBezTo>
                      <a:pt x="609" y="178"/>
                      <a:pt x="609" y="178"/>
                      <a:pt x="608" y="178"/>
                    </a:cubicBezTo>
                    <a:cubicBezTo>
                      <a:pt x="607" y="178"/>
                      <a:pt x="607" y="179"/>
                      <a:pt x="606" y="179"/>
                    </a:cubicBezTo>
                    <a:cubicBezTo>
                      <a:pt x="606" y="180"/>
                      <a:pt x="603" y="182"/>
                      <a:pt x="603" y="183"/>
                    </a:cubicBezTo>
                    <a:cubicBezTo>
                      <a:pt x="602" y="183"/>
                      <a:pt x="601" y="183"/>
                      <a:pt x="600" y="184"/>
                    </a:cubicBezTo>
                    <a:cubicBezTo>
                      <a:pt x="600" y="185"/>
                      <a:pt x="599" y="184"/>
                      <a:pt x="599" y="185"/>
                    </a:cubicBezTo>
                    <a:cubicBezTo>
                      <a:pt x="598" y="185"/>
                      <a:pt x="597" y="185"/>
                      <a:pt x="597" y="185"/>
                    </a:cubicBezTo>
                    <a:cubicBezTo>
                      <a:pt x="597" y="186"/>
                      <a:pt x="597" y="186"/>
                      <a:pt x="597" y="186"/>
                    </a:cubicBezTo>
                    <a:cubicBezTo>
                      <a:pt x="596" y="186"/>
                      <a:pt x="596" y="186"/>
                      <a:pt x="595" y="187"/>
                    </a:cubicBezTo>
                    <a:cubicBezTo>
                      <a:pt x="594" y="187"/>
                      <a:pt x="593" y="188"/>
                      <a:pt x="592" y="188"/>
                    </a:cubicBezTo>
                    <a:cubicBezTo>
                      <a:pt x="592" y="188"/>
                      <a:pt x="590" y="188"/>
                      <a:pt x="589" y="189"/>
                    </a:cubicBezTo>
                    <a:cubicBezTo>
                      <a:pt x="589" y="189"/>
                      <a:pt x="587" y="189"/>
                      <a:pt x="587" y="190"/>
                    </a:cubicBezTo>
                    <a:cubicBezTo>
                      <a:pt x="586" y="191"/>
                      <a:pt x="586" y="193"/>
                      <a:pt x="585" y="193"/>
                    </a:cubicBezTo>
                    <a:cubicBezTo>
                      <a:pt x="584" y="194"/>
                      <a:pt x="584" y="195"/>
                      <a:pt x="584" y="196"/>
                    </a:cubicBezTo>
                    <a:cubicBezTo>
                      <a:pt x="583" y="196"/>
                      <a:pt x="583" y="197"/>
                      <a:pt x="584" y="197"/>
                    </a:cubicBezTo>
                    <a:cubicBezTo>
                      <a:pt x="585" y="197"/>
                      <a:pt x="585" y="196"/>
                      <a:pt x="585" y="196"/>
                    </a:cubicBezTo>
                    <a:cubicBezTo>
                      <a:pt x="585" y="195"/>
                      <a:pt x="586" y="195"/>
                      <a:pt x="586" y="195"/>
                    </a:cubicBezTo>
                    <a:cubicBezTo>
                      <a:pt x="587" y="195"/>
                      <a:pt x="587" y="196"/>
                      <a:pt x="586" y="197"/>
                    </a:cubicBezTo>
                    <a:cubicBezTo>
                      <a:pt x="586" y="197"/>
                      <a:pt x="585" y="199"/>
                      <a:pt x="584" y="199"/>
                    </a:cubicBezTo>
                    <a:cubicBezTo>
                      <a:pt x="584" y="200"/>
                      <a:pt x="582" y="200"/>
                      <a:pt x="583" y="201"/>
                    </a:cubicBezTo>
                    <a:cubicBezTo>
                      <a:pt x="584" y="201"/>
                      <a:pt x="584" y="202"/>
                      <a:pt x="584" y="203"/>
                    </a:cubicBezTo>
                    <a:cubicBezTo>
                      <a:pt x="584" y="203"/>
                      <a:pt x="584" y="203"/>
                      <a:pt x="585" y="203"/>
                    </a:cubicBezTo>
                    <a:cubicBezTo>
                      <a:pt x="586" y="202"/>
                      <a:pt x="587" y="203"/>
                      <a:pt x="588" y="202"/>
                    </a:cubicBezTo>
                    <a:cubicBezTo>
                      <a:pt x="588" y="202"/>
                      <a:pt x="589" y="202"/>
                      <a:pt x="590" y="202"/>
                    </a:cubicBezTo>
                    <a:cubicBezTo>
                      <a:pt x="590" y="202"/>
                      <a:pt x="591" y="201"/>
                      <a:pt x="592" y="202"/>
                    </a:cubicBezTo>
                    <a:cubicBezTo>
                      <a:pt x="592" y="202"/>
                      <a:pt x="595" y="203"/>
                      <a:pt x="594" y="205"/>
                    </a:cubicBezTo>
                    <a:cubicBezTo>
                      <a:pt x="592" y="208"/>
                      <a:pt x="592" y="208"/>
                      <a:pt x="593" y="209"/>
                    </a:cubicBezTo>
                    <a:cubicBezTo>
                      <a:pt x="593" y="211"/>
                      <a:pt x="593" y="212"/>
                      <a:pt x="593" y="212"/>
                    </a:cubicBezTo>
                    <a:cubicBezTo>
                      <a:pt x="592" y="212"/>
                      <a:pt x="593" y="213"/>
                      <a:pt x="592" y="213"/>
                    </a:cubicBezTo>
                    <a:cubicBezTo>
                      <a:pt x="591" y="214"/>
                      <a:pt x="591" y="216"/>
                      <a:pt x="591" y="216"/>
                    </a:cubicBezTo>
                    <a:cubicBezTo>
                      <a:pt x="591" y="217"/>
                      <a:pt x="590" y="218"/>
                      <a:pt x="591" y="219"/>
                    </a:cubicBezTo>
                    <a:cubicBezTo>
                      <a:pt x="592" y="219"/>
                      <a:pt x="594" y="221"/>
                      <a:pt x="593" y="222"/>
                    </a:cubicBezTo>
                    <a:cubicBezTo>
                      <a:pt x="593" y="222"/>
                      <a:pt x="591" y="225"/>
                      <a:pt x="590" y="224"/>
                    </a:cubicBezTo>
                    <a:cubicBezTo>
                      <a:pt x="589" y="222"/>
                      <a:pt x="588" y="221"/>
                      <a:pt x="587" y="223"/>
                    </a:cubicBezTo>
                    <a:cubicBezTo>
                      <a:pt x="587" y="224"/>
                      <a:pt x="586" y="225"/>
                      <a:pt x="586" y="227"/>
                    </a:cubicBezTo>
                    <a:cubicBezTo>
                      <a:pt x="586" y="229"/>
                      <a:pt x="585" y="231"/>
                      <a:pt x="585" y="232"/>
                    </a:cubicBezTo>
                    <a:cubicBezTo>
                      <a:pt x="585" y="233"/>
                      <a:pt x="586" y="237"/>
                      <a:pt x="586" y="235"/>
                    </a:cubicBezTo>
                    <a:cubicBezTo>
                      <a:pt x="587" y="234"/>
                      <a:pt x="586" y="234"/>
                      <a:pt x="587" y="234"/>
                    </a:cubicBezTo>
                    <a:cubicBezTo>
                      <a:pt x="588" y="234"/>
                      <a:pt x="588" y="234"/>
                      <a:pt x="589" y="232"/>
                    </a:cubicBezTo>
                    <a:cubicBezTo>
                      <a:pt x="589" y="231"/>
                      <a:pt x="590" y="232"/>
                      <a:pt x="591" y="232"/>
                    </a:cubicBezTo>
                    <a:cubicBezTo>
                      <a:pt x="592" y="233"/>
                      <a:pt x="594" y="234"/>
                      <a:pt x="595" y="234"/>
                    </a:cubicBezTo>
                    <a:cubicBezTo>
                      <a:pt x="596" y="234"/>
                      <a:pt x="597" y="234"/>
                      <a:pt x="597" y="234"/>
                    </a:cubicBezTo>
                    <a:cubicBezTo>
                      <a:pt x="598" y="234"/>
                      <a:pt x="599" y="235"/>
                      <a:pt x="599" y="236"/>
                    </a:cubicBezTo>
                    <a:cubicBezTo>
                      <a:pt x="600" y="236"/>
                      <a:pt x="602" y="237"/>
                      <a:pt x="602" y="237"/>
                    </a:cubicBezTo>
                    <a:cubicBezTo>
                      <a:pt x="602" y="237"/>
                      <a:pt x="603" y="238"/>
                      <a:pt x="604" y="237"/>
                    </a:cubicBezTo>
                    <a:cubicBezTo>
                      <a:pt x="604" y="236"/>
                      <a:pt x="605" y="235"/>
                      <a:pt x="605" y="237"/>
                    </a:cubicBezTo>
                    <a:cubicBezTo>
                      <a:pt x="605" y="239"/>
                      <a:pt x="604" y="239"/>
                      <a:pt x="605" y="239"/>
                    </a:cubicBezTo>
                    <a:cubicBezTo>
                      <a:pt x="605" y="240"/>
                      <a:pt x="605" y="241"/>
                      <a:pt x="604" y="241"/>
                    </a:cubicBezTo>
                    <a:cubicBezTo>
                      <a:pt x="604" y="242"/>
                      <a:pt x="604" y="242"/>
                      <a:pt x="604" y="243"/>
                    </a:cubicBezTo>
                    <a:cubicBezTo>
                      <a:pt x="605" y="243"/>
                      <a:pt x="607" y="247"/>
                      <a:pt x="608" y="247"/>
                    </a:cubicBezTo>
                    <a:cubicBezTo>
                      <a:pt x="608" y="247"/>
                      <a:pt x="610" y="248"/>
                      <a:pt x="610" y="249"/>
                    </a:cubicBezTo>
                    <a:cubicBezTo>
                      <a:pt x="610" y="250"/>
                      <a:pt x="611" y="251"/>
                      <a:pt x="613" y="252"/>
                    </a:cubicBezTo>
                    <a:cubicBezTo>
                      <a:pt x="615" y="252"/>
                      <a:pt x="616" y="252"/>
                      <a:pt x="616" y="252"/>
                    </a:cubicBezTo>
                    <a:cubicBezTo>
                      <a:pt x="617" y="252"/>
                      <a:pt x="618" y="251"/>
                      <a:pt x="618" y="251"/>
                    </a:cubicBezTo>
                    <a:cubicBezTo>
                      <a:pt x="619" y="252"/>
                      <a:pt x="622" y="251"/>
                      <a:pt x="621" y="252"/>
                    </a:cubicBezTo>
                    <a:cubicBezTo>
                      <a:pt x="619" y="253"/>
                      <a:pt x="617" y="253"/>
                      <a:pt x="618" y="253"/>
                    </a:cubicBezTo>
                    <a:cubicBezTo>
                      <a:pt x="619" y="253"/>
                      <a:pt x="620" y="254"/>
                      <a:pt x="619" y="255"/>
                    </a:cubicBezTo>
                    <a:cubicBezTo>
                      <a:pt x="618" y="256"/>
                      <a:pt x="618" y="256"/>
                      <a:pt x="618" y="257"/>
                    </a:cubicBezTo>
                    <a:cubicBezTo>
                      <a:pt x="618" y="258"/>
                      <a:pt x="615" y="263"/>
                      <a:pt x="614" y="264"/>
                    </a:cubicBezTo>
                    <a:cubicBezTo>
                      <a:pt x="613" y="264"/>
                      <a:pt x="613" y="266"/>
                      <a:pt x="613" y="266"/>
                    </a:cubicBezTo>
                    <a:cubicBezTo>
                      <a:pt x="613" y="267"/>
                      <a:pt x="613" y="268"/>
                      <a:pt x="612" y="268"/>
                    </a:cubicBezTo>
                    <a:cubicBezTo>
                      <a:pt x="611" y="268"/>
                      <a:pt x="611" y="268"/>
                      <a:pt x="611" y="269"/>
                    </a:cubicBezTo>
                    <a:cubicBezTo>
                      <a:pt x="611" y="269"/>
                      <a:pt x="609" y="270"/>
                      <a:pt x="609" y="270"/>
                    </a:cubicBezTo>
                    <a:cubicBezTo>
                      <a:pt x="608" y="269"/>
                      <a:pt x="591" y="255"/>
                      <a:pt x="591" y="255"/>
                    </a:cubicBezTo>
                    <a:cubicBezTo>
                      <a:pt x="591" y="255"/>
                      <a:pt x="590" y="253"/>
                      <a:pt x="588" y="253"/>
                    </a:cubicBezTo>
                    <a:cubicBezTo>
                      <a:pt x="586" y="253"/>
                      <a:pt x="585" y="253"/>
                      <a:pt x="584" y="253"/>
                    </a:cubicBezTo>
                    <a:cubicBezTo>
                      <a:pt x="584" y="253"/>
                      <a:pt x="573" y="249"/>
                      <a:pt x="572" y="248"/>
                    </a:cubicBezTo>
                    <a:cubicBezTo>
                      <a:pt x="571" y="247"/>
                      <a:pt x="572" y="247"/>
                      <a:pt x="571" y="246"/>
                    </a:cubicBezTo>
                    <a:cubicBezTo>
                      <a:pt x="569" y="246"/>
                      <a:pt x="560" y="243"/>
                      <a:pt x="560" y="243"/>
                    </a:cubicBezTo>
                    <a:cubicBezTo>
                      <a:pt x="560" y="243"/>
                      <a:pt x="560" y="242"/>
                      <a:pt x="559" y="243"/>
                    </a:cubicBezTo>
                    <a:cubicBezTo>
                      <a:pt x="558" y="244"/>
                      <a:pt x="557" y="246"/>
                      <a:pt x="557" y="246"/>
                    </a:cubicBezTo>
                    <a:cubicBezTo>
                      <a:pt x="557" y="246"/>
                      <a:pt x="556" y="245"/>
                      <a:pt x="556" y="245"/>
                    </a:cubicBezTo>
                    <a:cubicBezTo>
                      <a:pt x="556" y="244"/>
                      <a:pt x="556" y="242"/>
                      <a:pt x="557" y="242"/>
                    </a:cubicBezTo>
                    <a:cubicBezTo>
                      <a:pt x="558" y="243"/>
                      <a:pt x="559" y="242"/>
                      <a:pt x="559" y="242"/>
                    </a:cubicBezTo>
                    <a:cubicBezTo>
                      <a:pt x="558" y="241"/>
                      <a:pt x="555" y="240"/>
                      <a:pt x="554" y="239"/>
                    </a:cubicBezTo>
                    <a:cubicBezTo>
                      <a:pt x="553" y="239"/>
                      <a:pt x="546" y="235"/>
                      <a:pt x="536" y="233"/>
                    </a:cubicBezTo>
                    <a:cubicBezTo>
                      <a:pt x="526" y="231"/>
                      <a:pt x="508" y="229"/>
                      <a:pt x="508" y="229"/>
                    </a:cubicBezTo>
                    <a:cubicBezTo>
                      <a:pt x="508" y="229"/>
                      <a:pt x="504" y="229"/>
                      <a:pt x="503" y="228"/>
                    </a:cubicBezTo>
                    <a:cubicBezTo>
                      <a:pt x="503" y="228"/>
                      <a:pt x="501" y="227"/>
                      <a:pt x="500" y="228"/>
                    </a:cubicBezTo>
                    <a:cubicBezTo>
                      <a:pt x="499" y="229"/>
                      <a:pt x="493" y="232"/>
                      <a:pt x="492" y="232"/>
                    </a:cubicBezTo>
                    <a:cubicBezTo>
                      <a:pt x="491" y="233"/>
                      <a:pt x="487" y="232"/>
                      <a:pt x="488" y="234"/>
                    </a:cubicBezTo>
                    <a:cubicBezTo>
                      <a:pt x="488" y="235"/>
                      <a:pt x="490" y="238"/>
                      <a:pt x="491" y="239"/>
                    </a:cubicBezTo>
                    <a:cubicBezTo>
                      <a:pt x="492" y="241"/>
                      <a:pt x="494" y="244"/>
                      <a:pt x="494" y="245"/>
                    </a:cubicBezTo>
                    <a:cubicBezTo>
                      <a:pt x="494" y="246"/>
                      <a:pt x="495" y="248"/>
                      <a:pt x="496" y="247"/>
                    </a:cubicBezTo>
                    <a:cubicBezTo>
                      <a:pt x="497" y="246"/>
                      <a:pt x="498" y="245"/>
                      <a:pt x="498" y="248"/>
                    </a:cubicBezTo>
                    <a:cubicBezTo>
                      <a:pt x="499" y="250"/>
                      <a:pt x="499" y="253"/>
                      <a:pt x="497" y="254"/>
                    </a:cubicBezTo>
                    <a:cubicBezTo>
                      <a:pt x="494" y="255"/>
                      <a:pt x="488" y="257"/>
                      <a:pt x="487" y="257"/>
                    </a:cubicBezTo>
                    <a:cubicBezTo>
                      <a:pt x="486" y="258"/>
                      <a:pt x="484" y="258"/>
                      <a:pt x="484" y="259"/>
                    </a:cubicBezTo>
                    <a:cubicBezTo>
                      <a:pt x="484" y="260"/>
                      <a:pt x="483" y="261"/>
                      <a:pt x="484" y="262"/>
                    </a:cubicBezTo>
                    <a:cubicBezTo>
                      <a:pt x="484" y="262"/>
                      <a:pt x="484" y="264"/>
                      <a:pt x="484" y="265"/>
                    </a:cubicBezTo>
                    <a:cubicBezTo>
                      <a:pt x="483" y="266"/>
                      <a:pt x="481" y="268"/>
                      <a:pt x="477" y="267"/>
                    </a:cubicBezTo>
                    <a:cubicBezTo>
                      <a:pt x="474" y="266"/>
                      <a:pt x="471" y="265"/>
                      <a:pt x="471" y="264"/>
                    </a:cubicBezTo>
                    <a:cubicBezTo>
                      <a:pt x="472" y="262"/>
                      <a:pt x="472" y="262"/>
                      <a:pt x="471" y="261"/>
                    </a:cubicBezTo>
                    <a:cubicBezTo>
                      <a:pt x="471" y="261"/>
                      <a:pt x="470" y="260"/>
                      <a:pt x="472" y="259"/>
                    </a:cubicBezTo>
                    <a:cubicBezTo>
                      <a:pt x="473" y="258"/>
                      <a:pt x="474" y="258"/>
                      <a:pt x="475" y="257"/>
                    </a:cubicBezTo>
                    <a:cubicBezTo>
                      <a:pt x="476" y="257"/>
                      <a:pt x="477" y="257"/>
                      <a:pt x="475" y="256"/>
                    </a:cubicBezTo>
                    <a:cubicBezTo>
                      <a:pt x="474" y="255"/>
                      <a:pt x="471" y="253"/>
                      <a:pt x="470" y="252"/>
                    </a:cubicBezTo>
                    <a:cubicBezTo>
                      <a:pt x="469" y="252"/>
                      <a:pt x="468" y="251"/>
                      <a:pt x="470" y="251"/>
                    </a:cubicBezTo>
                    <a:cubicBezTo>
                      <a:pt x="472" y="250"/>
                      <a:pt x="474" y="250"/>
                      <a:pt x="471" y="250"/>
                    </a:cubicBezTo>
                    <a:cubicBezTo>
                      <a:pt x="469" y="250"/>
                      <a:pt x="462" y="253"/>
                      <a:pt x="462" y="254"/>
                    </a:cubicBezTo>
                    <a:cubicBezTo>
                      <a:pt x="461" y="254"/>
                      <a:pt x="460" y="255"/>
                      <a:pt x="461" y="255"/>
                    </a:cubicBezTo>
                    <a:cubicBezTo>
                      <a:pt x="462" y="256"/>
                      <a:pt x="462" y="257"/>
                      <a:pt x="461" y="256"/>
                    </a:cubicBezTo>
                    <a:cubicBezTo>
                      <a:pt x="460" y="256"/>
                      <a:pt x="458" y="255"/>
                      <a:pt x="458" y="254"/>
                    </a:cubicBezTo>
                    <a:cubicBezTo>
                      <a:pt x="459" y="253"/>
                      <a:pt x="458" y="253"/>
                      <a:pt x="457" y="253"/>
                    </a:cubicBezTo>
                    <a:cubicBezTo>
                      <a:pt x="457" y="254"/>
                      <a:pt x="451" y="257"/>
                      <a:pt x="450" y="257"/>
                    </a:cubicBezTo>
                    <a:cubicBezTo>
                      <a:pt x="449" y="257"/>
                      <a:pt x="447" y="259"/>
                      <a:pt x="446" y="260"/>
                    </a:cubicBezTo>
                    <a:cubicBezTo>
                      <a:pt x="446" y="260"/>
                      <a:pt x="446" y="261"/>
                      <a:pt x="445" y="261"/>
                    </a:cubicBezTo>
                    <a:cubicBezTo>
                      <a:pt x="444" y="261"/>
                      <a:pt x="439" y="261"/>
                      <a:pt x="438" y="260"/>
                    </a:cubicBezTo>
                    <a:cubicBezTo>
                      <a:pt x="436" y="260"/>
                      <a:pt x="433" y="259"/>
                      <a:pt x="432" y="260"/>
                    </a:cubicBezTo>
                    <a:cubicBezTo>
                      <a:pt x="431" y="260"/>
                      <a:pt x="428" y="260"/>
                      <a:pt x="428" y="260"/>
                    </a:cubicBezTo>
                    <a:cubicBezTo>
                      <a:pt x="427" y="259"/>
                      <a:pt x="424" y="258"/>
                      <a:pt x="423" y="260"/>
                    </a:cubicBezTo>
                    <a:cubicBezTo>
                      <a:pt x="421" y="261"/>
                      <a:pt x="413" y="267"/>
                      <a:pt x="412" y="267"/>
                    </a:cubicBezTo>
                    <a:cubicBezTo>
                      <a:pt x="411" y="268"/>
                      <a:pt x="410" y="268"/>
                      <a:pt x="409" y="269"/>
                    </a:cubicBezTo>
                    <a:cubicBezTo>
                      <a:pt x="409" y="269"/>
                      <a:pt x="409" y="271"/>
                      <a:pt x="407" y="270"/>
                    </a:cubicBezTo>
                    <a:cubicBezTo>
                      <a:pt x="406" y="270"/>
                      <a:pt x="404" y="267"/>
                      <a:pt x="402" y="269"/>
                    </a:cubicBezTo>
                    <a:cubicBezTo>
                      <a:pt x="399" y="271"/>
                      <a:pt x="399" y="270"/>
                      <a:pt x="399" y="269"/>
                    </a:cubicBezTo>
                    <a:cubicBezTo>
                      <a:pt x="399" y="269"/>
                      <a:pt x="399" y="268"/>
                      <a:pt x="397" y="269"/>
                    </a:cubicBezTo>
                    <a:cubicBezTo>
                      <a:pt x="396" y="270"/>
                      <a:pt x="394" y="270"/>
                      <a:pt x="391" y="269"/>
                    </a:cubicBezTo>
                    <a:cubicBezTo>
                      <a:pt x="388" y="268"/>
                      <a:pt x="385" y="267"/>
                      <a:pt x="388" y="266"/>
                    </a:cubicBezTo>
                    <a:cubicBezTo>
                      <a:pt x="391" y="266"/>
                      <a:pt x="391" y="266"/>
                      <a:pt x="390" y="266"/>
                    </a:cubicBezTo>
                    <a:cubicBezTo>
                      <a:pt x="389" y="266"/>
                      <a:pt x="390" y="265"/>
                      <a:pt x="391" y="265"/>
                    </a:cubicBezTo>
                    <a:cubicBezTo>
                      <a:pt x="392" y="266"/>
                      <a:pt x="395" y="266"/>
                      <a:pt x="394" y="264"/>
                    </a:cubicBezTo>
                    <a:cubicBezTo>
                      <a:pt x="394" y="263"/>
                      <a:pt x="391" y="260"/>
                      <a:pt x="392" y="259"/>
                    </a:cubicBezTo>
                    <a:cubicBezTo>
                      <a:pt x="393" y="258"/>
                      <a:pt x="393" y="257"/>
                      <a:pt x="394" y="256"/>
                    </a:cubicBezTo>
                    <a:cubicBezTo>
                      <a:pt x="394" y="256"/>
                      <a:pt x="394" y="255"/>
                      <a:pt x="395" y="255"/>
                    </a:cubicBezTo>
                    <a:cubicBezTo>
                      <a:pt x="395" y="255"/>
                      <a:pt x="396" y="254"/>
                      <a:pt x="395" y="254"/>
                    </a:cubicBezTo>
                    <a:cubicBezTo>
                      <a:pt x="394" y="253"/>
                      <a:pt x="393" y="252"/>
                      <a:pt x="392" y="253"/>
                    </a:cubicBezTo>
                    <a:cubicBezTo>
                      <a:pt x="392" y="253"/>
                      <a:pt x="391" y="253"/>
                      <a:pt x="390" y="252"/>
                    </a:cubicBezTo>
                    <a:cubicBezTo>
                      <a:pt x="390" y="252"/>
                      <a:pt x="389" y="252"/>
                      <a:pt x="388" y="253"/>
                    </a:cubicBezTo>
                    <a:cubicBezTo>
                      <a:pt x="388" y="253"/>
                      <a:pt x="374" y="258"/>
                      <a:pt x="373" y="258"/>
                    </a:cubicBezTo>
                    <a:cubicBezTo>
                      <a:pt x="372" y="259"/>
                      <a:pt x="370" y="260"/>
                      <a:pt x="371" y="260"/>
                    </a:cubicBezTo>
                    <a:cubicBezTo>
                      <a:pt x="372" y="261"/>
                      <a:pt x="373" y="261"/>
                      <a:pt x="373" y="261"/>
                    </a:cubicBezTo>
                    <a:cubicBezTo>
                      <a:pt x="374" y="261"/>
                      <a:pt x="375" y="262"/>
                      <a:pt x="375" y="263"/>
                    </a:cubicBezTo>
                    <a:cubicBezTo>
                      <a:pt x="376" y="263"/>
                      <a:pt x="377" y="264"/>
                      <a:pt x="377" y="265"/>
                    </a:cubicBezTo>
                    <a:cubicBezTo>
                      <a:pt x="376" y="265"/>
                      <a:pt x="372" y="267"/>
                      <a:pt x="371" y="267"/>
                    </a:cubicBezTo>
                    <a:cubicBezTo>
                      <a:pt x="370" y="267"/>
                      <a:pt x="369" y="267"/>
                      <a:pt x="370" y="266"/>
                    </a:cubicBezTo>
                    <a:cubicBezTo>
                      <a:pt x="371" y="264"/>
                      <a:pt x="370" y="264"/>
                      <a:pt x="371" y="264"/>
                    </a:cubicBezTo>
                    <a:cubicBezTo>
                      <a:pt x="371" y="263"/>
                      <a:pt x="371" y="263"/>
                      <a:pt x="370" y="263"/>
                    </a:cubicBezTo>
                    <a:cubicBezTo>
                      <a:pt x="369" y="263"/>
                      <a:pt x="367" y="263"/>
                      <a:pt x="368" y="262"/>
                    </a:cubicBezTo>
                    <a:cubicBezTo>
                      <a:pt x="370" y="261"/>
                      <a:pt x="369" y="261"/>
                      <a:pt x="368" y="261"/>
                    </a:cubicBezTo>
                    <a:cubicBezTo>
                      <a:pt x="367" y="262"/>
                      <a:pt x="362" y="262"/>
                      <a:pt x="360" y="263"/>
                    </a:cubicBezTo>
                    <a:cubicBezTo>
                      <a:pt x="359" y="264"/>
                      <a:pt x="359" y="264"/>
                      <a:pt x="360" y="264"/>
                    </a:cubicBezTo>
                    <a:cubicBezTo>
                      <a:pt x="360" y="264"/>
                      <a:pt x="360" y="265"/>
                      <a:pt x="360" y="265"/>
                    </a:cubicBezTo>
                    <a:cubicBezTo>
                      <a:pt x="359" y="265"/>
                      <a:pt x="351" y="267"/>
                      <a:pt x="350" y="267"/>
                    </a:cubicBezTo>
                    <a:cubicBezTo>
                      <a:pt x="349" y="267"/>
                      <a:pt x="345" y="268"/>
                      <a:pt x="344" y="269"/>
                    </a:cubicBezTo>
                    <a:cubicBezTo>
                      <a:pt x="343" y="270"/>
                      <a:pt x="342" y="271"/>
                      <a:pt x="341" y="271"/>
                    </a:cubicBezTo>
                    <a:cubicBezTo>
                      <a:pt x="340" y="271"/>
                      <a:pt x="338" y="273"/>
                      <a:pt x="337" y="273"/>
                    </a:cubicBezTo>
                    <a:cubicBezTo>
                      <a:pt x="337" y="274"/>
                      <a:pt x="334" y="276"/>
                      <a:pt x="333" y="276"/>
                    </a:cubicBezTo>
                    <a:cubicBezTo>
                      <a:pt x="332" y="276"/>
                      <a:pt x="328" y="277"/>
                      <a:pt x="327" y="278"/>
                    </a:cubicBezTo>
                    <a:cubicBezTo>
                      <a:pt x="326" y="279"/>
                      <a:pt x="322" y="280"/>
                      <a:pt x="321" y="280"/>
                    </a:cubicBezTo>
                    <a:cubicBezTo>
                      <a:pt x="320" y="280"/>
                      <a:pt x="319" y="280"/>
                      <a:pt x="319" y="281"/>
                    </a:cubicBezTo>
                    <a:cubicBezTo>
                      <a:pt x="319" y="281"/>
                      <a:pt x="318" y="282"/>
                      <a:pt x="319" y="283"/>
                    </a:cubicBezTo>
                    <a:cubicBezTo>
                      <a:pt x="320" y="283"/>
                      <a:pt x="324" y="285"/>
                      <a:pt x="322" y="285"/>
                    </a:cubicBezTo>
                    <a:cubicBezTo>
                      <a:pt x="320" y="285"/>
                      <a:pt x="316" y="285"/>
                      <a:pt x="315" y="284"/>
                    </a:cubicBezTo>
                    <a:cubicBezTo>
                      <a:pt x="314" y="284"/>
                      <a:pt x="310" y="284"/>
                      <a:pt x="310" y="285"/>
                    </a:cubicBezTo>
                    <a:cubicBezTo>
                      <a:pt x="309" y="285"/>
                      <a:pt x="307" y="287"/>
                      <a:pt x="307" y="286"/>
                    </a:cubicBezTo>
                    <a:cubicBezTo>
                      <a:pt x="306" y="286"/>
                      <a:pt x="303" y="286"/>
                      <a:pt x="304" y="287"/>
                    </a:cubicBezTo>
                    <a:cubicBezTo>
                      <a:pt x="305" y="288"/>
                      <a:pt x="307" y="289"/>
                      <a:pt x="305" y="291"/>
                    </a:cubicBezTo>
                    <a:cubicBezTo>
                      <a:pt x="304" y="292"/>
                      <a:pt x="303" y="293"/>
                      <a:pt x="303" y="294"/>
                    </a:cubicBezTo>
                    <a:cubicBezTo>
                      <a:pt x="303" y="295"/>
                      <a:pt x="303" y="296"/>
                      <a:pt x="303" y="296"/>
                    </a:cubicBezTo>
                    <a:cubicBezTo>
                      <a:pt x="302" y="296"/>
                      <a:pt x="302" y="296"/>
                      <a:pt x="302" y="297"/>
                    </a:cubicBezTo>
                    <a:cubicBezTo>
                      <a:pt x="303" y="298"/>
                      <a:pt x="303" y="299"/>
                      <a:pt x="303" y="300"/>
                    </a:cubicBezTo>
                    <a:cubicBezTo>
                      <a:pt x="302" y="301"/>
                      <a:pt x="301" y="302"/>
                      <a:pt x="301" y="303"/>
                    </a:cubicBezTo>
                    <a:cubicBezTo>
                      <a:pt x="300" y="304"/>
                      <a:pt x="300" y="304"/>
                      <a:pt x="299" y="304"/>
                    </a:cubicBezTo>
                    <a:cubicBezTo>
                      <a:pt x="298" y="305"/>
                      <a:pt x="295" y="303"/>
                      <a:pt x="292" y="304"/>
                    </a:cubicBezTo>
                    <a:cubicBezTo>
                      <a:pt x="289" y="306"/>
                      <a:pt x="287" y="305"/>
                      <a:pt x="286" y="306"/>
                    </a:cubicBezTo>
                    <a:cubicBezTo>
                      <a:pt x="284" y="307"/>
                      <a:pt x="282" y="308"/>
                      <a:pt x="284" y="307"/>
                    </a:cubicBezTo>
                    <a:cubicBezTo>
                      <a:pt x="286" y="305"/>
                      <a:pt x="286" y="304"/>
                      <a:pt x="284" y="305"/>
                    </a:cubicBezTo>
                    <a:cubicBezTo>
                      <a:pt x="283" y="305"/>
                      <a:pt x="277" y="307"/>
                      <a:pt x="275" y="304"/>
                    </a:cubicBezTo>
                    <a:cubicBezTo>
                      <a:pt x="273" y="301"/>
                      <a:pt x="269" y="296"/>
                      <a:pt x="264" y="294"/>
                    </a:cubicBezTo>
                    <a:cubicBezTo>
                      <a:pt x="259" y="292"/>
                      <a:pt x="260" y="288"/>
                      <a:pt x="263" y="287"/>
                    </a:cubicBezTo>
                    <a:cubicBezTo>
                      <a:pt x="265" y="287"/>
                      <a:pt x="268" y="285"/>
                      <a:pt x="267" y="284"/>
                    </a:cubicBezTo>
                    <a:cubicBezTo>
                      <a:pt x="267" y="282"/>
                      <a:pt x="269" y="282"/>
                      <a:pt x="270" y="282"/>
                    </a:cubicBezTo>
                    <a:cubicBezTo>
                      <a:pt x="271" y="282"/>
                      <a:pt x="279" y="281"/>
                      <a:pt x="280" y="281"/>
                    </a:cubicBezTo>
                    <a:cubicBezTo>
                      <a:pt x="281" y="280"/>
                      <a:pt x="283" y="280"/>
                      <a:pt x="284" y="280"/>
                    </a:cubicBezTo>
                    <a:cubicBezTo>
                      <a:pt x="285" y="280"/>
                      <a:pt x="290" y="282"/>
                      <a:pt x="287" y="278"/>
                    </a:cubicBezTo>
                    <a:cubicBezTo>
                      <a:pt x="285" y="274"/>
                      <a:pt x="285" y="275"/>
                      <a:pt x="285" y="273"/>
                    </a:cubicBezTo>
                    <a:cubicBezTo>
                      <a:pt x="284" y="272"/>
                      <a:pt x="284" y="271"/>
                      <a:pt x="282" y="270"/>
                    </a:cubicBezTo>
                    <a:cubicBezTo>
                      <a:pt x="280" y="269"/>
                      <a:pt x="277" y="267"/>
                      <a:pt x="277" y="266"/>
                    </a:cubicBezTo>
                    <a:cubicBezTo>
                      <a:pt x="276" y="265"/>
                      <a:pt x="277" y="265"/>
                      <a:pt x="275" y="264"/>
                    </a:cubicBezTo>
                    <a:cubicBezTo>
                      <a:pt x="274" y="264"/>
                      <a:pt x="241" y="259"/>
                      <a:pt x="239" y="259"/>
                    </a:cubicBezTo>
                    <a:cubicBezTo>
                      <a:pt x="237" y="259"/>
                      <a:pt x="235" y="258"/>
                      <a:pt x="237" y="260"/>
                    </a:cubicBezTo>
                    <a:cubicBezTo>
                      <a:pt x="239" y="261"/>
                      <a:pt x="244" y="264"/>
                      <a:pt x="246" y="265"/>
                    </a:cubicBezTo>
                    <a:cubicBezTo>
                      <a:pt x="248" y="266"/>
                      <a:pt x="251" y="268"/>
                      <a:pt x="251" y="270"/>
                    </a:cubicBezTo>
                    <a:cubicBezTo>
                      <a:pt x="252" y="272"/>
                      <a:pt x="253" y="274"/>
                      <a:pt x="252" y="275"/>
                    </a:cubicBezTo>
                    <a:cubicBezTo>
                      <a:pt x="251" y="275"/>
                      <a:pt x="249" y="275"/>
                      <a:pt x="250" y="276"/>
                    </a:cubicBezTo>
                    <a:cubicBezTo>
                      <a:pt x="250" y="277"/>
                      <a:pt x="250" y="278"/>
                      <a:pt x="250" y="278"/>
                    </a:cubicBezTo>
                    <a:cubicBezTo>
                      <a:pt x="249" y="279"/>
                      <a:pt x="248" y="280"/>
                      <a:pt x="248" y="281"/>
                    </a:cubicBezTo>
                    <a:cubicBezTo>
                      <a:pt x="248" y="283"/>
                      <a:pt x="247" y="287"/>
                      <a:pt x="245" y="290"/>
                    </a:cubicBezTo>
                    <a:cubicBezTo>
                      <a:pt x="243" y="293"/>
                      <a:pt x="244" y="295"/>
                      <a:pt x="246" y="296"/>
                    </a:cubicBezTo>
                    <a:cubicBezTo>
                      <a:pt x="248" y="296"/>
                      <a:pt x="250" y="298"/>
                      <a:pt x="251" y="298"/>
                    </a:cubicBezTo>
                    <a:cubicBezTo>
                      <a:pt x="251" y="299"/>
                      <a:pt x="252" y="299"/>
                      <a:pt x="252" y="299"/>
                    </a:cubicBezTo>
                    <a:cubicBezTo>
                      <a:pt x="253" y="299"/>
                      <a:pt x="253" y="299"/>
                      <a:pt x="253" y="300"/>
                    </a:cubicBezTo>
                    <a:cubicBezTo>
                      <a:pt x="254" y="301"/>
                      <a:pt x="258" y="308"/>
                      <a:pt x="254" y="312"/>
                    </a:cubicBezTo>
                    <a:cubicBezTo>
                      <a:pt x="250" y="316"/>
                      <a:pt x="248" y="318"/>
                      <a:pt x="249" y="321"/>
                    </a:cubicBezTo>
                    <a:cubicBezTo>
                      <a:pt x="250" y="325"/>
                      <a:pt x="250" y="324"/>
                      <a:pt x="249" y="325"/>
                    </a:cubicBezTo>
                    <a:cubicBezTo>
                      <a:pt x="249" y="326"/>
                      <a:pt x="249" y="326"/>
                      <a:pt x="250" y="327"/>
                    </a:cubicBezTo>
                    <a:cubicBezTo>
                      <a:pt x="250" y="328"/>
                      <a:pt x="251" y="330"/>
                      <a:pt x="249" y="328"/>
                    </a:cubicBezTo>
                    <a:cubicBezTo>
                      <a:pt x="248" y="326"/>
                      <a:pt x="247" y="327"/>
                      <a:pt x="248" y="325"/>
                    </a:cubicBezTo>
                    <a:cubicBezTo>
                      <a:pt x="248" y="324"/>
                      <a:pt x="247" y="322"/>
                      <a:pt x="246" y="322"/>
                    </a:cubicBezTo>
                    <a:cubicBezTo>
                      <a:pt x="244" y="322"/>
                      <a:pt x="241" y="322"/>
                      <a:pt x="241" y="323"/>
                    </a:cubicBezTo>
                    <a:cubicBezTo>
                      <a:pt x="240" y="324"/>
                      <a:pt x="240" y="324"/>
                      <a:pt x="240" y="325"/>
                    </a:cubicBezTo>
                    <a:cubicBezTo>
                      <a:pt x="240" y="326"/>
                      <a:pt x="240" y="326"/>
                      <a:pt x="239" y="326"/>
                    </a:cubicBezTo>
                    <a:cubicBezTo>
                      <a:pt x="238" y="325"/>
                      <a:pt x="236" y="324"/>
                      <a:pt x="238" y="323"/>
                    </a:cubicBezTo>
                    <a:cubicBezTo>
                      <a:pt x="240" y="322"/>
                      <a:pt x="244" y="320"/>
                      <a:pt x="243" y="319"/>
                    </a:cubicBezTo>
                    <a:cubicBezTo>
                      <a:pt x="242" y="319"/>
                      <a:pt x="238" y="317"/>
                      <a:pt x="238" y="317"/>
                    </a:cubicBezTo>
                    <a:cubicBezTo>
                      <a:pt x="238" y="316"/>
                      <a:pt x="236" y="315"/>
                      <a:pt x="233" y="315"/>
                    </a:cubicBezTo>
                    <a:cubicBezTo>
                      <a:pt x="230" y="316"/>
                      <a:pt x="225" y="314"/>
                      <a:pt x="223" y="314"/>
                    </a:cubicBezTo>
                    <a:cubicBezTo>
                      <a:pt x="222" y="313"/>
                      <a:pt x="222" y="312"/>
                      <a:pt x="219" y="315"/>
                    </a:cubicBezTo>
                    <a:cubicBezTo>
                      <a:pt x="215" y="319"/>
                      <a:pt x="214" y="319"/>
                      <a:pt x="214" y="320"/>
                    </a:cubicBezTo>
                    <a:cubicBezTo>
                      <a:pt x="213" y="321"/>
                      <a:pt x="208" y="324"/>
                      <a:pt x="205" y="325"/>
                    </a:cubicBezTo>
                    <a:cubicBezTo>
                      <a:pt x="201" y="326"/>
                      <a:pt x="197" y="327"/>
                      <a:pt x="194" y="330"/>
                    </a:cubicBezTo>
                    <a:cubicBezTo>
                      <a:pt x="191" y="332"/>
                      <a:pt x="188" y="334"/>
                      <a:pt x="187" y="335"/>
                    </a:cubicBezTo>
                    <a:cubicBezTo>
                      <a:pt x="185" y="336"/>
                      <a:pt x="182" y="337"/>
                      <a:pt x="184" y="340"/>
                    </a:cubicBezTo>
                    <a:cubicBezTo>
                      <a:pt x="186" y="344"/>
                      <a:pt x="187" y="345"/>
                      <a:pt x="190" y="347"/>
                    </a:cubicBezTo>
                    <a:cubicBezTo>
                      <a:pt x="193" y="350"/>
                      <a:pt x="196" y="357"/>
                      <a:pt x="196" y="360"/>
                    </a:cubicBezTo>
                    <a:cubicBezTo>
                      <a:pt x="196" y="362"/>
                      <a:pt x="194" y="361"/>
                      <a:pt x="194" y="361"/>
                    </a:cubicBezTo>
                    <a:cubicBezTo>
                      <a:pt x="194" y="361"/>
                      <a:pt x="167" y="358"/>
                      <a:pt x="164" y="357"/>
                    </a:cubicBezTo>
                    <a:cubicBezTo>
                      <a:pt x="164" y="357"/>
                      <a:pt x="161" y="357"/>
                      <a:pt x="161" y="357"/>
                    </a:cubicBezTo>
                    <a:cubicBezTo>
                      <a:pt x="160" y="358"/>
                      <a:pt x="159" y="359"/>
                      <a:pt x="159" y="357"/>
                    </a:cubicBezTo>
                    <a:cubicBezTo>
                      <a:pt x="158" y="356"/>
                      <a:pt x="159" y="355"/>
                      <a:pt x="160" y="355"/>
                    </a:cubicBezTo>
                    <a:cubicBezTo>
                      <a:pt x="162" y="356"/>
                      <a:pt x="163" y="356"/>
                      <a:pt x="163" y="355"/>
                    </a:cubicBezTo>
                    <a:cubicBezTo>
                      <a:pt x="164" y="354"/>
                      <a:pt x="163" y="354"/>
                      <a:pt x="162" y="353"/>
                    </a:cubicBezTo>
                    <a:cubicBezTo>
                      <a:pt x="160" y="352"/>
                      <a:pt x="151" y="347"/>
                      <a:pt x="149" y="347"/>
                    </a:cubicBezTo>
                    <a:cubicBezTo>
                      <a:pt x="148" y="346"/>
                      <a:pt x="143" y="345"/>
                      <a:pt x="142" y="346"/>
                    </a:cubicBezTo>
                    <a:cubicBezTo>
                      <a:pt x="141" y="347"/>
                      <a:pt x="141" y="347"/>
                      <a:pt x="141" y="348"/>
                    </a:cubicBezTo>
                    <a:cubicBezTo>
                      <a:pt x="141" y="350"/>
                      <a:pt x="140" y="351"/>
                      <a:pt x="140" y="351"/>
                    </a:cubicBezTo>
                    <a:cubicBezTo>
                      <a:pt x="139" y="352"/>
                      <a:pt x="137" y="352"/>
                      <a:pt x="137" y="352"/>
                    </a:cubicBezTo>
                    <a:cubicBezTo>
                      <a:pt x="136" y="352"/>
                      <a:pt x="135" y="351"/>
                      <a:pt x="136" y="352"/>
                    </a:cubicBezTo>
                    <a:cubicBezTo>
                      <a:pt x="137" y="354"/>
                      <a:pt x="140" y="358"/>
                      <a:pt x="141" y="359"/>
                    </a:cubicBezTo>
                    <a:cubicBezTo>
                      <a:pt x="141" y="360"/>
                      <a:pt x="146" y="364"/>
                      <a:pt x="147" y="365"/>
                    </a:cubicBezTo>
                    <a:cubicBezTo>
                      <a:pt x="148" y="366"/>
                      <a:pt x="149" y="366"/>
                      <a:pt x="150" y="365"/>
                    </a:cubicBezTo>
                    <a:cubicBezTo>
                      <a:pt x="150" y="365"/>
                      <a:pt x="151" y="365"/>
                      <a:pt x="152" y="365"/>
                    </a:cubicBezTo>
                    <a:cubicBezTo>
                      <a:pt x="152" y="365"/>
                      <a:pt x="153" y="365"/>
                      <a:pt x="153" y="364"/>
                    </a:cubicBezTo>
                    <a:cubicBezTo>
                      <a:pt x="154" y="364"/>
                      <a:pt x="155" y="363"/>
                      <a:pt x="155" y="364"/>
                    </a:cubicBezTo>
                    <a:cubicBezTo>
                      <a:pt x="156" y="366"/>
                      <a:pt x="156" y="366"/>
                      <a:pt x="157" y="366"/>
                    </a:cubicBezTo>
                    <a:cubicBezTo>
                      <a:pt x="158" y="366"/>
                      <a:pt x="159" y="367"/>
                      <a:pt x="158" y="368"/>
                    </a:cubicBezTo>
                    <a:cubicBezTo>
                      <a:pt x="158" y="369"/>
                      <a:pt x="158" y="370"/>
                      <a:pt x="159" y="371"/>
                    </a:cubicBezTo>
                    <a:cubicBezTo>
                      <a:pt x="160" y="372"/>
                      <a:pt x="160" y="373"/>
                      <a:pt x="159" y="375"/>
                    </a:cubicBezTo>
                    <a:cubicBezTo>
                      <a:pt x="157" y="376"/>
                      <a:pt x="155" y="377"/>
                      <a:pt x="154" y="377"/>
                    </a:cubicBezTo>
                    <a:cubicBezTo>
                      <a:pt x="153" y="377"/>
                      <a:pt x="152" y="376"/>
                      <a:pt x="152" y="377"/>
                    </a:cubicBezTo>
                    <a:cubicBezTo>
                      <a:pt x="152" y="378"/>
                      <a:pt x="150" y="379"/>
                      <a:pt x="147" y="378"/>
                    </a:cubicBezTo>
                    <a:cubicBezTo>
                      <a:pt x="145" y="378"/>
                      <a:pt x="136" y="375"/>
                      <a:pt x="134" y="372"/>
                    </a:cubicBezTo>
                    <a:cubicBezTo>
                      <a:pt x="131" y="369"/>
                      <a:pt x="128" y="366"/>
                      <a:pt x="121" y="365"/>
                    </a:cubicBezTo>
                    <a:cubicBezTo>
                      <a:pt x="115" y="365"/>
                      <a:pt x="111" y="363"/>
                      <a:pt x="111" y="360"/>
                    </a:cubicBezTo>
                    <a:cubicBezTo>
                      <a:pt x="111" y="357"/>
                      <a:pt x="110" y="357"/>
                      <a:pt x="112" y="357"/>
                    </a:cubicBezTo>
                    <a:cubicBezTo>
                      <a:pt x="113" y="356"/>
                      <a:pt x="115" y="355"/>
                      <a:pt x="113" y="355"/>
                    </a:cubicBezTo>
                    <a:cubicBezTo>
                      <a:pt x="111" y="356"/>
                      <a:pt x="111" y="356"/>
                      <a:pt x="112" y="355"/>
                    </a:cubicBezTo>
                    <a:cubicBezTo>
                      <a:pt x="112" y="354"/>
                      <a:pt x="113" y="354"/>
                      <a:pt x="112" y="353"/>
                    </a:cubicBezTo>
                    <a:cubicBezTo>
                      <a:pt x="112" y="352"/>
                      <a:pt x="109" y="348"/>
                      <a:pt x="108" y="346"/>
                    </a:cubicBezTo>
                    <a:cubicBezTo>
                      <a:pt x="108" y="344"/>
                      <a:pt x="106" y="343"/>
                      <a:pt x="105" y="342"/>
                    </a:cubicBezTo>
                    <a:cubicBezTo>
                      <a:pt x="104" y="342"/>
                      <a:pt x="103" y="341"/>
                      <a:pt x="105" y="340"/>
                    </a:cubicBezTo>
                    <a:cubicBezTo>
                      <a:pt x="106" y="340"/>
                      <a:pt x="106" y="339"/>
                      <a:pt x="107" y="339"/>
                    </a:cubicBezTo>
                    <a:cubicBezTo>
                      <a:pt x="108" y="339"/>
                      <a:pt x="108" y="339"/>
                      <a:pt x="108" y="337"/>
                    </a:cubicBezTo>
                    <a:cubicBezTo>
                      <a:pt x="108" y="336"/>
                      <a:pt x="108" y="330"/>
                      <a:pt x="110" y="331"/>
                    </a:cubicBezTo>
                    <a:cubicBezTo>
                      <a:pt x="112" y="332"/>
                      <a:pt x="115" y="334"/>
                      <a:pt x="112" y="330"/>
                    </a:cubicBezTo>
                    <a:cubicBezTo>
                      <a:pt x="110" y="326"/>
                      <a:pt x="106" y="323"/>
                      <a:pt x="105" y="323"/>
                    </a:cubicBezTo>
                    <a:cubicBezTo>
                      <a:pt x="103" y="322"/>
                      <a:pt x="92" y="319"/>
                      <a:pt x="91" y="319"/>
                    </a:cubicBezTo>
                    <a:cubicBezTo>
                      <a:pt x="90" y="319"/>
                      <a:pt x="87" y="318"/>
                      <a:pt x="91" y="317"/>
                    </a:cubicBezTo>
                    <a:cubicBezTo>
                      <a:pt x="94" y="317"/>
                      <a:pt x="95" y="315"/>
                      <a:pt x="94" y="314"/>
                    </a:cubicBezTo>
                    <a:cubicBezTo>
                      <a:pt x="93" y="314"/>
                      <a:pt x="88" y="313"/>
                      <a:pt x="87" y="313"/>
                    </a:cubicBezTo>
                    <a:cubicBezTo>
                      <a:pt x="86" y="313"/>
                      <a:pt x="84" y="313"/>
                      <a:pt x="85" y="313"/>
                    </a:cubicBezTo>
                    <a:cubicBezTo>
                      <a:pt x="87" y="312"/>
                      <a:pt x="86" y="312"/>
                      <a:pt x="85" y="312"/>
                    </a:cubicBezTo>
                    <a:cubicBezTo>
                      <a:pt x="84" y="312"/>
                      <a:pt x="81" y="311"/>
                      <a:pt x="84" y="311"/>
                    </a:cubicBezTo>
                    <a:cubicBezTo>
                      <a:pt x="88" y="310"/>
                      <a:pt x="89" y="309"/>
                      <a:pt x="87" y="309"/>
                    </a:cubicBezTo>
                    <a:cubicBezTo>
                      <a:pt x="85" y="309"/>
                      <a:pt x="81" y="308"/>
                      <a:pt x="81" y="307"/>
                    </a:cubicBezTo>
                    <a:cubicBezTo>
                      <a:pt x="82" y="307"/>
                      <a:pt x="82" y="306"/>
                      <a:pt x="81" y="306"/>
                    </a:cubicBezTo>
                    <a:cubicBezTo>
                      <a:pt x="81" y="306"/>
                      <a:pt x="74" y="304"/>
                      <a:pt x="75" y="302"/>
                    </a:cubicBezTo>
                    <a:cubicBezTo>
                      <a:pt x="77" y="300"/>
                      <a:pt x="75" y="299"/>
                      <a:pt x="75" y="299"/>
                    </a:cubicBezTo>
                    <a:cubicBezTo>
                      <a:pt x="74" y="299"/>
                      <a:pt x="69" y="298"/>
                      <a:pt x="73" y="297"/>
                    </a:cubicBezTo>
                    <a:cubicBezTo>
                      <a:pt x="76" y="297"/>
                      <a:pt x="79" y="299"/>
                      <a:pt x="81" y="299"/>
                    </a:cubicBezTo>
                    <a:cubicBezTo>
                      <a:pt x="82" y="299"/>
                      <a:pt x="82" y="299"/>
                      <a:pt x="82" y="300"/>
                    </a:cubicBezTo>
                    <a:cubicBezTo>
                      <a:pt x="81" y="301"/>
                      <a:pt x="81" y="302"/>
                      <a:pt x="83" y="302"/>
                    </a:cubicBezTo>
                    <a:cubicBezTo>
                      <a:pt x="84" y="303"/>
                      <a:pt x="87" y="305"/>
                      <a:pt x="88" y="306"/>
                    </a:cubicBezTo>
                    <a:cubicBezTo>
                      <a:pt x="89" y="307"/>
                      <a:pt x="92" y="308"/>
                      <a:pt x="94" y="308"/>
                    </a:cubicBezTo>
                    <a:cubicBezTo>
                      <a:pt x="95" y="308"/>
                      <a:pt x="98" y="309"/>
                      <a:pt x="99" y="308"/>
                    </a:cubicBezTo>
                    <a:cubicBezTo>
                      <a:pt x="99" y="308"/>
                      <a:pt x="101" y="307"/>
                      <a:pt x="102" y="307"/>
                    </a:cubicBezTo>
                    <a:cubicBezTo>
                      <a:pt x="103" y="308"/>
                      <a:pt x="106" y="309"/>
                      <a:pt x="106" y="310"/>
                    </a:cubicBezTo>
                    <a:cubicBezTo>
                      <a:pt x="106" y="311"/>
                      <a:pt x="105" y="313"/>
                      <a:pt x="107" y="313"/>
                    </a:cubicBezTo>
                    <a:cubicBezTo>
                      <a:pt x="109" y="312"/>
                      <a:pt x="113" y="312"/>
                      <a:pt x="115" y="312"/>
                    </a:cubicBezTo>
                    <a:cubicBezTo>
                      <a:pt x="117" y="313"/>
                      <a:pt x="157" y="323"/>
                      <a:pt x="157" y="323"/>
                    </a:cubicBezTo>
                    <a:cubicBezTo>
                      <a:pt x="158" y="323"/>
                      <a:pt x="167" y="325"/>
                      <a:pt x="171" y="324"/>
                    </a:cubicBezTo>
                    <a:cubicBezTo>
                      <a:pt x="174" y="323"/>
                      <a:pt x="178" y="322"/>
                      <a:pt x="180" y="322"/>
                    </a:cubicBezTo>
                    <a:cubicBezTo>
                      <a:pt x="182" y="321"/>
                      <a:pt x="191" y="319"/>
                      <a:pt x="195" y="315"/>
                    </a:cubicBezTo>
                    <a:cubicBezTo>
                      <a:pt x="199" y="311"/>
                      <a:pt x="204" y="305"/>
                      <a:pt x="205" y="304"/>
                    </a:cubicBezTo>
                    <a:cubicBezTo>
                      <a:pt x="205" y="303"/>
                      <a:pt x="209" y="301"/>
                      <a:pt x="208" y="298"/>
                    </a:cubicBezTo>
                    <a:cubicBezTo>
                      <a:pt x="208" y="295"/>
                      <a:pt x="207" y="296"/>
                      <a:pt x="206" y="295"/>
                    </a:cubicBezTo>
                    <a:cubicBezTo>
                      <a:pt x="205" y="295"/>
                      <a:pt x="204" y="295"/>
                      <a:pt x="205" y="292"/>
                    </a:cubicBezTo>
                    <a:cubicBezTo>
                      <a:pt x="205" y="290"/>
                      <a:pt x="205" y="290"/>
                      <a:pt x="204" y="289"/>
                    </a:cubicBezTo>
                    <a:cubicBezTo>
                      <a:pt x="204" y="289"/>
                      <a:pt x="203" y="289"/>
                      <a:pt x="203" y="288"/>
                    </a:cubicBezTo>
                    <a:cubicBezTo>
                      <a:pt x="203" y="287"/>
                      <a:pt x="203" y="284"/>
                      <a:pt x="203" y="284"/>
                    </a:cubicBezTo>
                    <a:cubicBezTo>
                      <a:pt x="203" y="284"/>
                      <a:pt x="203" y="283"/>
                      <a:pt x="202" y="283"/>
                    </a:cubicBezTo>
                    <a:cubicBezTo>
                      <a:pt x="200" y="283"/>
                      <a:pt x="195" y="283"/>
                      <a:pt x="193" y="280"/>
                    </a:cubicBezTo>
                    <a:cubicBezTo>
                      <a:pt x="191" y="278"/>
                      <a:pt x="186" y="273"/>
                      <a:pt x="185" y="272"/>
                    </a:cubicBezTo>
                    <a:cubicBezTo>
                      <a:pt x="184" y="271"/>
                      <a:pt x="184" y="271"/>
                      <a:pt x="184" y="272"/>
                    </a:cubicBezTo>
                    <a:cubicBezTo>
                      <a:pt x="185" y="273"/>
                      <a:pt x="185" y="273"/>
                      <a:pt x="183" y="273"/>
                    </a:cubicBezTo>
                    <a:cubicBezTo>
                      <a:pt x="182" y="272"/>
                      <a:pt x="165" y="268"/>
                      <a:pt x="164" y="267"/>
                    </a:cubicBezTo>
                    <a:cubicBezTo>
                      <a:pt x="163" y="267"/>
                      <a:pt x="161" y="264"/>
                      <a:pt x="160" y="263"/>
                    </a:cubicBezTo>
                    <a:cubicBezTo>
                      <a:pt x="159" y="262"/>
                      <a:pt x="156" y="260"/>
                      <a:pt x="152" y="258"/>
                    </a:cubicBezTo>
                    <a:cubicBezTo>
                      <a:pt x="148" y="257"/>
                      <a:pt x="121" y="244"/>
                      <a:pt x="121" y="244"/>
                    </a:cubicBezTo>
                    <a:cubicBezTo>
                      <a:pt x="121" y="244"/>
                      <a:pt x="118" y="243"/>
                      <a:pt x="116" y="243"/>
                    </a:cubicBezTo>
                    <a:cubicBezTo>
                      <a:pt x="114" y="243"/>
                      <a:pt x="106" y="242"/>
                      <a:pt x="104" y="242"/>
                    </a:cubicBezTo>
                    <a:cubicBezTo>
                      <a:pt x="103" y="242"/>
                      <a:pt x="97" y="241"/>
                      <a:pt x="96" y="241"/>
                    </a:cubicBezTo>
                    <a:cubicBezTo>
                      <a:pt x="94" y="242"/>
                      <a:pt x="92" y="241"/>
                      <a:pt x="92" y="243"/>
                    </a:cubicBezTo>
                    <a:cubicBezTo>
                      <a:pt x="92" y="245"/>
                      <a:pt x="91" y="246"/>
                      <a:pt x="90" y="247"/>
                    </a:cubicBezTo>
                    <a:cubicBezTo>
                      <a:pt x="90" y="247"/>
                      <a:pt x="88" y="248"/>
                      <a:pt x="87" y="248"/>
                    </a:cubicBezTo>
                    <a:cubicBezTo>
                      <a:pt x="86" y="248"/>
                      <a:pt x="85" y="248"/>
                      <a:pt x="85" y="249"/>
                    </a:cubicBezTo>
                    <a:cubicBezTo>
                      <a:pt x="84" y="250"/>
                      <a:pt x="84" y="251"/>
                      <a:pt x="84" y="249"/>
                    </a:cubicBezTo>
                    <a:cubicBezTo>
                      <a:pt x="85" y="247"/>
                      <a:pt x="85" y="248"/>
                      <a:pt x="86" y="248"/>
                    </a:cubicBezTo>
                    <a:cubicBezTo>
                      <a:pt x="88" y="247"/>
                      <a:pt x="89" y="247"/>
                      <a:pt x="90" y="246"/>
                    </a:cubicBezTo>
                    <a:cubicBezTo>
                      <a:pt x="90" y="246"/>
                      <a:pt x="91" y="246"/>
                      <a:pt x="90" y="245"/>
                    </a:cubicBezTo>
                    <a:cubicBezTo>
                      <a:pt x="89" y="244"/>
                      <a:pt x="87" y="242"/>
                      <a:pt x="88" y="242"/>
                    </a:cubicBezTo>
                    <a:cubicBezTo>
                      <a:pt x="90" y="242"/>
                      <a:pt x="90" y="241"/>
                      <a:pt x="90" y="240"/>
                    </a:cubicBezTo>
                    <a:cubicBezTo>
                      <a:pt x="90" y="239"/>
                      <a:pt x="90" y="238"/>
                      <a:pt x="88" y="239"/>
                    </a:cubicBezTo>
                    <a:cubicBezTo>
                      <a:pt x="86" y="240"/>
                      <a:pt x="81" y="243"/>
                      <a:pt x="81" y="241"/>
                    </a:cubicBezTo>
                    <a:cubicBezTo>
                      <a:pt x="82" y="240"/>
                      <a:pt x="81" y="241"/>
                      <a:pt x="80" y="240"/>
                    </a:cubicBezTo>
                    <a:cubicBezTo>
                      <a:pt x="79" y="240"/>
                      <a:pt x="73" y="239"/>
                      <a:pt x="73" y="239"/>
                    </a:cubicBezTo>
                    <a:cubicBezTo>
                      <a:pt x="72" y="239"/>
                      <a:pt x="73" y="238"/>
                      <a:pt x="72" y="237"/>
                    </a:cubicBezTo>
                    <a:cubicBezTo>
                      <a:pt x="71" y="237"/>
                      <a:pt x="69" y="236"/>
                      <a:pt x="69" y="234"/>
                    </a:cubicBezTo>
                    <a:cubicBezTo>
                      <a:pt x="70" y="233"/>
                      <a:pt x="71" y="229"/>
                      <a:pt x="71" y="231"/>
                    </a:cubicBezTo>
                    <a:cubicBezTo>
                      <a:pt x="72" y="233"/>
                      <a:pt x="73" y="233"/>
                      <a:pt x="74" y="233"/>
                    </a:cubicBezTo>
                    <a:cubicBezTo>
                      <a:pt x="75" y="234"/>
                      <a:pt x="78" y="233"/>
                      <a:pt x="80" y="234"/>
                    </a:cubicBezTo>
                    <a:cubicBezTo>
                      <a:pt x="81" y="235"/>
                      <a:pt x="83" y="235"/>
                      <a:pt x="84" y="234"/>
                    </a:cubicBezTo>
                    <a:cubicBezTo>
                      <a:pt x="84" y="233"/>
                      <a:pt x="87" y="231"/>
                      <a:pt x="84" y="230"/>
                    </a:cubicBezTo>
                    <a:cubicBezTo>
                      <a:pt x="82" y="229"/>
                      <a:pt x="81" y="229"/>
                      <a:pt x="80" y="229"/>
                    </a:cubicBezTo>
                    <a:cubicBezTo>
                      <a:pt x="78" y="229"/>
                      <a:pt x="78" y="229"/>
                      <a:pt x="77" y="229"/>
                    </a:cubicBezTo>
                    <a:cubicBezTo>
                      <a:pt x="76" y="228"/>
                      <a:pt x="74" y="227"/>
                      <a:pt x="73" y="227"/>
                    </a:cubicBezTo>
                    <a:cubicBezTo>
                      <a:pt x="73" y="227"/>
                      <a:pt x="71" y="226"/>
                      <a:pt x="71" y="225"/>
                    </a:cubicBezTo>
                    <a:cubicBezTo>
                      <a:pt x="70" y="225"/>
                      <a:pt x="69" y="224"/>
                      <a:pt x="68" y="225"/>
                    </a:cubicBezTo>
                    <a:cubicBezTo>
                      <a:pt x="68" y="226"/>
                      <a:pt x="67" y="226"/>
                      <a:pt x="69" y="227"/>
                    </a:cubicBezTo>
                    <a:cubicBezTo>
                      <a:pt x="70" y="228"/>
                      <a:pt x="71" y="229"/>
                      <a:pt x="70" y="229"/>
                    </a:cubicBezTo>
                    <a:cubicBezTo>
                      <a:pt x="70" y="230"/>
                      <a:pt x="69" y="229"/>
                      <a:pt x="68" y="228"/>
                    </a:cubicBezTo>
                    <a:cubicBezTo>
                      <a:pt x="67" y="228"/>
                      <a:pt x="66" y="227"/>
                      <a:pt x="65" y="228"/>
                    </a:cubicBezTo>
                    <a:cubicBezTo>
                      <a:pt x="65" y="229"/>
                      <a:pt x="65" y="231"/>
                      <a:pt x="63" y="231"/>
                    </a:cubicBezTo>
                    <a:cubicBezTo>
                      <a:pt x="61" y="230"/>
                      <a:pt x="54" y="230"/>
                      <a:pt x="53" y="230"/>
                    </a:cubicBezTo>
                    <a:cubicBezTo>
                      <a:pt x="53" y="230"/>
                      <a:pt x="52" y="230"/>
                      <a:pt x="52" y="230"/>
                    </a:cubicBezTo>
                    <a:cubicBezTo>
                      <a:pt x="52" y="231"/>
                      <a:pt x="53" y="234"/>
                      <a:pt x="53" y="235"/>
                    </a:cubicBezTo>
                    <a:cubicBezTo>
                      <a:pt x="52" y="237"/>
                      <a:pt x="50" y="236"/>
                      <a:pt x="48" y="236"/>
                    </a:cubicBezTo>
                    <a:cubicBezTo>
                      <a:pt x="47" y="235"/>
                      <a:pt x="45" y="235"/>
                      <a:pt x="43" y="234"/>
                    </a:cubicBezTo>
                    <a:cubicBezTo>
                      <a:pt x="41" y="233"/>
                      <a:pt x="42" y="234"/>
                      <a:pt x="42" y="235"/>
                    </a:cubicBezTo>
                    <a:cubicBezTo>
                      <a:pt x="42" y="235"/>
                      <a:pt x="40" y="239"/>
                      <a:pt x="38" y="240"/>
                    </a:cubicBezTo>
                    <a:cubicBezTo>
                      <a:pt x="37" y="240"/>
                      <a:pt x="35" y="241"/>
                      <a:pt x="34" y="241"/>
                    </a:cubicBezTo>
                    <a:cubicBezTo>
                      <a:pt x="33" y="241"/>
                      <a:pt x="30" y="242"/>
                      <a:pt x="28" y="245"/>
                    </a:cubicBezTo>
                    <a:cubicBezTo>
                      <a:pt x="26" y="248"/>
                      <a:pt x="25" y="250"/>
                      <a:pt x="24" y="250"/>
                    </a:cubicBezTo>
                    <a:cubicBezTo>
                      <a:pt x="23" y="250"/>
                      <a:pt x="18" y="252"/>
                      <a:pt x="17" y="252"/>
                    </a:cubicBezTo>
                    <a:cubicBezTo>
                      <a:pt x="16" y="253"/>
                      <a:pt x="16" y="253"/>
                      <a:pt x="17" y="253"/>
                    </a:cubicBezTo>
                    <a:cubicBezTo>
                      <a:pt x="19" y="254"/>
                      <a:pt x="20" y="253"/>
                      <a:pt x="20" y="254"/>
                    </a:cubicBezTo>
                    <a:cubicBezTo>
                      <a:pt x="20" y="255"/>
                      <a:pt x="18" y="261"/>
                      <a:pt x="17" y="263"/>
                    </a:cubicBezTo>
                    <a:cubicBezTo>
                      <a:pt x="17" y="264"/>
                      <a:pt x="18" y="264"/>
                      <a:pt x="18" y="265"/>
                    </a:cubicBezTo>
                    <a:cubicBezTo>
                      <a:pt x="18" y="266"/>
                      <a:pt x="20" y="269"/>
                      <a:pt x="20" y="270"/>
                    </a:cubicBezTo>
                    <a:cubicBezTo>
                      <a:pt x="20" y="270"/>
                      <a:pt x="21" y="271"/>
                      <a:pt x="21" y="271"/>
                    </a:cubicBezTo>
                    <a:cubicBezTo>
                      <a:pt x="22" y="272"/>
                      <a:pt x="28" y="273"/>
                      <a:pt x="29" y="273"/>
                    </a:cubicBezTo>
                    <a:cubicBezTo>
                      <a:pt x="29" y="273"/>
                      <a:pt x="30" y="274"/>
                      <a:pt x="30" y="275"/>
                    </a:cubicBezTo>
                    <a:cubicBezTo>
                      <a:pt x="31" y="275"/>
                      <a:pt x="34" y="280"/>
                      <a:pt x="35" y="281"/>
                    </a:cubicBezTo>
                    <a:cubicBezTo>
                      <a:pt x="36" y="282"/>
                      <a:pt x="39" y="284"/>
                      <a:pt x="39" y="284"/>
                    </a:cubicBezTo>
                    <a:cubicBezTo>
                      <a:pt x="39" y="284"/>
                      <a:pt x="39" y="284"/>
                      <a:pt x="39" y="285"/>
                    </a:cubicBezTo>
                    <a:cubicBezTo>
                      <a:pt x="38" y="285"/>
                      <a:pt x="31" y="295"/>
                      <a:pt x="30" y="297"/>
                    </a:cubicBezTo>
                    <a:cubicBezTo>
                      <a:pt x="28" y="298"/>
                      <a:pt x="25" y="302"/>
                      <a:pt x="26" y="304"/>
                    </a:cubicBezTo>
                    <a:cubicBezTo>
                      <a:pt x="27" y="307"/>
                      <a:pt x="29" y="309"/>
                      <a:pt x="30" y="310"/>
                    </a:cubicBezTo>
                    <a:cubicBezTo>
                      <a:pt x="31" y="312"/>
                      <a:pt x="33" y="316"/>
                      <a:pt x="34" y="318"/>
                    </a:cubicBezTo>
                    <a:cubicBezTo>
                      <a:pt x="35" y="319"/>
                      <a:pt x="41" y="333"/>
                      <a:pt x="41" y="333"/>
                    </a:cubicBezTo>
                    <a:cubicBezTo>
                      <a:pt x="41" y="333"/>
                      <a:pt x="41" y="334"/>
                      <a:pt x="40" y="334"/>
                    </a:cubicBezTo>
                    <a:cubicBezTo>
                      <a:pt x="39" y="334"/>
                      <a:pt x="37" y="334"/>
                      <a:pt x="36" y="335"/>
                    </a:cubicBezTo>
                    <a:cubicBezTo>
                      <a:pt x="35" y="335"/>
                      <a:pt x="35" y="335"/>
                      <a:pt x="35" y="336"/>
                    </a:cubicBezTo>
                    <a:cubicBezTo>
                      <a:pt x="36" y="337"/>
                      <a:pt x="35" y="339"/>
                      <a:pt x="35" y="340"/>
                    </a:cubicBezTo>
                    <a:cubicBezTo>
                      <a:pt x="34" y="341"/>
                      <a:pt x="32" y="344"/>
                      <a:pt x="34" y="345"/>
                    </a:cubicBezTo>
                    <a:cubicBezTo>
                      <a:pt x="36" y="346"/>
                      <a:pt x="38" y="348"/>
                      <a:pt x="36" y="348"/>
                    </a:cubicBezTo>
                    <a:cubicBezTo>
                      <a:pt x="33" y="349"/>
                      <a:pt x="33" y="351"/>
                      <a:pt x="34" y="353"/>
                    </a:cubicBezTo>
                    <a:cubicBezTo>
                      <a:pt x="35" y="355"/>
                      <a:pt x="37" y="354"/>
                      <a:pt x="39" y="355"/>
                    </a:cubicBezTo>
                    <a:cubicBezTo>
                      <a:pt x="40" y="356"/>
                      <a:pt x="43" y="359"/>
                      <a:pt x="42" y="359"/>
                    </a:cubicBezTo>
                    <a:cubicBezTo>
                      <a:pt x="40" y="360"/>
                      <a:pt x="40" y="360"/>
                      <a:pt x="39" y="360"/>
                    </a:cubicBezTo>
                    <a:cubicBezTo>
                      <a:pt x="39" y="360"/>
                      <a:pt x="39" y="360"/>
                      <a:pt x="39" y="361"/>
                    </a:cubicBezTo>
                    <a:cubicBezTo>
                      <a:pt x="40" y="361"/>
                      <a:pt x="41" y="366"/>
                      <a:pt x="42" y="366"/>
                    </a:cubicBezTo>
                    <a:cubicBezTo>
                      <a:pt x="43" y="366"/>
                      <a:pt x="47" y="367"/>
                      <a:pt x="48" y="370"/>
                    </a:cubicBezTo>
                    <a:cubicBezTo>
                      <a:pt x="48" y="373"/>
                      <a:pt x="48" y="374"/>
                      <a:pt x="47" y="375"/>
                    </a:cubicBezTo>
                    <a:cubicBezTo>
                      <a:pt x="45" y="375"/>
                      <a:pt x="44" y="377"/>
                      <a:pt x="44" y="377"/>
                    </a:cubicBezTo>
                    <a:cubicBezTo>
                      <a:pt x="43" y="378"/>
                      <a:pt x="41" y="379"/>
                      <a:pt x="40" y="380"/>
                    </a:cubicBezTo>
                    <a:cubicBezTo>
                      <a:pt x="39" y="380"/>
                      <a:pt x="40" y="380"/>
                      <a:pt x="40" y="381"/>
                    </a:cubicBezTo>
                    <a:cubicBezTo>
                      <a:pt x="41" y="382"/>
                      <a:pt x="57" y="393"/>
                      <a:pt x="57" y="393"/>
                    </a:cubicBezTo>
                    <a:cubicBezTo>
                      <a:pt x="57" y="393"/>
                      <a:pt x="58" y="393"/>
                      <a:pt x="59" y="394"/>
                    </a:cubicBezTo>
                    <a:cubicBezTo>
                      <a:pt x="59" y="394"/>
                      <a:pt x="60" y="397"/>
                      <a:pt x="61" y="397"/>
                    </a:cubicBezTo>
                    <a:cubicBezTo>
                      <a:pt x="61" y="398"/>
                      <a:pt x="62" y="399"/>
                      <a:pt x="62" y="401"/>
                    </a:cubicBezTo>
                    <a:cubicBezTo>
                      <a:pt x="61" y="403"/>
                      <a:pt x="58" y="408"/>
                      <a:pt x="57" y="410"/>
                    </a:cubicBezTo>
                    <a:cubicBezTo>
                      <a:pt x="55" y="412"/>
                      <a:pt x="52" y="414"/>
                      <a:pt x="48" y="418"/>
                    </a:cubicBezTo>
                    <a:cubicBezTo>
                      <a:pt x="44" y="421"/>
                      <a:pt x="40" y="426"/>
                      <a:pt x="39" y="427"/>
                    </a:cubicBezTo>
                    <a:cubicBezTo>
                      <a:pt x="38" y="428"/>
                      <a:pt x="37" y="428"/>
                      <a:pt x="36" y="429"/>
                    </a:cubicBezTo>
                    <a:cubicBezTo>
                      <a:pt x="36" y="430"/>
                      <a:pt x="34" y="432"/>
                      <a:pt x="33" y="432"/>
                    </a:cubicBezTo>
                    <a:cubicBezTo>
                      <a:pt x="33" y="433"/>
                      <a:pt x="27" y="438"/>
                      <a:pt x="26" y="438"/>
                    </a:cubicBezTo>
                    <a:cubicBezTo>
                      <a:pt x="25" y="439"/>
                      <a:pt x="21" y="441"/>
                      <a:pt x="20" y="443"/>
                    </a:cubicBezTo>
                    <a:cubicBezTo>
                      <a:pt x="19" y="444"/>
                      <a:pt x="14" y="447"/>
                      <a:pt x="13" y="448"/>
                    </a:cubicBezTo>
                    <a:cubicBezTo>
                      <a:pt x="12" y="449"/>
                      <a:pt x="9" y="452"/>
                      <a:pt x="8" y="452"/>
                    </a:cubicBezTo>
                    <a:cubicBezTo>
                      <a:pt x="8" y="452"/>
                      <a:pt x="7" y="453"/>
                      <a:pt x="7" y="454"/>
                    </a:cubicBezTo>
                    <a:cubicBezTo>
                      <a:pt x="8" y="453"/>
                      <a:pt x="9" y="453"/>
                      <a:pt x="10" y="453"/>
                    </a:cubicBezTo>
                    <a:cubicBezTo>
                      <a:pt x="11" y="453"/>
                      <a:pt x="14" y="452"/>
                      <a:pt x="15" y="452"/>
                    </a:cubicBezTo>
                    <a:cubicBezTo>
                      <a:pt x="15" y="452"/>
                      <a:pt x="17" y="451"/>
                      <a:pt x="18" y="451"/>
                    </a:cubicBezTo>
                    <a:cubicBezTo>
                      <a:pt x="19" y="451"/>
                      <a:pt x="20" y="449"/>
                      <a:pt x="20" y="451"/>
                    </a:cubicBezTo>
                    <a:cubicBezTo>
                      <a:pt x="19" y="452"/>
                      <a:pt x="19" y="451"/>
                      <a:pt x="19" y="452"/>
                    </a:cubicBezTo>
                    <a:cubicBezTo>
                      <a:pt x="18" y="452"/>
                      <a:pt x="18" y="453"/>
                      <a:pt x="19" y="453"/>
                    </a:cubicBezTo>
                    <a:cubicBezTo>
                      <a:pt x="19" y="454"/>
                      <a:pt x="20" y="456"/>
                      <a:pt x="19" y="455"/>
                    </a:cubicBezTo>
                    <a:cubicBezTo>
                      <a:pt x="17" y="453"/>
                      <a:pt x="16" y="453"/>
                      <a:pt x="17" y="454"/>
                    </a:cubicBezTo>
                    <a:cubicBezTo>
                      <a:pt x="18" y="456"/>
                      <a:pt x="19" y="457"/>
                      <a:pt x="21" y="458"/>
                    </a:cubicBezTo>
                    <a:cubicBezTo>
                      <a:pt x="22" y="458"/>
                      <a:pt x="27" y="461"/>
                      <a:pt x="29" y="461"/>
                    </a:cubicBezTo>
                    <a:cubicBezTo>
                      <a:pt x="31" y="462"/>
                      <a:pt x="38" y="464"/>
                      <a:pt x="39" y="465"/>
                    </a:cubicBezTo>
                    <a:cubicBezTo>
                      <a:pt x="40" y="465"/>
                      <a:pt x="41" y="465"/>
                      <a:pt x="42" y="466"/>
                    </a:cubicBezTo>
                    <a:cubicBezTo>
                      <a:pt x="42" y="468"/>
                      <a:pt x="43" y="469"/>
                      <a:pt x="41" y="468"/>
                    </a:cubicBezTo>
                    <a:cubicBezTo>
                      <a:pt x="39" y="468"/>
                      <a:pt x="31" y="466"/>
                      <a:pt x="31" y="466"/>
                    </a:cubicBezTo>
                    <a:cubicBezTo>
                      <a:pt x="30" y="466"/>
                      <a:pt x="27" y="465"/>
                      <a:pt x="25" y="467"/>
                    </a:cubicBezTo>
                    <a:cubicBezTo>
                      <a:pt x="24" y="469"/>
                      <a:pt x="22" y="472"/>
                      <a:pt x="20" y="470"/>
                    </a:cubicBezTo>
                    <a:cubicBezTo>
                      <a:pt x="17" y="469"/>
                      <a:pt x="16" y="469"/>
                      <a:pt x="15" y="470"/>
                    </a:cubicBezTo>
                    <a:cubicBezTo>
                      <a:pt x="14" y="470"/>
                      <a:pt x="12" y="471"/>
                      <a:pt x="12" y="471"/>
                    </a:cubicBezTo>
                    <a:cubicBezTo>
                      <a:pt x="11" y="470"/>
                      <a:pt x="11" y="470"/>
                      <a:pt x="11" y="472"/>
                    </a:cubicBezTo>
                    <a:cubicBezTo>
                      <a:pt x="10" y="473"/>
                      <a:pt x="11" y="475"/>
                      <a:pt x="10" y="477"/>
                    </a:cubicBezTo>
                    <a:cubicBezTo>
                      <a:pt x="10" y="477"/>
                      <a:pt x="11" y="478"/>
                      <a:pt x="11" y="478"/>
                    </a:cubicBezTo>
                    <a:cubicBezTo>
                      <a:pt x="11" y="479"/>
                      <a:pt x="12" y="479"/>
                      <a:pt x="11" y="479"/>
                    </a:cubicBezTo>
                    <a:cubicBezTo>
                      <a:pt x="11" y="480"/>
                      <a:pt x="9" y="481"/>
                      <a:pt x="10" y="481"/>
                    </a:cubicBezTo>
                    <a:cubicBezTo>
                      <a:pt x="10" y="481"/>
                      <a:pt x="11" y="481"/>
                      <a:pt x="10" y="481"/>
                    </a:cubicBezTo>
                    <a:cubicBezTo>
                      <a:pt x="8" y="482"/>
                      <a:pt x="7" y="484"/>
                      <a:pt x="7" y="484"/>
                    </a:cubicBezTo>
                    <a:cubicBezTo>
                      <a:pt x="7" y="485"/>
                      <a:pt x="6" y="488"/>
                      <a:pt x="5" y="488"/>
                    </a:cubicBezTo>
                    <a:cubicBezTo>
                      <a:pt x="5" y="489"/>
                      <a:pt x="1" y="492"/>
                      <a:pt x="1" y="493"/>
                    </a:cubicBezTo>
                    <a:cubicBezTo>
                      <a:pt x="1" y="494"/>
                      <a:pt x="2" y="498"/>
                      <a:pt x="2" y="498"/>
                    </a:cubicBezTo>
                    <a:cubicBezTo>
                      <a:pt x="2" y="499"/>
                      <a:pt x="1" y="504"/>
                      <a:pt x="2" y="506"/>
                    </a:cubicBezTo>
                    <a:cubicBezTo>
                      <a:pt x="4" y="508"/>
                      <a:pt x="5" y="510"/>
                      <a:pt x="5" y="510"/>
                    </a:cubicBezTo>
                    <a:cubicBezTo>
                      <a:pt x="6" y="511"/>
                      <a:pt x="7" y="513"/>
                      <a:pt x="5" y="513"/>
                    </a:cubicBezTo>
                    <a:cubicBezTo>
                      <a:pt x="4" y="514"/>
                      <a:pt x="3" y="513"/>
                      <a:pt x="3" y="514"/>
                    </a:cubicBezTo>
                    <a:cubicBezTo>
                      <a:pt x="2" y="514"/>
                      <a:pt x="0" y="517"/>
                      <a:pt x="0" y="517"/>
                    </a:cubicBezTo>
                    <a:cubicBezTo>
                      <a:pt x="0" y="518"/>
                      <a:pt x="0" y="519"/>
                      <a:pt x="1" y="520"/>
                    </a:cubicBezTo>
                    <a:cubicBezTo>
                      <a:pt x="1" y="520"/>
                      <a:pt x="3" y="522"/>
                      <a:pt x="4" y="522"/>
                    </a:cubicBezTo>
                    <a:cubicBezTo>
                      <a:pt x="4" y="522"/>
                      <a:pt x="5" y="523"/>
                      <a:pt x="6" y="523"/>
                    </a:cubicBezTo>
                    <a:cubicBezTo>
                      <a:pt x="6" y="524"/>
                      <a:pt x="7" y="524"/>
                      <a:pt x="7" y="525"/>
                    </a:cubicBezTo>
                    <a:cubicBezTo>
                      <a:pt x="7" y="525"/>
                      <a:pt x="6" y="527"/>
                      <a:pt x="6" y="528"/>
                    </a:cubicBezTo>
                    <a:cubicBezTo>
                      <a:pt x="5" y="528"/>
                      <a:pt x="5" y="529"/>
                      <a:pt x="5" y="529"/>
                    </a:cubicBezTo>
                    <a:cubicBezTo>
                      <a:pt x="6" y="530"/>
                      <a:pt x="6" y="531"/>
                      <a:pt x="6" y="531"/>
                    </a:cubicBezTo>
                    <a:cubicBezTo>
                      <a:pt x="5" y="532"/>
                      <a:pt x="5" y="533"/>
                      <a:pt x="4" y="533"/>
                    </a:cubicBezTo>
                    <a:cubicBezTo>
                      <a:pt x="4" y="534"/>
                      <a:pt x="4" y="534"/>
                      <a:pt x="5" y="534"/>
                    </a:cubicBezTo>
                    <a:cubicBezTo>
                      <a:pt x="6" y="533"/>
                      <a:pt x="7" y="534"/>
                      <a:pt x="7" y="534"/>
                    </a:cubicBezTo>
                    <a:cubicBezTo>
                      <a:pt x="8" y="534"/>
                      <a:pt x="9" y="535"/>
                      <a:pt x="9" y="535"/>
                    </a:cubicBezTo>
                    <a:cubicBezTo>
                      <a:pt x="9" y="536"/>
                      <a:pt x="10" y="540"/>
                      <a:pt x="11" y="541"/>
                    </a:cubicBezTo>
                    <a:cubicBezTo>
                      <a:pt x="12" y="543"/>
                      <a:pt x="13" y="545"/>
                      <a:pt x="12" y="546"/>
                    </a:cubicBezTo>
                    <a:cubicBezTo>
                      <a:pt x="12" y="547"/>
                      <a:pt x="12" y="548"/>
                      <a:pt x="12" y="549"/>
                    </a:cubicBezTo>
                    <a:cubicBezTo>
                      <a:pt x="12" y="549"/>
                      <a:pt x="13" y="549"/>
                      <a:pt x="14" y="550"/>
                    </a:cubicBezTo>
                    <a:cubicBezTo>
                      <a:pt x="14" y="550"/>
                      <a:pt x="19" y="552"/>
                      <a:pt x="20" y="553"/>
                    </a:cubicBezTo>
                    <a:cubicBezTo>
                      <a:pt x="21" y="553"/>
                      <a:pt x="26" y="553"/>
                      <a:pt x="27" y="552"/>
                    </a:cubicBezTo>
                    <a:cubicBezTo>
                      <a:pt x="27" y="552"/>
                      <a:pt x="28" y="552"/>
                      <a:pt x="28" y="552"/>
                    </a:cubicBezTo>
                    <a:cubicBezTo>
                      <a:pt x="28" y="553"/>
                      <a:pt x="30" y="554"/>
                      <a:pt x="30" y="555"/>
                    </a:cubicBezTo>
                    <a:cubicBezTo>
                      <a:pt x="30" y="556"/>
                      <a:pt x="30" y="556"/>
                      <a:pt x="30" y="557"/>
                    </a:cubicBezTo>
                    <a:cubicBezTo>
                      <a:pt x="31" y="557"/>
                      <a:pt x="32" y="559"/>
                      <a:pt x="33" y="558"/>
                    </a:cubicBezTo>
                    <a:cubicBezTo>
                      <a:pt x="35" y="557"/>
                      <a:pt x="37" y="554"/>
                      <a:pt x="45" y="555"/>
                    </a:cubicBezTo>
                    <a:cubicBezTo>
                      <a:pt x="45" y="555"/>
                      <a:pt x="46" y="556"/>
                      <a:pt x="46" y="556"/>
                    </a:cubicBezTo>
                    <a:cubicBezTo>
                      <a:pt x="47" y="557"/>
                      <a:pt x="52" y="560"/>
                      <a:pt x="52" y="560"/>
                    </a:cubicBezTo>
                    <a:cubicBezTo>
                      <a:pt x="52" y="560"/>
                      <a:pt x="53" y="560"/>
                      <a:pt x="53" y="561"/>
                    </a:cubicBezTo>
                    <a:cubicBezTo>
                      <a:pt x="53" y="562"/>
                      <a:pt x="54" y="564"/>
                      <a:pt x="53" y="565"/>
                    </a:cubicBezTo>
                    <a:cubicBezTo>
                      <a:pt x="53" y="565"/>
                      <a:pt x="52" y="566"/>
                      <a:pt x="52" y="567"/>
                    </a:cubicBezTo>
                    <a:cubicBezTo>
                      <a:pt x="52" y="568"/>
                      <a:pt x="53" y="569"/>
                      <a:pt x="53" y="569"/>
                    </a:cubicBezTo>
                    <a:cubicBezTo>
                      <a:pt x="54" y="570"/>
                      <a:pt x="55" y="571"/>
                      <a:pt x="54" y="572"/>
                    </a:cubicBezTo>
                    <a:cubicBezTo>
                      <a:pt x="54" y="573"/>
                      <a:pt x="52" y="575"/>
                      <a:pt x="51" y="576"/>
                    </a:cubicBezTo>
                    <a:cubicBezTo>
                      <a:pt x="51" y="576"/>
                      <a:pt x="51" y="577"/>
                      <a:pt x="52" y="577"/>
                    </a:cubicBezTo>
                    <a:cubicBezTo>
                      <a:pt x="53" y="578"/>
                      <a:pt x="57" y="580"/>
                      <a:pt x="57" y="582"/>
                    </a:cubicBezTo>
                    <a:cubicBezTo>
                      <a:pt x="57" y="584"/>
                      <a:pt x="58" y="585"/>
                      <a:pt x="58" y="585"/>
                    </a:cubicBezTo>
                    <a:cubicBezTo>
                      <a:pt x="58" y="586"/>
                      <a:pt x="60" y="587"/>
                      <a:pt x="61" y="588"/>
                    </a:cubicBezTo>
                    <a:cubicBezTo>
                      <a:pt x="61" y="588"/>
                      <a:pt x="65" y="591"/>
                      <a:pt x="66" y="592"/>
                    </a:cubicBezTo>
                    <a:cubicBezTo>
                      <a:pt x="66" y="593"/>
                      <a:pt x="67" y="594"/>
                      <a:pt x="66" y="595"/>
                    </a:cubicBezTo>
                    <a:cubicBezTo>
                      <a:pt x="66" y="595"/>
                      <a:pt x="65" y="597"/>
                      <a:pt x="67" y="598"/>
                    </a:cubicBezTo>
                    <a:cubicBezTo>
                      <a:pt x="68" y="598"/>
                      <a:pt x="76" y="599"/>
                      <a:pt x="76" y="599"/>
                    </a:cubicBezTo>
                    <a:cubicBezTo>
                      <a:pt x="76" y="599"/>
                      <a:pt x="77" y="599"/>
                      <a:pt x="76" y="600"/>
                    </a:cubicBezTo>
                    <a:cubicBezTo>
                      <a:pt x="75" y="601"/>
                      <a:pt x="76" y="603"/>
                      <a:pt x="79" y="604"/>
                    </a:cubicBezTo>
                    <a:cubicBezTo>
                      <a:pt x="79" y="604"/>
                      <a:pt x="80" y="605"/>
                      <a:pt x="80" y="605"/>
                    </a:cubicBezTo>
                    <a:cubicBezTo>
                      <a:pt x="80" y="606"/>
                      <a:pt x="80" y="607"/>
                      <a:pt x="79" y="607"/>
                    </a:cubicBezTo>
                    <a:cubicBezTo>
                      <a:pt x="79" y="607"/>
                      <a:pt x="71" y="611"/>
                      <a:pt x="71" y="611"/>
                    </a:cubicBezTo>
                    <a:cubicBezTo>
                      <a:pt x="70" y="612"/>
                      <a:pt x="70" y="611"/>
                      <a:pt x="69" y="611"/>
                    </a:cubicBezTo>
                    <a:cubicBezTo>
                      <a:pt x="69" y="611"/>
                      <a:pt x="66" y="611"/>
                      <a:pt x="65" y="611"/>
                    </a:cubicBezTo>
                    <a:cubicBezTo>
                      <a:pt x="64" y="611"/>
                      <a:pt x="60" y="611"/>
                      <a:pt x="60" y="611"/>
                    </a:cubicBezTo>
                    <a:cubicBezTo>
                      <a:pt x="60" y="611"/>
                      <a:pt x="60" y="611"/>
                      <a:pt x="59" y="611"/>
                    </a:cubicBezTo>
                    <a:cubicBezTo>
                      <a:pt x="59" y="612"/>
                      <a:pt x="58" y="612"/>
                      <a:pt x="59" y="614"/>
                    </a:cubicBezTo>
                    <a:cubicBezTo>
                      <a:pt x="60" y="616"/>
                      <a:pt x="62" y="618"/>
                      <a:pt x="63" y="618"/>
                    </a:cubicBezTo>
                    <a:cubicBezTo>
                      <a:pt x="63" y="618"/>
                      <a:pt x="63" y="619"/>
                      <a:pt x="63" y="620"/>
                    </a:cubicBezTo>
                    <a:cubicBezTo>
                      <a:pt x="63" y="620"/>
                      <a:pt x="62" y="626"/>
                      <a:pt x="62" y="627"/>
                    </a:cubicBezTo>
                    <a:cubicBezTo>
                      <a:pt x="63" y="628"/>
                      <a:pt x="65" y="629"/>
                      <a:pt x="65" y="630"/>
                    </a:cubicBezTo>
                    <a:cubicBezTo>
                      <a:pt x="65" y="630"/>
                      <a:pt x="66" y="631"/>
                      <a:pt x="66" y="631"/>
                    </a:cubicBezTo>
                    <a:cubicBezTo>
                      <a:pt x="66" y="631"/>
                      <a:pt x="66" y="632"/>
                      <a:pt x="67" y="632"/>
                    </a:cubicBezTo>
                    <a:cubicBezTo>
                      <a:pt x="67" y="632"/>
                      <a:pt x="72" y="633"/>
                      <a:pt x="74" y="631"/>
                    </a:cubicBezTo>
                    <a:cubicBezTo>
                      <a:pt x="76" y="627"/>
                      <a:pt x="76" y="627"/>
                      <a:pt x="76" y="627"/>
                    </a:cubicBezTo>
                    <a:cubicBezTo>
                      <a:pt x="76" y="627"/>
                      <a:pt x="76" y="627"/>
                      <a:pt x="77" y="627"/>
                    </a:cubicBezTo>
                    <a:cubicBezTo>
                      <a:pt x="78" y="627"/>
                      <a:pt x="84" y="628"/>
                      <a:pt x="84" y="628"/>
                    </a:cubicBezTo>
                    <a:cubicBezTo>
                      <a:pt x="84" y="628"/>
                      <a:pt x="89" y="627"/>
                      <a:pt x="90" y="626"/>
                    </a:cubicBezTo>
                    <a:cubicBezTo>
                      <a:pt x="91" y="626"/>
                      <a:pt x="93" y="626"/>
                      <a:pt x="93" y="626"/>
                    </a:cubicBezTo>
                    <a:cubicBezTo>
                      <a:pt x="94" y="626"/>
                      <a:pt x="95" y="626"/>
                      <a:pt x="96" y="626"/>
                    </a:cubicBezTo>
                    <a:cubicBezTo>
                      <a:pt x="96" y="626"/>
                      <a:pt x="99" y="630"/>
                      <a:pt x="99" y="630"/>
                    </a:cubicBezTo>
                    <a:cubicBezTo>
                      <a:pt x="99" y="630"/>
                      <a:pt x="100" y="631"/>
                      <a:pt x="100" y="631"/>
                    </a:cubicBezTo>
                    <a:cubicBezTo>
                      <a:pt x="100" y="632"/>
                      <a:pt x="100" y="635"/>
                      <a:pt x="104" y="636"/>
                    </a:cubicBezTo>
                    <a:cubicBezTo>
                      <a:pt x="104" y="636"/>
                      <a:pt x="105" y="637"/>
                      <a:pt x="105" y="637"/>
                    </a:cubicBezTo>
                    <a:cubicBezTo>
                      <a:pt x="105" y="637"/>
                      <a:pt x="105" y="638"/>
                      <a:pt x="105" y="638"/>
                    </a:cubicBezTo>
                    <a:cubicBezTo>
                      <a:pt x="104" y="638"/>
                      <a:pt x="100" y="639"/>
                      <a:pt x="100" y="641"/>
                    </a:cubicBezTo>
                    <a:cubicBezTo>
                      <a:pt x="101" y="642"/>
                      <a:pt x="102" y="643"/>
                      <a:pt x="102" y="644"/>
                    </a:cubicBezTo>
                    <a:cubicBezTo>
                      <a:pt x="102" y="644"/>
                      <a:pt x="101" y="648"/>
                      <a:pt x="103" y="648"/>
                    </a:cubicBezTo>
                    <a:cubicBezTo>
                      <a:pt x="106" y="648"/>
                      <a:pt x="108" y="649"/>
                      <a:pt x="109" y="649"/>
                    </a:cubicBezTo>
                    <a:cubicBezTo>
                      <a:pt x="110" y="650"/>
                      <a:pt x="111" y="650"/>
                      <a:pt x="111" y="649"/>
                    </a:cubicBezTo>
                    <a:cubicBezTo>
                      <a:pt x="112" y="649"/>
                      <a:pt x="113" y="649"/>
                      <a:pt x="113" y="649"/>
                    </a:cubicBezTo>
                    <a:cubicBezTo>
                      <a:pt x="113" y="649"/>
                      <a:pt x="119" y="652"/>
                      <a:pt x="119" y="652"/>
                    </a:cubicBezTo>
                    <a:cubicBezTo>
                      <a:pt x="119" y="652"/>
                      <a:pt x="120" y="653"/>
                      <a:pt x="119" y="653"/>
                    </a:cubicBezTo>
                    <a:cubicBezTo>
                      <a:pt x="118" y="654"/>
                      <a:pt x="118" y="654"/>
                      <a:pt x="118" y="655"/>
                    </a:cubicBezTo>
                    <a:cubicBezTo>
                      <a:pt x="119" y="655"/>
                      <a:pt x="120" y="660"/>
                      <a:pt x="120" y="660"/>
                    </a:cubicBezTo>
                    <a:cubicBezTo>
                      <a:pt x="120" y="661"/>
                      <a:pt x="120" y="663"/>
                      <a:pt x="123" y="665"/>
                    </a:cubicBezTo>
                    <a:cubicBezTo>
                      <a:pt x="123" y="665"/>
                      <a:pt x="124" y="666"/>
                      <a:pt x="125" y="666"/>
                    </a:cubicBezTo>
                    <a:cubicBezTo>
                      <a:pt x="125" y="665"/>
                      <a:pt x="128" y="664"/>
                      <a:pt x="128" y="664"/>
                    </a:cubicBezTo>
                    <a:cubicBezTo>
                      <a:pt x="128" y="664"/>
                      <a:pt x="129" y="664"/>
                      <a:pt x="130" y="665"/>
                    </a:cubicBezTo>
                    <a:cubicBezTo>
                      <a:pt x="130" y="665"/>
                      <a:pt x="136" y="667"/>
                      <a:pt x="136" y="667"/>
                    </a:cubicBezTo>
                    <a:cubicBezTo>
                      <a:pt x="136" y="667"/>
                      <a:pt x="137" y="667"/>
                      <a:pt x="138" y="667"/>
                    </a:cubicBezTo>
                    <a:cubicBezTo>
                      <a:pt x="138" y="667"/>
                      <a:pt x="149" y="664"/>
                      <a:pt x="149" y="664"/>
                    </a:cubicBezTo>
                    <a:cubicBezTo>
                      <a:pt x="149" y="664"/>
                      <a:pt x="150" y="664"/>
                      <a:pt x="150" y="664"/>
                    </a:cubicBezTo>
                    <a:cubicBezTo>
                      <a:pt x="150" y="665"/>
                      <a:pt x="158" y="674"/>
                      <a:pt x="158" y="674"/>
                    </a:cubicBezTo>
                    <a:cubicBezTo>
                      <a:pt x="158" y="674"/>
                      <a:pt x="158" y="675"/>
                      <a:pt x="159" y="674"/>
                    </a:cubicBezTo>
                    <a:cubicBezTo>
                      <a:pt x="160" y="673"/>
                      <a:pt x="162" y="672"/>
                      <a:pt x="162" y="672"/>
                    </a:cubicBezTo>
                    <a:cubicBezTo>
                      <a:pt x="162" y="672"/>
                      <a:pt x="162" y="671"/>
                      <a:pt x="163" y="671"/>
                    </a:cubicBezTo>
                    <a:cubicBezTo>
                      <a:pt x="163" y="671"/>
                      <a:pt x="168" y="673"/>
                      <a:pt x="168" y="673"/>
                    </a:cubicBezTo>
                    <a:cubicBezTo>
                      <a:pt x="169" y="673"/>
                      <a:pt x="171" y="677"/>
                      <a:pt x="175" y="675"/>
                    </a:cubicBezTo>
                    <a:cubicBezTo>
                      <a:pt x="175" y="675"/>
                      <a:pt x="176" y="675"/>
                      <a:pt x="177" y="675"/>
                    </a:cubicBezTo>
                    <a:cubicBezTo>
                      <a:pt x="177" y="676"/>
                      <a:pt x="184" y="682"/>
                      <a:pt x="187" y="681"/>
                    </a:cubicBezTo>
                    <a:cubicBezTo>
                      <a:pt x="189" y="680"/>
                      <a:pt x="190" y="680"/>
                      <a:pt x="190" y="681"/>
                    </a:cubicBezTo>
                    <a:cubicBezTo>
                      <a:pt x="190" y="682"/>
                      <a:pt x="190" y="686"/>
                      <a:pt x="189" y="688"/>
                    </a:cubicBezTo>
                    <a:cubicBezTo>
                      <a:pt x="187" y="689"/>
                      <a:pt x="187" y="690"/>
                      <a:pt x="186" y="690"/>
                    </a:cubicBezTo>
                    <a:cubicBezTo>
                      <a:pt x="185" y="691"/>
                      <a:pt x="184" y="692"/>
                      <a:pt x="184" y="692"/>
                    </a:cubicBezTo>
                    <a:cubicBezTo>
                      <a:pt x="183" y="692"/>
                      <a:pt x="183" y="692"/>
                      <a:pt x="184" y="693"/>
                    </a:cubicBezTo>
                    <a:cubicBezTo>
                      <a:pt x="184" y="693"/>
                      <a:pt x="186" y="695"/>
                      <a:pt x="187" y="695"/>
                    </a:cubicBezTo>
                    <a:cubicBezTo>
                      <a:pt x="189" y="695"/>
                      <a:pt x="189" y="695"/>
                      <a:pt x="187" y="695"/>
                    </a:cubicBezTo>
                    <a:cubicBezTo>
                      <a:pt x="186" y="696"/>
                      <a:pt x="184" y="697"/>
                      <a:pt x="183" y="697"/>
                    </a:cubicBezTo>
                    <a:cubicBezTo>
                      <a:pt x="183" y="698"/>
                      <a:pt x="182" y="699"/>
                      <a:pt x="184" y="700"/>
                    </a:cubicBezTo>
                    <a:cubicBezTo>
                      <a:pt x="185" y="700"/>
                      <a:pt x="186" y="701"/>
                      <a:pt x="186" y="702"/>
                    </a:cubicBezTo>
                    <a:cubicBezTo>
                      <a:pt x="186" y="703"/>
                      <a:pt x="186" y="704"/>
                      <a:pt x="187" y="705"/>
                    </a:cubicBezTo>
                    <a:cubicBezTo>
                      <a:pt x="188" y="705"/>
                      <a:pt x="188" y="706"/>
                      <a:pt x="187" y="706"/>
                    </a:cubicBezTo>
                    <a:cubicBezTo>
                      <a:pt x="187" y="706"/>
                      <a:pt x="186" y="709"/>
                      <a:pt x="186" y="709"/>
                    </a:cubicBezTo>
                    <a:cubicBezTo>
                      <a:pt x="186" y="710"/>
                      <a:pt x="184" y="713"/>
                      <a:pt x="184" y="713"/>
                    </a:cubicBezTo>
                    <a:cubicBezTo>
                      <a:pt x="183" y="714"/>
                      <a:pt x="183" y="715"/>
                      <a:pt x="183" y="714"/>
                    </a:cubicBezTo>
                    <a:cubicBezTo>
                      <a:pt x="182" y="714"/>
                      <a:pt x="174" y="714"/>
                      <a:pt x="174" y="714"/>
                    </a:cubicBezTo>
                    <a:cubicBezTo>
                      <a:pt x="174" y="714"/>
                      <a:pt x="173" y="714"/>
                      <a:pt x="173" y="714"/>
                    </a:cubicBezTo>
                    <a:cubicBezTo>
                      <a:pt x="172" y="714"/>
                      <a:pt x="169" y="716"/>
                      <a:pt x="169" y="716"/>
                    </a:cubicBezTo>
                    <a:cubicBezTo>
                      <a:pt x="165" y="718"/>
                      <a:pt x="165" y="718"/>
                      <a:pt x="165" y="718"/>
                    </a:cubicBezTo>
                    <a:cubicBezTo>
                      <a:pt x="165" y="718"/>
                      <a:pt x="163" y="718"/>
                      <a:pt x="162" y="721"/>
                    </a:cubicBezTo>
                    <a:cubicBezTo>
                      <a:pt x="162" y="723"/>
                      <a:pt x="162" y="726"/>
                      <a:pt x="161" y="728"/>
                    </a:cubicBezTo>
                    <a:cubicBezTo>
                      <a:pt x="162" y="728"/>
                      <a:pt x="163" y="728"/>
                      <a:pt x="163" y="727"/>
                    </a:cubicBezTo>
                    <a:cubicBezTo>
                      <a:pt x="165" y="727"/>
                      <a:pt x="166" y="726"/>
                      <a:pt x="166" y="727"/>
                    </a:cubicBezTo>
                    <a:cubicBezTo>
                      <a:pt x="165" y="728"/>
                      <a:pt x="168" y="727"/>
                      <a:pt x="169" y="727"/>
                    </a:cubicBezTo>
                    <a:cubicBezTo>
                      <a:pt x="170" y="727"/>
                      <a:pt x="171" y="727"/>
                      <a:pt x="172" y="726"/>
                    </a:cubicBezTo>
                    <a:cubicBezTo>
                      <a:pt x="173" y="725"/>
                      <a:pt x="174" y="725"/>
                      <a:pt x="175" y="725"/>
                    </a:cubicBezTo>
                    <a:cubicBezTo>
                      <a:pt x="177" y="725"/>
                      <a:pt x="177" y="725"/>
                      <a:pt x="177" y="727"/>
                    </a:cubicBezTo>
                    <a:cubicBezTo>
                      <a:pt x="177" y="728"/>
                      <a:pt x="178" y="728"/>
                      <a:pt x="176" y="729"/>
                    </a:cubicBezTo>
                    <a:cubicBezTo>
                      <a:pt x="174" y="731"/>
                      <a:pt x="169" y="733"/>
                      <a:pt x="167" y="732"/>
                    </a:cubicBezTo>
                    <a:cubicBezTo>
                      <a:pt x="165" y="732"/>
                      <a:pt x="164" y="732"/>
                      <a:pt x="165" y="734"/>
                    </a:cubicBezTo>
                    <a:cubicBezTo>
                      <a:pt x="167" y="735"/>
                      <a:pt x="168" y="736"/>
                      <a:pt x="166" y="736"/>
                    </a:cubicBezTo>
                    <a:cubicBezTo>
                      <a:pt x="163" y="737"/>
                      <a:pt x="157" y="737"/>
                      <a:pt x="156" y="737"/>
                    </a:cubicBezTo>
                    <a:cubicBezTo>
                      <a:pt x="155" y="736"/>
                      <a:pt x="154" y="736"/>
                      <a:pt x="155" y="737"/>
                    </a:cubicBezTo>
                    <a:cubicBezTo>
                      <a:pt x="155" y="739"/>
                      <a:pt x="158" y="741"/>
                      <a:pt x="161" y="742"/>
                    </a:cubicBezTo>
                    <a:cubicBezTo>
                      <a:pt x="165" y="743"/>
                      <a:pt x="168" y="749"/>
                      <a:pt x="166" y="748"/>
                    </a:cubicBezTo>
                    <a:cubicBezTo>
                      <a:pt x="163" y="747"/>
                      <a:pt x="164" y="747"/>
                      <a:pt x="163" y="747"/>
                    </a:cubicBezTo>
                    <a:cubicBezTo>
                      <a:pt x="162" y="746"/>
                      <a:pt x="161" y="746"/>
                      <a:pt x="161" y="748"/>
                    </a:cubicBezTo>
                    <a:cubicBezTo>
                      <a:pt x="160" y="750"/>
                      <a:pt x="159" y="751"/>
                      <a:pt x="159" y="749"/>
                    </a:cubicBezTo>
                    <a:cubicBezTo>
                      <a:pt x="159" y="748"/>
                      <a:pt x="159" y="746"/>
                      <a:pt x="157" y="748"/>
                    </a:cubicBezTo>
                    <a:cubicBezTo>
                      <a:pt x="156" y="750"/>
                      <a:pt x="154" y="754"/>
                      <a:pt x="153" y="755"/>
                    </a:cubicBezTo>
                    <a:cubicBezTo>
                      <a:pt x="152" y="756"/>
                      <a:pt x="152" y="756"/>
                      <a:pt x="153" y="757"/>
                    </a:cubicBezTo>
                    <a:cubicBezTo>
                      <a:pt x="154" y="758"/>
                      <a:pt x="156" y="760"/>
                      <a:pt x="154" y="761"/>
                    </a:cubicBezTo>
                    <a:cubicBezTo>
                      <a:pt x="151" y="762"/>
                      <a:pt x="145" y="760"/>
                      <a:pt x="143" y="759"/>
                    </a:cubicBezTo>
                    <a:cubicBezTo>
                      <a:pt x="141" y="759"/>
                      <a:pt x="139" y="759"/>
                      <a:pt x="140" y="760"/>
                    </a:cubicBezTo>
                    <a:cubicBezTo>
                      <a:pt x="141" y="761"/>
                      <a:pt x="143" y="761"/>
                      <a:pt x="142" y="762"/>
                    </a:cubicBezTo>
                    <a:cubicBezTo>
                      <a:pt x="140" y="763"/>
                      <a:pt x="136" y="763"/>
                      <a:pt x="139" y="764"/>
                    </a:cubicBezTo>
                    <a:cubicBezTo>
                      <a:pt x="141" y="765"/>
                      <a:pt x="144" y="766"/>
                      <a:pt x="146" y="768"/>
                    </a:cubicBezTo>
                    <a:cubicBezTo>
                      <a:pt x="148" y="770"/>
                      <a:pt x="151" y="773"/>
                      <a:pt x="153" y="772"/>
                    </a:cubicBezTo>
                    <a:cubicBezTo>
                      <a:pt x="155" y="772"/>
                      <a:pt x="157" y="772"/>
                      <a:pt x="159" y="775"/>
                    </a:cubicBezTo>
                    <a:cubicBezTo>
                      <a:pt x="160" y="778"/>
                      <a:pt x="162" y="778"/>
                      <a:pt x="166" y="779"/>
                    </a:cubicBezTo>
                    <a:cubicBezTo>
                      <a:pt x="170" y="780"/>
                      <a:pt x="173" y="783"/>
                      <a:pt x="177" y="786"/>
                    </a:cubicBezTo>
                    <a:cubicBezTo>
                      <a:pt x="179" y="788"/>
                      <a:pt x="183" y="793"/>
                      <a:pt x="188" y="796"/>
                    </a:cubicBezTo>
                    <a:cubicBezTo>
                      <a:pt x="188" y="794"/>
                      <a:pt x="188" y="794"/>
                      <a:pt x="188" y="794"/>
                    </a:cubicBezTo>
                    <a:cubicBezTo>
                      <a:pt x="188" y="794"/>
                      <a:pt x="189" y="793"/>
                      <a:pt x="191" y="793"/>
                    </a:cubicBezTo>
                    <a:cubicBezTo>
                      <a:pt x="192" y="793"/>
                      <a:pt x="195" y="794"/>
                      <a:pt x="195" y="794"/>
                    </a:cubicBezTo>
                    <a:cubicBezTo>
                      <a:pt x="196" y="794"/>
                      <a:pt x="198" y="793"/>
                      <a:pt x="198" y="794"/>
                    </a:cubicBezTo>
                    <a:cubicBezTo>
                      <a:pt x="199" y="794"/>
                      <a:pt x="202" y="795"/>
                      <a:pt x="202" y="795"/>
                    </a:cubicBezTo>
                    <a:cubicBezTo>
                      <a:pt x="203" y="796"/>
                      <a:pt x="209" y="798"/>
                      <a:pt x="210" y="798"/>
                    </a:cubicBezTo>
                    <a:cubicBezTo>
                      <a:pt x="211" y="798"/>
                      <a:pt x="218" y="800"/>
                      <a:pt x="218" y="800"/>
                    </a:cubicBezTo>
                    <a:cubicBezTo>
                      <a:pt x="218" y="800"/>
                      <a:pt x="219" y="800"/>
                      <a:pt x="220" y="799"/>
                    </a:cubicBezTo>
                    <a:cubicBezTo>
                      <a:pt x="221" y="799"/>
                      <a:pt x="222" y="799"/>
                      <a:pt x="224" y="799"/>
                    </a:cubicBezTo>
                    <a:cubicBezTo>
                      <a:pt x="225" y="799"/>
                      <a:pt x="229" y="800"/>
                      <a:pt x="229" y="800"/>
                    </a:cubicBezTo>
                    <a:cubicBezTo>
                      <a:pt x="229" y="800"/>
                      <a:pt x="230" y="801"/>
                      <a:pt x="231" y="801"/>
                    </a:cubicBezTo>
                    <a:cubicBezTo>
                      <a:pt x="231" y="801"/>
                      <a:pt x="234" y="804"/>
                      <a:pt x="234" y="804"/>
                    </a:cubicBezTo>
                    <a:cubicBezTo>
                      <a:pt x="234" y="804"/>
                      <a:pt x="235" y="804"/>
                      <a:pt x="236" y="804"/>
                    </a:cubicBezTo>
                    <a:cubicBezTo>
                      <a:pt x="236" y="804"/>
                      <a:pt x="239" y="805"/>
                      <a:pt x="239" y="805"/>
                    </a:cubicBezTo>
                    <a:cubicBezTo>
                      <a:pt x="239" y="805"/>
                      <a:pt x="243" y="807"/>
                      <a:pt x="243" y="807"/>
                    </a:cubicBezTo>
                    <a:cubicBezTo>
                      <a:pt x="243" y="807"/>
                      <a:pt x="244" y="807"/>
                      <a:pt x="244" y="808"/>
                    </a:cubicBezTo>
                    <a:cubicBezTo>
                      <a:pt x="243" y="808"/>
                      <a:pt x="243" y="809"/>
                      <a:pt x="243" y="809"/>
                    </a:cubicBezTo>
                    <a:cubicBezTo>
                      <a:pt x="243" y="809"/>
                      <a:pt x="243" y="810"/>
                      <a:pt x="244" y="810"/>
                    </a:cubicBezTo>
                    <a:cubicBezTo>
                      <a:pt x="244" y="810"/>
                      <a:pt x="246" y="811"/>
                      <a:pt x="246" y="811"/>
                    </a:cubicBezTo>
                    <a:cubicBezTo>
                      <a:pt x="246" y="811"/>
                      <a:pt x="247" y="811"/>
                      <a:pt x="248" y="811"/>
                    </a:cubicBezTo>
                    <a:cubicBezTo>
                      <a:pt x="249" y="810"/>
                      <a:pt x="250" y="810"/>
                      <a:pt x="250" y="810"/>
                    </a:cubicBezTo>
                    <a:cubicBezTo>
                      <a:pt x="251" y="809"/>
                      <a:pt x="252" y="808"/>
                      <a:pt x="252" y="808"/>
                    </a:cubicBezTo>
                    <a:cubicBezTo>
                      <a:pt x="253" y="808"/>
                      <a:pt x="255" y="807"/>
                      <a:pt x="256" y="808"/>
                    </a:cubicBezTo>
                    <a:cubicBezTo>
                      <a:pt x="257" y="808"/>
                      <a:pt x="257" y="808"/>
                      <a:pt x="257" y="809"/>
                    </a:cubicBezTo>
                    <a:cubicBezTo>
                      <a:pt x="258" y="809"/>
                      <a:pt x="259" y="810"/>
                      <a:pt x="259" y="810"/>
                    </a:cubicBezTo>
                    <a:cubicBezTo>
                      <a:pt x="259" y="810"/>
                      <a:pt x="259" y="810"/>
                      <a:pt x="259" y="809"/>
                    </a:cubicBezTo>
                    <a:cubicBezTo>
                      <a:pt x="260" y="808"/>
                      <a:pt x="260" y="808"/>
                      <a:pt x="261" y="808"/>
                    </a:cubicBezTo>
                    <a:cubicBezTo>
                      <a:pt x="261" y="808"/>
                      <a:pt x="263" y="809"/>
                      <a:pt x="263" y="809"/>
                    </a:cubicBezTo>
                    <a:cubicBezTo>
                      <a:pt x="264" y="809"/>
                      <a:pt x="266" y="811"/>
                      <a:pt x="267" y="811"/>
                    </a:cubicBezTo>
                    <a:cubicBezTo>
                      <a:pt x="267" y="811"/>
                      <a:pt x="273" y="813"/>
                      <a:pt x="273" y="813"/>
                    </a:cubicBezTo>
                    <a:cubicBezTo>
                      <a:pt x="273" y="813"/>
                      <a:pt x="273" y="813"/>
                      <a:pt x="273" y="813"/>
                    </a:cubicBezTo>
                    <a:cubicBezTo>
                      <a:pt x="273" y="814"/>
                      <a:pt x="272" y="817"/>
                      <a:pt x="272" y="817"/>
                    </a:cubicBezTo>
                    <a:cubicBezTo>
                      <a:pt x="272" y="817"/>
                      <a:pt x="271" y="817"/>
                      <a:pt x="272" y="818"/>
                    </a:cubicBezTo>
                    <a:cubicBezTo>
                      <a:pt x="273" y="818"/>
                      <a:pt x="278" y="821"/>
                      <a:pt x="278" y="821"/>
                    </a:cubicBezTo>
                    <a:cubicBezTo>
                      <a:pt x="278" y="821"/>
                      <a:pt x="279" y="821"/>
                      <a:pt x="279" y="821"/>
                    </a:cubicBezTo>
                    <a:cubicBezTo>
                      <a:pt x="280" y="821"/>
                      <a:pt x="280" y="821"/>
                      <a:pt x="281" y="822"/>
                    </a:cubicBezTo>
                    <a:cubicBezTo>
                      <a:pt x="281" y="822"/>
                      <a:pt x="282" y="823"/>
                      <a:pt x="284" y="823"/>
                    </a:cubicBezTo>
                    <a:cubicBezTo>
                      <a:pt x="284" y="823"/>
                      <a:pt x="284" y="823"/>
                      <a:pt x="285" y="823"/>
                    </a:cubicBezTo>
                    <a:cubicBezTo>
                      <a:pt x="286" y="823"/>
                      <a:pt x="288" y="824"/>
                      <a:pt x="288" y="824"/>
                    </a:cubicBezTo>
                    <a:cubicBezTo>
                      <a:pt x="288" y="824"/>
                      <a:pt x="288" y="824"/>
                      <a:pt x="288" y="824"/>
                    </a:cubicBezTo>
                    <a:cubicBezTo>
                      <a:pt x="289" y="825"/>
                      <a:pt x="292" y="829"/>
                      <a:pt x="292" y="829"/>
                    </a:cubicBezTo>
                    <a:cubicBezTo>
                      <a:pt x="293" y="829"/>
                      <a:pt x="295" y="831"/>
                      <a:pt x="295" y="831"/>
                    </a:cubicBezTo>
                    <a:cubicBezTo>
                      <a:pt x="295" y="831"/>
                      <a:pt x="295" y="832"/>
                      <a:pt x="296" y="833"/>
                    </a:cubicBezTo>
                    <a:cubicBezTo>
                      <a:pt x="296" y="833"/>
                      <a:pt x="297" y="834"/>
                      <a:pt x="298" y="834"/>
                    </a:cubicBezTo>
                    <a:cubicBezTo>
                      <a:pt x="299" y="834"/>
                      <a:pt x="302" y="836"/>
                      <a:pt x="303" y="835"/>
                    </a:cubicBezTo>
                    <a:cubicBezTo>
                      <a:pt x="303" y="835"/>
                      <a:pt x="304" y="835"/>
                      <a:pt x="305" y="835"/>
                    </a:cubicBezTo>
                    <a:cubicBezTo>
                      <a:pt x="305" y="834"/>
                      <a:pt x="307" y="832"/>
                      <a:pt x="307" y="831"/>
                    </a:cubicBezTo>
                    <a:cubicBezTo>
                      <a:pt x="308" y="831"/>
                      <a:pt x="314" y="826"/>
                      <a:pt x="314" y="826"/>
                    </a:cubicBezTo>
                    <a:cubicBezTo>
                      <a:pt x="314" y="826"/>
                      <a:pt x="315" y="825"/>
                      <a:pt x="315" y="824"/>
                    </a:cubicBezTo>
                    <a:cubicBezTo>
                      <a:pt x="315" y="823"/>
                      <a:pt x="314" y="823"/>
                      <a:pt x="314" y="822"/>
                    </a:cubicBezTo>
                    <a:cubicBezTo>
                      <a:pt x="311" y="819"/>
                      <a:pt x="307" y="813"/>
                      <a:pt x="305" y="811"/>
                    </a:cubicBezTo>
                    <a:cubicBezTo>
                      <a:pt x="303" y="809"/>
                      <a:pt x="302" y="805"/>
                      <a:pt x="301" y="805"/>
                    </a:cubicBezTo>
                    <a:cubicBezTo>
                      <a:pt x="300" y="804"/>
                      <a:pt x="300" y="803"/>
                      <a:pt x="300" y="801"/>
                    </a:cubicBezTo>
                    <a:cubicBezTo>
                      <a:pt x="301" y="798"/>
                      <a:pt x="302" y="789"/>
                      <a:pt x="302" y="789"/>
                    </a:cubicBezTo>
                    <a:cubicBezTo>
                      <a:pt x="302" y="789"/>
                      <a:pt x="302" y="787"/>
                      <a:pt x="301" y="787"/>
                    </a:cubicBezTo>
                    <a:cubicBezTo>
                      <a:pt x="300" y="788"/>
                      <a:pt x="299" y="789"/>
                      <a:pt x="299" y="791"/>
                    </a:cubicBezTo>
                    <a:cubicBezTo>
                      <a:pt x="299" y="792"/>
                      <a:pt x="297" y="794"/>
                      <a:pt x="297" y="792"/>
                    </a:cubicBezTo>
                    <a:cubicBezTo>
                      <a:pt x="298" y="790"/>
                      <a:pt x="300" y="790"/>
                      <a:pt x="298" y="787"/>
                    </a:cubicBezTo>
                    <a:cubicBezTo>
                      <a:pt x="296" y="783"/>
                      <a:pt x="295" y="781"/>
                      <a:pt x="292" y="779"/>
                    </a:cubicBezTo>
                    <a:cubicBezTo>
                      <a:pt x="289" y="778"/>
                      <a:pt x="285" y="778"/>
                      <a:pt x="288" y="775"/>
                    </a:cubicBezTo>
                    <a:cubicBezTo>
                      <a:pt x="291" y="771"/>
                      <a:pt x="296" y="766"/>
                      <a:pt x="297" y="763"/>
                    </a:cubicBezTo>
                    <a:cubicBezTo>
                      <a:pt x="297" y="760"/>
                      <a:pt x="299" y="758"/>
                      <a:pt x="299" y="757"/>
                    </a:cubicBezTo>
                    <a:cubicBezTo>
                      <a:pt x="298" y="755"/>
                      <a:pt x="298" y="753"/>
                      <a:pt x="299" y="754"/>
                    </a:cubicBezTo>
                    <a:cubicBezTo>
                      <a:pt x="300" y="756"/>
                      <a:pt x="302" y="757"/>
                      <a:pt x="301" y="755"/>
                    </a:cubicBezTo>
                    <a:cubicBezTo>
                      <a:pt x="301" y="752"/>
                      <a:pt x="302" y="753"/>
                      <a:pt x="303" y="754"/>
                    </a:cubicBezTo>
                    <a:cubicBezTo>
                      <a:pt x="303" y="755"/>
                      <a:pt x="304" y="756"/>
                      <a:pt x="305" y="755"/>
                    </a:cubicBezTo>
                    <a:cubicBezTo>
                      <a:pt x="306" y="754"/>
                      <a:pt x="307" y="753"/>
                      <a:pt x="308" y="753"/>
                    </a:cubicBezTo>
                    <a:cubicBezTo>
                      <a:pt x="310" y="754"/>
                      <a:pt x="311" y="753"/>
                      <a:pt x="312" y="752"/>
                    </a:cubicBezTo>
                    <a:cubicBezTo>
                      <a:pt x="313" y="750"/>
                      <a:pt x="315" y="749"/>
                      <a:pt x="317" y="750"/>
                    </a:cubicBezTo>
                    <a:cubicBezTo>
                      <a:pt x="318" y="751"/>
                      <a:pt x="319" y="753"/>
                      <a:pt x="318" y="748"/>
                    </a:cubicBezTo>
                    <a:cubicBezTo>
                      <a:pt x="318" y="748"/>
                      <a:pt x="317" y="746"/>
                      <a:pt x="319" y="746"/>
                    </a:cubicBezTo>
                    <a:cubicBezTo>
                      <a:pt x="321" y="746"/>
                      <a:pt x="323" y="746"/>
                      <a:pt x="323" y="744"/>
                    </a:cubicBezTo>
                    <a:cubicBezTo>
                      <a:pt x="324" y="743"/>
                      <a:pt x="323" y="742"/>
                      <a:pt x="324" y="743"/>
                    </a:cubicBezTo>
                    <a:cubicBezTo>
                      <a:pt x="325" y="743"/>
                      <a:pt x="326" y="743"/>
                      <a:pt x="325" y="743"/>
                    </a:cubicBezTo>
                    <a:cubicBezTo>
                      <a:pt x="319" y="740"/>
                      <a:pt x="319" y="740"/>
                      <a:pt x="319" y="740"/>
                    </a:cubicBezTo>
                    <a:cubicBezTo>
                      <a:pt x="319" y="740"/>
                      <a:pt x="317" y="739"/>
                      <a:pt x="317" y="739"/>
                    </a:cubicBezTo>
                    <a:cubicBezTo>
                      <a:pt x="316" y="738"/>
                      <a:pt x="315" y="738"/>
                      <a:pt x="314" y="737"/>
                    </a:cubicBezTo>
                    <a:cubicBezTo>
                      <a:pt x="314" y="736"/>
                      <a:pt x="313" y="736"/>
                      <a:pt x="314" y="736"/>
                    </a:cubicBezTo>
                    <a:cubicBezTo>
                      <a:pt x="314" y="735"/>
                      <a:pt x="315" y="734"/>
                      <a:pt x="316" y="734"/>
                    </a:cubicBezTo>
                    <a:cubicBezTo>
                      <a:pt x="317" y="735"/>
                      <a:pt x="319" y="736"/>
                      <a:pt x="320" y="735"/>
                    </a:cubicBezTo>
                    <a:cubicBezTo>
                      <a:pt x="321" y="735"/>
                      <a:pt x="322" y="734"/>
                      <a:pt x="320" y="732"/>
                    </a:cubicBezTo>
                    <a:cubicBezTo>
                      <a:pt x="319" y="731"/>
                      <a:pt x="312" y="721"/>
                      <a:pt x="311" y="719"/>
                    </a:cubicBezTo>
                    <a:cubicBezTo>
                      <a:pt x="310" y="717"/>
                      <a:pt x="308" y="714"/>
                      <a:pt x="305" y="715"/>
                    </a:cubicBezTo>
                    <a:cubicBezTo>
                      <a:pt x="302" y="716"/>
                      <a:pt x="299" y="717"/>
                      <a:pt x="296" y="716"/>
                    </a:cubicBezTo>
                    <a:cubicBezTo>
                      <a:pt x="293" y="715"/>
                      <a:pt x="294" y="715"/>
                      <a:pt x="294" y="715"/>
                    </a:cubicBezTo>
                    <a:cubicBezTo>
                      <a:pt x="294" y="715"/>
                      <a:pt x="294" y="714"/>
                      <a:pt x="294" y="714"/>
                    </a:cubicBezTo>
                    <a:cubicBezTo>
                      <a:pt x="294" y="714"/>
                      <a:pt x="294" y="707"/>
                      <a:pt x="294" y="707"/>
                    </a:cubicBezTo>
                    <a:cubicBezTo>
                      <a:pt x="294" y="707"/>
                      <a:pt x="294" y="706"/>
                      <a:pt x="293" y="706"/>
                    </a:cubicBezTo>
                    <a:cubicBezTo>
                      <a:pt x="292" y="706"/>
                      <a:pt x="285" y="703"/>
                      <a:pt x="285" y="703"/>
                    </a:cubicBezTo>
                    <a:cubicBezTo>
                      <a:pt x="285" y="703"/>
                      <a:pt x="284" y="703"/>
                      <a:pt x="284" y="702"/>
                    </a:cubicBezTo>
                    <a:cubicBezTo>
                      <a:pt x="285" y="701"/>
                      <a:pt x="287" y="695"/>
                      <a:pt x="291" y="692"/>
                    </a:cubicBezTo>
                    <a:cubicBezTo>
                      <a:pt x="294" y="688"/>
                      <a:pt x="291" y="686"/>
                      <a:pt x="290" y="686"/>
                    </a:cubicBezTo>
                    <a:cubicBezTo>
                      <a:pt x="290" y="686"/>
                      <a:pt x="289" y="685"/>
                      <a:pt x="289" y="685"/>
                    </a:cubicBezTo>
                    <a:cubicBezTo>
                      <a:pt x="289" y="684"/>
                      <a:pt x="289" y="678"/>
                      <a:pt x="290" y="676"/>
                    </a:cubicBezTo>
                    <a:cubicBezTo>
                      <a:pt x="290" y="675"/>
                      <a:pt x="291" y="675"/>
                      <a:pt x="292" y="675"/>
                    </a:cubicBezTo>
                    <a:cubicBezTo>
                      <a:pt x="293" y="674"/>
                      <a:pt x="295" y="674"/>
                      <a:pt x="296" y="672"/>
                    </a:cubicBezTo>
                    <a:cubicBezTo>
                      <a:pt x="297" y="670"/>
                      <a:pt x="298" y="667"/>
                      <a:pt x="298" y="666"/>
                    </a:cubicBezTo>
                    <a:cubicBezTo>
                      <a:pt x="298" y="665"/>
                      <a:pt x="298" y="665"/>
                      <a:pt x="299" y="665"/>
                    </a:cubicBezTo>
                    <a:cubicBezTo>
                      <a:pt x="299" y="665"/>
                      <a:pt x="302" y="665"/>
                      <a:pt x="302" y="665"/>
                    </a:cubicBezTo>
                    <a:cubicBezTo>
                      <a:pt x="302" y="665"/>
                      <a:pt x="302" y="665"/>
                      <a:pt x="303" y="666"/>
                    </a:cubicBezTo>
                    <a:cubicBezTo>
                      <a:pt x="303" y="666"/>
                      <a:pt x="309" y="673"/>
                      <a:pt x="310" y="674"/>
                    </a:cubicBezTo>
                    <a:cubicBezTo>
                      <a:pt x="311" y="675"/>
                      <a:pt x="313" y="676"/>
                      <a:pt x="313" y="676"/>
                    </a:cubicBezTo>
                    <a:cubicBezTo>
                      <a:pt x="314" y="676"/>
                      <a:pt x="315" y="675"/>
                      <a:pt x="317" y="674"/>
                    </a:cubicBezTo>
                    <a:cubicBezTo>
                      <a:pt x="318" y="674"/>
                      <a:pt x="320" y="673"/>
                      <a:pt x="320" y="672"/>
                    </a:cubicBezTo>
                    <a:cubicBezTo>
                      <a:pt x="320" y="672"/>
                      <a:pt x="320" y="671"/>
                      <a:pt x="319" y="671"/>
                    </a:cubicBezTo>
                    <a:cubicBezTo>
                      <a:pt x="318" y="670"/>
                      <a:pt x="318" y="670"/>
                      <a:pt x="318" y="670"/>
                    </a:cubicBezTo>
                    <a:cubicBezTo>
                      <a:pt x="318" y="669"/>
                      <a:pt x="318" y="668"/>
                      <a:pt x="318" y="668"/>
                    </a:cubicBezTo>
                    <a:cubicBezTo>
                      <a:pt x="318" y="667"/>
                      <a:pt x="317" y="663"/>
                      <a:pt x="316" y="663"/>
                    </a:cubicBezTo>
                    <a:cubicBezTo>
                      <a:pt x="316" y="662"/>
                      <a:pt x="315" y="661"/>
                      <a:pt x="315" y="660"/>
                    </a:cubicBezTo>
                    <a:cubicBezTo>
                      <a:pt x="316" y="660"/>
                      <a:pt x="316" y="660"/>
                      <a:pt x="316" y="660"/>
                    </a:cubicBezTo>
                    <a:cubicBezTo>
                      <a:pt x="317" y="661"/>
                      <a:pt x="318" y="661"/>
                      <a:pt x="319" y="660"/>
                    </a:cubicBezTo>
                    <a:cubicBezTo>
                      <a:pt x="319" y="660"/>
                      <a:pt x="324" y="657"/>
                      <a:pt x="324" y="657"/>
                    </a:cubicBezTo>
                    <a:cubicBezTo>
                      <a:pt x="325" y="657"/>
                      <a:pt x="328" y="656"/>
                      <a:pt x="328" y="655"/>
                    </a:cubicBezTo>
                    <a:cubicBezTo>
                      <a:pt x="327" y="654"/>
                      <a:pt x="327" y="653"/>
                      <a:pt x="327" y="653"/>
                    </a:cubicBezTo>
                    <a:cubicBezTo>
                      <a:pt x="328" y="653"/>
                      <a:pt x="340" y="648"/>
                      <a:pt x="341" y="647"/>
                    </a:cubicBezTo>
                    <a:cubicBezTo>
                      <a:pt x="342" y="646"/>
                      <a:pt x="344" y="643"/>
                      <a:pt x="344" y="642"/>
                    </a:cubicBezTo>
                    <a:cubicBezTo>
                      <a:pt x="344" y="642"/>
                      <a:pt x="344" y="642"/>
                      <a:pt x="345" y="642"/>
                    </a:cubicBezTo>
                    <a:cubicBezTo>
                      <a:pt x="345" y="642"/>
                      <a:pt x="348" y="642"/>
                      <a:pt x="348" y="640"/>
                    </a:cubicBezTo>
                    <a:cubicBezTo>
                      <a:pt x="348" y="639"/>
                      <a:pt x="348" y="639"/>
                      <a:pt x="348" y="639"/>
                    </a:cubicBezTo>
                    <a:cubicBezTo>
                      <a:pt x="348" y="639"/>
                      <a:pt x="347" y="638"/>
                      <a:pt x="348" y="638"/>
                    </a:cubicBezTo>
                    <a:cubicBezTo>
                      <a:pt x="349" y="638"/>
                      <a:pt x="356" y="640"/>
                      <a:pt x="357" y="641"/>
                    </a:cubicBezTo>
                    <a:cubicBezTo>
                      <a:pt x="357" y="642"/>
                      <a:pt x="357" y="642"/>
                      <a:pt x="357" y="642"/>
                    </a:cubicBezTo>
                    <a:cubicBezTo>
                      <a:pt x="356" y="642"/>
                      <a:pt x="356" y="643"/>
                      <a:pt x="357" y="643"/>
                    </a:cubicBezTo>
                    <a:cubicBezTo>
                      <a:pt x="357" y="643"/>
                      <a:pt x="359" y="645"/>
                      <a:pt x="361" y="644"/>
                    </a:cubicBezTo>
                    <a:cubicBezTo>
                      <a:pt x="363" y="644"/>
                      <a:pt x="363" y="643"/>
                      <a:pt x="363" y="643"/>
                    </a:cubicBezTo>
                    <a:cubicBezTo>
                      <a:pt x="362" y="642"/>
                      <a:pt x="363" y="641"/>
                      <a:pt x="363" y="641"/>
                    </a:cubicBezTo>
                    <a:cubicBezTo>
                      <a:pt x="364" y="640"/>
                      <a:pt x="365" y="640"/>
                      <a:pt x="366" y="640"/>
                    </a:cubicBezTo>
                    <a:cubicBezTo>
                      <a:pt x="366" y="640"/>
                      <a:pt x="370" y="639"/>
                      <a:pt x="370" y="638"/>
                    </a:cubicBezTo>
                    <a:cubicBezTo>
                      <a:pt x="371" y="638"/>
                      <a:pt x="371" y="638"/>
                      <a:pt x="371" y="638"/>
                    </a:cubicBezTo>
                    <a:cubicBezTo>
                      <a:pt x="371" y="639"/>
                      <a:pt x="373" y="643"/>
                      <a:pt x="374" y="644"/>
                    </a:cubicBezTo>
                    <a:cubicBezTo>
                      <a:pt x="375" y="644"/>
                      <a:pt x="376" y="644"/>
                      <a:pt x="376" y="644"/>
                    </a:cubicBezTo>
                    <a:cubicBezTo>
                      <a:pt x="377" y="643"/>
                      <a:pt x="378" y="643"/>
                      <a:pt x="378" y="643"/>
                    </a:cubicBezTo>
                    <a:cubicBezTo>
                      <a:pt x="379" y="643"/>
                      <a:pt x="382" y="644"/>
                      <a:pt x="383" y="644"/>
                    </a:cubicBezTo>
                    <a:cubicBezTo>
                      <a:pt x="385" y="643"/>
                      <a:pt x="387" y="644"/>
                      <a:pt x="388" y="645"/>
                    </a:cubicBezTo>
                    <a:cubicBezTo>
                      <a:pt x="390" y="646"/>
                      <a:pt x="400" y="654"/>
                      <a:pt x="401" y="654"/>
                    </a:cubicBezTo>
                    <a:cubicBezTo>
                      <a:pt x="402" y="655"/>
                      <a:pt x="403" y="656"/>
                      <a:pt x="403" y="657"/>
                    </a:cubicBezTo>
                    <a:cubicBezTo>
                      <a:pt x="402" y="657"/>
                      <a:pt x="402" y="657"/>
                      <a:pt x="402" y="658"/>
                    </a:cubicBezTo>
                    <a:cubicBezTo>
                      <a:pt x="402" y="659"/>
                      <a:pt x="403" y="662"/>
                      <a:pt x="403" y="662"/>
                    </a:cubicBezTo>
                    <a:cubicBezTo>
                      <a:pt x="403" y="662"/>
                      <a:pt x="403" y="663"/>
                      <a:pt x="404" y="662"/>
                    </a:cubicBezTo>
                    <a:cubicBezTo>
                      <a:pt x="405" y="662"/>
                      <a:pt x="406" y="661"/>
                      <a:pt x="406" y="659"/>
                    </a:cubicBezTo>
                    <a:cubicBezTo>
                      <a:pt x="405" y="657"/>
                      <a:pt x="406" y="656"/>
                      <a:pt x="405" y="656"/>
                    </a:cubicBezTo>
                    <a:cubicBezTo>
                      <a:pt x="405" y="655"/>
                      <a:pt x="404" y="653"/>
                      <a:pt x="404" y="653"/>
                    </a:cubicBezTo>
                    <a:cubicBezTo>
                      <a:pt x="404" y="653"/>
                      <a:pt x="405" y="652"/>
                      <a:pt x="405" y="653"/>
                    </a:cubicBezTo>
                    <a:cubicBezTo>
                      <a:pt x="405" y="653"/>
                      <a:pt x="407" y="652"/>
                      <a:pt x="409" y="654"/>
                    </a:cubicBezTo>
                    <a:cubicBezTo>
                      <a:pt x="410" y="656"/>
                      <a:pt x="411" y="656"/>
                      <a:pt x="412" y="656"/>
                    </a:cubicBezTo>
                    <a:cubicBezTo>
                      <a:pt x="412" y="657"/>
                      <a:pt x="420" y="662"/>
                      <a:pt x="420" y="662"/>
                    </a:cubicBezTo>
                    <a:cubicBezTo>
                      <a:pt x="420" y="662"/>
                      <a:pt x="421" y="662"/>
                      <a:pt x="421" y="662"/>
                    </a:cubicBezTo>
                    <a:cubicBezTo>
                      <a:pt x="421" y="661"/>
                      <a:pt x="422" y="661"/>
                      <a:pt x="422" y="661"/>
                    </a:cubicBezTo>
                    <a:cubicBezTo>
                      <a:pt x="423" y="661"/>
                      <a:pt x="426" y="659"/>
                      <a:pt x="427" y="657"/>
                    </a:cubicBezTo>
                    <a:cubicBezTo>
                      <a:pt x="428" y="655"/>
                      <a:pt x="428" y="656"/>
                      <a:pt x="429" y="655"/>
                    </a:cubicBezTo>
                    <a:cubicBezTo>
                      <a:pt x="430" y="655"/>
                      <a:pt x="430" y="655"/>
                      <a:pt x="431" y="654"/>
                    </a:cubicBezTo>
                    <a:cubicBezTo>
                      <a:pt x="431" y="653"/>
                      <a:pt x="432" y="652"/>
                      <a:pt x="432" y="652"/>
                    </a:cubicBezTo>
                    <a:cubicBezTo>
                      <a:pt x="433" y="652"/>
                      <a:pt x="440" y="651"/>
                      <a:pt x="440" y="651"/>
                    </a:cubicBezTo>
                    <a:cubicBezTo>
                      <a:pt x="441" y="651"/>
                      <a:pt x="443" y="651"/>
                      <a:pt x="444" y="652"/>
                    </a:cubicBezTo>
                    <a:cubicBezTo>
                      <a:pt x="445" y="654"/>
                      <a:pt x="446" y="656"/>
                      <a:pt x="448" y="656"/>
                    </a:cubicBezTo>
                    <a:cubicBezTo>
                      <a:pt x="449" y="656"/>
                      <a:pt x="451" y="655"/>
                      <a:pt x="451" y="654"/>
                    </a:cubicBezTo>
                    <a:cubicBezTo>
                      <a:pt x="452" y="652"/>
                      <a:pt x="452" y="651"/>
                      <a:pt x="452" y="651"/>
                    </a:cubicBezTo>
                    <a:cubicBezTo>
                      <a:pt x="452" y="651"/>
                      <a:pt x="452" y="651"/>
                      <a:pt x="452" y="651"/>
                    </a:cubicBezTo>
                    <a:cubicBezTo>
                      <a:pt x="453" y="651"/>
                      <a:pt x="457" y="651"/>
                      <a:pt x="458" y="651"/>
                    </a:cubicBezTo>
                    <a:cubicBezTo>
                      <a:pt x="459" y="651"/>
                      <a:pt x="460" y="651"/>
                      <a:pt x="461" y="651"/>
                    </a:cubicBezTo>
                    <a:cubicBezTo>
                      <a:pt x="462" y="651"/>
                      <a:pt x="464" y="653"/>
                      <a:pt x="464" y="653"/>
                    </a:cubicBezTo>
                    <a:cubicBezTo>
                      <a:pt x="464" y="653"/>
                      <a:pt x="464" y="654"/>
                      <a:pt x="464" y="654"/>
                    </a:cubicBezTo>
                    <a:cubicBezTo>
                      <a:pt x="464" y="655"/>
                      <a:pt x="465" y="658"/>
                      <a:pt x="469" y="659"/>
                    </a:cubicBezTo>
                    <a:cubicBezTo>
                      <a:pt x="473" y="660"/>
                      <a:pt x="476" y="661"/>
                      <a:pt x="476" y="661"/>
                    </a:cubicBezTo>
                    <a:cubicBezTo>
                      <a:pt x="477" y="661"/>
                      <a:pt x="478" y="661"/>
                      <a:pt x="478" y="662"/>
                    </a:cubicBezTo>
                    <a:cubicBezTo>
                      <a:pt x="478" y="663"/>
                      <a:pt x="478" y="663"/>
                      <a:pt x="478" y="663"/>
                    </a:cubicBezTo>
                    <a:cubicBezTo>
                      <a:pt x="479" y="663"/>
                      <a:pt x="480" y="662"/>
                      <a:pt x="481" y="662"/>
                    </a:cubicBezTo>
                    <a:cubicBezTo>
                      <a:pt x="481" y="662"/>
                      <a:pt x="483" y="661"/>
                      <a:pt x="483" y="660"/>
                    </a:cubicBezTo>
                    <a:cubicBezTo>
                      <a:pt x="483" y="659"/>
                      <a:pt x="484" y="657"/>
                      <a:pt x="484" y="657"/>
                    </a:cubicBezTo>
                    <a:cubicBezTo>
                      <a:pt x="485" y="656"/>
                      <a:pt x="485" y="656"/>
                      <a:pt x="485" y="656"/>
                    </a:cubicBezTo>
                    <a:cubicBezTo>
                      <a:pt x="485" y="657"/>
                      <a:pt x="487" y="658"/>
                      <a:pt x="488" y="658"/>
                    </a:cubicBezTo>
                    <a:cubicBezTo>
                      <a:pt x="490" y="658"/>
                      <a:pt x="494" y="660"/>
                      <a:pt x="496" y="660"/>
                    </a:cubicBezTo>
                    <a:cubicBezTo>
                      <a:pt x="498" y="659"/>
                      <a:pt x="501" y="658"/>
                      <a:pt x="502" y="658"/>
                    </a:cubicBezTo>
                    <a:cubicBezTo>
                      <a:pt x="503" y="658"/>
                      <a:pt x="506" y="658"/>
                      <a:pt x="506" y="655"/>
                    </a:cubicBezTo>
                    <a:cubicBezTo>
                      <a:pt x="507" y="653"/>
                      <a:pt x="507" y="651"/>
                      <a:pt x="508" y="651"/>
                    </a:cubicBezTo>
                    <a:cubicBezTo>
                      <a:pt x="508" y="650"/>
                      <a:pt x="509" y="648"/>
                      <a:pt x="509" y="648"/>
                    </a:cubicBezTo>
                    <a:cubicBezTo>
                      <a:pt x="509" y="648"/>
                      <a:pt x="510" y="648"/>
                      <a:pt x="509" y="648"/>
                    </a:cubicBezTo>
                    <a:cubicBezTo>
                      <a:pt x="508" y="647"/>
                      <a:pt x="493" y="640"/>
                      <a:pt x="491" y="639"/>
                    </a:cubicBezTo>
                    <a:cubicBezTo>
                      <a:pt x="490" y="639"/>
                      <a:pt x="487" y="636"/>
                      <a:pt x="487" y="636"/>
                    </a:cubicBezTo>
                    <a:cubicBezTo>
                      <a:pt x="487" y="636"/>
                      <a:pt x="486" y="636"/>
                      <a:pt x="486" y="636"/>
                    </a:cubicBezTo>
                    <a:cubicBezTo>
                      <a:pt x="486" y="635"/>
                      <a:pt x="485" y="634"/>
                      <a:pt x="485" y="634"/>
                    </a:cubicBezTo>
                    <a:cubicBezTo>
                      <a:pt x="485" y="634"/>
                      <a:pt x="485" y="633"/>
                      <a:pt x="486" y="633"/>
                    </a:cubicBezTo>
                    <a:cubicBezTo>
                      <a:pt x="486" y="633"/>
                      <a:pt x="488" y="633"/>
                      <a:pt x="488" y="633"/>
                    </a:cubicBezTo>
                    <a:cubicBezTo>
                      <a:pt x="489" y="632"/>
                      <a:pt x="491" y="630"/>
                      <a:pt x="492" y="630"/>
                    </a:cubicBezTo>
                    <a:cubicBezTo>
                      <a:pt x="493" y="630"/>
                      <a:pt x="494" y="631"/>
                      <a:pt x="495" y="631"/>
                    </a:cubicBezTo>
                    <a:cubicBezTo>
                      <a:pt x="495" y="630"/>
                      <a:pt x="497" y="628"/>
                      <a:pt x="498" y="628"/>
                    </a:cubicBezTo>
                    <a:cubicBezTo>
                      <a:pt x="498" y="628"/>
                      <a:pt x="500" y="627"/>
                      <a:pt x="500" y="627"/>
                    </a:cubicBezTo>
                    <a:cubicBezTo>
                      <a:pt x="500" y="627"/>
                      <a:pt x="500" y="626"/>
                      <a:pt x="500" y="626"/>
                    </a:cubicBezTo>
                    <a:cubicBezTo>
                      <a:pt x="499" y="625"/>
                      <a:pt x="495" y="620"/>
                      <a:pt x="495" y="620"/>
                    </a:cubicBezTo>
                    <a:cubicBezTo>
                      <a:pt x="495" y="620"/>
                      <a:pt x="495" y="619"/>
                      <a:pt x="495" y="619"/>
                    </a:cubicBezTo>
                    <a:cubicBezTo>
                      <a:pt x="496" y="619"/>
                      <a:pt x="500" y="614"/>
                      <a:pt x="500" y="614"/>
                    </a:cubicBezTo>
                    <a:cubicBezTo>
                      <a:pt x="500" y="614"/>
                      <a:pt x="501" y="613"/>
                      <a:pt x="501" y="613"/>
                    </a:cubicBezTo>
                    <a:cubicBezTo>
                      <a:pt x="501" y="613"/>
                      <a:pt x="503" y="613"/>
                      <a:pt x="503" y="613"/>
                    </a:cubicBezTo>
                    <a:cubicBezTo>
                      <a:pt x="504" y="613"/>
                      <a:pt x="504" y="614"/>
                      <a:pt x="505" y="614"/>
                    </a:cubicBezTo>
                    <a:cubicBezTo>
                      <a:pt x="506" y="613"/>
                      <a:pt x="507" y="613"/>
                      <a:pt x="508" y="614"/>
                    </a:cubicBezTo>
                    <a:cubicBezTo>
                      <a:pt x="508" y="614"/>
                      <a:pt x="509" y="614"/>
                      <a:pt x="509" y="614"/>
                    </a:cubicBezTo>
                    <a:cubicBezTo>
                      <a:pt x="509" y="614"/>
                      <a:pt x="512" y="614"/>
                      <a:pt x="512" y="614"/>
                    </a:cubicBezTo>
                    <a:cubicBezTo>
                      <a:pt x="512" y="614"/>
                      <a:pt x="514" y="615"/>
                      <a:pt x="515" y="615"/>
                    </a:cubicBezTo>
                    <a:cubicBezTo>
                      <a:pt x="516" y="614"/>
                      <a:pt x="516" y="614"/>
                      <a:pt x="516" y="613"/>
                    </a:cubicBezTo>
                    <a:cubicBezTo>
                      <a:pt x="516" y="612"/>
                      <a:pt x="516" y="612"/>
                      <a:pt x="515" y="611"/>
                    </a:cubicBezTo>
                    <a:cubicBezTo>
                      <a:pt x="513" y="611"/>
                      <a:pt x="507" y="609"/>
                      <a:pt x="506" y="609"/>
                    </a:cubicBezTo>
                    <a:cubicBezTo>
                      <a:pt x="505" y="608"/>
                      <a:pt x="504" y="608"/>
                      <a:pt x="504" y="608"/>
                    </a:cubicBezTo>
                    <a:cubicBezTo>
                      <a:pt x="504" y="608"/>
                      <a:pt x="503" y="608"/>
                      <a:pt x="503" y="607"/>
                    </a:cubicBezTo>
                    <a:cubicBezTo>
                      <a:pt x="503" y="607"/>
                      <a:pt x="502" y="605"/>
                      <a:pt x="503" y="604"/>
                    </a:cubicBezTo>
                    <a:cubicBezTo>
                      <a:pt x="503" y="603"/>
                      <a:pt x="504" y="602"/>
                      <a:pt x="505" y="603"/>
                    </a:cubicBezTo>
                    <a:cubicBezTo>
                      <a:pt x="505" y="604"/>
                      <a:pt x="506" y="605"/>
                      <a:pt x="506" y="604"/>
                    </a:cubicBezTo>
                    <a:cubicBezTo>
                      <a:pt x="507" y="604"/>
                      <a:pt x="508" y="603"/>
                      <a:pt x="508" y="603"/>
                    </a:cubicBezTo>
                    <a:cubicBezTo>
                      <a:pt x="508" y="603"/>
                      <a:pt x="507" y="601"/>
                      <a:pt x="505" y="601"/>
                    </a:cubicBezTo>
                    <a:cubicBezTo>
                      <a:pt x="504" y="601"/>
                      <a:pt x="500" y="601"/>
                      <a:pt x="499" y="601"/>
                    </a:cubicBezTo>
                    <a:cubicBezTo>
                      <a:pt x="499" y="600"/>
                      <a:pt x="499" y="600"/>
                      <a:pt x="500" y="600"/>
                    </a:cubicBezTo>
                    <a:cubicBezTo>
                      <a:pt x="500" y="600"/>
                      <a:pt x="501" y="600"/>
                      <a:pt x="501" y="599"/>
                    </a:cubicBezTo>
                    <a:cubicBezTo>
                      <a:pt x="501" y="599"/>
                      <a:pt x="502" y="598"/>
                      <a:pt x="502" y="598"/>
                    </a:cubicBezTo>
                    <a:cubicBezTo>
                      <a:pt x="502" y="597"/>
                      <a:pt x="503" y="597"/>
                      <a:pt x="502" y="596"/>
                    </a:cubicBezTo>
                    <a:cubicBezTo>
                      <a:pt x="501" y="596"/>
                      <a:pt x="500" y="595"/>
                      <a:pt x="500" y="595"/>
                    </a:cubicBezTo>
                    <a:cubicBezTo>
                      <a:pt x="500" y="595"/>
                      <a:pt x="499" y="595"/>
                      <a:pt x="500" y="594"/>
                    </a:cubicBezTo>
                    <a:cubicBezTo>
                      <a:pt x="501" y="594"/>
                      <a:pt x="506" y="592"/>
                      <a:pt x="506" y="592"/>
                    </a:cubicBezTo>
                    <a:cubicBezTo>
                      <a:pt x="506" y="592"/>
                      <a:pt x="506" y="592"/>
                      <a:pt x="507" y="592"/>
                    </a:cubicBezTo>
                    <a:cubicBezTo>
                      <a:pt x="508" y="593"/>
                      <a:pt x="509" y="593"/>
                      <a:pt x="510" y="593"/>
                    </a:cubicBezTo>
                    <a:cubicBezTo>
                      <a:pt x="511" y="593"/>
                      <a:pt x="519" y="593"/>
                      <a:pt x="519" y="593"/>
                    </a:cubicBezTo>
                    <a:cubicBezTo>
                      <a:pt x="519" y="593"/>
                      <a:pt x="519" y="593"/>
                      <a:pt x="520" y="593"/>
                    </a:cubicBezTo>
                    <a:cubicBezTo>
                      <a:pt x="520" y="594"/>
                      <a:pt x="521" y="595"/>
                      <a:pt x="522" y="595"/>
                    </a:cubicBezTo>
                    <a:cubicBezTo>
                      <a:pt x="522" y="595"/>
                      <a:pt x="522" y="596"/>
                      <a:pt x="522" y="595"/>
                    </a:cubicBezTo>
                    <a:cubicBezTo>
                      <a:pt x="522" y="594"/>
                      <a:pt x="523" y="593"/>
                      <a:pt x="523" y="592"/>
                    </a:cubicBezTo>
                    <a:cubicBezTo>
                      <a:pt x="524" y="592"/>
                      <a:pt x="524" y="591"/>
                      <a:pt x="526" y="591"/>
                    </a:cubicBezTo>
                    <a:cubicBezTo>
                      <a:pt x="527" y="591"/>
                      <a:pt x="535" y="589"/>
                      <a:pt x="535" y="589"/>
                    </a:cubicBezTo>
                    <a:cubicBezTo>
                      <a:pt x="536" y="589"/>
                      <a:pt x="547" y="586"/>
                      <a:pt x="548" y="586"/>
                    </a:cubicBezTo>
                    <a:cubicBezTo>
                      <a:pt x="549" y="586"/>
                      <a:pt x="558" y="586"/>
                      <a:pt x="559" y="586"/>
                    </a:cubicBezTo>
                    <a:cubicBezTo>
                      <a:pt x="559" y="586"/>
                      <a:pt x="560" y="586"/>
                      <a:pt x="560" y="587"/>
                    </a:cubicBezTo>
                    <a:cubicBezTo>
                      <a:pt x="561" y="587"/>
                      <a:pt x="562" y="587"/>
                      <a:pt x="562" y="586"/>
                    </a:cubicBezTo>
                    <a:cubicBezTo>
                      <a:pt x="562" y="585"/>
                      <a:pt x="562" y="583"/>
                      <a:pt x="563" y="582"/>
                    </a:cubicBezTo>
                    <a:cubicBezTo>
                      <a:pt x="564" y="581"/>
                      <a:pt x="566" y="580"/>
                      <a:pt x="567" y="580"/>
                    </a:cubicBezTo>
                    <a:cubicBezTo>
                      <a:pt x="567" y="580"/>
                      <a:pt x="574" y="580"/>
                      <a:pt x="574" y="580"/>
                    </a:cubicBezTo>
                    <a:cubicBezTo>
                      <a:pt x="575" y="580"/>
                      <a:pt x="579" y="579"/>
                      <a:pt x="580" y="579"/>
                    </a:cubicBezTo>
                    <a:cubicBezTo>
                      <a:pt x="580" y="579"/>
                      <a:pt x="585" y="578"/>
                      <a:pt x="587" y="577"/>
                    </a:cubicBezTo>
                    <a:cubicBezTo>
                      <a:pt x="588" y="577"/>
                      <a:pt x="593" y="575"/>
                      <a:pt x="594" y="575"/>
                    </a:cubicBezTo>
                    <a:cubicBezTo>
                      <a:pt x="594" y="575"/>
                      <a:pt x="601" y="575"/>
                      <a:pt x="602" y="574"/>
                    </a:cubicBezTo>
                    <a:cubicBezTo>
                      <a:pt x="603" y="574"/>
                      <a:pt x="606" y="573"/>
                      <a:pt x="608" y="572"/>
                    </a:cubicBezTo>
                    <a:cubicBezTo>
                      <a:pt x="609" y="570"/>
                      <a:pt x="610" y="570"/>
                      <a:pt x="611" y="569"/>
                    </a:cubicBezTo>
                    <a:cubicBezTo>
                      <a:pt x="612" y="569"/>
                      <a:pt x="614" y="566"/>
                      <a:pt x="614" y="566"/>
                    </a:cubicBezTo>
                    <a:cubicBezTo>
                      <a:pt x="614" y="565"/>
                      <a:pt x="614" y="565"/>
                      <a:pt x="615" y="565"/>
                    </a:cubicBezTo>
                    <a:cubicBezTo>
                      <a:pt x="616" y="565"/>
                      <a:pt x="628" y="566"/>
                      <a:pt x="628" y="566"/>
                    </a:cubicBezTo>
                    <a:cubicBezTo>
                      <a:pt x="628" y="565"/>
                      <a:pt x="629" y="566"/>
                      <a:pt x="629" y="566"/>
                    </a:cubicBezTo>
                    <a:cubicBezTo>
                      <a:pt x="629" y="566"/>
                      <a:pt x="633" y="568"/>
                      <a:pt x="634" y="568"/>
                    </a:cubicBezTo>
                    <a:cubicBezTo>
                      <a:pt x="634" y="569"/>
                      <a:pt x="636" y="570"/>
                      <a:pt x="637" y="569"/>
                    </a:cubicBezTo>
                    <a:cubicBezTo>
                      <a:pt x="638" y="568"/>
                      <a:pt x="640" y="567"/>
                      <a:pt x="640" y="567"/>
                    </a:cubicBezTo>
                    <a:cubicBezTo>
                      <a:pt x="640" y="567"/>
                      <a:pt x="640" y="566"/>
                      <a:pt x="641" y="566"/>
                    </a:cubicBezTo>
                    <a:cubicBezTo>
                      <a:pt x="642" y="566"/>
                      <a:pt x="644" y="566"/>
                      <a:pt x="645" y="567"/>
                    </a:cubicBezTo>
                    <a:cubicBezTo>
                      <a:pt x="646" y="569"/>
                      <a:pt x="651" y="578"/>
                      <a:pt x="651" y="578"/>
                    </a:cubicBezTo>
                    <a:cubicBezTo>
                      <a:pt x="651" y="578"/>
                      <a:pt x="652" y="579"/>
                      <a:pt x="651" y="581"/>
                    </a:cubicBezTo>
                    <a:cubicBezTo>
                      <a:pt x="650" y="582"/>
                      <a:pt x="650" y="581"/>
                      <a:pt x="650" y="582"/>
                    </a:cubicBezTo>
                    <a:cubicBezTo>
                      <a:pt x="651" y="583"/>
                      <a:pt x="652" y="587"/>
                      <a:pt x="650" y="587"/>
                    </a:cubicBezTo>
                    <a:cubicBezTo>
                      <a:pt x="649" y="587"/>
                      <a:pt x="647" y="586"/>
                      <a:pt x="648" y="587"/>
                    </a:cubicBezTo>
                    <a:cubicBezTo>
                      <a:pt x="648" y="588"/>
                      <a:pt x="649" y="589"/>
                      <a:pt x="650" y="590"/>
                    </a:cubicBezTo>
                    <a:cubicBezTo>
                      <a:pt x="651" y="590"/>
                      <a:pt x="654" y="591"/>
                      <a:pt x="655" y="591"/>
                    </a:cubicBezTo>
                    <a:cubicBezTo>
                      <a:pt x="657" y="591"/>
                      <a:pt x="662" y="589"/>
                      <a:pt x="662" y="589"/>
                    </a:cubicBezTo>
                    <a:cubicBezTo>
                      <a:pt x="663" y="590"/>
                      <a:pt x="664" y="590"/>
                      <a:pt x="664" y="590"/>
                    </a:cubicBezTo>
                    <a:cubicBezTo>
                      <a:pt x="665" y="590"/>
                      <a:pt x="665" y="591"/>
                      <a:pt x="665" y="589"/>
                    </a:cubicBezTo>
                    <a:cubicBezTo>
                      <a:pt x="664" y="587"/>
                      <a:pt x="664" y="586"/>
                      <a:pt x="664" y="586"/>
                    </a:cubicBezTo>
                    <a:cubicBezTo>
                      <a:pt x="664" y="586"/>
                      <a:pt x="664" y="586"/>
                      <a:pt x="664" y="586"/>
                    </a:cubicBezTo>
                    <a:cubicBezTo>
                      <a:pt x="665" y="585"/>
                      <a:pt x="665" y="586"/>
                      <a:pt x="666" y="586"/>
                    </a:cubicBezTo>
                    <a:cubicBezTo>
                      <a:pt x="666" y="587"/>
                      <a:pt x="668" y="588"/>
                      <a:pt x="668" y="588"/>
                    </a:cubicBezTo>
                    <a:cubicBezTo>
                      <a:pt x="668" y="588"/>
                      <a:pt x="668" y="588"/>
                      <a:pt x="668" y="589"/>
                    </a:cubicBezTo>
                    <a:cubicBezTo>
                      <a:pt x="668" y="589"/>
                      <a:pt x="669" y="590"/>
                      <a:pt x="669" y="591"/>
                    </a:cubicBezTo>
                    <a:cubicBezTo>
                      <a:pt x="668" y="591"/>
                      <a:pt x="668" y="591"/>
                      <a:pt x="669" y="592"/>
                    </a:cubicBezTo>
                    <a:cubicBezTo>
                      <a:pt x="669" y="593"/>
                      <a:pt x="669" y="593"/>
                      <a:pt x="669" y="593"/>
                    </a:cubicBezTo>
                    <a:cubicBezTo>
                      <a:pt x="669" y="594"/>
                      <a:pt x="668" y="594"/>
                      <a:pt x="669" y="594"/>
                    </a:cubicBezTo>
                    <a:cubicBezTo>
                      <a:pt x="670" y="594"/>
                      <a:pt x="672" y="593"/>
                      <a:pt x="672" y="592"/>
                    </a:cubicBezTo>
                    <a:cubicBezTo>
                      <a:pt x="673" y="592"/>
                      <a:pt x="673" y="592"/>
                      <a:pt x="672" y="592"/>
                    </a:cubicBezTo>
                    <a:cubicBezTo>
                      <a:pt x="671" y="592"/>
                      <a:pt x="670" y="591"/>
                      <a:pt x="671" y="591"/>
                    </a:cubicBezTo>
                    <a:cubicBezTo>
                      <a:pt x="672" y="591"/>
                      <a:pt x="673" y="590"/>
                      <a:pt x="674" y="591"/>
                    </a:cubicBezTo>
                    <a:cubicBezTo>
                      <a:pt x="675" y="591"/>
                      <a:pt x="679" y="593"/>
                      <a:pt x="679" y="593"/>
                    </a:cubicBezTo>
                    <a:cubicBezTo>
                      <a:pt x="680" y="593"/>
                      <a:pt x="680" y="593"/>
                      <a:pt x="681" y="593"/>
                    </a:cubicBezTo>
                    <a:cubicBezTo>
                      <a:pt x="681" y="593"/>
                      <a:pt x="688" y="592"/>
                      <a:pt x="688" y="592"/>
                    </a:cubicBezTo>
                    <a:cubicBezTo>
                      <a:pt x="689" y="592"/>
                      <a:pt x="689" y="592"/>
                      <a:pt x="689" y="592"/>
                    </a:cubicBezTo>
                    <a:cubicBezTo>
                      <a:pt x="688" y="593"/>
                      <a:pt x="685" y="595"/>
                      <a:pt x="685" y="596"/>
                    </a:cubicBezTo>
                    <a:cubicBezTo>
                      <a:pt x="684" y="596"/>
                      <a:pt x="683" y="597"/>
                      <a:pt x="683" y="598"/>
                    </a:cubicBezTo>
                    <a:cubicBezTo>
                      <a:pt x="682" y="598"/>
                      <a:pt x="681" y="599"/>
                      <a:pt x="682" y="601"/>
                    </a:cubicBezTo>
                    <a:cubicBezTo>
                      <a:pt x="682" y="602"/>
                      <a:pt x="684" y="604"/>
                      <a:pt x="684" y="604"/>
                    </a:cubicBezTo>
                    <a:cubicBezTo>
                      <a:pt x="684" y="604"/>
                      <a:pt x="684" y="605"/>
                      <a:pt x="685" y="604"/>
                    </a:cubicBezTo>
                    <a:cubicBezTo>
                      <a:pt x="685" y="604"/>
                      <a:pt x="688" y="601"/>
                      <a:pt x="692" y="601"/>
                    </a:cubicBezTo>
                    <a:cubicBezTo>
                      <a:pt x="695" y="602"/>
                      <a:pt x="696" y="602"/>
                      <a:pt x="697" y="603"/>
                    </a:cubicBezTo>
                    <a:cubicBezTo>
                      <a:pt x="697" y="603"/>
                      <a:pt x="698" y="604"/>
                      <a:pt x="698" y="603"/>
                    </a:cubicBezTo>
                    <a:cubicBezTo>
                      <a:pt x="699" y="601"/>
                      <a:pt x="700" y="600"/>
                      <a:pt x="699" y="600"/>
                    </a:cubicBezTo>
                    <a:cubicBezTo>
                      <a:pt x="699" y="599"/>
                      <a:pt x="700" y="599"/>
                      <a:pt x="700" y="599"/>
                    </a:cubicBezTo>
                    <a:cubicBezTo>
                      <a:pt x="700" y="599"/>
                      <a:pt x="720" y="590"/>
                      <a:pt x="723" y="589"/>
                    </a:cubicBezTo>
                    <a:cubicBezTo>
                      <a:pt x="727" y="587"/>
                      <a:pt x="734" y="584"/>
                      <a:pt x="734" y="584"/>
                    </a:cubicBezTo>
                    <a:cubicBezTo>
                      <a:pt x="734" y="584"/>
                      <a:pt x="737" y="583"/>
                      <a:pt x="735" y="584"/>
                    </a:cubicBezTo>
                    <a:cubicBezTo>
                      <a:pt x="733" y="586"/>
                      <a:pt x="734" y="587"/>
                      <a:pt x="734" y="587"/>
                    </a:cubicBezTo>
                    <a:cubicBezTo>
                      <a:pt x="734" y="588"/>
                      <a:pt x="734" y="591"/>
                      <a:pt x="731" y="590"/>
                    </a:cubicBezTo>
                    <a:cubicBezTo>
                      <a:pt x="729" y="590"/>
                      <a:pt x="728" y="589"/>
                      <a:pt x="728" y="590"/>
                    </a:cubicBezTo>
                    <a:cubicBezTo>
                      <a:pt x="729" y="591"/>
                      <a:pt x="734" y="595"/>
                      <a:pt x="734" y="596"/>
                    </a:cubicBezTo>
                    <a:cubicBezTo>
                      <a:pt x="735" y="597"/>
                      <a:pt x="741" y="601"/>
                      <a:pt x="742" y="602"/>
                    </a:cubicBezTo>
                    <a:cubicBezTo>
                      <a:pt x="744" y="603"/>
                      <a:pt x="748" y="606"/>
                      <a:pt x="750" y="607"/>
                    </a:cubicBezTo>
                    <a:cubicBezTo>
                      <a:pt x="751" y="609"/>
                      <a:pt x="759" y="620"/>
                      <a:pt x="759" y="621"/>
                    </a:cubicBezTo>
                    <a:cubicBezTo>
                      <a:pt x="759" y="621"/>
                      <a:pt x="770" y="636"/>
                      <a:pt x="770" y="636"/>
                    </a:cubicBezTo>
                    <a:cubicBezTo>
                      <a:pt x="770" y="636"/>
                      <a:pt x="776" y="645"/>
                      <a:pt x="776" y="646"/>
                    </a:cubicBezTo>
                    <a:cubicBezTo>
                      <a:pt x="776" y="647"/>
                      <a:pt x="782" y="656"/>
                      <a:pt x="782" y="656"/>
                    </a:cubicBezTo>
                    <a:cubicBezTo>
                      <a:pt x="782" y="656"/>
                      <a:pt x="782" y="658"/>
                      <a:pt x="782" y="657"/>
                    </a:cubicBezTo>
                    <a:cubicBezTo>
                      <a:pt x="783" y="656"/>
                      <a:pt x="783" y="657"/>
                      <a:pt x="783" y="656"/>
                    </a:cubicBezTo>
                    <a:cubicBezTo>
                      <a:pt x="784" y="656"/>
                      <a:pt x="784" y="656"/>
                      <a:pt x="785" y="656"/>
                    </a:cubicBezTo>
                    <a:cubicBezTo>
                      <a:pt x="785" y="655"/>
                      <a:pt x="786" y="655"/>
                      <a:pt x="787" y="655"/>
                    </a:cubicBezTo>
                    <a:cubicBezTo>
                      <a:pt x="787" y="654"/>
                      <a:pt x="789" y="654"/>
                      <a:pt x="789" y="653"/>
                    </a:cubicBezTo>
                    <a:cubicBezTo>
                      <a:pt x="789" y="652"/>
                      <a:pt x="789" y="652"/>
                      <a:pt x="788" y="651"/>
                    </a:cubicBezTo>
                    <a:cubicBezTo>
                      <a:pt x="788" y="650"/>
                      <a:pt x="788" y="650"/>
                      <a:pt x="788" y="649"/>
                    </a:cubicBezTo>
                    <a:cubicBezTo>
                      <a:pt x="789" y="649"/>
                      <a:pt x="789" y="649"/>
                      <a:pt x="790" y="649"/>
                    </a:cubicBezTo>
                    <a:cubicBezTo>
                      <a:pt x="790" y="649"/>
                      <a:pt x="792" y="649"/>
                      <a:pt x="792" y="648"/>
                    </a:cubicBezTo>
                    <a:cubicBezTo>
                      <a:pt x="792" y="648"/>
                      <a:pt x="792" y="647"/>
                      <a:pt x="792" y="647"/>
                    </a:cubicBezTo>
                    <a:cubicBezTo>
                      <a:pt x="793" y="647"/>
                      <a:pt x="798" y="649"/>
                      <a:pt x="798" y="649"/>
                    </a:cubicBezTo>
                    <a:cubicBezTo>
                      <a:pt x="798" y="649"/>
                      <a:pt x="799" y="649"/>
                      <a:pt x="799" y="650"/>
                    </a:cubicBezTo>
                    <a:cubicBezTo>
                      <a:pt x="798" y="650"/>
                      <a:pt x="798" y="653"/>
                      <a:pt x="798" y="654"/>
                    </a:cubicBezTo>
                    <a:cubicBezTo>
                      <a:pt x="798" y="654"/>
                      <a:pt x="799" y="654"/>
                      <a:pt x="799" y="654"/>
                    </a:cubicBezTo>
                    <a:cubicBezTo>
                      <a:pt x="799" y="654"/>
                      <a:pt x="800" y="655"/>
                      <a:pt x="801" y="656"/>
                    </a:cubicBezTo>
                    <a:cubicBezTo>
                      <a:pt x="801" y="656"/>
                      <a:pt x="803" y="658"/>
                      <a:pt x="804" y="658"/>
                    </a:cubicBezTo>
                    <a:cubicBezTo>
                      <a:pt x="805" y="658"/>
                      <a:pt x="807" y="658"/>
                      <a:pt x="807" y="658"/>
                    </a:cubicBezTo>
                    <a:cubicBezTo>
                      <a:pt x="808" y="658"/>
                      <a:pt x="808" y="657"/>
                      <a:pt x="809" y="657"/>
                    </a:cubicBezTo>
                    <a:cubicBezTo>
                      <a:pt x="810" y="658"/>
                      <a:pt x="816" y="659"/>
                      <a:pt x="818" y="659"/>
                    </a:cubicBezTo>
                    <a:cubicBezTo>
                      <a:pt x="820" y="658"/>
                      <a:pt x="822" y="657"/>
                      <a:pt x="822" y="656"/>
                    </a:cubicBezTo>
                    <a:cubicBezTo>
                      <a:pt x="823" y="655"/>
                      <a:pt x="823" y="655"/>
                      <a:pt x="824" y="655"/>
                    </a:cubicBezTo>
                    <a:cubicBezTo>
                      <a:pt x="824" y="654"/>
                      <a:pt x="828" y="653"/>
                      <a:pt x="828" y="653"/>
                    </a:cubicBezTo>
                    <a:cubicBezTo>
                      <a:pt x="828" y="653"/>
                      <a:pt x="829" y="653"/>
                      <a:pt x="829" y="653"/>
                    </a:cubicBezTo>
                    <a:cubicBezTo>
                      <a:pt x="830" y="653"/>
                      <a:pt x="838" y="655"/>
                      <a:pt x="839" y="656"/>
                    </a:cubicBezTo>
                    <a:cubicBezTo>
                      <a:pt x="840" y="657"/>
                      <a:pt x="842" y="659"/>
                      <a:pt x="842" y="660"/>
                    </a:cubicBezTo>
                    <a:cubicBezTo>
                      <a:pt x="843" y="661"/>
                      <a:pt x="844" y="665"/>
                      <a:pt x="844" y="665"/>
                    </a:cubicBezTo>
                    <a:cubicBezTo>
                      <a:pt x="844" y="666"/>
                      <a:pt x="845" y="668"/>
                      <a:pt x="847" y="668"/>
                    </a:cubicBezTo>
                    <a:cubicBezTo>
                      <a:pt x="849" y="668"/>
                      <a:pt x="850" y="668"/>
                      <a:pt x="850" y="668"/>
                    </a:cubicBezTo>
                    <a:cubicBezTo>
                      <a:pt x="851" y="669"/>
                      <a:pt x="855" y="671"/>
                      <a:pt x="856" y="671"/>
                    </a:cubicBezTo>
                    <a:cubicBezTo>
                      <a:pt x="856" y="672"/>
                      <a:pt x="857" y="672"/>
                      <a:pt x="856" y="672"/>
                    </a:cubicBezTo>
                    <a:cubicBezTo>
                      <a:pt x="855" y="673"/>
                      <a:pt x="855" y="673"/>
                      <a:pt x="855" y="673"/>
                    </a:cubicBezTo>
                    <a:cubicBezTo>
                      <a:pt x="855" y="673"/>
                      <a:pt x="855" y="674"/>
                      <a:pt x="856" y="674"/>
                    </a:cubicBezTo>
                    <a:cubicBezTo>
                      <a:pt x="856" y="674"/>
                      <a:pt x="857" y="675"/>
                      <a:pt x="857" y="675"/>
                    </a:cubicBezTo>
                    <a:cubicBezTo>
                      <a:pt x="857" y="676"/>
                      <a:pt x="858" y="677"/>
                      <a:pt x="858" y="677"/>
                    </a:cubicBezTo>
                    <a:cubicBezTo>
                      <a:pt x="859" y="678"/>
                      <a:pt x="859" y="678"/>
                      <a:pt x="859" y="679"/>
                    </a:cubicBezTo>
                    <a:cubicBezTo>
                      <a:pt x="859" y="680"/>
                      <a:pt x="860" y="680"/>
                      <a:pt x="861" y="681"/>
                    </a:cubicBezTo>
                    <a:cubicBezTo>
                      <a:pt x="862" y="681"/>
                      <a:pt x="868" y="681"/>
                      <a:pt x="869" y="681"/>
                    </a:cubicBezTo>
                    <a:cubicBezTo>
                      <a:pt x="871" y="681"/>
                      <a:pt x="870" y="681"/>
                      <a:pt x="870" y="682"/>
                    </a:cubicBezTo>
                    <a:cubicBezTo>
                      <a:pt x="870" y="682"/>
                      <a:pt x="870" y="682"/>
                      <a:pt x="871" y="682"/>
                    </a:cubicBezTo>
                    <a:cubicBezTo>
                      <a:pt x="872" y="682"/>
                      <a:pt x="872" y="682"/>
                      <a:pt x="873" y="682"/>
                    </a:cubicBezTo>
                    <a:cubicBezTo>
                      <a:pt x="873" y="683"/>
                      <a:pt x="873" y="683"/>
                      <a:pt x="874" y="682"/>
                    </a:cubicBezTo>
                    <a:cubicBezTo>
                      <a:pt x="874" y="682"/>
                      <a:pt x="880" y="677"/>
                      <a:pt x="880" y="677"/>
                    </a:cubicBezTo>
                    <a:cubicBezTo>
                      <a:pt x="880" y="677"/>
                      <a:pt x="880" y="676"/>
                      <a:pt x="880" y="677"/>
                    </a:cubicBezTo>
                    <a:cubicBezTo>
                      <a:pt x="880" y="678"/>
                      <a:pt x="880" y="680"/>
                      <a:pt x="881" y="681"/>
                    </a:cubicBezTo>
                    <a:cubicBezTo>
                      <a:pt x="881" y="682"/>
                      <a:pt x="887" y="687"/>
                      <a:pt x="891" y="690"/>
                    </a:cubicBezTo>
                    <a:cubicBezTo>
                      <a:pt x="891" y="690"/>
                      <a:pt x="891" y="690"/>
                      <a:pt x="892" y="690"/>
                    </a:cubicBezTo>
                    <a:cubicBezTo>
                      <a:pt x="892" y="690"/>
                      <a:pt x="896" y="689"/>
                      <a:pt x="898" y="689"/>
                    </a:cubicBezTo>
                    <a:cubicBezTo>
                      <a:pt x="899" y="688"/>
                      <a:pt x="899" y="688"/>
                      <a:pt x="900" y="688"/>
                    </a:cubicBezTo>
                    <a:cubicBezTo>
                      <a:pt x="900" y="688"/>
                      <a:pt x="903" y="687"/>
                      <a:pt x="903" y="685"/>
                    </a:cubicBezTo>
                    <a:cubicBezTo>
                      <a:pt x="904" y="683"/>
                      <a:pt x="904" y="683"/>
                      <a:pt x="906" y="683"/>
                    </a:cubicBezTo>
                    <a:cubicBezTo>
                      <a:pt x="907" y="682"/>
                      <a:pt x="911" y="682"/>
                      <a:pt x="913" y="682"/>
                    </a:cubicBezTo>
                    <a:cubicBezTo>
                      <a:pt x="915" y="682"/>
                      <a:pt x="919" y="681"/>
                      <a:pt x="920" y="681"/>
                    </a:cubicBezTo>
                    <a:cubicBezTo>
                      <a:pt x="920" y="681"/>
                      <a:pt x="923" y="680"/>
                      <a:pt x="924" y="679"/>
                    </a:cubicBezTo>
                    <a:cubicBezTo>
                      <a:pt x="925" y="679"/>
                      <a:pt x="927" y="678"/>
                      <a:pt x="926" y="677"/>
                    </a:cubicBezTo>
                    <a:cubicBezTo>
                      <a:pt x="926" y="677"/>
                      <a:pt x="925" y="677"/>
                      <a:pt x="925" y="676"/>
                    </a:cubicBezTo>
                    <a:cubicBezTo>
                      <a:pt x="925" y="675"/>
                      <a:pt x="924" y="675"/>
                      <a:pt x="925" y="674"/>
                    </a:cubicBezTo>
                    <a:cubicBezTo>
                      <a:pt x="925" y="674"/>
                      <a:pt x="929" y="674"/>
                      <a:pt x="929" y="673"/>
                    </a:cubicBezTo>
                    <a:cubicBezTo>
                      <a:pt x="930" y="673"/>
                      <a:pt x="930" y="673"/>
                      <a:pt x="931" y="672"/>
                    </a:cubicBezTo>
                    <a:cubicBezTo>
                      <a:pt x="931" y="672"/>
                      <a:pt x="937" y="669"/>
                      <a:pt x="938" y="668"/>
                    </a:cubicBezTo>
                    <a:cubicBezTo>
                      <a:pt x="939" y="668"/>
                      <a:pt x="955" y="660"/>
                      <a:pt x="955" y="660"/>
                    </a:cubicBezTo>
                    <a:cubicBezTo>
                      <a:pt x="955" y="660"/>
                      <a:pt x="955" y="660"/>
                      <a:pt x="956" y="660"/>
                    </a:cubicBezTo>
                    <a:cubicBezTo>
                      <a:pt x="957" y="660"/>
                      <a:pt x="961" y="660"/>
                      <a:pt x="962" y="659"/>
                    </a:cubicBezTo>
                    <a:cubicBezTo>
                      <a:pt x="963" y="659"/>
                      <a:pt x="964" y="658"/>
                      <a:pt x="965" y="657"/>
                    </a:cubicBezTo>
                    <a:cubicBezTo>
                      <a:pt x="966" y="655"/>
                      <a:pt x="966" y="655"/>
                      <a:pt x="966" y="656"/>
                    </a:cubicBezTo>
                    <a:cubicBezTo>
                      <a:pt x="967" y="657"/>
                      <a:pt x="967" y="657"/>
                      <a:pt x="968" y="657"/>
                    </a:cubicBezTo>
                    <a:cubicBezTo>
                      <a:pt x="968" y="657"/>
                      <a:pt x="974" y="656"/>
                      <a:pt x="975" y="657"/>
                    </a:cubicBezTo>
                    <a:cubicBezTo>
                      <a:pt x="975" y="659"/>
                      <a:pt x="976" y="660"/>
                      <a:pt x="978" y="660"/>
                    </a:cubicBezTo>
                    <a:cubicBezTo>
                      <a:pt x="979" y="660"/>
                      <a:pt x="982" y="661"/>
                      <a:pt x="983" y="661"/>
                    </a:cubicBezTo>
                    <a:cubicBezTo>
                      <a:pt x="984" y="661"/>
                      <a:pt x="991" y="662"/>
                      <a:pt x="992" y="662"/>
                    </a:cubicBezTo>
                    <a:cubicBezTo>
                      <a:pt x="993" y="661"/>
                      <a:pt x="994" y="662"/>
                      <a:pt x="994" y="663"/>
                    </a:cubicBezTo>
                    <a:cubicBezTo>
                      <a:pt x="994" y="664"/>
                      <a:pt x="995" y="666"/>
                      <a:pt x="995" y="666"/>
                    </a:cubicBezTo>
                    <a:cubicBezTo>
                      <a:pt x="996" y="667"/>
                      <a:pt x="997" y="670"/>
                      <a:pt x="997" y="670"/>
                    </a:cubicBezTo>
                    <a:cubicBezTo>
                      <a:pt x="998" y="671"/>
                      <a:pt x="998" y="672"/>
                      <a:pt x="999" y="672"/>
                    </a:cubicBezTo>
                    <a:cubicBezTo>
                      <a:pt x="1000" y="672"/>
                      <a:pt x="1011" y="674"/>
                      <a:pt x="1011" y="674"/>
                    </a:cubicBezTo>
                    <a:cubicBezTo>
                      <a:pt x="1011" y="674"/>
                      <a:pt x="1012" y="674"/>
                      <a:pt x="1012" y="674"/>
                    </a:cubicBezTo>
                    <a:cubicBezTo>
                      <a:pt x="1013" y="674"/>
                      <a:pt x="1017" y="672"/>
                      <a:pt x="1020" y="672"/>
                    </a:cubicBezTo>
                    <a:cubicBezTo>
                      <a:pt x="1022" y="673"/>
                      <a:pt x="1034" y="676"/>
                      <a:pt x="1034" y="676"/>
                    </a:cubicBezTo>
                    <a:cubicBezTo>
                      <a:pt x="1034" y="676"/>
                      <a:pt x="1036" y="676"/>
                      <a:pt x="1036" y="676"/>
                    </a:cubicBezTo>
                    <a:cubicBezTo>
                      <a:pt x="1037" y="677"/>
                      <a:pt x="1039" y="678"/>
                      <a:pt x="1040" y="677"/>
                    </a:cubicBezTo>
                    <a:cubicBezTo>
                      <a:pt x="1040" y="677"/>
                      <a:pt x="1042" y="676"/>
                      <a:pt x="1043" y="675"/>
                    </a:cubicBezTo>
                    <a:cubicBezTo>
                      <a:pt x="1043" y="674"/>
                      <a:pt x="1043" y="674"/>
                      <a:pt x="1044" y="674"/>
                    </a:cubicBezTo>
                    <a:cubicBezTo>
                      <a:pt x="1044" y="674"/>
                      <a:pt x="1050" y="672"/>
                      <a:pt x="1050" y="672"/>
                    </a:cubicBezTo>
                    <a:cubicBezTo>
                      <a:pt x="1050" y="672"/>
                      <a:pt x="1051" y="672"/>
                      <a:pt x="1051" y="671"/>
                    </a:cubicBezTo>
                    <a:cubicBezTo>
                      <a:pt x="1051" y="671"/>
                      <a:pt x="1051" y="670"/>
                      <a:pt x="1052" y="670"/>
                    </a:cubicBezTo>
                    <a:cubicBezTo>
                      <a:pt x="1052" y="669"/>
                      <a:pt x="1053" y="663"/>
                      <a:pt x="1053" y="663"/>
                    </a:cubicBezTo>
                    <a:cubicBezTo>
                      <a:pt x="1053" y="663"/>
                      <a:pt x="1054" y="662"/>
                      <a:pt x="1053" y="662"/>
                    </a:cubicBezTo>
                    <a:cubicBezTo>
                      <a:pt x="1052" y="662"/>
                      <a:pt x="1050" y="661"/>
                      <a:pt x="1048" y="657"/>
                    </a:cubicBezTo>
                    <a:cubicBezTo>
                      <a:pt x="1047" y="653"/>
                      <a:pt x="1047" y="652"/>
                      <a:pt x="1047" y="651"/>
                    </a:cubicBezTo>
                    <a:cubicBezTo>
                      <a:pt x="1048" y="650"/>
                      <a:pt x="1049" y="647"/>
                      <a:pt x="1049" y="646"/>
                    </a:cubicBezTo>
                    <a:cubicBezTo>
                      <a:pt x="1049" y="645"/>
                      <a:pt x="1050" y="644"/>
                      <a:pt x="1051" y="644"/>
                    </a:cubicBezTo>
                    <a:cubicBezTo>
                      <a:pt x="1052" y="644"/>
                      <a:pt x="1053" y="644"/>
                      <a:pt x="1053" y="643"/>
                    </a:cubicBezTo>
                    <a:cubicBezTo>
                      <a:pt x="1053" y="643"/>
                      <a:pt x="1053" y="640"/>
                      <a:pt x="1054" y="639"/>
                    </a:cubicBezTo>
                    <a:cubicBezTo>
                      <a:pt x="1056" y="637"/>
                      <a:pt x="1062" y="631"/>
                      <a:pt x="1062" y="631"/>
                    </a:cubicBezTo>
                    <a:cubicBezTo>
                      <a:pt x="1062" y="631"/>
                      <a:pt x="1063" y="631"/>
                      <a:pt x="1063" y="631"/>
                    </a:cubicBezTo>
                    <a:cubicBezTo>
                      <a:pt x="1064" y="631"/>
                      <a:pt x="1077" y="638"/>
                      <a:pt x="1077" y="638"/>
                    </a:cubicBezTo>
                    <a:cubicBezTo>
                      <a:pt x="1077" y="638"/>
                      <a:pt x="1077" y="638"/>
                      <a:pt x="1078" y="638"/>
                    </a:cubicBezTo>
                    <a:cubicBezTo>
                      <a:pt x="1079" y="638"/>
                      <a:pt x="1087" y="639"/>
                      <a:pt x="1087" y="639"/>
                    </a:cubicBezTo>
                    <a:cubicBezTo>
                      <a:pt x="1087" y="639"/>
                      <a:pt x="1088" y="639"/>
                      <a:pt x="1089" y="639"/>
                    </a:cubicBezTo>
                    <a:cubicBezTo>
                      <a:pt x="1089" y="640"/>
                      <a:pt x="1097" y="643"/>
                      <a:pt x="1098" y="643"/>
                    </a:cubicBezTo>
                    <a:cubicBezTo>
                      <a:pt x="1100" y="643"/>
                      <a:pt x="1108" y="646"/>
                      <a:pt x="1109" y="646"/>
                    </a:cubicBezTo>
                    <a:cubicBezTo>
                      <a:pt x="1110" y="646"/>
                      <a:pt x="1112" y="646"/>
                      <a:pt x="1112" y="647"/>
                    </a:cubicBezTo>
                    <a:cubicBezTo>
                      <a:pt x="1111" y="648"/>
                      <a:pt x="1111" y="648"/>
                      <a:pt x="1111" y="649"/>
                    </a:cubicBezTo>
                    <a:cubicBezTo>
                      <a:pt x="1111" y="649"/>
                      <a:pt x="1113" y="660"/>
                      <a:pt x="1113" y="660"/>
                    </a:cubicBezTo>
                    <a:cubicBezTo>
                      <a:pt x="1113" y="660"/>
                      <a:pt x="1113" y="661"/>
                      <a:pt x="1113" y="661"/>
                    </a:cubicBezTo>
                    <a:cubicBezTo>
                      <a:pt x="1113" y="661"/>
                      <a:pt x="1117" y="664"/>
                      <a:pt x="1117" y="664"/>
                    </a:cubicBezTo>
                    <a:cubicBezTo>
                      <a:pt x="1117" y="664"/>
                      <a:pt x="1118" y="665"/>
                      <a:pt x="1118" y="665"/>
                    </a:cubicBezTo>
                    <a:cubicBezTo>
                      <a:pt x="1118" y="665"/>
                      <a:pt x="1138" y="670"/>
                      <a:pt x="1138" y="670"/>
                    </a:cubicBezTo>
                    <a:cubicBezTo>
                      <a:pt x="1138" y="670"/>
                      <a:pt x="1139" y="670"/>
                      <a:pt x="1139" y="670"/>
                    </a:cubicBezTo>
                    <a:cubicBezTo>
                      <a:pt x="1140" y="669"/>
                      <a:pt x="1145" y="666"/>
                      <a:pt x="1146" y="666"/>
                    </a:cubicBezTo>
                    <a:cubicBezTo>
                      <a:pt x="1147" y="666"/>
                      <a:pt x="1156" y="663"/>
                      <a:pt x="1158" y="663"/>
                    </a:cubicBezTo>
                    <a:cubicBezTo>
                      <a:pt x="1160" y="663"/>
                      <a:pt x="1167" y="665"/>
                      <a:pt x="1168" y="665"/>
                    </a:cubicBezTo>
                    <a:cubicBezTo>
                      <a:pt x="1168" y="665"/>
                      <a:pt x="1169" y="665"/>
                      <a:pt x="1169" y="665"/>
                    </a:cubicBezTo>
                    <a:cubicBezTo>
                      <a:pt x="1169" y="666"/>
                      <a:pt x="1170" y="666"/>
                      <a:pt x="1170" y="666"/>
                    </a:cubicBezTo>
                    <a:cubicBezTo>
                      <a:pt x="1170" y="666"/>
                      <a:pt x="1178" y="666"/>
                      <a:pt x="1180" y="667"/>
                    </a:cubicBezTo>
                    <a:cubicBezTo>
                      <a:pt x="1181" y="668"/>
                      <a:pt x="1187" y="672"/>
                      <a:pt x="1187" y="672"/>
                    </a:cubicBezTo>
                    <a:cubicBezTo>
                      <a:pt x="1187" y="672"/>
                      <a:pt x="1188" y="673"/>
                      <a:pt x="1188" y="673"/>
                    </a:cubicBezTo>
                    <a:cubicBezTo>
                      <a:pt x="1189" y="673"/>
                      <a:pt x="1195" y="673"/>
                      <a:pt x="1197" y="674"/>
                    </a:cubicBezTo>
                    <a:cubicBezTo>
                      <a:pt x="1197" y="674"/>
                      <a:pt x="1197" y="674"/>
                      <a:pt x="1197" y="675"/>
                    </a:cubicBezTo>
                    <a:cubicBezTo>
                      <a:pt x="1197" y="675"/>
                      <a:pt x="1198" y="680"/>
                      <a:pt x="1198" y="680"/>
                    </a:cubicBezTo>
                    <a:cubicBezTo>
                      <a:pt x="1198" y="680"/>
                      <a:pt x="1198" y="680"/>
                      <a:pt x="1198" y="680"/>
                    </a:cubicBezTo>
                    <a:cubicBezTo>
                      <a:pt x="1199" y="681"/>
                      <a:pt x="1205" y="685"/>
                      <a:pt x="1205" y="685"/>
                    </a:cubicBezTo>
                    <a:cubicBezTo>
                      <a:pt x="1205" y="685"/>
                      <a:pt x="1205" y="686"/>
                      <a:pt x="1206" y="686"/>
                    </a:cubicBezTo>
                    <a:cubicBezTo>
                      <a:pt x="1206" y="685"/>
                      <a:pt x="1215" y="685"/>
                      <a:pt x="1215" y="685"/>
                    </a:cubicBezTo>
                    <a:cubicBezTo>
                      <a:pt x="1215" y="685"/>
                      <a:pt x="1215" y="685"/>
                      <a:pt x="1216" y="685"/>
                    </a:cubicBezTo>
                    <a:cubicBezTo>
                      <a:pt x="1216" y="685"/>
                      <a:pt x="1218" y="686"/>
                      <a:pt x="1219" y="686"/>
                    </a:cubicBezTo>
                    <a:cubicBezTo>
                      <a:pt x="1219" y="686"/>
                      <a:pt x="1238" y="689"/>
                      <a:pt x="1239" y="689"/>
                    </a:cubicBezTo>
                    <a:cubicBezTo>
                      <a:pt x="1239" y="689"/>
                      <a:pt x="1239" y="689"/>
                      <a:pt x="1240" y="689"/>
                    </a:cubicBezTo>
                    <a:cubicBezTo>
                      <a:pt x="1240" y="689"/>
                      <a:pt x="1258" y="684"/>
                      <a:pt x="1260" y="683"/>
                    </a:cubicBezTo>
                    <a:cubicBezTo>
                      <a:pt x="1261" y="683"/>
                      <a:pt x="1269" y="682"/>
                      <a:pt x="1270" y="682"/>
                    </a:cubicBezTo>
                    <a:cubicBezTo>
                      <a:pt x="1270" y="682"/>
                      <a:pt x="1270" y="681"/>
                      <a:pt x="1271" y="681"/>
                    </a:cubicBezTo>
                    <a:cubicBezTo>
                      <a:pt x="1271" y="681"/>
                      <a:pt x="1277" y="675"/>
                      <a:pt x="1278" y="674"/>
                    </a:cubicBezTo>
                    <a:cubicBezTo>
                      <a:pt x="1278" y="674"/>
                      <a:pt x="1281" y="672"/>
                      <a:pt x="1282" y="672"/>
                    </a:cubicBezTo>
                    <a:cubicBezTo>
                      <a:pt x="1282" y="671"/>
                      <a:pt x="1288" y="668"/>
                      <a:pt x="1288" y="668"/>
                    </a:cubicBezTo>
                    <a:cubicBezTo>
                      <a:pt x="1288" y="668"/>
                      <a:pt x="1289" y="668"/>
                      <a:pt x="1289" y="668"/>
                    </a:cubicBezTo>
                    <a:cubicBezTo>
                      <a:pt x="1290" y="668"/>
                      <a:pt x="1298" y="668"/>
                      <a:pt x="1298" y="668"/>
                    </a:cubicBezTo>
                    <a:cubicBezTo>
                      <a:pt x="1298" y="668"/>
                      <a:pt x="1299" y="668"/>
                      <a:pt x="1299" y="668"/>
                    </a:cubicBezTo>
                    <a:cubicBezTo>
                      <a:pt x="1299" y="669"/>
                      <a:pt x="1308" y="674"/>
                      <a:pt x="1308" y="674"/>
                    </a:cubicBezTo>
                    <a:cubicBezTo>
                      <a:pt x="1308" y="674"/>
                      <a:pt x="1309" y="675"/>
                      <a:pt x="1309" y="675"/>
                    </a:cubicBezTo>
                    <a:cubicBezTo>
                      <a:pt x="1310" y="675"/>
                      <a:pt x="1319" y="672"/>
                      <a:pt x="1319" y="672"/>
                    </a:cubicBezTo>
                    <a:cubicBezTo>
                      <a:pt x="1319" y="672"/>
                      <a:pt x="1320" y="672"/>
                      <a:pt x="1320" y="672"/>
                    </a:cubicBezTo>
                    <a:cubicBezTo>
                      <a:pt x="1320" y="673"/>
                      <a:pt x="1325" y="675"/>
                      <a:pt x="1327" y="676"/>
                    </a:cubicBezTo>
                    <a:close/>
                    <a:moveTo>
                      <a:pt x="82" y="452"/>
                    </a:moveTo>
                    <a:cubicBezTo>
                      <a:pt x="81" y="454"/>
                      <a:pt x="82" y="456"/>
                      <a:pt x="81" y="454"/>
                    </a:cubicBezTo>
                    <a:cubicBezTo>
                      <a:pt x="80" y="453"/>
                      <a:pt x="78" y="453"/>
                      <a:pt x="79" y="455"/>
                    </a:cubicBezTo>
                    <a:cubicBezTo>
                      <a:pt x="79" y="457"/>
                      <a:pt x="79" y="457"/>
                      <a:pt x="79" y="458"/>
                    </a:cubicBezTo>
                    <a:cubicBezTo>
                      <a:pt x="78" y="459"/>
                      <a:pt x="78" y="460"/>
                      <a:pt x="78" y="461"/>
                    </a:cubicBezTo>
                    <a:cubicBezTo>
                      <a:pt x="77" y="462"/>
                      <a:pt x="76" y="462"/>
                      <a:pt x="75" y="461"/>
                    </a:cubicBezTo>
                    <a:cubicBezTo>
                      <a:pt x="73" y="461"/>
                      <a:pt x="68" y="460"/>
                      <a:pt x="68" y="460"/>
                    </a:cubicBezTo>
                    <a:cubicBezTo>
                      <a:pt x="68" y="460"/>
                      <a:pt x="66" y="459"/>
                      <a:pt x="64" y="462"/>
                    </a:cubicBezTo>
                    <a:cubicBezTo>
                      <a:pt x="63" y="464"/>
                      <a:pt x="62" y="468"/>
                      <a:pt x="61" y="468"/>
                    </a:cubicBezTo>
                    <a:cubicBezTo>
                      <a:pt x="59" y="468"/>
                      <a:pt x="54" y="467"/>
                      <a:pt x="55" y="466"/>
                    </a:cubicBezTo>
                    <a:cubicBezTo>
                      <a:pt x="56" y="466"/>
                      <a:pt x="56" y="465"/>
                      <a:pt x="56" y="464"/>
                    </a:cubicBezTo>
                    <a:cubicBezTo>
                      <a:pt x="55" y="463"/>
                      <a:pt x="48" y="448"/>
                      <a:pt x="48" y="448"/>
                    </a:cubicBezTo>
                    <a:cubicBezTo>
                      <a:pt x="48" y="448"/>
                      <a:pt x="46" y="445"/>
                      <a:pt x="44" y="444"/>
                    </a:cubicBezTo>
                    <a:cubicBezTo>
                      <a:pt x="43" y="443"/>
                      <a:pt x="39" y="442"/>
                      <a:pt x="38" y="439"/>
                    </a:cubicBezTo>
                    <a:cubicBezTo>
                      <a:pt x="38" y="439"/>
                      <a:pt x="36" y="436"/>
                      <a:pt x="38" y="437"/>
                    </a:cubicBezTo>
                    <a:cubicBezTo>
                      <a:pt x="40" y="438"/>
                      <a:pt x="41" y="438"/>
                      <a:pt x="41" y="437"/>
                    </a:cubicBezTo>
                    <a:cubicBezTo>
                      <a:pt x="42" y="436"/>
                      <a:pt x="42" y="431"/>
                      <a:pt x="44" y="431"/>
                    </a:cubicBezTo>
                    <a:cubicBezTo>
                      <a:pt x="46" y="432"/>
                      <a:pt x="48" y="432"/>
                      <a:pt x="49" y="431"/>
                    </a:cubicBezTo>
                    <a:cubicBezTo>
                      <a:pt x="50" y="429"/>
                      <a:pt x="51" y="424"/>
                      <a:pt x="52" y="426"/>
                    </a:cubicBezTo>
                    <a:cubicBezTo>
                      <a:pt x="54" y="428"/>
                      <a:pt x="70" y="437"/>
                      <a:pt x="72" y="439"/>
                    </a:cubicBezTo>
                    <a:cubicBezTo>
                      <a:pt x="74" y="440"/>
                      <a:pt x="80" y="447"/>
                      <a:pt x="81" y="448"/>
                    </a:cubicBezTo>
                    <a:cubicBezTo>
                      <a:pt x="82" y="450"/>
                      <a:pt x="82" y="451"/>
                      <a:pt x="82" y="452"/>
                    </a:cubicBezTo>
                    <a:close/>
                    <a:moveTo>
                      <a:pt x="134" y="440"/>
                    </a:moveTo>
                    <a:cubicBezTo>
                      <a:pt x="133" y="441"/>
                      <a:pt x="128" y="444"/>
                      <a:pt x="128" y="445"/>
                    </a:cubicBezTo>
                    <a:cubicBezTo>
                      <a:pt x="127" y="445"/>
                      <a:pt x="127" y="446"/>
                      <a:pt x="126" y="446"/>
                    </a:cubicBezTo>
                    <a:cubicBezTo>
                      <a:pt x="125" y="446"/>
                      <a:pt x="121" y="446"/>
                      <a:pt x="121" y="444"/>
                    </a:cubicBezTo>
                    <a:cubicBezTo>
                      <a:pt x="121" y="443"/>
                      <a:pt x="122" y="443"/>
                      <a:pt x="122" y="443"/>
                    </a:cubicBezTo>
                    <a:cubicBezTo>
                      <a:pt x="123" y="442"/>
                      <a:pt x="124" y="439"/>
                      <a:pt x="123" y="439"/>
                    </a:cubicBezTo>
                    <a:cubicBezTo>
                      <a:pt x="122" y="439"/>
                      <a:pt x="116" y="432"/>
                      <a:pt x="114" y="432"/>
                    </a:cubicBezTo>
                    <a:cubicBezTo>
                      <a:pt x="113" y="432"/>
                      <a:pt x="110" y="431"/>
                      <a:pt x="109" y="430"/>
                    </a:cubicBezTo>
                    <a:cubicBezTo>
                      <a:pt x="108" y="429"/>
                      <a:pt x="103" y="425"/>
                      <a:pt x="105" y="425"/>
                    </a:cubicBezTo>
                    <a:cubicBezTo>
                      <a:pt x="107" y="425"/>
                      <a:pt x="107" y="424"/>
                      <a:pt x="107" y="423"/>
                    </a:cubicBezTo>
                    <a:cubicBezTo>
                      <a:pt x="106" y="421"/>
                      <a:pt x="106" y="420"/>
                      <a:pt x="105" y="419"/>
                    </a:cubicBezTo>
                    <a:cubicBezTo>
                      <a:pt x="103" y="419"/>
                      <a:pt x="103" y="416"/>
                      <a:pt x="103" y="415"/>
                    </a:cubicBezTo>
                    <a:cubicBezTo>
                      <a:pt x="103" y="413"/>
                      <a:pt x="100" y="411"/>
                      <a:pt x="99" y="411"/>
                    </a:cubicBezTo>
                    <a:cubicBezTo>
                      <a:pt x="99" y="411"/>
                      <a:pt x="98" y="412"/>
                      <a:pt x="98" y="411"/>
                    </a:cubicBezTo>
                    <a:cubicBezTo>
                      <a:pt x="98" y="411"/>
                      <a:pt x="97" y="409"/>
                      <a:pt x="99" y="410"/>
                    </a:cubicBezTo>
                    <a:cubicBezTo>
                      <a:pt x="100" y="410"/>
                      <a:pt x="102" y="413"/>
                      <a:pt x="103" y="413"/>
                    </a:cubicBezTo>
                    <a:cubicBezTo>
                      <a:pt x="103" y="414"/>
                      <a:pt x="105" y="414"/>
                      <a:pt x="104" y="415"/>
                    </a:cubicBezTo>
                    <a:cubicBezTo>
                      <a:pt x="103" y="415"/>
                      <a:pt x="103" y="416"/>
                      <a:pt x="104" y="417"/>
                    </a:cubicBezTo>
                    <a:cubicBezTo>
                      <a:pt x="105" y="418"/>
                      <a:pt x="110" y="421"/>
                      <a:pt x="109" y="418"/>
                    </a:cubicBezTo>
                    <a:cubicBezTo>
                      <a:pt x="108" y="416"/>
                      <a:pt x="108" y="415"/>
                      <a:pt x="108" y="416"/>
                    </a:cubicBezTo>
                    <a:cubicBezTo>
                      <a:pt x="109" y="416"/>
                      <a:pt x="109" y="416"/>
                      <a:pt x="108" y="414"/>
                    </a:cubicBezTo>
                    <a:cubicBezTo>
                      <a:pt x="108" y="413"/>
                      <a:pt x="106" y="411"/>
                      <a:pt x="108" y="413"/>
                    </a:cubicBezTo>
                    <a:cubicBezTo>
                      <a:pt x="110" y="415"/>
                      <a:pt x="110" y="414"/>
                      <a:pt x="109" y="413"/>
                    </a:cubicBezTo>
                    <a:cubicBezTo>
                      <a:pt x="109" y="412"/>
                      <a:pt x="104" y="407"/>
                      <a:pt x="106" y="408"/>
                    </a:cubicBezTo>
                    <a:cubicBezTo>
                      <a:pt x="108" y="409"/>
                      <a:pt x="111" y="412"/>
                      <a:pt x="111" y="414"/>
                    </a:cubicBezTo>
                    <a:cubicBezTo>
                      <a:pt x="112" y="416"/>
                      <a:pt x="112" y="417"/>
                      <a:pt x="113" y="418"/>
                    </a:cubicBezTo>
                    <a:cubicBezTo>
                      <a:pt x="114" y="419"/>
                      <a:pt x="116" y="421"/>
                      <a:pt x="116" y="419"/>
                    </a:cubicBezTo>
                    <a:cubicBezTo>
                      <a:pt x="116" y="418"/>
                      <a:pt x="113" y="414"/>
                      <a:pt x="115" y="415"/>
                    </a:cubicBezTo>
                    <a:cubicBezTo>
                      <a:pt x="116" y="417"/>
                      <a:pt x="116" y="416"/>
                      <a:pt x="117" y="417"/>
                    </a:cubicBezTo>
                    <a:cubicBezTo>
                      <a:pt x="118" y="417"/>
                      <a:pt x="118" y="418"/>
                      <a:pt x="119" y="417"/>
                    </a:cubicBezTo>
                    <a:cubicBezTo>
                      <a:pt x="119" y="416"/>
                      <a:pt x="121" y="412"/>
                      <a:pt x="120" y="410"/>
                    </a:cubicBezTo>
                    <a:cubicBezTo>
                      <a:pt x="119" y="408"/>
                      <a:pt x="119" y="407"/>
                      <a:pt x="118" y="408"/>
                    </a:cubicBezTo>
                    <a:cubicBezTo>
                      <a:pt x="117" y="409"/>
                      <a:pt x="116" y="408"/>
                      <a:pt x="115" y="408"/>
                    </a:cubicBezTo>
                    <a:cubicBezTo>
                      <a:pt x="115" y="407"/>
                      <a:pt x="112" y="405"/>
                      <a:pt x="112" y="406"/>
                    </a:cubicBezTo>
                    <a:cubicBezTo>
                      <a:pt x="112" y="407"/>
                      <a:pt x="112" y="408"/>
                      <a:pt x="111" y="407"/>
                    </a:cubicBezTo>
                    <a:cubicBezTo>
                      <a:pt x="110" y="406"/>
                      <a:pt x="107" y="402"/>
                      <a:pt x="106" y="401"/>
                    </a:cubicBezTo>
                    <a:cubicBezTo>
                      <a:pt x="106" y="401"/>
                      <a:pt x="104" y="398"/>
                      <a:pt x="107" y="400"/>
                    </a:cubicBezTo>
                    <a:cubicBezTo>
                      <a:pt x="111" y="402"/>
                      <a:pt x="125" y="408"/>
                      <a:pt x="125" y="410"/>
                    </a:cubicBezTo>
                    <a:cubicBezTo>
                      <a:pt x="125" y="411"/>
                      <a:pt x="126" y="416"/>
                      <a:pt x="125" y="418"/>
                    </a:cubicBezTo>
                    <a:cubicBezTo>
                      <a:pt x="123" y="419"/>
                      <a:pt x="123" y="419"/>
                      <a:pt x="125" y="421"/>
                    </a:cubicBezTo>
                    <a:cubicBezTo>
                      <a:pt x="126" y="422"/>
                      <a:pt x="134" y="433"/>
                      <a:pt x="134" y="433"/>
                    </a:cubicBezTo>
                    <a:cubicBezTo>
                      <a:pt x="134" y="433"/>
                      <a:pt x="135" y="434"/>
                      <a:pt x="134" y="435"/>
                    </a:cubicBezTo>
                    <a:cubicBezTo>
                      <a:pt x="134" y="436"/>
                      <a:pt x="133" y="436"/>
                      <a:pt x="134" y="438"/>
                    </a:cubicBezTo>
                    <a:cubicBezTo>
                      <a:pt x="135" y="439"/>
                      <a:pt x="136" y="439"/>
                      <a:pt x="134" y="440"/>
                    </a:cubicBezTo>
                    <a:close/>
                    <a:moveTo>
                      <a:pt x="1226" y="562"/>
                    </a:moveTo>
                    <a:cubicBezTo>
                      <a:pt x="1226" y="563"/>
                      <a:pt x="1225" y="563"/>
                      <a:pt x="1225" y="564"/>
                    </a:cubicBezTo>
                    <a:cubicBezTo>
                      <a:pt x="1225" y="565"/>
                      <a:pt x="1225" y="566"/>
                      <a:pt x="1224" y="567"/>
                    </a:cubicBezTo>
                    <a:cubicBezTo>
                      <a:pt x="1224" y="568"/>
                      <a:pt x="1224" y="568"/>
                      <a:pt x="1224" y="570"/>
                    </a:cubicBezTo>
                    <a:cubicBezTo>
                      <a:pt x="1224" y="571"/>
                      <a:pt x="1224" y="573"/>
                      <a:pt x="1223" y="574"/>
                    </a:cubicBezTo>
                    <a:cubicBezTo>
                      <a:pt x="1223" y="575"/>
                      <a:pt x="1222" y="577"/>
                      <a:pt x="1222" y="578"/>
                    </a:cubicBezTo>
                    <a:cubicBezTo>
                      <a:pt x="1222" y="579"/>
                      <a:pt x="1220" y="580"/>
                      <a:pt x="1220" y="582"/>
                    </a:cubicBezTo>
                    <a:cubicBezTo>
                      <a:pt x="1220" y="584"/>
                      <a:pt x="1220" y="591"/>
                      <a:pt x="1219" y="594"/>
                    </a:cubicBezTo>
                    <a:cubicBezTo>
                      <a:pt x="1218" y="596"/>
                      <a:pt x="1216" y="601"/>
                      <a:pt x="1214" y="601"/>
                    </a:cubicBezTo>
                    <a:cubicBezTo>
                      <a:pt x="1213" y="601"/>
                      <a:pt x="1212" y="601"/>
                      <a:pt x="1213" y="600"/>
                    </a:cubicBezTo>
                    <a:cubicBezTo>
                      <a:pt x="1214" y="598"/>
                      <a:pt x="1213" y="598"/>
                      <a:pt x="1212" y="598"/>
                    </a:cubicBezTo>
                    <a:cubicBezTo>
                      <a:pt x="1210" y="598"/>
                      <a:pt x="1209" y="598"/>
                      <a:pt x="1208" y="599"/>
                    </a:cubicBezTo>
                    <a:cubicBezTo>
                      <a:pt x="1207" y="601"/>
                      <a:pt x="1205" y="604"/>
                      <a:pt x="1207" y="603"/>
                    </a:cubicBezTo>
                    <a:cubicBezTo>
                      <a:pt x="1209" y="602"/>
                      <a:pt x="1212" y="601"/>
                      <a:pt x="1212" y="604"/>
                    </a:cubicBezTo>
                    <a:cubicBezTo>
                      <a:pt x="1213" y="606"/>
                      <a:pt x="1212" y="608"/>
                      <a:pt x="1209" y="608"/>
                    </a:cubicBezTo>
                    <a:cubicBezTo>
                      <a:pt x="1207" y="608"/>
                      <a:pt x="1204" y="610"/>
                      <a:pt x="1201" y="614"/>
                    </a:cubicBezTo>
                    <a:cubicBezTo>
                      <a:pt x="1197" y="619"/>
                      <a:pt x="1195" y="619"/>
                      <a:pt x="1193" y="620"/>
                    </a:cubicBezTo>
                    <a:cubicBezTo>
                      <a:pt x="1191" y="620"/>
                      <a:pt x="1186" y="622"/>
                      <a:pt x="1183" y="625"/>
                    </a:cubicBezTo>
                    <a:cubicBezTo>
                      <a:pt x="1180" y="627"/>
                      <a:pt x="1178" y="627"/>
                      <a:pt x="1176" y="627"/>
                    </a:cubicBezTo>
                    <a:cubicBezTo>
                      <a:pt x="1174" y="627"/>
                      <a:pt x="1171" y="627"/>
                      <a:pt x="1172" y="629"/>
                    </a:cubicBezTo>
                    <a:cubicBezTo>
                      <a:pt x="1172" y="632"/>
                      <a:pt x="1171" y="633"/>
                      <a:pt x="1170" y="635"/>
                    </a:cubicBezTo>
                    <a:cubicBezTo>
                      <a:pt x="1169" y="636"/>
                      <a:pt x="1167" y="638"/>
                      <a:pt x="1165" y="639"/>
                    </a:cubicBezTo>
                    <a:cubicBezTo>
                      <a:pt x="1162" y="640"/>
                      <a:pt x="1150" y="644"/>
                      <a:pt x="1145" y="644"/>
                    </a:cubicBezTo>
                    <a:cubicBezTo>
                      <a:pt x="1140" y="643"/>
                      <a:pt x="1136" y="641"/>
                      <a:pt x="1135" y="641"/>
                    </a:cubicBezTo>
                    <a:cubicBezTo>
                      <a:pt x="1135" y="641"/>
                      <a:pt x="1133" y="639"/>
                      <a:pt x="1136" y="639"/>
                    </a:cubicBezTo>
                    <a:cubicBezTo>
                      <a:pt x="1138" y="638"/>
                      <a:pt x="1158" y="636"/>
                      <a:pt x="1161" y="631"/>
                    </a:cubicBezTo>
                    <a:cubicBezTo>
                      <a:pt x="1165" y="626"/>
                      <a:pt x="1168" y="623"/>
                      <a:pt x="1171" y="622"/>
                    </a:cubicBezTo>
                    <a:cubicBezTo>
                      <a:pt x="1173" y="621"/>
                      <a:pt x="1176" y="620"/>
                      <a:pt x="1178" y="618"/>
                    </a:cubicBezTo>
                    <a:cubicBezTo>
                      <a:pt x="1179" y="616"/>
                      <a:pt x="1180" y="615"/>
                      <a:pt x="1180" y="614"/>
                    </a:cubicBezTo>
                    <a:cubicBezTo>
                      <a:pt x="1179" y="613"/>
                      <a:pt x="1179" y="613"/>
                      <a:pt x="1181" y="611"/>
                    </a:cubicBezTo>
                    <a:cubicBezTo>
                      <a:pt x="1182" y="610"/>
                      <a:pt x="1196" y="601"/>
                      <a:pt x="1198" y="598"/>
                    </a:cubicBezTo>
                    <a:cubicBezTo>
                      <a:pt x="1200" y="595"/>
                      <a:pt x="1205" y="587"/>
                      <a:pt x="1208" y="581"/>
                    </a:cubicBezTo>
                    <a:cubicBezTo>
                      <a:pt x="1211" y="575"/>
                      <a:pt x="1214" y="567"/>
                      <a:pt x="1215" y="564"/>
                    </a:cubicBezTo>
                    <a:cubicBezTo>
                      <a:pt x="1216" y="561"/>
                      <a:pt x="1219" y="557"/>
                      <a:pt x="1221" y="557"/>
                    </a:cubicBezTo>
                    <a:cubicBezTo>
                      <a:pt x="1222" y="556"/>
                      <a:pt x="1227" y="557"/>
                      <a:pt x="1226" y="559"/>
                    </a:cubicBezTo>
                    <a:cubicBezTo>
                      <a:pt x="1226" y="560"/>
                      <a:pt x="1225" y="561"/>
                      <a:pt x="1226" y="56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55" name="Freeform 665">
                <a:extLst>
                  <a:ext uri="{FF2B5EF4-FFF2-40B4-BE49-F238E27FC236}">
                    <a16:creationId xmlns:a16="http://schemas.microsoft.com/office/drawing/2014/main" id="{255B0CCD-B9F5-4DE9-8EFE-C08F2DEEE2C5}"/>
                  </a:ext>
                </a:extLst>
              </p:cNvPr>
              <p:cNvSpPr>
                <a:spLocks/>
              </p:cNvSpPr>
              <p:nvPr/>
            </p:nvSpPr>
            <p:spPr bwMode="auto">
              <a:xfrm>
                <a:off x="4362" y="2333"/>
                <a:ext cx="3" cy="5"/>
              </a:xfrm>
              <a:custGeom>
                <a:avLst/>
                <a:gdLst>
                  <a:gd name="T0" fmla="*/ 2 w 2"/>
                  <a:gd name="T1" fmla="*/ 1 h 3"/>
                  <a:gd name="T2" fmla="*/ 1 w 2"/>
                  <a:gd name="T3" fmla="*/ 2 h 3"/>
                  <a:gd name="T4" fmla="*/ 2 w 2"/>
                  <a:gd name="T5" fmla="*/ 1 h 3"/>
                </a:gdLst>
                <a:ahLst/>
                <a:cxnLst>
                  <a:cxn ang="0">
                    <a:pos x="T0" y="T1"/>
                  </a:cxn>
                  <a:cxn ang="0">
                    <a:pos x="T2" y="T3"/>
                  </a:cxn>
                  <a:cxn ang="0">
                    <a:pos x="T4" y="T5"/>
                  </a:cxn>
                </a:cxnLst>
                <a:rect l="0" t="0" r="r" b="b"/>
                <a:pathLst>
                  <a:path w="2" h="3">
                    <a:moveTo>
                      <a:pt x="2" y="1"/>
                    </a:moveTo>
                    <a:cubicBezTo>
                      <a:pt x="2" y="1"/>
                      <a:pt x="0" y="0"/>
                      <a:pt x="1" y="2"/>
                    </a:cubicBezTo>
                    <a:cubicBezTo>
                      <a:pt x="1" y="3"/>
                      <a:pt x="2" y="2"/>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56" name="Freeform 666">
                <a:extLst>
                  <a:ext uri="{FF2B5EF4-FFF2-40B4-BE49-F238E27FC236}">
                    <a16:creationId xmlns:a16="http://schemas.microsoft.com/office/drawing/2014/main" id="{7A3FF50F-C301-45CB-8A4F-7651E654378F}"/>
                  </a:ext>
                </a:extLst>
              </p:cNvPr>
              <p:cNvSpPr>
                <a:spLocks/>
              </p:cNvSpPr>
              <p:nvPr/>
            </p:nvSpPr>
            <p:spPr bwMode="auto">
              <a:xfrm>
                <a:off x="4362" y="2336"/>
                <a:ext cx="7" cy="6"/>
              </a:xfrm>
              <a:custGeom>
                <a:avLst/>
                <a:gdLst>
                  <a:gd name="T0" fmla="*/ 5 w 5"/>
                  <a:gd name="T1" fmla="*/ 3 h 4"/>
                  <a:gd name="T2" fmla="*/ 3 w 5"/>
                  <a:gd name="T3" fmla="*/ 1 h 4"/>
                  <a:gd name="T4" fmla="*/ 1 w 5"/>
                  <a:gd name="T5" fmla="*/ 1 h 4"/>
                  <a:gd name="T6" fmla="*/ 5 w 5"/>
                  <a:gd name="T7" fmla="*/ 3 h 4"/>
                </a:gdLst>
                <a:ahLst/>
                <a:cxnLst>
                  <a:cxn ang="0">
                    <a:pos x="T0" y="T1"/>
                  </a:cxn>
                  <a:cxn ang="0">
                    <a:pos x="T2" y="T3"/>
                  </a:cxn>
                  <a:cxn ang="0">
                    <a:pos x="T4" y="T5"/>
                  </a:cxn>
                  <a:cxn ang="0">
                    <a:pos x="T6" y="T7"/>
                  </a:cxn>
                </a:cxnLst>
                <a:rect l="0" t="0" r="r" b="b"/>
                <a:pathLst>
                  <a:path w="5" h="4">
                    <a:moveTo>
                      <a:pt x="5" y="3"/>
                    </a:moveTo>
                    <a:cubicBezTo>
                      <a:pt x="4" y="1"/>
                      <a:pt x="3" y="0"/>
                      <a:pt x="3" y="1"/>
                    </a:cubicBezTo>
                    <a:cubicBezTo>
                      <a:pt x="2" y="2"/>
                      <a:pt x="0" y="1"/>
                      <a:pt x="1" y="1"/>
                    </a:cubicBezTo>
                    <a:cubicBezTo>
                      <a:pt x="1" y="1"/>
                      <a:pt x="5" y="4"/>
                      <a:pt x="5"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57" name="Freeform 667">
                <a:extLst>
                  <a:ext uri="{FF2B5EF4-FFF2-40B4-BE49-F238E27FC236}">
                    <a16:creationId xmlns:a16="http://schemas.microsoft.com/office/drawing/2014/main" id="{C124E47E-B278-4A75-8CDE-638DA812CCBE}"/>
                  </a:ext>
                </a:extLst>
              </p:cNvPr>
              <p:cNvSpPr>
                <a:spLocks/>
              </p:cNvSpPr>
              <p:nvPr/>
            </p:nvSpPr>
            <p:spPr bwMode="auto">
              <a:xfrm>
                <a:off x="4540" y="2136"/>
                <a:ext cx="4" cy="12"/>
              </a:xfrm>
              <a:custGeom>
                <a:avLst/>
                <a:gdLst>
                  <a:gd name="T0" fmla="*/ 2 w 3"/>
                  <a:gd name="T1" fmla="*/ 6 h 9"/>
                  <a:gd name="T2" fmla="*/ 2 w 3"/>
                  <a:gd name="T3" fmla="*/ 0 h 9"/>
                  <a:gd name="T4" fmla="*/ 2 w 3"/>
                  <a:gd name="T5" fmla="*/ 6 h 9"/>
                </a:gdLst>
                <a:ahLst/>
                <a:cxnLst>
                  <a:cxn ang="0">
                    <a:pos x="T0" y="T1"/>
                  </a:cxn>
                  <a:cxn ang="0">
                    <a:pos x="T2" y="T3"/>
                  </a:cxn>
                  <a:cxn ang="0">
                    <a:pos x="T4" y="T5"/>
                  </a:cxn>
                </a:cxnLst>
                <a:rect l="0" t="0" r="r" b="b"/>
                <a:pathLst>
                  <a:path w="3" h="9">
                    <a:moveTo>
                      <a:pt x="2" y="6"/>
                    </a:moveTo>
                    <a:cubicBezTo>
                      <a:pt x="3" y="9"/>
                      <a:pt x="3" y="0"/>
                      <a:pt x="2" y="0"/>
                    </a:cubicBezTo>
                    <a:cubicBezTo>
                      <a:pt x="0" y="0"/>
                      <a:pt x="2" y="6"/>
                      <a:pt x="2"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58" name="Freeform 668">
                <a:extLst>
                  <a:ext uri="{FF2B5EF4-FFF2-40B4-BE49-F238E27FC236}">
                    <a16:creationId xmlns:a16="http://schemas.microsoft.com/office/drawing/2014/main" id="{C201A05E-C565-4AB4-8033-D62FD33581C5}"/>
                  </a:ext>
                </a:extLst>
              </p:cNvPr>
              <p:cNvSpPr>
                <a:spLocks/>
              </p:cNvSpPr>
              <p:nvPr/>
            </p:nvSpPr>
            <p:spPr bwMode="auto">
              <a:xfrm>
                <a:off x="4213" y="2004"/>
                <a:ext cx="433" cy="340"/>
              </a:xfrm>
              <a:custGeom>
                <a:avLst/>
                <a:gdLst>
                  <a:gd name="T0" fmla="*/ 261 w 313"/>
                  <a:gd name="T1" fmla="*/ 208 h 248"/>
                  <a:gd name="T2" fmla="*/ 303 w 313"/>
                  <a:gd name="T3" fmla="*/ 192 h 248"/>
                  <a:gd name="T4" fmla="*/ 311 w 313"/>
                  <a:gd name="T5" fmla="*/ 160 h 248"/>
                  <a:gd name="T6" fmla="*/ 268 w 313"/>
                  <a:gd name="T7" fmla="*/ 147 h 248"/>
                  <a:gd name="T8" fmla="*/ 259 w 313"/>
                  <a:gd name="T9" fmla="*/ 136 h 248"/>
                  <a:gd name="T10" fmla="*/ 253 w 313"/>
                  <a:gd name="T11" fmla="*/ 127 h 248"/>
                  <a:gd name="T12" fmla="*/ 249 w 313"/>
                  <a:gd name="T13" fmla="*/ 124 h 248"/>
                  <a:gd name="T14" fmla="*/ 251 w 313"/>
                  <a:gd name="T15" fmla="*/ 121 h 248"/>
                  <a:gd name="T16" fmla="*/ 241 w 313"/>
                  <a:gd name="T17" fmla="*/ 118 h 248"/>
                  <a:gd name="T18" fmla="*/ 236 w 313"/>
                  <a:gd name="T19" fmla="*/ 111 h 248"/>
                  <a:gd name="T20" fmla="*/ 230 w 313"/>
                  <a:gd name="T21" fmla="*/ 97 h 248"/>
                  <a:gd name="T22" fmla="*/ 232 w 313"/>
                  <a:gd name="T23" fmla="*/ 94 h 248"/>
                  <a:gd name="T24" fmla="*/ 229 w 313"/>
                  <a:gd name="T25" fmla="*/ 88 h 248"/>
                  <a:gd name="T26" fmla="*/ 231 w 313"/>
                  <a:gd name="T27" fmla="*/ 87 h 248"/>
                  <a:gd name="T28" fmla="*/ 224 w 313"/>
                  <a:gd name="T29" fmla="*/ 83 h 248"/>
                  <a:gd name="T30" fmla="*/ 220 w 313"/>
                  <a:gd name="T31" fmla="*/ 80 h 248"/>
                  <a:gd name="T32" fmla="*/ 218 w 313"/>
                  <a:gd name="T33" fmla="*/ 76 h 248"/>
                  <a:gd name="T34" fmla="*/ 215 w 313"/>
                  <a:gd name="T35" fmla="*/ 74 h 248"/>
                  <a:gd name="T36" fmla="*/ 211 w 313"/>
                  <a:gd name="T37" fmla="*/ 71 h 248"/>
                  <a:gd name="T38" fmla="*/ 197 w 313"/>
                  <a:gd name="T39" fmla="*/ 59 h 248"/>
                  <a:gd name="T40" fmla="*/ 192 w 313"/>
                  <a:gd name="T41" fmla="*/ 53 h 248"/>
                  <a:gd name="T42" fmla="*/ 178 w 313"/>
                  <a:gd name="T43" fmla="*/ 49 h 248"/>
                  <a:gd name="T44" fmla="*/ 174 w 313"/>
                  <a:gd name="T45" fmla="*/ 50 h 248"/>
                  <a:gd name="T46" fmla="*/ 147 w 313"/>
                  <a:gd name="T47" fmla="*/ 45 h 248"/>
                  <a:gd name="T48" fmla="*/ 118 w 313"/>
                  <a:gd name="T49" fmla="*/ 22 h 248"/>
                  <a:gd name="T50" fmla="*/ 100 w 313"/>
                  <a:gd name="T51" fmla="*/ 11 h 248"/>
                  <a:gd name="T52" fmla="*/ 86 w 313"/>
                  <a:gd name="T53" fmla="*/ 3 h 248"/>
                  <a:gd name="T54" fmla="*/ 68 w 313"/>
                  <a:gd name="T55" fmla="*/ 0 h 248"/>
                  <a:gd name="T56" fmla="*/ 50 w 313"/>
                  <a:gd name="T57" fmla="*/ 6 h 248"/>
                  <a:gd name="T58" fmla="*/ 36 w 313"/>
                  <a:gd name="T59" fmla="*/ 11 h 248"/>
                  <a:gd name="T60" fmla="*/ 45 w 313"/>
                  <a:gd name="T61" fmla="*/ 20 h 248"/>
                  <a:gd name="T62" fmla="*/ 50 w 313"/>
                  <a:gd name="T63" fmla="*/ 27 h 248"/>
                  <a:gd name="T64" fmla="*/ 36 w 313"/>
                  <a:gd name="T65" fmla="*/ 37 h 248"/>
                  <a:gd name="T66" fmla="*/ 23 w 313"/>
                  <a:gd name="T67" fmla="*/ 48 h 248"/>
                  <a:gd name="T68" fmla="*/ 6 w 313"/>
                  <a:gd name="T69" fmla="*/ 45 h 248"/>
                  <a:gd name="T70" fmla="*/ 1 w 313"/>
                  <a:gd name="T71" fmla="*/ 63 h 248"/>
                  <a:gd name="T72" fmla="*/ 2 w 313"/>
                  <a:gd name="T73" fmla="*/ 66 h 248"/>
                  <a:gd name="T74" fmla="*/ 5 w 313"/>
                  <a:gd name="T75" fmla="*/ 66 h 248"/>
                  <a:gd name="T76" fmla="*/ 23 w 313"/>
                  <a:gd name="T77" fmla="*/ 88 h 248"/>
                  <a:gd name="T78" fmla="*/ 32 w 313"/>
                  <a:gd name="T79" fmla="*/ 101 h 248"/>
                  <a:gd name="T80" fmla="*/ 41 w 313"/>
                  <a:gd name="T81" fmla="*/ 117 h 248"/>
                  <a:gd name="T82" fmla="*/ 57 w 313"/>
                  <a:gd name="T83" fmla="*/ 134 h 248"/>
                  <a:gd name="T84" fmla="*/ 68 w 313"/>
                  <a:gd name="T85" fmla="*/ 157 h 248"/>
                  <a:gd name="T86" fmla="*/ 68 w 313"/>
                  <a:gd name="T87" fmla="*/ 171 h 248"/>
                  <a:gd name="T88" fmla="*/ 76 w 313"/>
                  <a:gd name="T89" fmla="*/ 185 h 248"/>
                  <a:gd name="T90" fmla="*/ 88 w 313"/>
                  <a:gd name="T91" fmla="*/ 194 h 248"/>
                  <a:gd name="T92" fmla="*/ 107 w 313"/>
                  <a:gd name="T93" fmla="*/ 225 h 248"/>
                  <a:gd name="T94" fmla="*/ 117 w 313"/>
                  <a:gd name="T95" fmla="*/ 239 h 248"/>
                  <a:gd name="T96" fmla="*/ 122 w 313"/>
                  <a:gd name="T97" fmla="*/ 248 h 248"/>
                  <a:gd name="T98" fmla="*/ 128 w 313"/>
                  <a:gd name="T99" fmla="*/ 244 h 248"/>
                  <a:gd name="T100" fmla="*/ 130 w 313"/>
                  <a:gd name="T101" fmla="*/ 232 h 248"/>
                  <a:gd name="T102" fmla="*/ 134 w 313"/>
                  <a:gd name="T103" fmla="*/ 232 h 248"/>
                  <a:gd name="T104" fmla="*/ 143 w 313"/>
                  <a:gd name="T105" fmla="*/ 235 h 248"/>
                  <a:gd name="T106" fmla="*/ 155 w 313"/>
                  <a:gd name="T107" fmla="*/ 233 h 248"/>
                  <a:gd name="T108" fmla="*/ 181 w 313"/>
                  <a:gd name="T109" fmla="*/ 236 h 248"/>
                  <a:gd name="T110" fmla="*/ 185 w 313"/>
                  <a:gd name="T111" fmla="*/ 240 h 248"/>
                  <a:gd name="T112" fmla="*/ 191 w 313"/>
                  <a:gd name="T113" fmla="*/ 237 h 248"/>
                  <a:gd name="T114" fmla="*/ 203 w 313"/>
                  <a:gd name="T115" fmla="*/ 221 h 248"/>
                  <a:gd name="T116" fmla="*/ 218 w 313"/>
                  <a:gd name="T117" fmla="*/ 214 h 248"/>
                  <a:gd name="T118" fmla="*/ 256 w 313"/>
                  <a:gd name="T119" fmla="*/ 20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3" h="248">
                    <a:moveTo>
                      <a:pt x="259" y="209"/>
                    </a:moveTo>
                    <a:cubicBezTo>
                      <a:pt x="259" y="208"/>
                      <a:pt x="260" y="208"/>
                      <a:pt x="261" y="208"/>
                    </a:cubicBezTo>
                    <a:cubicBezTo>
                      <a:pt x="262" y="208"/>
                      <a:pt x="303" y="193"/>
                      <a:pt x="303" y="193"/>
                    </a:cubicBezTo>
                    <a:cubicBezTo>
                      <a:pt x="303" y="193"/>
                      <a:pt x="303" y="193"/>
                      <a:pt x="303" y="192"/>
                    </a:cubicBezTo>
                    <a:cubicBezTo>
                      <a:pt x="304" y="192"/>
                      <a:pt x="311" y="169"/>
                      <a:pt x="311" y="169"/>
                    </a:cubicBezTo>
                    <a:cubicBezTo>
                      <a:pt x="311" y="168"/>
                      <a:pt x="313" y="163"/>
                      <a:pt x="311" y="160"/>
                    </a:cubicBezTo>
                    <a:cubicBezTo>
                      <a:pt x="310" y="158"/>
                      <a:pt x="308" y="153"/>
                      <a:pt x="306" y="151"/>
                    </a:cubicBezTo>
                    <a:cubicBezTo>
                      <a:pt x="306" y="151"/>
                      <a:pt x="270" y="148"/>
                      <a:pt x="268" y="147"/>
                    </a:cubicBezTo>
                    <a:cubicBezTo>
                      <a:pt x="266" y="147"/>
                      <a:pt x="263" y="143"/>
                      <a:pt x="263" y="142"/>
                    </a:cubicBezTo>
                    <a:cubicBezTo>
                      <a:pt x="262" y="141"/>
                      <a:pt x="260" y="138"/>
                      <a:pt x="259" y="136"/>
                    </a:cubicBezTo>
                    <a:cubicBezTo>
                      <a:pt x="257" y="135"/>
                      <a:pt x="254" y="131"/>
                      <a:pt x="253" y="129"/>
                    </a:cubicBezTo>
                    <a:cubicBezTo>
                      <a:pt x="253" y="129"/>
                      <a:pt x="253" y="128"/>
                      <a:pt x="253" y="127"/>
                    </a:cubicBezTo>
                    <a:cubicBezTo>
                      <a:pt x="252" y="127"/>
                      <a:pt x="252" y="127"/>
                      <a:pt x="252" y="126"/>
                    </a:cubicBezTo>
                    <a:cubicBezTo>
                      <a:pt x="251" y="126"/>
                      <a:pt x="248" y="126"/>
                      <a:pt x="249" y="124"/>
                    </a:cubicBezTo>
                    <a:cubicBezTo>
                      <a:pt x="251" y="123"/>
                      <a:pt x="251" y="122"/>
                      <a:pt x="251" y="121"/>
                    </a:cubicBezTo>
                    <a:cubicBezTo>
                      <a:pt x="251" y="121"/>
                      <a:pt x="251" y="121"/>
                      <a:pt x="251" y="121"/>
                    </a:cubicBezTo>
                    <a:cubicBezTo>
                      <a:pt x="248" y="121"/>
                      <a:pt x="245" y="122"/>
                      <a:pt x="244" y="121"/>
                    </a:cubicBezTo>
                    <a:cubicBezTo>
                      <a:pt x="243" y="121"/>
                      <a:pt x="242" y="119"/>
                      <a:pt x="241" y="118"/>
                    </a:cubicBezTo>
                    <a:cubicBezTo>
                      <a:pt x="241" y="118"/>
                      <a:pt x="241" y="118"/>
                      <a:pt x="241" y="118"/>
                    </a:cubicBezTo>
                    <a:cubicBezTo>
                      <a:pt x="239" y="116"/>
                      <a:pt x="237" y="112"/>
                      <a:pt x="236" y="111"/>
                    </a:cubicBezTo>
                    <a:cubicBezTo>
                      <a:pt x="236" y="110"/>
                      <a:pt x="231" y="103"/>
                      <a:pt x="230" y="102"/>
                    </a:cubicBezTo>
                    <a:cubicBezTo>
                      <a:pt x="229" y="100"/>
                      <a:pt x="229" y="96"/>
                      <a:pt x="230" y="97"/>
                    </a:cubicBezTo>
                    <a:cubicBezTo>
                      <a:pt x="231" y="97"/>
                      <a:pt x="231" y="98"/>
                      <a:pt x="231" y="98"/>
                    </a:cubicBezTo>
                    <a:cubicBezTo>
                      <a:pt x="232" y="98"/>
                      <a:pt x="232" y="95"/>
                      <a:pt x="232" y="94"/>
                    </a:cubicBezTo>
                    <a:cubicBezTo>
                      <a:pt x="232" y="92"/>
                      <a:pt x="231" y="92"/>
                      <a:pt x="231" y="91"/>
                    </a:cubicBezTo>
                    <a:cubicBezTo>
                      <a:pt x="230" y="90"/>
                      <a:pt x="229" y="88"/>
                      <a:pt x="229" y="88"/>
                    </a:cubicBezTo>
                    <a:cubicBezTo>
                      <a:pt x="230" y="88"/>
                      <a:pt x="232" y="89"/>
                      <a:pt x="231" y="88"/>
                    </a:cubicBezTo>
                    <a:cubicBezTo>
                      <a:pt x="231" y="87"/>
                      <a:pt x="231" y="88"/>
                      <a:pt x="231" y="87"/>
                    </a:cubicBezTo>
                    <a:cubicBezTo>
                      <a:pt x="230" y="87"/>
                      <a:pt x="228" y="85"/>
                      <a:pt x="227" y="85"/>
                    </a:cubicBezTo>
                    <a:cubicBezTo>
                      <a:pt x="226" y="85"/>
                      <a:pt x="225" y="84"/>
                      <a:pt x="224" y="83"/>
                    </a:cubicBezTo>
                    <a:cubicBezTo>
                      <a:pt x="223" y="82"/>
                      <a:pt x="223" y="80"/>
                      <a:pt x="222" y="81"/>
                    </a:cubicBezTo>
                    <a:cubicBezTo>
                      <a:pt x="221" y="81"/>
                      <a:pt x="221" y="81"/>
                      <a:pt x="220" y="80"/>
                    </a:cubicBezTo>
                    <a:cubicBezTo>
                      <a:pt x="219" y="79"/>
                      <a:pt x="218" y="77"/>
                      <a:pt x="217" y="76"/>
                    </a:cubicBezTo>
                    <a:cubicBezTo>
                      <a:pt x="217" y="76"/>
                      <a:pt x="217" y="76"/>
                      <a:pt x="218" y="76"/>
                    </a:cubicBezTo>
                    <a:cubicBezTo>
                      <a:pt x="219" y="75"/>
                      <a:pt x="219" y="75"/>
                      <a:pt x="218" y="75"/>
                    </a:cubicBezTo>
                    <a:cubicBezTo>
                      <a:pt x="216" y="74"/>
                      <a:pt x="216" y="75"/>
                      <a:pt x="215" y="74"/>
                    </a:cubicBezTo>
                    <a:cubicBezTo>
                      <a:pt x="214" y="73"/>
                      <a:pt x="214" y="73"/>
                      <a:pt x="213" y="73"/>
                    </a:cubicBezTo>
                    <a:cubicBezTo>
                      <a:pt x="213" y="73"/>
                      <a:pt x="212" y="73"/>
                      <a:pt x="211" y="71"/>
                    </a:cubicBezTo>
                    <a:cubicBezTo>
                      <a:pt x="211" y="70"/>
                      <a:pt x="208" y="64"/>
                      <a:pt x="206" y="59"/>
                    </a:cubicBezTo>
                    <a:cubicBezTo>
                      <a:pt x="204" y="59"/>
                      <a:pt x="200" y="59"/>
                      <a:pt x="197" y="59"/>
                    </a:cubicBezTo>
                    <a:cubicBezTo>
                      <a:pt x="193" y="58"/>
                      <a:pt x="193" y="54"/>
                      <a:pt x="192" y="54"/>
                    </a:cubicBezTo>
                    <a:cubicBezTo>
                      <a:pt x="192" y="53"/>
                      <a:pt x="192" y="53"/>
                      <a:pt x="192" y="53"/>
                    </a:cubicBezTo>
                    <a:cubicBezTo>
                      <a:pt x="192" y="53"/>
                      <a:pt x="180" y="50"/>
                      <a:pt x="179" y="50"/>
                    </a:cubicBezTo>
                    <a:cubicBezTo>
                      <a:pt x="178" y="50"/>
                      <a:pt x="178" y="50"/>
                      <a:pt x="178" y="49"/>
                    </a:cubicBezTo>
                    <a:cubicBezTo>
                      <a:pt x="177" y="50"/>
                      <a:pt x="176" y="50"/>
                      <a:pt x="176" y="50"/>
                    </a:cubicBezTo>
                    <a:cubicBezTo>
                      <a:pt x="176" y="50"/>
                      <a:pt x="174" y="50"/>
                      <a:pt x="174" y="50"/>
                    </a:cubicBezTo>
                    <a:cubicBezTo>
                      <a:pt x="174" y="50"/>
                      <a:pt x="158" y="48"/>
                      <a:pt x="155" y="48"/>
                    </a:cubicBezTo>
                    <a:cubicBezTo>
                      <a:pt x="152" y="48"/>
                      <a:pt x="148" y="45"/>
                      <a:pt x="147" y="45"/>
                    </a:cubicBezTo>
                    <a:cubicBezTo>
                      <a:pt x="145" y="44"/>
                      <a:pt x="134" y="35"/>
                      <a:pt x="133" y="34"/>
                    </a:cubicBezTo>
                    <a:cubicBezTo>
                      <a:pt x="132" y="34"/>
                      <a:pt x="120" y="23"/>
                      <a:pt x="118" y="22"/>
                    </a:cubicBezTo>
                    <a:cubicBezTo>
                      <a:pt x="117" y="21"/>
                      <a:pt x="109" y="16"/>
                      <a:pt x="108" y="15"/>
                    </a:cubicBezTo>
                    <a:cubicBezTo>
                      <a:pt x="107" y="15"/>
                      <a:pt x="101" y="12"/>
                      <a:pt x="100" y="11"/>
                    </a:cubicBezTo>
                    <a:cubicBezTo>
                      <a:pt x="99" y="11"/>
                      <a:pt x="90" y="5"/>
                      <a:pt x="89" y="4"/>
                    </a:cubicBezTo>
                    <a:cubicBezTo>
                      <a:pt x="88" y="3"/>
                      <a:pt x="86" y="3"/>
                      <a:pt x="86" y="3"/>
                    </a:cubicBezTo>
                    <a:cubicBezTo>
                      <a:pt x="68" y="0"/>
                      <a:pt x="68" y="0"/>
                      <a:pt x="68" y="0"/>
                    </a:cubicBezTo>
                    <a:cubicBezTo>
                      <a:pt x="68" y="0"/>
                      <a:pt x="68" y="0"/>
                      <a:pt x="68" y="0"/>
                    </a:cubicBezTo>
                    <a:cubicBezTo>
                      <a:pt x="67" y="0"/>
                      <a:pt x="61" y="2"/>
                      <a:pt x="60" y="3"/>
                    </a:cubicBezTo>
                    <a:cubicBezTo>
                      <a:pt x="58" y="4"/>
                      <a:pt x="51" y="6"/>
                      <a:pt x="50" y="6"/>
                    </a:cubicBezTo>
                    <a:cubicBezTo>
                      <a:pt x="49" y="7"/>
                      <a:pt x="38" y="10"/>
                      <a:pt x="37" y="10"/>
                    </a:cubicBezTo>
                    <a:cubicBezTo>
                      <a:pt x="36" y="10"/>
                      <a:pt x="36" y="11"/>
                      <a:pt x="36" y="11"/>
                    </a:cubicBezTo>
                    <a:cubicBezTo>
                      <a:pt x="36" y="11"/>
                      <a:pt x="40" y="15"/>
                      <a:pt x="41" y="16"/>
                    </a:cubicBezTo>
                    <a:cubicBezTo>
                      <a:pt x="42" y="17"/>
                      <a:pt x="45" y="20"/>
                      <a:pt x="45" y="20"/>
                    </a:cubicBezTo>
                    <a:cubicBezTo>
                      <a:pt x="46" y="21"/>
                      <a:pt x="49" y="24"/>
                      <a:pt x="50" y="25"/>
                    </a:cubicBezTo>
                    <a:cubicBezTo>
                      <a:pt x="51" y="26"/>
                      <a:pt x="51" y="27"/>
                      <a:pt x="50" y="27"/>
                    </a:cubicBezTo>
                    <a:cubicBezTo>
                      <a:pt x="50" y="28"/>
                      <a:pt x="45" y="33"/>
                      <a:pt x="44" y="34"/>
                    </a:cubicBezTo>
                    <a:cubicBezTo>
                      <a:pt x="43" y="35"/>
                      <a:pt x="39" y="36"/>
                      <a:pt x="36" y="37"/>
                    </a:cubicBezTo>
                    <a:cubicBezTo>
                      <a:pt x="33" y="37"/>
                      <a:pt x="31" y="38"/>
                      <a:pt x="30" y="39"/>
                    </a:cubicBezTo>
                    <a:cubicBezTo>
                      <a:pt x="29" y="40"/>
                      <a:pt x="23" y="47"/>
                      <a:pt x="23" y="48"/>
                    </a:cubicBezTo>
                    <a:cubicBezTo>
                      <a:pt x="23" y="48"/>
                      <a:pt x="22" y="48"/>
                      <a:pt x="22" y="48"/>
                    </a:cubicBezTo>
                    <a:cubicBezTo>
                      <a:pt x="6" y="45"/>
                      <a:pt x="6" y="45"/>
                      <a:pt x="6" y="45"/>
                    </a:cubicBezTo>
                    <a:cubicBezTo>
                      <a:pt x="5" y="48"/>
                      <a:pt x="4" y="51"/>
                      <a:pt x="4" y="53"/>
                    </a:cubicBezTo>
                    <a:cubicBezTo>
                      <a:pt x="3" y="55"/>
                      <a:pt x="2" y="58"/>
                      <a:pt x="1" y="63"/>
                    </a:cubicBezTo>
                    <a:cubicBezTo>
                      <a:pt x="1" y="65"/>
                      <a:pt x="0" y="67"/>
                      <a:pt x="1" y="67"/>
                    </a:cubicBezTo>
                    <a:cubicBezTo>
                      <a:pt x="2" y="67"/>
                      <a:pt x="2" y="66"/>
                      <a:pt x="2" y="66"/>
                    </a:cubicBezTo>
                    <a:cubicBezTo>
                      <a:pt x="2" y="66"/>
                      <a:pt x="2" y="65"/>
                      <a:pt x="3" y="66"/>
                    </a:cubicBezTo>
                    <a:cubicBezTo>
                      <a:pt x="3" y="66"/>
                      <a:pt x="5" y="66"/>
                      <a:pt x="5" y="66"/>
                    </a:cubicBezTo>
                    <a:cubicBezTo>
                      <a:pt x="6" y="66"/>
                      <a:pt x="8" y="65"/>
                      <a:pt x="9" y="67"/>
                    </a:cubicBezTo>
                    <a:cubicBezTo>
                      <a:pt x="10" y="68"/>
                      <a:pt x="22" y="85"/>
                      <a:pt x="23" y="88"/>
                    </a:cubicBezTo>
                    <a:cubicBezTo>
                      <a:pt x="25" y="90"/>
                      <a:pt x="29" y="97"/>
                      <a:pt x="30" y="98"/>
                    </a:cubicBezTo>
                    <a:cubicBezTo>
                      <a:pt x="31" y="99"/>
                      <a:pt x="32" y="100"/>
                      <a:pt x="32" y="101"/>
                    </a:cubicBezTo>
                    <a:cubicBezTo>
                      <a:pt x="32" y="102"/>
                      <a:pt x="34" y="106"/>
                      <a:pt x="36" y="108"/>
                    </a:cubicBezTo>
                    <a:cubicBezTo>
                      <a:pt x="39" y="110"/>
                      <a:pt x="41" y="115"/>
                      <a:pt x="41" y="117"/>
                    </a:cubicBezTo>
                    <a:cubicBezTo>
                      <a:pt x="41" y="120"/>
                      <a:pt x="44" y="126"/>
                      <a:pt x="46" y="127"/>
                    </a:cubicBezTo>
                    <a:cubicBezTo>
                      <a:pt x="49" y="127"/>
                      <a:pt x="53" y="128"/>
                      <a:pt x="57" y="134"/>
                    </a:cubicBezTo>
                    <a:cubicBezTo>
                      <a:pt x="61" y="139"/>
                      <a:pt x="64" y="147"/>
                      <a:pt x="66" y="150"/>
                    </a:cubicBezTo>
                    <a:cubicBezTo>
                      <a:pt x="67" y="153"/>
                      <a:pt x="69" y="155"/>
                      <a:pt x="68" y="157"/>
                    </a:cubicBezTo>
                    <a:cubicBezTo>
                      <a:pt x="67" y="159"/>
                      <a:pt x="66" y="162"/>
                      <a:pt x="67" y="164"/>
                    </a:cubicBezTo>
                    <a:cubicBezTo>
                      <a:pt x="68" y="167"/>
                      <a:pt x="68" y="170"/>
                      <a:pt x="68" y="171"/>
                    </a:cubicBezTo>
                    <a:cubicBezTo>
                      <a:pt x="68" y="172"/>
                      <a:pt x="69" y="177"/>
                      <a:pt x="71" y="179"/>
                    </a:cubicBezTo>
                    <a:cubicBezTo>
                      <a:pt x="73" y="182"/>
                      <a:pt x="76" y="185"/>
                      <a:pt x="76" y="185"/>
                    </a:cubicBezTo>
                    <a:cubicBezTo>
                      <a:pt x="76" y="186"/>
                      <a:pt x="78" y="189"/>
                      <a:pt x="80" y="189"/>
                    </a:cubicBezTo>
                    <a:cubicBezTo>
                      <a:pt x="82" y="189"/>
                      <a:pt x="86" y="191"/>
                      <a:pt x="88" y="194"/>
                    </a:cubicBezTo>
                    <a:cubicBezTo>
                      <a:pt x="90" y="197"/>
                      <a:pt x="102" y="218"/>
                      <a:pt x="102" y="218"/>
                    </a:cubicBezTo>
                    <a:cubicBezTo>
                      <a:pt x="102" y="218"/>
                      <a:pt x="105" y="223"/>
                      <a:pt x="107" y="225"/>
                    </a:cubicBezTo>
                    <a:cubicBezTo>
                      <a:pt x="109" y="227"/>
                      <a:pt x="116" y="232"/>
                      <a:pt x="116" y="235"/>
                    </a:cubicBezTo>
                    <a:cubicBezTo>
                      <a:pt x="116" y="239"/>
                      <a:pt x="116" y="238"/>
                      <a:pt x="117" y="239"/>
                    </a:cubicBezTo>
                    <a:cubicBezTo>
                      <a:pt x="118" y="239"/>
                      <a:pt x="122" y="242"/>
                      <a:pt x="122" y="247"/>
                    </a:cubicBezTo>
                    <a:cubicBezTo>
                      <a:pt x="122" y="247"/>
                      <a:pt x="122" y="248"/>
                      <a:pt x="122" y="248"/>
                    </a:cubicBezTo>
                    <a:cubicBezTo>
                      <a:pt x="128" y="244"/>
                      <a:pt x="128" y="244"/>
                      <a:pt x="128" y="244"/>
                    </a:cubicBezTo>
                    <a:cubicBezTo>
                      <a:pt x="128" y="244"/>
                      <a:pt x="128" y="244"/>
                      <a:pt x="128" y="244"/>
                    </a:cubicBezTo>
                    <a:cubicBezTo>
                      <a:pt x="128" y="243"/>
                      <a:pt x="126" y="240"/>
                      <a:pt x="128" y="237"/>
                    </a:cubicBezTo>
                    <a:cubicBezTo>
                      <a:pt x="129" y="234"/>
                      <a:pt x="130" y="232"/>
                      <a:pt x="130" y="232"/>
                    </a:cubicBezTo>
                    <a:cubicBezTo>
                      <a:pt x="130" y="232"/>
                      <a:pt x="130" y="232"/>
                      <a:pt x="131" y="232"/>
                    </a:cubicBezTo>
                    <a:cubicBezTo>
                      <a:pt x="131" y="232"/>
                      <a:pt x="134" y="232"/>
                      <a:pt x="134" y="232"/>
                    </a:cubicBezTo>
                    <a:cubicBezTo>
                      <a:pt x="134" y="232"/>
                      <a:pt x="135" y="232"/>
                      <a:pt x="135" y="233"/>
                    </a:cubicBezTo>
                    <a:cubicBezTo>
                      <a:pt x="135" y="233"/>
                      <a:pt x="137" y="236"/>
                      <a:pt x="143" y="235"/>
                    </a:cubicBezTo>
                    <a:cubicBezTo>
                      <a:pt x="148" y="233"/>
                      <a:pt x="154" y="233"/>
                      <a:pt x="154" y="233"/>
                    </a:cubicBezTo>
                    <a:cubicBezTo>
                      <a:pt x="154" y="233"/>
                      <a:pt x="155" y="233"/>
                      <a:pt x="155" y="233"/>
                    </a:cubicBezTo>
                    <a:cubicBezTo>
                      <a:pt x="156" y="233"/>
                      <a:pt x="180" y="235"/>
                      <a:pt x="180" y="235"/>
                    </a:cubicBezTo>
                    <a:cubicBezTo>
                      <a:pt x="180" y="235"/>
                      <a:pt x="181" y="235"/>
                      <a:pt x="181" y="236"/>
                    </a:cubicBezTo>
                    <a:cubicBezTo>
                      <a:pt x="182" y="236"/>
                      <a:pt x="184" y="238"/>
                      <a:pt x="184" y="239"/>
                    </a:cubicBezTo>
                    <a:cubicBezTo>
                      <a:pt x="185" y="240"/>
                      <a:pt x="185" y="240"/>
                      <a:pt x="185" y="240"/>
                    </a:cubicBezTo>
                    <a:cubicBezTo>
                      <a:pt x="186" y="240"/>
                      <a:pt x="191" y="238"/>
                      <a:pt x="191" y="238"/>
                    </a:cubicBezTo>
                    <a:cubicBezTo>
                      <a:pt x="191" y="238"/>
                      <a:pt x="191" y="238"/>
                      <a:pt x="191" y="237"/>
                    </a:cubicBezTo>
                    <a:cubicBezTo>
                      <a:pt x="192" y="237"/>
                      <a:pt x="202" y="222"/>
                      <a:pt x="202" y="222"/>
                    </a:cubicBezTo>
                    <a:cubicBezTo>
                      <a:pt x="202" y="222"/>
                      <a:pt x="202" y="221"/>
                      <a:pt x="203" y="221"/>
                    </a:cubicBezTo>
                    <a:cubicBezTo>
                      <a:pt x="204" y="220"/>
                      <a:pt x="207" y="219"/>
                      <a:pt x="207" y="219"/>
                    </a:cubicBezTo>
                    <a:cubicBezTo>
                      <a:pt x="208" y="219"/>
                      <a:pt x="215" y="215"/>
                      <a:pt x="218" y="214"/>
                    </a:cubicBezTo>
                    <a:cubicBezTo>
                      <a:pt x="220" y="214"/>
                      <a:pt x="233" y="212"/>
                      <a:pt x="237" y="212"/>
                    </a:cubicBezTo>
                    <a:cubicBezTo>
                      <a:pt x="240" y="211"/>
                      <a:pt x="255" y="209"/>
                      <a:pt x="256" y="209"/>
                    </a:cubicBezTo>
                    <a:cubicBezTo>
                      <a:pt x="257" y="209"/>
                      <a:pt x="258" y="209"/>
                      <a:pt x="259" y="20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59" name="Freeform 669">
                <a:extLst>
                  <a:ext uri="{FF2B5EF4-FFF2-40B4-BE49-F238E27FC236}">
                    <a16:creationId xmlns:a16="http://schemas.microsoft.com/office/drawing/2014/main" id="{50DFA9CC-44B5-46E7-B9D7-2A1DB534FC58}"/>
                  </a:ext>
                </a:extLst>
              </p:cNvPr>
              <p:cNvSpPr>
                <a:spLocks/>
              </p:cNvSpPr>
              <p:nvPr/>
            </p:nvSpPr>
            <p:spPr bwMode="auto">
              <a:xfrm>
                <a:off x="4598" y="2421"/>
                <a:ext cx="26" cy="9"/>
              </a:xfrm>
              <a:custGeom>
                <a:avLst/>
                <a:gdLst>
                  <a:gd name="T0" fmla="*/ 15 w 19"/>
                  <a:gd name="T1" fmla="*/ 1 h 6"/>
                  <a:gd name="T2" fmla="*/ 9 w 19"/>
                  <a:gd name="T3" fmla="*/ 1 h 6"/>
                  <a:gd name="T4" fmla="*/ 5 w 19"/>
                  <a:gd name="T5" fmla="*/ 1 h 6"/>
                  <a:gd name="T6" fmla="*/ 1 w 19"/>
                  <a:gd name="T7" fmla="*/ 2 h 6"/>
                  <a:gd name="T8" fmla="*/ 2 w 19"/>
                  <a:gd name="T9" fmla="*/ 4 h 6"/>
                  <a:gd name="T10" fmla="*/ 4 w 19"/>
                  <a:gd name="T11" fmla="*/ 5 h 6"/>
                  <a:gd name="T12" fmla="*/ 9 w 19"/>
                  <a:gd name="T13" fmla="*/ 6 h 6"/>
                  <a:gd name="T14" fmla="*/ 16 w 19"/>
                  <a:gd name="T15" fmla="*/ 3 h 6"/>
                  <a:gd name="T16" fmla="*/ 15 w 19"/>
                  <a:gd name="T17"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6">
                    <a:moveTo>
                      <a:pt x="15" y="1"/>
                    </a:moveTo>
                    <a:cubicBezTo>
                      <a:pt x="13" y="1"/>
                      <a:pt x="11" y="0"/>
                      <a:pt x="9" y="1"/>
                    </a:cubicBezTo>
                    <a:cubicBezTo>
                      <a:pt x="8" y="2"/>
                      <a:pt x="7" y="1"/>
                      <a:pt x="5" y="1"/>
                    </a:cubicBezTo>
                    <a:cubicBezTo>
                      <a:pt x="4" y="0"/>
                      <a:pt x="3" y="1"/>
                      <a:pt x="1" y="2"/>
                    </a:cubicBezTo>
                    <a:cubicBezTo>
                      <a:pt x="0" y="4"/>
                      <a:pt x="2" y="4"/>
                      <a:pt x="2" y="4"/>
                    </a:cubicBezTo>
                    <a:cubicBezTo>
                      <a:pt x="3" y="4"/>
                      <a:pt x="3" y="4"/>
                      <a:pt x="4" y="5"/>
                    </a:cubicBezTo>
                    <a:cubicBezTo>
                      <a:pt x="5" y="6"/>
                      <a:pt x="7" y="6"/>
                      <a:pt x="9" y="6"/>
                    </a:cubicBezTo>
                    <a:cubicBezTo>
                      <a:pt x="10" y="6"/>
                      <a:pt x="14" y="5"/>
                      <a:pt x="16" y="3"/>
                    </a:cubicBezTo>
                    <a:cubicBezTo>
                      <a:pt x="19" y="2"/>
                      <a:pt x="17" y="1"/>
                      <a:pt x="1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60" name="Freeform 670">
                <a:extLst>
                  <a:ext uri="{FF2B5EF4-FFF2-40B4-BE49-F238E27FC236}">
                    <a16:creationId xmlns:a16="http://schemas.microsoft.com/office/drawing/2014/main" id="{71EB32E8-0EC2-4E32-8741-DCC9631F8FA8}"/>
                  </a:ext>
                </a:extLst>
              </p:cNvPr>
              <p:cNvSpPr>
                <a:spLocks/>
              </p:cNvSpPr>
              <p:nvPr/>
            </p:nvSpPr>
            <p:spPr bwMode="auto">
              <a:xfrm>
                <a:off x="4380" y="2291"/>
                <a:ext cx="213" cy="133"/>
              </a:xfrm>
              <a:custGeom>
                <a:avLst/>
                <a:gdLst>
                  <a:gd name="T0" fmla="*/ 135 w 154"/>
                  <a:gd name="T1" fmla="*/ 0 h 97"/>
                  <a:gd name="T2" fmla="*/ 116 w 154"/>
                  <a:gd name="T3" fmla="*/ 3 h 97"/>
                  <a:gd name="T4" fmla="*/ 97 w 154"/>
                  <a:gd name="T5" fmla="*/ 5 h 97"/>
                  <a:gd name="T6" fmla="*/ 86 w 154"/>
                  <a:gd name="T7" fmla="*/ 10 h 97"/>
                  <a:gd name="T8" fmla="*/ 82 w 154"/>
                  <a:gd name="T9" fmla="*/ 12 h 97"/>
                  <a:gd name="T10" fmla="*/ 81 w 154"/>
                  <a:gd name="T11" fmla="*/ 13 h 97"/>
                  <a:gd name="T12" fmla="*/ 70 w 154"/>
                  <a:gd name="T13" fmla="*/ 28 h 97"/>
                  <a:gd name="T14" fmla="*/ 70 w 154"/>
                  <a:gd name="T15" fmla="*/ 29 h 97"/>
                  <a:gd name="T16" fmla="*/ 64 w 154"/>
                  <a:gd name="T17" fmla="*/ 31 h 97"/>
                  <a:gd name="T18" fmla="*/ 63 w 154"/>
                  <a:gd name="T19" fmla="*/ 30 h 97"/>
                  <a:gd name="T20" fmla="*/ 60 w 154"/>
                  <a:gd name="T21" fmla="*/ 27 h 97"/>
                  <a:gd name="T22" fmla="*/ 59 w 154"/>
                  <a:gd name="T23" fmla="*/ 26 h 97"/>
                  <a:gd name="T24" fmla="*/ 34 w 154"/>
                  <a:gd name="T25" fmla="*/ 24 h 97"/>
                  <a:gd name="T26" fmla="*/ 33 w 154"/>
                  <a:gd name="T27" fmla="*/ 24 h 97"/>
                  <a:gd name="T28" fmla="*/ 22 w 154"/>
                  <a:gd name="T29" fmla="*/ 26 h 97"/>
                  <a:gd name="T30" fmla="*/ 14 w 154"/>
                  <a:gd name="T31" fmla="*/ 24 h 97"/>
                  <a:gd name="T32" fmla="*/ 13 w 154"/>
                  <a:gd name="T33" fmla="*/ 23 h 97"/>
                  <a:gd name="T34" fmla="*/ 10 w 154"/>
                  <a:gd name="T35" fmla="*/ 23 h 97"/>
                  <a:gd name="T36" fmla="*/ 9 w 154"/>
                  <a:gd name="T37" fmla="*/ 23 h 97"/>
                  <a:gd name="T38" fmla="*/ 7 w 154"/>
                  <a:gd name="T39" fmla="*/ 28 h 97"/>
                  <a:gd name="T40" fmla="*/ 7 w 154"/>
                  <a:gd name="T41" fmla="*/ 35 h 97"/>
                  <a:gd name="T42" fmla="*/ 7 w 154"/>
                  <a:gd name="T43" fmla="*/ 35 h 97"/>
                  <a:gd name="T44" fmla="*/ 1 w 154"/>
                  <a:gd name="T45" fmla="*/ 39 h 97"/>
                  <a:gd name="T46" fmla="*/ 2 w 154"/>
                  <a:gd name="T47" fmla="*/ 47 h 97"/>
                  <a:gd name="T48" fmla="*/ 1 w 154"/>
                  <a:gd name="T49" fmla="*/ 51 h 97"/>
                  <a:gd name="T50" fmla="*/ 1 w 154"/>
                  <a:gd name="T51" fmla="*/ 57 h 97"/>
                  <a:gd name="T52" fmla="*/ 1 w 154"/>
                  <a:gd name="T53" fmla="*/ 58 h 97"/>
                  <a:gd name="T54" fmla="*/ 2 w 154"/>
                  <a:gd name="T55" fmla="*/ 60 h 97"/>
                  <a:gd name="T56" fmla="*/ 7 w 154"/>
                  <a:gd name="T57" fmla="*/ 78 h 97"/>
                  <a:gd name="T58" fmla="*/ 8 w 154"/>
                  <a:gd name="T59" fmla="*/ 84 h 97"/>
                  <a:gd name="T60" fmla="*/ 10 w 154"/>
                  <a:gd name="T61" fmla="*/ 93 h 97"/>
                  <a:gd name="T62" fmla="*/ 14 w 154"/>
                  <a:gd name="T63" fmla="*/ 96 h 97"/>
                  <a:gd name="T64" fmla="*/ 26 w 154"/>
                  <a:gd name="T65" fmla="*/ 95 h 97"/>
                  <a:gd name="T66" fmla="*/ 32 w 154"/>
                  <a:gd name="T67" fmla="*/ 95 h 97"/>
                  <a:gd name="T68" fmla="*/ 35 w 154"/>
                  <a:gd name="T69" fmla="*/ 93 h 97"/>
                  <a:gd name="T70" fmla="*/ 39 w 154"/>
                  <a:gd name="T71" fmla="*/ 89 h 97"/>
                  <a:gd name="T72" fmla="*/ 43 w 154"/>
                  <a:gd name="T73" fmla="*/ 87 h 97"/>
                  <a:gd name="T74" fmla="*/ 48 w 154"/>
                  <a:gd name="T75" fmla="*/ 85 h 97"/>
                  <a:gd name="T76" fmla="*/ 73 w 154"/>
                  <a:gd name="T77" fmla="*/ 79 h 97"/>
                  <a:gd name="T78" fmla="*/ 82 w 154"/>
                  <a:gd name="T79" fmla="*/ 76 h 97"/>
                  <a:gd name="T80" fmla="*/ 90 w 154"/>
                  <a:gd name="T81" fmla="*/ 73 h 97"/>
                  <a:gd name="T82" fmla="*/ 108 w 154"/>
                  <a:gd name="T83" fmla="*/ 63 h 97"/>
                  <a:gd name="T84" fmla="*/ 139 w 154"/>
                  <a:gd name="T85" fmla="*/ 52 h 97"/>
                  <a:gd name="T86" fmla="*/ 141 w 154"/>
                  <a:gd name="T87" fmla="*/ 49 h 97"/>
                  <a:gd name="T88" fmla="*/ 142 w 154"/>
                  <a:gd name="T89" fmla="*/ 44 h 97"/>
                  <a:gd name="T90" fmla="*/ 145 w 154"/>
                  <a:gd name="T91" fmla="*/ 40 h 97"/>
                  <a:gd name="T92" fmla="*/ 148 w 154"/>
                  <a:gd name="T93" fmla="*/ 38 h 97"/>
                  <a:gd name="T94" fmla="*/ 154 w 154"/>
                  <a:gd name="T95" fmla="*/ 36 h 97"/>
                  <a:gd name="T96" fmla="*/ 138 w 154"/>
                  <a:gd name="T97" fmla="*/ 0 h 97"/>
                  <a:gd name="T98" fmla="*/ 135 w 154"/>
                  <a:gd name="T9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4" h="97">
                    <a:moveTo>
                      <a:pt x="135" y="0"/>
                    </a:moveTo>
                    <a:cubicBezTo>
                      <a:pt x="134" y="0"/>
                      <a:pt x="119" y="2"/>
                      <a:pt x="116" y="3"/>
                    </a:cubicBezTo>
                    <a:cubicBezTo>
                      <a:pt x="112" y="3"/>
                      <a:pt x="99" y="5"/>
                      <a:pt x="97" y="5"/>
                    </a:cubicBezTo>
                    <a:cubicBezTo>
                      <a:pt x="94" y="6"/>
                      <a:pt x="87" y="10"/>
                      <a:pt x="86" y="10"/>
                    </a:cubicBezTo>
                    <a:cubicBezTo>
                      <a:pt x="86" y="10"/>
                      <a:pt x="83" y="11"/>
                      <a:pt x="82" y="12"/>
                    </a:cubicBezTo>
                    <a:cubicBezTo>
                      <a:pt x="81" y="12"/>
                      <a:pt x="81" y="13"/>
                      <a:pt x="81" y="13"/>
                    </a:cubicBezTo>
                    <a:cubicBezTo>
                      <a:pt x="81" y="13"/>
                      <a:pt x="71" y="28"/>
                      <a:pt x="70" y="28"/>
                    </a:cubicBezTo>
                    <a:cubicBezTo>
                      <a:pt x="70" y="29"/>
                      <a:pt x="70" y="29"/>
                      <a:pt x="70" y="29"/>
                    </a:cubicBezTo>
                    <a:cubicBezTo>
                      <a:pt x="70" y="29"/>
                      <a:pt x="65" y="31"/>
                      <a:pt x="64" y="31"/>
                    </a:cubicBezTo>
                    <a:cubicBezTo>
                      <a:pt x="64" y="31"/>
                      <a:pt x="64" y="31"/>
                      <a:pt x="63" y="30"/>
                    </a:cubicBezTo>
                    <a:cubicBezTo>
                      <a:pt x="63" y="29"/>
                      <a:pt x="61" y="27"/>
                      <a:pt x="60" y="27"/>
                    </a:cubicBezTo>
                    <a:cubicBezTo>
                      <a:pt x="60" y="26"/>
                      <a:pt x="59" y="26"/>
                      <a:pt x="59" y="26"/>
                    </a:cubicBezTo>
                    <a:cubicBezTo>
                      <a:pt x="59" y="26"/>
                      <a:pt x="35" y="24"/>
                      <a:pt x="34" y="24"/>
                    </a:cubicBezTo>
                    <a:cubicBezTo>
                      <a:pt x="34" y="24"/>
                      <a:pt x="33" y="24"/>
                      <a:pt x="33" y="24"/>
                    </a:cubicBezTo>
                    <a:cubicBezTo>
                      <a:pt x="33" y="24"/>
                      <a:pt x="27" y="24"/>
                      <a:pt x="22" y="26"/>
                    </a:cubicBezTo>
                    <a:cubicBezTo>
                      <a:pt x="16" y="27"/>
                      <a:pt x="14" y="24"/>
                      <a:pt x="14" y="24"/>
                    </a:cubicBezTo>
                    <a:cubicBezTo>
                      <a:pt x="14" y="23"/>
                      <a:pt x="13" y="23"/>
                      <a:pt x="13" y="23"/>
                    </a:cubicBezTo>
                    <a:cubicBezTo>
                      <a:pt x="13" y="23"/>
                      <a:pt x="10" y="23"/>
                      <a:pt x="10" y="23"/>
                    </a:cubicBezTo>
                    <a:cubicBezTo>
                      <a:pt x="9" y="23"/>
                      <a:pt x="9" y="23"/>
                      <a:pt x="9" y="23"/>
                    </a:cubicBezTo>
                    <a:cubicBezTo>
                      <a:pt x="9" y="23"/>
                      <a:pt x="8" y="25"/>
                      <a:pt x="7" y="28"/>
                    </a:cubicBezTo>
                    <a:cubicBezTo>
                      <a:pt x="5" y="31"/>
                      <a:pt x="7" y="34"/>
                      <a:pt x="7" y="35"/>
                    </a:cubicBezTo>
                    <a:cubicBezTo>
                      <a:pt x="7" y="35"/>
                      <a:pt x="7" y="35"/>
                      <a:pt x="7" y="35"/>
                    </a:cubicBezTo>
                    <a:cubicBezTo>
                      <a:pt x="1" y="39"/>
                      <a:pt x="1" y="39"/>
                      <a:pt x="1" y="39"/>
                    </a:cubicBezTo>
                    <a:cubicBezTo>
                      <a:pt x="1" y="43"/>
                      <a:pt x="2" y="46"/>
                      <a:pt x="2" y="47"/>
                    </a:cubicBezTo>
                    <a:cubicBezTo>
                      <a:pt x="1" y="49"/>
                      <a:pt x="1" y="50"/>
                      <a:pt x="1" y="51"/>
                    </a:cubicBezTo>
                    <a:cubicBezTo>
                      <a:pt x="1" y="52"/>
                      <a:pt x="2" y="56"/>
                      <a:pt x="1" y="57"/>
                    </a:cubicBezTo>
                    <a:cubicBezTo>
                      <a:pt x="0" y="57"/>
                      <a:pt x="0" y="58"/>
                      <a:pt x="1" y="58"/>
                    </a:cubicBezTo>
                    <a:cubicBezTo>
                      <a:pt x="2" y="59"/>
                      <a:pt x="2" y="59"/>
                      <a:pt x="2" y="60"/>
                    </a:cubicBezTo>
                    <a:cubicBezTo>
                      <a:pt x="2" y="61"/>
                      <a:pt x="5" y="75"/>
                      <a:pt x="7" y="78"/>
                    </a:cubicBezTo>
                    <a:cubicBezTo>
                      <a:pt x="9" y="81"/>
                      <a:pt x="8" y="83"/>
                      <a:pt x="8" y="84"/>
                    </a:cubicBezTo>
                    <a:cubicBezTo>
                      <a:pt x="8" y="85"/>
                      <a:pt x="8" y="90"/>
                      <a:pt x="10" y="93"/>
                    </a:cubicBezTo>
                    <a:cubicBezTo>
                      <a:pt x="12" y="97"/>
                      <a:pt x="12" y="96"/>
                      <a:pt x="14" y="96"/>
                    </a:cubicBezTo>
                    <a:cubicBezTo>
                      <a:pt x="16" y="96"/>
                      <a:pt x="24" y="97"/>
                      <a:pt x="26" y="95"/>
                    </a:cubicBezTo>
                    <a:cubicBezTo>
                      <a:pt x="28" y="94"/>
                      <a:pt x="31" y="94"/>
                      <a:pt x="32" y="95"/>
                    </a:cubicBezTo>
                    <a:cubicBezTo>
                      <a:pt x="33" y="95"/>
                      <a:pt x="35" y="94"/>
                      <a:pt x="35" y="93"/>
                    </a:cubicBezTo>
                    <a:cubicBezTo>
                      <a:pt x="35" y="92"/>
                      <a:pt x="37" y="90"/>
                      <a:pt x="39" y="89"/>
                    </a:cubicBezTo>
                    <a:cubicBezTo>
                      <a:pt x="41" y="89"/>
                      <a:pt x="42" y="88"/>
                      <a:pt x="43" y="87"/>
                    </a:cubicBezTo>
                    <a:cubicBezTo>
                      <a:pt x="44" y="86"/>
                      <a:pt x="46" y="85"/>
                      <a:pt x="48" y="85"/>
                    </a:cubicBezTo>
                    <a:cubicBezTo>
                      <a:pt x="50" y="85"/>
                      <a:pt x="69" y="82"/>
                      <a:pt x="73" y="79"/>
                    </a:cubicBezTo>
                    <a:cubicBezTo>
                      <a:pt x="76" y="75"/>
                      <a:pt x="80" y="76"/>
                      <a:pt x="82" y="76"/>
                    </a:cubicBezTo>
                    <a:cubicBezTo>
                      <a:pt x="85" y="76"/>
                      <a:pt x="88" y="76"/>
                      <a:pt x="90" y="73"/>
                    </a:cubicBezTo>
                    <a:cubicBezTo>
                      <a:pt x="92" y="71"/>
                      <a:pt x="97" y="66"/>
                      <a:pt x="108" y="63"/>
                    </a:cubicBezTo>
                    <a:cubicBezTo>
                      <a:pt x="118" y="61"/>
                      <a:pt x="138" y="53"/>
                      <a:pt x="139" y="52"/>
                    </a:cubicBezTo>
                    <a:cubicBezTo>
                      <a:pt x="141" y="52"/>
                      <a:pt x="142" y="51"/>
                      <a:pt x="141" y="49"/>
                    </a:cubicBezTo>
                    <a:cubicBezTo>
                      <a:pt x="141" y="47"/>
                      <a:pt x="141" y="46"/>
                      <a:pt x="142" y="44"/>
                    </a:cubicBezTo>
                    <a:cubicBezTo>
                      <a:pt x="143" y="42"/>
                      <a:pt x="145" y="41"/>
                      <a:pt x="145" y="40"/>
                    </a:cubicBezTo>
                    <a:cubicBezTo>
                      <a:pt x="145" y="40"/>
                      <a:pt x="147" y="38"/>
                      <a:pt x="148" y="38"/>
                    </a:cubicBezTo>
                    <a:cubicBezTo>
                      <a:pt x="149" y="38"/>
                      <a:pt x="151" y="37"/>
                      <a:pt x="154" y="36"/>
                    </a:cubicBezTo>
                    <a:cubicBezTo>
                      <a:pt x="138" y="0"/>
                      <a:pt x="138" y="0"/>
                      <a:pt x="138" y="0"/>
                    </a:cubicBezTo>
                    <a:cubicBezTo>
                      <a:pt x="137" y="0"/>
                      <a:pt x="136" y="0"/>
                      <a:pt x="135"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61" name="Freeform 671">
                <a:extLst>
                  <a:ext uri="{FF2B5EF4-FFF2-40B4-BE49-F238E27FC236}">
                    <a16:creationId xmlns:a16="http://schemas.microsoft.com/office/drawing/2014/main" id="{D3DEB093-C82F-4C36-9BAA-C5CF5E63190C}"/>
                  </a:ext>
                </a:extLst>
              </p:cNvPr>
              <p:cNvSpPr>
                <a:spLocks/>
              </p:cNvSpPr>
              <p:nvPr/>
            </p:nvSpPr>
            <p:spPr bwMode="auto">
              <a:xfrm>
                <a:off x="4603" y="2176"/>
                <a:ext cx="11" cy="5"/>
              </a:xfrm>
              <a:custGeom>
                <a:avLst/>
                <a:gdLst>
                  <a:gd name="T0" fmla="*/ 2 w 8"/>
                  <a:gd name="T1" fmla="*/ 3 h 4"/>
                  <a:gd name="T2" fmla="*/ 6 w 8"/>
                  <a:gd name="T3" fmla="*/ 2 h 4"/>
                  <a:gd name="T4" fmla="*/ 2 w 8"/>
                  <a:gd name="T5" fmla="*/ 3 h 4"/>
                </a:gdLst>
                <a:ahLst/>
                <a:cxnLst>
                  <a:cxn ang="0">
                    <a:pos x="T0" y="T1"/>
                  </a:cxn>
                  <a:cxn ang="0">
                    <a:pos x="T2" y="T3"/>
                  </a:cxn>
                  <a:cxn ang="0">
                    <a:pos x="T4" y="T5"/>
                  </a:cxn>
                </a:cxnLst>
                <a:rect l="0" t="0" r="r" b="b"/>
                <a:pathLst>
                  <a:path w="8" h="4">
                    <a:moveTo>
                      <a:pt x="2" y="3"/>
                    </a:moveTo>
                    <a:cubicBezTo>
                      <a:pt x="2" y="3"/>
                      <a:pt x="8" y="4"/>
                      <a:pt x="6" y="2"/>
                    </a:cubicBezTo>
                    <a:cubicBezTo>
                      <a:pt x="4" y="0"/>
                      <a:pt x="0"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62" name="Freeform 672">
                <a:extLst>
                  <a:ext uri="{FF2B5EF4-FFF2-40B4-BE49-F238E27FC236}">
                    <a16:creationId xmlns:a16="http://schemas.microsoft.com/office/drawing/2014/main" id="{5B7F2860-8D99-488B-A108-DF38B0E31621}"/>
                  </a:ext>
                </a:extLst>
              </p:cNvPr>
              <p:cNvSpPr>
                <a:spLocks/>
              </p:cNvSpPr>
              <p:nvPr/>
            </p:nvSpPr>
            <p:spPr bwMode="auto">
              <a:xfrm>
                <a:off x="4563" y="2139"/>
                <a:ext cx="98" cy="72"/>
              </a:xfrm>
              <a:custGeom>
                <a:avLst/>
                <a:gdLst>
                  <a:gd name="T0" fmla="*/ 53 w 71"/>
                  <a:gd name="T1" fmla="*/ 53 h 53"/>
                  <a:gd name="T2" fmla="*/ 53 w 71"/>
                  <a:gd name="T3" fmla="*/ 53 h 53"/>
                  <a:gd name="T4" fmla="*/ 57 w 71"/>
                  <a:gd name="T5" fmla="*/ 36 h 53"/>
                  <a:gd name="T6" fmla="*/ 60 w 71"/>
                  <a:gd name="T7" fmla="*/ 32 h 53"/>
                  <a:gd name="T8" fmla="*/ 65 w 71"/>
                  <a:gd name="T9" fmla="*/ 32 h 53"/>
                  <a:gd name="T10" fmla="*/ 65 w 71"/>
                  <a:gd name="T11" fmla="*/ 31 h 53"/>
                  <a:gd name="T12" fmla="*/ 62 w 71"/>
                  <a:gd name="T13" fmla="*/ 29 h 53"/>
                  <a:gd name="T14" fmla="*/ 62 w 71"/>
                  <a:gd name="T15" fmla="*/ 24 h 53"/>
                  <a:gd name="T16" fmla="*/ 63 w 71"/>
                  <a:gd name="T17" fmla="*/ 21 h 53"/>
                  <a:gd name="T18" fmla="*/ 65 w 71"/>
                  <a:gd name="T19" fmla="*/ 18 h 53"/>
                  <a:gd name="T20" fmla="*/ 65 w 71"/>
                  <a:gd name="T21" fmla="*/ 18 h 53"/>
                  <a:gd name="T22" fmla="*/ 66 w 71"/>
                  <a:gd name="T23" fmla="*/ 20 h 53"/>
                  <a:gd name="T24" fmla="*/ 67 w 71"/>
                  <a:gd name="T25" fmla="*/ 21 h 53"/>
                  <a:gd name="T26" fmla="*/ 68 w 71"/>
                  <a:gd name="T27" fmla="*/ 20 h 53"/>
                  <a:gd name="T28" fmla="*/ 70 w 71"/>
                  <a:gd name="T29" fmla="*/ 19 h 53"/>
                  <a:gd name="T30" fmla="*/ 70 w 71"/>
                  <a:gd name="T31" fmla="*/ 18 h 53"/>
                  <a:gd name="T32" fmla="*/ 71 w 71"/>
                  <a:gd name="T33" fmla="*/ 17 h 53"/>
                  <a:gd name="T34" fmla="*/ 71 w 71"/>
                  <a:gd name="T35" fmla="*/ 17 h 53"/>
                  <a:gd name="T36" fmla="*/ 71 w 71"/>
                  <a:gd name="T37" fmla="*/ 16 h 53"/>
                  <a:gd name="T38" fmla="*/ 71 w 71"/>
                  <a:gd name="T39" fmla="*/ 9 h 53"/>
                  <a:gd name="T40" fmla="*/ 70 w 71"/>
                  <a:gd name="T41" fmla="*/ 7 h 53"/>
                  <a:gd name="T42" fmla="*/ 68 w 71"/>
                  <a:gd name="T43" fmla="*/ 7 h 53"/>
                  <a:gd name="T44" fmla="*/ 67 w 71"/>
                  <a:gd name="T45" fmla="*/ 6 h 53"/>
                  <a:gd name="T46" fmla="*/ 66 w 71"/>
                  <a:gd name="T47" fmla="*/ 0 h 53"/>
                  <a:gd name="T48" fmla="*/ 65 w 71"/>
                  <a:gd name="T49" fmla="*/ 3 h 53"/>
                  <a:gd name="T50" fmla="*/ 62 w 71"/>
                  <a:gd name="T51" fmla="*/ 6 h 53"/>
                  <a:gd name="T52" fmla="*/ 60 w 71"/>
                  <a:gd name="T53" fmla="*/ 8 h 53"/>
                  <a:gd name="T54" fmla="*/ 55 w 71"/>
                  <a:gd name="T55" fmla="*/ 13 h 53"/>
                  <a:gd name="T56" fmla="*/ 48 w 71"/>
                  <a:gd name="T57" fmla="*/ 19 h 53"/>
                  <a:gd name="T58" fmla="*/ 44 w 71"/>
                  <a:gd name="T59" fmla="*/ 24 h 53"/>
                  <a:gd name="T60" fmla="*/ 39 w 71"/>
                  <a:gd name="T61" fmla="*/ 29 h 53"/>
                  <a:gd name="T62" fmla="*/ 37 w 71"/>
                  <a:gd name="T63" fmla="*/ 29 h 53"/>
                  <a:gd name="T64" fmla="*/ 32 w 71"/>
                  <a:gd name="T65" fmla="*/ 32 h 53"/>
                  <a:gd name="T66" fmla="*/ 17 w 71"/>
                  <a:gd name="T67" fmla="*/ 32 h 53"/>
                  <a:gd name="T68" fmla="*/ 3 w 71"/>
                  <a:gd name="T69" fmla="*/ 32 h 53"/>
                  <a:gd name="T70" fmla="*/ 2 w 71"/>
                  <a:gd name="T71" fmla="*/ 29 h 53"/>
                  <a:gd name="T72" fmla="*/ 0 w 71"/>
                  <a:gd name="T73" fmla="*/ 28 h 53"/>
                  <a:gd name="T74" fmla="*/ 0 w 71"/>
                  <a:gd name="T75" fmla="*/ 28 h 53"/>
                  <a:gd name="T76" fmla="*/ 0 w 71"/>
                  <a:gd name="T77" fmla="*/ 29 h 53"/>
                  <a:gd name="T78" fmla="*/ 0 w 71"/>
                  <a:gd name="T79" fmla="*/ 31 h 53"/>
                  <a:gd name="T80" fmla="*/ 6 w 71"/>
                  <a:gd name="T81" fmla="*/ 38 h 53"/>
                  <a:gd name="T82" fmla="*/ 10 w 71"/>
                  <a:gd name="T83" fmla="*/ 44 h 53"/>
                  <a:gd name="T84" fmla="*/ 15 w 71"/>
                  <a:gd name="T85" fmla="*/ 49 h 53"/>
                  <a:gd name="T86" fmla="*/ 53 w 71"/>
                  <a:gd name="T8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1" h="53">
                    <a:moveTo>
                      <a:pt x="53" y="53"/>
                    </a:moveTo>
                    <a:cubicBezTo>
                      <a:pt x="53" y="53"/>
                      <a:pt x="53" y="53"/>
                      <a:pt x="53" y="53"/>
                    </a:cubicBezTo>
                    <a:cubicBezTo>
                      <a:pt x="57" y="36"/>
                      <a:pt x="57" y="36"/>
                      <a:pt x="57" y="36"/>
                    </a:cubicBezTo>
                    <a:cubicBezTo>
                      <a:pt x="57" y="36"/>
                      <a:pt x="57" y="33"/>
                      <a:pt x="60" y="32"/>
                    </a:cubicBezTo>
                    <a:cubicBezTo>
                      <a:pt x="64" y="32"/>
                      <a:pt x="65" y="32"/>
                      <a:pt x="65" y="32"/>
                    </a:cubicBezTo>
                    <a:cubicBezTo>
                      <a:pt x="65" y="32"/>
                      <a:pt x="66" y="32"/>
                      <a:pt x="65" y="31"/>
                    </a:cubicBezTo>
                    <a:cubicBezTo>
                      <a:pt x="64" y="31"/>
                      <a:pt x="62" y="30"/>
                      <a:pt x="62" y="29"/>
                    </a:cubicBezTo>
                    <a:cubicBezTo>
                      <a:pt x="62" y="28"/>
                      <a:pt x="62" y="25"/>
                      <a:pt x="62" y="24"/>
                    </a:cubicBezTo>
                    <a:cubicBezTo>
                      <a:pt x="62" y="23"/>
                      <a:pt x="62" y="22"/>
                      <a:pt x="63" y="21"/>
                    </a:cubicBezTo>
                    <a:cubicBezTo>
                      <a:pt x="63" y="20"/>
                      <a:pt x="65" y="18"/>
                      <a:pt x="65" y="18"/>
                    </a:cubicBezTo>
                    <a:cubicBezTo>
                      <a:pt x="65" y="18"/>
                      <a:pt x="65" y="17"/>
                      <a:pt x="65" y="18"/>
                    </a:cubicBezTo>
                    <a:cubicBezTo>
                      <a:pt x="66" y="18"/>
                      <a:pt x="66" y="19"/>
                      <a:pt x="66" y="20"/>
                    </a:cubicBezTo>
                    <a:cubicBezTo>
                      <a:pt x="66" y="20"/>
                      <a:pt x="66" y="22"/>
                      <a:pt x="67" y="21"/>
                    </a:cubicBezTo>
                    <a:cubicBezTo>
                      <a:pt x="67" y="20"/>
                      <a:pt x="68" y="20"/>
                      <a:pt x="68" y="20"/>
                    </a:cubicBezTo>
                    <a:cubicBezTo>
                      <a:pt x="69" y="19"/>
                      <a:pt x="70" y="19"/>
                      <a:pt x="70" y="19"/>
                    </a:cubicBezTo>
                    <a:cubicBezTo>
                      <a:pt x="70" y="18"/>
                      <a:pt x="70" y="18"/>
                      <a:pt x="70" y="18"/>
                    </a:cubicBezTo>
                    <a:cubicBezTo>
                      <a:pt x="70" y="18"/>
                      <a:pt x="70" y="17"/>
                      <a:pt x="71" y="17"/>
                    </a:cubicBezTo>
                    <a:cubicBezTo>
                      <a:pt x="71" y="17"/>
                      <a:pt x="71" y="17"/>
                      <a:pt x="71" y="17"/>
                    </a:cubicBezTo>
                    <a:cubicBezTo>
                      <a:pt x="71" y="17"/>
                      <a:pt x="71" y="16"/>
                      <a:pt x="71" y="16"/>
                    </a:cubicBezTo>
                    <a:cubicBezTo>
                      <a:pt x="71" y="13"/>
                      <a:pt x="71" y="11"/>
                      <a:pt x="71" y="9"/>
                    </a:cubicBezTo>
                    <a:cubicBezTo>
                      <a:pt x="70" y="8"/>
                      <a:pt x="70" y="8"/>
                      <a:pt x="70" y="7"/>
                    </a:cubicBezTo>
                    <a:cubicBezTo>
                      <a:pt x="69" y="7"/>
                      <a:pt x="68" y="7"/>
                      <a:pt x="68" y="7"/>
                    </a:cubicBezTo>
                    <a:cubicBezTo>
                      <a:pt x="67" y="7"/>
                      <a:pt x="67" y="6"/>
                      <a:pt x="67" y="6"/>
                    </a:cubicBezTo>
                    <a:cubicBezTo>
                      <a:pt x="66" y="0"/>
                      <a:pt x="66" y="0"/>
                      <a:pt x="66" y="0"/>
                    </a:cubicBezTo>
                    <a:cubicBezTo>
                      <a:pt x="65" y="2"/>
                      <a:pt x="65" y="3"/>
                      <a:pt x="65" y="3"/>
                    </a:cubicBezTo>
                    <a:cubicBezTo>
                      <a:pt x="64" y="3"/>
                      <a:pt x="63" y="5"/>
                      <a:pt x="62" y="6"/>
                    </a:cubicBezTo>
                    <a:cubicBezTo>
                      <a:pt x="62" y="6"/>
                      <a:pt x="61" y="7"/>
                      <a:pt x="60" y="8"/>
                    </a:cubicBezTo>
                    <a:cubicBezTo>
                      <a:pt x="59" y="9"/>
                      <a:pt x="56" y="11"/>
                      <a:pt x="55" y="13"/>
                    </a:cubicBezTo>
                    <a:cubicBezTo>
                      <a:pt x="53" y="14"/>
                      <a:pt x="49" y="18"/>
                      <a:pt x="48" y="19"/>
                    </a:cubicBezTo>
                    <a:cubicBezTo>
                      <a:pt x="47" y="20"/>
                      <a:pt x="45" y="21"/>
                      <a:pt x="44" y="24"/>
                    </a:cubicBezTo>
                    <a:cubicBezTo>
                      <a:pt x="43" y="27"/>
                      <a:pt x="42" y="30"/>
                      <a:pt x="39" y="29"/>
                    </a:cubicBezTo>
                    <a:cubicBezTo>
                      <a:pt x="36" y="28"/>
                      <a:pt x="37" y="28"/>
                      <a:pt x="37" y="29"/>
                    </a:cubicBezTo>
                    <a:cubicBezTo>
                      <a:pt x="37" y="30"/>
                      <a:pt x="35" y="32"/>
                      <a:pt x="32" y="32"/>
                    </a:cubicBezTo>
                    <a:cubicBezTo>
                      <a:pt x="29" y="32"/>
                      <a:pt x="23" y="30"/>
                      <a:pt x="17" y="32"/>
                    </a:cubicBezTo>
                    <a:cubicBezTo>
                      <a:pt x="12" y="33"/>
                      <a:pt x="4" y="35"/>
                      <a:pt x="3" y="32"/>
                    </a:cubicBezTo>
                    <a:cubicBezTo>
                      <a:pt x="2" y="30"/>
                      <a:pt x="4" y="30"/>
                      <a:pt x="2" y="29"/>
                    </a:cubicBezTo>
                    <a:cubicBezTo>
                      <a:pt x="0" y="29"/>
                      <a:pt x="1" y="29"/>
                      <a:pt x="0" y="28"/>
                    </a:cubicBezTo>
                    <a:cubicBezTo>
                      <a:pt x="0" y="28"/>
                      <a:pt x="0" y="27"/>
                      <a:pt x="0" y="28"/>
                    </a:cubicBezTo>
                    <a:cubicBezTo>
                      <a:pt x="0" y="28"/>
                      <a:pt x="0" y="28"/>
                      <a:pt x="0" y="29"/>
                    </a:cubicBezTo>
                    <a:cubicBezTo>
                      <a:pt x="0" y="30"/>
                      <a:pt x="0" y="31"/>
                      <a:pt x="0" y="31"/>
                    </a:cubicBezTo>
                    <a:cubicBezTo>
                      <a:pt x="1" y="33"/>
                      <a:pt x="4" y="37"/>
                      <a:pt x="6" y="38"/>
                    </a:cubicBezTo>
                    <a:cubicBezTo>
                      <a:pt x="7" y="40"/>
                      <a:pt x="9" y="43"/>
                      <a:pt x="10" y="44"/>
                    </a:cubicBezTo>
                    <a:cubicBezTo>
                      <a:pt x="10" y="45"/>
                      <a:pt x="13" y="49"/>
                      <a:pt x="15" y="49"/>
                    </a:cubicBezTo>
                    <a:cubicBezTo>
                      <a:pt x="17" y="50"/>
                      <a:pt x="53" y="53"/>
                      <a:pt x="53" y="5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63" name="Freeform 673">
                <a:extLst>
                  <a:ext uri="{FF2B5EF4-FFF2-40B4-BE49-F238E27FC236}">
                    <a16:creationId xmlns:a16="http://schemas.microsoft.com/office/drawing/2014/main" id="{F77DB69C-558B-4736-AFB3-1B503C12E5A2}"/>
                  </a:ext>
                </a:extLst>
              </p:cNvPr>
              <p:cNvSpPr>
                <a:spLocks/>
              </p:cNvSpPr>
              <p:nvPr/>
            </p:nvSpPr>
            <p:spPr bwMode="auto">
              <a:xfrm>
                <a:off x="4736" y="1673"/>
                <a:ext cx="10" cy="3"/>
              </a:xfrm>
              <a:custGeom>
                <a:avLst/>
                <a:gdLst>
                  <a:gd name="T0" fmla="*/ 2 w 7"/>
                  <a:gd name="T1" fmla="*/ 0 h 2"/>
                  <a:gd name="T2" fmla="*/ 1 w 7"/>
                  <a:gd name="T3" fmla="*/ 1 h 2"/>
                  <a:gd name="T4" fmla="*/ 3 w 7"/>
                  <a:gd name="T5" fmla="*/ 2 h 2"/>
                  <a:gd name="T6" fmla="*/ 6 w 7"/>
                  <a:gd name="T7" fmla="*/ 2 h 2"/>
                  <a:gd name="T8" fmla="*/ 6 w 7"/>
                  <a:gd name="T9" fmla="*/ 0 h 2"/>
                  <a:gd name="T10" fmla="*/ 2 w 7"/>
                  <a:gd name="T11" fmla="*/ 0 h 2"/>
                </a:gdLst>
                <a:ahLst/>
                <a:cxnLst>
                  <a:cxn ang="0">
                    <a:pos x="T0" y="T1"/>
                  </a:cxn>
                  <a:cxn ang="0">
                    <a:pos x="T2" y="T3"/>
                  </a:cxn>
                  <a:cxn ang="0">
                    <a:pos x="T4" y="T5"/>
                  </a:cxn>
                  <a:cxn ang="0">
                    <a:pos x="T6" y="T7"/>
                  </a:cxn>
                  <a:cxn ang="0">
                    <a:pos x="T8" y="T9"/>
                  </a:cxn>
                  <a:cxn ang="0">
                    <a:pos x="T10" y="T11"/>
                  </a:cxn>
                </a:cxnLst>
                <a:rect l="0" t="0" r="r" b="b"/>
                <a:pathLst>
                  <a:path w="7" h="2">
                    <a:moveTo>
                      <a:pt x="2" y="0"/>
                    </a:moveTo>
                    <a:cubicBezTo>
                      <a:pt x="2" y="0"/>
                      <a:pt x="0" y="0"/>
                      <a:pt x="1" y="1"/>
                    </a:cubicBezTo>
                    <a:cubicBezTo>
                      <a:pt x="1" y="2"/>
                      <a:pt x="2" y="1"/>
                      <a:pt x="3" y="2"/>
                    </a:cubicBezTo>
                    <a:cubicBezTo>
                      <a:pt x="4" y="2"/>
                      <a:pt x="5" y="2"/>
                      <a:pt x="6" y="2"/>
                    </a:cubicBezTo>
                    <a:cubicBezTo>
                      <a:pt x="6" y="1"/>
                      <a:pt x="7" y="0"/>
                      <a:pt x="6" y="0"/>
                    </a:cubicBezTo>
                    <a:cubicBezTo>
                      <a:pt x="5" y="0"/>
                      <a:pt x="2"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64" name="Freeform 674">
                <a:extLst>
                  <a:ext uri="{FF2B5EF4-FFF2-40B4-BE49-F238E27FC236}">
                    <a16:creationId xmlns:a16="http://schemas.microsoft.com/office/drawing/2014/main" id="{1ACFB168-4894-478C-95B1-15242E8AF41E}"/>
                  </a:ext>
                </a:extLst>
              </p:cNvPr>
              <p:cNvSpPr>
                <a:spLocks noEditPoints="1"/>
              </p:cNvSpPr>
              <p:nvPr/>
            </p:nvSpPr>
            <p:spPr bwMode="auto">
              <a:xfrm>
                <a:off x="4458" y="1421"/>
                <a:ext cx="840" cy="385"/>
              </a:xfrm>
              <a:custGeom>
                <a:avLst/>
                <a:gdLst>
                  <a:gd name="T0" fmla="*/ 507 w 607"/>
                  <a:gd name="T1" fmla="*/ 236 h 281"/>
                  <a:gd name="T2" fmla="*/ 496 w 607"/>
                  <a:gd name="T3" fmla="*/ 204 h 281"/>
                  <a:gd name="T4" fmla="*/ 532 w 607"/>
                  <a:gd name="T5" fmla="*/ 192 h 281"/>
                  <a:gd name="T6" fmla="*/ 571 w 607"/>
                  <a:gd name="T7" fmla="*/ 167 h 281"/>
                  <a:gd name="T8" fmla="*/ 598 w 607"/>
                  <a:gd name="T9" fmla="*/ 132 h 281"/>
                  <a:gd name="T10" fmla="*/ 590 w 607"/>
                  <a:gd name="T11" fmla="*/ 117 h 281"/>
                  <a:gd name="T12" fmla="*/ 572 w 607"/>
                  <a:gd name="T13" fmla="*/ 109 h 281"/>
                  <a:gd name="T14" fmla="*/ 545 w 607"/>
                  <a:gd name="T15" fmla="*/ 88 h 281"/>
                  <a:gd name="T16" fmla="*/ 515 w 607"/>
                  <a:gd name="T17" fmla="*/ 89 h 281"/>
                  <a:gd name="T18" fmla="*/ 505 w 607"/>
                  <a:gd name="T19" fmla="*/ 88 h 281"/>
                  <a:gd name="T20" fmla="*/ 466 w 607"/>
                  <a:gd name="T21" fmla="*/ 42 h 281"/>
                  <a:gd name="T22" fmla="*/ 416 w 607"/>
                  <a:gd name="T23" fmla="*/ 34 h 281"/>
                  <a:gd name="T24" fmla="*/ 401 w 607"/>
                  <a:gd name="T25" fmla="*/ 31 h 281"/>
                  <a:gd name="T26" fmla="*/ 385 w 607"/>
                  <a:gd name="T27" fmla="*/ 29 h 281"/>
                  <a:gd name="T28" fmla="*/ 381 w 607"/>
                  <a:gd name="T29" fmla="*/ 24 h 281"/>
                  <a:gd name="T30" fmla="*/ 367 w 607"/>
                  <a:gd name="T31" fmla="*/ 13 h 281"/>
                  <a:gd name="T32" fmla="*/ 330 w 607"/>
                  <a:gd name="T33" fmla="*/ 1 h 281"/>
                  <a:gd name="T34" fmla="*/ 279 w 607"/>
                  <a:gd name="T35" fmla="*/ 17 h 281"/>
                  <a:gd name="T36" fmla="*/ 238 w 607"/>
                  <a:gd name="T37" fmla="*/ 30 h 281"/>
                  <a:gd name="T38" fmla="*/ 218 w 607"/>
                  <a:gd name="T39" fmla="*/ 33 h 281"/>
                  <a:gd name="T40" fmla="*/ 219 w 607"/>
                  <a:gd name="T41" fmla="*/ 42 h 281"/>
                  <a:gd name="T42" fmla="*/ 221 w 607"/>
                  <a:gd name="T43" fmla="*/ 49 h 281"/>
                  <a:gd name="T44" fmla="*/ 211 w 607"/>
                  <a:gd name="T45" fmla="*/ 66 h 281"/>
                  <a:gd name="T46" fmla="*/ 225 w 607"/>
                  <a:gd name="T47" fmla="*/ 83 h 281"/>
                  <a:gd name="T48" fmla="*/ 197 w 607"/>
                  <a:gd name="T49" fmla="*/ 97 h 281"/>
                  <a:gd name="T50" fmla="*/ 168 w 607"/>
                  <a:gd name="T51" fmla="*/ 86 h 281"/>
                  <a:gd name="T52" fmla="*/ 143 w 607"/>
                  <a:gd name="T53" fmla="*/ 92 h 281"/>
                  <a:gd name="T54" fmla="*/ 122 w 607"/>
                  <a:gd name="T55" fmla="*/ 94 h 281"/>
                  <a:gd name="T56" fmla="*/ 92 w 607"/>
                  <a:gd name="T57" fmla="*/ 79 h 281"/>
                  <a:gd name="T58" fmla="*/ 73 w 607"/>
                  <a:gd name="T59" fmla="*/ 77 h 281"/>
                  <a:gd name="T60" fmla="*/ 44 w 607"/>
                  <a:gd name="T61" fmla="*/ 90 h 281"/>
                  <a:gd name="T62" fmla="*/ 36 w 607"/>
                  <a:gd name="T63" fmla="*/ 107 h 281"/>
                  <a:gd name="T64" fmla="*/ 8 w 607"/>
                  <a:gd name="T65" fmla="*/ 110 h 281"/>
                  <a:gd name="T66" fmla="*/ 10 w 607"/>
                  <a:gd name="T67" fmla="*/ 149 h 281"/>
                  <a:gd name="T68" fmla="*/ 30 w 607"/>
                  <a:gd name="T69" fmla="*/ 172 h 281"/>
                  <a:gd name="T70" fmla="*/ 63 w 607"/>
                  <a:gd name="T71" fmla="*/ 166 h 281"/>
                  <a:gd name="T72" fmla="*/ 103 w 607"/>
                  <a:gd name="T73" fmla="*/ 195 h 281"/>
                  <a:gd name="T74" fmla="*/ 100 w 607"/>
                  <a:gd name="T75" fmla="*/ 209 h 281"/>
                  <a:gd name="T76" fmla="*/ 75 w 607"/>
                  <a:gd name="T77" fmla="*/ 196 h 281"/>
                  <a:gd name="T78" fmla="*/ 63 w 607"/>
                  <a:gd name="T79" fmla="*/ 209 h 281"/>
                  <a:gd name="T80" fmla="*/ 86 w 607"/>
                  <a:gd name="T81" fmla="*/ 241 h 281"/>
                  <a:gd name="T82" fmla="*/ 113 w 607"/>
                  <a:gd name="T83" fmla="*/ 250 h 281"/>
                  <a:gd name="T84" fmla="*/ 146 w 607"/>
                  <a:gd name="T85" fmla="*/ 200 h 281"/>
                  <a:gd name="T86" fmla="*/ 192 w 607"/>
                  <a:gd name="T87" fmla="*/ 190 h 281"/>
                  <a:gd name="T88" fmla="*/ 198 w 607"/>
                  <a:gd name="T89" fmla="*/ 184 h 281"/>
                  <a:gd name="T90" fmla="*/ 198 w 607"/>
                  <a:gd name="T91" fmla="*/ 187 h 281"/>
                  <a:gd name="T92" fmla="*/ 219 w 607"/>
                  <a:gd name="T93" fmla="*/ 218 h 281"/>
                  <a:gd name="T94" fmla="*/ 279 w 607"/>
                  <a:gd name="T95" fmla="*/ 230 h 281"/>
                  <a:gd name="T96" fmla="*/ 297 w 607"/>
                  <a:gd name="T97" fmla="*/ 257 h 281"/>
                  <a:gd name="T98" fmla="*/ 321 w 607"/>
                  <a:gd name="T99" fmla="*/ 276 h 281"/>
                  <a:gd name="T100" fmla="*/ 329 w 607"/>
                  <a:gd name="T101" fmla="*/ 275 h 281"/>
                  <a:gd name="T102" fmla="*/ 358 w 607"/>
                  <a:gd name="T103" fmla="*/ 255 h 281"/>
                  <a:gd name="T104" fmla="*/ 401 w 607"/>
                  <a:gd name="T105" fmla="*/ 248 h 281"/>
                  <a:gd name="T106" fmla="*/ 430 w 607"/>
                  <a:gd name="T107" fmla="*/ 241 h 281"/>
                  <a:gd name="T108" fmla="*/ 490 w 607"/>
                  <a:gd name="T109" fmla="*/ 247 h 281"/>
                  <a:gd name="T110" fmla="*/ 422 w 607"/>
                  <a:gd name="T111" fmla="*/ 169 h 281"/>
                  <a:gd name="T112" fmla="*/ 476 w 607"/>
                  <a:gd name="T113" fmla="*/ 170 h 281"/>
                  <a:gd name="T114" fmla="*/ 469 w 607"/>
                  <a:gd name="T115" fmla="*/ 177 h 281"/>
                  <a:gd name="T116" fmla="*/ 422 w 607"/>
                  <a:gd name="T117" fmla="*/ 178 h 281"/>
                  <a:gd name="T118" fmla="*/ 400 w 607"/>
                  <a:gd name="T119" fmla="*/ 188 h 281"/>
                  <a:gd name="T120" fmla="*/ 210 w 607"/>
                  <a:gd name="T121" fmla="*/ 170 h 281"/>
                  <a:gd name="T122" fmla="*/ 211 w 607"/>
                  <a:gd name="T123" fmla="*/ 178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7" h="281">
                    <a:moveTo>
                      <a:pt x="501" y="252"/>
                    </a:moveTo>
                    <a:cubicBezTo>
                      <a:pt x="502" y="251"/>
                      <a:pt x="502" y="251"/>
                      <a:pt x="502" y="251"/>
                    </a:cubicBezTo>
                    <a:cubicBezTo>
                      <a:pt x="501" y="249"/>
                      <a:pt x="501" y="249"/>
                      <a:pt x="501" y="249"/>
                    </a:cubicBezTo>
                    <a:cubicBezTo>
                      <a:pt x="501" y="249"/>
                      <a:pt x="499" y="244"/>
                      <a:pt x="501" y="242"/>
                    </a:cubicBezTo>
                    <a:cubicBezTo>
                      <a:pt x="501" y="242"/>
                      <a:pt x="502" y="241"/>
                      <a:pt x="503" y="241"/>
                    </a:cubicBezTo>
                    <a:cubicBezTo>
                      <a:pt x="504" y="241"/>
                      <a:pt x="505" y="241"/>
                      <a:pt x="505" y="241"/>
                    </a:cubicBezTo>
                    <a:cubicBezTo>
                      <a:pt x="506" y="240"/>
                      <a:pt x="506" y="240"/>
                      <a:pt x="505" y="239"/>
                    </a:cubicBezTo>
                    <a:cubicBezTo>
                      <a:pt x="504" y="239"/>
                      <a:pt x="503" y="238"/>
                      <a:pt x="504" y="237"/>
                    </a:cubicBezTo>
                    <a:cubicBezTo>
                      <a:pt x="505" y="236"/>
                      <a:pt x="506" y="236"/>
                      <a:pt x="507" y="236"/>
                    </a:cubicBezTo>
                    <a:cubicBezTo>
                      <a:pt x="508" y="235"/>
                      <a:pt x="510" y="235"/>
                      <a:pt x="510" y="234"/>
                    </a:cubicBezTo>
                    <a:cubicBezTo>
                      <a:pt x="509" y="232"/>
                      <a:pt x="509" y="230"/>
                      <a:pt x="508" y="229"/>
                    </a:cubicBezTo>
                    <a:cubicBezTo>
                      <a:pt x="507" y="228"/>
                      <a:pt x="505" y="222"/>
                      <a:pt x="504" y="218"/>
                    </a:cubicBezTo>
                    <a:cubicBezTo>
                      <a:pt x="503" y="215"/>
                      <a:pt x="502" y="210"/>
                      <a:pt x="503" y="209"/>
                    </a:cubicBezTo>
                    <a:cubicBezTo>
                      <a:pt x="505" y="207"/>
                      <a:pt x="505" y="207"/>
                      <a:pt x="505" y="207"/>
                    </a:cubicBezTo>
                    <a:cubicBezTo>
                      <a:pt x="505" y="207"/>
                      <a:pt x="505" y="206"/>
                      <a:pt x="504" y="206"/>
                    </a:cubicBezTo>
                    <a:cubicBezTo>
                      <a:pt x="504" y="206"/>
                      <a:pt x="500" y="205"/>
                      <a:pt x="499" y="206"/>
                    </a:cubicBezTo>
                    <a:cubicBezTo>
                      <a:pt x="497" y="206"/>
                      <a:pt x="497" y="206"/>
                      <a:pt x="497" y="205"/>
                    </a:cubicBezTo>
                    <a:cubicBezTo>
                      <a:pt x="497" y="205"/>
                      <a:pt x="496" y="204"/>
                      <a:pt x="496" y="204"/>
                    </a:cubicBezTo>
                    <a:cubicBezTo>
                      <a:pt x="497" y="203"/>
                      <a:pt x="499" y="202"/>
                      <a:pt x="500" y="201"/>
                    </a:cubicBezTo>
                    <a:cubicBezTo>
                      <a:pt x="502" y="201"/>
                      <a:pt x="516" y="197"/>
                      <a:pt x="518" y="197"/>
                    </a:cubicBezTo>
                    <a:cubicBezTo>
                      <a:pt x="520" y="196"/>
                      <a:pt x="523" y="195"/>
                      <a:pt x="524" y="196"/>
                    </a:cubicBezTo>
                    <a:cubicBezTo>
                      <a:pt x="525" y="197"/>
                      <a:pt x="525" y="197"/>
                      <a:pt x="524" y="198"/>
                    </a:cubicBezTo>
                    <a:cubicBezTo>
                      <a:pt x="524" y="198"/>
                      <a:pt x="525" y="198"/>
                      <a:pt x="525" y="198"/>
                    </a:cubicBezTo>
                    <a:cubicBezTo>
                      <a:pt x="526" y="198"/>
                      <a:pt x="536" y="198"/>
                      <a:pt x="536" y="198"/>
                    </a:cubicBezTo>
                    <a:cubicBezTo>
                      <a:pt x="536" y="198"/>
                      <a:pt x="536" y="198"/>
                      <a:pt x="537" y="197"/>
                    </a:cubicBezTo>
                    <a:cubicBezTo>
                      <a:pt x="537" y="197"/>
                      <a:pt x="537" y="194"/>
                      <a:pt x="536" y="193"/>
                    </a:cubicBezTo>
                    <a:cubicBezTo>
                      <a:pt x="534" y="192"/>
                      <a:pt x="532" y="192"/>
                      <a:pt x="532" y="192"/>
                    </a:cubicBezTo>
                    <a:cubicBezTo>
                      <a:pt x="532" y="192"/>
                      <a:pt x="532" y="192"/>
                      <a:pt x="532" y="191"/>
                    </a:cubicBezTo>
                    <a:cubicBezTo>
                      <a:pt x="532" y="190"/>
                      <a:pt x="542" y="163"/>
                      <a:pt x="542" y="163"/>
                    </a:cubicBezTo>
                    <a:cubicBezTo>
                      <a:pt x="542" y="163"/>
                      <a:pt x="543" y="160"/>
                      <a:pt x="546" y="161"/>
                    </a:cubicBezTo>
                    <a:cubicBezTo>
                      <a:pt x="549" y="163"/>
                      <a:pt x="554" y="165"/>
                      <a:pt x="556" y="165"/>
                    </a:cubicBezTo>
                    <a:cubicBezTo>
                      <a:pt x="557" y="166"/>
                      <a:pt x="559" y="165"/>
                      <a:pt x="560" y="165"/>
                    </a:cubicBezTo>
                    <a:cubicBezTo>
                      <a:pt x="561" y="165"/>
                      <a:pt x="562" y="165"/>
                      <a:pt x="563" y="165"/>
                    </a:cubicBezTo>
                    <a:cubicBezTo>
                      <a:pt x="564" y="165"/>
                      <a:pt x="565" y="165"/>
                      <a:pt x="566" y="165"/>
                    </a:cubicBezTo>
                    <a:cubicBezTo>
                      <a:pt x="566" y="165"/>
                      <a:pt x="567" y="165"/>
                      <a:pt x="568" y="166"/>
                    </a:cubicBezTo>
                    <a:cubicBezTo>
                      <a:pt x="569" y="166"/>
                      <a:pt x="571" y="166"/>
                      <a:pt x="571" y="167"/>
                    </a:cubicBezTo>
                    <a:cubicBezTo>
                      <a:pt x="572" y="167"/>
                      <a:pt x="572" y="167"/>
                      <a:pt x="572" y="166"/>
                    </a:cubicBezTo>
                    <a:cubicBezTo>
                      <a:pt x="573" y="166"/>
                      <a:pt x="580" y="162"/>
                      <a:pt x="580" y="162"/>
                    </a:cubicBezTo>
                    <a:cubicBezTo>
                      <a:pt x="580" y="162"/>
                      <a:pt x="582" y="160"/>
                      <a:pt x="582" y="158"/>
                    </a:cubicBezTo>
                    <a:cubicBezTo>
                      <a:pt x="582" y="156"/>
                      <a:pt x="580" y="146"/>
                      <a:pt x="580" y="146"/>
                    </a:cubicBezTo>
                    <a:cubicBezTo>
                      <a:pt x="580" y="146"/>
                      <a:pt x="580" y="145"/>
                      <a:pt x="581" y="145"/>
                    </a:cubicBezTo>
                    <a:cubicBezTo>
                      <a:pt x="581" y="144"/>
                      <a:pt x="582" y="139"/>
                      <a:pt x="583" y="139"/>
                    </a:cubicBezTo>
                    <a:cubicBezTo>
                      <a:pt x="584" y="138"/>
                      <a:pt x="586" y="138"/>
                      <a:pt x="587" y="138"/>
                    </a:cubicBezTo>
                    <a:cubicBezTo>
                      <a:pt x="588" y="137"/>
                      <a:pt x="591" y="137"/>
                      <a:pt x="594" y="136"/>
                    </a:cubicBezTo>
                    <a:cubicBezTo>
                      <a:pt x="596" y="135"/>
                      <a:pt x="597" y="133"/>
                      <a:pt x="598" y="132"/>
                    </a:cubicBezTo>
                    <a:cubicBezTo>
                      <a:pt x="598" y="131"/>
                      <a:pt x="599" y="130"/>
                      <a:pt x="599" y="130"/>
                    </a:cubicBezTo>
                    <a:cubicBezTo>
                      <a:pt x="598" y="129"/>
                      <a:pt x="598" y="129"/>
                      <a:pt x="598" y="128"/>
                    </a:cubicBezTo>
                    <a:cubicBezTo>
                      <a:pt x="599" y="127"/>
                      <a:pt x="599" y="125"/>
                      <a:pt x="600" y="125"/>
                    </a:cubicBezTo>
                    <a:cubicBezTo>
                      <a:pt x="601" y="125"/>
                      <a:pt x="603" y="125"/>
                      <a:pt x="604" y="125"/>
                    </a:cubicBezTo>
                    <a:cubicBezTo>
                      <a:pt x="604" y="125"/>
                      <a:pt x="605" y="125"/>
                      <a:pt x="607" y="125"/>
                    </a:cubicBezTo>
                    <a:cubicBezTo>
                      <a:pt x="603" y="122"/>
                      <a:pt x="597" y="117"/>
                      <a:pt x="597" y="116"/>
                    </a:cubicBezTo>
                    <a:cubicBezTo>
                      <a:pt x="596" y="115"/>
                      <a:pt x="596" y="113"/>
                      <a:pt x="596" y="112"/>
                    </a:cubicBezTo>
                    <a:cubicBezTo>
                      <a:pt x="596" y="111"/>
                      <a:pt x="596" y="112"/>
                      <a:pt x="596" y="112"/>
                    </a:cubicBezTo>
                    <a:cubicBezTo>
                      <a:pt x="596" y="112"/>
                      <a:pt x="590" y="117"/>
                      <a:pt x="590" y="117"/>
                    </a:cubicBezTo>
                    <a:cubicBezTo>
                      <a:pt x="589" y="118"/>
                      <a:pt x="589" y="118"/>
                      <a:pt x="589" y="117"/>
                    </a:cubicBezTo>
                    <a:cubicBezTo>
                      <a:pt x="588" y="117"/>
                      <a:pt x="588" y="117"/>
                      <a:pt x="587" y="117"/>
                    </a:cubicBezTo>
                    <a:cubicBezTo>
                      <a:pt x="586" y="117"/>
                      <a:pt x="586" y="117"/>
                      <a:pt x="586" y="117"/>
                    </a:cubicBezTo>
                    <a:cubicBezTo>
                      <a:pt x="586" y="116"/>
                      <a:pt x="587" y="116"/>
                      <a:pt x="585" y="116"/>
                    </a:cubicBezTo>
                    <a:cubicBezTo>
                      <a:pt x="584" y="116"/>
                      <a:pt x="578" y="116"/>
                      <a:pt x="577" y="116"/>
                    </a:cubicBezTo>
                    <a:cubicBezTo>
                      <a:pt x="576" y="115"/>
                      <a:pt x="575" y="115"/>
                      <a:pt x="575" y="114"/>
                    </a:cubicBezTo>
                    <a:cubicBezTo>
                      <a:pt x="575" y="113"/>
                      <a:pt x="575" y="113"/>
                      <a:pt x="574" y="112"/>
                    </a:cubicBezTo>
                    <a:cubicBezTo>
                      <a:pt x="574" y="112"/>
                      <a:pt x="573" y="111"/>
                      <a:pt x="573" y="110"/>
                    </a:cubicBezTo>
                    <a:cubicBezTo>
                      <a:pt x="573" y="110"/>
                      <a:pt x="572" y="109"/>
                      <a:pt x="572" y="109"/>
                    </a:cubicBezTo>
                    <a:cubicBezTo>
                      <a:pt x="571" y="109"/>
                      <a:pt x="571" y="108"/>
                      <a:pt x="571" y="108"/>
                    </a:cubicBezTo>
                    <a:cubicBezTo>
                      <a:pt x="571" y="108"/>
                      <a:pt x="571" y="108"/>
                      <a:pt x="572" y="107"/>
                    </a:cubicBezTo>
                    <a:cubicBezTo>
                      <a:pt x="573" y="107"/>
                      <a:pt x="572" y="107"/>
                      <a:pt x="572" y="106"/>
                    </a:cubicBezTo>
                    <a:cubicBezTo>
                      <a:pt x="571" y="106"/>
                      <a:pt x="567" y="104"/>
                      <a:pt x="566" y="103"/>
                    </a:cubicBezTo>
                    <a:cubicBezTo>
                      <a:pt x="566" y="103"/>
                      <a:pt x="565" y="103"/>
                      <a:pt x="563" y="103"/>
                    </a:cubicBezTo>
                    <a:cubicBezTo>
                      <a:pt x="561" y="103"/>
                      <a:pt x="560" y="101"/>
                      <a:pt x="560" y="100"/>
                    </a:cubicBezTo>
                    <a:cubicBezTo>
                      <a:pt x="560" y="100"/>
                      <a:pt x="559" y="96"/>
                      <a:pt x="558" y="95"/>
                    </a:cubicBezTo>
                    <a:cubicBezTo>
                      <a:pt x="558" y="94"/>
                      <a:pt x="556" y="92"/>
                      <a:pt x="555" y="91"/>
                    </a:cubicBezTo>
                    <a:cubicBezTo>
                      <a:pt x="554" y="90"/>
                      <a:pt x="546" y="88"/>
                      <a:pt x="545" y="88"/>
                    </a:cubicBezTo>
                    <a:cubicBezTo>
                      <a:pt x="545" y="88"/>
                      <a:pt x="544" y="88"/>
                      <a:pt x="544" y="88"/>
                    </a:cubicBezTo>
                    <a:cubicBezTo>
                      <a:pt x="544" y="88"/>
                      <a:pt x="540" y="89"/>
                      <a:pt x="540" y="90"/>
                    </a:cubicBezTo>
                    <a:cubicBezTo>
                      <a:pt x="539" y="90"/>
                      <a:pt x="539" y="90"/>
                      <a:pt x="538" y="91"/>
                    </a:cubicBezTo>
                    <a:cubicBezTo>
                      <a:pt x="538" y="92"/>
                      <a:pt x="536" y="93"/>
                      <a:pt x="534" y="94"/>
                    </a:cubicBezTo>
                    <a:cubicBezTo>
                      <a:pt x="532" y="94"/>
                      <a:pt x="526" y="93"/>
                      <a:pt x="525" y="92"/>
                    </a:cubicBezTo>
                    <a:cubicBezTo>
                      <a:pt x="524" y="92"/>
                      <a:pt x="524" y="93"/>
                      <a:pt x="523" y="93"/>
                    </a:cubicBezTo>
                    <a:cubicBezTo>
                      <a:pt x="523" y="93"/>
                      <a:pt x="521" y="93"/>
                      <a:pt x="520" y="93"/>
                    </a:cubicBezTo>
                    <a:cubicBezTo>
                      <a:pt x="519" y="93"/>
                      <a:pt x="517" y="91"/>
                      <a:pt x="517" y="91"/>
                    </a:cubicBezTo>
                    <a:cubicBezTo>
                      <a:pt x="516" y="90"/>
                      <a:pt x="515" y="89"/>
                      <a:pt x="515" y="89"/>
                    </a:cubicBezTo>
                    <a:cubicBezTo>
                      <a:pt x="515" y="89"/>
                      <a:pt x="514" y="89"/>
                      <a:pt x="514" y="89"/>
                    </a:cubicBezTo>
                    <a:cubicBezTo>
                      <a:pt x="514" y="88"/>
                      <a:pt x="514" y="85"/>
                      <a:pt x="515" y="85"/>
                    </a:cubicBezTo>
                    <a:cubicBezTo>
                      <a:pt x="515" y="84"/>
                      <a:pt x="514" y="84"/>
                      <a:pt x="514" y="84"/>
                    </a:cubicBezTo>
                    <a:cubicBezTo>
                      <a:pt x="514" y="84"/>
                      <a:pt x="509" y="82"/>
                      <a:pt x="508" y="82"/>
                    </a:cubicBezTo>
                    <a:cubicBezTo>
                      <a:pt x="508" y="82"/>
                      <a:pt x="508" y="83"/>
                      <a:pt x="508" y="83"/>
                    </a:cubicBezTo>
                    <a:cubicBezTo>
                      <a:pt x="508" y="84"/>
                      <a:pt x="506" y="84"/>
                      <a:pt x="506" y="84"/>
                    </a:cubicBezTo>
                    <a:cubicBezTo>
                      <a:pt x="505" y="84"/>
                      <a:pt x="505" y="84"/>
                      <a:pt x="504" y="84"/>
                    </a:cubicBezTo>
                    <a:cubicBezTo>
                      <a:pt x="504" y="85"/>
                      <a:pt x="504" y="85"/>
                      <a:pt x="504" y="86"/>
                    </a:cubicBezTo>
                    <a:cubicBezTo>
                      <a:pt x="505" y="87"/>
                      <a:pt x="505" y="87"/>
                      <a:pt x="505" y="88"/>
                    </a:cubicBezTo>
                    <a:cubicBezTo>
                      <a:pt x="505" y="89"/>
                      <a:pt x="503" y="89"/>
                      <a:pt x="503" y="90"/>
                    </a:cubicBezTo>
                    <a:cubicBezTo>
                      <a:pt x="502" y="90"/>
                      <a:pt x="501" y="90"/>
                      <a:pt x="501" y="91"/>
                    </a:cubicBezTo>
                    <a:cubicBezTo>
                      <a:pt x="500" y="91"/>
                      <a:pt x="500" y="91"/>
                      <a:pt x="499" y="91"/>
                    </a:cubicBezTo>
                    <a:cubicBezTo>
                      <a:pt x="499" y="92"/>
                      <a:pt x="499" y="91"/>
                      <a:pt x="498" y="92"/>
                    </a:cubicBezTo>
                    <a:cubicBezTo>
                      <a:pt x="498" y="93"/>
                      <a:pt x="498" y="91"/>
                      <a:pt x="498" y="91"/>
                    </a:cubicBezTo>
                    <a:cubicBezTo>
                      <a:pt x="498" y="91"/>
                      <a:pt x="492" y="82"/>
                      <a:pt x="492" y="81"/>
                    </a:cubicBezTo>
                    <a:cubicBezTo>
                      <a:pt x="492" y="80"/>
                      <a:pt x="486" y="71"/>
                      <a:pt x="486" y="71"/>
                    </a:cubicBezTo>
                    <a:cubicBezTo>
                      <a:pt x="486" y="71"/>
                      <a:pt x="475" y="56"/>
                      <a:pt x="475" y="56"/>
                    </a:cubicBezTo>
                    <a:cubicBezTo>
                      <a:pt x="475" y="55"/>
                      <a:pt x="467" y="44"/>
                      <a:pt x="466" y="42"/>
                    </a:cubicBezTo>
                    <a:cubicBezTo>
                      <a:pt x="464" y="41"/>
                      <a:pt x="460" y="38"/>
                      <a:pt x="458" y="37"/>
                    </a:cubicBezTo>
                    <a:cubicBezTo>
                      <a:pt x="457" y="36"/>
                      <a:pt x="451" y="32"/>
                      <a:pt x="450" y="31"/>
                    </a:cubicBezTo>
                    <a:cubicBezTo>
                      <a:pt x="450" y="30"/>
                      <a:pt x="445" y="26"/>
                      <a:pt x="444" y="25"/>
                    </a:cubicBezTo>
                    <a:cubicBezTo>
                      <a:pt x="444" y="24"/>
                      <a:pt x="445" y="25"/>
                      <a:pt x="447" y="25"/>
                    </a:cubicBezTo>
                    <a:cubicBezTo>
                      <a:pt x="450" y="26"/>
                      <a:pt x="450" y="23"/>
                      <a:pt x="450" y="22"/>
                    </a:cubicBezTo>
                    <a:cubicBezTo>
                      <a:pt x="450" y="22"/>
                      <a:pt x="449" y="21"/>
                      <a:pt x="451" y="19"/>
                    </a:cubicBezTo>
                    <a:cubicBezTo>
                      <a:pt x="453" y="18"/>
                      <a:pt x="450" y="19"/>
                      <a:pt x="450" y="19"/>
                    </a:cubicBezTo>
                    <a:cubicBezTo>
                      <a:pt x="450" y="19"/>
                      <a:pt x="443" y="22"/>
                      <a:pt x="439" y="24"/>
                    </a:cubicBezTo>
                    <a:cubicBezTo>
                      <a:pt x="436" y="25"/>
                      <a:pt x="416" y="34"/>
                      <a:pt x="416" y="34"/>
                    </a:cubicBezTo>
                    <a:cubicBezTo>
                      <a:pt x="416" y="34"/>
                      <a:pt x="415" y="34"/>
                      <a:pt x="415" y="35"/>
                    </a:cubicBezTo>
                    <a:cubicBezTo>
                      <a:pt x="416" y="35"/>
                      <a:pt x="415" y="36"/>
                      <a:pt x="414" y="38"/>
                    </a:cubicBezTo>
                    <a:cubicBezTo>
                      <a:pt x="414" y="39"/>
                      <a:pt x="413" y="38"/>
                      <a:pt x="413" y="38"/>
                    </a:cubicBezTo>
                    <a:cubicBezTo>
                      <a:pt x="412" y="37"/>
                      <a:pt x="411" y="37"/>
                      <a:pt x="408" y="36"/>
                    </a:cubicBezTo>
                    <a:cubicBezTo>
                      <a:pt x="404" y="36"/>
                      <a:pt x="401" y="39"/>
                      <a:pt x="401" y="39"/>
                    </a:cubicBezTo>
                    <a:cubicBezTo>
                      <a:pt x="400" y="40"/>
                      <a:pt x="400" y="39"/>
                      <a:pt x="400" y="39"/>
                    </a:cubicBezTo>
                    <a:cubicBezTo>
                      <a:pt x="400" y="39"/>
                      <a:pt x="398" y="37"/>
                      <a:pt x="398" y="36"/>
                    </a:cubicBezTo>
                    <a:cubicBezTo>
                      <a:pt x="397" y="34"/>
                      <a:pt x="398" y="33"/>
                      <a:pt x="399" y="33"/>
                    </a:cubicBezTo>
                    <a:cubicBezTo>
                      <a:pt x="399" y="32"/>
                      <a:pt x="400" y="31"/>
                      <a:pt x="401" y="31"/>
                    </a:cubicBezTo>
                    <a:cubicBezTo>
                      <a:pt x="401" y="30"/>
                      <a:pt x="404" y="28"/>
                      <a:pt x="405" y="27"/>
                    </a:cubicBezTo>
                    <a:cubicBezTo>
                      <a:pt x="405" y="27"/>
                      <a:pt x="405" y="27"/>
                      <a:pt x="404" y="27"/>
                    </a:cubicBezTo>
                    <a:cubicBezTo>
                      <a:pt x="404" y="27"/>
                      <a:pt x="397" y="28"/>
                      <a:pt x="397" y="28"/>
                    </a:cubicBezTo>
                    <a:cubicBezTo>
                      <a:pt x="396" y="28"/>
                      <a:pt x="396" y="28"/>
                      <a:pt x="395" y="28"/>
                    </a:cubicBezTo>
                    <a:cubicBezTo>
                      <a:pt x="395" y="28"/>
                      <a:pt x="391" y="26"/>
                      <a:pt x="390" y="26"/>
                    </a:cubicBezTo>
                    <a:cubicBezTo>
                      <a:pt x="389" y="25"/>
                      <a:pt x="388" y="26"/>
                      <a:pt x="387" y="26"/>
                    </a:cubicBezTo>
                    <a:cubicBezTo>
                      <a:pt x="386" y="26"/>
                      <a:pt x="387" y="27"/>
                      <a:pt x="388" y="27"/>
                    </a:cubicBezTo>
                    <a:cubicBezTo>
                      <a:pt x="389" y="27"/>
                      <a:pt x="389" y="27"/>
                      <a:pt x="388" y="27"/>
                    </a:cubicBezTo>
                    <a:cubicBezTo>
                      <a:pt x="388" y="28"/>
                      <a:pt x="386" y="29"/>
                      <a:pt x="385" y="29"/>
                    </a:cubicBezTo>
                    <a:cubicBezTo>
                      <a:pt x="384" y="29"/>
                      <a:pt x="385" y="29"/>
                      <a:pt x="385" y="28"/>
                    </a:cubicBezTo>
                    <a:cubicBezTo>
                      <a:pt x="385" y="28"/>
                      <a:pt x="385" y="28"/>
                      <a:pt x="385" y="27"/>
                    </a:cubicBezTo>
                    <a:cubicBezTo>
                      <a:pt x="384" y="26"/>
                      <a:pt x="384" y="26"/>
                      <a:pt x="385" y="26"/>
                    </a:cubicBezTo>
                    <a:cubicBezTo>
                      <a:pt x="385" y="25"/>
                      <a:pt x="384" y="24"/>
                      <a:pt x="384" y="24"/>
                    </a:cubicBezTo>
                    <a:cubicBezTo>
                      <a:pt x="384" y="23"/>
                      <a:pt x="384" y="23"/>
                      <a:pt x="384" y="23"/>
                    </a:cubicBezTo>
                    <a:cubicBezTo>
                      <a:pt x="384" y="23"/>
                      <a:pt x="382" y="22"/>
                      <a:pt x="382" y="21"/>
                    </a:cubicBezTo>
                    <a:cubicBezTo>
                      <a:pt x="381" y="21"/>
                      <a:pt x="381" y="20"/>
                      <a:pt x="380" y="21"/>
                    </a:cubicBezTo>
                    <a:cubicBezTo>
                      <a:pt x="380" y="21"/>
                      <a:pt x="380" y="21"/>
                      <a:pt x="380" y="21"/>
                    </a:cubicBezTo>
                    <a:cubicBezTo>
                      <a:pt x="380" y="21"/>
                      <a:pt x="380" y="22"/>
                      <a:pt x="381" y="24"/>
                    </a:cubicBezTo>
                    <a:cubicBezTo>
                      <a:pt x="381" y="26"/>
                      <a:pt x="381" y="25"/>
                      <a:pt x="380" y="25"/>
                    </a:cubicBezTo>
                    <a:cubicBezTo>
                      <a:pt x="380" y="25"/>
                      <a:pt x="379" y="25"/>
                      <a:pt x="378" y="24"/>
                    </a:cubicBezTo>
                    <a:cubicBezTo>
                      <a:pt x="378" y="24"/>
                      <a:pt x="373" y="26"/>
                      <a:pt x="371" y="26"/>
                    </a:cubicBezTo>
                    <a:cubicBezTo>
                      <a:pt x="370" y="26"/>
                      <a:pt x="367" y="25"/>
                      <a:pt x="366" y="25"/>
                    </a:cubicBezTo>
                    <a:cubicBezTo>
                      <a:pt x="365" y="24"/>
                      <a:pt x="364" y="23"/>
                      <a:pt x="364" y="22"/>
                    </a:cubicBezTo>
                    <a:cubicBezTo>
                      <a:pt x="363" y="21"/>
                      <a:pt x="365" y="22"/>
                      <a:pt x="366" y="22"/>
                    </a:cubicBezTo>
                    <a:cubicBezTo>
                      <a:pt x="368" y="22"/>
                      <a:pt x="367" y="18"/>
                      <a:pt x="366" y="17"/>
                    </a:cubicBezTo>
                    <a:cubicBezTo>
                      <a:pt x="366" y="16"/>
                      <a:pt x="366" y="17"/>
                      <a:pt x="367" y="16"/>
                    </a:cubicBezTo>
                    <a:cubicBezTo>
                      <a:pt x="368" y="14"/>
                      <a:pt x="367" y="13"/>
                      <a:pt x="367" y="13"/>
                    </a:cubicBezTo>
                    <a:cubicBezTo>
                      <a:pt x="367" y="13"/>
                      <a:pt x="362" y="4"/>
                      <a:pt x="361" y="2"/>
                    </a:cubicBezTo>
                    <a:cubicBezTo>
                      <a:pt x="360" y="1"/>
                      <a:pt x="358" y="1"/>
                      <a:pt x="357" y="1"/>
                    </a:cubicBezTo>
                    <a:cubicBezTo>
                      <a:pt x="356" y="1"/>
                      <a:pt x="356" y="2"/>
                      <a:pt x="356" y="2"/>
                    </a:cubicBezTo>
                    <a:cubicBezTo>
                      <a:pt x="356" y="2"/>
                      <a:pt x="354" y="3"/>
                      <a:pt x="353" y="4"/>
                    </a:cubicBezTo>
                    <a:cubicBezTo>
                      <a:pt x="352" y="5"/>
                      <a:pt x="350" y="4"/>
                      <a:pt x="350" y="3"/>
                    </a:cubicBezTo>
                    <a:cubicBezTo>
                      <a:pt x="349" y="3"/>
                      <a:pt x="345" y="1"/>
                      <a:pt x="345" y="1"/>
                    </a:cubicBezTo>
                    <a:cubicBezTo>
                      <a:pt x="345" y="1"/>
                      <a:pt x="344" y="0"/>
                      <a:pt x="344" y="1"/>
                    </a:cubicBezTo>
                    <a:cubicBezTo>
                      <a:pt x="344" y="1"/>
                      <a:pt x="332" y="0"/>
                      <a:pt x="331" y="0"/>
                    </a:cubicBezTo>
                    <a:cubicBezTo>
                      <a:pt x="330" y="0"/>
                      <a:pt x="330" y="0"/>
                      <a:pt x="330" y="1"/>
                    </a:cubicBezTo>
                    <a:cubicBezTo>
                      <a:pt x="330" y="1"/>
                      <a:pt x="328" y="4"/>
                      <a:pt x="327" y="4"/>
                    </a:cubicBezTo>
                    <a:cubicBezTo>
                      <a:pt x="326" y="5"/>
                      <a:pt x="325" y="5"/>
                      <a:pt x="324" y="7"/>
                    </a:cubicBezTo>
                    <a:cubicBezTo>
                      <a:pt x="322" y="8"/>
                      <a:pt x="319" y="9"/>
                      <a:pt x="318" y="9"/>
                    </a:cubicBezTo>
                    <a:cubicBezTo>
                      <a:pt x="317" y="10"/>
                      <a:pt x="310" y="10"/>
                      <a:pt x="310" y="10"/>
                    </a:cubicBezTo>
                    <a:cubicBezTo>
                      <a:pt x="309" y="10"/>
                      <a:pt x="304" y="12"/>
                      <a:pt x="303" y="12"/>
                    </a:cubicBezTo>
                    <a:cubicBezTo>
                      <a:pt x="301" y="13"/>
                      <a:pt x="296" y="14"/>
                      <a:pt x="296" y="14"/>
                    </a:cubicBezTo>
                    <a:cubicBezTo>
                      <a:pt x="295" y="14"/>
                      <a:pt x="291" y="15"/>
                      <a:pt x="290" y="15"/>
                    </a:cubicBezTo>
                    <a:cubicBezTo>
                      <a:pt x="290" y="15"/>
                      <a:pt x="283" y="15"/>
                      <a:pt x="283" y="15"/>
                    </a:cubicBezTo>
                    <a:cubicBezTo>
                      <a:pt x="282" y="15"/>
                      <a:pt x="280" y="16"/>
                      <a:pt x="279" y="17"/>
                    </a:cubicBezTo>
                    <a:cubicBezTo>
                      <a:pt x="278" y="18"/>
                      <a:pt x="278" y="20"/>
                      <a:pt x="278" y="21"/>
                    </a:cubicBezTo>
                    <a:cubicBezTo>
                      <a:pt x="278" y="22"/>
                      <a:pt x="277" y="22"/>
                      <a:pt x="276" y="22"/>
                    </a:cubicBezTo>
                    <a:cubicBezTo>
                      <a:pt x="276" y="21"/>
                      <a:pt x="275" y="21"/>
                      <a:pt x="275" y="21"/>
                    </a:cubicBezTo>
                    <a:cubicBezTo>
                      <a:pt x="274" y="21"/>
                      <a:pt x="265" y="21"/>
                      <a:pt x="264" y="21"/>
                    </a:cubicBezTo>
                    <a:cubicBezTo>
                      <a:pt x="263" y="21"/>
                      <a:pt x="252" y="24"/>
                      <a:pt x="251" y="24"/>
                    </a:cubicBezTo>
                    <a:cubicBezTo>
                      <a:pt x="251" y="24"/>
                      <a:pt x="243" y="26"/>
                      <a:pt x="242" y="26"/>
                    </a:cubicBezTo>
                    <a:cubicBezTo>
                      <a:pt x="240" y="26"/>
                      <a:pt x="240" y="27"/>
                      <a:pt x="239" y="27"/>
                    </a:cubicBezTo>
                    <a:cubicBezTo>
                      <a:pt x="239" y="28"/>
                      <a:pt x="238" y="29"/>
                      <a:pt x="238" y="30"/>
                    </a:cubicBezTo>
                    <a:cubicBezTo>
                      <a:pt x="238" y="31"/>
                      <a:pt x="238" y="30"/>
                      <a:pt x="238" y="30"/>
                    </a:cubicBezTo>
                    <a:cubicBezTo>
                      <a:pt x="237" y="30"/>
                      <a:pt x="236" y="29"/>
                      <a:pt x="236" y="28"/>
                    </a:cubicBezTo>
                    <a:cubicBezTo>
                      <a:pt x="235" y="28"/>
                      <a:pt x="235" y="28"/>
                      <a:pt x="235" y="28"/>
                    </a:cubicBezTo>
                    <a:cubicBezTo>
                      <a:pt x="235" y="28"/>
                      <a:pt x="227" y="28"/>
                      <a:pt x="226" y="28"/>
                    </a:cubicBezTo>
                    <a:cubicBezTo>
                      <a:pt x="225" y="28"/>
                      <a:pt x="224" y="28"/>
                      <a:pt x="223" y="27"/>
                    </a:cubicBezTo>
                    <a:cubicBezTo>
                      <a:pt x="222" y="27"/>
                      <a:pt x="222" y="27"/>
                      <a:pt x="222" y="27"/>
                    </a:cubicBezTo>
                    <a:cubicBezTo>
                      <a:pt x="222" y="27"/>
                      <a:pt x="217" y="29"/>
                      <a:pt x="216" y="29"/>
                    </a:cubicBezTo>
                    <a:cubicBezTo>
                      <a:pt x="215" y="30"/>
                      <a:pt x="216" y="30"/>
                      <a:pt x="216" y="30"/>
                    </a:cubicBezTo>
                    <a:cubicBezTo>
                      <a:pt x="216" y="30"/>
                      <a:pt x="217" y="31"/>
                      <a:pt x="218" y="31"/>
                    </a:cubicBezTo>
                    <a:cubicBezTo>
                      <a:pt x="219" y="32"/>
                      <a:pt x="218" y="32"/>
                      <a:pt x="218" y="33"/>
                    </a:cubicBezTo>
                    <a:cubicBezTo>
                      <a:pt x="218" y="33"/>
                      <a:pt x="217" y="34"/>
                      <a:pt x="217" y="34"/>
                    </a:cubicBezTo>
                    <a:cubicBezTo>
                      <a:pt x="217" y="35"/>
                      <a:pt x="216" y="35"/>
                      <a:pt x="216" y="35"/>
                    </a:cubicBezTo>
                    <a:cubicBezTo>
                      <a:pt x="215" y="35"/>
                      <a:pt x="215" y="35"/>
                      <a:pt x="215" y="36"/>
                    </a:cubicBezTo>
                    <a:cubicBezTo>
                      <a:pt x="216" y="36"/>
                      <a:pt x="220" y="36"/>
                      <a:pt x="221" y="36"/>
                    </a:cubicBezTo>
                    <a:cubicBezTo>
                      <a:pt x="223" y="36"/>
                      <a:pt x="224" y="38"/>
                      <a:pt x="224" y="38"/>
                    </a:cubicBezTo>
                    <a:cubicBezTo>
                      <a:pt x="224" y="38"/>
                      <a:pt x="223" y="39"/>
                      <a:pt x="222" y="39"/>
                    </a:cubicBezTo>
                    <a:cubicBezTo>
                      <a:pt x="222" y="40"/>
                      <a:pt x="221" y="39"/>
                      <a:pt x="221" y="38"/>
                    </a:cubicBezTo>
                    <a:cubicBezTo>
                      <a:pt x="220" y="37"/>
                      <a:pt x="219" y="38"/>
                      <a:pt x="219" y="39"/>
                    </a:cubicBezTo>
                    <a:cubicBezTo>
                      <a:pt x="218" y="40"/>
                      <a:pt x="219" y="42"/>
                      <a:pt x="219" y="42"/>
                    </a:cubicBezTo>
                    <a:cubicBezTo>
                      <a:pt x="219" y="43"/>
                      <a:pt x="220" y="43"/>
                      <a:pt x="220" y="43"/>
                    </a:cubicBezTo>
                    <a:cubicBezTo>
                      <a:pt x="220" y="43"/>
                      <a:pt x="221" y="43"/>
                      <a:pt x="222" y="44"/>
                    </a:cubicBezTo>
                    <a:cubicBezTo>
                      <a:pt x="223" y="44"/>
                      <a:pt x="229" y="46"/>
                      <a:pt x="231" y="46"/>
                    </a:cubicBezTo>
                    <a:cubicBezTo>
                      <a:pt x="232" y="47"/>
                      <a:pt x="232" y="47"/>
                      <a:pt x="232" y="48"/>
                    </a:cubicBezTo>
                    <a:cubicBezTo>
                      <a:pt x="232" y="49"/>
                      <a:pt x="232" y="49"/>
                      <a:pt x="231" y="50"/>
                    </a:cubicBezTo>
                    <a:cubicBezTo>
                      <a:pt x="230" y="50"/>
                      <a:pt x="228" y="49"/>
                      <a:pt x="228" y="49"/>
                    </a:cubicBezTo>
                    <a:cubicBezTo>
                      <a:pt x="228" y="49"/>
                      <a:pt x="225" y="49"/>
                      <a:pt x="225" y="49"/>
                    </a:cubicBezTo>
                    <a:cubicBezTo>
                      <a:pt x="225" y="49"/>
                      <a:pt x="224" y="49"/>
                      <a:pt x="224" y="49"/>
                    </a:cubicBezTo>
                    <a:cubicBezTo>
                      <a:pt x="223" y="48"/>
                      <a:pt x="222" y="48"/>
                      <a:pt x="221" y="49"/>
                    </a:cubicBezTo>
                    <a:cubicBezTo>
                      <a:pt x="220" y="49"/>
                      <a:pt x="220" y="48"/>
                      <a:pt x="219" y="48"/>
                    </a:cubicBezTo>
                    <a:cubicBezTo>
                      <a:pt x="219" y="48"/>
                      <a:pt x="217" y="48"/>
                      <a:pt x="217" y="48"/>
                    </a:cubicBezTo>
                    <a:cubicBezTo>
                      <a:pt x="217" y="48"/>
                      <a:pt x="216" y="49"/>
                      <a:pt x="216" y="49"/>
                    </a:cubicBezTo>
                    <a:cubicBezTo>
                      <a:pt x="216" y="49"/>
                      <a:pt x="212" y="54"/>
                      <a:pt x="211" y="54"/>
                    </a:cubicBezTo>
                    <a:cubicBezTo>
                      <a:pt x="211" y="54"/>
                      <a:pt x="211" y="55"/>
                      <a:pt x="211" y="55"/>
                    </a:cubicBezTo>
                    <a:cubicBezTo>
                      <a:pt x="211" y="55"/>
                      <a:pt x="215" y="60"/>
                      <a:pt x="216" y="61"/>
                    </a:cubicBezTo>
                    <a:cubicBezTo>
                      <a:pt x="216" y="61"/>
                      <a:pt x="216" y="62"/>
                      <a:pt x="216" y="62"/>
                    </a:cubicBezTo>
                    <a:cubicBezTo>
                      <a:pt x="216" y="62"/>
                      <a:pt x="214" y="63"/>
                      <a:pt x="214" y="63"/>
                    </a:cubicBezTo>
                    <a:cubicBezTo>
                      <a:pt x="213" y="63"/>
                      <a:pt x="211" y="65"/>
                      <a:pt x="211" y="66"/>
                    </a:cubicBezTo>
                    <a:cubicBezTo>
                      <a:pt x="210" y="66"/>
                      <a:pt x="209" y="65"/>
                      <a:pt x="208" y="65"/>
                    </a:cubicBezTo>
                    <a:cubicBezTo>
                      <a:pt x="207" y="65"/>
                      <a:pt x="205" y="67"/>
                      <a:pt x="204" y="68"/>
                    </a:cubicBezTo>
                    <a:cubicBezTo>
                      <a:pt x="204" y="68"/>
                      <a:pt x="202" y="68"/>
                      <a:pt x="202" y="68"/>
                    </a:cubicBezTo>
                    <a:cubicBezTo>
                      <a:pt x="201" y="68"/>
                      <a:pt x="201" y="69"/>
                      <a:pt x="201" y="69"/>
                    </a:cubicBezTo>
                    <a:cubicBezTo>
                      <a:pt x="201" y="69"/>
                      <a:pt x="202" y="70"/>
                      <a:pt x="202" y="71"/>
                    </a:cubicBezTo>
                    <a:cubicBezTo>
                      <a:pt x="202" y="71"/>
                      <a:pt x="203" y="71"/>
                      <a:pt x="203" y="71"/>
                    </a:cubicBezTo>
                    <a:cubicBezTo>
                      <a:pt x="203" y="71"/>
                      <a:pt x="206" y="74"/>
                      <a:pt x="207" y="74"/>
                    </a:cubicBezTo>
                    <a:cubicBezTo>
                      <a:pt x="209" y="75"/>
                      <a:pt x="224" y="82"/>
                      <a:pt x="225" y="83"/>
                    </a:cubicBezTo>
                    <a:cubicBezTo>
                      <a:pt x="226" y="83"/>
                      <a:pt x="225" y="83"/>
                      <a:pt x="225" y="83"/>
                    </a:cubicBezTo>
                    <a:cubicBezTo>
                      <a:pt x="225" y="83"/>
                      <a:pt x="224" y="85"/>
                      <a:pt x="224" y="86"/>
                    </a:cubicBezTo>
                    <a:cubicBezTo>
                      <a:pt x="223" y="86"/>
                      <a:pt x="223" y="88"/>
                      <a:pt x="222" y="90"/>
                    </a:cubicBezTo>
                    <a:cubicBezTo>
                      <a:pt x="222" y="93"/>
                      <a:pt x="219" y="93"/>
                      <a:pt x="218" y="93"/>
                    </a:cubicBezTo>
                    <a:cubicBezTo>
                      <a:pt x="217" y="93"/>
                      <a:pt x="214" y="94"/>
                      <a:pt x="212" y="95"/>
                    </a:cubicBezTo>
                    <a:cubicBezTo>
                      <a:pt x="210" y="95"/>
                      <a:pt x="206" y="93"/>
                      <a:pt x="204" y="93"/>
                    </a:cubicBezTo>
                    <a:cubicBezTo>
                      <a:pt x="203" y="93"/>
                      <a:pt x="201" y="92"/>
                      <a:pt x="201" y="91"/>
                    </a:cubicBezTo>
                    <a:cubicBezTo>
                      <a:pt x="201" y="91"/>
                      <a:pt x="201" y="91"/>
                      <a:pt x="200" y="92"/>
                    </a:cubicBezTo>
                    <a:cubicBezTo>
                      <a:pt x="200" y="92"/>
                      <a:pt x="199" y="94"/>
                      <a:pt x="199" y="95"/>
                    </a:cubicBezTo>
                    <a:cubicBezTo>
                      <a:pt x="199" y="96"/>
                      <a:pt x="197" y="97"/>
                      <a:pt x="197" y="97"/>
                    </a:cubicBezTo>
                    <a:cubicBezTo>
                      <a:pt x="196" y="97"/>
                      <a:pt x="195" y="98"/>
                      <a:pt x="194" y="98"/>
                    </a:cubicBezTo>
                    <a:cubicBezTo>
                      <a:pt x="194" y="98"/>
                      <a:pt x="194" y="98"/>
                      <a:pt x="194" y="97"/>
                    </a:cubicBezTo>
                    <a:cubicBezTo>
                      <a:pt x="194" y="96"/>
                      <a:pt x="193" y="96"/>
                      <a:pt x="192" y="96"/>
                    </a:cubicBezTo>
                    <a:cubicBezTo>
                      <a:pt x="192" y="96"/>
                      <a:pt x="189" y="95"/>
                      <a:pt x="185" y="94"/>
                    </a:cubicBezTo>
                    <a:cubicBezTo>
                      <a:pt x="181" y="93"/>
                      <a:pt x="180" y="90"/>
                      <a:pt x="180" y="89"/>
                    </a:cubicBezTo>
                    <a:cubicBezTo>
                      <a:pt x="180" y="89"/>
                      <a:pt x="180" y="88"/>
                      <a:pt x="180" y="88"/>
                    </a:cubicBezTo>
                    <a:cubicBezTo>
                      <a:pt x="180" y="88"/>
                      <a:pt x="178" y="86"/>
                      <a:pt x="177" y="86"/>
                    </a:cubicBezTo>
                    <a:cubicBezTo>
                      <a:pt x="176" y="86"/>
                      <a:pt x="175" y="86"/>
                      <a:pt x="174" y="86"/>
                    </a:cubicBezTo>
                    <a:cubicBezTo>
                      <a:pt x="173" y="86"/>
                      <a:pt x="169" y="86"/>
                      <a:pt x="168" y="86"/>
                    </a:cubicBezTo>
                    <a:cubicBezTo>
                      <a:pt x="168" y="86"/>
                      <a:pt x="168" y="86"/>
                      <a:pt x="168" y="86"/>
                    </a:cubicBezTo>
                    <a:cubicBezTo>
                      <a:pt x="168" y="86"/>
                      <a:pt x="168" y="87"/>
                      <a:pt x="167" y="89"/>
                    </a:cubicBezTo>
                    <a:cubicBezTo>
                      <a:pt x="167" y="90"/>
                      <a:pt x="165" y="91"/>
                      <a:pt x="164" y="91"/>
                    </a:cubicBezTo>
                    <a:cubicBezTo>
                      <a:pt x="162" y="91"/>
                      <a:pt x="161" y="89"/>
                      <a:pt x="160" y="87"/>
                    </a:cubicBezTo>
                    <a:cubicBezTo>
                      <a:pt x="159" y="86"/>
                      <a:pt x="157" y="86"/>
                      <a:pt x="156" y="86"/>
                    </a:cubicBezTo>
                    <a:cubicBezTo>
                      <a:pt x="156" y="86"/>
                      <a:pt x="149" y="87"/>
                      <a:pt x="148" y="87"/>
                    </a:cubicBezTo>
                    <a:cubicBezTo>
                      <a:pt x="148" y="87"/>
                      <a:pt x="147" y="88"/>
                      <a:pt x="147" y="89"/>
                    </a:cubicBezTo>
                    <a:cubicBezTo>
                      <a:pt x="146" y="90"/>
                      <a:pt x="146" y="90"/>
                      <a:pt x="145" y="90"/>
                    </a:cubicBezTo>
                    <a:cubicBezTo>
                      <a:pt x="144" y="91"/>
                      <a:pt x="144" y="90"/>
                      <a:pt x="143" y="92"/>
                    </a:cubicBezTo>
                    <a:cubicBezTo>
                      <a:pt x="142" y="94"/>
                      <a:pt x="139" y="96"/>
                      <a:pt x="138" y="96"/>
                    </a:cubicBezTo>
                    <a:cubicBezTo>
                      <a:pt x="138" y="96"/>
                      <a:pt x="137" y="96"/>
                      <a:pt x="137" y="97"/>
                    </a:cubicBezTo>
                    <a:cubicBezTo>
                      <a:pt x="137" y="97"/>
                      <a:pt x="136" y="97"/>
                      <a:pt x="136" y="97"/>
                    </a:cubicBezTo>
                    <a:cubicBezTo>
                      <a:pt x="136" y="97"/>
                      <a:pt x="128" y="92"/>
                      <a:pt x="128" y="91"/>
                    </a:cubicBezTo>
                    <a:cubicBezTo>
                      <a:pt x="127" y="91"/>
                      <a:pt x="126" y="91"/>
                      <a:pt x="125" y="89"/>
                    </a:cubicBezTo>
                    <a:cubicBezTo>
                      <a:pt x="123" y="87"/>
                      <a:pt x="121" y="88"/>
                      <a:pt x="121" y="88"/>
                    </a:cubicBezTo>
                    <a:cubicBezTo>
                      <a:pt x="121" y="87"/>
                      <a:pt x="120" y="88"/>
                      <a:pt x="120" y="88"/>
                    </a:cubicBezTo>
                    <a:cubicBezTo>
                      <a:pt x="120" y="88"/>
                      <a:pt x="121" y="90"/>
                      <a:pt x="121" y="91"/>
                    </a:cubicBezTo>
                    <a:cubicBezTo>
                      <a:pt x="122" y="91"/>
                      <a:pt x="121" y="92"/>
                      <a:pt x="122" y="94"/>
                    </a:cubicBezTo>
                    <a:cubicBezTo>
                      <a:pt x="122" y="96"/>
                      <a:pt x="121" y="97"/>
                      <a:pt x="120" y="97"/>
                    </a:cubicBezTo>
                    <a:cubicBezTo>
                      <a:pt x="119" y="98"/>
                      <a:pt x="119" y="97"/>
                      <a:pt x="119" y="97"/>
                    </a:cubicBezTo>
                    <a:cubicBezTo>
                      <a:pt x="119" y="97"/>
                      <a:pt x="118" y="94"/>
                      <a:pt x="118" y="93"/>
                    </a:cubicBezTo>
                    <a:cubicBezTo>
                      <a:pt x="118" y="92"/>
                      <a:pt x="118" y="92"/>
                      <a:pt x="119" y="92"/>
                    </a:cubicBezTo>
                    <a:cubicBezTo>
                      <a:pt x="119" y="91"/>
                      <a:pt x="118" y="90"/>
                      <a:pt x="117" y="89"/>
                    </a:cubicBezTo>
                    <a:cubicBezTo>
                      <a:pt x="116" y="89"/>
                      <a:pt x="106" y="81"/>
                      <a:pt x="104" y="80"/>
                    </a:cubicBezTo>
                    <a:cubicBezTo>
                      <a:pt x="103" y="79"/>
                      <a:pt x="101" y="78"/>
                      <a:pt x="99" y="79"/>
                    </a:cubicBezTo>
                    <a:cubicBezTo>
                      <a:pt x="98" y="79"/>
                      <a:pt x="95" y="78"/>
                      <a:pt x="94" y="78"/>
                    </a:cubicBezTo>
                    <a:cubicBezTo>
                      <a:pt x="94" y="78"/>
                      <a:pt x="93" y="78"/>
                      <a:pt x="92" y="79"/>
                    </a:cubicBezTo>
                    <a:cubicBezTo>
                      <a:pt x="92" y="79"/>
                      <a:pt x="91" y="79"/>
                      <a:pt x="90" y="79"/>
                    </a:cubicBezTo>
                    <a:cubicBezTo>
                      <a:pt x="89" y="78"/>
                      <a:pt x="87" y="74"/>
                      <a:pt x="87" y="73"/>
                    </a:cubicBezTo>
                    <a:cubicBezTo>
                      <a:pt x="87" y="73"/>
                      <a:pt x="87" y="73"/>
                      <a:pt x="86" y="73"/>
                    </a:cubicBezTo>
                    <a:cubicBezTo>
                      <a:pt x="86" y="74"/>
                      <a:pt x="82" y="75"/>
                      <a:pt x="82" y="75"/>
                    </a:cubicBezTo>
                    <a:cubicBezTo>
                      <a:pt x="81" y="75"/>
                      <a:pt x="80" y="75"/>
                      <a:pt x="79" y="76"/>
                    </a:cubicBezTo>
                    <a:cubicBezTo>
                      <a:pt x="79" y="76"/>
                      <a:pt x="78" y="77"/>
                      <a:pt x="79" y="78"/>
                    </a:cubicBezTo>
                    <a:cubicBezTo>
                      <a:pt x="79" y="78"/>
                      <a:pt x="79" y="79"/>
                      <a:pt x="77" y="79"/>
                    </a:cubicBezTo>
                    <a:cubicBezTo>
                      <a:pt x="75" y="80"/>
                      <a:pt x="73" y="78"/>
                      <a:pt x="73" y="78"/>
                    </a:cubicBezTo>
                    <a:cubicBezTo>
                      <a:pt x="72" y="78"/>
                      <a:pt x="72" y="77"/>
                      <a:pt x="73" y="77"/>
                    </a:cubicBezTo>
                    <a:cubicBezTo>
                      <a:pt x="73" y="77"/>
                      <a:pt x="73" y="77"/>
                      <a:pt x="73" y="76"/>
                    </a:cubicBezTo>
                    <a:cubicBezTo>
                      <a:pt x="72" y="75"/>
                      <a:pt x="65" y="73"/>
                      <a:pt x="64" y="73"/>
                    </a:cubicBezTo>
                    <a:cubicBezTo>
                      <a:pt x="63" y="73"/>
                      <a:pt x="64" y="74"/>
                      <a:pt x="64" y="74"/>
                    </a:cubicBezTo>
                    <a:cubicBezTo>
                      <a:pt x="64" y="74"/>
                      <a:pt x="64" y="74"/>
                      <a:pt x="64" y="75"/>
                    </a:cubicBezTo>
                    <a:cubicBezTo>
                      <a:pt x="64" y="77"/>
                      <a:pt x="61" y="77"/>
                      <a:pt x="61" y="77"/>
                    </a:cubicBezTo>
                    <a:cubicBezTo>
                      <a:pt x="60" y="77"/>
                      <a:pt x="60" y="77"/>
                      <a:pt x="60" y="77"/>
                    </a:cubicBezTo>
                    <a:cubicBezTo>
                      <a:pt x="60" y="78"/>
                      <a:pt x="58" y="81"/>
                      <a:pt x="57" y="82"/>
                    </a:cubicBezTo>
                    <a:cubicBezTo>
                      <a:pt x="56" y="83"/>
                      <a:pt x="44" y="88"/>
                      <a:pt x="43" y="88"/>
                    </a:cubicBezTo>
                    <a:cubicBezTo>
                      <a:pt x="43" y="88"/>
                      <a:pt x="43" y="89"/>
                      <a:pt x="44" y="90"/>
                    </a:cubicBezTo>
                    <a:cubicBezTo>
                      <a:pt x="44" y="91"/>
                      <a:pt x="41" y="92"/>
                      <a:pt x="40" y="92"/>
                    </a:cubicBezTo>
                    <a:cubicBezTo>
                      <a:pt x="40" y="92"/>
                      <a:pt x="35" y="95"/>
                      <a:pt x="35" y="95"/>
                    </a:cubicBezTo>
                    <a:cubicBezTo>
                      <a:pt x="34" y="96"/>
                      <a:pt x="33" y="96"/>
                      <a:pt x="32" y="95"/>
                    </a:cubicBezTo>
                    <a:cubicBezTo>
                      <a:pt x="32" y="95"/>
                      <a:pt x="32" y="95"/>
                      <a:pt x="31" y="95"/>
                    </a:cubicBezTo>
                    <a:cubicBezTo>
                      <a:pt x="31" y="96"/>
                      <a:pt x="32" y="97"/>
                      <a:pt x="32" y="98"/>
                    </a:cubicBezTo>
                    <a:cubicBezTo>
                      <a:pt x="33" y="98"/>
                      <a:pt x="34" y="102"/>
                      <a:pt x="34" y="103"/>
                    </a:cubicBezTo>
                    <a:cubicBezTo>
                      <a:pt x="34" y="103"/>
                      <a:pt x="34" y="104"/>
                      <a:pt x="34" y="105"/>
                    </a:cubicBezTo>
                    <a:cubicBezTo>
                      <a:pt x="34" y="105"/>
                      <a:pt x="34" y="105"/>
                      <a:pt x="35" y="106"/>
                    </a:cubicBezTo>
                    <a:cubicBezTo>
                      <a:pt x="36" y="106"/>
                      <a:pt x="36" y="107"/>
                      <a:pt x="36" y="107"/>
                    </a:cubicBezTo>
                    <a:cubicBezTo>
                      <a:pt x="36" y="108"/>
                      <a:pt x="34" y="109"/>
                      <a:pt x="33" y="109"/>
                    </a:cubicBezTo>
                    <a:cubicBezTo>
                      <a:pt x="31" y="110"/>
                      <a:pt x="30" y="111"/>
                      <a:pt x="29" y="111"/>
                    </a:cubicBezTo>
                    <a:cubicBezTo>
                      <a:pt x="29" y="111"/>
                      <a:pt x="27" y="110"/>
                      <a:pt x="26" y="109"/>
                    </a:cubicBezTo>
                    <a:cubicBezTo>
                      <a:pt x="25" y="108"/>
                      <a:pt x="19" y="101"/>
                      <a:pt x="19" y="101"/>
                    </a:cubicBezTo>
                    <a:cubicBezTo>
                      <a:pt x="18" y="100"/>
                      <a:pt x="18" y="100"/>
                      <a:pt x="18" y="100"/>
                    </a:cubicBezTo>
                    <a:cubicBezTo>
                      <a:pt x="18" y="100"/>
                      <a:pt x="15" y="100"/>
                      <a:pt x="15" y="100"/>
                    </a:cubicBezTo>
                    <a:cubicBezTo>
                      <a:pt x="14" y="100"/>
                      <a:pt x="14" y="100"/>
                      <a:pt x="14" y="101"/>
                    </a:cubicBezTo>
                    <a:cubicBezTo>
                      <a:pt x="14" y="102"/>
                      <a:pt x="13" y="105"/>
                      <a:pt x="12" y="107"/>
                    </a:cubicBezTo>
                    <a:cubicBezTo>
                      <a:pt x="11" y="109"/>
                      <a:pt x="9" y="109"/>
                      <a:pt x="8" y="110"/>
                    </a:cubicBezTo>
                    <a:cubicBezTo>
                      <a:pt x="7" y="110"/>
                      <a:pt x="6" y="110"/>
                      <a:pt x="6" y="111"/>
                    </a:cubicBezTo>
                    <a:cubicBezTo>
                      <a:pt x="5" y="113"/>
                      <a:pt x="5" y="119"/>
                      <a:pt x="5" y="120"/>
                    </a:cubicBezTo>
                    <a:cubicBezTo>
                      <a:pt x="5" y="120"/>
                      <a:pt x="6" y="121"/>
                      <a:pt x="6" y="121"/>
                    </a:cubicBezTo>
                    <a:cubicBezTo>
                      <a:pt x="7" y="121"/>
                      <a:pt x="10" y="123"/>
                      <a:pt x="7" y="127"/>
                    </a:cubicBezTo>
                    <a:cubicBezTo>
                      <a:pt x="3" y="130"/>
                      <a:pt x="1" y="136"/>
                      <a:pt x="0" y="137"/>
                    </a:cubicBezTo>
                    <a:cubicBezTo>
                      <a:pt x="0" y="138"/>
                      <a:pt x="1" y="138"/>
                      <a:pt x="1" y="138"/>
                    </a:cubicBezTo>
                    <a:cubicBezTo>
                      <a:pt x="1" y="138"/>
                      <a:pt x="8" y="141"/>
                      <a:pt x="9" y="141"/>
                    </a:cubicBezTo>
                    <a:cubicBezTo>
                      <a:pt x="10" y="141"/>
                      <a:pt x="10" y="142"/>
                      <a:pt x="10" y="142"/>
                    </a:cubicBezTo>
                    <a:cubicBezTo>
                      <a:pt x="10" y="142"/>
                      <a:pt x="10" y="149"/>
                      <a:pt x="10" y="149"/>
                    </a:cubicBezTo>
                    <a:cubicBezTo>
                      <a:pt x="10" y="149"/>
                      <a:pt x="10" y="150"/>
                      <a:pt x="10" y="150"/>
                    </a:cubicBezTo>
                    <a:cubicBezTo>
                      <a:pt x="10" y="150"/>
                      <a:pt x="9" y="150"/>
                      <a:pt x="12" y="151"/>
                    </a:cubicBezTo>
                    <a:cubicBezTo>
                      <a:pt x="15" y="152"/>
                      <a:pt x="18" y="151"/>
                      <a:pt x="21" y="150"/>
                    </a:cubicBezTo>
                    <a:cubicBezTo>
                      <a:pt x="24" y="149"/>
                      <a:pt x="26" y="152"/>
                      <a:pt x="27" y="154"/>
                    </a:cubicBezTo>
                    <a:cubicBezTo>
                      <a:pt x="28" y="156"/>
                      <a:pt x="35" y="166"/>
                      <a:pt x="36" y="167"/>
                    </a:cubicBezTo>
                    <a:cubicBezTo>
                      <a:pt x="38" y="169"/>
                      <a:pt x="37" y="170"/>
                      <a:pt x="36" y="170"/>
                    </a:cubicBezTo>
                    <a:cubicBezTo>
                      <a:pt x="35" y="171"/>
                      <a:pt x="33" y="170"/>
                      <a:pt x="32" y="169"/>
                    </a:cubicBezTo>
                    <a:cubicBezTo>
                      <a:pt x="31" y="169"/>
                      <a:pt x="30" y="170"/>
                      <a:pt x="30" y="171"/>
                    </a:cubicBezTo>
                    <a:cubicBezTo>
                      <a:pt x="29" y="171"/>
                      <a:pt x="30" y="171"/>
                      <a:pt x="30" y="172"/>
                    </a:cubicBezTo>
                    <a:cubicBezTo>
                      <a:pt x="31" y="173"/>
                      <a:pt x="32" y="173"/>
                      <a:pt x="33" y="174"/>
                    </a:cubicBezTo>
                    <a:cubicBezTo>
                      <a:pt x="33" y="174"/>
                      <a:pt x="35" y="175"/>
                      <a:pt x="35" y="175"/>
                    </a:cubicBezTo>
                    <a:cubicBezTo>
                      <a:pt x="41" y="178"/>
                      <a:pt x="41" y="178"/>
                      <a:pt x="41" y="178"/>
                    </a:cubicBezTo>
                    <a:cubicBezTo>
                      <a:pt x="41" y="177"/>
                      <a:pt x="41" y="177"/>
                      <a:pt x="41" y="177"/>
                    </a:cubicBezTo>
                    <a:cubicBezTo>
                      <a:pt x="41" y="176"/>
                      <a:pt x="41" y="175"/>
                      <a:pt x="41" y="175"/>
                    </a:cubicBezTo>
                    <a:cubicBezTo>
                      <a:pt x="42" y="174"/>
                      <a:pt x="43" y="172"/>
                      <a:pt x="44" y="172"/>
                    </a:cubicBezTo>
                    <a:cubicBezTo>
                      <a:pt x="46" y="173"/>
                      <a:pt x="51" y="173"/>
                      <a:pt x="53" y="171"/>
                    </a:cubicBezTo>
                    <a:cubicBezTo>
                      <a:pt x="54" y="170"/>
                      <a:pt x="56" y="169"/>
                      <a:pt x="58" y="168"/>
                    </a:cubicBezTo>
                    <a:cubicBezTo>
                      <a:pt x="59" y="167"/>
                      <a:pt x="61" y="167"/>
                      <a:pt x="63" y="166"/>
                    </a:cubicBezTo>
                    <a:cubicBezTo>
                      <a:pt x="64" y="165"/>
                      <a:pt x="65" y="164"/>
                      <a:pt x="66" y="163"/>
                    </a:cubicBezTo>
                    <a:cubicBezTo>
                      <a:pt x="67" y="163"/>
                      <a:pt x="70" y="162"/>
                      <a:pt x="72" y="163"/>
                    </a:cubicBezTo>
                    <a:cubicBezTo>
                      <a:pt x="74" y="163"/>
                      <a:pt x="85" y="168"/>
                      <a:pt x="86" y="167"/>
                    </a:cubicBezTo>
                    <a:cubicBezTo>
                      <a:pt x="88" y="166"/>
                      <a:pt x="89" y="164"/>
                      <a:pt x="90" y="165"/>
                    </a:cubicBezTo>
                    <a:cubicBezTo>
                      <a:pt x="92" y="165"/>
                      <a:pt x="94" y="166"/>
                      <a:pt x="95" y="166"/>
                    </a:cubicBezTo>
                    <a:cubicBezTo>
                      <a:pt x="96" y="167"/>
                      <a:pt x="101" y="176"/>
                      <a:pt x="101" y="179"/>
                    </a:cubicBezTo>
                    <a:cubicBezTo>
                      <a:pt x="100" y="183"/>
                      <a:pt x="98" y="187"/>
                      <a:pt x="98" y="188"/>
                    </a:cubicBezTo>
                    <a:cubicBezTo>
                      <a:pt x="97" y="189"/>
                      <a:pt x="98" y="192"/>
                      <a:pt x="99" y="193"/>
                    </a:cubicBezTo>
                    <a:cubicBezTo>
                      <a:pt x="99" y="194"/>
                      <a:pt x="101" y="195"/>
                      <a:pt x="103" y="195"/>
                    </a:cubicBezTo>
                    <a:cubicBezTo>
                      <a:pt x="105" y="196"/>
                      <a:pt x="110" y="196"/>
                      <a:pt x="111" y="195"/>
                    </a:cubicBezTo>
                    <a:cubicBezTo>
                      <a:pt x="112" y="193"/>
                      <a:pt x="112" y="192"/>
                      <a:pt x="113" y="192"/>
                    </a:cubicBezTo>
                    <a:cubicBezTo>
                      <a:pt x="114" y="192"/>
                      <a:pt x="115" y="194"/>
                      <a:pt x="115" y="196"/>
                    </a:cubicBezTo>
                    <a:cubicBezTo>
                      <a:pt x="115" y="198"/>
                      <a:pt x="115" y="198"/>
                      <a:pt x="116" y="199"/>
                    </a:cubicBezTo>
                    <a:cubicBezTo>
                      <a:pt x="117" y="200"/>
                      <a:pt x="117" y="202"/>
                      <a:pt x="115" y="202"/>
                    </a:cubicBezTo>
                    <a:cubicBezTo>
                      <a:pt x="113" y="202"/>
                      <a:pt x="112" y="201"/>
                      <a:pt x="111" y="202"/>
                    </a:cubicBezTo>
                    <a:cubicBezTo>
                      <a:pt x="110" y="203"/>
                      <a:pt x="107" y="203"/>
                      <a:pt x="106" y="204"/>
                    </a:cubicBezTo>
                    <a:cubicBezTo>
                      <a:pt x="105" y="205"/>
                      <a:pt x="102" y="212"/>
                      <a:pt x="100" y="212"/>
                    </a:cubicBezTo>
                    <a:cubicBezTo>
                      <a:pt x="98" y="212"/>
                      <a:pt x="99" y="212"/>
                      <a:pt x="100" y="209"/>
                    </a:cubicBezTo>
                    <a:cubicBezTo>
                      <a:pt x="102" y="207"/>
                      <a:pt x="104" y="203"/>
                      <a:pt x="107" y="202"/>
                    </a:cubicBezTo>
                    <a:cubicBezTo>
                      <a:pt x="110" y="200"/>
                      <a:pt x="111" y="202"/>
                      <a:pt x="112" y="199"/>
                    </a:cubicBezTo>
                    <a:cubicBezTo>
                      <a:pt x="112" y="197"/>
                      <a:pt x="111" y="197"/>
                      <a:pt x="110" y="198"/>
                    </a:cubicBezTo>
                    <a:cubicBezTo>
                      <a:pt x="108" y="198"/>
                      <a:pt x="107" y="199"/>
                      <a:pt x="105" y="198"/>
                    </a:cubicBezTo>
                    <a:cubicBezTo>
                      <a:pt x="103" y="197"/>
                      <a:pt x="101" y="197"/>
                      <a:pt x="99" y="197"/>
                    </a:cubicBezTo>
                    <a:cubicBezTo>
                      <a:pt x="96" y="197"/>
                      <a:pt x="86" y="195"/>
                      <a:pt x="84" y="195"/>
                    </a:cubicBezTo>
                    <a:cubicBezTo>
                      <a:pt x="82" y="195"/>
                      <a:pt x="79" y="195"/>
                      <a:pt x="79" y="194"/>
                    </a:cubicBezTo>
                    <a:cubicBezTo>
                      <a:pt x="79" y="194"/>
                      <a:pt x="78" y="193"/>
                      <a:pt x="77" y="194"/>
                    </a:cubicBezTo>
                    <a:cubicBezTo>
                      <a:pt x="76" y="195"/>
                      <a:pt x="76" y="196"/>
                      <a:pt x="75" y="196"/>
                    </a:cubicBezTo>
                    <a:cubicBezTo>
                      <a:pt x="74" y="195"/>
                      <a:pt x="73" y="195"/>
                      <a:pt x="72" y="197"/>
                    </a:cubicBezTo>
                    <a:cubicBezTo>
                      <a:pt x="71" y="200"/>
                      <a:pt x="71" y="200"/>
                      <a:pt x="70" y="201"/>
                    </a:cubicBezTo>
                    <a:cubicBezTo>
                      <a:pt x="69" y="202"/>
                      <a:pt x="66" y="202"/>
                      <a:pt x="68" y="203"/>
                    </a:cubicBezTo>
                    <a:cubicBezTo>
                      <a:pt x="69" y="205"/>
                      <a:pt x="71" y="207"/>
                      <a:pt x="71" y="208"/>
                    </a:cubicBezTo>
                    <a:cubicBezTo>
                      <a:pt x="71" y="209"/>
                      <a:pt x="72" y="209"/>
                      <a:pt x="73" y="209"/>
                    </a:cubicBezTo>
                    <a:cubicBezTo>
                      <a:pt x="73" y="209"/>
                      <a:pt x="77" y="210"/>
                      <a:pt x="75" y="210"/>
                    </a:cubicBezTo>
                    <a:cubicBezTo>
                      <a:pt x="72" y="210"/>
                      <a:pt x="72" y="210"/>
                      <a:pt x="70" y="211"/>
                    </a:cubicBezTo>
                    <a:cubicBezTo>
                      <a:pt x="69" y="211"/>
                      <a:pt x="68" y="212"/>
                      <a:pt x="67" y="210"/>
                    </a:cubicBezTo>
                    <a:cubicBezTo>
                      <a:pt x="66" y="209"/>
                      <a:pt x="64" y="208"/>
                      <a:pt x="63" y="209"/>
                    </a:cubicBezTo>
                    <a:cubicBezTo>
                      <a:pt x="62" y="209"/>
                      <a:pt x="58" y="208"/>
                      <a:pt x="58" y="208"/>
                    </a:cubicBezTo>
                    <a:cubicBezTo>
                      <a:pt x="58" y="208"/>
                      <a:pt x="56" y="208"/>
                      <a:pt x="56" y="210"/>
                    </a:cubicBezTo>
                    <a:cubicBezTo>
                      <a:pt x="55" y="212"/>
                      <a:pt x="56" y="214"/>
                      <a:pt x="58" y="215"/>
                    </a:cubicBezTo>
                    <a:cubicBezTo>
                      <a:pt x="61" y="215"/>
                      <a:pt x="64" y="215"/>
                      <a:pt x="65" y="218"/>
                    </a:cubicBezTo>
                    <a:cubicBezTo>
                      <a:pt x="67" y="221"/>
                      <a:pt x="72" y="232"/>
                      <a:pt x="72" y="233"/>
                    </a:cubicBezTo>
                    <a:cubicBezTo>
                      <a:pt x="71" y="235"/>
                      <a:pt x="71" y="236"/>
                      <a:pt x="72" y="236"/>
                    </a:cubicBezTo>
                    <a:cubicBezTo>
                      <a:pt x="74" y="235"/>
                      <a:pt x="77" y="234"/>
                      <a:pt x="79" y="238"/>
                    </a:cubicBezTo>
                    <a:cubicBezTo>
                      <a:pt x="81" y="242"/>
                      <a:pt x="82" y="241"/>
                      <a:pt x="83" y="241"/>
                    </a:cubicBezTo>
                    <a:cubicBezTo>
                      <a:pt x="83" y="240"/>
                      <a:pt x="86" y="240"/>
                      <a:pt x="86" y="241"/>
                    </a:cubicBezTo>
                    <a:cubicBezTo>
                      <a:pt x="87" y="242"/>
                      <a:pt x="89" y="241"/>
                      <a:pt x="90" y="242"/>
                    </a:cubicBezTo>
                    <a:cubicBezTo>
                      <a:pt x="91" y="242"/>
                      <a:pt x="93" y="243"/>
                      <a:pt x="92" y="244"/>
                    </a:cubicBezTo>
                    <a:cubicBezTo>
                      <a:pt x="91" y="244"/>
                      <a:pt x="92" y="245"/>
                      <a:pt x="92" y="246"/>
                    </a:cubicBezTo>
                    <a:cubicBezTo>
                      <a:pt x="91" y="247"/>
                      <a:pt x="91" y="250"/>
                      <a:pt x="90" y="251"/>
                    </a:cubicBezTo>
                    <a:cubicBezTo>
                      <a:pt x="89" y="252"/>
                      <a:pt x="88" y="258"/>
                      <a:pt x="89" y="261"/>
                    </a:cubicBezTo>
                    <a:cubicBezTo>
                      <a:pt x="90" y="259"/>
                      <a:pt x="93" y="257"/>
                      <a:pt x="93" y="256"/>
                    </a:cubicBezTo>
                    <a:cubicBezTo>
                      <a:pt x="94" y="256"/>
                      <a:pt x="98" y="253"/>
                      <a:pt x="100" y="253"/>
                    </a:cubicBezTo>
                    <a:cubicBezTo>
                      <a:pt x="102" y="252"/>
                      <a:pt x="107" y="251"/>
                      <a:pt x="108" y="251"/>
                    </a:cubicBezTo>
                    <a:cubicBezTo>
                      <a:pt x="109" y="250"/>
                      <a:pt x="112" y="249"/>
                      <a:pt x="113" y="250"/>
                    </a:cubicBezTo>
                    <a:cubicBezTo>
                      <a:pt x="114" y="250"/>
                      <a:pt x="115" y="251"/>
                      <a:pt x="115" y="251"/>
                    </a:cubicBezTo>
                    <a:cubicBezTo>
                      <a:pt x="116" y="252"/>
                      <a:pt x="123" y="257"/>
                      <a:pt x="124" y="257"/>
                    </a:cubicBezTo>
                    <a:cubicBezTo>
                      <a:pt x="124" y="258"/>
                      <a:pt x="128" y="262"/>
                      <a:pt x="129" y="264"/>
                    </a:cubicBezTo>
                    <a:cubicBezTo>
                      <a:pt x="130" y="265"/>
                      <a:pt x="132" y="268"/>
                      <a:pt x="133" y="268"/>
                    </a:cubicBezTo>
                    <a:cubicBezTo>
                      <a:pt x="134" y="269"/>
                      <a:pt x="136" y="269"/>
                      <a:pt x="138" y="269"/>
                    </a:cubicBezTo>
                    <a:cubicBezTo>
                      <a:pt x="139" y="268"/>
                      <a:pt x="140" y="268"/>
                      <a:pt x="141" y="268"/>
                    </a:cubicBezTo>
                    <a:cubicBezTo>
                      <a:pt x="141" y="204"/>
                      <a:pt x="141" y="204"/>
                      <a:pt x="141" y="204"/>
                    </a:cubicBezTo>
                    <a:cubicBezTo>
                      <a:pt x="141" y="204"/>
                      <a:pt x="141" y="202"/>
                      <a:pt x="142" y="202"/>
                    </a:cubicBezTo>
                    <a:cubicBezTo>
                      <a:pt x="144" y="201"/>
                      <a:pt x="145" y="201"/>
                      <a:pt x="146" y="200"/>
                    </a:cubicBezTo>
                    <a:cubicBezTo>
                      <a:pt x="147" y="200"/>
                      <a:pt x="178" y="192"/>
                      <a:pt x="178" y="192"/>
                    </a:cubicBezTo>
                    <a:cubicBezTo>
                      <a:pt x="178" y="192"/>
                      <a:pt x="179" y="192"/>
                      <a:pt x="179" y="192"/>
                    </a:cubicBezTo>
                    <a:cubicBezTo>
                      <a:pt x="179" y="192"/>
                      <a:pt x="180" y="192"/>
                      <a:pt x="180" y="192"/>
                    </a:cubicBezTo>
                    <a:cubicBezTo>
                      <a:pt x="180" y="190"/>
                      <a:pt x="181" y="189"/>
                      <a:pt x="181" y="188"/>
                    </a:cubicBezTo>
                    <a:cubicBezTo>
                      <a:pt x="182" y="187"/>
                      <a:pt x="184" y="186"/>
                      <a:pt x="185" y="186"/>
                    </a:cubicBezTo>
                    <a:cubicBezTo>
                      <a:pt x="186" y="185"/>
                      <a:pt x="186" y="185"/>
                      <a:pt x="187" y="185"/>
                    </a:cubicBezTo>
                    <a:cubicBezTo>
                      <a:pt x="188" y="185"/>
                      <a:pt x="191" y="183"/>
                      <a:pt x="190" y="185"/>
                    </a:cubicBezTo>
                    <a:cubicBezTo>
                      <a:pt x="189" y="187"/>
                      <a:pt x="189" y="188"/>
                      <a:pt x="190" y="189"/>
                    </a:cubicBezTo>
                    <a:cubicBezTo>
                      <a:pt x="190" y="190"/>
                      <a:pt x="192" y="189"/>
                      <a:pt x="192" y="190"/>
                    </a:cubicBezTo>
                    <a:cubicBezTo>
                      <a:pt x="192" y="191"/>
                      <a:pt x="192" y="190"/>
                      <a:pt x="193" y="189"/>
                    </a:cubicBezTo>
                    <a:cubicBezTo>
                      <a:pt x="194" y="189"/>
                      <a:pt x="194" y="188"/>
                      <a:pt x="195" y="189"/>
                    </a:cubicBezTo>
                    <a:cubicBezTo>
                      <a:pt x="195" y="189"/>
                      <a:pt x="195" y="188"/>
                      <a:pt x="195" y="187"/>
                    </a:cubicBezTo>
                    <a:cubicBezTo>
                      <a:pt x="195" y="186"/>
                      <a:pt x="197" y="185"/>
                      <a:pt x="197" y="184"/>
                    </a:cubicBezTo>
                    <a:cubicBezTo>
                      <a:pt x="197" y="183"/>
                      <a:pt x="195" y="181"/>
                      <a:pt x="195" y="180"/>
                    </a:cubicBezTo>
                    <a:cubicBezTo>
                      <a:pt x="194" y="179"/>
                      <a:pt x="194" y="178"/>
                      <a:pt x="195" y="178"/>
                    </a:cubicBezTo>
                    <a:cubicBezTo>
                      <a:pt x="197" y="179"/>
                      <a:pt x="197" y="178"/>
                      <a:pt x="198" y="180"/>
                    </a:cubicBezTo>
                    <a:cubicBezTo>
                      <a:pt x="198" y="181"/>
                      <a:pt x="199" y="180"/>
                      <a:pt x="198" y="181"/>
                    </a:cubicBezTo>
                    <a:cubicBezTo>
                      <a:pt x="197" y="183"/>
                      <a:pt x="197" y="184"/>
                      <a:pt x="198" y="184"/>
                    </a:cubicBezTo>
                    <a:cubicBezTo>
                      <a:pt x="199" y="184"/>
                      <a:pt x="199" y="182"/>
                      <a:pt x="201" y="183"/>
                    </a:cubicBezTo>
                    <a:cubicBezTo>
                      <a:pt x="202" y="183"/>
                      <a:pt x="204" y="183"/>
                      <a:pt x="205" y="182"/>
                    </a:cubicBezTo>
                    <a:cubicBezTo>
                      <a:pt x="205" y="182"/>
                      <a:pt x="208" y="183"/>
                      <a:pt x="209" y="183"/>
                    </a:cubicBezTo>
                    <a:cubicBezTo>
                      <a:pt x="210" y="183"/>
                      <a:pt x="212" y="183"/>
                      <a:pt x="211" y="184"/>
                    </a:cubicBezTo>
                    <a:cubicBezTo>
                      <a:pt x="209" y="185"/>
                      <a:pt x="209" y="185"/>
                      <a:pt x="208" y="186"/>
                    </a:cubicBezTo>
                    <a:cubicBezTo>
                      <a:pt x="208" y="187"/>
                      <a:pt x="206" y="187"/>
                      <a:pt x="205" y="187"/>
                    </a:cubicBezTo>
                    <a:cubicBezTo>
                      <a:pt x="205" y="187"/>
                      <a:pt x="200" y="186"/>
                      <a:pt x="200" y="186"/>
                    </a:cubicBezTo>
                    <a:cubicBezTo>
                      <a:pt x="200" y="186"/>
                      <a:pt x="198" y="184"/>
                      <a:pt x="198" y="185"/>
                    </a:cubicBezTo>
                    <a:cubicBezTo>
                      <a:pt x="198" y="186"/>
                      <a:pt x="198" y="187"/>
                      <a:pt x="198" y="187"/>
                    </a:cubicBezTo>
                    <a:cubicBezTo>
                      <a:pt x="197" y="187"/>
                      <a:pt x="198" y="188"/>
                      <a:pt x="198" y="189"/>
                    </a:cubicBezTo>
                    <a:cubicBezTo>
                      <a:pt x="197" y="189"/>
                      <a:pt x="196" y="190"/>
                      <a:pt x="197" y="191"/>
                    </a:cubicBezTo>
                    <a:cubicBezTo>
                      <a:pt x="197" y="192"/>
                      <a:pt x="198" y="193"/>
                      <a:pt x="199" y="192"/>
                    </a:cubicBezTo>
                    <a:cubicBezTo>
                      <a:pt x="200" y="191"/>
                      <a:pt x="202" y="192"/>
                      <a:pt x="202" y="193"/>
                    </a:cubicBezTo>
                    <a:cubicBezTo>
                      <a:pt x="203" y="195"/>
                      <a:pt x="203" y="201"/>
                      <a:pt x="203" y="203"/>
                    </a:cubicBezTo>
                    <a:cubicBezTo>
                      <a:pt x="202" y="203"/>
                      <a:pt x="202" y="204"/>
                      <a:pt x="203" y="205"/>
                    </a:cubicBezTo>
                    <a:cubicBezTo>
                      <a:pt x="215" y="212"/>
                      <a:pt x="215" y="212"/>
                      <a:pt x="215" y="212"/>
                    </a:cubicBezTo>
                    <a:cubicBezTo>
                      <a:pt x="215" y="212"/>
                      <a:pt x="218" y="214"/>
                      <a:pt x="218" y="216"/>
                    </a:cubicBezTo>
                    <a:cubicBezTo>
                      <a:pt x="218" y="216"/>
                      <a:pt x="219" y="218"/>
                      <a:pt x="219" y="218"/>
                    </a:cubicBezTo>
                    <a:cubicBezTo>
                      <a:pt x="220" y="219"/>
                      <a:pt x="230" y="229"/>
                      <a:pt x="230" y="229"/>
                    </a:cubicBezTo>
                    <a:cubicBezTo>
                      <a:pt x="230" y="229"/>
                      <a:pt x="230" y="230"/>
                      <a:pt x="231" y="229"/>
                    </a:cubicBezTo>
                    <a:cubicBezTo>
                      <a:pt x="232" y="229"/>
                      <a:pt x="245" y="227"/>
                      <a:pt x="245" y="227"/>
                    </a:cubicBezTo>
                    <a:cubicBezTo>
                      <a:pt x="245" y="227"/>
                      <a:pt x="248" y="227"/>
                      <a:pt x="250" y="227"/>
                    </a:cubicBezTo>
                    <a:cubicBezTo>
                      <a:pt x="253" y="227"/>
                      <a:pt x="268" y="228"/>
                      <a:pt x="268" y="228"/>
                    </a:cubicBezTo>
                    <a:cubicBezTo>
                      <a:pt x="268" y="228"/>
                      <a:pt x="268" y="228"/>
                      <a:pt x="269" y="227"/>
                    </a:cubicBezTo>
                    <a:cubicBezTo>
                      <a:pt x="269" y="227"/>
                      <a:pt x="273" y="225"/>
                      <a:pt x="273" y="225"/>
                    </a:cubicBezTo>
                    <a:cubicBezTo>
                      <a:pt x="273" y="225"/>
                      <a:pt x="274" y="225"/>
                      <a:pt x="275" y="226"/>
                    </a:cubicBezTo>
                    <a:cubicBezTo>
                      <a:pt x="276" y="227"/>
                      <a:pt x="279" y="229"/>
                      <a:pt x="279" y="230"/>
                    </a:cubicBezTo>
                    <a:cubicBezTo>
                      <a:pt x="280" y="231"/>
                      <a:pt x="281" y="232"/>
                      <a:pt x="282" y="232"/>
                    </a:cubicBezTo>
                    <a:cubicBezTo>
                      <a:pt x="282" y="233"/>
                      <a:pt x="285" y="235"/>
                      <a:pt x="285" y="235"/>
                    </a:cubicBezTo>
                    <a:cubicBezTo>
                      <a:pt x="285" y="236"/>
                      <a:pt x="288" y="239"/>
                      <a:pt x="288" y="239"/>
                    </a:cubicBezTo>
                    <a:cubicBezTo>
                      <a:pt x="289" y="239"/>
                      <a:pt x="290" y="239"/>
                      <a:pt x="291" y="239"/>
                    </a:cubicBezTo>
                    <a:cubicBezTo>
                      <a:pt x="291" y="238"/>
                      <a:pt x="291" y="239"/>
                      <a:pt x="291" y="239"/>
                    </a:cubicBezTo>
                    <a:cubicBezTo>
                      <a:pt x="291" y="240"/>
                      <a:pt x="292" y="244"/>
                      <a:pt x="291" y="246"/>
                    </a:cubicBezTo>
                    <a:cubicBezTo>
                      <a:pt x="290" y="249"/>
                      <a:pt x="290" y="253"/>
                      <a:pt x="290" y="254"/>
                    </a:cubicBezTo>
                    <a:cubicBezTo>
                      <a:pt x="290" y="255"/>
                      <a:pt x="290" y="257"/>
                      <a:pt x="293" y="256"/>
                    </a:cubicBezTo>
                    <a:cubicBezTo>
                      <a:pt x="296" y="256"/>
                      <a:pt x="297" y="255"/>
                      <a:pt x="297" y="257"/>
                    </a:cubicBezTo>
                    <a:cubicBezTo>
                      <a:pt x="298" y="259"/>
                      <a:pt x="298" y="262"/>
                      <a:pt x="299" y="264"/>
                    </a:cubicBezTo>
                    <a:cubicBezTo>
                      <a:pt x="299" y="266"/>
                      <a:pt x="301" y="270"/>
                      <a:pt x="301" y="270"/>
                    </a:cubicBezTo>
                    <a:cubicBezTo>
                      <a:pt x="301" y="270"/>
                      <a:pt x="301" y="271"/>
                      <a:pt x="301" y="271"/>
                    </a:cubicBezTo>
                    <a:cubicBezTo>
                      <a:pt x="302" y="271"/>
                      <a:pt x="310" y="271"/>
                      <a:pt x="312" y="271"/>
                    </a:cubicBezTo>
                    <a:cubicBezTo>
                      <a:pt x="314" y="270"/>
                      <a:pt x="318" y="270"/>
                      <a:pt x="319" y="271"/>
                    </a:cubicBezTo>
                    <a:cubicBezTo>
                      <a:pt x="319" y="272"/>
                      <a:pt x="320" y="272"/>
                      <a:pt x="320" y="273"/>
                    </a:cubicBezTo>
                    <a:cubicBezTo>
                      <a:pt x="321" y="273"/>
                      <a:pt x="322" y="273"/>
                      <a:pt x="321" y="273"/>
                    </a:cubicBezTo>
                    <a:cubicBezTo>
                      <a:pt x="321" y="274"/>
                      <a:pt x="321" y="274"/>
                      <a:pt x="321" y="274"/>
                    </a:cubicBezTo>
                    <a:cubicBezTo>
                      <a:pt x="321" y="275"/>
                      <a:pt x="321" y="276"/>
                      <a:pt x="321" y="276"/>
                    </a:cubicBezTo>
                    <a:cubicBezTo>
                      <a:pt x="320" y="277"/>
                      <a:pt x="320" y="277"/>
                      <a:pt x="320" y="277"/>
                    </a:cubicBezTo>
                    <a:cubicBezTo>
                      <a:pt x="320" y="277"/>
                      <a:pt x="319" y="277"/>
                      <a:pt x="320" y="277"/>
                    </a:cubicBezTo>
                    <a:cubicBezTo>
                      <a:pt x="320" y="278"/>
                      <a:pt x="323" y="279"/>
                      <a:pt x="323" y="279"/>
                    </a:cubicBezTo>
                    <a:cubicBezTo>
                      <a:pt x="323" y="279"/>
                      <a:pt x="324" y="280"/>
                      <a:pt x="324" y="280"/>
                    </a:cubicBezTo>
                    <a:cubicBezTo>
                      <a:pt x="325" y="280"/>
                      <a:pt x="327" y="281"/>
                      <a:pt x="327" y="281"/>
                    </a:cubicBezTo>
                    <a:cubicBezTo>
                      <a:pt x="327" y="281"/>
                      <a:pt x="327" y="281"/>
                      <a:pt x="328" y="281"/>
                    </a:cubicBezTo>
                    <a:cubicBezTo>
                      <a:pt x="328" y="281"/>
                      <a:pt x="329" y="281"/>
                      <a:pt x="329" y="281"/>
                    </a:cubicBezTo>
                    <a:cubicBezTo>
                      <a:pt x="329" y="281"/>
                      <a:pt x="329" y="281"/>
                      <a:pt x="329" y="280"/>
                    </a:cubicBezTo>
                    <a:cubicBezTo>
                      <a:pt x="329" y="279"/>
                      <a:pt x="329" y="275"/>
                      <a:pt x="329" y="275"/>
                    </a:cubicBezTo>
                    <a:cubicBezTo>
                      <a:pt x="329" y="275"/>
                      <a:pt x="329" y="275"/>
                      <a:pt x="329" y="274"/>
                    </a:cubicBezTo>
                    <a:cubicBezTo>
                      <a:pt x="330" y="274"/>
                      <a:pt x="332" y="272"/>
                      <a:pt x="333" y="271"/>
                    </a:cubicBezTo>
                    <a:cubicBezTo>
                      <a:pt x="334" y="271"/>
                      <a:pt x="335" y="271"/>
                      <a:pt x="335" y="271"/>
                    </a:cubicBezTo>
                    <a:cubicBezTo>
                      <a:pt x="335" y="271"/>
                      <a:pt x="335" y="270"/>
                      <a:pt x="335" y="270"/>
                    </a:cubicBezTo>
                    <a:cubicBezTo>
                      <a:pt x="335" y="270"/>
                      <a:pt x="335" y="269"/>
                      <a:pt x="335" y="269"/>
                    </a:cubicBezTo>
                    <a:cubicBezTo>
                      <a:pt x="335" y="269"/>
                      <a:pt x="335" y="269"/>
                      <a:pt x="336" y="268"/>
                    </a:cubicBezTo>
                    <a:cubicBezTo>
                      <a:pt x="336" y="268"/>
                      <a:pt x="338" y="267"/>
                      <a:pt x="339" y="266"/>
                    </a:cubicBezTo>
                    <a:cubicBezTo>
                      <a:pt x="340" y="266"/>
                      <a:pt x="344" y="263"/>
                      <a:pt x="344" y="262"/>
                    </a:cubicBezTo>
                    <a:cubicBezTo>
                      <a:pt x="345" y="262"/>
                      <a:pt x="356" y="256"/>
                      <a:pt x="358" y="255"/>
                    </a:cubicBezTo>
                    <a:cubicBezTo>
                      <a:pt x="358" y="254"/>
                      <a:pt x="362" y="252"/>
                      <a:pt x="363" y="251"/>
                    </a:cubicBezTo>
                    <a:cubicBezTo>
                      <a:pt x="363" y="251"/>
                      <a:pt x="363" y="251"/>
                      <a:pt x="363" y="251"/>
                    </a:cubicBezTo>
                    <a:cubicBezTo>
                      <a:pt x="362" y="251"/>
                      <a:pt x="362" y="251"/>
                      <a:pt x="362" y="250"/>
                    </a:cubicBezTo>
                    <a:cubicBezTo>
                      <a:pt x="363" y="250"/>
                      <a:pt x="369" y="243"/>
                      <a:pt x="369" y="243"/>
                    </a:cubicBezTo>
                    <a:cubicBezTo>
                      <a:pt x="369" y="243"/>
                      <a:pt x="369" y="243"/>
                      <a:pt x="369" y="243"/>
                    </a:cubicBezTo>
                    <a:cubicBezTo>
                      <a:pt x="370" y="243"/>
                      <a:pt x="380" y="243"/>
                      <a:pt x="380" y="243"/>
                    </a:cubicBezTo>
                    <a:cubicBezTo>
                      <a:pt x="380" y="243"/>
                      <a:pt x="381" y="243"/>
                      <a:pt x="382" y="243"/>
                    </a:cubicBezTo>
                    <a:cubicBezTo>
                      <a:pt x="382" y="243"/>
                      <a:pt x="401" y="249"/>
                      <a:pt x="401" y="249"/>
                    </a:cubicBezTo>
                    <a:cubicBezTo>
                      <a:pt x="401" y="249"/>
                      <a:pt x="402" y="249"/>
                      <a:pt x="401" y="248"/>
                    </a:cubicBezTo>
                    <a:cubicBezTo>
                      <a:pt x="400" y="247"/>
                      <a:pt x="399" y="242"/>
                      <a:pt x="404" y="237"/>
                    </a:cubicBezTo>
                    <a:cubicBezTo>
                      <a:pt x="404" y="237"/>
                      <a:pt x="405" y="236"/>
                      <a:pt x="406" y="236"/>
                    </a:cubicBezTo>
                    <a:cubicBezTo>
                      <a:pt x="407" y="236"/>
                      <a:pt x="409" y="235"/>
                      <a:pt x="410" y="235"/>
                    </a:cubicBezTo>
                    <a:cubicBezTo>
                      <a:pt x="410" y="235"/>
                      <a:pt x="411" y="235"/>
                      <a:pt x="411" y="235"/>
                    </a:cubicBezTo>
                    <a:cubicBezTo>
                      <a:pt x="412" y="235"/>
                      <a:pt x="415" y="235"/>
                      <a:pt x="415" y="235"/>
                    </a:cubicBezTo>
                    <a:cubicBezTo>
                      <a:pt x="415" y="235"/>
                      <a:pt x="415" y="236"/>
                      <a:pt x="416" y="236"/>
                    </a:cubicBezTo>
                    <a:cubicBezTo>
                      <a:pt x="416" y="236"/>
                      <a:pt x="419" y="238"/>
                      <a:pt x="420" y="238"/>
                    </a:cubicBezTo>
                    <a:cubicBezTo>
                      <a:pt x="420" y="239"/>
                      <a:pt x="426" y="240"/>
                      <a:pt x="426" y="240"/>
                    </a:cubicBezTo>
                    <a:cubicBezTo>
                      <a:pt x="427" y="241"/>
                      <a:pt x="429" y="241"/>
                      <a:pt x="430" y="241"/>
                    </a:cubicBezTo>
                    <a:cubicBezTo>
                      <a:pt x="431" y="241"/>
                      <a:pt x="435" y="239"/>
                      <a:pt x="435" y="239"/>
                    </a:cubicBezTo>
                    <a:cubicBezTo>
                      <a:pt x="435" y="239"/>
                      <a:pt x="436" y="239"/>
                      <a:pt x="436" y="239"/>
                    </a:cubicBezTo>
                    <a:cubicBezTo>
                      <a:pt x="436" y="239"/>
                      <a:pt x="457" y="240"/>
                      <a:pt x="459" y="240"/>
                    </a:cubicBezTo>
                    <a:cubicBezTo>
                      <a:pt x="462" y="240"/>
                      <a:pt x="469" y="240"/>
                      <a:pt x="470" y="240"/>
                    </a:cubicBezTo>
                    <a:cubicBezTo>
                      <a:pt x="471" y="240"/>
                      <a:pt x="476" y="240"/>
                      <a:pt x="477" y="241"/>
                    </a:cubicBezTo>
                    <a:cubicBezTo>
                      <a:pt x="478" y="241"/>
                      <a:pt x="481" y="242"/>
                      <a:pt x="483" y="242"/>
                    </a:cubicBezTo>
                    <a:cubicBezTo>
                      <a:pt x="485" y="242"/>
                      <a:pt x="486" y="243"/>
                      <a:pt x="487" y="244"/>
                    </a:cubicBezTo>
                    <a:cubicBezTo>
                      <a:pt x="487" y="245"/>
                      <a:pt x="489" y="247"/>
                      <a:pt x="489" y="247"/>
                    </a:cubicBezTo>
                    <a:cubicBezTo>
                      <a:pt x="489" y="247"/>
                      <a:pt x="489" y="247"/>
                      <a:pt x="490" y="247"/>
                    </a:cubicBezTo>
                    <a:cubicBezTo>
                      <a:pt x="490" y="247"/>
                      <a:pt x="497" y="248"/>
                      <a:pt x="498" y="249"/>
                    </a:cubicBezTo>
                    <a:cubicBezTo>
                      <a:pt x="498" y="250"/>
                      <a:pt x="500" y="251"/>
                      <a:pt x="501" y="252"/>
                    </a:cubicBezTo>
                    <a:close/>
                    <a:moveTo>
                      <a:pt x="401" y="186"/>
                    </a:moveTo>
                    <a:cubicBezTo>
                      <a:pt x="403" y="186"/>
                      <a:pt x="405" y="184"/>
                      <a:pt x="404" y="183"/>
                    </a:cubicBezTo>
                    <a:cubicBezTo>
                      <a:pt x="404" y="182"/>
                      <a:pt x="403" y="181"/>
                      <a:pt x="404" y="180"/>
                    </a:cubicBezTo>
                    <a:cubicBezTo>
                      <a:pt x="405" y="180"/>
                      <a:pt x="406" y="180"/>
                      <a:pt x="407" y="180"/>
                    </a:cubicBezTo>
                    <a:cubicBezTo>
                      <a:pt x="408" y="180"/>
                      <a:pt x="409" y="180"/>
                      <a:pt x="408" y="179"/>
                    </a:cubicBezTo>
                    <a:cubicBezTo>
                      <a:pt x="408" y="178"/>
                      <a:pt x="410" y="175"/>
                      <a:pt x="411" y="174"/>
                    </a:cubicBezTo>
                    <a:cubicBezTo>
                      <a:pt x="412" y="173"/>
                      <a:pt x="418" y="169"/>
                      <a:pt x="422" y="169"/>
                    </a:cubicBezTo>
                    <a:cubicBezTo>
                      <a:pt x="426" y="169"/>
                      <a:pt x="430" y="168"/>
                      <a:pt x="431" y="168"/>
                    </a:cubicBezTo>
                    <a:cubicBezTo>
                      <a:pt x="432" y="168"/>
                      <a:pt x="437" y="168"/>
                      <a:pt x="440" y="169"/>
                    </a:cubicBezTo>
                    <a:cubicBezTo>
                      <a:pt x="443" y="170"/>
                      <a:pt x="444" y="171"/>
                      <a:pt x="448" y="171"/>
                    </a:cubicBezTo>
                    <a:cubicBezTo>
                      <a:pt x="453" y="171"/>
                      <a:pt x="468" y="172"/>
                      <a:pt x="470" y="172"/>
                    </a:cubicBezTo>
                    <a:cubicBezTo>
                      <a:pt x="472" y="173"/>
                      <a:pt x="471" y="173"/>
                      <a:pt x="471" y="174"/>
                    </a:cubicBezTo>
                    <a:cubicBezTo>
                      <a:pt x="472" y="174"/>
                      <a:pt x="472" y="175"/>
                      <a:pt x="473" y="174"/>
                    </a:cubicBezTo>
                    <a:cubicBezTo>
                      <a:pt x="473" y="174"/>
                      <a:pt x="473" y="174"/>
                      <a:pt x="473" y="172"/>
                    </a:cubicBezTo>
                    <a:cubicBezTo>
                      <a:pt x="474" y="171"/>
                      <a:pt x="473" y="171"/>
                      <a:pt x="474" y="171"/>
                    </a:cubicBezTo>
                    <a:cubicBezTo>
                      <a:pt x="475" y="171"/>
                      <a:pt x="476" y="170"/>
                      <a:pt x="476" y="170"/>
                    </a:cubicBezTo>
                    <a:cubicBezTo>
                      <a:pt x="477" y="169"/>
                      <a:pt x="478" y="170"/>
                      <a:pt x="479" y="170"/>
                    </a:cubicBezTo>
                    <a:cubicBezTo>
                      <a:pt x="480" y="171"/>
                      <a:pt x="480" y="172"/>
                      <a:pt x="481" y="172"/>
                    </a:cubicBezTo>
                    <a:cubicBezTo>
                      <a:pt x="482" y="172"/>
                      <a:pt x="482" y="171"/>
                      <a:pt x="481" y="170"/>
                    </a:cubicBezTo>
                    <a:cubicBezTo>
                      <a:pt x="480" y="170"/>
                      <a:pt x="479" y="169"/>
                      <a:pt x="481" y="169"/>
                    </a:cubicBezTo>
                    <a:cubicBezTo>
                      <a:pt x="483" y="169"/>
                      <a:pt x="486" y="168"/>
                      <a:pt x="486" y="170"/>
                    </a:cubicBezTo>
                    <a:cubicBezTo>
                      <a:pt x="487" y="171"/>
                      <a:pt x="487" y="172"/>
                      <a:pt x="485" y="172"/>
                    </a:cubicBezTo>
                    <a:cubicBezTo>
                      <a:pt x="484" y="172"/>
                      <a:pt x="484" y="173"/>
                      <a:pt x="484" y="175"/>
                    </a:cubicBezTo>
                    <a:cubicBezTo>
                      <a:pt x="483" y="176"/>
                      <a:pt x="481" y="177"/>
                      <a:pt x="478" y="178"/>
                    </a:cubicBezTo>
                    <a:cubicBezTo>
                      <a:pt x="475" y="178"/>
                      <a:pt x="473" y="178"/>
                      <a:pt x="469" y="177"/>
                    </a:cubicBezTo>
                    <a:cubicBezTo>
                      <a:pt x="466" y="175"/>
                      <a:pt x="465" y="175"/>
                      <a:pt x="463" y="175"/>
                    </a:cubicBezTo>
                    <a:cubicBezTo>
                      <a:pt x="462" y="175"/>
                      <a:pt x="461" y="176"/>
                      <a:pt x="460" y="175"/>
                    </a:cubicBezTo>
                    <a:cubicBezTo>
                      <a:pt x="459" y="174"/>
                      <a:pt x="459" y="174"/>
                      <a:pt x="457" y="174"/>
                    </a:cubicBezTo>
                    <a:cubicBezTo>
                      <a:pt x="456" y="174"/>
                      <a:pt x="447" y="173"/>
                      <a:pt x="445" y="173"/>
                    </a:cubicBezTo>
                    <a:cubicBezTo>
                      <a:pt x="442" y="173"/>
                      <a:pt x="439" y="173"/>
                      <a:pt x="437" y="173"/>
                    </a:cubicBezTo>
                    <a:cubicBezTo>
                      <a:pt x="435" y="173"/>
                      <a:pt x="433" y="174"/>
                      <a:pt x="432" y="173"/>
                    </a:cubicBezTo>
                    <a:cubicBezTo>
                      <a:pt x="431" y="172"/>
                      <a:pt x="431" y="172"/>
                      <a:pt x="430" y="173"/>
                    </a:cubicBezTo>
                    <a:cubicBezTo>
                      <a:pt x="430" y="174"/>
                      <a:pt x="430" y="174"/>
                      <a:pt x="429" y="175"/>
                    </a:cubicBezTo>
                    <a:cubicBezTo>
                      <a:pt x="428" y="175"/>
                      <a:pt x="423" y="176"/>
                      <a:pt x="422" y="178"/>
                    </a:cubicBezTo>
                    <a:cubicBezTo>
                      <a:pt x="421" y="180"/>
                      <a:pt x="419" y="183"/>
                      <a:pt x="417" y="183"/>
                    </a:cubicBezTo>
                    <a:cubicBezTo>
                      <a:pt x="415" y="183"/>
                      <a:pt x="412" y="183"/>
                      <a:pt x="412" y="185"/>
                    </a:cubicBezTo>
                    <a:cubicBezTo>
                      <a:pt x="413" y="186"/>
                      <a:pt x="413" y="186"/>
                      <a:pt x="412" y="187"/>
                    </a:cubicBezTo>
                    <a:cubicBezTo>
                      <a:pt x="412" y="188"/>
                      <a:pt x="409" y="193"/>
                      <a:pt x="409" y="195"/>
                    </a:cubicBezTo>
                    <a:cubicBezTo>
                      <a:pt x="410" y="197"/>
                      <a:pt x="410" y="196"/>
                      <a:pt x="410" y="196"/>
                    </a:cubicBezTo>
                    <a:cubicBezTo>
                      <a:pt x="411" y="195"/>
                      <a:pt x="411" y="195"/>
                      <a:pt x="411" y="197"/>
                    </a:cubicBezTo>
                    <a:cubicBezTo>
                      <a:pt x="410" y="199"/>
                      <a:pt x="411" y="203"/>
                      <a:pt x="410" y="202"/>
                    </a:cubicBezTo>
                    <a:cubicBezTo>
                      <a:pt x="408" y="201"/>
                      <a:pt x="405" y="194"/>
                      <a:pt x="403" y="193"/>
                    </a:cubicBezTo>
                    <a:cubicBezTo>
                      <a:pt x="401" y="192"/>
                      <a:pt x="400" y="190"/>
                      <a:pt x="400" y="188"/>
                    </a:cubicBezTo>
                    <a:cubicBezTo>
                      <a:pt x="400" y="188"/>
                      <a:pt x="400" y="186"/>
                      <a:pt x="401" y="186"/>
                    </a:cubicBezTo>
                    <a:close/>
                    <a:moveTo>
                      <a:pt x="202" y="173"/>
                    </a:moveTo>
                    <a:cubicBezTo>
                      <a:pt x="203" y="172"/>
                      <a:pt x="205" y="170"/>
                      <a:pt x="206" y="172"/>
                    </a:cubicBezTo>
                    <a:cubicBezTo>
                      <a:pt x="206" y="174"/>
                      <a:pt x="207" y="174"/>
                      <a:pt x="207" y="175"/>
                    </a:cubicBezTo>
                    <a:cubicBezTo>
                      <a:pt x="207" y="175"/>
                      <a:pt x="207" y="175"/>
                      <a:pt x="208" y="174"/>
                    </a:cubicBezTo>
                    <a:cubicBezTo>
                      <a:pt x="208" y="173"/>
                      <a:pt x="208" y="173"/>
                      <a:pt x="209" y="174"/>
                    </a:cubicBezTo>
                    <a:cubicBezTo>
                      <a:pt x="210" y="174"/>
                      <a:pt x="211" y="174"/>
                      <a:pt x="211" y="173"/>
                    </a:cubicBezTo>
                    <a:cubicBezTo>
                      <a:pt x="212" y="172"/>
                      <a:pt x="211" y="171"/>
                      <a:pt x="211" y="171"/>
                    </a:cubicBezTo>
                    <a:cubicBezTo>
                      <a:pt x="211" y="171"/>
                      <a:pt x="208" y="170"/>
                      <a:pt x="210" y="170"/>
                    </a:cubicBezTo>
                    <a:cubicBezTo>
                      <a:pt x="213" y="170"/>
                      <a:pt x="213" y="172"/>
                      <a:pt x="212" y="173"/>
                    </a:cubicBezTo>
                    <a:cubicBezTo>
                      <a:pt x="212" y="174"/>
                      <a:pt x="213" y="175"/>
                      <a:pt x="215" y="175"/>
                    </a:cubicBezTo>
                    <a:cubicBezTo>
                      <a:pt x="217" y="176"/>
                      <a:pt x="218" y="177"/>
                      <a:pt x="219" y="176"/>
                    </a:cubicBezTo>
                    <a:cubicBezTo>
                      <a:pt x="220" y="175"/>
                      <a:pt x="221" y="174"/>
                      <a:pt x="220" y="176"/>
                    </a:cubicBezTo>
                    <a:cubicBezTo>
                      <a:pt x="219" y="178"/>
                      <a:pt x="220" y="177"/>
                      <a:pt x="219" y="178"/>
                    </a:cubicBezTo>
                    <a:cubicBezTo>
                      <a:pt x="219" y="180"/>
                      <a:pt x="218" y="180"/>
                      <a:pt x="217" y="181"/>
                    </a:cubicBezTo>
                    <a:cubicBezTo>
                      <a:pt x="215" y="181"/>
                      <a:pt x="214" y="180"/>
                      <a:pt x="214" y="181"/>
                    </a:cubicBezTo>
                    <a:cubicBezTo>
                      <a:pt x="214" y="181"/>
                      <a:pt x="213" y="180"/>
                      <a:pt x="213" y="179"/>
                    </a:cubicBezTo>
                    <a:cubicBezTo>
                      <a:pt x="213" y="178"/>
                      <a:pt x="211" y="176"/>
                      <a:pt x="211" y="178"/>
                    </a:cubicBezTo>
                    <a:cubicBezTo>
                      <a:pt x="210" y="179"/>
                      <a:pt x="209" y="179"/>
                      <a:pt x="208" y="178"/>
                    </a:cubicBezTo>
                    <a:cubicBezTo>
                      <a:pt x="207" y="177"/>
                      <a:pt x="207" y="176"/>
                      <a:pt x="206" y="177"/>
                    </a:cubicBezTo>
                    <a:cubicBezTo>
                      <a:pt x="205" y="177"/>
                      <a:pt x="201" y="179"/>
                      <a:pt x="201" y="175"/>
                    </a:cubicBezTo>
                    <a:cubicBezTo>
                      <a:pt x="201" y="175"/>
                      <a:pt x="200" y="174"/>
                      <a:pt x="202" y="17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65" name="Freeform 675">
                <a:extLst>
                  <a:ext uri="{FF2B5EF4-FFF2-40B4-BE49-F238E27FC236}">
                    <a16:creationId xmlns:a16="http://schemas.microsoft.com/office/drawing/2014/main" id="{A064841E-63F8-4521-B798-75BC1F23D9FB}"/>
                  </a:ext>
                </a:extLst>
              </p:cNvPr>
              <p:cNvSpPr>
                <a:spLocks/>
              </p:cNvSpPr>
              <p:nvPr/>
            </p:nvSpPr>
            <p:spPr bwMode="auto">
              <a:xfrm>
                <a:off x="4711" y="1676"/>
                <a:ext cx="14" cy="18"/>
              </a:xfrm>
              <a:custGeom>
                <a:avLst/>
                <a:gdLst>
                  <a:gd name="T0" fmla="*/ 10 w 10"/>
                  <a:gd name="T1" fmla="*/ 11 h 13"/>
                  <a:gd name="T2" fmla="*/ 9 w 10"/>
                  <a:gd name="T3" fmla="*/ 8 h 13"/>
                  <a:gd name="T4" fmla="*/ 8 w 10"/>
                  <a:gd name="T5" fmla="*/ 6 h 13"/>
                  <a:gd name="T6" fmla="*/ 7 w 10"/>
                  <a:gd name="T7" fmla="*/ 4 h 13"/>
                  <a:gd name="T8" fmla="*/ 5 w 10"/>
                  <a:gd name="T9" fmla="*/ 2 h 13"/>
                  <a:gd name="T10" fmla="*/ 4 w 10"/>
                  <a:gd name="T11" fmla="*/ 2 h 13"/>
                  <a:gd name="T12" fmla="*/ 3 w 10"/>
                  <a:gd name="T13" fmla="*/ 4 h 13"/>
                  <a:gd name="T14" fmla="*/ 3 w 10"/>
                  <a:gd name="T15" fmla="*/ 3 h 13"/>
                  <a:gd name="T16" fmla="*/ 2 w 10"/>
                  <a:gd name="T17" fmla="*/ 6 h 13"/>
                  <a:gd name="T18" fmla="*/ 0 w 10"/>
                  <a:gd name="T19" fmla="*/ 7 h 13"/>
                  <a:gd name="T20" fmla="*/ 10 w 10"/>
                  <a:gd name="T21" fmla="*/ 13 h 13"/>
                  <a:gd name="T22" fmla="*/ 10 w 10"/>
                  <a:gd name="T23" fmla="*/ 1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13">
                    <a:moveTo>
                      <a:pt x="10" y="11"/>
                    </a:moveTo>
                    <a:cubicBezTo>
                      <a:pt x="9" y="10"/>
                      <a:pt x="9" y="10"/>
                      <a:pt x="9" y="8"/>
                    </a:cubicBezTo>
                    <a:cubicBezTo>
                      <a:pt x="9" y="6"/>
                      <a:pt x="9" y="6"/>
                      <a:pt x="8" y="6"/>
                    </a:cubicBezTo>
                    <a:cubicBezTo>
                      <a:pt x="8" y="5"/>
                      <a:pt x="8" y="4"/>
                      <a:pt x="7" y="4"/>
                    </a:cubicBezTo>
                    <a:cubicBezTo>
                      <a:pt x="6" y="4"/>
                      <a:pt x="6" y="3"/>
                      <a:pt x="5" y="2"/>
                    </a:cubicBezTo>
                    <a:cubicBezTo>
                      <a:pt x="5" y="1"/>
                      <a:pt x="4" y="0"/>
                      <a:pt x="4" y="2"/>
                    </a:cubicBezTo>
                    <a:cubicBezTo>
                      <a:pt x="4" y="3"/>
                      <a:pt x="3" y="5"/>
                      <a:pt x="3" y="4"/>
                    </a:cubicBezTo>
                    <a:cubicBezTo>
                      <a:pt x="3" y="2"/>
                      <a:pt x="3" y="2"/>
                      <a:pt x="3" y="3"/>
                    </a:cubicBezTo>
                    <a:cubicBezTo>
                      <a:pt x="2" y="5"/>
                      <a:pt x="3" y="5"/>
                      <a:pt x="2" y="6"/>
                    </a:cubicBezTo>
                    <a:cubicBezTo>
                      <a:pt x="1" y="6"/>
                      <a:pt x="0" y="7"/>
                      <a:pt x="0" y="7"/>
                    </a:cubicBezTo>
                    <a:cubicBezTo>
                      <a:pt x="10" y="13"/>
                      <a:pt x="10" y="13"/>
                      <a:pt x="10" y="13"/>
                    </a:cubicBezTo>
                    <a:cubicBezTo>
                      <a:pt x="10" y="12"/>
                      <a:pt x="10" y="12"/>
                      <a:pt x="10"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66" name="Freeform 676">
                <a:extLst>
                  <a:ext uri="{FF2B5EF4-FFF2-40B4-BE49-F238E27FC236}">
                    <a16:creationId xmlns:a16="http://schemas.microsoft.com/office/drawing/2014/main" id="{253FD626-F931-4BBA-9898-42356CF0C8F0}"/>
                  </a:ext>
                </a:extLst>
              </p:cNvPr>
              <p:cNvSpPr>
                <a:spLocks/>
              </p:cNvSpPr>
              <p:nvPr/>
            </p:nvSpPr>
            <p:spPr bwMode="auto">
              <a:xfrm>
                <a:off x="4581" y="1753"/>
                <a:ext cx="291" cy="182"/>
              </a:xfrm>
              <a:custGeom>
                <a:avLst/>
                <a:gdLst>
                  <a:gd name="T0" fmla="*/ 40 w 210"/>
                  <a:gd name="T1" fmla="*/ 22 h 133"/>
                  <a:gd name="T2" fmla="*/ 19 w 210"/>
                  <a:gd name="T3" fmla="*/ 9 h 133"/>
                  <a:gd name="T4" fmla="*/ 0 w 210"/>
                  <a:gd name="T5" fmla="*/ 19 h 133"/>
                  <a:gd name="T6" fmla="*/ 6 w 210"/>
                  <a:gd name="T7" fmla="*/ 20 h 133"/>
                  <a:gd name="T8" fmla="*/ 21 w 210"/>
                  <a:gd name="T9" fmla="*/ 14 h 133"/>
                  <a:gd name="T10" fmla="*/ 34 w 210"/>
                  <a:gd name="T11" fmla="*/ 32 h 133"/>
                  <a:gd name="T12" fmla="*/ 21 w 210"/>
                  <a:gd name="T13" fmla="*/ 38 h 133"/>
                  <a:gd name="T14" fmla="*/ 8 w 210"/>
                  <a:gd name="T15" fmla="*/ 34 h 133"/>
                  <a:gd name="T16" fmla="*/ 4 w 210"/>
                  <a:gd name="T17" fmla="*/ 48 h 133"/>
                  <a:gd name="T18" fmla="*/ 14 w 210"/>
                  <a:gd name="T19" fmla="*/ 51 h 133"/>
                  <a:gd name="T20" fmla="*/ 15 w 210"/>
                  <a:gd name="T21" fmla="*/ 57 h 133"/>
                  <a:gd name="T22" fmla="*/ 11 w 210"/>
                  <a:gd name="T23" fmla="*/ 62 h 133"/>
                  <a:gd name="T24" fmla="*/ 22 w 210"/>
                  <a:gd name="T25" fmla="*/ 69 h 133"/>
                  <a:gd name="T26" fmla="*/ 29 w 210"/>
                  <a:gd name="T27" fmla="*/ 94 h 133"/>
                  <a:gd name="T28" fmla="*/ 43 w 210"/>
                  <a:gd name="T29" fmla="*/ 84 h 133"/>
                  <a:gd name="T30" fmla="*/ 56 w 210"/>
                  <a:gd name="T31" fmla="*/ 82 h 133"/>
                  <a:gd name="T32" fmla="*/ 71 w 210"/>
                  <a:gd name="T33" fmla="*/ 81 h 133"/>
                  <a:gd name="T34" fmla="*/ 78 w 210"/>
                  <a:gd name="T35" fmla="*/ 86 h 133"/>
                  <a:gd name="T36" fmla="*/ 86 w 210"/>
                  <a:gd name="T37" fmla="*/ 90 h 133"/>
                  <a:gd name="T38" fmla="*/ 97 w 210"/>
                  <a:gd name="T39" fmla="*/ 91 h 133"/>
                  <a:gd name="T40" fmla="*/ 106 w 210"/>
                  <a:gd name="T41" fmla="*/ 99 h 133"/>
                  <a:gd name="T42" fmla="*/ 124 w 210"/>
                  <a:gd name="T43" fmla="*/ 107 h 133"/>
                  <a:gd name="T44" fmla="*/ 129 w 210"/>
                  <a:gd name="T45" fmla="*/ 120 h 133"/>
                  <a:gd name="T46" fmla="*/ 133 w 210"/>
                  <a:gd name="T47" fmla="*/ 126 h 133"/>
                  <a:gd name="T48" fmla="*/ 147 w 210"/>
                  <a:gd name="T49" fmla="*/ 132 h 133"/>
                  <a:gd name="T50" fmla="*/ 156 w 210"/>
                  <a:gd name="T51" fmla="*/ 128 h 133"/>
                  <a:gd name="T52" fmla="*/ 158 w 210"/>
                  <a:gd name="T53" fmla="*/ 121 h 133"/>
                  <a:gd name="T54" fmla="*/ 176 w 210"/>
                  <a:gd name="T55" fmla="*/ 116 h 133"/>
                  <a:gd name="T56" fmla="*/ 183 w 210"/>
                  <a:gd name="T57" fmla="*/ 103 h 133"/>
                  <a:gd name="T58" fmla="*/ 187 w 210"/>
                  <a:gd name="T59" fmla="*/ 98 h 133"/>
                  <a:gd name="T60" fmla="*/ 198 w 210"/>
                  <a:gd name="T61" fmla="*/ 92 h 133"/>
                  <a:gd name="T62" fmla="*/ 208 w 210"/>
                  <a:gd name="T63" fmla="*/ 95 h 133"/>
                  <a:gd name="T64" fmla="*/ 210 w 210"/>
                  <a:gd name="T65" fmla="*/ 84 h 133"/>
                  <a:gd name="T66" fmla="*/ 194 w 210"/>
                  <a:gd name="T67" fmla="*/ 80 h 133"/>
                  <a:gd name="T68" fmla="*/ 176 w 210"/>
                  <a:gd name="T69" fmla="*/ 67 h 133"/>
                  <a:gd name="T70" fmla="*/ 147 w 210"/>
                  <a:gd name="T71" fmla="*/ 44 h 133"/>
                  <a:gd name="T72" fmla="*/ 142 w 210"/>
                  <a:gd name="T73" fmla="*/ 35 h 133"/>
                  <a:gd name="T74" fmla="*/ 131 w 210"/>
                  <a:gd name="T75" fmla="*/ 29 h 133"/>
                  <a:gd name="T76" fmla="*/ 116 w 210"/>
                  <a:gd name="T77" fmla="*/ 27 h 133"/>
                  <a:gd name="T78" fmla="*/ 113 w 210"/>
                  <a:gd name="T79" fmla="*/ 19 h 133"/>
                  <a:gd name="T80" fmla="*/ 111 w 210"/>
                  <a:gd name="T81" fmla="*/ 14 h 133"/>
                  <a:gd name="T82" fmla="*/ 108 w 210"/>
                  <a:gd name="T83" fmla="*/ 9 h 133"/>
                  <a:gd name="T84" fmla="*/ 98 w 210"/>
                  <a:gd name="T85" fmla="*/ 4 h 133"/>
                  <a:gd name="T86" fmla="*/ 90 w 210"/>
                  <a:gd name="T87" fmla="*/ 1 h 133"/>
                  <a:gd name="T88" fmla="*/ 84 w 210"/>
                  <a:gd name="T89" fmla="*/ 6 h 133"/>
                  <a:gd name="T90" fmla="*/ 71 w 210"/>
                  <a:gd name="T91" fmla="*/ 13 h 133"/>
                  <a:gd name="T92" fmla="*/ 69 w 210"/>
                  <a:gd name="T93" fmla="*/ 25 h 133"/>
                  <a:gd name="T94" fmla="*/ 52 w 210"/>
                  <a:gd name="T95" fmla="*/ 26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0" h="133">
                    <a:moveTo>
                      <a:pt x="52" y="26"/>
                    </a:moveTo>
                    <a:cubicBezTo>
                      <a:pt x="51" y="26"/>
                      <a:pt x="50" y="26"/>
                      <a:pt x="49" y="27"/>
                    </a:cubicBezTo>
                    <a:cubicBezTo>
                      <a:pt x="47" y="27"/>
                      <a:pt x="45" y="27"/>
                      <a:pt x="44" y="26"/>
                    </a:cubicBezTo>
                    <a:cubicBezTo>
                      <a:pt x="43" y="26"/>
                      <a:pt x="41" y="23"/>
                      <a:pt x="40" y="22"/>
                    </a:cubicBezTo>
                    <a:cubicBezTo>
                      <a:pt x="39" y="20"/>
                      <a:pt x="35" y="16"/>
                      <a:pt x="35" y="15"/>
                    </a:cubicBezTo>
                    <a:cubicBezTo>
                      <a:pt x="34" y="15"/>
                      <a:pt x="27" y="10"/>
                      <a:pt x="26" y="9"/>
                    </a:cubicBezTo>
                    <a:cubicBezTo>
                      <a:pt x="26" y="9"/>
                      <a:pt x="25" y="8"/>
                      <a:pt x="24" y="8"/>
                    </a:cubicBezTo>
                    <a:cubicBezTo>
                      <a:pt x="23" y="7"/>
                      <a:pt x="20" y="8"/>
                      <a:pt x="19" y="9"/>
                    </a:cubicBezTo>
                    <a:cubicBezTo>
                      <a:pt x="18" y="9"/>
                      <a:pt x="13" y="10"/>
                      <a:pt x="11" y="11"/>
                    </a:cubicBezTo>
                    <a:cubicBezTo>
                      <a:pt x="9" y="11"/>
                      <a:pt x="5" y="14"/>
                      <a:pt x="4" y="14"/>
                    </a:cubicBezTo>
                    <a:cubicBezTo>
                      <a:pt x="4" y="15"/>
                      <a:pt x="1" y="17"/>
                      <a:pt x="0" y="19"/>
                    </a:cubicBezTo>
                    <a:cubicBezTo>
                      <a:pt x="0" y="19"/>
                      <a:pt x="0" y="19"/>
                      <a:pt x="0" y="19"/>
                    </a:cubicBezTo>
                    <a:cubicBezTo>
                      <a:pt x="1" y="22"/>
                      <a:pt x="4" y="26"/>
                      <a:pt x="4" y="27"/>
                    </a:cubicBezTo>
                    <a:cubicBezTo>
                      <a:pt x="4" y="28"/>
                      <a:pt x="7" y="34"/>
                      <a:pt x="6" y="29"/>
                    </a:cubicBezTo>
                    <a:cubicBezTo>
                      <a:pt x="5" y="23"/>
                      <a:pt x="5" y="24"/>
                      <a:pt x="6" y="23"/>
                    </a:cubicBezTo>
                    <a:cubicBezTo>
                      <a:pt x="6" y="21"/>
                      <a:pt x="7" y="20"/>
                      <a:pt x="6" y="20"/>
                    </a:cubicBezTo>
                    <a:cubicBezTo>
                      <a:pt x="5" y="20"/>
                      <a:pt x="5" y="20"/>
                      <a:pt x="6" y="18"/>
                    </a:cubicBezTo>
                    <a:cubicBezTo>
                      <a:pt x="7" y="16"/>
                      <a:pt x="8" y="13"/>
                      <a:pt x="10" y="13"/>
                    </a:cubicBezTo>
                    <a:cubicBezTo>
                      <a:pt x="12" y="12"/>
                      <a:pt x="17" y="12"/>
                      <a:pt x="18" y="12"/>
                    </a:cubicBezTo>
                    <a:cubicBezTo>
                      <a:pt x="20" y="12"/>
                      <a:pt x="21" y="13"/>
                      <a:pt x="21" y="14"/>
                    </a:cubicBezTo>
                    <a:cubicBezTo>
                      <a:pt x="21" y="16"/>
                      <a:pt x="21" y="17"/>
                      <a:pt x="22" y="18"/>
                    </a:cubicBezTo>
                    <a:cubicBezTo>
                      <a:pt x="23" y="19"/>
                      <a:pt x="23" y="20"/>
                      <a:pt x="23" y="21"/>
                    </a:cubicBezTo>
                    <a:cubicBezTo>
                      <a:pt x="23" y="22"/>
                      <a:pt x="24" y="24"/>
                      <a:pt x="26" y="25"/>
                    </a:cubicBezTo>
                    <a:cubicBezTo>
                      <a:pt x="28" y="26"/>
                      <a:pt x="36" y="30"/>
                      <a:pt x="34" y="32"/>
                    </a:cubicBezTo>
                    <a:cubicBezTo>
                      <a:pt x="33" y="35"/>
                      <a:pt x="32" y="35"/>
                      <a:pt x="30" y="34"/>
                    </a:cubicBezTo>
                    <a:cubicBezTo>
                      <a:pt x="28" y="34"/>
                      <a:pt x="26" y="34"/>
                      <a:pt x="27" y="36"/>
                    </a:cubicBezTo>
                    <a:cubicBezTo>
                      <a:pt x="28" y="37"/>
                      <a:pt x="29" y="38"/>
                      <a:pt x="27" y="38"/>
                    </a:cubicBezTo>
                    <a:cubicBezTo>
                      <a:pt x="25" y="38"/>
                      <a:pt x="22" y="37"/>
                      <a:pt x="21" y="38"/>
                    </a:cubicBezTo>
                    <a:cubicBezTo>
                      <a:pt x="19" y="39"/>
                      <a:pt x="19" y="39"/>
                      <a:pt x="18" y="36"/>
                    </a:cubicBezTo>
                    <a:cubicBezTo>
                      <a:pt x="18" y="34"/>
                      <a:pt x="17" y="34"/>
                      <a:pt x="16" y="35"/>
                    </a:cubicBezTo>
                    <a:cubicBezTo>
                      <a:pt x="16" y="36"/>
                      <a:pt x="14" y="36"/>
                      <a:pt x="12" y="36"/>
                    </a:cubicBezTo>
                    <a:cubicBezTo>
                      <a:pt x="10" y="36"/>
                      <a:pt x="9" y="36"/>
                      <a:pt x="8" y="34"/>
                    </a:cubicBezTo>
                    <a:cubicBezTo>
                      <a:pt x="7" y="32"/>
                      <a:pt x="7" y="30"/>
                      <a:pt x="6" y="33"/>
                    </a:cubicBezTo>
                    <a:cubicBezTo>
                      <a:pt x="6" y="37"/>
                      <a:pt x="5" y="40"/>
                      <a:pt x="4" y="42"/>
                    </a:cubicBezTo>
                    <a:cubicBezTo>
                      <a:pt x="4" y="43"/>
                      <a:pt x="3" y="44"/>
                      <a:pt x="4" y="45"/>
                    </a:cubicBezTo>
                    <a:cubicBezTo>
                      <a:pt x="4" y="47"/>
                      <a:pt x="4" y="48"/>
                      <a:pt x="4" y="48"/>
                    </a:cubicBezTo>
                    <a:cubicBezTo>
                      <a:pt x="4" y="49"/>
                      <a:pt x="4" y="49"/>
                      <a:pt x="6" y="49"/>
                    </a:cubicBezTo>
                    <a:cubicBezTo>
                      <a:pt x="7" y="49"/>
                      <a:pt x="10" y="49"/>
                      <a:pt x="11" y="49"/>
                    </a:cubicBezTo>
                    <a:cubicBezTo>
                      <a:pt x="12" y="50"/>
                      <a:pt x="12" y="50"/>
                      <a:pt x="13" y="50"/>
                    </a:cubicBezTo>
                    <a:cubicBezTo>
                      <a:pt x="14" y="50"/>
                      <a:pt x="15" y="49"/>
                      <a:pt x="14" y="51"/>
                    </a:cubicBezTo>
                    <a:cubicBezTo>
                      <a:pt x="14" y="53"/>
                      <a:pt x="14" y="54"/>
                      <a:pt x="15" y="55"/>
                    </a:cubicBezTo>
                    <a:cubicBezTo>
                      <a:pt x="17" y="56"/>
                      <a:pt x="19" y="57"/>
                      <a:pt x="17" y="57"/>
                    </a:cubicBezTo>
                    <a:cubicBezTo>
                      <a:pt x="15" y="58"/>
                      <a:pt x="15" y="58"/>
                      <a:pt x="15" y="57"/>
                    </a:cubicBezTo>
                    <a:cubicBezTo>
                      <a:pt x="15" y="56"/>
                      <a:pt x="16" y="56"/>
                      <a:pt x="15" y="57"/>
                    </a:cubicBezTo>
                    <a:cubicBezTo>
                      <a:pt x="14" y="57"/>
                      <a:pt x="11" y="58"/>
                      <a:pt x="11" y="57"/>
                    </a:cubicBezTo>
                    <a:cubicBezTo>
                      <a:pt x="12" y="55"/>
                      <a:pt x="12" y="54"/>
                      <a:pt x="11" y="56"/>
                    </a:cubicBezTo>
                    <a:cubicBezTo>
                      <a:pt x="10" y="58"/>
                      <a:pt x="10" y="59"/>
                      <a:pt x="10" y="60"/>
                    </a:cubicBezTo>
                    <a:cubicBezTo>
                      <a:pt x="10" y="62"/>
                      <a:pt x="11" y="63"/>
                      <a:pt x="11" y="62"/>
                    </a:cubicBezTo>
                    <a:cubicBezTo>
                      <a:pt x="11" y="60"/>
                      <a:pt x="11" y="60"/>
                      <a:pt x="12" y="61"/>
                    </a:cubicBezTo>
                    <a:cubicBezTo>
                      <a:pt x="14" y="61"/>
                      <a:pt x="16" y="63"/>
                      <a:pt x="18" y="64"/>
                    </a:cubicBezTo>
                    <a:cubicBezTo>
                      <a:pt x="19" y="65"/>
                      <a:pt x="20" y="66"/>
                      <a:pt x="21" y="67"/>
                    </a:cubicBezTo>
                    <a:cubicBezTo>
                      <a:pt x="21" y="67"/>
                      <a:pt x="23" y="68"/>
                      <a:pt x="22" y="69"/>
                    </a:cubicBezTo>
                    <a:cubicBezTo>
                      <a:pt x="22" y="69"/>
                      <a:pt x="19" y="77"/>
                      <a:pt x="20" y="86"/>
                    </a:cubicBezTo>
                    <a:cubicBezTo>
                      <a:pt x="20" y="86"/>
                      <a:pt x="21" y="92"/>
                      <a:pt x="21" y="93"/>
                    </a:cubicBezTo>
                    <a:cubicBezTo>
                      <a:pt x="21" y="94"/>
                      <a:pt x="21" y="95"/>
                      <a:pt x="21" y="95"/>
                    </a:cubicBezTo>
                    <a:cubicBezTo>
                      <a:pt x="29" y="94"/>
                      <a:pt x="29" y="94"/>
                      <a:pt x="29" y="94"/>
                    </a:cubicBezTo>
                    <a:cubicBezTo>
                      <a:pt x="29" y="94"/>
                      <a:pt x="29" y="95"/>
                      <a:pt x="30" y="94"/>
                    </a:cubicBezTo>
                    <a:cubicBezTo>
                      <a:pt x="30" y="94"/>
                      <a:pt x="31" y="93"/>
                      <a:pt x="31" y="93"/>
                    </a:cubicBezTo>
                    <a:cubicBezTo>
                      <a:pt x="32" y="93"/>
                      <a:pt x="37" y="88"/>
                      <a:pt x="38" y="87"/>
                    </a:cubicBezTo>
                    <a:cubicBezTo>
                      <a:pt x="39" y="86"/>
                      <a:pt x="40" y="84"/>
                      <a:pt x="43" y="84"/>
                    </a:cubicBezTo>
                    <a:cubicBezTo>
                      <a:pt x="45" y="83"/>
                      <a:pt x="46" y="82"/>
                      <a:pt x="46" y="82"/>
                    </a:cubicBezTo>
                    <a:cubicBezTo>
                      <a:pt x="47" y="82"/>
                      <a:pt x="52" y="82"/>
                      <a:pt x="53" y="82"/>
                    </a:cubicBezTo>
                    <a:cubicBezTo>
                      <a:pt x="54" y="83"/>
                      <a:pt x="55" y="83"/>
                      <a:pt x="55" y="83"/>
                    </a:cubicBezTo>
                    <a:cubicBezTo>
                      <a:pt x="55" y="83"/>
                      <a:pt x="56" y="83"/>
                      <a:pt x="56" y="82"/>
                    </a:cubicBezTo>
                    <a:cubicBezTo>
                      <a:pt x="56" y="82"/>
                      <a:pt x="58" y="80"/>
                      <a:pt x="61" y="80"/>
                    </a:cubicBezTo>
                    <a:cubicBezTo>
                      <a:pt x="64" y="79"/>
                      <a:pt x="68" y="80"/>
                      <a:pt x="68" y="80"/>
                    </a:cubicBezTo>
                    <a:cubicBezTo>
                      <a:pt x="69" y="80"/>
                      <a:pt x="69" y="80"/>
                      <a:pt x="70" y="80"/>
                    </a:cubicBezTo>
                    <a:cubicBezTo>
                      <a:pt x="70" y="80"/>
                      <a:pt x="71" y="81"/>
                      <a:pt x="71" y="81"/>
                    </a:cubicBezTo>
                    <a:cubicBezTo>
                      <a:pt x="71" y="81"/>
                      <a:pt x="72" y="82"/>
                      <a:pt x="72" y="82"/>
                    </a:cubicBezTo>
                    <a:cubicBezTo>
                      <a:pt x="72" y="82"/>
                      <a:pt x="72" y="85"/>
                      <a:pt x="75" y="85"/>
                    </a:cubicBezTo>
                    <a:cubicBezTo>
                      <a:pt x="75" y="85"/>
                      <a:pt x="77" y="86"/>
                      <a:pt x="77" y="86"/>
                    </a:cubicBezTo>
                    <a:cubicBezTo>
                      <a:pt x="78" y="86"/>
                      <a:pt x="78" y="86"/>
                      <a:pt x="78" y="86"/>
                    </a:cubicBezTo>
                    <a:cubicBezTo>
                      <a:pt x="79" y="86"/>
                      <a:pt x="81" y="87"/>
                      <a:pt x="81" y="87"/>
                    </a:cubicBezTo>
                    <a:cubicBezTo>
                      <a:pt x="81" y="87"/>
                      <a:pt x="82" y="87"/>
                      <a:pt x="82" y="87"/>
                    </a:cubicBezTo>
                    <a:cubicBezTo>
                      <a:pt x="82" y="87"/>
                      <a:pt x="85" y="90"/>
                      <a:pt x="85" y="90"/>
                    </a:cubicBezTo>
                    <a:cubicBezTo>
                      <a:pt x="85" y="90"/>
                      <a:pt x="85" y="90"/>
                      <a:pt x="86" y="90"/>
                    </a:cubicBezTo>
                    <a:cubicBezTo>
                      <a:pt x="86" y="90"/>
                      <a:pt x="88" y="90"/>
                      <a:pt x="88" y="90"/>
                    </a:cubicBezTo>
                    <a:cubicBezTo>
                      <a:pt x="88" y="90"/>
                      <a:pt x="89" y="90"/>
                      <a:pt x="89" y="90"/>
                    </a:cubicBezTo>
                    <a:cubicBezTo>
                      <a:pt x="89" y="90"/>
                      <a:pt x="90" y="90"/>
                      <a:pt x="90" y="90"/>
                    </a:cubicBezTo>
                    <a:cubicBezTo>
                      <a:pt x="91" y="90"/>
                      <a:pt x="96" y="91"/>
                      <a:pt x="97" y="91"/>
                    </a:cubicBezTo>
                    <a:cubicBezTo>
                      <a:pt x="98" y="91"/>
                      <a:pt x="98" y="91"/>
                      <a:pt x="99" y="91"/>
                    </a:cubicBezTo>
                    <a:cubicBezTo>
                      <a:pt x="99" y="91"/>
                      <a:pt x="102" y="92"/>
                      <a:pt x="103" y="93"/>
                    </a:cubicBezTo>
                    <a:cubicBezTo>
                      <a:pt x="104" y="95"/>
                      <a:pt x="106" y="98"/>
                      <a:pt x="106" y="98"/>
                    </a:cubicBezTo>
                    <a:cubicBezTo>
                      <a:pt x="106" y="98"/>
                      <a:pt x="106" y="99"/>
                      <a:pt x="106" y="99"/>
                    </a:cubicBezTo>
                    <a:cubicBezTo>
                      <a:pt x="107" y="99"/>
                      <a:pt x="112" y="100"/>
                      <a:pt x="114" y="103"/>
                    </a:cubicBezTo>
                    <a:cubicBezTo>
                      <a:pt x="115" y="106"/>
                      <a:pt x="116" y="107"/>
                      <a:pt x="116" y="107"/>
                    </a:cubicBezTo>
                    <a:cubicBezTo>
                      <a:pt x="116" y="107"/>
                      <a:pt x="116" y="107"/>
                      <a:pt x="117" y="107"/>
                    </a:cubicBezTo>
                    <a:cubicBezTo>
                      <a:pt x="117" y="107"/>
                      <a:pt x="123" y="107"/>
                      <a:pt x="124" y="107"/>
                    </a:cubicBezTo>
                    <a:cubicBezTo>
                      <a:pt x="124" y="107"/>
                      <a:pt x="126" y="107"/>
                      <a:pt x="127" y="107"/>
                    </a:cubicBezTo>
                    <a:cubicBezTo>
                      <a:pt x="127" y="107"/>
                      <a:pt x="129" y="107"/>
                      <a:pt x="129" y="108"/>
                    </a:cubicBezTo>
                    <a:cubicBezTo>
                      <a:pt x="129" y="109"/>
                      <a:pt x="129" y="113"/>
                      <a:pt x="129" y="114"/>
                    </a:cubicBezTo>
                    <a:cubicBezTo>
                      <a:pt x="129" y="115"/>
                      <a:pt x="129" y="119"/>
                      <a:pt x="129" y="120"/>
                    </a:cubicBezTo>
                    <a:cubicBezTo>
                      <a:pt x="130" y="121"/>
                      <a:pt x="130" y="123"/>
                      <a:pt x="130" y="124"/>
                    </a:cubicBezTo>
                    <a:cubicBezTo>
                      <a:pt x="130" y="124"/>
                      <a:pt x="130" y="125"/>
                      <a:pt x="130" y="125"/>
                    </a:cubicBezTo>
                    <a:cubicBezTo>
                      <a:pt x="132" y="126"/>
                      <a:pt x="132" y="126"/>
                      <a:pt x="132" y="126"/>
                    </a:cubicBezTo>
                    <a:cubicBezTo>
                      <a:pt x="132" y="126"/>
                      <a:pt x="133" y="126"/>
                      <a:pt x="133" y="126"/>
                    </a:cubicBezTo>
                    <a:cubicBezTo>
                      <a:pt x="134" y="126"/>
                      <a:pt x="140" y="127"/>
                      <a:pt x="140" y="127"/>
                    </a:cubicBezTo>
                    <a:cubicBezTo>
                      <a:pt x="140" y="127"/>
                      <a:pt x="141" y="127"/>
                      <a:pt x="141" y="128"/>
                    </a:cubicBezTo>
                    <a:cubicBezTo>
                      <a:pt x="141" y="128"/>
                      <a:pt x="145" y="132"/>
                      <a:pt x="145" y="132"/>
                    </a:cubicBezTo>
                    <a:cubicBezTo>
                      <a:pt x="145" y="132"/>
                      <a:pt x="146" y="133"/>
                      <a:pt x="147" y="132"/>
                    </a:cubicBezTo>
                    <a:cubicBezTo>
                      <a:pt x="147" y="131"/>
                      <a:pt x="149" y="130"/>
                      <a:pt x="149" y="130"/>
                    </a:cubicBezTo>
                    <a:cubicBezTo>
                      <a:pt x="153" y="130"/>
                      <a:pt x="153" y="130"/>
                      <a:pt x="153" y="130"/>
                    </a:cubicBezTo>
                    <a:cubicBezTo>
                      <a:pt x="153" y="130"/>
                      <a:pt x="154" y="130"/>
                      <a:pt x="154" y="129"/>
                    </a:cubicBezTo>
                    <a:cubicBezTo>
                      <a:pt x="154" y="129"/>
                      <a:pt x="155" y="128"/>
                      <a:pt x="156" y="128"/>
                    </a:cubicBezTo>
                    <a:cubicBezTo>
                      <a:pt x="156" y="128"/>
                      <a:pt x="157" y="128"/>
                      <a:pt x="157" y="127"/>
                    </a:cubicBezTo>
                    <a:cubicBezTo>
                      <a:pt x="157" y="127"/>
                      <a:pt x="159" y="125"/>
                      <a:pt x="159" y="124"/>
                    </a:cubicBezTo>
                    <a:cubicBezTo>
                      <a:pt x="159" y="124"/>
                      <a:pt x="160" y="123"/>
                      <a:pt x="159" y="122"/>
                    </a:cubicBezTo>
                    <a:cubicBezTo>
                      <a:pt x="158" y="121"/>
                      <a:pt x="158" y="121"/>
                      <a:pt x="158" y="121"/>
                    </a:cubicBezTo>
                    <a:cubicBezTo>
                      <a:pt x="159" y="121"/>
                      <a:pt x="162" y="121"/>
                      <a:pt x="163" y="120"/>
                    </a:cubicBezTo>
                    <a:cubicBezTo>
                      <a:pt x="164" y="120"/>
                      <a:pt x="170" y="118"/>
                      <a:pt x="170" y="117"/>
                    </a:cubicBezTo>
                    <a:cubicBezTo>
                      <a:pt x="170" y="117"/>
                      <a:pt x="173" y="116"/>
                      <a:pt x="173" y="116"/>
                    </a:cubicBezTo>
                    <a:cubicBezTo>
                      <a:pt x="174" y="116"/>
                      <a:pt x="175" y="116"/>
                      <a:pt x="176" y="116"/>
                    </a:cubicBezTo>
                    <a:cubicBezTo>
                      <a:pt x="176" y="115"/>
                      <a:pt x="179" y="113"/>
                      <a:pt x="179" y="113"/>
                    </a:cubicBezTo>
                    <a:cubicBezTo>
                      <a:pt x="179" y="112"/>
                      <a:pt x="180" y="112"/>
                      <a:pt x="180" y="111"/>
                    </a:cubicBezTo>
                    <a:cubicBezTo>
                      <a:pt x="180" y="110"/>
                      <a:pt x="180" y="108"/>
                      <a:pt x="180" y="107"/>
                    </a:cubicBezTo>
                    <a:cubicBezTo>
                      <a:pt x="180" y="107"/>
                      <a:pt x="183" y="103"/>
                      <a:pt x="183" y="103"/>
                    </a:cubicBezTo>
                    <a:cubicBezTo>
                      <a:pt x="183" y="103"/>
                      <a:pt x="183" y="102"/>
                      <a:pt x="183" y="102"/>
                    </a:cubicBezTo>
                    <a:cubicBezTo>
                      <a:pt x="183" y="101"/>
                      <a:pt x="183" y="100"/>
                      <a:pt x="184" y="99"/>
                    </a:cubicBezTo>
                    <a:cubicBezTo>
                      <a:pt x="185" y="98"/>
                      <a:pt x="186" y="98"/>
                      <a:pt x="186" y="98"/>
                    </a:cubicBezTo>
                    <a:cubicBezTo>
                      <a:pt x="186" y="98"/>
                      <a:pt x="186" y="98"/>
                      <a:pt x="187" y="98"/>
                    </a:cubicBezTo>
                    <a:cubicBezTo>
                      <a:pt x="187" y="98"/>
                      <a:pt x="193" y="97"/>
                      <a:pt x="193" y="97"/>
                    </a:cubicBezTo>
                    <a:cubicBezTo>
                      <a:pt x="193" y="97"/>
                      <a:pt x="193" y="97"/>
                      <a:pt x="193" y="97"/>
                    </a:cubicBezTo>
                    <a:cubicBezTo>
                      <a:pt x="194" y="96"/>
                      <a:pt x="197" y="92"/>
                      <a:pt x="197" y="92"/>
                    </a:cubicBezTo>
                    <a:cubicBezTo>
                      <a:pt x="197" y="92"/>
                      <a:pt x="197" y="92"/>
                      <a:pt x="198" y="92"/>
                    </a:cubicBezTo>
                    <a:cubicBezTo>
                      <a:pt x="199" y="93"/>
                      <a:pt x="200" y="93"/>
                      <a:pt x="200" y="93"/>
                    </a:cubicBezTo>
                    <a:cubicBezTo>
                      <a:pt x="200" y="94"/>
                      <a:pt x="204" y="95"/>
                      <a:pt x="205" y="95"/>
                    </a:cubicBezTo>
                    <a:cubicBezTo>
                      <a:pt x="205" y="95"/>
                      <a:pt x="207" y="96"/>
                      <a:pt x="207" y="96"/>
                    </a:cubicBezTo>
                    <a:cubicBezTo>
                      <a:pt x="208" y="95"/>
                      <a:pt x="208" y="95"/>
                      <a:pt x="208" y="95"/>
                    </a:cubicBezTo>
                    <a:cubicBezTo>
                      <a:pt x="208" y="95"/>
                      <a:pt x="208" y="95"/>
                      <a:pt x="209" y="95"/>
                    </a:cubicBezTo>
                    <a:cubicBezTo>
                      <a:pt x="209" y="95"/>
                      <a:pt x="209" y="94"/>
                      <a:pt x="209" y="94"/>
                    </a:cubicBezTo>
                    <a:cubicBezTo>
                      <a:pt x="209" y="93"/>
                      <a:pt x="210" y="85"/>
                      <a:pt x="210" y="85"/>
                    </a:cubicBezTo>
                    <a:cubicBezTo>
                      <a:pt x="210" y="85"/>
                      <a:pt x="210" y="84"/>
                      <a:pt x="210" y="84"/>
                    </a:cubicBezTo>
                    <a:cubicBezTo>
                      <a:pt x="210" y="84"/>
                      <a:pt x="203" y="81"/>
                      <a:pt x="202" y="80"/>
                    </a:cubicBezTo>
                    <a:cubicBezTo>
                      <a:pt x="202" y="80"/>
                      <a:pt x="200" y="80"/>
                      <a:pt x="200" y="80"/>
                    </a:cubicBezTo>
                    <a:cubicBezTo>
                      <a:pt x="199" y="79"/>
                      <a:pt x="199" y="80"/>
                      <a:pt x="199" y="80"/>
                    </a:cubicBezTo>
                    <a:cubicBezTo>
                      <a:pt x="198" y="80"/>
                      <a:pt x="196" y="80"/>
                      <a:pt x="194" y="80"/>
                    </a:cubicBezTo>
                    <a:cubicBezTo>
                      <a:pt x="193" y="79"/>
                      <a:pt x="187" y="75"/>
                      <a:pt x="187" y="75"/>
                    </a:cubicBezTo>
                    <a:cubicBezTo>
                      <a:pt x="187" y="74"/>
                      <a:pt x="183" y="72"/>
                      <a:pt x="182" y="72"/>
                    </a:cubicBezTo>
                    <a:cubicBezTo>
                      <a:pt x="181" y="72"/>
                      <a:pt x="178" y="69"/>
                      <a:pt x="178" y="69"/>
                    </a:cubicBezTo>
                    <a:cubicBezTo>
                      <a:pt x="177" y="68"/>
                      <a:pt x="176" y="68"/>
                      <a:pt x="176" y="67"/>
                    </a:cubicBezTo>
                    <a:cubicBezTo>
                      <a:pt x="176" y="67"/>
                      <a:pt x="166" y="62"/>
                      <a:pt x="165" y="62"/>
                    </a:cubicBezTo>
                    <a:cubicBezTo>
                      <a:pt x="164" y="61"/>
                      <a:pt x="150" y="51"/>
                      <a:pt x="149" y="50"/>
                    </a:cubicBezTo>
                    <a:cubicBezTo>
                      <a:pt x="149" y="50"/>
                      <a:pt x="149" y="50"/>
                      <a:pt x="149" y="50"/>
                    </a:cubicBezTo>
                    <a:cubicBezTo>
                      <a:pt x="147" y="44"/>
                      <a:pt x="147" y="44"/>
                      <a:pt x="147" y="44"/>
                    </a:cubicBezTo>
                    <a:cubicBezTo>
                      <a:pt x="146" y="43"/>
                      <a:pt x="146" y="43"/>
                      <a:pt x="146" y="43"/>
                    </a:cubicBezTo>
                    <a:cubicBezTo>
                      <a:pt x="146" y="43"/>
                      <a:pt x="145" y="41"/>
                      <a:pt x="144" y="41"/>
                    </a:cubicBezTo>
                    <a:cubicBezTo>
                      <a:pt x="144" y="41"/>
                      <a:pt x="144" y="40"/>
                      <a:pt x="144" y="40"/>
                    </a:cubicBezTo>
                    <a:cubicBezTo>
                      <a:pt x="144" y="40"/>
                      <a:pt x="142" y="37"/>
                      <a:pt x="142" y="35"/>
                    </a:cubicBezTo>
                    <a:cubicBezTo>
                      <a:pt x="141" y="34"/>
                      <a:pt x="139" y="29"/>
                      <a:pt x="137" y="28"/>
                    </a:cubicBezTo>
                    <a:cubicBezTo>
                      <a:pt x="136" y="27"/>
                      <a:pt x="134" y="27"/>
                      <a:pt x="133" y="27"/>
                    </a:cubicBezTo>
                    <a:cubicBezTo>
                      <a:pt x="133" y="27"/>
                      <a:pt x="132" y="27"/>
                      <a:pt x="133" y="27"/>
                    </a:cubicBezTo>
                    <a:cubicBezTo>
                      <a:pt x="133" y="28"/>
                      <a:pt x="132" y="29"/>
                      <a:pt x="131" y="29"/>
                    </a:cubicBezTo>
                    <a:cubicBezTo>
                      <a:pt x="130" y="29"/>
                      <a:pt x="127" y="28"/>
                      <a:pt x="126" y="28"/>
                    </a:cubicBezTo>
                    <a:cubicBezTo>
                      <a:pt x="126" y="28"/>
                      <a:pt x="122" y="28"/>
                      <a:pt x="122" y="28"/>
                    </a:cubicBezTo>
                    <a:cubicBezTo>
                      <a:pt x="122" y="27"/>
                      <a:pt x="119" y="28"/>
                      <a:pt x="118" y="28"/>
                    </a:cubicBezTo>
                    <a:cubicBezTo>
                      <a:pt x="118" y="28"/>
                      <a:pt x="117" y="27"/>
                      <a:pt x="116" y="27"/>
                    </a:cubicBezTo>
                    <a:cubicBezTo>
                      <a:pt x="116" y="26"/>
                      <a:pt x="115" y="26"/>
                      <a:pt x="114" y="25"/>
                    </a:cubicBezTo>
                    <a:cubicBezTo>
                      <a:pt x="112" y="24"/>
                      <a:pt x="114" y="22"/>
                      <a:pt x="114" y="21"/>
                    </a:cubicBezTo>
                    <a:cubicBezTo>
                      <a:pt x="114" y="21"/>
                      <a:pt x="114" y="20"/>
                      <a:pt x="113" y="20"/>
                    </a:cubicBezTo>
                    <a:cubicBezTo>
                      <a:pt x="113" y="19"/>
                      <a:pt x="113" y="19"/>
                      <a:pt x="113" y="19"/>
                    </a:cubicBezTo>
                    <a:cubicBezTo>
                      <a:pt x="113" y="19"/>
                      <a:pt x="114" y="19"/>
                      <a:pt x="115" y="18"/>
                    </a:cubicBezTo>
                    <a:cubicBezTo>
                      <a:pt x="116" y="18"/>
                      <a:pt x="115" y="17"/>
                      <a:pt x="114" y="17"/>
                    </a:cubicBezTo>
                    <a:cubicBezTo>
                      <a:pt x="114" y="16"/>
                      <a:pt x="112" y="15"/>
                      <a:pt x="111" y="15"/>
                    </a:cubicBezTo>
                    <a:cubicBezTo>
                      <a:pt x="111" y="15"/>
                      <a:pt x="110" y="15"/>
                      <a:pt x="111" y="14"/>
                    </a:cubicBezTo>
                    <a:cubicBezTo>
                      <a:pt x="112" y="14"/>
                      <a:pt x="112" y="14"/>
                      <a:pt x="112" y="13"/>
                    </a:cubicBezTo>
                    <a:cubicBezTo>
                      <a:pt x="112" y="12"/>
                      <a:pt x="111" y="12"/>
                      <a:pt x="112" y="11"/>
                    </a:cubicBezTo>
                    <a:cubicBezTo>
                      <a:pt x="112" y="11"/>
                      <a:pt x="112" y="11"/>
                      <a:pt x="112" y="11"/>
                    </a:cubicBezTo>
                    <a:cubicBezTo>
                      <a:pt x="112" y="11"/>
                      <a:pt x="108" y="9"/>
                      <a:pt x="108" y="9"/>
                    </a:cubicBezTo>
                    <a:cubicBezTo>
                      <a:pt x="107" y="9"/>
                      <a:pt x="107" y="9"/>
                      <a:pt x="106" y="9"/>
                    </a:cubicBezTo>
                    <a:cubicBezTo>
                      <a:pt x="105" y="9"/>
                      <a:pt x="104" y="9"/>
                      <a:pt x="102" y="8"/>
                    </a:cubicBezTo>
                    <a:cubicBezTo>
                      <a:pt x="101" y="8"/>
                      <a:pt x="99" y="5"/>
                      <a:pt x="99" y="5"/>
                    </a:cubicBezTo>
                    <a:cubicBezTo>
                      <a:pt x="99" y="4"/>
                      <a:pt x="98" y="4"/>
                      <a:pt x="98" y="4"/>
                    </a:cubicBezTo>
                    <a:cubicBezTo>
                      <a:pt x="98" y="4"/>
                      <a:pt x="97" y="5"/>
                      <a:pt x="97" y="5"/>
                    </a:cubicBezTo>
                    <a:cubicBezTo>
                      <a:pt x="97" y="5"/>
                      <a:pt x="96" y="4"/>
                      <a:pt x="96" y="4"/>
                    </a:cubicBezTo>
                    <a:cubicBezTo>
                      <a:pt x="96" y="4"/>
                      <a:pt x="92" y="1"/>
                      <a:pt x="91" y="0"/>
                    </a:cubicBezTo>
                    <a:cubicBezTo>
                      <a:pt x="91" y="0"/>
                      <a:pt x="91" y="0"/>
                      <a:pt x="90" y="1"/>
                    </a:cubicBezTo>
                    <a:cubicBezTo>
                      <a:pt x="89" y="2"/>
                      <a:pt x="88" y="3"/>
                      <a:pt x="88" y="4"/>
                    </a:cubicBezTo>
                    <a:cubicBezTo>
                      <a:pt x="87" y="5"/>
                      <a:pt x="88" y="7"/>
                      <a:pt x="89" y="8"/>
                    </a:cubicBezTo>
                    <a:cubicBezTo>
                      <a:pt x="89" y="9"/>
                      <a:pt x="88" y="8"/>
                      <a:pt x="87" y="7"/>
                    </a:cubicBezTo>
                    <a:cubicBezTo>
                      <a:pt x="87" y="6"/>
                      <a:pt x="85" y="6"/>
                      <a:pt x="84" y="6"/>
                    </a:cubicBezTo>
                    <a:cubicBezTo>
                      <a:pt x="84" y="6"/>
                      <a:pt x="84" y="6"/>
                      <a:pt x="83" y="5"/>
                    </a:cubicBezTo>
                    <a:cubicBezTo>
                      <a:pt x="83" y="4"/>
                      <a:pt x="82" y="7"/>
                      <a:pt x="81" y="8"/>
                    </a:cubicBezTo>
                    <a:cubicBezTo>
                      <a:pt x="81" y="9"/>
                      <a:pt x="80" y="10"/>
                      <a:pt x="79" y="11"/>
                    </a:cubicBezTo>
                    <a:cubicBezTo>
                      <a:pt x="78" y="12"/>
                      <a:pt x="71" y="13"/>
                      <a:pt x="71" y="13"/>
                    </a:cubicBezTo>
                    <a:cubicBezTo>
                      <a:pt x="70" y="13"/>
                      <a:pt x="70" y="14"/>
                      <a:pt x="70" y="14"/>
                    </a:cubicBezTo>
                    <a:cubicBezTo>
                      <a:pt x="70" y="14"/>
                      <a:pt x="68" y="17"/>
                      <a:pt x="67" y="18"/>
                    </a:cubicBezTo>
                    <a:cubicBezTo>
                      <a:pt x="67" y="20"/>
                      <a:pt x="67" y="22"/>
                      <a:pt x="68" y="23"/>
                    </a:cubicBezTo>
                    <a:cubicBezTo>
                      <a:pt x="68" y="24"/>
                      <a:pt x="68" y="25"/>
                      <a:pt x="69" y="25"/>
                    </a:cubicBezTo>
                    <a:cubicBezTo>
                      <a:pt x="70" y="25"/>
                      <a:pt x="69" y="26"/>
                      <a:pt x="69" y="26"/>
                    </a:cubicBezTo>
                    <a:cubicBezTo>
                      <a:pt x="69" y="26"/>
                      <a:pt x="63" y="26"/>
                      <a:pt x="62" y="26"/>
                    </a:cubicBezTo>
                    <a:cubicBezTo>
                      <a:pt x="61" y="26"/>
                      <a:pt x="57" y="27"/>
                      <a:pt x="55" y="26"/>
                    </a:cubicBezTo>
                    <a:cubicBezTo>
                      <a:pt x="54" y="26"/>
                      <a:pt x="53" y="26"/>
                      <a:pt x="52" y="2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67" name="Freeform 677">
                <a:extLst>
                  <a:ext uri="{FF2B5EF4-FFF2-40B4-BE49-F238E27FC236}">
                    <a16:creationId xmlns:a16="http://schemas.microsoft.com/office/drawing/2014/main" id="{4DB6BDD6-EFD4-4E16-AAF7-27526FFCBDD2}"/>
                  </a:ext>
                </a:extLst>
              </p:cNvPr>
              <p:cNvSpPr>
                <a:spLocks/>
              </p:cNvSpPr>
              <p:nvPr/>
            </p:nvSpPr>
            <p:spPr bwMode="auto">
              <a:xfrm>
                <a:off x="4653" y="1684"/>
                <a:ext cx="353" cy="203"/>
              </a:xfrm>
              <a:custGeom>
                <a:avLst/>
                <a:gdLst>
                  <a:gd name="T0" fmla="*/ 231 w 255"/>
                  <a:gd name="T1" fmla="*/ 95 h 148"/>
                  <a:gd name="T2" fmla="*/ 241 w 255"/>
                  <a:gd name="T3" fmla="*/ 91 h 148"/>
                  <a:gd name="T4" fmla="*/ 244 w 255"/>
                  <a:gd name="T5" fmla="*/ 89 h 148"/>
                  <a:gd name="T6" fmla="*/ 254 w 255"/>
                  <a:gd name="T7" fmla="*/ 86 h 148"/>
                  <a:gd name="T8" fmla="*/ 243 w 255"/>
                  <a:gd name="T9" fmla="*/ 81 h 148"/>
                  <a:gd name="T10" fmla="*/ 240 w 255"/>
                  <a:gd name="T11" fmla="*/ 78 h 148"/>
                  <a:gd name="T12" fmla="*/ 232 w 255"/>
                  <a:gd name="T13" fmla="*/ 73 h 148"/>
                  <a:gd name="T14" fmla="*/ 229 w 255"/>
                  <a:gd name="T15" fmla="*/ 76 h 148"/>
                  <a:gd name="T16" fmla="*/ 218 w 255"/>
                  <a:gd name="T17" fmla="*/ 74 h 148"/>
                  <a:gd name="T18" fmla="*/ 211 w 255"/>
                  <a:gd name="T19" fmla="*/ 71 h 148"/>
                  <a:gd name="T20" fmla="*/ 222 w 255"/>
                  <a:gd name="T21" fmla="*/ 59 h 148"/>
                  <a:gd name="T22" fmla="*/ 194 w 255"/>
                  <a:gd name="T23" fmla="*/ 77 h 148"/>
                  <a:gd name="T24" fmla="*/ 188 w 255"/>
                  <a:gd name="T25" fmla="*/ 83 h 148"/>
                  <a:gd name="T26" fmla="*/ 183 w 255"/>
                  <a:gd name="T27" fmla="*/ 88 h 148"/>
                  <a:gd name="T28" fmla="*/ 180 w 255"/>
                  <a:gd name="T29" fmla="*/ 82 h 148"/>
                  <a:gd name="T30" fmla="*/ 160 w 255"/>
                  <a:gd name="T31" fmla="*/ 79 h 148"/>
                  <a:gd name="T32" fmla="*/ 149 w 255"/>
                  <a:gd name="T33" fmla="*/ 62 h 148"/>
                  <a:gd name="T34" fmla="*/ 144 w 255"/>
                  <a:gd name="T35" fmla="*/ 43 h 148"/>
                  <a:gd name="T36" fmla="*/ 128 w 255"/>
                  <a:gd name="T37" fmla="*/ 35 h 148"/>
                  <a:gd name="T38" fmla="*/ 89 w 255"/>
                  <a:gd name="T39" fmla="*/ 37 h 148"/>
                  <a:gd name="T40" fmla="*/ 61 w 255"/>
                  <a:gd name="T41" fmla="*/ 22 h 148"/>
                  <a:gd name="T42" fmla="*/ 53 w 255"/>
                  <a:gd name="T43" fmla="*/ 26 h 148"/>
                  <a:gd name="T44" fmla="*/ 41 w 255"/>
                  <a:gd name="T45" fmla="*/ 5 h 148"/>
                  <a:gd name="T46" fmla="*/ 42 w 255"/>
                  <a:gd name="T47" fmla="*/ 14 h 148"/>
                  <a:gd name="T48" fmla="*/ 36 w 255"/>
                  <a:gd name="T49" fmla="*/ 21 h 148"/>
                  <a:gd name="T50" fmla="*/ 37 w 255"/>
                  <a:gd name="T51" fmla="*/ 4 h 148"/>
                  <a:gd name="T52" fmla="*/ 5 w 255"/>
                  <a:gd name="T53" fmla="*/ 8 h 148"/>
                  <a:gd name="T54" fmla="*/ 10 w 255"/>
                  <a:gd name="T55" fmla="*/ 76 h 148"/>
                  <a:gd name="T56" fmla="*/ 18 w 255"/>
                  <a:gd name="T57" fmla="*/ 64 h 148"/>
                  <a:gd name="T58" fmla="*/ 32 w 255"/>
                  <a:gd name="T59" fmla="*/ 56 h 148"/>
                  <a:gd name="T60" fmla="*/ 39 w 255"/>
                  <a:gd name="T61" fmla="*/ 50 h 148"/>
                  <a:gd name="T62" fmla="*/ 50 w 255"/>
                  <a:gd name="T63" fmla="*/ 58 h 148"/>
                  <a:gd name="T64" fmla="*/ 60 w 255"/>
                  <a:gd name="T65" fmla="*/ 63 h 148"/>
                  <a:gd name="T66" fmla="*/ 61 w 255"/>
                  <a:gd name="T67" fmla="*/ 69 h 148"/>
                  <a:gd name="T68" fmla="*/ 66 w 255"/>
                  <a:gd name="T69" fmla="*/ 78 h 148"/>
                  <a:gd name="T70" fmla="*/ 81 w 255"/>
                  <a:gd name="T71" fmla="*/ 77 h 148"/>
                  <a:gd name="T72" fmla="*/ 94 w 255"/>
                  <a:gd name="T73" fmla="*/ 93 h 148"/>
                  <a:gd name="T74" fmla="*/ 124 w 255"/>
                  <a:gd name="T75" fmla="*/ 117 h 148"/>
                  <a:gd name="T76" fmla="*/ 147 w 255"/>
                  <a:gd name="T77" fmla="*/ 130 h 148"/>
                  <a:gd name="T78" fmla="*/ 157 w 255"/>
                  <a:gd name="T79" fmla="*/ 144 h 148"/>
                  <a:gd name="T80" fmla="*/ 167 w 255"/>
                  <a:gd name="T81" fmla="*/ 148 h 148"/>
                  <a:gd name="T82" fmla="*/ 176 w 255"/>
                  <a:gd name="T83" fmla="*/ 143 h 148"/>
                  <a:gd name="T84" fmla="*/ 180 w 255"/>
                  <a:gd name="T85" fmla="*/ 126 h 148"/>
                  <a:gd name="T86" fmla="*/ 174 w 255"/>
                  <a:gd name="T87" fmla="*/ 117 h 148"/>
                  <a:gd name="T88" fmla="*/ 171 w 255"/>
                  <a:gd name="T89" fmla="*/ 108 h 148"/>
                  <a:gd name="T90" fmla="*/ 187 w 255"/>
                  <a:gd name="T91" fmla="*/ 107 h 148"/>
                  <a:gd name="T92" fmla="*/ 191 w 255"/>
                  <a:gd name="T93" fmla="*/ 100 h 148"/>
                  <a:gd name="T94" fmla="*/ 188 w 255"/>
                  <a:gd name="T95" fmla="*/ 97 h 148"/>
                  <a:gd name="T96" fmla="*/ 197 w 255"/>
                  <a:gd name="T97" fmla="*/ 95 h 148"/>
                  <a:gd name="T98" fmla="*/ 207 w 255"/>
                  <a:gd name="T99" fmla="*/ 87 h 148"/>
                  <a:gd name="T100" fmla="*/ 219 w 255"/>
                  <a:gd name="T101" fmla="*/ 87 h 148"/>
                  <a:gd name="T102" fmla="*/ 222 w 255"/>
                  <a:gd name="T103" fmla="*/ 9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5" h="148">
                    <a:moveTo>
                      <a:pt x="222" y="95"/>
                    </a:moveTo>
                    <a:cubicBezTo>
                      <a:pt x="223" y="95"/>
                      <a:pt x="223" y="95"/>
                      <a:pt x="223" y="95"/>
                    </a:cubicBezTo>
                    <a:cubicBezTo>
                      <a:pt x="224" y="94"/>
                      <a:pt x="225" y="95"/>
                      <a:pt x="225" y="95"/>
                    </a:cubicBezTo>
                    <a:cubicBezTo>
                      <a:pt x="226" y="94"/>
                      <a:pt x="228" y="94"/>
                      <a:pt x="229" y="94"/>
                    </a:cubicBezTo>
                    <a:cubicBezTo>
                      <a:pt x="229" y="95"/>
                      <a:pt x="230" y="95"/>
                      <a:pt x="231" y="95"/>
                    </a:cubicBezTo>
                    <a:cubicBezTo>
                      <a:pt x="231" y="95"/>
                      <a:pt x="232" y="97"/>
                      <a:pt x="234" y="96"/>
                    </a:cubicBezTo>
                    <a:cubicBezTo>
                      <a:pt x="235" y="96"/>
                      <a:pt x="238" y="95"/>
                      <a:pt x="238" y="95"/>
                    </a:cubicBezTo>
                    <a:cubicBezTo>
                      <a:pt x="238" y="95"/>
                      <a:pt x="239" y="95"/>
                      <a:pt x="239" y="94"/>
                    </a:cubicBezTo>
                    <a:cubicBezTo>
                      <a:pt x="239" y="94"/>
                      <a:pt x="239" y="93"/>
                      <a:pt x="239" y="93"/>
                    </a:cubicBezTo>
                    <a:cubicBezTo>
                      <a:pt x="240" y="92"/>
                      <a:pt x="241" y="91"/>
                      <a:pt x="241" y="91"/>
                    </a:cubicBezTo>
                    <a:cubicBezTo>
                      <a:pt x="241" y="91"/>
                      <a:pt x="241" y="91"/>
                      <a:pt x="242" y="92"/>
                    </a:cubicBezTo>
                    <a:cubicBezTo>
                      <a:pt x="242" y="92"/>
                      <a:pt x="243" y="93"/>
                      <a:pt x="243" y="93"/>
                    </a:cubicBezTo>
                    <a:cubicBezTo>
                      <a:pt x="243" y="93"/>
                      <a:pt x="244" y="93"/>
                      <a:pt x="244" y="92"/>
                    </a:cubicBezTo>
                    <a:cubicBezTo>
                      <a:pt x="244" y="91"/>
                      <a:pt x="243" y="89"/>
                      <a:pt x="243" y="89"/>
                    </a:cubicBezTo>
                    <a:cubicBezTo>
                      <a:pt x="243" y="89"/>
                      <a:pt x="243" y="88"/>
                      <a:pt x="244" y="89"/>
                    </a:cubicBezTo>
                    <a:cubicBezTo>
                      <a:pt x="244" y="89"/>
                      <a:pt x="246" y="90"/>
                      <a:pt x="246" y="90"/>
                    </a:cubicBezTo>
                    <a:cubicBezTo>
                      <a:pt x="247" y="90"/>
                      <a:pt x="247" y="91"/>
                      <a:pt x="248" y="90"/>
                    </a:cubicBezTo>
                    <a:cubicBezTo>
                      <a:pt x="248" y="90"/>
                      <a:pt x="249" y="89"/>
                      <a:pt x="250" y="88"/>
                    </a:cubicBezTo>
                    <a:cubicBezTo>
                      <a:pt x="250" y="87"/>
                      <a:pt x="250" y="87"/>
                      <a:pt x="251" y="87"/>
                    </a:cubicBezTo>
                    <a:cubicBezTo>
                      <a:pt x="251" y="87"/>
                      <a:pt x="254" y="86"/>
                      <a:pt x="254" y="86"/>
                    </a:cubicBezTo>
                    <a:cubicBezTo>
                      <a:pt x="254" y="86"/>
                      <a:pt x="255" y="85"/>
                      <a:pt x="255" y="85"/>
                    </a:cubicBezTo>
                    <a:cubicBezTo>
                      <a:pt x="254" y="85"/>
                      <a:pt x="247" y="84"/>
                      <a:pt x="247" y="84"/>
                    </a:cubicBezTo>
                    <a:cubicBezTo>
                      <a:pt x="247" y="84"/>
                      <a:pt x="247" y="84"/>
                      <a:pt x="247" y="83"/>
                    </a:cubicBezTo>
                    <a:cubicBezTo>
                      <a:pt x="247" y="83"/>
                      <a:pt x="246" y="82"/>
                      <a:pt x="245" y="82"/>
                    </a:cubicBezTo>
                    <a:cubicBezTo>
                      <a:pt x="245" y="82"/>
                      <a:pt x="243" y="81"/>
                      <a:pt x="243" y="81"/>
                    </a:cubicBezTo>
                    <a:cubicBezTo>
                      <a:pt x="243" y="81"/>
                      <a:pt x="242" y="81"/>
                      <a:pt x="242" y="81"/>
                    </a:cubicBezTo>
                    <a:cubicBezTo>
                      <a:pt x="242" y="82"/>
                      <a:pt x="241" y="82"/>
                      <a:pt x="241" y="82"/>
                    </a:cubicBezTo>
                    <a:cubicBezTo>
                      <a:pt x="241" y="82"/>
                      <a:pt x="241" y="82"/>
                      <a:pt x="241" y="81"/>
                    </a:cubicBezTo>
                    <a:cubicBezTo>
                      <a:pt x="241" y="80"/>
                      <a:pt x="240" y="78"/>
                      <a:pt x="240" y="78"/>
                    </a:cubicBezTo>
                    <a:cubicBezTo>
                      <a:pt x="240" y="78"/>
                      <a:pt x="240" y="78"/>
                      <a:pt x="240" y="78"/>
                    </a:cubicBezTo>
                    <a:cubicBezTo>
                      <a:pt x="239" y="78"/>
                      <a:pt x="238" y="78"/>
                      <a:pt x="238" y="78"/>
                    </a:cubicBezTo>
                    <a:cubicBezTo>
                      <a:pt x="238" y="78"/>
                      <a:pt x="237" y="78"/>
                      <a:pt x="237" y="78"/>
                    </a:cubicBezTo>
                    <a:cubicBezTo>
                      <a:pt x="237" y="78"/>
                      <a:pt x="234" y="74"/>
                      <a:pt x="234" y="74"/>
                    </a:cubicBezTo>
                    <a:cubicBezTo>
                      <a:pt x="234" y="74"/>
                      <a:pt x="234" y="74"/>
                      <a:pt x="233" y="74"/>
                    </a:cubicBezTo>
                    <a:cubicBezTo>
                      <a:pt x="233" y="74"/>
                      <a:pt x="232" y="73"/>
                      <a:pt x="232" y="73"/>
                    </a:cubicBezTo>
                    <a:cubicBezTo>
                      <a:pt x="232" y="73"/>
                      <a:pt x="232" y="73"/>
                      <a:pt x="232" y="74"/>
                    </a:cubicBezTo>
                    <a:cubicBezTo>
                      <a:pt x="232" y="74"/>
                      <a:pt x="232" y="76"/>
                      <a:pt x="232" y="76"/>
                    </a:cubicBezTo>
                    <a:cubicBezTo>
                      <a:pt x="232" y="76"/>
                      <a:pt x="232" y="76"/>
                      <a:pt x="231" y="76"/>
                    </a:cubicBezTo>
                    <a:cubicBezTo>
                      <a:pt x="231" y="76"/>
                      <a:pt x="230" y="76"/>
                      <a:pt x="230" y="76"/>
                    </a:cubicBezTo>
                    <a:cubicBezTo>
                      <a:pt x="230" y="76"/>
                      <a:pt x="230" y="76"/>
                      <a:pt x="229" y="76"/>
                    </a:cubicBezTo>
                    <a:cubicBezTo>
                      <a:pt x="229" y="77"/>
                      <a:pt x="229" y="79"/>
                      <a:pt x="229" y="79"/>
                    </a:cubicBezTo>
                    <a:cubicBezTo>
                      <a:pt x="229" y="79"/>
                      <a:pt x="229" y="80"/>
                      <a:pt x="229" y="79"/>
                    </a:cubicBezTo>
                    <a:cubicBezTo>
                      <a:pt x="228" y="79"/>
                      <a:pt x="222" y="78"/>
                      <a:pt x="221" y="78"/>
                    </a:cubicBezTo>
                    <a:cubicBezTo>
                      <a:pt x="221" y="78"/>
                      <a:pt x="219" y="78"/>
                      <a:pt x="219" y="76"/>
                    </a:cubicBezTo>
                    <a:cubicBezTo>
                      <a:pt x="218" y="74"/>
                      <a:pt x="218" y="74"/>
                      <a:pt x="218" y="74"/>
                    </a:cubicBezTo>
                    <a:cubicBezTo>
                      <a:pt x="218" y="74"/>
                      <a:pt x="218" y="73"/>
                      <a:pt x="218" y="74"/>
                    </a:cubicBezTo>
                    <a:cubicBezTo>
                      <a:pt x="217" y="74"/>
                      <a:pt x="216" y="74"/>
                      <a:pt x="216" y="74"/>
                    </a:cubicBezTo>
                    <a:cubicBezTo>
                      <a:pt x="216" y="74"/>
                      <a:pt x="215" y="75"/>
                      <a:pt x="215" y="74"/>
                    </a:cubicBezTo>
                    <a:cubicBezTo>
                      <a:pt x="215" y="74"/>
                      <a:pt x="213" y="73"/>
                      <a:pt x="212" y="73"/>
                    </a:cubicBezTo>
                    <a:cubicBezTo>
                      <a:pt x="211" y="73"/>
                      <a:pt x="210" y="72"/>
                      <a:pt x="211" y="71"/>
                    </a:cubicBezTo>
                    <a:cubicBezTo>
                      <a:pt x="212" y="70"/>
                      <a:pt x="214" y="69"/>
                      <a:pt x="216" y="68"/>
                    </a:cubicBezTo>
                    <a:cubicBezTo>
                      <a:pt x="218" y="67"/>
                      <a:pt x="221" y="65"/>
                      <a:pt x="221" y="64"/>
                    </a:cubicBezTo>
                    <a:cubicBezTo>
                      <a:pt x="222" y="64"/>
                      <a:pt x="227" y="61"/>
                      <a:pt x="227" y="61"/>
                    </a:cubicBezTo>
                    <a:cubicBezTo>
                      <a:pt x="227" y="61"/>
                      <a:pt x="227" y="60"/>
                      <a:pt x="226" y="60"/>
                    </a:cubicBezTo>
                    <a:cubicBezTo>
                      <a:pt x="225" y="60"/>
                      <a:pt x="223" y="60"/>
                      <a:pt x="222" y="59"/>
                    </a:cubicBezTo>
                    <a:cubicBezTo>
                      <a:pt x="221" y="60"/>
                      <a:pt x="217" y="62"/>
                      <a:pt x="217" y="63"/>
                    </a:cubicBezTo>
                    <a:cubicBezTo>
                      <a:pt x="215" y="64"/>
                      <a:pt x="204" y="70"/>
                      <a:pt x="203" y="70"/>
                    </a:cubicBezTo>
                    <a:cubicBezTo>
                      <a:pt x="203" y="71"/>
                      <a:pt x="199" y="74"/>
                      <a:pt x="198" y="74"/>
                    </a:cubicBezTo>
                    <a:cubicBezTo>
                      <a:pt x="197" y="75"/>
                      <a:pt x="195" y="76"/>
                      <a:pt x="195" y="76"/>
                    </a:cubicBezTo>
                    <a:cubicBezTo>
                      <a:pt x="194" y="77"/>
                      <a:pt x="194" y="77"/>
                      <a:pt x="194" y="77"/>
                    </a:cubicBezTo>
                    <a:cubicBezTo>
                      <a:pt x="194" y="77"/>
                      <a:pt x="194" y="78"/>
                      <a:pt x="194" y="78"/>
                    </a:cubicBezTo>
                    <a:cubicBezTo>
                      <a:pt x="194" y="78"/>
                      <a:pt x="194" y="79"/>
                      <a:pt x="194" y="79"/>
                    </a:cubicBezTo>
                    <a:cubicBezTo>
                      <a:pt x="194" y="79"/>
                      <a:pt x="193" y="79"/>
                      <a:pt x="192" y="79"/>
                    </a:cubicBezTo>
                    <a:cubicBezTo>
                      <a:pt x="191" y="80"/>
                      <a:pt x="189" y="82"/>
                      <a:pt x="188" y="82"/>
                    </a:cubicBezTo>
                    <a:cubicBezTo>
                      <a:pt x="188" y="83"/>
                      <a:pt x="188" y="83"/>
                      <a:pt x="188" y="83"/>
                    </a:cubicBezTo>
                    <a:cubicBezTo>
                      <a:pt x="188" y="83"/>
                      <a:pt x="188" y="87"/>
                      <a:pt x="188" y="88"/>
                    </a:cubicBezTo>
                    <a:cubicBezTo>
                      <a:pt x="188" y="89"/>
                      <a:pt x="188" y="89"/>
                      <a:pt x="188" y="89"/>
                    </a:cubicBezTo>
                    <a:cubicBezTo>
                      <a:pt x="188" y="89"/>
                      <a:pt x="187" y="89"/>
                      <a:pt x="187" y="89"/>
                    </a:cubicBezTo>
                    <a:cubicBezTo>
                      <a:pt x="186" y="89"/>
                      <a:pt x="186" y="89"/>
                      <a:pt x="186" y="89"/>
                    </a:cubicBezTo>
                    <a:cubicBezTo>
                      <a:pt x="186" y="89"/>
                      <a:pt x="184" y="88"/>
                      <a:pt x="183" y="88"/>
                    </a:cubicBezTo>
                    <a:cubicBezTo>
                      <a:pt x="183" y="88"/>
                      <a:pt x="182" y="87"/>
                      <a:pt x="182" y="87"/>
                    </a:cubicBezTo>
                    <a:cubicBezTo>
                      <a:pt x="182" y="87"/>
                      <a:pt x="179" y="86"/>
                      <a:pt x="179" y="85"/>
                    </a:cubicBezTo>
                    <a:cubicBezTo>
                      <a:pt x="178" y="85"/>
                      <a:pt x="179" y="85"/>
                      <a:pt x="179" y="85"/>
                    </a:cubicBezTo>
                    <a:cubicBezTo>
                      <a:pt x="179" y="85"/>
                      <a:pt x="179" y="85"/>
                      <a:pt x="180" y="84"/>
                    </a:cubicBezTo>
                    <a:cubicBezTo>
                      <a:pt x="180" y="84"/>
                      <a:pt x="180" y="83"/>
                      <a:pt x="180" y="82"/>
                    </a:cubicBezTo>
                    <a:cubicBezTo>
                      <a:pt x="180" y="82"/>
                      <a:pt x="180" y="82"/>
                      <a:pt x="180" y="81"/>
                    </a:cubicBezTo>
                    <a:cubicBezTo>
                      <a:pt x="181" y="81"/>
                      <a:pt x="180" y="81"/>
                      <a:pt x="179" y="81"/>
                    </a:cubicBezTo>
                    <a:cubicBezTo>
                      <a:pt x="179" y="80"/>
                      <a:pt x="178" y="80"/>
                      <a:pt x="178" y="79"/>
                    </a:cubicBezTo>
                    <a:cubicBezTo>
                      <a:pt x="177" y="78"/>
                      <a:pt x="173" y="78"/>
                      <a:pt x="171" y="79"/>
                    </a:cubicBezTo>
                    <a:cubicBezTo>
                      <a:pt x="169" y="79"/>
                      <a:pt x="161" y="79"/>
                      <a:pt x="160" y="79"/>
                    </a:cubicBezTo>
                    <a:cubicBezTo>
                      <a:pt x="160" y="79"/>
                      <a:pt x="160" y="78"/>
                      <a:pt x="160" y="78"/>
                    </a:cubicBezTo>
                    <a:cubicBezTo>
                      <a:pt x="160" y="78"/>
                      <a:pt x="158" y="74"/>
                      <a:pt x="158" y="72"/>
                    </a:cubicBezTo>
                    <a:cubicBezTo>
                      <a:pt x="157" y="70"/>
                      <a:pt x="157" y="67"/>
                      <a:pt x="156" y="65"/>
                    </a:cubicBezTo>
                    <a:cubicBezTo>
                      <a:pt x="156" y="63"/>
                      <a:pt x="155" y="64"/>
                      <a:pt x="152" y="64"/>
                    </a:cubicBezTo>
                    <a:cubicBezTo>
                      <a:pt x="149" y="65"/>
                      <a:pt x="149" y="63"/>
                      <a:pt x="149" y="62"/>
                    </a:cubicBezTo>
                    <a:cubicBezTo>
                      <a:pt x="149" y="61"/>
                      <a:pt x="149" y="57"/>
                      <a:pt x="150" y="54"/>
                    </a:cubicBezTo>
                    <a:cubicBezTo>
                      <a:pt x="151" y="52"/>
                      <a:pt x="150" y="48"/>
                      <a:pt x="150" y="47"/>
                    </a:cubicBezTo>
                    <a:cubicBezTo>
                      <a:pt x="150" y="47"/>
                      <a:pt x="150" y="46"/>
                      <a:pt x="150" y="47"/>
                    </a:cubicBezTo>
                    <a:cubicBezTo>
                      <a:pt x="149" y="47"/>
                      <a:pt x="148" y="47"/>
                      <a:pt x="147" y="47"/>
                    </a:cubicBezTo>
                    <a:cubicBezTo>
                      <a:pt x="147" y="47"/>
                      <a:pt x="144" y="44"/>
                      <a:pt x="144" y="43"/>
                    </a:cubicBezTo>
                    <a:cubicBezTo>
                      <a:pt x="144" y="43"/>
                      <a:pt x="141" y="41"/>
                      <a:pt x="141" y="40"/>
                    </a:cubicBezTo>
                    <a:cubicBezTo>
                      <a:pt x="140" y="40"/>
                      <a:pt x="139" y="39"/>
                      <a:pt x="138" y="38"/>
                    </a:cubicBezTo>
                    <a:cubicBezTo>
                      <a:pt x="138" y="37"/>
                      <a:pt x="135" y="35"/>
                      <a:pt x="134" y="34"/>
                    </a:cubicBezTo>
                    <a:cubicBezTo>
                      <a:pt x="133" y="33"/>
                      <a:pt x="132" y="33"/>
                      <a:pt x="132" y="33"/>
                    </a:cubicBezTo>
                    <a:cubicBezTo>
                      <a:pt x="132" y="33"/>
                      <a:pt x="128" y="35"/>
                      <a:pt x="128" y="35"/>
                    </a:cubicBezTo>
                    <a:cubicBezTo>
                      <a:pt x="127" y="36"/>
                      <a:pt x="127" y="36"/>
                      <a:pt x="127" y="36"/>
                    </a:cubicBezTo>
                    <a:cubicBezTo>
                      <a:pt x="127" y="36"/>
                      <a:pt x="112" y="35"/>
                      <a:pt x="109" y="35"/>
                    </a:cubicBezTo>
                    <a:cubicBezTo>
                      <a:pt x="107" y="35"/>
                      <a:pt x="104" y="35"/>
                      <a:pt x="104" y="35"/>
                    </a:cubicBezTo>
                    <a:cubicBezTo>
                      <a:pt x="104" y="35"/>
                      <a:pt x="91" y="37"/>
                      <a:pt x="90" y="37"/>
                    </a:cubicBezTo>
                    <a:cubicBezTo>
                      <a:pt x="89" y="38"/>
                      <a:pt x="89" y="37"/>
                      <a:pt x="89" y="37"/>
                    </a:cubicBezTo>
                    <a:cubicBezTo>
                      <a:pt x="89" y="37"/>
                      <a:pt x="79" y="27"/>
                      <a:pt x="78" y="26"/>
                    </a:cubicBezTo>
                    <a:cubicBezTo>
                      <a:pt x="78" y="26"/>
                      <a:pt x="77" y="24"/>
                      <a:pt x="77" y="24"/>
                    </a:cubicBezTo>
                    <a:cubicBezTo>
                      <a:pt x="77" y="22"/>
                      <a:pt x="74" y="20"/>
                      <a:pt x="74" y="20"/>
                    </a:cubicBezTo>
                    <a:cubicBezTo>
                      <a:pt x="62" y="13"/>
                      <a:pt x="62" y="13"/>
                      <a:pt x="62" y="13"/>
                    </a:cubicBezTo>
                    <a:cubicBezTo>
                      <a:pt x="62" y="15"/>
                      <a:pt x="62" y="19"/>
                      <a:pt x="61" y="22"/>
                    </a:cubicBezTo>
                    <a:cubicBezTo>
                      <a:pt x="60" y="25"/>
                      <a:pt x="60" y="24"/>
                      <a:pt x="59" y="25"/>
                    </a:cubicBezTo>
                    <a:cubicBezTo>
                      <a:pt x="58" y="25"/>
                      <a:pt x="57" y="25"/>
                      <a:pt x="58" y="26"/>
                    </a:cubicBezTo>
                    <a:cubicBezTo>
                      <a:pt x="58" y="26"/>
                      <a:pt x="59" y="28"/>
                      <a:pt x="58" y="27"/>
                    </a:cubicBezTo>
                    <a:cubicBezTo>
                      <a:pt x="56" y="26"/>
                      <a:pt x="57" y="26"/>
                      <a:pt x="56" y="26"/>
                    </a:cubicBezTo>
                    <a:cubicBezTo>
                      <a:pt x="55" y="27"/>
                      <a:pt x="53" y="28"/>
                      <a:pt x="53" y="26"/>
                    </a:cubicBezTo>
                    <a:cubicBezTo>
                      <a:pt x="52" y="25"/>
                      <a:pt x="52" y="24"/>
                      <a:pt x="51" y="24"/>
                    </a:cubicBezTo>
                    <a:cubicBezTo>
                      <a:pt x="50" y="23"/>
                      <a:pt x="46" y="20"/>
                      <a:pt x="48" y="14"/>
                    </a:cubicBezTo>
                    <a:cubicBezTo>
                      <a:pt x="50" y="11"/>
                      <a:pt x="51" y="9"/>
                      <a:pt x="52" y="7"/>
                    </a:cubicBezTo>
                    <a:cubicBezTo>
                      <a:pt x="42" y="1"/>
                      <a:pt x="42" y="1"/>
                      <a:pt x="42" y="1"/>
                    </a:cubicBezTo>
                    <a:cubicBezTo>
                      <a:pt x="41" y="3"/>
                      <a:pt x="40" y="4"/>
                      <a:pt x="41" y="5"/>
                    </a:cubicBezTo>
                    <a:cubicBezTo>
                      <a:pt x="42" y="8"/>
                      <a:pt x="42" y="7"/>
                      <a:pt x="41" y="8"/>
                    </a:cubicBezTo>
                    <a:cubicBezTo>
                      <a:pt x="40" y="9"/>
                      <a:pt x="39" y="11"/>
                      <a:pt x="40" y="11"/>
                    </a:cubicBezTo>
                    <a:cubicBezTo>
                      <a:pt x="40" y="11"/>
                      <a:pt x="42" y="10"/>
                      <a:pt x="42" y="10"/>
                    </a:cubicBezTo>
                    <a:cubicBezTo>
                      <a:pt x="42" y="11"/>
                      <a:pt x="41" y="12"/>
                      <a:pt x="41" y="12"/>
                    </a:cubicBezTo>
                    <a:cubicBezTo>
                      <a:pt x="41" y="13"/>
                      <a:pt x="41" y="14"/>
                      <a:pt x="42" y="14"/>
                    </a:cubicBezTo>
                    <a:cubicBezTo>
                      <a:pt x="42" y="15"/>
                      <a:pt x="43" y="16"/>
                      <a:pt x="41" y="16"/>
                    </a:cubicBezTo>
                    <a:cubicBezTo>
                      <a:pt x="40" y="15"/>
                      <a:pt x="39" y="14"/>
                      <a:pt x="39" y="15"/>
                    </a:cubicBezTo>
                    <a:cubicBezTo>
                      <a:pt x="39" y="15"/>
                      <a:pt x="39" y="16"/>
                      <a:pt x="39" y="16"/>
                    </a:cubicBezTo>
                    <a:cubicBezTo>
                      <a:pt x="40" y="16"/>
                      <a:pt x="40" y="17"/>
                      <a:pt x="40" y="18"/>
                    </a:cubicBezTo>
                    <a:cubicBezTo>
                      <a:pt x="39" y="18"/>
                      <a:pt x="38" y="20"/>
                      <a:pt x="36" y="21"/>
                    </a:cubicBezTo>
                    <a:cubicBezTo>
                      <a:pt x="34" y="21"/>
                      <a:pt x="33" y="21"/>
                      <a:pt x="34" y="19"/>
                    </a:cubicBezTo>
                    <a:cubicBezTo>
                      <a:pt x="35" y="17"/>
                      <a:pt x="35" y="17"/>
                      <a:pt x="34" y="15"/>
                    </a:cubicBezTo>
                    <a:cubicBezTo>
                      <a:pt x="34" y="15"/>
                      <a:pt x="33" y="13"/>
                      <a:pt x="34" y="11"/>
                    </a:cubicBezTo>
                    <a:cubicBezTo>
                      <a:pt x="35" y="9"/>
                      <a:pt x="35" y="9"/>
                      <a:pt x="35" y="8"/>
                    </a:cubicBezTo>
                    <a:cubicBezTo>
                      <a:pt x="36" y="6"/>
                      <a:pt x="36" y="5"/>
                      <a:pt x="37" y="4"/>
                    </a:cubicBezTo>
                    <a:cubicBezTo>
                      <a:pt x="37" y="4"/>
                      <a:pt x="38" y="3"/>
                      <a:pt x="39" y="2"/>
                    </a:cubicBezTo>
                    <a:cubicBezTo>
                      <a:pt x="39" y="1"/>
                      <a:pt x="39" y="1"/>
                      <a:pt x="39" y="0"/>
                    </a:cubicBezTo>
                    <a:cubicBezTo>
                      <a:pt x="39" y="0"/>
                      <a:pt x="38" y="0"/>
                      <a:pt x="38" y="0"/>
                    </a:cubicBezTo>
                    <a:cubicBezTo>
                      <a:pt x="38" y="0"/>
                      <a:pt x="37" y="0"/>
                      <a:pt x="37" y="0"/>
                    </a:cubicBezTo>
                    <a:cubicBezTo>
                      <a:pt x="37" y="0"/>
                      <a:pt x="6" y="8"/>
                      <a:pt x="5" y="8"/>
                    </a:cubicBezTo>
                    <a:cubicBezTo>
                      <a:pt x="4" y="9"/>
                      <a:pt x="3" y="9"/>
                      <a:pt x="1" y="10"/>
                    </a:cubicBezTo>
                    <a:cubicBezTo>
                      <a:pt x="0" y="10"/>
                      <a:pt x="0" y="12"/>
                      <a:pt x="0" y="12"/>
                    </a:cubicBezTo>
                    <a:cubicBezTo>
                      <a:pt x="0" y="76"/>
                      <a:pt x="0" y="76"/>
                      <a:pt x="0" y="76"/>
                    </a:cubicBezTo>
                    <a:cubicBezTo>
                      <a:pt x="1" y="76"/>
                      <a:pt x="2" y="76"/>
                      <a:pt x="3" y="76"/>
                    </a:cubicBezTo>
                    <a:cubicBezTo>
                      <a:pt x="5" y="77"/>
                      <a:pt x="9" y="76"/>
                      <a:pt x="10" y="76"/>
                    </a:cubicBezTo>
                    <a:cubicBezTo>
                      <a:pt x="11" y="76"/>
                      <a:pt x="17" y="76"/>
                      <a:pt x="17" y="76"/>
                    </a:cubicBezTo>
                    <a:cubicBezTo>
                      <a:pt x="17" y="76"/>
                      <a:pt x="18" y="75"/>
                      <a:pt x="17" y="75"/>
                    </a:cubicBezTo>
                    <a:cubicBezTo>
                      <a:pt x="16" y="75"/>
                      <a:pt x="16" y="74"/>
                      <a:pt x="16" y="73"/>
                    </a:cubicBezTo>
                    <a:cubicBezTo>
                      <a:pt x="15" y="72"/>
                      <a:pt x="15" y="70"/>
                      <a:pt x="15" y="68"/>
                    </a:cubicBezTo>
                    <a:cubicBezTo>
                      <a:pt x="16" y="67"/>
                      <a:pt x="18" y="64"/>
                      <a:pt x="18" y="64"/>
                    </a:cubicBezTo>
                    <a:cubicBezTo>
                      <a:pt x="18" y="64"/>
                      <a:pt x="18" y="63"/>
                      <a:pt x="19" y="63"/>
                    </a:cubicBezTo>
                    <a:cubicBezTo>
                      <a:pt x="19" y="63"/>
                      <a:pt x="26" y="62"/>
                      <a:pt x="27" y="61"/>
                    </a:cubicBezTo>
                    <a:cubicBezTo>
                      <a:pt x="28" y="60"/>
                      <a:pt x="29" y="59"/>
                      <a:pt x="29" y="58"/>
                    </a:cubicBezTo>
                    <a:cubicBezTo>
                      <a:pt x="30" y="57"/>
                      <a:pt x="31" y="54"/>
                      <a:pt x="31" y="55"/>
                    </a:cubicBezTo>
                    <a:cubicBezTo>
                      <a:pt x="32" y="56"/>
                      <a:pt x="32" y="56"/>
                      <a:pt x="32" y="56"/>
                    </a:cubicBezTo>
                    <a:cubicBezTo>
                      <a:pt x="33" y="56"/>
                      <a:pt x="35" y="56"/>
                      <a:pt x="35" y="57"/>
                    </a:cubicBezTo>
                    <a:cubicBezTo>
                      <a:pt x="36" y="58"/>
                      <a:pt x="37" y="59"/>
                      <a:pt x="37" y="58"/>
                    </a:cubicBezTo>
                    <a:cubicBezTo>
                      <a:pt x="36" y="57"/>
                      <a:pt x="35" y="55"/>
                      <a:pt x="36" y="54"/>
                    </a:cubicBezTo>
                    <a:cubicBezTo>
                      <a:pt x="36" y="53"/>
                      <a:pt x="37" y="52"/>
                      <a:pt x="38" y="51"/>
                    </a:cubicBezTo>
                    <a:cubicBezTo>
                      <a:pt x="39" y="50"/>
                      <a:pt x="39" y="50"/>
                      <a:pt x="39" y="50"/>
                    </a:cubicBezTo>
                    <a:cubicBezTo>
                      <a:pt x="40" y="51"/>
                      <a:pt x="44" y="54"/>
                      <a:pt x="44" y="54"/>
                    </a:cubicBezTo>
                    <a:cubicBezTo>
                      <a:pt x="44" y="54"/>
                      <a:pt x="45" y="55"/>
                      <a:pt x="45" y="55"/>
                    </a:cubicBezTo>
                    <a:cubicBezTo>
                      <a:pt x="45" y="55"/>
                      <a:pt x="46" y="54"/>
                      <a:pt x="46" y="54"/>
                    </a:cubicBezTo>
                    <a:cubicBezTo>
                      <a:pt x="46" y="54"/>
                      <a:pt x="47" y="54"/>
                      <a:pt x="47" y="55"/>
                    </a:cubicBezTo>
                    <a:cubicBezTo>
                      <a:pt x="47" y="55"/>
                      <a:pt x="49" y="58"/>
                      <a:pt x="50" y="58"/>
                    </a:cubicBezTo>
                    <a:cubicBezTo>
                      <a:pt x="52" y="59"/>
                      <a:pt x="53" y="59"/>
                      <a:pt x="54" y="59"/>
                    </a:cubicBezTo>
                    <a:cubicBezTo>
                      <a:pt x="55" y="59"/>
                      <a:pt x="55" y="59"/>
                      <a:pt x="56" y="59"/>
                    </a:cubicBezTo>
                    <a:cubicBezTo>
                      <a:pt x="56" y="59"/>
                      <a:pt x="60" y="61"/>
                      <a:pt x="60" y="61"/>
                    </a:cubicBezTo>
                    <a:cubicBezTo>
                      <a:pt x="60" y="61"/>
                      <a:pt x="60" y="61"/>
                      <a:pt x="60" y="61"/>
                    </a:cubicBezTo>
                    <a:cubicBezTo>
                      <a:pt x="59" y="62"/>
                      <a:pt x="60" y="62"/>
                      <a:pt x="60" y="63"/>
                    </a:cubicBezTo>
                    <a:cubicBezTo>
                      <a:pt x="60" y="64"/>
                      <a:pt x="60" y="64"/>
                      <a:pt x="59" y="64"/>
                    </a:cubicBezTo>
                    <a:cubicBezTo>
                      <a:pt x="58" y="65"/>
                      <a:pt x="59" y="65"/>
                      <a:pt x="59" y="65"/>
                    </a:cubicBezTo>
                    <a:cubicBezTo>
                      <a:pt x="60" y="65"/>
                      <a:pt x="62" y="66"/>
                      <a:pt x="62" y="67"/>
                    </a:cubicBezTo>
                    <a:cubicBezTo>
                      <a:pt x="63" y="67"/>
                      <a:pt x="64" y="68"/>
                      <a:pt x="63" y="68"/>
                    </a:cubicBezTo>
                    <a:cubicBezTo>
                      <a:pt x="62" y="69"/>
                      <a:pt x="61" y="69"/>
                      <a:pt x="61" y="69"/>
                    </a:cubicBezTo>
                    <a:cubicBezTo>
                      <a:pt x="61" y="69"/>
                      <a:pt x="61" y="69"/>
                      <a:pt x="61" y="70"/>
                    </a:cubicBezTo>
                    <a:cubicBezTo>
                      <a:pt x="62" y="70"/>
                      <a:pt x="62" y="71"/>
                      <a:pt x="62" y="71"/>
                    </a:cubicBezTo>
                    <a:cubicBezTo>
                      <a:pt x="62" y="72"/>
                      <a:pt x="60" y="74"/>
                      <a:pt x="62" y="75"/>
                    </a:cubicBezTo>
                    <a:cubicBezTo>
                      <a:pt x="63" y="76"/>
                      <a:pt x="64" y="76"/>
                      <a:pt x="64" y="77"/>
                    </a:cubicBezTo>
                    <a:cubicBezTo>
                      <a:pt x="65" y="77"/>
                      <a:pt x="66" y="78"/>
                      <a:pt x="66" y="78"/>
                    </a:cubicBezTo>
                    <a:cubicBezTo>
                      <a:pt x="67" y="78"/>
                      <a:pt x="70" y="77"/>
                      <a:pt x="70" y="78"/>
                    </a:cubicBezTo>
                    <a:cubicBezTo>
                      <a:pt x="70" y="78"/>
                      <a:pt x="74" y="78"/>
                      <a:pt x="74" y="78"/>
                    </a:cubicBezTo>
                    <a:cubicBezTo>
                      <a:pt x="75" y="78"/>
                      <a:pt x="78" y="79"/>
                      <a:pt x="79" y="79"/>
                    </a:cubicBezTo>
                    <a:cubicBezTo>
                      <a:pt x="80" y="79"/>
                      <a:pt x="81" y="78"/>
                      <a:pt x="81" y="77"/>
                    </a:cubicBezTo>
                    <a:cubicBezTo>
                      <a:pt x="80" y="77"/>
                      <a:pt x="81" y="77"/>
                      <a:pt x="81" y="77"/>
                    </a:cubicBezTo>
                    <a:cubicBezTo>
                      <a:pt x="82" y="77"/>
                      <a:pt x="84" y="77"/>
                      <a:pt x="85" y="78"/>
                    </a:cubicBezTo>
                    <a:cubicBezTo>
                      <a:pt x="87" y="79"/>
                      <a:pt x="89" y="84"/>
                      <a:pt x="90" y="85"/>
                    </a:cubicBezTo>
                    <a:cubicBezTo>
                      <a:pt x="90" y="87"/>
                      <a:pt x="92" y="90"/>
                      <a:pt x="92" y="90"/>
                    </a:cubicBezTo>
                    <a:cubicBezTo>
                      <a:pt x="92" y="90"/>
                      <a:pt x="92" y="91"/>
                      <a:pt x="92" y="91"/>
                    </a:cubicBezTo>
                    <a:cubicBezTo>
                      <a:pt x="93" y="91"/>
                      <a:pt x="94" y="93"/>
                      <a:pt x="94" y="93"/>
                    </a:cubicBezTo>
                    <a:cubicBezTo>
                      <a:pt x="95" y="94"/>
                      <a:pt x="95" y="94"/>
                      <a:pt x="95" y="94"/>
                    </a:cubicBezTo>
                    <a:cubicBezTo>
                      <a:pt x="97" y="100"/>
                      <a:pt x="97" y="100"/>
                      <a:pt x="97" y="100"/>
                    </a:cubicBezTo>
                    <a:cubicBezTo>
                      <a:pt x="97" y="100"/>
                      <a:pt x="97" y="100"/>
                      <a:pt x="97" y="100"/>
                    </a:cubicBezTo>
                    <a:cubicBezTo>
                      <a:pt x="98" y="101"/>
                      <a:pt x="112" y="111"/>
                      <a:pt x="113" y="112"/>
                    </a:cubicBezTo>
                    <a:cubicBezTo>
                      <a:pt x="114" y="112"/>
                      <a:pt x="124" y="117"/>
                      <a:pt x="124" y="117"/>
                    </a:cubicBezTo>
                    <a:cubicBezTo>
                      <a:pt x="124" y="118"/>
                      <a:pt x="125" y="118"/>
                      <a:pt x="126" y="119"/>
                    </a:cubicBezTo>
                    <a:cubicBezTo>
                      <a:pt x="126" y="119"/>
                      <a:pt x="129" y="122"/>
                      <a:pt x="130" y="122"/>
                    </a:cubicBezTo>
                    <a:cubicBezTo>
                      <a:pt x="131" y="122"/>
                      <a:pt x="135" y="124"/>
                      <a:pt x="135" y="125"/>
                    </a:cubicBezTo>
                    <a:cubicBezTo>
                      <a:pt x="135" y="125"/>
                      <a:pt x="141" y="129"/>
                      <a:pt x="142" y="130"/>
                    </a:cubicBezTo>
                    <a:cubicBezTo>
                      <a:pt x="144" y="130"/>
                      <a:pt x="146" y="130"/>
                      <a:pt x="147" y="130"/>
                    </a:cubicBezTo>
                    <a:cubicBezTo>
                      <a:pt x="147" y="130"/>
                      <a:pt x="147" y="129"/>
                      <a:pt x="148" y="130"/>
                    </a:cubicBezTo>
                    <a:cubicBezTo>
                      <a:pt x="148" y="130"/>
                      <a:pt x="150" y="130"/>
                      <a:pt x="150" y="130"/>
                    </a:cubicBezTo>
                    <a:cubicBezTo>
                      <a:pt x="151" y="131"/>
                      <a:pt x="158" y="134"/>
                      <a:pt x="158" y="134"/>
                    </a:cubicBezTo>
                    <a:cubicBezTo>
                      <a:pt x="158" y="134"/>
                      <a:pt x="158" y="135"/>
                      <a:pt x="158" y="135"/>
                    </a:cubicBezTo>
                    <a:cubicBezTo>
                      <a:pt x="158" y="135"/>
                      <a:pt x="157" y="143"/>
                      <a:pt x="157" y="144"/>
                    </a:cubicBezTo>
                    <a:cubicBezTo>
                      <a:pt x="157" y="144"/>
                      <a:pt x="157" y="145"/>
                      <a:pt x="157" y="145"/>
                    </a:cubicBezTo>
                    <a:cubicBezTo>
                      <a:pt x="157" y="145"/>
                      <a:pt x="157" y="145"/>
                      <a:pt x="158" y="145"/>
                    </a:cubicBezTo>
                    <a:cubicBezTo>
                      <a:pt x="159" y="145"/>
                      <a:pt x="164" y="145"/>
                      <a:pt x="164" y="145"/>
                    </a:cubicBezTo>
                    <a:cubicBezTo>
                      <a:pt x="164" y="145"/>
                      <a:pt x="165" y="146"/>
                      <a:pt x="165" y="146"/>
                    </a:cubicBezTo>
                    <a:cubicBezTo>
                      <a:pt x="165" y="146"/>
                      <a:pt x="167" y="148"/>
                      <a:pt x="167" y="148"/>
                    </a:cubicBezTo>
                    <a:cubicBezTo>
                      <a:pt x="167" y="148"/>
                      <a:pt x="168" y="148"/>
                      <a:pt x="168" y="148"/>
                    </a:cubicBezTo>
                    <a:cubicBezTo>
                      <a:pt x="168" y="148"/>
                      <a:pt x="175" y="148"/>
                      <a:pt x="175" y="148"/>
                    </a:cubicBezTo>
                    <a:cubicBezTo>
                      <a:pt x="176" y="147"/>
                      <a:pt x="176" y="147"/>
                      <a:pt x="176" y="147"/>
                    </a:cubicBezTo>
                    <a:cubicBezTo>
                      <a:pt x="176" y="147"/>
                      <a:pt x="176" y="146"/>
                      <a:pt x="176" y="145"/>
                    </a:cubicBezTo>
                    <a:cubicBezTo>
                      <a:pt x="176" y="145"/>
                      <a:pt x="175" y="144"/>
                      <a:pt x="176" y="143"/>
                    </a:cubicBezTo>
                    <a:cubicBezTo>
                      <a:pt x="176" y="143"/>
                      <a:pt x="182" y="136"/>
                      <a:pt x="182" y="135"/>
                    </a:cubicBezTo>
                    <a:cubicBezTo>
                      <a:pt x="182" y="134"/>
                      <a:pt x="184" y="131"/>
                      <a:pt x="184" y="131"/>
                    </a:cubicBezTo>
                    <a:cubicBezTo>
                      <a:pt x="184" y="131"/>
                      <a:pt x="184" y="130"/>
                      <a:pt x="183" y="130"/>
                    </a:cubicBezTo>
                    <a:cubicBezTo>
                      <a:pt x="183" y="129"/>
                      <a:pt x="180" y="127"/>
                      <a:pt x="180" y="127"/>
                    </a:cubicBezTo>
                    <a:cubicBezTo>
                      <a:pt x="180" y="127"/>
                      <a:pt x="180" y="126"/>
                      <a:pt x="180" y="126"/>
                    </a:cubicBezTo>
                    <a:cubicBezTo>
                      <a:pt x="180" y="125"/>
                      <a:pt x="181" y="119"/>
                      <a:pt x="181" y="119"/>
                    </a:cubicBezTo>
                    <a:cubicBezTo>
                      <a:pt x="181" y="119"/>
                      <a:pt x="181" y="119"/>
                      <a:pt x="180" y="118"/>
                    </a:cubicBezTo>
                    <a:cubicBezTo>
                      <a:pt x="180" y="118"/>
                      <a:pt x="178" y="117"/>
                      <a:pt x="178" y="117"/>
                    </a:cubicBezTo>
                    <a:cubicBezTo>
                      <a:pt x="178" y="117"/>
                      <a:pt x="178" y="117"/>
                      <a:pt x="177" y="117"/>
                    </a:cubicBezTo>
                    <a:cubicBezTo>
                      <a:pt x="177" y="117"/>
                      <a:pt x="174" y="117"/>
                      <a:pt x="174" y="117"/>
                    </a:cubicBezTo>
                    <a:cubicBezTo>
                      <a:pt x="174" y="117"/>
                      <a:pt x="173" y="117"/>
                      <a:pt x="173" y="116"/>
                    </a:cubicBezTo>
                    <a:cubicBezTo>
                      <a:pt x="173" y="116"/>
                      <a:pt x="169" y="112"/>
                      <a:pt x="169" y="112"/>
                    </a:cubicBezTo>
                    <a:cubicBezTo>
                      <a:pt x="169" y="112"/>
                      <a:pt x="169" y="112"/>
                      <a:pt x="169" y="112"/>
                    </a:cubicBezTo>
                    <a:cubicBezTo>
                      <a:pt x="169" y="111"/>
                      <a:pt x="170" y="109"/>
                      <a:pt x="170" y="109"/>
                    </a:cubicBezTo>
                    <a:cubicBezTo>
                      <a:pt x="170" y="109"/>
                      <a:pt x="170" y="108"/>
                      <a:pt x="171" y="108"/>
                    </a:cubicBezTo>
                    <a:cubicBezTo>
                      <a:pt x="171" y="108"/>
                      <a:pt x="173" y="107"/>
                      <a:pt x="173" y="106"/>
                    </a:cubicBezTo>
                    <a:cubicBezTo>
                      <a:pt x="174" y="106"/>
                      <a:pt x="175" y="106"/>
                      <a:pt x="177" y="106"/>
                    </a:cubicBezTo>
                    <a:cubicBezTo>
                      <a:pt x="178" y="107"/>
                      <a:pt x="181" y="107"/>
                      <a:pt x="182" y="107"/>
                    </a:cubicBezTo>
                    <a:cubicBezTo>
                      <a:pt x="183" y="107"/>
                      <a:pt x="186" y="107"/>
                      <a:pt x="186" y="107"/>
                    </a:cubicBezTo>
                    <a:cubicBezTo>
                      <a:pt x="186" y="107"/>
                      <a:pt x="186" y="107"/>
                      <a:pt x="187" y="107"/>
                    </a:cubicBezTo>
                    <a:cubicBezTo>
                      <a:pt x="187" y="106"/>
                      <a:pt x="188" y="103"/>
                      <a:pt x="188" y="103"/>
                    </a:cubicBezTo>
                    <a:cubicBezTo>
                      <a:pt x="188" y="103"/>
                      <a:pt x="188" y="102"/>
                      <a:pt x="188" y="102"/>
                    </a:cubicBezTo>
                    <a:cubicBezTo>
                      <a:pt x="189" y="101"/>
                      <a:pt x="190" y="100"/>
                      <a:pt x="190" y="100"/>
                    </a:cubicBezTo>
                    <a:cubicBezTo>
                      <a:pt x="190" y="100"/>
                      <a:pt x="190" y="100"/>
                      <a:pt x="190" y="100"/>
                    </a:cubicBezTo>
                    <a:cubicBezTo>
                      <a:pt x="191" y="101"/>
                      <a:pt x="191" y="102"/>
                      <a:pt x="191" y="100"/>
                    </a:cubicBezTo>
                    <a:cubicBezTo>
                      <a:pt x="191" y="99"/>
                      <a:pt x="191" y="98"/>
                      <a:pt x="192" y="98"/>
                    </a:cubicBezTo>
                    <a:cubicBezTo>
                      <a:pt x="193" y="99"/>
                      <a:pt x="193" y="98"/>
                      <a:pt x="193" y="98"/>
                    </a:cubicBezTo>
                    <a:cubicBezTo>
                      <a:pt x="193" y="98"/>
                      <a:pt x="193" y="97"/>
                      <a:pt x="192" y="97"/>
                    </a:cubicBezTo>
                    <a:cubicBezTo>
                      <a:pt x="192" y="97"/>
                      <a:pt x="189" y="97"/>
                      <a:pt x="189" y="97"/>
                    </a:cubicBezTo>
                    <a:cubicBezTo>
                      <a:pt x="189" y="97"/>
                      <a:pt x="189" y="97"/>
                      <a:pt x="188" y="97"/>
                    </a:cubicBezTo>
                    <a:cubicBezTo>
                      <a:pt x="188" y="96"/>
                      <a:pt x="188" y="96"/>
                      <a:pt x="189" y="96"/>
                    </a:cubicBezTo>
                    <a:cubicBezTo>
                      <a:pt x="190" y="96"/>
                      <a:pt x="195" y="95"/>
                      <a:pt x="195" y="95"/>
                    </a:cubicBezTo>
                    <a:cubicBezTo>
                      <a:pt x="195" y="95"/>
                      <a:pt x="196" y="96"/>
                      <a:pt x="196" y="96"/>
                    </a:cubicBezTo>
                    <a:cubicBezTo>
                      <a:pt x="197" y="96"/>
                      <a:pt x="197" y="96"/>
                      <a:pt x="197" y="96"/>
                    </a:cubicBezTo>
                    <a:cubicBezTo>
                      <a:pt x="198" y="96"/>
                      <a:pt x="198" y="96"/>
                      <a:pt x="197" y="95"/>
                    </a:cubicBezTo>
                    <a:cubicBezTo>
                      <a:pt x="197" y="94"/>
                      <a:pt x="196" y="91"/>
                      <a:pt x="197" y="88"/>
                    </a:cubicBezTo>
                    <a:cubicBezTo>
                      <a:pt x="198" y="86"/>
                      <a:pt x="198" y="86"/>
                      <a:pt x="198" y="86"/>
                    </a:cubicBezTo>
                    <a:cubicBezTo>
                      <a:pt x="198" y="86"/>
                      <a:pt x="199" y="86"/>
                      <a:pt x="199" y="86"/>
                    </a:cubicBezTo>
                    <a:cubicBezTo>
                      <a:pt x="200" y="87"/>
                      <a:pt x="203" y="88"/>
                      <a:pt x="204" y="88"/>
                    </a:cubicBezTo>
                    <a:cubicBezTo>
                      <a:pt x="205" y="87"/>
                      <a:pt x="206" y="87"/>
                      <a:pt x="207" y="87"/>
                    </a:cubicBezTo>
                    <a:cubicBezTo>
                      <a:pt x="207" y="87"/>
                      <a:pt x="208" y="86"/>
                      <a:pt x="208" y="86"/>
                    </a:cubicBezTo>
                    <a:cubicBezTo>
                      <a:pt x="209" y="86"/>
                      <a:pt x="215" y="81"/>
                      <a:pt x="215" y="81"/>
                    </a:cubicBezTo>
                    <a:cubicBezTo>
                      <a:pt x="215" y="81"/>
                      <a:pt x="215" y="81"/>
                      <a:pt x="215" y="82"/>
                    </a:cubicBezTo>
                    <a:cubicBezTo>
                      <a:pt x="216" y="82"/>
                      <a:pt x="220" y="86"/>
                      <a:pt x="220" y="86"/>
                    </a:cubicBezTo>
                    <a:cubicBezTo>
                      <a:pt x="220" y="86"/>
                      <a:pt x="220" y="87"/>
                      <a:pt x="219" y="87"/>
                    </a:cubicBezTo>
                    <a:cubicBezTo>
                      <a:pt x="219" y="88"/>
                      <a:pt x="214" y="92"/>
                      <a:pt x="214" y="92"/>
                    </a:cubicBezTo>
                    <a:cubicBezTo>
                      <a:pt x="214" y="92"/>
                      <a:pt x="213" y="92"/>
                      <a:pt x="214" y="92"/>
                    </a:cubicBezTo>
                    <a:cubicBezTo>
                      <a:pt x="214" y="93"/>
                      <a:pt x="219" y="96"/>
                      <a:pt x="219" y="96"/>
                    </a:cubicBezTo>
                    <a:cubicBezTo>
                      <a:pt x="219" y="96"/>
                      <a:pt x="219" y="96"/>
                      <a:pt x="220" y="96"/>
                    </a:cubicBezTo>
                    <a:cubicBezTo>
                      <a:pt x="220" y="96"/>
                      <a:pt x="221" y="96"/>
                      <a:pt x="222" y="9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68" name="Freeform 678">
                <a:extLst>
                  <a:ext uri="{FF2B5EF4-FFF2-40B4-BE49-F238E27FC236}">
                    <a16:creationId xmlns:a16="http://schemas.microsoft.com/office/drawing/2014/main" id="{29F8E4D2-17E2-4C6E-8AD7-26822BCF6F30}"/>
                  </a:ext>
                </a:extLst>
              </p:cNvPr>
              <p:cNvSpPr>
                <a:spLocks/>
              </p:cNvSpPr>
              <p:nvPr/>
            </p:nvSpPr>
            <p:spPr bwMode="auto">
              <a:xfrm>
                <a:off x="4962" y="1816"/>
                <a:ext cx="5" cy="7"/>
              </a:xfrm>
              <a:custGeom>
                <a:avLst/>
                <a:gdLst>
                  <a:gd name="T0" fmla="*/ 1 w 4"/>
                  <a:gd name="T1" fmla="*/ 2 h 5"/>
                  <a:gd name="T2" fmla="*/ 2 w 4"/>
                  <a:gd name="T3" fmla="*/ 5 h 5"/>
                  <a:gd name="T4" fmla="*/ 3 w 4"/>
                  <a:gd name="T5" fmla="*/ 3 h 5"/>
                  <a:gd name="T6" fmla="*/ 1 w 4"/>
                  <a:gd name="T7" fmla="*/ 2 h 5"/>
                </a:gdLst>
                <a:ahLst/>
                <a:cxnLst>
                  <a:cxn ang="0">
                    <a:pos x="T0" y="T1"/>
                  </a:cxn>
                  <a:cxn ang="0">
                    <a:pos x="T2" y="T3"/>
                  </a:cxn>
                  <a:cxn ang="0">
                    <a:pos x="T4" y="T5"/>
                  </a:cxn>
                  <a:cxn ang="0">
                    <a:pos x="T6" y="T7"/>
                  </a:cxn>
                </a:cxnLst>
                <a:rect l="0" t="0" r="r" b="b"/>
                <a:pathLst>
                  <a:path w="4" h="5">
                    <a:moveTo>
                      <a:pt x="1" y="2"/>
                    </a:moveTo>
                    <a:cubicBezTo>
                      <a:pt x="1" y="2"/>
                      <a:pt x="0" y="5"/>
                      <a:pt x="2" y="5"/>
                    </a:cubicBezTo>
                    <a:cubicBezTo>
                      <a:pt x="3" y="5"/>
                      <a:pt x="3" y="4"/>
                      <a:pt x="3" y="3"/>
                    </a:cubicBezTo>
                    <a:cubicBezTo>
                      <a:pt x="4" y="2"/>
                      <a:pt x="1"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69" name="Freeform 679">
                <a:extLst>
                  <a:ext uri="{FF2B5EF4-FFF2-40B4-BE49-F238E27FC236}">
                    <a16:creationId xmlns:a16="http://schemas.microsoft.com/office/drawing/2014/main" id="{AFE52F7E-4FA4-4253-84FB-BB438969C242}"/>
                  </a:ext>
                </a:extLst>
              </p:cNvPr>
              <p:cNvSpPr>
                <a:spLocks/>
              </p:cNvSpPr>
              <p:nvPr/>
            </p:nvSpPr>
            <p:spPr bwMode="auto">
              <a:xfrm>
                <a:off x="4950" y="1823"/>
                <a:ext cx="6" cy="3"/>
              </a:xfrm>
              <a:custGeom>
                <a:avLst/>
                <a:gdLst>
                  <a:gd name="T0" fmla="*/ 3 w 4"/>
                  <a:gd name="T1" fmla="*/ 1 h 2"/>
                  <a:gd name="T2" fmla="*/ 1 w 4"/>
                  <a:gd name="T3" fmla="*/ 1 h 2"/>
                  <a:gd name="T4" fmla="*/ 2 w 4"/>
                  <a:gd name="T5" fmla="*/ 2 h 2"/>
                  <a:gd name="T6" fmla="*/ 2 w 4"/>
                  <a:gd name="T7" fmla="*/ 2 h 2"/>
                  <a:gd name="T8" fmla="*/ 3 w 4"/>
                  <a:gd name="T9" fmla="*/ 2 h 2"/>
                  <a:gd name="T10" fmla="*/ 3 w 4"/>
                  <a:gd name="T11" fmla="*/ 1 h 2"/>
                </a:gdLst>
                <a:ahLst/>
                <a:cxnLst>
                  <a:cxn ang="0">
                    <a:pos x="T0" y="T1"/>
                  </a:cxn>
                  <a:cxn ang="0">
                    <a:pos x="T2" y="T3"/>
                  </a:cxn>
                  <a:cxn ang="0">
                    <a:pos x="T4" y="T5"/>
                  </a:cxn>
                  <a:cxn ang="0">
                    <a:pos x="T6" y="T7"/>
                  </a:cxn>
                  <a:cxn ang="0">
                    <a:pos x="T8" y="T9"/>
                  </a:cxn>
                  <a:cxn ang="0">
                    <a:pos x="T10" y="T11"/>
                  </a:cxn>
                </a:cxnLst>
                <a:rect l="0" t="0" r="r" b="b"/>
                <a:pathLst>
                  <a:path w="4" h="2">
                    <a:moveTo>
                      <a:pt x="3" y="1"/>
                    </a:moveTo>
                    <a:cubicBezTo>
                      <a:pt x="2" y="1"/>
                      <a:pt x="0" y="0"/>
                      <a:pt x="1" y="1"/>
                    </a:cubicBezTo>
                    <a:cubicBezTo>
                      <a:pt x="2" y="2"/>
                      <a:pt x="2" y="2"/>
                      <a:pt x="2" y="2"/>
                    </a:cubicBezTo>
                    <a:cubicBezTo>
                      <a:pt x="2" y="2"/>
                      <a:pt x="2" y="2"/>
                      <a:pt x="2" y="2"/>
                    </a:cubicBezTo>
                    <a:cubicBezTo>
                      <a:pt x="3" y="2"/>
                      <a:pt x="3" y="2"/>
                      <a:pt x="3" y="2"/>
                    </a:cubicBezTo>
                    <a:cubicBezTo>
                      <a:pt x="4" y="2"/>
                      <a:pt x="4" y="1"/>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70" name="Freeform 680">
                <a:extLst>
                  <a:ext uri="{FF2B5EF4-FFF2-40B4-BE49-F238E27FC236}">
                    <a16:creationId xmlns:a16="http://schemas.microsoft.com/office/drawing/2014/main" id="{236D8374-9162-4756-9917-69FF151ED589}"/>
                  </a:ext>
                </a:extLst>
              </p:cNvPr>
              <p:cNvSpPr>
                <a:spLocks/>
              </p:cNvSpPr>
              <p:nvPr/>
            </p:nvSpPr>
            <p:spPr bwMode="auto">
              <a:xfrm>
                <a:off x="4977" y="1822"/>
                <a:ext cx="3" cy="1"/>
              </a:xfrm>
              <a:custGeom>
                <a:avLst/>
                <a:gdLst>
                  <a:gd name="T0" fmla="*/ 0 w 2"/>
                  <a:gd name="T1" fmla="*/ 1 h 1"/>
                  <a:gd name="T2" fmla="*/ 1 w 2"/>
                  <a:gd name="T3" fmla="*/ 0 h 1"/>
                  <a:gd name="T4" fmla="*/ 0 w 2"/>
                  <a:gd name="T5" fmla="*/ 1 h 1"/>
                </a:gdLst>
                <a:ahLst/>
                <a:cxnLst>
                  <a:cxn ang="0">
                    <a:pos x="T0" y="T1"/>
                  </a:cxn>
                  <a:cxn ang="0">
                    <a:pos x="T2" y="T3"/>
                  </a:cxn>
                  <a:cxn ang="0">
                    <a:pos x="T4" y="T5"/>
                  </a:cxn>
                </a:cxnLst>
                <a:rect l="0" t="0" r="r" b="b"/>
                <a:pathLst>
                  <a:path w="2" h="1">
                    <a:moveTo>
                      <a:pt x="0" y="1"/>
                    </a:moveTo>
                    <a:cubicBezTo>
                      <a:pt x="0" y="1"/>
                      <a:pt x="2" y="0"/>
                      <a:pt x="1" y="0"/>
                    </a:cubicBezTo>
                    <a:cubicBezTo>
                      <a:pt x="1" y="0"/>
                      <a:pt x="0" y="1"/>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71" name="Freeform 681">
                <a:extLst>
                  <a:ext uri="{FF2B5EF4-FFF2-40B4-BE49-F238E27FC236}">
                    <a16:creationId xmlns:a16="http://schemas.microsoft.com/office/drawing/2014/main" id="{205E0CA1-7D52-4343-92A6-92C002C30A08}"/>
                  </a:ext>
                </a:extLst>
              </p:cNvPr>
              <p:cNvSpPr>
                <a:spLocks/>
              </p:cNvSpPr>
              <p:nvPr/>
            </p:nvSpPr>
            <p:spPr bwMode="auto">
              <a:xfrm>
                <a:off x="4746" y="1857"/>
                <a:ext cx="294" cy="209"/>
              </a:xfrm>
              <a:custGeom>
                <a:avLst/>
                <a:gdLst>
                  <a:gd name="T0" fmla="*/ 98 w 213"/>
                  <a:gd name="T1" fmla="*/ 20 h 152"/>
                  <a:gd name="T2" fmla="*/ 89 w 213"/>
                  <a:gd name="T3" fmla="*/ 19 h 152"/>
                  <a:gd name="T4" fmla="*/ 79 w 213"/>
                  <a:gd name="T5" fmla="*/ 16 h 152"/>
                  <a:gd name="T6" fmla="*/ 68 w 213"/>
                  <a:gd name="T7" fmla="*/ 22 h 152"/>
                  <a:gd name="T8" fmla="*/ 64 w 213"/>
                  <a:gd name="T9" fmla="*/ 27 h 152"/>
                  <a:gd name="T10" fmla="*/ 57 w 213"/>
                  <a:gd name="T11" fmla="*/ 40 h 152"/>
                  <a:gd name="T12" fmla="*/ 39 w 213"/>
                  <a:gd name="T13" fmla="*/ 45 h 152"/>
                  <a:gd name="T14" fmla="*/ 37 w 213"/>
                  <a:gd name="T15" fmla="*/ 52 h 152"/>
                  <a:gd name="T16" fmla="*/ 28 w 213"/>
                  <a:gd name="T17" fmla="*/ 56 h 152"/>
                  <a:gd name="T18" fmla="*/ 14 w 213"/>
                  <a:gd name="T19" fmla="*/ 50 h 152"/>
                  <a:gd name="T20" fmla="*/ 9 w 213"/>
                  <a:gd name="T21" fmla="*/ 59 h 152"/>
                  <a:gd name="T22" fmla="*/ 4 w 213"/>
                  <a:gd name="T23" fmla="*/ 68 h 152"/>
                  <a:gd name="T24" fmla="*/ 0 w 213"/>
                  <a:gd name="T25" fmla="*/ 76 h 152"/>
                  <a:gd name="T26" fmla="*/ 6 w 213"/>
                  <a:gd name="T27" fmla="*/ 85 h 152"/>
                  <a:gd name="T28" fmla="*/ 5 w 213"/>
                  <a:gd name="T29" fmla="*/ 107 h 152"/>
                  <a:gd name="T30" fmla="*/ 16 w 213"/>
                  <a:gd name="T31" fmla="*/ 119 h 152"/>
                  <a:gd name="T32" fmla="*/ 19 w 213"/>
                  <a:gd name="T33" fmla="*/ 127 h 152"/>
                  <a:gd name="T34" fmla="*/ 6 w 213"/>
                  <a:gd name="T35" fmla="*/ 144 h 152"/>
                  <a:gd name="T36" fmla="*/ 32 w 213"/>
                  <a:gd name="T37" fmla="*/ 151 h 152"/>
                  <a:gd name="T38" fmla="*/ 59 w 213"/>
                  <a:gd name="T39" fmla="*/ 149 h 152"/>
                  <a:gd name="T40" fmla="*/ 86 w 213"/>
                  <a:gd name="T41" fmla="*/ 144 h 152"/>
                  <a:gd name="T42" fmla="*/ 87 w 213"/>
                  <a:gd name="T43" fmla="*/ 131 h 152"/>
                  <a:gd name="T44" fmla="*/ 97 w 213"/>
                  <a:gd name="T45" fmla="*/ 120 h 152"/>
                  <a:gd name="T46" fmla="*/ 108 w 213"/>
                  <a:gd name="T47" fmla="*/ 119 h 152"/>
                  <a:gd name="T48" fmla="*/ 113 w 213"/>
                  <a:gd name="T49" fmla="*/ 113 h 152"/>
                  <a:gd name="T50" fmla="*/ 124 w 213"/>
                  <a:gd name="T51" fmla="*/ 115 h 152"/>
                  <a:gd name="T52" fmla="*/ 131 w 213"/>
                  <a:gd name="T53" fmla="*/ 110 h 152"/>
                  <a:gd name="T54" fmla="*/ 133 w 213"/>
                  <a:gd name="T55" fmla="*/ 98 h 152"/>
                  <a:gd name="T56" fmla="*/ 136 w 213"/>
                  <a:gd name="T57" fmla="*/ 91 h 152"/>
                  <a:gd name="T58" fmla="*/ 146 w 213"/>
                  <a:gd name="T59" fmla="*/ 87 h 152"/>
                  <a:gd name="T60" fmla="*/ 141 w 213"/>
                  <a:gd name="T61" fmla="*/ 80 h 152"/>
                  <a:gd name="T62" fmla="*/ 140 w 213"/>
                  <a:gd name="T63" fmla="*/ 75 h 152"/>
                  <a:gd name="T64" fmla="*/ 152 w 213"/>
                  <a:gd name="T65" fmla="*/ 77 h 152"/>
                  <a:gd name="T66" fmla="*/ 158 w 213"/>
                  <a:gd name="T67" fmla="*/ 70 h 152"/>
                  <a:gd name="T68" fmla="*/ 159 w 213"/>
                  <a:gd name="T69" fmla="*/ 63 h 152"/>
                  <a:gd name="T70" fmla="*/ 164 w 213"/>
                  <a:gd name="T71" fmla="*/ 58 h 152"/>
                  <a:gd name="T72" fmla="*/ 165 w 213"/>
                  <a:gd name="T73" fmla="*/ 50 h 152"/>
                  <a:gd name="T74" fmla="*/ 165 w 213"/>
                  <a:gd name="T75" fmla="*/ 35 h 152"/>
                  <a:gd name="T76" fmla="*/ 195 w 213"/>
                  <a:gd name="T77" fmla="*/ 27 h 152"/>
                  <a:gd name="T78" fmla="*/ 209 w 213"/>
                  <a:gd name="T79" fmla="*/ 25 h 152"/>
                  <a:gd name="T80" fmla="*/ 212 w 213"/>
                  <a:gd name="T81" fmla="*/ 20 h 152"/>
                  <a:gd name="T82" fmla="*/ 200 w 213"/>
                  <a:gd name="T83" fmla="*/ 21 h 152"/>
                  <a:gd name="T84" fmla="*/ 192 w 213"/>
                  <a:gd name="T85" fmla="*/ 18 h 152"/>
                  <a:gd name="T86" fmla="*/ 166 w 213"/>
                  <a:gd name="T87" fmla="*/ 30 h 152"/>
                  <a:gd name="T88" fmla="*/ 164 w 213"/>
                  <a:gd name="T89" fmla="*/ 10 h 152"/>
                  <a:gd name="T90" fmla="*/ 161 w 213"/>
                  <a:gd name="T91" fmla="*/ 6 h 152"/>
                  <a:gd name="T92" fmla="*/ 153 w 213"/>
                  <a:gd name="T93" fmla="*/ 1 h 152"/>
                  <a:gd name="T94" fmla="*/ 143 w 213"/>
                  <a:gd name="T95" fmla="*/ 10 h 152"/>
                  <a:gd name="T96" fmla="*/ 143 w 213"/>
                  <a:gd name="T97" fmla="*/ 16 h 152"/>
                  <a:gd name="T98" fmla="*/ 132 w 213"/>
                  <a:gd name="T99" fmla="*/ 20 h 152"/>
                  <a:gd name="T100" fmla="*/ 126 w 213"/>
                  <a:gd name="T101" fmla="*/ 20 h 152"/>
                  <a:gd name="T102" fmla="*/ 115 w 213"/>
                  <a:gd name="T103" fmla="*/ 24 h 152"/>
                  <a:gd name="T104" fmla="*/ 108 w 213"/>
                  <a:gd name="T105" fmla="*/ 2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3" h="152">
                    <a:moveTo>
                      <a:pt x="108" y="22"/>
                    </a:moveTo>
                    <a:cubicBezTo>
                      <a:pt x="108" y="22"/>
                      <a:pt x="101" y="22"/>
                      <a:pt x="101" y="22"/>
                    </a:cubicBezTo>
                    <a:cubicBezTo>
                      <a:pt x="101" y="22"/>
                      <a:pt x="100" y="22"/>
                      <a:pt x="100" y="22"/>
                    </a:cubicBezTo>
                    <a:cubicBezTo>
                      <a:pt x="100" y="22"/>
                      <a:pt x="98" y="20"/>
                      <a:pt x="98" y="20"/>
                    </a:cubicBezTo>
                    <a:cubicBezTo>
                      <a:pt x="98" y="20"/>
                      <a:pt x="97" y="19"/>
                      <a:pt x="97" y="19"/>
                    </a:cubicBezTo>
                    <a:cubicBezTo>
                      <a:pt x="97" y="19"/>
                      <a:pt x="92" y="19"/>
                      <a:pt x="91" y="19"/>
                    </a:cubicBezTo>
                    <a:cubicBezTo>
                      <a:pt x="90" y="19"/>
                      <a:pt x="90" y="19"/>
                      <a:pt x="90" y="19"/>
                    </a:cubicBezTo>
                    <a:cubicBezTo>
                      <a:pt x="89" y="19"/>
                      <a:pt x="89" y="19"/>
                      <a:pt x="89" y="19"/>
                    </a:cubicBezTo>
                    <a:cubicBezTo>
                      <a:pt x="88" y="20"/>
                      <a:pt x="88" y="20"/>
                      <a:pt x="88" y="20"/>
                    </a:cubicBezTo>
                    <a:cubicBezTo>
                      <a:pt x="88" y="20"/>
                      <a:pt x="86" y="19"/>
                      <a:pt x="86" y="19"/>
                    </a:cubicBezTo>
                    <a:cubicBezTo>
                      <a:pt x="85" y="19"/>
                      <a:pt x="81" y="18"/>
                      <a:pt x="81" y="17"/>
                    </a:cubicBezTo>
                    <a:cubicBezTo>
                      <a:pt x="81" y="17"/>
                      <a:pt x="80" y="17"/>
                      <a:pt x="79" y="16"/>
                    </a:cubicBezTo>
                    <a:cubicBezTo>
                      <a:pt x="78" y="16"/>
                      <a:pt x="78" y="16"/>
                      <a:pt x="78" y="16"/>
                    </a:cubicBezTo>
                    <a:cubicBezTo>
                      <a:pt x="78" y="16"/>
                      <a:pt x="75" y="20"/>
                      <a:pt x="74" y="21"/>
                    </a:cubicBezTo>
                    <a:cubicBezTo>
                      <a:pt x="74" y="21"/>
                      <a:pt x="74" y="21"/>
                      <a:pt x="74" y="21"/>
                    </a:cubicBezTo>
                    <a:cubicBezTo>
                      <a:pt x="74" y="21"/>
                      <a:pt x="68" y="22"/>
                      <a:pt x="68" y="22"/>
                    </a:cubicBezTo>
                    <a:cubicBezTo>
                      <a:pt x="67" y="22"/>
                      <a:pt x="67" y="22"/>
                      <a:pt x="67" y="22"/>
                    </a:cubicBezTo>
                    <a:cubicBezTo>
                      <a:pt x="67" y="22"/>
                      <a:pt x="66" y="22"/>
                      <a:pt x="65" y="23"/>
                    </a:cubicBezTo>
                    <a:cubicBezTo>
                      <a:pt x="64" y="24"/>
                      <a:pt x="64" y="25"/>
                      <a:pt x="64" y="26"/>
                    </a:cubicBezTo>
                    <a:cubicBezTo>
                      <a:pt x="64" y="26"/>
                      <a:pt x="64" y="27"/>
                      <a:pt x="64" y="27"/>
                    </a:cubicBezTo>
                    <a:cubicBezTo>
                      <a:pt x="64" y="27"/>
                      <a:pt x="61" y="31"/>
                      <a:pt x="61" y="31"/>
                    </a:cubicBezTo>
                    <a:cubicBezTo>
                      <a:pt x="61" y="32"/>
                      <a:pt x="61" y="34"/>
                      <a:pt x="61" y="35"/>
                    </a:cubicBezTo>
                    <a:cubicBezTo>
                      <a:pt x="61" y="36"/>
                      <a:pt x="60" y="36"/>
                      <a:pt x="60" y="37"/>
                    </a:cubicBezTo>
                    <a:cubicBezTo>
                      <a:pt x="60" y="37"/>
                      <a:pt x="57" y="39"/>
                      <a:pt x="57" y="40"/>
                    </a:cubicBezTo>
                    <a:cubicBezTo>
                      <a:pt x="56" y="40"/>
                      <a:pt x="55" y="40"/>
                      <a:pt x="54" y="40"/>
                    </a:cubicBezTo>
                    <a:cubicBezTo>
                      <a:pt x="54" y="40"/>
                      <a:pt x="51" y="41"/>
                      <a:pt x="51" y="41"/>
                    </a:cubicBezTo>
                    <a:cubicBezTo>
                      <a:pt x="51" y="42"/>
                      <a:pt x="45" y="44"/>
                      <a:pt x="44" y="44"/>
                    </a:cubicBezTo>
                    <a:cubicBezTo>
                      <a:pt x="43" y="45"/>
                      <a:pt x="40" y="45"/>
                      <a:pt x="39" y="45"/>
                    </a:cubicBezTo>
                    <a:cubicBezTo>
                      <a:pt x="39" y="45"/>
                      <a:pt x="39" y="45"/>
                      <a:pt x="40" y="46"/>
                    </a:cubicBezTo>
                    <a:cubicBezTo>
                      <a:pt x="41" y="47"/>
                      <a:pt x="40" y="48"/>
                      <a:pt x="40" y="48"/>
                    </a:cubicBezTo>
                    <a:cubicBezTo>
                      <a:pt x="40" y="49"/>
                      <a:pt x="38" y="51"/>
                      <a:pt x="38" y="51"/>
                    </a:cubicBezTo>
                    <a:cubicBezTo>
                      <a:pt x="38" y="52"/>
                      <a:pt x="37" y="52"/>
                      <a:pt x="37" y="52"/>
                    </a:cubicBezTo>
                    <a:cubicBezTo>
                      <a:pt x="36" y="52"/>
                      <a:pt x="35" y="53"/>
                      <a:pt x="35" y="53"/>
                    </a:cubicBezTo>
                    <a:cubicBezTo>
                      <a:pt x="35" y="54"/>
                      <a:pt x="34" y="54"/>
                      <a:pt x="34" y="54"/>
                    </a:cubicBezTo>
                    <a:cubicBezTo>
                      <a:pt x="30" y="54"/>
                      <a:pt x="30" y="54"/>
                      <a:pt x="30" y="54"/>
                    </a:cubicBezTo>
                    <a:cubicBezTo>
                      <a:pt x="30" y="54"/>
                      <a:pt x="28" y="55"/>
                      <a:pt x="28" y="56"/>
                    </a:cubicBezTo>
                    <a:cubicBezTo>
                      <a:pt x="27" y="57"/>
                      <a:pt x="26" y="56"/>
                      <a:pt x="26" y="56"/>
                    </a:cubicBezTo>
                    <a:cubicBezTo>
                      <a:pt x="26" y="56"/>
                      <a:pt x="22" y="52"/>
                      <a:pt x="22" y="52"/>
                    </a:cubicBezTo>
                    <a:cubicBezTo>
                      <a:pt x="22" y="51"/>
                      <a:pt x="21" y="51"/>
                      <a:pt x="21" y="51"/>
                    </a:cubicBezTo>
                    <a:cubicBezTo>
                      <a:pt x="21" y="51"/>
                      <a:pt x="15" y="50"/>
                      <a:pt x="14" y="50"/>
                    </a:cubicBezTo>
                    <a:cubicBezTo>
                      <a:pt x="14" y="50"/>
                      <a:pt x="13" y="50"/>
                      <a:pt x="13" y="50"/>
                    </a:cubicBezTo>
                    <a:cubicBezTo>
                      <a:pt x="11" y="49"/>
                      <a:pt x="11" y="49"/>
                      <a:pt x="11" y="49"/>
                    </a:cubicBezTo>
                    <a:cubicBezTo>
                      <a:pt x="11" y="49"/>
                      <a:pt x="11" y="50"/>
                      <a:pt x="11" y="50"/>
                    </a:cubicBezTo>
                    <a:cubicBezTo>
                      <a:pt x="11" y="50"/>
                      <a:pt x="9" y="59"/>
                      <a:pt x="9" y="59"/>
                    </a:cubicBezTo>
                    <a:cubicBezTo>
                      <a:pt x="9" y="59"/>
                      <a:pt x="8" y="61"/>
                      <a:pt x="8" y="61"/>
                    </a:cubicBezTo>
                    <a:cubicBezTo>
                      <a:pt x="8" y="62"/>
                      <a:pt x="9" y="62"/>
                      <a:pt x="8" y="62"/>
                    </a:cubicBezTo>
                    <a:cubicBezTo>
                      <a:pt x="8" y="63"/>
                      <a:pt x="4" y="67"/>
                      <a:pt x="4" y="67"/>
                    </a:cubicBezTo>
                    <a:cubicBezTo>
                      <a:pt x="4" y="67"/>
                      <a:pt x="3" y="67"/>
                      <a:pt x="4" y="68"/>
                    </a:cubicBezTo>
                    <a:cubicBezTo>
                      <a:pt x="4" y="68"/>
                      <a:pt x="6" y="70"/>
                      <a:pt x="6" y="70"/>
                    </a:cubicBezTo>
                    <a:cubicBezTo>
                      <a:pt x="6" y="71"/>
                      <a:pt x="6" y="71"/>
                      <a:pt x="5" y="71"/>
                    </a:cubicBezTo>
                    <a:cubicBezTo>
                      <a:pt x="5" y="71"/>
                      <a:pt x="1" y="71"/>
                      <a:pt x="0" y="74"/>
                    </a:cubicBezTo>
                    <a:cubicBezTo>
                      <a:pt x="0" y="74"/>
                      <a:pt x="0" y="76"/>
                      <a:pt x="0" y="76"/>
                    </a:cubicBezTo>
                    <a:cubicBezTo>
                      <a:pt x="0" y="77"/>
                      <a:pt x="0" y="80"/>
                      <a:pt x="0" y="81"/>
                    </a:cubicBezTo>
                    <a:cubicBezTo>
                      <a:pt x="1" y="81"/>
                      <a:pt x="1" y="83"/>
                      <a:pt x="4" y="84"/>
                    </a:cubicBezTo>
                    <a:cubicBezTo>
                      <a:pt x="6" y="84"/>
                      <a:pt x="6" y="84"/>
                      <a:pt x="6" y="84"/>
                    </a:cubicBezTo>
                    <a:cubicBezTo>
                      <a:pt x="6" y="84"/>
                      <a:pt x="6" y="84"/>
                      <a:pt x="6" y="85"/>
                    </a:cubicBezTo>
                    <a:cubicBezTo>
                      <a:pt x="5" y="85"/>
                      <a:pt x="2" y="90"/>
                      <a:pt x="2" y="90"/>
                    </a:cubicBezTo>
                    <a:cubicBezTo>
                      <a:pt x="2" y="90"/>
                      <a:pt x="1" y="90"/>
                      <a:pt x="1" y="91"/>
                    </a:cubicBezTo>
                    <a:cubicBezTo>
                      <a:pt x="1" y="91"/>
                      <a:pt x="5" y="105"/>
                      <a:pt x="5" y="105"/>
                    </a:cubicBezTo>
                    <a:cubicBezTo>
                      <a:pt x="5" y="105"/>
                      <a:pt x="5" y="106"/>
                      <a:pt x="5" y="107"/>
                    </a:cubicBezTo>
                    <a:cubicBezTo>
                      <a:pt x="5" y="107"/>
                      <a:pt x="5" y="108"/>
                      <a:pt x="5" y="109"/>
                    </a:cubicBezTo>
                    <a:cubicBezTo>
                      <a:pt x="5" y="109"/>
                      <a:pt x="5" y="117"/>
                      <a:pt x="5" y="117"/>
                    </a:cubicBezTo>
                    <a:cubicBezTo>
                      <a:pt x="5" y="117"/>
                      <a:pt x="5" y="118"/>
                      <a:pt x="6" y="118"/>
                    </a:cubicBezTo>
                    <a:cubicBezTo>
                      <a:pt x="6" y="118"/>
                      <a:pt x="16" y="119"/>
                      <a:pt x="16" y="119"/>
                    </a:cubicBezTo>
                    <a:cubicBezTo>
                      <a:pt x="16" y="119"/>
                      <a:pt x="16" y="119"/>
                      <a:pt x="17" y="120"/>
                    </a:cubicBezTo>
                    <a:cubicBezTo>
                      <a:pt x="17" y="120"/>
                      <a:pt x="20" y="124"/>
                      <a:pt x="20" y="124"/>
                    </a:cubicBezTo>
                    <a:cubicBezTo>
                      <a:pt x="20" y="124"/>
                      <a:pt x="20" y="125"/>
                      <a:pt x="20" y="125"/>
                    </a:cubicBezTo>
                    <a:cubicBezTo>
                      <a:pt x="20" y="125"/>
                      <a:pt x="19" y="127"/>
                      <a:pt x="19" y="127"/>
                    </a:cubicBezTo>
                    <a:cubicBezTo>
                      <a:pt x="19" y="127"/>
                      <a:pt x="19" y="128"/>
                      <a:pt x="19" y="128"/>
                    </a:cubicBezTo>
                    <a:cubicBezTo>
                      <a:pt x="19" y="128"/>
                      <a:pt x="6" y="143"/>
                      <a:pt x="6" y="143"/>
                    </a:cubicBezTo>
                    <a:cubicBezTo>
                      <a:pt x="6" y="143"/>
                      <a:pt x="6" y="144"/>
                      <a:pt x="6" y="144"/>
                    </a:cubicBezTo>
                    <a:cubicBezTo>
                      <a:pt x="6" y="144"/>
                      <a:pt x="6" y="144"/>
                      <a:pt x="6" y="144"/>
                    </a:cubicBezTo>
                    <a:cubicBezTo>
                      <a:pt x="6" y="144"/>
                      <a:pt x="6" y="144"/>
                      <a:pt x="6" y="144"/>
                    </a:cubicBezTo>
                    <a:cubicBezTo>
                      <a:pt x="6" y="144"/>
                      <a:pt x="6" y="144"/>
                      <a:pt x="6" y="144"/>
                    </a:cubicBezTo>
                    <a:cubicBezTo>
                      <a:pt x="31" y="151"/>
                      <a:pt x="31" y="151"/>
                      <a:pt x="31" y="151"/>
                    </a:cubicBezTo>
                    <a:cubicBezTo>
                      <a:pt x="31" y="151"/>
                      <a:pt x="32" y="151"/>
                      <a:pt x="32" y="151"/>
                    </a:cubicBezTo>
                    <a:cubicBezTo>
                      <a:pt x="33" y="151"/>
                      <a:pt x="47" y="150"/>
                      <a:pt x="47" y="150"/>
                    </a:cubicBezTo>
                    <a:cubicBezTo>
                      <a:pt x="47" y="150"/>
                      <a:pt x="47" y="150"/>
                      <a:pt x="48" y="150"/>
                    </a:cubicBezTo>
                    <a:cubicBezTo>
                      <a:pt x="48" y="151"/>
                      <a:pt x="53" y="152"/>
                      <a:pt x="54" y="152"/>
                    </a:cubicBezTo>
                    <a:cubicBezTo>
                      <a:pt x="55" y="151"/>
                      <a:pt x="58" y="149"/>
                      <a:pt x="59" y="149"/>
                    </a:cubicBezTo>
                    <a:cubicBezTo>
                      <a:pt x="60" y="149"/>
                      <a:pt x="60" y="149"/>
                      <a:pt x="61" y="149"/>
                    </a:cubicBezTo>
                    <a:cubicBezTo>
                      <a:pt x="62" y="149"/>
                      <a:pt x="74" y="147"/>
                      <a:pt x="75" y="147"/>
                    </a:cubicBezTo>
                    <a:cubicBezTo>
                      <a:pt x="76" y="147"/>
                      <a:pt x="85" y="144"/>
                      <a:pt x="85" y="144"/>
                    </a:cubicBezTo>
                    <a:cubicBezTo>
                      <a:pt x="85" y="144"/>
                      <a:pt x="86" y="144"/>
                      <a:pt x="86" y="144"/>
                    </a:cubicBezTo>
                    <a:cubicBezTo>
                      <a:pt x="86" y="143"/>
                      <a:pt x="87" y="142"/>
                      <a:pt x="86" y="142"/>
                    </a:cubicBezTo>
                    <a:cubicBezTo>
                      <a:pt x="86" y="141"/>
                      <a:pt x="85" y="141"/>
                      <a:pt x="85" y="140"/>
                    </a:cubicBezTo>
                    <a:cubicBezTo>
                      <a:pt x="86" y="139"/>
                      <a:pt x="87" y="137"/>
                      <a:pt x="87" y="137"/>
                    </a:cubicBezTo>
                    <a:cubicBezTo>
                      <a:pt x="87" y="136"/>
                      <a:pt x="86" y="134"/>
                      <a:pt x="87" y="131"/>
                    </a:cubicBezTo>
                    <a:cubicBezTo>
                      <a:pt x="87" y="127"/>
                      <a:pt x="88" y="126"/>
                      <a:pt x="90" y="125"/>
                    </a:cubicBezTo>
                    <a:cubicBezTo>
                      <a:pt x="91" y="124"/>
                      <a:pt x="93" y="122"/>
                      <a:pt x="93" y="122"/>
                    </a:cubicBezTo>
                    <a:cubicBezTo>
                      <a:pt x="94" y="121"/>
                      <a:pt x="96" y="120"/>
                      <a:pt x="96" y="120"/>
                    </a:cubicBezTo>
                    <a:cubicBezTo>
                      <a:pt x="96" y="120"/>
                      <a:pt x="96" y="120"/>
                      <a:pt x="97" y="120"/>
                    </a:cubicBezTo>
                    <a:cubicBezTo>
                      <a:pt x="97" y="121"/>
                      <a:pt x="102" y="122"/>
                      <a:pt x="102" y="122"/>
                    </a:cubicBezTo>
                    <a:cubicBezTo>
                      <a:pt x="102" y="122"/>
                      <a:pt x="102" y="122"/>
                      <a:pt x="103" y="122"/>
                    </a:cubicBezTo>
                    <a:cubicBezTo>
                      <a:pt x="103" y="122"/>
                      <a:pt x="108" y="120"/>
                      <a:pt x="108" y="120"/>
                    </a:cubicBezTo>
                    <a:cubicBezTo>
                      <a:pt x="108" y="120"/>
                      <a:pt x="108" y="120"/>
                      <a:pt x="108" y="119"/>
                    </a:cubicBezTo>
                    <a:cubicBezTo>
                      <a:pt x="107" y="119"/>
                      <a:pt x="105" y="117"/>
                      <a:pt x="105" y="117"/>
                    </a:cubicBezTo>
                    <a:cubicBezTo>
                      <a:pt x="105" y="117"/>
                      <a:pt x="104" y="117"/>
                      <a:pt x="106" y="117"/>
                    </a:cubicBezTo>
                    <a:cubicBezTo>
                      <a:pt x="107" y="116"/>
                      <a:pt x="108" y="117"/>
                      <a:pt x="108" y="116"/>
                    </a:cubicBezTo>
                    <a:cubicBezTo>
                      <a:pt x="109" y="116"/>
                      <a:pt x="113" y="113"/>
                      <a:pt x="113" y="113"/>
                    </a:cubicBezTo>
                    <a:cubicBezTo>
                      <a:pt x="113" y="113"/>
                      <a:pt x="114" y="113"/>
                      <a:pt x="114" y="113"/>
                    </a:cubicBezTo>
                    <a:cubicBezTo>
                      <a:pt x="114" y="113"/>
                      <a:pt x="119" y="112"/>
                      <a:pt x="119" y="112"/>
                    </a:cubicBezTo>
                    <a:cubicBezTo>
                      <a:pt x="119" y="112"/>
                      <a:pt x="120" y="112"/>
                      <a:pt x="120" y="112"/>
                    </a:cubicBezTo>
                    <a:cubicBezTo>
                      <a:pt x="120" y="113"/>
                      <a:pt x="124" y="115"/>
                      <a:pt x="124" y="115"/>
                    </a:cubicBezTo>
                    <a:cubicBezTo>
                      <a:pt x="124" y="115"/>
                      <a:pt x="125" y="116"/>
                      <a:pt x="125" y="115"/>
                    </a:cubicBezTo>
                    <a:cubicBezTo>
                      <a:pt x="125" y="115"/>
                      <a:pt x="130" y="111"/>
                      <a:pt x="130" y="111"/>
                    </a:cubicBezTo>
                    <a:cubicBezTo>
                      <a:pt x="130" y="111"/>
                      <a:pt x="131" y="110"/>
                      <a:pt x="131" y="110"/>
                    </a:cubicBezTo>
                    <a:cubicBezTo>
                      <a:pt x="131" y="110"/>
                      <a:pt x="131" y="110"/>
                      <a:pt x="131" y="110"/>
                    </a:cubicBezTo>
                    <a:cubicBezTo>
                      <a:pt x="131" y="109"/>
                      <a:pt x="130" y="102"/>
                      <a:pt x="130" y="102"/>
                    </a:cubicBezTo>
                    <a:cubicBezTo>
                      <a:pt x="130" y="102"/>
                      <a:pt x="130" y="101"/>
                      <a:pt x="130" y="101"/>
                    </a:cubicBezTo>
                    <a:cubicBezTo>
                      <a:pt x="131" y="101"/>
                      <a:pt x="132" y="99"/>
                      <a:pt x="132" y="99"/>
                    </a:cubicBezTo>
                    <a:cubicBezTo>
                      <a:pt x="132" y="99"/>
                      <a:pt x="133" y="99"/>
                      <a:pt x="133" y="98"/>
                    </a:cubicBezTo>
                    <a:cubicBezTo>
                      <a:pt x="133" y="98"/>
                      <a:pt x="134" y="94"/>
                      <a:pt x="134" y="93"/>
                    </a:cubicBezTo>
                    <a:cubicBezTo>
                      <a:pt x="134" y="93"/>
                      <a:pt x="133" y="93"/>
                      <a:pt x="134" y="92"/>
                    </a:cubicBezTo>
                    <a:cubicBezTo>
                      <a:pt x="134" y="92"/>
                      <a:pt x="135" y="91"/>
                      <a:pt x="135" y="91"/>
                    </a:cubicBezTo>
                    <a:cubicBezTo>
                      <a:pt x="135" y="91"/>
                      <a:pt x="136" y="91"/>
                      <a:pt x="136" y="91"/>
                    </a:cubicBezTo>
                    <a:cubicBezTo>
                      <a:pt x="137" y="91"/>
                      <a:pt x="140" y="91"/>
                      <a:pt x="140" y="91"/>
                    </a:cubicBezTo>
                    <a:cubicBezTo>
                      <a:pt x="140" y="91"/>
                      <a:pt x="142" y="90"/>
                      <a:pt x="143" y="89"/>
                    </a:cubicBezTo>
                    <a:cubicBezTo>
                      <a:pt x="143" y="89"/>
                      <a:pt x="144" y="89"/>
                      <a:pt x="144" y="89"/>
                    </a:cubicBezTo>
                    <a:cubicBezTo>
                      <a:pt x="145" y="88"/>
                      <a:pt x="146" y="87"/>
                      <a:pt x="146" y="87"/>
                    </a:cubicBezTo>
                    <a:cubicBezTo>
                      <a:pt x="146" y="87"/>
                      <a:pt x="146" y="87"/>
                      <a:pt x="146" y="87"/>
                    </a:cubicBezTo>
                    <a:cubicBezTo>
                      <a:pt x="145" y="86"/>
                      <a:pt x="144" y="85"/>
                      <a:pt x="144" y="84"/>
                    </a:cubicBezTo>
                    <a:cubicBezTo>
                      <a:pt x="143" y="83"/>
                      <a:pt x="142" y="81"/>
                      <a:pt x="142" y="81"/>
                    </a:cubicBezTo>
                    <a:cubicBezTo>
                      <a:pt x="142" y="81"/>
                      <a:pt x="142" y="80"/>
                      <a:pt x="141" y="80"/>
                    </a:cubicBezTo>
                    <a:cubicBezTo>
                      <a:pt x="141" y="80"/>
                      <a:pt x="141" y="80"/>
                      <a:pt x="141" y="80"/>
                    </a:cubicBezTo>
                    <a:cubicBezTo>
                      <a:pt x="140" y="79"/>
                      <a:pt x="139" y="78"/>
                      <a:pt x="139" y="78"/>
                    </a:cubicBezTo>
                    <a:cubicBezTo>
                      <a:pt x="139" y="78"/>
                      <a:pt x="139" y="77"/>
                      <a:pt x="139" y="76"/>
                    </a:cubicBezTo>
                    <a:cubicBezTo>
                      <a:pt x="139" y="76"/>
                      <a:pt x="139" y="76"/>
                      <a:pt x="140" y="75"/>
                    </a:cubicBezTo>
                    <a:cubicBezTo>
                      <a:pt x="140" y="75"/>
                      <a:pt x="141" y="75"/>
                      <a:pt x="141" y="75"/>
                    </a:cubicBezTo>
                    <a:cubicBezTo>
                      <a:pt x="142" y="75"/>
                      <a:pt x="144" y="76"/>
                      <a:pt x="144" y="76"/>
                    </a:cubicBezTo>
                    <a:cubicBezTo>
                      <a:pt x="145" y="76"/>
                      <a:pt x="148" y="77"/>
                      <a:pt x="149" y="77"/>
                    </a:cubicBezTo>
                    <a:cubicBezTo>
                      <a:pt x="149" y="77"/>
                      <a:pt x="151" y="77"/>
                      <a:pt x="152" y="77"/>
                    </a:cubicBezTo>
                    <a:cubicBezTo>
                      <a:pt x="153" y="77"/>
                      <a:pt x="154" y="76"/>
                      <a:pt x="155" y="75"/>
                    </a:cubicBezTo>
                    <a:cubicBezTo>
                      <a:pt x="156" y="75"/>
                      <a:pt x="157" y="74"/>
                      <a:pt x="157" y="73"/>
                    </a:cubicBezTo>
                    <a:cubicBezTo>
                      <a:pt x="158" y="73"/>
                      <a:pt x="158" y="71"/>
                      <a:pt x="158" y="71"/>
                    </a:cubicBezTo>
                    <a:cubicBezTo>
                      <a:pt x="158" y="71"/>
                      <a:pt x="158" y="70"/>
                      <a:pt x="158" y="70"/>
                    </a:cubicBezTo>
                    <a:cubicBezTo>
                      <a:pt x="157" y="69"/>
                      <a:pt x="156" y="69"/>
                      <a:pt x="156" y="68"/>
                    </a:cubicBezTo>
                    <a:cubicBezTo>
                      <a:pt x="156" y="68"/>
                      <a:pt x="156" y="67"/>
                      <a:pt x="156" y="66"/>
                    </a:cubicBezTo>
                    <a:cubicBezTo>
                      <a:pt x="156" y="66"/>
                      <a:pt x="157" y="65"/>
                      <a:pt x="158" y="65"/>
                    </a:cubicBezTo>
                    <a:cubicBezTo>
                      <a:pt x="158" y="64"/>
                      <a:pt x="159" y="64"/>
                      <a:pt x="159" y="63"/>
                    </a:cubicBezTo>
                    <a:cubicBezTo>
                      <a:pt x="159" y="63"/>
                      <a:pt x="160" y="62"/>
                      <a:pt x="160" y="61"/>
                    </a:cubicBezTo>
                    <a:cubicBezTo>
                      <a:pt x="161" y="61"/>
                      <a:pt x="161" y="61"/>
                      <a:pt x="161" y="61"/>
                    </a:cubicBezTo>
                    <a:cubicBezTo>
                      <a:pt x="161" y="61"/>
                      <a:pt x="163" y="60"/>
                      <a:pt x="163" y="60"/>
                    </a:cubicBezTo>
                    <a:cubicBezTo>
                      <a:pt x="164" y="59"/>
                      <a:pt x="164" y="58"/>
                      <a:pt x="164" y="58"/>
                    </a:cubicBezTo>
                    <a:cubicBezTo>
                      <a:pt x="164" y="57"/>
                      <a:pt x="165" y="56"/>
                      <a:pt x="165" y="56"/>
                    </a:cubicBezTo>
                    <a:cubicBezTo>
                      <a:pt x="165" y="56"/>
                      <a:pt x="166" y="55"/>
                      <a:pt x="165" y="55"/>
                    </a:cubicBezTo>
                    <a:cubicBezTo>
                      <a:pt x="165" y="55"/>
                      <a:pt x="165" y="55"/>
                      <a:pt x="165" y="54"/>
                    </a:cubicBezTo>
                    <a:cubicBezTo>
                      <a:pt x="165" y="54"/>
                      <a:pt x="165" y="51"/>
                      <a:pt x="165" y="50"/>
                    </a:cubicBezTo>
                    <a:cubicBezTo>
                      <a:pt x="164" y="50"/>
                      <a:pt x="160" y="43"/>
                      <a:pt x="160" y="43"/>
                    </a:cubicBezTo>
                    <a:cubicBezTo>
                      <a:pt x="160" y="43"/>
                      <a:pt x="160" y="42"/>
                      <a:pt x="159" y="42"/>
                    </a:cubicBezTo>
                    <a:cubicBezTo>
                      <a:pt x="159" y="42"/>
                      <a:pt x="159" y="42"/>
                      <a:pt x="159" y="41"/>
                    </a:cubicBezTo>
                    <a:cubicBezTo>
                      <a:pt x="159" y="41"/>
                      <a:pt x="165" y="35"/>
                      <a:pt x="165" y="35"/>
                    </a:cubicBezTo>
                    <a:cubicBezTo>
                      <a:pt x="166" y="34"/>
                      <a:pt x="166" y="34"/>
                      <a:pt x="166" y="35"/>
                    </a:cubicBezTo>
                    <a:cubicBezTo>
                      <a:pt x="167" y="35"/>
                      <a:pt x="168" y="36"/>
                      <a:pt x="169" y="35"/>
                    </a:cubicBezTo>
                    <a:cubicBezTo>
                      <a:pt x="170" y="34"/>
                      <a:pt x="177" y="29"/>
                      <a:pt x="180" y="29"/>
                    </a:cubicBezTo>
                    <a:cubicBezTo>
                      <a:pt x="182" y="28"/>
                      <a:pt x="193" y="27"/>
                      <a:pt x="195" y="27"/>
                    </a:cubicBezTo>
                    <a:cubicBezTo>
                      <a:pt x="197" y="27"/>
                      <a:pt x="197" y="27"/>
                      <a:pt x="197" y="27"/>
                    </a:cubicBezTo>
                    <a:cubicBezTo>
                      <a:pt x="197" y="28"/>
                      <a:pt x="201" y="28"/>
                      <a:pt x="202" y="28"/>
                    </a:cubicBezTo>
                    <a:cubicBezTo>
                      <a:pt x="203" y="28"/>
                      <a:pt x="207" y="26"/>
                      <a:pt x="208" y="25"/>
                    </a:cubicBezTo>
                    <a:cubicBezTo>
                      <a:pt x="208" y="25"/>
                      <a:pt x="208" y="25"/>
                      <a:pt x="209" y="25"/>
                    </a:cubicBezTo>
                    <a:cubicBezTo>
                      <a:pt x="207" y="23"/>
                      <a:pt x="207" y="23"/>
                      <a:pt x="207" y="23"/>
                    </a:cubicBezTo>
                    <a:cubicBezTo>
                      <a:pt x="207" y="23"/>
                      <a:pt x="206" y="22"/>
                      <a:pt x="207" y="22"/>
                    </a:cubicBezTo>
                    <a:cubicBezTo>
                      <a:pt x="209" y="22"/>
                      <a:pt x="212" y="22"/>
                      <a:pt x="213" y="21"/>
                    </a:cubicBezTo>
                    <a:cubicBezTo>
                      <a:pt x="213" y="21"/>
                      <a:pt x="212" y="21"/>
                      <a:pt x="212" y="20"/>
                    </a:cubicBezTo>
                    <a:cubicBezTo>
                      <a:pt x="209" y="18"/>
                      <a:pt x="205" y="18"/>
                      <a:pt x="204" y="18"/>
                    </a:cubicBezTo>
                    <a:cubicBezTo>
                      <a:pt x="204" y="18"/>
                      <a:pt x="204" y="18"/>
                      <a:pt x="204" y="19"/>
                    </a:cubicBezTo>
                    <a:cubicBezTo>
                      <a:pt x="204" y="19"/>
                      <a:pt x="204" y="19"/>
                      <a:pt x="203" y="20"/>
                    </a:cubicBezTo>
                    <a:cubicBezTo>
                      <a:pt x="203" y="20"/>
                      <a:pt x="201" y="20"/>
                      <a:pt x="200" y="21"/>
                    </a:cubicBezTo>
                    <a:cubicBezTo>
                      <a:pt x="198" y="21"/>
                      <a:pt x="196" y="22"/>
                      <a:pt x="195" y="21"/>
                    </a:cubicBezTo>
                    <a:cubicBezTo>
                      <a:pt x="194" y="21"/>
                      <a:pt x="195" y="20"/>
                      <a:pt x="196" y="20"/>
                    </a:cubicBezTo>
                    <a:cubicBezTo>
                      <a:pt x="197" y="20"/>
                      <a:pt x="196" y="20"/>
                      <a:pt x="196" y="20"/>
                    </a:cubicBezTo>
                    <a:cubicBezTo>
                      <a:pt x="196" y="20"/>
                      <a:pt x="194" y="18"/>
                      <a:pt x="192" y="18"/>
                    </a:cubicBezTo>
                    <a:cubicBezTo>
                      <a:pt x="190" y="17"/>
                      <a:pt x="187" y="19"/>
                      <a:pt x="186" y="20"/>
                    </a:cubicBezTo>
                    <a:cubicBezTo>
                      <a:pt x="185" y="20"/>
                      <a:pt x="184" y="22"/>
                      <a:pt x="183" y="23"/>
                    </a:cubicBezTo>
                    <a:cubicBezTo>
                      <a:pt x="182" y="24"/>
                      <a:pt x="180" y="25"/>
                      <a:pt x="179" y="25"/>
                    </a:cubicBezTo>
                    <a:cubicBezTo>
                      <a:pt x="179" y="26"/>
                      <a:pt x="167" y="30"/>
                      <a:pt x="166" y="30"/>
                    </a:cubicBezTo>
                    <a:cubicBezTo>
                      <a:pt x="166" y="31"/>
                      <a:pt x="165" y="30"/>
                      <a:pt x="165" y="30"/>
                    </a:cubicBezTo>
                    <a:cubicBezTo>
                      <a:pt x="165" y="30"/>
                      <a:pt x="164" y="29"/>
                      <a:pt x="163" y="27"/>
                    </a:cubicBezTo>
                    <a:cubicBezTo>
                      <a:pt x="162" y="26"/>
                      <a:pt x="163" y="23"/>
                      <a:pt x="163" y="21"/>
                    </a:cubicBezTo>
                    <a:cubicBezTo>
                      <a:pt x="163" y="19"/>
                      <a:pt x="164" y="11"/>
                      <a:pt x="164" y="10"/>
                    </a:cubicBezTo>
                    <a:cubicBezTo>
                      <a:pt x="164" y="9"/>
                      <a:pt x="161" y="8"/>
                      <a:pt x="160" y="8"/>
                    </a:cubicBezTo>
                    <a:cubicBezTo>
                      <a:pt x="160" y="8"/>
                      <a:pt x="160" y="8"/>
                      <a:pt x="160" y="8"/>
                    </a:cubicBezTo>
                    <a:cubicBezTo>
                      <a:pt x="160" y="8"/>
                      <a:pt x="160" y="7"/>
                      <a:pt x="161" y="7"/>
                    </a:cubicBezTo>
                    <a:cubicBezTo>
                      <a:pt x="161" y="6"/>
                      <a:pt x="161" y="6"/>
                      <a:pt x="161" y="6"/>
                    </a:cubicBezTo>
                    <a:cubicBezTo>
                      <a:pt x="161" y="6"/>
                      <a:pt x="158" y="2"/>
                      <a:pt x="158" y="2"/>
                    </a:cubicBezTo>
                    <a:cubicBezTo>
                      <a:pt x="158" y="1"/>
                      <a:pt x="157" y="1"/>
                      <a:pt x="156" y="1"/>
                    </a:cubicBezTo>
                    <a:cubicBezTo>
                      <a:pt x="156" y="0"/>
                      <a:pt x="155" y="0"/>
                      <a:pt x="155" y="0"/>
                    </a:cubicBezTo>
                    <a:cubicBezTo>
                      <a:pt x="155" y="0"/>
                      <a:pt x="154" y="1"/>
                      <a:pt x="153" y="1"/>
                    </a:cubicBezTo>
                    <a:cubicBezTo>
                      <a:pt x="152" y="1"/>
                      <a:pt x="152" y="1"/>
                      <a:pt x="152" y="1"/>
                    </a:cubicBezTo>
                    <a:cubicBezTo>
                      <a:pt x="152" y="1"/>
                      <a:pt x="148" y="6"/>
                      <a:pt x="147" y="7"/>
                    </a:cubicBezTo>
                    <a:cubicBezTo>
                      <a:pt x="147" y="7"/>
                      <a:pt x="146" y="8"/>
                      <a:pt x="145" y="8"/>
                    </a:cubicBezTo>
                    <a:cubicBezTo>
                      <a:pt x="145" y="9"/>
                      <a:pt x="144" y="9"/>
                      <a:pt x="143" y="10"/>
                    </a:cubicBezTo>
                    <a:cubicBezTo>
                      <a:pt x="143" y="10"/>
                      <a:pt x="145" y="12"/>
                      <a:pt x="145" y="12"/>
                    </a:cubicBezTo>
                    <a:cubicBezTo>
                      <a:pt x="146" y="13"/>
                      <a:pt x="145" y="14"/>
                      <a:pt x="145" y="14"/>
                    </a:cubicBezTo>
                    <a:cubicBezTo>
                      <a:pt x="145" y="15"/>
                      <a:pt x="144" y="15"/>
                      <a:pt x="144" y="15"/>
                    </a:cubicBezTo>
                    <a:cubicBezTo>
                      <a:pt x="144" y="16"/>
                      <a:pt x="144" y="16"/>
                      <a:pt x="143" y="16"/>
                    </a:cubicBezTo>
                    <a:cubicBezTo>
                      <a:pt x="143" y="16"/>
                      <a:pt x="139" y="16"/>
                      <a:pt x="139" y="16"/>
                    </a:cubicBezTo>
                    <a:cubicBezTo>
                      <a:pt x="138" y="16"/>
                      <a:pt x="135" y="15"/>
                      <a:pt x="135" y="15"/>
                    </a:cubicBezTo>
                    <a:cubicBezTo>
                      <a:pt x="134" y="15"/>
                      <a:pt x="134" y="16"/>
                      <a:pt x="134" y="16"/>
                    </a:cubicBezTo>
                    <a:cubicBezTo>
                      <a:pt x="134" y="16"/>
                      <a:pt x="133" y="20"/>
                      <a:pt x="132" y="20"/>
                    </a:cubicBezTo>
                    <a:cubicBezTo>
                      <a:pt x="132" y="21"/>
                      <a:pt x="132" y="22"/>
                      <a:pt x="132" y="22"/>
                    </a:cubicBezTo>
                    <a:cubicBezTo>
                      <a:pt x="132" y="23"/>
                      <a:pt x="131" y="23"/>
                      <a:pt x="130" y="24"/>
                    </a:cubicBezTo>
                    <a:cubicBezTo>
                      <a:pt x="130" y="24"/>
                      <a:pt x="130" y="24"/>
                      <a:pt x="130" y="24"/>
                    </a:cubicBezTo>
                    <a:cubicBezTo>
                      <a:pt x="130" y="24"/>
                      <a:pt x="126" y="21"/>
                      <a:pt x="126" y="20"/>
                    </a:cubicBezTo>
                    <a:cubicBezTo>
                      <a:pt x="125" y="20"/>
                      <a:pt x="125" y="20"/>
                      <a:pt x="125" y="20"/>
                    </a:cubicBezTo>
                    <a:cubicBezTo>
                      <a:pt x="125" y="20"/>
                      <a:pt x="122" y="21"/>
                      <a:pt x="121" y="22"/>
                    </a:cubicBezTo>
                    <a:cubicBezTo>
                      <a:pt x="121" y="22"/>
                      <a:pt x="118" y="23"/>
                      <a:pt x="117" y="23"/>
                    </a:cubicBezTo>
                    <a:cubicBezTo>
                      <a:pt x="116" y="23"/>
                      <a:pt x="115" y="24"/>
                      <a:pt x="115" y="24"/>
                    </a:cubicBezTo>
                    <a:cubicBezTo>
                      <a:pt x="115" y="24"/>
                      <a:pt x="113" y="26"/>
                      <a:pt x="113" y="26"/>
                    </a:cubicBezTo>
                    <a:cubicBezTo>
                      <a:pt x="112" y="27"/>
                      <a:pt x="111" y="27"/>
                      <a:pt x="111" y="26"/>
                    </a:cubicBezTo>
                    <a:cubicBezTo>
                      <a:pt x="111" y="26"/>
                      <a:pt x="110" y="25"/>
                      <a:pt x="109" y="24"/>
                    </a:cubicBezTo>
                    <a:cubicBezTo>
                      <a:pt x="108" y="24"/>
                      <a:pt x="108" y="24"/>
                      <a:pt x="108" y="24"/>
                    </a:cubicBezTo>
                    <a:cubicBezTo>
                      <a:pt x="108" y="22"/>
                      <a:pt x="108" y="22"/>
                      <a:pt x="108" y="22"/>
                    </a:cubicBezTo>
                    <a:cubicBezTo>
                      <a:pt x="108" y="22"/>
                      <a:pt x="108" y="22"/>
                      <a:pt x="108" y="2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72" name="Freeform 682">
                <a:extLst>
                  <a:ext uri="{FF2B5EF4-FFF2-40B4-BE49-F238E27FC236}">
                    <a16:creationId xmlns:a16="http://schemas.microsoft.com/office/drawing/2014/main" id="{A7622FF0-7B38-45E1-A0B3-E7716E1C622A}"/>
                  </a:ext>
                </a:extLst>
              </p:cNvPr>
              <p:cNvSpPr>
                <a:spLocks/>
              </p:cNvSpPr>
              <p:nvPr/>
            </p:nvSpPr>
            <p:spPr bwMode="auto">
              <a:xfrm>
                <a:off x="4890" y="2181"/>
                <a:ext cx="2" cy="7"/>
              </a:xfrm>
              <a:custGeom>
                <a:avLst/>
                <a:gdLst>
                  <a:gd name="T0" fmla="*/ 0 w 2"/>
                  <a:gd name="T1" fmla="*/ 2 h 5"/>
                  <a:gd name="T2" fmla="*/ 1 w 2"/>
                  <a:gd name="T3" fmla="*/ 4 h 5"/>
                  <a:gd name="T4" fmla="*/ 2 w 2"/>
                  <a:gd name="T5" fmla="*/ 1 h 5"/>
                  <a:gd name="T6" fmla="*/ 0 w 2"/>
                  <a:gd name="T7" fmla="*/ 2 h 5"/>
                </a:gdLst>
                <a:ahLst/>
                <a:cxnLst>
                  <a:cxn ang="0">
                    <a:pos x="T0" y="T1"/>
                  </a:cxn>
                  <a:cxn ang="0">
                    <a:pos x="T2" y="T3"/>
                  </a:cxn>
                  <a:cxn ang="0">
                    <a:pos x="T4" y="T5"/>
                  </a:cxn>
                  <a:cxn ang="0">
                    <a:pos x="T6" y="T7"/>
                  </a:cxn>
                </a:cxnLst>
                <a:rect l="0" t="0" r="r" b="b"/>
                <a:pathLst>
                  <a:path w="2" h="5">
                    <a:moveTo>
                      <a:pt x="0" y="2"/>
                    </a:moveTo>
                    <a:cubicBezTo>
                      <a:pt x="0" y="2"/>
                      <a:pt x="1" y="4"/>
                      <a:pt x="1" y="4"/>
                    </a:cubicBezTo>
                    <a:cubicBezTo>
                      <a:pt x="1" y="5"/>
                      <a:pt x="2" y="2"/>
                      <a:pt x="2" y="1"/>
                    </a:cubicBezTo>
                    <a:cubicBezTo>
                      <a:pt x="2" y="0"/>
                      <a:pt x="1" y="1"/>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73" name="Freeform 683">
                <a:extLst>
                  <a:ext uri="{FF2B5EF4-FFF2-40B4-BE49-F238E27FC236}">
                    <a16:creationId xmlns:a16="http://schemas.microsoft.com/office/drawing/2014/main" id="{E87B856F-3A4E-484D-8541-AA19BD1DF1B8}"/>
                  </a:ext>
                </a:extLst>
              </p:cNvPr>
              <p:cNvSpPr>
                <a:spLocks/>
              </p:cNvSpPr>
              <p:nvPr/>
            </p:nvSpPr>
            <p:spPr bwMode="auto">
              <a:xfrm>
                <a:off x="4894" y="2182"/>
                <a:ext cx="5" cy="6"/>
              </a:xfrm>
              <a:custGeom>
                <a:avLst/>
                <a:gdLst>
                  <a:gd name="T0" fmla="*/ 1 w 4"/>
                  <a:gd name="T1" fmla="*/ 2 h 4"/>
                  <a:gd name="T2" fmla="*/ 1 w 4"/>
                  <a:gd name="T3" fmla="*/ 4 h 4"/>
                  <a:gd name="T4" fmla="*/ 2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1" y="2"/>
                      <a:pt x="0" y="4"/>
                      <a:pt x="1" y="4"/>
                    </a:cubicBezTo>
                    <a:cubicBezTo>
                      <a:pt x="2" y="4"/>
                      <a:pt x="2" y="4"/>
                      <a:pt x="2" y="3"/>
                    </a:cubicBezTo>
                    <a:cubicBezTo>
                      <a:pt x="3" y="1"/>
                      <a:pt x="4" y="2"/>
                      <a:pt x="3" y="1"/>
                    </a:cubicBezTo>
                    <a:cubicBezTo>
                      <a:pt x="2" y="0"/>
                      <a:pt x="1" y="1"/>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74" name="Freeform 684">
                <a:extLst>
                  <a:ext uri="{FF2B5EF4-FFF2-40B4-BE49-F238E27FC236}">
                    <a16:creationId xmlns:a16="http://schemas.microsoft.com/office/drawing/2014/main" id="{B9AC121F-1B53-4214-A5F6-4642DEB46572}"/>
                  </a:ext>
                </a:extLst>
              </p:cNvPr>
              <p:cNvSpPr>
                <a:spLocks/>
              </p:cNvSpPr>
              <p:nvPr/>
            </p:nvSpPr>
            <p:spPr bwMode="auto">
              <a:xfrm>
                <a:off x="4898" y="2182"/>
                <a:ext cx="3" cy="7"/>
              </a:xfrm>
              <a:custGeom>
                <a:avLst/>
                <a:gdLst>
                  <a:gd name="T0" fmla="*/ 1 w 2"/>
                  <a:gd name="T1" fmla="*/ 1 h 5"/>
                  <a:gd name="T2" fmla="*/ 0 w 2"/>
                  <a:gd name="T3" fmla="*/ 3 h 5"/>
                  <a:gd name="T4" fmla="*/ 2 w 2"/>
                  <a:gd name="T5" fmla="*/ 3 h 5"/>
                  <a:gd name="T6" fmla="*/ 1 w 2"/>
                  <a:gd name="T7" fmla="*/ 1 h 5"/>
                </a:gdLst>
                <a:ahLst/>
                <a:cxnLst>
                  <a:cxn ang="0">
                    <a:pos x="T0" y="T1"/>
                  </a:cxn>
                  <a:cxn ang="0">
                    <a:pos x="T2" y="T3"/>
                  </a:cxn>
                  <a:cxn ang="0">
                    <a:pos x="T4" y="T5"/>
                  </a:cxn>
                  <a:cxn ang="0">
                    <a:pos x="T6" y="T7"/>
                  </a:cxn>
                </a:cxnLst>
                <a:rect l="0" t="0" r="r" b="b"/>
                <a:pathLst>
                  <a:path w="2" h="5">
                    <a:moveTo>
                      <a:pt x="1" y="1"/>
                    </a:moveTo>
                    <a:cubicBezTo>
                      <a:pt x="1" y="1"/>
                      <a:pt x="0" y="2"/>
                      <a:pt x="0" y="3"/>
                    </a:cubicBezTo>
                    <a:cubicBezTo>
                      <a:pt x="0" y="3"/>
                      <a:pt x="2" y="5"/>
                      <a:pt x="2" y="3"/>
                    </a:cubicBezTo>
                    <a:cubicBezTo>
                      <a:pt x="2" y="0"/>
                      <a:pt x="1" y="1"/>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75" name="Freeform 685">
                <a:extLst>
                  <a:ext uri="{FF2B5EF4-FFF2-40B4-BE49-F238E27FC236}">
                    <a16:creationId xmlns:a16="http://schemas.microsoft.com/office/drawing/2014/main" id="{481E0098-16CC-45D7-905A-4186F6123E7B}"/>
                  </a:ext>
                </a:extLst>
              </p:cNvPr>
              <p:cNvSpPr>
                <a:spLocks/>
              </p:cNvSpPr>
              <p:nvPr/>
            </p:nvSpPr>
            <p:spPr bwMode="auto">
              <a:xfrm>
                <a:off x="4754" y="1890"/>
                <a:ext cx="347" cy="299"/>
              </a:xfrm>
              <a:custGeom>
                <a:avLst/>
                <a:gdLst>
                  <a:gd name="T0" fmla="*/ 191 w 251"/>
                  <a:gd name="T1" fmla="*/ 3 h 218"/>
                  <a:gd name="T2" fmla="*/ 160 w 251"/>
                  <a:gd name="T3" fmla="*/ 11 h 218"/>
                  <a:gd name="T4" fmla="*/ 154 w 251"/>
                  <a:gd name="T5" fmla="*/ 19 h 218"/>
                  <a:gd name="T6" fmla="*/ 159 w 251"/>
                  <a:gd name="T7" fmla="*/ 32 h 218"/>
                  <a:gd name="T8" fmla="*/ 154 w 251"/>
                  <a:gd name="T9" fmla="*/ 37 h 218"/>
                  <a:gd name="T10" fmla="*/ 150 w 251"/>
                  <a:gd name="T11" fmla="*/ 44 h 218"/>
                  <a:gd name="T12" fmla="*/ 149 w 251"/>
                  <a:gd name="T13" fmla="*/ 51 h 218"/>
                  <a:gd name="T14" fmla="*/ 135 w 251"/>
                  <a:gd name="T15" fmla="*/ 51 h 218"/>
                  <a:gd name="T16" fmla="*/ 135 w 251"/>
                  <a:gd name="T17" fmla="*/ 56 h 218"/>
                  <a:gd name="T18" fmla="*/ 140 w 251"/>
                  <a:gd name="T19" fmla="*/ 63 h 218"/>
                  <a:gd name="T20" fmla="*/ 134 w 251"/>
                  <a:gd name="T21" fmla="*/ 67 h 218"/>
                  <a:gd name="T22" fmla="*/ 128 w 251"/>
                  <a:gd name="T23" fmla="*/ 69 h 218"/>
                  <a:gd name="T24" fmla="*/ 124 w 251"/>
                  <a:gd name="T25" fmla="*/ 78 h 218"/>
                  <a:gd name="T26" fmla="*/ 119 w 251"/>
                  <a:gd name="T27" fmla="*/ 91 h 218"/>
                  <a:gd name="T28" fmla="*/ 108 w 251"/>
                  <a:gd name="T29" fmla="*/ 89 h 218"/>
                  <a:gd name="T30" fmla="*/ 99 w 251"/>
                  <a:gd name="T31" fmla="*/ 93 h 218"/>
                  <a:gd name="T32" fmla="*/ 96 w 251"/>
                  <a:gd name="T33" fmla="*/ 98 h 218"/>
                  <a:gd name="T34" fmla="*/ 84 w 251"/>
                  <a:gd name="T35" fmla="*/ 101 h 218"/>
                  <a:gd name="T36" fmla="*/ 80 w 251"/>
                  <a:gd name="T37" fmla="*/ 118 h 218"/>
                  <a:gd name="T38" fmla="*/ 55 w 251"/>
                  <a:gd name="T39" fmla="*/ 125 h 218"/>
                  <a:gd name="T40" fmla="*/ 41 w 251"/>
                  <a:gd name="T41" fmla="*/ 126 h 218"/>
                  <a:gd name="T42" fmla="*/ 0 w 251"/>
                  <a:gd name="T43" fmla="*/ 120 h 218"/>
                  <a:gd name="T44" fmla="*/ 28 w 251"/>
                  <a:gd name="T45" fmla="*/ 147 h 218"/>
                  <a:gd name="T46" fmla="*/ 31 w 251"/>
                  <a:gd name="T47" fmla="*/ 163 h 218"/>
                  <a:gd name="T48" fmla="*/ 33 w 251"/>
                  <a:gd name="T49" fmla="*/ 172 h 218"/>
                  <a:gd name="T50" fmla="*/ 14 w 251"/>
                  <a:gd name="T51" fmla="*/ 181 h 218"/>
                  <a:gd name="T52" fmla="*/ 13 w 251"/>
                  <a:gd name="T53" fmla="*/ 196 h 218"/>
                  <a:gd name="T54" fmla="*/ 21 w 251"/>
                  <a:gd name="T55" fmla="*/ 195 h 218"/>
                  <a:gd name="T56" fmla="*/ 48 w 251"/>
                  <a:gd name="T57" fmla="*/ 192 h 218"/>
                  <a:gd name="T58" fmla="*/ 84 w 251"/>
                  <a:gd name="T59" fmla="*/ 192 h 218"/>
                  <a:gd name="T60" fmla="*/ 94 w 251"/>
                  <a:gd name="T61" fmla="*/ 203 h 218"/>
                  <a:gd name="T62" fmla="*/ 107 w 251"/>
                  <a:gd name="T63" fmla="*/ 217 h 218"/>
                  <a:gd name="T64" fmla="*/ 115 w 251"/>
                  <a:gd name="T65" fmla="*/ 214 h 218"/>
                  <a:gd name="T66" fmla="*/ 134 w 251"/>
                  <a:gd name="T67" fmla="*/ 211 h 218"/>
                  <a:gd name="T68" fmla="*/ 144 w 251"/>
                  <a:gd name="T69" fmla="*/ 209 h 218"/>
                  <a:gd name="T70" fmla="*/ 150 w 251"/>
                  <a:gd name="T71" fmla="*/ 207 h 218"/>
                  <a:gd name="T72" fmla="*/ 144 w 251"/>
                  <a:gd name="T73" fmla="*/ 187 h 218"/>
                  <a:gd name="T74" fmla="*/ 137 w 251"/>
                  <a:gd name="T75" fmla="*/ 179 h 218"/>
                  <a:gd name="T76" fmla="*/ 127 w 251"/>
                  <a:gd name="T77" fmla="*/ 168 h 218"/>
                  <a:gd name="T78" fmla="*/ 143 w 251"/>
                  <a:gd name="T79" fmla="*/ 150 h 218"/>
                  <a:gd name="T80" fmla="*/ 161 w 251"/>
                  <a:gd name="T81" fmla="*/ 152 h 218"/>
                  <a:gd name="T82" fmla="*/ 179 w 251"/>
                  <a:gd name="T83" fmla="*/ 133 h 218"/>
                  <a:gd name="T84" fmla="*/ 194 w 251"/>
                  <a:gd name="T85" fmla="*/ 114 h 218"/>
                  <a:gd name="T86" fmla="*/ 203 w 251"/>
                  <a:gd name="T87" fmla="*/ 102 h 218"/>
                  <a:gd name="T88" fmla="*/ 205 w 251"/>
                  <a:gd name="T89" fmla="*/ 86 h 218"/>
                  <a:gd name="T90" fmla="*/ 214 w 251"/>
                  <a:gd name="T91" fmla="*/ 79 h 218"/>
                  <a:gd name="T92" fmla="*/ 205 w 251"/>
                  <a:gd name="T93" fmla="*/ 72 h 218"/>
                  <a:gd name="T94" fmla="*/ 199 w 251"/>
                  <a:gd name="T95" fmla="*/ 72 h 218"/>
                  <a:gd name="T96" fmla="*/ 195 w 251"/>
                  <a:gd name="T97" fmla="*/ 57 h 218"/>
                  <a:gd name="T98" fmla="*/ 196 w 251"/>
                  <a:gd name="T99" fmla="*/ 51 h 218"/>
                  <a:gd name="T100" fmla="*/ 193 w 251"/>
                  <a:gd name="T101" fmla="*/ 47 h 218"/>
                  <a:gd name="T102" fmla="*/ 199 w 251"/>
                  <a:gd name="T103" fmla="*/ 40 h 218"/>
                  <a:gd name="T104" fmla="*/ 216 w 251"/>
                  <a:gd name="T105" fmla="*/ 43 h 218"/>
                  <a:gd name="T106" fmla="*/ 236 w 251"/>
                  <a:gd name="T107" fmla="*/ 38 h 218"/>
                  <a:gd name="T108" fmla="*/ 234 w 251"/>
                  <a:gd name="T109" fmla="*/ 23 h 218"/>
                  <a:gd name="T110" fmla="*/ 227 w 251"/>
                  <a:gd name="T111" fmla="*/ 21 h 218"/>
                  <a:gd name="T112" fmla="*/ 220 w 251"/>
                  <a:gd name="T113" fmla="*/ 6 h 218"/>
                  <a:gd name="T114" fmla="*/ 205 w 251"/>
                  <a:gd name="T115" fmla="*/ 1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1" h="218">
                    <a:moveTo>
                      <a:pt x="203" y="1"/>
                    </a:moveTo>
                    <a:cubicBezTo>
                      <a:pt x="202" y="1"/>
                      <a:pt x="202" y="1"/>
                      <a:pt x="202" y="1"/>
                    </a:cubicBezTo>
                    <a:cubicBezTo>
                      <a:pt x="201" y="2"/>
                      <a:pt x="197" y="4"/>
                      <a:pt x="196" y="4"/>
                    </a:cubicBezTo>
                    <a:cubicBezTo>
                      <a:pt x="195" y="4"/>
                      <a:pt x="191" y="4"/>
                      <a:pt x="191" y="3"/>
                    </a:cubicBezTo>
                    <a:cubicBezTo>
                      <a:pt x="191" y="3"/>
                      <a:pt x="191" y="3"/>
                      <a:pt x="189" y="3"/>
                    </a:cubicBezTo>
                    <a:cubicBezTo>
                      <a:pt x="187" y="3"/>
                      <a:pt x="176" y="4"/>
                      <a:pt x="174" y="5"/>
                    </a:cubicBezTo>
                    <a:cubicBezTo>
                      <a:pt x="171" y="5"/>
                      <a:pt x="164" y="10"/>
                      <a:pt x="163" y="11"/>
                    </a:cubicBezTo>
                    <a:cubicBezTo>
                      <a:pt x="162" y="12"/>
                      <a:pt x="161" y="11"/>
                      <a:pt x="160" y="11"/>
                    </a:cubicBezTo>
                    <a:cubicBezTo>
                      <a:pt x="160" y="10"/>
                      <a:pt x="160" y="10"/>
                      <a:pt x="159" y="11"/>
                    </a:cubicBezTo>
                    <a:cubicBezTo>
                      <a:pt x="159" y="11"/>
                      <a:pt x="153" y="17"/>
                      <a:pt x="153" y="17"/>
                    </a:cubicBezTo>
                    <a:cubicBezTo>
                      <a:pt x="153" y="18"/>
                      <a:pt x="153" y="18"/>
                      <a:pt x="153" y="18"/>
                    </a:cubicBezTo>
                    <a:cubicBezTo>
                      <a:pt x="154" y="18"/>
                      <a:pt x="154" y="19"/>
                      <a:pt x="154" y="19"/>
                    </a:cubicBezTo>
                    <a:cubicBezTo>
                      <a:pt x="154" y="19"/>
                      <a:pt x="158" y="26"/>
                      <a:pt x="159" y="26"/>
                    </a:cubicBezTo>
                    <a:cubicBezTo>
                      <a:pt x="159" y="27"/>
                      <a:pt x="159" y="30"/>
                      <a:pt x="159" y="30"/>
                    </a:cubicBezTo>
                    <a:cubicBezTo>
                      <a:pt x="159" y="31"/>
                      <a:pt x="159" y="31"/>
                      <a:pt x="159" y="31"/>
                    </a:cubicBezTo>
                    <a:cubicBezTo>
                      <a:pt x="160" y="31"/>
                      <a:pt x="159" y="32"/>
                      <a:pt x="159" y="32"/>
                    </a:cubicBezTo>
                    <a:cubicBezTo>
                      <a:pt x="159" y="32"/>
                      <a:pt x="158" y="33"/>
                      <a:pt x="158" y="34"/>
                    </a:cubicBezTo>
                    <a:cubicBezTo>
                      <a:pt x="158" y="34"/>
                      <a:pt x="158" y="35"/>
                      <a:pt x="157" y="36"/>
                    </a:cubicBezTo>
                    <a:cubicBezTo>
                      <a:pt x="157" y="36"/>
                      <a:pt x="155" y="37"/>
                      <a:pt x="155" y="37"/>
                    </a:cubicBezTo>
                    <a:cubicBezTo>
                      <a:pt x="155" y="37"/>
                      <a:pt x="155" y="37"/>
                      <a:pt x="154" y="37"/>
                    </a:cubicBezTo>
                    <a:cubicBezTo>
                      <a:pt x="154" y="38"/>
                      <a:pt x="153" y="39"/>
                      <a:pt x="153" y="39"/>
                    </a:cubicBezTo>
                    <a:cubicBezTo>
                      <a:pt x="153" y="40"/>
                      <a:pt x="152" y="40"/>
                      <a:pt x="152" y="41"/>
                    </a:cubicBezTo>
                    <a:cubicBezTo>
                      <a:pt x="151" y="41"/>
                      <a:pt x="150" y="42"/>
                      <a:pt x="150" y="42"/>
                    </a:cubicBezTo>
                    <a:cubicBezTo>
                      <a:pt x="150" y="43"/>
                      <a:pt x="150" y="44"/>
                      <a:pt x="150" y="44"/>
                    </a:cubicBezTo>
                    <a:cubicBezTo>
                      <a:pt x="150" y="45"/>
                      <a:pt x="151" y="45"/>
                      <a:pt x="152" y="46"/>
                    </a:cubicBezTo>
                    <a:cubicBezTo>
                      <a:pt x="152" y="46"/>
                      <a:pt x="152" y="47"/>
                      <a:pt x="152" y="47"/>
                    </a:cubicBezTo>
                    <a:cubicBezTo>
                      <a:pt x="152" y="47"/>
                      <a:pt x="152" y="49"/>
                      <a:pt x="151" y="49"/>
                    </a:cubicBezTo>
                    <a:cubicBezTo>
                      <a:pt x="151" y="50"/>
                      <a:pt x="150" y="51"/>
                      <a:pt x="149" y="51"/>
                    </a:cubicBezTo>
                    <a:cubicBezTo>
                      <a:pt x="148" y="52"/>
                      <a:pt x="147" y="53"/>
                      <a:pt x="146" y="53"/>
                    </a:cubicBezTo>
                    <a:cubicBezTo>
                      <a:pt x="145" y="53"/>
                      <a:pt x="143" y="53"/>
                      <a:pt x="143" y="53"/>
                    </a:cubicBezTo>
                    <a:cubicBezTo>
                      <a:pt x="142" y="53"/>
                      <a:pt x="139" y="52"/>
                      <a:pt x="138" y="52"/>
                    </a:cubicBezTo>
                    <a:cubicBezTo>
                      <a:pt x="138" y="52"/>
                      <a:pt x="136" y="51"/>
                      <a:pt x="135" y="51"/>
                    </a:cubicBezTo>
                    <a:cubicBezTo>
                      <a:pt x="135" y="51"/>
                      <a:pt x="134" y="51"/>
                      <a:pt x="134" y="51"/>
                    </a:cubicBezTo>
                    <a:cubicBezTo>
                      <a:pt x="133" y="52"/>
                      <a:pt x="133" y="52"/>
                      <a:pt x="133" y="52"/>
                    </a:cubicBezTo>
                    <a:cubicBezTo>
                      <a:pt x="133" y="53"/>
                      <a:pt x="133" y="54"/>
                      <a:pt x="133" y="54"/>
                    </a:cubicBezTo>
                    <a:cubicBezTo>
                      <a:pt x="133" y="54"/>
                      <a:pt x="134" y="55"/>
                      <a:pt x="135" y="56"/>
                    </a:cubicBezTo>
                    <a:cubicBezTo>
                      <a:pt x="135" y="56"/>
                      <a:pt x="135" y="56"/>
                      <a:pt x="135" y="56"/>
                    </a:cubicBezTo>
                    <a:cubicBezTo>
                      <a:pt x="136" y="56"/>
                      <a:pt x="136" y="57"/>
                      <a:pt x="136" y="57"/>
                    </a:cubicBezTo>
                    <a:cubicBezTo>
                      <a:pt x="136" y="57"/>
                      <a:pt x="137" y="59"/>
                      <a:pt x="138" y="60"/>
                    </a:cubicBezTo>
                    <a:cubicBezTo>
                      <a:pt x="138" y="61"/>
                      <a:pt x="139" y="62"/>
                      <a:pt x="140" y="63"/>
                    </a:cubicBezTo>
                    <a:cubicBezTo>
                      <a:pt x="140" y="63"/>
                      <a:pt x="140" y="63"/>
                      <a:pt x="140" y="63"/>
                    </a:cubicBezTo>
                    <a:cubicBezTo>
                      <a:pt x="140" y="63"/>
                      <a:pt x="139" y="64"/>
                      <a:pt x="138" y="65"/>
                    </a:cubicBezTo>
                    <a:cubicBezTo>
                      <a:pt x="138" y="65"/>
                      <a:pt x="137" y="65"/>
                      <a:pt x="137" y="65"/>
                    </a:cubicBezTo>
                    <a:cubicBezTo>
                      <a:pt x="136" y="66"/>
                      <a:pt x="134" y="67"/>
                      <a:pt x="134" y="67"/>
                    </a:cubicBezTo>
                    <a:cubicBezTo>
                      <a:pt x="134" y="67"/>
                      <a:pt x="131" y="67"/>
                      <a:pt x="130" y="67"/>
                    </a:cubicBezTo>
                    <a:cubicBezTo>
                      <a:pt x="130" y="67"/>
                      <a:pt x="129" y="67"/>
                      <a:pt x="129" y="67"/>
                    </a:cubicBezTo>
                    <a:cubicBezTo>
                      <a:pt x="129" y="67"/>
                      <a:pt x="128" y="68"/>
                      <a:pt x="128" y="68"/>
                    </a:cubicBezTo>
                    <a:cubicBezTo>
                      <a:pt x="127" y="69"/>
                      <a:pt x="128" y="69"/>
                      <a:pt x="128" y="69"/>
                    </a:cubicBezTo>
                    <a:cubicBezTo>
                      <a:pt x="128" y="70"/>
                      <a:pt x="127" y="74"/>
                      <a:pt x="127" y="74"/>
                    </a:cubicBezTo>
                    <a:cubicBezTo>
                      <a:pt x="127" y="75"/>
                      <a:pt x="126" y="75"/>
                      <a:pt x="126" y="75"/>
                    </a:cubicBezTo>
                    <a:cubicBezTo>
                      <a:pt x="126" y="75"/>
                      <a:pt x="125" y="77"/>
                      <a:pt x="124" y="77"/>
                    </a:cubicBezTo>
                    <a:cubicBezTo>
                      <a:pt x="124" y="77"/>
                      <a:pt x="124" y="78"/>
                      <a:pt x="124" y="78"/>
                    </a:cubicBezTo>
                    <a:cubicBezTo>
                      <a:pt x="124" y="78"/>
                      <a:pt x="125" y="85"/>
                      <a:pt x="125" y="86"/>
                    </a:cubicBezTo>
                    <a:cubicBezTo>
                      <a:pt x="125" y="86"/>
                      <a:pt x="125" y="86"/>
                      <a:pt x="125" y="86"/>
                    </a:cubicBezTo>
                    <a:cubicBezTo>
                      <a:pt x="125" y="86"/>
                      <a:pt x="124" y="87"/>
                      <a:pt x="124" y="87"/>
                    </a:cubicBezTo>
                    <a:cubicBezTo>
                      <a:pt x="124" y="87"/>
                      <a:pt x="119" y="91"/>
                      <a:pt x="119" y="91"/>
                    </a:cubicBezTo>
                    <a:cubicBezTo>
                      <a:pt x="119" y="92"/>
                      <a:pt x="118" y="91"/>
                      <a:pt x="118" y="91"/>
                    </a:cubicBezTo>
                    <a:cubicBezTo>
                      <a:pt x="118" y="91"/>
                      <a:pt x="114" y="89"/>
                      <a:pt x="114" y="88"/>
                    </a:cubicBezTo>
                    <a:cubicBezTo>
                      <a:pt x="114" y="88"/>
                      <a:pt x="113" y="88"/>
                      <a:pt x="113" y="88"/>
                    </a:cubicBezTo>
                    <a:cubicBezTo>
                      <a:pt x="113" y="88"/>
                      <a:pt x="108" y="89"/>
                      <a:pt x="108" y="89"/>
                    </a:cubicBezTo>
                    <a:cubicBezTo>
                      <a:pt x="108" y="89"/>
                      <a:pt x="107" y="89"/>
                      <a:pt x="107" y="89"/>
                    </a:cubicBezTo>
                    <a:cubicBezTo>
                      <a:pt x="107" y="89"/>
                      <a:pt x="103" y="92"/>
                      <a:pt x="102" y="92"/>
                    </a:cubicBezTo>
                    <a:cubicBezTo>
                      <a:pt x="102" y="93"/>
                      <a:pt x="101" y="92"/>
                      <a:pt x="100" y="93"/>
                    </a:cubicBezTo>
                    <a:cubicBezTo>
                      <a:pt x="98" y="93"/>
                      <a:pt x="99" y="93"/>
                      <a:pt x="99" y="93"/>
                    </a:cubicBezTo>
                    <a:cubicBezTo>
                      <a:pt x="99" y="93"/>
                      <a:pt x="101" y="95"/>
                      <a:pt x="102" y="95"/>
                    </a:cubicBezTo>
                    <a:cubicBezTo>
                      <a:pt x="102" y="96"/>
                      <a:pt x="102" y="96"/>
                      <a:pt x="102" y="96"/>
                    </a:cubicBezTo>
                    <a:cubicBezTo>
                      <a:pt x="102" y="96"/>
                      <a:pt x="97" y="98"/>
                      <a:pt x="97" y="98"/>
                    </a:cubicBezTo>
                    <a:cubicBezTo>
                      <a:pt x="96" y="98"/>
                      <a:pt x="96" y="98"/>
                      <a:pt x="96" y="98"/>
                    </a:cubicBezTo>
                    <a:cubicBezTo>
                      <a:pt x="96" y="98"/>
                      <a:pt x="91" y="97"/>
                      <a:pt x="91" y="96"/>
                    </a:cubicBezTo>
                    <a:cubicBezTo>
                      <a:pt x="90" y="96"/>
                      <a:pt x="90" y="96"/>
                      <a:pt x="90" y="96"/>
                    </a:cubicBezTo>
                    <a:cubicBezTo>
                      <a:pt x="90" y="96"/>
                      <a:pt x="88" y="97"/>
                      <a:pt x="87" y="98"/>
                    </a:cubicBezTo>
                    <a:cubicBezTo>
                      <a:pt x="87" y="98"/>
                      <a:pt x="85" y="100"/>
                      <a:pt x="84" y="101"/>
                    </a:cubicBezTo>
                    <a:cubicBezTo>
                      <a:pt x="82" y="102"/>
                      <a:pt x="81" y="103"/>
                      <a:pt x="81" y="107"/>
                    </a:cubicBezTo>
                    <a:cubicBezTo>
                      <a:pt x="80" y="110"/>
                      <a:pt x="81" y="112"/>
                      <a:pt x="81" y="113"/>
                    </a:cubicBezTo>
                    <a:cubicBezTo>
                      <a:pt x="81" y="113"/>
                      <a:pt x="80" y="115"/>
                      <a:pt x="79" y="116"/>
                    </a:cubicBezTo>
                    <a:cubicBezTo>
                      <a:pt x="79" y="117"/>
                      <a:pt x="80" y="117"/>
                      <a:pt x="80" y="118"/>
                    </a:cubicBezTo>
                    <a:cubicBezTo>
                      <a:pt x="81" y="118"/>
                      <a:pt x="80" y="119"/>
                      <a:pt x="80" y="120"/>
                    </a:cubicBezTo>
                    <a:cubicBezTo>
                      <a:pt x="80" y="120"/>
                      <a:pt x="79" y="120"/>
                      <a:pt x="79" y="120"/>
                    </a:cubicBezTo>
                    <a:cubicBezTo>
                      <a:pt x="79" y="120"/>
                      <a:pt x="70" y="123"/>
                      <a:pt x="69" y="123"/>
                    </a:cubicBezTo>
                    <a:cubicBezTo>
                      <a:pt x="68" y="123"/>
                      <a:pt x="56" y="125"/>
                      <a:pt x="55" y="125"/>
                    </a:cubicBezTo>
                    <a:cubicBezTo>
                      <a:pt x="54" y="125"/>
                      <a:pt x="54" y="125"/>
                      <a:pt x="53" y="125"/>
                    </a:cubicBezTo>
                    <a:cubicBezTo>
                      <a:pt x="52" y="125"/>
                      <a:pt x="49" y="127"/>
                      <a:pt x="48" y="128"/>
                    </a:cubicBezTo>
                    <a:cubicBezTo>
                      <a:pt x="47" y="128"/>
                      <a:pt x="42" y="127"/>
                      <a:pt x="42" y="126"/>
                    </a:cubicBezTo>
                    <a:cubicBezTo>
                      <a:pt x="41" y="126"/>
                      <a:pt x="41" y="126"/>
                      <a:pt x="41" y="126"/>
                    </a:cubicBezTo>
                    <a:cubicBezTo>
                      <a:pt x="41" y="126"/>
                      <a:pt x="27" y="127"/>
                      <a:pt x="26" y="127"/>
                    </a:cubicBezTo>
                    <a:cubicBezTo>
                      <a:pt x="26" y="127"/>
                      <a:pt x="25" y="127"/>
                      <a:pt x="25" y="127"/>
                    </a:cubicBezTo>
                    <a:cubicBezTo>
                      <a:pt x="0" y="120"/>
                      <a:pt x="0" y="120"/>
                      <a:pt x="0" y="120"/>
                    </a:cubicBezTo>
                    <a:cubicBezTo>
                      <a:pt x="0" y="120"/>
                      <a:pt x="0" y="120"/>
                      <a:pt x="0" y="120"/>
                    </a:cubicBezTo>
                    <a:cubicBezTo>
                      <a:pt x="0" y="120"/>
                      <a:pt x="0" y="121"/>
                      <a:pt x="0" y="121"/>
                    </a:cubicBezTo>
                    <a:cubicBezTo>
                      <a:pt x="0" y="121"/>
                      <a:pt x="15" y="141"/>
                      <a:pt x="15" y="141"/>
                    </a:cubicBezTo>
                    <a:cubicBezTo>
                      <a:pt x="15" y="141"/>
                      <a:pt x="15" y="141"/>
                      <a:pt x="15" y="142"/>
                    </a:cubicBezTo>
                    <a:cubicBezTo>
                      <a:pt x="16" y="142"/>
                      <a:pt x="28" y="147"/>
                      <a:pt x="28" y="147"/>
                    </a:cubicBezTo>
                    <a:cubicBezTo>
                      <a:pt x="28" y="147"/>
                      <a:pt x="28" y="147"/>
                      <a:pt x="28" y="148"/>
                    </a:cubicBezTo>
                    <a:cubicBezTo>
                      <a:pt x="28" y="148"/>
                      <a:pt x="28" y="153"/>
                      <a:pt x="28" y="153"/>
                    </a:cubicBezTo>
                    <a:cubicBezTo>
                      <a:pt x="28" y="154"/>
                      <a:pt x="27" y="159"/>
                      <a:pt x="27" y="160"/>
                    </a:cubicBezTo>
                    <a:cubicBezTo>
                      <a:pt x="28" y="161"/>
                      <a:pt x="28" y="163"/>
                      <a:pt x="31" y="163"/>
                    </a:cubicBezTo>
                    <a:cubicBezTo>
                      <a:pt x="34" y="163"/>
                      <a:pt x="35" y="163"/>
                      <a:pt x="35" y="163"/>
                    </a:cubicBezTo>
                    <a:cubicBezTo>
                      <a:pt x="35" y="163"/>
                      <a:pt x="35" y="163"/>
                      <a:pt x="35" y="163"/>
                    </a:cubicBezTo>
                    <a:cubicBezTo>
                      <a:pt x="35" y="164"/>
                      <a:pt x="33" y="171"/>
                      <a:pt x="33" y="171"/>
                    </a:cubicBezTo>
                    <a:cubicBezTo>
                      <a:pt x="33" y="171"/>
                      <a:pt x="33" y="172"/>
                      <a:pt x="33" y="172"/>
                    </a:cubicBezTo>
                    <a:cubicBezTo>
                      <a:pt x="32" y="172"/>
                      <a:pt x="22" y="174"/>
                      <a:pt x="22" y="174"/>
                    </a:cubicBezTo>
                    <a:cubicBezTo>
                      <a:pt x="22" y="174"/>
                      <a:pt x="21" y="174"/>
                      <a:pt x="21" y="174"/>
                    </a:cubicBezTo>
                    <a:cubicBezTo>
                      <a:pt x="20" y="174"/>
                      <a:pt x="17" y="177"/>
                      <a:pt x="16" y="177"/>
                    </a:cubicBezTo>
                    <a:cubicBezTo>
                      <a:pt x="16" y="178"/>
                      <a:pt x="14" y="178"/>
                      <a:pt x="14" y="181"/>
                    </a:cubicBezTo>
                    <a:cubicBezTo>
                      <a:pt x="13" y="183"/>
                      <a:pt x="13" y="185"/>
                      <a:pt x="13" y="186"/>
                    </a:cubicBezTo>
                    <a:cubicBezTo>
                      <a:pt x="12" y="187"/>
                      <a:pt x="11" y="192"/>
                      <a:pt x="10" y="195"/>
                    </a:cubicBezTo>
                    <a:cubicBezTo>
                      <a:pt x="11" y="195"/>
                      <a:pt x="11" y="195"/>
                      <a:pt x="11" y="195"/>
                    </a:cubicBezTo>
                    <a:cubicBezTo>
                      <a:pt x="11" y="195"/>
                      <a:pt x="13" y="195"/>
                      <a:pt x="13" y="196"/>
                    </a:cubicBezTo>
                    <a:cubicBezTo>
                      <a:pt x="13" y="197"/>
                      <a:pt x="13" y="197"/>
                      <a:pt x="14" y="197"/>
                    </a:cubicBezTo>
                    <a:cubicBezTo>
                      <a:pt x="15" y="197"/>
                      <a:pt x="16" y="197"/>
                      <a:pt x="17" y="197"/>
                    </a:cubicBezTo>
                    <a:cubicBezTo>
                      <a:pt x="18" y="197"/>
                      <a:pt x="19" y="196"/>
                      <a:pt x="19" y="195"/>
                    </a:cubicBezTo>
                    <a:cubicBezTo>
                      <a:pt x="20" y="195"/>
                      <a:pt x="21" y="194"/>
                      <a:pt x="21" y="195"/>
                    </a:cubicBezTo>
                    <a:cubicBezTo>
                      <a:pt x="21" y="197"/>
                      <a:pt x="22" y="196"/>
                      <a:pt x="23" y="196"/>
                    </a:cubicBezTo>
                    <a:cubicBezTo>
                      <a:pt x="23" y="195"/>
                      <a:pt x="25" y="194"/>
                      <a:pt x="30" y="194"/>
                    </a:cubicBezTo>
                    <a:cubicBezTo>
                      <a:pt x="34" y="194"/>
                      <a:pt x="37" y="195"/>
                      <a:pt x="39" y="194"/>
                    </a:cubicBezTo>
                    <a:cubicBezTo>
                      <a:pt x="40" y="194"/>
                      <a:pt x="45" y="192"/>
                      <a:pt x="48" y="192"/>
                    </a:cubicBezTo>
                    <a:cubicBezTo>
                      <a:pt x="52" y="193"/>
                      <a:pt x="55" y="195"/>
                      <a:pt x="56" y="195"/>
                    </a:cubicBezTo>
                    <a:cubicBezTo>
                      <a:pt x="57" y="195"/>
                      <a:pt x="65" y="192"/>
                      <a:pt x="69" y="192"/>
                    </a:cubicBezTo>
                    <a:cubicBezTo>
                      <a:pt x="74" y="192"/>
                      <a:pt x="81" y="192"/>
                      <a:pt x="82" y="192"/>
                    </a:cubicBezTo>
                    <a:cubicBezTo>
                      <a:pt x="82" y="192"/>
                      <a:pt x="84" y="192"/>
                      <a:pt x="84" y="192"/>
                    </a:cubicBezTo>
                    <a:cubicBezTo>
                      <a:pt x="85" y="193"/>
                      <a:pt x="86" y="194"/>
                      <a:pt x="86" y="194"/>
                    </a:cubicBezTo>
                    <a:cubicBezTo>
                      <a:pt x="86" y="195"/>
                      <a:pt x="87" y="196"/>
                      <a:pt x="86" y="197"/>
                    </a:cubicBezTo>
                    <a:cubicBezTo>
                      <a:pt x="86" y="199"/>
                      <a:pt x="85" y="200"/>
                      <a:pt x="87" y="200"/>
                    </a:cubicBezTo>
                    <a:cubicBezTo>
                      <a:pt x="89" y="200"/>
                      <a:pt x="93" y="200"/>
                      <a:pt x="94" y="203"/>
                    </a:cubicBezTo>
                    <a:cubicBezTo>
                      <a:pt x="95" y="211"/>
                      <a:pt x="95" y="211"/>
                      <a:pt x="95" y="211"/>
                    </a:cubicBezTo>
                    <a:cubicBezTo>
                      <a:pt x="95" y="211"/>
                      <a:pt x="96" y="213"/>
                      <a:pt x="99" y="213"/>
                    </a:cubicBezTo>
                    <a:cubicBezTo>
                      <a:pt x="102" y="212"/>
                      <a:pt x="106" y="212"/>
                      <a:pt x="106" y="215"/>
                    </a:cubicBezTo>
                    <a:cubicBezTo>
                      <a:pt x="107" y="217"/>
                      <a:pt x="107" y="218"/>
                      <a:pt x="107" y="217"/>
                    </a:cubicBezTo>
                    <a:cubicBezTo>
                      <a:pt x="108" y="216"/>
                      <a:pt x="108" y="217"/>
                      <a:pt x="108" y="217"/>
                    </a:cubicBezTo>
                    <a:cubicBezTo>
                      <a:pt x="108" y="217"/>
                      <a:pt x="108" y="217"/>
                      <a:pt x="108" y="217"/>
                    </a:cubicBezTo>
                    <a:cubicBezTo>
                      <a:pt x="109" y="216"/>
                      <a:pt x="110" y="214"/>
                      <a:pt x="111" y="214"/>
                    </a:cubicBezTo>
                    <a:cubicBezTo>
                      <a:pt x="113" y="214"/>
                      <a:pt x="114" y="214"/>
                      <a:pt x="115" y="214"/>
                    </a:cubicBezTo>
                    <a:cubicBezTo>
                      <a:pt x="115" y="214"/>
                      <a:pt x="117" y="214"/>
                      <a:pt x="117" y="213"/>
                    </a:cubicBezTo>
                    <a:cubicBezTo>
                      <a:pt x="117" y="211"/>
                      <a:pt x="117" y="209"/>
                      <a:pt x="117" y="209"/>
                    </a:cubicBezTo>
                    <a:cubicBezTo>
                      <a:pt x="117" y="209"/>
                      <a:pt x="117" y="209"/>
                      <a:pt x="117" y="209"/>
                    </a:cubicBezTo>
                    <a:cubicBezTo>
                      <a:pt x="118" y="209"/>
                      <a:pt x="134" y="211"/>
                      <a:pt x="134" y="211"/>
                    </a:cubicBezTo>
                    <a:cubicBezTo>
                      <a:pt x="134" y="211"/>
                      <a:pt x="135" y="211"/>
                      <a:pt x="136" y="210"/>
                    </a:cubicBezTo>
                    <a:cubicBezTo>
                      <a:pt x="136" y="209"/>
                      <a:pt x="139" y="208"/>
                      <a:pt x="140" y="208"/>
                    </a:cubicBezTo>
                    <a:cubicBezTo>
                      <a:pt x="142" y="207"/>
                      <a:pt x="144" y="206"/>
                      <a:pt x="144" y="207"/>
                    </a:cubicBezTo>
                    <a:cubicBezTo>
                      <a:pt x="144" y="208"/>
                      <a:pt x="144" y="208"/>
                      <a:pt x="144" y="209"/>
                    </a:cubicBezTo>
                    <a:cubicBezTo>
                      <a:pt x="144" y="209"/>
                      <a:pt x="147" y="210"/>
                      <a:pt x="147" y="210"/>
                    </a:cubicBezTo>
                    <a:cubicBezTo>
                      <a:pt x="148" y="210"/>
                      <a:pt x="148" y="208"/>
                      <a:pt x="148" y="208"/>
                    </a:cubicBezTo>
                    <a:cubicBezTo>
                      <a:pt x="149" y="208"/>
                      <a:pt x="152" y="208"/>
                      <a:pt x="151" y="207"/>
                    </a:cubicBezTo>
                    <a:cubicBezTo>
                      <a:pt x="151" y="206"/>
                      <a:pt x="151" y="207"/>
                      <a:pt x="150" y="207"/>
                    </a:cubicBezTo>
                    <a:cubicBezTo>
                      <a:pt x="150" y="207"/>
                      <a:pt x="149" y="205"/>
                      <a:pt x="150" y="204"/>
                    </a:cubicBezTo>
                    <a:cubicBezTo>
                      <a:pt x="151" y="203"/>
                      <a:pt x="151" y="203"/>
                      <a:pt x="151" y="202"/>
                    </a:cubicBezTo>
                    <a:cubicBezTo>
                      <a:pt x="150" y="201"/>
                      <a:pt x="147" y="194"/>
                      <a:pt x="146" y="191"/>
                    </a:cubicBezTo>
                    <a:cubicBezTo>
                      <a:pt x="145" y="188"/>
                      <a:pt x="145" y="186"/>
                      <a:pt x="144" y="187"/>
                    </a:cubicBezTo>
                    <a:cubicBezTo>
                      <a:pt x="143" y="187"/>
                      <a:pt x="143" y="187"/>
                      <a:pt x="142" y="187"/>
                    </a:cubicBezTo>
                    <a:cubicBezTo>
                      <a:pt x="142" y="187"/>
                      <a:pt x="139" y="187"/>
                      <a:pt x="139" y="186"/>
                    </a:cubicBezTo>
                    <a:cubicBezTo>
                      <a:pt x="138" y="185"/>
                      <a:pt x="137" y="180"/>
                      <a:pt x="137" y="180"/>
                    </a:cubicBezTo>
                    <a:cubicBezTo>
                      <a:pt x="137" y="180"/>
                      <a:pt x="137" y="180"/>
                      <a:pt x="137" y="179"/>
                    </a:cubicBezTo>
                    <a:cubicBezTo>
                      <a:pt x="137" y="178"/>
                      <a:pt x="139" y="174"/>
                      <a:pt x="137" y="173"/>
                    </a:cubicBezTo>
                    <a:cubicBezTo>
                      <a:pt x="135" y="172"/>
                      <a:pt x="135" y="173"/>
                      <a:pt x="134" y="173"/>
                    </a:cubicBezTo>
                    <a:cubicBezTo>
                      <a:pt x="134" y="173"/>
                      <a:pt x="132" y="173"/>
                      <a:pt x="131" y="172"/>
                    </a:cubicBezTo>
                    <a:cubicBezTo>
                      <a:pt x="130" y="171"/>
                      <a:pt x="127" y="171"/>
                      <a:pt x="127" y="168"/>
                    </a:cubicBezTo>
                    <a:cubicBezTo>
                      <a:pt x="128" y="166"/>
                      <a:pt x="128" y="165"/>
                      <a:pt x="129" y="164"/>
                    </a:cubicBezTo>
                    <a:cubicBezTo>
                      <a:pt x="130" y="163"/>
                      <a:pt x="138" y="152"/>
                      <a:pt x="138" y="152"/>
                    </a:cubicBezTo>
                    <a:cubicBezTo>
                      <a:pt x="138" y="152"/>
                      <a:pt x="138" y="152"/>
                      <a:pt x="139" y="152"/>
                    </a:cubicBezTo>
                    <a:cubicBezTo>
                      <a:pt x="139" y="151"/>
                      <a:pt x="142" y="149"/>
                      <a:pt x="143" y="150"/>
                    </a:cubicBezTo>
                    <a:cubicBezTo>
                      <a:pt x="144" y="150"/>
                      <a:pt x="145" y="151"/>
                      <a:pt x="145" y="153"/>
                    </a:cubicBezTo>
                    <a:cubicBezTo>
                      <a:pt x="145" y="154"/>
                      <a:pt x="148" y="155"/>
                      <a:pt x="149" y="155"/>
                    </a:cubicBezTo>
                    <a:cubicBezTo>
                      <a:pt x="150" y="154"/>
                      <a:pt x="152" y="153"/>
                      <a:pt x="153" y="153"/>
                    </a:cubicBezTo>
                    <a:cubicBezTo>
                      <a:pt x="153" y="153"/>
                      <a:pt x="161" y="152"/>
                      <a:pt x="161" y="152"/>
                    </a:cubicBezTo>
                    <a:cubicBezTo>
                      <a:pt x="161" y="152"/>
                      <a:pt x="161" y="151"/>
                      <a:pt x="162" y="151"/>
                    </a:cubicBezTo>
                    <a:cubicBezTo>
                      <a:pt x="162" y="150"/>
                      <a:pt x="171" y="138"/>
                      <a:pt x="171" y="138"/>
                    </a:cubicBezTo>
                    <a:cubicBezTo>
                      <a:pt x="171" y="138"/>
                      <a:pt x="172" y="137"/>
                      <a:pt x="172" y="137"/>
                    </a:cubicBezTo>
                    <a:cubicBezTo>
                      <a:pt x="173" y="137"/>
                      <a:pt x="178" y="134"/>
                      <a:pt x="179" y="133"/>
                    </a:cubicBezTo>
                    <a:cubicBezTo>
                      <a:pt x="180" y="132"/>
                      <a:pt x="183" y="127"/>
                      <a:pt x="183" y="125"/>
                    </a:cubicBezTo>
                    <a:cubicBezTo>
                      <a:pt x="184" y="124"/>
                      <a:pt x="184" y="119"/>
                      <a:pt x="188" y="117"/>
                    </a:cubicBezTo>
                    <a:cubicBezTo>
                      <a:pt x="192" y="116"/>
                      <a:pt x="194" y="115"/>
                      <a:pt x="194" y="115"/>
                    </a:cubicBezTo>
                    <a:cubicBezTo>
                      <a:pt x="194" y="115"/>
                      <a:pt x="194" y="115"/>
                      <a:pt x="194" y="114"/>
                    </a:cubicBezTo>
                    <a:cubicBezTo>
                      <a:pt x="193" y="113"/>
                      <a:pt x="192" y="112"/>
                      <a:pt x="192" y="112"/>
                    </a:cubicBezTo>
                    <a:cubicBezTo>
                      <a:pt x="192" y="112"/>
                      <a:pt x="192" y="112"/>
                      <a:pt x="193" y="111"/>
                    </a:cubicBezTo>
                    <a:cubicBezTo>
                      <a:pt x="193" y="111"/>
                      <a:pt x="196" y="108"/>
                      <a:pt x="196" y="107"/>
                    </a:cubicBezTo>
                    <a:cubicBezTo>
                      <a:pt x="197" y="107"/>
                      <a:pt x="203" y="102"/>
                      <a:pt x="203" y="102"/>
                    </a:cubicBezTo>
                    <a:cubicBezTo>
                      <a:pt x="203" y="102"/>
                      <a:pt x="204" y="101"/>
                      <a:pt x="204" y="101"/>
                    </a:cubicBezTo>
                    <a:cubicBezTo>
                      <a:pt x="204" y="100"/>
                      <a:pt x="202" y="91"/>
                      <a:pt x="202" y="90"/>
                    </a:cubicBezTo>
                    <a:cubicBezTo>
                      <a:pt x="202" y="89"/>
                      <a:pt x="202" y="89"/>
                      <a:pt x="203" y="89"/>
                    </a:cubicBezTo>
                    <a:cubicBezTo>
                      <a:pt x="203" y="88"/>
                      <a:pt x="205" y="86"/>
                      <a:pt x="205" y="86"/>
                    </a:cubicBezTo>
                    <a:cubicBezTo>
                      <a:pt x="205" y="86"/>
                      <a:pt x="205" y="86"/>
                      <a:pt x="205" y="86"/>
                    </a:cubicBezTo>
                    <a:cubicBezTo>
                      <a:pt x="206" y="86"/>
                      <a:pt x="208" y="85"/>
                      <a:pt x="209" y="85"/>
                    </a:cubicBezTo>
                    <a:cubicBezTo>
                      <a:pt x="209" y="85"/>
                      <a:pt x="214" y="83"/>
                      <a:pt x="214" y="82"/>
                    </a:cubicBezTo>
                    <a:cubicBezTo>
                      <a:pt x="214" y="80"/>
                      <a:pt x="214" y="80"/>
                      <a:pt x="214" y="79"/>
                    </a:cubicBezTo>
                    <a:cubicBezTo>
                      <a:pt x="214" y="79"/>
                      <a:pt x="213" y="78"/>
                      <a:pt x="212" y="79"/>
                    </a:cubicBezTo>
                    <a:cubicBezTo>
                      <a:pt x="212" y="79"/>
                      <a:pt x="205" y="78"/>
                      <a:pt x="205" y="76"/>
                    </a:cubicBezTo>
                    <a:cubicBezTo>
                      <a:pt x="204" y="74"/>
                      <a:pt x="204" y="73"/>
                      <a:pt x="205" y="72"/>
                    </a:cubicBezTo>
                    <a:cubicBezTo>
                      <a:pt x="205" y="72"/>
                      <a:pt x="205" y="71"/>
                      <a:pt x="205" y="72"/>
                    </a:cubicBezTo>
                    <a:cubicBezTo>
                      <a:pt x="204" y="72"/>
                      <a:pt x="203" y="72"/>
                      <a:pt x="202" y="72"/>
                    </a:cubicBezTo>
                    <a:cubicBezTo>
                      <a:pt x="202" y="73"/>
                      <a:pt x="202" y="73"/>
                      <a:pt x="202" y="73"/>
                    </a:cubicBezTo>
                    <a:cubicBezTo>
                      <a:pt x="201" y="73"/>
                      <a:pt x="200" y="72"/>
                      <a:pt x="200" y="72"/>
                    </a:cubicBezTo>
                    <a:cubicBezTo>
                      <a:pt x="200" y="72"/>
                      <a:pt x="199" y="72"/>
                      <a:pt x="199" y="72"/>
                    </a:cubicBezTo>
                    <a:cubicBezTo>
                      <a:pt x="199" y="71"/>
                      <a:pt x="195" y="66"/>
                      <a:pt x="195" y="66"/>
                    </a:cubicBezTo>
                    <a:cubicBezTo>
                      <a:pt x="195" y="66"/>
                      <a:pt x="195" y="65"/>
                      <a:pt x="196" y="64"/>
                    </a:cubicBezTo>
                    <a:cubicBezTo>
                      <a:pt x="197" y="62"/>
                      <a:pt x="197" y="60"/>
                      <a:pt x="197" y="59"/>
                    </a:cubicBezTo>
                    <a:cubicBezTo>
                      <a:pt x="196" y="59"/>
                      <a:pt x="195" y="57"/>
                      <a:pt x="195" y="57"/>
                    </a:cubicBezTo>
                    <a:cubicBezTo>
                      <a:pt x="195" y="57"/>
                      <a:pt x="194" y="56"/>
                      <a:pt x="195" y="56"/>
                    </a:cubicBezTo>
                    <a:cubicBezTo>
                      <a:pt x="195" y="55"/>
                      <a:pt x="196" y="55"/>
                      <a:pt x="197" y="55"/>
                    </a:cubicBezTo>
                    <a:cubicBezTo>
                      <a:pt x="197" y="54"/>
                      <a:pt x="199" y="53"/>
                      <a:pt x="199" y="53"/>
                    </a:cubicBezTo>
                    <a:cubicBezTo>
                      <a:pt x="198" y="52"/>
                      <a:pt x="197" y="51"/>
                      <a:pt x="196" y="51"/>
                    </a:cubicBezTo>
                    <a:cubicBezTo>
                      <a:pt x="194" y="51"/>
                      <a:pt x="194" y="51"/>
                      <a:pt x="194" y="51"/>
                    </a:cubicBezTo>
                    <a:cubicBezTo>
                      <a:pt x="194" y="51"/>
                      <a:pt x="193" y="51"/>
                      <a:pt x="193" y="50"/>
                    </a:cubicBezTo>
                    <a:cubicBezTo>
                      <a:pt x="194" y="50"/>
                      <a:pt x="195" y="48"/>
                      <a:pt x="194" y="47"/>
                    </a:cubicBezTo>
                    <a:cubicBezTo>
                      <a:pt x="194" y="47"/>
                      <a:pt x="193" y="47"/>
                      <a:pt x="193" y="47"/>
                    </a:cubicBezTo>
                    <a:cubicBezTo>
                      <a:pt x="193" y="47"/>
                      <a:pt x="192" y="47"/>
                      <a:pt x="192" y="46"/>
                    </a:cubicBezTo>
                    <a:cubicBezTo>
                      <a:pt x="192" y="46"/>
                      <a:pt x="191" y="46"/>
                      <a:pt x="192" y="45"/>
                    </a:cubicBezTo>
                    <a:cubicBezTo>
                      <a:pt x="192" y="44"/>
                      <a:pt x="193" y="42"/>
                      <a:pt x="194" y="41"/>
                    </a:cubicBezTo>
                    <a:cubicBezTo>
                      <a:pt x="195" y="41"/>
                      <a:pt x="199" y="40"/>
                      <a:pt x="199" y="40"/>
                    </a:cubicBezTo>
                    <a:cubicBezTo>
                      <a:pt x="200" y="40"/>
                      <a:pt x="203" y="40"/>
                      <a:pt x="204" y="40"/>
                    </a:cubicBezTo>
                    <a:cubicBezTo>
                      <a:pt x="204" y="40"/>
                      <a:pt x="212" y="41"/>
                      <a:pt x="212" y="41"/>
                    </a:cubicBezTo>
                    <a:cubicBezTo>
                      <a:pt x="212" y="41"/>
                      <a:pt x="213" y="41"/>
                      <a:pt x="213" y="41"/>
                    </a:cubicBezTo>
                    <a:cubicBezTo>
                      <a:pt x="213" y="42"/>
                      <a:pt x="215" y="43"/>
                      <a:pt x="216" y="43"/>
                    </a:cubicBezTo>
                    <a:cubicBezTo>
                      <a:pt x="216" y="43"/>
                      <a:pt x="220" y="44"/>
                      <a:pt x="221" y="44"/>
                    </a:cubicBezTo>
                    <a:cubicBezTo>
                      <a:pt x="221" y="43"/>
                      <a:pt x="228" y="41"/>
                      <a:pt x="228" y="41"/>
                    </a:cubicBezTo>
                    <a:cubicBezTo>
                      <a:pt x="228" y="41"/>
                      <a:pt x="229" y="40"/>
                      <a:pt x="230" y="40"/>
                    </a:cubicBezTo>
                    <a:cubicBezTo>
                      <a:pt x="230" y="40"/>
                      <a:pt x="234" y="40"/>
                      <a:pt x="236" y="38"/>
                    </a:cubicBezTo>
                    <a:cubicBezTo>
                      <a:pt x="238" y="35"/>
                      <a:pt x="240" y="34"/>
                      <a:pt x="240" y="34"/>
                    </a:cubicBezTo>
                    <a:cubicBezTo>
                      <a:pt x="240" y="34"/>
                      <a:pt x="247" y="29"/>
                      <a:pt x="251" y="27"/>
                    </a:cubicBezTo>
                    <a:cubicBezTo>
                      <a:pt x="250" y="27"/>
                      <a:pt x="248" y="27"/>
                      <a:pt x="245" y="26"/>
                    </a:cubicBezTo>
                    <a:cubicBezTo>
                      <a:pt x="239" y="26"/>
                      <a:pt x="236" y="24"/>
                      <a:pt x="234" y="23"/>
                    </a:cubicBezTo>
                    <a:cubicBezTo>
                      <a:pt x="233" y="23"/>
                      <a:pt x="233" y="21"/>
                      <a:pt x="233" y="21"/>
                    </a:cubicBezTo>
                    <a:cubicBezTo>
                      <a:pt x="233" y="20"/>
                      <a:pt x="232" y="20"/>
                      <a:pt x="232" y="21"/>
                    </a:cubicBezTo>
                    <a:cubicBezTo>
                      <a:pt x="231" y="21"/>
                      <a:pt x="228" y="22"/>
                      <a:pt x="227" y="22"/>
                    </a:cubicBezTo>
                    <a:cubicBezTo>
                      <a:pt x="227" y="22"/>
                      <a:pt x="227" y="21"/>
                      <a:pt x="227" y="21"/>
                    </a:cubicBezTo>
                    <a:cubicBezTo>
                      <a:pt x="226" y="21"/>
                      <a:pt x="224" y="18"/>
                      <a:pt x="223" y="18"/>
                    </a:cubicBezTo>
                    <a:cubicBezTo>
                      <a:pt x="223" y="17"/>
                      <a:pt x="223" y="17"/>
                      <a:pt x="223" y="16"/>
                    </a:cubicBezTo>
                    <a:cubicBezTo>
                      <a:pt x="224" y="16"/>
                      <a:pt x="224" y="14"/>
                      <a:pt x="224" y="11"/>
                    </a:cubicBezTo>
                    <a:cubicBezTo>
                      <a:pt x="224" y="9"/>
                      <a:pt x="221" y="6"/>
                      <a:pt x="220" y="6"/>
                    </a:cubicBezTo>
                    <a:cubicBezTo>
                      <a:pt x="219" y="6"/>
                      <a:pt x="218" y="5"/>
                      <a:pt x="217" y="4"/>
                    </a:cubicBezTo>
                    <a:cubicBezTo>
                      <a:pt x="217" y="4"/>
                      <a:pt x="215" y="3"/>
                      <a:pt x="213" y="2"/>
                    </a:cubicBezTo>
                    <a:cubicBezTo>
                      <a:pt x="212" y="1"/>
                      <a:pt x="209" y="2"/>
                      <a:pt x="208" y="2"/>
                    </a:cubicBezTo>
                    <a:cubicBezTo>
                      <a:pt x="208" y="2"/>
                      <a:pt x="206" y="1"/>
                      <a:pt x="205" y="1"/>
                    </a:cubicBezTo>
                    <a:cubicBezTo>
                      <a:pt x="204" y="0"/>
                      <a:pt x="203" y="1"/>
                      <a:pt x="20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76" name="Freeform 686">
                <a:extLst>
                  <a:ext uri="{FF2B5EF4-FFF2-40B4-BE49-F238E27FC236}">
                    <a16:creationId xmlns:a16="http://schemas.microsoft.com/office/drawing/2014/main" id="{9670053E-451D-41B4-B5C0-CEC3C59101CE}"/>
                  </a:ext>
                </a:extLst>
              </p:cNvPr>
              <p:cNvSpPr>
                <a:spLocks/>
              </p:cNvSpPr>
              <p:nvPr/>
            </p:nvSpPr>
            <p:spPr bwMode="auto">
              <a:xfrm>
                <a:off x="4887" y="1795"/>
                <a:ext cx="160" cy="105"/>
              </a:xfrm>
              <a:custGeom>
                <a:avLst/>
                <a:gdLst>
                  <a:gd name="T0" fmla="*/ 73 w 116"/>
                  <a:gd name="T1" fmla="*/ 32 h 76"/>
                  <a:gd name="T2" fmla="*/ 66 w 116"/>
                  <a:gd name="T3" fmla="*/ 31 h 76"/>
                  <a:gd name="T4" fmla="*/ 62 w 116"/>
                  <a:gd name="T5" fmla="*/ 28 h 76"/>
                  <a:gd name="T6" fmla="*/ 55 w 116"/>
                  <a:gd name="T7" fmla="*/ 28 h 76"/>
                  <a:gd name="T8" fmla="*/ 49 w 116"/>
                  <a:gd name="T9" fmla="*/ 27 h 76"/>
                  <a:gd name="T10" fmla="*/ 29 w 116"/>
                  <a:gd name="T11" fmla="*/ 27 h 76"/>
                  <a:gd name="T12" fmla="*/ 30 w 116"/>
                  <a:gd name="T13" fmla="*/ 19 h 76"/>
                  <a:gd name="T14" fmla="*/ 33 w 116"/>
                  <a:gd name="T15" fmla="*/ 16 h 76"/>
                  <a:gd name="T16" fmla="*/ 47 w 116"/>
                  <a:gd name="T17" fmla="*/ 18 h 76"/>
                  <a:gd name="T18" fmla="*/ 48 w 116"/>
                  <a:gd name="T19" fmla="*/ 19 h 76"/>
                  <a:gd name="T20" fmla="*/ 50 w 116"/>
                  <a:gd name="T21" fmla="*/ 15 h 76"/>
                  <a:gd name="T22" fmla="*/ 50 w 116"/>
                  <a:gd name="T23" fmla="*/ 6 h 76"/>
                  <a:gd name="T24" fmla="*/ 46 w 116"/>
                  <a:gd name="T25" fmla="*/ 0 h 76"/>
                  <a:gd name="T26" fmla="*/ 35 w 116"/>
                  <a:gd name="T27" fmla="*/ 7 h 76"/>
                  <a:gd name="T28" fmla="*/ 28 w 116"/>
                  <a:gd name="T29" fmla="*/ 7 h 76"/>
                  <a:gd name="T30" fmla="*/ 27 w 116"/>
                  <a:gd name="T31" fmla="*/ 15 h 76"/>
                  <a:gd name="T32" fmla="*/ 19 w 116"/>
                  <a:gd name="T33" fmla="*/ 16 h 76"/>
                  <a:gd name="T34" fmla="*/ 24 w 116"/>
                  <a:gd name="T35" fmla="*/ 17 h 76"/>
                  <a:gd name="T36" fmla="*/ 21 w 116"/>
                  <a:gd name="T37" fmla="*/ 19 h 76"/>
                  <a:gd name="T38" fmla="*/ 19 w 116"/>
                  <a:gd name="T39" fmla="*/ 22 h 76"/>
                  <a:gd name="T40" fmla="*/ 13 w 116"/>
                  <a:gd name="T41" fmla="*/ 26 h 76"/>
                  <a:gd name="T42" fmla="*/ 2 w 116"/>
                  <a:gd name="T43" fmla="*/ 27 h 76"/>
                  <a:gd name="T44" fmla="*/ 0 w 116"/>
                  <a:gd name="T45" fmla="*/ 31 h 76"/>
                  <a:gd name="T46" fmla="*/ 8 w 116"/>
                  <a:gd name="T47" fmla="*/ 36 h 76"/>
                  <a:gd name="T48" fmla="*/ 12 w 116"/>
                  <a:gd name="T49" fmla="*/ 38 h 76"/>
                  <a:gd name="T50" fmla="*/ 14 w 116"/>
                  <a:gd name="T51" fmla="*/ 49 h 76"/>
                  <a:gd name="T52" fmla="*/ 7 w 116"/>
                  <a:gd name="T53" fmla="*/ 62 h 76"/>
                  <a:gd name="T54" fmla="*/ 6 w 116"/>
                  <a:gd name="T55" fmla="*/ 67 h 76"/>
                  <a:gd name="T56" fmla="*/ 7 w 116"/>
                  <a:gd name="T57" fmla="*/ 69 h 76"/>
                  <a:gd name="T58" fmla="*/ 13 w 116"/>
                  <a:gd name="T59" fmla="*/ 69 h 76"/>
                  <a:gd name="T60" fmla="*/ 23 w 116"/>
                  <a:gd name="T61" fmla="*/ 65 h 76"/>
                  <a:gd name="T62" fmla="*/ 28 w 116"/>
                  <a:gd name="T63" fmla="*/ 69 h 76"/>
                  <a:gd name="T64" fmla="*/ 32 w 116"/>
                  <a:gd name="T65" fmla="*/ 61 h 76"/>
                  <a:gd name="T66" fmla="*/ 41 w 116"/>
                  <a:gd name="T67" fmla="*/ 61 h 76"/>
                  <a:gd name="T68" fmla="*/ 43 w 116"/>
                  <a:gd name="T69" fmla="*/ 57 h 76"/>
                  <a:gd name="T70" fmla="*/ 45 w 116"/>
                  <a:gd name="T71" fmla="*/ 52 h 76"/>
                  <a:gd name="T72" fmla="*/ 53 w 116"/>
                  <a:gd name="T73" fmla="*/ 45 h 76"/>
                  <a:gd name="T74" fmla="*/ 59 w 116"/>
                  <a:gd name="T75" fmla="*/ 51 h 76"/>
                  <a:gd name="T76" fmla="*/ 58 w 116"/>
                  <a:gd name="T77" fmla="*/ 53 h 76"/>
                  <a:gd name="T78" fmla="*/ 61 w 116"/>
                  <a:gd name="T79" fmla="*/ 72 h 76"/>
                  <a:gd name="T80" fmla="*/ 77 w 116"/>
                  <a:gd name="T81" fmla="*/ 70 h 76"/>
                  <a:gd name="T82" fmla="*/ 90 w 116"/>
                  <a:gd name="T83" fmla="*/ 63 h 76"/>
                  <a:gd name="T84" fmla="*/ 93 w 116"/>
                  <a:gd name="T85" fmla="*/ 66 h 76"/>
                  <a:gd name="T86" fmla="*/ 102 w 116"/>
                  <a:gd name="T87" fmla="*/ 64 h 76"/>
                  <a:gd name="T88" fmla="*/ 111 w 116"/>
                  <a:gd name="T89" fmla="*/ 66 h 76"/>
                  <a:gd name="T90" fmla="*/ 115 w 116"/>
                  <a:gd name="T91" fmla="*/ 63 h 76"/>
                  <a:gd name="T92" fmla="*/ 111 w 116"/>
                  <a:gd name="T93" fmla="*/ 46 h 76"/>
                  <a:gd name="T94" fmla="*/ 96 w 116"/>
                  <a:gd name="T95" fmla="*/ 42 h 76"/>
                  <a:gd name="T96" fmla="*/ 95 w 116"/>
                  <a:gd name="T97" fmla="*/ 37 h 76"/>
                  <a:gd name="T98" fmla="*/ 93 w 116"/>
                  <a:gd name="T99" fmla="*/ 28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6" h="76">
                    <a:moveTo>
                      <a:pt x="81" y="30"/>
                    </a:moveTo>
                    <a:cubicBezTo>
                      <a:pt x="81" y="29"/>
                      <a:pt x="78" y="29"/>
                      <a:pt x="76" y="30"/>
                    </a:cubicBezTo>
                    <a:cubicBezTo>
                      <a:pt x="75" y="30"/>
                      <a:pt x="73" y="32"/>
                      <a:pt x="73" y="32"/>
                    </a:cubicBezTo>
                    <a:cubicBezTo>
                      <a:pt x="73" y="32"/>
                      <a:pt x="72" y="33"/>
                      <a:pt x="72" y="32"/>
                    </a:cubicBezTo>
                    <a:cubicBezTo>
                      <a:pt x="72" y="32"/>
                      <a:pt x="72" y="32"/>
                      <a:pt x="72" y="32"/>
                    </a:cubicBezTo>
                    <a:cubicBezTo>
                      <a:pt x="72" y="32"/>
                      <a:pt x="66" y="31"/>
                      <a:pt x="66" y="31"/>
                    </a:cubicBezTo>
                    <a:cubicBezTo>
                      <a:pt x="65" y="31"/>
                      <a:pt x="65" y="30"/>
                      <a:pt x="65" y="29"/>
                    </a:cubicBezTo>
                    <a:cubicBezTo>
                      <a:pt x="65" y="28"/>
                      <a:pt x="65" y="28"/>
                      <a:pt x="64" y="28"/>
                    </a:cubicBezTo>
                    <a:cubicBezTo>
                      <a:pt x="64" y="28"/>
                      <a:pt x="63" y="28"/>
                      <a:pt x="62" y="28"/>
                    </a:cubicBezTo>
                    <a:cubicBezTo>
                      <a:pt x="62" y="27"/>
                      <a:pt x="61" y="26"/>
                      <a:pt x="62" y="26"/>
                    </a:cubicBezTo>
                    <a:cubicBezTo>
                      <a:pt x="62" y="25"/>
                      <a:pt x="61" y="26"/>
                      <a:pt x="61" y="26"/>
                    </a:cubicBezTo>
                    <a:cubicBezTo>
                      <a:pt x="61" y="26"/>
                      <a:pt x="56" y="28"/>
                      <a:pt x="55" y="28"/>
                    </a:cubicBezTo>
                    <a:cubicBezTo>
                      <a:pt x="55" y="29"/>
                      <a:pt x="54" y="29"/>
                      <a:pt x="54" y="29"/>
                    </a:cubicBezTo>
                    <a:cubicBezTo>
                      <a:pt x="54" y="29"/>
                      <a:pt x="50" y="27"/>
                      <a:pt x="50" y="27"/>
                    </a:cubicBezTo>
                    <a:cubicBezTo>
                      <a:pt x="49" y="27"/>
                      <a:pt x="49" y="27"/>
                      <a:pt x="49" y="27"/>
                    </a:cubicBezTo>
                    <a:cubicBezTo>
                      <a:pt x="49" y="27"/>
                      <a:pt x="42" y="26"/>
                      <a:pt x="41" y="26"/>
                    </a:cubicBezTo>
                    <a:cubicBezTo>
                      <a:pt x="41" y="26"/>
                      <a:pt x="40" y="26"/>
                      <a:pt x="40" y="26"/>
                    </a:cubicBezTo>
                    <a:cubicBezTo>
                      <a:pt x="40" y="26"/>
                      <a:pt x="30" y="27"/>
                      <a:pt x="29" y="27"/>
                    </a:cubicBezTo>
                    <a:cubicBezTo>
                      <a:pt x="29" y="27"/>
                      <a:pt x="29" y="26"/>
                      <a:pt x="29" y="26"/>
                    </a:cubicBezTo>
                    <a:cubicBezTo>
                      <a:pt x="29" y="26"/>
                      <a:pt x="29" y="20"/>
                      <a:pt x="29" y="19"/>
                    </a:cubicBezTo>
                    <a:cubicBezTo>
                      <a:pt x="29" y="19"/>
                      <a:pt x="30" y="19"/>
                      <a:pt x="30" y="19"/>
                    </a:cubicBezTo>
                    <a:cubicBezTo>
                      <a:pt x="30" y="20"/>
                      <a:pt x="30" y="19"/>
                      <a:pt x="30" y="19"/>
                    </a:cubicBezTo>
                    <a:cubicBezTo>
                      <a:pt x="30" y="19"/>
                      <a:pt x="32" y="17"/>
                      <a:pt x="32" y="17"/>
                    </a:cubicBezTo>
                    <a:cubicBezTo>
                      <a:pt x="32" y="17"/>
                      <a:pt x="33" y="16"/>
                      <a:pt x="33" y="16"/>
                    </a:cubicBezTo>
                    <a:cubicBezTo>
                      <a:pt x="33" y="16"/>
                      <a:pt x="38" y="15"/>
                      <a:pt x="38" y="15"/>
                    </a:cubicBezTo>
                    <a:cubicBezTo>
                      <a:pt x="38" y="15"/>
                      <a:pt x="39" y="15"/>
                      <a:pt x="39" y="15"/>
                    </a:cubicBezTo>
                    <a:cubicBezTo>
                      <a:pt x="39" y="15"/>
                      <a:pt x="46" y="18"/>
                      <a:pt x="47" y="18"/>
                    </a:cubicBezTo>
                    <a:cubicBezTo>
                      <a:pt x="47" y="18"/>
                      <a:pt x="47" y="18"/>
                      <a:pt x="47" y="18"/>
                    </a:cubicBezTo>
                    <a:cubicBezTo>
                      <a:pt x="46" y="19"/>
                      <a:pt x="46" y="19"/>
                      <a:pt x="46" y="20"/>
                    </a:cubicBezTo>
                    <a:cubicBezTo>
                      <a:pt x="46" y="20"/>
                      <a:pt x="48" y="19"/>
                      <a:pt x="48" y="19"/>
                    </a:cubicBezTo>
                    <a:cubicBezTo>
                      <a:pt x="53" y="14"/>
                      <a:pt x="53" y="14"/>
                      <a:pt x="53" y="14"/>
                    </a:cubicBezTo>
                    <a:cubicBezTo>
                      <a:pt x="52" y="15"/>
                      <a:pt x="51" y="15"/>
                      <a:pt x="51" y="15"/>
                    </a:cubicBezTo>
                    <a:cubicBezTo>
                      <a:pt x="50" y="15"/>
                      <a:pt x="50" y="15"/>
                      <a:pt x="50" y="15"/>
                    </a:cubicBezTo>
                    <a:cubicBezTo>
                      <a:pt x="50" y="15"/>
                      <a:pt x="45" y="12"/>
                      <a:pt x="45" y="11"/>
                    </a:cubicBezTo>
                    <a:cubicBezTo>
                      <a:pt x="44" y="11"/>
                      <a:pt x="45" y="11"/>
                      <a:pt x="45" y="11"/>
                    </a:cubicBezTo>
                    <a:cubicBezTo>
                      <a:pt x="45" y="11"/>
                      <a:pt x="50" y="7"/>
                      <a:pt x="50" y="6"/>
                    </a:cubicBezTo>
                    <a:cubicBezTo>
                      <a:pt x="51" y="6"/>
                      <a:pt x="51" y="5"/>
                      <a:pt x="51" y="5"/>
                    </a:cubicBezTo>
                    <a:cubicBezTo>
                      <a:pt x="51" y="5"/>
                      <a:pt x="47" y="1"/>
                      <a:pt x="46" y="1"/>
                    </a:cubicBezTo>
                    <a:cubicBezTo>
                      <a:pt x="46" y="0"/>
                      <a:pt x="46" y="0"/>
                      <a:pt x="46" y="0"/>
                    </a:cubicBezTo>
                    <a:cubicBezTo>
                      <a:pt x="46" y="0"/>
                      <a:pt x="40" y="5"/>
                      <a:pt x="39" y="5"/>
                    </a:cubicBezTo>
                    <a:cubicBezTo>
                      <a:pt x="39" y="5"/>
                      <a:pt x="38" y="6"/>
                      <a:pt x="38" y="6"/>
                    </a:cubicBezTo>
                    <a:cubicBezTo>
                      <a:pt x="37" y="6"/>
                      <a:pt x="36" y="6"/>
                      <a:pt x="35" y="7"/>
                    </a:cubicBezTo>
                    <a:cubicBezTo>
                      <a:pt x="34" y="7"/>
                      <a:pt x="31" y="6"/>
                      <a:pt x="30" y="5"/>
                    </a:cubicBezTo>
                    <a:cubicBezTo>
                      <a:pt x="30" y="5"/>
                      <a:pt x="29" y="5"/>
                      <a:pt x="29" y="5"/>
                    </a:cubicBezTo>
                    <a:cubicBezTo>
                      <a:pt x="28" y="7"/>
                      <a:pt x="28" y="7"/>
                      <a:pt x="28" y="7"/>
                    </a:cubicBezTo>
                    <a:cubicBezTo>
                      <a:pt x="27" y="10"/>
                      <a:pt x="28" y="13"/>
                      <a:pt x="28" y="14"/>
                    </a:cubicBezTo>
                    <a:cubicBezTo>
                      <a:pt x="29" y="15"/>
                      <a:pt x="29" y="15"/>
                      <a:pt x="28" y="15"/>
                    </a:cubicBezTo>
                    <a:cubicBezTo>
                      <a:pt x="28" y="15"/>
                      <a:pt x="28" y="15"/>
                      <a:pt x="27" y="15"/>
                    </a:cubicBezTo>
                    <a:cubicBezTo>
                      <a:pt x="27" y="15"/>
                      <a:pt x="26" y="14"/>
                      <a:pt x="26" y="14"/>
                    </a:cubicBezTo>
                    <a:cubicBezTo>
                      <a:pt x="26" y="14"/>
                      <a:pt x="21" y="15"/>
                      <a:pt x="20" y="15"/>
                    </a:cubicBezTo>
                    <a:cubicBezTo>
                      <a:pt x="19" y="15"/>
                      <a:pt x="19" y="15"/>
                      <a:pt x="19" y="16"/>
                    </a:cubicBezTo>
                    <a:cubicBezTo>
                      <a:pt x="20" y="16"/>
                      <a:pt x="20" y="16"/>
                      <a:pt x="20" y="16"/>
                    </a:cubicBezTo>
                    <a:cubicBezTo>
                      <a:pt x="20" y="16"/>
                      <a:pt x="23" y="16"/>
                      <a:pt x="23" y="16"/>
                    </a:cubicBezTo>
                    <a:cubicBezTo>
                      <a:pt x="24" y="16"/>
                      <a:pt x="24" y="17"/>
                      <a:pt x="24" y="17"/>
                    </a:cubicBezTo>
                    <a:cubicBezTo>
                      <a:pt x="24" y="17"/>
                      <a:pt x="24" y="18"/>
                      <a:pt x="23" y="17"/>
                    </a:cubicBezTo>
                    <a:cubicBezTo>
                      <a:pt x="22" y="17"/>
                      <a:pt x="22" y="18"/>
                      <a:pt x="22" y="19"/>
                    </a:cubicBezTo>
                    <a:cubicBezTo>
                      <a:pt x="22" y="21"/>
                      <a:pt x="22" y="20"/>
                      <a:pt x="21" y="19"/>
                    </a:cubicBezTo>
                    <a:cubicBezTo>
                      <a:pt x="21" y="19"/>
                      <a:pt x="21" y="19"/>
                      <a:pt x="21" y="19"/>
                    </a:cubicBezTo>
                    <a:cubicBezTo>
                      <a:pt x="21" y="19"/>
                      <a:pt x="20" y="20"/>
                      <a:pt x="19" y="21"/>
                    </a:cubicBezTo>
                    <a:cubicBezTo>
                      <a:pt x="19" y="21"/>
                      <a:pt x="19" y="22"/>
                      <a:pt x="19" y="22"/>
                    </a:cubicBezTo>
                    <a:cubicBezTo>
                      <a:pt x="19" y="22"/>
                      <a:pt x="18" y="25"/>
                      <a:pt x="18" y="26"/>
                    </a:cubicBezTo>
                    <a:cubicBezTo>
                      <a:pt x="17" y="26"/>
                      <a:pt x="17" y="26"/>
                      <a:pt x="17" y="26"/>
                    </a:cubicBezTo>
                    <a:cubicBezTo>
                      <a:pt x="17" y="26"/>
                      <a:pt x="14" y="26"/>
                      <a:pt x="13" y="26"/>
                    </a:cubicBezTo>
                    <a:cubicBezTo>
                      <a:pt x="12" y="26"/>
                      <a:pt x="9" y="26"/>
                      <a:pt x="8" y="25"/>
                    </a:cubicBezTo>
                    <a:cubicBezTo>
                      <a:pt x="6" y="25"/>
                      <a:pt x="5" y="25"/>
                      <a:pt x="4" y="25"/>
                    </a:cubicBezTo>
                    <a:cubicBezTo>
                      <a:pt x="4" y="26"/>
                      <a:pt x="2" y="27"/>
                      <a:pt x="2" y="27"/>
                    </a:cubicBezTo>
                    <a:cubicBezTo>
                      <a:pt x="1" y="27"/>
                      <a:pt x="1" y="28"/>
                      <a:pt x="1" y="28"/>
                    </a:cubicBezTo>
                    <a:cubicBezTo>
                      <a:pt x="1" y="28"/>
                      <a:pt x="0" y="30"/>
                      <a:pt x="0" y="31"/>
                    </a:cubicBezTo>
                    <a:cubicBezTo>
                      <a:pt x="0" y="31"/>
                      <a:pt x="0" y="31"/>
                      <a:pt x="0" y="31"/>
                    </a:cubicBezTo>
                    <a:cubicBezTo>
                      <a:pt x="0" y="31"/>
                      <a:pt x="4" y="35"/>
                      <a:pt x="4" y="35"/>
                    </a:cubicBezTo>
                    <a:cubicBezTo>
                      <a:pt x="4" y="36"/>
                      <a:pt x="5" y="36"/>
                      <a:pt x="5" y="36"/>
                    </a:cubicBezTo>
                    <a:cubicBezTo>
                      <a:pt x="5" y="36"/>
                      <a:pt x="8" y="36"/>
                      <a:pt x="8" y="36"/>
                    </a:cubicBezTo>
                    <a:cubicBezTo>
                      <a:pt x="9" y="36"/>
                      <a:pt x="9" y="36"/>
                      <a:pt x="9" y="36"/>
                    </a:cubicBezTo>
                    <a:cubicBezTo>
                      <a:pt x="9" y="36"/>
                      <a:pt x="11" y="37"/>
                      <a:pt x="11" y="37"/>
                    </a:cubicBezTo>
                    <a:cubicBezTo>
                      <a:pt x="12" y="38"/>
                      <a:pt x="12" y="38"/>
                      <a:pt x="12" y="38"/>
                    </a:cubicBezTo>
                    <a:cubicBezTo>
                      <a:pt x="12" y="38"/>
                      <a:pt x="11" y="44"/>
                      <a:pt x="11" y="45"/>
                    </a:cubicBezTo>
                    <a:cubicBezTo>
                      <a:pt x="11" y="45"/>
                      <a:pt x="11" y="46"/>
                      <a:pt x="11" y="46"/>
                    </a:cubicBezTo>
                    <a:cubicBezTo>
                      <a:pt x="11" y="46"/>
                      <a:pt x="14" y="48"/>
                      <a:pt x="14" y="49"/>
                    </a:cubicBezTo>
                    <a:cubicBezTo>
                      <a:pt x="15" y="49"/>
                      <a:pt x="15" y="50"/>
                      <a:pt x="15" y="50"/>
                    </a:cubicBezTo>
                    <a:cubicBezTo>
                      <a:pt x="15" y="50"/>
                      <a:pt x="13" y="53"/>
                      <a:pt x="13" y="54"/>
                    </a:cubicBezTo>
                    <a:cubicBezTo>
                      <a:pt x="13" y="55"/>
                      <a:pt x="7" y="62"/>
                      <a:pt x="7" y="62"/>
                    </a:cubicBezTo>
                    <a:cubicBezTo>
                      <a:pt x="6" y="63"/>
                      <a:pt x="7" y="64"/>
                      <a:pt x="7" y="64"/>
                    </a:cubicBezTo>
                    <a:cubicBezTo>
                      <a:pt x="7" y="65"/>
                      <a:pt x="7" y="66"/>
                      <a:pt x="7" y="66"/>
                    </a:cubicBezTo>
                    <a:cubicBezTo>
                      <a:pt x="6" y="67"/>
                      <a:pt x="6" y="67"/>
                      <a:pt x="6" y="67"/>
                    </a:cubicBezTo>
                    <a:cubicBezTo>
                      <a:pt x="6" y="67"/>
                      <a:pt x="6" y="67"/>
                      <a:pt x="6" y="67"/>
                    </a:cubicBezTo>
                    <a:cubicBezTo>
                      <a:pt x="6" y="69"/>
                      <a:pt x="6" y="69"/>
                      <a:pt x="6" y="69"/>
                    </a:cubicBezTo>
                    <a:cubicBezTo>
                      <a:pt x="6" y="69"/>
                      <a:pt x="6" y="69"/>
                      <a:pt x="7" y="69"/>
                    </a:cubicBezTo>
                    <a:cubicBezTo>
                      <a:pt x="8" y="70"/>
                      <a:pt x="9" y="71"/>
                      <a:pt x="9" y="71"/>
                    </a:cubicBezTo>
                    <a:cubicBezTo>
                      <a:pt x="9" y="72"/>
                      <a:pt x="10" y="72"/>
                      <a:pt x="11" y="71"/>
                    </a:cubicBezTo>
                    <a:cubicBezTo>
                      <a:pt x="11" y="71"/>
                      <a:pt x="13" y="69"/>
                      <a:pt x="13" y="69"/>
                    </a:cubicBezTo>
                    <a:cubicBezTo>
                      <a:pt x="13" y="69"/>
                      <a:pt x="14" y="68"/>
                      <a:pt x="15" y="68"/>
                    </a:cubicBezTo>
                    <a:cubicBezTo>
                      <a:pt x="16" y="68"/>
                      <a:pt x="19" y="67"/>
                      <a:pt x="19" y="67"/>
                    </a:cubicBezTo>
                    <a:cubicBezTo>
                      <a:pt x="20" y="66"/>
                      <a:pt x="23" y="65"/>
                      <a:pt x="23" y="65"/>
                    </a:cubicBezTo>
                    <a:cubicBezTo>
                      <a:pt x="23" y="65"/>
                      <a:pt x="23" y="65"/>
                      <a:pt x="24" y="65"/>
                    </a:cubicBezTo>
                    <a:cubicBezTo>
                      <a:pt x="24" y="66"/>
                      <a:pt x="28" y="69"/>
                      <a:pt x="28" y="69"/>
                    </a:cubicBezTo>
                    <a:cubicBezTo>
                      <a:pt x="28" y="69"/>
                      <a:pt x="28" y="69"/>
                      <a:pt x="28" y="69"/>
                    </a:cubicBezTo>
                    <a:cubicBezTo>
                      <a:pt x="29" y="68"/>
                      <a:pt x="30" y="68"/>
                      <a:pt x="30" y="67"/>
                    </a:cubicBezTo>
                    <a:cubicBezTo>
                      <a:pt x="30" y="67"/>
                      <a:pt x="30" y="66"/>
                      <a:pt x="30" y="65"/>
                    </a:cubicBezTo>
                    <a:cubicBezTo>
                      <a:pt x="31" y="65"/>
                      <a:pt x="32" y="61"/>
                      <a:pt x="32" y="61"/>
                    </a:cubicBezTo>
                    <a:cubicBezTo>
                      <a:pt x="32" y="61"/>
                      <a:pt x="32" y="60"/>
                      <a:pt x="33" y="60"/>
                    </a:cubicBezTo>
                    <a:cubicBezTo>
                      <a:pt x="33" y="60"/>
                      <a:pt x="36" y="61"/>
                      <a:pt x="37" y="61"/>
                    </a:cubicBezTo>
                    <a:cubicBezTo>
                      <a:pt x="37" y="61"/>
                      <a:pt x="41" y="61"/>
                      <a:pt x="41" y="61"/>
                    </a:cubicBezTo>
                    <a:cubicBezTo>
                      <a:pt x="42" y="61"/>
                      <a:pt x="42" y="61"/>
                      <a:pt x="42" y="60"/>
                    </a:cubicBezTo>
                    <a:cubicBezTo>
                      <a:pt x="42" y="60"/>
                      <a:pt x="43" y="60"/>
                      <a:pt x="43" y="59"/>
                    </a:cubicBezTo>
                    <a:cubicBezTo>
                      <a:pt x="43" y="59"/>
                      <a:pt x="44" y="58"/>
                      <a:pt x="43" y="57"/>
                    </a:cubicBezTo>
                    <a:cubicBezTo>
                      <a:pt x="43" y="57"/>
                      <a:pt x="41" y="55"/>
                      <a:pt x="41" y="55"/>
                    </a:cubicBezTo>
                    <a:cubicBezTo>
                      <a:pt x="42" y="54"/>
                      <a:pt x="43" y="54"/>
                      <a:pt x="43" y="53"/>
                    </a:cubicBezTo>
                    <a:cubicBezTo>
                      <a:pt x="44" y="53"/>
                      <a:pt x="45" y="52"/>
                      <a:pt x="45" y="52"/>
                    </a:cubicBezTo>
                    <a:cubicBezTo>
                      <a:pt x="46" y="51"/>
                      <a:pt x="50" y="46"/>
                      <a:pt x="50" y="46"/>
                    </a:cubicBezTo>
                    <a:cubicBezTo>
                      <a:pt x="50" y="46"/>
                      <a:pt x="50" y="46"/>
                      <a:pt x="51" y="46"/>
                    </a:cubicBezTo>
                    <a:cubicBezTo>
                      <a:pt x="52" y="46"/>
                      <a:pt x="53" y="45"/>
                      <a:pt x="53" y="45"/>
                    </a:cubicBezTo>
                    <a:cubicBezTo>
                      <a:pt x="53" y="45"/>
                      <a:pt x="54" y="45"/>
                      <a:pt x="54" y="46"/>
                    </a:cubicBezTo>
                    <a:cubicBezTo>
                      <a:pt x="55" y="46"/>
                      <a:pt x="56" y="46"/>
                      <a:pt x="56" y="47"/>
                    </a:cubicBezTo>
                    <a:cubicBezTo>
                      <a:pt x="56" y="47"/>
                      <a:pt x="59" y="51"/>
                      <a:pt x="59" y="51"/>
                    </a:cubicBezTo>
                    <a:cubicBezTo>
                      <a:pt x="59" y="51"/>
                      <a:pt x="59" y="51"/>
                      <a:pt x="59" y="52"/>
                    </a:cubicBezTo>
                    <a:cubicBezTo>
                      <a:pt x="58" y="52"/>
                      <a:pt x="58" y="53"/>
                      <a:pt x="58" y="53"/>
                    </a:cubicBezTo>
                    <a:cubicBezTo>
                      <a:pt x="58" y="53"/>
                      <a:pt x="58" y="53"/>
                      <a:pt x="58" y="53"/>
                    </a:cubicBezTo>
                    <a:cubicBezTo>
                      <a:pt x="59" y="53"/>
                      <a:pt x="62" y="54"/>
                      <a:pt x="62" y="55"/>
                    </a:cubicBezTo>
                    <a:cubicBezTo>
                      <a:pt x="62" y="56"/>
                      <a:pt x="61" y="64"/>
                      <a:pt x="61" y="66"/>
                    </a:cubicBezTo>
                    <a:cubicBezTo>
                      <a:pt x="61" y="68"/>
                      <a:pt x="60" y="71"/>
                      <a:pt x="61" y="72"/>
                    </a:cubicBezTo>
                    <a:cubicBezTo>
                      <a:pt x="62" y="74"/>
                      <a:pt x="63" y="75"/>
                      <a:pt x="63" y="75"/>
                    </a:cubicBezTo>
                    <a:cubicBezTo>
                      <a:pt x="63" y="75"/>
                      <a:pt x="64" y="76"/>
                      <a:pt x="64" y="75"/>
                    </a:cubicBezTo>
                    <a:cubicBezTo>
                      <a:pt x="65" y="75"/>
                      <a:pt x="77" y="71"/>
                      <a:pt x="77" y="70"/>
                    </a:cubicBezTo>
                    <a:cubicBezTo>
                      <a:pt x="78" y="70"/>
                      <a:pt x="80" y="69"/>
                      <a:pt x="81" y="68"/>
                    </a:cubicBezTo>
                    <a:cubicBezTo>
                      <a:pt x="82" y="67"/>
                      <a:pt x="83" y="65"/>
                      <a:pt x="84" y="65"/>
                    </a:cubicBezTo>
                    <a:cubicBezTo>
                      <a:pt x="85" y="64"/>
                      <a:pt x="88" y="62"/>
                      <a:pt x="90" y="63"/>
                    </a:cubicBezTo>
                    <a:cubicBezTo>
                      <a:pt x="92" y="63"/>
                      <a:pt x="94" y="65"/>
                      <a:pt x="94" y="65"/>
                    </a:cubicBezTo>
                    <a:cubicBezTo>
                      <a:pt x="94" y="65"/>
                      <a:pt x="95" y="65"/>
                      <a:pt x="94" y="65"/>
                    </a:cubicBezTo>
                    <a:cubicBezTo>
                      <a:pt x="93" y="65"/>
                      <a:pt x="92" y="66"/>
                      <a:pt x="93" y="66"/>
                    </a:cubicBezTo>
                    <a:cubicBezTo>
                      <a:pt x="94" y="67"/>
                      <a:pt x="96" y="66"/>
                      <a:pt x="98" y="66"/>
                    </a:cubicBezTo>
                    <a:cubicBezTo>
                      <a:pt x="99" y="65"/>
                      <a:pt x="101" y="65"/>
                      <a:pt x="101" y="65"/>
                    </a:cubicBezTo>
                    <a:cubicBezTo>
                      <a:pt x="102" y="64"/>
                      <a:pt x="102" y="64"/>
                      <a:pt x="102" y="64"/>
                    </a:cubicBezTo>
                    <a:cubicBezTo>
                      <a:pt x="102" y="63"/>
                      <a:pt x="102" y="63"/>
                      <a:pt x="102" y="63"/>
                    </a:cubicBezTo>
                    <a:cubicBezTo>
                      <a:pt x="103" y="63"/>
                      <a:pt x="107" y="63"/>
                      <a:pt x="110" y="65"/>
                    </a:cubicBezTo>
                    <a:cubicBezTo>
                      <a:pt x="110" y="66"/>
                      <a:pt x="111" y="66"/>
                      <a:pt x="111" y="66"/>
                    </a:cubicBezTo>
                    <a:cubicBezTo>
                      <a:pt x="112" y="66"/>
                      <a:pt x="112" y="66"/>
                      <a:pt x="113" y="66"/>
                    </a:cubicBezTo>
                    <a:cubicBezTo>
                      <a:pt x="114" y="65"/>
                      <a:pt x="115" y="64"/>
                      <a:pt x="115" y="64"/>
                    </a:cubicBezTo>
                    <a:cubicBezTo>
                      <a:pt x="115" y="64"/>
                      <a:pt x="116" y="63"/>
                      <a:pt x="115" y="63"/>
                    </a:cubicBezTo>
                    <a:cubicBezTo>
                      <a:pt x="115" y="62"/>
                      <a:pt x="113" y="61"/>
                      <a:pt x="113" y="59"/>
                    </a:cubicBezTo>
                    <a:cubicBezTo>
                      <a:pt x="113" y="57"/>
                      <a:pt x="111" y="47"/>
                      <a:pt x="111" y="47"/>
                    </a:cubicBezTo>
                    <a:cubicBezTo>
                      <a:pt x="111" y="47"/>
                      <a:pt x="111" y="46"/>
                      <a:pt x="111" y="46"/>
                    </a:cubicBezTo>
                    <a:cubicBezTo>
                      <a:pt x="110" y="46"/>
                      <a:pt x="105" y="42"/>
                      <a:pt x="103" y="42"/>
                    </a:cubicBezTo>
                    <a:cubicBezTo>
                      <a:pt x="102" y="42"/>
                      <a:pt x="99" y="42"/>
                      <a:pt x="99" y="42"/>
                    </a:cubicBezTo>
                    <a:cubicBezTo>
                      <a:pt x="98" y="42"/>
                      <a:pt x="96" y="43"/>
                      <a:pt x="96" y="42"/>
                    </a:cubicBezTo>
                    <a:cubicBezTo>
                      <a:pt x="95" y="41"/>
                      <a:pt x="94" y="39"/>
                      <a:pt x="94" y="39"/>
                    </a:cubicBezTo>
                    <a:cubicBezTo>
                      <a:pt x="94" y="39"/>
                      <a:pt x="94" y="38"/>
                      <a:pt x="95" y="38"/>
                    </a:cubicBezTo>
                    <a:cubicBezTo>
                      <a:pt x="95" y="37"/>
                      <a:pt x="95" y="37"/>
                      <a:pt x="95" y="37"/>
                    </a:cubicBezTo>
                    <a:cubicBezTo>
                      <a:pt x="96" y="37"/>
                      <a:pt x="97" y="37"/>
                      <a:pt x="96" y="36"/>
                    </a:cubicBezTo>
                    <a:cubicBezTo>
                      <a:pt x="95" y="36"/>
                      <a:pt x="93" y="34"/>
                      <a:pt x="93" y="31"/>
                    </a:cubicBezTo>
                    <a:cubicBezTo>
                      <a:pt x="93" y="30"/>
                      <a:pt x="93" y="29"/>
                      <a:pt x="93" y="28"/>
                    </a:cubicBezTo>
                    <a:cubicBezTo>
                      <a:pt x="91" y="29"/>
                      <a:pt x="84" y="29"/>
                      <a:pt x="84" y="29"/>
                    </a:cubicBezTo>
                    <a:cubicBezTo>
                      <a:pt x="84" y="29"/>
                      <a:pt x="82" y="30"/>
                      <a:pt x="81" y="3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77" name="Freeform 687">
                <a:extLst>
                  <a:ext uri="{FF2B5EF4-FFF2-40B4-BE49-F238E27FC236}">
                    <a16:creationId xmlns:a16="http://schemas.microsoft.com/office/drawing/2014/main" id="{0E506CDF-912A-4E4B-9B22-11D91CBC8CEC}"/>
                  </a:ext>
                </a:extLst>
              </p:cNvPr>
              <p:cNvSpPr>
                <a:spLocks noEditPoints="1"/>
              </p:cNvSpPr>
              <p:nvPr/>
            </p:nvSpPr>
            <p:spPr bwMode="auto">
              <a:xfrm>
                <a:off x="4927" y="1743"/>
                <a:ext cx="225" cy="98"/>
              </a:xfrm>
              <a:custGeom>
                <a:avLst/>
                <a:gdLst>
                  <a:gd name="T0" fmla="*/ 69 w 163"/>
                  <a:gd name="T1" fmla="*/ 63 h 71"/>
                  <a:gd name="T2" fmla="*/ 71 w 163"/>
                  <a:gd name="T3" fmla="*/ 55 h 71"/>
                  <a:gd name="T4" fmla="*/ 82 w 163"/>
                  <a:gd name="T5" fmla="*/ 48 h 71"/>
                  <a:gd name="T6" fmla="*/ 91 w 163"/>
                  <a:gd name="T7" fmla="*/ 46 h 71"/>
                  <a:gd name="T8" fmla="*/ 95 w 163"/>
                  <a:gd name="T9" fmla="*/ 50 h 71"/>
                  <a:gd name="T10" fmla="*/ 104 w 163"/>
                  <a:gd name="T11" fmla="*/ 50 h 71"/>
                  <a:gd name="T12" fmla="*/ 109 w 163"/>
                  <a:gd name="T13" fmla="*/ 43 h 71"/>
                  <a:gd name="T14" fmla="*/ 132 w 163"/>
                  <a:gd name="T15" fmla="*/ 36 h 71"/>
                  <a:gd name="T16" fmla="*/ 161 w 163"/>
                  <a:gd name="T17" fmla="*/ 21 h 71"/>
                  <a:gd name="T18" fmla="*/ 162 w 163"/>
                  <a:gd name="T19" fmla="*/ 17 h 71"/>
                  <a:gd name="T20" fmla="*/ 150 w 163"/>
                  <a:gd name="T21" fmla="*/ 12 h 71"/>
                  <a:gd name="T22" fmla="*/ 138 w 163"/>
                  <a:gd name="T23" fmla="*/ 6 h 71"/>
                  <a:gd name="T24" fmla="*/ 97 w 163"/>
                  <a:gd name="T25" fmla="*/ 4 h 71"/>
                  <a:gd name="T26" fmla="*/ 87 w 163"/>
                  <a:gd name="T27" fmla="*/ 5 h 71"/>
                  <a:gd name="T28" fmla="*/ 76 w 163"/>
                  <a:gd name="T29" fmla="*/ 0 h 71"/>
                  <a:gd name="T30" fmla="*/ 67 w 163"/>
                  <a:gd name="T31" fmla="*/ 1 h 71"/>
                  <a:gd name="T32" fmla="*/ 62 w 163"/>
                  <a:gd name="T33" fmla="*/ 14 h 71"/>
                  <a:gd name="T34" fmla="*/ 30 w 163"/>
                  <a:gd name="T35" fmla="*/ 8 h 71"/>
                  <a:gd name="T36" fmla="*/ 24 w 163"/>
                  <a:gd name="T37" fmla="*/ 16 h 71"/>
                  <a:gd name="T38" fmla="*/ 29 w 163"/>
                  <a:gd name="T39" fmla="*/ 18 h 71"/>
                  <a:gd name="T40" fmla="*/ 13 w 163"/>
                  <a:gd name="T41" fmla="*/ 28 h 71"/>
                  <a:gd name="T42" fmla="*/ 18 w 163"/>
                  <a:gd name="T43" fmla="*/ 31 h 71"/>
                  <a:gd name="T44" fmla="*/ 21 w 163"/>
                  <a:gd name="T45" fmla="*/ 33 h 71"/>
                  <a:gd name="T46" fmla="*/ 31 w 163"/>
                  <a:gd name="T47" fmla="*/ 36 h 71"/>
                  <a:gd name="T48" fmla="*/ 33 w 163"/>
                  <a:gd name="T49" fmla="*/ 33 h 71"/>
                  <a:gd name="T50" fmla="*/ 34 w 163"/>
                  <a:gd name="T51" fmla="*/ 30 h 71"/>
                  <a:gd name="T52" fmla="*/ 39 w 163"/>
                  <a:gd name="T53" fmla="*/ 35 h 71"/>
                  <a:gd name="T54" fmla="*/ 42 w 163"/>
                  <a:gd name="T55" fmla="*/ 35 h 71"/>
                  <a:gd name="T56" fmla="*/ 44 w 163"/>
                  <a:gd name="T57" fmla="*/ 38 h 71"/>
                  <a:gd name="T58" fmla="*/ 49 w 163"/>
                  <a:gd name="T59" fmla="*/ 40 h 71"/>
                  <a:gd name="T60" fmla="*/ 56 w 163"/>
                  <a:gd name="T61" fmla="*/ 43 h 71"/>
                  <a:gd name="T62" fmla="*/ 50 w 163"/>
                  <a:gd name="T63" fmla="*/ 47 h 71"/>
                  <a:gd name="T64" fmla="*/ 45 w 163"/>
                  <a:gd name="T65" fmla="*/ 46 h 71"/>
                  <a:gd name="T66" fmla="*/ 44 w 163"/>
                  <a:gd name="T67" fmla="*/ 49 h 71"/>
                  <a:gd name="T68" fmla="*/ 41 w 163"/>
                  <a:gd name="T69" fmla="*/ 51 h 71"/>
                  <a:gd name="T70" fmla="*/ 33 w 163"/>
                  <a:gd name="T71" fmla="*/ 52 h 71"/>
                  <a:gd name="T72" fmla="*/ 25 w 163"/>
                  <a:gd name="T73" fmla="*/ 52 h 71"/>
                  <a:gd name="T74" fmla="*/ 17 w 163"/>
                  <a:gd name="T75" fmla="*/ 58 h 71"/>
                  <a:gd name="T76" fmla="*/ 10 w 163"/>
                  <a:gd name="T77" fmla="*/ 53 h 71"/>
                  <a:gd name="T78" fmla="*/ 3 w 163"/>
                  <a:gd name="T79" fmla="*/ 55 h 71"/>
                  <a:gd name="T80" fmla="*/ 0 w 163"/>
                  <a:gd name="T81" fmla="*/ 57 h 71"/>
                  <a:gd name="T82" fmla="*/ 11 w 163"/>
                  <a:gd name="T83" fmla="*/ 64 h 71"/>
                  <a:gd name="T84" fmla="*/ 21 w 163"/>
                  <a:gd name="T85" fmla="*/ 65 h 71"/>
                  <a:gd name="T86" fmla="*/ 32 w 163"/>
                  <a:gd name="T87" fmla="*/ 64 h 71"/>
                  <a:gd name="T88" fmla="*/ 35 w 163"/>
                  <a:gd name="T89" fmla="*/ 66 h 71"/>
                  <a:gd name="T90" fmla="*/ 43 w 163"/>
                  <a:gd name="T91" fmla="*/ 70 h 71"/>
                  <a:gd name="T92" fmla="*/ 47 w 163"/>
                  <a:gd name="T93" fmla="*/ 68 h 71"/>
                  <a:gd name="T94" fmla="*/ 64 w 163"/>
                  <a:gd name="T95" fmla="*/ 66 h 71"/>
                  <a:gd name="T96" fmla="*/ 19 w 163"/>
                  <a:gd name="T97" fmla="*/ 60 h 71"/>
                  <a:gd name="T98" fmla="*/ 20 w 163"/>
                  <a:gd name="T99" fmla="*/ 60 h 71"/>
                  <a:gd name="T100" fmla="*/ 26 w 163"/>
                  <a:gd name="T101" fmla="*/ 55 h 71"/>
                  <a:gd name="T102" fmla="*/ 37 w 163"/>
                  <a:gd name="T103" fmla="*/ 5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3" h="71">
                    <a:moveTo>
                      <a:pt x="64" y="66"/>
                    </a:moveTo>
                    <a:cubicBezTo>
                      <a:pt x="65" y="66"/>
                      <a:pt x="66" y="66"/>
                      <a:pt x="66" y="65"/>
                    </a:cubicBezTo>
                    <a:cubicBezTo>
                      <a:pt x="67" y="65"/>
                      <a:pt x="69" y="64"/>
                      <a:pt x="69" y="63"/>
                    </a:cubicBezTo>
                    <a:cubicBezTo>
                      <a:pt x="68" y="63"/>
                      <a:pt x="68" y="63"/>
                      <a:pt x="68" y="62"/>
                    </a:cubicBezTo>
                    <a:cubicBezTo>
                      <a:pt x="69" y="61"/>
                      <a:pt x="70" y="56"/>
                      <a:pt x="70" y="56"/>
                    </a:cubicBezTo>
                    <a:cubicBezTo>
                      <a:pt x="70" y="56"/>
                      <a:pt x="70" y="55"/>
                      <a:pt x="71" y="55"/>
                    </a:cubicBezTo>
                    <a:cubicBezTo>
                      <a:pt x="71" y="55"/>
                      <a:pt x="81" y="51"/>
                      <a:pt x="81" y="51"/>
                    </a:cubicBezTo>
                    <a:cubicBezTo>
                      <a:pt x="81" y="51"/>
                      <a:pt x="83" y="51"/>
                      <a:pt x="82" y="50"/>
                    </a:cubicBezTo>
                    <a:cubicBezTo>
                      <a:pt x="82" y="49"/>
                      <a:pt x="82" y="48"/>
                      <a:pt x="82" y="48"/>
                    </a:cubicBezTo>
                    <a:cubicBezTo>
                      <a:pt x="82" y="48"/>
                      <a:pt x="82" y="48"/>
                      <a:pt x="83" y="48"/>
                    </a:cubicBezTo>
                    <a:cubicBezTo>
                      <a:pt x="83" y="48"/>
                      <a:pt x="86" y="49"/>
                      <a:pt x="87" y="48"/>
                    </a:cubicBezTo>
                    <a:cubicBezTo>
                      <a:pt x="88" y="48"/>
                      <a:pt x="90" y="47"/>
                      <a:pt x="91" y="46"/>
                    </a:cubicBezTo>
                    <a:cubicBezTo>
                      <a:pt x="92" y="45"/>
                      <a:pt x="94" y="45"/>
                      <a:pt x="94" y="46"/>
                    </a:cubicBezTo>
                    <a:cubicBezTo>
                      <a:pt x="94" y="47"/>
                      <a:pt x="94" y="47"/>
                      <a:pt x="94" y="47"/>
                    </a:cubicBezTo>
                    <a:cubicBezTo>
                      <a:pt x="94" y="48"/>
                      <a:pt x="94" y="49"/>
                      <a:pt x="95" y="50"/>
                    </a:cubicBezTo>
                    <a:cubicBezTo>
                      <a:pt x="95" y="50"/>
                      <a:pt x="95" y="52"/>
                      <a:pt x="97" y="51"/>
                    </a:cubicBezTo>
                    <a:cubicBezTo>
                      <a:pt x="98" y="51"/>
                      <a:pt x="99" y="51"/>
                      <a:pt x="100" y="50"/>
                    </a:cubicBezTo>
                    <a:cubicBezTo>
                      <a:pt x="101" y="50"/>
                      <a:pt x="102" y="49"/>
                      <a:pt x="104" y="50"/>
                    </a:cubicBezTo>
                    <a:cubicBezTo>
                      <a:pt x="105" y="50"/>
                      <a:pt x="106" y="50"/>
                      <a:pt x="106" y="49"/>
                    </a:cubicBezTo>
                    <a:cubicBezTo>
                      <a:pt x="107" y="48"/>
                      <a:pt x="109" y="46"/>
                      <a:pt x="109" y="45"/>
                    </a:cubicBezTo>
                    <a:cubicBezTo>
                      <a:pt x="109" y="44"/>
                      <a:pt x="109" y="43"/>
                      <a:pt x="109" y="43"/>
                    </a:cubicBezTo>
                    <a:cubicBezTo>
                      <a:pt x="110" y="42"/>
                      <a:pt x="111" y="41"/>
                      <a:pt x="112" y="41"/>
                    </a:cubicBezTo>
                    <a:cubicBezTo>
                      <a:pt x="112" y="40"/>
                      <a:pt x="114" y="39"/>
                      <a:pt x="116" y="38"/>
                    </a:cubicBezTo>
                    <a:cubicBezTo>
                      <a:pt x="118" y="38"/>
                      <a:pt x="132" y="36"/>
                      <a:pt x="132" y="36"/>
                    </a:cubicBezTo>
                    <a:cubicBezTo>
                      <a:pt x="132" y="36"/>
                      <a:pt x="133" y="36"/>
                      <a:pt x="133" y="35"/>
                    </a:cubicBezTo>
                    <a:cubicBezTo>
                      <a:pt x="133" y="35"/>
                      <a:pt x="138" y="29"/>
                      <a:pt x="143" y="28"/>
                    </a:cubicBezTo>
                    <a:cubicBezTo>
                      <a:pt x="147" y="26"/>
                      <a:pt x="161" y="21"/>
                      <a:pt x="161" y="21"/>
                    </a:cubicBezTo>
                    <a:cubicBezTo>
                      <a:pt x="161" y="21"/>
                      <a:pt x="163" y="20"/>
                      <a:pt x="162" y="19"/>
                    </a:cubicBezTo>
                    <a:cubicBezTo>
                      <a:pt x="162" y="19"/>
                      <a:pt x="162" y="18"/>
                      <a:pt x="162" y="18"/>
                    </a:cubicBezTo>
                    <a:cubicBezTo>
                      <a:pt x="162" y="18"/>
                      <a:pt x="162" y="18"/>
                      <a:pt x="162" y="17"/>
                    </a:cubicBezTo>
                    <a:cubicBezTo>
                      <a:pt x="161" y="16"/>
                      <a:pt x="159" y="15"/>
                      <a:pt x="159" y="14"/>
                    </a:cubicBezTo>
                    <a:cubicBezTo>
                      <a:pt x="158" y="13"/>
                      <a:pt x="151" y="12"/>
                      <a:pt x="151" y="12"/>
                    </a:cubicBezTo>
                    <a:cubicBezTo>
                      <a:pt x="150" y="12"/>
                      <a:pt x="150" y="12"/>
                      <a:pt x="150" y="12"/>
                    </a:cubicBezTo>
                    <a:cubicBezTo>
                      <a:pt x="150" y="12"/>
                      <a:pt x="148" y="10"/>
                      <a:pt x="148" y="9"/>
                    </a:cubicBezTo>
                    <a:cubicBezTo>
                      <a:pt x="147" y="8"/>
                      <a:pt x="146" y="7"/>
                      <a:pt x="144" y="7"/>
                    </a:cubicBezTo>
                    <a:cubicBezTo>
                      <a:pt x="142" y="7"/>
                      <a:pt x="139" y="6"/>
                      <a:pt x="138" y="6"/>
                    </a:cubicBezTo>
                    <a:cubicBezTo>
                      <a:pt x="137" y="5"/>
                      <a:pt x="132" y="5"/>
                      <a:pt x="131" y="5"/>
                    </a:cubicBezTo>
                    <a:cubicBezTo>
                      <a:pt x="130" y="5"/>
                      <a:pt x="123" y="5"/>
                      <a:pt x="120" y="5"/>
                    </a:cubicBezTo>
                    <a:cubicBezTo>
                      <a:pt x="118" y="5"/>
                      <a:pt x="97" y="4"/>
                      <a:pt x="97" y="4"/>
                    </a:cubicBezTo>
                    <a:cubicBezTo>
                      <a:pt x="97" y="4"/>
                      <a:pt x="96" y="4"/>
                      <a:pt x="96" y="4"/>
                    </a:cubicBezTo>
                    <a:cubicBezTo>
                      <a:pt x="96" y="4"/>
                      <a:pt x="92" y="6"/>
                      <a:pt x="91" y="6"/>
                    </a:cubicBezTo>
                    <a:cubicBezTo>
                      <a:pt x="90" y="6"/>
                      <a:pt x="88" y="6"/>
                      <a:pt x="87" y="5"/>
                    </a:cubicBezTo>
                    <a:cubicBezTo>
                      <a:pt x="87" y="5"/>
                      <a:pt x="81" y="4"/>
                      <a:pt x="81" y="3"/>
                    </a:cubicBezTo>
                    <a:cubicBezTo>
                      <a:pt x="80" y="3"/>
                      <a:pt x="77" y="1"/>
                      <a:pt x="77" y="1"/>
                    </a:cubicBezTo>
                    <a:cubicBezTo>
                      <a:pt x="76" y="1"/>
                      <a:pt x="76" y="0"/>
                      <a:pt x="76" y="0"/>
                    </a:cubicBezTo>
                    <a:cubicBezTo>
                      <a:pt x="76" y="0"/>
                      <a:pt x="73" y="0"/>
                      <a:pt x="72" y="0"/>
                    </a:cubicBezTo>
                    <a:cubicBezTo>
                      <a:pt x="72" y="0"/>
                      <a:pt x="71" y="0"/>
                      <a:pt x="71" y="0"/>
                    </a:cubicBezTo>
                    <a:cubicBezTo>
                      <a:pt x="70" y="0"/>
                      <a:pt x="68" y="1"/>
                      <a:pt x="67" y="1"/>
                    </a:cubicBezTo>
                    <a:cubicBezTo>
                      <a:pt x="66" y="1"/>
                      <a:pt x="65" y="2"/>
                      <a:pt x="65" y="2"/>
                    </a:cubicBezTo>
                    <a:cubicBezTo>
                      <a:pt x="60" y="7"/>
                      <a:pt x="61" y="12"/>
                      <a:pt x="62" y="13"/>
                    </a:cubicBezTo>
                    <a:cubicBezTo>
                      <a:pt x="63" y="14"/>
                      <a:pt x="62" y="14"/>
                      <a:pt x="62" y="14"/>
                    </a:cubicBezTo>
                    <a:cubicBezTo>
                      <a:pt x="62" y="14"/>
                      <a:pt x="43" y="8"/>
                      <a:pt x="43" y="8"/>
                    </a:cubicBezTo>
                    <a:cubicBezTo>
                      <a:pt x="42" y="8"/>
                      <a:pt x="41" y="8"/>
                      <a:pt x="41" y="8"/>
                    </a:cubicBezTo>
                    <a:cubicBezTo>
                      <a:pt x="41" y="8"/>
                      <a:pt x="31" y="8"/>
                      <a:pt x="30" y="8"/>
                    </a:cubicBezTo>
                    <a:cubicBezTo>
                      <a:pt x="30" y="8"/>
                      <a:pt x="30" y="8"/>
                      <a:pt x="30" y="8"/>
                    </a:cubicBezTo>
                    <a:cubicBezTo>
                      <a:pt x="30" y="8"/>
                      <a:pt x="24" y="15"/>
                      <a:pt x="23" y="15"/>
                    </a:cubicBezTo>
                    <a:cubicBezTo>
                      <a:pt x="23" y="16"/>
                      <a:pt x="23" y="16"/>
                      <a:pt x="24" y="16"/>
                    </a:cubicBezTo>
                    <a:cubicBezTo>
                      <a:pt x="24" y="16"/>
                      <a:pt x="24" y="16"/>
                      <a:pt x="24" y="16"/>
                    </a:cubicBezTo>
                    <a:cubicBezTo>
                      <a:pt x="25" y="17"/>
                      <a:pt x="27" y="17"/>
                      <a:pt x="28" y="17"/>
                    </a:cubicBezTo>
                    <a:cubicBezTo>
                      <a:pt x="29" y="17"/>
                      <a:pt x="29" y="18"/>
                      <a:pt x="29" y="18"/>
                    </a:cubicBezTo>
                    <a:cubicBezTo>
                      <a:pt x="29" y="18"/>
                      <a:pt x="24" y="21"/>
                      <a:pt x="23" y="21"/>
                    </a:cubicBezTo>
                    <a:cubicBezTo>
                      <a:pt x="23" y="22"/>
                      <a:pt x="20" y="24"/>
                      <a:pt x="18" y="25"/>
                    </a:cubicBezTo>
                    <a:cubicBezTo>
                      <a:pt x="16" y="26"/>
                      <a:pt x="14" y="27"/>
                      <a:pt x="13" y="28"/>
                    </a:cubicBezTo>
                    <a:cubicBezTo>
                      <a:pt x="12" y="29"/>
                      <a:pt x="13" y="30"/>
                      <a:pt x="14" y="30"/>
                    </a:cubicBezTo>
                    <a:cubicBezTo>
                      <a:pt x="15" y="30"/>
                      <a:pt x="17" y="31"/>
                      <a:pt x="17" y="31"/>
                    </a:cubicBezTo>
                    <a:cubicBezTo>
                      <a:pt x="17" y="32"/>
                      <a:pt x="18" y="31"/>
                      <a:pt x="18" y="31"/>
                    </a:cubicBezTo>
                    <a:cubicBezTo>
                      <a:pt x="18" y="31"/>
                      <a:pt x="19" y="31"/>
                      <a:pt x="20" y="31"/>
                    </a:cubicBezTo>
                    <a:cubicBezTo>
                      <a:pt x="20" y="30"/>
                      <a:pt x="20" y="31"/>
                      <a:pt x="20" y="31"/>
                    </a:cubicBezTo>
                    <a:cubicBezTo>
                      <a:pt x="20" y="31"/>
                      <a:pt x="20" y="31"/>
                      <a:pt x="21" y="33"/>
                    </a:cubicBezTo>
                    <a:cubicBezTo>
                      <a:pt x="21" y="35"/>
                      <a:pt x="23" y="35"/>
                      <a:pt x="23" y="35"/>
                    </a:cubicBezTo>
                    <a:cubicBezTo>
                      <a:pt x="24" y="35"/>
                      <a:pt x="30" y="36"/>
                      <a:pt x="31" y="36"/>
                    </a:cubicBezTo>
                    <a:cubicBezTo>
                      <a:pt x="31" y="37"/>
                      <a:pt x="31" y="36"/>
                      <a:pt x="31" y="36"/>
                    </a:cubicBezTo>
                    <a:cubicBezTo>
                      <a:pt x="31" y="36"/>
                      <a:pt x="31" y="34"/>
                      <a:pt x="31" y="33"/>
                    </a:cubicBezTo>
                    <a:cubicBezTo>
                      <a:pt x="32" y="33"/>
                      <a:pt x="32" y="33"/>
                      <a:pt x="32" y="33"/>
                    </a:cubicBezTo>
                    <a:cubicBezTo>
                      <a:pt x="32" y="33"/>
                      <a:pt x="33" y="33"/>
                      <a:pt x="33" y="33"/>
                    </a:cubicBezTo>
                    <a:cubicBezTo>
                      <a:pt x="34" y="33"/>
                      <a:pt x="34" y="33"/>
                      <a:pt x="34" y="33"/>
                    </a:cubicBezTo>
                    <a:cubicBezTo>
                      <a:pt x="34" y="33"/>
                      <a:pt x="34" y="31"/>
                      <a:pt x="34" y="31"/>
                    </a:cubicBezTo>
                    <a:cubicBezTo>
                      <a:pt x="34" y="30"/>
                      <a:pt x="34" y="30"/>
                      <a:pt x="34" y="30"/>
                    </a:cubicBezTo>
                    <a:cubicBezTo>
                      <a:pt x="34" y="30"/>
                      <a:pt x="35" y="31"/>
                      <a:pt x="35" y="31"/>
                    </a:cubicBezTo>
                    <a:cubicBezTo>
                      <a:pt x="36" y="31"/>
                      <a:pt x="36" y="31"/>
                      <a:pt x="36" y="31"/>
                    </a:cubicBezTo>
                    <a:cubicBezTo>
                      <a:pt x="36" y="31"/>
                      <a:pt x="39" y="35"/>
                      <a:pt x="39" y="35"/>
                    </a:cubicBezTo>
                    <a:cubicBezTo>
                      <a:pt x="39" y="35"/>
                      <a:pt x="40" y="35"/>
                      <a:pt x="40" y="35"/>
                    </a:cubicBezTo>
                    <a:cubicBezTo>
                      <a:pt x="40" y="35"/>
                      <a:pt x="41" y="35"/>
                      <a:pt x="42" y="35"/>
                    </a:cubicBezTo>
                    <a:cubicBezTo>
                      <a:pt x="42" y="35"/>
                      <a:pt x="42" y="35"/>
                      <a:pt x="42" y="35"/>
                    </a:cubicBezTo>
                    <a:cubicBezTo>
                      <a:pt x="42" y="35"/>
                      <a:pt x="43" y="37"/>
                      <a:pt x="43" y="38"/>
                    </a:cubicBezTo>
                    <a:cubicBezTo>
                      <a:pt x="43" y="39"/>
                      <a:pt x="43" y="39"/>
                      <a:pt x="43" y="39"/>
                    </a:cubicBezTo>
                    <a:cubicBezTo>
                      <a:pt x="43" y="39"/>
                      <a:pt x="44" y="39"/>
                      <a:pt x="44" y="38"/>
                    </a:cubicBezTo>
                    <a:cubicBezTo>
                      <a:pt x="44" y="38"/>
                      <a:pt x="45" y="38"/>
                      <a:pt x="45" y="38"/>
                    </a:cubicBezTo>
                    <a:cubicBezTo>
                      <a:pt x="45" y="38"/>
                      <a:pt x="47" y="39"/>
                      <a:pt x="47" y="39"/>
                    </a:cubicBezTo>
                    <a:cubicBezTo>
                      <a:pt x="48" y="39"/>
                      <a:pt x="49" y="40"/>
                      <a:pt x="49" y="40"/>
                    </a:cubicBezTo>
                    <a:cubicBezTo>
                      <a:pt x="49" y="41"/>
                      <a:pt x="49" y="41"/>
                      <a:pt x="49" y="41"/>
                    </a:cubicBezTo>
                    <a:cubicBezTo>
                      <a:pt x="49" y="41"/>
                      <a:pt x="56" y="42"/>
                      <a:pt x="57" y="42"/>
                    </a:cubicBezTo>
                    <a:cubicBezTo>
                      <a:pt x="57" y="42"/>
                      <a:pt x="56" y="43"/>
                      <a:pt x="56" y="43"/>
                    </a:cubicBezTo>
                    <a:cubicBezTo>
                      <a:pt x="56" y="43"/>
                      <a:pt x="53" y="44"/>
                      <a:pt x="53" y="44"/>
                    </a:cubicBezTo>
                    <a:cubicBezTo>
                      <a:pt x="52" y="44"/>
                      <a:pt x="52" y="44"/>
                      <a:pt x="52" y="45"/>
                    </a:cubicBezTo>
                    <a:cubicBezTo>
                      <a:pt x="51" y="46"/>
                      <a:pt x="50" y="47"/>
                      <a:pt x="50" y="47"/>
                    </a:cubicBezTo>
                    <a:cubicBezTo>
                      <a:pt x="49" y="48"/>
                      <a:pt x="49" y="47"/>
                      <a:pt x="48" y="47"/>
                    </a:cubicBezTo>
                    <a:cubicBezTo>
                      <a:pt x="48" y="47"/>
                      <a:pt x="46" y="46"/>
                      <a:pt x="46" y="46"/>
                    </a:cubicBezTo>
                    <a:cubicBezTo>
                      <a:pt x="45" y="45"/>
                      <a:pt x="45" y="46"/>
                      <a:pt x="45" y="46"/>
                    </a:cubicBezTo>
                    <a:cubicBezTo>
                      <a:pt x="45" y="46"/>
                      <a:pt x="46" y="48"/>
                      <a:pt x="46" y="49"/>
                    </a:cubicBezTo>
                    <a:cubicBezTo>
                      <a:pt x="46" y="50"/>
                      <a:pt x="45" y="50"/>
                      <a:pt x="45" y="50"/>
                    </a:cubicBezTo>
                    <a:cubicBezTo>
                      <a:pt x="45" y="50"/>
                      <a:pt x="44" y="49"/>
                      <a:pt x="44" y="49"/>
                    </a:cubicBezTo>
                    <a:cubicBezTo>
                      <a:pt x="43" y="48"/>
                      <a:pt x="43" y="48"/>
                      <a:pt x="43" y="48"/>
                    </a:cubicBezTo>
                    <a:cubicBezTo>
                      <a:pt x="43" y="48"/>
                      <a:pt x="42" y="49"/>
                      <a:pt x="41" y="50"/>
                    </a:cubicBezTo>
                    <a:cubicBezTo>
                      <a:pt x="41" y="50"/>
                      <a:pt x="41" y="51"/>
                      <a:pt x="41" y="51"/>
                    </a:cubicBezTo>
                    <a:cubicBezTo>
                      <a:pt x="41" y="52"/>
                      <a:pt x="40" y="52"/>
                      <a:pt x="40" y="52"/>
                    </a:cubicBezTo>
                    <a:cubicBezTo>
                      <a:pt x="40" y="52"/>
                      <a:pt x="37" y="53"/>
                      <a:pt x="36" y="53"/>
                    </a:cubicBezTo>
                    <a:cubicBezTo>
                      <a:pt x="34" y="54"/>
                      <a:pt x="33" y="52"/>
                      <a:pt x="33" y="52"/>
                    </a:cubicBezTo>
                    <a:cubicBezTo>
                      <a:pt x="32" y="52"/>
                      <a:pt x="31" y="52"/>
                      <a:pt x="31" y="51"/>
                    </a:cubicBezTo>
                    <a:cubicBezTo>
                      <a:pt x="30" y="51"/>
                      <a:pt x="28" y="51"/>
                      <a:pt x="27" y="52"/>
                    </a:cubicBezTo>
                    <a:cubicBezTo>
                      <a:pt x="27" y="52"/>
                      <a:pt x="26" y="51"/>
                      <a:pt x="25" y="52"/>
                    </a:cubicBezTo>
                    <a:cubicBezTo>
                      <a:pt x="25" y="52"/>
                      <a:pt x="25" y="52"/>
                      <a:pt x="24" y="52"/>
                    </a:cubicBezTo>
                    <a:cubicBezTo>
                      <a:pt x="19" y="57"/>
                      <a:pt x="19" y="57"/>
                      <a:pt x="19" y="57"/>
                    </a:cubicBezTo>
                    <a:cubicBezTo>
                      <a:pt x="19" y="57"/>
                      <a:pt x="17" y="58"/>
                      <a:pt x="17" y="58"/>
                    </a:cubicBezTo>
                    <a:cubicBezTo>
                      <a:pt x="17" y="57"/>
                      <a:pt x="17" y="57"/>
                      <a:pt x="18" y="56"/>
                    </a:cubicBezTo>
                    <a:cubicBezTo>
                      <a:pt x="18" y="56"/>
                      <a:pt x="18" y="56"/>
                      <a:pt x="18" y="56"/>
                    </a:cubicBezTo>
                    <a:cubicBezTo>
                      <a:pt x="17" y="56"/>
                      <a:pt x="10" y="53"/>
                      <a:pt x="10" y="53"/>
                    </a:cubicBezTo>
                    <a:cubicBezTo>
                      <a:pt x="10" y="53"/>
                      <a:pt x="9" y="53"/>
                      <a:pt x="9" y="53"/>
                    </a:cubicBezTo>
                    <a:cubicBezTo>
                      <a:pt x="9" y="53"/>
                      <a:pt x="4" y="54"/>
                      <a:pt x="4" y="54"/>
                    </a:cubicBezTo>
                    <a:cubicBezTo>
                      <a:pt x="4" y="54"/>
                      <a:pt x="3" y="55"/>
                      <a:pt x="3" y="55"/>
                    </a:cubicBezTo>
                    <a:cubicBezTo>
                      <a:pt x="3" y="55"/>
                      <a:pt x="1" y="57"/>
                      <a:pt x="1" y="57"/>
                    </a:cubicBezTo>
                    <a:cubicBezTo>
                      <a:pt x="1" y="57"/>
                      <a:pt x="1" y="58"/>
                      <a:pt x="1" y="57"/>
                    </a:cubicBezTo>
                    <a:cubicBezTo>
                      <a:pt x="1" y="57"/>
                      <a:pt x="0" y="57"/>
                      <a:pt x="0" y="57"/>
                    </a:cubicBezTo>
                    <a:cubicBezTo>
                      <a:pt x="0" y="58"/>
                      <a:pt x="0" y="64"/>
                      <a:pt x="0" y="64"/>
                    </a:cubicBezTo>
                    <a:cubicBezTo>
                      <a:pt x="0" y="64"/>
                      <a:pt x="0" y="65"/>
                      <a:pt x="0" y="65"/>
                    </a:cubicBezTo>
                    <a:cubicBezTo>
                      <a:pt x="1" y="65"/>
                      <a:pt x="11" y="64"/>
                      <a:pt x="11" y="64"/>
                    </a:cubicBezTo>
                    <a:cubicBezTo>
                      <a:pt x="11" y="64"/>
                      <a:pt x="12" y="64"/>
                      <a:pt x="12" y="64"/>
                    </a:cubicBezTo>
                    <a:cubicBezTo>
                      <a:pt x="13" y="64"/>
                      <a:pt x="20" y="65"/>
                      <a:pt x="20" y="65"/>
                    </a:cubicBezTo>
                    <a:cubicBezTo>
                      <a:pt x="20" y="65"/>
                      <a:pt x="20" y="65"/>
                      <a:pt x="21" y="65"/>
                    </a:cubicBezTo>
                    <a:cubicBezTo>
                      <a:pt x="21" y="65"/>
                      <a:pt x="25" y="67"/>
                      <a:pt x="25" y="67"/>
                    </a:cubicBezTo>
                    <a:cubicBezTo>
                      <a:pt x="25" y="67"/>
                      <a:pt x="26" y="67"/>
                      <a:pt x="26" y="66"/>
                    </a:cubicBezTo>
                    <a:cubicBezTo>
                      <a:pt x="27" y="66"/>
                      <a:pt x="32" y="64"/>
                      <a:pt x="32" y="64"/>
                    </a:cubicBezTo>
                    <a:cubicBezTo>
                      <a:pt x="32" y="64"/>
                      <a:pt x="33" y="63"/>
                      <a:pt x="33" y="64"/>
                    </a:cubicBezTo>
                    <a:cubicBezTo>
                      <a:pt x="32" y="64"/>
                      <a:pt x="33" y="65"/>
                      <a:pt x="33" y="66"/>
                    </a:cubicBezTo>
                    <a:cubicBezTo>
                      <a:pt x="34" y="66"/>
                      <a:pt x="35" y="66"/>
                      <a:pt x="35" y="66"/>
                    </a:cubicBezTo>
                    <a:cubicBezTo>
                      <a:pt x="36" y="66"/>
                      <a:pt x="36" y="66"/>
                      <a:pt x="36" y="67"/>
                    </a:cubicBezTo>
                    <a:cubicBezTo>
                      <a:pt x="36" y="68"/>
                      <a:pt x="36" y="69"/>
                      <a:pt x="37" y="69"/>
                    </a:cubicBezTo>
                    <a:cubicBezTo>
                      <a:pt x="37" y="69"/>
                      <a:pt x="43" y="70"/>
                      <a:pt x="43" y="70"/>
                    </a:cubicBezTo>
                    <a:cubicBezTo>
                      <a:pt x="43" y="70"/>
                      <a:pt x="43" y="70"/>
                      <a:pt x="43" y="70"/>
                    </a:cubicBezTo>
                    <a:cubicBezTo>
                      <a:pt x="43" y="71"/>
                      <a:pt x="44" y="70"/>
                      <a:pt x="44" y="70"/>
                    </a:cubicBezTo>
                    <a:cubicBezTo>
                      <a:pt x="44" y="70"/>
                      <a:pt x="46" y="68"/>
                      <a:pt x="47" y="68"/>
                    </a:cubicBezTo>
                    <a:cubicBezTo>
                      <a:pt x="49" y="67"/>
                      <a:pt x="52" y="67"/>
                      <a:pt x="52" y="68"/>
                    </a:cubicBezTo>
                    <a:cubicBezTo>
                      <a:pt x="53" y="68"/>
                      <a:pt x="55" y="67"/>
                      <a:pt x="55" y="67"/>
                    </a:cubicBezTo>
                    <a:cubicBezTo>
                      <a:pt x="55" y="67"/>
                      <a:pt x="62" y="67"/>
                      <a:pt x="64" y="66"/>
                    </a:cubicBezTo>
                    <a:close/>
                    <a:moveTo>
                      <a:pt x="20" y="60"/>
                    </a:moveTo>
                    <a:cubicBezTo>
                      <a:pt x="20" y="60"/>
                      <a:pt x="20" y="60"/>
                      <a:pt x="19" y="60"/>
                    </a:cubicBezTo>
                    <a:cubicBezTo>
                      <a:pt x="19" y="60"/>
                      <a:pt x="19" y="60"/>
                      <a:pt x="19" y="60"/>
                    </a:cubicBezTo>
                    <a:cubicBezTo>
                      <a:pt x="18" y="59"/>
                      <a:pt x="18" y="59"/>
                      <a:pt x="18" y="59"/>
                    </a:cubicBezTo>
                    <a:cubicBezTo>
                      <a:pt x="17" y="58"/>
                      <a:pt x="19" y="59"/>
                      <a:pt x="20" y="59"/>
                    </a:cubicBezTo>
                    <a:cubicBezTo>
                      <a:pt x="21" y="59"/>
                      <a:pt x="21" y="60"/>
                      <a:pt x="20" y="60"/>
                    </a:cubicBezTo>
                    <a:close/>
                    <a:moveTo>
                      <a:pt x="28" y="56"/>
                    </a:moveTo>
                    <a:cubicBezTo>
                      <a:pt x="28" y="57"/>
                      <a:pt x="28" y="58"/>
                      <a:pt x="27" y="58"/>
                    </a:cubicBezTo>
                    <a:cubicBezTo>
                      <a:pt x="25" y="58"/>
                      <a:pt x="26" y="55"/>
                      <a:pt x="26" y="55"/>
                    </a:cubicBezTo>
                    <a:cubicBezTo>
                      <a:pt x="26" y="53"/>
                      <a:pt x="29" y="55"/>
                      <a:pt x="28" y="56"/>
                    </a:cubicBezTo>
                    <a:close/>
                    <a:moveTo>
                      <a:pt x="36" y="58"/>
                    </a:moveTo>
                    <a:cubicBezTo>
                      <a:pt x="36" y="58"/>
                      <a:pt x="37" y="57"/>
                      <a:pt x="37" y="57"/>
                    </a:cubicBezTo>
                    <a:cubicBezTo>
                      <a:pt x="38" y="57"/>
                      <a:pt x="36" y="58"/>
                      <a:pt x="36" y="5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78" name="Freeform 688">
                <a:extLst>
                  <a:ext uri="{FF2B5EF4-FFF2-40B4-BE49-F238E27FC236}">
                    <a16:creationId xmlns:a16="http://schemas.microsoft.com/office/drawing/2014/main" id="{31861EA2-D634-46E0-8454-50238168B21D}"/>
                  </a:ext>
                </a:extLst>
              </p:cNvPr>
              <p:cNvSpPr>
                <a:spLocks/>
              </p:cNvSpPr>
              <p:nvPr/>
            </p:nvSpPr>
            <p:spPr bwMode="auto">
              <a:xfrm>
                <a:off x="5403" y="2398"/>
                <a:ext cx="14" cy="49"/>
              </a:xfrm>
              <a:custGeom>
                <a:avLst/>
                <a:gdLst>
                  <a:gd name="T0" fmla="*/ 6 w 10"/>
                  <a:gd name="T1" fmla="*/ 10 h 36"/>
                  <a:gd name="T2" fmla="*/ 5 w 10"/>
                  <a:gd name="T3" fmla="*/ 15 h 36"/>
                  <a:gd name="T4" fmla="*/ 5 w 10"/>
                  <a:gd name="T5" fmla="*/ 22 h 36"/>
                  <a:gd name="T6" fmla="*/ 4 w 10"/>
                  <a:gd name="T7" fmla="*/ 25 h 36"/>
                  <a:gd name="T8" fmla="*/ 3 w 10"/>
                  <a:gd name="T9" fmla="*/ 27 h 36"/>
                  <a:gd name="T10" fmla="*/ 1 w 10"/>
                  <a:gd name="T11" fmla="*/ 30 h 36"/>
                  <a:gd name="T12" fmla="*/ 1 w 10"/>
                  <a:gd name="T13" fmla="*/ 32 h 36"/>
                  <a:gd name="T14" fmla="*/ 3 w 10"/>
                  <a:gd name="T15" fmla="*/ 35 h 36"/>
                  <a:gd name="T16" fmla="*/ 4 w 10"/>
                  <a:gd name="T17" fmla="*/ 28 h 36"/>
                  <a:gd name="T18" fmla="*/ 7 w 10"/>
                  <a:gd name="T19" fmla="*/ 21 h 36"/>
                  <a:gd name="T20" fmla="*/ 6 w 10"/>
                  <a:gd name="T21" fmla="*/ 14 h 36"/>
                  <a:gd name="T22" fmla="*/ 8 w 10"/>
                  <a:gd name="T23" fmla="*/ 12 h 36"/>
                  <a:gd name="T24" fmla="*/ 8 w 10"/>
                  <a:gd name="T25" fmla="*/ 8 h 36"/>
                  <a:gd name="T26" fmla="*/ 9 w 10"/>
                  <a:gd name="T27" fmla="*/ 6 h 36"/>
                  <a:gd name="T28" fmla="*/ 6 w 10"/>
                  <a:gd name="T29" fmla="*/ 1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 h="36">
                    <a:moveTo>
                      <a:pt x="6" y="10"/>
                    </a:moveTo>
                    <a:cubicBezTo>
                      <a:pt x="6" y="11"/>
                      <a:pt x="6" y="14"/>
                      <a:pt x="5" y="15"/>
                    </a:cubicBezTo>
                    <a:cubicBezTo>
                      <a:pt x="4" y="16"/>
                      <a:pt x="5" y="19"/>
                      <a:pt x="5" y="22"/>
                    </a:cubicBezTo>
                    <a:cubicBezTo>
                      <a:pt x="5" y="25"/>
                      <a:pt x="5" y="24"/>
                      <a:pt x="4" y="25"/>
                    </a:cubicBezTo>
                    <a:cubicBezTo>
                      <a:pt x="3" y="25"/>
                      <a:pt x="3" y="26"/>
                      <a:pt x="3" y="27"/>
                    </a:cubicBezTo>
                    <a:cubicBezTo>
                      <a:pt x="3" y="28"/>
                      <a:pt x="3" y="30"/>
                      <a:pt x="1" y="30"/>
                    </a:cubicBezTo>
                    <a:cubicBezTo>
                      <a:pt x="0" y="30"/>
                      <a:pt x="1" y="32"/>
                      <a:pt x="1" y="32"/>
                    </a:cubicBezTo>
                    <a:cubicBezTo>
                      <a:pt x="2" y="33"/>
                      <a:pt x="2" y="34"/>
                      <a:pt x="3" y="35"/>
                    </a:cubicBezTo>
                    <a:cubicBezTo>
                      <a:pt x="5" y="36"/>
                      <a:pt x="5" y="31"/>
                      <a:pt x="4" y="28"/>
                    </a:cubicBezTo>
                    <a:cubicBezTo>
                      <a:pt x="4" y="26"/>
                      <a:pt x="6" y="23"/>
                      <a:pt x="7" y="21"/>
                    </a:cubicBezTo>
                    <a:cubicBezTo>
                      <a:pt x="9" y="19"/>
                      <a:pt x="6" y="16"/>
                      <a:pt x="6" y="14"/>
                    </a:cubicBezTo>
                    <a:cubicBezTo>
                      <a:pt x="6" y="13"/>
                      <a:pt x="6" y="12"/>
                      <a:pt x="8" y="12"/>
                    </a:cubicBezTo>
                    <a:cubicBezTo>
                      <a:pt x="9" y="12"/>
                      <a:pt x="9" y="10"/>
                      <a:pt x="8" y="8"/>
                    </a:cubicBezTo>
                    <a:cubicBezTo>
                      <a:pt x="8" y="7"/>
                      <a:pt x="9" y="6"/>
                      <a:pt x="9" y="6"/>
                    </a:cubicBezTo>
                    <a:cubicBezTo>
                      <a:pt x="10" y="0"/>
                      <a:pt x="6" y="10"/>
                      <a:pt x="6"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79" name="Freeform 689">
                <a:extLst>
                  <a:ext uri="{FF2B5EF4-FFF2-40B4-BE49-F238E27FC236}">
                    <a16:creationId xmlns:a16="http://schemas.microsoft.com/office/drawing/2014/main" id="{CF236B4E-4592-4C63-9D17-EB002960C21D}"/>
                  </a:ext>
                </a:extLst>
              </p:cNvPr>
              <p:cNvSpPr>
                <a:spLocks/>
              </p:cNvSpPr>
              <p:nvPr/>
            </p:nvSpPr>
            <p:spPr bwMode="auto">
              <a:xfrm>
                <a:off x="5400" y="2454"/>
                <a:ext cx="4" cy="14"/>
              </a:xfrm>
              <a:custGeom>
                <a:avLst/>
                <a:gdLst>
                  <a:gd name="T0" fmla="*/ 1 w 3"/>
                  <a:gd name="T1" fmla="*/ 7 h 10"/>
                  <a:gd name="T2" fmla="*/ 1 w 3"/>
                  <a:gd name="T3" fmla="*/ 9 h 10"/>
                  <a:gd name="T4" fmla="*/ 3 w 3"/>
                  <a:gd name="T5" fmla="*/ 7 h 10"/>
                  <a:gd name="T6" fmla="*/ 1 w 3"/>
                  <a:gd name="T7" fmla="*/ 7 h 10"/>
                </a:gdLst>
                <a:ahLst/>
                <a:cxnLst>
                  <a:cxn ang="0">
                    <a:pos x="T0" y="T1"/>
                  </a:cxn>
                  <a:cxn ang="0">
                    <a:pos x="T2" y="T3"/>
                  </a:cxn>
                  <a:cxn ang="0">
                    <a:pos x="T4" y="T5"/>
                  </a:cxn>
                  <a:cxn ang="0">
                    <a:pos x="T6" y="T7"/>
                  </a:cxn>
                </a:cxnLst>
                <a:rect l="0" t="0" r="r" b="b"/>
                <a:pathLst>
                  <a:path w="3" h="10">
                    <a:moveTo>
                      <a:pt x="1" y="7"/>
                    </a:moveTo>
                    <a:cubicBezTo>
                      <a:pt x="1" y="7"/>
                      <a:pt x="0" y="9"/>
                      <a:pt x="1" y="9"/>
                    </a:cubicBezTo>
                    <a:cubicBezTo>
                      <a:pt x="2" y="10"/>
                      <a:pt x="3" y="8"/>
                      <a:pt x="3" y="7"/>
                    </a:cubicBezTo>
                    <a:cubicBezTo>
                      <a:pt x="3" y="6"/>
                      <a:pt x="1" y="0"/>
                      <a:pt x="1"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80" name="Freeform 690">
                <a:extLst>
                  <a:ext uri="{FF2B5EF4-FFF2-40B4-BE49-F238E27FC236}">
                    <a16:creationId xmlns:a16="http://schemas.microsoft.com/office/drawing/2014/main" id="{46B5A229-F2E8-400D-A95E-07353C8CDC99}"/>
                  </a:ext>
                </a:extLst>
              </p:cNvPr>
              <p:cNvSpPr>
                <a:spLocks/>
              </p:cNvSpPr>
              <p:nvPr/>
            </p:nvSpPr>
            <p:spPr bwMode="auto">
              <a:xfrm>
                <a:off x="5425" y="2535"/>
                <a:ext cx="8" cy="11"/>
              </a:xfrm>
              <a:custGeom>
                <a:avLst/>
                <a:gdLst>
                  <a:gd name="T0" fmla="*/ 4 w 6"/>
                  <a:gd name="T1" fmla="*/ 0 h 8"/>
                  <a:gd name="T2" fmla="*/ 2 w 6"/>
                  <a:gd name="T3" fmla="*/ 3 h 8"/>
                  <a:gd name="T4" fmla="*/ 3 w 6"/>
                  <a:gd name="T5" fmla="*/ 5 h 8"/>
                  <a:gd name="T6" fmla="*/ 4 w 6"/>
                  <a:gd name="T7" fmla="*/ 4 h 8"/>
                  <a:gd name="T8" fmla="*/ 4 w 6"/>
                  <a:gd name="T9" fmla="*/ 0 h 8"/>
                </a:gdLst>
                <a:ahLst/>
                <a:cxnLst>
                  <a:cxn ang="0">
                    <a:pos x="T0" y="T1"/>
                  </a:cxn>
                  <a:cxn ang="0">
                    <a:pos x="T2" y="T3"/>
                  </a:cxn>
                  <a:cxn ang="0">
                    <a:pos x="T4" y="T5"/>
                  </a:cxn>
                  <a:cxn ang="0">
                    <a:pos x="T6" y="T7"/>
                  </a:cxn>
                  <a:cxn ang="0">
                    <a:pos x="T8" y="T9"/>
                  </a:cxn>
                </a:cxnLst>
                <a:rect l="0" t="0" r="r" b="b"/>
                <a:pathLst>
                  <a:path w="6" h="8">
                    <a:moveTo>
                      <a:pt x="4" y="0"/>
                    </a:moveTo>
                    <a:cubicBezTo>
                      <a:pt x="2" y="0"/>
                      <a:pt x="0" y="0"/>
                      <a:pt x="2" y="3"/>
                    </a:cubicBezTo>
                    <a:cubicBezTo>
                      <a:pt x="2" y="3"/>
                      <a:pt x="2" y="3"/>
                      <a:pt x="3" y="5"/>
                    </a:cubicBezTo>
                    <a:cubicBezTo>
                      <a:pt x="4" y="6"/>
                      <a:pt x="4" y="8"/>
                      <a:pt x="4" y="4"/>
                    </a:cubicBezTo>
                    <a:cubicBezTo>
                      <a:pt x="4" y="0"/>
                      <a:pt x="6" y="1"/>
                      <a:pt x="4"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81" name="Freeform 691">
                <a:extLst>
                  <a:ext uri="{FF2B5EF4-FFF2-40B4-BE49-F238E27FC236}">
                    <a16:creationId xmlns:a16="http://schemas.microsoft.com/office/drawing/2014/main" id="{03AEDCED-C262-4D53-AB67-596E902C8764}"/>
                  </a:ext>
                </a:extLst>
              </p:cNvPr>
              <p:cNvSpPr>
                <a:spLocks/>
              </p:cNvSpPr>
              <p:nvPr/>
            </p:nvSpPr>
            <p:spPr bwMode="auto">
              <a:xfrm>
                <a:off x="5420" y="2517"/>
                <a:ext cx="4" cy="6"/>
              </a:xfrm>
              <a:custGeom>
                <a:avLst/>
                <a:gdLst>
                  <a:gd name="T0" fmla="*/ 0 w 3"/>
                  <a:gd name="T1" fmla="*/ 2 h 4"/>
                  <a:gd name="T2" fmla="*/ 2 w 3"/>
                  <a:gd name="T3" fmla="*/ 2 h 4"/>
                  <a:gd name="T4" fmla="*/ 0 w 3"/>
                  <a:gd name="T5" fmla="*/ 2 h 4"/>
                </a:gdLst>
                <a:ahLst/>
                <a:cxnLst>
                  <a:cxn ang="0">
                    <a:pos x="T0" y="T1"/>
                  </a:cxn>
                  <a:cxn ang="0">
                    <a:pos x="T2" y="T3"/>
                  </a:cxn>
                  <a:cxn ang="0">
                    <a:pos x="T4" y="T5"/>
                  </a:cxn>
                </a:cxnLst>
                <a:rect l="0" t="0" r="r" b="b"/>
                <a:pathLst>
                  <a:path w="3" h="4">
                    <a:moveTo>
                      <a:pt x="0" y="2"/>
                    </a:moveTo>
                    <a:cubicBezTo>
                      <a:pt x="0" y="2"/>
                      <a:pt x="3" y="4"/>
                      <a:pt x="2" y="2"/>
                    </a:cubicBezTo>
                    <a:cubicBezTo>
                      <a:pt x="2" y="0"/>
                      <a:pt x="1" y="1"/>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82" name="Freeform 692">
                <a:extLst>
                  <a:ext uri="{FF2B5EF4-FFF2-40B4-BE49-F238E27FC236}">
                    <a16:creationId xmlns:a16="http://schemas.microsoft.com/office/drawing/2014/main" id="{66F63648-5B9B-4746-A372-9D12213DF5D0}"/>
                  </a:ext>
                </a:extLst>
              </p:cNvPr>
              <p:cNvSpPr>
                <a:spLocks/>
              </p:cNvSpPr>
              <p:nvPr/>
            </p:nvSpPr>
            <p:spPr bwMode="auto">
              <a:xfrm>
                <a:off x="5424" y="2512"/>
                <a:ext cx="2" cy="7"/>
              </a:xfrm>
              <a:custGeom>
                <a:avLst/>
                <a:gdLst>
                  <a:gd name="T0" fmla="*/ 0 w 2"/>
                  <a:gd name="T1" fmla="*/ 3 h 5"/>
                  <a:gd name="T2" fmla="*/ 1 w 2"/>
                  <a:gd name="T3" fmla="*/ 3 h 5"/>
                  <a:gd name="T4" fmla="*/ 0 w 2"/>
                  <a:gd name="T5" fmla="*/ 3 h 5"/>
                </a:gdLst>
                <a:ahLst/>
                <a:cxnLst>
                  <a:cxn ang="0">
                    <a:pos x="T0" y="T1"/>
                  </a:cxn>
                  <a:cxn ang="0">
                    <a:pos x="T2" y="T3"/>
                  </a:cxn>
                  <a:cxn ang="0">
                    <a:pos x="T4" y="T5"/>
                  </a:cxn>
                </a:cxnLst>
                <a:rect l="0" t="0" r="r" b="b"/>
                <a:pathLst>
                  <a:path w="2" h="5">
                    <a:moveTo>
                      <a:pt x="0" y="3"/>
                    </a:moveTo>
                    <a:cubicBezTo>
                      <a:pt x="0" y="3"/>
                      <a:pt x="0" y="5"/>
                      <a:pt x="1" y="3"/>
                    </a:cubicBezTo>
                    <a:cubicBezTo>
                      <a:pt x="2" y="0"/>
                      <a:pt x="0" y="3"/>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83" name="Freeform 693">
                <a:extLst>
                  <a:ext uri="{FF2B5EF4-FFF2-40B4-BE49-F238E27FC236}">
                    <a16:creationId xmlns:a16="http://schemas.microsoft.com/office/drawing/2014/main" id="{937633C9-40C1-46BA-8A73-A7858F629978}"/>
                  </a:ext>
                </a:extLst>
              </p:cNvPr>
              <p:cNvSpPr>
                <a:spLocks/>
              </p:cNvSpPr>
              <p:nvPr/>
            </p:nvSpPr>
            <p:spPr bwMode="auto">
              <a:xfrm>
                <a:off x="4903" y="1927"/>
                <a:ext cx="601" cy="590"/>
              </a:xfrm>
              <a:custGeom>
                <a:avLst/>
                <a:gdLst>
                  <a:gd name="T0" fmla="*/ 147 w 434"/>
                  <a:gd name="T1" fmla="*/ 1 h 430"/>
                  <a:gd name="T2" fmla="*/ 104 w 434"/>
                  <a:gd name="T3" fmla="*/ 14 h 430"/>
                  <a:gd name="T4" fmla="*/ 88 w 434"/>
                  <a:gd name="T5" fmla="*/ 24 h 430"/>
                  <a:gd name="T6" fmla="*/ 94 w 434"/>
                  <a:gd name="T7" fmla="*/ 46 h 430"/>
                  <a:gd name="T8" fmla="*/ 97 w 434"/>
                  <a:gd name="T9" fmla="*/ 59 h 430"/>
                  <a:gd name="T10" fmla="*/ 80 w 434"/>
                  <a:gd name="T11" fmla="*/ 90 h 430"/>
                  <a:gd name="T12" fmla="*/ 35 w 434"/>
                  <a:gd name="T13" fmla="*/ 123 h 430"/>
                  <a:gd name="T14" fmla="*/ 31 w 434"/>
                  <a:gd name="T15" fmla="*/ 159 h 430"/>
                  <a:gd name="T16" fmla="*/ 36 w 434"/>
                  <a:gd name="T17" fmla="*/ 182 h 430"/>
                  <a:gd name="T18" fmla="*/ 0 w 434"/>
                  <a:gd name="T19" fmla="*/ 190 h 430"/>
                  <a:gd name="T20" fmla="*/ 15 w 434"/>
                  <a:gd name="T21" fmla="*/ 213 h 430"/>
                  <a:gd name="T22" fmla="*/ 58 w 434"/>
                  <a:gd name="T23" fmla="*/ 220 h 430"/>
                  <a:gd name="T24" fmla="*/ 66 w 434"/>
                  <a:gd name="T25" fmla="*/ 229 h 430"/>
                  <a:gd name="T26" fmla="*/ 72 w 434"/>
                  <a:gd name="T27" fmla="*/ 264 h 430"/>
                  <a:gd name="T28" fmla="*/ 81 w 434"/>
                  <a:gd name="T29" fmla="*/ 313 h 430"/>
                  <a:gd name="T30" fmla="*/ 100 w 434"/>
                  <a:gd name="T31" fmla="*/ 362 h 430"/>
                  <a:gd name="T32" fmla="*/ 126 w 434"/>
                  <a:gd name="T33" fmla="*/ 419 h 430"/>
                  <a:gd name="T34" fmla="*/ 164 w 434"/>
                  <a:gd name="T35" fmla="*/ 400 h 430"/>
                  <a:gd name="T36" fmla="*/ 179 w 434"/>
                  <a:gd name="T37" fmla="*/ 346 h 430"/>
                  <a:gd name="T38" fmla="*/ 207 w 434"/>
                  <a:gd name="T39" fmla="*/ 303 h 430"/>
                  <a:gd name="T40" fmla="*/ 273 w 434"/>
                  <a:gd name="T41" fmla="*/ 247 h 430"/>
                  <a:gd name="T42" fmla="*/ 304 w 434"/>
                  <a:gd name="T43" fmla="*/ 224 h 430"/>
                  <a:gd name="T44" fmla="*/ 308 w 434"/>
                  <a:gd name="T45" fmla="*/ 208 h 430"/>
                  <a:gd name="T46" fmla="*/ 304 w 434"/>
                  <a:gd name="T47" fmla="*/ 193 h 430"/>
                  <a:gd name="T48" fmla="*/ 297 w 434"/>
                  <a:gd name="T49" fmla="*/ 179 h 430"/>
                  <a:gd name="T50" fmla="*/ 308 w 434"/>
                  <a:gd name="T51" fmla="*/ 168 h 430"/>
                  <a:gd name="T52" fmla="*/ 298 w 434"/>
                  <a:gd name="T53" fmla="*/ 158 h 430"/>
                  <a:gd name="T54" fmla="*/ 301 w 434"/>
                  <a:gd name="T55" fmla="*/ 147 h 430"/>
                  <a:gd name="T56" fmla="*/ 311 w 434"/>
                  <a:gd name="T57" fmla="*/ 152 h 430"/>
                  <a:gd name="T58" fmla="*/ 322 w 434"/>
                  <a:gd name="T59" fmla="*/ 166 h 430"/>
                  <a:gd name="T60" fmla="*/ 346 w 434"/>
                  <a:gd name="T61" fmla="*/ 169 h 430"/>
                  <a:gd name="T62" fmla="*/ 356 w 434"/>
                  <a:gd name="T63" fmla="*/ 178 h 430"/>
                  <a:gd name="T64" fmla="*/ 343 w 434"/>
                  <a:gd name="T65" fmla="*/ 188 h 430"/>
                  <a:gd name="T66" fmla="*/ 345 w 434"/>
                  <a:gd name="T67" fmla="*/ 200 h 430"/>
                  <a:gd name="T68" fmla="*/ 353 w 434"/>
                  <a:gd name="T69" fmla="*/ 191 h 430"/>
                  <a:gd name="T70" fmla="*/ 361 w 434"/>
                  <a:gd name="T71" fmla="*/ 207 h 430"/>
                  <a:gd name="T72" fmla="*/ 370 w 434"/>
                  <a:gd name="T73" fmla="*/ 206 h 430"/>
                  <a:gd name="T74" fmla="*/ 383 w 434"/>
                  <a:gd name="T75" fmla="*/ 188 h 430"/>
                  <a:gd name="T76" fmla="*/ 397 w 434"/>
                  <a:gd name="T77" fmla="*/ 161 h 430"/>
                  <a:gd name="T78" fmla="*/ 406 w 434"/>
                  <a:gd name="T79" fmla="*/ 143 h 430"/>
                  <a:gd name="T80" fmla="*/ 427 w 434"/>
                  <a:gd name="T81" fmla="*/ 129 h 430"/>
                  <a:gd name="T82" fmla="*/ 418 w 434"/>
                  <a:gd name="T83" fmla="*/ 116 h 430"/>
                  <a:gd name="T84" fmla="*/ 415 w 434"/>
                  <a:gd name="T85" fmla="*/ 106 h 430"/>
                  <a:gd name="T86" fmla="*/ 388 w 434"/>
                  <a:gd name="T87" fmla="*/ 105 h 430"/>
                  <a:gd name="T88" fmla="*/ 361 w 434"/>
                  <a:gd name="T89" fmla="*/ 126 h 430"/>
                  <a:gd name="T90" fmla="*/ 354 w 434"/>
                  <a:gd name="T91" fmla="*/ 138 h 430"/>
                  <a:gd name="T92" fmla="*/ 330 w 434"/>
                  <a:gd name="T93" fmla="*/ 141 h 430"/>
                  <a:gd name="T94" fmla="*/ 310 w 434"/>
                  <a:gd name="T95" fmla="*/ 141 h 430"/>
                  <a:gd name="T96" fmla="*/ 306 w 434"/>
                  <a:gd name="T97" fmla="*/ 132 h 430"/>
                  <a:gd name="T98" fmla="*/ 295 w 434"/>
                  <a:gd name="T99" fmla="*/ 149 h 430"/>
                  <a:gd name="T100" fmla="*/ 267 w 434"/>
                  <a:gd name="T101" fmla="*/ 146 h 430"/>
                  <a:gd name="T102" fmla="*/ 245 w 434"/>
                  <a:gd name="T103" fmla="*/ 138 h 430"/>
                  <a:gd name="T104" fmla="*/ 223 w 434"/>
                  <a:gd name="T105" fmla="*/ 133 h 430"/>
                  <a:gd name="T106" fmla="*/ 198 w 434"/>
                  <a:gd name="T107" fmla="*/ 122 h 430"/>
                  <a:gd name="T108" fmla="*/ 180 w 434"/>
                  <a:gd name="T109" fmla="*/ 102 h 430"/>
                  <a:gd name="T110" fmla="*/ 175 w 434"/>
                  <a:gd name="T111" fmla="*/ 77 h 430"/>
                  <a:gd name="T112" fmla="*/ 153 w 434"/>
                  <a:gd name="T113" fmla="*/ 54 h 430"/>
                  <a:gd name="T114" fmla="*/ 164 w 434"/>
                  <a:gd name="T115" fmla="*/ 38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34" h="430">
                    <a:moveTo>
                      <a:pt x="160" y="35"/>
                    </a:moveTo>
                    <a:cubicBezTo>
                      <a:pt x="159" y="33"/>
                      <a:pt x="157" y="25"/>
                      <a:pt x="157" y="24"/>
                    </a:cubicBezTo>
                    <a:cubicBezTo>
                      <a:pt x="156" y="24"/>
                      <a:pt x="157" y="23"/>
                      <a:pt x="158" y="23"/>
                    </a:cubicBezTo>
                    <a:cubicBezTo>
                      <a:pt x="159" y="23"/>
                      <a:pt x="160" y="20"/>
                      <a:pt x="160" y="20"/>
                    </a:cubicBezTo>
                    <a:cubicBezTo>
                      <a:pt x="161" y="19"/>
                      <a:pt x="160" y="19"/>
                      <a:pt x="160" y="19"/>
                    </a:cubicBezTo>
                    <a:cubicBezTo>
                      <a:pt x="160" y="19"/>
                      <a:pt x="155" y="17"/>
                      <a:pt x="153" y="16"/>
                    </a:cubicBezTo>
                    <a:cubicBezTo>
                      <a:pt x="151" y="15"/>
                      <a:pt x="150" y="13"/>
                      <a:pt x="150" y="13"/>
                    </a:cubicBezTo>
                    <a:cubicBezTo>
                      <a:pt x="150" y="12"/>
                      <a:pt x="148" y="9"/>
                      <a:pt x="148" y="8"/>
                    </a:cubicBezTo>
                    <a:cubicBezTo>
                      <a:pt x="148" y="8"/>
                      <a:pt x="147" y="5"/>
                      <a:pt x="146" y="4"/>
                    </a:cubicBezTo>
                    <a:cubicBezTo>
                      <a:pt x="146" y="3"/>
                      <a:pt x="146" y="2"/>
                      <a:pt x="147" y="1"/>
                    </a:cubicBezTo>
                    <a:cubicBezTo>
                      <a:pt x="147" y="0"/>
                      <a:pt x="146" y="0"/>
                      <a:pt x="145" y="0"/>
                    </a:cubicBezTo>
                    <a:cubicBezTo>
                      <a:pt x="145" y="0"/>
                      <a:pt x="144" y="0"/>
                      <a:pt x="143" y="0"/>
                    </a:cubicBezTo>
                    <a:cubicBezTo>
                      <a:pt x="139" y="2"/>
                      <a:pt x="132" y="7"/>
                      <a:pt x="132" y="7"/>
                    </a:cubicBezTo>
                    <a:cubicBezTo>
                      <a:pt x="132" y="7"/>
                      <a:pt x="130" y="8"/>
                      <a:pt x="128" y="11"/>
                    </a:cubicBezTo>
                    <a:cubicBezTo>
                      <a:pt x="126" y="13"/>
                      <a:pt x="122" y="13"/>
                      <a:pt x="122" y="13"/>
                    </a:cubicBezTo>
                    <a:cubicBezTo>
                      <a:pt x="121" y="13"/>
                      <a:pt x="120" y="14"/>
                      <a:pt x="120" y="14"/>
                    </a:cubicBezTo>
                    <a:cubicBezTo>
                      <a:pt x="120" y="14"/>
                      <a:pt x="113" y="16"/>
                      <a:pt x="113" y="17"/>
                    </a:cubicBezTo>
                    <a:cubicBezTo>
                      <a:pt x="112" y="17"/>
                      <a:pt x="108" y="16"/>
                      <a:pt x="108" y="16"/>
                    </a:cubicBezTo>
                    <a:cubicBezTo>
                      <a:pt x="107" y="16"/>
                      <a:pt x="105" y="15"/>
                      <a:pt x="105" y="14"/>
                    </a:cubicBezTo>
                    <a:cubicBezTo>
                      <a:pt x="105" y="14"/>
                      <a:pt x="104" y="14"/>
                      <a:pt x="104" y="14"/>
                    </a:cubicBezTo>
                    <a:cubicBezTo>
                      <a:pt x="104" y="14"/>
                      <a:pt x="96" y="13"/>
                      <a:pt x="96" y="13"/>
                    </a:cubicBezTo>
                    <a:cubicBezTo>
                      <a:pt x="95" y="13"/>
                      <a:pt x="92" y="13"/>
                      <a:pt x="91" y="13"/>
                    </a:cubicBezTo>
                    <a:cubicBezTo>
                      <a:pt x="91" y="13"/>
                      <a:pt x="87" y="14"/>
                      <a:pt x="86" y="14"/>
                    </a:cubicBezTo>
                    <a:cubicBezTo>
                      <a:pt x="85" y="15"/>
                      <a:pt x="84" y="17"/>
                      <a:pt x="84" y="18"/>
                    </a:cubicBezTo>
                    <a:cubicBezTo>
                      <a:pt x="83" y="19"/>
                      <a:pt x="84" y="19"/>
                      <a:pt x="84" y="19"/>
                    </a:cubicBezTo>
                    <a:cubicBezTo>
                      <a:pt x="84" y="20"/>
                      <a:pt x="85" y="20"/>
                      <a:pt x="85" y="20"/>
                    </a:cubicBezTo>
                    <a:cubicBezTo>
                      <a:pt x="85" y="20"/>
                      <a:pt x="86" y="20"/>
                      <a:pt x="86" y="20"/>
                    </a:cubicBezTo>
                    <a:cubicBezTo>
                      <a:pt x="87" y="21"/>
                      <a:pt x="86" y="23"/>
                      <a:pt x="85" y="23"/>
                    </a:cubicBezTo>
                    <a:cubicBezTo>
                      <a:pt x="85" y="24"/>
                      <a:pt x="86" y="24"/>
                      <a:pt x="86" y="24"/>
                    </a:cubicBezTo>
                    <a:cubicBezTo>
                      <a:pt x="86" y="24"/>
                      <a:pt x="86" y="24"/>
                      <a:pt x="88" y="24"/>
                    </a:cubicBezTo>
                    <a:cubicBezTo>
                      <a:pt x="89" y="24"/>
                      <a:pt x="90" y="25"/>
                      <a:pt x="91" y="26"/>
                    </a:cubicBezTo>
                    <a:cubicBezTo>
                      <a:pt x="91" y="26"/>
                      <a:pt x="89" y="27"/>
                      <a:pt x="89" y="28"/>
                    </a:cubicBezTo>
                    <a:cubicBezTo>
                      <a:pt x="88" y="28"/>
                      <a:pt x="87" y="28"/>
                      <a:pt x="87" y="29"/>
                    </a:cubicBezTo>
                    <a:cubicBezTo>
                      <a:pt x="86" y="29"/>
                      <a:pt x="87" y="30"/>
                      <a:pt x="87" y="30"/>
                    </a:cubicBezTo>
                    <a:cubicBezTo>
                      <a:pt x="87" y="30"/>
                      <a:pt x="88" y="32"/>
                      <a:pt x="89" y="32"/>
                    </a:cubicBezTo>
                    <a:cubicBezTo>
                      <a:pt x="89" y="33"/>
                      <a:pt x="89" y="35"/>
                      <a:pt x="88" y="37"/>
                    </a:cubicBezTo>
                    <a:cubicBezTo>
                      <a:pt x="87" y="38"/>
                      <a:pt x="87" y="39"/>
                      <a:pt x="87" y="39"/>
                    </a:cubicBezTo>
                    <a:cubicBezTo>
                      <a:pt x="87" y="39"/>
                      <a:pt x="91" y="44"/>
                      <a:pt x="91" y="45"/>
                    </a:cubicBezTo>
                    <a:cubicBezTo>
                      <a:pt x="91" y="45"/>
                      <a:pt x="92" y="45"/>
                      <a:pt x="92" y="45"/>
                    </a:cubicBezTo>
                    <a:cubicBezTo>
                      <a:pt x="92" y="45"/>
                      <a:pt x="93" y="46"/>
                      <a:pt x="94" y="46"/>
                    </a:cubicBezTo>
                    <a:cubicBezTo>
                      <a:pt x="94" y="46"/>
                      <a:pt x="94" y="46"/>
                      <a:pt x="94" y="45"/>
                    </a:cubicBezTo>
                    <a:cubicBezTo>
                      <a:pt x="95" y="45"/>
                      <a:pt x="96" y="45"/>
                      <a:pt x="97" y="45"/>
                    </a:cubicBezTo>
                    <a:cubicBezTo>
                      <a:pt x="97" y="44"/>
                      <a:pt x="97" y="45"/>
                      <a:pt x="97" y="45"/>
                    </a:cubicBezTo>
                    <a:cubicBezTo>
                      <a:pt x="96" y="46"/>
                      <a:pt x="96" y="47"/>
                      <a:pt x="97" y="49"/>
                    </a:cubicBezTo>
                    <a:cubicBezTo>
                      <a:pt x="97" y="51"/>
                      <a:pt x="104" y="52"/>
                      <a:pt x="104" y="52"/>
                    </a:cubicBezTo>
                    <a:cubicBezTo>
                      <a:pt x="105" y="51"/>
                      <a:pt x="106" y="52"/>
                      <a:pt x="106" y="52"/>
                    </a:cubicBezTo>
                    <a:cubicBezTo>
                      <a:pt x="106" y="53"/>
                      <a:pt x="106" y="53"/>
                      <a:pt x="106" y="55"/>
                    </a:cubicBezTo>
                    <a:cubicBezTo>
                      <a:pt x="106" y="56"/>
                      <a:pt x="101" y="58"/>
                      <a:pt x="101" y="58"/>
                    </a:cubicBezTo>
                    <a:cubicBezTo>
                      <a:pt x="100" y="58"/>
                      <a:pt x="98" y="59"/>
                      <a:pt x="97" y="59"/>
                    </a:cubicBezTo>
                    <a:cubicBezTo>
                      <a:pt x="97" y="59"/>
                      <a:pt x="97" y="59"/>
                      <a:pt x="97" y="59"/>
                    </a:cubicBezTo>
                    <a:cubicBezTo>
                      <a:pt x="97" y="59"/>
                      <a:pt x="95" y="61"/>
                      <a:pt x="95" y="62"/>
                    </a:cubicBezTo>
                    <a:cubicBezTo>
                      <a:pt x="94" y="62"/>
                      <a:pt x="94" y="62"/>
                      <a:pt x="94" y="63"/>
                    </a:cubicBezTo>
                    <a:cubicBezTo>
                      <a:pt x="94" y="64"/>
                      <a:pt x="96" y="73"/>
                      <a:pt x="96" y="74"/>
                    </a:cubicBezTo>
                    <a:cubicBezTo>
                      <a:pt x="96" y="74"/>
                      <a:pt x="95" y="75"/>
                      <a:pt x="95" y="75"/>
                    </a:cubicBezTo>
                    <a:cubicBezTo>
                      <a:pt x="95" y="75"/>
                      <a:pt x="89" y="80"/>
                      <a:pt x="88" y="80"/>
                    </a:cubicBezTo>
                    <a:cubicBezTo>
                      <a:pt x="88" y="81"/>
                      <a:pt x="85" y="84"/>
                      <a:pt x="85" y="84"/>
                    </a:cubicBezTo>
                    <a:cubicBezTo>
                      <a:pt x="84" y="85"/>
                      <a:pt x="84" y="85"/>
                      <a:pt x="84" y="85"/>
                    </a:cubicBezTo>
                    <a:cubicBezTo>
                      <a:pt x="84" y="85"/>
                      <a:pt x="85" y="86"/>
                      <a:pt x="86" y="87"/>
                    </a:cubicBezTo>
                    <a:cubicBezTo>
                      <a:pt x="86" y="88"/>
                      <a:pt x="86" y="88"/>
                      <a:pt x="86" y="88"/>
                    </a:cubicBezTo>
                    <a:cubicBezTo>
                      <a:pt x="86" y="88"/>
                      <a:pt x="84" y="89"/>
                      <a:pt x="80" y="90"/>
                    </a:cubicBezTo>
                    <a:cubicBezTo>
                      <a:pt x="76" y="92"/>
                      <a:pt x="76" y="97"/>
                      <a:pt x="75" y="98"/>
                    </a:cubicBezTo>
                    <a:cubicBezTo>
                      <a:pt x="75" y="100"/>
                      <a:pt x="72" y="105"/>
                      <a:pt x="71" y="106"/>
                    </a:cubicBezTo>
                    <a:cubicBezTo>
                      <a:pt x="70" y="107"/>
                      <a:pt x="65" y="110"/>
                      <a:pt x="64" y="110"/>
                    </a:cubicBezTo>
                    <a:cubicBezTo>
                      <a:pt x="64" y="110"/>
                      <a:pt x="63" y="111"/>
                      <a:pt x="63" y="111"/>
                    </a:cubicBezTo>
                    <a:cubicBezTo>
                      <a:pt x="63" y="111"/>
                      <a:pt x="54" y="123"/>
                      <a:pt x="54" y="124"/>
                    </a:cubicBezTo>
                    <a:cubicBezTo>
                      <a:pt x="53" y="124"/>
                      <a:pt x="53" y="125"/>
                      <a:pt x="53" y="125"/>
                    </a:cubicBezTo>
                    <a:cubicBezTo>
                      <a:pt x="53" y="125"/>
                      <a:pt x="45" y="126"/>
                      <a:pt x="45" y="126"/>
                    </a:cubicBezTo>
                    <a:cubicBezTo>
                      <a:pt x="44" y="126"/>
                      <a:pt x="42" y="127"/>
                      <a:pt x="41" y="128"/>
                    </a:cubicBezTo>
                    <a:cubicBezTo>
                      <a:pt x="40" y="128"/>
                      <a:pt x="37" y="127"/>
                      <a:pt x="37" y="126"/>
                    </a:cubicBezTo>
                    <a:cubicBezTo>
                      <a:pt x="37" y="124"/>
                      <a:pt x="36" y="123"/>
                      <a:pt x="35" y="123"/>
                    </a:cubicBezTo>
                    <a:cubicBezTo>
                      <a:pt x="34" y="122"/>
                      <a:pt x="31" y="124"/>
                      <a:pt x="31" y="125"/>
                    </a:cubicBezTo>
                    <a:cubicBezTo>
                      <a:pt x="30" y="125"/>
                      <a:pt x="30" y="125"/>
                      <a:pt x="30" y="125"/>
                    </a:cubicBezTo>
                    <a:cubicBezTo>
                      <a:pt x="30" y="125"/>
                      <a:pt x="22" y="136"/>
                      <a:pt x="21" y="137"/>
                    </a:cubicBezTo>
                    <a:cubicBezTo>
                      <a:pt x="20" y="138"/>
                      <a:pt x="20" y="139"/>
                      <a:pt x="19" y="141"/>
                    </a:cubicBezTo>
                    <a:cubicBezTo>
                      <a:pt x="19" y="144"/>
                      <a:pt x="22" y="144"/>
                      <a:pt x="23" y="145"/>
                    </a:cubicBezTo>
                    <a:cubicBezTo>
                      <a:pt x="24" y="146"/>
                      <a:pt x="26" y="146"/>
                      <a:pt x="26" y="146"/>
                    </a:cubicBezTo>
                    <a:cubicBezTo>
                      <a:pt x="27" y="146"/>
                      <a:pt x="27" y="145"/>
                      <a:pt x="29" y="146"/>
                    </a:cubicBezTo>
                    <a:cubicBezTo>
                      <a:pt x="31" y="147"/>
                      <a:pt x="29" y="151"/>
                      <a:pt x="29" y="152"/>
                    </a:cubicBezTo>
                    <a:cubicBezTo>
                      <a:pt x="29" y="153"/>
                      <a:pt x="29" y="153"/>
                      <a:pt x="29" y="153"/>
                    </a:cubicBezTo>
                    <a:cubicBezTo>
                      <a:pt x="29" y="153"/>
                      <a:pt x="30" y="158"/>
                      <a:pt x="31" y="159"/>
                    </a:cubicBezTo>
                    <a:cubicBezTo>
                      <a:pt x="31" y="160"/>
                      <a:pt x="34" y="160"/>
                      <a:pt x="34" y="160"/>
                    </a:cubicBezTo>
                    <a:cubicBezTo>
                      <a:pt x="35" y="160"/>
                      <a:pt x="35" y="160"/>
                      <a:pt x="36" y="160"/>
                    </a:cubicBezTo>
                    <a:cubicBezTo>
                      <a:pt x="37" y="159"/>
                      <a:pt x="37" y="161"/>
                      <a:pt x="38" y="164"/>
                    </a:cubicBezTo>
                    <a:cubicBezTo>
                      <a:pt x="39" y="167"/>
                      <a:pt x="42" y="174"/>
                      <a:pt x="43" y="175"/>
                    </a:cubicBezTo>
                    <a:cubicBezTo>
                      <a:pt x="43" y="176"/>
                      <a:pt x="43" y="176"/>
                      <a:pt x="42" y="177"/>
                    </a:cubicBezTo>
                    <a:cubicBezTo>
                      <a:pt x="41" y="178"/>
                      <a:pt x="42" y="180"/>
                      <a:pt x="42" y="180"/>
                    </a:cubicBezTo>
                    <a:cubicBezTo>
                      <a:pt x="43" y="180"/>
                      <a:pt x="43" y="179"/>
                      <a:pt x="43" y="180"/>
                    </a:cubicBezTo>
                    <a:cubicBezTo>
                      <a:pt x="44" y="181"/>
                      <a:pt x="41" y="181"/>
                      <a:pt x="40" y="181"/>
                    </a:cubicBezTo>
                    <a:cubicBezTo>
                      <a:pt x="40" y="181"/>
                      <a:pt x="40" y="183"/>
                      <a:pt x="39" y="183"/>
                    </a:cubicBezTo>
                    <a:cubicBezTo>
                      <a:pt x="39" y="183"/>
                      <a:pt x="36" y="182"/>
                      <a:pt x="36" y="182"/>
                    </a:cubicBezTo>
                    <a:cubicBezTo>
                      <a:pt x="36" y="181"/>
                      <a:pt x="36" y="181"/>
                      <a:pt x="36" y="180"/>
                    </a:cubicBezTo>
                    <a:cubicBezTo>
                      <a:pt x="36" y="179"/>
                      <a:pt x="34" y="180"/>
                      <a:pt x="32" y="181"/>
                    </a:cubicBezTo>
                    <a:cubicBezTo>
                      <a:pt x="31" y="181"/>
                      <a:pt x="28" y="182"/>
                      <a:pt x="28" y="183"/>
                    </a:cubicBezTo>
                    <a:cubicBezTo>
                      <a:pt x="27" y="184"/>
                      <a:pt x="26" y="184"/>
                      <a:pt x="26" y="184"/>
                    </a:cubicBezTo>
                    <a:cubicBezTo>
                      <a:pt x="26" y="184"/>
                      <a:pt x="10" y="182"/>
                      <a:pt x="9" y="182"/>
                    </a:cubicBezTo>
                    <a:cubicBezTo>
                      <a:pt x="9" y="182"/>
                      <a:pt x="9" y="182"/>
                      <a:pt x="9" y="182"/>
                    </a:cubicBezTo>
                    <a:cubicBezTo>
                      <a:pt x="9" y="182"/>
                      <a:pt x="9" y="184"/>
                      <a:pt x="9" y="186"/>
                    </a:cubicBezTo>
                    <a:cubicBezTo>
                      <a:pt x="9" y="187"/>
                      <a:pt x="7" y="187"/>
                      <a:pt x="7" y="187"/>
                    </a:cubicBezTo>
                    <a:cubicBezTo>
                      <a:pt x="6" y="187"/>
                      <a:pt x="5" y="187"/>
                      <a:pt x="3" y="187"/>
                    </a:cubicBezTo>
                    <a:cubicBezTo>
                      <a:pt x="2" y="187"/>
                      <a:pt x="1" y="189"/>
                      <a:pt x="0" y="190"/>
                    </a:cubicBezTo>
                    <a:cubicBezTo>
                      <a:pt x="1" y="191"/>
                      <a:pt x="2" y="192"/>
                      <a:pt x="1" y="192"/>
                    </a:cubicBezTo>
                    <a:cubicBezTo>
                      <a:pt x="0" y="193"/>
                      <a:pt x="1" y="193"/>
                      <a:pt x="2" y="193"/>
                    </a:cubicBezTo>
                    <a:cubicBezTo>
                      <a:pt x="2" y="193"/>
                      <a:pt x="4" y="193"/>
                      <a:pt x="5" y="194"/>
                    </a:cubicBezTo>
                    <a:cubicBezTo>
                      <a:pt x="5" y="195"/>
                      <a:pt x="7" y="203"/>
                      <a:pt x="20" y="206"/>
                    </a:cubicBezTo>
                    <a:cubicBezTo>
                      <a:pt x="20" y="206"/>
                      <a:pt x="22" y="207"/>
                      <a:pt x="24" y="206"/>
                    </a:cubicBezTo>
                    <a:cubicBezTo>
                      <a:pt x="26" y="205"/>
                      <a:pt x="27" y="205"/>
                      <a:pt x="27" y="204"/>
                    </a:cubicBezTo>
                    <a:cubicBezTo>
                      <a:pt x="28" y="204"/>
                      <a:pt x="29" y="204"/>
                      <a:pt x="30" y="204"/>
                    </a:cubicBezTo>
                    <a:cubicBezTo>
                      <a:pt x="32" y="204"/>
                      <a:pt x="33" y="204"/>
                      <a:pt x="32" y="206"/>
                    </a:cubicBezTo>
                    <a:cubicBezTo>
                      <a:pt x="31" y="208"/>
                      <a:pt x="30" y="210"/>
                      <a:pt x="21" y="212"/>
                    </a:cubicBezTo>
                    <a:cubicBezTo>
                      <a:pt x="21" y="212"/>
                      <a:pt x="14" y="214"/>
                      <a:pt x="15" y="213"/>
                    </a:cubicBezTo>
                    <a:cubicBezTo>
                      <a:pt x="16" y="211"/>
                      <a:pt x="15" y="211"/>
                      <a:pt x="14" y="211"/>
                    </a:cubicBezTo>
                    <a:cubicBezTo>
                      <a:pt x="13" y="211"/>
                      <a:pt x="11" y="211"/>
                      <a:pt x="12" y="213"/>
                    </a:cubicBezTo>
                    <a:cubicBezTo>
                      <a:pt x="13" y="215"/>
                      <a:pt x="13" y="217"/>
                      <a:pt x="18" y="221"/>
                    </a:cubicBezTo>
                    <a:cubicBezTo>
                      <a:pt x="23" y="225"/>
                      <a:pt x="30" y="233"/>
                      <a:pt x="31" y="234"/>
                    </a:cubicBezTo>
                    <a:cubicBezTo>
                      <a:pt x="32" y="235"/>
                      <a:pt x="34" y="236"/>
                      <a:pt x="37" y="237"/>
                    </a:cubicBezTo>
                    <a:cubicBezTo>
                      <a:pt x="40" y="238"/>
                      <a:pt x="42" y="238"/>
                      <a:pt x="45" y="237"/>
                    </a:cubicBezTo>
                    <a:cubicBezTo>
                      <a:pt x="48" y="235"/>
                      <a:pt x="52" y="234"/>
                      <a:pt x="54" y="233"/>
                    </a:cubicBezTo>
                    <a:cubicBezTo>
                      <a:pt x="57" y="232"/>
                      <a:pt x="60" y="230"/>
                      <a:pt x="61" y="226"/>
                    </a:cubicBezTo>
                    <a:cubicBezTo>
                      <a:pt x="61" y="226"/>
                      <a:pt x="62" y="223"/>
                      <a:pt x="59" y="222"/>
                    </a:cubicBezTo>
                    <a:cubicBezTo>
                      <a:pt x="57" y="221"/>
                      <a:pt x="57" y="220"/>
                      <a:pt x="58" y="220"/>
                    </a:cubicBezTo>
                    <a:cubicBezTo>
                      <a:pt x="59" y="220"/>
                      <a:pt x="60" y="220"/>
                      <a:pt x="59" y="219"/>
                    </a:cubicBezTo>
                    <a:cubicBezTo>
                      <a:pt x="58" y="219"/>
                      <a:pt x="59" y="218"/>
                      <a:pt x="59" y="218"/>
                    </a:cubicBezTo>
                    <a:cubicBezTo>
                      <a:pt x="60" y="217"/>
                      <a:pt x="63" y="216"/>
                      <a:pt x="61" y="214"/>
                    </a:cubicBezTo>
                    <a:cubicBezTo>
                      <a:pt x="59" y="213"/>
                      <a:pt x="61" y="213"/>
                      <a:pt x="62" y="213"/>
                    </a:cubicBezTo>
                    <a:cubicBezTo>
                      <a:pt x="63" y="213"/>
                      <a:pt x="68" y="214"/>
                      <a:pt x="69" y="214"/>
                    </a:cubicBezTo>
                    <a:cubicBezTo>
                      <a:pt x="69" y="214"/>
                      <a:pt x="72" y="214"/>
                      <a:pt x="69" y="215"/>
                    </a:cubicBezTo>
                    <a:cubicBezTo>
                      <a:pt x="65" y="216"/>
                      <a:pt x="64" y="216"/>
                      <a:pt x="64" y="220"/>
                    </a:cubicBezTo>
                    <a:cubicBezTo>
                      <a:pt x="65" y="223"/>
                      <a:pt x="66" y="224"/>
                      <a:pt x="67" y="223"/>
                    </a:cubicBezTo>
                    <a:cubicBezTo>
                      <a:pt x="69" y="223"/>
                      <a:pt x="71" y="223"/>
                      <a:pt x="70" y="224"/>
                    </a:cubicBezTo>
                    <a:cubicBezTo>
                      <a:pt x="69" y="224"/>
                      <a:pt x="66" y="226"/>
                      <a:pt x="66" y="229"/>
                    </a:cubicBezTo>
                    <a:cubicBezTo>
                      <a:pt x="66" y="232"/>
                      <a:pt x="66" y="233"/>
                      <a:pt x="67" y="232"/>
                    </a:cubicBezTo>
                    <a:cubicBezTo>
                      <a:pt x="68" y="232"/>
                      <a:pt x="69" y="233"/>
                      <a:pt x="69" y="233"/>
                    </a:cubicBezTo>
                    <a:cubicBezTo>
                      <a:pt x="69" y="233"/>
                      <a:pt x="70" y="234"/>
                      <a:pt x="70" y="236"/>
                    </a:cubicBezTo>
                    <a:cubicBezTo>
                      <a:pt x="70" y="238"/>
                      <a:pt x="69" y="242"/>
                      <a:pt x="68" y="245"/>
                    </a:cubicBezTo>
                    <a:cubicBezTo>
                      <a:pt x="67" y="248"/>
                      <a:pt x="66" y="252"/>
                      <a:pt x="67" y="253"/>
                    </a:cubicBezTo>
                    <a:cubicBezTo>
                      <a:pt x="67" y="254"/>
                      <a:pt x="68" y="256"/>
                      <a:pt x="68" y="256"/>
                    </a:cubicBezTo>
                    <a:cubicBezTo>
                      <a:pt x="69" y="256"/>
                      <a:pt x="70" y="256"/>
                      <a:pt x="69" y="257"/>
                    </a:cubicBezTo>
                    <a:cubicBezTo>
                      <a:pt x="68" y="258"/>
                      <a:pt x="68" y="258"/>
                      <a:pt x="68" y="259"/>
                    </a:cubicBezTo>
                    <a:cubicBezTo>
                      <a:pt x="69" y="260"/>
                      <a:pt x="69" y="262"/>
                      <a:pt x="70" y="264"/>
                    </a:cubicBezTo>
                    <a:cubicBezTo>
                      <a:pt x="72" y="265"/>
                      <a:pt x="71" y="262"/>
                      <a:pt x="72" y="264"/>
                    </a:cubicBezTo>
                    <a:cubicBezTo>
                      <a:pt x="73" y="266"/>
                      <a:pt x="71" y="266"/>
                      <a:pt x="71" y="266"/>
                    </a:cubicBezTo>
                    <a:cubicBezTo>
                      <a:pt x="71" y="266"/>
                      <a:pt x="70" y="266"/>
                      <a:pt x="71" y="266"/>
                    </a:cubicBezTo>
                    <a:cubicBezTo>
                      <a:pt x="71" y="267"/>
                      <a:pt x="71" y="267"/>
                      <a:pt x="70" y="267"/>
                    </a:cubicBezTo>
                    <a:cubicBezTo>
                      <a:pt x="70" y="268"/>
                      <a:pt x="69" y="268"/>
                      <a:pt x="70" y="269"/>
                    </a:cubicBezTo>
                    <a:cubicBezTo>
                      <a:pt x="71" y="270"/>
                      <a:pt x="72" y="272"/>
                      <a:pt x="71" y="272"/>
                    </a:cubicBezTo>
                    <a:cubicBezTo>
                      <a:pt x="70" y="272"/>
                      <a:pt x="70" y="272"/>
                      <a:pt x="71" y="273"/>
                    </a:cubicBezTo>
                    <a:cubicBezTo>
                      <a:pt x="71" y="274"/>
                      <a:pt x="74" y="277"/>
                      <a:pt x="72" y="276"/>
                    </a:cubicBezTo>
                    <a:cubicBezTo>
                      <a:pt x="72" y="276"/>
                      <a:pt x="71" y="276"/>
                      <a:pt x="71" y="277"/>
                    </a:cubicBezTo>
                    <a:cubicBezTo>
                      <a:pt x="71" y="279"/>
                      <a:pt x="76" y="298"/>
                      <a:pt x="77" y="302"/>
                    </a:cubicBezTo>
                    <a:cubicBezTo>
                      <a:pt x="77" y="302"/>
                      <a:pt x="77" y="309"/>
                      <a:pt x="81" y="313"/>
                    </a:cubicBezTo>
                    <a:cubicBezTo>
                      <a:pt x="84" y="317"/>
                      <a:pt x="87" y="320"/>
                      <a:pt x="85" y="320"/>
                    </a:cubicBezTo>
                    <a:cubicBezTo>
                      <a:pt x="84" y="319"/>
                      <a:pt x="84" y="320"/>
                      <a:pt x="84" y="321"/>
                    </a:cubicBezTo>
                    <a:cubicBezTo>
                      <a:pt x="85" y="322"/>
                      <a:pt x="87" y="326"/>
                      <a:pt x="87" y="326"/>
                    </a:cubicBezTo>
                    <a:cubicBezTo>
                      <a:pt x="87" y="326"/>
                      <a:pt x="88" y="327"/>
                      <a:pt x="89" y="327"/>
                    </a:cubicBezTo>
                    <a:cubicBezTo>
                      <a:pt x="90" y="327"/>
                      <a:pt x="90" y="328"/>
                      <a:pt x="89" y="328"/>
                    </a:cubicBezTo>
                    <a:cubicBezTo>
                      <a:pt x="88" y="329"/>
                      <a:pt x="89" y="329"/>
                      <a:pt x="89" y="329"/>
                    </a:cubicBezTo>
                    <a:cubicBezTo>
                      <a:pt x="90" y="329"/>
                      <a:pt x="93" y="333"/>
                      <a:pt x="94" y="336"/>
                    </a:cubicBezTo>
                    <a:cubicBezTo>
                      <a:pt x="94" y="340"/>
                      <a:pt x="98" y="349"/>
                      <a:pt x="98" y="352"/>
                    </a:cubicBezTo>
                    <a:cubicBezTo>
                      <a:pt x="99" y="355"/>
                      <a:pt x="100" y="356"/>
                      <a:pt x="99" y="358"/>
                    </a:cubicBezTo>
                    <a:cubicBezTo>
                      <a:pt x="99" y="360"/>
                      <a:pt x="100" y="361"/>
                      <a:pt x="100" y="362"/>
                    </a:cubicBezTo>
                    <a:cubicBezTo>
                      <a:pt x="101" y="363"/>
                      <a:pt x="106" y="372"/>
                      <a:pt x="108" y="374"/>
                    </a:cubicBezTo>
                    <a:cubicBezTo>
                      <a:pt x="111" y="377"/>
                      <a:pt x="113" y="382"/>
                      <a:pt x="115" y="387"/>
                    </a:cubicBezTo>
                    <a:cubicBezTo>
                      <a:pt x="116" y="392"/>
                      <a:pt x="120" y="399"/>
                      <a:pt x="121" y="401"/>
                    </a:cubicBezTo>
                    <a:cubicBezTo>
                      <a:pt x="123" y="404"/>
                      <a:pt x="123" y="407"/>
                      <a:pt x="123" y="408"/>
                    </a:cubicBezTo>
                    <a:cubicBezTo>
                      <a:pt x="123" y="408"/>
                      <a:pt x="122" y="408"/>
                      <a:pt x="122" y="407"/>
                    </a:cubicBezTo>
                    <a:cubicBezTo>
                      <a:pt x="122" y="406"/>
                      <a:pt x="121" y="406"/>
                      <a:pt x="121" y="406"/>
                    </a:cubicBezTo>
                    <a:cubicBezTo>
                      <a:pt x="121" y="407"/>
                      <a:pt x="121" y="408"/>
                      <a:pt x="121" y="408"/>
                    </a:cubicBezTo>
                    <a:cubicBezTo>
                      <a:pt x="122" y="409"/>
                      <a:pt x="123" y="413"/>
                      <a:pt x="125" y="414"/>
                    </a:cubicBezTo>
                    <a:cubicBezTo>
                      <a:pt x="126" y="415"/>
                      <a:pt x="126" y="416"/>
                      <a:pt x="126" y="417"/>
                    </a:cubicBezTo>
                    <a:cubicBezTo>
                      <a:pt x="125" y="417"/>
                      <a:pt x="125" y="418"/>
                      <a:pt x="126" y="419"/>
                    </a:cubicBezTo>
                    <a:cubicBezTo>
                      <a:pt x="127" y="420"/>
                      <a:pt x="132" y="426"/>
                      <a:pt x="134" y="428"/>
                    </a:cubicBezTo>
                    <a:cubicBezTo>
                      <a:pt x="137" y="429"/>
                      <a:pt x="139" y="430"/>
                      <a:pt x="140" y="429"/>
                    </a:cubicBezTo>
                    <a:cubicBezTo>
                      <a:pt x="141" y="428"/>
                      <a:pt x="142" y="427"/>
                      <a:pt x="144" y="426"/>
                    </a:cubicBezTo>
                    <a:cubicBezTo>
                      <a:pt x="145" y="426"/>
                      <a:pt x="147" y="424"/>
                      <a:pt x="148" y="421"/>
                    </a:cubicBezTo>
                    <a:cubicBezTo>
                      <a:pt x="149" y="418"/>
                      <a:pt x="150" y="416"/>
                      <a:pt x="153" y="414"/>
                    </a:cubicBezTo>
                    <a:cubicBezTo>
                      <a:pt x="156" y="413"/>
                      <a:pt x="159" y="412"/>
                      <a:pt x="162" y="413"/>
                    </a:cubicBezTo>
                    <a:cubicBezTo>
                      <a:pt x="166" y="413"/>
                      <a:pt x="168" y="414"/>
                      <a:pt x="166" y="412"/>
                    </a:cubicBezTo>
                    <a:cubicBezTo>
                      <a:pt x="166" y="412"/>
                      <a:pt x="164" y="411"/>
                      <a:pt x="163" y="411"/>
                    </a:cubicBezTo>
                    <a:cubicBezTo>
                      <a:pt x="162" y="411"/>
                      <a:pt x="159" y="411"/>
                      <a:pt x="160" y="408"/>
                    </a:cubicBezTo>
                    <a:cubicBezTo>
                      <a:pt x="161" y="404"/>
                      <a:pt x="163" y="404"/>
                      <a:pt x="164" y="400"/>
                    </a:cubicBezTo>
                    <a:cubicBezTo>
                      <a:pt x="165" y="397"/>
                      <a:pt x="167" y="396"/>
                      <a:pt x="170" y="396"/>
                    </a:cubicBezTo>
                    <a:cubicBezTo>
                      <a:pt x="173" y="397"/>
                      <a:pt x="174" y="397"/>
                      <a:pt x="174" y="393"/>
                    </a:cubicBezTo>
                    <a:cubicBezTo>
                      <a:pt x="174" y="388"/>
                      <a:pt x="174" y="385"/>
                      <a:pt x="172" y="383"/>
                    </a:cubicBezTo>
                    <a:cubicBezTo>
                      <a:pt x="170" y="381"/>
                      <a:pt x="171" y="381"/>
                      <a:pt x="172" y="381"/>
                    </a:cubicBezTo>
                    <a:cubicBezTo>
                      <a:pt x="172" y="381"/>
                      <a:pt x="173" y="381"/>
                      <a:pt x="173" y="379"/>
                    </a:cubicBezTo>
                    <a:cubicBezTo>
                      <a:pt x="172" y="377"/>
                      <a:pt x="172" y="372"/>
                      <a:pt x="177" y="366"/>
                    </a:cubicBezTo>
                    <a:cubicBezTo>
                      <a:pt x="177" y="366"/>
                      <a:pt x="180" y="361"/>
                      <a:pt x="180" y="356"/>
                    </a:cubicBezTo>
                    <a:cubicBezTo>
                      <a:pt x="180" y="350"/>
                      <a:pt x="180" y="349"/>
                      <a:pt x="179" y="349"/>
                    </a:cubicBezTo>
                    <a:cubicBezTo>
                      <a:pt x="177" y="348"/>
                      <a:pt x="176" y="347"/>
                      <a:pt x="177" y="346"/>
                    </a:cubicBezTo>
                    <a:cubicBezTo>
                      <a:pt x="178" y="346"/>
                      <a:pt x="178" y="346"/>
                      <a:pt x="179" y="346"/>
                    </a:cubicBezTo>
                    <a:cubicBezTo>
                      <a:pt x="179" y="347"/>
                      <a:pt x="180" y="347"/>
                      <a:pt x="180" y="346"/>
                    </a:cubicBezTo>
                    <a:cubicBezTo>
                      <a:pt x="179" y="344"/>
                      <a:pt x="177" y="341"/>
                      <a:pt x="177" y="337"/>
                    </a:cubicBezTo>
                    <a:cubicBezTo>
                      <a:pt x="177" y="333"/>
                      <a:pt x="175" y="319"/>
                      <a:pt x="181" y="314"/>
                    </a:cubicBezTo>
                    <a:cubicBezTo>
                      <a:pt x="181" y="314"/>
                      <a:pt x="184" y="312"/>
                      <a:pt x="187" y="313"/>
                    </a:cubicBezTo>
                    <a:cubicBezTo>
                      <a:pt x="189" y="314"/>
                      <a:pt x="188" y="313"/>
                      <a:pt x="189" y="313"/>
                    </a:cubicBezTo>
                    <a:cubicBezTo>
                      <a:pt x="189" y="312"/>
                      <a:pt x="189" y="310"/>
                      <a:pt x="189" y="311"/>
                    </a:cubicBezTo>
                    <a:cubicBezTo>
                      <a:pt x="190" y="312"/>
                      <a:pt x="191" y="314"/>
                      <a:pt x="192" y="312"/>
                    </a:cubicBezTo>
                    <a:cubicBezTo>
                      <a:pt x="192" y="311"/>
                      <a:pt x="193" y="310"/>
                      <a:pt x="193" y="309"/>
                    </a:cubicBezTo>
                    <a:cubicBezTo>
                      <a:pt x="194" y="308"/>
                      <a:pt x="195" y="305"/>
                      <a:pt x="197" y="305"/>
                    </a:cubicBezTo>
                    <a:cubicBezTo>
                      <a:pt x="200" y="305"/>
                      <a:pt x="203" y="305"/>
                      <a:pt x="207" y="303"/>
                    </a:cubicBezTo>
                    <a:cubicBezTo>
                      <a:pt x="211" y="301"/>
                      <a:pt x="211" y="299"/>
                      <a:pt x="210" y="297"/>
                    </a:cubicBezTo>
                    <a:cubicBezTo>
                      <a:pt x="209" y="296"/>
                      <a:pt x="209" y="294"/>
                      <a:pt x="211" y="293"/>
                    </a:cubicBezTo>
                    <a:cubicBezTo>
                      <a:pt x="213" y="292"/>
                      <a:pt x="221" y="288"/>
                      <a:pt x="223" y="287"/>
                    </a:cubicBezTo>
                    <a:cubicBezTo>
                      <a:pt x="224" y="285"/>
                      <a:pt x="230" y="279"/>
                      <a:pt x="233" y="278"/>
                    </a:cubicBezTo>
                    <a:cubicBezTo>
                      <a:pt x="235" y="276"/>
                      <a:pt x="239" y="273"/>
                      <a:pt x="241" y="271"/>
                    </a:cubicBezTo>
                    <a:cubicBezTo>
                      <a:pt x="243" y="268"/>
                      <a:pt x="245" y="264"/>
                      <a:pt x="249" y="261"/>
                    </a:cubicBezTo>
                    <a:cubicBezTo>
                      <a:pt x="253" y="258"/>
                      <a:pt x="257" y="254"/>
                      <a:pt x="259" y="254"/>
                    </a:cubicBezTo>
                    <a:cubicBezTo>
                      <a:pt x="261" y="253"/>
                      <a:pt x="271" y="251"/>
                      <a:pt x="270" y="250"/>
                    </a:cubicBezTo>
                    <a:cubicBezTo>
                      <a:pt x="269" y="249"/>
                      <a:pt x="269" y="248"/>
                      <a:pt x="270" y="248"/>
                    </a:cubicBezTo>
                    <a:cubicBezTo>
                      <a:pt x="271" y="248"/>
                      <a:pt x="272" y="248"/>
                      <a:pt x="273" y="247"/>
                    </a:cubicBezTo>
                    <a:cubicBezTo>
                      <a:pt x="273" y="246"/>
                      <a:pt x="280" y="240"/>
                      <a:pt x="280" y="240"/>
                    </a:cubicBezTo>
                    <a:cubicBezTo>
                      <a:pt x="280" y="240"/>
                      <a:pt x="280" y="239"/>
                      <a:pt x="280" y="237"/>
                    </a:cubicBezTo>
                    <a:cubicBezTo>
                      <a:pt x="279" y="236"/>
                      <a:pt x="277" y="229"/>
                      <a:pt x="280" y="227"/>
                    </a:cubicBezTo>
                    <a:cubicBezTo>
                      <a:pt x="282" y="225"/>
                      <a:pt x="286" y="224"/>
                      <a:pt x="287" y="224"/>
                    </a:cubicBezTo>
                    <a:cubicBezTo>
                      <a:pt x="287" y="224"/>
                      <a:pt x="293" y="222"/>
                      <a:pt x="296" y="218"/>
                    </a:cubicBezTo>
                    <a:cubicBezTo>
                      <a:pt x="296" y="218"/>
                      <a:pt x="298" y="215"/>
                      <a:pt x="298" y="218"/>
                    </a:cubicBezTo>
                    <a:cubicBezTo>
                      <a:pt x="298" y="220"/>
                      <a:pt x="297" y="225"/>
                      <a:pt x="299" y="225"/>
                    </a:cubicBezTo>
                    <a:cubicBezTo>
                      <a:pt x="301" y="225"/>
                      <a:pt x="301" y="224"/>
                      <a:pt x="301" y="223"/>
                    </a:cubicBezTo>
                    <a:cubicBezTo>
                      <a:pt x="301" y="222"/>
                      <a:pt x="302" y="222"/>
                      <a:pt x="302" y="224"/>
                    </a:cubicBezTo>
                    <a:cubicBezTo>
                      <a:pt x="303" y="226"/>
                      <a:pt x="303" y="225"/>
                      <a:pt x="304" y="224"/>
                    </a:cubicBezTo>
                    <a:cubicBezTo>
                      <a:pt x="304" y="222"/>
                      <a:pt x="303" y="222"/>
                      <a:pt x="303" y="220"/>
                    </a:cubicBezTo>
                    <a:cubicBezTo>
                      <a:pt x="304" y="219"/>
                      <a:pt x="305" y="220"/>
                      <a:pt x="305" y="222"/>
                    </a:cubicBezTo>
                    <a:cubicBezTo>
                      <a:pt x="305" y="225"/>
                      <a:pt x="307" y="225"/>
                      <a:pt x="308" y="225"/>
                    </a:cubicBezTo>
                    <a:cubicBezTo>
                      <a:pt x="308" y="225"/>
                      <a:pt x="311" y="225"/>
                      <a:pt x="310" y="222"/>
                    </a:cubicBezTo>
                    <a:cubicBezTo>
                      <a:pt x="310" y="221"/>
                      <a:pt x="310" y="220"/>
                      <a:pt x="311" y="220"/>
                    </a:cubicBezTo>
                    <a:cubicBezTo>
                      <a:pt x="310" y="218"/>
                      <a:pt x="310" y="217"/>
                      <a:pt x="310" y="216"/>
                    </a:cubicBezTo>
                    <a:cubicBezTo>
                      <a:pt x="310" y="216"/>
                      <a:pt x="309" y="214"/>
                      <a:pt x="309" y="214"/>
                    </a:cubicBezTo>
                    <a:cubicBezTo>
                      <a:pt x="309" y="213"/>
                      <a:pt x="309" y="213"/>
                      <a:pt x="309" y="213"/>
                    </a:cubicBezTo>
                    <a:cubicBezTo>
                      <a:pt x="309" y="212"/>
                      <a:pt x="309" y="209"/>
                      <a:pt x="308" y="209"/>
                    </a:cubicBezTo>
                    <a:cubicBezTo>
                      <a:pt x="308" y="209"/>
                      <a:pt x="308" y="208"/>
                      <a:pt x="308" y="208"/>
                    </a:cubicBezTo>
                    <a:cubicBezTo>
                      <a:pt x="308" y="207"/>
                      <a:pt x="309" y="206"/>
                      <a:pt x="308" y="206"/>
                    </a:cubicBezTo>
                    <a:cubicBezTo>
                      <a:pt x="308" y="205"/>
                      <a:pt x="307" y="203"/>
                      <a:pt x="308" y="203"/>
                    </a:cubicBezTo>
                    <a:cubicBezTo>
                      <a:pt x="308" y="203"/>
                      <a:pt x="309" y="200"/>
                      <a:pt x="309" y="200"/>
                    </a:cubicBezTo>
                    <a:cubicBezTo>
                      <a:pt x="309" y="200"/>
                      <a:pt x="309" y="199"/>
                      <a:pt x="308" y="199"/>
                    </a:cubicBezTo>
                    <a:cubicBezTo>
                      <a:pt x="308" y="199"/>
                      <a:pt x="307" y="199"/>
                      <a:pt x="307" y="199"/>
                    </a:cubicBezTo>
                    <a:cubicBezTo>
                      <a:pt x="307" y="199"/>
                      <a:pt x="307" y="199"/>
                      <a:pt x="306" y="198"/>
                    </a:cubicBezTo>
                    <a:cubicBezTo>
                      <a:pt x="306" y="198"/>
                      <a:pt x="306" y="197"/>
                      <a:pt x="306" y="197"/>
                    </a:cubicBezTo>
                    <a:cubicBezTo>
                      <a:pt x="306" y="196"/>
                      <a:pt x="306" y="195"/>
                      <a:pt x="306" y="195"/>
                    </a:cubicBezTo>
                    <a:cubicBezTo>
                      <a:pt x="306" y="195"/>
                      <a:pt x="306" y="195"/>
                      <a:pt x="306" y="195"/>
                    </a:cubicBezTo>
                    <a:cubicBezTo>
                      <a:pt x="305" y="194"/>
                      <a:pt x="304" y="193"/>
                      <a:pt x="304" y="193"/>
                    </a:cubicBezTo>
                    <a:cubicBezTo>
                      <a:pt x="304" y="193"/>
                      <a:pt x="304" y="193"/>
                      <a:pt x="304" y="192"/>
                    </a:cubicBezTo>
                    <a:cubicBezTo>
                      <a:pt x="304" y="190"/>
                      <a:pt x="304" y="189"/>
                      <a:pt x="304" y="189"/>
                    </a:cubicBezTo>
                    <a:cubicBezTo>
                      <a:pt x="304" y="189"/>
                      <a:pt x="304" y="189"/>
                      <a:pt x="304" y="188"/>
                    </a:cubicBezTo>
                    <a:cubicBezTo>
                      <a:pt x="305" y="188"/>
                      <a:pt x="305" y="187"/>
                      <a:pt x="305" y="187"/>
                    </a:cubicBezTo>
                    <a:cubicBezTo>
                      <a:pt x="305" y="187"/>
                      <a:pt x="305" y="186"/>
                      <a:pt x="305" y="185"/>
                    </a:cubicBezTo>
                    <a:cubicBezTo>
                      <a:pt x="305" y="185"/>
                      <a:pt x="305" y="184"/>
                      <a:pt x="305" y="184"/>
                    </a:cubicBezTo>
                    <a:cubicBezTo>
                      <a:pt x="305" y="183"/>
                      <a:pt x="306" y="183"/>
                      <a:pt x="305" y="183"/>
                    </a:cubicBezTo>
                    <a:cubicBezTo>
                      <a:pt x="305" y="183"/>
                      <a:pt x="305" y="182"/>
                      <a:pt x="304" y="182"/>
                    </a:cubicBezTo>
                    <a:cubicBezTo>
                      <a:pt x="303" y="182"/>
                      <a:pt x="301" y="181"/>
                      <a:pt x="301" y="181"/>
                    </a:cubicBezTo>
                    <a:cubicBezTo>
                      <a:pt x="301" y="181"/>
                      <a:pt x="297" y="179"/>
                      <a:pt x="297" y="179"/>
                    </a:cubicBezTo>
                    <a:cubicBezTo>
                      <a:pt x="297" y="179"/>
                      <a:pt x="296" y="179"/>
                      <a:pt x="296" y="178"/>
                    </a:cubicBezTo>
                    <a:cubicBezTo>
                      <a:pt x="296" y="177"/>
                      <a:pt x="297" y="174"/>
                      <a:pt x="297" y="174"/>
                    </a:cubicBezTo>
                    <a:cubicBezTo>
                      <a:pt x="297" y="174"/>
                      <a:pt x="297" y="173"/>
                      <a:pt x="297" y="173"/>
                    </a:cubicBezTo>
                    <a:cubicBezTo>
                      <a:pt x="298" y="173"/>
                      <a:pt x="299" y="173"/>
                      <a:pt x="299" y="172"/>
                    </a:cubicBezTo>
                    <a:cubicBezTo>
                      <a:pt x="299" y="172"/>
                      <a:pt x="300" y="172"/>
                      <a:pt x="300" y="171"/>
                    </a:cubicBezTo>
                    <a:cubicBezTo>
                      <a:pt x="301" y="171"/>
                      <a:pt x="301" y="169"/>
                      <a:pt x="301" y="169"/>
                    </a:cubicBezTo>
                    <a:cubicBezTo>
                      <a:pt x="302" y="169"/>
                      <a:pt x="303" y="168"/>
                      <a:pt x="304" y="168"/>
                    </a:cubicBezTo>
                    <a:cubicBezTo>
                      <a:pt x="304" y="168"/>
                      <a:pt x="305" y="168"/>
                      <a:pt x="306" y="168"/>
                    </a:cubicBezTo>
                    <a:cubicBezTo>
                      <a:pt x="307" y="168"/>
                      <a:pt x="308" y="168"/>
                      <a:pt x="308" y="168"/>
                    </a:cubicBezTo>
                    <a:cubicBezTo>
                      <a:pt x="308" y="168"/>
                      <a:pt x="309" y="168"/>
                      <a:pt x="308" y="168"/>
                    </a:cubicBezTo>
                    <a:cubicBezTo>
                      <a:pt x="308" y="168"/>
                      <a:pt x="309" y="167"/>
                      <a:pt x="309" y="167"/>
                    </a:cubicBezTo>
                    <a:cubicBezTo>
                      <a:pt x="309" y="167"/>
                      <a:pt x="309" y="167"/>
                      <a:pt x="309" y="166"/>
                    </a:cubicBezTo>
                    <a:cubicBezTo>
                      <a:pt x="308" y="166"/>
                      <a:pt x="308" y="166"/>
                      <a:pt x="308" y="166"/>
                    </a:cubicBezTo>
                    <a:cubicBezTo>
                      <a:pt x="307" y="166"/>
                      <a:pt x="307" y="165"/>
                      <a:pt x="307" y="165"/>
                    </a:cubicBezTo>
                    <a:cubicBezTo>
                      <a:pt x="307" y="164"/>
                      <a:pt x="306" y="163"/>
                      <a:pt x="306" y="163"/>
                    </a:cubicBezTo>
                    <a:cubicBezTo>
                      <a:pt x="306" y="163"/>
                      <a:pt x="304" y="163"/>
                      <a:pt x="304" y="163"/>
                    </a:cubicBezTo>
                    <a:cubicBezTo>
                      <a:pt x="304" y="163"/>
                      <a:pt x="303" y="163"/>
                      <a:pt x="303" y="163"/>
                    </a:cubicBezTo>
                    <a:cubicBezTo>
                      <a:pt x="303" y="162"/>
                      <a:pt x="301" y="161"/>
                      <a:pt x="301" y="160"/>
                    </a:cubicBezTo>
                    <a:cubicBezTo>
                      <a:pt x="300" y="160"/>
                      <a:pt x="299" y="158"/>
                      <a:pt x="299" y="158"/>
                    </a:cubicBezTo>
                    <a:cubicBezTo>
                      <a:pt x="299" y="158"/>
                      <a:pt x="298" y="158"/>
                      <a:pt x="298" y="158"/>
                    </a:cubicBezTo>
                    <a:cubicBezTo>
                      <a:pt x="297" y="158"/>
                      <a:pt x="296" y="158"/>
                      <a:pt x="296" y="157"/>
                    </a:cubicBezTo>
                    <a:cubicBezTo>
                      <a:pt x="296" y="156"/>
                      <a:pt x="296" y="155"/>
                      <a:pt x="297" y="155"/>
                    </a:cubicBezTo>
                    <a:cubicBezTo>
                      <a:pt x="297" y="155"/>
                      <a:pt x="297" y="154"/>
                      <a:pt x="298" y="154"/>
                    </a:cubicBezTo>
                    <a:cubicBezTo>
                      <a:pt x="298" y="153"/>
                      <a:pt x="298" y="152"/>
                      <a:pt x="299" y="152"/>
                    </a:cubicBezTo>
                    <a:cubicBezTo>
                      <a:pt x="299" y="152"/>
                      <a:pt x="301" y="150"/>
                      <a:pt x="301" y="150"/>
                    </a:cubicBezTo>
                    <a:cubicBezTo>
                      <a:pt x="301" y="150"/>
                      <a:pt x="301" y="149"/>
                      <a:pt x="302" y="149"/>
                    </a:cubicBezTo>
                    <a:cubicBezTo>
                      <a:pt x="302" y="149"/>
                      <a:pt x="302" y="149"/>
                      <a:pt x="302" y="149"/>
                    </a:cubicBezTo>
                    <a:cubicBezTo>
                      <a:pt x="302" y="148"/>
                      <a:pt x="302" y="149"/>
                      <a:pt x="301" y="148"/>
                    </a:cubicBezTo>
                    <a:cubicBezTo>
                      <a:pt x="301" y="148"/>
                      <a:pt x="299" y="148"/>
                      <a:pt x="299" y="147"/>
                    </a:cubicBezTo>
                    <a:cubicBezTo>
                      <a:pt x="300" y="146"/>
                      <a:pt x="301" y="146"/>
                      <a:pt x="301" y="147"/>
                    </a:cubicBezTo>
                    <a:cubicBezTo>
                      <a:pt x="302" y="147"/>
                      <a:pt x="305" y="150"/>
                      <a:pt x="305" y="150"/>
                    </a:cubicBezTo>
                    <a:cubicBezTo>
                      <a:pt x="305" y="150"/>
                      <a:pt x="305" y="151"/>
                      <a:pt x="305" y="151"/>
                    </a:cubicBezTo>
                    <a:cubicBezTo>
                      <a:pt x="306" y="150"/>
                      <a:pt x="306" y="150"/>
                      <a:pt x="306" y="151"/>
                    </a:cubicBezTo>
                    <a:cubicBezTo>
                      <a:pt x="307" y="151"/>
                      <a:pt x="307" y="152"/>
                      <a:pt x="307" y="152"/>
                    </a:cubicBezTo>
                    <a:cubicBezTo>
                      <a:pt x="308" y="152"/>
                      <a:pt x="309" y="151"/>
                      <a:pt x="309" y="151"/>
                    </a:cubicBezTo>
                    <a:cubicBezTo>
                      <a:pt x="309" y="151"/>
                      <a:pt x="310" y="151"/>
                      <a:pt x="310" y="151"/>
                    </a:cubicBezTo>
                    <a:cubicBezTo>
                      <a:pt x="310" y="150"/>
                      <a:pt x="309" y="149"/>
                      <a:pt x="309" y="149"/>
                    </a:cubicBezTo>
                    <a:cubicBezTo>
                      <a:pt x="309" y="148"/>
                      <a:pt x="309" y="148"/>
                      <a:pt x="309" y="149"/>
                    </a:cubicBezTo>
                    <a:cubicBezTo>
                      <a:pt x="310" y="149"/>
                      <a:pt x="311" y="150"/>
                      <a:pt x="311" y="151"/>
                    </a:cubicBezTo>
                    <a:cubicBezTo>
                      <a:pt x="311" y="151"/>
                      <a:pt x="311" y="151"/>
                      <a:pt x="311" y="152"/>
                    </a:cubicBezTo>
                    <a:cubicBezTo>
                      <a:pt x="312" y="152"/>
                      <a:pt x="314" y="155"/>
                      <a:pt x="314" y="155"/>
                    </a:cubicBezTo>
                    <a:cubicBezTo>
                      <a:pt x="315" y="155"/>
                      <a:pt x="316" y="155"/>
                      <a:pt x="316" y="155"/>
                    </a:cubicBezTo>
                    <a:cubicBezTo>
                      <a:pt x="317" y="155"/>
                      <a:pt x="318" y="154"/>
                      <a:pt x="319" y="154"/>
                    </a:cubicBezTo>
                    <a:cubicBezTo>
                      <a:pt x="319" y="154"/>
                      <a:pt x="319" y="152"/>
                      <a:pt x="320" y="152"/>
                    </a:cubicBezTo>
                    <a:cubicBezTo>
                      <a:pt x="320" y="153"/>
                      <a:pt x="321" y="155"/>
                      <a:pt x="321" y="155"/>
                    </a:cubicBezTo>
                    <a:cubicBezTo>
                      <a:pt x="321" y="156"/>
                      <a:pt x="321" y="157"/>
                      <a:pt x="321" y="158"/>
                    </a:cubicBezTo>
                    <a:cubicBezTo>
                      <a:pt x="321" y="158"/>
                      <a:pt x="321" y="158"/>
                      <a:pt x="321" y="159"/>
                    </a:cubicBezTo>
                    <a:cubicBezTo>
                      <a:pt x="321" y="159"/>
                      <a:pt x="322" y="163"/>
                      <a:pt x="322" y="164"/>
                    </a:cubicBezTo>
                    <a:cubicBezTo>
                      <a:pt x="321" y="164"/>
                      <a:pt x="321" y="165"/>
                      <a:pt x="321" y="165"/>
                    </a:cubicBezTo>
                    <a:cubicBezTo>
                      <a:pt x="321" y="165"/>
                      <a:pt x="322" y="166"/>
                      <a:pt x="322" y="166"/>
                    </a:cubicBezTo>
                    <a:cubicBezTo>
                      <a:pt x="322" y="166"/>
                      <a:pt x="323" y="166"/>
                      <a:pt x="324" y="166"/>
                    </a:cubicBezTo>
                    <a:cubicBezTo>
                      <a:pt x="324" y="167"/>
                      <a:pt x="326" y="167"/>
                      <a:pt x="326" y="168"/>
                    </a:cubicBezTo>
                    <a:cubicBezTo>
                      <a:pt x="326" y="168"/>
                      <a:pt x="328" y="168"/>
                      <a:pt x="328" y="168"/>
                    </a:cubicBezTo>
                    <a:cubicBezTo>
                      <a:pt x="329" y="168"/>
                      <a:pt x="330" y="169"/>
                      <a:pt x="331" y="169"/>
                    </a:cubicBezTo>
                    <a:cubicBezTo>
                      <a:pt x="331" y="169"/>
                      <a:pt x="332" y="168"/>
                      <a:pt x="333" y="168"/>
                    </a:cubicBezTo>
                    <a:cubicBezTo>
                      <a:pt x="333" y="168"/>
                      <a:pt x="337" y="169"/>
                      <a:pt x="337" y="169"/>
                    </a:cubicBezTo>
                    <a:cubicBezTo>
                      <a:pt x="337" y="169"/>
                      <a:pt x="338" y="169"/>
                      <a:pt x="338" y="168"/>
                    </a:cubicBezTo>
                    <a:cubicBezTo>
                      <a:pt x="338" y="168"/>
                      <a:pt x="340" y="168"/>
                      <a:pt x="340" y="168"/>
                    </a:cubicBezTo>
                    <a:cubicBezTo>
                      <a:pt x="341" y="168"/>
                      <a:pt x="342" y="168"/>
                      <a:pt x="342" y="168"/>
                    </a:cubicBezTo>
                    <a:cubicBezTo>
                      <a:pt x="342" y="168"/>
                      <a:pt x="345" y="169"/>
                      <a:pt x="346" y="169"/>
                    </a:cubicBezTo>
                    <a:cubicBezTo>
                      <a:pt x="347" y="169"/>
                      <a:pt x="349" y="169"/>
                      <a:pt x="349" y="169"/>
                    </a:cubicBezTo>
                    <a:cubicBezTo>
                      <a:pt x="350" y="169"/>
                      <a:pt x="352" y="168"/>
                      <a:pt x="352" y="168"/>
                    </a:cubicBezTo>
                    <a:cubicBezTo>
                      <a:pt x="353" y="168"/>
                      <a:pt x="354" y="168"/>
                      <a:pt x="355" y="168"/>
                    </a:cubicBezTo>
                    <a:cubicBezTo>
                      <a:pt x="355" y="168"/>
                      <a:pt x="359" y="170"/>
                      <a:pt x="359" y="170"/>
                    </a:cubicBezTo>
                    <a:cubicBezTo>
                      <a:pt x="360" y="171"/>
                      <a:pt x="360" y="171"/>
                      <a:pt x="360" y="171"/>
                    </a:cubicBezTo>
                    <a:cubicBezTo>
                      <a:pt x="360" y="171"/>
                      <a:pt x="360" y="171"/>
                      <a:pt x="360" y="172"/>
                    </a:cubicBezTo>
                    <a:cubicBezTo>
                      <a:pt x="361" y="172"/>
                      <a:pt x="361" y="173"/>
                      <a:pt x="361" y="173"/>
                    </a:cubicBezTo>
                    <a:cubicBezTo>
                      <a:pt x="360" y="173"/>
                      <a:pt x="358" y="173"/>
                      <a:pt x="358" y="173"/>
                    </a:cubicBezTo>
                    <a:cubicBezTo>
                      <a:pt x="358" y="173"/>
                      <a:pt x="357" y="173"/>
                      <a:pt x="357" y="173"/>
                    </a:cubicBezTo>
                    <a:cubicBezTo>
                      <a:pt x="357" y="174"/>
                      <a:pt x="356" y="178"/>
                      <a:pt x="356" y="178"/>
                    </a:cubicBezTo>
                    <a:cubicBezTo>
                      <a:pt x="356" y="178"/>
                      <a:pt x="356" y="178"/>
                      <a:pt x="356" y="178"/>
                    </a:cubicBezTo>
                    <a:cubicBezTo>
                      <a:pt x="356" y="179"/>
                      <a:pt x="353" y="181"/>
                      <a:pt x="353" y="181"/>
                    </a:cubicBezTo>
                    <a:cubicBezTo>
                      <a:pt x="353" y="181"/>
                      <a:pt x="353" y="182"/>
                      <a:pt x="352" y="182"/>
                    </a:cubicBezTo>
                    <a:cubicBezTo>
                      <a:pt x="352" y="182"/>
                      <a:pt x="352" y="184"/>
                      <a:pt x="352" y="184"/>
                    </a:cubicBezTo>
                    <a:cubicBezTo>
                      <a:pt x="352" y="184"/>
                      <a:pt x="352" y="185"/>
                      <a:pt x="352" y="184"/>
                    </a:cubicBezTo>
                    <a:cubicBezTo>
                      <a:pt x="351" y="184"/>
                      <a:pt x="350" y="183"/>
                      <a:pt x="350" y="183"/>
                    </a:cubicBezTo>
                    <a:cubicBezTo>
                      <a:pt x="350" y="183"/>
                      <a:pt x="348" y="183"/>
                      <a:pt x="348" y="184"/>
                    </a:cubicBezTo>
                    <a:cubicBezTo>
                      <a:pt x="347" y="184"/>
                      <a:pt x="345" y="185"/>
                      <a:pt x="345" y="185"/>
                    </a:cubicBezTo>
                    <a:cubicBezTo>
                      <a:pt x="345" y="185"/>
                      <a:pt x="345" y="185"/>
                      <a:pt x="345" y="185"/>
                    </a:cubicBezTo>
                    <a:cubicBezTo>
                      <a:pt x="344" y="186"/>
                      <a:pt x="343" y="188"/>
                      <a:pt x="343" y="188"/>
                    </a:cubicBezTo>
                    <a:cubicBezTo>
                      <a:pt x="342" y="189"/>
                      <a:pt x="342" y="189"/>
                      <a:pt x="342" y="189"/>
                    </a:cubicBezTo>
                    <a:cubicBezTo>
                      <a:pt x="342" y="189"/>
                      <a:pt x="342" y="190"/>
                      <a:pt x="342" y="190"/>
                    </a:cubicBezTo>
                    <a:cubicBezTo>
                      <a:pt x="342" y="190"/>
                      <a:pt x="341" y="192"/>
                      <a:pt x="341" y="192"/>
                    </a:cubicBezTo>
                    <a:cubicBezTo>
                      <a:pt x="341" y="193"/>
                      <a:pt x="342" y="194"/>
                      <a:pt x="342" y="195"/>
                    </a:cubicBezTo>
                    <a:cubicBezTo>
                      <a:pt x="342" y="195"/>
                      <a:pt x="343" y="197"/>
                      <a:pt x="343" y="197"/>
                    </a:cubicBezTo>
                    <a:cubicBezTo>
                      <a:pt x="343" y="197"/>
                      <a:pt x="343" y="197"/>
                      <a:pt x="343" y="198"/>
                    </a:cubicBezTo>
                    <a:cubicBezTo>
                      <a:pt x="343" y="198"/>
                      <a:pt x="343" y="198"/>
                      <a:pt x="344" y="199"/>
                    </a:cubicBezTo>
                    <a:cubicBezTo>
                      <a:pt x="344" y="199"/>
                      <a:pt x="344" y="201"/>
                      <a:pt x="344" y="201"/>
                    </a:cubicBezTo>
                    <a:cubicBezTo>
                      <a:pt x="344" y="201"/>
                      <a:pt x="344" y="201"/>
                      <a:pt x="344" y="201"/>
                    </a:cubicBezTo>
                    <a:cubicBezTo>
                      <a:pt x="345" y="201"/>
                      <a:pt x="345" y="201"/>
                      <a:pt x="345" y="200"/>
                    </a:cubicBezTo>
                    <a:cubicBezTo>
                      <a:pt x="345" y="200"/>
                      <a:pt x="345" y="199"/>
                      <a:pt x="345" y="199"/>
                    </a:cubicBezTo>
                    <a:cubicBezTo>
                      <a:pt x="345" y="198"/>
                      <a:pt x="346" y="198"/>
                      <a:pt x="346" y="199"/>
                    </a:cubicBezTo>
                    <a:cubicBezTo>
                      <a:pt x="346" y="199"/>
                      <a:pt x="347" y="201"/>
                      <a:pt x="347" y="201"/>
                    </a:cubicBezTo>
                    <a:cubicBezTo>
                      <a:pt x="347" y="201"/>
                      <a:pt x="347" y="203"/>
                      <a:pt x="348" y="203"/>
                    </a:cubicBezTo>
                    <a:cubicBezTo>
                      <a:pt x="348" y="203"/>
                      <a:pt x="348" y="203"/>
                      <a:pt x="349" y="203"/>
                    </a:cubicBezTo>
                    <a:cubicBezTo>
                      <a:pt x="349" y="203"/>
                      <a:pt x="351" y="202"/>
                      <a:pt x="351" y="202"/>
                    </a:cubicBezTo>
                    <a:cubicBezTo>
                      <a:pt x="351" y="201"/>
                      <a:pt x="351" y="200"/>
                      <a:pt x="351" y="199"/>
                    </a:cubicBezTo>
                    <a:cubicBezTo>
                      <a:pt x="351" y="199"/>
                      <a:pt x="353" y="196"/>
                      <a:pt x="353" y="196"/>
                    </a:cubicBezTo>
                    <a:cubicBezTo>
                      <a:pt x="353" y="196"/>
                      <a:pt x="353" y="195"/>
                      <a:pt x="353" y="195"/>
                    </a:cubicBezTo>
                    <a:cubicBezTo>
                      <a:pt x="353" y="194"/>
                      <a:pt x="353" y="192"/>
                      <a:pt x="353" y="191"/>
                    </a:cubicBezTo>
                    <a:cubicBezTo>
                      <a:pt x="353" y="191"/>
                      <a:pt x="353" y="191"/>
                      <a:pt x="354" y="191"/>
                    </a:cubicBezTo>
                    <a:cubicBezTo>
                      <a:pt x="354" y="192"/>
                      <a:pt x="354" y="192"/>
                      <a:pt x="354" y="192"/>
                    </a:cubicBezTo>
                    <a:cubicBezTo>
                      <a:pt x="355" y="192"/>
                      <a:pt x="355" y="192"/>
                      <a:pt x="355" y="192"/>
                    </a:cubicBezTo>
                    <a:cubicBezTo>
                      <a:pt x="355" y="191"/>
                      <a:pt x="356" y="191"/>
                      <a:pt x="356" y="191"/>
                    </a:cubicBezTo>
                    <a:cubicBezTo>
                      <a:pt x="356" y="191"/>
                      <a:pt x="358" y="191"/>
                      <a:pt x="358" y="191"/>
                    </a:cubicBezTo>
                    <a:cubicBezTo>
                      <a:pt x="358" y="191"/>
                      <a:pt x="358" y="192"/>
                      <a:pt x="358" y="192"/>
                    </a:cubicBezTo>
                    <a:cubicBezTo>
                      <a:pt x="358" y="192"/>
                      <a:pt x="359" y="197"/>
                      <a:pt x="359" y="197"/>
                    </a:cubicBezTo>
                    <a:cubicBezTo>
                      <a:pt x="359" y="197"/>
                      <a:pt x="359" y="198"/>
                      <a:pt x="359" y="198"/>
                    </a:cubicBezTo>
                    <a:cubicBezTo>
                      <a:pt x="359" y="199"/>
                      <a:pt x="359" y="202"/>
                      <a:pt x="360" y="202"/>
                    </a:cubicBezTo>
                    <a:cubicBezTo>
                      <a:pt x="360" y="203"/>
                      <a:pt x="361" y="206"/>
                      <a:pt x="361" y="207"/>
                    </a:cubicBezTo>
                    <a:cubicBezTo>
                      <a:pt x="361" y="207"/>
                      <a:pt x="362" y="207"/>
                      <a:pt x="362" y="208"/>
                    </a:cubicBezTo>
                    <a:cubicBezTo>
                      <a:pt x="362" y="209"/>
                      <a:pt x="362" y="215"/>
                      <a:pt x="362" y="215"/>
                    </a:cubicBezTo>
                    <a:cubicBezTo>
                      <a:pt x="362" y="216"/>
                      <a:pt x="363" y="217"/>
                      <a:pt x="363" y="218"/>
                    </a:cubicBezTo>
                    <a:cubicBezTo>
                      <a:pt x="364" y="217"/>
                      <a:pt x="364" y="217"/>
                      <a:pt x="364" y="217"/>
                    </a:cubicBezTo>
                    <a:cubicBezTo>
                      <a:pt x="364" y="217"/>
                      <a:pt x="364" y="216"/>
                      <a:pt x="366" y="216"/>
                    </a:cubicBezTo>
                    <a:cubicBezTo>
                      <a:pt x="367" y="217"/>
                      <a:pt x="368" y="217"/>
                      <a:pt x="368" y="217"/>
                    </a:cubicBezTo>
                    <a:cubicBezTo>
                      <a:pt x="368" y="217"/>
                      <a:pt x="369" y="218"/>
                      <a:pt x="369" y="217"/>
                    </a:cubicBezTo>
                    <a:cubicBezTo>
                      <a:pt x="369" y="217"/>
                      <a:pt x="371" y="215"/>
                      <a:pt x="371" y="215"/>
                    </a:cubicBezTo>
                    <a:cubicBezTo>
                      <a:pt x="371" y="215"/>
                      <a:pt x="371" y="215"/>
                      <a:pt x="371" y="215"/>
                    </a:cubicBezTo>
                    <a:cubicBezTo>
                      <a:pt x="371" y="214"/>
                      <a:pt x="370" y="209"/>
                      <a:pt x="370" y="206"/>
                    </a:cubicBezTo>
                    <a:cubicBezTo>
                      <a:pt x="370" y="204"/>
                      <a:pt x="370" y="202"/>
                      <a:pt x="371" y="202"/>
                    </a:cubicBezTo>
                    <a:cubicBezTo>
                      <a:pt x="372" y="202"/>
                      <a:pt x="373" y="202"/>
                      <a:pt x="373" y="202"/>
                    </a:cubicBezTo>
                    <a:cubicBezTo>
                      <a:pt x="373" y="202"/>
                      <a:pt x="373" y="202"/>
                      <a:pt x="374" y="202"/>
                    </a:cubicBezTo>
                    <a:cubicBezTo>
                      <a:pt x="374" y="201"/>
                      <a:pt x="374" y="201"/>
                      <a:pt x="374" y="200"/>
                    </a:cubicBezTo>
                    <a:cubicBezTo>
                      <a:pt x="374" y="200"/>
                      <a:pt x="375" y="192"/>
                      <a:pt x="375" y="192"/>
                    </a:cubicBezTo>
                    <a:cubicBezTo>
                      <a:pt x="375" y="192"/>
                      <a:pt x="375" y="192"/>
                      <a:pt x="375" y="191"/>
                    </a:cubicBezTo>
                    <a:cubicBezTo>
                      <a:pt x="375" y="191"/>
                      <a:pt x="374" y="187"/>
                      <a:pt x="374" y="187"/>
                    </a:cubicBezTo>
                    <a:cubicBezTo>
                      <a:pt x="374" y="187"/>
                      <a:pt x="373" y="186"/>
                      <a:pt x="374" y="186"/>
                    </a:cubicBezTo>
                    <a:cubicBezTo>
                      <a:pt x="375" y="186"/>
                      <a:pt x="382" y="187"/>
                      <a:pt x="382" y="187"/>
                    </a:cubicBezTo>
                    <a:cubicBezTo>
                      <a:pt x="382" y="187"/>
                      <a:pt x="383" y="188"/>
                      <a:pt x="383" y="188"/>
                    </a:cubicBezTo>
                    <a:cubicBezTo>
                      <a:pt x="383" y="188"/>
                      <a:pt x="385" y="189"/>
                      <a:pt x="385" y="189"/>
                    </a:cubicBezTo>
                    <a:cubicBezTo>
                      <a:pt x="385" y="189"/>
                      <a:pt x="386" y="189"/>
                      <a:pt x="386" y="189"/>
                    </a:cubicBezTo>
                    <a:cubicBezTo>
                      <a:pt x="386" y="188"/>
                      <a:pt x="390" y="178"/>
                      <a:pt x="390" y="178"/>
                    </a:cubicBezTo>
                    <a:cubicBezTo>
                      <a:pt x="390" y="178"/>
                      <a:pt x="391" y="177"/>
                      <a:pt x="391" y="177"/>
                    </a:cubicBezTo>
                    <a:cubicBezTo>
                      <a:pt x="391" y="177"/>
                      <a:pt x="392" y="176"/>
                      <a:pt x="392" y="175"/>
                    </a:cubicBezTo>
                    <a:cubicBezTo>
                      <a:pt x="393" y="175"/>
                      <a:pt x="395" y="170"/>
                      <a:pt x="394" y="169"/>
                    </a:cubicBezTo>
                    <a:cubicBezTo>
                      <a:pt x="394" y="167"/>
                      <a:pt x="393" y="165"/>
                      <a:pt x="393" y="165"/>
                    </a:cubicBezTo>
                    <a:cubicBezTo>
                      <a:pt x="393" y="165"/>
                      <a:pt x="393" y="165"/>
                      <a:pt x="393" y="164"/>
                    </a:cubicBezTo>
                    <a:cubicBezTo>
                      <a:pt x="393" y="164"/>
                      <a:pt x="394" y="164"/>
                      <a:pt x="394" y="163"/>
                    </a:cubicBezTo>
                    <a:cubicBezTo>
                      <a:pt x="394" y="163"/>
                      <a:pt x="397" y="161"/>
                      <a:pt x="397" y="161"/>
                    </a:cubicBezTo>
                    <a:cubicBezTo>
                      <a:pt x="397" y="161"/>
                      <a:pt x="399" y="160"/>
                      <a:pt x="399" y="160"/>
                    </a:cubicBezTo>
                    <a:cubicBezTo>
                      <a:pt x="399" y="160"/>
                      <a:pt x="399" y="159"/>
                      <a:pt x="399" y="159"/>
                    </a:cubicBezTo>
                    <a:cubicBezTo>
                      <a:pt x="399" y="158"/>
                      <a:pt x="399" y="158"/>
                      <a:pt x="399" y="158"/>
                    </a:cubicBezTo>
                    <a:cubicBezTo>
                      <a:pt x="399" y="157"/>
                      <a:pt x="401" y="155"/>
                      <a:pt x="401" y="154"/>
                    </a:cubicBezTo>
                    <a:cubicBezTo>
                      <a:pt x="401" y="153"/>
                      <a:pt x="400" y="147"/>
                      <a:pt x="400" y="147"/>
                    </a:cubicBezTo>
                    <a:cubicBezTo>
                      <a:pt x="400" y="147"/>
                      <a:pt x="400" y="147"/>
                      <a:pt x="400" y="147"/>
                    </a:cubicBezTo>
                    <a:cubicBezTo>
                      <a:pt x="400" y="146"/>
                      <a:pt x="402" y="145"/>
                      <a:pt x="402" y="145"/>
                    </a:cubicBezTo>
                    <a:cubicBezTo>
                      <a:pt x="402" y="145"/>
                      <a:pt x="402" y="144"/>
                      <a:pt x="402" y="144"/>
                    </a:cubicBezTo>
                    <a:cubicBezTo>
                      <a:pt x="403" y="144"/>
                      <a:pt x="405" y="144"/>
                      <a:pt x="405" y="144"/>
                    </a:cubicBezTo>
                    <a:cubicBezTo>
                      <a:pt x="405" y="144"/>
                      <a:pt x="405" y="143"/>
                      <a:pt x="406" y="143"/>
                    </a:cubicBezTo>
                    <a:cubicBezTo>
                      <a:pt x="406" y="143"/>
                      <a:pt x="410" y="139"/>
                      <a:pt x="410" y="139"/>
                    </a:cubicBezTo>
                    <a:cubicBezTo>
                      <a:pt x="410" y="139"/>
                      <a:pt x="411" y="139"/>
                      <a:pt x="411" y="139"/>
                    </a:cubicBezTo>
                    <a:cubicBezTo>
                      <a:pt x="411" y="139"/>
                      <a:pt x="419" y="135"/>
                      <a:pt x="421" y="134"/>
                    </a:cubicBezTo>
                    <a:cubicBezTo>
                      <a:pt x="422" y="134"/>
                      <a:pt x="424" y="133"/>
                      <a:pt x="425" y="134"/>
                    </a:cubicBezTo>
                    <a:cubicBezTo>
                      <a:pt x="426" y="135"/>
                      <a:pt x="426" y="135"/>
                      <a:pt x="426" y="135"/>
                    </a:cubicBezTo>
                    <a:cubicBezTo>
                      <a:pt x="426" y="136"/>
                      <a:pt x="426" y="136"/>
                      <a:pt x="426" y="136"/>
                    </a:cubicBezTo>
                    <a:cubicBezTo>
                      <a:pt x="427" y="137"/>
                      <a:pt x="429" y="138"/>
                      <a:pt x="429" y="138"/>
                    </a:cubicBezTo>
                    <a:cubicBezTo>
                      <a:pt x="429" y="138"/>
                      <a:pt x="431" y="138"/>
                      <a:pt x="430" y="137"/>
                    </a:cubicBezTo>
                    <a:cubicBezTo>
                      <a:pt x="430" y="136"/>
                      <a:pt x="427" y="131"/>
                      <a:pt x="427" y="131"/>
                    </a:cubicBezTo>
                    <a:cubicBezTo>
                      <a:pt x="427" y="131"/>
                      <a:pt x="426" y="130"/>
                      <a:pt x="427" y="129"/>
                    </a:cubicBezTo>
                    <a:cubicBezTo>
                      <a:pt x="427" y="129"/>
                      <a:pt x="429" y="127"/>
                      <a:pt x="429" y="127"/>
                    </a:cubicBezTo>
                    <a:cubicBezTo>
                      <a:pt x="429" y="127"/>
                      <a:pt x="433" y="124"/>
                      <a:pt x="433" y="124"/>
                    </a:cubicBezTo>
                    <a:cubicBezTo>
                      <a:pt x="433" y="124"/>
                      <a:pt x="434" y="123"/>
                      <a:pt x="434" y="123"/>
                    </a:cubicBezTo>
                    <a:cubicBezTo>
                      <a:pt x="434" y="123"/>
                      <a:pt x="433" y="121"/>
                      <a:pt x="433" y="119"/>
                    </a:cubicBezTo>
                    <a:cubicBezTo>
                      <a:pt x="433" y="119"/>
                      <a:pt x="433" y="119"/>
                      <a:pt x="433" y="119"/>
                    </a:cubicBezTo>
                    <a:cubicBezTo>
                      <a:pt x="433" y="119"/>
                      <a:pt x="429" y="118"/>
                      <a:pt x="428" y="117"/>
                    </a:cubicBezTo>
                    <a:cubicBezTo>
                      <a:pt x="427" y="117"/>
                      <a:pt x="422" y="116"/>
                      <a:pt x="421" y="116"/>
                    </a:cubicBezTo>
                    <a:cubicBezTo>
                      <a:pt x="421" y="116"/>
                      <a:pt x="420" y="116"/>
                      <a:pt x="420" y="117"/>
                    </a:cubicBezTo>
                    <a:cubicBezTo>
                      <a:pt x="419" y="118"/>
                      <a:pt x="418" y="117"/>
                      <a:pt x="418" y="117"/>
                    </a:cubicBezTo>
                    <a:cubicBezTo>
                      <a:pt x="417" y="117"/>
                      <a:pt x="418" y="116"/>
                      <a:pt x="418" y="116"/>
                    </a:cubicBezTo>
                    <a:cubicBezTo>
                      <a:pt x="419" y="115"/>
                      <a:pt x="418" y="115"/>
                      <a:pt x="418" y="115"/>
                    </a:cubicBezTo>
                    <a:cubicBezTo>
                      <a:pt x="418" y="114"/>
                      <a:pt x="419" y="114"/>
                      <a:pt x="419" y="114"/>
                    </a:cubicBezTo>
                    <a:cubicBezTo>
                      <a:pt x="420" y="113"/>
                      <a:pt x="420" y="113"/>
                      <a:pt x="420" y="112"/>
                    </a:cubicBezTo>
                    <a:cubicBezTo>
                      <a:pt x="420" y="112"/>
                      <a:pt x="421" y="112"/>
                      <a:pt x="422" y="111"/>
                    </a:cubicBezTo>
                    <a:cubicBezTo>
                      <a:pt x="423" y="111"/>
                      <a:pt x="421" y="109"/>
                      <a:pt x="421" y="108"/>
                    </a:cubicBezTo>
                    <a:cubicBezTo>
                      <a:pt x="421" y="108"/>
                      <a:pt x="420" y="107"/>
                      <a:pt x="420" y="107"/>
                    </a:cubicBezTo>
                    <a:cubicBezTo>
                      <a:pt x="421" y="106"/>
                      <a:pt x="420" y="106"/>
                      <a:pt x="420" y="106"/>
                    </a:cubicBezTo>
                    <a:cubicBezTo>
                      <a:pt x="420" y="107"/>
                      <a:pt x="417" y="108"/>
                      <a:pt x="416" y="108"/>
                    </a:cubicBezTo>
                    <a:cubicBezTo>
                      <a:pt x="416" y="109"/>
                      <a:pt x="416" y="109"/>
                      <a:pt x="416" y="108"/>
                    </a:cubicBezTo>
                    <a:cubicBezTo>
                      <a:pt x="416" y="107"/>
                      <a:pt x="415" y="106"/>
                      <a:pt x="415" y="106"/>
                    </a:cubicBezTo>
                    <a:cubicBezTo>
                      <a:pt x="415" y="106"/>
                      <a:pt x="415" y="106"/>
                      <a:pt x="416" y="106"/>
                    </a:cubicBezTo>
                    <a:cubicBezTo>
                      <a:pt x="416" y="105"/>
                      <a:pt x="418" y="104"/>
                      <a:pt x="419" y="103"/>
                    </a:cubicBezTo>
                    <a:cubicBezTo>
                      <a:pt x="419" y="102"/>
                      <a:pt x="418" y="102"/>
                      <a:pt x="417" y="102"/>
                    </a:cubicBezTo>
                    <a:cubicBezTo>
                      <a:pt x="416" y="102"/>
                      <a:pt x="416" y="102"/>
                      <a:pt x="415" y="101"/>
                    </a:cubicBezTo>
                    <a:cubicBezTo>
                      <a:pt x="414" y="100"/>
                      <a:pt x="413" y="101"/>
                      <a:pt x="413" y="101"/>
                    </a:cubicBezTo>
                    <a:cubicBezTo>
                      <a:pt x="413" y="101"/>
                      <a:pt x="405" y="106"/>
                      <a:pt x="405" y="106"/>
                    </a:cubicBezTo>
                    <a:cubicBezTo>
                      <a:pt x="404" y="106"/>
                      <a:pt x="404" y="106"/>
                      <a:pt x="404" y="106"/>
                    </a:cubicBezTo>
                    <a:cubicBezTo>
                      <a:pt x="404" y="106"/>
                      <a:pt x="396" y="104"/>
                      <a:pt x="395" y="104"/>
                    </a:cubicBezTo>
                    <a:cubicBezTo>
                      <a:pt x="395" y="103"/>
                      <a:pt x="395" y="103"/>
                      <a:pt x="394" y="102"/>
                    </a:cubicBezTo>
                    <a:cubicBezTo>
                      <a:pt x="393" y="101"/>
                      <a:pt x="389" y="104"/>
                      <a:pt x="388" y="105"/>
                    </a:cubicBezTo>
                    <a:cubicBezTo>
                      <a:pt x="387" y="106"/>
                      <a:pt x="383" y="110"/>
                      <a:pt x="383" y="110"/>
                    </a:cubicBezTo>
                    <a:cubicBezTo>
                      <a:pt x="382" y="110"/>
                      <a:pt x="382" y="110"/>
                      <a:pt x="382" y="110"/>
                    </a:cubicBezTo>
                    <a:cubicBezTo>
                      <a:pt x="382" y="110"/>
                      <a:pt x="379" y="111"/>
                      <a:pt x="378" y="112"/>
                    </a:cubicBezTo>
                    <a:cubicBezTo>
                      <a:pt x="377" y="112"/>
                      <a:pt x="374" y="112"/>
                      <a:pt x="373" y="113"/>
                    </a:cubicBezTo>
                    <a:cubicBezTo>
                      <a:pt x="372" y="113"/>
                      <a:pt x="371" y="116"/>
                      <a:pt x="371" y="117"/>
                    </a:cubicBezTo>
                    <a:cubicBezTo>
                      <a:pt x="370" y="117"/>
                      <a:pt x="370" y="118"/>
                      <a:pt x="370" y="118"/>
                    </a:cubicBezTo>
                    <a:cubicBezTo>
                      <a:pt x="370" y="118"/>
                      <a:pt x="368" y="118"/>
                      <a:pt x="366" y="120"/>
                    </a:cubicBezTo>
                    <a:cubicBezTo>
                      <a:pt x="364" y="121"/>
                      <a:pt x="364" y="123"/>
                      <a:pt x="364" y="123"/>
                    </a:cubicBezTo>
                    <a:cubicBezTo>
                      <a:pt x="365" y="124"/>
                      <a:pt x="364" y="124"/>
                      <a:pt x="364" y="124"/>
                    </a:cubicBezTo>
                    <a:cubicBezTo>
                      <a:pt x="363" y="124"/>
                      <a:pt x="361" y="126"/>
                      <a:pt x="361" y="126"/>
                    </a:cubicBezTo>
                    <a:cubicBezTo>
                      <a:pt x="360" y="126"/>
                      <a:pt x="359" y="126"/>
                      <a:pt x="358" y="126"/>
                    </a:cubicBezTo>
                    <a:cubicBezTo>
                      <a:pt x="358" y="126"/>
                      <a:pt x="351" y="127"/>
                      <a:pt x="348" y="127"/>
                    </a:cubicBezTo>
                    <a:cubicBezTo>
                      <a:pt x="348" y="127"/>
                      <a:pt x="348" y="127"/>
                      <a:pt x="348" y="127"/>
                    </a:cubicBezTo>
                    <a:cubicBezTo>
                      <a:pt x="348" y="128"/>
                      <a:pt x="348" y="129"/>
                      <a:pt x="348" y="130"/>
                    </a:cubicBezTo>
                    <a:cubicBezTo>
                      <a:pt x="348" y="130"/>
                      <a:pt x="349" y="131"/>
                      <a:pt x="349" y="131"/>
                    </a:cubicBezTo>
                    <a:cubicBezTo>
                      <a:pt x="349" y="131"/>
                      <a:pt x="351" y="132"/>
                      <a:pt x="351" y="132"/>
                    </a:cubicBezTo>
                    <a:cubicBezTo>
                      <a:pt x="352" y="132"/>
                      <a:pt x="354" y="133"/>
                      <a:pt x="355" y="133"/>
                    </a:cubicBezTo>
                    <a:cubicBezTo>
                      <a:pt x="355" y="134"/>
                      <a:pt x="355" y="135"/>
                      <a:pt x="355" y="135"/>
                    </a:cubicBezTo>
                    <a:cubicBezTo>
                      <a:pt x="354" y="135"/>
                      <a:pt x="354" y="136"/>
                      <a:pt x="354" y="137"/>
                    </a:cubicBezTo>
                    <a:cubicBezTo>
                      <a:pt x="354" y="137"/>
                      <a:pt x="354" y="138"/>
                      <a:pt x="354" y="138"/>
                    </a:cubicBezTo>
                    <a:cubicBezTo>
                      <a:pt x="354" y="139"/>
                      <a:pt x="355" y="140"/>
                      <a:pt x="355" y="140"/>
                    </a:cubicBezTo>
                    <a:cubicBezTo>
                      <a:pt x="355" y="140"/>
                      <a:pt x="355" y="141"/>
                      <a:pt x="355" y="141"/>
                    </a:cubicBezTo>
                    <a:cubicBezTo>
                      <a:pt x="354" y="141"/>
                      <a:pt x="353" y="142"/>
                      <a:pt x="353" y="142"/>
                    </a:cubicBezTo>
                    <a:cubicBezTo>
                      <a:pt x="353" y="142"/>
                      <a:pt x="352" y="142"/>
                      <a:pt x="352" y="142"/>
                    </a:cubicBezTo>
                    <a:cubicBezTo>
                      <a:pt x="352" y="142"/>
                      <a:pt x="352" y="141"/>
                      <a:pt x="351" y="141"/>
                    </a:cubicBezTo>
                    <a:cubicBezTo>
                      <a:pt x="351" y="142"/>
                      <a:pt x="348" y="142"/>
                      <a:pt x="347" y="142"/>
                    </a:cubicBezTo>
                    <a:cubicBezTo>
                      <a:pt x="345" y="142"/>
                      <a:pt x="340" y="143"/>
                      <a:pt x="339" y="143"/>
                    </a:cubicBezTo>
                    <a:cubicBezTo>
                      <a:pt x="338" y="143"/>
                      <a:pt x="335" y="143"/>
                      <a:pt x="334" y="143"/>
                    </a:cubicBezTo>
                    <a:cubicBezTo>
                      <a:pt x="334" y="142"/>
                      <a:pt x="331" y="142"/>
                      <a:pt x="331" y="142"/>
                    </a:cubicBezTo>
                    <a:cubicBezTo>
                      <a:pt x="331" y="141"/>
                      <a:pt x="330" y="141"/>
                      <a:pt x="330" y="141"/>
                    </a:cubicBezTo>
                    <a:cubicBezTo>
                      <a:pt x="329" y="141"/>
                      <a:pt x="329" y="141"/>
                      <a:pt x="328" y="141"/>
                    </a:cubicBezTo>
                    <a:cubicBezTo>
                      <a:pt x="328" y="141"/>
                      <a:pt x="327" y="142"/>
                      <a:pt x="327" y="142"/>
                    </a:cubicBezTo>
                    <a:cubicBezTo>
                      <a:pt x="326" y="142"/>
                      <a:pt x="325" y="143"/>
                      <a:pt x="324" y="143"/>
                    </a:cubicBezTo>
                    <a:cubicBezTo>
                      <a:pt x="324" y="143"/>
                      <a:pt x="322" y="143"/>
                      <a:pt x="322" y="143"/>
                    </a:cubicBezTo>
                    <a:cubicBezTo>
                      <a:pt x="322" y="143"/>
                      <a:pt x="322" y="144"/>
                      <a:pt x="321" y="144"/>
                    </a:cubicBezTo>
                    <a:cubicBezTo>
                      <a:pt x="321" y="144"/>
                      <a:pt x="320" y="144"/>
                      <a:pt x="320" y="144"/>
                    </a:cubicBezTo>
                    <a:cubicBezTo>
                      <a:pt x="319" y="143"/>
                      <a:pt x="317" y="142"/>
                      <a:pt x="316" y="142"/>
                    </a:cubicBezTo>
                    <a:cubicBezTo>
                      <a:pt x="316" y="142"/>
                      <a:pt x="315" y="141"/>
                      <a:pt x="314" y="142"/>
                    </a:cubicBezTo>
                    <a:cubicBezTo>
                      <a:pt x="313" y="142"/>
                      <a:pt x="313" y="142"/>
                      <a:pt x="313" y="142"/>
                    </a:cubicBezTo>
                    <a:cubicBezTo>
                      <a:pt x="312" y="142"/>
                      <a:pt x="311" y="142"/>
                      <a:pt x="310" y="141"/>
                    </a:cubicBezTo>
                    <a:cubicBezTo>
                      <a:pt x="310" y="141"/>
                      <a:pt x="310" y="140"/>
                      <a:pt x="309" y="140"/>
                    </a:cubicBezTo>
                    <a:cubicBezTo>
                      <a:pt x="309" y="141"/>
                      <a:pt x="309" y="140"/>
                      <a:pt x="308" y="140"/>
                    </a:cubicBezTo>
                    <a:cubicBezTo>
                      <a:pt x="308" y="140"/>
                      <a:pt x="308" y="140"/>
                      <a:pt x="308" y="139"/>
                    </a:cubicBezTo>
                    <a:cubicBezTo>
                      <a:pt x="307" y="139"/>
                      <a:pt x="307" y="138"/>
                      <a:pt x="307" y="138"/>
                    </a:cubicBezTo>
                    <a:cubicBezTo>
                      <a:pt x="307" y="137"/>
                      <a:pt x="306" y="137"/>
                      <a:pt x="306" y="137"/>
                    </a:cubicBezTo>
                    <a:cubicBezTo>
                      <a:pt x="306" y="137"/>
                      <a:pt x="305" y="137"/>
                      <a:pt x="306" y="136"/>
                    </a:cubicBezTo>
                    <a:cubicBezTo>
                      <a:pt x="306" y="136"/>
                      <a:pt x="307" y="135"/>
                      <a:pt x="308" y="135"/>
                    </a:cubicBezTo>
                    <a:cubicBezTo>
                      <a:pt x="308" y="135"/>
                      <a:pt x="308" y="134"/>
                      <a:pt x="308" y="134"/>
                    </a:cubicBezTo>
                    <a:cubicBezTo>
                      <a:pt x="308" y="134"/>
                      <a:pt x="308" y="134"/>
                      <a:pt x="307" y="134"/>
                    </a:cubicBezTo>
                    <a:cubicBezTo>
                      <a:pt x="307" y="133"/>
                      <a:pt x="307" y="133"/>
                      <a:pt x="306" y="132"/>
                    </a:cubicBezTo>
                    <a:cubicBezTo>
                      <a:pt x="306" y="131"/>
                      <a:pt x="306" y="129"/>
                      <a:pt x="307" y="128"/>
                    </a:cubicBezTo>
                    <a:cubicBezTo>
                      <a:pt x="307" y="127"/>
                      <a:pt x="307" y="126"/>
                      <a:pt x="307" y="124"/>
                    </a:cubicBezTo>
                    <a:cubicBezTo>
                      <a:pt x="307" y="122"/>
                      <a:pt x="305" y="122"/>
                      <a:pt x="304" y="122"/>
                    </a:cubicBezTo>
                    <a:cubicBezTo>
                      <a:pt x="302" y="121"/>
                      <a:pt x="298" y="124"/>
                      <a:pt x="297" y="125"/>
                    </a:cubicBezTo>
                    <a:cubicBezTo>
                      <a:pt x="297" y="125"/>
                      <a:pt x="297" y="125"/>
                      <a:pt x="296" y="125"/>
                    </a:cubicBezTo>
                    <a:cubicBezTo>
                      <a:pt x="296" y="126"/>
                      <a:pt x="296" y="127"/>
                      <a:pt x="296" y="128"/>
                    </a:cubicBezTo>
                    <a:cubicBezTo>
                      <a:pt x="296" y="129"/>
                      <a:pt x="294" y="136"/>
                      <a:pt x="294" y="137"/>
                    </a:cubicBezTo>
                    <a:cubicBezTo>
                      <a:pt x="294" y="138"/>
                      <a:pt x="297" y="142"/>
                      <a:pt x="297" y="142"/>
                    </a:cubicBezTo>
                    <a:cubicBezTo>
                      <a:pt x="297" y="143"/>
                      <a:pt x="297" y="143"/>
                      <a:pt x="297" y="143"/>
                    </a:cubicBezTo>
                    <a:cubicBezTo>
                      <a:pt x="297" y="143"/>
                      <a:pt x="295" y="148"/>
                      <a:pt x="295" y="149"/>
                    </a:cubicBezTo>
                    <a:cubicBezTo>
                      <a:pt x="294" y="150"/>
                      <a:pt x="290" y="149"/>
                      <a:pt x="290" y="149"/>
                    </a:cubicBezTo>
                    <a:cubicBezTo>
                      <a:pt x="289" y="149"/>
                      <a:pt x="284" y="149"/>
                      <a:pt x="284" y="149"/>
                    </a:cubicBezTo>
                    <a:cubicBezTo>
                      <a:pt x="283" y="149"/>
                      <a:pt x="282" y="148"/>
                      <a:pt x="281" y="148"/>
                    </a:cubicBezTo>
                    <a:cubicBezTo>
                      <a:pt x="281" y="148"/>
                      <a:pt x="281" y="148"/>
                      <a:pt x="281" y="147"/>
                    </a:cubicBezTo>
                    <a:cubicBezTo>
                      <a:pt x="281" y="147"/>
                      <a:pt x="280" y="146"/>
                      <a:pt x="280" y="146"/>
                    </a:cubicBezTo>
                    <a:cubicBezTo>
                      <a:pt x="280" y="146"/>
                      <a:pt x="279" y="146"/>
                      <a:pt x="279" y="147"/>
                    </a:cubicBezTo>
                    <a:cubicBezTo>
                      <a:pt x="278" y="147"/>
                      <a:pt x="277" y="148"/>
                      <a:pt x="276" y="148"/>
                    </a:cubicBezTo>
                    <a:cubicBezTo>
                      <a:pt x="276" y="148"/>
                      <a:pt x="276" y="148"/>
                      <a:pt x="276" y="148"/>
                    </a:cubicBezTo>
                    <a:cubicBezTo>
                      <a:pt x="272" y="147"/>
                      <a:pt x="272" y="147"/>
                      <a:pt x="272" y="147"/>
                    </a:cubicBezTo>
                    <a:cubicBezTo>
                      <a:pt x="272" y="147"/>
                      <a:pt x="268" y="146"/>
                      <a:pt x="267" y="146"/>
                    </a:cubicBezTo>
                    <a:cubicBezTo>
                      <a:pt x="267" y="145"/>
                      <a:pt x="264" y="146"/>
                      <a:pt x="263" y="146"/>
                    </a:cubicBezTo>
                    <a:cubicBezTo>
                      <a:pt x="262" y="146"/>
                      <a:pt x="262" y="146"/>
                      <a:pt x="262" y="146"/>
                    </a:cubicBezTo>
                    <a:cubicBezTo>
                      <a:pt x="262" y="146"/>
                      <a:pt x="260" y="142"/>
                      <a:pt x="260" y="142"/>
                    </a:cubicBezTo>
                    <a:cubicBezTo>
                      <a:pt x="260" y="142"/>
                      <a:pt x="259" y="142"/>
                      <a:pt x="259" y="142"/>
                    </a:cubicBezTo>
                    <a:cubicBezTo>
                      <a:pt x="259" y="142"/>
                      <a:pt x="256" y="143"/>
                      <a:pt x="255" y="143"/>
                    </a:cubicBezTo>
                    <a:cubicBezTo>
                      <a:pt x="254" y="144"/>
                      <a:pt x="254" y="143"/>
                      <a:pt x="254" y="143"/>
                    </a:cubicBezTo>
                    <a:cubicBezTo>
                      <a:pt x="254" y="143"/>
                      <a:pt x="253" y="142"/>
                      <a:pt x="253" y="142"/>
                    </a:cubicBezTo>
                    <a:cubicBezTo>
                      <a:pt x="252" y="141"/>
                      <a:pt x="249" y="140"/>
                      <a:pt x="249" y="140"/>
                    </a:cubicBezTo>
                    <a:cubicBezTo>
                      <a:pt x="248" y="140"/>
                      <a:pt x="247" y="139"/>
                      <a:pt x="247" y="139"/>
                    </a:cubicBezTo>
                    <a:cubicBezTo>
                      <a:pt x="246" y="139"/>
                      <a:pt x="245" y="139"/>
                      <a:pt x="245" y="138"/>
                    </a:cubicBezTo>
                    <a:cubicBezTo>
                      <a:pt x="244" y="137"/>
                      <a:pt x="244" y="135"/>
                      <a:pt x="244" y="134"/>
                    </a:cubicBezTo>
                    <a:cubicBezTo>
                      <a:pt x="244" y="134"/>
                      <a:pt x="243" y="134"/>
                      <a:pt x="243" y="134"/>
                    </a:cubicBezTo>
                    <a:cubicBezTo>
                      <a:pt x="243" y="134"/>
                      <a:pt x="240" y="132"/>
                      <a:pt x="238" y="132"/>
                    </a:cubicBezTo>
                    <a:cubicBezTo>
                      <a:pt x="237" y="131"/>
                      <a:pt x="235" y="132"/>
                      <a:pt x="234" y="132"/>
                    </a:cubicBezTo>
                    <a:cubicBezTo>
                      <a:pt x="234" y="132"/>
                      <a:pt x="233" y="133"/>
                      <a:pt x="233" y="133"/>
                    </a:cubicBezTo>
                    <a:cubicBezTo>
                      <a:pt x="233" y="134"/>
                      <a:pt x="232" y="133"/>
                      <a:pt x="232" y="133"/>
                    </a:cubicBezTo>
                    <a:cubicBezTo>
                      <a:pt x="232" y="133"/>
                      <a:pt x="229" y="132"/>
                      <a:pt x="229" y="132"/>
                    </a:cubicBezTo>
                    <a:cubicBezTo>
                      <a:pt x="228" y="132"/>
                      <a:pt x="228" y="132"/>
                      <a:pt x="228" y="132"/>
                    </a:cubicBezTo>
                    <a:cubicBezTo>
                      <a:pt x="228" y="132"/>
                      <a:pt x="225" y="133"/>
                      <a:pt x="225" y="134"/>
                    </a:cubicBezTo>
                    <a:cubicBezTo>
                      <a:pt x="225" y="134"/>
                      <a:pt x="224" y="133"/>
                      <a:pt x="223" y="133"/>
                    </a:cubicBezTo>
                    <a:cubicBezTo>
                      <a:pt x="223" y="133"/>
                      <a:pt x="223" y="133"/>
                      <a:pt x="223" y="133"/>
                    </a:cubicBezTo>
                    <a:cubicBezTo>
                      <a:pt x="223" y="133"/>
                      <a:pt x="218" y="131"/>
                      <a:pt x="217" y="131"/>
                    </a:cubicBezTo>
                    <a:cubicBezTo>
                      <a:pt x="217" y="131"/>
                      <a:pt x="216" y="131"/>
                      <a:pt x="216" y="131"/>
                    </a:cubicBezTo>
                    <a:cubicBezTo>
                      <a:pt x="216" y="131"/>
                      <a:pt x="216" y="129"/>
                      <a:pt x="216" y="128"/>
                    </a:cubicBezTo>
                    <a:cubicBezTo>
                      <a:pt x="215" y="128"/>
                      <a:pt x="215" y="128"/>
                      <a:pt x="215" y="128"/>
                    </a:cubicBezTo>
                    <a:cubicBezTo>
                      <a:pt x="215" y="128"/>
                      <a:pt x="209" y="126"/>
                      <a:pt x="208" y="126"/>
                    </a:cubicBezTo>
                    <a:cubicBezTo>
                      <a:pt x="208" y="126"/>
                      <a:pt x="207" y="125"/>
                      <a:pt x="207" y="125"/>
                    </a:cubicBezTo>
                    <a:cubicBezTo>
                      <a:pt x="206" y="125"/>
                      <a:pt x="206" y="125"/>
                      <a:pt x="205" y="125"/>
                    </a:cubicBezTo>
                    <a:cubicBezTo>
                      <a:pt x="204" y="126"/>
                      <a:pt x="203" y="125"/>
                      <a:pt x="203" y="125"/>
                    </a:cubicBezTo>
                    <a:cubicBezTo>
                      <a:pt x="202" y="125"/>
                      <a:pt x="199" y="122"/>
                      <a:pt x="198" y="122"/>
                    </a:cubicBezTo>
                    <a:cubicBezTo>
                      <a:pt x="197" y="122"/>
                      <a:pt x="193" y="118"/>
                      <a:pt x="193" y="117"/>
                    </a:cubicBezTo>
                    <a:cubicBezTo>
                      <a:pt x="193" y="117"/>
                      <a:pt x="192" y="117"/>
                      <a:pt x="191" y="117"/>
                    </a:cubicBezTo>
                    <a:cubicBezTo>
                      <a:pt x="190" y="117"/>
                      <a:pt x="184" y="113"/>
                      <a:pt x="184" y="112"/>
                    </a:cubicBezTo>
                    <a:cubicBezTo>
                      <a:pt x="183" y="112"/>
                      <a:pt x="183" y="113"/>
                      <a:pt x="183" y="113"/>
                    </a:cubicBezTo>
                    <a:cubicBezTo>
                      <a:pt x="183" y="114"/>
                      <a:pt x="183" y="114"/>
                      <a:pt x="183" y="114"/>
                    </a:cubicBezTo>
                    <a:cubicBezTo>
                      <a:pt x="183" y="114"/>
                      <a:pt x="181" y="113"/>
                      <a:pt x="181" y="113"/>
                    </a:cubicBezTo>
                    <a:cubicBezTo>
                      <a:pt x="180" y="112"/>
                      <a:pt x="177" y="111"/>
                      <a:pt x="177" y="110"/>
                    </a:cubicBezTo>
                    <a:cubicBezTo>
                      <a:pt x="176" y="110"/>
                      <a:pt x="177" y="110"/>
                      <a:pt x="177" y="109"/>
                    </a:cubicBezTo>
                    <a:cubicBezTo>
                      <a:pt x="177" y="108"/>
                      <a:pt x="177" y="107"/>
                      <a:pt x="178" y="106"/>
                    </a:cubicBezTo>
                    <a:cubicBezTo>
                      <a:pt x="178" y="105"/>
                      <a:pt x="180" y="103"/>
                      <a:pt x="180" y="102"/>
                    </a:cubicBezTo>
                    <a:cubicBezTo>
                      <a:pt x="180" y="102"/>
                      <a:pt x="180" y="102"/>
                      <a:pt x="180" y="102"/>
                    </a:cubicBezTo>
                    <a:cubicBezTo>
                      <a:pt x="179" y="101"/>
                      <a:pt x="179" y="101"/>
                      <a:pt x="179" y="100"/>
                    </a:cubicBezTo>
                    <a:cubicBezTo>
                      <a:pt x="179" y="99"/>
                      <a:pt x="181" y="98"/>
                      <a:pt x="181" y="97"/>
                    </a:cubicBezTo>
                    <a:cubicBezTo>
                      <a:pt x="182" y="97"/>
                      <a:pt x="182" y="96"/>
                      <a:pt x="182" y="95"/>
                    </a:cubicBezTo>
                    <a:cubicBezTo>
                      <a:pt x="182" y="94"/>
                      <a:pt x="185" y="92"/>
                      <a:pt x="185" y="91"/>
                    </a:cubicBezTo>
                    <a:cubicBezTo>
                      <a:pt x="186" y="91"/>
                      <a:pt x="189" y="89"/>
                      <a:pt x="191" y="88"/>
                    </a:cubicBezTo>
                    <a:cubicBezTo>
                      <a:pt x="191" y="87"/>
                      <a:pt x="191" y="87"/>
                      <a:pt x="191" y="87"/>
                    </a:cubicBezTo>
                    <a:cubicBezTo>
                      <a:pt x="191" y="87"/>
                      <a:pt x="179" y="82"/>
                      <a:pt x="179" y="82"/>
                    </a:cubicBezTo>
                    <a:cubicBezTo>
                      <a:pt x="178" y="82"/>
                      <a:pt x="179" y="81"/>
                      <a:pt x="179" y="79"/>
                    </a:cubicBezTo>
                    <a:cubicBezTo>
                      <a:pt x="180" y="78"/>
                      <a:pt x="176" y="77"/>
                      <a:pt x="175" y="77"/>
                    </a:cubicBezTo>
                    <a:cubicBezTo>
                      <a:pt x="174" y="76"/>
                      <a:pt x="168" y="74"/>
                      <a:pt x="167" y="74"/>
                    </a:cubicBezTo>
                    <a:cubicBezTo>
                      <a:pt x="167" y="74"/>
                      <a:pt x="167" y="73"/>
                      <a:pt x="166" y="73"/>
                    </a:cubicBezTo>
                    <a:cubicBezTo>
                      <a:pt x="166" y="72"/>
                      <a:pt x="164" y="69"/>
                      <a:pt x="163" y="69"/>
                    </a:cubicBezTo>
                    <a:cubicBezTo>
                      <a:pt x="163" y="69"/>
                      <a:pt x="163" y="68"/>
                      <a:pt x="162" y="68"/>
                    </a:cubicBezTo>
                    <a:cubicBezTo>
                      <a:pt x="162" y="67"/>
                      <a:pt x="160" y="69"/>
                      <a:pt x="160" y="69"/>
                    </a:cubicBezTo>
                    <a:cubicBezTo>
                      <a:pt x="159" y="70"/>
                      <a:pt x="159" y="69"/>
                      <a:pt x="159" y="69"/>
                    </a:cubicBezTo>
                    <a:cubicBezTo>
                      <a:pt x="157" y="67"/>
                      <a:pt x="157" y="67"/>
                      <a:pt x="157" y="67"/>
                    </a:cubicBezTo>
                    <a:cubicBezTo>
                      <a:pt x="156" y="65"/>
                      <a:pt x="157" y="61"/>
                      <a:pt x="157" y="61"/>
                    </a:cubicBezTo>
                    <a:cubicBezTo>
                      <a:pt x="157" y="60"/>
                      <a:pt x="157" y="59"/>
                      <a:pt x="157" y="59"/>
                    </a:cubicBezTo>
                    <a:cubicBezTo>
                      <a:pt x="157" y="59"/>
                      <a:pt x="153" y="55"/>
                      <a:pt x="153" y="54"/>
                    </a:cubicBezTo>
                    <a:cubicBezTo>
                      <a:pt x="153" y="54"/>
                      <a:pt x="152" y="51"/>
                      <a:pt x="152" y="50"/>
                    </a:cubicBezTo>
                    <a:cubicBezTo>
                      <a:pt x="152" y="49"/>
                      <a:pt x="152" y="49"/>
                      <a:pt x="152" y="49"/>
                    </a:cubicBezTo>
                    <a:cubicBezTo>
                      <a:pt x="153" y="49"/>
                      <a:pt x="157" y="48"/>
                      <a:pt x="157" y="48"/>
                    </a:cubicBezTo>
                    <a:cubicBezTo>
                      <a:pt x="157" y="48"/>
                      <a:pt x="158" y="48"/>
                      <a:pt x="157" y="49"/>
                    </a:cubicBezTo>
                    <a:cubicBezTo>
                      <a:pt x="157" y="49"/>
                      <a:pt x="158" y="50"/>
                      <a:pt x="158" y="51"/>
                    </a:cubicBezTo>
                    <a:cubicBezTo>
                      <a:pt x="159" y="51"/>
                      <a:pt x="160" y="52"/>
                      <a:pt x="161" y="52"/>
                    </a:cubicBezTo>
                    <a:cubicBezTo>
                      <a:pt x="163" y="52"/>
                      <a:pt x="168" y="47"/>
                      <a:pt x="168" y="46"/>
                    </a:cubicBezTo>
                    <a:cubicBezTo>
                      <a:pt x="168" y="46"/>
                      <a:pt x="168" y="45"/>
                      <a:pt x="168" y="45"/>
                    </a:cubicBezTo>
                    <a:cubicBezTo>
                      <a:pt x="167" y="44"/>
                      <a:pt x="167" y="41"/>
                      <a:pt x="167" y="40"/>
                    </a:cubicBezTo>
                    <a:cubicBezTo>
                      <a:pt x="167" y="39"/>
                      <a:pt x="165" y="38"/>
                      <a:pt x="164" y="38"/>
                    </a:cubicBezTo>
                    <a:cubicBezTo>
                      <a:pt x="163" y="38"/>
                      <a:pt x="161" y="37"/>
                      <a:pt x="161" y="36"/>
                    </a:cubicBezTo>
                    <a:cubicBezTo>
                      <a:pt x="161" y="36"/>
                      <a:pt x="160" y="35"/>
                      <a:pt x="160" y="35"/>
                    </a:cubicBezTo>
                    <a:cubicBezTo>
                      <a:pt x="160" y="35"/>
                      <a:pt x="160" y="35"/>
                      <a:pt x="160" y="3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84" name="Freeform 694">
                <a:extLst>
                  <a:ext uri="{FF2B5EF4-FFF2-40B4-BE49-F238E27FC236}">
                    <a16:creationId xmlns:a16="http://schemas.microsoft.com/office/drawing/2014/main" id="{AC8982EB-C5CF-4DA0-8C9E-E8D9D7C54264}"/>
                  </a:ext>
                </a:extLst>
              </p:cNvPr>
              <p:cNvSpPr>
                <a:spLocks/>
              </p:cNvSpPr>
              <p:nvPr/>
            </p:nvSpPr>
            <p:spPr bwMode="auto">
              <a:xfrm>
                <a:off x="5101" y="1916"/>
                <a:ext cx="53" cy="59"/>
              </a:xfrm>
              <a:custGeom>
                <a:avLst/>
                <a:gdLst>
                  <a:gd name="T0" fmla="*/ 2 w 38"/>
                  <a:gd name="T1" fmla="*/ 8 h 43"/>
                  <a:gd name="T2" fmla="*/ 4 w 38"/>
                  <a:gd name="T3" fmla="*/ 9 h 43"/>
                  <a:gd name="T4" fmla="*/ 3 w 38"/>
                  <a:gd name="T5" fmla="*/ 12 h 43"/>
                  <a:gd name="T6" fmla="*/ 5 w 38"/>
                  <a:gd name="T7" fmla="*/ 16 h 43"/>
                  <a:gd name="T8" fmla="*/ 7 w 38"/>
                  <a:gd name="T9" fmla="*/ 21 h 43"/>
                  <a:gd name="T10" fmla="*/ 10 w 38"/>
                  <a:gd name="T11" fmla="*/ 24 h 43"/>
                  <a:gd name="T12" fmla="*/ 17 w 38"/>
                  <a:gd name="T13" fmla="*/ 27 h 43"/>
                  <a:gd name="T14" fmla="*/ 17 w 38"/>
                  <a:gd name="T15" fmla="*/ 28 h 43"/>
                  <a:gd name="T16" fmla="*/ 15 w 38"/>
                  <a:gd name="T17" fmla="*/ 31 h 43"/>
                  <a:gd name="T18" fmla="*/ 14 w 38"/>
                  <a:gd name="T19" fmla="*/ 32 h 43"/>
                  <a:gd name="T20" fmla="*/ 17 w 38"/>
                  <a:gd name="T21" fmla="*/ 43 h 43"/>
                  <a:gd name="T22" fmla="*/ 17 w 38"/>
                  <a:gd name="T23" fmla="*/ 40 h 43"/>
                  <a:gd name="T24" fmla="*/ 18 w 38"/>
                  <a:gd name="T25" fmla="*/ 39 h 43"/>
                  <a:gd name="T26" fmla="*/ 17 w 38"/>
                  <a:gd name="T27" fmla="*/ 36 h 43"/>
                  <a:gd name="T28" fmla="*/ 16 w 38"/>
                  <a:gd name="T29" fmla="*/ 33 h 43"/>
                  <a:gd name="T30" fmla="*/ 19 w 38"/>
                  <a:gd name="T31" fmla="*/ 33 h 43"/>
                  <a:gd name="T32" fmla="*/ 23 w 38"/>
                  <a:gd name="T33" fmla="*/ 32 h 43"/>
                  <a:gd name="T34" fmla="*/ 26 w 38"/>
                  <a:gd name="T35" fmla="*/ 29 h 43"/>
                  <a:gd name="T36" fmla="*/ 26 w 38"/>
                  <a:gd name="T37" fmla="*/ 26 h 43"/>
                  <a:gd name="T38" fmla="*/ 28 w 38"/>
                  <a:gd name="T39" fmla="*/ 26 h 43"/>
                  <a:gd name="T40" fmla="*/ 31 w 38"/>
                  <a:gd name="T41" fmla="*/ 23 h 43"/>
                  <a:gd name="T42" fmla="*/ 35 w 38"/>
                  <a:gd name="T43" fmla="*/ 17 h 43"/>
                  <a:gd name="T44" fmla="*/ 38 w 38"/>
                  <a:gd name="T45" fmla="*/ 9 h 43"/>
                  <a:gd name="T46" fmla="*/ 37 w 38"/>
                  <a:gd name="T47" fmla="*/ 7 h 43"/>
                  <a:gd name="T48" fmla="*/ 34 w 38"/>
                  <a:gd name="T49" fmla="*/ 9 h 43"/>
                  <a:gd name="T50" fmla="*/ 33 w 38"/>
                  <a:gd name="T51" fmla="*/ 8 h 43"/>
                  <a:gd name="T52" fmla="*/ 32 w 38"/>
                  <a:gd name="T53" fmla="*/ 7 h 43"/>
                  <a:gd name="T54" fmla="*/ 23 w 38"/>
                  <a:gd name="T55" fmla="*/ 1 h 43"/>
                  <a:gd name="T56" fmla="*/ 21 w 38"/>
                  <a:gd name="T57" fmla="*/ 0 h 43"/>
                  <a:gd name="T58" fmla="*/ 16 w 38"/>
                  <a:gd name="T59" fmla="*/ 0 h 43"/>
                  <a:gd name="T60" fmla="*/ 13 w 38"/>
                  <a:gd name="T61" fmla="*/ 2 h 43"/>
                  <a:gd name="T62" fmla="*/ 11 w 38"/>
                  <a:gd name="T63" fmla="*/ 3 h 43"/>
                  <a:gd name="T64" fmla="*/ 8 w 38"/>
                  <a:gd name="T65" fmla="*/ 4 h 43"/>
                  <a:gd name="T66" fmla="*/ 2 w 38"/>
                  <a:gd name="T67" fmla="*/ 7 h 43"/>
                  <a:gd name="T68" fmla="*/ 0 w 38"/>
                  <a:gd name="T69" fmla="*/ 8 h 43"/>
                  <a:gd name="T70" fmla="*/ 2 w 38"/>
                  <a:gd name="T71" fmla="*/ 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 h="43">
                    <a:moveTo>
                      <a:pt x="2" y="8"/>
                    </a:moveTo>
                    <a:cubicBezTo>
                      <a:pt x="3" y="8"/>
                      <a:pt x="4" y="8"/>
                      <a:pt x="4" y="9"/>
                    </a:cubicBezTo>
                    <a:cubicBezTo>
                      <a:pt x="3" y="10"/>
                      <a:pt x="3" y="11"/>
                      <a:pt x="3" y="12"/>
                    </a:cubicBezTo>
                    <a:cubicBezTo>
                      <a:pt x="4" y="13"/>
                      <a:pt x="5" y="16"/>
                      <a:pt x="5" y="16"/>
                    </a:cubicBezTo>
                    <a:cubicBezTo>
                      <a:pt x="5" y="17"/>
                      <a:pt x="7" y="20"/>
                      <a:pt x="7" y="21"/>
                    </a:cubicBezTo>
                    <a:cubicBezTo>
                      <a:pt x="7" y="21"/>
                      <a:pt x="8" y="23"/>
                      <a:pt x="10" y="24"/>
                    </a:cubicBezTo>
                    <a:cubicBezTo>
                      <a:pt x="12" y="25"/>
                      <a:pt x="17" y="27"/>
                      <a:pt x="17" y="27"/>
                    </a:cubicBezTo>
                    <a:cubicBezTo>
                      <a:pt x="17" y="27"/>
                      <a:pt x="18" y="27"/>
                      <a:pt x="17" y="28"/>
                    </a:cubicBezTo>
                    <a:cubicBezTo>
                      <a:pt x="17" y="28"/>
                      <a:pt x="16" y="31"/>
                      <a:pt x="15" y="31"/>
                    </a:cubicBezTo>
                    <a:cubicBezTo>
                      <a:pt x="14" y="31"/>
                      <a:pt x="13" y="32"/>
                      <a:pt x="14" y="32"/>
                    </a:cubicBezTo>
                    <a:cubicBezTo>
                      <a:pt x="14" y="33"/>
                      <a:pt x="16" y="41"/>
                      <a:pt x="17" y="43"/>
                    </a:cubicBezTo>
                    <a:cubicBezTo>
                      <a:pt x="17" y="42"/>
                      <a:pt x="16" y="41"/>
                      <a:pt x="17" y="40"/>
                    </a:cubicBezTo>
                    <a:cubicBezTo>
                      <a:pt x="17" y="39"/>
                      <a:pt x="17" y="39"/>
                      <a:pt x="18" y="39"/>
                    </a:cubicBezTo>
                    <a:cubicBezTo>
                      <a:pt x="19" y="39"/>
                      <a:pt x="17" y="36"/>
                      <a:pt x="17" y="36"/>
                    </a:cubicBezTo>
                    <a:cubicBezTo>
                      <a:pt x="17" y="35"/>
                      <a:pt x="16" y="34"/>
                      <a:pt x="16" y="33"/>
                    </a:cubicBezTo>
                    <a:cubicBezTo>
                      <a:pt x="17" y="33"/>
                      <a:pt x="18" y="33"/>
                      <a:pt x="19" y="33"/>
                    </a:cubicBezTo>
                    <a:cubicBezTo>
                      <a:pt x="19" y="33"/>
                      <a:pt x="22" y="32"/>
                      <a:pt x="23" y="32"/>
                    </a:cubicBezTo>
                    <a:cubicBezTo>
                      <a:pt x="24" y="32"/>
                      <a:pt x="25" y="30"/>
                      <a:pt x="26" y="29"/>
                    </a:cubicBezTo>
                    <a:cubicBezTo>
                      <a:pt x="26" y="29"/>
                      <a:pt x="26" y="26"/>
                      <a:pt x="26" y="26"/>
                    </a:cubicBezTo>
                    <a:cubicBezTo>
                      <a:pt x="26" y="26"/>
                      <a:pt x="27" y="26"/>
                      <a:pt x="28" y="26"/>
                    </a:cubicBezTo>
                    <a:cubicBezTo>
                      <a:pt x="28" y="26"/>
                      <a:pt x="31" y="23"/>
                      <a:pt x="31" y="23"/>
                    </a:cubicBezTo>
                    <a:cubicBezTo>
                      <a:pt x="32" y="22"/>
                      <a:pt x="35" y="17"/>
                      <a:pt x="35" y="17"/>
                    </a:cubicBezTo>
                    <a:cubicBezTo>
                      <a:pt x="36" y="16"/>
                      <a:pt x="38" y="9"/>
                      <a:pt x="38" y="9"/>
                    </a:cubicBezTo>
                    <a:cubicBezTo>
                      <a:pt x="38" y="8"/>
                      <a:pt x="37" y="8"/>
                      <a:pt x="37" y="7"/>
                    </a:cubicBezTo>
                    <a:cubicBezTo>
                      <a:pt x="37" y="7"/>
                      <a:pt x="35" y="8"/>
                      <a:pt x="34" y="9"/>
                    </a:cubicBezTo>
                    <a:cubicBezTo>
                      <a:pt x="34" y="10"/>
                      <a:pt x="33" y="9"/>
                      <a:pt x="33" y="8"/>
                    </a:cubicBezTo>
                    <a:cubicBezTo>
                      <a:pt x="33" y="8"/>
                      <a:pt x="32" y="7"/>
                      <a:pt x="32" y="7"/>
                    </a:cubicBezTo>
                    <a:cubicBezTo>
                      <a:pt x="32" y="7"/>
                      <a:pt x="24" y="1"/>
                      <a:pt x="23" y="1"/>
                    </a:cubicBezTo>
                    <a:cubicBezTo>
                      <a:pt x="22" y="0"/>
                      <a:pt x="21" y="0"/>
                      <a:pt x="21" y="0"/>
                    </a:cubicBezTo>
                    <a:cubicBezTo>
                      <a:pt x="20" y="0"/>
                      <a:pt x="17" y="0"/>
                      <a:pt x="16" y="0"/>
                    </a:cubicBezTo>
                    <a:cubicBezTo>
                      <a:pt x="14" y="0"/>
                      <a:pt x="14" y="1"/>
                      <a:pt x="13" y="2"/>
                    </a:cubicBezTo>
                    <a:cubicBezTo>
                      <a:pt x="12" y="2"/>
                      <a:pt x="11" y="3"/>
                      <a:pt x="11" y="3"/>
                    </a:cubicBezTo>
                    <a:cubicBezTo>
                      <a:pt x="10" y="3"/>
                      <a:pt x="9" y="4"/>
                      <a:pt x="8" y="4"/>
                    </a:cubicBezTo>
                    <a:cubicBezTo>
                      <a:pt x="7" y="5"/>
                      <a:pt x="5" y="5"/>
                      <a:pt x="2" y="7"/>
                    </a:cubicBezTo>
                    <a:cubicBezTo>
                      <a:pt x="2" y="7"/>
                      <a:pt x="1" y="8"/>
                      <a:pt x="0" y="8"/>
                    </a:cubicBezTo>
                    <a:cubicBezTo>
                      <a:pt x="1" y="8"/>
                      <a:pt x="2" y="8"/>
                      <a:pt x="2"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85" name="Freeform 695">
                <a:extLst>
                  <a:ext uri="{FF2B5EF4-FFF2-40B4-BE49-F238E27FC236}">
                    <a16:creationId xmlns:a16="http://schemas.microsoft.com/office/drawing/2014/main" id="{7AD3A108-710C-4D54-BB75-8FC0B5A77618}"/>
                  </a:ext>
                </a:extLst>
              </p:cNvPr>
              <p:cNvSpPr>
                <a:spLocks/>
              </p:cNvSpPr>
              <p:nvPr/>
            </p:nvSpPr>
            <p:spPr bwMode="auto">
              <a:xfrm>
                <a:off x="5768" y="2246"/>
                <a:ext cx="6" cy="4"/>
              </a:xfrm>
              <a:custGeom>
                <a:avLst/>
                <a:gdLst>
                  <a:gd name="T0" fmla="*/ 2 w 4"/>
                  <a:gd name="T1" fmla="*/ 1 h 3"/>
                  <a:gd name="T2" fmla="*/ 4 w 4"/>
                  <a:gd name="T3" fmla="*/ 2 h 3"/>
                  <a:gd name="T4" fmla="*/ 2 w 4"/>
                  <a:gd name="T5" fmla="*/ 1 h 3"/>
                </a:gdLst>
                <a:ahLst/>
                <a:cxnLst>
                  <a:cxn ang="0">
                    <a:pos x="T0" y="T1"/>
                  </a:cxn>
                  <a:cxn ang="0">
                    <a:pos x="T2" y="T3"/>
                  </a:cxn>
                  <a:cxn ang="0">
                    <a:pos x="T4" y="T5"/>
                  </a:cxn>
                </a:cxnLst>
                <a:rect l="0" t="0" r="r" b="b"/>
                <a:pathLst>
                  <a:path w="4" h="3">
                    <a:moveTo>
                      <a:pt x="2" y="1"/>
                    </a:moveTo>
                    <a:cubicBezTo>
                      <a:pt x="0" y="3"/>
                      <a:pt x="2" y="1"/>
                      <a:pt x="4" y="2"/>
                    </a:cubicBezTo>
                    <a:cubicBezTo>
                      <a:pt x="4" y="2"/>
                      <a:pt x="4"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86" name="Freeform 696">
                <a:extLst>
                  <a:ext uri="{FF2B5EF4-FFF2-40B4-BE49-F238E27FC236}">
                    <a16:creationId xmlns:a16="http://schemas.microsoft.com/office/drawing/2014/main" id="{97E97924-A63E-47CC-B778-A1C729C28133}"/>
                  </a:ext>
                </a:extLst>
              </p:cNvPr>
              <p:cNvSpPr>
                <a:spLocks/>
              </p:cNvSpPr>
              <p:nvPr/>
            </p:nvSpPr>
            <p:spPr bwMode="auto">
              <a:xfrm>
                <a:off x="5771" y="2243"/>
                <a:ext cx="3" cy="3"/>
              </a:xfrm>
              <a:custGeom>
                <a:avLst/>
                <a:gdLst>
                  <a:gd name="T0" fmla="*/ 1 w 2"/>
                  <a:gd name="T1" fmla="*/ 0 h 2"/>
                  <a:gd name="T2" fmla="*/ 2 w 2"/>
                  <a:gd name="T3" fmla="*/ 2 h 2"/>
                  <a:gd name="T4" fmla="*/ 1 w 2"/>
                  <a:gd name="T5" fmla="*/ 0 h 2"/>
                </a:gdLst>
                <a:ahLst/>
                <a:cxnLst>
                  <a:cxn ang="0">
                    <a:pos x="T0" y="T1"/>
                  </a:cxn>
                  <a:cxn ang="0">
                    <a:pos x="T2" y="T3"/>
                  </a:cxn>
                  <a:cxn ang="0">
                    <a:pos x="T4" y="T5"/>
                  </a:cxn>
                </a:cxnLst>
                <a:rect l="0" t="0" r="r" b="b"/>
                <a:pathLst>
                  <a:path w="2" h="2">
                    <a:moveTo>
                      <a:pt x="1" y="0"/>
                    </a:moveTo>
                    <a:cubicBezTo>
                      <a:pt x="0" y="1"/>
                      <a:pt x="2" y="2"/>
                      <a:pt x="2" y="2"/>
                    </a:cubicBezTo>
                    <a:cubicBezTo>
                      <a:pt x="2" y="2"/>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87" name="Freeform 697">
                <a:extLst>
                  <a:ext uri="{FF2B5EF4-FFF2-40B4-BE49-F238E27FC236}">
                    <a16:creationId xmlns:a16="http://schemas.microsoft.com/office/drawing/2014/main" id="{436E5F1E-E82A-402D-9939-75BEAF252DAA}"/>
                  </a:ext>
                </a:extLst>
              </p:cNvPr>
              <p:cNvSpPr>
                <a:spLocks/>
              </p:cNvSpPr>
              <p:nvPr/>
            </p:nvSpPr>
            <p:spPr bwMode="auto">
              <a:xfrm>
                <a:off x="5735" y="2265"/>
                <a:ext cx="48" cy="44"/>
              </a:xfrm>
              <a:custGeom>
                <a:avLst/>
                <a:gdLst>
                  <a:gd name="T0" fmla="*/ 1 w 35"/>
                  <a:gd name="T1" fmla="*/ 26 h 32"/>
                  <a:gd name="T2" fmla="*/ 10 w 35"/>
                  <a:gd name="T3" fmla="*/ 30 h 32"/>
                  <a:gd name="T4" fmla="*/ 17 w 35"/>
                  <a:gd name="T5" fmla="*/ 29 h 32"/>
                  <a:gd name="T6" fmla="*/ 19 w 35"/>
                  <a:gd name="T7" fmla="*/ 27 h 32"/>
                  <a:gd name="T8" fmla="*/ 23 w 35"/>
                  <a:gd name="T9" fmla="*/ 25 h 32"/>
                  <a:gd name="T10" fmla="*/ 26 w 35"/>
                  <a:gd name="T11" fmla="*/ 23 h 32"/>
                  <a:gd name="T12" fmla="*/ 27 w 35"/>
                  <a:gd name="T13" fmla="*/ 22 h 32"/>
                  <a:gd name="T14" fmla="*/ 28 w 35"/>
                  <a:gd name="T15" fmla="*/ 19 h 32"/>
                  <a:gd name="T16" fmla="*/ 31 w 35"/>
                  <a:gd name="T17" fmla="*/ 12 h 32"/>
                  <a:gd name="T18" fmla="*/ 33 w 35"/>
                  <a:gd name="T19" fmla="*/ 9 h 32"/>
                  <a:gd name="T20" fmla="*/ 34 w 35"/>
                  <a:gd name="T21" fmla="*/ 9 h 32"/>
                  <a:gd name="T22" fmla="*/ 35 w 35"/>
                  <a:gd name="T23" fmla="*/ 6 h 32"/>
                  <a:gd name="T24" fmla="*/ 32 w 35"/>
                  <a:gd name="T25" fmla="*/ 2 h 32"/>
                  <a:gd name="T26" fmla="*/ 30 w 35"/>
                  <a:gd name="T27" fmla="*/ 1 h 32"/>
                  <a:gd name="T28" fmla="*/ 28 w 35"/>
                  <a:gd name="T29" fmla="*/ 3 h 32"/>
                  <a:gd name="T30" fmla="*/ 23 w 35"/>
                  <a:gd name="T31" fmla="*/ 3 h 32"/>
                  <a:gd name="T32" fmla="*/ 19 w 35"/>
                  <a:gd name="T33" fmla="*/ 4 h 32"/>
                  <a:gd name="T34" fmla="*/ 14 w 35"/>
                  <a:gd name="T35" fmla="*/ 4 h 32"/>
                  <a:gd name="T36" fmla="*/ 11 w 35"/>
                  <a:gd name="T37" fmla="*/ 5 h 32"/>
                  <a:gd name="T38" fmla="*/ 10 w 35"/>
                  <a:gd name="T39" fmla="*/ 6 h 32"/>
                  <a:gd name="T40" fmla="*/ 8 w 35"/>
                  <a:gd name="T41" fmla="*/ 9 h 32"/>
                  <a:gd name="T42" fmla="*/ 3 w 35"/>
                  <a:gd name="T43" fmla="*/ 12 h 32"/>
                  <a:gd name="T44" fmla="*/ 0 w 35"/>
                  <a:gd name="T45" fmla="*/ 17 h 32"/>
                  <a:gd name="T46" fmla="*/ 1 w 35"/>
                  <a:gd name="T47" fmla="*/ 24 h 32"/>
                  <a:gd name="T48" fmla="*/ 1 w 35"/>
                  <a:gd name="T49"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 h="32">
                    <a:moveTo>
                      <a:pt x="1" y="26"/>
                    </a:moveTo>
                    <a:cubicBezTo>
                      <a:pt x="2" y="27"/>
                      <a:pt x="7" y="29"/>
                      <a:pt x="10" y="30"/>
                    </a:cubicBezTo>
                    <a:cubicBezTo>
                      <a:pt x="13" y="31"/>
                      <a:pt x="16" y="32"/>
                      <a:pt x="17" y="29"/>
                    </a:cubicBezTo>
                    <a:cubicBezTo>
                      <a:pt x="18" y="26"/>
                      <a:pt x="18" y="28"/>
                      <a:pt x="19" y="27"/>
                    </a:cubicBezTo>
                    <a:cubicBezTo>
                      <a:pt x="20" y="27"/>
                      <a:pt x="22" y="26"/>
                      <a:pt x="23" y="25"/>
                    </a:cubicBezTo>
                    <a:cubicBezTo>
                      <a:pt x="23" y="24"/>
                      <a:pt x="25" y="24"/>
                      <a:pt x="26" y="23"/>
                    </a:cubicBezTo>
                    <a:cubicBezTo>
                      <a:pt x="27" y="23"/>
                      <a:pt x="27" y="23"/>
                      <a:pt x="27" y="22"/>
                    </a:cubicBezTo>
                    <a:cubicBezTo>
                      <a:pt x="28" y="21"/>
                      <a:pt x="28" y="23"/>
                      <a:pt x="28" y="19"/>
                    </a:cubicBezTo>
                    <a:cubicBezTo>
                      <a:pt x="29" y="16"/>
                      <a:pt x="30" y="13"/>
                      <a:pt x="31" y="12"/>
                    </a:cubicBezTo>
                    <a:cubicBezTo>
                      <a:pt x="32" y="10"/>
                      <a:pt x="33" y="8"/>
                      <a:pt x="33" y="9"/>
                    </a:cubicBezTo>
                    <a:cubicBezTo>
                      <a:pt x="33" y="11"/>
                      <a:pt x="33" y="10"/>
                      <a:pt x="34" y="9"/>
                    </a:cubicBezTo>
                    <a:cubicBezTo>
                      <a:pt x="35" y="9"/>
                      <a:pt x="35" y="9"/>
                      <a:pt x="35" y="6"/>
                    </a:cubicBezTo>
                    <a:cubicBezTo>
                      <a:pt x="35" y="4"/>
                      <a:pt x="33" y="3"/>
                      <a:pt x="32" y="2"/>
                    </a:cubicBezTo>
                    <a:cubicBezTo>
                      <a:pt x="31" y="1"/>
                      <a:pt x="30" y="0"/>
                      <a:pt x="30" y="1"/>
                    </a:cubicBezTo>
                    <a:cubicBezTo>
                      <a:pt x="29" y="3"/>
                      <a:pt x="30" y="4"/>
                      <a:pt x="28" y="3"/>
                    </a:cubicBezTo>
                    <a:cubicBezTo>
                      <a:pt x="26" y="3"/>
                      <a:pt x="23" y="2"/>
                      <a:pt x="23" y="3"/>
                    </a:cubicBezTo>
                    <a:cubicBezTo>
                      <a:pt x="22" y="4"/>
                      <a:pt x="21" y="4"/>
                      <a:pt x="19" y="4"/>
                    </a:cubicBezTo>
                    <a:cubicBezTo>
                      <a:pt x="18" y="4"/>
                      <a:pt x="15" y="3"/>
                      <a:pt x="14" y="4"/>
                    </a:cubicBezTo>
                    <a:cubicBezTo>
                      <a:pt x="13" y="5"/>
                      <a:pt x="13" y="5"/>
                      <a:pt x="11" y="5"/>
                    </a:cubicBezTo>
                    <a:cubicBezTo>
                      <a:pt x="10" y="5"/>
                      <a:pt x="9" y="5"/>
                      <a:pt x="10" y="6"/>
                    </a:cubicBezTo>
                    <a:cubicBezTo>
                      <a:pt x="10" y="7"/>
                      <a:pt x="9" y="8"/>
                      <a:pt x="8" y="9"/>
                    </a:cubicBezTo>
                    <a:cubicBezTo>
                      <a:pt x="7" y="10"/>
                      <a:pt x="5" y="11"/>
                      <a:pt x="3" y="12"/>
                    </a:cubicBezTo>
                    <a:cubicBezTo>
                      <a:pt x="3" y="12"/>
                      <a:pt x="0" y="13"/>
                      <a:pt x="0" y="17"/>
                    </a:cubicBezTo>
                    <a:cubicBezTo>
                      <a:pt x="0" y="22"/>
                      <a:pt x="1" y="23"/>
                      <a:pt x="1" y="24"/>
                    </a:cubicBezTo>
                    <a:cubicBezTo>
                      <a:pt x="1" y="25"/>
                      <a:pt x="0" y="25"/>
                      <a:pt x="1" y="2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88" name="Freeform 698">
                <a:extLst>
                  <a:ext uri="{FF2B5EF4-FFF2-40B4-BE49-F238E27FC236}">
                    <a16:creationId xmlns:a16="http://schemas.microsoft.com/office/drawing/2014/main" id="{0ABD6EFD-5C6F-4AD8-86D3-3E36DF254084}"/>
                  </a:ext>
                </a:extLst>
              </p:cNvPr>
              <p:cNvSpPr>
                <a:spLocks/>
              </p:cNvSpPr>
              <p:nvPr/>
            </p:nvSpPr>
            <p:spPr bwMode="auto">
              <a:xfrm>
                <a:off x="5934" y="2172"/>
                <a:ext cx="3" cy="4"/>
              </a:xfrm>
              <a:custGeom>
                <a:avLst/>
                <a:gdLst>
                  <a:gd name="T0" fmla="*/ 2 w 2"/>
                  <a:gd name="T1" fmla="*/ 1 h 3"/>
                  <a:gd name="T2" fmla="*/ 0 w 2"/>
                  <a:gd name="T3" fmla="*/ 2 h 3"/>
                  <a:gd name="T4" fmla="*/ 2 w 2"/>
                  <a:gd name="T5" fmla="*/ 1 h 3"/>
                </a:gdLst>
                <a:ahLst/>
                <a:cxnLst>
                  <a:cxn ang="0">
                    <a:pos x="T0" y="T1"/>
                  </a:cxn>
                  <a:cxn ang="0">
                    <a:pos x="T2" y="T3"/>
                  </a:cxn>
                  <a:cxn ang="0">
                    <a:pos x="T4" y="T5"/>
                  </a:cxn>
                </a:cxnLst>
                <a:rect l="0" t="0" r="r" b="b"/>
                <a:pathLst>
                  <a:path w="2" h="3">
                    <a:moveTo>
                      <a:pt x="2" y="1"/>
                    </a:moveTo>
                    <a:cubicBezTo>
                      <a:pt x="1" y="0"/>
                      <a:pt x="0" y="2"/>
                      <a:pt x="0" y="2"/>
                    </a:cubicBezTo>
                    <a:cubicBezTo>
                      <a:pt x="0" y="2"/>
                      <a:pt x="2" y="3"/>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89" name="Freeform 699">
                <a:extLst>
                  <a:ext uri="{FF2B5EF4-FFF2-40B4-BE49-F238E27FC236}">
                    <a16:creationId xmlns:a16="http://schemas.microsoft.com/office/drawing/2014/main" id="{9E43B6CE-7E40-4909-990C-102236ED2E85}"/>
                  </a:ext>
                </a:extLst>
              </p:cNvPr>
              <p:cNvSpPr>
                <a:spLocks/>
              </p:cNvSpPr>
              <p:nvPr/>
            </p:nvSpPr>
            <p:spPr bwMode="auto">
              <a:xfrm>
                <a:off x="5929" y="2172"/>
                <a:ext cx="4" cy="2"/>
              </a:xfrm>
              <a:custGeom>
                <a:avLst/>
                <a:gdLst>
                  <a:gd name="T0" fmla="*/ 1 w 3"/>
                  <a:gd name="T1" fmla="*/ 0 h 2"/>
                  <a:gd name="T2" fmla="*/ 1 w 3"/>
                  <a:gd name="T3" fmla="*/ 2 h 2"/>
                  <a:gd name="T4" fmla="*/ 1 w 3"/>
                  <a:gd name="T5" fmla="*/ 0 h 2"/>
                </a:gdLst>
                <a:ahLst/>
                <a:cxnLst>
                  <a:cxn ang="0">
                    <a:pos x="T0" y="T1"/>
                  </a:cxn>
                  <a:cxn ang="0">
                    <a:pos x="T2" y="T3"/>
                  </a:cxn>
                  <a:cxn ang="0">
                    <a:pos x="T4" y="T5"/>
                  </a:cxn>
                </a:cxnLst>
                <a:rect l="0" t="0" r="r" b="b"/>
                <a:pathLst>
                  <a:path w="3" h="2">
                    <a:moveTo>
                      <a:pt x="1" y="0"/>
                    </a:moveTo>
                    <a:cubicBezTo>
                      <a:pt x="0" y="0"/>
                      <a:pt x="1" y="1"/>
                      <a:pt x="1" y="2"/>
                    </a:cubicBezTo>
                    <a:cubicBezTo>
                      <a:pt x="1" y="2"/>
                      <a:pt x="3"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90" name="Freeform 700">
                <a:extLst>
                  <a:ext uri="{FF2B5EF4-FFF2-40B4-BE49-F238E27FC236}">
                    <a16:creationId xmlns:a16="http://schemas.microsoft.com/office/drawing/2014/main" id="{2417312F-6EF2-4662-97B2-2A175B1BC38F}"/>
                  </a:ext>
                </a:extLst>
              </p:cNvPr>
              <p:cNvSpPr>
                <a:spLocks/>
              </p:cNvSpPr>
              <p:nvPr/>
            </p:nvSpPr>
            <p:spPr bwMode="auto">
              <a:xfrm>
                <a:off x="5963" y="2147"/>
                <a:ext cx="2" cy="5"/>
              </a:xfrm>
              <a:custGeom>
                <a:avLst/>
                <a:gdLst>
                  <a:gd name="T0" fmla="*/ 0 w 1"/>
                  <a:gd name="T1" fmla="*/ 2 h 4"/>
                  <a:gd name="T2" fmla="*/ 0 w 1"/>
                  <a:gd name="T3" fmla="*/ 4 h 4"/>
                  <a:gd name="T4" fmla="*/ 1 w 1"/>
                  <a:gd name="T5" fmla="*/ 3 h 4"/>
                  <a:gd name="T6" fmla="*/ 0 w 1"/>
                  <a:gd name="T7" fmla="*/ 2 h 4"/>
                </a:gdLst>
                <a:ahLst/>
                <a:cxnLst>
                  <a:cxn ang="0">
                    <a:pos x="T0" y="T1"/>
                  </a:cxn>
                  <a:cxn ang="0">
                    <a:pos x="T2" y="T3"/>
                  </a:cxn>
                  <a:cxn ang="0">
                    <a:pos x="T4" y="T5"/>
                  </a:cxn>
                  <a:cxn ang="0">
                    <a:pos x="T6" y="T7"/>
                  </a:cxn>
                </a:cxnLst>
                <a:rect l="0" t="0" r="r" b="b"/>
                <a:pathLst>
                  <a:path w="1" h="4">
                    <a:moveTo>
                      <a:pt x="0" y="2"/>
                    </a:moveTo>
                    <a:cubicBezTo>
                      <a:pt x="0" y="3"/>
                      <a:pt x="0" y="4"/>
                      <a:pt x="0" y="4"/>
                    </a:cubicBezTo>
                    <a:cubicBezTo>
                      <a:pt x="0" y="4"/>
                      <a:pt x="1" y="4"/>
                      <a:pt x="1" y="3"/>
                    </a:cubicBezTo>
                    <a:cubicBezTo>
                      <a:pt x="1" y="2"/>
                      <a:pt x="0"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91" name="Freeform 701">
                <a:extLst>
                  <a:ext uri="{FF2B5EF4-FFF2-40B4-BE49-F238E27FC236}">
                    <a16:creationId xmlns:a16="http://schemas.microsoft.com/office/drawing/2014/main" id="{CEB2981D-2114-4F05-8875-991B5AEB0755}"/>
                  </a:ext>
                </a:extLst>
              </p:cNvPr>
              <p:cNvSpPr>
                <a:spLocks/>
              </p:cNvSpPr>
              <p:nvPr/>
            </p:nvSpPr>
            <p:spPr bwMode="auto">
              <a:xfrm>
                <a:off x="5970" y="2156"/>
                <a:ext cx="39" cy="75"/>
              </a:xfrm>
              <a:custGeom>
                <a:avLst/>
                <a:gdLst>
                  <a:gd name="T0" fmla="*/ 27 w 28"/>
                  <a:gd name="T1" fmla="*/ 3 h 54"/>
                  <a:gd name="T2" fmla="*/ 22 w 28"/>
                  <a:gd name="T3" fmla="*/ 0 h 54"/>
                  <a:gd name="T4" fmla="*/ 20 w 28"/>
                  <a:gd name="T5" fmla="*/ 1 h 54"/>
                  <a:gd name="T6" fmla="*/ 14 w 28"/>
                  <a:gd name="T7" fmla="*/ 4 h 54"/>
                  <a:gd name="T8" fmla="*/ 12 w 28"/>
                  <a:gd name="T9" fmla="*/ 7 h 54"/>
                  <a:gd name="T10" fmla="*/ 9 w 28"/>
                  <a:gd name="T11" fmla="*/ 11 h 54"/>
                  <a:gd name="T12" fmla="*/ 1 w 28"/>
                  <a:gd name="T13" fmla="*/ 28 h 54"/>
                  <a:gd name="T14" fmla="*/ 1 w 28"/>
                  <a:gd name="T15" fmla="*/ 37 h 54"/>
                  <a:gd name="T16" fmla="*/ 4 w 28"/>
                  <a:gd name="T17" fmla="*/ 43 h 54"/>
                  <a:gd name="T18" fmla="*/ 8 w 28"/>
                  <a:gd name="T19" fmla="*/ 49 h 54"/>
                  <a:gd name="T20" fmla="*/ 11 w 28"/>
                  <a:gd name="T21" fmla="*/ 52 h 54"/>
                  <a:gd name="T22" fmla="*/ 12 w 28"/>
                  <a:gd name="T23" fmla="*/ 51 h 54"/>
                  <a:gd name="T24" fmla="*/ 15 w 28"/>
                  <a:gd name="T25" fmla="*/ 40 h 54"/>
                  <a:gd name="T26" fmla="*/ 25 w 28"/>
                  <a:gd name="T27" fmla="*/ 16 h 54"/>
                  <a:gd name="T28" fmla="*/ 27 w 28"/>
                  <a:gd name="T29" fmla="*/ 5 h 54"/>
                  <a:gd name="T30" fmla="*/ 27 w 28"/>
                  <a:gd name="T31"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54">
                    <a:moveTo>
                      <a:pt x="27" y="3"/>
                    </a:moveTo>
                    <a:cubicBezTo>
                      <a:pt x="26" y="2"/>
                      <a:pt x="22" y="1"/>
                      <a:pt x="22" y="0"/>
                    </a:cubicBezTo>
                    <a:cubicBezTo>
                      <a:pt x="21" y="0"/>
                      <a:pt x="21" y="0"/>
                      <a:pt x="20" y="1"/>
                    </a:cubicBezTo>
                    <a:cubicBezTo>
                      <a:pt x="18" y="2"/>
                      <a:pt x="15" y="4"/>
                      <a:pt x="14" y="4"/>
                    </a:cubicBezTo>
                    <a:cubicBezTo>
                      <a:pt x="13" y="5"/>
                      <a:pt x="12" y="5"/>
                      <a:pt x="12" y="7"/>
                    </a:cubicBezTo>
                    <a:cubicBezTo>
                      <a:pt x="12" y="8"/>
                      <a:pt x="11" y="10"/>
                      <a:pt x="9" y="11"/>
                    </a:cubicBezTo>
                    <a:cubicBezTo>
                      <a:pt x="8" y="13"/>
                      <a:pt x="1" y="23"/>
                      <a:pt x="1" y="28"/>
                    </a:cubicBezTo>
                    <a:cubicBezTo>
                      <a:pt x="1" y="33"/>
                      <a:pt x="0" y="34"/>
                      <a:pt x="1" y="37"/>
                    </a:cubicBezTo>
                    <a:cubicBezTo>
                      <a:pt x="2" y="40"/>
                      <a:pt x="3" y="41"/>
                      <a:pt x="4" y="43"/>
                    </a:cubicBezTo>
                    <a:cubicBezTo>
                      <a:pt x="6" y="45"/>
                      <a:pt x="7" y="47"/>
                      <a:pt x="8" y="49"/>
                    </a:cubicBezTo>
                    <a:cubicBezTo>
                      <a:pt x="9" y="51"/>
                      <a:pt x="10" y="52"/>
                      <a:pt x="11" y="52"/>
                    </a:cubicBezTo>
                    <a:cubicBezTo>
                      <a:pt x="11" y="52"/>
                      <a:pt x="11" y="54"/>
                      <a:pt x="12" y="51"/>
                    </a:cubicBezTo>
                    <a:cubicBezTo>
                      <a:pt x="12" y="48"/>
                      <a:pt x="13" y="44"/>
                      <a:pt x="15" y="40"/>
                    </a:cubicBezTo>
                    <a:cubicBezTo>
                      <a:pt x="17" y="37"/>
                      <a:pt x="23" y="25"/>
                      <a:pt x="25" y="16"/>
                    </a:cubicBezTo>
                    <a:cubicBezTo>
                      <a:pt x="27" y="6"/>
                      <a:pt x="27" y="6"/>
                      <a:pt x="27" y="5"/>
                    </a:cubicBezTo>
                    <a:cubicBezTo>
                      <a:pt x="28" y="4"/>
                      <a:pt x="28" y="4"/>
                      <a:pt x="27"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92" name="Freeform 702">
                <a:extLst>
                  <a:ext uri="{FF2B5EF4-FFF2-40B4-BE49-F238E27FC236}">
                    <a16:creationId xmlns:a16="http://schemas.microsoft.com/office/drawing/2014/main" id="{F9F0B679-DA4E-4BF8-9132-FA80546D138E}"/>
                  </a:ext>
                </a:extLst>
              </p:cNvPr>
              <p:cNvSpPr>
                <a:spLocks/>
              </p:cNvSpPr>
              <p:nvPr/>
            </p:nvSpPr>
            <p:spPr bwMode="auto">
              <a:xfrm>
                <a:off x="5016" y="1472"/>
                <a:ext cx="1256" cy="794"/>
              </a:xfrm>
              <a:custGeom>
                <a:avLst/>
                <a:gdLst>
                  <a:gd name="T0" fmla="*/ 153 w 908"/>
                  <a:gd name="T1" fmla="*/ 435 h 579"/>
                  <a:gd name="T2" fmla="*/ 186 w 908"/>
                  <a:gd name="T3" fmla="*/ 453 h 579"/>
                  <a:gd name="T4" fmla="*/ 227 w 908"/>
                  <a:gd name="T5" fmla="*/ 466 h 579"/>
                  <a:gd name="T6" fmla="*/ 258 w 908"/>
                  <a:gd name="T7" fmla="*/ 455 h 579"/>
                  <a:gd name="T8" fmla="*/ 297 w 908"/>
                  <a:gd name="T9" fmla="*/ 444 h 579"/>
                  <a:gd name="T10" fmla="*/ 335 w 908"/>
                  <a:gd name="T11" fmla="*/ 440 h 579"/>
                  <a:gd name="T12" fmla="*/ 353 w 908"/>
                  <a:gd name="T13" fmla="*/ 451 h 579"/>
                  <a:gd name="T14" fmla="*/ 373 w 908"/>
                  <a:gd name="T15" fmla="*/ 481 h 579"/>
                  <a:gd name="T16" fmla="*/ 356 w 908"/>
                  <a:gd name="T17" fmla="*/ 512 h 579"/>
                  <a:gd name="T18" fmla="*/ 376 w 908"/>
                  <a:gd name="T19" fmla="*/ 532 h 579"/>
                  <a:gd name="T20" fmla="*/ 406 w 908"/>
                  <a:gd name="T21" fmla="*/ 555 h 579"/>
                  <a:gd name="T22" fmla="*/ 416 w 908"/>
                  <a:gd name="T23" fmla="*/ 545 h 579"/>
                  <a:gd name="T24" fmla="*/ 439 w 908"/>
                  <a:gd name="T25" fmla="*/ 540 h 579"/>
                  <a:gd name="T26" fmla="*/ 466 w 908"/>
                  <a:gd name="T27" fmla="*/ 531 h 579"/>
                  <a:gd name="T28" fmla="*/ 491 w 908"/>
                  <a:gd name="T29" fmla="*/ 549 h 579"/>
                  <a:gd name="T30" fmla="*/ 525 w 908"/>
                  <a:gd name="T31" fmla="*/ 556 h 579"/>
                  <a:gd name="T32" fmla="*/ 546 w 908"/>
                  <a:gd name="T33" fmla="*/ 569 h 579"/>
                  <a:gd name="T34" fmla="*/ 583 w 908"/>
                  <a:gd name="T35" fmla="*/ 551 h 579"/>
                  <a:gd name="T36" fmla="*/ 599 w 908"/>
                  <a:gd name="T37" fmla="*/ 543 h 579"/>
                  <a:gd name="T38" fmla="*/ 623 w 908"/>
                  <a:gd name="T39" fmla="*/ 538 h 579"/>
                  <a:gd name="T40" fmla="*/ 653 w 908"/>
                  <a:gd name="T41" fmla="*/ 523 h 579"/>
                  <a:gd name="T42" fmla="*/ 677 w 908"/>
                  <a:gd name="T43" fmla="*/ 497 h 579"/>
                  <a:gd name="T44" fmla="*/ 692 w 908"/>
                  <a:gd name="T45" fmla="*/ 472 h 579"/>
                  <a:gd name="T46" fmla="*/ 713 w 908"/>
                  <a:gd name="T47" fmla="*/ 440 h 579"/>
                  <a:gd name="T48" fmla="*/ 709 w 908"/>
                  <a:gd name="T49" fmla="*/ 410 h 579"/>
                  <a:gd name="T50" fmla="*/ 700 w 908"/>
                  <a:gd name="T51" fmla="*/ 368 h 579"/>
                  <a:gd name="T52" fmla="*/ 699 w 908"/>
                  <a:gd name="T53" fmla="*/ 320 h 579"/>
                  <a:gd name="T54" fmla="*/ 715 w 908"/>
                  <a:gd name="T55" fmla="*/ 299 h 579"/>
                  <a:gd name="T56" fmla="*/ 659 w 908"/>
                  <a:gd name="T57" fmla="*/ 286 h 579"/>
                  <a:gd name="T58" fmla="*/ 722 w 908"/>
                  <a:gd name="T59" fmla="*/ 246 h 579"/>
                  <a:gd name="T60" fmla="*/ 708 w 908"/>
                  <a:gd name="T61" fmla="*/ 276 h 579"/>
                  <a:gd name="T62" fmla="*/ 799 w 908"/>
                  <a:gd name="T63" fmla="*/ 229 h 579"/>
                  <a:gd name="T64" fmla="*/ 839 w 908"/>
                  <a:gd name="T65" fmla="*/ 202 h 579"/>
                  <a:gd name="T66" fmla="*/ 852 w 908"/>
                  <a:gd name="T67" fmla="*/ 167 h 579"/>
                  <a:gd name="T68" fmla="*/ 889 w 908"/>
                  <a:gd name="T69" fmla="*/ 149 h 579"/>
                  <a:gd name="T70" fmla="*/ 898 w 908"/>
                  <a:gd name="T71" fmla="*/ 103 h 579"/>
                  <a:gd name="T72" fmla="*/ 845 w 908"/>
                  <a:gd name="T73" fmla="*/ 97 h 579"/>
                  <a:gd name="T74" fmla="*/ 800 w 908"/>
                  <a:gd name="T75" fmla="*/ 72 h 579"/>
                  <a:gd name="T76" fmla="*/ 777 w 908"/>
                  <a:gd name="T77" fmla="*/ 20 h 579"/>
                  <a:gd name="T78" fmla="*/ 710 w 908"/>
                  <a:gd name="T79" fmla="*/ 5 h 579"/>
                  <a:gd name="T80" fmla="*/ 699 w 908"/>
                  <a:gd name="T81" fmla="*/ 31 h 579"/>
                  <a:gd name="T82" fmla="*/ 626 w 908"/>
                  <a:gd name="T83" fmla="*/ 100 h 579"/>
                  <a:gd name="T84" fmla="*/ 665 w 908"/>
                  <a:gd name="T85" fmla="*/ 109 h 579"/>
                  <a:gd name="T86" fmla="*/ 637 w 908"/>
                  <a:gd name="T87" fmla="*/ 142 h 579"/>
                  <a:gd name="T88" fmla="*/ 569 w 908"/>
                  <a:gd name="T89" fmla="*/ 164 h 579"/>
                  <a:gd name="T90" fmla="*/ 513 w 908"/>
                  <a:gd name="T91" fmla="*/ 211 h 579"/>
                  <a:gd name="T92" fmla="*/ 418 w 908"/>
                  <a:gd name="T93" fmla="*/ 212 h 579"/>
                  <a:gd name="T94" fmla="*/ 326 w 908"/>
                  <a:gd name="T95" fmla="*/ 185 h 579"/>
                  <a:gd name="T96" fmla="*/ 253 w 908"/>
                  <a:gd name="T97" fmla="*/ 156 h 579"/>
                  <a:gd name="T98" fmla="*/ 227 w 908"/>
                  <a:gd name="T99" fmla="*/ 108 h 579"/>
                  <a:gd name="T100" fmla="*/ 201 w 908"/>
                  <a:gd name="T101" fmla="*/ 88 h 579"/>
                  <a:gd name="T102" fmla="*/ 163 w 908"/>
                  <a:gd name="T103" fmla="*/ 128 h 579"/>
                  <a:gd name="T104" fmla="*/ 97 w 908"/>
                  <a:gd name="T105" fmla="*/ 164 h 579"/>
                  <a:gd name="T106" fmla="*/ 98 w 908"/>
                  <a:gd name="T107" fmla="*/ 205 h 579"/>
                  <a:gd name="T108" fmla="*/ 40 w 908"/>
                  <a:gd name="T109" fmla="*/ 248 h 579"/>
                  <a:gd name="T110" fmla="*/ 5 w 908"/>
                  <a:gd name="T111" fmla="*/ 261 h 579"/>
                  <a:gd name="T112" fmla="*/ 22 w 908"/>
                  <a:gd name="T113" fmla="*/ 300 h 579"/>
                  <a:gd name="T114" fmla="*/ 38 w 908"/>
                  <a:gd name="T115" fmla="*/ 327 h 579"/>
                  <a:gd name="T116" fmla="*/ 96 w 908"/>
                  <a:gd name="T117" fmla="*/ 333 h 579"/>
                  <a:gd name="T118" fmla="*/ 79 w 908"/>
                  <a:gd name="T119" fmla="*/ 367 h 579"/>
                  <a:gd name="T120" fmla="*/ 76 w 908"/>
                  <a:gd name="T121" fmla="*/ 39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8" h="579">
                    <a:moveTo>
                      <a:pt x="110" y="420"/>
                    </a:moveTo>
                    <a:cubicBezTo>
                      <a:pt x="110" y="420"/>
                      <a:pt x="110" y="421"/>
                      <a:pt x="110" y="421"/>
                    </a:cubicBezTo>
                    <a:cubicBezTo>
                      <a:pt x="110" y="421"/>
                      <a:pt x="111" y="422"/>
                      <a:pt x="111" y="422"/>
                    </a:cubicBezTo>
                    <a:cubicBezTo>
                      <a:pt x="112" y="422"/>
                      <a:pt x="113" y="422"/>
                      <a:pt x="113" y="422"/>
                    </a:cubicBezTo>
                    <a:cubicBezTo>
                      <a:pt x="113" y="422"/>
                      <a:pt x="114" y="422"/>
                      <a:pt x="114" y="421"/>
                    </a:cubicBezTo>
                    <a:cubicBezTo>
                      <a:pt x="114" y="421"/>
                      <a:pt x="115" y="416"/>
                      <a:pt x="118" y="416"/>
                    </a:cubicBezTo>
                    <a:cubicBezTo>
                      <a:pt x="121" y="416"/>
                      <a:pt x="124" y="417"/>
                      <a:pt x="124" y="417"/>
                    </a:cubicBezTo>
                    <a:cubicBezTo>
                      <a:pt x="125" y="417"/>
                      <a:pt x="125" y="418"/>
                      <a:pt x="125" y="418"/>
                    </a:cubicBezTo>
                    <a:cubicBezTo>
                      <a:pt x="125" y="418"/>
                      <a:pt x="127" y="422"/>
                      <a:pt x="131" y="424"/>
                    </a:cubicBezTo>
                    <a:cubicBezTo>
                      <a:pt x="131" y="424"/>
                      <a:pt x="132" y="424"/>
                      <a:pt x="132" y="424"/>
                    </a:cubicBezTo>
                    <a:cubicBezTo>
                      <a:pt x="133" y="425"/>
                      <a:pt x="137" y="428"/>
                      <a:pt x="137" y="428"/>
                    </a:cubicBezTo>
                    <a:cubicBezTo>
                      <a:pt x="137" y="428"/>
                      <a:pt x="137" y="428"/>
                      <a:pt x="138" y="428"/>
                    </a:cubicBezTo>
                    <a:cubicBezTo>
                      <a:pt x="138" y="428"/>
                      <a:pt x="143" y="429"/>
                      <a:pt x="145" y="432"/>
                    </a:cubicBezTo>
                    <a:cubicBezTo>
                      <a:pt x="147" y="435"/>
                      <a:pt x="148" y="436"/>
                      <a:pt x="149" y="436"/>
                    </a:cubicBezTo>
                    <a:cubicBezTo>
                      <a:pt x="151" y="436"/>
                      <a:pt x="152" y="436"/>
                      <a:pt x="153" y="435"/>
                    </a:cubicBezTo>
                    <a:cubicBezTo>
                      <a:pt x="155" y="435"/>
                      <a:pt x="156" y="435"/>
                      <a:pt x="157" y="436"/>
                    </a:cubicBezTo>
                    <a:cubicBezTo>
                      <a:pt x="157" y="436"/>
                      <a:pt x="157" y="437"/>
                      <a:pt x="157" y="438"/>
                    </a:cubicBezTo>
                    <a:cubicBezTo>
                      <a:pt x="157" y="438"/>
                      <a:pt x="158" y="439"/>
                      <a:pt x="158" y="440"/>
                    </a:cubicBezTo>
                    <a:cubicBezTo>
                      <a:pt x="157" y="440"/>
                      <a:pt x="157" y="441"/>
                      <a:pt x="158" y="441"/>
                    </a:cubicBezTo>
                    <a:cubicBezTo>
                      <a:pt x="158" y="441"/>
                      <a:pt x="162" y="444"/>
                      <a:pt x="162" y="444"/>
                    </a:cubicBezTo>
                    <a:cubicBezTo>
                      <a:pt x="163" y="444"/>
                      <a:pt x="167" y="446"/>
                      <a:pt x="168" y="446"/>
                    </a:cubicBezTo>
                    <a:cubicBezTo>
                      <a:pt x="169" y="446"/>
                      <a:pt x="170" y="446"/>
                      <a:pt x="171" y="446"/>
                    </a:cubicBezTo>
                    <a:cubicBezTo>
                      <a:pt x="171" y="446"/>
                      <a:pt x="172" y="446"/>
                      <a:pt x="171" y="447"/>
                    </a:cubicBezTo>
                    <a:cubicBezTo>
                      <a:pt x="171" y="447"/>
                      <a:pt x="170" y="450"/>
                      <a:pt x="170" y="450"/>
                    </a:cubicBezTo>
                    <a:cubicBezTo>
                      <a:pt x="171" y="450"/>
                      <a:pt x="171" y="450"/>
                      <a:pt x="172" y="450"/>
                    </a:cubicBezTo>
                    <a:cubicBezTo>
                      <a:pt x="173" y="450"/>
                      <a:pt x="178" y="449"/>
                      <a:pt x="179" y="450"/>
                    </a:cubicBezTo>
                    <a:cubicBezTo>
                      <a:pt x="181" y="451"/>
                      <a:pt x="182" y="453"/>
                      <a:pt x="182" y="454"/>
                    </a:cubicBezTo>
                    <a:cubicBezTo>
                      <a:pt x="183" y="455"/>
                      <a:pt x="184" y="457"/>
                      <a:pt x="185" y="457"/>
                    </a:cubicBezTo>
                    <a:cubicBezTo>
                      <a:pt x="185" y="456"/>
                      <a:pt x="185" y="454"/>
                      <a:pt x="186" y="453"/>
                    </a:cubicBezTo>
                    <a:cubicBezTo>
                      <a:pt x="186" y="453"/>
                      <a:pt x="187" y="453"/>
                      <a:pt x="186" y="453"/>
                    </a:cubicBezTo>
                    <a:cubicBezTo>
                      <a:pt x="186" y="454"/>
                      <a:pt x="188" y="455"/>
                      <a:pt x="188" y="455"/>
                    </a:cubicBezTo>
                    <a:cubicBezTo>
                      <a:pt x="189" y="456"/>
                      <a:pt x="191" y="456"/>
                      <a:pt x="191" y="456"/>
                    </a:cubicBezTo>
                    <a:cubicBezTo>
                      <a:pt x="191" y="456"/>
                      <a:pt x="192" y="456"/>
                      <a:pt x="192" y="455"/>
                    </a:cubicBezTo>
                    <a:cubicBezTo>
                      <a:pt x="192" y="455"/>
                      <a:pt x="194" y="454"/>
                      <a:pt x="195" y="454"/>
                    </a:cubicBezTo>
                    <a:cubicBezTo>
                      <a:pt x="196" y="455"/>
                      <a:pt x="198" y="456"/>
                      <a:pt x="199" y="456"/>
                    </a:cubicBezTo>
                    <a:cubicBezTo>
                      <a:pt x="199" y="456"/>
                      <a:pt x="208" y="458"/>
                      <a:pt x="208" y="458"/>
                    </a:cubicBezTo>
                    <a:cubicBezTo>
                      <a:pt x="208" y="458"/>
                      <a:pt x="209" y="458"/>
                      <a:pt x="210" y="458"/>
                    </a:cubicBezTo>
                    <a:cubicBezTo>
                      <a:pt x="210" y="458"/>
                      <a:pt x="214" y="458"/>
                      <a:pt x="215" y="457"/>
                    </a:cubicBezTo>
                    <a:cubicBezTo>
                      <a:pt x="216" y="457"/>
                      <a:pt x="216" y="457"/>
                      <a:pt x="216" y="457"/>
                    </a:cubicBezTo>
                    <a:cubicBezTo>
                      <a:pt x="217" y="456"/>
                      <a:pt x="221" y="453"/>
                      <a:pt x="223" y="454"/>
                    </a:cubicBezTo>
                    <a:cubicBezTo>
                      <a:pt x="224" y="454"/>
                      <a:pt x="226" y="454"/>
                      <a:pt x="226" y="456"/>
                    </a:cubicBezTo>
                    <a:cubicBezTo>
                      <a:pt x="226" y="458"/>
                      <a:pt x="226" y="459"/>
                      <a:pt x="226" y="460"/>
                    </a:cubicBezTo>
                    <a:cubicBezTo>
                      <a:pt x="225" y="461"/>
                      <a:pt x="225" y="463"/>
                      <a:pt x="225" y="464"/>
                    </a:cubicBezTo>
                    <a:cubicBezTo>
                      <a:pt x="226" y="465"/>
                      <a:pt x="226" y="465"/>
                      <a:pt x="226" y="466"/>
                    </a:cubicBezTo>
                    <a:cubicBezTo>
                      <a:pt x="227" y="466"/>
                      <a:pt x="227" y="466"/>
                      <a:pt x="227" y="466"/>
                    </a:cubicBezTo>
                    <a:cubicBezTo>
                      <a:pt x="227" y="466"/>
                      <a:pt x="227" y="465"/>
                      <a:pt x="228" y="465"/>
                    </a:cubicBezTo>
                    <a:cubicBezTo>
                      <a:pt x="228" y="464"/>
                      <a:pt x="230" y="462"/>
                      <a:pt x="230" y="462"/>
                    </a:cubicBezTo>
                    <a:cubicBezTo>
                      <a:pt x="230" y="461"/>
                      <a:pt x="231" y="459"/>
                      <a:pt x="231" y="459"/>
                    </a:cubicBezTo>
                    <a:cubicBezTo>
                      <a:pt x="232" y="459"/>
                      <a:pt x="233" y="458"/>
                      <a:pt x="233" y="458"/>
                    </a:cubicBezTo>
                    <a:cubicBezTo>
                      <a:pt x="233" y="457"/>
                      <a:pt x="234" y="457"/>
                      <a:pt x="234" y="456"/>
                    </a:cubicBezTo>
                    <a:cubicBezTo>
                      <a:pt x="234" y="456"/>
                      <a:pt x="236" y="454"/>
                      <a:pt x="236" y="454"/>
                    </a:cubicBezTo>
                    <a:cubicBezTo>
                      <a:pt x="237" y="453"/>
                      <a:pt x="240" y="452"/>
                      <a:pt x="240" y="451"/>
                    </a:cubicBezTo>
                    <a:cubicBezTo>
                      <a:pt x="241" y="451"/>
                      <a:pt x="241" y="451"/>
                      <a:pt x="242" y="451"/>
                    </a:cubicBezTo>
                    <a:cubicBezTo>
                      <a:pt x="242" y="451"/>
                      <a:pt x="244" y="450"/>
                      <a:pt x="245" y="450"/>
                    </a:cubicBezTo>
                    <a:cubicBezTo>
                      <a:pt x="246" y="450"/>
                      <a:pt x="248" y="451"/>
                      <a:pt x="248" y="452"/>
                    </a:cubicBezTo>
                    <a:cubicBezTo>
                      <a:pt x="248" y="452"/>
                      <a:pt x="249" y="453"/>
                      <a:pt x="249" y="453"/>
                    </a:cubicBezTo>
                    <a:cubicBezTo>
                      <a:pt x="249" y="454"/>
                      <a:pt x="249" y="454"/>
                      <a:pt x="250" y="454"/>
                    </a:cubicBezTo>
                    <a:cubicBezTo>
                      <a:pt x="250" y="454"/>
                      <a:pt x="253" y="454"/>
                      <a:pt x="254" y="454"/>
                    </a:cubicBezTo>
                    <a:cubicBezTo>
                      <a:pt x="254" y="454"/>
                      <a:pt x="255" y="454"/>
                      <a:pt x="255" y="454"/>
                    </a:cubicBezTo>
                    <a:cubicBezTo>
                      <a:pt x="256" y="455"/>
                      <a:pt x="258" y="455"/>
                      <a:pt x="258" y="455"/>
                    </a:cubicBezTo>
                    <a:cubicBezTo>
                      <a:pt x="258" y="455"/>
                      <a:pt x="258" y="455"/>
                      <a:pt x="259" y="455"/>
                    </a:cubicBezTo>
                    <a:cubicBezTo>
                      <a:pt x="259" y="455"/>
                      <a:pt x="262" y="454"/>
                      <a:pt x="262" y="454"/>
                    </a:cubicBezTo>
                    <a:cubicBezTo>
                      <a:pt x="262" y="454"/>
                      <a:pt x="262" y="454"/>
                      <a:pt x="262" y="454"/>
                    </a:cubicBezTo>
                    <a:cubicBezTo>
                      <a:pt x="262" y="454"/>
                      <a:pt x="264" y="455"/>
                      <a:pt x="265" y="455"/>
                    </a:cubicBezTo>
                    <a:cubicBezTo>
                      <a:pt x="266" y="456"/>
                      <a:pt x="268" y="456"/>
                      <a:pt x="268" y="456"/>
                    </a:cubicBezTo>
                    <a:cubicBezTo>
                      <a:pt x="268" y="457"/>
                      <a:pt x="268" y="458"/>
                      <a:pt x="267" y="459"/>
                    </a:cubicBezTo>
                    <a:cubicBezTo>
                      <a:pt x="270" y="459"/>
                      <a:pt x="277" y="458"/>
                      <a:pt x="277" y="458"/>
                    </a:cubicBezTo>
                    <a:cubicBezTo>
                      <a:pt x="278" y="458"/>
                      <a:pt x="279" y="458"/>
                      <a:pt x="280" y="458"/>
                    </a:cubicBezTo>
                    <a:cubicBezTo>
                      <a:pt x="280" y="458"/>
                      <a:pt x="282" y="456"/>
                      <a:pt x="283" y="456"/>
                    </a:cubicBezTo>
                    <a:cubicBezTo>
                      <a:pt x="283" y="456"/>
                      <a:pt x="284" y="456"/>
                      <a:pt x="283" y="455"/>
                    </a:cubicBezTo>
                    <a:cubicBezTo>
                      <a:pt x="283" y="455"/>
                      <a:pt x="283" y="453"/>
                      <a:pt x="285" y="452"/>
                    </a:cubicBezTo>
                    <a:cubicBezTo>
                      <a:pt x="287" y="450"/>
                      <a:pt x="289" y="450"/>
                      <a:pt x="289" y="450"/>
                    </a:cubicBezTo>
                    <a:cubicBezTo>
                      <a:pt x="289" y="450"/>
                      <a:pt x="289" y="449"/>
                      <a:pt x="290" y="449"/>
                    </a:cubicBezTo>
                    <a:cubicBezTo>
                      <a:pt x="290" y="448"/>
                      <a:pt x="291" y="445"/>
                      <a:pt x="292" y="445"/>
                    </a:cubicBezTo>
                    <a:cubicBezTo>
                      <a:pt x="293" y="444"/>
                      <a:pt x="296" y="444"/>
                      <a:pt x="297" y="444"/>
                    </a:cubicBezTo>
                    <a:cubicBezTo>
                      <a:pt x="298" y="443"/>
                      <a:pt x="301" y="442"/>
                      <a:pt x="301" y="442"/>
                    </a:cubicBezTo>
                    <a:cubicBezTo>
                      <a:pt x="301" y="442"/>
                      <a:pt x="301" y="442"/>
                      <a:pt x="302" y="442"/>
                    </a:cubicBezTo>
                    <a:cubicBezTo>
                      <a:pt x="302" y="442"/>
                      <a:pt x="306" y="438"/>
                      <a:pt x="307" y="437"/>
                    </a:cubicBezTo>
                    <a:cubicBezTo>
                      <a:pt x="308" y="436"/>
                      <a:pt x="312" y="433"/>
                      <a:pt x="313" y="434"/>
                    </a:cubicBezTo>
                    <a:cubicBezTo>
                      <a:pt x="314" y="435"/>
                      <a:pt x="314" y="435"/>
                      <a:pt x="314" y="436"/>
                    </a:cubicBezTo>
                    <a:cubicBezTo>
                      <a:pt x="315" y="436"/>
                      <a:pt x="323" y="438"/>
                      <a:pt x="323" y="438"/>
                    </a:cubicBezTo>
                    <a:cubicBezTo>
                      <a:pt x="323" y="438"/>
                      <a:pt x="323" y="438"/>
                      <a:pt x="324" y="438"/>
                    </a:cubicBezTo>
                    <a:cubicBezTo>
                      <a:pt x="324" y="438"/>
                      <a:pt x="332" y="433"/>
                      <a:pt x="332" y="433"/>
                    </a:cubicBezTo>
                    <a:cubicBezTo>
                      <a:pt x="332" y="433"/>
                      <a:pt x="333" y="432"/>
                      <a:pt x="334" y="433"/>
                    </a:cubicBezTo>
                    <a:cubicBezTo>
                      <a:pt x="335" y="434"/>
                      <a:pt x="335" y="434"/>
                      <a:pt x="336" y="434"/>
                    </a:cubicBezTo>
                    <a:cubicBezTo>
                      <a:pt x="337" y="434"/>
                      <a:pt x="338" y="434"/>
                      <a:pt x="338" y="435"/>
                    </a:cubicBezTo>
                    <a:cubicBezTo>
                      <a:pt x="337" y="436"/>
                      <a:pt x="335" y="437"/>
                      <a:pt x="335" y="438"/>
                    </a:cubicBezTo>
                    <a:cubicBezTo>
                      <a:pt x="334" y="438"/>
                      <a:pt x="334" y="438"/>
                      <a:pt x="334" y="438"/>
                    </a:cubicBezTo>
                    <a:cubicBezTo>
                      <a:pt x="334" y="438"/>
                      <a:pt x="335" y="439"/>
                      <a:pt x="335" y="440"/>
                    </a:cubicBezTo>
                    <a:cubicBezTo>
                      <a:pt x="335" y="441"/>
                      <a:pt x="335" y="441"/>
                      <a:pt x="335" y="440"/>
                    </a:cubicBezTo>
                    <a:cubicBezTo>
                      <a:pt x="336" y="440"/>
                      <a:pt x="339" y="439"/>
                      <a:pt x="339" y="438"/>
                    </a:cubicBezTo>
                    <a:cubicBezTo>
                      <a:pt x="339" y="438"/>
                      <a:pt x="340" y="438"/>
                      <a:pt x="339" y="439"/>
                    </a:cubicBezTo>
                    <a:cubicBezTo>
                      <a:pt x="339" y="439"/>
                      <a:pt x="340" y="440"/>
                      <a:pt x="340" y="440"/>
                    </a:cubicBezTo>
                    <a:cubicBezTo>
                      <a:pt x="340" y="441"/>
                      <a:pt x="342" y="443"/>
                      <a:pt x="341" y="443"/>
                    </a:cubicBezTo>
                    <a:cubicBezTo>
                      <a:pt x="340" y="444"/>
                      <a:pt x="339" y="444"/>
                      <a:pt x="339" y="444"/>
                    </a:cubicBezTo>
                    <a:cubicBezTo>
                      <a:pt x="339" y="445"/>
                      <a:pt x="339" y="445"/>
                      <a:pt x="338" y="446"/>
                    </a:cubicBezTo>
                    <a:cubicBezTo>
                      <a:pt x="338" y="446"/>
                      <a:pt x="337" y="446"/>
                      <a:pt x="337" y="447"/>
                    </a:cubicBezTo>
                    <a:cubicBezTo>
                      <a:pt x="337" y="447"/>
                      <a:pt x="338" y="447"/>
                      <a:pt x="337" y="448"/>
                    </a:cubicBezTo>
                    <a:cubicBezTo>
                      <a:pt x="337" y="448"/>
                      <a:pt x="336" y="449"/>
                      <a:pt x="337" y="449"/>
                    </a:cubicBezTo>
                    <a:cubicBezTo>
                      <a:pt x="337" y="449"/>
                      <a:pt x="338" y="450"/>
                      <a:pt x="339" y="449"/>
                    </a:cubicBezTo>
                    <a:cubicBezTo>
                      <a:pt x="339" y="448"/>
                      <a:pt x="340" y="448"/>
                      <a:pt x="340" y="448"/>
                    </a:cubicBezTo>
                    <a:cubicBezTo>
                      <a:pt x="341" y="448"/>
                      <a:pt x="346" y="449"/>
                      <a:pt x="347" y="449"/>
                    </a:cubicBezTo>
                    <a:cubicBezTo>
                      <a:pt x="348" y="450"/>
                      <a:pt x="352" y="451"/>
                      <a:pt x="352" y="451"/>
                    </a:cubicBezTo>
                    <a:cubicBezTo>
                      <a:pt x="352" y="451"/>
                      <a:pt x="352" y="451"/>
                      <a:pt x="352" y="451"/>
                    </a:cubicBezTo>
                    <a:cubicBezTo>
                      <a:pt x="352" y="451"/>
                      <a:pt x="352" y="451"/>
                      <a:pt x="353" y="451"/>
                    </a:cubicBezTo>
                    <a:cubicBezTo>
                      <a:pt x="353" y="451"/>
                      <a:pt x="355" y="447"/>
                      <a:pt x="356" y="447"/>
                    </a:cubicBezTo>
                    <a:cubicBezTo>
                      <a:pt x="357" y="447"/>
                      <a:pt x="357" y="447"/>
                      <a:pt x="358" y="447"/>
                    </a:cubicBezTo>
                    <a:cubicBezTo>
                      <a:pt x="358" y="448"/>
                      <a:pt x="358" y="449"/>
                      <a:pt x="358" y="449"/>
                    </a:cubicBezTo>
                    <a:cubicBezTo>
                      <a:pt x="359" y="449"/>
                      <a:pt x="361" y="449"/>
                      <a:pt x="361" y="450"/>
                    </a:cubicBezTo>
                    <a:cubicBezTo>
                      <a:pt x="362" y="451"/>
                      <a:pt x="364" y="452"/>
                      <a:pt x="364" y="453"/>
                    </a:cubicBezTo>
                    <a:cubicBezTo>
                      <a:pt x="364" y="454"/>
                      <a:pt x="366" y="460"/>
                      <a:pt x="366" y="460"/>
                    </a:cubicBezTo>
                    <a:cubicBezTo>
                      <a:pt x="366" y="460"/>
                      <a:pt x="366" y="460"/>
                      <a:pt x="366" y="460"/>
                    </a:cubicBezTo>
                    <a:cubicBezTo>
                      <a:pt x="367" y="460"/>
                      <a:pt x="368" y="461"/>
                      <a:pt x="368" y="461"/>
                    </a:cubicBezTo>
                    <a:cubicBezTo>
                      <a:pt x="368" y="461"/>
                      <a:pt x="368" y="461"/>
                      <a:pt x="368" y="461"/>
                    </a:cubicBezTo>
                    <a:cubicBezTo>
                      <a:pt x="368" y="460"/>
                      <a:pt x="369" y="460"/>
                      <a:pt x="369" y="460"/>
                    </a:cubicBezTo>
                    <a:cubicBezTo>
                      <a:pt x="370" y="461"/>
                      <a:pt x="371" y="462"/>
                      <a:pt x="371" y="462"/>
                    </a:cubicBezTo>
                    <a:cubicBezTo>
                      <a:pt x="372" y="462"/>
                      <a:pt x="372" y="462"/>
                      <a:pt x="372" y="462"/>
                    </a:cubicBezTo>
                    <a:cubicBezTo>
                      <a:pt x="372" y="463"/>
                      <a:pt x="373" y="472"/>
                      <a:pt x="373" y="474"/>
                    </a:cubicBezTo>
                    <a:cubicBezTo>
                      <a:pt x="373" y="475"/>
                      <a:pt x="373" y="478"/>
                      <a:pt x="373" y="479"/>
                    </a:cubicBezTo>
                    <a:cubicBezTo>
                      <a:pt x="373" y="479"/>
                      <a:pt x="373" y="480"/>
                      <a:pt x="373" y="481"/>
                    </a:cubicBezTo>
                    <a:cubicBezTo>
                      <a:pt x="372" y="481"/>
                      <a:pt x="370" y="484"/>
                      <a:pt x="371" y="486"/>
                    </a:cubicBezTo>
                    <a:cubicBezTo>
                      <a:pt x="371" y="487"/>
                      <a:pt x="372" y="489"/>
                      <a:pt x="372" y="489"/>
                    </a:cubicBezTo>
                    <a:cubicBezTo>
                      <a:pt x="372" y="489"/>
                      <a:pt x="373" y="490"/>
                      <a:pt x="372" y="490"/>
                    </a:cubicBezTo>
                    <a:cubicBezTo>
                      <a:pt x="371" y="490"/>
                      <a:pt x="370" y="492"/>
                      <a:pt x="369" y="493"/>
                    </a:cubicBezTo>
                    <a:cubicBezTo>
                      <a:pt x="368" y="493"/>
                      <a:pt x="367" y="494"/>
                      <a:pt x="365" y="494"/>
                    </a:cubicBezTo>
                    <a:cubicBezTo>
                      <a:pt x="365" y="494"/>
                      <a:pt x="364" y="494"/>
                      <a:pt x="364" y="494"/>
                    </a:cubicBezTo>
                    <a:cubicBezTo>
                      <a:pt x="364" y="494"/>
                      <a:pt x="363" y="497"/>
                      <a:pt x="363" y="497"/>
                    </a:cubicBezTo>
                    <a:cubicBezTo>
                      <a:pt x="363" y="497"/>
                      <a:pt x="363" y="497"/>
                      <a:pt x="363" y="497"/>
                    </a:cubicBezTo>
                    <a:cubicBezTo>
                      <a:pt x="362" y="497"/>
                      <a:pt x="359" y="499"/>
                      <a:pt x="359" y="501"/>
                    </a:cubicBezTo>
                    <a:cubicBezTo>
                      <a:pt x="358" y="503"/>
                      <a:pt x="359" y="504"/>
                      <a:pt x="359" y="505"/>
                    </a:cubicBezTo>
                    <a:cubicBezTo>
                      <a:pt x="359" y="505"/>
                      <a:pt x="359" y="506"/>
                      <a:pt x="358" y="506"/>
                    </a:cubicBezTo>
                    <a:cubicBezTo>
                      <a:pt x="358" y="506"/>
                      <a:pt x="356" y="507"/>
                      <a:pt x="356" y="507"/>
                    </a:cubicBezTo>
                    <a:cubicBezTo>
                      <a:pt x="355" y="507"/>
                      <a:pt x="355" y="508"/>
                      <a:pt x="355" y="508"/>
                    </a:cubicBezTo>
                    <a:cubicBezTo>
                      <a:pt x="355" y="508"/>
                      <a:pt x="355" y="511"/>
                      <a:pt x="355" y="511"/>
                    </a:cubicBezTo>
                    <a:cubicBezTo>
                      <a:pt x="355" y="512"/>
                      <a:pt x="356" y="512"/>
                      <a:pt x="356" y="512"/>
                    </a:cubicBezTo>
                    <a:cubicBezTo>
                      <a:pt x="356" y="512"/>
                      <a:pt x="357" y="512"/>
                      <a:pt x="357" y="513"/>
                    </a:cubicBezTo>
                    <a:cubicBezTo>
                      <a:pt x="357" y="514"/>
                      <a:pt x="358" y="515"/>
                      <a:pt x="358" y="515"/>
                    </a:cubicBezTo>
                    <a:cubicBezTo>
                      <a:pt x="358" y="515"/>
                      <a:pt x="358" y="515"/>
                      <a:pt x="357" y="516"/>
                    </a:cubicBezTo>
                    <a:cubicBezTo>
                      <a:pt x="357" y="516"/>
                      <a:pt x="355" y="518"/>
                      <a:pt x="355" y="519"/>
                    </a:cubicBezTo>
                    <a:cubicBezTo>
                      <a:pt x="355" y="520"/>
                      <a:pt x="356" y="520"/>
                      <a:pt x="356" y="521"/>
                    </a:cubicBezTo>
                    <a:cubicBezTo>
                      <a:pt x="356" y="521"/>
                      <a:pt x="357" y="521"/>
                      <a:pt x="357" y="521"/>
                    </a:cubicBezTo>
                    <a:cubicBezTo>
                      <a:pt x="358" y="520"/>
                      <a:pt x="363" y="518"/>
                      <a:pt x="365" y="517"/>
                    </a:cubicBezTo>
                    <a:cubicBezTo>
                      <a:pt x="366" y="517"/>
                      <a:pt x="369" y="517"/>
                      <a:pt x="370" y="517"/>
                    </a:cubicBezTo>
                    <a:cubicBezTo>
                      <a:pt x="371" y="518"/>
                      <a:pt x="371" y="517"/>
                      <a:pt x="371" y="517"/>
                    </a:cubicBezTo>
                    <a:cubicBezTo>
                      <a:pt x="372" y="517"/>
                      <a:pt x="374" y="516"/>
                      <a:pt x="374" y="516"/>
                    </a:cubicBezTo>
                    <a:cubicBezTo>
                      <a:pt x="374" y="516"/>
                      <a:pt x="375" y="516"/>
                      <a:pt x="375" y="517"/>
                    </a:cubicBezTo>
                    <a:cubicBezTo>
                      <a:pt x="374" y="518"/>
                      <a:pt x="372" y="521"/>
                      <a:pt x="372" y="521"/>
                    </a:cubicBezTo>
                    <a:cubicBezTo>
                      <a:pt x="372" y="521"/>
                      <a:pt x="372" y="521"/>
                      <a:pt x="372" y="522"/>
                    </a:cubicBezTo>
                    <a:cubicBezTo>
                      <a:pt x="373" y="522"/>
                      <a:pt x="376" y="531"/>
                      <a:pt x="376" y="531"/>
                    </a:cubicBezTo>
                    <a:cubicBezTo>
                      <a:pt x="376" y="531"/>
                      <a:pt x="376" y="531"/>
                      <a:pt x="376" y="532"/>
                    </a:cubicBezTo>
                    <a:cubicBezTo>
                      <a:pt x="377" y="532"/>
                      <a:pt x="380" y="533"/>
                      <a:pt x="380" y="533"/>
                    </a:cubicBezTo>
                    <a:cubicBezTo>
                      <a:pt x="381" y="533"/>
                      <a:pt x="384" y="533"/>
                      <a:pt x="384" y="533"/>
                    </a:cubicBezTo>
                    <a:cubicBezTo>
                      <a:pt x="384" y="533"/>
                      <a:pt x="385" y="533"/>
                      <a:pt x="385" y="534"/>
                    </a:cubicBezTo>
                    <a:cubicBezTo>
                      <a:pt x="385" y="534"/>
                      <a:pt x="385" y="536"/>
                      <a:pt x="384" y="536"/>
                    </a:cubicBezTo>
                    <a:cubicBezTo>
                      <a:pt x="383" y="537"/>
                      <a:pt x="382" y="537"/>
                      <a:pt x="382" y="538"/>
                    </a:cubicBezTo>
                    <a:cubicBezTo>
                      <a:pt x="382" y="538"/>
                      <a:pt x="381" y="545"/>
                      <a:pt x="380" y="545"/>
                    </a:cubicBezTo>
                    <a:cubicBezTo>
                      <a:pt x="380" y="546"/>
                      <a:pt x="379" y="547"/>
                      <a:pt x="379" y="547"/>
                    </a:cubicBezTo>
                    <a:cubicBezTo>
                      <a:pt x="379" y="547"/>
                      <a:pt x="379" y="548"/>
                      <a:pt x="380" y="548"/>
                    </a:cubicBezTo>
                    <a:cubicBezTo>
                      <a:pt x="381" y="548"/>
                      <a:pt x="391" y="549"/>
                      <a:pt x="391" y="549"/>
                    </a:cubicBezTo>
                    <a:cubicBezTo>
                      <a:pt x="391" y="549"/>
                      <a:pt x="391" y="549"/>
                      <a:pt x="391" y="550"/>
                    </a:cubicBezTo>
                    <a:cubicBezTo>
                      <a:pt x="391" y="550"/>
                      <a:pt x="391" y="553"/>
                      <a:pt x="391" y="553"/>
                    </a:cubicBezTo>
                    <a:cubicBezTo>
                      <a:pt x="391" y="553"/>
                      <a:pt x="391" y="554"/>
                      <a:pt x="391" y="554"/>
                    </a:cubicBezTo>
                    <a:cubicBezTo>
                      <a:pt x="391" y="554"/>
                      <a:pt x="394" y="559"/>
                      <a:pt x="394" y="559"/>
                    </a:cubicBezTo>
                    <a:cubicBezTo>
                      <a:pt x="394" y="559"/>
                      <a:pt x="395" y="559"/>
                      <a:pt x="395" y="559"/>
                    </a:cubicBezTo>
                    <a:cubicBezTo>
                      <a:pt x="396" y="558"/>
                      <a:pt x="404" y="555"/>
                      <a:pt x="406" y="555"/>
                    </a:cubicBezTo>
                    <a:cubicBezTo>
                      <a:pt x="406" y="555"/>
                      <a:pt x="407" y="554"/>
                      <a:pt x="407" y="554"/>
                    </a:cubicBezTo>
                    <a:cubicBezTo>
                      <a:pt x="408" y="554"/>
                      <a:pt x="408" y="553"/>
                      <a:pt x="408" y="554"/>
                    </a:cubicBezTo>
                    <a:cubicBezTo>
                      <a:pt x="408" y="554"/>
                      <a:pt x="408" y="555"/>
                      <a:pt x="409" y="557"/>
                    </a:cubicBezTo>
                    <a:cubicBezTo>
                      <a:pt x="409" y="558"/>
                      <a:pt x="409" y="560"/>
                      <a:pt x="409" y="560"/>
                    </a:cubicBezTo>
                    <a:cubicBezTo>
                      <a:pt x="409" y="560"/>
                      <a:pt x="410" y="563"/>
                      <a:pt x="411" y="563"/>
                    </a:cubicBezTo>
                    <a:cubicBezTo>
                      <a:pt x="412" y="562"/>
                      <a:pt x="412" y="562"/>
                      <a:pt x="412" y="562"/>
                    </a:cubicBezTo>
                    <a:cubicBezTo>
                      <a:pt x="413" y="562"/>
                      <a:pt x="413" y="562"/>
                      <a:pt x="414" y="562"/>
                    </a:cubicBezTo>
                    <a:cubicBezTo>
                      <a:pt x="414" y="562"/>
                      <a:pt x="416" y="563"/>
                      <a:pt x="417" y="563"/>
                    </a:cubicBezTo>
                    <a:cubicBezTo>
                      <a:pt x="417" y="563"/>
                      <a:pt x="417" y="563"/>
                      <a:pt x="417" y="563"/>
                    </a:cubicBezTo>
                    <a:cubicBezTo>
                      <a:pt x="418" y="563"/>
                      <a:pt x="419" y="562"/>
                      <a:pt x="419" y="562"/>
                    </a:cubicBezTo>
                    <a:cubicBezTo>
                      <a:pt x="419" y="562"/>
                      <a:pt x="419" y="562"/>
                      <a:pt x="419" y="562"/>
                    </a:cubicBezTo>
                    <a:cubicBezTo>
                      <a:pt x="418" y="561"/>
                      <a:pt x="417" y="560"/>
                      <a:pt x="417" y="559"/>
                    </a:cubicBezTo>
                    <a:cubicBezTo>
                      <a:pt x="418" y="558"/>
                      <a:pt x="418" y="553"/>
                      <a:pt x="417" y="552"/>
                    </a:cubicBezTo>
                    <a:cubicBezTo>
                      <a:pt x="416" y="550"/>
                      <a:pt x="414" y="548"/>
                      <a:pt x="415" y="546"/>
                    </a:cubicBezTo>
                    <a:cubicBezTo>
                      <a:pt x="415" y="545"/>
                      <a:pt x="415" y="545"/>
                      <a:pt x="416" y="545"/>
                    </a:cubicBezTo>
                    <a:cubicBezTo>
                      <a:pt x="416" y="545"/>
                      <a:pt x="416" y="544"/>
                      <a:pt x="416" y="544"/>
                    </a:cubicBezTo>
                    <a:cubicBezTo>
                      <a:pt x="416" y="544"/>
                      <a:pt x="417" y="542"/>
                      <a:pt x="418" y="542"/>
                    </a:cubicBezTo>
                    <a:cubicBezTo>
                      <a:pt x="420" y="543"/>
                      <a:pt x="421" y="543"/>
                      <a:pt x="421" y="543"/>
                    </a:cubicBezTo>
                    <a:cubicBezTo>
                      <a:pt x="422" y="543"/>
                      <a:pt x="423" y="544"/>
                      <a:pt x="423" y="544"/>
                    </a:cubicBezTo>
                    <a:cubicBezTo>
                      <a:pt x="423" y="544"/>
                      <a:pt x="424" y="544"/>
                      <a:pt x="424" y="544"/>
                    </a:cubicBezTo>
                    <a:cubicBezTo>
                      <a:pt x="424" y="543"/>
                      <a:pt x="425" y="542"/>
                      <a:pt x="426" y="542"/>
                    </a:cubicBezTo>
                    <a:cubicBezTo>
                      <a:pt x="426" y="541"/>
                      <a:pt x="427" y="541"/>
                      <a:pt x="427" y="540"/>
                    </a:cubicBezTo>
                    <a:cubicBezTo>
                      <a:pt x="427" y="540"/>
                      <a:pt x="428" y="538"/>
                      <a:pt x="429" y="538"/>
                    </a:cubicBezTo>
                    <a:cubicBezTo>
                      <a:pt x="430" y="539"/>
                      <a:pt x="431" y="539"/>
                      <a:pt x="432" y="539"/>
                    </a:cubicBezTo>
                    <a:cubicBezTo>
                      <a:pt x="432" y="540"/>
                      <a:pt x="434" y="540"/>
                      <a:pt x="434" y="541"/>
                    </a:cubicBezTo>
                    <a:cubicBezTo>
                      <a:pt x="434" y="541"/>
                      <a:pt x="436" y="543"/>
                      <a:pt x="436" y="543"/>
                    </a:cubicBezTo>
                    <a:cubicBezTo>
                      <a:pt x="437" y="543"/>
                      <a:pt x="437" y="543"/>
                      <a:pt x="437" y="543"/>
                    </a:cubicBezTo>
                    <a:cubicBezTo>
                      <a:pt x="437" y="542"/>
                      <a:pt x="438" y="542"/>
                      <a:pt x="438" y="542"/>
                    </a:cubicBezTo>
                    <a:cubicBezTo>
                      <a:pt x="438" y="542"/>
                      <a:pt x="439" y="542"/>
                      <a:pt x="439" y="541"/>
                    </a:cubicBezTo>
                    <a:cubicBezTo>
                      <a:pt x="439" y="541"/>
                      <a:pt x="439" y="540"/>
                      <a:pt x="439" y="540"/>
                    </a:cubicBezTo>
                    <a:cubicBezTo>
                      <a:pt x="440" y="540"/>
                      <a:pt x="440" y="540"/>
                      <a:pt x="440" y="539"/>
                    </a:cubicBezTo>
                    <a:cubicBezTo>
                      <a:pt x="441" y="539"/>
                      <a:pt x="441" y="538"/>
                      <a:pt x="441" y="538"/>
                    </a:cubicBezTo>
                    <a:cubicBezTo>
                      <a:pt x="442" y="538"/>
                      <a:pt x="442" y="538"/>
                      <a:pt x="443" y="539"/>
                    </a:cubicBezTo>
                    <a:cubicBezTo>
                      <a:pt x="443" y="539"/>
                      <a:pt x="444" y="541"/>
                      <a:pt x="444" y="541"/>
                    </a:cubicBezTo>
                    <a:cubicBezTo>
                      <a:pt x="444" y="540"/>
                      <a:pt x="445" y="540"/>
                      <a:pt x="445" y="539"/>
                    </a:cubicBezTo>
                    <a:cubicBezTo>
                      <a:pt x="445" y="539"/>
                      <a:pt x="446" y="538"/>
                      <a:pt x="446" y="538"/>
                    </a:cubicBezTo>
                    <a:cubicBezTo>
                      <a:pt x="447" y="539"/>
                      <a:pt x="450" y="542"/>
                      <a:pt x="450" y="542"/>
                    </a:cubicBezTo>
                    <a:cubicBezTo>
                      <a:pt x="450" y="542"/>
                      <a:pt x="451" y="542"/>
                      <a:pt x="451" y="542"/>
                    </a:cubicBezTo>
                    <a:cubicBezTo>
                      <a:pt x="451" y="541"/>
                      <a:pt x="455" y="537"/>
                      <a:pt x="455" y="537"/>
                    </a:cubicBezTo>
                    <a:cubicBezTo>
                      <a:pt x="455" y="537"/>
                      <a:pt x="455" y="537"/>
                      <a:pt x="455" y="537"/>
                    </a:cubicBezTo>
                    <a:cubicBezTo>
                      <a:pt x="455" y="538"/>
                      <a:pt x="456" y="539"/>
                      <a:pt x="456" y="539"/>
                    </a:cubicBezTo>
                    <a:cubicBezTo>
                      <a:pt x="456" y="539"/>
                      <a:pt x="456" y="539"/>
                      <a:pt x="457" y="539"/>
                    </a:cubicBezTo>
                    <a:cubicBezTo>
                      <a:pt x="457" y="539"/>
                      <a:pt x="462" y="537"/>
                      <a:pt x="462" y="536"/>
                    </a:cubicBezTo>
                    <a:cubicBezTo>
                      <a:pt x="463" y="536"/>
                      <a:pt x="465" y="533"/>
                      <a:pt x="465" y="532"/>
                    </a:cubicBezTo>
                    <a:cubicBezTo>
                      <a:pt x="466" y="531"/>
                      <a:pt x="466" y="531"/>
                      <a:pt x="466" y="531"/>
                    </a:cubicBezTo>
                    <a:cubicBezTo>
                      <a:pt x="467" y="531"/>
                      <a:pt x="468" y="530"/>
                      <a:pt x="469" y="530"/>
                    </a:cubicBezTo>
                    <a:cubicBezTo>
                      <a:pt x="469" y="529"/>
                      <a:pt x="471" y="528"/>
                      <a:pt x="471" y="529"/>
                    </a:cubicBezTo>
                    <a:cubicBezTo>
                      <a:pt x="471" y="529"/>
                      <a:pt x="471" y="530"/>
                      <a:pt x="472" y="530"/>
                    </a:cubicBezTo>
                    <a:cubicBezTo>
                      <a:pt x="472" y="530"/>
                      <a:pt x="473" y="531"/>
                      <a:pt x="474" y="532"/>
                    </a:cubicBezTo>
                    <a:cubicBezTo>
                      <a:pt x="474" y="532"/>
                      <a:pt x="474" y="533"/>
                      <a:pt x="474" y="533"/>
                    </a:cubicBezTo>
                    <a:cubicBezTo>
                      <a:pt x="475" y="534"/>
                      <a:pt x="476" y="534"/>
                      <a:pt x="477" y="535"/>
                    </a:cubicBezTo>
                    <a:cubicBezTo>
                      <a:pt x="478" y="536"/>
                      <a:pt x="481" y="537"/>
                      <a:pt x="482" y="536"/>
                    </a:cubicBezTo>
                    <a:cubicBezTo>
                      <a:pt x="483" y="536"/>
                      <a:pt x="490" y="536"/>
                      <a:pt x="490" y="536"/>
                    </a:cubicBezTo>
                    <a:cubicBezTo>
                      <a:pt x="490" y="536"/>
                      <a:pt x="491" y="536"/>
                      <a:pt x="491" y="537"/>
                    </a:cubicBezTo>
                    <a:cubicBezTo>
                      <a:pt x="491" y="537"/>
                      <a:pt x="492" y="538"/>
                      <a:pt x="492" y="538"/>
                    </a:cubicBezTo>
                    <a:cubicBezTo>
                      <a:pt x="493" y="538"/>
                      <a:pt x="493" y="538"/>
                      <a:pt x="493" y="538"/>
                    </a:cubicBezTo>
                    <a:cubicBezTo>
                      <a:pt x="492" y="539"/>
                      <a:pt x="489" y="543"/>
                      <a:pt x="489" y="543"/>
                    </a:cubicBezTo>
                    <a:cubicBezTo>
                      <a:pt x="489" y="543"/>
                      <a:pt x="489" y="544"/>
                      <a:pt x="489" y="544"/>
                    </a:cubicBezTo>
                    <a:cubicBezTo>
                      <a:pt x="489" y="544"/>
                      <a:pt x="490" y="545"/>
                      <a:pt x="490" y="546"/>
                    </a:cubicBezTo>
                    <a:cubicBezTo>
                      <a:pt x="491" y="547"/>
                      <a:pt x="491" y="549"/>
                      <a:pt x="491" y="549"/>
                    </a:cubicBezTo>
                    <a:cubicBezTo>
                      <a:pt x="491" y="550"/>
                      <a:pt x="491" y="550"/>
                      <a:pt x="491" y="551"/>
                    </a:cubicBezTo>
                    <a:cubicBezTo>
                      <a:pt x="492" y="551"/>
                      <a:pt x="493" y="551"/>
                      <a:pt x="494" y="551"/>
                    </a:cubicBezTo>
                    <a:cubicBezTo>
                      <a:pt x="494" y="551"/>
                      <a:pt x="496" y="551"/>
                      <a:pt x="496" y="552"/>
                    </a:cubicBezTo>
                    <a:cubicBezTo>
                      <a:pt x="497" y="552"/>
                      <a:pt x="500" y="556"/>
                      <a:pt x="500" y="556"/>
                    </a:cubicBezTo>
                    <a:cubicBezTo>
                      <a:pt x="500" y="556"/>
                      <a:pt x="501" y="556"/>
                      <a:pt x="501" y="556"/>
                    </a:cubicBezTo>
                    <a:cubicBezTo>
                      <a:pt x="502" y="556"/>
                      <a:pt x="502" y="555"/>
                      <a:pt x="503" y="556"/>
                    </a:cubicBezTo>
                    <a:cubicBezTo>
                      <a:pt x="504" y="556"/>
                      <a:pt x="508" y="557"/>
                      <a:pt x="510" y="557"/>
                    </a:cubicBezTo>
                    <a:cubicBezTo>
                      <a:pt x="511" y="557"/>
                      <a:pt x="514" y="555"/>
                      <a:pt x="514" y="556"/>
                    </a:cubicBezTo>
                    <a:cubicBezTo>
                      <a:pt x="514" y="558"/>
                      <a:pt x="515" y="558"/>
                      <a:pt x="515" y="557"/>
                    </a:cubicBezTo>
                    <a:cubicBezTo>
                      <a:pt x="515" y="556"/>
                      <a:pt x="515" y="555"/>
                      <a:pt x="516" y="556"/>
                    </a:cubicBezTo>
                    <a:cubicBezTo>
                      <a:pt x="518" y="557"/>
                      <a:pt x="519" y="556"/>
                      <a:pt x="519" y="555"/>
                    </a:cubicBezTo>
                    <a:cubicBezTo>
                      <a:pt x="518" y="554"/>
                      <a:pt x="517" y="550"/>
                      <a:pt x="518" y="551"/>
                    </a:cubicBezTo>
                    <a:cubicBezTo>
                      <a:pt x="520" y="552"/>
                      <a:pt x="521" y="553"/>
                      <a:pt x="522" y="554"/>
                    </a:cubicBezTo>
                    <a:cubicBezTo>
                      <a:pt x="522" y="556"/>
                      <a:pt x="523" y="556"/>
                      <a:pt x="524" y="556"/>
                    </a:cubicBezTo>
                    <a:cubicBezTo>
                      <a:pt x="525" y="555"/>
                      <a:pt x="524" y="555"/>
                      <a:pt x="525" y="556"/>
                    </a:cubicBezTo>
                    <a:cubicBezTo>
                      <a:pt x="525" y="557"/>
                      <a:pt x="525" y="557"/>
                      <a:pt x="526" y="557"/>
                    </a:cubicBezTo>
                    <a:cubicBezTo>
                      <a:pt x="527" y="557"/>
                      <a:pt x="527" y="557"/>
                      <a:pt x="527" y="558"/>
                    </a:cubicBezTo>
                    <a:cubicBezTo>
                      <a:pt x="527" y="559"/>
                      <a:pt x="527" y="559"/>
                      <a:pt x="529" y="559"/>
                    </a:cubicBezTo>
                    <a:cubicBezTo>
                      <a:pt x="530" y="559"/>
                      <a:pt x="535" y="558"/>
                      <a:pt x="534" y="557"/>
                    </a:cubicBezTo>
                    <a:cubicBezTo>
                      <a:pt x="532" y="555"/>
                      <a:pt x="532" y="554"/>
                      <a:pt x="534" y="555"/>
                    </a:cubicBezTo>
                    <a:cubicBezTo>
                      <a:pt x="536" y="556"/>
                      <a:pt x="540" y="558"/>
                      <a:pt x="538" y="559"/>
                    </a:cubicBezTo>
                    <a:cubicBezTo>
                      <a:pt x="537" y="561"/>
                      <a:pt x="537" y="560"/>
                      <a:pt x="537" y="561"/>
                    </a:cubicBezTo>
                    <a:cubicBezTo>
                      <a:pt x="537" y="562"/>
                      <a:pt x="537" y="563"/>
                      <a:pt x="536" y="563"/>
                    </a:cubicBezTo>
                    <a:cubicBezTo>
                      <a:pt x="536" y="563"/>
                      <a:pt x="535" y="563"/>
                      <a:pt x="535" y="564"/>
                    </a:cubicBezTo>
                    <a:cubicBezTo>
                      <a:pt x="536" y="565"/>
                      <a:pt x="535" y="568"/>
                      <a:pt x="536" y="570"/>
                    </a:cubicBezTo>
                    <a:cubicBezTo>
                      <a:pt x="537" y="571"/>
                      <a:pt x="538" y="573"/>
                      <a:pt x="538" y="575"/>
                    </a:cubicBezTo>
                    <a:cubicBezTo>
                      <a:pt x="538" y="576"/>
                      <a:pt x="540" y="579"/>
                      <a:pt x="543" y="578"/>
                    </a:cubicBezTo>
                    <a:cubicBezTo>
                      <a:pt x="546" y="577"/>
                      <a:pt x="549" y="575"/>
                      <a:pt x="547" y="573"/>
                    </a:cubicBezTo>
                    <a:cubicBezTo>
                      <a:pt x="545" y="571"/>
                      <a:pt x="544" y="571"/>
                      <a:pt x="545" y="570"/>
                    </a:cubicBezTo>
                    <a:cubicBezTo>
                      <a:pt x="546" y="570"/>
                      <a:pt x="547" y="569"/>
                      <a:pt x="546" y="569"/>
                    </a:cubicBezTo>
                    <a:cubicBezTo>
                      <a:pt x="545" y="568"/>
                      <a:pt x="543" y="569"/>
                      <a:pt x="543" y="568"/>
                    </a:cubicBezTo>
                    <a:cubicBezTo>
                      <a:pt x="543" y="567"/>
                      <a:pt x="542" y="566"/>
                      <a:pt x="544" y="564"/>
                    </a:cubicBezTo>
                    <a:cubicBezTo>
                      <a:pt x="545" y="563"/>
                      <a:pt x="545" y="563"/>
                      <a:pt x="546" y="562"/>
                    </a:cubicBezTo>
                    <a:cubicBezTo>
                      <a:pt x="546" y="561"/>
                      <a:pt x="545" y="559"/>
                      <a:pt x="547" y="561"/>
                    </a:cubicBezTo>
                    <a:cubicBezTo>
                      <a:pt x="548" y="563"/>
                      <a:pt x="549" y="561"/>
                      <a:pt x="550" y="561"/>
                    </a:cubicBezTo>
                    <a:cubicBezTo>
                      <a:pt x="551" y="561"/>
                      <a:pt x="560" y="557"/>
                      <a:pt x="565" y="557"/>
                    </a:cubicBezTo>
                    <a:cubicBezTo>
                      <a:pt x="569" y="556"/>
                      <a:pt x="567" y="555"/>
                      <a:pt x="566" y="554"/>
                    </a:cubicBezTo>
                    <a:cubicBezTo>
                      <a:pt x="566" y="553"/>
                      <a:pt x="567" y="554"/>
                      <a:pt x="568" y="554"/>
                    </a:cubicBezTo>
                    <a:cubicBezTo>
                      <a:pt x="569" y="555"/>
                      <a:pt x="571" y="554"/>
                      <a:pt x="570" y="553"/>
                    </a:cubicBezTo>
                    <a:cubicBezTo>
                      <a:pt x="568" y="552"/>
                      <a:pt x="567" y="551"/>
                      <a:pt x="570" y="552"/>
                    </a:cubicBezTo>
                    <a:cubicBezTo>
                      <a:pt x="572" y="552"/>
                      <a:pt x="572" y="553"/>
                      <a:pt x="573" y="554"/>
                    </a:cubicBezTo>
                    <a:cubicBezTo>
                      <a:pt x="574" y="555"/>
                      <a:pt x="574" y="554"/>
                      <a:pt x="575" y="553"/>
                    </a:cubicBezTo>
                    <a:cubicBezTo>
                      <a:pt x="575" y="551"/>
                      <a:pt x="576" y="550"/>
                      <a:pt x="576" y="551"/>
                    </a:cubicBezTo>
                    <a:cubicBezTo>
                      <a:pt x="577" y="552"/>
                      <a:pt x="578" y="552"/>
                      <a:pt x="580" y="551"/>
                    </a:cubicBezTo>
                    <a:cubicBezTo>
                      <a:pt x="582" y="551"/>
                      <a:pt x="583" y="551"/>
                      <a:pt x="583" y="551"/>
                    </a:cubicBezTo>
                    <a:cubicBezTo>
                      <a:pt x="584" y="552"/>
                      <a:pt x="585" y="552"/>
                      <a:pt x="585" y="550"/>
                    </a:cubicBezTo>
                    <a:cubicBezTo>
                      <a:pt x="586" y="548"/>
                      <a:pt x="586" y="546"/>
                      <a:pt x="587" y="547"/>
                    </a:cubicBezTo>
                    <a:cubicBezTo>
                      <a:pt x="588" y="549"/>
                      <a:pt x="588" y="549"/>
                      <a:pt x="590" y="548"/>
                    </a:cubicBezTo>
                    <a:cubicBezTo>
                      <a:pt x="591" y="547"/>
                      <a:pt x="589" y="547"/>
                      <a:pt x="589" y="546"/>
                    </a:cubicBezTo>
                    <a:cubicBezTo>
                      <a:pt x="589" y="545"/>
                      <a:pt x="590" y="546"/>
                      <a:pt x="591" y="547"/>
                    </a:cubicBezTo>
                    <a:cubicBezTo>
                      <a:pt x="592" y="547"/>
                      <a:pt x="593" y="548"/>
                      <a:pt x="593" y="546"/>
                    </a:cubicBezTo>
                    <a:cubicBezTo>
                      <a:pt x="593" y="544"/>
                      <a:pt x="591" y="540"/>
                      <a:pt x="590" y="538"/>
                    </a:cubicBezTo>
                    <a:cubicBezTo>
                      <a:pt x="589" y="537"/>
                      <a:pt x="589" y="536"/>
                      <a:pt x="590" y="536"/>
                    </a:cubicBezTo>
                    <a:cubicBezTo>
                      <a:pt x="591" y="536"/>
                      <a:pt x="592" y="536"/>
                      <a:pt x="592" y="535"/>
                    </a:cubicBezTo>
                    <a:cubicBezTo>
                      <a:pt x="592" y="533"/>
                      <a:pt x="592" y="533"/>
                      <a:pt x="593" y="533"/>
                    </a:cubicBezTo>
                    <a:cubicBezTo>
                      <a:pt x="594" y="534"/>
                      <a:pt x="594" y="534"/>
                      <a:pt x="594" y="536"/>
                    </a:cubicBezTo>
                    <a:cubicBezTo>
                      <a:pt x="595" y="537"/>
                      <a:pt x="594" y="538"/>
                      <a:pt x="595" y="538"/>
                    </a:cubicBezTo>
                    <a:cubicBezTo>
                      <a:pt x="596" y="539"/>
                      <a:pt x="596" y="539"/>
                      <a:pt x="596" y="540"/>
                    </a:cubicBezTo>
                    <a:cubicBezTo>
                      <a:pt x="597" y="541"/>
                      <a:pt x="597" y="543"/>
                      <a:pt x="599" y="542"/>
                    </a:cubicBezTo>
                    <a:cubicBezTo>
                      <a:pt x="600" y="542"/>
                      <a:pt x="600" y="542"/>
                      <a:pt x="599" y="543"/>
                    </a:cubicBezTo>
                    <a:cubicBezTo>
                      <a:pt x="599" y="544"/>
                      <a:pt x="598" y="545"/>
                      <a:pt x="600" y="545"/>
                    </a:cubicBezTo>
                    <a:cubicBezTo>
                      <a:pt x="601" y="545"/>
                      <a:pt x="602" y="546"/>
                      <a:pt x="603" y="546"/>
                    </a:cubicBezTo>
                    <a:cubicBezTo>
                      <a:pt x="604" y="546"/>
                      <a:pt x="605" y="545"/>
                      <a:pt x="605" y="544"/>
                    </a:cubicBezTo>
                    <a:cubicBezTo>
                      <a:pt x="606" y="544"/>
                      <a:pt x="605" y="542"/>
                      <a:pt x="604" y="543"/>
                    </a:cubicBezTo>
                    <a:cubicBezTo>
                      <a:pt x="603" y="543"/>
                      <a:pt x="602" y="542"/>
                      <a:pt x="603" y="541"/>
                    </a:cubicBezTo>
                    <a:cubicBezTo>
                      <a:pt x="605" y="540"/>
                      <a:pt x="605" y="540"/>
                      <a:pt x="606" y="541"/>
                    </a:cubicBezTo>
                    <a:cubicBezTo>
                      <a:pt x="607" y="542"/>
                      <a:pt x="607" y="543"/>
                      <a:pt x="608" y="543"/>
                    </a:cubicBezTo>
                    <a:cubicBezTo>
                      <a:pt x="608" y="542"/>
                      <a:pt x="609" y="542"/>
                      <a:pt x="608" y="541"/>
                    </a:cubicBezTo>
                    <a:cubicBezTo>
                      <a:pt x="608" y="540"/>
                      <a:pt x="607" y="540"/>
                      <a:pt x="608" y="539"/>
                    </a:cubicBezTo>
                    <a:cubicBezTo>
                      <a:pt x="609" y="538"/>
                      <a:pt x="611" y="537"/>
                      <a:pt x="611" y="539"/>
                    </a:cubicBezTo>
                    <a:cubicBezTo>
                      <a:pt x="610" y="541"/>
                      <a:pt x="611" y="541"/>
                      <a:pt x="612" y="541"/>
                    </a:cubicBezTo>
                    <a:cubicBezTo>
                      <a:pt x="613" y="542"/>
                      <a:pt x="613" y="541"/>
                      <a:pt x="614" y="541"/>
                    </a:cubicBezTo>
                    <a:cubicBezTo>
                      <a:pt x="614" y="540"/>
                      <a:pt x="619" y="535"/>
                      <a:pt x="619" y="537"/>
                    </a:cubicBezTo>
                    <a:cubicBezTo>
                      <a:pt x="618" y="539"/>
                      <a:pt x="620" y="538"/>
                      <a:pt x="621" y="539"/>
                    </a:cubicBezTo>
                    <a:cubicBezTo>
                      <a:pt x="622" y="539"/>
                      <a:pt x="623" y="540"/>
                      <a:pt x="623" y="538"/>
                    </a:cubicBezTo>
                    <a:cubicBezTo>
                      <a:pt x="622" y="537"/>
                      <a:pt x="621" y="536"/>
                      <a:pt x="622" y="536"/>
                    </a:cubicBezTo>
                    <a:cubicBezTo>
                      <a:pt x="623" y="535"/>
                      <a:pt x="625" y="535"/>
                      <a:pt x="625" y="536"/>
                    </a:cubicBezTo>
                    <a:cubicBezTo>
                      <a:pt x="625" y="537"/>
                      <a:pt x="626" y="538"/>
                      <a:pt x="627" y="538"/>
                    </a:cubicBezTo>
                    <a:cubicBezTo>
                      <a:pt x="628" y="538"/>
                      <a:pt x="628" y="537"/>
                      <a:pt x="629" y="536"/>
                    </a:cubicBezTo>
                    <a:cubicBezTo>
                      <a:pt x="630" y="536"/>
                      <a:pt x="631" y="536"/>
                      <a:pt x="632" y="536"/>
                    </a:cubicBezTo>
                    <a:cubicBezTo>
                      <a:pt x="632" y="536"/>
                      <a:pt x="638" y="537"/>
                      <a:pt x="637" y="533"/>
                    </a:cubicBezTo>
                    <a:cubicBezTo>
                      <a:pt x="637" y="529"/>
                      <a:pt x="638" y="530"/>
                      <a:pt x="639" y="530"/>
                    </a:cubicBezTo>
                    <a:cubicBezTo>
                      <a:pt x="640" y="531"/>
                      <a:pt x="641" y="530"/>
                      <a:pt x="640" y="529"/>
                    </a:cubicBezTo>
                    <a:cubicBezTo>
                      <a:pt x="639" y="529"/>
                      <a:pt x="638" y="528"/>
                      <a:pt x="640" y="528"/>
                    </a:cubicBezTo>
                    <a:cubicBezTo>
                      <a:pt x="641" y="528"/>
                      <a:pt x="642" y="527"/>
                      <a:pt x="642" y="526"/>
                    </a:cubicBezTo>
                    <a:cubicBezTo>
                      <a:pt x="643" y="525"/>
                      <a:pt x="643" y="524"/>
                      <a:pt x="644" y="524"/>
                    </a:cubicBezTo>
                    <a:cubicBezTo>
                      <a:pt x="646" y="525"/>
                      <a:pt x="646" y="526"/>
                      <a:pt x="647" y="525"/>
                    </a:cubicBezTo>
                    <a:cubicBezTo>
                      <a:pt x="648" y="524"/>
                      <a:pt x="651" y="523"/>
                      <a:pt x="651" y="522"/>
                    </a:cubicBezTo>
                    <a:cubicBezTo>
                      <a:pt x="651" y="521"/>
                      <a:pt x="651" y="520"/>
                      <a:pt x="652" y="521"/>
                    </a:cubicBezTo>
                    <a:cubicBezTo>
                      <a:pt x="653" y="522"/>
                      <a:pt x="652" y="523"/>
                      <a:pt x="653" y="523"/>
                    </a:cubicBezTo>
                    <a:cubicBezTo>
                      <a:pt x="654" y="522"/>
                      <a:pt x="654" y="521"/>
                      <a:pt x="656" y="519"/>
                    </a:cubicBezTo>
                    <a:cubicBezTo>
                      <a:pt x="659" y="517"/>
                      <a:pt x="663" y="513"/>
                      <a:pt x="660" y="513"/>
                    </a:cubicBezTo>
                    <a:cubicBezTo>
                      <a:pt x="657" y="512"/>
                      <a:pt x="656" y="512"/>
                      <a:pt x="658" y="511"/>
                    </a:cubicBezTo>
                    <a:cubicBezTo>
                      <a:pt x="660" y="510"/>
                      <a:pt x="660" y="510"/>
                      <a:pt x="661" y="509"/>
                    </a:cubicBezTo>
                    <a:cubicBezTo>
                      <a:pt x="662" y="509"/>
                      <a:pt x="662" y="509"/>
                      <a:pt x="663" y="509"/>
                    </a:cubicBezTo>
                    <a:cubicBezTo>
                      <a:pt x="664" y="510"/>
                      <a:pt x="664" y="510"/>
                      <a:pt x="665" y="509"/>
                    </a:cubicBezTo>
                    <a:cubicBezTo>
                      <a:pt x="666" y="509"/>
                      <a:pt x="667" y="507"/>
                      <a:pt x="667" y="509"/>
                    </a:cubicBezTo>
                    <a:cubicBezTo>
                      <a:pt x="668" y="510"/>
                      <a:pt x="668" y="510"/>
                      <a:pt x="669" y="509"/>
                    </a:cubicBezTo>
                    <a:cubicBezTo>
                      <a:pt x="670" y="509"/>
                      <a:pt x="671" y="507"/>
                      <a:pt x="670" y="507"/>
                    </a:cubicBezTo>
                    <a:cubicBezTo>
                      <a:pt x="669" y="507"/>
                      <a:pt x="669" y="506"/>
                      <a:pt x="670" y="506"/>
                    </a:cubicBezTo>
                    <a:cubicBezTo>
                      <a:pt x="671" y="505"/>
                      <a:pt x="672" y="505"/>
                      <a:pt x="673" y="505"/>
                    </a:cubicBezTo>
                    <a:cubicBezTo>
                      <a:pt x="673" y="505"/>
                      <a:pt x="674" y="505"/>
                      <a:pt x="674" y="503"/>
                    </a:cubicBezTo>
                    <a:cubicBezTo>
                      <a:pt x="673" y="502"/>
                      <a:pt x="671" y="499"/>
                      <a:pt x="673" y="500"/>
                    </a:cubicBezTo>
                    <a:cubicBezTo>
                      <a:pt x="676" y="500"/>
                      <a:pt x="680" y="500"/>
                      <a:pt x="679" y="499"/>
                    </a:cubicBezTo>
                    <a:cubicBezTo>
                      <a:pt x="678" y="498"/>
                      <a:pt x="676" y="499"/>
                      <a:pt x="677" y="497"/>
                    </a:cubicBezTo>
                    <a:cubicBezTo>
                      <a:pt x="678" y="495"/>
                      <a:pt x="678" y="493"/>
                      <a:pt x="680" y="494"/>
                    </a:cubicBezTo>
                    <a:cubicBezTo>
                      <a:pt x="682" y="495"/>
                      <a:pt x="682" y="498"/>
                      <a:pt x="683" y="497"/>
                    </a:cubicBezTo>
                    <a:cubicBezTo>
                      <a:pt x="684" y="495"/>
                      <a:pt x="682" y="495"/>
                      <a:pt x="682" y="493"/>
                    </a:cubicBezTo>
                    <a:cubicBezTo>
                      <a:pt x="683" y="492"/>
                      <a:pt x="683" y="489"/>
                      <a:pt x="684" y="489"/>
                    </a:cubicBezTo>
                    <a:cubicBezTo>
                      <a:pt x="684" y="488"/>
                      <a:pt x="683" y="487"/>
                      <a:pt x="682" y="488"/>
                    </a:cubicBezTo>
                    <a:cubicBezTo>
                      <a:pt x="680" y="488"/>
                      <a:pt x="680" y="487"/>
                      <a:pt x="681" y="486"/>
                    </a:cubicBezTo>
                    <a:cubicBezTo>
                      <a:pt x="682" y="486"/>
                      <a:pt x="683" y="484"/>
                      <a:pt x="684" y="483"/>
                    </a:cubicBezTo>
                    <a:cubicBezTo>
                      <a:pt x="686" y="483"/>
                      <a:pt x="686" y="482"/>
                      <a:pt x="685" y="482"/>
                    </a:cubicBezTo>
                    <a:cubicBezTo>
                      <a:pt x="684" y="481"/>
                      <a:pt x="683" y="480"/>
                      <a:pt x="684" y="479"/>
                    </a:cubicBezTo>
                    <a:cubicBezTo>
                      <a:pt x="685" y="479"/>
                      <a:pt x="686" y="478"/>
                      <a:pt x="685" y="477"/>
                    </a:cubicBezTo>
                    <a:cubicBezTo>
                      <a:pt x="684" y="477"/>
                      <a:pt x="682" y="476"/>
                      <a:pt x="685" y="475"/>
                    </a:cubicBezTo>
                    <a:cubicBezTo>
                      <a:pt x="688" y="474"/>
                      <a:pt x="688" y="475"/>
                      <a:pt x="688" y="475"/>
                    </a:cubicBezTo>
                    <a:cubicBezTo>
                      <a:pt x="689" y="476"/>
                      <a:pt x="690" y="477"/>
                      <a:pt x="690" y="476"/>
                    </a:cubicBezTo>
                    <a:cubicBezTo>
                      <a:pt x="691" y="475"/>
                      <a:pt x="690" y="474"/>
                      <a:pt x="691" y="474"/>
                    </a:cubicBezTo>
                    <a:cubicBezTo>
                      <a:pt x="691" y="473"/>
                      <a:pt x="691" y="473"/>
                      <a:pt x="692" y="472"/>
                    </a:cubicBezTo>
                    <a:cubicBezTo>
                      <a:pt x="693" y="472"/>
                      <a:pt x="692" y="470"/>
                      <a:pt x="693" y="469"/>
                    </a:cubicBezTo>
                    <a:cubicBezTo>
                      <a:pt x="694" y="469"/>
                      <a:pt x="695" y="469"/>
                      <a:pt x="695" y="468"/>
                    </a:cubicBezTo>
                    <a:cubicBezTo>
                      <a:pt x="695" y="468"/>
                      <a:pt x="695" y="467"/>
                      <a:pt x="696" y="467"/>
                    </a:cubicBezTo>
                    <a:cubicBezTo>
                      <a:pt x="697" y="467"/>
                      <a:pt x="699" y="465"/>
                      <a:pt x="699" y="462"/>
                    </a:cubicBezTo>
                    <a:cubicBezTo>
                      <a:pt x="699" y="460"/>
                      <a:pt x="699" y="460"/>
                      <a:pt x="700" y="459"/>
                    </a:cubicBezTo>
                    <a:cubicBezTo>
                      <a:pt x="700" y="458"/>
                      <a:pt x="702" y="457"/>
                      <a:pt x="701" y="456"/>
                    </a:cubicBezTo>
                    <a:cubicBezTo>
                      <a:pt x="701" y="455"/>
                      <a:pt x="701" y="455"/>
                      <a:pt x="703" y="454"/>
                    </a:cubicBezTo>
                    <a:cubicBezTo>
                      <a:pt x="704" y="453"/>
                      <a:pt x="705" y="452"/>
                      <a:pt x="705" y="451"/>
                    </a:cubicBezTo>
                    <a:cubicBezTo>
                      <a:pt x="705" y="450"/>
                      <a:pt x="706" y="450"/>
                      <a:pt x="708" y="451"/>
                    </a:cubicBezTo>
                    <a:cubicBezTo>
                      <a:pt x="709" y="453"/>
                      <a:pt x="709" y="452"/>
                      <a:pt x="710" y="451"/>
                    </a:cubicBezTo>
                    <a:cubicBezTo>
                      <a:pt x="711" y="450"/>
                      <a:pt x="713" y="450"/>
                      <a:pt x="712" y="447"/>
                    </a:cubicBezTo>
                    <a:cubicBezTo>
                      <a:pt x="711" y="444"/>
                      <a:pt x="710" y="446"/>
                      <a:pt x="710" y="444"/>
                    </a:cubicBezTo>
                    <a:cubicBezTo>
                      <a:pt x="710" y="443"/>
                      <a:pt x="711" y="443"/>
                      <a:pt x="712" y="443"/>
                    </a:cubicBezTo>
                    <a:cubicBezTo>
                      <a:pt x="713" y="443"/>
                      <a:pt x="714" y="443"/>
                      <a:pt x="713" y="442"/>
                    </a:cubicBezTo>
                    <a:cubicBezTo>
                      <a:pt x="712" y="440"/>
                      <a:pt x="712" y="440"/>
                      <a:pt x="713" y="440"/>
                    </a:cubicBezTo>
                    <a:cubicBezTo>
                      <a:pt x="714" y="440"/>
                      <a:pt x="714" y="439"/>
                      <a:pt x="714" y="438"/>
                    </a:cubicBezTo>
                    <a:cubicBezTo>
                      <a:pt x="713" y="437"/>
                      <a:pt x="710" y="438"/>
                      <a:pt x="711" y="437"/>
                    </a:cubicBezTo>
                    <a:cubicBezTo>
                      <a:pt x="712" y="435"/>
                      <a:pt x="713" y="434"/>
                      <a:pt x="714" y="435"/>
                    </a:cubicBezTo>
                    <a:cubicBezTo>
                      <a:pt x="715" y="436"/>
                      <a:pt x="715" y="436"/>
                      <a:pt x="715" y="435"/>
                    </a:cubicBezTo>
                    <a:cubicBezTo>
                      <a:pt x="716" y="435"/>
                      <a:pt x="716" y="435"/>
                      <a:pt x="717" y="435"/>
                    </a:cubicBezTo>
                    <a:cubicBezTo>
                      <a:pt x="718" y="434"/>
                      <a:pt x="718" y="433"/>
                      <a:pt x="718" y="432"/>
                    </a:cubicBezTo>
                    <a:cubicBezTo>
                      <a:pt x="718" y="431"/>
                      <a:pt x="716" y="430"/>
                      <a:pt x="717" y="429"/>
                    </a:cubicBezTo>
                    <a:cubicBezTo>
                      <a:pt x="717" y="428"/>
                      <a:pt x="717" y="428"/>
                      <a:pt x="718" y="426"/>
                    </a:cubicBezTo>
                    <a:cubicBezTo>
                      <a:pt x="719" y="425"/>
                      <a:pt x="719" y="425"/>
                      <a:pt x="717" y="424"/>
                    </a:cubicBezTo>
                    <a:cubicBezTo>
                      <a:pt x="715" y="424"/>
                      <a:pt x="711" y="422"/>
                      <a:pt x="710" y="421"/>
                    </a:cubicBezTo>
                    <a:cubicBezTo>
                      <a:pt x="709" y="420"/>
                      <a:pt x="708" y="417"/>
                      <a:pt x="706" y="418"/>
                    </a:cubicBezTo>
                    <a:cubicBezTo>
                      <a:pt x="704" y="420"/>
                      <a:pt x="700" y="423"/>
                      <a:pt x="699" y="421"/>
                    </a:cubicBezTo>
                    <a:cubicBezTo>
                      <a:pt x="698" y="419"/>
                      <a:pt x="695" y="417"/>
                      <a:pt x="698" y="417"/>
                    </a:cubicBezTo>
                    <a:cubicBezTo>
                      <a:pt x="701" y="416"/>
                      <a:pt x="702" y="416"/>
                      <a:pt x="703" y="414"/>
                    </a:cubicBezTo>
                    <a:cubicBezTo>
                      <a:pt x="705" y="412"/>
                      <a:pt x="708" y="411"/>
                      <a:pt x="709" y="410"/>
                    </a:cubicBezTo>
                    <a:cubicBezTo>
                      <a:pt x="711" y="410"/>
                      <a:pt x="717" y="409"/>
                      <a:pt x="716" y="406"/>
                    </a:cubicBezTo>
                    <a:cubicBezTo>
                      <a:pt x="715" y="403"/>
                      <a:pt x="713" y="401"/>
                      <a:pt x="712" y="401"/>
                    </a:cubicBezTo>
                    <a:cubicBezTo>
                      <a:pt x="710" y="400"/>
                      <a:pt x="708" y="398"/>
                      <a:pt x="707" y="397"/>
                    </a:cubicBezTo>
                    <a:cubicBezTo>
                      <a:pt x="706" y="396"/>
                      <a:pt x="703" y="395"/>
                      <a:pt x="702" y="394"/>
                    </a:cubicBezTo>
                    <a:cubicBezTo>
                      <a:pt x="700" y="394"/>
                      <a:pt x="699" y="393"/>
                      <a:pt x="699" y="392"/>
                    </a:cubicBezTo>
                    <a:cubicBezTo>
                      <a:pt x="700" y="391"/>
                      <a:pt x="699" y="390"/>
                      <a:pt x="698" y="390"/>
                    </a:cubicBezTo>
                    <a:cubicBezTo>
                      <a:pt x="697" y="390"/>
                      <a:pt x="696" y="388"/>
                      <a:pt x="699" y="389"/>
                    </a:cubicBezTo>
                    <a:cubicBezTo>
                      <a:pt x="702" y="390"/>
                      <a:pt x="702" y="392"/>
                      <a:pt x="704" y="392"/>
                    </a:cubicBezTo>
                    <a:cubicBezTo>
                      <a:pt x="706" y="392"/>
                      <a:pt x="708" y="392"/>
                      <a:pt x="711" y="392"/>
                    </a:cubicBezTo>
                    <a:cubicBezTo>
                      <a:pt x="713" y="393"/>
                      <a:pt x="717" y="395"/>
                      <a:pt x="716" y="393"/>
                    </a:cubicBezTo>
                    <a:cubicBezTo>
                      <a:pt x="715" y="391"/>
                      <a:pt x="714" y="391"/>
                      <a:pt x="712" y="389"/>
                    </a:cubicBezTo>
                    <a:cubicBezTo>
                      <a:pt x="710" y="388"/>
                      <a:pt x="708" y="388"/>
                      <a:pt x="709" y="386"/>
                    </a:cubicBezTo>
                    <a:cubicBezTo>
                      <a:pt x="709" y="385"/>
                      <a:pt x="708" y="383"/>
                      <a:pt x="705" y="381"/>
                    </a:cubicBezTo>
                    <a:cubicBezTo>
                      <a:pt x="702" y="380"/>
                      <a:pt x="701" y="379"/>
                      <a:pt x="702" y="377"/>
                    </a:cubicBezTo>
                    <a:cubicBezTo>
                      <a:pt x="702" y="375"/>
                      <a:pt x="700" y="370"/>
                      <a:pt x="700" y="368"/>
                    </a:cubicBezTo>
                    <a:cubicBezTo>
                      <a:pt x="699" y="366"/>
                      <a:pt x="694" y="355"/>
                      <a:pt x="694" y="355"/>
                    </a:cubicBezTo>
                    <a:cubicBezTo>
                      <a:pt x="694" y="355"/>
                      <a:pt x="693" y="352"/>
                      <a:pt x="690" y="351"/>
                    </a:cubicBezTo>
                    <a:cubicBezTo>
                      <a:pt x="686" y="350"/>
                      <a:pt x="684" y="348"/>
                      <a:pt x="683" y="347"/>
                    </a:cubicBezTo>
                    <a:cubicBezTo>
                      <a:pt x="682" y="346"/>
                      <a:pt x="680" y="344"/>
                      <a:pt x="679" y="344"/>
                    </a:cubicBezTo>
                    <a:cubicBezTo>
                      <a:pt x="677" y="345"/>
                      <a:pt x="677" y="344"/>
                      <a:pt x="677" y="343"/>
                    </a:cubicBezTo>
                    <a:cubicBezTo>
                      <a:pt x="677" y="341"/>
                      <a:pt x="677" y="340"/>
                      <a:pt x="678" y="339"/>
                    </a:cubicBezTo>
                    <a:cubicBezTo>
                      <a:pt x="679" y="338"/>
                      <a:pt x="681" y="335"/>
                      <a:pt x="681" y="333"/>
                    </a:cubicBezTo>
                    <a:cubicBezTo>
                      <a:pt x="682" y="332"/>
                      <a:pt x="684" y="331"/>
                      <a:pt x="685" y="330"/>
                    </a:cubicBezTo>
                    <a:cubicBezTo>
                      <a:pt x="686" y="330"/>
                      <a:pt x="688" y="328"/>
                      <a:pt x="689" y="327"/>
                    </a:cubicBezTo>
                    <a:cubicBezTo>
                      <a:pt x="690" y="326"/>
                      <a:pt x="691" y="325"/>
                      <a:pt x="692" y="325"/>
                    </a:cubicBezTo>
                    <a:cubicBezTo>
                      <a:pt x="692" y="324"/>
                      <a:pt x="694" y="323"/>
                      <a:pt x="693" y="323"/>
                    </a:cubicBezTo>
                    <a:cubicBezTo>
                      <a:pt x="691" y="322"/>
                      <a:pt x="690" y="320"/>
                      <a:pt x="692" y="320"/>
                    </a:cubicBezTo>
                    <a:cubicBezTo>
                      <a:pt x="693" y="320"/>
                      <a:pt x="693" y="320"/>
                      <a:pt x="694" y="321"/>
                    </a:cubicBezTo>
                    <a:cubicBezTo>
                      <a:pt x="695" y="323"/>
                      <a:pt x="695" y="322"/>
                      <a:pt x="696" y="322"/>
                    </a:cubicBezTo>
                    <a:cubicBezTo>
                      <a:pt x="697" y="322"/>
                      <a:pt x="699" y="321"/>
                      <a:pt x="699" y="320"/>
                    </a:cubicBezTo>
                    <a:cubicBezTo>
                      <a:pt x="698" y="319"/>
                      <a:pt x="699" y="317"/>
                      <a:pt x="700" y="317"/>
                    </a:cubicBezTo>
                    <a:cubicBezTo>
                      <a:pt x="702" y="316"/>
                      <a:pt x="704" y="315"/>
                      <a:pt x="703" y="314"/>
                    </a:cubicBezTo>
                    <a:cubicBezTo>
                      <a:pt x="702" y="314"/>
                      <a:pt x="701" y="312"/>
                      <a:pt x="703" y="313"/>
                    </a:cubicBezTo>
                    <a:cubicBezTo>
                      <a:pt x="705" y="313"/>
                      <a:pt x="706" y="312"/>
                      <a:pt x="707" y="312"/>
                    </a:cubicBezTo>
                    <a:cubicBezTo>
                      <a:pt x="708" y="311"/>
                      <a:pt x="719" y="307"/>
                      <a:pt x="720" y="307"/>
                    </a:cubicBezTo>
                    <a:cubicBezTo>
                      <a:pt x="721" y="306"/>
                      <a:pt x="721" y="306"/>
                      <a:pt x="721" y="307"/>
                    </a:cubicBezTo>
                    <a:cubicBezTo>
                      <a:pt x="722" y="308"/>
                      <a:pt x="722" y="310"/>
                      <a:pt x="724" y="309"/>
                    </a:cubicBezTo>
                    <a:cubicBezTo>
                      <a:pt x="727" y="308"/>
                      <a:pt x="726" y="307"/>
                      <a:pt x="726" y="307"/>
                    </a:cubicBezTo>
                    <a:cubicBezTo>
                      <a:pt x="726" y="306"/>
                      <a:pt x="726" y="306"/>
                      <a:pt x="725" y="306"/>
                    </a:cubicBezTo>
                    <a:cubicBezTo>
                      <a:pt x="724" y="306"/>
                      <a:pt x="724" y="306"/>
                      <a:pt x="725" y="305"/>
                    </a:cubicBezTo>
                    <a:cubicBezTo>
                      <a:pt x="726" y="304"/>
                      <a:pt x="731" y="299"/>
                      <a:pt x="729" y="299"/>
                    </a:cubicBezTo>
                    <a:cubicBezTo>
                      <a:pt x="726" y="299"/>
                      <a:pt x="724" y="299"/>
                      <a:pt x="722" y="298"/>
                    </a:cubicBezTo>
                    <a:cubicBezTo>
                      <a:pt x="720" y="297"/>
                      <a:pt x="719" y="296"/>
                      <a:pt x="719" y="297"/>
                    </a:cubicBezTo>
                    <a:cubicBezTo>
                      <a:pt x="718" y="299"/>
                      <a:pt x="718" y="300"/>
                      <a:pt x="718" y="299"/>
                    </a:cubicBezTo>
                    <a:cubicBezTo>
                      <a:pt x="717" y="299"/>
                      <a:pt x="716" y="298"/>
                      <a:pt x="715" y="299"/>
                    </a:cubicBezTo>
                    <a:cubicBezTo>
                      <a:pt x="714" y="299"/>
                      <a:pt x="710" y="300"/>
                      <a:pt x="702" y="294"/>
                    </a:cubicBezTo>
                    <a:cubicBezTo>
                      <a:pt x="702" y="294"/>
                      <a:pt x="700" y="292"/>
                      <a:pt x="698" y="293"/>
                    </a:cubicBezTo>
                    <a:cubicBezTo>
                      <a:pt x="696" y="294"/>
                      <a:pt x="695" y="294"/>
                      <a:pt x="695" y="294"/>
                    </a:cubicBezTo>
                    <a:cubicBezTo>
                      <a:pt x="694" y="294"/>
                      <a:pt x="692" y="295"/>
                      <a:pt x="692" y="295"/>
                    </a:cubicBezTo>
                    <a:cubicBezTo>
                      <a:pt x="693" y="296"/>
                      <a:pt x="692" y="297"/>
                      <a:pt x="692" y="298"/>
                    </a:cubicBezTo>
                    <a:cubicBezTo>
                      <a:pt x="691" y="298"/>
                      <a:pt x="686" y="301"/>
                      <a:pt x="685" y="302"/>
                    </a:cubicBezTo>
                    <a:cubicBezTo>
                      <a:pt x="684" y="303"/>
                      <a:pt x="683" y="304"/>
                      <a:pt x="681" y="304"/>
                    </a:cubicBezTo>
                    <a:cubicBezTo>
                      <a:pt x="679" y="304"/>
                      <a:pt x="676" y="302"/>
                      <a:pt x="675" y="302"/>
                    </a:cubicBezTo>
                    <a:cubicBezTo>
                      <a:pt x="674" y="302"/>
                      <a:pt x="673" y="301"/>
                      <a:pt x="674" y="300"/>
                    </a:cubicBezTo>
                    <a:cubicBezTo>
                      <a:pt x="674" y="299"/>
                      <a:pt x="677" y="291"/>
                      <a:pt x="674" y="289"/>
                    </a:cubicBezTo>
                    <a:cubicBezTo>
                      <a:pt x="671" y="287"/>
                      <a:pt x="671" y="287"/>
                      <a:pt x="670" y="286"/>
                    </a:cubicBezTo>
                    <a:cubicBezTo>
                      <a:pt x="668" y="286"/>
                      <a:pt x="669" y="287"/>
                      <a:pt x="669" y="287"/>
                    </a:cubicBezTo>
                    <a:cubicBezTo>
                      <a:pt x="669" y="288"/>
                      <a:pt x="669" y="290"/>
                      <a:pt x="668" y="289"/>
                    </a:cubicBezTo>
                    <a:cubicBezTo>
                      <a:pt x="667" y="288"/>
                      <a:pt x="667" y="288"/>
                      <a:pt x="665" y="287"/>
                    </a:cubicBezTo>
                    <a:cubicBezTo>
                      <a:pt x="664" y="287"/>
                      <a:pt x="660" y="286"/>
                      <a:pt x="659" y="286"/>
                    </a:cubicBezTo>
                    <a:cubicBezTo>
                      <a:pt x="658" y="286"/>
                      <a:pt x="652" y="282"/>
                      <a:pt x="653" y="277"/>
                    </a:cubicBezTo>
                    <a:cubicBezTo>
                      <a:pt x="654" y="272"/>
                      <a:pt x="657" y="266"/>
                      <a:pt x="661" y="269"/>
                    </a:cubicBezTo>
                    <a:cubicBezTo>
                      <a:pt x="665" y="273"/>
                      <a:pt x="666" y="271"/>
                      <a:pt x="667" y="271"/>
                    </a:cubicBezTo>
                    <a:cubicBezTo>
                      <a:pt x="667" y="271"/>
                      <a:pt x="669" y="270"/>
                      <a:pt x="670" y="270"/>
                    </a:cubicBezTo>
                    <a:cubicBezTo>
                      <a:pt x="672" y="270"/>
                      <a:pt x="673" y="269"/>
                      <a:pt x="674" y="268"/>
                    </a:cubicBezTo>
                    <a:cubicBezTo>
                      <a:pt x="675" y="267"/>
                      <a:pt x="676" y="266"/>
                      <a:pt x="677" y="266"/>
                    </a:cubicBezTo>
                    <a:cubicBezTo>
                      <a:pt x="677" y="266"/>
                      <a:pt x="678" y="264"/>
                      <a:pt x="678" y="262"/>
                    </a:cubicBezTo>
                    <a:cubicBezTo>
                      <a:pt x="679" y="261"/>
                      <a:pt x="679" y="258"/>
                      <a:pt x="684" y="256"/>
                    </a:cubicBezTo>
                    <a:cubicBezTo>
                      <a:pt x="688" y="254"/>
                      <a:pt x="697" y="250"/>
                      <a:pt x="698" y="247"/>
                    </a:cubicBezTo>
                    <a:cubicBezTo>
                      <a:pt x="699" y="245"/>
                      <a:pt x="704" y="239"/>
                      <a:pt x="708" y="240"/>
                    </a:cubicBezTo>
                    <a:cubicBezTo>
                      <a:pt x="712" y="240"/>
                      <a:pt x="715" y="240"/>
                      <a:pt x="715" y="239"/>
                    </a:cubicBezTo>
                    <a:cubicBezTo>
                      <a:pt x="716" y="238"/>
                      <a:pt x="716" y="238"/>
                      <a:pt x="716" y="239"/>
                    </a:cubicBezTo>
                    <a:cubicBezTo>
                      <a:pt x="717" y="241"/>
                      <a:pt x="718" y="241"/>
                      <a:pt x="719" y="242"/>
                    </a:cubicBezTo>
                    <a:cubicBezTo>
                      <a:pt x="720" y="242"/>
                      <a:pt x="722" y="243"/>
                      <a:pt x="722" y="244"/>
                    </a:cubicBezTo>
                    <a:cubicBezTo>
                      <a:pt x="723" y="245"/>
                      <a:pt x="723" y="246"/>
                      <a:pt x="722" y="246"/>
                    </a:cubicBezTo>
                    <a:cubicBezTo>
                      <a:pt x="722" y="247"/>
                      <a:pt x="720" y="250"/>
                      <a:pt x="719" y="252"/>
                    </a:cubicBezTo>
                    <a:cubicBezTo>
                      <a:pt x="718" y="253"/>
                      <a:pt x="717" y="254"/>
                      <a:pt x="716" y="254"/>
                    </a:cubicBezTo>
                    <a:cubicBezTo>
                      <a:pt x="715" y="255"/>
                      <a:pt x="716" y="255"/>
                      <a:pt x="716" y="255"/>
                    </a:cubicBezTo>
                    <a:cubicBezTo>
                      <a:pt x="715" y="256"/>
                      <a:pt x="714" y="257"/>
                      <a:pt x="713" y="257"/>
                    </a:cubicBezTo>
                    <a:cubicBezTo>
                      <a:pt x="712" y="257"/>
                      <a:pt x="710" y="258"/>
                      <a:pt x="710" y="259"/>
                    </a:cubicBezTo>
                    <a:cubicBezTo>
                      <a:pt x="711" y="261"/>
                      <a:pt x="710" y="261"/>
                      <a:pt x="710" y="261"/>
                    </a:cubicBezTo>
                    <a:cubicBezTo>
                      <a:pt x="709" y="261"/>
                      <a:pt x="707" y="262"/>
                      <a:pt x="708" y="262"/>
                    </a:cubicBezTo>
                    <a:cubicBezTo>
                      <a:pt x="709" y="263"/>
                      <a:pt x="713" y="265"/>
                      <a:pt x="715" y="265"/>
                    </a:cubicBezTo>
                    <a:cubicBezTo>
                      <a:pt x="716" y="265"/>
                      <a:pt x="716" y="266"/>
                      <a:pt x="714" y="267"/>
                    </a:cubicBezTo>
                    <a:cubicBezTo>
                      <a:pt x="713" y="267"/>
                      <a:pt x="713" y="268"/>
                      <a:pt x="714" y="269"/>
                    </a:cubicBezTo>
                    <a:cubicBezTo>
                      <a:pt x="714" y="270"/>
                      <a:pt x="715" y="270"/>
                      <a:pt x="713" y="270"/>
                    </a:cubicBezTo>
                    <a:cubicBezTo>
                      <a:pt x="712" y="271"/>
                      <a:pt x="709" y="271"/>
                      <a:pt x="708" y="272"/>
                    </a:cubicBezTo>
                    <a:cubicBezTo>
                      <a:pt x="708" y="273"/>
                      <a:pt x="707" y="274"/>
                      <a:pt x="706" y="273"/>
                    </a:cubicBezTo>
                    <a:cubicBezTo>
                      <a:pt x="706" y="273"/>
                      <a:pt x="705" y="273"/>
                      <a:pt x="706" y="274"/>
                    </a:cubicBezTo>
                    <a:cubicBezTo>
                      <a:pt x="706" y="276"/>
                      <a:pt x="706" y="277"/>
                      <a:pt x="708" y="276"/>
                    </a:cubicBezTo>
                    <a:cubicBezTo>
                      <a:pt x="710" y="274"/>
                      <a:pt x="727" y="263"/>
                      <a:pt x="729" y="262"/>
                    </a:cubicBezTo>
                    <a:cubicBezTo>
                      <a:pt x="732" y="260"/>
                      <a:pt x="736" y="258"/>
                      <a:pt x="738" y="258"/>
                    </a:cubicBezTo>
                    <a:cubicBezTo>
                      <a:pt x="740" y="258"/>
                      <a:pt x="749" y="258"/>
                      <a:pt x="750" y="257"/>
                    </a:cubicBezTo>
                    <a:cubicBezTo>
                      <a:pt x="751" y="256"/>
                      <a:pt x="752" y="254"/>
                      <a:pt x="753" y="254"/>
                    </a:cubicBezTo>
                    <a:cubicBezTo>
                      <a:pt x="754" y="253"/>
                      <a:pt x="754" y="252"/>
                      <a:pt x="754" y="252"/>
                    </a:cubicBezTo>
                    <a:cubicBezTo>
                      <a:pt x="754" y="252"/>
                      <a:pt x="768" y="244"/>
                      <a:pt x="769" y="243"/>
                    </a:cubicBezTo>
                    <a:cubicBezTo>
                      <a:pt x="769" y="243"/>
                      <a:pt x="773" y="240"/>
                      <a:pt x="773" y="240"/>
                    </a:cubicBezTo>
                    <a:cubicBezTo>
                      <a:pt x="773" y="239"/>
                      <a:pt x="774" y="239"/>
                      <a:pt x="774" y="239"/>
                    </a:cubicBezTo>
                    <a:cubicBezTo>
                      <a:pt x="774" y="239"/>
                      <a:pt x="774" y="239"/>
                      <a:pt x="777" y="239"/>
                    </a:cubicBezTo>
                    <a:cubicBezTo>
                      <a:pt x="779" y="238"/>
                      <a:pt x="785" y="230"/>
                      <a:pt x="785" y="229"/>
                    </a:cubicBezTo>
                    <a:cubicBezTo>
                      <a:pt x="786" y="229"/>
                      <a:pt x="787" y="227"/>
                      <a:pt x="787" y="226"/>
                    </a:cubicBezTo>
                    <a:cubicBezTo>
                      <a:pt x="788" y="224"/>
                      <a:pt x="790" y="223"/>
                      <a:pt x="791" y="223"/>
                    </a:cubicBezTo>
                    <a:cubicBezTo>
                      <a:pt x="792" y="223"/>
                      <a:pt x="793" y="224"/>
                      <a:pt x="793" y="225"/>
                    </a:cubicBezTo>
                    <a:cubicBezTo>
                      <a:pt x="793" y="226"/>
                      <a:pt x="794" y="226"/>
                      <a:pt x="794" y="226"/>
                    </a:cubicBezTo>
                    <a:cubicBezTo>
                      <a:pt x="797" y="229"/>
                      <a:pt x="798" y="229"/>
                      <a:pt x="799" y="229"/>
                    </a:cubicBezTo>
                    <a:cubicBezTo>
                      <a:pt x="800" y="229"/>
                      <a:pt x="807" y="230"/>
                      <a:pt x="809" y="230"/>
                    </a:cubicBezTo>
                    <a:cubicBezTo>
                      <a:pt x="811" y="230"/>
                      <a:pt x="812" y="227"/>
                      <a:pt x="812" y="227"/>
                    </a:cubicBezTo>
                    <a:cubicBezTo>
                      <a:pt x="812" y="226"/>
                      <a:pt x="811" y="225"/>
                      <a:pt x="810" y="225"/>
                    </a:cubicBezTo>
                    <a:cubicBezTo>
                      <a:pt x="809" y="224"/>
                      <a:pt x="808" y="221"/>
                      <a:pt x="808" y="220"/>
                    </a:cubicBezTo>
                    <a:cubicBezTo>
                      <a:pt x="808" y="219"/>
                      <a:pt x="808" y="219"/>
                      <a:pt x="808" y="219"/>
                    </a:cubicBezTo>
                    <a:cubicBezTo>
                      <a:pt x="808" y="219"/>
                      <a:pt x="821" y="218"/>
                      <a:pt x="822" y="218"/>
                    </a:cubicBezTo>
                    <a:cubicBezTo>
                      <a:pt x="822" y="217"/>
                      <a:pt x="823" y="217"/>
                      <a:pt x="823" y="217"/>
                    </a:cubicBezTo>
                    <a:cubicBezTo>
                      <a:pt x="823" y="217"/>
                      <a:pt x="824" y="215"/>
                      <a:pt x="825" y="215"/>
                    </a:cubicBezTo>
                    <a:cubicBezTo>
                      <a:pt x="825" y="215"/>
                      <a:pt x="825" y="214"/>
                      <a:pt x="825" y="214"/>
                    </a:cubicBezTo>
                    <a:cubicBezTo>
                      <a:pt x="825" y="213"/>
                      <a:pt x="827" y="211"/>
                      <a:pt x="828" y="211"/>
                    </a:cubicBezTo>
                    <a:cubicBezTo>
                      <a:pt x="829" y="211"/>
                      <a:pt x="831" y="210"/>
                      <a:pt x="832" y="210"/>
                    </a:cubicBezTo>
                    <a:cubicBezTo>
                      <a:pt x="834" y="209"/>
                      <a:pt x="834" y="207"/>
                      <a:pt x="834" y="205"/>
                    </a:cubicBezTo>
                    <a:cubicBezTo>
                      <a:pt x="834" y="204"/>
                      <a:pt x="835" y="202"/>
                      <a:pt x="835" y="202"/>
                    </a:cubicBezTo>
                    <a:cubicBezTo>
                      <a:pt x="835" y="202"/>
                      <a:pt x="836" y="202"/>
                      <a:pt x="836" y="201"/>
                    </a:cubicBezTo>
                    <a:cubicBezTo>
                      <a:pt x="836" y="201"/>
                      <a:pt x="838" y="201"/>
                      <a:pt x="839" y="202"/>
                    </a:cubicBezTo>
                    <a:cubicBezTo>
                      <a:pt x="841" y="203"/>
                      <a:pt x="841" y="205"/>
                      <a:pt x="841" y="206"/>
                    </a:cubicBezTo>
                    <a:cubicBezTo>
                      <a:pt x="841" y="207"/>
                      <a:pt x="844" y="210"/>
                      <a:pt x="845" y="211"/>
                    </a:cubicBezTo>
                    <a:cubicBezTo>
                      <a:pt x="845" y="211"/>
                      <a:pt x="846" y="211"/>
                      <a:pt x="846" y="212"/>
                    </a:cubicBezTo>
                    <a:cubicBezTo>
                      <a:pt x="846" y="211"/>
                      <a:pt x="846" y="210"/>
                      <a:pt x="846" y="209"/>
                    </a:cubicBezTo>
                    <a:cubicBezTo>
                      <a:pt x="846" y="207"/>
                      <a:pt x="844" y="207"/>
                      <a:pt x="844" y="207"/>
                    </a:cubicBezTo>
                    <a:cubicBezTo>
                      <a:pt x="843" y="207"/>
                      <a:pt x="843" y="206"/>
                      <a:pt x="844" y="206"/>
                    </a:cubicBezTo>
                    <a:cubicBezTo>
                      <a:pt x="844" y="206"/>
                      <a:pt x="848" y="204"/>
                      <a:pt x="849" y="204"/>
                    </a:cubicBezTo>
                    <a:cubicBezTo>
                      <a:pt x="850" y="204"/>
                      <a:pt x="850" y="204"/>
                      <a:pt x="853" y="203"/>
                    </a:cubicBezTo>
                    <a:cubicBezTo>
                      <a:pt x="855" y="202"/>
                      <a:pt x="856" y="194"/>
                      <a:pt x="856" y="194"/>
                    </a:cubicBezTo>
                    <a:cubicBezTo>
                      <a:pt x="856" y="194"/>
                      <a:pt x="856" y="193"/>
                      <a:pt x="856" y="193"/>
                    </a:cubicBezTo>
                    <a:cubicBezTo>
                      <a:pt x="856" y="193"/>
                      <a:pt x="856" y="193"/>
                      <a:pt x="856" y="190"/>
                    </a:cubicBezTo>
                    <a:cubicBezTo>
                      <a:pt x="856" y="188"/>
                      <a:pt x="855" y="180"/>
                      <a:pt x="855" y="179"/>
                    </a:cubicBezTo>
                    <a:cubicBezTo>
                      <a:pt x="855" y="178"/>
                      <a:pt x="854" y="174"/>
                      <a:pt x="854" y="173"/>
                    </a:cubicBezTo>
                    <a:cubicBezTo>
                      <a:pt x="854" y="173"/>
                      <a:pt x="852" y="168"/>
                      <a:pt x="852" y="168"/>
                    </a:cubicBezTo>
                    <a:cubicBezTo>
                      <a:pt x="851" y="168"/>
                      <a:pt x="852" y="167"/>
                      <a:pt x="852" y="167"/>
                    </a:cubicBezTo>
                    <a:cubicBezTo>
                      <a:pt x="852" y="167"/>
                      <a:pt x="857" y="166"/>
                      <a:pt x="858" y="165"/>
                    </a:cubicBezTo>
                    <a:cubicBezTo>
                      <a:pt x="859" y="165"/>
                      <a:pt x="859" y="165"/>
                      <a:pt x="859" y="165"/>
                    </a:cubicBezTo>
                    <a:cubicBezTo>
                      <a:pt x="859" y="165"/>
                      <a:pt x="862" y="162"/>
                      <a:pt x="862" y="161"/>
                    </a:cubicBezTo>
                    <a:cubicBezTo>
                      <a:pt x="863" y="161"/>
                      <a:pt x="863" y="160"/>
                      <a:pt x="864" y="159"/>
                    </a:cubicBezTo>
                    <a:cubicBezTo>
                      <a:pt x="865" y="158"/>
                      <a:pt x="866" y="160"/>
                      <a:pt x="866" y="160"/>
                    </a:cubicBezTo>
                    <a:cubicBezTo>
                      <a:pt x="867" y="160"/>
                      <a:pt x="867" y="161"/>
                      <a:pt x="867" y="161"/>
                    </a:cubicBezTo>
                    <a:cubicBezTo>
                      <a:pt x="867" y="161"/>
                      <a:pt x="878" y="163"/>
                      <a:pt x="878" y="164"/>
                    </a:cubicBezTo>
                    <a:cubicBezTo>
                      <a:pt x="879" y="164"/>
                      <a:pt x="880" y="164"/>
                      <a:pt x="880" y="164"/>
                    </a:cubicBezTo>
                    <a:cubicBezTo>
                      <a:pt x="880" y="164"/>
                      <a:pt x="883" y="163"/>
                      <a:pt x="883" y="163"/>
                    </a:cubicBezTo>
                    <a:cubicBezTo>
                      <a:pt x="883" y="162"/>
                      <a:pt x="883" y="162"/>
                      <a:pt x="883" y="161"/>
                    </a:cubicBezTo>
                    <a:cubicBezTo>
                      <a:pt x="883" y="160"/>
                      <a:pt x="883" y="158"/>
                      <a:pt x="883" y="158"/>
                    </a:cubicBezTo>
                    <a:cubicBezTo>
                      <a:pt x="883" y="157"/>
                      <a:pt x="884" y="157"/>
                      <a:pt x="884" y="157"/>
                    </a:cubicBezTo>
                    <a:cubicBezTo>
                      <a:pt x="884" y="157"/>
                      <a:pt x="885" y="156"/>
                      <a:pt x="887" y="155"/>
                    </a:cubicBezTo>
                    <a:cubicBezTo>
                      <a:pt x="889" y="153"/>
                      <a:pt x="889" y="151"/>
                      <a:pt x="889" y="150"/>
                    </a:cubicBezTo>
                    <a:cubicBezTo>
                      <a:pt x="889" y="150"/>
                      <a:pt x="889" y="149"/>
                      <a:pt x="889" y="149"/>
                    </a:cubicBezTo>
                    <a:cubicBezTo>
                      <a:pt x="889" y="149"/>
                      <a:pt x="893" y="144"/>
                      <a:pt x="893" y="143"/>
                    </a:cubicBezTo>
                    <a:cubicBezTo>
                      <a:pt x="894" y="143"/>
                      <a:pt x="894" y="142"/>
                      <a:pt x="894" y="142"/>
                    </a:cubicBezTo>
                    <a:cubicBezTo>
                      <a:pt x="894" y="142"/>
                      <a:pt x="895" y="138"/>
                      <a:pt x="895" y="137"/>
                    </a:cubicBezTo>
                    <a:cubicBezTo>
                      <a:pt x="895" y="136"/>
                      <a:pt x="895" y="136"/>
                      <a:pt x="896" y="135"/>
                    </a:cubicBezTo>
                    <a:cubicBezTo>
                      <a:pt x="896" y="135"/>
                      <a:pt x="897" y="134"/>
                      <a:pt x="897" y="134"/>
                    </a:cubicBezTo>
                    <a:cubicBezTo>
                      <a:pt x="897" y="134"/>
                      <a:pt x="898" y="128"/>
                      <a:pt x="898" y="127"/>
                    </a:cubicBezTo>
                    <a:cubicBezTo>
                      <a:pt x="899" y="127"/>
                      <a:pt x="899" y="125"/>
                      <a:pt x="899" y="123"/>
                    </a:cubicBezTo>
                    <a:cubicBezTo>
                      <a:pt x="899" y="121"/>
                      <a:pt x="904" y="118"/>
                      <a:pt x="906" y="117"/>
                    </a:cubicBezTo>
                    <a:cubicBezTo>
                      <a:pt x="908" y="116"/>
                      <a:pt x="908" y="114"/>
                      <a:pt x="907" y="113"/>
                    </a:cubicBezTo>
                    <a:cubicBezTo>
                      <a:pt x="907" y="112"/>
                      <a:pt x="905" y="111"/>
                      <a:pt x="905" y="109"/>
                    </a:cubicBezTo>
                    <a:cubicBezTo>
                      <a:pt x="905" y="107"/>
                      <a:pt x="906" y="105"/>
                      <a:pt x="907" y="105"/>
                    </a:cubicBezTo>
                    <a:cubicBezTo>
                      <a:pt x="908" y="104"/>
                      <a:pt x="907" y="104"/>
                      <a:pt x="907" y="104"/>
                    </a:cubicBezTo>
                    <a:cubicBezTo>
                      <a:pt x="907" y="104"/>
                      <a:pt x="904" y="102"/>
                      <a:pt x="904" y="102"/>
                    </a:cubicBezTo>
                    <a:cubicBezTo>
                      <a:pt x="903" y="102"/>
                      <a:pt x="902" y="102"/>
                      <a:pt x="902" y="102"/>
                    </a:cubicBezTo>
                    <a:cubicBezTo>
                      <a:pt x="902" y="102"/>
                      <a:pt x="898" y="102"/>
                      <a:pt x="898" y="103"/>
                    </a:cubicBezTo>
                    <a:cubicBezTo>
                      <a:pt x="897" y="103"/>
                      <a:pt x="887" y="107"/>
                      <a:pt x="887" y="107"/>
                    </a:cubicBezTo>
                    <a:cubicBezTo>
                      <a:pt x="886" y="107"/>
                      <a:pt x="884" y="107"/>
                      <a:pt x="883" y="107"/>
                    </a:cubicBezTo>
                    <a:cubicBezTo>
                      <a:pt x="883" y="107"/>
                      <a:pt x="881" y="108"/>
                      <a:pt x="879" y="109"/>
                    </a:cubicBezTo>
                    <a:cubicBezTo>
                      <a:pt x="877" y="109"/>
                      <a:pt x="875" y="113"/>
                      <a:pt x="875" y="114"/>
                    </a:cubicBezTo>
                    <a:cubicBezTo>
                      <a:pt x="875" y="114"/>
                      <a:pt x="874" y="114"/>
                      <a:pt x="874" y="114"/>
                    </a:cubicBezTo>
                    <a:cubicBezTo>
                      <a:pt x="874" y="114"/>
                      <a:pt x="870" y="115"/>
                      <a:pt x="869" y="115"/>
                    </a:cubicBezTo>
                    <a:cubicBezTo>
                      <a:pt x="869" y="115"/>
                      <a:pt x="865" y="115"/>
                      <a:pt x="864" y="115"/>
                    </a:cubicBezTo>
                    <a:cubicBezTo>
                      <a:pt x="864" y="115"/>
                      <a:pt x="855" y="115"/>
                      <a:pt x="853" y="115"/>
                    </a:cubicBezTo>
                    <a:cubicBezTo>
                      <a:pt x="851" y="115"/>
                      <a:pt x="851" y="113"/>
                      <a:pt x="851" y="112"/>
                    </a:cubicBezTo>
                    <a:cubicBezTo>
                      <a:pt x="850" y="111"/>
                      <a:pt x="849" y="110"/>
                      <a:pt x="849" y="110"/>
                    </a:cubicBezTo>
                    <a:cubicBezTo>
                      <a:pt x="848" y="109"/>
                      <a:pt x="847" y="108"/>
                      <a:pt x="847" y="107"/>
                    </a:cubicBezTo>
                    <a:cubicBezTo>
                      <a:pt x="847" y="106"/>
                      <a:pt x="849" y="104"/>
                      <a:pt x="849" y="103"/>
                    </a:cubicBezTo>
                    <a:cubicBezTo>
                      <a:pt x="849" y="103"/>
                      <a:pt x="849" y="101"/>
                      <a:pt x="848" y="100"/>
                    </a:cubicBezTo>
                    <a:cubicBezTo>
                      <a:pt x="848" y="100"/>
                      <a:pt x="848" y="100"/>
                      <a:pt x="848" y="99"/>
                    </a:cubicBezTo>
                    <a:cubicBezTo>
                      <a:pt x="847" y="99"/>
                      <a:pt x="845" y="98"/>
                      <a:pt x="845" y="97"/>
                    </a:cubicBezTo>
                    <a:cubicBezTo>
                      <a:pt x="845" y="96"/>
                      <a:pt x="846" y="94"/>
                      <a:pt x="846" y="93"/>
                    </a:cubicBezTo>
                    <a:cubicBezTo>
                      <a:pt x="846" y="93"/>
                      <a:pt x="846" y="92"/>
                      <a:pt x="846" y="92"/>
                    </a:cubicBezTo>
                    <a:cubicBezTo>
                      <a:pt x="843" y="93"/>
                      <a:pt x="843" y="93"/>
                      <a:pt x="843" y="93"/>
                    </a:cubicBezTo>
                    <a:cubicBezTo>
                      <a:pt x="842" y="93"/>
                      <a:pt x="840" y="92"/>
                      <a:pt x="839" y="92"/>
                    </a:cubicBezTo>
                    <a:cubicBezTo>
                      <a:pt x="839" y="91"/>
                      <a:pt x="830" y="83"/>
                      <a:pt x="830" y="82"/>
                    </a:cubicBezTo>
                    <a:cubicBezTo>
                      <a:pt x="830" y="82"/>
                      <a:pt x="829" y="82"/>
                      <a:pt x="829" y="82"/>
                    </a:cubicBezTo>
                    <a:cubicBezTo>
                      <a:pt x="828" y="81"/>
                      <a:pt x="828" y="82"/>
                      <a:pt x="828" y="82"/>
                    </a:cubicBezTo>
                    <a:cubicBezTo>
                      <a:pt x="827" y="82"/>
                      <a:pt x="826" y="82"/>
                      <a:pt x="826" y="82"/>
                    </a:cubicBezTo>
                    <a:cubicBezTo>
                      <a:pt x="826" y="83"/>
                      <a:pt x="826" y="83"/>
                      <a:pt x="826" y="83"/>
                    </a:cubicBezTo>
                    <a:cubicBezTo>
                      <a:pt x="815" y="79"/>
                      <a:pt x="815" y="79"/>
                      <a:pt x="815" y="79"/>
                    </a:cubicBezTo>
                    <a:cubicBezTo>
                      <a:pt x="815" y="79"/>
                      <a:pt x="814" y="79"/>
                      <a:pt x="814" y="79"/>
                    </a:cubicBezTo>
                    <a:cubicBezTo>
                      <a:pt x="814" y="79"/>
                      <a:pt x="811" y="78"/>
                      <a:pt x="810" y="79"/>
                    </a:cubicBezTo>
                    <a:cubicBezTo>
                      <a:pt x="810" y="79"/>
                      <a:pt x="807" y="79"/>
                      <a:pt x="806" y="79"/>
                    </a:cubicBezTo>
                    <a:cubicBezTo>
                      <a:pt x="805" y="79"/>
                      <a:pt x="804" y="78"/>
                      <a:pt x="804" y="77"/>
                    </a:cubicBezTo>
                    <a:cubicBezTo>
                      <a:pt x="803" y="77"/>
                      <a:pt x="800" y="73"/>
                      <a:pt x="800" y="72"/>
                    </a:cubicBezTo>
                    <a:cubicBezTo>
                      <a:pt x="800" y="72"/>
                      <a:pt x="800" y="71"/>
                      <a:pt x="800" y="71"/>
                    </a:cubicBezTo>
                    <a:cubicBezTo>
                      <a:pt x="800" y="71"/>
                      <a:pt x="801" y="68"/>
                      <a:pt x="801" y="67"/>
                    </a:cubicBezTo>
                    <a:cubicBezTo>
                      <a:pt x="801" y="66"/>
                      <a:pt x="800" y="65"/>
                      <a:pt x="799" y="64"/>
                    </a:cubicBezTo>
                    <a:cubicBezTo>
                      <a:pt x="798" y="62"/>
                      <a:pt x="795" y="54"/>
                      <a:pt x="795" y="54"/>
                    </a:cubicBezTo>
                    <a:cubicBezTo>
                      <a:pt x="795" y="53"/>
                      <a:pt x="794" y="52"/>
                      <a:pt x="793" y="52"/>
                    </a:cubicBezTo>
                    <a:cubicBezTo>
                      <a:pt x="793" y="52"/>
                      <a:pt x="793" y="51"/>
                      <a:pt x="793" y="51"/>
                    </a:cubicBezTo>
                    <a:cubicBezTo>
                      <a:pt x="793" y="51"/>
                      <a:pt x="792" y="46"/>
                      <a:pt x="792" y="46"/>
                    </a:cubicBezTo>
                    <a:cubicBezTo>
                      <a:pt x="792" y="45"/>
                      <a:pt x="792" y="45"/>
                      <a:pt x="792" y="45"/>
                    </a:cubicBezTo>
                    <a:cubicBezTo>
                      <a:pt x="792" y="45"/>
                      <a:pt x="791" y="46"/>
                      <a:pt x="790" y="46"/>
                    </a:cubicBezTo>
                    <a:cubicBezTo>
                      <a:pt x="790" y="46"/>
                      <a:pt x="790" y="46"/>
                      <a:pt x="790" y="45"/>
                    </a:cubicBezTo>
                    <a:cubicBezTo>
                      <a:pt x="790" y="44"/>
                      <a:pt x="788" y="40"/>
                      <a:pt x="788" y="40"/>
                    </a:cubicBezTo>
                    <a:cubicBezTo>
                      <a:pt x="788" y="39"/>
                      <a:pt x="785" y="34"/>
                      <a:pt x="785" y="33"/>
                    </a:cubicBezTo>
                    <a:cubicBezTo>
                      <a:pt x="785" y="32"/>
                      <a:pt x="784" y="30"/>
                      <a:pt x="785" y="29"/>
                    </a:cubicBezTo>
                    <a:cubicBezTo>
                      <a:pt x="785" y="28"/>
                      <a:pt x="783" y="25"/>
                      <a:pt x="782" y="25"/>
                    </a:cubicBezTo>
                    <a:cubicBezTo>
                      <a:pt x="781" y="24"/>
                      <a:pt x="778" y="21"/>
                      <a:pt x="777" y="20"/>
                    </a:cubicBezTo>
                    <a:cubicBezTo>
                      <a:pt x="777" y="19"/>
                      <a:pt x="777" y="18"/>
                      <a:pt x="778" y="17"/>
                    </a:cubicBezTo>
                    <a:cubicBezTo>
                      <a:pt x="779" y="16"/>
                      <a:pt x="778" y="15"/>
                      <a:pt x="777" y="15"/>
                    </a:cubicBezTo>
                    <a:cubicBezTo>
                      <a:pt x="776" y="14"/>
                      <a:pt x="775" y="13"/>
                      <a:pt x="774" y="12"/>
                    </a:cubicBezTo>
                    <a:cubicBezTo>
                      <a:pt x="773" y="12"/>
                      <a:pt x="772" y="10"/>
                      <a:pt x="770" y="10"/>
                    </a:cubicBezTo>
                    <a:cubicBezTo>
                      <a:pt x="769" y="9"/>
                      <a:pt x="768" y="9"/>
                      <a:pt x="767" y="8"/>
                    </a:cubicBezTo>
                    <a:cubicBezTo>
                      <a:pt x="765" y="7"/>
                      <a:pt x="763" y="7"/>
                      <a:pt x="763" y="8"/>
                    </a:cubicBezTo>
                    <a:cubicBezTo>
                      <a:pt x="762" y="8"/>
                      <a:pt x="759" y="8"/>
                      <a:pt x="758" y="8"/>
                    </a:cubicBezTo>
                    <a:cubicBezTo>
                      <a:pt x="758" y="8"/>
                      <a:pt x="757" y="7"/>
                      <a:pt x="757" y="7"/>
                    </a:cubicBezTo>
                    <a:cubicBezTo>
                      <a:pt x="757" y="7"/>
                      <a:pt x="746" y="2"/>
                      <a:pt x="745" y="1"/>
                    </a:cubicBezTo>
                    <a:cubicBezTo>
                      <a:pt x="744" y="1"/>
                      <a:pt x="739" y="0"/>
                      <a:pt x="738" y="0"/>
                    </a:cubicBezTo>
                    <a:cubicBezTo>
                      <a:pt x="737" y="0"/>
                      <a:pt x="737" y="0"/>
                      <a:pt x="736" y="1"/>
                    </a:cubicBezTo>
                    <a:cubicBezTo>
                      <a:pt x="736" y="1"/>
                      <a:pt x="734" y="1"/>
                      <a:pt x="734" y="2"/>
                    </a:cubicBezTo>
                    <a:cubicBezTo>
                      <a:pt x="733" y="2"/>
                      <a:pt x="731" y="2"/>
                      <a:pt x="729" y="3"/>
                    </a:cubicBezTo>
                    <a:cubicBezTo>
                      <a:pt x="728" y="3"/>
                      <a:pt x="721" y="3"/>
                      <a:pt x="719" y="3"/>
                    </a:cubicBezTo>
                    <a:cubicBezTo>
                      <a:pt x="718" y="3"/>
                      <a:pt x="711" y="5"/>
                      <a:pt x="710" y="5"/>
                    </a:cubicBezTo>
                    <a:cubicBezTo>
                      <a:pt x="710" y="5"/>
                      <a:pt x="706" y="5"/>
                      <a:pt x="705" y="5"/>
                    </a:cubicBezTo>
                    <a:cubicBezTo>
                      <a:pt x="703" y="5"/>
                      <a:pt x="700" y="7"/>
                      <a:pt x="699" y="7"/>
                    </a:cubicBezTo>
                    <a:cubicBezTo>
                      <a:pt x="699" y="8"/>
                      <a:pt x="695" y="11"/>
                      <a:pt x="695" y="12"/>
                    </a:cubicBezTo>
                    <a:cubicBezTo>
                      <a:pt x="694" y="12"/>
                      <a:pt x="691" y="14"/>
                      <a:pt x="690" y="15"/>
                    </a:cubicBezTo>
                    <a:cubicBezTo>
                      <a:pt x="689" y="16"/>
                      <a:pt x="690" y="18"/>
                      <a:pt x="690" y="19"/>
                    </a:cubicBezTo>
                    <a:cubicBezTo>
                      <a:pt x="690" y="20"/>
                      <a:pt x="690" y="20"/>
                      <a:pt x="690" y="20"/>
                    </a:cubicBezTo>
                    <a:cubicBezTo>
                      <a:pt x="691" y="20"/>
                      <a:pt x="693" y="19"/>
                      <a:pt x="694" y="19"/>
                    </a:cubicBezTo>
                    <a:cubicBezTo>
                      <a:pt x="695" y="19"/>
                      <a:pt x="696" y="19"/>
                      <a:pt x="697" y="20"/>
                    </a:cubicBezTo>
                    <a:cubicBezTo>
                      <a:pt x="697" y="20"/>
                      <a:pt x="698" y="20"/>
                      <a:pt x="698" y="20"/>
                    </a:cubicBezTo>
                    <a:cubicBezTo>
                      <a:pt x="699" y="20"/>
                      <a:pt x="699" y="21"/>
                      <a:pt x="699" y="21"/>
                    </a:cubicBezTo>
                    <a:cubicBezTo>
                      <a:pt x="699" y="22"/>
                      <a:pt x="699" y="24"/>
                      <a:pt x="699" y="25"/>
                    </a:cubicBezTo>
                    <a:cubicBezTo>
                      <a:pt x="699" y="25"/>
                      <a:pt x="699" y="26"/>
                      <a:pt x="699" y="26"/>
                    </a:cubicBezTo>
                    <a:cubicBezTo>
                      <a:pt x="699" y="27"/>
                      <a:pt x="700" y="27"/>
                      <a:pt x="700" y="27"/>
                    </a:cubicBezTo>
                    <a:cubicBezTo>
                      <a:pt x="700" y="27"/>
                      <a:pt x="700" y="27"/>
                      <a:pt x="700" y="28"/>
                    </a:cubicBezTo>
                    <a:cubicBezTo>
                      <a:pt x="700" y="29"/>
                      <a:pt x="699" y="30"/>
                      <a:pt x="699" y="31"/>
                    </a:cubicBezTo>
                    <a:cubicBezTo>
                      <a:pt x="698" y="31"/>
                      <a:pt x="690" y="40"/>
                      <a:pt x="689" y="41"/>
                    </a:cubicBezTo>
                    <a:cubicBezTo>
                      <a:pt x="688" y="42"/>
                      <a:pt x="684" y="48"/>
                      <a:pt x="684" y="48"/>
                    </a:cubicBezTo>
                    <a:cubicBezTo>
                      <a:pt x="684" y="49"/>
                      <a:pt x="680" y="56"/>
                      <a:pt x="680" y="57"/>
                    </a:cubicBezTo>
                    <a:cubicBezTo>
                      <a:pt x="679" y="58"/>
                      <a:pt x="678" y="65"/>
                      <a:pt x="678" y="65"/>
                    </a:cubicBezTo>
                    <a:cubicBezTo>
                      <a:pt x="679" y="66"/>
                      <a:pt x="679" y="67"/>
                      <a:pt x="679" y="67"/>
                    </a:cubicBezTo>
                    <a:cubicBezTo>
                      <a:pt x="679" y="67"/>
                      <a:pt x="679" y="68"/>
                      <a:pt x="678" y="68"/>
                    </a:cubicBezTo>
                    <a:cubicBezTo>
                      <a:pt x="678" y="69"/>
                      <a:pt x="675" y="70"/>
                      <a:pt x="674" y="71"/>
                    </a:cubicBezTo>
                    <a:cubicBezTo>
                      <a:pt x="674" y="71"/>
                      <a:pt x="673" y="71"/>
                      <a:pt x="672" y="71"/>
                    </a:cubicBezTo>
                    <a:cubicBezTo>
                      <a:pt x="670" y="71"/>
                      <a:pt x="667" y="72"/>
                      <a:pt x="666" y="73"/>
                    </a:cubicBezTo>
                    <a:cubicBezTo>
                      <a:pt x="665" y="74"/>
                      <a:pt x="658" y="79"/>
                      <a:pt x="658" y="79"/>
                    </a:cubicBezTo>
                    <a:cubicBezTo>
                      <a:pt x="657" y="79"/>
                      <a:pt x="657" y="79"/>
                      <a:pt x="657" y="79"/>
                    </a:cubicBezTo>
                    <a:cubicBezTo>
                      <a:pt x="657" y="79"/>
                      <a:pt x="641" y="74"/>
                      <a:pt x="640" y="74"/>
                    </a:cubicBezTo>
                    <a:cubicBezTo>
                      <a:pt x="640" y="74"/>
                      <a:pt x="640" y="74"/>
                      <a:pt x="640" y="74"/>
                    </a:cubicBezTo>
                    <a:cubicBezTo>
                      <a:pt x="637" y="78"/>
                      <a:pt x="627" y="99"/>
                      <a:pt x="627" y="99"/>
                    </a:cubicBezTo>
                    <a:cubicBezTo>
                      <a:pt x="626" y="100"/>
                      <a:pt x="626" y="100"/>
                      <a:pt x="626" y="100"/>
                    </a:cubicBezTo>
                    <a:cubicBezTo>
                      <a:pt x="626" y="100"/>
                      <a:pt x="626" y="101"/>
                      <a:pt x="627" y="102"/>
                    </a:cubicBezTo>
                    <a:cubicBezTo>
                      <a:pt x="627" y="104"/>
                      <a:pt x="625" y="105"/>
                      <a:pt x="624" y="106"/>
                    </a:cubicBezTo>
                    <a:cubicBezTo>
                      <a:pt x="622" y="106"/>
                      <a:pt x="623" y="108"/>
                      <a:pt x="623" y="109"/>
                    </a:cubicBezTo>
                    <a:cubicBezTo>
                      <a:pt x="623" y="110"/>
                      <a:pt x="623" y="110"/>
                      <a:pt x="624" y="111"/>
                    </a:cubicBezTo>
                    <a:cubicBezTo>
                      <a:pt x="625" y="112"/>
                      <a:pt x="627" y="114"/>
                      <a:pt x="628" y="114"/>
                    </a:cubicBezTo>
                    <a:cubicBezTo>
                      <a:pt x="629" y="115"/>
                      <a:pt x="628" y="115"/>
                      <a:pt x="629" y="114"/>
                    </a:cubicBezTo>
                    <a:cubicBezTo>
                      <a:pt x="630" y="113"/>
                      <a:pt x="633" y="113"/>
                      <a:pt x="633" y="113"/>
                    </a:cubicBezTo>
                    <a:cubicBezTo>
                      <a:pt x="634" y="113"/>
                      <a:pt x="642" y="112"/>
                      <a:pt x="643" y="112"/>
                    </a:cubicBezTo>
                    <a:cubicBezTo>
                      <a:pt x="643" y="111"/>
                      <a:pt x="643" y="112"/>
                      <a:pt x="643" y="112"/>
                    </a:cubicBezTo>
                    <a:cubicBezTo>
                      <a:pt x="643" y="112"/>
                      <a:pt x="648" y="115"/>
                      <a:pt x="649" y="115"/>
                    </a:cubicBezTo>
                    <a:cubicBezTo>
                      <a:pt x="650" y="116"/>
                      <a:pt x="650" y="115"/>
                      <a:pt x="650" y="115"/>
                    </a:cubicBezTo>
                    <a:cubicBezTo>
                      <a:pt x="650" y="115"/>
                      <a:pt x="650" y="114"/>
                      <a:pt x="651" y="114"/>
                    </a:cubicBezTo>
                    <a:cubicBezTo>
                      <a:pt x="652" y="113"/>
                      <a:pt x="654" y="111"/>
                      <a:pt x="654" y="111"/>
                    </a:cubicBezTo>
                    <a:cubicBezTo>
                      <a:pt x="654" y="111"/>
                      <a:pt x="655" y="110"/>
                      <a:pt x="655" y="110"/>
                    </a:cubicBezTo>
                    <a:cubicBezTo>
                      <a:pt x="655" y="110"/>
                      <a:pt x="662" y="110"/>
                      <a:pt x="665" y="109"/>
                    </a:cubicBezTo>
                    <a:cubicBezTo>
                      <a:pt x="667" y="109"/>
                      <a:pt x="668" y="110"/>
                      <a:pt x="668" y="111"/>
                    </a:cubicBezTo>
                    <a:cubicBezTo>
                      <a:pt x="669" y="111"/>
                      <a:pt x="670" y="113"/>
                      <a:pt x="672" y="114"/>
                    </a:cubicBezTo>
                    <a:cubicBezTo>
                      <a:pt x="674" y="114"/>
                      <a:pt x="676" y="116"/>
                      <a:pt x="676" y="117"/>
                    </a:cubicBezTo>
                    <a:cubicBezTo>
                      <a:pt x="676" y="117"/>
                      <a:pt x="677" y="118"/>
                      <a:pt x="678" y="118"/>
                    </a:cubicBezTo>
                    <a:cubicBezTo>
                      <a:pt x="679" y="119"/>
                      <a:pt x="680" y="121"/>
                      <a:pt x="681" y="121"/>
                    </a:cubicBezTo>
                    <a:cubicBezTo>
                      <a:pt x="681" y="122"/>
                      <a:pt x="683" y="123"/>
                      <a:pt x="683" y="123"/>
                    </a:cubicBezTo>
                    <a:cubicBezTo>
                      <a:pt x="688" y="128"/>
                      <a:pt x="687" y="132"/>
                      <a:pt x="687" y="133"/>
                    </a:cubicBezTo>
                    <a:cubicBezTo>
                      <a:pt x="687" y="134"/>
                      <a:pt x="687" y="134"/>
                      <a:pt x="686" y="134"/>
                    </a:cubicBezTo>
                    <a:cubicBezTo>
                      <a:pt x="686" y="134"/>
                      <a:pt x="667" y="133"/>
                      <a:pt x="667" y="133"/>
                    </a:cubicBezTo>
                    <a:cubicBezTo>
                      <a:pt x="666" y="133"/>
                      <a:pt x="666" y="134"/>
                      <a:pt x="666" y="134"/>
                    </a:cubicBezTo>
                    <a:cubicBezTo>
                      <a:pt x="666" y="134"/>
                      <a:pt x="658" y="136"/>
                      <a:pt x="654" y="138"/>
                    </a:cubicBezTo>
                    <a:cubicBezTo>
                      <a:pt x="650" y="140"/>
                      <a:pt x="643" y="139"/>
                      <a:pt x="643" y="139"/>
                    </a:cubicBezTo>
                    <a:cubicBezTo>
                      <a:pt x="643" y="139"/>
                      <a:pt x="642" y="139"/>
                      <a:pt x="642" y="139"/>
                    </a:cubicBezTo>
                    <a:cubicBezTo>
                      <a:pt x="642" y="139"/>
                      <a:pt x="638" y="141"/>
                      <a:pt x="638" y="141"/>
                    </a:cubicBezTo>
                    <a:cubicBezTo>
                      <a:pt x="638" y="141"/>
                      <a:pt x="637" y="142"/>
                      <a:pt x="637" y="142"/>
                    </a:cubicBezTo>
                    <a:cubicBezTo>
                      <a:pt x="637" y="142"/>
                      <a:pt x="634" y="146"/>
                      <a:pt x="633" y="147"/>
                    </a:cubicBezTo>
                    <a:cubicBezTo>
                      <a:pt x="633" y="148"/>
                      <a:pt x="633" y="149"/>
                      <a:pt x="633" y="150"/>
                    </a:cubicBezTo>
                    <a:cubicBezTo>
                      <a:pt x="633" y="152"/>
                      <a:pt x="630" y="153"/>
                      <a:pt x="629" y="154"/>
                    </a:cubicBezTo>
                    <a:cubicBezTo>
                      <a:pt x="629" y="154"/>
                      <a:pt x="625" y="156"/>
                      <a:pt x="623" y="157"/>
                    </a:cubicBezTo>
                    <a:cubicBezTo>
                      <a:pt x="621" y="157"/>
                      <a:pt x="611" y="157"/>
                      <a:pt x="610" y="157"/>
                    </a:cubicBezTo>
                    <a:cubicBezTo>
                      <a:pt x="610" y="157"/>
                      <a:pt x="609" y="157"/>
                      <a:pt x="609" y="157"/>
                    </a:cubicBezTo>
                    <a:cubicBezTo>
                      <a:pt x="609" y="157"/>
                      <a:pt x="603" y="163"/>
                      <a:pt x="603" y="164"/>
                    </a:cubicBezTo>
                    <a:cubicBezTo>
                      <a:pt x="602" y="164"/>
                      <a:pt x="597" y="167"/>
                      <a:pt x="596" y="168"/>
                    </a:cubicBezTo>
                    <a:cubicBezTo>
                      <a:pt x="594" y="169"/>
                      <a:pt x="591" y="169"/>
                      <a:pt x="591" y="169"/>
                    </a:cubicBezTo>
                    <a:cubicBezTo>
                      <a:pt x="590" y="169"/>
                      <a:pt x="588" y="169"/>
                      <a:pt x="588" y="169"/>
                    </a:cubicBezTo>
                    <a:cubicBezTo>
                      <a:pt x="587" y="169"/>
                      <a:pt x="587" y="168"/>
                      <a:pt x="587" y="168"/>
                    </a:cubicBezTo>
                    <a:cubicBezTo>
                      <a:pt x="587" y="168"/>
                      <a:pt x="577" y="164"/>
                      <a:pt x="577" y="164"/>
                    </a:cubicBezTo>
                    <a:cubicBezTo>
                      <a:pt x="577" y="164"/>
                      <a:pt x="576" y="164"/>
                      <a:pt x="576" y="164"/>
                    </a:cubicBezTo>
                    <a:cubicBezTo>
                      <a:pt x="576" y="164"/>
                      <a:pt x="570" y="163"/>
                      <a:pt x="570" y="163"/>
                    </a:cubicBezTo>
                    <a:cubicBezTo>
                      <a:pt x="570" y="163"/>
                      <a:pt x="569" y="164"/>
                      <a:pt x="569" y="164"/>
                    </a:cubicBezTo>
                    <a:cubicBezTo>
                      <a:pt x="569" y="164"/>
                      <a:pt x="565" y="168"/>
                      <a:pt x="565" y="168"/>
                    </a:cubicBezTo>
                    <a:cubicBezTo>
                      <a:pt x="565" y="168"/>
                      <a:pt x="563" y="172"/>
                      <a:pt x="563" y="173"/>
                    </a:cubicBezTo>
                    <a:cubicBezTo>
                      <a:pt x="562" y="175"/>
                      <a:pt x="561" y="174"/>
                      <a:pt x="561" y="176"/>
                    </a:cubicBezTo>
                    <a:cubicBezTo>
                      <a:pt x="562" y="178"/>
                      <a:pt x="565" y="182"/>
                      <a:pt x="566" y="183"/>
                    </a:cubicBezTo>
                    <a:cubicBezTo>
                      <a:pt x="567" y="184"/>
                      <a:pt x="569" y="185"/>
                      <a:pt x="569" y="187"/>
                    </a:cubicBezTo>
                    <a:cubicBezTo>
                      <a:pt x="569" y="189"/>
                      <a:pt x="562" y="192"/>
                      <a:pt x="562" y="192"/>
                    </a:cubicBezTo>
                    <a:cubicBezTo>
                      <a:pt x="562" y="192"/>
                      <a:pt x="562" y="192"/>
                      <a:pt x="562" y="192"/>
                    </a:cubicBezTo>
                    <a:cubicBezTo>
                      <a:pt x="561" y="193"/>
                      <a:pt x="561" y="193"/>
                      <a:pt x="561" y="193"/>
                    </a:cubicBezTo>
                    <a:cubicBezTo>
                      <a:pt x="561" y="193"/>
                      <a:pt x="555" y="196"/>
                      <a:pt x="555" y="196"/>
                    </a:cubicBezTo>
                    <a:cubicBezTo>
                      <a:pt x="554" y="196"/>
                      <a:pt x="554" y="196"/>
                      <a:pt x="554" y="196"/>
                    </a:cubicBezTo>
                    <a:cubicBezTo>
                      <a:pt x="554" y="196"/>
                      <a:pt x="547" y="204"/>
                      <a:pt x="547" y="204"/>
                    </a:cubicBezTo>
                    <a:cubicBezTo>
                      <a:pt x="547" y="205"/>
                      <a:pt x="547" y="205"/>
                      <a:pt x="547" y="205"/>
                    </a:cubicBezTo>
                    <a:cubicBezTo>
                      <a:pt x="547" y="205"/>
                      <a:pt x="533" y="211"/>
                      <a:pt x="532" y="211"/>
                    </a:cubicBezTo>
                    <a:cubicBezTo>
                      <a:pt x="532" y="211"/>
                      <a:pt x="531" y="211"/>
                      <a:pt x="531" y="211"/>
                    </a:cubicBezTo>
                    <a:cubicBezTo>
                      <a:pt x="531" y="211"/>
                      <a:pt x="514" y="211"/>
                      <a:pt x="513" y="211"/>
                    </a:cubicBezTo>
                    <a:cubicBezTo>
                      <a:pt x="512" y="211"/>
                      <a:pt x="510" y="211"/>
                      <a:pt x="510" y="211"/>
                    </a:cubicBezTo>
                    <a:cubicBezTo>
                      <a:pt x="510" y="211"/>
                      <a:pt x="494" y="214"/>
                      <a:pt x="493" y="214"/>
                    </a:cubicBezTo>
                    <a:cubicBezTo>
                      <a:pt x="492" y="214"/>
                      <a:pt x="491" y="214"/>
                      <a:pt x="491" y="214"/>
                    </a:cubicBezTo>
                    <a:cubicBezTo>
                      <a:pt x="491" y="214"/>
                      <a:pt x="470" y="223"/>
                      <a:pt x="470" y="223"/>
                    </a:cubicBezTo>
                    <a:cubicBezTo>
                      <a:pt x="469" y="224"/>
                      <a:pt x="466" y="226"/>
                      <a:pt x="466" y="226"/>
                    </a:cubicBezTo>
                    <a:cubicBezTo>
                      <a:pt x="466" y="227"/>
                      <a:pt x="465" y="226"/>
                      <a:pt x="465" y="226"/>
                    </a:cubicBezTo>
                    <a:cubicBezTo>
                      <a:pt x="465" y="226"/>
                      <a:pt x="463" y="226"/>
                      <a:pt x="461" y="226"/>
                    </a:cubicBezTo>
                    <a:cubicBezTo>
                      <a:pt x="459" y="225"/>
                      <a:pt x="457" y="223"/>
                      <a:pt x="457" y="222"/>
                    </a:cubicBezTo>
                    <a:cubicBezTo>
                      <a:pt x="457" y="222"/>
                      <a:pt x="457" y="222"/>
                      <a:pt x="456" y="222"/>
                    </a:cubicBezTo>
                    <a:cubicBezTo>
                      <a:pt x="456" y="222"/>
                      <a:pt x="450" y="223"/>
                      <a:pt x="448" y="223"/>
                    </a:cubicBezTo>
                    <a:cubicBezTo>
                      <a:pt x="445" y="223"/>
                      <a:pt x="438" y="220"/>
                      <a:pt x="438" y="219"/>
                    </a:cubicBezTo>
                    <a:cubicBezTo>
                      <a:pt x="437" y="219"/>
                      <a:pt x="435" y="218"/>
                      <a:pt x="435" y="218"/>
                    </a:cubicBezTo>
                    <a:cubicBezTo>
                      <a:pt x="434" y="218"/>
                      <a:pt x="430" y="218"/>
                      <a:pt x="430" y="217"/>
                    </a:cubicBezTo>
                    <a:cubicBezTo>
                      <a:pt x="430" y="217"/>
                      <a:pt x="423" y="216"/>
                      <a:pt x="422" y="215"/>
                    </a:cubicBezTo>
                    <a:cubicBezTo>
                      <a:pt x="420" y="215"/>
                      <a:pt x="419" y="212"/>
                      <a:pt x="418" y="212"/>
                    </a:cubicBezTo>
                    <a:cubicBezTo>
                      <a:pt x="418" y="211"/>
                      <a:pt x="417" y="211"/>
                      <a:pt x="417" y="211"/>
                    </a:cubicBezTo>
                    <a:cubicBezTo>
                      <a:pt x="417" y="211"/>
                      <a:pt x="410" y="210"/>
                      <a:pt x="410" y="210"/>
                    </a:cubicBezTo>
                    <a:cubicBezTo>
                      <a:pt x="410" y="210"/>
                      <a:pt x="394" y="207"/>
                      <a:pt x="392" y="207"/>
                    </a:cubicBezTo>
                    <a:cubicBezTo>
                      <a:pt x="391" y="207"/>
                      <a:pt x="387" y="208"/>
                      <a:pt x="386" y="208"/>
                    </a:cubicBezTo>
                    <a:cubicBezTo>
                      <a:pt x="386" y="208"/>
                      <a:pt x="386" y="208"/>
                      <a:pt x="385" y="208"/>
                    </a:cubicBezTo>
                    <a:cubicBezTo>
                      <a:pt x="385" y="208"/>
                      <a:pt x="374" y="208"/>
                      <a:pt x="373" y="208"/>
                    </a:cubicBezTo>
                    <a:cubicBezTo>
                      <a:pt x="372" y="208"/>
                      <a:pt x="360" y="207"/>
                      <a:pt x="360" y="207"/>
                    </a:cubicBezTo>
                    <a:cubicBezTo>
                      <a:pt x="359" y="207"/>
                      <a:pt x="351" y="205"/>
                      <a:pt x="350" y="205"/>
                    </a:cubicBezTo>
                    <a:cubicBezTo>
                      <a:pt x="350" y="205"/>
                      <a:pt x="349" y="205"/>
                      <a:pt x="349" y="205"/>
                    </a:cubicBezTo>
                    <a:cubicBezTo>
                      <a:pt x="349" y="205"/>
                      <a:pt x="339" y="206"/>
                      <a:pt x="338" y="206"/>
                    </a:cubicBezTo>
                    <a:cubicBezTo>
                      <a:pt x="337" y="206"/>
                      <a:pt x="338" y="205"/>
                      <a:pt x="338" y="205"/>
                    </a:cubicBezTo>
                    <a:cubicBezTo>
                      <a:pt x="338" y="204"/>
                      <a:pt x="337" y="204"/>
                      <a:pt x="337" y="204"/>
                    </a:cubicBezTo>
                    <a:cubicBezTo>
                      <a:pt x="337" y="204"/>
                      <a:pt x="336" y="203"/>
                      <a:pt x="335" y="201"/>
                    </a:cubicBezTo>
                    <a:cubicBezTo>
                      <a:pt x="333" y="200"/>
                      <a:pt x="330" y="195"/>
                      <a:pt x="329" y="193"/>
                    </a:cubicBezTo>
                    <a:cubicBezTo>
                      <a:pt x="329" y="192"/>
                      <a:pt x="327" y="187"/>
                      <a:pt x="326" y="185"/>
                    </a:cubicBezTo>
                    <a:cubicBezTo>
                      <a:pt x="326" y="184"/>
                      <a:pt x="324" y="183"/>
                      <a:pt x="323" y="183"/>
                    </a:cubicBezTo>
                    <a:cubicBezTo>
                      <a:pt x="323" y="183"/>
                      <a:pt x="322" y="182"/>
                      <a:pt x="322" y="181"/>
                    </a:cubicBezTo>
                    <a:cubicBezTo>
                      <a:pt x="322" y="180"/>
                      <a:pt x="323" y="179"/>
                      <a:pt x="324" y="178"/>
                    </a:cubicBezTo>
                    <a:cubicBezTo>
                      <a:pt x="324" y="178"/>
                      <a:pt x="323" y="178"/>
                      <a:pt x="323" y="178"/>
                    </a:cubicBezTo>
                    <a:cubicBezTo>
                      <a:pt x="320" y="178"/>
                      <a:pt x="320" y="178"/>
                      <a:pt x="320" y="178"/>
                    </a:cubicBezTo>
                    <a:cubicBezTo>
                      <a:pt x="317" y="179"/>
                      <a:pt x="312" y="176"/>
                      <a:pt x="312" y="176"/>
                    </a:cubicBezTo>
                    <a:cubicBezTo>
                      <a:pt x="312" y="176"/>
                      <a:pt x="296" y="166"/>
                      <a:pt x="296" y="166"/>
                    </a:cubicBezTo>
                    <a:cubicBezTo>
                      <a:pt x="296" y="166"/>
                      <a:pt x="295" y="165"/>
                      <a:pt x="295" y="165"/>
                    </a:cubicBezTo>
                    <a:cubicBezTo>
                      <a:pt x="281" y="164"/>
                      <a:pt x="281" y="164"/>
                      <a:pt x="281" y="164"/>
                    </a:cubicBezTo>
                    <a:cubicBezTo>
                      <a:pt x="281" y="164"/>
                      <a:pt x="265" y="163"/>
                      <a:pt x="265" y="163"/>
                    </a:cubicBezTo>
                    <a:cubicBezTo>
                      <a:pt x="264" y="162"/>
                      <a:pt x="264" y="163"/>
                      <a:pt x="263" y="163"/>
                    </a:cubicBezTo>
                    <a:cubicBezTo>
                      <a:pt x="263" y="163"/>
                      <a:pt x="263" y="163"/>
                      <a:pt x="263" y="163"/>
                    </a:cubicBezTo>
                    <a:cubicBezTo>
                      <a:pt x="263" y="163"/>
                      <a:pt x="260" y="162"/>
                      <a:pt x="258" y="162"/>
                    </a:cubicBezTo>
                    <a:cubicBezTo>
                      <a:pt x="256" y="161"/>
                      <a:pt x="255" y="160"/>
                      <a:pt x="255" y="160"/>
                    </a:cubicBezTo>
                    <a:cubicBezTo>
                      <a:pt x="255" y="160"/>
                      <a:pt x="253" y="156"/>
                      <a:pt x="253" y="156"/>
                    </a:cubicBezTo>
                    <a:cubicBezTo>
                      <a:pt x="253" y="155"/>
                      <a:pt x="253" y="155"/>
                      <a:pt x="253" y="155"/>
                    </a:cubicBezTo>
                    <a:cubicBezTo>
                      <a:pt x="253" y="155"/>
                      <a:pt x="258" y="148"/>
                      <a:pt x="258" y="147"/>
                    </a:cubicBezTo>
                    <a:cubicBezTo>
                      <a:pt x="258" y="146"/>
                      <a:pt x="258" y="145"/>
                      <a:pt x="258" y="144"/>
                    </a:cubicBezTo>
                    <a:cubicBezTo>
                      <a:pt x="258" y="143"/>
                      <a:pt x="258" y="142"/>
                      <a:pt x="258" y="141"/>
                    </a:cubicBezTo>
                    <a:cubicBezTo>
                      <a:pt x="258" y="140"/>
                      <a:pt x="258" y="135"/>
                      <a:pt x="258" y="134"/>
                    </a:cubicBezTo>
                    <a:cubicBezTo>
                      <a:pt x="258" y="134"/>
                      <a:pt x="258" y="133"/>
                      <a:pt x="258" y="133"/>
                    </a:cubicBezTo>
                    <a:cubicBezTo>
                      <a:pt x="258" y="133"/>
                      <a:pt x="251" y="122"/>
                      <a:pt x="251" y="122"/>
                    </a:cubicBezTo>
                    <a:cubicBezTo>
                      <a:pt x="251" y="121"/>
                      <a:pt x="249" y="118"/>
                      <a:pt x="249" y="117"/>
                    </a:cubicBezTo>
                    <a:cubicBezTo>
                      <a:pt x="248" y="116"/>
                      <a:pt x="245" y="112"/>
                      <a:pt x="245" y="112"/>
                    </a:cubicBezTo>
                    <a:cubicBezTo>
                      <a:pt x="244" y="112"/>
                      <a:pt x="244" y="112"/>
                      <a:pt x="244" y="112"/>
                    </a:cubicBezTo>
                    <a:cubicBezTo>
                      <a:pt x="243" y="112"/>
                      <a:pt x="241" y="112"/>
                      <a:pt x="240" y="112"/>
                    </a:cubicBezTo>
                    <a:cubicBezTo>
                      <a:pt x="239" y="111"/>
                      <a:pt x="236" y="109"/>
                      <a:pt x="236" y="109"/>
                    </a:cubicBezTo>
                    <a:cubicBezTo>
                      <a:pt x="236" y="108"/>
                      <a:pt x="235" y="109"/>
                      <a:pt x="235" y="109"/>
                    </a:cubicBezTo>
                    <a:cubicBezTo>
                      <a:pt x="235" y="109"/>
                      <a:pt x="233" y="109"/>
                      <a:pt x="232" y="109"/>
                    </a:cubicBezTo>
                    <a:cubicBezTo>
                      <a:pt x="230" y="109"/>
                      <a:pt x="228" y="108"/>
                      <a:pt x="227" y="108"/>
                    </a:cubicBezTo>
                    <a:cubicBezTo>
                      <a:pt x="227" y="108"/>
                      <a:pt x="224" y="106"/>
                      <a:pt x="224" y="106"/>
                    </a:cubicBezTo>
                    <a:cubicBezTo>
                      <a:pt x="224" y="105"/>
                      <a:pt x="223" y="103"/>
                      <a:pt x="223" y="103"/>
                    </a:cubicBezTo>
                    <a:cubicBezTo>
                      <a:pt x="222" y="103"/>
                      <a:pt x="222" y="102"/>
                      <a:pt x="222" y="102"/>
                    </a:cubicBezTo>
                    <a:cubicBezTo>
                      <a:pt x="222" y="102"/>
                      <a:pt x="219" y="101"/>
                      <a:pt x="218" y="100"/>
                    </a:cubicBezTo>
                    <a:cubicBezTo>
                      <a:pt x="217" y="100"/>
                      <a:pt x="215" y="99"/>
                      <a:pt x="214" y="99"/>
                    </a:cubicBezTo>
                    <a:cubicBezTo>
                      <a:pt x="213" y="98"/>
                      <a:pt x="214" y="97"/>
                      <a:pt x="214" y="97"/>
                    </a:cubicBezTo>
                    <a:cubicBezTo>
                      <a:pt x="214" y="97"/>
                      <a:pt x="214" y="97"/>
                      <a:pt x="215" y="96"/>
                    </a:cubicBezTo>
                    <a:cubicBezTo>
                      <a:pt x="215" y="95"/>
                      <a:pt x="213" y="95"/>
                      <a:pt x="212" y="95"/>
                    </a:cubicBezTo>
                    <a:cubicBezTo>
                      <a:pt x="211" y="94"/>
                      <a:pt x="210" y="93"/>
                      <a:pt x="210" y="92"/>
                    </a:cubicBezTo>
                    <a:cubicBezTo>
                      <a:pt x="210" y="91"/>
                      <a:pt x="211" y="89"/>
                      <a:pt x="211" y="88"/>
                    </a:cubicBezTo>
                    <a:cubicBezTo>
                      <a:pt x="212" y="88"/>
                      <a:pt x="211" y="87"/>
                      <a:pt x="211" y="87"/>
                    </a:cubicBezTo>
                    <a:cubicBezTo>
                      <a:pt x="211" y="87"/>
                      <a:pt x="211" y="87"/>
                      <a:pt x="211" y="87"/>
                    </a:cubicBezTo>
                    <a:cubicBezTo>
                      <a:pt x="209" y="87"/>
                      <a:pt x="205" y="88"/>
                      <a:pt x="205" y="88"/>
                    </a:cubicBezTo>
                    <a:cubicBezTo>
                      <a:pt x="204" y="88"/>
                      <a:pt x="204" y="88"/>
                      <a:pt x="204" y="88"/>
                    </a:cubicBezTo>
                    <a:cubicBezTo>
                      <a:pt x="202" y="88"/>
                      <a:pt x="201" y="88"/>
                      <a:pt x="201" y="88"/>
                    </a:cubicBezTo>
                    <a:cubicBezTo>
                      <a:pt x="200" y="88"/>
                      <a:pt x="198" y="88"/>
                      <a:pt x="197" y="88"/>
                    </a:cubicBezTo>
                    <a:cubicBezTo>
                      <a:pt x="196" y="88"/>
                      <a:pt x="196" y="90"/>
                      <a:pt x="195" y="91"/>
                    </a:cubicBezTo>
                    <a:cubicBezTo>
                      <a:pt x="195" y="92"/>
                      <a:pt x="195" y="92"/>
                      <a:pt x="196" y="93"/>
                    </a:cubicBezTo>
                    <a:cubicBezTo>
                      <a:pt x="196" y="93"/>
                      <a:pt x="195" y="94"/>
                      <a:pt x="195" y="95"/>
                    </a:cubicBezTo>
                    <a:cubicBezTo>
                      <a:pt x="194" y="96"/>
                      <a:pt x="193" y="98"/>
                      <a:pt x="191" y="99"/>
                    </a:cubicBezTo>
                    <a:cubicBezTo>
                      <a:pt x="188" y="100"/>
                      <a:pt x="185" y="100"/>
                      <a:pt x="184" y="101"/>
                    </a:cubicBezTo>
                    <a:cubicBezTo>
                      <a:pt x="183" y="101"/>
                      <a:pt x="181" y="101"/>
                      <a:pt x="180" y="102"/>
                    </a:cubicBezTo>
                    <a:cubicBezTo>
                      <a:pt x="179" y="102"/>
                      <a:pt x="178" y="107"/>
                      <a:pt x="178" y="108"/>
                    </a:cubicBezTo>
                    <a:cubicBezTo>
                      <a:pt x="177" y="108"/>
                      <a:pt x="177" y="109"/>
                      <a:pt x="177" y="109"/>
                    </a:cubicBezTo>
                    <a:cubicBezTo>
                      <a:pt x="177" y="109"/>
                      <a:pt x="179" y="119"/>
                      <a:pt x="179" y="121"/>
                    </a:cubicBezTo>
                    <a:cubicBezTo>
                      <a:pt x="179" y="123"/>
                      <a:pt x="177" y="125"/>
                      <a:pt x="177" y="125"/>
                    </a:cubicBezTo>
                    <a:cubicBezTo>
                      <a:pt x="177" y="125"/>
                      <a:pt x="170" y="129"/>
                      <a:pt x="169" y="129"/>
                    </a:cubicBezTo>
                    <a:cubicBezTo>
                      <a:pt x="169" y="130"/>
                      <a:pt x="169" y="130"/>
                      <a:pt x="168" y="130"/>
                    </a:cubicBezTo>
                    <a:cubicBezTo>
                      <a:pt x="168" y="129"/>
                      <a:pt x="166" y="129"/>
                      <a:pt x="165" y="129"/>
                    </a:cubicBezTo>
                    <a:cubicBezTo>
                      <a:pt x="164" y="128"/>
                      <a:pt x="163" y="128"/>
                      <a:pt x="163" y="128"/>
                    </a:cubicBezTo>
                    <a:cubicBezTo>
                      <a:pt x="162" y="128"/>
                      <a:pt x="161" y="128"/>
                      <a:pt x="160" y="128"/>
                    </a:cubicBezTo>
                    <a:cubicBezTo>
                      <a:pt x="159" y="128"/>
                      <a:pt x="158" y="128"/>
                      <a:pt x="157" y="128"/>
                    </a:cubicBezTo>
                    <a:cubicBezTo>
                      <a:pt x="156" y="128"/>
                      <a:pt x="154" y="129"/>
                      <a:pt x="153" y="128"/>
                    </a:cubicBezTo>
                    <a:cubicBezTo>
                      <a:pt x="151" y="128"/>
                      <a:pt x="146" y="126"/>
                      <a:pt x="143" y="124"/>
                    </a:cubicBezTo>
                    <a:cubicBezTo>
                      <a:pt x="140" y="123"/>
                      <a:pt x="139" y="126"/>
                      <a:pt x="139" y="126"/>
                    </a:cubicBezTo>
                    <a:cubicBezTo>
                      <a:pt x="139" y="126"/>
                      <a:pt x="129" y="153"/>
                      <a:pt x="129" y="154"/>
                    </a:cubicBezTo>
                    <a:cubicBezTo>
                      <a:pt x="129" y="155"/>
                      <a:pt x="129" y="155"/>
                      <a:pt x="129" y="155"/>
                    </a:cubicBezTo>
                    <a:cubicBezTo>
                      <a:pt x="129" y="155"/>
                      <a:pt x="131" y="155"/>
                      <a:pt x="133" y="156"/>
                    </a:cubicBezTo>
                    <a:cubicBezTo>
                      <a:pt x="134" y="157"/>
                      <a:pt x="134" y="160"/>
                      <a:pt x="134" y="160"/>
                    </a:cubicBezTo>
                    <a:cubicBezTo>
                      <a:pt x="133" y="161"/>
                      <a:pt x="133" y="161"/>
                      <a:pt x="133" y="161"/>
                    </a:cubicBezTo>
                    <a:cubicBezTo>
                      <a:pt x="133" y="161"/>
                      <a:pt x="123" y="161"/>
                      <a:pt x="122" y="161"/>
                    </a:cubicBezTo>
                    <a:cubicBezTo>
                      <a:pt x="122" y="161"/>
                      <a:pt x="121" y="161"/>
                      <a:pt x="121" y="161"/>
                    </a:cubicBezTo>
                    <a:cubicBezTo>
                      <a:pt x="122" y="160"/>
                      <a:pt x="122" y="160"/>
                      <a:pt x="121" y="159"/>
                    </a:cubicBezTo>
                    <a:cubicBezTo>
                      <a:pt x="120" y="158"/>
                      <a:pt x="117" y="159"/>
                      <a:pt x="115" y="160"/>
                    </a:cubicBezTo>
                    <a:cubicBezTo>
                      <a:pt x="113" y="160"/>
                      <a:pt x="99" y="164"/>
                      <a:pt x="97" y="164"/>
                    </a:cubicBezTo>
                    <a:cubicBezTo>
                      <a:pt x="96" y="165"/>
                      <a:pt x="94" y="166"/>
                      <a:pt x="93" y="167"/>
                    </a:cubicBezTo>
                    <a:cubicBezTo>
                      <a:pt x="93" y="167"/>
                      <a:pt x="94" y="168"/>
                      <a:pt x="94" y="168"/>
                    </a:cubicBezTo>
                    <a:cubicBezTo>
                      <a:pt x="94" y="169"/>
                      <a:pt x="94" y="169"/>
                      <a:pt x="96" y="169"/>
                    </a:cubicBezTo>
                    <a:cubicBezTo>
                      <a:pt x="97" y="168"/>
                      <a:pt x="101" y="169"/>
                      <a:pt x="101" y="169"/>
                    </a:cubicBezTo>
                    <a:cubicBezTo>
                      <a:pt x="102" y="169"/>
                      <a:pt x="102" y="170"/>
                      <a:pt x="102" y="170"/>
                    </a:cubicBezTo>
                    <a:cubicBezTo>
                      <a:pt x="102" y="170"/>
                      <a:pt x="102" y="170"/>
                      <a:pt x="100" y="172"/>
                    </a:cubicBezTo>
                    <a:cubicBezTo>
                      <a:pt x="99" y="173"/>
                      <a:pt x="100" y="178"/>
                      <a:pt x="101" y="181"/>
                    </a:cubicBezTo>
                    <a:cubicBezTo>
                      <a:pt x="102" y="185"/>
                      <a:pt x="104" y="191"/>
                      <a:pt x="105" y="192"/>
                    </a:cubicBezTo>
                    <a:cubicBezTo>
                      <a:pt x="106" y="193"/>
                      <a:pt x="106" y="195"/>
                      <a:pt x="107" y="197"/>
                    </a:cubicBezTo>
                    <a:cubicBezTo>
                      <a:pt x="107" y="198"/>
                      <a:pt x="105" y="198"/>
                      <a:pt x="104" y="199"/>
                    </a:cubicBezTo>
                    <a:cubicBezTo>
                      <a:pt x="103" y="199"/>
                      <a:pt x="102" y="199"/>
                      <a:pt x="101" y="200"/>
                    </a:cubicBezTo>
                    <a:cubicBezTo>
                      <a:pt x="100" y="201"/>
                      <a:pt x="101" y="202"/>
                      <a:pt x="102" y="202"/>
                    </a:cubicBezTo>
                    <a:cubicBezTo>
                      <a:pt x="103" y="203"/>
                      <a:pt x="103" y="203"/>
                      <a:pt x="102" y="204"/>
                    </a:cubicBezTo>
                    <a:cubicBezTo>
                      <a:pt x="102" y="204"/>
                      <a:pt x="101" y="204"/>
                      <a:pt x="100" y="204"/>
                    </a:cubicBezTo>
                    <a:cubicBezTo>
                      <a:pt x="99" y="204"/>
                      <a:pt x="98" y="205"/>
                      <a:pt x="98" y="205"/>
                    </a:cubicBezTo>
                    <a:cubicBezTo>
                      <a:pt x="96" y="207"/>
                      <a:pt x="98" y="212"/>
                      <a:pt x="98" y="212"/>
                    </a:cubicBezTo>
                    <a:cubicBezTo>
                      <a:pt x="99" y="214"/>
                      <a:pt x="99" y="214"/>
                      <a:pt x="99" y="214"/>
                    </a:cubicBezTo>
                    <a:cubicBezTo>
                      <a:pt x="98" y="215"/>
                      <a:pt x="98" y="215"/>
                      <a:pt x="98" y="215"/>
                    </a:cubicBezTo>
                    <a:cubicBezTo>
                      <a:pt x="98" y="215"/>
                      <a:pt x="98" y="216"/>
                      <a:pt x="98" y="216"/>
                    </a:cubicBezTo>
                    <a:cubicBezTo>
                      <a:pt x="98" y="216"/>
                      <a:pt x="98" y="217"/>
                      <a:pt x="98" y="217"/>
                    </a:cubicBezTo>
                    <a:cubicBezTo>
                      <a:pt x="99" y="218"/>
                      <a:pt x="97" y="219"/>
                      <a:pt x="97" y="219"/>
                    </a:cubicBezTo>
                    <a:cubicBezTo>
                      <a:pt x="97" y="219"/>
                      <a:pt x="83" y="224"/>
                      <a:pt x="79" y="226"/>
                    </a:cubicBezTo>
                    <a:cubicBezTo>
                      <a:pt x="74" y="227"/>
                      <a:pt x="69" y="233"/>
                      <a:pt x="69" y="233"/>
                    </a:cubicBezTo>
                    <a:cubicBezTo>
                      <a:pt x="69" y="234"/>
                      <a:pt x="68" y="234"/>
                      <a:pt x="68" y="234"/>
                    </a:cubicBezTo>
                    <a:cubicBezTo>
                      <a:pt x="68" y="234"/>
                      <a:pt x="54" y="236"/>
                      <a:pt x="52" y="236"/>
                    </a:cubicBezTo>
                    <a:cubicBezTo>
                      <a:pt x="50" y="237"/>
                      <a:pt x="48" y="238"/>
                      <a:pt x="48" y="239"/>
                    </a:cubicBezTo>
                    <a:cubicBezTo>
                      <a:pt x="47" y="239"/>
                      <a:pt x="46" y="240"/>
                      <a:pt x="45" y="241"/>
                    </a:cubicBezTo>
                    <a:cubicBezTo>
                      <a:pt x="45" y="241"/>
                      <a:pt x="45" y="242"/>
                      <a:pt x="45" y="243"/>
                    </a:cubicBezTo>
                    <a:cubicBezTo>
                      <a:pt x="45" y="244"/>
                      <a:pt x="43" y="246"/>
                      <a:pt x="42" y="247"/>
                    </a:cubicBezTo>
                    <a:cubicBezTo>
                      <a:pt x="42" y="248"/>
                      <a:pt x="41" y="248"/>
                      <a:pt x="40" y="248"/>
                    </a:cubicBezTo>
                    <a:cubicBezTo>
                      <a:pt x="38" y="247"/>
                      <a:pt x="37" y="248"/>
                      <a:pt x="36" y="248"/>
                    </a:cubicBezTo>
                    <a:cubicBezTo>
                      <a:pt x="35" y="249"/>
                      <a:pt x="34" y="249"/>
                      <a:pt x="33" y="249"/>
                    </a:cubicBezTo>
                    <a:cubicBezTo>
                      <a:pt x="31" y="250"/>
                      <a:pt x="31" y="248"/>
                      <a:pt x="31" y="248"/>
                    </a:cubicBezTo>
                    <a:cubicBezTo>
                      <a:pt x="30" y="247"/>
                      <a:pt x="30" y="246"/>
                      <a:pt x="30" y="245"/>
                    </a:cubicBezTo>
                    <a:cubicBezTo>
                      <a:pt x="30" y="245"/>
                      <a:pt x="30" y="245"/>
                      <a:pt x="30" y="244"/>
                    </a:cubicBezTo>
                    <a:cubicBezTo>
                      <a:pt x="30" y="243"/>
                      <a:pt x="28" y="243"/>
                      <a:pt x="27" y="244"/>
                    </a:cubicBezTo>
                    <a:cubicBezTo>
                      <a:pt x="26" y="245"/>
                      <a:pt x="24" y="246"/>
                      <a:pt x="23" y="246"/>
                    </a:cubicBezTo>
                    <a:cubicBezTo>
                      <a:pt x="22" y="247"/>
                      <a:pt x="19" y="246"/>
                      <a:pt x="19" y="246"/>
                    </a:cubicBezTo>
                    <a:cubicBezTo>
                      <a:pt x="18" y="246"/>
                      <a:pt x="18" y="246"/>
                      <a:pt x="18" y="246"/>
                    </a:cubicBezTo>
                    <a:cubicBezTo>
                      <a:pt x="18" y="246"/>
                      <a:pt x="18" y="247"/>
                      <a:pt x="18" y="248"/>
                    </a:cubicBezTo>
                    <a:cubicBezTo>
                      <a:pt x="19" y="249"/>
                      <a:pt x="17" y="249"/>
                      <a:pt x="17" y="249"/>
                    </a:cubicBezTo>
                    <a:cubicBezTo>
                      <a:pt x="17" y="249"/>
                      <a:pt x="7" y="253"/>
                      <a:pt x="7" y="253"/>
                    </a:cubicBezTo>
                    <a:cubicBezTo>
                      <a:pt x="6" y="253"/>
                      <a:pt x="6" y="254"/>
                      <a:pt x="6" y="254"/>
                    </a:cubicBezTo>
                    <a:cubicBezTo>
                      <a:pt x="6" y="254"/>
                      <a:pt x="5" y="259"/>
                      <a:pt x="4" y="260"/>
                    </a:cubicBezTo>
                    <a:cubicBezTo>
                      <a:pt x="4" y="261"/>
                      <a:pt x="4" y="261"/>
                      <a:pt x="5" y="261"/>
                    </a:cubicBezTo>
                    <a:cubicBezTo>
                      <a:pt x="5" y="262"/>
                      <a:pt x="3" y="263"/>
                      <a:pt x="2" y="263"/>
                    </a:cubicBezTo>
                    <a:cubicBezTo>
                      <a:pt x="2" y="264"/>
                      <a:pt x="1" y="264"/>
                      <a:pt x="0" y="264"/>
                    </a:cubicBezTo>
                    <a:cubicBezTo>
                      <a:pt x="0" y="265"/>
                      <a:pt x="0" y="266"/>
                      <a:pt x="0" y="267"/>
                    </a:cubicBezTo>
                    <a:cubicBezTo>
                      <a:pt x="0" y="270"/>
                      <a:pt x="2" y="272"/>
                      <a:pt x="3" y="272"/>
                    </a:cubicBezTo>
                    <a:cubicBezTo>
                      <a:pt x="4" y="273"/>
                      <a:pt x="3" y="273"/>
                      <a:pt x="2" y="273"/>
                    </a:cubicBezTo>
                    <a:cubicBezTo>
                      <a:pt x="2" y="273"/>
                      <a:pt x="2" y="273"/>
                      <a:pt x="2" y="274"/>
                    </a:cubicBezTo>
                    <a:cubicBezTo>
                      <a:pt x="1" y="274"/>
                      <a:pt x="1" y="275"/>
                      <a:pt x="1" y="275"/>
                    </a:cubicBezTo>
                    <a:cubicBezTo>
                      <a:pt x="1" y="275"/>
                      <a:pt x="2" y="277"/>
                      <a:pt x="3" y="278"/>
                    </a:cubicBezTo>
                    <a:cubicBezTo>
                      <a:pt x="3" y="279"/>
                      <a:pt x="5" y="278"/>
                      <a:pt x="6" y="278"/>
                    </a:cubicBezTo>
                    <a:cubicBezTo>
                      <a:pt x="6" y="278"/>
                      <a:pt x="9" y="278"/>
                      <a:pt x="10" y="278"/>
                    </a:cubicBezTo>
                    <a:cubicBezTo>
                      <a:pt x="12" y="278"/>
                      <a:pt x="17" y="282"/>
                      <a:pt x="18" y="282"/>
                    </a:cubicBezTo>
                    <a:cubicBezTo>
                      <a:pt x="18" y="282"/>
                      <a:pt x="18" y="283"/>
                      <a:pt x="18" y="283"/>
                    </a:cubicBezTo>
                    <a:cubicBezTo>
                      <a:pt x="18" y="283"/>
                      <a:pt x="20" y="293"/>
                      <a:pt x="20" y="295"/>
                    </a:cubicBezTo>
                    <a:cubicBezTo>
                      <a:pt x="20" y="297"/>
                      <a:pt x="22" y="298"/>
                      <a:pt x="22" y="299"/>
                    </a:cubicBezTo>
                    <a:cubicBezTo>
                      <a:pt x="23" y="299"/>
                      <a:pt x="22" y="300"/>
                      <a:pt x="22" y="300"/>
                    </a:cubicBezTo>
                    <a:cubicBezTo>
                      <a:pt x="22" y="300"/>
                      <a:pt x="21" y="301"/>
                      <a:pt x="20" y="302"/>
                    </a:cubicBezTo>
                    <a:cubicBezTo>
                      <a:pt x="19" y="302"/>
                      <a:pt x="19" y="302"/>
                      <a:pt x="18" y="302"/>
                    </a:cubicBezTo>
                    <a:cubicBezTo>
                      <a:pt x="17" y="303"/>
                      <a:pt x="14" y="303"/>
                      <a:pt x="12" y="303"/>
                    </a:cubicBezTo>
                    <a:cubicBezTo>
                      <a:pt x="11" y="303"/>
                      <a:pt x="12" y="304"/>
                      <a:pt x="12" y="304"/>
                    </a:cubicBezTo>
                    <a:cubicBezTo>
                      <a:pt x="14" y="306"/>
                      <a:pt x="14" y="306"/>
                      <a:pt x="14" y="306"/>
                    </a:cubicBezTo>
                    <a:cubicBezTo>
                      <a:pt x="14" y="306"/>
                      <a:pt x="15" y="305"/>
                      <a:pt x="16" y="306"/>
                    </a:cubicBezTo>
                    <a:cubicBezTo>
                      <a:pt x="17" y="306"/>
                      <a:pt x="19" y="307"/>
                      <a:pt x="19" y="307"/>
                    </a:cubicBezTo>
                    <a:cubicBezTo>
                      <a:pt x="20" y="307"/>
                      <a:pt x="23" y="306"/>
                      <a:pt x="24" y="307"/>
                    </a:cubicBezTo>
                    <a:cubicBezTo>
                      <a:pt x="26" y="308"/>
                      <a:pt x="28" y="309"/>
                      <a:pt x="28" y="309"/>
                    </a:cubicBezTo>
                    <a:cubicBezTo>
                      <a:pt x="29" y="310"/>
                      <a:pt x="30" y="311"/>
                      <a:pt x="31" y="311"/>
                    </a:cubicBezTo>
                    <a:cubicBezTo>
                      <a:pt x="32" y="311"/>
                      <a:pt x="35" y="314"/>
                      <a:pt x="35" y="316"/>
                    </a:cubicBezTo>
                    <a:cubicBezTo>
                      <a:pt x="35" y="319"/>
                      <a:pt x="35" y="321"/>
                      <a:pt x="34" y="321"/>
                    </a:cubicBezTo>
                    <a:cubicBezTo>
                      <a:pt x="34" y="322"/>
                      <a:pt x="34" y="322"/>
                      <a:pt x="34" y="323"/>
                    </a:cubicBezTo>
                    <a:cubicBezTo>
                      <a:pt x="35" y="323"/>
                      <a:pt x="37" y="326"/>
                      <a:pt x="38" y="326"/>
                    </a:cubicBezTo>
                    <a:cubicBezTo>
                      <a:pt x="38" y="326"/>
                      <a:pt x="38" y="327"/>
                      <a:pt x="38" y="327"/>
                    </a:cubicBezTo>
                    <a:cubicBezTo>
                      <a:pt x="39" y="327"/>
                      <a:pt x="42" y="326"/>
                      <a:pt x="43" y="326"/>
                    </a:cubicBezTo>
                    <a:cubicBezTo>
                      <a:pt x="43" y="325"/>
                      <a:pt x="44" y="325"/>
                      <a:pt x="44" y="326"/>
                    </a:cubicBezTo>
                    <a:cubicBezTo>
                      <a:pt x="44" y="326"/>
                      <a:pt x="44" y="328"/>
                      <a:pt x="45" y="328"/>
                    </a:cubicBezTo>
                    <a:cubicBezTo>
                      <a:pt x="47" y="329"/>
                      <a:pt x="50" y="331"/>
                      <a:pt x="56" y="331"/>
                    </a:cubicBezTo>
                    <a:cubicBezTo>
                      <a:pt x="59" y="332"/>
                      <a:pt x="61" y="332"/>
                      <a:pt x="62" y="332"/>
                    </a:cubicBezTo>
                    <a:cubicBezTo>
                      <a:pt x="63" y="332"/>
                      <a:pt x="64" y="331"/>
                      <a:pt x="64" y="331"/>
                    </a:cubicBezTo>
                    <a:cubicBezTo>
                      <a:pt x="67" y="329"/>
                      <a:pt x="69" y="329"/>
                      <a:pt x="70" y="328"/>
                    </a:cubicBezTo>
                    <a:cubicBezTo>
                      <a:pt x="71" y="328"/>
                      <a:pt x="72" y="327"/>
                      <a:pt x="73" y="327"/>
                    </a:cubicBezTo>
                    <a:cubicBezTo>
                      <a:pt x="73" y="327"/>
                      <a:pt x="74" y="326"/>
                      <a:pt x="75" y="326"/>
                    </a:cubicBezTo>
                    <a:cubicBezTo>
                      <a:pt x="76" y="325"/>
                      <a:pt x="76" y="324"/>
                      <a:pt x="78" y="324"/>
                    </a:cubicBezTo>
                    <a:cubicBezTo>
                      <a:pt x="79" y="324"/>
                      <a:pt x="82" y="324"/>
                      <a:pt x="83" y="324"/>
                    </a:cubicBezTo>
                    <a:cubicBezTo>
                      <a:pt x="83" y="324"/>
                      <a:pt x="84" y="324"/>
                      <a:pt x="85" y="325"/>
                    </a:cubicBezTo>
                    <a:cubicBezTo>
                      <a:pt x="86" y="325"/>
                      <a:pt x="94" y="331"/>
                      <a:pt x="94" y="331"/>
                    </a:cubicBezTo>
                    <a:cubicBezTo>
                      <a:pt x="94" y="331"/>
                      <a:pt x="95" y="332"/>
                      <a:pt x="95" y="332"/>
                    </a:cubicBezTo>
                    <a:cubicBezTo>
                      <a:pt x="95" y="333"/>
                      <a:pt x="96" y="334"/>
                      <a:pt x="96" y="333"/>
                    </a:cubicBezTo>
                    <a:cubicBezTo>
                      <a:pt x="97" y="332"/>
                      <a:pt x="99" y="331"/>
                      <a:pt x="99" y="331"/>
                    </a:cubicBezTo>
                    <a:cubicBezTo>
                      <a:pt x="99" y="332"/>
                      <a:pt x="100" y="332"/>
                      <a:pt x="100" y="333"/>
                    </a:cubicBezTo>
                    <a:cubicBezTo>
                      <a:pt x="100" y="333"/>
                      <a:pt x="98" y="340"/>
                      <a:pt x="97" y="341"/>
                    </a:cubicBezTo>
                    <a:cubicBezTo>
                      <a:pt x="97" y="341"/>
                      <a:pt x="94" y="346"/>
                      <a:pt x="93" y="347"/>
                    </a:cubicBezTo>
                    <a:cubicBezTo>
                      <a:pt x="93" y="347"/>
                      <a:pt x="90" y="350"/>
                      <a:pt x="90" y="350"/>
                    </a:cubicBezTo>
                    <a:cubicBezTo>
                      <a:pt x="89" y="350"/>
                      <a:pt x="88" y="350"/>
                      <a:pt x="88" y="350"/>
                    </a:cubicBezTo>
                    <a:cubicBezTo>
                      <a:pt x="88" y="350"/>
                      <a:pt x="88" y="353"/>
                      <a:pt x="88" y="353"/>
                    </a:cubicBezTo>
                    <a:cubicBezTo>
                      <a:pt x="87" y="354"/>
                      <a:pt x="86" y="356"/>
                      <a:pt x="85" y="356"/>
                    </a:cubicBezTo>
                    <a:cubicBezTo>
                      <a:pt x="84" y="356"/>
                      <a:pt x="81" y="357"/>
                      <a:pt x="81" y="357"/>
                    </a:cubicBezTo>
                    <a:cubicBezTo>
                      <a:pt x="80" y="357"/>
                      <a:pt x="79" y="357"/>
                      <a:pt x="78" y="357"/>
                    </a:cubicBezTo>
                    <a:cubicBezTo>
                      <a:pt x="78" y="358"/>
                      <a:pt x="79" y="359"/>
                      <a:pt x="79" y="360"/>
                    </a:cubicBezTo>
                    <a:cubicBezTo>
                      <a:pt x="79" y="360"/>
                      <a:pt x="81" y="363"/>
                      <a:pt x="80" y="363"/>
                    </a:cubicBezTo>
                    <a:cubicBezTo>
                      <a:pt x="79" y="363"/>
                      <a:pt x="79" y="363"/>
                      <a:pt x="79" y="364"/>
                    </a:cubicBezTo>
                    <a:cubicBezTo>
                      <a:pt x="78" y="365"/>
                      <a:pt x="79" y="366"/>
                      <a:pt x="79" y="367"/>
                    </a:cubicBezTo>
                    <a:cubicBezTo>
                      <a:pt x="79" y="367"/>
                      <a:pt x="79" y="367"/>
                      <a:pt x="79" y="367"/>
                    </a:cubicBezTo>
                    <a:cubicBezTo>
                      <a:pt x="79" y="367"/>
                      <a:pt x="80" y="368"/>
                      <a:pt x="80" y="368"/>
                    </a:cubicBezTo>
                    <a:cubicBezTo>
                      <a:pt x="80" y="369"/>
                      <a:pt x="82" y="370"/>
                      <a:pt x="83" y="370"/>
                    </a:cubicBezTo>
                    <a:cubicBezTo>
                      <a:pt x="84" y="370"/>
                      <a:pt x="86" y="371"/>
                      <a:pt x="86" y="372"/>
                    </a:cubicBezTo>
                    <a:cubicBezTo>
                      <a:pt x="86" y="373"/>
                      <a:pt x="86" y="376"/>
                      <a:pt x="87" y="377"/>
                    </a:cubicBezTo>
                    <a:cubicBezTo>
                      <a:pt x="87" y="377"/>
                      <a:pt x="87" y="378"/>
                      <a:pt x="87" y="378"/>
                    </a:cubicBezTo>
                    <a:cubicBezTo>
                      <a:pt x="87" y="379"/>
                      <a:pt x="82" y="384"/>
                      <a:pt x="80" y="384"/>
                    </a:cubicBezTo>
                    <a:cubicBezTo>
                      <a:pt x="79" y="384"/>
                      <a:pt x="78" y="383"/>
                      <a:pt x="77" y="383"/>
                    </a:cubicBezTo>
                    <a:cubicBezTo>
                      <a:pt x="77" y="382"/>
                      <a:pt x="76" y="381"/>
                      <a:pt x="76" y="381"/>
                    </a:cubicBezTo>
                    <a:cubicBezTo>
                      <a:pt x="77" y="380"/>
                      <a:pt x="76" y="380"/>
                      <a:pt x="76" y="380"/>
                    </a:cubicBezTo>
                    <a:cubicBezTo>
                      <a:pt x="76" y="380"/>
                      <a:pt x="72" y="381"/>
                      <a:pt x="71" y="381"/>
                    </a:cubicBezTo>
                    <a:cubicBezTo>
                      <a:pt x="71" y="381"/>
                      <a:pt x="71" y="381"/>
                      <a:pt x="71" y="382"/>
                    </a:cubicBezTo>
                    <a:cubicBezTo>
                      <a:pt x="71" y="383"/>
                      <a:pt x="72" y="386"/>
                      <a:pt x="72" y="386"/>
                    </a:cubicBezTo>
                    <a:cubicBezTo>
                      <a:pt x="72" y="387"/>
                      <a:pt x="76" y="391"/>
                      <a:pt x="76" y="391"/>
                    </a:cubicBezTo>
                    <a:cubicBezTo>
                      <a:pt x="76" y="391"/>
                      <a:pt x="76" y="392"/>
                      <a:pt x="76" y="393"/>
                    </a:cubicBezTo>
                    <a:cubicBezTo>
                      <a:pt x="76" y="393"/>
                      <a:pt x="75" y="397"/>
                      <a:pt x="76" y="399"/>
                    </a:cubicBezTo>
                    <a:cubicBezTo>
                      <a:pt x="78" y="401"/>
                      <a:pt x="78" y="401"/>
                      <a:pt x="78" y="401"/>
                    </a:cubicBezTo>
                    <a:cubicBezTo>
                      <a:pt x="78" y="401"/>
                      <a:pt x="78" y="402"/>
                      <a:pt x="79" y="401"/>
                    </a:cubicBezTo>
                    <a:cubicBezTo>
                      <a:pt x="79" y="401"/>
                      <a:pt x="81" y="399"/>
                      <a:pt x="81" y="400"/>
                    </a:cubicBezTo>
                    <a:cubicBezTo>
                      <a:pt x="82" y="400"/>
                      <a:pt x="82" y="401"/>
                      <a:pt x="82" y="401"/>
                    </a:cubicBezTo>
                    <a:cubicBezTo>
                      <a:pt x="83" y="401"/>
                      <a:pt x="85" y="404"/>
                      <a:pt x="85" y="405"/>
                    </a:cubicBezTo>
                    <a:cubicBezTo>
                      <a:pt x="86" y="405"/>
                      <a:pt x="86" y="406"/>
                      <a:pt x="86" y="406"/>
                    </a:cubicBezTo>
                    <a:cubicBezTo>
                      <a:pt x="87" y="406"/>
                      <a:pt x="93" y="408"/>
                      <a:pt x="94" y="409"/>
                    </a:cubicBezTo>
                    <a:cubicBezTo>
                      <a:pt x="95" y="409"/>
                      <a:pt x="99" y="410"/>
                      <a:pt x="98" y="411"/>
                    </a:cubicBezTo>
                    <a:cubicBezTo>
                      <a:pt x="98" y="413"/>
                      <a:pt x="97" y="414"/>
                      <a:pt x="98" y="414"/>
                    </a:cubicBezTo>
                    <a:cubicBezTo>
                      <a:pt x="98" y="414"/>
                      <a:pt x="110" y="419"/>
                      <a:pt x="110" y="419"/>
                    </a:cubicBezTo>
                    <a:cubicBezTo>
                      <a:pt x="110" y="419"/>
                      <a:pt x="110" y="419"/>
                      <a:pt x="110" y="42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93" name="Freeform 703">
                <a:extLst>
                  <a:ext uri="{FF2B5EF4-FFF2-40B4-BE49-F238E27FC236}">
                    <a16:creationId xmlns:a16="http://schemas.microsoft.com/office/drawing/2014/main" id="{55ED2DCF-50E2-4FF0-A086-EF1C39C34E5D}"/>
                  </a:ext>
                </a:extLst>
              </p:cNvPr>
              <p:cNvSpPr>
                <a:spLocks/>
              </p:cNvSpPr>
              <p:nvPr/>
            </p:nvSpPr>
            <p:spPr bwMode="auto">
              <a:xfrm>
                <a:off x="5306" y="1511"/>
                <a:ext cx="661" cy="272"/>
              </a:xfrm>
              <a:custGeom>
                <a:avLst/>
                <a:gdLst>
                  <a:gd name="T0" fmla="*/ 5 w 478"/>
                  <a:gd name="T1" fmla="*/ 67 h 198"/>
                  <a:gd name="T2" fmla="*/ 12 w 478"/>
                  <a:gd name="T3" fmla="*/ 73 h 198"/>
                  <a:gd name="T4" fmla="*/ 22 w 478"/>
                  <a:gd name="T5" fmla="*/ 80 h 198"/>
                  <a:gd name="T6" fmla="*/ 34 w 478"/>
                  <a:gd name="T7" fmla="*/ 83 h 198"/>
                  <a:gd name="T8" fmla="*/ 48 w 478"/>
                  <a:gd name="T9" fmla="*/ 104 h 198"/>
                  <a:gd name="T10" fmla="*/ 48 w 478"/>
                  <a:gd name="T11" fmla="*/ 118 h 198"/>
                  <a:gd name="T12" fmla="*/ 48 w 478"/>
                  <a:gd name="T13" fmla="*/ 133 h 198"/>
                  <a:gd name="T14" fmla="*/ 71 w 478"/>
                  <a:gd name="T15" fmla="*/ 135 h 198"/>
                  <a:gd name="T16" fmla="*/ 110 w 478"/>
                  <a:gd name="T17" fmla="*/ 149 h 198"/>
                  <a:gd name="T18" fmla="*/ 113 w 478"/>
                  <a:gd name="T19" fmla="*/ 154 h 198"/>
                  <a:gd name="T20" fmla="*/ 127 w 478"/>
                  <a:gd name="T21" fmla="*/ 175 h 198"/>
                  <a:gd name="T22" fmla="*/ 140 w 478"/>
                  <a:gd name="T23" fmla="*/ 176 h 198"/>
                  <a:gd name="T24" fmla="*/ 176 w 478"/>
                  <a:gd name="T25" fmla="*/ 179 h 198"/>
                  <a:gd name="T26" fmla="*/ 208 w 478"/>
                  <a:gd name="T27" fmla="*/ 183 h 198"/>
                  <a:gd name="T28" fmla="*/ 228 w 478"/>
                  <a:gd name="T29" fmla="*/ 190 h 198"/>
                  <a:gd name="T30" fmla="*/ 251 w 478"/>
                  <a:gd name="T31" fmla="*/ 197 h 198"/>
                  <a:gd name="T32" fmla="*/ 281 w 478"/>
                  <a:gd name="T33" fmla="*/ 185 h 198"/>
                  <a:gd name="T34" fmla="*/ 321 w 478"/>
                  <a:gd name="T35" fmla="*/ 182 h 198"/>
                  <a:gd name="T36" fmla="*/ 344 w 478"/>
                  <a:gd name="T37" fmla="*/ 167 h 198"/>
                  <a:gd name="T38" fmla="*/ 352 w 478"/>
                  <a:gd name="T39" fmla="*/ 163 h 198"/>
                  <a:gd name="T40" fmla="*/ 353 w 478"/>
                  <a:gd name="T41" fmla="*/ 144 h 198"/>
                  <a:gd name="T42" fmla="*/ 366 w 478"/>
                  <a:gd name="T43" fmla="*/ 135 h 198"/>
                  <a:gd name="T44" fmla="*/ 381 w 478"/>
                  <a:gd name="T45" fmla="*/ 140 h 198"/>
                  <a:gd name="T46" fmla="*/ 400 w 478"/>
                  <a:gd name="T47" fmla="*/ 128 h 198"/>
                  <a:gd name="T48" fmla="*/ 423 w 478"/>
                  <a:gd name="T49" fmla="*/ 118 h 198"/>
                  <a:gd name="T50" fmla="*/ 433 w 478"/>
                  <a:gd name="T51" fmla="*/ 110 h 198"/>
                  <a:gd name="T52" fmla="*/ 476 w 478"/>
                  <a:gd name="T53" fmla="*/ 105 h 198"/>
                  <a:gd name="T54" fmla="*/ 468 w 478"/>
                  <a:gd name="T55" fmla="*/ 89 h 198"/>
                  <a:gd name="T56" fmla="*/ 455 w 478"/>
                  <a:gd name="T57" fmla="*/ 80 h 198"/>
                  <a:gd name="T58" fmla="*/ 440 w 478"/>
                  <a:gd name="T59" fmla="*/ 86 h 198"/>
                  <a:gd name="T60" fmla="*/ 423 w 478"/>
                  <a:gd name="T61" fmla="*/ 84 h 198"/>
                  <a:gd name="T62" fmla="*/ 413 w 478"/>
                  <a:gd name="T63" fmla="*/ 80 h 198"/>
                  <a:gd name="T64" fmla="*/ 417 w 478"/>
                  <a:gd name="T65" fmla="*/ 70 h 198"/>
                  <a:gd name="T66" fmla="*/ 412 w 478"/>
                  <a:gd name="T67" fmla="*/ 44 h 198"/>
                  <a:gd name="T68" fmla="*/ 392 w 478"/>
                  <a:gd name="T69" fmla="*/ 37 h 198"/>
                  <a:gd name="T70" fmla="*/ 374 w 478"/>
                  <a:gd name="T71" fmla="*/ 50 h 198"/>
                  <a:gd name="T72" fmla="*/ 342 w 478"/>
                  <a:gd name="T73" fmla="*/ 58 h 198"/>
                  <a:gd name="T74" fmla="*/ 309 w 478"/>
                  <a:gd name="T75" fmla="*/ 55 h 198"/>
                  <a:gd name="T76" fmla="*/ 300 w 478"/>
                  <a:gd name="T77" fmla="*/ 44 h 198"/>
                  <a:gd name="T78" fmla="*/ 283 w 478"/>
                  <a:gd name="T79" fmla="*/ 36 h 198"/>
                  <a:gd name="T80" fmla="*/ 261 w 478"/>
                  <a:gd name="T81" fmla="*/ 32 h 198"/>
                  <a:gd name="T82" fmla="*/ 221 w 478"/>
                  <a:gd name="T83" fmla="*/ 34 h 198"/>
                  <a:gd name="T84" fmla="*/ 214 w 478"/>
                  <a:gd name="T85" fmla="*/ 18 h 198"/>
                  <a:gd name="T86" fmla="*/ 192 w 478"/>
                  <a:gd name="T87" fmla="*/ 8 h 198"/>
                  <a:gd name="T88" fmla="*/ 166 w 478"/>
                  <a:gd name="T89" fmla="*/ 0 h 198"/>
                  <a:gd name="T90" fmla="*/ 154 w 478"/>
                  <a:gd name="T91" fmla="*/ 13 h 198"/>
                  <a:gd name="T92" fmla="*/ 156 w 478"/>
                  <a:gd name="T93" fmla="*/ 31 h 198"/>
                  <a:gd name="T94" fmla="*/ 153 w 478"/>
                  <a:gd name="T95" fmla="*/ 41 h 198"/>
                  <a:gd name="T96" fmla="*/ 139 w 478"/>
                  <a:gd name="T97" fmla="*/ 45 h 198"/>
                  <a:gd name="T98" fmla="*/ 114 w 478"/>
                  <a:gd name="T99" fmla="*/ 43 h 198"/>
                  <a:gd name="T100" fmla="*/ 97 w 478"/>
                  <a:gd name="T101" fmla="*/ 32 h 198"/>
                  <a:gd name="T102" fmla="*/ 78 w 478"/>
                  <a:gd name="T103" fmla="*/ 26 h 198"/>
                  <a:gd name="T104" fmla="*/ 65 w 478"/>
                  <a:gd name="T105" fmla="*/ 28 h 198"/>
                  <a:gd name="T106" fmla="*/ 34 w 478"/>
                  <a:gd name="T107" fmla="*/ 41 h 198"/>
                  <a:gd name="T108" fmla="*/ 29 w 478"/>
                  <a:gd name="T109" fmla="*/ 46 h 198"/>
                  <a:gd name="T110" fmla="*/ 9 w 478"/>
                  <a:gd name="T111" fmla="*/ 52 h 198"/>
                  <a:gd name="T112" fmla="*/ 1 w 478"/>
                  <a:gd name="T113" fmla="*/ 5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78" h="198">
                    <a:moveTo>
                      <a:pt x="1" y="59"/>
                    </a:moveTo>
                    <a:cubicBezTo>
                      <a:pt x="1" y="60"/>
                      <a:pt x="0" y="62"/>
                      <a:pt x="0" y="63"/>
                    </a:cubicBezTo>
                    <a:cubicBezTo>
                      <a:pt x="0" y="64"/>
                      <a:pt x="1" y="65"/>
                      <a:pt x="2" y="66"/>
                    </a:cubicBezTo>
                    <a:cubicBezTo>
                      <a:pt x="3" y="66"/>
                      <a:pt x="5" y="66"/>
                      <a:pt x="5" y="67"/>
                    </a:cubicBezTo>
                    <a:cubicBezTo>
                      <a:pt x="4" y="68"/>
                      <a:pt x="4" y="68"/>
                      <a:pt x="4" y="68"/>
                    </a:cubicBezTo>
                    <a:cubicBezTo>
                      <a:pt x="4" y="68"/>
                      <a:pt x="3" y="69"/>
                      <a:pt x="4" y="70"/>
                    </a:cubicBezTo>
                    <a:cubicBezTo>
                      <a:pt x="5" y="70"/>
                      <a:pt x="7" y="71"/>
                      <a:pt x="8" y="71"/>
                    </a:cubicBezTo>
                    <a:cubicBezTo>
                      <a:pt x="9" y="72"/>
                      <a:pt x="12" y="73"/>
                      <a:pt x="12" y="73"/>
                    </a:cubicBezTo>
                    <a:cubicBezTo>
                      <a:pt x="12" y="73"/>
                      <a:pt x="12" y="74"/>
                      <a:pt x="13" y="74"/>
                    </a:cubicBezTo>
                    <a:cubicBezTo>
                      <a:pt x="13" y="74"/>
                      <a:pt x="14" y="76"/>
                      <a:pt x="14" y="77"/>
                    </a:cubicBezTo>
                    <a:cubicBezTo>
                      <a:pt x="14" y="77"/>
                      <a:pt x="17" y="79"/>
                      <a:pt x="17" y="79"/>
                    </a:cubicBezTo>
                    <a:cubicBezTo>
                      <a:pt x="18" y="79"/>
                      <a:pt x="20" y="80"/>
                      <a:pt x="22" y="80"/>
                    </a:cubicBezTo>
                    <a:cubicBezTo>
                      <a:pt x="23" y="80"/>
                      <a:pt x="25" y="80"/>
                      <a:pt x="25" y="80"/>
                    </a:cubicBezTo>
                    <a:cubicBezTo>
                      <a:pt x="25" y="80"/>
                      <a:pt x="26" y="79"/>
                      <a:pt x="26" y="80"/>
                    </a:cubicBezTo>
                    <a:cubicBezTo>
                      <a:pt x="26" y="80"/>
                      <a:pt x="29" y="82"/>
                      <a:pt x="30" y="83"/>
                    </a:cubicBezTo>
                    <a:cubicBezTo>
                      <a:pt x="31" y="83"/>
                      <a:pt x="33" y="83"/>
                      <a:pt x="34" y="83"/>
                    </a:cubicBezTo>
                    <a:cubicBezTo>
                      <a:pt x="34" y="83"/>
                      <a:pt x="34" y="83"/>
                      <a:pt x="35" y="83"/>
                    </a:cubicBezTo>
                    <a:cubicBezTo>
                      <a:pt x="35" y="83"/>
                      <a:pt x="38" y="87"/>
                      <a:pt x="39" y="88"/>
                    </a:cubicBezTo>
                    <a:cubicBezTo>
                      <a:pt x="39" y="89"/>
                      <a:pt x="41" y="92"/>
                      <a:pt x="41" y="93"/>
                    </a:cubicBezTo>
                    <a:cubicBezTo>
                      <a:pt x="41" y="93"/>
                      <a:pt x="48" y="104"/>
                      <a:pt x="48" y="104"/>
                    </a:cubicBezTo>
                    <a:cubicBezTo>
                      <a:pt x="48" y="104"/>
                      <a:pt x="48" y="105"/>
                      <a:pt x="48" y="105"/>
                    </a:cubicBezTo>
                    <a:cubicBezTo>
                      <a:pt x="48" y="106"/>
                      <a:pt x="48" y="111"/>
                      <a:pt x="48" y="112"/>
                    </a:cubicBezTo>
                    <a:cubicBezTo>
                      <a:pt x="48" y="113"/>
                      <a:pt x="48" y="114"/>
                      <a:pt x="48" y="115"/>
                    </a:cubicBezTo>
                    <a:cubicBezTo>
                      <a:pt x="48" y="116"/>
                      <a:pt x="48" y="117"/>
                      <a:pt x="48" y="118"/>
                    </a:cubicBezTo>
                    <a:cubicBezTo>
                      <a:pt x="48" y="119"/>
                      <a:pt x="43" y="126"/>
                      <a:pt x="43" y="126"/>
                    </a:cubicBezTo>
                    <a:cubicBezTo>
                      <a:pt x="43" y="126"/>
                      <a:pt x="43" y="126"/>
                      <a:pt x="43" y="127"/>
                    </a:cubicBezTo>
                    <a:cubicBezTo>
                      <a:pt x="43" y="127"/>
                      <a:pt x="45" y="131"/>
                      <a:pt x="45" y="131"/>
                    </a:cubicBezTo>
                    <a:cubicBezTo>
                      <a:pt x="45" y="131"/>
                      <a:pt x="46" y="132"/>
                      <a:pt x="48" y="133"/>
                    </a:cubicBezTo>
                    <a:cubicBezTo>
                      <a:pt x="50" y="133"/>
                      <a:pt x="53" y="134"/>
                      <a:pt x="53" y="134"/>
                    </a:cubicBezTo>
                    <a:cubicBezTo>
                      <a:pt x="53" y="134"/>
                      <a:pt x="53" y="134"/>
                      <a:pt x="53" y="134"/>
                    </a:cubicBezTo>
                    <a:cubicBezTo>
                      <a:pt x="54" y="134"/>
                      <a:pt x="54" y="133"/>
                      <a:pt x="55" y="134"/>
                    </a:cubicBezTo>
                    <a:cubicBezTo>
                      <a:pt x="55" y="134"/>
                      <a:pt x="71" y="135"/>
                      <a:pt x="71" y="135"/>
                    </a:cubicBezTo>
                    <a:cubicBezTo>
                      <a:pt x="85" y="136"/>
                      <a:pt x="85" y="136"/>
                      <a:pt x="85" y="136"/>
                    </a:cubicBezTo>
                    <a:cubicBezTo>
                      <a:pt x="85" y="136"/>
                      <a:pt x="86" y="137"/>
                      <a:pt x="86" y="137"/>
                    </a:cubicBezTo>
                    <a:cubicBezTo>
                      <a:pt x="86" y="137"/>
                      <a:pt x="102" y="147"/>
                      <a:pt x="102" y="147"/>
                    </a:cubicBezTo>
                    <a:cubicBezTo>
                      <a:pt x="102" y="147"/>
                      <a:pt x="107" y="150"/>
                      <a:pt x="110" y="149"/>
                    </a:cubicBezTo>
                    <a:cubicBezTo>
                      <a:pt x="113" y="149"/>
                      <a:pt x="113" y="149"/>
                      <a:pt x="113" y="149"/>
                    </a:cubicBezTo>
                    <a:cubicBezTo>
                      <a:pt x="113" y="149"/>
                      <a:pt x="114" y="149"/>
                      <a:pt x="114" y="149"/>
                    </a:cubicBezTo>
                    <a:cubicBezTo>
                      <a:pt x="113" y="150"/>
                      <a:pt x="112" y="151"/>
                      <a:pt x="112" y="152"/>
                    </a:cubicBezTo>
                    <a:cubicBezTo>
                      <a:pt x="112" y="153"/>
                      <a:pt x="113" y="154"/>
                      <a:pt x="113" y="154"/>
                    </a:cubicBezTo>
                    <a:cubicBezTo>
                      <a:pt x="114" y="154"/>
                      <a:pt x="116" y="155"/>
                      <a:pt x="116" y="156"/>
                    </a:cubicBezTo>
                    <a:cubicBezTo>
                      <a:pt x="117" y="158"/>
                      <a:pt x="119" y="163"/>
                      <a:pt x="119" y="164"/>
                    </a:cubicBezTo>
                    <a:cubicBezTo>
                      <a:pt x="120" y="166"/>
                      <a:pt x="123" y="171"/>
                      <a:pt x="125" y="172"/>
                    </a:cubicBezTo>
                    <a:cubicBezTo>
                      <a:pt x="126" y="174"/>
                      <a:pt x="127" y="175"/>
                      <a:pt x="127" y="175"/>
                    </a:cubicBezTo>
                    <a:cubicBezTo>
                      <a:pt x="127" y="175"/>
                      <a:pt x="128" y="175"/>
                      <a:pt x="128" y="176"/>
                    </a:cubicBezTo>
                    <a:cubicBezTo>
                      <a:pt x="128" y="176"/>
                      <a:pt x="127" y="177"/>
                      <a:pt x="128" y="177"/>
                    </a:cubicBezTo>
                    <a:cubicBezTo>
                      <a:pt x="129" y="177"/>
                      <a:pt x="139" y="176"/>
                      <a:pt x="139" y="176"/>
                    </a:cubicBezTo>
                    <a:cubicBezTo>
                      <a:pt x="139" y="176"/>
                      <a:pt x="140" y="176"/>
                      <a:pt x="140" y="176"/>
                    </a:cubicBezTo>
                    <a:cubicBezTo>
                      <a:pt x="141" y="176"/>
                      <a:pt x="149" y="178"/>
                      <a:pt x="150" y="178"/>
                    </a:cubicBezTo>
                    <a:cubicBezTo>
                      <a:pt x="150" y="178"/>
                      <a:pt x="162" y="179"/>
                      <a:pt x="163" y="179"/>
                    </a:cubicBezTo>
                    <a:cubicBezTo>
                      <a:pt x="164" y="179"/>
                      <a:pt x="175" y="179"/>
                      <a:pt x="175" y="179"/>
                    </a:cubicBezTo>
                    <a:cubicBezTo>
                      <a:pt x="176" y="179"/>
                      <a:pt x="176" y="179"/>
                      <a:pt x="176" y="179"/>
                    </a:cubicBezTo>
                    <a:cubicBezTo>
                      <a:pt x="177" y="179"/>
                      <a:pt x="181" y="178"/>
                      <a:pt x="182" y="178"/>
                    </a:cubicBezTo>
                    <a:cubicBezTo>
                      <a:pt x="184" y="178"/>
                      <a:pt x="200" y="181"/>
                      <a:pt x="200" y="181"/>
                    </a:cubicBezTo>
                    <a:cubicBezTo>
                      <a:pt x="200" y="181"/>
                      <a:pt x="207" y="182"/>
                      <a:pt x="207" y="182"/>
                    </a:cubicBezTo>
                    <a:cubicBezTo>
                      <a:pt x="207" y="182"/>
                      <a:pt x="208" y="182"/>
                      <a:pt x="208" y="183"/>
                    </a:cubicBezTo>
                    <a:cubicBezTo>
                      <a:pt x="209" y="183"/>
                      <a:pt x="210" y="186"/>
                      <a:pt x="212" y="186"/>
                    </a:cubicBezTo>
                    <a:cubicBezTo>
                      <a:pt x="213" y="187"/>
                      <a:pt x="220" y="188"/>
                      <a:pt x="220" y="188"/>
                    </a:cubicBezTo>
                    <a:cubicBezTo>
                      <a:pt x="220" y="189"/>
                      <a:pt x="224" y="189"/>
                      <a:pt x="225" y="189"/>
                    </a:cubicBezTo>
                    <a:cubicBezTo>
                      <a:pt x="225" y="189"/>
                      <a:pt x="227" y="190"/>
                      <a:pt x="228" y="190"/>
                    </a:cubicBezTo>
                    <a:cubicBezTo>
                      <a:pt x="228" y="191"/>
                      <a:pt x="235" y="194"/>
                      <a:pt x="238" y="194"/>
                    </a:cubicBezTo>
                    <a:cubicBezTo>
                      <a:pt x="240" y="194"/>
                      <a:pt x="246" y="193"/>
                      <a:pt x="246" y="193"/>
                    </a:cubicBezTo>
                    <a:cubicBezTo>
                      <a:pt x="247" y="193"/>
                      <a:pt x="247" y="193"/>
                      <a:pt x="247" y="193"/>
                    </a:cubicBezTo>
                    <a:cubicBezTo>
                      <a:pt x="247" y="194"/>
                      <a:pt x="249" y="196"/>
                      <a:pt x="251" y="197"/>
                    </a:cubicBezTo>
                    <a:cubicBezTo>
                      <a:pt x="253" y="197"/>
                      <a:pt x="255" y="197"/>
                      <a:pt x="255" y="197"/>
                    </a:cubicBezTo>
                    <a:cubicBezTo>
                      <a:pt x="255" y="197"/>
                      <a:pt x="256" y="198"/>
                      <a:pt x="256" y="197"/>
                    </a:cubicBezTo>
                    <a:cubicBezTo>
                      <a:pt x="256" y="197"/>
                      <a:pt x="259" y="195"/>
                      <a:pt x="260" y="194"/>
                    </a:cubicBezTo>
                    <a:cubicBezTo>
                      <a:pt x="260" y="194"/>
                      <a:pt x="281" y="185"/>
                      <a:pt x="281" y="185"/>
                    </a:cubicBezTo>
                    <a:cubicBezTo>
                      <a:pt x="281" y="185"/>
                      <a:pt x="282" y="185"/>
                      <a:pt x="283" y="185"/>
                    </a:cubicBezTo>
                    <a:cubicBezTo>
                      <a:pt x="284" y="185"/>
                      <a:pt x="300" y="182"/>
                      <a:pt x="300" y="182"/>
                    </a:cubicBezTo>
                    <a:cubicBezTo>
                      <a:pt x="300" y="182"/>
                      <a:pt x="302" y="182"/>
                      <a:pt x="303" y="182"/>
                    </a:cubicBezTo>
                    <a:cubicBezTo>
                      <a:pt x="304" y="182"/>
                      <a:pt x="321" y="182"/>
                      <a:pt x="321" y="182"/>
                    </a:cubicBezTo>
                    <a:cubicBezTo>
                      <a:pt x="321" y="182"/>
                      <a:pt x="322" y="182"/>
                      <a:pt x="322" y="182"/>
                    </a:cubicBezTo>
                    <a:cubicBezTo>
                      <a:pt x="323" y="182"/>
                      <a:pt x="337" y="176"/>
                      <a:pt x="337" y="176"/>
                    </a:cubicBezTo>
                    <a:cubicBezTo>
                      <a:pt x="337" y="176"/>
                      <a:pt x="337" y="176"/>
                      <a:pt x="337" y="175"/>
                    </a:cubicBezTo>
                    <a:cubicBezTo>
                      <a:pt x="337" y="175"/>
                      <a:pt x="344" y="167"/>
                      <a:pt x="344" y="167"/>
                    </a:cubicBezTo>
                    <a:cubicBezTo>
                      <a:pt x="344" y="167"/>
                      <a:pt x="344" y="167"/>
                      <a:pt x="345" y="167"/>
                    </a:cubicBezTo>
                    <a:cubicBezTo>
                      <a:pt x="345" y="167"/>
                      <a:pt x="351" y="164"/>
                      <a:pt x="351" y="164"/>
                    </a:cubicBezTo>
                    <a:cubicBezTo>
                      <a:pt x="352" y="163"/>
                      <a:pt x="352" y="163"/>
                      <a:pt x="352" y="163"/>
                    </a:cubicBezTo>
                    <a:cubicBezTo>
                      <a:pt x="352" y="163"/>
                      <a:pt x="352" y="163"/>
                      <a:pt x="352" y="163"/>
                    </a:cubicBezTo>
                    <a:cubicBezTo>
                      <a:pt x="352" y="163"/>
                      <a:pt x="359" y="160"/>
                      <a:pt x="359" y="158"/>
                    </a:cubicBezTo>
                    <a:cubicBezTo>
                      <a:pt x="359" y="156"/>
                      <a:pt x="357" y="155"/>
                      <a:pt x="356" y="154"/>
                    </a:cubicBezTo>
                    <a:cubicBezTo>
                      <a:pt x="355" y="153"/>
                      <a:pt x="352" y="149"/>
                      <a:pt x="351" y="147"/>
                    </a:cubicBezTo>
                    <a:cubicBezTo>
                      <a:pt x="351" y="145"/>
                      <a:pt x="352" y="146"/>
                      <a:pt x="353" y="144"/>
                    </a:cubicBezTo>
                    <a:cubicBezTo>
                      <a:pt x="353" y="143"/>
                      <a:pt x="355" y="139"/>
                      <a:pt x="355" y="139"/>
                    </a:cubicBezTo>
                    <a:cubicBezTo>
                      <a:pt x="355" y="139"/>
                      <a:pt x="359" y="135"/>
                      <a:pt x="359" y="135"/>
                    </a:cubicBezTo>
                    <a:cubicBezTo>
                      <a:pt x="359" y="135"/>
                      <a:pt x="360" y="134"/>
                      <a:pt x="360" y="134"/>
                    </a:cubicBezTo>
                    <a:cubicBezTo>
                      <a:pt x="360" y="134"/>
                      <a:pt x="366" y="135"/>
                      <a:pt x="366" y="135"/>
                    </a:cubicBezTo>
                    <a:cubicBezTo>
                      <a:pt x="366" y="135"/>
                      <a:pt x="367" y="135"/>
                      <a:pt x="367" y="135"/>
                    </a:cubicBezTo>
                    <a:cubicBezTo>
                      <a:pt x="367" y="135"/>
                      <a:pt x="377" y="139"/>
                      <a:pt x="377" y="139"/>
                    </a:cubicBezTo>
                    <a:cubicBezTo>
                      <a:pt x="377" y="139"/>
                      <a:pt x="377" y="140"/>
                      <a:pt x="378" y="140"/>
                    </a:cubicBezTo>
                    <a:cubicBezTo>
                      <a:pt x="378" y="140"/>
                      <a:pt x="380" y="140"/>
                      <a:pt x="381" y="140"/>
                    </a:cubicBezTo>
                    <a:cubicBezTo>
                      <a:pt x="381" y="140"/>
                      <a:pt x="384" y="140"/>
                      <a:pt x="386" y="139"/>
                    </a:cubicBezTo>
                    <a:cubicBezTo>
                      <a:pt x="387" y="138"/>
                      <a:pt x="392" y="135"/>
                      <a:pt x="393" y="135"/>
                    </a:cubicBezTo>
                    <a:cubicBezTo>
                      <a:pt x="393" y="134"/>
                      <a:pt x="399" y="128"/>
                      <a:pt x="399" y="128"/>
                    </a:cubicBezTo>
                    <a:cubicBezTo>
                      <a:pt x="399" y="128"/>
                      <a:pt x="400" y="128"/>
                      <a:pt x="400" y="128"/>
                    </a:cubicBezTo>
                    <a:cubicBezTo>
                      <a:pt x="401" y="128"/>
                      <a:pt x="411" y="128"/>
                      <a:pt x="413" y="128"/>
                    </a:cubicBezTo>
                    <a:cubicBezTo>
                      <a:pt x="415" y="127"/>
                      <a:pt x="419" y="125"/>
                      <a:pt x="419" y="125"/>
                    </a:cubicBezTo>
                    <a:cubicBezTo>
                      <a:pt x="420" y="124"/>
                      <a:pt x="423" y="123"/>
                      <a:pt x="423" y="121"/>
                    </a:cubicBezTo>
                    <a:cubicBezTo>
                      <a:pt x="423" y="120"/>
                      <a:pt x="423" y="119"/>
                      <a:pt x="423" y="118"/>
                    </a:cubicBezTo>
                    <a:cubicBezTo>
                      <a:pt x="424" y="117"/>
                      <a:pt x="427" y="113"/>
                      <a:pt x="427" y="113"/>
                    </a:cubicBezTo>
                    <a:cubicBezTo>
                      <a:pt x="427" y="113"/>
                      <a:pt x="428" y="112"/>
                      <a:pt x="428" y="112"/>
                    </a:cubicBezTo>
                    <a:cubicBezTo>
                      <a:pt x="428" y="112"/>
                      <a:pt x="432" y="110"/>
                      <a:pt x="432" y="110"/>
                    </a:cubicBezTo>
                    <a:cubicBezTo>
                      <a:pt x="432" y="110"/>
                      <a:pt x="433" y="110"/>
                      <a:pt x="433" y="110"/>
                    </a:cubicBezTo>
                    <a:cubicBezTo>
                      <a:pt x="433" y="110"/>
                      <a:pt x="440" y="111"/>
                      <a:pt x="444" y="109"/>
                    </a:cubicBezTo>
                    <a:cubicBezTo>
                      <a:pt x="448" y="107"/>
                      <a:pt x="456" y="105"/>
                      <a:pt x="456" y="105"/>
                    </a:cubicBezTo>
                    <a:cubicBezTo>
                      <a:pt x="456" y="105"/>
                      <a:pt x="456" y="104"/>
                      <a:pt x="457" y="104"/>
                    </a:cubicBezTo>
                    <a:cubicBezTo>
                      <a:pt x="457" y="104"/>
                      <a:pt x="476" y="105"/>
                      <a:pt x="476" y="105"/>
                    </a:cubicBezTo>
                    <a:cubicBezTo>
                      <a:pt x="477" y="105"/>
                      <a:pt x="477" y="105"/>
                      <a:pt x="477" y="104"/>
                    </a:cubicBezTo>
                    <a:cubicBezTo>
                      <a:pt x="477" y="103"/>
                      <a:pt x="478" y="99"/>
                      <a:pt x="473" y="94"/>
                    </a:cubicBezTo>
                    <a:cubicBezTo>
                      <a:pt x="473" y="94"/>
                      <a:pt x="471" y="93"/>
                      <a:pt x="471" y="92"/>
                    </a:cubicBezTo>
                    <a:cubicBezTo>
                      <a:pt x="470" y="92"/>
                      <a:pt x="469" y="90"/>
                      <a:pt x="468" y="89"/>
                    </a:cubicBezTo>
                    <a:cubicBezTo>
                      <a:pt x="467" y="89"/>
                      <a:pt x="466" y="88"/>
                      <a:pt x="466" y="88"/>
                    </a:cubicBezTo>
                    <a:cubicBezTo>
                      <a:pt x="466" y="87"/>
                      <a:pt x="464" y="85"/>
                      <a:pt x="462" y="85"/>
                    </a:cubicBezTo>
                    <a:cubicBezTo>
                      <a:pt x="460" y="84"/>
                      <a:pt x="459" y="82"/>
                      <a:pt x="458" y="82"/>
                    </a:cubicBezTo>
                    <a:cubicBezTo>
                      <a:pt x="458" y="81"/>
                      <a:pt x="457" y="80"/>
                      <a:pt x="455" y="80"/>
                    </a:cubicBezTo>
                    <a:cubicBezTo>
                      <a:pt x="452" y="81"/>
                      <a:pt x="445" y="81"/>
                      <a:pt x="445" y="81"/>
                    </a:cubicBezTo>
                    <a:cubicBezTo>
                      <a:pt x="445" y="81"/>
                      <a:pt x="444" y="82"/>
                      <a:pt x="444" y="82"/>
                    </a:cubicBezTo>
                    <a:cubicBezTo>
                      <a:pt x="444" y="82"/>
                      <a:pt x="442" y="84"/>
                      <a:pt x="441" y="85"/>
                    </a:cubicBezTo>
                    <a:cubicBezTo>
                      <a:pt x="440" y="85"/>
                      <a:pt x="440" y="86"/>
                      <a:pt x="440" y="86"/>
                    </a:cubicBezTo>
                    <a:cubicBezTo>
                      <a:pt x="440" y="86"/>
                      <a:pt x="440" y="87"/>
                      <a:pt x="439" y="86"/>
                    </a:cubicBezTo>
                    <a:cubicBezTo>
                      <a:pt x="438" y="86"/>
                      <a:pt x="433" y="83"/>
                      <a:pt x="433" y="83"/>
                    </a:cubicBezTo>
                    <a:cubicBezTo>
                      <a:pt x="433" y="83"/>
                      <a:pt x="433" y="82"/>
                      <a:pt x="433" y="83"/>
                    </a:cubicBezTo>
                    <a:cubicBezTo>
                      <a:pt x="432" y="83"/>
                      <a:pt x="424" y="84"/>
                      <a:pt x="423" y="84"/>
                    </a:cubicBezTo>
                    <a:cubicBezTo>
                      <a:pt x="423" y="84"/>
                      <a:pt x="420" y="84"/>
                      <a:pt x="419" y="85"/>
                    </a:cubicBezTo>
                    <a:cubicBezTo>
                      <a:pt x="418" y="86"/>
                      <a:pt x="419" y="86"/>
                      <a:pt x="418" y="85"/>
                    </a:cubicBezTo>
                    <a:cubicBezTo>
                      <a:pt x="417" y="85"/>
                      <a:pt x="415" y="83"/>
                      <a:pt x="414" y="82"/>
                    </a:cubicBezTo>
                    <a:cubicBezTo>
                      <a:pt x="413" y="81"/>
                      <a:pt x="413" y="81"/>
                      <a:pt x="413" y="80"/>
                    </a:cubicBezTo>
                    <a:cubicBezTo>
                      <a:pt x="413" y="79"/>
                      <a:pt x="412" y="77"/>
                      <a:pt x="414" y="77"/>
                    </a:cubicBezTo>
                    <a:cubicBezTo>
                      <a:pt x="415" y="76"/>
                      <a:pt x="417" y="75"/>
                      <a:pt x="417" y="73"/>
                    </a:cubicBezTo>
                    <a:cubicBezTo>
                      <a:pt x="416" y="72"/>
                      <a:pt x="416" y="71"/>
                      <a:pt x="416" y="71"/>
                    </a:cubicBezTo>
                    <a:cubicBezTo>
                      <a:pt x="416" y="71"/>
                      <a:pt x="416" y="71"/>
                      <a:pt x="417" y="70"/>
                    </a:cubicBezTo>
                    <a:cubicBezTo>
                      <a:pt x="417" y="70"/>
                      <a:pt x="427" y="49"/>
                      <a:pt x="430" y="45"/>
                    </a:cubicBezTo>
                    <a:cubicBezTo>
                      <a:pt x="428" y="44"/>
                      <a:pt x="423" y="42"/>
                      <a:pt x="423" y="41"/>
                    </a:cubicBezTo>
                    <a:cubicBezTo>
                      <a:pt x="423" y="41"/>
                      <a:pt x="422" y="41"/>
                      <a:pt x="422" y="41"/>
                    </a:cubicBezTo>
                    <a:cubicBezTo>
                      <a:pt x="422" y="41"/>
                      <a:pt x="413" y="44"/>
                      <a:pt x="412" y="44"/>
                    </a:cubicBezTo>
                    <a:cubicBezTo>
                      <a:pt x="412" y="44"/>
                      <a:pt x="411" y="43"/>
                      <a:pt x="411" y="43"/>
                    </a:cubicBezTo>
                    <a:cubicBezTo>
                      <a:pt x="411" y="43"/>
                      <a:pt x="402" y="38"/>
                      <a:pt x="402" y="37"/>
                    </a:cubicBezTo>
                    <a:cubicBezTo>
                      <a:pt x="402" y="37"/>
                      <a:pt x="401" y="37"/>
                      <a:pt x="401" y="37"/>
                    </a:cubicBezTo>
                    <a:cubicBezTo>
                      <a:pt x="401" y="37"/>
                      <a:pt x="393" y="37"/>
                      <a:pt x="392" y="37"/>
                    </a:cubicBezTo>
                    <a:cubicBezTo>
                      <a:pt x="392" y="37"/>
                      <a:pt x="391" y="37"/>
                      <a:pt x="391" y="37"/>
                    </a:cubicBezTo>
                    <a:cubicBezTo>
                      <a:pt x="391" y="37"/>
                      <a:pt x="385" y="40"/>
                      <a:pt x="385" y="41"/>
                    </a:cubicBezTo>
                    <a:cubicBezTo>
                      <a:pt x="384" y="41"/>
                      <a:pt x="381" y="43"/>
                      <a:pt x="381" y="43"/>
                    </a:cubicBezTo>
                    <a:cubicBezTo>
                      <a:pt x="380" y="44"/>
                      <a:pt x="374" y="50"/>
                      <a:pt x="374" y="50"/>
                    </a:cubicBezTo>
                    <a:cubicBezTo>
                      <a:pt x="373" y="50"/>
                      <a:pt x="373" y="51"/>
                      <a:pt x="373" y="51"/>
                    </a:cubicBezTo>
                    <a:cubicBezTo>
                      <a:pt x="372" y="51"/>
                      <a:pt x="364" y="52"/>
                      <a:pt x="363" y="52"/>
                    </a:cubicBezTo>
                    <a:cubicBezTo>
                      <a:pt x="361" y="53"/>
                      <a:pt x="343" y="58"/>
                      <a:pt x="343" y="58"/>
                    </a:cubicBezTo>
                    <a:cubicBezTo>
                      <a:pt x="342" y="58"/>
                      <a:pt x="342" y="58"/>
                      <a:pt x="342" y="58"/>
                    </a:cubicBezTo>
                    <a:cubicBezTo>
                      <a:pt x="341" y="58"/>
                      <a:pt x="322" y="55"/>
                      <a:pt x="322" y="55"/>
                    </a:cubicBezTo>
                    <a:cubicBezTo>
                      <a:pt x="321" y="55"/>
                      <a:pt x="319" y="54"/>
                      <a:pt x="319" y="54"/>
                    </a:cubicBezTo>
                    <a:cubicBezTo>
                      <a:pt x="318" y="54"/>
                      <a:pt x="318" y="54"/>
                      <a:pt x="318" y="54"/>
                    </a:cubicBezTo>
                    <a:cubicBezTo>
                      <a:pt x="318" y="54"/>
                      <a:pt x="309" y="54"/>
                      <a:pt x="309" y="55"/>
                    </a:cubicBezTo>
                    <a:cubicBezTo>
                      <a:pt x="308" y="55"/>
                      <a:pt x="308" y="54"/>
                      <a:pt x="308" y="54"/>
                    </a:cubicBezTo>
                    <a:cubicBezTo>
                      <a:pt x="308" y="54"/>
                      <a:pt x="302" y="50"/>
                      <a:pt x="301" y="49"/>
                    </a:cubicBezTo>
                    <a:cubicBezTo>
                      <a:pt x="301" y="49"/>
                      <a:pt x="301" y="49"/>
                      <a:pt x="301" y="49"/>
                    </a:cubicBezTo>
                    <a:cubicBezTo>
                      <a:pt x="301" y="49"/>
                      <a:pt x="300" y="44"/>
                      <a:pt x="300" y="44"/>
                    </a:cubicBezTo>
                    <a:cubicBezTo>
                      <a:pt x="300" y="43"/>
                      <a:pt x="300" y="43"/>
                      <a:pt x="300" y="43"/>
                    </a:cubicBezTo>
                    <a:cubicBezTo>
                      <a:pt x="298" y="42"/>
                      <a:pt x="292" y="42"/>
                      <a:pt x="291" y="42"/>
                    </a:cubicBezTo>
                    <a:cubicBezTo>
                      <a:pt x="291" y="42"/>
                      <a:pt x="290" y="41"/>
                      <a:pt x="290" y="41"/>
                    </a:cubicBezTo>
                    <a:cubicBezTo>
                      <a:pt x="290" y="41"/>
                      <a:pt x="284" y="37"/>
                      <a:pt x="283" y="36"/>
                    </a:cubicBezTo>
                    <a:cubicBezTo>
                      <a:pt x="281" y="35"/>
                      <a:pt x="273" y="35"/>
                      <a:pt x="273" y="35"/>
                    </a:cubicBezTo>
                    <a:cubicBezTo>
                      <a:pt x="273" y="35"/>
                      <a:pt x="272" y="35"/>
                      <a:pt x="272" y="34"/>
                    </a:cubicBezTo>
                    <a:cubicBezTo>
                      <a:pt x="272" y="34"/>
                      <a:pt x="271" y="34"/>
                      <a:pt x="271" y="34"/>
                    </a:cubicBezTo>
                    <a:cubicBezTo>
                      <a:pt x="270" y="34"/>
                      <a:pt x="263" y="32"/>
                      <a:pt x="261" y="32"/>
                    </a:cubicBezTo>
                    <a:cubicBezTo>
                      <a:pt x="259" y="32"/>
                      <a:pt x="250" y="35"/>
                      <a:pt x="249" y="35"/>
                    </a:cubicBezTo>
                    <a:cubicBezTo>
                      <a:pt x="248" y="35"/>
                      <a:pt x="243" y="38"/>
                      <a:pt x="242" y="39"/>
                    </a:cubicBezTo>
                    <a:cubicBezTo>
                      <a:pt x="242" y="39"/>
                      <a:pt x="241" y="39"/>
                      <a:pt x="241" y="39"/>
                    </a:cubicBezTo>
                    <a:cubicBezTo>
                      <a:pt x="241" y="39"/>
                      <a:pt x="221" y="34"/>
                      <a:pt x="221" y="34"/>
                    </a:cubicBezTo>
                    <a:cubicBezTo>
                      <a:pt x="221" y="34"/>
                      <a:pt x="220" y="33"/>
                      <a:pt x="220" y="33"/>
                    </a:cubicBezTo>
                    <a:cubicBezTo>
                      <a:pt x="220" y="33"/>
                      <a:pt x="216" y="30"/>
                      <a:pt x="216" y="30"/>
                    </a:cubicBezTo>
                    <a:cubicBezTo>
                      <a:pt x="216" y="30"/>
                      <a:pt x="216" y="29"/>
                      <a:pt x="216" y="29"/>
                    </a:cubicBezTo>
                    <a:cubicBezTo>
                      <a:pt x="216" y="29"/>
                      <a:pt x="214" y="18"/>
                      <a:pt x="214" y="18"/>
                    </a:cubicBezTo>
                    <a:cubicBezTo>
                      <a:pt x="214" y="17"/>
                      <a:pt x="214" y="17"/>
                      <a:pt x="215" y="16"/>
                    </a:cubicBezTo>
                    <a:cubicBezTo>
                      <a:pt x="215" y="15"/>
                      <a:pt x="213" y="15"/>
                      <a:pt x="212" y="15"/>
                    </a:cubicBezTo>
                    <a:cubicBezTo>
                      <a:pt x="211" y="15"/>
                      <a:pt x="203" y="12"/>
                      <a:pt x="201" y="12"/>
                    </a:cubicBezTo>
                    <a:cubicBezTo>
                      <a:pt x="200" y="12"/>
                      <a:pt x="192" y="9"/>
                      <a:pt x="192" y="8"/>
                    </a:cubicBezTo>
                    <a:cubicBezTo>
                      <a:pt x="191" y="8"/>
                      <a:pt x="190" y="8"/>
                      <a:pt x="190" y="8"/>
                    </a:cubicBezTo>
                    <a:cubicBezTo>
                      <a:pt x="190" y="8"/>
                      <a:pt x="182" y="7"/>
                      <a:pt x="181" y="7"/>
                    </a:cubicBezTo>
                    <a:cubicBezTo>
                      <a:pt x="180" y="7"/>
                      <a:pt x="180" y="7"/>
                      <a:pt x="180" y="7"/>
                    </a:cubicBezTo>
                    <a:cubicBezTo>
                      <a:pt x="180" y="7"/>
                      <a:pt x="167" y="0"/>
                      <a:pt x="166" y="0"/>
                    </a:cubicBezTo>
                    <a:cubicBezTo>
                      <a:pt x="166" y="0"/>
                      <a:pt x="165" y="0"/>
                      <a:pt x="165" y="0"/>
                    </a:cubicBezTo>
                    <a:cubicBezTo>
                      <a:pt x="165" y="0"/>
                      <a:pt x="159" y="6"/>
                      <a:pt x="157" y="8"/>
                    </a:cubicBezTo>
                    <a:cubicBezTo>
                      <a:pt x="156" y="9"/>
                      <a:pt x="156" y="12"/>
                      <a:pt x="156" y="12"/>
                    </a:cubicBezTo>
                    <a:cubicBezTo>
                      <a:pt x="156" y="13"/>
                      <a:pt x="155" y="13"/>
                      <a:pt x="154" y="13"/>
                    </a:cubicBezTo>
                    <a:cubicBezTo>
                      <a:pt x="153" y="13"/>
                      <a:pt x="152" y="14"/>
                      <a:pt x="152" y="15"/>
                    </a:cubicBezTo>
                    <a:cubicBezTo>
                      <a:pt x="152" y="16"/>
                      <a:pt x="151" y="19"/>
                      <a:pt x="150" y="20"/>
                    </a:cubicBezTo>
                    <a:cubicBezTo>
                      <a:pt x="150" y="21"/>
                      <a:pt x="150" y="22"/>
                      <a:pt x="151" y="26"/>
                    </a:cubicBezTo>
                    <a:cubicBezTo>
                      <a:pt x="153" y="30"/>
                      <a:pt x="155" y="31"/>
                      <a:pt x="156" y="31"/>
                    </a:cubicBezTo>
                    <a:cubicBezTo>
                      <a:pt x="157" y="31"/>
                      <a:pt x="156" y="32"/>
                      <a:pt x="156" y="32"/>
                    </a:cubicBezTo>
                    <a:cubicBezTo>
                      <a:pt x="156" y="32"/>
                      <a:pt x="155" y="38"/>
                      <a:pt x="155" y="39"/>
                    </a:cubicBezTo>
                    <a:cubicBezTo>
                      <a:pt x="154" y="39"/>
                      <a:pt x="154" y="40"/>
                      <a:pt x="154" y="40"/>
                    </a:cubicBezTo>
                    <a:cubicBezTo>
                      <a:pt x="154" y="41"/>
                      <a:pt x="153" y="41"/>
                      <a:pt x="153" y="41"/>
                    </a:cubicBezTo>
                    <a:cubicBezTo>
                      <a:pt x="153" y="41"/>
                      <a:pt x="147" y="43"/>
                      <a:pt x="147" y="43"/>
                    </a:cubicBezTo>
                    <a:cubicBezTo>
                      <a:pt x="146" y="43"/>
                      <a:pt x="146" y="43"/>
                      <a:pt x="146" y="44"/>
                    </a:cubicBezTo>
                    <a:cubicBezTo>
                      <a:pt x="145" y="45"/>
                      <a:pt x="143" y="46"/>
                      <a:pt x="143" y="46"/>
                    </a:cubicBezTo>
                    <a:cubicBezTo>
                      <a:pt x="142" y="47"/>
                      <a:pt x="140" y="46"/>
                      <a:pt x="139" y="45"/>
                    </a:cubicBezTo>
                    <a:cubicBezTo>
                      <a:pt x="139" y="45"/>
                      <a:pt x="137" y="45"/>
                      <a:pt x="137" y="45"/>
                    </a:cubicBezTo>
                    <a:cubicBezTo>
                      <a:pt x="137" y="45"/>
                      <a:pt x="125" y="42"/>
                      <a:pt x="123" y="41"/>
                    </a:cubicBezTo>
                    <a:cubicBezTo>
                      <a:pt x="120" y="41"/>
                      <a:pt x="116" y="43"/>
                      <a:pt x="115" y="43"/>
                    </a:cubicBezTo>
                    <a:cubicBezTo>
                      <a:pt x="115" y="43"/>
                      <a:pt x="114" y="43"/>
                      <a:pt x="114" y="43"/>
                    </a:cubicBezTo>
                    <a:cubicBezTo>
                      <a:pt x="114" y="43"/>
                      <a:pt x="103" y="41"/>
                      <a:pt x="102" y="41"/>
                    </a:cubicBezTo>
                    <a:cubicBezTo>
                      <a:pt x="101" y="41"/>
                      <a:pt x="101" y="40"/>
                      <a:pt x="100" y="39"/>
                    </a:cubicBezTo>
                    <a:cubicBezTo>
                      <a:pt x="100" y="39"/>
                      <a:pt x="99" y="36"/>
                      <a:pt x="98" y="35"/>
                    </a:cubicBezTo>
                    <a:cubicBezTo>
                      <a:pt x="98" y="35"/>
                      <a:pt x="97" y="33"/>
                      <a:pt x="97" y="32"/>
                    </a:cubicBezTo>
                    <a:cubicBezTo>
                      <a:pt x="97" y="31"/>
                      <a:pt x="96" y="30"/>
                      <a:pt x="95" y="31"/>
                    </a:cubicBezTo>
                    <a:cubicBezTo>
                      <a:pt x="94" y="31"/>
                      <a:pt x="87" y="30"/>
                      <a:pt x="86" y="30"/>
                    </a:cubicBezTo>
                    <a:cubicBezTo>
                      <a:pt x="85" y="30"/>
                      <a:pt x="82" y="29"/>
                      <a:pt x="81" y="29"/>
                    </a:cubicBezTo>
                    <a:cubicBezTo>
                      <a:pt x="79" y="29"/>
                      <a:pt x="78" y="28"/>
                      <a:pt x="78" y="26"/>
                    </a:cubicBezTo>
                    <a:cubicBezTo>
                      <a:pt x="77" y="25"/>
                      <a:pt x="71" y="26"/>
                      <a:pt x="71" y="26"/>
                    </a:cubicBezTo>
                    <a:cubicBezTo>
                      <a:pt x="70" y="26"/>
                      <a:pt x="70" y="26"/>
                      <a:pt x="69" y="25"/>
                    </a:cubicBezTo>
                    <a:cubicBezTo>
                      <a:pt x="69" y="24"/>
                      <a:pt x="69" y="24"/>
                      <a:pt x="68" y="26"/>
                    </a:cubicBezTo>
                    <a:cubicBezTo>
                      <a:pt x="67" y="27"/>
                      <a:pt x="66" y="28"/>
                      <a:pt x="65" y="28"/>
                    </a:cubicBezTo>
                    <a:cubicBezTo>
                      <a:pt x="64" y="29"/>
                      <a:pt x="60" y="29"/>
                      <a:pt x="59" y="29"/>
                    </a:cubicBezTo>
                    <a:cubicBezTo>
                      <a:pt x="58" y="29"/>
                      <a:pt x="58" y="29"/>
                      <a:pt x="58" y="29"/>
                    </a:cubicBezTo>
                    <a:cubicBezTo>
                      <a:pt x="58" y="29"/>
                      <a:pt x="42" y="37"/>
                      <a:pt x="41" y="37"/>
                    </a:cubicBezTo>
                    <a:cubicBezTo>
                      <a:pt x="40" y="38"/>
                      <a:pt x="34" y="41"/>
                      <a:pt x="34" y="41"/>
                    </a:cubicBezTo>
                    <a:cubicBezTo>
                      <a:pt x="33" y="42"/>
                      <a:pt x="33" y="42"/>
                      <a:pt x="32" y="42"/>
                    </a:cubicBezTo>
                    <a:cubicBezTo>
                      <a:pt x="32" y="43"/>
                      <a:pt x="28" y="43"/>
                      <a:pt x="28" y="43"/>
                    </a:cubicBezTo>
                    <a:cubicBezTo>
                      <a:pt x="27" y="44"/>
                      <a:pt x="28" y="44"/>
                      <a:pt x="28" y="45"/>
                    </a:cubicBezTo>
                    <a:cubicBezTo>
                      <a:pt x="28" y="46"/>
                      <a:pt x="29" y="46"/>
                      <a:pt x="29" y="46"/>
                    </a:cubicBezTo>
                    <a:cubicBezTo>
                      <a:pt x="30" y="47"/>
                      <a:pt x="28" y="48"/>
                      <a:pt x="27" y="48"/>
                    </a:cubicBezTo>
                    <a:cubicBezTo>
                      <a:pt x="26" y="49"/>
                      <a:pt x="23" y="50"/>
                      <a:pt x="23" y="50"/>
                    </a:cubicBezTo>
                    <a:cubicBezTo>
                      <a:pt x="22" y="50"/>
                      <a:pt x="18" y="51"/>
                      <a:pt x="16" y="51"/>
                    </a:cubicBezTo>
                    <a:cubicBezTo>
                      <a:pt x="14" y="51"/>
                      <a:pt x="10" y="51"/>
                      <a:pt x="9" y="52"/>
                    </a:cubicBezTo>
                    <a:cubicBezTo>
                      <a:pt x="7" y="52"/>
                      <a:pt x="7" y="52"/>
                      <a:pt x="6" y="54"/>
                    </a:cubicBezTo>
                    <a:cubicBezTo>
                      <a:pt x="6" y="56"/>
                      <a:pt x="3" y="57"/>
                      <a:pt x="3" y="57"/>
                    </a:cubicBezTo>
                    <a:cubicBezTo>
                      <a:pt x="2" y="57"/>
                      <a:pt x="2" y="57"/>
                      <a:pt x="1" y="58"/>
                    </a:cubicBezTo>
                    <a:cubicBezTo>
                      <a:pt x="1" y="58"/>
                      <a:pt x="1" y="58"/>
                      <a:pt x="1" y="58"/>
                    </a:cubicBezTo>
                    <a:cubicBezTo>
                      <a:pt x="1" y="58"/>
                      <a:pt x="2" y="59"/>
                      <a:pt x="1" y="5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94" name="Freeform 704">
                <a:extLst>
                  <a:ext uri="{FF2B5EF4-FFF2-40B4-BE49-F238E27FC236}">
                    <a16:creationId xmlns:a16="http://schemas.microsoft.com/office/drawing/2014/main" id="{D0332BA2-385D-42A0-96BC-9A053572A588}"/>
                  </a:ext>
                </a:extLst>
              </p:cNvPr>
              <p:cNvSpPr>
                <a:spLocks/>
              </p:cNvSpPr>
              <p:nvPr/>
            </p:nvSpPr>
            <p:spPr bwMode="auto">
              <a:xfrm>
                <a:off x="6056" y="1747"/>
                <a:ext cx="131" cy="128"/>
              </a:xfrm>
              <a:custGeom>
                <a:avLst/>
                <a:gdLst>
                  <a:gd name="T0" fmla="*/ 93 w 95"/>
                  <a:gd name="T1" fmla="*/ 10 h 93"/>
                  <a:gd name="T2" fmla="*/ 87 w 95"/>
                  <a:gd name="T3" fmla="*/ 1 h 93"/>
                  <a:gd name="T4" fmla="*/ 83 w 95"/>
                  <a:gd name="T5" fmla="*/ 1 h 93"/>
                  <a:gd name="T6" fmla="*/ 80 w 95"/>
                  <a:gd name="T7" fmla="*/ 9 h 93"/>
                  <a:gd name="T8" fmla="*/ 73 w 95"/>
                  <a:gd name="T9" fmla="*/ 13 h 93"/>
                  <a:gd name="T10" fmla="*/ 71 w 95"/>
                  <a:gd name="T11" fmla="*/ 16 h 93"/>
                  <a:gd name="T12" fmla="*/ 56 w 95"/>
                  <a:gd name="T13" fmla="*/ 18 h 93"/>
                  <a:gd name="T14" fmla="*/ 58 w 95"/>
                  <a:gd name="T15" fmla="*/ 24 h 93"/>
                  <a:gd name="T16" fmla="*/ 57 w 95"/>
                  <a:gd name="T17" fmla="*/ 29 h 93"/>
                  <a:gd name="T18" fmla="*/ 42 w 95"/>
                  <a:gd name="T19" fmla="*/ 25 h 93"/>
                  <a:gd name="T20" fmla="*/ 39 w 95"/>
                  <a:gd name="T21" fmla="*/ 22 h 93"/>
                  <a:gd name="T22" fmla="*/ 33 w 95"/>
                  <a:gd name="T23" fmla="*/ 28 h 93"/>
                  <a:gd name="T24" fmla="*/ 22 w 95"/>
                  <a:gd name="T25" fmla="*/ 38 h 93"/>
                  <a:gd name="T26" fmla="*/ 17 w 95"/>
                  <a:gd name="T27" fmla="*/ 42 h 93"/>
                  <a:gd name="T28" fmla="*/ 1 w 95"/>
                  <a:gd name="T29" fmla="*/ 53 h 93"/>
                  <a:gd name="T30" fmla="*/ 1 w 95"/>
                  <a:gd name="T31" fmla="*/ 55 h 93"/>
                  <a:gd name="T32" fmla="*/ 7 w 95"/>
                  <a:gd name="T33" fmla="*/ 60 h 93"/>
                  <a:gd name="T34" fmla="*/ 15 w 95"/>
                  <a:gd name="T35" fmla="*/ 61 h 93"/>
                  <a:gd name="T36" fmla="*/ 14 w 95"/>
                  <a:gd name="T37" fmla="*/ 72 h 93"/>
                  <a:gd name="T38" fmla="*/ 19 w 95"/>
                  <a:gd name="T39" fmla="*/ 76 h 93"/>
                  <a:gd name="T40" fmla="*/ 12 w 95"/>
                  <a:gd name="T41" fmla="*/ 79 h 93"/>
                  <a:gd name="T42" fmla="*/ 9 w 95"/>
                  <a:gd name="T43" fmla="*/ 85 h 93"/>
                  <a:gd name="T44" fmla="*/ 13 w 95"/>
                  <a:gd name="T45" fmla="*/ 89 h 93"/>
                  <a:gd name="T46" fmla="*/ 15 w 95"/>
                  <a:gd name="T47" fmla="*/ 91 h 93"/>
                  <a:gd name="T48" fmla="*/ 17 w 95"/>
                  <a:gd name="T49" fmla="*/ 92 h 93"/>
                  <a:gd name="T50" fmla="*/ 21 w 95"/>
                  <a:gd name="T51" fmla="*/ 91 h 93"/>
                  <a:gd name="T52" fmla="*/ 29 w 95"/>
                  <a:gd name="T53" fmla="*/ 92 h 93"/>
                  <a:gd name="T54" fmla="*/ 41 w 95"/>
                  <a:gd name="T55" fmla="*/ 85 h 93"/>
                  <a:gd name="T56" fmla="*/ 53 w 95"/>
                  <a:gd name="T57" fmla="*/ 83 h 93"/>
                  <a:gd name="T58" fmla="*/ 61 w 95"/>
                  <a:gd name="T59" fmla="*/ 77 h 93"/>
                  <a:gd name="T60" fmla="*/ 52 w 95"/>
                  <a:gd name="T61" fmla="*/ 69 h 93"/>
                  <a:gd name="T62" fmla="*/ 46 w 95"/>
                  <a:gd name="T63" fmla="*/ 66 h 93"/>
                  <a:gd name="T64" fmla="*/ 49 w 95"/>
                  <a:gd name="T65" fmla="*/ 64 h 93"/>
                  <a:gd name="T66" fmla="*/ 49 w 95"/>
                  <a:gd name="T67" fmla="*/ 60 h 93"/>
                  <a:gd name="T68" fmla="*/ 57 w 95"/>
                  <a:gd name="T69" fmla="*/ 54 h 93"/>
                  <a:gd name="T70" fmla="*/ 76 w 95"/>
                  <a:gd name="T71" fmla="*/ 42 h 93"/>
                  <a:gd name="T72" fmla="*/ 82 w 95"/>
                  <a:gd name="T73" fmla="*/ 31 h 93"/>
                  <a:gd name="T74" fmla="*/ 91 w 95"/>
                  <a:gd name="T75" fmla="*/ 13 h 93"/>
                  <a:gd name="T76" fmla="*/ 95 w 95"/>
                  <a:gd name="T77" fmla="*/ 1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5" h="93">
                    <a:moveTo>
                      <a:pt x="94" y="11"/>
                    </a:moveTo>
                    <a:cubicBezTo>
                      <a:pt x="94" y="10"/>
                      <a:pt x="93" y="10"/>
                      <a:pt x="93" y="10"/>
                    </a:cubicBezTo>
                    <a:cubicBezTo>
                      <a:pt x="92" y="9"/>
                      <a:pt x="89" y="6"/>
                      <a:pt x="89" y="5"/>
                    </a:cubicBezTo>
                    <a:cubicBezTo>
                      <a:pt x="89" y="4"/>
                      <a:pt x="89" y="2"/>
                      <a:pt x="87" y="1"/>
                    </a:cubicBezTo>
                    <a:cubicBezTo>
                      <a:pt x="86" y="0"/>
                      <a:pt x="84" y="0"/>
                      <a:pt x="84" y="0"/>
                    </a:cubicBezTo>
                    <a:cubicBezTo>
                      <a:pt x="84" y="1"/>
                      <a:pt x="83" y="1"/>
                      <a:pt x="83" y="1"/>
                    </a:cubicBezTo>
                    <a:cubicBezTo>
                      <a:pt x="83" y="1"/>
                      <a:pt x="82" y="3"/>
                      <a:pt x="82" y="4"/>
                    </a:cubicBezTo>
                    <a:cubicBezTo>
                      <a:pt x="82" y="6"/>
                      <a:pt x="82" y="8"/>
                      <a:pt x="80" y="9"/>
                    </a:cubicBezTo>
                    <a:cubicBezTo>
                      <a:pt x="79" y="9"/>
                      <a:pt x="77" y="10"/>
                      <a:pt x="76" y="10"/>
                    </a:cubicBezTo>
                    <a:cubicBezTo>
                      <a:pt x="75" y="10"/>
                      <a:pt x="73" y="12"/>
                      <a:pt x="73" y="13"/>
                    </a:cubicBezTo>
                    <a:cubicBezTo>
                      <a:pt x="73" y="13"/>
                      <a:pt x="73" y="14"/>
                      <a:pt x="73" y="14"/>
                    </a:cubicBezTo>
                    <a:cubicBezTo>
                      <a:pt x="72" y="14"/>
                      <a:pt x="71" y="16"/>
                      <a:pt x="71" y="16"/>
                    </a:cubicBezTo>
                    <a:cubicBezTo>
                      <a:pt x="71" y="16"/>
                      <a:pt x="70" y="16"/>
                      <a:pt x="70" y="17"/>
                    </a:cubicBezTo>
                    <a:cubicBezTo>
                      <a:pt x="69" y="17"/>
                      <a:pt x="56" y="18"/>
                      <a:pt x="56" y="18"/>
                    </a:cubicBezTo>
                    <a:cubicBezTo>
                      <a:pt x="56" y="18"/>
                      <a:pt x="56" y="18"/>
                      <a:pt x="56" y="19"/>
                    </a:cubicBezTo>
                    <a:cubicBezTo>
                      <a:pt x="56" y="20"/>
                      <a:pt x="57" y="23"/>
                      <a:pt x="58" y="24"/>
                    </a:cubicBezTo>
                    <a:cubicBezTo>
                      <a:pt x="59" y="24"/>
                      <a:pt x="60" y="25"/>
                      <a:pt x="60" y="26"/>
                    </a:cubicBezTo>
                    <a:cubicBezTo>
                      <a:pt x="60" y="26"/>
                      <a:pt x="59" y="29"/>
                      <a:pt x="57" y="29"/>
                    </a:cubicBezTo>
                    <a:cubicBezTo>
                      <a:pt x="55" y="29"/>
                      <a:pt x="48" y="28"/>
                      <a:pt x="47" y="28"/>
                    </a:cubicBezTo>
                    <a:cubicBezTo>
                      <a:pt x="46" y="28"/>
                      <a:pt x="45" y="28"/>
                      <a:pt x="42" y="25"/>
                    </a:cubicBezTo>
                    <a:cubicBezTo>
                      <a:pt x="42" y="25"/>
                      <a:pt x="41" y="25"/>
                      <a:pt x="41" y="24"/>
                    </a:cubicBezTo>
                    <a:cubicBezTo>
                      <a:pt x="41" y="23"/>
                      <a:pt x="40" y="22"/>
                      <a:pt x="39" y="22"/>
                    </a:cubicBezTo>
                    <a:cubicBezTo>
                      <a:pt x="38" y="22"/>
                      <a:pt x="36" y="23"/>
                      <a:pt x="35" y="25"/>
                    </a:cubicBezTo>
                    <a:cubicBezTo>
                      <a:pt x="35" y="26"/>
                      <a:pt x="34" y="28"/>
                      <a:pt x="33" y="28"/>
                    </a:cubicBezTo>
                    <a:cubicBezTo>
                      <a:pt x="33" y="29"/>
                      <a:pt x="27" y="37"/>
                      <a:pt x="25" y="38"/>
                    </a:cubicBezTo>
                    <a:cubicBezTo>
                      <a:pt x="22" y="38"/>
                      <a:pt x="22" y="38"/>
                      <a:pt x="22" y="38"/>
                    </a:cubicBezTo>
                    <a:cubicBezTo>
                      <a:pt x="22" y="38"/>
                      <a:pt x="21" y="38"/>
                      <a:pt x="21" y="39"/>
                    </a:cubicBezTo>
                    <a:cubicBezTo>
                      <a:pt x="21" y="39"/>
                      <a:pt x="17" y="42"/>
                      <a:pt x="17" y="42"/>
                    </a:cubicBezTo>
                    <a:cubicBezTo>
                      <a:pt x="16" y="43"/>
                      <a:pt x="2" y="51"/>
                      <a:pt x="2" y="51"/>
                    </a:cubicBezTo>
                    <a:cubicBezTo>
                      <a:pt x="2" y="51"/>
                      <a:pt x="2" y="52"/>
                      <a:pt x="1" y="53"/>
                    </a:cubicBezTo>
                    <a:cubicBezTo>
                      <a:pt x="1" y="52"/>
                      <a:pt x="2" y="52"/>
                      <a:pt x="2" y="53"/>
                    </a:cubicBezTo>
                    <a:cubicBezTo>
                      <a:pt x="2" y="55"/>
                      <a:pt x="0" y="55"/>
                      <a:pt x="1" y="55"/>
                    </a:cubicBezTo>
                    <a:cubicBezTo>
                      <a:pt x="2" y="56"/>
                      <a:pt x="5" y="58"/>
                      <a:pt x="5" y="59"/>
                    </a:cubicBezTo>
                    <a:cubicBezTo>
                      <a:pt x="6" y="60"/>
                      <a:pt x="6" y="61"/>
                      <a:pt x="7" y="60"/>
                    </a:cubicBezTo>
                    <a:cubicBezTo>
                      <a:pt x="7" y="59"/>
                      <a:pt x="7" y="58"/>
                      <a:pt x="8" y="59"/>
                    </a:cubicBezTo>
                    <a:cubicBezTo>
                      <a:pt x="10" y="59"/>
                      <a:pt x="13" y="61"/>
                      <a:pt x="15" y="61"/>
                    </a:cubicBezTo>
                    <a:cubicBezTo>
                      <a:pt x="16" y="61"/>
                      <a:pt x="18" y="61"/>
                      <a:pt x="18" y="63"/>
                    </a:cubicBezTo>
                    <a:cubicBezTo>
                      <a:pt x="17" y="64"/>
                      <a:pt x="15" y="71"/>
                      <a:pt x="14" y="72"/>
                    </a:cubicBezTo>
                    <a:cubicBezTo>
                      <a:pt x="14" y="73"/>
                      <a:pt x="13" y="73"/>
                      <a:pt x="15" y="74"/>
                    </a:cubicBezTo>
                    <a:cubicBezTo>
                      <a:pt x="16" y="75"/>
                      <a:pt x="19" y="76"/>
                      <a:pt x="19" y="76"/>
                    </a:cubicBezTo>
                    <a:cubicBezTo>
                      <a:pt x="20" y="77"/>
                      <a:pt x="19" y="76"/>
                      <a:pt x="17" y="77"/>
                    </a:cubicBezTo>
                    <a:cubicBezTo>
                      <a:pt x="14" y="77"/>
                      <a:pt x="13" y="76"/>
                      <a:pt x="12" y="79"/>
                    </a:cubicBezTo>
                    <a:cubicBezTo>
                      <a:pt x="11" y="82"/>
                      <a:pt x="9" y="84"/>
                      <a:pt x="10" y="84"/>
                    </a:cubicBezTo>
                    <a:cubicBezTo>
                      <a:pt x="10" y="84"/>
                      <a:pt x="10" y="85"/>
                      <a:pt x="9" y="85"/>
                    </a:cubicBezTo>
                    <a:cubicBezTo>
                      <a:pt x="8" y="85"/>
                      <a:pt x="5" y="86"/>
                      <a:pt x="7" y="86"/>
                    </a:cubicBezTo>
                    <a:cubicBezTo>
                      <a:pt x="8" y="87"/>
                      <a:pt x="14" y="89"/>
                      <a:pt x="13" y="89"/>
                    </a:cubicBezTo>
                    <a:cubicBezTo>
                      <a:pt x="11" y="89"/>
                      <a:pt x="10" y="89"/>
                      <a:pt x="11" y="90"/>
                    </a:cubicBezTo>
                    <a:cubicBezTo>
                      <a:pt x="12" y="90"/>
                      <a:pt x="14" y="91"/>
                      <a:pt x="15" y="91"/>
                    </a:cubicBezTo>
                    <a:cubicBezTo>
                      <a:pt x="16" y="91"/>
                      <a:pt x="18" y="90"/>
                      <a:pt x="18" y="91"/>
                    </a:cubicBezTo>
                    <a:cubicBezTo>
                      <a:pt x="18" y="92"/>
                      <a:pt x="17" y="92"/>
                      <a:pt x="17" y="92"/>
                    </a:cubicBezTo>
                    <a:cubicBezTo>
                      <a:pt x="17" y="92"/>
                      <a:pt x="16" y="93"/>
                      <a:pt x="17" y="93"/>
                    </a:cubicBezTo>
                    <a:cubicBezTo>
                      <a:pt x="18" y="93"/>
                      <a:pt x="20" y="92"/>
                      <a:pt x="21" y="91"/>
                    </a:cubicBezTo>
                    <a:cubicBezTo>
                      <a:pt x="21" y="89"/>
                      <a:pt x="21" y="89"/>
                      <a:pt x="22" y="90"/>
                    </a:cubicBezTo>
                    <a:cubicBezTo>
                      <a:pt x="24" y="91"/>
                      <a:pt x="28" y="93"/>
                      <a:pt x="29" y="92"/>
                    </a:cubicBezTo>
                    <a:cubicBezTo>
                      <a:pt x="30" y="91"/>
                      <a:pt x="35" y="90"/>
                      <a:pt x="36" y="91"/>
                    </a:cubicBezTo>
                    <a:cubicBezTo>
                      <a:pt x="41" y="85"/>
                      <a:pt x="41" y="85"/>
                      <a:pt x="41" y="85"/>
                    </a:cubicBezTo>
                    <a:cubicBezTo>
                      <a:pt x="41" y="85"/>
                      <a:pt x="42" y="84"/>
                      <a:pt x="42" y="84"/>
                    </a:cubicBezTo>
                    <a:cubicBezTo>
                      <a:pt x="43" y="84"/>
                      <a:pt x="52" y="83"/>
                      <a:pt x="53" y="83"/>
                    </a:cubicBezTo>
                    <a:cubicBezTo>
                      <a:pt x="54" y="83"/>
                      <a:pt x="57" y="83"/>
                      <a:pt x="58" y="82"/>
                    </a:cubicBezTo>
                    <a:cubicBezTo>
                      <a:pt x="59" y="81"/>
                      <a:pt x="60" y="79"/>
                      <a:pt x="61" y="77"/>
                    </a:cubicBezTo>
                    <a:cubicBezTo>
                      <a:pt x="60" y="76"/>
                      <a:pt x="60" y="76"/>
                      <a:pt x="59" y="75"/>
                    </a:cubicBezTo>
                    <a:cubicBezTo>
                      <a:pt x="57" y="73"/>
                      <a:pt x="53" y="70"/>
                      <a:pt x="52" y="69"/>
                    </a:cubicBezTo>
                    <a:cubicBezTo>
                      <a:pt x="52" y="69"/>
                      <a:pt x="52" y="68"/>
                      <a:pt x="50" y="68"/>
                    </a:cubicBezTo>
                    <a:cubicBezTo>
                      <a:pt x="49" y="68"/>
                      <a:pt x="46" y="68"/>
                      <a:pt x="46" y="66"/>
                    </a:cubicBezTo>
                    <a:cubicBezTo>
                      <a:pt x="47" y="64"/>
                      <a:pt x="47" y="64"/>
                      <a:pt x="48" y="64"/>
                    </a:cubicBezTo>
                    <a:cubicBezTo>
                      <a:pt x="48" y="65"/>
                      <a:pt x="49" y="66"/>
                      <a:pt x="49" y="64"/>
                    </a:cubicBezTo>
                    <a:cubicBezTo>
                      <a:pt x="49" y="62"/>
                      <a:pt x="49" y="62"/>
                      <a:pt x="49" y="61"/>
                    </a:cubicBezTo>
                    <a:cubicBezTo>
                      <a:pt x="49" y="61"/>
                      <a:pt x="49" y="60"/>
                      <a:pt x="49" y="60"/>
                    </a:cubicBezTo>
                    <a:cubicBezTo>
                      <a:pt x="48" y="59"/>
                      <a:pt x="48" y="59"/>
                      <a:pt x="49" y="58"/>
                    </a:cubicBezTo>
                    <a:cubicBezTo>
                      <a:pt x="50" y="57"/>
                      <a:pt x="55" y="54"/>
                      <a:pt x="57" y="54"/>
                    </a:cubicBezTo>
                    <a:cubicBezTo>
                      <a:pt x="59" y="53"/>
                      <a:pt x="63" y="52"/>
                      <a:pt x="65" y="50"/>
                    </a:cubicBezTo>
                    <a:cubicBezTo>
                      <a:pt x="67" y="48"/>
                      <a:pt x="72" y="44"/>
                      <a:pt x="76" y="42"/>
                    </a:cubicBezTo>
                    <a:cubicBezTo>
                      <a:pt x="79" y="40"/>
                      <a:pt x="82" y="39"/>
                      <a:pt x="81" y="35"/>
                    </a:cubicBezTo>
                    <a:cubicBezTo>
                      <a:pt x="81" y="32"/>
                      <a:pt x="81" y="32"/>
                      <a:pt x="82" y="31"/>
                    </a:cubicBezTo>
                    <a:cubicBezTo>
                      <a:pt x="82" y="30"/>
                      <a:pt x="82" y="30"/>
                      <a:pt x="82" y="29"/>
                    </a:cubicBezTo>
                    <a:cubicBezTo>
                      <a:pt x="82" y="28"/>
                      <a:pt x="82" y="19"/>
                      <a:pt x="91" y="13"/>
                    </a:cubicBezTo>
                    <a:cubicBezTo>
                      <a:pt x="91" y="13"/>
                      <a:pt x="92" y="12"/>
                      <a:pt x="93" y="13"/>
                    </a:cubicBezTo>
                    <a:cubicBezTo>
                      <a:pt x="94" y="13"/>
                      <a:pt x="95" y="13"/>
                      <a:pt x="95" y="13"/>
                    </a:cubicBezTo>
                    <a:cubicBezTo>
                      <a:pt x="95" y="12"/>
                      <a:pt x="94" y="11"/>
                      <a:pt x="94"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95" name="Freeform 705">
                <a:extLst>
                  <a:ext uri="{FF2B5EF4-FFF2-40B4-BE49-F238E27FC236}">
                    <a16:creationId xmlns:a16="http://schemas.microsoft.com/office/drawing/2014/main" id="{1B8F9670-5E97-4773-945C-2B667837B28A}"/>
                  </a:ext>
                </a:extLst>
              </p:cNvPr>
              <p:cNvSpPr>
                <a:spLocks/>
              </p:cNvSpPr>
              <p:nvPr/>
            </p:nvSpPr>
            <p:spPr bwMode="auto">
              <a:xfrm>
                <a:off x="6093" y="1973"/>
                <a:ext cx="18" cy="8"/>
              </a:xfrm>
              <a:custGeom>
                <a:avLst/>
                <a:gdLst>
                  <a:gd name="T0" fmla="*/ 11 w 13"/>
                  <a:gd name="T1" fmla="*/ 1 h 6"/>
                  <a:gd name="T2" fmla="*/ 5 w 13"/>
                  <a:gd name="T3" fmla="*/ 1 h 6"/>
                  <a:gd name="T4" fmla="*/ 2 w 13"/>
                  <a:gd name="T5" fmla="*/ 4 h 6"/>
                  <a:gd name="T6" fmla="*/ 12 w 13"/>
                  <a:gd name="T7" fmla="*/ 1 h 6"/>
                  <a:gd name="T8" fmla="*/ 11 w 13"/>
                  <a:gd name="T9" fmla="*/ 1 h 6"/>
                </a:gdLst>
                <a:ahLst/>
                <a:cxnLst>
                  <a:cxn ang="0">
                    <a:pos x="T0" y="T1"/>
                  </a:cxn>
                  <a:cxn ang="0">
                    <a:pos x="T2" y="T3"/>
                  </a:cxn>
                  <a:cxn ang="0">
                    <a:pos x="T4" y="T5"/>
                  </a:cxn>
                  <a:cxn ang="0">
                    <a:pos x="T6" y="T7"/>
                  </a:cxn>
                  <a:cxn ang="0">
                    <a:pos x="T8" y="T9"/>
                  </a:cxn>
                </a:cxnLst>
                <a:rect l="0" t="0" r="r" b="b"/>
                <a:pathLst>
                  <a:path w="13" h="6">
                    <a:moveTo>
                      <a:pt x="11" y="1"/>
                    </a:moveTo>
                    <a:cubicBezTo>
                      <a:pt x="9" y="0"/>
                      <a:pt x="6" y="0"/>
                      <a:pt x="5" y="1"/>
                    </a:cubicBezTo>
                    <a:cubicBezTo>
                      <a:pt x="3" y="2"/>
                      <a:pt x="0" y="4"/>
                      <a:pt x="2" y="4"/>
                    </a:cubicBezTo>
                    <a:cubicBezTo>
                      <a:pt x="2" y="4"/>
                      <a:pt x="6" y="6"/>
                      <a:pt x="12" y="1"/>
                    </a:cubicBezTo>
                    <a:cubicBezTo>
                      <a:pt x="12" y="1"/>
                      <a:pt x="13" y="1"/>
                      <a:pt x="1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96" name="Freeform 706">
                <a:extLst>
                  <a:ext uri="{FF2B5EF4-FFF2-40B4-BE49-F238E27FC236}">
                    <a16:creationId xmlns:a16="http://schemas.microsoft.com/office/drawing/2014/main" id="{ADAC6440-84E7-4991-8074-4E7F752A508A}"/>
                  </a:ext>
                </a:extLst>
              </p:cNvPr>
              <p:cNvSpPr>
                <a:spLocks/>
              </p:cNvSpPr>
              <p:nvPr/>
            </p:nvSpPr>
            <p:spPr bwMode="auto">
              <a:xfrm>
                <a:off x="6095" y="1948"/>
                <a:ext cx="5" cy="4"/>
              </a:xfrm>
              <a:custGeom>
                <a:avLst/>
                <a:gdLst>
                  <a:gd name="T0" fmla="*/ 3 w 4"/>
                  <a:gd name="T1" fmla="*/ 1 h 3"/>
                  <a:gd name="T2" fmla="*/ 0 w 4"/>
                  <a:gd name="T3" fmla="*/ 2 h 3"/>
                  <a:gd name="T4" fmla="*/ 3 w 4"/>
                  <a:gd name="T5" fmla="*/ 2 h 3"/>
                  <a:gd name="T6" fmla="*/ 3 w 4"/>
                  <a:gd name="T7" fmla="*/ 1 h 3"/>
                </a:gdLst>
                <a:ahLst/>
                <a:cxnLst>
                  <a:cxn ang="0">
                    <a:pos x="T0" y="T1"/>
                  </a:cxn>
                  <a:cxn ang="0">
                    <a:pos x="T2" y="T3"/>
                  </a:cxn>
                  <a:cxn ang="0">
                    <a:pos x="T4" y="T5"/>
                  </a:cxn>
                  <a:cxn ang="0">
                    <a:pos x="T6" y="T7"/>
                  </a:cxn>
                </a:cxnLst>
                <a:rect l="0" t="0" r="r" b="b"/>
                <a:pathLst>
                  <a:path w="4" h="3">
                    <a:moveTo>
                      <a:pt x="3" y="1"/>
                    </a:moveTo>
                    <a:cubicBezTo>
                      <a:pt x="1" y="0"/>
                      <a:pt x="1" y="1"/>
                      <a:pt x="0" y="2"/>
                    </a:cubicBezTo>
                    <a:cubicBezTo>
                      <a:pt x="0" y="3"/>
                      <a:pt x="2" y="3"/>
                      <a:pt x="3" y="2"/>
                    </a:cubicBezTo>
                    <a:cubicBezTo>
                      <a:pt x="3" y="2"/>
                      <a:pt x="4" y="1"/>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97" name="Freeform 707">
                <a:extLst>
                  <a:ext uri="{FF2B5EF4-FFF2-40B4-BE49-F238E27FC236}">
                    <a16:creationId xmlns:a16="http://schemas.microsoft.com/office/drawing/2014/main" id="{6ED55DEF-9D66-41D6-8F4E-596CB67A739C}"/>
                  </a:ext>
                </a:extLst>
              </p:cNvPr>
              <p:cNvSpPr>
                <a:spLocks/>
              </p:cNvSpPr>
              <p:nvPr/>
            </p:nvSpPr>
            <p:spPr bwMode="auto">
              <a:xfrm>
                <a:off x="6142" y="1938"/>
                <a:ext cx="7" cy="6"/>
              </a:xfrm>
              <a:custGeom>
                <a:avLst/>
                <a:gdLst>
                  <a:gd name="T0" fmla="*/ 2 w 5"/>
                  <a:gd name="T1" fmla="*/ 4 h 4"/>
                  <a:gd name="T2" fmla="*/ 4 w 5"/>
                  <a:gd name="T3" fmla="*/ 2 h 4"/>
                  <a:gd name="T4" fmla="*/ 2 w 5"/>
                  <a:gd name="T5" fmla="*/ 4 h 4"/>
                </a:gdLst>
                <a:ahLst/>
                <a:cxnLst>
                  <a:cxn ang="0">
                    <a:pos x="T0" y="T1"/>
                  </a:cxn>
                  <a:cxn ang="0">
                    <a:pos x="T2" y="T3"/>
                  </a:cxn>
                  <a:cxn ang="0">
                    <a:pos x="T4" y="T5"/>
                  </a:cxn>
                </a:cxnLst>
                <a:rect l="0" t="0" r="r" b="b"/>
                <a:pathLst>
                  <a:path w="5" h="4">
                    <a:moveTo>
                      <a:pt x="2" y="4"/>
                    </a:moveTo>
                    <a:cubicBezTo>
                      <a:pt x="2" y="4"/>
                      <a:pt x="3" y="4"/>
                      <a:pt x="4" y="2"/>
                    </a:cubicBezTo>
                    <a:cubicBezTo>
                      <a:pt x="5" y="0"/>
                      <a:pt x="0" y="1"/>
                      <a:pt x="2"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98" name="Freeform 708">
                <a:extLst>
                  <a:ext uri="{FF2B5EF4-FFF2-40B4-BE49-F238E27FC236}">
                    <a16:creationId xmlns:a16="http://schemas.microsoft.com/office/drawing/2014/main" id="{B19D49FC-4BCE-4228-ACCD-C7F5D224B947}"/>
                  </a:ext>
                </a:extLst>
              </p:cNvPr>
              <p:cNvSpPr>
                <a:spLocks/>
              </p:cNvSpPr>
              <p:nvPr/>
            </p:nvSpPr>
            <p:spPr bwMode="auto">
              <a:xfrm>
                <a:off x="6158" y="1945"/>
                <a:ext cx="6" cy="8"/>
              </a:xfrm>
              <a:custGeom>
                <a:avLst/>
                <a:gdLst>
                  <a:gd name="T0" fmla="*/ 2 w 4"/>
                  <a:gd name="T1" fmla="*/ 3 h 6"/>
                  <a:gd name="T2" fmla="*/ 2 w 4"/>
                  <a:gd name="T3" fmla="*/ 1 h 6"/>
                  <a:gd name="T4" fmla="*/ 1 w 4"/>
                  <a:gd name="T5" fmla="*/ 4 h 6"/>
                  <a:gd name="T6" fmla="*/ 1 w 4"/>
                  <a:gd name="T7" fmla="*/ 6 h 6"/>
                  <a:gd name="T8" fmla="*/ 2 w 4"/>
                  <a:gd name="T9" fmla="*/ 3 h 6"/>
                </a:gdLst>
                <a:ahLst/>
                <a:cxnLst>
                  <a:cxn ang="0">
                    <a:pos x="T0" y="T1"/>
                  </a:cxn>
                  <a:cxn ang="0">
                    <a:pos x="T2" y="T3"/>
                  </a:cxn>
                  <a:cxn ang="0">
                    <a:pos x="T4" y="T5"/>
                  </a:cxn>
                  <a:cxn ang="0">
                    <a:pos x="T6" y="T7"/>
                  </a:cxn>
                  <a:cxn ang="0">
                    <a:pos x="T8" y="T9"/>
                  </a:cxn>
                </a:cxnLst>
                <a:rect l="0" t="0" r="r" b="b"/>
                <a:pathLst>
                  <a:path w="4" h="6">
                    <a:moveTo>
                      <a:pt x="2" y="3"/>
                    </a:moveTo>
                    <a:cubicBezTo>
                      <a:pt x="3" y="2"/>
                      <a:pt x="4" y="0"/>
                      <a:pt x="2" y="1"/>
                    </a:cubicBezTo>
                    <a:cubicBezTo>
                      <a:pt x="1" y="2"/>
                      <a:pt x="1" y="3"/>
                      <a:pt x="1" y="4"/>
                    </a:cubicBezTo>
                    <a:cubicBezTo>
                      <a:pt x="1" y="4"/>
                      <a:pt x="0" y="6"/>
                      <a:pt x="1" y="6"/>
                    </a:cubicBezTo>
                    <a:cubicBezTo>
                      <a:pt x="2" y="6"/>
                      <a:pt x="2" y="5"/>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99" name="Freeform 709">
                <a:extLst>
                  <a:ext uri="{FF2B5EF4-FFF2-40B4-BE49-F238E27FC236}">
                    <a16:creationId xmlns:a16="http://schemas.microsoft.com/office/drawing/2014/main" id="{100FBD94-3C4E-4BFB-9588-6B266B8139CD}"/>
                  </a:ext>
                </a:extLst>
              </p:cNvPr>
              <p:cNvSpPr>
                <a:spLocks/>
              </p:cNvSpPr>
              <p:nvPr/>
            </p:nvSpPr>
            <p:spPr bwMode="auto">
              <a:xfrm>
                <a:off x="6157" y="1955"/>
                <a:ext cx="3" cy="4"/>
              </a:xfrm>
              <a:custGeom>
                <a:avLst/>
                <a:gdLst>
                  <a:gd name="T0" fmla="*/ 0 w 2"/>
                  <a:gd name="T1" fmla="*/ 1 h 3"/>
                  <a:gd name="T2" fmla="*/ 1 w 2"/>
                  <a:gd name="T3" fmla="*/ 1 h 3"/>
                  <a:gd name="T4" fmla="*/ 1 w 2"/>
                  <a:gd name="T5" fmla="*/ 0 h 3"/>
                  <a:gd name="T6" fmla="*/ 0 w 2"/>
                  <a:gd name="T7" fmla="*/ 1 h 3"/>
                </a:gdLst>
                <a:ahLst/>
                <a:cxnLst>
                  <a:cxn ang="0">
                    <a:pos x="T0" y="T1"/>
                  </a:cxn>
                  <a:cxn ang="0">
                    <a:pos x="T2" y="T3"/>
                  </a:cxn>
                  <a:cxn ang="0">
                    <a:pos x="T4" y="T5"/>
                  </a:cxn>
                  <a:cxn ang="0">
                    <a:pos x="T6" y="T7"/>
                  </a:cxn>
                </a:cxnLst>
                <a:rect l="0" t="0" r="r" b="b"/>
                <a:pathLst>
                  <a:path w="2" h="3">
                    <a:moveTo>
                      <a:pt x="0" y="1"/>
                    </a:moveTo>
                    <a:cubicBezTo>
                      <a:pt x="0" y="3"/>
                      <a:pt x="0" y="3"/>
                      <a:pt x="1" y="1"/>
                    </a:cubicBezTo>
                    <a:cubicBezTo>
                      <a:pt x="2" y="0"/>
                      <a:pt x="1" y="0"/>
                      <a:pt x="1" y="0"/>
                    </a:cubicBezTo>
                    <a:cubicBezTo>
                      <a:pt x="1" y="0"/>
                      <a:pt x="0"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00" name="Freeform 710">
                <a:extLst>
                  <a:ext uri="{FF2B5EF4-FFF2-40B4-BE49-F238E27FC236}">
                    <a16:creationId xmlns:a16="http://schemas.microsoft.com/office/drawing/2014/main" id="{466D7B1F-6587-47CA-9021-20F820B148AF}"/>
                  </a:ext>
                </a:extLst>
              </p:cNvPr>
              <p:cNvSpPr>
                <a:spLocks/>
              </p:cNvSpPr>
              <p:nvPr/>
            </p:nvSpPr>
            <p:spPr bwMode="auto">
              <a:xfrm>
                <a:off x="6128" y="1938"/>
                <a:ext cx="7" cy="8"/>
              </a:xfrm>
              <a:custGeom>
                <a:avLst/>
                <a:gdLst>
                  <a:gd name="T0" fmla="*/ 3 w 5"/>
                  <a:gd name="T1" fmla="*/ 5 h 6"/>
                  <a:gd name="T2" fmla="*/ 4 w 5"/>
                  <a:gd name="T3" fmla="*/ 3 h 6"/>
                  <a:gd name="T4" fmla="*/ 1 w 5"/>
                  <a:gd name="T5" fmla="*/ 3 h 6"/>
                  <a:gd name="T6" fmla="*/ 3 w 5"/>
                  <a:gd name="T7" fmla="*/ 5 h 6"/>
                </a:gdLst>
                <a:ahLst/>
                <a:cxnLst>
                  <a:cxn ang="0">
                    <a:pos x="T0" y="T1"/>
                  </a:cxn>
                  <a:cxn ang="0">
                    <a:pos x="T2" y="T3"/>
                  </a:cxn>
                  <a:cxn ang="0">
                    <a:pos x="T4" y="T5"/>
                  </a:cxn>
                  <a:cxn ang="0">
                    <a:pos x="T6" y="T7"/>
                  </a:cxn>
                </a:cxnLst>
                <a:rect l="0" t="0" r="r" b="b"/>
                <a:pathLst>
                  <a:path w="5" h="6">
                    <a:moveTo>
                      <a:pt x="3" y="5"/>
                    </a:moveTo>
                    <a:cubicBezTo>
                      <a:pt x="3" y="5"/>
                      <a:pt x="5" y="6"/>
                      <a:pt x="4" y="3"/>
                    </a:cubicBezTo>
                    <a:cubicBezTo>
                      <a:pt x="2" y="0"/>
                      <a:pt x="0" y="2"/>
                      <a:pt x="1" y="3"/>
                    </a:cubicBezTo>
                    <a:cubicBezTo>
                      <a:pt x="2" y="5"/>
                      <a:pt x="3" y="5"/>
                      <a:pt x="3"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01" name="Freeform 711">
                <a:extLst>
                  <a:ext uri="{FF2B5EF4-FFF2-40B4-BE49-F238E27FC236}">
                    <a16:creationId xmlns:a16="http://schemas.microsoft.com/office/drawing/2014/main" id="{1A360322-0B16-4931-A0C3-D0E3F2AF0094}"/>
                  </a:ext>
                </a:extLst>
              </p:cNvPr>
              <p:cNvSpPr>
                <a:spLocks/>
              </p:cNvSpPr>
              <p:nvPr/>
            </p:nvSpPr>
            <p:spPr bwMode="auto">
              <a:xfrm>
                <a:off x="6095" y="1853"/>
                <a:ext cx="72" cy="103"/>
              </a:xfrm>
              <a:custGeom>
                <a:avLst/>
                <a:gdLst>
                  <a:gd name="T0" fmla="*/ 14 w 52"/>
                  <a:gd name="T1" fmla="*/ 7 h 75"/>
                  <a:gd name="T2" fmla="*/ 8 w 52"/>
                  <a:gd name="T3" fmla="*/ 14 h 75"/>
                  <a:gd name="T4" fmla="*/ 9 w 52"/>
                  <a:gd name="T5" fmla="*/ 17 h 75"/>
                  <a:gd name="T6" fmla="*/ 8 w 52"/>
                  <a:gd name="T7" fmla="*/ 19 h 75"/>
                  <a:gd name="T8" fmla="*/ 9 w 52"/>
                  <a:gd name="T9" fmla="*/ 24 h 75"/>
                  <a:gd name="T10" fmla="*/ 10 w 52"/>
                  <a:gd name="T11" fmla="*/ 26 h 75"/>
                  <a:gd name="T12" fmla="*/ 12 w 52"/>
                  <a:gd name="T13" fmla="*/ 30 h 75"/>
                  <a:gd name="T14" fmla="*/ 8 w 52"/>
                  <a:gd name="T15" fmla="*/ 29 h 75"/>
                  <a:gd name="T16" fmla="*/ 5 w 52"/>
                  <a:gd name="T17" fmla="*/ 28 h 75"/>
                  <a:gd name="T18" fmla="*/ 2 w 52"/>
                  <a:gd name="T19" fmla="*/ 31 h 75"/>
                  <a:gd name="T20" fmla="*/ 3 w 52"/>
                  <a:gd name="T21" fmla="*/ 33 h 75"/>
                  <a:gd name="T22" fmla="*/ 5 w 52"/>
                  <a:gd name="T23" fmla="*/ 38 h 75"/>
                  <a:gd name="T24" fmla="*/ 7 w 52"/>
                  <a:gd name="T25" fmla="*/ 44 h 75"/>
                  <a:gd name="T26" fmla="*/ 8 w 52"/>
                  <a:gd name="T27" fmla="*/ 48 h 75"/>
                  <a:gd name="T28" fmla="*/ 5 w 52"/>
                  <a:gd name="T29" fmla="*/ 52 h 75"/>
                  <a:gd name="T30" fmla="*/ 3 w 52"/>
                  <a:gd name="T31" fmla="*/ 58 h 75"/>
                  <a:gd name="T32" fmla="*/ 2 w 52"/>
                  <a:gd name="T33" fmla="*/ 62 h 75"/>
                  <a:gd name="T34" fmla="*/ 6 w 52"/>
                  <a:gd name="T35" fmla="*/ 66 h 75"/>
                  <a:gd name="T36" fmla="*/ 5 w 52"/>
                  <a:gd name="T37" fmla="*/ 69 h 75"/>
                  <a:gd name="T38" fmla="*/ 2 w 52"/>
                  <a:gd name="T39" fmla="*/ 69 h 75"/>
                  <a:gd name="T40" fmla="*/ 7 w 52"/>
                  <a:gd name="T41" fmla="*/ 73 h 75"/>
                  <a:gd name="T42" fmla="*/ 16 w 52"/>
                  <a:gd name="T43" fmla="*/ 68 h 75"/>
                  <a:gd name="T44" fmla="*/ 19 w 52"/>
                  <a:gd name="T45" fmla="*/ 70 h 75"/>
                  <a:gd name="T46" fmla="*/ 20 w 52"/>
                  <a:gd name="T47" fmla="*/ 65 h 75"/>
                  <a:gd name="T48" fmla="*/ 24 w 52"/>
                  <a:gd name="T49" fmla="*/ 64 h 75"/>
                  <a:gd name="T50" fmla="*/ 29 w 52"/>
                  <a:gd name="T51" fmla="*/ 62 h 75"/>
                  <a:gd name="T52" fmla="*/ 34 w 52"/>
                  <a:gd name="T53" fmla="*/ 64 h 75"/>
                  <a:gd name="T54" fmla="*/ 37 w 52"/>
                  <a:gd name="T55" fmla="*/ 61 h 75"/>
                  <a:gd name="T56" fmla="*/ 41 w 52"/>
                  <a:gd name="T57" fmla="*/ 60 h 75"/>
                  <a:gd name="T58" fmla="*/ 44 w 52"/>
                  <a:gd name="T59" fmla="*/ 60 h 75"/>
                  <a:gd name="T60" fmla="*/ 50 w 52"/>
                  <a:gd name="T61" fmla="*/ 44 h 75"/>
                  <a:gd name="T62" fmla="*/ 47 w 52"/>
                  <a:gd name="T63" fmla="*/ 24 h 75"/>
                  <a:gd name="T64" fmla="*/ 30 w 52"/>
                  <a:gd name="T65" fmla="*/ 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2" h="75">
                    <a:moveTo>
                      <a:pt x="25" y="6"/>
                    </a:moveTo>
                    <a:cubicBezTo>
                      <a:pt x="24" y="6"/>
                      <a:pt x="15" y="7"/>
                      <a:pt x="14" y="7"/>
                    </a:cubicBezTo>
                    <a:cubicBezTo>
                      <a:pt x="14" y="7"/>
                      <a:pt x="13" y="8"/>
                      <a:pt x="13" y="8"/>
                    </a:cubicBezTo>
                    <a:cubicBezTo>
                      <a:pt x="8" y="14"/>
                      <a:pt x="8" y="14"/>
                      <a:pt x="8" y="14"/>
                    </a:cubicBezTo>
                    <a:cubicBezTo>
                      <a:pt x="8" y="14"/>
                      <a:pt x="8" y="14"/>
                      <a:pt x="8" y="14"/>
                    </a:cubicBezTo>
                    <a:cubicBezTo>
                      <a:pt x="9" y="16"/>
                      <a:pt x="10" y="18"/>
                      <a:pt x="9" y="17"/>
                    </a:cubicBezTo>
                    <a:cubicBezTo>
                      <a:pt x="7" y="16"/>
                      <a:pt x="5" y="15"/>
                      <a:pt x="6" y="16"/>
                    </a:cubicBezTo>
                    <a:cubicBezTo>
                      <a:pt x="7" y="18"/>
                      <a:pt x="8" y="18"/>
                      <a:pt x="8" y="19"/>
                    </a:cubicBezTo>
                    <a:cubicBezTo>
                      <a:pt x="8" y="20"/>
                      <a:pt x="9" y="22"/>
                      <a:pt x="10" y="22"/>
                    </a:cubicBezTo>
                    <a:cubicBezTo>
                      <a:pt x="10" y="23"/>
                      <a:pt x="10" y="24"/>
                      <a:pt x="9" y="24"/>
                    </a:cubicBezTo>
                    <a:cubicBezTo>
                      <a:pt x="9" y="25"/>
                      <a:pt x="7" y="26"/>
                      <a:pt x="8" y="26"/>
                    </a:cubicBezTo>
                    <a:cubicBezTo>
                      <a:pt x="9" y="26"/>
                      <a:pt x="10" y="25"/>
                      <a:pt x="10" y="26"/>
                    </a:cubicBezTo>
                    <a:cubicBezTo>
                      <a:pt x="9" y="27"/>
                      <a:pt x="9" y="28"/>
                      <a:pt x="10" y="28"/>
                    </a:cubicBezTo>
                    <a:cubicBezTo>
                      <a:pt x="11" y="28"/>
                      <a:pt x="12" y="29"/>
                      <a:pt x="12" y="30"/>
                    </a:cubicBezTo>
                    <a:cubicBezTo>
                      <a:pt x="11" y="30"/>
                      <a:pt x="10" y="31"/>
                      <a:pt x="10" y="30"/>
                    </a:cubicBezTo>
                    <a:cubicBezTo>
                      <a:pt x="9" y="29"/>
                      <a:pt x="9" y="29"/>
                      <a:pt x="8" y="29"/>
                    </a:cubicBezTo>
                    <a:cubicBezTo>
                      <a:pt x="7" y="29"/>
                      <a:pt x="7" y="29"/>
                      <a:pt x="7" y="29"/>
                    </a:cubicBezTo>
                    <a:cubicBezTo>
                      <a:pt x="6" y="28"/>
                      <a:pt x="5" y="27"/>
                      <a:pt x="5" y="28"/>
                    </a:cubicBezTo>
                    <a:cubicBezTo>
                      <a:pt x="5" y="30"/>
                      <a:pt x="4" y="28"/>
                      <a:pt x="3" y="29"/>
                    </a:cubicBezTo>
                    <a:cubicBezTo>
                      <a:pt x="3" y="31"/>
                      <a:pt x="2" y="31"/>
                      <a:pt x="2" y="31"/>
                    </a:cubicBezTo>
                    <a:cubicBezTo>
                      <a:pt x="2" y="30"/>
                      <a:pt x="0" y="30"/>
                      <a:pt x="1" y="32"/>
                    </a:cubicBezTo>
                    <a:cubicBezTo>
                      <a:pt x="1" y="33"/>
                      <a:pt x="2" y="33"/>
                      <a:pt x="3" y="33"/>
                    </a:cubicBezTo>
                    <a:cubicBezTo>
                      <a:pt x="4" y="33"/>
                      <a:pt x="5" y="32"/>
                      <a:pt x="5" y="34"/>
                    </a:cubicBezTo>
                    <a:cubicBezTo>
                      <a:pt x="5" y="35"/>
                      <a:pt x="5" y="37"/>
                      <a:pt x="5" y="38"/>
                    </a:cubicBezTo>
                    <a:cubicBezTo>
                      <a:pt x="6" y="39"/>
                      <a:pt x="6" y="41"/>
                      <a:pt x="6" y="42"/>
                    </a:cubicBezTo>
                    <a:cubicBezTo>
                      <a:pt x="6" y="42"/>
                      <a:pt x="5" y="43"/>
                      <a:pt x="7" y="44"/>
                    </a:cubicBezTo>
                    <a:cubicBezTo>
                      <a:pt x="8" y="44"/>
                      <a:pt x="11" y="44"/>
                      <a:pt x="9" y="45"/>
                    </a:cubicBezTo>
                    <a:cubicBezTo>
                      <a:pt x="6" y="47"/>
                      <a:pt x="8" y="47"/>
                      <a:pt x="8" y="48"/>
                    </a:cubicBezTo>
                    <a:cubicBezTo>
                      <a:pt x="9" y="48"/>
                      <a:pt x="9" y="49"/>
                      <a:pt x="8" y="49"/>
                    </a:cubicBezTo>
                    <a:cubicBezTo>
                      <a:pt x="7" y="50"/>
                      <a:pt x="4" y="51"/>
                      <a:pt x="5" y="52"/>
                    </a:cubicBezTo>
                    <a:cubicBezTo>
                      <a:pt x="6" y="52"/>
                      <a:pt x="8" y="53"/>
                      <a:pt x="7" y="54"/>
                    </a:cubicBezTo>
                    <a:cubicBezTo>
                      <a:pt x="6" y="54"/>
                      <a:pt x="2" y="56"/>
                      <a:pt x="3" y="58"/>
                    </a:cubicBezTo>
                    <a:cubicBezTo>
                      <a:pt x="4" y="60"/>
                      <a:pt x="4" y="61"/>
                      <a:pt x="3" y="61"/>
                    </a:cubicBezTo>
                    <a:cubicBezTo>
                      <a:pt x="3" y="60"/>
                      <a:pt x="2" y="60"/>
                      <a:pt x="2" y="62"/>
                    </a:cubicBezTo>
                    <a:cubicBezTo>
                      <a:pt x="3" y="63"/>
                      <a:pt x="3" y="66"/>
                      <a:pt x="4" y="65"/>
                    </a:cubicBezTo>
                    <a:cubicBezTo>
                      <a:pt x="5" y="65"/>
                      <a:pt x="7" y="65"/>
                      <a:pt x="6" y="66"/>
                    </a:cubicBezTo>
                    <a:cubicBezTo>
                      <a:pt x="5" y="67"/>
                      <a:pt x="5" y="67"/>
                      <a:pt x="6" y="67"/>
                    </a:cubicBezTo>
                    <a:cubicBezTo>
                      <a:pt x="6" y="68"/>
                      <a:pt x="7" y="68"/>
                      <a:pt x="5" y="69"/>
                    </a:cubicBezTo>
                    <a:cubicBezTo>
                      <a:pt x="4" y="69"/>
                      <a:pt x="3" y="69"/>
                      <a:pt x="3" y="69"/>
                    </a:cubicBezTo>
                    <a:cubicBezTo>
                      <a:pt x="3" y="68"/>
                      <a:pt x="1" y="68"/>
                      <a:pt x="2" y="69"/>
                    </a:cubicBezTo>
                    <a:cubicBezTo>
                      <a:pt x="3" y="70"/>
                      <a:pt x="4" y="70"/>
                      <a:pt x="4" y="71"/>
                    </a:cubicBezTo>
                    <a:cubicBezTo>
                      <a:pt x="5" y="72"/>
                      <a:pt x="6" y="75"/>
                      <a:pt x="7" y="73"/>
                    </a:cubicBezTo>
                    <a:cubicBezTo>
                      <a:pt x="8" y="72"/>
                      <a:pt x="11" y="68"/>
                      <a:pt x="15" y="67"/>
                    </a:cubicBezTo>
                    <a:cubicBezTo>
                      <a:pt x="19" y="66"/>
                      <a:pt x="18" y="67"/>
                      <a:pt x="16" y="68"/>
                    </a:cubicBezTo>
                    <a:cubicBezTo>
                      <a:pt x="14" y="70"/>
                      <a:pt x="14" y="70"/>
                      <a:pt x="16" y="71"/>
                    </a:cubicBezTo>
                    <a:cubicBezTo>
                      <a:pt x="18" y="71"/>
                      <a:pt x="19" y="71"/>
                      <a:pt x="19" y="70"/>
                    </a:cubicBezTo>
                    <a:cubicBezTo>
                      <a:pt x="20" y="69"/>
                      <a:pt x="20" y="68"/>
                      <a:pt x="20" y="67"/>
                    </a:cubicBezTo>
                    <a:cubicBezTo>
                      <a:pt x="19" y="66"/>
                      <a:pt x="19" y="63"/>
                      <a:pt x="20" y="65"/>
                    </a:cubicBezTo>
                    <a:cubicBezTo>
                      <a:pt x="21" y="66"/>
                      <a:pt x="21" y="69"/>
                      <a:pt x="22" y="68"/>
                    </a:cubicBezTo>
                    <a:cubicBezTo>
                      <a:pt x="23" y="67"/>
                      <a:pt x="24" y="65"/>
                      <a:pt x="24" y="64"/>
                    </a:cubicBezTo>
                    <a:cubicBezTo>
                      <a:pt x="24" y="63"/>
                      <a:pt x="25" y="62"/>
                      <a:pt x="26" y="62"/>
                    </a:cubicBezTo>
                    <a:cubicBezTo>
                      <a:pt x="27" y="61"/>
                      <a:pt x="28" y="61"/>
                      <a:pt x="29" y="62"/>
                    </a:cubicBezTo>
                    <a:cubicBezTo>
                      <a:pt x="29" y="63"/>
                      <a:pt x="30" y="63"/>
                      <a:pt x="32" y="64"/>
                    </a:cubicBezTo>
                    <a:cubicBezTo>
                      <a:pt x="33" y="64"/>
                      <a:pt x="34" y="66"/>
                      <a:pt x="34" y="64"/>
                    </a:cubicBezTo>
                    <a:cubicBezTo>
                      <a:pt x="34" y="62"/>
                      <a:pt x="35" y="62"/>
                      <a:pt x="36" y="62"/>
                    </a:cubicBezTo>
                    <a:cubicBezTo>
                      <a:pt x="36" y="62"/>
                      <a:pt x="37" y="61"/>
                      <a:pt x="37" y="61"/>
                    </a:cubicBezTo>
                    <a:cubicBezTo>
                      <a:pt x="37" y="60"/>
                      <a:pt x="37" y="59"/>
                      <a:pt x="38" y="60"/>
                    </a:cubicBezTo>
                    <a:cubicBezTo>
                      <a:pt x="39" y="60"/>
                      <a:pt x="41" y="60"/>
                      <a:pt x="41" y="60"/>
                    </a:cubicBezTo>
                    <a:cubicBezTo>
                      <a:pt x="42" y="60"/>
                      <a:pt x="42" y="60"/>
                      <a:pt x="42" y="61"/>
                    </a:cubicBezTo>
                    <a:cubicBezTo>
                      <a:pt x="43" y="61"/>
                      <a:pt x="44" y="61"/>
                      <a:pt x="44" y="60"/>
                    </a:cubicBezTo>
                    <a:cubicBezTo>
                      <a:pt x="45" y="60"/>
                      <a:pt x="46" y="59"/>
                      <a:pt x="48" y="54"/>
                    </a:cubicBezTo>
                    <a:cubicBezTo>
                      <a:pt x="50" y="48"/>
                      <a:pt x="52" y="44"/>
                      <a:pt x="50" y="44"/>
                    </a:cubicBezTo>
                    <a:cubicBezTo>
                      <a:pt x="49" y="45"/>
                      <a:pt x="48" y="45"/>
                      <a:pt x="48" y="43"/>
                    </a:cubicBezTo>
                    <a:cubicBezTo>
                      <a:pt x="48" y="42"/>
                      <a:pt x="49" y="27"/>
                      <a:pt x="47" y="24"/>
                    </a:cubicBezTo>
                    <a:cubicBezTo>
                      <a:pt x="45" y="21"/>
                      <a:pt x="37" y="6"/>
                      <a:pt x="33" y="0"/>
                    </a:cubicBezTo>
                    <a:cubicBezTo>
                      <a:pt x="32" y="2"/>
                      <a:pt x="31" y="4"/>
                      <a:pt x="30" y="5"/>
                    </a:cubicBezTo>
                    <a:cubicBezTo>
                      <a:pt x="29" y="6"/>
                      <a:pt x="26" y="6"/>
                      <a:pt x="25"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02" name="Freeform 712">
                <a:extLst>
                  <a:ext uri="{FF2B5EF4-FFF2-40B4-BE49-F238E27FC236}">
                    <a16:creationId xmlns:a16="http://schemas.microsoft.com/office/drawing/2014/main" id="{ECA40EF4-F674-44D7-83D1-0C837EC727B5}"/>
                  </a:ext>
                </a:extLst>
              </p:cNvPr>
              <p:cNvSpPr>
                <a:spLocks/>
              </p:cNvSpPr>
              <p:nvPr/>
            </p:nvSpPr>
            <p:spPr bwMode="auto">
              <a:xfrm>
                <a:off x="5325" y="2089"/>
                <a:ext cx="70" cy="36"/>
              </a:xfrm>
              <a:custGeom>
                <a:avLst/>
                <a:gdLst>
                  <a:gd name="T0" fmla="*/ 43 w 50"/>
                  <a:gd name="T1" fmla="*/ 9 h 26"/>
                  <a:gd name="T2" fmla="*/ 44 w 50"/>
                  <a:gd name="T3" fmla="*/ 6 h 26"/>
                  <a:gd name="T4" fmla="*/ 41 w 50"/>
                  <a:gd name="T5" fmla="*/ 5 h 26"/>
                  <a:gd name="T6" fmla="*/ 38 w 50"/>
                  <a:gd name="T7" fmla="*/ 4 h 26"/>
                  <a:gd name="T8" fmla="*/ 38 w 50"/>
                  <a:gd name="T9" fmla="*/ 4 h 26"/>
                  <a:gd name="T10" fmla="*/ 35 w 50"/>
                  <a:gd name="T11" fmla="*/ 5 h 26"/>
                  <a:gd name="T12" fmla="*/ 34 w 50"/>
                  <a:gd name="T13" fmla="*/ 5 h 26"/>
                  <a:gd name="T14" fmla="*/ 31 w 50"/>
                  <a:gd name="T15" fmla="*/ 4 h 26"/>
                  <a:gd name="T16" fmla="*/ 30 w 50"/>
                  <a:gd name="T17" fmla="*/ 4 h 26"/>
                  <a:gd name="T18" fmla="*/ 26 w 50"/>
                  <a:gd name="T19" fmla="*/ 4 h 26"/>
                  <a:gd name="T20" fmla="*/ 25 w 50"/>
                  <a:gd name="T21" fmla="*/ 3 h 26"/>
                  <a:gd name="T22" fmla="*/ 24 w 50"/>
                  <a:gd name="T23" fmla="*/ 2 h 26"/>
                  <a:gd name="T24" fmla="*/ 21 w 50"/>
                  <a:gd name="T25" fmla="*/ 0 h 26"/>
                  <a:gd name="T26" fmla="*/ 18 w 50"/>
                  <a:gd name="T27" fmla="*/ 1 h 26"/>
                  <a:gd name="T28" fmla="*/ 16 w 50"/>
                  <a:gd name="T29" fmla="*/ 1 h 26"/>
                  <a:gd name="T30" fmla="*/ 12 w 50"/>
                  <a:gd name="T31" fmla="*/ 4 h 26"/>
                  <a:gd name="T32" fmla="*/ 10 w 50"/>
                  <a:gd name="T33" fmla="*/ 6 h 26"/>
                  <a:gd name="T34" fmla="*/ 9 w 50"/>
                  <a:gd name="T35" fmla="*/ 8 h 26"/>
                  <a:gd name="T36" fmla="*/ 7 w 50"/>
                  <a:gd name="T37" fmla="*/ 9 h 26"/>
                  <a:gd name="T38" fmla="*/ 6 w 50"/>
                  <a:gd name="T39" fmla="*/ 12 h 26"/>
                  <a:gd name="T40" fmla="*/ 4 w 50"/>
                  <a:gd name="T41" fmla="*/ 15 h 26"/>
                  <a:gd name="T42" fmla="*/ 3 w 50"/>
                  <a:gd name="T43" fmla="*/ 16 h 26"/>
                  <a:gd name="T44" fmla="*/ 3 w 50"/>
                  <a:gd name="T45" fmla="*/ 17 h 26"/>
                  <a:gd name="T46" fmla="*/ 1 w 50"/>
                  <a:gd name="T47" fmla="*/ 18 h 26"/>
                  <a:gd name="T48" fmla="*/ 1 w 50"/>
                  <a:gd name="T49" fmla="*/ 19 h 26"/>
                  <a:gd name="T50" fmla="*/ 2 w 50"/>
                  <a:gd name="T51" fmla="*/ 20 h 26"/>
                  <a:gd name="T52" fmla="*/ 3 w 50"/>
                  <a:gd name="T53" fmla="*/ 21 h 26"/>
                  <a:gd name="T54" fmla="*/ 3 w 50"/>
                  <a:gd name="T55" fmla="*/ 22 h 26"/>
                  <a:gd name="T56" fmla="*/ 4 w 50"/>
                  <a:gd name="T57" fmla="*/ 22 h 26"/>
                  <a:gd name="T58" fmla="*/ 5 w 50"/>
                  <a:gd name="T59" fmla="*/ 23 h 26"/>
                  <a:gd name="T60" fmla="*/ 8 w 50"/>
                  <a:gd name="T61" fmla="*/ 24 h 26"/>
                  <a:gd name="T62" fmla="*/ 9 w 50"/>
                  <a:gd name="T63" fmla="*/ 24 h 26"/>
                  <a:gd name="T64" fmla="*/ 11 w 50"/>
                  <a:gd name="T65" fmla="*/ 24 h 26"/>
                  <a:gd name="T66" fmla="*/ 15 w 50"/>
                  <a:gd name="T67" fmla="*/ 26 h 26"/>
                  <a:gd name="T68" fmla="*/ 16 w 50"/>
                  <a:gd name="T69" fmla="*/ 26 h 26"/>
                  <a:gd name="T70" fmla="*/ 17 w 50"/>
                  <a:gd name="T71" fmla="*/ 25 h 26"/>
                  <a:gd name="T72" fmla="*/ 19 w 50"/>
                  <a:gd name="T73" fmla="*/ 25 h 26"/>
                  <a:gd name="T74" fmla="*/ 22 w 50"/>
                  <a:gd name="T75" fmla="*/ 24 h 26"/>
                  <a:gd name="T76" fmla="*/ 23 w 50"/>
                  <a:gd name="T77" fmla="*/ 23 h 26"/>
                  <a:gd name="T78" fmla="*/ 25 w 50"/>
                  <a:gd name="T79" fmla="*/ 23 h 26"/>
                  <a:gd name="T80" fmla="*/ 26 w 50"/>
                  <a:gd name="T81" fmla="*/ 24 h 26"/>
                  <a:gd name="T82" fmla="*/ 29 w 50"/>
                  <a:gd name="T83" fmla="*/ 25 h 26"/>
                  <a:gd name="T84" fmla="*/ 34 w 50"/>
                  <a:gd name="T85" fmla="*/ 25 h 26"/>
                  <a:gd name="T86" fmla="*/ 42 w 50"/>
                  <a:gd name="T87" fmla="*/ 24 h 26"/>
                  <a:gd name="T88" fmla="*/ 46 w 50"/>
                  <a:gd name="T89" fmla="*/ 23 h 26"/>
                  <a:gd name="T90" fmla="*/ 47 w 50"/>
                  <a:gd name="T91" fmla="*/ 24 h 26"/>
                  <a:gd name="T92" fmla="*/ 48 w 50"/>
                  <a:gd name="T93" fmla="*/ 24 h 26"/>
                  <a:gd name="T94" fmla="*/ 50 w 50"/>
                  <a:gd name="T95" fmla="*/ 23 h 26"/>
                  <a:gd name="T96" fmla="*/ 50 w 50"/>
                  <a:gd name="T97" fmla="*/ 22 h 26"/>
                  <a:gd name="T98" fmla="*/ 49 w 50"/>
                  <a:gd name="T99" fmla="*/ 20 h 26"/>
                  <a:gd name="T100" fmla="*/ 49 w 50"/>
                  <a:gd name="T101" fmla="*/ 19 h 26"/>
                  <a:gd name="T102" fmla="*/ 50 w 50"/>
                  <a:gd name="T103" fmla="*/ 17 h 26"/>
                  <a:gd name="T104" fmla="*/ 50 w 50"/>
                  <a:gd name="T105" fmla="*/ 15 h 26"/>
                  <a:gd name="T106" fmla="*/ 46 w 50"/>
                  <a:gd name="T107" fmla="*/ 14 h 26"/>
                  <a:gd name="T108" fmla="*/ 44 w 50"/>
                  <a:gd name="T109" fmla="*/ 13 h 26"/>
                  <a:gd name="T110" fmla="*/ 43 w 50"/>
                  <a:gd name="T111" fmla="*/ 12 h 26"/>
                  <a:gd name="T112" fmla="*/ 43 w 50"/>
                  <a:gd name="T113" fmla="*/ 9 h 26"/>
                  <a:gd name="T114" fmla="*/ 43 w 50"/>
                  <a:gd name="T115" fmla="*/ 9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 h="26">
                    <a:moveTo>
                      <a:pt x="43" y="9"/>
                    </a:moveTo>
                    <a:cubicBezTo>
                      <a:pt x="44" y="8"/>
                      <a:pt x="44" y="7"/>
                      <a:pt x="44" y="6"/>
                    </a:cubicBezTo>
                    <a:cubicBezTo>
                      <a:pt x="44" y="6"/>
                      <a:pt x="42" y="6"/>
                      <a:pt x="41" y="5"/>
                    </a:cubicBezTo>
                    <a:cubicBezTo>
                      <a:pt x="40" y="5"/>
                      <a:pt x="38" y="4"/>
                      <a:pt x="38" y="4"/>
                    </a:cubicBezTo>
                    <a:cubicBezTo>
                      <a:pt x="38" y="4"/>
                      <a:pt x="38" y="4"/>
                      <a:pt x="38" y="4"/>
                    </a:cubicBezTo>
                    <a:cubicBezTo>
                      <a:pt x="38" y="4"/>
                      <a:pt x="35" y="5"/>
                      <a:pt x="35" y="5"/>
                    </a:cubicBezTo>
                    <a:cubicBezTo>
                      <a:pt x="34" y="5"/>
                      <a:pt x="34" y="5"/>
                      <a:pt x="34" y="5"/>
                    </a:cubicBezTo>
                    <a:cubicBezTo>
                      <a:pt x="34" y="5"/>
                      <a:pt x="32" y="5"/>
                      <a:pt x="31" y="4"/>
                    </a:cubicBezTo>
                    <a:cubicBezTo>
                      <a:pt x="31" y="4"/>
                      <a:pt x="30" y="4"/>
                      <a:pt x="30" y="4"/>
                    </a:cubicBezTo>
                    <a:cubicBezTo>
                      <a:pt x="29" y="4"/>
                      <a:pt x="26" y="4"/>
                      <a:pt x="26" y="4"/>
                    </a:cubicBezTo>
                    <a:cubicBezTo>
                      <a:pt x="25" y="4"/>
                      <a:pt x="25" y="4"/>
                      <a:pt x="25" y="3"/>
                    </a:cubicBezTo>
                    <a:cubicBezTo>
                      <a:pt x="25" y="3"/>
                      <a:pt x="24" y="2"/>
                      <a:pt x="24" y="2"/>
                    </a:cubicBezTo>
                    <a:cubicBezTo>
                      <a:pt x="24" y="1"/>
                      <a:pt x="22" y="0"/>
                      <a:pt x="21" y="0"/>
                    </a:cubicBezTo>
                    <a:cubicBezTo>
                      <a:pt x="20" y="0"/>
                      <a:pt x="18" y="1"/>
                      <a:pt x="18" y="1"/>
                    </a:cubicBezTo>
                    <a:cubicBezTo>
                      <a:pt x="17" y="1"/>
                      <a:pt x="17" y="1"/>
                      <a:pt x="16" y="1"/>
                    </a:cubicBezTo>
                    <a:cubicBezTo>
                      <a:pt x="16" y="2"/>
                      <a:pt x="13" y="3"/>
                      <a:pt x="12" y="4"/>
                    </a:cubicBezTo>
                    <a:cubicBezTo>
                      <a:pt x="12" y="4"/>
                      <a:pt x="10" y="6"/>
                      <a:pt x="10" y="6"/>
                    </a:cubicBezTo>
                    <a:cubicBezTo>
                      <a:pt x="10" y="7"/>
                      <a:pt x="9" y="7"/>
                      <a:pt x="9" y="8"/>
                    </a:cubicBezTo>
                    <a:cubicBezTo>
                      <a:pt x="9" y="8"/>
                      <a:pt x="8" y="9"/>
                      <a:pt x="7" y="9"/>
                    </a:cubicBezTo>
                    <a:cubicBezTo>
                      <a:pt x="7" y="9"/>
                      <a:pt x="6" y="11"/>
                      <a:pt x="6" y="12"/>
                    </a:cubicBezTo>
                    <a:cubicBezTo>
                      <a:pt x="6" y="12"/>
                      <a:pt x="4" y="14"/>
                      <a:pt x="4" y="15"/>
                    </a:cubicBezTo>
                    <a:cubicBezTo>
                      <a:pt x="3" y="15"/>
                      <a:pt x="3" y="16"/>
                      <a:pt x="3" y="16"/>
                    </a:cubicBezTo>
                    <a:cubicBezTo>
                      <a:pt x="3" y="16"/>
                      <a:pt x="3" y="17"/>
                      <a:pt x="3" y="17"/>
                    </a:cubicBezTo>
                    <a:cubicBezTo>
                      <a:pt x="2" y="17"/>
                      <a:pt x="1" y="18"/>
                      <a:pt x="1" y="18"/>
                    </a:cubicBezTo>
                    <a:cubicBezTo>
                      <a:pt x="0" y="19"/>
                      <a:pt x="1" y="19"/>
                      <a:pt x="1" y="19"/>
                    </a:cubicBezTo>
                    <a:cubicBezTo>
                      <a:pt x="1" y="19"/>
                      <a:pt x="2" y="19"/>
                      <a:pt x="2" y="20"/>
                    </a:cubicBezTo>
                    <a:cubicBezTo>
                      <a:pt x="2" y="20"/>
                      <a:pt x="2" y="21"/>
                      <a:pt x="3" y="21"/>
                    </a:cubicBezTo>
                    <a:cubicBezTo>
                      <a:pt x="3" y="22"/>
                      <a:pt x="3" y="22"/>
                      <a:pt x="3" y="22"/>
                    </a:cubicBezTo>
                    <a:cubicBezTo>
                      <a:pt x="4" y="22"/>
                      <a:pt x="4" y="23"/>
                      <a:pt x="4" y="22"/>
                    </a:cubicBezTo>
                    <a:cubicBezTo>
                      <a:pt x="5" y="22"/>
                      <a:pt x="5" y="23"/>
                      <a:pt x="5" y="23"/>
                    </a:cubicBezTo>
                    <a:cubicBezTo>
                      <a:pt x="6" y="24"/>
                      <a:pt x="7" y="24"/>
                      <a:pt x="8" y="24"/>
                    </a:cubicBezTo>
                    <a:cubicBezTo>
                      <a:pt x="8" y="24"/>
                      <a:pt x="8" y="24"/>
                      <a:pt x="9" y="24"/>
                    </a:cubicBezTo>
                    <a:cubicBezTo>
                      <a:pt x="10" y="23"/>
                      <a:pt x="11" y="24"/>
                      <a:pt x="11" y="24"/>
                    </a:cubicBezTo>
                    <a:cubicBezTo>
                      <a:pt x="12" y="24"/>
                      <a:pt x="14" y="25"/>
                      <a:pt x="15" y="26"/>
                    </a:cubicBezTo>
                    <a:cubicBezTo>
                      <a:pt x="15" y="26"/>
                      <a:pt x="16" y="26"/>
                      <a:pt x="16" y="26"/>
                    </a:cubicBezTo>
                    <a:cubicBezTo>
                      <a:pt x="17" y="26"/>
                      <a:pt x="17" y="25"/>
                      <a:pt x="17" y="25"/>
                    </a:cubicBezTo>
                    <a:cubicBezTo>
                      <a:pt x="17" y="25"/>
                      <a:pt x="19" y="25"/>
                      <a:pt x="19" y="25"/>
                    </a:cubicBezTo>
                    <a:cubicBezTo>
                      <a:pt x="20" y="25"/>
                      <a:pt x="21" y="24"/>
                      <a:pt x="22" y="24"/>
                    </a:cubicBezTo>
                    <a:cubicBezTo>
                      <a:pt x="22" y="24"/>
                      <a:pt x="23" y="23"/>
                      <a:pt x="23" y="23"/>
                    </a:cubicBezTo>
                    <a:cubicBezTo>
                      <a:pt x="24" y="23"/>
                      <a:pt x="24" y="23"/>
                      <a:pt x="25" y="23"/>
                    </a:cubicBezTo>
                    <a:cubicBezTo>
                      <a:pt x="25" y="23"/>
                      <a:pt x="26" y="23"/>
                      <a:pt x="26" y="24"/>
                    </a:cubicBezTo>
                    <a:cubicBezTo>
                      <a:pt x="26" y="24"/>
                      <a:pt x="29" y="24"/>
                      <a:pt x="29" y="25"/>
                    </a:cubicBezTo>
                    <a:cubicBezTo>
                      <a:pt x="30" y="25"/>
                      <a:pt x="33" y="25"/>
                      <a:pt x="34" y="25"/>
                    </a:cubicBezTo>
                    <a:cubicBezTo>
                      <a:pt x="35" y="25"/>
                      <a:pt x="40" y="24"/>
                      <a:pt x="42" y="24"/>
                    </a:cubicBezTo>
                    <a:cubicBezTo>
                      <a:pt x="43" y="24"/>
                      <a:pt x="46" y="24"/>
                      <a:pt x="46" y="23"/>
                    </a:cubicBezTo>
                    <a:cubicBezTo>
                      <a:pt x="47" y="23"/>
                      <a:pt x="47" y="24"/>
                      <a:pt x="47" y="24"/>
                    </a:cubicBezTo>
                    <a:cubicBezTo>
                      <a:pt x="47" y="24"/>
                      <a:pt x="48" y="24"/>
                      <a:pt x="48" y="24"/>
                    </a:cubicBezTo>
                    <a:cubicBezTo>
                      <a:pt x="48" y="24"/>
                      <a:pt x="49" y="23"/>
                      <a:pt x="50" y="23"/>
                    </a:cubicBezTo>
                    <a:cubicBezTo>
                      <a:pt x="50" y="23"/>
                      <a:pt x="50" y="22"/>
                      <a:pt x="50" y="22"/>
                    </a:cubicBezTo>
                    <a:cubicBezTo>
                      <a:pt x="50" y="22"/>
                      <a:pt x="49" y="21"/>
                      <a:pt x="49" y="20"/>
                    </a:cubicBezTo>
                    <a:cubicBezTo>
                      <a:pt x="49" y="20"/>
                      <a:pt x="49" y="19"/>
                      <a:pt x="49" y="19"/>
                    </a:cubicBezTo>
                    <a:cubicBezTo>
                      <a:pt x="49" y="18"/>
                      <a:pt x="49" y="17"/>
                      <a:pt x="50" y="17"/>
                    </a:cubicBezTo>
                    <a:cubicBezTo>
                      <a:pt x="50" y="17"/>
                      <a:pt x="50" y="16"/>
                      <a:pt x="50" y="15"/>
                    </a:cubicBezTo>
                    <a:cubicBezTo>
                      <a:pt x="49" y="15"/>
                      <a:pt x="47" y="14"/>
                      <a:pt x="46" y="14"/>
                    </a:cubicBezTo>
                    <a:cubicBezTo>
                      <a:pt x="46" y="14"/>
                      <a:pt x="44" y="13"/>
                      <a:pt x="44" y="13"/>
                    </a:cubicBezTo>
                    <a:cubicBezTo>
                      <a:pt x="44" y="13"/>
                      <a:pt x="43" y="12"/>
                      <a:pt x="43" y="12"/>
                    </a:cubicBezTo>
                    <a:cubicBezTo>
                      <a:pt x="43" y="11"/>
                      <a:pt x="43" y="10"/>
                      <a:pt x="43" y="9"/>
                    </a:cubicBezTo>
                    <a:cubicBezTo>
                      <a:pt x="43" y="9"/>
                      <a:pt x="43" y="9"/>
                      <a:pt x="43"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03" name="Freeform 713">
                <a:extLst>
                  <a:ext uri="{FF2B5EF4-FFF2-40B4-BE49-F238E27FC236}">
                    <a16:creationId xmlns:a16="http://schemas.microsoft.com/office/drawing/2014/main" id="{585A38D4-71D9-461D-9443-FEFDB87B968D}"/>
                  </a:ext>
                </a:extLst>
              </p:cNvPr>
              <p:cNvSpPr>
                <a:spLocks/>
              </p:cNvSpPr>
              <p:nvPr/>
            </p:nvSpPr>
            <p:spPr bwMode="auto">
              <a:xfrm>
                <a:off x="5313" y="2128"/>
                <a:ext cx="94" cy="127"/>
              </a:xfrm>
              <a:custGeom>
                <a:avLst/>
                <a:gdLst>
                  <a:gd name="T0" fmla="*/ 66 w 68"/>
                  <a:gd name="T1" fmla="*/ 62 h 93"/>
                  <a:gd name="T2" fmla="*/ 63 w 68"/>
                  <a:gd name="T3" fmla="*/ 52 h 93"/>
                  <a:gd name="T4" fmla="*/ 62 w 68"/>
                  <a:gd name="T5" fmla="*/ 45 h 93"/>
                  <a:gd name="T6" fmla="*/ 58 w 68"/>
                  <a:gd name="T7" fmla="*/ 46 h 93"/>
                  <a:gd name="T8" fmla="*/ 57 w 68"/>
                  <a:gd name="T9" fmla="*/ 49 h 93"/>
                  <a:gd name="T10" fmla="*/ 55 w 68"/>
                  <a:gd name="T11" fmla="*/ 56 h 93"/>
                  <a:gd name="T12" fmla="*/ 51 w 68"/>
                  <a:gd name="T13" fmla="*/ 55 h 93"/>
                  <a:gd name="T14" fmla="*/ 49 w 68"/>
                  <a:gd name="T15" fmla="*/ 54 h 93"/>
                  <a:gd name="T16" fmla="*/ 48 w 68"/>
                  <a:gd name="T17" fmla="*/ 53 h 93"/>
                  <a:gd name="T18" fmla="*/ 46 w 68"/>
                  <a:gd name="T19" fmla="*/ 49 h 93"/>
                  <a:gd name="T20" fmla="*/ 46 w 68"/>
                  <a:gd name="T21" fmla="*/ 43 h 93"/>
                  <a:gd name="T22" fmla="*/ 49 w 68"/>
                  <a:gd name="T23" fmla="*/ 39 h 93"/>
                  <a:gd name="T24" fmla="*/ 56 w 68"/>
                  <a:gd name="T25" fmla="*/ 38 h 93"/>
                  <a:gd name="T26" fmla="*/ 57 w 68"/>
                  <a:gd name="T27" fmla="*/ 35 h 93"/>
                  <a:gd name="T28" fmla="*/ 61 w 68"/>
                  <a:gd name="T29" fmla="*/ 27 h 93"/>
                  <a:gd name="T30" fmla="*/ 64 w 68"/>
                  <a:gd name="T31" fmla="*/ 26 h 93"/>
                  <a:gd name="T32" fmla="*/ 59 w 68"/>
                  <a:gd name="T33" fmla="*/ 22 h 93"/>
                  <a:gd name="T34" fmla="*/ 50 w 68"/>
                  <a:gd name="T35" fmla="*/ 23 h 93"/>
                  <a:gd name="T36" fmla="*/ 42 w 68"/>
                  <a:gd name="T37" fmla="*/ 22 h 93"/>
                  <a:gd name="T38" fmla="*/ 35 w 68"/>
                  <a:gd name="T39" fmla="*/ 23 h 93"/>
                  <a:gd name="T40" fmla="*/ 28 w 68"/>
                  <a:gd name="T41" fmla="*/ 20 h 93"/>
                  <a:gd name="T42" fmla="*/ 26 w 68"/>
                  <a:gd name="T43" fmla="*/ 18 h 93"/>
                  <a:gd name="T44" fmla="*/ 25 w 68"/>
                  <a:gd name="T45" fmla="*/ 9 h 93"/>
                  <a:gd name="T46" fmla="*/ 20 w 68"/>
                  <a:gd name="T47" fmla="*/ 9 h 93"/>
                  <a:gd name="T48" fmla="*/ 15 w 68"/>
                  <a:gd name="T49" fmla="*/ 5 h 93"/>
                  <a:gd name="T50" fmla="*/ 14 w 68"/>
                  <a:gd name="T51" fmla="*/ 5 h 93"/>
                  <a:gd name="T52" fmla="*/ 10 w 68"/>
                  <a:gd name="T53" fmla="*/ 5 h 93"/>
                  <a:gd name="T54" fmla="*/ 5 w 68"/>
                  <a:gd name="T55" fmla="*/ 1 h 93"/>
                  <a:gd name="T56" fmla="*/ 6 w 68"/>
                  <a:gd name="T57" fmla="*/ 3 h 93"/>
                  <a:gd name="T58" fmla="*/ 3 w 68"/>
                  <a:gd name="T59" fmla="*/ 6 h 93"/>
                  <a:gd name="T60" fmla="*/ 0 w 68"/>
                  <a:gd name="T61" fmla="*/ 11 h 93"/>
                  <a:gd name="T62" fmla="*/ 5 w 68"/>
                  <a:gd name="T63" fmla="*/ 14 h 93"/>
                  <a:gd name="T64" fmla="*/ 10 w 68"/>
                  <a:gd name="T65" fmla="*/ 17 h 93"/>
                  <a:gd name="T66" fmla="*/ 13 w 68"/>
                  <a:gd name="T67" fmla="*/ 20 h 93"/>
                  <a:gd name="T68" fmla="*/ 12 w 68"/>
                  <a:gd name="T69" fmla="*/ 22 h 93"/>
                  <a:gd name="T70" fmla="*/ 5 w 68"/>
                  <a:gd name="T71" fmla="*/ 23 h 93"/>
                  <a:gd name="T72" fmla="*/ 1 w 68"/>
                  <a:gd name="T73" fmla="*/ 27 h 93"/>
                  <a:gd name="T74" fmla="*/ 1 w 68"/>
                  <a:gd name="T75" fmla="*/ 33 h 93"/>
                  <a:gd name="T76" fmla="*/ 9 w 68"/>
                  <a:gd name="T77" fmla="*/ 37 h 93"/>
                  <a:gd name="T78" fmla="*/ 9 w 68"/>
                  <a:gd name="T79" fmla="*/ 41 h 93"/>
                  <a:gd name="T80" fmla="*/ 8 w 68"/>
                  <a:gd name="T81" fmla="*/ 46 h 93"/>
                  <a:gd name="T82" fmla="*/ 10 w 68"/>
                  <a:gd name="T83" fmla="*/ 49 h 93"/>
                  <a:gd name="T84" fmla="*/ 11 w 68"/>
                  <a:gd name="T85" fmla="*/ 53 h 93"/>
                  <a:gd name="T86" fmla="*/ 12 w 68"/>
                  <a:gd name="T87" fmla="*/ 57 h 93"/>
                  <a:gd name="T88" fmla="*/ 12 w 68"/>
                  <a:gd name="T89" fmla="*/ 63 h 93"/>
                  <a:gd name="T90" fmla="*/ 14 w 68"/>
                  <a:gd name="T91" fmla="*/ 70 h 93"/>
                  <a:gd name="T92" fmla="*/ 18 w 68"/>
                  <a:gd name="T93" fmla="*/ 76 h 93"/>
                  <a:gd name="T94" fmla="*/ 22 w 68"/>
                  <a:gd name="T95" fmla="*/ 74 h 93"/>
                  <a:gd name="T96" fmla="*/ 27 w 68"/>
                  <a:gd name="T97" fmla="*/ 72 h 93"/>
                  <a:gd name="T98" fmla="*/ 34 w 68"/>
                  <a:gd name="T99" fmla="*/ 71 h 93"/>
                  <a:gd name="T100" fmla="*/ 36 w 68"/>
                  <a:gd name="T101" fmla="*/ 62 h 93"/>
                  <a:gd name="T102" fmla="*/ 36 w 68"/>
                  <a:gd name="T103" fmla="*/ 55 h 93"/>
                  <a:gd name="T104" fmla="*/ 37 w 68"/>
                  <a:gd name="T105" fmla="*/ 50 h 93"/>
                  <a:gd name="T106" fmla="*/ 49 w 68"/>
                  <a:gd name="T107" fmla="*/ 59 h 93"/>
                  <a:gd name="T108" fmla="*/ 57 w 68"/>
                  <a:gd name="T109" fmla="*/ 75 h 93"/>
                  <a:gd name="T110" fmla="*/ 61 w 68"/>
                  <a:gd name="T111" fmla="*/ 87 h 93"/>
                  <a:gd name="T112" fmla="*/ 63 w 68"/>
                  <a:gd name="T113" fmla="*/ 81 h 93"/>
                  <a:gd name="T114" fmla="*/ 67 w 68"/>
                  <a:gd name="T115" fmla="*/ 83 h 93"/>
                  <a:gd name="T116" fmla="*/ 67 w 68"/>
                  <a:gd name="T117" fmla="*/ 7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8" h="93">
                    <a:moveTo>
                      <a:pt x="67" y="72"/>
                    </a:moveTo>
                    <a:cubicBezTo>
                      <a:pt x="67" y="71"/>
                      <a:pt x="66" y="70"/>
                      <a:pt x="66" y="69"/>
                    </a:cubicBezTo>
                    <a:cubicBezTo>
                      <a:pt x="66" y="69"/>
                      <a:pt x="66" y="63"/>
                      <a:pt x="66" y="62"/>
                    </a:cubicBezTo>
                    <a:cubicBezTo>
                      <a:pt x="66" y="61"/>
                      <a:pt x="65" y="61"/>
                      <a:pt x="65" y="61"/>
                    </a:cubicBezTo>
                    <a:cubicBezTo>
                      <a:pt x="65" y="60"/>
                      <a:pt x="64" y="57"/>
                      <a:pt x="64" y="56"/>
                    </a:cubicBezTo>
                    <a:cubicBezTo>
                      <a:pt x="63" y="56"/>
                      <a:pt x="63" y="53"/>
                      <a:pt x="63" y="52"/>
                    </a:cubicBezTo>
                    <a:cubicBezTo>
                      <a:pt x="63" y="52"/>
                      <a:pt x="63" y="51"/>
                      <a:pt x="63" y="51"/>
                    </a:cubicBezTo>
                    <a:cubicBezTo>
                      <a:pt x="63" y="51"/>
                      <a:pt x="62" y="46"/>
                      <a:pt x="62" y="46"/>
                    </a:cubicBezTo>
                    <a:cubicBezTo>
                      <a:pt x="62" y="46"/>
                      <a:pt x="62" y="45"/>
                      <a:pt x="62" y="45"/>
                    </a:cubicBezTo>
                    <a:cubicBezTo>
                      <a:pt x="62" y="45"/>
                      <a:pt x="60" y="45"/>
                      <a:pt x="60" y="45"/>
                    </a:cubicBezTo>
                    <a:cubicBezTo>
                      <a:pt x="60" y="45"/>
                      <a:pt x="59" y="45"/>
                      <a:pt x="59" y="46"/>
                    </a:cubicBezTo>
                    <a:cubicBezTo>
                      <a:pt x="59" y="46"/>
                      <a:pt x="59" y="46"/>
                      <a:pt x="58" y="46"/>
                    </a:cubicBezTo>
                    <a:cubicBezTo>
                      <a:pt x="58" y="46"/>
                      <a:pt x="58" y="46"/>
                      <a:pt x="58" y="45"/>
                    </a:cubicBezTo>
                    <a:cubicBezTo>
                      <a:pt x="57" y="45"/>
                      <a:pt x="57" y="45"/>
                      <a:pt x="57" y="45"/>
                    </a:cubicBezTo>
                    <a:cubicBezTo>
                      <a:pt x="57" y="46"/>
                      <a:pt x="57" y="48"/>
                      <a:pt x="57" y="49"/>
                    </a:cubicBezTo>
                    <a:cubicBezTo>
                      <a:pt x="57" y="49"/>
                      <a:pt x="57" y="50"/>
                      <a:pt x="57" y="50"/>
                    </a:cubicBezTo>
                    <a:cubicBezTo>
                      <a:pt x="57" y="50"/>
                      <a:pt x="55" y="53"/>
                      <a:pt x="55" y="53"/>
                    </a:cubicBezTo>
                    <a:cubicBezTo>
                      <a:pt x="55" y="54"/>
                      <a:pt x="55" y="55"/>
                      <a:pt x="55" y="56"/>
                    </a:cubicBezTo>
                    <a:cubicBezTo>
                      <a:pt x="55" y="56"/>
                      <a:pt x="53" y="57"/>
                      <a:pt x="53" y="57"/>
                    </a:cubicBezTo>
                    <a:cubicBezTo>
                      <a:pt x="52" y="57"/>
                      <a:pt x="52" y="57"/>
                      <a:pt x="52" y="57"/>
                    </a:cubicBezTo>
                    <a:cubicBezTo>
                      <a:pt x="51" y="57"/>
                      <a:pt x="51" y="55"/>
                      <a:pt x="51" y="55"/>
                    </a:cubicBezTo>
                    <a:cubicBezTo>
                      <a:pt x="51" y="55"/>
                      <a:pt x="50" y="53"/>
                      <a:pt x="50" y="53"/>
                    </a:cubicBezTo>
                    <a:cubicBezTo>
                      <a:pt x="50" y="52"/>
                      <a:pt x="49" y="52"/>
                      <a:pt x="49" y="53"/>
                    </a:cubicBezTo>
                    <a:cubicBezTo>
                      <a:pt x="49" y="53"/>
                      <a:pt x="49" y="54"/>
                      <a:pt x="49" y="54"/>
                    </a:cubicBezTo>
                    <a:cubicBezTo>
                      <a:pt x="49" y="55"/>
                      <a:pt x="49" y="55"/>
                      <a:pt x="48" y="55"/>
                    </a:cubicBezTo>
                    <a:cubicBezTo>
                      <a:pt x="48" y="55"/>
                      <a:pt x="48" y="55"/>
                      <a:pt x="48" y="55"/>
                    </a:cubicBezTo>
                    <a:cubicBezTo>
                      <a:pt x="48" y="55"/>
                      <a:pt x="48" y="53"/>
                      <a:pt x="48" y="53"/>
                    </a:cubicBezTo>
                    <a:cubicBezTo>
                      <a:pt x="47" y="52"/>
                      <a:pt x="47" y="52"/>
                      <a:pt x="47" y="52"/>
                    </a:cubicBezTo>
                    <a:cubicBezTo>
                      <a:pt x="47" y="51"/>
                      <a:pt x="47" y="51"/>
                      <a:pt x="47" y="51"/>
                    </a:cubicBezTo>
                    <a:cubicBezTo>
                      <a:pt x="47" y="51"/>
                      <a:pt x="46" y="49"/>
                      <a:pt x="46" y="49"/>
                    </a:cubicBezTo>
                    <a:cubicBezTo>
                      <a:pt x="46" y="48"/>
                      <a:pt x="45" y="47"/>
                      <a:pt x="45" y="46"/>
                    </a:cubicBezTo>
                    <a:cubicBezTo>
                      <a:pt x="45" y="46"/>
                      <a:pt x="46" y="44"/>
                      <a:pt x="46" y="44"/>
                    </a:cubicBezTo>
                    <a:cubicBezTo>
                      <a:pt x="46" y="44"/>
                      <a:pt x="46" y="43"/>
                      <a:pt x="46" y="43"/>
                    </a:cubicBezTo>
                    <a:cubicBezTo>
                      <a:pt x="47" y="42"/>
                      <a:pt x="47" y="42"/>
                      <a:pt x="47" y="42"/>
                    </a:cubicBezTo>
                    <a:cubicBezTo>
                      <a:pt x="47" y="42"/>
                      <a:pt x="48" y="40"/>
                      <a:pt x="49" y="39"/>
                    </a:cubicBezTo>
                    <a:cubicBezTo>
                      <a:pt x="49" y="39"/>
                      <a:pt x="49" y="39"/>
                      <a:pt x="49" y="39"/>
                    </a:cubicBezTo>
                    <a:cubicBezTo>
                      <a:pt x="49" y="39"/>
                      <a:pt x="51" y="38"/>
                      <a:pt x="52" y="38"/>
                    </a:cubicBezTo>
                    <a:cubicBezTo>
                      <a:pt x="52" y="37"/>
                      <a:pt x="54" y="37"/>
                      <a:pt x="54" y="37"/>
                    </a:cubicBezTo>
                    <a:cubicBezTo>
                      <a:pt x="54" y="37"/>
                      <a:pt x="55" y="38"/>
                      <a:pt x="56" y="38"/>
                    </a:cubicBezTo>
                    <a:cubicBezTo>
                      <a:pt x="56" y="39"/>
                      <a:pt x="56" y="38"/>
                      <a:pt x="56" y="38"/>
                    </a:cubicBezTo>
                    <a:cubicBezTo>
                      <a:pt x="56" y="38"/>
                      <a:pt x="56" y="36"/>
                      <a:pt x="56" y="36"/>
                    </a:cubicBezTo>
                    <a:cubicBezTo>
                      <a:pt x="57" y="36"/>
                      <a:pt x="57" y="35"/>
                      <a:pt x="57" y="35"/>
                    </a:cubicBezTo>
                    <a:cubicBezTo>
                      <a:pt x="57" y="35"/>
                      <a:pt x="60" y="33"/>
                      <a:pt x="60" y="32"/>
                    </a:cubicBezTo>
                    <a:cubicBezTo>
                      <a:pt x="60" y="32"/>
                      <a:pt x="60" y="32"/>
                      <a:pt x="60" y="32"/>
                    </a:cubicBezTo>
                    <a:cubicBezTo>
                      <a:pt x="60" y="32"/>
                      <a:pt x="61" y="28"/>
                      <a:pt x="61" y="27"/>
                    </a:cubicBezTo>
                    <a:cubicBezTo>
                      <a:pt x="61" y="27"/>
                      <a:pt x="62" y="27"/>
                      <a:pt x="62" y="27"/>
                    </a:cubicBezTo>
                    <a:cubicBezTo>
                      <a:pt x="62" y="27"/>
                      <a:pt x="64" y="27"/>
                      <a:pt x="65" y="27"/>
                    </a:cubicBezTo>
                    <a:cubicBezTo>
                      <a:pt x="65" y="27"/>
                      <a:pt x="65" y="26"/>
                      <a:pt x="64" y="26"/>
                    </a:cubicBezTo>
                    <a:cubicBezTo>
                      <a:pt x="64" y="25"/>
                      <a:pt x="64" y="25"/>
                      <a:pt x="64" y="25"/>
                    </a:cubicBezTo>
                    <a:cubicBezTo>
                      <a:pt x="64" y="25"/>
                      <a:pt x="64" y="25"/>
                      <a:pt x="63" y="24"/>
                    </a:cubicBezTo>
                    <a:cubicBezTo>
                      <a:pt x="63" y="24"/>
                      <a:pt x="59" y="22"/>
                      <a:pt x="59" y="22"/>
                    </a:cubicBezTo>
                    <a:cubicBezTo>
                      <a:pt x="58" y="22"/>
                      <a:pt x="57" y="22"/>
                      <a:pt x="56" y="22"/>
                    </a:cubicBezTo>
                    <a:cubicBezTo>
                      <a:pt x="56" y="22"/>
                      <a:pt x="54" y="23"/>
                      <a:pt x="53" y="23"/>
                    </a:cubicBezTo>
                    <a:cubicBezTo>
                      <a:pt x="53" y="23"/>
                      <a:pt x="51" y="23"/>
                      <a:pt x="50" y="23"/>
                    </a:cubicBezTo>
                    <a:cubicBezTo>
                      <a:pt x="49" y="23"/>
                      <a:pt x="46" y="22"/>
                      <a:pt x="46" y="22"/>
                    </a:cubicBezTo>
                    <a:cubicBezTo>
                      <a:pt x="46" y="22"/>
                      <a:pt x="45" y="22"/>
                      <a:pt x="44" y="22"/>
                    </a:cubicBezTo>
                    <a:cubicBezTo>
                      <a:pt x="44" y="22"/>
                      <a:pt x="42" y="22"/>
                      <a:pt x="42" y="22"/>
                    </a:cubicBezTo>
                    <a:cubicBezTo>
                      <a:pt x="42" y="23"/>
                      <a:pt x="41" y="23"/>
                      <a:pt x="41" y="23"/>
                    </a:cubicBezTo>
                    <a:cubicBezTo>
                      <a:pt x="41" y="23"/>
                      <a:pt x="37" y="22"/>
                      <a:pt x="37" y="22"/>
                    </a:cubicBezTo>
                    <a:cubicBezTo>
                      <a:pt x="36" y="22"/>
                      <a:pt x="35" y="23"/>
                      <a:pt x="35" y="23"/>
                    </a:cubicBezTo>
                    <a:cubicBezTo>
                      <a:pt x="34" y="23"/>
                      <a:pt x="33" y="22"/>
                      <a:pt x="32" y="22"/>
                    </a:cubicBezTo>
                    <a:cubicBezTo>
                      <a:pt x="32" y="22"/>
                      <a:pt x="30" y="22"/>
                      <a:pt x="30" y="22"/>
                    </a:cubicBezTo>
                    <a:cubicBezTo>
                      <a:pt x="30" y="21"/>
                      <a:pt x="28" y="21"/>
                      <a:pt x="28" y="20"/>
                    </a:cubicBezTo>
                    <a:cubicBezTo>
                      <a:pt x="27" y="20"/>
                      <a:pt x="26" y="20"/>
                      <a:pt x="26" y="20"/>
                    </a:cubicBezTo>
                    <a:cubicBezTo>
                      <a:pt x="26" y="20"/>
                      <a:pt x="25" y="19"/>
                      <a:pt x="25" y="19"/>
                    </a:cubicBezTo>
                    <a:cubicBezTo>
                      <a:pt x="25" y="19"/>
                      <a:pt x="25" y="18"/>
                      <a:pt x="26" y="18"/>
                    </a:cubicBezTo>
                    <a:cubicBezTo>
                      <a:pt x="26" y="17"/>
                      <a:pt x="25" y="13"/>
                      <a:pt x="25" y="13"/>
                    </a:cubicBezTo>
                    <a:cubicBezTo>
                      <a:pt x="25" y="12"/>
                      <a:pt x="25" y="12"/>
                      <a:pt x="25" y="12"/>
                    </a:cubicBezTo>
                    <a:cubicBezTo>
                      <a:pt x="25" y="11"/>
                      <a:pt x="25" y="10"/>
                      <a:pt x="25" y="9"/>
                    </a:cubicBezTo>
                    <a:cubicBezTo>
                      <a:pt x="25" y="9"/>
                      <a:pt x="24" y="7"/>
                      <a:pt x="24" y="6"/>
                    </a:cubicBezTo>
                    <a:cubicBezTo>
                      <a:pt x="23" y="6"/>
                      <a:pt x="23" y="8"/>
                      <a:pt x="23" y="8"/>
                    </a:cubicBezTo>
                    <a:cubicBezTo>
                      <a:pt x="22" y="8"/>
                      <a:pt x="21" y="9"/>
                      <a:pt x="20" y="9"/>
                    </a:cubicBezTo>
                    <a:cubicBezTo>
                      <a:pt x="20" y="9"/>
                      <a:pt x="19" y="9"/>
                      <a:pt x="18" y="9"/>
                    </a:cubicBezTo>
                    <a:cubicBezTo>
                      <a:pt x="18" y="9"/>
                      <a:pt x="16" y="6"/>
                      <a:pt x="15" y="6"/>
                    </a:cubicBezTo>
                    <a:cubicBezTo>
                      <a:pt x="15" y="5"/>
                      <a:pt x="15" y="5"/>
                      <a:pt x="15" y="5"/>
                    </a:cubicBezTo>
                    <a:cubicBezTo>
                      <a:pt x="15" y="4"/>
                      <a:pt x="14" y="3"/>
                      <a:pt x="13" y="3"/>
                    </a:cubicBezTo>
                    <a:cubicBezTo>
                      <a:pt x="13" y="2"/>
                      <a:pt x="13" y="2"/>
                      <a:pt x="13" y="3"/>
                    </a:cubicBezTo>
                    <a:cubicBezTo>
                      <a:pt x="13" y="3"/>
                      <a:pt x="14" y="4"/>
                      <a:pt x="14" y="5"/>
                    </a:cubicBezTo>
                    <a:cubicBezTo>
                      <a:pt x="14" y="5"/>
                      <a:pt x="13" y="5"/>
                      <a:pt x="13" y="5"/>
                    </a:cubicBezTo>
                    <a:cubicBezTo>
                      <a:pt x="13" y="5"/>
                      <a:pt x="12" y="6"/>
                      <a:pt x="11" y="6"/>
                    </a:cubicBezTo>
                    <a:cubicBezTo>
                      <a:pt x="11" y="6"/>
                      <a:pt x="11" y="5"/>
                      <a:pt x="10" y="5"/>
                    </a:cubicBezTo>
                    <a:cubicBezTo>
                      <a:pt x="10" y="4"/>
                      <a:pt x="10" y="4"/>
                      <a:pt x="9" y="5"/>
                    </a:cubicBezTo>
                    <a:cubicBezTo>
                      <a:pt x="9" y="5"/>
                      <a:pt x="9" y="4"/>
                      <a:pt x="9" y="4"/>
                    </a:cubicBezTo>
                    <a:cubicBezTo>
                      <a:pt x="9" y="4"/>
                      <a:pt x="6" y="1"/>
                      <a:pt x="5" y="1"/>
                    </a:cubicBezTo>
                    <a:cubicBezTo>
                      <a:pt x="5" y="0"/>
                      <a:pt x="4" y="0"/>
                      <a:pt x="3" y="1"/>
                    </a:cubicBezTo>
                    <a:cubicBezTo>
                      <a:pt x="3" y="2"/>
                      <a:pt x="5" y="2"/>
                      <a:pt x="5" y="2"/>
                    </a:cubicBezTo>
                    <a:cubicBezTo>
                      <a:pt x="6" y="3"/>
                      <a:pt x="6" y="2"/>
                      <a:pt x="6" y="3"/>
                    </a:cubicBezTo>
                    <a:cubicBezTo>
                      <a:pt x="6" y="3"/>
                      <a:pt x="6" y="3"/>
                      <a:pt x="6" y="3"/>
                    </a:cubicBezTo>
                    <a:cubicBezTo>
                      <a:pt x="5" y="3"/>
                      <a:pt x="5" y="4"/>
                      <a:pt x="5" y="4"/>
                    </a:cubicBezTo>
                    <a:cubicBezTo>
                      <a:pt x="5" y="4"/>
                      <a:pt x="3" y="6"/>
                      <a:pt x="3" y="6"/>
                    </a:cubicBezTo>
                    <a:cubicBezTo>
                      <a:pt x="2" y="6"/>
                      <a:pt x="2" y="7"/>
                      <a:pt x="2" y="8"/>
                    </a:cubicBezTo>
                    <a:cubicBezTo>
                      <a:pt x="1" y="8"/>
                      <a:pt x="1" y="9"/>
                      <a:pt x="1" y="9"/>
                    </a:cubicBezTo>
                    <a:cubicBezTo>
                      <a:pt x="0" y="9"/>
                      <a:pt x="0" y="10"/>
                      <a:pt x="0" y="11"/>
                    </a:cubicBezTo>
                    <a:cubicBezTo>
                      <a:pt x="0" y="12"/>
                      <a:pt x="1" y="12"/>
                      <a:pt x="2" y="12"/>
                    </a:cubicBezTo>
                    <a:cubicBezTo>
                      <a:pt x="2" y="12"/>
                      <a:pt x="3" y="12"/>
                      <a:pt x="3" y="12"/>
                    </a:cubicBezTo>
                    <a:cubicBezTo>
                      <a:pt x="3" y="12"/>
                      <a:pt x="4" y="14"/>
                      <a:pt x="5" y="14"/>
                    </a:cubicBezTo>
                    <a:cubicBezTo>
                      <a:pt x="5" y="15"/>
                      <a:pt x="7" y="16"/>
                      <a:pt x="7" y="17"/>
                    </a:cubicBezTo>
                    <a:cubicBezTo>
                      <a:pt x="7" y="17"/>
                      <a:pt x="8" y="17"/>
                      <a:pt x="8" y="17"/>
                    </a:cubicBezTo>
                    <a:cubicBezTo>
                      <a:pt x="8" y="17"/>
                      <a:pt x="10" y="17"/>
                      <a:pt x="10" y="17"/>
                    </a:cubicBezTo>
                    <a:cubicBezTo>
                      <a:pt x="10" y="17"/>
                      <a:pt x="11" y="18"/>
                      <a:pt x="11" y="19"/>
                    </a:cubicBezTo>
                    <a:cubicBezTo>
                      <a:pt x="11" y="19"/>
                      <a:pt x="11" y="20"/>
                      <a:pt x="12" y="20"/>
                    </a:cubicBezTo>
                    <a:cubicBezTo>
                      <a:pt x="12" y="20"/>
                      <a:pt x="12" y="20"/>
                      <a:pt x="13" y="20"/>
                    </a:cubicBezTo>
                    <a:cubicBezTo>
                      <a:pt x="13" y="21"/>
                      <a:pt x="13" y="21"/>
                      <a:pt x="13" y="21"/>
                    </a:cubicBezTo>
                    <a:cubicBezTo>
                      <a:pt x="13" y="21"/>
                      <a:pt x="12" y="22"/>
                      <a:pt x="12" y="22"/>
                    </a:cubicBezTo>
                    <a:cubicBezTo>
                      <a:pt x="13" y="22"/>
                      <a:pt x="12" y="22"/>
                      <a:pt x="12" y="22"/>
                    </a:cubicBezTo>
                    <a:cubicBezTo>
                      <a:pt x="12" y="22"/>
                      <a:pt x="11" y="22"/>
                      <a:pt x="10" y="22"/>
                    </a:cubicBezTo>
                    <a:cubicBezTo>
                      <a:pt x="9" y="22"/>
                      <a:pt x="8" y="22"/>
                      <a:pt x="8" y="22"/>
                    </a:cubicBezTo>
                    <a:cubicBezTo>
                      <a:pt x="7" y="22"/>
                      <a:pt x="6" y="23"/>
                      <a:pt x="5" y="23"/>
                    </a:cubicBezTo>
                    <a:cubicBezTo>
                      <a:pt x="5" y="23"/>
                      <a:pt x="5" y="25"/>
                      <a:pt x="4" y="25"/>
                    </a:cubicBezTo>
                    <a:cubicBezTo>
                      <a:pt x="4" y="26"/>
                      <a:pt x="3" y="26"/>
                      <a:pt x="3" y="26"/>
                    </a:cubicBezTo>
                    <a:cubicBezTo>
                      <a:pt x="3" y="27"/>
                      <a:pt x="2" y="27"/>
                      <a:pt x="1" y="27"/>
                    </a:cubicBezTo>
                    <a:cubicBezTo>
                      <a:pt x="1" y="27"/>
                      <a:pt x="1" y="28"/>
                      <a:pt x="1" y="28"/>
                    </a:cubicBezTo>
                    <a:cubicBezTo>
                      <a:pt x="1" y="28"/>
                      <a:pt x="0" y="31"/>
                      <a:pt x="0" y="32"/>
                    </a:cubicBezTo>
                    <a:cubicBezTo>
                      <a:pt x="0" y="33"/>
                      <a:pt x="1" y="33"/>
                      <a:pt x="1" y="33"/>
                    </a:cubicBezTo>
                    <a:cubicBezTo>
                      <a:pt x="1" y="33"/>
                      <a:pt x="5" y="35"/>
                      <a:pt x="5" y="35"/>
                    </a:cubicBezTo>
                    <a:cubicBezTo>
                      <a:pt x="5" y="35"/>
                      <a:pt x="7" y="36"/>
                      <a:pt x="8" y="36"/>
                    </a:cubicBezTo>
                    <a:cubicBezTo>
                      <a:pt x="9" y="36"/>
                      <a:pt x="9" y="37"/>
                      <a:pt x="9" y="37"/>
                    </a:cubicBezTo>
                    <a:cubicBezTo>
                      <a:pt x="10" y="37"/>
                      <a:pt x="9" y="37"/>
                      <a:pt x="9" y="38"/>
                    </a:cubicBezTo>
                    <a:cubicBezTo>
                      <a:pt x="9" y="38"/>
                      <a:pt x="9" y="39"/>
                      <a:pt x="9" y="39"/>
                    </a:cubicBezTo>
                    <a:cubicBezTo>
                      <a:pt x="9" y="40"/>
                      <a:pt x="9" y="41"/>
                      <a:pt x="9" y="41"/>
                    </a:cubicBezTo>
                    <a:cubicBezTo>
                      <a:pt x="9" y="41"/>
                      <a:pt x="9" y="42"/>
                      <a:pt x="8" y="42"/>
                    </a:cubicBezTo>
                    <a:cubicBezTo>
                      <a:pt x="8" y="43"/>
                      <a:pt x="8" y="43"/>
                      <a:pt x="8" y="43"/>
                    </a:cubicBezTo>
                    <a:cubicBezTo>
                      <a:pt x="8" y="43"/>
                      <a:pt x="8" y="44"/>
                      <a:pt x="8" y="46"/>
                    </a:cubicBezTo>
                    <a:cubicBezTo>
                      <a:pt x="8" y="47"/>
                      <a:pt x="8" y="47"/>
                      <a:pt x="8" y="47"/>
                    </a:cubicBezTo>
                    <a:cubicBezTo>
                      <a:pt x="8" y="47"/>
                      <a:pt x="9" y="48"/>
                      <a:pt x="10" y="49"/>
                    </a:cubicBezTo>
                    <a:cubicBezTo>
                      <a:pt x="10" y="49"/>
                      <a:pt x="10" y="49"/>
                      <a:pt x="10" y="49"/>
                    </a:cubicBezTo>
                    <a:cubicBezTo>
                      <a:pt x="10" y="49"/>
                      <a:pt x="10" y="50"/>
                      <a:pt x="10" y="51"/>
                    </a:cubicBezTo>
                    <a:cubicBezTo>
                      <a:pt x="10" y="51"/>
                      <a:pt x="10" y="52"/>
                      <a:pt x="10" y="52"/>
                    </a:cubicBezTo>
                    <a:cubicBezTo>
                      <a:pt x="11" y="53"/>
                      <a:pt x="11" y="53"/>
                      <a:pt x="11" y="53"/>
                    </a:cubicBezTo>
                    <a:cubicBezTo>
                      <a:pt x="11" y="53"/>
                      <a:pt x="12" y="53"/>
                      <a:pt x="12" y="53"/>
                    </a:cubicBezTo>
                    <a:cubicBezTo>
                      <a:pt x="13" y="53"/>
                      <a:pt x="13" y="54"/>
                      <a:pt x="13" y="54"/>
                    </a:cubicBezTo>
                    <a:cubicBezTo>
                      <a:pt x="13" y="54"/>
                      <a:pt x="12" y="57"/>
                      <a:pt x="12" y="57"/>
                    </a:cubicBezTo>
                    <a:cubicBezTo>
                      <a:pt x="11" y="57"/>
                      <a:pt x="12" y="59"/>
                      <a:pt x="12" y="60"/>
                    </a:cubicBezTo>
                    <a:cubicBezTo>
                      <a:pt x="13" y="60"/>
                      <a:pt x="12" y="61"/>
                      <a:pt x="12" y="62"/>
                    </a:cubicBezTo>
                    <a:cubicBezTo>
                      <a:pt x="12" y="62"/>
                      <a:pt x="12" y="63"/>
                      <a:pt x="12" y="63"/>
                    </a:cubicBezTo>
                    <a:cubicBezTo>
                      <a:pt x="13" y="63"/>
                      <a:pt x="13" y="66"/>
                      <a:pt x="13" y="67"/>
                    </a:cubicBezTo>
                    <a:cubicBezTo>
                      <a:pt x="13" y="67"/>
                      <a:pt x="13" y="67"/>
                      <a:pt x="13" y="68"/>
                    </a:cubicBezTo>
                    <a:cubicBezTo>
                      <a:pt x="13" y="68"/>
                      <a:pt x="14" y="70"/>
                      <a:pt x="14" y="70"/>
                    </a:cubicBezTo>
                    <a:cubicBezTo>
                      <a:pt x="14" y="71"/>
                      <a:pt x="14" y="72"/>
                      <a:pt x="15" y="74"/>
                    </a:cubicBezTo>
                    <a:cubicBezTo>
                      <a:pt x="15" y="74"/>
                      <a:pt x="15" y="75"/>
                      <a:pt x="16" y="76"/>
                    </a:cubicBezTo>
                    <a:cubicBezTo>
                      <a:pt x="17" y="78"/>
                      <a:pt x="17" y="78"/>
                      <a:pt x="18" y="76"/>
                    </a:cubicBezTo>
                    <a:cubicBezTo>
                      <a:pt x="18" y="75"/>
                      <a:pt x="19" y="73"/>
                      <a:pt x="19" y="75"/>
                    </a:cubicBezTo>
                    <a:cubicBezTo>
                      <a:pt x="20" y="77"/>
                      <a:pt x="21" y="76"/>
                      <a:pt x="21" y="74"/>
                    </a:cubicBezTo>
                    <a:cubicBezTo>
                      <a:pt x="21" y="73"/>
                      <a:pt x="21" y="72"/>
                      <a:pt x="22" y="74"/>
                    </a:cubicBezTo>
                    <a:cubicBezTo>
                      <a:pt x="23" y="77"/>
                      <a:pt x="23" y="75"/>
                      <a:pt x="23" y="74"/>
                    </a:cubicBezTo>
                    <a:cubicBezTo>
                      <a:pt x="23" y="74"/>
                      <a:pt x="23" y="73"/>
                      <a:pt x="25" y="74"/>
                    </a:cubicBezTo>
                    <a:cubicBezTo>
                      <a:pt x="26" y="74"/>
                      <a:pt x="27" y="74"/>
                      <a:pt x="27" y="72"/>
                    </a:cubicBezTo>
                    <a:cubicBezTo>
                      <a:pt x="27" y="71"/>
                      <a:pt x="27" y="71"/>
                      <a:pt x="28" y="72"/>
                    </a:cubicBezTo>
                    <a:cubicBezTo>
                      <a:pt x="29" y="73"/>
                      <a:pt x="29" y="74"/>
                      <a:pt x="31" y="75"/>
                    </a:cubicBezTo>
                    <a:cubicBezTo>
                      <a:pt x="33" y="75"/>
                      <a:pt x="33" y="73"/>
                      <a:pt x="34" y="71"/>
                    </a:cubicBezTo>
                    <a:cubicBezTo>
                      <a:pt x="34" y="69"/>
                      <a:pt x="34" y="68"/>
                      <a:pt x="36" y="69"/>
                    </a:cubicBezTo>
                    <a:cubicBezTo>
                      <a:pt x="37" y="70"/>
                      <a:pt x="37" y="69"/>
                      <a:pt x="37" y="67"/>
                    </a:cubicBezTo>
                    <a:cubicBezTo>
                      <a:pt x="37" y="66"/>
                      <a:pt x="37" y="64"/>
                      <a:pt x="36" y="62"/>
                    </a:cubicBezTo>
                    <a:cubicBezTo>
                      <a:pt x="34" y="60"/>
                      <a:pt x="34" y="60"/>
                      <a:pt x="35" y="59"/>
                    </a:cubicBezTo>
                    <a:cubicBezTo>
                      <a:pt x="36" y="59"/>
                      <a:pt x="36" y="58"/>
                      <a:pt x="36" y="57"/>
                    </a:cubicBezTo>
                    <a:cubicBezTo>
                      <a:pt x="35" y="56"/>
                      <a:pt x="35" y="56"/>
                      <a:pt x="36" y="55"/>
                    </a:cubicBezTo>
                    <a:cubicBezTo>
                      <a:pt x="37" y="54"/>
                      <a:pt x="37" y="54"/>
                      <a:pt x="35" y="52"/>
                    </a:cubicBezTo>
                    <a:cubicBezTo>
                      <a:pt x="33" y="51"/>
                      <a:pt x="33" y="49"/>
                      <a:pt x="35" y="50"/>
                    </a:cubicBezTo>
                    <a:cubicBezTo>
                      <a:pt x="36" y="51"/>
                      <a:pt x="37" y="47"/>
                      <a:pt x="37" y="50"/>
                    </a:cubicBezTo>
                    <a:cubicBezTo>
                      <a:pt x="38" y="52"/>
                      <a:pt x="39" y="51"/>
                      <a:pt x="38" y="52"/>
                    </a:cubicBezTo>
                    <a:cubicBezTo>
                      <a:pt x="38" y="54"/>
                      <a:pt x="37" y="56"/>
                      <a:pt x="40" y="58"/>
                    </a:cubicBezTo>
                    <a:cubicBezTo>
                      <a:pt x="43" y="59"/>
                      <a:pt x="48" y="60"/>
                      <a:pt x="49" y="59"/>
                    </a:cubicBezTo>
                    <a:cubicBezTo>
                      <a:pt x="51" y="58"/>
                      <a:pt x="50" y="58"/>
                      <a:pt x="51" y="60"/>
                    </a:cubicBezTo>
                    <a:cubicBezTo>
                      <a:pt x="52" y="62"/>
                      <a:pt x="54" y="66"/>
                      <a:pt x="55" y="69"/>
                    </a:cubicBezTo>
                    <a:cubicBezTo>
                      <a:pt x="56" y="71"/>
                      <a:pt x="57" y="74"/>
                      <a:pt x="57" y="75"/>
                    </a:cubicBezTo>
                    <a:cubicBezTo>
                      <a:pt x="57" y="76"/>
                      <a:pt x="58" y="83"/>
                      <a:pt x="59" y="86"/>
                    </a:cubicBezTo>
                    <a:cubicBezTo>
                      <a:pt x="60" y="88"/>
                      <a:pt x="64" y="93"/>
                      <a:pt x="62" y="89"/>
                    </a:cubicBezTo>
                    <a:cubicBezTo>
                      <a:pt x="61" y="87"/>
                      <a:pt x="61" y="86"/>
                      <a:pt x="61" y="87"/>
                    </a:cubicBezTo>
                    <a:cubicBezTo>
                      <a:pt x="61" y="86"/>
                      <a:pt x="61" y="86"/>
                      <a:pt x="61" y="85"/>
                    </a:cubicBezTo>
                    <a:cubicBezTo>
                      <a:pt x="61" y="85"/>
                      <a:pt x="61" y="84"/>
                      <a:pt x="61" y="84"/>
                    </a:cubicBezTo>
                    <a:cubicBezTo>
                      <a:pt x="61" y="84"/>
                      <a:pt x="63" y="81"/>
                      <a:pt x="63" y="81"/>
                    </a:cubicBezTo>
                    <a:cubicBezTo>
                      <a:pt x="63" y="80"/>
                      <a:pt x="64" y="81"/>
                      <a:pt x="64" y="82"/>
                    </a:cubicBezTo>
                    <a:cubicBezTo>
                      <a:pt x="64" y="82"/>
                      <a:pt x="65" y="82"/>
                      <a:pt x="66" y="82"/>
                    </a:cubicBezTo>
                    <a:cubicBezTo>
                      <a:pt x="66" y="82"/>
                      <a:pt x="67" y="82"/>
                      <a:pt x="67" y="83"/>
                    </a:cubicBezTo>
                    <a:cubicBezTo>
                      <a:pt x="68" y="83"/>
                      <a:pt x="68" y="82"/>
                      <a:pt x="68" y="82"/>
                    </a:cubicBezTo>
                    <a:cubicBezTo>
                      <a:pt x="68" y="82"/>
                      <a:pt x="67" y="75"/>
                      <a:pt x="67" y="75"/>
                    </a:cubicBezTo>
                    <a:cubicBezTo>
                      <a:pt x="67" y="74"/>
                      <a:pt x="67" y="74"/>
                      <a:pt x="67" y="7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04" name="Freeform 714">
                <a:extLst>
                  <a:ext uri="{FF2B5EF4-FFF2-40B4-BE49-F238E27FC236}">
                    <a16:creationId xmlns:a16="http://schemas.microsoft.com/office/drawing/2014/main" id="{4A0DD6B7-A64D-40E0-B3BC-3FF612D4F566}"/>
                  </a:ext>
                </a:extLst>
              </p:cNvPr>
              <p:cNvSpPr>
                <a:spLocks/>
              </p:cNvSpPr>
              <p:nvPr/>
            </p:nvSpPr>
            <p:spPr bwMode="auto">
              <a:xfrm>
                <a:off x="5147" y="2043"/>
                <a:ext cx="167" cy="90"/>
              </a:xfrm>
              <a:custGeom>
                <a:avLst/>
                <a:gdLst>
                  <a:gd name="T0" fmla="*/ 5 w 121"/>
                  <a:gd name="T1" fmla="*/ 13 h 66"/>
                  <a:gd name="T2" fmla="*/ 4 w 121"/>
                  <a:gd name="T3" fmla="*/ 18 h 66"/>
                  <a:gd name="T4" fmla="*/ 2 w 121"/>
                  <a:gd name="T5" fmla="*/ 22 h 66"/>
                  <a:gd name="T6" fmla="*/ 1 w 121"/>
                  <a:gd name="T7" fmla="*/ 26 h 66"/>
                  <a:gd name="T8" fmla="*/ 7 w 121"/>
                  <a:gd name="T9" fmla="*/ 30 h 66"/>
                  <a:gd name="T10" fmla="*/ 8 w 121"/>
                  <a:gd name="T11" fmla="*/ 28 h 66"/>
                  <a:gd name="T12" fmla="*/ 17 w 121"/>
                  <a:gd name="T13" fmla="*/ 33 h 66"/>
                  <a:gd name="T14" fmla="*/ 27 w 121"/>
                  <a:gd name="T15" fmla="*/ 41 h 66"/>
                  <a:gd name="T16" fmla="*/ 31 w 121"/>
                  <a:gd name="T17" fmla="*/ 41 h 66"/>
                  <a:gd name="T18" fmla="*/ 39 w 121"/>
                  <a:gd name="T19" fmla="*/ 44 h 66"/>
                  <a:gd name="T20" fmla="*/ 40 w 121"/>
                  <a:gd name="T21" fmla="*/ 47 h 66"/>
                  <a:gd name="T22" fmla="*/ 47 w 121"/>
                  <a:gd name="T23" fmla="*/ 49 h 66"/>
                  <a:gd name="T24" fmla="*/ 49 w 121"/>
                  <a:gd name="T25" fmla="*/ 50 h 66"/>
                  <a:gd name="T26" fmla="*/ 53 w 121"/>
                  <a:gd name="T27" fmla="*/ 48 h 66"/>
                  <a:gd name="T28" fmla="*/ 57 w 121"/>
                  <a:gd name="T29" fmla="*/ 49 h 66"/>
                  <a:gd name="T30" fmla="*/ 62 w 121"/>
                  <a:gd name="T31" fmla="*/ 48 h 66"/>
                  <a:gd name="T32" fmla="*/ 68 w 121"/>
                  <a:gd name="T33" fmla="*/ 50 h 66"/>
                  <a:gd name="T34" fmla="*/ 71 w 121"/>
                  <a:gd name="T35" fmla="*/ 55 h 66"/>
                  <a:gd name="T36" fmla="*/ 77 w 121"/>
                  <a:gd name="T37" fmla="*/ 58 h 66"/>
                  <a:gd name="T38" fmla="*/ 79 w 121"/>
                  <a:gd name="T39" fmla="*/ 59 h 66"/>
                  <a:gd name="T40" fmla="*/ 84 w 121"/>
                  <a:gd name="T41" fmla="*/ 58 h 66"/>
                  <a:gd name="T42" fmla="*/ 87 w 121"/>
                  <a:gd name="T43" fmla="*/ 62 h 66"/>
                  <a:gd name="T44" fmla="*/ 96 w 121"/>
                  <a:gd name="T45" fmla="*/ 63 h 66"/>
                  <a:gd name="T46" fmla="*/ 100 w 121"/>
                  <a:gd name="T47" fmla="*/ 64 h 66"/>
                  <a:gd name="T48" fmla="*/ 104 w 121"/>
                  <a:gd name="T49" fmla="*/ 62 h 66"/>
                  <a:gd name="T50" fmla="*/ 105 w 121"/>
                  <a:gd name="T51" fmla="*/ 64 h 66"/>
                  <a:gd name="T52" fmla="*/ 114 w 121"/>
                  <a:gd name="T53" fmla="*/ 65 h 66"/>
                  <a:gd name="T54" fmla="*/ 121 w 121"/>
                  <a:gd name="T55" fmla="*/ 59 h 66"/>
                  <a:gd name="T56" fmla="*/ 118 w 121"/>
                  <a:gd name="T57" fmla="*/ 53 h 66"/>
                  <a:gd name="T58" fmla="*/ 120 w 121"/>
                  <a:gd name="T59" fmla="*/ 41 h 66"/>
                  <a:gd name="T60" fmla="*/ 113 w 121"/>
                  <a:gd name="T61" fmla="*/ 42 h 66"/>
                  <a:gd name="T62" fmla="*/ 100 w 121"/>
                  <a:gd name="T63" fmla="*/ 38 h 66"/>
                  <a:gd name="T64" fmla="*/ 96 w 121"/>
                  <a:gd name="T65" fmla="*/ 40 h 66"/>
                  <a:gd name="T66" fmla="*/ 91 w 121"/>
                  <a:gd name="T67" fmla="*/ 37 h 66"/>
                  <a:gd name="T68" fmla="*/ 90 w 121"/>
                  <a:gd name="T69" fmla="*/ 41 h 66"/>
                  <a:gd name="T70" fmla="*/ 84 w 121"/>
                  <a:gd name="T71" fmla="*/ 34 h 66"/>
                  <a:gd name="T72" fmla="*/ 75 w 121"/>
                  <a:gd name="T73" fmla="*/ 34 h 66"/>
                  <a:gd name="T74" fmla="*/ 76 w 121"/>
                  <a:gd name="T75" fmla="*/ 30 h 66"/>
                  <a:gd name="T76" fmla="*/ 67 w 121"/>
                  <a:gd name="T77" fmla="*/ 28 h 66"/>
                  <a:gd name="T78" fmla="*/ 63 w 121"/>
                  <a:gd name="T79" fmla="*/ 24 h 66"/>
                  <a:gd name="T80" fmla="*/ 62 w 121"/>
                  <a:gd name="T81" fmla="*/ 20 h 66"/>
                  <a:gd name="T82" fmla="*/ 54 w 121"/>
                  <a:gd name="T83" fmla="*/ 20 h 66"/>
                  <a:gd name="T84" fmla="*/ 43 w 121"/>
                  <a:gd name="T85" fmla="*/ 12 h 66"/>
                  <a:gd name="T86" fmla="*/ 37 w 121"/>
                  <a:gd name="T87" fmla="*/ 8 h 66"/>
                  <a:gd name="T88" fmla="*/ 30 w 121"/>
                  <a:gd name="T89" fmla="*/ 2 h 66"/>
                  <a:gd name="T90" fmla="*/ 23 w 121"/>
                  <a:gd name="T91" fmla="*/ 0 h 66"/>
                  <a:gd name="T92" fmla="*/ 18 w 121"/>
                  <a:gd name="T93" fmla="*/ 6 h 66"/>
                  <a:gd name="T94" fmla="*/ 15 w 121"/>
                  <a:gd name="T95" fmla="*/ 5 h 66"/>
                  <a:gd name="T96" fmla="*/ 9 w 121"/>
                  <a:gd name="T97" fmla="*/ 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1" h="66">
                    <a:moveTo>
                      <a:pt x="6" y="11"/>
                    </a:moveTo>
                    <a:cubicBezTo>
                      <a:pt x="6" y="12"/>
                      <a:pt x="6" y="13"/>
                      <a:pt x="5" y="13"/>
                    </a:cubicBezTo>
                    <a:cubicBezTo>
                      <a:pt x="5" y="14"/>
                      <a:pt x="3" y="15"/>
                      <a:pt x="3" y="16"/>
                    </a:cubicBezTo>
                    <a:cubicBezTo>
                      <a:pt x="3" y="17"/>
                      <a:pt x="3" y="17"/>
                      <a:pt x="4" y="18"/>
                    </a:cubicBezTo>
                    <a:cubicBezTo>
                      <a:pt x="4" y="18"/>
                      <a:pt x="4" y="18"/>
                      <a:pt x="4" y="18"/>
                    </a:cubicBezTo>
                    <a:cubicBezTo>
                      <a:pt x="4" y="19"/>
                      <a:pt x="2" y="21"/>
                      <a:pt x="2" y="22"/>
                    </a:cubicBezTo>
                    <a:cubicBezTo>
                      <a:pt x="1" y="23"/>
                      <a:pt x="1" y="24"/>
                      <a:pt x="1" y="25"/>
                    </a:cubicBezTo>
                    <a:cubicBezTo>
                      <a:pt x="1" y="26"/>
                      <a:pt x="0" y="26"/>
                      <a:pt x="1" y="26"/>
                    </a:cubicBezTo>
                    <a:cubicBezTo>
                      <a:pt x="1" y="27"/>
                      <a:pt x="4" y="28"/>
                      <a:pt x="5" y="29"/>
                    </a:cubicBezTo>
                    <a:cubicBezTo>
                      <a:pt x="5" y="29"/>
                      <a:pt x="7" y="30"/>
                      <a:pt x="7" y="30"/>
                    </a:cubicBezTo>
                    <a:cubicBezTo>
                      <a:pt x="7" y="30"/>
                      <a:pt x="7" y="30"/>
                      <a:pt x="7" y="29"/>
                    </a:cubicBezTo>
                    <a:cubicBezTo>
                      <a:pt x="7" y="29"/>
                      <a:pt x="7" y="28"/>
                      <a:pt x="8" y="28"/>
                    </a:cubicBezTo>
                    <a:cubicBezTo>
                      <a:pt x="8" y="29"/>
                      <a:pt x="14" y="33"/>
                      <a:pt x="15" y="33"/>
                    </a:cubicBezTo>
                    <a:cubicBezTo>
                      <a:pt x="16" y="33"/>
                      <a:pt x="17" y="33"/>
                      <a:pt x="17" y="33"/>
                    </a:cubicBezTo>
                    <a:cubicBezTo>
                      <a:pt x="17" y="34"/>
                      <a:pt x="21" y="38"/>
                      <a:pt x="22" y="38"/>
                    </a:cubicBezTo>
                    <a:cubicBezTo>
                      <a:pt x="23" y="38"/>
                      <a:pt x="26" y="41"/>
                      <a:pt x="27" y="41"/>
                    </a:cubicBezTo>
                    <a:cubicBezTo>
                      <a:pt x="27" y="41"/>
                      <a:pt x="28" y="42"/>
                      <a:pt x="29" y="41"/>
                    </a:cubicBezTo>
                    <a:cubicBezTo>
                      <a:pt x="30" y="41"/>
                      <a:pt x="30" y="41"/>
                      <a:pt x="31" y="41"/>
                    </a:cubicBezTo>
                    <a:cubicBezTo>
                      <a:pt x="31" y="41"/>
                      <a:pt x="32" y="42"/>
                      <a:pt x="32" y="42"/>
                    </a:cubicBezTo>
                    <a:cubicBezTo>
                      <a:pt x="33" y="42"/>
                      <a:pt x="39" y="44"/>
                      <a:pt x="39" y="44"/>
                    </a:cubicBezTo>
                    <a:cubicBezTo>
                      <a:pt x="39" y="44"/>
                      <a:pt x="39" y="44"/>
                      <a:pt x="40" y="44"/>
                    </a:cubicBezTo>
                    <a:cubicBezTo>
                      <a:pt x="40" y="45"/>
                      <a:pt x="40" y="47"/>
                      <a:pt x="40" y="47"/>
                    </a:cubicBezTo>
                    <a:cubicBezTo>
                      <a:pt x="40" y="47"/>
                      <a:pt x="41" y="47"/>
                      <a:pt x="41" y="47"/>
                    </a:cubicBezTo>
                    <a:cubicBezTo>
                      <a:pt x="42" y="47"/>
                      <a:pt x="47" y="49"/>
                      <a:pt x="47" y="49"/>
                    </a:cubicBezTo>
                    <a:cubicBezTo>
                      <a:pt x="47" y="49"/>
                      <a:pt x="47" y="49"/>
                      <a:pt x="47" y="49"/>
                    </a:cubicBezTo>
                    <a:cubicBezTo>
                      <a:pt x="48" y="49"/>
                      <a:pt x="49" y="50"/>
                      <a:pt x="49" y="50"/>
                    </a:cubicBezTo>
                    <a:cubicBezTo>
                      <a:pt x="49" y="49"/>
                      <a:pt x="52" y="48"/>
                      <a:pt x="52" y="48"/>
                    </a:cubicBezTo>
                    <a:cubicBezTo>
                      <a:pt x="52" y="48"/>
                      <a:pt x="52" y="48"/>
                      <a:pt x="53" y="48"/>
                    </a:cubicBezTo>
                    <a:cubicBezTo>
                      <a:pt x="53" y="48"/>
                      <a:pt x="56" y="49"/>
                      <a:pt x="56" y="49"/>
                    </a:cubicBezTo>
                    <a:cubicBezTo>
                      <a:pt x="56" y="49"/>
                      <a:pt x="57" y="50"/>
                      <a:pt x="57" y="49"/>
                    </a:cubicBezTo>
                    <a:cubicBezTo>
                      <a:pt x="57" y="49"/>
                      <a:pt x="58" y="48"/>
                      <a:pt x="58" y="48"/>
                    </a:cubicBezTo>
                    <a:cubicBezTo>
                      <a:pt x="59" y="48"/>
                      <a:pt x="61" y="47"/>
                      <a:pt x="62" y="48"/>
                    </a:cubicBezTo>
                    <a:cubicBezTo>
                      <a:pt x="64" y="48"/>
                      <a:pt x="67" y="50"/>
                      <a:pt x="67" y="50"/>
                    </a:cubicBezTo>
                    <a:cubicBezTo>
                      <a:pt x="67" y="50"/>
                      <a:pt x="68" y="50"/>
                      <a:pt x="68" y="50"/>
                    </a:cubicBezTo>
                    <a:cubicBezTo>
                      <a:pt x="68" y="51"/>
                      <a:pt x="68" y="53"/>
                      <a:pt x="69" y="54"/>
                    </a:cubicBezTo>
                    <a:cubicBezTo>
                      <a:pt x="69" y="55"/>
                      <a:pt x="70" y="55"/>
                      <a:pt x="71" y="55"/>
                    </a:cubicBezTo>
                    <a:cubicBezTo>
                      <a:pt x="71" y="55"/>
                      <a:pt x="72" y="56"/>
                      <a:pt x="73" y="56"/>
                    </a:cubicBezTo>
                    <a:cubicBezTo>
                      <a:pt x="73" y="56"/>
                      <a:pt x="76" y="57"/>
                      <a:pt x="77" y="58"/>
                    </a:cubicBezTo>
                    <a:cubicBezTo>
                      <a:pt x="77" y="58"/>
                      <a:pt x="78" y="59"/>
                      <a:pt x="78" y="59"/>
                    </a:cubicBezTo>
                    <a:cubicBezTo>
                      <a:pt x="78" y="59"/>
                      <a:pt x="78" y="60"/>
                      <a:pt x="79" y="59"/>
                    </a:cubicBezTo>
                    <a:cubicBezTo>
                      <a:pt x="80" y="59"/>
                      <a:pt x="83" y="58"/>
                      <a:pt x="83" y="58"/>
                    </a:cubicBezTo>
                    <a:cubicBezTo>
                      <a:pt x="83" y="58"/>
                      <a:pt x="84" y="58"/>
                      <a:pt x="84" y="58"/>
                    </a:cubicBezTo>
                    <a:cubicBezTo>
                      <a:pt x="84" y="58"/>
                      <a:pt x="86" y="62"/>
                      <a:pt x="86" y="62"/>
                    </a:cubicBezTo>
                    <a:cubicBezTo>
                      <a:pt x="86" y="62"/>
                      <a:pt x="86" y="62"/>
                      <a:pt x="87" y="62"/>
                    </a:cubicBezTo>
                    <a:cubicBezTo>
                      <a:pt x="88" y="62"/>
                      <a:pt x="91" y="61"/>
                      <a:pt x="91" y="62"/>
                    </a:cubicBezTo>
                    <a:cubicBezTo>
                      <a:pt x="92" y="62"/>
                      <a:pt x="96" y="63"/>
                      <a:pt x="96" y="63"/>
                    </a:cubicBezTo>
                    <a:cubicBezTo>
                      <a:pt x="100" y="64"/>
                      <a:pt x="100" y="64"/>
                      <a:pt x="100" y="64"/>
                    </a:cubicBezTo>
                    <a:cubicBezTo>
                      <a:pt x="100" y="64"/>
                      <a:pt x="100" y="64"/>
                      <a:pt x="100" y="64"/>
                    </a:cubicBezTo>
                    <a:cubicBezTo>
                      <a:pt x="101" y="64"/>
                      <a:pt x="102" y="63"/>
                      <a:pt x="103" y="63"/>
                    </a:cubicBezTo>
                    <a:cubicBezTo>
                      <a:pt x="103" y="62"/>
                      <a:pt x="104" y="62"/>
                      <a:pt x="104" y="62"/>
                    </a:cubicBezTo>
                    <a:cubicBezTo>
                      <a:pt x="104" y="62"/>
                      <a:pt x="105" y="63"/>
                      <a:pt x="105" y="63"/>
                    </a:cubicBezTo>
                    <a:cubicBezTo>
                      <a:pt x="105" y="64"/>
                      <a:pt x="105" y="64"/>
                      <a:pt x="105" y="64"/>
                    </a:cubicBezTo>
                    <a:cubicBezTo>
                      <a:pt x="106" y="64"/>
                      <a:pt x="107" y="65"/>
                      <a:pt x="108" y="65"/>
                    </a:cubicBezTo>
                    <a:cubicBezTo>
                      <a:pt x="108" y="65"/>
                      <a:pt x="113" y="65"/>
                      <a:pt x="114" y="65"/>
                    </a:cubicBezTo>
                    <a:cubicBezTo>
                      <a:pt x="114" y="65"/>
                      <a:pt x="118" y="66"/>
                      <a:pt x="119" y="65"/>
                    </a:cubicBezTo>
                    <a:cubicBezTo>
                      <a:pt x="119" y="64"/>
                      <a:pt x="121" y="59"/>
                      <a:pt x="121" y="59"/>
                    </a:cubicBezTo>
                    <a:cubicBezTo>
                      <a:pt x="121" y="59"/>
                      <a:pt x="121" y="59"/>
                      <a:pt x="121" y="58"/>
                    </a:cubicBezTo>
                    <a:cubicBezTo>
                      <a:pt x="121" y="58"/>
                      <a:pt x="118" y="54"/>
                      <a:pt x="118" y="53"/>
                    </a:cubicBezTo>
                    <a:cubicBezTo>
                      <a:pt x="118" y="52"/>
                      <a:pt x="120" y="45"/>
                      <a:pt x="120" y="44"/>
                    </a:cubicBezTo>
                    <a:cubicBezTo>
                      <a:pt x="120" y="43"/>
                      <a:pt x="120" y="42"/>
                      <a:pt x="120" y="41"/>
                    </a:cubicBezTo>
                    <a:cubicBezTo>
                      <a:pt x="119" y="42"/>
                      <a:pt x="115" y="42"/>
                      <a:pt x="115" y="42"/>
                    </a:cubicBezTo>
                    <a:cubicBezTo>
                      <a:pt x="114" y="42"/>
                      <a:pt x="113" y="42"/>
                      <a:pt x="113" y="42"/>
                    </a:cubicBezTo>
                    <a:cubicBezTo>
                      <a:pt x="113" y="42"/>
                      <a:pt x="104" y="40"/>
                      <a:pt x="104" y="40"/>
                    </a:cubicBezTo>
                    <a:cubicBezTo>
                      <a:pt x="103" y="40"/>
                      <a:pt x="101" y="39"/>
                      <a:pt x="100" y="38"/>
                    </a:cubicBezTo>
                    <a:cubicBezTo>
                      <a:pt x="99" y="38"/>
                      <a:pt x="97" y="39"/>
                      <a:pt x="97" y="39"/>
                    </a:cubicBezTo>
                    <a:cubicBezTo>
                      <a:pt x="97" y="40"/>
                      <a:pt x="96" y="40"/>
                      <a:pt x="96" y="40"/>
                    </a:cubicBezTo>
                    <a:cubicBezTo>
                      <a:pt x="96" y="40"/>
                      <a:pt x="94" y="40"/>
                      <a:pt x="93" y="39"/>
                    </a:cubicBezTo>
                    <a:cubicBezTo>
                      <a:pt x="93" y="39"/>
                      <a:pt x="91" y="38"/>
                      <a:pt x="91" y="37"/>
                    </a:cubicBezTo>
                    <a:cubicBezTo>
                      <a:pt x="92" y="37"/>
                      <a:pt x="91" y="37"/>
                      <a:pt x="91" y="37"/>
                    </a:cubicBezTo>
                    <a:cubicBezTo>
                      <a:pt x="90" y="38"/>
                      <a:pt x="90" y="40"/>
                      <a:pt x="90" y="41"/>
                    </a:cubicBezTo>
                    <a:cubicBezTo>
                      <a:pt x="89" y="41"/>
                      <a:pt x="88" y="39"/>
                      <a:pt x="87" y="38"/>
                    </a:cubicBezTo>
                    <a:cubicBezTo>
                      <a:pt x="87" y="37"/>
                      <a:pt x="86" y="35"/>
                      <a:pt x="84" y="34"/>
                    </a:cubicBezTo>
                    <a:cubicBezTo>
                      <a:pt x="83" y="33"/>
                      <a:pt x="78" y="34"/>
                      <a:pt x="77" y="34"/>
                    </a:cubicBezTo>
                    <a:cubicBezTo>
                      <a:pt x="76" y="34"/>
                      <a:pt x="76" y="34"/>
                      <a:pt x="75" y="34"/>
                    </a:cubicBezTo>
                    <a:cubicBezTo>
                      <a:pt x="75" y="34"/>
                      <a:pt x="76" y="31"/>
                      <a:pt x="76" y="31"/>
                    </a:cubicBezTo>
                    <a:cubicBezTo>
                      <a:pt x="77" y="30"/>
                      <a:pt x="76" y="30"/>
                      <a:pt x="76" y="30"/>
                    </a:cubicBezTo>
                    <a:cubicBezTo>
                      <a:pt x="75" y="30"/>
                      <a:pt x="74" y="30"/>
                      <a:pt x="73" y="30"/>
                    </a:cubicBezTo>
                    <a:cubicBezTo>
                      <a:pt x="72" y="30"/>
                      <a:pt x="68" y="28"/>
                      <a:pt x="67" y="28"/>
                    </a:cubicBezTo>
                    <a:cubicBezTo>
                      <a:pt x="67" y="28"/>
                      <a:pt x="63" y="25"/>
                      <a:pt x="63" y="25"/>
                    </a:cubicBezTo>
                    <a:cubicBezTo>
                      <a:pt x="62" y="25"/>
                      <a:pt x="62" y="24"/>
                      <a:pt x="63" y="24"/>
                    </a:cubicBezTo>
                    <a:cubicBezTo>
                      <a:pt x="63" y="23"/>
                      <a:pt x="62" y="22"/>
                      <a:pt x="62" y="22"/>
                    </a:cubicBezTo>
                    <a:cubicBezTo>
                      <a:pt x="62" y="21"/>
                      <a:pt x="62" y="20"/>
                      <a:pt x="62" y="20"/>
                    </a:cubicBezTo>
                    <a:cubicBezTo>
                      <a:pt x="61" y="19"/>
                      <a:pt x="60" y="19"/>
                      <a:pt x="58" y="19"/>
                    </a:cubicBezTo>
                    <a:cubicBezTo>
                      <a:pt x="57" y="20"/>
                      <a:pt x="56" y="20"/>
                      <a:pt x="54" y="20"/>
                    </a:cubicBezTo>
                    <a:cubicBezTo>
                      <a:pt x="53" y="20"/>
                      <a:pt x="52" y="19"/>
                      <a:pt x="50" y="16"/>
                    </a:cubicBezTo>
                    <a:cubicBezTo>
                      <a:pt x="48" y="13"/>
                      <a:pt x="43" y="12"/>
                      <a:pt x="43" y="12"/>
                    </a:cubicBezTo>
                    <a:cubicBezTo>
                      <a:pt x="42" y="12"/>
                      <a:pt x="42" y="12"/>
                      <a:pt x="42" y="12"/>
                    </a:cubicBezTo>
                    <a:cubicBezTo>
                      <a:pt x="42" y="12"/>
                      <a:pt x="38" y="9"/>
                      <a:pt x="37" y="8"/>
                    </a:cubicBezTo>
                    <a:cubicBezTo>
                      <a:pt x="37" y="8"/>
                      <a:pt x="36" y="8"/>
                      <a:pt x="36" y="8"/>
                    </a:cubicBezTo>
                    <a:cubicBezTo>
                      <a:pt x="32" y="6"/>
                      <a:pt x="30" y="2"/>
                      <a:pt x="30" y="2"/>
                    </a:cubicBezTo>
                    <a:cubicBezTo>
                      <a:pt x="30" y="2"/>
                      <a:pt x="30" y="1"/>
                      <a:pt x="29" y="1"/>
                    </a:cubicBezTo>
                    <a:cubicBezTo>
                      <a:pt x="29" y="1"/>
                      <a:pt x="26" y="0"/>
                      <a:pt x="23" y="0"/>
                    </a:cubicBezTo>
                    <a:cubicBezTo>
                      <a:pt x="20" y="0"/>
                      <a:pt x="19" y="5"/>
                      <a:pt x="19" y="5"/>
                    </a:cubicBezTo>
                    <a:cubicBezTo>
                      <a:pt x="19" y="6"/>
                      <a:pt x="18" y="6"/>
                      <a:pt x="18" y="6"/>
                    </a:cubicBezTo>
                    <a:cubicBezTo>
                      <a:pt x="18" y="6"/>
                      <a:pt x="17" y="6"/>
                      <a:pt x="16" y="6"/>
                    </a:cubicBezTo>
                    <a:cubicBezTo>
                      <a:pt x="16" y="6"/>
                      <a:pt x="15" y="5"/>
                      <a:pt x="15" y="5"/>
                    </a:cubicBezTo>
                    <a:cubicBezTo>
                      <a:pt x="15" y="5"/>
                      <a:pt x="15" y="4"/>
                      <a:pt x="15" y="4"/>
                    </a:cubicBezTo>
                    <a:cubicBezTo>
                      <a:pt x="13" y="5"/>
                      <a:pt x="10" y="7"/>
                      <a:pt x="9" y="7"/>
                    </a:cubicBezTo>
                    <a:cubicBezTo>
                      <a:pt x="9" y="8"/>
                      <a:pt x="6" y="10"/>
                      <a:pt x="6"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05" name="Freeform 715">
                <a:extLst>
                  <a:ext uri="{FF2B5EF4-FFF2-40B4-BE49-F238E27FC236}">
                    <a16:creationId xmlns:a16="http://schemas.microsoft.com/office/drawing/2014/main" id="{90D35021-9BEF-4BDF-8129-B2B08866DE89}"/>
                  </a:ext>
                </a:extLst>
              </p:cNvPr>
              <p:cNvSpPr>
                <a:spLocks/>
              </p:cNvSpPr>
              <p:nvPr/>
            </p:nvSpPr>
            <p:spPr bwMode="auto">
              <a:xfrm>
                <a:off x="5521" y="2410"/>
                <a:ext cx="2" cy="4"/>
              </a:xfrm>
              <a:custGeom>
                <a:avLst/>
                <a:gdLst>
                  <a:gd name="T0" fmla="*/ 2 w 2"/>
                  <a:gd name="T1" fmla="*/ 3 h 3"/>
                  <a:gd name="T2" fmla="*/ 1 w 2"/>
                  <a:gd name="T3" fmla="*/ 1 h 3"/>
                  <a:gd name="T4" fmla="*/ 2 w 2"/>
                  <a:gd name="T5" fmla="*/ 3 h 3"/>
                </a:gdLst>
                <a:ahLst/>
                <a:cxnLst>
                  <a:cxn ang="0">
                    <a:pos x="T0" y="T1"/>
                  </a:cxn>
                  <a:cxn ang="0">
                    <a:pos x="T2" y="T3"/>
                  </a:cxn>
                  <a:cxn ang="0">
                    <a:pos x="T4" y="T5"/>
                  </a:cxn>
                </a:cxnLst>
                <a:rect l="0" t="0" r="r" b="b"/>
                <a:pathLst>
                  <a:path w="2" h="3">
                    <a:moveTo>
                      <a:pt x="2" y="3"/>
                    </a:moveTo>
                    <a:cubicBezTo>
                      <a:pt x="2" y="3"/>
                      <a:pt x="2" y="2"/>
                      <a:pt x="1" y="1"/>
                    </a:cubicBezTo>
                    <a:cubicBezTo>
                      <a:pt x="1" y="0"/>
                      <a:pt x="0"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06" name="Freeform 716">
                <a:extLst>
                  <a:ext uri="{FF2B5EF4-FFF2-40B4-BE49-F238E27FC236}">
                    <a16:creationId xmlns:a16="http://schemas.microsoft.com/office/drawing/2014/main" id="{5070AA68-183B-4DE1-99BB-FAF592C9A2FF}"/>
                  </a:ext>
                </a:extLst>
              </p:cNvPr>
              <p:cNvSpPr>
                <a:spLocks/>
              </p:cNvSpPr>
              <p:nvPr/>
            </p:nvSpPr>
            <p:spPr bwMode="auto">
              <a:xfrm>
                <a:off x="5522" y="2421"/>
                <a:ext cx="4" cy="9"/>
              </a:xfrm>
              <a:custGeom>
                <a:avLst/>
                <a:gdLst>
                  <a:gd name="T0" fmla="*/ 1 w 3"/>
                  <a:gd name="T1" fmla="*/ 2 h 6"/>
                  <a:gd name="T2" fmla="*/ 2 w 3"/>
                  <a:gd name="T3" fmla="*/ 5 h 6"/>
                  <a:gd name="T4" fmla="*/ 2 w 3"/>
                  <a:gd name="T5" fmla="*/ 2 h 6"/>
                  <a:gd name="T6" fmla="*/ 1 w 3"/>
                  <a:gd name="T7" fmla="*/ 2 h 6"/>
                </a:gdLst>
                <a:ahLst/>
                <a:cxnLst>
                  <a:cxn ang="0">
                    <a:pos x="T0" y="T1"/>
                  </a:cxn>
                  <a:cxn ang="0">
                    <a:pos x="T2" y="T3"/>
                  </a:cxn>
                  <a:cxn ang="0">
                    <a:pos x="T4" y="T5"/>
                  </a:cxn>
                  <a:cxn ang="0">
                    <a:pos x="T6" y="T7"/>
                  </a:cxn>
                </a:cxnLst>
                <a:rect l="0" t="0" r="r" b="b"/>
                <a:pathLst>
                  <a:path w="3" h="6">
                    <a:moveTo>
                      <a:pt x="1" y="2"/>
                    </a:moveTo>
                    <a:cubicBezTo>
                      <a:pt x="0" y="4"/>
                      <a:pt x="1" y="6"/>
                      <a:pt x="2" y="5"/>
                    </a:cubicBezTo>
                    <a:cubicBezTo>
                      <a:pt x="3" y="5"/>
                      <a:pt x="3" y="4"/>
                      <a:pt x="2" y="2"/>
                    </a:cubicBezTo>
                    <a:cubicBezTo>
                      <a:pt x="1" y="0"/>
                      <a:pt x="1"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07" name="Freeform 717">
                <a:extLst>
                  <a:ext uri="{FF2B5EF4-FFF2-40B4-BE49-F238E27FC236}">
                    <a16:creationId xmlns:a16="http://schemas.microsoft.com/office/drawing/2014/main" id="{1C4A71D2-22F1-4EA2-80CE-C442CFFF4AA7}"/>
                  </a:ext>
                </a:extLst>
              </p:cNvPr>
              <p:cNvSpPr>
                <a:spLocks/>
              </p:cNvSpPr>
              <p:nvPr/>
            </p:nvSpPr>
            <p:spPr bwMode="auto">
              <a:xfrm>
                <a:off x="5519" y="2439"/>
                <a:ext cx="4" cy="10"/>
              </a:xfrm>
              <a:custGeom>
                <a:avLst/>
                <a:gdLst>
                  <a:gd name="T0" fmla="*/ 3 w 3"/>
                  <a:gd name="T1" fmla="*/ 4 h 7"/>
                  <a:gd name="T2" fmla="*/ 0 w 3"/>
                  <a:gd name="T3" fmla="*/ 6 h 7"/>
                  <a:gd name="T4" fmla="*/ 3 w 3"/>
                  <a:gd name="T5" fmla="*/ 4 h 7"/>
                </a:gdLst>
                <a:ahLst/>
                <a:cxnLst>
                  <a:cxn ang="0">
                    <a:pos x="T0" y="T1"/>
                  </a:cxn>
                  <a:cxn ang="0">
                    <a:pos x="T2" y="T3"/>
                  </a:cxn>
                  <a:cxn ang="0">
                    <a:pos x="T4" y="T5"/>
                  </a:cxn>
                </a:cxnLst>
                <a:rect l="0" t="0" r="r" b="b"/>
                <a:pathLst>
                  <a:path w="3" h="7">
                    <a:moveTo>
                      <a:pt x="3" y="4"/>
                    </a:moveTo>
                    <a:cubicBezTo>
                      <a:pt x="3" y="1"/>
                      <a:pt x="2" y="0"/>
                      <a:pt x="0" y="6"/>
                    </a:cubicBezTo>
                    <a:cubicBezTo>
                      <a:pt x="0" y="6"/>
                      <a:pt x="2" y="7"/>
                      <a:pt x="3"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08" name="Freeform 718">
                <a:extLst>
                  <a:ext uri="{FF2B5EF4-FFF2-40B4-BE49-F238E27FC236}">
                    <a16:creationId xmlns:a16="http://schemas.microsoft.com/office/drawing/2014/main" id="{6EF1EF93-53B3-4AFE-B1C1-2FA2675B9C8E}"/>
                  </a:ext>
                </a:extLst>
              </p:cNvPr>
              <p:cNvSpPr>
                <a:spLocks/>
              </p:cNvSpPr>
              <p:nvPr/>
            </p:nvSpPr>
            <p:spPr bwMode="auto">
              <a:xfrm>
                <a:off x="5523" y="2435"/>
                <a:ext cx="6" cy="4"/>
              </a:xfrm>
              <a:custGeom>
                <a:avLst/>
                <a:gdLst>
                  <a:gd name="T0" fmla="*/ 2 w 4"/>
                  <a:gd name="T1" fmla="*/ 0 h 3"/>
                  <a:gd name="T2" fmla="*/ 3 w 4"/>
                  <a:gd name="T3" fmla="*/ 3 h 3"/>
                  <a:gd name="T4" fmla="*/ 2 w 4"/>
                  <a:gd name="T5" fmla="*/ 0 h 3"/>
                </a:gdLst>
                <a:ahLst/>
                <a:cxnLst>
                  <a:cxn ang="0">
                    <a:pos x="T0" y="T1"/>
                  </a:cxn>
                  <a:cxn ang="0">
                    <a:pos x="T2" y="T3"/>
                  </a:cxn>
                  <a:cxn ang="0">
                    <a:pos x="T4" y="T5"/>
                  </a:cxn>
                </a:cxnLst>
                <a:rect l="0" t="0" r="r" b="b"/>
                <a:pathLst>
                  <a:path w="4" h="3">
                    <a:moveTo>
                      <a:pt x="2" y="0"/>
                    </a:moveTo>
                    <a:cubicBezTo>
                      <a:pt x="0" y="0"/>
                      <a:pt x="3" y="3"/>
                      <a:pt x="3" y="3"/>
                    </a:cubicBezTo>
                    <a:cubicBezTo>
                      <a:pt x="4" y="1"/>
                      <a:pt x="4" y="1"/>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09" name="Freeform 719">
                <a:extLst>
                  <a:ext uri="{FF2B5EF4-FFF2-40B4-BE49-F238E27FC236}">
                    <a16:creationId xmlns:a16="http://schemas.microsoft.com/office/drawing/2014/main" id="{F39E059D-A47C-4941-A6EA-8C76C4C4D7A1}"/>
                  </a:ext>
                </a:extLst>
              </p:cNvPr>
              <p:cNvSpPr>
                <a:spLocks/>
              </p:cNvSpPr>
              <p:nvPr/>
            </p:nvSpPr>
            <p:spPr bwMode="auto">
              <a:xfrm>
                <a:off x="5523" y="2439"/>
                <a:ext cx="6" cy="8"/>
              </a:xfrm>
              <a:custGeom>
                <a:avLst/>
                <a:gdLst>
                  <a:gd name="T0" fmla="*/ 2 w 4"/>
                  <a:gd name="T1" fmla="*/ 1 h 6"/>
                  <a:gd name="T2" fmla="*/ 1 w 4"/>
                  <a:gd name="T3" fmla="*/ 3 h 6"/>
                  <a:gd name="T4" fmla="*/ 3 w 4"/>
                  <a:gd name="T5" fmla="*/ 5 h 6"/>
                  <a:gd name="T6" fmla="*/ 3 w 4"/>
                  <a:gd name="T7" fmla="*/ 2 h 6"/>
                  <a:gd name="T8" fmla="*/ 2 w 4"/>
                  <a:gd name="T9" fmla="*/ 1 h 6"/>
                </a:gdLst>
                <a:ahLst/>
                <a:cxnLst>
                  <a:cxn ang="0">
                    <a:pos x="T0" y="T1"/>
                  </a:cxn>
                  <a:cxn ang="0">
                    <a:pos x="T2" y="T3"/>
                  </a:cxn>
                  <a:cxn ang="0">
                    <a:pos x="T4" y="T5"/>
                  </a:cxn>
                  <a:cxn ang="0">
                    <a:pos x="T6" y="T7"/>
                  </a:cxn>
                  <a:cxn ang="0">
                    <a:pos x="T8" y="T9"/>
                  </a:cxn>
                </a:cxnLst>
                <a:rect l="0" t="0" r="r" b="b"/>
                <a:pathLst>
                  <a:path w="4" h="6">
                    <a:moveTo>
                      <a:pt x="2" y="1"/>
                    </a:moveTo>
                    <a:cubicBezTo>
                      <a:pt x="0" y="2"/>
                      <a:pt x="0" y="2"/>
                      <a:pt x="1" y="3"/>
                    </a:cubicBezTo>
                    <a:cubicBezTo>
                      <a:pt x="2" y="4"/>
                      <a:pt x="3" y="6"/>
                      <a:pt x="3" y="5"/>
                    </a:cubicBezTo>
                    <a:cubicBezTo>
                      <a:pt x="4" y="4"/>
                      <a:pt x="3" y="3"/>
                      <a:pt x="3" y="2"/>
                    </a:cubicBezTo>
                    <a:cubicBezTo>
                      <a:pt x="3" y="2"/>
                      <a:pt x="3"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10" name="Freeform 720">
                <a:extLst>
                  <a:ext uri="{FF2B5EF4-FFF2-40B4-BE49-F238E27FC236}">
                    <a16:creationId xmlns:a16="http://schemas.microsoft.com/office/drawing/2014/main" id="{31AA862C-A3BC-4C9F-A361-7FF6914E3E4F}"/>
                  </a:ext>
                </a:extLst>
              </p:cNvPr>
              <p:cNvSpPr>
                <a:spLocks/>
              </p:cNvSpPr>
              <p:nvPr/>
            </p:nvSpPr>
            <p:spPr bwMode="auto">
              <a:xfrm>
                <a:off x="5518" y="2457"/>
                <a:ext cx="4" cy="5"/>
              </a:xfrm>
              <a:custGeom>
                <a:avLst/>
                <a:gdLst>
                  <a:gd name="T0" fmla="*/ 1 w 3"/>
                  <a:gd name="T1" fmla="*/ 1 h 4"/>
                  <a:gd name="T2" fmla="*/ 2 w 3"/>
                  <a:gd name="T3" fmla="*/ 3 h 4"/>
                  <a:gd name="T4" fmla="*/ 3 w 3"/>
                  <a:gd name="T5" fmla="*/ 2 h 4"/>
                  <a:gd name="T6" fmla="*/ 1 w 3"/>
                  <a:gd name="T7" fmla="*/ 1 h 4"/>
                </a:gdLst>
                <a:ahLst/>
                <a:cxnLst>
                  <a:cxn ang="0">
                    <a:pos x="T0" y="T1"/>
                  </a:cxn>
                  <a:cxn ang="0">
                    <a:pos x="T2" y="T3"/>
                  </a:cxn>
                  <a:cxn ang="0">
                    <a:pos x="T4" y="T5"/>
                  </a:cxn>
                  <a:cxn ang="0">
                    <a:pos x="T6" y="T7"/>
                  </a:cxn>
                </a:cxnLst>
                <a:rect l="0" t="0" r="r" b="b"/>
                <a:pathLst>
                  <a:path w="3" h="4">
                    <a:moveTo>
                      <a:pt x="1" y="1"/>
                    </a:moveTo>
                    <a:cubicBezTo>
                      <a:pt x="0" y="1"/>
                      <a:pt x="1" y="3"/>
                      <a:pt x="2" y="3"/>
                    </a:cubicBezTo>
                    <a:cubicBezTo>
                      <a:pt x="3" y="3"/>
                      <a:pt x="3" y="4"/>
                      <a:pt x="3" y="2"/>
                    </a:cubicBezTo>
                    <a:cubicBezTo>
                      <a:pt x="3" y="2"/>
                      <a:pt x="1"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11" name="Freeform 721">
                <a:extLst>
                  <a:ext uri="{FF2B5EF4-FFF2-40B4-BE49-F238E27FC236}">
                    <a16:creationId xmlns:a16="http://schemas.microsoft.com/office/drawing/2014/main" id="{1ECD1C15-4C15-4AF0-B281-860BB08FC72E}"/>
                  </a:ext>
                </a:extLst>
              </p:cNvPr>
              <p:cNvSpPr>
                <a:spLocks/>
              </p:cNvSpPr>
              <p:nvPr/>
            </p:nvSpPr>
            <p:spPr bwMode="auto">
              <a:xfrm>
                <a:off x="5505" y="2340"/>
                <a:ext cx="3" cy="11"/>
              </a:xfrm>
              <a:custGeom>
                <a:avLst/>
                <a:gdLst>
                  <a:gd name="T0" fmla="*/ 1 w 2"/>
                  <a:gd name="T1" fmla="*/ 4 h 8"/>
                  <a:gd name="T2" fmla="*/ 0 w 2"/>
                  <a:gd name="T3" fmla="*/ 4 h 8"/>
                  <a:gd name="T4" fmla="*/ 1 w 2"/>
                  <a:gd name="T5" fmla="*/ 4 h 8"/>
                </a:gdLst>
                <a:ahLst/>
                <a:cxnLst>
                  <a:cxn ang="0">
                    <a:pos x="T0" y="T1"/>
                  </a:cxn>
                  <a:cxn ang="0">
                    <a:pos x="T2" y="T3"/>
                  </a:cxn>
                  <a:cxn ang="0">
                    <a:pos x="T4" y="T5"/>
                  </a:cxn>
                </a:cxnLst>
                <a:rect l="0" t="0" r="r" b="b"/>
                <a:pathLst>
                  <a:path w="2" h="8">
                    <a:moveTo>
                      <a:pt x="1" y="4"/>
                    </a:moveTo>
                    <a:cubicBezTo>
                      <a:pt x="1" y="0"/>
                      <a:pt x="0" y="2"/>
                      <a:pt x="0" y="4"/>
                    </a:cubicBezTo>
                    <a:cubicBezTo>
                      <a:pt x="0" y="4"/>
                      <a:pt x="2" y="8"/>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12" name="Freeform 722">
                <a:extLst>
                  <a:ext uri="{FF2B5EF4-FFF2-40B4-BE49-F238E27FC236}">
                    <a16:creationId xmlns:a16="http://schemas.microsoft.com/office/drawing/2014/main" id="{EA8C4319-D5D7-41B8-948E-3812462DBBD7}"/>
                  </a:ext>
                </a:extLst>
              </p:cNvPr>
              <p:cNvSpPr>
                <a:spLocks/>
              </p:cNvSpPr>
              <p:nvPr/>
            </p:nvSpPr>
            <p:spPr bwMode="auto">
              <a:xfrm>
                <a:off x="5397" y="2085"/>
                <a:ext cx="184" cy="391"/>
              </a:xfrm>
              <a:custGeom>
                <a:avLst/>
                <a:gdLst>
                  <a:gd name="T0" fmla="*/ 110 w 133"/>
                  <a:gd name="T1" fmla="*/ 259 h 285"/>
                  <a:gd name="T2" fmla="*/ 107 w 133"/>
                  <a:gd name="T3" fmla="*/ 248 h 285"/>
                  <a:gd name="T4" fmla="*/ 103 w 133"/>
                  <a:gd name="T5" fmla="*/ 230 h 285"/>
                  <a:gd name="T6" fmla="*/ 89 w 133"/>
                  <a:gd name="T7" fmla="*/ 210 h 285"/>
                  <a:gd name="T8" fmla="*/ 94 w 133"/>
                  <a:gd name="T9" fmla="*/ 198 h 285"/>
                  <a:gd name="T10" fmla="*/ 99 w 133"/>
                  <a:gd name="T11" fmla="*/ 189 h 285"/>
                  <a:gd name="T12" fmla="*/ 91 w 133"/>
                  <a:gd name="T13" fmla="*/ 179 h 285"/>
                  <a:gd name="T14" fmla="*/ 80 w 133"/>
                  <a:gd name="T15" fmla="*/ 161 h 285"/>
                  <a:gd name="T16" fmla="*/ 82 w 133"/>
                  <a:gd name="T17" fmla="*/ 154 h 285"/>
                  <a:gd name="T18" fmla="*/ 87 w 133"/>
                  <a:gd name="T19" fmla="*/ 137 h 285"/>
                  <a:gd name="T20" fmla="*/ 103 w 133"/>
                  <a:gd name="T21" fmla="*/ 133 h 285"/>
                  <a:gd name="T22" fmla="*/ 108 w 133"/>
                  <a:gd name="T23" fmla="*/ 128 h 285"/>
                  <a:gd name="T24" fmla="*/ 118 w 133"/>
                  <a:gd name="T25" fmla="*/ 124 h 285"/>
                  <a:gd name="T26" fmla="*/ 125 w 133"/>
                  <a:gd name="T27" fmla="*/ 115 h 285"/>
                  <a:gd name="T28" fmla="*/ 130 w 133"/>
                  <a:gd name="T29" fmla="*/ 108 h 285"/>
                  <a:gd name="T30" fmla="*/ 115 w 133"/>
                  <a:gd name="T31" fmla="*/ 103 h 285"/>
                  <a:gd name="T32" fmla="*/ 106 w 133"/>
                  <a:gd name="T33" fmla="*/ 91 h 285"/>
                  <a:gd name="T34" fmla="*/ 100 w 133"/>
                  <a:gd name="T35" fmla="*/ 85 h 285"/>
                  <a:gd name="T36" fmla="*/ 98 w 133"/>
                  <a:gd name="T37" fmla="*/ 69 h 285"/>
                  <a:gd name="T38" fmla="*/ 80 w 133"/>
                  <a:gd name="T39" fmla="*/ 74 h 285"/>
                  <a:gd name="T40" fmla="*/ 80 w 133"/>
                  <a:gd name="T41" fmla="*/ 65 h 285"/>
                  <a:gd name="T42" fmla="*/ 83 w 133"/>
                  <a:gd name="T43" fmla="*/ 58 h 285"/>
                  <a:gd name="T44" fmla="*/ 89 w 133"/>
                  <a:gd name="T45" fmla="*/ 47 h 285"/>
                  <a:gd name="T46" fmla="*/ 97 w 133"/>
                  <a:gd name="T47" fmla="*/ 34 h 285"/>
                  <a:gd name="T48" fmla="*/ 93 w 133"/>
                  <a:gd name="T49" fmla="*/ 13 h 285"/>
                  <a:gd name="T50" fmla="*/ 88 w 133"/>
                  <a:gd name="T51" fmla="*/ 6 h 285"/>
                  <a:gd name="T52" fmla="*/ 77 w 133"/>
                  <a:gd name="T53" fmla="*/ 4 h 285"/>
                  <a:gd name="T54" fmla="*/ 70 w 133"/>
                  <a:gd name="T55" fmla="*/ 14 h 285"/>
                  <a:gd name="T56" fmla="*/ 69 w 133"/>
                  <a:gd name="T57" fmla="*/ 20 h 285"/>
                  <a:gd name="T58" fmla="*/ 49 w 133"/>
                  <a:gd name="T59" fmla="*/ 28 h 285"/>
                  <a:gd name="T60" fmla="*/ 43 w 133"/>
                  <a:gd name="T61" fmla="*/ 32 h 285"/>
                  <a:gd name="T62" fmla="*/ 40 w 133"/>
                  <a:gd name="T63" fmla="*/ 46 h 285"/>
                  <a:gd name="T64" fmla="*/ 35 w 133"/>
                  <a:gd name="T65" fmla="*/ 60 h 285"/>
                  <a:gd name="T66" fmla="*/ 26 w 133"/>
                  <a:gd name="T67" fmla="*/ 73 h 285"/>
                  <a:gd name="T68" fmla="*/ 18 w 133"/>
                  <a:gd name="T69" fmla="*/ 77 h 285"/>
                  <a:gd name="T70" fmla="*/ 13 w 133"/>
                  <a:gd name="T71" fmla="*/ 91 h 285"/>
                  <a:gd name="T72" fmla="*/ 9 w 133"/>
                  <a:gd name="T73" fmla="*/ 101 h 285"/>
                  <a:gd name="T74" fmla="*/ 6 w 133"/>
                  <a:gd name="T75" fmla="*/ 114 h 285"/>
                  <a:gd name="T76" fmla="*/ 0 w 133"/>
                  <a:gd name="T77" fmla="*/ 116 h 285"/>
                  <a:gd name="T78" fmla="*/ 9 w 133"/>
                  <a:gd name="T79" fmla="*/ 127 h 285"/>
                  <a:gd name="T80" fmla="*/ 14 w 133"/>
                  <a:gd name="T81" fmla="*/ 135 h 285"/>
                  <a:gd name="T82" fmla="*/ 25 w 133"/>
                  <a:gd name="T83" fmla="*/ 142 h 285"/>
                  <a:gd name="T84" fmla="*/ 26 w 133"/>
                  <a:gd name="T85" fmla="*/ 147 h 285"/>
                  <a:gd name="T86" fmla="*/ 33 w 133"/>
                  <a:gd name="T87" fmla="*/ 194 h 285"/>
                  <a:gd name="T88" fmla="*/ 39 w 133"/>
                  <a:gd name="T89" fmla="*/ 196 h 285"/>
                  <a:gd name="T90" fmla="*/ 46 w 133"/>
                  <a:gd name="T91" fmla="*/ 199 h 285"/>
                  <a:gd name="T92" fmla="*/ 61 w 133"/>
                  <a:gd name="T93" fmla="*/ 188 h 285"/>
                  <a:gd name="T94" fmla="*/ 78 w 133"/>
                  <a:gd name="T95" fmla="*/ 187 h 285"/>
                  <a:gd name="T96" fmla="*/ 86 w 133"/>
                  <a:gd name="T97" fmla="*/ 218 h 285"/>
                  <a:gd name="T98" fmla="*/ 95 w 133"/>
                  <a:gd name="T99" fmla="*/ 241 h 285"/>
                  <a:gd name="T100" fmla="*/ 95 w 133"/>
                  <a:gd name="T101" fmla="*/ 257 h 285"/>
                  <a:gd name="T102" fmla="*/ 95 w 133"/>
                  <a:gd name="T103" fmla="*/ 274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3" h="285">
                    <a:moveTo>
                      <a:pt x="97" y="280"/>
                    </a:moveTo>
                    <a:cubicBezTo>
                      <a:pt x="97" y="279"/>
                      <a:pt x="99" y="275"/>
                      <a:pt x="99" y="275"/>
                    </a:cubicBezTo>
                    <a:cubicBezTo>
                      <a:pt x="99" y="275"/>
                      <a:pt x="99" y="274"/>
                      <a:pt x="99" y="274"/>
                    </a:cubicBezTo>
                    <a:cubicBezTo>
                      <a:pt x="100" y="273"/>
                      <a:pt x="102" y="271"/>
                      <a:pt x="103" y="270"/>
                    </a:cubicBezTo>
                    <a:cubicBezTo>
                      <a:pt x="103" y="270"/>
                      <a:pt x="110" y="259"/>
                      <a:pt x="110" y="259"/>
                    </a:cubicBezTo>
                    <a:cubicBezTo>
                      <a:pt x="110" y="259"/>
                      <a:pt x="110" y="259"/>
                      <a:pt x="110" y="258"/>
                    </a:cubicBezTo>
                    <a:cubicBezTo>
                      <a:pt x="110" y="258"/>
                      <a:pt x="109" y="257"/>
                      <a:pt x="109" y="257"/>
                    </a:cubicBezTo>
                    <a:cubicBezTo>
                      <a:pt x="109" y="256"/>
                      <a:pt x="109" y="254"/>
                      <a:pt x="109" y="254"/>
                    </a:cubicBezTo>
                    <a:cubicBezTo>
                      <a:pt x="108" y="254"/>
                      <a:pt x="108" y="254"/>
                      <a:pt x="108" y="253"/>
                    </a:cubicBezTo>
                    <a:cubicBezTo>
                      <a:pt x="108" y="252"/>
                      <a:pt x="107" y="248"/>
                      <a:pt x="107" y="248"/>
                    </a:cubicBezTo>
                    <a:cubicBezTo>
                      <a:pt x="107" y="248"/>
                      <a:pt x="107" y="247"/>
                      <a:pt x="107" y="247"/>
                    </a:cubicBezTo>
                    <a:cubicBezTo>
                      <a:pt x="107" y="247"/>
                      <a:pt x="103" y="242"/>
                      <a:pt x="103" y="241"/>
                    </a:cubicBezTo>
                    <a:cubicBezTo>
                      <a:pt x="103" y="240"/>
                      <a:pt x="102" y="239"/>
                      <a:pt x="103" y="239"/>
                    </a:cubicBezTo>
                    <a:cubicBezTo>
                      <a:pt x="104" y="238"/>
                      <a:pt x="104" y="238"/>
                      <a:pt x="104" y="237"/>
                    </a:cubicBezTo>
                    <a:cubicBezTo>
                      <a:pt x="104" y="236"/>
                      <a:pt x="103" y="230"/>
                      <a:pt x="103" y="230"/>
                    </a:cubicBezTo>
                    <a:cubicBezTo>
                      <a:pt x="103" y="230"/>
                      <a:pt x="103" y="230"/>
                      <a:pt x="103" y="230"/>
                    </a:cubicBezTo>
                    <a:cubicBezTo>
                      <a:pt x="103" y="229"/>
                      <a:pt x="92" y="217"/>
                      <a:pt x="92" y="217"/>
                    </a:cubicBezTo>
                    <a:cubicBezTo>
                      <a:pt x="92" y="217"/>
                      <a:pt x="91" y="216"/>
                      <a:pt x="91" y="215"/>
                    </a:cubicBezTo>
                    <a:cubicBezTo>
                      <a:pt x="91" y="215"/>
                      <a:pt x="89" y="211"/>
                      <a:pt x="89" y="211"/>
                    </a:cubicBezTo>
                    <a:cubicBezTo>
                      <a:pt x="89" y="211"/>
                      <a:pt x="89" y="211"/>
                      <a:pt x="89" y="210"/>
                    </a:cubicBezTo>
                    <a:cubicBezTo>
                      <a:pt x="89" y="210"/>
                      <a:pt x="89" y="207"/>
                      <a:pt x="89" y="207"/>
                    </a:cubicBezTo>
                    <a:cubicBezTo>
                      <a:pt x="89" y="207"/>
                      <a:pt x="89" y="207"/>
                      <a:pt x="89" y="207"/>
                    </a:cubicBezTo>
                    <a:cubicBezTo>
                      <a:pt x="90" y="207"/>
                      <a:pt x="93" y="206"/>
                      <a:pt x="93" y="206"/>
                    </a:cubicBezTo>
                    <a:cubicBezTo>
                      <a:pt x="94" y="206"/>
                      <a:pt x="95" y="205"/>
                      <a:pt x="95" y="202"/>
                    </a:cubicBezTo>
                    <a:cubicBezTo>
                      <a:pt x="94" y="200"/>
                      <a:pt x="95" y="199"/>
                      <a:pt x="94" y="198"/>
                    </a:cubicBezTo>
                    <a:cubicBezTo>
                      <a:pt x="94" y="197"/>
                      <a:pt x="94" y="195"/>
                      <a:pt x="94" y="195"/>
                    </a:cubicBezTo>
                    <a:cubicBezTo>
                      <a:pt x="94" y="195"/>
                      <a:pt x="94" y="194"/>
                      <a:pt x="95" y="194"/>
                    </a:cubicBezTo>
                    <a:cubicBezTo>
                      <a:pt x="95" y="194"/>
                      <a:pt x="97" y="194"/>
                      <a:pt x="98" y="194"/>
                    </a:cubicBezTo>
                    <a:cubicBezTo>
                      <a:pt x="98" y="193"/>
                      <a:pt x="99" y="193"/>
                      <a:pt x="99" y="192"/>
                    </a:cubicBezTo>
                    <a:cubicBezTo>
                      <a:pt x="99" y="191"/>
                      <a:pt x="100" y="190"/>
                      <a:pt x="99" y="189"/>
                    </a:cubicBezTo>
                    <a:cubicBezTo>
                      <a:pt x="99" y="188"/>
                      <a:pt x="99" y="188"/>
                      <a:pt x="98" y="188"/>
                    </a:cubicBezTo>
                    <a:cubicBezTo>
                      <a:pt x="98" y="189"/>
                      <a:pt x="97" y="191"/>
                      <a:pt x="97" y="191"/>
                    </a:cubicBezTo>
                    <a:cubicBezTo>
                      <a:pt x="97" y="191"/>
                      <a:pt x="96" y="191"/>
                      <a:pt x="96" y="191"/>
                    </a:cubicBezTo>
                    <a:cubicBezTo>
                      <a:pt x="96" y="190"/>
                      <a:pt x="95" y="187"/>
                      <a:pt x="95" y="186"/>
                    </a:cubicBezTo>
                    <a:cubicBezTo>
                      <a:pt x="95" y="185"/>
                      <a:pt x="95" y="181"/>
                      <a:pt x="91" y="179"/>
                    </a:cubicBezTo>
                    <a:cubicBezTo>
                      <a:pt x="91" y="179"/>
                      <a:pt x="90" y="179"/>
                      <a:pt x="90" y="179"/>
                    </a:cubicBezTo>
                    <a:cubicBezTo>
                      <a:pt x="90" y="178"/>
                      <a:pt x="82" y="168"/>
                      <a:pt x="82" y="168"/>
                    </a:cubicBezTo>
                    <a:cubicBezTo>
                      <a:pt x="82" y="168"/>
                      <a:pt x="81" y="167"/>
                      <a:pt x="81" y="167"/>
                    </a:cubicBezTo>
                    <a:cubicBezTo>
                      <a:pt x="82" y="167"/>
                      <a:pt x="82" y="164"/>
                      <a:pt x="81" y="163"/>
                    </a:cubicBezTo>
                    <a:cubicBezTo>
                      <a:pt x="81" y="161"/>
                      <a:pt x="80" y="161"/>
                      <a:pt x="80" y="161"/>
                    </a:cubicBezTo>
                    <a:cubicBezTo>
                      <a:pt x="79" y="161"/>
                      <a:pt x="78" y="161"/>
                      <a:pt x="77" y="159"/>
                    </a:cubicBezTo>
                    <a:cubicBezTo>
                      <a:pt x="77" y="157"/>
                      <a:pt x="76" y="157"/>
                      <a:pt x="76" y="157"/>
                    </a:cubicBezTo>
                    <a:cubicBezTo>
                      <a:pt x="76" y="157"/>
                      <a:pt x="76" y="156"/>
                      <a:pt x="77" y="156"/>
                    </a:cubicBezTo>
                    <a:cubicBezTo>
                      <a:pt x="78" y="156"/>
                      <a:pt x="80" y="156"/>
                      <a:pt x="81" y="156"/>
                    </a:cubicBezTo>
                    <a:cubicBezTo>
                      <a:pt x="82" y="156"/>
                      <a:pt x="83" y="156"/>
                      <a:pt x="82" y="154"/>
                    </a:cubicBezTo>
                    <a:cubicBezTo>
                      <a:pt x="82" y="152"/>
                      <a:pt x="82" y="149"/>
                      <a:pt x="83" y="147"/>
                    </a:cubicBezTo>
                    <a:cubicBezTo>
                      <a:pt x="83" y="147"/>
                      <a:pt x="84" y="146"/>
                      <a:pt x="84" y="146"/>
                    </a:cubicBezTo>
                    <a:cubicBezTo>
                      <a:pt x="84" y="145"/>
                      <a:pt x="84" y="141"/>
                      <a:pt x="84" y="141"/>
                    </a:cubicBezTo>
                    <a:cubicBezTo>
                      <a:pt x="84" y="141"/>
                      <a:pt x="84" y="141"/>
                      <a:pt x="84" y="140"/>
                    </a:cubicBezTo>
                    <a:cubicBezTo>
                      <a:pt x="85" y="140"/>
                      <a:pt x="86" y="137"/>
                      <a:pt x="87" y="137"/>
                    </a:cubicBezTo>
                    <a:cubicBezTo>
                      <a:pt x="88" y="137"/>
                      <a:pt x="89" y="138"/>
                      <a:pt x="90" y="138"/>
                    </a:cubicBezTo>
                    <a:cubicBezTo>
                      <a:pt x="91" y="138"/>
                      <a:pt x="93" y="139"/>
                      <a:pt x="93" y="139"/>
                    </a:cubicBezTo>
                    <a:cubicBezTo>
                      <a:pt x="94" y="139"/>
                      <a:pt x="99" y="138"/>
                      <a:pt x="100" y="138"/>
                    </a:cubicBezTo>
                    <a:cubicBezTo>
                      <a:pt x="100" y="138"/>
                      <a:pt x="102" y="137"/>
                      <a:pt x="102" y="135"/>
                    </a:cubicBezTo>
                    <a:cubicBezTo>
                      <a:pt x="102" y="133"/>
                      <a:pt x="103" y="133"/>
                      <a:pt x="103" y="133"/>
                    </a:cubicBezTo>
                    <a:cubicBezTo>
                      <a:pt x="103" y="133"/>
                      <a:pt x="103" y="132"/>
                      <a:pt x="103" y="132"/>
                    </a:cubicBezTo>
                    <a:cubicBezTo>
                      <a:pt x="104" y="132"/>
                      <a:pt x="108" y="132"/>
                      <a:pt x="108" y="132"/>
                    </a:cubicBezTo>
                    <a:cubicBezTo>
                      <a:pt x="108" y="132"/>
                      <a:pt x="109" y="132"/>
                      <a:pt x="108" y="131"/>
                    </a:cubicBezTo>
                    <a:cubicBezTo>
                      <a:pt x="108" y="130"/>
                      <a:pt x="107" y="129"/>
                      <a:pt x="107" y="129"/>
                    </a:cubicBezTo>
                    <a:cubicBezTo>
                      <a:pt x="107" y="128"/>
                      <a:pt x="107" y="128"/>
                      <a:pt x="108" y="128"/>
                    </a:cubicBezTo>
                    <a:cubicBezTo>
                      <a:pt x="109" y="129"/>
                      <a:pt x="110" y="129"/>
                      <a:pt x="110" y="129"/>
                    </a:cubicBezTo>
                    <a:cubicBezTo>
                      <a:pt x="111" y="129"/>
                      <a:pt x="111" y="129"/>
                      <a:pt x="111" y="129"/>
                    </a:cubicBezTo>
                    <a:cubicBezTo>
                      <a:pt x="112" y="128"/>
                      <a:pt x="114" y="127"/>
                      <a:pt x="115" y="127"/>
                    </a:cubicBezTo>
                    <a:cubicBezTo>
                      <a:pt x="116" y="128"/>
                      <a:pt x="117" y="128"/>
                      <a:pt x="117" y="129"/>
                    </a:cubicBezTo>
                    <a:cubicBezTo>
                      <a:pt x="117" y="127"/>
                      <a:pt x="118" y="125"/>
                      <a:pt x="118" y="124"/>
                    </a:cubicBezTo>
                    <a:cubicBezTo>
                      <a:pt x="119" y="124"/>
                      <a:pt x="120" y="122"/>
                      <a:pt x="122" y="121"/>
                    </a:cubicBezTo>
                    <a:cubicBezTo>
                      <a:pt x="124" y="121"/>
                      <a:pt x="125" y="122"/>
                      <a:pt x="125" y="121"/>
                    </a:cubicBezTo>
                    <a:cubicBezTo>
                      <a:pt x="124" y="120"/>
                      <a:pt x="124" y="119"/>
                      <a:pt x="124" y="119"/>
                    </a:cubicBezTo>
                    <a:cubicBezTo>
                      <a:pt x="124" y="119"/>
                      <a:pt x="123" y="119"/>
                      <a:pt x="124" y="119"/>
                    </a:cubicBezTo>
                    <a:cubicBezTo>
                      <a:pt x="124" y="118"/>
                      <a:pt x="125" y="116"/>
                      <a:pt x="125" y="115"/>
                    </a:cubicBezTo>
                    <a:cubicBezTo>
                      <a:pt x="126" y="115"/>
                      <a:pt x="127" y="113"/>
                      <a:pt x="128" y="112"/>
                    </a:cubicBezTo>
                    <a:cubicBezTo>
                      <a:pt x="129" y="112"/>
                      <a:pt x="131" y="111"/>
                      <a:pt x="133" y="110"/>
                    </a:cubicBezTo>
                    <a:cubicBezTo>
                      <a:pt x="132" y="108"/>
                      <a:pt x="132" y="107"/>
                      <a:pt x="132" y="107"/>
                    </a:cubicBezTo>
                    <a:cubicBezTo>
                      <a:pt x="132" y="106"/>
                      <a:pt x="132" y="107"/>
                      <a:pt x="131" y="107"/>
                    </a:cubicBezTo>
                    <a:cubicBezTo>
                      <a:pt x="131" y="107"/>
                      <a:pt x="130" y="108"/>
                      <a:pt x="130" y="108"/>
                    </a:cubicBezTo>
                    <a:cubicBezTo>
                      <a:pt x="128" y="108"/>
                      <a:pt x="120" y="111"/>
                      <a:pt x="119" y="112"/>
                    </a:cubicBezTo>
                    <a:cubicBezTo>
                      <a:pt x="119" y="112"/>
                      <a:pt x="118" y="112"/>
                      <a:pt x="118" y="112"/>
                    </a:cubicBezTo>
                    <a:cubicBezTo>
                      <a:pt x="118" y="112"/>
                      <a:pt x="115" y="107"/>
                      <a:pt x="115" y="107"/>
                    </a:cubicBezTo>
                    <a:cubicBezTo>
                      <a:pt x="115" y="107"/>
                      <a:pt x="115" y="106"/>
                      <a:pt x="115" y="106"/>
                    </a:cubicBezTo>
                    <a:cubicBezTo>
                      <a:pt x="115" y="106"/>
                      <a:pt x="115" y="103"/>
                      <a:pt x="115" y="103"/>
                    </a:cubicBezTo>
                    <a:cubicBezTo>
                      <a:pt x="115" y="102"/>
                      <a:pt x="115" y="102"/>
                      <a:pt x="115" y="102"/>
                    </a:cubicBezTo>
                    <a:cubicBezTo>
                      <a:pt x="115" y="102"/>
                      <a:pt x="105" y="101"/>
                      <a:pt x="104" y="101"/>
                    </a:cubicBezTo>
                    <a:cubicBezTo>
                      <a:pt x="103" y="101"/>
                      <a:pt x="103" y="100"/>
                      <a:pt x="103" y="100"/>
                    </a:cubicBezTo>
                    <a:cubicBezTo>
                      <a:pt x="103" y="100"/>
                      <a:pt x="104" y="99"/>
                      <a:pt x="104" y="98"/>
                    </a:cubicBezTo>
                    <a:cubicBezTo>
                      <a:pt x="105" y="98"/>
                      <a:pt x="106" y="91"/>
                      <a:pt x="106" y="91"/>
                    </a:cubicBezTo>
                    <a:cubicBezTo>
                      <a:pt x="106" y="90"/>
                      <a:pt x="107" y="90"/>
                      <a:pt x="108" y="89"/>
                    </a:cubicBezTo>
                    <a:cubicBezTo>
                      <a:pt x="109" y="89"/>
                      <a:pt x="109" y="87"/>
                      <a:pt x="109" y="87"/>
                    </a:cubicBezTo>
                    <a:cubicBezTo>
                      <a:pt x="109" y="86"/>
                      <a:pt x="108" y="86"/>
                      <a:pt x="108" y="86"/>
                    </a:cubicBezTo>
                    <a:cubicBezTo>
                      <a:pt x="108" y="86"/>
                      <a:pt x="105" y="86"/>
                      <a:pt x="104" y="86"/>
                    </a:cubicBezTo>
                    <a:cubicBezTo>
                      <a:pt x="104" y="86"/>
                      <a:pt x="101" y="85"/>
                      <a:pt x="100" y="85"/>
                    </a:cubicBezTo>
                    <a:cubicBezTo>
                      <a:pt x="100" y="84"/>
                      <a:pt x="100" y="84"/>
                      <a:pt x="100" y="84"/>
                    </a:cubicBezTo>
                    <a:cubicBezTo>
                      <a:pt x="100" y="84"/>
                      <a:pt x="97" y="75"/>
                      <a:pt x="96" y="75"/>
                    </a:cubicBezTo>
                    <a:cubicBezTo>
                      <a:pt x="96" y="74"/>
                      <a:pt x="96" y="74"/>
                      <a:pt x="96" y="74"/>
                    </a:cubicBezTo>
                    <a:cubicBezTo>
                      <a:pt x="96" y="74"/>
                      <a:pt x="98" y="71"/>
                      <a:pt x="99" y="70"/>
                    </a:cubicBezTo>
                    <a:cubicBezTo>
                      <a:pt x="99" y="69"/>
                      <a:pt x="98" y="69"/>
                      <a:pt x="98" y="69"/>
                    </a:cubicBezTo>
                    <a:cubicBezTo>
                      <a:pt x="98" y="69"/>
                      <a:pt x="96" y="70"/>
                      <a:pt x="95" y="70"/>
                    </a:cubicBezTo>
                    <a:cubicBezTo>
                      <a:pt x="95" y="70"/>
                      <a:pt x="95" y="71"/>
                      <a:pt x="94" y="70"/>
                    </a:cubicBezTo>
                    <a:cubicBezTo>
                      <a:pt x="93" y="70"/>
                      <a:pt x="90" y="70"/>
                      <a:pt x="89" y="70"/>
                    </a:cubicBezTo>
                    <a:cubicBezTo>
                      <a:pt x="87" y="71"/>
                      <a:pt x="82" y="73"/>
                      <a:pt x="81" y="74"/>
                    </a:cubicBezTo>
                    <a:cubicBezTo>
                      <a:pt x="81" y="74"/>
                      <a:pt x="80" y="74"/>
                      <a:pt x="80" y="74"/>
                    </a:cubicBezTo>
                    <a:cubicBezTo>
                      <a:pt x="80" y="73"/>
                      <a:pt x="79" y="73"/>
                      <a:pt x="79" y="72"/>
                    </a:cubicBezTo>
                    <a:cubicBezTo>
                      <a:pt x="79" y="71"/>
                      <a:pt x="81" y="69"/>
                      <a:pt x="81" y="69"/>
                    </a:cubicBezTo>
                    <a:cubicBezTo>
                      <a:pt x="82" y="68"/>
                      <a:pt x="82" y="68"/>
                      <a:pt x="82" y="68"/>
                    </a:cubicBezTo>
                    <a:cubicBezTo>
                      <a:pt x="82" y="68"/>
                      <a:pt x="81" y="67"/>
                      <a:pt x="81" y="66"/>
                    </a:cubicBezTo>
                    <a:cubicBezTo>
                      <a:pt x="81" y="65"/>
                      <a:pt x="80" y="65"/>
                      <a:pt x="80" y="65"/>
                    </a:cubicBezTo>
                    <a:cubicBezTo>
                      <a:pt x="80" y="65"/>
                      <a:pt x="79" y="65"/>
                      <a:pt x="79" y="64"/>
                    </a:cubicBezTo>
                    <a:cubicBezTo>
                      <a:pt x="79" y="64"/>
                      <a:pt x="79" y="61"/>
                      <a:pt x="79" y="61"/>
                    </a:cubicBezTo>
                    <a:cubicBezTo>
                      <a:pt x="79" y="61"/>
                      <a:pt x="79" y="60"/>
                      <a:pt x="80" y="60"/>
                    </a:cubicBezTo>
                    <a:cubicBezTo>
                      <a:pt x="80" y="60"/>
                      <a:pt x="82" y="59"/>
                      <a:pt x="82" y="59"/>
                    </a:cubicBezTo>
                    <a:cubicBezTo>
                      <a:pt x="83" y="59"/>
                      <a:pt x="83" y="58"/>
                      <a:pt x="83" y="58"/>
                    </a:cubicBezTo>
                    <a:cubicBezTo>
                      <a:pt x="83" y="57"/>
                      <a:pt x="82" y="56"/>
                      <a:pt x="83" y="54"/>
                    </a:cubicBezTo>
                    <a:cubicBezTo>
                      <a:pt x="83" y="52"/>
                      <a:pt x="86" y="50"/>
                      <a:pt x="87" y="50"/>
                    </a:cubicBezTo>
                    <a:cubicBezTo>
                      <a:pt x="87" y="50"/>
                      <a:pt x="87" y="50"/>
                      <a:pt x="87" y="50"/>
                    </a:cubicBezTo>
                    <a:cubicBezTo>
                      <a:pt x="87" y="50"/>
                      <a:pt x="88" y="47"/>
                      <a:pt x="88" y="47"/>
                    </a:cubicBezTo>
                    <a:cubicBezTo>
                      <a:pt x="88" y="47"/>
                      <a:pt x="89" y="47"/>
                      <a:pt x="89" y="47"/>
                    </a:cubicBezTo>
                    <a:cubicBezTo>
                      <a:pt x="91" y="47"/>
                      <a:pt x="92" y="46"/>
                      <a:pt x="93" y="46"/>
                    </a:cubicBezTo>
                    <a:cubicBezTo>
                      <a:pt x="94" y="45"/>
                      <a:pt x="95" y="43"/>
                      <a:pt x="96" y="43"/>
                    </a:cubicBezTo>
                    <a:cubicBezTo>
                      <a:pt x="97" y="43"/>
                      <a:pt x="96" y="42"/>
                      <a:pt x="96" y="42"/>
                    </a:cubicBezTo>
                    <a:cubicBezTo>
                      <a:pt x="96" y="42"/>
                      <a:pt x="95" y="40"/>
                      <a:pt x="95" y="39"/>
                    </a:cubicBezTo>
                    <a:cubicBezTo>
                      <a:pt x="94" y="37"/>
                      <a:pt x="96" y="34"/>
                      <a:pt x="97" y="34"/>
                    </a:cubicBezTo>
                    <a:cubicBezTo>
                      <a:pt x="97" y="33"/>
                      <a:pt x="97" y="32"/>
                      <a:pt x="97" y="32"/>
                    </a:cubicBezTo>
                    <a:cubicBezTo>
                      <a:pt x="97" y="31"/>
                      <a:pt x="97" y="28"/>
                      <a:pt x="97" y="27"/>
                    </a:cubicBezTo>
                    <a:cubicBezTo>
                      <a:pt x="97" y="25"/>
                      <a:pt x="96" y="16"/>
                      <a:pt x="96" y="15"/>
                    </a:cubicBezTo>
                    <a:cubicBezTo>
                      <a:pt x="96" y="15"/>
                      <a:pt x="96" y="15"/>
                      <a:pt x="95" y="15"/>
                    </a:cubicBezTo>
                    <a:cubicBezTo>
                      <a:pt x="95" y="15"/>
                      <a:pt x="94" y="14"/>
                      <a:pt x="93" y="13"/>
                    </a:cubicBezTo>
                    <a:cubicBezTo>
                      <a:pt x="93" y="13"/>
                      <a:pt x="92" y="13"/>
                      <a:pt x="92" y="14"/>
                    </a:cubicBezTo>
                    <a:cubicBezTo>
                      <a:pt x="92" y="14"/>
                      <a:pt x="92" y="14"/>
                      <a:pt x="92" y="14"/>
                    </a:cubicBezTo>
                    <a:cubicBezTo>
                      <a:pt x="92" y="14"/>
                      <a:pt x="91" y="13"/>
                      <a:pt x="90" y="13"/>
                    </a:cubicBezTo>
                    <a:cubicBezTo>
                      <a:pt x="90" y="13"/>
                      <a:pt x="90" y="13"/>
                      <a:pt x="90" y="13"/>
                    </a:cubicBezTo>
                    <a:cubicBezTo>
                      <a:pt x="90" y="13"/>
                      <a:pt x="88" y="7"/>
                      <a:pt x="88" y="6"/>
                    </a:cubicBezTo>
                    <a:cubicBezTo>
                      <a:pt x="88" y="5"/>
                      <a:pt x="86" y="4"/>
                      <a:pt x="85" y="3"/>
                    </a:cubicBezTo>
                    <a:cubicBezTo>
                      <a:pt x="85" y="2"/>
                      <a:pt x="83" y="2"/>
                      <a:pt x="82" y="2"/>
                    </a:cubicBezTo>
                    <a:cubicBezTo>
                      <a:pt x="82" y="2"/>
                      <a:pt x="82" y="1"/>
                      <a:pt x="82" y="0"/>
                    </a:cubicBezTo>
                    <a:cubicBezTo>
                      <a:pt x="81" y="0"/>
                      <a:pt x="81" y="0"/>
                      <a:pt x="80" y="0"/>
                    </a:cubicBezTo>
                    <a:cubicBezTo>
                      <a:pt x="79" y="0"/>
                      <a:pt x="77" y="4"/>
                      <a:pt x="77" y="4"/>
                    </a:cubicBezTo>
                    <a:cubicBezTo>
                      <a:pt x="76" y="4"/>
                      <a:pt x="76" y="4"/>
                      <a:pt x="76" y="4"/>
                    </a:cubicBezTo>
                    <a:cubicBezTo>
                      <a:pt x="76" y="6"/>
                      <a:pt x="77" y="8"/>
                      <a:pt x="77" y="8"/>
                    </a:cubicBezTo>
                    <a:cubicBezTo>
                      <a:pt x="77" y="8"/>
                      <a:pt x="76" y="9"/>
                      <a:pt x="76" y="9"/>
                    </a:cubicBezTo>
                    <a:cubicBezTo>
                      <a:pt x="76" y="9"/>
                      <a:pt x="72" y="12"/>
                      <a:pt x="72" y="12"/>
                    </a:cubicBezTo>
                    <a:cubicBezTo>
                      <a:pt x="72" y="12"/>
                      <a:pt x="70" y="14"/>
                      <a:pt x="70" y="14"/>
                    </a:cubicBezTo>
                    <a:cubicBezTo>
                      <a:pt x="69" y="15"/>
                      <a:pt x="70" y="16"/>
                      <a:pt x="70" y="16"/>
                    </a:cubicBezTo>
                    <a:cubicBezTo>
                      <a:pt x="70" y="16"/>
                      <a:pt x="73" y="21"/>
                      <a:pt x="73" y="22"/>
                    </a:cubicBezTo>
                    <a:cubicBezTo>
                      <a:pt x="74" y="23"/>
                      <a:pt x="72" y="23"/>
                      <a:pt x="72" y="23"/>
                    </a:cubicBezTo>
                    <a:cubicBezTo>
                      <a:pt x="72" y="23"/>
                      <a:pt x="70" y="22"/>
                      <a:pt x="69" y="21"/>
                    </a:cubicBezTo>
                    <a:cubicBezTo>
                      <a:pt x="69" y="21"/>
                      <a:pt x="69" y="21"/>
                      <a:pt x="69" y="20"/>
                    </a:cubicBezTo>
                    <a:cubicBezTo>
                      <a:pt x="69" y="20"/>
                      <a:pt x="69" y="20"/>
                      <a:pt x="68" y="19"/>
                    </a:cubicBezTo>
                    <a:cubicBezTo>
                      <a:pt x="67" y="18"/>
                      <a:pt x="65" y="19"/>
                      <a:pt x="64" y="19"/>
                    </a:cubicBezTo>
                    <a:cubicBezTo>
                      <a:pt x="62" y="20"/>
                      <a:pt x="54" y="24"/>
                      <a:pt x="54" y="24"/>
                    </a:cubicBezTo>
                    <a:cubicBezTo>
                      <a:pt x="54" y="24"/>
                      <a:pt x="53" y="24"/>
                      <a:pt x="53" y="24"/>
                    </a:cubicBezTo>
                    <a:cubicBezTo>
                      <a:pt x="53" y="24"/>
                      <a:pt x="49" y="28"/>
                      <a:pt x="49" y="28"/>
                    </a:cubicBezTo>
                    <a:cubicBezTo>
                      <a:pt x="48" y="28"/>
                      <a:pt x="48" y="29"/>
                      <a:pt x="48" y="29"/>
                    </a:cubicBezTo>
                    <a:cubicBezTo>
                      <a:pt x="48" y="29"/>
                      <a:pt x="46" y="29"/>
                      <a:pt x="45" y="29"/>
                    </a:cubicBezTo>
                    <a:cubicBezTo>
                      <a:pt x="45" y="29"/>
                      <a:pt x="45" y="30"/>
                      <a:pt x="45" y="30"/>
                    </a:cubicBezTo>
                    <a:cubicBezTo>
                      <a:pt x="45" y="30"/>
                      <a:pt x="43" y="31"/>
                      <a:pt x="43" y="32"/>
                    </a:cubicBezTo>
                    <a:cubicBezTo>
                      <a:pt x="43" y="32"/>
                      <a:pt x="43" y="32"/>
                      <a:pt x="43" y="32"/>
                    </a:cubicBezTo>
                    <a:cubicBezTo>
                      <a:pt x="43" y="32"/>
                      <a:pt x="44" y="38"/>
                      <a:pt x="44" y="39"/>
                    </a:cubicBezTo>
                    <a:cubicBezTo>
                      <a:pt x="44" y="40"/>
                      <a:pt x="42" y="42"/>
                      <a:pt x="42" y="43"/>
                    </a:cubicBezTo>
                    <a:cubicBezTo>
                      <a:pt x="42" y="43"/>
                      <a:pt x="42" y="43"/>
                      <a:pt x="42" y="44"/>
                    </a:cubicBezTo>
                    <a:cubicBezTo>
                      <a:pt x="42" y="44"/>
                      <a:pt x="42" y="45"/>
                      <a:pt x="42" y="45"/>
                    </a:cubicBezTo>
                    <a:cubicBezTo>
                      <a:pt x="42" y="45"/>
                      <a:pt x="40" y="46"/>
                      <a:pt x="40" y="46"/>
                    </a:cubicBezTo>
                    <a:cubicBezTo>
                      <a:pt x="40" y="46"/>
                      <a:pt x="37" y="48"/>
                      <a:pt x="37" y="48"/>
                    </a:cubicBezTo>
                    <a:cubicBezTo>
                      <a:pt x="37" y="49"/>
                      <a:pt x="36" y="49"/>
                      <a:pt x="36" y="49"/>
                    </a:cubicBezTo>
                    <a:cubicBezTo>
                      <a:pt x="36" y="50"/>
                      <a:pt x="36" y="50"/>
                      <a:pt x="36" y="50"/>
                    </a:cubicBezTo>
                    <a:cubicBezTo>
                      <a:pt x="36" y="50"/>
                      <a:pt x="37" y="52"/>
                      <a:pt x="37" y="54"/>
                    </a:cubicBezTo>
                    <a:cubicBezTo>
                      <a:pt x="38" y="55"/>
                      <a:pt x="36" y="60"/>
                      <a:pt x="35" y="60"/>
                    </a:cubicBezTo>
                    <a:cubicBezTo>
                      <a:pt x="35" y="61"/>
                      <a:pt x="34" y="62"/>
                      <a:pt x="34" y="62"/>
                    </a:cubicBezTo>
                    <a:cubicBezTo>
                      <a:pt x="34" y="62"/>
                      <a:pt x="33" y="63"/>
                      <a:pt x="33" y="63"/>
                    </a:cubicBezTo>
                    <a:cubicBezTo>
                      <a:pt x="33" y="63"/>
                      <a:pt x="29" y="73"/>
                      <a:pt x="29" y="74"/>
                    </a:cubicBezTo>
                    <a:cubicBezTo>
                      <a:pt x="29" y="74"/>
                      <a:pt x="28" y="74"/>
                      <a:pt x="28" y="74"/>
                    </a:cubicBezTo>
                    <a:cubicBezTo>
                      <a:pt x="28" y="74"/>
                      <a:pt x="26" y="73"/>
                      <a:pt x="26" y="73"/>
                    </a:cubicBezTo>
                    <a:cubicBezTo>
                      <a:pt x="26" y="73"/>
                      <a:pt x="25" y="72"/>
                      <a:pt x="25" y="72"/>
                    </a:cubicBezTo>
                    <a:cubicBezTo>
                      <a:pt x="25" y="72"/>
                      <a:pt x="18" y="71"/>
                      <a:pt x="17" y="71"/>
                    </a:cubicBezTo>
                    <a:cubicBezTo>
                      <a:pt x="16" y="71"/>
                      <a:pt x="17" y="72"/>
                      <a:pt x="17" y="72"/>
                    </a:cubicBezTo>
                    <a:cubicBezTo>
                      <a:pt x="17" y="72"/>
                      <a:pt x="18" y="76"/>
                      <a:pt x="18" y="76"/>
                    </a:cubicBezTo>
                    <a:cubicBezTo>
                      <a:pt x="18" y="77"/>
                      <a:pt x="18" y="77"/>
                      <a:pt x="18" y="77"/>
                    </a:cubicBezTo>
                    <a:cubicBezTo>
                      <a:pt x="18" y="77"/>
                      <a:pt x="17" y="85"/>
                      <a:pt x="17" y="85"/>
                    </a:cubicBezTo>
                    <a:cubicBezTo>
                      <a:pt x="17" y="86"/>
                      <a:pt x="17" y="86"/>
                      <a:pt x="17" y="87"/>
                    </a:cubicBezTo>
                    <a:cubicBezTo>
                      <a:pt x="16" y="87"/>
                      <a:pt x="16" y="87"/>
                      <a:pt x="16" y="87"/>
                    </a:cubicBezTo>
                    <a:cubicBezTo>
                      <a:pt x="16" y="87"/>
                      <a:pt x="15" y="87"/>
                      <a:pt x="14" y="87"/>
                    </a:cubicBezTo>
                    <a:cubicBezTo>
                      <a:pt x="13" y="87"/>
                      <a:pt x="13" y="89"/>
                      <a:pt x="13" y="91"/>
                    </a:cubicBezTo>
                    <a:cubicBezTo>
                      <a:pt x="13" y="94"/>
                      <a:pt x="14" y="99"/>
                      <a:pt x="14" y="100"/>
                    </a:cubicBezTo>
                    <a:cubicBezTo>
                      <a:pt x="14" y="100"/>
                      <a:pt x="14" y="100"/>
                      <a:pt x="14" y="100"/>
                    </a:cubicBezTo>
                    <a:cubicBezTo>
                      <a:pt x="14" y="100"/>
                      <a:pt x="12" y="102"/>
                      <a:pt x="12" y="102"/>
                    </a:cubicBezTo>
                    <a:cubicBezTo>
                      <a:pt x="12" y="103"/>
                      <a:pt x="11" y="102"/>
                      <a:pt x="11" y="102"/>
                    </a:cubicBezTo>
                    <a:cubicBezTo>
                      <a:pt x="11" y="102"/>
                      <a:pt x="10" y="102"/>
                      <a:pt x="9" y="101"/>
                    </a:cubicBezTo>
                    <a:cubicBezTo>
                      <a:pt x="7" y="101"/>
                      <a:pt x="7" y="102"/>
                      <a:pt x="7" y="102"/>
                    </a:cubicBezTo>
                    <a:cubicBezTo>
                      <a:pt x="6" y="103"/>
                      <a:pt x="6" y="103"/>
                      <a:pt x="6" y="103"/>
                    </a:cubicBezTo>
                    <a:cubicBezTo>
                      <a:pt x="6" y="105"/>
                      <a:pt x="6" y="105"/>
                      <a:pt x="6" y="106"/>
                    </a:cubicBezTo>
                    <a:cubicBezTo>
                      <a:pt x="6" y="106"/>
                      <a:pt x="7" y="113"/>
                      <a:pt x="7" y="113"/>
                    </a:cubicBezTo>
                    <a:cubicBezTo>
                      <a:pt x="7" y="113"/>
                      <a:pt x="7" y="114"/>
                      <a:pt x="6" y="114"/>
                    </a:cubicBezTo>
                    <a:cubicBezTo>
                      <a:pt x="6" y="113"/>
                      <a:pt x="5" y="113"/>
                      <a:pt x="5" y="113"/>
                    </a:cubicBezTo>
                    <a:cubicBezTo>
                      <a:pt x="4" y="113"/>
                      <a:pt x="3" y="113"/>
                      <a:pt x="3" y="113"/>
                    </a:cubicBezTo>
                    <a:cubicBezTo>
                      <a:pt x="3" y="112"/>
                      <a:pt x="2" y="111"/>
                      <a:pt x="2" y="112"/>
                    </a:cubicBezTo>
                    <a:cubicBezTo>
                      <a:pt x="2" y="112"/>
                      <a:pt x="0" y="115"/>
                      <a:pt x="0" y="115"/>
                    </a:cubicBezTo>
                    <a:cubicBezTo>
                      <a:pt x="0" y="115"/>
                      <a:pt x="0" y="116"/>
                      <a:pt x="0" y="116"/>
                    </a:cubicBezTo>
                    <a:cubicBezTo>
                      <a:pt x="0" y="117"/>
                      <a:pt x="0" y="117"/>
                      <a:pt x="0" y="118"/>
                    </a:cubicBezTo>
                    <a:cubicBezTo>
                      <a:pt x="1" y="118"/>
                      <a:pt x="1" y="119"/>
                      <a:pt x="2" y="119"/>
                    </a:cubicBezTo>
                    <a:cubicBezTo>
                      <a:pt x="3" y="121"/>
                      <a:pt x="6" y="128"/>
                      <a:pt x="7" y="129"/>
                    </a:cubicBezTo>
                    <a:cubicBezTo>
                      <a:pt x="7" y="130"/>
                      <a:pt x="8" y="131"/>
                      <a:pt x="8" y="128"/>
                    </a:cubicBezTo>
                    <a:cubicBezTo>
                      <a:pt x="7" y="126"/>
                      <a:pt x="8" y="125"/>
                      <a:pt x="9" y="127"/>
                    </a:cubicBezTo>
                    <a:cubicBezTo>
                      <a:pt x="10" y="129"/>
                      <a:pt x="9" y="129"/>
                      <a:pt x="10" y="131"/>
                    </a:cubicBezTo>
                    <a:cubicBezTo>
                      <a:pt x="11" y="132"/>
                      <a:pt x="11" y="130"/>
                      <a:pt x="11" y="130"/>
                    </a:cubicBezTo>
                    <a:cubicBezTo>
                      <a:pt x="11" y="129"/>
                      <a:pt x="13" y="128"/>
                      <a:pt x="12" y="130"/>
                    </a:cubicBezTo>
                    <a:cubicBezTo>
                      <a:pt x="12" y="133"/>
                      <a:pt x="12" y="133"/>
                      <a:pt x="13" y="135"/>
                    </a:cubicBezTo>
                    <a:cubicBezTo>
                      <a:pt x="13" y="136"/>
                      <a:pt x="14" y="137"/>
                      <a:pt x="14" y="135"/>
                    </a:cubicBezTo>
                    <a:cubicBezTo>
                      <a:pt x="14" y="133"/>
                      <a:pt x="15" y="133"/>
                      <a:pt x="17" y="134"/>
                    </a:cubicBezTo>
                    <a:cubicBezTo>
                      <a:pt x="18" y="134"/>
                      <a:pt x="24" y="134"/>
                      <a:pt x="22" y="136"/>
                    </a:cubicBezTo>
                    <a:cubicBezTo>
                      <a:pt x="19" y="137"/>
                      <a:pt x="22" y="139"/>
                      <a:pt x="23" y="139"/>
                    </a:cubicBezTo>
                    <a:cubicBezTo>
                      <a:pt x="24" y="139"/>
                      <a:pt x="24" y="139"/>
                      <a:pt x="23" y="140"/>
                    </a:cubicBezTo>
                    <a:cubicBezTo>
                      <a:pt x="23" y="140"/>
                      <a:pt x="24" y="141"/>
                      <a:pt x="25" y="142"/>
                    </a:cubicBezTo>
                    <a:cubicBezTo>
                      <a:pt x="25" y="142"/>
                      <a:pt x="28" y="144"/>
                      <a:pt x="25" y="145"/>
                    </a:cubicBezTo>
                    <a:cubicBezTo>
                      <a:pt x="22" y="146"/>
                      <a:pt x="23" y="146"/>
                      <a:pt x="22" y="144"/>
                    </a:cubicBezTo>
                    <a:cubicBezTo>
                      <a:pt x="21" y="143"/>
                      <a:pt x="19" y="142"/>
                      <a:pt x="20" y="145"/>
                    </a:cubicBezTo>
                    <a:cubicBezTo>
                      <a:pt x="21" y="148"/>
                      <a:pt x="23" y="151"/>
                      <a:pt x="24" y="151"/>
                    </a:cubicBezTo>
                    <a:cubicBezTo>
                      <a:pt x="26" y="150"/>
                      <a:pt x="25" y="149"/>
                      <a:pt x="26" y="147"/>
                    </a:cubicBezTo>
                    <a:cubicBezTo>
                      <a:pt x="26" y="145"/>
                      <a:pt x="27" y="144"/>
                      <a:pt x="27" y="146"/>
                    </a:cubicBezTo>
                    <a:cubicBezTo>
                      <a:pt x="27" y="149"/>
                      <a:pt x="27" y="151"/>
                      <a:pt x="29" y="153"/>
                    </a:cubicBezTo>
                    <a:cubicBezTo>
                      <a:pt x="30" y="155"/>
                      <a:pt x="36" y="167"/>
                      <a:pt x="35" y="173"/>
                    </a:cubicBezTo>
                    <a:cubicBezTo>
                      <a:pt x="34" y="178"/>
                      <a:pt x="31" y="190"/>
                      <a:pt x="31" y="194"/>
                    </a:cubicBezTo>
                    <a:cubicBezTo>
                      <a:pt x="31" y="198"/>
                      <a:pt x="30" y="196"/>
                      <a:pt x="33" y="194"/>
                    </a:cubicBezTo>
                    <a:cubicBezTo>
                      <a:pt x="36" y="192"/>
                      <a:pt x="35" y="191"/>
                      <a:pt x="36" y="191"/>
                    </a:cubicBezTo>
                    <a:cubicBezTo>
                      <a:pt x="36" y="190"/>
                      <a:pt x="38" y="190"/>
                      <a:pt x="37" y="192"/>
                    </a:cubicBezTo>
                    <a:cubicBezTo>
                      <a:pt x="36" y="194"/>
                      <a:pt x="35" y="196"/>
                      <a:pt x="36" y="196"/>
                    </a:cubicBezTo>
                    <a:cubicBezTo>
                      <a:pt x="37" y="196"/>
                      <a:pt x="38" y="194"/>
                      <a:pt x="38" y="196"/>
                    </a:cubicBezTo>
                    <a:cubicBezTo>
                      <a:pt x="37" y="199"/>
                      <a:pt x="38" y="197"/>
                      <a:pt x="39" y="196"/>
                    </a:cubicBezTo>
                    <a:cubicBezTo>
                      <a:pt x="40" y="195"/>
                      <a:pt x="40" y="195"/>
                      <a:pt x="41" y="197"/>
                    </a:cubicBezTo>
                    <a:cubicBezTo>
                      <a:pt x="41" y="200"/>
                      <a:pt x="42" y="198"/>
                      <a:pt x="42" y="197"/>
                    </a:cubicBezTo>
                    <a:cubicBezTo>
                      <a:pt x="43" y="196"/>
                      <a:pt x="43" y="195"/>
                      <a:pt x="43" y="198"/>
                    </a:cubicBezTo>
                    <a:cubicBezTo>
                      <a:pt x="43" y="201"/>
                      <a:pt x="45" y="198"/>
                      <a:pt x="45" y="198"/>
                    </a:cubicBezTo>
                    <a:cubicBezTo>
                      <a:pt x="45" y="198"/>
                      <a:pt x="46" y="197"/>
                      <a:pt x="46" y="199"/>
                    </a:cubicBezTo>
                    <a:cubicBezTo>
                      <a:pt x="46" y="202"/>
                      <a:pt x="48" y="200"/>
                      <a:pt x="48" y="199"/>
                    </a:cubicBezTo>
                    <a:cubicBezTo>
                      <a:pt x="49" y="198"/>
                      <a:pt x="52" y="192"/>
                      <a:pt x="54" y="192"/>
                    </a:cubicBezTo>
                    <a:cubicBezTo>
                      <a:pt x="56" y="193"/>
                      <a:pt x="57" y="191"/>
                      <a:pt x="57" y="191"/>
                    </a:cubicBezTo>
                    <a:cubicBezTo>
                      <a:pt x="56" y="190"/>
                      <a:pt x="56" y="190"/>
                      <a:pt x="58" y="190"/>
                    </a:cubicBezTo>
                    <a:cubicBezTo>
                      <a:pt x="59" y="190"/>
                      <a:pt x="61" y="190"/>
                      <a:pt x="61" y="188"/>
                    </a:cubicBezTo>
                    <a:cubicBezTo>
                      <a:pt x="60" y="186"/>
                      <a:pt x="62" y="187"/>
                      <a:pt x="62" y="188"/>
                    </a:cubicBezTo>
                    <a:cubicBezTo>
                      <a:pt x="62" y="188"/>
                      <a:pt x="67" y="188"/>
                      <a:pt x="68" y="182"/>
                    </a:cubicBezTo>
                    <a:cubicBezTo>
                      <a:pt x="69" y="176"/>
                      <a:pt x="69" y="173"/>
                      <a:pt x="71" y="176"/>
                    </a:cubicBezTo>
                    <a:cubicBezTo>
                      <a:pt x="74" y="179"/>
                      <a:pt x="74" y="180"/>
                      <a:pt x="75" y="184"/>
                    </a:cubicBezTo>
                    <a:cubicBezTo>
                      <a:pt x="76" y="187"/>
                      <a:pt x="77" y="188"/>
                      <a:pt x="78" y="187"/>
                    </a:cubicBezTo>
                    <a:cubicBezTo>
                      <a:pt x="78" y="187"/>
                      <a:pt x="82" y="186"/>
                      <a:pt x="81" y="188"/>
                    </a:cubicBezTo>
                    <a:cubicBezTo>
                      <a:pt x="80" y="190"/>
                      <a:pt x="80" y="194"/>
                      <a:pt x="81" y="197"/>
                    </a:cubicBezTo>
                    <a:cubicBezTo>
                      <a:pt x="82" y="201"/>
                      <a:pt x="82" y="205"/>
                      <a:pt x="83" y="209"/>
                    </a:cubicBezTo>
                    <a:cubicBezTo>
                      <a:pt x="83" y="213"/>
                      <a:pt x="85" y="214"/>
                      <a:pt x="85" y="215"/>
                    </a:cubicBezTo>
                    <a:cubicBezTo>
                      <a:pt x="86" y="216"/>
                      <a:pt x="86" y="216"/>
                      <a:pt x="86" y="218"/>
                    </a:cubicBezTo>
                    <a:cubicBezTo>
                      <a:pt x="86" y="219"/>
                      <a:pt x="87" y="230"/>
                      <a:pt x="88" y="231"/>
                    </a:cubicBezTo>
                    <a:cubicBezTo>
                      <a:pt x="88" y="233"/>
                      <a:pt x="89" y="234"/>
                      <a:pt x="89" y="231"/>
                    </a:cubicBezTo>
                    <a:cubicBezTo>
                      <a:pt x="89" y="227"/>
                      <a:pt x="89" y="224"/>
                      <a:pt x="90" y="227"/>
                    </a:cubicBezTo>
                    <a:cubicBezTo>
                      <a:pt x="92" y="230"/>
                      <a:pt x="92" y="234"/>
                      <a:pt x="92" y="235"/>
                    </a:cubicBezTo>
                    <a:cubicBezTo>
                      <a:pt x="93" y="235"/>
                      <a:pt x="94" y="239"/>
                      <a:pt x="95" y="241"/>
                    </a:cubicBezTo>
                    <a:cubicBezTo>
                      <a:pt x="96" y="242"/>
                      <a:pt x="97" y="245"/>
                      <a:pt x="96" y="248"/>
                    </a:cubicBezTo>
                    <a:cubicBezTo>
                      <a:pt x="95" y="250"/>
                      <a:pt x="95" y="250"/>
                      <a:pt x="95" y="251"/>
                    </a:cubicBezTo>
                    <a:cubicBezTo>
                      <a:pt x="95" y="251"/>
                      <a:pt x="93" y="252"/>
                      <a:pt x="95" y="252"/>
                    </a:cubicBezTo>
                    <a:cubicBezTo>
                      <a:pt x="96" y="252"/>
                      <a:pt x="96" y="252"/>
                      <a:pt x="96" y="254"/>
                    </a:cubicBezTo>
                    <a:cubicBezTo>
                      <a:pt x="96" y="256"/>
                      <a:pt x="96" y="257"/>
                      <a:pt x="95" y="257"/>
                    </a:cubicBezTo>
                    <a:cubicBezTo>
                      <a:pt x="94" y="258"/>
                      <a:pt x="94" y="259"/>
                      <a:pt x="95" y="260"/>
                    </a:cubicBezTo>
                    <a:cubicBezTo>
                      <a:pt x="95" y="260"/>
                      <a:pt x="97" y="260"/>
                      <a:pt x="97" y="259"/>
                    </a:cubicBezTo>
                    <a:cubicBezTo>
                      <a:pt x="98" y="258"/>
                      <a:pt x="99" y="259"/>
                      <a:pt x="99" y="260"/>
                    </a:cubicBezTo>
                    <a:cubicBezTo>
                      <a:pt x="98" y="261"/>
                      <a:pt x="97" y="261"/>
                      <a:pt x="97" y="263"/>
                    </a:cubicBezTo>
                    <a:cubicBezTo>
                      <a:pt x="97" y="266"/>
                      <a:pt x="97" y="272"/>
                      <a:pt x="95" y="274"/>
                    </a:cubicBezTo>
                    <a:cubicBezTo>
                      <a:pt x="92" y="276"/>
                      <a:pt x="93" y="276"/>
                      <a:pt x="93" y="278"/>
                    </a:cubicBezTo>
                    <a:cubicBezTo>
                      <a:pt x="94" y="281"/>
                      <a:pt x="94" y="284"/>
                      <a:pt x="94" y="285"/>
                    </a:cubicBezTo>
                    <a:cubicBezTo>
                      <a:pt x="97" y="282"/>
                      <a:pt x="97" y="282"/>
                      <a:pt x="97" y="282"/>
                    </a:cubicBezTo>
                    <a:cubicBezTo>
                      <a:pt x="97" y="282"/>
                      <a:pt x="97" y="280"/>
                      <a:pt x="97" y="28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13" name="Freeform 723">
                <a:extLst>
                  <a:ext uri="{FF2B5EF4-FFF2-40B4-BE49-F238E27FC236}">
                    <a16:creationId xmlns:a16="http://schemas.microsoft.com/office/drawing/2014/main" id="{EE366D1A-920B-41EE-B7F2-191A38A8A014}"/>
                  </a:ext>
                </a:extLst>
              </p:cNvPr>
              <p:cNvSpPr>
                <a:spLocks/>
              </p:cNvSpPr>
              <p:nvPr/>
            </p:nvSpPr>
            <p:spPr bwMode="auto">
              <a:xfrm>
                <a:off x="5559" y="2215"/>
                <a:ext cx="157" cy="182"/>
              </a:xfrm>
              <a:custGeom>
                <a:avLst/>
                <a:gdLst>
                  <a:gd name="T0" fmla="*/ 7 w 113"/>
                  <a:gd name="T1" fmla="*/ 24 h 132"/>
                  <a:gd name="T2" fmla="*/ 1 w 113"/>
                  <a:gd name="T3" fmla="*/ 29 h 132"/>
                  <a:gd name="T4" fmla="*/ 1 w 113"/>
                  <a:gd name="T5" fmla="*/ 35 h 132"/>
                  <a:gd name="T6" fmla="*/ 7 w 113"/>
                  <a:gd name="T7" fmla="*/ 36 h 132"/>
                  <a:gd name="T8" fmla="*/ 6 w 113"/>
                  <a:gd name="T9" fmla="*/ 42 h 132"/>
                  <a:gd name="T10" fmla="*/ 7 w 113"/>
                  <a:gd name="T11" fmla="*/ 47 h 132"/>
                  <a:gd name="T12" fmla="*/ 18 w 113"/>
                  <a:gd name="T13" fmla="*/ 46 h 132"/>
                  <a:gd name="T14" fmla="*/ 18 w 113"/>
                  <a:gd name="T15" fmla="*/ 52 h 132"/>
                  <a:gd name="T16" fmla="*/ 18 w 113"/>
                  <a:gd name="T17" fmla="*/ 56 h 132"/>
                  <a:gd name="T18" fmla="*/ 16 w 113"/>
                  <a:gd name="T19" fmla="*/ 62 h 132"/>
                  <a:gd name="T20" fmla="*/ 16 w 113"/>
                  <a:gd name="T21" fmla="*/ 69 h 132"/>
                  <a:gd name="T22" fmla="*/ 14 w 113"/>
                  <a:gd name="T23" fmla="*/ 73 h 132"/>
                  <a:gd name="T24" fmla="*/ 13 w 113"/>
                  <a:gd name="T25" fmla="*/ 77 h 132"/>
                  <a:gd name="T26" fmla="*/ 24 w 113"/>
                  <a:gd name="T27" fmla="*/ 71 h 132"/>
                  <a:gd name="T28" fmla="*/ 38 w 113"/>
                  <a:gd name="T29" fmla="*/ 72 h 132"/>
                  <a:gd name="T30" fmla="*/ 43 w 113"/>
                  <a:gd name="T31" fmla="*/ 70 h 132"/>
                  <a:gd name="T32" fmla="*/ 48 w 113"/>
                  <a:gd name="T33" fmla="*/ 65 h 132"/>
                  <a:gd name="T34" fmla="*/ 59 w 113"/>
                  <a:gd name="T35" fmla="*/ 67 h 132"/>
                  <a:gd name="T36" fmla="*/ 62 w 113"/>
                  <a:gd name="T37" fmla="*/ 72 h 132"/>
                  <a:gd name="T38" fmla="*/ 70 w 113"/>
                  <a:gd name="T39" fmla="*/ 83 h 132"/>
                  <a:gd name="T40" fmla="*/ 71 w 113"/>
                  <a:gd name="T41" fmla="*/ 95 h 132"/>
                  <a:gd name="T42" fmla="*/ 79 w 113"/>
                  <a:gd name="T43" fmla="*/ 100 h 132"/>
                  <a:gd name="T44" fmla="*/ 79 w 113"/>
                  <a:gd name="T45" fmla="*/ 104 h 132"/>
                  <a:gd name="T46" fmla="*/ 82 w 113"/>
                  <a:gd name="T47" fmla="*/ 109 h 132"/>
                  <a:gd name="T48" fmla="*/ 80 w 113"/>
                  <a:gd name="T49" fmla="*/ 117 h 132"/>
                  <a:gd name="T50" fmla="*/ 76 w 113"/>
                  <a:gd name="T51" fmla="*/ 126 h 132"/>
                  <a:gd name="T52" fmla="*/ 85 w 113"/>
                  <a:gd name="T53" fmla="*/ 130 h 132"/>
                  <a:gd name="T54" fmla="*/ 89 w 113"/>
                  <a:gd name="T55" fmla="*/ 132 h 132"/>
                  <a:gd name="T56" fmla="*/ 88 w 113"/>
                  <a:gd name="T57" fmla="*/ 126 h 132"/>
                  <a:gd name="T58" fmla="*/ 92 w 113"/>
                  <a:gd name="T59" fmla="*/ 123 h 132"/>
                  <a:gd name="T60" fmla="*/ 102 w 113"/>
                  <a:gd name="T61" fmla="*/ 126 h 132"/>
                  <a:gd name="T62" fmla="*/ 110 w 113"/>
                  <a:gd name="T63" fmla="*/ 119 h 132"/>
                  <a:gd name="T64" fmla="*/ 112 w 113"/>
                  <a:gd name="T65" fmla="*/ 113 h 132"/>
                  <a:gd name="T66" fmla="*/ 111 w 113"/>
                  <a:gd name="T67" fmla="*/ 109 h 132"/>
                  <a:gd name="T68" fmla="*/ 107 w 113"/>
                  <a:gd name="T69" fmla="*/ 102 h 132"/>
                  <a:gd name="T70" fmla="*/ 109 w 113"/>
                  <a:gd name="T71" fmla="*/ 100 h 132"/>
                  <a:gd name="T72" fmla="*/ 103 w 113"/>
                  <a:gd name="T73" fmla="*/ 96 h 132"/>
                  <a:gd name="T74" fmla="*/ 100 w 113"/>
                  <a:gd name="T75" fmla="*/ 93 h 132"/>
                  <a:gd name="T76" fmla="*/ 96 w 113"/>
                  <a:gd name="T77" fmla="*/ 86 h 132"/>
                  <a:gd name="T78" fmla="*/ 94 w 113"/>
                  <a:gd name="T79" fmla="*/ 84 h 132"/>
                  <a:gd name="T80" fmla="*/ 82 w 113"/>
                  <a:gd name="T81" fmla="*/ 70 h 132"/>
                  <a:gd name="T82" fmla="*/ 76 w 113"/>
                  <a:gd name="T83" fmla="*/ 61 h 132"/>
                  <a:gd name="T84" fmla="*/ 57 w 113"/>
                  <a:gd name="T85" fmla="*/ 50 h 132"/>
                  <a:gd name="T86" fmla="*/ 58 w 113"/>
                  <a:gd name="T87" fmla="*/ 46 h 132"/>
                  <a:gd name="T88" fmla="*/ 61 w 113"/>
                  <a:gd name="T89" fmla="*/ 44 h 132"/>
                  <a:gd name="T90" fmla="*/ 68 w 113"/>
                  <a:gd name="T91" fmla="*/ 43 h 132"/>
                  <a:gd name="T92" fmla="*/ 71 w 113"/>
                  <a:gd name="T93" fmla="*/ 35 h 132"/>
                  <a:gd name="T94" fmla="*/ 64 w 113"/>
                  <a:gd name="T95" fmla="*/ 32 h 132"/>
                  <a:gd name="T96" fmla="*/ 67 w 113"/>
                  <a:gd name="T97" fmla="*/ 29 h 132"/>
                  <a:gd name="T98" fmla="*/ 58 w 113"/>
                  <a:gd name="T99" fmla="*/ 25 h 132"/>
                  <a:gd name="T100" fmla="*/ 54 w 113"/>
                  <a:gd name="T101" fmla="*/ 28 h 132"/>
                  <a:gd name="T102" fmla="*/ 47 w 113"/>
                  <a:gd name="T103" fmla="*/ 26 h 132"/>
                  <a:gd name="T104" fmla="*/ 42 w 113"/>
                  <a:gd name="T105" fmla="*/ 20 h 132"/>
                  <a:gd name="T106" fmla="*/ 43 w 113"/>
                  <a:gd name="T107" fmla="*/ 13 h 132"/>
                  <a:gd name="T108" fmla="*/ 38 w 113"/>
                  <a:gd name="T109" fmla="*/ 12 h 132"/>
                  <a:gd name="T110" fmla="*/ 30 w 113"/>
                  <a:gd name="T111" fmla="*/ 2 h 132"/>
                  <a:gd name="T112" fmla="*/ 23 w 113"/>
                  <a:gd name="T113" fmla="*/ 2 h 132"/>
                  <a:gd name="T114" fmla="*/ 24 w 113"/>
                  <a:gd name="T115" fmla="*/ 10 h 132"/>
                  <a:gd name="T116" fmla="*/ 26 w 113"/>
                  <a:gd name="T117" fmla="*/ 20 h 132"/>
                  <a:gd name="T118" fmla="*/ 21 w 113"/>
                  <a:gd name="T119" fmla="*/ 20 h 132"/>
                  <a:gd name="T120" fmla="*/ 16 w 113"/>
                  <a:gd name="T121" fmla="*/ 18 h 132"/>
                  <a:gd name="T122" fmla="*/ 8 w 113"/>
                  <a:gd name="T123" fmla="*/ 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3" h="132">
                    <a:moveTo>
                      <a:pt x="8" y="20"/>
                    </a:moveTo>
                    <a:cubicBezTo>
                      <a:pt x="8" y="21"/>
                      <a:pt x="7" y="23"/>
                      <a:pt x="7" y="24"/>
                    </a:cubicBezTo>
                    <a:cubicBezTo>
                      <a:pt x="6" y="24"/>
                      <a:pt x="7" y="24"/>
                      <a:pt x="7" y="24"/>
                    </a:cubicBezTo>
                    <a:cubicBezTo>
                      <a:pt x="7" y="24"/>
                      <a:pt x="7" y="25"/>
                      <a:pt x="8" y="26"/>
                    </a:cubicBezTo>
                    <a:cubicBezTo>
                      <a:pt x="8" y="27"/>
                      <a:pt x="7" y="26"/>
                      <a:pt x="5" y="26"/>
                    </a:cubicBezTo>
                    <a:cubicBezTo>
                      <a:pt x="3" y="27"/>
                      <a:pt x="2" y="29"/>
                      <a:pt x="1" y="29"/>
                    </a:cubicBezTo>
                    <a:cubicBezTo>
                      <a:pt x="1" y="30"/>
                      <a:pt x="0" y="32"/>
                      <a:pt x="0" y="34"/>
                    </a:cubicBezTo>
                    <a:cubicBezTo>
                      <a:pt x="0" y="34"/>
                      <a:pt x="0" y="34"/>
                      <a:pt x="0" y="34"/>
                    </a:cubicBezTo>
                    <a:cubicBezTo>
                      <a:pt x="0" y="35"/>
                      <a:pt x="1" y="36"/>
                      <a:pt x="1" y="35"/>
                    </a:cubicBezTo>
                    <a:cubicBezTo>
                      <a:pt x="1" y="35"/>
                      <a:pt x="3" y="33"/>
                      <a:pt x="3" y="33"/>
                    </a:cubicBezTo>
                    <a:cubicBezTo>
                      <a:pt x="4" y="33"/>
                      <a:pt x="5" y="34"/>
                      <a:pt x="6" y="35"/>
                    </a:cubicBezTo>
                    <a:cubicBezTo>
                      <a:pt x="6" y="36"/>
                      <a:pt x="7" y="36"/>
                      <a:pt x="7" y="36"/>
                    </a:cubicBezTo>
                    <a:cubicBezTo>
                      <a:pt x="7" y="36"/>
                      <a:pt x="7" y="37"/>
                      <a:pt x="7" y="37"/>
                    </a:cubicBezTo>
                    <a:cubicBezTo>
                      <a:pt x="7" y="38"/>
                      <a:pt x="6" y="40"/>
                      <a:pt x="6" y="41"/>
                    </a:cubicBezTo>
                    <a:cubicBezTo>
                      <a:pt x="6" y="41"/>
                      <a:pt x="6" y="41"/>
                      <a:pt x="6" y="42"/>
                    </a:cubicBezTo>
                    <a:cubicBezTo>
                      <a:pt x="6" y="42"/>
                      <a:pt x="5" y="43"/>
                      <a:pt x="5" y="43"/>
                    </a:cubicBezTo>
                    <a:cubicBezTo>
                      <a:pt x="5" y="43"/>
                      <a:pt x="5" y="43"/>
                      <a:pt x="5" y="43"/>
                    </a:cubicBezTo>
                    <a:cubicBezTo>
                      <a:pt x="5" y="44"/>
                      <a:pt x="7" y="47"/>
                      <a:pt x="7" y="47"/>
                    </a:cubicBezTo>
                    <a:cubicBezTo>
                      <a:pt x="7" y="47"/>
                      <a:pt x="7" y="47"/>
                      <a:pt x="8" y="47"/>
                    </a:cubicBezTo>
                    <a:cubicBezTo>
                      <a:pt x="8" y="47"/>
                      <a:pt x="17" y="46"/>
                      <a:pt x="17" y="46"/>
                    </a:cubicBezTo>
                    <a:cubicBezTo>
                      <a:pt x="18" y="46"/>
                      <a:pt x="18" y="46"/>
                      <a:pt x="18" y="46"/>
                    </a:cubicBezTo>
                    <a:cubicBezTo>
                      <a:pt x="17" y="47"/>
                      <a:pt x="17" y="47"/>
                      <a:pt x="17" y="47"/>
                    </a:cubicBezTo>
                    <a:cubicBezTo>
                      <a:pt x="17" y="47"/>
                      <a:pt x="16" y="48"/>
                      <a:pt x="16" y="49"/>
                    </a:cubicBezTo>
                    <a:cubicBezTo>
                      <a:pt x="17" y="50"/>
                      <a:pt x="17" y="51"/>
                      <a:pt x="18" y="52"/>
                    </a:cubicBezTo>
                    <a:cubicBezTo>
                      <a:pt x="18" y="52"/>
                      <a:pt x="19" y="54"/>
                      <a:pt x="19" y="54"/>
                    </a:cubicBezTo>
                    <a:cubicBezTo>
                      <a:pt x="19" y="54"/>
                      <a:pt x="19" y="54"/>
                      <a:pt x="18" y="55"/>
                    </a:cubicBezTo>
                    <a:cubicBezTo>
                      <a:pt x="18" y="55"/>
                      <a:pt x="18" y="55"/>
                      <a:pt x="18" y="56"/>
                    </a:cubicBezTo>
                    <a:cubicBezTo>
                      <a:pt x="18" y="56"/>
                      <a:pt x="17" y="57"/>
                      <a:pt x="17" y="57"/>
                    </a:cubicBezTo>
                    <a:cubicBezTo>
                      <a:pt x="17" y="58"/>
                      <a:pt x="17" y="59"/>
                      <a:pt x="17" y="60"/>
                    </a:cubicBezTo>
                    <a:cubicBezTo>
                      <a:pt x="17" y="60"/>
                      <a:pt x="16" y="61"/>
                      <a:pt x="16" y="62"/>
                    </a:cubicBezTo>
                    <a:cubicBezTo>
                      <a:pt x="16" y="62"/>
                      <a:pt x="15" y="63"/>
                      <a:pt x="15" y="64"/>
                    </a:cubicBezTo>
                    <a:cubicBezTo>
                      <a:pt x="15" y="64"/>
                      <a:pt x="15" y="65"/>
                      <a:pt x="15" y="65"/>
                    </a:cubicBezTo>
                    <a:cubicBezTo>
                      <a:pt x="15" y="66"/>
                      <a:pt x="16" y="68"/>
                      <a:pt x="16" y="69"/>
                    </a:cubicBezTo>
                    <a:cubicBezTo>
                      <a:pt x="16" y="70"/>
                      <a:pt x="16" y="69"/>
                      <a:pt x="16" y="69"/>
                    </a:cubicBezTo>
                    <a:cubicBezTo>
                      <a:pt x="16" y="69"/>
                      <a:pt x="15" y="70"/>
                      <a:pt x="15" y="70"/>
                    </a:cubicBezTo>
                    <a:cubicBezTo>
                      <a:pt x="15" y="71"/>
                      <a:pt x="14" y="72"/>
                      <a:pt x="14" y="73"/>
                    </a:cubicBezTo>
                    <a:cubicBezTo>
                      <a:pt x="13" y="73"/>
                      <a:pt x="13" y="74"/>
                      <a:pt x="13" y="74"/>
                    </a:cubicBezTo>
                    <a:cubicBezTo>
                      <a:pt x="13" y="75"/>
                      <a:pt x="13" y="76"/>
                      <a:pt x="12" y="76"/>
                    </a:cubicBezTo>
                    <a:cubicBezTo>
                      <a:pt x="12" y="76"/>
                      <a:pt x="12" y="77"/>
                      <a:pt x="13" y="77"/>
                    </a:cubicBezTo>
                    <a:cubicBezTo>
                      <a:pt x="13" y="77"/>
                      <a:pt x="15" y="78"/>
                      <a:pt x="16" y="78"/>
                    </a:cubicBezTo>
                    <a:cubicBezTo>
                      <a:pt x="17" y="77"/>
                      <a:pt x="20" y="74"/>
                      <a:pt x="21" y="73"/>
                    </a:cubicBezTo>
                    <a:cubicBezTo>
                      <a:pt x="22" y="73"/>
                      <a:pt x="23" y="72"/>
                      <a:pt x="24" y="71"/>
                    </a:cubicBezTo>
                    <a:cubicBezTo>
                      <a:pt x="25" y="70"/>
                      <a:pt x="30" y="67"/>
                      <a:pt x="30" y="67"/>
                    </a:cubicBezTo>
                    <a:cubicBezTo>
                      <a:pt x="30" y="67"/>
                      <a:pt x="30" y="67"/>
                      <a:pt x="30" y="67"/>
                    </a:cubicBezTo>
                    <a:cubicBezTo>
                      <a:pt x="31" y="67"/>
                      <a:pt x="38" y="72"/>
                      <a:pt x="38" y="72"/>
                    </a:cubicBezTo>
                    <a:cubicBezTo>
                      <a:pt x="38" y="72"/>
                      <a:pt x="39" y="74"/>
                      <a:pt x="38" y="73"/>
                    </a:cubicBezTo>
                    <a:cubicBezTo>
                      <a:pt x="38" y="72"/>
                      <a:pt x="40" y="71"/>
                      <a:pt x="40" y="71"/>
                    </a:cubicBezTo>
                    <a:cubicBezTo>
                      <a:pt x="41" y="70"/>
                      <a:pt x="43" y="70"/>
                      <a:pt x="43" y="70"/>
                    </a:cubicBezTo>
                    <a:cubicBezTo>
                      <a:pt x="43" y="70"/>
                      <a:pt x="44" y="69"/>
                      <a:pt x="44" y="68"/>
                    </a:cubicBezTo>
                    <a:cubicBezTo>
                      <a:pt x="45" y="67"/>
                      <a:pt x="45" y="67"/>
                      <a:pt x="45" y="67"/>
                    </a:cubicBezTo>
                    <a:cubicBezTo>
                      <a:pt x="45" y="67"/>
                      <a:pt x="47" y="65"/>
                      <a:pt x="48" y="65"/>
                    </a:cubicBezTo>
                    <a:cubicBezTo>
                      <a:pt x="48" y="64"/>
                      <a:pt x="50" y="63"/>
                      <a:pt x="51" y="63"/>
                    </a:cubicBezTo>
                    <a:cubicBezTo>
                      <a:pt x="52" y="64"/>
                      <a:pt x="53" y="64"/>
                      <a:pt x="54" y="64"/>
                    </a:cubicBezTo>
                    <a:cubicBezTo>
                      <a:pt x="55" y="64"/>
                      <a:pt x="58" y="64"/>
                      <a:pt x="59" y="67"/>
                    </a:cubicBezTo>
                    <a:cubicBezTo>
                      <a:pt x="59" y="67"/>
                      <a:pt x="60" y="69"/>
                      <a:pt x="60" y="69"/>
                    </a:cubicBezTo>
                    <a:cubicBezTo>
                      <a:pt x="61" y="70"/>
                      <a:pt x="61" y="70"/>
                      <a:pt x="61" y="71"/>
                    </a:cubicBezTo>
                    <a:cubicBezTo>
                      <a:pt x="61" y="71"/>
                      <a:pt x="62" y="72"/>
                      <a:pt x="62" y="72"/>
                    </a:cubicBezTo>
                    <a:cubicBezTo>
                      <a:pt x="63" y="72"/>
                      <a:pt x="64" y="74"/>
                      <a:pt x="65" y="74"/>
                    </a:cubicBezTo>
                    <a:cubicBezTo>
                      <a:pt x="66" y="75"/>
                      <a:pt x="69" y="78"/>
                      <a:pt x="70" y="79"/>
                    </a:cubicBezTo>
                    <a:cubicBezTo>
                      <a:pt x="70" y="81"/>
                      <a:pt x="70" y="82"/>
                      <a:pt x="70" y="83"/>
                    </a:cubicBezTo>
                    <a:cubicBezTo>
                      <a:pt x="69" y="85"/>
                      <a:pt x="69" y="86"/>
                      <a:pt x="69" y="86"/>
                    </a:cubicBezTo>
                    <a:cubicBezTo>
                      <a:pt x="69" y="87"/>
                      <a:pt x="69" y="91"/>
                      <a:pt x="69" y="92"/>
                    </a:cubicBezTo>
                    <a:cubicBezTo>
                      <a:pt x="69" y="93"/>
                      <a:pt x="71" y="94"/>
                      <a:pt x="71" y="95"/>
                    </a:cubicBezTo>
                    <a:cubicBezTo>
                      <a:pt x="72" y="95"/>
                      <a:pt x="73" y="96"/>
                      <a:pt x="73" y="97"/>
                    </a:cubicBezTo>
                    <a:cubicBezTo>
                      <a:pt x="73" y="97"/>
                      <a:pt x="74" y="99"/>
                      <a:pt x="74" y="99"/>
                    </a:cubicBezTo>
                    <a:cubicBezTo>
                      <a:pt x="75" y="99"/>
                      <a:pt x="79" y="100"/>
                      <a:pt x="79" y="100"/>
                    </a:cubicBezTo>
                    <a:cubicBezTo>
                      <a:pt x="79" y="100"/>
                      <a:pt x="79" y="100"/>
                      <a:pt x="79" y="101"/>
                    </a:cubicBezTo>
                    <a:cubicBezTo>
                      <a:pt x="78" y="101"/>
                      <a:pt x="78" y="102"/>
                      <a:pt x="78" y="103"/>
                    </a:cubicBezTo>
                    <a:cubicBezTo>
                      <a:pt x="78" y="103"/>
                      <a:pt x="79" y="104"/>
                      <a:pt x="79" y="104"/>
                    </a:cubicBezTo>
                    <a:cubicBezTo>
                      <a:pt x="80" y="104"/>
                      <a:pt x="81" y="105"/>
                      <a:pt x="81" y="105"/>
                    </a:cubicBezTo>
                    <a:cubicBezTo>
                      <a:pt x="81" y="106"/>
                      <a:pt x="82" y="106"/>
                      <a:pt x="82" y="107"/>
                    </a:cubicBezTo>
                    <a:cubicBezTo>
                      <a:pt x="82" y="108"/>
                      <a:pt x="82" y="108"/>
                      <a:pt x="82" y="109"/>
                    </a:cubicBezTo>
                    <a:cubicBezTo>
                      <a:pt x="82" y="109"/>
                      <a:pt x="82" y="109"/>
                      <a:pt x="81" y="109"/>
                    </a:cubicBezTo>
                    <a:cubicBezTo>
                      <a:pt x="81" y="109"/>
                      <a:pt x="80" y="111"/>
                      <a:pt x="80" y="112"/>
                    </a:cubicBezTo>
                    <a:cubicBezTo>
                      <a:pt x="80" y="114"/>
                      <a:pt x="80" y="116"/>
                      <a:pt x="80" y="117"/>
                    </a:cubicBezTo>
                    <a:cubicBezTo>
                      <a:pt x="81" y="119"/>
                      <a:pt x="81" y="123"/>
                      <a:pt x="79" y="124"/>
                    </a:cubicBezTo>
                    <a:cubicBezTo>
                      <a:pt x="78" y="125"/>
                      <a:pt x="77" y="125"/>
                      <a:pt x="76" y="125"/>
                    </a:cubicBezTo>
                    <a:cubicBezTo>
                      <a:pt x="76" y="125"/>
                      <a:pt x="76" y="126"/>
                      <a:pt x="76" y="126"/>
                    </a:cubicBezTo>
                    <a:cubicBezTo>
                      <a:pt x="78" y="129"/>
                      <a:pt x="78" y="129"/>
                      <a:pt x="78" y="129"/>
                    </a:cubicBezTo>
                    <a:cubicBezTo>
                      <a:pt x="78" y="129"/>
                      <a:pt x="78" y="129"/>
                      <a:pt x="79" y="129"/>
                    </a:cubicBezTo>
                    <a:cubicBezTo>
                      <a:pt x="80" y="129"/>
                      <a:pt x="83" y="129"/>
                      <a:pt x="85" y="130"/>
                    </a:cubicBezTo>
                    <a:cubicBezTo>
                      <a:pt x="86" y="132"/>
                      <a:pt x="86" y="132"/>
                      <a:pt x="86" y="132"/>
                    </a:cubicBezTo>
                    <a:cubicBezTo>
                      <a:pt x="86" y="132"/>
                      <a:pt x="86" y="132"/>
                      <a:pt x="87" y="132"/>
                    </a:cubicBezTo>
                    <a:cubicBezTo>
                      <a:pt x="87" y="132"/>
                      <a:pt x="89" y="132"/>
                      <a:pt x="89" y="132"/>
                    </a:cubicBezTo>
                    <a:cubicBezTo>
                      <a:pt x="89" y="132"/>
                      <a:pt x="89" y="132"/>
                      <a:pt x="89" y="132"/>
                    </a:cubicBezTo>
                    <a:cubicBezTo>
                      <a:pt x="89" y="131"/>
                      <a:pt x="90" y="129"/>
                      <a:pt x="90" y="128"/>
                    </a:cubicBezTo>
                    <a:cubicBezTo>
                      <a:pt x="89" y="127"/>
                      <a:pt x="88" y="126"/>
                      <a:pt x="88" y="126"/>
                    </a:cubicBezTo>
                    <a:cubicBezTo>
                      <a:pt x="88" y="125"/>
                      <a:pt x="87" y="125"/>
                      <a:pt x="88" y="125"/>
                    </a:cubicBezTo>
                    <a:cubicBezTo>
                      <a:pt x="89" y="126"/>
                      <a:pt x="89" y="126"/>
                      <a:pt x="90" y="125"/>
                    </a:cubicBezTo>
                    <a:cubicBezTo>
                      <a:pt x="91" y="124"/>
                      <a:pt x="92" y="124"/>
                      <a:pt x="92" y="123"/>
                    </a:cubicBezTo>
                    <a:cubicBezTo>
                      <a:pt x="93" y="123"/>
                      <a:pt x="95" y="121"/>
                      <a:pt x="96" y="122"/>
                    </a:cubicBezTo>
                    <a:cubicBezTo>
                      <a:pt x="96" y="123"/>
                      <a:pt x="97" y="124"/>
                      <a:pt x="97" y="124"/>
                    </a:cubicBezTo>
                    <a:cubicBezTo>
                      <a:pt x="98" y="124"/>
                      <a:pt x="102" y="126"/>
                      <a:pt x="102" y="126"/>
                    </a:cubicBezTo>
                    <a:cubicBezTo>
                      <a:pt x="102" y="126"/>
                      <a:pt x="102" y="126"/>
                      <a:pt x="103" y="125"/>
                    </a:cubicBezTo>
                    <a:cubicBezTo>
                      <a:pt x="103" y="125"/>
                      <a:pt x="108" y="122"/>
                      <a:pt x="110" y="120"/>
                    </a:cubicBezTo>
                    <a:cubicBezTo>
                      <a:pt x="110" y="120"/>
                      <a:pt x="110" y="119"/>
                      <a:pt x="110" y="119"/>
                    </a:cubicBezTo>
                    <a:cubicBezTo>
                      <a:pt x="110" y="119"/>
                      <a:pt x="110" y="116"/>
                      <a:pt x="110" y="116"/>
                    </a:cubicBezTo>
                    <a:cubicBezTo>
                      <a:pt x="110" y="116"/>
                      <a:pt x="110" y="115"/>
                      <a:pt x="110" y="115"/>
                    </a:cubicBezTo>
                    <a:cubicBezTo>
                      <a:pt x="110" y="115"/>
                      <a:pt x="112" y="113"/>
                      <a:pt x="112" y="113"/>
                    </a:cubicBezTo>
                    <a:cubicBezTo>
                      <a:pt x="113" y="112"/>
                      <a:pt x="112" y="112"/>
                      <a:pt x="112" y="112"/>
                    </a:cubicBezTo>
                    <a:cubicBezTo>
                      <a:pt x="112" y="111"/>
                      <a:pt x="112" y="110"/>
                      <a:pt x="112" y="110"/>
                    </a:cubicBezTo>
                    <a:cubicBezTo>
                      <a:pt x="112" y="109"/>
                      <a:pt x="111" y="109"/>
                      <a:pt x="111" y="109"/>
                    </a:cubicBezTo>
                    <a:cubicBezTo>
                      <a:pt x="109" y="108"/>
                      <a:pt x="105" y="104"/>
                      <a:pt x="105" y="104"/>
                    </a:cubicBezTo>
                    <a:cubicBezTo>
                      <a:pt x="105" y="103"/>
                      <a:pt x="106" y="103"/>
                      <a:pt x="106" y="103"/>
                    </a:cubicBezTo>
                    <a:cubicBezTo>
                      <a:pt x="106" y="103"/>
                      <a:pt x="106" y="103"/>
                      <a:pt x="107" y="102"/>
                    </a:cubicBezTo>
                    <a:cubicBezTo>
                      <a:pt x="107" y="102"/>
                      <a:pt x="107" y="102"/>
                      <a:pt x="108" y="102"/>
                    </a:cubicBezTo>
                    <a:cubicBezTo>
                      <a:pt x="108" y="102"/>
                      <a:pt x="109" y="101"/>
                      <a:pt x="109" y="101"/>
                    </a:cubicBezTo>
                    <a:cubicBezTo>
                      <a:pt x="110" y="100"/>
                      <a:pt x="110" y="100"/>
                      <a:pt x="109" y="100"/>
                    </a:cubicBezTo>
                    <a:cubicBezTo>
                      <a:pt x="109" y="99"/>
                      <a:pt x="106" y="97"/>
                      <a:pt x="105" y="97"/>
                    </a:cubicBezTo>
                    <a:cubicBezTo>
                      <a:pt x="105" y="97"/>
                      <a:pt x="104" y="96"/>
                      <a:pt x="104" y="96"/>
                    </a:cubicBezTo>
                    <a:cubicBezTo>
                      <a:pt x="104" y="96"/>
                      <a:pt x="103" y="96"/>
                      <a:pt x="103" y="96"/>
                    </a:cubicBezTo>
                    <a:cubicBezTo>
                      <a:pt x="102" y="96"/>
                      <a:pt x="102" y="96"/>
                      <a:pt x="102" y="95"/>
                    </a:cubicBezTo>
                    <a:cubicBezTo>
                      <a:pt x="102" y="95"/>
                      <a:pt x="101" y="93"/>
                      <a:pt x="101" y="93"/>
                    </a:cubicBezTo>
                    <a:cubicBezTo>
                      <a:pt x="100" y="92"/>
                      <a:pt x="100" y="93"/>
                      <a:pt x="100" y="93"/>
                    </a:cubicBezTo>
                    <a:cubicBezTo>
                      <a:pt x="100" y="93"/>
                      <a:pt x="99" y="93"/>
                      <a:pt x="98" y="93"/>
                    </a:cubicBezTo>
                    <a:cubicBezTo>
                      <a:pt x="98" y="94"/>
                      <a:pt x="97" y="91"/>
                      <a:pt x="96" y="90"/>
                    </a:cubicBezTo>
                    <a:cubicBezTo>
                      <a:pt x="96" y="89"/>
                      <a:pt x="96" y="87"/>
                      <a:pt x="96" y="86"/>
                    </a:cubicBezTo>
                    <a:cubicBezTo>
                      <a:pt x="96" y="86"/>
                      <a:pt x="96" y="86"/>
                      <a:pt x="96" y="86"/>
                    </a:cubicBezTo>
                    <a:cubicBezTo>
                      <a:pt x="96" y="86"/>
                      <a:pt x="95" y="85"/>
                      <a:pt x="94" y="85"/>
                    </a:cubicBezTo>
                    <a:cubicBezTo>
                      <a:pt x="94" y="85"/>
                      <a:pt x="94" y="84"/>
                      <a:pt x="94" y="84"/>
                    </a:cubicBezTo>
                    <a:cubicBezTo>
                      <a:pt x="93" y="81"/>
                      <a:pt x="90" y="79"/>
                      <a:pt x="87" y="77"/>
                    </a:cubicBezTo>
                    <a:cubicBezTo>
                      <a:pt x="83" y="75"/>
                      <a:pt x="82" y="71"/>
                      <a:pt x="82" y="71"/>
                    </a:cubicBezTo>
                    <a:cubicBezTo>
                      <a:pt x="82" y="70"/>
                      <a:pt x="82" y="70"/>
                      <a:pt x="82" y="70"/>
                    </a:cubicBezTo>
                    <a:cubicBezTo>
                      <a:pt x="82" y="70"/>
                      <a:pt x="79" y="68"/>
                      <a:pt x="78" y="67"/>
                    </a:cubicBezTo>
                    <a:cubicBezTo>
                      <a:pt x="77" y="67"/>
                      <a:pt x="75" y="65"/>
                      <a:pt x="75" y="64"/>
                    </a:cubicBezTo>
                    <a:cubicBezTo>
                      <a:pt x="74" y="62"/>
                      <a:pt x="75" y="61"/>
                      <a:pt x="76" y="61"/>
                    </a:cubicBezTo>
                    <a:cubicBezTo>
                      <a:pt x="76" y="60"/>
                      <a:pt x="75" y="60"/>
                      <a:pt x="75" y="60"/>
                    </a:cubicBezTo>
                    <a:cubicBezTo>
                      <a:pt x="75" y="60"/>
                      <a:pt x="68" y="56"/>
                      <a:pt x="67" y="56"/>
                    </a:cubicBezTo>
                    <a:cubicBezTo>
                      <a:pt x="66" y="55"/>
                      <a:pt x="57" y="50"/>
                      <a:pt x="57" y="50"/>
                    </a:cubicBezTo>
                    <a:cubicBezTo>
                      <a:pt x="56" y="50"/>
                      <a:pt x="57" y="49"/>
                      <a:pt x="57" y="49"/>
                    </a:cubicBezTo>
                    <a:cubicBezTo>
                      <a:pt x="57" y="49"/>
                      <a:pt x="57" y="49"/>
                      <a:pt x="58" y="49"/>
                    </a:cubicBezTo>
                    <a:cubicBezTo>
                      <a:pt x="59" y="48"/>
                      <a:pt x="58" y="47"/>
                      <a:pt x="58" y="46"/>
                    </a:cubicBezTo>
                    <a:cubicBezTo>
                      <a:pt x="58" y="45"/>
                      <a:pt x="58" y="45"/>
                      <a:pt x="58" y="44"/>
                    </a:cubicBezTo>
                    <a:cubicBezTo>
                      <a:pt x="59" y="44"/>
                      <a:pt x="59" y="44"/>
                      <a:pt x="59" y="44"/>
                    </a:cubicBezTo>
                    <a:cubicBezTo>
                      <a:pt x="60" y="44"/>
                      <a:pt x="61" y="44"/>
                      <a:pt x="61" y="44"/>
                    </a:cubicBezTo>
                    <a:cubicBezTo>
                      <a:pt x="62" y="44"/>
                      <a:pt x="66" y="45"/>
                      <a:pt x="67" y="45"/>
                    </a:cubicBezTo>
                    <a:cubicBezTo>
                      <a:pt x="68" y="45"/>
                      <a:pt x="68" y="44"/>
                      <a:pt x="68" y="44"/>
                    </a:cubicBezTo>
                    <a:cubicBezTo>
                      <a:pt x="68" y="44"/>
                      <a:pt x="68" y="44"/>
                      <a:pt x="68" y="43"/>
                    </a:cubicBezTo>
                    <a:cubicBezTo>
                      <a:pt x="69" y="43"/>
                      <a:pt x="72" y="40"/>
                      <a:pt x="72" y="40"/>
                    </a:cubicBezTo>
                    <a:cubicBezTo>
                      <a:pt x="72" y="39"/>
                      <a:pt x="72" y="39"/>
                      <a:pt x="72" y="38"/>
                    </a:cubicBezTo>
                    <a:cubicBezTo>
                      <a:pt x="72" y="36"/>
                      <a:pt x="71" y="36"/>
                      <a:pt x="71" y="35"/>
                    </a:cubicBezTo>
                    <a:cubicBezTo>
                      <a:pt x="70" y="35"/>
                      <a:pt x="69" y="34"/>
                      <a:pt x="68" y="33"/>
                    </a:cubicBezTo>
                    <a:cubicBezTo>
                      <a:pt x="67" y="33"/>
                      <a:pt x="65" y="32"/>
                      <a:pt x="64" y="32"/>
                    </a:cubicBezTo>
                    <a:cubicBezTo>
                      <a:pt x="63" y="32"/>
                      <a:pt x="63" y="32"/>
                      <a:pt x="64" y="32"/>
                    </a:cubicBezTo>
                    <a:cubicBezTo>
                      <a:pt x="64" y="31"/>
                      <a:pt x="65" y="31"/>
                      <a:pt x="66" y="31"/>
                    </a:cubicBezTo>
                    <a:cubicBezTo>
                      <a:pt x="66" y="31"/>
                      <a:pt x="67" y="31"/>
                      <a:pt x="67" y="31"/>
                    </a:cubicBezTo>
                    <a:cubicBezTo>
                      <a:pt x="67" y="31"/>
                      <a:pt x="67" y="30"/>
                      <a:pt x="67" y="29"/>
                    </a:cubicBezTo>
                    <a:cubicBezTo>
                      <a:pt x="68" y="29"/>
                      <a:pt x="67" y="29"/>
                      <a:pt x="67" y="29"/>
                    </a:cubicBezTo>
                    <a:cubicBezTo>
                      <a:pt x="67" y="29"/>
                      <a:pt x="63" y="26"/>
                      <a:pt x="62" y="25"/>
                    </a:cubicBezTo>
                    <a:cubicBezTo>
                      <a:pt x="61" y="24"/>
                      <a:pt x="58" y="24"/>
                      <a:pt x="58" y="25"/>
                    </a:cubicBezTo>
                    <a:cubicBezTo>
                      <a:pt x="58" y="25"/>
                      <a:pt x="57" y="25"/>
                      <a:pt x="56" y="26"/>
                    </a:cubicBezTo>
                    <a:cubicBezTo>
                      <a:pt x="56" y="26"/>
                      <a:pt x="55" y="26"/>
                      <a:pt x="55" y="27"/>
                    </a:cubicBezTo>
                    <a:cubicBezTo>
                      <a:pt x="55" y="27"/>
                      <a:pt x="54" y="28"/>
                      <a:pt x="54" y="28"/>
                    </a:cubicBezTo>
                    <a:cubicBezTo>
                      <a:pt x="54" y="29"/>
                      <a:pt x="53" y="29"/>
                      <a:pt x="53" y="29"/>
                    </a:cubicBezTo>
                    <a:cubicBezTo>
                      <a:pt x="52" y="29"/>
                      <a:pt x="48" y="27"/>
                      <a:pt x="48" y="26"/>
                    </a:cubicBezTo>
                    <a:cubicBezTo>
                      <a:pt x="47" y="26"/>
                      <a:pt x="47" y="26"/>
                      <a:pt x="47" y="26"/>
                    </a:cubicBezTo>
                    <a:cubicBezTo>
                      <a:pt x="46" y="26"/>
                      <a:pt x="46" y="26"/>
                      <a:pt x="46" y="26"/>
                    </a:cubicBezTo>
                    <a:cubicBezTo>
                      <a:pt x="46" y="26"/>
                      <a:pt x="42" y="22"/>
                      <a:pt x="42" y="21"/>
                    </a:cubicBezTo>
                    <a:cubicBezTo>
                      <a:pt x="42" y="21"/>
                      <a:pt x="42" y="20"/>
                      <a:pt x="42" y="20"/>
                    </a:cubicBezTo>
                    <a:cubicBezTo>
                      <a:pt x="42" y="20"/>
                      <a:pt x="42" y="17"/>
                      <a:pt x="42" y="16"/>
                    </a:cubicBezTo>
                    <a:cubicBezTo>
                      <a:pt x="42" y="16"/>
                      <a:pt x="42" y="15"/>
                      <a:pt x="43" y="15"/>
                    </a:cubicBezTo>
                    <a:cubicBezTo>
                      <a:pt x="43" y="14"/>
                      <a:pt x="43" y="14"/>
                      <a:pt x="43" y="13"/>
                    </a:cubicBezTo>
                    <a:cubicBezTo>
                      <a:pt x="43" y="12"/>
                      <a:pt x="42" y="12"/>
                      <a:pt x="41" y="12"/>
                    </a:cubicBezTo>
                    <a:cubicBezTo>
                      <a:pt x="41" y="13"/>
                      <a:pt x="39" y="13"/>
                      <a:pt x="39" y="13"/>
                    </a:cubicBezTo>
                    <a:cubicBezTo>
                      <a:pt x="38" y="13"/>
                      <a:pt x="38" y="13"/>
                      <a:pt x="38" y="12"/>
                    </a:cubicBezTo>
                    <a:cubicBezTo>
                      <a:pt x="38" y="12"/>
                      <a:pt x="37" y="9"/>
                      <a:pt x="37" y="9"/>
                    </a:cubicBezTo>
                    <a:cubicBezTo>
                      <a:pt x="36" y="8"/>
                      <a:pt x="34" y="5"/>
                      <a:pt x="34" y="5"/>
                    </a:cubicBezTo>
                    <a:cubicBezTo>
                      <a:pt x="30" y="2"/>
                      <a:pt x="30" y="2"/>
                      <a:pt x="30" y="2"/>
                    </a:cubicBezTo>
                    <a:cubicBezTo>
                      <a:pt x="30" y="2"/>
                      <a:pt x="29" y="1"/>
                      <a:pt x="28" y="1"/>
                    </a:cubicBezTo>
                    <a:cubicBezTo>
                      <a:pt x="28" y="1"/>
                      <a:pt x="27" y="1"/>
                      <a:pt x="25" y="0"/>
                    </a:cubicBezTo>
                    <a:cubicBezTo>
                      <a:pt x="24" y="0"/>
                      <a:pt x="23" y="2"/>
                      <a:pt x="23" y="2"/>
                    </a:cubicBezTo>
                    <a:cubicBezTo>
                      <a:pt x="23" y="2"/>
                      <a:pt x="23" y="3"/>
                      <a:pt x="23" y="3"/>
                    </a:cubicBezTo>
                    <a:cubicBezTo>
                      <a:pt x="22" y="3"/>
                      <a:pt x="22" y="3"/>
                      <a:pt x="22" y="4"/>
                    </a:cubicBezTo>
                    <a:cubicBezTo>
                      <a:pt x="21" y="6"/>
                      <a:pt x="23" y="8"/>
                      <a:pt x="24" y="10"/>
                    </a:cubicBezTo>
                    <a:cubicBezTo>
                      <a:pt x="25" y="11"/>
                      <a:pt x="25" y="16"/>
                      <a:pt x="24" y="17"/>
                    </a:cubicBezTo>
                    <a:cubicBezTo>
                      <a:pt x="24" y="18"/>
                      <a:pt x="25" y="19"/>
                      <a:pt x="26" y="20"/>
                    </a:cubicBezTo>
                    <a:cubicBezTo>
                      <a:pt x="26" y="20"/>
                      <a:pt x="26" y="20"/>
                      <a:pt x="26" y="20"/>
                    </a:cubicBezTo>
                    <a:cubicBezTo>
                      <a:pt x="26" y="20"/>
                      <a:pt x="25" y="21"/>
                      <a:pt x="24" y="21"/>
                    </a:cubicBezTo>
                    <a:cubicBezTo>
                      <a:pt x="24" y="21"/>
                      <a:pt x="24" y="21"/>
                      <a:pt x="24" y="21"/>
                    </a:cubicBezTo>
                    <a:cubicBezTo>
                      <a:pt x="23" y="21"/>
                      <a:pt x="21" y="20"/>
                      <a:pt x="21" y="20"/>
                    </a:cubicBezTo>
                    <a:cubicBezTo>
                      <a:pt x="20" y="20"/>
                      <a:pt x="20" y="20"/>
                      <a:pt x="19" y="20"/>
                    </a:cubicBezTo>
                    <a:cubicBezTo>
                      <a:pt x="19" y="20"/>
                      <a:pt x="19" y="20"/>
                      <a:pt x="18" y="21"/>
                    </a:cubicBezTo>
                    <a:cubicBezTo>
                      <a:pt x="17" y="21"/>
                      <a:pt x="16" y="18"/>
                      <a:pt x="16" y="18"/>
                    </a:cubicBezTo>
                    <a:cubicBezTo>
                      <a:pt x="16" y="18"/>
                      <a:pt x="16" y="16"/>
                      <a:pt x="16" y="15"/>
                    </a:cubicBezTo>
                    <a:cubicBezTo>
                      <a:pt x="14" y="16"/>
                      <a:pt x="12" y="17"/>
                      <a:pt x="11" y="17"/>
                    </a:cubicBezTo>
                    <a:cubicBezTo>
                      <a:pt x="10" y="18"/>
                      <a:pt x="9" y="20"/>
                      <a:pt x="8" y="2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14" name="Freeform 724">
                <a:extLst>
                  <a:ext uri="{FF2B5EF4-FFF2-40B4-BE49-F238E27FC236}">
                    <a16:creationId xmlns:a16="http://schemas.microsoft.com/office/drawing/2014/main" id="{09545576-D924-412C-A122-14C3144C7483}"/>
                  </a:ext>
                </a:extLst>
              </p:cNvPr>
              <p:cNvSpPr>
                <a:spLocks/>
              </p:cNvSpPr>
              <p:nvPr/>
            </p:nvSpPr>
            <p:spPr bwMode="auto">
              <a:xfrm>
                <a:off x="5682" y="2472"/>
                <a:ext cx="14" cy="11"/>
              </a:xfrm>
              <a:custGeom>
                <a:avLst/>
                <a:gdLst>
                  <a:gd name="T0" fmla="*/ 2 w 10"/>
                  <a:gd name="T1" fmla="*/ 2 h 8"/>
                  <a:gd name="T2" fmla="*/ 5 w 10"/>
                  <a:gd name="T3" fmla="*/ 4 h 8"/>
                  <a:gd name="T4" fmla="*/ 9 w 10"/>
                  <a:gd name="T5" fmla="*/ 6 h 8"/>
                  <a:gd name="T6" fmla="*/ 7 w 10"/>
                  <a:gd name="T7" fmla="*/ 4 h 8"/>
                  <a:gd name="T8" fmla="*/ 6 w 10"/>
                  <a:gd name="T9" fmla="*/ 3 h 8"/>
                  <a:gd name="T10" fmla="*/ 9 w 10"/>
                  <a:gd name="T11" fmla="*/ 3 h 8"/>
                  <a:gd name="T12" fmla="*/ 9 w 10"/>
                  <a:gd name="T13" fmla="*/ 2 h 8"/>
                  <a:gd name="T14" fmla="*/ 8 w 10"/>
                  <a:gd name="T15" fmla="*/ 0 h 8"/>
                  <a:gd name="T16" fmla="*/ 3 w 10"/>
                  <a:gd name="T17" fmla="*/ 0 h 8"/>
                  <a:gd name="T18" fmla="*/ 3 w 10"/>
                  <a:gd name="T19" fmla="*/ 1 h 8"/>
                  <a:gd name="T20" fmla="*/ 2 w 10"/>
                  <a:gd name="T21" fmla="*/ 1 h 8"/>
                  <a:gd name="T22" fmla="*/ 2 w 10"/>
                  <a:gd name="T23" fmla="*/ 2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8">
                    <a:moveTo>
                      <a:pt x="2" y="2"/>
                    </a:moveTo>
                    <a:cubicBezTo>
                      <a:pt x="3" y="3"/>
                      <a:pt x="4" y="4"/>
                      <a:pt x="5" y="4"/>
                    </a:cubicBezTo>
                    <a:cubicBezTo>
                      <a:pt x="5" y="5"/>
                      <a:pt x="9" y="8"/>
                      <a:pt x="9" y="6"/>
                    </a:cubicBezTo>
                    <a:cubicBezTo>
                      <a:pt x="9" y="5"/>
                      <a:pt x="8" y="5"/>
                      <a:pt x="7" y="4"/>
                    </a:cubicBezTo>
                    <a:cubicBezTo>
                      <a:pt x="6" y="4"/>
                      <a:pt x="3" y="1"/>
                      <a:pt x="6" y="3"/>
                    </a:cubicBezTo>
                    <a:cubicBezTo>
                      <a:pt x="8" y="4"/>
                      <a:pt x="9" y="5"/>
                      <a:pt x="9" y="3"/>
                    </a:cubicBezTo>
                    <a:cubicBezTo>
                      <a:pt x="9" y="3"/>
                      <a:pt x="8" y="2"/>
                      <a:pt x="9" y="2"/>
                    </a:cubicBezTo>
                    <a:cubicBezTo>
                      <a:pt x="10" y="1"/>
                      <a:pt x="10" y="1"/>
                      <a:pt x="8" y="0"/>
                    </a:cubicBezTo>
                    <a:cubicBezTo>
                      <a:pt x="7" y="0"/>
                      <a:pt x="4" y="0"/>
                      <a:pt x="3" y="0"/>
                    </a:cubicBezTo>
                    <a:cubicBezTo>
                      <a:pt x="2" y="0"/>
                      <a:pt x="2" y="1"/>
                      <a:pt x="3" y="1"/>
                    </a:cubicBezTo>
                    <a:cubicBezTo>
                      <a:pt x="5" y="1"/>
                      <a:pt x="2" y="1"/>
                      <a:pt x="2" y="1"/>
                    </a:cubicBezTo>
                    <a:cubicBezTo>
                      <a:pt x="1" y="0"/>
                      <a:pt x="0" y="1"/>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15" name="Freeform 725">
                <a:extLst>
                  <a:ext uri="{FF2B5EF4-FFF2-40B4-BE49-F238E27FC236}">
                    <a16:creationId xmlns:a16="http://schemas.microsoft.com/office/drawing/2014/main" id="{6819BBEB-10DA-4E96-A6C7-89E89CCF8800}"/>
                  </a:ext>
                </a:extLst>
              </p:cNvPr>
              <p:cNvSpPr>
                <a:spLocks/>
              </p:cNvSpPr>
              <p:nvPr/>
            </p:nvSpPr>
            <p:spPr bwMode="auto">
              <a:xfrm>
                <a:off x="5696" y="2464"/>
                <a:ext cx="3" cy="5"/>
              </a:xfrm>
              <a:custGeom>
                <a:avLst/>
                <a:gdLst>
                  <a:gd name="T0" fmla="*/ 1 w 2"/>
                  <a:gd name="T1" fmla="*/ 0 h 4"/>
                  <a:gd name="T2" fmla="*/ 2 w 2"/>
                  <a:gd name="T3" fmla="*/ 4 h 4"/>
                  <a:gd name="T4" fmla="*/ 1 w 2"/>
                  <a:gd name="T5" fmla="*/ 0 h 4"/>
                </a:gdLst>
                <a:ahLst/>
                <a:cxnLst>
                  <a:cxn ang="0">
                    <a:pos x="T0" y="T1"/>
                  </a:cxn>
                  <a:cxn ang="0">
                    <a:pos x="T2" y="T3"/>
                  </a:cxn>
                  <a:cxn ang="0">
                    <a:pos x="T4" y="T5"/>
                  </a:cxn>
                </a:cxnLst>
                <a:rect l="0" t="0" r="r" b="b"/>
                <a:pathLst>
                  <a:path w="2" h="4">
                    <a:moveTo>
                      <a:pt x="1" y="0"/>
                    </a:moveTo>
                    <a:cubicBezTo>
                      <a:pt x="0" y="0"/>
                      <a:pt x="1" y="3"/>
                      <a:pt x="2" y="4"/>
                    </a:cubicBezTo>
                    <a:cubicBezTo>
                      <a:pt x="2" y="4"/>
                      <a:pt x="2" y="1"/>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16" name="Freeform 726">
                <a:extLst>
                  <a:ext uri="{FF2B5EF4-FFF2-40B4-BE49-F238E27FC236}">
                    <a16:creationId xmlns:a16="http://schemas.microsoft.com/office/drawing/2014/main" id="{855B5335-B217-4D43-A5FD-CA7CCE7B10E0}"/>
                  </a:ext>
                </a:extLst>
              </p:cNvPr>
              <p:cNvSpPr>
                <a:spLocks/>
              </p:cNvSpPr>
              <p:nvPr/>
            </p:nvSpPr>
            <p:spPr bwMode="auto">
              <a:xfrm>
                <a:off x="5637" y="2468"/>
                <a:ext cx="5" cy="10"/>
              </a:xfrm>
              <a:custGeom>
                <a:avLst/>
                <a:gdLst>
                  <a:gd name="T0" fmla="*/ 1 w 4"/>
                  <a:gd name="T1" fmla="*/ 2 h 7"/>
                  <a:gd name="T2" fmla="*/ 3 w 4"/>
                  <a:gd name="T3" fmla="*/ 5 h 7"/>
                  <a:gd name="T4" fmla="*/ 3 w 4"/>
                  <a:gd name="T5" fmla="*/ 1 h 7"/>
                  <a:gd name="T6" fmla="*/ 1 w 4"/>
                  <a:gd name="T7" fmla="*/ 2 h 7"/>
                </a:gdLst>
                <a:ahLst/>
                <a:cxnLst>
                  <a:cxn ang="0">
                    <a:pos x="T0" y="T1"/>
                  </a:cxn>
                  <a:cxn ang="0">
                    <a:pos x="T2" y="T3"/>
                  </a:cxn>
                  <a:cxn ang="0">
                    <a:pos x="T4" y="T5"/>
                  </a:cxn>
                  <a:cxn ang="0">
                    <a:pos x="T6" y="T7"/>
                  </a:cxn>
                </a:cxnLst>
                <a:rect l="0" t="0" r="r" b="b"/>
                <a:pathLst>
                  <a:path w="4" h="7">
                    <a:moveTo>
                      <a:pt x="1" y="2"/>
                    </a:moveTo>
                    <a:cubicBezTo>
                      <a:pt x="2" y="4"/>
                      <a:pt x="2" y="7"/>
                      <a:pt x="3" y="5"/>
                    </a:cubicBezTo>
                    <a:cubicBezTo>
                      <a:pt x="3" y="5"/>
                      <a:pt x="4" y="0"/>
                      <a:pt x="3" y="1"/>
                    </a:cubicBezTo>
                    <a:cubicBezTo>
                      <a:pt x="1" y="1"/>
                      <a:pt x="0" y="1"/>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17" name="Freeform 727">
                <a:extLst>
                  <a:ext uri="{FF2B5EF4-FFF2-40B4-BE49-F238E27FC236}">
                    <a16:creationId xmlns:a16="http://schemas.microsoft.com/office/drawing/2014/main" id="{713981F8-127E-45AB-A9E5-22F8284AE5E8}"/>
                  </a:ext>
                </a:extLst>
              </p:cNvPr>
              <p:cNvSpPr>
                <a:spLocks/>
              </p:cNvSpPr>
              <p:nvPr/>
            </p:nvSpPr>
            <p:spPr bwMode="auto">
              <a:xfrm>
                <a:off x="5605" y="2380"/>
                <a:ext cx="109" cy="88"/>
              </a:xfrm>
              <a:custGeom>
                <a:avLst/>
                <a:gdLst>
                  <a:gd name="T0" fmla="*/ 36 w 79"/>
                  <a:gd name="T1" fmla="*/ 63 h 64"/>
                  <a:gd name="T2" fmla="*/ 40 w 79"/>
                  <a:gd name="T3" fmla="*/ 60 h 64"/>
                  <a:gd name="T4" fmla="*/ 41 w 79"/>
                  <a:gd name="T5" fmla="*/ 57 h 64"/>
                  <a:gd name="T6" fmla="*/ 43 w 79"/>
                  <a:gd name="T7" fmla="*/ 57 h 64"/>
                  <a:gd name="T8" fmla="*/ 46 w 79"/>
                  <a:gd name="T9" fmla="*/ 57 h 64"/>
                  <a:gd name="T10" fmla="*/ 51 w 79"/>
                  <a:gd name="T11" fmla="*/ 56 h 64"/>
                  <a:gd name="T12" fmla="*/ 55 w 79"/>
                  <a:gd name="T13" fmla="*/ 58 h 64"/>
                  <a:gd name="T14" fmla="*/ 57 w 79"/>
                  <a:gd name="T15" fmla="*/ 59 h 64"/>
                  <a:gd name="T16" fmla="*/ 58 w 79"/>
                  <a:gd name="T17" fmla="*/ 57 h 64"/>
                  <a:gd name="T18" fmla="*/ 54 w 79"/>
                  <a:gd name="T19" fmla="*/ 53 h 64"/>
                  <a:gd name="T20" fmla="*/ 53 w 79"/>
                  <a:gd name="T21" fmla="*/ 51 h 64"/>
                  <a:gd name="T22" fmla="*/ 52 w 79"/>
                  <a:gd name="T23" fmla="*/ 47 h 64"/>
                  <a:gd name="T24" fmla="*/ 56 w 79"/>
                  <a:gd name="T25" fmla="*/ 45 h 64"/>
                  <a:gd name="T26" fmla="*/ 61 w 79"/>
                  <a:gd name="T27" fmla="*/ 45 h 64"/>
                  <a:gd name="T28" fmla="*/ 61 w 79"/>
                  <a:gd name="T29" fmla="*/ 41 h 64"/>
                  <a:gd name="T30" fmla="*/ 71 w 79"/>
                  <a:gd name="T31" fmla="*/ 37 h 64"/>
                  <a:gd name="T32" fmla="*/ 78 w 79"/>
                  <a:gd name="T33" fmla="*/ 35 h 64"/>
                  <a:gd name="T34" fmla="*/ 78 w 79"/>
                  <a:gd name="T35" fmla="*/ 24 h 64"/>
                  <a:gd name="T36" fmla="*/ 79 w 79"/>
                  <a:gd name="T37" fmla="*/ 19 h 64"/>
                  <a:gd name="T38" fmla="*/ 76 w 79"/>
                  <a:gd name="T39" fmla="*/ 14 h 64"/>
                  <a:gd name="T40" fmla="*/ 76 w 79"/>
                  <a:gd name="T41" fmla="*/ 12 h 64"/>
                  <a:gd name="T42" fmla="*/ 75 w 79"/>
                  <a:gd name="T43" fmla="*/ 9 h 64"/>
                  <a:gd name="T44" fmla="*/ 77 w 79"/>
                  <a:gd name="T45" fmla="*/ 0 h 64"/>
                  <a:gd name="T46" fmla="*/ 69 w 79"/>
                  <a:gd name="T47" fmla="*/ 6 h 64"/>
                  <a:gd name="T48" fmla="*/ 63 w 79"/>
                  <a:gd name="T49" fmla="*/ 2 h 64"/>
                  <a:gd name="T50" fmla="*/ 57 w 79"/>
                  <a:gd name="T51" fmla="*/ 5 h 64"/>
                  <a:gd name="T52" fmla="*/ 55 w 79"/>
                  <a:gd name="T53" fmla="*/ 6 h 64"/>
                  <a:gd name="T54" fmla="*/ 56 w 79"/>
                  <a:gd name="T55" fmla="*/ 12 h 64"/>
                  <a:gd name="T56" fmla="*/ 54 w 79"/>
                  <a:gd name="T57" fmla="*/ 12 h 64"/>
                  <a:gd name="T58" fmla="*/ 52 w 79"/>
                  <a:gd name="T59" fmla="*/ 10 h 64"/>
                  <a:gd name="T60" fmla="*/ 45 w 79"/>
                  <a:gd name="T61" fmla="*/ 9 h 64"/>
                  <a:gd name="T62" fmla="*/ 42 w 79"/>
                  <a:gd name="T63" fmla="*/ 6 h 64"/>
                  <a:gd name="T64" fmla="*/ 40 w 79"/>
                  <a:gd name="T65" fmla="*/ 6 h 64"/>
                  <a:gd name="T66" fmla="*/ 38 w 79"/>
                  <a:gd name="T67" fmla="*/ 5 h 64"/>
                  <a:gd name="T68" fmla="*/ 17 w 79"/>
                  <a:gd name="T69" fmla="*/ 5 h 64"/>
                  <a:gd name="T70" fmla="*/ 13 w 79"/>
                  <a:gd name="T71" fmla="*/ 6 h 64"/>
                  <a:gd name="T72" fmla="*/ 9 w 79"/>
                  <a:gd name="T73" fmla="*/ 8 h 64"/>
                  <a:gd name="T74" fmla="*/ 6 w 79"/>
                  <a:gd name="T75" fmla="*/ 14 h 64"/>
                  <a:gd name="T76" fmla="*/ 0 w 79"/>
                  <a:gd name="T77" fmla="*/ 19 h 64"/>
                  <a:gd name="T78" fmla="*/ 1 w 79"/>
                  <a:gd name="T79" fmla="*/ 22 h 64"/>
                  <a:gd name="T80" fmla="*/ 3 w 79"/>
                  <a:gd name="T81" fmla="*/ 26 h 64"/>
                  <a:gd name="T82" fmla="*/ 3 w 79"/>
                  <a:gd name="T83" fmla="*/ 31 h 64"/>
                  <a:gd name="T84" fmla="*/ 6 w 79"/>
                  <a:gd name="T85" fmla="*/ 34 h 64"/>
                  <a:gd name="T86" fmla="*/ 7 w 79"/>
                  <a:gd name="T87" fmla="*/ 39 h 64"/>
                  <a:gd name="T88" fmla="*/ 8 w 79"/>
                  <a:gd name="T89" fmla="*/ 42 h 64"/>
                  <a:gd name="T90" fmla="*/ 11 w 79"/>
                  <a:gd name="T91" fmla="*/ 46 h 64"/>
                  <a:gd name="T92" fmla="*/ 13 w 79"/>
                  <a:gd name="T93" fmla="*/ 51 h 64"/>
                  <a:gd name="T94" fmla="*/ 15 w 79"/>
                  <a:gd name="T95" fmla="*/ 58 h 64"/>
                  <a:gd name="T96" fmla="*/ 19 w 79"/>
                  <a:gd name="T97" fmla="*/ 56 h 64"/>
                  <a:gd name="T98" fmla="*/ 19 w 79"/>
                  <a:gd name="T99" fmla="*/ 61 h 64"/>
                  <a:gd name="T100" fmla="*/ 32 w 79"/>
                  <a:gd name="T101" fmla="*/ 64 h 64"/>
                  <a:gd name="T102" fmla="*/ 35 w 79"/>
                  <a:gd name="T103" fmla="*/ 6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9" h="64">
                    <a:moveTo>
                      <a:pt x="35" y="63"/>
                    </a:moveTo>
                    <a:cubicBezTo>
                      <a:pt x="35" y="63"/>
                      <a:pt x="36" y="63"/>
                      <a:pt x="36" y="63"/>
                    </a:cubicBezTo>
                    <a:cubicBezTo>
                      <a:pt x="36" y="63"/>
                      <a:pt x="39" y="61"/>
                      <a:pt x="40" y="61"/>
                    </a:cubicBezTo>
                    <a:cubicBezTo>
                      <a:pt x="40" y="61"/>
                      <a:pt x="40" y="60"/>
                      <a:pt x="40" y="60"/>
                    </a:cubicBezTo>
                    <a:cubicBezTo>
                      <a:pt x="40" y="60"/>
                      <a:pt x="40" y="58"/>
                      <a:pt x="40" y="58"/>
                    </a:cubicBezTo>
                    <a:cubicBezTo>
                      <a:pt x="40" y="58"/>
                      <a:pt x="41" y="57"/>
                      <a:pt x="41" y="57"/>
                    </a:cubicBezTo>
                    <a:cubicBezTo>
                      <a:pt x="41" y="57"/>
                      <a:pt x="41" y="57"/>
                      <a:pt x="41" y="57"/>
                    </a:cubicBezTo>
                    <a:cubicBezTo>
                      <a:pt x="41" y="57"/>
                      <a:pt x="42" y="57"/>
                      <a:pt x="43" y="57"/>
                    </a:cubicBezTo>
                    <a:cubicBezTo>
                      <a:pt x="43" y="57"/>
                      <a:pt x="45" y="57"/>
                      <a:pt x="45" y="57"/>
                    </a:cubicBezTo>
                    <a:cubicBezTo>
                      <a:pt x="45" y="58"/>
                      <a:pt x="46" y="57"/>
                      <a:pt x="46" y="57"/>
                    </a:cubicBezTo>
                    <a:cubicBezTo>
                      <a:pt x="46" y="57"/>
                      <a:pt x="47" y="57"/>
                      <a:pt x="47" y="57"/>
                    </a:cubicBezTo>
                    <a:cubicBezTo>
                      <a:pt x="48" y="57"/>
                      <a:pt x="51" y="56"/>
                      <a:pt x="51" y="56"/>
                    </a:cubicBezTo>
                    <a:cubicBezTo>
                      <a:pt x="51" y="56"/>
                      <a:pt x="52" y="56"/>
                      <a:pt x="52" y="56"/>
                    </a:cubicBezTo>
                    <a:cubicBezTo>
                      <a:pt x="52" y="56"/>
                      <a:pt x="54" y="58"/>
                      <a:pt x="55" y="58"/>
                    </a:cubicBezTo>
                    <a:cubicBezTo>
                      <a:pt x="55" y="59"/>
                      <a:pt x="57" y="59"/>
                      <a:pt x="57" y="59"/>
                    </a:cubicBezTo>
                    <a:cubicBezTo>
                      <a:pt x="58" y="59"/>
                      <a:pt x="57" y="59"/>
                      <a:pt x="57" y="59"/>
                    </a:cubicBezTo>
                    <a:cubicBezTo>
                      <a:pt x="57" y="59"/>
                      <a:pt x="57" y="57"/>
                      <a:pt x="57" y="57"/>
                    </a:cubicBezTo>
                    <a:cubicBezTo>
                      <a:pt x="57" y="56"/>
                      <a:pt x="57" y="57"/>
                      <a:pt x="58" y="57"/>
                    </a:cubicBezTo>
                    <a:cubicBezTo>
                      <a:pt x="58" y="57"/>
                      <a:pt x="57" y="56"/>
                      <a:pt x="56" y="55"/>
                    </a:cubicBezTo>
                    <a:cubicBezTo>
                      <a:pt x="56" y="55"/>
                      <a:pt x="54" y="53"/>
                      <a:pt x="54" y="53"/>
                    </a:cubicBezTo>
                    <a:cubicBezTo>
                      <a:pt x="54" y="53"/>
                      <a:pt x="53" y="52"/>
                      <a:pt x="53" y="52"/>
                    </a:cubicBezTo>
                    <a:cubicBezTo>
                      <a:pt x="53" y="52"/>
                      <a:pt x="53" y="51"/>
                      <a:pt x="53" y="51"/>
                    </a:cubicBezTo>
                    <a:cubicBezTo>
                      <a:pt x="53" y="51"/>
                      <a:pt x="52" y="48"/>
                      <a:pt x="52" y="47"/>
                    </a:cubicBezTo>
                    <a:cubicBezTo>
                      <a:pt x="52" y="47"/>
                      <a:pt x="52" y="47"/>
                      <a:pt x="52" y="47"/>
                    </a:cubicBezTo>
                    <a:cubicBezTo>
                      <a:pt x="52" y="47"/>
                      <a:pt x="54" y="45"/>
                      <a:pt x="55" y="45"/>
                    </a:cubicBezTo>
                    <a:cubicBezTo>
                      <a:pt x="55" y="44"/>
                      <a:pt x="56" y="45"/>
                      <a:pt x="56" y="45"/>
                    </a:cubicBezTo>
                    <a:cubicBezTo>
                      <a:pt x="56" y="45"/>
                      <a:pt x="60" y="46"/>
                      <a:pt x="61" y="46"/>
                    </a:cubicBezTo>
                    <a:cubicBezTo>
                      <a:pt x="62" y="46"/>
                      <a:pt x="61" y="45"/>
                      <a:pt x="61" y="45"/>
                    </a:cubicBezTo>
                    <a:cubicBezTo>
                      <a:pt x="61" y="45"/>
                      <a:pt x="61" y="43"/>
                      <a:pt x="61" y="42"/>
                    </a:cubicBezTo>
                    <a:cubicBezTo>
                      <a:pt x="61" y="41"/>
                      <a:pt x="61" y="41"/>
                      <a:pt x="61" y="41"/>
                    </a:cubicBezTo>
                    <a:cubicBezTo>
                      <a:pt x="61" y="41"/>
                      <a:pt x="65" y="40"/>
                      <a:pt x="67" y="40"/>
                    </a:cubicBezTo>
                    <a:cubicBezTo>
                      <a:pt x="69" y="39"/>
                      <a:pt x="71" y="38"/>
                      <a:pt x="71" y="37"/>
                    </a:cubicBezTo>
                    <a:cubicBezTo>
                      <a:pt x="72" y="36"/>
                      <a:pt x="74" y="37"/>
                      <a:pt x="76" y="37"/>
                    </a:cubicBezTo>
                    <a:cubicBezTo>
                      <a:pt x="77" y="37"/>
                      <a:pt x="78" y="35"/>
                      <a:pt x="78" y="35"/>
                    </a:cubicBezTo>
                    <a:cubicBezTo>
                      <a:pt x="79" y="34"/>
                      <a:pt x="78" y="29"/>
                      <a:pt x="77" y="28"/>
                    </a:cubicBezTo>
                    <a:cubicBezTo>
                      <a:pt x="77" y="26"/>
                      <a:pt x="78" y="24"/>
                      <a:pt x="78" y="24"/>
                    </a:cubicBezTo>
                    <a:cubicBezTo>
                      <a:pt x="78" y="23"/>
                      <a:pt x="79" y="21"/>
                      <a:pt x="79" y="20"/>
                    </a:cubicBezTo>
                    <a:cubicBezTo>
                      <a:pt x="79" y="20"/>
                      <a:pt x="79" y="19"/>
                      <a:pt x="79" y="19"/>
                    </a:cubicBezTo>
                    <a:cubicBezTo>
                      <a:pt x="79" y="19"/>
                      <a:pt x="77" y="15"/>
                      <a:pt x="77" y="14"/>
                    </a:cubicBezTo>
                    <a:cubicBezTo>
                      <a:pt x="76" y="14"/>
                      <a:pt x="76" y="14"/>
                      <a:pt x="76" y="14"/>
                    </a:cubicBezTo>
                    <a:cubicBezTo>
                      <a:pt x="76" y="14"/>
                      <a:pt x="76" y="13"/>
                      <a:pt x="76" y="12"/>
                    </a:cubicBezTo>
                    <a:cubicBezTo>
                      <a:pt x="77" y="12"/>
                      <a:pt x="76" y="12"/>
                      <a:pt x="76" y="12"/>
                    </a:cubicBezTo>
                    <a:cubicBezTo>
                      <a:pt x="76" y="12"/>
                      <a:pt x="75" y="10"/>
                      <a:pt x="75" y="10"/>
                    </a:cubicBezTo>
                    <a:cubicBezTo>
                      <a:pt x="75" y="9"/>
                      <a:pt x="75" y="9"/>
                      <a:pt x="75" y="9"/>
                    </a:cubicBezTo>
                    <a:cubicBezTo>
                      <a:pt x="75" y="9"/>
                      <a:pt x="77" y="1"/>
                      <a:pt x="77" y="0"/>
                    </a:cubicBezTo>
                    <a:cubicBezTo>
                      <a:pt x="77" y="0"/>
                      <a:pt x="77" y="0"/>
                      <a:pt x="77" y="0"/>
                    </a:cubicBezTo>
                    <a:cubicBezTo>
                      <a:pt x="75" y="2"/>
                      <a:pt x="70" y="5"/>
                      <a:pt x="70" y="5"/>
                    </a:cubicBezTo>
                    <a:cubicBezTo>
                      <a:pt x="69" y="6"/>
                      <a:pt x="69" y="6"/>
                      <a:pt x="69" y="6"/>
                    </a:cubicBezTo>
                    <a:cubicBezTo>
                      <a:pt x="69" y="6"/>
                      <a:pt x="65" y="4"/>
                      <a:pt x="64" y="4"/>
                    </a:cubicBezTo>
                    <a:cubicBezTo>
                      <a:pt x="64" y="4"/>
                      <a:pt x="63" y="3"/>
                      <a:pt x="63" y="2"/>
                    </a:cubicBezTo>
                    <a:cubicBezTo>
                      <a:pt x="62" y="1"/>
                      <a:pt x="60" y="3"/>
                      <a:pt x="59" y="3"/>
                    </a:cubicBezTo>
                    <a:cubicBezTo>
                      <a:pt x="59" y="4"/>
                      <a:pt x="58" y="4"/>
                      <a:pt x="57" y="5"/>
                    </a:cubicBezTo>
                    <a:cubicBezTo>
                      <a:pt x="56" y="6"/>
                      <a:pt x="56" y="6"/>
                      <a:pt x="55" y="5"/>
                    </a:cubicBezTo>
                    <a:cubicBezTo>
                      <a:pt x="54" y="5"/>
                      <a:pt x="55" y="5"/>
                      <a:pt x="55" y="6"/>
                    </a:cubicBezTo>
                    <a:cubicBezTo>
                      <a:pt x="55" y="6"/>
                      <a:pt x="56" y="7"/>
                      <a:pt x="57" y="8"/>
                    </a:cubicBezTo>
                    <a:cubicBezTo>
                      <a:pt x="57" y="9"/>
                      <a:pt x="56" y="11"/>
                      <a:pt x="56" y="12"/>
                    </a:cubicBezTo>
                    <a:cubicBezTo>
                      <a:pt x="56" y="12"/>
                      <a:pt x="56" y="12"/>
                      <a:pt x="56" y="12"/>
                    </a:cubicBezTo>
                    <a:cubicBezTo>
                      <a:pt x="56" y="12"/>
                      <a:pt x="54" y="12"/>
                      <a:pt x="54" y="12"/>
                    </a:cubicBezTo>
                    <a:cubicBezTo>
                      <a:pt x="53" y="12"/>
                      <a:pt x="53" y="12"/>
                      <a:pt x="53" y="12"/>
                    </a:cubicBezTo>
                    <a:cubicBezTo>
                      <a:pt x="52" y="10"/>
                      <a:pt x="52" y="10"/>
                      <a:pt x="52" y="10"/>
                    </a:cubicBezTo>
                    <a:cubicBezTo>
                      <a:pt x="50" y="9"/>
                      <a:pt x="47" y="9"/>
                      <a:pt x="46" y="9"/>
                    </a:cubicBezTo>
                    <a:cubicBezTo>
                      <a:pt x="45" y="9"/>
                      <a:pt x="45" y="9"/>
                      <a:pt x="45" y="9"/>
                    </a:cubicBezTo>
                    <a:cubicBezTo>
                      <a:pt x="43" y="6"/>
                      <a:pt x="43" y="6"/>
                      <a:pt x="43" y="6"/>
                    </a:cubicBezTo>
                    <a:cubicBezTo>
                      <a:pt x="43" y="6"/>
                      <a:pt x="43" y="6"/>
                      <a:pt x="42" y="6"/>
                    </a:cubicBezTo>
                    <a:cubicBezTo>
                      <a:pt x="42" y="6"/>
                      <a:pt x="42" y="8"/>
                      <a:pt x="41" y="7"/>
                    </a:cubicBezTo>
                    <a:cubicBezTo>
                      <a:pt x="40" y="7"/>
                      <a:pt x="40" y="6"/>
                      <a:pt x="40" y="6"/>
                    </a:cubicBezTo>
                    <a:cubicBezTo>
                      <a:pt x="40" y="6"/>
                      <a:pt x="40" y="5"/>
                      <a:pt x="40" y="5"/>
                    </a:cubicBezTo>
                    <a:cubicBezTo>
                      <a:pt x="39" y="5"/>
                      <a:pt x="38" y="5"/>
                      <a:pt x="38" y="5"/>
                    </a:cubicBezTo>
                    <a:cubicBezTo>
                      <a:pt x="37" y="5"/>
                      <a:pt x="28" y="6"/>
                      <a:pt x="26" y="5"/>
                    </a:cubicBezTo>
                    <a:cubicBezTo>
                      <a:pt x="24" y="5"/>
                      <a:pt x="18" y="5"/>
                      <a:pt x="17" y="5"/>
                    </a:cubicBezTo>
                    <a:cubicBezTo>
                      <a:pt x="16" y="5"/>
                      <a:pt x="16" y="5"/>
                      <a:pt x="16" y="5"/>
                    </a:cubicBezTo>
                    <a:cubicBezTo>
                      <a:pt x="15" y="5"/>
                      <a:pt x="14" y="6"/>
                      <a:pt x="13" y="6"/>
                    </a:cubicBezTo>
                    <a:cubicBezTo>
                      <a:pt x="13" y="6"/>
                      <a:pt x="11" y="7"/>
                      <a:pt x="10" y="7"/>
                    </a:cubicBezTo>
                    <a:cubicBezTo>
                      <a:pt x="10" y="7"/>
                      <a:pt x="9" y="8"/>
                      <a:pt x="9" y="8"/>
                    </a:cubicBezTo>
                    <a:cubicBezTo>
                      <a:pt x="9" y="9"/>
                      <a:pt x="7" y="12"/>
                      <a:pt x="7" y="13"/>
                    </a:cubicBezTo>
                    <a:cubicBezTo>
                      <a:pt x="6" y="13"/>
                      <a:pt x="6" y="14"/>
                      <a:pt x="6" y="14"/>
                    </a:cubicBezTo>
                    <a:cubicBezTo>
                      <a:pt x="5" y="14"/>
                      <a:pt x="2" y="18"/>
                      <a:pt x="1" y="18"/>
                    </a:cubicBezTo>
                    <a:cubicBezTo>
                      <a:pt x="1" y="18"/>
                      <a:pt x="0" y="19"/>
                      <a:pt x="0" y="19"/>
                    </a:cubicBezTo>
                    <a:cubicBezTo>
                      <a:pt x="1" y="20"/>
                      <a:pt x="0" y="21"/>
                      <a:pt x="0" y="21"/>
                    </a:cubicBezTo>
                    <a:cubicBezTo>
                      <a:pt x="0" y="21"/>
                      <a:pt x="0" y="21"/>
                      <a:pt x="1" y="22"/>
                    </a:cubicBezTo>
                    <a:cubicBezTo>
                      <a:pt x="1" y="22"/>
                      <a:pt x="2" y="25"/>
                      <a:pt x="2" y="25"/>
                    </a:cubicBezTo>
                    <a:cubicBezTo>
                      <a:pt x="2" y="25"/>
                      <a:pt x="2" y="26"/>
                      <a:pt x="3" y="26"/>
                    </a:cubicBezTo>
                    <a:cubicBezTo>
                      <a:pt x="3" y="26"/>
                      <a:pt x="3" y="26"/>
                      <a:pt x="3" y="27"/>
                    </a:cubicBezTo>
                    <a:cubicBezTo>
                      <a:pt x="3" y="27"/>
                      <a:pt x="3" y="30"/>
                      <a:pt x="3" y="31"/>
                    </a:cubicBezTo>
                    <a:cubicBezTo>
                      <a:pt x="3" y="31"/>
                      <a:pt x="3" y="31"/>
                      <a:pt x="3" y="31"/>
                    </a:cubicBezTo>
                    <a:cubicBezTo>
                      <a:pt x="4" y="32"/>
                      <a:pt x="6" y="33"/>
                      <a:pt x="6" y="34"/>
                    </a:cubicBezTo>
                    <a:cubicBezTo>
                      <a:pt x="6" y="34"/>
                      <a:pt x="7" y="35"/>
                      <a:pt x="7" y="35"/>
                    </a:cubicBezTo>
                    <a:cubicBezTo>
                      <a:pt x="7" y="36"/>
                      <a:pt x="7" y="39"/>
                      <a:pt x="7" y="39"/>
                    </a:cubicBezTo>
                    <a:cubicBezTo>
                      <a:pt x="7" y="40"/>
                      <a:pt x="7" y="41"/>
                      <a:pt x="7" y="41"/>
                    </a:cubicBezTo>
                    <a:cubicBezTo>
                      <a:pt x="7" y="42"/>
                      <a:pt x="8" y="42"/>
                      <a:pt x="8" y="42"/>
                    </a:cubicBezTo>
                    <a:cubicBezTo>
                      <a:pt x="8" y="44"/>
                      <a:pt x="8" y="45"/>
                      <a:pt x="9" y="44"/>
                    </a:cubicBezTo>
                    <a:cubicBezTo>
                      <a:pt x="10" y="44"/>
                      <a:pt x="11" y="45"/>
                      <a:pt x="11" y="46"/>
                    </a:cubicBezTo>
                    <a:cubicBezTo>
                      <a:pt x="10" y="47"/>
                      <a:pt x="10" y="47"/>
                      <a:pt x="11" y="48"/>
                    </a:cubicBezTo>
                    <a:cubicBezTo>
                      <a:pt x="12" y="48"/>
                      <a:pt x="13" y="49"/>
                      <a:pt x="13" y="51"/>
                    </a:cubicBezTo>
                    <a:cubicBezTo>
                      <a:pt x="12" y="52"/>
                      <a:pt x="11" y="53"/>
                      <a:pt x="12" y="56"/>
                    </a:cubicBezTo>
                    <a:cubicBezTo>
                      <a:pt x="13" y="58"/>
                      <a:pt x="14" y="58"/>
                      <a:pt x="15" y="58"/>
                    </a:cubicBezTo>
                    <a:cubicBezTo>
                      <a:pt x="17" y="57"/>
                      <a:pt x="17" y="56"/>
                      <a:pt x="18" y="55"/>
                    </a:cubicBezTo>
                    <a:cubicBezTo>
                      <a:pt x="18" y="54"/>
                      <a:pt x="19" y="54"/>
                      <a:pt x="19" y="56"/>
                    </a:cubicBezTo>
                    <a:cubicBezTo>
                      <a:pt x="20" y="58"/>
                      <a:pt x="21" y="59"/>
                      <a:pt x="20" y="60"/>
                    </a:cubicBezTo>
                    <a:cubicBezTo>
                      <a:pt x="19" y="61"/>
                      <a:pt x="18" y="61"/>
                      <a:pt x="19" y="61"/>
                    </a:cubicBezTo>
                    <a:cubicBezTo>
                      <a:pt x="19" y="62"/>
                      <a:pt x="19" y="62"/>
                      <a:pt x="20" y="62"/>
                    </a:cubicBezTo>
                    <a:cubicBezTo>
                      <a:pt x="21" y="62"/>
                      <a:pt x="30" y="62"/>
                      <a:pt x="32" y="64"/>
                    </a:cubicBezTo>
                    <a:cubicBezTo>
                      <a:pt x="32" y="64"/>
                      <a:pt x="33" y="63"/>
                      <a:pt x="34" y="63"/>
                    </a:cubicBezTo>
                    <a:cubicBezTo>
                      <a:pt x="34" y="63"/>
                      <a:pt x="35" y="63"/>
                      <a:pt x="35" y="6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18" name="Freeform 728">
                <a:extLst>
                  <a:ext uri="{FF2B5EF4-FFF2-40B4-BE49-F238E27FC236}">
                    <a16:creationId xmlns:a16="http://schemas.microsoft.com/office/drawing/2014/main" id="{F2487352-FD93-47F9-9D56-10C04BBCC07D}"/>
                  </a:ext>
                </a:extLst>
              </p:cNvPr>
              <p:cNvSpPr>
                <a:spLocks/>
              </p:cNvSpPr>
              <p:nvPr/>
            </p:nvSpPr>
            <p:spPr bwMode="auto">
              <a:xfrm>
                <a:off x="5700" y="2251"/>
                <a:ext cx="3" cy="3"/>
              </a:xfrm>
              <a:custGeom>
                <a:avLst/>
                <a:gdLst>
                  <a:gd name="T0" fmla="*/ 2 w 2"/>
                  <a:gd name="T1" fmla="*/ 2 h 2"/>
                  <a:gd name="T2" fmla="*/ 1 w 2"/>
                  <a:gd name="T3" fmla="*/ 0 h 2"/>
                  <a:gd name="T4" fmla="*/ 2 w 2"/>
                  <a:gd name="T5" fmla="*/ 2 h 2"/>
                </a:gdLst>
                <a:ahLst/>
                <a:cxnLst>
                  <a:cxn ang="0">
                    <a:pos x="T0" y="T1"/>
                  </a:cxn>
                  <a:cxn ang="0">
                    <a:pos x="T2" y="T3"/>
                  </a:cxn>
                  <a:cxn ang="0">
                    <a:pos x="T4" y="T5"/>
                  </a:cxn>
                </a:cxnLst>
                <a:rect l="0" t="0" r="r" b="b"/>
                <a:pathLst>
                  <a:path w="2" h="2">
                    <a:moveTo>
                      <a:pt x="2" y="2"/>
                    </a:moveTo>
                    <a:cubicBezTo>
                      <a:pt x="2" y="2"/>
                      <a:pt x="2" y="0"/>
                      <a:pt x="1" y="0"/>
                    </a:cubicBezTo>
                    <a:cubicBezTo>
                      <a:pt x="0" y="0"/>
                      <a:pt x="0" y="1"/>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19" name="Freeform 729">
                <a:extLst>
                  <a:ext uri="{FF2B5EF4-FFF2-40B4-BE49-F238E27FC236}">
                    <a16:creationId xmlns:a16="http://schemas.microsoft.com/office/drawing/2014/main" id="{2272D49B-FC2C-4D9D-A688-A04E485717C6}"/>
                  </a:ext>
                </a:extLst>
              </p:cNvPr>
              <p:cNvSpPr>
                <a:spLocks/>
              </p:cNvSpPr>
              <p:nvPr/>
            </p:nvSpPr>
            <p:spPr bwMode="auto">
              <a:xfrm>
                <a:off x="5706" y="2243"/>
                <a:ext cx="10" cy="4"/>
              </a:xfrm>
              <a:custGeom>
                <a:avLst/>
                <a:gdLst>
                  <a:gd name="T0" fmla="*/ 5 w 7"/>
                  <a:gd name="T1" fmla="*/ 0 h 3"/>
                  <a:gd name="T2" fmla="*/ 4 w 7"/>
                  <a:gd name="T3" fmla="*/ 2 h 3"/>
                  <a:gd name="T4" fmla="*/ 5 w 7"/>
                  <a:gd name="T5" fmla="*/ 0 h 3"/>
                </a:gdLst>
                <a:ahLst/>
                <a:cxnLst>
                  <a:cxn ang="0">
                    <a:pos x="T0" y="T1"/>
                  </a:cxn>
                  <a:cxn ang="0">
                    <a:pos x="T2" y="T3"/>
                  </a:cxn>
                  <a:cxn ang="0">
                    <a:pos x="T4" y="T5"/>
                  </a:cxn>
                </a:cxnLst>
                <a:rect l="0" t="0" r="r" b="b"/>
                <a:pathLst>
                  <a:path w="7" h="3">
                    <a:moveTo>
                      <a:pt x="5" y="0"/>
                    </a:moveTo>
                    <a:cubicBezTo>
                      <a:pt x="4" y="0"/>
                      <a:pt x="0" y="3"/>
                      <a:pt x="4" y="2"/>
                    </a:cubicBezTo>
                    <a:cubicBezTo>
                      <a:pt x="4" y="2"/>
                      <a:pt x="7" y="0"/>
                      <a:pt x="5"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20" name="Freeform 730">
                <a:extLst>
                  <a:ext uri="{FF2B5EF4-FFF2-40B4-BE49-F238E27FC236}">
                    <a16:creationId xmlns:a16="http://schemas.microsoft.com/office/drawing/2014/main" id="{474F094B-A043-42BD-BAD2-44DCA29504B1}"/>
                  </a:ext>
                </a:extLst>
              </p:cNvPr>
              <p:cNvSpPr>
                <a:spLocks/>
              </p:cNvSpPr>
              <p:nvPr/>
            </p:nvSpPr>
            <p:spPr bwMode="auto">
              <a:xfrm>
                <a:off x="5710" y="2246"/>
                <a:ext cx="3" cy="4"/>
              </a:xfrm>
              <a:custGeom>
                <a:avLst/>
                <a:gdLst>
                  <a:gd name="T0" fmla="*/ 0 w 2"/>
                  <a:gd name="T1" fmla="*/ 3 h 3"/>
                  <a:gd name="T2" fmla="*/ 2 w 2"/>
                  <a:gd name="T3" fmla="*/ 1 h 3"/>
                  <a:gd name="T4" fmla="*/ 0 w 2"/>
                  <a:gd name="T5" fmla="*/ 3 h 3"/>
                </a:gdLst>
                <a:ahLst/>
                <a:cxnLst>
                  <a:cxn ang="0">
                    <a:pos x="T0" y="T1"/>
                  </a:cxn>
                  <a:cxn ang="0">
                    <a:pos x="T2" y="T3"/>
                  </a:cxn>
                  <a:cxn ang="0">
                    <a:pos x="T4" y="T5"/>
                  </a:cxn>
                </a:cxnLst>
                <a:rect l="0" t="0" r="r" b="b"/>
                <a:pathLst>
                  <a:path w="2" h="3">
                    <a:moveTo>
                      <a:pt x="0" y="3"/>
                    </a:moveTo>
                    <a:cubicBezTo>
                      <a:pt x="0" y="3"/>
                      <a:pt x="2" y="2"/>
                      <a:pt x="2" y="1"/>
                    </a:cubicBezTo>
                    <a:cubicBezTo>
                      <a:pt x="2" y="0"/>
                      <a:pt x="0" y="2"/>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21" name="Freeform 731">
                <a:extLst>
                  <a:ext uri="{FF2B5EF4-FFF2-40B4-BE49-F238E27FC236}">
                    <a16:creationId xmlns:a16="http://schemas.microsoft.com/office/drawing/2014/main" id="{E7D84A00-1996-45F1-823B-CEE711C1428C}"/>
                  </a:ext>
                </a:extLst>
              </p:cNvPr>
              <p:cNvSpPr>
                <a:spLocks/>
              </p:cNvSpPr>
              <p:nvPr/>
            </p:nvSpPr>
            <p:spPr bwMode="auto">
              <a:xfrm>
                <a:off x="5601" y="2196"/>
                <a:ext cx="152" cy="310"/>
              </a:xfrm>
              <a:custGeom>
                <a:avLst/>
                <a:gdLst>
                  <a:gd name="T0" fmla="*/ 78 w 110"/>
                  <a:gd name="T1" fmla="*/ 144 h 226"/>
                  <a:gd name="T2" fmla="*/ 80 w 110"/>
                  <a:gd name="T3" fmla="*/ 148 h 226"/>
                  <a:gd name="T4" fmla="*/ 80 w 110"/>
                  <a:gd name="T5" fmla="*/ 162 h 226"/>
                  <a:gd name="T6" fmla="*/ 70 w 110"/>
                  <a:gd name="T7" fmla="*/ 174 h 226"/>
                  <a:gd name="T8" fmla="*/ 64 w 110"/>
                  <a:gd name="T9" fmla="*/ 180 h 226"/>
                  <a:gd name="T10" fmla="*/ 55 w 110"/>
                  <a:gd name="T11" fmla="*/ 181 h 226"/>
                  <a:gd name="T12" fmla="*/ 59 w 110"/>
                  <a:gd name="T13" fmla="*/ 189 h 226"/>
                  <a:gd name="T14" fmla="*/ 60 w 110"/>
                  <a:gd name="T15" fmla="*/ 193 h 226"/>
                  <a:gd name="T16" fmla="*/ 50 w 110"/>
                  <a:gd name="T17" fmla="*/ 191 h 226"/>
                  <a:gd name="T18" fmla="*/ 44 w 110"/>
                  <a:gd name="T19" fmla="*/ 191 h 226"/>
                  <a:gd name="T20" fmla="*/ 43 w 110"/>
                  <a:gd name="T21" fmla="*/ 195 h 226"/>
                  <a:gd name="T22" fmla="*/ 35 w 110"/>
                  <a:gd name="T23" fmla="*/ 198 h 226"/>
                  <a:gd name="T24" fmla="*/ 40 w 110"/>
                  <a:gd name="T25" fmla="*/ 213 h 226"/>
                  <a:gd name="T26" fmla="*/ 42 w 110"/>
                  <a:gd name="T27" fmla="*/ 226 h 226"/>
                  <a:gd name="T28" fmla="*/ 58 w 110"/>
                  <a:gd name="T29" fmla="*/ 206 h 226"/>
                  <a:gd name="T30" fmla="*/ 49 w 110"/>
                  <a:gd name="T31" fmla="*/ 195 h 226"/>
                  <a:gd name="T32" fmla="*/ 69 w 110"/>
                  <a:gd name="T33" fmla="*/ 200 h 226"/>
                  <a:gd name="T34" fmla="*/ 77 w 110"/>
                  <a:gd name="T35" fmla="*/ 199 h 226"/>
                  <a:gd name="T36" fmla="*/ 105 w 110"/>
                  <a:gd name="T37" fmla="*/ 177 h 226"/>
                  <a:gd name="T38" fmla="*/ 107 w 110"/>
                  <a:gd name="T39" fmla="*/ 166 h 226"/>
                  <a:gd name="T40" fmla="*/ 106 w 110"/>
                  <a:gd name="T41" fmla="*/ 144 h 226"/>
                  <a:gd name="T42" fmla="*/ 92 w 110"/>
                  <a:gd name="T43" fmla="*/ 112 h 226"/>
                  <a:gd name="T44" fmla="*/ 77 w 110"/>
                  <a:gd name="T45" fmla="*/ 102 h 226"/>
                  <a:gd name="T46" fmla="*/ 65 w 110"/>
                  <a:gd name="T47" fmla="*/ 87 h 226"/>
                  <a:gd name="T48" fmla="*/ 53 w 110"/>
                  <a:gd name="T49" fmla="*/ 67 h 226"/>
                  <a:gd name="T50" fmla="*/ 66 w 110"/>
                  <a:gd name="T51" fmla="*/ 47 h 226"/>
                  <a:gd name="T52" fmla="*/ 72 w 110"/>
                  <a:gd name="T53" fmla="*/ 39 h 226"/>
                  <a:gd name="T54" fmla="*/ 87 w 110"/>
                  <a:gd name="T55" fmla="*/ 29 h 226"/>
                  <a:gd name="T56" fmla="*/ 77 w 110"/>
                  <a:gd name="T57" fmla="*/ 28 h 226"/>
                  <a:gd name="T58" fmla="*/ 68 w 110"/>
                  <a:gd name="T59" fmla="*/ 21 h 226"/>
                  <a:gd name="T60" fmla="*/ 70 w 110"/>
                  <a:gd name="T61" fmla="*/ 10 h 226"/>
                  <a:gd name="T62" fmla="*/ 59 w 110"/>
                  <a:gd name="T63" fmla="*/ 8 h 226"/>
                  <a:gd name="T64" fmla="*/ 49 w 110"/>
                  <a:gd name="T65" fmla="*/ 2 h 226"/>
                  <a:gd name="T66" fmla="*/ 42 w 110"/>
                  <a:gd name="T67" fmla="*/ 4 h 226"/>
                  <a:gd name="T68" fmla="*/ 32 w 110"/>
                  <a:gd name="T69" fmla="*/ 9 h 226"/>
                  <a:gd name="T70" fmla="*/ 23 w 110"/>
                  <a:gd name="T71" fmla="*/ 10 h 226"/>
                  <a:gd name="T72" fmla="*/ 18 w 110"/>
                  <a:gd name="T73" fmla="*/ 10 h 226"/>
                  <a:gd name="T74" fmla="*/ 15 w 110"/>
                  <a:gd name="T75" fmla="*/ 14 h 226"/>
                  <a:gd name="T76" fmla="*/ 9 w 110"/>
                  <a:gd name="T77" fmla="*/ 11 h 226"/>
                  <a:gd name="T78" fmla="*/ 1 w 110"/>
                  <a:gd name="T79" fmla="*/ 16 h 226"/>
                  <a:gd name="T80" fmla="*/ 8 w 110"/>
                  <a:gd name="T81" fmla="*/ 26 h 226"/>
                  <a:gd name="T82" fmla="*/ 13 w 110"/>
                  <a:gd name="T83" fmla="*/ 29 h 226"/>
                  <a:gd name="T84" fmla="*/ 16 w 110"/>
                  <a:gd name="T85" fmla="*/ 40 h 226"/>
                  <a:gd name="T86" fmla="*/ 24 w 110"/>
                  <a:gd name="T87" fmla="*/ 42 h 226"/>
                  <a:gd name="T88" fmla="*/ 32 w 110"/>
                  <a:gd name="T89" fmla="*/ 39 h 226"/>
                  <a:gd name="T90" fmla="*/ 36 w 110"/>
                  <a:gd name="T91" fmla="*/ 45 h 226"/>
                  <a:gd name="T92" fmla="*/ 41 w 110"/>
                  <a:gd name="T93" fmla="*/ 49 h 226"/>
                  <a:gd name="T94" fmla="*/ 38 w 110"/>
                  <a:gd name="T95" fmla="*/ 58 h 226"/>
                  <a:gd name="T96" fmla="*/ 28 w 110"/>
                  <a:gd name="T97" fmla="*/ 58 h 226"/>
                  <a:gd name="T98" fmla="*/ 27 w 110"/>
                  <a:gd name="T99" fmla="*/ 64 h 226"/>
                  <a:gd name="T100" fmla="*/ 45 w 110"/>
                  <a:gd name="T101" fmla="*/ 78 h 226"/>
                  <a:gd name="T102" fmla="*/ 57 w 110"/>
                  <a:gd name="T103" fmla="*/ 91 h 226"/>
                  <a:gd name="T104" fmla="*/ 66 w 110"/>
                  <a:gd name="T105" fmla="*/ 100 h 226"/>
                  <a:gd name="T106" fmla="*/ 71 w 110"/>
                  <a:gd name="T107" fmla="*/ 107 h 226"/>
                  <a:gd name="T108" fmla="*/ 75 w 110"/>
                  <a:gd name="T109" fmla="*/ 111 h 226"/>
                  <a:gd name="T110" fmla="*/ 77 w 110"/>
                  <a:gd name="T111" fmla="*/ 116 h 226"/>
                  <a:gd name="T112" fmla="*/ 82 w 110"/>
                  <a:gd name="T113" fmla="*/ 124 h 226"/>
                  <a:gd name="T114" fmla="*/ 80 w 110"/>
                  <a:gd name="T115" fmla="*/ 13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0" h="226">
                    <a:moveTo>
                      <a:pt x="80" y="134"/>
                    </a:moveTo>
                    <a:cubicBezTo>
                      <a:pt x="80" y="134"/>
                      <a:pt x="80" y="134"/>
                      <a:pt x="80" y="134"/>
                    </a:cubicBezTo>
                    <a:cubicBezTo>
                      <a:pt x="80" y="135"/>
                      <a:pt x="78" y="143"/>
                      <a:pt x="78" y="143"/>
                    </a:cubicBezTo>
                    <a:cubicBezTo>
                      <a:pt x="78" y="143"/>
                      <a:pt x="78" y="143"/>
                      <a:pt x="78" y="144"/>
                    </a:cubicBezTo>
                    <a:cubicBezTo>
                      <a:pt x="78" y="144"/>
                      <a:pt x="79" y="146"/>
                      <a:pt x="79" y="146"/>
                    </a:cubicBezTo>
                    <a:cubicBezTo>
                      <a:pt x="79" y="146"/>
                      <a:pt x="80" y="146"/>
                      <a:pt x="79" y="146"/>
                    </a:cubicBezTo>
                    <a:cubicBezTo>
                      <a:pt x="79" y="147"/>
                      <a:pt x="79" y="148"/>
                      <a:pt x="79" y="148"/>
                    </a:cubicBezTo>
                    <a:cubicBezTo>
                      <a:pt x="79" y="148"/>
                      <a:pt x="79" y="148"/>
                      <a:pt x="80" y="148"/>
                    </a:cubicBezTo>
                    <a:cubicBezTo>
                      <a:pt x="80" y="149"/>
                      <a:pt x="82" y="153"/>
                      <a:pt x="82" y="153"/>
                    </a:cubicBezTo>
                    <a:cubicBezTo>
                      <a:pt x="82" y="153"/>
                      <a:pt x="82" y="154"/>
                      <a:pt x="82" y="154"/>
                    </a:cubicBezTo>
                    <a:cubicBezTo>
                      <a:pt x="82" y="155"/>
                      <a:pt x="81" y="157"/>
                      <a:pt x="81" y="158"/>
                    </a:cubicBezTo>
                    <a:cubicBezTo>
                      <a:pt x="81" y="158"/>
                      <a:pt x="80" y="160"/>
                      <a:pt x="80" y="162"/>
                    </a:cubicBezTo>
                    <a:cubicBezTo>
                      <a:pt x="81" y="163"/>
                      <a:pt x="82" y="168"/>
                      <a:pt x="81" y="169"/>
                    </a:cubicBezTo>
                    <a:cubicBezTo>
                      <a:pt x="81" y="169"/>
                      <a:pt x="80" y="171"/>
                      <a:pt x="79" y="171"/>
                    </a:cubicBezTo>
                    <a:cubicBezTo>
                      <a:pt x="77" y="171"/>
                      <a:pt x="75" y="170"/>
                      <a:pt x="74" y="171"/>
                    </a:cubicBezTo>
                    <a:cubicBezTo>
                      <a:pt x="74" y="172"/>
                      <a:pt x="72" y="173"/>
                      <a:pt x="70" y="174"/>
                    </a:cubicBezTo>
                    <a:cubicBezTo>
                      <a:pt x="68" y="174"/>
                      <a:pt x="64" y="175"/>
                      <a:pt x="64" y="175"/>
                    </a:cubicBezTo>
                    <a:cubicBezTo>
                      <a:pt x="64" y="175"/>
                      <a:pt x="64" y="175"/>
                      <a:pt x="64" y="176"/>
                    </a:cubicBezTo>
                    <a:cubicBezTo>
                      <a:pt x="64" y="177"/>
                      <a:pt x="64" y="179"/>
                      <a:pt x="64" y="179"/>
                    </a:cubicBezTo>
                    <a:cubicBezTo>
                      <a:pt x="64" y="179"/>
                      <a:pt x="65" y="180"/>
                      <a:pt x="64" y="180"/>
                    </a:cubicBezTo>
                    <a:cubicBezTo>
                      <a:pt x="63" y="180"/>
                      <a:pt x="59" y="179"/>
                      <a:pt x="59" y="179"/>
                    </a:cubicBezTo>
                    <a:cubicBezTo>
                      <a:pt x="59" y="179"/>
                      <a:pt x="58" y="178"/>
                      <a:pt x="58" y="179"/>
                    </a:cubicBezTo>
                    <a:cubicBezTo>
                      <a:pt x="57" y="179"/>
                      <a:pt x="55" y="181"/>
                      <a:pt x="55" y="181"/>
                    </a:cubicBezTo>
                    <a:cubicBezTo>
                      <a:pt x="55" y="181"/>
                      <a:pt x="55" y="181"/>
                      <a:pt x="55" y="181"/>
                    </a:cubicBezTo>
                    <a:cubicBezTo>
                      <a:pt x="55" y="182"/>
                      <a:pt x="56" y="185"/>
                      <a:pt x="56" y="185"/>
                    </a:cubicBezTo>
                    <a:cubicBezTo>
                      <a:pt x="56" y="185"/>
                      <a:pt x="56" y="186"/>
                      <a:pt x="56" y="186"/>
                    </a:cubicBezTo>
                    <a:cubicBezTo>
                      <a:pt x="56" y="186"/>
                      <a:pt x="57" y="187"/>
                      <a:pt x="57" y="187"/>
                    </a:cubicBezTo>
                    <a:cubicBezTo>
                      <a:pt x="57" y="187"/>
                      <a:pt x="59" y="189"/>
                      <a:pt x="59" y="189"/>
                    </a:cubicBezTo>
                    <a:cubicBezTo>
                      <a:pt x="60" y="190"/>
                      <a:pt x="61" y="191"/>
                      <a:pt x="61" y="191"/>
                    </a:cubicBezTo>
                    <a:cubicBezTo>
                      <a:pt x="60" y="191"/>
                      <a:pt x="60" y="190"/>
                      <a:pt x="60" y="191"/>
                    </a:cubicBezTo>
                    <a:cubicBezTo>
                      <a:pt x="60" y="191"/>
                      <a:pt x="60" y="193"/>
                      <a:pt x="60" y="193"/>
                    </a:cubicBezTo>
                    <a:cubicBezTo>
                      <a:pt x="60" y="193"/>
                      <a:pt x="61" y="193"/>
                      <a:pt x="60" y="193"/>
                    </a:cubicBezTo>
                    <a:cubicBezTo>
                      <a:pt x="60" y="193"/>
                      <a:pt x="58" y="193"/>
                      <a:pt x="58" y="192"/>
                    </a:cubicBezTo>
                    <a:cubicBezTo>
                      <a:pt x="57" y="192"/>
                      <a:pt x="55" y="190"/>
                      <a:pt x="55" y="190"/>
                    </a:cubicBezTo>
                    <a:cubicBezTo>
                      <a:pt x="55" y="190"/>
                      <a:pt x="54" y="190"/>
                      <a:pt x="54" y="190"/>
                    </a:cubicBezTo>
                    <a:cubicBezTo>
                      <a:pt x="54" y="190"/>
                      <a:pt x="51" y="191"/>
                      <a:pt x="50" y="191"/>
                    </a:cubicBezTo>
                    <a:cubicBezTo>
                      <a:pt x="50" y="191"/>
                      <a:pt x="49" y="191"/>
                      <a:pt x="49" y="191"/>
                    </a:cubicBezTo>
                    <a:cubicBezTo>
                      <a:pt x="49" y="191"/>
                      <a:pt x="48" y="192"/>
                      <a:pt x="48" y="191"/>
                    </a:cubicBezTo>
                    <a:cubicBezTo>
                      <a:pt x="48" y="191"/>
                      <a:pt x="46" y="191"/>
                      <a:pt x="46" y="191"/>
                    </a:cubicBezTo>
                    <a:cubicBezTo>
                      <a:pt x="45" y="191"/>
                      <a:pt x="44" y="191"/>
                      <a:pt x="44" y="191"/>
                    </a:cubicBezTo>
                    <a:cubicBezTo>
                      <a:pt x="44" y="191"/>
                      <a:pt x="44" y="191"/>
                      <a:pt x="44" y="191"/>
                    </a:cubicBezTo>
                    <a:cubicBezTo>
                      <a:pt x="44" y="191"/>
                      <a:pt x="43" y="192"/>
                      <a:pt x="43" y="192"/>
                    </a:cubicBezTo>
                    <a:cubicBezTo>
                      <a:pt x="43" y="192"/>
                      <a:pt x="43" y="194"/>
                      <a:pt x="43" y="194"/>
                    </a:cubicBezTo>
                    <a:cubicBezTo>
                      <a:pt x="43" y="194"/>
                      <a:pt x="43" y="195"/>
                      <a:pt x="43" y="195"/>
                    </a:cubicBezTo>
                    <a:cubicBezTo>
                      <a:pt x="42" y="195"/>
                      <a:pt x="39" y="197"/>
                      <a:pt x="39" y="197"/>
                    </a:cubicBezTo>
                    <a:cubicBezTo>
                      <a:pt x="39" y="197"/>
                      <a:pt x="38" y="197"/>
                      <a:pt x="38" y="197"/>
                    </a:cubicBezTo>
                    <a:cubicBezTo>
                      <a:pt x="38" y="197"/>
                      <a:pt x="37" y="197"/>
                      <a:pt x="37" y="197"/>
                    </a:cubicBezTo>
                    <a:cubicBezTo>
                      <a:pt x="36" y="197"/>
                      <a:pt x="35" y="198"/>
                      <a:pt x="35" y="198"/>
                    </a:cubicBezTo>
                    <a:cubicBezTo>
                      <a:pt x="35" y="199"/>
                      <a:pt x="35" y="199"/>
                      <a:pt x="35" y="199"/>
                    </a:cubicBezTo>
                    <a:cubicBezTo>
                      <a:pt x="36" y="202"/>
                      <a:pt x="37" y="203"/>
                      <a:pt x="40" y="204"/>
                    </a:cubicBezTo>
                    <a:cubicBezTo>
                      <a:pt x="43" y="205"/>
                      <a:pt x="46" y="205"/>
                      <a:pt x="43" y="207"/>
                    </a:cubicBezTo>
                    <a:cubicBezTo>
                      <a:pt x="41" y="208"/>
                      <a:pt x="40" y="210"/>
                      <a:pt x="40" y="213"/>
                    </a:cubicBezTo>
                    <a:cubicBezTo>
                      <a:pt x="41" y="217"/>
                      <a:pt x="40" y="220"/>
                      <a:pt x="40" y="221"/>
                    </a:cubicBezTo>
                    <a:cubicBezTo>
                      <a:pt x="40" y="221"/>
                      <a:pt x="40" y="224"/>
                      <a:pt x="41" y="224"/>
                    </a:cubicBezTo>
                    <a:cubicBezTo>
                      <a:pt x="42" y="225"/>
                      <a:pt x="41" y="225"/>
                      <a:pt x="41" y="225"/>
                    </a:cubicBezTo>
                    <a:cubicBezTo>
                      <a:pt x="41" y="226"/>
                      <a:pt x="41" y="226"/>
                      <a:pt x="42" y="226"/>
                    </a:cubicBezTo>
                    <a:cubicBezTo>
                      <a:pt x="43" y="226"/>
                      <a:pt x="46" y="224"/>
                      <a:pt x="48" y="222"/>
                    </a:cubicBezTo>
                    <a:cubicBezTo>
                      <a:pt x="49" y="221"/>
                      <a:pt x="51" y="218"/>
                      <a:pt x="54" y="217"/>
                    </a:cubicBezTo>
                    <a:cubicBezTo>
                      <a:pt x="56" y="216"/>
                      <a:pt x="61" y="215"/>
                      <a:pt x="59" y="212"/>
                    </a:cubicBezTo>
                    <a:cubicBezTo>
                      <a:pt x="58" y="210"/>
                      <a:pt x="54" y="204"/>
                      <a:pt x="58" y="206"/>
                    </a:cubicBezTo>
                    <a:cubicBezTo>
                      <a:pt x="61" y="209"/>
                      <a:pt x="64" y="212"/>
                      <a:pt x="66" y="211"/>
                    </a:cubicBezTo>
                    <a:cubicBezTo>
                      <a:pt x="67" y="210"/>
                      <a:pt x="68" y="208"/>
                      <a:pt x="63" y="206"/>
                    </a:cubicBezTo>
                    <a:cubicBezTo>
                      <a:pt x="59" y="203"/>
                      <a:pt x="52" y="199"/>
                      <a:pt x="50" y="198"/>
                    </a:cubicBezTo>
                    <a:cubicBezTo>
                      <a:pt x="49" y="198"/>
                      <a:pt x="47" y="195"/>
                      <a:pt x="49" y="195"/>
                    </a:cubicBezTo>
                    <a:cubicBezTo>
                      <a:pt x="51" y="196"/>
                      <a:pt x="52" y="197"/>
                      <a:pt x="53" y="198"/>
                    </a:cubicBezTo>
                    <a:cubicBezTo>
                      <a:pt x="54" y="199"/>
                      <a:pt x="57" y="201"/>
                      <a:pt x="60" y="201"/>
                    </a:cubicBezTo>
                    <a:cubicBezTo>
                      <a:pt x="62" y="200"/>
                      <a:pt x="64" y="200"/>
                      <a:pt x="66" y="200"/>
                    </a:cubicBezTo>
                    <a:cubicBezTo>
                      <a:pt x="67" y="201"/>
                      <a:pt x="70" y="201"/>
                      <a:pt x="69" y="200"/>
                    </a:cubicBezTo>
                    <a:cubicBezTo>
                      <a:pt x="68" y="199"/>
                      <a:pt x="67" y="198"/>
                      <a:pt x="68" y="198"/>
                    </a:cubicBezTo>
                    <a:cubicBezTo>
                      <a:pt x="69" y="197"/>
                      <a:pt x="69" y="196"/>
                      <a:pt x="69" y="196"/>
                    </a:cubicBezTo>
                    <a:cubicBezTo>
                      <a:pt x="69" y="195"/>
                      <a:pt x="69" y="195"/>
                      <a:pt x="71" y="196"/>
                    </a:cubicBezTo>
                    <a:cubicBezTo>
                      <a:pt x="72" y="196"/>
                      <a:pt x="75" y="200"/>
                      <a:pt x="77" y="199"/>
                    </a:cubicBezTo>
                    <a:cubicBezTo>
                      <a:pt x="79" y="198"/>
                      <a:pt x="92" y="191"/>
                      <a:pt x="95" y="189"/>
                    </a:cubicBezTo>
                    <a:cubicBezTo>
                      <a:pt x="98" y="187"/>
                      <a:pt x="100" y="185"/>
                      <a:pt x="101" y="184"/>
                    </a:cubicBezTo>
                    <a:cubicBezTo>
                      <a:pt x="102" y="183"/>
                      <a:pt x="103" y="181"/>
                      <a:pt x="104" y="180"/>
                    </a:cubicBezTo>
                    <a:cubicBezTo>
                      <a:pt x="105" y="180"/>
                      <a:pt x="106" y="179"/>
                      <a:pt x="105" y="177"/>
                    </a:cubicBezTo>
                    <a:cubicBezTo>
                      <a:pt x="104" y="175"/>
                      <a:pt x="104" y="173"/>
                      <a:pt x="105" y="173"/>
                    </a:cubicBezTo>
                    <a:cubicBezTo>
                      <a:pt x="106" y="174"/>
                      <a:pt x="106" y="175"/>
                      <a:pt x="106" y="173"/>
                    </a:cubicBezTo>
                    <a:cubicBezTo>
                      <a:pt x="106" y="172"/>
                      <a:pt x="104" y="169"/>
                      <a:pt x="106" y="168"/>
                    </a:cubicBezTo>
                    <a:cubicBezTo>
                      <a:pt x="107" y="168"/>
                      <a:pt x="107" y="168"/>
                      <a:pt x="107" y="166"/>
                    </a:cubicBezTo>
                    <a:cubicBezTo>
                      <a:pt x="106" y="164"/>
                      <a:pt x="107" y="164"/>
                      <a:pt x="108" y="163"/>
                    </a:cubicBezTo>
                    <a:cubicBezTo>
                      <a:pt x="109" y="163"/>
                      <a:pt x="110" y="162"/>
                      <a:pt x="109" y="160"/>
                    </a:cubicBezTo>
                    <a:cubicBezTo>
                      <a:pt x="108" y="158"/>
                      <a:pt x="106" y="150"/>
                      <a:pt x="106" y="148"/>
                    </a:cubicBezTo>
                    <a:cubicBezTo>
                      <a:pt x="107" y="147"/>
                      <a:pt x="107" y="145"/>
                      <a:pt x="106" y="144"/>
                    </a:cubicBezTo>
                    <a:cubicBezTo>
                      <a:pt x="106" y="142"/>
                      <a:pt x="102" y="130"/>
                      <a:pt x="102" y="129"/>
                    </a:cubicBezTo>
                    <a:cubicBezTo>
                      <a:pt x="101" y="127"/>
                      <a:pt x="102" y="126"/>
                      <a:pt x="100" y="125"/>
                    </a:cubicBezTo>
                    <a:cubicBezTo>
                      <a:pt x="99" y="123"/>
                      <a:pt x="93" y="117"/>
                      <a:pt x="93" y="115"/>
                    </a:cubicBezTo>
                    <a:cubicBezTo>
                      <a:pt x="92" y="114"/>
                      <a:pt x="93" y="111"/>
                      <a:pt x="92" y="112"/>
                    </a:cubicBezTo>
                    <a:cubicBezTo>
                      <a:pt x="91" y="113"/>
                      <a:pt x="90" y="113"/>
                      <a:pt x="90" y="112"/>
                    </a:cubicBezTo>
                    <a:cubicBezTo>
                      <a:pt x="90" y="110"/>
                      <a:pt x="89" y="111"/>
                      <a:pt x="88" y="110"/>
                    </a:cubicBezTo>
                    <a:cubicBezTo>
                      <a:pt x="87" y="109"/>
                      <a:pt x="82" y="107"/>
                      <a:pt x="81" y="106"/>
                    </a:cubicBezTo>
                    <a:cubicBezTo>
                      <a:pt x="80" y="105"/>
                      <a:pt x="79" y="103"/>
                      <a:pt x="77" y="102"/>
                    </a:cubicBezTo>
                    <a:cubicBezTo>
                      <a:pt x="75" y="101"/>
                      <a:pt x="74" y="100"/>
                      <a:pt x="74" y="99"/>
                    </a:cubicBezTo>
                    <a:cubicBezTo>
                      <a:pt x="74" y="98"/>
                      <a:pt x="73" y="96"/>
                      <a:pt x="71" y="95"/>
                    </a:cubicBezTo>
                    <a:cubicBezTo>
                      <a:pt x="70" y="95"/>
                      <a:pt x="61" y="86"/>
                      <a:pt x="64" y="88"/>
                    </a:cubicBezTo>
                    <a:cubicBezTo>
                      <a:pt x="67" y="89"/>
                      <a:pt x="65" y="87"/>
                      <a:pt x="65" y="87"/>
                    </a:cubicBezTo>
                    <a:cubicBezTo>
                      <a:pt x="65" y="86"/>
                      <a:pt x="65" y="86"/>
                      <a:pt x="65" y="85"/>
                    </a:cubicBezTo>
                    <a:cubicBezTo>
                      <a:pt x="65" y="84"/>
                      <a:pt x="65" y="84"/>
                      <a:pt x="64" y="83"/>
                    </a:cubicBezTo>
                    <a:cubicBezTo>
                      <a:pt x="63" y="83"/>
                      <a:pt x="55" y="75"/>
                      <a:pt x="54" y="73"/>
                    </a:cubicBezTo>
                    <a:cubicBezTo>
                      <a:pt x="53" y="72"/>
                      <a:pt x="52" y="68"/>
                      <a:pt x="53" y="67"/>
                    </a:cubicBezTo>
                    <a:cubicBezTo>
                      <a:pt x="54" y="65"/>
                      <a:pt x="56" y="63"/>
                      <a:pt x="55" y="62"/>
                    </a:cubicBezTo>
                    <a:cubicBezTo>
                      <a:pt x="55" y="60"/>
                      <a:pt x="56" y="57"/>
                      <a:pt x="57" y="56"/>
                    </a:cubicBezTo>
                    <a:cubicBezTo>
                      <a:pt x="58" y="55"/>
                      <a:pt x="61" y="50"/>
                      <a:pt x="63" y="50"/>
                    </a:cubicBezTo>
                    <a:cubicBezTo>
                      <a:pt x="65" y="49"/>
                      <a:pt x="66" y="49"/>
                      <a:pt x="66" y="47"/>
                    </a:cubicBezTo>
                    <a:cubicBezTo>
                      <a:pt x="67" y="46"/>
                      <a:pt x="66" y="43"/>
                      <a:pt x="68" y="43"/>
                    </a:cubicBezTo>
                    <a:cubicBezTo>
                      <a:pt x="69" y="42"/>
                      <a:pt x="69" y="42"/>
                      <a:pt x="69" y="41"/>
                    </a:cubicBezTo>
                    <a:cubicBezTo>
                      <a:pt x="69" y="40"/>
                      <a:pt x="67" y="38"/>
                      <a:pt x="69" y="39"/>
                    </a:cubicBezTo>
                    <a:cubicBezTo>
                      <a:pt x="71" y="40"/>
                      <a:pt x="71" y="40"/>
                      <a:pt x="72" y="39"/>
                    </a:cubicBezTo>
                    <a:cubicBezTo>
                      <a:pt x="72" y="39"/>
                      <a:pt x="73" y="38"/>
                      <a:pt x="74" y="38"/>
                    </a:cubicBezTo>
                    <a:cubicBezTo>
                      <a:pt x="75" y="39"/>
                      <a:pt x="77" y="39"/>
                      <a:pt x="78" y="38"/>
                    </a:cubicBezTo>
                    <a:cubicBezTo>
                      <a:pt x="78" y="37"/>
                      <a:pt x="78" y="35"/>
                      <a:pt x="79" y="34"/>
                    </a:cubicBezTo>
                    <a:cubicBezTo>
                      <a:pt x="80" y="34"/>
                      <a:pt x="86" y="30"/>
                      <a:pt x="87" y="29"/>
                    </a:cubicBezTo>
                    <a:cubicBezTo>
                      <a:pt x="87" y="29"/>
                      <a:pt x="87" y="29"/>
                      <a:pt x="87" y="29"/>
                    </a:cubicBezTo>
                    <a:cubicBezTo>
                      <a:pt x="85" y="29"/>
                      <a:pt x="81" y="28"/>
                      <a:pt x="80" y="28"/>
                    </a:cubicBezTo>
                    <a:cubicBezTo>
                      <a:pt x="79" y="27"/>
                      <a:pt x="79" y="28"/>
                      <a:pt x="78" y="28"/>
                    </a:cubicBezTo>
                    <a:cubicBezTo>
                      <a:pt x="78" y="28"/>
                      <a:pt x="77" y="28"/>
                      <a:pt x="77" y="28"/>
                    </a:cubicBezTo>
                    <a:cubicBezTo>
                      <a:pt x="77" y="28"/>
                      <a:pt x="74" y="24"/>
                      <a:pt x="73" y="24"/>
                    </a:cubicBezTo>
                    <a:cubicBezTo>
                      <a:pt x="73" y="23"/>
                      <a:pt x="71" y="23"/>
                      <a:pt x="71" y="23"/>
                    </a:cubicBezTo>
                    <a:cubicBezTo>
                      <a:pt x="70" y="23"/>
                      <a:pt x="69" y="23"/>
                      <a:pt x="68" y="23"/>
                    </a:cubicBezTo>
                    <a:cubicBezTo>
                      <a:pt x="68" y="22"/>
                      <a:pt x="68" y="22"/>
                      <a:pt x="68" y="21"/>
                    </a:cubicBezTo>
                    <a:cubicBezTo>
                      <a:pt x="68" y="21"/>
                      <a:pt x="68" y="19"/>
                      <a:pt x="67" y="18"/>
                    </a:cubicBezTo>
                    <a:cubicBezTo>
                      <a:pt x="67" y="17"/>
                      <a:pt x="66" y="16"/>
                      <a:pt x="66" y="16"/>
                    </a:cubicBezTo>
                    <a:cubicBezTo>
                      <a:pt x="66" y="16"/>
                      <a:pt x="66" y="15"/>
                      <a:pt x="66" y="15"/>
                    </a:cubicBezTo>
                    <a:cubicBezTo>
                      <a:pt x="66" y="15"/>
                      <a:pt x="69" y="11"/>
                      <a:pt x="70" y="10"/>
                    </a:cubicBezTo>
                    <a:cubicBezTo>
                      <a:pt x="70" y="10"/>
                      <a:pt x="70" y="10"/>
                      <a:pt x="69" y="10"/>
                    </a:cubicBezTo>
                    <a:cubicBezTo>
                      <a:pt x="69" y="10"/>
                      <a:pt x="68" y="9"/>
                      <a:pt x="68" y="9"/>
                    </a:cubicBezTo>
                    <a:cubicBezTo>
                      <a:pt x="68" y="8"/>
                      <a:pt x="67" y="8"/>
                      <a:pt x="67" y="8"/>
                    </a:cubicBezTo>
                    <a:cubicBezTo>
                      <a:pt x="67" y="8"/>
                      <a:pt x="60" y="8"/>
                      <a:pt x="59" y="8"/>
                    </a:cubicBezTo>
                    <a:cubicBezTo>
                      <a:pt x="58" y="9"/>
                      <a:pt x="55" y="8"/>
                      <a:pt x="54" y="7"/>
                    </a:cubicBezTo>
                    <a:cubicBezTo>
                      <a:pt x="53" y="6"/>
                      <a:pt x="52" y="6"/>
                      <a:pt x="51" y="5"/>
                    </a:cubicBezTo>
                    <a:cubicBezTo>
                      <a:pt x="51" y="5"/>
                      <a:pt x="51" y="4"/>
                      <a:pt x="51" y="4"/>
                    </a:cubicBezTo>
                    <a:cubicBezTo>
                      <a:pt x="50" y="3"/>
                      <a:pt x="49" y="2"/>
                      <a:pt x="49" y="2"/>
                    </a:cubicBezTo>
                    <a:cubicBezTo>
                      <a:pt x="48" y="2"/>
                      <a:pt x="48" y="1"/>
                      <a:pt x="48" y="1"/>
                    </a:cubicBezTo>
                    <a:cubicBezTo>
                      <a:pt x="48" y="0"/>
                      <a:pt x="46" y="1"/>
                      <a:pt x="46" y="2"/>
                    </a:cubicBezTo>
                    <a:cubicBezTo>
                      <a:pt x="45" y="2"/>
                      <a:pt x="44" y="3"/>
                      <a:pt x="43" y="3"/>
                    </a:cubicBezTo>
                    <a:cubicBezTo>
                      <a:pt x="43" y="3"/>
                      <a:pt x="43" y="3"/>
                      <a:pt x="42" y="4"/>
                    </a:cubicBezTo>
                    <a:cubicBezTo>
                      <a:pt x="42" y="5"/>
                      <a:pt x="40" y="8"/>
                      <a:pt x="39" y="8"/>
                    </a:cubicBezTo>
                    <a:cubicBezTo>
                      <a:pt x="39" y="9"/>
                      <a:pt x="34" y="11"/>
                      <a:pt x="34" y="11"/>
                    </a:cubicBezTo>
                    <a:cubicBezTo>
                      <a:pt x="33" y="11"/>
                      <a:pt x="33" y="11"/>
                      <a:pt x="33" y="11"/>
                    </a:cubicBezTo>
                    <a:cubicBezTo>
                      <a:pt x="33" y="11"/>
                      <a:pt x="32" y="10"/>
                      <a:pt x="32" y="9"/>
                    </a:cubicBezTo>
                    <a:cubicBezTo>
                      <a:pt x="32" y="9"/>
                      <a:pt x="32" y="9"/>
                      <a:pt x="32" y="9"/>
                    </a:cubicBezTo>
                    <a:cubicBezTo>
                      <a:pt x="32" y="9"/>
                      <a:pt x="28" y="13"/>
                      <a:pt x="28" y="14"/>
                    </a:cubicBezTo>
                    <a:cubicBezTo>
                      <a:pt x="28" y="14"/>
                      <a:pt x="27" y="14"/>
                      <a:pt x="27" y="14"/>
                    </a:cubicBezTo>
                    <a:cubicBezTo>
                      <a:pt x="27" y="14"/>
                      <a:pt x="24" y="11"/>
                      <a:pt x="23" y="10"/>
                    </a:cubicBezTo>
                    <a:cubicBezTo>
                      <a:pt x="23" y="10"/>
                      <a:pt x="22" y="11"/>
                      <a:pt x="22" y="11"/>
                    </a:cubicBezTo>
                    <a:cubicBezTo>
                      <a:pt x="22" y="12"/>
                      <a:pt x="21" y="12"/>
                      <a:pt x="21" y="13"/>
                    </a:cubicBezTo>
                    <a:cubicBezTo>
                      <a:pt x="21" y="13"/>
                      <a:pt x="20" y="11"/>
                      <a:pt x="20" y="11"/>
                    </a:cubicBezTo>
                    <a:cubicBezTo>
                      <a:pt x="19" y="10"/>
                      <a:pt x="19" y="10"/>
                      <a:pt x="18" y="10"/>
                    </a:cubicBezTo>
                    <a:cubicBezTo>
                      <a:pt x="18" y="10"/>
                      <a:pt x="18" y="11"/>
                      <a:pt x="17" y="11"/>
                    </a:cubicBezTo>
                    <a:cubicBezTo>
                      <a:pt x="17" y="12"/>
                      <a:pt x="17" y="12"/>
                      <a:pt x="16" y="12"/>
                    </a:cubicBezTo>
                    <a:cubicBezTo>
                      <a:pt x="16" y="12"/>
                      <a:pt x="16" y="13"/>
                      <a:pt x="16" y="13"/>
                    </a:cubicBezTo>
                    <a:cubicBezTo>
                      <a:pt x="16" y="14"/>
                      <a:pt x="15" y="14"/>
                      <a:pt x="15" y="14"/>
                    </a:cubicBezTo>
                    <a:cubicBezTo>
                      <a:pt x="15" y="14"/>
                      <a:pt x="14" y="14"/>
                      <a:pt x="14" y="15"/>
                    </a:cubicBezTo>
                    <a:cubicBezTo>
                      <a:pt x="14" y="15"/>
                      <a:pt x="14" y="15"/>
                      <a:pt x="13" y="15"/>
                    </a:cubicBezTo>
                    <a:cubicBezTo>
                      <a:pt x="13" y="15"/>
                      <a:pt x="11" y="13"/>
                      <a:pt x="11" y="13"/>
                    </a:cubicBezTo>
                    <a:cubicBezTo>
                      <a:pt x="11" y="12"/>
                      <a:pt x="9" y="12"/>
                      <a:pt x="9" y="11"/>
                    </a:cubicBezTo>
                    <a:cubicBezTo>
                      <a:pt x="8" y="11"/>
                      <a:pt x="7" y="11"/>
                      <a:pt x="6" y="10"/>
                    </a:cubicBezTo>
                    <a:cubicBezTo>
                      <a:pt x="5" y="10"/>
                      <a:pt x="4" y="12"/>
                      <a:pt x="4" y="12"/>
                    </a:cubicBezTo>
                    <a:cubicBezTo>
                      <a:pt x="4" y="13"/>
                      <a:pt x="3" y="13"/>
                      <a:pt x="3" y="14"/>
                    </a:cubicBezTo>
                    <a:cubicBezTo>
                      <a:pt x="2" y="14"/>
                      <a:pt x="1" y="15"/>
                      <a:pt x="1" y="16"/>
                    </a:cubicBezTo>
                    <a:cubicBezTo>
                      <a:pt x="1" y="16"/>
                      <a:pt x="0" y="16"/>
                      <a:pt x="0" y="16"/>
                    </a:cubicBezTo>
                    <a:cubicBezTo>
                      <a:pt x="4" y="19"/>
                      <a:pt x="4" y="19"/>
                      <a:pt x="4" y="19"/>
                    </a:cubicBezTo>
                    <a:cubicBezTo>
                      <a:pt x="4" y="19"/>
                      <a:pt x="6" y="22"/>
                      <a:pt x="7" y="23"/>
                    </a:cubicBezTo>
                    <a:cubicBezTo>
                      <a:pt x="7" y="23"/>
                      <a:pt x="8" y="26"/>
                      <a:pt x="8" y="26"/>
                    </a:cubicBezTo>
                    <a:cubicBezTo>
                      <a:pt x="8" y="27"/>
                      <a:pt x="8" y="27"/>
                      <a:pt x="9" y="27"/>
                    </a:cubicBezTo>
                    <a:cubicBezTo>
                      <a:pt x="9" y="27"/>
                      <a:pt x="11" y="27"/>
                      <a:pt x="11" y="26"/>
                    </a:cubicBezTo>
                    <a:cubicBezTo>
                      <a:pt x="12" y="26"/>
                      <a:pt x="13" y="26"/>
                      <a:pt x="13" y="27"/>
                    </a:cubicBezTo>
                    <a:cubicBezTo>
                      <a:pt x="13" y="28"/>
                      <a:pt x="13" y="28"/>
                      <a:pt x="13" y="29"/>
                    </a:cubicBezTo>
                    <a:cubicBezTo>
                      <a:pt x="12" y="29"/>
                      <a:pt x="12" y="30"/>
                      <a:pt x="12" y="30"/>
                    </a:cubicBezTo>
                    <a:cubicBezTo>
                      <a:pt x="12" y="31"/>
                      <a:pt x="12" y="34"/>
                      <a:pt x="12" y="34"/>
                    </a:cubicBezTo>
                    <a:cubicBezTo>
                      <a:pt x="12" y="34"/>
                      <a:pt x="12" y="35"/>
                      <a:pt x="12" y="35"/>
                    </a:cubicBezTo>
                    <a:cubicBezTo>
                      <a:pt x="12" y="36"/>
                      <a:pt x="16" y="40"/>
                      <a:pt x="16" y="40"/>
                    </a:cubicBezTo>
                    <a:cubicBezTo>
                      <a:pt x="16" y="40"/>
                      <a:pt x="16" y="40"/>
                      <a:pt x="17" y="40"/>
                    </a:cubicBezTo>
                    <a:cubicBezTo>
                      <a:pt x="17" y="40"/>
                      <a:pt x="17" y="40"/>
                      <a:pt x="18" y="40"/>
                    </a:cubicBezTo>
                    <a:cubicBezTo>
                      <a:pt x="18" y="41"/>
                      <a:pt x="22" y="43"/>
                      <a:pt x="23" y="43"/>
                    </a:cubicBezTo>
                    <a:cubicBezTo>
                      <a:pt x="23" y="43"/>
                      <a:pt x="24" y="43"/>
                      <a:pt x="24" y="42"/>
                    </a:cubicBezTo>
                    <a:cubicBezTo>
                      <a:pt x="24" y="42"/>
                      <a:pt x="25" y="41"/>
                      <a:pt x="25" y="41"/>
                    </a:cubicBezTo>
                    <a:cubicBezTo>
                      <a:pt x="25" y="40"/>
                      <a:pt x="26" y="40"/>
                      <a:pt x="26" y="40"/>
                    </a:cubicBezTo>
                    <a:cubicBezTo>
                      <a:pt x="27" y="39"/>
                      <a:pt x="28" y="39"/>
                      <a:pt x="28" y="39"/>
                    </a:cubicBezTo>
                    <a:cubicBezTo>
                      <a:pt x="28" y="38"/>
                      <a:pt x="31" y="38"/>
                      <a:pt x="32" y="39"/>
                    </a:cubicBezTo>
                    <a:cubicBezTo>
                      <a:pt x="33" y="40"/>
                      <a:pt x="37" y="43"/>
                      <a:pt x="37" y="43"/>
                    </a:cubicBezTo>
                    <a:cubicBezTo>
                      <a:pt x="37" y="43"/>
                      <a:pt x="38" y="43"/>
                      <a:pt x="37" y="43"/>
                    </a:cubicBezTo>
                    <a:cubicBezTo>
                      <a:pt x="37" y="44"/>
                      <a:pt x="37" y="45"/>
                      <a:pt x="37" y="45"/>
                    </a:cubicBezTo>
                    <a:cubicBezTo>
                      <a:pt x="37" y="45"/>
                      <a:pt x="36" y="45"/>
                      <a:pt x="36" y="45"/>
                    </a:cubicBezTo>
                    <a:cubicBezTo>
                      <a:pt x="35" y="45"/>
                      <a:pt x="34" y="45"/>
                      <a:pt x="34" y="46"/>
                    </a:cubicBezTo>
                    <a:cubicBezTo>
                      <a:pt x="33" y="46"/>
                      <a:pt x="33" y="46"/>
                      <a:pt x="34" y="46"/>
                    </a:cubicBezTo>
                    <a:cubicBezTo>
                      <a:pt x="35" y="46"/>
                      <a:pt x="37" y="47"/>
                      <a:pt x="38" y="47"/>
                    </a:cubicBezTo>
                    <a:cubicBezTo>
                      <a:pt x="39" y="48"/>
                      <a:pt x="40" y="49"/>
                      <a:pt x="41" y="49"/>
                    </a:cubicBezTo>
                    <a:cubicBezTo>
                      <a:pt x="41" y="50"/>
                      <a:pt x="42" y="50"/>
                      <a:pt x="42" y="52"/>
                    </a:cubicBezTo>
                    <a:cubicBezTo>
                      <a:pt x="42" y="53"/>
                      <a:pt x="42" y="53"/>
                      <a:pt x="42" y="54"/>
                    </a:cubicBezTo>
                    <a:cubicBezTo>
                      <a:pt x="42" y="54"/>
                      <a:pt x="39" y="57"/>
                      <a:pt x="38" y="57"/>
                    </a:cubicBezTo>
                    <a:cubicBezTo>
                      <a:pt x="38" y="58"/>
                      <a:pt x="38" y="58"/>
                      <a:pt x="38" y="58"/>
                    </a:cubicBezTo>
                    <a:cubicBezTo>
                      <a:pt x="38" y="58"/>
                      <a:pt x="38" y="59"/>
                      <a:pt x="37" y="59"/>
                    </a:cubicBezTo>
                    <a:cubicBezTo>
                      <a:pt x="36" y="59"/>
                      <a:pt x="32" y="58"/>
                      <a:pt x="31" y="58"/>
                    </a:cubicBezTo>
                    <a:cubicBezTo>
                      <a:pt x="31" y="58"/>
                      <a:pt x="30" y="58"/>
                      <a:pt x="29" y="58"/>
                    </a:cubicBezTo>
                    <a:cubicBezTo>
                      <a:pt x="29" y="58"/>
                      <a:pt x="29" y="58"/>
                      <a:pt x="28" y="58"/>
                    </a:cubicBezTo>
                    <a:cubicBezTo>
                      <a:pt x="28" y="59"/>
                      <a:pt x="28" y="59"/>
                      <a:pt x="28" y="60"/>
                    </a:cubicBezTo>
                    <a:cubicBezTo>
                      <a:pt x="28" y="61"/>
                      <a:pt x="29" y="62"/>
                      <a:pt x="28" y="63"/>
                    </a:cubicBezTo>
                    <a:cubicBezTo>
                      <a:pt x="27" y="63"/>
                      <a:pt x="27" y="63"/>
                      <a:pt x="27" y="63"/>
                    </a:cubicBezTo>
                    <a:cubicBezTo>
                      <a:pt x="27" y="63"/>
                      <a:pt x="26" y="64"/>
                      <a:pt x="27" y="64"/>
                    </a:cubicBezTo>
                    <a:cubicBezTo>
                      <a:pt x="27" y="64"/>
                      <a:pt x="36" y="69"/>
                      <a:pt x="37" y="70"/>
                    </a:cubicBezTo>
                    <a:cubicBezTo>
                      <a:pt x="38" y="70"/>
                      <a:pt x="45" y="74"/>
                      <a:pt x="45" y="74"/>
                    </a:cubicBezTo>
                    <a:cubicBezTo>
                      <a:pt x="45" y="74"/>
                      <a:pt x="46" y="74"/>
                      <a:pt x="46" y="75"/>
                    </a:cubicBezTo>
                    <a:cubicBezTo>
                      <a:pt x="45" y="75"/>
                      <a:pt x="44" y="76"/>
                      <a:pt x="45" y="78"/>
                    </a:cubicBezTo>
                    <a:cubicBezTo>
                      <a:pt x="45" y="79"/>
                      <a:pt x="47" y="81"/>
                      <a:pt x="48" y="81"/>
                    </a:cubicBezTo>
                    <a:cubicBezTo>
                      <a:pt x="49" y="82"/>
                      <a:pt x="52" y="84"/>
                      <a:pt x="52" y="84"/>
                    </a:cubicBezTo>
                    <a:cubicBezTo>
                      <a:pt x="52" y="84"/>
                      <a:pt x="52" y="84"/>
                      <a:pt x="52" y="85"/>
                    </a:cubicBezTo>
                    <a:cubicBezTo>
                      <a:pt x="52" y="85"/>
                      <a:pt x="53" y="89"/>
                      <a:pt x="57" y="91"/>
                    </a:cubicBezTo>
                    <a:cubicBezTo>
                      <a:pt x="60" y="93"/>
                      <a:pt x="63" y="95"/>
                      <a:pt x="64" y="98"/>
                    </a:cubicBezTo>
                    <a:cubicBezTo>
                      <a:pt x="64" y="98"/>
                      <a:pt x="64" y="99"/>
                      <a:pt x="64" y="99"/>
                    </a:cubicBezTo>
                    <a:cubicBezTo>
                      <a:pt x="65" y="99"/>
                      <a:pt x="66" y="100"/>
                      <a:pt x="66" y="100"/>
                    </a:cubicBezTo>
                    <a:cubicBezTo>
                      <a:pt x="66" y="100"/>
                      <a:pt x="66" y="100"/>
                      <a:pt x="66" y="100"/>
                    </a:cubicBezTo>
                    <a:cubicBezTo>
                      <a:pt x="66" y="101"/>
                      <a:pt x="66" y="103"/>
                      <a:pt x="66" y="104"/>
                    </a:cubicBezTo>
                    <a:cubicBezTo>
                      <a:pt x="67" y="105"/>
                      <a:pt x="68" y="108"/>
                      <a:pt x="68" y="107"/>
                    </a:cubicBezTo>
                    <a:cubicBezTo>
                      <a:pt x="69" y="107"/>
                      <a:pt x="70" y="107"/>
                      <a:pt x="70" y="107"/>
                    </a:cubicBezTo>
                    <a:cubicBezTo>
                      <a:pt x="70" y="107"/>
                      <a:pt x="70" y="106"/>
                      <a:pt x="71" y="107"/>
                    </a:cubicBezTo>
                    <a:cubicBezTo>
                      <a:pt x="71" y="107"/>
                      <a:pt x="72" y="109"/>
                      <a:pt x="72" y="109"/>
                    </a:cubicBezTo>
                    <a:cubicBezTo>
                      <a:pt x="72" y="110"/>
                      <a:pt x="72" y="110"/>
                      <a:pt x="73" y="110"/>
                    </a:cubicBezTo>
                    <a:cubicBezTo>
                      <a:pt x="73" y="110"/>
                      <a:pt x="74" y="110"/>
                      <a:pt x="74" y="110"/>
                    </a:cubicBezTo>
                    <a:cubicBezTo>
                      <a:pt x="74" y="110"/>
                      <a:pt x="75" y="111"/>
                      <a:pt x="75" y="111"/>
                    </a:cubicBezTo>
                    <a:cubicBezTo>
                      <a:pt x="76" y="111"/>
                      <a:pt x="79" y="113"/>
                      <a:pt x="79" y="114"/>
                    </a:cubicBezTo>
                    <a:cubicBezTo>
                      <a:pt x="80" y="114"/>
                      <a:pt x="80" y="114"/>
                      <a:pt x="79" y="115"/>
                    </a:cubicBezTo>
                    <a:cubicBezTo>
                      <a:pt x="79" y="115"/>
                      <a:pt x="78" y="116"/>
                      <a:pt x="78" y="116"/>
                    </a:cubicBezTo>
                    <a:cubicBezTo>
                      <a:pt x="77" y="116"/>
                      <a:pt x="77" y="116"/>
                      <a:pt x="77" y="116"/>
                    </a:cubicBezTo>
                    <a:cubicBezTo>
                      <a:pt x="76" y="117"/>
                      <a:pt x="76" y="117"/>
                      <a:pt x="76" y="117"/>
                    </a:cubicBezTo>
                    <a:cubicBezTo>
                      <a:pt x="76" y="117"/>
                      <a:pt x="75" y="117"/>
                      <a:pt x="75" y="118"/>
                    </a:cubicBezTo>
                    <a:cubicBezTo>
                      <a:pt x="75" y="118"/>
                      <a:pt x="79" y="122"/>
                      <a:pt x="81" y="123"/>
                    </a:cubicBezTo>
                    <a:cubicBezTo>
                      <a:pt x="81" y="123"/>
                      <a:pt x="82" y="123"/>
                      <a:pt x="82" y="124"/>
                    </a:cubicBezTo>
                    <a:cubicBezTo>
                      <a:pt x="82" y="124"/>
                      <a:pt x="82" y="125"/>
                      <a:pt x="82" y="126"/>
                    </a:cubicBezTo>
                    <a:cubicBezTo>
                      <a:pt x="82" y="126"/>
                      <a:pt x="83" y="126"/>
                      <a:pt x="82" y="127"/>
                    </a:cubicBezTo>
                    <a:cubicBezTo>
                      <a:pt x="82" y="127"/>
                      <a:pt x="80" y="129"/>
                      <a:pt x="80" y="129"/>
                    </a:cubicBezTo>
                    <a:cubicBezTo>
                      <a:pt x="80" y="129"/>
                      <a:pt x="80" y="130"/>
                      <a:pt x="80" y="130"/>
                    </a:cubicBezTo>
                    <a:cubicBezTo>
                      <a:pt x="80" y="130"/>
                      <a:pt x="80" y="133"/>
                      <a:pt x="80" y="133"/>
                    </a:cubicBezTo>
                    <a:cubicBezTo>
                      <a:pt x="80" y="133"/>
                      <a:pt x="80" y="134"/>
                      <a:pt x="80" y="13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22" name="Freeform 732">
                <a:extLst>
                  <a:ext uri="{FF2B5EF4-FFF2-40B4-BE49-F238E27FC236}">
                    <a16:creationId xmlns:a16="http://schemas.microsoft.com/office/drawing/2014/main" id="{E0BD0A41-F428-4D58-B6BB-C2D79A6511AB}"/>
                  </a:ext>
                </a:extLst>
              </p:cNvPr>
              <p:cNvSpPr>
                <a:spLocks/>
              </p:cNvSpPr>
              <p:nvPr/>
            </p:nvSpPr>
            <p:spPr bwMode="auto">
              <a:xfrm>
                <a:off x="5555" y="2486"/>
                <a:ext cx="6" cy="4"/>
              </a:xfrm>
              <a:custGeom>
                <a:avLst/>
                <a:gdLst>
                  <a:gd name="T0" fmla="*/ 2 w 4"/>
                  <a:gd name="T1" fmla="*/ 0 h 3"/>
                  <a:gd name="T2" fmla="*/ 1 w 4"/>
                  <a:gd name="T3" fmla="*/ 2 h 3"/>
                  <a:gd name="T4" fmla="*/ 3 w 4"/>
                  <a:gd name="T5" fmla="*/ 2 h 3"/>
                  <a:gd name="T6" fmla="*/ 2 w 4"/>
                  <a:gd name="T7" fmla="*/ 0 h 3"/>
                </a:gdLst>
                <a:ahLst/>
                <a:cxnLst>
                  <a:cxn ang="0">
                    <a:pos x="T0" y="T1"/>
                  </a:cxn>
                  <a:cxn ang="0">
                    <a:pos x="T2" y="T3"/>
                  </a:cxn>
                  <a:cxn ang="0">
                    <a:pos x="T4" y="T5"/>
                  </a:cxn>
                  <a:cxn ang="0">
                    <a:pos x="T6" y="T7"/>
                  </a:cxn>
                </a:cxnLst>
                <a:rect l="0" t="0" r="r" b="b"/>
                <a:pathLst>
                  <a:path w="4" h="3">
                    <a:moveTo>
                      <a:pt x="2" y="0"/>
                    </a:moveTo>
                    <a:cubicBezTo>
                      <a:pt x="0" y="1"/>
                      <a:pt x="0" y="1"/>
                      <a:pt x="1" y="2"/>
                    </a:cubicBezTo>
                    <a:cubicBezTo>
                      <a:pt x="2" y="3"/>
                      <a:pt x="2" y="3"/>
                      <a:pt x="3" y="2"/>
                    </a:cubicBezTo>
                    <a:cubicBezTo>
                      <a:pt x="3" y="2"/>
                      <a:pt x="4"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23" name="Freeform 733">
                <a:extLst>
                  <a:ext uri="{FF2B5EF4-FFF2-40B4-BE49-F238E27FC236}">
                    <a16:creationId xmlns:a16="http://schemas.microsoft.com/office/drawing/2014/main" id="{FFB945CF-35D7-4D21-AC08-E09F95643FE5}"/>
                  </a:ext>
                </a:extLst>
              </p:cNvPr>
              <p:cNvSpPr>
                <a:spLocks/>
              </p:cNvSpPr>
              <p:nvPr/>
            </p:nvSpPr>
            <p:spPr bwMode="auto">
              <a:xfrm>
                <a:off x="5557" y="2480"/>
                <a:ext cx="2" cy="4"/>
              </a:xfrm>
              <a:custGeom>
                <a:avLst/>
                <a:gdLst>
                  <a:gd name="T0" fmla="*/ 2 w 2"/>
                  <a:gd name="T1" fmla="*/ 3 h 3"/>
                  <a:gd name="T2" fmla="*/ 1 w 2"/>
                  <a:gd name="T3" fmla="*/ 1 h 3"/>
                  <a:gd name="T4" fmla="*/ 2 w 2"/>
                  <a:gd name="T5" fmla="*/ 3 h 3"/>
                </a:gdLst>
                <a:ahLst/>
                <a:cxnLst>
                  <a:cxn ang="0">
                    <a:pos x="T0" y="T1"/>
                  </a:cxn>
                  <a:cxn ang="0">
                    <a:pos x="T2" y="T3"/>
                  </a:cxn>
                  <a:cxn ang="0">
                    <a:pos x="T4" y="T5"/>
                  </a:cxn>
                </a:cxnLst>
                <a:rect l="0" t="0" r="r" b="b"/>
                <a:pathLst>
                  <a:path w="2" h="3">
                    <a:moveTo>
                      <a:pt x="2" y="3"/>
                    </a:moveTo>
                    <a:cubicBezTo>
                      <a:pt x="2" y="3"/>
                      <a:pt x="0" y="0"/>
                      <a:pt x="1" y="1"/>
                    </a:cubicBezTo>
                    <a:cubicBezTo>
                      <a:pt x="2" y="3"/>
                      <a:pt x="2"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24" name="Freeform 734">
                <a:extLst>
                  <a:ext uri="{FF2B5EF4-FFF2-40B4-BE49-F238E27FC236}">
                    <a16:creationId xmlns:a16="http://schemas.microsoft.com/office/drawing/2014/main" id="{F63ED12C-596F-40A0-AAE0-D9F4F160DB0E}"/>
                  </a:ext>
                </a:extLst>
              </p:cNvPr>
              <p:cNvSpPr>
                <a:spLocks/>
              </p:cNvSpPr>
              <p:nvPr/>
            </p:nvSpPr>
            <p:spPr bwMode="auto">
              <a:xfrm>
                <a:off x="5522" y="2515"/>
                <a:ext cx="4" cy="9"/>
              </a:xfrm>
              <a:custGeom>
                <a:avLst/>
                <a:gdLst>
                  <a:gd name="T0" fmla="*/ 2 w 3"/>
                  <a:gd name="T1" fmla="*/ 6 h 7"/>
                  <a:gd name="T2" fmla="*/ 2 w 3"/>
                  <a:gd name="T3" fmla="*/ 3 h 7"/>
                  <a:gd name="T4" fmla="*/ 0 w 3"/>
                  <a:gd name="T5" fmla="*/ 2 h 7"/>
                  <a:gd name="T6" fmla="*/ 2 w 3"/>
                  <a:gd name="T7" fmla="*/ 6 h 7"/>
                </a:gdLst>
                <a:ahLst/>
                <a:cxnLst>
                  <a:cxn ang="0">
                    <a:pos x="T0" y="T1"/>
                  </a:cxn>
                  <a:cxn ang="0">
                    <a:pos x="T2" y="T3"/>
                  </a:cxn>
                  <a:cxn ang="0">
                    <a:pos x="T4" y="T5"/>
                  </a:cxn>
                  <a:cxn ang="0">
                    <a:pos x="T6" y="T7"/>
                  </a:cxn>
                </a:cxnLst>
                <a:rect l="0" t="0" r="r" b="b"/>
                <a:pathLst>
                  <a:path w="3" h="7">
                    <a:moveTo>
                      <a:pt x="2" y="6"/>
                    </a:moveTo>
                    <a:cubicBezTo>
                      <a:pt x="2" y="6"/>
                      <a:pt x="3" y="4"/>
                      <a:pt x="2" y="3"/>
                    </a:cubicBezTo>
                    <a:cubicBezTo>
                      <a:pt x="1" y="1"/>
                      <a:pt x="1" y="0"/>
                      <a:pt x="0" y="2"/>
                    </a:cubicBezTo>
                    <a:cubicBezTo>
                      <a:pt x="0" y="4"/>
                      <a:pt x="0" y="7"/>
                      <a:pt x="2"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25" name="Freeform 735">
                <a:extLst>
                  <a:ext uri="{FF2B5EF4-FFF2-40B4-BE49-F238E27FC236}">
                    <a16:creationId xmlns:a16="http://schemas.microsoft.com/office/drawing/2014/main" id="{3C82FE57-F6AA-4A24-9CCD-8A47C6C7AAE4}"/>
                  </a:ext>
                </a:extLst>
              </p:cNvPr>
              <p:cNvSpPr>
                <a:spLocks/>
              </p:cNvSpPr>
              <p:nvPr/>
            </p:nvSpPr>
            <p:spPr bwMode="auto">
              <a:xfrm>
                <a:off x="5604" y="2434"/>
                <a:ext cx="4" cy="4"/>
              </a:xfrm>
              <a:custGeom>
                <a:avLst/>
                <a:gdLst>
                  <a:gd name="T0" fmla="*/ 2 w 3"/>
                  <a:gd name="T1" fmla="*/ 2 h 3"/>
                  <a:gd name="T2" fmla="*/ 2 w 3"/>
                  <a:gd name="T3" fmla="*/ 1 h 3"/>
                  <a:gd name="T4" fmla="*/ 2 w 3"/>
                  <a:gd name="T5" fmla="*/ 2 h 3"/>
                </a:gdLst>
                <a:ahLst/>
                <a:cxnLst>
                  <a:cxn ang="0">
                    <a:pos x="T0" y="T1"/>
                  </a:cxn>
                  <a:cxn ang="0">
                    <a:pos x="T2" y="T3"/>
                  </a:cxn>
                  <a:cxn ang="0">
                    <a:pos x="T4" y="T5"/>
                  </a:cxn>
                </a:cxnLst>
                <a:rect l="0" t="0" r="r" b="b"/>
                <a:pathLst>
                  <a:path w="3" h="3">
                    <a:moveTo>
                      <a:pt x="2" y="2"/>
                    </a:moveTo>
                    <a:cubicBezTo>
                      <a:pt x="2" y="2"/>
                      <a:pt x="3" y="2"/>
                      <a:pt x="2" y="1"/>
                    </a:cubicBezTo>
                    <a:cubicBezTo>
                      <a:pt x="0" y="0"/>
                      <a:pt x="0" y="3"/>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26" name="Freeform 736">
                <a:extLst>
                  <a:ext uri="{FF2B5EF4-FFF2-40B4-BE49-F238E27FC236}">
                    <a16:creationId xmlns:a16="http://schemas.microsoft.com/office/drawing/2014/main" id="{AB6547C6-37CB-4DCF-958A-A9464F7215A4}"/>
                  </a:ext>
                </a:extLst>
              </p:cNvPr>
              <p:cNvSpPr>
                <a:spLocks/>
              </p:cNvSpPr>
              <p:nvPr/>
            </p:nvSpPr>
            <p:spPr bwMode="auto">
              <a:xfrm>
                <a:off x="5609" y="2442"/>
                <a:ext cx="1" cy="3"/>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1" y="2"/>
                      <a:pt x="1" y="1"/>
                      <a:pt x="1" y="0"/>
                    </a:cubicBezTo>
                    <a:cubicBezTo>
                      <a:pt x="0" y="0"/>
                      <a:pt x="1" y="1"/>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27" name="Freeform 737">
                <a:extLst>
                  <a:ext uri="{FF2B5EF4-FFF2-40B4-BE49-F238E27FC236}">
                    <a16:creationId xmlns:a16="http://schemas.microsoft.com/office/drawing/2014/main" id="{95380626-5589-4848-A88F-0A780A278999}"/>
                  </a:ext>
                </a:extLst>
              </p:cNvPr>
              <p:cNvSpPr>
                <a:spLocks/>
              </p:cNvSpPr>
              <p:nvPr/>
            </p:nvSpPr>
            <p:spPr bwMode="auto">
              <a:xfrm>
                <a:off x="5503" y="2259"/>
                <a:ext cx="170" cy="308"/>
              </a:xfrm>
              <a:custGeom>
                <a:avLst/>
                <a:gdLst>
                  <a:gd name="T0" fmla="*/ 121 w 123"/>
                  <a:gd name="T1" fmla="*/ 85 h 224"/>
                  <a:gd name="T2" fmla="*/ 123 w 123"/>
                  <a:gd name="T3" fmla="*/ 75 h 224"/>
                  <a:gd name="T4" fmla="*/ 120 w 123"/>
                  <a:gd name="T5" fmla="*/ 69 h 224"/>
                  <a:gd name="T6" fmla="*/ 112 w 123"/>
                  <a:gd name="T7" fmla="*/ 63 h 224"/>
                  <a:gd name="T8" fmla="*/ 111 w 123"/>
                  <a:gd name="T9" fmla="*/ 47 h 224"/>
                  <a:gd name="T10" fmla="*/ 101 w 123"/>
                  <a:gd name="T11" fmla="*/ 37 h 224"/>
                  <a:gd name="T12" fmla="*/ 89 w 123"/>
                  <a:gd name="T13" fmla="*/ 33 h 224"/>
                  <a:gd name="T14" fmla="*/ 81 w 123"/>
                  <a:gd name="T15" fmla="*/ 39 h 224"/>
                  <a:gd name="T16" fmla="*/ 71 w 123"/>
                  <a:gd name="T17" fmla="*/ 35 h 224"/>
                  <a:gd name="T18" fmla="*/ 54 w 123"/>
                  <a:gd name="T19" fmla="*/ 45 h 224"/>
                  <a:gd name="T20" fmla="*/ 56 w 123"/>
                  <a:gd name="T21" fmla="*/ 38 h 224"/>
                  <a:gd name="T22" fmla="*/ 56 w 123"/>
                  <a:gd name="T23" fmla="*/ 32 h 224"/>
                  <a:gd name="T24" fmla="*/ 59 w 123"/>
                  <a:gd name="T25" fmla="*/ 24 h 224"/>
                  <a:gd name="T26" fmla="*/ 57 w 123"/>
                  <a:gd name="T27" fmla="*/ 17 h 224"/>
                  <a:gd name="T28" fmla="*/ 49 w 123"/>
                  <a:gd name="T29" fmla="*/ 15 h 224"/>
                  <a:gd name="T30" fmla="*/ 47 w 123"/>
                  <a:gd name="T31" fmla="*/ 10 h 224"/>
                  <a:gd name="T32" fmla="*/ 47 w 123"/>
                  <a:gd name="T33" fmla="*/ 3 h 224"/>
                  <a:gd name="T34" fmla="*/ 41 w 123"/>
                  <a:gd name="T35" fmla="*/ 2 h 224"/>
                  <a:gd name="T36" fmla="*/ 32 w 123"/>
                  <a:gd name="T37" fmla="*/ 1 h 224"/>
                  <a:gd name="T38" fmla="*/ 27 w 123"/>
                  <a:gd name="T39" fmla="*/ 5 h 224"/>
                  <a:gd name="T40" fmla="*/ 17 w 123"/>
                  <a:gd name="T41" fmla="*/ 12 h 224"/>
                  <a:gd name="T42" fmla="*/ 8 w 123"/>
                  <a:gd name="T43" fmla="*/ 14 h 224"/>
                  <a:gd name="T44" fmla="*/ 5 w 123"/>
                  <a:gd name="T45" fmla="*/ 29 h 224"/>
                  <a:gd name="T46" fmla="*/ 4 w 123"/>
                  <a:gd name="T47" fmla="*/ 34 h 224"/>
                  <a:gd name="T48" fmla="*/ 14 w 123"/>
                  <a:gd name="T49" fmla="*/ 52 h 224"/>
                  <a:gd name="T50" fmla="*/ 21 w 123"/>
                  <a:gd name="T51" fmla="*/ 64 h 224"/>
                  <a:gd name="T52" fmla="*/ 22 w 123"/>
                  <a:gd name="T53" fmla="*/ 67 h 224"/>
                  <a:gd name="T54" fmla="*/ 19 w 123"/>
                  <a:gd name="T55" fmla="*/ 75 h 224"/>
                  <a:gd name="T56" fmla="*/ 13 w 123"/>
                  <a:gd name="T57" fmla="*/ 83 h 224"/>
                  <a:gd name="T58" fmla="*/ 27 w 123"/>
                  <a:gd name="T59" fmla="*/ 103 h 224"/>
                  <a:gd name="T60" fmla="*/ 27 w 123"/>
                  <a:gd name="T61" fmla="*/ 114 h 224"/>
                  <a:gd name="T62" fmla="*/ 33 w 123"/>
                  <a:gd name="T63" fmla="*/ 127 h 224"/>
                  <a:gd name="T64" fmla="*/ 27 w 123"/>
                  <a:gd name="T65" fmla="*/ 143 h 224"/>
                  <a:gd name="T66" fmla="*/ 21 w 123"/>
                  <a:gd name="T67" fmla="*/ 155 h 224"/>
                  <a:gd name="T68" fmla="*/ 15 w 123"/>
                  <a:gd name="T69" fmla="*/ 172 h 224"/>
                  <a:gd name="T70" fmla="*/ 20 w 123"/>
                  <a:gd name="T71" fmla="*/ 184 h 224"/>
                  <a:gd name="T72" fmla="*/ 27 w 123"/>
                  <a:gd name="T73" fmla="*/ 194 h 224"/>
                  <a:gd name="T74" fmla="*/ 34 w 123"/>
                  <a:gd name="T75" fmla="*/ 202 h 224"/>
                  <a:gd name="T76" fmla="*/ 42 w 123"/>
                  <a:gd name="T77" fmla="*/ 209 h 224"/>
                  <a:gd name="T78" fmla="*/ 51 w 123"/>
                  <a:gd name="T79" fmla="*/ 212 h 224"/>
                  <a:gd name="T80" fmla="*/ 56 w 123"/>
                  <a:gd name="T81" fmla="*/ 216 h 224"/>
                  <a:gd name="T82" fmla="*/ 57 w 123"/>
                  <a:gd name="T83" fmla="*/ 224 h 224"/>
                  <a:gd name="T84" fmla="*/ 65 w 123"/>
                  <a:gd name="T85" fmla="*/ 222 h 224"/>
                  <a:gd name="T86" fmla="*/ 69 w 123"/>
                  <a:gd name="T87" fmla="*/ 213 h 224"/>
                  <a:gd name="T88" fmla="*/ 54 w 123"/>
                  <a:gd name="T89" fmla="*/ 205 h 224"/>
                  <a:gd name="T90" fmla="*/ 43 w 123"/>
                  <a:gd name="T91" fmla="*/ 194 h 224"/>
                  <a:gd name="T92" fmla="*/ 35 w 123"/>
                  <a:gd name="T93" fmla="*/ 170 h 224"/>
                  <a:gd name="T94" fmla="*/ 27 w 123"/>
                  <a:gd name="T95" fmla="*/ 161 h 224"/>
                  <a:gd name="T96" fmla="*/ 40 w 123"/>
                  <a:gd name="T97" fmla="*/ 123 h 224"/>
                  <a:gd name="T98" fmla="*/ 47 w 123"/>
                  <a:gd name="T99" fmla="*/ 106 h 224"/>
                  <a:gd name="T100" fmla="*/ 53 w 123"/>
                  <a:gd name="T101" fmla="*/ 117 h 224"/>
                  <a:gd name="T102" fmla="*/ 73 w 123"/>
                  <a:gd name="T103" fmla="*/ 124 h 224"/>
                  <a:gd name="T104" fmla="*/ 79 w 123"/>
                  <a:gd name="T105" fmla="*/ 128 h 224"/>
                  <a:gd name="T106" fmla="*/ 80 w 123"/>
                  <a:gd name="T107" fmla="*/ 122 h 224"/>
                  <a:gd name="T108" fmla="*/ 77 w 123"/>
                  <a:gd name="T109" fmla="*/ 114 h 224"/>
                  <a:gd name="T110" fmla="*/ 74 w 123"/>
                  <a:gd name="T111" fmla="*/ 107 h 224"/>
                  <a:gd name="T112" fmla="*/ 83 w 123"/>
                  <a:gd name="T113" fmla="*/ 96 h 224"/>
                  <a:gd name="T114" fmla="*/ 91 w 123"/>
                  <a:gd name="T115" fmla="*/ 93 h 224"/>
                  <a:gd name="T116" fmla="*/ 114 w 123"/>
                  <a:gd name="T117"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3" h="224">
                    <a:moveTo>
                      <a:pt x="117" y="94"/>
                    </a:moveTo>
                    <a:cubicBezTo>
                      <a:pt x="117" y="94"/>
                      <a:pt x="117" y="93"/>
                      <a:pt x="117" y="93"/>
                    </a:cubicBezTo>
                    <a:cubicBezTo>
                      <a:pt x="118" y="93"/>
                      <a:pt x="119" y="93"/>
                      <a:pt x="120" y="92"/>
                    </a:cubicBezTo>
                    <a:cubicBezTo>
                      <a:pt x="122" y="91"/>
                      <a:pt x="122" y="87"/>
                      <a:pt x="121" y="85"/>
                    </a:cubicBezTo>
                    <a:cubicBezTo>
                      <a:pt x="121" y="84"/>
                      <a:pt x="121" y="82"/>
                      <a:pt x="121" y="80"/>
                    </a:cubicBezTo>
                    <a:cubicBezTo>
                      <a:pt x="121" y="79"/>
                      <a:pt x="122" y="77"/>
                      <a:pt x="122" y="77"/>
                    </a:cubicBezTo>
                    <a:cubicBezTo>
                      <a:pt x="123" y="77"/>
                      <a:pt x="123" y="77"/>
                      <a:pt x="123" y="77"/>
                    </a:cubicBezTo>
                    <a:cubicBezTo>
                      <a:pt x="123" y="76"/>
                      <a:pt x="123" y="76"/>
                      <a:pt x="123" y="75"/>
                    </a:cubicBezTo>
                    <a:cubicBezTo>
                      <a:pt x="123" y="74"/>
                      <a:pt x="122" y="74"/>
                      <a:pt x="122" y="73"/>
                    </a:cubicBezTo>
                    <a:cubicBezTo>
                      <a:pt x="122" y="73"/>
                      <a:pt x="121" y="72"/>
                      <a:pt x="120" y="72"/>
                    </a:cubicBezTo>
                    <a:cubicBezTo>
                      <a:pt x="120" y="72"/>
                      <a:pt x="119" y="71"/>
                      <a:pt x="119" y="71"/>
                    </a:cubicBezTo>
                    <a:cubicBezTo>
                      <a:pt x="119" y="70"/>
                      <a:pt x="119" y="69"/>
                      <a:pt x="120" y="69"/>
                    </a:cubicBezTo>
                    <a:cubicBezTo>
                      <a:pt x="120" y="68"/>
                      <a:pt x="120" y="68"/>
                      <a:pt x="120" y="68"/>
                    </a:cubicBezTo>
                    <a:cubicBezTo>
                      <a:pt x="120" y="68"/>
                      <a:pt x="116" y="67"/>
                      <a:pt x="115" y="67"/>
                    </a:cubicBezTo>
                    <a:cubicBezTo>
                      <a:pt x="115" y="67"/>
                      <a:pt x="114" y="65"/>
                      <a:pt x="114" y="65"/>
                    </a:cubicBezTo>
                    <a:cubicBezTo>
                      <a:pt x="114" y="64"/>
                      <a:pt x="113" y="63"/>
                      <a:pt x="112" y="63"/>
                    </a:cubicBezTo>
                    <a:cubicBezTo>
                      <a:pt x="112" y="62"/>
                      <a:pt x="110" y="61"/>
                      <a:pt x="110" y="60"/>
                    </a:cubicBezTo>
                    <a:cubicBezTo>
                      <a:pt x="110" y="59"/>
                      <a:pt x="110" y="55"/>
                      <a:pt x="110" y="54"/>
                    </a:cubicBezTo>
                    <a:cubicBezTo>
                      <a:pt x="110" y="54"/>
                      <a:pt x="110" y="53"/>
                      <a:pt x="111" y="51"/>
                    </a:cubicBezTo>
                    <a:cubicBezTo>
                      <a:pt x="111" y="50"/>
                      <a:pt x="111" y="49"/>
                      <a:pt x="111" y="47"/>
                    </a:cubicBezTo>
                    <a:cubicBezTo>
                      <a:pt x="110" y="46"/>
                      <a:pt x="107" y="43"/>
                      <a:pt x="106" y="42"/>
                    </a:cubicBezTo>
                    <a:cubicBezTo>
                      <a:pt x="105" y="42"/>
                      <a:pt x="104" y="40"/>
                      <a:pt x="103" y="40"/>
                    </a:cubicBezTo>
                    <a:cubicBezTo>
                      <a:pt x="103" y="40"/>
                      <a:pt x="102" y="39"/>
                      <a:pt x="102" y="39"/>
                    </a:cubicBezTo>
                    <a:cubicBezTo>
                      <a:pt x="102" y="38"/>
                      <a:pt x="102" y="38"/>
                      <a:pt x="101" y="37"/>
                    </a:cubicBezTo>
                    <a:cubicBezTo>
                      <a:pt x="101" y="37"/>
                      <a:pt x="100" y="35"/>
                      <a:pt x="100" y="35"/>
                    </a:cubicBezTo>
                    <a:cubicBezTo>
                      <a:pt x="99" y="32"/>
                      <a:pt x="96" y="32"/>
                      <a:pt x="95" y="32"/>
                    </a:cubicBezTo>
                    <a:cubicBezTo>
                      <a:pt x="94" y="32"/>
                      <a:pt x="93" y="32"/>
                      <a:pt x="92" y="31"/>
                    </a:cubicBezTo>
                    <a:cubicBezTo>
                      <a:pt x="91" y="31"/>
                      <a:pt x="89" y="32"/>
                      <a:pt x="89" y="33"/>
                    </a:cubicBezTo>
                    <a:cubicBezTo>
                      <a:pt x="88" y="33"/>
                      <a:pt x="86" y="35"/>
                      <a:pt x="86" y="35"/>
                    </a:cubicBezTo>
                    <a:cubicBezTo>
                      <a:pt x="86" y="35"/>
                      <a:pt x="86" y="35"/>
                      <a:pt x="85" y="36"/>
                    </a:cubicBezTo>
                    <a:cubicBezTo>
                      <a:pt x="85" y="37"/>
                      <a:pt x="84" y="38"/>
                      <a:pt x="84" y="38"/>
                    </a:cubicBezTo>
                    <a:cubicBezTo>
                      <a:pt x="84" y="38"/>
                      <a:pt x="82" y="38"/>
                      <a:pt x="81" y="39"/>
                    </a:cubicBezTo>
                    <a:cubicBezTo>
                      <a:pt x="81" y="39"/>
                      <a:pt x="79" y="40"/>
                      <a:pt x="79" y="41"/>
                    </a:cubicBezTo>
                    <a:cubicBezTo>
                      <a:pt x="80" y="42"/>
                      <a:pt x="79" y="40"/>
                      <a:pt x="79" y="40"/>
                    </a:cubicBezTo>
                    <a:cubicBezTo>
                      <a:pt x="79" y="40"/>
                      <a:pt x="72" y="35"/>
                      <a:pt x="71" y="35"/>
                    </a:cubicBezTo>
                    <a:cubicBezTo>
                      <a:pt x="71" y="35"/>
                      <a:pt x="71" y="35"/>
                      <a:pt x="71" y="35"/>
                    </a:cubicBezTo>
                    <a:cubicBezTo>
                      <a:pt x="71" y="35"/>
                      <a:pt x="66" y="38"/>
                      <a:pt x="65" y="39"/>
                    </a:cubicBezTo>
                    <a:cubicBezTo>
                      <a:pt x="64" y="40"/>
                      <a:pt x="63" y="41"/>
                      <a:pt x="62" y="41"/>
                    </a:cubicBezTo>
                    <a:cubicBezTo>
                      <a:pt x="61" y="42"/>
                      <a:pt x="58" y="45"/>
                      <a:pt x="57" y="46"/>
                    </a:cubicBezTo>
                    <a:cubicBezTo>
                      <a:pt x="56" y="46"/>
                      <a:pt x="54" y="45"/>
                      <a:pt x="54" y="45"/>
                    </a:cubicBezTo>
                    <a:cubicBezTo>
                      <a:pt x="53" y="45"/>
                      <a:pt x="53" y="44"/>
                      <a:pt x="53" y="44"/>
                    </a:cubicBezTo>
                    <a:cubicBezTo>
                      <a:pt x="54" y="44"/>
                      <a:pt x="54" y="43"/>
                      <a:pt x="54" y="42"/>
                    </a:cubicBezTo>
                    <a:cubicBezTo>
                      <a:pt x="54" y="42"/>
                      <a:pt x="54" y="41"/>
                      <a:pt x="55" y="41"/>
                    </a:cubicBezTo>
                    <a:cubicBezTo>
                      <a:pt x="55" y="40"/>
                      <a:pt x="56" y="39"/>
                      <a:pt x="56" y="38"/>
                    </a:cubicBezTo>
                    <a:cubicBezTo>
                      <a:pt x="56" y="38"/>
                      <a:pt x="57" y="37"/>
                      <a:pt x="57" y="37"/>
                    </a:cubicBezTo>
                    <a:cubicBezTo>
                      <a:pt x="57" y="37"/>
                      <a:pt x="57" y="38"/>
                      <a:pt x="57" y="37"/>
                    </a:cubicBezTo>
                    <a:cubicBezTo>
                      <a:pt x="57" y="36"/>
                      <a:pt x="56" y="34"/>
                      <a:pt x="56" y="33"/>
                    </a:cubicBezTo>
                    <a:cubicBezTo>
                      <a:pt x="56" y="33"/>
                      <a:pt x="56" y="32"/>
                      <a:pt x="56" y="32"/>
                    </a:cubicBezTo>
                    <a:cubicBezTo>
                      <a:pt x="56" y="31"/>
                      <a:pt x="57" y="30"/>
                      <a:pt x="57" y="30"/>
                    </a:cubicBezTo>
                    <a:cubicBezTo>
                      <a:pt x="57" y="29"/>
                      <a:pt x="58" y="28"/>
                      <a:pt x="58" y="28"/>
                    </a:cubicBezTo>
                    <a:cubicBezTo>
                      <a:pt x="58" y="27"/>
                      <a:pt x="58" y="26"/>
                      <a:pt x="58" y="25"/>
                    </a:cubicBezTo>
                    <a:cubicBezTo>
                      <a:pt x="58" y="25"/>
                      <a:pt x="59" y="24"/>
                      <a:pt x="59" y="24"/>
                    </a:cubicBezTo>
                    <a:cubicBezTo>
                      <a:pt x="59" y="23"/>
                      <a:pt x="59" y="23"/>
                      <a:pt x="59" y="23"/>
                    </a:cubicBezTo>
                    <a:cubicBezTo>
                      <a:pt x="60" y="22"/>
                      <a:pt x="60" y="22"/>
                      <a:pt x="60" y="22"/>
                    </a:cubicBezTo>
                    <a:cubicBezTo>
                      <a:pt x="60" y="22"/>
                      <a:pt x="59" y="20"/>
                      <a:pt x="59" y="20"/>
                    </a:cubicBezTo>
                    <a:cubicBezTo>
                      <a:pt x="58" y="19"/>
                      <a:pt x="58" y="18"/>
                      <a:pt x="57" y="17"/>
                    </a:cubicBezTo>
                    <a:cubicBezTo>
                      <a:pt x="57" y="16"/>
                      <a:pt x="58" y="15"/>
                      <a:pt x="58" y="15"/>
                    </a:cubicBezTo>
                    <a:cubicBezTo>
                      <a:pt x="58" y="15"/>
                      <a:pt x="58" y="15"/>
                      <a:pt x="59" y="14"/>
                    </a:cubicBezTo>
                    <a:cubicBezTo>
                      <a:pt x="59" y="14"/>
                      <a:pt x="59" y="14"/>
                      <a:pt x="58" y="14"/>
                    </a:cubicBezTo>
                    <a:cubicBezTo>
                      <a:pt x="58" y="14"/>
                      <a:pt x="49" y="15"/>
                      <a:pt x="49" y="15"/>
                    </a:cubicBezTo>
                    <a:cubicBezTo>
                      <a:pt x="48" y="15"/>
                      <a:pt x="48" y="15"/>
                      <a:pt x="48" y="15"/>
                    </a:cubicBezTo>
                    <a:cubicBezTo>
                      <a:pt x="48" y="15"/>
                      <a:pt x="46" y="12"/>
                      <a:pt x="46" y="11"/>
                    </a:cubicBezTo>
                    <a:cubicBezTo>
                      <a:pt x="46" y="11"/>
                      <a:pt x="46" y="11"/>
                      <a:pt x="46" y="11"/>
                    </a:cubicBezTo>
                    <a:cubicBezTo>
                      <a:pt x="46" y="11"/>
                      <a:pt x="47" y="10"/>
                      <a:pt x="47" y="10"/>
                    </a:cubicBezTo>
                    <a:cubicBezTo>
                      <a:pt x="47" y="9"/>
                      <a:pt x="47" y="9"/>
                      <a:pt x="47" y="9"/>
                    </a:cubicBezTo>
                    <a:cubicBezTo>
                      <a:pt x="47" y="8"/>
                      <a:pt x="48" y="6"/>
                      <a:pt x="48" y="5"/>
                    </a:cubicBezTo>
                    <a:cubicBezTo>
                      <a:pt x="48" y="5"/>
                      <a:pt x="48" y="4"/>
                      <a:pt x="48" y="4"/>
                    </a:cubicBezTo>
                    <a:cubicBezTo>
                      <a:pt x="48" y="4"/>
                      <a:pt x="47" y="4"/>
                      <a:pt x="47" y="3"/>
                    </a:cubicBezTo>
                    <a:cubicBezTo>
                      <a:pt x="46" y="2"/>
                      <a:pt x="45" y="1"/>
                      <a:pt x="44" y="1"/>
                    </a:cubicBezTo>
                    <a:cubicBezTo>
                      <a:pt x="44" y="1"/>
                      <a:pt x="42" y="3"/>
                      <a:pt x="42" y="3"/>
                    </a:cubicBezTo>
                    <a:cubicBezTo>
                      <a:pt x="42" y="4"/>
                      <a:pt x="41" y="3"/>
                      <a:pt x="41" y="2"/>
                    </a:cubicBezTo>
                    <a:cubicBezTo>
                      <a:pt x="41" y="2"/>
                      <a:pt x="41" y="2"/>
                      <a:pt x="41" y="2"/>
                    </a:cubicBezTo>
                    <a:cubicBezTo>
                      <a:pt x="41" y="1"/>
                      <a:pt x="40" y="1"/>
                      <a:pt x="39" y="0"/>
                    </a:cubicBezTo>
                    <a:cubicBezTo>
                      <a:pt x="38" y="0"/>
                      <a:pt x="36" y="1"/>
                      <a:pt x="35" y="2"/>
                    </a:cubicBezTo>
                    <a:cubicBezTo>
                      <a:pt x="35" y="2"/>
                      <a:pt x="35" y="2"/>
                      <a:pt x="34" y="2"/>
                    </a:cubicBezTo>
                    <a:cubicBezTo>
                      <a:pt x="34" y="2"/>
                      <a:pt x="33" y="2"/>
                      <a:pt x="32" y="1"/>
                    </a:cubicBezTo>
                    <a:cubicBezTo>
                      <a:pt x="31" y="1"/>
                      <a:pt x="31" y="1"/>
                      <a:pt x="31" y="2"/>
                    </a:cubicBezTo>
                    <a:cubicBezTo>
                      <a:pt x="31" y="2"/>
                      <a:pt x="32" y="3"/>
                      <a:pt x="32" y="4"/>
                    </a:cubicBezTo>
                    <a:cubicBezTo>
                      <a:pt x="33" y="5"/>
                      <a:pt x="32" y="5"/>
                      <a:pt x="32" y="5"/>
                    </a:cubicBezTo>
                    <a:cubicBezTo>
                      <a:pt x="32" y="5"/>
                      <a:pt x="28" y="5"/>
                      <a:pt x="27" y="5"/>
                    </a:cubicBezTo>
                    <a:cubicBezTo>
                      <a:pt x="27" y="5"/>
                      <a:pt x="27" y="6"/>
                      <a:pt x="27" y="6"/>
                    </a:cubicBezTo>
                    <a:cubicBezTo>
                      <a:pt x="27" y="6"/>
                      <a:pt x="26" y="6"/>
                      <a:pt x="26" y="8"/>
                    </a:cubicBezTo>
                    <a:cubicBezTo>
                      <a:pt x="26" y="10"/>
                      <a:pt x="24" y="11"/>
                      <a:pt x="24" y="11"/>
                    </a:cubicBezTo>
                    <a:cubicBezTo>
                      <a:pt x="23" y="11"/>
                      <a:pt x="18" y="12"/>
                      <a:pt x="17" y="12"/>
                    </a:cubicBezTo>
                    <a:cubicBezTo>
                      <a:pt x="17" y="12"/>
                      <a:pt x="15" y="11"/>
                      <a:pt x="14" y="11"/>
                    </a:cubicBezTo>
                    <a:cubicBezTo>
                      <a:pt x="13" y="11"/>
                      <a:pt x="12" y="10"/>
                      <a:pt x="11" y="10"/>
                    </a:cubicBezTo>
                    <a:cubicBezTo>
                      <a:pt x="10" y="10"/>
                      <a:pt x="9" y="13"/>
                      <a:pt x="8" y="13"/>
                    </a:cubicBezTo>
                    <a:cubicBezTo>
                      <a:pt x="8" y="14"/>
                      <a:pt x="8" y="14"/>
                      <a:pt x="8" y="14"/>
                    </a:cubicBezTo>
                    <a:cubicBezTo>
                      <a:pt x="8" y="14"/>
                      <a:pt x="8" y="18"/>
                      <a:pt x="8" y="19"/>
                    </a:cubicBezTo>
                    <a:cubicBezTo>
                      <a:pt x="8" y="19"/>
                      <a:pt x="7" y="20"/>
                      <a:pt x="7" y="20"/>
                    </a:cubicBezTo>
                    <a:cubicBezTo>
                      <a:pt x="6" y="22"/>
                      <a:pt x="6" y="25"/>
                      <a:pt x="6" y="27"/>
                    </a:cubicBezTo>
                    <a:cubicBezTo>
                      <a:pt x="7" y="29"/>
                      <a:pt x="6" y="29"/>
                      <a:pt x="5" y="29"/>
                    </a:cubicBezTo>
                    <a:cubicBezTo>
                      <a:pt x="4" y="29"/>
                      <a:pt x="2" y="29"/>
                      <a:pt x="1" y="29"/>
                    </a:cubicBezTo>
                    <a:cubicBezTo>
                      <a:pt x="0" y="29"/>
                      <a:pt x="0" y="30"/>
                      <a:pt x="0" y="30"/>
                    </a:cubicBezTo>
                    <a:cubicBezTo>
                      <a:pt x="0" y="30"/>
                      <a:pt x="1" y="30"/>
                      <a:pt x="1" y="32"/>
                    </a:cubicBezTo>
                    <a:cubicBezTo>
                      <a:pt x="2" y="34"/>
                      <a:pt x="3" y="34"/>
                      <a:pt x="4" y="34"/>
                    </a:cubicBezTo>
                    <a:cubicBezTo>
                      <a:pt x="4" y="34"/>
                      <a:pt x="5" y="34"/>
                      <a:pt x="5" y="36"/>
                    </a:cubicBezTo>
                    <a:cubicBezTo>
                      <a:pt x="6" y="37"/>
                      <a:pt x="6" y="40"/>
                      <a:pt x="5" y="40"/>
                    </a:cubicBezTo>
                    <a:cubicBezTo>
                      <a:pt x="5" y="40"/>
                      <a:pt x="6" y="41"/>
                      <a:pt x="6" y="41"/>
                    </a:cubicBezTo>
                    <a:cubicBezTo>
                      <a:pt x="6" y="41"/>
                      <a:pt x="14" y="51"/>
                      <a:pt x="14" y="52"/>
                    </a:cubicBezTo>
                    <a:cubicBezTo>
                      <a:pt x="14" y="52"/>
                      <a:pt x="15" y="52"/>
                      <a:pt x="15" y="52"/>
                    </a:cubicBezTo>
                    <a:cubicBezTo>
                      <a:pt x="19" y="54"/>
                      <a:pt x="19" y="58"/>
                      <a:pt x="19" y="59"/>
                    </a:cubicBezTo>
                    <a:cubicBezTo>
                      <a:pt x="19" y="60"/>
                      <a:pt x="20" y="63"/>
                      <a:pt x="20" y="64"/>
                    </a:cubicBezTo>
                    <a:cubicBezTo>
                      <a:pt x="20" y="64"/>
                      <a:pt x="21" y="64"/>
                      <a:pt x="21" y="64"/>
                    </a:cubicBezTo>
                    <a:cubicBezTo>
                      <a:pt x="21" y="64"/>
                      <a:pt x="22" y="62"/>
                      <a:pt x="22" y="61"/>
                    </a:cubicBezTo>
                    <a:cubicBezTo>
                      <a:pt x="23" y="61"/>
                      <a:pt x="23" y="61"/>
                      <a:pt x="23" y="62"/>
                    </a:cubicBezTo>
                    <a:cubicBezTo>
                      <a:pt x="24" y="63"/>
                      <a:pt x="23" y="64"/>
                      <a:pt x="23" y="65"/>
                    </a:cubicBezTo>
                    <a:cubicBezTo>
                      <a:pt x="23" y="66"/>
                      <a:pt x="22" y="66"/>
                      <a:pt x="22" y="67"/>
                    </a:cubicBezTo>
                    <a:cubicBezTo>
                      <a:pt x="21" y="67"/>
                      <a:pt x="19" y="67"/>
                      <a:pt x="19" y="67"/>
                    </a:cubicBezTo>
                    <a:cubicBezTo>
                      <a:pt x="18" y="67"/>
                      <a:pt x="18" y="68"/>
                      <a:pt x="18" y="68"/>
                    </a:cubicBezTo>
                    <a:cubicBezTo>
                      <a:pt x="18" y="68"/>
                      <a:pt x="18" y="70"/>
                      <a:pt x="18" y="71"/>
                    </a:cubicBezTo>
                    <a:cubicBezTo>
                      <a:pt x="19" y="72"/>
                      <a:pt x="18" y="73"/>
                      <a:pt x="19" y="75"/>
                    </a:cubicBezTo>
                    <a:cubicBezTo>
                      <a:pt x="19" y="78"/>
                      <a:pt x="18" y="79"/>
                      <a:pt x="17" y="79"/>
                    </a:cubicBezTo>
                    <a:cubicBezTo>
                      <a:pt x="17" y="79"/>
                      <a:pt x="14" y="80"/>
                      <a:pt x="13" y="80"/>
                    </a:cubicBezTo>
                    <a:cubicBezTo>
                      <a:pt x="13" y="80"/>
                      <a:pt x="13" y="80"/>
                      <a:pt x="13" y="80"/>
                    </a:cubicBezTo>
                    <a:cubicBezTo>
                      <a:pt x="13" y="80"/>
                      <a:pt x="13" y="83"/>
                      <a:pt x="13" y="83"/>
                    </a:cubicBezTo>
                    <a:cubicBezTo>
                      <a:pt x="13" y="84"/>
                      <a:pt x="13" y="84"/>
                      <a:pt x="13" y="84"/>
                    </a:cubicBezTo>
                    <a:cubicBezTo>
                      <a:pt x="13" y="84"/>
                      <a:pt x="15" y="88"/>
                      <a:pt x="15" y="88"/>
                    </a:cubicBezTo>
                    <a:cubicBezTo>
                      <a:pt x="15" y="89"/>
                      <a:pt x="16" y="90"/>
                      <a:pt x="16" y="90"/>
                    </a:cubicBezTo>
                    <a:cubicBezTo>
                      <a:pt x="16" y="90"/>
                      <a:pt x="27" y="102"/>
                      <a:pt x="27" y="103"/>
                    </a:cubicBezTo>
                    <a:cubicBezTo>
                      <a:pt x="27" y="103"/>
                      <a:pt x="27" y="103"/>
                      <a:pt x="27" y="103"/>
                    </a:cubicBezTo>
                    <a:cubicBezTo>
                      <a:pt x="27" y="103"/>
                      <a:pt x="28" y="109"/>
                      <a:pt x="28" y="110"/>
                    </a:cubicBezTo>
                    <a:cubicBezTo>
                      <a:pt x="28" y="111"/>
                      <a:pt x="28" y="111"/>
                      <a:pt x="27" y="112"/>
                    </a:cubicBezTo>
                    <a:cubicBezTo>
                      <a:pt x="26" y="112"/>
                      <a:pt x="27" y="113"/>
                      <a:pt x="27" y="114"/>
                    </a:cubicBezTo>
                    <a:cubicBezTo>
                      <a:pt x="27" y="115"/>
                      <a:pt x="31" y="120"/>
                      <a:pt x="31" y="120"/>
                    </a:cubicBezTo>
                    <a:cubicBezTo>
                      <a:pt x="31" y="120"/>
                      <a:pt x="31" y="121"/>
                      <a:pt x="31" y="121"/>
                    </a:cubicBezTo>
                    <a:cubicBezTo>
                      <a:pt x="31" y="121"/>
                      <a:pt x="32" y="125"/>
                      <a:pt x="32" y="126"/>
                    </a:cubicBezTo>
                    <a:cubicBezTo>
                      <a:pt x="32" y="127"/>
                      <a:pt x="32" y="127"/>
                      <a:pt x="33" y="127"/>
                    </a:cubicBezTo>
                    <a:cubicBezTo>
                      <a:pt x="33" y="127"/>
                      <a:pt x="33" y="129"/>
                      <a:pt x="33" y="130"/>
                    </a:cubicBezTo>
                    <a:cubicBezTo>
                      <a:pt x="33" y="130"/>
                      <a:pt x="34" y="131"/>
                      <a:pt x="34" y="131"/>
                    </a:cubicBezTo>
                    <a:cubicBezTo>
                      <a:pt x="34" y="132"/>
                      <a:pt x="34" y="132"/>
                      <a:pt x="34" y="132"/>
                    </a:cubicBezTo>
                    <a:cubicBezTo>
                      <a:pt x="34" y="132"/>
                      <a:pt x="27" y="143"/>
                      <a:pt x="27" y="143"/>
                    </a:cubicBezTo>
                    <a:cubicBezTo>
                      <a:pt x="26" y="144"/>
                      <a:pt x="24" y="146"/>
                      <a:pt x="23" y="147"/>
                    </a:cubicBezTo>
                    <a:cubicBezTo>
                      <a:pt x="23" y="147"/>
                      <a:pt x="23" y="148"/>
                      <a:pt x="23" y="148"/>
                    </a:cubicBezTo>
                    <a:cubicBezTo>
                      <a:pt x="23" y="148"/>
                      <a:pt x="21" y="152"/>
                      <a:pt x="21" y="153"/>
                    </a:cubicBezTo>
                    <a:cubicBezTo>
                      <a:pt x="21" y="153"/>
                      <a:pt x="21" y="155"/>
                      <a:pt x="21" y="155"/>
                    </a:cubicBezTo>
                    <a:cubicBezTo>
                      <a:pt x="18" y="158"/>
                      <a:pt x="18" y="158"/>
                      <a:pt x="18" y="158"/>
                    </a:cubicBezTo>
                    <a:cubicBezTo>
                      <a:pt x="18" y="158"/>
                      <a:pt x="18" y="158"/>
                      <a:pt x="18" y="158"/>
                    </a:cubicBezTo>
                    <a:cubicBezTo>
                      <a:pt x="18" y="159"/>
                      <a:pt x="19" y="160"/>
                      <a:pt x="19" y="161"/>
                    </a:cubicBezTo>
                    <a:cubicBezTo>
                      <a:pt x="18" y="162"/>
                      <a:pt x="15" y="168"/>
                      <a:pt x="15" y="172"/>
                    </a:cubicBezTo>
                    <a:cubicBezTo>
                      <a:pt x="15" y="175"/>
                      <a:pt x="14" y="177"/>
                      <a:pt x="14" y="177"/>
                    </a:cubicBezTo>
                    <a:cubicBezTo>
                      <a:pt x="14" y="178"/>
                      <a:pt x="13" y="183"/>
                      <a:pt x="14" y="185"/>
                    </a:cubicBezTo>
                    <a:cubicBezTo>
                      <a:pt x="16" y="187"/>
                      <a:pt x="17" y="187"/>
                      <a:pt x="17" y="185"/>
                    </a:cubicBezTo>
                    <a:cubicBezTo>
                      <a:pt x="17" y="184"/>
                      <a:pt x="18" y="183"/>
                      <a:pt x="20" y="184"/>
                    </a:cubicBezTo>
                    <a:cubicBezTo>
                      <a:pt x="22" y="185"/>
                      <a:pt x="22" y="186"/>
                      <a:pt x="23" y="187"/>
                    </a:cubicBezTo>
                    <a:cubicBezTo>
                      <a:pt x="23" y="188"/>
                      <a:pt x="24" y="189"/>
                      <a:pt x="25" y="190"/>
                    </a:cubicBezTo>
                    <a:cubicBezTo>
                      <a:pt x="25" y="190"/>
                      <a:pt x="26" y="190"/>
                      <a:pt x="26" y="191"/>
                    </a:cubicBezTo>
                    <a:cubicBezTo>
                      <a:pt x="26" y="192"/>
                      <a:pt x="25" y="193"/>
                      <a:pt x="27" y="194"/>
                    </a:cubicBezTo>
                    <a:cubicBezTo>
                      <a:pt x="29" y="194"/>
                      <a:pt x="30" y="195"/>
                      <a:pt x="30" y="196"/>
                    </a:cubicBezTo>
                    <a:cubicBezTo>
                      <a:pt x="30" y="198"/>
                      <a:pt x="30" y="199"/>
                      <a:pt x="32" y="198"/>
                    </a:cubicBezTo>
                    <a:cubicBezTo>
                      <a:pt x="34" y="198"/>
                      <a:pt x="34" y="198"/>
                      <a:pt x="34" y="199"/>
                    </a:cubicBezTo>
                    <a:cubicBezTo>
                      <a:pt x="34" y="199"/>
                      <a:pt x="33" y="201"/>
                      <a:pt x="34" y="202"/>
                    </a:cubicBezTo>
                    <a:cubicBezTo>
                      <a:pt x="36" y="202"/>
                      <a:pt x="36" y="202"/>
                      <a:pt x="35" y="203"/>
                    </a:cubicBezTo>
                    <a:cubicBezTo>
                      <a:pt x="35" y="204"/>
                      <a:pt x="34" y="207"/>
                      <a:pt x="41" y="211"/>
                    </a:cubicBezTo>
                    <a:cubicBezTo>
                      <a:pt x="41" y="211"/>
                      <a:pt x="41" y="212"/>
                      <a:pt x="41" y="212"/>
                    </a:cubicBezTo>
                    <a:cubicBezTo>
                      <a:pt x="42" y="209"/>
                      <a:pt x="42" y="209"/>
                      <a:pt x="42" y="209"/>
                    </a:cubicBezTo>
                    <a:cubicBezTo>
                      <a:pt x="42" y="209"/>
                      <a:pt x="42" y="208"/>
                      <a:pt x="43" y="209"/>
                    </a:cubicBezTo>
                    <a:cubicBezTo>
                      <a:pt x="43" y="209"/>
                      <a:pt x="45" y="210"/>
                      <a:pt x="45" y="210"/>
                    </a:cubicBezTo>
                    <a:cubicBezTo>
                      <a:pt x="45" y="210"/>
                      <a:pt x="45" y="211"/>
                      <a:pt x="46" y="211"/>
                    </a:cubicBezTo>
                    <a:cubicBezTo>
                      <a:pt x="46" y="211"/>
                      <a:pt x="50" y="211"/>
                      <a:pt x="51" y="212"/>
                    </a:cubicBezTo>
                    <a:cubicBezTo>
                      <a:pt x="52" y="213"/>
                      <a:pt x="52" y="214"/>
                      <a:pt x="52" y="214"/>
                    </a:cubicBezTo>
                    <a:cubicBezTo>
                      <a:pt x="52" y="215"/>
                      <a:pt x="52" y="215"/>
                      <a:pt x="53" y="215"/>
                    </a:cubicBezTo>
                    <a:cubicBezTo>
                      <a:pt x="53" y="215"/>
                      <a:pt x="55" y="215"/>
                      <a:pt x="55" y="215"/>
                    </a:cubicBezTo>
                    <a:cubicBezTo>
                      <a:pt x="55" y="215"/>
                      <a:pt x="56" y="215"/>
                      <a:pt x="56" y="216"/>
                    </a:cubicBezTo>
                    <a:cubicBezTo>
                      <a:pt x="56" y="217"/>
                      <a:pt x="56" y="218"/>
                      <a:pt x="56" y="219"/>
                    </a:cubicBezTo>
                    <a:cubicBezTo>
                      <a:pt x="56" y="219"/>
                      <a:pt x="55" y="222"/>
                      <a:pt x="55" y="222"/>
                    </a:cubicBezTo>
                    <a:cubicBezTo>
                      <a:pt x="55" y="222"/>
                      <a:pt x="54" y="222"/>
                      <a:pt x="55" y="222"/>
                    </a:cubicBezTo>
                    <a:cubicBezTo>
                      <a:pt x="55" y="223"/>
                      <a:pt x="56" y="224"/>
                      <a:pt x="57" y="224"/>
                    </a:cubicBezTo>
                    <a:cubicBezTo>
                      <a:pt x="58" y="224"/>
                      <a:pt x="60" y="222"/>
                      <a:pt x="61" y="222"/>
                    </a:cubicBezTo>
                    <a:cubicBezTo>
                      <a:pt x="61" y="221"/>
                      <a:pt x="62" y="221"/>
                      <a:pt x="62" y="221"/>
                    </a:cubicBezTo>
                    <a:cubicBezTo>
                      <a:pt x="62" y="221"/>
                      <a:pt x="64" y="222"/>
                      <a:pt x="64" y="222"/>
                    </a:cubicBezTo>
                    <a:cubicBezTo>
                      <a:pt x="64" y="222"/>
                      <a:pt x="65" y="222"/>
                      <a:pt x="65" y="222"/>
                    </a:cubicBezTo>
                    <a:cubicBezTo>
                      <a:pt x="66" y="222"/>
                      <a:pt x="68" y="222"/>
                      <a:pt x="68" y="222"/>
                    </a:cubicBezTo>
                    <a:cubicBezTo>
                      <a:pt x="68" y="221"/>
                      <a:pt x="68" y="221"/>
                      <a:pt x="69" y="220"/>
                    </a:cubicBezTo>
                    <a:cubicBezTo>
                      <a:pt x="69" y="220"/>
                      <a:pt x="70" y="217"/>
                      <a:pt x="71" y="215"/>
                    </a:cubicBezTo>
                    <a:cubicBezTo>
                      <a:pt x="69" y="214"/>
                      <a:pt x="69" y="214"/>
                      <a:pt x="69" y="213"/>
                    </a:cubicBezTo>
                    <a:cubicBezTo>
                      <a:pt x="68" y="213"/>
                      <a:pt x="65" y="210"/>
                      <a:pt x="64" y="208"/>
                    </a:cubicBezTo>
                    <a:cubicBezTo>
                      <a:pt x="62" y="206"/>
                      <a:pt x="60" y="205"/>
                      <a:pt x="60" y="205"/>
                    </a:cubicBezTo>
                    <a:cubicBezTo>
                      <a:pt x="59" y="205"/>
                      <a:pt x="58" y="206"/>
                      <a:pt x="57" y="206"/>
                    </a:cubicBezTo>
                    <a:cubicBezTo>
                      <a:pt x="57" y="206"/>
                      <a:pt x="55" y="206"/>
                      <a:pt x="54" y="205"/>
                    </a:cubicBezTo>
                    <a:cubicBezTo>
                      <a:pt x="53" y="204"/>
                      <a:pt x="49" y="201"/>
                      <a:pt x="48" y="201"/>
                    </a:cubicBezTo>
                    <a:cubicBezTo>
                      <a:pt x="47" y="202"/>
                      <a:pt x="45" y="201"/>
                      <a:pt x="45" y="200"/>
                    </a:cubicBezTo>
                    <a:cubicBezTo>
                      <a:pt x="45" y="199"/>
                      <a:pt x="45" y="199"/>
                      <a:pt x="44" y="198"/>
                    </a:cubicBezTo>
                    <a:cubicBezTo>
                      <a:pt x="43" y="198"/>
                      <a:pt x="42" y="194"/>
                      <a:pt x="43" y="194"/>
                    </a:cubicBezTo>
                    <a:cubicBezTo>
                      <a:pt x="44" y="195"/>
                      <a:pt x="45" y="197"/>
                      <a:pt x="46" y="196"/>
                    </a:cubicBezTo>
                    <a:cubicBezTo>
                      <a:pt x="46" y="195"/>
                      <a:pt x="45" y="191"/>
                      <a:pt x="44" y="188"/>
                    </a:cubicBezTo>
                    <a:cubicBezTo>
                      <a:pt x="43" y="186"/>
                      <a:pt x="39" y="176"/>
                      <a:pt x="38" y="174"/>
                    </a:cubicBezTo>
                    <a:cubicBezTo>
                      <a:pt x="38" y="173"/>
                      <a:pt x="37" y="169"/>
                      <a:pt x="35" y="170"/>
                    </a:cubicBezTo>
                    <a:cubicBezTo>
                      <a:pt x="33" y="170"/>
                      <a:pt x="29" y="171"/>
                      <a:pt x="29" y="170"/>
                    </a:cubicBezTo>
                    <a:cubicBezTo>
                      <a:pt x="29" y="169"/>
                      <a:pt x="29" y="169"/>
                      <a:pt x="29" y="168"/>
                    </a:cubicBezTo>
                    <a:cubicBezTo>
                      <a:pt x="30" y="168"/>
                      <a:pt x="29" y="167"/>
                      <a:pt x="29" y="166"/>
                    </a:cubicBezTo>
                    <a:cubicBezTo>
                      <a:pt x="28" y="165"/>
                      <a:pt x="27" y="162"/>
                      <a:pt x="27" y="161"/>
                    </a:cubicBezTo>
                    <a:cubicBezTo>
                      <a:pt x="28" y="159"/>
                      <a:pt x="28" y="157"/>
                      <a:pt x="28" y="155"/>
                    </a:cubicBezTo>
                    <a:cubicBezTo>
                      <a:pt x="28" y="154"/>
                      <a:pt x="27" y="154"/>
                      <a:pt x="28" y="153"/>
                    </a:cubicBezTo>
                    <a:cubicBezTo>
                      <a:pt x="29" y="152"/>
                      <a:pt x="33" y="142"/>
                      <a:pt x="35" y="139"/>
                    </a:cubicBezTo>
                    <a:cubicBezTo>
                      <a:pt x="37" y="135"/>
                      <a:pt x="40" y="127"/>
                      <a:pt x="40" y="123"/>
                    </a:cubicBezTo>
                    <a:cubicBezTo>
                      <a:pt x="39" y="118"/>
                      <a:pt x="39" y="118"/>
                      <a:pt x="40" y="116"/>
                    </a:cubicBezTo>
                    <a:cubicBezTo>
                      <a:pt x="41" y="114"/>
                      <a:pt x="42" y="113"/>
                      <a:pt x="41" y="111"/>
                    </a:cubicBezTo>
                    <a:cubicBezTo>
                      <a:pt x="40" y="110"/>
                      <a:pt x="39" y="109"/>
                      <a:pt x="41" y="108"/>
                    </a:cubicBezTo>
                    <a:cubicBezTo>
                      <a:pt x="44" y="107"/>
                      <a:pt x="46" y="107"/>
                      <a:pt x="47" y="106"/>
                    </a:cubicBezTo>
                    <a:cubicBezTo>
                      <a:pt x="48" y="105"/>
                      <a:pt x="49" y="105"/>
                      <a:pt x="50" y="106"/>
                    </a:cubicBezTo>
                    <a:cubicBezTo>
                      <a:pt x="51" y="106"/>
                      <a:pt x="52" y="107"/>
                      <a:pt x="52" y="107"/>
                    </a:cubicBezTo>
                    <a:cubicBezTo>
                      <a:pt x="53" y="107"/>
                      <a:pt x="54" y="107"/>
                      <a:pt x="54" y="108"/>
                    </a:cubicBezTo>
                    <a:cubicBezTo>
                      <a:pt x="54" y="110"/>
                      <a:pt x="53" y="116"/>
                      <a:pt x="53" y="117"/>
                    </a:cubicBezTo>
                    <a:cubicBezTo>
                      <a:pt x="53" y="118"/>
                      <a:pt x="52" y="120"/>
                      <a:pt x="55" y="119"/>
                    </a:cubicBezTo>
                    <a:cubicBezTo>
                      <a:pt x="58" y="119"/>
                      <a:pt x="65" y="119"/>
                      <a:pt x="65" y="119"/>
                    </a:cubicBezTo>
                    <a:cubicBezTo>
                      <a:pt x="65" y="119"/>
                      <a:pt x="67" y="119"/>
                      <a:pt x="68" y="120"/>
                    </a:cubicBezTo>
                    <a:cubicBezTo>
                      <a:pt x="69" y="121"/>
                      <a:pt x="72" y="124"/>
                      <a:pt x="73" y="124"/>
                    </a:cubicBezTo>
                    <a:cubicBezTo>
                      <a:pt x="74" y="124"/>
                      <a:pt x="74" y="124"/>
                      <a:pt x="74" y="125"/>
                    </a:cubicBezTo>
                    <a:cubicBezTo>
                      <a:pt x="74" y="126"/>
                      <a:pt x="74" y="126"/>
                      <a:pt x="75" y="127"/>
                    </a:cubicBezTo>
                    <a:cubicBezTo>
                      <a:pt x="76" y="127"/>
                      <a:pt x="76" y="128"/>
                      <a:pt x="77" y="128"/>
                    </a:cubicBezTo>
                    <a:cubicBezTo>
                      <a:pt x="77" y="128"/>
                      <a:pt x="79" y="129"/>
                      <a:pt x="79" y="128"/>
                    </a:cubicBezTo>
                    <a:cubicBezTo>
                      <a:pt x="80" y="128"/>
                      <a:pt x="80" y="129"/>
                      <a:pt x="81" y="129"/>
                    </a:cubicBezTo>
                    <a:cubicBezTo>
                      <a:pt x="81" y="129"/>
                      <a:pt x="81" y="128"/>
                      <a:pt x="81" y="127"/>
                    </a:cubicBezTo>
                    <a:cubicBezTo>
                      <a:pt x="81" y="127"/>
                      <a:pt x="81" y="124"/>
                      <a:pt x="81" y="123"/>
                    </a:cubicBezTo>
                    <a:cubicBezTo>
                      <a:pt x="81" y="123"/>
                      <a:pt x="80" y="122"/>
                      <a:pt x="80" y="122"/>
                    </a:cubicBezTo>
                    <a:cubicBezTo>
                      <a:pt x="80" y="121"/>
                      <a:pt x="78" y="120"/>
                      <a:pt x="77" y="119"/>
                    </a:cubicBezTo>
                    <a:cubicBezTo>
                      <a:pt x="77" y="119"/>
                      <a:pt x="77" y="119"/>
                      <a:pt x="77" y="119"/>
                    </a:cubicBezTo>
                    <a:cubicBezTo>
                      <a:pt x="77" y="118"/>
                      <a:pt x="77" y="115"/>
                      <a:pt x="77" y="115"/>
                    </a:cubicBezTo>
                    <a:cubicBezTo>
                      <a:pt x="77" y="114"/>
                      <a:pt x="77" y="114"/>
                      <a:pt x="77" y="114"/>
                    </a:cubicBezTo>
                    <a:cubicBezTo>
                      <a:pt x="76" y="114"/>
                      <a:pt x="76" y="113"/>
                      <a:pt x="76" y="113"/>
                    </a:cubicBezTo>
                    <a:cubicBezTo>
                      <a:pt x="76" y="113"/>
                      <a:pt x="75" y="110"/>
                      <a:pt x="75" y="110"/>
                    </a:cubicBezTo>
                    <a:cubicBezTo>
                      <a:pt x="74" y="109"/>
                      <a:pt x="74" y="109"/>
                      <a:pt x="74" y="109"/>
                    </a:cubicBezTo>
                    <a:cubicBezTo>
                      <a:pt x="74" y="109"/>
                      <a:pt x="75" y="108"/>
                      <a:pt x="74" y="107"/>
                    </a:cubicBezTo>
                    <a:cubicBezTo>
                      <a:pt x="74" y="107"/>
                      <a:pt x="75" y="106"/>
                      <a:pt x="75" y="106"/>
                    </a:cubicBezTo>
                    <a:cubicBezTo>
                      <a:pt x="76" y="106"/>
                      <a:pt x="79" y="102"/>
                      <a:pt x="80" y="102"/>
                    </a:cubicBezTo>
                    <a:cubicBezTo>
                      <a:pt x="80" y="102"/>
                      <a:pt x="80" y="101"/>
                      <a:pt x="81" y="101"/>
                    </a:cubicBezTo>
                    <a:cubicBezTo>
                      <a:pt x="81" y="100"/>
                      <a:pt x="83" y="97"/>
                      <a:pt x="83" y="96"/>
                    </a:cubicBezTo>
                    <a:cubicBezTo>
                      <a:pt x="83" y="96"/>
                      <a:pt x="84" y="95"/>
                      <a:pt x="84" y="95"/>
                    </a:cubicBezTo>
                    <a:cubicBezTo>
                      <a:pt x="85" y="95"/>
                      <a:pt x="87" y="94"/>
                      <a:pt x="87" y="94"/>
                    </a:cubicBezTo>
                    <a:cubicBezTo>
                      <a:pt x="88" y="94"/>
                      <a:pt x="89" y="93"/>
                      <a:pt x="90" y="93"/>
                    </a:cubicBezTo>
                    <a:cubicBezTo>
                      <a:pt x="90" y="93"/>
                      <a:pt x="90" y="93"/>
                      <a:pt x="91" y="93"/>
                    </a:cubicBezTo>
                    <a:cubicBezTo>
                      <a:pt x="92" y="93"/>
                      <a:pt x="98" y="93"/>
                      <a:pt x="100" y="93"/>
                    </a:cubicBezTo>
                    <a:cubicBezTo>
                      <a:pt x="102" y="94"/>
                      <a:pt x="111" y="93"/>
                      <a:pt x="112" y="93"/>
                    </a:cubicBezTo>
                    <a:cubicBezTo>
                      <a:pt x="112" y="93"/>
                      <a:pt x="113" y="93"/>
                      <a:pt x="114" y="93"/>
                    </a:cubicBezTo>
                    <a:cubicBezTo>
                      <a:pt x="114" y="93"/>
                      <a:pt x="114" y="94"/>
                      <a:pt x="114" y="94"/>
                    </a:cubicBezTo>
                    <a:cubicBezTo>
                      <a:pt x="114" y="94"/>
                      <a:pt x="114" y="95"/>
                      <a:pt x="115" y="95"/>
                    </a:cubicBezTo>
                    <a:cubicBezTo>
                      <a:pt x="116" y="96"/>
                      <a:pt x="116" y="94"/>
                      <a:pt x="116" y="94"/>
                    </a:cubicBezTo>
                    <a:cubicBezTo>
                      <a:pt x="117" y="94"/>
                      <a:pt x="117" y="94"/>
                      <a:pt x="117" y="9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28" name="Freeform 738">
                <a:extLst>
                  <a:ext uri="{FF2B5EF4-FFF2-40B4-BE49-F238E27FC236}">
                    <a16:creationId xmlns:a16="http://schemas.microsoft.com/office/drawing/2014/main" id="{BCDAB06A-9562-45B8-93A3-78E1A5D6D87B}"/>
                  </a:ext>
                </a:extLst>
              </p:cNvPr>
              <p:cNvSpPr>
                <a:spLocks/>
              </p:cNvSpPr>
              <p:nvPr/>
            </p:nvSpPr>
            <p:spPr bwMode="auto">
              <a:xfrm>
                <a:off x="5562" y="2569"/>
                <a:ext cx="3" cy="6"/>
              </a:xfrm>
              <a:custGeom>
                <a:avLst/>
                <a:gdLst>
                  <a:gd name="T0" fmla="*/ 2 w 2"/>
                  <a:gd name="T1" fmla="*/ 2 h 4"/>
                  <a:gd name="T2" fmla="*/ 0 w 2"/>
                  <a:gd name="T3" fmla="*/ 3 h 4"/>
                  <a:gd name="T4" fmla="*/ 2 w 2"/>
                  <a:gd name="T5" fmla="*/ 2 h 4"/>
                </a:gdLst>
                <a:ahLst/>
                <a:cxnLst>
                  <a:cxn ang="0">
                    <a:pos x="T0" y="T1"/>
                  </a:cxn>
                  <a:cxn ang="0">
                    <a:pos x="T2" y="T3"/>
                  </a:cxn>
                  <a:cxn ang="0">
                    <a:pos x="T4" y="T5"/>
                  </a:cxn>
                </a:cxnLst>
                <a:rect l="0" t="0" r="r" b="b"/>
                <a:pathLst>
                  <a:path w="2" h="4">
                    <a:moveTo>
                      <a:pt x="2" y="2"/>
                    </a:moveTo>
                    <a:cubicBezTo>
                      <a:pt x="1" y="0"/>
                      <a:pt x="0" y="2"/>
                      <a:pt x="0" y="3"/>
                    </a:cubicBezTo>
                    <a:cubicBezTo>
                      <a:pt x="0" y="3"/>
                      <a:pt x="2" y="4"/>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29" name="Freeform 739">
                <a:extLst>
                  <a:ext uri="{FF2B5EF4-FFF2-40B4-BE49-F238E27FC236}">
                    <a16:creationId xmlns:a16="http://schemas.microsoft.com/office/drawing/2014/main" id="{1B1204B5-AC47-4B1B-830E-889F33F6AF6B}"/>
                  </a:ext>
                </a:extLst>
              </p:cNvPr>
              <p:cNvSpPr>
                <a:spLocks/>
              </p:cNvSpPr>
              <p:nvPr/>
            </p:nvSpPr>
            <p:spPr bwMode="auto">
              <a:xfrm>
                <a:off x="5550" y="2550"/>
                <a:ext cx="5" cy="6"/>
              </a:xfrm>
              <a:custGeom>
                <a:avLst/>
                <a:gdLst>
                  <a:gd name="T0" fmla="*/ 3 w 4"/>
                  <a:gd name="T1" fmla="*/ 3 h 4"/>
                  <a:gd name="T2" fmla="*/ 4 w 4"/>
                  <a:gd name="T3" fmla="*/ 1 h 4"/>
                  <a:gd name="T4" fmla="*/ 3 w 4"/>
                  <a:gd name="T5" fmla="*/ 1 h 4"/>
                  <a:gd name="T6" fmla="*/ 1 w 4"/>
                  <a:gd name="T7" fmla="*/ 1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4" y="2"/>
                      <a:pt x="4" y="2"/>
                      <a:pt x="4" y="1"/>
                    </a:cubicBezTo>
                    <a:cubicBezTo>
                      <a:pt x="4" y="0"/>
                      <a:pt x="3" y="0"/>
                      <a:pt x="3" y="1"/>
                    </a:cubicBezTo>
                    <a:cubicBezTo>
                      <a:pt x="2" y="1"/>
                      <a:pt x="0" y="0"/>
                      <a:pt x="1" y="1"/>
                    </a:cubicBezTo>
                    <a:cubicBezTo>
                      <a:pt x="1" y="1"/>
                      <a:pt x="3" y="4"/>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30" name="Freeform 740">
                <a:extLst>
                  <a:ext uri="{FF2B5EF4-FFF2-40B4-BE49-F238E27FC236}">
                    <a16:creationId xmlns:a16="http://schemas.microsoft.com/office/drawing/2014/main" id="{EA9BB3CB-C46D-4FEF-8984-50715C1792A9}"/>
                  </a:ext>
                </a:extLst>
              </p:cNvPr>
              <p:cNvSpPr>
                <a:spLocks/>
              </p:cNvSpPr>
              <p:nvPr/>
            </p:nvSpPr>
            <p:spPr bwMode="auto">
              <a:xfrm>
                <a:off x="5642" y="2622"/>
                <a:ext cx="3" cy="8"/>
              </a:xfrm>
              <a:custGeom>
                <a:avLst/>
                <a:gdLst>
                  <a:gd name="T0" fmla="*/ 0 w 2"/>
                  <a:gd name="T1" fmla="*/ 2 h 6"/>
                  <a:gd name="T2" fmla="*/ 1 w 2"/>
                  <a:gd name="T3" fmla="*/ 3 h 6"/>
                  <a:gd name="T4" fmla="*/ 0 w 2"/>
                  <a:gd name="T5" fmla="*/ 2 h 6"/>
                </a:gdLst>
                <a:ahLst/>
                <a:cxnLst>
                  <a:cxn ang="0">
                    <a:pos x="T0" y="T1"/>
                  </a:cxn>
                  <a:cxn ang="0">
                    <a:pos x="T2" y="T3"/>
                  </a:cxn>
                  <a:cxn ang="0">
                    <a:pos x="T4" y="T5"/>
                  </a:cxn>
                </a:cxnLst>
                <a:rect l="0" t="0" r="r" b="b"/>
                <a:pathLst>
                  <a:path w="2" h="6">
                    <a:moveTo>
                      <a:pt x="0" y="2"/>
                    </a:moveTo>
                    <a:cubicBezTo>
                      <a:pt x="0" y="2"/>
                      <a:pt x="0" y="6"/>
                      <a:pt x="1" y="3"/>
                    </a:cubicBezTo>
                    <a:cubicBezTo>
                      <a:pt x="2" y="0"/>
                      <a:pt x="0" y="2"/>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31" name="Freeform 741">
                <a:extLst>
                  <a:ext uri="{FF2B5EF4-FFF2-40B4-BE49-F238E27FC236}">
                    <a16:creationId xmlns:a16="http://schemas.microsoft.com/office/drawing/2014/main" id="{F3C6716D-6E59-40F8-9DA6-EB21341BAFA5}"/>
                  </a:ext>
                </a:extLst>
              </p:cNvPr>
              <p:cNvSpPr>
                <a:spLocks/>
              </p:cNvSpPr>
              <p:nvPr/>
            </p:nvSpPr>
            <p:spPr bwMode="auto">
              <a:xfrm>
                <a:off x="5628" y="2653"/>
                <a:ext cx="13" cy="3"/>
              </a:xfrm>
              <a:custGeom>
                <a:avLst/>
                <a:gdLst>
                  <a:gd name="T0" fmla="*/ 5 w 9"/>
                  <a:gd name="T1" fmla="*/ 1 h 2"/>
                  <a:gd name="T2" fmla="*/ 6 w 9"/>
                  <a:gd name="T3" fmla="*/ 0 h 2"/>
                  <a:gd name="T4" fmla="*/ 5 w 9"/>
                  <a:gd name="T5" fmla="*/ 1 h 2"/>
                </a:gdLst>
                <a:ahLst/>
                <a:cxnLst>
                  <a:cxn ang="0">
                    <a:pos x="T0" y="T1"/>
                  </a:cxn>
                  <a:cxn ang="0">
                    <a:pos x="T2" y="T3"/>
                  </a:cxn>
                  <a:cxn ang="0">
                    <a:pos x="T4" y="T5"/>
                  </a:cxn>
                </a:cxnLst>
                <a:rect l="0" t="0" r="r" b="b"/>
                <a:pathLst>
                  <a:path w="9" h="2">
                    <a:moveTo>
                      <a:pt x="5" y="1"/>
                    </a:moveTo>
                    <a:cubicBezTo>
                      <a:pt x="5" y="1"/>
                      <a:pt x="9" y="0"/>
                      <a:pt x="6" y="0"/>
                    </a:cubicBezTo>
                    <a:cubicBezTo>
                      <a:pt x="4" y="0"/>
                      <a:pt x="0" y="2"/>
                      <a:pt x="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32" name="Freeform 742">
                <a:extLst>
                  <a:ext uri="{FF2B5EF4-FFF2-40B4-BE49-F238E27FC236}">
                    <a16:creationId xmlns:a16="http://schemas.microsoft.com/office/drawing/2014/main" id="{BD58EACF-C6B6-4E26-BA5F-E02B07F9B9FF}"/>
                  </a:ext>
                </a:extLst>
              </p:cNvPr>
              <p:cNvSpPr>
                <a:spLocks/>
              </p:cNvSpPr>
              <p:nvPr/>
            </p:nvSpPr>
            <p:spPr bwMode="auto">
              <a:xfrm>
                <a:off x="5790" y="2624"/>
                <a:ext cx="2" cy="13"/>
              </a:xfrm>
              <a:custGeom>
                <a:avLst/>
                <a:gdLst>
                  <a:gd name="T0" fmla="*/ 1 w 1"/>
                  <a:gd name="T1" fmla="*/ 5 h 9"/>
                  <a:gd name="T2" fmla="*/ 0 w 1"/>
                  <a:gd name="T3" fmla="*/ 2 h 9"/>
                  <a:gd name="T4" fmla="*/ 1 w 1"/>
                  <a:gd name="T5" fmla="*/ 5 h 9"/>
                </a:gdLst>
                <a:ahLst/>
                <a:cxnLst>
                  <a:cxn ang="0">
                    <a:pos x="T0" y="T1"/>
                  </a:cxn>
                  <a:cxn ang="0">
                    <a:pos x="T2" y="T3"/>
                  </a:cxn>
                  <a:cxn ang="0">
                    <a:pos x="T4" y="T5"/>
                  </a:cxn>
                </a:cxnLst>
                <a:rect l="0" t="0" r="r" b="b"/>
                <a:pathLst>
                  <a:path w="1" h="9">
                    <a:moveTo>
                      <a:pt x="1" y="5"/>
                    </a:moveTo>
                    <a:cubicBezTo>
                      <a:pt x="1" y="5"/>
                      <a:pt x="1" y="0"/>
                      <a:pt x="0" y="2"/>
                    </a:cubicBezTo>
                    <a:cubicBezTo>
                      <a:pt x="0" y="3"/>
                      <a:pt x="0" y="9"/>
                      <a:pt x="1"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33" name="Freeform 743">
                <a:extLst>
                  <a:ext uri="{FF2B5EF4-FFF2-40B4-BE49-F238E27FC236}">
                    <a16:creationId xmlns:a16="http://schemas.microsoft.com/office/drawing/2014/main" id="{0E996ECF-9EBE-48EA-BED4-D0C422EA3E6D}"/>
                  </a:ext>
                </a:extLst>
              </p:cNvPr>
              <p:cNvSpPr>
                <a:spLocks/>
              </p:cNvSpPr>
              <p:nvPr/>
            </p:nvSpPr>
            <p:spPr bwMode="auto">
              <a:xfrm>
                <a:off x="5908" y="2532"/>
                <a:ext cx="7" cy="6"/>
              </a:xfrm>
              <a:custGeom>
                <a:avLst/>
                <a:gdLst>
                  <a:gd name="T0" fmla="*/ 0 w 5"/>
                  <a:gd name="T1" fmla="*/ 2 h 4"/>
                  <a:gd name="T2" fmla="*/ 2 w 5"/>
                  <a:gd name="T3" fmla="*/ 3 h 4"/>
                  <a:gd name="T4" fmla="*/ 3 w 5"/>
                  <a:gd name="T5" fmla="*/ 0 h 4"/>
                  <a:gd name="T6" fmla="*/ 0 w 5"/>
                  <a:gd name="T7" fmla="*/ 2 h 4"/>
                </a:gdLst>
                <a:ahLst/>
                <a:cxnLst>
                  <a:cxn ang="0">
                    <a:pos x="T0" y="T1"/>
                  </a:cxn>
                  <a:cxn ang="0">
                    <a:pos x="T2" y="T3"/>
                  </a:cxn>
                  <a:cxn ang="0">
                    <a:pos x="T4" y="T5"/>
                  </a:cxn>
                  <a:cxn ang="0">
                    <a:pos x="T6" y="T7"/>
                  </a:cxn>
                </a:cxnLst>
                <a:rect l="0" t="0" r="r" b="b"/>
                <a:pathLst>
                  <a:path w="5" h="4">
                    <a:moveTo>
                      <a:pt x="0" y="2"/>
                    </a:moveTo>
                    <a:cubicBezTo>
                      <a:pt x="0" y="3"/>
                      <a:pt x="0" y="4"/>
                      <a:pt x="2" y="3"/>
                    </a:cubicBezTo>
                    <a:cubicBezTo>
                      <a:pt x="2" y="3"/>
                      <a:pt x="5" y="0"/>
                      <a:pt x="3" y="0"/>
                    </a:cubicBezTo>
                    <a:cubicBezTo>
                      <a:pt x="1" y="0"/>
                      <a:pt x="0"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34" name="Freeform 744">
                <a:extLst>
                  <a:ext uri="{FF2B5EF4-FFF2-40B4-BE49-F238E27FC236}">
                    <a16:creationId xmlns:a16="http://schemas.microsoft.com/office/drawing/2014/main" id="{C531E18F-A4D1-45BB-B2DE-51369E044350}"/>
                  </a:ext>
                </a:extLst>
              </p:cNvPr>
              <p:cNvSpPr>
                <a:spLocks/>
              </p:cNvSpPr>
              <p:nvPr/>
            </p:nvSpPr>
            <p:spPr bwMode="auto">
              <a:xfrm>
                <a:off x="5936" y="2586"/>
                <a:ext cx="4" cy="3"/>
              </a:xfrm>
              <a:custGeom>
                <a:avLst/>
                <a:gdLst>
                  <a:gd name="T0" fmla="*/ 0 w 3"/>
                  <a:gd name="T1" fmla="*/ 1 h 2"/>
                  <a:gd name="T2" fmla="*/ 3 w 3"/>
                  <a:gd name="T3" fmla="*/ 1 h 2"/>
                  <a:gd name="T4" fmla="*/ 0 w 3"/>
                  <a:gd name="T5" fmla="*/ 1 h 2"/>
                </a:gdLst>
                <a:ahLst/>
                <a:cxnLst>
                  <a:cxn ang="0">
                    <a:pos x="T0" y="T1"/>
                  </a:cxn>
                  <a:cxn ang="0">
                    <a:pos x="T2" y="T3"/>
                  </a:cxn>
                  <a:cxn ang="0">
                    <a:pos x="T4" y="T5"/>
                  </a:cxn>
                </a:cxnLst>
                <a:rect l="0" t="0" r="r" b="b"/>
                <a:pathLst>
                  <a:path w="3" h="2">
                    <a:moveTo>
                      <a:pt x="0" y="1"/>
                    </a:moveTo>
                    <a:cubicBezTo>
                      <a:pt x="1" y="1"/>
                      <a:pt x="2" y="2"/>
                      <a:pt x="3" y="1"/>
                    </a:cubicBezTo>
                    <a:cubicBezTo>
                      <a:pt x="3" y="1"/>
                      <a:pt x="0"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35" name="Freeform 745">
                <a:extLst>
                  <a:ext uri="{FF2B5EF4-FFF2-40B4-BE49-F238E27FC236}">
                    <a16:creationId xmlns:a16="http://schemas.microsoft.com/office/drawing/2014/main" id="{F48F72E5-24C6-440D-9A51-386A5479CE99}"/>
                  </a:ext>
                </a:extLst>
              </p:cNvPr>
              <p:cNvSpPr>
                <a:spLocks/>
              </p:cNvSpPr>
              <p:nvPr/>
            </p:nvSpPr>
            <p:spPr bwMode="auto">
              <a:xfrm>
                <a:off x="5754" y="2538"/>
                <a:ext cx="201" cy="128"/>
              </a:xfrm>
              <a:custGeom>
                <a:avLst/>
                <a:gdLst>
                  <a:gd name="T0" fmla="*/ 137 w 145"/>
                  <a:gd name="T1" fmla="*/ 23 h 93"/>
                  <a:gd name="T2" fmla="*/ 133 w 145"/>
                  <a:gd name="T3" fmla="*/ 21 h 93"/>
                  <a:gd name="T4" fmla="*/ 124 w 145"/>
                  <a:gd name="T5" fmla="*/ 20 h 93"/>
                  <a:gd name="T6" fmla="*/ 127 w 145"/>
                  <a:gd name="T7" fmla="*/ 17 h 93"/>
                  <a:gd name="T8" fmla="*/ 119 w 145"/>
                  <a:gd name="T9" fmla="*/ 17 h 93"/>
                  <a:gd name="T10" fmla="*/ 120 w 145"/>
                  <a:gd name="T11" fmla="*/ 13 h 93"/>
                  <a:gd name="T12" fmla="*/ 120 w 145"/>
                  <a:gd name="T13" fmla="*/ 9 h 93"/>
                  <a:gd name="T14" fmla="*/ 114 w 145"/>
                  <a:gd name="T15" fmla="*/ 4 h 93"/>
                  <a:gd name="T16" fmla="*/ 108 w 145"/>
                  <a:gd name="T17" fmla="*/ 6 h 93"/>
                  <a:gd name="T18" fmla="*/ 106 w 145"/>
                  <a:gd name="T19" fmla="*/ 1 h 93"/>
                  <a:gd name="T20" fmla="*/ 93 w 145"/>
                  <a:gd name="T21" fmla="*/ 22 h 93"/>
                  <a:gd name="T22" fmla="*/ 88 w 145"/>
                  <a:gd name="T23" fmla="*/ 23 h 93"/>
                  <a:gd name="T24" fmla="*/ 87 w 145"/>
                  <a:gd name="T25" fmla="*/ 29 h 93"/>
                  <a:gd name="T26" fmla="*/ 83 w 145"/>
                  <a:gd name="T27" fmla="*/ 32 h 93"/>
                  <a:gd name="T28" fmla="*/ 85 w 145"/>
                  <a:gd name="T29" fmla="*/ 39 h 93"/>
                  <a:gd name="T30" fmla="*/ 83 w 145"/>
                  <a:gd name="T31" fmla="*/ 40 h 93"/>
                  <a:gd name="T32" fmla="*/ 80 w 145"/>
                  <a:gd name="T33" fmla="*/ 35 h 93"/>
                  <a:gd name="T34" fmla="*/ 81 w 145"/>
                  <a:gd name="T35" fmla="*/ 32 h 93"/>
                  <a:gd name="T36" fmla="*/ 77 w 145"/>
                  <a:gd name="T37" fmla="*/ 36 h 93"/>
                  <a:gd name="T38" fmla="*/ 78 w 145"/>
                  <a:gd name="T39" fmla="*/ 41 h 93"/>
                  <a:gd name="T40" fmla="*/ 76 w 145"/>
                  <a:gd name="T41" fmla="*/ 45 h 93"/>
                  <a:gd name="T42" fmla="*/ 71 w 145"/>
                  <a:gd name="T43" fmla="*/ 41 h 93"/>
                  <a:gd name="T44" fmla="*/ 67 w 145"/>
                  <a:gd name="T45" fmla="*/ 37 h 93"/>
                  <a:gd name="T46" fmla="*/ 53 w 145"/>
                  <a:gd name="T47" fmla="*/ 56 h 93"/>
                  <a:gd name="T48" fmla="*/ 34 w 145"/>
                  <a:gd name="T49" fmla="*/ 62 h 93"/>
                  <a:gd name="T50" fmla="*/ 27 w 145"/>
                  <a:gd name="T51" fmla="*/ 70 h 93"/>
                  <a:gd name="T52" fmla="*/ 26 w 145"/>
                  <a:gd name="T53" fmla="*/ 74 h 93"/>
                  <a:gd name="T54" fmla="*/ 23 w 145"/>
                  <a:gd name="T55" fmla="*/ 81 h 93"/>
                  <a:gd name="T56" fmla="*/ 25 w 145"/>
                  <a:gd name="T57" fmla="*/ 84 h 93"/>
                  <a:gd name="T58" fmla="*/ 17 w 145"/>
                  <a:gd name="T59" fmla="*/ 83 h 93"/>
                  <a:gd name="T60" fmla="*/ 12 w 145"/>
                  <a:gd name="T61" fmla="*/ 79 h 93"/>
                  <a:gd name="T62" fmla="*/ 1 w 145"/>
                  <a:gd name="T63" fmla="*/ 74 h 93"/>
                  <a:gd name="T64" fmla="*/ 2 w 145"/>
                  <a:gd name="T65" fmla="*/ 81 h 93"/>
                  <a:gd name="T66" fmla="*/ 11 w 145"/>
                  <a:gd name="T67" fmla="*/ 90 h 93"/>
                  <a:gd name="T68" fmla="*/ 24 w 145"/>
                  <a:gd name="T69" fmla="*/ 89 h 93"/>
                  <a:gd name="T70" fmla="*/ 38 w 145"/>
                  <a:gd name="T71" fmla="*/ 86 h 93"/>
                  <a:gd name="T72" fmla="*/ 48 w 145"/>
                  <a:gd name="T73" fmla="*/ 82 h 93"/>
                  <a:gd name="T74" fmla="*/ 52 w 145"/>
                  <a:gd name="T75" fmla="*/ 84 h 93"/>
                  <a:gd name="T76" fmla="*/ 62 w 145"/>
                  <a:gd name="T77" fmla="*/ 86 h 93"/>
                  <a:gd name="T78" fmla="*/ 74 w 145"/>
                  <a:gd name="T79" fmla="*/ 83 h 93"/>
                  <a:gd name="T80" fmla="*/ 78 w 145"/>
                  <a:gd name="T81" fmla="*/ 74 h 93"/>
                  <a:gd name="T82" fmla="*/ 83 w 145"/>
                  <a:gd name="T83" fmla="*/ 68 h 93"/>
                  <a:gd name="T84" fmla="*/ 82 w 145"/>
                  <a:gd name="T85" fmla="*/ 66 h 93"/>
                  <a:gd name="T86" fmla="*/ 85 w 145"/>
                  <a:gd name="T87" fmla="*/ 60 h 93"/>
                  <a:gd name="T88" fmla="*/ 90 w 145"/>
                  <a:gd name="T89" fmla="*/ 54 h 93"/>
                  <a:gd name="T90" fmla="*/ 89 w 145"/>
                  <a:gd name="T91" fmla="*/ 46 h 93"/>
                  <a:gd name="T92" fmla="*/ 94 w 145"/>
                  <a:gd name="T93" fmla="*/ 40 h 93"/>
                  <a:gd name="T94" fmla="*/ 100 w 145"/>
                  <a:gd name="T95" fmla="*/ 40 h 93"/>
                  <a:gd name="T96" fmla="*/ 117 w 145"/>
                  <a:gd name="T97" fmla="*/ 43 h 93"/>
                  <a:gd name="T98" fmla="*/ 119 w 145"/>
                  <a:gd name="T99" fmla="*/ 41 h 93"/>
                  <a:gd name="T100" fmla="*/ 126 w 145"/>
                  <a:gd name="T101" fmla="*/ 41 h 93"/>
                  <a:gd name="T102" fmla="*/ 132 w 145"/>
                  <a:gd name="T103" fmla="*/ 37 h 93"/>
                  <a:gd name="T104" fmla="*/ 128 w 145"/>
                  <a:gd name="T105" fmla="*/ 32 h 93"/>
                  <a:gd name="T106" fmla="*/ 137 w 145"/>
                  <a:gd name="T107" fmla="*/ 30 h 93"/>
                  <a:gd name="T108" fmla="*/ 143 w 145"/>
                  <a:gd name="T109" fmla="*/ 2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5" h="93">
                    <a:moveTo>
                      <a:pt x="143" y="25"/>
                    </a:moveTo>
                    <a:cubicBezTo>
                      <a:pt x="142" y="24"/>
                      <a:pt x="139" y="25"/>
                      <a:pt x="137" y="23"/>
                    </a:cubicBezTo>
                    <a:cubicBezTo>
                      <a:pt x="135" y="21"/>
                      <a:pt x="135" y="21"/>
                      <a:pt x="134" y="21"/>
                    </a:cubicBezTo>
                    <a:cubicBezTo>
                      <a:pt x="134" y="22"/>
                      <a:pt x="134" y="22"/>
                      <a:pt x="133" y="21"/>
                    </a:cubicBezTo>
                    <a:cubicBezTo>
                      <a:pt x="133" y="20"/>
                      <a:pt x="130" y="18"/>
                      <a:pt x="128" y="19"/>
                    </a:cubicBezTo>
                    <a:cubicBezTo>
                      <a:pt x="126" y="20"/>
                      <a:pt x="125" y="20"/>
                      <a:pt x="124" y="20"/>
                    </a:cubicBezTo>
                    <a:cubicBezTo>
                      <a:pt x="124" y="20"/>
                      <a:pt x="123" y="19"/>
                      <a:pt x="125" y="18"/>
                    </a:cubicBezTo>
                    <a:cubicBezTo>
                      <a:pt x="128" y="18"/>
                      <a:pt x="127" y="17"/>
                      <a:pt x="127" y="17"/>
                    </a:cubicBezTo>
                    <a:cubicBezTo>
                      <a:pt x="126" y="16"/>
                      <a:pt x="126" y="15"/>
                      <a:pt x="124" y="16"/>
                    </a:cubicBezTo>
                    <a:cubicBezTo>
                      <a:pt x="122" y="17"/>
                      <a:pt x="120" y="17"/>
                      <a:pt x="119" y="17"/>
                    </a:cubicBezTo>
                    <a:cubicBezTo>
                      <a:pt x="118" y="18"/>
                      <a:pt x="118" y="17"/>
                      <a:pt x="119" y="16"/>
                    </a:cubicBezTo>
                    <a:cubicBezTo>
                      <a:pt x="120" y="16"/>
                      <a:pt x="120" y="14"/>
                      <a:pt x="120" y="13"/>
                    </a:cubicBezTo>
                    <a:cubicBezTo>
                      <a:pt x="119" y="13"/>
                      <a:pt x="119" y="12"/>
                      <a:pt x="120" y="12"/>
                    </a:cubicBezTo>
                    <a:cubicBezTo>
                      <a:pt x="121" y="12"/>
                      <a:pt x="122" y="11"/>
                      <a:pt x="120" y="9"/>
                    </a:cubicBezTo>
                    <a:cubicBezTo>
                      <a:pt x="119" y="8"/>
                      <a:pt x="119" y="6"/>
                      <a:pt x="117" y="7"/>
                    </a:cubicBezTo>
                    <a:cubicBezTo>
                      <a:pt x="115" y="7"/>
                      <a:pt x="114" y="6"/>
                      <a:pt x="114" y="4"/>
                    </a:cubicBezTo>
                    <a:cubicBezTo>
                      <a:pt x="113" y="3"/>
                      <a:pt x="112" y="0"/>
                      <a:pt x="111" y="2"/>
                    </a:cubicBezTo>
                    <a:cubicBezTo>
                      <a:pt x="110" y="3"/>
                      <a:pt x="110" y="5"/>
                      <a:pt x="108" y="6"/>
                    </a:cubicBezTo>
                    <a:cubicBezTo>
                      <a:pt x="106" y="7"/>
                      <a:pt x="107" y="7"/>
                      <a:pt x="108" y="5"/>
                    </a:cubicBezTo>
                    <a:cubicBezTo>
                      <a:pt x="109" y="3"/>
                      <a:pt x="107" y="0"/>
                      <a:pt x="106" y="1"/>
                    </a:cubicBezTo>
                    <a:cubicBezTo>
                      <a:pt x="106" y="3"/>
                      <a:pt x="105" y="6"/>
                      <a:pt x="102" y="9"/>
                    </a:cubicBezTo>
                    <a:cubicBezTo>
                      <a:pt x="98" y="12"/>
                      <a:pt x="94" y="18"/>
                      <a:pt x="93" y="22"/>
                    </a:cubicBezTo>
                    <a:cubicBezTo>
                      <a:pt x="93" y="22"/>
                      <a:pt x="93" y="23"/>
                      <a:pt x="92" y="22"/>
                    </a:cubicBezTo>
                    <a:cubicBezTo>
                      <a:pt x="91" y="22"/>
                      <a:pt x="89" y="21"/>
                      <a:pt x="88" y="23"/>
                    </a:cubicBezTo>
                    <a:cubicBezTo>
                      <a:pt x="87" y="24"/>
                      <a:pt x="86" y="25"/>
                      <a:pt x="87" y="26"/>
                    </a:cubicBezTo>
                    <a:cubicBezTo>
                      <a:pt x="88" y="27"/>
                      <a:pt x="88" y="28"/>
                      <a:pt x="87" y="29"/>
                    </a:cubicBezTo>
                    <a:cubicBezTo>
                      <a:pt x="87" y="30"/>
                      <a:pt x="87" y="32"/>
                      <a:pt x="85" y="32"/>
                    </a:cubicBezTo>
                    <a:cubicBezTo>
                      <a:pt x="83" y="32"/>
                      <a:pt x="83" y="32"/>
                      <a:pt x="83" y="32"/>
                    </a:cubicBezTo>
                    <a:cubicBezTo>
                      <a:pt x="83" y="34"/>
                      <a:pt x="84" y="35"/>
                      <a:pt x="84" y="36"/>
                    </a:cubicBezTo>
                    <a:cubicBezTo>
                      <a:pt x="84" y="37"/>
                      <a:pt x="84" y="38"/>
                      <a:pt x="85" y="39"/>
                    </a:cubicBezTo>
                    <a:cubicBezTo>
                      <a:pt x="86" y="41"/>
                      <a:pt x="85" y="41"/>
                      <a:pt x="85" y="41"/>
                    </a:cubicBezTo>
                    <a:cubicBezTo>
                      <a:pt x="84" y="41"/>
                      <a:pt x="83" y="40"/>
                      <a:pt x="83" y="40"/>
                    </a:cubicBezTo>
                    <a:cubicBezTo>
                      <a:pt x="82" y="40"/>
                      <a:pt x="82" y="38"/>
                      <a:pt x="81" y="38"/>
                    </a:cubicBezTo>
                    <a:cubicBezTo>
                      <a:pt x="81" y="37"/>
                      <a:pt x="81" y="36"/>
                      <a:pt x="80" y="35"/>
                    </a:cubicBezTo>
                    <a:cubicBezTo>
                      <a:pt x="80" y="35"/>
                      <a:pt x="81" y="34"/>
                      <a:pt x="81" y="33"/>
                    </a:cubicBezTo>
                    <a:cubicBezTo>
                      <a:pt x="81" y="33"/>
                      <a:pt x="80" y="33"/>
                      <a:pt x="81" y="32"/>
                    </a:cubicBezTo>
                    <a:cubicBezTo>
                      <a:pt x="80" y="33"/>
                      <a:pt x="78" y="34"/>
                      <a:pt x="77" y="34"/>
                    </a:cubicBezTo>
                    <a:cubicBezTo>
                      <a:pt x="77" y="35"/>
                      <a:pt x="77" y="36"/>
                      <a:pt x="77" y="36"/>
                    </a:cubicBezTo>
                    <a:cubicBezTo>
                      <a:pt x="77" y="36"/>
                      <a:pt x="77" y="37"/>
                      <a:pt x="77" y="38"/>
                    </a:cubicBezTo>
                    <a:cubicBezTo>
                      <a:pt x="78" y="39"/>
                      <a:pt x="78" y="40"/>
                      <a:pt x="78" y="41"/>
                    </a:cubicBezTo>
                    <a:cubicBezTo>
                      <a:pt x="78" y="42"/>
                      <a:pt x="77" y="42"/>
                      <a:pt x="77" y="43"/>
                    </a:cubicBezTo>
                    <a:cubicBezTo>
                      <a:pt x="77" y="44"/>
                      <a:pt x="77" y="44"/>
                      <a:pt x="76" y="45"/>
                    </a:cubicBezTo>
                    <a:cubicBezTo>
                      <a:pt x="75" y="45"/>
                      <a:pt x="75" y="45"/>
                      <a:pt x="74" y="45"/>
                    </a:cubicBezTo>
                    <a:cubicBezTo>
                      <a:pt x="74" y="44"/>
                      <a:pt x="72" y="42"/>
                      <a:pt x="71" y="41"/>
                    </a:cubicBezTo>
                    <a:cubicBezTo>
                      <a:pt x="71" y="41"/>
                      <a:pt x="70" y="39"/>
                      <a:pt x="69" y="38"/>
                    </a:cubicBezTo>
                    <a:cubicBezTo>
                      <a:pt x="69" y="38"/>
                      <a:pt x="68" y="37"/>
                      <a:pt x="67" y="37"/>
                    </a:cubicBezTo>
                    <a:cubicBezTo>
                      <a:pt x="67" y="37"/>
                      <a:pt x="67" y="38"/>
                      <a:pt x="66" y="38"/>
                    </a:cubicBezTo>
                    <a:cubicBezTo>
                      <a:pt x="65" y="40"/>
                      <a:pt x="54" y="54"/>
                      <a:pt x="53" y="56"/>
                    </a:cubicBezTo>
                    <a:cubicBezTo>
                      <a:pt x="52" y="58"/>
                      <a:pt x="48" y="59"/>
                      <a:pt x="46" y="60"/>
                    </a:cubicBezTo>
                    <a:cubicBezTo>
                      <a:pt x="44" y="60"/>
                      <a:pt x="36" y="62"/>
                      <a:pt x="34" y="62"/>
                    </a:cubicBezTo>
                    <a:cubicBezTo>
                      <a:pt x="32" y="63"/>
                      <a:pt x="30" y="63"/>
                      <a:pt x="30" y="65"/>
                    </a:cubicBezTo>
                    <a:cubicBezTo>
                      <a:pt x="29" y="67"/>
                      <a:pt x="29" y="70"/>
                      <a:pt x="27" y="70"/>
                    </a:cubicBezTo>
                    <a:cubicBezTo>
                      <a:pt x="26" y="70"/>
                      <a:pt x="24" y="69"/>
                      <a:pt x="25" y="70"/>
                    </a:cubicBezTo>
                    <a:cubicBezTo>
                      <a:pt x="25" y="72"/>
                      <a:pt x="26" y="73"/>
                      <a:pt x="26" y="74"/>
                    </a:cubicBezTo>
                    <a:cubicBezTo>
                      <a:pt x="25" y="74"/>
                      <a:pt x="22" y="78"/>
                      <a:pt x="23" y="79"/>
                    </a:cubicBezTo>
                    <a:cubicBezTo>
                      <a:pt x="24" y="81"/>
                      <a:pt x="25" y="81"/>
                      <a:pt x="23" y="81"/>
                    </a:cubicBezTo>
                    <a:cubicBezTo>
                      <a:pt x="21" y="81"/>
                      <a:pt x="20" y="82"/>
                      <a:pt x="22" y="83"/>
                    </a:cubicBezTo>
                    <a:cubicBezTo>
                      <a:pt x="22" y="83"/>
                      <a:pt x="24" y="84"/>
                      <a:pt x="25" y="84"/>
                    </a:cubicBezTo>
                    <a:cubicBezTo>
                      <a:pt x="27" y="84"/>
                      <a:pt x="26" y="86"/>
                      <a:pt x="23" y="85"/>
                    </a:cubicBezTo>
                    <a:cubicBezTo>
                      <a:pt x="20" y="84"/>
                      <a:pt x="18" y="83"/>
                      <a:pt x="17" y="83"/>
                    </a:cubicBezTo>
                    <a:cubicBezTo>
                      <a:pt x="16" y="84"/>
                      <a:pt x="18" y="82"/>
                      <a:pt x="17" y="82"/>
                    </a:cubicBezTo>
                    <a:cubicBezTo>
                      <a:pt x="15" y="81"/>
                      <a:pt x="14" y="79"/>
                      <a:pt x="12" y="79"/>
                    </a:cubicBezTo>
                    <a:cubicBezTo>
                      <a:pt x="10" y="80"/>
                      <a:pt x="5" y="81"/>
                      <a:pt x="3" y="78"/>
                    </a:cubicBezTo>
                    <a:cubicBezTo>
                      <a:pt x="2" y="75"/>
                      <a:pt x="1" y="75"/>
                      <a:pt x="1" y="74"/>
                    </a:cubicBezTo>
                    <a:cubicBezTo>
                      <a:pt x="0" y="75"/>
                      <a:pt x="0" y="77"/>
                      <a:pt x="0" y="78"/>
                    </a:cubicBezTo>
                    <a:cubicBezTo>
                      <a:pt x="0" y="79"/>
                      <a:pt x="1" y="80"/>
                      <a:pt x="2" y="81"/>
                    </a:cubicBezTo>
                    <a:cubicBezTo>
                      <a:pt x="2" y="82"/>
                      <a:pt x="3" y="83"/>
                      <a:pt x="3" y="83"/>
                    </a:cubicBezTo>
                    <a:cubicBezTo>
                      <a:pt x="4" y="84"/>
                      <a:pt x="10" y="89"/>
                      <a:pt x="11" y="90"/>
                    </a:cubicBezTo>
                    <a:cubicBezTo>
                      <a:pt x="12" y="91"/>
                      <a:pt x="13" y="93"/>
                      <a:pt x="16" y="92"/>
                    </a:cubicBezTo>
                    <a:cubicBezTo>
                      <a:pt x="19" y="91"/>
                      <a:pt x="23" y="89"/>
                      <a:pt x="24" y="89"/>
                    </a:cubicBezTo>
                    <a:cubicBezTo>
                      <a:pt x="26" y="89"/>
                      <a:pt x="31" y="90"/>
                      <a:pt x="32" y="90"/>
                    </a:cubicBezTo>
                    <a:cubicBezTo>
                      <a:pt x="34" y="89"/>
                      <a:pt x="38" y="89"/>
                      <a:pt x="38" y="86"/>
                    </a:cubicBezTo>
                    <a:cubicBezTo>
                      <a:pt x="38" y="84"/>
                      <a:pt x="38" y="84"/>
                      <a:pt x="39" y="84"/>
                    </a:cubicBezTo>
                    <a:cubicBezTo>
                      <a:pt x="40" y="83"/>
                      <a:pt x="47" y="82"/>
                      <a:pt x="48" y="82"/>
                    </a:cubicBezTo>
                    <a:cubicBezTo>
                      <a:pt x="49" y="81"/>
                      <a:pt x="52" y="81"/>
                      <a:pt x="51" y="83"/>
                    </a:cubicBezTo>
                    <a:cubicBezTo>
                      <a:pt x="51" y="84"/>
                      <a:pt x="51" y="83"/>
                      <a:pt x="52" y="84"/>
                    </a:cubicBezTo>
                    <a:cubicBezTo>
                      <a:pt x="53" y="84"/>
                      <a:pt x="56" y="85"/>
                      <a:pt x="57" y="86"/>
                    </a:cubicBezTo>
                    <a:cubicBezTo>
                      <a:pt x="59" y="86"/>
                      <a:pt x="60" y="87"/>
                      <a:pt x="62" y="86"/>
                    </a:cubicBezTo>
                    <a:cubicBezTo>
                      <a:pt x="64" y="85"/>
                      <a:pt x="68" y="84"/>
                      <a:pt x="70" y="84"/>
                    </a:cubicBezTo>
                    <a:cubicBezTo>
                      <a:pt x="73" y="83"/>
                      <a:pt x="74" y="84"/>
                      <a:pt x="74" y="83"/>
                    </a:cubicBezTo>
                    <a:cubicBezTo>
                      <a:pt x="74" y="82"/>
                      <a:pt x="75" y="79"/>
                      <a:pt x="76" y="78"/>
                    </a:cubicBezTo>
                    <a:cubicBezTo>
                      <a:pt x="77" y="77"/>
                      <a:pt x="79" y="76"/>
                      <a:pt x="78" y="74"/>
                    </a:cubicBezTo>
                    <a:cubicBezTo>
                      <a:pt x="77" y="72"/>
                      <a:pt x="77" y="71"/>
                      <a:pt x="79" y="71"/>
                    </a:cubicBezTo>
                    <a:cubicBezTo>
                      <a:pt x="80" y="70"/>
                      <a:pt x="83" y="68"/>
                      <a:pt x="83" y="68"/>
                    </a:cubicBezTo>
                    <a:cubicBezTo>
                      <a:pt x="83" y="68"/>
                      <a:pt x="84" y="67"/>
                      <a:pt x="83" y="67"/>
                    </a:cubicBezTo>
                    <a:cubicBezTo>
                      <a:pt x="83" y="66"/>
                      <a:pt x="82" y="67"/>
                      <a:pt x="82" y="66"/>
                    </a:cubicBezTo>
                    <a:cubicBezTo>
                      <a:pt x="81" y="65"/>
                      <a:pt x="81" y="63"/>
                      <a:pt x="83" y="62"/>
                    </a:cubicBezTo>
                    <a:cubicBezTo>
                      <a:pt x="84" y="60"/>
                      <a:pt x="84" y="60"/>
                      <a:pt x="85" y="60"/>
                    </a:cubicBezTo>
                    <a:cubicBezTo>
                      <a:pt x="87" y="60"/>
                      <a:pt x="88" y="60"/>
                      <a:pt x="88" y="58"/>
                    </a:cubicBezTo>
                    <a:cubicBezTo>
                      <a:pt x="89" y="57"/>
                      <a:pt x="90" y="56"/>
                      <a:pt x="90" y="54"/>
                    </a:cubicBezTo>
                    <a:cubicBezTo>
                      <a:pt x="90" y="53"/>
                      <a:pt x="89" y="52"/>
                      <a:pt x="89" y="50"/>
                    </a:cubicBezTo>
                    <a:cubicBezTo>
                      <a:pt x="89" y="48"/>
                      <a:pt x="88" y="47"/>
                      <a:pt x="89" y="46"/>
                    </a:cubicBezTo>
                    <a:cubicBezTo>
                      <a:pt x="90" y="44"/>
                      <a:pt x="92" y="41"/>
                      <a:pt x="93" y="41"/>
                    </a:cubicBezTo>
                    <a:cubicBezTo>
                      <a:pt x="93" y="40"/>
                      <a:pt x="93" y="40"/>
                      <a:pt x="94" y="40"/>
                    </a:cubicBezTo>
                    <a:cubicBezTo>
                      <a:pt x="95" y="40"/>
                      <a:pt x="95" y="41"/>
                      <a:pt x="96" y="40"/>
                    </a:cubicBezTo>
                    <a:cubicBezTo>
                      <a:pt x="97" y="40"/>
                      <a:pt x="99" y="40"/>
                      <a:pt x="100" y="40"/>
                    </a:cubicBezTo>
                    <a:cubicBezTo>
                      <a:pt x="101" y="40"/>
                      <a:pt x="108" y="40"/>
                      <a:pt x="109" y="40"/>
                    </a:cubicBezTo>
                    <a:cubicBezTo>
                      <a:pt x="111" y="41"/>
                      <a:pt x="117" y="43"/>
                      <a:pt x="117" y="43"/>
                    </a:cubicBezTo>
                    <a:cubicBezTo>
                      <a:pt x="118" y="43"/>
                      <a:pt x="118" y="43"/>
                      <a:pt x="119" y="43"/>
                    </a:cubicBezTo>
                    <a:cubicBezTo>
                      <a:pt x="119" y="43"/>
                      <a:pt x="119" y="42"/>
                      <a:pt x="119" y="41"/>
                    </a:cubicBezTo>
                    <a:cubicBezTo>
                      <a:pt x="120" y="40"/>
                      <a:pt x="119" y="39"/>
                      <a:pt x="121" y="40"/>
                    </a:cubicBezTo>
                    <a:cubicBezTo>
                      <a:pt x="123" y="42"/>
                      <a:pt x="125" y="41"/>
                      <a:pt x="126" y="41"/>
                    </a:cubicBezTo>
                    <a:cubicBezTo>
                      <a:pt x="128" y="41"/>
                      <a:pt x="136" y="40"/>
                      <a:pt x="135" y="38"/>
                    </a:cubicBezTo>
                    <a:cubicBezTo>
                      <a:pt x="133" y="37"/>
                      <a:pt x="132" y="38"/>
                      <a:pt x="132" y="37"/>
                    </a:cubicBezTo>
                    <a:cubicBezTo>
                      <a:pt x="132" y="36"/>
                      <a:pt x="131" y="37"/>
                      <a:pt x="130" y="36"/>
                    </a:cubicBezTo>
                    <a:cubicBezTo>
                      <a:pt x="130" y="36"/>
                      <a:pt x="127" y="33"/>
                      <a:pt x="128" y="32"/>
                    </a:cubicBezTo>
                    <a:cubicBezTo>
                      <a:pt x="130" y="30"/>
                      <a:pt x="130" y="30"/>
                      <a:pt x="132" y="31"/>
                    </a:cubicBezTo>
                    <a:cubicBezTo>
                      <a:pt x="134" y="32"/>
                      <a:pt x="136" y="31"/>
                      <a:pt x="137" y="30"/>
                    </a:cubicBezTo>
                    <a:cubicBezTo>
                      <a:pt x="137" y="30"/>
                      <a:pt x="141" y="28"/>
                      <a:pt x="142" y="27"/>
                    </a:cubicBezTo>
                    <a:cubicBezTo>
                      <a:pt x="143" y="27"/>
                      <a:pt x="145" y="26"/>
                      <a:pt x="143" y="2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36" name="Freeform 746">
                <a:extLst>
                  <a:ext uri="{FF2B5EF4-FFF2-40B4-BE49-F238E27FC236}">
                    <a16:creationId xmlns:a16="http://schemas.microsoft.com/office/drawing/2014/main" id="{6233A2BA-36CD-4966-AB1F-3850D257ED9B}"/>
                  </a:ext>
                </a:extLst>
              </p:cNvPr>
              <p:cNvSpPr>
                <a:spLocks/>
              </p:cNvSpPr>
              <p:nvPr/>
            </p:nvSpPr>
            <p:spPr bwMode="auto">
              <a:xfrm>
                <a:off x="5559" y="2545"/>
                <a:ext cx="87" cy="111"/>
              </a:xfrm>
              <a:custGeom>
                <a:avLst/>
                <a:gdLst>
                  <a:gd name="T0" fmla="*/ 27 w 63"/>
                  <a:gd name="T1" fmla="*/ 14 h 81"/>
                  <a:gd name="T2" fmla="*/ 24 w 63"/>
                  <a:gd name="T3" fmla="*/ 14 h 81"/>
                  <a:gd name="T4" fmla="*/ 23 w 63"/>
                  <a:gd name="T5" fmla="*/ 14 h 81"/>
                  <a:gd name="T6" fmla="*/ 21 w 63"/>
                  <a:gd name="T7" fmla="*/ 13 h 81"/>
                  <a:gd name="T8" fmla="*/ 20 w 63"/>
                  <a:gd name="T9" fmla="*/ 14 h 81"/>
                  <a:gd name="T10" fmla="*/ 16 w 63"/>
                  <a:gd name="T11" fmla="*/ 16 h 81"/>
                  <a:gd name="T12" fmla="*/ 14 w 63"/>
                  <a:gd name="T13" fmla="*/ 14 h 81"/>
                  <a:gd name="T14" fmla="*/ 14 w 63"/>
                  <a:gd name="T15" fmla="*/ 14 h 81"/>
                  <a:gd name="T16" fmla="*/ 15 w 63"/>
                  <a:gd name="T17" fmla="*/ 11 h 81"/>
                  <a:gd name="T18" fmla="*/ 15 w 63"/>
                  <a:gd name="T19" fmla="*/ 8 h 81"/>
                  <a:gd name="T20" fmla="*/ 14 w 63"/>
                  <a:gd name="T21" fmla="*/ 7 h 81"/>
                  <a:gd name="T22" fmla="*/ 12 w 63"/>
                  <a:gd name="T23" fmla="*/ 7 h 81"/>
                  <a:gd name="T24" fmla="*/ 11 w 63"/>
                  <a:gd name="T25" fmla="*/ 6 h 81"/>
                  <a:gd name="T26" fmla="*/ 10 w 63"/>
                  <a:gd name="T27" fmla="*/ 4 h 81"/>
                  <a:gd name="T28" fmla="*/ 5 w 63"/>
                  <a:gd name="T29" fmla="*/ 3 h 81"/>
                  <a:gd name="T30" fmla="*/ 4 w 63"/>
                  <a:gd name="T31" fmla="*/ 2 h 81"/>
                  <a:gd name="T32" fmla="*/ 2 w 63"/>
                  <a:gd name="T33" fmla="*/ 1 h 81"/>
                  <a:gd name="T34" fmla="*/ 1 w 63"/>
                  <a:gd name="T35" fmla="*/ 1 h 81"/>
                  <a:gd name="T36" fmla="*/ 0 w 63"/>
                  <a:gd name="T37" fmla="*/ 4 h 81"/>
                  <a:gd name="T38" fmla="*/ 1 w 63"/>
                  <a:gd name="T39" fmla="*/ 5 h 81"/>
                  <a:gd name="T40" fmla="*/ 3 w 63"/>
                  <a:gd name="T41" fmla="*/ 10 h 81"/>
                  <a:gd name="T42" fmla="*/ 4 w 63"/>
                  <a:gd name="T43" fmla="*/ 15 h 81"/>
                  <a:gd name="T44" fmla="*/ 6 w 63"/>
                  <a:gd name="T45" fmla="*/ 27 h 81"/>
                  <a:gd name="T46" fmla="*/ 8 w 63"/>
                  <a:gd name="T47" fmla="*/ 34 h 81"/>
                  <a:gd name="T48" fmla="*/ 10 w 63"/>
                  <a:gd name="T49" fmla="*/ 39 h 81"/>
                  <a:gd name="T50" fmla="*/ 10 w 63"/>
                  <a:gd name="T51" fmla="*/ 40 h 81"/>
                  <a:gd name="T52" fmla="*/ 10 w 63"/>
                  <a:gd name="T53" fmla="*/ 42 h 81"/>
                  <a:gd name="T54" fmla="*/ 13 w 63"/>
                  <a:gd name="T55" fmla="*/ 46 h 81"/>
                  <a:gd name="T56" fmla="*/ 18 w 63"/>
                  <a:gd name="T57" fmla="*/ 54 h 81"/>
                  <a:gd name="T58" fmla="*/ 20 w 63"/>
                  <a:gd name="T59" fmla="*/ 59 h 81"/>
                  <a:gd name="T60" fmla="*/ 37 w 63"/>
                  <a:gd name="T61" fmla="*/ 70 h 81"/>
                  <a:gd name="T62" fmla="*/ 44 w 63"/>
                  <a:gd name="T63" fmla="*/ 75 h 81"/>
                  <a:gd name="T64" fmla="*/ 50 w 63"/>
                  <a:gd name="T65" fmla="*/ 80 h 81"/>
                  <a:gd name="T66" fmla="*/ 52 w 63"/>
                  <a:gd name="T67" fmla="*/ 80 h 81"/>
                  <a:gd name="T68" fmla="*/ 56 w 63"/>
                  <a:gd name="T69" fmla="*/ 78 h 81"/>
                  <a:gd name="T70" fmla="*/ 58 w 63"/>
                  <a:gd name="T71" fmla="*/ 78 h 81"/>
                  <a:gd name="T72" fmla="*/ 60 w 63"/>
                  <a:gd name="T73" fmla="*/ 77 h 81"/>
                  <a:gd name="T74" fmla="*/ 61 w 63"/>
                  <a:gd name="T75" fmla="*/ 80 h 81"/>
                  <a:gd name="T76" fmla="*/ 62 w 63"/>
                  <a:gd name="T77" fmla="*/ 75 h 81"/>
                  <a:gd name="T78" fmla="*/ 59 w 63"/>
                  <a:gd name="T79" fmla="*/ 70 h 81"/>
                  <a:gd name="T80" fmla="*/ 52 w 63"/>
                  <a:gd name="T81" fmla="*/ 59 h 81"/>
                  <a:gd name="T82" fmla="*/ 50 w 63"/>
                  <a:gd name="T83" fmla="*/ 54 h 81"/>
                  <a:gd name="T84" fmla="*/ 49 w 63"/>
                  <a:gd name="T85" fmla="*/ 48 h 81"/>
                  <a:gd name="T86" fmla="*/ 50 w 63"/>
                  <a:gd name="T87" fmla="*/ 39 h 81"/>
                  <a:gd name="T88" fmla="*/ 40 w 63"/>
                  <a:gd name="T89" fmla="*/ 16 h 81"/>
                  <a:gd name="T90" fmla="*/ 36 w 63"/>
                  <a:gd name="T91" fmla="*/ 12 h 81"/>
                  <a:gd name="T92" fmla="*/ 31 w 63"/>
                  <a:gd name="T93" fmla="*/ 8 h 81"/>
                  <a:gd name="T94" fmla="*/ 30 w 63"/>
                  <a:gd name="T95" fmla="*/ 7 h 81"/>
                  <a:gd name="T96" fmla="*/ 28 w 63"/>
                  <a:gd name="T97" fmla="*/ 12 h 81"/>
                  <a:gd name="T98" fmla="*/ 27 w 63"/>
                  <a:gd name="T99" fmla="*/ 1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3" h="81">
                    <a:moveTo>
                      <a:pt x="27" y="14"/>
                    </a:moveTo>
                    <a:cubicBezTo>
                      <a:pt x="27" y="14"/>
                      <a:pt x="25" y="14"/>
                      <a:pt x="24" y="14"/>
                    </a:cubicBezTo>
                    <a:cubicBezTo>
                      <a:pt x="24" y="14"/>
                      <a:pt x="23" y="14"/>
                      <a:pt x="23" y="14"/>
                    </a:cubicBezTo>
                    <a:cubicBezTo>
                      <a:pt x="23" y="14"/>
                      <a:pt x="21" y="13"/>
                      <a:pt x="21" y="13"/>
                    </a:cubicBezTo>
                    <a:cubicBezTo>
                      <a:pt x="21" y="13"/>
                      <a:pt x="20" y="13"/>
                      <a:pt x="20" y="14"/>
                    </a:cubicBezTo>
                    <a:cubicBezTo>
                      <a:pt x="19" y="14"/>
                      <a:pt x="17" y="16"/>
                      <a:pt x="16" y="16"/>
                    </a:cubicBezTo>
                    <a:cubicBezTo>
                      <a:pt x="15" y="16"/>
                      <a:pt x="14" y="15"/>
                      <a:pt x="14" y="14"/>
                    </a:cubicBezTo>
                    <a:cubicBezTo>
                      <a:pt x="13" y="14"/>
                      <a:pt x="14" y="14"/>
                      <a:pt x="14" y="14"/>
                    </a:cubicBezTo>
                    <a:cubicBezTo>
                      <a:pt x="14" y="14"/>
                      <a:pt x="15" y="11"/>
                      <a:pt x="15" y="11"/>
                    </a:cubicBezTo>
                    <a:cubicBezTo>
                      <a:pt x="15" y="10"/>
                      <a:pt x="15" y="9"/>
                      <a:pt x="15" y="8"/>
                    </a:cubicBezTo>
                    <a:cubicBezTo>
                      <a:pt x="15" y="7"/>
                      <a:pt x="14" y="7"/>
                      <a:pt x="14" y="7"/>
                    </a:cubicBezTo>
                    <a:cubicBezTo>
                      <a:pt x="14" y="7"/>
                      <a:pt x="12" y="7"/>
                      <a:pt x="12" y="7"/>
                    </a:cubicBezTo>
                    <a:cubicBezTo>
                      <a:pt x="11" y="7"/>
                      <a:pt x="11" y="7"/>
                      <a:pt x="11" y="6"/>
                    </a:cubicBezTo>
                    <a:cubicBezTo>
                      <a:pt x="11" y="6"/>
                      <a:pt x="11" y="5"/>
                      <a:pt x="10" y="4"/>
                    </a:cubicBezTo>
                    <a:cubicBezTo>
                      <a:pt x="9" y="3"/>
                      <a:pt x="5" y="3"/>
                      <a:pt x="5" y="3"/>
                    </a:cubicBezTo>
                    <a:cubicBezTo>
                      <a:pt x="4" y="3"/>
                      <a:pt x="4" y="2"/>
                      <a:pt x="4" y="2"/>
                    </a:cubicBezTo>
                    <a:cubicBezTo>
                      <a:pt x="4" y="2"/>
                      <a:pt x="2" y="1"/>
                      <a:pt x="2" y="1"/>
                    </a:cubicBezTo>
                    <a:cubicBezTo>
                      <a:pt x="1" y="0"/>
                      <a:pt x="1" y="1"/>
                      <a:pt x="1" y="1"/>
                    </a:cubicBezTo>
                    <a:cubicBezTo>
                      <a:pt x="0" y="4"/>
                      <a:pt x="0" y="4"/>
                      <a:pt x="0" y="4"/>
                    </a:cubicBezTo>
                    <a:cubicBezTo>
                      <a:pt x="1" y="4"/>
                      <a:pt x="1" y="5"/>
                      <a:pt x="1" y="5"/>
                    </a:cubicBezTo>
                    <a:cubicBezTo>
                      <a:pt x="1" y="6"/>
                      <a:pt x="2" y="8"/>
                      <a:pt x="3" y="10"/>
                    </a:cubicBezTo>
                    <a:cubicBezTo>
                      <a:pt x="5" y="11"/>
                      <a:pt x="4" y="14"/>
                      <a:pt x="4" y="15"/>
                    </a:cubicBezTo>
                    <a:cubicBezTo>
                      <a:pt x="4" y="16"/>
                      <a:pt x="4" y="23"/>
                      <a:pt x="6" y="27"/>
                    </a:cubicBezTo>
                    <a:cubicBezTo>
                      <a:pt x="8" y="30"/>
                      <a:pt x="8" y="33"/>
                      <a:pt x="8" y="34"/>
                    </a:cubicBezTo>
                    <a:cubicBezTo>
                      <a:pt x="8" y="35"/>
                      <a:pt x="7" y="37"/>
                      <a:pt x="10" y="39"/>
                    </a:cubicBezTo>
                    <a:cubicBezTo>
                      <a:pt x="12" y="41"/>
                      <a:pt x="10" y="40"/>
                      <a:pt x="10" y="40"/>
                    </a:cubicBezTo>
                    <a:cubicBezTo>
                      <a:pt x="10" y="41"/>
                      <a:pt x="8" y="41"/>
                      <a:pt x="10" y="42"/>
                    </a:cubicBezTo>
                    <a:cubicBezTo>
                      <a:pt x="12" y="43"/>
                      <a:pt x="13" y="45"/>
                      <a:pt x="13" y="46"/>
                    </a:cubicBezTo>
                    <a:cubicBezTo>
                      <a:pt x="14" y="46"/>
                      <a:pt x="19" y="52"/>
                      <a:pt x="18" y="54"/>
                    </a:cubicBezTo>
                    <a:cubicBezTo>
                      <a:pt x="18" y="56"/>
                      <a:pt x="18" y="58"/>
                      <a:pt x="20" y="59"/>
                    </a:cubicBezTo>
                    <a:cubicBezTo>
                      <a:pt x="23" y="61"/>
                      <a:pt x="35" y="68"/>
                      <a:pt x="37" y="70"/>
                    </a:cubicBezTo>
                    <a:cubicBezTo>
                      <a:pt x="39" y="71"/>
                      <a:pt x="44" y="75"/>
                      <a:pt x="44" y="75"/>
                    </a:cubicBezTo>
                    <a:cubicBezTo>
                      <a:pt x="45" y="75"/>
                      <a:pt x="48" y="78"/>
                      <a:pt x="50" y="80"/>
                    </a:cubicBezTo>
                    <a:cubicBezTo>
                      <a:pt x="51" y="81"/>
                      <a:pt x="51" y="80"/>
                      <a:pt x="52" y="80"/>
                    </a:cubicBezTo>
                    <a:cubicBezTo>
                      <a:pt x="53" y="79"/>
                      <a:pt x="55" y="78"/>
                      <a:pt x="56" y="78"/>
                    </a:cubicBezTo>
                    <a:cubicBezTo>
                      <a:pt x="57" y="78"/>
                      <a:pt x="58" y="79"/>
                      <a:pt x="58" y="78"/>
                    </a:cubicBezTo>
                    <a:cubicBezTo>
                      <a:pt x="58" y="77"/>
                      <a:pt x="59" y="76"/>
                      <a:pt x="60" y="77"/>
                    </a:cubicBezTo>
                    <a:cubicBezTo>
                      <a:pt x="60" y="78"/>
                      <a:pt x="60" y="80"/>
                      <a:pt x="61" y="80"/>
                    </a:cubicBezTo>
                    <a:cubicBezTo>
                      <a:pt x="62" y="79"/>
                      <a:pt x="63" y="77"/>
                      <a:pt x="62" y="75"/>
                    </a:cubicBezTo>
                    <a:cubicBezTo>
                      <a:pt x="60" y="73"/>
                      <a:pt x="59" y="71"/>
                      <a:pt x="59" y="70"/>
                    </a:cubicBezTo>
                    <a:cubicBezTo>
                      <a:pt x="59" y="69"/>
                      <a:pt x="54" y="62"/>
                      <a:pt x="52" y="59"/>
                    </a:cubicBezTo>
                    <a:cubicBezTo>
                      <a:pt x="50" y="57"/>
                      <a:pt x="49" y="56"/>
                      <a:pt x="50" y="54"/>
                    </a:cubicBezTo>
                    <a:cubicBezTo>
                      <a:pt x="50" y="53"/>
                      <a:pt x="49" y="49"/>
                      <a:pt x="49" y="48"/>
                    </a:cubicBezTo>
                    <a:cubicBezTo>
                      <a:pt x="49" y="47"/>
                      <a:pt x="50" y="42"/>
                      <a:pt x="50" y="39"/>
                    </a:cubicBezTo>
                    <a:cubicBezTo>
                      <a:pt x="50" y="36"/>
                      <a:pt x="51" y="23"/>
                      <a:pt x="40" y="16"/>
                    </a:cubicBezTo>
                    <a:cubicBezTo>
                      <a:pt x="40" y="16"/>
                      <a:pt x="37" y="14"/>
                      <a:pt x="36" y="12"/>
                    </a:cubicBezTo>
                    <a:cubicBezTo>
                      <a:pt x="35" y="10"/>
                      <a:pt x="34" y="9"/>
                      <a:pt x="31" y="8"/>
                    </a:cubicBezTo>
                    <a:cubicBezTo>
                      <a:pt x="30" y="8"/>
                      <a:pt x="30" y="7"/>
                      <a:pt x="30" y="7"/>
                    </a:cubicBezTo>
                    <a:cubicBezTo>
                      <a:pt x="29" y="9"/>
                      <a:pt x="28" y="12"/>
                      <a:pt x="28" y="12"/>
                    </a:cubicBezTo>
                    <a:cubicBezTo>
                      <a:pt x="27" y="13"/>
                      <a:pt x="27" y="13"/>
                      <a:pt x="27" y="1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37" name="Freeform 747">
                <a:extLst>
                  <a:ext uri="{FF2B5EF4-FFF2-40B4-BE49-F238E27FC236}">
                    <a16:creationId xmlns:a16="http://schemas.microsoft.com/office/drawing/2014/main" id="{95FFD65A-9C8C-455A-A9B3-AE40B9397E5B}"/>
                  </a:ext>
                </a:extLst>
              </p:cNvPr>
              <p:cNvSpPr>
                <a:spLocks/>
              </p:cNvSpPr>
              <p:nvPr/>
            </p:nvSpPr>
            <p:spPr bwMode="auto">
              <a:xfrm>
                <a:off x="6192" y="1785"/>
                <a:ext cx="231" cy="190"/>
              </a:xfrm>
              <a:custGeom>
                <a:avLst/>
                <a:gdLst>
                  <a:gd name="T0" fmla="*/ 13 w 167"/>
                  <a:gd name="T1" fmla="*/ 129 h 139"/>
                  <a:gd name="T2" fmla="*/ 25 w 167"/>
                  <a:gd name="T3" fmla="*/ 125 h 139"/>
                  <a:gd name="T4" fmla="*/ 46 w 167"/>
                  <a:gd name="T5" fmla="*/ 119 h 139"/>
                  <a:gd name="T6" fmla="*/ 67 w 167"/>
                  <a:gd name="T7" fmla="*/ 120 h 139"/>
                  <a:gd name="T8" fmla="*/ 63 w 167"/>
                  <a:gd name="T9" fmla="*/ 130 h 139"/>
                  <a:gd name="T10" fmla="*/ 68 w 167"/>
                  <a:gd name="T11" fmla="*/ 136 h 139"/>
                  <a:gd name="T12" fmla="*/ 81 w 167"/>
                  <a:gd name="T13" fmla="*/ 128 h 139"/>
                  <a:gd name="T14" fmla="*/ 89 w 167"/>
                  <a:gd name="T15" fmla="*/ 124 h 139"/>
                  <a:gd name="T16" fmla="*/ 87 w 167"/>
                  <a:gd name="T17" fmla="*/ 112 h 139"/>
                  <a:gd name="T18" fmla="*/ 90 w 167"/>
                  <a:gd name="T19" fmla="*/ 115 h 139"/>
                  <a:gd name="T20" fmla="*/ 93 w 167"/>
                  <a:gd name="T21" fmla="*/ 118 h 139"/>
                  <a:gd name="T22" fmla="*/ 107 w 167"/>
                  <a:gd name="T23" fmla="*/ 117 h 139"/>
                  <a:gd name="T24" fmla="*/ 115 w 167"/>
                  <a:gd name="T25" fmla="*/ 111 h 139"/>
                  <a:gd name="T26" fmla="*/ 118 w 167"/>
                  <a:gd name="T27" fmla="*/ 117 h 139"/>
                  <a:gd name="T28" fmla="*/ 125 w 167"/>
                  <a:gd name="T29" fmla="*/ 110 h 139"/>
                  <a:gd name="T30" fmla="*/ 131 w 167"/>
                  <a:gd name="T31" fmla="*/ 110 h 139"/>
                  <a:gd name="T32" fmla="*/ 133 w 167"/>
                  <a:gd name="T33" fmla="*/ 102 h 139"/>
                  <a:gd name="T34" fmla="*/ 134 w 167"/>
                  <a:gd name="T35" fmla="*/ 106 h 139"/>
                  <a:gd name="T36" fmla="*/ 133 w 167"/>
                  <a:gd name="T37" fmla="*/ 111 h 139"/>
                  <a:gd name="T38" fmla="*/ 142 w 167"/>
                  <a:gd name="T39" fmla="*/ 105 h 139"/>
                  <a:gd name="T40" fmla="*/ 145 w 167"/>
                  <a:gd name="T41" fmla="*/ 90 h 139"/>
                  <a:gd name="T42" fmla="*/ 150 w 167"/>
                  <a:gd name="T43" fmla="*/ 64 h 139"/>
                  <a:gd name="T44" fmla="*/ 157 w 167"/>
                  <a:gd name="T45" fmla="*/ 55 h 139"/>
                  <a:gd name="T46" fmla="*/ 162 w 167"/>
                  <a:gd name="T47" fmla="*/ 44 h 139"/>
                  <a:gd name="T48" fmla="*/ 166 w 167"/>
                  <a:gd name="T49" fmla="*/ 34 h 139"/>
                  <a:gd name="T50" fmla="*/ 156 w 167"/>
                  <a:gd name="T51" fmla="*/ 11 h 139"/>
                  <a:gd name="T52" fmla="*/ 151 w 167"/>
                  <a:gd name="T53" fmla="*/ 0 h 139"/>
                  <a:gd name="T54" fmla="*/ 154 w 167"/>
                  <a:gd name="T55" fmla="*/ 10 h 139"/>
                  <a:gd name="T56" fmla="*/ 146 w 167"/>
                  <a:gd name="T57" fmla="*/ 11 h 139"/>
                  <a:gd name="T58" fmla="*/ 141 w 167"/>
                  <a:gd name="T59" fmla="*/ 6 h 139"/>
                  <a:gd name="T60" fmla="*/ 135 w 167"/>
                  <a:gd name="T61" fmla="*/ 19 h 139"/>
                  <a:gd name="T62" fmla="*/ 134 w 167"/>
                  <a:gd name="T63" fmla="*/ 29 h 139"/>
                  <a:gd name="T64" fmla="*/ 128 w 167"/>
                  <a:gd name="T65" fmla="*/ 57 h 139"/>
                  <a:gd name="T66" fmla="*/ 104 w 167"/>
                  <a:gd name="T67" fmla="*/ 77 h 139"/>
                  <a:gd name="T68" fmla="*/ 92 w 167"/>
                  <a:gd name="T69" fmla="*/ 78 h 139"/>
                  <a:gd name="T70" fmla="*/ 91 w 167"/>
                  <a:gd name="T71" fmla="*/ 75 h 139"/>
                  <a:gd name="T72" fmla="*/ 96 w 167"/>
                  <a:gd name="T73" fmla="*/ 73 h 139"/>
                  <a:gd name="T74" fmla="*/ 89 w 167"/>
                  <a:gd name="T75" fmla="*/ 71 h 139"/>
                  <a:gd name="T76" fmla="*/ 78 w 167"/>
                  <a:gd name="T77" fmla="*/ 93 h 139"/>
                  <a:gd name="T78" fmla="*/ 75 w 167"/>
                  <a:gd name="T79" fmla="*/ 103 h 139"/>
                  <a:gd name="T80" fmla="*/ 66 w 167"/>
                  <a:gd name="T81" fmla="*/ 102 h 139"/>
                  <a:gd name="T82" fmla="*/ 51 w 167"/>
                  <a:gd name="T83" fmla="*/ 102 h 139"/>
                  <a:gd name="T84" fmla="*/ 27 w 167"/>
                  <a:gd name="T85" fmla="*/ 106 h 139"/>
                  <a:gd name="T86" fmla="*/ 8 w 167"/>
                  <a:gd name="T87" fmla="*/ 121 h 139"/>
                  <a:gd name="T88" fmla="*/ 1 w 167"/>
                  <a:gd name="T89" fmla="*/ 12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7" h="139">
                    <a:moveTo>
                      <a:pt x="0" y="128"/>
                    </a:moveTo>
                    <a:cubicBezTo>
                      <a:pt x="0" y="131"/>
                      <a:pt x="2" y="130"/>
                      <a:pt x="2" y="130"/>
                    </a:cubicBezTo>
                    <a:cubicBezTo>
                      <a:pt x="2" y="130"/>
                      <a:pt x="12" y="129"/>
                      <a:pt x="13" y="129"/>
                    </a:cubicBezTo>
                    <a:cubicBezTo>
                      <a:pt x="14" y="129"/>
                      <a:pt x="15" y="129"/>
                      <a:pt x="17" y="131"/>
                    </a:cubicBezTo>
                    <a:cubicBezTo>
                      <a:pt x="19" y="132"/>
                      <a:pt x="19" y="129"/>
                      <a:pt x="20" y="126"/>
                    </a:cubicBezTo>
                    <a:cubicBezTo>
                      <a:pt x="21" y="123"/>
                      <a:pt x="22" y="122"/>
                      <a:pt x="25" y="125"/>
                    </a:cubicBezTo>
                    <a:cubicBezTo>
                      <a:pt x="28" y="127"/>
                      <a:pt x="35" y="124"/>
                      <a:pt x="37" y="122"/>
                    </a:cubicBezTo>
                    <a:cubicBezTo>
                      <a:pt x="38" y="121"/>
                      <a:pt x="41" y="121"/>
                      <a:pt x="43" y="122"/>
                    </a:cubicBezTo>
                    <a:cubicBezTo>
                      <a:pt x="46" y="122"/>
                      <a:pt x="45" y="120"/>
                      <a:pt x="46" y="119"/>
                    </a:cubicBezTo>
                    <a:cubicBezTo>
                      <a:pt x="47" y="118"/>
                      <a:pt x="49" y="117"/>
                      <a:pt x="50" y="117"/>
                    </a:cubicBezTo>
                    <a:cubicBezTo>
                      <a:pt x="51" y="117"/>
                      <a:pt x="63" y="117"/>
                      <a:pt x="66" y="117"/>
                    </a:cubicBezTo>
                    <a:cubicBezTo>
                      <a:pt x="70" y="117"/>
                      <a:pt x="68" y="119"/>
                      <a:pt x="67" y="120"/>
                    </a:cubicBezTo>
                    <a:cubicBezTo>
                      <a:pt x="67" y="121"/>
                      <a:pt x="64" y="123"/>
                      <a:pt x="63" y="123"/>
                    </a:cubicBezTo>
                    <a:cubicBezTo>
                      <a:pt x="62" y="124"/>
                      <a:pt x="63" y="125"/>
                      <a:pt x="64" y="126"/>
                    </a:cubicBezTo>
                    <a:cubicBezTo>
                      <a:pt x="64" y="128"/>
                      <a:pt x="63" y="129"/>
                      <a:pt x="63" y="130"/>
                    </a:cubicBezTo>
                    <a:cubicBezTo>
                      <a:pt x="62" y="131"/>
                      <a:pt x="65" y="133"/>
                      <a:pt x="66" y="133"/>
                    </a:cubicBezTo>
                    <a:cubicBezTo>
                      <a:pt x="67" y="134"/>
                      <a:pt x="67" y="134"/>
                      <a:pt x="67" y="135"/>
                    </a:cubicBezTo>
                    <a:cubicBezTo>
                      <a:pt x="66" y="135"/>
                      <a:pt x="67" y="136"/>
                      <a:pt x="68" y="136"/>
                    </a:cubicBezTo>
                    <a:cubicBezTo>
                      <a:pt x="68" y="136"/>
                      <a:pt x="70" y="137"/>
                      <a:pt x="72" y="138"/>
                    </a:cubicBezTo>
                    <a:cubicBezTo>
                      <a:pt x="73" y="139"/>
                      <a:pt x="74" y="137"/>
                      <a:pt x="74" y="137"/>
                    </a:cubicBezTo>
                    <a:cubicBezTo>
                      <a:pt x="76" y="136"/>
                      <a:pt x="80" y="130"/>
                      <a:pt x="81" y="128"/>
                    </a:cubicBezTo>
                    <a:cubicBezTo>
                      <a:pt x="82" y="127"/>
                      <a:pt x="83" y="126"/>
                      <a:pt x="83" y="125"/>
                    </a:cubicBezTo>
                    <a:cubicBezTo>
                      <a:pt x="84" y="125"/>
                      <a:pt x="86" y="124"/>
                      <a:pt x="86" y="124"/>
                    </a:cubicBezTo>
                    <a:cubicBezTo>
                      <a:pt x="87" y="123"/>
                      <a:pt x="88" y="124"/>
                      <a:pt x="89" y="124"/>
                    </a:cubicBezTo>
                    <a:cubicBezTo>
                      <a:pt x="90" y="124"/>
                      <a:pt x="89" y="123"/>
                      <a:pt x="88" y="122"/>
                    </a:cubicBezTo>
                    <a:cubicBezTo>
                      <a:pt x="87" y="121"/>
                      <a:pt x="86" y="119"/>
                      <a:pt x="85" y="119"/>
                    </a:cubicBezTo>
                    <a:cubicBezTo>
                      <a:pt x="83" y="118"/>
                      <a:pt x="86" y="114"/>
                      <a:pt x="87" y="112"/>
                    </a:cubicBezTo>
                    <a:cubicBezTo>
                      <a:pt x="88" y="111"/>
                      <a:pt x="90" y="111"/>
                      <a:pt x="89" y="112"/>
                    </a:cubicBezTo>
                    <a:cubicBezTo>
                      <a:pt x="89" y="113"/>
                      <a:pt x="89" y="113"/>
                      <a:pt x="89" y="115"/>
                    </a:cubicBezTo>
                    <a:cubicBezTo>
                      <a:pt x="89" y="116"/>
                      <a:pt x="89" y="117"/>
                      <a:pt x="90" y="115"/>
                    </a:cubicBezTo>
                    <a:cubicBezTo>
                      <a:pt x="90" y="114"/>
                      <a:pt x="90" y="114"/>
                      <a:pt x="91" y="115"/>
                    </a:cubicBezTo>
                    <a:cubicBezTo>
                      <a:pt x="92" y="116"/>
                      <a:pt x="91" y="116"/>
                      <a:pt x="93" y="117"/>
                    </a:cubicBezTo>
                    <a:cubicBezTo>
                      <a:pt x="94" y="117"/>
                      <a:pt x="93" y="118"/>
                      <a:pt x="93" y="118"/>
                    </a:cubicBezTo>
                    <a:cubicBezTo>
                      <a:pt x="92" y="119"/>
                      <a:pt x="92" y="119"/>
                      <a:pt x="93" y="119"/>
                    </a:cubicBezTo>
                    <a:cubicBezTo>
                      <a:pt x="94" y="119"/>
                      <a:pt x="96" y="119"/>
                      <a:pt x="98" y="118"/>
                    </a:cubicBezTo>
                    <a:cubicBezTo>
                      <a:pt x="100" y="118"/>
                      <a:pt x="105" y="118"/>
                      <a:pt x="107" y="117"/>
                    </a:cubicBezTo>
                    <a:cubicBezTo>
                      <a:pt x="109" y="117"/>
                      <a:pt x="111" y="116"/>
                      <a:pt x="111" y="116"/>
                    </a:cubicBezTo>
                    <a:cubicBezTo>
                      <a:pt x="111" y="115"/>
                      <a:pt x="112" y="114"/>
                      <a:pt x="113" y="113"/>
                    </a:cubicBezTo>
                    <a:cubicBezTo>
                      <a:pt x="114" y="112"/>
                      <a:pt x="114" y="112"/>
                      <a:pt x="115" y="111"/>
                    </a:cubicBezTo>
                    <a:cubicBezTo>
                      <a:pt x="115" y="109"/>
                      <a:pt x="117" y="111"/>
                      <a:pt x="119" y="111"/>
                    </a:cubicBezTo>
                    <a:cubicBezTo>
                      <a:pt x="120" y="111"/>
                      <a:pt x="119" y="112"/>
                      <a:pt x="118" y="112"/>
                    </a:cubicBezTo>
                    <a:cubicBezTo>
                      <a:pt x="116" y="113"/>
                      <a:pt x="118" y="116"/>
                      <a:pt x="118" y="117"/>
                    </a:cubicBezTo>
                    <a:cubicBezTo>
                      <a:pt x="118" y="119"/>
                      <a:pt x="118" y="120"/>
                      <a:pt x="120" y="118"/>
                    </a:cubicBezTo>
                    <a:cubicBezTo>
                      <a:pt x="122" y="117"/>
                      <a:pt x="123" y="113"/>
                      <a:pt x="123" y="112"/>
                    </a:cubicBezTo>
                    <a:cubicBezTo>
                      <a:pt x="123" y="110"/>
                      <a:pt x="123" y="110"/>
                      <a:pt x="125" y="110"/>
                    </a:cubicBezTo>
                    <a:cubicBezTo>
                      <a:pt x="126" y="109"/>
                      <a:pt x="128" y="109"/>
                      <a:pt x="129" y="108"/>
                    </a:cubicBezTo>
                    <a:cubicBezTo>
                      <a:pt x="129" y="107"/>
                      <a:pt x="130" y="107"/>
                      <a:pt x="130" y="109"/>
                    </a:cubicBezTo>
                    <a:cubicBezTo>
                      <a:pt x="130" y="111"/>
                      <a:pt x="131" y="111"/>
                      <a:pt x="131" y="110"/>
                    </a:cubicBezTo>
                    <a:cubicBezTo>
                      <a:pt x="131" y="109"/>
                      <a:pt x="131" y="108"/>
                      <a:pt x="130" y="106"/>
                    </a:cubicBezTo>
                    <a:cubicBezTo>
                      <a:pt x="130" y="104"/>
                      <a:pt x="131" y="104"/>
                      <a:pt x="132" y="104"/>
                    </a:cubicBezTo>
                    <a:cubicBezTo>
                      <a:pt x="132" y="104"/>
                      <a:pt x="133" y="103"/>
                      <a:pt x="133" y="102"/>
                    </a:cubicBezTo>
                    <a:cubicBezTo>
                      <a:pt x="134" y="101"/>
                      <a:pt x="135" y="102"/>
                      <a:pt x="136" y="102"/>
                    </a:cubicBezTo>
                    <a:cubicBezTo>
                      <a:pt x="138" y="103"/>
                      <a:pt x="137" y="103"/>
                      <a:pt x="136" y="104"/>
                    </a:cubicBezTo>
                    <a:cubicBezTo>
                      <a:pt x="136" y="104"/>
                      <a:pt x="135" y="105"/>
                      <a:pt x="134" y="106"/>
                    </a:cubicBezTo>
                    <a:cubicBezTo>
                      <a:pt x="134" y="106"/>
                      <a:pt x="133" y="107"/>
                      <a:pt x="133" y="107"/>
                    </a:cubicBezTo>
                    <a:cubicBezTo>
                      <a:pt x="133" y="107"/>
                      <a:pt x="134" y="108"/>
                      <a:pt x="134" y="109"/>
                    </a:cubicBezTo>
                    <a:cubicBezTo>
                      <a:pt x="133" y="110"/>
                      <a:pt x="133" y="110"/>
                      <a:pt x="133" y="111"/>
                    </a:cubicBezTo>
                    <a:cubicBezTo>
                      <a:pt x="134" y="112"/>
                      <a:pt x="134" y="113"/>
                      <a:pt x="133" y="113"/>
                    </a:cubicBezTo>
                    <a:cubicBezTo>
                      <a:pt x="132" y="114"/>
                      <a:pt x="134" y="114"/>
                      <a:pt x="134" y="114"/>
                    </a:cubicBezTo>
                    <a:cubicBezTo>
                      <a:pt x="141" y="112"/>
                      <a:pt x="142" y="107"/>
                      <a:pt x="142" y="105"/>
                    </a:cubicBezTo>
                    <a:cubicBezTo>
                      <a:pt x="142" y="103"/>
                      <a:pt x="147" y="101"/>
                      <a:pt x="148" y="100"/>
                    </a:cubicBezTo>
                    <a:cubicBezTo>
                      <a:pt x="149" y="100"/>
                      <a:pt x="148" y="99"/>
                      <a:pt x="146" y="96"/>
                    </a:cubicBezTo>
                    <a:cubicBezTo>
                      <a:pt x="144" y="94"/>
                      <a:pt x="144" y="91"/>
                      <a:pt x="145" y="90"/>
                    </a:cubicBezTo>
                    <a:cubicBezTo>
                      <a:pt x="145" y="90"/>
                      <a:pt x="147" y="84"/>
                      <a:pt x="147" y="82"/>
                    </a:cubicBezTo>
                    <a:cubicBezTo>
                      <a:pt x="147" y="81"/>
                      <a:pt x="147" y="82"/>
                      <a:pt x="149" y="80"/>
                    </a:cubicBezTo>
                    <a:cubicBezTo>
                      <a:pt x="152" y="78"/>
                      <a:pt x="150" y="67"/>
                      <a:pt x="150" y="64"/>
                    </a:cubicBezTo>
                    <a:cubicBezTo>
                      <a:pt x="149" y="60"/>
                      <a:pt x="150" y="57"/>
                      <a:pt x="151" y="56"/>
                    </a:cubicBezTo>
                    <a:cubicBezTo>
                      <a:pt x="152" y="56"/>
                      <a:pt x="153" y="55"/>
                      <a:pt x="154" y="55"/>
                    </a:cubicBezTo>
                    <a:cubicBezTo>
                      <a:pt x="155" y="54"/>
                      <a:pt x="155" y="52"/>
                      <a:pt x="157" y="55"/>
                    </a:cubicBezTo>
                    <a:cubicBezTo>
                      <a:pt x="159" y="58"/>
                      <a:pt x="158" y="54"/>
                      <a:pt x="158" y="50"/>
                    </a:cubicBezTo>
                    <a:cubicBezTo>
                      <a:pt x="158" y="46"/>
                      <a:pt x="160" y="45"/>
                      <a:pt x="160" y="45"/>
                    </a:cubicBezTo>
                    <a:cubicBezTo>
                      <a:pt x="161" y="45"/>
                      <a:pt x="161" y="45"/>
                      <a:pt x="162" y="44"/>
                    </a:cubicBezTo>
                    <a:cubicBezTo>
                      <a:pt x="162" y="43"/>
                      <a:pt x="162" y="44"/>
                      <a:pt x="163" y="44"/>
                    </a:cubicBezTo>
                    <a:cubicBezTo>
                      <a:pt x="164" y="43"/>
                      <a:pt x="164" y="42"/>
                      <a:pt x="165" y="40"/>
                    </a:cubicBezTo>
                    <a:cubicBezTo>
                      <a:pt x="165" y="38"/>
                      <a:pt x="165" y="37"/>
                      <a:pt x="166" y="34"/>
                    </a:cubicBezTo>
                    <a:cubicBezTo>
                      <a:pt x="167" y="32"/>
                      <a:pt x="164" y="26"/>
                      <a:pt x="163" y="24"/>
                    </a:cubicBezTo>
                    <a:cubicBezTo>
                      <a:pt x="162" y="23"/>
                      <a:pt x="161" y="19"/>
                      <a:pt x="160" y="17"/>
                    </a:cubicBezTo>
                    <a:cubicBezTo>
                      <a:pt x="159" y="16"/>
                      <a:pt x="157" y="14"/>
                      <a:pt x="156" y="11"/>
                    </a:cubicBezTo>
                    <a:cubicBezTo>
                      <a:pt x="156" y="9"/>
                      <a:pt x="157" y="4"/>
                      <a:pt x="157" y="3"/>
                    </a:cubicBezTo>
                    <a:cubicBezTo>
                      <a:pt x="158" y="2"/>
                      <a:pt x="157" y="1"/>
                      <a:pt x="156" y="1"/>
                    </a:cubicBezTo>
                    <a:cubicBezTo>
                      <a:pt x="154" y="1"/>
                      <a:pt x="153" y="1"/>
                      <a:pt x="151" y="0"/>
                    </a:cubicBezTo>
                    <a:cubicBezTo>
                      <a:pt x="149" y="0"/>
                      <a:pt x="149" y="0"/>
                      <a:pt x="147" y="4"/>
                    </a:cubicBezTo>
                    <a:cubicBezTo>
                      <a:pt x="145" y="9"/>
                      <a:pt x="151" y="5"/>
                      <a:pt x="154" y="5"/>
                    </a:cubicBezTo>
                    <a:cubicBezTo>
                      <a:pt x="156" y="4"/>
                      <a:pt x="155" y="7"/>
                      <a:pt x="154" y="10"/>
                    </a:cubicBezTo>
                    <a:cubicBezTo>
                      <a:pt x="153" y="12"/>
                      <a:pt x="152" y="12"/>
                      <a:pt x="150" y="11"/>
                    </a:cubicBezTo>
                    <a:cubicBezTo>
                      <a:pt x="149" y="11"/>
                      <a:pt x="148" y="12"/>
                      <a:pt x="148" y="12"/>
                    </a:cubicBezTo>
                    <a:cubicBezTo>
                      <a:pt x="148" y="12"/>
                      <a:pt x="147" y="12"/>
                      <a:pt x="146" y="11"/>
                    </a:cubicBezTo>
                    <a:cubicBezTo>
                      <a:pt x="145" y="10"/>
                      <a:pt x="145" y="8"/>
                      <a:pt x="145" y="7"/>
                    </a:cubicBezTo>
                    <a:cubicBezTo>
                      <a:pt x="146" y="6"/>
                      <a:pt x="144" y="5"/>
                      <a:pt x="143" y="5"/>
                    </a:cubicBezTo>
                    <a:cubicBezTo>
                      <a:pt x="141" y="5"/>
                      <a:pt x="142" y="5"/>
                      <a:pt x="141" y="6"/>
                    </a:cubicBezTo>
                    <a:cubicBezTo>
                      <a:pt x="141" y="7"/>
                      <a:pt x="141" y="8"/>
                      <a:pt x="141" y="9"/>
                    </a:cubicBezTo>
                    <a:cubicBezTo>
                      <a:pt x="140" y="11"/>
                      <a:pt x="139" y="11"/>
                      <a:pt x="136" y="14"/>
                    </a:cubicBezTo>
                    <a:cubicBezTo>
                      <a:pt x="133" y="17"/>
                      <a:pt x="135" y="17"/>
                      <a:pt x="135" y="19"/>
                    </a:cubicBezTo>
                    <a:cubicBezTo>
                      <a:pt x="135" y="20"/>
                      <a:pt x="134" y="25"/>
                      <a:pt x="133" y="26"/>
                    </a:cubicBezTo>
                    <a:cubicBezTo>
                      <a:pt x="132" y="28"/>
                      <a:pt x="132" y="27"/>
                      <a:pt x="133" y="28"/>
                    </a:cubicBezTo>
                    <a:cubicBezTo>
                      <a:pt x="133" y="29"/>
                      <a:pt x="134" y="29"/>
                      <a:pt x="134" y="29"/>
                    </a:cubicBezTo>
                    <a:cubicBezTo>
                      <a:pt x="135" y="28"/>
                      <a:pt x="136" y="29"/>
                      <a:pt x="136" y="29"/>
                    </a:cubicBezTo>
                    <a:cubicBezTo>
                      <a:pt x="138" y="33"/>
                      <a:pt x="132" y="48"/>
                      <a:pt x="131" y="49"/>
                    </a:cubicBezTo>
                    <a:cubicBezTo>
                      <a:pt x="130" y="49"/>
                      <a:pt x="128" y="54"/>
                      <a:pt x="128" y="57"/>
                    </a:cubicBezTo>
                    <a:cubicBezTo>
                      <a:pt x="127" y="59"/>
                      <a:pt x="126" y="61"/>
                      <a:pt x="125" y="62"/>
                    </a:cubicBezTo>
                    <a:cubicBezTo>
                      <a:pt x="124" y="62"/>
                      <a:pt x="116" y="69"/>
                      <a:pt x="115" y="71"/>
                    </a:cubicBezTo>
                    <a:cubicBezTo>
                      <a:pt x="114" y="73"/>
                      <a:pt x="106" y="76"/>
                      <a:pt x="104" y="77"/>
                    </a:cubicBezTo>
                    <a:cubicBezTo>
                      <a:pt x="102" y="78"/>
                      <a:pt x="99" y="79"/>
                      <a:pt x="97" y="81"/>
                    </a:cubicBezTo>
                    <a:cubicBezTo>
                      <a:pt x="95" y="83"/>
                      <a:pt x="94" y="83"/>
                      <a:pt x="93" y="82"/>
                    </a:cubicBezTo>
                    <a:cubicBezTo>
                      <a:pt x="91" y="81"/>
                      <a:pt x="92" y="79"/>
                      <a:pt x="92" y="78"/>
                    </a:cubicBezTo>
                    <a:cubicBezTo>
                      <a:pt x="92" y="77"/>
                      <a:pt x="92" y="77"/>
                      <a:pt x="91" y="78"/>
                    </a:cubicBezTo>
                    <a:cubicBezTo>
                      <a:pt x="90" y="78"/>
                      <a:pt x="90" y="77"/>
                      <a:pt x="89" y="76"/>
                    </a:cubicBezTo>
                    <a:cubicBezTo>
                      <a:pt x="89" y="75"/>
                      <a:pt x="90" y="75"/>
                      <a:pt x="91" y="75"/>
                    </a:cubicBezTo>
                    <a:cubicBezTo>
                      <a:pt x="92" y="75"/>
                      <a:pt x="92" y="75"/>
                      <a:pt x="93" y="74"/>
                    </a:cubicBezTo>
                    <a:cubicBezTo>
                      <a:pt x="93" y="74"/>
                      <a:pt x="94" y="73"/>
                      <a:pt x="94" y="74"/>
                    </a:cubicBezTo>
                    <a:cubicBezTo>
                      <a:pt x="95" y="74"/>
                      <a:pt x="95" y="74"/>
                      <a:pt x="96" y="73"/>
                    </a:cubicBezTo>
                    <a:cubicBezTo>
                      <a:pt x="97" y="72"/>
                      <a:pt x="96" y="71"/>
                      <a:pt x="96" y="70"/>
                    </a:cubicBezTo>
                    <a:cubicBezTo>
                      <a:pt x="95" y="69"/>
                      <a:pt x="95" y="70"/>
                      <a:pt x="94" y="70"/>
                    </a:cubicBezTo>
                    <a:cubicBezTo>
                      <a:pt x="93" y="71"/>
                      <a:pt x="91" y="71"/>
                      <a:pt x="89" y="71"/>
                    </a:cubicBezTo>
                    <a:cubicBezTo>
                      <a:pt x="88" y="72"/>
                      <a:pt x="87" y="73"/>
                      <a:pt x="87" y="76"/>
                    </a:cubicBezTo>
                    <a:cubicBezTo>
                      <a:pt x="88" y="79"/>
                      <a:pt x="88" y="81"/>
                      <a:pt x="87" y="83"/>
                    </a:cubicBezTo>
                    <a:cubicBezTo>
                      <a:pt x="86" y="84"/>
                      <a:pt x="80" y="91"/>
                      <a:pt x="78" y="93"/>
                    </a:cubicBezTo>
                    <a:cubicBezTo>
                      <a:pt x="76" y="95"/>
                      <a:pt x="77" y="97"/>
                      <a:pt x="77" y="99"/>
                    </a:cubicBezTo>
                    <a:cubicBezTo>
                      <a:pt x="78" y="101"/>
                      <a:pt x="78" y="101"/>
                      <a:pt x="77" y="101"/>
                    </a:cubicBezTo>
                    <a:cubicBezTo>
                      <a:pt x="77" y="101"/>
                      <a:pt x="76" y="101"/>
                      <a:pt x="75" y="103"/>
                    </a:cubicBezTo>
                    <a:cubicBezTo>
                      <a:pt x="73" y="104"/>
                      <a:pt x="72" y="104"/>
                      <a:pt x="71" y="104"/>
                    </a:cubicBezTo>
                    <a:cubicBezTo>
                      <a:pt x="69" y="103"/>
                      <a:pt x="68" y="104"/>
                      <a:pt x="67" y="104"/>
                    </a:cubicBezTo>
                    <a:cubicBezTo>
                      <a:pt x="66" y="105"/>
                      <a:pt x="66" y="104"/>
                      <a:pt x="66" y="102"/>
                    </a:cubicBezTo>
                    <a:cubicBezTo>
                      <a:pt x="65" y="101"/>
                      <a:pt x="66" y="101"/>
                      <a:pt x="66" y="100"/>
                    </a:cubicBezTo>
                    <a:cubicBezTo>
                      <a:pt x="65" y="99"/>
                      <a:pt x="62" y="100"/>
                      <a:pt x="61" y="101"/>
                    </a:cubicBezTo>
                    <a:cubicBezTo>
                      <a:pt x="59" y="102"/>
                      <a:pt x="54" y="102"/>
                      <a:pt x="51" y="102"/>
                    </a:cubicBezTo>
                    <a:cubicBezTo>
                      <a:pt x="49" y="103"/>
                      <a:pt x="40" y="103"/>
                      <a:pt x="39" y="103"/>
                    </a:cubicBezTo>
                    <a:cubicBezTo>
                      <a:pt x="37" y="103"/>
                      <a:pt x="30" y="104"/>
                      <a:pt x="29" y="105"/>
                    </a:cubicBezTo>
                    <a:cubicBezTo>
                      <a:pt x="27" y="105"/>
                      <a:pt x="26" y="105"/>
                      <a:pt x="27" y="106"/>
                    </a:cubicBezTo>
                    <a:cubicBezTo>
                      <a:pt x="27" y="107"/>
                      <a:pt x="27" y="107"/>
                      <a:pt x="26" y="108"/>
                    </a:cubicBezTo>
                    <a:cubicBezTo>
                      <a:pt x="25" y="109"/>
                      <a:pt x="16" y="115"/>
                      <a:pt x="14" y="116"/>
                    </a:cubicBezTo>
                    <a:cubicBezTo>
                      <a:pt x="12" y="118"/>
                      <a:pt x="9" y="120"/>
                      <a:pt x="8" y="121"/>
                    </a:cubicBezTo>
                    <a:cubicBezTo>
                      <a:pt x="7" y="122"/>
                      <a:pt x="5" y="123"/>
                      <a:pt x="4" y="122"/>
                    </a:cubicBezTo>
                    <a:cubicBezTo>
                      <a:pt x="2" y="122"/>
                      <a:pt x="1" y="122"/>
                      <a:pt x="1" y="123"/>
                    </a:cubicBezTo>
                    <a:cubicBezTo>
                      <a:pt x="0" y="123"/>
                      <a:pt x="0" y="124"/>
                      <a:pt x="1" y="125"/>
                    </a:cubicBezTo>
                    <a:cubicBezTo>
                      <a:pt x="1" y="126"/>
                      <a:pt x="1" y="126"/>
                      <a:pt x="1" y="127"/>
                    </a:cubicBezTo>
                    <a:cubicBezTo>
                      <a:pt x="0" y="127"/>
                      <a:pt x="0" y="128"/>
                      <a:pt x="0" y="12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38" name="Freeform 748">
                <a:extLst>
                  <a:ext uri="{FF2B5EF4-FFF2-40B4-BE49-F238E27FC236}">
                    <a16:creationId xmlns:a16="http://schemas.microsoft.com/office/drawing/2014/main" id="{5B796D44-7BEA-431A-BAFA-3E073966BF2D}"/>
                  </a:ext>
                </a:extLst>
              </p:cNvPr>
              <p:cNvSpPr>
                <a:spLocks/>
              </p:cNvSpPr>
              <p:nvPr/>
            </p:nvSpPr>
            <p:spPr bwMode="auto">
              <a:xfrm>
                <a:off x="6342" y="1861"/>
                <a:ext cx="7" cy="13"/>
              </a:xfrm>
              <a:custGeom>
                <a:avLst/>
                <a:gdLst>
                  <a:gd name="T0" fmla="*/ 1 w 5"/>
                  <a:gd name="T1" fmla="*/ 8 h 9"/>
                  <a:gd name="T2" fmla="*/ 2 w 5"/>
                  <a:gd name="T3" fmla="*/ 8 h 9"/>
                  <a:gd name="T4" fmla="*/ 5 w 5"/>
                  <a:gd name="T5" fmla="*/ 3 h 9"/>
                  <a:gd name="T6" fmla="*/ 4 w 5"/>
                  <a:gd name="T7" fmla="*/ 1 h 9"/>
                  <a:gd name="T8" fmla="*/ 1 w 5"/>
                  <a:gd name="T9" fmla="*/ 5 h 9"/>
                  <a:gd name="T10" fmla="*/ 1 w 5"/>
                  <a:gd name="T11" fmla="*/ 8 h 9"/>
                </a:gdLst>
                <a:ahLst/>
                <a:cxnLst>
                  <a:cxn ang="0">
                    <a:pos x="T0" y="T1"/>
                  </a:cxn>
                  <a:cxn ang="0">
                    <a:pos x="T2" y="T3"/>
                  </a:cxn>
                  <a:cxn ang="0">
                    <a:pos x="T4" y="T5"/>
                  </a:cxn>
                  <a:cxn ang="0">
                    <a:pos x="T6" y="T7"/>
                  </a:cxn>
                  <a:cxn ang="0">
                    <a:pos x="T8" y="T9"/>
                  </a:cxn>
                  <a:cxn ang="0">
                    <a:pos x="T10" y="T11"/>
                  </a:cxn>
                </a:cxnLst>
                <a:rect l="0" t="0" r="r" b="b"/>
                <a:pathLst>
                  <a:path w="5" h="9">
                    <a:moveTo>
                      <a:pt x="1" y="8"/>
                    </a:moveTo>
                    <a:cubicBezTo>
                      <a:pt x="1" y="8"/>
                      <a:pt x="1" y="9"/>
                      <a:pt x="2" y="8"/>
                    </a:cubicBezTo>
                    <a:cubicBezTo>
                      <a:pt x="4" y="7"/>
                      <a:pt x="5" y="6"/>
                      <a:pt x="5" y="3"/>
                    </a:cubicBezTo>
                    <a:cubicBezTo>
                      <a:pt x="5" y="0"/>
                      <a:pt x="5" y="0"/>
                      <a:pt x="4" y="1"/>
                    </a:cubicBezTo>
                    <a:cubicBezTo>
                      <a:pt x="4" y="1"/>
                      <a:pt x="0" y="3"/>
                      <a:pt x="1" y="5"/>
                    </a:cubicBezTo>
                    <a:cubicBezTo>
                      <a:pt x="2" y="8"/>
                      <a:pt x="2" y="7"/>
                      <a:pt x="1"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39" name="Freeform 749">
                <a:extLst>
                  <a:ext uri="{FF2B5EF4-FFF2-40B4-BE49-F238E27FC236}">
                    <a16:creationId xmlns:a16="http://schemas.microsoft.com/office/drawing/2014/main" id="{2C839BAD-D4AF-4608-9779-09EDCA215B64}"/>
                  </a:ext>
                </a:extLst>
              </p:cNvPr>
              <p:cNvSpPr>
                <a:spLocks/>
              </p:cNvSpPr>
              <p:nvPr/>
            </p:nvSpPr>
            <p:spPr bwMode="auto">
              <a:xfrm>
                <a:off x="6145" y="1988"/>
                <a:ext cx="6" cy="8"/>
              </a:xfrm>
              <a:custGeom>
                <a:avLst/>
                <a:gdLst>
                  <a:gd name="T0" fmla="*/ 2 w 5"/>
                  <a:gd name="T1" fmla="*/ 2 h 6"/>
                  <a:gd name="T2" fmla="*/ 4 w 5"/>
                  <a:gd name="T3" fmla="*/ 4 h 6"/>
                  <a:gd name="T4" fmla="*/ 4 w 5"/>
                  <a:gd name="T5" fmla="*/ 2 h 6"/>
                  <a:gd name="T6" fmla="*/ 2 w 5"/>
                  <a:gd name="T7" fmla="*/ 2 h 6"/>
                </a:gdLst>
                <a:ahLst/>
                <a:cxnLst>
                  <a:cxn ang="0">
                    <a:pos x="T0" y="T1"/>
                  </a:cxn>
                  <a:cxn ang="0">
                    <a:pos x="T2" y="T3"/>
                  </a:cxn>
                  <a:cxn ang="0">
                    <a:pos x="T4" y="T5"/>
                  </a:cxn>
                  <a:cxn ang="0">
                    <a:pos x="T6" y="T7"/>
                  </a:cxn>
                </a:cxnLst>
                <a:rect l="0" t="0" r="r" b="b"/>
                <a:pathLst>
                  <a:path w="5" h="6">
                    <a:moveTo>
                      <a:pt x="2" y="2"/>
                    </a:moveTo>
                    <a:cubicBezTo>
                      <a:pt x="1" y="2"/>
                      <a:pt x="0" y="6"/>
                      <a:pt x="4" y="4"/>
                    </a:cubicBezTo>
                    <a:cubicBezTo>
                      <a:pt x="4" y="4"/>
                      <a:pt x="5" y="3"/>
                      <a:pt x="4" y="2"/>
                    </a:cubicBezTo>
                    <a:cubicBezTo>
                      <a:pt x="3" y="0"/>
                      <a:pt x="3" y="1"/>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40" name="Freeform 750">
                <a:extLst>
                  <a:ext uri="{FF2B5EF4-FFF2-40B4-BE49-F238E27FC236}">
                    <a16:creationId xmlns:a16="http://schemas.microsoft.com/office/drawing/2014/main" id="{762B5D4B-8111-45B6-BFB2-A2317A13CD6F}"/>
                  </a:ext>
                </a:extLst>
              </p:cNvPr>
              <p:cNvSpPr>
                <a:spLocks/>
              </p:cNvSpPr>
              <p:nvPr/>
            </p:nvSpPr>
            <p:spPr bwMode="auto">
              <a:xfrm>
                <a:off x="6153" y="1982"/>
                <a:ext cx="3" cy="6"/>
              </a:xfrm>
              <a:custGeom>
                <a:avLst/>
                <a:gdLst>
                  <a:gd name="T0" fmla="*/ 2 w 2"/>
                  <a:gd name="T1" fmla="*/ 2 h 4"/>
                  <a:gd name="T2" fmla="*/ 1 w 2"/>
                  <a:gd name="T3" fmla="*/ 3 h 4"/>
                  <a:gd name="T4" fmla="*/ 2 w 2"/>
                  <a:gd name="T5" fmla="*/ 2 h 4"/>
                </a:gdLst>
                <a:ahLst/>
                <a:cxnLst>
                  <a:cxn ang="0">
                    <a:pos x="T0" y="T1"/>
                  </a:cxn>
                  <a:cxn ang="0">
                    <a:pos x="T2" y="T3"/>
                  </a:cxn>
                  <a:cxn ang="0">
                    <a:pos x="T4" y="T5"/>
                  </a:cxn>
                </a:cxnLst>
                <a:rect l="0" t="0" r="r" b="b"/>
                <a:pathLst>
                  <a:path w="2" h="4">
                    <a:moveTo>
                      <a:pt x="2" y="2"/>
                    </a:moveTo>
                    <a:cubicBezTo>
                      <a:pt x="2" y="0"/>
                      <a:pt x="0" y="2"/>
                      <a:pt x="1" y="3"/>
                    </a:cubicBezTo>
                    <a:cubicBezTo>
                      <a:pt x="1" y="3"/>
                      <a:pt x="2" y="4"/>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41" name="Freeform 751">
                <a:extLst>
                  <a:ext uri="{FF2B5EF4-FFF2-40B4-BE49-F238E27FC236}">
                    <a16:creationId xmlns:a16="http://schemas.microsoft.com/office/drawing/2014/main" id="{C04B6D84-CC50-47C4-889F-9A4FF13072E1}"/>
                  </a:ext>
                </a:extLst>
              </p:cNvPr>
              <p:cNvSpPr>
                <a:spLocks/>
              </p:cNvSpPr>
              <p:nvPr/>
            </p:nvSpPr>
            <p:spPr bwMode="auto">
              <a:xfrm>
                <a:off x="6174" y="1994"/>
                <a:ext cx="5" cy="10"/>
              </a:xfrm>
              <a:custGeom>
                <a:avLst/>
                <a:gdLst>
                  <a:gd name="T0" fmla="*/ 2 w 4"/>
                  <a:gd name="T1" fmla="*/ 5 h 7"/>
                  <a:gd name="T2" fmla="*/ 3 w 4"/>
                  <a:gd name="T3" fmla="*/ 2 h 7"/>
                  <a:gd name="T4" fmla="*/ 2 w 4"/>
                  <a:gd name="T5" fmla="*/ 1 h 7"/>
                  <a:gd name="T6" fmla="*/ 0 w 4"/>
                  <a:gd name="T7" fmla="*/ 4 h 7"/>
                  <a:gd name="T8" fmla="*/ 2 w 4"/>
                  <a:gd name="T9" fmla="*/ 5 h 7"/>
                </a:gdLst>
                <a:ahLst/>
                <a:cxnLst>
                  <a:cxn ang="0">
                    <a:pos x="T0" y="T1"/>
                  </a:cxn>
                  <a:cxn ang="0">
                    <a:pos x="T2" y="T3"/>
                  </a:cxn>
                  <a:cxn ang="0">
                    <a:pos x="T4" y="T5"/>
                  </a:cxn>
                  <a:cxn ang="0">
                    <a:pos x="T6" y="T7"/>
                  </a:cxn>
                  <a:cxn ang="0">
                    <a:pos x="T8" y="T9"/>
                  </a:cxn>
                </a:cxnLst>
                <a:rect l="0" t="0" r="r" b="b"/>
                <a:pathLst>
                  <a:path w="4" h="7">
                    <a:moveTo>
                      <a:pt x="2" y="5"/>
                    </a:moveTo>
                    <a:cubicBezTo>
                      <a:pt x="3" y="3"/>
                      <a:pt x="4" y="3"/>
                      <a:pt x="3" y="2"/>
                    </a:cubicBezTo>
                    <a:cubicBezTo>
                      <a:pt x="3" y="1"/>
                      <a:pt x="3" y="0"/>
                      <a:pt x="2" y="1"/>
                    </a:cubicBezTo>
                    <a:cubicBezTo>
                      <a:pt x="0" y="1"/>
                      <a:pt x="0" y="0"/>
                      <a:pt x="0" y="4"/>
                    </a:cubicBezTo>
                    <a:cubicBezTo>
                      <a:pt x="0" y="4"/>
                      <a:pt x="0" y="7"/>
                      <a:pt x="2"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42" name="Freeform 752">
                <a:extLst>
                  <a:ext uri="{FF2B5EF4-FFF2-40B4-BE49-F238E27FC236}">
                    <a16:creationId xmlns:a16="http://schemas.microsoft.com/office/drawing/2014/main" id="{5E3E1623-6A30-4C84-B407-5EDA66170AAE}"/>
                  </a:ext>
                </a:extLst>
              </p:cNvPr>
              <p:cNvSpPr>
                <a:spLocks/>
              </p:cNvSpPr>
              <p:nvPr/>
            </p:nvSpPr>
            <p:spPr bwMode="auto">
              <a:xfrm>
                <a:off x="6165" y="1963"/>
                <a:ext cx="52" cy="67"/>
              </a:xfrm>
              <a:custGeom>
                <a:avLst/>
                <a:gdLst>
                  <a:gd name="T0" fmla="*/ 3 w 37"/>
                  <a:gd name="T1" fmla="*/ 10 h 49"/>
                  <a:gd name="T2" fmla="*/ 0 w 37"/>
                  <a:gd name="T3" fmla="*/ 11 h 49"/>
                  <a:gd name="T4" fmla="*/ 2 w 37"/>
                  <a:gd name="T5" fmla="*/ 14 h 49"/>
                  <a:gd name="T6" fmla="*/ 6 w 37"/>
                  <a:gd name="T7" fmla="*/ 18 h 49"/>
                  <a:gd name="T8" fmla="*/ 4 w 37"/>
                  <a:gd name="T9" fmla="*/ 17 h 49"/>
                  <a:gd name="T10" fmla="*/ 2 w 37"/>
                  <a:gd name="T11" fmla="*/ 15 h 49"/>
                  <a:gd name="T12" fmla="*/ 1 w 37"/>
                  <a:gd name="T13" fmla="*/ 16 h 49"/>
                  <a:gd name="T14" fmla="*/ 3 w 37"/>
                  <a:gd name="T15" fmla="*/ 20 h 49"/>
                  <a:gd name="T16" fmla="*/ 5 w 37"/>
                  <a:gd name="T17" fmla="*/ 22 h 49"/>
                  <a:gd name="T18" fmla="*/ 9 w 37"/>
                  <a:gd name="T19" fmla="*/ 20 h 49"/>
                  <a:gd name="T20" fmla="*/ 10 w 37"/>
                  <a:gd name="T21" fmla="*/ 22 h 49"/>
                  <a:gd name="T22" fmla="*/ 10 w 37"/>
                  <a:gd name="T23" fmla="*/ 19 h 49"/>
                  <a:gd name="T24" fmla="*/ 9 w 37"/>
                  <a:gd name="T25" fmla="*/ 17 h 49"/>
                  <a:gd name="T26" fmla="*/ 9 w 37"/>
                  <a:gd name="T27" fmla="*/ 15 h 49"/>
                  <a:gd name="T28" fmla="*/ 9 w 37"/>
                  <a:gd name="T29" fmla="*/ 13 h 49"/>
                  <a:gd name="T30" fmla="*/ 12 w 37"/>
                  <a:gd name="T31" fmla="*/ 14 h 49"/>
                  <a:gd name="T32" fmla="*/ 15 w 37"/>
                  <a:gd name="T33" fmla="*/ 19 h 49"/>
                  <a:gd name="T34" fmla="*/ 15 w 37"/>
                  <a:gd name="T35" fmla="*/ 21 h 49"/>
                  <a:gd name="T36" fmla="*/ 15 w 37"/>
                  <a:gd name="T37" fmla="*/ 22 h 49"/>
                  <a:gd name="T38" fmla="*/ 15 w 37"/>
                  <a:gd name="T39" fmla="*/ 24 h 49"/>
                  <a:gd name="T40" fmla="*/ 13 w 37"/>
                  <a:gd name="T41" fmla="*/ 28 h 49"/>
                  <a:gd name="T42" fmla="*/ 9 w 37"/>
                  <a:gd name="T43" fmla="*/ 35 h 49"/>
                  <a:gd name="T44" fmla="*/ 10 w 37"/>
                  <a:gd name="T45" fmla="*/ 38 h 49"/>
                  <a:gd name="T46" fmla="*/ 10 w 37"/>
                  <a:gd name="T47" fmla="*/ 42 h 49"/>
                  <a:gd name="T48" fmla="*/ 9 w 37"/>
                  <a:gd name="T49" fmla="*/ 44 h 49"/>
                  <a:gd name="T50" fmla="*/ 12 w 37"/>
                  <a:gd name="T51" fmla="*/ 45 h 49"/>
                  <a:gd name="T52" fmla="*/ 15 w 37"/>
                  <a:gd name="T53" fmla="*/ 46 h 49"/>
                  <a:gd name="T54" fmla="*/ 16 w 37"/>
                  <a:gd name="T55" fmla="*/ 44 h 49"/>
                  <a:gd name="T56" fmla="*/ 15 w 37"/>
                  <a:gd name="T57" fmla="*/ 38 h 49"/>
                  <a:gd name="T58" fmla="*/ 18 w 37"/>
                  <a:gd name="T59" fmla="*/ 37 h 49"/>
                  <a:gd name="T60" fmla="*/ 18 w 37"/>
                  <a:gd name="T61" fmla="*/ 39 h 49"/>
                  <a:gd name="T62" fmla="*/ 17 w 37"/>
                  <a:gd name="T63" fmla="*/ 42 h 49"/>
                  <a:gd name="T64" fmla="*/ 17 w 37"/>
                  <a:gd name="T65" fmla="*/ 47 h 49"/>
                  <a:gd name="T66" fmla="*/ 18 w 37"/>
                  <a:gd name="T67" fmla="*/ 47 h 49"/>
                  <a:gd name="T68" fmla="*/ 23 w 37"/>
                  <a:gd name="T69" fmla="*/ 43 h 49"/>
                  <a:gd name="T70" fmla="*/ 24 w 37"/>
                  <a:gd name="T71" fmla="*/ 41 h 49"/>
                  <a:gd name="T72" fmla="*/ 27 w 37"/>
                  <a:gd name="T73" fmla="*/ 40 h 49"/>
                  <a:gd name="T74" fmla="*/ 35 w 37"/>
                  <a:gd name="T75" fmla="*/ 19 h 49"/>
                  <a:gd name="T76" fmla="*/ 36 w 37"/>
                  <a:gd name="T77" fmla="*/ 14 h 49"/>
                  <a:gd name="T78" fmla="*/ 33 w 37"/>
                  <a:gd name="T79" fmla="*/ 11 h 49"/>
                  <a:gd name="T80" fmla="*/ 29 w 37"/>
                  <a:gd name="T81" fmla="*/ 11 h 49"/>
                  <a:gd name="T82" fmla="*/ 30 w 37"/>
                  <a:gd name="T83" fmla="*/ 9 h 49"/>
                  <a:gd name="T84" fmla="*/ 30 w 37"/>
                  <a:gd name="T85" fmla="*/ 5 h 49"/>
                  <a:gd name="T86" fmla="*/ 28 w 37"/>
                  <a:gd name="T87" fmla="*/ 5 h 49"/>
                  <a:gd name="T88" fmla="*/ 23 w 37"/>
                  <a:gd name="T89" fmla="*/ 5 h 49"/>
                  <a:gd name="T90" fmla="*/ 20 w 37"/>
                  <a:gd name="T91" fmla="*/ 0 h 49"/>
                  <a:gd name="T92" fmla="*/ 14 w 37"/>
                  <a:gd name="T93" fmla="*/ 2 h 49"/>
                  <a:gd name="T94" fmla="*/ 11 w 37"/>
                  <a:gd name="T95" fmla="*/ 4 h 49"/>
                  <a:gd name="T96" fmla="*/ 8 w 37"/>
                  <a:gd name="T97" fmla="*/ 7 h 49"/>
                  <a:gd name="T98" fmla="*/ 6 w 37"/>
                  <a:gd name="T99" fmla="*/ 8 h 49"/>
                  <a:gd name="T100" fmla="*/ 4 w 37"/>
                  <a:gd name="T101" fmla="*/ 8 h 49"/>
                  <a:gd name="T102" fmla="*/ 3 w 37"/>
                  <a:gd name="T103"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3" y="10"/>
                    </a:moveTo>
                    <a:cubicBezTo>
                      <a:pt x="2" y="10"/>
                      <a:pt x="0" y="10"/>
                      <a:pt x="0" y="11"/>
                    </a:cubicBezTo>
                    <a:cubicBezTo>
                      <a:pt x="1" y="12"/>
                      <a:pt x="1" y="14"/>
                      <a:pt x="2" y="14"/>
                    </a:cubicBezTo>
                    <a:cubicBezTo>
                      <a:pt x="2" y="14"/>
                      <a:pt x="7" y="18"/>
                      <a:pt x="6" y="18"/>
                    </a:cubicBezTo>
                    <a:cubicBezTo>
                      <a:pt x="5" y="19"/>
                      <a:pt x="4" y="19"/>
                      <a:pt x="4" y="17"/>
                    </a:cubicBezTo>
                    <a:cubicBezTo>
                      <a:pt x="3" y="15"/>
                      <a:pt x="3" y="15"/>
                      <a:pt x="2" y="15"/>
                    </a:cubicBezTo>
                    <a:cubicBezTo>
                      <a:pt x="2" y="15"/>
                      <a:pt x="1" y="15"/>
                      <a:pt x="1" y="16"/>
                    </a:cubicBezTo>
                    <a:cubicBezTo>
                      <a:pt x="1" y="17"/>
                      <a:pt x="1" y="18"/>
                      <a:pt x="3" y="20"/>
                    </a:cubicBezTo>
                    <a:cubicBezTo>
                      <a:pt x="5" y="22"/>
                      <a:pt x="1" y="23"/>
                      <a:pt x="5" y="22"/>
                    </a:cubicBezTo>
                    <a:cubicBezTo>
                      <a:pt x="8" y="20"/>
                      <a:pt x="9" y="19"/>
                      <a:pt x="9" y="20"/>
                    </a:cubicBezTo>
                    <a:cubicBezTo>
                      <a:pt x="8" y="22"/>
                      <a:pt x="8" y="23"/>
                      <a:pt x="10" y="22"/>
                    </a:cubicBezTo>
                    <a:cubicBezTo>
                      <a:pt x="11" y="21"/>
                      <a:pt x="13" y="21"/>
                      <a:pt x="10" y="19"/>
                    </a:cubicBezTo>
                    <a:cubicBezTo>
                      <a:pt x="7" y="18"/>
                      <a:pt x="7" y="18"/>
                      <a:pt x="9" y="17"/>
                    </a:cubicBezTo>
                    <a:cubicBezTo>
                      <a:pt x="10" y="16"/>
                      <a:pt x="10" y="16"/>
                      <a:pt x="9" y="15"/>
                    </a:cubicBezTo>
                    <a:cubicBezTo>
                      <a:pt x="8" y="13"/>
                      <a:pt x="8" y="13"/>
                      <a:pt x="9" y="13"/>
                    </a:cubicBezTo>
                    <a:cubicBezTo>
                      <a:pt x="10" y="13"/>
                      <a:pt x="12" y="12"/>
                      <a:pt x="12" y="14"/>
                    </a:cubicBezTo>
                    <a:cubicBezTo>
                      <a:pt x="13" y="16"/>
                      <a:pt x="14" y="18"/>
                      <a:pt x="15" y="19"/>
                    </a:cubicBezTo>
                    <a:cubicBezTo>
                      <a:pt x="15" y="20"/>
                      <a:pt x="16" y="20"/>
                      <a:pt x="15" y="21"/>
                    </a:cubicBezTo>
                    <a:cubicBezTo>
                      <a:pt x="14" y="22"/>
                      <a:pt x="13" y="22"/>
                      <a:pt x="15" y="22"/>
                    </a:cubicBezTo>
                    <a:cubicBezTo>
                      <a:pt x="16" y="22"/>
                      <a:pt x="16" y="22"/>
                      <a:pt x="15" y="24"/>
                    </a:cubicBezTo>
                    <a:cubicBezTo>
                      <a:pt x="14" y="25"/>
                      <a:pt x="15" y="26"/>
                      <a:pt x="13" y="28"/>
                    </a:cubicBezTo>
                    <a:cubicBezTo>
                      <a:pt x="12" y="30"/>
                      <a:pt x="8" y="31"/>
                      <a:pt x="9" y="35"/>
                    </a:cubicBezTo>
                    <a:cubicBezTo>
                      <a:pt x="9" y="38"/>
                      <a:pt x="10" y="38"/>
                      <a:pt x="10" y="38"/>
                    </a:cubicBezTo>
                    <a:cubicBezTo>
                      <a:pt x="10" y="38"/>
                      <a:pt x="11" y="42"/>
                      <a:pt x="10" y="42"/>
                    </a:cubicBezTo>
                    <a:cubicBezTo>
                      <a:pt x="8" y="42"/>
                      <a:pt x="7" y="42"/>
                      <a:pt x="9" y="44"/>
                    </a:cubicBezTo>
                    <a:cubicBezTo>
                      <a:pt x="11" y="45"/>
                      <a:pt x="11" y="44"/>
                      <a:pt x="12" y="45"/>
                    </a:cubicBezTo>
                    <a:cubicBezTo>
                      <a:pt x="14" y="45"/>
                      <a:pt x="14" y="46"/>
                      <a:pt x="15" y="46"/>
                    </a:cubicBezTo>
                    <a:cubicBezTo>
                      <a:pt x="15" y="46"/>
                      <a:pt x="17" y="46"/>
                      <a:pt x="16" y="44"/>
                    </a:cubicBezTo>
                    <a:cubicBezTo>
                      <a:pt x="14" y="42"/>
                      <a:pt x="14" y="40"/>
                      <a:pt x="15" y="38"/>
                    </a:cubicBezTo>
                    <a:cubicBezTo>
                      <a:pt x="16" y="37"/>
                      <a:pt x="17" y="36"/>
                      <a:pt x="18" y="37"/>
                    </a:cubicBezTo>
                    <a:cubicBezTo>
                      <a:pt x="18" y="38"/>
                      <a:pt x="18" y="39"/>
                      <a:pt x="18" y="39"/>
                    </a:cubicBezTo>
                    <a:cubicBezTo>
                      <a:pt x="17" y="40"/>
                      <a:pt x="17" y="40"/>
                      <a:pt x="17" y="42"/>
                    </a:cubicBezTo>
                    <a:cubicBezTo>
                      <a:pt x="18" y="43"/>
                      <a:pt x="18" y="46"/>
                      <a:pt x="17" y="47"/>
                    </a:cubicBezTo>
                    <a:cubicBezTo>
                      <a:pt x="17" y="48"/>
                      <a:pt x="16" y="49"/>
                      <a:pt x="18" y="47"/>
                    </a:cubicBezTo>
                    <a:cubicBezTo>
                      <a:pt x="20" y="46"/>
                      <a:pt x="23" y="45"/>
                      <a:pt x="23" y="43"/>
                    </a:cubicBezTo>
                    <a:cubicBezTo>
                      <a:pt x="23" y="41"/>
                      <a:pt x="23" y="40"/>
                      <a:pt x="24" y="41"/>
                    </a:cubicBezTo>
                    <a:cubicBezTo>
                      <a:pt x="25" y="42"/>
                      <a:pt x="26" y="43"/>
                      <a:pt x="27" y="40"/>
                    </a:cubicBezTo>
                    <a:cubicBezTo>
                      <a:pt x="28" y="37"/>
                      <a:pt x="32" y="22"/>
                      <a:pt x="35" y="19"/>
                    </a:cubicBezTo>
                    <a:cubicBezTo>
                      <a:pt x="37" y="17"/>
                      <a:pt x="36" y="17"/>
                      <a:pt x="36" y="14"/>
                    </a:cubicBezTo>
                    <a:cubicBezTo>
                      <a:pt x="35" y="11"/>
                      <a:pt x="34" y="11"/>
                      <a:pt x="33" y="11"/>
                    </a:cubicBezTo>
                    <a:cubicBezTo>
                      <a:pt x="32" y="12"/>
                      <a:pt x="30" y="11"/>
                      <a:pt x="29" y="11"/>
                    </a:cubicBezTo>
                    <a:cubicBezTo>
                      <a:pt x="28" y="10"/>
                      <a:pt x="29" y="10"/>
                      <a:pt x="30" y="9"/>
                    </a:cubicBezTo>
                    <a:cubicBezTo>
                      <a:pt x="31" y="9"/>
                      <a:pt x="32" y="6"/>
                      <a:pt x="30" y="5"/>
                    </a:cubicBezTo>
                    <a:cubicBezTo>
                      <a:pt x="28" y="4"/>
                      <a:pt x="29" y="4"/>
                      <a:pt x="28" y="5"/>
                    </a:cubicBezTo>
                    <a:cubicBezTo>
                      <a:pt x="27" y="6"/>
                      <a:pt x="24" y="7"/>
                      <a:pt x="23" y="5"/>
                    </a:cubicBezTo>
                    <a:cubicBezTo>
                      <a:pt x="21" y="2"/>
                      <a:pt x="21" y="0"/>
                      <a:pt x="20" y="0"/>
                    </a:cubicBezTo>
                    <a:cubicBezTo>
                      <a:pt x="19" y="0"/>
                      <a:pt x="14" y="0"/>
                      <a:pt x="14" y="2"/>
                    </a:cubicBezTo>
                    <a:cubicBezTo>
                      <a:pt x="13" y="4"/>
                      <a:pt x="12" y="4"/>
                      <a:pt x="11" y="4"/>
                    </a:cubicBezTo>
                    <a:cubicBezTo>
                      <a:pt x="10" y="5"/>
                      <a:pt x="8" y="6"/>
                      <a:pt x="8" y="7"/>
                    </a:cubicBezTo>
                    <a:cubicBezTo>
                      <a:pt x="7" y="8"/>
                      <a:pt x="7" y="8"/>
                      <a:pt x="6" y="8"/>
                    </a:cubicBezTo>
                    <a:cubicBezTo>
                      <a:pt x="5" y="7"/>
                      <a:pt x="4" y="6"/>
                      <a:pt x="4" y="8"/>
                    </a:cubicBezTo>
                    <a:cubicBezTo>
                      <a:pt x="4" y="9"/>
                      <a:pt x="4" y="10"/>
                      <a:pt x="3"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43" name="Freeform 753">
                <a:extLst>
                  <a:ext uri="{FF2B5EF4-FFF2-40B4-BE49-F238E27FC236}">
                    <a16:creationId xmlns:a16="http://schemas.microsoft.com/office/drawing/2014/main" id="{80B48860-E6CE-46BF-8C28-CA9ED03FA2C4}"/>
                  </a:ext>
                </a:extLst>
              </p:cNvPr>
              <p:cNvSpPr>
                <a:spLocks/>
              </p:cNvSpPr>
              <p:nvPr/>
            </p:nvSpPr>
            <p:spPr bwMode="auto">
              <a:xfrm>
                <a:off x="6215" y="1953"/>
                <a:ext cx="57" cy="37"/>
              </a:xfrm>
              <a:custGeom>
                <a:avLst/>
                <a:gdLst>
                  <a:gd name="T0" fmla="*/ 3 w 41"/>
                  <a:gd name="T1" fmla="*/ 15 h 27"/>
                  <a:gd name="T2" fmla="*/ 2 w 41"/>
                  <a:gd name="T3" fmla="*/ 16 h 27"/>
                  <a:gd name="T4" fmla="*/ 6 w 41"/>
                  <a:gd name="T5" fmla="*/ 16 h 27"/>
                  <a:gd name="T6" fmla="*/ 7 w 41"/>
                  <a:gd name="T7" fmla="*/ 18 h 27"/>
                  <a:gd name="T8" fmla="*/ 6 w 41"/>
                  <a:gd name="T9" fmla="*/ 21 h 27"/>
                  <a:gd name="T10" fmla="*/ 7 w 41"/>
                  <a:gd name="T11" fmla="*/ 23 h 27"/>
                  <a:gd name="T12" fmla="*/ 8 w 41"/>
                  <a:gd name="T13" fmla="*/ 24 h 27"/>
                  <a:gd name="T14" fmla="*/ 9 w 41"/>
                  <a:gd name="T15" fmla="*/ 26 h 27"/>
                  <a:gd name="T16" fmla="*/ 12 w 41"/>
                  <a:gd name="T17" fmla="*/ 27 h 27"/>
                  <a:gd name="T18" fmla="*/ 15 w 41"/>
                  <a:gd name="T19" fmla="*/ 27 h 27"/>
                  <a:gd name="T20" fmla="*/ 15 w 41"/>
                  <a:gd name="T21" fmla="*/ 24 h 27"/>
                  <a:gd name="T22" fmla="*/ 17 w 41"/>
                  <a:gd name="T23" fmla="*/ 21 h 27"/>
                  <a:gd name="T24" fmla="*/ 24 w 41"/>
                  <a:gd name="T25" fmla="*/ 14 h 27"/>
                  <a:gd name="T26" fmla="*/ 31 w 41"/>
                  <a:gd name="T27" fmla="*/ 18 h 27"/>
                  <a:gd name="T28" fmla="*/ 33 w 41"/>
                  <a:gd name="T29" fmla="*/ 15 h 27"/>
                  <a:gd name="T30" fmla="*/ 40 w 41"/>
                  <a:gd name="T31" fmla="*/ 9 h 27"/>
                  <a:gd name="T32" fmla="*/ 40 w 41"/>
                  <a:gd name="T33" fmla="*/ 8 h 27"/>
                  <a:gd name="T34" fmla="*/ 39 w 41"/>
                  <a:gd name="T35" fmla="*/ 6 h 27"/>
                  <a:gd name="T36" fmla="*/ 39 w 41"/>
                  <a:gd name="T37" fmla="*/ 3 h 27"/>
                  <a:gd name="T38" fmla="*/ 38 w 41"/>
                  <a:gd name="T39" fmla="*/ 2 h 27"/>
                  <a:gd name="T40" fmla="*/ 31 w 41"/>
                  <a:gd name="T41" fmla="*/ 1 h 27"/>
                  <a:gd name="T42" fmla="*/ 24 w 41"/>
                  <a:gd name="T43" fmla="*/ 1 h 27"/>
                  <a:gd name="T44" fmla="*/ 24 w 41"/>
                  <a:gd name="T45" fmla="*/ 4 h 27"/>
                  <a:gd name="T46" fmla="*/ 19 w 41"/>
                  <a:gd name="T47" fmla="*/ 7 h 27"/>
                  <a:gd name="T48" fmla="*/ 14 w 41"/>
                  <a:gd name="T49" fmla="*/ 4 h 27"/>
                  <a:gd name="T50" fmla="*/ 12 w 41"/>
                  <a:gd name="T51" fmla="*/ 6 h 27"/>
                  <a:gd name="T52" fmla="*/ 11 w 41"/>
                  <a:gd name="T53" fmla="*/ 9 h 27"/>
                  <a:gd name="T54" fmla="*/ 3 w 41"/>
                  <a:gd name="T5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1" h="27">
                    <a:moveTo>
                      <a:pt x="3" y="15"/>
                    </a:moveTo>
                    <a:cubicBezTo>
                      <a:pt x="0" y="17"/>
                      <a:pt x="2" y="16"/>
                      <a:pt x="2" y="16"/>
                    </a:cubicBezTo>
                    <a:cubicBezTo>
                      <a:pt x="5" y="14"/>
                      <a:pt x="6" y="15"/>
                      <a:pt x="6" y="16"/>
                    </a:cubicBezTo>
                    <a:cubicBezTo>
                      <a:pt x="6" y="18"/>
                      <a:pt x="8" y="17"/>
                      <a:pt x="7" y="18"/>
                    </a:cubicBezTo>
                    <a:cubicBezTo>
                      <a:pt x="6" y="18"/>
                      <a:pt x="7" y="19"/>
                      <a:pt x="6" y="21"/>
                    </a:cubicBezTo>
                    <a:cubicBezTo>
                      <a:pt x="6" y="22"/>
                      <a:pt x="7" y="22"/>
                      <a:pt x="7" y="23"/>
                    </a:cubicBezTo>
                    <a:cubicBezTo>
                      <a:pt x="7" y="24"/>
                      <a:pt x="7" y="24"/>
                      <a:pt x="8" y="24"/>
                    </a:cubicBezTo>
                    <a:cubicBezTo>
                      <a:pt x="9" y="23"/>
                      <a:pt x="9" y="24"/>
                      <a:pt x="9" y="26"/>
                    </a:cubicBezTo>
                    <a:cubicBezTo>
                      <a:pt x="10" y="27"/>
                      <a:pt x="11" y="27"/>
                      <a:pt x="12" y="27"/>
                    </a:cubicBezTo>
                    <a:cubicBezTo>
                      <a:pt x="13" y="27"/>
                      <a:pt x="14" y="27"/>
                      <a:pt x="15" y="27"/>
                    </a:cubicBezTo>
                    <a:cubicBezTo>
                      <a:pt x="15" y="26"/>
                      <a:pt x="15" y="25"/>
                      <a:pt x="15" y="24"/>
                    </a:cubicBezTo>
                    <a:cubicBezTo>
                      <a:pt x="15" y="23"/>
                      <a:pt x="16" y="21"/>
                      <a:pt x="17" y="21"/>
                    </a:cubicBezTo>
                    <a:cubicBezTo>
                      <a:pt x="18" y="20"/>
                      <a:pt x="21" y="17"/>
                      <a:pt x="24" y="14"/>
                    </a:cubicBezTo>
                    <a:cubicBezTo>
                      <a:pt x="28" y="12"/>
                      <a:pt x="29" y="16"/>
                      <a:pt x="31" y="18"/>
                    </a:cubicBezTo>
                    <a:cubicBezTo>
                      <a:pt x="33" y="20"/>
                      <a:pt x="33" y="17"/>
                      <a:pt x="33" y="15"/>
                    </a:cubicBezTo>
                    <a:cubicBezTo>
                      <a:pt x="34" y="13"/>
                      <a:pt x="39" y="10"/>
                      <a:pt x="40" y="9"/>
                    </a:cubicBezTo>
                    <a:cubicBezTo>
                      <a:pt x="41" y="8"/>
                      <a:pt x="40" y="9"/>
                      <a:pt x="40" y="8"/>
                    </a:cubicBezTo>
                    <a:cubicBezTo>
                      <a:pt x="40" y="7"/>
                      <a:pt x="40" y="6"/>
                      <a:pt x="39" y="6"/>
                    </a:cubicBezTo>
                    <a:cubicBezTo>
                      <a:pt x="38" y="6"/>
                      <a:pt x="39" y="5"/>
                      <a:pt x="39" y="3"/>
                    </a:cubicBezTo>
                    <a:cubicBezTo>
                      <a:pt x="40" y="2"/>
                      <a:pt x="39" y="2"/>
                      <a:pt x="38" y="2"/>
                    </a:cubicBezTo>
                    <a:cubicBezTo>
                      <a:pt x="36" y="2"/>
                      <a:pt x="33" y="1"/>
                      <a:pt x="31" y="1"/>
                    </a:cubicBezTo>
                    <a:cubicBezTo>
                      <a:pt x="29" y="0"/>
                      <a:pt x="26" y="0"/>
                      <a:pt x="24" y="1"/>
                    </a:cubicBezTo>
                    <a:cubicBezTo>
                      <a:pt x="23" y="2"/>
                      <a:pt x="24" y="2"/>
                      <a:pt x="24" y="4"/>
                    </a:cubicBezTo>
                    <a:cubicBezTo>
                      <a:pt x="24" y="6"/>
                      <a:pt x="22" y="6"/>
                      <a:pt x="19" y="7"/>
                    </a:cubicBezTo>
                    <a:cubicBezTo>
                      <a:pt x="15" y="8"/>
                      <a:pt x="15" y="5"/>
                      <a:pt x="14" y="4"/>
                    </a:cubicBezTo>
                    <a:cubicBezTo>
                      <a:pt x="13" y="3"/>
                      <a:pt x="13" y="5"/>
                      <a:pt x="12" y="6"/>
                    </a:cubicBezTo>
                    <a:cubicBezTo>
                      <a:pt x="11" y="7"/>
                      <a:pt x="10" y="8"/>
                      <a:pt x="11" y="9"/>
                    </a:cubicBezTo>
                    <a:cubicBezTo>
                      <a:pt x="11" y="10"/>
                      <a:pt x="6" y="13"/>
                      <a:pt x="3" y="1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44" name="Freeform 754">
                <a:extLst>
                  <a:ext uri="{FF2B5EF4-FFF2-40B4-BE49-F238E27FC236}">
                    <a16:creationId xmlns:a16="http://schemas.microsoft.com/office/drawing/2014/main" id="{181316A3-9CA4-4942-AC04-7BE990338645}"/>
                  </a:ext>
                </a:extLst>
              </p:cNvPr>
              <p:cNvSpPr>
                <a:spLocks/>
              </p:cNvSpPr>
              <p:nvPr/>
            </p:nvSpPr>
            <p:spPr bwMode="auto">
              <a:xfrm>
                <a:off x="6124" y="2121"/>
                <a:ext cx="15" cy="18"/>
              </a:xfrm>
              <a:custGeom>
                <a:avLst/>
                <a:gdLst>
                  <a:gd name="T0" fmla="*/ 2 w 11"/>
                  <a:gd name="T1" fmla="*/ 9 h 13"/>
                  <a:gd name="T2" fmla="*/ 1 w 11"/>
                  <a:gd name="T3" fmla="*/ 12 h 13"/>
                  <a:gd name="T4" fmla="*/ 4 w 11"/>
                  <a:gd name="T5" fmla="*/ 11 h 13"/>
                  <a:gd name="T6" fmla="*/ 9 w 11"/>
                  <a:gd name="T7" fmla="*/ 4 h 13"/>
                  <a:gd name="T8" fmla="*/ 9 w 11"/>
                  <a:gd name="T9" fmla="*/ 2 h 13"/>
                  <a:gd name="T10" fmla="*/ 6 w 11"/>
                  <a:gd name="T11" fmla="*/ 3 h 13"/>
                  <a:gd name="T12" fmla="*/ 5 w 11"/>
                  <a:gd name="T13" fmla="*/ 4 h 13"/>
                  <a:gd name="T14" fmla="*/ 5 w 11"/>
                  <a:gd name="T15" fmla="*/ 6 h 13"/>
                  <a:gd name="T16" fmla="*/ 2 w 11"/>
                  <a:gd name="T17" fmla="*/ 9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3">
                    <a:moveTo>
                      <a:pt x="2" y="9"/>
                    </a:moveTo>
                    <a:cubicBezTo>
                      <a:pt x="2" y="10"/>
                      <a:pt x="0" y="11"/>
                      <a:pt x="1" y="12"/>
                    </a:cubicBezTo>
                    <a:cubicBezTo>
                      <a:pt x="1" y="12"/>
                      <a:pt x="3" y="13"/>
                      <a:pt x="4" y="11"/>
                    </a:cubicBezTo>
                    <a:cubicBezTo>
                      <a:pt x="5" y="8"/>
                      <a:pt x="7" y="5"/>
                      <a:pt x="9" y="4"/>
                    </a:cubicBezTo>
                    <a:cubicBezTo>
                      <a:pt x="10" y="2"/>
                      <a:pt x="11" y="0"/>
                      <a:pt x="9" y="2"/>
                    </a:cubicBezTo>
                    <a:cubicBezTo>
                      <a:pt x="7" y="4"/>
                      <a:pt x="7" y="4"/>
                      <a:pt x="6" y="3"/>
                    </a:cubicBezTo>
                    <a:cubicBezTo>
                      <a:pt x="5" y="2"/>
                      <a:pt x="4" y="3"/>
                      <a:pt x="5" y="4"/>
                    </a:cubicBezTo>
                    <a:cubicBezTo>
                      <a:pt x="6" y="5"/>
                      <a:pt x="6" y="5"/>
                      <a:pt x="5" y="6"/>
                    </a:cubicBezTo>
                    <a:cubicBezTo>
                      <a:pt x="3" y="7"/>
                      <a:pt x="2" y="8"/>
                      <a:pt x="2"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45" name="Freeform 755">
                <a:extLst>
                  <a:ext uri="{FF2B5EF4-FFF2-40B4-BE49-F238E27FC236}">
                    <a16:creationId xmlns:a16="http://schemas.microsoft.com/office/drawing/2014/main" id="{F0EFF747-C848-4A8A-8972-47EA2A75A47D}"/>
                  </a:ext>
                </a:extLst>
              </p:cNvPr>
              <p:cNvSpPr>
                <a:spLocks/>
              </p:cNvSpPr>
              <p:nvPr/>
            </p:nvSpPr>
            <p:spPr bwMode="auto">
              <a:xfrm>
                <a:off x="6156" y="2085"/>
                <a:ext cx="12" cy="11"/>
              </a:xfrm>
              <a:custGeom>
                <a:avLst/>
                <a:gdLst>
                  <a:gd name="T0" fmla="*/ 2 w 9"/>
                  <a:gd name="T1" fmla="*/ 5 h 8"/>
                  <a:gd name="T2" fmla="*/ 7 w 9"/>
                  <a:gd name="T3" fmla="*/ 3 h 8"/>
                  <a:gd name="T4" fmla="*/ 6 w 9"/>
                  <a:gd name="T5" fmla="*/ 2 h 8"/>
                  <a:gd name="T6" fmla="*/ 2 w 9"/>
                  <a:gd name="T7" fmla="*/ 5 h 8"/>
                </a:gdLst>
                <a:ahLst/>
                <a:cxnLst>
                  <a:cxn ang="0">
                    <a:pos x="T0" y="T1"/>
                  </a:cxn>
                  <a:cxn ang="0">
                    <a:pos x="T2" y="T3"/>
                  </a:cxn>
                  <a:cxn ang="0">
                    <a:pos x="T4" y="T5"/>
                  </a:cxn>
                  <a:cxn ang="0">
                    <a:pos x="T6" y="T7"/>
                  </a:cxn>
                </a:cxnLst>
                <a:rect l="0" t="0" r="r" b="b"/>
                <a:pathLst>
                  <a:path w="9" h="8">
                    <a:moveTo>
                      <a:pt x="2" y="5"/>
                    </a:moveTo>
                    <a:cubicBezTo>
                      <a:pt x="3" y="6"/>
                      <a:pt x="4" y="8"/>
                      <a:pt x="7" y="3"/>
                    </a:cubicBezTo>
                    <a:cubicBezTo>
                      <a:pt x="7" y="3"/>
                      <a:pt x="9" y="0"/>
                      <a:pt x="6" y="2"/>
                    </a:cubicBezTo>
                    <a:cubicBezTo>
                      <a:pt x="3" y="3"/>
                      <a:pt x="0" y="3"/>
                      <a:pt x="2"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46" name="Freeform 756">
                <a:extLst>
                  <a:ext uri="{FF2B5EF4-FFF2-40B4-BE49-F238E27FC236}">
                    <a16:creationId xmlns:a16="http://schemas.microsoft.com/office/drawing/2014/main" id="{6D40FF4B-F191-4BBB-86C3-0CFE14E1AC1E}"/>
                  </a:ext>
                </a:extLst>
              </p:cNvPr>
              <p:cNvSpPr>
                <a:spLocks/>
              </p:cNvSpPr>
              <p:nvPr/>
            </p:nvSpPr>
            <p:spPr bwMode="auto">
              <a:xfrm>
                <a:off x="6182" y="2041"/>
                <a:ext cx="5" cy="7"/>
              </a:xfrm>
              <a:custGeom>
                <a:avLst/>
                <a:gdLst>
                  <a:gd name="T0" fmla="*/ 4 w 4"/>
                  <a:gd name="T1" fmla="*/ 4 h 5"/>
                  <a:gd name="T2" fmla="*/ 3 w 4"/>
                  <a:gd name="T3" fmla="*/ 2 h 5"/>
                  <a:gd name="T4" fmla="*/ 1 w 4"/>
                  <a:gd name="T5" fmla="*/ 1 h 5"/>
                  <a:gd name="T6" fmla="*/ 1 w 4"/>
                  <a:gd name="T7" fmla="*/ 3 h 5"/>
                  <a:gd name="T8" fmla="*/ 4 w 4"/>
                  <a:gd name="T9" fmla="*/ 4 h 5"/>
                </a:gdLst>
                <a:ahLst/>
                <a:cxnLst>
                  <a:cxn ang="0">
                    <a:pos x="T0" y="T1"/>
                  </a:cxn>
                  <a:cxn ang="0">
                    <a:pos x="T2" y="T3"/>
                  </a:cxn>
                  <a:cxn ang="0">
                    <a:pos x="T4" y="T5"/>
                  </a:cxn>
                  <a:cxn ang="0">
                    <a:pos x="T6" y="T7"/>
                  </a:cxn>
                  <a:cxn ang="0">
                    <a:pos x="T8" y="T9"/>
                  </a:cxn>
                </a:cxnLst>
                <a:rect l="0" t="0" r="r" b="b"/>
                <a:pathLst>
                  <a:path w="4" h="5">
                    <a:moveTo>
                      <a:pt x="4" y="4"/>
                    </a:moveTo>
                    <a:cubicBezTo>
                      <a:pt x="4" y="4"/>
                      <a:pt x="4" y="3"/>
                      <a:pt x="3" y="2"/>
                    </a:cubicBezTo>
                    <a:cubicBezTo>
                      <a:pt x="2" y="0"/>
                      <a:pt x="2" y="0"/>
                      <a:pt x="1" y="1"/>
                    </a:cubicBezTo>
                    <a:cubicBezTo>
                      <a:pt x="0" y="1"/>
                      <a:pt x="0" y="2"/>
                      <a:pt x="1" y="3"/>
                    </a:cubicBezTo>
                    <a:cubicBezTo>
                      <a:pt x="2" y="4"/>
                      <a:pt x="3" y="5"/>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47" name="Freeform 757">
                <a:extLst>
                  <a:ext uri="{FF2B5EF4-FFF2-40B4-BE49-F238E27FC236}">
                    <a16:creationId xmlns:a16="http://schemas.microsoft.com/office/drawing/2014/main" id="{D01C38A9-897C-4532-981E-13F9051F6426}"/>
                  </a:ext>
                </a:extLst>
              </p:cNvPr>
              <p:cNvSpPr>
                <a:spLocks/>
              </p:cNvSpPr>
              <p:nvPr/>
            </p:nvSpPr>
            <p:spPr bwMode="auto">
              <a:xfrm>
                <a:off x="6192" y="2033"/>
                <a:ext cx="4" cy="11"/>
              </a:xfrm>
              <a:custGeom>
                <a:avLst/>
                <a:gdLst>
                  <a:gd name="T0" fmla="*/ 2 w 3"/>
                  <a:gd name="T1" fmla="*/ 3 h 8"/>
                  <a:gd name="T2" fmla="*/ 0 w 3"/>
                  <a:gd name="T3" fmla="*/ 8 h 8"/>
                  <a:gd name="T4" fmla="*/ 3 w 3"/>
                  <a:gd name="T5" fmla="*/ 1 h 8"/>
                  <a:gd name="T6" fmla="*/ 2 w 3"/>
                  <a:gd name="T7" fmla="*/ 3 h 8"/>
                </a:gdLst>
                <a:ahLst/>
                <a:cxnLst>
                  <a:cxn ang="0">
                    <a:pos x="T0" y="T1"/>
                  </a:cxn>
                  <a:cxn ang="0">
                    <a:pos x="T2" y="T3"/>
                  </a:cxn>
                  <a:cxn ang="0">
                    <a:pos x="T4" y="T5"/>
                  </a:cxn>
                  <a:cxn ang="0">
                    <a:pos x="T6" y="T7"/>
                  </a:cxn>
                </a:cxnLst>
                <a:rect l="0" t="0" r="r" b="b"/>
                <a:pathLst>
                  <a:path w="3" h="8">
                    <a:moveTo>
                      <a:pt x="2" y="3"/>
                    </a:moveTo>
                    <a:cubicBezTo>
                      <a:pt x="1" y="4"/>
                      <a:pt x="0" y="7"/>
                      <a:pt x="0" y="8"/>
                    </a:cubicBezTo>
                    <a:cubicBezTo>
                      <a:pt x="0" y="8"/>
                      <a:pt x="3" y="2"/>
                      <a:pt x="3" y="1"/>
                    </a:cubicBezTo>
                    <a:cubicBezTo>
                      <a:pt x="3" y="0"/>
                      <a:pt x="2" y="1"/>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48" name="Freeform 758">
                <a:extLst>
                  <a:ext uri="{FF2B5EF4-FFF2-40B4-BE49-F238E27FC236}">
                    <a16:creationId xmlns:a16="http://schemas.microsoft.com/office/drawing/2014/main" id="{BC02B14F-FC6D-443A-A8CA-FF7932532823}"/>
                  </a:ext>
                </a:extLst>
              </p:cNvPr>
              <p:cNvSpPr>
                <a:spLocks/>
              </p:cNvSpPr>
              <p:nvPr/>
            </p:nvSpPr>
            <p:spPr bwMode="auto">
              <a:xfrm>
                <a:off x="6151" y="2099"/>
                <a:ext cx="2" cy="4"/>
              </a:xfrm>
              <a:custGeom>
                <a:avLst/>
                <a:gdLst>
                  <a:gd name="T0" fmla="*/ 0 w 1"/>
                  <a:gd name="T1" fmla="*/ 0 h 3"/>
                  <a:gd name="T2" fmla="*/ 1 w 1"/>
                  <a:gd name="T3" fmla="*/ 3 h 3"/>
                  <a:gd name="T4" fmla="*/ 0 w 1"/>
                  <a:gd name="T5" fmla="*/ 0 h 3"/>
                </a:gdLst>
                <a:ahLst/>
                <a:cxnLst>
                  <a:cxn ang="0">
                    <a:pos x="T0" y="T1"/>
                  </a:cxn>
                  <a:cxn ang="0">
                    <a:pos x="T2" y="T3"/>
                  </a:cxn>
                  <a:cxn ang="0">
                    <a:pos x="T4" y="T5"/>
                  </a:cxn>
                </a:cxnLst>
                <a:rect l="0" t="0" r="r" b="b"/>
                <a:pathLst>
                  <a:path w="1" h="3">
                    <a:moveTo>
                      <a:pt x="0" y="0"/>
                    </a:moveTo>
                    <a:cubicBezTo>
                      <a:pt x="0" y="1"/>
                      <a:pt x="0" y="3"/>
                      <a:pt x="1" y="3"/>
                    </a:cubicBezTo>
                    <a:cubicBezTo>
                      <a:pt x="1" y="3"/>
                      <a:pt x="1" y="0"/>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49" name="Freeform 759">
                <a:extLst>
                  <a:ext uri="{FF2B5EF4-FFF2-40B4-BE49-F238E27FC236}">
                    <a16:creationId xmlns:a16="http://schemas.microsoft.com/office/drawing/2014/main" id="{773F3C71-D032-41B5-9E08-A049698DB665}"/>
                  </a:ext>
                </a:extLst>
              </p:cNvPr>
              <p:cNvSpPr>
                <a:spLocks/>
              </p:cNvSpPr>
              <p:nvPr/>
            </p:nvSpPr>
            <p:spPr bwMode="auto">
              <a:xfrm>
                <a:off x="6157" y="2091"/>
                <a:ext cx="3" cy="4"/>
              </a:xfrm>
              <a:custGeom>
                <a:avLst/>
                <a:gdLst>
                  <a:gd name="T0" fmla="*/ 0 w 2"/>
                  <a:gd name="T1" fmla="*/ 2 h 3"/>
                  <a:gd name="T2" fmla="*/ 2 w 2"/>
                  <a:gd name="T3" fmla="*/ 3 h 3"/>
                  <a:gd name="T4" fmla="*/ 0 w 2"/>
                  <a:gd name="T5" fmla="*/ 2 h 3"/>
                </a:gdLst>
                <a:ahLst/>
                <a:cxnLst>
                  <a:cxn ang="0">
                    <a:pos x="T0" y="T1"/>
                  </a:cxn>
                  <a:cxn ang="0">
                    <a:pos x="T2" y="T3"/>
                  </a:cxn>
                  <a:cxn ang="0">
                    <a:pos x="T4" y="T5"/>
                  </a:cxn>
                </a:cxnLst>
                <a:rect l="0" t="0" r="r" b="b"/>
                <a:pathLst>
                  <a:path w="2" h="3">
                    <a:moveTo>
                      <a:pt x="0" y="2"/>
                    </a:moveTo>
                    <a:cubicBezTo>
                      <a:pt x="1" y="3"/>
                      <a:pt x="2" y="3"/>
                      <a:pt x="2" y="3"/>
                    </a:cubicBezTo>
                    <a:cubicBezTo>
                      <a:pt x="2" y="3"/>
                      <a:pt x="0"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50" name="Freeform 760">
                <a:extLst>
                  <a:ext uri="{FF2B5EF4-FFF2-40B4-BE49-F238E27FC236}">
                    <a16:creationId xmlns:a16="http://schemas.microsoft.com/office/drawing/2014/main" id="{9A6B926A-8CE0-4A20-A85C-DD4C9342C6E7}"/>
                  </a:ext>
                </a:extLst>
              </p:cNvPr>
              <p:cNvSpPr>
                <a:spLocks/>
              </p:cNvSpPr>
              <p:nvPr/>
            </p:nvSpPr>
            <p:spPr bwMode="auto">
              <a:xfrm>
                <a:off x="6045" y="2174"/>
                <a:ext cx="4" cy="6"/>
              </a:xfrm>
              <a:custGeom>
                <a:avLst/>
                <a:gdLst>
                  <a:gd name="T0" fmla="*/ 2 w 3"/>
                  <a:gd name="T1" fmla="*/ 2 h 4"/>
                  <a:gd name="T2" fmla="*/ 0 w 3"/>
                  <a:gd name="T3" fmla="*/ 2 h 4"/>
                  <a:gd name="T4" fmla="*/ 2 w 3"/>
                  <a:gd name="T5" fmla="*/ 2 h 4"/>
                </a:gdLst>
                <a:ahLst/>
                <a:cxnLst>
                  <a:cxn ang="0">
                    <a:pos x="T0" y="T1"/>
                  </a:cxn>
                  <a:cxn ang="0">
                    <a:pos x="T2" y="T3"/>
                  </a:cxn>
                  <a:cxn ang="0">
                    <a:pos x="T4" y="T5"/>
                  </a:cxn>
                </a:cxnLst>
                <a:rect l="0" t="0" r="r" b="b"/>
                <a:pathLst>
                  <a:path w="3" h="4">
                    <a:moveTo>
                      <a:pt x="2" y="2"/>
                    </a:moveTo>
                    <a:cubicBezTo>
                      <a:pt x="3" y="0"/>
                      <a:pt x="2" y="0"/>
                      <a:pt x="0" y="2"/>
                    </a:cubicBezTo>
                    <a:cubicBezTo>
                      <a:pt x="0" y="2"/>
                      <a:pt x="2" y="4"/>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51" name="Freeform 761">
                <a:extLst>
                  <a:ext uri="{FF2B5EF4-FFF2-40B4-BE49-F238E27FC236}">
                    <a16:creationId xmlns:a16="http://schemas.microsoft.com/office/drawing/2014/main" id="{29947BFC-DE3D-4F07-A00B-ED946893ED04}"/>
                  </a:ext>
                </a:extLst>
              </p:cNvPr>
              <p:cNvSpPr>
                <a:spLocks/>
              </p:cNvSpPr>
              <p:nvPr/>
            </p:nvSpPr>
            <p:spPr bwMode="auto">
              <a:xfrm>
                <a:off x="6050" y="2170"/>
                <a:ext cx="7" cy="6"/>
              </a:xfrm>
              <a:custGeom>
                <a:avLst/>
                <a:gdLst>
                  <a:gd name="T0" fmla="*/ 4 w 5"/>
                  <a:gd name="T1" fmla="*/ 2 h 4"/>
                  <a:gd name="T2" fmla="*/ 4 w 5"/>
                  <a:gd name="T3" fmla="*/ 1 h 4"/>
                  <a:gd name="T4" fmla="*/ 3 w 5"/>
                  <a:gd name="T5" fmla="*/ 4 h 4"/>
                  <a:gd name="T6" fmla="*/ 4 w 5"/>
                  <a:gd name="T7" fmla="*/ 2 h 4"/>
                </a:gdLst>
                <a:ahLst/>
                <a:cxnLst>
                  <a:cxn ang="0">
                    <a:pos x="T0" y="T1"/>
                  </a:cxn>
                  <a:cxn ang="0">
                    <a:pos x="T2" y="T3"/>
                  </a:cxn>
                  <a:cxn ang="0">
                    <a:pos x="T4" y="T5"/>
                  </a:cxn>
                  <a:cxn ang="0">
                    <a:pos x="T6" y="T7"/>
                  </a:cxn>
                </a:cxnLst>
                <a:rect l="0" t="0" r="r" b="b"/>
                <a:pathLst>
                  <a:path w="5" h="4">
                    <a:moveTo>
                      <a:pt x="4" y="2"/>
                    </a:moveTo>
                    <a:cubicBezTo>
                      <a:pt x="5" y="0"/>
                      <a:pt x="4" y="1"/>
                      <a:pt x="4" y="1"/>
                    </a:cubicBezTo>
                    <a:cubicBezTo>
                      <a:pt x="4" y="1"/>
                      <a:pt x="0" y="2"/>
                      <a:pt x="3" y="4"/>
                    </a:cubicBezTo>
                    <a:cubicBezTo>
                      <a:pt x="3" y="4"/>
                      <a:pt x="3" y="4"/>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52" name="Freeform 762">
                <a:extLst>
                  <a:ext uri="{FF2B5EF4-FFF2-40B4-BE49-F238E27FC236}">
                    <a16:creationId xmlns:a16="http://schemas.microsoft.com/office/drawing/2014/main" id="{EFB2EDF6-D62E-410C-ABA8-67E69EDA4FCB}"/>
                  </a:ext>
                </a:extLst>
              </p:cNvPr>
              <p:cNvSpPr>
                <a:spLocks/>
              </p:cNvSpPr>
              <p:nvPr/>
            </p:nvSpPr>
            <p:spPr bwMode="auto">
              <a:xfrm>
                <a:off x="6075" y="2163"/>
                <a:ext cx="6" cy="6"/>
              </a:xfrm>
              <a:custGeom>
                <a:avLst/>
                <a:gdLst>
                  <a:gd name="T0" fmla="*/ 2 w 4"/>
                  <a:gd name="T1" fmla="*/ 3 h 4"/>
                  <a:gd name="T2" fmla="*/ 2 w 4"/>
                  <a:gd name="T3" fmla="*/ 2 h 4"/>
                  <a:gd name="T4" fmla="*/ 1 w 4"/>
                  <a:gd name="T5" fmla="*/ 2 h 4"/>
                  <a:gd name="T6" fmla="*/ 2 w 4"/>
                  <a:gd name="T7" fmla="*/ 3 h 4"/>
                </a:gdLst>
                <a:ahLst/>
                <a:cxnLst>
                  <a:cxn ang="0">
                    <a:pos x="T0" y="T1"/>
                  </a:cxn>
                  <a:cxn ang="0">
                    <a:pos x="T2" y="T3"/>
                  </a:cxn>
                  <a:cxn ang="0">
                    <a:pos x="T4" y="T5"/>
                  </a:cxn>
                  <a:cxn ang="0">
                    <a:pos x="T6" y="T7"/>
                  </a:cxn>
                </a:cxnLst>
                <a:rect l="0" t="0" r="r" b="b"/>
                <a:pathLst>
                  <a:path w="4" h="4">
                    <a:moveTo>
                      <a:pt x="2" y="3"/>
                    </a:moveTo>
                    <a:cubicBezTo>
                      <a:pt x="2" y="3"/>
                      <a:pt x="4" y="4"/>
                      <a:pt x="2" y="2"/>
                    </a:cubicBezTo>
                    <a:cubicBezTo>
                      <a:pt x="1" y="1"/>
                      <a:pt x="1" y="0"/>
                      <a:pt x="1" y="2"/>
                    </a:cubicBezTo>
                    <a:cubicBezTo>
                      <a:pt x="0" y="3"/>
                      <a:pt x="1"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53" name="Freeform 763">
                <a:extLst>
                  <a:ext uri="{FF2B5EF4-FFF2-40B4-BE49-F238E27FC236}">
                    <a16:creationId xmlns:a16="http://schemas.microsoft.com/office/drawing/2014/main" id="{1FD788E3-95A9-4008-B88A-F9942D93BE9A}"/>
                  </a:ext>
                </a:extLst>
              </p:cNvPr>
              <p:cNvSpPr>
                <a:spLocks/>
              </p:cNvSpPr>
              <p:nvPr/>
            </p:nvSpPr>
            <p:spPr bwMode="auto">
              <a:xfrm>
                <a:off x="6239" y="1908"/>
                <a:ext cx="5" cy="4"/>
              </a:xfrm>
              <a:custGeom>
                <a:avLst/>
                <a:gdLst>
                  <a:gd name="T0" fmla="*/ 3 w 4"/>
                  <a:gd name="T1" fmla="*/ 0 h 3"/>
                  <a:gd name="T2" fmla="*/ 1 w 4"/>
                  <a:gd name="T3" fmla="*/ 1 h 3"/>
                  <a:gd name="T4" fmla="*/ 3 w 4"/>
                  <a:gd name="T5" fmla="*/ 0 h 3"/>
                </a:gdLst>
                <a:ahLst/>
                <a:cxnLst>
                  <a:cxn ang="0">
                    <a:pos x="T0" y="T1"/>
                  </a:cxn>
                  <a:cxn ang="0">
                    <a:pos x="T2" y="T3"/>
                  </a:cxn>
                  <a:cxn ang="0">
                    <a:pos x="T4" y="T5"/>
                  </a:cxn>
                </a:cxnLst>
                <a:rect l="0" t="0" r="r" b="b"/>
                <a:pathLst>
                  <a:path w="4" h="3">
                    <a:moveTo>
                      <a:pt x="3" y="0"/>
                    </a:moveTo>
                    <a:cubicBezTo>
                      <a:pt x="2" y="0"/>
                      <a:pt x="0" y="0"/>
                      <a:pt x="1" y="1"/>
                    </a:cubicBezTo>
                    <a:cubicBezTo>
                      <a:pt x="2" y="3"/>
                      <a:pt x="4" y="3"/>
                      <a:pt x="3"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54" name="Freeform 764">
                <a:extLst>
                  <a:ext uri="{FF2B5EF4-FFF2-40B4-BE49-F238E27FC236}">
                    <a16:creationId xmlns:a16="http://schemas.microsoft.com/office/drawing/2014/main" id="{9E13C3E0-48FD-4473-9F74-F5FCA4E31367}"/>
                  </a:ext>
                </a:extLst>
              </p:cNvPr>
              <p:cNvSpPr>
                <a:spLocks/>
              </p:cNvSpPr>
              <p:nvPr/>
            </p:nvSpPr>
            <p:spPr bwMode="auto">
              <a:xfrm>
                <a:off x="6268" y="1951"/>
                <a:ext cx="8" cy="6"/>
              </a:xfrm>
              <a:custGeom>
                <a:avLst/>
                <a:gdLst>
                  <a:gd name="T0" fmla="*/ 4 w 6"/>
                  <a:gd name="T1" fmla="*/ 4 h 5"/>
                  <a:gd name="T2" fmla="*/ 5 w 6"/>
                  <a:gd name="T3" fmla="*/ 2 h 5"/>
                  <a:gd name="T4" fmla="*/ 6 w 6"/>
                  <a:gd name="T5" fmla="*/ 0 h 5"/>
                  <a:gd name="T6" fmla="*/ 4 w 6"/>
                  <a:gd name="T7" fmla="*/ 4 h 5"/>
                </a:gdLst>
                <a:ahLst/>
                <a:cxnLst>
                  <a:cxn ang="0">
                    <a:pos x="T0" y="T1"/>
                  </a:cxn>
                  <a:cxn ang="0">
                    <a:pos x="T2" y="T3"/>
                  </a:cxn>
                  <a:cxn ang="0">
                    <a:pos x="T4" y="T5"/>
                  </a:cxn>
                  <a:cxn ang="0">
                    <a:pos x="T6" y="T7"/>
                  </a:cxn>
                </a:cxnLst>
                <a:rect l="0" t="0" r="r" b="b"/>
                <a:pathLst>
                  <a:path w="6" h="5">
                    <a:moveTo>
                      <a:pt x="4" y="4"/>
                    </a:moveTo>
                    <a:cubicBezTo>
                      <a:pt x="6" y="4"/>
                      <a:pt x="6" y="3"/>
                      <a:pt x="5" y="2"/>
                    </a:cubicBezTo>
                    <a:cubicBezTo>
                      <a:pt x="4" y="2"/>
                      <a:pt x="5" y="0"/>
                      <a:pt x="6" y="0"/>
                    </a:cubicBezTo>
                    <a:cubicBezTo>
                      <a:pt x="0" y="5"/>
                      <a:pt x="3" y="5"/>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55" name="Freeform 765">
                <a:extLst>
                  <a:ext uri="{FF2B5EF4-FFF2-40B4-BE49-F238E27FC236}">
                    <a16:creationId xmlns:a16="http://schemas.microsoft.com/office/drawing/2014/main" id="{CE2BABBE-E5C0-4876-9394-5E4824378CC8}"/>
                  </a:ext>
                </a:extLst>
              </p:cNvPr>
              <p:cNvSpPr>
                <a:spLocks/>
              </p:cNvSpPr>
              <p:nvPr/>
            </p:nvSpPr>
            <p:spPr bwMode="auto">
              <a:xfrm>
                <a:off x="6374" y="1684"/>
                <a:ext cx="126" cy="103"/>
              </a:xfrm>
              <a:custGeom>
                <a:avLst/>
                <a:gdLst>
                  <a:gd name="T0" fmla="*/ 7 w 91"/>
                  <a:gd name="T1" fmla="*/ 50 h 75"/>
                  <a:gd name="T2" fmla="*/ 4 w 91"/>
                  <a:gd name="T3" fmla="*/ 52 h 75"/>
                  <a:gd name="T4" fmla="*/ 3 w 91"/>
                  <a:gd name="T5" fmla="*/ 61 h 75"/>
                  <a:gd name="T6" fmla="*/ 4 w 91"/>
                  <a:gd name="T7" fmla="*/ 71 h 75"/>
                  <a:gd name="T8" fmla="*/ 8 w 91"/>
                  <a:gd name="T9" fmla="*/ 73 h 75"/>
                  <a:gd name="T10" fmla="*/ 11 w 91"/>
                  <a:gd name="T11" fmla="*/ 69 h 75"/>
                  <a:gd name="T12" fmla="*/ 18 w 91"/>
                  <a:gd name="T13" fmla="*/ 69 h 75"/>
                  <a:gd name="T14" fmla="*/ 19 w 91"/>
                  <a:gd name="T15" fmla="*/ 66 h 75"/>
                  <a:gd name="T16" fmla="*/ 11 w 91"/>
                  <a:gd name="T17" fmla="*/ 61 h 75"/>
                  <a:gd name="T18" fmla="*/ 13 w 91"/>
                  <a:gd name="T19" fmla="*/ 54 h 75"/>
                  <a:gd name="T20" fmla="*/ 22 w 91"/>
                  <a:gd name="T21" fmla="*/ 56 h 75"/>
                  <a:gd name="T22" fmla="*/ 37 w 91"/>
                  <a:gd name="T23" fmla="*/ 57 h 75"/>
                  <a:gd name="T24" fmla="*/ 50 w 91"/>
                  <a:gd name="T25" fmla="*/ 64 h 75"/>
                  <a:gd name="T26" fmla="*/ 53 w 91"/>
                  <a:gd name="T27" fmla="*/ 61 h 75"/>
                  <a:gd name="T28" fmla="*/ 64 w 91"/>
                  <a:gd name="T29" fmla="*/ 48 h 75"/>
                  <a:gd name="T30" fmla="*/ 75 w 91"/>
                  <a:gd name="T31" fmla="*/ 46 h 75"/>
                  <a:gd name="T32" fmla="*/ 79 w 91"/>
                  <a:gd name="T33" fmla="*/ 46 h 75"/>
                  <a:gd name="T34" fmla="*/ 86 w 91"/>
                  <a:gd name="T35" fmla="*/ 40 h 75"/>
                  <a:gd name="T36" fmla="*/ 82 w 91"/>
                  <a:gd name="T37" fmla="*/ 40 h 75"/>
                  <a:gd name="T38" fmla="*/ 83 w 91"/>
                  <a:gd name="T39" fmla="*/ 36 h 75"/>
                  <a:gd name="T40" fmla="*/ 82 w 91"/>
                  <a:gd name="T41" fmla="*/ 26 h 75"/>
                  <a:gd name="T42" fmla="*/ 81 w 91"/>
                  <a:gd name="T43" fmla="*/ 24 h 75"/>
                  <a:gd name="T44" fmla="*/ 67 w 91"/>
                  <a:gd name="T45" fmla="*/ 28 h 75"/>
                  <a:gd name="T46" fmla="*/ 62 w 91"/>
                  <a:gd name="T47" fmla="*/ 26 h 75"/>
                  <a:gd name="T48" fmla="*/ 34 w 91"/>
                  <a:gd name="T49" fmla="*/ 1 h 75"/>
                  <a:gd name="T50" fmla="*/ 29 w 91"/>
                  <a:gd name="T51" fmla="*/ 2 h 75"/>
                  <a:gd name="T52" fmla="*/ 29 w 91"/>
                  <a:gd name="T53" fmla="*/ 10 h 75"/>
                  <a:gd name="T54" fmla="*/ 29 w 91"/>
                  <a:gd name="T55" fmla="*/ 26 h 75"/>
                  <a:gd name="T56" fmla="*/ 24 w 91"/>
                  <a:gd name="T57" fmla="*/ 35 h 75"/>
                  <a:gd name="T58" fmla="*/ 22 w 91"/>
                  <a:gd name="T59" fmla="*/ 42 h 75"/>
                  <a:gd name="T60" fmla="*/ 17 w 91"/>
                  <a:gd name="T61" fmla="*/ 43 h 75"/>
                  <a:gd name="T62" fmla="*/ 9 w 91"/>
                  <a:gd name="T63" fmla="*/ 40 h 75"/>
                  <a:gd name="T64" fmla="*/ 11 w 91"/>
                  <a:gd name="T65" fmla="*/ 4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75">
                    <a:moveTo>
                      <a:pt x="9" y="49"/>
                    </a:moveTo>
                    <a:cubicBezTo>
                      <a:pt x="8" y="51"/>
                      <a:pt x="8" y="50"/>
                      <a:pt x="7" y="50"/>
                    </a:cubicBezTo>
                    <a:cubicBezTo>
                      <a:pt x="7" y="50"/>
                      <a:pt x="6" y="50"/>
                      <a:pt x="5" y="51"/>
                    </a:cubicBezTo>
                    <a:cubicBezTo>
                      <a:pt x="5" y="52"/>
                      <a:pt x="5" y="52"/>
                      <a:pt x="4" y="52"/>
                    </a:cubicBezTo>
                    <a:cubicBezTo>
                      <a:pt x="3" y="52"/>
                      <a:pt x="2" y="51"/>
                      <a:pt x="1" y="54"/>
                    </a:cubicBezTo>
                    <a:cubicBezTo>
                      <a:pt x="0" y="57"/>
                      <a:pt x="0" y="59"/>
                      <a:pt x="3" y="61"/>
                    </a:cubicBezTo>
                    <a:cubicBezTo>
                      <a:pt x="6" y="64"/>
                      <a:pt x="5" y="67"/>
                      <a:pt x="5" y="67"/>
                    </a:cubicBezTo>
                    <a:cubicBezTo>
                      <a:pt x="5" y="67"/>
                      <a:pt x="5" y="69"/>
                      <a:pt x="4" y="71"/>
                    </a:cubicBezTo>
                    <a:cubicBezTo>
                      <a:pt x="3" y="73"/>
                      <a:pt x="5" y="74"/>
                      <a:pt x="6" y="74"/>
                    </a:cubicBezTo>
                    <a:cubicBezTo>
                      <a:pt x="7" y="75"/>
                      <a:pt x="8" y="74"/>
                      <a:pt x="8" y="73"/>
                    </a:cubicBezTo>
                    <a:cubicBezTo>
                      <a:pt x="9" y="73"/>
                      <a:pt x="10" y="72"/>
                      <a:pt x="10" y="71"/>
                    </a:cubicBezTo>
                    <a:cubicBezTo>
                      <a:pt x="10" y="70"/>
                      <a:pt x="11" y="70"/>
                      <a:pt x="11" y="69"/>
                    </a:cubicBezTo>
                    <a:cubicBezTo>
                      <a:pt x="12" y="69"/>
                      <a:pt x="12" y="68"/>
                      <a:pt x="13" y="68"/>
                    </a:cubicBezTo>
                    <a:cubicBezTo>
                      <a:pt x="14" y="67"/>
                      <a:pt x="16" y="69"/>
                      <a:pt x="18" y="69"/>
                    </a:cubicBezTo>
                    <a:cubicBezTo>
                      <a:pt x="19" y="69"/>
                      <a:pt x="19" y="69"/>
                      <a:pt x="20" y="68"/>
                    </a:cubicBezTo>
                    <a:cubicBezTo>
                      <a:pt x="20" y="66"/>
                      <a:pt x="19" y="66"/>
                      <a:pt x="19" y="66"/>
                    </a:cubicBezTo>
                    <a:cubicBezTo>
                      <a:pt x="18" y="66"/>
                      <a:pt x="18" y="65"/>
                      <a:pt x="16" y="63"/>
                    </a:cubicBezTo>
                    <a:cubicBezTo>
                      <a:pt x="15" y="61"/>
                      <a:pt x="13" y="63"/>
                      <a:pt x="11" y="61"/>
                    </a:cubicBezTo>
                    <a:cubicBezTo>
                      <a:pt x="8" y="60"/>
                      <a:pt x="8" y="59"/>
                      <a:pt x="8" y="57"/>
                    </a:cubicBezTo>
                    <a:cubicBezTo>
                      <a:pt x="9" y="56"/>
                      <a:pt x="9" y="54"/>
                      <a:pt x="13" y="54"/>
                    </a:cubicBezTo>
                    <a:cubicBezTo>
                      <a:pt x="16" y="55"/>
                      <a:pt x="17" y="57"/>
                      <a:pt x="18" y="58"/>
                    </a:cubicBezTo>
                    <a:cubicBezTo>
                      <a:pt x="19" y="59"/>
                      <a:pt x="19" y="59"/>
                      <a:pt x="22" y="56"/>
                    </a:cubicBezTo>
                    <a:cubicBezTo>
                      <a:pt x="24" y="54"/>
                      <a:pt x="26" y="53"/>
                      <a:pt x="30" y="54"/>
                    </a:cubicBezTo>
                    <a:cubicBezTo>
                      <a:pt x="33" y="54"/>
                      <a:pt x="35" y="55"/>
                      <a:pt x="37" y="57"/>
                    </a:cubicBezTo>
                    <a:cubicBezTo>
                      <a:pt x="39" y="59"/>
                      <a:pt x="42" y="60"/>
                      <a:pt x="45" y="61"/>
                    </a:cubicBezTo>
                    <a:cubicBezTo>
                      <a:pt x="47" y="62"/>
                      <a:pt x="49" y="63"/>
                      <a:pt x="50" y="64"/>
                    </a:cubicBezTo>
                    <a:cubicBezTo>
                      <a:pt x="51" y="64"/>
                      <a:pt x="51" y="65"/>
                      <a:pt x="52" y="65"/>
                    </a:cubicBezTo>
                    <a:cubicBezTo>
                      <a:pt x="53" y="64"/>
                      <a:pt x="53" y="63"/>
                      <a:pt x="53" y="61"/>
                    </a:cubicBezTo>
                    <a:cubicBezTo>
                      <a:pt x="53" y="59"/>
                      <a:pt x="54" y="56"/>
                      <a:pt x="56" y="54"/>
                    </a:cubicBezTo>
                    <a:cubicBezTo>
                      <a:pt x="58" y="52"/>
                      <a:pt x="62" y="48"/>
                      <a:pt x="64" y="48"/>
                    </a:cubicBezTo>
                    <a:cubicBezTo>
                      <a:pt x="65" y="47"/>
                      <a:pt x="73" y="47"/>
                      <a:pt x="74" y="47"/>
                    </a:cubicBezTo>
                    <a:cubicBezTo>
                      <a:pt x="75" y="47"/>
                      <a:pt x="75" y="47"/>
                      <a:pt x="75" y="46"/>
                    </a:cubicBezTo>
                    <a:cubicBezTo>
                      <a:pt x="75" y="45"/>
                      <a:pt x="76" y="46"/>
                      <a:pt x="76" y="46"/>
                    </a:cubicBezTo>
                    <a:cubicBezTo>
                      <a:pt x="77" y="47"/>
                      <a:pt x="78" y="47"/>
                      <a:pt x="79" y="46"/>
                    </a:cubicBezTo>
                    <a:cubicBezTo>
                      <a:pt x="80" y="45"/>
                      <a:pt x="87" y="41"/>
                      <a:pt x="89" y="40"/>
                    </a:cubicBezTo>
                    <a:cubicBezTo>
                      <a:pt x="91" y="39"/>
                      <a:pt x="88" y="40"/>
                      <a:pt x="86" y="40"/>
                    </a:cubicBezTo>
                    <a:cubicBezTo>
                      <a:pt x="85" y="41"/>
                      <a:pt x="86" y="42"/>
                      <a:pt x="85" y="42"/>
                    </a:cubicBezTo>
                    <a:cubicBezTo>
                      <a:pt x="84" y="42"/>
                      <a:pt x="83" y="41"/>
                      <a:pt x="82" y="40"/>
                    </a:cubicBezTo>
                    <a:cubicBezTo>
                      <a:pt x="82" y="39"/>
                      <a:pt x="82" y="39"/>
                      <a:pt x="82" y="37"/>
                    </a:cubicBezTo>
                    <a:cubicBezTo>
                      <a:pt x="81" y="35"/>
                      <a:pt x="82" y="36"/>
                      <a:pt x="83" y="36"/>
                    </a:cubicBezTo>
                    <a:cubicBezTo>
                      <a:pt x="84" y="36"/>
                      <a:pt x="80" y="33"/>
                      <a:pt x="79" y="33"/>
                    </a:cubicBezTo>
                    <a:cubicBezTo>
                      <a:pt x="78" y="32"/>
                      <a:pt x="81" y="27"/>
                      <a:pt x="82" y="26"/>
                    </a:cubicBezTo>
                    <a:cubicBezTo>
                      <a:pt x="83" y="24"/>
                      <a:pt x="84" y="23"/>
                      <a:pt x="83" y="22"/>
                    </a:cubicBezTo>
                    <a:cubicBezTo>
                      <a:pt x="83" y="21"/>
                      <a:pt x="82" y="23"/>
                      <a:pt x="81" y="24"/>
                    </a:cubicBezTo>
                    <a:cubicBezTo>
                      <a:pt x="80" y="25"/>
                      <a:pt x="77" y="28"/>
                      <a:pt x="75" y="29"/>
                    </a:cubicBezTo>
                    <a:cubicBezTo>
                      <a:pt x="73" y="31"/>
                      <a:pt x="68" y="28"/>
                      <a:pt x="67" y="28"/>
                    </a:cubicBezTo>
                    <a:cubicBezTo>
                      <a:pt x="66" y="28"/>
                      <a:pt x="65" y="28"/>
                      <a:pt x="65" y="27"/>
                    </a:cubicBezTo>
                    <a:cubicBezTo>
                      <a:pt x="66" y="26"/>
                      <a:pt x="67" y="26"/>
                      <a:pt x="62" y="26"/>
                    </a:cubicBezTo>
                    <a:cubicBezTo>
                      <a:pt x="58" y="26"/>
                      <a:pt x="57" y="24"/>
                      <a:pt x="50" y="19"/>
                    </a:cubicBezTo>
                    <a:cubicBezTo>
                      <a:pt x="44" y="15"/>
                      <a:pt x="34" y="2"/>
                      <a:pt x="34" y="1"/>
                    </a:cubicBezTo>
                    <a:cubicBezTo>
                      <a:pt x="33" y="1"/>
                      <a:pt x="33" y="0"/>
                      <a:pt x="32" y="1"/>
                    </a:cubicBezTo>
                    <a:cubicBezTo>
                      <a:pt x="31" y="2"/>
                      <a:pt x="30" y="2"/>
                      <a:pt x="29" y="2"/>
                    </a:cubicBezTo>
                    <a:cubicBezTo>
                      <a:pt x="28" y="2"/>
                      <a:pt x="28" y="3"/>
                      <a:pt x="28" y="6"/>
                    </a:cubicBezTo>
                    <a:cubicBezTo>
                      <a:pt x="28" y="8"/>
                      <a:pt x="28" y="9"/>
                      <a:pt x="29" y="10"/>
                    </a:cubicBezTo>
                    <a:cubicBezTo>
                      <a:pt x="30" y="11"/>
                      <a:pt x="31" y="15"/>
                      <a:pt x="30" y="17"/>
                    </a:cubicBezTo>
                    <a:cubicBezTo>
                      <a:pt x="30" y="20"/>
                      <a:pt x="29" y="22"/>
                      <a:pt x="29" y="26"/>
                    </a:cubicBezTo>
                    <a:cubicBezTo>
                      <a:pt x="29" y="29"/>
                      <a:pt x="27" y="30"/>
                      <a:pt x="25" y="32"/>
                    </a:cubicBezTo>
                    <a:cubicBezTo>
                      <a:pt x="23" y="33"/>
                      <a:pt x="24" y="34"/>
                      <a:pt x="24" y="35"/>
                    </a:cubicBezTo>
                    <a:cubicBezTo>
                      <a:pt x="24" y="37"/>
                      <a:pt x="24" y="37"/>
                      <a:pt x="25" y="39"/>
                    </a:cubicBezTo>
                    <a:cubicBezTo>
                      <a:pt x="26" y="40"/>
                      <a:pt x="24" y="41"/>
                      <a:pt x="22" y="42"/>
                    </a:cubicBezTo>
                    <a:cubicBezTo>
                      <a:pt x="21" y="44"/>
                      <a:pt x="20" y="43"/>
                      <a:pt x="19" y="43"/>
                    </a:cubicBezTo>
                    <a:cubicBezTo>
                      <a:pt x="18" y="42"/>
                      <a:pt x="18" y="42"/>
                      <a:pt x="17" y="43"/>
                    </a:cubicBezTo>
                    <a:cubicBezTo>
                      <a:pt x="16" y="43"/>
                      <a:pt x="15" y="43"/>
                      <a:pt x="14" y="41"/>
                    </a:cubicBezTo>
                    <a:cubicBezTo>
                      <a:pt x="12" y="40"/>
                      <a:pt x="11" y="39"/>
                      <a:pt x="9" y="40"/>
                    </a:cubicBezTo>
                    <a:cubicBezTo>
                      <a:pt x="8" y="41"/>
                      <a:pt x="9" y="42"/>
                      <a:pt x="10" y="43"/>
                    </a:cubicBezTo>
                    <a:cubicBezTo>
                      <a:pt x="12" y="45"/>
                      <a:pt x="11" y="46"/>
                      <a:pt x="11" y="47"/>
                    </a:cubicBezTo>
                    <a:cubicBezTo>
                      <a:pt x="10" y="47"/>
                      <a:pt x="10" y="48"/>
                      <a:pt x="9" y="4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56" name="Freeform 766">
                <a:extLst>
                  <a:ext uri="{FF2B5EF4-FFF2-40B4-BE49-F238E27FC236}">
                    <a16:creationId xmlns:a16="http://schemas.microsoft.com/office/drawing/2014/main" id="{0DA97AEA-A1B7-4E56-8721-07CBBD10C33B}"/>
                  </a:ext>
                </a:extLst>
              </p:cNvPr>
              <p:cNvSpPr>
                <a:spLocks/>
              </p:cNvSpPr>
              <p:nvPr/>
            </p:nvSpPr>
            <p:spPr bwMode="auto">
              <a:xfrm>
                <a:off x="6367" y="1767"/>
                <a:ext cx="4" cy="5"/>
              </a:xfrm>
              <a:custGeom>
                <a:avLst/>
                <a:gdLst>
                  <a:gd name="T0" fmla="*/ 2 w 3"/>
                  <a:gd name="T1" fmla="*/ 2 h 4"/>
                  <a:gd name="T2" fmla="*/ 1 w 3"/>
                  <a:gd name="T3" fmla="*/ 0 h 4"/>
                  <a:gd name="T4" fmla="*/ 0 w 3"/>
                  <a:gd name="T5" fmla="*/ 2 h 4"/>
                  <a:gd name="T6" fmla="*/ 2 w 3"/>
                  <a:gd name="T7" fmla="*/ 2 h 4"/>
                </a:gdLst>
                <a:ahLst/>
                <a:cxnLst>
                  <a:cxn ang="0">
                    <a:pos x="T0" y="T1"/>
                  </a:cxn>
                  <a:cxn ang="0">
                    <a:pos x="T2" y="T3"/>
                  </a:cxn>
                  <a:cxn ang="0">
                    <a:pos x="T4" y="T5"/>
                  </a:cxn>
                  <a:cxn ang="0">
                    <a:pos x="T6" y="T7"/>
                  </a:cxn>
                </a:cxnLst>
                <a:rect l="0" t="0" r="r" b="b"/>
                <a:pathLst>
                  <a:path w="3" h="4">
                    <a:moveTo>
                      <a:pt x="2" y="2"/>
                    </a:moveTo>
                    <a:cubicBezTo>
                      <a:pt x="2" y="2"/>
                      <a:pt x="3" y="0"/>
                      <a:pt x="1" y="0"/>
                    </a:cubicBezTo>
                    <a:cubicBezTo>
                      <a:pt x="0" y="1"/>
                      <a:pt x="0" y="1"/>
                      <a:pt x="0" y="2"/>
                    </a:cubicBezTo>
                    <a:cubicBezTo>
                      <a:pt x="0" y="2"/>
                      <a:pt x="0" y="4"/>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57" name="Freeform 767">
                <a:extLst>
                  <a:ext uri="{FF2B5EF4-FFF2-40B4-BE49-F238E27FC236}">
                    <a16:creationId xmlns:a16="http://schemas.microsoft.com/office/drawing/2014/main" id="{0313814A-9E94-4141-A494-9EA485D2168E}"/>
                  </a:ext>
                </a:extLst>
              </p:cNvPr>
              <p:cNvSpPr>
                <a:spLocks/>
              </p:cNvSpPr>
              <p:nvPr/>
            </p:nvSpPr>
            <p:spPr bwMode="auto">
              <a:xfrm>
                <a:off x="6402" y="1691"/>
                <a:ext cx="5" cy="4"/>
              </a:xfrm>
              <a:custGeom>
                <a:avLst/>
                <a:gdLst>
                  <a:gd name="T0" fmla="*/ 3 w 4"/>
                  <a:gd name="T1" fmla="*/ 2 h 3"/>
                  <a:gd name="T2" fmla="*/ 2 w 4"/>
                  <a:gd name="T3" fmla="*/ 3 h 3"/>
                  <a:gd name="T4" fmla="*/ 3 w 4"/>
                  <a:gd name="T5" fmla="*/ 2 h 3"/>
                </a:gdLst>
                <a:ahLst/>
                <a:cxnLst>
                  <a:cxn ang="0">
                    <a:pos x="T0" y="T1"/>
                  </a:cxn>
                  <a:cxn ang="0">
                    <a:pos x="T2" y="T3"/>
                  </a:cxn>
                  <a:cxn ang="0">
                    <a:pos x="T4" y="T5"/>
                  </a:cxn>
                </a:cxnLst>
                <a:rect l="0" t="0" r="r" b="b"/>
                <a:pathLst>
                  <a:path w="4" h="3">
                    <a:moveTo>
                      <a:pt x="3" y="2"/>
                    </a:moveTo>
                    <a:cubicBezTo>
                      <a:pt x="2" y="0"/>
                      <a:pt x="0" y="0"/>
                      <a:pt x="2" y="3"/>
                    </a:cubicBezTo>
                    <a:cubicBezTo>
                      <a:pt x="2" y="3"/>
                      <a:pt x="4" y="3"/>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58" name="Freeform 768">
                <a:extLst>
                  <a:ext uri="{FF2B5EF4-FFF2-40B4-BE49-F238E27FC236}">
                    <a16:creationId xmlns:a16="http://schemas.microsoft.com/office/drawing/2014/main" id="{E4F368EF-EB1E-44F9-B562-676297882652}"/>
                  </a:ext>
                </a:extLst>
              </p:cNvPr>
              <p:cNvSpPr>
                <a:spLocks/>
              </p:cNvSpPr>
              <p:nvPr/>
            </p:nvSpPr>
            <p:spPr bwMode="auto">
              <a:xfrm>
                <a:off x="6268" y="2521"/>
                <a:ext cx="4" cy="14"/>
              </a:xfrm>
              <a:custGeom>
                <a:avLst/>
                <a:gdLst>
                  <a:gd name="T0" fmla="*/ 0 w 3"/>
                  <a:gd name="T1" fmla="*/ 6 h 10"/>
                  <a:gd name="T2" fmla="*/ 2 w 3"/>
                  <a:gd name="T3" fmla="*/ 4 h 10"/>
                  <a:gd name="T4" fmla="*/ 0 w 3"/>
                  <a:gd name="T5" fmla="*/ 6 h 10"/>
                </a:gdLst>
                <a:ahLst/>
                <a:cxnLst>
                  <a:cxn ang="0">
                    <a:pos x="T0" y="T1"/>
                  </a:cxn>
                  <a:cxn ang="0">
                    <a:pos x="T2" y="T3"/>
                  </a:cxn>
                  <a:cxn ang="0">
                    <a:pos x="T4" y="T5"/>
                  </a:cxn>
                </a:cxnLst>
                <a:rect l="0" t="0" r="r" b="b"/>
                <a:pathLst>
                  <a:path w="3" h="10">
                    <a:moveTo>
                      <a:pt x="0" y="6"/>
                    </a:moveTo>
                    <a:cubicBezTo>
                      <a:pt x="0" y="6"/>
                      <a:pt x="0" y="10"/>
                      <a:pt x="2" y="4"/>
                    </a:cubicBezTo>
                    <a:cubicBezTo>
                      <a:pt x="3" y="0"/>
                      <a:pt x="0" y="6"/>
                      <a:pt x="0"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59" name="Freeform 769">
                <a:extLst>
                  <a:ext uri="{FF2B5EF4-FFF2-40B4-BE49-F238E27FC236}">
                    <a16:creationId xmlns:a16="http://schemas.microsoft.com/office/drawing/2014/main" id="{3CC4B81B-D809-4967-8C51-4A4348C402DC}"/>
                  </a:ext>
                </a:extLst>
              </p:cNvPr>
              <p:cNvSpPr>
                <a:spLocks/>
              </p:cNvSpPr>
              <p:nvPr/>
            </p:nvSpPr>
            <p:spPr bwMode="auto">
              <a:xfrm>
                <a:off x="5458" y="2567"/>
                <a:ext cx="226" cy="239"/>
              </a:xfrm>
              <a:custGeom>
                <a:avLst/>
                <a:gdLst>
                  <a:gd name="T0" fmla="*/ 158 w 163"/>
                  <a:gd name="T1" fmla="*/ 151 h 174"/>
                  <a:gd name="T2" fmla="*/ 159 w 163"/>
                  <a:gd name="T3" fmla="*/ 139 h 174"/>
                  <a:gd name="T4" fmla="*/ 160 w 163"/>
                  <a:gd name="T5" fmla="*/ 127 h 174"/>
                  <a:gd name="T6" fmla="*/ 154 w 163"/>
                  <a:gd name="T7" fmla="*/ 120 h 174"/>
                  <a:gd name="T8" fmla="*/ 142 w 163"/>
                  <a:gd name="T9" fmla="*/ 121 h 174"/>
                  <a:gd name="T10" fmla="*/ 141 w 163"/>
                  <a:gd name="T11" fmla="*/ 122 h 174"/>
                  <a:gd name="T12" fmla="*/ 142 w 163"/>
                  <a:gd name="T13" fmla="*/ 118 h 174"/>
                  <a:gd name="T14" fmla="*/ 139 w 163"/>
                  <a:gd name="T15" fmla="*/ 109 h 174"/>
                  <a:gd name="T16" fmla="*/ 137 w 163"/>
                  <a:gd name="T17" fmla="*/ 101 h 174"/>
                  <a:gd name="T18" fmla="*/ 132 w 163"/>
                  <a:gd name="T19" fmla="*/ 99 h 174"/>
                  <a:gd name="T20" fmla="*/ 122 w 163"/>
                  <a:gd name="T21" fmla="*/ 92 h 174"/>
                  <a:gd name="T22" fmla="*/ 122 w 163"/>
                  <a:gd name="T23" fmla="*/ 89 h 174"/>
                  <a:gd name="T24" fmla="*/ 121 w 163"/>
                  <a:gd name="T25" fmla="*/ 87 h 174"/>
                  <a:gd name="T26" fmla="*/ 126 w 163"/>
                  <a:gd name="T27" fmla="*/ 85 h 174"/>
                  <a:gd name="T28" fmla="*/ 128 w 163"/>
                  <a:gd name="T29" fmla="*/ 80 h 174"/>
                  <a:gd name="T30" fmla="*/ 124 w 163"/>
                  <a:gd name="T31" fmla="*/ 77 h 174"/>
                  <a:gd name="T32" fmla="*/ 112 w 163"/>
                  <a:gd name="T33" fmla="*/ 81 h 174"/>
                  <a:gd name="T34" fmla="*/ 116 w 163"/>
                  <a:gd name="T35" fmla="*/ 78 h 174"/>
                  <a:gd name="T36" fmla="*/ 113 w 163"/>
                  <a:gd name="T37" fmla="*/ 74 h 174"/>
                  <a:gd name="T38" fmla="*/ 104 w 163"/>
                  <a:gd name="T39" fmla="*/ 65 h 174"/>
                  <a:gd name="T40" fmla="*/ 93 w 163"/>
                  <a:gd name="T41" fmla="*/ 58 h 174"/>
                  <a:gd name="T42" fmla="*/ 85 w 163"/>
                  <a:gd name="T43" fmla="*/ 51 h 174"/>
                  <a:gd name="T44" fmla="*/ 84 w 163"/>
                  <a:gd name="T45" fmla="*/ 54 h 174"/>
                  <a:gd name="T46" fmla="*/ 78 w 163"/>
                  <a:gd name="T47" fmla="*/ 49 h 174"/>
                  <a:gd name="T48" fmla="*/ 74 w 163"/>
                  <a:gd name="T49" fmla="*/ 46 h 174"/>
                  <a:gd name="T50" fmla="*/ 65 w 163"/>
                  <a:gd name="T51" fmla="*/ 35 h 174"/>
                  <a:gd name="T52" fmla="*/ 52 w 163"/>
                  <a:gd name="T53" fmla="*/ 26 h 174"/>
                  <a:gd name="T54" fmla="*/ 46 w 163"/>
                  <a:gd name="T55" fmla="*/ 21 h 174"/>
                  <a:gd name="T56" fmla="*/ 43 w 163"/>
                  <a:gd name="T57" fmla="*/ 17 h 174"/>
                  <a:gd name="T58" fmla="*/ 36 w 163"/>
                  <a:gd name="T59" fmla="*/ 7 h 174"/>
                  <a:gd name="T60" fmla="*/ 28 w 163"/>
                  <a:gd name="T61" fmla="*/ 6 h 174"/>
                  <a:gd name="T62" fmla="*/ 7 w 163"/>
                  <a:gd name="T63" fmla="*/ 1 h 174"/>
                  <a:gd name="T64" fmla="*/ 1 w 163"/>
                  <a:gd name="T65" fmla="*/ 3 h 174"/>
                  <a:gd name="T66" fmla="*/ 23 w 163"/>
                  <a:gd name="T67" fmla="*/ 29 h 174"/>
                  <a:gd name="T68" fmla="*/ 37 w 163"/>
                  <a:gd name="T69" fmla="*/ 45 h 174"/>
                  <a:gd name="T70" fmla="*/ 53 w 163"/>
                  <a:gd name="T71" fmla="*/ 58 h 174"/>
                  <a:gd name="T72" fmla="*/ 58 w 163"/>
                  <a:gd name="T73" fmla="*/ 76 h 174"/>
                  <a:gd name="T74" fmla="*/ 67 w 163"/>
                  <a:gd name="T75" fmla="*/ 84 h 174"/>
                  <a:gd name="T76" fmla="*/ 77 w 163"/>
                  <a:gd name="T77" fmla="*/ 99 h 174"/>
                  <a:gd name="T78" fmla="*/ 86 w 163"/>
                  <a:gd name="T79" fmla="*/ 118 h 174"/>
                  <a:gd name="T80" fmla="*/ 105 w 163"/>
                  <a:gd name="T81" fmla="*/ 142 h 174"/>
                  <a:gd name="T82" fmla="*/ 139 w 163"/>
                  <a:gd name="T83" fmla="*/ 171 h 174"/>
                  <a:gd name="T84" fmla="*/ 142 w 163"/>
                  <a:gd name="T85" fmla="*/ 167 h 174"/>
                  <a:gd name="T86" fmla="*/ 156 w 163"/>
                  <a:gd name="T87" fmla="*/ 17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3" h="174">
                    <a:moveTo>
                      <a:pt x="158" y="168"/>
                    </a:moveTo>
                    <a:cubicBezTo>
                      <a:pt x="159" y="166"/>
                      <a:pt x="159" y="153"/>
                      <a:pt x="158" y="151"/>
                    </a:cubicBezTo>
                    <a:cubicBezTo>
                      <a:pt x="158" y="148"/>
                      <a:pt x="158" y="145"/>
                      <a:pt x="159" y="144"/>
                    </a:cubicBezTo>
                    <a:cubicBezTo>
                      <a:pt x="160" y="143"/>
                      <a:pt x="161" y="142"/>
                      <a:pt x="159" y="139"/>
                    </a:cubicBezTo>
                    <a:cubicBezTo>
                      <a:pt x="158" y="136"/>
                      <a:pt x="160" y="133"/>
                      <a:pt x="161" y="132"/>
                    </a:cubicBezTo>
                    <a:cubicBezTo>
                      <a:pt x="163" y="132"/>
                      <a:pt x="161" y="129"/>
                      <a:pt x="160" y="127"/>
                    </a:cubicBezTo>
                    <a:cubicBezTo>
                      <a:pt x="160" y="126"/>
                      <a:pt x="158" y="123"/>
                      <a:pt x="157" y="122"/>
                    </a:cubicBezTo>
                    <a:cubicBezTo>
                      <a:pt x="156" y="120"/>
                      <a:pt x="154" y="120"/>
                      <a:pt x="154" y="120"/>
                    </a:cubicBezTo>
                    <a:cubicBezTo>
                      <a:pt x="153" y="119"/>
                      <a:pt x="146" y="119"/>
                      <a:pt x="145" y="118"/>
                    </a:cubicBezTo>
                    <a:cubicBezTo>
                      <a:pt x="144" y="118"/>
                      <a:pt x="143" y="120"/>
                      <a:pt x="142" y="121"/>
                    </a:cubicBezTo>
                    <a:cubicBezTo>
                      <a:pt x="142" y="123"/>
                      <a:pt x="141" y="124"/>
                      <a:pt x="139" y="125"/>
                    </a:cubicBezTo>
                    <a:cubicBezTo>
                      <a:pt x="138" y="125"/>
                      <a:pt x="140" y="123"/>
                      <a:pt x="141" y="122"/>
                    </a:cubicBezTo>
                    <a:cubicBezTo>
                      <a:pt x="142" y="122"/>
                      <a:pt x="142" y="121"/>
                      <a:pt x="141" y="120"/>
                    </a:cubicBezTo>
                    <a:cubicBezTo>
                      <a:pt x="140" y="120"/>
                      <a:pt x="140" y="119"/>
                      <a:pt x="142" y="118"/>
                    </a:cubicBezTo>
                    <a:cubicBezTo>
                      <a:pt x="144" y="118"/>
                      <a:pt x="144" y="117"/>
                      <a:pt x="141" y="115"/>
                    </a:cubicBezTo>
                    <a:cubicBezTo>
                      <a:pt x="138" y="113"/>
                      <a:pt x="138" y="111"/>
                      <a:pt x="139" y="109"/>
                    </a:cubicBezTo>
                    <a:cubicBezTo>
                      <a:pt x="139" y="108"/>
                      <a:pt x="139" y="108"/>
                      <a:pt x="138" y="106"/>
                    </a:cubicBezTo>
                    <a:cubicBezTo>
                      <a:pt x="138" y="105"/>
                      <a:pt x="138" y="103"/>
                      <a:pt x="137" y="101"/>
                    </a:cubicBezTo>
                    <a:cubicBezTo>
                      <a:pt x="136" y="99"/>
                      <a:pt x="136" y="100"/>
                      <a:pt x="135" y="99"/>
                    </a:cubicBezTo>
                    <a:cubicBezTo>
                      <a:pt x="134" y="99"/>
                      <a:pt x="133" y="100"/>
                      <a:pt x="132" y="99"/>
                    </a:cubicBezTo>
                    <a:cubicBezTo>
                      <a:pt x="131" y="99"/>
                      <a:pt x="127" y="98"/>
                      <a:pt x="125" y="97"/>
                    </a:cubicBezTo>
                    <a:cubicBezTo>
                      <a:pt x="124" y="97"/>
                      <a:pt x="122" y="94"/>
                      <a:pt x="122" y="92"/>
                    </a:cubicBezTo>
                    <a:cubicBezTo>
                      <a:pt x="122" y="91"/>
                      <a:pt x="123" y="91"/>
                      <a:pt x="124" y="91"/>
                    </a:cubicBezTo>
                    <a:cubicBezTo>
                      <a:pt x="125" y="90"/>
                      <a:pt x="123" y="89"/>
                      <a:pt x="122" y="89"/>
                    </a:cubicBezTo>
                    <a:cubicBezTo>
                      <a:pt x="121" y="89"/>
                      <a:pt x="122" y="89"/>
                      <a:pt x="123" y="88"/>
                    </a:cubicBezTo>
                    <a:cubicBezTo>
                      <a:pt x="124" y="87"/>
                      <a:pt x="122" y="87"/>
                      <a:pt x="121" y="87"/>
                    </a:cubicBezTo>
                    <a:cubicBezTo>
                      <a:pt x="121" y="87"/>
                      <a:pt x="123" y="86"/>
                      <a:pt x="124" y="86"/>
                    </a:cubicBezTo>
                    <a:cubicBezTo>
                      <a:pt x="124" y="85"/>
                      <a:pt x="125" y="84"/>
                      <a:pt x="126" y="85"/>
                    </a:cubicBezTo>
                    <a:cubicBezTo>
                      <a:pt x="126" y="85"/>
                      <a:pt x="127" y="84"/>
                      <a:pt x="128" y="84"/>
                    </a:cubicBezTo>
                    <a:cubicBezTo>
                      <a:pt x="129" y="83"/>
                      <a:pt x="128" y="81"/>
                      <a:pt x="128" y="80"/>
                    </a:cubicBezTo>
                    <a:cubicBezTo>
                      <a:pt x="127" y="80"/>
                      <a:pt x="127" y="79"/>
                      <a:pt x="126" y="79"/>
                    </a:cubicBezTo>
                    <a:cubicBezTo>
                      <a:pt x="125" y="79"/>
                      <a:pt x="125" y="79"/>
                      <a:pt x="124" y="77"/>
                    </a:cubicBezTo>
                    <a:cubicBezTo>
                      <a:pt x="123" y="76"/>
                      <a:pt x="121" y="77"/>
                      <a:pt x="119" y="77"/>
                    </a:cubicBezTo>
                    <a:cubicBezTo>
                      <a:pt x="116" y="78"/>
                      <a:pt x="114" y="80"/>
                      <a:pt x="112" y="81"/>
                    </a:cubicBezTo>
                    <a:cubicBezTo>
                      <a:pt x="109" y="82"/>
                      <a:pt x="110" y="81"/>
                      <a:pt x="111" y="80"/>
                    </a:cubicBezTo>
                    <a:cubicBezTo>
                      <a:pt x="113" y="80"/>
                      <a:pt x="115" y="79"/>
                      <a:pt x="116" y="78"/>
                    </a:cubicBezTo>
                    <a:cubicBezTo>
                      <a:pt x="117" y="77"/>
                      <a:pt x="118" y="77"/>
                      <a:pt x="117" y="76"/>
                    </a:cubicBezTo>
                    <a:cubicBezTo>
                      <a:pt x="117" y="75"/>
                      <a:pt x="115" y="74"/>
                      <a:pt x="113" y="74"/>
                    </a:cubicBezTo>
                    <a:cubicBezTo>
                      <a:pt x="110" y="74"/>
                      <a:pt x="107" y="71"/>
                      <a:pt x="106" y="70"/>
                    </a:cubicBezTo>
                    <a:cubicBezTo>
                      <a:pt x="105" y="69"/>
                      <a:pt x="104" y="67"/>
                      <a:pt x="104" y="65"/>
                    </a:cubicBezTo>
                    <a:cubicBezTo>
                      <a:pt x="103" y="64"/>
                      <a:pt x="100" y="61"/>
                      <a:pt x="98" y="60"/>
                    </a:cubicBezTo>
                    <a:cubicBezTo>
                      <a:pt x="96" y="58"/>
                      <a:pt x="94" y="59"/>
                      <a:pt x="93" y="58"/>
                    </a:cubicBezTo>
                    <a:cubicBezTo>
                      <a:pt x="91" y="57"/>
                      <a:pt x="90" y="54"/>
                      <a:pt x="90" y="53"/>
                    </a:cubicBezTo>
                    <a:cubicBezTo>
                      <a:pt x="89" y="53"/>
                      <a:pt x="87" y="51"/>
                      <a:pt x="85" y="51"/>
                    </a:cubicBezTo>
                    <a:cubicBezTo>
                      <a:pt x="84" y="51"/>
                      <a:pt x="83" y="51"/>
                      <a:pt x="84" y="52"/>
                    </a:cubicBezTo>
                    <a:cubicBezTo>
                      <a:pt x="85" y="54"/>
                      <a:pt x="85" y="54"/>
                      <a:pt x="84" y="54"/>
                    </a:cubicBezTo>
                    <a:cubicBezTo>
                      <a:pt x="83" y="53"/>
                      <a:pt x="82" y="52"/>
                      <a:pt x="80" y="52"/>
                    </a:cubicBezTo>
                    <a:cubicBezTo>
                      <a:pt x="79" y="52"/>
                      <a:pt x="78" y="50"/>
                      <a:pt x="78" y="49"/>
                    </a:cubicBezTo>
                    <a:cubicBezTo>
                      <a:pt x="78" y="48"/>
                      <a:pt x="77" y="46"/>
                      <a:pt x="76" y="46"/>
                    </a:cubicBezTo>
                    <a:cubicBezTo>
                      <a:pt x="74" y="46"/>
                      <a:pt x="74" y="46"/>
                      <a:pt x="74" y="46"/>
                    </a:cubicBezTo>
                    <a:cubicBezTo>
                      <a:pt x="73" y="47"/>
                      <a:pt x="72" y="44"/>
                      <a:pt x="71" y="42"/>
                    </a:cubicBezTo>
                    <a:cubicBezTo>
                      <a:pt x="71" y="41"/>
                      <a:pt x="66" y="36"/>
                      <a:pt x="65" y="35"/>
                    </a:cubicBezTo>
                    <a:cubicBezTo>
                      <a:pt x="63" y="34"/>
                      <a:pt x="57" y="30"/>
                      <a:pt x="55" y="29"/>
                    </a:cubicBezTo>
                    <a:cubicBezTo>
                      <a:pt x="53" y="29"/>
                      <a:pt x="52" y="27"/>
                      <a:pt x="52" y="26"/>
                    </a:cubicBezTo>
                    <a:cubicBezTo>
                      <a:pt x="51" y="25"/>
                      <a:pt x="46" y="23"/>
                      <a:pt x="46" y="23"/>
                    </a:cubicBezTo>
                    <a:cubicBezTo>
                      <a:pt x="45" y="23"/>
                      <a:pt x="45" y="22"/>
                      <a:pt x="46" y="21"/>
                    </a:cubicBezTo>
                    <a:cubicBezTo>
                      <a:pt x="46" y="20"/>
                      <a:pt x="46" y="19"/>
                      <a:pt x="45" y="19"/>
                    </a:cubicBezTo>
                    <a:cubicBezTo>
                      <a:pt x="45" y="18"/>
                      <a:pt x="44" y="17"/>
                      <a:pt x="43" y="17"/>
                    </a:cubicBezTo>
                    <a:cubicBezTo>
                      <a:pt x="41" y="16"/>
                      <a:pt x="42" y="15"/>
                      <a:pt x="42" y="13"/>
                    </a:cubicBezTo>
                    <a:cubicBezTo>
                      <a:pt x="42" y="11"/>
                      <a:pt x="37" y="8"/>
                      <a:pt x="36" y="7"/>
                    </a:cubicBezTo>
                    <a:cubicBezTo>
                      <a:pt x="35" y="6"/>
                      <a:pt x="34" y="6"/>
                      <a:pt x="32" y="7"/>
                    </a:cubicBezTo>
                    <a:cubicBezTo>
                      <a:pt x="29" y="7"/>
                      <a:pt x="29" y="6"/>
                      <a:pt x="28" y="6"/>
                    </a:cubicBezTo>
                    <a:cubicBezTo>
                      <a:pt x="27" y="5"/>
                      <a:pt x="23" y="6"/>
                      <a:pt x="20" y="6"/>
                    </a:cubicBezTo>
                    <a:cubicBezTo>
                      <a:pt x="17" y="6"/>
                      <a:pt x="9" y="1"/>
                      <a:pt x="7" y="1"/>
                    </a:cubicBezTo>
                    <a:cubicBezTo>
                      <a:pt x="6" y="0"/>
                      <a:pt x="3" y="1"/>
                      <a:pt x="2" y="1"/>
                    </a:cubicBezTo>
                    <a:cubicBezTo>
                      <a:pt x="0" y="2"/>
                      <a:pt x="1" y="3"/>
                      <a:pt x="1" y="3"/>
                    </a:cubicBezTo>
                    <a:cubicBezTo>
                      <a:pt x="2" y="8"/>
                      <a:pt x="6" y="14"/>
                      <a:pt x="10" y="18"/>
                    </a:cubicBezTo>
                    <a:cubicBezTo>
                      <a:pt x="13" y="22"/>
                      <a:pt x="22" y="28"/>
                      <a:pt x="23" y="29"/>
                    </a:cubicBezTo>
                    <a:cubicBezTo>
                      <a:pt x="25" y="30"/>
                      <a:pt x="27" y="31"/>
                      <a:pt x="31" y="35"/>
                    </a:cubicBezTo>
                    <a:cubicBezTo>
                      <a:pt x="34" y="39"/>
                      <a:pt x="36" y="41"/>
                      <a:pt x="37" y="45"/>
                    </a:cubicBezTo>
                    <a:cubicBezTo>
                      <a:pt x="38" y="49"/>
                      <a:pt x="38" y="50"/>
                      <a:pt x="42" y="51"/>
                    </a:cubicBezTo>
                    <a:cubicBezTo>
                      <a:pt x="45" y="52"/>
                      <a:pt x="53" y="58"/>
                      <a:pt x="53" y="58"/>
                    </a:cubicBezTo>
                    <a:cubicBezTo>
                      <a:pt x="53" y="58"/>
                      <a:pt x="54" y="59"/>
                      <a:pt x="54" y="61"/>
                    </a:cubicBezTo>
                    <a:cubicBezTo>
                      <a:pt x="54" y="63"/>
                      <a:pt x="56" y="73"/>
                      <a:pt x="58" y="76"/>
                    </a:cubicBezTo>
                    <a:cubicBezTo>
                      <a:pt x="60" y="79"/>
                      <a:pt x="60" y="80"/>
                      <a:pt x="61" y="81"/>
                    </a:cubicBezTo>
                    <a:cubicBezTo>
                      <a:pt x="62" y="81"/>
                      <a:pt x="66" y="83"/>
                      <a:pt x="67" y="84"/>
                    </a:cubicBezTo>
                    <a:cubicBezTo>
                      <a:pt x="67" y="84"/>
                      <a:pt x="67" y="85"/>
                      <a:pt x="70" y="88"/>
                    </a:cubicBezTo>
                    <a:cubicBezTo>
                      <a:pt x="72" y="91"/>
                      <a:pt x="77" y="97"/>
                      <a:pt x="77" y="99"/>
                    </a:cubicBezTo>
                    <a:cubicBezTo>
                      <a:pt x="77" y="101"/>
                      <a:pt x="79" y="104"/>
                      <a:pt x="80" y="105"/>
                    </a:cubicBezTo>
                    <a:cubicBezTo>
                      <a:pt x="80" y="107"/>
                      <a:pt x="84" y="109"/>
                      <a:pt x="86" y="118"/>
                    </a:cubicBezTo>
                    <a:cubicBezTo>
                      <a:pt x="88" y="126"/>
                      <a:pt x="102" y="138"/>
                      <a:pt x="103" y="138"/>
                    </a:cubicBezTo>
                    <a:cubicBezTo>
                      <a:pt x="105" y="139"/>
                      <a:pt x="105" y="140"/>
                      <a:pt x="105" y="142"/>
                    </a:cubicBezTo>
                    <a:cubicBezTo>
                      <a:pt x="106" y="144"/>
                      <a:pt x="110" y="146"/>
                      <a:pt x="110" y="146"/>
                    </a:cubicBezTo>
                    <a:cubicBezTo>
                      <a:pt x="119" y="153"/>
                      <a:pt x="137" y="169"/>
                      <a:pt x="139" y="171"/>
                    </a:cubicBezTo>
                    <a:cubicBezTo>
                      <a:pt x="141" y="174"/>
                      <a:pt x="140" y="170"/>
                      <a:pt x="140" y="168"/>
                    </a:cubicBezTo>
                    <a:cubicBezTo>
                      <a:pt x="140" y="165"/>
                      <a:pt x="141" y="165"/>
                      <a:pt x="142" y="167"/>
                    </a:cubicBezTo>
                    <a:cubicBezTo>
                      <a:pt x="143" y="168"/>
                      <a:pt x="147" y="173"/>
                      <a:pt x="149" y="168"/>
                    </a:cubicBezTo>
                    <a:cubicBezTo>
                      <a:pt x="151" y="163"/>
                      <a:pt x="155" y="170"/>
                      <a:pt x="156" y="171"/>
                    </a:cubicBezTo>
                    <a:cubicBezTo>
                      <a:pt x="157" y="172"/>
                      <a:pt x="157" y="171"/>
                      <a:pt x="158" y="16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60" name="Freeform 770">
                <a:extLst>
                  <a:ext uri="{FF2B5EF4-FFF2-40B4-BE49-F238E27FC236}">
                    <a16:creationId xmlns:a16="http://schemas.microsoft.com/office/drawing/2014/main" id="{B782A18E-7E6D-4D14-9DD3-E0F33D1A7D4E}"/>
                  </a:ext>
                </a:extLst>
              </p:cNvPr>
              <p:cNvSpPr>
                <a:spLocks/>
              </p:cNvSpPr>
              <p:nvPr/>
            </p:nvSpPr>
            <p:spPr bwMode="auto">
              <a:xfrm>
                <a:off x="5469" y="2622"/>
                <a:ext cx="16" cy="13"/>
              </a:xfrm>
              <a:custGeom>
                <a:avLst/>
                <a:gdLst>
                  <a:gd name="T0" fmla="*/ 10 w 11"/>
                  <a:gd name="T1" fmla="*/ 6 h 10"/>
                  <a:gd name="T2" fmla="*/ 2 w 11"/>
                  <a:gd name="T3" fmla="*/ 1 h 10"/>
                  <a:gd name="T4" fmla="*/ 0 w 11"/>
                  <a:gd name="T5" fmla="*/ 2 h 10"/>
                  <a:gd name="T6" fmla="*/ 1 w 11"/>
                  <a:gd name="T7" fmla="*/ 3 h 10"/>
                  <a:gd name="T8" fmla="*/ 3 w 11"/>
                  <a:gd name="T9" fmla="*/ 5 h 10"/>
                  <a:gd name="T10" fmla="*/ 6 w 11"/>
                  <a:gd name="T11" fmla="*/ 7 h 10"/>
                  <a:gd name="T12" fmla="*/ 10 w 11"/>
                  <a:gd name="T13" fmla="*/ 9 h 10"/>
                  <a:gd name="T14" fmla="*/ 11 w 11"/>
                  <a:gd name="T15" fmla="*/ 8 h 10"/>
                  <a:gd name="T16" fmla="*/ 10 w 11"/>
                  <a:gd name="T17"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0">
                    <a:moveTo>
                      <a:pt x="10" y="6"/>
                    </a:moveTo>
                    <a:cubicBezTo>
                      <a:pt x="10" y="6"/>
                      <a:pt x="3" y="1"/>
                      <a:pt x="2" y="1"/>
                    </a:cubicBezTo>
                    <a:cubicBezTo>
                      <a:pt x="1" y="0"/>
                      <a:pt x="1" y="1"/>
                      <a:pt x="0" y="2"/>
                    </a:cubicBezTo>
                    <a:cubicBezTo>
                      <a:pt x="0" y="2"/>
                      <a:pt x="1" y="3"/>
                      <a:pt x="1" y="3"/>
                    </a:cubicBezTo>
                    <a:cubicBezTo>
                      <a:pt x="1" y="3"/>
                      <a:pt x="3" y="5"/>
                      <a:pt x="3" y="5"/>
                    </a:cubicBezTo>
                    <a:cubicBezTo>
                      <a:pt x="4" y="5"/>
                      <a:pt x="5" y="6"/>
                      <a:pt x="6" y="7"/>
                    </a:cubicBezTo>
                    <a:cubicBezTo>
                      <a:pt x="7" y="7"/>
                      <a:pt x="9" y="9"/>
                      <a:pt x="10" y="9"/>
                    </a:cubicBezTo>
                    <a:cubicBezTo>
                      <a:pt x="11" y="10"/>
                      <a:pt x="11" y="9"/>
                      <a:pt x="11" y="8"/>
                    </a:cubicBezTo>
                    <a:cubicBezTo>
                      <a:pt x="11" y="7"/>
                      <a:pt x="10" y="6"/>
                      <a:pt x="10"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61" name="Freeform 771">
                <a:extLst>
                  <a:ext uri="{FF2B5EF4-FFF2-40B4-BE49-F238E27FC236}">
                    <a16:creationId xmlns:a16="http://schemas.microsoft.com/office/drawing/2014/main" id="{2242F3DA-F0A5-4026-8800-6AD352AE6CC7}"/>
                  </a:ext>
                </a:extLst>
              </p:cNvPr>
              <p:cNvSpPr>
                <a:spLocks/>
              </p:cNvSpPr>
              <p:nvPr/>
            </p:nvSpPr>
            <p:spPr bwMode="auto">
              <a:xfrm>
                <a:off x="5496" y="2650"/>
                <a:ext cx="19" cy="21"/>
              </a:xfrm>
              <a:custGeom>
                <a:avLst/>
                <a:gdLst>
                  <a:gd name="T0" fmla="*/ 13 w 14"/>
                  <a:gd name="T1" fmla="*/ 8 h 15"/>
                  <a:gd name="T2" fmla="*/ 6 w 14"/>
                  <a:gd name="T3" fmla="*/ 1 h 15"/>
                  <a:gd name="T4" fmla="*/ 5 w 14"/>
                  <a:gd name="T5" fmla="*/ 1 h 15"/>
                  <a:gd name="T6" fmla="*/ 2 w 14"/>
                  <a:gd name="T7" fmla="*/ 2 h 15"/>
                  <a:gd name="T8" fmla="*/ 3 w 14"/>
                  <a:gd name="T9" fmla="*/ 3 h 15"/>
                  <a:gd name="T10" fmla="*/ 11 w 14"/>
                  <a:gd name="T11" fmla="*/ 14 h 15"/>
                  <a:gd name="T12" fmla="*/ 13 w 14"/>
                  <a:gd name="T13" fmla="*/ 14 h 15"/>
                  <a:gd name="T14" fmla="*/ 13 w 14"/>
                  <a:gd name="T15" fmla="*/ 12 h 15"/>
                  <a:gd name="T16" fmla="*/ 13 w 14"/>
                  <a:gd name="T17" fmla="*/ 10 h 15"/>
                  <a:gd name="T18" fmla="*/ 13 w 14"/>
                  <a:gd name="T19"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5">
                    <a:moveTo>
                      <a:pt x="13" y="8"/>
                    </a:moveTo>
                    <a:cubicBezTo>
                      <a:pt x="12" y="8"/>
                      <a:pt x="7" y="1"/>
                      <a:pt x="6" y="1"/>
                    </a:cubicBezTo>
                    <a:cubicBezTo>
                      <a:pt x="6" y="0"/>
                      <a:pt x="5" y="0"/>
                      <a:pt x="5" y="1"/>
                    </a:cubicBezTo>
                    <a:cubicBezTo>
                      <a:pt x="5" y="2"/>
                      <a:pt x="4" y="2"/>
                      <a:pt x="2" y="2"/>
                    </a:cubicBezTo>
                    <a:cubicBezTo>
                      <a:pt x="0" y="2"/>
                      <a:pt x="3" y="3"/>
                      <a:pt x="3" y="3"/>
                    </a:cubicBezTo>
                    <a:cubicBezTo>
                      <a:pt x="3" y="3"/>
                      <a:pt x="11" y="13"/>
                      <a:pt x="11" y="14"/>
                    </a:cubicBezTo>
                    <a:cubicBezTo>
                      <a:pt x="12" y="15"/>
                      <a:pt x="12" y="15"/>
                      <a:pt x="13" y="14"/>
                    </a:cubicBezTo>
                    <a:cubicBezTo>
                      <a:pt x="14" y="14"/>
                      <a:pt x="13" y="13"/>
                      <a:pt x="13" y="12"/>
                    </a:cubicBezTo>
                    <a:cubicBezTo>
                      <a:pt x="13" y="12"/>
                      <a:pt x="13" y="11"/>
                      <a:pt x="13" y="10"/>
                    </a:cubicBezTo>
                    <a:cubicBezTo>
                      <a:pt x="13" y="9"/>
                      <a:pt x="13" y="8"/>
                      <a:pt x="13"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62" name="Freeform 772">
                <a:extLst>
                  <a:ext uri="{FF2B5EF4-FFF2-40B4-BE49-F238E27FC236}">
                    <a16:creationId xmlns:a16="http://schemas.microsoft.com/office/drawing/2014/main" id="{4AE3F96D-486E-4B25-9832-33F6463D3911}"/>
                  </a:ext>
                </a:extLst>
              </p:cNvPr>
              <p:cNvSpPr>
                <a:spLocks/>
              </p:cNvSpPr>
              <p:nvPr/>
            </p:nvSpPr>
            <p:spPr bwMode="auto">
              <a:xfrm>
                <a:off x="5523" y="2686"/>
                <a:ext cx="4" cy="8"/>
              </a:xfrm>
              <a:custGeom>
                <a:avLst/>
                <a:gdLst>
                  <a:gd name="T0" fmla="*/ 1 w 3"/>
                  <a:gd name="T1" fmla="*/ 1 h 6"/>
                  <a:gd name="T2" fmla="*/ 0 w 3"/>
                  <a:gd name="T3" fmla="*/ 4 h 6"/>
                  <a:gd name="T4" fmla="*/ 2 w 3"/>
                  <a:gd name="T5" fmla="*/ 4 h 6"/>
                  <a:gd name="T6" fmla="*/ 1 w 3"/>
                  <a:gd name="T7" fmla="*/ 1 h 6"/>
                </a:gdLst>
                <a:ahLst/>
                <a:cxnLst>
                  <a:cxn ang="0">
                    <a:pos x="T0" y="T1"/>
                  </a:cxn>
                  <a:cxn ang="0">
                    <a:pos x="T2" y="T3"/>
                  </a:cxn>
                  <a:cxn ang="0">
                    <a:pos x="T4" y="T5"/>
                  </a:cxn>
                  <a:cxn ang="0">
                    <a:pos x="T6" y="T7"/>
                  </a:cxn>
                </a:cxnLst>
                <a:rect l="0" t="0" r="r" b="b"/>
                <a:pathLst>
                  <a:path w="3" h="6">
                    <a:moveTo>
                      <a:pt x="1" y="1"/>
                    </a:moveTo>
                    <a:cubicBezTo>
                      <a:pt x="0" y="3"/>
                      <a:pt x="1" y="3"/>
                      <a:pt x="0" y="4"/>
                    </a:cubicBezTo>
                    <a:cubicBezTo>
                      <a:pt x="0" y="5"/>
                      <a:pt x="1" y="6"/>
                      <a:pt x="2" y="4"/>
                    </a:cubicBezTo>
                    <a:cubicBezTo>
                      <a:pt x="2" y="4"/>
                      <a:pt x="3"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63" name="Freeform 773">
                <a:extLst>
                  <a:ext uri="{FF2B5EF4-FFF2-40B4-BE49-F238E27FC236}">
                    <a16:creationId xmlns:a16="http://schemas.microsoft.com/office/drawing/2014/main" id="{8CBD0715-F21C-497F-8AA6-71C10A3EFEA8}"/>
                  </a:ext>
                </a:extLst>
              </p:cNvPr>
              <p:cNvSpPr>
                <a:spLocks/>
              </p:cNvSpPr>
              <p:nvPr/>
            </p:nvSpPr>
            <p:spPr bwMode="auto">
              <a:xfrm>
                <a:off x="5526" y="2700"/>
                <a:ext cx="17" cy="19"/>
              </a:xfrm>
              <a:custGeom>
                <a:avLst/>
                <a:gdLst>
                  <a:gd name="T0" fmla="*/ 8 w 12"/>
                  <a:gd name="T1" fmla="*/ 3 h 14"/>
                  <a:gd name="T2" fmla="*/ 4 w 12"/>
                  <a:gd name="T3" fmla="*/ 2 h 14"/>
                  <a:gd name="T4" fmla="*/ 6 w 12"/>
                  <a:gd name="T5" fmla="*/ 11 h 14"/>
                  <a:gd name="T6" fmla="*/ 11 w 12"/>
                  <a:gd name="T7" fmla="*/ 12 h 14"/>
                  <a:gd name="T8" fmla="*/ 11 w 12"/>
                  <a:gd name="T9" fmla="*/ 9 h 14"/>
                  <a:gd name="T10" fmla="*/ 8 w 12"/>
                  <a:gd name="T11" fmla="*/ 3 h 14"/>
                </a:gdLst>
                <a:ahLst/>
                <a:cxnLst>
                  <a:cxn ang="0">
                    <a:pos x="T0" y="T1"/>
                  </a:cxn>
                  <a:cxn ang="0">
                    <a:pos x="T2" y="T3"/>
                  </a:cxn>
                  <a:cxn ang="0">
                    <a:pos x="T4" y="T5"/>
                  </a:cxn>
                  <a:cxn ang="0">
                    <a:pos x="T6" y="T7"/>
                  </a:cxn>
                  <a:cxn ang="0">
                    <a:pos x="T8" y="T9"/>
                  </a:cxn>
                  <a:cxn ang="0">
                    <a:pos x="T10" y="T11"/>
                  </a:cxn>
                </a:cxnLst>
                <a:rect l="0" t="0" r="r" b="b"/>
                <a:pathLst>
                  <a:path w="12" h="14">
                    <a:moveTo>
                      <a:pt x="8" y="3"/>
                    </a:moveTo>
                    <a:cubicBezTo>
                      <a:pt x="7" y="0"/>
                      <a:pt x="4" y="2"/>
                      <a:pt x="4" y="2"/>
                    </a:cubicBezTo>
                    <a:cubicBezTo>
                      <a:pt x="0" y="4"/>
                      <a:pt x="4" y="8"/>
                      <a:pt x="6" y="11"/>
                    </a:cubicBezTo>
                    <a:cubicBezTo>
                      <a:pt x="9" y="14"/>
                      <a:pt x="10" y="13"/>
                      <a:pt x="11" y="12"/>
                    </a:cubicBezTo>
                    <a:cubicBezTo>
                      <a:pt x="11" y="12"/>
                      <a:pt x="12" y="10"/>
                      <a:pt x="11" y="9"/>
                    </a:cubicBezTo>
                    <a:cubicBezTo>
                      <a:pt x="10" y="8"/>
                      <a:pt x="9" y="6"/>
                      <a:pt x="8"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64" name="Freeform 774">
                <a:extLst>
                  <a:ext uri="{FF2B5EF4-FFF2-40B4-BE49-F238E27FC236}">
                    <a16:creationId xmlns:a16="http://schemas.microsoft.com/office/drawing/2014/main" id="{84C690F9-04ED-4190-A5E1-E8DBF671AE13}"/>
                  </a:ext>
                </a:extLst>
              </p:cNvPr>
              <p:cNvSpPr>
                <a:spLocks/>
              </p:cNvSpPr>
              <p:nvPr/>
            </p:nvSpPr>
            <p:spPr bwMode="auto">
              <a:xfrm>
                <a:off x="5498" y="2637"/>
                <a:ext cx="6" cy="4"/>
              </a:xfrm>
              <a:custGeom>
                <a:avLst/>
                <a:gdLst>
                  <a:gd name="T0" fmla="*/ 3 w 4"/>
                  <a:gd name="T1" fmla="*/ 2 h 3"/>
                  <a:gd name="T2" fmla="*/ 2 w 4"/>
                  <a:gd name="T3" fmla="*/ 0 h 3"/>
                  <a:gd name="T4" fmla="*/ 2 w 4"/>
                  <a:gd name="T5" fmla="*/ 1 h 3"/>
                  <a:gd name="T6" fmla="*/ 3 w 4"/>
                  <a:gd name="T7" fmla="*/ 2 h 3"/>
                </a:gdLst>
                <a:ahLst/>
                <a:cxnLst>
                  <a:cxn ang="0">
                    <a:pos x="T0" y="T1"/>
                  </a:cxn>
                  <a:cxn ang="0">
                    <a:pos x="T2" y="T3"/>
                  </a:cxn>
                  <a:cxn ang="0">
                    <a:pos x="T4" y="T5"/>
                  </a:cxn>
                  <a:cxn ang="0">
                    <a:pos x="T6" y="T7"/>
                  </a:cxn>
                </a:cxnLst>
                <a:rect l="0" t="0" r="r" b="b"/>
                <a:pathLst>
                  <a:path w="4" h="3">
                    <a:moveTo>
                      <a:pt x="3" y="2"/>
                    </a:moveTo>
                    <a:cubicBezTo>
                      <a:pt x="3" y="0"/>
                      <a:pt x="3" y="0"/>
                      <a:pt x="2" y="0"/>
                    </a:cubicBezTo>
                    <a:cubicBezTo>
                      <a:pt x="0" y="0"/>
                      <a:pt x="1" y="1"/>
                      <a:pt x="2" y="1"/>
                    </a:cubicBezTo>
                    <a:cubicBezTo>
                      <a:pt x="2" y="1"/>
                      <a:pt x="4" y="3"/>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65" name="Freeform 775">
                <a:extLst>
                  <a:ext uri="{FF2B5EF4-FFF2-40B4-BE49-F238E27FC236}">
                    <a16:creationId xmlns:a16="http://schemas.microsoft.com/office/drawing/2014/main" id="{733249EA-DE0B-47C2-8EE4-05C63B69B7C4}"/>
                  </a:ext>
                </a:extLst>
              </p:cNvPr>
              <p:cNvSpPr>
                <a:spLocks/>
              </p:cNvSpPr>
              <p:nvPr/>
            </p:nvSpPr>
            <p:spPr bwMode="auto">
              <a:xfrm>
                <a:off x="5547" y="2723"/>
                <a:ext cx="8" cy="10"/>
              </a:xfrm>
              <a:custGeom>
                <a:avLst/>
                <a:gdLst>
                  <a:gd name="T0" fmla="*/ 2 w 6"/>
                  <a:gd name="T1" fmla="*/ 0 h 7"/>
                  <a:gd name="T2" fmla="*/ 3 w 6"/>
                  <a:gd name="T3" fmla="*/ 4 h 7"/>
                  <a:gd name="T4" fmla="*/ 5 w 6"/>
                  <a:gd name="T5" fmla="*/ 4 h 7"/>
                  <a:gd name="T6" fmla="*/ 2 w 6"/>
                  <a:gd name="T7" fmla="*/ 0 h 7"/>
                </a:gdLst>
                <a:ahLst/>
                <a:cxnLst>
                  <a:cxn ang="0">
                    <a:pos x="T0" y="T1"/>
                  </a:cxn>
                  <a:cxn ang="0">
                    <a:pos x="T2" y="T3"/>
                  </a:cxn>
                  <a:cxn ang="0">
                    <a:pos x="T4" y="T5"/>
                  </a:cxn>
                  <a:cxn ang="0">
                    <a:pos x="T6" y="T7"/>
                  </a:cxn>
                </a:cxnLst>
                <a:rect l="0" t="0" r="r" b="b"/>
                <a:pathLst>
                  <a:path w="6" h="7">
                    <a:moveTo>
                      <a:pt x="2" y="0"/>
                    </a:moveTo>
                    <a:cubicBezTo>
                      <a:pt x="0" y="1"/>
                      <a:pt x="2" y="3"/>
                      <a:pt x="3" y="4"/>
                    </a:cubicBezTo>
                    <a:cubicBezTo>
                      <a:pt x="5" y="5"/>
                      <a:pt x="6" y="7"/>
                      <a:pt x="5" y="4"/>
                    </a:cubicBezTo>
                    <a:cubicBezTo>
                      <a:pt x="4" y="1"/>
                      <a:pt x="2"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66" name="Freeform 776">
                <a:extLst>
                  <a:ext uri="{FF2B5EF4-FFF2-40B4-BE49-F238E27FC236}">
                    <a16:creationId xmlns:a16="http://schemas.microsoft.com/office/drawing/2014/main" id="{9844AA40-6328-4933-8674-BD168EC5916C}"/>
                  </a:ext>
                </a:extLst>
              </p:cNvPr>
              <p:cNvSpPr>
                <a:spLocks/>
              </p:cNvSpPr>
              <p:nvPr/>
            </p:nvSpPr>
            <p:spPr bwMode="auto">
              <a:xfrm>
                <a:off x="5557" y="2733"/>
                <a:ext cx="5" cy="8"/>
              </a:xfrm>
              <a:custGeom>
                <a:avLst/>
                <a:gdLst>
                  <a:gd name="T0" fmla="*/ 2 w 4"/>
                  <a:gd name="T1" fmla="*/ 1 h 6"/>
                  <a:gd name="T2" fmla="*/ 1 w 4"/>
                  <a:gd name="T3" fmla="*/ 3 h 6"/>
                  <a:gd name="T4" fmla="*/ 3 w 4"/>
                  <a:gd name="T5" fmla="*/ 4 h 6"/>
                  <a:gd name="T6" fmla="*/ 2 w 4"/>
                  <a:gd name="T7" fmla="*/ 1 h 6"/>
                </a:gdLst>
                <a:ahLst/>
                <a:cxnLst>
                  <a:cxn ang="0">
                    <a:pos x="T0" y="T1"/>
                  </a:cxn>
                  <a:cxn ang="0">
                    <a:pos x="T2" y="T3"/>
                  </a:cxn>
                  <a:cxn ang="0">
                    <a:pos x="T4" y="T5"/>
                  </a:cxn>
                  <a:cxn ang="0">
                    <a:pos x="T6" y="T7"/>
                  </a:cxn>
                </a:cxnLst>
                <a:rect l="0" t="0" r="r" b="b"/>
                <a:pathLst>
                  <a:path w="4" h="6">
                    <a:moveTo>
                      <a:pt x="2" y="1"/>
                    </a:moveTo>
                    <a:cubicBezTo>
                      <a:pt x="1" y="0"/>
                      <a:pt x="0" y="1"/>
                      <a:pt x="1" y="3"/>
                    </a:cubicBezTo>
                    <a:cubicBezTo>
                      <a:pt x="1" y="3"/>
                      <a:pt x="2" y="6"/>
                      <a:pt x="3" y="4"/>
                    </a:cubicBezTo>
                    <a:cubicBezTo>
                      <a:pt x="4" y="2"/>
                      <a:pt x="3" y="2"/>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1293" name="Group 978">
              <a:extLst>
                <a:ext uri="{FF2B5EF4-FFF2-40B4-BE49-F238E27FC236}">
                  <a16:creationId xmlns:a16="http://schemas.microsoft.com/office/drawing/2014/main" id="{9553AB73-D48E-46B4-B5A6-E1D4E8A7BF39}"/>
                </a:ext>
              </a:extLst>
            </p:cNvPr>
            <p:cNvGrpSpPr>
              <a:grpSpLocks/>
            </p:cNvGrpSpPr>
            <p:nvPr/>
          </p:nvGrpSpPr>
          <p:grpSpPr bwMode="auto">
            <a:xfrm>
              <a:off x="3152" y="1661"/>
              <a:ext cx="3556" cy="1666"/>
              <a:chOff x="3152" y="1661"/>
              <a:chExt cx="3556" cy="1666"/>
            </a:xfrm>
            <a:grpFill/>
          </p:grpSpPr>
          <p:sp>
            <p:nvSpPr>
              <p:cNvPr id="1567" name="Freeform 778">
                <a:extLst>
                  <a:ext uri="{FF2B5EF4-FFF2-40B4-BE49-F238E27FC236}">
                    <a16:creationId xmlns:a16="http://schemas.microsoft.com/office/drawing/2014/main" id="{6E19AA61-5EF0-4E55-871B-5F839BABCD9E}"/>
                  </a:ext>
                </a:extLst>
              </p:cNvPr>
              <p:cNvSpPr>
                <a:spLocks/>
              </p:cNvSpPr>
              <p:nvPr/>
            </p:nvSpPr>
            <p:spPr bwMode="auto">
              <a:xfrm>
                <a:off x="5563" y="2737"/>
                <a:ext cx="5" cy="11"/>
              </a:xfrm>
              <a:custGeom>
                <a:avLst/>
                <a:gdLst>
                  <a:gd name="T0" fmla="*/ 0 w 3"/>
                  <a:gd name="T1" fmla="*/ 4 h 8"/>
                  <a:gd name="T2" fmla="*/ 2 w 3"/>
                  <a:gd name="T3" fmla="*/ 6 h 8"/>
                  <a:gd name="T4" fmla="*/ 0 w 3"/>
                  <a:gd name="T5" fmla="*/ 4 h 8"/>
                </a:gdLst>
                <a:ahLst/>
                <a:cxnLst>
                  <a:cxn ang="0">
                    <a:pos x="T0" y="T1"/>
                  </a:cxn>
                  <a:cxn ang="0">
                    <a:pos x="T2" y="T3"/>
                  </a:cxn>
                  <a:cxn ang="0">
                    <a:pos x="T4" y="T5"/>
                  </a:cxn>
                </a:cxnLst>
                <a:rect l="0" t="0" r="r" b="b"/>
                <a:pathLst>
                  <a:path w="3" h="8">
                    <a:moveTo>
                      <a:pt x="0" y="4"/>
                    </a:moveTo>
                    <a:cubicBezTo>
                      <a:pt x="0" y="4"/>
                      <a:pt x="1" y="8"/>
                      <a:pt x="2" y="6"/>
                    </a:cubicBezTo>
                    <a:cubicBezTo>
                      <a:pt x="3" y="5"/>
                      <a:pt x="0" y="0"/>
                      <a:pt x="0"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68" name="Freeform 779">
                <a:extLst>
                  <a:ext uri="{FF2B5EF4-FFF2-40B4-BE49-F238E27FC236}">
                    <a16:creationId xmlns:a16="http://schemas.microsoft.com/office/drawing/2014/main" id="{573CA75A-0141-4B3D-8A81-4BBFA1D150A7}"/>
                  </a:ext>
                </a:extLst>
              </p:cNvPr>
              <p:cNvSpPr>
                <a:spLocks/>
              </p:cNvSpPr>
              <p:nvPr/>
            </p:nvSpPr>
            <p:spPr bwMode="auto">
              <a:xfrm>
                <a:off x="5630" y="2686"/>
                <a:ext cx="4" cy="3"/>
              </a:xfrm>
              <a:custGeom>
                <a:avLst/>
                <a:gdLst>
                  <a:gd name="T0" fmla="*/ 0 w 3"/>
                  <a:gd name="T1" fmla="*/ 2 h 2"/>
                  <a:gd name="T2" fmla="*/ 2 w 3"/>
                  <a:gd name="T3" fmla="*/ 2 h 2"/>
                  <a:gd name="T4" fmla="*/ 2 w 3"/>
                  <a:gd name="T5" fmla="*/ 1 h 2"/>
                  <a:gd name="T6" fmla="*/ 0 w 3"/>
                  <a:gd name="T7" fmla="*/ 2 h 2"/>
                </a:gdLst>
                <a:ahLst/>
                <a:cxnLst>
                  <a:cxn ang="0">
                    <a:pos x="T0" y="T1"/>
                  </a:cxn>
                  <a:cxn ang="0">
                    <a:pos x="T2" y="T3"/>
                  </a:cxn>
                  <a:cxn ang="0">
                    <a:pos x="T4" y="T5"/>
                  </a:cxn>
                  <a:cxn ang="0">
                    <a:pos x="T6" y="T7"/>
                  </a:cxn>
                </a:cxnLst>
                <a:rect l="0" t="0" r="r" b="b"/>
                <a:pathLst>
                  <a:path w="3" h="2">
                    <a:moveTo>
                      <a:pt x="0" y="2"/>
                    </a:moveTo>
                    <a:cubicBezTo>
                      <a:pt x="0" y="2"/>
                      <a:pt x="1" y="2"/>
                      <a:pt x="2" y="2"/>
                    </a:cubicBezTo>
                    <a:cubicBezTo>
                      <a:pt x="3" y="1"/>
                      <a:pt x="3" y="0"/>
                      <a:pt x="2" y="1"/>
                    </a:cubicBezTo>
                    <a:cubicBezTo>
                      <a:pt x="2" y="1"/>
                      <a:pt x="0" y="1"/>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69" name="Freeform 780">
                <a:extLst>
                  <a:ext uri="{FF2B5EF4-FFF2-40B4-BE49-F238E27FC236}">
                    <a16:creationId xmlns:a16="http://schemas.microsoft.com/office/drawing/2014/main" id="{3BFCA725-B0B4-443A-BBBC-CB2B0FDAFDC2}"/>
                  </a:ext>
                </a:extLst>
              </p:cNvPr>
              <p:cNvSpPr>
                <a:spLocks/>
              </p:cNvSpPr>
              <p:nvPr/>
            </p:nvSpPr>
            <p:spPr bwMode="auto">
              <a:xfrm>
                <a:off x="5645" y="2689"/>
                <a:ext cx="7" cy="5"/>
              </a:xfrm>
              <a:custGeom>
                <a:avLst/>
                <a:gdLst>
                  <a:gd name="T0" fmla="*/ 2 w 5"/>
                  <a:gd name="T1" fmla="*/ 1 h 4"/>
                  <a:gd name="T2" fmla="*/ 1 w 5"/>
                  <a:gd name="T3" fmla="*/ 3 h 4"/>
                  <a:gd name="T4" fmla="*/ 2 w 5"/>
                  <a:gd name="T5" fmla="*/ 4 h 4"/>
                  <a:gd name="T6" fmla="*/ 4 w 5"/>
                  <a:gd name="T7" fmla="*/ 1 h 4"/>
                  <a:gd name="T8" fmla="*/ 2 w 5"/>
                  <a:gd name="T9" fmla="*/ 1 h 4"/>
                </a:gdLst>
                <a:ahLst/>
                <a:cxnLst>
                  <a:cxn ang="0">
                    <a:pos x="T0" y="T1"/>
                  </a:cxn>
                  <a:cxn ang="0">
                    <a:pos x="T2" y="T3"/>
                  </a:cxn>
                  <a:cxn ang="0">
                    <a:pos x="T4" y="T5"/>
                  </a:cxn>
                  <a:cxn ang="0">
                    <a:pos x="T6" y="T7"/>
                  </a:cxn>
                  <a:cxn ang="0">
                    <a:pos x="T8" y="T9"/>
                  </a:cxn>
                </a:cxnLst>
                <a:rect l="0" t="0" r="r" b="b"/>
                <a:pathLst>
                  <a:path w="5" h="4">
                    <a:moveTo>
                      <a:pt x="2" y="1"/>
                    </a:moveTo>
                    <a:cubicBezTo>
                      <a:pt x="1" y="1"/>
                      <a:pt x="0" y="1"/>
                      <a:pt x="1" y="3"/>
                    </a:cubicBezTo>
                    <a:cubicBezTo>
                      <a:pt x="1" y="3"/>
                      <a:pt x="1" y="4"/>
                      <a:pt x="2" y="4"/>
                    </a:cubicBezTo>
                    <a:cubicBezTo>
                      <a:pt x="3" y="4"/>
                      <a:pt x="5" y="3"/>
                      <a:pt x="4" y="1"/>
                    </a:cubicBezTo>
                    <a:cubicBezTo>
                      <a:pt x="4" y="0"/>
                      <a:pt x="3"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70" name="Freeform 781">
                <a:extLst>
                  <a:ext uri="{FF2B5EF4-FFF2-40B4-BE49-F238E27FC236}">
                    <a16:creationId xmlns:a16="http://schemas.microsoft.com/office/drawing/2014/main" id="{115D9B4A-39DA-4870-8F4B-4E73ED7387F2}"/>
                  </a:ext>
                </a:extLst>
              </p:cNvPr>
              <p:cNvSpPr>
                <a:spLocks/>
              </p:cNvSpPr>
              <p:nvPr/>
            </p:nvSpPr>
            <p:spPr bwMode="auto">
              <a:xfrm>
                <a:off x="5648" y="2682"/>
                <a:ext cx="8" cy="6"/>
              </a:xfrm>
              <a:custGeom>
                <a:avLst/>
                <a:gdLst>
                  <a:gd name="T0" fmla="*/ 5 w 6"/>
                  <a:gd name="T1" fmla="*/ 3 h 4"/>
                  <a:gd name="T2" fmla="*/ 5 w 6"/>
                  <a:gd name="T3" fmla="*/ 2 h 4"/>
                  <a:gd name="T4" fmla="*/ 2 w 6"/>
                  <a:gd name="T5" fmla="*/ 1 h 4"/>
                  <a:gd name="T6" fmla="*/ 2 w 6"/>
                  <a:gd name="T7" fmla="*/ 4 h 4"/>
                  <a:gd name="T8" fmla="*/ 5 w 6"/>
                  <a:gd name="T9" fmla="*/ 3 h 4"/>
                </a:gdLst>
                <a:ahLst/>
                <a:cxnLst>
                  <a:cxn ang="0">
                    <a:pos x="T0" y="T1"/>
                  </a:cxn>
                  <a:cxn ang="0">
                    <a:pos x="T2" y="T3"/>
                  </a:cxn>
                  <a:cxn ang="0">
                    <a:pos x="T4" y="T5"/>
                  </a:cxn>
                  <a:cxn ang="0">
                    <a:pos x="T6" y="T7"/>
                  </a:cxn>
                  <a:cxn ang="0">
                    <a:pos x="T8" y="T9"/>
                  </a:cxn>
                </a:cxnLst>
                <a:rect l="0" t="0" r="r" b="b"/>
                <a:pathLst>
                  <a:path w="6" h="4">
                    <a:moveTo>
                      <a:pt x="5" y="3"/>
                    </a:moveTo>
                    <a:cubicBezTo>
                      <a:pt x="6" y="4"/>
                      <a:pt x="6" y="3"/>
                      <a:pt x="5" y="2"/>
                    </a:cubicBezTo>
                    <a:cubicBezTo>
                      <a:pt x="3" y="1"/>
                      <a:pt x="3" y="0"/>
                      <a:pt x="2" y="1"/>
                    </a:cubicBezTo>
                    <a:cubicBezTo>
                      <a:pt x="2" y="1"/>
                      <a:pt x="0" y="4"/>
                      <a:pt x="2" y="4"/>
                    </a:cubicBezTo>
                    <a:cubicBezTo>
                      <a:pt x="4" y="3"/>
                      <a:pt x="5" y="3"/>
                      <a:pt x="5"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71" name="Freeform 782">
                <a:extLst>
                  <a:ext uri="{FF2B5EF4-FFF2-40B4-BE49-F238E27FC236}">
                    <a16:creationId xmlns:a16="http://schemas.microsoft.com/office/drawing/2014/main" id="{23CD8F3D-180F-4024-A0E7-D1B440CA8933}"/>
                  </a:ext>
                </a:extLst>
              </p:cNvPr>
              <p:cNvSpPr>
                <a:spLocks/>
              </p:cNvSpPr>
              <p:nvPr/>
            </p:nvSpPr>
            <p:spPr bwMode="auto">
              <a:xfrm>
                <a:off x="5662" y="2712"/>
                <a:ext cx="37" cy="35"/>
              </a:xfrm>
              <a:custGeom>
                <a:avLst/>
                <a:gdLst>
                  <a:gd name="T0" fmla="*/ 3 w 27"/>
                  <a:gd name="T1" fmla="*/ 6 h 25"/>
                  <a:gd name="T2" fmla="*/ 2 w 27"/>
                  <a:gd name="T3" fmla="*/ 8 h 25"/>
                  <a:gd name="T4" fmla="*/ 6 w 27"/>
                  <a:gd name="T5" fmla="*/ 9 h 25"/>
                  <a:gd name="T6" fmla="*/ 9 w 27"/>
                  <a:gd name="T7" fmla="*/ 9 h 25"/>
                  <a:gd name="T8" fmla="*/ 10 w 27"/>
                  <a:gd name="T9" fmla="*/ 11 h 25"/>
                  <a:gd name="T10" fmla="*/ 12 w 27"/>
                  <a:gd name="T11" fmla="*/ 14 h 25"/>
                  <a:gd name="T12" fmla="*/ 13 w 27"/>
                  <a:gd name="T13" fmla="*/ 17 h 25"/>
                  <a:gd name="T14" fmla="*/ 15 w 27"/>
                  <a:gd name="T15" fmla="*/ 20 h 25"/>
                  <a:gd name="T16" fmla="*/ 20 w 27"/>
                  <a:gd name="T17" fmla="*/ 23 h 25"/>
                  <a:gd name="T18" fmla="*/ 24 w 27"/>
                  <a:gd name="T19" fmla="*/ 24 h 25"/>
                  <a:gd name="T20" fmla="*/ 24 w 27"/>
                  <a:gd name="T21" fmla="*/ 22 h 25"/>
                  <a:gd name="T22" fmla="*/ 23 w 27"/>
                  <a:gd name="T23" fmla="*/ 19 h 25"/>
                  <a:gd name="T24" fmla="*/ 25 w 27"/>
                  <a:gd name="T25" fmla="*/ 16 h 25"/>
                  <a:gd name="T26" fmla="*/ 17 w 27"/>
                  <a:gd name="T27" fmla="*/ 10 h 25"/>
                  <a:gd name="T28" fmla="*/ 12 w 27"/>
                  <a:gd name="T29" fmla="*/ 0 h 25"/>
                  <a:gd name="T30" fmla="*/ 10 w 27"/>
                  <a:gd name="T31" fmla="*/ 2 h 25"/>
                  <a:gd name="T32" fmla="*/ 9 w 27"/>
                  <a:gd name="T33" fmla="*/ 1 h 25"/>
                  <a:gd name="T34" fmla="*/ 6 w 27"/>
                  <a:gd name="T35" fmla="*/ 1 h 25"/>
                  <a:gd name="T36" fmla="*/ 5 w 27"/>
                  <a:gd name="T37" fmla="*/ 3 h 25"/>
                  <a:gd name="T38" fmla="*/ 3 w 27"/>
                  <a:gd name="T39" fmla="*/ 6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5">
                    <a:moveTo>
                      <a:pt x="3" y="6"/>
                    </a:moveTo>
                    <a:cubicBezTo>
                      <a:pt x="3" y="6"/>
                      <a:pt x="0" y="8"/>
                      <a:pt x="2" y="8"/>
                    </a:cubicBezTo>
                    <a:cubicBezTo>
                      <a:pt x="4" y="9"/>
                      <a:pt x="5" y="9"/>
                      <a:pt x="6" y="9"/>
                    </a:cubicBezTo>
                    <a:cubicBezTo>
                      <a:pt x="8" y="9"/>
                      <a:pt x="8" y="9"/>
                      <a:pt x="9" y="9"/>
                    </a:cubicBezTo>
                    <a:cubicBezTo>
                      <a:pt x="9" y="9"/>
                      <a:pt x="10" y="10"/>
                      <a:pt x="10" y="11"/>
                    </a:cubicBezTo>
                    <a:cubicBezTo>
                      <a:pt x="11" y="13"/>
                      <a:pt x="11" y="13"/>
                      <a:pt x="12" y="14"/>
                    </a:cubicBezTo>
                    <a:cubicBezTo>
                      <a:pt x="13" y="14"/>
                      <a:pt x="13" y="15"/>
                      <a:pt x="13" y="17"/>
                    </a:cubicBezTo>
                    <a:cubicBezTo>
                      <a:pt x="13" y="18"/>
                      <a:pt x="13" y="20"/>
                      <a:pt x="15" y="20"/>
                    </a:cubicBezTo>
                    <a:cubicBezTo>
                      <a:pt x="16" y="20"/>
                      <a:pt x="19" y="22"/>
                      <a:pt x="20" y="23"/>
                    </a:cubicBezTo>
                    <a:cubicBezTo>
                      <a:pt x="21" y="23"/>
                      <a:pt x="24" y="25"/>
                      <a:pt x="24" y="24"/>
                    </a:cubicBezTo>
                    <a:cubicBezTo>
                      <a:pt x="25" y="23"/>
                      <a:pt x="25" y="23"/>
                      <a:pt x="24" y="22"/>
                    </a:cubicBezTo>
                    <a:cubicBezTo>
                      <a:pt x="23" y="21"/>
                      <a:pt x="22" y="20"/>
                      <a:pt x="23" y="19"/>
                    </a:cubicBezTo>
                    <a:cubicBezTo>
                      <a:pt x="25" y="18"/>
                      <a:pt x="27" y="16"/>
                      <a:pt x="25" y="16"/>
                    </a:cubicBezTo>
                    <a:cubicBezTo>
                      <a:pt x="23" y="16"/>
                      <a:pt x="18" y="17"/>
                      <a:pt x="17" y="10"/>
                    </a:cubicBezTo>
                    <a:cubicBezTo>
                      <a:pt x="15" y="2"/>
                      <a:pt x="14" y="0"/>
                      <a:pt x="12" y="0"/>
                    </a:cubicBezTo>
                    <a:cubicBezTo>
                      <a:pt x="9" y="0"/>
                      <a:pt x="10" y="1"/>
                      <a:pt x="10" y="2"/>
                    </a:cubicBezTo>
                    <a:cubicBezTo>
                      <a:pt x="10" y="4"/>
                      <a:pt x="10" y="3"/>
                      <a:pt x="9" y="1"/>
                    </a:cubicBezTo>
                    <a:cubicBezTo>
                      <a:pt x="7" y="0"/>
                      <a:pt x="6" y="1"/>
                      <a:pt x="6" y="1"/>
                    </a:cubicBezTo>
                    <a:cubicBezTo>
                      <a:pt x="5" y="2"/>
                      <a:pt x="4" y="2"/>
                      <a:pt x="5" y="3"/>
                    </a:cubicBezTo>
                    <a:cubicBezTo>
                      <a:pt x="5" y="4"/>
                      <a:pt x="5" y="5"/>
                      <a:pt x="3"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72" name="Freeform 783">
                <a:extLst>
                  <a:ext uri="{FF2B5EF4-FFF2-40B4-BE49-F238E27FC236}">
                    <a16:creationId xmlns:a16="http://schemas.microsoft.com/office/drawing/2014/main" id="{4E25FDF3-1FCA-4710-AD8F-F6B980CBD882}"/>
                  </a:ext>
                </a:extLst>
              </p:cNvPr>
              <p:cNvSpPr>
                <a:spLocks/>
              </p:cNvSpPr>
              <p:nvPr/>
            </p:nvSpPr>
            <p:spPr bwMode="auto">
              <a:xfrm>
                <a:off x="5670" y="2801"/>
                <a:ext cx="190" cy="62"/>
              </a:xfrm>
              <a:custGeom>
                <a:avLst/>
                <a:gdLst>
                  <a:gd name="T0" fmla="*/ 121 w 137"/>
                  <a:gd name="T1" fmla="*/ 39 h 45"/>
                  <a:gd name="T2" fmla="*/ 132 w 137"/>
                  <a:gd name="T3" fmla="*/ 42 h 45"/>
                  <a:gd name="T4" fmla="*/ 134 w 137"/>
                  <a:gd name="T5" fmla="*/ 42 h 45"/>
                  <a:gd name="T6" fmla="*/ 133 w 137"/>
                  <a:gd name="T7" fmla="*/ 31 h 45"/>
                  <a:gd name="T8" fmla="*/ 130 w 137"/>
                  <a:gd name="T9" fmla="*/ 28 h 45"/>
                  <a:gd name="T10" fmla="*/ 124 w 137"/>
                  <a:gd name="T11" fmla="*/ 27 h 45"/>
                  <a:gd name="T12" fmla="*/ 112 w 137"/>
                  <a:gd name="T13" fmla="*/ 27 h 45"/>
                  <a:gd name="T14" fmla="*/ 109 w 137"/>
                  <a:gd name="T15" fmla="*/ 24 h 45"/>
                  <a:gd name="T16" fmla="*/ 107 w 137"/>
                  <a:gd name="T17" fmla="*/ 21 h 45"/>
                  <a:gd name="T18" fmla="*/ 106 w 137"/>
                  <a:gd name="T19" fmla="*/ 16 h 45"/>
                  <a:gd name="T20" fmla="*/ 102 w 137"/>
                  <a:gd name="T21" fmla="*/ 16 h 45"/>
                  <a:gd name="T22" fmla="*/ 99 w 137"/>
                  <a:gd name="T23" fmla="*/ 15 h 45"/>
                  <a:gd name="T24" fmla="*/ 88 w 137"/>
                  <a:gd name="T25" fmla="*/ 13 h 45"/>
                  <a:gd name="T26" fmla="*/ 82 w 137"/>
                  <a:gd name="T27" fmla="*/ 9 h 45"/>
                  <a:gd name="T28" fmla="*/ 79 w 137"/>
                  <a:gd name="T29" fmla="*/ 9 h 45"/>
                  <a:gd name="T30" fmla="*/ 77 w 137"/>
                  <a:gd name="T31" fmla="*/ 13 h 45"/>
                  <a:gd name="T32" fmla="*/ 66 w 137"/>
                  <a:gd name="T33" fmla="*/ 16 h 45"/>
                  <a:gd name="T34" fmla="*/ 58 w 137"/>
                  <a:gd name="T35" fmla="*/ 15 h 45"/>
                  <a:gd name="T36" fmla="*/ 49 w 137"/>
                  <a:gd name="T37" fmla="*/ 14 h 45"/>
                  <a:gd name="T38" fmla="*/ 46 w 137"/>
                  <a:gd name="T39" fmla="*/ 12 h 45"/>
                  <a:gd name="T40" fmla="*/ 44 w 137"/>
                  <a:gd name="T41" fmla="*/ 8 h 45"/>
                  <a:gd name="T42" fmla="*/ 35 w 137"/>
                  <a:gd name="T43" fmla="*/ 6 h 45"/>
                  <a:gd name="T44" fmla="*/ 25 w 137"/>
                  <a:gd name="T45" fmla="*/ 2 h 45"/>
                  <a:gd name="T46" fmla="*/ 23 w 137"/>
                  <a:gd name="T47" fmla="*/ 2 h 45"/>
                  <a:gd name="T48" fmla="*/ 22 w 137"/>
                  <a:gd name="T49" fmla="*/ 4 h 45"/>
                  <a:gd name="T50" fmla="*/ 9 w 137"/>
                  <a:gd name="T51" fmla="*/ 1 h 45"/>
                  <a:gd name="T52" fmla="*/ 8 w 137"/>
                  <a:gd name="T53" fmla="*/ 2 h 45"/>
                  <a:gd name="T54" fmla="*/ 1 w 137"/>
                  <a:gd name="T55" fmla="*/ 12 h 45"/>
                  <a:gd name="T56" fmla="*/ 2 w 137"/>
                  <a:gd name="T57" fmla="*/ 14 h 45"/>
                  <a:gd name="T58" fmla="*/ 14 w 137"/>
                  <a:gd name="T59" fmla="*/ 17 h 45"/>
                  <a:gd name="T60" fmla="*/ 15 w 137"/>
                  <a:gd name="T61" fmla="*/ 21 h 45"/>
                  <a:gd name="T62" fmla="*/ 17 w 137"/>
                  <a:gd name="T63" fmla="*/ 23 h 45"/>
                  <a:gd name="T64" fmla="*/ 33 w 137"/>
                  <a:gd name="T65" fmla="*/ 27 h 45"/>
                  <a:gd name="T66" fmla="*/ 52 w 137"/>
                  <a:gd name="T67" fmla="*/ 27 h 45"/>
                  <a:gd name="T68" fmla="*/ 73 w 137"/>
                  <a:gd name="T69" fmla="*/ 33 h 45"/>
                  <a:gd name="T70" fmla="*/ 84 w 137"/>
                  <a:gd name="T71" fmla="*/ 35 h 45"/>
                  <a:gd name="T72" fmla="*/ 89 w 137"/>
                  <a:gd name="T73" fmla="*/ 36 h 45"/>
                  <a:gd name="T74" fmla="*/ 94 w 137"/>
                  <a:gd name="T75" fmla="*/ 36 h 45"/>
                  <a:gd name="T76" fmla="*/ 101 w 137"/>
                  <a:gd name="T77" fmla="*/ 37 h 45"/>
                  <a:gd name="T78" fmla="*/ 110 w 137"/>
                  <a:gd name="T79" fmla="*/ 38 h 45"/>
                  <a:gd name="T80" fmla="*/ 121 w 137"/>
                  <a:gd name="T8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7" h="45">
                    <a:moveTo>
                      <a:pt x="121" y="39"/>
                    </a:moveTo>
                    <a:cubicBezTo>
                      <a:pt x="124" y="40"/>
                      <a:pt x="131" y="42"/>
                      <a:pt x="132" y="42"/>
                    </a:cubicBezTo>
                    <a:cubicBezTo>
                      <a:pt x="134" y="43"/>
                      <a:pt x="137" y="45"/>
                      <a:pt x="134" y="42"/>
                    </a:cubicBezTo>
                    <a:cubicBezTo>
                      <a:pt x="131" y="40"/>
                      <a:pt x="132" y="34"/>
                      <a:pt x="133" y="31"/>
                    </a:cubicBezTo>
                    <a:cubicBezTo>
                      <a:pt x="134" y="29"/>
                      <a:pt x="130" y="28"/>
                      <a:pt x="130" y="28"/>
                    </a:cubicBezTo>
                    <a:cubicBezTo>
                      <a:pt x="130" y="28"/>
                      <a:pt x="128" y="25"/>
                      <a:pt x="124" y="27"/>
                    </a:cubicBezTo>
                    <a:cubicBezTo>
                      <a:pt x="120" y="28"/>
                      <a:pt x="114" y="28"/>
                      <a:pt x="112" y="27"/>
                    </a:cubicBezTo>
                    <a:cubicBezTo>
                      <a:pt x="109" y="26"/>
                      <a:pt x="109" y="25"/>
                      <a:pt x="109" y="24"/>
                    </a:cubicBezTo>
                    <a:cubicBezTo>
                      <a:pt x="109" y="23"/>
                      <a:pt x="109" y="22"/>
                      <a:pt x="107" y="21"/>
                    </a:cubicBezTo>
                    <a:cubicBezTo>
                      <a:pt x="106" y="20"/>
                      <a:pt x="106" y="19"/>
                      <a:pt x="106" y="16"/>
                    </a:cubicBezTo>
                    <a:cubicBezTo>
                      <a:pt x="106" y="14"/>
                      <a:pt x="103" y="15"/>
                      <a:pt x="102" y="16"/>
                    </a:cubicBezTo>
                    <a:cubicBezTo>
                      <a:pt x="102" y="16"/>
                      <a:pt x="100" y="16"/>
                      <a:pt x="99" y="15"/>
                    </a:cubicBezTo>
                    <a:cubicBezTo>
                      <a:pt x="98" y="15"/>
                      <a:pt x="91" y="14"/>
                      <a:pt x="88" y="13"/>
                    </a:cubicBezTo>
                    <a:cubicBezTo>
                      <a:pt x="84" y="12"/>
                      <a:pt x="84" y="10"/>
                      <a:pt x="82" y="9"/>
                    </a:cubicBezTo>
                    <a:cubicBezTo>
                      <a:pt x="81" y="8"/>
                      <a:pt x="80" y="8"/>
                      <a:pt x="79" y="9"/>
                    </a:cubicBezTo>
                    <a:cubicBezTo>
                      <a:pt x="78" y="9"/>
                      <a:pt x="79" y="8"/>
                      <a:pt x="77" y="13"/>
                    </a:cubicBezTo>
                    <a:cubicBezTo>
                      <a:pt x="75" y="18"/>
                      <a:pt x="70" y="16"/>
                      <a:pt x="66" y="16"/>
                    </a:cubicBezTo>
                    <a:cubicBezTo>
                      <a:pt x="63" y="15"/>
                      <a:pt x="59" y="15"/>
                      <a:pt x="58" y="15"/>
                    </a:cubicBezTo>
                    <a:cubicBezTo>
                      <a:pt x="56" y="15"/>
                      <a:pt x="50" y="14"/>
                      <a:pt x="49" y="14"/>
                    </a:cubicBezTo>
                    <a:cubicBezTo>
                      <a:pt x="47" y="14"/>
                      <a:pt x="47" y="13"/>
                      <a:pt x="46" y="12"/>
                    </a:cubicBezTo>
                    <a:cubicBezTo>
                      <a:pt x="46" y="11"/>
                      <a:pt x="46" y="10"/>
                      <a:pt x="44" y="8"/>
                    </a:cubicBezTo>
                    <a:cubicBezTo>
                      <a:pt x="42" y="5"/>
                      <a:pt x="39" y="6"/>
                      <a:pt x="35" y="6"/>
                    </a:cubicBezTo>
                    <a:cubicBezTo>
                      <a:pt x="31" y="6"/>
                      <a:pt x="28" y="4"/>
                      <a:pt x="25" y="2"/>
                    </a:cubicBezTo>
                    <a:cubicBezTo>
                      <a:pt x="23" y="0"/>
                      <a:pt x="23" y="1"/>
                      <a:pt x="23" y="2"/>
                    </a:cubicBezTo>
                    <a:cubicBezTo>
                      <a:pt x="23" y="3"/>
                      <a:pt x="23" y="4"/>
                      <a:pt x="22" y="4"/>
                    </a:cubicBezTo>
                    <a:cubicBezTo>
                      <a:pt x="20" y="3"/>
                      <a:pt x="11" y="2"/>
                      <a:pt x="9" y="1"/>
                    </a:cubicBezTo>
                    <a:cubicBezTo>
                      <a:pt x="8" y="0"/>
                      <a:pt x="8" y="2"/>
                      <a:pt x="8" y="2"/>
                    </a:cubicBezTo>
                    <a:cubicBezTo>
                      <a:pt x="7" y="5"/>
                      <a:pt x="2" y="11"/>
                      <a:pt x="1" y="12"/>
                    </a:cubicBezTo>
                    <a:cubicBezTo>
                      <a:pt x="0" y="14"/>
                      <a:pt x="1" y="14"/>
                      <a:pt x="2" y="14"/>
                    </a:cubicBezTo>
                    <a:cubicBezTo>
                      <a:pt x="3" y="14"/>
                      <a:pt x="12" y="16"/>
                      <a:pt x="14" y="17"/>
                    </a:cubicBezTo>
                    <a:cubicBezTo>
                      <a:pt x="17" y="18"/>
                      <a:pt x="16" y="21"/>
                      <a:pt x="15" y="21"/>
                    </a:cubicBezTo>
                    <a:cubicBezTo>
                      <a:pt x="14" y="22"/>
                      <a:pt x="15" y="23"/>
                      <a:pt x="17" y="23"/>
                    </a:cubicBezTo>
                    <a:cubicBezTo>
                      <a:pt x="18" y="23"/>
                      <a:pt x="25" y="22"/>
                      <a:pt x="33" y="27"/>
                    </a:cubicBezTo>
                    <a:cubicBezTo>
                      <a:pt x="42" y="31"/>
                      <a:pt x="47" y="27"/>
                      <a:pt x="52" y="27"/>
                    </a:cubicBezTo>
                    <a:cubicBezTo>
                      <a:pt x="57" y="28"/>
                      <a:pt x="69" y="30"/>
                      <a:pt x="73" y="33"/>
                    </a:cubicBezTo>
                    <a:cubicBezTo>
                      <a:pt x="78" y="35"/>
                      <a:pt x="83" y="35"/>
                      <a:pt x="84" y="35"/>
                    </a:cubicBezTo>
                    <a:cubicBezTo>
                      <a:pt x="84" y="35"/>
                      <a:pt x="85" y="35"/>
                      <a:pt x="89" y="36"/>
                    </a:cubicBezTo>
                    <a:cubicBezTo>
                      <a:pt x="93" y="38"/>
                      <a:pt x="93" y="36"/>
                      <a:pt x="94" y="36"/>
                    </a:cubicBezTo>
                    <a:cubicBezTo>
                      <a:pt x="95" y="36"/>
                      <a:pt x="99" y="36"/>
                      <a:pt x="101" y="37"/>
                    </a:cubicBezTo>
                    <a:cubicBezTo>
                      <a:pt x="103" y="37"/>
                      <a:pt x="107" y="39"/>
                      <a:pt x="110" y="38"/>
                    </a:cubicBezTo>
                    <a:cubicBezTo>
                      <a:pt x="113" y="37"/>
                      <a:pt x="118" y="37"/>
                      <a:pt x="121" y="3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73" name="Freeform 784">
                <a:extLst>
                  <a:ext uri="{FF2B5EF4-FFF2-40B4-BE49-F238E27FC236}">
                    <a16:creationId xmlns:a16="http://schemas.microsoft.com/office/drawing/2014/main" id="{5019E3A3-FB27-40D1-82AA-EB5B90A52F7D}"/>
                  </a:ext>
                </a:extLst>
              </p:cNvPr>
              <p:cNvSpPr>
                <a:spLocks/>
              </p:cNvSpPr>
              <p:nvPr/>
            </p:nvSpPr>
            <p:spPr bwMode="auto">
              <a:xfrm>
                <a:off x="5601" y="2788"/>
                <a:ext cx="8" cy="8"/>
              </a:xfrm>
              <a:custGeom>
                <a:avLst/>
                <a:gdLst>
                  <a:gd name="T0" fmla="*/ 2 w 6"/>
                  <a:gd name="T1" fmla="*/ 3 h 6"/>
                  <a:gd name="T2" fmla="*/ 4 w 6"/>
                  <a:gd name="T3" fmla="*/ 3 h 6"/>
                  <a:gd name="T4" fmla="*/ 2 w 6"/>
                  <a:gd name="T5" fmla="*/ 3 h 6"/>
                </a:gdLst>
                <a:ahLst/>
                <a:cxnLst>
                  <a:cxn ang="0">
                    <a:pos x="T0" y="T1"/>
                  </a:cxn>
                  <a:cxn ang="0">
                    <a:pos x="T2" y="T3"/>
                  </a:cxn>
                  <a:cxn ang="0">
                    <a:pos x="T4" y="T5"/>
                  </a:cxn>
                </a:cxnLst>
                <a:rect l="0" t="0" r="r" b="b"/>
                <a:pathLst>
                  <a:path w="6" h="6">
                    <a:moveTo>
                      <a:pt x="2" y="3"/>
                    </a:moveTo>
                    <a:cubicBezTo>
                      <a:pt x="2" y="3"/>
                      <a:pt x="6" y="6"/>
                      <a:pt x="4" y="3"/>
                    </a:cubicBezTo>
                    <a:cubicBezTo>
                      <a:pt x="2" y="0"/>
                      <a:pt x="0" y="2"/>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74" name="Freeform 785">
                <a:extLst>
                  <a:ext uri="{FF2B5EF4-FFF2-40B4-BE49-F238E27FC236}">
                    <a16:creationId xmlns:a16="http://schemas.microsoft.com/office/drawing/2014/main" id="{523BBB13-81E4-48BD-AAAA-E20EA09142F7}"/>
                  </a:ext>
                </a:extLst>
              </p:cNvPr>
              <p:cNvSpPr>
                <a:spLocks/>
              </p:cNvSpPr>
              <p:nvPr/>
            </p:nvSpPr>
            <p:spPr bwMode="auto">
              <a:xfrm>
                <a:off x="5598" y="2649"/>
                <a:ext cx="11" cy="7"/>
              </a:xfrm>
              <a:custGeom>
                <a:avLst/>
                <a:gdLst>
                  <a:gd name="T0" fmla="*/ 4 w 8"/>
                  <a:gd name="T1" fmla="*/ 1 h 5"/>
                  <a:gd name="T2" fmla="*/ 2 w 8"/>
                  <a:gd name="T3" fmla="*/ 2 h 5"/>
                  <a:gd name="T4" fmla="*/ 6 w 8"/>
                  <a:gd name="T5" fmla="*/ 4 h 5"/>
                  <a:gd name="T6" fmla="*/ 8 w 8"/>
                  <a:gd name="T7" fmla="*/ 3 h 5"/>
                  <a:gd name="T8" fmla="*/ 4 w 8"/>
                  <a:gd name="T9" fmla="*/ 1 h 5"/>
                </a:gdLst>
                <a:ahLst/>
                <a:cxnLst>
                  <a:cxn ang="0">
                    <a:pos x="T0" y="T1"/>
                  </a:cxn>
                  <a:cxn ang="0">
                    <a:pos x="T2" y="T3"/>
                  </a:cxn>
                  <a:cxn ang="0">
                    <a:pos x="T4" y="T5"/>
                  </a:cxn>
                  <a:cxn ang="0">
                    <a:pos x="T6" y="T7"/>
                  </a:cxn>
                  <a:cxn ang="0">
                    <a:pos x="T8" y="T9"/>
                  </a:cxn>
                </a:cxnLst>
                <a:rect l="0" t="0" r="r" b="b"/>
                <a:pathLst>
                  <a:path w="8" h="5">
                    <a:moveTo>
                      <a:pt x="4" y="1"/>
                    </a:moveTo>
                    <a:cubicBezTo>
                      <a:pt x="0" y="0"/>
                      <a:pt x="2" y="2"/>
                      <a:pt x="2" y="2"/>
                    </a:cubicBezTo>
                    <a:cubicBezTo>
                      <a:pt x="2" y="2"/>
                      <a:pt x="5" y="2"/>
                      <a:pt x="6" y="4"/>
                    </a:cubicBezTo>
                    <a:cubicBezTo>
                      <a:pt x="8" y="5"/>
                      <a:pt x="8" y="4"/>
                      <a:pt x="8" y="3"/>
                    </a:cubicBezTo>
                    <a:cubicBezTo>
                      <a:pt x="8" y="2"/>
                      <a:pt x="8" y="2"/>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75" name="Freeform 786">
                <a:extLst>
                  <a:ext uri="{FF2B5EF4-FFF2-40B4-BE49-F238E27FC236}">
                    <a16:creationId xmlns:a16="http://schemas.microsoft.com/office/drawing/2014/main" id="{681FD243-BA2A-475D-B33F-2A6A27C52D35}"/>
                  </a:ext>
                </a:extLst>
              </p:cNvPr>
              <p:cNvSpPr>
                <a:spLocks/>
              </p:cNvSpPr>
              <p:nvPr/>
            </p:nvSpPr>
            <p:spPr bwMode="auto">
              <a:xfrm>
                <a:off x="5601" y="2653"/>
                <a:ext cx="8" cy="13"/>
              </a:xfrm>
              <a:custGeom>
                <a:avLst/>
                <a:gdLst>
                  <a:gd name="T0" fmla="*/ 4 w 6"/>
                  <a:gd name="T1" fmla="*/ 6 h 9"/>
                  <a:gd name="T2" fmla="*/ 5 w 6"/>
                  <a:gd name="T3" fmla="*/ 4 h 9"/>
                  <a:gd name="T4" fmla="*/ 3 w 6"/>
                  <a:gd name="T5" fmla="*/ 0 h 9"/>
                  <a:gd name="T6" fmla="*/ 4 w 6"/>
                  <a:gd name="T7" fmla="*/ 6 h 9"/>
                </a:gdLst>
                <a:ahLst/>
                <a:cxnLst>
                  <a:cxn ang="0">
                    <a:pos x="T0" y="T1"/>
                  </a:cxn>
                  <a:cxn ang="0">
                    <a:pos x="T2" y="T3"/>
                  </a:cxn>
                  <a:cxn ang="0">
                    <a:pos x="T4" y="T5"/>
                  </a:cxn>
                  <a:cxn ang="0">
                    <a:pos x="T6" y="T7"/>
                  </a:cxn>
                </a:cxnLst>
                <a:rect l="0" t="0" r="r" b="b"/>
                <a:pathLst>
                  <a:path w="6" h="9">
                    <a:moveTo>
                      <a:pt x="4" y="6"/>
                    </a:moveTo>
                    <a:cubicBezTo>
                      <a:pt x="5" y="9"/>
                      <a:pt x="5" y="5"/>
                      <a:pt x="5" y="4"/>
                    </a:cubicBezTo>
                    <a:cubicBezTo>
                      <a:pt x="6" y="2"/>
                      <a:pt x="3" y="0"/>
                      <a:pt x="3" y="0"/>
                    </a:cubicBezTo>
                    <a:cubicBezTo>
                      <a:pt x="0" y="0"/>
                      <a:pt x="3" y="4"/>
                      <a:pt x="4"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76" name="Freeform 787">
                <a:extLst>
                  <a:ext uri="{FF2B5EF4-FFF2-40B4-BE49-F238E27FC236}">
                    <a16:creationId xmlns:a16="http://schemas.microsoft.com/office/drawing/2014/main" id="{BA6729B9-03D8-4375-A060-86521C11F08E}"/>
                  </a:ext>
                </a:extLst>
              </p:cNvPr>
              <p:cNvSpPr>
                <a:spLocks/>
              </p:cNvSpPr>
              <p:nvPr/>
            </p:nvSpPr>
            <p:spPr bwMode="auto">
              <a:xfrm>
                <a:off x="5608" y="2657"/>
                <a:ext cx="16" cy="9"/>
              </a:xfrm>
              <a:custGeom>
                <a:avLst/>
                <a:gdLst>
                  <a:gd name="T0" fmla="*/ 6 w 12"/>
                  <a:gd name="T1" fmla="*/ 6 h 6"/>
                  <a:gd name="T2" fmla="*/ 5 w 12"/>
                  <a:gd name="T3" fmla="*/ 4 h 6"/>
                  <a:gd name="T4" fmla="*/ 10 w 12"/>
                  <a:gd name="T5" fmla="*/ 5 h 6"/>
                  <a:gd name="T6" fmla="*/ 7 w 12"/>
                  <a:gd name="T7" fmla="*/ 2 h 6"/>
                  <a:gd name="T8" fmla="*/ 4 w 12"/>
                  <a:gd name="T9" fmla="*/ 2 h 6"/>
                  <a:gd name="T10" fmla="*/ 4 w 12"/>
                  <a:gd name="T11" fmla="*/ 3 h 6"/>
                  <a:gd name="T12" fmla="*/ 3 w 12"/>
                  <a:gd name="T13" fmla="*/ 2 h 6"/>
                  <a:gd name="T14" fmla="*/ 1 w 12"/>
                  <a:gd name="T15" fmla="*/ 4 h 6"/>
                  <a:gd name="T16" fmla="*/ 6 w 12"/>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6">
                    <a:moveTo>
                      <a:pt x="6" y="6"/>
                    </a:moveTo>
                    <a:cubicBezTo>
                      <a:pt x="9" y="6"/>
                      <a:pt x="8" y="5"/>
                      <a:pt x="5" y="4"/>
                    </a:cubicBezTo>
                    <a:cubicBezTo>
                      <a:pt x="2" y="3"/>
                      <a:pt x="7" y="4"/>
                      <a:pt x="10" y="5"/>
                    </a:cubicBezTo>
                    <a:cubicBezTo>
                      <a:pt x="12" y="6"/>
                      <a:pt x="9" y="3"/>
                      <a:pt x="7" y="2"/>
                    </a:cubicBezTo>
                    <a:cubicBezTo>
                      <a:pt x="4" y="0"/>
                      <a:pt x="4" y="2"/>
                      <a:pt x="4" y="2"/>
                    </a:cubicBezTo>
                    <a:cubicBezTo>
                      <a:pt x="4" y="2"/>
                      <a:pt x="4" y="3"/>
                      <a:pt x="4" y="3"/>
                    </a:cubicBezTo>
                    <a:cubicBezTo>
                      <a:pt x="4" y="2"/>
                      <a:pt x="3" y="2"/>
                      <a:pt x="3" y="2"/>
                    </a:cubicBezTo>
                    <a:cubicBezTo>
                      <a:pt x="1" y="0"/>
                      <a:pt x="3" y="2"/>
                      <a:pt x="1" y="4"/>
                    </a:cubicBezTo>
                    <a:cubicBezTo>
                      <a:pt x="0" y="6"/>
                      <a:pt x="2" y="6"/>
                      <a:pt x="6"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77" name="Freeform 788">
                <a:extLst>
                  <a:ext uri="{FF2B5EF4-FFF2-40B4-BE49-F238E27FC236}">
                    <a16:creationId xmlns:a16="http://schemas.microsoft.com/office/drawing/2014/main" id="{67702756-1CCC-4E5D-8185-D1D00EFA1691}"/>
                  </a:ext>
                </a:extLst>
              </p:cNvPr>
              <p:cNvSpPr>
                <a:spLocks/>
              </p:cNvSpPr>
              <p:nvPr/>
            </p:nvSpPr>
            <p:spPr bwMode="auto">
              <a:xfrm>
                <a:off x="5622" y="2668"/>
                <a:ext cx="4" cy="3"/>
              </a:xfrm>
              <a:custGeom>
                <a:avLst/>
                <a:gdLst>
                  <a:gd name="T0" fmla="*/ 2 w 3"/>
                  <a:gd name="T1" fmla="*/ 1 h 2"/>
                  <a:gd name="T2" fmla="*/ 2 w 3"/>
                  <a:gd name="T3" fmla="*/ 0 h 2"/>
                  <a:gd name="T4" fmla="*/ 1 w 3"/>
                  <a:gd name="T5" fmla="*/ 0 h 2"/>
                  <a:gd name="T6" fmla="*/ 2 w 3"/>
                  <a:gd name="T7" fmla="*/ 1 h 2"/>
                </a:gdLst>
                <a:ahLst/>
                <a:cxnLst>
                  <a:cxn ang="0">
                    <a:pos x="T0" y="T1"/>
                  </a:cxn>
                  <a:cxn ang="0">
                    <a:pos x="T2" y="T3"/>
                  </a:cxn>
                  <a:cxn ang="0">
                    <a:pos x="T4" y="T5"/>
                  </a:cxn>
                  <a:cxn ang="0">
                    <a:pos x="T6" y="T7"/>
                  </a:cxn>
                </a:cxnLst>
                <a:rect l="0" t="0" r="r" b="b"/>
                <a:pathLst>
                  <a:path w="3" h="2">
                    <a:moveTo>
                      <a:pt x="2" y="1"/>
                    </a:moveTo>
                    <a:cubicBezTo>
                      <a:pt x="3" y="1"/>
                      <a:pt x="3" y="0"/>
                      <a:pt x="2" y="0"/>
                    </a:cubicBezTo>
                    <a:cubicBezTo>
                      <a:pt x="2" y="0"/>
                      <a:pt x="1" y="0"/>
                      <a:pt x="1" y="0"/>
                    </a:cubicBezTo>
                    <a:cubicBezTo>
                      <a:pt x="0" y="1"/>
                      <a:pt x="1" y="2"/>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78" name="Freeform 789">
                <a:extLst>
                  <a:ext uri="{FF2B5EF4-FFF2-40B4-BE49-F238E27FC236}">
                    <a16:creationId xmlns:a16="http://schemas.microsoft.com/office/drawing/2014/main" id="{31884639-E597-4E2A-83A7-1FCD4083A493}"/>
                  </a:ext>
                </a:extLst>
              </p:cNvPr>
              <p:cNvSpPr>
                <a:spLocks/>
              </p:cNvSpPr>
              <p:nvPr/>
            </p:nvSpPr>
            <p:spPr bwMode="auto">
              <a:xfrm>
                <a:off x="5627" y="2663"/>
                <a:ext cx="3" cy="5"/>
              </a:xfrm>
              <a:custGeom>
                <a:avLst/>
                <a:gdLst>
                  <a:gd name="T0" fmla="*/ 1 w 2"/>
                  <a:gd name="T1" fmla="*/ 3 h 4"/>
                  <a:gd name="T2" fmla="*/ 0 w 2"/>
                  <a:gd name="T3" fmla="*/ 2 h 4"/>
                  <a:gd name="T4" fmla="*/ 1 w 2"/>
                  <a:gd name="T5" fmla="*/ 3 h 4"/>
                </a:gdLst>
                <a:ahLst/>
                <a:cxnLst>
                  <a:cxn ang="0">
                    <a:pos x="T0" y="T1"/>
                  </a:cxn>
                  <a:cxn ang="0">
                    <a:pos x="T2" y="T3"/>
                  </a:cxn>
                  <a:cxn ang="0">
                    <a:pos x="T4" y="T5"/>
                  </a:cxn>
                </a:cxnLst>
                <a:rect l="0" t="0" r="r" b="b"/>
                <a:pathLst>
                  <a:path w="2" h="4">
                    <a:moveTo>
                      <a:pt x="1" y="3"/>
                    </a:moveTo>
                    <a:cubicBezTo>
                      <a:pt x="2" y="3"/>
                      <a:pt x="0" y="0"/>
                      <a:pt x="0" y="2"/>
                    </a:cubicBezTo>
                    <a:cubicBezTo>
                      <a:pt x="0" y="2"/>
                      <a:pt x="0" y="4"/>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79" name="Freeform 790">
                <a:extLst>
                  <a:ext uri="{FF2B5EF4-FFF2-40B4-BE49-F238E27FC236}">
                    <a16:creationId xmlns:a16="http://schemas.microsoft.com/office/drawing/2014/main" id="{4CA44CE6-5E9D-4431-AC17-53BC76226DC9}"/>
                  </a:ext>
                </a:extLst>
              </p:cNvPr>
              <p:cNvSpPr>
                <a:spLocks/>
              </p:cNvSpPr>
              <p:nvPr/>
            </p:nvSpPr>
            <p:spPr bwMode="auto">
              <a:xfrm>
                <a:off x="5644" y="2656"/>
                <a:ext cx="11" cy="8"/>
              </a:xfrm>
              <a:custGeom>
                <a:avLst/>
                <a:gdLst>
                  <a:gd name="T0" fmla="*/ 4 w 8"/>
                  <a:gd name="T1" fmla="*/ 1 h 6"/>
                  <a:gd name="T2" fmla="*/ 3 w 8"/>
                  <a:gd name="T3" fmla="*/ 4 h 6"/>
                  <a:gd name="T4" fmla="*/ 4 w 8"/>
                  <a:gd name="T5" fmla="*/ 5 h 6"/>
                  <a:gd name="T6" fmla="*/ 6 w 8"/>
                  <a:gd name="T7" fmla="*/ 5 h 6"/>
                  <a:gd name="T8" fmla="*/ 7 w 8"/>
                  <a:gd name="T9" fmla="*/ 2 h 6"/>
                  <a:gd name="T10" fmla="*/ 4 w 8"/>
                  <a:gd name="T11" fmla="*/ 1 h 6"/>
                </a:gdLst>
                <a:ahLst/>
                <a:cxnLst>
                  <a:cxn ang="0">
                    <a:pos x="T0" y="T1"/>
                  </a:cxn>
                  <a:cxn ang="0">
                    <a:pos x="T2" y="T3"/>
                  </a:cxn>
                  <a:cxn ang="0">
                    <a:pos x="T4" y="T5"/>
                  </a:cxn>
                  <a:cxn ang="0">
                    <a:pos x="T6" y="T7"/>
                  </a:cxn>
                  <a:cxn ang="0">
                    <a:pos x="T8" y="T9"/>
                  </a:cxn>
                  <a:cxn ang="0">
                    <a:pos x="T10" y="T11"/>
                  </a:cxn>
                </a:cxnLst>
                <a:rect l="0" t="0" r="r" b="b"/>
                <a:pathLst>
                  <a:path w="8" h="6">
                    <a:moveTo>
                      <a:pt x="4" y="1"/>
                    </a:moveTo>
                    <a:cubicBezTo>
                      <a:pt x="3" y="2"/>
                      <a:pt x="0" y="2"/>
                      <a:pt x="3" y="4"/>
                    </a:cubicBezTo>
                    <a:cubicBezTo>
                      <a:pt x="3" y="4"/>
                      <a:pt x="4" y="4"/>
                      <a:pt x="4" y="5"/>
                    </a:cubicBezTo>
                    <a:cubicBezTo>
                      <a:pt x="4" y="6"/>
                      <a:pt x="5" y="6"/>
                      <a:pt x="6" y="5"/>
                    </a:cubicBezTo>
                    <a:cubicBezTo>
                      <a:pt x="7" y="4"/>
                      <a:pt x="8" y="4"/>
                      <a:pt x="7" y="2"/>
                    </a:cubicBezTo>
                    <a:cubicBezTo>
                      <a:pt x="6" y="1"/>
                      <a:pt x="5" y="0"/>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80" name="Freeform 791">
                <a:extLst>
                  <a:ext uri="{FF2B5EF4-FFF2-40B4-BE49-F238E27FC236}">
                    <a16:creationId xmlns:a16="http://schemas.microsoft.com/office/drawing/2014/main" id="{EE87825D-F905-4F41-9FA5-661095C96017}"/>
                  </a:ext>
                </a:extLst>
              </p:cNvPr>
              <p:cNvSpPr>
                <a:spLocks/>
              </p:cNvSpPr>
              <p:nvPr/>
            </p:nvSpPr>
            <p:spPr bwMode="auto">
              <a:xfrm>
                <a:off x="5637" y="2659"/>
                <a:ext cx="5" cy="2"/>
              </a:xfrm>
              <a:custGeom>
                <a:avLst/>
                <a:gdLst>
                  <a:gd name="T0" fmla="*/ 4 w 4"/>
                  <a:gd name="T1" fmla="*/ 1 h 2"/>
                  <a:gd name="T2" fmla="*/ 3 w 4"/>
                  <a:gd name="T3" fmla="*/ 0 h 2"/>
                  <a:gd name="T4" fmla="*/ 1 w 4"/>
                  <a:gd name="T5" fmla="*/ 1 h 2"/>
                  <a:gd name="T6" fmla="*/ 4 w 4"/>
                  <a:gd name="T7" fmla="*/ 1 h 2"/>
                </a:gdLst>
                <a:ahLst/>
                <a:cxnLst>
                  <a:cxn ang="0">
                    <a:pos x="T0" y="T1"/>
                  </a:cxn>
                  <a:cxn ang="0">
                    <a:pos x="T2" y="T3"/>
                  </a:cxn>
                  <a:cxn ang="0">
                    <a:pos x="T4" y="T5"/>
                  </a:cxn>
                  <a:cxn ang="0">
                    <a:pos x="T6" y="T7"/>
                  </a:cxn>
                </a:cxnLst>
                <a:rect l="0" t="0" r="r" b="b"/>
                <a:pathLst>
                  <a:path w="4" h="2">
                    <a:moveTo>
                      <a:pt x="4" y="1"/>
                    </a:moveTo>
                    <a:cubicBezTo>
                      <a:pt x="4" y="1"/>
                      <a:pt x="4" y="0"/>
                      <a:pt x="3" y="0"/>
                    </a:cubicBezTo>
                    <a:cubicBezTo>
                      <a:pt x="1" y="0"/>
                      <a:pt x="0" y="1"/>
                      <a:pt x="1" y="1"/>
                    </a:cubicBezTo>
                    <a:cubicBezTo>
                      <a:pt x="3" y="2"/>
                      <a:pt x="3" y="2"/>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81" name="Freeform 792">
                <a:extLst>
                  <a:ext uri="{FF2B5EF4-FFF2-40B4-BE49-F238E27FC236}">
                    <a16:creationId xmlns:a16="http://schemas.microsoft.com/office/drawing/2014/main" id="{3F94E366-F2C1-4443-BD63-F06F665D9896}"/>
                  </a:ext>
                </a:extLst>
              </p:cNvPr>
              <p:cNvSpPr>
                <a:spLocks/>
              </p:cNvSpPr>
              <p:nvPr/>
            </p:nvSpPr>
            <p:spPr bwMode="auto">
              <a:xfrm>
                <a:off x="5642" y="2663"/>
                <a:ext cx="4" cy="3"/>
              </a:xfrm>
              <a:custGeom>
                <a:avLst/>
                <a:gdLst>
                  <a:gd name="T0" fmla="*/ 2 w 3"/>
                  <a:gd name="T1" fmla="*/ 2 h 2"/>
                  <a:gd name="T2" fmla="*/ 1 w 3"/>
                  <a:gd name="T3" fmla="*/ 1 h 2"/>
                  <a:gd name="T4" fmla="*/ 2 w 3"/>
                  <a:gd name="T5" fmla="*/ 2 h 2"/>
                </a:gdLst>
                <a:ahLst/>
                <a:cxnLst>
                  <a:cxn ang="0">
                    <a:pos x="T0" y="T1"/>
                  </a:cxn>
                  <a:cxn ang="0">
                    <a:pos x="T2" y="T3"/>
                  </a:cxn>
                  <a:cxn ang="0">
                    <a:pos x="T4" y="T5"/>
                  </a:cxn>
                </a:cxnLst>
                <a:rect l="0" t="0" r="r" b="b"/>
                <a:pathLst>
                  <a:path w="3" h="2">
                    <a:moveTo>
                      <a:pt x="2" y="2"/>
                    </a:moveTo>
                    <a:cubicBezTo>
                      <a:pt x="3" y="1"/>
                      <a:pt x="0" y="0"/>
                      <a:pt x="1" y="1"/>
                    </a:cubicBezTo>
                    <a:cubicBezTo>
                      <a:pt x="1" y="1"/>
                      <a:pt x="2" y="2"/>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82" name="Freeform 793">
                <a:extLst>
                  <a:ext uri="{FF2B5EF4-FFF2-40B4-BE49-F238E27FC236}">
                    <a16:creationId xmlns:a16="http://schemas.microsoft.com/office/drawing/2014/main" id="{FC7BAA9A-A717-4A06-92AA-271B77EF2B9E}"/>
                  </a:ext>
                </a:extLst>
              </p:cNvPr>
              <p:cNvSpPr>
                <a:spLocks/>
              </p:cNvSpPr>
              <p:nvPr/>
            </p:nvSpPr>
            <p:spPr bwMode="auto">
              <a:xfrm>
                <a:off x="5586" y="2638"/>
                <a:ext cx="8" cy="10"/>
              </a:xfrm>
              <a:custGeom>
                <a:avLst/>
                <a:gdLst>
                  <a:gd name="T0" fmla="*/ 5 w 6"/>
                  <a:gd name="T1" fmla="*/ 5 h 7"/>
                  <a:gd name="T2" fmla="*/ 5 w 6"/>
                  <a:gd name="T3" fmla="*/ 2 h 7"/>
                  <a:gd name="T4" fmla="*/ 2 w 6"/>
                  <a:gd name="T5" fmla="*/ 2 h 7"/>
                  <a:gd name="T6" fmla="*/ 1 w 6"/>
                  <a:gd name="T7" fmla="*/ 5 h 7"/>
                  <a:gd name="T8" fmla="*/ 5 w 6"/>
                  <a:gd name="T9" fmla="*/ 5 h 7"/>
                </a:gdLst>
                <a:ahLst/>
                <a:cxnLst>
                  <a:cxn ang="0">
                    <a:pos x="T0" y="T1"/>
                  </a:cxn>
                  <a:cxn ang="0">
                    <a:pos x="T2" y="T3"/>
                  </a:cxn>
                  <a:cxn ang="0">
                    <a:pos x="T4" y="T5"/>
                  </a:cxn>
                  <a:cxn ang="0">
                    <a:pos x="T6" y="T7"/>
                  </a:cxn>
                  <a:cxn ang="0">
                    <a:pos x="T8" y="T9"/>
                  </a:cxn>
                </a:cxnLst>
                <a:rect l="0" t="0" r="r" b="b"/>
                <a:pathLst>
                  <a:path w="6" h="7">
                    <a:moveTo>
                      <a:pt x="5" y="5"/>
                    </a:moveTo>
                    <a:cubicBezTo>
                      <a:pt x="5" y="4"/>
                      <a:pt x="6" y="4"/>
                      <a:pt x="5" y="2"/>
                    </a:cubicBezTo>
                    <a:cubicBezTo>
                      <a:pt x="4" y="0"/>
                      <a:pt x="4" y="2"/>
                      <a:pt x="2" y="2"/>
                    </a:cubicBezTo>
                    <a:cubicBezTo>
                      <a:pt x="0" y="2"/>
                      <a:pt x="1" y="5"/>
                      <a:pt x="1" y="5"/>
                    </a:cubicBezTo>
                    <a:cubicBezTo>
                      <a:pt x="2" y="7"/>
                      <a:pt x="4" y="6"/>
                      <a:pt x="5"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83" name="Freeform 794">
                <a:extLst>
                  <a:ext uri="{FF2B5EF4-FFF2-40B4-BE49-F238E27FC236}">
                    <a16:creationId xmlns:a16="http://schemas.microsoft.com/office/drawing/2014/main" id="{707C923F-19DC-481A-B2A8-09CB0B24EDA7}"/>
                  </a:ext>
                </a:extLst>
              </p:cNvPr>
              <p:cNvSpPr>
                <a:spLocks/>
              </p:cNvSpPr>
              <p:nvPr/>
            </p:nvSpPr>
            <p:spPr bwMode="auto">
              <a:xfrm>
                <a:off x="5676" y="2620"/>
                <a:ext cx="2" cy="4"/>
              </a:xfrm>
              <a:custGeom>
                <a:avLst/>
                <a:gdLst>
                  <a:gd name="T0" fmla="*/ 1 w 2"/>
                  <a:gd name="T1" fmla="*/ 2 h 3"/>
                  <a:gd name="T2" fmla="*/ 1 w 2"/>
                  <a:gd name="T3" fmla="*/ 1 h 3"/>
                  <a:gd name="T4" fmla="*/ 0 w 2"/>
                  <a:gd name="T5" fmla="*/ 1 h 3"/>
                  <a:gd name="T6" fmla="*/ 1 w 2"/>
                  <a:gd name="T7" fmla="*/ 2 h 3"/>
                </a:gdLst>
                <a:ahLst/>
                <a:cxnLst>
                  <a:cxn ang="0">
                    <a:pos x="T0" y="T1"/>
                  </a:cxn>
                  <a:cxn ang="0">
                    <a:pos x="T2" y="T3"/>
                  </a:cxn>
                  <a:cxn ang="0">
                    <a:pos x="T4" y="T5"/>
                  </a:cxn>
                  <a:cxn ang="0">
                    <a:pos x="T6" y="T7"/>
                  </a:cxn>
                </a:cxnLst>
                <a:rect l="0" t="0" r="r" b="b"/>
                <a:pathLst>
                  <a:path w="2" h="3">
                    <a:moveTo>
                      <a:pt x="1" y="2"/>
                    </a:moveTo>
                    <a:cubicBezTo>
                      <a:pt x="2" y="1"/>
                      <a:pt x="2" y="1"/>
                      <a:pt x="1" y="1"/>
                    </a:cubicBezTo>
                    <a:cubicBezTo>
                      <a:pt x="0" y="0"/>
                      <a:pt x="0" y="0"/>
                      <a:pt x="0" y="1"/>
                    </a:cubicBezTo>
                    <a:cubicBezTo>
                      <a:pt x="0" y="1"/>
                      <a:pt x="0" y="3"/>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84" name="Freeform 795">
                <a:extLst>
                  <a:ext uri="{FF2B5EF4-FFF2-40B4-BE49-F238E27FC236}">
                    <a16:creationId xmlns:a16="http://schemas.microsoft.com/office/drawing/2014/main" id="{8927D5D9-F845-4CDA-8141-7C37B0AF5762}"/>
                  </a:ext>
                </a:extLst>
              </p:cNvPr>
              <p:cNvSpPr>
                <a:spLocks/>
              </p:cNvSpPr>
              <p:nvPr/>
            </p:nvSpPr>
            <p:spPr bwMode="auto">
              <a:xfrm>
                <a:off x="5721" y="2594"/>
                <a:ext cx="10" cy="14"/>
              </a:xfrm>
              <a:custGeom>
                <a:avLst/>
                <a:gdLst>
                  <a:gd name="T0" fmla="*/ 3 w 7"/>
                  <a:gd name="T1" fmla="*/ 9 h 10"/>
                  <a:gd name="T2" fmla="*/ 7 w 7"/>
                  <a:gd name="T3" fmla="*/ 7 h 10"/>
                  <a:gd name="T4" fmla="*/ 5 w 7"/>
                  <a:gd name="T5" fmla="*/ 3 h 10"/>
                  <a:gd name="T6" fmla="*/ 2 w 7"/>
                  <a:gd name="T7" fmla="*/ 3 h 10"/>
                  <a:gd name="T8" fmla="*/ 3 w 7"/>
                  <a:gd name="T9" fmla="*/ 7 h 10"/>
                  <a:gd name="T10" fmla="*/ 4 w 7"/>
                  <a:gd name="T11" fmla="*/ 9 h 10"/>
                  <a:gd name="T12" fmla="*/ 3 w 7"/>
                  <a:gd name="T13" fmla="*/ 9 h 10"/>
                </a:gdLst>
                <a:ahLst/>
                <a:cxnLst>
                  <a:cxn ang="0">
                    <a:pos x="T0" y="T1"/>
                  </a:cxn>
                  <a:cxn ang="0">
                    <a:pos x="T2" y="T3"/>
                  </a:cxn>
                  <a:cxn ang="0">
                    <a:pos x="T4" y="T5"/>
                  </a:cxn>
                  <a:cxn ang="0">
                    <a:pos x="T6" y="T7"/>
                  </a:cxn>
                  <a:cxn ang="0">
                    <a:pos x="T8" y="T9"/>
                  </a:cxn>
                  <a:cxn ang="0">
                    <a:pos x="T10" y="T11"/>
                  </a:cxn>
                  <a:cxn ang="0">
                    <a:pos x="T12" y="T13"/>
                  </a:cxn>
                </a:cxnLst>
                <a:rect l="0" t="0" r="r" b="b"/>
                <a:pathLst>
                  <a:path w="7" h="10">
                    <a:moveTo>
                      <a:pt x="3" y="9"/>
                    </a:moveTo>
                    <a:cubicBezTo>
                      <a:pt x="4" y="10"/>
                      <a:pt x="6" y="8"/>
                      <a:pt x="7" y="7"/>
                    </a:cubicBezTo>
                    <a:cubicBezTo>
                      <a:pt x="7" y="6"/>
                      <a:pt x="5" y="3"/>
                      <a:pt x="5" y="3"/>
                    </a:cubicBezTo>
                    <a:cubicBezTo>
                      <a:pt x="4" y="0"/>
                      <a:pt x="2" y="3"/>
                      <a:pt x="2" y="3"/>
                    </a:cubicBezTo>
                    <a:cubicBezTo>
                      <a:pt x="0" y="5"/>
                      <a:pt x="2" y="6"/>
                      <a:pt x="3" y="7"/>
                    </a:cubicBezTo>
                    <a:cubicBezTo>
                      <a:pt x="4" y="7"/>
                      <a:pt x="5" y="8"/>
                      <a:pt x="4" y="9"/>
                    </a:cubicBezTo>
                    <a:cubicBezTo>
                      <a:pt x="3" y="9"/>
                      <a:pt x="2" y="9"/>
                      <a:pt x="3"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85" name="Freeform 796">
                <a:extLst>
                  <a:ext uri="{FF2B5EF4-FFF2-40B4-BE49-F238E27FC236}">
                    <a16:creationId xmlns:a16="http://schemas.microsoft.com/office/drawing/2014/main" id="{27D9F62B-961F-4FC2-A832-44A2ED57BFD8}"/>
                  </a:ext>
                </a:extLst>
              </p:cNvPr>
              <p:cNvSpPr>
                <a:spLocks/>
              </p:cNvSpPr>
              <p:nvPr/>
            </p:nvSpPr>
            <p:spPr bwMode="auto">
              <a:xfrm>
                <a:off x="5738" y="2620"/>
                <a:ext cx="3" cy="4"/>
              </a:xfrm>
              <a:custGeom>
                <a:avLst/>
                <a:gdLst>
                  <a:gd name="T0" fmla="*/ 1 w 2"/>
                  <a:gd name="T1" fmla="*/ 1 h 3"/>
                  <a:gd name="T2" fmla="*/ 2 w 2"/>
                  <a:gd name="T3" fmla="*/ 2 h 3"/>
                  <a:gd name="T4" fmla="*/ 1 w 2"/>
                  <a:gd name="T5" fmla="*/ 1 h 3"/>
                </a:gdLst>
                <a:ahLst/>
                <a:cxnLst>
                  <a:cxn ang="0">
                    <a:pos x="T0" y="T1"/>
                  </a:cxn>
                  <a:cxn ang="0">
                    <a:pos x="T2" y="T3"/>
                  </a:cxn>
                  <a:cxn ang="0">
                    <a:pos x="T4" y="T5"/>
                  </a:cxn>
                </a:cxnLst>
                <a:rect l="0" t="0" r="r" b="b"/>
                <a:pathLst>
                  <a:path w="2" h="3">
                    <a:moveTo>
                      <a:pt x="1" y="1"/>
                    </a:moveTo>
                    <a:cubicBezTo>
                      <a:pt x="0" y="2"/>
                      <a:pt x="1" y="3"/>
                      <a:pt x="2" y="2"/>
                    </a:cubicBezTo>
                    <a:cubicBezTo>
                      <a:pt x="2" y="2"/>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86" name="Freeform 797">
                <a:extLst>
                  <a:ext uri="{FF2B5EF4-FFF2-40B4-BE49-F238E27FC236}">
                    <a16:creationId xmlns:a16="http://schemas.microsoft.com/office/drawing/2014/main" id="{DA02A4BE-698E-420E-84E5-58403E0C4E0B}"/>
                  </a:ext>
                </a:extLst>
              </p:cNvPr>
              <p:cNvSpPr>
                <a:spLocks/>
              </p:cNvSpPr>
              <p:nvPr/>
            </p:nvSpPr>
            <p:spPr bwMode="auto">
              <a:xfrm>
                <a:off x="5696" y="2741"/>
                <a:ext cx="3" cy="3"/>
              </a:xfrm>
              <a:custGeom>
                <a:avLst/>
                <a:gdLst>
                  <a:gd name="T0" fmla="*/ 1 w 2"/>
                  <a:gd name="T1" fmla="*/ 0 h 2"/>
                  <a:gd name="T2" fmla="*/ 1 w 2"/>
                  <a:gd name="T3" fmla="*/ 2 h 2"/>
                  <a:gd name="T4" fmla="*/ 1 w 2"/>
                  <a:gd name="T5" fmla="*/ 0 h 2"/>
                </a:gdLst>
                <a:ahLst/>
                <a:cxnLst>
                  <a:cxn ang="0">
                    <a:pos x="T0" y="T1"/>
                  </a:cxn>
                  <a:cxn ang="0">
                    <a:pos x="T2" y="T3"/>
                  </a:cxn>
                  <a:cxn ang="0">
                    <a:pos x="T4" y="T5"/>
                  </a:cxn>
                </a:cxnLst>
                <a:rect l="0" t="0" r="r" b="b"/>
                <a:pathLst>
                  <a:path w="2" h="2">
                    <a:moveTo>
                      <a:pt x="1" y="0"/>
                    </a:moveTo>
                    <a:cubicBezTo>
                      <a:pt x="1" y="0"/>
                      <a:pt x="0" y="1"/>
                      <a:pt x="1" y="2"/>
                    </a:cubicBezTo>
                    <a:cubicBezTo>
                      <a:pt x="2" y="2"/>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87" name="Freeform 798">
                <a:extLst>
                  <a:ext uri="{FF2B5EF4-FFF2-40B4-BE49-F238E27FC236}">
                    <a16:creationId xmlns:a16="http://schemas.microsoft.com/office/drawing/2014/main" id="{397C1D81-2690-46B0-8518-3C918562F1CC}"/>
                  </a:ext>
                </a:extLst>
              </p:cNvPr>
              <p:cNvSpPr>
                <a:spLocks/>
              </p:cNvSpPr>
              <p:nvPr/>
            </p:nvSpPr>
            <p:spPr bwMode="auto">
              <a:xfrm>
                <a:off x="5713" y="2733"/>
                <a:ext cx="16" cy="16"/>
              </a:xfrm>
              <a:custGeom>
                <a:avLst/>
                <a:gdLst>
                  <a:gd name="T0" fmla="*/ 1 w 12"/>
                  <a:gd name="T1" fmla="*/ 9 h 12"/>
                  <a:gd name="T2" fmla="*/ 3 w 12"/>
                  <a:gd name="T3" fmla="*/ 10 h 12"/>
                  <a:gd name="T4" fmla="*/ 6 w 12"/>
                  <a:gd name="T5" fmla="*/ 9 h 12"/>
                  <a:gd name="T6" fmla="*/ 9 w 12"/>
                  <a:gd name="T7" fmla="*/ 9 h 12"/>
                  <a:gd name="T8" fmla="*/ 10 w 12"/>
                  <a:gd name="T9" fmla="*/ 3 h 12"/>
                  <a:gd name="T10" fmla="*/ 2 w 12"/>
                  <a:gd name="T11" fmla="*/ 1 h 12"/>
                  <a:gd name="T12" fmla="*/ 1 w 12"/>
                  <a:gd name="T13" fmla="*/ 4 h 12"/>
                  <a:gd name="T14" fmla="*/ 1 w 12"/>
                  <a:gd name="T15" fmla="*/ 9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2">
                    <a:moveTo>
                      <a:pt x="1" y="9"/>
                    </a:moveTo>
                    <a:cubicBezTo>
                      <a:pt x="1" y="9"/>
                      <a:pt x="1" y="12"/>
                      <a:pt x="3" y="10"/>
                    </a:cubicBezTo>
                    <a:cubicBezTo>
                      <a:pt x="5" y="8"/>
                      <a:pt x="4" y="8"/>
                      <a:pt x="6" y="9"/>
                    </a:cubicBezTo>
                    <a:cubicBezTo>
                      <a:pt x="8" y="11"/>
                      <a:pt x="9" y="11"/>
                      <a:pt x="9" y="9"/>
                    </a:cubicBezTo>
                    <a:cubicBezTo>
                      <a:pt x="10" y="7"/>
                      <a:pt x="12" y="5"/>
                      <a:pt x="10" y="3"/>
                    </a:cubicBezTo>
                    <a:cubicBezTo>
                      <a:pt x="8" y="2"/>
                      <a:pt x="3" y="0"/>
                      <a:pt x="2" y="1"/>
                    </a:cubicBezTo>
                    <a:cubicBezTo>
                      <a:pt x="0" y="2"/>
                      <a:pt x="1" y="3"/>
                      <a:pt x="1" y="4"/>
                    </a:cubicBezTo>
                    <a:cubicBezTo>
                      <a:pt x="0" y="6"/>
                      <a:pt x="0" y="6"/>
                      <a:pt x="1"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88" name="Freeform 799">
                <a:extLst>
                  <a:ext uri="{FF2B5EF4-FFF2-40B4-BE49-F238E27FC236}">
                    <a16:creationId xmlns:a16="http://schemas.microsoft.com/office/drawing/2014/main" id="{1B2E9BF4-FA7A-47A2-AA53-A10816450652}"/>
                  </a:ext>
                </a:extLst>
              </p:cNvPr>
              <p:cNvSpPr>
                <a:spLocks/>
              </p:cNvSpPr>
              <p:nvPr/>
            </p:nvSpPr>
            <p:spPr bwMode="auto">
              <a:xfrm>
                <a:off x="5750" y="2701"/>
                <a:ext cx="10" cy="8"/>
              </a:xfrm>
              <a:custGeom>
                <a:avLst/>
                <a:gdLst>
                  <a:gd name="T0" fmla="*/ 1 w 7"/>
                  <a:gd name="T1" fmla="*/ 1 h 6"/>
                  <a:gd name="T2" fmla="*/ 4 w 7"/>
                  <a:gd name="T3" fmla="*/ 4 h 6"/>
                  <a:gd name="T4" fmla="*/ 5 w 7"/>
                  <a:gd name="T5" fmla="*/ 1 h 6"/>
                  <a:gd name="T6" fmla="*/ 1 w 7"/>
                  <a:gd name="T7" fmla="*/ 1 h 6"/>
                </a:gdLst>
                <a:ahLst/>
                <a:cxnLst>
                  <a:cxn ang="0">
                    <a:pos x="T0" y="T1"/>
                  </a:cxn>
                  <a:cxn ang="0">
                    <a:pos x="T2" y="T3"/>
                  </a:cxn>
                  <a:cxn ang="0">
                    <a:pos x="T4" y="T5"/>
                  </a:cxn>
                  <a:cxn ang="0">
                    <a:pos x="T6" y="T7"/>
                  </a:cxn>
                </a:cxnLst>
                <a:rect l="0" t="0" r="r" b="b"/>
                <a:pathLst>
                  <a:path w="7" h="6">
                    <a:moveTo>
                      <a:pt x="1" y="1"/>
                    </a:moveTo>
                    <a:cubicBezTo>
                      <a:pt x="1" y="3"/>
                      <a:pt x="0" y="6"/>
                      <a:pt x="4" y="4"/>
                    </a:cubicBezTo>
                    <a:cubicBezTo>
                      <a:pt x="4" y="4"/>
                      <a:pt x="7" y="2"/>
                      <a:pt x="5" y="1"/>
                    </a:cubicBezTo>
                    <a:cubicBezTo>
                      <a:pt x="2" y="0"/>
                      <a:pt x="1"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89" name="Freeform 800">
                <a:extLst>
                  <a:ext uri="{FF2B5EF4-FFF2-40B4-BE49-F238E27FC236}">
                    <a16:creationId xmlns:a16="http://schemas.microsoft.com/office/drawing/2014/main" id="{2945BA65-10E1-4E4F-9A33-B2889CE6EACC}"/>
                  </a:ext>
                </a:extLst>
              </p:cNvPr>
              <p:cNvSpPr>
                <a:spLocks/>
              </p:cNvSpPr>
              <p:nvPr/>
            </p:nvSpPr>
            <p:spPr bwMode="auto">
              <a:xfrm>
                <a:off x="5818" y="2822"/>
                <a:ext cx="33" cy="7"/>
              </a:xfrm>
              <a:custGeom>
                <a:avLst/>
                <a:gdLst>
                  <a:gd name="T0" fmla="*/ 17 w 24"/>
                  <a:gd name="T1" fmla="*/ 0 h 5"/>
                  <a:gd name="T2" fmla="*/ 9 w 24"/>
                  <a:gd name="T3" fmla="*/ 0 h 5"/>
                  <a:gd name="T4" fmla="*/ 1 w 24"/>
                  <a:gd name="T5" fmla="*/ 3 h 5"/>
                  <a:gd name="T6" fmla="*/ 1 w 24"/>
                  <a:gd name="T7" fmla="*/ 4 h 5"/>
                  <a:gd name="T8" fmla="*/ 8 w 24"/>
                  <a:gd name="T9" fmla="*/ 5 h 5"/>
                  <a:gd name="T10" fmla="*/ 21 w 24"/>
                  <a:gd name="T11" fmla="*/ 2 h 5"/>
                  <a:gd name="T12" fmla="*/ 17 w 24"/>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4" h="5">
                    <a:moveTo>
                      <a:pt x="17" y="0"/>
                    </a:moveTo>
                    <a:cubicBezTo>
                      <a:pt x="16" y="0"/>
                      <a:pt x="14" y="1"/>
                      <a:pt x="9" y="0"/>
                    </a:cubicBezTo>
                    <a:cubicBezTo>
                      <a:pt x="4" y="0"/>
                      <a:pt x="3" y="1"/>
                      <a:pt x="1" y="3"/>
                    </a:cubicBezTo>
                    <a:cubicBezTo>
                      <a:pt x="0" y="4"/>
                      <a:pt x="1" y="4"/>
                      <a:pt x="1" y="4"/>
                    </a:cubicBezTo>
                    <a:cubicBezTo>
                      <a:pt x="1" y="4"/>
                      <a:pt x="7" y="5"/>
                      <a:pt x="8" y="5"/>
                    </a:cubicBezTo>
                    <a:cubicBezTo>
                      <a:pt x="10" y="5"/>
                      <a:pt x="17" y="4"/>
                      <a:pt x="21" y="2"/>
                    </a:cubicBezTo>
                    <a:cubicBezTo>
                      <a:pt x="24" y="0"/>
                      <a:pt x="18" y="0"/>
                      <a:pt x="17"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90" name="Freeform 801">
                <a:extLst>
                  <a:ext uri="{FF2B5EF4-FFF2-40B4-BE49-F238E27FC236}">
                    <a16:creationId xmlns:a16="http://schemas.microsoft.com/office/drawing/2014/main" id="{6EC1A865-C7B0-4280-8F78-E53192629669}"/>
                  </a:ext>
                </a:extLst>
              </p:cNvPr>
              <p:cNvSpPr>
                <a:spLocks/>
              </p:cNvSpPr>
              <p:nvPr/>
            </p:nvSpPr>
            <p:spPr bwMode="auto">
              <a:xfrm>
                <a:off x="5854" y="2847"/>
                <a:ext cx="28" cy="19"/>
              </a:xfrm>
              <a:custGeom>
                <a:avLst/>
                <a:gdLst>
                  <a:gd name="T0" fmla="*/ 18 w 20"/>
                  <a:gd name="T1" fmla="*/ 3 h 14"/>
                  <a:gd name="T2" fmla="*/ 10 w 20"/>
                  <a:gd name="T3" fmla="*/ 0 h 14"/>
                  <a:gd name="T4" fmla="*/ 2 w 20"/>
                  <a:gd name="T5" fmla="*/ 1 h 14"/>
                  <a:gd name="T6" fmla="*/ 1 w 20"/>
                  <a:gd name="T7" fmla="*/ 3 h 14"/>
                  <a:gd name="T8" fmla="*/ 7 w 20"/>
                  <a:gd name="T9" fmla="*/ 6 h 14"/>
                  <a:gd name="T10" fmla="*/ 10 w 20"/>
                  <a:gd name="T11" fmla="*/ 11 h 14"/>
                  <a:gd name="T12" fmla="*/ 12 w 20"/>
                  <a:gd name="T13" fmla="*/ 9 h 14"/>
                  <a:gd name="T14" fmla="*/ 18 w 20"/>
                  <a:gd name="T15" fmla="*/ 6 h 14"/>
                  <a:gd name="T16" fmla="*/ 18 w 20"/>
                  <a:gd name="T17"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4">
                    <a:moveTo>
                      <a:pt x="18" y="3"/>
                    </a:moveTo>
                    <a:cubicBezTo>
                      <a:pt x="16" y="2"/>
                      <a:pt x="12" y="0"/>
                      <a:pt x="10" y="0"/>
                    </a:cubicBezTo>
                    <a:cubicBezTo>
                      <a:pt x="8" y="0"/>
                      <a:pt x="4" y="0"/>
                      <a:pt x="2" y="1"/>
                    </a:cubicBezTo>
                    <a:cubicBezTo>
                      <a:pt x="0" y="2"/>
                      <a:pt x="1" y="3"/>
                      <a:pt x="1" y="3"/>
                    </a:cubicBezTo>
                    <a:cubicBezTo>
                      <a:pt x="2" y="4"/>
                      <a:pt x="5" y="5"/>
                      <a:pt x="7" y="6"/>
                    </a:cubicBezTo>
                    <a:cubicBezTo>
                      <a:pt x="9" y="6"/>
                      <a:pt x="10" y="7"/>
                      <a:pt x="10" y="11"/>
                    </a:cubicBezTo>
                    <a:cubicBezTo>
                      <a:pt x="10" y="14"/>
                      <a:pt x="12" y="11"/>
                      <a:pt x="12" y="9"/>
                    </a:cubicBezTo>
                    <a:cubicBezTo>
                      <a:pt x="13" y="8"/>
                      <a:pt x="16" y="7"/>
                      <a:pt x="18" y="6"/>
                    </a:cubicBezTo>
                    <a:cubicBezTo>
                      <a:pt x="19" y="5"/>
                      <a:pt x="20" y="5"/>
                      <a:pt x="18"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91" name="Freeform 802">
                <a:extLst>
                  <a:ext uri="{FF2B5EF4-FFF2-40B4-BE49-F238E27FC236}">
                    <a16:creationId xmlns:a16="http://schemas.microsoft.com/office/drawing/2014/main" id="{778CA209-F767-4E5D-A380-8105701CB301}"/>
                  </a:ext>
                </a:extLst>
              </p:cNvPr>
              <p:cNvSpPr>
                <a:spLocks/>
              </p:cNvSpPr>
              <p:nvPr/>
            </p:nvSpPr>
            <p:spPr bwMode="auto">
              <a:xfrm>
                <a:off x="5871" y="2822"/>
                <a:ext cx="5" cy="3"/>
              </a:xfrm>
              <a:custGeom>
                <a:avLst/>
                <a:gdLst>
                  <a:gd name="T0" fmla="*/ 3 w 4"/>
                  <a:gd name="T1" fmla="*/ 2 h 2"/>
                  <a:gd name="T2" fmla="*/ 2 w 4"/>
                  <a:gd name="T3" fmla="*/ 0 h 2"/>
                  <a:gd name="T4" fmla="*/ 0 w 4"/>
                  <a:gd name="T5" fmla="*/ 1 h 2"/>
                  <a:gd name="T6" fmla="*/ 3 w 4"/>
                  <a:gd name="T7" fmla="*/ 2 h 2"/>
                </a:gdLst>
                <a:ahLst/>
                <a:cxnLst>
                  <a:cxn ang="0">
                    <a:pos x="T0" y="T1"/>
                  </a:cxn>
                  <a:cxn ang="0">
                    <a:pos x="T2" y="T3"/>
                  </a:cxn>
                  <a:cxn ang="0">
                    <a:pos x="T4" y="T5"/>
                  </a:cxn>
                  <a:cxn ang="0">
                    <a:pos x="T6" y="T7"/>
                  </a:cxn>
                </a:cxnLst>
                <a:rect l="0" t="0" r="r" b="b"/>
                <a:pathLst>
                  <a:path w="4" h="2">
                    <a:moveTo>
                      <a:pt x="3" y="2"/>
                    </a:moveTo>
                    <a:cubicBezTo>
                      <a:pt x="4" y="1"/>
                      <a:pt x="4" y="0"/>
                      <a:pt x="2" y="0"/>
                    </a:cubicBezTo>
                    <a:cubicBezTo>
                      <a:pt x="2" y="0"/>
                      <a:pt x="0" y="0"/>
                      <a:pt x="0" y="1"/>
                    </a:cubicBezTo>
                    <a:cubicBezTo>
                      <a:pt x="1" y="2"/>
                      <a:pt x="2" y="2"/>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92" name="Freeform 803">
                <a:extLst>
                  <a:ext uri="{FF2B5EF4-FFF2-40B4-BE49-F238E27FC236}">
                    <a16:creationId xmlns:a16="http://schemas.microsoft.com/office/drawing/2014/main" id="{B61032BA-14BE-4999-95D3-4321D5BC3CEA}"/>
                  </a:ext>
                </a:extLst>
              </p:cNvPr>
              <p:cNvSpPr>
                <a:spLocks/>
              </p:cNvSpPr>
              <p:nvPr/>
            </p:nvSpPr>
            <p:spPr bwMode="auto">
              <a:xfrm>
                <a:off x="5883" y="2851"/>
                <a:ext cx="21" cy="14"/>
              </a:xfrm>
              <a:custGeom>
                <a:avLst/>
                <a:gdLst>
                  <a:gd name="T0" fmla="*/ 2 w 15"/>
                  <a:gd name="T1" fmla="*/ 9 h 10"/>
                  <a:gd name="T2" fmla="*/ 5 w 15"/>
                  <a:gd name="T3" fmla="*/ 9 h 10"/>
                  <a:gd name="T4" fmla="*/ 7 w 15"/>
                  <a:gd name="T5" fmla="*/ 10 h 10"/>
                  <a:gd name="T6" fmla="*/ 9 w 15"/>
                  <a:gd name="T7" fmla="*/ 9 h 10"/>
                  <a:gd name="T8" fmla="*/ 10 w 15"/>
                  <a:gd name="T9" fmla="*/ 9 h 10"/>
                  <a:gd name="T10" fmla="*/ 11 w 15"/>
                  <a:gd name="T11" fmla="*/ 7 h 10"/>
                  <a:gd name="T12" fmla="*/ 11 w 15"/>
                  <a:gd name="T13" fmla="*/ 0 h 10"/>
                  <a:gd name="T14" fmla="*/ 4 w 15"/>
                  <a:gd name="T15" fmla="*/ 4 h 10"/>
                  <a:gd name="T16" fmla="*/ 2 w 15"/>
                  <a:gd name="T17" fmla="*/ 7 h 10"/>
                  <a:gd name="T18" fmla="*/ 2 w 15"/>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0">
                    <a:moveTo>
                      <a:pt x="2" y="9"/>
                    </a:moveTo>
                    <a:cubicBezTo>
                      <a:pt x="3" y="9"/>
                      <a:pt x="4" y="9"/>
                      <a:pt x="5" y="9"/>
                    </a:cubicBezTo>
                    <a:cubicBezTo>
                      <a:pt x="5" y="9"/>
                      <a:pt x="6" y="10"/>
                      <a:pt x="7" y="10"/>
                    </a:cubicBezTo>
                    <a:cubicBezTo>
                      <a:pt x="8" y="10"/>
                      <a:pt x="9" y="10"/>
                      <a:pt x="9" y="9"/>
                    </a:cubicBezTo>
                    <a:cubicBezTo>
                      <a:pt x="9" y="8"/>
                      <a:pt x="9" y="8"/>
                      <a:pt x="10" y="9"/>
                    </a:cubicBezTo>
                    <a:cubicBezTo>
                      <a:pt x="11" y="9"/>
                      <a:pt x="10" y="8"/>
                      <a:pt x="11" y="7"/>
                    </a:cubicBezTo>
                    <a:cubicBezTo>
                      <a:pt x="11" y="6"/>
                      <a:pt x="15" y="1"/>
                      <a:pt x="11" y="0"/>
                    </a:cubicBezTo>
                    <a:cubicBezTo>
                      <a:pt x="8" y="0"/>
                      <a:pt x="3" y="0"/>
                      <a:pt x="4" y="4"/>
                    </a:cubicBezTo>
                    <a:cubicBezTo>
                      <a:pt x="4" y="4"/>
                      <a:pt x="4" y="6"/>
                      <a:pt x="2" y="7"/>
                    </a:cubicBezTo>
                    <a:cubicBezTo>
                      <a:pt x="0" y="8"/>
                      <a:pt x="0" y="8"/>
                      <a:pt x="2"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93" name="Freeform 804">
                <a:extLst>
                  <a:ext uri="{FF2B5EF4-FFF2-40B4-BE49-F238E27FC236}">
                    <a16:creationId xmlns:a16="http://schemas.microsoft.com/office/drawing/2014/main" id="{1E42E072-242B-4FC1-8B7F-91171313323B}"/>
                  </a:ext>
                </a:extLst>
              </p:cNvPr>
              <p:cNvSpPr>
                <a:spLocks/>
              </p:cNvSpPr>
              <p:nvPr/>
            </p:nvSpPr>
            <p:spPr bwMode="auto">
              <a:xfrm>
                <a:off x="5876" y="2858"/>
                <a:ext cx="3" cy="4"/>
              </a:xfrm>
              <a:custGeom>
                <a:avLst/>
                <a:gdLst>
                  <a:gd name="T0" fmla="*/ 1 w 2"/>
                  <a:gd name="T1" fmla="*/ 2 h 3"/>
                  <a:gd name="T2" fmla="*/ 2 w 2"/>
                  <a:gd name="T3" fmla="*/ 2 h 3"/>
                  <a:gd name="T4" fmla="*/ 1 w 2"/>
                  <a:gd name="T5" fmla="*/ 2 h 3"/>
                </a:gdLst>
                <a:ahLst/>
                <a:cxnLst>
                  <a:cxn ang="0">
                    <a:pos x="T0" y="T1"/>
                  </a:cxn>
                  <a:cxn ang="0">
                    <a:pos x="T2" y="T3"/>
                  </a:cxn>
                  <a:cxn ang="0">
                    <a:pos x="T4" y="T5"/>
                  </a:cxn>
                </a:cxnLst>
                <a:rect l="0" t="0" r="r" b="b"/>
                <a:pathLst>
                  <a:path w="2" h="3">
                    <a:moveTo>
                      <a:pt x="1" y="2"/>
                    </a:moveTo>
                    <a:cubicBezTo>
                      <a:pt x="1" y="3"/>
                      <a:pt x="2" y="3"/>
                      <a:pt x="2" y="2"/>
                    </a:cubicBezTo>
                    <a:cubicBezTo>
                      <a:pt x="2" y="2"/>
                      <a:pt x="0"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94" name="Freeform 805">
                <a:extLst>
                  <a:ext uri="{FF2B5EF4-FFF2-40B4-BE49-F238E27FC236}">
                    <a16:creationId xmlns:a16="http://schemas.microsoft.com/office/drawing/2014/main" id="{0140E921-FB33-4FF0-9C58-8D8FF9457061}"/>
                  </a:ext>
                </a:extLst>
              </p:cNvPr>
              <p:cNvSpPr>
                <a:spLocks/>
              </p:cNvSpPr>
              <p:nvPr/>
            </p:nvSpPr>
            <p:spPr bwMode="auto">
              <a:xfrm>
                <a:off x="5902" y="2847"/>
                <a:ext cx="50" cy="22"/>
              </a:xfrm>
              <a:custGeom>
                <a:avLst/>
                <a:gdLst>
                  <a:gd name="T0" fmla="*/ 1 w 36"/>
                  <a:gd name="T1" fmla="*/ 15 h 16"/>
                  <a:gd name="T2" fmla="*/ 6 w 36"/>
                  <a:gd name="T3" fmla="*/ 15 h 16"/>
                  <a:gd name="T4" fmla="*/ 23 w 36"/>
                  <a:gd name="T5" fmla="*/ 9 h 16"/>
                  <a:gd name="T6" fmla="*/ 24 w 36"/>
                  <a:gd name="T7" fmla="*/ 9 h 16"/>
                  <a:gd name="T8" fmla="*/ 26 w 36"/>
                  <a:gd name="T9" fmla="*/ 12 h 16"/>
                  <a:gd name="T10" fmla="*/ 34 w 36"/>
                  <a:gd name="T11" fmla="*/ 11 h 16"/>
                  <a:gd name="T12" fmla="*/ 36 w 36"/>
                  <a:gd name="T13" fmla="*/ 9 h 16"/>
                  <a:gd name="T14" fmla="*/ 35 w 36"/>
                  <a:gd name="T15" fmla="*/ 8 h 16"/>
                  <a:gd name="T16" fmla="*/ 34 w 36"/>
                  <a:gd name="T17" fmla="*/ 6 h 16"/>
                  <a:gd name="T18" fmla="*/ 32 w 36"/>
                  <a:gd name="T19" fmla="*/ 4 h 16"/>
                  <a:gd name="T20" fmla="*/ 29 w 36"/>
                  <a:gd name="T21" fmla="*/ 5 h 16"/>
                  <a:gd name="T22" fmla="*/ 28 w 36"/>
                  <a:gd name="T23" fmla="*/ 5 h 16"/>
                  <a:gd name="T24" fmla="*/ 23 w 36"/>
                  <a:gd name="T25" fmla="*/ 4 h 16"/>
                  <a:gd name="T26" fmla="*/ 22 w 36"/>
                  <a:gd name="T27" fmla="*/ 4 h 16"/>
                  <a:gd name="T28" fmla="*/ 16 w 36"/>
                  <a:gd name="T29" fmla="*/ 1 h 16"/>
                  <a:gd name="T30" fmla="*/ 16 w 36"/>
                  <a:gd name="T31" fmla="*/ 5 h 16"/>
                  <a:gd name="T32" fmla="*/ 21 w 36"/>
                  <a:gd name="T33" fmla="*/ 7 h 16"/>
                  <a:gd name="T34" fmla="*/ 20 w 36"/>
                  <a:gd name="T35" fmla="*/ 9 h 16"/>
                  <a:gd name="T36" fmla="*/ 15 w 36"/>
                  <a:gd name="T37" fmla="*/ 9 h 16"/>
                  <a:gd name="T38" fmla="*/ 13 w 36"/>
                  <a:gd name="T39" fmla="*/ 8 h 16"/>
                  <a:gd name="T40" fmla="*/ 4 w 36"/>
                  <a:gd name="T41" fmla="*/ 5 h 16"/>
                  <a:gd name="T42" fmla="*/ 0 w 36"/>
                  <a:gd name="T43" fmla="*/ 13 h 16"/>
                  <a:gd name="T44" fmla="*/ 1 w 36"/>
                  <a:gd name="T45"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16">
                    <a:moveTo>
                      <a:pt x="1" y="15"/>
                    </a:moveTo>
                    <a:cubicBezTo>
                      <a:pt x="3" y="15"/>
                      <a:pt x="4" y="16"/>
                      <a:pt x="6" y="15"/>
                    </a:cubicBezTo>
                    <a:cubicBezTo>
                      <a:pt x="8" y="15"/>
                      <a:pt x="20" y="13"/>
                      <a:pt x="23" y="9"/>
                    </a:cubicBezTo>
                    <a:cubicBezTo>
                      <a:pt x="23" y="9"/>
                      <a:pt x="24" y="7"/>
                      <a:pt x="24" y="9"/>
                    </a:cubicBezTo>
                    <a:cubicBezTo>
                      <a:pt x="25" y="11"/>
                      <a:pt x="25" y="12"/>
                      <a:pt x="26" y="12"/>
                    </a:cubicBezTo>
                    <a:cubicBezTo>
                      <a:pt x="28" y="12"/>
                      <a:pt x="33" y="11"/>
                      <a:pt x="34" y="11"/>
                    </a:cubicBezTo>
                    <a:cubicBezTo>
                      <a:pt x="35" y="11"/>
                      <a:pt x="36" y="10"/>
                      <a:pt x="36" y="9"/>
                    </a:cubicBezTo>
                    <a:cubicBezTo>
                      <a:pt x="36" y="9"/>
                      <a:pt x="36" y="7"/>
                      <a:pt x="35" y="8"/>
                    </a:cubicBezTo>
                    <a:cubicBezTo>
                      <a:pt x="34" y="9"/>
                      <a:pt x="33" y="9"/>
                      <a:pt x="34" y="6"/>
                    </a:cubicBezTo>
                    <a:cubicBezTo>
                      <a:pt x="34" y="4"/>
                      <a:pt x="33" y="4"/>
                      <a:pt x="32" y="4"/>
                    </a:cubicBezTo>
                    <a:cubicBezTo>
                      <a:pt x="30" y="4"/>
                      <a:pt x="29" y="4"/>
                      <a:pt x="29" y="5"/>
                    </a:cubicBezTo>
                    <a:cubicBezTo>
                      <a:pt x="29" y="6"/>
                      <a:pt x="29" y="6"/>
                      <a:pt x="28" y="5"/>
                    </a:cubicBezTo>
                    <a:cubicBezTo>
                      <a:pt x="28" y="3"/>
                      <a:pt x="25" y="3"/>
                      <a:pt x="23" y="4"/>
                    </a:cubicBezTo>
                    <a:cubicBezTo>
                      <a:pt x="23" y="4"/>
                      <a:pt x="23" y="4"/>
                      <a:pt x="22" y="4"/>
                    </a:cubicBezTo>
                    <a:cubicBezTo>
                      <a:pt x="21" y="3"/>
                      <a:pt x="19" y="0"/>
                      <a:pt x="16" y="1"/>
                    </a:cubicBezTo>
                    <a:cubicBezTo>
                      <a:pt x="14" y="1"/>
                      <a:pt x="16" y="3"/>
                      <a:pt x="16" y="5"/>
                    </a:cubicBezTo>
                    <a:cubicBezTo>
                      <a:pt x="17" y="6"/>
                      <a:pt x="19" y="6"/>
                      <a:pt x="21" y="7"/>
                    </a:cubicBezTo>
                    <a:cubicBezTo>
                      <a:pt x="22" y="8"/>
                      <a:pt x="22" y="9"/>
                      <a:pt x="20" y="9"/>
                    </a:cubicBezTo>
                    <a:cubicBezTo>
                      <a:pt x="17" y="9"/>
                      <a:pt x="17" y="10"/>
                      <a:pt x="15" y="9"/>
                    </a:cubicBezTo>
                    <a:cubicBezTo>
                      <a:pt x="14" y="9"/>
                      <a:pt x="14" y="9"/>
                      <a:pt x="13" y="8"/>
                    </a:cubicBezTo>
                    <a:cubicBezTo>
                      <a:pt x="11" y="7"/>
                      <a:pt x="7" y="3"/>
                      <a:pt x="4" y="5"/>
                    </a:cubicBezTo>
                    <a:cubicBezTo>
                      <a:pt x="2" y="7"/>
                      <a:pt x="0" y="7"/>
                      <a:pt x="0" y="13"/>
                    </a:cubicBezTo>
                    <a:cubicBezTo>
                      <a:pt x="0" y="13"/>
                      <a:pt x="0" y="14"/>
                      <a:pt x="1" y="1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95" name="Freeform 806">
                <a:extLst>
                  <a:ext uri="{FF2B5EF4-FFF2-40B4-BE49-F238E27FC236}">
                    <a16:creationId xmlns:a16="http://schemas.microsoft.com/office/drawing/2014/main" id="{EFD28A8A-820D-4172-BCF7-48C0BBBD6936}"/>
                  </a:ext>
                </a:extLst>
              </p:cNvPr>
              <p:cNvSpPr>
                <a:spLocks/>
              </p:cNvSpPr>
              <p:nvPr/>
            </p:nvSpPr>
            <p:spPr bwMode="auto">
              <a:xfrm>
                <a:off x="5956" y="2854"/>
                <a:ext cx="5" cy="8"/>
              </a:xfrm>
              <a:custGeom>
                <a:avLst/>
                <a:gdLst>
                  <a:gd name="T0" fmla="*/ 2 w 3"/>
                  <a:gd name="T1" fmla="*/ 4 h 6"/>
                  <a:gd name="T2" fmla="*/ 2 w 3"/>
                  <a:gd name="T3" fmla="*/ 2 h 6"/>
                  <a:gd name="T4" fmla="*/ 0 w 3"/>
                  <a:gd name="T5" fmla="*/ 2 h 6"/>
                  <a:gd name="T6" fmla="*/ 0 w 3"/>
                  <a:gd name="T7" fmla="*/ 5 h 6"/>
                  <a:gd name="T8" fmla="*/ 2 w 3"/>
                  <a:gd name="T9" fmla="*/ 4 h 6"/>
                </a:gdLst>
                <a:ahLst/>
                <a:cxnLst>
                  <a:cxn ang="0">
                    <a:pos x="T0" y="T1"/>
                  </a:cxn>
                  <a:cxn ang="0">
                    <a:pos x="T2" y="T3"/>
                  </a:cxn>
                  <a:cxn ang="0">
                    <a:pos x="T4" y="T5"/>
                  </a:cxn>
                  <a:cxn ang="0">
                    <a:pos x="T6" y="T7"/>
                  </a:cxn>
                  <a:cxn ang="0">
                    <a:pos x="T8" y="T9"/>
                  </a:cxn>
                </a:cxnLst>
                <a:rect l="0" t="0" r="r" b="b"/>
                <a:pathLst>
                  <a:path w="3" h="6">
                    <a:moveTo>
                      <a:pt x="2" y="4"/>
                    </a:moveTo>
                    <a:cubicBezTo>
                      <a:pt x="2" y="4"/>
                      <a:pt x="3" y="3"/>
                      <a:pt x="2" y="2"/>
                    </a:cubicBezTo>
                    <a:cubicBezTo>
                      <a:pt x="1" y="0"/>
                      <a:pt x="1" y="0"/>
                      <a:pt x="0" y="2"/>
                    </a:cubicBezTo>
                    <a:cubicBezTo>
                      <a:pt x="0" y="3"/>
                      <a:pt x="0" y="6"/>
                      <a:pt x="0" y="5"/>
                    </a:cubicBezTo>
                    <a:cubicBezTo>
                      <a:pt x="1" y="5"/>
                      <a:pt x="2" y="4"/>
                      <a:pt x="2"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96" name="Freeform 807">
                <a:extLst>
                  <a:ext uri="{FF2B5EF4-FFF2-40B4-BE49-F238E27FC236}">
                    <a16:creationId xmlns:a16="http://schemas.microsoft.com/office/drawing/2014/main" id="{34C2C50B-2B1B-4093-B54A-C3B7FD80610A}"/>
                  </a:ext>
                </a:extLst>
              </p:cNvPr>
              <p:cNvSpPr>
                <a:spLocks/>
              </p:cNvSpPr>
              <p:nvPr/>
            </p:nvSpPr>
            <p:spPr bwMode="auto">
              <a:xfrm>
                <a:off x="5945" y="2871"/>
                <a:ext cx="42" cy="22"/>
              </a:xfrm>
              <a:custGeom>
                <a:avLst/>
                <a:gdLst>
                  <a:gd name="T0" fmla="*/ 9 w 30"/>
                  <a:gd name="T1" fmla="*/ 8 h 16"/>
                  <a:gd name="T2" fmla="*/ 12 w 30"/>
                  <a:gd name="T3" fmla="*/ 8 h 16"/>
                  <a:gd name="T4" fmla="*/ 22 w 30"/>
                  <a:gd name="T5" fmla="*/ 14 h 16"/>
                  <a:gd name="T6" fmla="*/ 25 w 30"/>
                  <a:gd name="T7" fmla="*/ 15 h 16"/>
                  <a:gd name="T8" fmla="*/ 27 w 30"/>
                  <a:gd name="T9" fmla="*/ 14 h 16"/>
                  <a:gd name="T10" fmla="*/ 28 w 30"/>
                  <a:gd name="T11" fmla="*/ 10 h 16"/>
                  <a:gd name="T12" fmla="*/ 26 w 30"/>
                  <a:gd name="T13" fmla="*/ 8 h 16"/>
                  <a:gd name="T14" fmla="*/ 22 w 30"/>
                  <a:gd name="T15" fmla="*/ 6 h 16"/>
                  <a:gd name="T16" fmla="*/ 21 w 30"/>
                  <a:gd name="T17" fmla="*/ 5 h 16"/>
                  <a:gd name="T18" fmla="*/ 20 w 30"/>
                  <a:gd name="T19" fmla="*/ 4 h 16"/>
                  <a:gd name="T20" fmla="*/ 17 w 30"/>
                  <a:gd name="T21" fmla="*/ 2 h 16"/>
                  <a:gd name="T22" fmla="*/ 13 w 30"/>
                  <a:gd name="T23" fmla="*/ 1 h 16"/>
                  <a:gd name="T24" fmla="*/ 3 w 30"/>
                  <a:gd name="T25" fmla="*/ 2 h 16"/>
                  <a:gd name="T26" fmla="*/ 2 w 30"/>
                  <a:gd name="T27" fmla="*/ 5 h 16"/>
                  <a:gd name="T28" fmla="*/ 9 w 30"/>
                  <a:gd name="T29"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16">
                    <a:moveTo>
                      <a:pt x="9" y="8"/>
                    </a:moveTo>
                    <a:cubicBezTo>
                      <a:pt x="10" y="7"/>
                      <a:pt x="12" y="8"/>
                      <a:pt x="12" y="8"/>
                    </a:cubicBezTo>
                    <a:cubicBezTo>
                      <a:pt x="12" y="8"/>
                      <a:pt x="21" y="14"/>
                      <a:pt x="22" y="14"/>
                    </a:cubicBezTo>
                    <a:cubicBezTo>
                      <a:pt x="23" y="15"/>
                      <a:pt x="23" y="16"/>
                      <a:pt x="25" y="15"/>
                    </a:cubicBezTo>
                    <a:cubicBezTo>
                      <a:pt x="26" y="14"/>
                      <a:pt x="27" y="14"/>
                      <a:pt x="27" y="14"/>
                    </a:cubicBezTo>
                    <a:cubicBezTo>
                      <a:pt x="30" y="13"/>
                      <a:pt x="29" y="10"/>
                      <a:pt x="28" y="10"/>
                    </a:cubicBezTo>
                    <a:cubicBezTo>
                      <a:pt x="27" y="9"/>
                      <a:pt x="26" y="8"/>
                      <a:pt x="26" y="8"/>
                    </a:cubicBezTo>
                    <a:cubicBezTo>
                      <a:pt x="24" y="5"/>
                      <a:pt x="23" y="5"/>
                      <a:pt x="22" y="6"/>
                    </a:cubicBezTo>
                    <a:cubicBezTo>
                      <a:pt x="21" y="6"/>
                      <a:pt x="21" y="6"/>
                      <a:pt x="21" y="5"/>
                    </a:cubicBezTo>
                    <a:cubicBezTo>
                      <a:pt x="21" y="4"/>
                      <a:pt x="20" y="4"/>
                      <a:pt x="20" y="4"/>
                    </a:cubicBezTo>
                    <a:cubicBezTo>
                      <a:pt x="19" y="4"/>
                      <a:pt x="18" y="3"/>
                      <a:pt x="17" y="2"/>
                    </a:cubicBezTo>
                    <a:cubicBezTo>
                      <a:pt x="16" y="0"/>
                      <a:pt x="15" y="1"/>
                      <a:pt x="13" y="1"/>
                    </a:cubicBezTo>
                    <a:cubicBezTo>
                      <a:pt x="10" y="1"/>
                      <a:pt x="6" y="1"/>
                      <a:pt x="3" y="2"/>
                    </a:cubicBezTo>
                    <a:cubicBezTo>
                      <a:pt x="0" y="4"/>
                      <a:pt x="2" y="5"/>
                      <a:pt x="2" y="5"/>
                    </a:cubicBezTo>
                    <a:cubicBezTo>
                      <a:pt x="5" y="9"/>
                      <a:pt x="8" y="8"/>
                      <a:pt x="9"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97" name="Freeform 808">
                <a:extLst>
                  <a:ext uri="{FF2B5EF4-FFF2-40B4-BE49-F238E27FC236}">
                    <a16:creationId xmlns:a16="http://schemas.microsoft.com/office/drawing/2014/main" id="{EFD54812-26C7-4569-854D-EBDAA717398A}"/>
                  </a:ext>
                </a:extLst>
              </p:cNvPr>
              <p:cNvSpPr>
                <a:spLocks/>
              </p:cNvSpPr>
              <p:nvPr/>
            </p:nvSpPr>
            <p:spPr bwMode="auto">
              <a:xfrm>
                <a:off x="5963" y="2848"/>
                <a:ext cx="68" cy="19"/>
              </a:xfrm>
              <a:custGeom>
                <a:avLst/>
                <a:gdLst>
                  <a:gd name="T0" fmla="*/ 48 w 49"/>
                  <a:gd name="T1" fmla="*/ 4 h 14"/>
                  <a:gd name="T2" fmla="*/ 48 w 49"/>
                  <a:gd name="T3" fmla="*/ 1 h 14"/>
                  <a:gd name="T4" fmla="*/ 45 w 49"/>
                  <a:gd name="T5" fmla="*/ 2 h 14"/>
                  <a:gd name="T6" fmla="*/ 41 w 49"/>
                  <a:gd name="T7" fmla="*/ 6 h 14"/>
                  <a:gd name="T8" fmla="*/ 34 w 49"/>
                  <a:gd name="T9" fmla="*/ 6 h 14"/>
                  <a:gd name="T10" fmla="*/ 27 w 49"/>
                  <a:gd name="T11" fmla="*/ 6 h 14"/>
                  <a:gd name="T12" fmla="*/ 24 w 49"/>
                  <a:gd name="T13" fmla="*/ 6 h 14"/>
                  <a:gd name="T14" fmla="*/ 17 w 49"/>
                  <a:gd name="T15" fmla="*/ 3 h 14"/>
                  <a:gd name="T16" fmla="*/ 7 w 49"/>
                  <a:gd name="T17" fmla="*/ 3 h 14"/>
                  <a:gd name="T18" fmla="*/ 1 w 49"/>
                  <a:gd name="T19" fmla="*/ 7 h 14"/>
                  <a:gd name="T20" fmla="*/ 4 w 49"/>
                  <a:gd name="T21" fmla="*/ 10 h 14"/>
                  <a:gd name="T22" fmla="*/ 12 w 49"/>
                  <a:gd name="T23" fmla="*/ 10 h 14"/>
                  <a:gd name="T24" fmla="*/ 17 w 49"/>
                  <a:gd name="T25" fmla="*/ 11 h 14"/>
                  <a:gd name="T26" fmla="*/ 23 w 49"/>
                  <a:gd name="T27" fmla="*/ 11 h 14"/>
                  <a:gd name="T28" fmla="*/ 26 w 49"/>
                  <a:gd name="T29" fmla="*/ 11 h 14"/>
                  <a:gd name="T30" fmla="*/ 32 w 49"/>
                  <a:gd name="T31" fmla="*/ 10 h 14"/>
                  <a:gd name="T32" fmla="*/ 44 w 49"/>
                  <a:gd name="T33" fmla="*/ 8 h 14"/>
                  <a:gd name="T34" fmla="*/ 48 w 49"/>
                  <a:gd name="T35" fmla="*/ 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 h="14">
                    <a:moveTo>
                      <a:pt x="48" y="4"/>
                    </a:moveTo>
                    <a:cubicBezTo>
                      <a:pt x="48" y="3"/>
                      <a:pt x="49" y="3"/>
                      <a:pt x="48" y="1"/>
                    </a:cubicBezTo>
                    <a:cubicBezTo>
                      <a:pt x="47" y="0"/>
                      <a:pt x="47" y="1"/>
                      <a:pt x="45" y="2"/>
                    </a:cubicBezTo>
                    <a:cubicBezTo>
                      <a:pt x="43" y="3"/>
                      <a:pt x="42" y="4"/>
                      <a:pt x="41" y="6"/>
                    </a:cubicBezTo>
                    <a:cubicBezTo>
                      <a:pt x="40" y="8"/>
                      <a:pt x="38" y="7"/>
                      <a:pt x="34" y="6"/>
                    </a:cubicBezTo>
                    <a:cubicBezTo>
                      <a:pt x="30" y="4"/>
                      <a:pt x="28" y="5"/>
                      <a:pt x="27" y="6"/>
                    </a:cubicBezTo>
                    <a:cubicBezTo>
                      <a:pt x="26" y="7"/>
                      <a:pt x="26" y="7"/>
                      <a:pt x="24" y="6"/>
                    </a:cubicBezTo>
                    <a:cubicBezTo>
                      <a:pt x="21" y="4"/>
                      <a:pt x="17" y="3"/>
                      <a:pt x="17" y="3"/>
                    </a:cubicBezTo>
                    <a:cubicBezTo>
                      <a:pt x="17" y="3"/>
                      <a:pt x="11" y="3"/>
                      <a:pt x="7" y="3"/>
                    </a:cubicBezTo>
                    <a:cubicBezTo>
                      <a:pt x="4" y="3"/>
                      <a:pt x="2" y="4"/>
                      <a:pt x="1" y="7"/>
                    </a:cubicBezTo>
                    <a:cubicBezTo>
                      <a:pt x="0" y="10"/>
                      <a:pt x="4" y="10"/>
                      <a:pt x="4" y="10"/>
                    </a:cubicBezTo>
                    <a:cubicBezTo>
                      <a:pt x="4" y="10"/>
                      <a:pt x="9" y="10"/>
                      <a:pt x="12" y="10"/>
                    </a:cubicBezTo>
                    <a:cubicBezTo>
                      <a:pt x="14" y="10"/>
                      <a:pt x="15" y="9"/>
                      <a:pt x="17" y="11"/>
                    </a:cubicBezTo>
                    <a:cubicBezTo>
                      <a:pt x="20" y="14"/>
                      <a:pt x="22" y="12"/>
                      <a:pt x="23" y="11"/>
                    </a:cubicBezTo>
                    <a:cubicBezTo>
                      <a:pt x="25" y="10"/>
                      <a:pt x="26" y="11"/>
                      <a:pt x="26" y="11"/>
                    </a:cubicBezTo>
                    <a:cubicBezTo>
                      <a:pt x="29" y="12"/>
                      <a:pt x="30" y="11"/>
                      <a:pt x="32" y="10"/>
                    </a:cubicBezTo>
                    <a:cubicBezTo>
                      <a:pt x="34" y="10"/>
                      <a:pt x="41" y="8"/>
                      <a:pt x="44" y="8"/>
                    </a:cubicBezTo>
                    <a:cubicBezTo>
                      <a:pt x="46" y="7"/>
                      <a:pt x="47" y="5"/>
                      <a:pt x="48"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98" name="Freeform 809">
                <a:extLst>
                  <a:ext uri="{FF2B5EF4-FFF2-40B4-BE49-F238E27FC236}">
                    <a16:creationId xmlns:a16="http://schemas.microsoft.com/office/drawing/2014/main" id="{84963AF6-1A87-455F-9B98-47BE5A9A6FA5}"/>
                  </a:ext>
                </a:extLst>
              </p:cNvPr>
              <p:cNvSpPr>
                <a:spLocks/>
              </p:cNvSpPr>
              <p:nvPr/>
            </p:nvSpPr>
            <p:spPr bwMode="auto">
              <a:xfrm>
                <a:off x="6003" y="2895"/>
                <a:ext cx="9" cy="4"/>
              </a:xfrm>
              <a:custGeom>
                <a:avLst/>
                <a:gdLst>
                  <a:gd name="T0" fmla="*/ 2 w 6"/>
                  <a:gd name="T1" fmla="*/ 1 h 3"/>
                  <a:gd name="T2" fmla="*/ 1 w 6"/>
                  <a:gd name="T3" fmla="*/ 3 h 3"/>
                  <a:gd name="T4" fmla="*/ 4 w 6"/>
                  <a:gd name="T5" fmla="*/ 2 h 3"/>
                  <a:gd name="T6" fmla="*/ 2 w 6"/>
                  <a:gd name="T7" fmla="*/ 1 h 3"/>
                </a:gdLst>
                <a:ahLst/>
                <a:cxnLst>
                  <a:cxn ang="0">
                    <a:pos x="T0" y="T1"/>
                  </a:cxn>
                  <a:cxn ang="0">
                    <a:pos x="T2" y="T3"/>
                  </a:cxn>
                  <a:cxn ang="0">
                    <a:pos x="T4" y="T5"/>
                  </a:cxn>
                  <a:cxn ang="0">
                    <a:pos x="T6" y="T7"/>
                  </a:cxn>
                </a:cxnLst>
                <a:rect l="0" t="0" r="r" b="b"/>
                <a:pathLst>
                  <a:path w="6" h="3">
                    <a:moveTo>
                      <a:pt x="2" y="1"/>
                    </a:moveTo>
                    <a:cubicBezTo>
                      <a:pt x="2" y="1"/>
                      <a:pt x="0" y="2"/>
                      <a:pt x="1" y="3"/>
                    </a:cubicBezTo>
                    <a:cubicBezTo>
                      <a:pt x="3" y="3"/>
                      <a:pt x="4" y="3"/>
                      <a:pt x="4" y="2"/>
                    </a:cubicBezTo>
                    <a:cubicBezTo>
                      <a:pt x="5" y="1"/>
                      <a:pt x="6"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99" name="Freeform 810">
                <a:extLst>
                  <a:ext uri="{FF2B5EF4-FFF2-40B4-BE49-F238E27FC236}">
                    <a16:creationId xmlns:a16="http://schemas.microsoft.com/office/drawing/2014/main" id="{457B5FCD-5C21-4E06-A360-5ED4E1798FA2}"/>
                  </a:ext>
                </a:extLst>
              </p:cNvPr>
              <p:cNvSpPr>
                <a:spLocks/>
              </p:cNvSpPr>
              <p:nvPr/>
            </p:nvSpPr>
            <p:spPr bwMode="auto">
              <a:xfrm>
                <a:off x="5977" y="2800"/>
                <a:ext cx="2" cy="12"/>
              </a:xfrm>
              <a:custGeom>
                <a:avLst/>
                <a:gdLst>
                  <a:gd name="T0" fmla="*/ 1 w 1"/>
                  <a:gd name="T1" fmla="*/ 9 h 9"/>
                  <a:gd name="T2" fmla="*/ 1 w 1"/>
                  <a:gd name="T3" fmla="*/ 0 h 9"/>
                  <a:gd name="T4" fmla="*/ 1 w 1"/>
                  <a:gd name="T5" fmla="*/ 9 h 9"/>
                </a:gdLst>
                <a:ahLst/>
                <a:cxnLst>
                  <a:cxn ang="0">
                    <a:pos x="T0" y="T1"/>
                  </a:cxn>
                  <a:cxn ang="0">
                    <a:pos x="T2" y="T3"/>
                  </a:cxn>
                  <a:cxn ang="0">
                    <a:pos x="T4" y="T5"/>
                  </a:cxn>
                </a:cxnLst>
                <a:rect l="0" t="0" r="r" b="b"/>
                <a:pathLst>
                  <a:path w="1" h="9">
                    <a:moveTo>
                      <a:pt x="1" y="9"/>
                    </a:moveTo>
                    <a:cubicBezTo>
                      <a:pt x="1" y="0"/>
                      <a:pt x="1" y="0"/>
                      <a:pt x="1" y="0"/>
                    </a:cubicBezTo>
                    <a:cubicBezTo>
                      <a:pt x="1" y="0"/>
                      <a:pt x="0" y="6"/>
                      <a:pt x="1"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00" name="Freeform 811">
                <a:extLst>
                  <a:ext uri="{FF2B5EF4-FFF2-40B4-BE49-F238E27FC236}">
                    <a16:creationId xmlns:a16="http://schemas.microsoft.com/office/drawing/2014/main" id="{59308A44-E2E2-42E7-A8AD-33F00EDEB3FC}"/>
                  </a:ext>
                </a:extLst>
              </p:cNvPr>
              <p:cNvSpPr>
                <a:spLocks/>
              </p:cNvSpPr>
              <p:nvPr/>
            </p:nvSpPr>
            <p:spPr bwMode="auto">
              <a:xfrm>
                <a:off x="6031" y="2851"/>
                <a:ext cx="7" cy="4"/>
              </a:xfrm>
              <a:custGeom>
                <a:avLst/>
                <a:gdLst>
                  <a:gd name="T0" fmla="*/ 1 w 5"/>
                  <a:gd name="T1" fmla="*/ 1 h 3"/>
                  <a:gd name="T2" fmla="*/ 0 w 5"/>
                  <a:gd name="T3" fmla="*/ 2 h 3"/>
                  <a:gd name="T4" fmla="*/ 4 w 5"/>
                  <a:gd name="T5" fmla="*/ 2 h 3"/>
                  <a:gd name="T6" fmla="*/ 3 w 5"/>
                  <a:gd name="T7" fmla="*/ 0 h 3"/>
                  <a:gd name="T8" fmla="*/ 1 w 5"/>
                  <a:gd name="T9" fmla="*/ 1 h 3"/>
                </a:gdLst>
                <a:ahLst/>
                <a:cxnLst>
                  <a:cxn ang="0">
                    <a:pos x="T0" y="T1"/>
                  </a:cxn>
                  <a:cxn ang="0">
                    <a:pos x="T2" y="T3"/>
                  </a:cxn>
                  <a:cxn ang="0">
                    <a:pos x="T4" y="T5"/>
                  </a:cxn>
                  <a:cxn ang="0">
                    <a:pos x="T6" y="T7"/>
                  </a:cxn>
                  <a:cxn ang="0">
                    <a:pos x="T8" y="T9"/>
                  </a:cxn>
                </a:cxnLst>
                <a:rect l="0" t="0" r="r" b="b"/>
                <a:pathLst>
                  <a:path w="5" h="3">
                    <a:moveTo>
                      <a:pt x="1" y="1"/>
                    </a:moveTo>
                    <a:cubicBezTo>
                      <a:pt x="0" y="2"/>
                      <a:pt x="0" y="2"/>
                      <a:pt x="0" y="2"/>
                    </a:cubicBezTo>
                    <a:cubicBezTo>
                      <a:pt x="1" y="3"/>
                      <a:pt x="2" y="3"/>
                      <a:pt x="4" y="2"/>
                    </a:cubicBezTo>
                    <a:cubicBezTo>
                      <a:pt x="5" y="1"/>
                      <a:pt x="4" y="0"/>
                      <a:pt x="3" y="0"/>
                    </a:cubicBezTo>
                    <a:cubicBezTo>
                      <a:pt x="1" y="0"/>
                      <a:pt x="1"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01" name="Freeform 812">
                <a:extLst>
                  <a:ext uri="{FF2B5EF4-FFF2-40B4-BE49-F238E27FC236}">
                    <a16:creationId xmlns:a16="http://schemas.microsoft.com/office/drawing/2014/main" id="{6771B4FE-07C5-4D5A-ACEB-9D9F0FC56AB2}"/>
                  </a:ext>
                </a:extLst>
              </p:cNvPr>
              <p:cNvSpPr>
                <a:spLocks/>
              </p:cNvSpPr>
              <p:nvPr/>
            </p:nvSpPr>
            <p:spPr bwMode="auto">
              <a:xfrm>
                <a:off x="6034" y="2849"/>
                <a:ext cx="16" cy="7"/>
              </a:xfrm>
              <a:custGeom>
                <a:avLst/>
                <a:gdLst>
                  <a:gd name="T0" fmla="*/ 6 w 12"/>
                  <a:gd name="T1" fmla="*/ 4 h 5"/>
                  <a:gd name="T2" fmla="*/ 7 w 12"/>
                  <a:gd name="T3" fmla="*/ 3 h 5"/>
                  <a:gd name="T4" fmla="*/ 10 w 12"/>
                  <a:gd name="T5" fmla="*/ 1 h 5"/>
                  <a:gd name="T6" fmla="*/ 8 w 12"/>
                  <a:gd name="T7" fmla="*/ 0 h 5"/>
                  <a:gd name="T8" fmla="*/ 6 w 12"/>
                  <a:gd name="T9" fmla="*/ 2 h 5"/>
                  <a:gd name="T10" fmla="*/ 5 w 12"/>
                  <a:gd name="T11" fmla="*/ 1 h 5"/>
                  <a:gd name="T12" fmla="*/ 4 w 12"/>
                  <a:gd name="T13" fmla="*/ 1 h 5"/>
                  <a:gd name="T14" fmla="*/ 2 w 12"/>
                  <a:gd name="T15" fmla="*/ 4 h 5"/>
                  <a:gd name="T16" fmla="*/ 5 w 12"/>
                  <a:gd name="T17" fmla="*/ 5 h 5"/>
                  <a:gd name="T18" fmla="*/ 6 w 12"/>
                  <a:gd name="T19"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5">
                    <a:moveTo>
                      <a:pt x="6" y="4"/>
                    </a:moveTo>
                    <a:cubicBezTo>
                      <a:pt x="6" y="4"/>
                      <a:pt x="6" y="3"/>
                      <a:pt x="7" y="3"/>
                    </a:cubicBezTo>
                    <a:cubicBezTo>
                      <a:pt x="8" y="3"/>
                      <a:pt x="9" y="2"/>
                      <a:pt x="10" y="1"/>
                    </a:cubicBezTo>
                    <a:cubicBezTo>
                      <a:pt x="12" y="0"/>
                      <a:pt x="10" y="0"/>
                      <a:pt x="8" y="0"/>
                    </a:cubicBezTo>
                    <a:cubicBezTo>
                      <a:pt x="7" y="0"/>
                      <a:pt x="7" y="2"/>
                      <a:pt x="6" y="2"/>
                    </a:cubicBezTo>
                    <a:cubicBezTo>
                      <a:pt x="5" y="3"/>
                      <a:pt x="6" y="1"/>
                      <a:pt x="5" y="1"/>
                    </a:cubicBezTo>
                    <a:cubicBezTo>
                      <a:pt x="4" y="0"/>
                      <a:pt x="4" y="1"/>
                      <a:pt x="4" y="1"/>
                    </a:cubicBezTo>
                    <a:cubicBezTo>
                      <a:pt x="4" y="3"/>
                      <a:pt x="4" y="3"/>
                      <a:pt x="2" y="4"/>
                    </a:cubicBezTo>
                    <a:cubicBezTo>
                      <a:pt x="0" y="5"/>
                      <a:pt x="4" y="5"/>
                      <a:pt x="5" y="5"/>
                    </a:cubicBezTo>
                    <a:cubicBezTo>
                      <a:pt x="6" y="5"/>
                      <a:pt x="6" y="5"/>
                      <a:pt x="6"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02" name="Freeform 813">
                <a:extLst>
                  <a:ext uri="{FF2B5EF4-FFF2-40B4-BE49-F238E27FC236}">
                    <a16:creationId xmlns:a16="http://schemas.microsoft.com/office/drawing/2014/main" id="{77B6B05A-33DE-4964-8CFC-0406A8EA4E22}"/>
                  </a:ext>
                </a:extLst>
              </p:cNvPr>
              <p:cNvSpPr>
                <a:spLocks/>
              </p:cNvSpPr>
              <p:nvPr/>
            </p:nvSpPr>
            <p:spPr bwMode="auto">
              <a:xfrm>
                <a:off x="6048" y="2848"/>
                <a:ext cx="9" cy="10"/>
              </a:xfrm>
              <a:custGeom>
                <a:avLst/>
                <a:gdLst>
                  <a:gd name="T0" fmla="*/ 4 w 7"/>
                  <a:gd name="T1" fmla="*/ 6 h 7"/>
                  <a:gd name="T2" fmla="*/ 7 w 7"/>
                  <a:gd name="T3" fmla="*/ 2 h 7"/>
                  <a:gd name="T4" fmla="*/ 2 w 7"/>
                  <a:gd name="T5" fmla="*/ 3 h 7"/>
                  <a:gd name="T6" fmla="*/ 2 w 7"/>
                  <a:gd name="T7" fmla="*/ 5 h 7"/>
                  <a:gd name="T8" fmla="*/ 4 w 7"/>
                  <a:gd name="T9" fmla="*/ 6 h 7"/>
                </a:gdLst>
                <a:ahLst/>
                <a:cxnLst>
                  <a:cxn ang="0">
                    <a:pos x="T0" y="T1"/>
                  </a:cxn>
                  <a:cxn ang="0">
                    <a:pos x="T2" y="T3"/>
                  </a:cxn>
                  <a:cxn ang="0">
                    <a:pos x="T4" y="T5"/>
                  </a:cxn>
                  <a:cxn ang="0">
                    <a:pos x="T6" y="T7"/>
                  </a:cxn>
                  <a:cxn ang="0">
                    <a:pos x="T8" y="T9"/>
                  </a:cxn>
                </a:cxnLst>
                <a:rect l="0" t="0" r="r" b="b"/>
                <a:pathLst>
                  <a:path w="7" h="7">
                    <a:moveTo>
                      <a:pt x="4" y="6"/>
                    </a:moveTo>
                    <a:cubicBezTo>
                      <a:pt x="4" y="7"/>
                      <a:pt x="6" y="4"/>
                      <a:pt x="7" y="2"/>
                    </a:cubicBezTo>
                    <a:cubicBezTo>
                      <a:pt x="7" y="0"/>
                      <a:pt x="4" y="2"/>
                      <a:pt x="2" y="3"/>
                    </a:cubicBezTo>
                    <a:cubicBezTo>
                      <a:pt x="0" y="4"/>
                      <a:pt x="2" y="5"/>
                      <a:pt x="2" y="5"/>
                    </a:cubicBezTo>
                    <a:cubicBezTo>
                      <a:pt x="3" y="5"/>
                      <a:pt x="3" y="5"/>
                      <a:pt x="4"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03" name="Freeform 814">
                <a:extLst>
                  <a:ext uri="{FF2B5EF4-FFF2-40B4-BE49-F238E27FC236}">
                    <a16:creationId xmlns:a16="http://schemas.microsoft.com/office/drawing/2014/main" id="{72E5777E-2F3B-4E7A-96A3-5120788D5625}"/>
                  </a:ext>
                </a:extLst>
              </p:cNvPr>
              <p:cNvSpPr>
                <a:spLocks/>
              </p:cNvSpPr>
              <p:nvPr/>
            </p:nvSpPr>
            <p:spPr bwMode="auto">
              <a:xfrm>
                <a:off x="6056" y="2847"/>
                <a:ext cx="18" cy="8"/>
              </a:xfrm>
              <a:custGeom>
                <a:avLst/>
                <a:gdLst>
                  <a:gd name="T0" fmla="*/ 6 w 13"/>
                  <a:gd name="T1" fmla="*/ 5 h 6"/>
                  <a:gd name="T2" fmla="*/ 13 w 13"/>
                  <a:gd name="T3" fmla="*/ 2 h 6"/>
                  <a:gd name="T4" fmla="*/ 4 w 13"/>
                  <a:gd name="T5" fmla="*/ 1 h 6"/>
                  <a:gd name="T6" fmla="*/ 3 w 13"/>
                  <a:gd name="T7" fmla="*/ 1 h 6"/>
                  <a:gd name="T8" fmla="*/ 2 w 13"/>
                  <a:gd name="T9" fmla="*/ 4 h 6"/>
                  <a:gd name="T10" fmla="*/ 6 w 13"/>
                  <a:gd name="T11" fmla="*/ 5 h 6"/>
                </a:gdLst>
                <a:ahLst/>
                <a:cxnLst>
                  <a:cxn ang="0">
                    <a:pos x="T0" y="T1"/>
                  </a:cxn>
                  <a:cxn ang="0">
                    <a:pos x="T2" y="T3"/>
                  </a:cxn>
                  <a:cxn ang="0">
                    <a:pos x="T4" y="T5"/>
                  </a:cxn>
                  <a:cxn ang="0">
                    <a:pos x="T6" y="T7"/>
                  </a:cxn>
                  <a:cxn ang="0">
                    <a:pos x="T8" y="T9"/>
                  </a:cxn>
                  <a:cxn ang="0">
                    <a:pos x="T10" y="T11"/>
                  </a:cxn>
                </a:cxnLst>
                <a:rect l="0" t="0" r="r" b="b"/>
                <a:pathLst>
                  <a:path w="13" h="6">
                    <a:moveTo>
                      <a:pt x="6" y="5"/>
                    </a:moveTo>
                    <a:cubicBezTo>
                      <a:pt x="11" y="5"/>
                      <a:pt x="13" y="5"/>
                      <a:pt x="13" y="2"/>
                    </a:cubicBezTo>
                    <a:cubicBezTo>
                      <a:pt x="12" y="0"/>
                      <a:pt x="6" y="1"/>
                      <a:pt x="4" y="1"/>
                    </a:cubicBezTo>
                    <a:cubicBezTo>
                      <a:pt x="3" y="1"/>
                      <a:pt x="3" y="1"/>
                      <a:pt x="3" y="1"/>
                    </a:cubicBezTo>
                    <a:cubicBezTo>
                      <a:pt x="2" y="3"/>
                      <a:pt x="4" y="2"/>
                      <a:pt x="2" y="4"/>
                    </a:cubicBezTo>
                    <a:cubicBezTo>
                      <a:pt x="0" y="6"/>
                      <a:pt x="2" y="6"/>
                      <a:pt x="6"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04" name="Freeform 815">
                <a:extLst>
                  <a:ext uri="{FF2B5EF4-FFF2-40B4-BE49-F238E27FC236}">
                    <a16:creationId xmlns:a16="http://schemas.microsoft.com/office/drawing/2014/main" id="{2279678E-CAFF-4D01-B70F-66124D7EFD65}"/>
                  </a:ext>
                </a:extLst>
              </p:cNvPr>
              <p:cNvSpPr>
                <a:spLocks/>
              </p:cNvSpPr>
              <p:nvPr/>
            </p:nvSpPr>
            <p:spPr bwMode="auto">
              <a:xfrm>
                <a:off x="6088" y="2836"/>
                <a:ext cx="22" cy="11"/>
              </a:xfrm>
              <a:custGeom>
                <a:avLst/>
                <a:gdLst>
                  <a:gd name="T0" fmla="*/ 1 w 16"/>
                  <a:gd name="T1" fmla="*/ 7 h 8"/>
                  <a:gd name="T2" fmla="*/ 8 w 16"/>
                  <a:gd name="T3" fmla="*/ 6 h 8"/>
                  <a:gd name="T4" fmla="*/ 14 w 16"/>
                  <a:gd name="T5" fmla="*/ 4 h 8"/>
                  <a:gd name="T6" fmla="*/ 13 w 16"/>
                  <a:gd name="T7" fmla="*/ 1 h 8"/>
                  <a:gd name="T8" fmla="*/ 9 w 16"/>
                  <a:gd name="T9" fmla="*/ 1 h 8"/>
                  <a:gd name="T10" fmla="*/ 4 w 16"/>
                  <a:gd name="T11" fmla="*/ 3 h 8"/>
                  <a:gd name="T12" fmla="*/ 0 w 16"/>
                  <a:gd name="T13" fmla="*/ 6 h 8"/>
                  <a:gd name="T14" fmla="*/ 1 w 16"/>
                  <a:gd name="T15" fmla="*/ 7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8">
                    <a:moveTo>
                      <a:pt x="1" y="7"/>
                    </a:moveTo>
                    <a:cubicBezTo>
                      <a:pt x="4" y="4"/>
                      <a:pt x="6" y="5"/>
                      <a:pt x="8" y="6"/>
                    </a:cubicBezTo>
                    <a:cubicBezTo>
                      <a:pt x="10" y="7"/>
                      <a:pt x="11" y="5"/>
                      <a:pt x="14" y="4"/>
                    </a:cubicBezTo>
                    <a:cubicBezTo>
                      <a:pt x="16" y="3"/>
                      <a:pt x="15" y="2"/>
                      <a:pt x="13" y="1"/>
                    </a:cubicBezTo>
                    <a:cubicBezTo>
                      <a:pt x="11" y="0"/>
                      <a:pt x="10" y="1"/>
                      <a:pt x="9" y="1"/>
                    </a:cubicBezTo>
                    <a:cubicBezTo>
                      <a:pt x="7" y="2"/>
                      <a:pt x="6" y="3"/>
                      <a:pt x="4" y="3"/>
                    </a:cubicBezTo>
                    <a:cubicBezTo>
                      <a:pt x="1" y="2"/>
                      <a:pt x="1" y="3"/>
                      <a:pt x="0" y="6"/>
                    </a:cubicBezTo>
                    <a:cubicBezTo>
                      <a:pt x="0" y="8"/>
                      <a:pt x="1" y="7"/>
                      <a:pt x="1"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05" name="Freeform 816">
                <a:extLst>
                  <a:ext uri="{FF2B5EF4-FFF2-40B4-BE49-F238E27FC236}">
                    <a16:creationId xmlns:a16="http://schemas.microsoft.com/office/drawing/2014/main" id="{372C7B4C-887D-4366-A45F-A5DF1E2022E5}"/>
                  </a:ext>
                </a:extLst>
              </p:cNvPr>
              <p:cNvSpPr>
                <a:spLocks/>
              </p:cNvSpPr>
              <p:nvPr/>
            </p:nvSpPr>
            <p:spPr bwMode="auto">
              <a:xfrm>
                <a:off x="6024" y="2895"/>
                <a:ext cx="14" cy="9"/>
              </a:xfrm>
              <a:custGeom>
                <a:avLst/>
                <a:gdLst>
                  <a:gd name="T0" fmla="*/ 2 w 10"/>
                  <a:gd name="T1" fmla="*/ 7 h 7"/>
                  <a:gd name="T2" fmla="*/ 5 w 10"/>
                  <a:gd name="T3" fmla="*/ 7 h 7"/>
                  <a:gd name="T4" fmla="*/ 9 w 10"/>
                  <a:gd name="T5" fmla="*/ 5 h 7"/>
                  <a:gd name="T6" fmla="*/ 10 w 10"/>
                  <a:gd name="T7" fmla="*/ 2 h 7"/>
                  <a:gd name="T8" fmla="*/ 9 w 10"/>
                  <a:gd name="T9" fmla="*/ 1 h 7"/>
                  <a:gd name="T10" fmla="*/ 3 w 10"/>
                  <a:gd name="T11" fmla="*/ 5 h 7"/>
                  <a:gd name="T12" fmla="*/ 2 w 10"/>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0" h="7">
                    <a:moveTo>
                      <a:pt x="2" y="7"/>
                    </a:moveTo>
                    <a:cubicBezTo>
                      <a:pt x="3" y="7"/>
                      <a:pt x="4" y="7"/>
                      <a:pt x="5" y="7"/>
                    </a:cubicBezTo>
                    <a:cubicBezTo>
                      <a:pt x="6" y="6"/>
                      <a:pt x="8" y="6"/>
                      <a:pt x="9" y="5"/>
                    </a:cubicBezTo>
                    <a:cubicBezTo>
                      <a:pt x="10" y="4"/>
                      <a:pt x="10" y="3"/>
                      <a:pt x="10" y="2"/>
                    </a:cubicBezTo>
                    <a:cubicBezTo>
                      <a:pt x="10" y="1"/>
                      <a:pt x="10" y="0"/>
                      <a:pt x="9" y="1"/>
                    </a:cubicBezTo>
                    <a:cubicBezTo>
                      <a:pt x="7" y="2"/>
                      <a:pt x="4" y="5"/>
                      <a:pt x="3" y="5"/>
                    </a:cubicBezTo>
                    <a:cubicBezTo>
                      <a:pt x="3" y="5"/>
                      <a:pt x="0" y="7"/>
                      <a:pt x="2"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06" name="Freeform 817">
                <a:extLst>
                  <a:ext uri="{FF2B5EF4-FFF2-40B4-BE49-F238E27FC236}">
                    <a16:creationId xmlns:a16="http://schemas.microsoft.com/office/drawing/2014/main" id="{0F69CC6F-F703-47DF-828B-7250E0310AB2}"/>
                  </a:ext>
                </a:extLst>
              </p:cNvPr>
              <p:cNvSpPr>
                <a:spLocks/>
              </p:cNvSpPr>
              <p:nvPr/>
            </p:nvSpPr>
            <p:spPr bwMode="auto">
              <a:xfrm>
                <a:off x="6128" y="2847"/>
                <a:ext cx="10" cy="4"/>
              </a:xfrm>
              <a:custGeom>
                <a:avLst/>
                <a:gdLst>
                  <a:gd name="T0" fmla="*/ 1 w 7"/>
                  <a:gd name="T1" fmla="*/ 2 h 3"/>
                  <a:gd name="T2" fmla="*/ 5 w 7"/>
                  <a:gd name="T3" fmla="*/ 2 h 3"/>
                  <a:gd name="T4" fmla="*/ 2 w 7"/>
                  <a:gd name="T5" fmla="*/ 1 h 3"/>
                  <a:gd name="T6" fmla="*/ 1 w 7"/>
                  <a:gd name="T7" fmla="*/ 2 h 3"/>
                </a:gdLst>
                <a:ahLst/>
                <a:cxnLst>
                  <a:cxn ang="0">
                    <a:pos x="T0" y="T1"/>
                  </a:cxn>
                  <a:cxn ang="0">
                    <a:pos x="T2" y="T3"/>
                  </a:cxn>
                  <a:cxn ang="0">
                    <a:pos x="T4" y="T5"/>
                  </a:cxn>
                  <a:cxn ang="0">
                    <a:pos x="T6" y="T7"/>
                  </a:cxn>
                </a:cxnLst>
                <a:rect l="0" t="0" r="r" b="b"/>
                <a:pathLst>
                  <a:path w="7" h="3">
                    <a:moveTo>
                      <a:pt x="1" y="2"/>
                    </a:moveTo>
                    <a:cubicBezTo>
                      <a:pt x="2" y="3"/>
                      <a:pt x="3" y="3"/>
                      <a:pt x="5" y="2"/>
                    </a:cubicBezTo>
                    <a:cubicBezTo>
                      <a:pt x="7" y="1"/>
                      <a:pt x="4" y="1"/>
                      <a:pt x="2" y="1"/>
                    </a:cubicBezTo>
                    <a:cubicBezTo>
                      <a:pt x="0" y="0"/>
                      <a:pt x="1"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07" name="Freeform 818">
                <a:extLst>
                  <a:ext uri="{FF2B5EF4-FFF2-40B4-BE49-F238E27FC236}">
                    <a16:creationId xmlns:a16="http://schemas.microsoft.com/office/drawing/2014/main" id="{FF2F4752-D1D8-4A0F-A69D-B396210A2583}"/>
                  </a:ext>
                </a:extLst>
              </p:cNvPr>
              <p:cNvSpPr>
                <a:spLocks/>
              </p:cNvSpPr>
              <p:nvPr/>
            </p:nvSpPr>
            <p:spPr bwMode="auto">
              <a:xfrm>
                <a:off x="6143" y="2825"/>
                <a:ext cx="3" cy="4"/>
              </a:xfrm>
              <a:custGeom>
                <a:avLst/>
                <a:gdLst>
                  <a:gd name="T0" fmla="*/ 1 w 2"/>
                  <a:gd name="T1" fmla="*/ 3 h 3"/>
                  <a:gd name="T2" fmla="*/ 2 w 2"/>
                  <a:gd name="T3" fmla="*/ 2 h 3"/>
                  <a:gd name="T4" fmla="*/ 1 w 2"/>
                  <a:gd name="T5" fmla="*/ 1 h 3"/>
                  <a:gd name="T6" fmla="*/ 1 w 2"/>
                  <a:gd name="T7" fmla="*/ 3 h 3"/>
                </a:gdLst>
                <a:ahLst/>
                <a:cxnLst>
                  <a:cxn ang="0">
                    <a:pos x="T0" y="T1"/>
                  </a:cxn>
                  <a:cxn ang="0">
                    <a:pos x="T2" y="T3"/>
                  </a:cxn>
                  <a:cxn ang="0">
                    <a:pos x="T4" y="T5"/>
                  </a:cxn>
                  <a:cxn ang="0">
                    <a:pos x="T6" y="T7"/>
                  </a:cxn>
                </a:cxnLst>
                <a:rect l="0" t="0" r="r" b="b"/>
                <a:pathLst>
                  <a:path w="2" h="3">
                    <a:moveTo>
                      <a:pt x="1" y="3"/>
                    </a:moveTo>
                    <a:cubicBezTo>
                      <a:pt x="1" y="3"/>
                      <a:pt x="2" y="2"/>
                      <a:pt x="2" y="2"/>
                    </a:cubicBezTo>
                    <a:cubicBezTo>
                      <a:pt x="2" y="2"/>
                      <a:pt x="2" y="0"/>
                      <a:pt x="1" y="1"/>
                    </a:cubicBezTo>
                    <a:cubicBezTo>
                      <a:pt x="0" y="2"/>
                      <a:pt x="1" y="3"/>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08" name="Freeform 819">
                <a:extLst>
                  <a:ext uri="{FF2B5EF4-FFF2-40B4-BE49-F238E27FC236}">
                    <a16:creationId xmlns:a16="http://schemas.microsoft.com/office/drawing/2014/main" id="{BD0F4578-C4F8-4771-9039-2D2284A429FB}"/>
                  </a:ext>
                </a:extLst>
              </p:cNvPr>
              <p:cNvSpPr>
                <a:spLocks/>
              </p:cNvSpPr>
              <p:nvPr/>
            </p:nvSpPr>
            <p:spPr bwMode="auto">
              <a:xfrm>
                <a:off x="6165" y="2841"/>
                <a:ext cx="6" cy="6"/>
              </a:xfrm>
              <a:custGeom>
                <a:avLst/>
                <a:gdLst>
                  <a:gd name="T0" fmla="*/ 1 w 4"/>
                  <a:gd name="T1" fmla="*/ 1 h 4"/>
                  <a:gd name="T2" fmla="*/ 2 w 4"/>
                  <a:gd name="T3" fmla="*/ 4 h 4"/>
                  <a:gd name="T4" fmla="*/ 4 w 4"/>
                  <a:gd name="T5" fmla="*/ 2 h 4"/>
                  <a:gd name="T6" fmla="*/ 2 w 4"/>
                  <a:gd name="T7" fmla="*/ 0 h 4"/>
                  <a:gd name="T8" fmla="*/ 1 w 4"/>
                  <a:gd name="T9" fmla="*/ 1 h 4"/>
                </a:gdLst>
                <a:ahLst/>
                <a:cxnLst>
                  <a:cxn ang="0">
                    <a:pos x="T0" y="T1"/>
                  </a:cxn>
                  <a:cxn ang="0">
                    <a:pos x="T2" y="T3"/>
                  </a:cxn>
                  <a:cxn ang="0">
                    <a:pos x="T4" y="T5"/>
                  </a:cxn>
                  <a:cxn ang="0">
                    <a:pos x="T6" y="T7"/>
                  </a:cxn>
                  <a:cxn ang="0">
                    <a:pos x="T8" y="T9"/>
                  </a:cxn>
                </a:cxnLst>
                <a:rect l="0" t="0" r="r" b="b"/>
                <a:pathLst>
                  <a:path w="4" h="4">
                    <a:moveTo>
                      <a:pt x="1" y="1"/>
                    </a:moveTo>
                    <a:cubicBezTo>
                      <a:pt x="1" y="3"/>
                      <a:pt x="1" y="4"/>
                      <a:pt x="2" y="4"/>
                    </a:cubicBezTo>
                    <a:cubicBezTo>
                      <a:pt x="4" y="3"/>
                      <a:pt x="4" y="3"/>
                      <a:pt x="4" y="2"/>
                    </a:cubicBezTo>
                    <a:cubicBezTo>
                      <a:pt x="4" y="1"/>
                      <a:pt x="3" y="0"/>
                      <a:pt x="2" y="0"/>
                    </a:cubicBezTo>
                    <a:cubicBezTo>
                      <a:pt x="2" y="0"/>
                      <a:pt x="0"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09" name="Freeform 820">
                <a:extLst>
                  <a:ext uri="{FF2B5EF4-FFF2-40B4-BE49-F238E27FC236}">
                    <a16:creationId xmlns:a16="http://schemas.microsoft.com/office/drawing/2014/main" id="{2EA94B56-9D66-4CED-B587-3CBE61F93A8D}"/>
                  </a:ext>
                </a:extLst>
              </p:cNvPr>
              <p:cNvSpPr>
                <a:spLocks/>
              </p:cNvSpPr>
              <p:nvPr/>
            </p:nvSpPr>
            <p:spPr bwMode="auto">
              <a:xfrm>
                <a:off x="6187" y="2847"/>
                <a:ext cx="12" cy="5"/>
              </a:xfrm>
              <a:custGeom>
                <a:avLst/>
                <a:gdLst>
                  <a:gd name="T0" fmla="*/ 4 w 8"/>
                  <a:gd name="T1" fmla="*/ 3 h 4"/>
                  <a:gd name="T2" fmla="*/ 7 w 8"/>
                  <a:gd name="T3" fmla="*/ 1 h 4"/>
                  <a:gd name="T4" fmla="*/ 3 w 8"/>
                  <a:gd name="T5" fmla="*/ 2 h 4"/>
                  <a:gd name="T6" fmla="*/ 4 w 8"/>
                  <a:gd name="T7" fmla="*/ 3 h 4"/>
                </a:gdLst>
                <a:ahLst/>
                <a:cxnLst>
                  <a:cxn ang="0">
                    <a:pos x="T0" y="T1"/>
                  </a:cxn>
                  <a:cxn ang="0">
                    <a:pos x="T2" y="T3"/>
                  </a:cxn>
                  <a:cxn ang="0">
                    <a:pos x="T4" y="T5"/>
                  </a:cxn>
                  <a:cxn ang="0">
                    <a:pos x="T6" y="T7"/>
                  </a:cxn>
                </a:cxnLst>
                <a:rect l="0" t="0" r="r" b="b"/>
                <a:pathLst>
                  <a:path w="8" h="4">
                    <a:moveTo>
                      <a:pt x="4" y="3"/>
                    </a:moveTo>
                    <a:cubicBezTo>
                      <a:pt x="8" y="1"/>
                      <a:pt x="8" y="1"/>
                      <a:pt x="7" y="1"/>
                    </a:cubicBezTo>
                    <a:cubicBezTo>
                      <a:pt x="5" y="0"/>
                      <a:pt x="4" y="2"/>
                      <a:pt x="3" y="2"/>
                    </a:cubicBezTo>
                    <a:cubicBezTo>
                      <a:pt x="3" y="2"/>
                      <a:pt x="0" y="4"/>
                      <a:pt x="4"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10" name="Freeform 821">
                <a:extLst>
                  <a:ext uri="{FF2B5EF4-FFF2-40B4-BE49-F238E27FC236}">
                    <a16:creationId xmlns:a16="http://schemas.microsoft.com/office/drawing/2014/main" id="{4754EF79-C69F-4D13-8F80-8003B891D14E}"/>
                  </a:ext>
                </a:extLst>
              </p:cNvPr>
              <p:cNvSpPr>
                <a:spLocks/>
              </p:cNvSpPr>
              <p:nvPr/>
            </p:nvSpPr>
            <p:spPr bwMode="auto">
              <a:xfrm>
                <a:off x="6196" y="2827"/>
                <a:ext cx="14" cy="18"/>
              </a:xfrm>
              <a:custGeom>
                <a:avLst/>
                <a:gdLst>
                  <a:gd name="T0" fmla="*/ 9 w 10"/>
                  <a:gd name="T1" fmla="*/ 0 h 13"/>
                  <a:gd name="T2" fmla="*/ 7 w 10"/>
                  <a:gd name="T3" fmla="*/ 1 h 13"/>
                  <a:gd name="T4" fmla="*/ 2 w 10"/>
                  <a:gd name="T5" fmla="*/ 7 h 13"/>
                  <a:gd name="T6" fmla="*/ 2 w 10"/>
                  <a:gd name="T7" fmla="*/ 9 h 13"/>
                  <a:gd name="T8" fmla="*/ 1 w 10"/>
                  <a:gd name="T9" fmla="*/ 10 h 13"/>
                  <a:gd name="T10" fmla="*/ 2 w 10"/>
                  <a:gd name="T11" fmla="*/ 13 h 13"/>
                  <a:gd name="T12" fmla="*/ 5 w 10"/>
                  <a:gd name="T13" fmla="*/ 11 h 13"/>
                  <a:gd name="T14" fmla="*/ 7 w 10"/>
                  <a:gd name="T15" fmla="*/ 8 h 13"/>
                  <a:gd name="T16" fmla="*/ 9 w 10"/>
                  <a:gd name="T17" fmla="*/ 5 h 13"/>
                  <a:gd name="T18" fmla="*/ 9 w 10"/>
                  <a:gd name="T19" fmla="*/ 3 h 13"/>
                  <a:gd name="T20" fmla="*/ 9 w 10"/>
                  <a:gd name="T21" fmla="*/ 2 h 13"/>
                  <a:gd name="T22" fmla="*/ 9 w 10"/>
                  <a:gd name="T23"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13">
                    <a:moveTo>
                      <a:pt x="9" y="0"/>
                    </a:moveTo>
                    <a:cubicBezTo>
                      <a:pt x="9" y="0"/>
                      <a:pt x="8" y="0"/>
                      <a:pt x="7" y="1"/>
                    </a:cubicBezTo>
                    <a:cubicBezTo>
                      <a:pt x="6" y="2"/>
                      <a:pt x="3" y="5"/>
                      <a:pt x="2" y="7"/>
                    </a:cubicBezTo>
                    <a:cubicBezTo>
                      <a:pt x="2" y="8"/>
                      <a:pt x="2" y="9"/>
                      <a:pt x="2" y="9"/>
                    </a:cubicBezTo>
                    <a:cubicBezTo>
                      <a:pt x="1" y="9"/>
                      <a:pt x="1" y="9"/>
                      <a:pt x="1" y="10"/>
                    </a:cubicBezTo>
                    <a:cubicBezTo>
                      <a:pt x="1" y="10"/>
                      <a:pt x="0" y="12"/>
                      <a:pt x="2" y="13"/>
                    </a:cubicBezTo>
                    <a:cubicBezTo>
                      <a:pt x="4" y="13"/>
                      <a:pt x="4" y="13"/>
                      <a:pt x="5" y="11"/>
                    </a:cubicBezTo>
                    <a:cubicBezTo>
                      <a:pt x="5" y="10"/>
                      <a:pt x="7" y="9"/>
                      <a:pt x="7" y="8"/>
                    </a:cubicBezTo>
                    <a:cubicBezTo>
                      <a:pt x="8" y="8"/>
                      <a:pt x="9" y="6"/>
                      <a:pt x="9" y="5"/>
                    </a:cubicBezTo>
                    <a:cubicBezTo>
                      <a:pt x="9" y="4"/>
                      <a:pt x="9" y="4"/>
                      <a:pt x="9" y="3"/>
                    </a:cubicBezTo>
                    <a:cubicBezTo>
                      <a:pt x="9" y="3"/>
                      <a:pt x="8" y="2"/>
                      <a:pt x="9" y="2"/>
                    </a:cubicBezTo>
                    <a:cubicBezTo>
                      <a:pt x="10" y="1"/>
                      <a:pt x="10" y="1"/>
                      <a:pt x="9"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11" name="Freeform 822">
                <a:extLst>
                  <a:ext uri="{FF2B5EF4-FFF2-40B4-BE49-F238E27FC236}">
                    <a16:creationId xmlns:a16="http://schemas.microsoft.com/office/drawing/2014/main" id="{CA923FF2-CFB1-4352-9882-C69BFEAE98B8}"/>
                  </a:ext>
                </a:extLst>
              </p:cNvPr>
              <p:cNvSpPr>
                <a:spLocks/>
              </p:cNvSpPr>
              <p:nvPr/>
            </p:nvSpPr>
            <p:spPr bwMode="auto">
              <a:xfrm>
                <a:off x="6228" y="2796"/>
                <a:ext cx="2" cy="10"/>
              </a:xfrm>
              <a:custGeom>
                <a:avLst/>
                <a:gdLst>
                  <a:gd name="T0" fmla="*/ 0 w 2"/>
                  <a:gd name="T1" fmla="*/ 2 h 7"/>
                  <a:gd name="T2" fmla="*/ 2 w 2"/>
                  <a:gd name="T3" fmla="*/ 4 h 7"/>
                  <a:gd name="T4" fmla="*/ 1 w 2"/>
                  <a:gd name="T5" fmla="*/ 1 h 7"/>
                  <a:gd name="T6" fmla="*/ 0 w 2"/>
                  <a:gd name="T7" fmla="*/ 2 h 7"/>
                </a:gdLst>
                <a:ahLst/>
                <a:cxnLst>
                  <a:cxn ang="0">
                    <a:pos x="T0" y="T1"/>
                  </a:cxn>
                  <a:cxn ang="0">
                    <a:pos x="T2" y="T3"/>
                  </a:cxn>
                  <a:cxn ang="0">
                    <a:pos x="T4" y="T5"/>
                  </a:cxn>
                  <a:cxn ang="0">
                    <a:pos x="T6" y="T7"/>
                  </a:cxn>
                </a:cxnLst>
                <a:rect l="0" t="0" r="r" b="b"/>
                <a:pathLst>
                  <a:path w="2" h="7">
                    <a:moveTo>
                      <a:pt x="0" y="2"/>
                    </a:moveTo>
                    <a:cubicBezTo>
                      <a:pt x="1" y="4"/>
                      <a:pt x="2" y="7"/>
                      <a:pt x="2" y="4"/>
                    </a:cubicBezTo>
                    <a:cubicBezTo>
                      <a:pt x="2" y="1"/>
                      <a:pt x="2" y="1"/>
                      <a:pt x="1" y="1"/>
                    </a:cubicBezTo>
                    <a:cubicBezTo>
                      <a:pt x="1" y="1"/>
                      <a:pt x="0"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12" name="Freeform 823">
                <a:extLst>
                  <a:ext uri="{FF2B5EF4-FFF2-40B4-BE49-F238E27FC236}">
                    <a16:creationId xmlns:a16="http://schemas.microsoft.com/office/drawing/2014/main" id="{F5D5F7AE-3504-4373-9729-6419D54BEF88}"/>
                  </a:ext>
                </a:extLst>
              </p:cNvPr>
              <p:cNvSpPr>
                <a:spLocks/>
              </p:cNvSpPr>
              <p:nvPr/>
            </p:nvSpPr>
            <p:spPr bwMode="auto">
              <a:xfrm>
                <a:off x="6255" y="2806"/>
                <a:ext cx="11" cy="19"/>
              </a:xfrm>
              <a:custGeom>
                <a:avLst/>
                <a:gdLst>
                  <a:gd name="T0" fmla="*/ 2 w 8"/>
                  <a:gd name="T1" fmla="*/ 12 h 14"/>
                  <a:gd name="T2" fmla="*/ 7 w 8"/>
                  <a:gd name="T3" fmla="*/ 10 h 14"/>
                  <a:gd name="T4" fmla="*/ 8 w 8"/>
                  <a:gd name="T5" fmla="*/ 8 h 14"/>
                  <a:gd name="T6" fmla="*/ 3 w 8"/>
                  <a:gd name="T7" fmla="*/ 2 h 14"/>
                  <a:gd name="T8" fmla="*/ 3 w 8"/>
                  <a:gd name="T9" fmla="*/ 6 h 14"/>
                  <a:gd name="T10" fmla="*/ 2 w 8"/>
                  <a:gd name="T11" fmla="*/ 7 h 14"/>
                  <a:gd name="T12" fmla="*/ 2 w 8"/>
                  <a:gd name="T13" fmla="*/ 12 h 14"/>
                </a:gdLst>
                <a:ahLst/>
                <a:cxnLst>
                  <a:cxn ang="0">
                    <a:pos x="T0" y="T1"/>
                  </a:cxn>
                  <a:cxn ang="0">
                    <a:pos x="T2" y="T3"/>
                  </a:cxn>
                  <a:cxn ang="0">
                    <a:pos x="T4" y="T5"/>
                  </a:cxn>
                  <a:cxn ang="0">
                    <a:pos x="T6" y="T7"/>
                  </a:cxn>
                  <a:cxn ang="0">
                    <a:pos x="T8" y="T9"/>
                  </a:cxn>
                  <a:cxn ang="0">
                    <a:pos x="T10" y="T11"/>
                  </a:cxn>
                  <a:cxn ang="0">
                    <a:pos x="T12" y="T13"/>
                  </a:cxn>
                </a:cxnLst>
                <a:rect l="0" t="0" r="r" b="b"/>
                <a:pathLst>
                  <a:path w="8" h="14">
                    <a:moveTo>
                      <a:pt x="2" y="12"/>
                    </a:moveTo>
                    <a:cubicBezTo>
                      <a:pt x="5" y="14"/>
                      <a:pt x="6" y="10"/>
                      <a:pt x="7" y="10"/>
                    </a:cubicBezTo>
                    <a:cubicBezTo>
                      <a:pt x="7" y="9"/>
                      <a:pt x="8" y="9"/>
                      <a:pt x="8" y="8"/>
                    </a:cubicBezTo>
                    <a:cubicBezTo>
                      <a:pt x="7" y="6"/>
                      <a:pt x="4" y="4"/>
                      <a:pt x="3" y="2"/>
                    </a:cubicBezTo>
                    <a:cubicBezTo>
                      <a:pt x="1" y="0"/>
                      <a:pt x="3" y="6"/>
                      <a:pt x="3" y="6"/>
                    </a:cubicBezTo>
                    <a:cubicBezTo>
                      <a:pt x="3" y="6"/>
                      <a:pt x="3" y="7"/>
                      <a:pt x="2" y="7"/>
                    </a:cubicBezTo>
                    <a:cubicBezTo>
                      <a:pt x="2" y="8"/>
                      <a:pt x="0" y="10"/>
                      <a:pt x="2"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13" name="Freeform 824">
                <a:extLst>
                  <a:ext uri="{FF2B5EF4-FFF2-40B4-BE49-F238E27FC236}">
                    <a16:creationId xmlns:a16="http://schemas.microsoft.com/office/drawing/2014/main" id="{F6254652-B070-4B7F-B2E7-8527CD72C170}"/>
                  </a:ext>
                </a:extLst>
              </p:cNvPr>
              <p:cNvSpPr>
                <a:spLocks/>
              </p:cNvSpPr>
              <p:nvPr/>
            </p:nvSpPr>
            <p:spPr bwMode="auto">
              <a:xfrm>
                <a:off x="6261" y="2792"/>
                <a:ext cx="12" cy="20"/>
              </a:xfrm>
              <a:custGeom>
                <a:avLst/>
                <a:gdLst>
                  <a:gd name="T0" fmla="*/ 5 w 9"/>
                  <a:gd name="T1" fmla="*/ 1 h 15"/>
                  <a:gd name="T2" fmla="*/ 4 w 9"/>
                  <a:gd name="T3" fmla="*/ 3 h 15"/>
                  <a:gd name="T4" fmla="*/ 2 w 9"/>
                  <a:gd name="T5" fmla="*/ 4 h 15"/>
                  <a:gd name="T6" fmla="*/ 1 w 9"/>
                  <a:gd name="T7" fmla="*/ 6 h 15"/>
                  <a:gd name="T8" fmla="*/ 1 w 9"/>
                  <a:gd name="T9" fmla="*/ 8 h 15"/>
                  <a:gd name="T10" fmla="*/ 2 w 9"/>
                  <a:gd name="T11" fmla="*/ 13 h 15"/>
                  <a:gd name="T12" fmla="*/ 6 w 9"/>
                  <a:gd name="T13" fmla="*/ 14 h 15"/>
                  <a:gd name="T14" fmla="*/ 8 w 9"/>
                  <a:gd name="T15" fmla="*/ 13 h 15"/>
                  <a:gd name="T16" fmla="*/ 8 w 9"/>
                  <a:gd name="T17" fmla="*/ 11 h 15"/>
                  <a:gd name="T18" fmla="*/ 7 w 9"/>
                  <a:gd name="T19" fmla="*/ 9 h 15"/>
                  <a:gd name="T20" fmla="*/ 8 w 9"/>
                  <a:gd name="T21" fmla="*/ 6 h 15"/>
                  <a:gd name="T22" fmla="*/ 5 w 9"/>
                  <a:gd name="T23"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15">
                    <a:moveTo>
                      <a:pt x="5" y="1"/>
                    </a:moveTo>
                    <a:cubicBezTo>
                      <a:pt x="4" y="0"/>
                      <a:pt x="5" y="3"/>
                      <a:pt x="4" y="3"/>
                    </a:cubicBezTo>
                    <a:cubicBezTo>
                      <a:pt x="4" y="3"/>
                      <a:pt x="4" y="3"/>
                      <a:pt x="2" y="4"/>
                    </a:cubicBezTo>
                    <a:cubicBezTo>
                      <a:pt x="0" y="6"/>
                      <a:pt x="1" y="6"/>
                      <a:pt x="1" y="6"/>
                    </a:cubicBezTo>
                    <a:cubicBezTo>
                      <a:pt x="2" y="6"/>
                      <a:pt x="2" y="7"/>
                      <a:pt x="1" y="8"/>
                    </a:cubicBezTo>
                    <a:cubicBezTo>
                      <a:pt x="0" y="10"/>
                      <a:pt x="1" y="11"/>
                      <a:pt x="2" y="13"/>
                    </a:cubicBezTo>
                    <a:cubicBezTo>
                      <a:pt x="3" y="14"/>
                      <a:pt x="5" y="15"/>
                      <a:pt x="6" y="14"/>
                    </a:cubicBezTo>
                    <a:cubicBezTo>
                      <a:pt x="8" y="14"/>
                      <a:pt x="8" y="13"/>
                      <a:pt x="8" y="13"/>
                    </a:cubicBezTo>
                    <a:cubicBezTo>
                      <a:pt x="7" y="12"/>
                      <a:pt x="7" y="12"/>
                      <a:pt x="8" y="11"/>
                    </a:cubicBezTo>
                    <a:cubicBezTo>
                      <a:pt x="8" y="11"/>
                      <a:pt x="8" y="10"/>
                      <a:pt x="7" y="9"/>
                    </a:cubicBezTo>
                    <a:cubicBezTo>
                      <a:pt x="7" y="9"/>
                      <a:pt x="6" y="9"/>
                      <a:pt x="8" y="6"/>
                    </a:cubicBezTo>
                    <a:cubicBezTo>
                      <a:pt x="9" y="4"/>
                      <a:pt x="7" y="1"/>
                      <a:pt x="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14" name="Freeform 825">
                <a:extLst>
                  <a:ext uri="{FF2B5EF4-FFF2-40B4-BE49-F238E27FC236}">
                    <a16:creationId xmlns:a16="http://schemas.microsoft.com/office/drawing/2014/main" id="{F990D746-99E4-4446-8725-EF5648F862E1}"/>
                  </a:ext>
                </a:extLst>
              </p:cNvPr>
              <p:cNvSpPr>
                <a:spLocks/>
              </p:cNvSpPr>
              <p:nvPr/>
            </p:nvSpPr>
            <p:spPr bwMode="auto">
              <a:xfrm>
                <a:off x="6233" y="2795"/>
                <a:ext cx="3" cy="9"/>
              </a:xfrm>
              <a:custGeom>
                <a:avLst/>
                <a:gdLst>
                  <a:gd name="T0" fmla="*/ 0 w 2"/>
                  <a:gd name="T1" fmla="*/ 7 h 7"/>
                  <a:gd name="T2" fmla="*/ 2 w 2"/>
                  <a:gd name="T3" fmla="*/ 3 h 7"/>
                  <a:gd name="T4" fmla="*/ 0 w 2"/>
                  <a:gd name="T5" fmla="*/ 7 h 7"/>
                </a:gdLst>
                <a:ahLst/>
                <a:cxnLst>
                  <a:cxn ang="0">
                    <a:pos x="T0" y="T1"/>
                  </a:cxn>
                  <a:cxn ang="0">
                    <a:pos x="T2" y="T3"/>
                  </a:cxn>
                  <a:cxn ang="0">
                    <a:pos x="T4" y="T5"/>
                  </a:cxn>
                </a:cxnLst>
                <a:rect l="0" t="0" r="r" b="b"/>
                <a:pathLst>
                  <a:path w="2" h="7">
                    <a:moveTo>
                      <a:pt x="0" y="7"/>
                    </a:moveTo>
                    <a:cubicBezTo>
                      <a:pt x="0" y="7"/>
                      <a:pt x="1" y="3"/>
                      <a:pt x="2" y="3"/>
                    </a:cubicBezTo>
                    <a:cubicBezTo>
                      <a:pt x="2" y="2"/>
                      <a:pt x="2" y="0"/>
                      <a:pt x="0"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15" name="Freeform 826">
                <a:extLst>
                  <a:ext uri="{FF2B5EF4-FFF2-40B4-BE49-F238E27FC236}">
                    <a16:creationId xmlns:a16="http://schemas.microsoft.com/office/drawing/2014/main" id="{7171871D-C6A2-4EEA-9428-0190814D5E45}"/>
                  </a:ext>
                </a:extLst>
              </p:cNvPr>
              <p:cNvSpPr>
                <a:spLocks/>
              </p:cNvSpPr>
              <p:nvPr/>
            </p:nvSpPr>
            <p:spPr bwMode="auto">
              <a:xfrm>
                <a:off x="6236" y="2788"/>
                <a:ext cx="3" cy="8"/>
              </a:xfrm>
              <a:custGeom>
                <a:avLst/>
                <a:gdLst>
                  <a:gd name="T0" fmla="*/ 0 w 2"/>
                  <a:gd name="T1" fmla="*/ 6 h 6"/>
                  <a:gd name="T2" fmla="*/ 2 w 2"/>
                  <a:gd name="T3" fmla="*/ 2 h 6"/>
                  <a:gd name="T4" fmla="*/ 0 w 2"/>
                  <a:gd name="T5" fmla="*/ 6 h 6"/>
                </a:gdLst>
                <a:ahLst/>
                <a:cxnLst>
                  <a:cxn ang="0">
                    <a:pos x="T0" y="T1"/>
                  </a:cxn>
                  <a:cxn ang="0">
                    <a:pos x="T2" y="T3"/>
                  </a:cxn>
                  <a:cxn ang="0">
                    <a:pos x="T4" y="T5"/>
                  </a:cxn>
                </a:cxnLst>
                <a:rect l="0" t="0" r="r" b="b"/>
                <a:pathLst>
                  <a:path w="2" h="6">
                    <a:moveTo>
                      <a:pt x="0" y="6"/>
                    </a:moveTo>
                    <a:cubicBezTo>
                      <a:pt x="2" y="2"/>
                      <a:pt x="2" y="2"/>
                      <a:pt x="2" y="2"/>
                    </a:cubicBezTo>
                    <a:cubicBezTo>
                      <a:pt x="2" y="2"/>
                      <a:pt x="2" y="0"/>
                      <a:pt x="0"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16" name="Freeform 827">
                <a:extLst>
                  <a:ext uri="{FF2B5EF4-FFF2-40B4-BE49-F238E27FC236}">
                    <a16:creationId xmlns:a16="http://schemas.microsoft.com/office/drawing/2014/main" id="{4826FB1A-BE15-4638-8365-49046B5DEA0F}"/>
                  </a:ext>
                </a:extLst>
              </p:cNvPr>
              <p:cNvSpPr>
                <a:spLocks/>
              </p:cNvSpPr>
              <p:nvPr/>
            </p:nvSpPr>
            <p:spPr bwMode="auto">
              <a:xfrm>
                <a:off x="6241" y="2766"/>
                <a:ext cx="5" cy="2"/>
              </a:xfrm>
              <a:custGeom>
                <a:avLst/>
                <a:gdLst>
                  <a:gd name="T0" fmla="*/ 3 w 3"/>
                  <a:gd name="T1" fmla="*/ 2 h 2"/>
                  <a:gd name="T2" fmla="*/ 1 w 3"/>
                  <a:gd name="T3" fmla="*/ 0 h 2"/>
                  <a:gd name="T4" fmla="*/ 3 w 3"/>
                  <a:gd name="T5" fmla="*/ 2 h 2"/>
                </a:gdLst>
                <a:ahLst/>
                <a:cxnLst>
                  <a:cxn ang="0">
                    <a:pos x="T0" y="T1"/>
                  </a:cxn>
                  <a:cxn ang="0">
                    <a:pos x="T2" y="T3"/>
                  </a:cxn>
                  <a:cxn ang="0">
                    <a:pos x="T4" y="T5"/>
                  </a:cxn>
                </a:cxnLst>
                <a:rect l="0" t="0" r="r" b="b"/>
                <a:pathLst>
                  <a:path w="3" h="2">
                    <a:moveTo>
                      <a:pt x="3" y="2"/>
                    </a:moveTo>
                    <a:cubicBezTo>
                      <a:pt x="3" y="1"/>
                      <a:pt x="1" y="0"/>
                      <a:pt x="1" y="0"/>
                    </a:cubicBezTo>
                    <a:cubicBezTo>
                      <a:pt x="0" y="1"/>
                      <a:pt x="3" y="2"/>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17" name="Freeform 828">
                <a:extLst>
                  <a:ext uri="{FF2B5EF4-FFF2-40B4-BE49-F238E27FC236}">
                    <a16:creationId xmlns:a16="http://schemas.microsoft.com/office/drawing/2014/main" id="{81831FA4-8983-4AB6-B0BF-FDA0E31E8683}"/>
                  </a:ext>
                </a:extLst>
              </p:cNvPr>
              <p:cNvSpPr>
                <a:spLocks/>
              </p:cNvSpPr>
              <p:nvPr/>
            </p:nvSpPr>
            <p:spPr bwMode="auto">
              <a:xfrm>
                <a:off x="5943" y="2646"/>
                <a:ext cx="132" cy="153"/>
              </a:xfrm>
              <a:custGeom>
                <a:avLst/>
                <a:gdLst>
                  <a:gd name="T0" fmla="*/ 16 w 96"/>
                  <a:gd name="T1" fmla="*/ 36 h 111"/>
                  <a:gd name="T2" fmla="*/ 13 w 96"/>
                  <a:gd name="T3" fmla="*/ 38 h 111"/>
                  <a:gd name="T4" fmla="*/ 9 w 96"/>
                  <a:gd name="T5" fmla="*/ 50 h 111"/>
                  <a:gd name="T6" fmla="*/ 1 w 96"/>
                  <a:gd name="T7" fmla="*/ 65 h 111"/>
                  <a:gd name="T8" fmla="*/ 1 w 96"/>
                  <a:gd name="T9" fmla="*/ 71 h 111"/>
                  <a:gd name="T10" fmla="*/ 10 w 96"/>
                  <a:gd name="T11" fmla="*/ 78 h 111"/>
                  <a:gd name="T12" fmla="*/ 13 w 96"/>
                  <a:gd name="T13" fmla="*/ 86 h 111"/>
                  <a:gd name="T14" fmla="*/ 10 w 96"/>
                  <a:gd name="T15" fmla="*/ 108 h 111"/>
                  <a:gd name="T16" fmla="*/ 13 w 96"/>
                  <a:gd name="T17" fmla="*/ 110 h 111"/>
                  <a:gd name="T18" fmla="*/ 18 w 96"/>
                  <a:gd name="T19" fmla="*/ 109 h 111"/>
                  <a:gd name="T20" fmla="*/ 24 w 96"/>
                  <a:gd name="T21" fmla="*/ 109 h 111"/>
                  <a:gd name="T22" fmla="*/ 24 w 96"/>
                  <a:gd name="T23" fmla="*/ 99 h 111"/>
                  <a:gd name="T24" fmla="*/ 25 w 96"/>
                  <a:gd name="T25" fmla="*/ 78 h 111"/>
                  <a:gd name="T26" fmla="*/ 24 w 96"/>
                  <a:gd name="T27" fmla="*/ 68 h 111"/>
                  <a:gd name="T28" fmla="*/ 35 w 96"/>
                  <a:gd name="T29" fmla="*/ 69 h 111"/>
                  <a:gd name="T30" fmla="*/ 35 w 96"/>
                  <a:gd name="T31" fmla="*/ 82 h 111"/>
                  <a:gd name="T32" fmla="*/ 42 w 96"/>
                  <a:gd name="T33" fmla="*/ 86 h 111"/>
                  <a:gd name="T34" fmla="*/ 42 w 96"/>
                  <a:gd name="T35" fmla="*/ 95 h 111"/>
                  <a:gd name="T36" fmla="*/ 51 w 96"/>
                  <a:gd name="T37" fmla="*/ 94 h 111"/>
                  <a:gd name="T38" fmla="*/ 59 w 96"/>
                  <a:gd name="T39" fmla="*/ 92 h 111"/>
                  <a:gd name="T40" fmla="*/ 60 w 96"/>
                  <a:gd name="T41" fmla="*/ 87 h 111"/>
                  <a:gd name="T42" fmla="*/ 58 w 96"/>
                  <a:gd name="T43" fmla="*/ 86 h 111"/>
                  <a:gd name="T44" fmla="*/ 57 w 96"/>
                  <a:gd name="T45" fmla="*/ 83 h 111"/>
                  <a:gd name="T46" fmla="*/ 53 w 96"/>
                  <a:gd name="T47" fmla="*/ 78 h 111"/>
                  <a:gd name="T48" fmla="*/ 55 w 96"/>
                  <a:gd name="T49" fmla="*/ 74 h 111"/>
                  <a:gd name="T50" fmla="*/ 49 w 96"/>
                  <a:gd name="T51" fmla="*/ 66 h 111"/>
                  <a:gd name="T52" fmla="*/ 43 w 96"/>
                  <a:gd name="T53" fmla="*/ 58 h 111"/>
                  <a:gd name="T54" fmla="*/ 38 w 96"/>
                  <a:gd name="T55" fmla="*/ 54 h 111"/>
                  <a:gd name="T56" fmla="*/ 45 w 96"/>
                  <a:gd name="T57" fmla="*/ 53 h 111"/>
                  <a:gd name="T58" fmla="*/ 61 w 96"/>
                  <a:gd name="T59" fmla="*/ 40 h 111"/>
                  <a:gd name="T60" fmla="*/ 69 w 96"/>
                  <a:gd name="T61" fmla="*/ 39 h 111"/>
                  <a:gd name="T62" fmla="*/ 64 w 96"/>
                  <a:gd name="T63" fmla="*/ 35 h 111"/>
                  <a:gd name="T64" fmla="*/ 57 w 96"/>
                  <a:gd name="T65" fmla="*/ 37 h 111"/>
                  <a:gd name="T66" fmla="*/ 44 w 96"/>
                  <a:gd name="T67" fmla="*/ 39 h 111"/>
                  <a:gd name="T68" fmla="*/ 36 w 96"/>
                  <a:gd name="T69" fmla="*/ 45 h 111"/>
                  <a:gd name="T70" fmla="*/ 29 w 96"/>
                  <a:gd name="T71" fmla="*/ 46 h 111"/>
                  <a:gd name="T72" fmla="*/ 25 w 96"/>
                  <a:gd name="T73" fmla="*/ 40 h 111"/>
                  <a:gd name="T74" fmla="*/ 21 w 96"/>
                  <a:gd name="T75" fmla="*/ 39 h 111"/>
                  <a:gd name="T76" fmla="*/ 34 w 96"/>
                  <a:gd name="T77" fmla="*/ 19 h 111"/>
                  <a:gd name="T78" fmla="*/ 67 w 96"/>
                  <a:gd name="T79" fmla="*/ 20 h 111"/>
                  <a:gd name="T80" fmla="*/ 83 w 96"/>
                  <a:gd name="T81" fmla="*/ 19 h 111"/>
                  <a:gd name="T82" fmla="*/ 95 w 96"/>
                  <a:gd name="T83" fmla="*/ 5 h 111"/>
                  <a:gd name="T84" fmla="*/ 91 w 96"/>
                  <a:gd name="T85" fmla="*/ 2 h 111"/>
                  <a:gd name="T86" fmla="*/ 87 w 96"/>
                  <a:gd name="T87" fmla="*/ 7 h 111"/>
                  <a:gd name="T88" fmla="*/ 75 w 96"/>
                  <a:gd name="T89" fmla="*/ 13 h 111"/>
                  <a:gd name="T90" fmla="*/ 54 w 96"/>
                  <a:gd name="T91" fmla="*/ 11 h 111"/>
                  <a:gd name="T92" fmla="*/ 41 w 96"/>
                  <a:gd name="T93" fmla="*/ 8 h 111"/>
                  <a:gd name="T94" fmla="*/ 32 w 96"/>
                  <a:gd name="T95" fmla="*/ 6 h 111"/>
                  <a:gd name="T96" fmla="*/ 28 w 96"/>
                  <a:gd name="T97" fmla="*/ 13 h 111"/>
                  <a:gd name="T98" fmla="*/ 24 w 96"/>
                  <a:gd name="T99" fmla="*/ 12 h 111"/>
                  <a:gd name="T100" fmla="*/ 19 w 96"/>
                  <a:gd name="T101" fmla="*/ 17 h 111"/>
                  <a:gd name="T102" fmla="*/ 15 w 96"/>
                  <a:gd name="T103" fmla="*/ 24 h 111"/>
                  <a:gd name="T104" fmla="*/ 15 w 96"/>
                  <a:gd name="T105" fmla="*/ 28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6" h="111">
                    <a:moveTo>
                      <a:pt x="15" y="28"/>
                    </a:moveTo>
                    <a:cubicBezTo>
                      <a:pt x="16" y="28"/>
                      <a:pt x="16" y="33"/>
                      <a:pt x="16" y="36"/>
                    </a:cubicBezTo>
                    <a:cubicBezTo>
                      <a:pt x="16" y="38"/>
                      <a:pt x="16" y="37"/>
                      <a:pt x="15" y="36"/>
                    </a:cubicBezTo>
                    <a:cubicBezTo>
                      <a:pt x="15" y="34"/>
                      <a:pt x="14" y="36"/>
                      <a:pt x="13" y="38"/>
                    </a:cubicBezTo>
                    <a:cubicBezTo>
                      <a:pt x="12" y="40"/>
                      <a:pt x="10" y="42"/>
                      <a:pt x="10" y="43"/>
                    </a:cubicBezTo>
                    <a:cubicBezTo>
                      <a:pt x="9" y="44"/>
                      <a:pt x="8" y="46"/>
                      <a:pt x="9" y="50"/>
                    </a:cubicBezTo>
                    <a:cubicBezTo>
                      <a:pt x="10" y="54"/>
                      <a:pt x="4" y="61"/>
                      <a:pt x="3" y="63"/>
                    </a:cubicBezTo>
                    <a:cubicBezTo>
                      <a:pt x="3" y="64"/>
                      <a:pt x="2" y="65"/>
                      <a:pt x="1" y="65"/>
                    </a:cubicBezTo>
                    <a:cubicBezTo>
                      <a:pt x="1" y="64"/>
                      <a:pt x="1" y="66"/>
                      <a:pt x="1" y="67"/>
                    </a:cubicBezTo>
                    <a:cubicBezTo>
                      <a:pt x="2" y="68"/>
                      <a:pt x="2" y="70"/>
                      <a:pt x="1" y="71"/>
                    </a:cubicBezTo>
                    <a:cubicBezTo>
                      <a:pt x="0" y="72"/>
                      <a:pt x="1" y="74"/>
                      <a:pt x="3" y="77"/>
                    </a:cubicBezTo>
                    <a:cubicBezTo>
                      <a:pt x="5" y="80"/>
                      <a:pt x="8" y="79"/>
                      <a:pt x="10" y="78"/>
                    </a:cubicBezTo>
                    <a:cubicBezTo>
                      <a:pt x="11" y="78"/>
                      <a:pt x="11" y="78"/>
                      <a:pt x="11" y="80"/>
                    </a:cubicBezTo>
                    <a:cubicBezTo>
                      <a:pt x="11" y="81"/>
                      <a:pt x="13" y="84"/>
                      <a:pt x="13" y="86"/>
                    </a:cubicBezTo>
                    <a:cubicBezTo>
                      <a:pt x="14" y="89"/>
                      <a:pt x="12" y="96"/>
                      <a:pt x="12" y="99"/>
                    </a:cubicBezTo>
                    <a:cubicBezTo>
                      <a:pt x="11" y="101"/>
                      <a:pt x="10" y="106"/>
                      <a:pt x="10" y="108"/>
                    </a:cubicBezTo>
                    <a:cubicBezTo>
                      <a:pt x="10" y="110"/>
                      <a:pt x="10" y="110"/>
                      <a:pt x="11" y="109"/>
                    </a:cubicBezTo>
                    <a:cubicBezTo>
                      <a:pt x="12" y="108"/>
                      <a:pt x="12" y="109"/>
                      <a:pt x="13" y="110"/>
                    </a:cubicBezTo>
                    <a:cubicBezTo>
                      <a:pt x="13" y="111"/>
                      <a:pt x="15" y="111"/>
                      <a:pt x="15" y="110"/>
                    </a:cubicBezTo>
                    <a:cubicBezTo>
                      <a:pt x="16" y="110"/>
                      <a:pt x="17" y="109"/>
                      <a:pt x="18" y="109"/>
                    </a:cubicBezTo>
                    <a:cubicBezTo>
                      <a:pt x="19" y="109"/>
                      <a:pt x="20" y="109"/>
                      <a:pt x="21" y="109"/>
                    </a:cubicBezTo>
                    <a:cubicBezTo>
                      <a:pt x="22" y="108"/>
                      <a:pt x="22" y="108"/>
                      <a:pt x="24" y="109"/>
                    </a:cubicBezTo>
                    <a:cubicBezTo>
                      <a:pt x="26" y="110"/>
                      <a:pt x="25" y="109"/>
                      <a:pt x="24" y="107"/>
                    </a:cubicBezTo>
                    <a:cubicBezTo>
                      <a:pt x="23" y="105"/>
                      <a:pt x="23" y="101"/>
                      <a:pt x="24" y="99"/>
                    </a:cubicBezTo>
                    <a:cubicBezTo>
                      <a:pt x="25" y="97"/>
                      <a:pt x="25" y="93"/>
                      <a:pt x="25" y="91"/>
                    </a:cubicBezTo>
                    <a:cubicBezTo>
                      <a:pt x="24" y="90"/>
                      <a:pt x="25" y="81"/>
                      <a:pt x="25" y="78"/>
                    </a:cubicBezTo>
                    <a:cubicBezTo>
                      <a:pt x="26" y="76"/>
                      <a:pt x="24" y="74"/>
                      <a:pt x="23" y="73"/>
                    </a:cubicBezTo>
                    <a:cubicBezTo>
                      <a:pt x="22" y="71"/>
                      <a:pt x="23" y="69"/>
                      <a:pt x="24" y="68"/>
                    </a:cubicBezTo>
                    <a:cubicBezTo>
                      <a:pt x="25" y="68"/>
                      <a:pt x="27" y="66"/>
                      <a:pt x="31" y="65"/>
                    </a:cubicBezTo>
                    <a:cubicBezTo>
                      <a:pt x="34" y="64"/>
                      <a:pt x="35" y="66"/>
                      <a:pt x="35" y="69"/>
                    </a:cubicBezTo>
                    <a:cubicBezTo>
                      <a:pt x="35" y="72"/>
                      <a:pt x="34" y="74"/>
                      <a:pt x="32" y="75"/>
                    </a:cubicBezTo>
                    <a:cubicBezTo>
                      <a:pt x="31" y="77"/>
                      <a:pt x="33" y="80"/>
                      <a:pt x="35" y="82"/>
                    </a:cubicBezTo>
                    <a:cubicBezTo>
                      <a:pt x="36" y="83"/>
                      <a:pt x="36" y="82"/>
                      <a:pt x="38" y="84"/>
                    </a:cubicBezTo>
                    <a:cubicBezTo>
                      <a:pt x="40" y="85"/>
                      <a:pt x="40" y="85"/>
                      <a:pt x="42" y="86"/>
                    </a:cubicBezTo>
                    <a:cubicBezTo>
                      <a:pt x="44" y="87"/>
                      <a:pt x="42" y="90"/>
                      <a:pt x="41" y="92"/>
                    </a:cubicBezTo>
                    <a:cubicBezTo>
                      <a:pt x="40" y="93"/>
                      <a:pt x="41" y="94"/>
                      <a:pt x="42" y="95"/>
                    </a:cubicBezTo>
                    <a:cubicBezTo>
                      <a:pt x="43" y="96"/>
                      <a:pt x="43" y="98"/>
                      <a:pt x="47" y="98"/>
                    </a:cubicBezTo>
                    <a:cubicBezTo>
                      <a:pt x="51" y="98"/>
                      <a:pt x="51" y="95"/>
                      <a:pt x="51" y="94"/>
                    </a:cubicBezTo>
                    <a:cubicBezTo>
                      <a:pt x="51" y="92"/>
                      <a:pt x="53" y="92"/>
                      <a:pt x="54" y="92"/>
                    </a:cubicBezTo>
                    <a:cubicBezTo>
                      <a:pt x="56" y="92"/>
                      <a:pt x="56" y="91"/>
                      <a:pt x="59" y="92"/>
                    </a:cubicBezTo>
                    <a:cubicBezTo>
                      <a:pt x="61" y="93"/>
                      <a:pt x="62" y="91"/>
                      <a:pt x="62" y="89"/>
                    </a:cubicBezTo>
                    <a:cubicBezTo>
                      <a:pt x="63" y="87"/>
                      <a:pt x="61" y="87"/>
                      <a:pt x="60" y="87"/>
                    </a:cubicBezTo>
                    <a:cubicBezTo>
                      <a:pt x="60" y="87"/>
                      <a:pt x="59" y="87"/>
                      <a:pt x="59" y="87"/>
                    </a:cubicBezTo>
                    <a:cubicBezTo>
                      <a:pt x="59" y="86"/>
                      <a:pt x="59" y="86"/>
                      <a:pt x="58" y="86"/>
                    </a:cubicBezTo>
                    <a:cubicBezTo>
                      <a:pt x="57" y="86"/>
                      <a:pt x="57" y="85"/>
                      <a:pt x="58" y="85"/>
                    </a:cubicBezTo>
                    <a:cubicBezTo>
                      <a:pt x="59" y="84"/>
                      <a:pt x="58" y="83"/>
                      <a:pt x="57" y="83"/>
                    </a:cubicBezTo>
                    <a:cubicBezTo>
                      <a:pt x="56" y="82"/>
                      <a:pt x="56" y="82"/>
                      <a:pt x="53" y="81"/>
                    </a:cubicBezTo>
                    <a:cubicBezTo>
                      <a:pt x="51" y="80"/>
                      <a:pt x="52" y="79"/>
                      <a:pt x="53" y="78"/>
                    </a:cubicBezTo>
                    <a:cubicBezTo>
                      <a:pt x="54" y="77"/>
                      <a:pt x="54" y="77"/>
                      <a:pt x="54" y="75"/>
                    </a:cubicBezTo>
                    <a:cubicBezTo>
                      <a:pt x="54" y="74"/>
                      <a:pt x="54" y="75"/>
                      <a:pt x="55" y="74"/>
                    </a:cubicBezTo>
                    <a:cubicBezTo>
                      <a:pt x="56" y="73"/>
                      <a:pt x="54" y="72"/>
                      <a:pt x="53" y="70"/>
                    </a:cubicBezTo>
                    <a:cubicBezTo>
                      <a:pt x="51" y="69"/>
                      <a:pt x="50" y="68"/>
                      <a:pt x="49" y="66"/>
                    </a:cubicBezTo>
                    <a:cubicBezTo>
                      <a:pt x="48" y="65"/>
                      <a:pt x="47" y="61"/>
                      <a:pt x="46" y="61"/>
                    </a:cubicBezTo>
                    <a:cubicBezTo>
                      <a:pt x="45" y="60"/>
                      <a:pt x="45" y="58"/>
                      <a:pt x="43" y="58"/>
                    </a:cubicBezTo>
                    <a:cubicBezTo>
                      <a:pt x="42" y="59"/>
                      <a:pt x="41" y="56"/>
                      <a:pt x="40" y="55"/>
                    </a:cubicBezTo>
                    <a:cubicBezTo>
                      <a:pt x="39" y="54"/>
                      <a:pt x="38" y="55"/>
                      <a:pt x="38" y="54"/>
                    </a:cubicBezTo>
                    <a:cubicBezTo>
                      <a:pt x="39" y="53"/>
                      <a:pt x="39" y="54"/>
                      <a:pt x="41" y="54"/>
                    </a:cubicBezTo>
                    <a:cubicBezTo>
                      <a:pt x="42" y="54"/>
                      <a:pt x="44" y="54"/>
                      <a:pt x="45" y="53"/>
                    </a:cubicBezTo>
                    <a:cubicBezTo>
                      <a:pt x="46" y="52"/>
                      <a:pt x="52" y="48"/>
                      <a:pt x="55" y="46"/>
                    </a:cubicBezTo>
                    <a:cubicBezTo>
                      <a:pt x="57" y="45"/>
                      <a:pt x="59" y="41"/>
                      <a:pt x="61" y="40"/>
                    </a:cubicBezTo>
                    <a:cubicBezTo>
                      <a:pt x="62" y="38"/>
                      <a:pt x="65" y="39"/>
                      <a:pt x="67" y="40"/>
                    </a:cubicBezTo>
                    <a:cubicBezTo>
                      <a:pt x="69" y="41"/>
                      <a:pt x="69" y="40"/>
                      <a:pt x="69" y="39"/>
                    </a:cubicBezTo>
                    <a:cubicBezTo>
                      <a:pt x="69" y="38"/>
                      <a:pt x="70" y="37"/>
                      <a:pt x="69" y="36"/>
                    </a:cubicBezTo>
                    <a:cubicBezTo>
                      <a:pt x="68" y="34"/>
                      <a:pt x="65" y="34"/>
                      <a:pt x="64" y="35"/>
                    </a:cubicBezTo>
                    <a:cubicBezTo>
                      <a:pt x="63" y="36"/>
                      <a:pt x="62" y="36"/>
                      <a:pt x="63" y="37"/>
                    </a:cubicBezTo>
                    <a:cubicBezTo>
                      <a:pt x="64" y="38"/>
                      <a:pt x="63" y="37"/>
                      <a:pt x="57" y="37"/>
                    </a:cubicBezTo>
                    <a:cubicBezTo>
                      <a:pt x="50" y="37"/>
                      <a:pt x="49" y="38"/>
                      <a:pt x="48" y="40"/>
                    </a:cubicBezTo>
                    <a:cubicBezTo>
                      <a:pt x="46" y="41"/>
                      <a:pt x="45" y="39"/>
                      <a:pt x="44" y="39"/>
                    </a:cubicBezTo>
                    <a:cubicBezTo>
                      <a:pt x="43" y="39"/>
                      <a:pt x="43" y="38"/>
                      <a:pt x="42" y="39"/>
                    </a:cubicBezTo>
                    <a:cubicBezTo>
                      <a:pt x="41" y="40"/>
                      <a:pt x="37" y="43"/>
                      <a:pt x="36" y="45"/>
                    </a:cubicBezTo>
                    <a:cubicBezTo>
                      <a:pt x="35" y="48"/>
                      <a:pt x="33" y="47"/>
                      <a:pt x="32" y="47"/>
                    </a:cubicBezTo>
                    <a:cubicBezTo>
                      <a:pt x="31" y="46"/>
                      <a:pt x="30" y="46"/>
                      <a:pt x="29" y="46"/>
                    </a:cubicBezTo>
                    <a:cubicBezTo>
                      <a:pt x="29" y="47"/>
                      <a:pt x="29" y="47"/>
                      <a:pt x="28" y="44"/>
                    </a:cubicBezTo>
                    <a:cubicBezTo>
                      <a:pt x="28" y="42"/>
                      <a:pt x="26" y="40"/>
                      <a:pt x="25" y="40"/>
                    </a:cubicBezTo>
                    <a:cubicBezTo>
                      <a:pt x="25" y="39"/>
                      <a:pt x="24" y="40"/>
                      <a:pt x="24" y="40"/>
                    </a:cubicBezTo>
                    <a:cubicBezTo>
                      <a:pt x="23" y="41"/>
                      <a:pt x="21" y="39"/>
                      <a:pt x="21" y="39"/>
                    </a:cubicBezTo>
                    <a:cubicBezTo>
                      <a:pt x="19" y="33"/>
                      <a:pt x="17" y="33"/>
                      <a:pt x="20" y="24"/>
                    </a:cubicBezTo>
                    <a:cubicBezTo>
                      <a:pt x="23" y="15"/>
                      <a:pt x="31" y="18"/>
                      <a:pt x="34" y="19"/>
                    </a:cubicBezTo>
                    <a:cubicBezTo>
                      <a:pt x="37" y="19"/>
                      <a:pt x="52" y="19"/>
                      <a:pt x="55" y="19"/>
                    </a:cubicBezTo>
                    <a:cubicBezTo>
                      <a:pt x="57" y="18"/>
                      <a:pt x="63" y="18"/>
                      <a:pt x="67" y="20"/>
                    </a:cubicBezTo>
                    <a:cubicBezTo>
                      <a:pt x="72" y="23"/>
                      <a:pt x="76" y="22"/>
                      <a:pt x="77" y="22"/>
                    </a:cubicBezTo>
                    <a:cubicBezTo>
                      <a:pt x="79" y="21"/>
                      <a:pt x="82" y="21"/>
                      <a:pt x="83" y="19"/>
                    </a:cubicBezTo>
                    <a:cubicBezTo>
                      <a:pt x="85" y="17"/>
                      <a:pt x="89" y="13"/>
                      <a:pt x="90" y="12"/>
                    </a:cubicBezTo>
                    <a:cubicBezTo>
                      <a:pt x="92" y="11"/>
                      <a:pt x="94" y="7"/>
                      <a:pt x="95" y="5"/>
                    </a:cubicBezTo>
                    <a:cubicBezTo>
                      <a:pt x="96" y="2"/>
                      <a:pt x="96" y="2"/>
                      <a:pt x="95" y="1"/>
                    </a:cubicBezTo>
                    <a:cubicBezTo>
                      <a:pt x="94" y="0"/>
                      <a:pt x="92" y="1"/>
                      <a:pt x="91" y="2"/>
                    </a:cubicBezTo>
                    <a:cubicBezTo>
                      <a:pt x="90" y="2"/>
                      <a:pt x="89" y="5"/>
                      <a:pt x="88" y="5"/>
                    </a:cubicBezTo>
                    <a:cubicBezTo>
                      <a:pt x="86" y="5"/>
                      <a:pt x="87" y="6"/>
                      <a:pt x="87" y="7"/>
                    </a:cubicBezTo>
                    <a:cubicBezTo>
                      <a:pt x="88" y="9"/>
                      <a:pt x="80" y="12"/>
                      <a:pt x="79" y="12"/>
                    </a:cubicBezTo>
                    <a:cubicBezTo>
                      <a:pt x="77" y="13"/>
                      <a:pt x="76" y="14"/>
                      <a:pt x="75" y="13"/>
                    </a:cubicBezTo>
                    <a:cubicBezTo>
                      <a:pt x="74" y="13"/>
                      <a:pt x="64" y="13"/>
                      <a:pt x="63" y="13"/>
                    </a:cubicBezTo>
                    <a:cubicBezTo>
                      <a:pt x="62" y="13"/>
                      <a:pt x="55" y="12"/>
                      <a:pt x="54" y="11"/>
                    </a:cubicBezTo>
                    <a:cubicBezTo>
                      <a:pt x="52" y="10"/>
                      <a:pt x="46" y="10"/>
                      <a:pt x="44" y="10"/>
                    </a:cubicBezTo>
                    <a:cubicBezTo>
                      <a:pt x="43" y="10"/>
                      <a:pt x="42" y="9"/>
                      <a:pt x="41" y="8"/>
                    </a:cubicBezTo>
                    <a:cubicBezTo>
                      <a:pt x="41" y="7"/>
                      <a:pt x="39" y="7"/>
                      <a:pt x="38" y="7"/>
                    </a:cubicBezTo>
                    <a:cubicBezTo>
                      <a:pt x="37" y="8"/>
                      <a:pt x="33" y="7"/>
                      <a:pt x="32" y="6"/>
                    </a:cubicBezTo>
                    <a:cubicBezTo>
                      <a:pt x="31" y="6"/>
                      <a:pt x="31" y="9"/>
                      <a:pt x="30" y="10"/>
                    </a:cubicBezTo>
                    <a:cubicBezTo>
                      <a:pt x="30" y="11"/>
                      <a:pt x="29" y="12"/>
                      <a:pt x="28" y="13"/>
                    </a:cubicBezTo>
                    <a:cubicBezTo>
                      <a:pt x="27" y="14"/>
                      <a:pt x="27" y="14"/>
                      <a:pt x="27" y="14"/>
                    </a:cubicBezTo>
                    <a:cubicBezTo>
                      <a:pt x="26" y="14"/>
                      <a:pt x="24" y="13"/>
                      <a:pt x="24" y="12"/>
                    </a:cubicBezTo>
                    <a:cubicBezTo>
                      <a:pt x="24" y="10"/>
                      <a:pt x="22" y="14"/>
                      <a:pt x="21" y="14"/>
                    </a:cubicBezTo>
                    <a:cubicBezTo>
                      <a:pt x="20" y="15"/>
                      <a:pt x="20" y="16"/>
                      <a:pt x="19" y="17"/>
                    </a:cubicBezTo>
                    <a:cubicBezTo>
                      <a:pt x="19" y="18"/>
                      <a:pt x="18" y="18"/>
                      <a:pt x="18" y="19"/>
                    </a:cubicBezTo>
                    <a:cubicBezTo>
                      <a:pt x="17" y="20"/>
                      <a:pt x="16" y="23"/>
                      <a:pt x="15" y="24"/>
                    </a:cubicBezTo>
                    <a:cubicBezTo>
                      <a:pt x="15" y="25"/>
                      <a:pt x="15" y="26"/>
                      <a:pt x="14" y="26"/>
                    </a:cubicBezTo>
                    <a:cubicBezTo>
                      <a:pt x="13" y="26"/>
                      <a:pt x="15" y="28"/>
                      <a:pt x="15" y="2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18" name="Freeform 829">
                <a:extLst>
                  <a:ext uri="{FF2B5EF4-FFF2-40B4-BE49-F238E27FC236}">
                    <a16:creationId xmlns:a16="http://schemas.microsoft.com/office/drawing/2014/main" id="{F53F8061-7C39-4AB2-B375-FA660FB31D71}"/>
                  </a:ext>
                </a:extLst>
              </p:cNvPr>
              <p:cNvSpPr>
                <a:spLocks/>
              </p:cNvSpPr>
              <p:nvPr/>
            </p:nvSpPr>
            <p:spPr bwMode="auto">
              <a:xfrm>
                <a:off x="6026" y="2705"/>
                <a:ext cx="16" cy="10"/>
              </a:xfrm>
              <a:custGeom>
                <a:avLst/>
                <a:gdLst>
                  <a:gd name="T0" fmla="*/ 11 w 12"/>
                  <a:gd name="T1" fmla="*/ 2 h 7"/>
                  <a:gd name="T2" fmla="*/ 8 w 12"/>
                  <a:gd name="T3" fmla="*/ 1 h 7"/>
                  <a:gd name="T4" fmla="*/ 7 w 12"/>
                  <a:gd name="T5" fmla="*/ 1 h 7"/>
                  <a:gd name="T6" fmla="*/ 5 w 12"/>
                  <a:gd name="T7" fmla="*/ 0 h 7"/>
                  <a:gd name="T8" fmla="*/ 0 w 12"/>
                  <a:gd name="T9" fmla="*/ 2 h 7"/>
                  <a:gd name="T10" fmla="*/ 2 w 12"/>
                  <a:gd name="T11" fmla="*/ 6 h 7"/>
                  <a:gd name="T12" fmla="*/ 6 w 12"/>
                  <a:gd name="T13" fmla="*/ 3 h 7"/>
                  <a:gd name="T14" fmla="*/ 6 w 12"/>
                  <a:gd name="T15" fmla="*/ 5 h 7"/>
                  <a:gd name="T16" fmla="*/ 6 w 12"/>
                  <a:gd name="T17" fmla="*/ 7 h 7"/>
                  <a:gd name="T18" fmla="*/ 7 w 12"/>
                  <a:gd name="T19" fmla="*/ 6 h 7"/>
                  <a:gd name="T20" fmla="*/ 10 w 12"/>
                  <a:gd name="T21" fmla="*/ 3 h 7"/>
                  <a:gd name="T22" fmla="*/ 11 w 12"/>
                  <a:gd name="T23"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7">
                    <a:moveTo>
                      <a:pt x="11" y="2"/>
                    </a:moveTo>
                    <a:cubicBezTo>
                      <a:pt x="9" y="1"/>
                      <a:pt x="9" y="1"/>
                      <a:pt x="8" y="1"/>
                    </a:cubicBezTo>
                    <a:cubicBezTo>
                      <a:pt x="8" y="2"/>
                      <a:pt x="8" y="2"/>
                      <a:pt x="7" y="1"/>
                    </a:cubicBezTo>
                    <a:cubicBezTo>
                      <a:pt x="6" y="0"/>
                      <a:pt x="6" y="0"/>
                      <a:pt x="5" y="0"/>
                    </a:cubicBezTo>
                    <a:cubicBezTo>
                      <a:pt x="4" y="1"/>
                      <a:pt x="0" y="1"/>
                      <a:pt x="0" y="2"/>
                    </a:cubicBezTo>
                    <a:cubicBezTo>
                      <a:pt x="1" y="4"/>
                      <a:pt x="1" y="7"/>
                      <a:pt x="2" y="6"/>
                    </a:cubicBezTo>
                    <a:cubicBezTo>
                      <a:pt x="3" y="5"/>
                      <a:pt x="5" y="2"/>
                      <a:pt x="6" y="3"/>
                    </a:cubicBezTo>
                    <a:cubicBezTo>
                      <a:pt x="6" y="3"/>
                      <a:pt x="7" y="4"/>
                      <a:pt x="6" y="5"/>
                    </a:cubicBezTo>
                    <a:cubicBezTo>
                      <a:pt x="5" y="6"/>
                      <a:pt x="6" y="6"/>
                      <a:pt x="6" y="7"/>
                    </a:cubicBezTo>
                    <a:cubicBezTo>
                      <a:pt x="6" y="7"/>
                      <a:pt x="7" y="7"/>
                      <a:pt x="7" y="6"/>
                    </a:cubicBezTo>
                    <a:cubicBezTo>
                      <a:pt x="8" y="5"/>
                      <a:pt x="9" y="4"/>
                      <a:pt x="10" y="3"/>
                    </a:cubicBezTo>
                    <a:cubicBezTo>
                      <a:pt x="11" y="2"/>
                      <a:pt x="12" y="2"/>
                      <a:pt x="1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19" name="Freeform 830">
                <a:extLst>
                  <a:ext uri="{FF2B5EF4-FFF2-40B4-BE49-F238E27FC236}">
                    <a16:creationId xmlns:a16="http://schemas.microsoft.com/office/drawing/2014/main" id="{F1BB37C4-3BC4-4ED0-B57B-A90254537AE2}"/>
                  </a:ext>
                </a:extLst>
              </p:cNvPr>
              <p:cNvSpPr>
                <a:spLocks/>
              </p:cNvSpPr>
              <p:nvPr/>
            </p:nvSpPr>
            <p:spPr bwMode="auto">
              <a:xfrm>
                <a:off x="6039" y="2711"/>
                <a:ext cx="3" cy="8"/>
              </a:xfrm>
              <a:custGeom>
                <a:avLst/>
                <a:gdLst>
                  <a:gd name="T0" fmla="*/ 0 w 2"/>
                  <a:gd name="T1" fmla="*/ 3 h 6"/>
                  <a:gd name="T2" fmla="*/ 1 w 2"/>
                  <a:gd name="T3" fmla="*/ 3 h 6"/>
                  <a:gd name="T4" fmla="*/ 0 w 2"/>
                  <a:gd name="T5" fmla="*/ 3 h 6"/>
                </a:gdLst>
                <a:ahLst/>
                <a:cxnLst>
                  <a:cxn ang="0">
                    <a:pos x="T0" y="T1"/>
                  </a:cxn>
                  <a:cxn ang="0">
                    <a:pos x="T2" y="T3"/>
                  </a:cxn>
                  <a:cxn ang="0">
                    <a:pos x="T4" y="T5"/>
                  </a:cxn>
                </a:cxnLst>
                <a:rect l="0" t="0" r="r" b="b"/>
                <a:pathLst>
                  <a:path w="2" h="6">
                    <a:moveTo>
                      <a:pt x="0" y="3"/>
                    </a:moveTo>
                    <a:cubicBezTo>
                      <a:pt x="0" y="3"/>
                      <a:pt x="1" y="6"/>
                      <a:pt x="1" y="3"/>
                    </a:cubicBezTo>
                    <a:cubicBezTo>
                      <a:pt x="2" y="0"/>
                      <a:pt x="0" y="3"/>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20" name="Freeform 831">
                <a:extLst>
                  <a:ext uri="{FF2B5EF4-FFF2-40B4-BE49-F238E27FC236}">
                    <a16:creationId xmlns:a16="http://schemas.microsoft.com/office/drawing/2014/main" id="{CEEB8A63-9C71-44FD-81DB-85FF19D01B85}"/>
                  </a:ext>
                </a:extLst>
              </p:cNvPr>
              <p:cNvSpPr>
                <a:spLocks/>
              </p:cNvSpPr>
              <p:nvPr/>
            </p:nvSpPr>
            <p:spPr bwMode="auto">
              <a:xfrm>
                <a:off x="6057" y="2714"/>
                <a:ext cx="21" cy="11"/>
              </a:xfrm>
              <a:custGeom>
                <a:avLst/>
                <a:gdLst>
                  <a:gd name="T0" fmla="*/ 3 w 15"/>
                  <a:gd name="T1" fmla="*/ 7 h 8"/>
                  <a:gd name="T2" fmla="*/ 9 w 15"/>
                  <a:gd name="T3" fmla="*/ 6 h 8"/>
                  <a:gd name="T4" fmla="*/ 15 w 15"/>
                  <a:gd name="T5" fmla="*/ 4 h 8"/>
                  <a:gd name="T6" fmla="*/ 14 w 15"/>
                  <a:gd name="T7" fmla="*/ 3 h 8"/>
                  <a:gd name="T8" fmla="*/ 13 w 15"/>
                  <a:gd name="T9" fmla="*/ 3 h 8"/>
                  <a:gd name="T10" fmla="*/ 11 w 15"/>
                  <a:gd name="T11" fmla="*/ 3 h 8"/>
                  <a:gd name="T12" fmla="*/ 10 w 15"/>
                  <a:gd name="T13" fmla="*/ 3 h 8"/>
                  <a:gd name="T14" fmla="*/ 4 w 15"/>
                  <a:gd name="T15" fmla="*/ 1 h 8"/>
                  <a:gd name="T16" fmla="*/ 1 w 15"/>
                  <a:gd name="T17" fmla="*/ 5 h 8"/>
                  <a:gd name="T18" fmla="*/ 3 w 15"/>
                  <a:gd name="T19" fmla="*/ 7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8">
                    <a:moveTo>
                      <a:pt x="3" y="7"/>
                    </a:moveTo>
                    <a:cubicBezTo>
                      <a:pt x="6" y="6"/>
                      <a:pt x="7" y="5"/>
                      <a:pt x="9" y="6"/>
                    </a:cubicBezTo>
                    <a:cubicBezTo>
                      <a:pt x="10" y="6"/>
                      <a:pt x="15" y="6"/>
                      <a:pt x="15" y="4"/>
                    </a:cubicBezTo>
                    <a:cubicBezTo>
                      <a:pt x="15" y="3"/>
                      <a:pt x="15" y="2"/>
                      <a:pt x="14" y="3"/>
                    </a:cubicBezTo>
                    <a:cubicBezTo>
                      <a:pt x="13" y="4"/>
                      <a:pt x="13" y="3"/>
                      <a:pt x="13" y="3"/>
                    </a:cubicBezTo>
                    <a:cubicBezTo>
                      <a:pt x="13" y="3"/>
                      <a:pt x="12" y="2"/>
                      <a:pt x="11" y="3"/>
                    </a:cubicBezTo>
                    <a:cubicBezTo>
                      <a:pt x="11" y="3"/>
                      <a:pt x="11" y="3"/>
                      <a:pt x="10" y="3"/>
                    </a:cubicBezTo>
                    <a:cubicBezTo>
                      <a:pt x="9" y="2"/>
                      <a:pt x="6" y="2"/>
                      <a:pt x="4" y="1"/>
                    </a:cubicBezTo>
                    <a:cubicBezTo>
                      <a:pt x="2" y="1"/>
                      <a:pt x="1" y="0"/>
                      <a:pt x="1" y="5"/>
                    </a:cubicBezTo>
                    <a:cubicBezTo>
                      <a:pt x="1" y="5"/>
                      <a:pt x="0" y="8"/>
                      <a:pt x="3"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21" name="Freeform 832">
                <a:extLst>
                  <a:ext uri="{FF2B5EF4-FFF2-40B4-BE49-F238E27FC236}">
                    <a16:creationId xmlns:a16="http://schemas.microsoft.com/office/drawing/2014/main" id="{FA22CB06-7F91-4E33-8238-30C731DE1D4A}"/>
                  </a:ext>
                </a:extLst>
              </p:cNvPr>
              <p:cNvSpPr>
                <a:spLocks/>
              </p:cNvSpPr>
              <p:nvPr/>
            </p:nvSpPr>
            <p:spPr bwMode="auto">
              <a:xfrm>
                <a:off x="6077" y="2718"/>
                <a:ext cx="25" cy="4"/>
              </a:xfrm>
              <a:custGeom>
                <a:avLst/>
                <a:gdLst>
                  <a:gd name="T0" fmla="*/ 2 w 18"/>
                  <a:gd name="T1" fmla="*/ 2 h 3"/>
                  <a:gd name="T2" fmla="*/ 6 w 18"/>
                  <a:gd name="T3" fmla="*/ 3 h 3"/>
                  <a:gd name="T4" fmla="*/ 12 w 18"/>
                  <a:gd name="T5" fmla="*/ 2 h 3"/>
                  <a:gd name="T6" fmla="*/ 15 w 18"/>
                  <a:gd name="T7" fmla="*/ 1 h 3"/>
                  <a:gd name="T8" fmla="*/ 4 w 18"/>
                  <a:gd name="T9" fmla="*/ 1 h 3"/>
                  <a:gd name="T10" fmla="*/ 2 w 18"/>
                  <a:gd name="T11" fmla="*/ 2 h 3"/>
                </a:gdLst>
                <a:ahLst/>
                <a:cxnLst>
                  <a:cxn ang="0">
                    <a:pos x="T0" y="T1"/>
                  </a:cxn>
                  <a:cxn ang="0">
                    <a:pos x="T2" y="T3"/>
                  </a:cxn>
                  <a:cxn ang="0">
                    <a:pos x="T4" y="T5"/>
                  </a:cxn>
                  <a:cxn ang="0">
                    <a:pos x="T6" y="T7"/>
                  </a:cxn>
                  <a:cxn ang="0">
                    <a:pos x="T8" y="T9"/>
                  </a:cxn>
                  <a:cxn ang="0">
                    <a:pos x="T10" y="T11"/>
                  </a:cxn>
                </a:cxnLst>
                <a:rect l="0" t="0" r="r" b="b"/>
                <a:pathLst>
                  <a:path w="18" h="3">
                    <a:moveTo>
                      <a:pt x="2" y="2"/>
                    </a:moveTo>
                    <a:cubicBezTo>
                      <a:pt x="2" y="2"/>
                      <a:pt x="4" y="3"/>
                      <a:pt x="6" y="3"/>
                    </a:cubicBezTo>
                    <a:cubicBezTo>
                      <a:pt x="9" y="3"/>
                      <a:pt x="10" y="3"/>
                      <a:pt x="12" y="2"/>
                    </a:cubicBezTo>
                    <a:cubicBezTo>
                      <a:pt x="13" y="2"/>
                      <a:pt x="18" y="1"/>
                      <a:pt x="15" y="1"/>
                    </a:cubicBezTo>
                    <a:cubicBezTo>
                      <a:pt x="11" y="1"/>
                      <a:pt x="4" y="1"/>
                      <a:pt x="4" y="1"/>
                    </a:cubicBezTo>
                    <a:cubicBezTo>
                      <a:pt x="3" y="1"/>
                      <a:pt x="0" y="0"/>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22" name="Freeform 833">
                <a:extLst>
                  <a:ext uri="{FF2B5EF4-FFF2-40B4-BE49-F238E27FC236}">
                    <a16:creationId xmlns:a16="http://schemas.microsoft.com/office/drawing/2014/main" id="{9FB62DD2-19F7-43D7-90E2-E83E029C4D75}"/>
                  </a:ext>
                </a:extLst>
              </p:cNvPr>
              <p:cNvSpPr>
                <a:spLocks/>
              </p:cNvSpPr>
              <p:nvPr/>
            </p:nvSpPr>
            <p:spPr bwMode="auto">
              <a:xfrm>
                <a:off x="6089" y="2720"/>
                <a:ext cx="4" cy="14"/>
              </a:xfrm>
              <a:custGeom>
                <a:avLst/>
                <a:gdLst>
                  <a:gd name="T0" fmla="*/ 2 w 3"/>
                  <a:gd name="T1" fmla="*/ 2 h 10"/>
                  <a:gd name="T2" fmla="*/ 0 w 3"/>
                  <a:gd name="T3" fmla="*/ 3 h 10"/>
                  <a:gd name="T4" fmla="*/ 2 w 3"/>
                  <a:gd name="T5" fmla="*/ 9 h 10"/>
                  <a:gd name="T6" fmla="*/ 2 w 3"/>
                  <a:gd name="T7" fmla="*/ 2 h 10"/>
                </a:gdLst>
                <a:ahLst/>
                <a:cxnLst>
                  <a:cxn ang="0">
                    <a:pos x="T0" y="T1"/>
                  </a:cxn>
                  <a:cxn ang="0">
                    <a:pos x="T2" y="T3"/>
                  </a:cxn>
                  <a:cxn ang="0">
                    <a:pos x="T4" y="T5"/>
                  </a:cxn>
                  <a:cxn ang="0">
                    <a:pos x="T6" y="T7"/>
                  </a:cxn>
                </a:cxnLst>
                <a:rect l="0" t="0" r="r" b="b"/>
                <a:pathLst>
                  <a:path w="3" h="10">
                    <a:moveTo>
                      <a:pt x="2" y="2"/>
                    </a:moveTo>
                    <a:cubicBezTo>
                      <a:pt x="1" y="0"/>
                      <a:pt x="0" y="3"/>
                      <a:pt x="0" y="3"/>
                    </a:cubicBezTo>
                    <a:cubicBezTo>
                      <a:pt x="0" y="4"/>
                      <a:pt x="1" y="7"/>
                      <a:pt x="2" y="9"/>
                    </a:cubicBezTo>
                    <a:cubicBezTo>
                      <a:pt x="3" y="10"/>
                      <a:pt x="2" y="5"/>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23" name="Freeform 834">
                <a:extLst>
                  <a:ext uri="{FF2B5EF4-FFF2-40B4-BE49-F238E27FC236}">
                    <a16:creationId xmlns:a16="http://schemas.microsoft.com/office/drawing/2014/main" id="{0F7A7969-E489-460B-8294-894BFB4E422A}"/>
                  </a:ext>
                </a:extLst>
              </p:cNvPr>
              <p:cNvSpPr>
                <a:spLocks/>
              </p:cNvSpPr>
              <p:nvPr/>
            </p:nvSpPr>
            <p:spPr bwMode="auto">
              <a:xfrm>
                <a:off x="6120" y="2709"/>
                <a:ext cx="18" cy="9"/>
              </a:xfrm>
              <a:custGeom>
                <a:avLst/>
                <a:gdLst>
                  <a:gd name="T0" fmla="*/ 1 w 13"/>
                  <a:gd name="T1" fmla="*/ 3 h 6"/>
                  <a:gd name="T2" fmla="*/ 4 w 13"/>
                  <a:gd name="T3" fmla="*/ 6 h 6"/>
                  <a:gd name="T4" fmla="*/ 8 w 13"/>
                  <a:gd name="T5" fmla="*/ 5 h 6"/>
                  <a:gd name="T6" fmla="*/ 11 w 13"/>
                  <a:gd name="T7" fmla="*/ 4 h 6"/>
                  <a:gd name="T8" fmla="*/ 4 w 13"/>
                  <a:gd name="T9" fmla="*/ 1 h 6"/>
                  <a:gd name="T10" fmla="*/ 1 w 13"/>
                  <a:gd name="T11" fmla="*/ 3 h 6"/>
                </a:gdLst>
                <a:ahLst/>
                <a:cxnLst>
                  <a:cxn ang="0">
                    <a:pos x="T0" y="T1"/>
                  </a:cxn>
                  <a:cxn ang="0">
                    <a:pos x="T2" y="T3"/>
                  </a:cxn>
                  <a:cxn ang="0">
                    <a:pos x="T4" y="T5"/>
                  </a:cxn>
                  <a:cxn ang="0">
                    <a:pos x="T6" y="T7"/>
                  </a:cxn>
                  <a:cxn ang="0">
                    <a:pos x="T8" y="T9"/>
                  </a:cxn>
                  <a:cxn ang="0">
                    <a:pos x="T10" y="T11"/>
                  </a:cxn>
                </a:cxnLst>
                <a:rect l="0" t="0" r="r" b="b"/>
                <a:pathLst>
                  <a:path w="13" h="6">
                    <a:moveTo>
                      <a:pt x="1" y="3"/>
                    </a:moveTo>
                    <a:cubicBezTo>
                      <a:pt x="0" y="5"/>
                      <a:pt x="1" y="6"/>
                      <a:pt x="4" y="6"/>
                    </a:cubicBezTo>
                    <a:cubicBezTo>
                      <a:pt x="6" y="6"/>
                      <a:pt x="7" y="5"/>
                      <a:pt x="8" y="5"/>
                    </a:cubicBezTo>
                    <a:cubicBezTo>
                      <a:pt x="8" y="5"/>
                      <a:pt x="13" y="6"/>
                      <a:pt x="11" y="4"/>
                    </a:cubicBezTo>
                    <a:cubicBezTo>
                      <a:pt x="9" y="1"/>
                      <a:pt x="7" y="0"/>
                      <a:pt x="4" y="1"/>
                    </a:cubicBezTo>
                    <a:cubicBezTo>
                      <a:pt x="2" y="1"/>
                      <a:pt x="1" y="2"/>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24" name="Freeform 835">
                <a:extLst>
                  <a:ext uri="{FF2B5EF4-FFF2-40B4-BE49-F238E27FC236}">
                    <a16:creationId xmlns:a16="http://schemas.microsoft.com/office/drawing/2014/main" id="{DC800B0A-ED9D-4547-BB60-2825F602CFC6}"/>
                  </a:ext>
                </a:extLst>
              </p:cNvPr>
              <p:cNvSpPr>
                <a:spLocks/>
              </p:cNvSpPr>
              <p:nvPr/>
            </p:nvSpPr>
            <p:spPr bwMode="auto">
              <a:xfrm>
                <a:off x="6088" y="2744"/>
                <a:ext cx="30" cy="18"/>
              </a:xfrm>
              <a:custGeom>
                <a:avLst/>
                <a:gdLst>
                  <a:gd name="T0" fmla="*/ 12 w 22"/>
                  <a:gd name="T1" fmla="*/ 0 h 13"/>
                  <a:gd name="T2" fmla="*/ 6 w 22"/>
                  <a:gd name="T3" fmla="*/ 1 h 13"/>
                  <a:gd name="T4" fmla="*/ 4 w 22"/>
                  <a:gd name="T5" fmla="*/ 6 h 13"/>
                  <a:gd name="T6" fmla="*/ 15 w 22"/>
                  <a:gd name="T7" fmla="*/ 12 h 13"/>
                  <a:gd name="T8" fmla="*/ 21 w 22"/>
                  <a:gd name="T9" fmla="*/ 6 h 13"/>
                  <a:gd name="T10" fmla="*/ 19 w 22"/>
                  <a:gd name="T11" fmla="*/ 3 h 13"/>
                  <a:gd name="T12" fmla="*/ 12 w 22"/>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22" h="13">
                    <a:moveTo>
                      <a:pt x="12" y="0"/>
                    </a:moveTo>
                    <a:cubicBezTo>
                      <a:pt x="10" y="0"/>
                      <a:pt x="7" y="1"/>
                      <a:pt x="6" y="1"/>
                    </a:cubicBezTo>
                    <a:cubicBezTo>
                      <a:pt x="6" y="1"/>
                      <a:pt x="0" y="2"/>
                      <a:pt x="4" y="6"/>
                    </a:cubicBezTo>
                    <a:cubicBezTo>
                      <a:pt x="8" y="11"/>
                      <a:pt x="11" y="13"/>
                      <a:pt x="15" y="12"/>
                    </a:cubicBezTo>
                    <a:cubicBezTo>
                      <a:pt x="19" y="11"/>
                      <a:pt x="22" y="9"/>
                      <a:pt x="21" y="6"/>
                    </a:cubicBezTo>
                    <a:cubicBezTo>
                      <a:pt x="21" y="3"/>
                      <a:pt x="21" y="5"/>
                      <a:pt x="19" y="3"/>
                    </a:cubicBezTo>
                    <a:cubicBezTo>
                      <a:pt x="17" y="1"/>
                      <a:pt x="13" y="1"/>
                      <a:pt x="1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25" name="Freeform 836">
                <a:extLst>
                  <a:ext uri="{FF2B5EF4-FFF2-40B4-BE49-F238E27FC236}">
                    <a16:creationId xmlns:a16="http://schemas.microsoft.com/office/drawing/2014/main" id="{9D76180F-C386-4F57-B84D-7CE9CC0D3D01}"/>
                  </a:ext>
                </a:extLst>
              </p:cNvPr>
              <p:cNvSpPr>
                <a:spLocks/>
              </p:cNvSpPr>
              <p:nvPr/>
            </p:nvSpPr>
            <p:spPr bwMode="auto">
              <a:xfrm>
                <a:off x="6122" y="2707"/>
                <a:ext cx="6" cy="1"/>
              </a:xfrm>
              <a:custGeom>
                <a:avLst/>
                <a:gdLst>
                  <a:gd name="T0" fmla="*/ 1 w 4"/>
                  <a:gd name="T1" fmla="*/ 0 h 1"/>
                  <a:gd name="T2" fmla="*/ 2 w 4"/>
                  <a:gd name="T3" fmla="*/ 1 h 1"/>
                  <a:gd name="T4" fmla="*/ 1 w 4"/>
                  <a:gd name="T5" fmla="*/ 0 h 1"/>
                </a:gdLst>
                <a:ahLst/>
                <a:cxnLst>
                  <a:cxn ang="0">
                    <a:pos x="T0" y="T1"/>
                  </a:cxn>
                  <a:cxn ang="0">
                    <a:pos x="T2" y="T3"/>
                  </a:cxn>
                  <a:cxn ang="0">
                    <a:pos x="T4" y="T5"/>
                  </a:cxn>
                </a:cxnLst>
                <a:rect l="0" t="0" r="r" b="b"/>
                <a:pathLst>
                  <a:path w="4" h="1">
                    <a:moveTo>
                      <a:pt x="1" y="0"/>
                    </a:moveTo>
                    <a:cubicBezTo>
                      <a:pt x="0" y="0"/>
                      <a:pt x="0" y="0"/>
                      <a:pt x="2" y="1"/>
                    </a:cubicBezTo>
                    <a:cubicBezTo>
                      <a:pt x="4" y="1"/>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26" name="Freeform 837">
                <a:extLst>
                  <a:ext uri="{FF2B5EF4-FFF2-40B4-BE49-F238E27FC236}">
                    <a16:creationId xmlns:a16="http://schemas.microsoft.com/office/drawing/2014/main" id="{170CF690-2694-4024-A90B-551782142020}"/>
                  </a:ext>
                </a:extLst>
              </p:cNvPr>
              <p:cNvSpPr>
                <a:spLocks/>
              </p:cNvSpPr>
              <p:nvPr/>
            </p:nvSpPr>
            <p:spPr bwMode="auto">
              <a:xfrm>
                <a:off x="6113" y="2686"/>
                <a:ext cx="7" cy="8"/>
              </a:xfrm>
              <a:custGeom>
                <a:avLst/>
                <a:gdLst>
                  <a:gd name="T0" fmla="*/ 3 w 5"/>
                  <a:gd name="T1" fmla="*/ 1 h 6"/>
                  <a:gd name="T2" fmla="*/ 3 w 5"/>
                  <a:gd name="T3" fmla="*/ 4 h 6"/>
                  <a:gd name="T4" fmla="*/ 3 w 5"/>
                  <a:gd name="T5" fmla="*/ 1 h 6"/>
                </a:gdLst>
                <a:ahLst/>
                <a:cxnLst>
                  <a:cxn ang="0">
                    <a:pos x="T0" y="T1"/>
                  </a:cxn>
                  <a:cxn ang="0">
                    <a:pos x="T2" y="T3"/>
                  </a:cxn>
                  <a:cxn ang="0">
                    <a:pos x="T4" y="T5"/>
                  </a:cxn>
                </a:cxnLst>
                <a:rect l="0" t="0" r="r" b="b"/>
                <a:pathLst>
                  <a:path w="5" h="6">
                    <a:moveTo>
                      <a:pt x="3" y="1"/>
                    </a:moveTo>
                    <a:cubicBezTo>
                      <a:pt x="1" y="2"/>
                      <a:pt x="0" y="6"/>
                      <a:pt x="3" y="4"/>
                    </a:cubicBezTo>
                    <a:cubicBezTo>
                      <a:pt x="3" y="4"/>
                      <a:pt x="5" y="0"/>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27" name="Freeform 838">
                <a:extLst>
                  <a:ext uri="{FF2B5EF4-FFF2-40B4-BE49-F238E27FC236}">
                    <a16:creationId xmlns:a16="http://schemas.microsoft.com/office/drawing/2014/main" id="{3675C3AA-7569-41EA-A5FB-C2E00AC1B959}"/>
                  </a:ext>
                </a:extLst>
              </p:cNvPr>
              <p:cNvSpPr>
                <a:spLocks/>
              </p:cNvSpPr>
              <p:nvPr/>
            </p:nvSpPr>
            <p:spPr bwMode="auto">
              <a:xfrm>
                <a:off x="6115" y="2693"/>
                <a:ext cx="3" cy="5"/>
              </a:xfrm>
              <a:custGeom>
                <a:avLst/>
                <a:gdLst>
                  <a:gd name="T0" fmla="*/ 0 w 2"/>
                  <a:gd name="T1" fmla="*/ 2 h 4"/>
                  <a:gd name="T2" fmla="*/ 2 w 2"/>
                  <a:gd name="T3" fmla="*/ 3 h 4"/>
                  <a:gd name="T4" fmla="*/ 0 w 2"/>
                  <a:gd name="T5" fmla="*/ 2 h 4"/>
                </a:gdLst>
                <a:ahLst/>
                <a:cxnLst>
                  <a:cxn ang="0">
                    <a:pos x="T0" y="T1"/>
                  </a:cxn>
                  <a:cxn ang="0">
                    <a:pos x="T2" y="T3"/>
                  </a:cxn>
                  <a:cxn ang="0">
                    <a:pos x="T4" y="T5"/>
                  </a:cxn>
                </a:cxnLst>
                <a:rect l="0" t="0" r="r" b="b"/>
                <a:pathLst>
                  <a:path w="2" h="4">
                    <a:moveTo>
                      <a:pt x="0" y="2"/>
                    </a:moveTo>
                    <a:cubicBezTo>
                      <a:pt x="0" y="4"/>
                      <a:pt x="1" y="4"/>
                      <a:pt x="2" y="3"/>
                    </a:cubicBezTo>
                    <a:cubicBezTo>
                      <a:pt x="2" y="3"/>
                      <a:pt x="1"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28" name="Freeform 839">
                <a:extLst>
                  <a:ext uri="{FF2B5EF4-FFF2-40B4-BE49-F238E27FC236}">
                    <a16:creationId xmlns:a16="http://schemas.microsoft.com/office/drawing/2014/main" id="{D30954EB-02A0-4EB9-AB0F-AAC1E565D53A}"/>
                  </a:ext>
                </a:extLst>
              </p:cNvPr>
              <p:cNvSpPr>
                <a:spLocks/>
              </p:cNvSpPr>
              <p:nvPr/>
            </p:nvSpPr>
            <p:spPr bwMode="auto">
              <a:xfrm>
                <a:off x="6118" y="2688"/>
                <a:ext cx="13" cy="12"/>
              </a:xfrm>
              <a:custGeom>
                <a:avLst/>
                <a:gdLst>
                  <a:gd name="T0" fmla="*/ 0 w 9"/>
                  <a:gd name="T1" fmla="*/ 2 h 9"/>
                  <a:gd name="T2" fmla="*/ 2 w 9"/>
                  <a:gd name="T3" fmla="*/ 5 h 9"/>
                  <a:gd name="T4" fmla="*/ 2 w 9"/>
                  <a:gd name="T5" fmla="*/ 6 h 9"/>
                  <a:gd name="T6" fmla="*/ 3 w 9"/>
                  <a:gd name="T7" fmla="*/ 8 h 9"/>
                  <a:gd name="T8" fmla="*/ 6 w 9"/>
                  <a:gd name="T9" fmla="*/ 8 h 9"/>
                  <a:gd name="T10" fmla="*/ 8 w 9"/>
                  <a:gd name="T11" fmla="*/ 8 h 9"/>
                  <a:gd name="T12" fmla="*/ 7 w 9"/>
                  <a:gd name="T13" fmla="*/ 7 h 9"/>
                  <a:gd name="T14" fmla="*/ 5 w 9"/>
                  <a:gd name="T15" fmla="*/ 5 h 9"/>
                  <a:gd name="T16" fmla="*/ 3 w 9"/>
                  <a:gd name="T17" fmla="*/ 1 h 9"/>
                  <a:gd name="T18" fmla="*/ 2 w 9"/>
                  <a:gd name="T19" fmla="*/ 1 h 9"/>
                  <a:gd name="T20" fmla="*/ 0 w 9"/>
                  <a:gd name="T21" fmla="*/ 2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9">
                    <a:moveTo>
                      <a:pt x="0" y="2"/>
                    </a:moveTo>
                    <a:cubicBezTo>
                      <a:pt x="1" y="4"/>
                      <a:pt x="1" y="4"/>
                      <a:pt x="2" y="5"/>
                    </a:cubicBezTo>
                    <a:cubicBezTo>
                      <a:pt x="3" y="6"/>
                      <a:pt x="3" y="6"/>
                      <a:pt x="2" y="6"/>
                    </a:cubicBezTo>
                    <a:cubicBezTo>
                      <a:pt x="2" y="7"/>
                      <a:pt x="2" y="8"/>
                      <a:pt x="3" y="8"/>
                    </a:cubicBezTo>
                    <a:cubicBezTo>
                      <a:pt x="4" y="7"/>
                      <a:pt x="5" y="8"/>
                      <a:pt x="6" y="8"/>
                    </a:cubicBezTo>
                    <a:cubicBezTo>
                      <a:pt x="6" y="9"/>
                      <a:pt x="7" y="9"/>
                      <a:pt x="8" y="8"/>
                    </a:cubicBezTo>
                    <a:cubicBezTo>
                      <a:pt x="8" y="8"/>
                      <a:pt x="9" y="8"/>
                      <a:pt x="7" y="7"/>
                    </a:cubicBezTo>
                    <a:cubicBezTo>
                      <a:pt x="6" y="7"/>
                      <a:pt x="6" y="7"/>
                      <a:pt x="5" y="5"/>
                    </a:cubicBezTo>
                    <a:cubicBezTo>
                      <a:pt x="5" y="3"/>
                      <a:pt x="4" y="0"/>
                      <a:pt x="3" y="1"/>
                    </a:cubicBezTo>
                    <a:cubicBezTo>
                      <a:pt x="3" y="2"/>
                      <a:pt x="2" y="2"/>
                      <a:pt x="2" y="1"/>
                    </a:cubicBezTo>
                    <a:cubicBezTo>
                      <a:pt x="1" y="0"/>
                      <a:pt x="0"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29" name="Freeform 840">
                <a:extLst>
                  <a:ext uri="{FF2B5EF4-FFF2-40B4-BE49-F238E27FC236}">
                    <a16:creationId xmlns:a16="http://schemas.microsoft.com/office/drawing/2014/main" id="{EFD42CA2-239D-421A-958E-A78F4C57B6AF}"/>
                  </a:ext>
                </a:extLst>
              </p:cNvPr>
              <p:cNvSpPr>
                <a:spLocks/>
              </p:cNvSpPr>
              <p:nvPr/>
            </p:nvSpPr>
            <p:spPr bwMode="auto">
              <a:xfrm>
                <a:off x="6132" y="2755"/>
                <a:ext cx="6" cy="4"/>
              </a:xfrm>
              <a:custGeom>
                <a:avLst/>
                <a:gdLst>
                  <a:gd name="T0" fmla="*/ 0 w 4"/>
                  <a:gd name="T1" fmla="*/ 2 h 3"/>
                  <a:gd name="T2" fmla="*/ 4 w 4"/>
                  <a:gd name="T3" fmla="*/ 1 h 3"/>
                  <a:gd name="T4" fmla="*/ 0 w 4"/>
                  <a:gd name="T5" fmla="*/ 2 h 3"/>
                </a:gdLst>
                <a:ahLst/>
                <a:cxnLst>
                  <a:cxn ang="0">
                    <a:pos x="T0" y="T1"/>
                  </a:cxn>
                  <a:cxn ang="0">
                    <a:pos x="T2" y="T3"/>
                  </a:cxn>
                  <a:cxn ang="0">
                    <a:pos x="T4" y="T5"/>
                  </a:cxn>
                </a:cxnLst>
                <a:rect l="0" t="0" r="r" b="b"/>
                <a:pathLst>
                  <a:path w="4" h="3">
                    <a:moveTo>
                      <a:pt x="0" y="2"/>
                    </a:moveTo>
                    <a:cubicBezTo>
                      <a:pt x="0" y="3"/>
                      <a:pt x="3" y="2"/>
                      <a:pt x="4" y="1"/>
                    </a:cubicBezTo>
                    <a:cubicBezTo>
                      <a:pt x="4" y="1"/>
                      <a:pt x="0" y="0"/>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30" name="Freeform 841">
                <a:extLst>
                  <a:ext uri="{FF2B5EF4-FFF2-40B4-BE49-F238E27FC236}">
                    <a16:creationId xmlns:a16="http://schemas.microsoft.com/office/drawing/2014/main" id="{A6FD6F49-4276-459F-9C90-88EDB46ECD74}"/>
                  </a:ext>
                </a:extLst>
              </p:cNvPr>
              <p:cNvSpPr>
                <a:spLocks/>
              </p:cNvSpPr>
              <p:nvPr/>
            </p:nvSpPr>
            <p:spPr bwMode="auto">
              <a:xfrm>
                <a:off x="6142" y="2755"/>
                <a:ext cx="4" cy="1"/>
              </a:xfrm>
              <a:custGeom>
                <a:avLst/>
                <a:gdLst>
                  <a:gd name="T0" fmla="*/ 0 w 3"/>
                  <a:gd name="T1" fmla="*/ 0 h 1"/>
                  <a:gd name="T2" fmla="*/ 1 w 3"/>
                  <a:gd name="T3" fmla="*/ 1 h 1"/>
                  <a:gd name="T4" fmla="*/ 0 w 3"/>
                  <a:gd name="T5" fmla="*/ 0 h 1"/>
                </a:gdLst>
                <a:ahLst/>
                <a:cxnLst>
                  <a:cxn ang="0">
                    <a:pos x="T0" y="T1"/>
                  </a:cxn>
                  <a:cxn ang="0">
                    <a:pos x="T2" y="T3"/>
                  </a:cxn>
                  <a:cxn ang="0">
                    <a:pos x="T4" y="T5"/>
                  </a:cxn>
                </a:cxnLst>
                <a:rect l="0" t="0" r="r" b="b"/>
                <a:pathLst>
                  <a:path w="3" h="1">
                    <a:moveTo>
                      <a:pt x="0" y="0"/>
                    </a:moveTo>
                    <a:cubicBezTo>
                      <a:pt x="0" y="0"/>
                      <a:pt x="0" y="1"/>
                      <a:pt x="1" y="1"/>
                    </a:cubicBezTo>
                    <a:cubicBezTo>
                      <a:pt x="3" y="0"/>
                      <a:pt x="1" y="0"/>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31" name="Freeform 842">
                <a:extLst>
                  <a:ext uri="{FF2B5EF4-FFF2-40B4-BE49-F238E27FC236}">
                    <a16:creationId xmlns:a16="http://schemas.microsoft.com/office/drawing/2014/main" id="{627ACAFA-5D9D-49DA-AFAD-C627566FC57A}"/>
                  </a:ext>
                </a:extLst>
              </p:cNvPr>
              <p:cNvSpPr>
                <a:spLocks/>
              </p:cNvSpPr>
              <p:nvPr/>
            </p:nvSpPr>
            <p:spPr bwMode="auto">
              <a:xfrm>
                <a:off x="6146" y="2753"/>
                <a:ext cx="3" cy="3"/>
              </a:xfrm>
              <a:custGeom>
                <a:avLst/>
                <a:gdLst>
                  <a:gd name="T0" fmla="*/ 1 w 2"/>
                  <a:gd name="T1" fmla="*/ 2 h 2"/>
                  <a:gd name="T2" fmla="*/ 0 w 2"/>
                  <a:gd name="T3" fmla="*/ 0 h 2"/>
                  <a:gd name="T4" fmla="*/ 1 w 2"/>
                  <a:gd name="T5" fmla="*/ 2 h 2"/>
                </a:gdLst>
                <a:ahLst/>
                <a:cxnLst>
                  <a:cxn ang="0">
                    <a:pos x="T0" y="T1"/>
                  </a:cxn>
                  <a:cxn ang="0">
                    <a:pos x="T2" y="T3"/>
                  </a:cxn>
                  <a:cxn ang="0">
                    <a:pos x="T4" y="T5"/>
                  </a:cxn>
                </a:cxnLst>
                <a:rect l="0" t="0" r="r" b="b"/>
                <a:pathLst>
                  <a:path w="2" h="2">
                    <a:moveTo>
                      <a:pt x="1" y="2"/>
                    </a:moveTo>
                    <a:cubicBezTo>
                      <a:pt x="2" y="1"/>
                      <a:pt x="0" y="1"/>
                      <a:pt x="0" y="0"/>
                    </a:cubicBezTo>
                    <a:cubicBezTo>
                      <a:pt x="0" y="0"/>
                      <a:pt x="0"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32" name="Freeform 843">
                <a:extLst>
                  <a:ext uri="{FF2B5EF4-FFF2-40B4-BE49-F238E27FC236}">
                    <a16:creationId xmlns:a16="http://schemas.microsoft.com/office/drawing/2014/main" id="{BB3468FD-9066-438B-8D69-97338A12D82A}"/>
                  </a:ext>
                </a:extLst>
              </p:cNvPr>
              <p:cNvSpPr>
                <a:spLocks/>
              </p:cNvSpPr>
              <p:nvPr/>
            </p:nvSpPr>
            <p:spPr bwMode="auto">
              <a:xfrm>
                <a:off x="6128" y="2737"/>
                <a:ext cx="65" cy="26"/>
              </a:xfrm>
              <a:custGeom>
                <a:avLst/>
                <a:gdLst>
                  <a:gd name="T0" fmla="*/ 8 w 47"/>
                  <a:gd name="T1" fmla="*/ 3 h 19"/>
                  <a:gd name="T2" fmla="*/ 4 w 47"/>
                  <a:gd name="T3" fmla="*/ 5 h 19"/>
                  <a:gd name="T4" fmla="*/ 1 w 47"/>
                  <a:gd name="T5" fmla="*/ 8 h 19"/>
                  <a:gd name="T6" fmla="*/ 2 w 47"/>
                  <a:gd name="T7" fmla="*/ 12 h 19"/>
                  <a:gd name="T8" fmla="*/ 4 w 47"/>
                  <a:gd name="T9" fmla="*/ 9 h 19"/>
                  <a:gd name="T10" fmla="*/ 6 w 47"/>
                  <a:gd name="T11" fmla="*/ 6 h 19"/>
                  <a:gd name="T12" fmla="*/ 7 w 47"/>
                  <a:gd name="T13" fmla="*/ 8 h 19"/>
                  <a:gd name="T14" fmla="*/ 9 w 47"/>
                  <a:gd name="T15" fmla="*/ 10 h 19"/>
                  <a:gd name="T16" fmla="*/ 14 w 47"/>
                  <a:gd name="T17" fmla="*/ 10 h 19"/>
                  <a:gd name="T18" fmla="*/ 18 w 47"/>
                  <a:gd name="T19" fmla="*/ 9 h 19"/>
                  <a:gd name="T20" fmla="*/ 24 w 47"/>
                  <a:gd name="T21" fmla="*/ 11 h 19"/>
                  <a:gd name="T22" fmla="*/ 26 w 47"/>
                  <a:gd name="T23" fmla="*/ 10 h 19"/>
                  <a:gd name="T24" fmla="*/ 28 w 47"/>
                  <a:gd name="T25" fmla="*/ 9 h 19"/>
                  <a:gd name="T26" fmla="*/ 40 w 47"/>
                  <a:gd name="T27" fmla="*/ 14 h 19"/>
                  <a:gd name="T28" fmla="*/ 46 w 47"/>
                  <a:gd name="T29" fmla="*/ 15 h 19"/>
                  <a:gd name="T30" fmla="*/ 44 w 47"/>
                  <a:gd name="T31" fmla="*/ 11 h 19"/>
                  <a:gd name="T32" fmla="*/ 42 w 47"/>
                  <a:gd name="T33" fmla="*/ 8 h 19"/>
                  <a:gd name="T34" fmla="*/ 36 w 47"/>
                  <a:gd name="T35" fmla="*/ 4 h 19"/>
                  <a:gd name="T36" fmla="*/ 29 w 47"/>
                  <a:gd name="T37" fmla="*/ 3 h 19"/>
                  <a:gd name="T38" fmla="*/ 24 w 47"/>
                  <a:gd name="T39" fmla="*/ 3 h 19"/>
                  <a:gd name="T40" fmla="*/ 19 w 47"/>
                  <a:gd name="T41" fmla="*/ 3 h 19"/>
                  <a:gd name="T42" fmla="*/ 18 w 47"/>
                  <a:gd name="T43" fmla="*/ 2 h 19"/>
                  <a:gd name="T44" fmla="*/ 8 w 47"/>
                  <a:gd name="T45"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7" h="19">
                    <a:moveTo>
                      <a:pt x="8" y="3"/>
                    </a:moveTo>
                    <a:cubicBezTo>
                      <a:pt x="4" y="2"/>
                      <a:pt x="5" y="5"/>
                      <a:pt x="4" y="5"/>
                    </a:cubicBezTo>
                    <a:cubicBezTo>
                      <a:pt x="4" y="5"/>
                      <a:pt x="0" y="6"/>
                      <a:pt x="1" y="8"/>
                    </a:cubicBezTo>
                    <a:cubicBezTo>
                      <a:pt x="3" y="10"/>
                      <a:pt x="2" y="12"/>
                      <a:pt x="2" y="12"/>
                    </a:cubicBezTo>
                    <a:cubicBezTo>
                      <a:pt x="2" y="12"/>
                      <a:pt x="4" y="10"/>
                      <a:pt x="4" y="9"/>
                    </a:cubicBezTo>
                    <a:cubicBezTo>
                      <a:pt x="4" y="7"/>
                      <a:pt x="5" y="5"/>
                      <a:pt x="6" y="6"/>
                    </a:cubicBezTo>
                    <a:cubicBezTo>
                      <a:pt x="6" y="8"/>
                      <a:pt x="6" y="8"/>
                      <a:pt x="7" y="8"/>
                    </a:cubicBezTo>
                    <a:cubicBezTo>
                      <a:pt x="8" y="8"/>
                      <a:pt x="9" y="9"/>
                      <a:pt x="9" y="10"/>
                    </a:cubicBezTo>
                    <a:cubicBezTo>
                      <a:pt x="10" y="11"/>
                      <a:pt x="11" y="13"/>
                      <a:pt x="14" y="10"/>
                    </a:cubicBezTo>
                    <a:cubicBezTo>
                      <a:pt x="17" y="7"/>
                      <a:pt x="17" y="8"/>
                      <a:pt x="18" y="9"/>
                    </a:cubicBezTo>
                    <a:cubicBezTo>
                      <a:pt x="18" y="9"/>
                      <a:pt x="20" y="11"/>
                      <a:pt x="24" y="11"/>
                    </a:cubicBezTo>
                    <a:cubicBezTo>
                      <a:pt x="24" y="11"/>
                      <a:pt x="27" y="11"/>
                      <a:pt x="26" y="10"/>
                    </a:cubicBezTo>
                    <a:cubicBezTo>
                      <a:pt x="25" y="9"/>
                      <a:pt x="26" y="9"/>
                      <a:pt x="28" y="9"/>
                    </a:cubicBezTo>
                    <a:cubicBezTo>
                      <a:pt x="31" y="10"/>
                      <a:pt x="37" y="11"/>
                      <a:pt x="40" y="14"/>
                    </a:cubicBezTo>
                    <a:cubicBezTo>
                      <a:pt x="44" y="17"/>
                      <a:pt x="47" y="19"/>
                      <a:pt x="46" y="15"/>
                    </a:cubicBezTo>
                    <a:cubicBezTo>
                      <a:pt x="45" y="10"/>
                      <a:pt x="46" y="12"/>
                      <a:pt x="44" y="11"/>
                    </a:cubicBezTo>
                    <a:cubicBezTo>
                      <a:pt x="42" y="10"/>
                      <a:pt x="43" y="9"/>
                      <a:pt x="42" y="8"/>
                    </a:cubicBezTo>
                    <a:cubicBezTo>
                      <a:pt x="42" y="7"/>
                      <a:pt x="39" y="4"/>
                      <a:pt x="36" y="4"/>
                    </a:cubicBezTo>
                    <a:cubicBezTo>
                      <a:pt x="34" y="4"/>
                      <a:pt x="31" y="4"/>
                      <a:pt x="29" y="3"/>
                    </a:cubicBezTo>
                    <a:cubicBezTo>
                      <a:pt x="27" y="2"/>
                      <a:pt x="26" y="1"/>
                      <a:pt x="24" y="3"/>
                    </a:cubicBezTo>
                    <a:cubicBezTo>
                      <a:pt x="21" y="4"/>
                      <a:pt x="19" y="4"/>
                      <a:pt x="19" y="3"/>
                    </a:cubicBezTo>
                    <a:cubicBezTo>
                      <a:pt x="20" y="1"/>
                      <a:pt x="20" y="0"/>
                      <a:pt x="18" y="2"/>
                    </a:cubicBezTo>
                    <a:cubicBezTo>
                      <a:pt x="16" y="3"/>
                      <a:pt x="11" y="3"/>
                      <a:pt x="8"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33" name="Freeform 844">
                <a:extLst>
                  <a:ext uri="{FF2B5EF4-FFF2-40B4-BE49-F238E27FC236}">
                    <a16:creationId xmlns:a16="http://schemas.microsoft.com/office/drawing/2014/main" id="{F8D80459-0A98-4463-B9C0-D3B36CF7AE9B}"/>
                  </a:ext>
                </a:extLst>
              </p:cNvPr>
              <p:cNvSpPr>
                <a:spLocks/>
              </p:cNvSpPr>
              <p:nvPr/>
            </p:nvSpPr>
            <p:spPr bwMode="auto">
              <a:xfrm>
                <a:off x="6168" y="2716"/>
                <a:ext cx="15" cy="10"/>
              </a:xfrm>
              <a:custGeom>
                <a:avLst/>
                <a:gdLst>
                  <a:gd name="T0" fmla="*/ 1 w 11"/>
                  <a:gd name="T1" fmla="*/ 3 h 7"/>
                  <a:gd name="T2" fmla="*/ 6 w 11"/>
                  <a:gd name="T3" fmla="*/ 6 h 7"/>
                  <a:gd name="T4" fmla="*/ 9 w 11"/>
                  <a:gd name="T5" fmla="*/ 4 h 7"/>
                  <a:gd name="T6" fmla="*/ 10 w 11"/>
                  <a:gd name="T7" fmla="*/ 1 h 7"/>
                  <a:gd name="T8" fmla="*/ 8 w 11"/>
                  <a:gd name="T9" fmla="*/ 0 h 7"/>
                  <a:gd name="T10" fmla="*/ 2 w 11"/>
                  <a:gd name="T11" fmla="*/ 2 h 7"/>
                  <a:gd name="T12" fmla="*/ 1 w 11"/>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1" y="3"/>
                    </a:moveTo>
                    <a:cubicBezTo>
                      <a:pt x="1" y="3"/>
                      <a:pt x="3" y="4"/>
                      <a:pt x="6" y="6"/>
                    </a:cubicBezTo>
                    <a:cubicBezTo>
                      <a:pt x="9" y="7"/>
                      <a:pt x="8" y="4"/>
                      <a:pt x="9" y="4"/>
                    </a:cubicBezTo>
                    <a:cubicBezTo>
                      <a:pt x="11" y="5"/>
                      <a:pt x="10" y="2"/>
                      <a:pt x="10" y="1"/>
                    </a:cubicBezTo>
                    <a:cubicBezTo>
                      <a:pt x="10" y="0"/>
                      <a:pt x="9" y="0"/>
                      <a:pt x="8" y="0"/>
                    </a:cubicBezTo>
                    <a:cubicBezTo>
                      <a:pt x="7" y="0"/>
                      <a:pt x="4" y="1"/>
                      <a:pt x="2" y="2"/>
                    </a:cubicBezTo>
                    <a:cubicBezTo>
                      <a:pt x="0" y="2"/>
                      <a:pt x="1" y="3"/>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34" name="Freeform 845">
                <a:extLst>
                  <a:ext uri="{FF2B5EF4-FFF2-40B4-BE49-F238E27FC236}">
                    <a16:creationId xmlns:a16="http://schemas.microsoft.com/office/drawing/2014/main" id="{EFD44E88-5FC0-4373-AF4C-65BF68D6150D}"/>
                  </a:ext>
                </a:extLst>
              </p:cNvPr>
              <p:cNvSpPr>
                <a:spLocks/>
              </p:cNvSpPr>
              <p:nvPr/>
            </p:nvSpPr>
            <p:spPr bwMode="auto">
              <a:xfrm>
                <a:off x="6120" y="2637"/>
                <a:ext cx="31" cy="64"/>
              </a:xfrm>
              <a:custGeom>
                <a:avLst/>
                <a:gdLst>
                  <a:gd name="T0" fmla="*/ 2 w 23"/>
                  <a:gd name="T1" fmla="*/ 12 h 47"/>
                  <a:gd name="T2" fmla="*/ 1 w 23"/>
                  <a:gd name="T3" fmla="*/ 17 h 47"/>
                  <a:gd name="T4" fmla="*/ 3 w 23"/>
                  <a:gd name="T5" fmla="*/ 22 h 47"/>
                  <a:gd name="T6" fmla="*/ 4 w 23"/>
                  <a:gd name="T7" fmla="*/ 26 h 47"/>
                  <a:gd name="T8" fmla="*/ 5 w 23"/>
                  <a:gd name="T9" fmla="*/ 32 h 47"/>
                  <a:gd name="T10" fmla="*/ 7 w 23"/>
                  <a:gd name="T11" fmla="*/ 40 h 47"/>
                  <a:gd name="T12" fmla="*/ 15 w 23"/>
                  <a:gd name="T13" fmla="*/ 46 h 47"/>
                  <a:gd name="T14" fmla="*/ 15 w 23"/>
                  <a:gd name="T15" fmla="*/ 45 h 47"/>
                  <a:gd name="T16" fmla="*/ 9 w 23"/>
                  <a:gd name="T17" fmla="*/ 35 h 47"/>
                  <a:gd name="T18" fmla="*/ 8 w 23"/>
                  <a:gd name="T19" fmla="*/ 32 h 47"/>
                  <a:gd name="T20" fmla="*/ 8 w 23"/>
                  <a:gd name="T21" fmla="*/ 28 h 47"/>
                  <a:gd name="T22" fmla="*/ 10 w 23"/>
                  <a:gd name="T23" fmla="*/ 27 h 47"/>
                  <a:gd name="T24" fmla="*/ 20 w 23"/>
                  <a:gd name="T25" fmla="*/ 29 h 47"/>
                  <a:gd name="T26" fmla="*/ 21 w 23"/>
                  <a:gd name="T27" fmla="*/ 28 h 47"/>
                  <a:gd name="T28" fmla="*/ 15 w 23"/>
                  <a:gd name="T29" fmla="*/ 24 h 47"/>
                  <a:gd name="T30" fmla="*/ 15 w 23"/>
                  <a:gd name="T31" fmla="*/ 19 h 47"/>
                  <a:gd name="T32" fmla="*/ 20 w 23"/>
                  <a:gd name="T33" fmla="*/ 15 h 47"/>
                  <a:gd name="T34" fmla="*/ 20 w 23"/>
                  <a:gd name="T35" fmla="*/ 12 h 47"/>
                  <a:gd name="T36" fmla="*/ 19 w 23"/>
                  <a:gd name="T37" fmla="*/ 10 h 47"/>
                  <a:gd name="T38" fmla="*/ 13 w 23"/>
                  <a:gd name="T39" fmla="*/ 11 h 47"/>
                  <a:gd name="T40" fmla="*/ 11 w 23"/>
                  <a:gd name="T41" fmla="*/ 15 h 47"/>
                  <a:gd name="T42" fmla="*/ 11 w 23"/>
                  <a:gd name="T43" fmla="*/ 16 h 47"/>
                  <a:gd name="T44" fmla="*/ 9 w 23"/>
                  <a:gd name="T45" fmla="*/ 18 h 47"/>
                  <a:gd name="T46" fmla="*/ 6 w 23"/>
                  <a:gd name="T47" fmla="*/ 21 h 47"/>
                  <a:gd name="T48" fmla="*/ 6 w 23"/>
                  <a:gd name="T49" fmla="*/ 17 h 47"/>
                  <a:gd name="T50" fmla="*/ 9 w 23"/>
                  <a:gd name="T51" fmla="*/ 14 h 47"/>
                  <a:gd name="T52" fmla="*/ 9 w 23"/>
                  <a:gd name="T53" fmla="*/ 7 h 47"/>
                  <a:gd name="T54" fmla="*/ 9 w 23"/>
                  <a:gd name="T55" fmla="*/ 4 h 47"/>
                  <a:gd name="T56" fmla="*/ 9 w 23"/>
                  <a:gd name="T57" fmla="*/ 1 h 47"/>
                  <a:gd name="T58" fmla="*/ 4 w 23"/>
                  <a:gd name="T59" fmla="*/ 7 h 47"/>
                  <a:gd name="T60" fmla="*/ 2 w 23"/>
                  <a:gd name="T61" fmla="*/ 1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7">
                    <a:moveTo>
                      <a:pt x="2" y="12"/>
                    </a:moveTo>
                    <a:cubicBezTo>
                      <a:pt x="2" y="13"/>
                      <a:pt x="0" y="16"/>
                      <a:pt x="1" y="17"/>
                    </a:cubicBezTo>
                    <a:cubicBezTo>
                      <a:pt x="2" y="19"/>
                      <a:pt x="4" y="20"/>
                      <a:pt x="3" y="22"/>
                    </a:cubicBezTo>
                    <a:cubicBezTo>
                      <a:pt x="3" y="23"/>
                      <a:pt x="3" y="24"/>
                      <a:pt x="4" y="26"/>
                    </a:cubicBezTo>
                    <a:cubicBezTo>
                      <a:pt x="5" y="28"/>
                      <a:pt x="6" y="30"/>
                      <a:pt x="5" y="32"/>
                    </a:cubicBezTo>
                    <a:cubicBezTo>
                      <a:pt x="4" y="34"/>
                      <a:pt x="4" y="36"/>
                      <a:pt x="7" y="40"/>
                    </a:cubicBezTo>
                    <a:cubicBezTo>
                      <a:pt x="11" y="44"/>
                      <a:pt x="14" y="46"/>
                      <a:pt x="15" y="46"/>
                    </a:cubicBezTo>
                    <a:cubicBezTo>
                      <a:pt x="16" y="47"/>
                      <a:pt x="16" y="47"/>
                      <a:pt x="15" y="45"/>
                    </a:cubicBezTo>
                    <a:cubicBezTo>
                      <a:pt x="15" y="45"/>
                      <a:pt x="10" y="36"/>
                      <a:pt x="9" y="35"/>
                    </a:cubicBezTo>
                    <a:cubicBezTo>
                      <a:pt x="9" y="34"/>
                      <a:pt x="8" y="34"/>
                      <a:pt x="8" y="32"/>
                    </a:cubicBezTo>
                    <a:cubicBezTo>
                      <a:pt x="9" y="31"/>
                      <a:pt x="8" y="29"/>
                      <a:pt x="8" y="28"/>
                    </a:cubicBezTo>
                    <a:cubicBezTo>
                      <a:pt x="8" y="27"/>
                      <a:pt x="8" y="26"/>
                      <a:pt x="10" y="27"/>
                    </a:cubicBezTo>
                    <a:cubicBezTo>
                      <a:pt x="13" y="27"/>
                      <a:pt x="19" y="28"/>
                      <a:pt x="20" y="29"/>
                    </a:cubicBezTo>
                    <a:cubicBezTo>
                      <a:pt x="21" y="29"/>
                      <a:pt x="23" y="30"/>
                      <a:pt x="21" y="28"/>
                    </a:cubicBezTo>
                    <a:cubicBezTo>
                      <a:pt x="19" y="26"/>
                      <a:pt x="17" y="24"/>
                      <a:pt x="15" y="24"/>
                    </a:cubicBezTo>
                    <a:cubicBezTo>
                      <a:pt x="14" y="23"/>
                      <a:pt x="11" y="22"/>
                      <a:pt x="15" y="19"/>
                    </a:cubicBezTo>
                    <a:cubicBezTo>
                      <a:pt x="19" y="17"/>
                      <a:pt x="20" y="17"/>
                      <a:pt x="20" y="15"/>
                    </a:cubicBezTo>
                    <a:cubicBezTo>
                      <a:pt x="20" y="13"/>
                      <a:pt x="21" y="13"/>
                      <a:pt x="20" y="12"/>
                    </a:cubicBezTo>
                    <a:cubicBezTo>
                      <a:pt x="20" y="11"/>
                      <a:pt x="20" y="10"/>
                      <a:pt x="19" y="10"/>
                    </a:cubicBezTo>
                    <a:cubicBezTo>
                      <a:pt x="17" y="10"/>
                      <a:pt x="15" y="10"/>
                      <a:pt x="13" y="11"/>
                    </a:cubicBezTo>
                    <a:cubicBezTo>
                      <a:pt x="12" y="13"/>
                      <a:pt x="10" y="14"/>
                      <a:pt x="11" y="15"/>
                    </a:cubicBezTo>
                    <a:cubicBezTo>
                      <a:pt x="12" y="15"/>
                      <a:pt x="13" y="16"/>
                      <a:pt x="11" y="16"/>
                    </a:cubicBezTo>
                    <a:cubicBezTo>
                      <a:pt x="10" y="17"/>
                      <a:pt x="9" y="16"/>
                      <a:pt x="9" y="18"/>
                    </a:cubicBezTo>
                    <a:cubicBezTo>
                      <a:pt x="8" y="21"/>
                      <a:pt x="8" y="21"/>
                      <a:pt x="6" y="21"/>
                    </a:cubicBezTo>
                    <a:cubicBezTo>
                      <a:pt x="5" y="20"/>
                      <a:pt x="4" y="19"/>
                      <a:pt x="6" y="17"/>
                    </a:cubicBezTo>
                    <a:cubicBezTo>
                      <a:pt x="8" y="15"/>
                      <a:pt x="8" y="16"/>
                      <a:pt x="9" y="14"/>
                    </a:cubicBezTo>
                    <a:cubicBezTo>
                      <a:pt x="10" y="13"/>
                      <a:pt x="11" y="11"/>
                      <a:pt x="9" y="7"/>
                    </a:cubicBezTo>
                    <a:cubicBezTo>
                      <a:pt x="9" y="7"/>
                      <a:pt x="8" y="6"/>
                      <a:pt x="9" y="4"/>
                    </a:cubicBezTo>
                    <a:cubicBezTo>
                      <a:pt x="10" y="2"/>
                      <a:pt x="12" y="0"/>
                      <a:pt x="9" y="1"/>
                    </a:cubicBezTo>
                    <a:cubicBezTo>
                      <a:pt x="7" y="3"/>
                      <a:pt x="5" y="5"/>
                      <a:pt x="4" y="7"/>
                    </a:cubicBezTo>
                    <a:cubicBezTo>
                      <a:pt x="2" y="9"/>
                      <a:pt x="3" y="10"/>
                      <a:pt x="2"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35" name="Freeform 846">
                <a:extLst>
                  <a:ext uri="{FF2B5EF4-FFF2-40B4-BE49-F238E27FC236}">
                    <a16:creationId xmlns:a16="http://schemas.microsoft.com/office/drawing/2014/main" id="{FC1AFA76-9132-451F-B7D0-7FF6D526D6E9}"/>
                  </a:ext>
                </a:extLst>
              </p:cNvPr>
              <p:cNvSpPr>
                <a:spLocks/>
              </p:cNvSpPr>
              <p:nvPr/>
            </p:nvSpPr>
            <p:spPr bwMode="auto">
              <a:xfrm>
                <a:off x="6120" y="2667"/>
                <a:ext cx="1" cy="3"/>
              </a:xfrm>
              <a:custGeom>
                <a:avLst/>
                <a:gdLst>
                  <a:gd name="T0" fmla="*/ 1 w 1"/>
                  <a:gd name="T1" fmla="*/ 0 h 2"/>
                  <a:gd name="T2" fmla="*/ 0 w 1"/>
                  <a:gd name="T3" fmla="*/ 1 h 2"/>
                  <a:gd name="T4" fmla="*/ 1 w 1"/>
                  <a:gd name="T5" fmla="*/ 0 h 2"/>
                </a:gdLst>
                <a:ahLst/>
                <a:cxnLst>
                  <a:cxn ang="0">
                    <a:pos x="T0" y="T1"/>
                  </a:cxn>
                  <a:cxn ang="0">
                    <a:pos x="T2" y="T3"/>
                  </a:cxn>
                  <a:cxn ang="0">
                    <a:pos x="T4" y="T5"/>
                  </a:cxn>
                </a:cxnLst>
                <a:rect l="0" t="0" r="r" b="b"/>
                <a:pathLst>
                  <a:path w="1" h="2">
                    <a:moveTo>
                      <a:pt x="1" y="0"/>
                    </a:moveTo>
                    <a:cubicBezTo>
                      <a:pt x="1" y="0"/>
                      <a:pt x="0" y="0"/>
                      <a:pt x="0" y="1"/>
                    </a:cubicBezTo>
                    <a:cubicBezTo>
                      <a:pt x="0" y="2"/>
                      <a:pt x="1" y="1"/>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36" name="Freeform 847">
                <a:extLst>
                  <a:ext uri="{FF2B5EF4-FFF2-40B4-BE49-F238E27FC236}">
                    <a16:creationId xmlns:a16="http://schemas.microsoft.com/office/drawing/2014/main" id="{6FB881CC-F6BE-4809-86E8-79453CD59494}"/>
                  </a:ext>
                </a:extLst>
              </p:cNvPr>
              <p:cNvSpPr>
                <a:spLocks/>
              </p:cNvSpPr>
              <p:nvPr/>
            </p:nvSpPr>
            <p:spPr bwMode="auto">
              <a:xfrm>
                <a:off x="6160" y="2682"/>
                <a:ext cx="5" cy="4"/>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0" y="0"/>
                      <a:pt x="3" y="3"/>
                      <a:pt x="4" y="3"/>
                    </a:cubicBezTo>
                    <a:cubicBezTo>
                      <a:pt x="4" y="3"/>
                      <a:pt x="3" y="1"/>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37" name="Freeform 848">
                <a:extLst>
                  <a:ext uri="{FF2B5EF4-FFF2-40B4-BE49-F238E27FC236}">
                    <a16:creationId xmlns:a16="http://schemas.microsoft.com/office/drawing/2014/main" id="{D4D2FC8C-B2B2-47FD-B021-B2F5E96DEE16}"/>
                  </a:ext>
                </a:extLst>
              </p:cNvPr>
              <p:cNvSpPr>
                <a:spLocks/>
              </p:cNvSpPr>
              <p:nvPr/>
            </p:nvSpPr>
            <p:spPr bwMode="auto">
              <a:xfrm>
                <a:off x="6138" y="2627"/>
                <a:ext cx="8" cy="15"/>
              </a:xfrm>
              <a:custGeom>
                <a:avLst/>
                <a:gdLst>
                  <a:gd name="T0" fmla="*/ 0 w 6"/>
                  <a:gd name="T1" fmla="*/ 7 h 11"/>
                  <a:gd name="T2" fmla="*/ 2 w 6"/>
                  <a:gd name="T3" fmla="*/ 10 h 11"/>
                  <a:gd name="T4" fmla="*/ 6 w 6"/>
                  <a:gd name="T5" fmla="*/ 5 h 11"/>
                  <a:gd name="T6" fmla="*/ 4 w 6"/>
                  <a:gd name="T7" fmla="*/ 2 h 11"/>
                  <a:gd name="T8" fmla="*/ 0 w 6"/>
                  <a:gd name="T9" fmla="*/ 7 h 11"/>
                </a:gdLst>
                <a:ahLst/>
                <a:cxnLst>
                  <a:cxn ang="0">
                    <a:pos x="T0" y="T1"/>
                  </a:cxn>
                  <a:cxn ang="0">
                    <a:pos x="T2" y="T3"/>
                  </a:cxn>
                  <a:cxn ang="0">
                    <a:pos x="T4" y="T5"/>
                  </a:cxn>
                  <a:cxn ang="0">
                    <a:pos x="T6" y="T7"/>
                  </a:cxn>
                  <a:cxn ang="0">
                    <a:pos x="T8" y="T9"/>
                  </a:cxn>
                </a:cxnLst>
                <a:rect l="0" t="0" r="r" b="b"/>
                <a:pathLst>
                  <a:path w="6" h="11">
                    <a:moveTo>
                      <a:pt x="0" y="7"/>
                    </a:moveTo>
                    <a:cubicBezTo>
                      <a:pt x="1" y="11"/>
                      <a:pt x="0" y="11"/>
                      <a:pt x="2" y="10"/>
                    </a:cubicBezTo>
                    <a:cubicBezTo>
                      <a:pt x="2" y="10"/>
                      <a:pt x="6" y="10"/>
                      <a:pt x="6" y="5"/>
                    </a:cubicBezTo>
                    <a:cubicBezTo>
                      <a:pt x="5" y="0"/>
                      <a:pt x="5" y="0"/>
                      <a:pt x="4" y="2"/>
                    </a:cubicBezTo>
                    <a:cubicBezTo>
                      <a:pt x="2" y="3"/>
                      <a:pt x="0" y="4"/>
                      <a:pt x="0"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38" name="Freeform 849">
                <a:extLst>
                  <a:ext uri="{FF2B5EF4-FFF2-40B4-BE49-F238E27FC236}">
                    <a16:creationId xmlns:a16="http://schemas.microsoft.com/office/drawing/2014/main" id="{F7F54CB2-27B3-4701-AD76-CB820C696979}"/>
                  </a:ext>
                </a:extLst>
              </p:cNvPr>
              <p:cNvSpPr>
                <a:spLocks/>
              </p:cNvSpPr>
              <p:nvPr/>
            </p:nvSpPr>
            <p:spPr bwMode="auto">
              <a:xfrm>
                <a:off x="6182" y="2697"/>
                <a:ext cx="8" cy="4"/>
              </a:xfrm>
              <a:custGeom>
                <a:avLst/>
                <a:gdLst>
                  <a:gd name="T0" fmla="*/ 1 w 6"/>
                  <a:gd name="T1" fmla="*/ 2 h 3"/>
                  <a:gd name="T2" fmla="*/ 4 w 6"/>
                  <a:gd name="T3" fmla="*/ 1 h 3"/>
                  <a:gd name="T4" fmla="*/ 2 w 6"/>
                  <a:gd name="T5" fmla="*/ 1 h 3"/>
                  <a:gd name="T6" fmla="*/ 1 w 6"/>
                  <a:gd name="T7" fmla="*/ 2 h 3"/>
                </a:gdLst>
                <a:ahLst/>
                <a:cxnLst>
                  <a:cxn ang="0">
                    <a:pos x="T0" y="T1"/>
                  </a:cxn>
                  <a:cxn ang="0">
                    <a:pos x="T2" y="T3"/>
                  </a:cxn>
                  <a:cxn ang="0">
                    <a:pos x="T4" y="T5"/>
                  </a:cxn>
                  <a:cxn ang="0">
                    <a:pos x="T6" y="T7"/>
                  </a:cxn>
                </a:cxnLst>
                <a:rect l="0" t="0" r="r" b="b"/>
                <a:pathLst>
                  <a:path w="6" h="3">
                    <a:moveTo>
                      <a:pt x="1" y="2"/>
                    </a:moveTo>
                    <a:cubicBezTo>
                      <a:pt x="1" y="2"/>
                      <a:pt x="6" y="1"/>
                      <a:pt x="4" y="1"/>
                    </a:cubicBezTo>
                    <a:cubicBezTo>
                      <a:pt x="2" y="1"/>
                      <a:pt x="3" y="2"/>
                      <a:pt x="2" y="1"/>
                    </a:cubicBezTo>
                    <a:cubicBezTo>
                      <a:pt x="1" y="0"/>
                      <a:pt x="0" y="3"/>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39" name="Freeform 850">
                <a:extLst>
                  <a:ext uri="{FF2B5EF4-FFF2-40B4-BE49-F238E27FC236}">
                    <a16:creationId xmlns:a16="http://schemas.microsoft.com/office/drawing/2014/main" id="{FDEEB362-FF7C-4ED3-823C-80BA462CC82F}"/>
                  </a:ext>
                </a:extLst>
              </p:cNvPr>
              <p:cNvSpPr>
                <a:spLocks/>
              </p:cNvSpPr>
              <p:nvPr/>
            </p:nvSpPr>
            <p:spPr bwMode="auto">
              <a:xfrm>
                <a:off x="6187" y="2700"/>
                <a:ext cx="9" cy="9"/>
              </a:xfrm>
              <a:custGeom>
                <a:avLst/>
                <a:gdLst>
                  <a:gd name="T0" fmla="*/ 3 w 6"/>
                  <a:gd name="T1" fmla="*/ 7 h 7"/>
                  <a:gd name="T2" fmla="*/ 6 w 6"/>
                  <a:gd name="T3" fmla="*/ 3 h 7"/>
                  <a:gd name="T4" fmla="*/ 3 w 6"/>
                  <a:gd name="T5" fmla="*/ 0 h 7"/>
                  <a:gd name="T6" fmla="*/ 1 w 6"/>
                  <a:gd name="T7" fmla="*/ 3 h 7"/>
                  <a:gd name="T8" fmla="*/ 3 w 6"/>
                  <a:gd name="T9" fmla="*/ 7 h 7"/>
                </a:gdLst>
                <a:ahLst/>
                <a:cxnLst>
                  <a:cxn ang="0">
                    <a:pos x="T0" y="T1"/>
                  </a:cxn>
                  <a:cxn ang="0">
                    <a:pos x="T2" y="T3"/>
                  </a:cxn>
                  <a:cxn ang="0">
                    <a:pos x="T4" y="T5"/>
                  </a:cxn>
                  <a:cxn ang="0">
                    <a:pos x="T6" y="T7"/>
                  </a:cxn>
                  <a:cxn ang="0">
                    <a:pos x="T8" y="T9"/>
                  </a:cxn>
                </a:cxnLst>
                <a:rect l="0" t="0" r="r" b="b"/>
                <a:pathLst>
                  <a:path w="6" h="7">
                    <a:moveTo>
                      <a:pt x="3" y="7"/>
                    </a:moveTo>
                    <a:cubicBezTo>
                      <a:pt x="5" y="6"/>
                      <a:pt x="6" y="5"/>
                      <a:pt x="6" y="3"/>
                    </a:cubicBezTo>
                    <a:cubicBezTo>
                      <a:pt x="5" y="0"/>
                      <a:pt x="5" y="0"/>
                      <a:pt x="3" y="0"/>
                    </a:cubicBezTo>
                    <a:cubicBezTo>
                      <a:pt x="2" y="1"/>
                      <a:pt x="0" y="0"/>
                      <a:pt x="1" y="3"/>
                    </a:cubicBezTo>
                    <a:cubicBezTo>
                      <a:pt x="1" y="3"/>
                      <a:pt x="2" y="7"/>
                      <a:pt x="3"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40" name="Freeform 851">
                <a:extLst>
                  <a:ext uri="{FF2B5EF4-FFF2-40B4-BE49-F238E27FC236}">
                    <a16:creationId xmlns:a16="http://schemas.microsoft.com/office/drawing/2014/main" id="{33451B63-82BF-4CF4-B259-979C34604AC6}"/>
                  </a:ext>
                </a:extLst>
              </p:cNvPr>
              <p:cNvSpPr>
                <a:spLocks/>
              </p:cNvSpPr>
              <p:nvPr/>
            </p:nvSpPr>
            <p:spPr bwMode="auto">
              <a:xfrm>
                <a:off x="6178" y="2682"/>
                <a:ext cx="25" cy="10"/>
              </a:xfrm>
              <a:custGeom>
                <a:avLst/>
                <a:gdLst>
                  <a:gd name="T0" fmla="*/ 5 w 18"/>
                  <a:gd name="T1" fmla="*/ 5 h 7"/>
                  <a:gd name="T2" fmla="*/ 6 w 18"/>
                  <a:gd name="T3" fmla="*/ 5 h 7"/>
                  <a:gd name="T4" fmla="*/ 9 w 18"/>
                  <a:gd name="T5" fmla="*/ 7 h 7"/>
                  <a:gd name="T6" fmla="*/ 11 w 18"/>
                  <a:gd name="T7" fmla="*/ 5 h 7"/>
                  <a:gd name="T8" fmla="*/ 12 w 18"/>
                  <a:gd name="T9" fmla="*/ 5 h 7"/>
                  <a:gd name="T10" fmla="*/ 15 w 18"/>
                  <a:gd name="T11" fmla="*/ 6 h 7"/>
                  <a:gd name="T12" fmla="*/ 16 w 18"/>
                  <a:gd name="T13" fmla="*/ 2 h 7"/>
                  <a:gd name="T14" fmla="*/ 12 w 18"/>
                  <a:gd name="T15" fmla="*/ 1 h 7"/>
                  <a:gd name="T16" fmla="*/ 8 w 18"/>
                  <a:gd name="T17" fmla="*/ 0 h 7"/>
                  <a:gd name="T18" fmla="*/ 8 w 18"/>
                  <a:gd name="T19" fmla="*/ 2 h 7"/>
                  <a:gd name="T20" fmla="*/ 10 w 18"/>
                  <a:gd name="T21" fmla="*/ 4 h 7"/>
                  <a:gd name="T22" fmla="*/ 7 w 18"/>
                  <a:gd name="T23" fmla="*/ 2 h 7"/>
                  <a:gd name="T24" fmla="*/ 3 w 18"/>
                  <a:gd name="T25" fmla="*/ 2 h 7"/>
                  <a:gd name="T26" fmla="*/ 2 w 18"/>
                  <a:gd name="T27" fmla="*/ 4 h 7"/>
                  <a:gd name="T28" fmla="*/ 4 w 18"/>
                  <a:gd name="T29" fmla="*/ 4 h 7"/>
                  <a:gd name="T30" fmla="*/ 5 w 18"/>
                  <a:gd name="T3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7">
                    <a:moveTo>
                      <a:pt x="5" y="5"/>
                    </a:moveTo>
                    <a:cubicBezTo>
                      <a:pt x="5" y="6"/>
                      <a:pt x="6" y="6"/>
                      <a:pt x="6" y="5"/>
                    </a:cubicBezTo>
                    <a:cubicBezTo>
                      <a:pt x="7" y="3"/>
                      <a:pt x="8" y="6"/>
                      <a:pt x="9" y="7"/>
                    </a:cubicBezTo>
                    <a:cubicBezTo>
                      <a:pt x="10" y="7"/>
                      <a:pt x="11" y="6"/>
                      <a:pt x="11" y="5"/>
                    </a:cubicBezTo>
                    <a:cubicBezTo>
                      <a:pt x="11" y="5"/>
                      <a:pt x="12" y="5"/>
                      <a:pt x="12" y="5"/>
                    </a:cubicBezTo>
                    <a:cubicBezTo>
                      <a:pt x="13" y="5"/>
                      <a:pt x="12" y="5"/>
                      <a:pt x="15" y="6"/>
                    </a:cubicBezTo>
                    <a:cubicBezTo>
                      <a:pt x="18" y="6"/>
                      <a:pt x="17" y="3"/>
                      <a:pt x="16" y="2"/>
                    </a:cubicBezTo>
                    <a:cubicBezTo>
                      <a:pt x="15" y="1"/>
                      <a:pt x="13" y="1"/>
                      <a:pt x="12" y="1"/>
                    </a:cubicBezTo>
                    <a:cubicBezTo>
                      <a:pt x="10" y="0"/>
                      <a:pt x="10" y="0"/>
                      <a:pt x="8" y="0"/>
                    </a:cubicBezTo>
                    <a:cubicBezTo>
                      <a:pt x="6" y="1"/>
                      <a:pt x="7" y="1"/>
                      <a:pt x="8" y="2"/>
                    </a:cubicBezTo>
                    <a:cubicBezTo>
                      <a:pt x="9" y="2"/>
                      <a:pt x="11" y="4"/>
                      <a:pt x="10" y="4"/>
                    </a:cubicBezTo>
                    <a:cubicBezTo>
                      <a:pt x="8" y="4"/>
                      <a:pt x="7" y="4"/>
                      <a:pt x="7" y="2"/>
                    </a:cubicBezTo>
                    <a:cubicBezTo>
                      <a:pt x="6" y="0"/>
                      <a:pt x="6" y="1"/>
                      <a:pt x="3" y="2"/>
                    </a:cubicBezTo>
                    <a:cubicBezTo>
                      <a:pt x="0" y="3"/>
                      <a:pt x="2" y="4"/>
                      <a:pt x="2" y="4"/>
                    </a:cubicBezTo>
                    <a:cubicBezTo>
                      <a:pt x="2" y="4"/>
                      <a:pt x="3" y="4"/>
                      <a:pt x="4" y="4"/>
                    </a:cubicBezTo>
                    <a:cubicBezTo>
                      <a:pt x="5" y="4"/>
                      <a:pt x="5" y="3"/>
                      <a:pt x="5"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41" name="Freeform 852">
                <a:extLst>
                  <a:ext uri="{FF2B5EF4-FFF2-40B4-BE49-F238E27FC236}">
                    <a16:creationId xmlns:a16="http://schemas.microsoft.com/office/drawing/2014/main" id="{91370A72-ADBE-48DA-A6CF-E53247097885}"/>
                  </a:ext>
                </a:extLst>
              </p:cNvPr>
              <p:cNvSpPr>
                <a:spLocks/>
              </p:cNvSpPr>
              <p:nvPr/>
            </p:nvSpPr>
            <p:spPr bwMode="auto">
              <a:xfrm>
                <a:off x="6347" y="2848"/>
                <a:ext cx="11" cy="6"/>
              </a:xfrm>
              <a:custGeom>
                <a:avLst/>
                <a:gdLst>
                  <a:gd name="T0" fmla="*/ 7 w 8"/>
                  <a:gd name="T1" fmla="*/ 4 h 4"/>
                  <a:gd name="T2" fmla="*/ 6 w 8"/>
                  <a:gd name="T3" fmla="*/ 0 h 4"/>
                  <a:gd name="T4" fmla="*/ 4 w 8"/>
                  <a:gd name="T5" fmla="*/ 1 h 4"/>
                  <a:gd name="T6" fmla="*/ 7 w 8"/>
                  <a:gd name="T7" fmla="*/ 4 h 4"/>
                </a:gdLst>
                <a:ahLst/>
                <a:cxnLst>
                  <a:cxn ang="0">
                    <a:pos x="T0" y="T1"/>
                  </a:cxn>
                  <a:cxn ang="0">
                    <a:pos x="T2" y="T3"/>
                  </a:cxn>
                  <a:cxn ang="0">
                    <a:pos x="T4" y="T5"/>
                  </a:cxn>
                  <a:cxn ang="0">
                    <a:pos x="T6" y="T7"/>
                  </a:cxn>
                </a:cxnLst>
                <a:rect l="0" t="0" r="r" b="b"/>
                <a:pathLst>
                  <a:path w="8" h="4">
                    <a:moveTo>
                      <a:pt x="7" y="4"/>
                    </a:moveTo>
                    <a:cubicBezTo>
                      <a:pt x="8" y="3"/>
                      <a:pt x="6" y="0"/>
                      <a:pt x="6" y="0"/>
                    </a:cubicBezTo>
                    <a:cubicBezTo>
                      <a:pt x="6" y="0"/>
                      <a:pt x="4" y="1"/>
                      <a:pt x="4" y="1"/>
                    </a:cubicBezTo>
                    <a:cubicBezTo>
                      <a:pt x="0" y="4"/>
                      <a:pt x="6" y="4"/>
                      <a:pt x="7"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42" name="Freeform 853">
                <a:extLst>
                  <a:ext uri="{FF2B5EF4-FFF2-40B4-BE49-F238E27FC236}">
                    <a16:creationId xmlns:a16="http://schemas.microsoft.com/office/drawing/2014/main" id="{2498C243-0386-423A-B883-CDECEFD23C99}"/>
                  </a:ext>
                </a:extLst>
              </p:cNvPr>
              <p:cNvSpPr>
                <a:spLocks/>
              </p:cNvSpPr>
              <p:nvPr/>
            </p:nvSpPr>
            <p:spPr bwMode="auto">
              <a:xfrm>
                <a:off x="6331" y="2832"/>
                <a:ext cx="29" cy="26"/>
              </a:xfrm>
              <a:custGeom>
                <a:avLst/>
                <a:gdLst>
                  <a:gd name="T0" fmla="*/ 19 w 21"/>
                  <a:gd name="T1" fmla="*/ 3 h 19"/>
                  <a:gd name="T2" fmla="*/ 15 w 21"/>
                  <a:gd name="T3" fmla="*/ 0 h 19"/>
                  <a:gd name="T4" fmla="*/ 6 w 21"/>
                  <a:gd name="T5" fmla="*/ 4 h 19"/>
                  <a:gd name="T6" fmla="*/ 1 w 21"/>
                  <a:gd name="T7" fmla="*/ 15 h 19"/>
                  <a:gd name="T8" fmla="*/ 2 w 21"/>
                  <a:gd name="T9" fmla="*/ 16 h 19"/>
                  <a:gd name="T10" fmla="*/ 9 w 21"/>
                  <a:gd name="T11" fmla="*/ 16 h 19"/>
                  <a:gd name="T12" fmla="*/ 13 w 21"/>
                  <a:gd name="T13" fmla="*/ 14 h 19"/>
                  <a:gd name="T14" fmla="*/ 16 w 21"/>
                  <a:gd name="T15" fmla="*/ 12 h 19"/>
                  <a:gd name="T16" fmla="*/ 18 w 21"/>
                  <a:gd name="T17" fmla="*/ 10 h 19"/>
                  <a:gd name="T18" fmla="*/ 19 w 21"/>
                  <a:gd name="T19" fmla="*/ 7 h 19"/>
                  <a:gd name="T20" fmla="*/ 19 w 21"/>
                  <a:gd name="T21"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9">
                    <a:moveTo>
                      <a:pt x="19" y="3"/>
                    </a:moveTo>
                    <a:cubicBezTo>
                      <a:pt x="19" y="3"/>
                      <a:pt x="16" y="0"/>
                      <a:pt x="15" y="0"/>
                    </a:cubicBezTo>
                    <a:cubicBezTo>
                      <a:pt x="14" y="1"/>
                      <a:pt x="8" y="1"/>
                      <a:pt x="6" y="4"/>
                    </a:cubicBezTo>
                    <a:cubicBezTo>
                      <a:pt x="4" y="7"/>
                      <a:pt x="1" y="11"/>
                      <a:pt x="1" y="15"/>
                    </a:cubicBezTo>
                    <a:cubicBezTo>
                      <a:pt x="0" y="19"/>
                      <a:pt x="0" y="16"/>
                      <a:pt x="2" y="16"/>
                    </a:cubicBezTo>
                    <a:cubicBezTo>
                      <a:pt x="5" y="16"/>
                      <a:pt x="8" y="16"/>
                      <a:pt x="9" y="16"/>
                    </a:cubicBezTo>
                    <a:cubicBezTo>
                      <a:pt x="11" y="16"/>
                      <a:pt x="12" y="16"/>
                      <a:pt x="13" y="14"/>
                    </a:cubicBezTo>
                    <a:cubicBezTo>
                      <a:pt x="15" y="13"/>
                      <a:pt x="15" y="12"/>
                      <a:pt x="16" y="12"/>
                    </a:cubicBezTo>
                    <a:cubicBezTo>
                      <a:pt x="18" y="12"/>
                      <a:pt x="19" y="11"/>
                      <a:pt x="18" y="10"/>
                    </a:cubicBezTo>
                    <a:cubicBezTo>
                      <a:pt x="18" y="9"/>
                      <a:pt x="19" y="8"/>
                      <a:pt x="19" y="7"/>
                    </a:cubicBezTo>
                    <a:cubicBezTo>
                      <a:pt x="20" y="6"/>
                      <a:pt x="21" y="4"/>
                      <a:pt x="19"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43" name="Freeform 854">
                <a:extLst>
                  <a:ext uri="{FF2B5EF4-FFF2-40B4-BE49-F238E27FC236}">
                    <a16:creationId xmlns:a16="http://schemas.microsoft.com/office/drawing/2014/main" id="{53A8DD09-C4F3-49A5-A129-70082A098B9D}"/>
                  </a:ext>
                </a:extLst>
              </p:cNvPr>
              <p:cNvSpPr>
                <a:spLocks/>
              </p:cNvSpPr>
              <p:nvPr/>
            </p:nvSpPr>
            <p:spPr bwMode="auto">
              <a:xfrm>
                <a:off x="6273" y="2700"/>
                <a:ext cx="4" cy="5"/>
              </a:xfrm>
              <a:custGeom>
                <a:avLst/>
                <a:gdLst>
                  <a:gd name="T0" fmla="*/ 0 w 3"/>
                  <a:gd name="T1" fmla="*/ 3 h 4"/>
                  <a:gd name="T2" fmla="*/ 2 w 3"/>
                  <a:gd name="T3" fmla="*/ 3 h 4"/>
                  <a:gd name="T4" fmla="*/ 1 w 3"/>
                  <a:gd name="T5" fmla="*/ 1 h 4"/>
                  <a:gd name="T6" fmla="*/ 0 w 3"/>
                  <a:gd name="T7" fmla="*/ 3 h 4"/>
                </a:gdLst>
                <a:ahLst/>
                <a:cxnLst>
                  <a:cxn ang="0">
                    <a:pos x="T0" y="T1"/>
                  </a:cxn>
                  <a:cxn ang="0">
                    <a:pos x="T2" y="T3"/>
                  </a:cxn>
                  <a:cxn ang="0">
                    <a:pos x="T4" y="T5"/>
                  </a:cxn>
                  <a:cxn ang="0">
                    <a:pos x="T6" y="T7"/>
                  </a:cxn>
                </a:cxnLst>
                <a:rect l="0" t="0" r="r" b="b"/>
                <a:pathLst>
                  <a:path w="3" h="4">
                    <a:moveTo>
                      <a:pt x="0" y="3"/>
                    </a:moveTo>
                    <a:cubicBezTo>
                      <a:pt x="0" y="3"/>
                      <a:pt x="0" y="3"/>
                      <a:pt x="2" y="3"/>
                    </a:cubicBezTo>
                    <a:cubicBezTo>
                      <a:pt x="3" y="4"/>
                      <a:pt x="2" y="2"/>
                      <a:pt x="1" y="1"/>
                    </a:cubicBezTo>
                    <a:cubicBezTo>
                      <a:pt x="0" y="0"/>
                      <a:pt x="0" y="3"/>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44" name="Freeform 855">
                <a:extLst>
                  <a:ext uri="{FF2B5EF4-FFF2-40B4-BE49-F238E27FC236}">
                    <a16:creationId xmlns:a16="http://schemas.microsoft.com/office/drawing/2014/main" id="{26482505-A915-4269-AF94-ACCC3FFF6F38}"/>
                  </a:ext>
                </a:extLst>
              </p:cNvPr>
              <p:cNvSpPr>
                <a:spLocks/>
              </p:cNvSpPr>
              <p:nvPr/>
            </p:nvSpPr>
            <p:spPr bwMode="auto">
              <a:xfrm>
                <a:off x="6283" y="2694"/>
                <a:ext cx="10" cy="6"/>
              </a:xfrm>
              <a:custGeom>
                <a:avLst/>
                <a:gdLst>
                  <a:gd name="T0" fmla="*/ 4 w 7"/>
                  <a:gd name="T1" fmla="*/ 1 h 4"/>
                  <a:gd name="T2" fmla="*/ 4 w 7"/>
                  <a:gd name="T3" fmla="*/ 2 h 4"/>
                  <a:gd name="T4" fmla="*/ 6 w 7"/>
                  <a:gd name="T5" fmla="*/ 3 h 4"/>
                  <a:gd name="T6" fmla="*/ 4 w 7"/>
                  <a:gd name="T7" fmla="*/ 1 h 4"/>
                </a:gdLst>
                <a:ahLst/>
                <a:cxnLst>
                  <a:cxn ang="0">
                    <a:pos x="T0" y="T1"/>
                  </a:cxn>
                  <a:cxn ang="0">
                    <a:pos x="T2" y="T3"/>
                  </a:cxn>
                  <a:cxn ang="0">
                    <a:pos x="T4" y="T5"/>
                  </a:cxn>
                  <a:cxn ang="0">
                    <a:pos x="T6" y="T7"/>
                  </a:cxn>
                </a:cxnLst>
                <a:rect l="0" t="0" r="r" b="b"/>
                <a:pathLst>
                  <a:path w="7" h="4">
                    <a:moveTo>
                      <a:pt x="4" y="1"/>
                    </a:moveTo>
                    <a:cubicBezTo>
                      <a:pt x="4" y="1"/>
                      <a:pt x="0" y="0"/>
                      <a:pt x="4" y="2"/>
                    </a:cubicBezTo>
                    <a:cubicBezTo>
                      <a:pt x="4" y="2"/>
                      <a:pt x="7" y="4"/>
                      <a:pt x="6" y="3"/>
                    </a:cubicBezTo>
                    <a:cubicBezTo>
                      <a:pt x="6" y="1"/>
                      <a:pt x="5" y="2"/>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45" name="Freeform 856">
                <a:extLst>
                  <a:ext uri="{FF2B5EF4-FFF2-40B4-BE49-F238E27FC236}">
                    <a16:creationId xmlns:a16="http://schemas.microsoft.com/office/drawing/2014/main" id="{977AFC6C-589C-4690-B854-7FF5F854D3C1}"/>
                  </a:ext>
                </a:extLst>
              </p:cNvPr>
              <p:cNvSpPr>
                <a:spLocks/>
              </p:cNvSpPr>
              <p:nvPr/>
            </p:nvSpPr>
            <p:spPr bwMode="auto">
              <a:xfrm>
                <a:off x="6293" y="2697"/>
                <a:ext cx="13" cy="10"/>
              </a:xfrm>
              <a:custGeom>
                <a:avLst/>
                <a:gdLst>
                  <a:gd name="T0" fmla="*/ 3 w 10"/>
                  <a:gd name="T1" fmla="*/ 7 h 7"/>
                  <a:gd name="T2" fmla="*/ 7 w 10"/>
                  <a:gd name="T3" fmla="*/ 7 h 7"/>
                  <a:gd name="T4" fmla="*/ 8 w 10"/>
                  <a:gd name="T5" fmla="*/ 5 h 7"/>
                  <a:gd name="T6" fmla="*/ 4 w 10"/>
                  <a:gd name="T7" fmla="*/ 3 h 7"/>
                  <a:gd name="T8" fmla="*/ 1 w 10"/>
                  <a:gd name="T9" fmla="*/ 0 h 7"/>
                  <a:gd name="T10" fmla="*/ 0 w 10"/>
                  <a:gd name="T11" fmla="*/ 2 h 7"/>
                  <a:gd name="T12" fmla="*/ 1 w 10"/>
                  <a:gd name="T13" fmla="*/ 5 h 7"/>
                  <a:gd name="T14" fmla="*/ 3 w 10"/>
                  <a:gd name="T15" fmla="*/ 7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7">
                    <a:moveTo>
                      <a:pt x="3" y="7"/>
                    </a:moveTo>
                    <a:cubicBezTo>
                      <a:pt x="5" y="7"/>
                      <a:pt x="6" y="7"/>
                      <a:pt x="7" y="7"/>
                    </a:cubicBezTo>
                    <a:cubicBezTo>
                      <a:pt x="8" y="7"/>
                      <a:pt x="10" y="6"/>
                      <a:pt x="8" y="5"/>
                    </a:cubicBezTo>
                    <a:cubicBezTo>
                      <a:pt x="5" y="4"/>
                      <a:pt x="5" y="5"/>
                      <a:pt x="4" y="3"/>
                    </a:cubicBezTo>
                    <a:cubicBezTo>
                      <a:pt x="4" y="2"/>
                      <a:pt x="2" y="0"/>
                      <a:pt x="1" y="0"/>
                    </a:cubicBezTo>
                    <a:cubicBezTo>
                      <a:pt x="0" y="0"/>
                      <a:pt x="0" y="0"/>
                      <a:pt x="0" y="2"/>
                    </a:cubicBezTo>
                    <a:cubicBezTo>
                      <a:pt x="1" y="4"/>
                      <a:pt x="1" y="4"/>
                      <a:pt x="1" y="5"/>
                    </a:cubicBezTo>
                    <a:cubicBezTo>
                      <a:pt x="1" y="5"/>
                      <a:pt x="0" y="7"/>
                      <a:pt x="3"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46" name="Freeform 857">
                <a:extLst>
                  <a:ext uri="{FF2B5EF4-FFF2-40B4-BE49-F238E27FC236}">
                    <a16:creationId xmlns:a16="http://schemas.microsoft.com/office/drawing/2014/main" id="{F54A24C2-1FF6-4FFB-8EDD-7E2CB750D705}"/>
                  </a:ext>
                </a:extLst>
              </p:cNvPr>
              <p:cNvSpPr>
                <a:spLocks/>
              </p:cNvSpPr>
              <p:nvPr/>
            </p:nvSpPr>
            <p:spPr bwMode="auto">
              <a:xfrm>
                <a:off x="6283" y="2714"/>
                <a:ext cx="35" cy="6"/>
              </a:xfrm>
              <a:custGeom>
                <a:avLst/>
                <a:gdLst>
                  <a:gd name="T0" fmla="*/ 6 w 25"/>
                  <a:gd name="T1" fmla="*/ 2 h 5"/>
                  <a:gd name="T2" fmla="*/ 17 w 25"/>
                  <a:gd name="T3" fmla="*/ 5 h 5"/>
                  <a:gd name="T4" fmla="*/ 23 w 25"/>
                  <a:gd name="T5" fmla="*/ 4 h 5"/>
                  <a:gd name="T6" fmla="*/ 19 w 25"/>
                  <a:gd name="T7" fmla="*/ 3 h 5"/>
                  <a:gd name="T8" fmla="*/ 8 w 25"/>
                  <a:gd name="T9" fmla="*/ 1 h 5"/>
                  <a:gd name="T10" fmla="*/ 6 w 25"/>
                  <a:gd name="T11" fmla="*/ 2 h 5"/>
                </a:gdLst>
                <a:ahLst/>
                <a:cxnLst>
                  <a:cxn ang="0">
                    <a:pos x="T0" y="T1"/>
                  </a:cxn>
                  <a:cxn ang="0">
                    <a:pos x="T2" y="T3"/>
                  </a:cxn>
                  <a:cxn ang="0">
                    <a:pos x="T4" y="T5"/>
                  </a:cxn>
                  <a:cxn ang="0">
                    <a:pos x="T6" y="T7"/>
                  </a:cxn>
                  <a:cxn ang="0">
                    <a:pos x="T8" y="T9"/>
                  </a:cxn>
                  <a:cxn ang="0">
                    <a:pos x="T10" y="T11"/>
                  </a:cxn>
                </a:cxnLst>
                <a:rect l="0" t="0" r="r" b="b"/>
                <a:pathLst>
                  <a:path w="25" h="5">
                    <a:moveTo>
                      <a:pt x="6" y="2"/>
                    </a:moveTo>
                    <a:cubicBezTo>
                      <a:pt x="9" y="3"/>
                      <a:pt x="16" y="5"/>
                      <a:pt x="17" y="5"/>
                    </a:cubicBezTo>
                    <a:cubicBezTo>
                      <a:pt x="18" y="5"/>
                      <a:pt x="20" y="5"/>
                      <a:pt x="23" y="4"/>
                    </a:cubicBezTo>
                    <a:cubicBezTo>
                      <a:pt x="25" y="3"/>
                      <a:pt x="20" y="2"/>
                      <a:pt x="19" y="3"/>
                    </a:cubicBezTo>
                    <a:cubicBezTo>
                      <a:pt x="17" y="3"/>
                      <a:pt x="15" y="2"/>
                      <a:pt x="8" y="1"/>
                    </a:cubicBezTo>
                    <a:cubicBezTo>
                      <a:pt x="0" y="0"/>
                      <a:pt x="6" y="2"/>
                      <a:pt x="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47" name="Freeform 858">
                <a:extLst>
                  <a:ext uri="{FF2B5EF4-FFF2-40B4-BE49-F238E27FC236}">
                    <a16:creationId xmlns:a16="http://schemas.microsoft.com/office/drawing/2014/main" id="{E984383F-4316-471F-BD00-BE2C06E00A5C}"/>
                  </a:ext>
                </a:extLst>
              </p:cNvPr>
              <p:cNvSpPr>
                <a:spLocks/>
              </p:cNvSpPr>
              <p:nvPr/>
            </p:nvSpPr>
            <p:spPr bwMode="auto">
              <a:xfrm>
                <a:off x="6002" y="2692"/>
                <a:ext cx="6" cy="1"/>
              </a:xfrm>
              <a:custGeom>
                <a:avLst/>
                <a:gdLst>
                  <a:gd name="T0" fmla="*/ 0 w 4"/>
                  <a:gd name="T1" fmla="*/ 1 h 1"/>
                  <a:gd name="T2" fmla="*/ 3 w 4"/>
                  <a:gd name="T3" fmla="*/ 0 h 1"/>
                  <a:gd name="T4" fmla="*/ 0 w 4"/>
                  <a:gd name="T5" fmla="*/ 1 h 1"/>
                </a:gdLst>
                <a:ahLst/>
                <a:cxnLst>
                  <a:cxn ang="0">
                    <a:pos x="T0" y="T1"/>
                  </a:cxn>
                  <a:cxn ang="0">
                    <a:pos x="T2" y="T3"/>
                  </a:cxn>
                  <a:cxn ang="0">
                    <a:pos x="T4" y="T5"/>
                  </a:cxn>
                </a:cxnLst>
                <a:rect l="0" t="0" r="r" b="b"/>
                <a:pathLst>
                  <a:path w="4" h="1">
                    <a:moveTo>
                      <a:pt x="0" y="1"/>
                    </a:moveTo>
                    <a:cubicBezTo>
                      <a:pt x="1" y="1"/>
                      <a:pt x="4" y="0"/>
                      <a:pt x="3" y="0"/>
                    </a:cubicBezTo>
                    <a:cubicBezTo>
                      <a:pt x="1" y="0"/>
                      <a:pt x="0" y="1"/>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48" name="Freeform 859">
                <a:extLst>
                  <a:ext uri="{FF2B5EF4-FFF2-40B4-BE49-F238E27FC236}">
                    <a16:creationId xmlns:a16="http://schemas.microsoft.com/office/drawing/2014/main" id="{BEB63655-2D89-4F99-8851-B3E38FC43B79}"/>
                  </a:ext>
                </a:extLst>
              </p:cNvPr>
              <p:cNvSpPr>
                <a:spLocks/>
              </p:cNvSpPr>
              <p:nvPr/>
            </p:nvSpPr>
            <p:spPr bwMode="auto">
              <a:xfrm>
                <a:off x="6003" y="2784"/>
                <a:ext cx="7" cy="9"/>
              </a:xfrm>
              <a:custGeom>
                <a:avLst/>
                <a:gdLst>
                  <a:gd name="T0" fmla="*/ 4 w 5"/>
                  <a:gd name="T1" fmla="*/ 5 h 7"/>
                  <a:gd name="T2" fmla="*/ 4 w 5"/>
                  <a:gd name="T3" fmla="*/ 1 h 7"/>
                  <a:gd name="T4" fmla="*/ 4 w 5"/>
                  <a:gd name="T5" fmla="*/ 7 h 7"/>
                  <a:gd name="T6" fmla="*/ 4 w 5"/>
                  <a:gd name="T7" fmla="*/ 5 h 7"/>
                </a:gdLst>
                <a:ahLst/>
                <a:cxnLst>
                  <a:cxn ang="0">
                    <a:pos x="T0" y="T1"/>
                  </a:cxn>
                  <a:cxn ang="0">
                    <a:pos x="T2" y="T3"/>
                  </a:cxn>
                  <a:cxn ang="0">
                    <a:pos x="T4" y="T5"/>
                  </a:cxn>
                  <a:cxn ang="0">
                    <a:pos x="T6" y="T7"/>
                  </a:cxn>
                </a:cxnLst>
                <a:rect l="0" t="0" r="r" b="b"/>
                <a:pathLst>
                  <a:path w="5" h="7">
                    <a:moveTo>
                      <a:pt x="4" y="5"/>
                    </a:moveTo>
                    <a:cubicBezTo>
                      <a:pt x="4" y="3"/>
                      <a:pt x="5" y="0"/>
                      <a:pt x="4" y="1"/>
                    </a:cubicBezTo>
                    <a:cubicBezTo>
                      <a:pt x="2" y="2"/>
                      <a:pt x="0" y="4"/>
                      <a:pt x="4" y="7"/>
                    </a:cubicBezTo>
                    <a:cubicBezTo>
                      <a:pt x="4" y="7"/>
                      <a:pt x="4" y="7"/>
                      <a:pt x="4"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49" name="Freeform 860">
                <a:extLst>
                  <a:ext uri="{FF2B5EF4-FFF2-40B4-BE49-F238E27FC236}">
                    <a16:creationId xmlns:a16="http://schemas.microsoft.com/office/drawing/2014/main" id="{15773247-4799-46A0-A85A-998F8E10AF45}"/>
                  </a:ext>
                </a:extLst>
              </p:cNvPr>
              <p:cNvSpPr>
                <a:spLocks/>
              </p:cNvSpPr>
              <p:nvPr/>
            </p:nvSpPr>
            <p:spPr bwMode="auto">
              <a:xfrm>
                <a:off x="6014" y="2775"/>
                <a:ext cx="12" cy="18"/>
              </a:xfrm>
              <a:custGeom>
                <a:avLst/>
                <a:gdLst>
                  <a:gd name="T0" fmla="*/ 2 w 8"/>
                  <a:gd name="T1" fmla="*/ 12 h 13"/>
                  <a:gd name="T2" fmla="*/ 5 w 8"/>
                  <a:gd name="T3" fmla="*/ 11 h 13"/>
                  <a:gd name="T4" fmla="*/ 6 w 8"/>
                  <a:gd name="T5" fmla="*/ 8 h 13"/>
                  <a:gd name="T6" fmla="*/ 8 w 8"/>
                  <a:gd name="T7" fmla="*/ 3 h 13"/>
                  <a:gd name="T8" fmla="*/ 5 w 8"/>
                  <a:gd name="T9" fmla="*/ 1 h 13"/>
                  <a:gd name="T10" fmla="*/ 3 w 8"/>
                  <a:gd name="T11" fmla="*/ 2 h 13"/>
                  <a:gd name="T12" fmla="*/ 2 w 8"/>
                  <a:gd name="T13" fmla="*/ 5 h 13"/>
                  <a:gd name="T14" fmla="*/ 1 w 8"/>
                  <a:gd name="T15" fmla="*/ 9 h 13"/>
                  <a:gd name="T16" fmla="*/ 2 w 8"/>
                  <a:gd name="T17" fmla="*/ 1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3">
                    <a:moveTo>
                      <a:pt x="2" y="12"/>
                    </a:moveTo>
                    <a:cubicBezTo>
                      <a:pt x="4" y="12"/>
                      <a:pt x="5" y="13"/>
                      <a:pt x="5" y="11"/>
                    </a:cubicBezTo>
                    <a:cubicBezTo>
                      <a:pt x="5" y="9"/>
                      <a:pt x="6" y="10"/>
                      <a:pt x="6" y="8"/>
                    </a:cubicBezTo>
                    <a:cubicBezTo>
                      <a:pt x="7" y="6"/>
                      <a:pt x="8" y="4"/>
                      <a:pt x="8" y="3"/>
                    </a:cubicBezTo>
                    <a:cubicBezTo>
                      <a:pt x="7" y="1"/>
                      <a:pt x="7" y="0"/>
                      <a:pt x="5" y="1"/>
                    </a:cubicBezTo>
                    <a:cubicBezTo>
                      <a:pt x="4" y="2"/>
                      <a:pt x="4" y="2"/>
                      <a:pt x="3" y="2"/>
                    </a:cubicBezTo>
                    <a:cubicBezTo>
                      <a:pt x="2" y="3"/>
                      <a:pt x="1" y="4"/>
                      <a:pt x="2" y="5"/>
                    </a:cubicBezTo>
                    <a:cubicBezTo>
                      <a:pt x="3" y="7"/>
                      <a:pt x="2" y="9"/>
                      <a:pt x="1" y="9"/>
                    </a:cubicBezTo>
                    <a:cubicBezTo>
                      <a:pt x="1" y="9"/>
                      <a:pt x="0" y="11"/>
                      <a:pt x="2"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50" name="Freeform 861">
                <a:extLst>
                  <a:ext uri="{FF2B5EF4-FFF2-40B4-BE49-F238E27FC236}">
                    <a16:creationId xmlns:a16="http://schemas.microsoft.com/office/drawing/2014/main" id="{3CFE4ED1-387C-432D-915D-B8C3B6027062}"/>
                  </a:ext>
                </a:extLst>
              </p:cNvPr>
              <p:cNvSpPr>
                <a:spLocks/>
              </p:cNvSpPr>
              <p:nvPr/>
            </p:nvSpPr>
            <p:spPr bwMode="auto">
              <a:xfrm>
                <a:off x="6021" y="2773"/>
                <a:ext cx="14" cy="24"/>
              </a:xfrm>
              <a:custGeom>
                <a:avLst/>
                <a:gdLst>
                  <a:gd name="T0" fmla="*/ 4 w 10"/>
                  <a:gd name="T1" fmla="*/ 3 h 18"/>
                  <a:gd name="T2" fmla="*/ 3 w 10"/>
                  <a:gd name="T3" fmla="*/ 11 h 18"/>
                  <a:gd name="T4" fmla="*/ 1 w 10"/>
                  <a:gd name="T5" fmla="*/ 17 h 18"/>
                  <a:gd name="T6" fmla="*/ 5 w 10"/>
                  <a:gd name="T7" fmla="*/ 17 h 18"/>
                  <a:gd name="T8" fmla="*/ 8 w 10"/>
                  <a:gd name="T9" fmla="*/ 15 h 18"/>
                  <a:gd name="T10" fmla="*/ 9 w 10"/>
                  <a:gd name="T11" fmla="*/ 12 h 18"/>
                  <a:gd name="T12" fmla="*/ 6 w 10"/>
                  <a:gd name="T13" fmla="*/ 6 h 18"/>
                  <a:gd name="T14" fmla="*/ 9 w 10"/>
                  <a:gd name="T15" fmla="*/ 5 h 18"/>
                  <a:gd name="T16" fmla="*/ 10 w 10"/>
                  <a:gd name="T17" fmla="*/ 4 h 18"/>
                  <a:gd name="T18" fmla="*/ 7 w 10"/>
                  <a:gd name="T19" fmla="*/ 0 h 18"/>
                  <a:gd name="T20" fmla="*/ 4 w 10"/>
                  <a:gd name="T21"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8">
                    <a:moveTo>
                      <a:pt x="4" y="3"/>
                    </a:moveTo>
                    <a:cubicBezTo>
                      <a:pt x="4" y="5"/>
                      <a:pt x="3" y="10"/>
                      <a:pt x="3" y="11"/>
                    </a:cubicBezTo>
                    <a:cubicBezTo>
                      <a:pt x="2" y="13"/>
                      <a:pt x="0" y="16"/>
                      <a:pt x="1" y="17"/>
                    </a:cubicBezTo>
                    <a:cubicBezTo>
                      <a:pt x="2" y="18"/>
                      <a:pt x="4" y="18"/>
                      <a:pt x="5" y="17"/>
                    </a:cubicBezTo>
                    <a:cubicBezTo>
                      <a:pt x="5" y="16"/>
                      <a:pt x="8" y="15"/>
                      <a:pt x="8" y="15"/>
                    </a:cubicBezTo>
                    <a:cubicBezTo>
                      <a:pt x="9" y="14"/>
                      <a:pt x="10" y="13"/>
                      <a:pt x="9" y="12"/>
                    </a:cubicBezTo>
                    <a:cubicBezTo>
                      <a:pt x="7" y="11"/>
                      <a:pt x="5" y="9"/>
                      <a:pt x="6" y="6"/>
                    </a:cubicBezTo>
                    <a:cubicBezTo>
                      <a:pt x="7" y="4"/>
                      <a:pt x="9" y="5"/>
                      <a:pt x="9" y="5"/>
                    </a:cubicBezTo>
                    <a:cubicBezTo>
                      <a:pt x="9" y="5"/>
                      <a:pt x="10" y="6"/>
                      <a:pt x="10" y="4"/>
                    </a:cubicBezTo>
                    <a:cubicBezTo>
                      <a:pt x="9" y="2"/>
                      <a:pt x="8" y="0"/>
                      <a:pt x="7" y="0"/>
                    </a:cubicBezTo>
                    <a:cubicBezTo>
                      <a:pt x="6" y="0"/>
                      <a:pt x="4" y="0"/>
                      <a:pt x="4"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51" name="Freeform 862">
                <a:extLst>
                  <a:ext uri="{FF2B5EF4-FFF2-40B4-BE49-F238E27FC236}">
                    <a16:creationId xmlns:a16="http://schemas.microsoft.com/office/drawing/2014/main" id="{C5DB385D-00A6-4487-A661-9E12C6D86078}"/>
                  </a:ext>
                </a:extLst>
              </p:cNvPr>
              <p:cNvSpPr>
                <a:spLocks/>
              </p:cNvSpPr>
              <p:nvPr/>
            </p:nvSpPr>
            <p:spPr bwMode="auto">
              <a:xfrm>
                <a:off x="6028" y="2763"/>
                <a:ext cx="9" cy="5"/>
              </a:xfrm>
              <a:custGeom>
                <a:avLst/>
                <a:gdLst>
                  <a:gd name="T0" fmla="*/ 5 w 6"/>
                  <a:gd name="T1" fmla="*/ 2 h 4"/>
                  <a:gd name="T2" fmla="*/ 2 w 6"/>
                  <a:gd name="T3" fmla="*/ 0 h 4"/>
                  <a:gd name="T4" fmla="*/ 3 w 6"/>
                  <a:gd name="T5" fmla="*/ 4 h 4"/>
                  <a:gd name="T6" fmla="*/ 5 w 6"/>
                  <a:gd name="T7" fmla="*/ 2 h 4"/>
                </a:gdLst>
                <a:ahLst/>
                <a:cxnLst>
                  <a:cxn ang="0">
                    <a:pos x="T0" y="T1"/>
                  </a:cxn>
                  <a:cxn ang="0">
                    <a:pos x="T2" y="T3"/>
                  </a:cxn>
                  <a:cxn ang="0">
                    <a:pos x="T4" y="T5"/>
                  </a:cxn>
                  <a:cxn ang="0">
                    <a:pos x="T6" y="T7"/>
                  </a:cxn>
                </a:cxnLst>
                <a:rect l="0" t="0" r="r" b="b"/>
                <a:pathLst>
                  <a:path w="6" h="4">
                    <a:moveTo>
                      <a:pt x="5" y="2"/>
                    </a:moveTo>
                    <a:cubicBezTo>
                      <a:pt x="4" y="0"/>
                      <a:pt x="4" y="0"/>
                      <a:pt x="2" y="0"/>
                    </a:cubicBezTo>
                    <a:cubicBezTo>
                      <a:pt x="1" y="0"/>
                      <a:pt x="0" y="2"/>
                      <a:pt x="3" y="4"/>
                    </a:cubicBezTo>
                    <a:cubicBezTo>
                      <a:pt x="3" y="4"/>
                      <a:pt x="6" y="4"/>
                      <a:pt x="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52" name="Freeform 863">
                <a:extLst>
                  <a:ext uri="{FF2B5EF4-FFF2-40B4-BE49-F238E27FC236}">
                    <a16:creationId xmlns:a16="http://schemas.microsoft.com/office/drawing/2014/main" id="{27844D14-8918-4447-8725-542E0955F2E0}"/>
                  </a:ext>
                </a:extLst>
              </p:cNvPr>
              <p:cNvSpPr>
                <a:spLocks/>
              </p:cNvSpPr>
              <p:nvPr/>
            </p:nvSpPr>
            <p:spPr bwMode="auto">
              <a:xfrm>
                <a:off x="6080" y="2605"/>
                <a:ext cx="6" cy="11"/>
              </a:xfrm>
              <a:custGeom>
                <a:avLst/>
                <a:gdLst>
                  <a:gd name="T0" fmla="*/ 2 w 5"/>
                  <a:gd name="T1" fmla="*/ 1 h 8"/>
                  <a:gd name="T2" fmla="*/ 3 w 5"/>
                  <a:gd name="T3" fmla="*/ 4 h 8"/>
                  <a:gd name="T4" fmla="*/ 4 w 5"/>
                  <a:gd name="T5" fmla="*/ 4 h 8"/>
                  <a:gd name="T6" fmla="*/ 2 w 5"/>
                  <a:gd name="T7" fmla="*/ 1 h 8"/>
                </a:gdLst>
                <a:ahLst/>
                <a:cxnLst>
                  <a:cxn ang="0">
                    <a:pos x="T0" y="T1"/>
                  </a:cxn>
                  <a:cxn ang="0">
                    <a:pos x="T2" y="T3"/>
                  </a:cxn>
                  <a:cxn ang="0">
                    <a:pos x="T4" y="T5"/>
                  </a:cxn>
                  <a:cxn ang="0">
                    <a:pos x="T6" y="T7"/>
                  </a:cxn>
                </a:cxnLst>
                <a:rect l="0" t="0" r="r" b="b"/>
                <a:pathLst>
                  <a:path w="5" h="8">
                    <a:moveTo>
                      <a:pt x="2" y="1"/>
                    </a:moveTo>
                    <a:cubicBezTo>
                      <a:pt x="0" y="0"/>
                      <a:pt x="3" y="4"/>
                      <a:pt x="3" y="4"/>
                    </a:cubicBezTo>
                    <a:cubicBezTo>
                      <a:pt x="4" y="8"/>
                      <a:pt x="5" y="5"/>
                      <a:pt x="4" y="4"/>
                    </a:cubicBezTo>
                    <a:cubicBezTo>
                      <a:pt x="2" y="3"/>
                      <a:pt x="4" y="2"/>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53" name="Freeform 864">
                <a:extLst>
                  <a:ext uri="{FF2B5EF4-FFF2-40B4-BE49-F238E27FC236}">
                    <a16:creationId xmlns:a16="http://schemas.microsoft.com/office/drawing/2014/main" id="{6D7CF5E0-E5BA-41D4-A15D-DAF327567C82}"/>
                  </a:ext>
                </a:extLst>
              </p:cNvPr>
              <p:cNvSpPr>
                <a:spLocks/>
              </p:cNvSpPr>
              <p:nvPr/>
            </p:nvSpPr>
            <p:spPr bwMode="auto">
              <a:xfrm>
                <a:off x="6106" y="2589"/>
                <a:ext cx="5" cy="15"/>
              </a:xfrm>
              <a:custGeom>
                <a:avLst/>
                <a:gdLst>
                  <a:gd name="T0" fmla="*/ 3 w 4"/>
                  <a:gd name="T1" fmla="*/ 4 h 11"/>
                  <a:gd name="T2" fmla="*/ 3 w 4"/>
                  <a:gd name="T3" fmla="*/ 1 h 11"/>
                  <a:gd name="T4" fmla="*/ 1 w 4"/>
                  <a:gd name="T5" fmla="*/ 2 h 11"/>
                  <a:gd name="T6" fmla="*/ 1 w 4"/>
                  <a:gd name="T7" fmla="*/ 7 h 11"/>
                  <a:gd name="T8" fmla="*/ 3 w 4"/>
                  <a:gd name="T9" fmla="*/ 6 h 11"/>
                  <a:gd name="T10" fmla="*/ 3 w 4"/>
                  <a:gd name="T11" fmla="*/ 4 h 11"/>
                </a:gdLst>
                <a:ahLst/>
                <a:cxnLst>
                  <a:cxn ang="0">
                    <a:pos x="T0" y="T1"/>
                  </a:cxn>
                  <a:cxn ang="0">
                    <a:pos x="T2" y="T3"/>
                  </a:cxn>
                  <a:cxn ang="0">
                    <a:pos x="T4" y="T5"/>
                  </a:cxn>
                  <a:cxn ang="0">
                    <a:pos x="T6" y="T7"/>
                  </a:cxn>
                  <a:cxn ang="0">
                    <a:pos x="T8" y="T9"/>
                  </a:cxn>
                  <a:cxn ang="0">
                    <a:pos x="T10" y="T11"/>
                  </a:cxn>
                </a:cxnLst>
                <a:rect l="0" t="0" r="r" b="b"/>
                <a:pathLst>
                  <a:path w="4" h="11">
                    <a:moveTo>
                      <a:pt x="3" y="4"/>
                    </a:moveTo>
                    <a:cubicBezTo>
                      <a:pt x="2" y="3"/>
                      <a:pt x="3" y="3"/>
                      <a:pt x="3" y="1"/>
                    </a:cubicBezTo>
                    <a:cubicBezTo>
                      <a:pt x="2" y="0"/>
                      <a:pt x="1" y="2"/>
                      <a:pt x="1" y="2"/>
                    </a:cubicBezTo>
                    <a:cubicBezTo>
                      <a:pt x="0" y="2"/>
                      <a:pt x="0" y="4"/>
                      <a:pt x="1" y="7"/>
                    </a:cubicBezTo>
                    <a:cubicBezTo>
                      <a:pt x="1" y="11"/>
                      <a:pt x="1" y="8"/>
                      <a:pt x="3" y="6"/>
                    </a:cubicBezTo>
                    <a:cubicBezTo>
                      <a:pt x="4" y="4"/>
                      <a:pt x="3" y="4"/>
                      <a:pt x="3"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54" name="Freeform 865">
                <a:extLst>
                  <a:ext uri="{FF2B5EF4-FFF2-40B4-BE49-F238E27FC236}">
                    <a16:creationId xmlns:a16="http://schemas.microsoft.com/office/drawing/2014/main" id="{602CA3CE-1A14-4600-B521-605CEE9F5944}"/>
                  </a:ext>
                </a:extLst>
              </p:cNvPr>
              <p:cNvSpPr>
                <a:spLocks/>
              </p:cNvSpPr>
              <p:nvPr/>
            </p:nvSpPr>
            <p:spPr bwMode="auto">
              <a:xfrm>
                <a:off x="5886" y="2747"/>
                <a:ext cx="7" cy="19"/>
              </a:xfrm>
              <a:custGeom>
                <a:avLst/>
                <a:gdLst>
                  <a:gd name="T0" fmla="*/ 3 w 5"/>
                  <a:gd name="T1" fmla="*/ 2 h 14"/>
                  <a:gd name="T2" fmla="*/ 1 w 5"/>
                  <a:gd name="T3" fmla="*/ 9 h 14"/>
                  <a:gd name="T4" fmla="*/ 1 w 5"/>
                  <a:gd name="T5" fmla="*/ 13 h 14"/>
                  <a:gd name="T6" fmla="*/ 3 w 5"/>
                  <a:gd name="T7" fmla="*/ 12 h 14"/>
                  <a:gd name="T8" fmla="*/ 5 w 5"/>
                  <a:gd name="T9" fmla="*/ 10 h 14"/>
                  <a:gd name="T10" fmla="*/ 5 w 5"/>
                  <a:gd name="T11" fmla="*/ 2 h 14"/>
                  <a:gd name="T12" fmla="*/ 3 w 5"/>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5" h="14">
                    <a:moveTo>
                      <a:pt x="3" y="2"/>
                    </a:moveTo>
                    <a:cubicBezTo>
                      <a:pt x="0" y="4"/>
                      <a:pt x="1" y="8"/>
                      <a:pt x="1" y="9"/>
                    </a:cubicBezTo>
                    <a:cubicBezTo>
                      <a:pt x="1" y="10"/>
                      <a:pt x="2" y="11"/>
                      <a:pt x="1" y="13"/>
                    </a:cubicBezTo>
                    <a:cubicBezTo>
                      <a:pt x="1" y="14"/>
                      <a:pt x="2" y="13"/>
                      <a:pt x="3" y="12"/>
                    </a:cubicBezTo>
                    <a:cubicBezTo>
                      <a:pt x="5" y="11"/>
                      <a:pt x="5" y="11"/>
                      <a:pt x="5" y="10"/>
                    </a:cubicBezTo>
                    <a:cubicBezTo>
                      <a:pt x="5" y="9"/>
                      <a:pt x="4" y="5"/>
                      <a:pt x="5" y="2"/>
                    </a:cubicBezTo>
                    <a:cubicBezTo>
                      <a:pt x="5" y="0"/>
                      <a:pt x="3" y="2"/>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55" name="Freeform 866">
                <a:extLst>
                  <a:ext uri="{FF2B5EF4-FFF2-40B4-BE49-F238E27FC236}">
                    <a16:creationId xmlns:a16="http://schemas.microsoft.com/office/drawing/2014/main" id="{BE0C42FB-F9E1-4BF2-92C3-6A9F18FF6C1D}"/>
                  </a:ext>
                </a:extLst>
              </p:cNvPr>
              <p:cNvSpPr>
                <a:spLocks/>
              </p:cNvSpPr>
              <p:nvPr/>
            </p:nvSpPr>
            <p:spPr bwMode="auto">
              <a:xfrm>
                <a:off x="5893" y="2751"/>
                <a:ext cx="3" cy="6"/>
              </a:xfrm>
              <a:custGeom>
                <a:avLst/>
                <a:gdLst>
                  <a:gd name="T0" fmla="*/ 1 w 2"/>
                  <a:gd name="T1" fmla="*/ 1 h 5"/>
                  <a:gd name="T2" fmla="*/ 1 w 2"/>
                  <a:gd name="T3" fmla="*/ 4 h 5"/>
                  <a:gd name="T4" fmla="*/ 1 w 2"/>
                  <a:gd name="T5" fmla="*/ 1 h 5"/>
                </a:gdLst>
                <a:ahLst/>
                <a:cxnLst>
                  <a:cxn ang="0">
                    <a:pos x="T0" y="T1"/>
                  </a:cxn>
                  <a:cxn ang="0">
                    <a:pos x="T2" y="T3"/>
                  </a:cxn>
                  <a:cxn ang="0">
                    <a:pos x="T4" y="T5"/>
                  </a:cxn>
                </a:cxnLst>
                <a:rect l="0" t="0" r="r" b="b"/>
                <a:pathLst>
                  <a:path w="2" h="5">
                    <a:moveTo>
                      <a:pt x="1" y="1"/>
                    </a:moveTo>
                    <a:cubicBezTo>
                      <a:pt x="1" y="1"/>
                      <a:pt x="0" y="5"/>
                      <a:pt x="1" y="4"/>
                    </a:cubicBezTo>
                    <a:cubicBezTo>
                      <a:pt x="2" y="3"/>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56" name="Freeform 867">
                <a:extLst>
                  <a:ext uri="{FF2B5EF4-FFF2-40B4-BE49-F238E27FC236}">
                    <a16:creationId xmlns:a16="http://schemas.microsoft.com/office/drawing/2014/main" id="{A9D5EB4B-D5EB-4581-B4FF-3F590F3CD4DD}"/>
                  </a:ext>
                </a:extLst>
              </p:cNvPr>
              <p:cNvSpPr>
                <a:spLocks/>
              </p:cNvSpPr>
              <p:nvPr/>
            </p:nvSpPr>
            <p:spPr bwMode="auto">
              <a:xfrm>
                <a:off x="5912" y="2608"/>
                <a:ext cx="4" cy="4"/>
              </a:xfrm>
              <a:custGeom>
                <a:avLst/>
                <a:gdLst>
                  <a:gd name="T0" fmla="*/ 0 w 3"/>
                  <a:gd name="T1" fmla="*/ 1 h 3"/>
                  <a:gd name="T2" fmla="*/ 3 w 3"/>
                  <a:gd name="T3" fmla="*/ 3 h 3"/>
                  <a:gd name="T4" fmla="*/ 0 w 3"/>
                  <a:gd name="T5" fmla="*/ 1 h 3"/>
                </a:gdLst>
                <a:ahLst/>
                <a:cxnLst>
                  <a:cxn ang="0">
                    <a:pos x="T0" y="T1"/>
                  </a:cxn>
                  <a:cxn ang="0">
                    <a:pos x="T2" y="T3"/>
                  </a:cxn>
                  <a:cxn ang="0">
                    <a:pos x="T4" y="T5"/>
                  </a:cxn>
                </a:cxnLst>
                <a:rect l="0" t="0" r="r" b="b"/>
                <a:pathLst>
                  <a:path w="3" h="3">
                    <a:moveTo>
                      <a:pt x="0" y="1"/>
                    </a:moveTo>
                    <a:cubicBezTo>
                      <a:pt x="0" y="2"/>
                      <a:pt x="3" y="3"/>
                      <a:pt x="3" y="3"/>
                    </a:cubicBezTo>
                    <a:cubicBezTo>
                      <a:pt x="3" y="2"/>
                      <a:pt x="0"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57" name="Freeform 868">
                <a:extLst>
                  <a:ext uri="{FF2B5EF4-FFF2-40B4-BE49-F238E27FC236}">
                    <a16:creationId xmlns:a16="http://schemas.microsoft.com/office/drawing/2014/main" id="{BD8FF359-8CAE-479B-9DDF-ABE588690024}"/>
                  </a:ext>
                </a:extLst>
              </p:cNvPr>
              <p:cNvSpPr>
                <a:spLocks/>
              </p:cNvSpPr>
              <p:nvPr/>
            </p:nvSpPr>
            <p:spPr bwMode="auto">
              <a:xfrm>
                <a:off x="5918" y="2612"/>
                <a:ext cx="2" cy="4"/>
              </a:xfrm>
              <a:custGeom>
                <a:avLst/>
                <a:gdLst>
                  <a:gd name="T0" fmla="*/ 1 w 2"/>
                  <a:gd name="T1" fmla="*/ 0 h 3"/>
                  <a:gd name="T2" fmla="*/ 2 w 2"/>
                  <a:gd name="T3" fmla="*/ 3 h 3"/>
                  <a:gd name="T4" fmla="*/ 1 w 2"/>
                  <a:gd name="T5" fmla="*/ 0 h 3"/>
                </a:gdLst>
                <a:ahLst/>
                <a:cxnLst>
                  <a:cxn ang="0">
                    <a:pos x="T0" y="T1"/>
                  </a:cxn>
                  <a:cxn ang="0">
                    <a:pos x="T2" y="T3"/>
                  </a:cxn>
                  <a:cxn ang="0">
                    <a:pos x="T4" y="T5"/>
                  </a:cxn>
                </a:cxnLst>
                <a:rect l="0" t="0" r="r" b="b"/>
                <a:pathLst>
                  <a:path w="2" h="3">
                    <a:moveTo>
                      <a:pt x="1" y="0"/>
                    </a:moveTo>
                    <a:cubicBezTo>
                      <a:pt x="0" y="1"/>
                      <a:pt x="2" y="3"/>
                      <a:pt x="2" y="3"/>
                    </a:cubicBezTo>
                    <a:cubicBezTo>
                      <a:pt x="2" y="2"/>
                      <a:pt x="1"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58" name="Freeform 869">
                <a:extLst>
                  <a:ext uri="{FF2B5EF4-FFF2-40B4-BE49-F238E27FC236}">
                    <a16:creationId xmlns:a16="http://schemas.microsoft.com/office/drawing/2014/main" id="{56D2EC82-1B1D-4901-8228-07B084160B56}"/>
                  </a:ext>
                </a:extLst>
              </p:cNvPr>
              <p:cNvSpPr>
                <a:spLocks/>
              </p:cNvSpPr>
              <p:nvPr/>
            </p:nvSpPr>
            <p:spPr bwMode="auto">
              <a:xfrm>
                <a:off x="5922" y="2596"/>
                <a:ext cx="4" cy="6"/>
              </a:xfrm>
              <a:custGeom>
                <a:avLst/>
                <a:gdLst>
                  <a:gd name="T0" fmla="*/ 0 w 3"/>
                  <a:gd name="T1" fmla="*/ 1 h 5"/>
                  <a:gd name="T2" fmla="*/ 3 w 3"/>
                  <a:gd name="T3" fmla="*/ 2 h 5"/>
                  <a:gd name="T4" fmla="*/ 0 w 3"/>
                  <a:gd name="T5" fmla="*/ 1 h 5"/>
                </a:gdLst>
                <a:ahLst/>
                <a:cxnLst>
                  <a:cxn ang="0">
                    <a:pos x="T0" y="T1"/>
                  </a:cxn>
                  <a:cxn ang="0">
                    <a:pos x="T2" y="T3"/>
                  </a:cxn>
                  <a:cxn ang="0">
                    <a:pos x="T4" y="T5"/>
                  </a:cxn>
                </a:cxnLst>
                <a:rect l="0" t="0" r="r" b="b"/>
                <a:pathLst>
                  <a:path w="3" h="5">
                    <a:moveTo>
                      <a:pt x="0" y="1"/>
                    </a:moveTo>
                    <a:cubicBezTo>
                      <a:pt x="0" y="2"/>
                      <a:pt x="2" y="5"/>
                      <a:pt x="3" y="2"/>
                    </a:cubicBezTo>
                    <a:cubicBezTo>
                      <a:pt x="3" y="2"/>
                      <a:pt x="0"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59" name="Freeform 870">
                <a:extLst>
                  <a:ext uri="{FF2B5EF4-FFF2-40B4-BE49-F238E27FC236}">
                    <a16:creationId xmlns:a16="http://schemas.microsoft.com/office/drawing/2014/main" id="{305C74D0-7CE7-403F-9778-ED625794370F}"/>
                  </a:ext>
                </a:extLst>
              </p:cNvPr>
              <p:cNvSpPr>
                <a:spLocks/>
              </p:cNvSpPr>
              <p:nvPr/>
            </p:nvSpPr>
            <p:spPr bwMode="auto">
              <a:xfrm>
                <a:off x="6193" y="2688"/>
                <a:ext cx="208" cy="181"/>
              </a:xfrm>
              <a:custGeom>
                <a:avLst/>
                <a:gdLst>
                  <a:gd name="T0" fmla="*/ 148 w 150"/>
                  <a:gd name="T1" fmla="*/ 89 h 132"/>
                  <a:gd name="T2" fmla="*/ 147 w 150"/>
                  <a:gd name="T3" fmla="*/ 35 h 132"/>
                  <a:gd name="T4" fmla="*/ 142 w 150"/>
                  <a:gd name="T5" fmla="*/ 32 h 132"/>
                  <a:gd name="T6" fmla="*/ 130 w 150"/>
                  <a:gd name="T7" fmla="*/ 30 h 132"/>
                  <a:gd name="T8" fmla="*/ 98 w 150"/>
                  <a:gd name="T9" fmla="*/ 20 h 132"/>
                  <a:gd name="T10" fmla="*/ 93 w 150"/>
                  <a:gd name="T11" fmla="*/ 26 h 132"/>
                  <a:gd name="T12" fmla="*/ 83 w 150"/>
                  <a:gd name="T13" fmla="*/ 29 h 132"/>
                  <a:gd name="T14" fmla="*/ 73 w 150"/>
                  <a:gd name="T15" fmla="*/ 41 h 132"/>
                  <a:gd name="T16" fmla="*/ 69 w 150"/>
                  <a:gd name="T17" fmla="*/ 45 h 132"/>
                  <a:gd name="T18" fmla="*/ 58 w 150"/>
                  <a:gd name="T19" fmla="*/ 41 h 132"/>
                  <a:gd name="T20" fmla="*/ 56 w 150"/>
                  <a:gd name="T21" fmla="*/ 36 h 132"/>
                  <a:gd name="T22" fmla="*/ 53 w 150"/>
                  <a:gd name="T23" fmla="*/ 36 h 132"/>
                  <a:gd name="T24" fmla="*/ 52 w 150"/>
                  <a:gd name="T25" fmla="*/ 36 h 132"/>
                  <a:gd name="T26" fmla="*/ 48 w 150"/>
                  <a:gd name="T27" fmla="*/ 19 h 132"/>
                  <a:gd name="T28" fmla="*/ 47 w 150"/>
                  <a:gd name="T29" fmla="*/ 9 h 132"/>
                  <a:gd name="T30" fmla="*/ 31 w 150"/>
                  <a:gd name="T31" fmla="*/ 4 h 132"/>
                  <a:gd name="T32" fmla="*/ 7 w 150"/>
                  <a:gd name="T33" fmla="*/ 7 h 132"/>
                  <a:gd name="T34" fmla="*/ 1 w 150"/>
                  <a:gd name="T35" fmla="*/ 16 h 132"/>
                  <a:gd name="T36" fmla="*/ 13 w 150"/>
                  <a:gd name="T37" fmla="*/ 19 h 132"/>
                  <a:gd name="T38" fmla="*/ 15 w 150"/>
                  <a:gd name="T39" fmla="*/ 23 h 132"/>
                  <a:gd name="T40" fmla="*/ 23 w 150"/>
                  <a:gd name="T41" fmla="*/ 29 h 132"/>
                  <a:gd name="T42" fmla="*/ 31 w 150"/>
                  <a:gd name="T43" fmla="*/ 30 h 132"/>
                  <a:gd name="T44" fmla="*/ 39 w 150"/>
                  <a:gd name="T45" fmla="*/ 29 h 132"/>
                  <a:gd name="T46" fmla="*/ 44 w 150"/>
                  <a:gd name="T47" fmla="*/ 29 h 132"/>
                  <a:gd name="T48" fmla="*/ 45 w 150"/>
                  <a:gd name="T49" fmla="*/ 32 h 132"/>
                  <a:gd name="T50" fmla="*/ 42 w 150"/>
                  <a:gd name="T51" fmla="*/ 34 h 132"/>
                  <a:gd name="T52" fmla="*/ 41 w 150"/>
                  <a:gd name="T53" fmla="*/ 35 h 132"/>
                  <a:gd name="T54" fmla="*/ 38 w 150"/>
                  <a:gd name="T55" fmla="*/ 34 h 132"/>
                  <a:gd name="T56" fmla="*/ 36 w 150"/>
                  <a:gd name="T57" fmla="*/ 34 h 132"/>
                  <a:gd name="T58" fmla="*/ 28 w 150"/>
                  <a:gd name="T59" fmla="*/ 37 h 132"/>
                  <a:gd name="T60" fmla="*/ 24 w 150"/>
                  <a:gd name="T61" fmla="*/ 37 h 132"/>
                  <a:gd name="T62" fmla="*/ 17 w 150"/>
                  <a:gd name="T63" fmla="*/ 37 h 132"/>
                  <a:gd name="T64" fmla="*/ 25 w 150"/>
                  <a:gd name="T65" fmla="*/ 44 h 132"/>
                  <a:gd name="T66" fmla="*/ 29 w 150"/>
                  <a:gd name="T67" fmla="*/ 47 h 132"/>
                  <a:gd name="T68" fmla="*/ 28 w 150"/>
                  <a:gd name="T69" fmla="*/ 55 h 132"/>
                  <a:gd name="T70" fmla="*/ 34 w 150"/>
                  <a:gd name="T71" fmla="*/ 56 h 132"/>
                  <a:gd name="T72" fmla="*/ 42 w 150"/>
                  <a:gd name="T73" fmla="*/ 42 h 132"/>
                  <a:gd name="T74" fmla="*/ 41 w 150"/>
                  <a:gd name="T75" fmla="*/ 45 h 132"/>
                  <a:gd name="T76" fmla="*/ 43 w 150"/>
                  <a:gd name="T77" fmla="*/ 50 h 132"/>
                  <a:gd name="T78" fmla="*/ 47 w 150"/>
                  <a:gd name="T79" fmla="*/ 52 h 132"/>
                  <a:gd name="T80" fmla="*/ 51 w 150"/>
                  <a:gd name="T81" fmla="*/ 55 h 132"/>
                  <a:gd name="T82" fmla="*/ 57 w 150"/>
                  <a:gd name="T83" fmla="*/ 54 h 132"/>
                  <a:gd name="T84" fmla="*/ 55 w 150"/>
                  <a:gd name="T85" fmla="*/ 56 h 132"/>
                  <a:gd name="T86" fmla="*/ 96 w 150"/>
                  <a:gd name="T87" fmla="*/ 71 h 132"/>
                  <a:gd name="T88" fmla="*/ 108 w 150"/>
                  <a:gd name="T89" fmla="*/ 81 h 132"/>
                  <a:gd name="T90" fmla="*/ 110 w 150"/>
                  <a:gd name="T91" fmla="*/ 82 h 132"/>
                  <a:gd name="T92" fmla="*/ 114 w 150"/>
                  <a:gd name="T93" fmla="*/ 93 h 132"/>
                  <a:gd name="T94" fmla="*/ 116 w 150"/>
                  <a:gd name="T95" fmla="*/ 98 h 132"/>
                  <a:gd name="T96" fmla="*/ 116 w 150"/>
                  <a:gd name="T97" fmla="*/ 103 h 132"/>
                  <a:gd name="T98" fmla="*/ 120 w 150"/>
                  <a:gd name="T99" fmla="*/ 113 h 132"/>
                  <a:gd name="T100" fmla="*/ 118 w 150"/>
                  <a:gd name="T101" fmla="*/ 119 h 132"/>
                  <a:gd name="T102" fmla="*/ 123 w 150"/>
                  <a:gd name="T103" fmla="*/ 116 h 132"/>
                  <a:gd name="T104" fmla="*/ 129 w 150"/>
                  <a:gd name="T105" fmla="*/ 117 h 132"/>
                  <a:gd name="T106" fmla="*/ 134 w 150"/>
                  <a:gd name="T107" fmla="*/ 116 h 132"/>
                  <a:gd name="T108" fmla="*/ 149 w 150"/>
                  <a:gd name="T109" fmla="*/ 131 h 132"/>
                  <a:gd name="T110" fmla="*/ 150 w 150"/>
                  <a:gd name="T111" fmla="*/ 101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0" h="132">
                    <a:moveTo>
                      <a:pt x="148" y="97"/>
                    </a:moveTo>
                    <a:cubicBezTo>
                      <a:pt x="148" y="97"/>
                      <a:pt x="148" y="89"/>
                      <a:pt x="148" y="89"/>
                    </a:cubicBezTo>
                    <a:cubicBezTo>
                      <a:pt x="150" y="79"/>
                      <a:pt x="149" y="43"/>
                      <a:pt x="149" y="35"/>
                    </a:cubicBezTo>
                    <a:cubicBezTo>
                      <a:pt x="148" y="35"/>
                      <a:pt x="147" y="35"/>
                      <a:pt x="147" y="35"/>
                    </a:cubicBezTo>
                    <a:cubicBezTo>
                      <a:pt x="146" y="35"/>
                      <a:pt x="145" y="35"/>
                      <a:pt x="145" y="34"/>
                    </a:cubicBezTo>
                    <a:cubicBezTo>
                      <a:pt x="145" y="32"/>
                      <a:pt x="143" y="33"/>
                      <a:pt x="142" y="32"/>
                    </a:cubicBezTo>
                    <a:cubicBezTo>
                      <a:pt x="140" y="32"/>
                      <a:pt x="137" y="31"/>
                      <a:pt x="135" y="31"/>
                    </a:cubicBezTo>
                    <a:cubicBezTo>
                      <a:pt x="132" y="31"/>
                      <a:pt x="130" y="30"/>
                      <a:pt x="130" y="30"/>
                    </a:cubicBezTo>
                    <a:cubicBezTo>
                      <a:pt x="130" y="30"/>
                      <a:pt x="108" y="20"/>
                      <a:pt x="105" y="18"/>
                    </a:cubicBezTo>
                    <a:cubicBezTo>
                      <a:pt x="103" y="17"/>
                      <a:pt x="99" y="19"/>
                      <a:pt x="98" y="20"/>
                    </a:cubicBezTo>
                    <a:cubicBezTo>
                      <a:pt x="97" y="20"/>
                      <a:pt x="96" y="21"/>
                      <a:pt x="94" y="22"/>
                    </a:cubicBezTo>
                    <a:cubicBezTo>
                      <a:pt x="92" y="22"/>
                      <a:pt x="92" y="24"/>
                      <a:pt x="93" y="26"/>
                    </a:cubicBezTo>
                    <a:cubicBezTo>
                      <a:pt x="95" y="27"/>
                      <a:pt x="90" y="28"/>
                      <a:pt x="88" y="28"/>
                    </a:cubicBezTo>
                    <a:cubicBezTo>
                      <a:pt x="86" y="29"/>
                      <a:pt x="86" y="30"/>
                      <a:pt x="83" y="29"/>
                    </a:cubicBezTo>
                    <a:cubicBezTo>
                      <a:pt x="81" y="27"/>
                      <a:pt x="76" y="36"/>
                      <a:pt x="75" y="38"/>
                    </a:cubicBezTo>
                    <a:cubicBezTo>
                      <a:pt x="73" y="40"/>
                      <a:pt x="74" y="41"/>
                      <a:pt x="73" y="41"/>
                    </a:cubicBezTo>
                    <a:cubicBezTo>
                      <a:pt x="71" y="41"/>
                      <a:pt x="72" y="43"/>
                      <a:pt x="71" y="43"/>
                    </a:cubicBezTo>
                    <a:cubicBezTo>
                      <a:pt x="70" y="43"/>
                      <a:pt x="70" y="43"/>
                      <a:pt x="69" y="45"/>
                    </a:cubicBezTo>
                    <a:cubicBezTo>
                      <a:pt x="68" y="47"/>
                      <a:pt x="64" y="47"/>
                      <a:pt x="61" y="45"/>
                    </a:cubicBezTo>
                    <a:cubicBezTo>
                      <a:pt x="57" y="44"/>
                      <a:pt x="58" y="42"/>
                      <a:pt x="58" y="41"/>
                    </a:cubicBezTo>
                    <a:cubicBezTo>
                      <a:pt x="59" y="40"/>
                      <a:pt x="59" y="39"/>
                      <a:pt x="57" y="40"/>
                    </a:cubicBezTo>
                    <a:cubicBezTo>
                      <a:pt x="55" y="41"/>
                      <a:pt x="55" y="38"/>
                      <a:pt x="56" y="36"/>
                    </a:cubicBezTo>
                    <a:cubicBezTo>
                      <a:pt x="56" y="34"/>
                      <a:pt x="55" y="33"/>
                      <a:pt x="54" y="33"/>
                    </a:cubicBezTo>
                    <a:cubicBezTo>
                      <a:pt x="53" y="33"/>
                      <a:pt x="52" y="35"/>
                      <a:pt x="53" y="36"/>
                    </a:cubicBezTo>
                    <a:cubicBezTo>
                      <a:pt x="54" y="38"/>
                      <a:pt x="54" y="38"/>
                      <a:pt x="53" y="39"/>
                    </a:cubicBezTo>
                    <a:cubicBezTo>
                      <a:pt x="52" y="39"/>
                      <a:pt x="52" y="36"/>
                      <a:pt x="52" y="36"/>
                    </a:cubicBezTo>
                    <a:cubicBezTo>
                      <a:pt x="52" y="36"/>
                      <a:pt x="49" y="29"/>
                      <a:pt x="48" y="25"/>
                    </a:cubicBezTo>
                    <a:cubicBezTo>
                      <a:pt x="47" y="21"/>
                      <a:pt x="48" y="19"/>
                      <a:pt x="48" y="19"/>
                    </a:cubicBezTo>
                    <a:cubicBezTo>
                      <a:pt x="50" y="15"/>
                      <a:pt x="48" y="13"/>
                      <a:pt x="47" y="12"/>
                    </a:cubicBezTo>
                    <a:cubicBezTo>
                      <a:pt x="46" y="11"/>
                      <a:pt x="46" y="9"/>
                      <a:pt x="47" y="9"/>
                    </a:cubicBezTo>
                    <a:cubicBezTo>
                      <a:pt x="49" y="9"/>
                      <a:pt x="46" y="8"/>
                      <a:pt x="46" y="8"/>
                    </a:cubicBezTo>
                    <a:cubicBezTo>
                      <a:pt x="40" y="7"/>
                      <a:pt x="39" y="7"/>
                      <a:pt x="31" y="4"/>
                    </a:cubicBezTo>
                    <a:cubicBezTo>
                      <a:pt x="23" y="0"/>
                      <a:pt x="20" y="2"/>
                      <a:pt x="17" y="4"/>
                    </a:cubicBezTo>
                    <a:cubicBezTo>
                      <a:pt x="14" y="7"/>
                      <a:pt x="10" y="7"/>
                      <a:pt x="7" y="7"/>
                    </a:cubicBezTo>
                    <a:cubicBezTo>
                      <a:pt x="4" y="8"/>
                      <a:pt x="5" y="8"/>
                      <a:pt x="5" y="10"/>
                    </a:cubicBezTo>
                    <a:cubicBezTo>
                      <a:pt x="6" y="11"/>
                      <a:pt x="3" y="14"/>
                      <a:pt x="1" y="16"/>
                    </a:cubicBezTo>
                    <a:cubicBezTo>
                      <a:pt x="0" y="18"/>
                      <a:pt x="2" y="17"/>
                      <a:pt x="2" y="17"/>
                    </a:cubicBezTo>
                    <a:cubicBezTo>
                      <a:pt x="2" y="17"/>
                      <a:pt x="12" y="19"/>
                      <a:pt x="13" y="19"/>
                    </a:cubicBezTo>
                    <a:cubicBezTo>
                      <a:pt x="15" y="19"/>
                      <a:pt x="15" y="19"/>
                      <a:pt x="14" y="19"/>
                    </a:cubicBezTo>
                    <a:cubicBezTo>
                      <a:pt x="14" y="20"/>
                      <a:pt x="15" y="20"/>
                      <a:pt x="15" y="23"/>
                    </a:cubicBezTo>
                    <a:cubicBezTo>
                      <a:pt x="16" y="25"/>
                      <a:pt x="18" y="28"/>
                      <a:pt x="19" y="29"/>
                    </a:cubicBezTo>
                    <a:cubicBezTo>
                      <a:pt x="20" y="30"/>
                      <a:pt x="22" y="30"/>
                      <a:pt x="23" y="29"/>
                    </a:cubicBezTo>
                    <a:cubicBezTo>
                      <a:pt x="24" y="28"/>
                      <a:pt x="26" y="29"/>
                      <a:pt x="28" y="29"/>
                    </a:cubicBezTo>
                    <a:cubicBezTo>
                      <a:pt x="30" y="30"/>
                      <a:pt x="31" y="30"/>
                      <a:pt x="31" y="30"/>
                    </a:cubicBezTo>
                    <a:cubicBezTo>
                      <a:pt x="32" y="29"/>
                      <a:pt x="34" y="29"/>
                      <a:pt x="35" y="29"/>
                    </a:cubicBezTo>
                    <a:cubicBezTo>
                      <a:pt x="36" y="29"/>
                      <a:pt x="38" y="29"/>
                      <a:pt x="39" y="29"/>
                    </a:cubicBezTo>
                    <a:cubicBezTo>
                      <a:pt x="40" y="29"/>
                      <a:pt x="41" y="29"/>
                      <a:pt x="43" y="27"/>
                    </a:cubicBezTo>
                    <a:cubicBezTo>
                      <a:pt x="46" y="26"/>
                      <a:pt x="45" y="27"/>
                      <a:pt x="44" y="29"/>
                    </a:cubicBezTo>
                    <a:cubicBezTo>
                      <a:pt x="42" y="30"/>
                      <a:pt x="44" y="30"/>
                      <a:pt x="44" y="30"/>
                    </a:cubicBezTo>
                    <a:cubicBezTo>
                      <a:pt x="45" y="30"/>
                      <a:pt x="43" y="31"/>
                      <a:pt x="45" y="32"/>
                    </a:cubicBezTo>
                    <a:cubicBezTo>
                      <a:pt x="46" y="32"/>
                      <a:pt x="45" y="32"/>
                      <a:pt x="44" y="33"/>
                    </a:cubicBezTo>
                    <a:cubicBezTo>
                      <a:pt x="43" y="35"/>
                      <a:pt x="43" y="34"/>
                      <a:pt x="42" y="34"/>
                    </a:cubicBezTo>
                    <a:cubicBezTo>
                      <a:pt x="42" y="35"/>
                      <a:pt x="41" y="33"/>
                      <a:pt x="41" y="34"/>
                    </a:cubicBezTo>
                    <a:cubicBezTo>
                      <a:pt x="41" y="36"/>
                      <a:pt x="41" y="35"/>
                      <a:pt x="41" y="35"/>
                    </a:cubicBezTo>
                    <a:cubicBezTo>
                      <a:pt x="40" y="34"/>
                      <a:pt x="40" y="34"/>
                      <a:pt x="39" y="34"/>
                    </a:cubicBezTo>
                    <a:cubicBezTo>
                      <a:pt x="38" y="35"/>
                      <a:pt x="38" y="35"/>
                      <a:pt x="38" y="34"/>
                    </a:cubicBezTo>
                    <a:cubicBezTo>
                      <a:pt x="38" y="33"/>
                      <a:pt x="38" y="33"/>
                      <a:pt x="37" y="35"/>
                    </a:cubicBezTo>
                    <a:cubicBezTo>
                      <a:pt x="37" y="36"/>
                      <a:pt x="37" y="35"/>
                      <a:pt x="36" y="34"/>
                    </a:cubicBezTo>
                    <a:cubicBezTo>
                      <a:pt x="36" y="33"/>
                      <a:pt x="37" y="33"/>
                      <a:pt x="34" y="32"/>
                    </a:cubicBezTo>
                    <a:cubicBezTo>
                      <a:pt x="32" y="31"/>
                      <a:pt x="29" y="36"/>
                      <a:pt x="28" y="37"/>
                    </a:cubicBezTo>
                    <a:cubicBezTo>
                      <a:pt x="28" y="38"/>
                      <a:pt x="26" y="37"/>
                      <a:pt x="25" y="37"/>
                    </a:cubicBezTo>
                    <a:cubicBezTo>
                      <a:pt x="25" y="36"/>
                      <a:pt x="24" y="36"/>
                      <a:pt x="24" y="37"/>
                    </a:cubicBezTo>
                    <a:cubicBezTo>
                      <a:pt x="23" y="37"/>
                      <a:pt x="22" y="36"/>
                      <a:pt x="21" y="36"/>
                    </a:cubicBezTo>
                    <a:cubicBezTo>
                      <a:pt x="20" y="35"/>
                      <a:pt x="19" y="36"/>
                      <a:pt x="17" y="37"/>
                    </a:cubicBezTo>
                    <a:cubicBezTo>
                      <a:pt x="15" y="37"/>
                      <a:pt x="16" y="38"/>
                      <a:pt x="18" y="39"/>
                    </a:cubicBezTo>
                    <a:cubicBezTo>
                      <a:pt x="20" y="39"/>
                      <a:pt x="24" y="42"/>
                      <a:pt x="25" y="44"/>
                    </a:cubicBezTo>
                    <a:cubicBezTo>
                      <a:pt x="27" y="46"/>
                      <a:pt x="27" y="45"/>
                      <a:pt x="28" y="45"/>
                    </a:cubicBezTo>
                    <a:cubicBezTo>
                      <a:pt x="28" y="44"/>
                      <a:pt x="28" y="45"/>
                      <a:pt x="29" y="47"/>
                    </a:cubicBezTo>
                    <a:cubicBezTo>
                      <a:pt x="30" y="49"/>
                      <a:pt x="30" y="49"/>
                      <a:pt x="28" y="50"/>
                    </a:cubicBezTo>
                    <a:cubicBezTo>
                      <a:pt x="26" y="50"/>
                      <a:pt x="28" y="51"/>
                      <a:pt x="28" y="55"/>
                    </a:cubicBezTo>
                    <a:cubicBezTo>
                      <a:pt x="29" y="58"/>
                      <a:pt x="31" y="57"/>
                      <a:pt x="31" y="57"/>
                    </a:cubicBezTo>
                    <a:cubicBezTo>
                      <a:pt x="31" y="57"/>
                      <a:pt x="32" y="56"/>
                      <a:pt x="34" y="56"/>
                    </a:cubicBezTo>
                    <a:cubicBezTo>
                      <a:pt x="36" y="56"/>
                      <a:pt x="36" y="54"/>
                      <a:pt x="37" y="52"/>
                    </a:cubicBezTo>
                    <a:cubicBezTo>
                      <a:pt x="38" y="50"/>
                      <a:pt x="41" y="44"/>
                      <a:pt x="42" y="42"/>
                    </a:cubicBezTo>
                    <a:cubicBezTo>
                      <a:pt x="44" y="39"/>
                      <a:pt x="43" y="42"/>
                      <a:pt x="42" y="43"/>
                    </a:cubicBezTo>
                    <a:cubicBezTo>
                      <a:pt x="41" y="44"/>
                      <a:pt x="41" y="43"/>
                      <a:pt x="41" y="45"/>
                    </a:cubicBezTo>
                    <a:cubicBezTo>
                      <a:pt x="42" y="47"/>
                      <a:pt x="41" y="46"/>
                      <a:pt x="41" y="48"/>
                    </a:cubicBezTo>
                    <a:cubicBezTo>
                      <a:pt x="41" y="50"/>
                      <a:pt x="42" y="50"/>
                      <a:pt x="43" y="50"/>
                    </a:cubicBezTo>
                    <a:cubicBezTo>
                      <a:pt x="44" y="49"/>
                      <a:pt x="44" y="52"/>
                      <a:pt x="45" y="53"/>
                    </a:cubicBezTo>
                    <a:cubicBezTo>
                      <a:pt x="46" y="54"/>
                      <a:pt x="47" y="53"/>
                      <a:pt x="47" y="52"/>
                    </a:cubicBezTo>
                    <a:cubicBezTo>
                      <a:pt x="48" y="51"/>
                      <a:pt x="50" y="54"/>
                      <a:pt x="50" y="55"/>
                    </a:cubicBezTo>
                    <a:cubicBezTo>
                      <a:pt x="51" y="56"/>
                      <a:pt x="51" y="56"/>
                      <a:pt x="51" y="55"/>
                    </a:cubicBezTo>
                    <a:cubicBezTo>
                      <a:pt x="51" y="54"/>
                      <a:pt x="52" y="54"/>
                      <a:pt x="54" y="55"/>
                    </a:cubicBezTo>
                    <a:cubicBezTo>
                      <a:pt x="55" y="55"/>
                      <a:pt x="55" y="54"/>
                      <a:pt x="57" y="54"/>
                    </a:cubicBezTo>
                    <a:cubicBezTo>
                      <a:pt x="60" y="53"/>
                      <a:pt x="59" y="55"/>
                      <a:pt x="58" y="55"/>
                    </a:cubicBezTo>
                    <a:cubicBezTo>
                      <a:pt x="57" y="55"/>
                      <a:pt x="56" y="54"/>
                      <a:pt x="55" y="56"/>
                    </a:cubicBezTo>
                    <a:cubicBezTo>
                      <a:pt x="55" y="59"/>
                      <a:pt x="63" y="61"/>
                      <a:pt x="65" y="61"/>
                    </a:cubicBezTo>
                    <a:cubicBezTo>
                      <a:pt x="67" y="62"/>
                      <a:pt x="90" y="69"/>
                      <a:pt x="96" y="71"/>
                    </a:cubicBezTo>
                    <a:cubicBezTo>
                      <a:pt x="102" y="73"/>
                      <a:pt x="106" y="77"/>
                      <a:pt x="106" y="79"/>
                    </a:cubicBezTo>
                    <a:cubicBezTo>
                      <a:pt x="106" y="82"/>
                      <a:pt x="106" y="81"/>
                      <a:pt x="108" y="81"/>
                    </a:cubicBezTo>
                    <a:cubicBezTo>
                      <a:pt x="110" y="80"/>
                      <a:pt x="110" y="80"/>
                      <a:pt x="109" y="81"/>
                    </a:cubicBezTo>
                    <a:cubicBezTo>
                      <a:pt x="107" y="82"/>
                      <a:pt x="108" y="82"/>
                      <a:pt x="110" y="82"/>
                    </a:cubicBezTo>
                    <a:cubicBezTo>
                      <a:pt x="111" y="83"/>
                      <a:pt x="110" y="82"/>
                      <a:pt x="110" y="84"/>
                    </a:cubicBezTo>
                    <a:cubicBezTo>
                      <a:pt x="109" y="86"/>
                      <a:pt x="111" y="90"/>
                      <a:pt x="114" y="93"/>
                    </a:cubicBezTo>
                    <a:cubicBezTo>
                      <a:pt x="118" y="96"/>
                      <a:pt x="116" y="95"/>
                      <a:pt x="117" y="96"/>
                    </a:cubicBezTo>
                    <a:cubicBezTo>
                      <a:pt x="118" y="97"/>
                      <a:pt x="122" y="98"/>
                      <a:pt x="116" y="98"/>
                    </a:cubicBezTo>
                    <a:cubicBezTo>
                      <a:pt x="110" y="98"/>
                      <a:pt x="116" y="101"/>
                      <a:pt x="120" y="103"/>
                    </a:cubicBezTo>
                    <a:cubicBezTo>
                      <a:pt x="125" y="104"/>
                      <a:pt x="119" y="103"/>
                      <a:pt x="116" y="103"/>
                    </a:cubicBezTo>
                    <a:cubicBezTo>
                      <a:pt x="113" y="103"/>
                      <a:pt x="120" y="108"/>
                      <a:pt x="121" y="109"/>
                    </a:cubicBezTo>
                    <a:cubicBezTo>
                      <a:pt x="122" y="110"/>
                      <a:pt x="120" y="112"/>
                      <a:pt x="120" y="113"/>
                    </a:cubicBezTo>
                    <a:cubicBezTo>
                      <a:pt x="119" y="114"/>
                      <a:pt x="119" y="115"/>
                      <a:pt x="118" y="116"/>
                    </a:cubicBezTo>
                    <a:cubicBezTo>
                      <a:pt x="118" y="118"/>
                      <a:pt x="118" y="118"/>
                      <a:pt x="118" y="119"/>
                    </a:cubicBezTo>
                    <a:cubicBezTo>
                      <a:pt x="119" y="120"/>
                      <a:pt x="119" y="119"/>
                      <a:pt x="120" y="118"/>
                    </a:cubicBezTo>
                    <a:cubicBezTo>
                      <a:pt x="121" y="118"/>
                      <a:pt x="121" y="117"/>
                      <a:pt x="123" y="116"/>
                    </a:cubicBezTo>
                    <a:cubicBezTo>
                      <a:pt x="124" y="115"/>
                      <a:pt x="124" y="115"/>
                      <a:pt x="124" y="117"/>
                    </a:cubicBezTo>
                    <a:cubicBezTo>
                      <a:pt x="124" y="119"/>
                      <a:pt x="127" y="118"/>
                      <a:pt x="129" y="117"/>
                    </a:cubicBezTo>
                    <a:cubicBezTo>
                      <a:pt x="130" y="117"/>
                      <a:pt x="130" y="117"/>
                      <a:pt x="132" y="117"/>
                    </a:cubicBezTo>
                    <a:cubicBezTo>
                      <a:pt x="133" y="117"/>
                      <a:pt x="133" y="117"/>
                      <a:pt x="134" y="116"/>
                    </a:cubicBezTo>
                    <a:cubicBezTo>
                      <a:pt x="135" y="116"/>
                      <a:pt x="136" y="114"/>
                      <a:pt x="135" y="116"/>
                    </a:cubicBezTo>
                    <a:cubicBezTo>
                      <a:pt x="134" y="119"/>
                      <a:pt x="146" y="129"/>
                      <a:pt x="149" y="131"/>
                    </a:cubicBezTo>
                    <a:cubicBezTo>
                      <a:pt x="149" y="131"/>
                      <a:pt x="149" y="132"/>
                      <a:pt x="149" y="132"/>
                    </a:cubicBezTo>
                    <a:cubicBezTo>
                      <a:pt x="149" y="125"/>
                      <a:pt x="149" y="103"/>
                      <a:pt x="150" y="101"/>
                    </a:cubicBezTo>
                    <a:cubicBezTo>
                      <a:pt x="150" y="98"/>
                      <a:pt x="148" y="98"/>
                      <a:pt x="148" y="9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60" name="Freeform 871">
                <a:extLst>
                  <a:ext uri="{FF2B5EF4-FFF2-40B4-BE49-F238E27FC236}">
                    <a16:creationId xmlns:a16="http://schemas.microsoft.com/office/drawing/2014/main" id="{F6E2D784-80B7-4A03-BF4D-2AE61852023F}"/>
                  </a:ext>
                </a:extLst>
              </p:cNvPr>
              <p:cNvSpPr>
                <a:spLocks/>
              </p:cNvSpPr>
              <p:nvPr/>
            </p:nvSpPr>
            <p:spPr bwMode="auto">
              <a:xfrm>
                <a:off x="6038" y="2865"/>
                <a:ext cx="36" cy="30"/>
              </a:xfrm>
              <a:custGeom>
                <a:avLst/>
                <a:gdLst>
                  <a:gd name="T0" fmla="*/ 26 w 26"/>
                  <a:gd name="T1" fmla="*/ 2 h 22"/>
                  <a:gd name="T2" fmla="*/ 23 w 26"/>
                  <a:gd name="T3" fmla="*/ 0 h 22"/>
                  <a:gd name="T4" fmla="*/ 17 w 26"/>
                  <a:gd name="T5" fmla="*/ 3 h 22"/>
                  <a:gd name="T6" fmla="*/ 16 w 26"/>
                  <a:gd name="T7" fmla="*/ 4 h 22"/>
                  <a:gd name="T8" fmla="*/ 15 w 26"/>
                  <a:gd name="T9" fmla="*/ 7 h 22"/>
                  <a:gd name="T10" fmla="*/ 14 w 26"/>
                  <a:gd name="T11" fmla="*/ 8 h 22"/>
                  <a:gd name="T12" fmla="*/ 9 w 26"/>
                  <a:gd name="T13" fmla="*/ 6 h 22"/>
                  <a:gd name="T14" fmla="*/ 6 w 26"/>
                  <a:gd name="T15" fmla="*/ 9 h 22"/>
                  <a:gd name="T16" fmla="*/ 4 w 26"/>
                  <a:gd name="T17" fmla="*/ 11 h 22"/>
                  <a:gd name="T18" fmla="*/ 5 w 26"/>
                  <a:gd name="T19" fmla="*/ 16 h 22"/>
                  <a:gd name="T20" fmla="*/ 3 w 26"/>
                  <a:gd name="T21" fmla="*/ 20 h 22"/>
                  <a:gd name="T22" fmla="*/ 3 w 26"/>
                  <a:gd name="T23" fmla="*/ 21 h 22"/>
                  <a:gd name="T24" fmla="*/ 7 w 26"/>
                  <a:gd name="T25" fmla="*/ 20 h 22"/>
                  <a:gd name="T26" fmla="*/ 13 w 26"/>
                  <a:gd name="T27" fmla="*/ 19 h 22"/>
                  <a:gd name="T28" fmla="*/ 17 w 26"/>
                  <a:gd name="T29" fmla="*/ 17 h 22"/>
                  <a:gd name="T30" fmla="*/ 24 w 26"/>
                  <a:gd name="T31" fmla="*/ 9 h 22"/>
                  <a:gd name="T32" fmla="*/ 25 w 26"/>
                  <a:gd name="T33" fmla="*/ 9 h 22"/>
                  <a:gd name="T34" fmla="*/ 26 w 26"/>
                  <a:gd name="T35" fmla="*/ 4 h 22"/>
                  <a:gd name="T36" fmla="*/ 26 w 26"/>
                  <a:gd name="T37"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2">
                    <a:moveTo>
                      <a:pt x="26" y="2"/>
                    </a:moveTo>
                    <a:cubicBezTo>
                      <a:pt x="26" y="1"/>
                      <a:pt x="24" y="1"/>
                      <a:pt x="23" y="0"/>
                    </a:cubicBezTo>
                    <a:cubicBezTo>
                      <a:pt x="21" y="1"/>
                      <a:pt x="17" y="3"/>
                      <a:pt x="17" y="3"/>
                    </a:cubicBezTo>
                    <a:cubicBezTo>
                      <a:pt x="17" y="4"/>
                      <a:pt x="16" y="4"/>
                      <a:pt x="16" y="4"/>
                    </a:cubicBezTo>
                    <a:cubicBezTo>
                      <a:pt x="16" y="5"/>
                      <a:pt x="15" y="6"/>
                      <a:pt x="15" y="7"/>
                    </a:cubicBezTo>
                    <a:cubicBezTo>
                      <a:pt x="14" y="8"/>
                      <a:pt x="14" y="8"/>
                      <a:pt x="14" y="8"/>
                    </a:cubicBezTo>
                    <a:cubicBezTo>
                      <a:pt x="9" y="6"/>
                      <a:pt x="9" y="6"/>
                      <a:pt x="9" y="6"/>
                    </a:cubicBezTo>
                    <a:cubicBezTo>
                      <a:pt x="8" y="7"/>
                      <a:pt x="6" y="9"/>
                      <a:pt x="6" y="9"/>
                    </a:cubicBezTo>
                    <a:cubicBezTo>
                      <a:pt x="5" y="10"/>
                      <a:pt x="5" y="10"/>
                      <a:pt x="4" y="11"/>
                    </a:cubicBezTo>
                    <a:cubicBezTo>
                      <a:pt x="4" y="13"/>
                      <a:pt x="4" y="15"/>
                      <a:pt x="5" y="16"/>
                    </a:cubicBezTo>
                    <a:cubicBezTo>
                      <a:pt x="6" y="17"/>
                      <a:pt x="6" y="17"/>
                      <a:pt x="3" y="20"/>
                    </a:cubicBezTo>
                    <a:cubicBezTo>
                      <a:pt x="0" y="22"/>
                      <a:pt x="3" y="21"/>
                      <a:pt x="3" y="21"/>
                    </a:cubicBezTo>
                    <a:cubicBezTo>
                      <a:pt x="3" y="21"/>
                      <a:pt x="6" y="20"/>
                      <a:pt x="7" y="20"/>
                    </a:cubicBezTo>
                    <a:cubicBezTo>
                      <a:pt x="8" y="20"/>
                      <a:pt x="12" y="19"/>
                      <a:pt x="13" y="19"/>
                    </a:cubicBezTo>
                    <a:cubicBezTo>
                      <a:pt x="15" y="19"/>
                      <a:pt x="16" y="18"/>
                      <a:pt x="17" y="17"/>
                    </a:cubicBezTo>
                    <a:cubicBezTo>
                      <a:pt x="18" y="17"/>
                      <a:pt x="24" y="10"/>
                      <a:pt x="24" y="9"/>
                    </a:cubicBezTo>
                    <a:cubicBezTo>
                      <a:pt x="25" y="9"/>
                      <a:pt x="25" y="9"/>
                      <a:pt x="25" y="9"/>
                    </a:cubicBezTo>
                    <a:cubicBezTo>
                      <a:pt x="25" y="7"/>
                      <a:pt x="26" y="5"/>
                      <a:pt x="26" y="4"/>
                    </a:cubicBezTo>
                    <a:cubicBezTo>
                      <a:pt x="26" y="3"/>
                      <a:pt x="26" y="3"/>
                      <a:pt x="2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61" name="Freeform 872">
                <a:extLst>
                  <a:ext uri="{FF2B5EF4-FFF2-40B4-BE49-F238E27FC236}">
                    <a16:creationId xmlns:a16="http://schemas.microsoft.com/office/drawing/2014/main" id="{1F40CFA3-6D4F-4C6E-B6A9-49E84E01D324}"/>
                  </a:ext>
                </a:extLst>
              </p:cNvPr>
              <p:cNvSpPr>
                <a:spLocks/>
              </p:cNvSpPr>
              <p:nvPr/>
            </p:nvSpPr>
            <p:spPr bwMode="auto">
              <a:xfrm>
                <a:off x="5739" y="2593"/>
                <a:ext cx="210" cy="175"/>
              </a:xfrm>
              <a:custGeom>
                <a:avLst/>
                <a:gdLst>
                  <a:gd name="T0" fmla="*/ 111 w 152"/>
                  <a:gd name="T1" fmla="*/ 0 h 128"/>
                  <a:gd name="T2" fmla="*/ 105 w 152"/>
                  <a:gd name="T3" fmla="*/ 0 h 128"/>
                  <a:gd name="T4" fmla="*/ 100 w 152"/>
                  <a:gd name="T5" fmla="*/ 6 h 128"/>
                  <a:gd name="T6" fmla="*/ 101 w 152"/>
                  <a:gd name="T7" fmla="*/ 14 h 128"/>
                  <a:gd name="T8" fmla="*/ 96 w 152"/>
                  <a:gd name="T9" fmla="*/ 20 h 128"/>
                  <a:gd name="T10" fmla="*/ 93 w 152"/>
                  <a:gd name="T11" fmla="*/ 26 h 128"/>
                  <a:gd name="T12" fmla="*/ 94 w 152"/>
                  <a:gd name="T13" fmla="*/ 28 h 128"/>
                  <a:gd name="T14" fmla="*/ 89 w 152"/>
                  <a:gd name="T15" fmla="*/ 34 h 128"/>
                  <a:gd name="T16" fmla="*/ 85 w 152"/>
                  <a:gd name="T17" fmla="*/ 43 h 128"/>
                  <a:gd name="T18" fmla="*/ 73 w 152"/>
                  <a:gd name="T19" fmla="*/ 46 h 128"/>
                  <a:gd name="T20" fmla="*/ 63 w 152"/>
                  <a:gd name="T21" fmla="*/ 44 h 128"/>
                  <a:gd name="T22" fmla="*/ 59 w 152"/>
                  <a:gd name="T23" fmla="*/ 42 h 128"/>
                  <a:gd name="T24" fmla="*/ 49 w 152"/>
                  <a:gd name="T25" fmla="*/ 46 h 128"/>
                  <a:gd name="T26" fmla="*/ 35 w 152"/>
                  <a:gd name="T27" fmla="*/ 49 h 128"/>
                  <a:gd name="T28" fmla="*/ 22 w 152"/>
                  <a:gd name="T29" fmla="*/ 50 h 128"/>
                  <a:gd name="T30" fmla="*/ 13 w 152"/>
                  <a:gd name="T31" fmla="*/ 41 h 128"/>
                  <a:gd name="T32" fmla="*/ 12 w 152"/>
                  <a:gd name="T33" fmla="*/ 34 h 128"/>
                  <a:gd name="T34" fmla="*/ 5 w 152"/>
                  <a:gd name="T35" fmla="*/ 40 h 128"/>
                  <a:gd name="T36" fmla="*/ 3 w 152"/>
                  <a:gd name="T37" fmla="*/ 47 h 128"/>
                  <a:gd name="T38" fmla="*/ 2 w 152"/>
                  <a:gd name="T39" fmla="*/ 51 h 128"/>
                  <a:gd name="T40" fmla="*/ 1 w 152"/>
                  <a:gd name="T41" fmla="*/ 59 h 128"/>
                  <a:gd name="T42" fmla="*/ 6 w 152"/>
                  <a:gd name="T43" fmla="*/ 63 h 128"/>
                  <a:gd name="T44" fmla="*/ 5 w 152"/>
                  <a:gd name="T45" fmla="*/ 67 h 128"/>
                  <a:gd name="T46" fmla="*/ 3 w 152"/>
                  <a:gd name="T47" fmla="*/ 70 h 128"/>
                  <a:gd name="T48" fmla="*/ 13 w 152"/>
                  <a:gd name="T49" fmla="*/ 79 h 128"/>
                  <a:gd name="T50" fmla="*/ 18 w 152"/>
                  <a:gd name="T51" fmla="*/ 89 h 128"/>
                  <a:gd name="T52" fmla="*/ 20 w 152"/>
                  <a:gd name="T53" fmla="*/ 100 h 128"/>
                  <a:gd name="T54" fmla="*/ 20 w 152"/>
                  <a:gd name="T55" fmla="*/ 106 h 128"/>
                  <a:gd name="T56" fmla="*/ 28 w 152"/>
                  <a:gd name="T57" fmla="*/ 110 h 128"/>
                  <a:gd name="T58" fmla="*/ 39 w 152"/>
                  <a:gd name="T59" fmla="*/ 109 h 128"/>
                  <a:gd name="T60" fmla="*/ 44 w 152"/>
                  <a:gd name="T61" fmla="*/ 108 h 128"/>
                  <a:gd name="T62" fmla="*/ 46 w 152"/>
                  <a:gd name="T63" fmla="*/ 117 h 128"/>
                  <a:gd name="T64" fmla="*/ 62 w 152"/>
                  <a:gd name="T65" fmla="*/ 110 h 128"/>
                  <a:gd name="T66" fmla="*/ 70 w 152"/>
                  <a:gd name="T67" fmla="*/ 113 h 128"/>
                  <a:gd name="T68" fmla="*/ 76 w 152"/>
                  <a:gd name="T69" fmla="*/ 116 h 128"/>
                  <a:gd name="T70" fmla="*/ 81 w 152"/>
                  <a:gd name="T71" fmla="*/ 114 h 128"/>
                  <a:gd name="T72" fmla="*/ 82 w 152"/>
                  <a:gd name="T73" fmla="*/ 116 h 128"/>
                  <a:gd name="T74" fmla="*/ 85 w 152"/>
                  <a:gd name="T75" fmla="*/ 117 h 128"/>
                  <a:gd name="T76" fmla="*/ 88 w 152"/>
                  <a:gd name="T77" fmla="*/ 126 h 128"/>
                  <a:gd name="T78" fmla="*/ 107 w 152"/>
                  <a:gd name="T79" fmla="*/ 115 h 128"/>
                  <a:gd name="T80" fmla="*/ 110 w 152"/>
                  <a:gd name="T81" fmla="*/ 108 h 128"/>
                  <a:gd name="T82" fmla="*/ 112 w 152"/>
                  <a:gd name="T83" fmla="*/ 102 h 128"/>
                  <a:gd name="T84" fmla="*/ 111 w 152"/>
                  <a:gd name="T85" fmla="*/ 96 h 128"/>
                  <a:gd name="T86" fmla="*/ 112 w 152"/>
                  <a:gd name="T87" fmla="*/ 91 h 128"/>
                  <a:gd name="T88" fmla="*/ 117 w 152"/>
                  <a:gd name="T89" fmla="*/ 83 h 128"/>
                  <a:gd name="T90" fmla="*/ 125 w 152"/>
                  <a:gd name="T91" fmla="*/ 78 h 128"/>
                  <a:gd name="T92" fmla="*/ 130 w 152"/>
                  <a:gd name="T93" fmla="*/ 77 h 128"/>
                  <a:gd name="T94" fmla="*/ 130 w 152"/>
                  <a:gd name="T95" fmla="*/ 73 h 128"/>
                  <a:gd name="T96" fmla="*/ 128 w 152"/>
                  <a:gd name="T97" fmla="*/ 70 h 128"/>
                  <a:gd name="T98" fmla="*/ 135 w 152"/>
                  <a:gd name="T99" fmla="*/ 53 h 128"/>
                  <a:gd name="T100" fmla="*/ 136 w 152"/>
                  <a:gd name="T101" fmla="*/ 50 h 128"/>
                  <a:gd name="T102" fmla="*/ 150 w 152"/>
                  <a:gd name="T103" fmla="*/ 51 h 128"/>
                  <a:gd name="T104" fmla="*/ 133 w 152"/>
                  <a:gd name="T105" fmla="*/ 36 h 128"/>
                  <a:gd name="T106" fmla="*/ 135 w 152"/>
                  <a:gd name="T107" fmla="*/ 34 h 128"/>
                  <a:gd name="T108" fmla="*/ 131 w 152"/>
                  <a:gd name="T109" fmla="*/ 23 h 128"/>
                  <a:gd name="T110" fmla="*/ 129 w 152"/>
                  <a:gd name="T111" fmla="*/ 19 h 128"/>
                  <a:gd name="T112" fmla="*/ 125 w 152"/>
                  <a:gd name="T113" fmla="*/ 13 h 128"/>
                  <a:gd name="T114" fmla="*/ 129 w 152"/>
                  <a:gd name="T115" fmla="*/ 10 h 128"/>
                  <a:gd name="T116" fmla="*/ 132 w 152"/>
                  <a:gd name="T117" fmla="*/ 8 h 128"/>
                  <a:gd name="T118" fmla="*/ 128 w 152"/>
                  <a:gd name="T119" fmla="*/ 3 h 128"/>
                  <a:gd name="T120" fmla="*/ 128 w 152"/>
                  <a:gd name="T121" fmla="*/ 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2" h="128">
                    <a:moveTo>
                      <a:pt x="120" y="0"/>
                    </a:moveTo>
                    <a:cubicBezTo>
                      <a:pt x="119" y="0"/>
                      <a:pt x="112" y="0"/>
                      <a:pt x="111" y="0"/>
                    </a:cubicBezTo>
                    <a:cubicBezTo>
                      <a:pt x="110" y="0"/>
                      <a:pt x="108" y="0"/>
                      <a:pt x="107" y="0"/>
                    </a:cubicBezTo>
                    <a:cubicBezTo>
                      <a:pt x="106" y="1"/>
                      <a:pt x="106" y="0"/>
                      <a:pt x="105" y="0"/>
                    </a:cubicBezTo>
                    <a:cubicBezTo>
                      <a:pt x="104" y="0"/>
                      <a:pt x="104" y="0"/>
                      <a:pt x="104" y="1"/>
                    </a:cubicBezTo>
                    <a:cubicBezTo>
                      <a:pt x="103" y="1"/>
                      <a:pt x="101" y="4"/>
                      <a:pt x="100" y="6"/>
                    </a:cubicBezTo>
                    <a:cubicBezTo>
                      <a:pt x="99" y="7"/>
                      <a:pt x="100" y="8"/>
                      <a:pt x="100" y="10"/>
                    </a:cubicBezTo>
                    <a:cubicBezTo>
                      <a:pt x="100" y="12"/>
                      <a:pt x="101" y="13"/>
                      <a:pt x="101" y="14"/>
                    </a:cubicBezTo>
                    <a:cubicBezTo>
                      <a:pt x="101" y="16"/>
                      <a:pt x="100" y="17"/>
                      <a:pt x="99" y="18"/>
                    </a:cubicBezTo>
                    <a:cubicBezTo>
                      <a:pt x="99" y="20"/>
                      <a:pt x="98" y="20"/>
                      <a:pt x="96" y="20"/>
                    </a:cubicBezTo>
                    <a:cubicBezTo>
                      <a:pt x="95" y="20"/>
                      <a:pt x="95" y="20"/>
                      <a:pt x="94" y="22"/>
                    </a:cubicBezTo>
                    <a:cubicBezTo>
                      <a:pt x="92" y="23"/>
                      <a:pt x="92" y="25"/>
                      <a:pt x="93" y="26"/>
                    </a:cubicBezTo>
                    <a:cubicBezTo>
                      <a:pt x="93" y="27"/>
                      <a:pt x="94" y="26"/>
                      <a:pt x="94" y="27"/>
                    </a:cubicBezTo>
                    <a:cubicBezTo>
                      <a:pt x="95" y="27"/>
                      <a:pt x="94" y="28"/>
                      <a:pt x="94" y="28"/>
                    </a:cubicBezTo>
                    <a:cubicBezTo>
                      <a:pt x="94" y="28"/>
                      <a:pt x="91" y="30"/>
                      <a:pt x="90" y="31"/>
                    </a:cubicBezTo>
                    <a:cubicBezTo>
                      <a:pt x="88" y="31"/>
                      <a:pt x="88" y="32"/>
                      <a:pt x="89" y="34"/>
                    </a:cubicBezTo>
                    <a:cubicBezTo>
                      <a:pt x="90" y="36"/>
                      <a:pt x="88" y="37"/>
                      <a:pt x="87" y="38"/>
                    </a:cubicBezTo>
                    <a:cubicBezTo>
                      <a:pt x="86" y="39"/>
                      <a:pt x="85" y="42"/>
                      <a:pt x="85" y="43"/>
                    </a:cubicBezTo>
                    <a:cubicBezTo>
                      <a:pt x="85" y="44"/>
                      <a:pt x="84" y="43"/>
                      <a:pt x="81" y="44"/>
                    </a:cubicBezTo>
                    <a:cubicBezTo>
                      <a:pt x="79" y="44"/>
                      <a:pt x="75" y="45"/>
                      <a:pt x="73" y="46"/>
                    </a:cubicBezTo>
                    <a:cubicBezTo>
                      <a:pt x="71" y="47"/>
                      <a:pt x="70" y="46"/>
                      <a:pt x="68" y="46"/>
                    </a:cubicBezTo>
                    <a:cubicBezTo>
                      <a:pt x="67" y="45"/>
                      <a:pt x="64" y="44"/>
                      <a:pt x="63" y="44"/>
                    </a:cubicBezTo>
                    <a:cubicBezTo>
                      <a:pt x="62" y="43"/>
                      <a:pt x="62" y="44"/>
                      <a:pt x="62" y="43"/>
                    </a:cubicBezTo>
                    <a:cubicBezTo>
                      <a:pt x="63" y="41"/>
                      <a:pt x="60" y="41"/>
                      <a:pt x="59" y="42"/>
                    </a:cubicBezTo>
                    <a:cubicBezTo>
                      <a:pt x="58" y="42"/>
                      <a:pt x="51" y="43"/>
                      <a:pt x="50" y="44"/>
                    </a:cubicBezTo>
                    <a:cubicBezTo>
                      <a:pt x="49" y="44"/>
                      <a:pt x="49" y="44"/>
                      <a:pt x="49" y="46"/>
                    </a:cubicBezTo>
                    <a:cubicBezTo>
                      <a:pt x="49" y="49"/>
                      <a:pt x="45" y="49"/>
                      <a:pt x="43" y="50"/>
                    </a:cubicBezTo>
                    <a:cubicBezTo>
                      <a:pt x="42" y="50"/>
                      <a:pt x="37" y="49"/>
                      <a:pt x="35" y="49"/>
                    </a:cubicBezTo>
                    <a:cubicBezTo>
                      <a:pt x="34" y="49"/>
                      <a:pt x="30" y="51"/>
                      <a:pt x="27" y="52"/>
                    </a:cubicBezTo>
                    <a:cubicBezTo>
                      <a:pt x="24" y="53"/>
                      <a:pt x="23" y="51"/>
                      <a:pt x="22" y="50"/>
                    </a:cubicBezTo>
                    <a:cubicBezTo>
                      <a:pt x="21" y="49"/>
                      <a:pt x="15" y="44"/>
                      <a:pt x="14" y="43"/>
                    </a:cubicBezTo>
                    <a:cubicBezTo>
                      <a:pt x="14" y="43"/>
                      <a:pt x="13" y="42"/>
                      <a:pt x="13" y="41"/>
                    </a:cubicBezTo>
                    <a:cubicBezTo>
                      <a:pt x="12" y="40"/>
                      <a:pt x="11" y="39"/>
                      <a:pt x="11" y="38"/>
                    </a:cubicBezTo>
                    <a:cubicBezTo>
                      <a:pt x="11" y="37"/>
                      <a:pt x="11" y="35"/>
                      <a:pt x="12" y="34"/>
                    </a:cubicBezTo>
                    <a:cubicBezTo>
                      <a:pt x="11" y="34"/>
                      <a:pt x="11" y="35"/>
                      <a:pt x="11" y="35"/>
                    </a:cubicBezTo>
                    <a:cubicBezTo>
                      <a:pt x="10" y="35"/>
                      <a:pt x="7" y="37"/>
                      <a:pt x="5" y="40"/>
                    </a:cubicBezTo>
                    <a:cubicBezTo>
                      <a:pt x="4" y="43"/>
                      <a:pt x="4" y="44"/>
                      <a:pt x="4" y="44"/>
                    </a:cubicBezTo>
                    <a:cubicBezTo>
                      <a:pt x="4" y="45"/>
                      <a:pt x="4" y="46"/>
                      <a:pt x="3" y="47"/>
                    </a:cubicBezTo>
                    <a:cubicBezTo>
                      <a:pt x="2" y="47"/>
                      <a:pt x="1" y="47"/>
                      <a:pt x="2" y="49"/>
                    </a:cubicBezTo>
                    <a:cubicBezTo>
                      <a:pt x="3" y="50"/>
                      <a:pt x="2" y="51"/>
                      <a:pt x="2" y="51"/>
                    </a:cubicBezTo>
                    <a:cubicBezTo>
                      <a:pt x="1" y="52"/>
                      <a:pt x="0" y="53"/>
                      <a:pt x="1" y="55"/>
                    </a:cubicBezTo>
                    <a:cubicBezTo>
                      <a:pt x="2" y="57"/>
                      <a:pt x="1" y="58"/>
                      <a:pt x="1" y="59"/>
                    </a:cubicBezTo>
                    <a:cubicBezTo>
                      <a:pt x="1" y="60"/>
                      <a:pt x="1" y="60"/>
                      <a:pt x="2" y="61"/>
                    </a:cubicBezTo>
                    <a:cubicBezTo>
                      <a:pt x="4" y="62"/>
                      <a:pt x="5" y="63"/>
                      <a:pt x="6" y="63"/>
                    </a:cubicBezTo>
                    <a:cubicBezTo>
                      <a:pt x="6" y="64"/>
                      <a:pt x="7" y="65"/>
                      <a:pt x="6" y="65"/>
                    </a:cubicBezTo>
                    <a:cubicBezTo>
                      <a:pt x="5" y="65"/>
                      <a:pt x="5" y="65"/>
                      <a:pt x="5" y="67"/>
                    </a:cubicBezTo>
                    <a:cubicBezTo>
                      <a:pt x="5" y="68"/>
                      <a:pt x="6" y="69"/>
                      <a:pt x="5" y="69"/>
                    </a:cubicBezTo>
                    <a:cubicBezTo>
                      <a:pt x="4" y="68"/>
                      <a:pt x="3" y="68"/>
                      <a:pt x="3" y="70"/>
                    </a:cubicBezTo>
                    <a:cubicBezTo>
                      <a:pt x="4" y="72"/>
                      <a:pt x="6" y="78"/>
                      <a:pt x="8" y="78"/>
                    </a:cubicBezTo>
                    <a:cubicBezTo>
                      <a:pt x="11" y="79"/>
                      <a:pt x="13" y="79"/>
                      <a:pt x="13" y="79"/>
                    </a:cubicBezTo>
                    <a:cubicBezTo>
                      <a:pt x="14" y="78"/>
                      <a:pt x="14" y="78"/>
                      <a:pt x="15" y="80"/>
                    </a:cubicBezTo>
                    <a:cubicBezTo>
                      <a:pt x="16" y="81"/>
                      <a:pt x="19" y="85"/>
                      <a:pt x="18" y="89"/>
                    </a:cubicBezTo>
                    <a:cubicBezTo>
                      <a:pt x="17" y="92"/>
                      <a:pt x="15" y="91"/>
                      <a:pt x="18" y="93"/>
                    </a:cubicBezTo>
                    <a:cubicBezTo>
                      <a:pt x="21" y="96"/>
                      <a:pt x="20" y="99"/>
                      <a:pt x="20" y="100"/>
                    </a:cubicBezTo>
                    <a:cubicBezTo>
                      <a:pt x="21" y="102"/>
                      <a:pt x="21" y="103"/>
                      <a:pt x="20" y="103"/>
                    </a:cubicBezTo>
                    <a:cubicBezTo>
                      <a:pt x="19" y="104"/>
                      <a:pt x="20" y="104"/>
                      <a:pt x="20" y="106"/>
                    </a:cubicBezTo>
                    <a:cubicBezTo>
                      <a:pt x="21" y="107"/>
                      <a:pt x="22" y="110"/>
                      <a:pt x="23" y="110"/>
                    </a:cubicBezTo>
                    <a:cubicBezTo>
                      <a:pt x="25" y="110"/>
                      <a:pt x="27" y="111"/>
                      <a:pt x="28" y="110"/>
                    </a:cubicBezTo>
                    <a:cubicBezTo>
                      <a:pt x="30" y="109"/>
                      <a:pt x="32" y="112"/>
                      <a:pt x="34" y="110"/>
                    </a:cubicBezTo>
                    <a:cubicBezTo>
                      <a:pt x="37" y="108"/>
                      <a:pt x="38" y="109"/>
                      <a:pt x="39" y="109"/>
                    </a:cubicBezTo>
                    <a:cubicBezTo>
                      <a:pt x="41" y="110"/>
                      <a:pt x="42" y="110"/>
                      <a:pt x="43" y="108"/>
                    </a:cubicBezTo>
                    <a:cubicBezTo>
                      <a:pt x="44" y="106"/>
                      <a:pt x="43" y="106"/>
                      <a:pt x="44" y="108"/>
                    </a:cubicBezTo>
                    <a:cubicBezTo>
                      <a:pt x="44" y="108"/>
                      <a:pt x="45" y="112"/>
                      <a:pt x="45" y="115"/>
                    </a:cubicBezTo>
                    <a:cubicBezTo>
                      <a:pt x="44" y="118"/>
                      <a:pt x="44" y="118"/>
                      <a:pt x="46" y="117"/>
                    </a:cubicBezTo>
                    <a:cubicBezTo>
                      <a:pt x="48" y="115"/>
                      <a:pt x="51" y="114"/>
                      <a:pt x="53" y="114"/>
                    </a:cubicBezTo>
                    <a:cubicBezTo>
                      <a:pt x="56" y="114"/>
                      <a:pt x="62" y="114"/>
                      <a:pt x="62" y="110"/>
                    </a:cubicBezTo>
                    <a:cubicBezTo>
                      <a:pt x="62" y="110"/>
                      <a:pt x="62" y="108"/>
                      <a:pt x="63" y="110"/>
                    </a:cubicBezTo>
                    <a:cubicBezTo>
                      <a:pt x="65" y="112"/>
                      <a:pt x="67" y="114"/>
                      <a:pt x="70" y="113"/>
                    </a:cubicBezTo>
                    <a:cubicBezTo>
                      <a:pt x="70" y="113"/>
                      <a:pt x="71" y="111"/>
                      <a:pt x="71" y="113"/>
                    </a:cubicBezTo>
                    <a:cubicBezTo>
                      <a:pt x="71" y="115"/>
                      <a:pt x="73" y="118"/>
                      <a:pt x="76" y="116"/>
                    </a:cubicBezTo>
                    <a:cubicBezTo>
                      <a:pt x="79" y="114"/>
                      <a:pt x="78" y="112"/>
                      <a:pt x="79" y="114"/>
                    </a:cubicBezTo>
                    <a:cubicBezTo>
                      <a:pt x="80" y="115"/>
                      <a:pt x="80" y="115"/>
                      <a:pt x="81" y="114"/>
                    </a:cubicBezTo>
                    <a:cubicBezTo>
                      <a:pt x="81" y="113"/>
                      <a:pt x="81" y="113"/>
                      <a:pt x="81" y="114"/>
                    </a:cubicBezTo>
                    <a:cubicBezTo>
                      <a:pt x="81" y="116"/>
                      <a:pt x="81" y="116"/>
                      <a:pt x="82" y="116"/>
                    </a:cubicBezTo>
                    <a:cubicBezTo>
                      <a:pt x="84" y="117"/>
                      <a:pt x="84" y="117"/>
                      <a:pt x="84" y="116"/>
                    </a:cubicBezTo>
                    <a:cubicBezTo>
                      <a:pt x="84" y="116"/>
                      <a:pt x="85" y="115"/>
                      <a:pt x="85" y="117"/>
                    </a:cubicBezTo>
                    <a:cubicBezTo>
                      <a:pt x="85" y="118"/>
                      <a:pt x="85" y="123"/>
                      <a:pt x="85" y="124"/>
                    </a:cubicBezTo>
                    <a:cubicBezTo>
                      <a:pt x="86" y="126"/>
                      <a:pt x="86" y="128"/>
                      <a:pt x="88" y="126"/>
                    </a:cubicBezTo>
                    <a:cubicBezTo>
                      <a:pt x="91" y="125"/>
                      <a:pt x="102" y="120"/>
                      <a:pt x="104" y="120"/>
                    </a:cubicBezTo>
                    <a:cubicBezTo>
                      <a:pt x="105" y="119"/>
                      <a:pt x="106" y="119"/>
                      <a:pt x="107" y="115"/>
                    </a:cubicBezTo>
                    <a:cubicBezTo>
                      <a:pt x="109" y="111"/>
                      <a:pt x="111" y="112"/>
                      <a:pt x="109" y="109"/>
                    </a:cubicBezTo>
                    <a:cubicBezTo>
                      <a:pt x="109" y="109"/>
                      <a:pt x="109" y="108"/>
                      <a:pt x="110" y="108"/>
                    </a:cubicBezTo>
                    <a:cubicBezTo>
                      <a:pt x="112" y="109"/>
                      <a:pt x="113" y="106"/>
                      <a:pt x="111" y="104"/>
                    </a:cubicBezTo>
                    <a:cubicBezTo>
                      <a:pt x="111" y="104"/>
                      <a:pt x="111" y="103"/>
                      <a:pt x="112" y="102"/>
                    </a:cubicBezTo>
                    <a:cubicBezTo>
                      <a:pt x="113" y="102"/>
                      <a:pt x="118" y="99"/>
                      <a:pt x="112" y="97"/>
                    </a:cubicBezTo>
                    <a:cubicBezTo>
                      <a:pt x="112" y="97"/>
                      <a:pt x="110" y="97"/>
                      <a:pt x="111" y="96"/>
                    </a:cubicBezTo>
                    <a:cubicBezTo>
                      <a:pt x="113" y="96"/>
                      <a:pt x="113" y="95"/>
                      <a:pt x="113" y="94"/>
                    </a:cubicBezTo>
                    <a:cubicBezTo>
                      <a:pt x="113" y="93"/>
                      <a:pt x="113" y="91"/>
                      <a:pt x="112" y="91"/>
                    </a:cubicBezTo>
                    <a:cubicBezTo>
                      <a:pt x="110" y="92"/>
                      <a:pt x="109" y="91"/>
                      <a:pt x="111" y="90"/>
                    </a:cubicBezTo>
                    <a:cubicBezTo>
                      <a:pt x="114" y="89"/>
                      <a:pt x="117" y="88"/>
                      <a:pt x="117" y="83"/>
                    </a:cubicBezTo>
                    <a:cubicBezTo>
                      <a:pt x="117" y="83"/>
                      <a:pt x="117" y="81"/>
                      <a:pt x="119" y="83"/>
                    </a:cubicBezTo>
                    <a:cubicBezTo>
                      <a:pt x="120" y="85"/>
                      <a:pt x="123" y="82"/>
                      <a:pt x="125" y="78"/>
                    </a:cubicBezTo>
                    <a:cubicBezTo>
                      <a:pt x="125" y="78"/>
                      <a:pt x="125" y="77"/>
                      <a:pt x="126" y="77"/>
                    </a:cubicBezTo>
                    <a:cubicBezTo>
                      <a:pt x="128" y="78"/>
                      <a:pt x="129" y="77"/>
                      <a:pt x="130" y="77"/>
                    </a:cubicBezTo>
                    <a:cubicBezTo>
                      <a:pt x="130" y="76"/>
                      <a:pt x="130" y="76"/>
                      <a:pt x="130" y="75"/>
                    </a:cubicBezTo>
                    <a:cubicBezTo>
                      <a:pt x="130" y="74"/>
                      <a:pt x="129" y="73"/>
                      <a:pt x="130" y="73"/>
                    </a:cubicBezTo>
                    <a:cubicBezTo>
                      <a:pt x="131" y="72"/>
                      <a:pt x="131" y="71"/>
                      <a:pt x="130" y="71"/>
                    </a:cubicBezTo>
                    <a:cubicBezTo>
                      <a:pt x="128" y="72"/>
                      <a:pt x="128" y="72"/>
                      <a:pt x="128" y="70"/>
                    </a:cubicBezTo>
                    <a:cubicBezTo>
                      <a:pt x="128" y="68"/>
                      <a:pt x="128" y="59"/>
                      <a:pt x="132" y="54"/>
                    </a:cubicBezTo>
                    <a:cubicBezTo>
                      <a:pt x="132" y="54"/>
                      <a:pt x="133" y="53"/>
                      <a:pt x="135" y="53"/>
                    </a:cubicBezTo>
                    <a:cubicBezTo>
                      <a:pt x="136" y="53"/>
                      <a:pt x="136" y="53"/>
                      <a:pt x="136" y="52"/>
                    </a:cubicBezTo>
                    <a:cubicBezTo>
                      <a:pt x="136" y="50"/>
                      <a:pt x="134" y="47"/>
                      <a:pt x="136" y="50"/>
                    </a:cubicBezTo>
                    <a:cubicBezTo>
                      <a:pt x="138" y="52"/>
                      <a:pt x="142" y="52"/>
                      <a:pt x="143" y="53"/>
                    </a:cubicBezTo>
                    <a:cubicBezTo>
                      <a:pt x="145" y="53"/>
                      <a:pt x="148" y="53"/>
                      <a:pt x="150" y="51"/>
                    </a:cubicBezTo>
                    <a:cubicBezTo>
                      <a:pt x="151" y="50"/>
                      <a:pt x="152" y="50"/>
                      <a:pt x="149" y="48"/>
                    </a:cubicBezTo>
                    <a:cubicBezTo>
                      <a:pt x="147" y="47"/>
                      <a:pt x="135" y="38"/>
                      <a:pt x="133" y="36"/>
                    </a:cubicBezTo>
                    <a:cubicBezTo>
                      <a:pt x="133" y="36"/>
                      <a:pt x="132" y="34"/>
                      <a:pt x="133" y="35"/>
                    </a:cubicBezTo>
                    <a:cubicBezTo>
                      <a:pt x="134" y="35"/>
                      <a:pt x="133" y="34"/>
                      <a:pt x="135" y="34"/>
                    </a:cubicBezTo>
                    <a:cubicBezTo>
                      <a:pt x="136" y="33"/>
                      <a:pt x="137" y="29"/>
                      <a:pt x="135" y="28"/>
                    </a:cubicBezTo>
                    <a:cubicBezTo>
                      <a:pt x="133" y="26"/>
                      <a:pt x="130" y="23"/>
                      <a:pt x="131" y="23"/>
                    </a:cubicBezTo>
                    <a:cubicBezTo>
                      <a:pt x="131" y="23"/>
                      <a:pt x="133" y="22"/>
                      <a:pt x="130" y="22"/>
                    </a:cubicBezTo>
                    <a:cubicBezTo>
                      <a:pt x="128" y="21"/>
                      <a:pt x="132" y="19"/>
                      <a:pt x="129" y="19"/>
                    </a:cubicBezTo>
                    <a:cubicBezTo>
                      <a:pt x="125" y="18"/>
                      <a:pt x="124" y="17"/>
                      <a:pt x="126" y="17"/>
                    </a:cubicBezTo>
                    <a:cubicBezTo>
                      <a:pt x="129" y="17"/>
                      <a:pt x="127" y="14"/>
                      <a:pt x="125" y="13"/>
                    </a:cubicBezTo>
                    <a:cubicBezTo>
                      <a:pt x="124" y="13"/>
                      <a:pt x="123" y="12"/>
                      <a:pt x="125" y="11"/>
                    </a:cubicBezTo>
                    <a:cubicBezTo>
                      <a:pt x="128" y="11"/>
                      <a:pt x="129" y="11"/>
                      <a:pt x="129" y="10"/>
                    </a:cubicBezTo>
                    <a:cubicBezTo>
                      <a:pt x="128" y="8"/>
                      <a:pt x="129" y="9"/>
                      <a:pt x="130" y="9"/>
                    </a:cubicBezTo>
                    <a:cubicBezTo>
                      <a:pt x="131" y="10"/>
                      <a:pt x="134" y="11"/>
                      <a:pt x="132" y="8"/>
                    </a:cubicBezTo>
                    <a:cubicBezTo>
                      <a:pt x="130" y="5"/>
                      <a:pt x="130" y="5"/>
                      <a:pt x="129" y="5"/>
                    </a:cubicBezTo>
                    <a:cubicBezTo>
                      <a:pt x="128" y="5"/>
                      <a:pt x="127" y="4"/>
                      <a:pt x="128" y="3"/>
                    </a:cubicBezTo>
                    <a:cubicBezTo>
                      <a:pt x="129" y="3"/>
                      <a:pt x="129" y="3"/>
                      <a:pt x="130" y="3"/>
                    </a:cubicBezTo>
                    <a:cubicBezTo>
                      <a:pt x="129" y="3"/>
                      <a:pt x="129" y="3"/>
                      <a:pt x="128" y="3"/>
                    </a:cubicBezTo>
                    <a:cubicBezTo>
                      <a:pt x="128" y="3"/>
                      <a:pt x="122" y="1"/>
                      <a:pt x="12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62" name="Freeform 873">
                <a:extLst>
                  <a:ext uri="{FF2B5EF4-FFF2-40B4-BE49-F238E27FC236}">
                    <a16:creationId xmlns:a16="http://schemas.microsoft.com/office/drawing/2014/main" id="{F4695673-1756-4E6F-9679-91BE42B0D0E6}"/>
                  </a:ext>
                </a:extLst>
              </p:cNvPr>
              <p:cNvSpPr>
                <a:spLocks/>
              </p:cNvSpPr>
              <p:nvPr/>
            </p:nvSpPr>
            <p:spPr bwMode="auto">
              <a:xfrm>
                <a:off x="6448" y="2854"/>
                <a:ext cx="5" cy="2"/>
              </a:xfrm>
              <a:custGeom>
                <a:avLst/>
                <a:gdLst>
                  <a:gd name="T0" fmla="*/ 4 w 4"/>
                  <a:gd name="T1" fmla="*/ 1 h 2"/>
                  <a:gd name="T2" fmla="*/ 0 w 4"/>
                  <a:gd name="T3" fmla="*/ 0 h 2"/>
                  <a:gd name="T4" fmla="*/ 4 w 4"/>
                  <a:gd name="T5" fmla="*/ 1 h 2"/>
                </a:gdLst>
                <a:ahLst/>
                <a:cxnLst>
                  <a:cxn ang="0">
                    <a:pos x="T0" y="T1"/>
                  </a:cxn>
                  <a:cxn ang="0">
                    <a:pos x="T2" y="T3"/>
                  </a:cxn>
                  <a:cxn ang="0">
                    <a:pos x="T4" y="T5"/>
                  </a:cxn>
                </a:cxnLst>
                <a:rect l="0" t="0" r="r" b="b"/>
                <a:pathLst>
                  <a:path w="4" h="2">
                    <a:moveTo>
                      <a:pt x="4" y="1"/>
                    </a:moveTo>
                    <a:cubicBezTo>
                      <a:pt x="4" y="0"/>
                      <a:pt x="2" y="0"/>
                      <a:pt x="0" y="0"/>
                    </a:cubicBezTo>
                    <a:cubicBezTo>
                      <a:pt x="0" y="0"/>
                      <a:pt x="4" y="2"/>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63" name="Freeform 874">
                <a:extLst>
                  <a:ext uri="{FF2B5EF4-FFF2-40B4-BE49-F238E27FC236}">
                    <a16:creationId xmlns:a16="http://schemas.microsoft.com/office/drawing/2014/main" id="{81B49AD2-9B2A-4D1E-B3FF-2C846F9836E7}"/>
                  </a:ext>
                </a:extLst>
              </p:cNvPr>
              <p:cNvSpPr>
                <a:spLocks/>
              </p:cNvSpPr>
              <p:nvPr/>
            </p:nvSpPr>
            <p:spPr bwMode="auto">
              <a:xfrm>
                <a:off x="6446" y="2855"/>
                <a:ext cx="10" cy="7"/>
              </a:xfrm>
              <a:custGeom>
                <a:avLst/>
                <a:gdLst>
                  <a:gd name="T0" fmla="*/ 5 w 7"/>
                  <a:gd name="T1" fmla="*/ 3 h 5"/>
                  <a:gd name="T2" fmla="*/ 0 w 7"/>
                  <a:gd name="T3" fmla="*/ 0 h 5"/>
                  <a:gd name="T4" fmla="*/ 5 w 7"/>
                  <a:gd name="T5" fmla="*/ 3 h 5"/>
                </a:gdLst>
                <a:ahLst/>
                <a:cxnLst>
                  <a:cxn ang="0">
                    <a:pos x="T0" y="T1"/>
                  </a:cxn>
                  <a:cxn ang="0">
                    <a:pos x="T2" y="T3"/>
                  </a:cxn>
                  <a:cxn ang="0">
                    <a:pos x="T4" y="T5"/>
                  </a:cxn>
                </a:cxnLst>
                <a:rect l="0" t="0" r="r" b="b"/>
                <a:pathLst>
                  <a:path w="7" h="5">
                    <a:moveTo>
                      <a:pt x="5" y="3"/>
                    </a:moveTo>
                    <a:cubicBezTo>
                      <a:pt x="4" y="2"/>
                      <a:pt x="3" y="1"/>
                      <a:pt x="0" y="0"/>
                    </a:cubicBezTo>
                    <a:cubicBezTo>
                      <a:pt x="0" y="0"/>
                      <a:pt x="7" y="5"/>
                      <a:pt x="5"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64" name="Freeform 875">
                <a:extLst>
                  <a:ext uri="{FF2B5EF4-FFF2-40B4-BE49-F238E27FC236}">
                    <a16:creationId xmlns:a16="http://schemas.microsoft.com/office/drawing/2014/main" id="{DFA5E8CD-9FAB-4703-BDA7-4D65AFF97189}"/>
                  </a:ext>
                </a:extLst>
              </p:cNvPr>
              <p:cNvSpPr>
                <a:spLocks/>
              </p:cNvSpPr>
              <p:nvPr/>
            </p:nvSpPr>
            <p:spPr bwMode="auto">
              <a:xfrm>
                <a:off x="6513" y="2722"/>
                <a:ext cx="19" cy="5"/>
              </a:xfrm>
              <a:custGeom>
                <a:avLst/>
                <a:gdLst>
                  <a:gd name="T0" fmla="*/ 1 w 14"/>
                  <a:gd name="T1" fmla="*/ 4 h 4"/>
                  <a:gd name="T2" fmla="*/ 3 w 14"/>
                  <a:gd name="T3" fmla="*/ 3 h 4"/>
                  <a:gd name="T4" fmla="*/ 8 w 14"/>
                  <a:gd name="T5" fmla="*/ 3 h 4"/>
                  <a:gd name="T6" fmla="*/ 13 w 14"/>
                  <a:gd name="T7" fmla="*/ 2 h 4"/>
                  <a:gd name="T8" fmla="*/ 12 w 14"/>
                  <a:gd name="T9" fmla="*/ 1 h 4"/>
                  <a:gd name="T10" fmla="*/ 10 w 14"/>
                  <a:gd name="T11" fmla="*/ 0 h 4"/>
                  <a:gd name="T12" fmla="*/ 7 w 14"/>
                  <a:gd name="T13" fmla="*/ 0 h 4"/>
                  <a:gd name="T14" fmla="*/ 2 w 14"/>
                  <a:gd name="T15" fmla="*/ 0 h 4"/>
                  <a:gd name="T16" fmla="*/ 2 w 14"/>
                  <a:gd name="T17" fmla="*/ 2 h 4"/>
                  <a:gd name="T18" fmla="*/ 1 w 14"/>
                  <a:gd name="T19"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
                    <a:moveTo>
                      <a:pt x="1" y="4"/>
                    </a:moveTo>
                    <a:cubicBezTo>
                      <a:pt x="1" y="4"/>
                      <a:pt x="2" y="4"/>
                      <a:pt x="3" y="3"/>
                    </a:cubicBezTo>
                    <a:cubicBezTo>
                      <a:pt x="4" y="2"/>
                      <a:pt x="7" y="3"/>
                      <a:pt x="8" y="3"/>
                    </a:cubicBezTo>
                    <a:cubicBezTo>
                      <a:pt x="10" y="4"/>
                      <a:pt x="11" y="3"/>
                      <a:pt x="13" y="2"/>
                    </a:cubicBezTo>
                    <a:cubicBezTo>
                      <a:pt x="14" y="1"/>
                      <a:pt x="12" y="1"/>
                      <a:pt x="12" y="1"/>
                    </a:cubicBezTo>
                    <a:cubicBezTo>
                      <a:pt x="11" y="0"/>
                      <a:pt x="11" y="1"/>
                      <a:pt x="10" y="0"/>
                    </a:cubicBezTo>
                    <a:cubicBezTo>
                      <a:pt x="9" y="0"/>
                      <a:pt x="8" y="0"/>
                      <a:pt x="7" y="0"/>
                    </a:cubicBezTo>
                    <a:cubicBezTo>
                      <a:pt x="6" y="0"/>
                      <a:pt x="5" y="0"/>
                      <a:pt x="2" y="0"/>
                    </a:cubicBezTo>
                    <a:cubicBezTo>
                      <a:pt x="0" y="0"/>
                      <a:pt x="3" y="2"/>
                      <a:pt x="2" y="2"/>
                    </a:cubicBezTo>
                    <a:cubicBezTo>
                      <a:pt x="1" y="3"/>
                      <a:pt x="1" y="4"/>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65" name="Freeform 876">
                <a:extLst>
                  <a:ext uri="{FF2B5EF4-FFF2-40B4-BE49-F238E27FC236}">
                    <a16:creationId xmlns:a16="http://schemas.microsoft.com/office/drawing/2014/main" id="{6F0CB382-304A-4B02-B059-6EE6252F3DEC}"/>
                  </a:ext>
                </a:extLst>
              </p:cNvPr>
              <p:cNvSpPr>
                <a:spLocks/>
              </p:cNvSpPr>
              <p:nvPr/>
            </p:nvSpPr>
            <p:spPr bwMode="auto">
              <a:xfrm>
                <a:off x="6502" y="2774"/>
                <a:ext cx="2" cy="5"/>
              </a:xfrm>
              <a:custGeom>
                <a:avLst/>
                <a:gdLst>
                  <a:gd name="T0" fmla="*/ 1 w 2"/>
                  <a:gd name="T1" fmla="*/ 1 h 4"/>
                  <a:gd name="T2" fmla="*/ 1 w 2"/>
                  <a:gd name="T3" fmla="*/ 4 h 4"/>
                  <a:gd name="T4" fmla="*/ 1 w 2"/>
                  <a:gd name="T5" fmla="*/ 1 h 4"/>
                </a:gdLst>
                <a:ahLst/>
                <a:cxnLst>
                  <a:cxn ang="0">
                    <a:pos x="T0" y="T1"/>
                  </a:cxn>
                  <a:cxn ang="0">
                    <a:pos x="T2" y="T3"/>
                  </a:cxn>
                  <a:cxn ang="0">
                    <a:pos x="T4" y="T5"/>
                  </a:cxn>
                </a:cxnLst>
                <a:rect l="0" t="0" r="r" b="b"/>
                <a:pathLst>
                  <a:path w="2" h="4">
                    <a:moveTo>
                      <a:pt x="1" y="1"/>
                    </a:moveTo>
                    <a:cubicBezTo>
                      <a:pt x="1" y="0"/>
                      <a:pt x="0" y="2"/>
                      <a:pt x="1" y="4"/>
                    </a:cubicBezTo>
                    <a:cubicBezTo>
                      <a:pt x="1" y="4"/>
                      <a:pt x="2" y="2"/>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66" name="Freeform 877">
                <a:extLst>
                  <a:ext uri="{FF2B5EF4-FFF2-40B4-BE49-F238E27FC236}">
                    <a16:creationId xmlns:a16="http://schemas.microsoft.com/office/drawing/2014/main" id="{557896A4-80E1-46DC-A2CC-107A8C38C6D7}"/>
                  </a:ext>
                </a:extLst>
              </p:cNvPr>
              <p:cNvSpPr>
                <a:spLocks/>
              </p:cNvSpPr>
              <p:nvPr/>
            </p:nvSpPr>
            <p:spPr bwMode="auto">
              <a:xfrm>
                <a:off x="6524" y="2788"/>
                <a:ext cx="5" cy="7"/>
              </a:xfrm>
              <a:custGeom>
                <a:avLst/>
                <a:gdLst>
                  <a:gd name="T0" fmla="*/ 1 w 4"/>
                  <a:gd name="T1" fmla="*/ 0 h 5"/>
                  <a:gd name="T2" fmla="*/ 1 w 4"/>
                  <a:gd name="T3" fmla="*/ 3 h 5"/>
                  <a:gd name="T4" fmla="*/ 3 w 4"/>
                  <a:gd name="T5" fmla="*/ 3 h 5"/>
                  <a:gd name="T6" fmla="*/ 1 w 4"/>
                  <a:gd name="T7" fmla="*/ 0 h 5"/>
                </a:gdLst>
                <a:ahLst/>
                <a:cxnLst>
                  <a:cxn ang="0">
                    <a:pos x="T0" y="T1"/>
                  </a:cxn>
                  <a:cxn ang="0">
                    <a:pos x="T2" y="T3"/>
                  </a:cxn>
                  <a:cxn ang="0">
                    <a:pos x="T4" y="T5"/>
                  </a:cxn>
                  <a:cxn ang="0">
                    <a:pos x="T6" y="T7"/>
                  </a:cxn>
                </a:cxnLst>
                <a:rect l="0" t="0" r="r" b="b"/>
                <a:pathLst>
                  <a:path w="4" h="5">
                    <a:moveTo>
                      <a:pt x="1" y="0"/>
                    </a:moveTo>
                    <a:cubicBezTo>
                      <a:pt x="0" y="1"/>
                      <a:pt x="0" y="2"/>
                      <a:pt x="1" y="3"/>
                    </a:cubicBezTo>
                    <a:cubicBezTo>
                      <a:pt x="1" y="3"/>
                      <a:pt x="4" y="5"/>
                      <a:pt x="3" y="3"/>
                    </a:cubicBezTo>
                    <a:cubicBezTo>
                      <a:pt x="3" y="0"/>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67" name="Freeform 878">
                <a:extLst>
                  <a:ext uri="{FF2B5EF4-FFF2-40B4-BE49-F238E27FC236}">
                    <a16:creationId xmlns:a16="http://schemas.microsoft.com/office/drawing/2014/main" id="{6D4F0134-797F-4794-83CB-BEC60F13EFCF}"/>
                  </a:ext>
                </a:extLst>
              </p:cNvPr>
              <p:cNvSpPr>
                <a:spLocks/>
              </p:cNvSpPr>
              <p:nvPr/>
            </p:nvSpPr>
            <p:spPr bwMode="auto">
              <a:xfrm>
                <a:off x="6539" y="2793"/>
                <a:ext cx="7" cy="8"/>
              </a:xfrm>
              <a:custGeom>
                <a:avLst/>
                <a:gdLst>
                  <a:gd name="T0" fmla="*/ 1 w 5"/>
                  <a:gd name="T1" fmla="*/ 2 h 6"/>
                  <a:gd name="T2" fmla="*/ 3 w 5"/>
                  <a:gd name="T3" fmla="*/ 5 h 6"/>
                  <a:gd name="T4" fmla="*/ 4 w 5"/>
                  <a:gd name="T5" fmla="*/ 5 h 6"/>
                  <a:gd name="T6" fmla="*/ 2 w 5"/>
                  <a:gd name="T7" fmla="*/ 1 h 6"/>
                  <a:gd name="T8" fmla="*/ 1 w 5"/>
                  <a:gd name="T9" fmla="*/ 2 h 6"/>
                </a:gdLst>
                <a:ahLst/>
                <a:cxnLst>
                  <a:cxn ang="0">
                    <a:pos x="T0" y="T1"/>
                  </a:cxn>
                  <a:cxn ang="0">
                    <a:pos x="T2" y="T3"/>
                  </a:cxn>
                  <a:cxn ang="0">
                    <a:pos x="T4" y="T5"/>
                  </a:cxn>
                  <a:cxn ang="0">
                    <a:pos x="T6" y="T7"/>
                  </a:cxn>
                  <a:cxn ang="0">
                    <a:pos x="T8" y="T9"/>
                  </a:cxn>
                </a:cxnLst>
                <a:rect l="0" t="0" r="r" b="b"/>
                <a:pathLst>
                  <a:path w="5" h="6">
                    <a:moveTo>
                      <a:pt x="1" y="2"/>
                    </a:moveTo>
                    <a:cubicBezTo>
                      <a:pt x="1" y="2"/>
                      <a:pt x="2" y="4"/>
                      <a:pt x="3" y="5"/>
                    </a:cubicBezTo>
                    <a:cubicBezTo>
                      <a:pt x="4" y="6"/>
                      <a:pt x="3" y="6"/>
                      <a:pt x="4" y="5"/>
                    </a:cubicBezTo>
                    <a:cubicBezTo>
                      <a:pt x="5" y="4"/>
                      <a:pt x="4" y="1"/>
                      <a:pt x="2" y="1"/>
                    </a:cubicBezTo>
                    <a:cubicBezTo>
                      <a:pt x="0" y="0"/>
                      <a:pt x="1"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68" name="Freeform 879">
                <a:extLst>
                  <a:ext uri="{FF2B5EF4-FFF2-40B4-BE49-F238E27FC236}">
                    <a16:creationId xmlns:a16="http://schemas.microsoft.com/office/drawing/2014/main" id="{32E129AC-D85C-47B1-9247-CC2A2F79A213}"/>
                  </a:ext>
                </a:extLst>
              </p:cNvPr>
              <p:cNvSpPr>
                <a:spLocks/>
              </p:cNvSpPr>
              <p:nvPr/>
            </p:nvSpPr>
            <p:spPr bwMode="auto">
              <a:xfrm>
                <a:off x="6582" y="2731"/>
                <a:ext cx="14" cy="6"/>
              </a:xfrm>
              <a:custGeom>
                <a:avLst/>
                <a:gdLst>
                  <a:gd name="T0" fmla="*/ 2 w 10"/>
                  <a:gd name="T1" fmla="*/ 1 h 4"/>
                  <a:gd name="T2" fmla="*/ 8 w 10"/>
                  <a:gd name="T3" fmla="*/ 3 h 4"/>
                  <a:gd name="T4" fmla="*/ 9 w 10"/>
                  <a:gd name="T5" fmla="*/ 2 h 4"/>
                  <a:gd name="T6" fmla="*/ 7 w 10"/>
                  <a:gd name="T7" fmla="*/ 0 h 4"/>
                  <a:gd name="T8" fmla="*/ 2 w 10"/>
                  <a:gd name="T9" fmla="*/ 1 h 4"/>
                </a:gdLst>
                <a:ahLst/>
                <a:cxnLst>
                  <a:cxn ang="0">
                    <a:pos x="T0" y="T1"/>
                  </a:cxn>
                  <a:cxn ang="0">
                    <a:pos x="T2" y="T3"/>
                  </a:cxn>
                  <a:cxn ang="0">
                    <a:pos x="T4" y="T5"/>
                  </a:cxn>
                  <a:cxn ang="0">
                    <a:pos x="T6" y="T7"/>
                  </a:cxn>
                  <a:cxn ang="0">
                    <a:pos x="T8" y="T9"/>
                  </a:cxn>
                </a:cxnLst>
                <a:rect l="0" t="0" r="r" b="b"/>
                <a:pathLst>
                  <a:path w="10" h="4">
                    <a:moveTo>
                      <a:pt x="2" y="1"/>
                    </a:moveTo>
                    <a:cubicBezTo>
                      <a:pt x="2" y="1"/>
                      <a:pt x="7" y="3"/>
                      <a:pt x="8" y="3"/>
                    </a:cubicBezTo>
                    <a:cubicBezTo>
                      <a:pt x="8" y="4"/>
                      <a:pt x="9" y="3"/>
                      <a:pt x="9" y="2"/>
                    </a:cubicBezTo>
                    <a:cubicBezTo>
                      <a:pt x="9" y="1"/>
                      <a:pt x="10" y="0"/>
                      <a:pt x="7" y="0"/>
                    </a:cubicBezTo>
                    <a:cubicBezTo>
                      <a:pt x="5" y="0"/>
                      <a:pt x="0"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69" name="Freeform 880">
                <a:extLst>
                  <a:ext uri="{FF2B5EF4-FFF2-40B4-BE49-F238E27FC236}">
                    <a16:creationId xmlns:a16="http://schemas.microsoft.com/office/drawing/2014/main" id="{67EDDE5E-0EB3-4936-8F39-D3F1B62BC672}"/>
                  </a:ext>
                </a:extLst>
              </p:cNvPr>
              <p:cNvSpPr>
                <a:spLocks/>
              </p:cNvSpPr>
              <p:nvPr/>
            </p:nvSpPr>
            <p:spPr bwMode="auto">
              <a:xfrm>
                <a:off x="6549" y="2767"/>
                <a:ext cx="85" cy="45"/>
              </a:xfrm>
              <a:custGeom>
                <a:avLst/>
                <a:gdLst>
                  <a:gd name="T0" fmla="*/ 14 w 62"/>
                  <a:gd name="T1" fmla="*/ 20 h 33"/>
                  <a:gd name="T2" fmla="*/ 10 w 62"/>
                  <a:gd name="T3" fmla="*/ 20 h 33"/>
                  <a:gd name="T4" fmla="*/ 8 w 62"/>
                  <a:gd name="T5" fmla="*/ 20 h 33"/>
                  <a:gd name="T6" fmla="*/ 6 w 62"/>
                  <a:gd name="T7" fmla="*/ 20 h 33"/>
                  <a:gd name="T8" fmla="*/ 4 w 62"/>
                  <a:gd name="T9" fmla="*/ 19 h 33"/>
                  <a:gd name="T10" fmla="*/ 2 w 62"/>
                  <a:gd name="T11" fmla="*/ 20 h 33"/>
                  <a:gd name="T12" fmla="*/ 7 w 62"/>
                  <a:gd name="T13" fmla="*/ 25 h 33"/>
                  <a:gd name="T14" fmla="*/ 12 w 62"/>
                  <a:gd name="T15" fmla="*/ 28 h 33"/>
                  <a:gd name="T16" fmla="*/ 14 w 62"/>
                  <a:gd name="T17" fmla="*/ 29 h 33"/>
                  <a:gd name="T18" fmla="*/ 20 w 62"/>
                  <a:gd name="T19" fmla="*/ 31 h 33"/>
                  <a:gd name="T20" fmla="*/ 32 w 62"/>
                  <a:gd name="T21" fmla="*/ 30 h 33"/>
                  <a:gd name="T22" fmla="*/ 44 w 62"/>
                  <a:gd name="T23" fmla="*/ 27 h 33"/>
                  <a:gd name="T24" fmla="*/ 48 w 62"/>
                  <a:gd name="T25" fmla="*/ 23 h 33"/>
                  <a:gd name="T26" fmla="*/ 52 w 62"/>
                  <a:gd name="T27" fmla="*/ 21 h 33"/>
                  <a:gd name="T28" fmla="*/ 56 w 62"/>
                  <a:gd name="T29" fmla="*/ 20 h 33"/>
                  <a:gd name="T30" fmla="*/ 56 w 62"/>
                  <a:gd name="T31" fmla="*/ 14 h 33"/>
                  <a:gd name="T32" fmla="*/ 59 w 62"/>
                  <a:gd name="T33" fmla="*/ 12 h 33"/>
                  <a:gd name="T34" fmla="*/ 61 w 62"/>
                  <a:gd name="T35" fmla="*/ 8 h 33"/>
                  <a:gd name="T36" fmla="*/ 62 w 62"/>
                  <a:gd name="T37" fmla="*/ 3 h 33"/>
                  <a:gd name="T38" fmla="*/ 60 w 62"/>
                  <a:gd name="T39" fmla="*/ 2 h 33"/>
                  <a:gd name="T40" fmla="*/ 59 w 62"/>
                  <a:gd name="T41" fmla="*/ 1 h 33"/>
                  <a:gd name="T42" fmla="*/ 58 w 62"/>
                  <a:gd name="T43" fmla="*/ 0 h 33"/>
                  <a:gd name="T44" fmla="*/ 56 w 62"/>
                  <a:gd name="T45" fmla="*/ 1 h 33"/>
                  <a:gd name="T46" fmla="*/ 54 w 62"/>
                  <a:gd name="T47" fmla="*/ 1 h 33"/>
                  <a:gd name="T48" fmla="*/ 50 w 62"/>
                  <a:gd name="T49" fmla="*/ 0 h 33"/>
                  <a:gd name="T50" fmla="*/ 49 w 62"/>
                  <a:gd name="T51" fmla="*/ 2 h 33"/>
                  <a:gd name="T52" fmla="*/ 50 w 62"/>
                  <a:gd name="T53" fmla="*/ 9 h 33"/>
                  <a:gd name="T54" fmla="*/ 50 w 62"/>
                  <a:gd name="T55" fmla="*/ 11 h 33"/>
                  <a:gd name="T56" fmla="*/ 40 w 62"/>
                  <a:gd name="T57" fmla="*/ 18 h 33"/>
                  <a:gd name="T58" fmla="*/ 38 w 62"/>
                  <a:gd name="T59" fmla="*/ 20 h 33"/>
                  <a:gd name="T60" fmla="*/ 35 w 62"/>
                  <a:gd name="T61" fmla="*/ 20 h 33"/>
                  <a:gd name="T62" fmla="*/ 31 w 62"/>
                  <a:gd name="T63" fmla="*/ 20 h 33"/>
                  <a:gd name="T64" fmla="*/ 28 w 62"/>
                  <a:gd name="T65" fmla="*/ 19 h 33"/>
                  <a:gd name="T66" fmla="*/ 27 w 62"/>
                  <a:gd name="T67" fmla="*/ 15 h 33"/>
                  <a:gd name="T68" fmla="*/ 29 w 62"/>
                  <a:gd name="T69" fmla="*/ 13 h 33"/>
                  <a:gd name="T70" fmla="*/ 27 w 62"/>
                  <a:gd name="T71" fmla="*/ 14 h 33"/>
                  <a:gd name="T72" fmla="*/ 26 w 62"/>
                  <a:gd name="T73" fmla="*/ 16 h 33"/>
                  <a:gd name="T74" fmla="*/ 26 w 62"/>
                  <a:gd name="T75" fmla="*/ 19 h 33"/>
                  <a:gd name="T76" fmla="*/ 23 w 62"/>
                  <a:gd name="T77" fmla="*/ 20 h 33"/>
                  <a:gd name="T78" fmla="*/ 21 w 62"/>
                  <a:gd name="T79" fmla="*/ 20 h 33"/>
                  <a:gd name="T80" fmla="*/ 19 w 62"/>
                  <a:gd name="T81" fmla="*/ 20 h 33"/>
                  <a:gd name="T82" fmla="*/ 14 w 62"/>
                  <a:gd name="T83" fmla="*/ 2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2" h="33">
                    <a:moveTo>
                      <a:pt x="14" y="20"/>
                    </a:moveTo>
                    <a:cubicBezTo>
                      <a:pt x="13" y="20"/>
                      <a:pt x="11" y="20"/>
                      <a:pt x="10" y="20"/>
                    </a:cubicBezTo>
                    <a:cubicBezTo>
                      <a:pt x="10" y="20"/>
                      <a:pt x="9" y="21"/>
                      <a:pt x="8" y="20"/>
                    </a:cubicBezTo>
                    <a:cubicBezTo>
                      <a:pt x="7" y="20"/>
                      <a:pt x="7" y="20"/>
                      <a:pt x="6" y="20"/>
                    </a:cubicBezTo>
                    <a:cubicBezTo>
                      <a:pt x="6" y="20"/>
                      <a:pt x="5" y="20"/>
                      <a:pt x="4" y="19"/>
                    </a:cubicBezTo>
                    <a:cubicBezTo>
                      <a:pt x="2" y="19"/>
                      <a:pt x="2" y="20"/>
                      <a:pt x="2" y="20"/>
                    </a:cubicBezTo>
                    <a:cubicBezTo>
                      <a:pt x="0" y="24"/>
                      <a:pt x="4" y="25"/>
                      <a:pt x="7" y="25"/>
                    </a:cubicBezTo>
                    <a:cubicBezTo>
                      <a:pt x="10" y="26"/>
                      <a:pt x="12" y="27"/>
                      <a:pt x="12" y="28"/>
                    </a:cubicBezTo>
                    <a:cubicBezTo>
                      <a:pt x="13" y="29"/>
                      <a:pt x="12" y="29"/>
                      <a:pt x="14" y="29"/>
                    </a:cubicBezTo>
                    <a:cubicBezTo>
                      <a:pt x="17" y="28"/>
                      <a:pt x="18" y="28"/>
                      <a:pt x="20" y="31"/>
                    </a:cubicBezTo>
                    <a:cubicBezTo>
                      <a:pt x="22" y="33"/>
                      <a:pt x="30" y="32"/>
                      <a:pt x="32" y="30"/>
                    </a:cubicBezTo>
                    <a:cubicBezTo>
                      <a:pt x="35" y="29"/>
                      <a:pt x="43" y="28"/>
                      <a:pt x="44" y="27"/>
                    </a:cubicBezTo>
                    <a:cubicBezTo>
                      <a:pt x="45" y="26"/>
                      <a:pt x="47" y="25"/>
                      <a:pt x="48" y="23"/>
                    </a:cubicBezTo>
                    <a:cubicBezTo>
                      <a:pt x="50" y="21"/>
                      <a:pt x="51" y="21"/>
                      <a:pt x="52" y="21"/>
                    </a:cubicBezTo>
                    <a:cubicBezTo>
                      <a:pt x="54" y="20"/>
                      <a:pt x="52" y="22"/>
                      <a:pt x="56" y="20"/>
                    </a:cubicBezTo>
                    <a:cubicBezTo>
                      <a:pt x="60" y="18"/>
                      <a:pt x="58" y="18"/>
                      <a:pt x="56" y="14"/>
                    </a:cubicBezTo>
                    <a:cubicBezTo>
                      <a:pt x="54" y="11"/>
                      <a:pt x="56" y="13"/>
                      <a:pt x="59" y="12"/>
                    </a:cubicBezTo>
                    <a:cubicBezTo>
                      <a:pt x="61" y="12"/>
                      <a:pt x="62" y="9"/>
                      <a:pt x="61" y="8"/>
                    </a:cubicBezTo>
                    <a:cubicBezTo>
                      <a:pt x="61" y="6"/>
                      <a:pt x="62" y="5"/>
                      <a:pt x="62" y="3"/>
                    </a:cubicBezTo>
                    <a:cubicBezTo>
                      <a:pt x="62" y="2"/>
                      <a:pt x="61" y="2"/>
                      <a:pt x="60" y="2"/>
                    </a:cubicBezTo>
                    <a:cubicBezTo>
                      <a:pt x="59" y="2"/>
                      <a:pt x="58" y="1"/>
                      <a:pt x="59" y="1"/>
                    </a:cubicBezTo>
                    <a:cubicBezTo>
                      <a:pt x="60" y="0"/>
                      <a:pt x="59" y="0"/>
                      <a:pt x="58" y="0"/>
                    </a:cubicBezTo>
                    <a:cubicBezTo>
                      <a:pt x="58" y="0"/>
                      <a:pt x="57" y="0"/>
                      <a:pt x="56" y="1"/>
                    </a:cubicBezTo>
                    <a:cubicBezTo>
                      <a:pt x="55" y="1"/>
                      <a:pt x="54" y="1"/>
                      <a:pt x="54" y="1"/>
                    </a:cubicBezTo>
                    <a:cubicBezTo>
                      <a:pt x="53" y="0"/>
                      <a:pt x="52" y="0"/>
                      <a:pt x="50" y="0"/>
                    </a:cubicBezTo>
                    <a:cubicBezTo>
                      <a:pt x="49" y="0"/>
                      <a:pt x="49" y="0"/>
                      <a:pt x="49" y="2"/>
                    </a:cubicBezTo>
                    <a:cubicBezTo>
                      <a:pt x="50" y="3"/>
                      <a:pt x="49" y="7"/>
                      <a:pt x="50" y="9"/>
                    </a:cubicBezTo>
                    <a:cubicBezTo>
                      <a:pt x="51" y="12"/>
                      <a:pt x="50" y="11"/>
                      <a:pt x="50" y="11"/>
                    </a:cubicBezTo>
                    <a:cubicBezTo>
                      <a:pt x="45" y="10"/>
                      <a:pt x="41" y="16"/>
                      <a:pt x="40" y="18"/>
                    </a:cubicBezTo>
                    <a:cubicBezTo>
                      <a:pt x="39" y="20"/>
                      <a:pt x="38" y="19"/>
                      <a:pt x="38" y="20"/>
                    </a:cubicBezTo>
                    <a:cubicBezTo>
                      <a:pt x="37" y="20"/>
                      <a:pt x="36" y="21"/>
                      <a:pt x="35" y="20"/>
                    </a:cubicBezTo>
                    <a:cubicBezTo>
                      <a:pt x="34" y="19"/>
                      <a:pt x="33" y="19"/>
                      <a:pt x="31" y="20"/>
                    </a:cubicBezTo>
                    <a:cubicBezTo>
                      <a:pt x="30" y="21"/>
                      <a:pt x="29" y="20"/>
                      <a:pt x="28" y="19"/>
                    </a:cubicBezTo>
                    <a:cubicBezTo>
                      <a:pt x="26" y="18"/>
                      <a:pt x="27" y="16"/>
                      <a:pt x="27" y="15"/>
                    </a:cubicBezTo>
                    <a:cubicBezTo>
                      <a:pt x="27" y="14"/>
                      <a:pt x="29" y="15"/>
                      <a:pt x="29" y="13"/>
                    </a:cubicBezTo>
                    <a:cubicBezTo>
                      <a:pt x="28" y="12"/>
                      <a:pt x="27" y="13"/>
                      <a:pt x="27" y="14"/>
                    </a:cubicBezTo>
                    <a:cubicBezTo>
                      <a:pt x="26" y="15"/>
                      <a:pt x="27" y="15"/>
                      <a:pt x="26" y="16"/>
                    </a:cubicBezTo>
                    <a:cubicBezTo>
                      <a:pt x="25" y="17"/>
                      <a:pt x="26" y="18"/>
                      <a:pt x="26" y="19"/>
                    </a:cubicBezTo>
                    <a:cubicBezTo>
                      <a:pt x="26" y="20"/>
                      <a:pt x="23" y="20"/>
                      <a:pt x="23" y="20"/>
                    </a:cubicBezTo>
                    <a:cubicBezTo>
                      <a:pt x="22" y="21"/>
                      <a:pt x="22" y="21"/>
                      <a:pt x="21" y="20"/>
                    </a:cubicBezTo>
                    <a:cubicBezTo>
                      <a:pt x="21" y="19"/>
                      <a:pt x="21" y="20"/>
                      <a:pt x="19" y="20"/>
                    </a:cubicBezTo>
                    <a:cubicBezTo>
                      <a:pt x="18" y="21"/>
                      <a:pt x="15" y="21"/>
                      <a:pt x="14" y="2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70" name="Freeform 881">
                <a:extLst>
                  <a:ext uri="{FF2B5EF4-FFF2-40B4-BE49-F238E27FC236}">
                    <a16:creationId xmlns:a16="http://schemas.microsoft.com/office/drawing/2014/main" id="{AE1E9496-5B84-410F-818C-76FAE8A9D3B3}"/>
                  </a:ext>
                </a:extLst>
              </p:cNvPr>
              <p:cNvSpPr>
                <a:spLocks/>
              </p:cNvSpPr>
              <p:nvPr/>
            </p:nvSpPr>
            <p:spPr bwMode="auto">
              <a:xfrm>
                <a:off x="6600" y="2734"/>
                <a:ext cx="50" cy="47"/>
              </a:xfrm>
              <a:custGeom>
                <a:avLst/>
                <a:gdLst>
                  <a:gd name="T0" fmla="*/ 1 w 36"/>
                  <a:gd name="T1" fmla="*/ 2 h 34"/>
                  <a:gd name="T2" fmla="*/ 2 w 36"/>
                  <a:gd name="T3" fmla="*/ 3 h 34"/>
                  <a:gd name="T4" fmla="*/ 19 w 36"/>
                  <a:gd name="T5" fmla="*/ 13 h 34"/>
                  <a:gd name="T6" fmla="*/ 27 w 36"/>
                  <a:gd name="T7" fmla="*/ 20 h 34"/>
                  <a:gd name="T8" fmla="*/ 29 w 36"/>
                  <a:gd name="T9" fmla="*/ 27 h 34"/>
                  <a:gd name="T10" fmla="*/ 32 w 36"/>
                  <a:gd name="T11" fmla="*/ 33 h 34"/>
                  <a:gd name="T12" fmla="*/ 33 w 36"/>
                  <a:gd name="T13" fmla="*/ 33 h 34"/>
                  <a:gd name="T14" fmla="*/ 36 w 36"/>
                  <a:gd name="T15" fmla="*/ 27 h 34"/>
                  <a:gd name="T16" fmla="*/ 35 w 36"/>
                  <a:gd name="T17" fmla="*/ 25 h 34"/>
                  <a:gd name="T18" fmla="*/ 33 w 36"/>
                  <a:gd name="T19" fmla="*/ 22 h 34"/>
                  <a:gd name="T20" fmla="*/ 29 w 36"/>
                  <a:gd name="T21" fmla="*/ 20 h 34"/>
                  <a:gd name="T22" fmla="*/ 23 w 36"/>
                  <a:gd name="T23" fmla="*/ 13 h 34"/>
                  <a:gd name="T24" fmla="*/ 19 w 36"/>
                  <a:gd name="T25" fmla="*/ 10 h 34"/>
                  <a:gd name="T26" fmla="*/ 13 w 36"/>
                  <a:gd name="T27" fmla="*/ 7 h 34"/>
                  <a:gd name="T28" fmla="*/ 8 w 36"/>
                  <a:gd name="T29" fmla="*/ 5 h 34"/>
                  <a:gd name="T30" fmla="*/ 4 w 36"/>
                  <a:gd name="T31" fmla="*/ 1 h 34"/>
                  <a:gd name="T32" fmla="*/ 2 w 36"/>
                  <a:gd name="T33" fmla="*/ 1 h 34"/>
                  <a:gd name="T34" fmla="*/ 1 w 36"/>
                  <a:gd name="T35"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 h="34">
                    <a:moveTo>
                      <a:pt x="1" y="2"/>
                    </a:moveTo>
                    <a:cubicBezTo>
                      <a:pt x="0" y="3"/>
                      <a:pt x="2" y="3"/>
                      <a:pt x="2" y="3"/>
                    </a:cubicBezTo>
                    <a:cubicBezTo>
                      <a:pt x="4" y="4"/>
                      <a:pt x="17" y="12"/>
                      <a:pt x="19" y="13"/>
                    </a:cubicBezTo>
                    <a:cubicBezTo>
                      <a:pt x="20" y="13"/>
                      <a:pt x="24" y="17"/>
                      <a:pt x="27" y="20"/>
                    </a:cubicBezTo>
                    <a:cubicBezTo>
                      <a:pt x="29" y="23"/>
                      <a:pt x="29" y="25"/>
                      <a:pt x="29" y="27"/>
                    </a:cubicBezTo>
                    <a:cubicBezTo>
                      <a:pt x="29" y="29"/>
                      <a:pt x="31" y="31"/>
                      <a:pt x="32" y="33"/>
                    </a:cubicBezTo>
                    <a:cubicBezTo>
                      <a:pt x="32" y="34"/>
                      <a:pt x="33" y="33"/>
                      <a:pt x="33" y="33"/>
                    </a:cubicBezTo>
                    <a:cubicBezTo>
                      <a:pt x="34" y="32"/>
                      <a:pt x="35" y="29"/>
                      <a:pt x="36" y="27"/>
                    </a:cubicBezTo>
                    <a:cubicBezTo>
                      <a:pt x="36" y="26"/>
                      <a:pt x="36" y="25"/>
                      <a:pt x="35" y="25"/>
                    </a:cubicBezTo>
                    <a:cubicBezTo>
                      <a:pt x="35" y="24"/>
                      <a:pt x="34" y="24"/>
                      <a:pt x="33" y="22"/>
                    </a:cubicBezTo>
                    <a:cubicBezTo>
                      <a:pt x="32" y="19"/>
                      <a:pt x="31" y="20"/>
                      <a:pt x="29" y="20"/>
                    </a:cubicBezTo>
                    <a:cubicBezTo>
                      <a:pt x="28" y="19"/>
                      <a:pt x="24" y="13"/>
                      <a:pt x="23" y="13"/>
                    </a:cubicBezTo>
                    <a:cubicBezTo>
                      <a:pt x="22" y="12"/>
                      <a:pt x="20" y="10"/>
                      <a:pt x="19" y="10"/>
                    </a:cubicBezTo>
                    <a:cubicBezTo>
                      <a:pt x="17" y="10"/>
                      <a:pt x="14" y="7"/>
                      <a:pt x="13" y="7"/>
                    </a:cubicBezTo>
                    <a:cubicBezTo>
                      <a:pt x="12" y="6"/>
                      <a:pt x="10" y="5"/>
                      <a:pt x="8" y="5"/>
                    </a:cubicBezTo>
                    <a:cubicBezTo>
                      <a:pt x="7" y="5"/>
                      <a:pt x="6" y="3"/>
                      <a:pt x="4" y="1"/>
                    </a:cubicBezTo>
                    <a:cubicBezTo>
                      <a:pt x="1" y="0"/>
                      <a:pt x="1" y="0"/>
                      <a:pt x="2" y="1"/>
                    </a:cubicBezTo>
                    <a:cubicBezTo>
                      <a:pt x="2" y="2"/>
                      <a:pt x="3" y="1"/>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71" name="Freeform 882">
                <a:extLst>
                  <a:ext uri="{FF2B5EF4-FFF2-40B4-BE49-F238E27FC236}">
                    <a16:creationId xmlns:a16="http://schemas.microsoft.com/office/drawing/2014/main" id="{9DEE1D76-97D6-4C19-90A5-A9846B27235A}"/>
                  </a:ext>
                </a:extLst>
              </p:cNvPr>
              <p:cNvSpPr>
                <a:spLocks/>
              </p:cNvSpPr>
              <p:nvPr/>
            </p:nvSpPr>
            <p:spPr bwMode="auto">
              <a:xfrm>
                <a:off x="6625" y="2737"/>
                <a:ext cx="1" cy="3"/>
              </a:xfrm>
              <a:custGeom>
                <a:avLst/>
                <a:gdLst>
                  <a:gd name="T0" fmla="*/ 1 w 1"/>
                  <a:gd name="T1" fmla="*/ 2 h 2"/>
                  <a:gd name="T2" fmla="*/ 0 w 1"/>
                  <a:gd name="T3" fmla="*/ 0 h 2"/>
                  <a:gd name="T4" fmla="*/ 1 w 1"/>
                  <a:gd name="T5" fmla="*/ 2 h 2"/>
                </a:gdLst>
                <a:ahLst/>
                <a:cxnLst>
                  <a:cxn ang="0">
                    <a:pos x="T0" y="T1"/>
                  </a:cxn>
                  <a:cxn ang="0">
                    <a:pos x="T2" y="T3"/>
                  </a:cxn>
                  <a:cxn ang="0">
                    <a:pos x="T4" y="T5"/>
                  </a:cxn>
                </a:cxnLst>
                <a:rect l="0" t="0" r="r" b="b"/>
                <a:pathLst>
                  <a:path w="1" h="2">
                    <a:moveTo>
                      <a:pt x="1" y="2"/>
                    </a:moveTo>
                    <a:cubicBezTo>
                      <a:pt x="1" y="2"/>
                      <a:pt x="1" y="0"/>
                      <a:pt x="0" y="0"/>
                    </a:cubicBezTo>
                    <a:cubicBezTo>
                      <a:pt x="0" y="0"/>
                      <a:pt x="0" y="1"/>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72" name="Freeform 883">
                <a:extLst>
                  <a:ext uri="{FF2B5EF4-FFF2-40B4-BE49-F238E27FC236}">
                    <a16:creationId xmlns:a16="http://schemas.microsoft.com/office/drawing/2014/main" id="{68384D61-FC0E-4234-A91B-90243CDBC90A}"/>
                  </a:ext>
                </a:extLst>
              </p:cNvPr>
              <p:cNvSpPr>
                <a:spLocks/>
              </p:cNvSpPr>
              <p:nvPr/>
            </p:nvSpPr>
            <p:spPr bwMode="auto">
              <a:xfrm>
                <a:off x="6637" y="2744"/>
                <a:ext cx="4" cy="4"/>
              </a:xfrm>
              <a:custGeom>
                <a:avLst/>
                <a:gdLst>
                  <a:gd name="T0" fmla="*/ 1 w 3"/>
                  <a:gd name="T1" fmla="*/ 0 h 3"/>
                  <a:gd name="T2" fmla="*/ 1 w 3"/>
                  <a:gd name="T3" fmla="*/ 3 h 3"/>
                  <a:gd name="T4" fmla="*/ 1 w 3"/>
                  <a:gd name="T5" fmla="*/ 0 h 3"/>
                </a:gdLst>
                <a:ahLst/>
                <a:cxnLst>
                  <a:cxn ang="0">
                    <a:pos x="T0" y="T1"/>
                  </a:cxn>
                  <a:cxn ang="0">
                    <a:pos x="T2" y="T3"/>
                  </a:cxn>
                  <a:cxn ang="0">
                    <a:pos x="T4" y="T5"/>
                  </a:cxn>
                </a:cxnLst>
                <a:rect l="0" t="0" r="r" b="b"/>
                <a:pathLst>
                  <a:path w="3" h="3">
                    <a:moveTo>
                      <a:pt x="1" y="0"/>
                    </a:moveTo>
                    <a:cubicBezTo>
                      <a:pt x="0" y="1"/>
                      <a:pt x="1" y="2"/>
                      <a:pt x="1" y="3"/>
                    </a:cubicBezTo>
                    <a:cubicBezTo>
                      <a:pt x="1" y="3"/>
                      <a:pt x="3"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73" name="Freeform 884">
                <a:extLst>
                  <a:ext uri="{FF2B5EF4-FFF2-40B4-BE49-F238E27FC236}">
                    <a16:creationId xmlns:a16="http://schemas.microsoft.com/office/drawing/2014/main" id="{777D3A3B-D873-4EA3-A4FC-EDCCD60D3084}"/>
                  </a:ext>
                </a:extLst>
              </p:cNvPr>
              <p:cNvSpPr>
                <a:spLocks/>
              </p:cNvSpPr>
              <p:nvPr/>
            </p:nvSpPr>
            <p:spPr bwMode="auto">
              <a:xfrm>
                <a:off x="6679" y="2784"/>
                <a:ext cx="2" cy="12"/>
              </a:xfrm>
              <a:custGeom>
                <a:avLst/>
                <a:gdLst>
                  <a:gd name="T0" fmla="*/ 1 w 2"/>
                  <a:gd name="T1" fmla="*/ 1 h 9"/>
                  <a:gd name="T2" fmla="*/ 0 w 2"/>
                  <a:gd name="T3" fmla="*/ 5 h 9"/>
                  <a:gd name="T4" fmla="*/ 2 w 2"/>
                  <a:gd name="T5" fmla="*/ 6 h 9"/>
                  <a:gd name="T6" fmla="*/ 2 w 2"/>
                  <a:gd name="T7" fmla="*/ 2 h 9"/>
                  <a:gd name="T8" fmla="*/ 1 w 2"/>
                  <a:gd name="T9" fmla="*/ 1 h 9"/>
                </a:gdLst>
                <a:ahLst/>
                <a:cxnLst>
                  <a:cxn ang="0">
                    <a:pos x="T0" y="T1"/>
                  </a:cxn>
                  <a:cxn ang="0">
                    <a:pos x="T2" y="T3"/>
                  </a:cxn>
                  <a:cxn ang="0">
                    <a:pos x="T4" y="T5"/>
                  </a:cxn>
                  <a:cxn ang="0">
                    <a:pos x="T6" y="T7"/>
                  </a:cxn>
                  <a:cxn ang="0">
                    <a:pos x="T8" y="T9"/>
                  </a:cxn>
                </a:cxnLst>
                <a:rect l="0" t="0" r="r" b="b"/>
                <a:pathLst>
                  <a:path w="2" h="9">
                    <a:moveTo>
                      <a:pt x="1" y="1"/>
                    </a:moveTo>
                    <a:cubicBezTo>
                      <a:pt x="0" y="2"/>
                      <a:pt x="0" y="3"/>
                      <a:pt x="0" y="5"/>
                    </a:cubicBezTo>
                    <a:cubicBezTo>
                      <a:pt x="0" y="5"/>
                      <a:pt x="2" y="9"/>
                      <a:pt x="2" y="6"/>
                    </a:cubicBezTo>
                    <a:cubicBezTo>
                      <a:pt x="2" y="3"/>
                      <a:pt x="2" y="4"/>
                      <a:pt x="2" y="2"/>
                    </a:cubicBezTo>
                    <a:cubicBezTo>
                      <a:pt x="2" y="1"/>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74" name="Freeform 885">
                <a:extLst>
                  <a:ext uri="{FF2B5EF4-FFF2-40B4-BE49-F238E27FC236}">
                    <a16:creationId xmlns:a16="http://schemas.microsoft.com/office/drawing/2014/main" id="{F1E7CF2F-FE89-41DD-9AF7-FDF514388415}"/>
                  </a:ext>
                </a:extLst>
              </p:cNvPr>
              <p:cNvSpPr>
                <a:spLocks/>
              </p:cNvSpPr>
              <p:nvPr/>
            </p:nvSpPr>
            <p:spPr bwMode="auto">
              <a:xfrm>
                <a:off x="6681" y="2790"/>
                <a:ext cx="27" cy="32"/>
              </a:xfrm>
              <a:custGeom>
                <a:avLst/>
                <a:gdLst>
                  <a:gd name="T0" fmla="*/ 15 w 19"/>
                  <a:gd name="T1" fmla="*/ 14 h 23"/>
                  <a:gd name="T2" fmla="*/ 12 w 19"/>
                  <a:gd name="T3" fmla="*/ 12 h 23"/>
                  <a:gd name="T4" fmla="*/ 10 w 19"/>
                  <a:gd name="T5" fmla="*/ 10 h 23"/>
                  <a:gd name="T6" fmla="*/ 9 w 19"/>
                  <a:gd name="T7" fmla="*/ 9 h 23"/>
                  <a:gd name="T8" fmla="*/ 7 w 19"/>
                  <a:gd name="T9" fmla="*/ 5 h 23"/>
                  <a:gd name="T10" fmla="*/ 2 w 19"/>
                  <a:gd name="T11" fmla="*/ 2 h 23"/>
                  <a:gd name="T12" fmla="*/ 0 w 19"/>
                  <a:gd name="T13" fmla="*/ 3 h 23"/>
                  <a:gd name="T14" fmla="*/ 2 w 19"/>
                  <a:gd name="T15" fmla="*/ 11 h 23"/>
                  <a:gd name="T16" fmla="*/ 7 w 19"/>
                  <a:gd name="T17" fmla="*/ 18 h 23"/>
                  <a:gd name="T18" fmla="*/ 15 w 19"/>
                  <a:gd name="T19" fmla="*/ 23 h 23"/>
                  <a:gd name="T20" fmla="*/ 18 w 19"/>
                  <a:gd name="T21" fmla="*/ 21 h 23"/>
                  <a:gd name="T22" fmla="*/ 18 w 19"/>
                  <a:gd name="T23" fmla="*/ 18 h 23"/>
                  <a:gd name="T24" fmla="*/ 15 w 19"/>
                  <a:gd name="T25"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23">
                    <a:moveTo>
                      <a:pt x="15" y="14"/>
                    </a:moveTo>
                    <a:cubicBezTo>
                      <a:pt x="14" y="13"/>
                      <a:pt x="13" y="12"/>
                      <a:pt x="12" y="12"/>
                    </a:cubicBezTo>
                    <a:cubicBezTo>
                      <a:pt x="11" y="12"/>
                      <a:pt x="11" y="11"/>
                      <a:pt x="10" y="10"/>
                    </a:cubicBezTo>
                    <a:cubicBezTo>
                      <a:pt x="10" y="9"/>
                      <a:pt x="9" y="9"/>
                      <a:pt x="9" y="9"/>
                    </a:cubicBezTo>
                    <a:cubicBezTo>
                      <a:pt x="8" y="8"/>
                      <a:pt x="7" y="6"/>
                      <a:pt x="7" y="5"/>
                    </a:cubicBezTo>
                    <a:cubicBezTo>
                      <a:pt x="6" y="4"/>
                      <a:pt x="3" y="3"/>
                      <a:pt x="2" y="2"/>
                    </a:cubicBezTo>
                    <a:cubicBezTo>
                      <a:pt x="1" y="2"/>
                      <a:pt x="0" y="0"/>
                      <a:pt x="0" y="3"/>
                    </a:cubicBezTo>
                    <a:cubicBezTo>
                      <a:pt x="1" y="5"/>
                      <a:pt x="0" y="8"/>
                      <a:pt x="2" y="11"/>
                    </a:cubicBezTo>
                    <a:cubicBezTo>
                      <a:pt x="4" y="13"/>
                      <a:pt x="6" y="17"/>
                      <a:pt x="7" y="18"/>
                    </a:cubicBezTo>
                    <a:cubicBezTo>
                      <a:pt x="8" y="20"/>
                      <a:pt x="13" y="23"/>
                      <a:pt x="15" y="23"/>
                    </a:cubicBezTo>
                    <a:cubicBezTo>
                      <a:pt x="17" y="22"/>
                      <a:pt x="17" y="21"/>
                      <a:pt x="18" y="21"/>
                    </a:cubicBezTo>
                    <a:cubicBezTo>
                      <a:pt x="18" y="21"/>
                      <a:pt x="19" y="20"/>
                      <a:pt x="18" y="18"/>
                    </a:cubicBezTo>
                    <a:cubicBezTo>
                      <a:pt x="17" y="16"/>
                      <a:pt x="15" y="15"/>
                      <a:pt x="15" y="1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75" name="Freeform 886">
                <a:extLst>
                  <a:ext uri="{FF2B5EF4-FFF2-40B4-BE49-F238E27FC236}">
                    <a16:creationId xmlns:a16="http://schemas.microsoft.com/office/drawing/2014/main" id="{CCF40E1A-7726-4ACC-9D56-BC951E18C664}"/>
                  </a:ext>
                </a:extLst>
              </p:cNvPr>
              <p:cNvSpPr>
                <a:spLocks/>
              </p:cNvSpPr>
              <p:nvPr/>
            </p:nvSpPr>
            <p:spPr bwMode="auto">
              <a:xfrm>
                <a:off x="6587" y="2870"/>
                <a:ext cx="6" cy="6"/>
              </a:xfrm>
              <a:custGeom>
                <a:avLst/>
                <a:gdLst>
                  <a:gd name="T0" fmla="*/ 1 w 4"/>
                  <a:gd name="T1" fmla="*/ 2 h 4"/>
                  <a:gd name="T2" fmla="*/ 1 w 4"/>
                  <a:gd name="T3" fmla="*/ 3 h 4"/>
                  <a:gd name="T4" fmla="*/ 3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3"/>
                      <a:pt x="1" y="3"/>
                    </a:cubicBezTo>
                    <a:cubicBezTo>
                      <a:pt x="2" y="4"/>
                      <a:pt x="3" y="4"/>
                      <a:pt x="3" y="3"/>
                    </a:cubicBezTo>
                    <a:cubicBezTo>
                      <a:pt x="3" y="2"/>
                      <a:pt x="4" y="1"/>
                      <a:pt x="3" y="1"/>
                    </a:cubicBezTo>
                    <a:cubicBezTo>
                      <a:pt x="2" y="0"/>
                      <a:pt x="1"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76" name="Freeform 887">
                <a:extLst>
                  <a:ext uri="{FF2B5EF4-FFF2-40B4-BE49-F238E27FC236}">
                    <a16:creationId xmlns:a16="http://schemas.microsoft.com/office/drawing/2014/main" id="{7DEAB68A-4A2D-441D-B72A-69E227FFF28E}"/>
                  </a:ext>
                </a:extLst>
              </p:cNvPr>
              <p:cNvSpPr>
                <a:spLocks/>
              </p:cNvSpPr>
              <p:nvPr/>
            </p:nvSpPr>
            <p:spPr bwMode="auto">
              <a:xfrm>
                <a:off x="6593" y="2873"/>
                <a:ext cx="11" cy="8"/>
              </a:xfrm>
              <a:custGeom>
                <a:avLst/>
                <a:gdLst>
                  <a:gd name="T0" fmla="*/ 1 w 8"/>
                  <a:gd name="T1" fmla="*/ 4 h 6"/>
                  <a:gd name="T2" fmla="*/ 2 w 8"/>
                  <a:gd name="T3" fmla="*/ 5 h 6"/>
                  <a:gd name="T4" fmla="*/ 7 w 8"/>
                  <a:gd name="T5" fmla="*/ 5 h 6"/>
                  <a:gd name="T6" fmla="*/ 7 w 8"/>
                  <a:gd name="T7" fmla="*/ 3 h 6"/>
                  <a:gd name="T8" fmla="*/ 5 w 8"/>
                  <a:gd name="T9" fmla="*/ 2 h 6"/>
                  <a:gd name="T10" fmla="*/ 3 w 8"/>
                  <a:gd name="T11" fmla="*/ 1 h 6"/>
                  <a:gd name="T12" fmla="*/ 1 w 8"/>
                  <a:gd name="T13" fmla="*/ 1 h 6"/>
                  <a:gd name="T14" fmla="*/ 1 w 8"/>
                  <a:gd name="T15" fmla="*/ 4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6">
                    <a:moveTo>
                      <a:pt x="1" y="4"/>
                    </a:moveTo>
                    <a:cubicBezTo>
                      <a:pt x="1" y="4"/>
                      <a:pt x="0" y="4"/>
                      <a:pt x="2" y="5"/>
                    </a:cubicBezTo>
                    <a:cubicBezTo>
                      <a:pt x="4" y="5"/>
                      <a:pt x="7" y="6"/>
                      <a:pt x="7" y="5"/>
                    </a:cubicBezTo>
                    <a:cubicBezTo>
                      <a:pt x="8" y="4"/>
                      <a:pt x="7" y="4"/>
                      <a:pt x="7" y="3"/>
                    </a:cubicBezTo>
                    <a:cubicBezTo>
                      <a:pt x="8" y="2"/>
                      <a:pt x="6" y="1"/>
                      <a:pt x="5" y="2"/>
                    </a:cubicBezTo>
                    <a:cubicBezTo>
                      <a:pt x="4" y="2"/>
                      <a:pt x="3" y="1"/>
                      <a:pt x="3" y="1"/>
                    </a:cubicBezTo>
                    <a:cubicBezTo>
                      <a:pt x="3" y="0"/>
                      <a:pt x="0" y="0"/>
                      <a:pt x="1" y="1"/>
                    </a:cubicBezTo>
                    <a:cubicBezTo>
                      <a:pt x="2" y="2"/>
                      <a:pt x="2" y="4"/>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77" name="Freeform 888">
                <a:extLst>
                  <a:ext uri="{FF2B5EF4-FFF2-40B4-BE49-F238E27FC236}">
                    <a16:creationId xmlns:a16="http://schemas.microsoft.com/office/drawing/2014/main" id="{749208DE-9156-467A-9237-1894B1E6BADC}"/>
                  </a:ext>
                </a:extLst>
              </p:cNvPr>
              <p:cNvSpPr>
                <a:spLocks/>
              </p:cNvSpPr>
              <p:nvPr/>
            </p:nvSpPr>
            <p:spPr bwMode="auto">
              <a:xfrm>
                <a:off x="6605" y="2854"/>
                <a:ext cx="3" cy="8"/>
              </a:xfrm>
              <a:custGeom>
                <a:avLst/>
                <a:gdLst>
                  <a:gd name="T0" fmla="*/ 2 w 2"/>
                  <a:gd name="T1" fmla="*/ 2 h 6"/>
                  <a:gd name="T2" fmla="*/ 1 w 2"/>
                  <a:gd name="T3" fmla="*/ 1 h 6"/>
                  <a:gd name="T4" fmla="*/ 1 w 2"/>
                  <a:gd name="T5" fmla="*/ 4 h 6"/>
                  <a:gd name="T6" fmla="*/ 2 w 2"/>
                  <a:gd name="T7" fmla="*/ 2 h 6"/>
                </a:gdLst>
                <a:ahLst/>
                <a:cxnLst>
                  <a:cxn ang="0">
                    <a:pos x="T0" y="T1"/>
                  </a:cxn>
                  <a:cxn ang="0">
                    <a:pos x="T2" y="T3"/>
                  </a:cxn>
                  <a:cxn ang="0">
                    <a:pos x="T4" y="T5"/>
                  </a:cxn>
                  <a:cxn ang="0">
                    <a:pos x="T6" y="T7"/>
                  </a:cxn>
                </a:cxnLst>
                <a:rect l="0" t="0" r="r" b="b"/>
                <a:pathLst>
                  <a:path w="2" h="6">
                    <a:moveTo>
                      <a:pt x="2" y="2"/>
                    </a:moveTo>
                    <a:cubicBezTo>
                      <a:pt x="2" y="1"/>
                      <a:pt x="2" y="0"/>
                      <a:pt x="1" y="1"/>
                    </a:cubicBezTo>
                    <a:cubicBezTo>
                      <a:pt x="0" y="2"/>
                      <a:pt x="1" y="4"/>
                      <a:pt x="1" y="4"/>
                    </a:cubicBezTo>
                    <a:cubicBezTo>
                      <a:pt x="2" y="6"/>
                      <a:pt x="2" y="3"/>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78" name="Freeform 889">
                <a:extLst>
                  <a:ext uri="{FF2B5EF4-FFF2-40B4-BE49-F238E27FC236}">
                    <a16:creationId xmlns:a16="http://schemas.microsoft.com/office/drawing/2014/main" id="{44172979-6858-4929-B077-53D62968F441}"/>
                  </a:ext>
                </a:extLst>
              </p:cNvPr>
              <p:cNvSpPr>
                <a:spLocks/>
              </p:cNvSpPr>
              <p:nvPr/>
            </p:nvSpPr>
            <p:spPr bwMode="auto">
              <a:xfrm>
                <a:off x="6601" y="2880"/>
                <a:ext cx="11" cy="11"/>
              </a:xfrm>
              <a:custGeom>
                <a:avLst/>
                <a:gdLst>
                  <a:gd name="T0" fmla="*/ 5 w 8"/>
                  <a:gd name="T1" fmla="*/ 5 h 8"/>
                  <a:gd name="T2" fmla="*/ 4 w 8"/>
                  <a:gd name="T3" fmla="*/ 5 h 8"/>
                  <a:gd name="T4" fmla="*/ 2 w 8"/>
                  <a:gd name="T5" fmla="*/ 2 h 8"/>
                  <a:gd name="T6" fmla="*/ 2 w 8"/>
                  <a:gd name="T7" fmla="*/ 5 h 8"/>
                  <a:gd name="T8" fmla="*/ 6 w 8"/>
                  <a:gd name="T9" fmla="*/ 7 h 8"/>
                  <a:gd name="T10" fmla="*/ 8 w 8"/>
                  <a:gd name="T11" fmla="*/ 5 h 8"/>
                  <a:gd name="T12" fmla="*/ 5 w 8"/>
                  <a:gd name="T13" fmla="*/ 5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5" y="5"/>
                    </a:moveTo>
                    <a:cubicBezTo>
                      <a:pt x="5" y="6"/>
                      <a:pt x="4" y="5"/>
                      <a:pt x="4" y="5"/>
                    </a:cubicBezTo>
                    <a:cubicBezTo>
                      <a:pt x="4" y="5"/>
                      <a:pt x="4" y="4"/>
                      <a:pt x="2" y="2"/>
                    </a:cubicBezTo>
                    <a:cubicBezTo>
                      <a:pt x="0" y="0"/>
                      <a:pt x="1" y="3"/>
                      <a:pt x="2" y="5"/>
                    </a:cubicBezTo>
                    <a:cubicBezTo>
                      <a:pt x="2" y="7"/>
                      <a:pt x="4" y="7"/>
                      <a:pt x="6" y="7"/>
                    </a:cubicBezTo>
                    <a:cubicBezTo>
                      <a:pt x="7" y="8"/>
                      <a:pt x="7" y="7"/>
                      <a:pt x="8" y="5"/>
                    </a:cubicBezTo>
                    <a:cubicBezTo>
                      <a:pt x="8" y="3"/>
                      <a:pt x="6" y="4"/>
                      <a:pt x="5"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79" name="Freeform 890">
                <a:extLst>
                  <a:ext uri="{FF2B5EF4-FFF2-40B4-BE49-F238E27FC236}">
                    <a16:creationId xmlns:a16="http://schemas.microsoft.com/office/drawing/2014/main" id="{98531B73-84D6-4815-8EA6-98E1D380C715}"/>
                  </a:ext>
                </a:extLst>
              </p:cNvPr>
              <p:cNvSpPr>
                <a:spLocks/>
              </p:cNvSpPr>
              <p:nvPr/>
            </p:nvSpPr>
            <p:spPr bwMode="auto">
              <a:xfrm>
                <a:off x="6634" y="2865"/>
                <a:ext cx="14" cy="6"/>
              </a:xfrm>
              <a:custGeom>
                <a:avLst/>
                <a:gdLst>
                  <a:gd name="T0" fmla="*/ 9 w 10"/>
                  <a:gd name="T1" fmla="*/ 3 h 5"/>
                  <a:gd name="T2" fmla="*/ 4 w 10"/>
                  <a:gd name="T3" fmla="*/ 0 h 5"/>
                  <a:gd name="T4" fmla="*/ 4 w 10"/>
                  <a:gd name="T5" fmla="*/ 2 h 5"/>
                  <a:gd name="T6" fmla="*/ 7 w 10"/>
                  <a:gd name="T7" fmla="*/ 4 h 5"/>
                  <a:gd name="T8" fmla="*/ 9 w 10"/>
                  <a:gd name="T9" fmla="*/ 3 h 5"/>
                </a:gdLst>
                <a:ahLst/>
                <a:cxnLst>
                  <a:cxn ang="0">
                    <a:pos x="T0" y="T1"/>
                  </a:cxn>
                  <a:cxn ang="0">
                    <a:pos x="T2" y="T3"/>
                  </a:cxn>
                  <a:cxn ang="0">
                    <a:pos x="T4" y="T5"/>
                  </a:cxn>
                  <a:cxn ang="0">
                    <a:pos x="T6" y="T7"/>
                  </a:cxn>
                  <a:cxn ang="0">
                    <a:pos x="T8" y="T9"/>
                  </a:cxn>
                </a:cxnLst>
                <a:rect l="0" t="0" r="r" b="b"/>
                <a:pathLst>
                  <a:path w="10" h="5">
                    <a:moveTo>
                      <a:pt x="9" y="3"/>
                    </a:moveTo>
                    <a:cubicBezTo>
                      <a:pt x="7" y="2"/>
                      <a:pt x="6" y="0"/>
                      <a:pt x="4" y="0"/>
                    </a:cubicBezTo>
                    <a:cubicBezTo>
                      <a:pt x="2" y="1"/>
                      <a:pt x="0" y="1"/>
                      <a:pt x="4" y="2"/>
                    </a:cubicBezTo>
                    <a:cubicBezTo>
                      <a:pt x="4" y="3"/>
                      <a:pt x="5" y="5"/>
                      <a:pt x="7" y="4"/>
                    </a:cubicBezTo>
                    <a:cubicBezTo>
                      <a:pt x="8" y="4"/>
                      <a:pt x="10" y="4"/>
                      <a:pt x="9"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80" name="Freeform 891">
                <a:extLst>
                  <a:ext uri="{FF2B5EF4-FFF2-40B4-BE49-F238E27FC236}">
                    <a16:creationId xmlns:a16="http://schemas.microsoft.com/office/drawing/2014/main" id="{AC1993D1-DA37-4BFA-8375-86FB87FD62E1}"/>
                  </a:ext>
                </a:extLst>
              </p:cNvPr>
              <p:cNvSpPr>
                <a:spLocks/>
              </p:cNvSpPr>
              <p:nvPr/>
            </p:nvSpPr>
            <p:spPr bwMode="auto">
              <a:xfrm>
                <a:off x="6648" y="2911"/>
                <a:ext cx="14" cy="8"/>
              </a:xfrm>
              <a:custGeom>
                <a:avLst/>
                <a:gdLst>
                  <a:gd name="T0" fmla="*/ 8 w 10"/>
                  <a:gd name="T1" fmla="*/ 5 h 6"/>
                  <a:gd name="T2" fmla="*/ 6 w 10"/>
                  <a:gd name="T3" fmla="*/ 6 h 6"/>
                  <a:gd name="T4" fmla="*/ 9 w 10"/>
                  <a:gd name="T5" fmla="*/ 6 h 6"/>
                  <a:gd name="T6" fmla="*/ 8 w 10"/>
                  <a:gd name="T7" fmla="*/ 5 h 6"/>
                </a:gdLst>
                <a:ahLst/>
                <a:cxnLst>
                  <a:cxn ang="0">
                    <a:pos x="T0" y="T1"/>
                  </a:cxn>
                  <a:cxn ang="0">
                    <a:pos x="T2" y="T3"/>
                  </a:cxn>
                  <a:cxn ang="0">
                    <a:pos x="T4" y="T5"/>
                  </a:cxn>
                  <a:cxn ang="0">
                    <a:pos x="T6" y="T7"/>
                  </a:cxn>
                </a:cxnLst>
                <a:rect l="0" t="0" r="r" b="b"/>
                <a:pathLst>
                  <a:path w="10" h="6">
                    <a:moveTo>
                      <a:pt x="8" y="5"/>
                    </a:moveTo>
                    <a:cubicBezTo>
                      <a:pt x="7" y="4"/>
                      <a:pt x="0" y="0"/>
                      <a:pt x="6" y="6"/>
                    </a:cubicBezTo>
                    <a:cubicBezTo>
                      <a:pt x="6" y="6"/>
                      <a:pt x="7" y="6"/>
                      <a:pt x="9" y="6"/>
                    </a:cubicBezTo>
                    <a:cubicBezTo>
                      <a:pt x="10" y="6"/>
                      <a:pt x="10" y="5"/>
                      <a:pt x="8"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81" name="Freeform 892">
                <a:extLst>
                  <a:ext uri="{FF2B5EF4-FFF2-40B4-BE49-F238E27FC236}">
                    <a16:creationId xmlns:a16="http://schemas.microsoft.com/office/drawing/2014/main" id="{C40ADFBA-534C-4429-8539-7C9338D581D3}"/>
                  </a:ext>
                </a:extLst>
              </p:cNvPr>
              <p:cNvSpPr>
                <a:spLocks/>
              </p:cNvSpPr>
              <p:nvPr/>
            </p:nvSpPr>
            <p:spPr bwMode="auto">
              <a:xfrm>
                <a:off x="6668" y="2913"/>
                <a:ext cx="6" cy="2"/>
              </a:xfrm>
              <a:custGeom>
                <a:avLst/>
                <a:gdLst>
                  <a:gd name="T0" fmla="*/ 2 w 5"/>
                  <a:gd name="T1" fmla="*/ 2 h 2"/>
                  <a:gd name="T2" fmla="*/ 4 w 5"/>
                  <a:gd name="T3" fmla="*/ 2 h 2"/>
                  <a:gd name="T4" fmla="*/ 2 w 5"/>
                  <a:gd name="T5" fmla="*/ 2 h 2"/>
                </a:gdLst>
                <a:ahLst/>
                <a:cxnLst>
                  <a:cxn ang="0">
                    <a:pos x="T0" y="T1"/>
                  </a:cxn>
                  <a:cxn ang="0">
                    <a:pos x="T2" y="T3"/>
                  </a:cxn>
                  <a:cxn ang="0">
                    <a:pos x="T4" y="T5"/>
                  </a:cxn>
                </a:cxnLst>
                <a:rect l="0" t="0" r="r" b="b"/>
                <a:pathLst>
                  <a:path w="5" h="2">
                    <a:moveTo>
                      <a:pt x="2" y="2"/>
                    </a:moveTo>
                    <a:cubicBezTo>
                      <a:pt x="2" y="2"/>
                      <a:pt x="5" y="2"/>
                      <a:pt x="4" y="2"/>
                    </a:cubicBezTo>
                    <a:cubicBezTo>
                      <a:pt x="3" y="1"/>
                      <a:pt x="0" y="0"/>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82" name="Freeform 893">
                <a:extLst>
                  <a:ext uri="{FF2B5EF4-FFF2-40B4-BE49-F238E27FC236}">
                    <a16:creationId xmlns:a16="http://schemas.microsoft.com/office/drawing/2014/main" id="{FEE24DD9-FA16-4359-A35E-41B59659FB86}"/>
                  </a:ext>
                </a:extLst>
              </p:cNvPr>
              <p:cNvSpPr>
                <a:spLocks/>
              </p:cNvSpPr>
              <p:nvPr/>
            </p:nvSpPr>
            <p:spPr bwMode="auto">
              <a:xfrm>
                <a:off x="6633" y="2897"/>
                <a:ext cx="10" cy="5"/>
              </a:xfrm>
              <a:custGeom>
                <a:avLst/>
                <a:gdLst>
                  <a:gd name="T0" fmla="*/ 6 w 7"/>
                  <a:gd name="T1" fmla="*/ 2 h 3"/>
                  <a:gd name="T2" fmla="*/ 7 w 7"/>
                  <a:gd name="T3" fmla="*/ 2 h 3"/>
                  <a:gd name="T4" fmla="*/ 6 w 7"/>
                  <a:gd name="T5" fmla="*/ 2 h 3"/>
                </a:gdLst>
                <a:ahLst/>
                <a:cxnLst>
                  <a:cxn ang="0">
                    <a:pos x="T0" y="T1"/>
                  </a:cxn>
                  <a:cxn ang="0">
                    <a:pos x="T2" y="T3"/>
                  </a:cxn>
                  <a:cxn ang="0">
                    <a:pos x="T4" y="T5"/>
                  </a:cxn>
                </a:cxnLst>
                <a:rect l="0" t="0" r="r" b="b"/>
                <a:pathLst>
                  <a:path w="7" h="3">
                    <a:moveTo>
                      <a:pt x="6" y="2"/>
                    </a:moveTo>
                    <a:cubicBezTo>
                      <a:pt x="6" y="2"/>
                      <a:pt x="7" y="3"/>
                      <a:pt x="7" y="2"/>
                    </a:cubicBezTo>
                    <a:cubicBezTo>
                      <a:pt x="7" y="2"/>
                      <a:pt x="0" y="0"/>
                      <a:pt x="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83" name="Freeform 894">
                <a:extLst>
                  <a:ext uri="{FF2B5EF4-FFF2-40B4-BE49-F238E27FC236}">
                    <a16:creationId xmlns:a16="http://schemas.microsoft.com/office/drawing/2014/main" id="{84E25DA6-E216-43C6-9DCD-1C1FBE2948A9}"/>
                  </a:ext>
                </a:extLst>
              </p:cNvPr>
              <p:cNvSpPr>
                <a:spLocks/>
              </p:cNvSpPr>
              <p:nvPr/>
            </p:nvSpPr>
            <p:spPr bwMode="auto">
              <a:xfrm>
                <a:off x="6575" y="2709"/>
                <a:ext cx="4" cy="6"/>
              </a:xfrm>
              <a:custGeom>
                <a:avLst/>
                <a:gdLst>
                  <a:gd name="T0" fmla="*/ 3 w 3"/>
                  <a:gd name="T1" fmla="*/ 4 h 4"/>
                  <a:gd name="T2" fmla="*/ 2 w 3"/>
                  <a:gd name="T3" fmla="*/ 0 h 4"/>
                  <a:gd name="T4" fmla="*/ 3 w 3"/>
                  <a:gd name="T5" fmla="*/ 4 h 4"/>
                </a:gdLst>
                <a:ahLst/>
                <a:cxnLst>
                  <a:cxn ang="0">
                    <a:pos x="T0" y="T1"/>
                  </a:cxn>
                  <a:cxn ang="0">
                    <a:pos x="T2" y="T3"/>
                  </a:cxn>
                  <a:cxn ang="0">
                    <a:pos x="T4" y="T5"/>
                  </a:cxn>
                </a:cxnLst>
                <a:rect l="0" t="0" r="r" b="b"/>
                <a:pathLst>
                  <a:path w="3" h="4">
                    <a:moveTo>
                      <a:pt x="3" y="4"/>
                    </a:moveTo>
                    <a:cubicBezTo>
                      <a:pt x="3" y="4"/>
                      <a:pt x="3" y="1"/>
                      <a:pt x="2" y="0"/>
                    </a:cubicBezTo>
                    <a:cubicBezTo>
                      <a:pt x="0" y="0"/>
                      <a:pt x="2" y="2"/>
                      <a:pt x="3"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84" name="Freeform 895">
                <a:extLst>
                  <a:ext uri="{FF2B5EF4-FFF2-40B4-BE49-F238E27FC236}">
                    <a16:creationId xmlns:a16="http://schemas.microsoft.com/office/drawing/2014/main" id="{76773514-1888-40C9-A85D-4B58DE78F591}"/>
                  </a:ext>
                </a:extLst>
              </p:cNvPr>
              <p:cNvSpPr>
                <a:spLocks/>
              </p:cNvSpPr>
              <p:nvPr/>
            </p:nvSpPr>
            <p:spPr bwMode="auto">
              <a:xfrm>
                <a:off x="6398" y="2736"/>
                <a:ext cx="206" cy="166"/>
              </a:xfrm>
              <a:custGeom>
                <a:avLst/>
                <a:gdLst>
                  <a:gd name="T0" fmla="*/ 147 w 149"/>
                  <a:gd name="T1" fmla="*/ 114 h 121"/>
                  <a:gd name="T2" fmla="*/ 142 w 149"/>
                  <a:gd name="T3" fmla="*/ 113 h 121"/>
                  <a:gd name="T4" fmla="*/ 133 w 149"/>
                  <a:gd name="T5" fmla="*/ 109 h 121"/>
                  <a:gd name="T6" fmla="*/ 135 w 149"/>
                  <a:gd name="T7" fmla="*/ 105 h 121"/>
                  <a:gd name="T8" fmla="*/ 124 w 149"/>
                  <a:gd name="T9" fmla="*/ 102 h 121"/>
                  <a:gd name="T10" fmla="*/ 119 w 149"/>
                  <a:gd name="T11" fmla="*/ 96 h 121"/>
                  <a:gd name="T12" fmla="*/ 109 w 149"/>
                  <a:gd name="T13" fmla="*/ 89 h 121"/>
                  <a:gd name="T14" fmla="*/ 101 w 149"/>
                  <a:gd name="T15" fmla="*/ 78 h 121"/>
                  <a:gd name="T16" fmla="*/ 90 w 149"/>
                  <a:gd name="T17" fmla="*/ 63 h 121"/>
                  <a:gd name="T18" fmla="*/ 104 w 149"/>
                  <a:gd name="T19" fmla="*/ 58 h 121"/>
                  <a:gd name="T20" fmla="*/ 95 w 149"/>
                  <a:gd name="T21" fmla="*/ 50 h 121"/>
                  <a:gd name="T22" fmla="*/ 74 w 149"/>
                  <a:gd name="T23" fmla="*/ 43 h 121"/>
                  <a:gd name="T24" fmla="*/ 67 w 149"/>
                  <a:gd name="T25" fmla="*/ 28 h 121"/>
                  <a:gd name="T26" fmla="*/ 63 w 149"/>
                  <a:gd name="T27" fmla="*/ 25 h 121"/>
                  <a:gd name="T28" fmla="*/ 52 w 149"/>
                  <a:gd name="T29" fmla="*/ 18 h 121"/>
                  <a:gd name="T30" fmla="*/ 3 w 149"/>
                  <a:gd name="T31" fmla="*/ 0 h 121"/>
                  <a:gd name="T32" fmla="*/ 0 w 149"/>
                  <a:gd name="T33" fmla="*/ 54 h 121"/>
                  <a:gd name="T34" fmla="*/ 2 w 149"/>
                  <a:gd name="T35" fmla="*/ 66 h 121"/>
                  <a:gd name="T36" fmla="*/ 15 w 149"/>
                  <a:gd name="T37" fmla="*/ 98 h 121"/>
                  <a:gd name="T38" fmla="*/ 30 w 149"/>
                  <a:gd name="T39" fmla="*/ 98 h 121"/>
                  <a:gd name="T40" fmla="*/ 37 w 149"/>
                  <a:gd name="T41" fmla="*/ 91 h 121"/>
                  <a:gd name="T42" fmla="*/ 29 w 149"/>
                  <a:gd name="T43" fmla="*/ 86 h 121"/>
                  <a:gd name="T44" fmla="*/ 30 w 149"/>
                  <a:gd name="T45" fmla="*/ 85 h 121"/>
                  <a:gd name="T46" fmla="*/ 39 w 149"/>
                  <a:gd name="T47" fmla="*/ 83 h 121"/>
                  <a:gd name="T48" fmla="*/ 39 w 149"/>
                  <a:gd name="T49" fmla="*/ 80 h 121"/>
                  <a:gd name="T50" fmla="*/ 44 w 149"/>
                  <a:gd name="T51" fmla="*/ 80 h 121"/>
                  <a:gd name="T52" fmla="*/ 44 w 149"/>
                  <a:gd name="T53" fmla="*/ 75 h 121"/>
                  <a:gd name="T54" fmla="*/ 51 w 149"/>
                  <a:gd name="T55" fmla="*/ 75 h 121"/>
                  <a:gd name="T56" fmla="*/ 53 w 149"/>
                  <a:gd name="T57" fmla="*/ 75 h 121"/>
                  <a:gd name="T58" fmla="*/ 55 w 149"/>
                  <a:gd name="T59" fmla="*/ 74 h 121"/>
                  <a:gd name="T60" fmla="*/ 59 w 149"/>
                  <a:gd name="T61" fmla="*/ 75 h 121"/>
                  <a:gd name="T62" fmla="*/ 71 w 149"/>
                  <a:gd name="T63" fmla="*/ 79 h 121"/>
                  <a:gd name="T64" fmla="*/ 77 w 149"/>
                  <a:gd name="T65" fmla="*/ 81 h 121"/>
                  <a:gd name="T66" fmla="*/ 80 w 149"/>
                  <a:gd name="T67" fmla="*/ 86 h 121"/>
                  <a:gd name="T68" fmla="*/ 85 w 149"/>
                  <a:gd name="T69" fmla="*/ 94 h 121"/>
                  <a:gd name="T70" fmla="*/ 91 w 149"/>
                  <a:gd name="T71" fmla="*/ 99 h 121"/>
                  <a:gd name="T72" fmla="*/ 99 w 149"/>
                  <a:gd name="T73" fmla="*/ 109 h 121"/>
                  <a:gd name="T74" fmla="*/ 109 w 149"/>
                  <a:gd name="T75" fmla="*/ 112 h 121"/>
                  <a:gd name="T76" fmla="*/ 116 w 149"/>
                  <a:gd name="T77" fmla="*/ 113 h 121"/>
                  <a:gd name="T78" fmla="*/ 137 w 149"/>
                  <a:gd name="T79" fmla="*/ 119 h 121"/>
                  <a:gd name="T80" fmla="*/ 142 w 149"/>
                  <a:gd name="T81" fmla="*/ 11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9" h="121">
                    <a:moveTo>
                      <a:pt x="143" y="115"/>
                    </a:moveTo>
                    <a:cubicBezTo>
                      <a:pt x="144" y="115"/>
                      <a:pt x="145" y="115"/>
                      <a:pt x="147" y="114"/>
                    </a:cubicBezTo>
                    <a:cubicBezTo>
                      <a:pt x="149" y="113"/>
                      <a:pt x="146" y="114"/>
                      <a:pt x="145" y="113"/>
                    </a:cubicBezTo>
                    <a:cubicBezTo>
                      <a:pt x="144" y="113"/>
                      <a:pt x="143" y="113"/>
                      <a:pt x="142" y="113"/>
                    </a:cubicBezTo>
                    <a:cubicBezTo>
                      <a:pt x="142" y="113"/>
                      <a:pt x="140" y="113"/>
                      <a:pt x="139" y="112"/>
                    </a:cubicBezTo>
                    <a:cubicBezTo>
                      <a:pt x="138" y="112"/>
                      <a:pt x="136" y="110"/>
                      <a:pt x="133" y="109"/>
                    </a:cubicBezTo>
                    <a:cubicBezTo>
                      <a:pt x="130" y="107"/>
                      <a:pt x="132" y="106"/>
                      <a:pt x="133" y="106"/>
                    </a:cubicBezTo>
                    <a:cubicBezTo>
                      <a:pt x="135" y="106"/>
                      <a:pt x="134" y="107"/>
                      <a:pt x="135" y="105"/>
                    </a:cubicBezTo>
                    <a:cubicBezTo>
                      <a:pt x="135" y="104"/>
                      <a:pt x="134" y="105"/>
                      <a:pt x="132" y="104"/>
                    </a:cubicBezTo>
                    <a:cubicBezTo>
                      <a:pt x="129" y="104"/>
                      <a:pt x="125" y="103"/>
                      <a:pt x="124" y="102"/>
                    </a:cubicBezTo>
                    <a:cubicBezTo>
                      <a:pt x="123" y="101"/>
                      <a:pt x="123" y="100"/>
                      <a:pt x="125" y="97"/>
                    </a:cubicBezTo>
                    <a:cubicBezTo>
                      <a:pt x="126" y="93"/>
                      <a:pt x="122" y="96"/>
                      <a:pt x="119" y="96"/>
                    </a:cubicBezTo>
                    <a:cubicBezTo>
                      <a:pt x="117" y="97"/>
                      <a:pt x="115" y="96"/>
                      <a:pt x="114" y="94"/>
                    </a:cubicBezTo>
                    <a:cubicBezTo>
                      <a:pt x="113" y="93"/>
                      <a:pt x="110" y="90"/>
                      <a:pt x="109" y="89"/>
                    </a:cubicBezTo>
                    <a:cubicBezTo>
                      <a:pt x="108" y="88"/>
                      <a:pt x="109" y="87"/>
                      <a:pt x="108" y="85"/>
                    </a:cubicBezTo>
                    <a:cubicBezTo>
                      <a:pt x="108" y="82"/>
                      <a:pt x="103" y="79"/>
                      <a:pt x="101" y="78"/>
                    </a:cubicBezTo>
                    <a:cubicBezTo>
                      <a:pt x="100" y="76"/>
                      <a:pt x="96" y="74"/>
                      <a:pt x="95" y="73"/>
                    </a:cubicBezTo>
                    <a:cubicBezTo>
                      <a:pt x="93" y="71"/>
                      <a:pt x="91" y="66"/>
                      <a:pt x="90" y="63"/>
                    </a:cubicBezTo>
                    <a:cubicBezTo>
                      <a:pt x="89" y="60"/>
                      <a:pt x="96" y="61"/>
                      <a:pt x="100" y="61"/>
                    </a:cubicBezTo>
                    <a:cubicBezTo>
                      <a:pt x="104" y="61"/>
                      <a:pt x="103" y="60"/>
                      <a:pt x="104" y="58"/>
                    </a:cubicBezTo>
                    <a:cubicBezTo>
                      <a:pt x="104" y="55"/>
                      <a:pt x="101" y="54"/>
                      <a:pt x="100" y="52"/>
                    </a:cubicBezTo>
                    <a:cubicBezTo>
                      <a:pt x="98" y="50"/>
                      <a:pt x="96" y="50"/>
                      <a:pt x="95" y="50"/>
                    </a:cubicBezTo>
                    <a:cubicBezTo>
                      <a:pt x="94" y="50"/>
                      <a:pt x="95" y="51"/>
                      <a:pt x="89" y="48"/>
                    </a:cubicBezTo>
                    <a:cubicBezTo>
                      <a:pt x="82" y="44"/>
                      <a:pt x="77" y="43"/>
                      <a:pt x="74" y="43"/>
                    </a:cubicBezTo>
                    <a:cubicBezTo>
                      <a:pt x="71" y="42"/>
                      <a:pt x="71" y="41"/>
                      <a:pt x="73" y="38"/>
                    </a:cubicBezTo>
                    <a:cubicBezTo>
                      <a:pt x="75" y="35"/>
                      <a:pt x="68" y="28"/>
                      <a:pt x="67" y="28"/>
                    </a:cubicBezTo>
                    <a:cubicBezTo>
                      <a:pt x="66" y="27"/>
                      <a:pt x="66" y="26"/>
                      <a:pt x="65" y="26"/>
                    </a:cubicBezTo>
                    <a:cubicBezTo>
                      <a:pt x="64" y="26"/>
                      <a:pt x="63" y="25"/>
                      <a:pt x="63" y="25"/>
                    </a:cubicBezTo>
                    <a:cubicBezTo>
                      <a:pt x="57" y="23"/>
                      <a:pt x="55" y="19"/>
                      <a:pt x="54" y="18"/>
                    </a:cubicBezTo>
                    <a:cubicBezTo>
                      <a:pt x="53" y="17"/>
                      <a:pt x="53" y="17"/>
                      <a:pt x="52" y="18"/>
                    </a:cubicBezTo>
                    <a:cubicBezTo>
                      <a:pt x="52" y="18"/>
                      <a:pt x="50" y="17"/>
                      <a:pt x="50" y="17"/>
                    </a:cubicBezTo>
                    <a:cubicBezTo>
                      <a:pt x="50" y="17"/>
                      <a:pt x="6" y="1"/>
                      <a:pt x="3" y="0"/>
                    </a:cubicBezTo>
                    <a:cubicBezTo>
                      <a:pt x="2" y="0"/>
                      <a:pt x="2" y="0"/>
                      <a:pt x="1" y="0"/>
                    </a:cubicBezTo>
                    <a:cubicBezTo>
                      <a:pt x="1" y="8"/>
                      <a:pt x="2" y="44"/>
                      <a:pt x="0" y="54"/>
                    </a:cubicBezTo>
                    <a:cubicBezTo>
                      <a:pt x="0" y="54"/>
                      <a:pt x="0" y="62"/>
                      <a:pt x="0" y="62"/>
                    </a:cubicBezTo>
                    <a:cubicBezTo>
                      <a:pt x="0" y="63"/>
                      <a:pt x="2" y="63"/>
                      <a:pt x="2" y="66"/>
                    </a:cubicBezTo>
                    <a:cubicBezTo>
                      <a:pt x="1" y="68"/>
                      <a:pt x="1" y="90"/>
                      <a:pt x="1" y="97"/>
                    </a:cubicBezTo>
                    <a:cubicBezTo>
                      <a:pt x="5" y="99"/>
                      <a:pt x="12" y="99"/>
                      <a:pt x="15" y="98"/>
                    </a:cubicBezTo>
                    <a:cubicBezTo>
                      <a:pt x="18" y="97"/>
                      <a:pt x="22" y="98"/>
                      <a:pt x="25" y="99"/>
                    </a:cubicBezTo>
                    <a:cubicBezTo>
                      <a:pt x="27" y="100"/>
                      <a:pt x="29" y="100"/>
                      <a:pt x="30" y="98"/>
                    </a:cubicBezTo>
                    <a:cubicBezTo>
                      <a:pt x="31" y="97"/>
                      <a:pt x="34" y="97"/>
                      <a:pt x="36" y="96"/>
                    </a:cubicBezTo>
                    <a:cubicBezTo>
                      <a:pt x="38" y="95"/>
                      <a:pt x="38" y="94"/>
                      <a:pt x="37" y="91"/>
                    </a:cubicBezTo>
                    <a:cubicBezTo>
                      <a:pt x="36" y="89"/>
                      <a:pt x="34" y="88"/>
                      <a:pt x="33" y="87"/>
                    </a:cubicBezTo>
                    <a:cubicBezTo>
                      <a:pt x="31" y="87"/>
                      <a:pt x="31" y="86"/>
                      <a:pt x="29" y="86"/>
                    </a:cubicBezTo>
                    <a:cubicBezTo>
                      <a:pt x="26" y="85"/>
                      <a:pt x="27" y="84"/>
                      <a:pt x="28" y="84"/>
                    </a:cubicBezTo>
                    <a:cubicBezTo>
                      <a:pt x="28" y="84"/>
                      <a:pt x="29" y="84"/>
                      <a:pt x="30" y="85"/>
                    </a:cubicBezTo>
                    <a:cubicBezTo>
                      <a:pt x="31" y="85"/>
                      <a:pt x="33" y="85"/>
                      <a:pt x="34" y="84"/>
                    </a:cubicBezTo>
                    <a:cubicBezTo>
                      <a:pt x="35" y="84"/>
                      <a:pt x="37" y="83"/>
                      <a:pt x="39" y="83"/>
                    </a:cubicBezTo>
                    <a:cubicBezTo>
                      <a:pt x="41" y="83"/>
                      <a:pt x="41" y="82"/>
                      <a:pt x="39" y="81"/>
                    </a:cubicBezTo>
                    <a:cubicBezTo>
                      <a:pt x="38" y="80"/>
                      <a:pt x="39" y="80"/>
                      <a:pt x="39" y="80"/>
                    </a:cubicBezTo>
                    <a:cubicBezTo>
                      <a:pt x="39" y="80"/>
                      <a:pt x="40" y="80"/>
                      <a:pt x="41" y="80"/>
                    </a:cubicBezTo>
                    <a:cubicBezTo>
                      <a:pt x="42" y="80"/>
                      <a:pt x="42" y="80"/>
                      <a:pt x="44" y="80"/>
                    </a:cubicBezTo>
                    <a:cubicBezTo>
                      <a:pt x="46" y="79"/>
                      <a:pt x="44" y="77"/>
                      <a:pt x="42" y="74"/>
                    </a:cubicBezTo>
                    <a:cubicBezTo>
                      <a:pt x="40" y="71"/>
                      <a:pt x="43" y="73"/>
                      <a:pt x="44" y="75"/>
                    </a:cubicBezTo>
                    <a:cubicBezTo>
                      <a:pt x="45" y="77"/>
                      <a:pt x="47" y="76"/>
                      <a:pt x="49" y="75"/>
                    </a:cubicBezTo>
                    <a:cubicBezTo>
                      <a:pt x="50" y="74"/>
                      <a:pt x="51" y="74"/>
                      <a:pt x="51" y="75"/>
                    </a:cubicBezTo>
                    <a:cubicBezTo>
                      <a:pt x="52" y="75"/>
                      <a:pt x="52" y="76"/>
                      <a:pt x="53" y="77"/>
                    </a:cubicBezTo>
                    <a:cubicBezTo>
                      <a:pt x="54" y="77"/>
                      <a:pt x="54" y="76"/>
                      <a:pt x="53" y="75"/>
                    </a:cubicBezTo>
                    <a:cubicBezTo>
                      <a:pt x="52" y="75"/>
                      <a:pt x="53" y="74"/>
                      <a:pt x="54" y="74"/>
                    </a:cubicBezTo>
                    <a:cubicBezTo>
                      <a:pt x="55" y="74"/>
                      <a:pt x="54" y="73"/>
                      <a:pt x="55" y="74"/>
                    </a:cubicBezTo>
                    <a:cubicBezTo>
                      <a:pt x="56" y="75"/>
                      <a:pt x="56" y="74"/>
                      <a:pt x="58" y="73"/>
                    </a:cubicBezTo>
                    <a:cubicBezTo>
                      <a:pt x="59" y="73"/>
                      <a:pt x="59" y="73"/>
                      <a:pt x="59" y="75"/>
                    </a:cubicBezTo>
                    <a:cubicBezTo>
                      <a:pt x="59" y="77"/>
                      <a:pt x="60" y="77"/>
                      <a:pt x="61" y="77"/>
                    </a:cubicBezTo>
                    <a:cubicBezTo>
                      <a:pt x="62" y="77"/>
                      <a:pt x="70" y="79"/>
                      <a:pt x="71" y="79"/>
                    </a:cubicBezTo>
                    <a:cubicBezTo>
                      <a:pt x="73" y="79"/>
                      <a:pt x="73" y="80"/>
                      <a:pt x="73" y="80"/>
                    </a:cubicBezTo>
                    <a:cubicBezTo>
                      <a:pt x="74" y="81"/>
                      <a:pt x="75" y="81"/>
                      <a:pt x="77" y="81"/>
                    </a:cubicBezTo>
                    <a:cubicBezTo>
                      <a:pt x="78" y="81"/>
                      <a:pt x="77" y="82"/>
                      <a:pt x="78" y="82"/>
                    </a:cubicBezTo>
                    <a:cubicBezTo>
                      <a:pt x="79" y="83"/>
                      <a:pt x="79" y="85"/>
                      <a:pt x="80" y="86"/>
                    </a:cubicBezTo>
                    <a:cubicBezTo>
                      <a:pt x="80" y="87"/>
                      <a:pt x="81" y="89"/>
                      <a:pt x="82" y="89"/>
                    </a:cubicBezTo>
                    <a:cubicBezTo>
                      <a:pt x="83" y="90"/>
                      <a:pt x="85" y="92"/>
                      <a:pt x="85" y="94"/>
                    </a:cubicBezTo>
                    <a:cubicBezTo>
                      <a:pt x="85" y="96"/>
                      <a:pt x="88" y="97"/>
                      <a:pt x="89" y="96"/>
                    </a:cubicBezTo>
                    <a:cubicBezTo>
                      <a:pt x="90" y="96"/>
                      <a:pt x="90" y="96"/>
                      <a:pt x="91" y="99"/>
                    </a:cubicBezTo>
                    <a:cubicBezTo>
                      <a:pt x="91" y="102"/>
                      <a:pt x="93" y="102"/>
                      <a:pt x="94" y="103"/>
                    </a:cubicBezTo>
                    <a:cubicBezTo>
                      <a:pt x="96" y="103"/>
                      <a:pt x="98" y="107"/>
                      <a:pt x="99" y="109"/>
                    </a:cubicBezTo>
                    <a:cubicBezTo>
                      <a:pt x="100" y="111"/>
                      <a:pt x="104" y="112"/>
                      <a:pt x="105" y="112"/>
                    </a:cubicBezTo>
                    <a:cubicBezTo>
                      <a:pt x="106" y="112"/>
                      <a:pt x="108" y="112"/>
                      <a:pt x="109" y="112"/>
                    </a:cubicBezTo>
                    <a:cubicBezTo>
                      <a:pt x="110" y="113"/>
                      <a:pt x="112" y="113"/>
                      <a:pt x="113" y="113"/>
                    </a:cubicBezTo>
                    <a:cubicBezTo>
                      <a:pt x="115" y="112"/>
                      <a:pt x="115" y="113"/>
                      <a:pt x="116" y="113"/>
                    </a:cubicBezTo>
                    <a:cubicBezTo>
                      <a:pt x="118" y="114"/>
                      <a:pt x="121" y="114"/>
                      <a:pt x="126" y="114"/>
                    </a:cubicBezTo>
                    <a:cubicBezTo>
                      <a:pt x="132" y="114"/>
                      <a:pt x="136" y="117"/>
                      <a:pt x="137" y="119"/>
                    </a:cubicBezTo>
                    <a:cubicBezTo>
                      <a:pt x="138" y="121"/>
                      <a:pt x="142" y="120"/>
                      <a:pt x="144" y="119"/>
                    </a:cubicBezTo>
                    <a:cubicBezTo>
                      <a:pt x="146" y="119"/>
                      <a:pt x="143" y="117"/>
                      <a:pt x="142" y="116"/>
                    </a:cubicBezTo>
                    <a:cubicBezTo>
                      <a:pt x="140" y="114"/>
                      <a:pt x="142" y="114"/>
                      <a:pt x="143" y="11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85" name="Freeform 896">
                <a:extLst>
                  <a:ext uri="{FF2B5EF4-FFF2-40B4-BE49-F238E27FC236}">
                    <a16:creationId xmlns:a16="http://schemas.microsoft.com/office/drawing/2014/main" id="{D1843D44-4D52-4037-A995-7F410CE23AD1}"/>
                  </a:ext>
                </a:extLst>
              </p:cNvPr>
              <p:cNvSpPr>
                <a:spLocks/>
              </p:cNvSpPr>
              <p:nvPr/>
            </p:nvSpPr>
            <p:spPr bwMode="auto">
              <a:xfrm>
                <a:off x="6050" y="2870"/>
                <a:ext cx="10" cy="6"/>
              </a:xfrm>
              <a:custGeom>
                <a:avLst/>
                <a:gdLst>
                  <a:gd name="T0" fmla="*/ 6 w 7"/>
                  <a:gd name="T1" fmla="*/ 3 h 4"/>
                  <a:gd name="T2" fmla="*/ 7 w 7"/>
                  <a:gd name="T3" fmla="*/ 0 h 4"/>
                  <a:gd name="T4" fmla="*/ 1 w 7"/>
                  <a:gd name="T5" fmla="*/ 2 h 4"/>
                  <a:gd name="T6" fmla="*/ 0 w 7"/>
                  <a:gd name="T7" fmla="*/ 2 h 4"/>
                  <a:gd name="T8" fmla="*/ 5 w 7"/>
                  <a:gd name="T9" fmla="*/ 4 h 4"/>
                  <a:gd name="T10" fmla="*/ 6 w 7"/>
                  <a:gd name="T11" fmla="*/ 3 h 4"/>
                </a:gdLst>
                <a:ahLst/>
                <a:cxnLst>
                  <a:cxn ang="0">
                    <a:pos x="T0" y="T1"/>
                  </a:cxn>
                  <a:cxn ang="0">
                    <a:pos x="T2" y="T3"/>
                  </a:cxn>
                  <a:cxn ang="0">
                    <a:pos x="T4" y="T5"/>
                  </a:cxn>
                  <a:cxn ang="0">
                    <a:pos x="T6" y="T7"/>
                  </a:cxn>
                  <a:cxn ang="0">
                    <a:pos x="T8" y="T9"/>
                  </a:cxn>
                  <a:cxn ang="0">
                    <a:pos x="T10" y="T11"/>
                  </a:cxn>
                </a:cxnLst>
                <a:rect l="0" t="0" r="r" b="b"/>
                <a:pathLst>
                  <a:path w="7" h="4">
                    <a:moveTo>
                      <a:pt x="6" y="3"/>
                    </a:moveTo>
                    <a:cubicBezTo>
                      <a:pt x="6" y="2"/>
                      <a:pt x="7" y="1"/>
                      <a:pt x="7" y="0"/>
                    </a:cubicBezTo>
                    <a:cubicBezTo>
                      <a:pt x="6" y="0"/>
                      <a:pt x="2" y="2"/>
                      <a:pt x="1" y="2"/>
                    </a:cubicBezTo>
                    <a:cubicBezTo>
                      <a:pt x="1" y="2"/>
                      <a:pt x="0" y="2"/>
                      <a:pt x="0" y="2"/>
                    </a:cubicBezTo>
                    <a:cubicBezTo>
                      <a:pt x="5" y="4"/>
                      <a:pt x="5" y="4"/>
                      <a:pt x="5" y="4"/>
                    </a:cubicBezTo>
                    <a:cubicBezTo>
                      <a:pt x="5" y="4"/>
                      <a:pt x="5" y="4"/>
                      <a:pt x="6"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86" name="Freeform 897">
                <a:extLst>
                  <a:ext uri="{FF2B5EF4-FFF2-40B4-BE49-F238E27FC236}">
                    <a16:creationId xmlns:a16="http://schemas.microsoft.com/office/drawing/2014/main" id="{A1CCE7CE-B645-422D-8FCF-327E748EA980}"/>
                  </a:ext>
                </a:extLst>
              </p:cNvPr>
              <p:cNvSpPr>
                <a:spLocks/>
              </p:cNvSpPr>
              <p:nvPr/>
            </p:nvSpPr>
            <p:spPr bwMode="auto">
              <a:xfrm>
                <a:off x="6070" y="2852"/>
                <a:ext cx="48" cy="25"/>
              </a:xfrm>
              <a:custGeom>
                <a:avLst/>
                <a:gdLst>
                  <a:gd name="T0" fmla="*/ 34 w 35"/>
                  <a:gd name="T1" fmla="*/ 1 h 18"/>
                  <a:gd name="T2" fmla="*/ 32 w 35"/>
                  <a:gd name="T3" fmla="*/ 0 h 18"/>
                  <a:gd name="T4" fmla="*/ 7 w 35"/>
                  <a:gd name="T5" fmla="*/ 3 h 18"/>
                  <a:gd name="T6" fmla="*/ 1 w 35"/>
                  <a:gd name="T7" fmla="*/ 8 h 18"/>
                  <a:gd name="T8" fmla="*/ 0 w 35"/>
                  <a:gd name="T9" fmla="*/ 9 h 18"/>
                  <a:gd name="T10" fmla="*/ 3 w 35"/>
                  <a:gd name="T11" fmla="*/ 11 h 18"/>
                  <a:gd name="T12" fmla="*/ 3 w 35"/>
                  <a:gd name="T13" fmla="*/ 13 h 18"/>
                  <a:gd name="T14" fmla="*/ 2 w 35"/>
                  <a:gd name="T15" fmla="*/ 18 h 18"/>
                  <a:gd name="T16" fmla="*/ 6 w 35"/>
                  <a:gd name="T17" fmla="*/ 15 h 18"/>
                  <a:gd name="T18" fmla="*/ 24 w 35"/>
                  <a:gd name="T19" fmla="*/ 8 h 18"/>
                  <a:gd name="T20" fmla="*/ 34 w 35"/>
                  <a:gd name="T21" fmla="*/ 3 h 18"/>
                  <a:gd name="T22" fmla="*/ 34 w 35"/>
                  <a:gd name="T23"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18">
                    <a:moveTo>
                      <a:pt x="34" y="1"/>
                    </a:moveTo>
                    <a:cubicBezTo>
                      <a:pt x="34" y="0"/>
                      <a:pt x="32" y="0"/>
                      <a:pt x="32" y="0"/>
                    </a:cubicBezTo>
                    <a:cubicBezTo>
                      <a:pt x="32" y="0"/>
                      <a:pt x="11" y="3"/>
                      <a:pt x="7" y="3"/>
                    </a:cubicBezTo>
                    <a:cubicBezTo>
                      <a:pt x="3" y="4"/>
                      <a:pt x="1" y="8"/>
                      <a:pt x="1" y="8"/>
                    </a:cubicBezTo>
                    <a:cubicBezTo>
                      <a:pt x="1" y="9"/>
                      <a:pt x="0" y="9"/>
                      <a:pt x="0" y="9"/>
                    </a:cubicBezTo>
                    <a:cubicBezTo>
                      <a:pt x="1" y="10"/>
                      <a:pt x="3" y="10"/>
                      <a:pt x="3" y="11"/>
                    </a:cubicBezTo>
                    <a:cubicBezTo>
                      <a:pt x="3" y="12"/>
                      <a:pt x="3" y="12"/>
                      <a:pt x="3" y="13"/>
                    </a:cubicBezTo>
                    <a:cubicBezTo>
                      <a:pt x="3" y="14"/>
                      <a:pt x="2" y="16"/>
                      <a:pt x="2" y="18"/>
                    </a:cubicBezTo>
                    <a:cubicBezTo>
                      <a:pt x="3" y="17"/>
                      <a:pt x="5" y="16"/>
                      <a:pt x="6" y="15"/>
                    </a:cubicBezTo>
                    <a:cubicBezTo>
                      <a:pt x="8" y="14"/>
                      <a:pt x="21" y="9"/>
                      <a:pt x="24" y="8"/>
                    </a:cubicBezTo>
                    <a:cubicBezTo>
                      <a:pt x="27" y="7"/>
                      <a:pt x="33" y="4"/>
                      <a:pt x="34" y="3"/>
                    </a:cubicBezTo>
                    <a:cubicBezTo>
                      <a:pt x="34" y="3"/>
                      <a:pt x="35" y="1"/>
                      <a:pt x="3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87" name="Freeform 898">
                <a:extLst>
                  <a:ext uri="{FF2B5EF4-FFF2-40B4-BE49-F238E27FC236}">
                    <a16:creationId xmlns:a16="http://schemas.microsoft.com/office/drawing/2014/main" id="{5389C1EC-FC26-41F8-AE61-CED38BDF7995}"/>
                  </a:ext>
                </a:extLst>
              </p:cNvPr>
              <p:cNvSpPr>
                <a:spLocks/>
              </p:cNvSpPr>
              <p:nvPr/>
            </p:nvSpPr>
            <p:spPr bwMode="auto">
              <a:xfrm>
                <a:off x="5909" y="2447"/>
                <a:ext cx="54" cy="65"/>
              </a:xfrm>
              <a:custGeom>
                <a:avLst/>
                <a:gdLst>
                  <a:gd name="T0" fmla="*/ 11 w 39"/>
                  <a:gd name="T1" fmla="*/ 34 h 47"/>
                  <a:gd name="T2" fmla="*/ 6 w 39"/>
                  <a:gd name="T3" fmla="*/ 39 h 47"/>
                  <a:gd name="T4" fmla="*/ 2 w 39"/>
                  <a:gd name="T5" fmla="*/ 44 h 47"/>
                  <a:gd name="T6" fmla="*/ 2 w 39"/>
                  <a:gd name="T7" fmla="*/ 46 h 47"/>
                  <a:gd name="T8" fmla="*/ 13 w 39"/>
                  <a:gd name="T9" fmla="*/ 39 h 47"/>
                  <a:gd name="T10" fmla="*/ 23 w 39"/>
                  <a:gd name="T11" fmla="*/ 29 h 47"/>
                  <a:gd name="T12" fmla="*/ 27 w 39"/>
                  <a:gd name="T13" fmla="*/ 22 h 47"/>
                  <a:gd name="T14" fmla="*/ 32 w 39"/>
                  <a:gd name="T15" fmla="*/ 19 h 47"/>
                  <a:gd name="T16" fmla="*/ 35 w 39"/>
                  <a:gd name="T17" fmla="*/ 16 h 47"/>
                  <a:gd name="T18" fmla="*/ 38 w 39"/>
                  <a:gd name="T19" fmla="*/ 14 h 47"/>
                  <a:gd name="T20" fmla="*/ 37 w 39"/>
                  <a:gd name="T21" fmla="*/ 11 h 47"/>
                  <a:gd name="T22" fmla="*/ 36 w 39"/>
                  <a:gd name="T23" fmla="*/ 9 h 47"/>
                  <a:gd name="T24" fmla="*/ 36 w 39"/>
                  <a:gd name="T25" fmla="*/ 7 h 47"/>
                  <a:gd name="T26" fmla="*/ 36 w 39"/>
                  <a:gd name="T27" fmla="*/ 5 h 47"/>
                  <a:gd name="T28" fmla="*/ 36 w 39"/>
                  <a:gd name="T29" fmla="*/ 3 h 47"/>
                  <a:gd name="T30" fmla="*/ 35 w 39"/>
                  <a:gd name="T31" fmla="*/ 1 h 47"/>
                  <a:gd name="T32" fmla="*/ 33 w 39"/>
                  <a:gd name="T33" fmla="*/ 9 h 47"/>
                  <a:gd name="T34" fmla="*/ 32 w 39"/>
                  <a:gd name="T35" fmla="*/ 9 h 47"/>
                  <a:gd name="T36" fmla="*/ 32 w 39"/>
                  <a:gd name="T37" fmla="*/ 12 h 47"/>
                  <a:gd name="T38" fmla="*/ 31 w 39"/>
                  <a:gd name="T39" fmla="*/ 15 h 47"/>
                  <a:gd name="T40" fmla="*/ 29 w 39"/>
                  <a:gd name="T41" fmla="*/ 16 h 47"/>
                  <a:gd name="T42" fmla="*/ 25 w 39"/>
                  <a:gd name="T43" fmla="*/ 21 h 47"/>
                  <a:gd name="T44" fmla="*/ 23 w 39"/>
                  <a:gd name="T45" fmla="*/ 22 h 47"/>
                  <a:gd name="T46" fmla="*/ 14 w 39"/>
                  <a:gd name="T47" fmla="*/ 32 h 47"/>
                  <a:gd name="T48" fmla="*/ 11 w 39"/>
                  <a:gd name="T49" fmla="*/ 3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9" h="47">
                    <a:moveTo>
                      <a:pt x="11" y="34"/>
                    </a:moveTo>
                    <a:cubicBezTo>
                      <a:pt x="9" y="35"/>
                      <a:pt x="7" y="38"/>
                      <a:pt x="6" y="39"/>
                    </a:cubicBezTo>
                    <a:cubicBezTo>
                      <a:pt x="5" y="40"/>
                      <a:pt x="2" y="43"/>
                      <a:pt x="2" y="44"/>
                    </a:cubicBezTo>
                    <a:cubicBezTo>
                      <a:pt x="0" y="47"/>
                      <a:pt x="2" y="46"/>
                      <a:pt x="2" y="46"/>
                    </a:cubicBezTo>
                    <a:cubicBezTo>
                      <a:pt x="2" y="46"/>
                      <a:pt x="10" y="40"/>
                      <a:pt x="13" y="39"/>
                    </a:cubicBezTo>
                    <a:cubicBezTo>
                      <a:pt x="16" y="37"/>
                      <a:pt x="21" y="32"/>
                      <a:pt x="23" y="29"/>
                    </a:cubicBezTo>
                    <a:cubicBezTo>
                      <a:pt x="25" y="25"/>
                      <a:pt x="24" y="23"/>
                      <a:pt x="27" y="22"/>
                    </a:cubicBezTo>
                    <a:cubicBezTo>
                      <a:pt x="29" y="22"/>
                      <a:pt x="31" y="22"/>
                      <a:pt x="32" y="19"/>
                    </a:cubicBezTo>
                    <a:cubicBezTo>
                      <a:pt x="33" y="16"/>
                      <a:pt x="33" y="17"/>
                      <a:pt x="35" y="16"/>
                    </a:cubicBezTo>
                    <a:cubicBezTo>
                      <a:pt x="37" y="15"/>
                      <a:pt x="39" y="14"/>
                      <a:pt x="38" y="14"/>
                    </a:cubicBezTo>
                    <a:cubicBezTo>
                      <a:pt x="38" y="13"/>
                      <a:pt x="38" y="11"/>
                      <a:pt x="37" y="11"/>
                    </a:cubicBezTo>
                    <a:cubicBezTo>
                      <a:pt x="37" y="12"/>
                      <a:pt x="37" y="10"/>
                      <a:pt x="36" y="9"/>
                    </a:cubicBezTo>
                    <a:cubicBezTo>
                      <a:pt x="35" y="9"/>
                      <a:pt x="35" y="8"/>
                      <a:pt x="36" y="7"/>
                    </a:cubicBezTo>
                    <a:cubicBezTo>
                      <a:pt x="37" y="7"/>
                      <a:pt x="36" y="5"/>
                      <a:pt x="36" y="5"/>
                    </a:cubicBezTo>
                    <a:cubicBezTo>
                      <a:pt x="35" y="5"/>
                      <a:pt x="36" y="4"/>
                      <a:pt x="36" y="3"/>
                    </a:cubicBezTo>
                    <a:cubicBezTo>
                      <a:pt x="36" y="2"/>
                      <a:pt x="35" y="0"/>
                      <a:pt x="35" y="1"/>
                    </a:cubicBezTo>
                    <a:cubicBezTo>
                      <a:pt x="34" y="3"/>
                      <a:pt x="32" y="7"/>
                      <a:pt x="33" y="9"/>
                    </a:cubicBezTo>
                    <a:cubicBezTo>
                      <a:pt x="34" y="10"/>
                      <a:pt x="35" y="12"/>
                      <a:pt x="32" y="9"/>
                    </a:cubicBezTo>
                    <a:cubicBezTo>
                      <a:pt x="29" y="6"/>
                      <a:pt x="32" y="12"/>
                      <a:pt x="32" y="12"/>
                    </a:cubicBezTo>
                    <a:cubicBezTo>
                      <a:pt x="32" y="12"/>
                      <a:pt x="31" y="15"/>
                      <a:pt x="31" y="15"/>
                    </a:cubicBezTo>
                    <a:cubicBezTo>
                      <a:pt x="30" y="16"/>
                      <a:pt x="30" y="15"/>
                      <a:pt x="29" y="16"/>
                    </a:cubicBezTo>
                    <a:cubicBezTo>
                      <a:pt x="28" y="18"/>
                      <a:pt x="26" y="21"/>
                      <a:pt x="25" y="21"/>
                    </a:cubicBezTo>
                    <a:cubicBezTo>
                      <a:pt x="24" y="22"/>
                      <a:pt x="24" y="21"/>
                      <a:pt x="23" y="22"/>
                    </a:cubicBezTo>
                    <a:cubicBezTo>
                      <a:pt x="23" y="23"/>
                      <a:pt x="16" y="31"/>
                      <a:pt x="14" y="32"/>
                    </a:cubicBezTo>
                    <a:cubicBezTo>
                      <a:pt x="13" y="33"/>
                      <a:pt x="12" y="32"/>
                      <a:pt x="11" y="3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88" name="Freeform 899">
                <a:extLst>
                  <a:ext uri="{FF2B5EF4-FFF2-40B4-BE49-F238E27FC236}">
                    <a16:creationId xmlns:a16="http://schemas.microsoft.com/office/drawing/2014/main" id="{49917957-6CF5-45B1-8175-FEDCC03F470B}"/>
                  </a:ext>
                </a:extLst>
              </p:cNvPr>
              <p:cNvSpPr>
                <a:spLocks/>
              </p:cNvSpPr>
              <p:nvPr/>
            </p:nvSpPr>
            <p:spPr bwMode="auto">
              <a:xfrm>
                <a:off x="5966" y="2436"/>
                <a:ext cx="4" cy="9"/>
              </a:xfrm>
              <a:custGeom>
                <a:avLst/>
                <a:gdLst>
                  <a:gd name="T0" fmla="*/ 2 w 3"/>
                  <a:gd name="T1" fmla="*/ 5 h 6"/>
                  <a:gd name="T2" fmla="*/ 2 w 3"/>
                  <a:gd name="T3" fmla="*/ 1 h 6"/>
                  <a:gd name="T4" fmla="*/ 0 w 3"/>
                  <a:gd name="T5" fmla="*/ 1 h 6"/>
                  <a:gd name="T6" fmla="*/ 2 w 3"/>
                  <a:gd name="T7" fmla="*/ 5 h 6"/>
                </a:gdLst>
                <a:ahLst/>
                <a:cxnLst>
                  <a:cxn ang="0">
                    <a:pos x="T0" y="T1"/>
                  </a:cxn>
                  <a:cxn ang="0">
                    <a:pos x="T2" y="T3"/>
                  </a:cxn>
                  <a:cxn ang="0">
                    <a:pos x="T4" y="T5"/>
                  </a:cxn>
                  <a:cxn ang="0">
                    <a:pos x="T6" y="T7"/>
                  </a:cxn>
                </a:cxnLst>
                <a:rect l="0" t="0" r="r" b="b"/>
                <a:pathLst>
                  <a:path w="3" h="6">
                    <a:moveTo>
                      <a:pt x="2" y="5"/>
                    </a:moveTo>
                    <a:cubicBezTo>
                      <a:pt x="2" y="5"/>
                      <a:pt x="3" y="2"/>
                      <a:pt x="2" y="1"/>
                    </a:cubicBezTo>
                    <a:cubicBezTo>
                      <a:pt x="1" y="1"/>
                      <a:pt x="0" y="0"/>
                      <a:pt x="0" y="1"/>
                    </a:cubicBezTo>
                    <a:cubicBezTo>
                      <a:pt x="1" y="3"/>
                      <a:pt x="1" y="6"/>
                      <a:pt x="2"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89" name="Freeform 900">
                <a:extLst>
                  <a:ext uri="{FF2B5EF4-FFF2-40B4-BE49-F238E27FC236}">
                    <a16:creationId xmlns:a16="http://schemas.microsoft.com/office/drawing/2014/main" id="{D62E868F-4887-413B-965A-5F1DB252D7D5}"/>
                  </a:ext>
                </a:extLst>
              </p:cNvPr>
              <p:cNvSpPr>
                <a:spLocks/>
              </p:cNvSpPr>
              <p:nvPr/>
            </p:nvSpPr>
            <p:spPr bwMode="auto">
              <a:xfrm>
                <a:off x="5966" y="2430"/>
                <a:ext cx="10" cy="8"/>
              </a:xfrm>
              <a:custGeom>
                <a:avLst/>
                <a:gdLst>
                  <a:gd name="T0" fmla="*/ 6 w 7"/>
                  <a:gd name="T1" fmla="*/ 3 h 6"/>
                  <a:gd name="T2" fmla="*/ 5 w 7"/>
                  <a:gd name="T3" fmla="*/ 2 h 6"/>
                  <a:gd name="T4" fmla="*/ 2 w 7"/>
                  <a:gd name="T5" fmla="*/ 1 h 6"/>
                  <a:gd name="T6" fmla="*/ 0 w 7"/>
                  <a:gd name="T7" fmla="*/ 2 h 6"/>
                  <a:gd name="T8" fmla="*/ 2 w 7"/>
                  <a:gd name="T9" fmla="*/ 5 h 6"/>
                  <a:gd name="T10" fmla="*/ 6 w 7"/>
                  <a:gd name="T11" fmla="*/ 4 h 6"/>
                  <a:gd name="T12" fmla="*/ 6 w 7"/>
                  <a:gd name="T13" fmla="*/ 3 h 6"/>
                </a:gdLst>
                <a:ahLst/>
                <a:cxnLst>
                  <a:cxn ang="0">
                    <a:pos x="T0" y="T1"/>
                  </a:cxn>
                  <a:cxn ang="0">
                    <a:pos x="T2" y="T3"/>
                  </a:cxn>
                  <a:cxn ang="0">
                    <a:pos x="T4" y="T5"/>
                  </a:cxn>
                  <a:cxn ang="0">
                    <a:pos x="T6" y="T7"/>
                  </a:cxn>
                  <a:cxn ang="0">
                    <a:pos x="T8" y="T9"/>
                  </a:cxn>
                  <a:cxn ang="0">
                    <a:pos x="T10" y="T11"/>
                  </a:cxn>
                  <a:cxn ang="0">
                    <a:pos x="T12" y="T13"/>
                  </a:cxn>
                </a:cxnLst>
                <a:rect l="0" t="0" r="r" b="b"/>
                <a:pathLst>
                  <a:path w="7" h="6">
                    <a:moveTo>
                      <a:pt x="6" y="3"/>
                    </a:moveTo>
                    <a:cubicBezTo>
                      <a:pt x="5" y="1"/>
                      <a:pt x="5" y="2"/>
                      <a:pt x="5" y="2"/>
                    </a:cubicBezTo>
                    <a:cubicBezTo>
                      <a:pt x="4" y="3"/>
                      <a:pt x="3" y="2"/>
                      <a:pt x="2" y="1"/>
                    </a:cubicBezTo>
                    <a:cubicBezTo>
                      <a:pt x="0" y="0"/>
                      <a:pt x="0" y="1"/>
                      <a:pt x="0" y="2"/>
                    </a:cubicBezTo>
                    <a:cubicBezTo>
                      <a:pt x="1" y="3"/>
                      <a:pt x="1" y="5"/>
                      <a:pt x="2" y="5"/>
                    </a:cubicBezTo>
                    <a:cubicBezTo>
                      <a:pt x="3" y="5"/>
                      <a:pt x="4" y="6"/>
                      <a:pt x="6" y="4"/>
                    </a:cubicBezTo>
                    <a:cubicBezTo>
                      <a:pt x="6" y="4"/>
                      <a:pt x="7" y="4"/>
                      <a:pt x="6"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90" name="Freeform 901">
                <a:extLst>
                  <a:ext uri="{FF2B5EF4-FFF2-40B4-BE49-F238E27FC236}">
                    <a16:creationId xmlns:a16="http://schemas.microsoft.com/office/drawing/2014/main" id="{F6E81B7D-3240-49D4-B0EE-8B56443F4309}"/>
                  </a:ext>
                </a:extLst>
              </p:cNvPr>
              <p:cNvSpPr>
                <a:spLocks/>
              </p:cNvSpPr>
              <p:nvPr/>
            </p:nvSpPr>
            <p:spPr bwMode="auto">
              <a:xfrm>
                <a:off x="5973" y="2405"/>
                <a:ext cx="28" cy="27"/>
              </a:xfrm>
              <a:custGeom>
                <a:avLst/>
                <a:gdLst>
                  <a:gd name="T0" fmla="*/ 19 w 20"/>
                  <a:gd name="T1" fmla="*/ 5 h 20"/>
                  <a:gd name="T2" fmla="*/ 11 w 20"/>
                  <a:gd name="T3" fmla="*/ 1 h 20"/>
                  <a:gd name="T4" fmla="*/ 8 w 20"/>
                  <a:gd name="T5" fmla="*/ 1 h 20"/>
                  <a:gd name="T6" fmla="*/ 4 w 20"/>
                  <a:gd name="T7" fmla="*/ 0 h 20"/>
                  <a:gd name="T8" fmla="*/ 2 w 20"/>
                  <a:gd name="T9" fmla="*/ 1 h 20"/>
                  <a:gd name="T10" fmla="*/ 6 w 20"/>
                  <a:gd name="T11" fmla="*/ 4 h 20"/>
                  <a:gd name="T12" fmla="*/ 10 w 20"/>
                  <a:gd name="T13" fmla="*/ 15 h 20"/>
                  <a:gd name="T14" fmla="*/ 15 w 20"/>
                  <a:gd name="T15" fmla="*/ 19 h 20"/>
                  <a:gd name="T16" fmla="*/ 16 w 20"/>
                  <a:gd name="T17" fmla="*/ 19 h 20"/>
                  <a:gd name="T18" fmla="*/ 18 w 20"/>
                  <a:gd name="T19" fmla="*/ 16 h 20"/>
                  <a:gd name="T20" fmla="*/ 20 w 20"/>
                  <a:gd name="T21" fmla="*/ 12 h 20"/>
                  <a:gd name="T22" fmla="*/ 19 w 20"/>
                  <a:gd name="T23" fmla="*/ 7 h 20"/>
                  <a:gd name="T24" fmla="*/ 19 w 20"/>
                  <a:gd name="T25" fmla="*/ 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 h="20">
                    <a:moveTo>
                      <a:pt x="19" y="5"/>
                    </a:moveTo>
                    <a:cubicBezTo>
                      <a:pt x="17" y="4"/>
                      <a:pt x="12" y="2"/>
                      <a:pt x="11" y="1"/>
                    </a:cubicBezTo>
                    <a:cubicBezTo>
                      <a:pt x="10" y="0"/>
                      <a:pt x="10" y="1"/>
                      <a:pt x="8" y="1"/>
                    </a:cubicBezTo>
                    <a:cubicBezTo>
                      <a:pt x="7" y="1"/>
                      <a:pt x="4" y="0"/>
                      <a:pt x="4" y="0"/>
                    </a:cubicBezTo>
                    <a:cubicBezTo>
                      <a:pt x="3" y="0"/>
                      <a:pt x="0" y="1"/>
                      <a:pt x="2" y="1"/>
                    </a:cubicBezTo>
                    <a:cubicBezTo>
                      <a:pt x="3" y="2"/>
                      <a:pt x="6" y="2"/>
                      <a:pt x="6" y="4"/>
                    </a:cubicBezTo>
                    <a:cubicBezTo>
                      <a:pt x="7" y="7"/>
                      <a:pt x="9" y="13"/>
                      <a:pt x="10" y="15"/>
                    </a:cubicBezTo>
                    <a:cubicBezTo>
                      <a:pt x="12" y="16"/>
                      <a:pt x="15" y="19"/>
                      <a:pt x="15" y="19"/>
                    </a:cubicBezTo>
                    <a:cubicBezTo>
                      <a:pt x="15" y="19"/>
                      <a:pt x="15" y="20"/>
                      <a:pt x="16" y="19"/>
                    </a:cubicBezTo>
                    <a:cubicBezTo>
                      <a:pt x="17" y="18"/>
                      <a:pt x="17" y="17"/>
                      <a:pt x="18" y="16"/>
                    </a:cubicBezTo>
                    <a:cubicBezTo>
                      <a:pt x="19" y="15"/>
                      <a:pt x="20" y="15"/>
                      <a:pt x="20" y="12"/>
                    </a:cubicBezTo>
                    <a:cubicBezTo>
                      <a:pt x="19" y="9"/>
                      <a:pt x="19" y="8"/>
                      <a:pt x="19" y="7"/>
                    </a:cubicBezTo>
                    <a:cubicBezTo>
                      <a:pt x="20" y="7"/>
                      <a:pt x="20" y="7"/>
                      <a:pt x="19"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91" name="Freeform 902">
                <a:extLst>
                  <a:ext uri="{FF2B5EF4-FFF2-40B4-BE49-F238E27FC236}">
                    <a16:creationId xmlns:a16="http://schemas.microsoft.com/office/drawing/2014/main" id="{FACA766F-C559-4C4B-A3F8-F90CB7C107B7}"/>
                  </a:ext>
                </a:extLst>
              </p:cNvPr>
              <p:cNvSpPr>
                <a:spLocks/>
              </p:cNvSpPr>
              <p:nvPr/>
            </p:nvSpPr>
            <p:spPr bwMode="auto">
              <a:xfrm>
                <a:off x="6008" y="2421"/>
                <a:ext cx="6" cy="17"/>
              </a:xfrm>
              <a:custGeom>
                <a:avLst/>
                <a:gdLst>
                  <a:gd name="T0" fmla="*/ 3 w 5"/>
                  <a:gd name="T1" fmla="*/ 1 h 12"/>
                  <a:gd name="T2" fmla="*/ 1 w 5"/>
                  <a:gd name="T3" fmla="*/ 7 h 12"/>
                  <a:gd name="T4" fmla="*/ 2 w 5"/>
                  <a:gd name="T5" fmla="*/ 9 h 12"/>
                  <a:gd name="T6" fmla="*/ 3 w 5"/>
                  <a:gd name="T7" fmla="*/ 1 h 12"/>
                </a:gdLst>
                <a:ahLst/>
                <a:cxnLst>
                  <a:cxn ang="0">
                    <a:pos x="T0" y="T1"/>
                  </a:cxn>
                  <a:cxn ang="0">
                    <a:pos x="T2" y="T3"/>
                  </a:cxn>
                  <a:cxn ang="0">
                    <a:pos x="T4" y="T5"/>
                  </a:cxn>
                  <a:cxn ang="0">
                    <a:pos x="T6" y="T7"/>
                  </a:cxn>
                </a:cxnLst>
                <a:rect l="0" t="0" r="r" b="b"/>
                <a:pathLst>
                  <a:path w="5" h="12">
                    <a:moveTo>
                      <a:pt x="3" y="1"/>
                    </a:moveTo>
                    <a:cubicBezTo>
                      <a:pt x="2" y="2"/>
                      <a:pt x="0" y="1"/>
                      <a:pt x="1" y="7"/>
                    </a:cubicBezTo>
                    <a:cubicBezTo>
                      <a:pt x="2" y="12"/>
                      <a:pt x="2" y="9"/>
                      <a:pt x="2" y="9"/>
                    </a:cubicBezTo>
                    <a:cubicBezTo>
                      <a:pt x="2" y="9"/>
                      <a:pt x="5" y="0"/>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92" name="Freeform 903">
                <a:extLst>
                  <a:ext uri="{FF2B5EF4-FFF2-40B4-BE49-F238E27FC236}">
                    <a16:creationId xmlns:a16="http://schemas.microsoft.com/office/drawing/2014/main" id="{9D2639CE-1F6F-4A90-A2D6-FE14C1C012B8}"/>
                  </a:ext>
                </a:extLst>
              </p:cNvPr>
              <p:cNvSpPr>
                <a:spLocks/>
              </p:cNvSpPr>
              <p:nvPr/>
            </p:nvSpPr>
            <p:spPr bwMode="auto">
              <a:xfrm>
                <a:off x="6019" y="2427"/>
                <a:ext cx="5" cy="5"/>
              </a:xfrm>
              <a:custGeom>
                <a:avLst/>
                <a:gdLst>
                  <a:gd name="T0" fmla="*/ 4 w 4"/>
                  <a:gd name="T1" fmla="*/ 2 h 4"/>
                  <a:gd name="T2" fmla="*/ 2 w 4"/>
                  <a:gd name="T3" fmla="*/ 0 h 4"/>
                  <a:gd name="T4" fmla="*/ 1 w 4"/>
                  <a:gd name="T5" fmla="*/ 2 h 4"/>
                  <a:gd name="T6" fmla="*/ 4 w 4"/>
                  <a:gd name="T7" fmla="*/ 2 h 4"/>
                </a:gdLst>
                <a:ahLst/>
                <a:cxnLst>
                  <a:cxn ang="0">
                    <a:pos x="T0" y="T1"/>
                  </a:cxn>
                  <a:cxn ang="0">
                    <a:pos x="T2" y="T3"/>
                  </a:cxn>
                  <a:cxn ang="0">
                    <a:pos x="T4" y="T5"/>
                  </a:cxn>
                  <a:cxn ang="0">
                    <a:pos x="T6" y="T7"/>
                  </a:cxn>
                </a:cxnLst>
                <a:rect l="0" t="0" r="r" b="b"/>
                <a:pathLst>
                  <a:path w="4" h="4">
                    <a:moveTo>
                      <a:pt x="4" y="2"/>
                    </a:moveTo>
                    <a:cubicBezTo>
                      <a:pt x="4" y="0"/>
                      <a:pt x="4" y="0"/>
                      <a:pt x="2" y="0"/>
                    </a:cubicBezTo>
                    <a:cubicBezTo>
                      <a:pt x="0" y="0"/>
                      <a:pt x="0" y="0"/>
                      <a:pt x="1" y="2"/>
                    </a:cubicBezTo>
                    <a:cubicBezTo>
                      <a:pt x="1" y="2"/>
                      <a:pt x="4" y="4"/>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93" name="Freeform 904">
                <a:extLst>
                  <a:ext uri="{FF2B5EF4-FFF2-40B4-BE49-F238E27FC236}">
                    <a16:creationId xmlns:a16="http://schemas.microsoft.com/office/drawing/2014/main" id="{55D68EBB-F451-48CB-9B88-5350713A40DA}"/>
                  </a:ext>
                </a:extLst>
              </p:cNvPr>
              <p:cNvSpPr>
                <a:spLocks/>
              </p:cNvSpPr>
              <p:nvPr/>
            </p:nvSpPr>
            <p:spPr bwMode="auto">
              <a:xfrm>
                <a:off x="6006" y="2438"/>
                <a:ext cx="28" cy="31"/>
              </a:xfrm>
              <a:custGeom>
                <a:avLst/>
                <a:gdLst>
                  <a:gd name="T0" fmla="*/ 1 w 20"/>
                  <a:gd name="T1" fmla="*/ 1 h 23"/>
                  <a:gd name="T2" fmla="*/ 1 w 20"/>
                  <a:gd name="T3" fmla="*/ 3 h 23"/>
                  <a:gd name="T4" fmla="*/ 4 w 20"/>
                  <a:gd name="T5" fmla="*/ 5 h 23"/>
                  <a:gd name="T6" fmla="*/ 3 w 20"/>
                  <a:gd name="T7" fmla="*/ 12 h 23"/>
                  <a:gd name="T8" fmla="*/ 1 w 20"/>
                  <a:gd name="T9" fmla="*/ 21 h 23"/>
                  <a:gd name="T10" fmla="*/ 8 w 20"/>
                  <a:gd name="T11" fmla="*/ 20 h 23"/>
                  <a:gd name="T12" fmla="*/ 19 w 20"/>
                  <a:gd name="T13" fmla="*/ 12 h 23"/>
                  <a:gd name="T14" fmla="*/ 19 w 20"/>
                  <a:gd name="T15" fmla="*/ 8 h 23"/>
                  <a:gd name="T16" fmla="*/ 17 w 20"/>
                  <a:gd name="T17" fmla="*/ 7 h 23"/>
                  <a:gd name="T18" fmla="*/ 15 w 20"/>
                  <a:gd name="T19" fmla="*/ 7 h 23"/>
                  <a:gd name="T20" fmla="*/ 11 w 20"/>
                  <a:gd name="T21" fmla="*/ 6 h 23"/>
                  <a:gd name="T22" fmla="*/ 3 w 20"/>
                  <a:gd name="T23" fmla="*/ 1 h 23"/>
                  <a:gd name="T24" fmla="*/ 1 w 20"/>
                  <a:gd name="T25"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 h="23">
                    <a:moveTo>
                      <a:pt x="1" y="1"/>
                    </a:moveTo>
                    <a:cubicBezTo>
                      <a:pt x="0" y="2"/>
                      <a:pt x="1" y="3"/>
                      <a:pt x="1" y="3"/>
                    </a:cubicBezTo>
                    <a:cubicBezTo>
                      <a:pt x="3" y="3"/>
                      <a:pt x="4" y="4"/>
                      <a:pt x="4" y="5"/>
                    </a:cubicBezTo>
                    <a:cubicBezTo>
                      <a:pt x="4" y="5"/>
                      <a:pt x="3" y="10"/>
                      <a:pt x="3" y="12"/>
                    </a:cubicBezTo>
                    <a:cubicBezTo>
                      <a:pt x="3" y="15"/>
                      <a:pt x="2" y="19"/>
                      <a:pt x="1" y="21"/>
                    </a:cubicBezTo>
                    <a:cubicBezTo>
                      <a:pt x="1" y="23"/>
                      <a:pt x="3" y="22"/>
                      <a:pt x="8" y="20"/>
                    </a:cubicBezTo>
                    <a:cubicBezTo>
                      <a:pt x="13" y="17"/>
                      <a:pt x="17" y="14"/>
                      <a:pt x="19" y="12"/>
                    </a:cubicBezTo>
                    <a:cubicBezTo>
                      <a:pt x="20" y="11"/>
                      <a:pt x="18" y="12"/>
                      <a:pt x="19" y="8"/>
                    </a:cubicBezTo>
                    <a:cubicBezTo>
                      <a:pt x="20" y="5"/>
                      <a:pt x="18" y="6"/>
                      <a:pt x="17" y="7"/>
                    </a:cubicBezTo>
                    <a:cubicBezTo>
                      <a:pt x="17" y="7"/>
                      <a:pt x="16" y="7"/>
                      <a:pt x="15" y="7"/>
                    </a:cubicBezTo>
                    <a:cubicBezTo>
                      <a:pt x="14" y="6"/>
                      <a:pt x="12" y="6"/>
                      <a:pt x="11" y="6"/>
                    </a:cubicBezTo>
                    <a:cubicBezTo>
                      <a:pt x="9" y="6"/>
                      <a:pt x="5" y="2"/>
                      <a:pt x="3" y="1"/>
                    </a:cubicBezTo>
                    <a:cubicBezTo>
                      <a:pt x="1" y="0"/>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94" name="Freeform 905">
                <a:extLst>
                  <a:ext uri="{FF2B5EF4-FFF2-40B4-BE49-F238E27FC236}">
                    <a16:creationId xmlns:a16="http://schemas.microsoft.com/office/drawing/2014/main" id="{FB940031-95DA-456B-ACF2-05D5817D8470}"/>
                  </a:ext>
                </a:extLst>
              </p:cNvPr>
              <p:cNvSpPr>
                <a:spLocks/>
              </p:cNvSpPr>
              <p:nvPr/>
            </p:nvSpPr>
            <p:spPr bwMode="auto">
              <a:xfrm>
                <a:off x="6019" y="2462"/>
                <a:ext cx="5" cy="7"/>
              </a:xfrm>
              <a:custGeom>
                <a:avLst/>
                <a:gdLst>
                  <a:gd name="T0" fmla="*/ 1 w 4"/>
                  <a:gd name="T1" fmla="*/ 4 h 5"/>
                  <a:gd name="T2" fmla="*/ 3 w 4"/>
                  <a:gd name="T3" fmla="*/ 3 h 5"/>
                  <a:gd name="T4" fmla="*/ 2 w 4"/>
                  <a:gd name="T5" fmla="*/ 1 h 5"/>
                  <a:gd name="T6" fmla="*/ 2 w 4"/>
                  <a:gd name="T7" fmla="*/ 2 h 5"/>
                  <a:gd name="T8" fmla="*/ 1 w 4"/>
                  <a:gd name="T9" fmla="*/ 4 h 5"/>
                </a:gdLst>
                <a:ahLst/>
                <a:cxnLst>
                  <a:cxn ang="0">
                    <a:pos x="T0" y="T1"/>
                  </a:cxn>
                  <a:cxn ang="0">
                    <a:pos x="T2" y="T3"/>
                  </a:cxn>
                  <a:cxn ang="0">
                    <a:pos x="T4" y="T5"/>
                  </a:cxn>
                  <a:cxn ang="0">
                    <a:pos x="T6" y="T7"/>
                  </a:cxn>
                  <a:cxn ang="0">
                    <a:pos x="T8" y="T9"/>
                  </a:cxn>
                </a:cxnLst>
                <a:rect l="0" t="0" r="r" b="b"/>
                <a:pathLst>
                  <a:path w="4" h="5">
                    <a:moveTo>
                      <a:pt x="1" y="4"/>
                    </a:moveTo>
                    <a:cubicBezTo>
                      <a:pt x="2" y="5"/>
                      <a:pt x="3" y="5"/>
                      <a:pt x="3" y="3"/>
                    </a:cubicBezTo>
                    <a:cubicBezTo>
                      <a:pt x="4" y="1"/>
                      <a:pt x="3" y="0"/>
                      <a:pt x="2" y="1"/>
                    </a:cubicBezTo>
                    <a:cubicBezTo>
                      <a:pt x="2" y="1"/>
                      <a:pt x="1" y="1"/>
                      <a:pt x="2" y="2"/>
                    </a:cubicBezTo>
                    <a:cubicBezTo>
                      <a:pt x="2" y="3"/>
                      <a:pt x="0" y="3"/>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95" name="Freeform 906">
                <a:extLst>
                  <a:ext uri="{FF2B5EF4-FFF2-40B4-BE49-F238E27FC236}">
                    <a16:creationId xmlns:a16="http://schemas.microsoft.com/office/drawing/2014/main" id="{BBED33B7-A698-4282-BD30-E20241C7617C}"/>
                  </a:ext>
                </a:extLst>
              </p:cNvPr>
              <p:cNvSpPr>
                <a:spLocks/>
              </p:cNvSpPr>
              <p:nvPr/>
            </p:nvSpPr>
            <p:spPr bwMode="auto">
              <a:xfrm>
                <a:off x="6017" y="2457"/>
                <a:ext cx="27" cy="41"/>
              </a:xfrm>
              <a:custGeom>
                <a:avLst/>
                <a:gdLst>
                  <a:gd name="T0" fmla="*/ 5 w 19"/>
                  <a:gd name="T1" fmla="*/ 12 h 30"/>
                  <a:gd name="T2" fmla="*/ 2 w 19"/>
                  <a:gd name="T3" fmla="*/ 15 h 30"/>
                  <a:gd name="T4" fmla="*/ 2 w 19"/>
                  <a:gd name="T5" fmla="*/ 20 h 30"/>
                  <a:gd name="T6" fmla="*/ 5 w 19"/>
                  <a:gd name="T7" fmla="*/ 24 h 30"/>
                  <a:gd name="T8" fmla="*/ 8 w 19"/>
                  <a:gd name="T9" fmla="*/ 26 h 30"/>
                  <a:gd name="T10" fmla="*/ 11 w 19"/>
                  <a:gd name="T11" fmla="*/ 29 h 30"/>
                  <a:gd name="T12" fmla="*/ 11 w 19"/>
                  <a:gd name="T13" fmla="*/ 20 h 30"/>
                  <a:gd name="T14" fmla="*/ 17 w 19"/>
                  <a:gd name="T15" fmla="*/ 3 h 30"/>
                  <a:gd name="T16" fmla="*/ 12 w 19"/>
                  <a:gd name="T17" fmla="*/ 0 h 30"/>
                  <a:gd name="T18" fmla="*/ 5 w 19"/>
                  <a:gd name="T1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30">
                    <a:moveTo>
                      <a:pt x="5" y="12"/>
                    </a:moveTo>
                    <a:cubicBezTo>
                      <a:pt x="4" y="15"/>
                      <a:pt x="2" y="15"/>
                      <a:pt x="2" y="15"/>
                    </a:cubicBezTo>
                    <a:cubicBezTo>
                      <a:pt x="0" y="16"/>
                      <a:pt x="1" y="18"/>
                      <a:pt x="2" y="20"/>
                    </a:cubicBezTo>
                    <a:cubicBezTo>
                      <a:pt x="2" y="23"/>
                      <a:pt x="4" y="24"/>
                      <a:pt x="5" y="24"/>
                    </a:cubicBezTo>
                    <a:cubicBezTo>
                      <a:pt x="6" y="24"/>
                      <a:pt x="7" y="25"/>
                      <a:pt x="8" y="26"/>
                    </a:cubicBezTo>
                    <a:cubicBezTo>
                      <a:pt x="8" y="28"/>
                      <a:pt x="9" y="30"/>
                      <a:pt x="11" y="29"/>
                    </a:cubicBezTo>
                    <a:cubicBezTo>
                      <a:pt x="14" y="29"/>
                      <a:pt x="11" y="22"/>
                      <a:pt x="11" y="20"/>
                    </a:cubicBezTo>
                    <a:cubicBezTo>
                      <a:pt x="11" y="17"/>
                      <a:pt x="16" y="5"/>
                      <a:pt x="17" y="3"/>
                    </a:cubicBezTo>
                    <a:cubicBezTo>
                      <a:pt x="19" y="1"/>
                      <a:pt x="16" y="1"/>
                      <a:pt x="12" y="0"/>
                    </a:cubicBezTo>
                    <a:cubicBezTo>
                      <a:pt x="9" y="0"/>
                      <a:pt x="6" y="8"/>
                      <a:pt x="5"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96" name="Freeform 907">
                <a:extLst>
                  <a:ext uri="{FF2B5EF4-FFF2-40B4-BE49-F238E27FC236}">
                    <a16:creationId xmlns:a16="http://schemas.microsoft.com/office/drawing/2014/main" id="{239DA59E-681B-4B60-87F4-025919D96CB2}"/>
                  </a:ext>
                </a:extLst>
              </p:cNvPr>
              <p:cNvSpPr>
                <a:spLocks/>
              </p:cNvSpPr>
              <p:nvPr/>
            </p:nvSpPr>
            <p:spPr bwMode="auto">
              <a:xfrm>
                <a:off x="6005" y="2403"/>
                <a:ext cx="8" cy="9"/>
              </a:xfrm>
              <a:custGeom>
                <a:avLst/>
                <a:gdLst>
                  <a:gd name="T0" fmla="*/ 3 w 6"/>
                  <a:gd name="T1" fmla="*/ 1 h 6"/>
                  <a:gd name="T2" fmla="*/ 3 w 6"/>
                  <a:gd name="T3" fmla="*/ 5 h 6"/>
                  <a:gd name="T4" fmla="*/ 4 w 6"/>
                  <a:gd name="T5" fmla="*/ 5 h 6"/>
                  <a:gd name="T6" fmla="*/ 3 w 6"/>
                  <a:gd name="T7" fmla="*/ 1 h 6"/>
                </a:gdLst>
                <a:ahLst/>
                <a:cxnLst>
                  <a:cxn ang="0">
                    <a:pos x="T0" y="T1"/>
                  </a:cxn>
                  <a:cxn ang="0">
                    <a:pos x="T2" y="T3"/>
                  </a:cxn>
                  <a:cxn ang="0">
                    <a:pos x="T4" y="T5"/>
                  </a:cxn>
                  <a:cxn ang="0">
                    <a:pos x="T6" y="T7"/>
                  </a:cxn>
                </a:cxnLst>
                <a:rect l="0" t="0" r="r" b="b"/>
                <a:pathLst>
                  <a:path w="6" h="6">
                    <a:moveTo>
                      <a:pt x="3" y="1"/>
                    </a:moveTo>
                    <a:cubicBezTo>
                      <a:pt x="0" y="0"/>
                      <a:pt x="1" y="4"/>
                      <a:pt x="3" y="5"/>
                    </a:cubicBezTo>
                    <a:cubicBezTo>
                      <a:pt x="3" y="5"/>
                      <a:pt x="4" y="6"/>
                      <a:pt x="4" y="5"/>
                    </a:cubicBezTo>
                    <a:cubicBezTo>
                      <a:pt x="5" y="3"/>
                      <a:pt x="6" y="1"/>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97" name="Freeform 908">
                <a:extLst>
                  <a:ext uri="{FF2B5EF4-FFF2-40B4-BE49-F238E27FC236}">
                    <a16:creationId xmlns:a16="http://schemas.microsoft.com/office/drawing/2014/main" id="{8E585C95-7F45-41D4-8191-2CDD1941EFDC}"/>
                  </a:ext>
                </a:extLst>
              </p:cNvPr>
              <p:cNvSpPr>
                <a:spLocks/>
              </p:cNvSpPr>
              <p:nvPr/>
            </p:nvSpPr>
            <p:spPr bwMode="auto">
              <a:xfrm>
                <a:off x="5997" y="2281"/>
                <a:ext cx="4" cy="4"/>
              </a:xfrm>
              <a:custGeom>
                <a:avLst/>
                <a:gdLst>
                  <a:gd name="T0" fmla="*/ 2 w 3"/>
                  <a:gd name="T1" fmla="*/ 0 h 3"/>
                  <a:gd name="T2" fmla="*/ 1 w 3"/>
                  <a:gd name="T3" fmla="*/ 2 h 3"/>
                  <a:gd name="T4" fmla="*/ 2 w 3"/>
                  <a:gd name="T5" fmla="*/ 1 h 3"/>
                  <a:gd name="T6" fmla="*/ 2 w 3"/>
                  <a:gd name="T7" fmla="*/ 0 h 3"/>
                </a:gdLst>
                <a:ahLst/>
                <a:cxnLst>
                  <a:cxn ang="0">
                    <a:pos x="T0" y="T1"/>
                  </a:cxn>
                  <a:cxn ang="0">
                    <a:pos x="T2" y="T3"/>
                  </a:cxn>
                  <a:cxn ang="0">
                    <a:pos x="T4" y="T5"/>
                  </a:cxn>
                  <a:cxn ang="0">
                    <a:pos x="T6" y="T7"/>
                  </a:cxn>
                </a:cxnLst>
                <a:rect l="0" t="0" r="r" b="b"/>
                <a:pathLst>
                  <a:path w="3" h="3">
                    <a:moveTo>
                      <a:pt x="2" y="0"/>
                    </a:moveTo>
                    <a:cubicBezTo>
                      <a:pt x="1" y="1"/>
                      <a:pt x="0" y="1"/>
                      <a:pt x="1" y="2"/>
                    </a:cubicBezTo>
                    <a:cubicBezTo>
                      <a:pt x="1" y="2"/>
                      <a:pt x="2" y="3"/>
                      <a:pt x="2" y="1"/>
                    </a:cubicBezTo>
                    <a:cubicBezTo>
                      <a:pt x="3" y="0"/>
                      <a:pt x="3"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98" name="Freeform 909">
                <a:extLst>
                  <a:ext uri="{FF2B5EF4-FFF2-40B4-BE49-F238E27FC236}">
                    <a16:creationId xmlns:a16="http://schemas.microsoft.com/office/drawing/2014/main" id="{D87773F8-0FB3-4C5C-A6D6-3E6B0BA1CBBF}"/>
                  </a:ext>
                </a:extLst>
              </p:cNvPr>
              <p:cNvSpPr>
                <a:spLocks/>
              </p:cNvSpPr>
              <p:nvPr/>
            </p:nvSpPr>
            <p:spPr bwMode="auto">
              <a:xfrm>
                <a:off x="6006" y="2290"/>
                <a:ext cx="3" cy="4"/>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1" y="3"/>
                      <a:pt x="2" y="0"/>
                      <a:pt x="1" y="0"/>
                    </a:cubicBezTo>
                    <a:cubicBezTo>
                      <a:pt x="1" y="1"/>
                      <a:pt x="0" y="1"/>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99" name="Freeform 910">
                <a:extLst>
                  <a:ext uri="{FF2B5EF4-FFF2-40B4-BE49-F238E27FC236}">
                    <a16:creationId xmlns:a16="http://schemas.microsoft.com/office/drawing/2014/main" id="{33941E28-115A-4A94-BB6C-15D2C07FC0FD}"/>
                  </a:ext>
                </a:extLst>
              </p:cNvPr>
              <p:cNvSpPr>
                <a:spLocks/>
              </p:cNvSpPr>
              <p:nvPr/>
            </p:nvSpPr>
            <p:spPr bwMode="auto">
              <a:xfrm>
                <a:off x="5963" y="2299"/>
                <a:ext cx="92" cy="126"/>
              </a:xfrm>
              <a:custGeom>
                <a:avLst/>
                <a:gdLst>
                  <a:gd name="T0" fmla="*/ 1 w 66"/>
                  <a:gd name="T1" fmla="*/ 33 h 92"/>
                  <a:gd name="T2" fmla="*/ 5 w 66"/>
                  <a:gd name="T3" fmla="*/ 55 h 92"/>
                  <a:gd name="T4" fmla="*/ 8 w 66"/>
                  <a:gd name="T5" fmla="*/ 58 h 92"/>
                  <a:gd name="T6" fmla="*/ 9 w 66"/>
                  <a:gd name="T7" fmla="*/ 62 h 92"/>
                  <a:gd name="T8" fmla="*/ 12 w 66"/>
                  <a:gd name="T9" fmla="*/ 58 h 92"/>
                  <a:gd name="T10" fmla="*/ 18 w 66"/>
                  <a:gd name="T11" fmla="*/ 61 h 92"/>
                  <a:gd name="T12" fmla="*/ 13 w 66"/>
                  <a:gd name="T13" fmla="*/ 71 h 92"/>
                  <a:gd name="T14" fmla="*/ 16 w 66"/>
                  <a:gd name="T15" fmla="*/ 72 h 92"/>
                  <a:gd name="T16" fmla="*/ 20 w 66"/>
                  <a:gd name="T17" fmla="*/ 76 h 92"/>
                  <a:gd name="T18" fmla="*/ 27 w 66"/>
                  <a:gd name="T19" fmla="*/ 71 h 92"/>
                  <a:gd name="T20" fmla="*/ 36 w 66"/>
                  <a:gd name="T21" fmla="*/ 74 h 92"/>
                  <a:gd name="T22" fmla="*/ 41 w 66"/>
                  <a:gd name="T23" fmla="*/ 80 h 92"/>
                  <a:gd name="T24" fmla="*/ 41 w 66"/>
                  <a:gd name="T25" fmla="*/ 72 h 92"/>
                  <a:gd name="T26" fmla="*/ 50 w 66"/>
                  <a:gd name="T27" fmla="*/ 78 h 92"/>
                  <a:gd name="T28" fmla="*/ 61 w 66"/>
                  <a:gd name="T29" fmla="*/ 86 h 92"/>
                  <a:gd name="T30" fmla="*/ 62 w 66"/>
                  <a:gd name="T31" fmla="*/ 87 h 92"/>
                  <a:gd name="T32" fmla="*/ 66 w 66"/>
                  <a:gd name="T33" fmla="*/ 86 h 92"/>
                  <a:gd name="T34" fmla="*/ 60 w 66"/>
                  <a:gd name="T35" fmla="*/ 84 h 92"/>
                  <a:gd name="T36" fmla="*/ 57 w 66"/>
                  <a:gd name="T37" fmla="*/ 76 h 92"/>
                  <a:gd name="T38" fmla="*/ 62 w 66"/>
                  <a:gd name="T39" fmla="*/ 74 h 92"/>
                  <a:gd name="T40" fmla="*/ 55 w 66"/>
                  <a:gd name="T41" fmla="*/ 70 h 92"/>
                  <a:gd name="T42" fmla="*/ 50 w 66"/>
                  <a:gd name="T43" fmla="*/ 74 h 92"/>
                  <a:gd name="T44" fmla="*/ 42 w 66"/>
                  <a:gd name="T45" fmla="*/ 65 h 92"/>
                  <a:gd name="T46" fmla="*/ 37 w 66"/>
                  <a:gd name="T47" fmla="*/ 71 h 92"/>
                  <a:gd name="T48" fmla="*/ 29 w 66"/>
                  <a:gd name="T49" fmla="*/ 61 h 92"/>
                  <a:gd name="T50" fmla="*/ 27 w 66"/>
                  <a:gd name="T51" fmla="*/ 45 h 92"/>
                  <a:gd name="T52" fmla="*/ 34 w 66"/>
                  <a:gd name="T53" fmla="*/ 37 h 92"/>
                  <a:gd name="T54" fmla="*/ 41 w 66"/>
                  <a:gd name="T55" fmla="*/ 24 h 92"/>
                  <a:gd name="T56" fmla="*/ 37 w 66"/>
                  <a:gd name="T57" fmla="*/ 11 h 92"/>
                  <a:gd name="T58" fmla="*/ 35 w 66"/>
                  <a:gd name="T59" fmla="*/ 3 h 92"/>
                  <a:gd name="T60" fmla="*/ 28 w 66"/>
                  <a:gd name="T61" fmla="*/ 4 h 92"/>
                  <a:gd name="T62" fmla="*/ 18 w 66"/>
                  <a:gd name="T63" fmla="*/ 0 h 92"/>
                  <a:gd name="T64" fmla="*/ 12 w 66"/>
                  <a:gd name="T65" fmla="*/ 5 h 92"/>
                  <a:gd name="T66" fmla="*/ 9 w 66"/>
                  <a:gd name="T67" fmla="*/ 29 h 92"/>
                  <a:gd name="T68" fmla="*/ 9 w 66"/>
                  <a:gd name="T69" fmla="*/ 38 h 92"/>
                  <a:gd name="T70" fmla="*/ 3 w 66"/>
                  <a:gd name="T71" fmla="*/ 3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 h="92">
                    <a:moveTo>
                      <a:pt x="3" y="35"/>
                    </a:moveTo>
                    <a:cubicBezTo>
                      <a:pt x="3" y="34"/>
                      <a:pt x="3" y="33"/>
                      <a:pt x="1" y="33"/>
                    </a:cubicBezTo>
                    <a:cubicBezTo>
                      <a:pt x="0" y="34"/>
                      <a:pt x="0" y="38"/>
                      <a:pt x="2" y="41"/>
                    </a:cubicBezTo>
                    <a:cubicBezTo>
                      <a:pt x="3" y="45"/>
                      <a:pt x="4" y="52"/>
                      <a:pt x="5" y="55"/>
                    </a:cubicBezTo>
                    <a:cubicBezTo>
                      <a:pt x="5" y="58"/>
                      <a:pt x="5" y="58"/>
                      <a:pt x="7" y="58"/>
                    </a:cubicBezTo>
                    <a:cubicBezTo>
                      <a:pt x="8" y="58"/>
                      <a:pt x="8" y="57"/>
                      <a:pt x="8" y="58"/>
                    </a:cubicBezTo>
                    <a:cubicBezTo>
                      <a:pt x="7" y="59"/>
                      <a:pt x="8" y="59"/>
                      <a:pt x="9" y="60"/>
                    </a:cubicBezTo>
                    <a:cubicBezTo>
                      <a:pt x="10" y="60"/>
                      <a:pt x="10" y="61"/>
                      <a:pt x="9" y="62"/>
                    </a:cubicBezTo>
                    <a:cubicBezTo>
                      <a:pt x="9" y="62"/>
                      <a:pt x="10" y="63"/>
                      <a:pt x="12" y="63"/>
                    </a:cubicBezTo>
                    <a:cubicBezTo>
                      <a:pt x="13" y="63"/>
                      <a:pt x="13" y="59"/>
                      <a:pt x="12" y="58"/>
                    </a:cubicBezTo>
                    <a:cubicBezTo>
                      <a:pt x="12" y="56"/>
                      <a:pt x="15" y="58"/>
                      <a:pt x="16" y="59"/>
                    </a:cubicBezTo>
                    <a:cubicBezTo>
                      <a:pt x="17" y="60"/>
                      <a:pt x="18" y="59"/>
                      <a:pt x="18" y="61"/>
                    </a:cubicBezTo>
                    <a:cubicBezTo>
                      <a:pt x="18" y="63"/>
                      <a:pt x="16" y="64"/>
                      <a:pt x="14" y="65"/>
                    </a:cubicBezTo>
                    <a:cubicBezTo>
                      <a:pt x="12" y="67"/>
                      <a:pt x="13" y="68"/>
                      <a:pt x="13" y="71"/>
                    </a:cubicBezTo>
                    <a:cubicBezTo>
                      <a:pt x="13" y="74"/>
                      <a:pt x="14" y="72"/>
                      <a:pt x="14" y="72"/>
                    </a:cubicBezTo>
                    <a:cubicBezTo>
                      <a:pt x="15" y="71"/>
                      <a:pt x="15" y="71"/>
                      <a:pt x="16" y="72"/>
                    </a:cubicBezTo>
                    <a:cubicBezTo>
                      <a:pt x="17" y="73"/>
                      <a:pt x="18" y="74"/>
                      <a:pt x="17" y="74"/>
                    </a:cubicBezTo>
                    <a:cubicBezTo>
                      <a:pt x="16" y="74"/>
                      <a:pt x="17" y="75"/>
                      <a:pt x="20" y="76"/>
                    </a:cubicBezTo>
                    <a:cubicBezTo>
                      <a:pt x="23" y="76"/>
                      <a:pt x="24" y="75"/>
                      <a:pt x="24" y="74"/>
                    </a:cubicBezTo>
                    <a:cubicBezTo>
                      <a:pt x="25" y="73"/>
                      <a:pt x="26" y="72"/>
                      <a:pt x="27" y="71"/>
                    </a:cubicBezTo>
                    <a:cubicBezTo>
                      <a:pt x="28" y="71"/>
                      <a:pt x="30" y="71"/>
                      <a:pt x="31" y="71"/>
                    </a:cubicBezTo>
                    <a:cubicBezTo>
                      <a:pt x="33" y="72"/>
                      <a:pt x="35" y="73"/>
                      <a:pt x="36" y="74"/>
                    </a:cubicBezTo>
                    <a:cubicBezTo>
                      <a:pt x="37" y="75"/>
                      <a:pt x="37" y="76"/>
                      <a:pt x="39" y="76"/>
                    </a:cubicBezTo>
                    <a:cubicBezTo>
                      <a:pt x="40" y="76"/>
                      <a:pt x="40" y="77"/>
                      <a:pt x="41" y="80"/>
                    </a:cubicBezTo>
                    <a:cubicBezTo>
                      <a:pt x="42" y="83"/>
                      <a:pt x="42" y="83"/>
                      <a:pt x="42" y="81"/>
                    </a:cubicBezTo>
                    <a:cubicBezTo>
                      <a:pt x="42" y="80"/>
                      <a:pt x="41" y="73"/>
                      <a:pt x="41" y="72"/>
                    </a:cubicBezTo>
                    <a:cubicBezTo>
                      <a:pt x="41" y="71"/>
                      <a:pt x="39" y="71"/>
                      <a:pt x="41" y="71"/>
                    </a:cubicBezTo>
                    <a:cubicBezTo>
                      <a:pt x="43" y="71"/>
                      <a:pt x="50" y="78"/>
                      <a:pt x="50" y="78"/>
                    </a:cubicBezTo>
                    <a:cubicBezTo>
                      <a:pt x="51" y="79"/>
                      <a:pt x="53" y="80"/>
                      <a:pt x="53" y="83"/>
                    </a:cubicBezTo>
                    <a:cubicBezTo>
                      <a:pt x="52" y="85"/>
                      <a:pt x="59" y="86"/>
                      <a:pt x="61" y="86"/>
                    </a:cubicBezTo>
                    <a:cubicBezTo>
                      <a:pt x="62" y="86"/>
                      <a:pt x="62" y="85"/>
                      <a:pt x="62" y="85"/>
                    </a:cubicBezTo>
                    <a:cubicBezTo>
                      <a:pt x="63" y="85"/>
                      <a:pt x="63" y="87"/>
                      <a:pt x="62" y="87"/>
                    </a:cubicBezTo>
                    <a:cubicBezTo>
                      <a:pt x="60" y="87"/>
                      <a:pt x="62" y="90"/>
                      <a:pt x="64" y="91"/>
                    </a:cubicBezTo>
                    <a:cubicBezTo>
                      <a:pt x="66" y="92"/>
                      <a:pt x="65" y="88"/>
                      <a:pt x="66" y="86"/>
                    </a:cubicBezTo>
                    <a:cubicBezTo>
                      <a:pt x="66" y="84"/>
                      <a:pt x="65" y="84"/>
                      <a:pt x="64" y="83"/>
                    </a:cubicBezTo>
                    <a:cubicBezTo>
                      <a:pt x="62" y="83"/>
                      <a:pt x="61" y="83"/>
                      <a:pt x="60" y="84"/>
                    </a:cubicBezTo>
                    <a:cubicBezTo>
                      <a:pt x="59" y="86"/>
                      <a:pt x="60" y="82"/>
                      <a:pt x="61" y="82"/>
                    </a:cubicBezTo>
                    <a:cubicBezTo>
                      <a:pt x="63" y="81"/>
                      <a:pt x="58" y="78"/>
                      <a:pt x="57" y="76"/>
                    </a:cubicBezTo>
                    <a:cubicBezTo>
                      <a:pt x="56" y="74"/>
                      <a:pt x="58" y="74"/>
                      <a:pt x="58" y="74"/>
                    </a:cubicBezTo>
                    <a:cubicBezTo>
                      <a:pt x="59" y="74"/>
                      <a:pt x="59" y="74"/>
                      <a:pt x="62" y="74"/>
                    </a:cubicBezTo>
                    <a:cubicBezTo>
                      <a:pt x="64" y="73"/>
                      <a:pt x="60" y="71"/>
                      <a:pt x="59" y="71"/>
                    </a:cubicBezTo>
                    <a:cubicBezTo>
                      <a:pt x="57" y="70"/>
                      <a:pt x="56" y="71"/>
                      <a:pt x="55" y="70"/>
                    </a:cubicBezTo>
                    <a:cubicBezTo>
                      <a:pt x="54" y="69"/>
                      <a:pt x="54" y="69"/>
                      <a:pt x="53" y="70"/>
                    </a:cubicBezTo>
                    <a:cubicBezTo>
                      <a:pt x="53" y="72"/>
                      <a:pt x="52" y="73"/>
                      <a:pt x="50" y="74"/>
                    </a:cubicBezTo>
                    <a:cubicBezTo>
                      <a:pt x="49" y="75"/>
                      <a:pt x="49" y="72"/>
                      <a:pt x="49" y="70"/>
                    </a:cubicBezTo>
                    <a:cubicBezTo>
                      <a:pt x="50" y="67"/>
                      <a:pt x="45" y="65"/>
                      <a:pt x="42" y="65"/>
                    </a:cubicBezTo>
                    <a:cubicBezTo>
                      <a:pt x="40" y="64"/>
                      <a:pt x="39" y="68"/>
                      <a:pt x="38" y="69"/>
                    </a:cubicBezTo>
                    <a:cubicBezTo>
                      <a:pt x="37" y="70"/>
                      <a:pt x="37" y="69"/>
                      <a:pt x="37" y="71"/>
                    </a:cubicBezTo>
                    <a:cubicBezTo>
                      <a:pt x="37" y="72"/>
                      <a:pt x="36" y="71"/>
                      <a:pt x="36" y="71"/>
                    </a:cubicBezTo>
                    <a:cubicBezTo>
                      <a:pt x="29" y="69"/>
                      <a:pt x="29" y="63"/>
                      <a:pt x="29" y="61"/>
                    </a:cubicBezTo>
                    <a:cubicBezTo>
                      <a:pt x="30" y="58"/>
                      <a:pt x="26" y="53"/>
                      <a:pt x="25" y="51"/>
                    </a:cubicBezTo>
                    <a:cubicBezTo>
                      <a:pt x="24" y="49"/>
                      <a:pt x="26" y="47"/>
                      <a:pt x="27" y="45"/>
                    </a:cubicBezTo>
                    <a:cubicBezTo>
                      <a:pt x="29" y="42"/>
                      <a:pt x="27" y="44"/>
                      <a:pt x="27" y="42"/>
                    </a:cubicBezTo>
                    <a:cubicBezTo>
                      <a:pt x="27" y="40"/>
                      <a:pt x="33" y="38"/>
                      <a:pt x="34" y="37"/>
                    </a:cubicBezTo>
                    <a:cubicBezTo>
                      <a:pt x="36" y="36"/>
                      <a:pt x="37" y="32"/>
                      <a:pt x="39" y="29"/>
                    </a:cubicBezTo>
                    <a:cubicBezTo>
                      <a:pt x="40" y="27"/>
                      <a:pt x="40" y="26"/>
                      <a:pt x="41" y="24"/>
                    </a:cubicBezTo>
                    <a:cubicBezTo>
                      <a:pt x="42" y="22"/>
                      <a:pt x="38" y="18"/>
                      <a:pt x="37" y="16"/>
                    </a:cubicBezTo>
                    <a:cubicBezTo>
                      <a:pt x="37" y="15"/>
                      <a:pt x="35" y="16"/>
                      <a:pt x="37" y="11"/>
                    </a:cubicBezTo>
                    <a:cubicBezTo>
                      <a:pt x="39" y="6"/>
                      <a:pt x="38" y="4"/>
                      <a:pt x="37" y="2"/>
                    </a:cubicBezTo>
                    <a:cubicBezTo>
                      <a:pt x="37" y="1"/>
                      <a:pt x="36" y="2"/>
                      <a:pt x="35" y="3"/>
                    </a:cubicBezTo>
                    <a:cubicBezTo>
                      <a:pt x="34" y="4"/>
                      <a:pt x="30" y="5"/>
                      <a:pt x="30" y="5"/>
                    </a:cubicBezTo>
                    <a:cubicBezTo>
                      <a:pt x="29" y="5"/>
                      <a:pt x="29" y="5"/>
                      <a:pt x="28" y="4"/>
                    </a:cubicBezTo>
                    <a:cubicBezTo>
                      <a:pt x="27" y="3"/>
                      <a:pt x="22" y="1"/>
                      <a:pt x="21" y="1"/>
                    </a:cubicBezTo>
                    <a:cubicBezTo>
                      <a:pt x="20" y="0"/>
                      <a:pt x="18" y="0"/>
                      <a:pt x="18" y="0"/>
                    </a:cubicBezTo>
                    <a:cubicBezTo>
                      <a:pt x="17" y="1"/>
                      <a:pt x="15" y="1"/>
                      <a:pt x="14" y="1"/>
                    </a:cubicBezTo>
                    <a:cubicBezTo>
                      <a:pt x="12" y="0"/>
                      <a:pt x="12" y="3"/>
                      <a:pt x="12" y="5"/>
                    </a:cubicBezTo>
                    <a:cubicBezTo>
                      <a:pt x="11" y="7"/>
                      <a:pt x="10" y="9"/>
                      <a:pt x="10" y="13"/>
                    </a:cubicBezTo>
                    <a:cubicBezTo>
                      <a:pt x="11" y="17"/>
                      <a:pt x="9" y="27"/>
                      <a:pt x="9" y="29"/>
                    </a:cubicBezTo>
                    <a:cubicBezTo>
                      <a:pt x="8" y="31"/>
                      <a:pt x="9" y="32"/>
                      <a:pt x="9" y="32"/>
                    </a:cubicBezTo>
                    <a:cubicBezTo>
                      <a:pt x="11" y="37"/>
                      <a:pt x="9" y="38"/>
                      <a:pt x="9" y="38"/>
                    </a:cubicBezTo>
                    <a:cubicBezTo>
                      <a:pt x="8" y="39"/>
                      <a:pt x="6" y="39"/>
                      <a:pt x="5" y="38"/>
                    </a:cubicBezTo>
                    <a:cubicBezTo>
                      <a:pt x="4" y="37"/>
                      <a:pt x="3" y="36"/>
                      <a:pt x="3" y="3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00" name="Freeform 911">
                <a:extLst>
                  <a:ext uri="{FF2B5EF4-FFF2-40B4-BE49-F238E27FC236}">
                    <a16:creationId xmlns:a16="http://schemas.microsoft.com/office/drawing/2014/main" id="{89597F57-CBF8-4680-9619-114C0574DFC4}"/>
                  </a:ext>
                </a:extLst>
              </p:cNvPr>
              <p:cNvSpPr>
                <a:spLocks/>
              </p:cNvSpPr>
              <p:nvPr/>
            </p:nvSpPr>
            <p:spPr bwMode="auto">
              <a:xfrm>
                <a:off x="6003" y="2372"/>
                <a:ext cx="7" cy="11"/>
              </a:xfrm>
              <a:custGeom>
                <a:avLst/>
                <a:gdLst>
                  <a:gd name="T0" fmla="*/ 5 w 5"/>
                  <a:gd name="T1" fmla="*/ 2 h 8"/>
                  <a:gd name="T2" fmla="*/ 3 w 5"/>
                  <a:gd name="T3" fmla="*/ 1 h 8"/>
                  <a:gd name="T4" fmla="*/ 3 w 5"/>
                  <a:gd name="T5" fmla="*/ 4 h 8"/>
                  <a:gd name="T6" fmla="*/ 4 w 5"/>
                  <a:gd name="T7" fmla="*/ 7 h 8"/>
                  <a:gd name="T8" fmla="*/ 5 w 5"/>
                  <a:gd name="T9" fmla="*/ 5 h 8"/>
                  <a:gd name="T10" fmla="*/ 5 w 5"/>
                  <a:gd name="T11" fmla="*/ 2 h 8"/>
                </a:gdLst>
                <a:ahLst/>
                <a:cxnLst>
                  <a:cxn ang="0">
                    <a:pos x="T0" y="T1"/>
                  </a:cxn>
                  <a:cxn ang="0">
                    <a:pos x="T2" y="T3"/>
                  </a:cxn>
                  <a:cxn ang="0">
                    <a:pos x="T4" y="T5"/>
                  </a:cxn>
                  <a:cxn ang="0">
                    <a:pos x="T6" y="T7"/>
                  </a:cxn>
                  <a:cxn ang="0">
                    <a:pos x="T8" y="T9"/>
                  </a:cxn>
                  <a:cxn ang="0">
                    <a:pos x="T10" y="T11"/>
                  </a:cxn>
                </a:cxnLst>
                <a:rect l="0" t="0" r="r" b="b"/>
                <a:pathLst>
                  <a:path w="5" h="8">
                    <a:moveTo>
                      <a:pt x="5" y="2"/>
                    </a:moveTo>
                    <a:cubicBezTo>
                      <a:pt x="5" y="2"/>
                      <a:pt x="5" y="0"/>
                      <a:pt x="3" y="1"/>
                    </a:cubicBezTo>
                    <a:cubicBezTo>
                      <a:pt x="0" y="2"/>
                      <a:pt x="2" y="4"/>
                      <a:pt x="3" y="4"/>
                    </a:cubicBezTo>
                    <a:cubicBezTo>
                      <a:pt x="3" y="5"/>
                      <a:pt x="3" y="8"/>
                      <a:pt x="4" y="7"/>
                    </a:cubicBezTo>
                    <a:cubicBezTo>
                      <a:pt x="5" y="6"/>
                      <a:pt x="5" y="6"/>
                      <a:pt x="5" y="5"/>
                    </a:cubicBezTo>
                    <a:cubicBezTo>
                      <a:pt x="4" y="4"/>
                      <a:pt x="4" y="3"/>
                      <a:pt x="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01" name="Freeform 912">
                <a:extLst>
                  <a:ext uri="{FF2B5EF4-FFF2-40B4-BE49-F238E27FC236}">
                    <a16:creationId xmlns:a16="http://schemas.microsoft.com/office/drawing/2014/main" id="{B70EBDC0-6A1A-471C-ACFA-C78590CDE3E5}"/>
                  </a:ext>
                </a:extLst>
              </p:cNvPr>
              <p:cNvSpPr>
                <a:spLocks/>
              </p:cNvSpPr>
              <p:nvPr/>
            </p:nvSpPr>
            <p:spPr bwMode="auto">
              <a:xfrm>
                <a:off x="6028" y="2413"/>
                <a:ext cx="3" cy="3"/>
              </a:xfrm>
              <a:custGeom>
                <a:avLst/>
                <a:gdLst>
                  <a:gd name="T0" fmla="*/ 2 w 2"/>
                  <a:gd name="T1" fmla="*/ 2 h 2"/>
                  <a:gd name="T2" fmla="*/ 1 w 2"/>
                  <a:gd name="T3" fmla="*/ 1 h 2"/>
                  <a:gd name="T4" fmla="*/ 2 w 2"/>
                  <a:gd name="T5" fmla="*/ 2 h 2"/>
                </a:gdLst>
                <a:ahLst/>
                <a:cxnLst>
                  <a:cxn ang="0">
                    <a:pos x="T0" y="T1"/>
                  </a:cxn>
                  <a:cxn ang="0">
                    <a:pos x="T2" y="T3"/>
                  </a:cxn>
                  <a:cxn ang="0">
                    <a:pos x="T4" y="T5"/>
                  </a:cxn>
                </a:cxnLst>
                <a:rect l="0" t="0" r="r" b="b"/>
                <a:pathLst>
                  <a:path w="2" h="2">
                    <a:moveTo>
                      <a:pt x="2" y="2"/>
                    </a:moveTo>
                    <a:cubicBezTo>
                      <a:pt x="2" y="2"/>
                      <a:pt x="0" y="0"/>
                      <a:pt x="1" y="1"/>
                    </a:cubicBezTo>
                    <a:cubicBezTo>
                      <a:pt x="1" y="2"/>
                      <a:pt x="2" y="2"/>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02" name="Freeform 913">
                <a:extLst>
                  <a:ext uri="{FF2B5EF4-FFF2-40B4-BE49-F238E27FC236}">
                    <a16:creationId xmlns:a16="http://schemas.microsoft.com/office/drawing/2014/main" id="{FE109A18-A584-4466-BDED-1411DE4FABCD}"/>
                  </a:ext>
                </a:extLst>
              </p:cNvPr>
              <p:cNvSpPr>
                <a:spLocks/>
              </p:cNvSpPr>
              <p:nvPr/>
            </p:nvSpPr>
            <p:spPr bwMode="auto">
              <a:xfrm>
                <a:off x="6052" y="2391"/>
                <a:ext cx="8" cy="14"/>
              </a:xfrm>
              <a:custGeom>
                <a:avLst/>
                <a:gdLst>
                  <a:gd name="T0" fmla="*/ 2 w 6"/>
                  <a:gd name="T1" fmla="*/ 9 h 10"/>
                  <a:gd name="T2" fmla="*/ 3 w 6"/>
                  <a:gd name="T3" fmla="*/ 9 h 10"/>
                  <a:gd name="T4" fmla="*/ 5 w 6"/>
                  <a:gd name="T5" fmla="*/ 4 h 10"/>
                  <a:gd name="T6" fmla="*/ 3 w 6"/>
                  <a:gd name="T7" fmla="*/ 2 h 10"/>
                  <a:gd name="T8" fmla="*/ 1 w 6"/>
                  <a:gd name="T9" fmla="*/ 3 h 10"/>
                  <a:gd name="T10" fmla="*/ 0 w 6"/>
                  <a:gd name="T11" fmla="*/ 7 h 10"/>
                  <a:gd name="T12" fmla="*/ 2 w 6"/>
                  <a:gd name="T13" fmla="*/ 9 h 10"/>
                </a:gdLst>
                <a:ahLst/>
                <a:cxnLst>
                  <a:cxn ang="0">
                    <a:pos x="T0" y="T1"/>
                  </a:cxn>
                  <a:cxn ang="0">
                    <a:pos x="T2" y="T3"/>
                  </a:cxn>
                  <a:cxn ang="0">
                    <a:pos x="T4" y="T5"/>
                  </a:cxn>
                  <a:cxn ang="0">
                    <a:pos x="T6" y="T7"/>
                  </a:cxn>
                  <a:cxn ang="0">
                    <a:pos x="T8" y="T9"/>
                  </a:cxn>
                  <a:cxn ang="0">
                    <a:pos x="T10" y="T11"/>
                  </a:cxn>
                  <a:cxn ang="0">
                    <a:pos x="T12" y="T13"/>
                  </a:cxn>
                </a:cxnLst>
                <a:rect l="0" t="0" r="r" b="b"/>
                <a:pathLst>
                  <a:path w="6" h="10">
                    <a:moveTo>
                      <a:pt x="2" y="9"/>
                    </a:moveTo>
                    <a:cubicBezTo>
                      <a:pt x="2" y="9"/>
                      <a:pt x="2" y="10"/>
                      <a:pt x="3" y="9"/>
                    </a:cubicBezTo>
                    <a:cubicBezTo>
                      <a:pt x="4" y="7"/>
                      <a:pt x="6" y="4"/>
                      <a:pt x="5" y="4"/>
                    </a:cubicBezTo>
                    <a:cubicBezTo>
                      <a:pt x="4" y="4"/>
                      <a:pt x="4" y="3"/>
                      <a:pt x="3" y="2"/>
                    </a:cubicBezTo>
                    <a:cubicBezTo>
                      <a:pt x="3" y="2"/>
                      <a:pt x="2" y="0"/>
                      <a:pt x="1" y="3"/>
                    </a:cubicBezTo>
                    <a:cubicBezTo>
                      <a:pt x="1" y="6"/>
                      <a:pt x="1" y="7"/>
                      <a:pt x="0" y="7"/>
                    </a:cubicBezTo>
                    <a:cubicBezTo>
                      <a:pt x="0" y="8"/>
                      <a:pt x="0" y="8"/>
                      <a:pt x="2"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03" name="Freeform 914">
                <a:extLst>
                  <a:ext uri="{FF2B5EF4-FFF2-40B4-BE49-F238E27FC236}">
                    <a16:creationId xmlns:a16="http://schemas.microsoft.com/office/drawing/2014/main" id="{6E1BCB5B-55D4-4A64-BB5C-129B5E31DA63}"/>
                  </a:ext>
                </a:extLst>
              </p:cNvPr>
              <p:cNvSpPr>
                <a:spLocks/>
              </p:cNvSpPr>
              <p:nvPr/>
            </p:nvSpPr>
            <p:spPr bwMode="auto">
              <a:xfrm>
                <a:off x="6041" y="2423"/>
                <a:ext cx="5" cy="7"/>
              </a:xfrm>
              <a:custGeom>
                <a:avLst/>
                <a:gdLst>
                  <a:gd name="T0" fmla="*/ 2 w 4"/>
                  <a:gd name="T1" fmla="*/ 0 h 5"/>
                  <a:gd name="T2" fmla="*/ 4 w 4"/>
                  <a:gd name="T3" fmla="*/ 5 h 5"/>
                  <a:gd name="T4" fmla="*/ 2 w 4"/>
                  <a:gd name="T5" fmla="*/ 0 h 5"/>
                </a:gdLst>
                <a:ahLst/>
                <a:cxnLst>
                  <a:cxn ang="0">
                    <a:pos x="T0" y="T1"/>
                  </a:cxn>
                  <a:cxn ang="0">
                    <a:pos x="T2" y="T3"/>
                  </a:cxn>
                  <a:cxn ang="0">
                    <a:pos x="T4" y="T5"/>
                  </a:cxn>
                </a:cxnLst>
                <a:rect l="0" t="0" r="r" b="b"/>
                <a:pathLst>
                  <a:path w="4" h="5">
                    <a:moveTo>
                      <a:pt x="2" y="0"/>
                    </a:moveTo>
                    <a:cubicBezTo>
                      <a:pt x="1" y="0"/>
                      <a:pt x="0" y="1"/>
                      <a:pt x="4" y="5"/>
                    </a:cubicBezTo>
                    <a:cubicBezTo>
                      <a:pt x="4" y="5"/>
                      <a:pt x="2" y="1"/>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04" name="Freeform 915">
                <a:extLst>
                  <a:ext uri="{FF2B5EF4-FFF2-40B4-BE49-F238E27FC236}">
                    <a16:creationId xmlns:a16="http://schemas.microsoft.com/office/drawing/2014/main" id="{2C8FE981-ED02-4C3A-9065-12F7BF5E2B3E}"/>
                  </a:ext>
                </a:extLst>
              </p:cNvPr>
              <p:cNvSpPr>
                <a:spLocks/>
              </p:cNvSpPr>
              <p:nvPr/>
            </p:nvSpPr>
            <p:spPr bwMode="auto">
              <a:xfrm>
                <a:off x="6032" y="2423"/>
                <a:ext cx="21" cy="20"/>
              </a:xfrm>
              <a:custGeom>
                <a:avLst/>
                <a:gdLst>
                  <a:gd name="T0" fmla="*/ 1 w 15"/>
                  <a:gd name="T1" fmla="*/ 11 h 15"/>
                  <a:gd name="T2" fmla="*/ 4 w 15"/>
                  <a:gd name="T3" fmla="*/ 8 h 15"/>
                  <a:gd name="T4" fmla="*/ 8 w 15"/>
                  <a:gd name="T5" fmla="*/ 9 h 15"/>
                  <a:gd name="T6" fmla="*/ 13 w 15"/>
                  <a:gd name="T7" fmla="*/ 13 h 15"/>
                  <a:gd name="T8" fmla="*/ 13 w 15"/>
                  <a:gd name="T9" fmla="*/ 10 h 15"/>
                  <a:gd name="T10" fmla="*/ 11 w 15"/>
                  <a:gd name="T11" fmla="*/ 6 h 15"/>
                  <a:gd name="T12" fmla="*/ 8 w 15"/>
                  <a:gd name="T13" fmla="*/ 5 h 15"/>
                  <a:gd name="T14" fmla="*/ 3 w 15"/>
                  <a:gd name="T15" fmla="*/ 1 h 15"/>
                  <a:gd name="T16" fmla="*/ 2 w 15"/>
                  <a:gd name="T17" fmla="*/ 2 h 15"/>
                  <a:gd name="T18" fmla="*/ 2 w 15"/>
                  <a:gd name="T19" fmla="*/ 5 h 15"/>
                  <a:gd name="T20" fmla="*/ 2 w 15"/>
                  <a:gd name="T21" fmla="*/ 7 h 15"/>
                  <a:gd name="T22" fmla="*/ 2 w 15"/>
                  <a:gd name="T23" fmla="*/ 10 h 15"/>
                  <a:gd name="T24" fmla="*/ 1 w 15"/>
                  <a:gd name="T25"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 h="15">
                    <a:moveTo>
                      <a:pt x="1" y="11"/>
                    </a:moveTo>
                    <a:cubicBezTo>
                      <a:pt x="2" y="11"/>
                      <a:pt x="3" y="10"/>
                      <a:pt x="4" y="8"/>
                    </a:cubicBezTo>
                    <a:cubicBezTo>
                      <a:pt x="5" y="7"/>
                      <a:pt x="6" y="6"/>
                      <a:pt x="8" y="9"/>
                    </a:cubicBezTo>
                    <a:cubicBezTo>
                      <a:pt x="10" y="13"/>
                      <a:pt x="11" y="10"/>
                      <a:pt x="13" y="13"/>
                    </a:cubicBezTo>
                    <a:cubicBezTo>
                      <a:pt x="15" y="15"/>
                      <a:pt x="14" y="11"/>
                      <a:pt x="13" y="10"/>
                    </a:cubicBezTo>
                    <a:cubicBezTo>
                      <a:pt x="13" y="8"/>
                      <a:pt x="11" y="7"/>
                      <a:pt x="11" y="6"/>
                    </a:cubicBezTo>
                    <a:cubicBezTo>
                      <a:pt x="10" y="6"/>
                      <a:pt x="10" y="6"/>
                      <a:pt x="8" y="5"/>
                    </a:cubicBezTo>
                    <a:cubicBezTo>
                      <a:pt x="7" y="3"/>
                      <a:pt x="5" y="2"/>
                      <a:pt x="3" y="1"/>
                    </a:cubicBezTo>
                    <a:cubicBezTo>
                      <a:pt x="1" y="0"/>
                      <a:pt x="2" y="2"/>
                      <a:pt x="2" y="2"/>
                    </a:cubicBezTo>
                    <a:cubicBezTo>
                      <a:pt x="3" y="4"/>
                      <a:pt x="3" y="3"/>
                      <a:pt x="2" y="5"/>
                    </a:cubicBezTo>
                    <a:cubicBezTo>
                      <a:pt x="2" y="7"/>
                      <a:pt x="1" y="7"/>
                      <a:pt x="2" y="7"/>
                    </a:cubicBezTo>
                    <a:cubicBezTo>
                      <a:pt x="3" y="6"/>
                      <a:pt x="2" y="8"/>
                      <a:pt x="2" y="10"/>
                    </a:cubicBezTo>
                    <a:cubicBezTo>
                      <a:pt x="1" y="11"/>
                      <a:pt x="0" y="11"/>
                      <a:pt x="1"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05" name="Freeform 916">
                <a:extLst>
                  <a:ext uri="{FF2B5EF4-FFF2-40B4-BE49-F238E27FC236}">
                    <a16:creationId xmlns:a16="http://schemas.microsoft.com/office/drawing/2014/main" id="{BD08E2D4-4474-40B2-A292-5885F530221C}"/>
                  </a:ext>
                </a:extLst>
              </p:cNvPr>
              <p:cNvSpPr>
                <a:spLocks/>
              </p:cNvSpPr>
              <p:nvPr/>
            </p:nvSpPr>
            <p:spPr bwMode="auto">
              <a:xfrm>
                <a:off x="6035" y="2447"/>
                <a:ext cx="17" cy="47"/>
              </a:xfrm>
              <a:custGeom>
                <a:avLst/>
                <a:gdLst>
                  <a:gd name="T0" fmla="*/ 12 w 12"/>
                  <a:gd name="T1" fmla="*/ 4 h 34"/>
                  <a:gd name="T2" fmla="*/ 9 w 12"/>
                  <a:gd name="T3" fmla="*/ 11 h 34"/>
                  <a:gd name="T4" fmla="*/ 4 w 12"/>
                  <a:gd name="T5" fmla="*/ 21 h 34"/>
                  <a:gd name="T6" fmla="*/ 1 w 12"/>
                  <a:gd name="T7" fmla="*/ 29 h 34"/>
                  <a:gd name="T8" fmla="*/ 4 w 12"/>
                  <a:gd name="T9" fmla="*/ 25 h 34"/>
                  <a:gd name="T10" fmla="*/ 9 w 12"/>
                  <a:gd name="T11" fmla="*/ 18 h 34"/>
                  <a:gd name="T12" fmla="*/ 12 w 12"/>
                  <a:gd name="T13" fmla="*/ 13 h 34"/>
                  <a:gd name="T14" fmla="*/ 12 w 12"/>
                  <a:gd name="T15" fmla="*/ 9 h 34"/>
                  <a:gd name="T16" fmla="*/ 12 w 12"/>
                  <a:gd name="T17" fmla="*/ 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34">
                    <a:moveTo>
                      <a:pt x="12" y="4"/>
                    </a:moveTo>
                    <a:cubicBezTo>
                      <a:pt x="12" y="0"/>
                      <a:pt x="9" y="8"/>
                      <a:pt x="9" y="11"/>
                    </a:cubicBezTo>
                    <a:cubicBezTo>
                      <a:pt x="8" y="13"/>
                      <a:pt x="4" y="19"/>
                      <a:pt x="4" y="21"/>
                    </a:cubicBezTo>
                    <a:cubicBezTo>
                      <a:pt x="3" y="22"/>
                      <a:pt x="2" y="23"/>
                      <a:pt x="1" y="29"/>
                    </a:cubicBezTo>
                    <a:cubicBezTo>
                      <a:pt x="0" y="34"/>
                      <a:pt x="3" y="27"/>
                      <a:pt x="4" y="25"/>
                    </a:cubicBezTo>
                    <a:cubicBezTo>
                      <a:pt x="5" y="22"/>
                      <a:pt x="6" y="20"/>
                      <a:pt x="9" y="18"/>
                    </a:cubicBezTo>
                    <a:cubicBezTo>
                      <a:pt x="12" y="16"/>
                      <a:pt x="12" y="15"/>
                      <a:pt x="12" y="13"/>
                    </a:cubicBezTo>
                    <a:cubicBezTo>
                      <a:pt x="11" y="11"/>
                      <a:pt x="11" y="11"/>
                      <a:pt x="12" y="9"/>
                    </a:cubicBezTo>
                    <a:cubicBezTo>
                      <a:pt x="12" y="7"/>
                      <a:pt x="12" y="4"/>
                      <a:pt x="12"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06" name="Freeform 917">
                <a:extLst>
                  <a:ext uri="{FF2B5EF4-FFF2-40B4-BE49-F238E27FC236}">
                    <a16:creationId xmlns:a16="http://schemas.microsoft.com/office/drawing/2014/main" id="{4E851886-13D4-41EA-9E02-9E298F55BA80}"/>
                  </a:ext>
                </a:extLst>
              </p:cNvPr>
              <p:cNvSpPr>
                <a:spLocks/>
              </p:cNvSpPr>
              <p:nvPr/>
            </p:nvSpPr>
            <p:spPr bwMode="auto">
              <a:xfrm>
                <a:off x="6057" y="2442"/>
                <a:ext cx="7" cy="5"/>
              </a:xfrm>
              <a:custGeom>
                <a:avLst/>
                <a:gdLst>
                  <a:gd name="T0" fmla="*/ 4 w 5"/>
                  <a:gd name="T1" fmla="*/ 3 h 4"/>
                  <a:gd name="T2" fmla="*/ 2 w 5"/>
                  <a:gd name="T3" fmla="*/ 1 h 4"/>
                  <a:gd name="T4" fmla="*/ 1 w 5"/>
                  <a:gd name="T5" fmla="*/ 2 h 4"/>
                  <a:gd name="T6" fmla="*/ 4 w 5"/>
                  <a:gd name="T7" fmla="*/ 3 h 4"/>
                </a:gdLst>
                <a:ahLst/>
                <a:cxnLst>
                  <a:cxn ang="0">
                    <a:pos x="T0" y="T1"/>
                  </a:cxn>
                  <a:cxn ang="0">
                    <a:pos x="T2" y="T3"/>
                  </a:cxn>
                  <a:cxn ang="0">
                    <a:pos x="T4" y="T5"/>
                  </a:cxn>
                  <a:cxn ang="0">
                    <a:pos x="T6" y="T7"/>
                  </a:cxn>
                </a:cxnLst>
                <a:rect l="0" t="0" r="r" b="b"/>
                <a:pathLst>
                  <a:path w="5" h="4">
                    <a:moveTo>
                      <a:pt x="4" y="3"/>
                    </a:moveTo>
                    <a:cubicBezTo>
                      <a:pt x="5" y="2"/>
                      <a:pt x="4" y="1"/>
                      <a:pt x="2" y="1"/>
                    </a:cubicBezTo>
                    <a:cubicBezTo>
                      <a:pt x="0" y="0"/>
                      <a:pt x="1" y="2"/>
                      <a:pt x="1" y="2"/>
                    </a:cubicBezTo>
                    <a:cubicBezTo>
                      <a:pt x="2" y="3"/>
                      <a:pt x="3" y="4"/>
                      <a:pt x="4"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07" name="Freeform 918">
                <a:extLst>
                  <a:ext uri="{FF2B5EF4-FFF2-40B4-BE49-F238E27FC236}">
                    <a16:creationId xmlns:a16="http://schemas.microsoft.com/office/drawing/2014/main" id="{5FE238E0-F4C6-4030-A1C5-4D90AF5B6379}"/>
                  </a:ext>
                </a:extLst>
              </p:cNvPr>
              <p:cNvSpPr>
                <a:spLocks/>
              </p:cNvSpPr>
              <p:nvPr/>
            </p:nvSpPr>
            <p:spPr bwMode="auto">
              <a:xfrm>
                <a:off x="6055" y="2445"/>
                <a:ext cx="23" cy="35"/>
              </a:xfrm>
              <a:custGeom>
                <a:avLst/>
                <a:gdLst>
                  <a:gd name="T0" fmla="*/ 2 w 17"/>
                  <a:gd name="T1" fmla="*/ 3 h 26"/>
                  <a:gd name="T2" fmla="*/ 3 w 17"/>
                  <a:gd name="T3" fmla="*/ 8 h 26"/>
                  <a:gd name="T4" fmla="*/ 4 w 17"/>
                  <a:gd name="T5" fmla="*/ 11 h 26"/>
                  <a:gd name="T6" fmla="*/ 7 w 17"/>
                  <a:gd name="T7" fmla="*/ 9 h 26"/>
                  <a:gd name="T8" fmla="*/ 9 w 17"/>
                  <a:gd name="T9" fmla="*/ 20 h 26"/>
                  <a:gd name="T10" fmla="*/ 11 w 17"/>
                  <a:gd name="T11" fmla="*/ 22 h 26"/>
                  <a:gd name="T12" fmla="*/ 12 w 17"/>
                  <a:gd name="T13" fmla="*/ 21 h 26"/>
                  <a:gd name="T14" fmla="*/ 13 w 17"/>
                  <a:gd name="T15" fmla="*/ 20 h 26"/>
                  <a:gd name="T16" fmla="*/ 16 w 17"/>
                  <a:gd name="T17" fmla="*/ 20 h 26"/>
                  <a:gd name="T18" fmla="*/ 14 w 17"/>
                  <a:gd name="T19" fmla="*/ 15 h 26"/>
                  <a:gd name="T20" fmla="*/ 12 w 17"/>
                  <a:gd name="T21" fmla="*/ 5 h 26"/>
                  <a:gd name="T22" fmla="*/ 11 w 17"/>
                  <a:gd name="T23" fmla="*/ 3 h 26"/>
                  <a:gd name="T24" fmla="*/ 4 w 17"/>
                  <a:gd name="T25" fmla="*/ 3 h 26"/>
                  <a:gd name="T26" fmla="*/ 2 w 17"/>
                  <a:gd name="T27" fmla="*/ 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 h="26">
                    <a:moveTo>
                      <a:pt x="2" y="3"/>
                    </a:moveTo>
                    <a:cubicBezTo>
                      <a:pt x="3" y="4"/>
                      <a:pt x="3" y="6"/>
                      <a:pt x="3" y="8"/>
                    </a:cubicBezTo>
                    <a:cubicBezTo>
                      <a:pt x="3" y="11"/>
                      <a:pt x="3" y="9"/>
                      <a:pt x="4" y="11"/>
                    </a:cubicBezTo>
                    <a:cubicBezTo>
                      <a:pt x="4" y="12"/>
                      <a:pt x="4" y="9"/>
                      <a:pt x="7" y="9"/>
                    </a:cubicBezTo>
                    <a:cubicBezTo>
                      <a:pt x="9" y="9"/>
                      <a:pt x="10" y="17"/>
                      <a:pt x="9" y="20"/>
                    </a:cubicBezTo>
                    <a:cubicBezTo>
                      <a:pt x="8" y="22"/>
                      <a:pt x="10" y="22"/>
                      <a:pt x="11" y="22"/>
                    </a:cubicBezTo>
                    <a:cubicBezTo>
                      <a:pt x="12" y="23"/>
                      <a:pt x="13" y="26"/>
                      <a:pt x="12" y="21"/>
                    </a:cubicBezTo>
                    <a:cubicBezTo>
                      <a:pt x="12" y="16"/>
                      <a:pt x="13" y="19"/>
                      <a:pt x="13" y="20"/>
                    </a:cubicBezTo>
                    <a:cubicBezTo>
                      <a:pt x="14" y="22"/>
                      <a:pt x="14" y="21"/>
                      <a:pt x="16" y="20"/>
                    </a:cubicBezTo>
                    <a:cubicBezTo>
                      <a:pt x="17" y="19"/>
                      <a:pt x="16" y="17"/>
                      <a:pt x="14" y="15"/>
                    </a:cubicBezTo>
                    <a:cubicBezTo>
                      <a:pt x="11" y="12"/>
                      <a:pt x="12" y="6"/>
                      <a:pt x="12" y="5"/>
                    </a:cubicBezTo>
                    <a:cubicBezTo>
                      <a:pt x="12" y="3"/>
                      <a:pt x="12" y="3"/>
                      <a:pt x="11" y="3"/>
                    </a:cubicBezTo>
                    <a:cubicBezTo>
                      <a:pt x="10" y="4"/>
                      <a:pt x="8" y="7"/>
                      <a:pt x="4" y="3"/>
                    </a:cubicBezTo>
                    <a:cubicBezTo>
                      <a:pt x="0" y="0"/>
                      <a:pt x="2"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08" name="Freeform 919">
                <a:extLst>
                  <a:ext uri="{FF2B5EF4-FFF2-40B4-BE49-F238E27FC236}">
                    <a16:creationId xmlns:a16="http://schemas.microsoft.com/office/drawing/2014/main" id="{005468AA-5CF3-4507-B443-441181BFDE53}"/>
                  </a:ext>
                </a:extLst>
              </p:cNvPr>
              <p:cNvSpPr>
                <a:spLocks/>
              </p:cNvSpPr>
              <p:nvPr/>
            </p:nvSpPr>
            <p:spPr bwMode="auto">
              <a:xfrm>
                <a:off x="6038" y="2493"/>
                <a:ext cx="7" cy="4"/>
              </a:xfrm>
              <a:custGeom>
                <a:avLst/>
                <a:gdLst>
                  <a:gd name="T0" fmla="*/ 2 w 5"/>
                  <a:gd name="T1" fmla="*/ 0 h 3"/>
                  <a:gd name="T2" fmla="*/ 2 w 5"/>
                  <a:gd name="T3" fmla="*/ 2 h 3"/>
                  <a:gd name="T4" fmla="*/ 4 w 5"/>
                  <a:gd name="T5" fmla="*/ 1 h 3"/>
                  <a:gd name="T6" fmla="*/ 2 w 5"/>
                  <a:gd name="T7" fmla="*/ 0 h 3"/>
                </a:gdLst>
                <a:ahLst/>
                <a:cxnLst>
                  <a:cxn ang="0">
                    <a:pos x="T0" y="T1"/>
                  </a:cxn>
                  <a:cxn ang="0">
                    <a:pos x="T2" y="T3"/>
                  </a:cxn>
                  <a:cxn ang="0">
                    <a:pos x="T4" y="T5"/>
                  </a:cxn>
                  <a:cxn ang="0">
                    <a:pos x="T6" y="T7"/>
                  </a:cxn>
                </a:cxnLst>
                <a:rect l="0" t="0" r="r" b="b"/>
                <a:pathLst>
                  <a:path w="5" h="3">
                    <a:moveTo>
                      <a:pt x="2" y="0"/>
                    </a:moveTo>
                    <a:cubicBezTo>
                      <a:pt x="2" y="0"/>
                      <a:pt x="0" y="1"/>
                      <a:pt x="2" y="2"/>
                    </a:cubicBezTo>
                    <a:cubicBezTo>
                      <a:pt x="4" y="3"/>
                      <a:pt x="5" y="3"/>
                      <a:pt x="4" y="1"/>
                    </a:cubicBezTo>
                    <a:cubicBezTo>
                      <a:pt x="4" y="0"/>
                      <a:pt x="3"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09" name="Freeform 920">
                <a:extLst>
                  <a:ext uri="{FF2B5EF4-FFF2-40B4-BE49-F238E27FC236}">
                    <a16:creationId xmlns:a16="http://schemas.microsoft.com/office/drawing/2014/main" id="{5B0FC7F9-C0EB-4F97-A361-05F9E8C28990}"/>
                  </a:ext>
                </a:extLst>
              </p:cNvPr>
              <p:cNvSpPr>
                <a:spLocks/>
              </p:cNvSpPr>
              <p:nvPr/>
            </p:nvSpPr>
            <p:spPr bwMode="auto">
              <a:xfrm>
                <a:off x="6046" y="2473"/>
                <a:ext cx="17" cy="14"/>
              </a:xfrm>
              <a:custGeom>
                <a:avLst/>
                <a:gdLst>
                  <a:gd name="T0" fmla="*/ 5 w 12"/>
                  <a:gd name="T1" fmla="*/ 2 h 10"/>
                  <a:gd name="T2" fmla="*/ 1 w 12"/>
                  <a:gd name="T3" fmla="*/ 5 h 10"/>
                  <a:gd name="T4" fmla="*/ 1 w 12"/>
                  <a:gd name="T5" fmla="*/ 7 h 10"/>
                  <a:gd name="T6" fmla="*/ 6 w 12"/>
                  <a:gd name="T7" fmla="*/ 9 h 10"/>
                  <a:gd name="T8" fmla="*/ 12 w 12"/>
                  <a:gd name="T9" fmla="*/ 6 h 10"/>
                  <a:gd name="T10" fmla="*/ 12 w 12"/>
                  <a:gd name="T11" fmla="*/ 5 h 10"/>
                  <a:gd name="T12" fmla="*/ 10 w 12"/>
                  <a:gd name="T13" fmla="*/ 2 h 10"/>
                  <a:gd name="T14" fmla="*/ 5 w 12"/>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0">
                    <a:moveTo>
                      <a:pt x="5" y="2"/>
                    </a:moveTo>
                    <a:cubicBezTo>
                      <a:pt x="3" y="4"/>
                      <a:pt x="1" y="4"/>
                      <a:pt x="1" y="5"/>
                    </a:cubicBezTo>
                    <a:cubicBezTo>
                      <a:pt x="0" y="5"/>
                      <a:pt x="0" y="6"/>
                      <a:pt x="1" y="7"/>
                    </a:cubicBezTo>
                    <a:cubicBezTo>
                      <a:pt x="2" y="8"/>
                      <a:pt x="3" y="10"/>
                      <a:pt x="6" y="9"/>
                    </a:cubicBezTo>
                    <a:cubicBezTo>
                      <a:pt x="8" y="8"/>
                      <a:pt x="12" y="8"/>
                      <a:pt x="12" y="6"/>
                    </a:cubicBezTo>
                    <a:cubicBezTo>
                      <a:pt x="12" y="6"/>
                      <a:pt x="11" y="6"/>
                      <a:pt x="12" y="5"/>
                    </a:cubicBezTo>
                    <a:cubicBezTo>
                      <a:pt x="12" y="3"/>
                      <a:pt x="12" y="3"/>
                      <a:pt x="10" y="2"/>
                    </a:cubicBezTo>
                    <a:cubicBezTo>
                      <a:pt x="8" y="1"/>
                      <a:pt x="7" y="0"/>
                      <a:pt x="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10" name="Freeform 921">
                <a:extLst>
                  <a:ext uri="{FF2B5EF4-FFF2-40B4-BE49-F238E27FC236}">
                    <a16:creationId xmlns:a16="http://schemas.microsoft.com/office/drawing/2014/main" id="{F67BE877-FD89-49C8-A13D-06FEA2FD07E3}"/>
                  </a:ext>
                </a:extLst>
              </p:cNvPr>
              <p:cNvSpPr>
                <a:spLocks/>
              </p:cNvSpPr>
              <p:nvPr/>
            </p:nvSpPr>
            <p:spPr bwMode="auto">
              <a:xfrm>
                <a:off x="6064" y="2491"/>
                <a:ext cx="3" cy="6"/>
              </a:xfrm>
              <a:custGeom>
                <a:avLst/>
                <a:gdLst>
                  <a:gd name="T0" fmla="*/ 2 w 2"/>
                  <a:gd name="T1" fmla="*/ 4 h 4"/>
                  <a:gd name="T2" fmla="*/ 2 w 2"/>
                  <a:gd name="T3" fmla="*/ 2 h 4"/>
                  <a:gd name="T4" fmla="*/ 2 w 2"/>
                  <a:gd name="T5" fmla="*/ 4 h 4"/>
                </a:gdLst>
                <a:ahLst/>
                <a:cxnLst>
                  <a:cxn ang="0">
                    <a:pos x="T0" y="T1"/>
                  </a:cxn>
                  <a:cxn ang="0">
                    <a:pos x="T2" y="T3"/>
                  </a:cxn>
                  <a:cxn ang="0">
                    <a:pos x="T4" y="T5"/>
                  </a:cxn>
                </a:cxnLst>
                <a:rect l="0" t="0" r="r" b="b"/>
                <a:pathLst>
                  <a:path w="2" h="4">
                    <a:moveTo>
                      <a:pt x="2" y="4"/>
                    </a:moveTo>
                    <a:cubicBezTo>
                      <a:pt x="2" y="3"/>
                      <a:pt x="2" y="2"/>
                      <a:pt x="2" y="2"/>
                    </a:cubicBezTo>
                    <a:cubicBezTo>
                      <a:pt x="0" y="0"/>
                      <a:pt x="2" y="4"/>
                      <a:pt x="2"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11" name="Freeform 922">
                <a:extLst>
                  <a:ext uri="{FF2B5EF4-FFF2-40B4-BE49-F238E27FC236}">
                    <a16:creationId xmlns:a16="http://schemas.microsoft.com/office/drawing/2014/main" id="{0BB0C16B-23AE-486E-BD06-AF77A267D492}"/>
                  </a:ext>
                </a:extLst>
              </p:cNvPr>
              <p:cNvSpPr>
                <a:spLocks/>
              </p:cNvSpPr>
              <p:nvPr/>
            </p:nvSpPr>
            <p:spPr bwMode="auto">
              <a:xfrm>
                <a:off x="6053" y="2424"/>
                <a:ext cx="32" cy="32"/>
              </a:xfrm>
              <a:custGeom>
                <a:avLst/>
                <a:gdLst>
                  <a:gd name="T0" fmla="*/ 13 w 23"/>
                  <a:gd name="T1" fmla="*/ 0 h 23"/>
                  <a:gd name="T2" fmla="*/ 3 w 23"/>
                  <a:gd name="T3" fmla="*/ 1 h 23"/>
                  <a:gd name="T4" fmla="*/ 3 w 23"/>
                  <a:gd name="T5" fmla="*/ 2 h 23"/>
                  <a:gd name="T6" fmla="*/ 12 w 23"/>
                  <a:gd name="T7" fmla="*/ 12 h 23"/>
                  <a:gd name="T8" fmla="*/ 13 w 23"/>
                  <a:gd name="T9" fmla="*/ 14 h 23"/>
                  <a:gd name="T10" fmla="*/ 16 w 23"/>
                  <a:gd name="T11" fmla="*/ 22 h 23"/>
                  <a:gd name="T12" fmla="*/ 20 w 23"/>
                  <a:gd name="T13" fmla="*/ 23 h 23"/>
                  <a:gd name="T14" fmla="*/ 22 w 23"/>
                  <a:gd name="T15" fmla="*/ 22 h 23"/>
                  <a:gd name="T16" fmla="*/ 22 w 23"/>
                  <a:gd name="T17" fmla="*/ 20 h 23"/>
                  <a:gd name="T18" fmla="*/ 22 w 23"/>
                  <a:gd name="T19" fmla="*/ 15 h 23"/>
                  <a:gd name="T20" fmla="*/ 21 w 23"/>
                  <a:gd name="T21" fmla="*/ 8 h 23"/>
                  <a:gd name="T22" fmla="*/ 19 w 23"/>
                  <a:gd name="T23" fmla="*/ 6 h 23"/>
                  <a:gd name="T24" fmla="*/ 18 w 23"/>
                  <a:gd name="T25" fmla="*/ 3 h 23"/>
                  <a:gd name="T26" fmla="*/ 13 w 23"/>
                  <a:gd name="T2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 h="23">
                    <a:moveTo>
                      <a:pt x="13" y="0"/>
                    </a:moveTo>
                    <a:cubicBezTo>
                      <a:pt x="12" y="1"/>
                      <a:pt x="6" y="1"/>
                      <a:pt x="3" y="1"/>
                    </a:cubicBezTo>
                    <a:cubicBezTo>
                      <a:pt x="0" y="0"/>
                      <a:pt x="3" y="2"/>
                      <a:pt x="3" y="2"/>
                    </a:cubicBezTo>
                    <a:cubicBezTo>
                      <a:pt x="4" y="6"/>
                      <a:pt x="11" y="11"/>
                      <a:pt x="12" y="12"/>
                    </a:cubicBezTo>
                    <a:cubicBezTo>
                      <a:pt x="13" y="13"/>
                      <a:pt x="14" y="12"/>
                      <a:pt x="13" y="14"/>
                    </a:cubicBezTo>
                    <a:cubicBezTo>
                      <a:pt x="12" y="16"/>
                      <a:pt x="15" y="20"/>
                      <a:pt x="16" y="22"/>
                    </a:cubicBezTo>
                    <a:cubicBezTo>
                      <a:pt x="17" y="23"/>
                      <a:pt x="19" y="22"/>
                      <a:pt x="20" y="23"/>
                    </a:cubicBezTo>
                    <a:cubicBezTo>
                      <a:pt x="21" y="23"/>
                      <a:pt x="22" y="22"/>
                      <a:pt x="22" y="22"/>
                    </a:cubicBezTo>
                    <a:cubicBezTo>
                      <a:pt x="21" y="21"/>
                      <a:pt x="21" y="21"/>
                      <a:pt x="22" y="20"/>
                    </a:cubicBezTo>
                    <a:cubicBezTo>
                      <a:pt x="23" y="19"/>
                      <a:pt x="23" y="18"/>
                      <a:pt x="22" y="15"/>
                    </a:cubicBezTo>
                    <a:cubicBezTo>
                      <a:pt x="21" y="13"/>
                      <a:pt x="21" y="9"/>
                      <a:pt x="21" y="8"/>
                    </a:cubicBezTo>
                    <a:cubicBezTo>
                      <a:pt x="21" y="6"/>
                      <a:pt x="21" y="6"/>
                      <a:pt x="19" y="6"/>
                    </a:cubicBezTo>
                    <a:cubicBezTo>
                      <a:pt x="18" y="5"/>
                      <a:pt x="18" y="5"/>
                      <a:pt x="18" y="3"/>
                    </a:cubicBezTo>
                    <a:cubicBezTo>
                      <a:pt x="17" y="0"/>
                      <a:pt x="14" y="0"/>
                      <a:pt x="13"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12" name="Freeform 923">
                <a:extLst>
                  <a:ext uri="{FF2B5EF4-FFF2-40B4-BE49-F238E27FC236}">
                    <a16:creationId xmlns:a16="http://schemas.microsoft.com/office/drawing/2014/main" id="{F5846B1A-B9F4-463E-BDFA-75DE1D114E63}"/>
                  </a:ext>
                </a:extLst>
              </p:cNvPr>
              <p:cNvSpPr>
                <a:spLocks/>
              </p:cNvSpPr>
              <p:nvPr/>
            </p:nvSpPr>
            <p:spPr bwMode="auto">
              <a:xfrm>
                <a:off x="6006" y="2480"/>
                <a:ext cx="98" cy="91"/>
              </a:xfrm>
              <a:custGeom>
                <a:avLst/>
                <a:gdLst>
                  <a:gd name="T0" fmla="*/ 55 w 71"/>
                  <a:gd name="T1" fmla="*/ 10 h 66"/>
                  <a:gd name="T2" fmla="*/ 50 w 71"/>
                  <a:gd name="T3" fmla="*/ 13 h 66"/>
                  <a:gd name="T4" fmla="*/ 43 w 71"/>
                  <a:gd name="T5" fmla="*/ 18 h 66"/>
                  <a:gd name="T6" fmla="*/ 37 w 71"/>
                  <a:gd name="T7" fmla="*/ 21 h 66"/>
                  <a:gd name="T8" fmla="*/ 29 w 71"/>
                  <a:gd name="T9" fmla="*/ 27 h 66"/>
                  <a:gd name="T10" fmla="*/ 27 w 71"/>
                  <a:gd name="T11" fmla="*/ 19 h 66"/>
                  <a:gd name="T12" fmla="*/ 22 w 71"/>
                  <a:gd name="T13" fmla="*/ 18 h 66"/>
                  <a:gd name="T14" fmla="*/ 12 w 71"/>
                  <a:gd name="T15" fmla="*/ 27 h 66"/>
                  <a:gd name="T16" fmla="*/ 4 w 71"/>
                  <a:gd name="T17" fmla="*/ 34 h 66"/>
                  <a:gd name="T18" fmla="*/ 2 w 71"/>
                  <a:gd name="T19" fmla="*/ 38 h 66"/>
                  <a:gd name="T20" fmla="*/ 5 w 71"/>
                  <a:gd name="T21" fmla="*/ 43 h 66"/>
                  <a:gd name="T22" fmla="*/ 8 w 71"/>
                  <a:gd name="T23" fmla="*/ 38 h 66"/>
                  <a:gd name="T24" fmla="*/ 9 w 71"/>
                  <a:gd name="T25" fmla="*/ 35 h 66"/>
                  <a:gd name="T26" fmla="*/ 11 w 71"/>
                  <a:gd name="T27" fmla="*/ 32 h 66"/>
                  <a:gd name="T28" fmla="*/ 16 w 71"/>
                  <a:gd name="T29" fmla="*/ 35 h 66"/>
                  <a:gd name="T30" fmla="*/ 19 w 71"/>
                  <a:gd name="T31" fmla="*/ 34 h 66"/>
                  <a:gd name="T32" fmla="*/ 22 w 71"/>
                  <a:gd name="T33" fmla="*/ 37 h 66"/>
                  <a:gd name="T34" fmla="*/ 25 w 71"/>
                  <a:gd name="T35" fmla="*/ 30 h 66"/>
                  <a:gd name="T36" fmla="*/ 33 w 71"/>
                  <a:gd name="T37" fmla="*/ 41 h 66"/>
                  <a:gd name="T38" fmla="*/ 34 w 71"/>
                  <a:gd name="T39" fmla="*/ 53 h 66"/>
                  <a:gd name="T40" fmla="*/ 49 w 71"/>
                  <a:gd name="T41" fmla="*/ 57 h 66"/>
                  <a:gd name="T42" fmla="*/ 51 w 71"/>
                  <a:gd name="T43" fmla="*/ 64 h 66"/>
                  <a:gd name="T44" fmla="*/ 57 w 71"/>
                  <a:gd name="T45" fmla="*/ 56 h 66"/>
                  <a:gd name="T46" fmla="*/ 53 w 71"/>
                  <a:gd name="T47" fmla="*/ 46 h 66"/>
                  <a:gd name="T48" fmla="*/ 61 w 71"/>
                  <a:gd name="T49" fmla="*/ 40 h 66"/>
                  <a:gd name="T50" fmla="*/ 63 w 71"/>
                  <a:gd name="T51" fmla="*/ 48 h 66"/>
                  <a:gd name="T52" fmla="*/ 65 w 71"/>
                  <a:gd name="T53" fmla="*/ 50 h 66"/>
                  <a:gd name="T54" fmla="*/ 66 w 71"/>
                  <a:gd name="T55" fmla="*/ 45 h 66"/>
                  <a:gd name="T56" fmla="*/ 69 w 71"/>
                  <a:gd name="T57" fmla="*/ 42 h 66"/>
                  <a:gd name="T58" fmla="*/ 68 w 71"/>
                  <a:gd name="T59" fmla="*/ 30 h 66"/>
                  <a:gd name="T60" fmla="*/ 69 w 71"/>
                  <a:gd name="T61" fmla="*/ 26 h 66"/>
                  <a:gd name="T62" fmla="*/ 67 w 71"/>
                  <a:gd name="T63" fmla="*/ 23 h 66"/>
                  <a:gd name="T64" fmla="*/ 65 w 71"/>
                  <a:gd name="T65" fmla="*/ 17 h 66"/>
                  <a:gd name="T66" fmla="*/ 65 w 71"/>
                  <a:gd name="T67" fmla="*/ 9 h 66"/>
                  <a:gd name="T68" fmla="*/ 61 w 71"/>
                  <a:gd name="T69" fmla="*/ 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1" h="66">
                    <a:moveTo>
                      <a:pt x="54" y="1"/>
                    </a:moveTo>
                    <a:cubicBezTo>
                      <a:pt x="52" y="0"/>
                      <a:pt x="54" y="7"/>
                      <a:pt x="55" y="10"/>
                    </a:cubicBezTo>
                    <a:cubicBezTo>
                      <a:pt x="55" y="14"/>
                      <a:pt x="52" y="12"/>
                      <a:pt x="51" y="12"/>
                    </a:cubicBezTo>
                    <a:cubicBezTo>
                      <a:pt x="50" y="11"/>
                      <a:pt x="51" y="11"/>
                      <a:pt x="50" y="13"/>
                    </a:cubicBezTo>
                    <a:cubicBezTo>
                      <a:pt x="50" y="15"/>
                      <a:pt x="48" y="15"/>
                      <a:pt x="46" y="13"/>
                    </a:cubicBezTo>
                    <a:cubicBezTo>
                      <a:pt x="44" y="12"/>
                      <a:pt x="43" y="15"/>
                      <a:pt x="43" y="18"/>
                    </a:cubicBezTo>
                    <a:cubicBezTo>
                      <a:pt x="44" y="22"/>
                      <a:pt x="42" y="20"/>
                      <a:pt x="40" y="19"/>
                    </a:cubicBezTo>
                    <a:cubicBezTo>
                      <a:pt x="38" y="18"/>
                      <a:pt x="38" y="19"/>
                      <a:pt x="37" y="21"/>
                    </a:cubicBezTo>
                    <a:cubicBezTo>
                      <a:pt x="36" y="23"/>
                      <a:pt x="31" y="27"/>
                      <a:pt x="29" y="28"/>
                    </a:cubicBezTo>
                    <a:cubicBezTo>
                      <a:pt x="26" y="29"/>
                      <a:pt x="27" y="28"/>
                      <a:pt x="29" y="27"/>
                    </a:cubicBezTo>
                    <a:cubicBezTo>
                      <a:pt x="30" y="26"/>
                      <a:pt x="30" y="24"/>
                      <a:pt x="30" y="22"/>
                    </a:cubicBezTo>
                    <a:cubicBezTo>
                      <a:pt x="30" y="20"/>
                      <a:pt x="28" y="19"/>
                      <a:pt x="27" y="19"/>
                    </a:cubicBezTo>
                    <a:cubicBezTo>
                      <a:pt x="27" y="19"/>
                      <a:pt x="26" y="18"/>
                      <a:pt x="25" y="18"/>
                    </a:cubicBezTo>
                    <a:cubicBezTo>
                      <a:pt x="24" y="17"/>
                      <a:pt x="24" y="17"/>
                      <a:pt x="22" y="18"/>
                    </a:cubicBezTo>
                    <a:cubicBezTo>
                      <a:pt x="21" y="19"/>
                      <a:pt x="19" y="18"/>
                      <a:pt x="17" y="22"/>
                    </a:cubicBezTo>
                    <a:cubicBezTo>
                      <a:pt x="16" y="26"/>
                      <a:pt x="18" y="25"/>
                      <a:pt x="12" y="27"/>
                    </a:cubicBezTo>
                    <a:cubicBezTo>
                      <a:pt x="5" y="28"/>
                      <a:pt x="5" y="31"/>
                      <a:pt x="4" y="32"/>
                    </a:cubicBezTo>
                    <a:cubicBezTo>
                      <a:pt x="4" y="33"/>
                      <a:pt x="4" y="34"/>
                      <a:pt x="4" y="34"/>
                    </a:cubicBezTo>
                    <a:cubicBezTo>
                      <a:pt x="4" y="35"/>
                      <a:pt x="4" y="35"/>
                      <a:pt x="4" y="36"/>
                    </a:cubicBezTo>
                    <a:cubicBezTo>
                      <a:pt x="3" y="36"/>
                      <a:pt x="2" y="38"/>
                      <a:pt x="2" y="38"/>
                    </a:cubicBezTo>
                    <a:cubicBezTo>
                      <a:pt x="0" y="41"/>
                      <a:pt x="2" y="44"/>
                      <a:pt x="2" y="44"/>
                    </a:cubicBezTo>
                    <a:cubicBezTo>
                      <a:pt x="4" y="45"/>
                      <a:pt x="5" y="44"/>
                      <a:pt x="5" y="43"/>
                    </a:cubicBezTo>
                    <a:cubicBezTo>
                      <a:pt x="6" y="42"/>
                      <a:pt x="7" y="41"/>
                      <a:pt x="7" y="40"/>
                    </a:cubicBezTo>
                    <a:cubicBezTo>
                      <a:pt x="7" y="39"/>
                      <a:pt x="7" y="38"/>
                      <a:pt x="8" y="38"/>
                    </a:cubicBezTo>
                    <a:cubicBezTo>
                      <a:pt x="8" y="37"/>
                      <a:pt x="8" y="36"/>
                      <a:pt x="8" y="36"/>
                    </a:cubicBezTo>
                    <a:cubicBezTo>
                      <a:pt x="7" y="36"/>
                      <a:pt x="8" y="36"/>
                      <a:pt x="9" y="35"/>
                    </a:cubicBezTo>
                    <a:cubicBezTo>
                      <a:pt x="10" y="34"/>
                      <a:pt x="10" y="34"/>
                      <a:pt x="9" y="34"/>
                    </a:cubicBezTo>
                    <a:cubicBezTo>
                      <a:pt x="8" y="34"/>
                      <a:pt x="9" y="33"/>
                      <a:pt x="11" y="32"/>
                    </a:cubicBezTo>
                    <a:cubicBezTo>
                      <a:pt x="13" y="31"/>
                      <a:pt x="15" y="33"/>
                      <a:pt x="14" y="35"/>
                    </a:cubicBezTo>
                    <a:cubicBezTo>
                      <a:pt x="14" y="37"/>
                      <a:pt x="15" y="36"/>
                      <a:pt x="16" y="35"/>
                    </a:cubicBezTo>
                    <a:cubicBezTo>
                      <a:pt x="17" y="35"/>
                      <a:pt x="18" y="33"/>
                      <a:pt x="19" y="32"/>
                    </a:cubicBezTo>
                    <a:cubicBezTo>
                      <a:pt x="20" y="32"/>
                      <a:pt x="21" y="33"/>
                      <a:pt x="19" y="34"/>
                    </a:cubicBezTo>
                    <a:cubicBezTo>
                      <a:pt x="18" y="35"/>
                      <a:pt x="20" y="36"/>
                      <a:pt x="21" y="36"/>
                    </a:cubicBezTo>
                    <a:cubicBezTo>
                      <a:pt x="22" y="35"/>
                      <a:pt x="21" y="35"/>
                      <a:pt x="22" y="37"/>
                    </a:cubicBezTo>
                    <a:cubicBezTo>
                      <a:pt x="23" y="38"/>
                      <a:pt x="23" y="37"/>
                      <a:pt x="23" y="34"/>
                    </a:cubicBezTo>
                    <a:cubicBezTo>
                      <a:pt x="22" y="32"/>
                      <a:pt x="23" y="31"/>
                      <a:pt x="25" y="30"/>
                    </a:cubicBezTo>
                    <a:cubicBezTo>
                      <a:pt x="27" y="29"/>
                      <a:pt x="33" y="35"/>
                      <a:pt x="35" y="37"/>
                    </a:cubicBezTo>
                    <a:cubicBezTo>
                      <a:pt x="36" y="38"/>
                      <a:pt x="35" y="39"/>
                      <a:pt x="33" y="41"/>
                    </a:cubicBezTo>
                    <a:cubicBezTo>
                      <a:pt x="32" y="43"/>
                      <a:pt x="32" y="46"/>
                      <a:pt x="33" y="48"/>
                    </a:cubicBezTo>
                    <a:cubicBezTo>
                      <a:pt x="33" y="50"/>
                      <a:pt x="32" y="50"/>
                      <a:pt x="34" y="53"/>
                    </a:cubicBezTo>
                    <a:cubicBezTo>
                      <a:pt x="36" y="55"/>
                      <a:pt x="44" y="58"/>
                      <a:pt x="46" y="59"/>
                    </a:cubicBezTo>
                    <a:cubicBezTo>
                      <a:pt x="48" y="60"/>
                      <a:pt x="48" y="59"/>
                      <a:pt x="49" y="57"/>
                    </a:cubicBezTo>
                    <a:cubicBezTo>
                      <a:pt x="50" y="55"/>
                      <a:pt x="51" y="57"/>
                      <a:pt x="50" y="58"/>
                    </a:cubicBezTo>
                    <a:cubicBezTo>
                      <a:pt x="50" y="60"/>
                      <a:pt x="50" y="62"/>
                      <a:pt x="51" y="64"/>
                    </a:cubicBezTo>
                    <a:cubicBezTo>
                      <a:pt x="53" y="66"/>
                      <a:pt x="54" y="63"/>
                      <a:pt x="55" y="61"/>
                    </a:cubicBezTo>
                    <a:cubicBezTo>
                      <a:pt x="57" y="60"/>
                      <a:pt x="57" y="58"/>
                      <a:pt x="57" y="56"/>
                    </a:cubicBezTo>
                    <a:cubicBezTo>
                      <a:pt x="57" y="54"/>
                      <a:pt x="55" y="50"/>
                      <a:pt x="54" y="49"/>
                    </a:cubicBezTo>
                    <a:cubicBezTo>
                      <a:pt x="53" y="48"/>
                      <a:pt x="53" y="49"/>
                      <a:pt x="53" y="46"/>
                    </a:cubicBezTo>
                    <a:cubicBezTo>
                      <a:pt x="54" y="44"/>
                      <a:pt x="56" y="40"/>
                      <a:pt x="58" y="38"/>
                    </a:cubicBezTo>
                    <a:cubicBezTo>
                      <a:pt x="59" y="37"/>
                      <a:pt x="61" y="38"/>
                      <a:pt x="61" y="40"/>
                    </a:cubicBezTo>
                    <a:cubicBezTo>
                      <a:pt x="61" y="41"/>
                      <a:pt x="62" y="43"/>
                      <a:pt x="62" y="45"/>
                    </a:cubicBezTo>
                    <a:cubicBezTo>
                      <a:pt x="63" y="46"/>
                      <a:pt x="63" y="46"/>
                      <a:pt x="63" y="48"/>
                    </a:cubicBezTo>
                    <a:cubicBezTo>
                      <a:pt x="63" y="50"/>
                      <a:pt x="63" y="50"/>
                      <a:pt x="64" y="52"/>
                    </a:cubicBezTo>
                    <a:cubicBezTo>
                      <a:pt x="65" y="54"/>
                      <a:pt x="65" y="52"/>
                      <a:pt x="65" y="50"/>
                    </a:cubicBezTo>
                    <a:cubicBezTo>
                      <a:pt x="64" y="49"/>
                      <a:pt x="65" y="47"/>
                      <a:pt x="65" y="45"/>
                    </a:cubicBezTo>
                    <a:cubicBezTo>
                      <a:pt x="64" y="43"/>
                      <a:pt x="65" y="44"/>
                      <a:pt x="66" y="45"/>
                    </a:cubicBezTo>
                    <a:cubicBezTo>
                      <a:pt x="67" y="46"/>
                      <a:pt x="67" y="45"/>
                      <a:pt x="68" y="44"/>
                    </a:cubicBezTo>
                    <a:cubicBezTo>
                      <a:pt x="68" y="43"/>
                      <a:pt x="68" y="44"/>
                      <a:pt x="69" y="42"/>
                    </a:cubicBezTo>
                    <a:cubicBezTo>
                      <a:pt x="70" y="41"/>
                      <a:pt x="70" y="38"/>
                      <a:pt x="71" y="35"/>
                    </a:cubicBezTo>
                    <a:cubicBezTo>
                      <a:pt x="71" y="32"/>
                      <a:pt x="69" y="31"/>
                      <a:pt x="68" y="30"/>
                    </a:cubicBezTo>
                    <a:cubicBezTo>
                      <a:pt x="67" y="29"/>
                      <a:pt x="67" y="29"/>
                      <a:pt x="68" y="29"/>
                    </a:cubicBezTo>
                    <a:cubicBezTo>
                      <a:pt x="68" y="28"/>
                      <a:pt x="69" y="27"/>
                      <a:pt x="69" y="26"/>
                    </a:cubicBezTo>
                    <a:cubicBezTo>
                      <a:pt x="69" y="25"/>
                      <a:pt x="69" y="25"/>
                      <a:pt x="68" y="25"/>
                    </a:cubicBezTo>
                    <a:cubicBezTo>
                      <a:pt x="67" y="25"/>
                      <a:pt x="66" y="25"/>
                      <a:pt x="67" y="23"/>
                    </a:cubicBezTo>
                    <a:cubicBezTo>
                      <a:pt x="68" y="20"/>
                      <a:pt x="67" y="20"/>
                      <a:pt x="65" y="20"/>
                    </a:cubicBezTo>
                    <a:cubicBezTo>
                      <a:pt x="62" y="20"/>
                      <a:pt x="64" y="18"/>
                      <a:pt x="65" y="17"/>
                    </a:cubicBezTo>
                    <a:cubicBezTo>
                      <a:pt x="67" y="15"/>
                      <a:pt x="67" y="13"/>
                      <a:pt x="66" y="13"/>
                    </a:cubicBezTo>
                    <a:cubicBezTo>
                      <a:pt x="65" y="12"/>
                      <a:pt x="65" y="11"/>
                      <a:pt x="65" y="9"/>
                    </a:cubicBezTo>
                    <a:cubicBezTo>
                      <a:pt x="66" y="8"/>
                      <a:pt x="64" y="9"/>
                      <a:pt x="63" y="9"/>
                    </a:cubicBezTo>
                    <a:cubicBezTo>
                      <a:pt x="62" y="10"/>
                      <a:pt x="62" y="7"/>
                      <a:pt x="61" y="6"/>
                    </a:cubicBezTo>
                    <a:cubicBezTo>
                      <a:pt x="60" y="5"/>
                      <a:pt x="56" y="2"/>
                      <a:pt x="5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13" name="Freeform 924">
                <a:extLst>
                  <a:ext uri="{FF2B5EF4-FFF2-40B4-BE49-F238E27FC236}">
                    <a16:creationId xmlns:a16="http://schemas.microsoft.com/office/drawing/2014/main" id="{49DC60F7-0BF7-41DE-A594-0BC7502EE43A}"/>
                  </a:ext>
                </a:extLst>
              </p:cNvPr>
              <p:cNvSpPr>
                <a:spLocks/>
              </p:cNvSpPr>
              <p:nvPr/>
            </p:nvSpPr>
            <p:spPr bwMode="auto">
              <a:xfrm>
                <a:off x="6081" y="2467"/>
                <a:ext cx="4" cy="11"/>
              </a:xfrm>
              <a:custGeom>
                <a:avLst/>
                <a:gdLst>
                  <a:gd name="T0" fmla="*/ 2 w 3"/>
                  <a:gd name="T1" fmla="*/ 2 h 8"/>
                  <a:gd name="T2" fmla="*/ 1 w 3"/>
                  <a:gd name="T3" fmla="*/ 7 h 8"/>
                  <a:gd name="T4" fmla="*/ 3 w 3"/>
                  <a:gd name="T5" fmla="*/ 6 h 8"/>
                  <a:gd name="T6" fmla="*/ 3 w 3"/>
                  <a:gd name="T7" fmla="*/ 3 h 8"/>
                  <a:gd name="T8" fmla="*/ 2 w 3"/>
                  <a:gd name="T9" fmla="*/ 2 h 8"/>
                </a:gdLst>
                <a:ahLst/>
                <a:cxnLst>
                  <a:cxn ang="0">
                    <a:pos x="T0" y="T1"/>
                  </a:cxn>
                  <a:cxn ang="0">
                    <a:pos x="T2" y="T3"/>
                  </a:cxn>
                  <a:cxn ang="0">
                    <a:pos x="T4" y="T5"/>
                  </a:cxn>
                  <a:cxn ang="0">
                    <a:pos x="T6" y="T7"/>
                  </a:cxn>
                  <a:cxn ang="0">
                    <a:pos x="T8" y="T9"/>
                  </a:cxn>
                </a:cxnLst>
                <a:rect l="0" t="0" r="r" b="b"/>
                <a:pathLst>
                  <a:path w="3" h="8">
                    <a:moveTo>
                      <a:pt x="2" y="2"/>
                    </a:moveTo>
                    <a:cubicBezTo>
                      <a:pt x="1" y="5"/>
                      <a:pt x="0" y="6"/>
                      <a:pt x="1" y="7"/>
                    </a:cubicBezTo>
                    <a:cubicBezTo>
                      <a:pt x="2" y="7"/>
                      <a:pt x="3" y="8"/>
                      <a:pt x="3" y="6"/>
                    </a:cubicBezTo>
                    <a:cubicBezTo>
                      <a:pt x="2" y="5"/>
                      <a:pt x="3" y="3"/>
                      <a:pt x="3" y="3"/>
                    </a:cubicBezTo>
                    <a:cubicBezTo>
                      <a:pt x="3" y="3"/>
                      <a:pt x="2" y="0"/>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14" name="Freeform 925">
                <a:extLst>
                  <a:ext uri="{FF2B5EF4-FFF2-40B4-BE49-F238E27FC236}">
                    <a16:creationId xmlns:a16="http://schemas.microsoft.com/office/drawing/2014/main" id="{01C9FCA9-91F0-45F3-947A-A4DC89A00EB7}"/>
                  </a:ext>
                </a:extLst>
              </p:cNvPr>
              <p:cNvSpPr>
                <a:spLocks/>
              </p:cNvSpPr>
              <p:nvPr/>
            </p:nvSpPr>
            <p:spPr bwMode="auto">
              <a:xfrm>
                <a:off x="6091" y="2475"/>
                <a:ext cx="5" cy="8"/>
              </a:xfrm>
              <a:custGeom>
                <a:avLst/>
                <a:gdLst>
                  <a:gd name="T0" fmla="*/ 1 w 4"/>
                  <a:gd name="T1" fmla="*/ 2 h 6"/>
                  <a:gd name="T2" fmla="*/ 2 w 4"/>
                  <a:gd name="T3" fmla="*/ 5 h 6"/>
                  <a:gd name="T4" fmla="*/ 3 w 4"/>
                  <a:gd name="T5" fmla="*/ 3 h 6"/>
                  <a:gd name="T6" fmla="*/ 1 w 4"/>
                  <a:gd name="T7" fmla="*/ 2 h 6"/>
                </a:gdLst>
                <a:ahLst/>
                <a:cxnLst>
                  <a:cxn ang="0">
                    <a:pos x="T0" y="T1"/>
                  </a:cxn>
                  <a:cxn ang="0">
                    <a:pos x="T2" y="T3"/>
                  </a:cxn>
                  <a:cxn ang="0">
                    <a:pos x="T4" y="T5"/>
                  </a:cxn>
                  <a:cxn ang="0">
                    <a:pos x="T6" y="T7"/>
                  </a:cxn>
                </a:cxnLst>
                <a:rect l="0" t="0" r="r" b="b"/>
                <a:pathLst>
                  <a:path w="4" h="6">
                    <a:moveTo>
                      <a:pt x="1" y="2"/>
                    </a:moveTo>
                    <a:cubicBezTo>
                      <a:pt x="1" y="2"/>
                      <a:pt x="0" y="6"/>
                      <a:pt x="2" y="5"/>
                    </a:cubicBezTo>
                    <a:cubicBezTo>
                      <a:pt x="4" y="4"/>
                      <a:pt x="3" y="5"/>
                      <a:pt x="3" y="3"/>
                    </a:cubicBezTo>
                    <a:cubicBezTo>
                      <a:pt x="2" y="1"/>
                      <a:pt x="2"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15" name="Freeform 926">
                <a:extLst>
                  <a:ext uri="{FF2B5EF4-FFF2-40B4-BE49-F238E27FC236}">
                    <a16:creationId xmlns:a16="http://schemas.microsoft.com/office/drawing/2014/main" id="{09A68A52-BCCB-4073-9073-2723DB18B830}"/>
                  </a:ext>
                </a:extLst>
              </p:cNvPr>
              <p:cNvSpPr>
                <a:spLocks/>
              </p:cNvSpPr>
              <p:nvPr/>
            </p:nvSpPr>
            <p:spPr bwMode="auto">
              <a:xfrm>
                <a:off x="5966" y="2569"/>
                <a:ext cx="8" cy="9"/>
              </a:xfrm>
              <a:custGeom>
                <a:avLst/>
                <a:gdLst>
                  <a:gd name="T0" fmla="*/ 4 w 6"/>
                  <a:gd name="T1" fmla="*/ 5 h 6"/>
                  <a:gd name="T2" fmla="*/ 5 w 6"/>
                  <a:gd name="T3" fmla="*/ 5 h 6"/>
                  <a:gd name="T4" fmla="*/ 0 w 6"/>
                  <a:gd name="T5" fmla="*/ 6 h 6"/>
                  <a:gd name="T6" fmla="*/ 4 w 6"/>
                  <a:gd name="T7" fmla="*/ 5 h 6"/>
                </a:gdLst>
                <a:ahLst/>
                <a:cxnLst>
                  <a:cxn ang="0">
                    <a:pos x="T0" y="T1"/>
                  </a:cxn>
                  <a:cxn ang="0">
                    <a:pos x="T2" y="T3"/>
                  </a:cxn>
                  <a:cxn ang="0">
                    <a:pos x="T4" y="T5"/>
                  </a:cxn>
                  <a:cxn ang="0">
                    <a:pos x="T6" y="T7"/>
                  </a:cxn>
                </a:cxnLst>
                <a:rect l="0" t="0" r="r" b="b"/>
                <a:pathLst>
                  <a:path w="6" h="6">
                    <a:moveTo>
                      <a:pt x="4" y="5"/>
                    </a:moveTo>
                    <a:cubicBezTo>
                      <a:pt x="5" y="4"/>
                      <a:pt x="5" y="5"/>
                      <a:pt x="5" y="5"/>
                    </a:cubicBezTo>
                    <a:cubicBezTo>
                      <a:pt x="6" y="0"/>
                      <a:pt x="1" y="5"/>
                      <a:pt x="0" y="6"/>
                    </a:cubicBezTo>
                    <a:cubicBezTo>
                      <a:pt x="1" y="6"/>
                      <a:pt x="3" y="5"/>
                      <a:pt x="4"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16" name="Freeform 927">
                <a:extLst>
                  <a:ext uri="{FF2B5EF4-FFF2-40B4-BE49-F238E27FC236}">
                    <a16:creationId xmlns:a16="http://schemas.microsoft.com/office/drawing/2014/main" id="{929BFB45-AD88-458B-A2D6-486175759AB1}"/>
                  </a:ext>
                </a:extLst>
              </p:cNvPr>
              <p:cNvSpPr>
                <a:spLocks/>
              </p:cNvSpPr>
              <p:nvPr/>
            </p:nvSpPr>
            <p:spPr bwMode="auto">
              <a:xfrm>
                <a:off x="5987" y="2557"/>
                <a:ext cx="12" cy="7"/>
              </a:xfrm>
              <a:custGeom>
                <a:avLst/>
                <a:gdLst>
                  <a:gd name="T0" fmla="*/ 4 w 9"/>
                  <a:gd name="T1" fmla="*/ 1 h 5"/>
                  <a:gd name="T2" fmla="*/ 1 w 9"/>
                  <a:gd name="T3" fmla="*/ 1 h 5"/>
                  <a:gd name="T4" fmla="*/ 1 w 9"/>
                  <a:gd name="T5" fmla="*/ 2 h 5"/>
                  <a:gd name="T6" fmla="*/ 7 w 9"/>
                  <a:gd name="T7" fmla="*/ 4 h 5"/>
                  <a:gd name="T8" fmla="*/ 7 w 9"/>
                  <a:gd name="T9" fmla="*/ 2 h 5"/>
                  <a:gd name="T10" fmla="*/ 4 w 9"/>
                  <a:gd name="T11" fmla="*/ 1 h 5"/>
                </a:gdLst>
                <a:ahLst/>
                <a:cxnLst>
                  <a:cxn ang="0">
                    <a:pos x="T0" y="T1"/>
                  </a:cxn>
                  <a:cxn ang="0">
                    <a:pos x="T2" y="T3"/>
                  </a:cxn>
                  <a:cxn ang="0">
                    <a:pos x="T4" y="T5"/>
                  </a:cxn>
                  <a:cxn ang="0">
                    <a:pos x="T6" y="T7"/>
                  </a:cxn>
                  <a:cxn ang="0">
                    <a:pos x="T8" y="T9"/>
                  </a:cxn>
                  <a:cxn ang="0">
                    <a:pos x="T10" y="T11"/>
                  </a:cxn>
                </a:cxnLst>
                <a:rect l="0" t="0" r="r" b="b"/>
                <a:pathLst>
                  <a:path w="9" h="5">
                    <a:moveTo>
                      <a:pt x="4" y="1"/>
                    </a:moveTo>
                    <a:cubicBezTo>
                      <a:pt x="3" y="0"/>
                      <a:pt x="3" y="0"/>
                      <a:pt x="1" y="1"/>
                    </a:cubicBezTo>
                    <a:cubicBezTo>
                      <a:pt x="0" y="2"/>
                      <a:pt x="1" y="2"/>
                      <a:pt x="1" y="2"/>
                    </a:cubicBezTo>
                    <a:cubicBezTo>
                      <a:pt x="2" y="3"/>
                      <a:pt x="5" y="5"/>
                      <a:pt x="7" y="4"/>
                    </a:cubicBezTo>
                    <a:cubicBezTo>
                      <a:pt x="9" y="3"/>
                      <a:pt x="8" y="2"/>
                      <a:pt x="7" y="2"/>
                    </a:cubicBezTo>
                    <a:cubicBezTo>
                      <a:pt x="6" y="2"/>
                      <a:pt x="5" y="2"/>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17" name="Freeform 928">
                <a:extLst>
                  <a:ext uri="{FF2B5EF4-FFF2-40B4-BE49-F238E27FC236}">
                    <a16:creationId xmlns:a16="http://schemas.microsoft.com/office/drawing/2014/main" id="{3AA8494B-963C-4435-979B-9F29169CC530}"/>
                  </a:ext>
                </a:extLst>
              </p:cNvPr>
              <p:cNvSpPr>
                <a:spLocks/>
              </p:cNvSpPr>
              <p:nvPr/>
            </p:nvSpPr>
            <p:spPr bwMode="auto">
              <a:xfrm>
                <a:off x="6006" y="2542"/>
                <a:ext cx="11" cy="10"/>
              </a:xfrm>
              <a:custGeom>
                <a:avLst/>
                <a:gdLst>
                  <a:gd name="T0" fmla="*/ 0 w 8"/>
                  <a:gd name="T1" fmla="*/ 4 h 7"/>
                  <a:gd name="T2" fmla="*/ 4 w 8"/>
                  <a:gd name="T3" fmla="*/ 6 h 7"/>
                  <a:gd name="T4" fmla="*/ 7 w 8"/>
                  <a:gd name="T5" fmla="*/ 4 h 7"/>
                  <a:gd name="T6" fmla="*/ 5 w 8"/>
                  <a:gd name="T7" fmla="*/ 2 h 7"/>
                  <a:gd name="T8" fmla="*/ 1 w 8"/>
                  <a:gd name="T9" fmla="*/ 3 h 7"/>
                  <a:gd name="T10" fmla="*/ 0 w 8"/>
                  <a:gd name="T11" fmla="*/ 4 h 7"/>
                </a:gdLst>
                <a:ahLst/>
                <a:cxnLst>
                  <a:cxn ang="0">
                    <a:pos x="T0" y="T1"/>
                  </a:cxn>
                  <a:cxn ang="0">
                    <a:pos x="T2" y="T3"/>
                  </a:cxn>
                  <a:cxn ang="0">
                    <a:pos x="T4" y="T5"/>
                  </a:cxn>
                  <a:cxn ang="0">
                    <a:pos x="T6" y="T7"/>
                  </a:cxn>
                  <a:cxn ang="0">
                    <a:pos x="T8" y="T9"/>
                  </a:cxn>
                  <a:cxn ang="0">
                    <a:pos x="T10" y="T11"/>
                  </a:cxn>
                </a:cxnLst>
                <a:rect l="0" t="0" r="r" b="b"/>
                <a:pathLst>
                  <a:path w="8" h="7">
                    <a:moveTo>
                      <a:pt x="0" y="4"/>
                    </a:moveTo>
                    <a:cubicBezTo>
                      <a:pt x="2" y="6"/>
                      <a:pt x="3" y="7"/>
                      <a:pt x="4" y="6"/>
                    </a:cubicBezTo>
                    <a:cubicBezTo>
                      <a:pt x="5" y="6"/>
                      <a:pt x="5" y="5"/>
                      <a:pt x="7" y="4"/>
                    </a:cubicBezTo>
                    <a:cubicBezTo>
                      <a:pt x="8" y="3"/>
                      <a:pt x="6" y="3"/>
                      <a:pt x="5" y="2"/>
                    </a:cubicBezTo>
                    <a:cubicBezTo>
                      <a:pt x="3" y="0"/>
                      <a:pt x="3" y="2"/>
                      <a:pt x="1" y="3"/>
                    </a:cubicBezTo>
                    <a:cubicBezTo>
                      <a:pt x="0" y="3"/>
                      <a:pt x="0" y="4"/>
                      <a:pt x="0"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18" name="Freeform 929">
                <a:extLst>
                  <a:ext uri="{FF2B5EF4-FFF2-40B4-BE49-F238E27FC236}">
                    <a16:creationId xmlns:a16="http://schemas.microsoft.com/office/drawing/2014/main" id="{6CB28439-EBF0-44EB-B840-BD1D2A6B2B67}"/>
                  </a:ext>
                </a:extLst>
              </p:cNvPr>
              <p:cNvSpPr>
                <a:spLocks/>
              </p:cNvSpPr>
              <p:nvPr/>
            </p:nvSpPr>
            <p:spPr bwMode="auto">
              <a:xfrm>
                <a:off x="6085" y="2535"/>
                <a:ext cx="1" cy="7"/>
              </a:xfrm>
              <a:custGeom>
                <a:avLst/>
                <a:gdLst>
                  <a:gd name="T0" fmla="*/ 1 w 1"/>
                  <a:gd name="T1" fmla="*/ 5 h 5"/>
                  <a:gd name="T2" fmla="*/ 1 w 1"/>
                  <a:gd name="T3" fmla="*/ 1 h 5"/>
                  <a:gd name="T4" fmla="*/ 1 w 1"/>
                  <a:gd name="T5" fmla="*/ 5 h 5"/>
                </a:gdLst>
                <a:ahLst/>
                <a:cxnLst>
                  <a:cxn ang="0">
                    <a:pos x="T0" y="T1"/>
                  </a:cxn>
                  <a:cxn ang="0">
                    <a:pos x="T2" y="T3"/>
                  </a:cxn>
                  <a:cxn ang="0">
                    <a:pos x="T4" y="T5"/>
                  </a:cxn>
                </a:cxnLst>
                <a:rect l="0" t="0" r="r" b="b"/>
                <a:pathLst>
                  <a:path w="1" h="5">
                    <a:moveTo>
                      <a:pt x="1" y="5"/>
                    </a:moveTo>
                    <a:cubicBezTo>
                      <a:pt x="1" y="5"/>
                      <a:pt x="1" y="2"/>
                      <a:pt x="1" y="1"/>
                    </a:cubicBezTo>
                    <a:cubicBezTo>
                      <a:pt x="0" y="0"/>
                      <a:pt x="0" y="2"/>
                      <a:pt x="1"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19" name="Freeform 930">
                <a:extLst>
                  <a:ext uri="{FF2B5EF4-FFF2-40B4-BE49-F238E27FC236}">
                    <a16:creationId xmlns:a16="http://schemas.microsoft.com/office/drawing/2014/main" id="{CBB6BB65-A40D-4383-ADAF-53102A240379}"/>
                  </a:ext>
                </a:extLst>
              </p:cNvPr>
              <p:cNvSpPr>
                <a:spLocks/>
              </p:cNvSpPr>
              <p:nvPr/>
            </p:nvSpPr>
            <p:spPr bwMode="auto">
              <a:xfrm>
                <a:off x="5905" y="2517"/>
                <a:ext cx="4" cy="6"/>
              </a:xfrm>
              <a:custGeom>
                <a:avLst/>
                <a:gdLst>
                  <a:gd name="T0" fmla="*/ 2 w 3"/>
                  <a:gd name="T1" fmla="*/ 0 h 4"/>
                  <a:gd name="T2" fmla="*/ 1 w 3"/>
                  <a:gd name="T3" fmla="*/ 1 h 4"/>
                  <a:gd name="T4" fmla="*/ 2 w 3"/>
                  <a:gd name="T5" fmla="*/ 3 h 4"/>
                  <a:gd name="T6" fmla="*/ 2 w 3"/>
                  <a:gd name="T7" fmla="*/ 1 h 4"/>
                  <a:gd name="T8" fmla="*/ 2 w 3"/>
                  <a:gd name="T9" fmla="*/ 0 h 4"/>
                </a:gdLst>
                <a:ahLst/>
                <a:cxnLst>
                  <a:cxn ang="0">
                    <a:pos x="T0" y="T1"/>
                  </a:cxn>
                  <a:cxn ang="0">
                    <a:pos x="T2" y="T3"/>
                  </a:cxn>
                  <a:cxn ang="0">
                    <a:pos x="T4" y="T5"/>
                  </a:cxn>
                  <a:cxn ang="0">
                    <a:pos x="T6" y="T7"/>
                  </a:cxn>
                  <a:cxn ang="0">
                    <a:pos x="T8" y="T9"/>
                  </a:cxn>
                </a:cxnLst>
                <a:rect l="0" t="0" r="r" b="b"/>
                <a:pathLst>
                  <a:path w="3" h="4">
                    <a:moveTo>
                      <a:pt x="2" y="0"/>
                    </a:moveTo>
                    <a:cubicBezTo>
                      <a:pt x="0" y="0"/>
                      <a:pt x="1" y="1"/>
                      <a:pt x="1" y="1"/>
                    </a:cubicBezTo>
                    <a:cubicBezTo>
                      <a:pt x="1" y="2"/>
                      <a:pt x="1" y="4"/>
                      <a:pt x="2" y="3"/>
                    </a:cubicBezTo>
                    <a:cubicBezTo>
                      <a:pt x="2" y="3"/>
                      <a:pt x="3" y="2"/>
                      <a:pt x="2" y="1"/>
                    </a:cubicBezTo>
                    <a:cubicBezTo>
                      <a:pt x="2" y="0"/>
                      <a:pt x="3"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20" name="Freeform 931">
                <a:extLst>
                  <a:ext uri="{FF2B5EF4-FFF2-40B4-BE49-F238E27FC236}">
                    <a16:creationId xmlns:a16="http://schemas.microsoft.com/office/drawing/2014/main" id="{CBD65359-5C0F-4A44-8702-A20CD0E32F05}"/>
                  </a:ext>
                </a:extLst>
              </p:cNvPr>
              <p:cNvSpPr>
                <a:spLocks/>
              </p:cNvSpPr>
              <p:nvPr/>
            </p:nvSpPr>
            <p:spPr bwMode="auto">
              <a:xfrm>
                <a:off x="5865" y="2582"/>
                <a:ext cx="8" cy="12"/>
              </a:xfrm>
              <a:custGeom>
                <a:avLst/>
                <a:gdLst>
                  <a:gd name="T0" fmla="*/ 1 w 6"/>
                  <a:gd name="T1" fmla="*/ 6 h 9"/>
                  <a:gd name="T2" fmla="*/ 3 w 6"/>
                  <a:gd name="T3" fmla="*/ 8 h 9"/>
                  <a:gd name="T4" fmla="*/ 5 w 6"/>
                  <a:gd name="T5" fmla="*/ 9 h 9"/>
                  <a:gd name="T6" fmla="*/ 5 w 6"/>
                  <a:gd name="T7" fmla="*/ 7 h 9"/>
                  <a:gd name="T8" fmla="*/ 4 w 6"/>
                  <a:gd name="T9" fmla="*/ 4 h 9"/>
                  <a:gd name="T10" fmla="*/ 3 w 6"/>
                  <a:gd name="T11" fmla="*/ 0 h 9"/>
                  <a:gd name="T12" fmla="*/ 2 w 6"/>
                  <a:gd name="T13" fmla="*/ 1 h 9"/>
                  <a:gd name="T14" fmla="*/ 1 w 6"/>
                  <a:gd name="T15" fmla="*/ 1 h 9"/>
                  <a:gd name="T16" fmla="*/ 0 w 6"/>
                  <a:gd name="T17" fmla="*/ 3 h 9"/>
                  <a:gd name="T18" fmla="*/ 1 w 6"/>
                  <a:gd name="T19" fmla="*/ 6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9">
                    <a:moveTo>
                      <a:pt x="1" y="6"/>
                    </a:moveTo>
                    <a:cubicBezTo>
                      <a:pt x="2" y="6"/>
                      <a:pt x="2" y="8"/>
                      <a:pt x="3" y="8"/>
                    </a:cubicBezTo>
                    <a:cubicBezTo>
                      <a:pt x="3" y="8"/>
                      <a:pt x="4" y="9"/>
                      <a:pt x="5" y="9"/>
                    </a:cubicBezTo>
                    <a:cubicBezTo>
                      <a:pt x="5" y="9"/>
                      <a:pt x="6" y="9"/>
                      <a:pt x="5" y="7"/>
                    </a:cubicBezTo>
                    <a:cubicBezTo>
                      <a:pt x="4" y="6"/>
                      <a:pt x="4" y="5"/>
                      <a:pt x="4" y="4"/>
                    </a:cubicBezTo>
                    <a:cubicBezTo>
                      <a:pt x="4" y="3"/>
                      <a:pt x="3" y="2"/>
                      <a:pt x="3" y="0"/>
                    </a:cubicBezTo>
                    <a:cubicBezTo>
                      <a:pt x="2" y="1"/>
                      <a:pt x="2" y="1"/>
                      <a:pt x="2" y="1"/>
                    </a:cubicBezTo>
                    <a:cubicBezTo>
                      <a:pt x="2" y="1"/>
                      <a:pt x="1" y="1"/>
                      <a:pt x="1" y="1"/>
                    </a:cubicBezTo>
                    <a:cubicBezTo>
                      <a:pt x="1" y="2"/>
                      <a:pt x="0" y="3"/>
                      <a:pt x="0" y="3"/>
                    </a:cubicBezTo>
                    <a:cubicBezTo>
                      <a:pt x="1" y="4"/>
                      <a:pt x="1" y="5"/>
                      <a:pt x="1"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21" name="Freeform 932">
                <a:extLst>
                  <a:ext uri="{FF2B5EF4-FFF2-40B4-BE49-F238E27FC236}">
                    <a16:creationId xmlns:a16="http://schemas.microsoft.com/office/drawing/2014/main" id="{71C7A149-3596-416B-B10C-1A6B670F8B3E}"/>
                  </a:ext>
                </a:extLst>
              </p:cNvPr>
              <p:cNvSpPr>
                <a:spLocks/>
              </p:cNvSpPr>
              <p:nvPr/>
            </p:nvSpPr>
            <p:spPr bwMode="auto">
              <a:xfrm>
                <a:off x="5847" y="2579"/>
                <a:ext cx="19" cy="21"/>
              </a:xfrm>
              <a:custGeom>
                <a:avLst/>
                <a:gdLst>
                  <a:gd name="T0" fmla="*/ 4 w 14"/>
                  <a:gd name="T1" fmla="*/ 11 h 15"/>
                  <a:gd name="T2" fmla="*/ 7 w 14"/>
                  <a:gd name="T3" fmla="*/ 15 h 15"/>
                  <a:gd name="T4" fmla="*/ 9 w 14"/>
                  <a:gd name="T5" fmla="*/ 15 h 15"/>
                  <a:gd name="T6" fmla="*/ 10 w 14"/>
                  <a:gd name="T7" fmla="*/ 13 h 15"/>
                  <a:gd name="T8" fmla="*/ 11 w 14"/>
                  <a:gd name="T9" fmla="*/ 11 h 15"/>
                  <a:gd name="T10" fmla="*/ 10 w 14"/>
                  <a:gd name="T11" fmla="*/ 8 h 15"/>
                  <a:gd name="T12" fmla="*/ 10 w 14"/>
                  <a:gd name="T13" fmla="*/ 6 h 15"/>
                  <a:gd name="T14" fmla="*/ 10 w 14"/>
                  <a:gd name="T15" fmla="*/ 4 h 15"/>
                  <a:gd name="T16" fmla="*/ 14 w 14"/>
                  <a:gd name="T17" fmla="*/ 2 h 15"/>
                  <a:gd name="T18" fmla="*/ 14 w 14"/>
                  <a:gd name="T19" fmla="*/ 2 h 15"/>
                  <a:gd name="T20" fmla="*/ 13 w 14"/>
                  <a:gd name="T21" fmla="*/ 0 h 15"/>
                  <a:gd name="T22" fmla="*/ 8 w 14"/>
                  <a:gd name="T23" fmla="*/ 3 h 15"/>
                  <a:gd name="T24" fmla="*/ 2 w 14"/>
                  <a:gd name="T25" fmla="*/ 7 h 15"/>
                  <a:gd name="T26" fmla="*/ 0 w 14"/>
                  <a:gd name="T27" fmla="*/ 7 h 15"/>
                  <a:gd name="T28" fmla="*/ 2 w 14"/>
                  <a:gd name="T29" fmla="*/ 8 h 15"/>
                  <a:gd name="T30" fmla="*/ 4 w 14"/>
                  <a:gd name="T31"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5">
                    <a:moveTo>
                      <a:pt x="4" y="11"/>
                    </a:moveTo>
                    <a:cubicBezTo>
                      <a:pt x="5" y="12"/>
                      <a:pt x="7" y="14"/>
                      <a:pt x="7" y="15"/>
                    </a:cubicBezTo>
                    <a:cubicBezTo>
                      <a:pt x="8" y="15"/>
                      <a:pt x="8" y="15"/>
                      <a:pt x="9" y="15"/>
                    </a:cubicBezTo>
                    <a:cubicBezTo>
                      <a:pt x="10" y="14"/>
                      <a:pt x="10" y="14"/>
                      <a:pt x="10" y="13"/>
                    </a:cubicBezTo>
                    <a:cubicBezTo>
                      <a:pt x="10" y="12"/>
                      <a:pt x="11" y="12"/>
                      <a:pt x="11" y="11"/>
                    </a:cubicBezTo>
                    <a:cubicBezTo>
                      <a:pt x="11" y="10"/>
                      <a:pt x="11" y="9"/>
                      <a:pt x="10" y="8"/>
                    </a:cubicBezTo>
                    <a:cubicBezTo>
                      <a:pt x="10" y="7"/>
                      <a:pt x="10" y="6"/>
                      <a:pt x="10" y="6"/>
                    </a:cubicBezTo>
                    <a:cubicBezTo>
                      <a:pt x="10" y="6"/>
                      <a:pt x="10" y="5"/>
                      <a:pt x="10" y="4"/>
                    </a:cubicBezTo>
                    <a:cubicBezTo>
                      <a:pt x="11" y="4"/>
                      <a:pt x="13" y="3"/>
                      <a:pt x="14" y="2"/>
                    </a:cubicBezTo>
                    <a:cubicBezTo>
                      <a:pt x="14" y="2"/>
                      <a:pt x="14" y="2"/>
                      <a:pt x="14" y="2"/>
                    </a:cubicBezTo>
                    <a:cubicBezTo>
                      <a:pt x="14" y="1"/>
                      <a:pt x="14" y="0"/>
                      <a:pt x="13" y="0"/>
                    </a:cubicBezTo>
                    <a:cubicBezTo>
                      <a:pt x="12" y="1"/>
                      <a:pt x="10" y="2"/>
                      <a:pt x="8" y="3"/>
                    </a:cubicBezTo>
                    <a:cubicBezTo>
                      <a:pt x="7" y="5"/>
                      <a:pt x="4" y="7"/>
                      <a:pt x="2" y="7"/>
                    </a:cubicBezTo>
                    <a:cubicBezTo>
                      <a:pt x="1" y="7"/>
                      <a:pt x="1" y="7"/>
                      <a:pt x="0" y="7"/>
                    </a:cubicBezTo>
                    <a:cubicBezTo>
                      <a:pt x="1" y="7"/>
                      <a:pt x="2" y="8"/>
                      <a:pt x="2" y="8"/>
                    </a:cubicBezTo>
                    <a:cubicBezTo>
                      <a:pt x="3" y="9"/>
                      <a:pt x="4" y="11"/>
                      <a:pt x="4"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22" name="Freeform 933">
                <a:extLst>
                  <a:ext uri="{FF2B5EF4-FFF2-40B4-BE49-F238E27FC236}">
                    <a16:creationId xmlns:a16="http://schemas.microsoft.com/office/drawing/2014/main" id="{F2FFE6F8-B8CF-42C5-96AC-6BB44D2989E1}"/>
                  </a:ext>
                </a:extLst>
              </p:cNvPr>
              <p:cNvSpPr>
                <a:spLocks/>
              </p:cNvSpPr>
              <p:nvPr/>
            </p:nvSpPr>
            <p:spPr bwMode="auto">
              <a:xfrm>
                <a:off x="5363" y="2209"/>
                <a:ext cx="7" cy="19"/>
              </a:xfrm>
              <a:custGeom>
                <a:avLst/>
                <a:gdLst>
                  <a:gd name="T0" fmla="*/ 1 w 5"/>
                  <a:gd name="T1" fmla="*/ 3 h 14"/>
                  <a:gd name="T2" fmla="*/ 3 w 5"/>
                  <a:gd name="T3" fmla="*/ 8 h 14"/>
                  <a:gd name="T4" fmla="*/ 2 w 5"/>
                  <a:gd name="T5" fmla="*/ 11 h 14"/>
                  <a:gd name="T6" fmla="*/ 4 w 5"/>
                  <a:gd name="T7" fmla="*/ 10 h 14"/>
                  <a:gd name="T8" fmla="*/ 4 w 5"/>
                  <a:gd name="T9" fmla="*/ 3 h 14"/>
                  <a:gd name="T10" fmla="*/ 1 w 5"/>
                  <a:gd name="T11" fmla="*/ 3 h 14"/>
                </a:gdLst>
                <a:ahLst/>
                <a:cxnLst>
                  <a:cxn ang="0">
                    <a:pos x="T0" y="T1"/>
                  </a:cxn>
                  <a:cxn ang="0">
                    <a:pos x="T2" y="T3"/>
                  </a:cxn>
                  <a:cxn ang="0">
                    <a:pos x="T4" y="T5"/>
                  </a:cxn>
                  <a:cxn ang="0">
                    <a:pos x="T6" y="T7"/>
                  </a:cxn>
                  <a:cxn ang="0">
                    <a:pos x="T8" y="T9"/>
                  </a:cxn>
                  <a:cxn ang="0">
                    <a:pos x="T10" y="T11"/>
                  </a:cxn>
                </a:cxnLst>
                <a:rect l="0" t="0" r="r" b="b"/>
                <a:pathLst>
                  <a:path w="5" h="14">
                    <a:moveTo>
                      <a:pt x="1" y="3"/>
                    </a:moveTo>
                    <a:cubicBezTo>
                      <a:pt x="2" y="5"/>
                      <a:pt x="3" y="6"/>
                      <a:pt x="3" y="8"/>
                    </a:cubicBezTo>
                    <a:cubicBezTo>
                      <a:pt x="2" y="10"/>
                      <a:pt x="1" y="10"/>
                      <a:pt x="2" y="11"/>
                    </a:cubicBezTo>
                    <a:cubicBezTo>
                      <a:pt x="2" y="11"/>
                      <a:pt x="3" y="14"/>
                      <a:pt x="4" y="10"/>
                    </a:cubicBezTo>
                    <a:cubicBezTo>
                      <a:pt x="5" y="6"/>
                      <a:pt x="5" y="4"/>
                      <a:pt x="4" y="3"/>
                    </a:cubicBezTo>
                    <a:cubicBezTo>
                      <a:pt x="3" y="2"/>
                      <a:pt x="0" y="0"/>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23" name="Freeform 934">
                <a:extLst>
                  <a:ext uri="{FF2B5EF4-FFF2-40B4-BE49-F238E27FC236}">
                    <a16:creationId xmlns:a16="http://schemas.microsoft.com/office/drawing/2014/main" id="{5E7B7E75-9A36-4478-A30A-57831CA59004}"/>
                  </a:ext>
                </a:extLst>
              </p:cNvPr>
              <p:cNvSpPr>
                <a:spLocks/>
              </p:cNvSpPr>
              <p:nvPr/>
            </p:nvSpPr>
            <p:spPr bwMode="auto">
              <a:xfrm>
                <a:off x="5374" y="2215"/>
                <a:ext cx="3" cy="9"/>
              </a:xfrm>
              <a:custGeom>
                <a:avLst/>
                <a:gdLst>
                  <a:gd name="T0" fmla="*/ 0 w 2"/>
                  <a:gd name="T1" fmla="*/ 6 h 6"/>
                  <a:gd name="T2" fmla="*/ 1 w 2"/>
                  <a:gd name="T3" fmla="*/ 2 h 6"/>
                  <a:gd name="T4" fmla="*/ 0 w 2"/>
                  <a:gd name="T5" fmla="*/ 6 h 6"/>
                </a:gdLst>
                <a:ahLst/>
                <a:cxnLst>
                  <a:cxn ang="0">
                    <a:pos x="T0" y="T1"/>
                  </a:cxn>
                  <a:cxn ang="0">
                    <a:pos x="T2" y="T3"/>
                  </a:cxn>
                  <a:cxn ang="0">
                    <a:pos x="T4" y="T5"/>
                  </a:cxn>
                </a:cxnLst>
                <a:rect l="0" t="0" r="r" b="b"/>
                <a:pathLst>
                  <a:path w="2" h="6">
                    <a:moveTo>
                      <a:pt x="0" y="6"/>
                    </a:moveTo>
                    <a:cubicBezTo>
                      <a:pt x="0" y="6"/>
                      <a:pt x="2" y="4"/>
                      <a:pt x="1" y="2"/>
                    </a:cubicBezTo>
                    <a:cubicBezTo>
                      <a:pt x="0" y="0"/>
                      <a:pt x="0" y="4"/>
                      <a:pt x="0"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24" name="Freeform 935">
                <a:extLst>
                  <a:ext uri="{FF2B5EF4-FFF2-40B4-BE49-F238E27FC236}">
                    <a16:creationId xmlns:a16="http://schemas.microsoft.com/office/drawing/2014/main" id="{C5FEA644-E51A-4B62-A1F5-8A10E8D0F365}"/>
                  </a:ext>
                </a:extLst>
              </p:cNvPr>
              <p:cNvSpPr>
                <a:spLocks/>
              </p:cNvSpPr>
              <p:nvPr/>
            </p:nvSpPr>
            <p:spPr bwMode="auto">
              <a:xfrm>
                <a:off x="5371" y="2210"/>
                <a:ext cx="6" cy="8"/>
              </a:xfrm>
              <a:custGeom>
                <a:avLst/>
                <a:gdLst>
                  <a:gd name="T0" fmla="*/ 0 w 4"/>
                  <a:gd name="T1" fmla="*/ 0 h 6"/>
                  <a:gd name="T2" fmla="*/ 0 w 4"/>
                  <a:gd name="T3" fmla="*/ 2 h 6"/>
                  <a:gd name="T4" fmla="*/ 0 w 4"/>
                  <a:gd name="T5" fmla="*/ 0 h 6"/>
                </a:gdLst>
                <a:ahLst/>
                <a:cxnLst>
                  <a:cxn ang="0">
                    <a:pos x="T0" y="T1"/>
                  </a:cxn>
                  <a:cxn ang="0">
                    <a:pos x="T2" y="T3"/>
                  </a:cxn>
                  <a:cxn ang="0">
                    <a:pos x="T4" y="T5"/>
                  </a:cxn>
                </a:cxnLst>
                <a:rect l="0" t="0" r="r" b="b"/>
                <a:pathLst>
                  <a:path w="4" h="6">
                    <a:moveTo>
                      <a:pt x="0" y="0"/>
                    </a:moveTo>
                    <a:cubicBezTo>
                      <a:pt x="0" y="0"/>
                      <a:pt x="0" y="0"/>
                      <a:pt x="0" y="2"/>
                    </a:cubicBezTo>
                    <a:cubicBezTo>
                      <a:pt x="0" y="2"/>
                      <a:pt x="4" y="6"/>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25" name="Freeform 936">
                <a:extLst>
                  <a:ext uri="{FF2B5EF4-FFF2-40B4-BE49-F238E27FC236}">
                    <a16:creationId xmlns:a16="http://schemas.microsoft.com/office/drawing/2014/main" id="{80AE643B-52A8-480F-A41A-B8E012B28848}"/>
                  </a:ext>
                </a:extLst>
              </p:cNvPr>
              <p:cNvSpPr>
                <a:spLocks/>
              </p:cNvSpPr>
              <p:nvPr/>
            </p:nvSpPr>
            <p:spPr bwMode="auto">
              <a:xfrm>
                <a:off x="5381" y="2213"/>
                <a:ext cx="4" cy="8"/>
              </a:xfrm>
              <a:custGeom>
                <a:avLst/>
                <a:gdLst>
                  <a:gd name="T0" fmla="*/ 1 w 3"/>
                  <a:gd name="T1" fmla="*/ 2 h 6"/>
                  <a:gd name="T2" fmla="*/ 2 w 3"/>
                  <a:gd name="T3" fmla="*/ 3 h 6"/>
                  <a:gd name="T4" fmla="*/ 1 w 3"/>
                  <a:gd name="T5" fmla="*/ 2 h 6"/>
                </a:gdLst>
                <a:ahLst/>
                <a:cxnLst>
                  <a:cxn ang="0">
                    <a:pos x="T0" y="T1"/>
                  </a:cxn>
                  <a:cxn ang="0">
                    <a:pos x="T2" y="T3"/>
                  </a:cxn>
                  <a:cxn ang="0">
                    <a:pos x="T4" y="T5"/>
                  </a:cxn>
                </a:cxnLst>
                <a:rect l="0" t="0" r="r" b="b"/>
                <a:pathLst>
                  <a:path w="3" h="6">
                    <a:moveTo>
                      <a:pt x="1" y="2"/>
                    </a:moveTo>
                    <a:cubicBezTo>
                      <a:pt x="1" y="2"/>
                      <a:pt x="3" y="6"/>
                      <a:pt x="2" y="3"/>
                    </a:cubicBezTo>
                    <a:cubicBezTo>
                      <a:pt x="2" y="0"/>
                      <a:pt x="0"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26" name="Freeform 937">
                <a:extLst>
                  <a:ext uri="{FF2B5EF4-FFF2-40B4-BE49-F238E27FC236}">
                    <a16:creationId xmlns:a16="http://schemas.microsoft.com/office/drawing/2014/main" id="{4D7C589F-CB31-49CB-8E2C-3ECDA9149544}"/>
                  </a:ext>
                </a:extLst>
              </p:cNvPr>
              <p:cNvSpPr>
                <a:spLocks/>
              </p:cNvSpPr>
              <p:nvPr/>
            </p:nvSpPr>
            <p:spPr bwMode="auto">
              <a:xfrm>
                <a:off x="5141" y="2482"/>
                <a:ext cx="45" cy="79"/>
              </a:xfrm>
              <a:custGeom>
                <a:avLst/>
                <a:gdLst>
                  <a:gd name="T0" fmla="*/ 30 w 32"/>
                  <a:gd name="T1" fmla="*/ 35 h 58"/>
                  <a:gd name="T2" fmla="*/ 26 w 32"/>
                  <a:gd name="T3" fmla="*/ 26 h 58"/>
                  <a:gd name="T4" fmla="*/ 21 w 32"/>
                  <a:gd name="T5" fmla="*/ 16 h 58"/>
                  <a:gd name="T6" fmla="*/ 16 w 32"/>
                  <a:gd name="T7" fmla="*/ 10 h 58"/>
                  <a:gd name="T8" fmla="*/ 11 w 32"/>
                  <a:gd name="T9" fmla="*/ 3 h 58"/>
                  <a:gd name="T10" fmla="*/ 5 w 32"/>
                  <a:gd name="T11" fmla="*/ 0 h 58"/>
                  <a:gd name="T12" fmla="*/ 6 w 32"/>
                  <a:gd name="T13" fmla="*/ 3 h 58"/>
                  <a:gd name="T14" fmla="*/ 9 w 32"/>
                  <a:gd name="T15" fmla="*/ 4 h 58"/>
                  <a:gd name="T16" fmla="*/ 9 w 32"/>
                  <a:gd name="T17" fmla="*/ 5 h 58"/>
                  <a:gd name="T18" fmla="*/ 7 w 32"/>
                  <a:gd name="T19" fmla="*/ 4 h 58"/>
                  <a:gd name="T20" fmla="*/ 6 w 32"/>
                  <a:gd name="T21" fmla="*/ 6 h 58"/>
                  <a:gd name="T22" fmla="*/ 5 w 32"/>
                  <a:gd name="T23" fmla="*/ 8 h 58"/>
                  <a:gd name="T24" fmla="*/ 4 w 32"/>
                  <a:gd name="T25" fmla="*/ 11 h 58"/>
                  <a:gd name="T26" fmla="*/ 3 w 32"/>
                  <a:gd name="T27" fmla="*/ 18 h 58"/>
                  <a:gd name="T28" fmla="*/ 0 w 32"/>
                  <a:gd name="T29" fmla="*/ 26 h 58"/>
                  <a:gd name="T30" fmla="*/ 0 w 32"/>
                  <a:gd name="T31" fmla="*/ 32 h 58"/>
                  <a:gd name="T32" fmla="*/ 5 w 32"/>
                  <a:gd name="T33" fmla="*/ 53 h 58"/>
                  <a:gd name="T34" fmla="*/ 10 w 32"/>
                  <a:gd name="T35" fmla="*/ 57 h 58"/>
                  <a:gd name="T36" fmla="*/ 15 w 32"/>
                  <a:gd name="T37" fmla="*/ 57 h 58"/>
                  <a:gd name="T38" fmla="*/ 29 w 32"/>
                  <a:gd name="T39" fmla="*/ 49 h 58"/>
                  <a:gd name="T40" fmla="*/ 32 w 32"/>
                  <a:gd name="T41" fmla="*/ 39 h 58"/>
                  <a:gd name="T42" fmla="*/ 30 w 32"/>
                  <a:gd name="T43" fmla="*/ 3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 h="58">
                    <a:moveTo>
                      <a:pt x="30" y="35"/>
                    </a:moveTo>
                    <a:cubicBezTo>
                      <a:pt x="28" y="34"/>
                      <a:pt x="28" y="29"/>
                      <a:pt x="26" y="26"/>
                    </a:cubicBezTo>
                    <a:cubicBezTo>
                      <a:pt x="24" y="23"/>
                      <a:pt x="22" y="17"/>
                      <a:pt x="21" y="16"/>
                    </a:cubicBezTo>
                    <a:cubicBezTo>
                      <a:pt x="20" y="15"/>
                      <a:pt x="18" y="13"/>
                      <a:pt x="16" y="10"/>
                    </a:cubicBezTo>
                    <a:cubicBezTo>
                      <a:pt x="14" y="7"/>
                      <a:pt x="13" y="5"/>
                      <a:pt x="11" y="3"/>
                    </a:cubicBezTo>
                    <a:cubicBezTo>
                      <a:pt x="9" y="1"/>
                      <a:pt x="7" y="0"/>
                      <a:pt x="5" y="0"/>
                    </a:cubicBezTo>
                    <a:cubicBezTo>
                      <a:pt x="3" y="0"/>
                      <a:pt x="5" y="2"/>
                      <a:pt x="6" y="3"/>
                    </a:cubicBezTo>
                    <a:cubicBezTo>
                      <a:pt x="8" y="4"/>
                      <a:pt x="6" y="3"/>
                      <a:pt x="9" y="4"/>
                    </a:cubicBezTo>
                    <a:cubicBezTo>
                      <a:pt x="12" y="5"/>
                      <a:pt x="10" y="5"/>
                      <a:pt x="9" y="5"/>
                    </a:cubicBezTo>
                    <a:cubicBezTo>
                      <a:pt x="8" y="6"/>
                      <a:pt x="9" y="4"/>
                      <a:pt x="7" y="4"/>
                    </a:cubicBezTo>
                    <a:cubicBezTo>
                      <a:pt x="5" y="3"/>
                      <a:pt x="7" y="5"/>
                      <a:pt x="6" y="6"/>
                    </a:cubicBezTo>
                    <a:cubicBezTo>
                      <a:pt x="5" y="6"/>
                      <a:pt x="5" y="8"/>
                      <a:pt x="5" y="8"/>
                    </a:cubicBezTo>
                    <a:cubicBezTo>
                      <a:pt x="5" y="10"/>
                      <a:pt x="5" y="10"/>
                      <a:pt x="4" y="11"/>
                    </a:cubicBezTo>
                    <a:cubicBezTo>
                      <a:pt x="2" y="13"/>
                      <a:pt x="2" y="15"/>
                      <a:pt x="3" y="18"/>
                    </a:cubicBezTo>
                    <a:cubicBezTo>
                      <a:pt x="3" y="20"/>
                      <a:pt x="1" y="24"/>
                      <a:pt x="0" y="26"/>
                    </a:cubicBezTo>
                    <a:cubicBezTo>
                      <a:pt x="0" y="28"/>
                      <a:pt x="0" y="31"/>
                      <a:pt x="0" y="32"/>
                    </a:cubicBezTo>
                    <a:cubicBezTo>
                      <a:pt x="1" y="33"/>
                      <a:pt x="4" y="50"/>
                      <a:pt x="5" y="53"/>
                    </a:cubicBezTo>
                    <a:cubicBezTo>
                      <a:pt x="6" y="55"/>
                      <a:pt x="9" y="56"/>
                      <a:pt x="10" y="57"/>
                    </a:cubicBezTo>
                    <a:cubicBezTo>
                      <a:pt x="12" y="58"/>
                      <a:pt x="14" y="58"/>
                      <a:pt x="15" y="57"/>
                    </a:cubicBezTo>
                    <a:cubicBezTo>
                      <a:pt x="15" y="57"/>
                      <a:pt x="27" y="51"/>
                      <a:pt x="29" y="49"/>
                    </a:cubicBezTo>
                    <a:cubicBezTo>
                      <a:pt x="31" y="48"/>
                      <a:pt x="32" y="40"/>
                      <a:pt x="32" y="39"/>
                    </a:cubicBezTo>
                    <a:cubicBezTo>
                      <a:pt x="32" y="37"/>
                      <a:pt x="32" y="36"/>
                      <a:pt x="30" y="3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27" name="Freeform 938">
                <a:extLst>
                  <a:ext uri="{FF2B5EF4-FFF2-40B4-BE49-F238E27FC236}">
                    <a16:creationId xmlns:a16="http://schemas.microsoft.com/office/drawing/2014/main" id="{1E40F43F-FE0D-4EB6-9270-8B5261A37BCF}"/>
                  </a:ext>
                </a:extLst>
              </p:cNvPr>
              <p:cNvSpPr>
                <a:spLocks/>
              </p:cNvSpPr>
              <p:nvPr/>
            </p:nvSpPr>
            <p:spPr bwMode="auto">
              <a:xfrm>
                <a:off x="4429" y="2941"/>
                <a:ext cx="4" cy="6"/>
              </a:xfrm>
              <a:custGeom>
                <a:avLst/>
                <a:gdLst>
                  <a:gd name="T0" fmla="*/ 2 w 3"/>
                  <a:gd name="T1" fmla="*/ 4 h 4"/>
                  <a:gd name="T2" fmla="*/ 1 w 3"/>
                  <a:gd name="T3" fmla="*/ 1 h 4"/>
                  <a:gd name="T4" fmla="*/ 0 w 3"/>
                  <a:gd name="T5" fmla="*/ 2 h 4"/>
                  <a:gd name="T6" fmla="*/ 2 w 3"/>
                  <a:gd name="T7" fmla="*/ 4 h 4"/>
                </a:gdLst>
                <a:ahLst/>
                <a:cxnLst>
                  <a:cxn ang="0">
                    <a:pos x="T0" y="T1"/>
                  </a:cxn>
                  <a:cxn ang="0">
                    <a:pos x="T2" y="T3"/>
                  </a:cxn>
                  <a:cxn ang="0">
                    <a:pos x="T4" y="T5"/>
                  </a:cxn>
                  <a:cxn ang="0">
                    <a:pos x="T6" y="T7"/>
                  </a:cxn>
                </a:cxnLst>
                <a:rect l="0" t="0" r="r" b="b"/>
                <a:pathLst>
                  <a:path w="3" h="4">
                    <a:moveTo>
                      <a:pt x="2" y="4"/>
                    </a:moveTo>
                    <a:cubicBezTo>
                      <a:pt x="2" y="4"/>
                      <a:pt x="3" y="2"/>
                      <a:pt x="1" y="1"/>
                    </a:cubicBezTo>
                    <a:cubicBezTo>
                      <a:pt x="0" y="0"/>
                      <a:pt x="0" y="0"/>
                      <a:pt x="0" y="2"/>
                    </a:cubicBezTo>
                    <a:cubicBezTo>
                      <a:pt x="1" y="3"/>
                      <a:pt x="1" y="4"/>
                      <a:pt x="2"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28" name="Freeform 939">
                <a:extLst>
                  <a:ext uri="{FF2B5EF4-FFF2-40B4-BE49-F238E27FC236}">
                    <a16:creationId xmlns:a16="http://schemas.microsoft.com/office/drawing/2014/main" id="{90DADC7D-FB2A-40BF-9BF6-BD0C1E7273F7}"/>
                  </a:ext>
                </a:extLst>
              </p:cNvPr>
              <p:cNvSpPr>
                <a:spLocks/>
              </p:cNvSpPr>
              <p:nvPr/>
            </p:nvSpPr>
            <p:spPr bwMode="auto">
              <a:xfrm>
                <a:off x="4411" y="2929"/>
                <a:ext cx="7" cy="7"/>
              </a:xfrm>
              <a:custGeom>
                <a:avLst/>
                <a:gdLst>
                  <a:gd name="T0" fmla="*/ 5 w 5"/>
                  <a:gd name="T1" fmla="*/ 2 h 5"/>
                  <a:gd name="T2" fmla="*/ 3 w 5"/>
                  <a:gd name="T3" fmla="*/ 1 h 5"/>
                  <a:gd name="T4" fmla="*/ 2 w 5"/>
                  <a:gd name="T5" fmla="*/ 3 h 5"/>
                  <a:gd name="T6" fmla="*/ 5 w 5"/>
                  <a:gd name="T7" fmla="*/ 2 h 5"/>
                </a:gdLst>
                <a:ahLst/>
                <a:cxnLst>
                  <a:cxn ang="0">
                    <a:pos x="T0" y="T1"/>
                  </a:cxn>
                  <a:cxn ang="0">
                    <a:pos x="T2" y="T3"/>
                  </a:cxn>
                  <a:cxn ang="0">
                    <a:pos x="T4" y="T5"/>
                  </a:cxn>
                  <a:cxn ang="0">
                    <a:pos x="T6" y="T7"/>
                  </a:cxn>
                </a:cxnLst>
                <a:rect l="0" t="0" r="r" b="b"/>
                <a:pathLst>
                  <a:path w="5" h="5">
                    <a:moveTo>
                      <a:pt x="5" y="2"/>
                    </a:moveTo>
                    <a:cubicBezTo>
                      <a:pt x="5" y="2"/>
                      <a:pt x="5" y="0"/>
                      <a:pt x="3" y="1"/>
                    </a:cubicBezTo>
                    <a:cubicBezTo>
                      <a:pt x="2" y="2"/>
                      <a:pt x="0" y="2"/>
                      <a:pt x="2" y="3"/>
                    </a:cubicBezTo>
                    <a:cubicBezTo>
                      <a:pt x="4" y="4"/>
                      <a:pt x="5" y="5"/>
                      <a:pt x="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29" name="Freeform 940">
                <a:extLst>
                  <a:ext uri="{FF2B5EF4-FFF2-40B4-BE49-F238E27FC236}">
                    <a16:creationId xmlns:a16="http://schemas.microsoft.com/office/drawing/2014/main" id="{4268008D-D2C0-4932-91DF-B9C38D6AF0D6}"/>
                  </a:ext>
                </a:extLst>
              </p:cNvPr>
              <p:cNvSpPr>
                <a:spLocks/>
              </p:cNvSpPr>
              <p:nvPr/>
            </p:nvSpPr>
            <p:spPr bwMode="auto">
              <a:xfrm>
                <a:off x="4390" y="2914"/>
                <a:ext cx="7" cy="15"/>
              </a:xfrm>
              <a:custGeom>
                <a:avLst/>
                <a:gdLst>
                  <a:gd name="T0" fmla="*/ 3 w 5"/>
                  <a:gd name="T1" fmla="*/ 8 h 11"/>
                  <a:gd name="T2" fmla="*/ 4 w 5"/>
                  <a:gd name="T3" fmla="*/ 6 h 11"/>
                  <a:gd name="T4" fmla="*/ 3 w 5"/>
                  <a:gd name="T5" fmla="*/ 2 h 11"/>
                  <a:gd name="T6" fmla="*/ 1 w 5"/>
                  <a:gd name="T7" fmla="*/ 4 h 11"/>
                  <a:gd name="T8" fmla="*/ 3 w 5"/>
                  <a:gd name="T9" fmla="*/ 8 h 11"/>
                </a:gdLst>
                <a:ahLst/>
                <a:cxnLst>
                  <a:cxn ang="0">
                    <a:pos x="T0" y="T1"/>
                  </a:cxn>
                  <a:cxn ang="0">
                    <a:pos x="T2" y="T3"/>
                  </a:cxn>
                  <a:cxn ang="0">
                    <a:pos x="T4" y="T5"/>
                  </a:cxn>
                  <a:cxn ang="0">
                    <a:pos x="T6" y="T7"/>
                  </a:cxn>
                  <a:cxn ang="0">
                    <a:pos x="T8" y="T9"/>
                  </a:cxn>
                </a:cxnLst>
                <a:rect l="0" t="0" r="r" b="b"/>
                <a:pathLst>
                  <a:path w="5" h="11">
                    <a:moveTo>
                      <a:pt x="3" y="8"/>
                    </a:moveTo>
                    <a:cubicBezTo>
                      <a:pt x="5" y="11"/>
                      <a:pt x="4" y="7"/>
                      <a:pt x="4" y="6"/>
                    </a:cubicBezTo>
                    <a:cubicBezTo>
                      <a:pt x="3" y="6"/>
                      <a:pt x="3" y="3"/>
                      <a:pt x="3" y="2"/>
                    </a:cubicBezTo>
                    <a:cubicBezTo>
                      <a:pt x="3" y="0"/>
                      <a:pt x="2" y="2"/>
                      <a:pt x="1" y="4"/>
                    </a:cubicBezTo>
                    <a:cubicBezTo>
                      <a:pt x="0" y="6"/>
                      <a:pt x="3" y="8"/>
                      <a:pt x="3"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30" name="Freeform 941">
                <a:extLst>
                  <a:ext uri="{FF2B5EF4-FFF2-40B4-BE49-F238E27FC236}">
                    <a16:creationId xmlns:a16="http://schemas.microsoft.com/office/drawing/2014/main" id="{79FC73AF-E153-4BBC-9BEB-D6433E918619}"/>
                  </a:ext>
                </a:extLst>
              </p:cNvPr>
              <p:cNvSpPr>
                <a:spLocks/>
              </p:cNvSpPr>
              <p:nvPr/>
            </p:nvSpPr>
            <p:spPr bwMode="auto">
              <a:xfrm>
                <a:off x="4148" y="1661"/>
                <a:ext cx="17" cy="8"/>
              </a:xfrm>
              <a:custGeom>
                <a:avLst/>
                <a:gdLst>
                  <a:gd name="T0" fmla="*/ 6 w 12"/>
                  <a:gd name="T1" fmla="*/ 5 h 6"/>
                  <a:gd name="T2" fmla="*/ 8 w 12"/>
                  <a:gd name="T3" fmla="*/ 4 h 6"/>
                  <a:gd name="T4" fmla="*/ 2 w 12"/>
                  <a:gd name="T5" fmla="*/ 2 h 6"/>
                  <a:gd name="T6" fmla="*/ 6 w 12"/>
                  <a:gd name="T7" fmla="*/ 5 h 6"/>
                </a:gdLst>
                <a:ahLst/>
                <a:cxnLst>
                  <a:cxn ang="0">
                    <a:pos x="T0" y="T1"/>
                  </a:cxn>
                  <a:cxn ang="0">
                    <a:pos x="T2" y="T3"/>
                  </a:cxn>
                  <a:cxn ang="0">
                    <a:pos x="T4" y="T5"/>
                  </a:cxn>
                  <a:cxn ang="0">
                    <a:pos x="T6" y="T7"/>
                  </a:cxn>
                </a:cxnLst>
                <a:rect l="0" t="0" r="r" b="b"/>
                <a:pathLst>
                  <a:path w="12" h="6">
                    <a:moveTo>
                      <a:pt x="6" y="5"/>
                    </a:moveTo>
                    <a:cubicBezTo>
                      <a:pt x="7" y="5"/>
                      <a:pt x="12" y="6"/>
                      <a:pt x="8" y="4"/>
                    </a:cubicBezTo>
                    <a:cubicBezTo>
                      <a:pt x="4" y="3"/>
                      <a:pt x="0" y="0"/>
                      <a:pt x="2" y="2"/>
                    </a:cubicBezTo>
                    <a:cubicBezTo>
                      <a:pt x="2" y="2"/>
                      <a:pt x="4" y="4"/>
                      <a:pt x="6"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31" name="Freeform 942">
                <a:extLst>
                  <a:ext uri="{FF2B5EF4-FFF2-40B4-BE49-F238E27FC236}">
                    <a16:creationId xmlns:a16="http://schemas.microsoft.com/office/drawing/2014/main" id="{E429A096-516D-45CA-9715-53E9FAD5AC28}"/>
                  </a:ext>
                </a:extLst>
              </p:cNvPr>
              <p:cNvSpPr>
                <a:spLocks/>
              </p:cNvSpPr>
              <p:nvPr/>
            </p:nvSpPr>
            <p:spPr bwMode="auto">
              <a:xfrm>
                <a:off x="4165" y="1920"/>
                <a:ext cx="54" cy="26"/>
              </a:xfrm>
              <a:custGeom>
                <a:avLst/>
                <a:gdLst>
                  <a:gd name="T0" fmla="*/ 9 w 39"/>
                  <a:gd name="T1" fmla="*/ 9 h 19"/>
                  <a:gd name="T2" fmla="*/ 5 w 39"/>
                  <a:gd name="T3" fmla="*/ 12 h 19"/>
                  <a:gd name="T4" fmla="*/ 2 w 39"/>
                  <a:gd name="T5" fmla="*/ 12 h 19"/>
                  <a:gd name="T6" fmla="*/ 1 w 39"/>
                  <a:gd name="T7" fmla="*/ 14 h 19"/>
                  <a:gd name="T8" fmla="*/ 3 w 39"/>
                  <a:gd name="T9" fmla="*/ 17 h 19"/>
                  <a:gd name="T10" fmla="*/ 11 w 39"/>
                  <a:gd name="T11" fmla="*/ 19 h 19"/>
                  <a:gd name="T12" fmla="*/ 20 w 39"/>
                  <a:gd name="T13" fmla="*/ 16 h 19"/>
                  <a:gd name="T14" fmla="*/ 22 w 39"/>
                  <a:gd name="T15" fmla="*/ 15 h 19"/>
                  <a:gd name="T16" fmla="*/ 24 w 39"/>
                  <a:gd name="T17" fmla="*/ 14 h 19"/>
                  <a:gd name="T18" fmla="*/ 28 w 39"/>
                  <a:gd name="T19" fmla="*/ 14 h 19"/>
                  <a:gd name="T20" fmla="*/ 26 w 39"/>
                  <a:gd name="T21" fmla="*/ 10 h 19"/>
                  <a:gd name="T22" fmla="*/ 27 w 39"/>
                  <a:gd name="T23" fmla="*/ 8 h 19"/>
                  <a:gd name="T24" fmla="*/ 29 w 39"/>
                  <a:gd name="T25" fmla="*/ 6 h 19"/>
                  <a:gd name="T26" fmla="*/ 34 w 39"/>
                  <a:gd name="T27" fmla="*/ 3 h 19"/>
                  <a:gd name="T28" fmla="*/ 26 w 39"/>
                  <a:gd name="T29" fmla="*/ 5 h 19"/>
                  <a:gd name="T30" fmla="*/ 20 w 39"/>
                  <a:gd name="T31" fmla="*/ 7 h 19"/>
                  <a:gd name="T32" fmla="*/ 12 w 39"/>
                  <a:gd name="T33" fmla="*/ 7 h 19"/>
                  <a:gd name="T34" fmla="*/ 11 w 39"/>
                  <a:gd name="T35" fmla="*/ 8 h 19"/>
                  <a:gd name="T36" fmla="*/ 9 w 39"/>
                  <a:gd name="T37"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19">
                    <a:moveTo>
                      <a:pt x="9" y="9"/>
                    </a:moveTo>
                    <a:cubicBezTo>
                      <a:pt x="8" y="10"/>
                      <a:pt x="6" y="11"/>
                      <a:pt x="5" y="12"/>
                    </a:cubicBezTo>
                    <a:cubicBezTo>
                      <a:pt x="4" y="12"/>
                      <a:pt x="4" y="13"/>
                      <a:pt x="2" y="12"/>
                    </a:cubicBezTo>
                    <a:cubicBezTo>
                      <a:pt x="0" y="11"/>
                      <a:pt x="1" y="14"/>
                      <a:pt x="1" y="14"/>
                    </a:cubicBezTo>
                    <a:cubicBezTo>
                      <a:pt x="1" y="14"/>
                      <a:pt x="1" y="14"/>
                      <a:pt x="3" y="17"/>
                    </a:cubicBezTo>
                    <a:cubicBezTo>
                      <a:pt x="4" y="19"/>
                      <a:pt x="8" y="19"/>
                      <a:pt x="11" y="19"/>
                    </a:cubicBezTo>
                    <a:cubicBezTo>
                      <a:pt x="14" y="19"/>
                      <a:pt x="18" y="17"/>
                      <a:pt x="20" y="16"/>
                    </a:cubicBezTo>
                    <a:cubicBezTo>
                      <a:pt x="21" y="15"/>
                      <a:pt x="21" y="16"/>
                      <a:pt x="22" y="15"/>
                    </a:cubicBezTo>
                    <a:cubicBezTo>
                      <a:pt x="22" y="13"/>
                      <a:pt x="23" y="14"/>
                      <a:pt x="24" y="14"/>
                    </a:cubicBezTo>
                    <a:cubicBezTo>
                      <a:pt x="25" y="14"/>
                      <a:pt x="26" y="13"/>
                      <a:pt x="28" y="14"/>
                    </a:cubicBezTo>
                    <a:cubicBezTo>
                      <a:pt x="29" y="14"/>
                      <a:pt x="26" y="11"/>
                      <a:pt x="26" y="10"/>
                    </a:cubicBezTo>
                    <a:cubicBezTo>
                      <a:pt x="25" y="9"/>
                      <a:pt x="26" y="7"/>
                      <a:pt x="27" y="8"/>
                    </a:cubicBezTo>
                    <a:cubicBezTo>
                      <a:pt x="28" y="8"/>
                      <a:pt x="28" y="7"/>
                      <a:pt x="29" y="6"/>
                    </a:cubicBezTo>
                    <a:cubicBezTo>
                      <a:pt x="29" y="5"/>
                      <a:pt x="30" y="6"/>
                      <a:pt x="34" y="3"/>
                    </a:cubicBezTo>
                    <a:cubicBezTo>
                      <a:pt x="39" y="0"/>
                      <a:pt x="29" y="4"/>
                      <a:pt x="26" y="5"/>
                    </a:cubicBezTo>
                    <a:cubicBezTo>
                      <a:pt x="24" y="7"/>
                      <a:pt x="21" y="7"/>
                      <a:pt x="20" y="7"/>
                    </a:cubicBezTo>
                    <a:cubicBezTo>
                      <a:pt x="18" y="7"/>
                      <a:pt x="13" y="8"/>
                      <a:pt x="12" y="7"/>
                    </a:cubicBezTo>
                    <a:cubicBezTo>
                      <a:pt x="11" y="6"/>
                      <a:pt x="11" y="7"/>
                      <a:pt x="11" y="8"/>
                    </a:cubicBezTo>
                    <a:cubicBezTo>
                      <a:pt x="11" y="9"/>
                      <a:pt x="11" y="9"/>
                      <a:pt x="9"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32" name="Freeform 943">
                <a:extLst>
                  <a:ext uri="{FF2B5EF4-FFF2-40B4-BE49-F238E27FC236}">
                    <a16:creationId xmlns:a16="http://schemas.microsoft.com/office/drawing/2014/main" id="{ADF65D3E-852E-4A00-9A18-4BE897E94FF2}"/>
                  </a:ext>
                </a:extLst>
              </p:cNvPr>
              <p:cNvSpPr>
                <a:spLocks/>
              </p:cNvSpPr>
              <p:nvPr/>
            </p:nvSpPr>
            <p:spPr bwMode="auto">
              <a:xfrm>
                <a:off x="4058" y="3280"/>
                <a:ext cx="50" cy="47"/>
              </a:xfrm>
              <a:custGeom>
                <a:avLst/>
                <a:gdLst>
                  <a:gd name="T0" fmla="*/ 35 w 36"/>
                  <a:gd name="T1" fmla="*/ 9 h 34"/>
                  <a:gd name="T2" fmla="*/ 34 w 36"/>
                  <a:gd name="T3" fmla="*/ 8 h 34"/>
                  <a:gd name="T4" fmla="*/ 28 w 36"/>
                  <a:gd name="T5" fmla="*/ 4 h 34"/>
                  <a:gd name="T6" fmla="*/ 27 w 36"/>
                  <a:gd name="T7" fmla="*/ 3 h 34"/>
                  <a:gd name="T8" fmla="*/ 26 w 36"/>
                  <a:gd name="T9" fmla="*/ 3 h 34"/>
                  <a:gd name="T10" fmla="*/ 24 w 36"/>
                  <a:gd name="T11" fmla="*/ 0 h 34"/>
                  <a:gd name="T12" fmla="*/ 22 w 36"/>
                  <a:gd name="T13" fmla="*/ 0 h 34"/>
                  <a:gd name="T14" fmla="*/ 19 w 36"/>
                  <a:gd name="T15" fmla="*/ 2 h 34"/>
                  <a:gd name="T16" fmla="*/ 17 w 36"/>
                  <a:gd name="T17" fmla="*/ 3 h 34"/>
                  <a:gd name="T18" fmla="*/ 11 w 36"/>
                  <a:gd name="T19" fmla="*/ 6 h 34"/>
                  <a:gd name="T20" fmla="*/ 10 w 36"/>
                  <a:gd name="T21" fmla="*/ 7 h 34"/>
                  <a:gd name="T22" fmla="*/ 7 w 36"/>
                  <a:gd name="T23" fmla="*/ 11 h 34"/>
                  <a:gd name="T24" fmla="*/ 4 w 36"/>
                  <a:gd name="T25" fmla="*/ 15 h 34"/>
                  <a:gd name="T26" fmla="*/ 3 w 36"/>
                  <a:gd name="T27" fmla="*/ 16 h 34"/>
                  <a:gd name="T28" fmla="*/ 0 w 36"/>
                  <a:gd name="T29" fmla="*/ 17 h 34"/>
                  <a:gd name="T30" fmla="*/ 2 w 36"/>
                  <a:gd name="T31" fmla="*/ 21 h 34"/>
                  <a:gd name="T32" fmla="*/ 5 w 36"/>
                  <a:gd name="T33" fmla="*/ 27 h 34"/>
                  <a:gd name="T34" fmla="*/ 6 w 36"/>
                  <a:gd name="T35" fmla="*/ 29 h 34"/>
                  <a:gd name="T36" fmla="*/ 13 w 36"/>
                  <a:gd name="T37" fmla="*/ 33 h 34"/>
                  <a:gd name="T38" fmla="*/ 15 w 36"/>
                  <a:gd name="T39" fmla="*/ 34 h 34"/>
                  <a:gd name="T40" fmla="*/ 16 w 36"/>
                  <a:gd name="T41" fmla="*/ 33 h 34"/>
                  <a:gd name="T42" fmla="*/ 19 w 36"/>
                  <a:gd name="T43" fmla="*/ 27 h 34"/>
                  <a:gd name="T44" fmla="*/ 20 w 36"/>
                  <a:gd name="T45" fmla="*/ 26 h 34"/>
                  <a:gd name="T46" fmla="*/ 29 w 36"/>
                  <a:gd name="T47" fmla="*/ 23 h 34"/>
                  <a:gd name="T48" fmla="*/ 31 w 36"/>
                  <a:gd name="T49" fmla="*/ 22 h 34"/>
                  <a:gd name="T50" fmla="*/ 32 w 36"/>
                  <a:gd name="T51" fmla="*/ 21 h 34"/>
                  <a:gd name="T52" fmla="*/ 31 w 36"/>
                  <a:gd name="T53" fmla="*/ 20 h 34"/>
                  <a:gd name="T54" fmla="*/ 32 w 36"/>
                  <a:gd name="T55" fmla="*/ 19 h 34"/>
                  <a:gd name="T56" fmla="*/ 33 w 36"/>
                  <a:gd name="T57" fmla="*/ 16 h 34"/>
                  <a:gd name="T58" fmla="*/ 34 w 36"/>
                  <a:gd name="T59" fmla="*/ 15 h 34"/>
                  <a:gd name="T60" fmla="*/ 34 w 36"/>
                  <a:gd name="T61" fmla="*/ 15 h 34"/>
                  <a:gd name="T62" fmla="*/ 36 w 36"/>
                  <a:gd name="T63" fmla="*/ 13 h 34"/>
                  <a:gd name="T64" fmla="*/ 36 w 36"/>
                  <a:gd name="T65" fmla="*/ 12 h 34"/>
                  <a:gd name="T66" fmla="*/ 35 w 36"/>
                  <a:gd name="T67"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 h="34">
                    <a:moveTo>
                      <a:pt x="35" y="9"/>
                    </a:moveTo>
                    <a:cubicBezTo>
                      <a:pt x="34" y="9"/>
                      <a:pt x="34" y="8"/>
                      <a:pt x="34" y="8"/>
                    </a:cubicBezTo>
                    <a:cubicBezTo>
                      <a:pt x="33" y="8"/>
                      <a:pt x="29" y="4"/>
                      <a:pt x="28" y="4"/>
                    </a:cubicBezTo>
                    <a:cubicBezTo>
                      <a:pt x="28" y="3"/>
                      <a:pt x="27" y="3"/>
                      <a:pt x="27" y="3"/>
                    </a:cubicBezTo>
                    <a:cubicBezTo>
                      <a:pt x="27" y="3"/>
                      <a:pt x="26" y="3"/>
                      <a:pt x="26" y="3"/>
                    </a:cubicBezTo>
                    <a:cubicBezTo>
                      <a:pt x="26" y="3"/>
                      <a:pt x="25" y="1"/>
                      <a:pt x="24" y="0"/>
                    </a:cubicBezTo>
                    <a:cubicBezTo>
                      <a:pt x="24" y="0"/>
                      <a:pt x="23" y="0"/>
                      <a:pt x="22" y="0"/>
                    </a:cubicBezTo>
                    <a:cubicBezTo>
                      <a:pt x="22" y="0"/>
                      <a:pt x="20" y="1"/>
                      <a:pt x="19" y="2"/>
                    </a:cubicBezTo>
                    <a:cubicBezTo>
                      <a:pt x="18" y="2"/>
                      <a:pt x="18" y="2"/>
                      <a:pt x="17" y="3"/>
                    </a:cubicBezTo>
                    <a:cubicBezTo>
                      <a:pt x="17" y="3"/>
                      <a:pt x="11" y="6"/>
                      <a:pt x="11" y="6"/>
                    </a:cubicBezTo>
                    <a:cubicBezTo>
                      <a:pt x="10" y="6"/>
                      <a:pt x="10" y="7"/>
                      <a:pt x="10" y="7"/>
                    </a:cubicBezTo>
                    <a:cubicBezTo>
                      <a:pt x="10" y="8"/>
                      <a:pt x="8" y="11"/>
                      <a:pt x="7" y="11"/>
                    </a:cubicBezTo>
                    <a:cubicBezTo>
                      <a:pt x="7" y="12"/>
                      <a:pt x="5" y="14"/>
                      <a:pt x="4" y="15"/>
                    </a:cubicBezTo>
                    <a:cubicBezTo>
                      <a:pt x="4" y="15"/>
                      <a:pt x="3" y="16"/>
                      <a:pt x="3" y="16"/>
                    </a:cubicBezTo>
                    <a:cubicBezTo>
                      <a:pt x="2" y="16"/>
                      <a:pt x="1" y="16"/>
                      <a:pt x="0" y="17"/>
                    </a:cubicBezTo>
                    <a:cubicBezTo>
                      <a:pt x="0" y="18"/>
                      <a:pt x="1" y="21"/>
                      <a:pt x="2" y="21"/>
                    </a:cubicBezTo>
                    <a:cubicBezTo>
                      <a:pt x="2" y="22"/>
                      <a:pt x="4" y="26"/>
                      <a:pt x="5" y="27"/>
                    </a:cubicBezTo>
                    <a:cubicBezTo>
                      <a:pt x="5" y="28"/>
                      <a:pt x="5" y="28"/>
                      <a:pt x="6" y="29"/>
                    </a:cubicBezTo>
                    <a:cubicBezTo>
                      <a:pt x="7" y="29"/>
                      <a:pt x="13" y="33"/>
                      <a:pt x="13" y="33"/>
                    </a:cubicBezTo>
                    <a:cubicBezTo>
                      <a:pt x="14" y="34"/>
                      <a:pt x="14" y="34"/>
                      <a:pt x="15" y="34"/>
                    </a:cubicBezTo>
                    <a:cubicBezTo>
                      <a:pt x="16" y="34"/>
                      <a:pt x="16" y="33"/>
                      <a:pt x="16" y="33"/>
                    </a:cubicBezTo>
                    <a:cubicBezTo>
                      <a:pt x="16" y="33"/>
                      <a:pt x="19" y="27"/>
                      <a:pt x="19" y="27"/>
                    </a:cubicBezTo>
                    <a:cubicBezTo>
                      <a:pt x="20" y="26"/>
                      <a:pt x="20" y="26"/>
                      <a:pt x="20" y="26"/>
                    </a:cubicBezTo>
                    <a:cubicBezTo>
                      <a:pt x="20" y="26"/>
                      <a:pt x="29" y="23"/>
                      <a:pt x="29" y="23"/>
                    </a:cubicBezTo>
                    <a:cubicBezTo>
                      <a:pt x="30" y="23"/>
                      <a:pt x="31" y="22"/>
                      <a:pt x="31" y="22"/>
                    </a:cubicBezTo>
                    <a:cubicBezTo>
                      <a:pt x="32" y="22"/>
                      <a:pt x="32" y="21"/>
                      <a:pt x="32" y="21"/>
                    </a:cubicBezTo>
                    <a:cubicBezTo>
                      <a:pt x="32" y="21"/>
                      <a:pt x="31" y="20"/>
                      <a:pt x="31" y="20"/>
                    </a:cubicBezTo>
                    <a:cubicBezTo>
                      <a:pt x="31" y="19"/>
                      <a:pt x="32" y="19"/>
                      <a:pt x="32" y="19"/>
                    </a:cubicBezTo>
                    <a:cubicBezTo>
                      <a:pt x="32" y="19"/>
                      <a:pt x="33" y="17"/>
                      <a:pt x="33" y="16"/>
                    </a:cubicBezTo>
                    <a:cubicBezTo>
                      <a:pt x="33" y="16"/>
                      <a:pt x="34" y="16"/>
                      <a:pt x="34" y="15"/>
                    </a:cubicBezTo>
                    <a:cubicBezTo>
                      <a:pt x="34" y="15"/>
                      <a:pt x="34" y="15"/>
                      <a:pt x="34" y="15"/>
                    </a:cubicBezTo>
                    <a:cubicBezTo>
                      <a:pt x="34" y="15"/>
                      <a:pt x="35" y="13"/>
                      <a:pt x="36" y="13"/>
                    </a:cubicBezTo>
                    <a:cubicBezTo>
                      <a:pt x="36" y="13"/>
                      <a:pt x="36" y="12"/>
                      <a:pt x="36" y="12"/>
                    </a:cubicBezTo>
                    <a:cubicBezTo>
                      <a:pt x="36" y="12"/>
                      <a:pt x="35" y="9"/>
                      <a:pt x="35"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33" name="Freeform 944">
                <a:extLst>
                  <a:ext uri="{FF2B5EF4-FFF2-40B4-BE49-F238E27FC236}">
                    <a16:creationId xmlns:a16="http://schemas.microsoft.com/office/drawing/2014/main" id="{B38D0AEB-302A-4747-9EB7-5F46FDF08B72}"/>
                  </a:ext>
                </a:extLst>
              </p:cNvPr>
              <p:cNvSpPr>
                <a:spLocks/>
              </p:cNvSpPr>
              <p:nvPr/>
            </p:nvSpPr>
            <p:spPr bwMode="auto">
              <a:xfrm>
                <a:off x="4136" y="3217"/>
                <a:ext cx="27" cy="36"/>
              </a:xfrm>
              <a:custGeom>
                <a:avLst/>
                <a:gdLst>
                  <a:gd name="T0" fmla="*/ 17 w 20"/>
                  <a:gd name="T1" fmla="*/ 4 h 26"/>
                  <a:gd name="T2" fmla="*/ 15 w 20"/>
                  <a:gd name="T3" fmla="*/ 4 h 26"/>
                  <a:gd name="T4" fmla="*/ 10 w 20"/>
                  <a:gd name="T5" fmla="*/ 1 h 26"/>
                  <a:gd name="T6" fmla="*/ 9 w 20"/>
                  <a:gd name="T7" fmla="*/ 1 h 26"/>
                  <a:gd name="T8" fmla="*/ 6 w 20"/>
                  <a:gd name="T9" fmla="*/ 4 h 26"/>
                  <a:gd name="T10" fmla="*/ 4 w 20"/>
                  <a:gd name="T11" fmla="*/ 6 h 26"/>
                  <a:gd name="T12" fmla="*/ 0 w 20"/>
                  <a:gd name="T13" fmla="*/ 12 h 26"/>
                  <a:gd name="T14" fmla="*/ 0 w 20"/>
                  <a:gd name="T15" fmla="*/ 16 h 26"/>
                  <a:gd name="T16" fmla="*/ 1 w 20"/>
                  <a:gd name="T17" fmla="*/ 17 h 26"/>
                  <a:gd name="T18" fmla="*/ 2 w 20"/>
                  <a:gd name="T19" fmla="*/ 18 h 26"/>
                  <a:gd name="T20" fmla="*/ 6 w 20"/>
                  <a:gd name="T21" fmla="*/ 24 h 26"/>
                  <a:gd name="T22" fmla="*/ 7 w 20"/>
                  <a:gd name="T23" fmla="*/ 25 h 26"/>
                  <a:gd name="T24" fmla="*/ 17 w 20"/>
                  <a:gd name="T25" fmla="*/ 25 h 26"/>
                  <a:gd name="T26" fmla="*/ 17 w 20"/>
                  <a:gd name="T27" fmla="*/ 24 h 26"/>
                  <a:gd name="T28" fmla="*/ 18 w 20"/>
                  <a:gd name="T29" fmla="*/ 18 h 26"/>
                  <a:gd name="T30" fmla="*/ 19 w 20"/>
                  <a:gd name="T31" fmla="*/ 18 h 26"/>
                  <a:gd name="T32" fmla="*/ 20 w 20"/>
                  <a:gd name="T33" fmla="*/ 18 h 26"/>
                  <a:gd name="T34" fmla="*/ 19 w 20"/>
                  <a:gd name="T35" fmla="*/ 8 h 26"/>
                  <a:gd name="T36" fmla="*/ 18 w 20"/>
                  <a:gd name="T37" fmla="*/ 5 h 26"/>
                  <a:gd name="T38" fmla="*/ 17 w 20"/>
                  <a:gd name="T39" fmla="*/ 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 h="26">
                    <a:moveTo>
                      <a:pt x="17" y="4"/>
                    </a:moveTo>
                    <a:cubicBezTo>
                      <a:pt x="16" y="4"/>
                      <a:pt x="15" y="4"/>
                      <a:pt x="15" y="4"/>
                    </a:cubicBezTo>
                    <a:cubicBezTo>
                      <a:pt x="14" y="4"/>
                      <a:pt x="10" y="2"/>
                      <a:pt x="10" y="1"/>
                    </a:cubicBezTo>
                    <a:cubicBezTo>
                      <a:pt x="9" y="0"/>
                      <a:pt x="9" y="1"/>
                      <a:pt x="9" y="1"/>
                    </a:cubicBezTo>
                    <a:cubicBezTo>
                      <a:pt x="8" y="2"/>
                      <a:pt x="6" y="3"/>
                      <a:pt x="6" y="4"/>
                    </a:cubicBezTo>
                    <a:cubicBezTo>
                      <a:pt x="5" y="4"/>
                      <a:pt x="4" y="6"/>
                      <a:pt x="4" y="6"/>
                    </a:cubicBezTo>
                    <a:cubicBezTo>
                      <a:pt x="4" y="6"/>
                      <a:pt x="0" y="11"/>
                      <a:pt x="0" y="12"/>
                    </a:cubicBezTo>
                    <a:cubicBezTo>
                      <a:pt x="0" y="12"/>
                      <a:pt x="0" y="16"/>
                      <a:pt x="0" y="16"/>
                    </a:cubicBezTo>
                    <a:cubicBezTo>
                      <a:pt x="0" y="16"/>
                      <a:pt x="0" y="17"/>
                      <a:pt x="1" y="17"/>
                    </a:cubicBezTo>
                    <a:cubicBezTo>
                      <a:pt x="1" y="17"/>
                      <a:pt x="2" y="18"/>
                      <a:pt x="2" y="18"/>
                    </a:cubicBezTo>
                    <a:cubicBezTo>
                      <a:pt x="2" y="18"/>
                      <a:pt x="6" y="23"/>
                      <a:pt x="6" y="24"/>
                    </a:cubicBezTo>
                    <a:cubicBezTo>
                      <a:pt x="6" y="24"/>
                      <a:pt x="7" y="25"/>
                      <a:pt x="7" y="25"/>
                    </a:cubicBezTo>
                    <a:cubicBezTo>
                      <a:pt x="7" y="25"/>
                      <a:pt x="16" y="25"/>
                      <a:pt x="17" y="25"/>
                    </a:cubicBezTo>
                    <a:cubicBezTo>
                      <a:pt x="18" y="26"/>
                      <a:pt x="17" y="24"/>
                      <a:pt x="17" y="24"/>
                    </a:cubicBezTo>
                    <a:cubicBezTo>
                      <a:pt x="17" y="23"/>
                      <a:pt x="18" y="19"/>
                      <a:pt x="18" y="18"/>
                    </a:cubicBezTo>
                    <a:cubicBezTo>
                      <a:pt x="18" y="18"/>
                      <a:pt x="18" y="18"/>
                      <a:pt x="19" y="18"/>
                    </a:cubicBezTo>
                    <a:cubicBezTo>
                      <a:pt x="19" y="18"/>
                      <a:pt x="20" y="18"/>
                      <a:pt x="20" y="18"/>
                    </a:cubicBezTo>
                    <a:cubicBezTo>
                      <a:pt x="20" y="15"/>
                      <a:pt x="19" y="9"/>
                      <a:pt x="19" y="8"/>
                    </a:cubicBezTo>
                    <a:cubicBezTo>
                      <a:pt x="19" y="7"/>
                      <a:pt x="19" y="5"/>
                      <a:pt x="18" y="5"/>
                    </a:cubicBezTo>
                    <a:cubicBezTo>
                      <a:pt x="18" y="5"/>
                      <a:pt x="18" y="4"/>
                      <a:pt x="17"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34" name="Freeform 945">
                <a:extLst>
                  <a:ext uri="{FF2B5EF4-FFF2-40B4-BE49-F238E27FC236}">
                    <a16:creationId xmlns:a16="http://schemas.microsoft.com/office/drawing/2014/main" id="{2818149E-44EC-4686-B39E-9D810BC35B25}"/>
                  </a:ext>
                </a:extLst>
              </p:cNvPr>
              <p:cNvSpPr>
                <a:spLocks/>
              </p:cNvSpPr>
              <p:nvPr/>
            </p:nvSpPr>
            <p:spPr bwMode="auto">
              <a:xfrm>
                <a:off x="3913" y="3048"/>
                <a:ext cx="193" cy="195"/>
              </a:xfrm>
              <a:custGeom>
                <a:avLst/>
                <a:gdLst>
                  <a:gd name="T0" fmla="*/ 58 w 140"/>
                  <a:gd name="T1" fmla="*/ 8 h 142"/>
                  <a:gd name="T2" fmla="*/ 53 w 140"/>
                  <a:gd name="T3" fmla="*/ 10 h 142"/>
                  <a:gd name="T4" fmla="*/ 49 w 140"/>
                  <a:gd name="T5" fmla="*/ 3 h 142"/>
                  <a:gd name="T6" fmla="*/ 15 w 140"/>
                  <a:gd name="T7" fmla="*/ 9 h 142"/>
                  <a:gd name="T8" fmla="*/ 16 w 140"/>
                  <a:gd name="T9" fmla="*/ 62 h 142"/>
                  <a:gd name="T10" fmla="*/ 1 w 140"/>
                  <a:gd name="T11" fmla="*/ 65 h 142"/>
                  <a:gd name="T12" fmla="*/ 1 w 140"/>
                  <a:gd name="T13" fmla="*/ 108 h 142"/>
                  <a:gd name="T14" fmla="*/ 10 w 140"/>
                  <a:gd name="T15" fmla="*/ 119 h 142"/>
                  <a:gd name="T16" fmla="*/ 13 w 140"/>
                  <a:gd name="T17" fmla="*/ 131 h 142"/>
                  <a:gd name="T18" fmla="*/ 11 w 140"/>
                  <a:gd name="T19" fmla="*/ 141 h 142"/>
                  <a:gd name="T20" fmla="*/ 16 w 140"/>
                  <a:gd name="T21" fmla="*/ 141 h 142"/>
                  <a:gd name="T22" fmla="*/ 23 w 140"/>
                  <a:gd name="T23" fmla="*/ 141 h 142"/>
                  <a:gd name="T24" fmla="*/ 39 w 140"/>
                  <a:gd name="T25" fmla="*/ 130 h 142"/>
                  <a:gd name="T26" fmla="*/ 42 w 140"/>
                  <a:gd name="T27" fmla="*/ 123 h 142"/>
                  <a:gd name="T28" fmla="*/ 50 w 140"/>
                  <a:gd name="T29" fmla="*/ 117 h 142"/>
                  <a:gd name="T30" fmla="*/ 71 w 140"/>
                  <a:gd name="T31" fmla="*/ 125 h 142"/>
                  <a:gd name="T32" fmla="*/ 81 w 140"/>
                  <a:gd name="T33" fmla="*/ 123 h 142"/>
                  <a:gd name="T34" fmla="*/ 88 w 140"/>
                  <a:gd name="T35" fmla="*/ 110 h 142"/>
                  <a:gd name="T36" fmla="*/ 89 w 140"/>
                  <a:gd name="T37" fmla="*/ 108 h 142"/>
                  <a:gd name="T38" fmla="*/ 95 w 140"/>
                  <a:gd name="T39" fmla="*/ 106 h 142"/>
                  <a:gd name="T40" fmla="*/ 102 w 140"/>
                  <a:gd name="T41" fmla="*/ 101 h 142"/>
                  <a:gd name="T42" fmla="*/ 105 w 140"/>
                  <a:gd name="T43" fmla="*/ 91 h 142"/>
                  <a:gd name="T44" fmla="*/ 118 w 140"/>
                  <a:gd name="T45" fmla="*/ 81 h 142"/>
                  <a:gd name="T46" fmla="*/ 130 w 140"/>
                  <a:gd name="T47" fmla="*/ 73 h 142"/>
                  <a:gd name="T48" fmla="*/ 133 w 140"/>
                  <a:gd name="T49" fmla="*/ 71 h 142"/>
                  <a:gd name="T50" fmla="*/ 140 w 140"/>
                  <a:gd name="T51" fmla="*/ 68 h 142"/>
                  <a:gd name="T52" fmla="*/ 135 w 140"/>
                  <a:gd name="T53" fmla="*/ 62 h 142"/>
                  <a:gd name="T54" fmla="*/ 121 w 140"/>
                  <a:gd name="T55" fmla="*/ 59 h 142"/>
                  <a:gd name="T56" fmla="*/ 115 w 140"/>
                  <a:gd name="T57" fmla="*/ 49 h 142"/>
                  <a:gd name="T58" fmla="*/ 115 w 140"/>
                  <a:gd name="T59" fmla="*/ 42 h 142"/>
                  <a:gd name="T60" fmla="*/ 109 w 140"/>
                  <a:gd name="T61" fmla="*/ 38 h 142"/>
                  <a:gd name="T62" fmla="*/ 95 w 140"/>
                  <a:gd name="T63" fmla="*/ 29 h 142"/>
                  <a:gd name="T64" fmla="*/ 89 w 140"/>
                  <a:gd name="T65" fmla="*/ 18 h 142"/>
                  <a:gd name="T66" fmla="*/ 79 w 140"/>
                  <a:gd name="T67" fmla="*/ 0 h 142"/>
                  <a:gd name="T68" fmla="*/ 63 w 140"/>
                  <a:gd name="T69" fmla="*/ 4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0" h="142">
                    <a:moveTo>
                      <a:pt x="63" y="4"/>
                    </a:moveTo>
                    <a:cubicBezTo>
                      <a:pt x="62" y="5"/>
                      <a:pt x="58" y="7"/>
                      <a:pt x="58" y="8"/>
                    </a:cubicBezTo>
                    <a:cubicBezTo>
                      <a:pt x="57" y="9"/>
                      <a:pt x="56" y="10"/>
                      <a:pt x="55" y="10"/>
                    </a:cubicBezTo>
                    <a:cubicBezTo>
                      <a:pt x="55" y="11"/>
                      <a:pt x="54" y="11"/>
                      <a:pt x="53" y="10"/>
                    </a:cubicBezTo>
                    <a:cubicBezTo>
                      <a:pt x="52" y="9"/>
                      <a:pt x="50" y="5"/>
                      <a:pt x="50" y="4"/>
                    </a:cubicBezTo>
                    <a:cubicBezTo>
                      <a:pt x="49" y="3"/>
                      <a:pt x="49" y="3"/>
                      <a:pt x="49" y="3"/>
                    </a:cubicBezTo>
                    <a:cubicBezTo>
                      <a:pt x="49" y="3"/>
                      <a:pt x="17" y="8"/>
                      <a:pt x="16" y="8"/>
                    </a:cubicBezTo>
                    <a:cubicBezTo>
                      <a:pt x="15" y="8"/>
                      <a:pt x="15" y="9"/>
                      <a:pt x="15" y="9"/>
                    </a:cubicBezTo>
                    <a:cubicBezTo>
                      <a:pt x="15" y="9"/>
                      <a:pt x="15" y="41"/>
                      <a:pt x="15" y="43"/>
                    </a:cubicBezTo>
                    <a:cubicBezTo>
                      <a:pt x="15" y="44"/>
                      <a:pt x="16" y="58"/>
                      <a:pt x="16" y="62"/>
                    </a:cubicBezTo>
                    <a:cubicBezTo>
                      <a:pt x="16" y="65"/>
                      <a:pt x="11" y="65"/>
                      <a:pt x="11" y="65"/>
                    </a:cubicBezTo>
                    <a:cubicBezTo>
                      <a:pt x="11" y="65"/>
                      <a:pt x="2" y="65"/>
                      <a:pt x="1" y="65"/>
                    </a:cubicBezTo>
                    <a:cubicBezTo>
                      <a:pt x="0" y="65"/>
                      <a:pt x="1" y="66"/>
                      <a:pt x="1" y="66"/>
                    </a:cubicBezTo>
                    <a:cubicBezTo>
                      <a:pt x="1" y="108"/>
                      <a:pt x="1" y="108"/>
                      <a:pt x="1" y="108"/>
                    </a:cubicBezTo>
                    <a:cubicBezTo>
                      <a:pt x="2" y="109"/>
                      <a:pt x="5" y="111"/>
                      <a:pt x="5" y="112"/>
                    </a:cubicBezTo>
                    <a:cubicBezTo>
                      <a:pt x="7" y="113"/>
                      <a:pt x="9" y="116"/>
                      <a:pt x="10" y="119"/>
                    </a:cubicBezTo>
                    <a:cubicBezTo>
                      <a:pt x="11" y="122"/>
                      <a:pt x="13" y="124"/>
                      <a:pt x="13" y="126"/>
                    </a:cubicBezTo>
                    <a:cubicBezTo>
                      <a:pt x="13" y="127"/>
                      <a:pt x="14" y="130"/>
                      <a:pt x="13" y="131"/>
                    </a:cubicBezTo>
                    <a:cubicBezTo>
                      <a:pt x="12" y="133"/>
                      <a:pt x="10" y="135"/>
                      <a:pt x="10" y="137"/>
                    </a:cubicBezTo>
                    <a:cubicBezTo>
                      <a:pt x="10" y="138"/>
                      <a:pt x="10" y="140"/>
                      <a:pt x="11" y="141"/>
                    </a:cubicBezTo>
                    <a:cubicBezTo>
                      <a:pt x="11" y="142"/>
                      <a:pt x="11" y="142"/>
                      <a:pt x="11" y="142"/>
                    </a:cubicBezTo>
                    <a:cubicBezTo>
                      <a:pt x="12" y="141"/>
                      <a:pt x="14" y="141"/>
                      <a:pt x="16" y="141"/>
                    </a:cubicBezTo>
                    <a:cubicBezTo>
                      <a:pt x="17" y="142"/>
                      <a:pt x="20" y="141"/>
                      <a:pt x="21" y="141"/>
                    </a:cubicBezTo>
                    <a:cubicBezTo>
                      <a:pt x="22" y="141"/>
                      <a:pt x="22" y="141"/>
                      <a:pt x="23" y="141"/>
                    </a:cubicBezTo>
                    <a:cubicBezTo>
                      <a:pt x="23" y="141"/>
                      <a:pt x="25" y="142"/>
                      <a:pt x="26" y="141"/>
                    </a:cubicBezTo>
                    <a:cubicBezTo>
                      <a:pt x="28" y="140"/>
                      <a:pt x="39" y="130"/>
                      <a:pt x="39" y="130"/>
                    </a:cubicBezTo>
                    <a:cubicBezTo>
                      <a:pt x="39" y="130"/>
                      <a:pt x="40" y="129"/>
                      <a:pt x="41" y="128"/>
                    </a:cubicBezTo>
                    <a:cubicBezTo>
                      <a:pt x="41" y="127"/>
                      <a:pt x="42" y="124"/>
                      <a:pt x="42" y="123"/>
                    </a:cubicBezTo>
                    <a:cubicBezTo>
                      <a:pt x="42" y="122"/>
                      <a:pt x="43" y="119"/>
                      <a:pt x="44" y="117"/>
                    </a:cubicBezTo>
                    <a:cubicBezTo>
                      <a:pt x="46" y="116"/>
                      <a:pt x="48" y="116"/>
                      <a:pt x="50" y="117"/>
                    </a:cubicBezTo>
                    <a:cubicBezTo>
                      <a:pt x="53" y="119"/>
                      <a:pt x="63" y="122"/>
                      <a:pt x="65" y="123"/>
                    </a:cubicBezTo>
                    <a:cubicBezTo>
                      <a:pt x="66" y="123"/>
                      <a:pt x="69" y="125"/>
                      <a:pt x="71" y="125"/>
                    </a:cubicBezTo>
                    <a:cubicBezTo>
                      <a:pt x="73" y="124"/>
                      <a:pt x="76" y="124"/>
                      <a:pt x="78" y="124"/>
                    </a:cubicBezTo>
                    <a:cubicBezTo>
                      <a:pt x="79" y="124"/>
                      <a:pt x="80" y="124"/>
                      <a:pt x="81" y="123"/>
                    </a:cubicBezTo>
                    <a:cubicBezTo>
                      <a:pt x="82" y="122"/>
                      <a:pt x="84" y="120"/>
                      <a:pt x="85" y="118"/>
                    </a:cubicBezTo>
                    <a:cubicBezTo>
                      <a:pt x="86" y="117"/>
                      <a:pt x="87" y="111"/>
                      <a:pt x="88" y="110"/>
                    </a:cubicBezTo>
                    <a:cubicBezTo>
                      <a:pt x="88" y="109"/>
                      <a:pt x="88" y="109"/>
                      <a:pt x="88" y="109"/>
                    </a:cubicBezTo>
                    <a:cubicBezTo>
                      <a:pt x="88" y="109"/>
                      <a:pt x="87" y="108"/>
                      <a:pt x="89" y="108"/>
                    </a:cubicBezTo>
                    <a:cubicBezTo>
                      <a:pt x="90" y="107"/>
                      <a:pt x="91" y="107"/>
                      <a:pt x="92" y="107"/>
                    </a:cubicBezTo>
                    <a:cubicBezTo>
                      <a:pt x="92" y="107"/>
                      <a:pt x="94" y="107"/>
                      <a:pt x="95" y="106"/>
                    </a:cubicBezTo>
                    <a:cubicBezTo>
                      <a:pt x="95" y="106"/>
                      <a:pt x="95" y="106"/>
                      <a:pt x="96" y="106"/>
                    </a:cubicBezTo>
                    <a:cubicBezTo>
                      <a:pt x="97" y="105"/>
                      <a:pt x="101" y="102"/>
                      <a:pt x="102" y="101"/>
                    </a:cubicBezTo>
                    <a:cubicBezTo>
                      <a:pt x="102" y="99"/>
                      <a:pt x="103" y="96"/>
                      <a:pt x="104" y="94"/>
                    </a:cubicBezTo>
                    <a:cubicBezTo>
                      <a:pt x="104" y="91"/>
                      <a:pt x="104" y="92"/>
                      <a:pt x="105" y="91"/>
                    </a:cubicBezTo>
                    <a:cubicBezTo>
                      <a:pt x="106" y="90"/>
                      <a:pt x="117" y="82"/>
                      <a:pt x="117" y="82"/>
                    </a:cubicBezTo>
                    <a:cubicBezTo>
                      <a:pt x="117" y="82"/>
                      <a:pt x="118" y="82"/>
                      <a:pt x="118" y="81"/>
                    </a:cubicBezTo>
                    <a:cubicBezTo>
                      <a:pt x="119" y="81"/>
                      <a:pt x="123" y="75"/>
                      <a:pt x="125" y="74"/>
                    </a:cubicBezTo>
                    <a:cubicBezTo>
                      <a:pt x="127" y="74"/>
                      <a:pt x="129" y="73"/>
                      <a:pt x="130" y="73"/>
                    </a:cubicBezTo>
                    <a:cubicBezTo>
                      <a:pt x="131" y="73"/>
                      <a:pt x="133" y="72"/>
                      <a:pt x="133" y="72"/>
                    </a:cubicBezTo>
                    <a:cubicBezTo>
                      <a:pt x="133" y="72"/>
                      <a:pt x="133" y="71"/>
                      <a:pt x="133" y="71"/>
                    </a:cubicBezTo>
                    <a:cubicBezTo>
                      <a:pt x="133" y="71"/>
                      <a:pt x="134" y="69"/>
                      <a:pt x="137" y="68"/>
                    </a:cubicBezTo>
                    <a:cubicBezTo>
                      <a:pt x="138" y="68"/>
                      <a:pt x="139" y="68"/>
                      <a:pt x="140" y="68"/>
                    </a:cubicBezTo>
                    <a:cubicBezTo>
                      <a:pt x="138" y="67"/>
                      <a:pt x="136" y="65"/>
                      <a:pt x="136" y="65"/>
                    </a:cubicBezTo>
                    <a:cubicBezTo>
                      <a:pt x="135" y="64"/>
                      <a:pt x="135" y="63"/>
                      <a:pt x="135" y="62"/>
                    </a:cubicBezTo>
                    <a:cubicBezTo>
                      <a:pt x="136" y="62"/>
                      <a:pt x="133" y="61"/>
                      <a:pt x="131" y="61"/>
                    </a:cubicBezTo>
                    <a:cubicBezTo>
                      <a:pt x="130" y="61"/>
                      <a:pt x="122" y="59"/>
                      <a:pt x="121" y="59"/>
                    </a:cubicBezTo>
                    <a:cubicBezTo>
                      <a:pt x="119" y="58"/>
                      <a:pt x="119" y="58"/>
                      <a:pt x="119" y="58"/>
                    </a:cubicBezTo>
                    <a:cubicBezTo>
                      <a:pt x="119" y="58"/>
                      <a:pt x="115" y="50"/>
                      <a:pt x="115" y="49"/>
                    </a:cubicBezTo>
                    <a:cubicBezTo>
                      <a:pt x="115" y="49"/>
                      <a:pt x="115" y="47"/>
                      <a:pt x="115" y="46"/>
                    </a:cubicBezTo>
                    <a:cubicBezTo>
                      <a:pt x="115" y="45"/>
                      <a:pt x="115" y="44"/>
                      <a:pt x="115" y="42"/>
                    </a:cubicBezTo>
                    <a:cubicBezTo>
                      <a:pt x="115" y="41"/>
                      <a:pt x="110" y="42"/>
                      <a:pt x="109" y="42"/>
                    </a:cubicBezTo>
                    <a:cubicBezTo>
                      <a:pt x="109" y="42"/>
                      <a:pt x="109" y="41"/>
                      <a:pt x="109" y="38"/>
                    </a:cubicBezTo>
                    <a:cubicBezTo>
                      <a:pt x="109" y="35"/>
                      <a:pt x="105" y="34"/>
                      <a:pt x="103" y="33"/>
                    </a:cubicBezTo>
                    <a:cubicBezTo>
                      <a:pt x="101" y="33"/>
                      <a:pt x="98" y="31"/>
                      <a:pt x="95" y="29"/>
                    </a:cubicBezTo>
                    <a:cubicBezTo>
                      <a:pt x="92" y="27"/>
                      <a:pt x="90" y="20"/>
                      <a:pt x="90" y="20"/>
                    </a:cubicBezTo>
                    <a:cubicBezTo>
                      <a:pt x="90" y="19"/>
                      <a:pt x="89" y="18"/>
                      <a:pt x="89" y="18"/>
                    </a:cubicBezTo>
                    <a:cubicBezTo>
                      <a:pt x="89" y="18"/>
                      <a:pt x="80" y="2"/>
                      <a:pt x="79" y="1"/>
                    </a:cubicBezTo>
                    <a:cubicBezTo>
                      <a:pt x="79" y="0"/>
                      <a:pt x="79" y="0"/>
                      <a:pt x="79" y="0"/>
                    </a:cubicBezTo>
                    <a:cubicBezTo>
                      <a:pt x="76" y="0"/>
                      <a:pt x="74" y="1"/>
                      <a:pt x="72" y="1"/>
                    </a:cubicBezTo>
                    <a:cubicBezTo>
                      <a:pt x="69" y="1"/>
                      <a:pt x="63" y="4"/>
                      <a:pt x="63"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35" name="Freeform 946">
                <a:extLst>
                  <a:ext uri="{FF2B5EF4-FFF2-40B4-BE49-F238E27FC236}">
                    <a16:creationId xmlns:a16="http://schemas.microsoft.com/office/drawing/2014/main" id="{3BF645E9-DB73-4FDB-B637-4FC9460121E5}"/>
                  </a:ext>
                </a:extLst>
              </p:cNvPr>
              <p:cNvSpPr>
                <a:spLocks/>
              </p:cNvSpPr>
              <p:nvPr/>
            </p:nvSpPr>
            <p:spPr bwMode="auto">
              <a:xfrm>
                <a:off x="4123" y="2896"/>
                <a:ext cx="220" cy="346"/>
              </a:xfrm>
              <a:custGeom>
                <a:avLst/>
                <a:gdLst>
                  <a:gd name="T0" fmla="*/ 4 w 159"/>
                  <a:gd name="T1" fmla="*/ 83 h 252"/>
                  <a:gd name="T2" fmla="*/ 14 w 159"/>
                  <a:gd name="T3" fmla="*/ 85 h 252"/>
                  <a:gd name="T4" fmla="*/ 40 w 159"/>
                  <a:gd name="T5" fmla="*/ 94 h 252"/>
                  <a:gd name="T6" fmla="*/ 42 w 159"/>
                  <a:gd name="T7" fmla="*/ 104 h 252"/>
                  <a:gd name="T8" fmla="*/ 42 w 159"/>
                  <a:gd name="T9" fmla="*/ 120 h 252"/>
                  <a:gd name="T10" fmla="*/ 38 w 159"/>
                  <a:gd name="T11" fmla="*/ 127 h 252"/>
                  <a:gd name="T12" fmla="*/ 39 w 159"/>
                  <a:gd name="T13" fmla="*/ 140 h 252"/>
                  <a:gd name="T14" fmla="*/ 42 w 159"/>
                  <a:gd name="T15" fmla="*/ 144 h 252"/>
                  <a:gd name="T16" fmla="*/ 33 w 159"/>
                  <a:gd name="T17" fmla="*/ 160 h 252"/>
                  <a:gd name="T18" fmla="*/ 32 w 159"/>
                  <a:gd name="T19" fmla="*/ 166 h 252"/>
                  <a:gd name="T20" fmla="*/ 20 w 159"/>
                  <a:gd name="T21" fmla="*/ 196 h 252"/>
                  <a:gd name="T22" fmla="*/ 26 w 159"/>
                  <a:gd name="T23" fmla="*/ 212 h 252"/>
                  <a:gd name="T24" fmla="*/ 27 w 159"/>
                  <a:gd name="T25" fmla="*/ 235 h 252"/>
                  <a:gd name="T26" fmla="*/ 28 w 159"/>
                  <a:gd name="T27" fmla="*/ 242 h 252"/>
                  <a:gd name="T28" fmla="*/ 40 w 159"/>
                  <a:gd name="T29" fmla="*/ 252 h 252"/>
                  <a:gd name="T30" fmla="*/ 40 w 159"/>
                  <a:gd name="T31" fmla="*/ 243 h 252"/>
                  <a:gd name="T32" fmla="*/ 38 w 159"/>
                  <a:gd name="T33" fmla="*/ 235 h 252"/>
                  <a:gd name="T34" fmla="*/ 79 w 159"/>
                  <a:gd name="T35" fmla="*/ 206 h 252"/>
                  <a:gd name="T36" fmla="*/ 79 w 159"/>
                  <a:gd name="T37" fmla="*/ 194 h 252"/>
                  <a:gd name="T38" fmla="*/ 78 w 159"/>
                  <a:gd name="T39" fmla="*/ 179 h 252"/>
                  <a:gd name="T40" fmla="*/ 73 w 159"/>
                  <a:gd name="T41" fmla="*/ 161 h 252"/>
                  <a:gd name="T42" fmla="*/ 67 w 159"/>
                  <a:gd name="T43" fmla="*/ 148 h 252"/>
                  <a:gd name="T44" fmla="*/ 68 w 159"/>
                  <a:gd name="T45" fmla="*/ 142 h 252"/>
                  <a:gd name="T46" fmla="*/ 72 w 159"/>
                  <a:gd name="T47" fmla="*/ 141 h 252"/>
                  <a:gd name="T48" fmla="*/ 91 w 159"/>
                  <a:gd name="T49" fmla="*/ 127 h 252"/>
                  <a:gd name="T50" fmla="*/ 100 w 159"/>
                  <a:gd name="T51" fmla="*/ 117 h 252"/>
                  <a:gd name="T52" fmla="*/ 103 w 159"/>
                  <a:gd name="T53" fmla="*/ 112 h 252"/>
                  <a:gd name="T54" fmla="*/ 122 w 159"/>
                  <a:gd name="T55" fmla="*/ 100 h 252"/>
                  <a:gd name="T56" fmla="*/ 157 w 159"/>
                  <a:gd name="T57" fmla="*/ 68 h 252"/>
                  <a:gd name="T58" fmla="*/ 157 w 159"/>
                  <a:gd name="T59" fmla="*/ 59 h 252"/>
                  <a:gd name="T60" fmla="*/ 154 w 159"/>
                  <a:gd name="T61" fmla="*/ 48 h 252"/>
                  <a:gd name="T62" fmla="*/ 154 w 159"/>
                  <a:gd name="T63" fmla="*/ 36 h 252"/>
                  <a:gd name="T64" fmla="*/ 152 w 159"/>
                  <a:gd name="T65" fmla="*/ 12 h 252"/>
                  <a:gd name="T66" fmla="*/ 154 w 159"/>
                  <a:gd name="T67" fmla="*/ 5 h 252"/>
                  <a:gd name="T68" fmla="*/ 153 w 159"/>
                  <a:gd name="T69" fmla="*/ 0 h 252"/>
                  <a:gd name="T70" fmla="*/ 124 w 159"/>
                  <a:gd name="T71" fmla="*/ 14 h 252"/>
                  <a:gd name="T72" fmla="*/ 114 w 159"/>
                  <a:gd name="T73" fmla="*/ 13 h 252"/>
                  <a:gd name="T74" fmla="*/ 108 w 159"/>
                  <a:gd name="T75" fmla="*/ 19 h 252"/>
                  <a:gd name="T76" fmla="*/ 96 w 159"/>
                  <a:gd name="T77" fmla="*/ 19 h 252"/>
                  <a:gd name="T78" fmla="*/ 81 w 159"/>
                  <a:gd name="T79" fmla="*/ 17 h 252"/>
                  <a:gd name="T80" fmla="*/ 71 w 159"/>
                  <a:gd name="T81" fmla="*/ 17 h 252"/>
                  <a:gd name="T82" fmla="*/ 69 w 159"/>
                  <a:gd name="T83" fmla="*/ 42 h 252"/>
                  <a:gd name="T84" fmla="*/ 84 w 159"/>
                  <a:gd name="T85" fmla="*/ 68 h 252"/>
                  <a:gd name="T86" fmla="*/ 83 w 159"/>
                  <a:gd name="T87" fmla="*/ 83 h 252"/>
                  <a:gd name="T88" fmla="*/ 75 w 159"/>
                  <a:gd name="T89" fmla="*/ 89 h 252"/>
                  <a:gd name="T90" fmla="*/ 75 w 159"/>
                  <a:gd name="T91" fmla="*/ 100 h 252"/>
                  <a:gd name="T92" fmla="*/ 71 w 159"/>
                  <a:gd name="T93" fmla="*/ 95 h 252"/>
                  <a:gd name="T94" fmla="*/ 62 w 159"/>
                  <a:gd name="T95" fmla="*/ 79 h 252"/>
                  <a:gd name="T96" fmla="*/ 65 w 159"/>
                  <a:gd name="T97" fmla="*/ 68 h 252"/>
                  <a:gd name="T98" fmla="*/ 52 w 159"/>
                  <a:gd name="T99" fmla="*/ 61 h 252"/>
                  <a:gd name="T100" fmla="*/ 45 w 159"/>
                  <a:gd name="T101" fmla="*/ 54 h 252"/>
                  <a:gd name="T102" fmla="*/ 3 w 159"/>
                  <a:gd name="T103" fmla="*/ 78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9" h="252">
                    <a:moveTo>
                      <a:pt x="3" y="78"/>
                    </a:moveTo>
                    <a:cubicBezTo>
                      <a:pt x="3" y="78"/>
                      <a:pt x="3" y="78"/>
                      <a:pt x="3" y="78"/>
                    </a:cubicBezTo>
                    <a:cubicBezTo>
                      <a:pt x="3" y="79"/>
                      <a:pt x="3" y="82"/>
                      <a:pt x="4" y="83"/>
                    </a:cubicBezTo>
                    <a:cubicBezTo>
                      <a:pt x="5" y="83"/>
                      <a:pt x="7" y="84"/>
                      <a:pt x="9" y="84"/>
                    </a:cubicBezTo>
                    <a:cubicBezTo>
                      <a:pt x="11" y="84"/>
                      <a:pt x="12" y="84"/>
                      <a:pt x="12" y="84"/>
                    </a:cubicBezTo>
                    <a:cubicBezTo>
                      <a:pt x="13" y="84"/>
                      <a:pt x="13" y="84"/>
                      <a:pt x="14" y="85"/>
                    </a:cubicBezTo>
                    <a:cubicBezTo>
                      <a:pt x="15" y="85"/>
                      <a:pt x="37" y="94"/>
                      <a:pt x="37" y="94"/>
                    </a:cubicBezTo>
                    <a:cubicBezTo>
                      <a:pt x="37" y="94"/>
                      <a:pt x="38" y="95"/>
                      <a:pt x="39" y="95"/>
                    </a:cubicBezTo>
                    <a:cubicBezTo>
                      <a:pt x="39" y="94"/>
                      <a:pt x="40" y="94"/>
                      <a:pt x="40" y="94"/>
                    </a:cubicBezTo>
                    <a:cubicBezTo>
                      <a:pt x="40" y="94"/>
                      <a:pt x="41" y="94"/>
                      <a:pt x="41" y="95"/>
                    </a:cubicBezTo>
                    <a:cubicBezTo>
                      <a:pt x="41" y="97"/>
                      <a:pt x="42" y="102"/>
                      <a:pt x="42" y="102"/>
                    </a:cubicBezTo>
                    <a:cubicBezTo>
                      <a:pt x="42" y="102"/>
                      <a:pt x="42" y="103"/>
                      <a:pt x="42" y="104"/>
                    </a:cubicBezTo>
                    <a:cubicBezTo>
                      <a:pt x="42" y="104"/>
                      <a:pt x="42" y="105"/>
                      <a:pt x="42" y="106"/>
                    </a:cubicBezTo>
                    <a:cubicBezTo>
                      <a:pt x="42" y="106"/>
                      <a:pt x="42" y="115"/>
                      <a:pt x="42" y="116"/>
                    </a:cubicBezTo>
                    <a:cubicBezTo>
                      <a:pt x="42" y="117"/>
                      <a:pt x="43" y="119"/>
                      <a:pt x="42" y="120"/>
                    </a:cubicBezTo>
                    <a:cubicBezTo>
                      <a:pt x="42" y="121"/>
                      <a:pt x="40" y="122"/>
                      <a:pt x="40" y="123"/>
                    </a:cubicBezTo>
                    <a:cubicBezTo>
                      <a:pt x="39" y="125"/>
                      <a:pt x="39" y="126"/>
                      <a:pt x="39" y="126"/>
                    </a:cubicBezTo>
                    <a:cubicBezTo>
                      <a:pt x="38" y="126"/>
                      <a:pt x="38" y="127"/>
                      <a:pt x="38" y="127"/>
                    </a:cubicBezTo>
                    <a:cubicBezTo>
                      <a:pt x="38" y="127"/>
                      <a:pt x="37" y="127"/>
                      <a:pt x="38" y="128"/>
                    </a:cubicBezTo>
                    <a:cubicBezTo>
                      <a:pt x="38" y="129"/>
                      <a:pt x="40" y="131"/>
                      <a:pt x="40" y="133"/>
                    </a:cubicBezTo>
                    <a:cubicBezTo>
                      <a:pt x="40" y="134"/>
                      <a:pt x="39" y="140"/>
                      <a:pt x="39" y="140"/>
                    </a:cubicBezTo>
                    <a:cubicBezTo>
                      <a:pt x="40" y="140"/>
                      <a:pt x="40" y="140"/>
                      <a:pt x="41" y="140"/>
                    </a:cubicBezTo>
                    <a:cubicBezTo>
                      <a:pt x="41" y="140"/>
                      <a:pt x="41" y="139"/>
                      <a:pt x="42" y="140"/>
                    </a:cubicBezTo>
                    <a:cubicBezTo>
                      <a:pt x="42" y="141"/>
                      <a:pt x="43" y="143"/>
                      <a:pt x="42" y="144"/>
                    </a:cubicBezTo>
                    <a:cubicBezTo>
                      <a:pt x="42" y="145"/>
                      <a:pt x="39" y="151"/>
                      <a:pt x="38" y="152"/>
                    </a:cubicBezTo>
                    <a:cubicBezTo>
                      <a:pt x="36" y="154"/>
                      <a:pt x="35" y="154"/>
                      <a:pt x="35" y="155"/>
                    </a:cubicBezTo>
                    <a:cubicBezTo>
                      <a:pt x="34" y="156"/>
                      <a:pt x="33" y="159"/>
                      <a:pt x="33" y="160"/>
                    </a:cubicBezTo>
                    <a:cubicBezTo>
                      <a:pt x="32" y="161"/>
                      <a:pt x="32" y="163"/>
                      <a:pt x="33" y="163"/>
                    </a:cubicBezTo>
                    <a:cubicBezTo>
                      <a:pt x="33" y="164"/>
                      <a:pt x="35" y="166"/>
                      <a:pt x="34" y="166"/>
                    </a:cubicBezTo>
                    <a:cubicBezTo>
                      <a:pt x="33" y="165"/>
                      <a:pt x="33" y="165"/>
                      <a:pt x="32" y="166"/>
                    </a:cubicBezTo>
                    <a:cubicBezTo>
                      <a:pt x="32" y="166"/>
                      <a:pt x="20" y="179"/>
                      <a:pt x="16" y="183"/>
                    </a:cubicBezTo>
                    <a:cubicBezTo>
                      <a:pt x="16" y="183"/>
                      <a:pt x="17" y="183"/>
                      <a:pt x="17" y="184"/>
                    </a:cubicBezTo>
                    <a:cubicBezTo>
                      <a:pt x="17" y="185"/>
                      <a:pt x="20" y="194"/>
                      <a:pt x="20" y="196"/>
                    </a:cubicBezTo>
                    <a:cubicBezTo>
                      <a:pt x="20" y="197"/>
                      <a:pt x="20" y="200"/>
                      <a:pt x="22" y="202"/>
                    </a:cubicBezTo>
                    <a:cubicBezTo>
                      <a:pt x="24" y="204"/>
                      <a:pt x="24" y="206"/>
                      <a:pt x="25" y="207"/>
                    </a:cubicBezTo>
                    <a:cubicBezTo>
                      <a:pt x="25" y="208"/>
                      <a:pt x="26" y="210"/>
                      <a:pt x="26" y="212"/>
                    </a:cubicBezTo>
                    <a:cubicBezTo>
                      <a:pt x="26" y="214"/>
                      <a:pt x="27" y="224"/>
                      <a:pt x="27" y="226"/>
                    </a:cubicBezTo>
                    <a:cubicBezTo>
                      <a:pt x="27" y="228"/>
                      <a:pt x="26" y="231"/>
                      <a:pt x="27" y="232"/>
                    </a:cubicBezTo>
                    <a:cubicBezTo>
                      <a:pt x="27" y="233"/>
                      <a:pt x="27" y="234"/>
                      <a:pt x="27" y="235"/>
                    </a:cubicBezTo>
                    <a:cubicBezTo>
                      <a:pt x="27" y="236"/>
                      <a:pt x="26" y="237"/>
                      <a:pt x="26" y="238"/>
                    </a:cubicBezTo>
                    <a:cubicBezTo>
                      <a:pt x="27" y="238"/>
                      <a:pt x="27" y="239"/>
                      <a:pt x="27" y="239"/>
                    </a:cubicBezTo>
                    <a:cubicBezTo>
                      <a:pt x="28" y="239"/>
                      <a:pt x="28" y="241"/>
                      <a:pt x="28" y="242"/>
                    </a:cubicBezTo>
                    <a:cubicBezTo>
                      <a:pt x="28" y="243"/>
                      <a:pt x="29" y="249"/>
                      <a:pt x="29" y="252"/>
                    </a:cubicBezTo>
                    <a:cubicBezTo>
                      <a:pt x="29" y="252"/>
                      <a:pt x="30" y="252"/>
                      <a:pt x="30" y="252"/>
                    </a:cubicBezTo>
                    <a:cubicBezTo>
                      <a:pt x="40" y="252"/>
                      <a:pt x="40" y="252"/>
                      <a:pt x="40" y="252"/>
                    </a:cubicBezTo>
                    <a:cubicBezTo>
                      <a:pt x="41" y="249"/>
                      <a:pt x="41" y="244"/>
                      <a:pt x="41" y="244"/>
                    </a:cubicBezTo>
                    <a:cubicBezTo>
                      <a:pt x="41" y="243"/>
                      <a:pt x="41" y="242"/>
                      <a:pt x="40" y="242"/>
                    </a:cubicBezTo>
                    <a:cubicBezTo>
                      <a:pt x="40" y="242"/>
                      <a:pt x="40" y="242"/>
                      <a:pt x="40" y="243"/>
                    </a:cubicBezTo>
                    <a:cubicBezTo>
                      <a:pt x="40" y="243"/>
                      <a:pt x="39" y="243"/>
                      <a:pt x="39" y="243"/>
                    </a:cubicBezTo>
                    <a:cubicBezTo>
                      <a:pt x="38" y="242"/>
                      <a:pt x="34" y="239"/>
                      <a:pt x="35" y="238"/>
                    </a:cubicBezTo>
                    <a:cubicBezTo>
                      <a:pt x="37" y="238"/>
                      <a:pt x="38" y="237"/>
                      <a:pt x="38" y="235"/>
                    </a:cubicBezTo>
                    <a:cubicBezTo>
                      <a:pt x="38" y="234"/>
                      <a:pt x="41" y="229"/>
                      <a:pt x="48" y="227"/>
                    </a:cubicBezTo>
                    <a:cubicBezTo>
                      <a:pt x="55" y="224"/>
                      <a:pt x="74" y="219"/>
                      <a:pt x="78" y="211"/>
                    </a:cubicBezTo>
                    <a:cubicBezTo>
                      <a:pt x="78" y="211"/>
                      <a:pt x="79" y="208"/>
                      <a:pt x="79" y="206"/>
                    </a:cubicBezTo>
                    <a:cubicBezTo>
                      <a:pt x="79" y="203"/>
                      <a:pt x="78" y="205"/>
                      <a:pt x="78" y="205"/>
                    </a:cubicBezTo>
                    <a:cubicBezTo>
                      <a:pt x="78" y="206"/>
                      <a:pt x="76" y="206"/>
                      <a:pt x="77" y="204"/>
                    </a:cubicBezTo>
                    <a:cubicBezTo>
                      <a:pt x="78" y="201"/>
                      <a:pt x="78" y="198"/>
                      <a:pt x="79" y="194"/>
                    </a:cubicBezTo>
                    <a:cubicBezTo>
                      <a:pt x="79" y="190"/>
                      <a:pt x="80" y="183"/>
                      <a:pt x="79" y="180"/>
                    </a:cubicBezTo>
                    <a:cubicBezTo>
                      <a:pt x="79" y="177"/>
                      <a:pt x="79" y="178"/>
                      <a:pt x="79" y="178"/>
                    </a:cubicBezTo>
                    <a:cubicBezTo>
                      <a:pt x="78" y="178"/>
                      <a:pt x="78" y="179"/>
                      <a:pt x="78" y="179"/>
                    </a:cubicBezTo>
                    <a:cubicBezTo>
                      <a:pt x="78" y="180"/>
                      <a:pt x="77" y="181"/>
                      <a:pt x="77" y="178"/>
                    </a:cubicBezTo>
                    <a:cubicBezTo>
                      <a:pt x="77" y="176"/>
                      <a:pt x="76" y="170"/>
                      <a:pt x="73" y="166"/>
                    </a:cubicBezTo>
                    <a:cubicBezTo>
                      <a:pt x="71" y="162"/>
                      <a:pt x="72" y="161"/>
                      <a:pt x="73" y="161"/>
                    </a:cubicBezTo>
                    <a:cubicBezTo>
                      <a:pt x="73" y="161"/>
                      <a:pt x="73" y="160"/>
                      <a:pt x="72" y="158"/>
                    </a:cubicBezTo>
                    <a:cubicBezTo>
                      <a:pt x="70" y="157"/>
                      <a:pt x="67" y="153"/>
                      <a:pt x="67" y="152"/>
                    </a:cubicBezTo>
                    <a:cubicBezTo>
                      <a:pt x="67" y="150"/>
                      <a:pt x="68" y="149"/>
                      <a:pt x="67" y="148"/>
                    </a:cubicBezTo>
                    <a:cubicBezTo>
                      <a:pt x="66" y="147"/>
                      <a:pt x="67" y="148"/>
                      <a:pt x="68" y="148"/>
                    </a:cubicBezTo>
                    <a:cubicBezTo>
                      <a:pt x="68" y="148"/>
                      <a:pt x="69" y="147"/>
                      <a:pt x="68" y="145"/>
                    </a:cubicBezTo>
                    <a:cubicBezTo>
                      <a:pt x="68" y="143"/>
                      <a:pt x="69" y="143"/>
                      <a:pt x="68" y="142"/>
                    </a:cubicBezTo>
                    <a:cubicBezTo>
                      <a:pt x="67" y="141"/>
                      <a:pt x="66" y="141"/>
                      <a:pt x="67" y="140"/>
                    </a:cubicBezTo>
                    <a:cubicBezTo>
                      <a:pt x="67" y="140"/>
                      <a:pt x="68" y="141"/>
                      <a:pt x="68" y="141"/>
                    </a:cubicBezTo>
                    <a:cubicBezTo>
                      <a:pt x="69" y="142"/>
                      <a:pt x="70" y="143"/>
                      <a:pt x="72" y="141"/>
                    </a:cubicBezTo>
                    <a:cubicBezTo>
                      <a:pt x="74" y="140"/>
                      <a:pt x="81" y="133"/>
                      <a:pt x="83" y="130"/>
                    </a:cubicBezTo>
                    <a:cubicBezTo>
                      <a:pt x="85" y="128"/>
                      <a:pt x="87" y="127"/>
                      <a:pt x="89" y="127"/>
                    </a:cubicBezTo>
                    <a:cubicBezTo>
                      <a:pt x="90" y="128"/>
                      <a:pt x="90" y="128"/>
                      <a:pt x="91" y="127"/>
                    </a:cubicBezTo>
                    <a:cubicBezTo>
                      <a:pt x="91" y="126"/>
                      <a:pt x="91" y="126"/>
                      <a:pt x="92" y="126"/>
                    </a:cubicBezTo>
                    <a:cubicBezTo>
                      <a:pt x="93" y="126"/>
                      <a:pt x="92" y="125"/>
                      <a:pt x="93" y="124"/>
                    </a:cubicBezTo>
                    <a:cubicBezTo>
                      <a:pt x="94" y="124"/>
                      <a:pt x="98" y="119"/>
                      <a:pt x="100" y="117"/>
                    </a:cubicBezTo>
                    <a:cubicBezTo>
                      <a:pt x="101" y="116"/>
                      <a:pt x="101" y="115"/>
                      <a:pt x="100" y="114"/>
                    </a:cubicBezTo>
                    <a:cubicBezTo>
                      <a:pt x="99" y="114"/>
                      <a:pt x="99" y="113"/>
                      <a:pt x="100" y="113"/>
                    </a:cubicBezTo>
                    <a:cubicBezTo>
                      <a:pt x="101" y="113"/>
                      <a:pt x="102" y="112"/>
                      <a:pt x="103" y="112"/>
                    </a:cubicBezTo>
                    <a:cubicBezTo>
                      <a:pt x="104" y="111"/>
                      <a:pt x="109" y="107"/>
                      <a:pt x="112" y="106"/>
                    </a:cubicBezTo>
                    <a:cubicBezTo>
                      <a:pt x="115" y="105"/>
                      <a:pt x="116" y="104"/>
                      <a:pt x="117" y="103"/>
                    </a:cubicBezTo>
                    <a:cubicBezTo>
                      <a:pt x="118" y="102"/>
                      <a:pt x="119" y="101"/>
                      <a:pt x="122" y="100"/>
                    </a:cubicBezTo>
                    <a:cubicBezTo>
                      <a:pt x="125" y="100"/>
                      <a:pt x="140" y="96"/>
                      <a:pt x="146" y="86"/>
                    </a:cubicBezTo>
                    <a:cubicBezTo>
                      <a:pt x="146" y="86"/>
                      <a:pt x="150" y="80"/>
                      <a:pt x="154" y="75"/>
                    </a:cubicBezTo>
                    <a:cubicBezTo>
                      <a:pt x="158" y="69"/>
                      <a:pt x="157" y="69"/>
                      <a:pt x="157" y="68"/>
                    </a:cubicBezTo>
                    <a:cubicBezTo>
                      <a:pt x="157" y="68"/>
                      <a:pt x="157" y="67"/>
                      <a:pt x="157" y="66"/>
                    </a:cubicBezTo>
                    <a:cubicBezTo>
                      <a:pt x="158" y="66"/>
                      <a:pt x="159" y="62"/>
                      <a:pt x="158" y="60"/>
                    </a:cubicBezTo>
                    <a:cubicBezTo>
                      <a:pt x="157" y="58"/>
                      <a:pt x="157" y="60"/>
                      <a:pt x="157" y="59"/>
                    </a:cubicBezTo>
                    <a:cubicBezTo>
                      <a:pt x="157" y="57"/>
                      <a:pt x="156" y="57"/>
                      <a:pt x="156" y="56"/>
                    </a:cubicBezTo>
                    <a:cubicBezTo>
                      <a:pt x="155" y="56"/>
                      <a:pt x="155" y="56"/>
                      <a:pt x="155" y="54"/>
                    </a:cubicBezTo>
                    <a:cubicBezTo>
                      <a:pt x="155" y="53"/>
                      <a:pt x="155" y="51"/>
                      <a:pt x="154" y="48"/>
                    </a:cubicBezTo>
                    <a:cubicBezTo>
                      <a:pt x="153" y="44"/>
                      <a:pt x="154" y="41"/>
                      <a:pt x="154" y="40"/>
                    </a:cubicBezTo>
                    <a:cubicBezTo>
                      <a:pt x="154" y="39"/>
                      <a:pt x="155" y="38"/>
                      <a:pt x="154" y="37"/>
                    </a:cubicBezTo>
                    <a:cubicBezTo>
                      <a:pt x="152" y="37"/>
                      <a:pt x="153" y="37"/>
                      <a:pt x="154" y="36"/>
                    </a:cubicBezTo>
                    <a:cubicBezTo>
                      <a:pt x="155" y="35"/>
                      <a:pt x="155" y="34"/>
                      <a:pt x="155" y="31"/>
                    </a:cubicBezTo>
                    <a:cubicBezTo>
                      <a:pt x="154" y="29"/>
                      <a:pt x="154" y="17"/>
                      <a:pt x="153" y="15"/>
                    </a:cubicBezTo>
                    <a:cubicBezTo>
                      <a:pt x="152" y="13"/>
                      <a:pt x="152" y="13"/>
                      <a:pt x="152" y="12"/>
                    </a:cubicBezTo>
                    <a:cubicBezTo>
                      <a:pt x="153" y="10"/>
                      <a:pt x="153" y="9"/>
                      <a:pt x="153" y="8"/>
                    </a:cubicBezTo>
                    <a:cubicBezTo>
                      <a:pt x="153" y="7"/>
                      <a:pt x="154" y="7"/>
                      <a:pt x="154" y="6"/>
                    </a:cubicBezTo>
                    <a:cubicBezTo>
                      <a:pt x="154" y="6"/>
                      <a:pt x="155" y="5"/>
                      <a:pt x="154" y="5"/>
                    </a:cubicBezTo>
                    <a:cubicBezTo>
                      <a:pt x="154" y="5"/>
                      <a:pt x="154" y="4"/>
                      <a:pt x="154" y="4"/>
                    </a:cubicBezTo>
                    <a:cubicBezTo>
                      <a:pt x="155" y="4"/>
                      <a:pt x="155" y="3"/>
                      <a:pt x="154" y="1"/>
                    </a:cubicBezTo>
                    <a:cubicBezTo>
                      <a:pt x="153" y="1"/>
                      <a:pt x="153" y="0"/>
                      <a:pt x="153" y="0"/>
                    </a:cubicBezTo>
                    <a:cubicBezTo>
                      <a:pt x="148" y="3"/>
                      <a:pt x="140" y="8"/>
                      <a:pt x="138" y="9"/>
                    </a:cubicBezTo>
                    <a:cubicBezTo>
                      <a:pt x="135" y="11"/>
                      <a:pt x="134" y="10"/>
                      <a:pt x="131" y="10"/>
                    </a:cubicBezTo>
                    <a:cubicBezTo>
                      <a:pt x="129" y="10"/>
                      <a:pt x="125" y="13"/>
                      <a:pt x="124" y="14"/>
                    </a:cubicBezTo>
                    <a:cubicBezTo>
                      <a:pt x="123" y="14"/>
                      <a:pt x="122" y="14"/>
                      <a:pt x="122" y="14"/>
                    </a:cubicBezTo>
                    <a:cubicBezTo>
                      <a:pt x="122" y="14"/>
                      <a:pt x="118" y="12"/>
                      <a:pt x="118" y="12"/>
                    </a:cubicBezTo>
                    <a:cubicBezTo>
                      <a:pt x="117" y="12"/>
                      <a:pt x="116" y="13"/>
                      <a:pt x="114" y="13"/>
                    </a:cubicBezTo>
                    <a:cubicBezTo>
                      <a:pt x="113" y="14"/>
                      <a:pt x="113" y="15"/>
                      <a:pt x="113" y="16"/>
                    </a:cubicBezTo>
                    <a:cubicBezTo>
                      <a:pt x="113" y="17"/>
                      <a:pt x="110" y="18"/>
                      <a:pt x="110" y="18"/>
                    </a:cubicBezTo>
                    <a:cubicBezTo>
                      <a:pt x="109" y="18"/>
                      <a:pt x="108" y="18"/>
                      <a:pt x="108" y="19"/>
                    </a:cubicBezTo>
                    <a:cubicBezTo>
                      <a:pt x="108" y="19"/>
                      <a:pt x="108" y="19"/>
                      <a:pt x="107" y="19"/>
                    </a:cubicBezTo>
                    <a:cubicBezTo>
                      <a:pt x="106" y="18"/>
                      <a:pt x="104" y="17"/>
                      <a:pt x="102" y="17"/>
                    </a:cubicBezTo>
                    <a:cubicBezTo>
                      <a:pt x="101" y="16"/>
                      <a:pt x="100" y="17"/>
                      <a:pt x="96" y="19"/>
                    </a:cubicBezTo>
                    <a:cubicBezTo>
                      <a:pt x="93" y="20"/>
                      <a:pt x="87" y="16"/>
                      <a:pt x="86" y="15"/>
                    </a:cubicBezTo>
                    <a:cubicBezTo>
                      <a:pt x="85" y="15"/>
                      <a:pt x="85" y="15"/>
                      <a:pt x="84" y="14"/>
                    </a:cubicBezTo>
                    <a:cubicBezTo>
                      <a:pt x="84" y="14"/>
                      <a:pt x="82" y="16"/>
                      <a:pt x="81" y="17"/>
                    </a:cubicBezTo>
                    <a:cubicBezTo>
                      <a:pt x="81" y="18"/>
                      <a:pt x="76" y="18"/>
                      <a:pt x="74" y="17"/>
                    </a:cubicBezTo>
                    <a:cubicBezTo>
                      <a:pt x="74" y="17"/>
                      <a:pt x="72" y="17"/>
                      <a:pt x="71" y="17"/>
                    </a:cubicBezTo>
                    <a:cubicBezTo>
                      <a:pt x="71" y="17"/>
                      <a:pt x="71" y="17"/>
                      <a:pt x="71" y="17"/>
                    </a:cubicBezTo>
                    <a:cubicBezTo>
                      <a:pt x="71" y="18"/>
                      <a:pt x="70" y="25"/>
                      <a:pt x="68" y="26"/>
                    </a:cubicBezTo>
                    <a:cubicBezTo>
                      <a:pt x="67" y="27"/>
                      <a:pt x="68" y="29"/>
                      <a:pt x="68" y="30"/>
                    </a:cubicBezTo>
                    <a:cubicBezTo>
                      <a:pt x="68" y="32"/>
                      <a:pt x="69" y="40"/>
                      <a:pt x="69" y="42"/>
                    </a:cubicBezTo>
                    <a:cubicBezTo>
                      <a:pt x="69" y="43"/>
                      <a:pt x="69" y="45"/>
                      <a:pt x="70" y="46"/>
                    </a:cubicBezTo>
                    <a:cubicBezTo>
                      <a:pt x="74" y="51"/>
                      <a:pt x="83" y="61"/>
                      <a:pt x="84" y="63"/>
                    </a:cubicBezTo>
                    <a:cubicBezTo>
                      <a:pt x="85" y="64"/>
                      <a:pt x="84" y="68"/>
                      <a:pt x="84" y="68"/>
                    </a:cubicBezTo>
                    <a:cubicBezTo>
                      <a:pt x="84" y="69"/>
                      <a:pt x="84" y="69"/>
                      <a:pt x="84" y="71"/>
                    </a:cubicBezTo>
                    <a:cubicBezTo>
                      <a:pt x="83" y="72"/>
                      <a:pt x="84" y="74"/>
                      <a:pt x="84" y="75"/>
                    </a:cubicBezTo>
                    <a:cubicBezTo>
                      <a:pt x="85" y="76"/>
                      <a:pt x="84" y="82"/>
                      <a:pt x="83" y="83"/>
                    </a:cubicBezTo>
                    <a:cubicBezTo>
                      <a:pt x="83" y="84"/>
                      <a:pt x="82" y="85"/>
                      <a:pt x="82" y="85"/>
                    </a:cubicBezTo>
                    <a:cubicBezTo>
                      <a:pt x="82" y="85"/>
                      <a:pt x="78" y="86"/>
                      <a:pt x="77" y="87"/>
                    </a:cubicBezTo>
                    <a:cubicBezTo>
                      <a:pt x="75" y="87"/>
                      <a:pt x="75" y="89"/>
                      <a:pt x="75" y="89"/>
                    </a:cubicBezTo>
                    <a:cubicBezTo>
                      <a:pt x="75" y="90"/>
                      <a:pt x="74" y="91"/>
                      <a:pt x="74" y="91"/>
                    </a:cubicBezTo>
                    <a:cubicBezTo>
                      <a:pt x="73" y="92"/>
                      <a:pt x="74" y="93"/>
                      <a:pt x="74" y="93"/>
                    </a:cubicBezTo>
                    <a:cubicBezTo>
                      <a:pt x="74" y="93"/>
                      <a:pt x="75" y="99"/>
                      <a:pt x="75" y="100"/>
                    </a:cubicBezTo>
                    <a:cubicBezTo>
                      <a:pt x="76" y="101"/>
                      <a:pt x="75" y="101"/>
                      <a:pt x="75" y="101"/>
                    </a:cubicBezTo>
                    <a:cubicBezTo>
                      <a:pt x="72" y="100"/>
                      <a:pt x="72" y="98"/>
                      <a:pt x="72" y="97"/>
                    </a:cubicBezTo>
                    <a:cubicBezTo>
                      <a:pt x="72" y="96"/>
                      <a:pt x="72" y="96"/>
                      <a:pt x="71" y="95"/>
                    </a:cubicBezTo>
                    <a:cubicBezTo>
                      <a:pt x="69" y="94"/>
                      <a:pt x="63" y="87"/>
                      <a:pt x="61" y="85"/>
                    </a:cubicBezTo>
                    <a:cubicBezTo>
                      <a:pt x="59" y="82"/>
                      <a:pt x="61" y="80"/>
                      <a:pt x="61" y="80"/>
                    </a:cubicBezTo>
                    <a:cubicBezTo>
                      <a:pt x="61" y="80"/>
                      <a:pt x="62" y="79"/>
                      <a:pt x="62" y="79"/>
                    </a:cubicBezTo>
                    <a:cubicBezTo>
                      <a:pt x="62" y="79"/>
                      <a:pt x="64" y="73"/>
                      <a:pt x="65" y="72"/>
                    </a:cubicBezTo>
                    <a:cubicBezTo>
                      <a:pt x="65" y="72"/>
                      <a:pt x="65" y="70"/>
                      <a:pt x="65" y="69"/>
                    </a:cubicBezTo>
                    <a:cubicBezTo>
                      <a:pt x="65" y="69"/>
                      <a:pt x="65" y="68"/>
                      <a:pt x="65" y="68"/>
                    </a:cubicBezTo>
                    <a:cubicBezTo>
                      <a:pt x="65" y="68"/>
                      <a:pt x="63" y="61"/>
                      <a:pt x="63" y="60"/>
                    </a:cubicBezTo>
                    <a:cubicBezTo>
                      <a:pt x="63" y="59"/>
                      <a:pt x="62" y="59"/>
                      <a:pt x="62" y="59"/>
                    </a:cubicBezTo>
                    <a:cubicBezTo>
                      <a:pt x="62" y="59"/>
                      <a:pt x="52" y="61"/>
                      <a:pt x="52" y="61"/>
                    </a:cubicBezTo>
                    <a:cubicBezTo>
                      <a:pt x="51" y="61"/>
                      <a:pt x="51" y="61"/>
                      <a:pt x="51" y="61"/>
                    </a:cubicBezTo>
                    <a:cubicBezTo>
                      <a:pt x="51" y="61"/>
                      <a:pt x="46" y="55"/>
                      <a:pt x="45" y="54"/>
                    </a:cubicBezTo>
                    <a:cubicBezTo>
                      <a:pt x="45" y="54"/>
                      <a:pt x="45" y="54"/>
                      <a:pt x="45" y="54"/>
                    </a:cubicBezTo>
                    <a:cubicBezTo>
                      <a:pt x="1" y="68"/>
                      <a:pt x="1" y="68"/>
                      <a:pt x="1" y="68"/>
                    </a:cubicBezTo>
                    <a:cubicBezTo>
                      <a:pt x="1" y="68"/>
                      <a:pt x="0" y="68"/>
                      <a:pt x="0" y="68"/>
                    </a:cubicBezTo>
                    <a:cubicBezTo>
                      <a:pt x="0" y="69"/>
                      <a:pt x="3" y="76"/>
                      <a:pt x="3" y="7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36" name="Freeform 947">
                <a:extLst>
                  <a:ext uri="{FF2B5EF4-FFF2-40B4-BE49-F238E27FC236}">
                    <a16:creationId xmlns:a16="http://schemas.microsoft.com/office/drawing/2014/main" id="{BBBC6F02-8E8E-4592-BA69-D6F4A81C2B73}"/>
                  </a:ext>
                </a:extLst>
              </p:cNvPr>
              <p:cNvSpPr>
                <a:spLocks/>
              </p:cNvSpPr>
              <p:nvPr/>
            </p:nvSpPr>
            <p:spPr bwMode="auto">
              <a:xfrm>
                <a:off x="4022" y="3002"/>
                <a:ext cx="161" cy="145"/>
              </a:xfrm>
              <a:custGeom>
                <a:avLst/>
                <a:gdLst>
                  <a:gd name="T0" fmla="*/ 11 w 116"/>
                  <a:gd name="T1" fmla="*/ 54 h 106"/>
                  <a:gd name="T2" fmla="*/ 24 w 116"/>
                  <a:gd name="T3" fmla="*/ 67 h 106"/>
                  <a:gd name="T4" fmla="*/ 30 w 116"/>
                  <a:gd name="T5" fmla="*/ 76 h 106"/>
                  <a:gd name="T6" fmla="*/ 36 w 116"/>
                  <a:gd name="T7" fmla="*/ 80 h 106"/>
                  <a:gd name="T8" fmla="*/ 40 w 116"/>
                  <a:gd name="T9" fmla="*/ 92 h 106"/>
                  <a:gd name="T10" fmla="*/ 52 w 116"/>
                  <a:gd name="T11" fmla="*/ 95 h 106"/>
                  <a:gd name="T12" fmla="*/ 57 w 116"/>
                  <a:gd name="T13" fmla="*/ 99 h 106"/>
                  <a:gd name="T14" fmla="*/ 64 w 116"/>
                  <a:gd name="T15" fmla="*/ 102 h 106"/>
                  <a:gd name="T16" fmla="*/ 84 w 116"/>
                  <a:gd name="T17" fmla="*/ 104 h 106"/>
                  <a:gd name="T18" fmla="*/ 89 w 116"/>
                  <a:gd name="T19" fmla="*/ 106 h 106"/>
                  <a:gd name="T20" fmla="*/ 107 w 116"/>
                  <a:gd name="T21" fmla="*/ 89 h 106"/>
                  <a:gd name="T22" fmla="*/ 106 w 116"/>
                  <a:gd name="T23" fmla="*/ 83 h 106"/>
                  <a:gd name="T24" fmla="*/ 111 w 116"/>
                  <a:gd name="T25" fmla="*/ 75 h 106"/>
                  <a:gd name="T26" fmla="*/ 115 w 116"/>
                  <a:gd name="T27" fmla="*/ 63 h 106"/>
                  <a:gd name="T28" fmla="*/ 112 w 116"/>
                  <a:gd name="T29" fmla="*/ 63 h 106"/>
                  <a:gd name="T30" fmla="*/ 111 w 116"/>
                  <a:gd name="T31" fmla="*/ 51 h 106"/>
                  <a:gd name="T32" fmla="*/ 112 w 116"/>
                  <a:gd name="T33" fmla="*/ 49 h 106"/>
                  <a:gd name="T34" fmla="*/ 115 w 116"/>
                  <a:gd name="T35" fmla="*/ 43 h 106"/>
                  <a:gd name="T36" fmla="*/ 115 w 116"/>
                  <a:gd name="T37" fmla="*/ 29 h 106"/>
                  <a:gd name="T38" fmla="*/ 115 w 116"/>
                  <a:gd name="T39" fmla="*/ 25 h 106"/>
                  <a:gd name="T40" fmla="*/ 113 w 116"/>
                  <a:gd name="T41" fmla="*/ 17 h 106"/>
                  <a:gd name="T42" fmla="*/ 110 w 116"/>
                  <a:gd name="T43" fmla="*/ 17 h 106"/>
                  <a:gd name="T44" fmla="*/ 85 w 116"/>
                  <a:gd name="T45" fmla="*/ 7 h 106"/>
                  <a:gd name="T46" fmla="*/ 77 w 116"/>
                  <a:gd name="T47" fmla="*/ 6 h 106"/>
                  <a:gd name="T48" fmla="*/ 76 w 116"/>
                  <a:gd name="T49" fmla="*/ 1 h 106"/>
                  <a:gd name="T50" fmla="*/ 70 w 116"/>
                  <a:gd name="T51" fmla="*/ 1 h 106"/>
                  <a:gd name="T52" fmla="*/ 56 w 116"/>
                  <a:gd name="T53" fmla="*/ 5 h 106"/>
                  <a:gd name="T54" fmla="*/ 53 w 116"/>
                  <a:gd name="T55" fmla="*/ 11 h 106"/>
                  <a:gd name="T56" fmla="*/ 44 w 116"/>
                  <a:gd name="T57" fmla="*/ 18 h 106"/>
                  <a:gd name="T58" fmla="*/ 35 w 116"/>
                  <a:gd name="T59" fmla="*/ 26 h 106"/>
                  <a:gd name="T60" fmla="*/ 27 w 116"/>
                  <a:gd name="T61" fmla="*/ 36 h 106"/>
                  <a:gd name="T62" fmla="*/ 2 w 116"/>
                  <a:gd name="T63" fmla="*/ 34 h 106"/>
                  <a:gd name="T64" fmla="*/ 0 w 116"/>
                  <a:gd name="T65" fmla="*/ 3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6" h="106">
                    <a:moveTo>
                      <a:pt x="10" y="52"/>
                    </a:moveTo>
                    <a:cubicBezTo>
                      <a:pt x="10" y="52"/>
                      <a:pt x="11" y="53"/>
                      <a:pt x="11" y="54"/>
                    </a:cubicBezTo>
                    <a:cubicBezTo>
                      <a:pt x="11" y="54"/>
                      <a:pt x="13" y="61"/>
                      <a:pt x="16" y="63"/>
                    </a:cubicBezTo>
                    <a:cubicBezTo>
                      <a:pt x="19" y="65"/>
                      <a:pt x="22" y="67"/>
                      <a:pt x="24" y="67"/>
                    </a:cubicBezTo>
                    <a:cubicBezTo>
                      <a:pt x="26" y="68"/>
                      <a:pt x="30" y="69"/>
                      <a:pt x="30" y="72"/>
                    </a:cubicBezTo>
                    <a:cubicBezTo>
                      <a:pt x="30" y="75"/>
                      <a:pt x="30" y="76"/>
                      <a:pt x="30" y="76"/>
                    </a:cubicBezTo>
                    <a:cubicBezTo>
                      <a:pt x="31" y="76"/>
                      <a:pt x="36" y="75"/>
                      <a:pt x="36" y="76"/>
                    </a:cubicBezTo>
                    <a:cubicBezTo>
                      <a:pt x="36" y="78"/>
                      <a:pt x="36" y="79"/>
                      <a:pt x="36" y="80"/>
                    </a:cubicBezTo>
                    <a:cubicBezTo>
                      <a:pt x="36" y="81"/>
                      <a:pt x="36" y="83"/>
                      <a:pt x="36" y="83"/>
                    </a:cubicBezTo>
                    <a:cubicBezTo>
                      <a:pt x="36" y="84"/>
                      <a:pt x="40" y="92"/>
                      <a:pt x="40" y="92"/>
                    </a:cubicBezTo>
                    <a:cubicBezTo>
                      <a:pt x="40" y="92"/>
                      <a:pt x="40" y="92"/>
                      <a:pt x="42" y="93"/>
                    </a:cubicBezTo>
                    <a:cubicBezTo>
                      <a:pt x="43" y="93"/>
                      <a:pt x="51" y="95"/>
                      <a:pt x="52" y="95"/>
                    </a:cubicBezTo>
                    <a:cubicBezTo>
                      <a:pt x="54" y="95"/>
                      <a:pt x="57" y="96"/>
                      <a:pt x="56" y="96"/>
                    </a:cubicBezTo>
                    <a:cubicBezTo>
                      <a:pt x="56" y="97"/>
                      <a:pt x="56" y="98"/>
                      <a:pt x="57" y="99"/>
                    </a:cubicBezTo>
                    <a:cubicBezTo>
                      <a:pt x="57" y="99"/>
                      <a:pt x="59" y="101"/>
                      <a:pt x="61" y="102"/>
                    </a:cubicBezTo>
                    <a:cubicBezTo>
                      <a:pt x="62" y="102"/>
                      <a:pt x="63" y="102"/>
                      <a:pt x="64" y="102"/>
                    </a:cubicBezTo>
                    <a:cubicBezTo>
                      <a:pt x="65" y="102"/>
                      <a:pt x="73" y="103"/>
                      <a:pt x="76" y="103"/>
                    </a:cubicBezTo>
                    <a:cubicBezTo>
                      <a:pt x="78" y="103"/>
                      <a:pt x="84" y="104"/>
                      <a:pt x="84" y="104"/>
                    </a:cubicBezTo>
                    <a:cubicBezTo>
                      <a:pt x="85" y="104"/>
                      <a:pt x="89" y="105"/>
                      <a:pt x="89" y="105"/>
                    </a:cubicBezTo>
                    <a:cubicBezTo>
                      <a:pt x="89" y="105"/>
                      <a:pt x="89" y="105"/>
                      <a:pt x="89" y="106"/>
                    </a:cubicBezTo>
                    <a:cubicBezTo>
                      <a:pt x="93" y="102"/>
                      <a:pt x="105" y="89"/>
                      <a:pt x="105" y="89"/>
                    </a:cubicBezTo>
                    <a:cubicBezTo>
                      <a:pt x="106" y="88"/>
                      <a:pt x="106" y="88"/>
                      <a:pt x="107" y="89"/>
                    </a:cubicBezTo>
                    <a:cubicBezTo>
                      <a:pt x="108" y="89"/>
                      <a:pt x="106" y="87"/>
                      <a:pt x="106" y="86"/>
                    </a:cubicBezTo>
                    <a:cubicBezTo>
                      <a:pt x="105" y="86"/>
                      <a:pt x="105" y="84"/>
                      <a:pt x="106" y="83"/>
                    </a:cubicBezTo>
                    <a:cubicBezTo>
                      <a:pt x="106" y="82"/>
                      <a:pt x="107" y="79"/>
                      <a:pt x="108" y="78"/>
                    </a:cubicBezTo>
                    <a:cubicBezTo>
                      <a:pt x="108" y="77"/>
                      <a:pt x="109" y="77"/>
                      <a:pt x="111" y="75"/>
                    </a:cubicBezTo>
                    <a:cubicBezTo>
                      <a:pt x="112" y="74"/>
                      <a:pt x="115" y="68"/>
                      <a:pt x="115" y="67"/>
                    </a:cubicBezTo>
                    <a:cubicBezTo>
                      <a:pt x="116" y="66"/>
                      <a:pt x="115" y="64"/>
                      <a:pt x="115" y="63"/>
                    </a:cubicBezTo>
                    <a:cubicBezTo>
                      <a:pt x="114" y="62"/>
                      <a:pt x="114" y="63"/>
                      <a:pt x="114" y="63"/>
                    </a:cubicBezTo>
                    <a:cubicBezTo>
                      <a:pt x="113" y="63"/>
                      <a:pt x="113" y="63"/>
                      <a:pt x="112" y="63"/>
                    </a:cubicBezTo>
                    <a:cubicBezTo>
                      <a:pt x="112" y="63"/>
                      <a:pt x="113" y="57"/>
                      <a:pt x="113" y="56"/>
                    </a:cubicBezTo>
                    <a:cubicBezTo>
                      <a:pt x="113" y="54"/>
                      <a:pt x="111" y="52"/>
                      <a:pt x="111" y="51"/>
                    </a:cubicBezTo>
                    <a:cubicBezTo>
                      <a:pt x="110" y="50"/>
                      <a:pt x="111" y="50"/>
                      <a:pt x="111" y="50"/>
                    </a:cubicBezTo>
                    <a:cubicBezTo>
                      <a:pt x="111" y="50"/>
                      <a:pt x="111" y="49"/>
                      <a:pt x="112" y="49"/>
                    </a:cubicBezTo>
                    <a:cubicBezTo>
                      <a:pt x="112" y="49"/>
                      <a:pt x="112" y="48"/>
                      <a:pt x="113" y="46"/>
                    </a:cubicBezTo>
                    <a:cubicBezTo>
                      <a:pt x="113" y="45"/>
                      <a:pt x="115" y="44"/>
                      <a:pt x="115" y="43"/>
                    </a:cubicBezTo>
                    <a:cubicBezTo>
                      <a:pt x="116" y="42"/>
                      <a:pt x="115" y="40"/>
                      <a:pt x="115" y="39"/>
                    </a:cubicBezTo>
                    <a:cubicBezTo>
                      <a:pt x="115" y="38"/>
                      <a:pt x="115" y="29"/>
                      <a:pt x="115" y="29"/>
                    </a:cubicBezTo>
                    <a:cubicBezTo>
                      <a:pt x="115" y="28"/>
                      <a:pt x="115" y="27"/>
                      <a:pt x="115" y="27"/>
                    </a:cubicBezTo>
                    <a:cubicBezTo>
                      <a:pt x="115" y="26"/>
                      <a:pt x="115" y="25"/>
                      <a:pt x="115" y="25"/>
                    </a:cubicBezTo>
                    <a:cubicBezTo>
                      <a:pt x="115" y="25"/>
                      <a:pt x="114" y="20"/>
                      <a:pt x="114" y="18"/>
                    </a:cubicBezTo>
                    <a:cubicBezTo>
                      <a:pt x="114" y="17"/>
                      <a:pt x="113" y="17"/>
                      <a:pt x="113" y="17"/>
                    </a:cubicBezTo>
                    <a:cubicBezTo>
                      <a:pt x="113" y="17"/>
                      <a:pt x="112" y="17"/>
                      <a:pt x="112" y="18"/>
                    </a:cubicBezTo>
                    <a:cubicBezTo>
                      <a:pt x="111" y="18"/>
                      <a:pt x="110" y="17"/>
                      <a:pt x="110" y="17"/>
                    </a:cubicBezTo>
                    <a:cubicBezTo>
                      <a:pt x="110" y="17"/>
                      <a:pt x="88" y="8"/>
                      <a:pt x="87" y="8"/>
                    </a:cubicBezTo>
                    <a:cubicBezTo>
                      <a:pt x="86" y="7"/>
                      <a:pt x="86" y="7"/>
                      <a:pt x="85" y="7"/>
                    </a:cubicBezTo>
                    <a:cubicBezTo>
                      <a:pt x="85" y="7"/>
                      <a:pt x="84" y="7"/>
                      <a:pt x="82" y="7"/>
                    </a:cubicBezTo>
                    <a:cubicBezTo>
                      <a:pt x="80" y="7"/>
                      <a:pt x="78" y="6"/>
                      <a:pt x="77" y="6"/>
                    </a:cubicBezTo>
                    <a:cubicBezTo>
                      <a:pt x="76" y="5"/>
                      <a:pt x="76" y="2"/>
                      <a:pt x="76" y="1"/>
                    </a:cubicBezTo>
                    <a:cubicBezTo>
                      <a:pt x="76" y="1"/>
                      <a:pt x="76" y="1"/>
                      <a:pt x="76" y="1"/>
                    </a:cubicBezTo>
                    <a:cubicBezTo>
                      <a:pt x="76" y="1"/>
                      <a:pt x="75" y="1"/>
                      <a:pt x="75" y="1"/>
                    </a:cubicBezTo>
                    <a:cubicBezTo>
                      <a:pt x="74" y="1"/>
                      <a:pt x="72" y="1"/>
                      <a:pt x="70" y="1"/>
                    </a:cubicBezTo>
                    <a:cubicBezTo>
                      <a:pt x="67" y="0"/>
                      <a:pt x="61" y="2"/>
                      <a:pt x="61" y="3"/>
                    </a:cubicBezTo>
                    <a:cubicBezTo>
                      <a:pt x="60" y="3"/>
                      <a:pt x="56" y="5"/>
                      <a:pt x="56" y="5"/>
                    </a:cubicBezTo>
                    <a:cubicBezTo>
                      <a:pt x="55" y="6"/>
                      <a:pt x="55" y="6"/>
                      <a:pt x="54" y="6"/>
                    </a:cubicBezTo>
                    <a:cubicBezTo>
                      <a:pt x="54" y="7"/>
                      <a:pt x="53" y="9"/>
                      <a:pt x="53" y="11"/>
                    </a:cubicBezTo>
                    <a:cubicBezTo>
                      <a:pt x="53" y="14"/>
                      <a:pt x="53" y="13"/>
                      <a:pt x="52" y="15"/>
                    </a:cubicBezTo>
                    <a:cubicBezTo>
                      <a:pt x="51" y="16"/>
                      <a:pt x="46" y="18"/>
                      <a:pt x="44" y="18"/>
                    </a:cubicBezTo>
                    <a:cubicBezTo>
                      <a:pt x="42" y="19"/>
                      <a:pt x="41" y="20"/>
                      <a:pt x="39" y="21"/>
                    </a:cubicBezTo>
                    <a:cubicBezTo>
                      <a:pt x="38" y="22"/>
                      <a:pt x="35" y="24"/>
                      <a:pt x="35" y="26"/>
                    </a:cubicBezTo>
                    <a:cubicBezTo>
                      <a:pt x="34" y="27"/>
                      <a:pt x="32" y="29"/>
                      <a:pt x="31" y="30"/>
                    </a:cubicBezTo>
                    <a:cubicBezTo>
                      <a:pt x="30" y="31"/>
                      <a:pt x="28" y="34"/>
                      <a:pt x="27" y="36"/>
                    </a:cubicBezTo>
                    <a:cubicBezTo>
                      <a:pt x="25" y="38"/>
                      <a:pt x="20" y="38"/>
                      <a:pt x="18" y="38"/>
                    </a:cubicBezTo>
                    <a:cubicBezTo>
                      <a:pt x="17" y="38"/>
                      <a:pt x="5" y="35"/>
                      <a:pt x="2" y="34"/>
                    </a:cubicBezTo>
                    <a:cubicBezTo>
                      <a:pt x="1" y="34"/>
                      <a:pt x="1" y="34"/>
                      <a:pt x="0" y="34"/>
                    </a:cubicBezTo>
                    <a:cubicBezTo>
                      <a:pt x="0" y="34"/>
                      <a:pt x="0" y="34"/>
                      <a:pt x="0" y="35"/>
                    </a:cubicBezTo>
                    <a:cubicBezTo>
                      <a:pt x="1" y="36"/>
                      <a:pt x="10" y="52"/>
                      <a:pt x="10" y="5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37" name="Freeform 948">
                <a:extLst>
                  <a:ext uri="{FF2B5EF4-FFF2-40B4-BE49-F238E27FC236}">
                    <a16:creationId xmlns:a16="http://schemas.microsoft.com/office/drawing/2014/main" id="{0BB7844D-0661-4C4E-AC44-C13EBEA69EA7}"/>
                  </a:ext>
                </a:extLst>
              </p:cNvPr>
              <p:cNvSpPr>
                <a:spLocks/>
              </p:cNvSpPr>
              <p:nvPr/>
            </p:nvSpPr>
            <p:spPr bwMode="auto">
              <a:xfrm>
                <a:off x="4173" y="2874"/>
                <a:ext cx="68" cy="161"/>
              </a:xfrm>
              <a:custGeom>
                <a:avLst/>
                <a:gdLst>
                  <a:gd name="T0" fmla="*/ 9 w 49"/>
                  <a:gd name="T1" fmla="*/ 70 h 117"/>
                  <a:gd name="T2" fmla="*/ 16 w 49"/>
                  <a:gd name="T3" fmla="*/ 77 h 117"/>
                  <a:gd name="T4" fmla="*/ 27 w 49"/>
                  <a:gd name="T5" fmla="*/ 76 h 117"/>
                  <a:gd name="T6" fmla="*/ 29 w 49"/>
                  <a:gd name="T7" fmla="*/ 85 h 117"/>
                  <a:gd name="T8" fmla="*/ 26 w 49"/>
                  <a:gd name="T9" fmla="*/ 95 h 117"/>
                  <a:gd name="T10" fmla="*/ 25 w 49"/>
                  <a:gd name="T11" fmla="*/ 101 h 117"/>
                  <a:gd name="T12" fmla="*/ 36 w 49"/>
                  <a:gd name="T13" fmla="*/ 113 h 117"/>
                  <a:gd name="T14" fmla="*/ 39 w 49"/>
                  <a:gd name="T15" fmla="*/ 116 h 117"/>
                  <a:gd name="T16" fmla="*/ 38 w 49"/>
                  <a:gd name="T17" fmla="*/ 107 h 117"/>
                  <a:gd name="T18" fmla="*/ 41 w 49"/>
                  <a:gd name="T19" fmla="*/ 103 h 117"/>
                  <a:gd name="T20" fmla="*/ 47 w 49"/>
                  <a:gd name="T21" fmla="*/ 99 h 117"/>
                  <a:gd name="T22" fmla="*/ 48 w 49"/>
                  <a:gd name="T23" fmla="*/ 87 h 117"/>
                  <a:gd name="T24" fmla="*/ 48 w 49"/>
                  <a:gd name="T25" fmla="*/ 79 h 117"/>
                  <a:gd name="T26" fmla="*/ 35 w 49"/>
                  <a:gd name="T27" fmla="*/ 65 h 117"/>
                  <a:gd name="T28" fmla="*/ 38 w 49"/>
                  <a:gd name="T29" fmla="*/ 73 h 117"/>
                  <a:gd name="T30" fmla="*/ 31 w 49"/>
                  <a:gd name="T31" fmla="*/ 72 h 117"/>
                  <a:gd name="T32" fmla="*/ 29 w 49"/>
                  <a:gd name="T33" fmla="*/ 63 h 117"/>
                  <a:gd name="T34" fmla="*/ 24 w 49"/>
                  <a:gd name="T35" fmla="*/ 48 h 117"/>
                  <a:gd name="T36" fmla="*/ 25 w 49"/>
                  <a:gd name="T37" fmla="*/ 28 h 117"/>
                  <a:gd name="T38" fmla="*/ 24 w 49"/>
                  <a:gd name="T39" fmla="*/ 13 h 117"/>
                  <a:gd name="T40" fmla="*/ 20 w 49"/>
                  <a:gd name="T41" fmla="*/ 5 h 117"/>
                  <a:gd name="T42" fmla="*/ 5 w 49"/>
                  <a:gd name="T43" fmla="*/ 0 h 117"/>
                  <a:gd name="T44" fmla="*/ 11 w 49"/>
                  <a:gd name="T45" fmla="*/ 7 h 117"/>
                  <a:gd name="T46" fmla="*/ 16 w 49"/>
                  <a:gd name="T47" fmla="*/ 17 h 117"/>
                  <a:gd name="T48" fmla="*/ 11 w 49"/>
                  <a:gd name="T49" fmla="*/ 21 h 117"/>
                  <a:gd name="T50" fmla="*/ 10 w 49"/>
                  <a:gd name="T51" fmla="*/ 25 h 117"/>
                  <a:gd name="T52" fmla="*/ 10 w 49"/>
                  <a:gd name="T53" fmla="*/ 37 h 117"/>
                  <a:gd name="T54" fmla="*/ 13 w 49"/>
                  <a:gd name="T55" fmla="*/ 44 h 117"/>
                  <a:gd name="T56" fmla="*/ 9 w 49"/>
                  <a:gd name="T57" fmla="*/ 48 h 117"/>
                  <a:gd name="T58" fmla="*/ 7 w 49"/>
                  <a:gd name="T59" fmla="*/ 48 h 117"/>
                  <a:gd name="T60" fmla="*/ 4 w 49"/>
                  <a:gd name="T61" fmla="*/ 61 h 117"/>
                  <a:gd name="T62" fmla="*/ 1 w 49"/>
                  <a:gd name="T63" fmla="*/ 64 h 117"/>
                  <a:gd name="T64" fmla="*/ 7 w 49"/>
                  <a:gd name="T65" fmla="*/ 69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9" h="117">
                    <a:moveTo>
                      <a:pt x="9" y="70"/>
                    </a:moveTo>
                    <a:cubicBezTo>
                      <a:pt x="9" y="70"/>
                      <a:pt x="9" y="70"/>
                      <a:pt x="9" y="70"/>
                    </a:cubicBezTo>
                    <a:cubicBezTo>
                      <a:pt x="10" y="71"/>
                      <a:pt x="15" y="77"/>
                      <a:pt x="15" y="77"/>
                    </a:cubicBezTo>
                    <a:cubicBezTo>
                      <a:pt x="15" y="77"/>
                      <a:pt x="15" y="77"/>
                      <a:pt x="16" y="77"/>
                    </a:cubicBezTo>
                    <a:cubicBezTo>
                      <a:pt x="16" y="77"/>
                      <a:pt x="26" y="75"/>
                      <a:pt x="26" y="75"/>
                    </a:cubicBezTo>
                    <a:cubicBezTo>
                      <a:pt x="26" y="75"/>
                      <a:pt x="27" y="75"/>
                      <a:pt x="27" y="76"/>
                    </a:cubicBezTo>
                    <a:cubicBezTo>
                      <a:pt x="27" y="77"/>
                      <a:pt x="29" y="84"/>
                      <a:pt x="29" y="84"/>
                    </a:cubicBezTo>
                    <a:cubicBezTo>
                      <a:pt x="29" y="84"/>
                      <a:pt x="29" y="85"/>
                      <a:pt x="29" y="85"/>
                    </a:cubicBezTo>
                    <a:cubicBezTo>
                      <a:pt x="29" y="86"/>
                      <a:pt x="29" y="88"/>
                      <a:pt x="29" y="88"/>
                    </a:cubicBezTo>
                    <a:cubicBezTo>
                      <a:pt x="28" y="89"/>
                      <a:pt x="26" y="95"/>
                      <a:pt x="26" y="95"/>
                    </a:cubicBezTo>
                    <a:cubicBezTo>
                      <a:pt x="26" y="95"/>
                      <a:pt x="25" y="96"/>
                      <a:pt x="25" y="96"/>
                    </a:cubicBezTo>
                    <a:cubicBezTo>
                      <a:pt x="25" y="96"/>
                      <a:pt x="23" y="98"/>
                      <a:pt x="25" y="101"/>
                    </a:cubicBezTo>
                    <a:cubicBezTo>
                      <a:pt x="27" y="103"/>
                      <a:pt x="33" y="110"/>
                      <a:pt x="35" y="111"/>
                    </a:cubicBezTo>
                    <a:cubicBezTo>
                      <a:pt x="36" y="112"/>
                      <a:pt x="36" y="112"/>
                      <a:pt x="36" y="113"/>
                    </a:cubicBezTo>
                    <a:cubicBezTo>
                      <a:pt x="36" y="114"/>
                      <a:pt x="36" y="116"/>
                      <a:pt x="39" y="117"/>
                    </a:cubicBezTo>
                    <a:cubicBezTo>
                      <a:pt x="39" y="117"/>
                      <a:pt x="40" y="117"/>
                      <a:pt x="39" y="116"/>
                    </a:cubicBezTo>
                    <a:cubicBezTo>
                      <a:pt x="39" y="115"/>
                      <a:pt x="38" y="109"/>
                      <a:pt x="38" y="109"/>
                    </a:cubicBezTo>
                    <a:cubicBezTo>
                      <a:pt x="38" y="109"/>
                      <a:pt x="37" y="108"/>
                      <a:pt x="38" y="107"/>
                    </a:cubicBezTo>
                    <a:cubicBezTo>
                      <a:pt x="38" y="107"/>
                      <a:pt x="39" y="106"/>
                      <a:pt x="39" y="105"/>
                    </a:cubicBezTo>
                    <a:cubicBezTo>
                      <a:pt x="39" y="105"/>
                      <a:pt x="39" y="103"/>
                      <a:pt x="41" y="103"/>
                    </a:cubicBezTo>
                    <a:cubicBezTo>
                      <a:pt x="42" y="102"/>
                      <a:pt x="46" y="101"/>
                      <a:pt x="46" y="101"/>
                    </a:cubicBezTo>
                    <a:cubicBezTo>
                      <a:pt x="46" y="101"/>
                      <a:pt x="47" y="100"/>
                      <a:pt x="47" y="99"/>
                    </a:cubicBezTo>
                    <a:cubicBezTo>
                      <a:pt x="48" y="98"/>
                      <a:pt x="49" y="92"/>
                      <a:pt x="48" y="91"/>
                    </a:cubicBezTo>
                    <a:cubicBezTo>
                      <a:pt x="48" y="90"/>
                      <a:pt x="47" y="88"/>
                      <a:pt x="48" y="87"/>
                    </a:cubicBezTo>
                    <a:cubicBezTo>
                      <a:pt x="48" y="85"/>
                      <a:pt x="48" y="85"/>
                      <a:pt x="48" y="84"/>
                    </a:cubicBezTo>
                    <a:cubicBezTo>
                      <a:pt x="48" y="84"/>
                      <a:pt x="49" y="80"/>
                      <a:pt x="48" y="79"/>
                    </a:cubicBezTo>
                    <a:cubicBezTo>
                      <a:pt x="47" y="77"/>
                      <a:pt x="38" y="67"/>
                      <a:pt x="34" y="62"/>
                    </a:cubicBezTo>
                    <a:cubicBezTo>
                      <a:pt x="34" y="63"/>
                      <a:pt x="35" y="64"/>
                      <a:pt x="35" y="65"/>
                    </a:cubicBezTo>
                    <a:cubicBezTo>
                      <a:pt x="36" y="65"/>
                      <a:pt x="36" y="66"/>
                      <a:pt x="37" y="68"/>
                    </a:cubicBezTo>
                    <a:cubicBezTo>
                      <a:pt x="38" y="70"/>
                      <a:pt x="41" y="76"/>
                      <a:pt x="38" y="73"/>
                    </a:cubicBezTo>
                    <a:cubicBezTo>
                      <a:pt x="35" y="71"/>
                      <a:pt x="34" y="68"/>
                      <a:pt x="33" y="70"/>
                    </a:cubicBezTo>
                    <a:cubicBezTo>
                      <a:pt x="33" y="72"/>
                      <a:pt x="32" y="73"/>
                      <a:pt x="31" y="72"/>
                    </a:cubicBezTo>
                    <a:cubicBezTo>
                      <a:pt x="30" y="71"/>
                      <a:pt x="29" y="70"/>
                      <a:pt x="29" y="68"/>
                    </a:cubicBezTo>
                    <a:cubicBezTo>
                      <a:pt x="30" y="66"/>
                      <a:pt x="30" y="64"/>
                      <a:pt x="29" y="63"/>
                    </a:cubicBezTo>
                    <a:cubicBezTo>
                      <a:pt x="28" y="62"/>
                      <a:pt x="26" y="61"/>
                      <a:pt x="26" y="58"/>
                    </a:cubicBezTo>
                    <a:cubicBezTo>
                      <a:pt x="26" y="55"/>
                      <a:pt x="25" y="50"/>
                      <a:pt x="24" y="48"/>
                    </a:cubicBezTo>
                    <a:cubicBezTo>
                      <a:pt x="22" y="45"/>
                      <a:pt x="21" y="42"/>
                      <a:pt x="23" y="39"/>
                    </a:cubicBezTo>
                    <a:cubicBezTo>
                      <a:pt x="24" y="35"/>
                      <a:pt x="27" y="35"/>
                      <a:pt x="25" y="28"/>
                    </a:cubicBezTo>
                    <a:cubicBezTo>
                      <a:pt x="23" y="22"/>
                      <a:pt x="23" y="18"/>
                      <a:pt x="23" y="17"/>
                    </a:cubicBezTo>
                    <a:cubicBezTo>
                      <a:pt x="24" y="15"/>
                      <a:pt x="25" y="15"/>
                      <a:pt x="24" y="13"/>
                    </a:cubicBezTo>
                    <a:cubicBezTo>
                      <a:pt x="22" y="10"/>
                      <a:pt x="20" y="6"/>
                      <a:pt x="20" y="6"/>
                    </a:cubicBezTo>
                    <a:cubicBezTo>
                      <a:pt x="20" y="6"/>
                      <a:pt x="20" y="5"/>
                      <a:pt x="20" y="5"/>
                    </a:cubicBezTo>
                    <a:cubicBezTo>
                      <a:pt x="16" y="3"/>
                      <a:pt x="9" y="1"/>
                      <a:pt x="7" y="0"/>
                    </a:cubicBezTo>
                    <a:cubicBezTo>
                      <a:pt x="6" y="0"/>
                      <a:pt x="5" y="0"/>
                      <a:pt x="5" y="0"/>
                    </a:cubicBezTo>
                    <a:cubicBezTo>
                      <a:pt x="7" y="2"/>
                      <a:pt x="9" y="4"/>
                      <a:pt x="10" y="4"/>
                    </a:cubicBezTo>
                    <a:cubicBezTo>
                      <a:pt x="10" y="5"/>
                      <a:pt x="11" y="6"/>
                      <a:pt x="11" y="7"/>
                    </a:cubicBezTo>
                    <a:cubicBezTo>
                      <a:pt x="11" y="8"/>
                      <a:pt x="11" y="10"/>
                      <a:pt x="11" y="11"/>
                    </a:cubicBezTo>
                    <a:cubicBezTo>
                      <a:pt x="12" y="13"/>
                      <a:pt x="16" y="17"/>
                      <a:pt x="16" y="17"/>
                    </a:cubicBezTo>
                    <a:cubicBezTo>
                      <a:pt x="16" y="17"/>
                      <a:pt x="16" y="17"/>
                      <a:pt x="16" y="18"/>
                    </a:cubicBezTo>
                    <a:cubicBezTo>
                      <a:pt x="15" y="18"/>
                      <a:pt x="11" y="20"/>
                      <a:pt x="11" y="21"/>
                    </a:cubicBezTo>
                    <a:cubicBezTo>
                      <a:pt x="10" y="22"/>
                      <a:pt x="10" y="23"/>
                      <a:pt x="10" y="23"/>
                    </a:cubicBezTo>
                    <a:cubicBezTo>
                      <a:pt x="10" y="24"/>
                      <a:pt x="10" y="24"/>
                      <a:pt x="10" y="25"/>
                    </a:cubicBezTo>
                    <a:cubicBezTo>
                      <a:pt x="10" y="25"/>
                      <a:pt x="9" y="31"/>
                      <a:pt x="9" y="32"/>
                    </a:cubicBezTo>
                    <a:cubicBezTo>
                      <a:pt x="9" y="34"/>
                      <a:pt x="10" y="36"/>
                      <a:pt x="10" y="37"/>
                    </a:cubicBezTo>
                    <a:cubicBezTo>
                      <a:pt x="10" y="38"/>
                      <a:pt x="9" y="41"/>
                      <a:pt x="11" y="42"/>
                    </a:cubicBezTo>
                    <a:cubicBezTo>
                      <a:pt x="12" y="43"/>
                      <a:pt x="13" y="44"/>
                      <a:pt x="13" y="44"/>
                    </a:cubicBezTo>
                    <a:cubicBezTo>
                      <a:pt x="13" y="44"/>
                      <a:pt x="14" y="45"/>
                      <a:pt x="13" y="45"/>
                    </a:cubicBezTo>
                    <a:cubicBezTo>
                      <a:pt x="13" y="45"/>
                      <a:pt x="10" y="48"/>
                      <a:pt x="9" y="48"/>
                    </a:cubicBezTo>
                    <a:cubicBezTo>
                      <a:pt x="8" y="48"/>
                      <a:pt x="8" y="48"/>
                      <a:pt x="8" y="48"/>
                    </a:cubicBezTo>
                    <a:cubicBezTo>
                      <a:pt x="7" y="48"/>
                      <a:pt x="7" y="48"/>
                      <a:pt x="7" y="48"/>
                    </a:cubicBezTo>
                    <a:cubicBezTo>
                      <a:pt x="7" y="49"/>
                      <a:pt x="5" y="57"/>
                      <a:pt x="4" y="58"/>
                    </a:cubicBezTo>
                    <a:cubicBezTo>
                      <a:pt x="4" y="59"/>
                      <a:pt x="4" y="60"/>
                      <a:pt x="4" y="61"/>
                    </a:cubicBezTo>
                    <a:cubicBezTo>
                      <a:pt x="3" y="61"/>
                      <a:pt x="3" y="62"/>
                      <a:pt x="2" y="62"/>
                    </a:cubicBezTo>
                    <a:cubicBezTo>
                      <a:pt x="0" y="63"/>
                      <a:pt x="1" y="63"/>
                      <a:pt x="1" y="64"/>
                    </a:cubicBezTo>
                    <a:cubicBezTo>
                      <a:pt x="2" y="65"/>
                      <a:pt x="5" y="68"/>
                      <a:pt x="5" y="68"/>
                    </a:cubicBezTo>
                    <a:cubicBezTo>
                      <a:pt x="5" y="68"/>
                      <a:pt x="6" y="70"/>
                      <a:pt x="7" y="69"/>
                    </a:cubicBezTo>
                    <a:cubicBezTo>
                      <a:pt x="8" y="69"/>
                      <a:pt x="8" y="69"/>
                      <a:pt x="9" y="7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38" name="Freeform 949">
                <a:extLst>
                  <a:ext uri="{FF2B5EF4-FFF2-40B4-BE49-F238E27FC236}">
                    <a16:creationId xmlns:a16="http://schemas.microsoft.com/office/drawing/2014/main" id="{A9806ADA-E49C-43AF-AD40-C40E82085EB1}"/>
                  </a:ext>
                </a:extLst>
              </p:cNvPr>
              <p:cNvSpPr>
                <a:spLocks/>
              </p:cNvSpPr>
              <p:nvPr/>
            </p:nvSpPr>
            <p:spPr bwMode="auto">
              <a:xfrm>
                <a:off x="3954" y="2849"/>
                <a:ext cx="241" cy="205"/>
              </a:xfrm>
              <a:custGeom>
                <a:avLst/>
                <a:gdLst>
                  <a:gd name="T0" fmla="*/ 103 w 174"/>
                  <a:gd name="T1" fmla="*/ 8 h 149"/>
                  <a:gd name="T2" fmla="*/ 96 w 174"/>
                  <a:gd name="T3" fmla="*/ 17 h 149"/>
                  <a:gd name="T4" fmla="*/ 99 w 174"/>
                  <a:gd name="T5" fmla="*/ 21 h 149"/>
                  <a:gd name="T6" fmla="*/ 98 w 174"/>
                  <a:gd name="T7" fmla="*/ 27 h 149"/>
                  <a:gd name="T8" fmla="*/ 98 w 174"/>
                  <a:gd name="T9" fmla="*/ 37 h 149"/>
                  <a:gd name="T10" fmla="*/ 95 w 174"/>
                  <a:gd name="T11" fmla="*/ 51 h 149"/>
                  <a:gd name="T12" fmla="*/ 99 w 174"/>
                  <a:gd name="T13" fmla="*/ 56 h 149"/>
                  <a:gd name="T14" fmla="*/ 104 w 174"/>
                  <a:gd name="T15" fmla="*/ 62 h 149"/>
                  <a:gd name="T16" fmla="*/ 110 w 174"/>
                  <a:gd name="T17" fmla="*/ 63 h 149"/>
                  <a:gd name="T18" fmla="*/ 113 w 174"/>
                  <a:gd name="T19" fmla="*/ 60 h 149"/>
                  <a:gd name="T20" fmla="*/ 116 w 174"/>
                  <a:gd name="T21" fmla="*/ 60 h 149"/>
                  <a:gd name="T22" fmla="*/ 117 w 174"/>
                  <a:gd name="T23" fmla="*/ 77 h 149"/>
                  <a:gd name="T24" fmla="*/ 114 w 174"/>
                  <a:gd name="T25" fmla="*/ 77 h 149"/>
                  <a:gd name="T26" fmla="*/ 108 w 174"/>
                  <a:gd name="T27" fmla="*/ 78 h 149"/>
                  <a:gd name="T28" fmla="*/ 105 w 174"/>
                  <a:gd name="T29" fmla="*/ 77 h 149"/>
                  <a:gd name="T30" fmla="*/ 92 w 174"/>
                  <a:gd name="T31" fmla="*/ 63 h 149"/>
                  <a:gd name="T32" fmla="*/ 84 w 174"/>
                  <a:gd name="T33" fmla="*/ 61 h 149"/>
                  <a:gd name="T34" fmla="*/ 78 w 174"/>
                  <a:gd name="T35" fmla="*/ 52 h 149"/>
                  <a:gd name="T36" fmla="*/ 75 w 174"/>
                  <a:gd name="T37" fmla="*/ 53 h 149"/>
                  <a:gd name="T38" fmla="*/ 66 w 174"/>
                  <a:gd name="T39" fmla="*/ 56 h 149"/>
                  <a:gd name="T40" fmla="*/ 50 w 174"/>
                  <a:gd name="T41" fmla="*/ 46 h 149"/>
                  <a:gd name="T42" fmla="*/ 44 w 174"/>
                  <a:gd name="T43" fmla="*/ 46 h 149"/>
                  <a:gd name="T44" fmla="*/ 36 w 174"/>
                  <a:gd name="T45" fmla="*/ 48 h 149"/>
                  <a:gd name="T46" fmla="*/ 35 w 174"/>
                  <a:gd name="T47" fmla="*/ 44 h 149"/>
                  <a:gd name="T48" fmla="*/ 30 w 174"/>
                  <a:gd name="T49" fmla="*/ 40 h 149"/>
                  <a:gd name="T50" fmla="*/ 31 w 174"/>
                  <a:gd name="T51" fmla="*/ 61 h 149"/>
                  <a:gd name="T52" fmla="*/ 29 w 174"/>
                  <a:gd name="T53" fmla="*/ 70 h 149"/>
                  <a:gd name="T54" fmla="*/ 19 w 174"/>
                  <a:gd name="T55" fmla="*/ 72 h 149"/>
                  <a:gd name="T56" fmla="*/ 0 w 174"/>
                  <a:gd name="T57" fmla="*/ 73 h 149"/>
                  <a:gd name="T58" fmla="*/ 1 w 174"/>
                  <a:gd name="T59" fmla="*/ 119 h 149"/>
                  <a:gd name="T60" fmla="*/ 5 w 174"/>
                  <a:gd name="T61" fmla="*/ 128 h 149"/>
                  <a:gd name="T62" fmla="*/ 22 w 174"/>
                  <a:gd name="T63" fmla="*/ 142 h 149"/>
                  <a:gd name="T64" fmla="*/ 39 w 174"/>
                  <a:gd name="T65" fmla="*/ 141 h 149"/>
                  <a:gd name="T66" fmla="*/ 49 w 174"/>
                  <a:gd name="T67" fmla="*/ 145 h 149"/>
                  <a:gd name="T68" fmla="*/ 67 w 174"/>
                  <a:gd name="T69" fmla="*/ 149 h 149"/>
                  <a:gd name="T70" fmla="*/ 80 w 174"/>
                  <a:gd name="T71" fmla="*/ 141 h 149"/>
                  <a:gd name="T72" fmla="*/ 88 w 174"/>
                  <a:gd name="T73" fmla="*/ 132 h 149"/>
                  <a:gd name="T74" fmla="*/ 101 w 174"/>
                  <a:gd name="T75" fmla="*/ 126 h 149"/>
                  <a:gd name="T76" fmla="*/ 103 w 174"/>
                  <a:gd name="T77" fmla="*/ 117 h 149"/>
                  <a:gd name="T78" fmla="*/ 110 w 174"/>
                  <a:gd name="T79" fmla="*/ 114 h 149"/>
                  <a:gd name="T80" fmla="*/ 124 w 174"/>
                  <a:gd name="T81" fmla="*/ 112 h 149"/>
                  <a:gd name="T82" fmla="*/ 122 w 174"/>
                  <a:gd name="T83" fmla="*/ 102 h 149"/>
                  <a:gd name="T84" fmla="*/ 167 w 174"/>
                  <a:gd name="T85" fmla="*/ 88 h 149"/>
                  <a:gd name="T86" fmla="*/ 163 w 174"/>
                  <a:gd name="T87" fmla="*/ 86 h 149"/>
                  <a:gd name="T88" fmla="*/ 160 w 174"/>
                  <a:gd name="T89" fmla="*/ 80 h 149"/>
                  <a:gd name="T90" fmla="*/ 162 w 174"/>
                  <a:gd name="T91" fmla="*/ 76 h 149"/>
                  <a:gd name="T92" fmla="*/ 166 w 174"/>
                  <a:gd name="T93" fmla="*/ 66 h 149"/>
                  <a:gd name="T94" fmla="*/ 171 w 174"/>
                  <a:gd name="T95" fmla="*/ 63 h 149"/>
                  <a:gd name="T96" fmla="*/ 169 w 174"/>
                  <a:gd name="T97" fmla="*/ 60 h 149"/>
                  <a:gd name="T98" fmla="*/ 167 w 174"/>
                  <a:gd name="T99" fmla="*/ 50 h 149"/>
                  <a:gd name="T100" fmla="*/ 168 w 174"/>
                  <a:gd name="T101" fmla="*/ 41 h 149"/>
                  <a:gd name="T102" fmla="*/ 174 w 174"/>
                  <a:gd name="T103" fmla="*/ 36 h 149"/>
                  <a:gd name="T104" fmla="*/ 169 w 174"/>
                  <a:gd name="T105" fmla="*/ 29 h 149"/>
                  <a:gd name="T106" fmla="*/ 168 w 174"/>
                  <a:gd name="T107" fmla="*/ 22 h 149"/>
                  <a:gd name="T108" fmla="*/ 155 w 174"/>
                  <a:gd name="T109" fmla="*/ 15 h 149"/>
                  <a:gd name="T110" fmla="*/ 144 w 174"/>
                  <a:gd name="T111" fmla="*/ 8 h 149"/>
                  <a:gd name="T112" fmla="*/ 136 w 174"/>
                  <a:gd name="T113" fmla="*/ 8 h 149"/>
                  <a:gd name="T114" fmla="*/ 127 w 174"/>
                  <a:gd name="T115" fmla="*/ 5 h 149"/>
                  <a:gd name="T116" fmla="*/ 127 w 174"/>
                  <a:gd name="T117" fmla="*/ 1 h 149"/>
                  <a:gd name="T118" fmla="*/ 104 w 174"/>
                  <a:gd name="T119" fmla="*/ 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4" h="149">
                    <a:moveTo>
                      <a:pt x="103" y="5"/>
                    </a:moveTo>
                    <a:cubicBezTo>
                      <a:pt x="104" y="6"/>
                      <a:pt x="103" y="7"/>
                      <a:pt x="103" y="8"/>
                    </a:cubicBezTo>
                    <a:cubicBezTo>
                      <a:pt x="102" y="9"/>
                      <a:pt x="97" y="14"/>
                      <a:pt x="95" y="15"/>
                    </a:cubicBezTo>
                    <a:cubicBezTo>
                      <a:pt x="94" y="17"/>
                      <a:pt x="96" y="17"/>
                      <a:pt x="96" y="17"/>
                    </a:cubicBezTo>
                    <a:cubicBezTo>
                      <a:pt x="97" y="17"/>
                      <a:pt x="97" y="18"/>
                      <a:pt x="97" y="19"/>
                    </a:cubicBezTo>
                    <a:cubicBezTo>
                      <a:pt x="98" y="19"/>
                      <a:pt x="98" y="21"/>
                      <a:pt x="99" y="21"/>
                    </a:cubicBezTo>
                    <a:cubicBezTo>
                      <a:pt x="99" y="22"/>
                      <a:pt x="99" y="23"/>
                      <a:pt x="99" y="24"/>
                    </a:cubicBezTo>
                    <a:cubicBezTo>
                      <a:pt x="99" y="24"/>
                      <a:pt x="99" y="26"/>
                      <a:pt x="98" y="27"/>
                    </a:cubicBezTo>
                    <a:cubicBezTo>
                      <a:pt x="98" y="29"/>
                      <a:pt x="98" y="31"/>
                      <a:pt x="99" y="33"/>
                    </a:cubicBezTo>
                    <a:cubicBezTo>
                      <a:pt x="99" y="34"/>
                      <a:pt x="98" y="37"/>
                      <a:pt x="98" y="37"/>
                    </a:cubicBezTo>
                    <a:cubicBezTo>
                      <a:pt x="98" y="37"/>
                      <a:pt x="95" y="47"/>
                      <a:pt x="95" y="48"/>
                    </a:cubicBezTo>
                    <a:cubicBezTo>
                      <a:pt x="95" y="50"/>
                      <a:pt x="95" y="50"/>
                      <a:pt x="95" y="51"/>
                    </a:cubicBezTo>
                    <a:cubicBezTo>
                      <a:pt x="95" y="51"/>
                      <a:pt x="95" y="51"/>
                      <a:pt x="96" y="53"/>
                    </a:cubicBezTo>
                    <a:cubicBezTo>
                      <a:pt x="97" y="55"/>
                      <a:pt x="98" y="56"/>
                      <a:pt x="99" y="56"/>
                    </a:cubicBezTo>
                    <a:cubicBezTo>
                      <a:pt x="99" y="56"/>
                      <a:pt x="100" y="57"/>
                      <a:pt x="101" y="58"/>
                    </a:cubicBezTo>
                    <a:cubicBezTo>
                      <a:pt x="102" y="59"/>
                      <a:pt x="103" y="61"/>
                      <a:pt x="104" y="62"/>
                    </a:cubicBezTo>
                    <a:cubicBezTo>
                      <a:pt x="106" y="63"/>
                      <a:pt x="107" y="63"/>
                      <a:pt x="107" y="63"/>
                    </a:cubicBezTo>
                    <a:cubicBezTo>
                      <a:pt x="108" y="63"/>
                      <a:pt x="110" y="63"/>
                      <a:pt x="110" y="63"/>
                    </a:cubicBezTo>
                    <a:cubicBezTo>
                      <a:pt x="111" y="63"/>
                      <a:pt x="111" y="63"/>
                      <a:pt x="111" y="61"/>
                    </a:cubicBezTo>
                    <a:cubicBezTo>
                      <a:pt x="111" y="60"/>
                      <a:pt x="113" y="60"/>
                      <a:pt x="113" y="60"/>
                    </a:cubicBezTo>
                    <a:cubicBezTo>
                      <a:pt x="114" y="60"/>
                      <a:pt x="114" y="60"/>
                      <a:pt x="116" y="59"/>
                    </a:cubicBezTo>
                    <a:cubicBezTo>
                      <a:pt x="117" y="59"/>
                      <a:pt x="116" y="60"/>
                      <a:pt x="116" y="60"/>
                    </a:cubicBezTo>
                    <a:cubicBezTo>
                      <a:pt x="116" y="60"/>
                      <a:pt x="116" y="69"/>
                      <a:pt x="116" y="70"/>
                    </a:cubicBezTo>
                    <a:cubicBezTo>
                      <a:pt x="116" y="71"/>
                      <a:pt x="116" y="76"/>
                      <a:pt x="117" y="77"/>
                    </a:cubicBezTo>
                    <a:cubicBezTo>
                      <a:pt x="117" y="79"/>
                      <a:pt x="116" y="79"/>
                      <a:pt x="115" y="79"/>
                    </a:cubicBezTo>
                    <a:cubicBezTo>
                      <a:pt x="114" y="79"/>
                      <a:pt x="114" y="78"/>
                      <a:pt x="114" y="77"/>
                    </a:cubicBezTo>
                    <a:cubicBezTo>
                      <a:pt x="114" y="77"/>
                      <a:pt x="114" y="76"/>
                      <a:pt x="113" y="76"/>
                    </a:cubicBezTo>
                    <a:cubicBezTo>
                      <a:pt x="113" y="76"/>
                      <a:pt x="109" y="77"/>
                      <a:pt x="108" y="78"/>
                    </a:cubicBezTo>
                    <a:cubicBezTo>
                      <a:pt x="107" y="79"/>
                      <a:pt x="106" y="78"/>
                      <a:pt x="106" y="78"/>
                    </a:cubicBezTo>
                    <a:cubicBezTo>
                      <a:pt x="105" y="78"/>
                      <a:pt x="105" y="77"/>
                      <a:pt x="105" y="77"/>
                    </a:cubicBezTo>
                    <a:cubicBezTo>
                      <a:pt x="105" y="77"/>
                      <a:pt x="95" y="64"/>
                      <a:pt x="95" y="64"/>
                    </a:cubicBezTo>
                    <a:cubicBezTo>
                      <a:pt x="95" y="63"/>
                      <a:pt x="93" y="63"/>
                      <a:pt x="92" y="63"/>
                    </a:cubicBezTo>
                    <a:cubicBezTo>
                      <a:pt x="91" y="63"/>
                      <a:pt x="89" y="62"/>
                      <a:pt x="89" y="61"/>
                    </a:cubicBezTo>
                    <a:cubicBezTo>
                      <a:pt x="88" y="61"/>
                      <a:pt x="84" y="61"/>
                      <a:pt x="84" y="61"/>
                    </a:cubicBezTo>
                    <a:cubicBezTo>
                      <a:pt x="83" y="61"/>
                      <a:pt x="84" y="61"/>
                      <a:pt x="83" y="59"/>
                    </a:cubicBezTo>
                    <a:cubicBezTo>
                      <a:pt x="82" y="57"/>
                      <a:pt x="79" y="53"/>
                      <a:pt x="78" y="52"/>
                    </a:cubicBezTo>
                    <a:cubicBezTo>
                      <a:pt x="78" y="50"/>
                      <a:pt x="76" y="50"/>
                      <a:pt x="76" y="51"/>
                    </a:cubicBezTo>
                    <a:cubicBezTo>
                      <a:pt x="75" y="51"/>
                      <a:pt x="75" y="51"/>
                      <a:pt x="75" y="53"/>
                    </a:cubicBezTo>
                    <a:cubicBezTo>
                      <a:pt x="75" y="56"/>
                      <a:pt x="73" y="56"/>
                      <a:pt x="72" y="57"/>
                    </a:cubicBezTo>
                    <a:cubicBezTo>
                      <a:pt x="72" y="57"/>
                      <a:pt x="67" y="56"/>
                      <a:pt x="66" y="56"/>
                    </a:cubicBezTo>
                    <a:cubicBezTo>
                      <a:pt x="65" y="55"/>
                      <a:pt x="61" y="55"/>
                      <a:pt x="55" y="54"/>
                    </a:cubicBezTo>
                    <a:cubicBezTo>
                      <a:pt x="49" y="53"/>
                      <a:pt x="50" y="47"/>
                      <a:pt x="50" y="46"/>
                    </a:cubicBezTo>
                    <a:cubicBezTo>
                      <a:pt x="50" y="44"/>
                      <a:pt x="49" y="45"/>
                      <a:pt x="48" y="45"/>
                    </a:cubicBezTo>
                    <a:cubicBezTo>
                      <a:pt x="48" y="45"/>
                      <a:pt x="45" y="46"/>
                      <a:pt x="44" y="46"/>
                    </a:cubicBezTo>
                    <a:cubicBezTo>
                      <a:pt x="43" y="46"/>
                      <a:pt x="41" y="47"/>
                      <a:pt x="40" y="48"/>
                    </a:cubicBezTo>
                    <a:cubicBezTo>
                      <a:pt x="39" y="48"/>
                      <a:pt x="38" y="48"/>
                      <a:pt x="36" y="48"/>
                    </a:cubicBezTo>
                    <a:cubicBezTo>
                      <a:pt x="33" y="48"/>
                      <a:pt x="35" y="47"/>
                      <a:pt x="36" y="46"/>
                    </a:cubicBezTo>
                    <a:cubicBezTo>
                      <a:pt x="37" y="45"/>
                      <a:pt x="35" y="44"/>
                      <a:pt x="35" y="44"/>
                    </a:cubicBezTo>
                    <a:cubicBezTo>
                      <a:pt x="34" y="43"/>
                      <a:pt x="31" y="41"/>
                      <a:pt x="30" y="40"/>
                    </a:cubicBezTo>
                    <a:cubicBezTo>
                      <a:pt x="30" y="40"/>
                      <a:pt x="30" y="40"/>
                      <a:pt x="30" y="40"/>
                    </a:cubicBezTo>
                    <a:cubicBezTo>
                      <a:pt x="30" y="44"/>
                      <a:pt x="30" y="53"/>
                      <a:pt x="30" y="54"/>
                    </a:cubicBezTo>
                    <a:cubicBezTo>
                      <a:pt x="30" y="55"/>
                      <a:pt x="31" y="60"/>
                      <a:pt x="31" y="61"/>
                    </a:cubicBezTo>
                    <a:cubicBezTo>
                      <a:pt x="30" y="63"/>
                      <a:pt x="30" y="66"/>
                      <a:pt x="29" y="67"/>
                    </a:cubicBezTo>
                    <a:cubicBezTo>
                      <a:pt x="29" y="68"/>
                      <a:pt x="28" y="69"/>
                      <a:pt x="29" y="70"/>
                    </a:cubicBezTo>
                    <a:cubicBezTo>
                      <a:pt x="29" y="71"/>
                      <a:pt x="30" y="72"/>
                      <a:pt x="30" y="72"/>
                    </a:cubicBezTo>
                    <a:cubicBezTo>
                      <a:pt x="29" y="72"/>
                      <a:pt x="20" y="72"/>
                      <a:pt x="19" y="72"/>
                    </a:cubicBezTo>
                    <a:cubicBezTo>
                      <a:pt x="17" y="72"/>
                      <a:pt x="9" y="72"/>
                      <a:pt x="7" y="72"/>
                    </a:cubicBezTo>
                    <a:cubicBezTo>
                      <a:pt x="6" y="72"/>
                      <a:pt x="0" y="72"/>
                      <a:pt x="0" y="73"/>
                    </a:cubicBezTo>
                    <a:cubicBezTo>
                      <a:pt x="0" y="75"/>
                      <a:pt x="0" y="81"/>
                      <a:pt x="0" y="83"/>
                    </a:cubicBezTo>
                    <a:cubicBezTo>
                      <a:pt x="0" y="85"/>
                      <a:pt x="1" y="119"/>
                      <a:pt x="1" y="119"/>
                    </a:cubicBezTo>
                    <a:cubicBezTo>
                      <a:pt x="1" y="119"/>
                      <a:pt x="0" y="121"/>
                      <a:pt x="1" y="122"/>
                    </a:cubicBezTo>
                    <a:cubicBezTo>
                      <a:pt x="2" y="124"/>
                      <a:pt x="4" y="127"/>
                      <a:pt x="5" y="128"/>
                    </a:cubicBezTo>
                    <a:cubicBezTo>
                      <a:pt x="6" y="129"/>
                      <a:pt x="14" y="135"/>
                      <a:pt x="15" y="136"/>
                    </a:cubicBezTo>
                    <a:cubicBezTo>
                      <a:pt x="15" y="136"/>
                      <a:pt x="19" y="140"/>
                      <a:pt x="22" y="142"/>
                    </a:cubicBezTo>
                    <a:cubicBezTo>
                      <a:pt x="25" y="142"/>
                      <a:pt x="28" y="141"/>
                      <a:pt x="29" y="141"/>
                    </a:cubicBezTo>
                    <a:cubicBezTo>
                      <a:pt x="30" y="140"/>
                      <a:pt x="35" y="140"/>
                      <a:pt x="39" y="141"/>
                    </a:cubicBezTo>
                    <a:cubicBezTo>
                      <a:pt x="43" y="141"/>
                      <a:pt x="44" y="141"/>
                      <a:pt x="45" y="142"/>
                    </a:cubicBezTo>
                    <a:cubicBezTo>
                      <a:pt x="45" y="142"/>
                      <a:pt x="48" y="144"/>
                      <a:pt x="49" y="145"/>
                    </a:cubicBezTo>
                    <a:cubicBezTo>
                      <a:pt x="50" y="145"/>
                      <a:pt x="50" y="145"/>
                      <a:pt x="51" y="145"/>
                    </a:cubicBezTo>
                    <a:cubicBezTo>
                      <a:pt x="54" y="146"/>
                      <a:pt x="66" y="149"/>
                      <a:pt x="67" y="149"/>
                    </a:cubicBezTo>
                    <a:cubicBezTo>
                      <a:pt x="69" y="149"/>
                      <a:pt x="74" y="149"/>
                      <a:pt x="76" y="147"/>
                    </a:cubicBezTo>
                    <a:cubicBezTo>
                      <a:pt x="77" y="145"/>
                      <a:pt x="79" y="142"/>
                      <a:pt x="80" y="141"/>
                    </a:cubicBezTo>
                    <a:cubicBezTo>
                      <a:pt x="81" y="140"/>
                      <a:pt x="83" y="138"/>
                      <a:pt x="84" y="137"/>
                    </a:cubicBezTo>
                    <a:cubicBezTo>
                      <a:pt x="84" y="135"/>
                      <a:pt x="87" y="133"/>
                      <a:pt x="88" y="132"/>
                    </a:cubicBezTo>
                    <a:cubicBezTo>
                      <a:pt x="90" y="131"/>
                      <a:pt x="91" y="130"/>
                      <a:pt x="93" y="129"/>
                    </a:cubicBezTo>
                    <a:cubicBezTo>
                      <a:pt x="95" y="129"/>
                      <a:pt x="100" y="127"/>
                      <a:pt x="101" y="126"/>
                    </a:cubicBezTo>
                    <a:cubicBezTo>
                      <a:pt x="102" y="124"/>
                      <a:pt x="102" y="125"/>
                      <a:pt x="102" y="122"/>
                    </a:cubicBezTo>
                    <a:cubicBezTo>
                      <a:pt x="102" y="120"/>
                      <a:pt x="103" y="118"/>
                      <a:pt x="103" y="117"/>
                    </a:cubicBezTo>
                    <a:cubicBezTo>
                      <a:pt x="104" y="117"/>
                      <a:pt x="104" y="117"/>
                      <a:pt x="105" y="116"/>
                    </a:cubicBezTo>
                    <a:cubicBezTo>
                      <a:pt x="105" y="116"/>
                      <a:pt x="109" y="114"/>
                      <a:pt x="110" y="114"/>
                    </a:cubicBezTo>
                    <a:cubicBezTo>
                      <a:pt x="110" y="113"/>
                      <a:pt x="116" y="111"/>
                      <a:pt x="119" y="112"/>
                    </a:cubicBezTo>
                    <a:cubicBezTo>
                      <a:pt x="121" y="112"/>
                      <a:pt x="123" y="112"/>
                      <a:pt x="124" y="112"/>
                    </a:cubicBezTo>
                    <a:cubicBezTo>
                      <a:pt x="124" y="112"/>
                      <a:pt x="125" y="112"/>
                      <a:pt x="125" y="112"/>
                    </a:cubicBezTo>
                    <a:cubicBezTo>
                      <a:pt x="125" y="110"/>
                      <a:pt x="122" y="103"/>
                      <a:pt x="122" y="102"/>
                    </a:cubicBezTo>
                    <a:cubicBezTo>
                      <a:pt x="122" y="102"/>
                      <a:pt x="123" y="102"/>
                      <a:pt x="123" y="102"/>
                    </a:cubicBezTo>
                    <a:cubicBezTo>
                      <a:pt x="167" y="88"/>
                      <a:pt x="167" y="88"/>
                      <a:pt x="167" y="88"/>
                    </a:cubicBezTo>
                    <a:cubicBezTo>
                      <a:pt x="166" y="87"/>
                      <a:pt x="166" y="87"/>
                      <a:pt x="165" y="87"/>
                    </a:cubicBezTo>
                    <a:cubicBezTo>
                      <a:pt x="164" y="88"/>
                      <a:pt x="163" y="86"/>
                      <a:pt x="163" y="86"/>
                    </a:cubicBezTo>
                    <a:cubicBezTo>
                      <a:pt x="163" y="86"/>
                      <a:pt x="160" y="83"/>
                      <a:pt x="159" y="82"/>
                    </a:cubicBezTo>
                    <a:cubicBezTo>
                      <a:pt x="159" y="81"/>
                      <a:pt x="158" y="81"/>
                      <a:pt x="160" y="80"/>
                    </a:cubicBezTo>
                    <a:cubicBezTo>
                      <a:pt x="161" y="80"/>
                      <a:pt x="161" y="79"/>
                      <a:pt x="162" y="79"/>
                    </a:cubicBezTo>
                    <a:cubicBezTo>
                      <a:pt x="162" y="78"/>
                      <a:pt x="162" y="77"/>
                      <a:pt x="162" y="76"/>
                    </a:cubicBezTo>
                    <a:cubicBezTo>
                      <a:pt x="163" y="75"/>
                      <a:pt x="165" y="67"/>
                      <a:pt x="165" y="66"/>
                    </a:cubicBezTo>
                    <a:cubicBezTo>
                      <a:pt x="165" y="66"/>
                      <a:pt x="165" y="66"/>
                      <a:pt x="166" y="66"/>
                    </a:cubicBezTo>
                    <a:cubicBezTo>
                      <a:pt x="166" y="66"/>
                      <a:pt x="166" y="66"/>
                      <a:pt x="167" y="66"/>
                    </a:cubicBezTo>
                    <a:cubicBezTo>
                      <a:pt x="168" y="66"/>
                      <a:pt x="171" y="63"/>
                      <a:pt x="171" y="63"/>
                    </a:cubicBezTo>
                    <a:cubicBezTo>
                      <a:pt x="172" y="63"/>
                      <a:pt x="171" y="62"/>
                      <a:pt x="171" y="62"/>
                    </a:cubicBezTo>
                    <a:cubicBezTo>
                      <a:pt x="171" y="62"/>
                      <a:pt x="170" y="61"/>
                      <a:pt x="169" y="60"/>
                    </a:cubicBezTo>
                    <a:cubicBezTo>
                      <a:pt x="167" y="59"/>
                      <a:pt x="168" y="56"/>
                      <a:pt x="168" y="55"/>
                    </a:cubicBezTo>
                    <a:cubicBezTo>
                      <a:pt x="168" y="54"/>
                      <a:pt x="167" y="52"/>
                      <a:pt x="167" y="50"/>
                    </a:cubicBezTo>
                    <a:cubicBezTo>
                      <a:pt x="167" y="49"/>
                      <a:pt x="168" y="43"/>
                      <a:pt x="168" y="43"/>
                    </a:cubicBezTo>
                    <a:cubicBezTo>
                      <a:pt x="168" y="42"/>
                      <a:pt x="168" y="42"/>
                      <a:pt x="168" y="41"/>
                    </a:cubicBezTo>
                    <a:cubicBezTo>
                      <a:pt x="168" y="41"/>
                      <a:pt x="168" y="40"/>
                      <a:pt x="169" y="39"/>
                    </a:cubicBezTo>
                    <a:cubicBezTo>
                      <a:pt x="169" y="38"/>
                      <a:pt x="173" y="36"/>
                      <a:pt x="174" y="36"/>
                    </a:cubicBezTo>
                    <a:cubicBezTo>
                      <a:pt x="174" y="35"/>
                      <a:pt x="174" y="35"/>
                      <a:pt x="174" y="35"/>
                    </a:cubicBezTo>
                    <a:cubicBezTo>
                      <a:pt x="174" y="35"/>
                      <a:pt x="170" y="31"/>
                      <a:pt x="169" y="29"/>
                    </a:cubicBezTo>
                    <a:cubicBezTo>
                      <a:pt x="169" y="28"/>
                      <a:pt x="169" y="26"/>
                      <a:pt x="169" y="25"/>
                    </a:cubicBezTo>
                    <a:cubicBezTo>
                      <a:pt x="169" y="24"/>
                      <a:pt x="168" y="23"/>
                      <a:pt x="168" y="22"/>
                    </a:cubicBezTo>
                    <a:cubicBezTo>
                      <a:pt x="167" y="22"/>
                      <a:pt x="165" y="20"/>
                      <a:pt x="163" y="18"/>
                    </a:cubicBezTo>
                    <a:cubicBezTo>
                      <a:pt x="160" y="17"/>
                      <a:pt x="157" y="15"/>
                      <a:pt x="155" y="15"/>
                    </a:cubicBezTo>
                    <a:cubicBezTo>
                      <a:pt x="154" y="14"/>
                      <a:pt x="150" y="13"/>
                      <a:pt x="150" y="13"/>
                    </a:cubicBezTo>
                    <a:cubicBezTo>
                      <a:pt x="150" y="13"/>
                      <a:pt x="147" y="10"/>
                      <a:pt x="144" y="8"/>
                    </a:cubicBezTo>
                    <a:cubicBezTo>
                      <a:pt x="142" y="7"/>
                      <a:pt x="138" y="6"/>
                      <a:pt x="137" y="6"/>
                    </a:cubicBezTo>
                    <a:cubicBezTo>
                      <a:pt x="137" y="7"/>
                      <a:pt x="136" y="8"/>
                      <a:pt x="136" y="8"/>
                    </a:cubicBezTo>
                    <a:cubicBezTo>
                      <a:pt x="135" y="9"/>
                      <a:pt x="131" y="6"/>
                      <a:pt x="130" y="5"/>
                    </a:cubicBezTo>
                    <a:cubicBezTo>
                      <a:pt x="129" y="4"/>
                      <a:pt x="128" y="5"/>
                      <a:pt x="127" y="5"/>
                    </a:cubicBezTo>
                    <a:cubicBezTo>
                      <a:pt x="126" y="5"/>
                      <a:pt x="126" y="3"/>
                      <a:pt x="126" y="3"/>
                    </a:cubicBezTo>
                    <a:cubicBezTo>
                      <a:pt x="127" y="2"/>
                      <a:pt x="127" y="1"/>
                      <a:pt x="127" y="1"/>
                    </a:cubicBezTo>
                    <a:cubicBezTo>
                      <a:pt x="128" y="1"/>
                      <a:pt x="128" y="0"/>
                      <a:pt x="128" y="0"/>
                    </a:cubicBezTo>
                    <a:cubicBezTo>
                      <a:pt x="121" y="1"/>
                      <a:pt x="104" y="4"/>
                      <a:pt x="104" y="4"/>
                    </a:cubicBezTo>
                    <a:cubicBezTo>
                      <a:pt x="103" y="4"/>
                      <a:pt x="103" y="4"/>
                      <a:pt x="103"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39" name="Freeform 950">
                <a:extLst>
                  <a:ext uri="{FF2B5EF4-FFF2-40B4-BE49-F238E27FC236}">
                    <a16:creationId xmlns:a16="http://schemas.microsoft.com/office/drawing/2014/main" id="{2FE74AE5-C839-4234-AECB-6615300C4028}"/>
                  </a:ext>
                </a:extLst>
              </p:cNvPr>
              <p:cNvSpPr>
                <a:spLocks/>
              </p:cNvSpPr>
              <p:nvPr/>
            </p:nvSpPr>
            <p:spPr bwMode="auto">
              <a:xfrm>
                <a:off x="3745" y="3031"/>
                <a:ext cx="277" cy="258"/>
              </a:xfrm>
              <a:custGeom>
                <a:avLst/>
                <a:gdLst>
                  <a:gd name="T0" fmla="*/ 122 w 200"/>
                  <a:gd name="T1" fmla="*/ 79 h 188"/>
                  <a:gd name="T2" fmla="*/ 132 w 200"/>
                  <a:gd name="T3" fmla="*/ 78 h 188"/>
                  <a:gd name="T4" fmla="*/ 136 w 200"/>
                  <a:gd name="T5" fmla="*/ 56 h 188"/>
                  <a:gd name="T6" fmla="*/ 137 w 200"/>
                  <a:gd name="T7" fmla="*/ 21 h 188"/>
                  <a:gd name="T8" fmla="*/ 171 w 200"/>
                  <a:gd name="T9" fmla="*/ 17 h 188"/>
                  <a:gd name="T10" fmla="*/ 176 w 200"/>
                  <a:gd name="T11" fmla="*/ 23 h 188"/>
                  <a:gd name="T12" fmla="*/ 184 w 200"/>
                  <a:gd name="T13" fmla="*/ 17 h 188"/>
                  <a:gd name="T14" fmla="*/ 200 w 200"/>
                  <a:gd name="T15" fmla="*/ 13 h 188"/>
                  <a:gd name="T16" fmla="*/ 190 w 200"/>
                  <a:gd name="T17" fmla="*/ 9 h 188"/>
                  <a:gd name="T18" fmla="*/ 173 w 200"/>
                  <a:gd name="T19" fmla="*/ 10 h 188"/>
                  <a:gd name="T20" fmla="*/ 147 w 200"/>
                  <a:gd name="T21" fmla="*/ 15 h 188"/>
                  <a:gd name="T22" fmla="*/ 117 w 200"/>
                  <a:gd name="T23" fmla="*/ 14 h 188"/>
                  <a:gd name="T24" fmla="*/ 100 w 200"/>
                  <a:gd name="T25" fmla="*/ 8 h 188"/>
                  <a:gd name="T26" fmla="*/ 36 w 200"/>
                  <a:gd name="T27" fmla="*/ 7 h 188"/>
                  <a:gd name="T28" fmla="*/ 31 w 200"/>
                  <a:gd name="T29" fmla="*/ 7 h 188"/>
                  <a:gd name="T30" fmla="*/ 22 w 200"/>
                  <a:gd name="T31" fmla="*/ 0 h 188"/>
                  <a:gd name="T32" fmla="*/ 9 w 200"/>
                  <a:gd name="T33" fmla="*/ 5 h 188"/>
                  <a:gd name="T34" fmla="*/ 0 w 200"/>
                  <a:gd name="T35" fmla="*/ 15 h 188"/>
                  <a:gd name="T36" fmla="*/ 13 w 200"/>
                  <a:gd name="T37" fmla="*/ 37 h 188"/>
                  <a:gd name="T38" fmla="*/ 40 w 200"/>
                  <a:gd name="T39" fmla="*/ 87 h 188"/>
                  <a:gd name="T40" fmla="*/ 41 w 200"/>
                  <a:gd name="T41" fmla="*/ 115 h 188"/>
                  <a:gd name="T42" fmla="*/ 45 w 200"/>
                  <a:gd name="T43" fmla="*/ 132 h 188"/>
                  <a:gd name="T44" fmla="*/ 61 w 200"/>
                  <a:gd name="T45" fmla="*/ 176 h 188"/>
                  <a:gd name="T46" fmla="*/ 69 w 200"/>
                  <a:gd name="T47" fmla="*/ 182 h 188"/>
                  <a:gd name="T48" fmla="*/ 75 w 200"/>
                  <a:gd name="T49" fmla="*/ 175 h 188"/>
                  <a:gd name="T50" fmla="*/ 79 w 200"/>
                  <a:gd name="T51" fmla="*/ 174 h 188"/>
                  <a:gd name="T52" fmla="*/ 81 w 200"/>
                  <a:gd name="T53" fmla="*/ 177 h 188"/>
                  <a:gd name="T54" fmla="*/ 82 w 200"/>
                  <a:gd name="T55" fmla="*/ 180 h 188"/>
                  <a:gd name="T56" fmla="*/ 83 w 200"/>
                  <a:gd name="T57" fmla="*/ 183 h 188"/>
                  <a:gd name="T58" fmla="*/ 93 w 200"/>
                  <a:gd name="T59" fmla="*/ 187 h 188"/>
                  <a:gd name="T60" fmla="*/ 110 w 200"/>
                  <a:gd name="T61" fmla="*/ 187 h 188"/>
                  <a:gd name="T62" fmla="*/ 121 w 200"/>
                  <a:gd name="T63" fmla="*/ 179 h 188"/>
                  <a:gd name="T64" fmla="*/ 122 w 200"/>
                  <a:gd name="T65" fmla="*/ 121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0" h="188">
                    <a:moveTo>
                      <a:pt x="122" y="121"/>
                    </a:moveTo>
                    <a:cubicBezTo>
                      <a:pt x="122" y="79"/>
                      <a:pt x="122" y="79"/>
                      <a:pt x="122" y="79"/>
                    </a:cubicBezTo>
                    <a:cubicBezTo>
                      <a:pt x="122" y="79"/>
                      <a:pt x="121" y="78"/>
                      <a:pt x="122" y="78"/>
                    </a:cubicBezTo>
                    <a:cubicBezTo>
                      <a:pt x="123" y="78"/>
                      <a:pt x="132" y="78"/>
                      <a:pt x="132" y="78"/>
                    </a:cubicBezTo>
                    <a:cubicBezTo>
                      <a:pt x="132" y="78"/>
                      <a:pt x="137" y="78"/>
                      <a:pt x="137" y="75"/>
                    </a:cubicBezTo>
                    <a:cubicBezTo>
                      <a:pt x="137" y="71"/>
                      <a:pt x="136" y="57"/>
                      <a:pt x="136" y="56"/>
                    </a:cubicBezTo>
                    <a:cubicBezTo>
                      <a:pt x="136" y="54"/>
                      <a:pt x="136" y="22"/>
                      <a:pt x="136" y="22"/>
                    </a:cubicBezTo>
                    <a:cubicBezTo>
                      <a:pt x="136" y="22"/>
                      <a:pt x="136" y="21"/>
                      <a:pt x="137" y="21"/>
                    </a:cubicBezTo>
                    <a:cubicBezTo>
                      <a:pt x="138" y="21"/>
                      <a:pt x="170" y="16"/>
                      <a:pt x="170" y="16"/>
                    </a:cubicBezTo>
                    <a:cubicBezTo>
                      <a:pt x="170" y="16"/>
                      <a:pt x="170" y="16"/>
                      <a:pt x="171" y="17"/>
                    </a:cubicBezTo>
                    <a:cubicBezTo>
                      <a:pt x="171" y="18"/>
                      <a:pt x="173" y="22"/>
                      <a:pt x="174" y="23"/>
                    </a:cubicBezTo>
                    <a:cubicBezTo>
                      <a:pt x="175" y="24"/>
                      <a:pt x="176" y="24"/>
                      <a:pt x="176" y="23"/>
                    </a:cubicBezTo>
                    <a:cubicBezTo>
                      <a:pt x="177" y="23"/>
                      <a:pt x="178" y="22"/>
                      <a:pt x="179" y="21"/>
                    </a:cubicBezTo>
                    <a:cubicBezTo>
                      <a:pt x="179" y="20"/>
                      <a:pt x="183" y="18"/>
                      <a:pt x="184" y="17"/>
                    </a:cubicBezTo>
                    <a:cubicBezTo>
                      <a:pt x="184" y="17"/>
                      <a:pt x="190" y="14"/>
                      <a:pt x="193" y="14"/>
                    </a:cubicBezTo>
                    <a:cubicBezTo>
                      <a:pt x="195" y="14"/>
                      <a:pt x="197" y="13"/>
                      <a:pt x="200" y="13"/>
                    </a:cubicBezTo>
                    <a:cubicBezTo>
                      <a:pt x="199" y="12"/>
                      <a:pt x="196" y="10"/>
                      <a:pt x="196" y="10"/>
                    </a:cubicBezTo>
                    <a:cubicBezTo>
                      <a:pt x="195" y="9"/>
                      <a:pt x="194" y="9"/>
                      <a:pt x="190" y="9"/>
                    </a:cubicBezTo>
                    <a:cubicBezTo>
                      <a:pt x="186" y="8"/>
                      <a:pt x="181" y="8"/>
                      <a:pt x="180" y="9"/>
                    </a:cubicBezTo>
                    <a:cubicBezTo>
                      <a:pt x="179" y="9"/>
                      <a:pt x="176" y="10"/>
                      <a:pt x="173" y="10"/>
                    </a:cubicBezTo>
                    <a:cubicBezTo>
                      <a:pt x="167" y="12"/>
                      <a:pt x="161" y="13"/>
                      <a:pt x="160" y="13"/>
                    </a:cubicBezTo>
                    <a:cubicBezTo>
                      <a:pt x="159" y="13"/>
                      <a:pt x="149" y="15"/>
                      <a:pt x="147" y="15"/>
                    </a:cubicBezTo>
                    <a:cubicBezTo>
                      <a:pt x="145" y="16"/>
                      <a:pt x="137" y="16"/>
                      <a:pt x="136" y="15"/>
                    </a:cubicBezTo>
                    <a:cubicBezTo>
                      <a:pt x="134" y="15"/>
                      <a:pt x="118" y="14"/>
                      <a:pt x="117" y="14"/>
                    </a:cubicBezTo>
                    <a:cubicBezTo>
                      <a:pt x="116" y="14"/>
                      <a:pt x="111" y="13"/>
                      <a:pt x="108" y="14"/>
                    </a:cubicBezTo>
                    <a:cubicBezTo>
                      <a:pt x="105" y="14"/>
                      <a:pt x="101" y="10"/>
                      <a:pt x="100" y="8"/>
                    </a:cubicBezTo>
                    <a:cubicBezTo>
                      <a:pt x="98" y="6"/>
                      <a:pt x="94" y="7"/>
                      <a:pt x="94" y="7"/>
                    </a:cubicBezTo>
                    <a:cubicBezTo>
                      <a:pt x="94" y="7"/>
                      <a:pt x="37" y="6"/>
                      <a:pt x="36" y="7"/>
                    </a:cubicBezTo>
                    <a:cubicBezTo>
                      <a:pt x="36" y="7"/>
                      <a:pt x="34" y="7"/>
                      <a:pt x="33" y="7"/>
                    </a:cubicBezTo>
                    <a:cubicBezTo>
                      <a:pt x="32" y="7"/>
                      <a:pt x="32" y="7"/>
                      <a:pt x="31" y="7"/>
                    </a:cubicBezTo>
                    <a:cubicBezTo>
                      <a:pt x="30" y="6"/>
                      <a:pt x="24" y="1"/>
                      <a:pt x="23" y="1"/>
                    </a:cubicBezTo>
                    <a:cubicBezTo>
                      <a:pt x="23" y="0"/>
                      <a:pt x="23" y="0"/>
                      <a:pt x="22" y="0"/>
                    </a:cubicBezTo>
                    <a:cubicBezTo>
                      <a:pt x="21" y="0"/>
                      <a:pt x="17" y="1"/>
                      <a:pt x="16" y="2"/>
                    </a:cubicBezTo>
                    <a:cubicBezTo>
                      <a:pt x="14" y="3"/>
                      <a:pt x="11" y="5"/>
                      <a:pt x="9" y="5"/>
                    </a:cubicBezTo>
                    <a:cubicBezTo>
                      <a:pt x="8" y="5"/>
                      <a:pt x="2" y="5"/>
                      <a:pt x="0" y="5"/>
                    </a:cubicBezTo>
                    <a:cubicBezTo>
                      <a:pt x="0" y="9"/>
                      <a:pt x="0" y="12"/>
                      <a:pt x="0" y="15"/>
                    </a:cubicBezTo>
                    <a:cubicBezTo>
                      <a:pt x="1" y="22"/>
                      <a:pt x="7" y="27"/>
                      <a:pt x="7" y="27"/>
                    </a:cubicBezTo>
                    <a:cubicBezTo>
                      <a:pt x="7" y="27"/>
                      <a:pt x="11" y="32"/>
                      <a:pt x="13" y="37"/>
                    </a:cubicBezTo>
                    <a:cubicBezTo>
                      <a:pt x="16" y="42"/>
                      <a:pt x="32" y="73"/>
                      <a:pt x="32" y="73"/>
                    </a:cubicBezTo>
                    <a:cubicBezTo>
                      <a:pt x="32" y="73"/>
                      <a:pt x="38" y="84"/>
                      <a:pt x="40" y="87"/>
                    </a:cubicBezTo>
                    <a:cubicBezTo>
                      <a:pt x="41" y="90"/>
                      <a:pt x="40" y="92"/>
                      <a:pt x="40" y="94"/>
                    </a:cubicBezTo>
                    <a:cubicBezTo>
                      <a:pt x="40" y="95"/>
                      <a:pt x="39" y="110"/>
                      <a:pt x="41" y="115"/>
                    </a:cubicBezTo>
                    <a:cubicBezTo>
                      <a:pt x="43" y="120"/>
                      <a:pt x="43" y="120"/>
                      <a:pt x="44" y="123"/>
                    </a:cubicBezTo>
                    <a:cubicBezTo>
                      <a:pt x="46" y="127"/>
                      <a:pt x="46" y="131"/>
                      <a:pt x="45" y="132"/>
                    </a:cubicBezTo>
                    <a:cubicBezTo>
                      <a:pt x="45" y="134"/>
                      <a:pt x="46" y="142"/>
                      <a:pt x="47" y="147"/>
                    </a:cubicBezTo>
                    <a:cubicBezTo>
                      <a:pt x="49" y="152"/>
                      <a:pt x="53" y="167"/>
                      <a:pt x="61" y="176"/>
                    </a:cubicBezTo>
                    <a:cubicBezTo>
                      <a:pt x="61" y="176"/>
                      <a:pt x="65" y="180"/>
                      <a:pt x="69" y="182"/>
                    </a:cubicBezTo>
                    <a:cubicBezTo>
                      <a:pt x="69" y="182"/>
                      <a:pt x="69" y="182"/>
                      <a:pt x="69" y="182"/>
                    </a:cubicBezTo>
                    <a:cubicBezTo>
                      <a:pt x="70" y="181"/>
                      <a:pt x="73" y="177"/>
                      <a:pt x="74" y="176"/>
                    </a:cubicBezTo>
                    <a:cubicBezTo>
                      <a:pt x="75" y="175"/>
                      <a:pt x="75" y="175"/>
                      <a:pt x="75" y="175"/>
                    </a:cubicBezTo>
                    <a:cubicBezTo>
                      <a:pt x="76" y="174"/>
                      <a:pt x="76" y="174"/>
                      <a:pt x="77" y="174"/>
                    </a:cubicBezTo>
                    <a:cubicBezTo>
                      <a:pt x="77" y="174"/>
                      <a:pt x="78" y="174"/>
                      <a:pt x="79" y="174"/>
                    </a:cubicBezTo>
                    <a:cubicBezTo>
                      <a:pt x="79" y="174"/>
                      <a:pt x="80" y="174"/>
                      <a:pt x="80" y="175"/>
                    </a:cubicBezTo>
                    <a:cubicBezTo>
                      <a:pt x="80" y="175"/>
                      <a:pt x="80" y="176"/>
                      <a:pt x="81" y="177"/>
                    </a:cubicBezTo>
                    <a:cubicBezTo>
                      <a:pt x="82" y="177"/>
                      <a:pt x="83" y="178"/>
                      <a:pt x="83" y="179"/>
                    </a:cubicBezTo>
                    <a:cubicBezTo>
                      <a:pt x="83" y="180"/>
                      <a:pt x="83" y="180"/>
                      <a:pt x="82" y="180"/>
                    </a:cubicBezTo>
                    <a:cubicBezTo>
                      <a:pt x="82" y="180"/>
                      <a:pt x="82" y="181"/>
                      <a:pt x="82" y="181"/>
                    </a:cubicBezTo>
                    <a:cubicBezTo>
                      <a:pt x="83" y="182"/>
                      <a:pt x="83" y="182"/>
                      <a:pt x="83" y="183"/>
                    </a:cubicBezTo>
                    <a:cubicBezTo>
                      <a:pt x="83" y="184"/>
                      <a:pt x="83" y="185"/>
                      <a:pt x="85" y="185"/>
                    </a:cubicBezTo>
                    <a:cubicBezTo>
                      <a:pt x="86" y="186"/>
                      <a:pt x="92" y="186"/>
                      <a:pt x="93" y="187"/>
                    </a:cubicBezTo>
                    <a:cubicBezTo>
                      <a:pt x="94" y="187"/>
                      <a:pt x="108" y="188"/>
                      <a:pt x="109" y="188"/>
                    </a:cubicBezTo>
                    <a:cubicBezTo>
                      <a:pt x="110" y="188"/>
                      <a:pt x="110" y="187"/>
                      <a:pt x="110" y="187"/>
                    </a:cubicBezTo>
                    <a:cubicBezTo>
                      <a:pt x="110" y="186"/>
                      <a:pt x="113" y="181"/>
                      <a:pt x="121" y="180"/>
                    </a:cubicBezTo>
                    <a:cubicBezTo>
                      <a:pt x="121" y="180"/>
                      <a:pt x="121" y="180"/>
                      <a:pt x="121" y="179"/>
                    </a:cubicBezTo>
                    <a:cubicBezTo>
                      <a:pt x="122" y="178"/>
                      <a:pt x="122" y="176"/>
                      <a:pt x="122" y="176"/>
                    </a:cubicBezTo>
                    <a:lnTo>
                      <a:pt x="122" y="121"/>
                    </a:ln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40" name="Freeform 951">
                <a:extLst>
                  <a:ext uri="{FF2B5EF4-FFF2-40B4-BE49-F238E27FC236}">
                    <a16:creationId xmlns:a16="http://schemas.microsoft.com/office/drawing/2014/main" id="{DBCA07BF-3E80-4220-B82C-B398583270D6}"/>
                  </a:ext>
                </a:extLst>
              </p:cNvPr>
              <p:cNvSpPr>
                <a:spLocks/>
              </p:cNvSpPr>
              <p:nvPr/>
            </p:nvSpPr>
            <p:spPr bwMode="auto">
              <a:xfrm>
                <a:off x="3744" y="2801"/>
                <a:ext cx="253" cy="252"/>
              </a:xfrm>
              <a:custGeom>
                <a:avLst/>
                <a:gdLst>
                  <a:gd name="T0" fmla="*/ 17 w 183"/>
                  <a:gd name="T1" fmla="*/ 169 h 183"/>
                  <a:gd name="T2" fmla="*/ 24 w 183"/>
                  <a:gd name="T3" fmla="*/ 168 h 183"/>
                  <a:gd name="T4" fmla="*/ 34 w 183"/>
                  <a:gd name="T5" fmla="*/ 174 h 183"/>
                  <a:gd name="T6" fmla="*/ 95 w 183"/>
                  <a:gd name="T7" fmla="*/ 174 h 183"/>
                  <a:gd name="T8" fmla="*/ 109 w 183"/>
                  <a:gd name="T9" fmla="*/ 181 h 183"/>
                  <a:gd name="T10" fmla="*/ 137 w 183"/>
                  <a:gd name="T11" fmla="*/ 182 h 183"/>
                  <a:gd name="T12" fmla="*/ 161 w 183"/>
                  <a:gd name="T13" fmla="*/ 180 h 183"/>
                  <a:gd name="T14" fmla="*/ 167 w 183"/>
                  <a:gd name="T15" fmla="*/ 171 h 183"/>
                  <a:gd name="T16" fmla="*/ 153 w 183"/>
                  <a:gd name="T17" fmla="*/ 157 h 183"/>
                  <a:gd name="T18" fmla="*/ 152 w 183"/>
                  <a:gd name="T19" fmla="*/ 118 h 183"/>
                  <a:gd name="T20" fmla="*/ 159 w 183"/>
                  <a:gd name="T21" fmla="*/ 107 h 183"/>
                  <a:gd name="T22" fmla="*/ 182 w 183"/>
                  <a:gd name="T23" fmla="*/ 107 h 183"/>
                  <a:gd name="T24" fmla="*/ 181 w 183"/>
                  <a:gd name="T25" fmla="*/ 102 h 183"/>
                  <a:gd name="T26" fmla="*/ 182 w 183"/>
                  <a:gd name="T27" fmla="*/ 89 h 183"/>
                  <a:gd name="T28" fmla="*/ 180 w 183"/>
                  <a:gd name="T29" fmla="*/ 77 h 183"/>
                  <a:gd name="T30" fmla="*/ 157 w 183"/>
                  <a:gd name="T31" fmla="*/ 80 h 183"/>
                  <a:gd name="T32" fmla="*/ 155 w 183"/>
                  <a:gd name="T33" fmla="*/ 77 h 183"/>
                  <a:gd name="T34" fmla="*/ 157 w 183"/>
                  <a:gd name="T35" fmla="*/ 70 h 183"/>
                  <a:gd name="T36" fmla="*/ 153 w 183"/>
                  <a:gd name="T37" fmla="*/ 60 h 183"/>
                  <a:gd name="T38" fmla="*/ 151 w 183"/>
                  <a:gd name="T39" fmla="*/ 39 h 183"/>
                  <a:gd name="T40" fmla="*/ 149 w 183"/>
                  <a:gd name="T41" fmla="*/ 33 h 183"/>
                  <a:gd name="T42" fmla="*/ 149 w 183"/>
                  <a:gd name="T43" fmla="*/ 23 h 183"/>
                  <a:gd name="T44" fmla="*/ 140 w 183"/>
                  <a:gd name="T45" fmla="*/ 21 h 183"/>
                  <a:gd name="T46" fmla="*/ 130 w 183"/>
                  <a:gd name="T47" fmla="*/ 20 h 183"/>
                  <a:gd name="T48" fmla="*/ 130 w 183"/>
                  <a:gd name="T49" fmla="*/ 16 h 183"/>
                  <a:gd name="T50" fmla="*/ 117 w 183"/>
                  <a:gd name="T51" fmla="*/ 18 h 183"/>
                  <a:gd name="T52" fmla="*/ 114 w 183"/>
                  <a:gd name="T53" fmla="*/ 30 h 183"/>
                  <a:gd name="T54" fmla="*/ 104 w 183"/>
                  <a:gd name="T55" fmla="*/ 31 h 183"/>
                  <a:gd name="T56" fmla="*/ 94 w 183"/>
                  <a:gd name="T57" fmla="*/ 33 h 183"/>
                  <a:gd name="T58" fmla="*/ 85 w 183"/>
                  <a:gd name="T59" fmla="*/ 32 h 183"/>
                  <a:gd name="T60" fmla="*/ 82 w 183"/>
                  <a:gd name="T61" fmla="*/ 25 h 183"/>
                  <a:gd name="T62" fmla="*/ 76 w 183"/>
                  <a:gd name="T63" fmla="*/ 14 h 183"/>
                  <a:gd name="T64" fmla="*/ 72 w 183"/>
                  <a:gd name="T65" fmla="*/ 1 h 183"/>
                  <a:gd name="T66" fmla="*/ 63 w 183"/>
                  <a:gd name="T67" fmla="*/ 0 h 183"/>
                  <a:gd name="T68" fmla="*/ 37 w 183"/>
                  <a:gd name="T69" fmla="*/ 0 h 183"/>
                  <a:gd name="T70" fmla="*/ 18 w 183"/>
                  <a:gd name="T71" fmla="*/ 0 h 183"/>
                  <a:gd name="T72" fmla="*/ 9 w 183"/>
                  <a:gd name="T73" fmla="*/ 5 h 183"/>
                  <a:gd name="T74" fmla="*/ 24 w 183"/>
                  <a:gd name="T75" fmla="*/ 35 h 183"/>
                  <a:gd name="T76" fmla="*/ 19 w 183"/>
                  <a:gd name="T77" fmla="*/ 50 h 183"/>
                  <a:gd name="T78" fmla="*/ 28 w 183"/>
                  <a:gd name="T79" fmla="*/ 70 h 183"/>
                  <a:gd name="T80" fmla="*/ 24 w 183"/>
                  <a:gd name="T81" fmla="*/ 100 h 183"/>
                  <a:gd name="T82" fmla="*/ 6 w 183"/>
                  <a:gd name="T83" fmla="*/ 142 h 183"/>
                  <a:gd name="T84" fmla="*/ 1 w 183"/>
                  <a:gd name="T85" fmla="*/ 152 h 183"/>
                  <a:gd name="T86" fmla="*/ 1 w 183"/>
                  <a:gd name="T87" fmla="*/ 17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83" h="183">
                    <a:moveTo>
                      <a:pt x="10" y="172"/>
                    </a:moveTo>
                    <a:cubicBezTo>
                      <a:pt x="12" y="172"/>
                      <a:pt x="15" y="170"/>
                      <a:pt x="17" y="169"/>
                    </a:cubicBezTo>
                    <a:cubicBezTo>
                      <a:pt x="18" y="168"/>
                      <a:pt x="22" y="167"/>
                      <a:pt x="23" y="167"/>
                    </a:cubicBezTo>
                    <a:cubicBezTo>
                      <a:pt x="24" y="167"/>
                      <a:pt x="24" y="167"/>
                      <a:pt x="24" y="168"/>
                    </a:cubicBezTo>
                    <a:cubicBezTo>
                      <a:pt x="25" y="168"/>
                      <a:pt x="31" y="173"/>
                      <a:pt x="32" y="174"/>
                    </a:cubicBezTo>
                    <a:cubicBezTo>
                      <a:pt x="33" y="174"/>
                      <a:pt x="33" y="174"/>
                      <a:pt x="34" y="174"/>
                    </a:cubicBezTo>
                    <a:cubicBezTo>
                      <a:pt x="35" y="174"/>
                      <a:pt x="37" y="174"/>
                      <a:pt x="37" y="174"/>
                    </a:cubicBezTo>
                    <a:cubicBezTo>
                      <a:pt x="38" y="173"/>
                      <a:pt x="95" y="174"/>
                      <a:pt x="95" y="174"/>
                    </a:cubicBezTo>
                    <a:cubicBezTo>
                      <a:pt x="95" y="174"/>
                      <a:pt x="99" y="173"/>
                      <a:pt x="101" y="175"/>
                    </a:cubicBezTo>
                    <a:cubicBezTo>
                      <a:pt x="102" y="177"/>
                      <a:pt x="106" y="181"/>
                      <a:pt x="109" y="181"/>
                    </a:cubicBezTo>
                    <a:cubicBezTo>
                      <a:pt x="112" y="180"/>
                      <a:pt x="117" y="181"/>
                      <a:pt x="118" y="181"/>
                    </a:cubicBezTo>
                    <a:cubicBezTo>
                      <a:pt x="119" y="181"/>
                      <a:pt x="135" y="182"/>
                      <a:pt x="137" y="182"/>
                    </a:cubicBezTo>
                    <a:cubicBezTo>
                      <a:pt x="138" y="183"/>
                      <a:pt x="146" y="183"/>
                      <a:pt x="148" y="182"/>
                    </a:cubicBezTo>
                    <a:cubicBezTo>
                      <a:pt x="150" y="182"/>
                      <a:pt x="160" y="180"/>
                      <a:pt x="161" y="180"/>
                    </a:cubicBezTo>
                    <a:cubicBezTo>
                      <a:pt x="162" y="180"/>
                      <a:pt x="168" y="179"/>
                      <a:pt x="174" y="177"/>
                    </a:cubicBezTo>
                    <a:cubicBezTo>
                      <a:pt x="171" y="175"/>
                      <a:pt x="167" y="171"/>
                      <a:pt x="167" y="171"/>
                    </a:cubicBezTo>
                    <a:cubicBezTo>
                      <a:pt x="166" y="170"/>
                      <a:pt x="158" y="164"/>
                      <a:pt x="157" y="163"/>
                    </a:cubicBezTo>
                    <a:cubicBezTo>
                      <a:pt x="156" y="162"/>
                      <a:pt x="154" y="159"/>
                      <a:pt x="153" y="157"/>
                    </a:cubicBezTo>
                    <a:cubicBezTo>
                      <a:pt x="152" y="156"/>
                      <a:pt x="153" y="154"/>
                      <a:pt x="153" y="154"/>
                    </a:cubicBezTo>
                    <a:cubicBezTo>
                      <a:pt x="153" y="154"/>
                      <a:pt x="152" y="120"/>
                      <a:pt x="152" y="118"/>
                    </a:cubicBezTo>
                    <a:cubicBezTo>
                      <a:pt x="152" y="116"/>
                      <a:pt x="152" y="110"/>
                      <a:pt x="152" y="108"/>
                    </a:cubicBezTo>
                    <a:cubicBezTo>
                      <a:pt x="152" y="107"/>
                      <a:pt x="158" y="107"/>
                      <a:pt x="159" y="107"/>
                    </a:cubicBezTo>
                    <a:cubicBezTo>
                      <a:pt x="161" y="107"/>
                      <a:pt x="169" y="107"/>
                      <a:pt x="171" y="107"/>
                    </a:cubicBezTo>
                    <a:cubicBezTo>
                      <a:pt x="172" y="107"/>
                      <a:pt x="181" y="107"/>
                      <a:pt x="182" y="107"/>
                    </a:cubicBezTo>
                    <a:cubicBezTo>
                      <a:pt x="182" y="107"/>
                      <a:pt x="181" y="106"/>
                      <a:pt x="181" y="105"/>
                    </a:cubicBezTo>
                    <a:cubicBezTo>
                      <a:pt x="180" y="104"/>
                      <a:pt x="181" y="103"/>
                      <a:pt x="181" y="102"/>
                    </a:cubicBezTo>
                    <a:cubicBezTo>
                      <a:pt x="182" y="101"/>
                      <a:pt x="182" y="98"/>
                      <a:pt x="183" y="96"/>
                    </a:cubicBezTo>
                    <a:cubicBezTo>
                      <a:pt x="183" y="95"/>
                      <a:pt x="182" y="90"/>
                      <a:pt x="182" y="89"/>
                    </a:cubicBezTo>
                    <a:cubicBezTo>
                      <a:pt x="182" y="88"/>
                      <a:pt x="182" y="79"/>
                      <a:pt x="182" y="75"/>
                    </a:cubicBezTo>
                    <a:cubicBezTo>
                      <a:pt x="181" y="75"/>
                      <a:pt x="180" y="77"/>
                      <a:pt x="180" y="77"/>
                    </a:cubicBezTo>
                    <a:cubicBezTo>
                      <a:pt x="179" y="77"/>
                      <a:pt x="162" y="78"/>
                      <a:pt x="160" y="79"/>
                    </a:cubicBezTo>
                    <a:cubicBezTo>
                      <a:pt x="159" y="79"/>
                      <a:pt x="158" y="80"/>
                      <a:pt x="157" y="80"/>
                    </a:cubicBezTo>
                    <a:cubicBezTo>
                      <a:pt x="155" y="81"/>
                      <a:pt x="155" y="79"/>
                      <a:pt x="155" y="79"/>
                    </a:cubicBezTo>
                    <a:cubicBezTo>
                      <a:pt x="155" y="79"/>
                      <a:pt x="155" y="79"/>
                      <a:pt x="155" y="77"/>
                    </a:cubicBezTo>
                    <a:cubicBezTo>
                      <a:pt x="155" y="74"/>
                      <a:pt x="156" y="73"/>
                      <a:pt x="157" y="72"/>
                    </a:cubicBezTo>
                    <a:cubicBezTo>
                      <a:pt x="157" y="71"/>
                      <a:pt x="157" y="70"/>
                      <a:pt x="157" y="70"/>
                    </a:cubicBezTo>
                    <a:cubicBezTo>
                      <a:pt x="157" y="70"/>
                      <a:pt x="155" y="63"/>
                      <a:pt x="155" y="62"/>
                    </a:cubicBezTo>
                    <a:cubicBezTo>
                      <a:pt x="155" y="61"/>
                      <a:pt x="153" y="60"/>
                      <a:pt x="153" y="60"/>
                    </a:cubicBezTo>
                    <a:cubicBezTo>
                      <a:pt x="150" y="57"/>
                      <a:pt x="150" y="52"/>
                      <a:pt x="150" y="50"/>
                    </a:cubicBezTo>
                    <a:cubicBezTo>
                      <a:pt x="150" y="48"/>
                      <a:pt x="151" y="39"/>
                      <a:pt x="151" y="39"/>
                    </a:cubicBezTo>
                    <a:cubicBezTo>
                      <a:pt x="151" y="38"/>
                      <a:pt x="151" y="37"/>
                      <a:pt x="150" y="36"/>
                    </a:cubicBezTo>
                    <a:cubicBezTo>
                      <a:pt x="150" y="35"/>
                      <a:pt x="149" y="34"/>
                      <a:pt x="149" y="33"/>
                    </a:cubicBezTo>
                    <a:cubicBezTo>
                      <a:pt x="148" y="32"/>
                      <a:pt x="148" y="29"/>
                      <a:pt x="149" y="27"/>
                    </a:cubicBezTo>
                    <a:cubicBezTo>
                      <a:pt x="150" y="26"/>
                      <a:pt x="149" y="24"/>
                      <a:pt x="149" y="23"/>
                    </a:cubicBezTo>
                    <a:cubicBezTo>
                      <a:pt x="149" y="22"/>
                      <a:pt x="148" y="21"/>
                      <a:pt x="148" y="21"/>
                    </a:cubicBezTo>
                    <a:cubicBezTo>
                      <a:pt x="147" y="22"/>
                      <a:pt x="141" y="21"/>
                      <a:pt x="140" y="21"/>
                    </a:cubicBezTo>
                    <a:cubicBezTo>
                      <a:pt x="139" y="21"/>
                      <a:pt x="132" y="21"/>
                      <a:pt x="131" y="21"/>
                    </a:cubicBezTo>
                    <a:cubicBezTo>
                      <a:pt x="131" y="21"/>
                      <a:pt x="130" y="20"/>
                      <a:pt x="130" y="20"/>
                    </a:cubicBezTo>
                    <a:cubicBezTo>
                      <a:pt x="130" y="19"/>
                      <a:pt x="131" y="18"/>
                      <a:pt x="132" y="17"/>
                    </a:cubicBezTo>
                    <a:cubicBezTo>
                      <a:pt x="132" y="16"/>
                      <a:pt x="131" y="16"/>
                      <a:pt x="130" y="16"/>
                    </a:cubicBezTo>
                    <a:cubicBezTo>
                      <a:pt x="129" y="16"/>
                      <a:pt x="127" y="16"/>
                      <a:pt x="126" y="16"/>
                    </a:cubicBezTo>
                    <a:cubicBezTo>
                      <a:pt x="125" y="16"/>
                      <a:pt x="118" y="18"/>
                      <a:pt x="117" y="18"/>
                    </a:cubicBezTo>
                    <a:cubicBezTo>
                      <a:pt x="116" y="18"/>
                      <a:pt x="116" y="19"/>
                      <a:pt x="116" y="19"/>
                    </a:cubicBezTo>
                    <a:cubicBezTo>
                      <a:pt x="116" y="19"/>
                      <a:pt x="114" y="29"/>
                      <a:pt x="114" y="30"/>
                    </a:cubicBezTo>
                    <a:cubicBezTo>
                      <a:pt x="114" y="32"/>
                      <a:pt x="112" y="32"/>
                      <a:pt x="112" y="32"/>
                    </a:cubicBezTo>
                    <a:cubicBezTo>
                      <a:pt x="112" y="32"/>
                      <a:pt x="108" y="32"/>
                      <a:pt x="104" y="31"/>
                    </a:cubicBezTo>
                    <a:cubicBezTo>
                      <a:pt x="100" y="31"/>
                      <a:pt x="96" y="32"/>
                      <a:pt x="95" y="33"/>
                    </a:cubicBezTo>
                    <a:cubicBezTo>
                      <a:pt x="95" y="33"/>
                      <a:pt x="94" y="33"/>
                      <a:pt x="94" y="33"/>
                    </a:cubicBezTo>
                    <a:cubicBezTo>
                      <a:pt x="94" y="33"/>
                      <a:pt x="88" y="33"/>
                      <a:pt x="87" y="33"/>
                    </a:cubicBezTo>
                    <a:cubicBezTo>
                      <a:pt x="86" y="34"/>
                      <a:pt x="85" y="32"/>
                      <a:pt x="85" y="32"/>
                    </a:cubicBezTo>
                    <a:cubicBezTo>
                      <a:pt x="85" y="32"/>
                      <a:pt x="84" y="30"/>
                      <a:pt x="84" y="29"/>
                    </a:cubicBezTo>
                    <a:cubicBezTo>
                      <a:pt x="83" y="28"/>
                      <a:pt x="83" y="26"/>
                      <a:pt x="82" y="25"/>
                    </a:cubicBezTo>
                    <a:cubicBezTo>
                      <a:pt x="81" y="24"/>
                      <a:pt x="79" y="22"/>
                      <a:pt x="79" y="21"/>
                    </a:cubicBezTo>
                    <a:cubicBezTo>
                      <a:pt x="79" y="20"/>
                      <a:pt x="76" y="15"/>
                      <a:pt x="76" y="14"/>
                    </a:cubicBezTo>
                    <a:cubicBezTo>
                      <a:pt x="75" y="13"/>
                      <a:pt x="75" y="11"/>
                      <a:pt x="75" y="8"/>
                    </a:cubicBezTo>
                    <a:cubicBezTo>
                      <a:pt x="74" y="4"/>
                      <a:pt x="72" y="1"/>
                      <a:pt x="72" y="1"/>
                    </a:cubicBezTo>
                    <a:cubicBezTo>
                      <a:pt x="72" y="0"/>
                      <a:pt x="70" y="1"/>
                      <a:pt x="69" y="0"/>
                    </a:cubicBezTo>
                    <a:cubicBezTo>
                      <a:pt x="68" y="0"/>
                      <a:pt x="65" y="0"/>
                      <a:pt x="63" y="0"/>
                    </a:cubicBezTo>
                    <a:cubicBezTo>
                      <a:pt x="62" y="0"/>
                      <a:pt x="48" y="0"/>
                      <a:pt x="47" y="0"/>
                    </a:cubicBezTo>
                    <a:cubicBezTo>
                      <a:pt x="46" y="0"/>
                      <a:pt x="39" y="1"/>
                      <a:pt x="37" y="0"/>
                    </a:cubicBezTo>
                    <a:cubicBezTo>
                      <a:pt x="34" y="0"/>
                      <a:pt x="24" y="0"/>
                      <a:pt x="23" y="0"/>
                    </a:cubicBezTo>
                    <a:cubicBezTo>
                      <a:pt x="22" y="0"/>
                      <a:pt x="19" y="0"/>
                      <a:pt x="18" y="0"/>
                    </a:cubicBezTo>
                    <a:cubicBezTo>
                      <a:pt x="18" y="1"/>
                      <a:pt x="18" y="1"/>
                      <a:pt x="16" y="2"/>
                    </a:cubicBezTo>
                    <a:cubicBezTo>
                      <a:pt x="14" y="2"/>
                      <a:pt x="7" y="3"/>
                      <a:pt x="9" y="5"/>
                    </a:cubicBezTo>
                    <a:cubicBezTo>
                      <a:pt x="10" y="8"/>
                      <a:pt x="17" y="19"/>
                      <a:pt x="18" y="21"/>
                    </a:cubicBezTo>
                    <a:cubicBezTo>
                      <a:pt x="18" y="23"/>
                      <a:pt x="22" y="31"/>
                      <a:pt x="24" y="35"/>
                    </a:cubicBezTo>
                    <a:cubicBezTo>
                      <a:pt x="26" y="38"/>
                      <a:pt x="24" y="44"/>
                      <a:pt x="22" y="45"/>
                    </a:cubicBezTo>
                    <a:cubicBezTo>
                      <a:pt x="19" y="47"/>
                      <a:pt x="18" y="48"/>
                      <a:pt x="19" y="50"/>
                    </a:cubicBezTo>
                    <a:cubicBezTo>
                      <a:pt x="21" y="52"/>
                      <a:pt x="22" y="54"/>
                      <a:pt x="22" y="56"/>
                    </a:cubicBezTo>
                    <a:cubicBezTo>
                      <a:pt x="23" y="58"/>
                      <a:pt x="27" y="68"/>
                      <a:pt x="28" y="70"/>
                    </a:cubicBezTo>
                    <a:cubicBezTo>
                      <a:pt x="29" y="72"/>
                      <a:pt x="33" y="81"/>
                      <a:pt x="30" y="89"/>
                    </a:cubicBezTo>
                    <a:cubicBezTo>
                      <a:pt x="28" y="97"/>
                      <a:pt x="26" y="100"/>
                      <a:pt x="24" y="100"/>
                    </a:cubicBezTo>
                    <a:cubicBezTo>
                      <a:pt x="23" y="101"/>
                      <a:pt x="15" y="104"/>
                      <a:pt x="12" y="114"/>
                    </a:cubicBezTo>
                    <a:cubicBezTo>
                      <a:pt x="9" y="124"/>
                      <a:pt x="6" y="142"/>
                      <a:pt x="6" y="142"/>
                    </a:cubicBezTo>
                    <a:cubicBezTo>
                      <a:pt x="6" y="142"/>
                      <a:pt x="4" y="146"/>
                      <a:pt x="2" y="148"/>
                    </a:cubicBezTo>
                    <a:cubicBezTo>
                      <a:pt x="0" y="150"/>
                      <a:pt x="0" y="151"/>
                      <a:pt x="1" y="152"/>
                    </a:cubicBezTo>
                    <a:cubicBezTo>
                      <a:pt x="1" y="153"/>
                      <a:pt x="1" y="155"/>
                      <a:pt x="1" y="156"/>
                    </a:cubicBezTo>
                    <a:cubicBezTo>
                      <a:pt x="1" y="157"/>
                      <a:pt x="1" y="165"/>
                      <a:pt x="1" y="172"/>
                    </a:cubicBezTo>
                    <a:cubicBezTo>
                      <a:pt x="3" y="172"/>
                      <a:pt x="9" y="172"/>
                      <a:pt x="10" y="17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41" name="Freeform 952">
                <a:extLst>
                  <a:ext uri="{FF2B5EF4-FFF2-40B4-BE49-F238E27FC236}">
                    <a16:creationId xmlns:a16="http://schemas.microsoft.com/office/drawing/2014/main" id="{8FEB3BE8-FC68-4944-834E-18C54D2F2B6C}"/>
                  </a:ext>
                </a:extLst>
              </p:cNvPr>
              <p:cNvSpPr>
                <a:spLocks/>
              </p:cNvSpPr>
              <p:nvPr/>
            </p:nvSpPr>
            <p:spPr bwMode="auto">
              <a:xfrm>
                <a:off x="4100" y="2729"/>
                <a:ext cx="37" cy="44"/>
              </a:xfrm>
              <a:custGeom>
                <a:avLst/>
                <a:gdLst>
                  <a:gd name="T0" fmla="*/ 18 w 27"/>
                  <a:gd name="T1" fmla="*/ 1 h 32"/>
                  <a:gd name="T2" fmla="*/ 14 w 27"/>
                  <a:gd name="T3" fmla="*/ 1 h 32"/>
                  <a:gd name="T4" fmla="*/ 13 w 27"/>
                  <a:gd name="T5" fmla="*/ 1 h 32"/>
                  <a:gd name="T6" fmla="*/ 13 w 27"/>
                  <a:gd name="T7" fmla="*/ 4 h 32"/>
                  <a:gd name="T8" fmla="*/ 12 w 27"/>
                  <a:gd name="T9" fmla="*/ 6 h 32"/>
                  <a:gd name="T10" fmla="*/ 9 w 27"/>
                  <a:gd name="T11" fmla="*/ 7 h 32"/>
                  <a:gd name="T12" fmla="*/ 6 w 27"/>
                  <a:gd name="T13" fmla="*/ 7 h 32"/>
                  <a:gd name="T14" fmla="*/ 5 w 27"/>
                  <a:gd name="T15" fmla="*/ 7 h 32"/>
                  <a:gd name="T16" fmla="*/ 4 w 27"/>
                  <a:gd name="T17" fmla="*/ 5 h 32"/>
                  <a:gd name="T18" fmla="*/ 2 w 27"/>
                  <a:gd name="T19" fmla="*/ 5 h 32"/>
                  <a:gd name="T20" fmla="*/ 0 w 27"/>
                  <a:gd name="T21" fmla="*/ 6 h 32"/>
                  <a:gd name="T22" fmla="*/ 2 w 27"/>
                  <a:gd name="T23" fmla="*/ 10 h 32"/>
                  <a:gd name="T24" fmla="*/ 3 w 27"/>
                  <a:gd name="T25" fmla="*/ 12 h 32"/>
                  <a:gd name="T26" fmla="*/ 3 w 27"/>
                  <a:gd name="T27" fmla="*/ 15 h 32"/>
                  <a:gd name="T28" fmla="*/ 3 w 27"/>
                  <a:gd name="T29" fmla="*/ 18 h 32"/>
                  <a:gd name="T30" fmla="*/ 3 w 27"/>
                  <a:gd name="T31" fmla="*/ 16 h 32"/>
                  <a:gd name="T32" fmla="*/ 5 w 27"/>
                  <a:gd name="T33" fmla="*/ 20 h 32"/>
                  <a:gd name="T34" fmla="*/ 8 w 27"/>
                  <a:gd name="T35" fmla="*/ 29 h 32"/>
                  <a:gd name="T36" fmla="*/ 9 w 27"/>
                  <a:gd name="T37" fmla="*/ 32 h 32"/>
                  <a:gd name="T38" fmla="*/ 10 w 27"/>
                  <a:gd name="T39" fmla="*/ 32 h 32"/>
                  <a:gd name="T40" fmla="*/ 16 w 27"/>
                  <a:gd name="T41" fmla="*/ 27 h 32"/>
                  <a:gd name="T42" fmla="*/ 17 w 27"/>
                  <a:gd name="T43" fmla="*/ 26 h 32"/>
                  <a:gd name="T44" fmla="*/ 22 w 27"/>
                  <a:gd name="T45" fmla="*/ 17 h 32"/>
                  <a:gd name="T46" fmla="*/ 25 w 27"/>
                  <a:gd name="T47" fmla="*/ 15 h 32"/>
                  <a:gd name="T48" fmla="*/ 26 w 27"/>
                  <a:gd name="T49" fmla="*/ 10 h 32"/>
                  <a:gd name="T50" fmla="*/ 21 w 27"/>
                  <a:gd name="T51" fmla="*/ 10 h 32"/>
                  <a:gd name="T52" fmla="*/ 22 w 27"/>
                  <a:gd name="T53" fmla="*/ 2 h 32"/>
                  <a:gd name="T54" fmla="*/ 23 w 27"/>
                  <a:gd name="T55" fmla="*/ 2 h 32"/>
                  <a:gd name="T56" fmla="*/ 20 w 27"/>
                  <a:gd name="T57" fmla="*/ 1 h 32"/>
                  <a:gd name="T58" fmla="*/ 18 w 27"/>
                  <a:gd name="T59" fmla="*/ 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7" h="32">
                    <a:moveTo>
                      <a:pt x="18" y="1"/>
                    </a:moveTo>
                    <a:cubicBezTo>
                      <a:pt x="17" y="2"/>
                      <a:pt x="16" y="2"/>
                      <a:pt x="14" y="1"/>
                    </a:cubicBezTo>
                    <a:cubicBezTo>
                      <a:pt x="13" y="0"/>
                      <a:pt x="13" y="1"/>
                      <a:pt x="13" y="1"/>
                    </a:cubicBezTo>
                    <a:cubicBezTo>
                      <a:pt x="13" y="1"/>
                      <a:pt x="13" y="3"/>
                      <a:pt x="13" y="4"/>
                    </a:cubicBezTo>
                    <a:cubicBezTo>
                      <a:pt x="13" y="5"/>
                      <a:pt x="12" y="6"/>
                      <a:pt x="12" y="6"/>
                    </a:cubicBezTo>
                    <a:cubicBezTo>
                      <a:pt x="12" y="6"/>
                      <a:pt x="11" y="6"/>
                      <a:pt x="9" y="7"/>
                    </a:cubicBezTo>
                    <a:cubicBezTo>
                      <a:pt x="8" y="8"/>
                      <a:pt x="7" y="7"/>
                      <a:pt x="6" y="7"/>
                    </a:cubicBezTo>
                    <a:cubicBezTo>
                      <a:pt x="6" y="7"/>
                      <a:pt x="5" y="7"/>
                      <a:pt x="5" y="7"/>
                    </a:cubicBezTo>
                    <a:cubicBezTo>
                      <a:pt x="5" y="6"/>
                      <a:pt x="4" y="5"/>
                      <a:pt x="4" y="5"/>
                    </a:cubicBezTo>
                    <a:cubicBezTo>
                      <a:pt x="4" y="5"/>
                      <a:pt x="3" y="5"/>
                      <a:pt x="2" y="5"/>
                    </a:cubicBezTo>
                    <a:cubicBezTo>
                      <a:pt x="1" y="4"/>
                      <a:pt x="0" y="5"/>
                      <a:pt x="0" y="6"/>
                    </a:cubicBezTo>
                    <a:cubicBezTo>
                      <a:pt x="1" y="8"/>
                      <a:pt x="2" y="10"/>
                      <a:pt x="2" y="10"/>
                    </a:cubicBezTo>
                    <a:cubicBezTo>
                      <a:pt x="2" y="10"/>
                      <a:pt x="3" y="11"/>
                      <a:pt x="3" y="12"/>
                    </a:cubicBezTo>
                    <a:cubicBezTo>
                      <a:pt x="3" y="13"/>
                      <a:pt x="3" y="14"/>
                      <a:pt x="3" y="15"/>
                    </a:cubicBezTo>
                    <a:cubicBezTo>
                      <a:pt x="2" y="15"/>
                      <a:pt x="2" y="17"/>
                      <a:pt x="3" y="18"/>
                    </a:cubicBezTo>
                    <a:cubicBezTo>
                      <a:pt x="3" y="17"/>
                      <a:pt x="3" y="16"/>
                      <a:pt x="3" y="16"/>
                    </a:cubicBezTo>
                    <a:cubicBezTo>
                      <a:pt x="4" y="14"/>
                      <a:pt x="5" y="17"/>
                      <a:pt x="5" y="20"/>
                    </a:cubicBezTo>
                    <a:cubicBezTo>
                      <a:pt x="5" y="22"/>
                      <a:pt x="6" y="25"/>
                      <a:pt x="8" y="29"/>
                    </a:cubicBezTo>
                    <a:cubicBezTo>
                      <a:pt x="8" y="30"/>
                      <a:pt x="9" y="31"/>
                      <a:pt x="9" y="32"/>
                    </a:cubicBezTo>
                    <a:cubicBezTo>
                      <a:pt x="9" y="32"/>
                      <a:pt x="10" y="32"/>
                      <a:pt x="10" y="32"/>
                    </a:cubicBezTo>
                    <a:cubicBezTo>
                      <a:pt x="10" y="32"/>
                      <a:pt x="16" y="27"/>
                      <a:pt x="16" y="27"/>
                    </a:cubicBezTo>
                    <a:cubicBezTo>
                      <a:pt x="17" y="26"/>
                      <a:pt x="17" y="26"/>
                      <a:pt x="17" y="26"/>
                    </a:cubicBezTo>
                    <a:cubicBezTo>
                      <a:pt x="17" y="26"/>
                      <a:pt x="21" y="19"/>
                      <a:pt x="22" y="17"/>
                    </a:cubicBezTo>
                    <a:cubicBezTo>
                      <a:pt x="23" y="16"/>
                      <a:pt x="24" y="16"/>
                      <a:pt x="25" y="15"/>
                    </a:cubicBezTo>
                    <a:cubicBezTo>
                      <a:pt x="27" y="14"/>
                      <a:pt x="26" y="10"/>
                      <a:pt x="26" y="10"/>
                    </a:cubicBezTo>
                    <a:cubicBezTo>
                      <a:pt x="21" y="10"/>
                      <a:pt x="21" y="10"/>
                      <a:pt x="21" y="10"/>
                    </a:cubicBezTo>
                    <a:cubicBezTo>
                      <a:pt x="21" y="10"/>
                      <a:pt x="22" y="3"/>
                      <a:pt x="22" y="2"/>
                    </a:cubicBezTo>
                    <a:cubicBezTo>
                      <a:pt x="22" y="2"/>
                      <a:pt x="23" y="2"/>
                      <a:pt x="23" y="2"/>
                    </a:cubicBezTo>
                    <a:cubicBezTo>
                      <a:pt x="22" y="2"/>
                      <a:pt x="21" y="1"/>
                      <a:pt x="20" y="1"/>
                    </a:cubicBezTo>
                    <a:cubicBezTo>
                      <a:pt x="20" y="0"/>
                      <a:pt x="19" y="1"/>
                      <a:pt x="18"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42" name="Freeform 953">
                <a:extLst>
                  <a:ext uri="{FF2B5EF4-FFF2-40B4-BE49-F238E27FC236}">
                    <a16:creationId xmlns:a16="http://schemas.microsoft.com/office/drawing/2014/main" id="{8C58F029-3A8D-45E0-A7C9-C6B56C689F23}"/>
                  </a:ext>
                </a:extLst>
              </p:cNvPr>
              <p:cNvSpPr>
                <a:spLocks/>
              </p:cNvSpPr>
              <p:nvPr/>
            </p:nvSpPr>
            <p:spPr bwMode="auto">
              <a:xfrm>
                <a:off x="4095" y="2704"/>
                <a:ext cx="43" cy="36"/>
              </a:xfrm>
              <a:custGeom>
                <a:avLst/>
                <a:gdLst>
                  <a:gd name="T0" fmla="*/ 11 w 31"/>
                  <a:gd name="T1" fmla="*/ 5 h 26"/>
                  <a:gd name="T2" fmla="*/ 10 w 31"/>
                  <a:gd name="T3" fmla="*/ 5 h 26"/>
                  <a:gd name="T4" fmla="*/ 6 w 31"/>
                  <a:gd name="T5" fmla="*/ 8 h 26"/>
                  <a:gd name="T6" fmla="*/ 5 w 31"/>
                  <a:gd name="T7" fmla="*/ 10 h 26"/>
                  <a:gd name="T8" fmla="*/ 1 w 31"/>
                  <a:gd name="T9" fmla="*/ 20 h 26"/>
                  <a:gd name="T10" fmla="*/ 1 w 31"/>
                  <a:gd name="T11" fmla="*/ 21 h 26"/>
                  <a:gd name="T12" fmla="*/ 3 w 31"/>
                  <a:gd name="T13" fmla="*/ 24 h 26"/>
                  <a:gd name="T14" fmla="*/ 5 w 31"/>
                  <a:gd name="T15" fmla="*/ 23 h 26"/>
                  <a:gd name="T16" fmla="*/ 7 w 31"/>
                  <a:gd name="T17" fmla="*/ 23 h 26"/>
                  <a:gd name="T18" fmla="*/ 8 w 31"/>
                  <a:gd name="T19" fmla="*/ 25 h 26"/>
                  <a:gd name="T20" fmla="*/ 9 w 31"/>
                  <a:gd name="T21" fmla="*/ 25 h 26"/>
                  <a:gd name="T22" fmla="*/ 12 w 31"/>
                  <a:gd name="T23" fmla="*/ 25 h 26"/>
                  <a:gd name="T24" fmla="*/ 15 w 31"/>
                  <a:gd name="T25" fmla="*/ 24 h 26"/>
                  <a:gd name="T26" fmla="*/ 16 w 31"/>
                  <a:gd name="T27" fmla="*/ 22 h 26"/>
                  <a:gd name="T28" fmla="*/ 16 w 31"/>
                  <a:gd name="T29" fmla="*/ 19 h 26"/>
                  <a:gd name="T30" fmla="*/ 17 w 31"/>
                  <a:gd name="T31" fmla="*/ 19 h 26"/>
                  <a:gd name="T32" fmla="*/ 21 w 31"/>
                  <a:gd name="T33" fmla="*/ 19 h 26"/>
                  <a:gd name="T34" fmla="*/ 23 w 31"/>
                  <a:gd name="T35" fmla="*/ 19 h 26"/>
                  <a:gd name="T36" fmla="*/ 26 w 31"/>
                  <a:gd name="T37" fmla="*/ 20 h 26"/>
                  <a:gd name="T38" fmla="*/ 26 w 31"/>
                  <a:gd name="T39" fmla="*/ 20 h 26"/>
                  <a:gd name="T40" fmla="*/ 30 w 31"/>
                  <a:gd name="T41" fmla="*/ 16 h 26"/>
                  <a:gd name="T42" fmla="*/ 30 w 31"/>
                  <a:gd name="T43" fmla="*/ 14 h 26"/>
                  <a:gd name="T44" fmla="*/ 29 w 31"/>
                  <a:gd name="T45" fmla="*/ 13 h 26"/>
                  <a:gd name="T46" fmla="*/ 29 w 31"/>
                  <a:gd name="T47" fmla="*/ 8 h 26"/>
                  <a:gd name="T48" fmla="*/ 24 w 31"/>
                  <a:gd name="T49" fmla="*/ 0 h 26"/>
                  <a:gd name="T50" fmla="*/ 23 w 31"/>
                  <a:gd name="T51" fmla="*/ 0 h 26"/>
                  <a:gd name="T52" fmla="*/ 20 w 31"/>
                  <a:gd name="T53" fmla="*/ 3 h 26"/>
                  <a:gd name="T54" fmla="*/ 16 w 31"/>
                  <a:gd name="T55" fmla="*/ 5 h 26"/>
                  <a:gd name="T56" fmla="*/ 14 w 31"/>
                  <a:gd name="T57" fmla="*/ 4 h 26"/>
                  <a:gd name="T58" fmla="*/ 11 w 31"/>
                  <a:gd name="T59" fmla="*/ 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1" h="26">
                    <a:moveTo>
                      <a:pt x="11" y="5"/>
                    </a:moveTo>
                    <a:cubicBezTo>
                      <a:pt x="11" y="5"/>
                      <a:pt x="10" y="5"/>
                      <a:pt x="10" y="5"/>
                    </a:cubicBezTo>
                    <a:cubicBezTo>
                      <a:pt x="9" y="6"/>
                      <a:pt x="7" y="8"/>
                      <a:pt x="6" y="8"/>
                    </a:cubicBezTo>
                    <a:cubicBezTo>
                      <a:pt x="6" y="9"/>
                      <a:pt x="5" y="9"/>
                      <a:pt x="5" y="10"/>
                    </a:cubicBezTo>
                    <a:cubicBezTo>
                      <a:pt x="6" y="11"/>
                      <a:pt x="6" y="17"/>
                      <a:pt x="1" y="20"/>
                    </a:cubicBezTo>
                    <a:cubicBezTo>
                      <a:pt x="1" y="20"/>
                      <a:pt x="0" y="21"/>
                      <a:pt x="1" y="21"/>
                    </a:cubicBezTo>
                    <a:cubicBezTo>
                      <a:pt x="1" y="21"/>
                      <a:pt x="2" y="23"/>
                      <a:pt x="3" y="24"/>
                    </a:cubicBezTo>
                    <a:cubicBezTo>
                      <a:pt x="3" y="23"/>
                      <a:pt x="4" y="22"/>
                      <a:pt x="5" y="23"/>
                    </a:cubicBezTo>
                    <a:cubicBezTo>
                      <a:pt x="6" y="23"/>
                      <a:pt x="7" y="23"/>
                      <a:pt x="7" y="23"/>
                    </a:cubicBezTo>
                    <a:cubicBezTo>
                      <a:pt x="7" y="23"/>
                      <a:pt x="8" y="24"/>
                      <a:pt x="8" y="25"/>
                    </a:cubicBezTo>
                    <a:cubicBezTo>
                      <a:pt x="8" y="25"/>
                      <a:pt x="9" y="25"/>
                      <a:pt x="9" y="25"/>
                    </a:cubicBezTo>
                    <a:cubicBezTo>
                      <a:pt x="10" y="25"/>
                      <a:pt x="11" y="26"/>
                      <a:pt x="12" y="25"/>
                    </a:cubicBezTo>
                    <a:cubicBezTo>
                      <a:pt x="14" y="24"/>
                      <a:pt x="15" y="24"/>
                      <a:pt x="15" y="24"/>
                    </a:cubicBezTo>
                    <a:cubicBezTo>
                      <a:pt x="15" y="24"/>
                      <a:pt x="16" y="23"/>
                      <a:pt x="16" y="22"/>
                    </a:cubicBezTo>
                    <a:cubicBezTo>
                      <a:pt x="16" y="21"/>
                      <a:pt x="16" y="19"/>
                      <a:pt x="16" y="19"/>
                    </a:cubicBezTo>
                    <a:cubicBezTo>
                      <a:pt x="16" y="19"/>
                      <a:pt x="16" y="18"/>
                      <a:pt x="17" y="19"/>
                    </a:cubicBezTo>
                    <a:cubicBezTo>
                      <a:pt x="19" y="20"/>
                      <a:pt x="20" y="20"/>
                      <a:pt x="21" y="19"/>
                    </a:cubicBezTo>
                    <a:cubicBezTo>
                      <a:pt x="22" y="19"/>
                      <a:pt x="23" y="18"/>
                      <a:pt x="23" y="19"/>
                    </a:cubicBezTo>
                    <a:cubicBezTo>
                      <a:pt x="24" y="19"/>
                      <a:pt x="25" y="20"/>
                      <a:pt x="26" y="20"/>
                    </a:cubicBezTo>
                    <a:cubicBezTo>
                      <a:pt x="26" y="20"/>
                      <a:pt x="26" y="20"/>
                      <a:pt x="26" y="20"/>
                    </a:cubicBezTo>
                    <a:cubicBezTo>
                      <a:pt x="29" y="19"/>
                      <a:pt x="30" y="17"/>
                      <a:pt x="30" y="16"/>
                    </a:cubicBezTo>
                    <a:cubicBezTo>
                      <a:pt x="31" y="16"/>
                      <a:pt x="30" y="15"/>
                      <a:pt x="30" y="14"/>
                    </a:cubicBezTo>
                    <a:cubicBezTo>
                      <a:pt x="30" y="14"/>
                      <a:pt x="29" y="13"/>
                      <a:pt x="29" y="13"/>
                    </a:cubicBezTo>
                    <a:cubicBezTo>
                      <a:pt x="29" y="8"/>
                      <a:pt x="29" y="8"/>
                      <a:pt x="29" y="8"/>
                    </a:cubicBezTo>
                    <a:cubicBezTo>
                      <a:pt x="24" y="0"/>
                      <a:pt x="24" y="0"/>
                      <a:pt x="24" y="0"/>
                    </a:cubicBezTo>
                    <a:cubicBezTo>
                      <a:pt x="24" y="0"/>
                      <a:pt x="23" y="0"/>
                      <a:pt x="23" y="0"/>
                    </a:cubicBezTo>
                    <a:cubicBezTo>
                      <a:pt x="22" y="1"/>
                      <a:pt x="21" y="2"/>
                      <a:pt x="20" y="3"/>
                    </a:cubicBezTo>
                    <a:cubicBezTo>
                      <a:pt x="19" y="4"/>
                      <a:pt x="16" y="6"/>
                      <a:pt x="16" y="5"/>
                    </a:cubicBezTo>
                    <a:cubicBezTo>
                      <a:pt x="15" y="4"/>
                      <a:pt x="15" y="4"/>
                      <a:pt x="14" y="4"/>
                    </a:cubicBezTo>
                    <a:cubicBezTo>
                      <a:pt x="14" y="4"/>
                      <a:pt x="12" y="4"/>
                      <a:pt x="11"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43" name="Freeform 954">
                <a:extLst>
                  <a:ext uri="{FF2B5EF4-FFF2-40B4-BE49-F238E27FC236}">
                    <a16:creationId xmlns:a16="http://schemas.microsoft.com/office/drawing/2014/main" id="{BB13664E-46D3-4915-9A05-860DFD90D4B1}"/>
                  </a:ext>
                </a:extLst>
              </p:cNvPr>
              <p:cNvSpPr>
                <a:spLocks/>
              </p:cNvSpPr>
              <p:nvPr/>
            </p:nvSpPr>
            <p:spPr bwMode="auto">
              <a:xfrm>
                <a:off x="4111" y="2596"/>
                <a:ext cx="110" cy="116"/>
              </a:xfrm>
              <a:custGeom>
                <a:avLst/>
                <a:gdLst>
                  <a:gd name="T0" fmla="*/ 19 w 80"/>
                  <a:gd name="T1" fmla="*/ 13 h 85"/>
                  <a:gd name="T2" fmla="*/ 18 w 80"/>
                  <a:gd name="T3" fmla="*/ 21 h 85"/>
                  <a:gd name="T4" fmla="*/ 19 w 80"/>
                  <a:gd name="T5" fmla="*/ 28 h 85"/>
                  <a:gd name="T6" fmla="*/ 21 w 80"/>
                  <a:gd name="T7" fmla="*/ 28 h 85"/>
                  <a:gd name="T8" fmla="*/ 25 w 80"/>
                  <a:gd name="T9" fmla="*/ 31 h 85"/>
                  <a:gd name="T10" fmla="*/ 15 w 80"/>
                  <a:gd name="T11" fmla="*/ 43 h 85"/>
                  <a:gd name="T12" fmla="*/ 6 w 80"/>
                  <a:gd name="T13" fmla="*/ 51 h 85"/>
                  <a:gd name="T14" fmla="*/ 2 w 80"/>
                  <a:gd name="T15" fmla="*/ 64 h 85"/>
                  <a:gd name="T16" fmla="*/ 0 w 80"/>
                  <a:gd name="T17" fmla="*/ 77 h 85"/>
                  <a:gd name="T18" fmla="*/ 0 w 80"/>
                  <a:gd name="T19" fmla="*/ 84 h 85"/>
                  <a:gd name="T20" fmla="*/ 5 w 80"/>
                  <a:gd name="T21" fmla="*/ 84 h 85"/>
                  <a:gd name="T22" fmla="*/ 12 w 80"/>
                  <a:gd name="T23" fmla="*/ 79 h 85"/>
                  <a:gd name="T24" fmla="*/ 13 w 80"/>
                  <a:gd name="T25" fmla="*/ 79 h 85"/>
                  <a:gd name="T26" fmla="*/ 26 w 80"/>
                  <a:gd name="T27" fmla="*/ 78 h 85"/>
                  <a:gd name="T28" fmla="*/ 33 w 80"/>
                  <a:gd name="T29" fmla="*/ 78 h 85"/>
                  <a:gd name="T30" fmla="*/ 36 w 80"/>
                  <a:gd name="T31" fmla="*/ 66 h 85"/>
                  <a:gd name="T32" fmla="*/ 43 w 80"/>
                  <a:gd name="T33" fmla="*/ 62 h 85"/>
                  <a:gd name="T34" fmla="*/ 46 w 80"/>
                  <a:gd name="T35" fmla="*/ 61 h 85"/>
                  <a:gd name="T36" fmla="*/ 54 w 80"/>
                  <a:gd name="T37" fmla="*/ 58 h 85"/>
                  <a:gd name="T38" fmla="*/ 58 w 80"/>
                  <a:gd name="T39" fmla="*/ 58 h 85"/>
                  <a:gd name="T40" fmla="*/ 61 w 80"/>
                  <a:gd name="T41" fmla="*/ 59 h 85"/>
                  <a:gd name="T42" fmla="*/ 66 w 80"/>
                  <a:gd name="T43" fmla="*/ 59 h 85"/>
                  <a:gd name="T44" fmla="*/ 70 w 80"/>
                  <a:gd name="T45" fmla="*/ 52 h 85"/>
                  <a:gd name="T46" fmla="*/ 73 w 80"/>
                  <a:gd name="T47" fmla="*/ 47 h 85"/>
                  <a:gd name="T48" fmla="*/ 75 w 80"/>
                  <a:gd name="T49" fmla="*/ 46 h 85"/>
                  <a:gd name="T50" fmla="*/ 77 w 80"/>
                  <a:gd name="T51" fmla="*/ 44 h 85"/>
                  <a:gd name="T52" fmla="*/ 80 w 80"/>
                  <a:gd name="T53" fmla="*/ 33 h 85"/>
                  <a:gd name="T54" fmla="*/ 79 w 80"/>
                  <a:gd name="T55" fmla="*/ 27 h 85"/>
                  <a:gd name="T56" fmla="*/ 74 w 80"/>
                  <a:gd name="T57" fmla="*/ 17 h 85"/>
                  <a:gd name="T58" fmla="*/ 69 w 80"/>
                  <a:gd name="T59" fmla="*/ 7 h 85"/>
                  <a:gd name="T60" fmla="*/ 59 w 80"/>
                  <a:gd name="T61" fmla="*/ 7 h 85"/>
                  <a:gd name="T62" fmla="*/ 52 w 80"/>
                  <a:gd name="T63" fmla="*/ 6 h 85"/>
                  <a:gd name="T64" fmla="*/ 39 w 80"/>
                  <a:gd name="T65" fmla="*/ 11 h 85"/>
                  <a:gd name="T66" fmla="*/ 36 w 80"/>
                  <a:gd name="T67" fmla="*/ 10 h 85"/>
                  <a:gd name="T68" fmla="*/ 33 w 80"/>
                  <a:gd name="T69" fmla="*/ 6 h 85"/>
                  <a:gd name="T70" fmla="*/ 30 w 80"/>
                  <a:gd name="T71" fmla="*/ 8 h 85"/>
                  <a:gd name="T72" fmla="*/ 24 w 80"/>
                  <a:gd name="T73" fmla="*/ 7 h 85"/>
                  <a:gd name="T74" fmla="*/ 19 w 80"/>
                  <a:gd name="T75" fmla="*/ 1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85">
                    <a:moveTo>
                      <a:pt x="19" y="11"/>
                    </a:moveTo>
                    <a:cubicBezTo>
                      <a:pt x="19" y="12"/>
                      <a:pt x="19" y="13"/>
                      <a:pt x="19" y="13"/>
                    </a:cubicBezTo>
                    <a:cubicBezTo>
                      <a:pt x="19" y="13"/>
                      <a:pt x="18" y="15"/>
                      <a:pt x="18" y="16"/>
                    </a:cubicBezTo>
                    <a:cubicBezTo>
                      <a:pt x="17" y="17"/>
                      <a:pt x="18" y="20"/>
                      <a:pt x="18" y="21"/>
                    </a:cubicBezTo>
                    <a:cubicBezTo>
                      <a:pt x="18" y="22"/>
                      <a:pt x="18" y="22"/>
                      <a:pt x="17" y="25"/>
                    </a:cubicBezTo>
                    <a:cubicBezTo>
                      <a:pt x="17" y="27"/>
                      <a:pt x="18" y="28"/>
                      <a:pt x="19" y="28"/>
                    </a:cubicBezTo>
                    <a:cubicBezTo>
                      <a:pt x="19" y="28"/>
                      <a:pt x="20" y="28"/>
                      <a:pt x="20" y="28"/>
                    </a:cubicBezTo>
                    <a:cubicBezTo>
                      <a:pt x="20" y="28"/>
                      <a:pt x="20" y="28"/>
                      <a:pt x="21" y="28"/>
                    </a:cubicBezTo>
                    <a:cubicBezTo>
                      <a:pt x="21" y="28"/>
                      <a:pt x="24" y="30"/>
                      <a:pt x="25" y="30"/>
                    </a:cubicBezTo>
                    <a:cubicBezTo>
                      <a:pt x="25" y="31"/>
                      <a:pt x="25" y="31"/>
                      <a:pt x="25" y="31"/>
                    </a:cubicBezTo>
                    <a:cubicBezTo>
                      <a:pt x="25" y="31"/>
                      <a:pt x="23" y="34"/>
                      <a:pt x="23" y="35"/>
                    </a:cubicBezTo>
                    <a:cubicBezTo>
                      <a:pt x="23" y="35"/>
                      <a:pt x="15" y="43"/>
                      <a:pt x="15" y="43"/>
                    </a:cubicBezTo>
                    <a:cubicBezTo>
                      <a:pt x="14" y="44"/>
                      <a:pt x="7" y="49"/>
                      <a:pt x="6" y="50"/>
                    </a:cubicBezTo>
                    <a:cubicBezTo>
                      <a:pt x="6" y="50"/>
                      <a:pt x="6" y="51"/>
                      <a:pt x="6" y="51"/>
                    </a:cubicBezTo>
                    <a:cubicBezTo>
                      <a:pt x="6" y="51"/>
                      <a:pt x="5" y="55"/>
                      <a:pt x="5" y="56"/>
                    </a:cubicBezTo>
                    <a:cubicBezTo>
                      <a:pt x="5" y="57"/>
                      <a:pt x="2" y="63"/>
                      <a:pt x="2" y="64"/>
                    </a:cubicBezTo>
                    <a:cubicBezTo>
                      <a:pt x="2" y="65"/>
                      <a:pt x="1" y="69"/>
                      <a:pt x="1" y="70"/>
                    </a:cubicBezTo>
                    <a:cubicBezTo>
                      <a:pt x="1" y="71"/>
                      <a:pt x="0" y="76"/>
                      <a:pt x="0" y="77"/>
                    </a:cubicBezTo>
                    <a:cubicBezTo>
                      <a:pt x="0" y="78"/>
                      <a:pt x="0" y="79"/>
                      <a:pt x="0" y="79"/>
                    </a:cubicBezTo>
                    <a:cubicBezTo>
                      <a:pt x="0" y="84"/>
                      <a:pt x="0" y="84"/>
                      <a:pt x="0" y="84"/>
                    </a:cubicBezTo>
                    <a:cubicBezTo>
                      <a:pt x="1" y="83"/>
                      <a:pt x="3" y="83"/>
                      <a:pt x="3" y="83"/>
                    </a:cubicBezTo>
                    <a:cubicBezTo>
                      <a:pt x="4" y="83"/>
                      <a:pt x="4" y="83"/>
                      <a:pt x="5" y="84"/>
                    </a:cubicBezTo>
                    <a:cubicBezTo>
                      <a:pt x="5" y="85"/>
                      <a:pt x="8" y="83"/>
                      <a:pt x="9" y="82"/>
                    </a:cubicBezTo>
                    <a:cubicBezTo>
                      <a:pt x="10" y="81"/>
                      <a:pt x="11" y="80"/>
                      <a:pt x="12" y="79"/>
                    </a:cubicBezTo>
                    <a:cubicBezTo>
                      <a:pt x="12" y="79"/>
                      <a:pt x="13" y="79"/>
                      <a:pt x="13" y="79"/>
                    </a:cubicBezTo>
                    <a:cubicBezTo>
                      <a:pt x="13" y="79"/>
                      <a:pt x="13" y="79"/>
                      <a:pt x="13" y="79"/>
                    </a:cubicBezTo>
                    <a:cubicBezTo>
                      <a:pt x="13" y="79"/>
                      <a:pt x="22" y="78"/>
                      <a:pt x="23" y="78"/>
                    </a:cubicBezTo>
                    <a:cubicBezTo>
                      <a:pt x="23" y="78"/>
                      <a:pt x="26" y="78"/>
                      <a:pt x="26" y="78"/>
                    </a:cubicBezTo>
                    <a:cubicBezTo>
                      <a:pt x="33" y="78"/>
                      <a:pt x="33" y="78"/>
                      <a:pt x="33" y="78"/>
                    </a:cubicBezTo>
                    <a:cubicBezTo>
                      <a:pt x="33" y="78"/>
                      <a:pt x="33" y="78"/>
                      <a:pt x="33" y="78"/>
                    </a:cubicBezTo>
                    <a:cubicBezTo>
                      <a:pt x="33" y="76"/>
                      <a:pt x="32" y="74"/>
                      <a:pt x="33" y="73"/>
                    </a:cubicBezTo>
                    <a:cubicBezTo>
                      <a:pt x="34" y="72"/>
                      <a:pt x="37" y="68"/>
                      <a:pt x="36" y="66"/>
                    </a:cubicBezTo>
                    <a:cubicBezTo>
                      <a:pt x="36" y="66"/>
                      <a:pt x="34" y="64"/>
                      <a:pt x="37" y="63"/>
                    </a:cubicBezTo>
                    <a:cubicBezTo>
                      <a:pt x="39" y="63"/>
                      <a:pt x="41" y="62"/>
                      <a:pt x="43" y="62"/>
                    </a:cubicBezTo>
                    <a:cubicBezTo>
                      <a:pt x="44" y="62"/>
                      <a:pt x="45" y="62"/>
                      <a:pt x="45" y="61"/>
                    </a:cubicBezTo>
                    <a:cubicBezTo>
                      <a:pt x="45" y="60"/>
                      <a:pt x="45" y="58"/>
                      <a:pt x="46" y="61"/>
                    </a:cubicBezTo>
                    <a:cubicBezTo>
                      <a:pt x="47" y="63"/>
                      <a:pt x="48" y="62"/>
                      <a:pt x="50" y="61"/>
                    </a:cubicBezTo>
                    <a:cubicBezTo>
                      <a:pt x="52" y="60"/>
                      <a:pt x="54" y="58"/>
                      <a:pt x="54" y="58"/>
                    </a:cubicBezTo>
                    <a:cubicBezTo>
                      <a:pt x="54" y="57"/>
                      <a:pt x="54" y="56"/>
                      <a:pt x="56" y="57"/>
                    </a:cubicBezTo>
                    <a:cubicBezTo>
                      <a:pt x="57" y="57"/>
                      <a:pt x="57" y="57"/>
                      <a:pt x="58" y="58"/>
                    </a:cubicBezTo>
                    <a:cubicBezTo>
                      <a:pt x="59" y="59"/>
                      <a:pt x="59" y="61"/>
                      <a:pt x="60" y="60"/>
                    </a:cubicBezTo>
                    <a:cubicBezTo>
                      <a:pt x="61" y="59"/>
                      <a:pt x="61" y="58"/>
                      <a:pt x="61" y="59"/>
                    </a:cubicBezTo>
                    <a:cubicBezTo>
                      <a:pt x="62" y="60"/>
                      <a:pt x="63" y="61"/>
                      <a:pt x="64" y="60"/>
                    </a:cubicBezTo>
                    <a:cubicBezTo>
                      <a:pt x="65" y="60"/>
                      <a:pt x="65" y="59"/>
                      <a:pt x="66" y="59"/>
                    </a:cubicBezTo>
                    <a:cubicBezTo>
                      <a:pt x="66" y="58"/>
                      <a:pt x="67" y="56"/>
                      <a:pt x="67" y="55"/>
                    </a:cubicBezTo>
                    <a:cubicBezTo>
                      <a:pt x="68" y="55"/>
                      <a:pt x="69" y="53"/>
                      <a:pt x="70" y="52"/>
                    </a:cubicBezTo>
                    <a:cubicBezTo>
                      <a:pt x="71" y="52"/>
                      <a:pt x="71" y="51"/>
                      <a:pt x="71" y="51"/>
                    </a:cubicBezTo>
                    <a:cubicBezTo>
                      <a:pt x="71" y="50"/>
                      <a:pt x="73" y="48"/>
                      <a:pt x="73" y="47"/>
                    </a:cubicBezTo>
                    <a:cubicBezTo>
                      <a:pt x="73" y="47"/>
                      <a:pt x="74" y="47"/>
                      <a:pt x="74" y="47"/>
                    </a:cubicBezTo>
                    <a:cubicBezTo>
                      <a:pt x="74" y="47"/>
                      <a:pt x="74" y="46"/>
                      <a:pt x="75" y="46"/>
                    </a:cubicBezTo>
                    <a:cubicBezTo>
                      <a:pt x="75" y="45"/>
                      <a:pt x="75" y="46"/>
                      <a:pt x="76" y="46"/>
                    </a:cubicBezTo>
                    <a:cubicBezTo>
                      <a:pt x="77" y="45"/>
                      <a:pt x="77" y="44"/>
                      <a:pt x="77" y="44"/>
                    </a:cubicBezTo>
                    <a:cubicBezTo>
                      <a:pt x="77" y="44"/>
                      <a:pt x="80" y="36"/>
                      <a:pt x="80" y="35"/>
                    </a:cubicBezTo>
                    <a:cubicBezTo>
                      <a:pt x="80" y="34"/>
                      <a:pt x="80" y="33"/>
                      <a:pt x="80" y="33"/>
                    </a:cubicBezTo>
                    <a:cubicBezTo>
                      <a:pt x="80" y="33"/>
                      <a:pt x="80" y="31"/>
                      <a:pt x="80" y="30"/>
                    </a:cubicBezTo>
                    <a:cubicBezTo>
                      <a:pt x="79" y="29"/>
                      <a:pt x="79" y="28"/>
                      <a:pt x="79" y="27"/>
                    </a:cubicBezTo>
                    <a:cubicBezTo>
                      <a:pt x="80" y="26"/>
                      <a:pt x="79" y="25"/>
                      <a:pt x="79" y="25"/>
                    </a:cubicBezTo>
                    <a:cubicBezTo>
                      <a:pt x="79" y="25"/>
                      <a:pt x="75" y="18"/>
                      <a:pt x="74" y="17"/>
                    </a:cubicBezTo>
                    <a:cubicBezTo>
                      <a:pt x="74" y="16"/>
                      <a:pt x="73" y="11"/>
                      <a:pt x="73" y="10"/>
                    </a:cubicBezTo>
                    <a:cubicBezTo>
                      <a:pt x="73" y="8"/>
                      <a:pt x="72" y="8"/>
                      <a:pt x="69" y="7"/>
                    </a:cubicBezTo>
                    <a:cubicBezTo>
                      <a:pt x="68" y="7"/>
                      <a:pt x="66" y="3"/>
                      <a:pt x="65" y="0"/>
                    </a:cubicBezTo>
                    <a:cubicBezTo>
                      <a:pt x="62" y="4"/>
                      <a:pt x="59" y="7"/>
                      <a:pt x="59" y="7"/>
                    </a:cubicBezTo>
                    <a:cubicBezTo>
                      <a:pt x="58" y="8"/>
                      <a:pt x="56" y="7"/>
                      <a:pt x="55" y="7"/>
                    </a:cubicBezTo>
                    <a:cubicBezTo>
                      <a:pt x="54" y="7"/>
                      <a:pt x="53" y="7"/>
                      <a:pt x="52" y="6"/>
                    </a:cubicBezTo>
                    <a:cubicBezTo>
                      <a:pt x="51" y="5"/>
                      <a:pt x="50" y="5"/>
                      <a:pt x="50" y="5"/>
                    </a:cubicBezTo>
                    <a:cubicBezTo>
                      <a:pt x="44" y="5"/>
                      <a:pt x="39" y="10"/>
                      <a:pt x="39" y="11"/>
                    </a:cubicBezTo>
                    <a:cubicBezTo>
                      <a:pt x="38" y="11"/>
                      <a:pt x="37" y="10"/>
                      <a:pt x="37" y="10"/>
                    </a:cubicBezTo>
                    <a:cubicBezTo>
                      <a:pt x="37" y="10"/>
                      <a:pt x="36" y="10"/>
                      <a:pt x="36" y="10"/>
                    </a:cubicBezTo>
                    <a:cubicBezTo>
                      <a:pt x="35" y="10"/>
                      <a:pt x="35" y="9"/>
                      <a:pt x="35" y="9"/>
                    </a:cubicBezTo>
                    <a:cubicBezTo>
                      <a:pt x="35" y="9"/>
                      <a:pt x="33" y="7"/>
                      <a:pt x="33" y="6"/>
                    </a:cubicBezTo>
                    <a:cubicBezTo>
                      <a:pt x="33" y="6"/>
                      <a:pt x="32" y="7"/>
                      <a:pt x="32" y="7"/>
                    </a:cubicBezTo>
                    <a:cubicBezTo>
                      <a:pt x="32" y="7"/>
                      <a:pt x="30" y="8"/>
                      <a:pt x="30" y="8"/>
                    </a:cubicBezTo>
                    <a:cubicBezTo>
                      <a:pt x="29" y="9"/>
                      <a:pt x="29" y="9"/>
                      <a:pt x="29" y="9"/>
                    </a:cubicBezTo>
                    <a:cubicBezTo>
                      <a:pt x="29" y="9"/>
                      <a:pt x="24" y="7"/>
                      <a:pt x="24" y="7"/>
                    </a:cubicBezTo>
                    <a:cubicBezTo>
                      <a:pt x="23" y="7"/>
                      <a:pt x="22" y="7"/>
                      <a:pt x="22" y="7"/>
                    </a:cubicBezTo>
                    <a:cubicBezTo>
                      <a:pt x="22" y="7"/>
                      <a:pt x="20" y="10"/>
                      <a:pt x="19" y="11"/>
                    </a:cubicBezTo>
                    <a:cubicBezTo>
                      <a:pt x="19" y="11"/>
                      <a:pt x="19" y="11"/>
                      <a:pt x="19"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44" name="Freeform 955">
                <a:extLst>
                  <a:ext uri="{FF2B5EF4-FFF2-40B4-BE49-F238E27FC236}">
                    <a16:creationId xmlns:a16="http://schemas.microsoft.com/office/drawing/2014/main" id="{C71CDB3A-1CB9-45C9-AB98-CD8324E3B06A}"/>
                  </a:ext>
                </a:extLst>
              </p:cNvPr>
              <p:cNvSpPr>
                <a:spLocks/>
              </p:cNvSpPr>
              <p:nvPr/>
            </p:nvSpPr>
            <p:spPr bwMode="auto">
              <a:xfrm>
                <a:off x="4201" y="2587"/>
                <a:ext cx="163" cy="191"/>
              </a:xfrm>
              <a:custGeom>
                <a:avLst/>
                <a:gdLst>
                  <a:gd name="T0" fmla="*/ 104 w 118"/>
                  <a:gd name="T1" fmla="*/ 81 h 139"/>
                  <a:gd name="T2" fmla="*/ 106 w 118"/>
                  <a:gd name="T3" fmla="*/ 25 h 139"/>
                  <a:gd name="T4" fmla="*/ 118 w 118"/>
                  <a:gd name="T5" fmla="*/ 10 h 139"/>
                  <a:gd name="T6" fmla="*/ 102 w 118"/>
                  <a:gd name="T7" fmla="*/ 6 h 139"/>
                  <a:gd name="T8" fmla="*/ 98 w 118"/>
                  <a:gd name="T9" fmla="*/ 7 h 139"/>
                  <a:gd name="T10" fmla="*/ 86 w 118"/>
                  <a:gd name="T11" fmla="*/ 14 h 139"/>
                  <a:gd name="T12" fmla="*/ 81 w 118"/>
                  <a:gd name="T13" fmla="*/ 18 h 139"/>
                  <a:gd name="T14" fmla="*/ 63 w 118"/>
                  <a:gd name="T15" fmla="*/ 15 h 139"/>
                  <a:gd name="T16" fmla="*/ 54 w 118"/>
                  <a:gd name="T17" fmla="*/ 10 h 139"/>
                  <a:gd name="T18" fmla="*/ 40 w 118"/>
                  <a:gd name="T19" fmla="*/ 3 h 139"/>
                  <a:gd name="T20" fmla="*/ 31 w 118"/>
                  <a:gd name="T21" fmla="*/ 2 h 139"/>
                  <a:gd name="T22" fmla="*/ 7 w 118"/>
                  <a:gd name="T23" fmla="*/ 0 h 139"/>
                  <a:gd name="T24" fmla="*/ 0 w 118"/>
                  <a:gd name="T25" fmla="*/ 6 h 139"/>
                  <a:gd name="T26" fmla="*/ 8 w 118"/>
                  <a:gd name="T27" fmla="*/ 16 h 139"/>
                  <a:gd name="T28" fmla="*/ 14 w 118"/>
                  <a:gd name="T29" fmla="*/ 31 h 139"/>
                  <a:gd name="T30" fmla="*/ 15 w 118"/>
                  <a:gd name="T31" fmla="*/ 36 h 139"/>
                  <a:gd name="T32" fmla="*/ 15 w 118"/>
                  <a:gd name="T33" fmla="*/ 41 h 139"/>
                  <a:gd name="T34" fmla="*/ 11 w 118"/>
                  <a:gd name="T35" fmla="*/ 52 h 139"/>
                  <a:gd name="T36" fmla="*/ 9 w 118"/>
                  <a:gd name="T37" fmla="*/ 53 h 139"/>
                  <a:gd name="T38" fmla="*/ 6 w 118"/>
                  <a:gd name="T39" fmla="*/ 57 h 139"/>
                  <a:gd name="T40" fmla="*/ 2 w 118"/>
                  <a:gd name="T41" fmla="*/ 61 h 139"/>
                  <a:gd name="T42" fmla="*/ 1 w 118"/>
                  <a:gd name="T43" fmla="*/ 66 h 139"/>
                  <a:gd name="T44" fmla="*/ 5 w 118"/>
                  <a:gd name="T45" fmla="*/ 74 h 139"/>
                  <a:gd name="T46" fmla="*/ 11 w 118"/>
                  <a:gd name="T47" fmla="*/ 71 h 139"/>
                  <a:gd name="T48" fmla="*/ 11 w 118"/>
                  <a:gd name="T49" fmla="*/ 74 h 139"/>
                  <a:gd name="T50" fmla="*/ 7 w 118"/>
                  <a:gd name="T51" fmla="*/ 76 h 139"/>
                  <a:gd name="T52" fmla="*/ 4 w 118"/>
                  <a:gd name="T53" fmla="*/ 76 h 139"/>
                  <a:gd name="T54" fmla="*/ 3 w 118"/>
                  <a:gd name="T55" fmla="*/ 83 h 139"/>
                  <a:gd name="T56" fmla="*/ 2 w 118"/>
                  <a:gd name="T57" fmla="*/ 85 h 139"/>
                  <a:gd name="T58" fmla="*/ 49 w 118"/>
                  <a:gd name="T59" fmla="*/ 111 h 139"/>
                  <a:gd name="T60" fmla="*/ 55 w 118"/>
                  <a:gd name="T61" fmla="*/ 117 h 139"/>
                  <a:gd name="T62" fmla="*/ 56 w 118"/>
                  <a:gd name="T63" fmla="*/ 123 h 139"/>
                  <a:gd name="T64" fmla="*/ 80 w 118"/>
                  <a:gd name="T65" fmla="*/ 138 h 139"/>
                  <a:gd name="T66" fmla="*/ 84 w 118"/>
                  <a:gd name="T67" fmla="*/ 129 h 139"/>
                  <a:gd name="T68" fmla="*/ 87 w 118"/>
                  <a:gd name="T69" fmla="*/ 124 h 139"/>
                  <a:gd name="T70" fmla="*/ 93 w 118"/>
                  <a:gd name="T71" fmla="*/ 113 h 139"/>
                  <a:gd name="T72" fmla="*/ 100 w 118"/>
                  <a:gd name="T73" fmla="*/ 104 h 139"/>
                  <a:gd name="T74" fmla="*/ 104 w 118"/>
                  <a:gd name="T75" fmla="*/ 102 h 139"/>
                  <a:gd name="T76" fmla="*/ 104 w 118"/>
                  <a:gd name="T77" fmla="*/ 98 h 139"/>
                  <a:gd name="T78" fmla="*/ 112 w 118"/>
                  <a:gd name="T79" fmla="*/ 94 h 139"/>
                  <a:gd name="T80" fmla="*/ 105 w 118"/>
                  <a:gd name="T81" fmla="*/ 8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8" h="139">
                    <a:moveTo>
                      <a:pt x="105" y="83"/>
                    </a:moveTo>
                    <a:cubicBezTo>
                      <a:pt x="104" y="82"/>
                      <a:pt x="104" y="81"/>
                      <a:pt x="104" y="81"/>
                    </a:cubicBezTo>
                    <a:cubicBezTo>
                      <a:pt x="104" y="81"/>
                      <a:pt x="104" y="30"/>
                      <a:pt x="104" y="29"/>
                    </a:cubicBezTo>
                    <a:cubicBezTo>
                      <a:pt x="104" y="27"/>
                      <a:pt x="105" y="25"/>
                      <a:pt x="106" y="25"/>
                    </a:cubicBezTo>
                    <a:cubicBezTo>
                      <a:pt x="106" y="24"/>
                      <a:pt x="108" y="23"/>
                      <a:pt x="108" y="23"/>
                    </a:cubicBezTo>
                    <a:cubicBezTo>
                      <a:pt x="108" y="23"/>
                      <a:pt x="115" y="14"/>
                      <a:pt x="118" y="10"/>
                    </a:cubicBezTo>
                    <a:cubicBezTo>
                      <a:pt x="116" y="10"/>
                      <a:pt x="111" y="10"/>
                      <a:pt x="109" y="10"/>
                    </a:cubicBezTo>
                    <a:cubicBezTo>
                      <a:pt x="106" y="11"/>
                      <a:pt x="102" y="6"/>
                      <a:pt x="102" y="6"/>
                    </a:cubicBezTo>
                    <a:cubicBezTo>
                      <a:pt x="101" y="5"/>
                      <a:pt x="100" y="6"/>
                      <a:pt x="100" y="6"/>
                    </a:cubicBezTo>
                    <a:cubicBezTo>
                      <a:pt x="100" y="6"/>
                      <a:pt x="99" y="6"/>
                      <a:pt x="98" y="7"/>
                    </a:cubicBezTo>
                    <a:cubicBezTo>
                      <a:pt x="96" y="8"/>
                      <a:pt x="92" y="9"/>
                      <a:pt x="90" y="10"/>
                    </a:cubicBezTo>
                    <a:cubicBezTo>
                      <a:pt x="88" y="11"/>
                      <a:pt x="87" y="12"/>
                      <a:pt x="86" y="14"/>
                    </a:cubicBezTo>
                    <a:cubicBezTo>
                      <a:pt x="85" y="15"/>
                      <a:pt x="84" y="18"/>
                      <a:pt x="83" y="18"/>
                    </a:cubicBezTo>
                    <a:cubicBezTo>
                      <a:pt x="83" y="19"/>
                      <a:pt x="82" y="18"/>
                      <a:pt x="81" y="18"/>
                    </a:cubicBezTo>
                    <a:cubicBezTo>
                      <a:pt x="80" y="17"/>
                      <a:pt x="77" y="17"/>
                      <a:pt x="76" y="17"/>
                    </a:cubicBezTo>
                    <a:cubicBezTo>
                      <a:pt x="74" y="17"/>
                      <a:pt x="65" y="16"/>
                      <a:pt x="63" y="15"/>
                    </a:cubicBezTo>
                    <a:cubicBezTo>
                      <a:pt x="62" y="15"/>
                      <a:pt x="60" y="14"/>
                      <a:pt x="59" y="13"/>
                    </a:cubicBezTo>
                    <a:cubicBezTo>
                      <a:pt x="59" y="13"/>
                      <a:pt x="55" y="10"/>
                      <a:pt x="54" y="10"/>
                    </a:cubicBezTo>
                    <a:cubicBezTo>
                      <a:pt x="53" y="9"/>
                      <a:pt x="42" y="4"/>
                      <a:pt x="42" y="3"/>
                    </a:cubicBezTo>
                    <a:cubicBezTo>
                      <a:pt x="41" y="3"/>
                      <a:pt x="40" y="3"/>
                      <a:pt x="40" y="3"/>
                    </a:cubicBezTo>
                    <a:cubicBezTo>
                      <a:pt x="40" y="3"/>
                      <a:pt x="32" y="3"/>
                      <a:pt x="31" y="3"/>
                    </a:cubicBezTo>
                    <a:cubicBezTo>
                      <a:pt x="31" y="3"/>
                      <a:pt x="31" y="2"/>
                      <a:pt x="31" y="2"/>
                    </a:cubicBezTo>
                    <a:cubicBezTo>
                      <a:pt x="30" y="2"/>
                      <a:pt x="30" y="1"/>
                      <a:pt x="29" y="0"/>
                    </a:cubicBezTo>
                    <a:cubicBezTo>
                      <a:pt x="23" y="0"/>
                      <a:pt x="7" y="0"/>
                      <a:pt x="7" y="0"/>
                    </a:cubicBezTo>
                    <a:cubicBezTo>
                      <a:pt x="6" y="0"/>
                      <a:pt x="6" y="1"/>
                      <a:pt x="6" y="1"/>
                    </a:cubicBezTo>
                    <a:cubicBezTo>
                      <a:pt x="6" y="1"/>
                      <a:pt x="3" y="4"/>
                      <a:pt x="0" y="6"/>
                    </a:cubicBezTo>
                    <a:cubicBezTo>
                      <a:pt x="1" y="9"/>
                      <a:pt x="3" y="13"/>
                      <a:pt x="4" y="13"/>
                    </a:cubicBezTo>
                    <a:cubicBezTo>
                      <a:pt x="7" y="14"/>
                      <a:pt x="8" y="14"/>
                      <a:pt x="8" y="16"/>
                    </a:cubicBezTo>
                    <a:cubicBezTo>
                      <a:pt x="8" y="17"/>
                      <a:pt x="9" y="22"/>
                      <a:pt x="9" y="23"/>
                    </a:cubicBezTo>
                    <a:cubicBezTo>
                      <a:pt x="10" y="24"/>
                      <a:pt x="14" y="31"/>
                      <a:pt x="14" y="31"/>
                    </a:cubicBezTo>
                    <a:cubicBezTo>
                      <a:pt x="14" y="31"/>
                      <a:pt x="15" y="32"/>
                      <a:pt x="14" y="33"/>
                    </a:cubicBezTo>
                    <a:cubicBezTo>
                      <a:pt x="14" y="34"/>
                      <a:pt x="14" y="35"/>
                      <a:pt x="15" y="36"/>
                    </a:cubicBezTo>
                    <a:cubicBezTo>
                      <a:pt x="15" y="37"/>
                      <a:pt x="15" y="39"/>
                      <a:pt x="15" y="39"/>
                    </a:cubicBezTo>
                    <a:cubicBezTo>
                      <a:pt x="15" y="39"/>
                      <a:pt x="15" y="40"/>
                      <a:pt x="15" y="41"/>
                    </a:cubicBezTo>
                    <a:cubicBezTo>
                      <a:pt x="15" y="42"/>
                      <a:pt x="12" y="50"/>
                      <a:pt x="12" y="50"/>
                    </a:cubicBezTo>
                    <a:cubicBezTo>
                      <a:pt x="12" y="50"/>
                      <a:pt x="12" y="51"/>
                      <a:pt x="11" y="52"/>
                    </a:cubicBezTo>
                    <a:cubicBezTo>
                      <a:pt x="10" y="52"/>
                      <a:pt x="10" y="51"/>
                      <a:pt x="10" y="52"/>
                    </a:cubicBezTo>
                    <a:cubicBezTo>
                      <a:pt x="9" y="52"/>
                      <a:pt x="9" y="53"/>
                      <a:pt x="9" y="53"/>
                    </a:cubicBezTo>
                    <a:cubicBezTo>
                      <a:pt x="9" y="53"/>
                      <a:pt x="8" y="53"/>
                      <a:pt x="8" y="53"/>
                    </a:cubicBezTo>
                    <a:cubicBezTo>
                      <a:pt x="8" y="54"/>
                      <a:pt x="6" y="56"/>
                      <a:pt x="6" y="57"/>
                    </a:cubicBezTo>
                    <a:cubicBezTo>
                      <a:pt x="6" y="57"/>
                      <a:pt x="6" y="58"/>
                      <a:pt x="5" y="58"/>
                    </a:cubicBezTo>
                    <a:cubicBezTo>
                      <a:pt x="4" y="59"/>
                      <a:pt x="3" y="61"/>
                      <a:pt x="2" y="61"/>
                    </a:cubicBezTo>
                    <a:cubicBezTo>
                      <a:pt x="2" y="62"/>
                      <a:pt x="1" y="64"/>
                      <a:pt x="1" y="65"/>
                    </a:cubicBezTo>
                    <a:cubicBezTo>
                      <a:pt x="1" y="66"/>
                      <a:pt x="1" y="66"/>
                      <a:pt x="1" y="66"/>
                    </a:cubicBezTo>
                    <a:cubicBezTo>
                      <a:pt x="1" y="68"/>
                      <a:pt x="1" y="70"/>
                      <a:pt x="2" y="71"/>
                    </a:cubicBezTo>
                    <a:cubicBezTo>
                      <a:pt x="4" y="72"/>
                      <a:pt x="5" y="75"/>
                      <a:pt x="5" y="74"/>
                    </a:cubicBezTo>
                    <a:cubicBezTo>
                      <a:pt x="6" y="73"/>
                      <a:pt x="6" y="72"/>
                      <a:pt x="7" y="72"/>
                    </a:cubicBezTo>
                    <a:cubicBezTo>
                      <a:pt x="8" y="71"/>
                      <a:pt x="11" y="71"/>
                      <a:pt x="11" y="71"/>
                    </a:cubicBezTo>
                    <a:cubicBezTo>
                      <a:pt x="12" y="71"/>
                      <a:pt x="14" y="73"/>
                      <a:pt x="13" y="73"/>
                    </a:cubicBezTo>
                    <a:cubicBezTo>
                      <a:pt x="12" y="73"/>
                      <a:pt x="12" y="74"/>
                      <a:pt x="11" y="74"/>
                    </a:cubicBezTo>
                    <a:cubicBezTo>
                      <a:pt x="11" y="74"/>
                      <a:pt x="8" y="73"/>
                      <a:pt x="8" y="74"/>
                    </a:cubicBezTo>
                    <a:cubicBezTo>
                      <a:pt x="9" y="76"/>
                      <a:pt x="8" y="77"/>
                      <a:pt x="7" y="76"/>
                    </a:cubicBezTo>
                    <a:cubicBezTo>
                      <a:pt x="6" y="76"/>
                      <a:pt x="6" y="76"/>
                      <a:pt x="5" y="76"/>
                    </a:cubicBezTo>
                    <a:cubicBezTo>
                      <a:pt x="5" y="76"/>
                      <a:pt x="4" y="75"/>
                      <a:pt x="4" y="76"/>
                    </a:cubicBezTo>
                    <a:cubicBezTo>
                      <a:pt x="3" y="77"/>
                      <a:pt x="1" y="79"/>
                      <a:pt x="2" y="80"/>
                    </a:cubicBezTo>
                    <a:cubicBezTo>
                      <a:pt x="3" y="81"/>
                      <a:pt x="4" y="82"/>
                      <a:pt x="3" y="83"/>
                    </a:cubicBezTo>
                    <a:cubicBezTo>
                      <a:pt x="2" y="83"/>
                      <a:pt x="2" y="84"/>
                      <a:pt x="1" y="84"/>
                    </a:cubicBezTo>
                    <a:cubicBezTo>
                      <a:pt x="2" y="85"/>
                      <a:pt x="2" y="85"/>
                      <a:pt x="2" y="85"/>
                    </a:cubicBezTo>
                    <a:cubicBezTo>
                      <a:pt x="2" y="85"/>
                      <a:pt x="46" y="109"/>
                      <a:pt x="47" y="110"/>
                    </a:cubicBezTo>
                    <a:cubicBezTo>
                      <a:pt x="48" y="110"/>
                      <a:pt x="49" y="111"/>
                      <a:pt x="49" y="111"/>
                    </a:cubicBezTo>
                    <a:cubicBezTo>
                      <a:pt x="49" y="111"/>
                      <a:pt x="54" y="115"/>
                      <a:pt x="55" y="116"/>
                    </a:cubicBezTo>
                    <a:cubicBezTo>
                      <a:pt x="55" y="116"/>
                      <a:pt x="55" y="117"/>
                      <a:pt x="55" y="117"/>
                    </a:cubicBezTo>
                    <a:cubicBezTo>
                      <a:pt x="55" y="118"/>
                      <a:pt x="55" y="118"/>
                      <a:pt x="55" y="118"/>
                    </a:cubicBezTo>
                    <a:cubicBezTo>
                      <a:pt x="54" y="122"/>
                      <a:pt x="56" y="123"/>
                      <a:pt x="56" y="123"/>
                    </a:cubicBezTo>
                    <a:cubicBezTo>
                      <a:pt x="79" y="139"/>
                      <a:pt x="79" y="139"/>
                      <a:pt x="79" y="139"/>
                    </a:cubicBezTo>
                    <a:cubicBezTo>
                      <a:pt x="79" y="138"/>
                      <a:pt x="79" y="138"/>
                      <a:pt x="80" y="138"/>
                    </a:cubicBezTo>
                    <a:cubicBezTo>
                      <a:pt x="82" y="136"/>
                      <a:pt x="84" y="133"/>
                      <a:pt x="84" y="132"/>
                    </a:cubicBezTo>
                    <a:cubicBezTo>
                      <a:pt x="85" y="131"/>
                      <a:pt x="85" y="130"/>
                      <a:pt x="84" y="129"/>
                    </a:cubicBezTo>
                    <a:cubicBezTo>
                      <a:pt x="84" y="129"/>
                      <a:pt x="84" y="128"/>
                      <a:pt x="85" y="128"/>
                    </a:cubicBezTo>
                    <a:cubicBezTo>
                      <a:pt x="86" y="128"/>
                      <a:pt x="88" y="126"/>
                      <a:pt x="87" y="124"/>
                    </a:cubicBezTo>
                    <a:cubicBezTo>
                      <a:pt x="87" y="122"/>
                      <a:pt x="86" y="121"/>
                      <a:pt x="88" y="120"/>
                    </a:cubicBezTo>
                    <a:cubicBezTo>
                      <a:pt x="89" y="119"/>
                      <a:pt x="93" y="116"/>
                      <a:pt x="93" y="113"/>
                    </a:cubicBezTo>
                    <a:cubicBezTo>
                      <a:pt x="93" y="109"/>
                      <a:pt x="95" y="108"/>
                      <a:pt x="97" y="107"/>
                    </a:cubicBezTo>
                    <a:cubicBezTo>
                      <a:pt x="99" y="106"/>
                      <a:pt x="100" y="104"/>
                      <a:pt x="100" y="104"/>
                    </a:cubicBezTo>
                    <a:cubicBezTo>
                      <a:pt x="101" y="104"/>
                      <a:pt x="102" y="102"/>
                      <a:pt x="103" y="102"/>
                    </a:cubicBezTo>
                    <a:cubicBezTo>
                      <a:pt x="104" y="103"/>
                      <a:pt x="104" y="102"/>
                      <a:pt x="104" y="102"/>
                    </a:cubicBezTo>
                    <a:cubicBezTo>
                      <a:pt x="104" y="101"/>
                      <a:pt x="103" y="99"/>
                      <a:pt x="103" y="99"/>
                    </a:cubicBezTo>
                    <a:cubicBezTo>
                      <a:pt x="104" y="98"/>
                      <a:pt x="104" y="98"/>
                      <a:pt x="104" y="98"/>
                    </a:cubicBezTo>
                    <a:cubicBezTo>
                      <a:pt x="104" y="99"/>
                      <a:pt x="105" y="99"/>
                      <a:pt x="106" y="99"/>
                    </a:cubicBezTo>
                    <a:cubicBezTo>
                      <a:pt x="107" y="98"/>
                      <a:pt x="110" y="97"/>
                      <a:pt x="112" y="94"/>
                    </a:cubicBezTo>
                    <a:cubicBezTo>
                      <a:pt x="111" y="92"/>
                      <a:pt x="109" y="89"/>
                      <a:pt x="109" y="88"/>
                    </a:cubicBezTo>
                    <a:cubicBezTo>
                      <a:pt x="108" y="87"/>
                      <a:pt x="106" y="84"/>
                      <a:pt x="105" y="8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45" name="Freeform 956">
                <a:extLst>
                  <a:ext uri="{FF2B5EF4-FFF2-40B4-BE49-F238E27FC236}">
                    <a16:creationId xmlns:a16="http://schemas.microsoft.com/office/drawing/2014/main" id="{D55E44A1-6666-45CA-BCEE-B3A1F279FA7B}"/>
                  </a:ext>
                </a:extLst>
              </p:cNvPr>
              <p:cNvSpPr>
                <a:spLocks/>
              </p:cNvSpPr>
              <p:nvPr/>
            </p:nvSpPr>
            <p:spPr bwMode="auto">
              <a:xfrm>
                <a:off x="4344" y="2435"/>
                <a:ext cx="216" cy="281"/>
              </a:xfrm>
              <a:custGeom>
                <a:avLst/>
                <a:gdLst>
                  <a:gd name="T0" fmla="*/ 14 w 156"/>
                  <a:gd name="T1" fmla="*/ 121 h 205"/>
                  <a:gd name="T2" fmla="*/ 4 w 156"/>
                  <a:gd name="T3" fmla="*/ 134 h 205"/>
                  <a:gd name="T4" fmla="*/ 2 w 156"/>
                  <a:gd name="T5" fmla="*/ 136 h 205"/>
                  <a:gd name="T6" fmla="*/ 0 w 156"/>
                  <a:gd name="T7" fmla="*/ 140 h 205"/>
                  <a:gd name="T8" fmla="*/ 0 w 156"/>
                  <a:gd name="T9" fmla="*/ 192 h 205"/>
                  <a:gd name="T10" fmla="*/ 1 w 156"/>
                  <a:gd name="T11" fmla="*/ 194 h 205"/>
                  <a:gd name="T12" fmla="*/ 5 w 156"/>
                  <a:gd name="T13" fmla="*/ 199 h 205"/>
                  <a:gd name="T14" fmla="*/ 8 w 156"/>
                  <a:gd name="T15" fmla="*/ 205 h 205"/>
                  <a:gd name="T16" fmla="*/ 10 w 156"/>
                  <a:gd name="T17" fmla="*/ 202 h 205"/>
                  <a:gd name="T18" fmla="*/ 16 w 156"/>
                  <a:gd name="T19" fmla="*/ 193 h 205"/>
                  <a:gd name="T20" fmla="*/ 28 w 156"/>
                  <a:gd name="T21" fmla="*/ 181 h 205"/>
                  <a:gd name="T22" fmla="*/ 51 w 156"/>
                  <a:gd name="T23" fmla="*/ 160 h 205"/>
                  <a:gd name="T24" fmla="*/ 68 w 156"/>
                  <a:gd name="T25" fmla="*/ 148 h 205"/>
                  <a:gd name="T26" fmla="*/ 94 w 156"/>
                  <a:gd name="T27" fmla="*/ 125 h 205"/>
                  <a:gd name="T28" fmla="*/ 110 w 156"/>
                  <a:gd name="T29" fmla="*/ 105 h 205"/>
                  <a:gd name="T30" fmla="*/ 126 w 156"/>
                  <a:gd name="T31" fmla="*/ 76 h 205"/>
                  <a:gd name="T32" fmla="*/ 135 w 156"/>
                  <a:gd name="T33" fmla="*/ 58 h 205"/>
                  <a:gd name="T34" fmla="*/ 141 w 156"/>
                  <a:gd name="T35" fmla="*/ 50 h 205"/>
                  <a:gd name="T36" fmla="*/ 145 w 156"/>
                  <a:gd name="T37" fmla="*/ 44 h 205"/>
                  <a:gd name="T38" fmla="*/ 147 w 156"/>
                  <a:gd name="T39" fmla="*/ 37 h 205"/>
                  <a:gd name="T40" fmla="*/ 148 w 156"/>
                  <a:gd name="T41" fmla="*/ 26 h 205"/>
                  <a:gd name="T42" fmla="*/ 153 w 156"/>
                  <a:gd name="T43" fmla="*/ 25 h 205"/>
                  <a:gd name="T44" fmla="*/ 154 w 156"/>
                  <a:gd name="T45" fmla="*/ 24 h 205"/>
                  <a:gd name="T46" fmla="*/ 151 w 156"/>
                  <a:gd name="T47" fmla="*/ 23 h 205"/>
                  <a:gd name="T48" fmla="*/ 151 w 156"/>
                  <a:gd name="T49" fmla="*/ 21 h 205"/>
                  <a:gd name="T50" fmla="*/ 152 w 156"/>
                  <a:gd name="T51" fmla="*/ 7 h 205"/>
                  <a:gd name="T52" fmla="*/ 152 w 156"/>
                  <a:gd name="T53" fmla="*/ 3 h 205"/>
                  <a:gd name="T54" fmla="*/ 143 w 156"/>
                  <a:gd name="T55" fmla="*/ 2 h 205"/>
                  <a:gd name="T56" fmla="*/ 137 w 156"/>
                  <a:gd name="T57" fmla="*/ 6 h 205"/>
                  <a:gd name="T58" fmla="*/ 123 w 156"/>
                  <a:gd name="T59" fmla="*/ 11 h 205"/>
                  <a:gd name="T60" fmla="*/ 113 w 156"/>
                  <a:gd name="T61" fmla="*/ 12 h 205"/>
                  <a:gd name="T62" fmla="*/ 92 w 156"/>
                  <a:gd name="T63" fmla="*/ 15 h 205"/>
                  <a:gd name="T64" fmla="*/ 79 w 156"/>
                  <a:gd name="T65" fmla="*/ 20 h 205"/>
                  <a:gd name="T66" fmla="*/ 70 w 156"/>
                  <a:gd name="T67" fmla="*/ 20 h 205"/>
                  <a:gd name="T68" fmla="*/ 48 w 156"/>
                  <a:gd name="T69" fmla="*/ 23 h 205"/>
                  <a:gd name="T70" fmla="*/ 39 w 156"/>
                  <a:gd name="T71" fmla="*/ 14 h 205"/>
                  <a:gd name="T72" fmla="*/ 34 w 156"/>
                  <a:gd name="T73" fmla="*/ 9 h 205"/>
                  <a:gd name="T74" fmla="*/ 29 w 156"/>
                  <a:gd name="T75" fmla="*/ 16 h 205"/>
                  <a:gd name="T76" fmla="*/ 27 w 156"/>
                  <a:gd name="T77" fmla="*/ 19 h 205"/>
                  <a:gd name="T78" fmla="*/ 26 w 156"/>
                  <a:gd name="T79" fmla="*/ 21 h 205"/>
                  <a:gd name="T80" fmla="*/ 26 w 156"/>
                  <a:gd name="T81" fmla="*/ 22 h 205"/>
                  <a:gd name="T82" fmla="*/ 33 w 156"/>
                  <a:gd name="T83" fmla="*/ 34 h 205"/>
                  <a:gd name="T84" fmla="*/ 36 w 156"/>
                  <a:gd name="T85" fmla="*/ 39 h 205"/>
                  <a:gd name="T86" fmla="*/ 38 w 156"/>
                  <a:gd name="T87" fmla="*/ 40 h 205"/>
                  <a:gd name="T88" fmla="*/ 43 w 156"/>
                  <a:gd name="T89" fmla="*/ 44 h 205"/>
                  <a:gd name="T90" fmla="*/ 50 w 156"/>
                  <a:gd name="T91" fmla="*/ 48 h 205"/>
                  <a:gd name="T92" fmla="*/ 67 w 156"/>
                  <a:gd name="T93" fmla="*/ 53 h 205"/>
                  <a:gd name="T94" fmla="*/ 89 w 156"/>
                  <a:gd name="T95" fmla="*/ 61 h 205"/>
                  <a:gd name="T96" fmla="*/ 90 w 156"/>
                  <a:gd name="T97" fmla="*/ 61 h 205"/>
                  <a:gd name="T98" fmla="*/ 104 w 156"/>
                  <a:gd name="T99" fmla="*/ 61 h 205"/>
                  <a:gd name="T100" fmla="*/ 104 w 156"/>
                  <a:gd name="T101" fmla="*/ 62 h 205"/>
                  <a:gd name="T102" fmla="*/ 76 w 156"/>
                  <a:gd name="T103" fmla="*/ 88 h 205"/>
                  <a:gd name="T104" fmla="*/ 62 w 156"/>
                  <a:gd name="T105" fmla="*/ 105 h 205"/>
                  <a:gd name="T106" fmla="*/ 56 w 156"/>
                  <a:gd name="T107" fmla="*/ 107 h 205"/>
                  <a:gd name="T108" fmla="*/ 41 w 156"/>
                  <a:gd name="T109" fmla="*/ 107 h 205"/>
                  <a:gd name="T110" fmla="*/ 37 w 156"/>
                  <a:gd name="T111" fmla="*/ 109 h 205"/>
                  <a:gd name="T112" fmla="*/ 27 w 156"/>
                  <a:gd name="T113" fmla="*/ 116 h 205"/>
                  <a:gd name="T114" fmla="*/ 25 w 156"/>
                  <a:gd name="T115" fmla="*/ 117 h 205"/>
                  <a:gd name="T116" fmla="*/ 15 w 156"/>
                  <a:gd name="T117" fmla="*/ 119 h 205"/>
                  <a:gd name="T118" fmla="*/ 14 w 156"/>
                  <a:gd name="T119" fmla="*/ 121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6" h="205">
                    <a:moveTo>
                      <a:pt x="14" y="121"/>
                    </a:moveTo>
                    <a:cubicBezTo>
                      <a:pt x="11" y="125"/>
                      <a:pt x="4" y="134"/>
                      <a:pt x="4" y="134"/>
                    </a:cubicBezTo>
                    <a:cubicBezTo>
                      <a:pt x="4" y="134"/>
                      <a:pt x="2" y="135"/>
                      <a:pt x="2" y="136"/>
                    </a:cubicBezTo>
                    <a:cubicBezTo>
                      <a:pt x="1" y="136"/>
                      <a:pt x="0" y="138"/>
                      <a:pt x="0" y="140"/>
                    </a:cubicBezTo>
                    <a:cubicBezTo>
                      <a:pt x="0" y="141"/>
                      <a:pt x="0" y="192"/>
                      <a:pt x="0" y="192"/>
                    </a:cubicBezTo>
                    <a:cubicBezTo>
                      <a:pt x="0" y="192"/>
                      <a:pt x="0" y="193"/>
                      <a:pt x="1" y="194"/>
                    </a:cubicBezTo>
                    <a:cubicBezTo>
                      <a:pt x="2" y="195"/>
                      <a:pt x="4" y="198"/>
                      <a:pt x="5" y="199"/>
                    </a:cubicBezTo>
                    <a:cubicBezTo>
                      <a:pt x="5" y="200"/>
                      <a:pt x="7" y="203"/>
                      <a:pt x="8" y="205"/>
                    </a:cubicBezTo>
                    <a:cubicBezTo>
                      <a:pt x="9" y="204"/>
                      <a:pt x="10" y="203"/>
                      <a:pt x="10" y="202"/>
                    </a:cubicBezTo>
                    <a:cubicBezTo>
                      <a:pt x="12" y="197"/>
                      <a:pt x="15" y="194"/>
                      <a:pt x="16" y="193"/>
                    </a:cubicBezTo>
                    <a:cubicBezTo>
                      <a:pt x="18" y="191"/>
                      <a:pt x="27" y="182"/>
                      <a:pt x="28" y="181"/>
                    </a:cubicBezTo>
                    <a:cubicBezTo>
                      <a:pt x="29" y="179"/>
                      <a:pt x="45" y="164"/>
                      <a:pt x="51" y="160"/>
                    </a:cubicBezTo>
                    <a:cubicBezTo>
                      <a:pt x="56" y="156"/>
                      <a:pt x="65" y="150"/>
                      <a:pt x="68" y="148"/>
                    </a:cubicBezTo>
                    <a:cubicBezTo>
                      <a:pt x="70" y="146"/>
                      <a:pt x="88" y="130"/>
                      <a:pt x="94" y="125"/>
                    </a:cubicBezTo>
                    <a:cubicBezTo>
                      <a:pt x="99" y="120"/>
                      <a:pt x="106" y="110"/>
                      <a:pt x="110" y="105"/>
                    </a:cubicBezTo>
                    <a:cubicBezTo>
                      <a:pt x="113" y="100"/>
                      <a:pt x="124" y="82"/>
                      <a:pt x="126" y="76"/>
                    </a:cubicBezTo>
                    <a:cubicBezTo>
                      <a:pt x="128" y="70"/>
                      <a:pt x="132" y="61"/>
                      <a:pt x="135" y="58"/>
                    </a:cubicBezTo>
                    <a:cubicBezTo>
                      <a:pt x="137" y="56"/>
                      <a:pt x="140" y="52"/>
                      <a:pt x="141" y="50"/>
                    </a:cubicBezTo>
                    <a:cubicBezTo>
                      <a:pt x="141" y="48"/>
                      <a:pt x="144" y="45"/>
                      <a:pt x="145" y="44"/>
                    </a:cubicBezTo>
                    <a:cubicBezTo>
                      <a:pt x="146" y="42"/>
                      <a:pt x="147" y="38"/>
                      <a:pt x="147" y="37"/>
                    </a:cubicBezTo>
                    <a:cubicBezTo>
                      <a:pt x="147" y="36"/>
                      <a:pt x="147" y="26"/>
                      <a:pt x="148" y="26"/>
                    </a:cubicBezTo>
                    <a:cubicBezTo>
                      <a:pt x="150" y="25"/>
                      <a:pt x="151" y="25"/>
                      <a:pt x="153" y="25"/>
                    </a:cubicBezTo>
                    <a:cubicBezTo>
                      <a:pt x="154" y="25"/>
                      <a:pt x="156" y="24"/>
                      <a:pt x="154" y="24"/>
                    </a:cubicBezTo>
                    <a:cubicBezTo>
                      <a:pt x="152" y="23"/>
                      <a:pt x="152" y="23"/>
                      <a:pt x="151" y="23"/>
                    </a:cubicBezTo>
                    <a:cubicBezTo>
                      <a:pt x="151" y="23"/>
                      <a:pt x="151" y="22"/>
                      <a:pt x="151" y="21"/>
                    </a:cubicBezTo>
                    <a:cubicBezTo>
                      <a:pt x="151" y="20"/>
                      <a:pt x="149" y="11"/>
                      <a:pt x="152" y="7"/>
                    </a:cubicBezTo>
                    <a:cubicBezTo>
                      <a:pt x="154" y="3"/>
                      <a:pt x="153" y="3"/>
                      <a:pt x="152" y="3"/>
                    </a:cubicBezTo>
                    <a:cubicBezTo>
                      <a:pt x="150" y="2"/>
                      <a:pt x="144" y="0"/>
                      <a:pt x="143" y="2"/>
                    </a:cubicBezTo>
                    <a:cubicBezTo>
                      <a:pt x="142" y="5"/>
                      <a:pt x="140" y="6"/>
                      <a:pt x="137" y="6"/>
                    </a:cubicBezTo>
                    <a:cubicBezTo>
                      <a:pt x="134" y="7"/>
                      <a:pt x="125" y="10"/>
                      <a:pt x="123" y="11"/>
                    </a:cubicBezTo>
                    <a:cubicBezTo>
                      <a:pt x="123" y="11"/>
                      <a:pt x="119" y="12"/>
                      <a:pt x="113" y="12"/>
                    </a:cubicBezTo>
                    <a:cubicBezTo>
                      <a:pt x="106" y="12"/>
                      <a:pt x="96" y="13"/>
                      <a:pt x="92" y="15"/>
                    </a:cubicBezTo>
                    <a:cubicBezTo>
                      <a:pt x="89" y="18"/>
                      <a:pt x="82" y="22"/>
                      <a:pt x="79" y="20"/>
                    </a:cubicBezTo>
                    <a:cubicBezTo>
                      <a:pt x="77" y="18"/>
                      <a:pt x="73" y="18"/>
                      <a:pt x="70" y="20"/>
                    </a:cubicBezTo>
                    <a:cubicBezTo>
                      <a:pt x="67" y="21"/>
                      <a:pt x="55" y="28"/>
                      <a:pt x="48" y="23"/>
                    </a:cubicBezTo>
                    <a:cubicBezTo>
                      <a:pt x="41" y="18"/>
                      <a:pt x="40" y="16"/>
                      <a:pt x="39" y="14"/>
                    </a:cubicBezTo>
                    <a:cubicBezTo>
                      <a:pt x="38" y="13"/>
                      <a:pt x="36" y="10"/>
                      <a:pt x="34" y="9"/>
                    </a:cubicBezTo>
                    <a:cubicBezTo>
                      <a:pt x="33" y="10"/>
                      <a:pt x="31" y="14"/>
                      <a:pt x="29" y="16"/>
                    </a:cubicBezTo>
                    <a:cubicBezTo>
                      <a:pt x="28" y="18"/>
                      <a:pt x="27" y="19"/>
                      <a:pt x="27" y="19"/>
                    </a:cubicBezTo>
                    <a:cubicBezTo>
                      <a:pt x="27" y="20"/>
                      <a:pt x="26" y="21"/>
                      <a:pt x="26" y="21"/>
                    </a:cubicBezTo>
                    <a:cubicBezTo>
                      <a:pt x="26" y="21"/>
                      <a:pt x="25" y="22"/>
                      <a:pt x="26" y="22"/>
                    </a:cubicBezTo>
                    <a:cubicBezTo>
                      <a:pt x="26" y="23"/>
                      <a:pt x="32" y="33"/>
                      <a:pt x="33" y="34"/>
                    </a:cubicBezTo>
                    <a:cubicBezTo>
                      <a:pt x="33" y="34"/>
                      <a:pt x="35" y="38"/>
                      <a:pt x="36" y="39"/>
                    </a:cubicBezTo>
                    <a:cubicBezTo>
                      <a:pt x="36" y="39"/>
                      <a:pt x="37" y="40"/>
                      <a:pt x="38" y="40"/>
                    </a:cubicBezTo>
                    <a:cubicBezTo>
                      <a:pt x="39" y="41"/>
                      <a:pt x="43" y="43"/>
                      <a:pt x="43" y="44"/>
                    </a:cubicBezTo>
                    <a:cubicBezTo>
                      <a:pt x="44" y="45"/>
                      <a:pt x="47" y="46"/>
                      <a:pt x="50" y="48"/>
                    </a:cubicBezTo>
                    <a:cubicBezTo>
                      <a:pt x="54" y="49"/>
                      <a:pt x="67" y="53"/>
                      <a:pt x="67" y="53"/>
                    </a:cubicBezTo>
                    <a:cubicBezTo>
                      <a:pt x="67" y="53"/>
                      <a:pt x="89" y="61"/>
                      <a:pt x="89" y="61"/>
                    </a:cubicBezTo>
                    <a:cubicBezTo>
                      <a:pt x="89" y="61"/>
                      <a:pt x="90" y="61"/>
                      <a:pt x="90" y="61"/>
                    </a:cubicBezTo>
                    <a:cubicBezTo>
                      <a:pt x="90" y="61"/>
                      <a:pt x="104" y="61"/>
                      <a:pt x="104" y="61"/>
                    </a:cubicBezTo>
                    <a:cubicBezTo>
                      <a:pt x="104" y="61"/>
                      <a:pt x="104" y="61"/>
                      <a:pt x="104" y="62"/>
                    </a:cubicBezTo>
                    <a:cubicBezTo>
                      <a:pt x="103" y="62"/>
                      <a:pt x="77" y="88"/>
                      <a:pt x="76" y="88"/>
                    </a:cubicBezTo>
                    <a:cubicBezTo>
                      <a:pt x="76" y="89"/>
                      <a:pt x="63" y="103"/>
                      <a:pt x="62" y="105"/>
                    </a:cubicBezTo>
                    <a:cubicBezTo>
                      <a:pt x="60" y="106"/>
                      <a:pt x="59" y="107"/>
                      <a:pt x="56" y="107"/>
                    </a:cubicBezTo>
                    <a:cubicBezTo>
                      <a:pt x="54" y="107"/>
                      <a:pt x="43" y="106"/>
                      <a:pt x="41" y="107"/>
                    </a:cubicBezTo>
                    <a:cubicBezTo>
                      <a:pt x="38" y="108"/>
                      <a:pt x="38" y="108"/>
                      <a:pt x="37" y="109"/>
                    </a:cubicBezTo>
                    <a:cubicBezTo>
                      <a:pt x="36" y="110"/>
                      <a:pt x="27" y="116"/>
                      <a:pt x="27" y="116"/>
                    </a:cubicBezTo>
                    <a:cubicBezTo>
                      <a:pt x="27" y="116"/>
                      <a:pt x="26" y="117"/>
                      <a:pt x="25" y="117"/>
                    </a:cubicBezTo>
                    <a:cubicBezTo>
                      <a:pt x="24" y="117"/>
                      <a:pt x="17" y="117"/>
                      <a:pt x="15" y="119"/>
                    </a:cubicBezTo>
                    <a:cubicBezTo>
                      <a:pt x="15" y="120"/>
                      <a:pt x="15" y="120"/>
                      <a:pt x="14" y="12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46" name="Freeform 957">
                <a:extLst>
                  <a:ext uri="{FF2B5EF4-FFF2-40B4-BE49-F238E27FC236}">
                    <a16:creationId xmlns:a16="http://schemas.microsoft.com/office/drawing/2014/main" id="{B9AD491B-AE3F-4038-AB31-18ABF92C6F3D}"/>
                  </a:ext>
                </a:extLst>
              </p:cNvPr>
              <p:cNvSpPr>
                <a:spLocks/>
              </p:cNvSpPr>
              <p:nvPr/>
            </p:nvSpPr>
            <p:spPr bwMode="auto">
              <a:xfrm>
                <a:off x="4181" y="2376"/>
                <a:ext cx="307" cy="237"/>
              </a:xfrm>
              <a:custGeom>
                <a:avLst/>
                <a:gdLst>
                  <a:gd name="T0" fmla="*/ 45 w 222"/>
                  <a:gd name="T1" fmla="*/ 156 h 173"/>
                  <a:gd name="T2" fmla="*/ 54 w 222"/>
                  <a:gd name="T3" fmla="*/ 157 h 173"/>
                  <a:gd name="T4" fmla="*/ 68 w 222"/>
                  <a:gd name="T5" fmla="*/ 164 h 173"/>
                  <a:gd name="T6" fmla="*/ 77 w 222"/>
                  <a:gd name="T7" fmla="*/ 169 h 173"/>
                  <a:gd name="T8" fmla="*/ 95 w 222"/>
                  <a:gd name="T9" fmla="*/ 172 h 173"/>
                  <a:gd name="T10" fmla="*/ 100 w 222"/>
                  <a:gd name="T11" fmla="*/ 168 h 173"/>
                  <a:gd name="T12" fmla="*/ 112 w 222"/>
                  <a:gd name="T13" fmla="*/ 161 h 173"/>
                  <a:gd name="T14" fmla="*/ 116 w 222"/>
                  <a:gd name="T15" fmla="*/ 160 h 173"/>
                  <a:gd name="T16" fmla="*/ 132 w 222"/>
                  <a:gd name="T17" fmla="*/ 164 h 173"/>
                  <a:gd name="T18" fmla="*/ 143 w 222"/>
                  <a:gd name="T19" fmla="*/ 160 h 173"/>
                  <a:gd name="T20" fmla="*/ 155 w 222"/>
                  <a:gd name="T21" fmla="*/ 152 h 173"/>
                  <a:gd name="T22" fmla="*/ 174 w 222"/>
                  <a:gd name="T23" fmla="*/ 150 h 173"/>
                  <a:gd name="T24" fmla="*/ 194 w 222"/>
                  <a:gd name="T25" fmla="*/ 131 h 173"/>
                  <a:gd name="T26" fmla="*/ 222 w 222"/>
                  <a:gd name="T27" fmla="*/ 104 h 173"/>
                  <a:gd name="T28" fmla="*/ 207 w 222"/>
                  <a:gd name="T29" fmla="*/ 104 h 173"/>
                  <a:gd name="T30" fmla="*/ 168 w 222"/>
                  <a:gd name="T31" fmla="*/ 91 h 173"/>
                  <a:gd name="T32" fmla="*/ 156 w 222"/>
                  <a:gd name="T33" fmla="*/ 83 h 173"/>
                  <a:gd name="T34" fmla="*/ 151 w 222"/>
                  <a:gd name="T35" fmla="*/ 77 h 173"/>
                  <a:gd name="T36" fmla="*/ 144 w 222"/>
                  <a:gd name="T37" fmla="*/ 64 h 173"/>
                  <a:gd name="T38" fmla="*/ 147 w 222"/>
                  <a:gd name="T39" fmla="*/ 59 h 173"/>
                  <a:gd name="T40" fmla="*/ 142 w 222"/>
                  <a:gd name="T41" fmla="*/ 58 h 173"/>
                  <a:gd name="T42" fmla="*/ 130 w 222"/>
                  <a:gd name="T43" fmla="*/ 58 h 173"/>
                  <a:gd name="T44" fmla="*/ 132 w 222"/>
                  <a:gd name="T45" fmla="*/ 47 h 173"/>
                  <a:gd name="T46" fmla="*/ 139 w 222"/>
                  <a:gd name="T47" fmla="*/ 38 h 173"/>
                  <a:gd name="T48" fmla="*/ 132 w 222"/>
                  <a:gd name="T49" fmla="*/ 29 h 173"/>
                  <a:gd name="T50" fmla="*/ 110 w 222"/>
                  <a:gd name="T51" fmla="*/ 9 h 173"/>
                  <a:gd name="T52" fmla="*/ 103 w 222"/>
                  <a:gd name="T53" fmla="*/ 6 h 173"/>
                  <a:gd name="T54" fmla="*/ 99 w 222"/>
                  <a:gd name="T55" fmla="*/ 5 h 173"/>
                  <a:gd name="T56" fmla="*/ 95 w 222"/>
                  <a:gd name="T57" fmla="*/ 6 h 173"/>
                  <a:gd name="T58" fmla="*/ 93 w 222"/>
                  <a:gd name="T59" fmla="*/ 5 h 173"/>
                  <a:gd name="T60" fmla="*/ 86 w 222"/>
                  <a:gd name="T61" fmla="*/ 6 h 173"/>
                  <a:gd name="T62" fmla="*/ 81 w 222"/>
                  <a:gd name="T63" fmla="*/ 7 h 173"/>
                  <a:gd name="T64" fmla="*/ 76 w 222"/>
                  <a:gd name="T65" fmla="*/ 3 h 173"/>
                  <a:gd name="T66" fmla="*/ 72 w 222"/>
                  <a:gd name="T67" fmla="*/ 2 h 173"/>
                  <a:gd name="T68" fmla="*/ 66 w 222"/>
                  <a:gd name="T69" fmla="*/ 10 h 173"/>
                  <a:gd name="T70" fmla="*/ 62 w 222"/>
                  <a:gd name="T71" fmla="*/ 8 h 173"/>
                  <a:gd name="T72" fmla="*/ 52 w 222"/>
                  <a:gd name="T73" fmla="*/ 10 h 173"/>
                  <a:gd name="T74" fmla="*/ 47 w 222"/>
                  <a:gd name="T75" fmla="*/ 33 h 173"/>
                  <a:gd name="T76" fmla="*/ 40 w 222"/>
                  <a:gd name="T77" fmla="*/ 34 h 173"/>
                  <a:gd name="T78" fmla="*/ 34 w 222"/>
                  <a:gd name="T79" fmla="*/ 44 h 173"/>
                  <a:gd name="T80" fmla="*/ 29 w 222"/>
                  <a:gd name="T81" fmla="*/ 57 h 173"/>
                  <a:gd name="T82" fmla="*/ 28 w 222"/>
                  <a:gd name="T83" fmla="*/ 62 h 173"/>
                  <a:gd name="T84" fmla="*/ 22 w 222"/>
                  <a:gd name="T85" fmla="*/ 62 h 173"/>
                  <a:gd name="T86" fmla="*/ 19 w 222"/>
                  <a:gd name="T87" fmla="*/ 72 h 173"/>
                  <a:gd name="T88" fmla="*/ 16 w 222"/>
                  <a:gd name="T89" fmla="*/ 83 h 173"/>
                  <a:gd name="T90" fmla="*/ 15 w 222"/>
                  <a:gd name="T91" fmla="*/ 96 h 173"/>
                  <a:gd name="T92" fmla="*/ 6 w 222"/>
                  <a:gd name="T93" fmla="*/ 97 h 173"/>
                  <a:gd name="T94" fmla="*/ 2 w 222"/>
                  <a:gd name="T95" fmla="*/ 98 h 173"/>
                  <a:gd name="T96" fmla="*/ 0 w 222"/>
                  <a:gd name="T97" fmla="*/ 104 h 173"/>
                  <a:gd name="T98" fmla="*/ 11 w 222"/>
                  <a:gd name="T99" fmla="*/ 110 h 173"/>
                  <a:gd name="T100" fmla="*/ 19 w 222"/>
                  <a:gd name="T101" fmla="*/ 119 h 173"/>
                  <a:gd name="T102" fmla="*/ 32 w 222"/>
                  <a:gd name="T103" fmla="*/ 140 h 173"/>
                  <a:gd name="T104" fmla="*/ 41 w 222"/>
                  <a:gd name="T105" fmla="*/ 144 h 173"/>
                  <a:gd name="T106" fmla="*/ 41 w 222"/>
                  <a:gd name="T107" fmla="*/ 152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2" h="173">
                    <a:moveTo>
                      <a:pt x="43" y="154"/>
                    </a:moveTo>
                    <a:cubicBezTo>
                      <a:pt x="44" y="155"/>
                      <a:pt x="44" y="156"/>
                      <a:pt x="45" y="156"/>
                    </a:cubicBezTo>
                    <a:cubicBezTo>
                      <a:pt x="45" y="156"/>
                      <a:pt x="45" y="157"/>
                      <a:pt x="45" y="157"/>
                    </a:cubicBezTo>
                    <a:cubicBezTo>
                      <a:pt x="46" y="157"/>
                      <a:pt x="54" y="157"/>
                      <a:pt x="54" y="157"/>
                    </a:cubicBezTo>
                    <a:cubicBezTo>
                      <a:pt x="54" y="157"/>
                      <a:pt x="55" y="157"/>
                      <a:pt x="56" y="157"/>
                    </a:cubicBezTo>
                    <a:cubicBezTo>
                      <a:pt x="56" y="158"/>
                      <a:pt x="67" y="163"/>
                      <a:pt x="68" y="164"/>
                    </a:cubicBezTo>
                    <a:cubicBezTo>
                      <a:pt x="69" y="164"/>
                      <a:pt x="73" y="167"/>
                      <a:pt x="73" y="167"/>
                    </a:cubicBezTo>
                    <a:cubicBezTo>
                      <a:pt x="74" y="168"/>
                      <a:pt x="76" y="169"/>
                      <a:pt x="77" y="169"/>
                    </a:cubicBezTo>
                    <a:cubicBezTo>
                      <a:pt x="79" y="170"/>
                      <a:pt x="88" y="171"/>
                      <a:pt x="90" y="171"/>
                    </a:cubicBezTo>
                    <a:cubicBezTo>
                      <a:pt x="91" y="171"/>
                      <a:pt x="94" y="171"/>
                      <a:pt x="95" y="172"/>
                    </a:cubicBezTo>
                    <a:cubicBezTo>
                      <a:pt x="96" y="172"/>
                      <a:pt x="97" y="173"/>
                      <a:pt x="97" y="172"/>
                    </a:cubicBezTo>
                    <a:cubicBezTo>
                      <a:pt x="98" y="172"/>
                      <a:pt x="99" y="169"/>
                      <a:pt x="100" y="168"/>
                    </a:cubicBezTo>
                    <a:cubicBezTo>
                      <a:pt x="101" y="166"/>
                      <a:pt x="102" y="165"/>
                      <a:pt x="104" y="164"/>
                    </a:cubicBezTo>
                    <a:cubicBezTo>
                      <a:pt x="106" y="163"/>
                      <a:pt x="110" y="162"/>
                      <a:pt x="112" y="161"/>
                    </a:cubicBezTo>
                    <a:cubicBezTo>
                      <a:pt x="113" y="160"/>
                      <a:pt x="114" y="160"/>
                      <a:pt x="114" y="160"/>
                    </a:cubicBezTo>
                    <a:cubicBezTo>
                      <a:pt x="114" y="160"/>
                      <a:pt x="115" y="159"/>
                      <a:pt x="116" y="160"/>
                    </a:cubicBezTo>
                    <a:cubicBezTo>
                      <a:pt x="116" y="160"/>
                      <a:pt x="120" y="165"/>
                      <a:pt x="123" y="164"/>
                    </a:cubicBezTo>
                    <a:cubicBezTo>
                      <a:pt x="125" y="164"/>
                      <a:pt x="130" y="164"/>
                      <a:pt x="132" y="164"/>
                    </a:cubicBezTo>
                    <a:cubicBezTo>
                      <a:pt x="133" y="163"/>
                      <a:pt x="133" y="163"/>
                      <a:pt x="133" y="162"/>
                    </a:cubicBezTo>
                    <a:cubicBezTo>
                      <a:pt x="135" y="160"/>
                      <a:pt x="142" y="160"/>
                      <a:pt x="143" y="160"/>
                    </a:cubicBezTo>
                    <a:cubicBezTo>
                      <a:pt x="144" y="160"/>
                      <a:pt x="145" y="159"/>
                      <a:pt x="145" y="159"/>
                    </a:cubicBezTo>
                    <a:cubicBezTo>
                      <a:pt x="145" y="159"/>
                      <a:pt x="154" y="153"/>
                      <a:pt x="155" y="152"/>
                    </a:cubicBezTo>
                    <a:cubicBezTo>
                      <a:pt x="156" y="151"/>
                      <a:pt x="156" y="151"/>
                      <a:pt x="159" y="150"/>
                    </a:cubicBezTo>
                    <a:cubicBezTo>
                      <a:pt x="161" y="149"/>
                      <a:pt x="172" y="150"/>
                      <a:pt x="174" y="150"/>
                    </a:cubicBezTo>
                    <a:cubicBezTo>
                      <a:pt x="177" y="150"/>
                      <a:pt x="178" y="149"/>
                      <a:pt x="180" y="148"/>
                    </a:cubicBezTo>
                    <a:cubicBezTo>
                      <a:pt x="181" y="146"/>
                      <a:pt x="194" y="132"/>
                      <a:pt x="194" y="131"/>
                    </a:cubicBezTo>
                    <a:cubicBezTo>
                      <a:pt x="195" y="131"/>
                      <a:pt x="221" y="105"/>
                      <a:pt x="222" y="105"/>
                    </a:cubicBezTo>
                    <a:cubicBezTo>
                      <a:pt x="222" y="104"/>
                      <a:pt x="222" y="104"/>
                      <a:pt x="222" y="104"/>
                    </a:cubicBezTo>
                    <a:cubicBezTo>
                      <a:pt x="222" y="104"/>
                      <a:pt x="208" y="104"/>
                      <a:pt x="208" y="104"/>
                    </a:cubicBezTo>
                    <a:cubicBezTo>
                      <a:pt x="208" y="104"/>
                      <a:pt x="207" y="104"/>
                      <a:pt x="207" y="104"/>
                    </a:cubicBezTo>
                    <a:cubicBezTo>
                      <a:pt x="207" y="104"/>
                      <a:pt x="185" y="96"/>
                      <a:pt x="185" y="96"/>
                    </a:cubicBezTo>
                    <a:cubicBezTo>
                      <a:pt x="185" y="96"/>
                      <a:pt x="172" y="92"/>
                      <a:pt x="168" y="91"/>
                    </a:cubicBezTo>
                    <a:cubicBezTo>
                      <a:pt x="165" y="89"/>
                      <a:pt x="162" y="88"/>
                      <a:pt x="161" y="87"/>
                    </a:cubicBezTo>
                    <a:cubicBezTo>
                      <a:pt x="161" y="86"/>
                      <a:pt x="157" y="84"/>
                      <a:pt x="156" y="83"/>
                    </a:cubicBezTo>
                    <a:cubicBezTo>
                      <a:pt x="155" y="83"/>
                      <a:pt x="154" y="82"/>
                      <a:pt x="154" y="82"/>
                    </a:cubicBezTo>
                    <a:cubicBezTo>
                      <a:pt x="153" y="81"/>
                      <a:pt x="151" y="77"/>
                      <a:pt x="151" y="77"/>
                    </a:cubicBezTo>
                    <a:cubicBezTo>
                      <a:pt x="150" y="76"/>
                      <a:pt x="144" y="66"/>
                      <a:pt x="144" y="65"/>
                    </a:cubicBezTo>
                    <a:cubicBezTo>
                      <a:pt x="143" y="65"/>
                      <a:pt x="144" y="64"/>
                      <a:pt x="144" y="64"/>
                    </a:cubicBezTo>
                    <a:cubicBezTo>
                      <a:pt x="144" y="64"/>
                      <a:pt x="145" y="63"/>
                      <a:pt x="145" y="62"/>
                    </a:cubicBezTo>
                    <a:cubicBezTo>
                      <a:pt x="145" y="62"/>
                      <a:pt x="146" y="61"/>
                      <a:pt x="147" y="59"/>
                    </a:cubicBezTo>
                    <a:cubicBezTo>
                      <a:pt x="146" y="59"/>
                      <a:pt x="143" y="58"/>
                      <a:pt x="143" y="58"/>
                    </a:cubicBezTo>
                    <a:cubicBezTo>
                      <a:pt x="142" y="58"/>
                      <a:pt x="142" y="58"/>
                      <a:pt x="142" y="58"/>
                    </a:cubicBezTo>
                    <a:cubicBezTo>
                      <a:pt x="140" y="59"/>
                      <a:pt x="133" y="60"/>
                      <a:pt x="131" y="60"/>
                    </a:cubicBezTo>
                    <a:cubicBezTo>
                      <a:pt x="130" y="60"/>
                      <a:pt x="130" y="58"/>
                      <a:pt x="130" y="58"/>
                    </a:cubicBezTo>
                    <a:cubicBezTo>
                      <a:pt x="130" y="57"/>
                      <a:pt x="130" y="57"/>
                      <a:pt x="130" y="54"/>
                    </a:cubicBezTo>
                    <a:cubicBezTo>
                      <a:pt x="129" y="50"/>
                      <a:pt x="132" y="47"/>
                      <a:pt x="132" y="47"/>
                    </a:cubicBezTo>
                    <a:cubicBezTo>
                      <a:pt x="133" y="46"/>
                      <a:pt x="134" y="45"/>
                      <a:pt x="134" y="45"/>
                    </a:cubicBezTo>
                    <a:cubicBezTo>
                      <a:pt x="134" y="45"/>
                      <a:pt x="138" y="38"/>
                      <a:pt x="139" y="38"/>
                    </a:cubicBezTo>
                    <a:cubicBezTo>
                      <a:pt x="139" y="37"/>
                      <a:pt x="139" y="37"/>
                      <a:pt x="139" y="37"/>
                    </a:cubicBezTo>
                    <a:cubicBezTo>
                      <a:pt x="137" y="35"/>
                      <a:pt x="134" y="30"/>
                      <a:pt x="132" y="29"/>
                    </a:cubicBezTo>
                    <a:cubicBezTo>
                      <a:pt x="131" y="27"/>
                      <a:pt x="118" y="13"/>
                      <a:pt x="117" y="12"/>
                    </a:cubicBezTo>
                    <a:cubicBezTo>
                      <a:pt x="116" y="10"/>
                      <a:pt x="111" y="9"/>
                      <a:pt x="110" y="9"/>
                    </a:cubicBezTo>
                    <a:cubicBezTo>
                      <a:pt x="109" y="8"/>
                      <a:pt x="107" y="7"/>
                      <a:pt x="107" y="6"/>
                    </a:cubicBezTo>
                    <a:cubicBezTo>
                      <a:pt x="106" y="5"/>
                      <a:pt x="103" y="6"/>
                      <a:pt x="103" y="6"/>
                    </a:cubicBezTo>
                    <a:cubicBezTo>
                      <a:pt x="102" y="7"/>
                      <a:pt x="101" y="6"/>
                      <a:pt x="101" y="6"/>
                    </a:cubicBezTo>
                    <a:cubicBezTo>
                      <a:pt x="101" y="6"/>
                      <a:pt x="99" y="5"/>
                      <a:pt x="99" y="5"/>
                    </a:cubicBezTo>
                    <a:cubicBezTo>
                      <a:pt x="98" y="5"/>
                      <a:pt x="98" y="5"/>
                      <a:pt x="97" y="5"/>
                    </a:cubicBezTo>
                    <a:cubicBezTo>
                      <a:pt x="97" y="6"/>
                      <a:pt x="96" y="6"/>
                      <a:pt x="95" y="6"/>
                    </a:cubicBezTo>
                    <a:cubicBezTo>
                      <a:pt x="95" y="6"/>
                      <a:pt x="94" y="6"/>
                      <a:pt x="93" y="7"/>
                    </a:cubicBezTo>
                    <a:cubicBezTo>
                      <a:pt x="92" y="8"/>
                      <a:pt x="93" y="7"/>
                      <a:pt x="93" y="5"/>
                    </a:cubicBezTo>
                    <a:cubicBezTo>
                      <a:pt x="92" y="3"/>
                      <a:pt x="90" y="5"/>
                      <a:pt x="89" y="5"/>
                    </a:cubicBezTo>
                    <a:cubicBezTo>
                      <a:pt x="88" y="6"/>
                      <a:pt x="87" y="6"/>
                      <a:pt x="86" y="6"/>
                    </a:cubicBezTo>
                    <a:cubicBezTo>
                      <a:pt x="85" y="6"/>
                      <a:pt x="83" y="7"/>
                      <a:pt x="82" y="7"/>
                    </a:cubicBezTo>
                    <a:cubicBezTo>
                      <a:pt x="82" y="8"/>
                      <a:pt x="81" y="7"/>
                      <a:pt x="81" y="7"/>
                    </a:cubicBezTo>
                    <a:cubicBezTo>
                      <a:pt x="81" y="7"/>
                      <a:pt x="78" y="4"/>
                      <a:pt x="78" y="4"/>
                    </a:cubicBezTo>
                    <a:cubicBezTo>
                      <a:pt x="78" y="3"/>
                      <a:pt x="77" y="3"/>
                      <a:pt x="76" y="3"/>
                    </a:cubicBezTo>
                    <a:cubicBezTo>
                      <a:pt x="74" y="3"/>
                      <a:pt x="73" y="1"/>
                      <a:pt x="73" y="1"/>
                    </a:cubicBezTo>
                    <a:cubicBezTo>
                      <a:pt x="72" y="0"/>
                      <a:pt x="72" y="2"/>
                      <a:pt x="72" y="2"/>
                    </a:cubicBezTo>
                    <a:cubicBezTo>
                      <a:pt x="72" y="2"/>
                      <a:pt x="69" y="6"/>
                      <a:pt x="69" y="8"/>
                    </a:cubicBezTo>
                    <a:cubicBezTo>
                      <a:pt x="68" y="9"/>
                      <a:pt x="66" y="10"/>
                      <a:pt x="66" y="10"/>
                    </a:cubicBezTo>
                    <a:cubicBezTo>
                      <a:pt x="65" y="10"/>
                      <a:pt x="64" y="8"/>
                      <a:pt x="64" y="7"/>
                    </a:cubicBezTo>
                    <a:cubicBezTo>
                      <a:pt x="64" y="7"/>
                      <a:pt x="63" y="8"/>
                      <a:pt x="62" y="8"/>
                    </a:cubicBezTo>
                    <a:cubicBezTo>
                      <a:pt x="61" y="9"/>
                      <a:pt x="60" y="10"/>
                      <a:pt x="59" y="10"/>
                    </a:cubicBezTo>
                    <a:cubicBezTo>
                      <a:pt x="57" y="10"/>
                      <a:pt x="54" y="10"/>
                      <a:pt x="52" y="10"/>
                    </a:cubicBezTo>
                    <a:cubicBezTo>
                      <a:pt x="52" y="11"/>
                      <a:pt x="52" y="12"/>
                      <a:pt x="52" y="13"/>
                    </a:cubicBezTo>
                    <a:cubicBezTo>
                      <a:pt x="51" y="18"/>
                      <a:pt x="47" y="33"/>
                      <a:pt x="47" y="33"/>
                    </a:cubicBezTo>
                    <a:cubicBezTo>
                      <a:pt x="47" y="33"/>
                      <a:pt x="47" y="33"/>
                      <a:pt x="46" y="33"/>
                    </a:cubicBezTo>
                    <a:cubicBezTo>
                      <a:pt x="45" y="33"/>
                      <a:pt x="40" y="34"/>
                      <a:pt x="40" y="34"/>
                    </a:cubicBezTo>
                    <a:cubicBezTo>
                      <a:pt x="40" y="34"/>
                      <a:pt x="40" y="34"/>
                      <a:pt x="39" y="35"/>
                    </a:cubicBezTo>
                    <a:cubicBezTo>
                      <a:pt x="39" y="36"/>
                      <a:pt x="34" y="44"/>
                      <a:pt x="34" y="44"/>
                    </a:cubicBezTo>
                    <a:cubicBezTo>
                      <a:pt x="33" y="45"/>
                      <a:pt x="31" y="46"/>
                      <a:pt x="31" y="47"/>
                    </a:cubicBezTo>
                    <a:cubicBezTo>
                      <a:pt x="31" y="47"/>
                      <a:pt x="30" y="56"/>
                      <a:pt x="29" y="57"/>
                    </a:cubicBezTo>
                    <a:cubicBezTo>
                      <a:pt x="29" y="58"/>
                      <a:pt x="28" y="59"/>
                      <a:pt x="28" y="59"/>
                    </a:cubicBezTo>
                    <a:cubicBezTo>
                      <a:pt x="29" y="60"/>
                      <a:pt x="29" y="61"/>
                      <a:pt x="28" y="62"/>
                    </a:cubicBezTo>
                    <a:cubicBezTo>
                      <a:pt x="28" y="62"/>
                      <a:pt x="26" y="63"/>
                      <a:pt x="25" y="62"/>
                    </a:cubicBezTo>
                    <a:cubicBezTo>
                      <a:pt x="24" y="61"/>
                      <a:pt x="23" y="61"/>
                      <a:pt x="22" y="62"/>
                    </a:cubicBezTo>
                    <a:cubicBezTo>
                      <a:pt x="21" y="62"/>
                      <a:pt x="19" y="64"/>
                      <a:pt x="19" y="66"/>
                    </a:cubicBezTo>
                    <a:cubicBezTo>
                      <a:pt x="19" y="68"/>
                      <a:pt x="20" y="71"/>
                      <a:pt x="19" y="72"/>
                    </a:cubicBezTo>
                    <a:cubicBezTo>
                      <a:pt x="18" y="74"/>
                      <a:pt x="16" y="81"/>
                      <a:pt x="16" y="81"/>
                    </a:cubicBezTo>
                    <a:cubicBezTo>
                      <a:pt x="16" y="81"/>
                      <a:pt x="16" y="82"/>
                      <a:pt x="16" y="83"/>
                    </a:cubicBezTo>
                    <a:cubicBezTo>
                      <a:pt x="16" y="84"/>
                      <a:pt x="16" y="92"/>
                      <a:pt x="16" y="93"/>
                    </a:cubicBezTo>
                    <a:cubicBezTo>
                      <a:pt x="16" y="94"/>
                      <a:pt x="16" y="95"/>
                      <a:pt x="15" y="96"/>
                    </a:cubicBezTo>
                    <a:cubicBezTo>
                      <a:pt x="15" y="97"/>
                      <a:pt x="13" y="98"/>
                      <a:pt x="12" y="97"/>
                    </a:cubicBezTo>
                    <a:cubicBezTo>
                      <a:pt x="10" y="97"/>
                      <a:pt x="8" y="97"/>
                      <a:pt x="6" y="97"/>
                    </a:cubicBezTo>
                    <a:cubicBezTo>
                      <a:pt x="5" y="97"/>
                      <a:pt x="4" y="97"/>
                      <a:pt x="4" y="97"/>
                    </a:cubicBezTo>
                    <a:cubicBezTo>
                      <a:pt x="3" y="97"/>
                      <a:pt x="3" y="97"/>
                      <a:pt x="2" y="98"/>
                    </a:cubicBezTo>
                    <a:cubicBezTo>
                      <a:pt x="2" y="99"/>
                      <a:pt x="1" y="102"/>
                      <a:pt x="1" y="103"/>
                    </a:cubicBezTo>
                    <a:cubicBezTo>
                      <a:pt x="0" y="103"/>
                      <a:pt x="0" y="104"/>
                      <a:pt x="0" y="104"/>
                    </a:cubicBezTo>
                    <a:cubicBezTo>
                      <a:pt x="0" y="104"/>
                      <a:pt x="0" y="105"/>
                      <a:pt x="0" y="105"/>
                    </a:cubicBezTo>
                    <a:cubicBezTo>
                      <a:pt x="1" y="105"/>
                      <a:pt x="10" y="109"/>
                      <a:pt x="11" y="110"/>
                    </a:cubicBezTo>
                    <a:cubicBezTo>
                      <a:pt x="12" y="111"/>
                      <a:pt x="16" y="116"/>
                      <a:pt x="17" y="117"/>
                    </a:cubicBezTo>
                    <a:cubicBezTo>
                      <a:pt x="17" y="118"/>
                      <a:pt x="18" y="118"/>
                      <a:pt x="19" y="119"/>
                    </a:cubicBezTo>
                    <a:cubicBezTo>
                      <a:pt x="19" y="119"/>
                      <a:pt x="26" y="123"/>
                      <a:pt x="26" y="126"/>
                    </a:cubicBezTo>
                    <a:cubicBezTo>
                      <a:pt x="27" y="128"/>
                      <a:pt x="30" y="138"/>
                      <a:pt x="32" y="140"/>
                    </a:cubicBezTo>
                    <a:cubicBezTo>
                      <a:pt x="34" y="141"/>
                      <a:pt x="35" y="142"/>
                      <a:pt x="36" y="142"/>
                    </a:cubicBezTo>
                    <a:cubicBezTo>
                      <a:pt x="37" y="142"/>
                      <a:pt x="40" y="143"/>
                      <a:pt x="41" y="144"/>
                    </a:cubicBezTo>
                    <a:cubicBezTo>
                      <a:pt x="42" y="144"/>
                      <a:pt x="42" y="145"/>
                      <a:pt x="42" y="145"/>
                    </a:cubicBezTo>
                    <a:cubicBezTo>
                      <a:pt x="42" y="146"/>
                      <a:pt x="40" y="150"/>
                      <a:pt x="41" y="152"/>
                    </a:cubicBezTo>
                    <a:cubicBezTo>
                      <a:pt x="42" y="152"/>
                      <a:pt x="42" y="153"/>
                      <a:pt x="43" y="15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47" name="Freeform 958">
                <a:extLst>
                  <a:ext uri="{FF2B5EF4-FFF2-40B4-BE49-F238E27FC236}">
                    <a16:creationId xmlns:a16="http://schemas.microsoft.com/office/drawing/2014/main" id="{CE139C71-DEF8-4E41-A89A-E0321B367988}"/>
                  </a:ext>
                </a:extLst>
              </p:cNvPr>
              <p:cNvSpPr>
                <a:spLocks/>
              </p:cNvSpPr>
              <p:nvPr/>
            </p:nvSpPr>
            <p:spPr bwMode="auto">
              <a:xfrm>
                <a:off x="4360" y="2421"/>
                <a:ext cx="36" cy="37"/>
              </a:xfrm>
              <a:custGeom>
                <a:avLst/>
                <a:gdLst>
                  <a:gd name="T0" fmla="*/ 10 w 26"/>
                  <a:gd name="T1" fmla="*/ 4 h 27"/>
                  <a:gd name="T2" fmla="*/ 10 w 26"/>
                  <a:gd name="T3" fmla="*/ 5 h 27"/>
                  <a:gd name="T4" fmla="*/ 5 w 26"/>
                  <a:gd name="T5" fmla="*/ 12 h 27"/>
                  <a:gd name="T6" fmla="*/ 3 w 26"/>
                  <a:gd name="T7" fmla="*/ 14 h 27"/>
                  <a:gd name="T8" fmla="*/ 1 w 26"/>
                  <a:gd name="T9" fmla="*/ 21 h 27"/>
                  <a:gd name="T10" fmla="*/ 1 w 26"/>
                  <a:gd name="T11" fmla="*/ 25 h 27"/>
                  <a:gd name="T12" fmla="*/ 2 w 26"/>
                  <a:gd name="T13" fmla="*/ 27 h 27"/>
                  <a:gd name="T14" fmla="*/ 13 w 26"/>
                  <a:gd name="T15" fmla="*/ 25 h 27"/>
                  <a:gd name="T16" fmla="*/ 14 w 26"/>
                  <a:gd name="T17" fmla="*/ 25 h 27"/>
                  <a:gd name="T18" fmla="*/ 18 w 26"/>
                  <a:gd name="T19" fmla="*/ 26 h 27"/>
                  <a:gd name="T20" fmla="*/ 23 w 26"/>
                  <a:gd name="T21" fmla="*/ 19 h 27"/>
                  <a:gd name="T22" fmla="*/ 20 w 26"/>
                  <a:gd name="T23" fmla="*/ 17 h 27"/>
                  <a:gd name="T24" fmla="*/ 18 w 26"/>
                  <a:gd name="T25" fmla="*/ 15 h 27"/>
                  <a:gd name="T26" fmla="*/ 25 w 26"/>
                  <a:gd name="T27" fmla="*/ 9 h 27"/>
                  <a:gd name="T28" fmla="*/ 23 w 26"/>
                  <a:gd name="T29" fmla="*/ 2 h 27"/>
                  <a:gd name="T30" fmla="*/ 21 w 26"/>
                  <a:gd name="T31" fmla="*/ 0 h 27"/>
                  <a:gd name="T32" fmla="*/ 15 w 26"/>
                  <a:gd name="T33" fmla="*/ 5 h 27"/>
                  <a:gd name="T34" fmla="*/ 14 w 26"/>
                  <a:gd name="T35" fmla="*/ 5 h 27"/>
                  <a:gd name="T36" fmla="*/ 11 w 26"/>
                  <a:gd name="T37" fmla="*/ 4 h 27"/>
                  <a:gd name="T38" fmla="*/ 10 w 26"/>
                  <a:gd name="T39" fmla="*/ 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 h="27">
                    <a:moveTo>
                      <a:pt x="10" y="4"/>
                    </a:moveTo>
                    <a:cubicBezTo>
                      <a:pt x="10" y="4"/>
                      <a:pt x="10" y="4"/>
                      <a:pt x="10" y="5"/>
                    </a:cubicBezTo>
                    <a:cubicBezTo>
                      <a:pt x="9" y="5"/>
                      <a:pt x="5" y="12"/>
                      <a:pt x="5" y="12"/>
                    </a:cubicBezTo>
                    <a:cubicBezTo>
                      <a:pt x="5" y="12"/>
                      <a:pt x="4" y="13"/>
                      <a:pt x="3" y="14"/>
                    </a:cubicBezTo>
                    <a:cubicBezTo>
                      <a:pt x="3" y="14"/>
                      <a:pt x="0" y="17"/>
                      <a:pt x="1" y="21"/>
                    </a:cubicBezTo>
                    <a:cubicBezTo>
                      <a:pt x="1" y="24"/>
                      <a:pt x="1" y="24"/>
                      <a:pt x="1" y="25"/>
                    </a:cubicBezTo>
                    <a:cubicBezTo>
                      <a:pt x="1" y="25"/>
                      <a:pt x="1" y="27"/>
                      <a:pt x="2" y="27"/>
                    </a:cubicBezTo>
                    <a:cubicBezTo>
                      <a:pt x="4" y="27"/>
                      <a:pt x="11" y="26"/>
                      <a:pt x="13" y="25"/>
                    </a:cubicBezTo>
                    <a:cubicBezTo>
                      <a:pt x="13" y="25"/>
                      <a:pt x="13" y="25"/>
                      <a:pt x="14" y="25"/>
                    </a:cubicBezTo>
                    <a:cubicBezTo>
                      <a:pt x="14" y="25"/>
                      <a:pt x="17" y="26"/>
                      <a:pt x="18" y="26"/>
                    </a:cubicBezTo>
                    <a:cubicBezTo>
                      <a:pt x="20" y="24"/>
                      <a:pt x="22" y="20"/>
                      <a:pt x="23" y="19"/>
                    </a:cubicBezTo>
                    <a:cubicBezTo>
                      <a:pt x="22" y="18"/>
                      <a:pt x="21" y="17"/>
                      <a:pt x="20" y="17"/>
                    </a:cubicBezTo>
                    <a:cubicBezTo>
                      <a:pt x="16" y="17"/>
                      <a:pt x="13" y="17"/>
                      <a:pt x="18" y="15"/>
                    </a:cubicBezTo>
                    <a:cubicBezTo>
                      <a:pt x="22" y="13"/>
                      <a:pt x="26" y="11"/>
                      <a:pt x="25" y="9"/>
                    </a:cubicBezTo>
                    <a:cubicBezTo>
                      <a:pt x="25" y="7"/>
                      <a:pt x="25" y="4"/>
                      <a:pt x="23" y="2"/>
                    </a:cubicBezTo>
                    <a:cubicBezTo>
                      <a:pt x="22" y="1"/>
                      <a:pt x="21" y="1"/>
                      <a:pt x="21" y="0"/>
                    </a:cubicBezTo>
                    <a:cubicBezTo>
                      <a:pt x="15" y="5"/>
                      <a:pt x="15" y="5"/>
                      <a:pt x="15" y="5"/>
                    </a:cubicBezTo>
                    <a:cubicBezTo>
                      <a:pt x="15" y="5"/>
                      <a:pt x="15" y="6"/>
                      <a:pt x="14" y="5"/>
                    </a:cubicBezTo>
                    <a:cubicBezTo>
                      <a:pt x="14" y="5"/>
                      <a:pt x="11" y="4"/>
                      <a:pt x="11" y="4"/>
                    </a:cubicBezTo>
                    <a:cubicBezTo>
                      <a:pt x="11" y="4"/>
                      <a:pt x="10" y="4"/>
                      <a:pt x="10"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48" name="Freeform 959">
                <a:extLst>
                  <a:ext uri="{FF2B5EF4-FFF2-40B4-BE49-F238E27FC236}">
                    <a16:creationId xmlns:a16="http://schemas.microsoft.com/office/drawing/2014/main" id="{9524B861-6F4A-4B70-9BC5-7CFB21F537D5}"/>
                  </a:ext>
                </a:extLst>
              </p:cNvPr>
              <p:cNvSpPr>
                <a:spLocks/>
              </p:cNvSpPr>
              <p:nvPr/>
            </p:nvSpPr>
            <p:spPr bwMode="auto">
              <a:xfrm>
                <a:off x="4322" y="2355"/>
                <a:ext cx="11" cy="7"/>
              </a:xfrm>
              <a:custGeom>
                <a:avLst/>
                <a:gdLst>
                  <a:gd name="T0" fmla="*/ 4 w 8"/>
                  <a:gd name="T1" fmla="*/ 2 h 5"/>
                  <a:gd name="T2" fmla="*/ 1 w 8"/>
                  <a:gd name="T3" fmla="*/ 0 h 5"/>
                  <a:gd name="T4" fmla="*/ 1 w 8"/>
                  <a:gd name="T5" fmla="*/ 2 h 5"/>
                  <a:gd name="T6" fmla="*/ 5 w 8"/>
                  <a:gd name="T7" fmla="*/ 5 h 5"/>
                  <a:gd name="T8" fmla="*/ 7 w 8"/>
                  <a:gd name="T9" fmla="*/ 4 h 5"/>
                  <a:gd name="T10" fmla="*/ 5 w 8"/>
                  <a:gd name="T11" fmla="*/ 4 h 5"/>
                  <a:gd name="T12" fmla="*/ 4 w 8"/>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4" y="2"/>
                    </a:moveTo>
                    <a:cubicBezTo>
                      <a:pt x="4" y="1"/>
                      <a:pt x="3" y="0"/>
                      <a:pt x="1" y="0"/>
                    </a:cubicBezTo>
                    <a:cubicBezTo>
                      <a:pt x="0" y="0"/>
                      <a:pt x="1" y="2"/>
                      <a:pt x="1" y="2"/>
                    </a:cubicBezTo>
                    <a:cubicBezTo>
                      <a:pt x="1" y="4"/>
                      <a:pt x="3" y="5"/>
                      <a:pt x="5" y="5"/>
                    </a:cubicBezTo>
                    <a:cubicBezTo>
                      <a:pt x="7" y="5"/>
                      <a:pt x="8" y="4"/>
                      <a:pt x="7" y="4"/>
                    </a:cubicBezTo>
                    <a:cubicBezTo>
                      <a:pt x="7" y="3"/>
                      <a:pt x="6" y="3"/>
                      <a:pt x="5" y="4"/>
                    </a:cubicBezTo>
                    <a:cubicBezTo>
                      <a:pt x="4" y="4"/>
                      <a:pt x="4" y="3"/>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49" name="Freeform 960">
                <a:extLst>
                  <a:ext uri="{FF2B5EF4-FFF2-40B4-BE49-F238E27FC236}">
                    <a16:creationId xmlns:a16="http://schemas.microsoft.com/office/drawing/2014/main" id="{7DAADBBF-AC84-440B-84B9-52D902586C6A}"/>
                  </a:ext>
                </a:extLst>
              </p:cNvPr>
              <p:cNvSpPr>
                <a:spLocks/>
              </p:cNvSpPr>
              <p:nvPr/>
            </p:nvSpPr>
            <p:spPr bwMode="auto">
              <a:xfrm>
                <a:off x="4252" y="2311"/>
                <a:ext cx="137" cy="119"/>
              </a:xfrm>
              <a:custGeom>
                <a:avLst/>
                <a:gdLst>
                  <a:gd name="T0" fmla="*/ 25 w 99"/>
                  <a:gd name="T1" fmla="*/ 7 h 86"/>
                  <a:gd name="T2" fmla="*/ 24 w 99"/>
                  <a:gd name="T3" fmla="*/ 7 h 86"/>
                  <a:gd name="T4" fmla="*/ 22 w 99"/>
                  <a:gd name="T5" fmla="*/ 8 h 86"/>
                  <a:gd name="T6" fmla="*/ 16 w 99"/>
                  <a:gd name="T7" fmla="*/ 12 h 86"/>
                  <a:gd name="T8" fmla="*/ 14 w 99"/>
                  <a:gd name="T9" fmla="*/ 14 h 86"/>
                  <a:gd name="T10" fmla="*/ 8 w 99"/>
                  <a:gd name="T11" fmla="*/ 14 h 86"/>
                  <a:gd name="T12" fmla="*/ 8 w 99"/>
                  <a:gd name="T13" fmla="*/ 15 h 86"/>
                  <a:gd name="T14" fmla="*/ 7 w 99"/>
                  <a:gd name="T15" fmla="*/ 23 h 86"/>
                  <a:gd name="T16" fmla="*/ 7 w 99"/>
                  <a:gd name="T17" fmla="*/ 24 h 86"/>
                  <a:gd name="T18" fmla="*/ 1 w 99"/>
                  <a:gd name="T19" fmla="*/ 41 h 86"/>
                  <a:gd name="T20" fmla="*/ 0 w 99"/>
                  <a:gd name="T21" fmla="*/ 49 h 86"/>
                  <a:gd name="T22" fmla="*/ 1 w 99"/>
                  <a:gd name="T23" fmla="*/ 57 h 86"/>
                  <a:gd name="T24" fmla="*/ 8 w 99"/>
                  <a:gd name="T25" fmla="*/ 57 h 86"/>
                  <a:gd name="T26" fmla="*/ 11 w 99"/>
                  <a:gd name="T27" fmla="*/ 55 h 86"/>
                  <a:gd name="T28" fmla="*/ 13 w 99"/>
                  <a:gd name="T29" fmla="*/ 54 h 86"/>
                  <a:gd name="T30" fmla="*/ 15 w 99"/>
                  <a:gd name="T31" fmla="*/ 57 h 86"/>
                  <a:gd name="T32" fmla="*/ 18 w 99"/>
                  <a:gd name="T33" fmla="*/ 55 h 86"/>
                  <a:gd name="T34" fmla="*/ 21 w 99"/>
                  <a:gd name="T35" fmla="*/ 49 h 86"/>
                  <a:gd name="T36" fmla="*/ 22 w 99"/>
                  <a:gd name="T37" fmla="*/ 48 h 86"/>
                  <a:gd name="T38" fmla="*/ 25 w 99"/>
                  <a:gd name="T39" fmla="*/ 50 h 86"/>
                  <a:gd name="T40" fmla="*/ 27 w 99"/>
                  <a:gd name="T41" fmla="*/ 51 h 86"/>
                  <a:gd name="T42" fmla="*/ 30 w 99"/>
                  <a:gd name="T43" fmla="*/ 54 h 86"/>
                  <a:gd name="T44" fmla="*/ 31 w 99"/>
                  <a:gd name="T45" fmla="*/ 54 h 86"/>
                  <a:gd name="T46" fmla="*/ 35 w 99"/>
                  <a:gd name="T47" fmla="*/ 53 h 86"/>
                  <a:gd name="T48" fmla="*/ 38 w 99"/>
                  <a:gd name="T49" fmla="*/ 52 h 86"/>
                  <a:gd name="T50" fmla="*/ 42 w 99"/>
                  <a:gd name="T51" fmla="*/ 52 h 86"/>
                  <a:gd name="T52" fmla="*/ 42 w 99"/>
                  <a:gd name="T53" fmla="*/ 54 h 86"/>
                  <a:gd name="T54" fmla="*/ 44 w 99"/>
                  <a:gd name="T55" fmla="*/ 53 h 86"/>
                  <a:gd name="T56" fmla="*/ 46 w 99"/>
                  <a:gd name="T57" fmla="*/ 52 h 86"/>
                  <a:gd name="T58" fmla="*/ 48 w 99"/>
                  <a:gd name="T59" fmla="*/ 52 h 86"/>
                  <a:gd name="T60" fmla="*/ 50 w 99"/>
                  <a:gd name="T61" fmla="*/ 53 h 86"/>
                  <a:gd name="T62" fmla="*/ 52 w 99"/>
                  <a:gd name="T63" fmla="*/ 53 h 86"/>
                  <a:gd name="T64" fmla="*/ 56 w 99"/>
                  <a:gd name="T65" fmla="*/ 53 h 86"/>
                  <a:gd name="T66" fmla="*/ 59 w 99"/>
                  <a:gd name="T67" fmla="*/ 56 h 86"/>
                  <a:gd name="T68" fmla="*/ 66 w 99"/>
                  <a:gd name="T69" fmla="*/ 59 h 86"/>
                  <a:gd name="T70" fmla="*/ 81 w 99"/>
                  <a:gd name="T71" fmla="*/ 76 h 86"/>
                  <a:gd name="T72" fmla="*/ 88 w 99"/>
                  <a:gd name="T73" fmla="*/ 84 h 86"/>
                  <a:gd name="T74" fmla="*/ 89 w 99"/>
                  <a:gd name="T75" fmla="*/ 84 h 86"/>
                  <a:gd name="T76" fmla="*/ 92 w 99"/>
                  <a:gd name="T77" fmla="*/ 85 h 86"/>
                  <a:gd name="T78" fmla="*/ 93 w 99"/>
                  <a:gd name="T79" fmla="*/ 85 h 86"/>
                  <a:gd name="T80" fmla="*/ 99 w 99"/>
                  <a:gd name="T81" fmla="*/ 80 h 86"/>
                  <a:gd name="T82" fmla="*/ 98 w 99"/>
                  <a:gd name="T83" fmla="*/ 79 h 86"/>
                  <a:gd name="T84" fmla="*/ 96 w 99"/>
                  <a:gd name="T85" fmla="*/ 78 h 86"/>
                  <a:gd name="T86" fmla="*/ 92 w 99"/>
                  <a:gd name="T87" fmla="*/ 75 h 86"/>
                  <a:gd name="T88" fmla="*/ 89 w 99"/>
                  <a:gd name="T89" fmla="*/ 73 h 86"/>
                  <a:gd name="T90" fmla="*/ 88 w 99"/>
                  <a:gd name="T91" fmla="*/ 71 h 86"/>
                  <a:gd name="T92" fmla="*/ 81 w 99"/>
                  <a:gd name="T93" fmla="*/ 62 h 86"/>
                  <a:gd name="T94" fmla="*/ 74 w 99"/>
                  <a:gd name="T95" fmla="*/ 56 h 86"/>
                  <a:gd name="T96" fmla="*/ 59 w 99"/>
                  <a:gd name="T97" fmla="*/ 46 h 86"/>
                  <a:gd name="T98" fmla="*/ 53 w 99"/>
                  <a:gd name="T99" fmla="*/ 42 h 86"/>
                  <a:gd name="T100" fmla="*/ 51 w 99"/>
                  <a:gd name="T101" fmla="*/ 39 h 86"/>
                  <a:gd name="T102" fmla="*/ 50 w 99"/>
                  <a:gd name="T103" fmla="*/ 41 h 86"/>
                  <a:gd name="T104" fmla="*/ 49 w 99"/>
                  <a:gd name="T105" fmla="*/ 43 h 86"/>
                  <a:gd name="T106" fmla="*/ 49 w 99"/>
                  <a:gd name="T107" fmla="*/ 42 h 86"/>
                  <a:gd name="T108" fmla="*/ 47 w 99"/>
                  <a:gd name="T109" fmla="*/ 40 h 86"/>
                  <a:gd name="T110" fmla="*/ 45 w 99"/>
                  <a:gd name="T111" fmla="*/ 37 h 86"/>
                  <a:gd name="T112" fmla="*/ 43 w 99"/>
                  <a:gd name="T113" fmla="*/ 32 h 86"/>
                  <a:gd name="T114" fmla="*/ 41 w 99"/>
                  <a:gd name="T115" fmla="*/ 21 h 86"/>
                  <a:gd name="T116" fmla="*/ 33 w 99"/>
                  <a:gd name="T117" fmla="*/ 2 h 86"/>
                  <a:gd name="T118" fmla="*/ 32 w 99"/>
                  <a:gd name="T119" fmla="*/ 0 h 86"/>
                  <a:gd name="T120" fmla="*/ 28 w 99"/>
                  <a:gd name="T121" fmla="*/ 5 h 86"/>
                  <a:gd name="T122" fmla="*/ 25 w 99"/>
                  <a:gd name="T123" fmla="*/ 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 h="86">
                    <a:moveTo>
                      <a:pt x="25" y="7"/>
                    </a:moveTo>
                    <a:cubicBezTo>
                      <a:pt x="24" y="7"/>
                      <a:pt x="24" y="7"/>
                      <a:pt x="24" y="7"/>
                    </a:cubicBezTo>
                    <a:cubicBezTo>
                      <a:pt x="24" y="7"/>
                      <a:pt x="23" y="7"/>
                      <a:pt x="22" y="8"/>
                    </a:cubicBezTo>
                    <a:cubicBezTo>
                      <a:pt x="22" y="8"/>
                      <a:pt x="17" y="11"/>
                      <a:pt x="16" y="12"/>
                    </a:cubicBezTo>
                    <a:cubicBezTo>
                      <a:pt x="16" y="13"/>
                      <a:pt x="15" y="14"/>
                      <a:pt x="14" y="14"/>
                    </a:cubicBezTo>
                    <a:cubicBezTo>
                      <a:pt x="12" y="15"/>
                      <a:pt x="8" y="14"/>
                      <a:pt x="8" y="14"/>
                    </a:cubicBezTo>
                    <a:cubicBezTo>
                      <a:pt x="8" y="14"/>
                      <a:pt x="8" y="14"/>
                      <a:pt x="8" y="15"/>
                    </a:cubicBezTo>
                    <a:cubicBezTo>
                      <a:pt x="8" y="16"/>
                      <a:pt x="7" y="23"/>
                      <a:pt x="7" y="23"/>
                    </a:cubicBezTo>
                    <a:cubicBezTo>
                      <a:pt x="7" y="23"/>
                      <a:pt x="7" y="24"/>
                      <a:pt x="7" y="24"/>
                    </a:cubicBezTo>
                    <a:cubicBezTo>
                      <a:pt x="7" y="25"/>
                      <a:pt x="1" y="40"/>
                      <a:pt x="1" y="41"/>
                    </a:cubicBezTo>
                    <a:cubicBezTo>
                      <a:pt x="1" y="42"/>
                      <a:pt x="0" y="46"/>
                      <a:pt x="0" y="49"/>
                    </a:cubicBezTo>
                    <a:cubicBezTo>
                      <a:pt x="1" y="52"/>
                      <a:pt x="1" y="54"/>
                      <a:pt x="1" y="57"/>
                    </a:cubicBezTo>
                    <a:cubicBezTo>
                      <a:pt x="3" y="57"/>
                      <a:pt x="6" y="57"/>
                      <a:pt x="8" y="57"/>
                    </a:cubicBezTo>
                    <a:cubicBezTo>
                      <a:pt x="9" y="57"/>
                      <a:pt x="10" y="56"/>
                      <a:pt x="11" y="55"/>
                    </a:cubicBezTo>
                    <a:cubicBezTo>
                      <a:pt x="12" y="55"/>
                      <a:pt x="13" y="54"/>
                      <a:pt x="13" y="54"/>
                    </a:cubicBezTo>
                    <a:cubicBezTo>
                      <a:pt x="13" y="55"/>
                      <a:pt x="14" y="57"/>
                      <a:pt x="15" y="57"/>
                    </a:cubicBezTo>
                    <a:cubicBezTo>
                      <a:pt x="15" y="57"/>
                      <a:pt x="17" y="56"/>
                      <a:pt x="18" y="55"/>
                    </a:cubicBezTo>
                    <a:cubicBezTo>
                      <a:pt x="18" y="53"/>
                      <a:pt x="21" y="49"/>
                      <a:pt x="21" y="49"/>
                    </a:cubicBezTo>
                    <a:cubicBezTo>
                      <a:pt x="21" y="49"/>
                      <a:pt x="21" y="47"/>
                      <a:pt x="22" y="48"/>
                    </a:cubicBezTo>
                    <a:cubicBezTo>
                      <a:pt x="22" y="48"/>
                      <a:pt x="23" y="50"/>
                      <a:pt x="25" y="50"/>
                    </a:cubicBezTo>
                    <a:cubicBezTo>
                      <a:pt x="26" y="50"/>
                      <a:pt x="27" y="50"/>
                      <a:pt x="27" y="51"/>
                    </a:cubicBezTo>
                    <a:cubicBezTo>
                      <a:pt x="27" y="51"/>
                      <a:pt x="30" y="54"/>
                      <a:pt x="30" y="54"/>
                    </a:cubicBezTo>
                    <a:cubicBezTo>
                      <a:pt x="30" y="54"/>
                      <a:pt x="31" y="55"/>
                      <a:pt x="31" y="54"/>
                    </a:cubicBezTo>
                    <a:cubicBezTo>
                      <a:pt x="32" y="54"/>
                      <a:pt x="34" y="53"/>
                      <a:pt x="35" y="53"/>
                    </a:cubicBezTo>
                    <a:cubicBezTo>
                      <a:pt x="36" y="53"/>
                      <a:pt x="37" y="53"/>
                      <a:pt x="38" y="52"/>
                    </a:cubicBezTo>
                    <a:cubicBezTo>
                      <a:pt x="39" y="52"/>
                      <a:pt x="41" y="50"/>
                      <a:pt x="42" y="52"/>
                    </a:cubicBezTo>
                    <a:cubicBezTo>
                      <a:pt x="42" y="54"/>
                      <a:pt x="41" y="55"/>
                      <a:pt x="42" y="54"/>
                    </a:cubicBezTo>
                    <a:cubicBezTo>
                      <a:pt x="43" y="53"/>
                      <a:pt x="44" y="53"/>
                      <a:pt x="44" y="53"/>
                    </a:cubicBezTo>
                    <a:cubicBezTo>
                      <a:pt x="45" y="53"/>
                      <a:pt x="46" y="53"/>
                      <a:pt x="46" y="52"/>
                    </a:cubicBezTo>
                    <a:cubicBezTo>
                      <a:pt x="47" y="52"/>
                      <a:pt x="47" y="52"/>
                      <a:pt x="48" y="52"/>
                    </a:cubicBezTo>
                    <a:cubicBezTo>
                      <a:pt x="48" y="52"/>
                      <a:pt x="50" y="53"/>
                      <a:pt x="50" y="53"/>
                    </a:cubicBezTo>
                    <a:cubicBezTo>
                      <a:pt x="50" y="53"/>
                      <a:pt x="51" y="54"/>
                      <a:pt x="52" y="53"/>
                    </a:cubicBezTo>
                    <a:cubicBezTo>
                      <a:pt x="52" y="53"/>
                      <a:pt x="55" y="52"/>
                      <a:pt x="56" y="53"/>
                    </a:cubicBezTo>
                    <a:cubicBezTo>
                      <a:pt x="56" y="54"/>
                      <a:pt x="58" y="55"/>
                      <a:pt x="59" y="56"/>
                    </a:cubicBezTo>
                    <a:cubicBezTo>
                      <a:pt x="60" y="56"/>
                      <a:pt x="65" y="57"/>
                      <a:pt x="66" y="59"/>
                    </a:cubicBezTo>
                    <a:cubicBezTo>
                      <a:pt x="67" y="60"/>
                      <a:pt x="80" y="74"/>
                      <a:pt x="81" y="76"/>
                    </a:cubicBezTo>
                    <a:cubicBezTo>
                      <a:pt x="83" y="77"/>
                      <a:pt x="86" y="82"/>
                      <a:pt x="88" y="84"/>
                    </a:cubicBezTo>
                    <a:cubicBezTo>
                      <a:pt x="88" y="84"/>
                      <a:pt x="89" y="84"/>
                      <a:pt x="89" y="84"/>
                    </a:cubicBezTo>
                    <a:cubicBezTo>
                      <a:pt x="89" y="84"/>
                      <a:pt x="92" y="85"/>
                      <a:pt x="92" y="85"/>
                    </a:cubicBezTo>
                    <a:cubicBezTo>
                      <a:pt x="93" y="86"/>
                      <a:pt x="93" y="85"/>
                      <a:pt x="93" y="85"/>
                    </a:cubicBezTo>
                    <a:cubicBezTo>
                      <a:pt x="99" y="80"/>
                      <a:pt x="99" y="80"/>
                      <a:pt x="99" y="80"/>
                    </a:cubicBezTo>
                    <a:cubicBezTo>
                      <a:pt x="99" y="80"/>
                      <a:pt x="99" y="79"/>
                      <a:pt x="98" y="79"/>
                    </a:cubicBezTo>
                    <a:cubicBezTo>
                      <a:pt x="98" y="78"/>
                      <a:pt x="98" y="77"/>
                      <a:pt x="96" y="78"/>
                    </a:cubicBezTo>
                    <a:cubicBezTo>
                      <a:pt x="94" y="79"/>
                      <a:pt x="93" y="76"/>
                      <a:pt x="92" y="75"/>
                    </a:cubicBezTo>
                    <a:cubicBezTo>
                      <a:pt x="91" y="74"/>
                      <a:pt x="90" y="74"/>
                      <a:pt x="89" y="73"/>
                    </a:cubicBezTo>
                    <a:cubicBezTo>
                      <a:pt x="89" y="73"/>
                      <a:pt x="88" y="72"/>
                      <a:pt x="88" y="71"/>
                    </a:cubicBezTo>
                    <a:cubicBezTo>
                      <a:pt x="87" y="69"/>
                      <a:pt x="85" y="64"/>
                      <a:pt x="81" y="62"/>
                    </a:cubicBezTo>
                    <a:cubicBezTo>
                      <a:pt x="76" y="61"/>
                      <a:pt x="75" y="59"/>
                      <a:pt x="74" y="56"/>
                    </a:cubicBezTo>
                    <a:cubicBezTo>
                      <a:pt x="72" y="54"/>
                      <a:pt x="64" y="46"/>
                      <a:pt x="59" y="46"/>
                    </a:cubicBezTo>
                    <a:cubicBezTo>
                      <a:pt x="53" y="46"/>
                      <a:pt x="54" y="43"/>
                      <a:pt x="53" y="42"/>
                    </a:cubicBezTo>
                    <a:cubicBezTo>
                      <a:pt x="52" y="40"/>
                      <a:pt x="52" y="38"/>
                      <a:pt x="51" y="39"/>
                    </a:cubicBezTo>
                    <a:cubicBezTo>
                      <a:pt x="50" y="39"/>
                      <a:pt x="49" y="40"/>
                      <a:pt x="50" y="41"/>
                    </a:cubicBezTo>
                    <a:cubicBezTo>
                      <a:pt x="51" y="42"/>
                      <a:pt x="50" y="43"/>
                      <a:pt x="49" y="43"/>
                    </a:cubicBezTo>
                    <a:cubicBezTo>
                      <a:pt x="49" y="43"/>
                      <a:pt x="49" y="43"/>
                      <a:pt x="49" y="42"/>
                    </a:cubicBezTo>
                    <a:cubicBezTo>
                      <a:pt x="49" y="41"/>
                      <a:pt x="48" y="41"/>
                      <a:pt x="47" y="40"/>
                    </a:cubicBezTo>
                    <a:cubicBezTo>
                      <a:pt x="46" y="39"/>
                      <a:pt x="45" y="38"/>
                      <a:pt x="45" y="37"/>
                    </a:cubicBezTo>
                    <a:cubicBezTo>
                      <a:pt x="45" y="36"/>
                      <a:pt x="44" y="33"/>
                      <a:pt x="43" y="32"/>
                    </a:cubicBezTo>
                    <a:cubicBezTo>
                      <a:pt x="42" y="31"/>
                      <a:pt x="41" y="25"/>
                      <a:pt x="41" y="21"/>
                    </a:cubicBezTo>
                    <a:cubicBezTo>
                      <a:pt x="40" y="17"/>
                      <a:pt x="36" y="6"/>
                      <a:pt x="33" y="2"/>
                    </a:cubicBezTo>
                    <a:cubicBezTo>
                      <a:pt x="33" y="1"/>
                      <a:pt x="32" y="0"/>
                      <a:pt x="32" y="0"/>
                    </a:cubicBezTo>
                    <a:cubicBezTo>
                      <a:pt x="31" y="1"/>
                      <a:pt x="29" y="5"/>
                      <a:pt x="28" y="5"/>
                    </a:cubicBezTo>
                    <a:cubicBezTo>
                      <a:pt x="27" y="6"/>
                      <a:pt x="26" y="7"/>
                      <a:pt x="25"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50" name="Freeform 961">
                <a:extLst>
                  <a:ext uri="{FF2B5EF4-FFF2-40B4-BE49-F238E27FC236}">
                    <a16:creationId xmlns:a16="http://schemas.microsoft.com/office/drawing/2014/main" id="{AECB0712-B73E-4101-A9C6-B4B3023DF949}"/>
                  </a:ext>
                </a:extLst>
              </p:cNvPr>
              <p:cNvSpPr>
                <a:spLocks/>
              </p:cNvSpPr>
              <p:nvPr/>
            </p:nvSpPr>
            <p:spPr bwMode="auto">
              <a:xfrm>
                <a:off x="3755" y="2572"/>
                <a:ext cx="390" cy="386"/>
              </a:xfrm>
              <a:custGeom>
                <a:avLst/>
                <a:gdLst>
                  <a:gd name="T0" fmla="*/ 180 w 282"/>
                  <a:gd name="T1" fmla="*/ 248 h 281"/>
                  <a:gd name="T2" fmla="*/ 192 w 282"/>
                  <a:gd name="T3" fmla="*/ 247 h 281"/>
                  <a:gd name="T4" fmla="*/ 216 w 282"/>
                  <a:gd name="T5" fmla="*/ 259 h 281"/>
                  <a:gd name="T6" fmla="*/ 227 w 282"/>
                  <a:gd name="T7" fmla="*/ 261 h 281"/>
                  <a:gd name="T8" fmla="*/ 239 w 282"/>
                  <a:gd name="T9" fmla="*/ 266 h 281"/>
                  <a:gd name="T10" fmla="*/ 257 w 282"/>
                  <a:gd name="T11" fmla="*/ 278 h 281"/>
                  <a:gd name="T12" fmla="*/ 260 w 282"/>
                  <a:gd name="T13" fmla="*/ 272 h 281"/>
                  <a:gd name="T14" fmla="*/ 255 w 282"/>
                  <a:gd name="T15" fmla="*/ 263 h 281"/>
                  <a:gd name="T16" fmla="*/ 245 w 282"/>
                  <a:gd name="T17" fmla="*/ 260 h 281"/>
                  <a:gd name="T18" fmla="*/ 239 w 282"/>
                  <a:gd name="T19" fmla="*/ 250 h 281"/>
                  <a:gd name="T20" fmla="*/ 243 w 282"/>
                  <a:gd name="T21" fmla="*/ 226 h 281"/>
                  <a:gd name="T22" fmla="*/ 239 w 282"/>
                  <a:gd name="T23" fmla="*/ 217 h 281"/>
                  <a:gd name="T24" fmla="*/ 272 w 282"/>
                  <a:gd name="T25" fmla="*/ 202 h 281"/>
                  <a:gd name="T26" fmla="*/ 253 w 282"/>
                  <a:gd name="T27" fmla="*/ 167 h 281"/>
                  <a:gd name="T28" fmla="*/ 250 w 282"/>
                  <a:gd name="T29" fmla="*/ 144 h 281"/>
                  <a:gd name="T30" fmla="*/ 252 w 282"/>
                  <a:gd name="T31" fmla="*/ 126 h 281"/>
                  <a:gd name="T32" fmla="*/ 247 w 282"/>
                  <a:gd name="T33" fmla="*/ 116 h 281"/>
                  <a:gd name="T34" fmla="*/ 257 w 282"/>
                  <a:gd name="T35" fmla="*/ 101 h 281"/>
                  <a:gd name="T36" fmla="*/ 259 w 282"/>
                  <a:gd name="T37" fmla="*/ 81 h 281"/>
                  <a:gd name="T38" fmla="*/ 272 w 282"/>
                  <a:gd name="T39" fmla="*/ 60 h 281"/>
                  <a:gd name="T40" fmla="*/ 278 w 282"/>
                  <a:gd name="T41" fmla="*/ 45 h 281"/>
                  <a:gd name="T42" fmla="*/ 275 w 282"/>
                  <a:gd name="T43" fmla="*/ 38 h 281"/>
                  <a:gd name="T44" fmla="*/ 273 w 282"/>
                  <a:gd name="T45" fmla="*/ 27 h 281"/>
                  <a:gd name="T46" fmla="*/ 260 w 282"/>
                  <a:gd name="T47" fmla="*/ 13 h 281"/>
                  <a:gd name="T48" fmla="*/ 251 w 282"/>
                  <a:gd name="T49" fmla="*/ 15 h 281"/>
                  <a:gd name="T50" fmla="*/ 230 w 282"/>
                  <a:gd name="T51" fmla="*/ 9 h 281"/>
                  <a:gd name="T52" fmla="*/ 209 w 282"/>
                  <a:gd name="T53" fmla="*/ 4 h 281"/>
                  <a:gd name="T54" fmla="*/ 194 w 282"/>
                  <a:gd name="T55" fmla="*/ 3 h 281"/>
                  <a:gd name="T56" fmla="*/ 181 w 282"/>
                  <a:gd name="T57" fmla="*/ 5 h 281"/>
                  <a:gd name="T58" fmla="*/ 165 w 282"/>
                  <a:gd name="T59" fmla="*/ 12 h 281"/>
                  <a:gd name="T60" fmla="*/ 151 w 282"/>
                  <a:gd name="T61" fmla="*/ 18 h 281"/>
                  <a:gd name="T62" fmla="*/ 135 w 282"/>
                  <a:gd name="T63" fmla="*/ 16 h 281"/>
                  <a:gd name="T64" fmla="*/ 113 w 282"/>
                  <a:gd name="T65" fmla="*/ 6 h 281"/>
                  <a:gd name="T66" fmla="*/ 101 w 282"/>
                  <a:gd name="T67" fmla="*/ 8 h 281"/>
                  <a:gd name="T68" fmla="*/ 94 w 282"/>
                  <a:gd name="T69" fmla="*/ 19 h 281"/>
                  <a:gd name="T70" fmla="*/ 88 w 282"/>
                  <a:gd name="T71" fmla="*/ 43 h 281"/>
                  <a:gd name="T72" fmla="*/ 83 w 282"/>
                  <a:gd name="T73" fmla="*/ 77 h 281"/>
                  <a:gd name="T74" fmla="*/ 66 w 282"/>
                  <a:gd name="T75" fmla="*/ 102 h 281"/>
                  <a:gd name="T76" fmla="*/ 58 w 282"/>
                  <a:gd name="T77" fmla="*/ 121 h 281"/>
                  <a:gd name="T78" fmla="*/ 53 w 282"/>
                  <a:gd name="T79" fmla="*/ 139 h 281"/>
                  <a:gd name="T80" fmla="*/ 32 w 282"/>
                  <a:gd name="T81" fmla="*/ 153 h 281"/>
                  <a:gd name="T82" fmla="*/ 27 w 282"/>
                  <a:gd name="T83" fmla="*/ 145 h 281"/>
                  <a:gd name="T84" fmla="*/ 21 w 282"/>
                  <a:gd name="T85" fmla="*/ 147 h 281"/>
                  <a:gd name="T86" fmla="*/ 12 w 282"/>
                  <a:gd name="T87" fmla="*/ 149 h 281"/>
                  <a:gd name="T88" fmla="*/ 4 w 282"/>
                  <a:gd name="T89" fmla="*/ 164 h 281"/>
                  <a:gd name="T90" fmla="*/ 9 w 282"/>
                  <a:gd name="T91" fmla="*/ 167 h 281"/>
                  <a:gd name="T92" fmla="*/ 39 w 282"/>
                  <a:gd name="T93" fmla="*/ 167 h 281"/>
                  <a:gd name="T94" fmla="*/ 67 w 282"/>
                  <a:gd name="T95" fmla="*/ 175 h 281"/>
                  <a:gd name="T96" fmla="*/ 76 w 282"/>
                  <a:gd name="T97" fmla="*/ 196 h 281"/>
                  <a:gd name="T98" fmla="*/ 87 w 282"/>
                  <a:gd name="T99" fmla="*/ 200 h 281"/>
                  <a:gd name="T100" fmla="*/ 108 w 282"/>
                  <a:gd name="T101" fmla="*/ 186 h 281"/>
                  <a:gd name="T102" fmla="*/ 124 w 282"/>
                  <a:gd name="T103" fmla="*/ 184 h 281"/>
                  <a:gd name="T104" fmla="*/ 140 w 282"/>
                  <a:gd name="T105" fmla="*/ 188 h 281"/>
                  <a:gd name="T106" fmla="*/ 142 w 282"/>
                  <a:gd name="T107" fmla="*/ 203 h 281"/>
                  <a:gd name="T108" fmla="*/ 147 w 282"/>
                  <a:gd name="T109" fmla="*/ 229 h 281"/>
                  <a:gd name="T110" fmla="*/ 147 w 282"/>
                  <a:gd name="T111" fmla="*/ 246 h 281"/>
                  <a:gd name="T112" fmla="*/ 174 w 282"/>
                  <a:gd name="T113" fmla="*/ 242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2" h="281">
                    <a:moveTo>
                      <a:pt x="174" y="242"/>
                    </a:moveTo>
                    <a:cubicBezTo>
                      <a:pt x="174" y="242"/>
                      <a:pt x="174" y="242"/>
                      <a:pt x="174" y="242"/>
                    </a:cubicBezTo>
                    <a:cubicBezTo>
                      <a:pt x="175" y="243"/>
                      <a:pt x="178" y="245"/>
                      <a:pt x="179" y="246"/>
                    </a:cubicBezTo>
                    <a:cubicBezTo>
                      <a:pt x="179" y="246"/>
                      <a:pt x="181" y="247"/>
                      <a:pt x="180" y="248"/>
                    </a:cubicBezTo>
                    <a:cubicBezTo>
                      <a:pt x="179" y="249"/>
                      <a:pt x="177" y="250"/>
                      <a:pt x="180" y="250"/>
                    </a:cubicBezTo>
                    <a:cubicBezTo>
                      <a:pt x="182" y="250"/>
                      <a:pt x="183" y="250"/>
                      <a:pt x="184" y="250"/>
                    </a:cubicBezTo>
                    <a:cubicBezTo>
                      <a:pt x="185" y="249"/>
                      <a:pt x="187" y="248"/>
                      <a:pt x="188" y="248"/>
                    </a:cubicBezTo>
                    <a:cubicBezTo>
                      <a:pt x="189" y="248"/>
                      <a:pt x="192" y="247"/>
                      <a:pt x="192" y="247"/>
                    </a:cubicBezTo>
                    <a:cubicBezTo>
                      <a:pt x="193" y="247"/>
                      <a:pt x="194" y="246"/>
                      <a:pt x="194" y="248"/>
                    </a:cubicBezTo>
                    <a:cubicBezTo>
                      <a:pt x="194" y="249"/>
                      <a:pt x="193" y="255"/>
                      <a:pt x="199" y="256"/>
                    </a:cubicBezTo>
                    <a:cubicBezTo>
                      <a:pt x="205" y="257"/>
                      <a:pt x="209" y="257"/>
                      <a:pt x="210" y="258"/>
                    </a:cubicBezTo>
                    <a:cubicBezTo>
                      <a:pt x="211" y="258"/>
                      <a:pt x="216" y="259"/>
                      <a:pt x="216" y="259"/>
                    </a:cubicBezTo>
                    <a:cubicBezTo>
                      <a:pt x="217" y="258"/>
                      <a:pt x="219" y="258"/>
                      <a:pt x="219" y="255"/>
                    </a:cubicBezTo>
                    <a:cubicBezTo>
                      <a:pt x="219" y="253"/>
                      <a:pt x="219" y="253"/>
                      <a:pt x="220" y="253"/>
                    </a:cubicBezTo>
                    <a:cubicBezTo>
                      <a:pt x="220" y="252"/>
                      <a:pt x="222" y="252"/>
                      <a:pt x="222" y="254"/>
                    </a:cubicBezTo>
                    <a:cubicBezTo>
                      <a:pt x="223" y="255"/>
                      <a:pt x="226" y="259"/>
                      <a:pt x="227" y="261"/>
                    </a:cubicBezTo>
                    <a:cubicBezTo>
                      <a:pt x="228" y="263"/>
                      <a:pt x="227" y="263"/>
                      <a:pt x="228" y="263"/>
                    </a:cubicBezTo>
                    <a:cubicBezTo>
                      <a:pt x="228" y="263"/>
                      <a:pt x="232" y="263"/>
                      <a:pt x="233" y="263"/>
                    </a:cubicBezTo>
                    <a:cubicBezTo>
                      <a:pt x="233" y="264"/>
                      <a:pt x="235" y="265"/>
                      <a:pt x="236" y="265"/>
                    </a:cubicBezTo>
                    <a:cubicBezTo>
                      <a:pt x="237" y="265"/>
                      <a:pt x="239" y="265"/>
                      <a:pt x="239" y="266"/>
                    </a:cubicBezTo>
                    <a:cubicBezTo>
                      <a:pt x="239" y="266"/>
                      <a:pt x="249" y="279"/>
                      <a:pt x="249" y="279"/>
                    </a:cubicBezTo>
                    <a:cubicBezTo>
                      <a:pt x="249" y="279"/>
                      <a:pt x="249" y="280"/>
                      <a:pt x="250" y="280"/>
                    </a:cubicBezTo>
                    <a:cubicBezTo>
                      <a:pt x="250" y="280"/>
                      <a:pt x="251" y="281"/>
                      <a:pt x="252" y="280"/>
                    </a:cubicBezTo>
                    <a:cubicBezTo>
                      <a:pt x="253" y="279"/>
                      <a:pt x="257" y="278"/>
                      <a:pt x="257" y="278"/>
                    </a:cubicBezTo>
                    <a:cubicBezTo>
                      <a:pt x="258" y="278"/>
                      <a:pt x="258" y="279"/>
                      <a:pt x="258" y="279"/>
                    </a:cubicBezTo>
                    <a:cubicBezTo>
                      <a:pt x="258" y="280"/>
                      <a:pt x="258" y="281"/>
                      <a:pt x="259" y="281"/>
                    </a:cubicBezTo>
                    <a:cubicBezTo>
                      <a:pt x="260" y="281"/>
                      <a:pt x="261" y="281"/>
                      <a:pt x="261" y="279"/>
                    </a:cubicBezTo>
                    <a:cubicBezTo>
                      <a:pt x="260" y="278"/>
                      <a:pt x="260" y="273"/>
                      <a:pt x="260" y="272"/>
                    </a:cubicBezTo>
                    <a:cubicBezTo>
                      <a:pt x="260" y="271"/>
                      <a:pt x="260" y="262"/>
                      <a:pt x="260" y="262"/>
                    </a:cubicBezTo>
                    <a:cubicBezTo>
                      <a:pt x="260" y="262"/>
                      <a:pt x="261" y="261"/>
                      <a:pt x="260" y="261"/>
                    </a:cubicBezTo>
                    <a:cubicBezTo>
                      <a:pt x="258" y="262"/>
                      <a:pt x="258" y="262"/>
                      <a:pt x="257" y="262"/>
                    </a:cubicBezTo>
                    <a:cubicBezTo>
                      <a:pt x="257" y="262"/>
                      <a:pt x="255" y="262"/>
                      <a:pt x="255" y="263"/>
                    </a:cubicBezTo>
                    <a:cubicBezTo>
                      <a:pt x="255" y="265"/>
                      <a:pt x="255" y="265"/>
                      <a:pt x="254" y="265"/>
                    </a:cubicBezTo>
                    <a:cubicBezTo>
                      <a:pt x="254" y="265"/>
                      <a:pt x="252" y="265"/>
                      <a:pt x="251" y="265"/>
                    </a:cubicBezTo>
                    <a:cubicBezTo>
                      <a:pt x="251" y="265"/>
                      <a:pt x="250" y="265"/>
                      <a:pt x="248" y="264"/>
                    </a:cubicBezTo>
                    <a:cubicBezTo>
                      <a:pt x="247" y="263"/>
                      <a:pt x="246" y="261"/>
                      <a:pt x="245" y="260"/>
                    </a:cubicBezTo>
                    <a:cubicBezTo>
                      <a:pt x="244" y="259"/>
                      <a:pt x="243" y="258"/>
                      <a:pt x="243" y="258"/>
                    </a:cubicBezTo>
                    <a:cubicBezTo>
                      <a:pt x="242" y="258"/>
                      <a:pt x="241" y="257"/>
                      <a:pt x="240" y="255"/>
                    </a:cubicBezTo>
                    <a:cubicBezTo>
                      <a:pt x="239" y="253"/>
                      <a:pt x="239" y="253"/>
                      <a:pt x="239" y="253"/>
                    </a:cubicBezTo>
                    <a:cubicBezTo>
                      <a:pt x="239" y="252"/>
                      <a:pt x="239" y="252"/>
                      <a:pt x="239" y="250"/>
                    </a:cubicBezTo>
                    <a:cubicBezTo>
                      <a:pt x="239" y="249"/>
                      <a:pt x="242" y="239"/>
                      <a:pt x="242" y="239"/>
                    </a:cubicBezTo>
                    <a:cubicBezTo>
                      <a:pt x="242" y="239"/>
                      <a:pt x="243" y="236"/>
                      <a:pt x="243" y="235"/>
                    </a:cubicBezTo>
                    <a:cubicBezTo>
                      <a:pt x="242" y="233"/>
                      <a:pt x="242" y="231"/>
                      <a:pt x="242" y="229"/>
                    </a:cubicBezTo>
                    <a:cubicBezTo>
                      <a:pt x="243" y="228"/>
                      <a:pt x="243" y="226"/>
                      <a:pt x="243" y="226"/>
                    </a:cubicBezTo>
                    <a:cubicBezTo>
                      <a:pt x="243" y="225"/>
                      <a:pt x="243" y="224"/>
                      <a:pt x="243" y="223"/>
                    </a:cubicBezTo>
                    <a:cubicBezTo>
                      <a:pt x="242" y="223"/>
                      <a:pt x="242" y="221"/>
                      <a:pt x="241" y="221"/>
                    </a:cubicBezTo>
                    <a:cubicBezTo>
                      <a:pt x="241" y="220"/>
                      <a:pt x="241" y="219"/>
                      <a:pt x="240" y="219"/>
                    </a:cubicBezTo>
                    <a:cubicBezTo>
                      <a:pt x="240" y="219"/>
                      <a:pt x="238" y="219"/>
                      <a:pt x="239" y="217"/>
                    </a:cubicBezTo>
                    <a:cubicBezTo>
                      <a:pt x="241" y="216"/>
                      <a:pt x="246" y="211"/>
                      <a:pt x="247" y="210"/>
                    </a:cubicBezTo>
                    <a:cubicBezTo>
                      <a:pt x="247" y="209"/>
                      <a:pt x="248" y="208"/>
                      <a:pt x="247" y="207"/>
                    </a:cubicBezTo>
                    <a:cubicBezTo>
                      <a:pt x="247" y="206"/>
                      <a:pt x="247" y="206"/>
                      <a:pt x="248" y="206"/>
                    </a:cubicBezTo>
                    <a:cubicBezTo>
                      <a:pt x="248" y="206"/>
                      <a:pt x="265" y="203"/>
                      <a:pt x="272" y="202"/>
                    </a:cubicBezTo>
                    <a:cubicBezTo>
                      <a:pt x="271" y="202"/>
                      <a:pt x="270" y="201"/>
                      <a:pt x="269" y="199"/>
                    </a:cubicBezTo>
                    <a:cubicBezTo>
                      <a:pt x="267" y="196"/>
                      <a:pt x="267" y="192"/>
                      <a:pt x="266" y="190"/>
                    </a:cubicBezTo>
                    <a:cubicBezTo>
                      <a:pt x="265" y="187"/>
                      <a:pt x="256" y="177"/>
                      <a:pt x="253" y="173"/>
                    </a:cubicBezTo>
                    <a:cubicBezTo>
                      <a:pt x="251" y="170"/>
                      <a:pt x="251" y="169"/>
                      <a:pt x="253" y="167"/>
                    </a:cubicBezTo>
                    <a:cubicBezTo>
                      <a:pt x="255" y="166"/>
                      <a:pt x="253" y="161"/>
                      <a:pt x="251" y="157"/>
                    </a:cubicBezTo>
                    <a:cubicBezTo>
                      <a:pt x="250" y="153"/>
                      <a:pt x="252" y="147"/>
                      <a:pt x="252" y="143"/>
                    </a:cubicBezTo>
                    <a:cubicBezTo>
                      <a:pt x="253" y="138"/>
                      <a:pt x="252" y="141"/>
                      <a:pt x="251" y="142"/>
                    </a:cubicBezTo>
                    <a:cubicBezTo>
                      <a:pt x="251" y="144"/>
                      <a:pt x="251" y="145"/>
                      <a:pt x="250" y="144"/>
                    </a:cubicBezTo>
                    <a:cubicBezTo>
                      <a:pt x="249" y="144"/>
                      <a:pt x="250" y="141"/>
                      <a:pt x="250" y="140"/>
                    </a:cubicBezTo>
                    <a:cubicBezTo>
                      <a:pt x="250" y="140"/>
                      <a:pt x="251" y="134"/>
                      <a:pt x="252" y="132"/>
                    </a:cubicBezTo>
                    <a:cubicBezTo>
                      <a:pt x="251" y="131"/>
                      <a:pt x="251" y="129"/>
                      <a:pt x="252" y="129"/>
                    </a:cubicBezTo>
                    <a:cubicBezTo>
                      <a:pt x="252" y="128"/>
                      <a:pt x="252" y="127"/>
                      <a:pt x="252" y="126"/>
                    </a:cubicBezTo>
                    <a:cubicBezTo>
                      <a:pt x="252" y="125"/>
                      <a:pt x="251" y="124"/>
                      <a:pt x="251" y="124"/>
                    </a:cubicBezTo>
                    <a:cubicBezTo>
                      <a:pt x="251" y="124"/>
                      <a:pt x="250" y="122"/>
                      <a:pt x="249" y="120"/>
                    </a:cubicBezTo>
                    <a:cubicBezTo>
                      <a:pt x="248" y="119"/>
                      <a:pt x="247" y="117"/>
                      <a:pt x="247" y="117"/>
                    </a:cubicBezTo>
                    <a:cubicBezTo>
                      <a:pt x="246" y="117"/>
                      <a:pt x="247" y="116"/>
                      <a:pt x="247" y="116"/>
                    </a:cubicBezTo>
                    <a:cubicBezTo>
                      <a:pt x="252" y="113"/>
                      <a:pt x="252" y="107"/>
                      <a:pt x="251" y="106"/>
                    </a:cubicBezTo>
                    <a:cubicBezTo>
                      <a:pt x="251" y="105"/>
                      <a:pt x="252" y="105"/>
                      <a:pt x="252" y="104"/>
                    </a:cubicBezTo>
                    <a:cubicBezTo>
                      <a:pt x="253" y="104"/>
                      <a:pt x="255" y="102"/>
                      <a:pt x="256" y="101"/>
                    </a:cubicBezTo>
                    <a:cubicBezTo>
                      <a:pt x="256" y="101"/>
                      <a:pt x="257" y="101"/>
                      <a:pt x="257" y="101"/>
                    </a:cubicBezTo>
                    <a:cubicBezTo>
                      <a:pt x="257" y="96"/>
                      <a:pt x="257" y="96"/>
                      <a:pt x="257" y="96"/>
                    </a:cubicBezTo>
                    <a:cubicBezTo>
                      <a:pt x="257" y="96"/>
                      <a:pt x="257" y="95"/>
                      <a:pt x="257" y="94"/>
                    </a:cubicBezTo>
                    <a:cubicBezTo>
                      <a:pt x="257" y="93"/>
                      <a:pt x="258" y="88"/>
                      <a:pt x="258" y="87"/>
                    </a:cubicBezTo>
                    <a:cubicBezTo>
                      <a:pt x="258" y="86"/>
                      <a:pt x="259" y="82"/>
                      <a:pt x="259" y="81"/>
                    </a:cubicBezTo>
                    <a:cubicBezTo>
                      <a:pt x="259" y="80"/>
                      <a:pt x="262" y="74"/>
                      <a:pt x="262" y="73"/>
                    </a:cubicBezTo>
                    <a:cubicBezTo>
                      <a:pt x="262" y="72"/>
                      <a:pt x="263" y="68"/>
                      <a:pt x="263" y="68"/>
                    </a:cubicBezTo>
                    <a:cubicBezTo>
                      <a:pt x="263" y="68"/>
                      <a:pt x="263" y="67"/>
                      <a:pt x="263" y="67"/>
                    </a:cubicBezTo>
                    <a:cubicBezTo>
                      <a:pt x="264" y="66"/>
                      <a:pt x="271" y="61"/>
                      <a:pt x="272" y="60"/>
                    </a:cubicBezTo>
                    <a:cubicBezTo>
                      <a:pt x="272" y="60"/>
                      <a:pt x="280" y="52"/>
                      <a:pt x="280" y="52"/>
                    </a:cubicBezTo>
                    <a:cubicBezTo>
                      <a:pt x="280" y="51"/>
                      <a:pt x="282" y="48"/>
                      <a:pt x="282" y="48"/>
                    </a:cubicBezTo>
                    <a:cubicBezTo>
                      <a:pt x="282" y="48"/>
                      <a:pt x="282" y="48"/>
                      <a:pt x="282" y="47"/>
                    </a:cubicBezTo>
                    <a:cubicBezTo>
                      <a:pt x="281" y="47"/>
                      <a:pt x="278" y="45"/>
                      <a:pt x="278" y="45"/>
                    </a:cubicBezTo>
                    <a:cubicBezTo>
                      <a:pt x="277" y="45"/>
                      <a:pt x="277" y="45"/>
                      <a:pt x="277" y="45"/>
                    </a:cubicBezTo>
                    <a:cubicBezTo>
                      <a:pt x="277" y="45"/>
                      <a:pt x="276" y="45"/>
                      <a:pt x="276" y="45"/>
                    </a:cubicBezTo>
                    <a:cubicBezTo>
                      <a:pt x="275" y="45"/>
                      <a:pt x="274" y="44"/>
                      <a:pt x="274" y="42"/>
                    </a:cubicBezTo>
                    <a:cubicBezTo>
                      <a:pt x="275" y="39"/>
                      <a:pt x="275" y="39"/>
                      <a:pt x="275" y="38"/>
                    </a:cubicBezTo>
                    <a:cubicBezTo>
                      <a:pt x="275" y="37"/>
                      <a:pt x="274" y="34"/>
                      <a:pt x="275" y="33"/>
                    </a:cubicBezTo>
                    <a:cubicBezTo>
                      <a:pt x="275" y="32"/>
                      <a:pt x="276" y="30"/>
                      <a:pt x="276" y="30"/>
                    </a:cubicBezTo>
                    <a:cubicBezTo>
                      <a:pt x="276" y="30"/>
                      <a:pt x="276" y="29"/>
                      <a:pt x="276" y="28"/>
                    </a:cubicBezTo>
                    <a:cubicBezTo>
                      <a:pt x="275" y="28"/>
                      <a:pt x="274" y="27"/>
                      <a:pt x="273" y="27"/>
                    </a:cubicBezTo>
                    <a:cubicBezTo>
                      <a:pt x="271" y="27"/>
                      <a:pt x="271" y="25"/>
                      <a:pt x="271" y="24"/>
                    </a:cubicBezTo>
                    <a:cubicBezTo>
                      <a:pt x="271" y="22"/>
                      <a:pt x="269" y="22"/>
                      <a:pt x="267" y="21"/>
                    </a:cubicBezTo>
                    <a:cubicBezTo>
                      <a:pt x="265" y="21"/>
                      <a:pt x="263" y="19"/>
                      <a:pt x="262" y="17"/>
                    </a:cubicBezTo>
                    <a:cubicBezTo>
                      <a:pt x="260" y="15"/>
                      <a:pt x="261" y="13"/>
                      <a:pt x="260" y="13"/>
                    </a:cubicBezTo>
                    <a:cubicBezTo>
                      <a:pt x="260" y="12"/>
                      <a:pt x="260" y="12"/>
                      <a:pt x="260" y="12"/>
                    </a:cubicBezTo>
                    <a:cubicBezTo>
                      <a:pt x="259" y="12"/>
                      <a:pt x="258" y="12"/>
                      <a:pt x="256" y="12"/>
                    </a:cubicBezTo>
                    <a:cubicBezTo>
                      <a:pt x="255" y="13"/>
                      <a:pt x="254" y="13"/>
                      <a:pt x="253" y="14"/>
                    </a:cubicBezTo>
                    <a:cubicBezTo>
                      <a:pt x="253" y="15"/>
                      <a:pt x="253" y="15"/>
                      <a:pt x="251" y="15"/>
                    </a:cubicBezTo>
                    <a:cubicBezTo>
                      <a:pt x="250" y="16"/>
                      <a:pt x="245" y="14"/>
                      <a:pt x="244" y="14"/>
                    </a:cubicBezTo>
                    <a:cubicBezTo>
                      <a:pt x="242" y="14"/>
                      <a:pt x="241" y="15"/>
                      <a:pt x="240" y="16"/>
                    </a:cubicBezTo>
                    <a:cubicBezTo>
                      <a:pt x="239" y="17"/>
                      <a:pt x="233" y="14"/>
                      <a:pt x="232" y="13"/>
                    </a:cubicBezTo>
                    <a:cubicBezTo>
                      <a:pt x="231" y="12"/>
                      <a:pt x="230" y="11"/>
                      <a:pt x="230" y="9"/>
                    </a:cubicBezTo>
                    <a:cubicBezTo>
                      <a:pt x="229" y="8"/>
                      <a:pt x="228" y="7"/>
                      <a:pt x="225" y="5"/>
                    </a:cubicBezTo>
                    <a:cubicBezTo>
                      <a:pt x="224" y="5"/>
                      <a:pt x="224" y="4"/>
                      <a:pt x="223" y="4"/>
                    </a:cubicBezTo>
                    <a:cubicBezTo>
                      <a:pt x="219" y="2"/>
                      <a:pt x="217" y="4"/>
                      <a:pt x="215" y="4"/>
                    </a:cubicBezTo>
                    <a:cubicBezTo>
                      <a:pt x="214" y="5"/>
                      <a:pt x="212" y="5"/>
                      <a:pt x="209" y="4"/>
                    </a:cubicBezTo>
                    <a:cubicBezTo>
                      <a:pt x="206" y="2"/>
                      <a:pt x="204" y="3"/>
                      <a:pt x="203" y="3"/>
                    </a:cubicBezTo>
                    <a:cubicBezTo>
                      <a:pt x="202" y="3"/>
                      <a:pt x="200" y="2"/>
                      <a:pt x="199" y="1"/>
                    </a:cubicBezTo>
                    <a:cubicBezTo>
                      <a:pt x="197" y="1"/>
                      <a:pt x="196" y="0"/>
                      <a:pt x="195" y="1"/>
                    </a:cubicBezTo>
                    <a:cubicBezTo>
                      <a:pt x="194" y="1"/>
                      <a:pt x="194" y="2"/>
                      <a:pt x="194" y="3"/>
                    </a:cubicBezTo>
                    <a:cubicBezTo>
                      <a:pt x="194" y="4"/>
                      <a:pt x="194" y="5"/>
                      <a:pt x="193" y="5"/>
                    </a:cubicBezTo>
                    <a:cubicBezTo>
                      <a:pt x="192" y="6"/>
                      <a:pt x="185" y="7"/>
                      <a:pt x="184" y="7"/>
                    </a:cubicBezTo>
                    <a:cubicBezTo>
                      <a:pt x="183" y="7"/>
                      <a:pt x="184" y="6"/>
                      <a:pt x="183" y="6"/>
                    </a:cubicBezTo>
                    <a:cubicBezTo>
                      <a:pt x="183" y="6"/>
                      <a:pt x="182" y="5"/>
                      <a:pt x="181" y="5"/>
                    </a:cubicBezTo>
                    <a:cubicBezTo>
                      <a:pt x="181" y="4"/>
                      <a:pt x="180" y="5"/>
                      <a:pt x="179" y="5"/>
                    </a:cubicBezTo>
                    <a:cubicBezTo>
                      <a:pt x="179" y="6"/>
                      <a:pt x="178" y="6"/>
                      <a:pt x="178" y="6"/>
                    </a:cubicBezTo>
                    <a:cubicBezTo>
                      <a:pt x="178" y="6"/>
                      <a:pt x="171" y="9"/>
                      <a:pt x="170" y="10"/>
                    </a:cubicBezTo>
                    <a:cubicBezTo>
                      <a:pt x="169" y="10"/>
                      <a:pt x="167" y="12"/>
                      <a:pt x="165" y="12"/>
                    </a:cubicBezTo>
                    <a:cubicBezTo>
                      <a:pt x="164" y="12"/>
                      <a:pt x="162" y="10"/>
                      <a:pt x="161" y="10"/>
                    </a:cubicBezTo>
                    <a:cubicBezTo>
                      <a:pt x="161" y="9"/>
                      <a:pt x="159" y="9"/>
                      <a:pt x="158" y="8"/>
                    </a:cubicBezTo>
                    <a:cubicBezTo>
                      <a:pt x="157" y="8"/>
                      <a:pt x="157" y="9"/>
                      <a:pt x="156" y="10"/>
                    </a:cubicBezTo>
                    <a:cubicBezTo>
                      <a:pt x="155" y="11"/>
                      <a:pt x="152" y="17"/>
                      <a:pt x="151" y="18"/>
                    </a:cubicBezTo>
                    <a:cubicBezTo>
                      <a:pt x="151" y="18"/>
                      <a:pt x="151" y="18"/>
                      <a:pt x="151" y="18"/>
                    </a:cubicBezTo>
                    <a:cubicBezTo>
                      <a:pt x="151" y="18"/>
                      <a:pt x="147" y="18"/>
                      <a:pt x="146" y="18"/>
                    </a:cubicBezTo>
                    <a:cubicBezTo>
                      <a:pt x="145" y="17"/>
                      <a:pt x="136" y="17"/>
                      <a:pt x="136" y="17"/>
                    </a:cubicBezTo>
                    <a:cubicBezTo>
                      <a:pt x="136" y="17"/>
                      <a:pt x="135" y="16"/>
                      <a:pt x="135" y="16"/>
                    </a:cubicBezTo>
                    <a:cubicBezTo>
                      <a:pt x="135" y="16"/>
                      <a:pt x="123" y="13"/>
                      <a:pt x="122" y="13"/>
                    </a:cubicBezTo>
                    <a:cubicBezTo>
                      <a:pt x="122" y="13"/>
                      <a:pt x="121" y="12"/>
                      <a:pt x="121" y="12"/>
                    </a:cubicBezTo>
                    <a:cubicBezTo>
                      <a:pt x="121" y="12"/>
                      <a:pt x="115" y="7"/>
                      <a:pt x="115" y="6"/>
                    </a:cubicBezTo>
                    <a:cubicBezTo>
                      <a:pt x="115" y="6"/>
                      <a:pt x="114" y="6"/>
                      <a:pt x="113" y="6"/>
                    </a:cubicBezTo>
                    <a:cubicBezTo>
                      <a:pt x="113" y="6"/>
                      <a:pt x="113" y="5"/>
                      <a:pt x="113" y="5"/>
                    </a:cubicBezTo>
                    <a:cubicBezTo>
                      <a:pt x="113" y="5"/>
                      <a:pt x="112" y="4"/>
                      <a:pt x="109" y="4"/>
                    </a:cubicBezTo>
                    <a:cubicBezTo>
                      <a:pt x="106" y="4"/>
                      <a:pt x="103" y="6"/>
                      <a:pt x="102" y="6"/>
                    </a:cubicBezTo>
                    <a:cubicBezTo>
                      <a:pt x="101" y="7"/>
                      <a:pt x="101" y="7"/>
                      <a:pt x="101" y="8"/>
                    </a:cubicBezTo>
                    <a:cubicBezTo>
                      <a:pt x="101" y="8"/>
                      <a:pt x="98" y="13"/>
                      <a:pt x="97" y="14"/>
                    </a:cubicBezTo>
                    <a:cubicBezTo>
                      <a:pt x="96" y="15"/>
                      <a:pt x="95" y="15"/>
                      <a:pt x="94" y="15"/>
                    </a:cubicBezTo>
                    <a:cubicBezTo>
                      <a:pt x="93" y="16"/>
                      <a:pt x="93" y="16"/>
                      <a:pt x="93" y="17"/>
                    </a:cubicBezTo>
                    <a:cubicBezTo>
                      <a:pt x="94" y="18"/>
                      <a:pt x="94" y="18"/>
                      <a:pt x="94" y="19"/>
                    </a:cubicBezTo>
                    <a:cubicBezTo>
                      <a:pt x="94" y="20"/>
                      <a:pt x="94" y="22"/>
                      <a:pt x="94" y="27"/>
                    </a:cubicBezTo>
                    <a:cubicBezTo>
                      <a:pt x="94" y="28"/>
                      <a:pt x="94" y="28"/>
                      <a:pt x="94" y="28"/>
                    </a:cubicBezTo>
                    <a:cubicBezTo>
                      <a:pt x="94" y="33"/>
                      <a:pt x="93" y="35"/>
                      <a:pt x="93" y="35"/>
                    </a:cubicBezTo>
                    <a:cubicBezTo>
                      <a:pt x="92" y="36"/>
                      <a:pt x="90" y="41"/>
                      <a:pt x="88" y="43"/>
                    </a:cubicBezTo>
                    <a:cubicBezTo>
                      <a:pt x="87" y="46"/>
                      <a:pt x="86" y="47"/>
                      <a:pt x="86" y="51"/>
                    </a:cubicBezTo>
                    <a:cubicBezTo>
                      <a:pt x="86" y="54"/>
                      <a:pt x="85" y="58"/>
                      <a:pt x="84" y="62"/>
                    </a:cubicBezTo>
                    <a:cubicBezTo>
                      <a:pt x="82" y="66"/>
                      <a:pt x="84" y="71"/>
                      <a:pt x="84" y="73"/>
                    </a:cubicBezTo>
                    <a:cubicBezTo>
                      <a:pt x="84" y="74"/>
                      <a:pt x="84" y="76"/>
                      <a:pt x="83" y="77"/>
                    </a:cubicBezTo>
                    <a:cubicBezTo>
                      <a:pt x="83" y="78"/>
                      <a:pt x="79" y="90"/>
                      <a:pt x="79" y="91"/>
                    </a:cubicBezTo>
                    <a:cubicBezTo>
                      <a:pt x="79" y="91"/>
                      <a:pt x="78" y="92"/>
                      <a:pt x="78" y="92"/>
                    </a:cubicBezTo>
                    <a:cubicBezTo>
                      <a:pt x="77" y="92"/>
                      <a:pt x="76" y="93"/>
                      <a:pt x="72" y="96"/>
                    </a:cubicBezTo>
                    <a:cubicBezTo>
                      <a:pt x="67" y="99"/>
                      <a:pt x="66" y="102"/>
                      <a:pt x="66" y="102"/>
                    </a:cubicBezTo>
                    <a:cubicBezTo>
                      <a:pt x="66" y="103"/>
                      <a:pt x="64" y="106"/>
                      <a:pt x="63" y="107"/>
                    </a:cubicBezTo>
                    <a:cubicBezTo>
                      <a:pt x="63" y="108"/>
                      <a:pt x="61" y="110"/>
                      <a:pt x="59" y="111"/>
                    </a:cubicBezTo>
                    <a:cubicBezTo>
                      <a:pt x="58" y="113"/>
                      <a:pt x="58" y="115"/>
                      <a:pt x="58" y="116"/>
                    </a:cubicBezTo>
                    <a:cubicBezTo>
                      <a:pt x="58" y="116"/>
                      <a:pt x="58" y="120"/>
                      <a:pt x="58" y="121"/>
                    </a:cubicBezTo>
                    <a:cubicBezTo>
                      <a:pt x="58" y="122"/>
                      <a:pt x="58" y="123"/>
                      <a:pt x="58" y="125"/>
                    </a:cubicBezTo>
                    <a:cubicBezTo>
                      <a:pt x="58" y="127"/>
                      <a:pt x="58" y="129"/>
                      <a:pt x="58" y="131"/>
                    </a:cubicBezTo>
                    <a:cubicBezTo>
                      <a:pt x="57" y="132"/>
                      <a:pt x="54" y="138"/>
                      <a:pt x="54" y="138"/>
                    </a:cubicBezTo>
                    <a:cubicBezTo>
                      <a:pt x="54" y="139"/>
                      <a:pt x="53" y="139"/>
                      <a:pt x="53" y="139"/>
                    </a:cubicBezTo>
                    <a:cubicBezTo>
                      <a:pt x="53" y="139"/>
                      <a:pt x="44" y="145"/>
                      <a:pt x="43" y="145"/>
                    </a:cubicBezTo>
                    <a:cubicBezTo>
                      <a:pt x="43" y="145"/>
                      <a:pt x="43" y="146"/>
                      <a:pt x="42" y="146"/>
                    </a:cubicBezTo>
                    <a:cubicBezTo>
                      <a:pt x="42" y="147"/>
                      <a:pt x="39" y="151"/>
                      <a:pt x="37" y="152"/>
                    </a:cubicBezTo>
                    <a:cubicBezTo>
                      <a:pt x="36" y="153"/>
                      <a:pt x="33" y="153"/>
                      <a:pt x="32" y="153"/>
                    </a:cubicBezTo>
                    <a:cubicBezTo>
                      <a:pt x="31" y="153"/>
                      <a:pt x="32" y="152"/>
                      <a:pt x="32" y="152"/>
                    </a:cubicBezTo>
                    <a:cubicBezTo>
                      <a:pt x="32" y="152"/>
                      <a:pt x="32" y="144"/>
                      <a:pt x="31" y="144"/>
                    </a:cubicBezTo>
                    <a:cubicBezTo>
                      <a:pt x="31" y="143"/>
                      <a:pt x="30" y="144"/>
                      <a:pt x="29" y="145"/>
                    </a:cubicBezTo>
                    <a:cubicBezTo>
                      <a:pt x="29" y="145"/>
                      <a:pt x="28" y="145"/>
                      <a:pt x="27" y="145"/>
                    </a:cubicBezTo>
                    <a:cubicBezTo>
                      <a:pt x="26" y="145"/>
                      <a:pt x="25" y="146"/>
                      <a:pt x="25" y="147"/>
                    </a:cubicBezTo>
                    <a:cubicBezTo>
                      <a:pt x="24" y="147"/>
                      <a:pt x="24" y="147"/>
                      <a:pt x="24" y="147"/>
                    </a:cubicBezTo>
                    <a:cubicBezTo>
                      <a:pt x="24" y="147"/>
                      <a:pt x="23" y="146"/>
                      <a:pt x="22" y="146"/>
                    </a:cubicBezTo>
                    <a:cubicBezTo>
                      <a:pt x="21" y="146"/>
                      <a:pt x="22" y="146"/>
                      <a:pt x="21" y="147"/>
                    </a:cubicBezTo>
                    <a:cubicBezTo>
                      <a:pt x="21" y="148"/>
                      <a:pt x="20" y="150"/>
                      <a:pt x="19" y="151"/>
                    </a:cubicBezTo>
                    <a:cubicBezTo>
                      <a:pt x="19" y="151"/>
                      <a:pt x="18" y="152"/>
                      <a:pt x="17" y="152"/>
                    </a:cubicBezTo>
                    <a:cubicBezTo>
                      <a:pt x="16" y="152"/>
                      <a:pt x="14" y="151"/>
                      <a:pt x="14" y="151"/>
                    </a:cubicBezTo>
                    <a:cubicBezTo>
                      <a:pt x="14" y="150"/>
                      <a:pt x="13" y="150"/>
                      <a:pt x="12" y="149"/>
                    </a:cubicBezTo>
                    <a:cubicBezTo>
                      <a:pt x="11" y="150"/>
                      <a:pt x="8" y="151"/>
                      <a:pt x="8" y="151"/>
                    </a:cubicBezTo>
                    <a:cubicBezTo>
                      <a:pt x="7" y="151"/>
                      <a:pt x="5" y="154"/>
                      <a:pt x="4" y="155"/>
                    </a:cubicBezTo>
                    <a:cubicBezTo>
                      <a:pt x="3" y="155"/>
                      <a:pt x="3" y="156"/>
                      <a:pt x="3" y="157"/>
                    </a:cubicBezTo>
                    <a:cubicBezTo>
                      <a:pt x="3" y="158"/>
                      <a:pt x="4" y="164"/>
                      <a:pt x="4" y="164"/>
                    </a:cubicBezTo>
                    <a:cubicBezTo>
                      <a:pt x="4" y="165"/>
                      <a:pt x="1" y="166"/>
                      <a:pt x="0" y="166"/>
                    </a:cubicBezTo>
                    <a:cubicBezTo>
                      <a:pt x="0" y="167"/>
                      <a:pt x="0" y="168"/>
                      <a:pt x="1" y="168"/>
                    </a:cubicBezTo>
                    <a:cubicBezTo>
                      <a:pt x="3" y="169"/>
                      <a:pt x="3" y="170"/>
                      <a:pt x="4" y="169"/>
                    </a:cubicBezTo>
                    <a:cubicBezTo>
                      <a:pt x="5" y="168"/>
                      <a:pt x="8" y="167"/>
                      <a:pt x="9" y="167"/>
                    </a:cubicBezTo>
                    <a:cubicBezTo>
                      <a:pt x="10" y="167"/>
                      <a:pt x="10" y="167"/>
                      <a:pt x="10" y="167"/>
                    </a:cubicBezTo>
                    <a:cubicBezTo>
                      <a:pt x="11" y="167"/>
                      <a:pt x="14" y="167"/>
                      <a:pt x="15" y="167"/>
                    </a:cubicBezTo>
                    <a:cubicBezTo>
                      <a:pt x="16" y="167"/>
                      <a:pt x="26" y="167"/>
                      <a:pt x="29" y="167"/>
                    </a:cubicBezTo>
                    <a:cubicBezTo>
                      <a:pt x="31" y="168"/>
                      <a:pt x="38" y="167"/>
                      <a:pt x="39" y="167"/>
                    </a:cubicBezTo>
                    <a:cubicBezTo>
                      <a:pt x="40" y="167"/>
                      <a:pt x="54" y="167"/>
                      <a:pt x="55" y="167"/>
                    </a:cubicBezTo>
                    <a:cubicBezTo>
                      <a:pt x="57" y="167"/>
                      <a:pt x="60" y="167"/>
                      <a:pt x="61" y="167"/>
                    </a:cubicBezTo>
                    <a:cubicBezTo>
                      <a:pt x="62" y="168"/>
                      <a:pt x="64" y="167"/>
                      <a:pt x="64" y="168"/>
                    </a:cubicBezTo>
                    <a:cubicBezTo>
                      <a:pt x="64" y="168"/>
                      <a:pt x="66" y="171"/>
                      <a:pt x="67" y="175"/>
                    </a:cubicBezTo>
                    <a:cubicBezTo>
                      <a:pt x="67" y="178"/>
                      <a:pt x="67" y="180"/>
                      <a:pt x="68" y="181"/>
                    </a:cubicBezTo>
                    <a:cubicBezTo>
                      <a:pt x="68" y="182"/>
                      <a:pt x="71" y="187"/>
                      <a:pt x="71" y="188"/>
                    </a:cubicBezTo>
                    <a:cubicBezTo>
                      <a:pt x="71" y="189"/>
                      <a:pt x="73" y="191"/>
                      <a:pt x="74" y="192"/>
                    </a:cubicBezTo>
                    <a:cubicBezTo>
                      <a:pt x="75" y="193"/>
                      <a:pt x="75" y="195"/>
                      <a:pt x="76" y="196"/>
                    </a:cubicBezTo>
                    <a:cubicBezTo>
                      <a:pt x="76" y="197"/>
                      <a:pt x="77" y="199"/>
                      <a:pt x="77" y="199"/>
                    </a:cubicBezTo>
                    <a:cubicBezTo>
                      <a:pt x="77" y="199"/>
                      <a:pt x="78" y="201"/>
                      <a:pt x="79" y="200"/>
                    </a:cubicBezTo>
                    <a:cubicBezTo>
                      <a:pt x="80" y="200"/>
                      <a:pt x="86" y="200"/>
                      <a:pt x="86" y="200"/>
                    </a:cubicBezTo>
                    <a:cubicBezTo>
                      <a:pt x="86" y="200"/>
                      <a:pt x="87" y="200"/>
                      <a:pt x="87" y="200"/>
                    </a:cubicBezTo>
                    <a:cubicBezTo>
                      <a:pt x="88" y="199"/>
                      <a:pt x="92" y="198"/>
                      <a:pt x="96" y="198"/>
                    </a:cubicBezTo>
                    <a:cubicBezTo>
                      <a:pt x="100" y="199"/>
                      <a:pt x="104" y="199"/>
                      <a:pt x="104" y="199"/>
                    </a:cubicBezTo>
                    <a:cubicBezTo>
                      <a:pt x="104" y="199"/>
                      <a:pt x="106" y="199"/>
                      <a:pt x="106" y="197"/>
                    </a:cubicBezTo>
                    <a:cubicBezTo>
                      <a:pt x="106" y="196"/>
                      <a:pt x="108" y="186"/>
                      <a:pt x="108" y="186"/>
                    </a:cubicBezTo>
                    <a:cubicBezTo>
                      <a:pt x="108" y="186"/>
                      <a:pt x="108" y="185"/>
                      <a:pt x="109" y="185"/>
                    </a:cubicBezTo>
                    <a:cubicBezTo>
                      <a:pt x="110" y="185"/>
                      <a:pt x="117" y="183"/>
                      <a:pt x="118" y="183"/>
                    </a:cubicBezTo>
                    <a:cubicBezTo>
                      <a:pt x="119" y="183"/>
                      <a:pt x="121" y="183"/>
                      <a:pt x="122" y="183"/>
                    </a:cubicBezTo>
                    <a:cubicBezTo>
                      <a:pt x="123" y="183"/>
                      <a:pt x="124" y="183"/>
                      <a:pt x="124" y="184"/>
                    </a:cubicBezTo>
                    <a:cubicBezTo>
                      <a:pt x="123" y="185"/>
                      <a:pt x="122" y="186"/>
                      <a:pt x="122" y="187"/>
                    </a:cubicBezTo>
                    <a:cubicBezTo>
                      <a:pt x="122" y="187"/>
                      <a:pt x="123" y="188"/>
                      <a:pt x="123" y="188"/>
                    </a:cubicBezTo>
                    <a:cubicBezTo>
                      <a:pt x="124" y="188"/>
                      <a:pt x="131" y="188"/>
                      <a:pt x="132" y="188"/>
                    </a:cubicBezTo>
                    <a:cubicBezTo>
                      <a:pt x="133" y="188"/>
                      <a:pt x="139" y="189"/>
                      <a:pt x="140" y="188"/>
                    </a:cubicBezTo>
                    <a:cubicBezTo>
                      <a:pt x="140" y="188"/>
                      <a:pt x="141" y="189"/>
                      <a:pt x="141" y="190"/>
                    </a:cubicBezTo>
                    <a:cubicBezTo>
                      <a:pt x="141" y="191"/>
                      <a:pt x="142" y="193"/>
                      <a:pt x="141" y="194"/>
                    </a:cubicBezTo>
                    <a:cubicBezTo>
                      <a:pt x="140" y="196"/>
                      <a:pt x="140" y="199"/>
                      <a:pt x="141" y="200"/>
                    </a:cubicBezTo>
                    <a:cubicBezTo>
                      <a:pt x="141" y="201"/>
                      <a:pt x="142" y="202"/>
                      <a:pt x="142" y="203"/>
                    </a:cubicBezTo>
                    <a:cubicBezTo>
                      <a:pt x="143" y="204"/>
                      <a:pt x="143" y="205"/>
                      <a:pt x="143" y="206"/>
                    </a:cubicBezTo>
                    <a:cubicBezTo>
                      <a:pt x="143" y="206"/>
                      <a:pt x="142" y="215"/>
                      <a:pt x="142" y="217"/>
                    </a:cubicBezTo>
                    <a:cubicBezTo>
                      <a:pt x="142" y="219"/>
                      <a:pt x="142" y="224"/>
                      <a:pt x="145" y="227"/>
                    </a:cubicBezTo>
                    <a:cubicBezTo>
                      <a:pt x="145" y="227"/>
                      <a:pt x="147" y="228"/>
                      <a:pt x="147" y="229"/>
                    </a:cubicBezTo>
                    <a:cubicBezTo>
                      <a:pt x="147" y="230"/>
                      <a:pt x="149" y="237"/>
                      <a:pt x="149" y="237"/>
                    </a:cubicBezTo>
                    <a:cubicBezTo>
                      <a:pt x="149" y="237"/>
                      <a:pt x="149" y="238"/>
                      <a:pt x="149" y="239"/>
                    </a:cubicBezTo>
                    <a:cubicBezTo>
                      <a:pt x="148" y="240"/>
                      <a:pt x="147" y="241"/>
                      <a:pt x="147" y="244"/>
                    </a:cubicBezTo>
                    <a:cubicBezTo>
                      <a:pt x="147" y="246"/>
                      <a:pt x="147" y="246"/>
                      <a:pt x="147" y="246"/>
                    </a:cubicBezTo>
                    <a:cubicBezTo>
                      <a:pt x="147" y="246"/>
                      <a:pt x="147" y="248"/>
                      <a:pt x="149" y="247"/>
                    </a:cubicBezTo>
                    <a:cubicBezTo>
                      <a:pt x="150" y="247"/>
                      <a:pt x="151" y="246"/>
                      <a:pt x="152" y="246"/>
                    </a:cubicBezTo>
                    <a:cubicBezTo>
                      <a:pt x="154" y="245"/>
                      <a:pt x="171" y="244"/>
                      <a:pt x="172" y="244"/>
                    </a:cubicBezTo>
                    <a:cubicBezTo>
                      <a:pt x="172" y="244"/>
                      <a:pt x="173" y="242"/>
                      <a:pt x="174" y="24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51" name="Freeform 962">
                <a:extLst>
                  <a:ext uri="{FF2B5EF4-FFF2-40B4-BE49-F238E27FC236}">
                    <a16:creationId xmlns:a16="http://schemas.microsoft.com/office/drawing/2014/main" id="{DC8DD4C4-7F30-4A55-816A-E03A573ACF16}"/>
                  </a:ext>
                </a:extLst>
              </p:cNvPr>
              <p:cNvSpPr>
                <a:spLocks/>
              </p:cNvSpPr>
              <p:nvPr/>
            </p:nvSpPr>
            <p:spPr bwMode="auto">
              <a:xfrm>
                <a:off x="3749" y="2771"/>
                <a:ext cx="23" cy="29"/>
              </a:xfrm>
              <a:custGeom>
                <a:avLst/>
                <a:gdLst>
                  <a:gd name="T0" fmla="*/ 8 w 16"/>
                  <a:gd name="T1" fmla="*/ 19 h 21"/>
                  <a:gd name="T2" fmla="*/ 7 w 16"/>
                  <a:gd name="T3" fmla="*/ 12 h 21"/>
                  <a:gd name="T4" fmla="*/ 8 w 16"/>
                  <a:gd name="T5" fmla="*/ 10 h 21"/>
                  <a:gd name="T6" fmla="*/ 12 w 16"/>
                  <a:gd name="T7" fmla="*/ 6 h 21"/>
                  <a:gd name="T8" fmla="*/ 16 w 16"/>
                  <a:gd name="T9" fmla="*/ 4 h 21"/>
                  <a:gd name="T10" fmla="*/ 12 w 16"/>
                  <a:gd name="T11" fmla="*/ 0 h 21"/>
                  <a:gd name="T12" fmla="*/ 11 w 16"/>
                  <a:gd name="T13" fmla="*/ 1 h 21"/>
                  <a:gd name="T14" fmla="*/ 10 w 16"/>
                  <a:gd name="T15" fmla="*/ 3 h 21"/>
                  <a:gd name="T16" fmla="*/ 7 w 16"/>
                  <a:gd name="T17" fmla="*/ 4 h 21"/>
                  <a:gd name="T18" fmla="*/ 4 w 16"/>
                  <a:gd name="T19" fmla="*/ 7 h 21"/>
                  <a:gd name="T20" fmla="*/ 0 w 16"/>
                  <a:gd name="T21" fmla="*/ 9 h 21"/>
                  <a:gd name="T22" fmla="*/ 3 w 16"/>
                  <a:gd name="T23" fmla="*/ 15 h 21"/>
                  <a:gd name="T24" fmla="*/ 4 w 16"/>
                  <a:gd name="T25" fmla="*/ 21 h 21"/>
                  <a:gd name="T26" fmla="*/ 8 w 16"/>
                  <a:gd name="T27" fmla="*/ 19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21">
                    <a:moveTo>
                      <a:pt x="8" y="19"/>
                    </a:moveTo>
                    <a:cubicBezTo>
                      <a:pt x="8" y="19"/>
                      <a:pt x="7" y="13"/>
                      <a:pt x="7" y="12"/>
                    </a:cubicBezTo>
                    <a:cubicBezTo>
                      <a:pt x="7" y="11"/>
                      <a:pt x="7" y="10"/>
                      <a:pt x="8" y="10"/>
                    </a:cubicBezTo>
                    <a:cubicBezTo>
                      <a:pt x="9" y="9"/>
                      <a:pt x="11" y="6"/>
                      <a:pt x="12" y="6"/>
                    </a:cubicBezTo>
                    <a:cubicBezTo>
                      <a:pt x="12" y="6"/>
                      <a:pt x="15" y="5"/>
                      <a:pt x="16" y="4"/>
                    </a:cubicBezTo>
                    <a:cubicBezTo>
                      <a:pt x="14" y="3"/>
                      <a:pt x="12" y="1"/>
                      <a:pt x="12" y="0"/>
                    </a:cubicBezTo>
                    <a:cubicBezTo>
                      <a:pt x="11" y="0"/>
                      <a:pt x="11" y="1"/>
                      <a:pt x="11" y="1"/>
                    </a:cubicBezTo>
                    <a:cubicBezTo>
                      <a:pt x="11" y="1"/>
                      <a:pt x="10" y="2"/>
                      <a:pt x="10" y="3"/>
                    </a:cubicBezTo>
                    <a:cubicBezTo>
                      <a:pt x="9" y="3"/>
                      <a:pt x="8" y="4"/>
                      <a:pt x="7" y="4"/>
                    </a:cubicBezTo>
                    <a:cubicBezTo>
                      <a:pt x="7" y="4"/>
                      <a:pt x="4" y="6"/>
                      <a:pt x="4" y="7"/>
                    </a:cubicBezTo>
                    <a:cubicBezTo>
                      <a:pt x="3" y="7"/>
                      <a:pt x="2" y="8"/>
                      <a:pt x="0" y="9"/>
                    </a:cubicBezTo>
                    <a:cubicBezTo>
                      <a:pt x="2" y="12"/>
                      <a:pt x="3" y="14"/>
                      <a:pt x="3" y="15"/>
                    </a:cubicBezTo>
                    <a:cubicBezTo>
                      <a:pt x="3" y="17"/>
                      <a:pt x="3" y="19"/>
                      <a:pt x="4" y="21"/>
                    </a:cubicBezTo>
                    <a:cubicBezTo>
                      <a:pt x="5" y="21"/>
                      <a:pt x="8" y="20"/>
                      <a:pt x="8" y="1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52" name="Freeform 963">
                <a:extLst>
                  <a:ext uri="{FF2B5EF4-FFF2-40B4-BE49-F238E27FC236}">
                    <a16:creationId xmlns:a16="http://schemas.microsoft.com/office/drawing/2014/main" id="{E26F3A75-A372-406E-96D5-A05AF556D80D}"/>
                  </a:ext>
                </a:extLst>
              </p:cNvPr>
              <p:cNvSpPr>
                <a:spLocks/>
              </p:cNvSpPr>
              <p:nvPr/>
            </p:nvSpPr>
            <p:spPr bwMode="auto">
              <a:xfrm>
                <a:off x="3731" y="2607"/>
                <a:ext cx="154" cy="177"/>
              </a:xfrm>
              <a:custGeom>
                <a:avLst/>
                <a:gdLst>
                  <a:gd name="T0" fmla="*/ 31 w 111"/>
                  <a:gd name="T1" fmla="*/ 126 h 129"/>
                  <a:gd name="T2" fmla="*/ 36 w 111"/>
                  <a:gd name="T3" fmla="*/ 126 h 129"/>
                  <a:gd name="T4" fmla="*/ 39 w 111"/>
                  <a:gd name="T5" fmla="*/ 121 h 129"/>
                  <a:gd name="T6" fmla="*/ 42 w 111"/>
                  <a:gd name="T7" fmla="*/ 122 h 129"/>
                  <a:gd name="T8" fmla="*/ 46 w 111"/>
                  <a:gd name="T9" fmla="*/ 120 h 129"/>
                  <a:gd name="T10" fmla="*/ 49 w 111"/>
                  <a:gd name="T11" fmla="*/ 127 h 129"/>
                  <a:gd name="T12" fmla="*/ 54 w 111"/>
                  <a:gd name="T13" fmla="*/ 127 h 129"/>
                  <a:gd name="T14" fmla="*/ 60 w 111"/>
                  <a:gd name="T15" fmla="*/ 120 h 129"/>
                  <a:gd name="T16" fmla="*/ 71 w 111"/>
                  <a:gd name="T17" fmla="*/ 113 h 129"/>
                  <a:gd name="T18" fmla="*/ 75 w 111"/>
                  <a:gd name="T19" fmla="*/ 100 h 129"/>
                  <a:gd name="T20" fmla="*/ 75 w 111"/>
                  <a:gd name="T21" fmla="*/ 91 h 129"/>
                  <a:gd name="T22" fmla="*/ 80 w 111"/>
                  <a:gd name="T23" fmla="*/ 82 h 129"/>
                  <a:gd name="T24" fmla="*/ 89 w 111"/>
                  <a:gd name="T25" fmla="*/ 71 h 129"/>
                  <a:gd name="T26" fmla="*/ 96 w 111"/>
                  <a:gd name="T27" fmla="*/ 66 h 129"/>
                  <a:gd name="T28" fmla="*/ 101 w 111"/>
                  <a:gd name="T29" fmla="*/ 48 h 129"/>
                  <a:gd name="T30" fmla="*/ 103 w 111"/>
                  <a:gd name="T31" fmla="*/ 26 h 129"/>
                  <a:gd name="T32" fmla="*/ 110 w 111"/>
                  <a:gd name="T33" fmla="*/ 10 h 129"/>
                  <a:gd name="T34" fmla="*/ 109 w 111"/>
                  <a:gd name="T35" fmla="*/ 1 h 129"/>
                  <a:gd name="T36" fmla="*/ 106 w 111"/>
                  <a:gd name="T37" fmla="*/ 1 h 129"/>
                  <a:gd name="T38" fmla="*/ 90 w 111"/>
                  <a:gd name="T39" fmla="*/ 1 h 129"/>
                  <a:gd name="T40" fmla="*/ 80 w 111"/>
                  <a:gd name="T41" fmla="*/ 5 h 129"/>
                  <a:gd name="T42" fmla="*/ 79 w 111"/>
                  <a:gd name="T43" fmla="*/ 14 h 129"/>
                  <a:gd name="T44" fmla="*/ 75 w 111"/>
                  <a:gd name="T45" fmla="*/ 22 h 129"/>
                  <a:gd name="T46" fmla="*/ 73 w 111"/>
                  <a:gd name="T47" fmla="*/ 29 h 129"/>
                  <a:gd name="T48" fmla="*/ 71 w 111"/>
                  <a:gd name="T49" fmla="*/ 29 h 129"/>
                  <a:gd name="T50" fmla="*/ 64 w 111"/>
                  <a:gd name="T51" fmla="*/ 26 h 129"/>
                  <a:gd name="T52" fmla="*/ 61 w 111"/>
                  <a:gd name="T53" fmla="*/ 26 h 129"/>
                  <a:gd name="T54" fmla="*/ 56 w 111"/>
                  <a:gd name="T55" fmla="*/ 25 h 129"/>
                  <a:gd name="T56" fmla="*/ 52 w 111"/>
                  <a:gd name="T57" fmla="*/ 23 h 129"/>
                  <a:gd name="T58" fmla="*/ 32 w 111"/>
                  <a:gd name="T59" fmla="*/ 23 h 129"/>
                  <a:gd name="T60" fmla="*/ 30 w 111"/>
                  <a:gd name="T61" fmla="*/ 36 h 129"/>
                  <a:gd name="T62" fmla="*/ 42 w 111"/>
                  <a:gd name="T63" fmla="*/ 34 h 129"/>
                  <a:gd name="T64" fmla="*/ 46 w 111"/>
                  <a:gd name="T65" fmla="*/ 35 h 129"/>
                  <a:gd name="T66" fmla="*/ 49 w 111"/>
                  <a:gd name="T67" fmla="*/ 44 h 129"/>
                  <a:gd name="T68" fmla="*/ 44 w 111"/>
                  <a:gd name="T69" fmla="*/ 48 h 129"/>
                  <a:gd name="T70" fmla="*/ 42 w 111"/>
                  <a:gd name="T71" fmla="*/ 59 h 129"/>
                  <a:gd name="T72" fmla="*/ 50 w 111"/>
                  <a:gd name="T73" fmla="*/ 64 h 129"/>
                  <a:gd name="T74" fmla="*/ 50 w 111"/>
                  <a:gd name="T75" fmla="*/ 67 h 129"/>
                  <a:gd name="T76" fmla="*/ 49 w 111"/>
                  <a:gd name="T77" fmla="*/ 72 h 129"/>
                  <a:gd name="T78" fmla="*/ 45 w 111"/>
                  <a:gd name="T79" fmla="*/ 90 h 129"/>
                  <a:gd name="T80" fmla="*/ 44 w 111"/>
                  <a:gd name="T81" fmla="*/ 92 h 129"/>
                  <a:gd name="T82" fmla="*/ 39 w 111"/>
                  <a:gd name="T83" fmla="*/ 87 h 129"/>
                  <a:gd name="T84" fmla="*/ 32 w 111"/>
                  <a:gd name="T85" fmla="*/ 90 h 129"/>
                  <a:gd name="T86" fmla="*/ 27 w 111"/>
                  <a:gd name="T87" fmla="*/ 90 h 129"/>
                  <a:gd name="T88" fmla="*/ 23 w 111"/>
                  <a:gd name="T89" fmla="*/ 83 h 129"/>
                  <a:gd name="T90" fmla="*/ 19 w 111"/>
                  <a:gd name="T91" fmla="*/ 83 h 129"/>
                  <a:gd name="T92" fmla="*/ 17 w 111"/>
                  <a:gd name="T93" fmla="*/ 89 h 129"/>
                  <a:gd name="T94" fmla="*/ 13 w 111"/>
                  <a:gd name="T95" fmla="*/ 90 h 129"/>
                  <a:gd name="T96" fmla="*/ 7 w 111"/>
                  <a:gd name="T97" fmla="*/ 90 h 129"/>
                  <a:gd name="T98" fmla="*/ 6 w 111"/>
                  <a:gd name="T99" fmla="*/ 96 h 129"/>
                  <a:gd name="T100" fmla="*/ 9 w 111"/>
                  <a:gd name="T101" fmla="*/ 100 h 129"/>
                  <a:gd name="T102" fmla="*/ 9 w 111"/>
                  <a:gd name="T103" fmla="*/ 103 h 129"/>
                  <a:gd name="T104" fmla="*/ 11 w 111"/>
                  <a:gd name="T105" fmla="*/ 107 h 129"/>
                  <a:gd name="T106" fmla="*/ 10 w 111"/>
                  <a:gd name="T107" fmla="*/ 110 h 129"/>
                  <a:gd name="T108" fmla="*/ 5 w 111"/>
                  <a:gd name="T109" fmla="*/ 107 h 129"/>
                  <a:gd name="T110" fmla="*/ 0 w 111"/>
                  <a:gd name="T111" fmla="*/ 113 h 129"/>
                  <a:gd name="T112" fmla="*/ 13 w 111"/>
                  <a:gd name="T113" fmla="*/ 129 h 129"/>
                  <a:gd name="T114" fmla="*/ 20 w 111"/>
                  <a:gd name="T115" fmla="*/ 124 h 129"/>
                  <a:gd name="T116" fmla="*/ 24 w 111"/>
                  <a:gd name="T117" fmla="*/ 121 h 129"/>
                  <a:gd name="T118" fmla="*/ 29 w 111"/>
                  <a:gd name="T119" fmla="*/ 12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 h="129">
                    <a:moveTo>
                      <a:pt x="29" y="124"/>
                    </a:moveTo>
                    <a:cubicBezTo>
                      <a:pt x="30" y="125"/>
                      <a:pt x="31" y="125"/>
                      <a:pt x="31" y="126"/>
                    </a:cubicBezTo>
                    <a:cubicBezTo>
                      <a:pt x="31" y="126"/>
                      <a:pt x="33" y="127"/>
                      <a:pt x="34" y="127"/>
                    </a:cubicBezTo>
                    <a:cubicBezTo>
                      <a:pt x="35" y="127"/>
                      <a:pt x="36" y="126"/>
                      <a:pt x="36" y="126"/>
                    </a:cubicBezTo>
                    <a:cubicBezTo>
                      <a:pt x="37" y="125"/>
                      <a:pt x="38" y="123"/>
                      <a:pt x="38" y="122"/>
                    </a:cubicBezTo>
                    <a:cubicBezTo>
                      <a:pt x="39" y="121"/>
                      <a:pt x="38" y="121"/>
                      <a:pt x="39" y="121"/>
                    </a:cubicBezTo>
                    <a:cubicBezTo>
                      <a:pt x="40" y="121"/>
                      <a:pt x="41" y="122"/>
                      <a:pt x="41" y="122"/>
                    </a:cubicBezTo>
                    <a:cubicBezTo>
                      <a:pt x="41" y="122"/>
                      <a:pt x="41" y="122"/>
                      <a:pt x="42" y="122"/>
                    </a:cubicBezTo>
                    <a:cubicBezTo>
                      <a:pt x="42" y="121"/>
                      <a:pt x="43" y="120"/>
                      <a:pt x="44" y="120"/>
                    </a:cubicBezTo>
                    <a:cubicBezTo>
                      <a:pt x="45" y="120"/>
                      <a:pt x="46" y="120"/>
                      <a:pt x="46" y="120"/>
                    </a:cubicBezTo>
                    <a:cubicBezTo>
                      <a:pt x="47" y="119"/>
                      <a:pt x="48" y="118"/>
                      <a:pt x="48" y="119"/>
                    </a:cubicBezTo>
                    <a:cubicBezTo>
                      <a:pt x="49" y="119"/>
                      <a:pt x="49" y="127"/>
                      <a:pt x="49" y="127"/>
                    </a:cubicBezTo>
                    <a:cubicBezTo>
                      <a:pt x="49" y="127"/>
                      <a:pt x="48" y="128"/>
                      <a:pt x="49" y="128"/>
                    </a:cubicBezTo>
                    <a:cubicBezTo>
                      <a:pt x="50" y="128"/>
                      <a:pt x="53" y="128"/>
                      <a:pt x="54" y="127"/>
                    </a:cubicBezTo>
                    <a:cubicBezTo>
                      <a:pt x="56" y="126"/>
                      <a:pt x="59" y="122"/>
                      <a:pt x="59" y="121"/>
                    </a:cubicBezTo>
                    <a:cubicBezTo>
                      <a:pt x="60" y="121"/>
                      <a:pt x="60" y="120"/>
                      <a:pt x="60" y="120"/>
                    </a:cubicBezTo>
                    <a:cubicBezTo>
                      <a:pt x="61" y="120"/>
                      <a:pt x="70" y="114"/>
                      <a:pt x="70" y="114"/>
                    </a:cubicBezTo>
                    <a:cubicBezTo>
                      <a:pt x="70" y="114"/>
                      <a:pt x="71" y="114"/>
                      <a:pt x="71" y="113"/>
                    </a:cubicBezTo>
                    <a:cubicBezTo>
                      <a:pt x="71" y="113"/>
                      <a:pt x="74" y="107"/>
                      <a:pt x="75" y="106"/>
                    </a:cubicBezTo>
                    <a:cubicBezTo>
                      <a:pt x="75" y="104"/>
                      <a:pt x="75" y="102"/>
                      <a:pt x="75" y="100"/>
                    </a:cubicBezTo>
                    <a:cubicBezTo>
                      <a:pt x="75" y="98"/>
                      <a:pt x="75" y="97"/>
                      <a:pt x="75" y="96"/>
                    </a:cubicBezTo>
                    <a:cubicBezTo>
                      <a:pt x="75" y="95"/>
                      <a:pt x="75" y="91"/>
                      <a:pt x="75" y="91"/>
                    </a:cubicBezTo>
                    <a:cubicBezTo>
                      <a:pt x="75" y="90"/>
                      <a:pt x="75" y="88"/>
                      <a:pt x="76" y="86"/>
                    </a:cubicBezTo>
                    <a:cubicBezTo>
                      <a:pt x="78" y="85"/>
                      <a:pt x="80" y="83"/>
                      <a:pt x="80" y="82"/>
                    </a:cubicBezTo>
                    <a:cubicBezTo>
                      <a:pt x="81" y="81"/>
                      <a:pt x="83" y="78"/>
                      <a:pt x="83" y="77"/>
                    </a:cubicBezTo>
                    <a:cubicBezTo>
                      <a:pt x="83" y="77"/>
                      <a:pt x="84" y="74"/>
                      <a:pt x="89" y="71"/>
                    </a:cubicBezTo>
                    <a:cubicBezTo>
                      <a:pt x="93" y="68"/>
                      <a:pt x="94" y="67"/>
                      <a:pt x="95" y="67"/>
                    </a:cubicBezTo>
                    <a:cubicBezTo>
                      <a:pt x="95" y="67"/>
                      <a:pt x="96" y="66"/>
                      <a:pt x="96" y="66"/>
                    </a:cubicBezTo>
                    <a:cubicBezTo>
                      <a:pt x="96" y="65"/>
                      <a:pt x="100" y="53"/>
                      <a:pt x="100" y="52"/>
                    </a:cubicBezTo>
                    <a:cubicBezTo>
                      <a:pt x="101" y="51"/>
                      <a:pt x="101" y="49"/>
                      <a:pt x="101" y="48"/>
                    </a:cubicBezTo>
                    <a:cubicBezTo>
                      <a:pt x="101" y="46"/>
                      <a:pt x="99" y="41"/>
                      <a:pt x="101" y="37"/>
                    </a:cubicBezTo>
                    <a:cubicBezTo>
                      <a:pt x="102" y="33"/>
                      <a:pt x="103" y="29"/>
                      <a:pt x="103" y="26"/>
                    </a:cubicBezTo>
                    <a:cubicBezTo>
                      <a:pt x="103" y="22"/>
                      <a:pt x="104" y="21"/>
                      <a:pt x="105" y="18"/>
                    </a:cubicBezTo>
                    <a:cubicBezTo>
                      <a:pt x="107" y="16"/>
                      <a:pt x="109" y="11"/>
                      <a:pt x="110" y="10"/>
                    </a:cubicBezTo>
                    <a:cubicBezTo>
                      <a:pt x="110" y="10"/>
                      <a:pt x="111" y="8"/>
                      <a:pt x="111" y="3"/>
                    </a:cubicBezTo>
                    <a:cubicBezTo>
                      <a:pt x="110" y="2"/>
                      <a:pt x="109" y="1"/>
                      <a:pt x="109" y="1"/>
                    </a:cubicBezTo>
                    <a:cubicBezTo>
                      <a:pt x="109" y="1"/>
                      <a:pt x="109" y="1"/>
                      <a:pt x="108" y="1"/>
                    </a:cubicBezTo>
                    <a:cubicBezTo>
                      <a:pt x="108" y="2"/>
                      <a:pt x="106" y="1"/>
                      <a:pt x="106" y="1"/>
                    </a:cubicBezTo>
                    <a:cubicBezTo>
                      <a:pt x="105" y="1"/>
                      <a:pt x="94" y="0"/>
                      <a:pt x="93" y="0"/>
                    </a:cubicBezTo>
                    <a:cubicBezTo>
                      <a:pt x="93" y="0"/>
                      <a:pt x="92" y="1"/>
                      <a:pt x="90" y="1"/>
                    </a:cubicBezTo>
                    <a:cubicBezTo>
                      <a:pt x="88" y="1"/>
                      <a:pt x="84" y="2"/>
                      <a:pt x="82" y="3"/>
                    </a:cubicBezTo>
                    <a:cubicBezTo>
                      <a:pt x="80" y="3"/>
                      <a:pt x="80" y="5"/>
                      <a:pt x="80" y="5"/>
                    </a:cubicBezTo>
                    <a:cubicBezTo>
                      <a:pt x="80" y="6"/>
                      <a:pt x="80" y="7"/>
                      <a:pt x="80" y="8"/>
                    </a:cubicBezTo>
                    <a:cubicBezTo>
                      <a:pt x="79" y="9"/>
                      <a:pt x="79" y="12"/>
                      <a:pt x="79" y="14"/>
                    </a:cubicBezTo>
                    <a:cubicBezTo>
                      <a:pt x="79" y="15"/>
                      <a:pt x="76" y="21"/>
                      <a:pt x="76" y="21"/>
                    </a:cubicBezTo>
                    <a:cubicBezTo>
                      <a:pt x="75" y="22"/>
                      <a:pt x="75" y="22"/>
                      <a:pt x="75" y="22"/>
                    </a:cubicBezTo>
                    <a:cubicBezTo>
                      <a:pt x="75" y="22"/>
                      <a:pt x="74" y="22"/>
                      <a:pt x="74" y="23"/>
                    </a:cubicBezTo>
                    <a:cubicBezTo>
                      <a:pt x="73" y="24"/>
                      <a:pt x="73" y="28"/>
                      <a:pt x="73" y="29"/>
                    </a:cubicBezTo>
                    <a:cubicBezTo>
                      <a:pt x="73" y="30"/>
                      <a:pt x="73" y="30"/>
                      <a:pt x="73" y="30"/>
                    </a:cubicBezTo>
                    <a:cubicBezTo>
                      <a:pt x="72" y="29"/>
                      <a:pt x="72" y="29"/>
                      <a:pt x="71" y="29"/>
                    </a:cubicBezTo>
                    <a:cubicBezTo>
                      <a:pt x="71" y="28"/>
                      <a:pt x="70" y="27"/>
                      <a:pt x="70" y="27"/>
                    </a:cubicBezTo>
                    <a:cubicBezTo>
                      <a:pt x="68" y="26"/>
                      <a:pt x="65" y="26"/>
                      <a:pt x="64" y="26"/>
                    </a:cubicBezTo>
                    <a:cubicBezTo>
                      <a:pt x="63" y="26"/>
                      <a:pt x="63" y="26"/>
                      <a:pt x="62" y="26"/>
                    </a:cubicBezTo>
                    <a:cubicBezTo>
                      <a:pt x="62" y="26"/>
                      <a:pt x="61" y="26"/>
                      <a:pt x="61" y="26"/>
                    </a:cubicBezTo>
                    <a:cubicBezTo>
                      <a:pt x="60" y="26"/>
                      <a:pt x="58" y="26"/>
                      <a:pt x="57" y="26"/>
                    </a:cubicBezTo>
                    <a:cubicBezTo>
                      <a:pt x="56" y="25"/>
                      <a:pt x="56" y="25"/>
                      <a:pt x="56" y="25"/>
                    </a:cubicBezTo>
                    <a:cubicBezTo>
                      <a:pt x="56" y="24"/>
                      <a:pt x="56" y="24"/>
                      <a:pt x="56" y="24"/>
                    </a:cubicBezTo>
                    <a:cubicBezTo>
                      <a:pt x="54" y="24"/>
                      <a:pt x="52" y="23"/>
                      <a:pt x="52" y="23"/>
                    </a:cubicBezTo>
                    <a:cubicBezTo>
                      <a:pt x="51" y="22"/>
                      <a:pt x="51" y="23"/>
                      <a:pt x="51" y="23"/>
                    </a:cubicBezTo>
                    <a:cubicBezTo>
                      <a:pt x="48" y="23"/>
                      <a:pt x="36" y="23"/>
                      <a:pt x="32" y="23"/>
                    </a:cubicBezTo>
                    <a:cubicBezTo>
                      <a:pt x="32" y="23"/>
                      <a:pt x="32" y="23"/>
                      <a:pt x="32" y="23"/>
                    </a:cubicBezTo>
                    <a:cubicBezTo>
                      <a:pt x="32" y="24"/>
                      <a:pt x="30" y="30"/>
                      <a:pt x="30" y="36"/>
                    </a:cubicBezTo>
                    <a:cubicBezTo>
                      <a:pt x="30" y="36"/>
                      <a:pt x="30" y="37"/>
                      <a:pt x="31" y="37"/>
                    </a:cubicBezTo>
                    <a:cubicBezTo>
                      <a:pt x="32" y="36"/>
                      <a:pt x="38" y="33"/>
                      <a:pt x="42" y="34"/>
                    </a:cubicBezTo>
                    <a:cubicBezTo>
                      <a:pt x="46" y="35"/>
                      <a:pt x="46" y="35"/>
                      <a:pt x="46" y="35"/>
                    </a:cubicBezTo>
                    <a:cubicBezTo>
                      <a:pt x="46" y="35"/>
                      <a:pt x="46" y="35"/>
                      <a:pt x="46" y="35"/>
                    </a:cubicBezTo>
                    <a:cubicBezTo>
                      <a:pt x="46" y="36"/>
                      <a:pt x="48" y="38"/>
                      <a:pt x="48" y="40"/>
                    </a:cubicBezTo>
                    <a:cubicBezTo>
                      <a:pt x="49" y="41"/>
                      <a:pt x="50" y="43"/>
                      <a:pt x="49" y="44"/>
                    </a:cubicBezTo>
                    <a:cubicBezTo>
                      <a:pt x="48" y="44"/>
                      <a:pt x="47" y="46"/>
                      <a:pt x="46" y="46"/>
                    </a:cubicBezTo>
                    <a:cubicBezTo>
                      <a:pt x="46" y="47"/>
                      <a:pt x="44" y="47"/>
                      <a:pt x="44" y="48"/>
                    </a:cubicBezTo>
                    <a:cubicBezTo>
                      <a:pt x="43" y="50"/>
                      <a:pt x="41" y="55"/>
                      <a:pt x="41" y="56"/>
                    </a:cubicBezTo>
                    <a:cubicBezTo>
                      <a:pt x="41" y="57"/>
                      <a:pt x="41" y="59"/>
                      <a:pt x="42" y="59"/>
                    </a:cubicBezTo>
                    <a:cubicBezTo>
                      <a:pt x="42" y="60"/>
                      <a:pt x="45" y="61"/>
                      <a:pt x="45" y="61"/>
                    </a:cubicBezTo>
                    <a:cubicBezTo>
                      <a:pt x="46" y="62"/>
                      <a:pt x="49" y="63"/>
                      <a:pt x="50" y="64"/>
                    </a:cubicBezTo>
                    <a:cubicBezTo>
                      <a:pt x="50" y="64"/>
                      <a:pt x="50" y="64"/>
                      <a:pt x="50" y="65"/>
                    </a:cubicBezTo>
                    <a:cubicBezTo>
                      <a:pt x="50" y="66"/>
                      <a:pt x="50" y="66"/>
                      <a:pt x="50" y="67"/>
                    </a:cubicBezTo>
                    <a:cubicBezTo>
                      <a:pt x="49" y="68"/>
                      <a:pt x="49" y="69"/>
                      <a:pt x="49" y="69"/>
                    </a:cubicBezTo>
                    <a:cubicBezTo>
                      <a:pt x="49" y="70"/>
                      <a:pt x="49" y="71"/>
                      <a:pt x="49" y="72"/>
                    </a:cubicBezTo>
                    <a:cubicBezTo>
                      <a:pt x="50" y="74"/>
                      <a:pt x="50" y="77"/>
                      <a:pt x="49" y="81"/>
                    </a:cubicBezTo>
                    <a:cubicBezTo>
                      <a:pt x="48" y="85"/>
                      <a:pt x="46" y="89"/>
                      <a:pt x="45" y="90"/>
                    </a:cubicBezTo>
                    <a:cubicBezTo>
                      <a:pt x="44" y="91"/>
                      <a:pt x="44" y="92"/>
                      <a:pt x="44" y="92"/>
                    </a:cubicBezTo>
                    <a:cubicBezTo>
                      <a:pt x="44" y="92"/>
                      <a:pt x="44" y="92"/>
                      <a:pt x="44" y="92"/>
                    </a:cubicBezTo>
                    <a:cubicBezTo>
                      <a:pt x="43" y="92"/>
                      <a:pt x="41" y="92"/>
                      <a:pt x="40" y="89"/>
                    </a:cubicBezTo>
                    <a:cubicBezTo>
                      <a:pt x="40" y="89"/>
                      <a:pt x="39" y="87"/>
                      <a:pt x="39" y="87"/>
                    </a:cubicBezTo>
                    <a:cubicBezTo>
                      <a:pt x="39" y="86"/>
                      <a:pt x="39" y="86"/>
                      <a:pt x="39" y="87"/>
                    </a:cubicBezTo>
                    <a:cubicBezTo>
                      <a:pt x="38" y="87"/>
                      <a:pt x="36" y="90"/>
                      <a:pt x="32" y="90"/>
                    </a:cubicBezTo>
                    <a:cubicBezTo>
                      <a:pt x="28" y="90"/>
                      <a:pt x="28" y="90"/>
                      <a:pt x="28" y="90"/>
                    </a:cubicBezTo>
                    <a:cubicBezTo>
                      <a:pt x="28" y="90"/>
                      <a:pt x="27" y="90"/>
                      <a:pt x="27" y="90"/>
                    </a:cubicBezTo>
                    <a:cubicBezTo>
                      <a:pt x="27" y="90"/>
                      <a:pt x="24" y="83"/>
                      <a:pt x="24" y="83"/>
                    </a:cubicBezTo>
                    <a:cubicBezTo>
                      <a:pt x="24" y="83"/>
                      <a:pt x="24" y="83"/>
                      <a:pt x="23" y="83"/>
                    </a:cubicBezTo>
                    <a:cubicBezTo>
                      <a:pt x="23" y="83"/>
                      <a:pt x="20" y="83"/>
                      <a:pt x="20" y="83"/>
                    </a:cubicBezTo>
                    <a:cubicBezTo>
                      <a:pt x="20" y="83"/>
                      <a:pt x="19" y="83"/>
                      <a:pt x="19" y="83"/>
                    </a:cubicBezTo>
                    <a:cubicBezTo>
                      <a:pt x="19" y="84"/>
                      <a:pt x="18" y="87"/>
                      <a:pt x="18" y="87"/>
                    </a:cubicBezTo>
                    <a:cubicBezTo>
                      <a:pt x="18" y="87"/>
                      <a:pt x="18" y="89"/>
                      <a:pt x="17" y="89"/>
                    </a:cubicBezTo>
                    <a:cubicBezTo>
                      <a:pt x="17" y="89"/>
                      <a:pt x="15" y="90"/>
                      <a:pt x="15" y="90"/>
                    </a:cubicBezTo>
                    <a:cubicBezTo>
                      <a:pt x="14" y="90"/>
                      <a:pt x="14" y="90"/>
                      <a:pt x="13" y="90"/>
                    </a:cubicBezTo>
                    <a:cubicBezTo>
                      <a:pt x="13" y="90"/>
                      <a:pt x="11" y="90"/>
                      <a:pt x="10" y="90"/>
                    </a:cubicBezTo>
                    <a:cubicBezTo>
                      <a:pt x="9" y="91"/>
                      <a:pt x="9" y="90"/>
                      <a:pt x="7" y="90"/>
                    </a:cubicBezTo>
                    <a:cubicBezTo>
                      <a:pt x="5" y="90"/>
                      <a:pt x="7" y="91"/>
                      <a:pt x="7" y="91"/>
                    </a:cubicBezTo>
                    <a:cubicBezTo>
                      <a:pt x="7" y="92"/>
                      <a:pt x="7" y="94"/>
                      <a:pt x="6" y="96"/>
                    </a:cubicBezTo>
                    <a:cubicBezTo>
                      <a:pt x="6" y="96"/>
                      <a:pt x="6" y="97"/>
                      <a:pt x="6" y="97"/>
                    </a:cubicBezTo>
                    <a:cubicBezTo>
                      <a:pt x="7" y="98"/>
                      <a:pt x="9" y="100"/>
                      <a:pt x="9" y="100"/>
                    </a:cubicBezTo>
                    <a:cubicBezTo>
                      <a:pt x="9" y="100"/>
                      <a:pt x="10" y="100"/>
                      <a:pt x="9" y="100"/>
                    </a:cubicBezTo>
                    <a:cubicBezTo>
                      <a:pt x="9" y="101"/>
                      <a:pt x="8" y="102"/>
                      <a:pt x="9" y="103"/>
                    </a:cubicBezTo>
                    <a:cubicBezTo>
                      <a:pt x="11" y="104"/>
                      <a:pt x="13" y="104"/>
                      <a:pt x="12" y="105"/>
                    </a:cubicBezTo>
                    <a:cubicBezTo>
                      <a:pt x="11" y="106"/>
                      <a:pt x="11" y="106"/>
                      <a:pt x="11" y="107"/>
                    </a:cubicBezTo>
                    <a:cubicBezTo>
                      <a:pt x="11" y="108"/>
                      <a:pt x="12" y="109"/>
                      <a:pt x="11" y="110"/>
                    </a:cubicBezTo>
                    <a:cubicBezTo>
                      <a:pt x="11" y="110"/>
                      <a:pt x="10" y="110"/>
                      <a:pt x="10" y="110"/>
                    </a:cubicBezTo>
                    <a:cubicBezTo>
                      <a:pt x="9" y="109"/>
                      <a:pt x="7" y="108"/>
                      <a:pt x="6" y="108"/>
                    </a:cubicBezTo>
                    <a:cubicBezTo>
                      <a:pt x="5" y="107"/>
                      <a:pt x="5" y="107"/>
                      <a:pt x="5" y="107"/>
                    </a:cubicBezTo>
                    <a:cubicBezTo>
                      <a:pt x="5" y="108"/>
                      <a:pt x="5" y="108"/>
                      <a:pt x="5" y="108"/>
                    </a:cubicBezTo>
                    <a:cubicBezTo>
                      <a:pt x="4" y="108"/>
                      <a:pt x="2" y="108"/>
                      <a:pt x="0" y="113"/>
                    </a:cubicBezTo>
                    <a:cubicBezTo>
                      <a:pt x="3" y="116"/>
                      <a:pt x="6" y="119"/>
                      <a:pt x="7" y="119"/>
                    </a:cubicBezTo>
                    <a:cubicBezTo>
                      <a:pt x="8" y="121"/>
                      <a:pt x="11" y="125"/>
                      <a:pt x="13" y="129"/>
                    </a:cubicBezTo>
                    <a:cubicBezTo>
                      <a:pt x="15" y="128"/>
                      <a:pt x="16" y="127"/>
                      <a:pt x="17" y="127"/>
                    </a:cubicBezTo>
                    <a:cubicBezTo>
                      <a:pt x="17" y="126"/>
                      <a:pt x="20" y="124"/>
                      <a:pt x="20" y="124"/>
                    </a:cubicBezTo>
                    <a:cubicBezTo>
                      <a:pt x="21" y="124"/>
                      <a:pt x="22" y="123"/>
                      <a:pt x="23" y="123"/>
                    </a:cubicBezTo>
                    <a:cubicBezTo>
                      <a:pt x="23" y="122"/>
                      <a:pt x="24" y="121"/>
                      <a:pt x="24" y="121"/>
                    </a:cubicBezTo>
                    <a:cubicBezTo>
                      <a:pt x="24" y="121"/>
                      <a:pt x="24" y="120"/>
                      <a:pt x="25" y="120"/>
                    </a:cubicBezTo>
                    <a:cubicBezTo>
                      <a:pt x="25" y="121"/>
                      <a:pt x="27" y="123"/>
                      <a:pt x="29" y="12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53" name="Freeform 964">
                <a:extLst>
                  <a:ext uri="{FF2B5EF4-FFF2-40B4-BE49-F238E27FC236}">
                    <a16:creationId xmlns:a16="http://schemas.microsoft.com/office/drawing/2014/main" id="{05449563-0934-4FFA-A3BC-E9D9BF7E3849}"/>
                  </a:ext>
                </a:extLst>
              </p:cNvPr>
              <p:cNvSpPr>
                <a:spLocks/>
              </p:cNvSpPr>
              <p:nvPr/>
            </p:nvSpPr>
            <p:spPr bwMode="auto">
              <a:xfrm>
                <a:off x="3799" y="2458"/>
                <a:ext cx="267" cy="179"/>
              </a:xfrm>
              <a:custGeom>
                <a:avLst/>
                <a:gdLst>
                  <a:gd name="T0" fmla="*/ 184 w 193"/>
                  <a:gd name="T1" fmla="*/ 75 h 130"/>
                  <a:gd name="T2" fmla="*/ 177 w 193"/>
                  <a:gd name="T3" fmla="*/ 65 h 130"/>
                  <a:gd name="T4" fmla="*/ 161 w 193"/>
                  <a:gd name="T5" fmla="*/ 49 h 130"/>
                  <a:gd name="T6" fmla="*/ 146 w 193"/>
                  <a:gd name="T7" fmla="*/ 39 h 130"/>
                  <a:gd name="T8" fmla="*/ 140 w 193"/>
                  <a:gd name="T9" fmla="*/ 33 h 130"/>
                  <a:gd name="T10" fmla="*/ 134 w 193"/>
                  <a:gd name="T11" fmla="*/ 28 h 130"/>
                  <a:gd name="T12" fmla="*/ 138 w 193"/>
                  <a:gd name="T13" fmla="*/ 18 h 130"/>
                  <a:gd name="T14" fmla="*/ 125 w 193"/>
                  <a:gd name="T15" fmla="*/ 0 h 130"/>
                  <a:gd name="T16" fmla="*/ 113 w 193"/>
                  <a:gd name="T17" fmla="*/ 2 h 130"/>
                  <a:gd name="T18" fmla="*/ 107 w 193"/>
                  <a:gd name="T19" fmla="*/ 9 h 130"/>
                  <a:gd name="T20" fmla="*/ 86 w 193"/>
                  <a:gd name="T21" fmla="*/ 28 h 130"/>
                  <a:gd name="T22" fmla="*/ 66 w 193"/>
                  <a:gd name="T23" fmla="*/ 31 h 130"/>
                  <a:gd name="T24" fmla="*/ 69 w 193"/>
                  <a:gd name="T25" fmla="*/ 35 h 130"/>
                  <a:gd name="T26" fmla="*/ 52 w 193"/>
                  <a:gd name="T27" fmla="*/ 44 h 130"/>
                  <a:gd name="T28" fmla="*/ 41 w 193"/>
                  <a:gd name="T29" fmla="*/ 47 h 130"/>
                  <a:gd name="T30" fmla="*/ 32 w 193"/>
                  <a:gd name="T31" fmla="*/ 46 h 130"/>
                  <a:gd name="T32" fmla="*/ 28 w 193"/>
                  <a:gd name="T33" fmla="*/ 49 h 130"/>
                  <a:gd name="T34" fmla="*/ 15 w 193"/>
                  <a:gd name="T35" fmla="*/ 52 h 130"/>
                  <a:gd name="T36" fmla="*/ 8 w 193"/>
                  <a:gd name="T37" fmla="*/ 62 h 130"/>
                  <a:gd name="T38" fmla="*/ 0 w 193"/>
                  <a:gd name="T39" fmla="*/ 72 h 130"/>
                  <a:gd name="T40" fmla="*/ 2 w 193"/>
                  <a:gd name="T41" fmla="*/ 83 h 130"/>
                  <a:gd name="T42" fmla="*/ 4 w 193"/>
                  <a:gd name="T43" fmla="*/ 94 h 130"/>
                  <a:gd name="T44" fmla="*/ 11 w 193"/>
                  <a:gd name="T45" fmla="*/ 102 h 130"/>
                  <a:gd name="T46" fmla="*/ 9 w 193"/>
                  <a:gd name="T47" fmla="*/ 104 h 130"/>
                  <a:gd name="T48" fmla="*/ 21 w 193"/>
                  <a:gd name="T49" fmla="*/ 116 h 130"/>
                  <a:gd name="T50" fmla="*/ 26 w 193"/>
                  <a:gd name="T51" fmla="*/ 130 h 130"/>
                  <a:gd name="T52" fmla="*/ 31 w 193"/>
                  <a:gd name="T53" fmla="*/ 116 h 130"/>
                  <a:gd name="T54" fmla="*/ 41 w 193"/>
                  <a:gd name="T55" fmla="*/ 109 h 130"/>
                  <a:gd name="T56" fmla="*/ 59 w 193"/>
                  <a:gd name="T57" fmla="*/ 109 h 130"/>
                  <a:gd name="T58" fmla="*/ 62 w 193"/>
                  <a:gd name="T59" fmla="*/ 110 h 130"/>
                  <a:gd name="T60" fmla="*/ 62 w 193"/>
                  <a:gd name="T61" fmla="*/ 98 h 130"/>
                  <a:gd name="T62" fmla="*/ 70 w 193"/>
                  <a:gd name="T63" fmla="*/ 89 h 130"/>
                  <a:gd name="T64" fmla="*/ 81 w 193"/>
                  <a:gd name="T65" fmla="*/ 89 h 130"/>
                  <a:gd name="T66" fmla="*/ 90 w 193"/>
                  <a:gd name="T67" fmla="*/ 96 h 130"/>
                  <a:gd name="T68" fmla="*/ 114 w 193"/>
                  <a:gd name="T69" fmla="*/ 101 h 130"/>
                  <a:gd name="T70" fmla="*/ 124 w 193"/>
                  <a:gd name="T71" fmla="*/ 93 h 130"/>
                  <a:gd name="T72" fmla="*/ 133 w 193"/>
                  <a:gd name="T73" fmla="*/ 95 h 130"/>
                  <a:gd name="T74" fmla="*/ 147 w 193"/>
                  <a:gd name="T75" fmla="*/ 88 h 130"/>
                  <a:gd name="T76" fmla="*/ 152 w 193"/>
                  <a:gd name="T77" fmla="*/ 90 h 130"/>
                  <a:gd name="T78" fmla="*/ 163 w 193"/>
                  <a:gd name="T79" fmla="*/ 84 h 130"/>
                  <a:gd name="T80" fmla="*/ 177 w 193"/>
                  <a:gd name="T81" fmla="*/ 87 h 130"/>
                  <a:gd name="T82" fmla="*/ 193 w 193"/>
                  <a:gd name="T83" fmla="*/ 88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3" h="130">
                    <a:moveTo>
                      <a:pt x="191" y="81"/>
                    </a:moveTo>
                    <a:cubicBezTo>
                      <a:pt x="191" y="79"/>
                      <a:pt x="187" y="77"/>
                      <a:pt x="187" y="77"/>
                    </a:cubicBezTo>
                    <a:cubicBezTo>
                      <a:pt x="186" y="76"/>
                      <a:pt x="185" y="76"/>
                      <a:pt x="184" y="75"/>
                    </a:cubicBezTo>
                    <a:cubicBezTo>
                      <a:pt x="183" y="74"/>
                      <a:pt x="181" y="73"/>
                      <a:pt x="180" y="73"/>
                    </a:cubicBezTo>
                    <a:cubicBezTo>
                      <a:pt x="179" y="73"/>
                      <a:pt x="178" y="72"/>
                      <a:pt x="177" y="70"/>
                    </a:cubicBezTo>
                    <a:cubicBezTo>
                      <a:pt x="176" y="68"/>
                      <a:pt x="177" y="65"/>
                      <a:pt x="177" y="65"/>
                    </a:cubicBezTo>
                    <a:cubicBezTo>
                      <a:pt x="178" y="64"/>
                      <a:pt x="177" y="64"/>
                      <a:pt x="177" y="64"/>
                    </a:cubicBezTo>
                    <a:cubicBezTo>
                      <a:pt x="177" y="64"/>
                      <a:pt x="162" y="50"/>
                      <a:pt x="162" y="50"/>
                    </a:cubicBezTo>
                    <a:cubicBezTo>
                      <a:pt x="161" y="50"/>
                      <a:pt x="161" y="50"/>
                      <a:pt x="161" y="49"/>
                    </a:cubicBezTo>
                    <a:cubicBezTo>
                      <a:pt x="161" y="47"/>
                      <a:pt x="160" y="45"/>
                      <a:pt x="158" y="43"/>
                    </a:cubicBezTo>
                    <a:cubicBezTo>
                      <a:pt x="155" y="42"/>
                      <a:pt x="147" y="40"/>
                      <a:pt x="146" y="40"/>
                    </a:cubicBezTo>
                    <a:cubicBezTo>
                      <a:pt x="146" y="40"/>
                      <a:pt x="146" y="39"/>
                      <a:pt x="146" y="39"/>
                    </a:cubicBezTo>
                    <a:cubicBezTo>
                      <a:pt x="146" y="39"/>
                      <a:pt x="145" y="35"/>
                      <a:pt x="145" y="34"/>
                    </a:cubicBezTo>
                    <a:cubicBezTo>
                      <a:pt x="145" y="34"/>
                      <a:pt x="144" y="34"/>
                      <a:pt x="144" y="34"/>
                    </a:cubicBezTo>
                    <a:cubicBezTo>
                      <a:pt x="144" y="34"/>
                      <a:pt x="142" y="33"/>
                      <a:pt x="140" y="33"/>
                    </a:cubicBezTo>
                    <a:cubicBezTo>
                      <a:pt x="138" y="33"/>
                      <a:pt x="136" y="33"/>
                      <a:pt x="136" y="33"/>
                    </a:cubicBezTo>
                    <a:cubicBezTo>
                      <a:pt x="135" y="33"/>
                      <a:pt x="135" y="33"/>
                      <a:pt x="135" y="33"/>
                    </a:cubicBezTo>
                    <a:cubicBezTo>
                      <a:pt x="135" y="32"/>
                      <a:pt x="134" y="28"/>
                      <a:pt x="134" y="28"/>
                    </a:cubicBezTo>
                    <a:cubicBezTo>
                      <a:pt x="134" y="27"/>
                      <a:pt x="135" y="27"/>
                      <a:pt x="135" y="27"/>
                    </a:cubicBezTo>
                    <a:cubicBezTo>
                      <a:pt x="138" y="25"/>
                      <a:pt x="137" y="22"/>
                      <a:pt x="137" y="21"/>
                    </a:cubicBezTo>
                    <a:cubicBezTo>
                      <a:pt x="136" y="20"/>
                      <a:pt x="137" y="19"/>
                      <a:pt x="138" y="18"/>
                    </a:cubicBezTo>
                    <a:cubicBezTo>
                      <a:pt x="138" y="17"/>
                      <a:pt x="137" y="15"/>
                      <a:pt x="135" y="14"/>
                    </a:cubicBezTo>
                    <a:cubicBezTo>
                      <a:pt x="134" y="12"/>
                      <a:pt x="125" y="0"/>
                      <a:pt x="125" y="0"/>
                    </a:cubicBezTo>
                    <a:cubicBezTo>
                      <a:pt x="125" y="0"/>
                      <a:pt x="125" y="0"/>
                      <a:pt x="125" y="0"/>
                    </a:cubicBezTo>
                    <a:cubicBezTo>
                      <a:pt x="122" y="0"/>
                      <a:pt x="118" y="0"/>
                      <a:pt x="118" y="0"/>
                    </a:cubicBezTo>
                    <a:cubicBezTo>
                      <a:pt x="118" y="0"/>
                      <a:pt x="117" y="0"/>
                      <a:pt x="117" y="0"/>
                    </a:cubicBezTo>
                    <a:cubicBezTo>
                      <a:pt x="117" y="0"/>
                      <a:pt x="113" y="2"/>
                      <a:pt x="113" y="2"/>
                    </a:cubicBezTo>
                    <a:cubicBezTo>
                      <a:pt x="112" y="3"/>
                      <a:pt x="110" y="3"/>
                      <a:pt x="109" y="4"/>
                    </a:cubicBezTo>
                    <a:cubicBezTo>
                      <a:pt x="108" y="4"/>
                      <a:pt x="108" y="5"/>
                      <a:pt x="108" y="6"/>
                    </a:cubicBezTo>
                    <a:cubicBezTo>
                      <a:pt x="108" y="7"/>
                      <a:pt x="107" y="9"/>
                      <a:pt x="107" y="9"/>
                    </a:cubicBezTo>
                    <a:cubicBezTo>
                      <a:pt x="107" y="9"/>
                      <a:pt x="96" y="22"/>
                      <a:pt x="95" y="22"/>
                    </a:cubicBezTo>
                    <a:cubicBezTo>
                      <a:pt x="94" y="23"/>
                      <a:pt x="92" y="25"/>
                      <a:pt x="90" y="26"/>
                    </a:cubicBezTo>
                    <a:cubicBezTo>
                      <a:pt x="88" y="28"/>
                      <a:pt x="87" y="28"/>
                      <a:pt x="86" y="28"/>
                    </a:cubicBezTo>
                    <a:cubicBezTo>
                      <a:pt x="86" y="28"/>
                      <a:pt x="77" y="28"/>
                      <a:pt x="74" y="28"/>
                    </a:cubicBezTo>
                    <a:cubicBezTo>
                      <a:pt x="71" y="28"/>
                      <a:pt x="68" y="29"/>
                      <a:pt x="67" y="30"/>
                    </a:cubicBezTo>
                    <a:cubicBezTo>
                      <a:pt x="67" y="30"/>
                      <a:pt x="66" y="30"/>
                      <a:pt x="66" y="31"/>
                    </a:cubicBezTo>
                    <a:cubicBezTo>
                      <a:pt x="66" y="32"/>
                      <a:pt x="67" y="32"/>
                      <a:pt x="68" y="33"/>
                    </a:cubicBezTo>
                    <a:cubicBezTo>
                      <a:pt x="69" y="34"/>
                      <a:pt x="69" y="34"/>
                      <a:pt x="69" y="34"/>
                    </a:cubicBezTo>
                    <a:cubicBezTo>
                      <a:pt x="69" y="35"/>
                      <a:pt x="69" y="35"/>
                      <a:pt x="69" y="35"/>
                    </a:cubicBezTo>
                    <a:cubicBezTo>
                      <a:pt x="69" y="35"/>
                      <a:pt x="65" y="40"/>
                      <a:pt x="64" y="42"/>
                    </a:cubicBezTo>
                    <a:cubicBezTo>
                      <a:pt x="62" y="43"/>
                      <a:pt x="61" y="44"/>
                      <a:pt x="58" y="44"/>
                    </a:cubicBezTo>
                    <a:cubicBezTo>
                      <a:pt x="56" y="43"/>
                      <a:pt x="53" y="44"/>
                      <a:pt x="52" y="44"/>
                    </a:cubicBezTo>
                    <a:cubicBezTo>
                      <a:pt x="52" y="44"/>
                      <a:pt x="46" y="45"/>
                      <a:pt x="46" y="46"/>
                    </a:cubicBezTo>
                    <a:cubicBezTo>
                      <a:pt x="45" y="46"/>
                      <a:pt x="43" y="47"/>
                      <a:pt x="42" y="47"/>
                    </a:cubicBezTo>
                    <a:cubicBezTo>
                      <a:pt x="41" y="47"/>
                      <a:pt x="41" y="47"/>
                      <a:pt x="41" y="47"/>
                    </a:cubicBezTo>
                    <a:cubicBezTo>
                      <a:pt x="41" y="47"/>
                      <a:pt x="36" y="50"/>
                      <a:pt x="36" y="50"/>
                    </a:cubicBezTo>
                    <a:cubicBezTo>
                      <a:pt x="35" y="51"/>
                      <a:pt x="35" y="50"/>
                      <a:pt x="35" y="50"/>
                    </a:cubicBezTo>
                    <a:cubicBezTo>
                      <a:pt x="34" y="48"/>
                      <a:pt x="32" y="47"/>
                      <a:pt x="32" y="46"/>
                    </a:cubicBezTo>
                    <a:cubicBezTo>
                      <a:pt x="31" y="46"/>
                      <a:pt x="30" y="46"/>
                      <a:pt x="30" y="47"/>
                    </a:cubicBezTo>
                    <a:cubicBezTo>
                      <a:pt x="30" y="47"/>
                      <a:pt x="29" y="48"/>
                      <a:pt x="29" y="48"/>
                    </a:cubicBezTo>
                    <a:cubicBezTo>
                      <a:pt x="29" y="49"/>
                      <a:pt x="29" y="49"/>
                      <a:pt x="28" y="49"/>
                    </a:cubicBezTo>
                    <a:cubicBezTo>
                      <a:pt x="27" y="49"/>
                      <a:pt x="24" y="50"/>
                      <a:pt x="22" y="50"/>
                    </a:cubicBezTo>
                    <a:cubicBezTo>
                      <a:pt x="20" y="51"/>
                      <a:pt x="17" y="51"/>
                      <a:pt x="16" y="51"/>
                    </a:cubicBezTo>
                    <a:cubicBezTo>
                      <a:pt x="16" y="51"/>
                      <a:pt x="15" y="52"/>
                      <a:pt x="15" y="52"/>
                    </a:cubicBezTo>
                    <a:cubicBezTo>
                      <a:pt x="14" y="53"/>
                      <a:pt x="13" y="54"/>
                      <a:pt x="13" y="55"/>
                    </a:cubicBezTo>
                    <a:cubicBezTo>
                      <a:pt x="12" y="55"/>
                      <a:pt x="12" y="56"/>
                      <a:pt x="12" y="56"/>
                    </a:cubicBezTo>
                    <a:cubicBezTo>
                      <a:pt x="12" y="56"/>
                      <a:pt x="9" y="61"/>
                      <a:pt x="8" y="62"/>
                    </a:cubicBezTo>
                    <a:cubicBezTo>
                      <a:pt x="8" y="62"/>
                      <a:pt x="7" y="65"/>
                      <a:pt x="7" y="66"/>
                    </a:cubicBezTo>
                    <a:cubicBezTo>
                      <a:pt x="6" y="66"/>
                      <a:pt x="5" y="70"/>
                      <a:pt x="4" y="71"/>
                    </a:cubicBezTo>
                    <a:cubicBezTo>
                      <a:pt x="2" y="72"/>
                      <a:pt x="1" y="72"/>
                      <a:pt x="0" y="72"/>
                    </a:cubicBezTo>
                    <a:cubicBezTo>
                      <a:pt x="0" y="72"/>
                      <a:pt x="0" y="72"/>
                      <a:pt x="0" y="73"/>
                    </a:cubicBezTo>
                    <a:cubicBezTo>
                      <a:pt x="1" y="73"/>
                      <a:pt x="3" y="75"/>
                      <a:pt x="3" y="77"/>
                    </a:cubicBezTo>
                    <a:cubicBezTo>
                      <a:pt x="3" y="79"/>
                      <a:pt x="2" y="82"/>
                      <a:pt x="2" y="83"/>
                    </a:cubicBezTo>
                    <a:cubicBezTo>
                      <a:pt x="2" y="83"/>
                      <a:pt x="2" y="84"/>
                      <a:pt x="2" y="84"/>
                    </a:cubicBezTo>
                    <a:cubicBezTo>
                      <a:pt x="2" y="85"/>
                      <a:pt x="4" y="89"/>
                      <a:pt x="4" y="89"/>
                    </a:cubicBezTo>
                    <a:cubicBezTo>
                      <a:pt x="4" y="89"/>
                      <a:pt x="4" y="94"/>
                      <a:pt x="4" y="94"/>
                    </a:cubicBezTo>
                    <a:cubicBezTo>
                      <a:pt x="4" y="94"/>
                      <a:pt x="4" y="95"/>
                      <a:pt x="5" y="95"/>
                    </a:cubicBezTo>
                    <a:cubicBezTo>
                      <a:pt x="5" y="95"/>
                      <a:pt x="6" y="96"/>
                      <a:pt x="7" y="97"/>
                    </a:cubicBezTo>
                    <a:cubicBezTo>
                      <a:pt x="7" y="97"/>
                      <a:pt x="11" y="102"/>
                      <a:pt x="11" y="102"/>
                    </a:cubicBezTo>
                    <a:cubicBezTo>
                      <a:pt x="11" y="103"/>
                      <a:pt x="11" y="103"/>
                      <a:pt x="11" y="103"/>
                    </a:cubicBezTo>
                    <a:cubicBezTo>
                      <a:pt x="10" y="103"/>
                      <a:pt x="10" y="103"/>
                      <a:pt x="10" y="103"/>
                    </a:cubicBezTo>
                    <a:cubicBezTo>
                      <a:pt x="9" y="103"/>
                      <a:pt x="9" y="103"/>
                      <a:pt x="9" y="104"/>
                    </a:cubicBezTo>
                    <a:cubicBezTo>
                      <a:pt x="10" y="104"/>
                      <a:pt x="12" y="108"/>
                      <a:pt x="12" y="109"/>
                    </a:cubicBezTo>
                    <a:cubicBezTo>
                      <a:pt x="13" y="109"/>
                      <a:pt x="15" y="111"/>
                      <a:pt x="15" y="112"/>
                    </a:cubicBezTo>
                    <a:cubicBezTo>
                      <a:pt x="16" y="112"/>
                      <a:pt x="20" y="115"/>
                      <a:pt x="21" y="116"/>
                    </a:cubicBezTo>
                    <a:cubicBezTo>
                      <a:pt x="22" y="116"/>
                      <a:pt x="25" y="119"/>
                      <a:pt x="25" y="122"/>
                    </a:cubicBezTo>
                    <a:cubicBezTo>
                      <a:pt x="25" y="122"/>
                      <a:pt x="25" y="123"/>
                      <a:pt x="25" y="123"/>
                    </a:cubicBezTo>
                    <a:cubicBezTo>
                      <a:pt x="25" y="124"/>
                      <a:pt x="26" y="128"/>
                      <a:pt x="26" y="130"/>
                    </a:cubicBezTo>
                    <a:cubicBezTo>
                      <a:pt x="26" y="130"/>
                      <a:pt x="26" y="130"/>
                      <a:pt x="27" y="129"/>
                    </a:cubicBezTo>
                    <a:cubicBezTo>
                      <a:pt x="27" y="129"/>
                      <a:pt x="30" y="123"/>
                      <a:pt x="30" y="122"/>
                    </a:cubicBezTo>
                    <a:cubicBezTo>
                      <a:pt x="30" y="120"/>
                      <a:pt x="30" y="117"/>
                      <a:pt x="31" y="116"/>
                    </a:cubicBezTo>
                    <a:cubicBezTo>
                      <a:pt x="31" y="115"/>
                      <a:pt x="31" y="114"/>
                      <a:pt x="31" y="113"/>
                    </a:cubicBezTo>
                    <a:cubicBezTo>
                      <a:pt x="31" y="113"/>
                      <a:pt x="31" y="111"/>
                      <a:pt x="33" y="111"/>
                    </a:cubicBezTo>
                    <a:cubicBezTo>
                      <a:pt x="35" y="110"/>
                      <a:pt x="39" y="109"/>
                      <a:pt x="41" y="109"/>
                    </a:cubicBezTo>
                    <a:cubicBezTo>
                      <a:pt x="43" y="109"/>
                      <a:pt x="44" y="108"/>
                      <a:pt x="44" y="108"/>
                    </a:cubicBezTo>
                    <a:cubicBezTo>
                      <a:pt x="45" y="108"/>
                      <a:pt x="56" y="109"/>
                      <a:pt x="57" y="109"/>
                    </a:cubicBezTo>
                    <a:cubicBezTo>
                      <a:pt x="57" y="109"/>
                      <a:pt x="59" y="110"/>
                      <a:pt x="59" y="109"/>
                    </a:cubicBezTo>
                    <a:cubicBezTo>
                      <a:pt x="60" y="109"/>
                      <a:pt x="60" y="109"/>
                      <a:pt x="60" y="109"/>
                    </a:cubicBezTo>
                    <a:cubicBezTo>
                      <a:pt x="60" y="109"/>
                      <a:pt x="61" y="110"/>
                      <a:pt x="62" y="111"/>
                    </a:cubicBezTo>
                    <a:cubicBezTo>
                      <a:pt x="62" y="111"/>
                      <a:pt x="62" y="111"/>
                      <a:pt x="62" y="110"/>
                    </a:cubicBezTo>
                    <a:cubicBezTo>
                      <a:pt x="62" y="105"/>
                      <a:pt x="62" y="103"/>
                      <a:pt x="62" y="102"/>
                    </a:cubicBezTo>
                    <a:cubicBezTo>
                      <a:pt x="62" y="101"/>
                      <a:pt x="62" y="101"/>
                      <a:pt x="61" y="100"/>
                    </a:cubicBezTo>
                    <a:cubicBezTo>
                      <a:pt x="61" y="99"/>
                      <a:pt x="61" y="99"/>
                      <a:pt x="62" y="98"/>
                    </a:cubicBezTo>
                    <a:cubicBezTo>
                      <a:pt x="63" y="98"/>
                      <a:pt x="64" y="98"/>
                      <a:pt x="65" y="97"/>
                    </a:cubicBezTo>
                    <a:cubicBezTo>
                      <a:pt x="66" y="96"/>
                      <a:pt x="69" y="91"/>
                      <a:pt x="69" y="91"/>
                    </a:cubicBezTo>
                    <a:cubicBezTo>
                      <a:pt x="69" y="90"/>
                      <a:pt x="69" y="90"/>
                      <a:pt x="70" y="89"/>
                    </a:cubicBezTo>
                    <a:cubicBezTo>
                      <a:pt x="71" y="89"/>
                      <a:pt x="74" y="87"/>
                      <a:pt x="77" y="87"/>
                    </a:cubicBezTo>
                    <a:cubicBezTo>
                      <a:pt x="80" y="87"/>
                      <a:pt x="81" y="88"/>
                      <a:pt x="81" y="88"/>
                    </a:cubicBezTo>
                    <a:cubicBezTo>
                      <a:pt x="81" y="88"/>
                      <a:pt x="81" y="89"/>
                      <a:pt x="81" y="89"/>
                    </a:cubicBezTo>
                    <a:cubicBezTo>
                      <a:pt x="82" y="89"/>
                      <a:pt x="83" y="89"/>
                      <a:pt x="83" y="89"/>
                    </a:cubicBezTo>
                    <a:cubicBezTo>
                      <a:pt x="83" y="90"/>
                      <a:pt x="89" y="95"/>
                      <a:pt x="89" y="95"/>
                    </a:cubicBezTo>
                    <a:cubicBezTo>
                      <a:pt x="89" y="95"/>
                      <a:pt x="90" y="96"/>
                      <a:pt x="90" y="96"/>
                    </a:cubicBezTo>
                    <a:cubicBezTo>
                      <a:pt x="91" y="96"/>
                      <a:pt x="103" y="99"/>
                      <a:pt x="103" y="99"/>
                    </a:cubicBezTo>
                    <a:cubicBezTo>
                      <a:pt x="103" y="99"/>
                      <a:pt x="104" y="100"/>
                      <a:pt x="104" y="100"/>
                    </a:cubicBezTo>
                    <a:cubicBezTo>
                      <a:pt x="104" y="100"/>
                      <a:pt x="113" y="100"/>
                      <a:pt x="114" y="101"/>
                    </a:cubicBezTo>
                    <a:cubicBezTo>
                      <a:pt x="115" y="101"/>
                      <a:pt x="119" y="101"/>
                      <a:pt x="119" y="101"/>
                    </a:cubicBezTo>
                    <a:cubicBezTo>
                      <a:pt x="119" y="101"/>
                      <a:pt x="119" y="101"/>
                      <a:pt x="119" y="101"/>
                    </a:cubicBezTo>
                    <a:cubicBezTo>
                      <a:pt x="120" y="100"/>
                      <a:pt x="123" y="94"/>
                      <a:pt x="124" y="93"/>
                    </a:cubicBezTo>
                    <a:cubicBezTo>
                      <a:pt x="125" y="92"/>
                      <a:pt x="125" y="91"/>
                      <a:pt x="126" y="91"/>
                    </a:cubicBezTo>
                    <a:cubicBezTo>
                      <a:pt x="127" y="92"/>
                      <a:pt x="129" y="92"/>
                      <a:pt x="129" y="93"/>
                    </a:cubicBezTo>
                    <a:cubicBezTo>
                      <a:pt x="130" y="93"/>
                      <a:pt x="132" y="95"/>
                      <a:pt x="133" y="95"/>
                    </a:cubicBezTo>
                    <a:cubicBezTo>
                      <a:pt x="135" y="95"/>
                      <a:pt x="137" y="93"/>
                      <a:pt x="138" y="93"/>
                    </a:cubicBezTo>
                    <a:cubicBezTo>
                      <a:pt x="139" y="92"/>
                      <a:pt x="146" y="89"/>
                      <a:pt x="146" y="89"/>
                    </a:cubicBezTo>
                    <a:cubicBezTo>
                      <a:pt x="146" y="89"/>
                      <a:pt x="147" y="89"/>
                      <a:pt x="147" y="88"/>
                    </a:cubicBezTo>
                    <a:cubicBezTo>
                      <a:pt x="148" y="88"/>
                      <a:pt x="149" y="87"/>
                      <a:pt x="149" y="88"/>
                    </a:cubicBezTo>
                    <a:cubicBezTo>
                      <a:pt x="150" y="88"/>
                      <a:pt x="151" y="89"/>
                      <a:pt x="151" y="89"/>
                    </a:cubicBezTo>
                    <a:cubicBezTo>
                      <a:pt x="152" y="89"/>
                      <a:pt x="151" y="90"/>
                      <a:pt x="152" y="90"/>
                    </a:cubicBezTo>
                    <a:cubicBezTo>
                      <a:pt x="153" y="90"/>
                      <a:pt x="160" y="89"/>
                      <a:pt x="161" y="88"/>
                    </a:cubicBezTo>
                    <a:cubicBezTo>
                      <a:pt x="162" y="88"/>
                      <a:pt x="162" y="87"/>
                      <a:pt x="162" y="86"/>
                    </a:cubicBezTo>
                    <a:cubicBezTo>
                      <a:pt x="162" y="85"/>
                      <a:pt x="162" y="84"/>
                      <a:pt x="163" y="84"/>
                    </a:cubicBezTo>
                    <a:cubicBezTo>
                      <a:pt x="164" y="83"/>
                      <a:pt x="165" y="84"/>
                      <a:pt x="167" y="84"/>
                    </a:cubicBezTo>
                    <a:cubicBezTo>
                      <a:pt x="168" y="85"/>
                      <a:pt x="170" y="86"/>
                      <a:pt x="171" y="86"/>
                    </a:cubicBezTo>
                    <a:cubicBezTo>
                      <a:pt x="172" y="86"/>
                      <a:pt x="174" y="85"/>
                      <a:pt x="177" y="87"/>
                    </a:cubicBezTo>
                    <a:cubicBezTo>
                      <a:pt x="180" y="88"/>
                      <a:pt x="182" y="88"/>
                      <a:pt x="183" y="87"/>
                    </a:cubicBezTo>
                    <a:cubicBezTo>
                      <a:pt x="185" y="87"/>
                      <a:pt x="187" y="85"/>
                      <a:pt x="191" y="87"/>
                    </a:cubicBezTo>
                    <a:cubicBezTo>
                      <a:pt x="192" y="87"/>
                      <a:pt x="192" y="88"/>
                      <a:pt x="193" y="88"/>
                    </a:cubicBezTo>
                    <a:cubicBezTo>
                      <a:pt x="193" y="87"/>
                      <a:pt x="192" y="86"/>
                      <a:pt x="192" y="86"/>
                    </a:cubicBezTo>
                    <a:cubicBezTo>
                      <a:pt x="192" y="85"/>
                      <a:pt x="191" y="83"/>
                      <a:pt x="191" y="8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54" name="Freeform 965">
                <a:extLst>
                  <a:ext uri="{FF2B5EF4-FFF2-40B4-BE49-F238E27FC236}">
                    <a16:creationId xmlns:a16="http://schemas.microsoft.com/office/drawing/2014/main" id="{BDCBAFC7-2B9F-4305-A8EB-D87AB9F5BFDA}"/>
                  </a:ext>
                </a:extLst>
              </p:cNvPr>
              <p:cNvSpPr>
                <a:spLocks/>
              </p:cNvSpPr>
              <p:nvPr/>
            </p:nvSpPr>
            <p:spPr bwMode="auto">
              <a:xfrm>
                <a:off x="3950" y="2202"/>
                <a:ext cx="346" cy="409"/>
              </a:xfrm>
              <a:custGeom>
                <a:avLst/>
                <a:gdLst>
                  <a:gd name="T0" fmla="*/ 219 w 250"/>
                  <a:gd name="T1" fmla="*/ 121 h 298"/>
                  <a:gd name="T2" fmla="*/ 226 w 250"/>
                  <a:gd name="T3" fmla="*/ 95 h 298"/>
                  <a:gd name="T4" fmla="*/ 234 w 250"/>
                  <a:gd name="T5" fmla="*/ 92 h 298"/>
                  <a:gd name="T6" fmla="*/ 243 w 250"/>
                  <a:gd name="T7" fmla="*/ 87 h 298"/>
                  <a:gd name="T8" fmla="*/ 246 w 250"/>
                  <a:gd name="T9" fmla="*/ 77 h 298"/>
                  <a:gd name="T10" fmla="*/ 228 w 250"/>
                  <a:gd name="T11" fmla="*/ 29 h 298"/>
                  <a:gd name="T12" fmla="*/ 206 w 250"/>
                  <a:gd name="T13" fmla="*/ 0 h 298"/>
                  <a:gd name="T14" fmla="*/ 194 w 250"/>
                  <a:gd name="T15" fmla="*/ 9 h 298"/>
                  <a:gd name="T16" fmla="*/ 182 w 250"/>
                  <a:gd name="T17" fmla="*/ 21 h 298"/>
                  <a:gd name="T18" fmla="*/ 170 w 250"/>
                  <a:gd name="T19" fmla="*/ 18 h 298"/>
                  <a:gd name="T20" fmla="*/ 144 w 250"/>
                  <a:gd name="T21" fmla="*/ 17 h 298"/>
                  <a:gd name="T22" fmla="*/ 141 w 250"/>
                  <a:gd name="T23" fmla="*/ 17 h 298"/>
                  <a:gd name="T24" fmla="*/ 47 w 250"/>
                  <a:gd name="T25" fmla="*/ 49 h 298"/>
                  <a:gd name="T26" fmla="*/ 33 w 250"/>
                  <a:gd name="T27" fmla="*/ 52 h 298"/>
                  <a:gd name="T28" fmla="*/ 33 w 250"/>
                  <a:gd name="T29" fmla="*/ 114 h 298"/>
                  <a:gd name="T30" fmla="*/ 19 w 250"/>
                  <a:gd name="T31" fmla="*/ 115 h 298"/>
                  <a:gd name="T32" fmla="*/ 12 w 250"/>
                  <a:gd name="T33" fmla="*/ 131 h 298"/>
                  <a:gd name="T34" fmla="*/ 10 w 250"/>
                  <a:gd name="T35" fmla="*/ 137 h 298"/>
                  <a:gd name="T36" fmla="*/ 5 w 250"/>
                  <a:gd name="T37" fmla="*/ 143 h 298"/>
                  <a:gd name="T38" fmla="*/ 4 w 250"/>
                  <a:gd name="T39" fmla="*/ 154 h 298"/>
                  <a:gd name="T40" fmla="*/ 8 w 250"/>
                  <a:gd name="T41" fmla="*/ 160 h 298"/>
                  <a:gd name="T42" fmla="*/ 11 w 250"/>
                  <a:gd name="T43" fmla="*/ 170 h 298"/>
                  <a:gd name="T44" fmla="*/ 18 w 250"/>
                  <a:gd name="T45" fmla="*/ 182 h 298"/>
                  <a:gd name="T46" fmla="*/ 26 w 250"/>
                  <a:gd name="T47" fmla="*/ 201 h 298"/>
                  <a:gd name="T48" fmla="*/ 26 w 250"/>
                  <a:gd name="T49" fmla="*/ 214 h 298"/>
                  <a:gd name="T50" fmla="*/ 27 w 250"/>
                  <a:gd name="T51" fmla="*/ 220 h 298"/>
                  <a:gd name="T52" fmla="*/ 36 w 250"/>
                  <a:gd name="T53" fmla="*/ 221 h 298"/>
                  <a:gd name="T54" fmla="*/ 49 w 250"/>
                  <a:gd name="T55" fmla="*/ 230 h 298"/>
                  <a:gd name="T56" fmla="*/ 68 w 250"/>
                  <a:gd name="T57" fmla="*/ 251 h 298"/>
                  <a:gd name="T58" fmla="*/ 71 w 250"/>
                  <a:gd name="T59" fmla="*/ 260 h 298"/>
                  <a:gd name="T60" fmla="*/ 82 w 250"/>
                  <a:gd name="T61" fmla="*/ 268 h 298"/>
                  <a:gd name="T62" fmla="*/ 89 w 250"/>
                  <a:gd name="T63" fmla="*/ 279 h 298"/>
                  <a:gd name="T64" fmla="*/ 103 w 250"/>
                  <a:gd name="T65" fmla="*/ 284 h 298"/>
                  <a:gd name="T66" fmla="*/ 115 w 250"/>
                  <a:gd name="T67" fmla="*/ 282 h 298"/>
                  <a:gd name="T68" fmla="*/ 121 w 250"/>
                  <a:gd name="T69" fmla="*/ 287 h 298"/>
                  <a:gd name="T70" fmla="*/ 132 w 250"/>
                  <a:gd name="T71" fmla="*/ 297 h 298"/>
                  <a:gd name="T72" fmla="*/ 138 w 250"/>
                  <a:gd name="T73" fmla="*/ 294 h 298"/>
                  <a:gd name="T74" fmla="*/ 146 w 250"/>
                  <a:gd name="T75" fmla="*/ 295 h 298"/>
                  <a:gd name="T76" fmla="*/ 151 w 250"/>
                  <a:gd name="T77" fmla="*/ 296 h 298"/>
                  <a:gd name="T78" fmla="*/ 155 w 250"/>
                  <a:gd name="T79" fmla="*/ 298 h 298"/>
                  <a:gd name="T80" fmla="*/ 171 w 250"/>
                  <a:gd name="T81" fmla="*/ 294 h 298"/>
                  <a:gd name="T82" fmla="*/ 187 w 250"/>
                  <a:gd name="T83" fmla="*/ 282 h 298"/>
                  <a:gd name="T84" fmla="*/ 208 w 250"/>
                  <a:gd name="T85" fmla="*/ 279 h 298"/>
                  <a:gd name="T86" fmla="*/ 203 w 250"/>
                  <a:gd name="T87" fmla="*/ 269 h 298"/>
                  <a:gd name="T88" fmla="*/ 186 w 250"/>
                  <a:gd name="T89" fmla="*/ 246 h 298"/>
                  <a:gd name="T90" fmla="*/ 167 w 250"/>
                  <a:gd name="T91" fmla="*/ 232 h 298"/>
                  <a:gd name="T92" fmla="*/ 169 w 250"/>
                  <a:gd name="T93" fmla="*/ 225 h 298"/>
                  <a:gd name="T94" fmla="*/ 179 w 250"/>
                  <a:gd name="T95" fmla="*/ 224 h 298"/>
                  <a:gd name="T96" fmla="*/ 183 w 250"/>
                  <a:gd name="T97" fmla="*/ 210 h 298"/>
                  <a:gd name="T98" fmla="*/ 186 w 250"/>
                  <a:gd name="T99" fmla="*/ 193 h 298"/>
                  <a:gd name="T100" fmla="*/ 195 w 250"/>
                  <a:gd name="T101" fmla="*/ 189 h 298"/>
                  <a:gd name="T102" fmla="*/ 198 w 250"/>
                  <a:gd name="T103" fmla="*/ 174 h 298"/>
                  <a:gd name="T104" fmla="*/ 207 w 250"/>
                  <a:gd name="T105" fmla="*/ 161 h 298"/>
                  <a:gd name="T106" fmla="*/ 219 w 250"/>
                  <a:gd name="T107" fmla="*/ 14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0" h="298">
                    <a:moveTo>
                      <a:pt x="219" y="137"/>
                    </a:moveTo>
                    <a:cubicBezTo>
                      <a:pt x="219" y="134"/>
                      <a:pt x="219" y="132"/>
                      <a:pt x="218" y="129"/>
                    </a:cubicBezTo>
                    <a:cubicBezTo>
                      <a:pt x="218" y="126"/>
                      <a:pt x="219" y="122"/>
                      <a:pt x="219" y="121"/>
                    </a:cubicBezTo>
                    <a:cubicBezTo>
                      <a:pt x="219" y="120"/>
                      <a:pt x="225" y="105"/>
                      <a:pt x="225" y="104"/>
                    </a:cubicBezTo>
                    <a:cubicBezTo>
                      <a:pt x="225" y="104"/>
                      <a:pt x="225" y="103"/>
                      <a:pt x="225" y="103"/>
                    </a:cubicBezTo>
                    <a:cubicBezTo>
                      <a:pt x="225" y="103"/>
                      <a:pt x="226" y="96"/>
                      <a:pt x="226" y="95"/>
                    </a:cubicBezTo>
                    <a:cubicBezTo>
                      <a:pt x="226" y="94"/>
                      <a:pt x="226" y="94"/>
                      <a:pt x="226" y="94"/>
                    </a:cubicBezTo>
                    <a:cubicBezTo>
                      <a:pt x="226" y="94"/>
                      <a:pt x="230" y="95"/>
                      <a:pt x="232" y="94"/>
                    </a:cubicBezTo>
                    <a:cubicBezTo>
                      <a:pt x="233" y="94"/>
                      <a:pt x="234" y="93"/>
                      <a:pt x="234" y="92"/>
                    </a:cubicBezTo>
                    <a:cubicBezTo>
                      <a:pt x="235" y="91"/>
                      <a:pt x="240" y="88"/>
                      <a:pt x="240" y="88"/>
                    </a:cubicBezTo>
                    <a:cubicBezTo>
                      <a:pt x="241" y="87"/>
                      <a:pt x="242" y="87"/>
                      <a:pt x="242" y="87"/>
                    </a:cubicBezTo>
                    <a:cubicBezTo>
                      <a:pt x="242" y="87"/>
                      <a:pt x="242" y="87"/>
                      <a:pt x="243" y="87"/>
                    </a:cubicBezTo>
                    <a:cubicBezTo>
                      <a:pt x="244" y="87"/>
                      <a:pt x="245" y="86"/>
                      <a:pt x="246" y="85"/>
                    </a:cubicBezTo>
                    <a:cubicBezTo>
                      <a:pt x="247" y="85"/>
                      <a:pt x="249" y="81"/>
                      <a:pt x="250" y="80"/>
                    </a:cubicBezTo>
                    <a:cubicBezTo>
                      <a:pt x="248" y="78"/>
                      <a:pt x="247" y="78"/>
                      <a:pt x="246" y="77"/>
                    </a:cubicBezTo>
                    <a:cubicBezTo>
                      <a:pt x="245" y="76"/>
                      <a:pt x="231" y="69"/>
                      <a:pt x="231" y="60"/>
                    </a:cubicBezTo>
                    <a:cubicBezTo>
                      <a:pt x="230" y="52"/>
                      <a:pt x="229" y="36"/>
                      <a:pt x="229" y="35"/>
                    </a:cubicBezTo>
                    <a:cubicBezTo>
                      <a:pt x="229" y="33"/>
                      <a:pt x="229" y="31"/>
                      <a:pt x="228" y="29"/>
                    </a:cubicBezTo>
                    <a:cubicBezTo>
                      <a:pt x="227" y="28"/>
                      <a:pt x="224" y="25"/>
                      <a:pt x="225" y="20"/>
                    </a:cubicBezTo>
                    <a:cubicBezTo>
                      <a:pt x="225" y="20"/>
                      <a:pt x="225" y="18"/>
                      <a:pt x="224" y="17"/>
                    </a:cubicBezTo>
                    <a:cubicBezTo>
                      <a:pt x="223" y="16"/>
                      <a:pt x="209" y="8"/>
                      <a:pt x="206" y="0"/>
                    </a:cubicBezTo>
                    <a:cubicBezTo>
                      <a:pt x="204" y="1"/>
                      <a:pt x="202" y="3"/>
                      <a:pt x="201" y="3"/>
                    </a:cubicBezTo>
                    <a:cubicBezTo>
                      <a:pt x="201" y="3"/>
                      <a:pt x="199" y="4"/>
                      <a:pt x="198" y="4"/>
                    </a:cubicBezTo>
                    <a:cubicBezTo>
                      <a:pt x="196" y="5"/>
                      <a:pt x="195" y="5"/>
                      <a:pt x="194" y="9"/>
                    </a:cubicBezTo>
                    <a:cubicBezTo>
                      <a:pt x="193" y="12"/>
                      <a:pt x="191" y="13"/>
                      <a:pt x="190" y="14"/>
                    </a:cubicBezTo>
                    <a:cubicBezTo>
                      <a:pt x="190" y="14"/>
                      <a:pt x="186" y="15"/>
                      <a:pt x="185" y="15"/>
                    </a:cubicBezTo>
                    <a:cubicBezTo>
                      <a:pt x="183" y="16"/>
                      <a:pt x="183" y="19"/>
                      <a:pt x="182" y="21"/>
                    </a:cubicBezTo>
                    <a:cubicBezTo>
                      <a:pt x="181" y="22"/>
                      <a:pt x="177" y="22"/>
                      <a:pt x="176" y="22"/>
                    </a:cubicBezTo>
                    <a:cubicBezTo>
                      <a:pt x="175" y="22"/>
                      <a:pt x="175" y="22"/>
                      <a:pt x="175" y="22"/>
                    </a:cubicBezTo>
                    <a:cubicBezTo>
                      <a:pt x="175" y="22"/>
                      <a:pt x="170" y="19"/>
                      <a:pt x="170" y="18"/>
                    </a:cubicBezTo>
                    <a:cubicBezTo>
                      <a:pt x="170" y="18"/>
                      <a:pt x="169" y="18"/>
                      <a:pt x="169" y="18"/>
                    </a:cubicBezTo>
                    <a:cubicBezTo>
                      <a:pt x="169" y="18"/>
                      <a:pt x="145" y="18"/>
                      <a:pt x="145" y="18"/>
                    </a:cubicBezTo>
                    <a:cubicBezTo>
                      <a:pt x="144" y="18"/>
                      <a:pt x="144" y="17"/>
                      <a:pt x="144" y="17"/>
                    </a:cubicBezTo>
                    <a:cubicBezTo>
                      <a:pt x="144" y="17"/>
                      <a:pt x="144" y="17"/>
                      <a:pt x="144" y="16"/>
                    </a:cubicBezTo>
                    <a:cubicBezTo>
                      <a:pt x="144" y="14"/>
                      <a:pt x="142" y="16"/>
                      <a:pt x="142" y="17"/>
                    </a:cubicBezTo>
                    <a:cubicBezTo>
                      <a:pt x="142" y="17"/>
                      <a:pt x="141" y="17"/>
                      <a:pt x="141" y="17"/>
                    </a:cubicBezTo>
                    <a:cubicBezTo>
                      <a:pt x="48" y="18"/>
                      <a:pt x="48" y="18"/>
                      <a:pt x="48" y="18"/>
                    </a:cubicBezTo>
                    <a:cubicBezTo>
                      <a:pt x="48" y="49"/>
                      <a:pt x="48" y="49"/>
                      <a:pt x="48" y="49"/>
                    </a:cubicBezTo>
                    <a:cubicBezTo>
                      <a:pt x="48" y="49"/>
                      <a:pt x="48" y="49"/>
                      <a:pt x="47" y="49"/>
                    </a:cubicBezTo>
                    <a:cubicBezTo>
                      <a:pt x="47" y="49"/>
                      <a:pt x="40" y="49"/>
                      <a:pt x="39" y="49"/>
                    </a:cubicBezTo>
                    <a:cubicBezTo>
                      <a:pt x="38" y="49"/>
                      <a:pt x="35" y="49"/>
                      <a:pt x="34" y="50"/>
                    </a:cubicBezTo>
                    <a:cubicBezTo>
                      <a:pt x="33" y="50"/>
                      <a:pt x="33" y="51"/>
                      <a:pt x="33" y="52"/>
                    </a:cubicBezTo>
                    <a:cubicBezTo>
                      <a:pt x="33" y="53"/>
                      <a:pt x="33" y="54"/>
                      <a:pt x="33" y="57"/>
                    </a:cubicBezTo>
                    <a:cubicBezTo>
                      <a:pt x="33" y="62"/>
                      <a:pt x="33" y="70"/>
                      <a:pt x="33" y="70"/>
                    </a:cubicBezTo>
                    <a:cubicBezTo>
                      <a:pt x="33" y="114"/>
                      <a:pt x="33" y="114"/>
                      <a:pt x="33" y="114"/>
                    </a:cubicBezTo>
                    <a:cubicBezTo>
                      <a:pt x="33" y="114"/>
                      <a:pt x="33" y="115"/>
                      <a:pt x="32" y="115"/>
                    </a:cubicBezTo>
                    <a:cubicBezTo>
                      <a:pt x="32" y="115"/>
                      <a:pt x="21" y="115"/>
                      <a:pt x="21" y="115"/>
                    </a:cubicBezTo>
                    <a:cubicBezTo>
                      <a:pt x="21" y="115"/>
                      <a:pt x="20" y="115"/>
                      <a:pt x="19" y="115"/>
                    </a:cubicBezTo>
                    <a:cubicBezTo>
                      <a:pt x="19" y="116"/>
                      <a:pt x="17" y="117"/>
                      <a:pt x="17" y="119"/>
                    </a:cubicBezTo>
                    <a:cubicBezTo>
                      <a:pt x="16" y="120"/>
                      <a:pt x="15" y="126"/>
                      <a:pt x="14" y="127"/>
                    </a:cubicBezTo>
                    <a:cubicBezTo>
                      <a:pt x="14" y="128"/>
                      <a:pt x="14" y="130"/>
                      <a:pt x="12" y="131"/>
                    </a:cubicBezTo>
                    <a:cubicBezTo>
                      <a:pt x="10" y="132"/>
                      <a:pt x="9" y="132"/>
                      <a:pt x="9" y="133"/>
                    </a:cubicBezTo>
                    <a:cubicBezTo>
                      <a:pt x="10" y="134"/>
                      <a:pt x="10" y="135"/>
                      <a:pt x="10" y="135"/>
                    </a:cubicBezTo>
                    <a:cubicBezTo>
                      <a:pt x="10" y="136"/>
                      <a:pt x="10" y="137"/>
                      <a:pt x="10" y="137"/>
                    </a:cubicBezTo>
                    <a:cubicBezTo>
                      <a:pt x="11" y="138"/>
                      <a:pt x="12" y="139"/>
                      <a:pt x="11" y="139"/>
                    </a:cubicBezTo>
                    <a:cubicBezTo>
                      <a:pt x="10" y="139"/>
                      <a:pt x="9" y="140"/>
                      <a:pt x="8" y="141"/>
                    </a:cubicBezTo>
                    <a:cubicBezTo>
                      <a:pt x="8" y="141"/>
                      <a:pt x="6" y="142"/>
                      <a:pt x="5" y="143"/>
                    </a:cubicBezTo>
                    <a:cubicBezTo>
                      <a:pt x="5" y="145"/>
                      <a:pt x="5" y="145"/>
                      <a:pt x="5" y="146"/>
                    </a:cubicBezTo>
                    <a:cubicBezTo>
                      <a:pt x="6" y="147"/>
                      <a:pt x="8" y="150"/>
                      <a:pt x="7" y="151"/>
                    </a:cubicBezTo>
                    <a:cubicBezTo>
                      <a:pt x="7" y="152"/>
                      <a:pt x="5" y="154"/>
                      <a:pt x="4" y="154"/>
                    </a:cubicBezTo>
                    <a:cubicBezTo>
                      <a:pt x="3" y="155"/>
                      <a:pt x="0" y="159"/>
                      <a:pt x="1" y="160"/>
                    </a:cubicBezTo>
                    <a:cubicBezTo>
                      <a:pt x="3" y="162"/>
                      <a:pt x="5" y="162"/>
                      <a:pt x="5" y="161"/>
                    </a:cubicBezTo>
                    <a:cubicBezTo>
                      <a:pt x="6" y="160"/>
                      <a:pt x="7" y="159"/>
                      <a:pt x="8" y="160"/>
                    </a:cubicBezTo>
                    <a:cubicBezTo>
                      <a:pt x="8" y="161"/>
                      <a:pt x="10" y="168"/>
                      <a:pt x="10" y="168"/>
                    </a:cubicBezTo>
                    <a:cubicBezTo>
                      <a:pt x="10" y="169"/>
                      <a:pt x="10" y="170"/>
                      <a:pt x="10" y="170"/>
                    </a:cubicBezTo>
                    <a:cubicBezTo>
                      <a:pt x="10" y="170"/>
                      <a:pt x="10" y="171"/>
                      <a:pt x="11" y="170"/>
                    </a:cubicBezTo>
                    <a:cubicBezTo>
                      <a:pt x="12" y="170"/>
                      <a:pt x="13" y="170"/>
                      <a:pt x="13" y="171"/>
                    </a:cubicBezTo>
                    <a:cubicBezTo>
                      <a:pt x="12" y="171"/>
                      <a:pt x="9" y="176"/>
                      <a:pt x="17" y="182"/>
                    </a:cubicBezTo>
                    <a:cubicBezTo>
                      <a:pt x="17" y="182"/>
                      <a:pt x="18" y="182"/>
                      <a:pt x="18" y="182"/>
                    </a:cubicBezTo>
                    <a:cubicBezTo>
                      <a:pt x="18" y="183"/>
                      <a:pt x="17" y="187"/>
                      <a:pt x="16" y="187"/>
                    </a:cubicBezTo>
                    <a:cubicBezTo>
                      <a:pt x="16" y="187"/>
                      <a:pt x="16" y="187"/>
                      <a:pt x="16" y="187"/>
                    </a:cubicBezTo>
                    <a:cubicBezTo>
                      <a:pt x="16" y="187"/>
                      <a:pt x="25" y="199"/>
                      <a:pt x="26" y="201"/>
                    </a:cubicBezTo>
                    <a:cubicBezTo>
                      <a:pt x="28" y="202"/>
                      <a:pt x="29" y="204"/>
                      <a:pt x="29" y="205"/>
                    </a:cubicBezTo>
                    <a:cubicBezTo>
                      <a:pt x="28" y="206"/>
                      <a:pt x="27" y="207"/>
                      <a:pt x="28" y="208"/>
                    </a:cubicBezTo>
                    <a:cubicBezTo>
                      <a:pt x="28" y="209"/>
                      <a:pt x="29" y="212"/>
                      <a:pt x="26" y="214"/>
                    </a:cubicBezTo>
                    <a:cubicBezTo>
                      <a:pt x="26" y="214"/>
                      <a:pt x="25" y="214"/>
                      <a:pt x="25" y="215"/>
                    </a:cubicBezTo>
                    <a:cubicBezTo>
                      <a:pt x="25" y="215"/>
                      <a:pt x="26" y="219"/>
                      <a:pt x="26" y="220"/>
                    </a:cubicBezTo>
                    <a:cubicBezTo>
                      <a:pt x="26" y="220"/>
                      <a:pt x="26" y="220"/>
                      <a:pt x="27" y="220"/>
                    </a:cubicBezTo>
                    <a:cubicBezTo>
                      <a:pt x="27" y="220"/>
                      <a:pt x="29" y="220"/>
                      <a:pt x="31" y="220"/>
                    </a:cubicBezTo>
                    <a:cubicBezTo>
                      <a:pt x="33" y="220"/>
                      <a:pt x="35" y="221"/>
                      <a:pt x="35" y="221"/>
                    </a:cubicBezTo>
                    <a:cubicBezTo>
                      <a:pt x="35" y="221"/>
                      <a:pt x="36" y="221"/>
                      <a:pt x="36" y="221"/>
                    </a:cubicBezTo>
                    <a:cubicBezTo>
                      <a:pt x="36" y="222"/>
                      <a:pt x="37" y="226"/>
                      <a:pt x="37" y="226"/>
                    </a:cubicBezTo>
                    <a:cubicBezTo>
                      <a:pt x="37" y="226"/>
                      <a:pt x="37" y="227"/>
                      <a:pt x="37" y="227"/>
                    </a:cubicBezTo>
                    <a:cubicBezTo>
                      <a:pt x="38" y="227"/>
                      <a:pt x="46" y="229"/>
                      <a:pt x="49" y="230"/>
                    </a:cubicBezTo>
                    <a:cubicBezTo>
                      <a:pt x="51" y="232"/>
                      <a:pt x="52" y="234"/>
                      <a:pt x="52" y="236"/>
                    </a:cubicBezTo>
                    <a:cubicBezTo>
                      <a:pt x="52" y="237"/>
                      <a:pt x="52" y="237"/>
                      <a:pt x="53" y="237"/>
                    </a:cubicBezTo>
                    <a:cubicBezTo>
                      <a:pt x="53" y="237"/>
                      <a:pt x="68" y="251"/>
                      <a:pt x="68" y="251"/>
                    </a:cubicBezTo>
                    <a:cubicBezTo>
                      <a:pt x="68" y="251"/>
                      <a:pt x="69" y="251"/>
                      <a:pt x="68" y="252"/>
                    </a:cubicBezTo>
                    <a:cubicBezTo>
                      <a:pt x="68" y="252"/>
                      <a:pt x="67" y="255"/>
                      <a:pt x="68" y="257"/>
                    </a:cubicBezTo>
                    <a:cubicBezTo>
                      <a:pt x="69" y="259"/>
                      <a:pt x="70" y="260"/>
                      <a:pt x="71" y="260"/>
                    </a:cubicBezTo>
                    <a:cubicBezTo>
                      <a:pt x="72" y="260"/>
                      <a:pt x="74" y="261"/>
                      <a:pt x="75" y="262"/>
                    </a:cubicBezTo>
                    <a:cubicBezTo>
                      <a:pt x="76" y="263"/>
                      <a:pt x="77" y="263"/>
                      <a:pt x="78" y="264"/>
                    </a:cubicBezTo>
                    <a:cubicBezTo>
                      <a:pt x="78" y="264"/>
                      <a:pt x="82" y="266"/>
                      <a:pt x="82" y="268"/>
                    </a:cubicBezTo>
                    <a:cubicBezTo>
                      <a:pt x="82" y="270"/>
                      <a:pt x="83" y="272"/>
                      <a:pt x="83" y="273"/>
                    </a:cubicBezTo>
                    <a:cubicBezTo>
                      <a:pt x="83" y="273"/>
                      <a:pt x="84" y="274"/>
                      <a:pt x="84" y="275"/>
                    </a:cubicBezTo>
                    <a:cubicBezTo>
                      <a:pt x="87" y="277"/>
                      <a:pt x="88" y="278"/>
                      <a:pt x="89" y="279"/>
                    </a:cubicBezTo>
                    <a:cubicBezTo>
                      <a:pt x="89" y="281"/>
                      <a:pt x="90" y="282"/>
                      <a:pt x="91" y="283"/>
                    </a:cubicBezTo>
                    <a:cubicBezTo>
                      <a:pt x="92" y="284"/>
                      <a:pt x="98" y="287"/>
                      <a:pt x="99" y="286"/>
                    </a:cubicBezTo>
                    <a:cubicBezTo>
                      <a:pt x="100" y="285"/>
                      <a:pt x="101" y="284"/>
                      <a:pt x="103" y="284"/>
                    </a:cubicBezTo>
                    <a:cubicBezTo>
                      <a:pt x="104" y="284"/>
                      <a:pt x="109" y="286"/>
                      <a:pt x="110" y="285"/>
                    </a:cubicBezTo>
                    <a:cubicBezTo>
                      <a:pt x="112" y="285"/>
                      <a:pt x="112" y="285"/>
                      <a:pt x="112" y="284"/>
                    </a:cubicBezTo>
                    <a:cubicBezTo>
                      <a:pt x="113" y="283"/>
                      <a:pt x="114" y="283"/>
                      <a:pt x="115" y="282"/>
                    </a:cubicBezTo>
                    <a:cubicBezTo>
                      <a:pt x="117" y="282"/>
                      <a:pt x="118" y="282"/>
                      <a:pt x="119" y="282"/>
                    </a:cubicBezTo>
                    <a:cubicBezTo>
                      <a:pt x="119" y="282"/>
                      <a:pt x="119" y="282"/>
                      <a:pt x="119" y="283"/>
                    </a:cubicBezTo>
                    <a:cubicBezTo>
                      <a:pt x="120" y="283"/>
                      <a:pt x="119" y="285"/>
                      <a:pt x="121" y="287"/>
                    </a:cubicBezTo>
                    <a:cubicBezTo>
                      <a:pt x="122" y="289"/>
                      <a:pt x="124" y="291"/>
                      <a:pt x="126" y="291"/>
                    </a:cubicBezTo>
                    <a:cubicBezTo>
                      <a:pt x="128" y="292"/>
                      <a:pt x="130" y="292"/>
                      <a:pt x="130" y="294"/>
                    </a:cubicBezTo>
                    <a:cubicBezTo>
                      <a:pt x="130" y="295"/>
                      <a:pt x="130" y="297"/>
                      <a:pt x="132" y="297"/>
                    </a:cubicBezTo>
                    <a:cubicBezTo>
                      <a:pt x="133" y="297"/>
                      <a:pt x="134" y="298"/>
                      <a:pt x="135" y="298"/>
                    </a:cubicBezTo>
                    <a:cubicBezTo>
                      <a:pt x="135" y="298"/>
                      <a:pt x="135" y="298"/>
                      <a:pt x="135" y="298"/>
                    </a:cubicBezTo>
                    <a:cubicBezTo>
                      <a:pt x="136" y="297"/>
                      <a:pt x="138" y="294"/>
                      <a:pt x="138" y="294"/>
                    </a:cubicBezTo>
                    <a:cubicBezTo>
                      <a:pt x="138" y="294"/>
                      <a:pt x="139" y="294"/>
                      <a:pt x="140" y="294"/>
                    </a:cubicBezTo>
                    <a:cubicBezTo>
                      <a:pt x="140" y="294"/>
                      <a:pt x="145" y="296"/>
                      <a:pt x="145" y="296"/>
                    </a:cubicBezTo>
                    <a:cubicBezTo>
                      <a:pt x="145" y="296"/>
                      <a:pt x="145" y="296"/>
                      <a:pt x="146" y="295"/>
                    </a:cubicBezTo>
                    <a:cubicBezTo>
                      <a:pt x="146" y="295"/>
                      <a:pt x="148" y="294"/>
                      <a:pt x="148" y="294"/>
                    </a:cubicBezTo>
                    <a:cubicBezTo>
                      <a:pt x="148" y="294"/>
                      <a:pt x="149" y="293"/>
                      <a:pt x="149" y="293"/>
                    </a:cubicBezTo>
                    <a:cubicBezTo>
                      <a:pt x="149" y="294"/>
                      <a:pt x="151" y="296"/>
                      <a:pt x="151" y="296"/>
                    </a:cubicBezTo>
                    <a:cubicBezTo>
                      <a:pt x="151" y="296"/>
                      <a:pt x="151" y="297"/>
                      <a:pt x="152" y="297"/>
                    </a:cubicBezTo>
                    <a:cubicBezTo>
                      <a:pt x="152" y="297"/>
                      <a:pt x="153" y="297"/>
                      <a:pt x="153" y="297"/>
                    </a:cubicBezTo>
                    <a:cubicBezTo>
                      <a:pt x="153" y="297"/>
                      <a:pt x="154" y="298"/>
                      <a:pt x="155" y="298"/>
                    </a:cubicBezTo>
                    <a:cubicBezTo>
                      <a:pt x="155" y="297"/>
                      <a:pt x="160" y="292"/>
                      <a:pt x="166" y="292"/>
                    </a:cubicBezTo>
                    <a:cubicBezTo>
                      <a:pt x="166" y="292"/>
                      <a:pt x="167" y="292"/>
                      <a:pt x="168" y="293"/>
                    </a:cubicBezTo>
                    <a:cubicBezTo>
                      <a:pt x="169" y="294"/>
                      <a:pt x="170" y="294"/>
                      <a:pt x="171" y="294"/>
                    </a:cubicBezTo>
                    <a:cubicBezTo>
                      <a:pt x="172" y="294"/>
                      <a:pt x="174" y="295"/>
                      <a:pt x="175" y="294"/>
                    </a:cubicBezTo>
                    <a:cubicBezTo>
                      <a:pt x="175" y="294"/>
                      <a:pt x="178" y="291"/>
                      <a:pt x="181" y="287"/>
                    </a:cubicBezTo>
                    <a:cubicBezTo>
                      <a:pt x="184" y="285"/>
                      <a:pt x="187" y="282"/>
                      <a:pt x="187" y="282"/>
                    </a:cubicBezTo>
                    <a:cubicBezTo>
                      <a:pt x="187" y="282"/>
                      <a:pt x="187" y="281"/>
                      <a:pt x="188" y="281"/>
                    </a:cubicBezTo>
                    <a:cubicBezTo>
                      <a:pt x="188" y="281"/>
                      <a:pt x="204" y="281"/>
                      <a:pt x="210" y="281"/>
                    </a:cubicBezTo>
                    <a:cubicBezTo>
                      <a:pt x="209" y="280"/>
                      <a:pt x="209" y="279"/>
                      <a:pt x="208" y="279"/>
                    </a:cubicBezTo>
                    <a:cubicBezTo>
                      <a:pt x="207" y="277"/>
                      <a:pt x="209" y="273"/>
                      <a:pt x="209" y="272"/>
                    </a:cubicBezTo>
                    <a:cubicBezTo>
                      <a:pt x="209" y="272"/>
                      <a:pt x="209" y="271"/>
                      <a:pt x="208" y="271"/>
                    </a:cubicBezTo>
                    <a:cubicBezTo>
                      <a:pt x="207" y="270"/>
                      <a:pt x="204" y="269"/>
                      <a:pt x="203" y="269"/>
                    </a:cubicBezTo>
                    <a:cubicBezTo>
                      <a:pt x="202" y="269"/>
                      <a:pt x="201" y="268"/>
                      <a:pt x="199" y="267"/>
                    </a:cubicBezTo>
                    <a:cubicBezTo>
                      <a:pt x="197" y="265"/>
                      <a:pt x="194" y="255"/>
                      <a:pt x="193" y="253"/>
                    </a:cubicBezTo>
                    <a:cubicBezTo>
                      <a:pt x="193" y="250"/>
                      <a:pt x="186" y="246"/>
                      <a:pt x="186" y="246"/>
                    </a:cubicBezTo>
                    <a:cubicBezTo>
                      <a:pt x="185" y="245"/>
                      <a:pt x="184" y="245"/>
                      <a:pt x="184" y="244"/>
                    </a:cubicBezTo>
                    <a:cubicBezTo>
                      <a:pt x="183" y="243"/>
                      <a:pt x="179" y="238"/>
                      <a:pt x="178" y="237"/>
                    </a:cubicBezTo>
                    <a:cubicBezTo>
                      <a:pt x="177" y="236"/>
                      <a:pt x="168" y="232"/>
                      <a:pt x="167" y="232"/>
                    </a:cubicBezTo>
                    <a:cubicBezTo>
                      <a:pt x="167" y="232"/>
                      <a:pt x="167" y="231"/>
                      <a:pt x="167" y="231"/>
                    </a:cubicBezTo>
                    <a:cubicBezTo>
                      <a:pt x="167" y="231"/>
                      <a:pt x="167" y="230"/>
                      <a:pt x="168" y="230"/>
                    </a:cubicBezTo>
                    <a:cubicBezTo>
                      <a:pt x="168" y="229"/>
                      <a:pt x="169" y="226"/>
                      <a:pt x="169" y="225"/>
                    </a:cubicBezTo>
                    <a:cubicBezTo>
                      <a:pt x="170" y="224"/>
                      <a:pt x="170" y="224"/>
                      <a:pt x="171" y="224"/>
                    </a:cubicBezTo>
                    <a:cubicBezTo>
                      <a:pt x="171" y="224"/>
                      <a:pt x="172" y="224"/>
                      <a:pt x="173" y="224"/>
                    </a:cubicBezTo>
                    <a:cubicBezTo>
                      <a:pt x="175" y="224"/>
                      <a:pt x="177" y="224"/>
                      <a:pt x="179" y="224"/>
                    </a:cubicBezTo>
                    <a:cubicBezTo>
                      <a:pt x="180" y="225"/>
                      <a:pt x="182" y="224"/>
                      <a:pt x="182" y="223"/>
                    </a:cubicBezTo>
                    <a:cubicBezTo>
                      <a:pt x="183" y="222"/>
                      <a:pt x="183" y="221"/>
                      <a:pt x="183" y="220"/>
                    </a:cubicBezTo>
                    <a:cubicBezTo>
                      <a:pt x="183" y="219"/>
                      <a:pt x="183" y="211"/>
                      <a:pt x="183" y="210"/>
                    </a:cubicBezTo>
                    <a:cubicBezTo>
                      <a:pt x="183" y="209"/>
                      <a:pt x="183" y="208"/>
                      <a:pt x="183" y="208"/>
                    </a:cubicBezTo>
                    <a:cubicBezTo>
                      <a:pt x="183" y="208"/>
                      <a:pt x="185" y="201"/>
                      <a:pt x="186" y="199"/>
                    </a:cubicBezTo>
                    <a:cubicBezTo>
                      <a:pt x="187" y="198"/>
                      <a:pt x="186" y="195"/>
                      <a:pt x="186" y="193"/>
                    </a:cubicBezTo>
                    <a:cubicBezTo>
                      <a:pt x="186" y="191"/>
                      <a:pt x="188" y="189"/>
                      <a:pt x="189" y="189"/>
                    </a:cubicBezTo>
                    <a:cubicBezTo>
                      <a:pt x="190" y="188"/>
                      <a:pt x="191" y="188"/>
                      <a:pt x="192" y="189"/>
                    </a:cubicBezTo>
                    <a:cubicBezTo>
                      <a:pt x="193" y="190"/>
                      <a:pt x="195" y="189"/>
                      <a:pt x="195" y="189"/>
                    </a:cubicBezTo>
                    <a:cubicBezTo>
                      <a:pt x="196" y="188"/>
                      <a:pt x="196" y="187"/>
                      <a:pt x="195" y="186"/>
                    </a:cubicBezTo>
                    <a:cubicBezTo>
                      <a:pt x="195" y="186"/>
                      <a:pt x="196" y="185"/>
                      <a:pt x="196" y="184"/>
                    </a:cubicBezTo>
                    <a:cubicBezTo>
                      <a:pt x="197" y="183"/>
                      <a:pt x="198" y="174"/>
                      <a:pt x="198" y="174"/>
                    </a:cubicBezTo>
                    <a:cubicBezTo>
                      <a:pt x="198" y="173"/>
                      <a:pt x="200" y="172"/>
                      <a:pt x="201" y="171"/>
                    </a:cubicBezTo>
                    <a:cubicBezTo>
                      <a:pt x="201" y="171"/>
                      <a:pt x="206" y="163"/>
                      <a:pt x="206" y="162"/>
                    </a:cubicBezTo>
                    <a:cubicBezTo>
                      <a:pt x="207" y="161"/>
                      <a:pt x="207" y="161"/>
                      <a:pt x="207" y="161"/>
                    </a:cubicBezTo>
                    <a:cubicBezTo>
                      <a:pt x="207" y="161"/>
                      <a:pt x="212" y="160"/>
                      <a:pt x="213" y="160"/>
                    </a:cubicBezTo>
                    <a:cubicBezTo>
                      <a:pt x="214" y="160"/>
                      <a:pt x="214" y="160"/>
                      <a:pt x="214" y="160"/>
                    </a:cubicBezTo>
                    <a:cubicBezTo>
                      <a:pt x="214" y="160"/>
                      <a:pt x="218" y="145"/>
                      <a:pt x="219" y="140"/>
                    </a:cubicBezTo>
                    <a:cubicBezTo>
                      <a:pt x="219" y="139"/>
                      <a:pt x="219" y="138"/>
                      <a:pt x="219" y="13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55" name="Freeform 966">
                <a:extLst>
                  <a:ext uri="{FF2B5EF4-FFF2-40B4-BE49-F238E27FC236}">
                    <a16:creationId xmlns:a16="http://schemas.microsoft.com/office/drawing/2014/main" id="{7A42F3DF-2649-40FB-AE0A-CCAEFB2332DF}"/>
                  </a:ext>
                </a:extLst>
              </p:cNvPr>
              <p:cNvSpPr>
                <a:spLocks/>
              </p:cNvSpPr>
              <p:nvPr/>
            </p:nvSpPr>
            <p:spPr bwMode="auto">
              <a:xfrm>
                <a:off x="3678" y="2414"/>
                <a:ext cx="157" cy="234"/>
              </a:xfrm>
              <a:custGeom>
                <a:avLst/>
                <a:gdLst>
                  <a:gd name="T0" fmla="*/ 105 w 114"/>
                  <a:gd name="T1" fmla="*/ 79 h 170"/>
                  <a:gd name="T2" fmla="*/ 98 w 114"/>
                  <a:gd name="T3" fmla="*/ 68 h 170"/>
                  <a:gd name="T4" fmla="*/ 83 w 114"/>
                  <a:gd name="T5" fmla="*/ 54 h 170"/>
                  <a:gd name="T6" fmla="*/ 84 w 114"/>
                  <a:gd name="T7" fmla="*/ 47 h 170"/>
                  <a:gd name="T8" fmla="*/ 93 w 114"/>
                  <a:gd name="T9" fmla="*/ 47 h 170"/>
                  <a:gd name="T10" fmla="*/ 101 w 114"/>
                  <a:gd name="T11" fmla="*/ 46 h 170"/>
                  <a:gd name="T12" fmla="*/ 103 w 114"/>
                  <a:gd name="T13" fmla="*/ 44 h 170"/>
                  <a:gd name="T14" fmla="*/ 98 w 114"/>
                  <a:gd name="T15" fmla="*/ 34 h 170"/>
                  <a:gd name="T16" fmla="*/ 97 w 114"/>
                  <a:gd name="T17" fmla="*/ 19 h 170"/>
                  <a:gd name="T18" fmla="*/ 95 w 114"/>
                  <a:gd name="T19" fmla="*/ 12 h 170"/>
                  <a:gd name="T20" fmla="*/ 90 w 114"/>
                  <a:gd name="T21" fmla="*/ 4 h 170"/>
                  <a:gd name="T22" fmla="*/ 82 w 114"/>
                  <a:gd name="T23" fmla="*/ 0 h 170"/>
                  <a:gd name="T24" fmla="*/ 85 w 114"/>
                  <a:gd name="T25" fmla="*/ 10 h 170"/>
                  <a:gd name="T26" fmla="*/ 91 w 114"/>
                  <a:gd name="T27" fmla="*/ 19 h 170"/>
                  <a:gd name="T28" fmla="*/ 84 w 114"/>
                  <a:gd name="T29" fmla="*/ 27 h 170"/>
                  <a:gd name="T30" fmla="*/ 77 w 114"/>
                  <a:gd name="T31" fmla="*/ 33 h 170"/>
                  <a:gd name="T32" fmla="*/ 72 w 114"/>
                  <a:gd name="T33" fmla="*/ 45 h 170"/>
                  <a:gd name="T34" fmla="*/ 70 w 114"/>
                  <a:gd name="T35" fmla="*/ 51 h 170"/>
                  <a:gd name="T36" fmla="*/ 65 w 114"/>
                  <a:gd name="T37" fmla="*/ 57 h 170"/>
                  <a:gd name="T38" fmla="*/ 55 w 114"/>
                  <a:gd name="T39" fmla="*/ 73 h 170"/>
                  <a:gd name="T40" fmla="*/ 49 w 114"/>
                  <a:gd name="T41" fmla="*/ 88 h 170"/>
                  <a:gd name="T42" fmla="*/ 47 w 114"/>
                  <a:gd name="T43" fmla="*/ 93 h 170"/>
                  <a:gd name="T44" fmla="*/ 40 w 114"/>
                  <a:gd name="T45" fmla="*/ 99 h 170"/>
                  <a:gd name="T46" fmla="*/ 34 w 114"/>
                  <a:gd name="T47" fmla="*/ 92 h 170"/>
                  <a:gd name="T48" fmla="*/ 30 w 114"/>
                  <a:gd name="T49" fmla="*/ 92 h 170"/>
                  <a:gd name="T50" fmla="*/ 28 w 114"/>
                  <a:gd name="T51" fmla="*/ 93 h 170"/>
                  <a:gd name="T52" fmla="*/ 18 w 114"/>
                  <a:gd name="T53" fmla="*/ 97 h 170"/>
                  <a:gd name="T54" fmla="*/ 16 w 114"/>
                  <a:gd name="T55" fmla="*/ 98 h 170"/>
                  <a:gd name="T56" fmla="*/ 7 w 114"/>
                  <a:gd name="T57" fmla="*/ 107 h 170"/>
                  <a:gd name="T58" fmla="*/ 5 w 114"/>
                  <a:gd name="T59" fmla="*/ 115 h 170"/>
                  <a:gd name="T60" fmla="*/ 0 w 114"/>
                  <a:gd name="T61" fmla="*/ 126 h 170"/>
                  <a:gd name="T62" fmla="*/ 2 w 114"/>
                  <a:gd name="T63" fmla="*/ 127 h 170"/>
                  <a:gd name="T64" fmla="*/ 9 w 114"/>
                  <a:gd name="T65" fmla="*/ 135 h 170"/>
                  <a:gd name="T66" fmla="*/ 17 w 114"/>
                  <a:gd name="T67" fmla="*/ 136 h 170"/>
                  <a:gd name="T68" fmla="*/ 16 w 114"/>
                  <a:gd name="T69" fmla="*/ 140 h 170"/>
                  <a:gd name="T70" fmla="*/ 20 w 114"/>
                  <a:gd name="T71" fmla="*/ 160 h 170"/>
                  <a:gd name="T72" fmla="*/ 42 w 114"/>
                  <a:gd name="T73" fmla="*/ 163 h 170"/>
                  <a:gd name="T74" fmla="*/ 58 w 114"/>
                  <a:gd name="T75" fmla="*/ 161 h 170"/>
                  <a:gd name="T76" fmla="*/ 71 w 114"/>
                  <a:gd name="T77" fmla="*/ 163 h 170"/>
                  <a:gd name="T78" fmla="*/ 95 w 114"/>
                  <a:gd name="T79" fmla="*/ 164 h 170"/>
                  <a:gd name="T80" fmla="*/ 100 w 114"/>
                  <a:gd name="T81" fmla="*/ 166 h 170"/>
                  <a:gd name="T82" fmla="*/ 109 w 114"/>
                  <a:gd name="T83" fmla="*/ 167 h 170"/>
                  <a:gd name="T84" fmla="*/ 112 w 114"/>
                  <a:gd name="T85" fmla="*/ 169 h 170"/>
                  <a:gd name="T86" fmla="*/ 113 w 114"/>
                  <a:gd name="T87" fmla="*/ 155 h 170"/>
                  <a:gd name="T88" fmla="*/ 103 w 114"/>
                  <a:gd name="T89" fmla="*/ 144 h 170"/>
                  <a:gd name="T90" fmla="*/ 98 w 114"/>
                  <a:gd name="T91" fmla="*/ 135 h 170"/>
                  <a:gd name="T92" fmla="*/ 95 w 114"/>
                  <a:gd name="T93" fmla="*/ 129 h 170"/>
                  <a:gd name="T94" fmla="*/ 92 w 114"/>
                  <a:gd name="T95" fmla="*/ 121 h 170"/>
                  <a:gd name="T96" fmla="*/ 91 w 114"/>
                  <a:gd name="T97" fmla="*/ 109 h 170"/>
                  <a:gd name="T98" fmla="*/ 92 w 114"/>
                  <a:gd name="T99" fmla="*/ 103 h 170"/>
                  <a:gd name="T100" fmla="*/ 100 w 114"/>
                  <a:gd name="T101" fmla="*/ 88 h 170"/>
                  <a:gd name="T102" fmla="*/ 104 w 114"/>
                  <a:gd name="T103" fmla="*/ 8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4" h="170">
                    <a:moveTo>
                      <a:pt x="104" y="83"/>
                    </a:moveTo>
                    <a:cubicBezTo>
                      <a:pt x="104" y="82"/>
                      <a:pt x="105" y="80"/>
                      <a:pt x="105" y="80"/>
                    </a:cubicBezTo>
                    <a:cubicBezTo>
                      <a:pt x="105" y="80"/>
                      <a:pt x="105" y="79"/>
                      <a:pt x="105" y="79"/>
                    </a:cubicBezTo>
                    <a:cubicBezTo>
                      <a:pt x="104" y="79"/>
                      <a:pt x="103" y="77"/>
                      <a:pt x="103" y="77"/>
                    </a:cubicBezTo>
                    <a:cubicBezTo>
                      <a:pt x="102" y="76"/>
                      <a:pt x="100" y="70"/>
                      <a:pt x="100" y="70"/>
                    </a:cubicBezTo>
                    <a:cubicBezTo>
                      <a:pt x="100" y="70"/>
                      <a:pt x="99" y="68"/>
                      <a:pt x="98" y="68"/>
                    </a:cubicBezTo>
                    <a:cubicBezTo>
                      <a:pt x="98" y="68"/>
                      <a:pt x="98" y="67"/>
                      <a:pt x="98" y="67"/>
                    </a:cubicBezTo>
                    <a:cubicBezTo>
                      <a:pt x="98" y="67"/>
                      <a:pt x="87" y="57"/>
                      <a:pt x="86" y="57"/>
                    </a:cubicBezTo>
                    <a:cubicBezTo>
                      <a:pt x="86" y="56"/>
                      <a:pt x="84" y="54"/>
                      <a:pt x="83" y="54"/>
                    </a:cubicBezTo>
                    <a:cubicBezTo>
                      <a:pt x="83" y="53"/>
                      <a:pt x="83" y="53"/>
                      <a:pt x="82" y="52"/>
                    </a:cubicBezTo>
                    <a:cubicBezTo>
                      <a:pt x="81" y="52"/>
                      <a:pt x="81" y="51"/>
                      <a:pt x="81" y="50"/>
                    </a:cubicBezTo>
                    <a:cubicBezTo>
                      <a:pt x="82" y="49"/>
                      <a:pt x="84" y="47"/>
                      <a:pt x="84" y="47"/>
                    </a:cubicBezTo>
                    <a:cubicBezTo>
                      <a:pt x="84" y="46"/>
                      <a:pt x="85" y="46"/>
                      <a:pt x="85" y="46"/>
                    </a:cubicBezTo>
                    <a:cubicBezTo>
                      <a:pt x="85" y="46"/>
                      <a:pt x="88" y="46"/>
                      <a:pt x="89" y="46"/>
                    </a:cubicBezTo>
                    <a:cubicBezTo>
                      <a:pt x="89" y="46"/>
                      <a:pt x="93" y="47"/>
                      <a:pt x="93" y="47"/>
                    </a:cubicBezTo>
                    <a:cubicBezTo>
                      <a:pt x="93" y="47"/>
                      <a:pt x="94" y="47"/>
                      <a:pt x="95" y="47"/>
                    </a:cubicBezTo>
                    <a:cubicBezTo>
                      <a:pt x="95" y="47"/>
                      <a:pt x="98" y="46"/>
                      <a:pt x="98" y="46"/>
                    </a:cubicBezTo>
                    <a:cubicBezTo>
                      <a:pt x="99" y="46"/>
                      <a:pt x="100" y="46"/>
                      <a:pt x="101" y="46"/>
                    </a:cubicBezTo>
                    <a:cubicBezTo>
                      <a:pt x="101" y="47"/>
                      <a:pt x="104" y="47"/>
                      <a:pt x="106" y="46"/>
                    </a:cubicBezTo>
                    <a:cubicBezTo>
                      <a:pt x="107" y="46"/>
                      <a:pt x="106" y="46"/>
                      <a:pt x="106" y="46"/>
                    </a:cubicBezTo>
                    <a:cubicBezTo>
                      <a:pt x="106" y="46"/>
                      <a:pt x="104" y="44"/>
                      <a:pt x="103" y="44"/>
                    </a:cubicBezTo>
                    <a:cubicBezTo>
                      <a:pt x="102" y="43"/>
                      <a:pt x="100" y="40"/>
                      <a:pt x="100" y="39"/>
                    </a:cubicBezTo>
                    <a:cubicBezTo>
                      <a:pt x="100" y="39"/>
                      <a:pt x="98" y="36"/>
                      <a:pt x="98" y="35"/>
                    </a:cubicBezTo>
                    <a:cubicBezTo>
                      <a:pt x="98" y="35"/>
                      <a:pt x="98" y="35"/>
                      <a:pt x="98" y="34"/>
                    </a:cubicBezTo>
                    <a:cubicBezTo>
                      <a:pt x="98" y="33"/>
                      <a:pt x="97" y="31"/>
                      <a:pt x="97" y="30"/>
                    </a:cubicBezTo>
                    <a:cubicBezTo>
                      <a:pt x="97" y="30"/>
                      <a:pt x="97" y="29"/>
                      <a:pt x="97" y="29"/>
                    </a:cubicBezTo>
                    <a:cubicBezTo>
                      <a:pt x="99" y="24"/>
                      <a:pt x="97" y="19"/>
                      <a:pt x="97" y="19"/>
                    </a:cubicBezTo>
                    <a:cubicBezTo>
                      <a:pt x="97" y="18"/>
                      <a:pt x="97" y="17"/>
                      <a:pt x="97" y="17"/>
                    </a:cubicBezTo>
                    <a:cubicBezTo>
                      <a:pt x="97" y="17"/>
                      <a:pt x="96" y="15"/>
                      <a:pt x="95" y="14"/>
                    </a:cubicBezTo>
                    <a:cubicBezTo>
                      <a:pt x="95" y="13"/>
                      <a:pt x="95" y="12"/>
                      <a:pt x="95" y="12"/>
                    </a:cubicBezTo>
                    <a:cubicBezTo>
                      <a:pt x="95" y="8"/>
                      <a:pt x="93" y="7"/>
                      <a:pt x="93" y="6"/>
                    </a:cubicBezTo>
                    <a:cubicBezTo>
                      <a:pt x="92" y="6"/>
                      <a:pt x="90" y="5"/>
                      <a:pt x="90" y="4"/>
                    </a:cubicBezTo>
                    <a:cubicBezTo>
                      <a:pt x="90" y="4"/>
                      <a:pt x="90" y="4"/>
                      <a:pt x="90" y="4"/>
                    </a:cubicBezTo>
                    <a:cubicBezTo>
                      <a:pt x="90" y="4"/>
                      <a:pt x="89" y="2"/>
                      <a:pt x="89" y="1"/>
                    </a:cubicBezTo>
                    <a:cubicBezTo>
                      <a:pt x="89" y="1"/>
                      <a:pt x="88" y="1"/>
                      <a:pt x="88" y="1"/>
                    </a:cubicBezTo>
                    <a:cubicBezTo>
                      <a:pt x="82" y="0"/>
                      <a:pt x="82" y="0"/>
                      <a:pt x="82" y="0"/>
                    </a:cubicBezTo>
                    <a:cubicBezTo>
                      <a:pt x="83" y="0"/>
                      <a:pt x="83" y="1"/>
                      <a:pt x="83" y="1"/>
                    </a:cubicBezTo>
                    <a:cubicBezTo>
                      <a:pt x="83" y="3"/>
                      <a:pt x="84" y="9"/>
                      <a:pt x="84" y="9"/>
                    </a:cubicBezTo>
                    <a:cubicBezTo>
                      <a:pt x="84" y="9"/>
                      <a:pt x="84" y="10"/>
                      <a:pt x="85" y="10"/>
                    </a:cubicBezTo>
                    <a:cubicBezTo>
                      <a:pt x="85" y="10"/>
                      <a:pt x="88" y="11"/>
                      <a:pt x="91" y="14"/>
                    </a:cubicBezTo>
                    <a:cubicBezTo>
                      <a:pt x="91" y="14"/>
                      <a:pt x="91" y="14"/>
                      <a:pt x="91" y="15"/>
                    </a:cubicBezTo>
                    <a:cubicBezTo>
                      <a:pt x="91" y="16"/>
                      <a:pt x="90" y="19"/>
                      <a:pt x="91" y="19"/>
                    </a:cubicBezTo>
                    <a:cubicBezTo>
                      <a:pt x="91" y="20"/>
                      <a:pt x="91" y="22"/>
                      <a:pt x="90" y="23"/>
                    </a:cubicBezTo>
                    <a:cubicBezTo>
                      <a:pt x="89" y="25"/>
                      <a:pt x="85" y="27"/>
                      <a:pt x="85" y="27"/>
                    </a:cubicBezTo>
                    <a:cubicBezTo>
                      <a:pt x="85" y="27"/>
                      <a:pt x="84" y="27"/>
                      <a:pt x="84" y="27"/>
                    </a:cubicBezTo>
                    <a:cubicBezTo>
                      <a:pt x="83" y="27"/>
                      <a:pt x="82" y="27"/>
                      <a:pt x="80" y="28"/>
                    </a:cubicBezTo>
                    <a:cubicBezTo>
                      <a:pt x="79" y="30"/>
                      <a:pt x="79" y="31"/>
                      <a:pt x="79" y="31"/>
                    </a:cubicBezTo>
                    <a:cubicBezTo>
                      <a:pt x="78" y="32"/>
                      <a:pt x="78" y="32"/>
                      <a:pt x="77" y="33"/>
                    </a:cubicBezTo>
                    <a:cubicBezTo>
                      <a:pt x="77" y="33"/>
                      <a:pt x="75" y="36"/>
                      <a:pt x="75" y="36"/>
                    </a:cubicBezTo>
                    <a:cubicBezTo>
                      <a:pt x="75" y="37"/>
                      <a:pt x="74" y="42"/>
                      <a:pt x="73" y="44"/>
                    </a:cubicBezTo>
                    <a:cubicBezTo>
                      <a:pt x="73" y="44"/>
                      <a:pt x="72" y="44"/>
                      <a:pt x="72" y="45"/>
                    </a:cubicBezTo>
                    <a:cubicBezTo>
                      <a:pt x="72" y="45"/>
                      <a:pt x="71" y="46"/>
                      <a:pt x="71" y="46"/>
                    </a:cubicBezTo>
                    <a:cubicBezTo>
                      <a:pt x="71" y="46"/>
                      <a:pt x="70" y="46"/>
                      <a:pt x="70" y="47"/>
                    </a:cubicBezTo>
                    <a:cubicBezTo>
                      <a:pt x="70" y="47"/>
                      <a:pt x="71" y="50"/>
                      <a:pt x="70" y="51"/>
                    </a:cubicBezTo>
                    <a:cubicBezTo>
                      <a:pt x="70" y="52"/>
                      <a:pt x="70" y="53"/>
                      <a:pt x="69" y="53"/>
                    </a:cubicBezTo>
                    <a:cubicBezTo>
                      <a:pt x="68" y="53"/>
                      <a:pt x="68" y="53"/>
                      <a:pt x="67" y="54"/>
                    </a:cubicBezTo>
                    <a:cubicBezTo>
                      <a:pt x="67" y="54"/>
                      <a:pt x="65" y="55"/>
                      <a:pt x="65" y="57"/>
                    </a:cubicBezTo>
                    <a:cubicBezTo>
                      <a:pt x="65" y="58"/>
                      <a:pt x="64" y="64"/>
                      <a:pt x="63" y="65"/>
                    </a:cubicBezTo>
                    <a:cubicBezTo>
                      <a:pt x="62" y="65"/>
                      <a:pt x="61" y="67"/>
                      <a:pt x="58" y="68"/>
                    </a:cubicBezTo>
                    <a:cubicBezTo>
                      <a:pt x="56" y="69"/>
                      <a:pt x="55" y="71"/>
                      <a:pt x="55" y="73"/>
                    </a:cubicBezTo>
                    <a:cubicBezTo>
                      <a:pt x="55" y="73"/>
                      <a:pt x="56" y="73"/>
                      <a:pt x="55" y="74"/>
                    </a:cubicBezTo>
                    <a:cubicBezTo>
                      <a:pt x="55" y="75"/>
                      <a:pt x="49" y="87"/>
                      <a:pt x="49" y="87"/>
                    </a:cubicBezTo>
                    <a:cubicBezTo>
                      <a:pt x="49" y="87"/>
                      <a:pt x="48" y="87"/>
                      <a:pt x="49" y="88"/>
                    </a:cubicBezTo>
                    <a:cubicBezTo>
                      <a:pt x="49" y="88"/>
                      <a:pt x="50" y="89"/>
                      <a:pt x="50" y="89"/>
                    </a:cubicBezTo>
                    <a:cubicBezTo>
                      <a:pt x="50" y="89"/>
                      <a:pt x="50" y="90"/>
                      <a:pt x="50" y="90"/>
                    </a:cubicBezTo>
                    <a:cubicBezTo>
                      <a:pt x="49" y="90"/>
                      <a:pt x="48" y="91"/>
                      <a:pt x="47" y="93"/>
                    </a:cubicBezTo>
                    <a:cubicBezTo>
                      <a:pt x="46" y="94"/>
                      <a:pt x="44" y="98"/>
                      <a:pt x="43" y="98"/>
                    </a:cubicBezTo>
                    <a:cubicBezTo>
                      <a:pt x="43" y="98"/>
                      <a:pt x="43" y="99"/>
                      <a:pt x="43" y="99"/>
                    </a:cubicBezTo>
                    <a:cubicBezTo>
                      <a:pt x="42" y="99"/>
                      <a:pt x="40" y="99"/>
                      <a:pt x="40" y="99"/>
                    </a:cubicBezTo>
                    <a:cubicBezTo>
                      <a:pt x="40" y="99"/>
                      <a:pt x="40" y="100"/>
                      <a:pt x="40" y="99"/>
                    </a:cubicBezTo>
                    <a:cubicBezTo>
                      <a:pt x="39" y="99"/>
                      <a:pt x="35" y="93"/>
                      <a:pt x="35" y="93"/>
                    </a:cubicBezTo>
                    <a:cubicBezTo>
                      <a:pt x="35" y="93"/>
                      <a:pt x="35" y="92"/>
                      <a:pt x="34" y="92"/>
                    </a:cubicBezTo>
                    <a:cubicBezTo>
                      <a:pt x="34" y="92"/>
                      <a:pt x="32" y="90"/>
                      <a:pt x="31" y="89"/>
                    </a:cubicBezTo>
                    <a:cubicBezTo>
                      <a:pt x="31" y="89"/>
                      <a:pt x="31" y="89"/>
                      <a:pt x="31" y="90"/>
                    </a:cubicBezTo>
                    <a:cubicBezTo>
                      <a:pt x="31" y="91"/>
                      <a:pt x="30" y="92"/>
                      <a:pt x="30" y="92"/>
                    </a:cubicBezTo>
                    <a:cubicBezTo>
                      <a:pt x="30" y="92"/>
                      <a:pt x="30" y="92"/>
                      <a:pt x="29" y="92"/>
                    </a:cubicBezTo>
                    <a:cubicBezTo>
                      <a:pt x="29" y="92"/>
                      <a:pt x="28" y="93"/>
                      <a:pt x="28" y="93"/>
                    </a:cubicBezTo>
                    <a:cubicBezTo>
                      <a:pt x="28" y="93"/>
                      <a:pt x="28" y="93"/>
                      <a:pt x="28" y="93"/>
                    </a:cubicBezTo>
                    <a:cubicBezTo>
                      <a:pt x="27" y="92"/>
                      <a:pt x="25" y="91"/>
                      <a:pt x="24" y="91"/>
                    </a:cubicBezTo>
                    <a:cubicBezTo>
                      <a:pt x="22" y="92"/>
                      <a:pt x="19" y="96"/>
                      <a:pt x="19" y="96"/>
                    </a:cubicBezTo>
                    <a:cubicBezTo>
                      <a:pt x="19" y="96"/>
                      <a:pt x="18" y="97"/>
                      <a:pt x="18" y="97"/>
                    </a:cubicBezTo>
                    <a:cubicBezTo>
                      <a:pt x="18" y="97"/>
                      <a:pt x="18" y="98"/>
                      <a:pt x="18" y="98"/>
                    </a:cubicBezTo>
                    <a:cubicBezTo>
                      <a:pt x="18" y="98"/>
                      <a:pt x="18" y="98"/>
                      <a:pt x="17" y="98"/>
                    </a:cubicBezTo>
                    <a:cubicBezTo>
                      <a:pt x="17" y="98"/>
                      <a:pt x="17" y="98"/>
                      <a:pt x="16" y="98"/>
                    </a:cubicBezTo>
                    <a:cubicBezTo>
                      <a:pt x="16" y="99"/>
                      <a:pt x="14" y="100"/>
                      <a:pt x="14" y="100"/>
                    </a:cubicBezTo>
                    <a:cubicBezTo>
                      <a:pt x="14" y="100"/>
                      <a:pt x="12" y="102"/>
                      <a:pt x="11" y="103"/>
                    </a:cubicBezTo>
                    <a:cubicBezTo>
                      <a:pt x="10" y="104"/>
                      <a:pt x="7" y="107"/>
                      <a:pt x="7" y="107"/>
                    </a:cubicBezTo>
                    <a:cubicBezTo>
                      <a:pt x="7" y="107"/>
                      <a:pt x="7" y="108"/>
                      <a:pt x="7" y="108"/>
                    </a:cubicBezTo>
                    <a:cubicBezTo>
                      <a:pt x="6" y="108"/>
                      <a:pt x="5" y="109"/>
                      <a:pt x="5" y="111"/>
                    </a:cubicBezTo>
                    <a:cubicBezTo>
                      <a:pt x="5" y="113"/>
                      <a:pt x="5" y="115"/>
                      <a:pt x="5" y="115"/>
                    </a:cubicBezTo>
                    <a:cubicBezTo>
                      <a:pt x="5" y="115"/>
                      <a:pt x="5" y="116"/>
                      <a:pt x="4" y="117"/>
                    </a:cubicBezTo>
                    <a:cubicBezTo>
                      <a:pt x="4" y="118"/>
                      <a:pt x="2" y="121"/>
                      <a:pt x="2" y="123"/>
                    </a:cubicBezTo>
                    <a:cubicBezTo>
                      <a:pt x="1" y="124"/>
                      <a:pt x="0" y="125"/>
                      <a:pt x="0" y="126"/>
                    </a:cubicBezTo>
                    <a:cubicBezTo>
                      <a:pt x="0" y="126"/>
                      <a:pt x="0" y="126"/>
                      <a:pt x="0" y="127"/>
                    </a:cubicBezTo>
                    <a:cubicBezTo>
                      <a:pt x="0" y="127"/>
                      <a:pt x="1" y="128"/>
                      <a:pt x="1" y="128"/>
                    </a:cubicBezTo>
                    <a:cubicBezTo>
                      <a:pt x="2" y="128"/>
                      <a:pt x="2" y="127"/>
                      <a:pt x="2" y="127"/>
                    </a:cubicBezTo>
                    <a:cubicBezTo>
                      <a:pt x="2" y="127"/>
                      <a:pt x="3" y="126"/>
                      <a:pt x="4" y="127"/>
                    </a:cubicBezTo>
                    <a:cubicBezTo>
                      <a:pt x="5" y="127"/>
                      <a:pt x="5" y="128"/>
                      <a:pt x="6" y="129"/>
                    </a:cubicBezTo>
                    <a:cubicBezTo>
                      <a:pt x="6" y="129"/>
                      <a:pt x="6" y="134"/>
                      <a:pt x="9" y="135"/>
                    </a:cubicBezTo>
                    <a:cubicBezTo>
                      <a:pt x="12" y="136"/>
                      <a:pt x="14" y="137"/>
                      <a:pt x="15" y="136"/>
                    </a:cubicBezTo>
                    <a:cubicBezTo>
                      <a:pt x="15" y="135"/>
                      <a:pt x="14" y="135"/>
                      <a:pt x="15" y="134"/>
                    </a:cubicBezTo>
                    <a:cubicBezTo>
                      <a:pt x="17" y="134"/>
                      <a:pt x="17" y="135"/>
                      <a:pt x="17" y="136"/>
                    </a:cubicBezTo>
                    <a:cubicBezTo>
                      <a:pt x="16" y="137"/>
                      <a:pt x="17" y="137"/>
                      <a:pt x="18" y="137"/>
                    </a:cubicBezTo>
                    <a:cubicBezTo>
                      <a:pt x="18" y="137"/>
                      <a:pt x="19" y="137"/>
                      <a:pt x="17" y="138"/>
                    </a:cubicBezTo>
                    <a:cubicBezTo>
                      <a:pt x="16" y="139"/>
                      <a:pt x="16" y="139"/>
                      <a:pt x="16" y="140"/>
                    </a:cubicBezTo>
                    <a:cubicBezTo>
                      <a:pt x="17" y="141"/>
                      <a:pt x="18" y="143"/>
                      <a:pt x="19" y="144"/>
                    </a:cubicBezTo>
                    <a:cubicBezTo>
                      <a:pt x="20" y="146"/>
                      <a:pt x="21" y="147"/>
                      <a:pt x="21" y="149"/>
                    </a:cubicBezTo>
                    <a:cubicBezTo>
                      <a:pt x="21" y="152"/>
                      <a:pt x="20" y="157"/>
                      <a:pt x="20" y="160"/>
                    </a:cubicBezTo>
                    <a:cubicBezTo>
                      <a:pt x="24" y="163"/>
                      <a:pt x="24" y="163"/>
                      <a:pt x="24" y="163"/>
                    </a:cubicBezTo>
                    <a:cubicBezTo>
                      <a:pt x="24" y="163"/>
                      <a:pt x="24" y="163"/>
                      <a:pt x="25" y="163"/>
                    </a:cubicBezTo>
                    <a:cubicBezTo>
                      <a:pt x="25" y="163"/>
                      <a:pt x="37" y="163"/>
                      <a:pt x="42" y="163"/>
                    </a:cubicBezTo>
                    <a:cubicBezTo>
                      <a:pt x="42" y="162"/>
                      <a:pt x="42" y="161"/>
                      <a:pt x="44" y="161"/>
                    </a:cubicBezTo>
                    <a:cubicBezTo>
                      <a:pt x="47" y="161"/>
                      <a:pt x="51" y="161"/>
                      <a:pt x="52" y="161"/>
                    </a:cubicBezTo>
                    <a:cubicBezTo>
                      <a:pt x="53" y="161"/>
                      <a:pt x="57" y="161"/>
                      <a:pt x="58" y="161"/>
                    </a:cubicBezTo>
                    <a:cubicBezTo>
                      <a:pt x="58" y="161"/>
                      <a:pt x="70" y="161"/>
                      <a:pt x="70" y="161"/>
                    </a:cubicBezTo>
                    <a:cubicBezTo>
                      <a:pt x="70" y="161"/>
                      <a:pt x="70" y="161"/>
                      <a:pt x="70" y="162"/>
                    </a:cubicBezTo>
                    <a:cubicBezTo>
                      <a:pt x="71" y="162"/>
                      <a:pt x="71" y="163"/>
                      <a:pt x="71" y="163"/>
                    </a:cubicBezTo>
                    <a:cubicBezTo>
                      <a:pt x="75" y="163"/>
                      <a:pt x="87" y="163"/>
                      <a:pt x="90" y="163"/>
                    </a:cubicBezTo>
                    <a:cubicBezTo>
                      <a:pt x="90" y="163"/>
                      <a:pt x="90" y="162"/>
                      <a:pt x="91" y="163"/>
                    </a:cubicBezTo>
                    <a:cubicBezTo>
                      <a:pt x="91" y="163"/>
                      <a:pt x="93" y="164"/>
                      <a:pt x="95" y="164"/>
                    </a:cubicBezTo>
                    <a:cubicBezTo>
                      <a:pt x="95" y="164"/>
                      <a:pt x="95" y="164"/>
                      <a:pt x="95" y="165"/>
                    </a:cubicBezTo>
                    <a:cubicBezTo>
                      <a:pt x="95" y="165"/>
                      <a:pt x="95" y="165"/>
                      <a:pt x="96" y="166"/>
                    </a:cubicBezTo>
                    <a:cubicBezTo>
                      <a:pt x="97" y="166"/>
                      <a:pt x="99" y="166"/>
                      <a:pt x="100" y="166"/>
                    </a:cubicBezTo>
                    <a:cubicBezTo>
                      <a:pt x="100" y="166"/>
                      <a:pt x="101" y="166"/>
                      <a:pt x="101" y="166"/>
                    </a:cubicBezTo>
                    <a:cubicBezTo>
                      <a:pt x="102" y="166"/>
                      <a:pt x="102" y="166"/>
                      <a:pt x="103" y="166"/>
                    </a:cubicBezTo>
                    <a:cubicBezTo>
                      <a:pt x="104" y="166"/>
                      <a:pt x="107" y="166"/>
                      <a:pt x="109" y="167"/>
                    </a:cubicBezTo>
                    <a:cubicBezTo>
                      <a:pt x="109" y="167"/>
                      <a:pt x="110" y="168"/>
                      <a:pt x="110" y="169"/>
                    </a:cubicBezTo>
                    <a:cubicBezTo>
                      <a:pt x="111" y="169"/>
                      <a:pt x="111" y="169"/>
                      <a:pt x="112" y="170"/>
                    </a:cubicBezTo>
                    <a:cubicBezTo>
                      <a:pt x="112" y="170"/>
                      <a:pt x="112" y="170"/>
                      <a:pt x="112" y="169"/>
                    </a:cubicBezTo>
                    <a:cubicBezTo>
                      <a:pt x="112" y="168"/>
                      <a:pt x="112" y="164"/>
                      <a:pt x="113" y="163"/>
                    </a:cubicBezTo>
                    <a:cubicBezTo>
                      <a:pt x="113" y="162"/>
                      <a:pt x="114" y="162"/>
                      <a:pt x="114" y="162"/>
                    </a:cubicBezTo>
                    <a:cubicBezTo>
                      <a:pt x="114" y="160"/>
                      <a:pt x="113" y="156"/>
                      <a:pt x="113" y="155"/>
                    </a:cubicBezTo>
                    <a:cubicBezTo>
                      <a:pt x="113" y="155"/>
                      <a:pt x="113" y="154"/>
                      <a:pt x="113" y="154"/>
                    </a:cubicBezTo>
                    <a:cubicBezTo>
                      <a:pt x="113" y="151"/>
                      <a:pt x="110" y="148"/>
                      <a:pt x="109" y="148"/>
                    </a:cubicBezTo>
                    <a:cubicBezTo>
                      <a:pt x="108" y="147"/>
                      <a:pt x="104" y="144"/>
                      <a:pt x="103" y="144"/>
                    </a:cubicBezTo>
                    <a:cubicBezTo>
                      <a:pt x="103" y="143"/>
                      <a:pt x="101" y="141"/>
                      <a:pt x="100" y="141"/>
                    </a:cubicBezTo>
                    <a:cubicBezTo>
                      <a:pt x="100" y="140"/>
                      <a:pt x="98" y="136"/>
                      <a:pt x="97" y="136"/>
                    </a:cubicBezTo>
                    <a:cubicBezTo>
                      <a:pt x="97" y="135"/>
                      <a:pt x="97" y="135"/>
                      <a:pt x="98" y="135"/>
                    </a:cubicBezTo>
                    <a:cubicBezTo>
                      <a:pt x="98" y="135"/>
                      <a:pt x="98" y="135"/>
                      <a:pt x="99" y="135"/>
                    </a:cubicBezTo>
                    <a:cubicBezTo>
                      <a:pt x="99" y="135"/>
                      <a:pt x="99" y="135"/>
                      <a:pt x="99" y="134"/>
                    </a:cubicBezTo>
                    <a:cubicBezTo>
                      <a:pt x="99" y="134"/>
                      <a:pt x="95" y="129"/>
                      <a:pt x="95" y="129"/>
                    </a:cubicBezTo>
                    <a:cubicBezTo>
                      <a:pt x="94" y="128"/>
                      <a:pt x="93" y="127"/>
                      <a:pt x="93" y="127"/>
                    </a:cubicBezTo>
                    <a:cubicBezTo>
                      <a:pt x="92" y="127"/>
                      <a:pt x="92" y="126"/>
                      <a:pt x="92" y="126"/>
                    </a:cubicBezTo>
                    <a:cubicBezTo>
                      <a:pt x="92" y="126"/>
                      <a:pt x="92" y="121"/>
                      <a:pt x="92" y="121"/>
                    </a:cubicBezTo>
                    <a:cubicBezTo>
                      <a:pt x="92" y="121"/>
                      <a:pt x="90" y="117"/>
                      <a:pt x="90" y="116"/>
                    </a:cubicBezTo>
                    <a:cubicBezTo>
                      <a:pt x="90" y="116"/>
                      <a:pt x="90" y="115"/>
                      <a:pt x="90" y="115"/>
                    </a:cubicBezTo>
                    <a:cubicBezTo>
                      <a:pt x="90" y="114"/>
                      <a:pt x="91" y="111"/>
                      <a:pt x="91" y="109"/>
                    </a:cubicBezTo>
                    <a:cubicBezTo>
                      <a:pt x="91" y="107"/>
                      <a:pt x="89" y="105"/>
                      <a:pt x="88" y="105"/>
                    </a:cubicBezTo>
                    <a:cubicBezTo>
                      <a:pt x="88" y="104"/>
                      <a:pt x="88" y="104"/>
                      <a:pt x="88" y="104"/>
                    </a:cubicBezTo>
                    <a:cubicBezTo>
                      <a:pt x="89" y="104"/>
                      <a:pt x="90" y="104"/>
                      <a:pt x="92" y="103"/>
                    </a:cubicBezTo>
                    <a:cubicBezTo>
                      <a:pt x="93" y="102"/>
                      <a:pt x="94" y="98"/>
                      <a:pt x="95" y="98"/>
                    </a:cubicBezTo>
                    <a:cubicBezTo>
                      <a:pt x="95" y="97"/>
                      <a:pt x="96" y="94"/>
                      <a:pt x="96" y="94"/>
                    </a:cubicBezTo>
                    <a:cubicBezTo>
                      <a:pt x="97" y="93"/>
                      <a:pt x="100" y="88"/>
                      <a:pt x="100" y="88"/>
                    </a:cubicBezTo>
                    <a:cubicBezTo>
                      <a:pt x="100" y="88"/>
                      <a:pt x="100" y="87"/>
                      <a:pt x="101" y="87"/>
                    </a:cubicBezTo>
                    <a:cubicBezTo>
                      <a:pt x="101" y="86"/>
                      <a:pt x="102" y="85"/>
                      <a:pt x="103" y="84"/>
                    </a:cubicBezTo>
                    <a:cubicBezTo>
                      <a:pt x="103" y="84"/>
                      <a:pt x="104" y="83"/>
                      <a:pt x="104" y="8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56" name="Freeform 967">
                <a:extLst>
                  <a:ext uri="{FF2B5EF4-FFF2-40B4-BE49-F238E27FC236}">
                    <a16:creationId xmlns:a16="http://schemas.microsoft.com/office/drawing/2014/main" id="{5C9C85CC-99F1-40E3-B235-1D56F10CEE54}"/>
                  </a:ext>
                </a:extLst>
              </p:cNvPr>
              <p:cNvSpPr>
                <a:spLocks/>
              </p:cNvSpPr>
              <p:nvPr/>
            </p:nvSpPr>
            <p:spPr bwMode="auto">
              <a:xfrm>
                <a:off x="3780" y="2195"/>
                <a:ext cx="216" cy="333"/>
              </a:xfrm>
              <a:custGeom>
                <a:avLst/>
                <a:gdLst>
                  <a:gd name="T0" fmla="*/ 2 w 156"/>
                  <a:gd name="T1" fmla="*/ 151 h 243"/>
                  <a:gd name="T2" fmla="*/ 8 w 156"/>
                  <a:gd name="T3" fmla="*/ 160 h 243"/>
                  <a:gd name="T4" fmla="*/ 15 w 156"/>
                  <a:gd name="T5" fmla="*/ 161 h 243"/>
                  <a:gd name="T6" fmla="*/ 16 w 156"/>
                  <a:gd name="T7" fmla="*/ 164 h 243"/>
                  <a:gd name="T8" fmla="*/ 21 w 156"/>
                  <a:gd name="T9" fmla="*/ 172 h 243"/>
                  <a:gd name="T10" fmla="*/ 23 w 156"/>
                  <a:gd name="T11" fmla="*/ 177 h 243"/>
                  <a:gd name="T12" fmla="*/ 23 w 156"/>
                  <a:gd name="T13" fmla="*/ 189 h 243"/>
                  <a:gd name="T14" fmla="*/ 24 w 156"/>
                  <a:gd name="T15" fmla="*/ 194 h 243"/>
                  <a:gd name="T16" fmla="*/ 26 w 156"/>
                  <a:gd name="T17" fmla="*/ 199 h 243"/>
                  <a:gd name="T18" fmla="*/ 32 w 156"/>
                  <a:gd name="T19" fmla="*/ 206 h 243"/>
                  <a:gd name="T20" fmla="*/ 27 w 156"/>
                  <a:gd name="T21" fmla="*/ 206 h 243"/>
                  <a:gd name="T22" fmla="*/ 21 w 156"/>
                  <a:gd name="T23" fmla="*/ 207 h 243"/>
                  <a:gd name="T24" fmla="*/ 15 w 156"/>
                  <a:gd name="T25" fmla="*/ 206 h 243"/>
                  <a:gd name="T26" fmla="*/ 10 w 156"/>
                  <a:gd name="T27" fmla="*/ 207 h 243"/>
                  <a:gd name="T28" fmla="*/ 8 w 156"/>
                  <a:gd name="T29" fmla="*/ 212 h 243"/>
                  <a:gd name="T30" fmla="*/ 12 w 156"/>
                  <a:gd name="T31" fmla="*/ 217 h 243"/>
                  <a:gd name="T32" fmla="*/ 24 w 156"/>
                  <a:gd name="T33" fmla="*/ 228 h 243"/>
                  <a:gd name="T34" fmla="*/ 29 w 156"/>
                  <a:gd name="T35" fmla="*/ 237 h 243"/>
                  <a:gd name="T36" fmla="*/ 31 w 156"/>
                  <a:gd name="T37" fmla="*/ 240 h 243"/>
                  <a:gd name="T38" fmla="*/ 36 w 156"/>
                  <a:gd name="T39" fmla="*/ 242 h 243"/>
                  <a:gd name="T40" fmla="*/ 43 w 156"/>
                  <a:gd name="T41" fmla="*/ 240 h 243"/>
                  <a:gd name="T42" fmla="*/ 46 w 156"/>
                  <a:gd name="T43" fmla="*/ 238 h 243"/>
                  <a:gd name="T44" fmla="*/ 50 w 156"/>
                  <a:gd name="T45" fmla="*/ 242 h 243"/>
                  <a:gd name="T46" fmla="*/ 56 w 156"/>
                  <a:gd name="T47" fmla="*/ 239 h 243"/>
                  <a:gd name="T48" fmla="*/ 66 w 156"/>
                  <a:gd name="T49" fmla="*/ 236 h 243"/>
                  <a:gd name="T50" fmla="*/ 78 w 156"/>
                  <a:gd name="T51" fmla="*/ 234 h 243"/>
                  <a:gd name="T52" fmla="*/ 83 w 156"/>
                  <a:gd name="T53" fmla="*/ 226 h 243"/>
                  <a:gd name="T54" fmla="*/ 80 w 156"/>
                  <a:gd name="T55" fmla="*/ 223 h 243"/>
                  <a:gd name="T56" fmla="*/ 88 w 156"/>
                  <a:gd name="T57" fmla="*/ 220 h 243"/>
                  <a:gd name="T58" fmla="*/ 104 w 156"/>
                  <a:gd name="T59" fmla="*/ 218 h 243"/>
                  <a:gd name="T60" fmla="*/ 121 w 156"/>
                  <a:gd name="T61" fmla="*/ 201 h 243"/>
                  <a:gd name="T62" fmla="*/ 123 w 156"/>
                  <a:gd name="T63" fmla="*/ 196 h 243"/>
                  <a:gd name="T64" fmla="*/ 131 w 156"/>
                  <a:gd name="T65" fmla="*/ 192 h 243"/>
                  <a:gd name="T66" fmla="*/ 139 w 156"/>
                  <a:gd name="T67" fmla="*/ 192 h 243"/>
                  <a:gd name="T68" fmla="*/ 140 w 156"/>
                  <a:gd name="T69" fmla="*/ 187 h 243"/>
                  <a:gd name="T70" fmla="*/ 134 w 156"/>
                  <a:gd name="T71" fmla="*/ 175 h 243"/>
                  <a:gd name="T72" fmla="*/ 133 w 156"/>
                  <a:gd name="T73" fmla="*/ 173 h 243"/>
                  <a:gd name="T74" fmla="*/ 128 w 156"/>
                  <a:gd name="T75" fmla="*/ 166 h 243"/>
                  <a:gd name="T76" fmla="*/ 127 w 156"/>
                  <a:gd name="T77" fmla="*/ 159 h 243"/>
                  <a:gd name="T78" fmla="*/ 128 w 156"/>
                  <a:gd name="T79" fmla="*/ 151 h 243"/>
                  <a:gd name="T80" fmla="*/ 131 w 156"/>
                  <a:gd name="T81" fmla="*/ 146 h 243"/>
                  <a:gd name="T82" fmla="*/ 133 w 156"/>
                  <a:gd name="T83" fmla="*/ 142 h 243"/>
                  <a:gd name="T84" fmla="*/ 132 w 156"/>
                  <a:gd name="T85" fmla="*/ 138 h 243"/>
                  <a:gd name="T86" fmla="*/ 137 w 156"/>
                  <a:gd name="T87" fmla="*/ 132 h 243"/>
                  <a:gd name="T88" fmla="*/ 142 w 156"/>
                  <a:gd name="T89" fmla="*/ 120 h 243"/>
                  <a:gd name="T90" fmla="*/ 155 w 156"/>
                  <a:gd name="T91" fmla="*/ 120 h 243"/>
                  <a:gd name="T92" fmla="*/ 156 w 156"/>
                  <a:gd name="T93" fmla="*/ 75 h 243"/>
                  <a:gd name="T94" fmla="*/ 41 w 156"/>
                  <a:gd name="T95" fmla="*/ 2 h 243"/>
                  <a:gd name="T96" fmla="*/ 22 w 156"/>
                  <a:gd name="T97" fmla="*/ 8 h 243"/>
                  <a:gd name="T98" fmla="*/ 25 w 156"/>
                  <a:gd name="T99" fmla="*/ 22 h 243"/>
                  <a:gd name="T100" fmla="*/ 31 w 156"/>
                  <a:gd name="T101" fmla="*/ 39 h 243"/>
                  <a:gd name="T102" fmla="*/ 37 w 156"/>
                  <a:gd name="T103" fmla="*/ 50 h 243"/>
                  <a:gd name="T104" fmla="*/ 31 w 156"/>
                  <a:gd name="T105" fmla="*/ 79 h 243"/>
                  <a:gd name="T106" fmla="*/ 30 w 156"/>
                  <a:gd name="T107" fmla="*/ 101 h 243"/>
                  <a:gd name="T108" fmla="*/ 22 w 156"/>
                  <a:gd name="T109" fmla="*/ 109 h 243"/>
                  <a:gd name="T110" fmla="*/ 2 w 156"/>
                  <a:gd name="T111" fmla="*/ 137 h 243"/>
                  <a:gd name="T112" fmla="*/ 0 w 156"/>
                  <a:gd name="T113" fmla="*/ 140 h 243"/>
                  <a:gd name="T114" fmla="*/ 2 w 156"/>
                  <a:gd name="T115" fmla="*/ 15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6" h="243">
                    <a:moveTo>
                      <a:pt x="2" y="150"/>
                    </a:moveTo>
                    <a:cubicBezTo>
                      <a:pt x="2" y="150"/>
                      <a:pt x="2" y="151"/>
                      <a:pt x="2" y="151"/>
                    </a:cubicBezTo>
                    <a:cubicBezTo>
                      <a:pt x="3" y="152"/>
                      <a:pt x="8" y="158"/>
                      <a:pt x="8" y="159"/>
                    </a:cubicBezTo>
                    <a:cubicBezTo>
                      <a:pt x="8" y="159"/>
                      <a:pt x="8" y="159"/>
                      <a:pt x="8" y="160"/>
                    </a:cubicBezTo>
                    <a:cubicBezTo>
                      <a:pt x="14" y="161"/>
                      <a:pt x="14" y="161"/>
                      <a:pt x="14" y="161"/>
                    </a:cubicBezTo>
                    <a:cubicBezTo>
                      <a:pt x="14" y="161"/>
                      <a:pt x="15" y="161"/>
                      <a:pt x="15" y="161"/>
                    </a:cubicBezTo>
                    <a:cubicBezTo>
                      <a:pt x="15" y="162"/>
                      <a:pt x="16" y="164"/>
                      <a:pt x="16" y="164"/>
                    </a:cubicBezTo>
                    <a:cubicBezTo>
                      <a:pt x="16" y="164"/>
                      <a:pt x="16" y="164"/>
                      <a:pt x="16" y="164"/>
                    </a:cubicBezTo>
                    <a:cubicBezTo>
                      <a:pt x="16" y="165"/>
                      <a:pt x="18" y="166"/>
                      <a:pt x="19" y="166"/>
                    </a:cubicBezTo>
                    <a:cubicBezTo>
                      <a:pt x="19" y="167"/>
                      <a:pt x="21" y="168"/>
                      <a:pt x="21" y="172"/>
                    </a:cubicBezTo>
                    <a:cubicBezTo>
                      <a:pt x="21" y="172"/>
                      <a:pt x="21" y="173"/>
                      <a:pt x="21" y="174"/>
                    </a:cubicBezTo>
                    <a:cubicBezTo>
                      <a:pt x="22" y="175"/>
                      <a:pt x="23" y="177"/>
                      <a:pt x="23" y="177"/>
                    </a:cubicBezTo>
                    <a:cubicBezTo>
                      <a:pt x="23" y="177"/>
                      <a:pt x="23" y="178"/>
                      <a:pt x="23" y="179"/>
                    </a:cubicBezTo>
                    <a:cubicBezTo>
                      <a:pt x="23" y="179"/>
                      <a:pt x="25" y="184"/>
                      <a:pt x="23" y="189"/>
                    </a:cubicBezTo>
                    <a:cubicBezTo>
                      <a:pt x="23" y="189"/>
                      <a:pt x="23" y="190"/>
                      <a:pt x="23" y="190"/>
                    </a:cubicBezTo>
                    <a:cubicBezTo>
                      <a:pt x="23" y="191"/>
                      <a:pt x="24" y="193"/>
                      <a:pt x="24" y="194"/>
                    </a:cubicBezTo>
                    <a:cubicBezTo>
                      <a:pt x="24" y="195"/>
                      <a:pt x="24" y="195"/>
                      <a:pt x="24" y="195"/>
                    </a:cubicBezTo>
                    <a:cubicBezTo>
                      <a:pt x="24" y="196"/>
                      <a:pt x="26" y="199"/>
                      <a:pt x="26" y="199"/>
                    </a:cubicBezTo>
                    <a:cubicBezTo>
                      <a:pt x="26" y="200"/>
                      <a:pt x="28" y="203"/>
                      <a:pt x="29" y="204"/>
                    </a:cubicBezTo>
                    <a:cubicBezTo>
                      <a:pt x="30" y="204"/>
                      <a:pt x="32" y="206"/>
                      <a:pt x="32" y="206"/>
                    </a:cubicBezTo>
                    <a:cubicBezTo>
                      <a:pt x="32" y="206"/>
                      <a:pt x="33" y="206"/>
                      <a:pt x="32" y="206"/>
                    </a:cubicBezTo>
                    <a:cubicBezTo>
                      <a:pt x="30" y="207"/>
                      <a:pt x="27" y="207"/>
                      <a:pt x="27" y="206"/>
                    </a:cubicBezTo>
                    <a:cubicBezTo>
                      <a:pt x="26" y="206"/>
                      <a:pt x="25" y="206"/>
                      <a:pt x="24" y="206"/>
                    </a:cubicBezTo>
                    <a:cubicBezTo>
                      <a:pt x="24" y="206"/>
                      <a:pt x="21" y="207"/>
                      <a:pt x="21" y="207"/>
                    </a:cubicBezTo>
                    <a:cubicBezTo>
                      <a:pt x="20" y="207"/>
                      <a:pt x="19" y="207"/>
                      <a:pt x="19" y="207"/>
                    </a:cubicBezTo>
                    <a:cubicBezTo>
                      <a:pt x="19" y="207"/>
                      <a:pt x="15" y="206"/>
                      <a:pt x="15" y="206"/>
                    </a:cubicBezTo>
                    <a:cubicBezTo>
                      <a:pt x="14" y="206"/>
                      <a:pt x="11" y="206"/>
                      <a:pt x="11" y="206"/>
                    </a:cubicBezTo>
                    <a:cubicBezTo>
                      <a:pt x="11" y="206"/>
                      <a:pt x="10" y="206"/>
                      <a:pt x="10" y="207"/>
                    </a:cubicBezTo>
                    <a:cubicBezTo>
                      <a:pt x="10" y="207"/>
                      <a:pt x="8" y="209"/>
                      <a:pt x="7" y="210"/>
                    </a:cubicBezTo>
                    <a:cubicBezTo>
                      <a:pt x="7" y="211"/>
                      <a:pt x="7" y="212"/>
                      <a:pt x="8" y="212"/>
                    </a:cubicBezTo>
                    <a:cubicBezTo>
                      <a:pt x="9" y="213"/>
                      <a:pt x="9" y="213"/>
                      <a:pt x="9" y="214"/>
                    </a:cubicBezTo>
                    <a:cubicBezTo>
                      <a:pt x="10" y="214"/>
                      <a:pt x="12" y="216"/>
                      <a:pt x="12" y="217"/>
                    </a:cubicBezTo>
                    <a:cubicBezTo>
                      <a:pt x="13" y="217"/>
                      <a:pt x="24" y="227"/>
                      <a:pt x="24" y="227"/>
                    </a:cubicBezTo>
                    <a:cubicBezTo>
                      <a:pt x="24" y="227"/>
                      <a:pt x="24" y="228"/>
                      <a:pt x="24" y="228"/>
                    </a:cubicBezTo>
                    <a:cubicBezTo>
                      <a:pt x="25" y="228"/>
                      <a:pt x="26" y="230"/>
                      <a:pt x="26" y="230"/>
                    </a:cubicBezTo>
                    <a:cubicBezTo>
                      <a:pt x="26" y="230"/>
                      <a:pt x="28" y="236"/>
                      <a:pt x="29" y="237"/>
                    </a:cubicBezTo>
                    <a:cubicBezTo>
                      <a:pt x="29" y="237"/>
                      <a:pt x="30" y="239"/>
                      <a:pt x="31" y="239"/>
                    </a:cubicBezTo>
                    <a:cubicBezTo>
                      <a:pt x="31" y="239"/>
                      <a:pt x="31" y="240"/>
                      <a:pt x="31" y="240"/>
                    </a:cubicBezTo>
                    <a:cubicBezTo>
                      <a:pt x="31" y="240"/>
                      <a:pt x="30" y="242"/>
                      <a:pt x="30" y="243"/>
                    </a:cubicBezTo>
                    <a:cubicBezTo>
                      <a:pt x="31" y="243"/>
                      <a:pt x="34" y="243"/>
                      <a:pt x="36" y="242"/>
                    </a:cubicBezTo>
                    <a:cubicBezTo>
                      <a:pt x="38" y="242"/>
                      <a:pt x="41" y="241"/>
                      <a:pt x="42" y="241"/>
                    </a:cubicBezTo>
                    <a:cubicBezTo>
                      <a:pt x="43" y="241"/>
                      <a:pt x="43" y="241"/>
                      <a:pt x="43" y="240"/>
                    </a:cubicBezTo>
                    <a:cubicBezTo>
                      <a:pt x="43" y="240"/>
                      <a:pt x="44" y="239"/>
                      <a:pt x="44" y="239"/>
                    </a:cubicBezTo>
                    <a:cubicBezTo>
                      <a:pt x="44" y="238"/>
                      <a:pt x="45" y="238"/>
                      <a:pt x="46" y="238"/>
                    </a:cubicBezTo>
                    <a:cubicBezTo>
                      <a:pt x="46" y="239"/>
                      <a:pt x="48" y="240"/>
                      <a:pt x="49" y="242"/>
                    </a:cubicBezTo>
                    <a:cubicBezTo>
                      <a:pt x="49" y="242"/>
                      <a:pt x="49" y="243"/>
                      <a:pt x="50" y="242"/>
                    </a:cubicBezTo>
                    <a:cubicBezTo>
                      <a:pt x="50" y="242"/>
                      <a:pt x="55" y="239"/>
                      <a:pt x="55" y="239"/>
                    </a:cubicBezTo>
                    <a:cubicBezTo>
                      <a:pt x="55" y="239"/>
                      <a:pt x="55" y="239"/>
                      <a:pt x="56" y="239"/>
                    </a:cubicBezTo>
                    <a:cubicBezTo>
                      <a:pt x="57" y="239"/>
                      <a:pt x="59" y="238"/>
                      <a:pt x="60" y="238"/>
                    </a:cubicBezTo>
                    <a:cubicBezTo>
                      <a:pt x="60" y="237"/>
                      <a:pt x="66" y="236"/>
                      <a:pt x="66" y="236"/>
                    </a:cubicBezTo>
                    <a:cubicBezTo>
                      <a:pt x="67" y="236"/>
                      <a:pt x="70" y="235"/>
                      <a:pt x="72" y="236"/>
                    </a:cubicBezTo>
                    <a:cubicBezTo>
                      <a:pt x="75" y="236"/>
                      <a:pt x="76" y="235"/>
                      <a:pt x="78" y="234"/>
                    </a:cubicBezTo>
                    <a:cubicBezTo>
                      <a:pt x="79" y="232"/>
                      <a:pt x="83" y="227"/>
                      <a:pt x="83" y="227"/>
                    </a:cubicBezTo>
                    <a:cubicBezTo>
                      <a:pt x="83" y="227"/>
                      <a:pt x="83" y="227"/>
                      <a:pt x="83" y="226"/>
                    </a:cubicBezTo>
                    <a:cubicBezTo>
                      <a:pt x="83" y="226"/>
                      <a:pt x="83" y="226"/>
                      <a:pt x="82" y="225"/>
                    </a:cubicBezTo>
                    <a:cubicBezTo>
                      <a:pt x="81" y="224"/>
                      <a:pt x="80" y="224"/>
                      <a:pt x="80" y="223"/>
                    </a:cubicBezTo>
                    <a:cubicBezTo>
                      <a:pt x="80" y="222"/>
                      <a:pt x="81" y="222"/>
                      <a:pt x="81" y="222"/>
                    </a:cubicBezTo>
                    <a:cubicBezTo>
                      <a:pt x="82" y="221"/>
                      <a:pt x="85" y="220"/>
                      <a:pt x="88" y="220"/>
                    </a:cubicBezTo>
                    <a:cubicBezTo>
                      <a:pt x="91" y="220"/>
                      <a:pt x="100" y="220"/>
                      <a:pt x="100" y="220"/>
                    </a:cubicBezTo>
                    <a:cubicBezTo>
                      <a:pt x="101" y="220"/>
                      <a:pt x="102" y="220"/>
                      <a:pt x="104" y="218"/>
                    </a:cubicBezTo>
                    <a:cubicBezTo>
                      <a:pt x="106" y="217"/>
                      <a:pt x="108" y="215"/>
                      <a:pt x="109" y="214"/>
                    </a:cubicBezTo>
                    <a:cubicBezTo>
                      <a:pt x="110" y="214"/>
                      <a:pt x="121" y="201"/>
                      <a:pt x="121" y="201"/>
                    </a:cubicBezTo>
                    <a:cubicBezTo>
                      <a:pt x="121" y="201"/>
                      <a:pt x="122" y="199"/>
                      <a:pt x="122" y="198"/>
                    </a:cubicBezTo>
                    <a:cubicBezTo>
                      <a:pt x="122" y="197"/>
                      <a:pt x="122" y="196"/>
                      <a:pt x="123" y="196"/>
                    </a:cubicBezTo>
                    <a:cubicBezTo>
                      <a:pt x="124" y="195"/>
                      <a:pt x="126" y="195"/>
                      <a:pt x="127" y="194"/>
                    </a:cubicBezTo>
                    <a:cubicBezTo>
                      <a:pt x="127" y="194"/>
                      <a:pt x="131" y="192"/>
                      <a:pt x="131" y="192"/>
                    </a:cubicBezTo>
                    <a:cubicBezTo>
                      <a:pt x="131" y="192"/>
                      <a:pt x="132" y="192"/>
                      <a:pt x="132" y="192"/>
                    </a:cubicBezTo>
                    <a:cubicBezTo>
                      <a:pt x="132" y="192"/>
                      <a:pt x="136" y="192"/>
                      <a:pt x="139" y="192"/>
                    </a:cubicBezTo>
                    <a:cubicBezTo>
                      <a:pt x="140" y="192"/>
                      <a:pt x="141" y="188"/>
                      <a:pt x="141" y="187"/>
                    </a:cubicBezTo>
                    <a:cubicBezTo>
                      <a:pt x="141" y="187"/>
                      <a:pt x="140" y="187"/>
                      <a:pt x="140" y="187"/>
                    </a:cubicBezTo>
                    <a:cubicBezTo>
                      <a:pt x="132" y="181"/>
                      <a:pt x="135" y="176"/>
                      <a:pt x="136" y="176"/>
                    </a:cubicBezTo>
                    <a:cubicBezTo>
                      <a:pt x="136" y="175"/>
                      <a:pt x="135" y="175"/>
                      <a:pt x="134" y="175"/>
                    </a:cubicBezTo>
                    <a:cubicBezTo>
                      <a:pt x="133" y="176"/>
                      <a:pt x="133" y="175"/>
                      <a:pt x="133" y="175"/>
                    </a:cubicBezTo>
                    <a:cubicBezTo>
                      <a:pt x="133" y="175"/>
                      <a:pt x="133" y="174"/>
                      <a:pt x="133" y="173"/>
                    </a:cubicBezTo>
                    <a:cubicBezTo>
                      <a:pt x="133" y="173"/>
                      <a:pt x="131" y="166"/>
                      <a:pt x="131" y="165"/>
                    </a:cubicBezTo>
                    <a:cubicBezTo>
                      <a:pt x="130" y="164"/>
                      <a:pt x="129" y="165"/>
                      <a:pt x="128" y="166"/>
                    </a:cubicBezTo>
                    <a:cubicBezTo>
                      <a:pt x="128" y="167"/>
                      <a:pt x="126" y="167"/>
                      <a:pt x="124" y="165"/>
                    </a:cubicBezTo>
                    <a:cubicBezTo>
                      <a:pt x="123" y="164"/>
                      <a:pt x="126" y="160"/>
                      <a:pt x="127" y="159"/>
                    </a:cubicBezTo>
                    <a:cubicBezTo>
                      <a:pt x="128" y="159"/>
                      <a:pt x="130" y="157"/>
                      <a:pt x="130" y="156"/>
                    </a:cubicBezTo>
                    <a:cubicBezTo>
                      <a:pt x="131" y="155"/>
                      <a:pt x="129" y="152"/>
                      <a:pt x="128" y="151"/>
                    </a:cubicBezTo>
                    <a:cubicBezTo>
                      <a:pt x="128" y="150"/>
                      <a:pt x="128" y="150"/>
                      <a:pt x="128" y="148"/>
                    </a:cubicBezTo>
                    <a:cubicBezTo>
                      <a:pt x="129" y="147"/>
                      <a:pt x="131" y="146"/>
                      <a:pt x="131" y="146"/>
                    </a:cubicBezTo>
                    <a:cubicBezTo>
                      <a:pt x="132" y="145"/>
                      <a:pt x="133" y="144"/>
                      <a:pt x="134" y="144"/>
                    </a:cubicBezTo>
                    <a:cubicBezTo>
                      <a:pt x="135" y="144"/>
                      <a:pt x="134" y="143"/>
                      <a:pt x="133" y="142"/>
                    </a:cubicBezTo>
                    <a:cubicBezTo>
                      <a:pt x="133" y="142"/>
                      <a:pt x="133" y="141"/>
                      <a:pt x="133" y="140"/>
                    </a:cubicBezTo>
                    <a:cubicBezTo>
                      <a:pt x="133" y="140"/>
                      <a:pt x="133" y="139"/>
                      <a:pt x="132" y="138"/>
                    </a:cubicBezTo>
                    <a:cubicBezTo>
                      <a:pt x="132" y="137"/>
                      <a:pt x="133" y="137"/>
                      <a:pt x="135" y="136"/>
                    </a:cubicBezTo>
                    <a:cubicBezTo>
                      <a:pt x="137" y="135"/>
                      <a:pt x="137" y="133"/>
                      <a:pt x="137" y="132"/>
                    </a:cubicBezTo>
                    <a:cubicBezTo>
                      <a:pt x="138" y="131"/>
                      <a:pt x="139" y="125"/>
                      <a:pt x="140" y="124"/>
                    </a:cubicBezTo>
                    <a:cubicBezTo>
                      <a:pt x="140" y="122"/>
                      <a:pt x="142" y="121"/>
                      <a:pt x="142" y="120"/>
                    </a:cubicBezTo>
                    <a:cubicBezTo>
                      <a:pt x="143" y="120"/>
                      <a:pt x="144" y="120"/>
                      <a:pt x="144" y="120"/>
                    </a:cubicBezTo>
                    <a:cubicBezTo>
                      <a:pt x="144" y="120"/>
                      <a:pt x="155" y="120"/>
                      <a:pt x="155" y="120"/>
                    </a:cubicBezTo>
                    <a:cubicBezTo>
                      <a:pt x="156" y="120"/>
                      <a:pt x="156" y="119"/>
                      <a:pt x="156" y="119"/>
                    </a:cubicBezTo>
                    <a:cubicBezTo>
                      <a:pt x="156" y="75"/>
                      <a:pt x="156" y="75"/>
                      <a:pt x="156" y="75"/>
                    </a:cubicBezTo>
                    <a:cubicBezTo>
                      <a:pt x="156" y="75"/>
                      <a:pt x="156" y="67"/>
                      <a:pt x="156" y="62"/>
                    </a:cubicBezTo>
                    <a:cubicBezTo>
                      <a:pt x="143" y="55"/>
                      <a:pt x="44" y="4"/>
                      <a:pt x="41" y="2"/>
                    </a:cubicBezTo>
                    <a:cubicBezTo>
                      <a:pt x="37" y="0"/>
                      <a:pt x="34" y="1"/>
                      <a:pt x="33" y="2"/>
                    </a:cubicBezTo>
                    <a:cubicBezTo>
                      <a:pt x="33" y="2"/>
                      <a:pt x="27" y="5"/>
                      <a:pt x="22" y="8"/>
                    </a:cubicBezTo>
                    <a:cubicBezTo>
                      <a:pt x="23" y="11"/>
                      <a:pt x="24" y="18"/>
                      <a:pt x="25" y="19"/>
                    </a:cubicBezTo>
                    <a:cubicBezTo>
                      <a:pt x="25" y="20"/>
                      <a:pt x="25" y="21"/>
                      <a:pt x="25" y="22"/>
                    </a:cubicBezTo>
                    <a:cubicBezTo>
                      <a:pt x="25" y="23"/>
                      <a:pt x="25" y="29"/>
                      <a:pt x="27" y="32"/>
                    </a:cubicBezTo>
                    <a:cubicBezTo>
                      <a:pt x="28" y="35"/>
                      <a:pt x="31" y="38"/>
                      <a:pt x="31" y="39"/>
                    </a:cubicBezTo>
                    <a:cubicBezTo>
                      <a:pt x="31" y="40"/>
                      <a:pt x="31" y="42"/>
                      <a:pt x="32" y="44"/>
                    </a:cubicBezTo>
                    <a:cubicBezTo>
                      <a:pt x="34" y="45"/>
                      <a:pt x="38" y="48"/>
                      <a:pt x="37" y="50"/>
                    </a:cubicBezTo>
                    <a:cubicBezTo>
                      <a:pt x="35" y="52"/>
                      <a:pt x="33" y="55"/>
                      <a:pt x="33" y="57"/>
                    </a:cubicBezTo>
                    <a:cubicBezTo>
                      <a:pt x="33" y="59"/>
                      <a:pt x="31" y="77"/>
                      <a:pt x="31" y="79"/>
                    </a:cubicBezTo>
                    <a:cubicBezTo>
                      <a:pt x="31" y="80"/>
                      <a:pt x="30" y="99"/>
                      <a:pt x="30" y="100"/>
                    </a:cubicBezTo>
                    <a:cubicBezTo>
                      <a:pt x="30" y="101"/>
                      <a:pt x="30" y="101"/>
                      <a:pt x="30" y="101"/>
                    </a:cubicBezTo>
                    <a:cubicBezTo>
                      <a:pt x="30" y="101"/>
                      <a:pt x="29" y="102"/>
                      <a:pt x="29" y="102"/>
                    </a:cubicBezTo>
                    <a:cubicBezTo>
                      <a:pt x="29" y="103"/>
                      <a:pt x="23" y="109"/>
                      <a:pt x="22" y="109"/>
                    </a:cubicBezTo>
                    <a:cubicBezTo>
                      <a:pt x="22" y="110"/>
                      <a:pt x="13" y="119"/>
                      <a:pt x="11" y="122"/>
                    </a:cubicBezTo>
                    <a:cubicBezTo>
                      <a:pt x="9" y="126"/>
                      <a:pt x="2" y="137"/>
                      <a:pt x="2" y="137"/>
                    </a:cubicBezTo>
                    <a:cubicBezTo>
                      <a:pt x="2" y="138"/>
                      <a:pt x="1" y="138"/>
                      <a:pt x="1" y="138"/>
                    </a:cubicBezTo>
                    <a:cubicBezTo>
                      <a:pt x="1" y="138"/>
                      <a:pt x="0" y="138"/>
                      <a:pt x="0" y="140"/>
                    </a:cubicBezTo>
                    <a:cubicBezTo>
                      <a:pt x="0" y="141"/>
                      <a:pt x="1" y="146"/>
                      <a:pt x="1" y="147"/>
                    </a:cubicBezTo>
                    <a:cubicBezTo>
                      <a:pt x="1" y="148"/>
                      <a:pt x="1" y="149"/>
                      <a:pt x="2" y="15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57" name="Freeform 968">
                <a:extLst>
                  <a:ext uri="{FF2B5EF4-FFF2-40B4-BE49-F238E27FC236}">
                    <a16:creationId xmlns:a16="http://schemas.microsoft.com/office/drawing/2014/main" id="{359688CA-1563-45C9-8740-AD524A36E4DC}"/>
                  </a:ext>
                </a:extLst>
              </p:cNvPr>
              <p:cNvSpPr>
                <a:spLocks/>
              </p:cNvSpPr>
              <p:nvPr/>
            </p:nvSpPr>
            <p:spPr bwMode="auto">
              <a:xfrm>
                <a:off x="3557" y="2398"/>
                <a:ext cx="246" cy="198"/>
              </a:xfrm>
              <a:custGeom>
                <a:avLst/>
                <a:gdLst>
                  <a:gd name="T0" fmla="*/ 163 w 178"/>
                  <a:gd name="T1" fmla="*/ 3 h 144"/>
                  <a:gd name="T2" fmla="*/ 156 w 178"/>
                  <a:gd name="T3" fmla="*/ 3 h 144"/>
                  <a:gd name="T4" fmla="*/ 145 w 178"/>
                  <a:gd name="T5" fmla="*/ 11 h 144"/>
                  <a:gd name="T6" fmla="*/ 130 w 178"/>
                  <a:gd name="T7" fmla="*/ 7 h 144"/>
                  <a:gd name="T8" fmla="*/ 110 w 178"/>
                  <a:gd name="T9" fmla="*/ 10 h 144"/>
                  <a:gd name="T10" fmla="*/ 95 w 178"/>
                  <a:gd name="T11" fmla="*/ 15 h 144"/>
                  <a:gd name="T12" fmla="*/ 83 w 178"/>
                  <a:gd name="T13" fmla="*/ 9 h 144"/>
                  <a:gd name="T14" fmla="*/ 65 w 178"/>
                  <a:gd name="T15" fmla="*/ 13 h 144"/>
                  <a:gd name="T16" fmla="*/ 50 w 178"/>
                  <a:gd name="T17" fmla="*/ 2 h 144"/>
                  <a:gd name="T18" fmla="*/ 30 w 178"/>
                  <a:gd name="T19" fmla="*/ 2 h 144"/>
                  <a:gd name="T20" fmla="*/ 22 w 178"/>
                  <a:gd name="T21" fmla="*/ 8 h 144"/>
                  <a:gd name="T22" fmla="*/ 16 w 178"/>
                  <a:gd name="T23" fmla="*/ 19 h 144"/>
                  <a:gd name="T24" fmla="*/ 14 w 178"/>
                  <a:gd name="T25" fmla="*/ 33 h 144"/>
                  <a:gd name="T26" fmla="*/ 16 w 178"/>
                  <a:gd name="T27" fmla="*/ 41 h 144"/>
                  <a:gd name="T28" fmla="*/ 17 w 178"/>
                  <a:gd name="T29" fmla="*/ 49 h 144"/>
                  <a:gd name="T30" fmla="*/ 14 w 178"/>
                  <a:gd name="T31" fmla="*/ 57 h 144"/>
                  <a:gd name="T32" fmla="*/ 7 w 178"/>
                  <a:gd name="T33" fmla="*/ 70 h 144"/>
                  <a:gd name="T34" fmla="*/ 2 w 178"/>
                  <a:gd name="T35" fmla="*/ 75 h 144"/>
                  <a:gd name="T36" fmla="*/ 1 w 178"/>
                  <a:gd name="T37" fmla="*/ 82 h 144"/>
                  <a:gd name="T38" fmla="*/ 0 w 178"/>
                  <a:gd name="T39" fmla="*/ 90 h 144"/>
                  <a:gd name="T40" fmla="*/ 2 w 178"/>
                  <a:gd name="T41" fmla="*/ 100 h 144"/>
                  <a:gd name="T42" fmla="*/ 2 w 178"/>
                  <a:gd name="T43" fmla="*/ 107 h 144"/>
                  <a:gd name="T44" fmla="*/ 1 w 178"/>
                  <a:gd name="T45" fmla="*/ 113 h 144"/>
                  <a:gd name="T46" fmla="*/ 14 w 178"/>
                  <a:gd name="T47" fmla="*/ 110 h 144"/>
                  <a:gd name="T48" fmla="*/ 36 w 178"/>
                  <a:gd name="T49" fmla="*/ 121 h 144"/>
                  <a:gd name="T50" fmla="*/ 41 w 178"/>
                  <a:gd name="T51" fmla="*/ 123 h 144"/>
                  <a:gd name="T52" fmla="*/ 42 w 178"/>
                  <a:gd name="T53" fmla="*/ 126 h 144"/>
                  <a:gd name="T54" fmla="*/ 53 w 178"/>
                  <a:gd name="T55" fmla="*/ 143 h 144"/>
                  <a:gd name="T56" fmla="*/ 59 w 178"/>
                  <a:gd name="T57" fmla="*/ 142 h 144"/>
                  <a:gd name="T58" fmla="*/ 64 w 178"/>
                  <a:gd name="T59" fmla="*/ 140 h 144"/>
                  <a:gd name="T60" fmla="*/ 69 w 178"/>
                  <a:gd name="T61" fmla="*/ 138 h 144"/>
                  <a:gd name="T62" fmla="*/ 78 w 178"/>
                  <a:gd name="T63" fmla="*/ 140 h 144"/>
                  <a:gd name="T64" fmla="*/ 87 w 178"/>
                  <a:gd name="T65" fmla="*/ 138 h 144"/>
                  <a:gd name="T66" fmla="*/ 92 w 178"/>
                  <a:gd name="T67" fmla="*/ 127 h 144"/>
                  <a:gd name="T68" fmla="*/ 94 w 178"/>
                  <a:gd name="T69" fmla="*/ 119 h 144"/>
                  <a:gd name="T70" fmla="*/ 103 w 178"/>
                  <a:gd name="T71" fmla="*/ 110 h 144"/>
                  <a:gd name="T72" fmla="*/ 105 w 178"/>
                  <a:gd name="T73" fmla="*/ 109 h 144"/>
                  <a:gd name="T74" fmla="*/ 115 w 178"/>
                  <a:gd name="T75" fmla="*/ 105 h 144"/>
                  <a:gd name="T76" fmla="*/ 117 w 178"/>
                  <a:gd name="T77" fmla="*/ 104 h 144"/>
                  <a:gd name="T78" fmla="*/ 121 w 178"/>
                  <a:gd name="T79" fmla="*/ 104 h 144"/>
                  <a:gd name="T80" fmla="*/ 127 w 178"/>
                  <a:gd name="T81" fmla="*/ 111 h 144"/>
                  <a:gd name="T82" fmla="*/ 134 w 178"/>
                  <a:gd name="T83" fmla="*/ 105 h 144"/>
                  <a:gd name="T84" fmla="*/ 136 w 178"/>
                  <a:gd name="T85" fmla="*/ 100 h 144"/>
                  <a:gd name="T86" fmla="*/ 142 w 178"/>
                  <a:gd name="T87" fmla="*/ 85 h 144"/>
                  <a:gd name="T88" fmla="*/ 152 w 178"/>
                  <a:gd name="T89" fmla="*/ 69 h 144"/>
                  <a:gd name="T90" fmla="*/ 157 w 178"/>
                  <a:gd name="T91" fmla="*/ 63 h 144"/>
                  <a:gd name="T92" fmla="*/ 159 w 178"/>
                  <a:gd name="T93" fmla="*/ 57 h 144"/>
                  <a:gd name="T94" fmla="*/ 164 w 178"/>
                  <a:gd name="T95" fmla="*/ 45 h 144"/>
                  <a:gd name="T96" fmla="*/ 171 w 178"/>
                  <a:gd name="T97" fmla="*/ 39 h 144"/>
                  <a:gd name="T98" fmla="*/ 178 w 178"/>
                  <a:gd name="T99" fmla="*/ 31 h 144"/>
                  <a:gd name="T100" fmla="*/ 172 w 178"/>
                  <a:gd name="T101" fmla="*/ 22 h 144"/>
                  <a:gd name="T102" fmla="*/ 169 w 178"/>
                  <a:gd name="T103"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8" h="144">
                    <a:moveTo>
                      <a:pt x="169" y="12"/>
                    </a:moveTo>
                    <a:cubicBezTo>
                      <a:pt x="169" y="11"/>
                      <a:pt x="169" y="11"/>
                      <a:pt x="169" y="11"/>
                    </a:cubicBezTo>
                    <a:cubicBezTo>
                      <a:pt x="169" y="10"/>
                      <a:pt x="164" y="4"/>
                      <a:pt x="163" y="3"/>
                    </a:cubicBezTo>
                    <a:cubicBezTo>
                      <a:pt x="163" y="3"/>
                      <a:pt x="163" y="2"/>
                      <a:pt x="163" y="2"/>
                    </a:cubicBezTo>
                    <a:cubicBezTo>
                      <a:pt x="162" y="2"/>
                      <a:pt x="161" y="2"/>
                      <a:pt x="160" y="2"/>
                    </a:cubicBezTo>
                    <a:cubicBezTo>
                      <a:pt x="160" y="2"/>
                      <a:pt x="157" y="3"/>
                      <a:pt x="156" y="3"/>
                    </a:cubicBezTo>
                    <a:cubicBezTo>
                      <a:pt x="156" y="4"/>
                      <a:pt x="154" y="5"/>
                      <a:pt x="153" y="5"/>
                    </a:cubicBezTo>
                    <a:cubicBezTo>
                      <a:pt x="151" y="6"/>
                      <a:pt x="150" y="7"/>
                      <a:pt x="150" y="7"/>
                    </a:cubicBezTo>
                    <a:cubicBezTo>
                      <a:pt x="150" y="7"/>
                      <a:pt x="145" y="11"/>
                      <a:pt x="145" y="11"/>
                    </a:cubicBezTo>
                    <a:cubicBezTo>
                      <a:pt x="145" y="12"/>
                      <a:pt x="144" y="12"/>
                      <a:pt x="144" y="12"/>
                    </a:cubicBezTo>
                    <a:cubicBezTo>
                      <a:pt x="144" y="12"/>
                      <a:pt x="143" y="11"/>
                      <a:pt x="140" y="10"/>
                    </a:cubicBezTo>
                    <a:cubicBezTo>
                      <a:pt x="138" y="9"/>
                      <a:pt x="132" y="7"/>
                      <a:pt x="130" y="7"/>
                    </a:cubicBezTo>
                    <a:cubicBezTo>
                      <a:pt x="128" y="7"/>
                      <a:pt x="120" y="7"/>
                      <a:pt x="119" y="7"/>
                    </a:cubicBezTo>
                    <a:cubicBezTo>
                      <a:pt x="119" y="7"/>
                      <a:pt x="118" y="7"/>
                      <a:pt x="116" y="8"/>
                    </a:cubicBezTo>
                    <a:cubicBezTo>
                      <a:pt x="114" y="8"/>
                      <a:pt x="111" y="9"/>
                      <a:pt x="110" y="10"/>
                    </a:cubicBezTo>
                    <a:cubicBezTo>
                      <a:pt x="108" y="10"/>
                      <a:pt x="104" y="15"/>
                      <a:pt x="104" y="16"/>
                    </a:cubicBezTo>
                    <a:cubicBezTo>
                      <a:pt x="104" y="16"/>
                      <a:pt x="103" y="16"/>
                      <a:pt x="103" y="16"/>
                    </a:cubicBezTo>
                    <a:cubicBezTo>
                      <a:pt x="103" y="16"/>
                      <a:pt x="95" y="15"/>
                      <a:pt x="95" y="15"/>
                    </a:cubicBezTo>
                    <a:cubicBezTo>
                      <a:pt x="95" y="15"/>
                      <a:pt x="94" y="15"/>
                      <a:pt x="94" y="15"/>
                    </a:cubicBezTo>
                    <a:cubicBezTo>
                      <a:pt x="94" y="15"/>
                      <a:pt x="89" y="12"/>
                      <a:pt x="88" y="12"/>
                    </a:cubicBezTo>
                    <a:cubicBezTo>
                      <a:pt x="87" y="12"/>
                      <a:pt x="86" y="11"/>
                      <a:pt x="83" y="9"/>
                    </a:cubicBezTo>
                    <a:cubicBezTo>
                      <a:pt x="79" y="7"/>
                      <a:pt x="75" y="8"/>
                      <a:pt x="74" y="9"/>
                    </a:cubicBezTo>
                    <a:cubicBezTo>
                      <a:pt x="73" y="9"/>
                      <a:pt x="66" y="12"/>
                      <a:pt x="66" y="13"/>
                    </a:cubicBezTo>
                    <a:cubicBezTo>
                      <a:pt x="65" y="13"/>
                      <a:pt x="65" y="13"/>
                      <a:pt x="65" y="13"/>
                    </a:cubicBezTo>
                    <a:cubicBezTo>
                      <a:pt x="65" y="13"/>
                      <a:pt x="59" y="7"/>
                      <a:pt x="58" y="6"/>
                    </a:cubicBezTo>
                    <a:cubicBezTo>
                      <a:pt x="58" y="6"/>
                      <a:pt x="55" y="3"/>
                      <a:pt x="54" y="3"/>
                    </a:cubicBezTo>
                    <a:cubicBezTo>
                      <a:pt x="54" y="2"/>
                      <a:pt x="51" y="2"/>
                      <a:pt x="50" y="2"/>
                    </a:cubicBezTo>
                    <a:cubicBezTo>
                      <a:pt x="48" y="1"/>
                      <a:pt x="45" y="0"/>
                      <a:pt x="44" y="0"/>
                    </a:cubicBezTo>
                    <a:cubicBezTo>
                      <a:pt x="43" y="0"/>
                      <a:pt x="40" y="0"/>
                      <a:pt x="39" y="0"/>
                    </a:cubicBezTo>
                    <a:cubicBezTo>
                      <a:pt x="39" y="0"/>
                      <a:pt x="30" y="2"/>
                      <a:pt x="30" y="2"/>
                    </a:cubicBezTo>
                    <a:cubicBezTo>
                      <a:pt x="29" y="2"/>
                      <a:pt x="29" y="2"/>
                      <a:pt x="29" y="2"/>
                    </a:cubicBezTo>
                    <a:cubicBezTo>
                      <a:pt x="29" y="3"/>
                      <a:pt x="25" y="4"/>
                      <a:pt x="23" y="5"/>
                    </a:cubicBezTo>
                    <a:cubicBezTo>
                      <a:pt x="22" y="6"/>
                      <a:pt x="22" y="8"/>
                      <a:pt x="22" y="8"/>
                    </a:cubicBezTo>
                    <a:cubicBezTo>
                      <a:pt x="22" y="9"/>
                      <a:pt x="22" y="9"/>
                      <a:pt x="22" y="9"/>
                    </a:cubicBezTo>
                    <a:cubicBezTo>
                      <a:pt x="22" y="10"/>
                      <a:pt x="18" y="16"/>
                      <a:pt x="18" y="17"/>
                    </a:cubicBezTo>
                    <a:cubicBezTo>
                      <a:pt x="18" y="18"/>
                      <a:pt x="17" y="19"/>
                      <a:pt x="16" y="19"/>
                    </a:cubicBezTo>
                    <a:cubicBezTo>
                      <a:pt x="15" y="20"/>
                      <a:pt x="15" y="21"/>
                      <a:pt x="15" y="23"/>
                    </a:cubicBezTo>
                    <a:cubicBezTo>
                      <a:pt x="15" y="24"/>
                      <a:pt x="14" y="30"/>
                      <a:pt x="14" y="31"/>
                    </a:cubicBezTo>
                    <a:cubicBezTo>
                      <a:pt x="14" y="32"/>
                      <a:pt x="14" y="32"/>
                      <a:pt x="14" y="33"/>
                    </a:cubicBezTo>
                    <a:cubicBezTo>
                      <a:pt x="14" y="34"/>
                      <a:pt x="13" y="36"/>
                      <a:pt x="13" y="36"/>
                    </a:cubicBezTo>
                    <a:cubicBezTo>
                      <a:pt x="12" y="37"/>
                      <a:pt x="13" y="37"/>
                      <a:pt x="13" y="37"/>
                    </a:cubicBezTo>
                    <a:cubicBezTo>
                      <a:pt x="13" y="37"/>
                      <a:pt x="15" y="41"/>
                      <a:pt x="16" y="41"/>
                    </a:cubicBezTo>
                    <a:cubicBezTo>
                      <a:pt x="16" y="41"/>
                      <a:pt x="16" y="42"/>
                      <a:pt x="16" y="42"/>
                    </a:cubicBezTo>
                    <a:cubicBezTo>
                      <a:pt x="16" y="42"/>
                      <a:pt x="17" y="47"/>
                      <a:pt x="18" y="48"/>
                    </a:cubicBezTo>
                    <a:cubicBezTo>
                      <a:pt x="18" y="49"/>
                      <a:pt x="17" y="49"/>
                      <a:pt x="17" y="49"/>
                    </a:cubicBezTo>
                    <a:cubicBezTo>
                      <a:pt x="17" y="49"/>
                      <a:pt x="17" y="49"/>
                      <a:pt x="15" y="51"/>
                    </a:cubicBezTo>
                    <a:cubicBezTo>
                      <a:pt x="14" y="53"/>
                      <a:pt x="15" y="56"/>
                      <a:pt x="15" y="56"/>
                    </a:cubicBezTo>
                    <a:cubicBezTo>
                      <a:pt x="15" y="57"/>
                      <a:pt x="15" y="57"/>
                      <a:pt x="14" y="57"/>
                    </a:cubicBezTo>
                    <a:cubicBezTo>
                      <a:pt x="14" y="57"/>
                      <a:pt x="10" y="62"/>
                      <a:pt x="10" y="63"/>
                    </a:cubicBezTo>
                    <a:cubicBezTo>
                      <a:pt x="10" y="63"/>
                      <a:pt x="9" y="64"/>
                      <a:pt x="9" y="64"/>
                    </a:cubicBezTo>
                    <a:cubicBezTo>
                      <a:pt x="9" y="64"/>
                      <a:pt x="8" y="67"/>
                      <a:pt x="7" y="70"/>
                    </a:cubicBezTo>
                    <a:cubicBezTo>
                      <a:pt x="6" y="72"/>
                      <a:pt x="3" y="72"/>
                      <a:pt x="2" y="72"/>
                    </a:cubicBezTo>
                    <a:cubicBezTo>
                      <a:pt x="2" y="72"/>
                      <a:pt x="2" y="72"/>
                      <a:pt x="2" y="72"/>
                    </a:cubicBezTo>
                    <a:cubicBezTo>
                      <a:pt x="2" y="72"/>
                      <a:pt x="2" y="74"/>
                      <a:pt x="2" y="75"/>
                    </a:cubicBezTo>
                    <a:cubicBezTo>
                      <a:pt x="2" y="75"/>
                      <a:pt x="1" y="76"/>
                      <a:pt x="1" y="77"/>
                    </a:cubicBezTo>
                    <a:cubicBezTo>
                      <a:pt x="1" y="77"/>
                      <a:pt x="1" y="79"/>
                      <a:pt x="1" y="80"/>
                    </a:cubicBezTo>
                    <a:cubicBezTo>
                      <a:pt x="1" y="80"/>
                      <a:pt x="1" y="81"/>
                      <a:pt x="1" y="82"/>
                    </a:cubicBezTo>
                    <a:cubicBezTo>
                      <a:pt x="1" y="83"/>
                      <a:pt x="1" y="83"/>
                      <a:pt x="1" y="84"/>
                    </a:cubicBezTo>
                    <a:cubicBezTo>
                      <a:pt x="1" y="84"/>
                      <a:pt x="0" y="88"/>
                      <a:pt x="0" y="88"/>
                    </a:cubicBezTo>
                    <a:cubicBezTo>
                      <a:pt x="0" y="89"/>
                      <a:pt x="0" y="90"/>
                      <a:pt x="0" y="90"/>
                    </a:cubicBezTo>
                    <a:cubicBezTo>
                      <a:pt x="1" y="90"/>
                      <a:pt x="1" y="90"/>
                      <a:pt x="1" y="90"/>
                    </a:cubicBezTo>
                    <a:cubicBezTo>
                      <a:pt x="1" y="90"/>
                      <a:pt x="2" y="98"/>
                      <a:pt x="2" y="98"/>
                    </a:cubicBezTo>
                    <a:cubicBezTo>
                      <a:pt x="2" y="99"/>
                      <a:pt x="2" y="100"/>
                      <a:pt x="2" y="100"/>
                    </a:cubicBezTo>
                    <a:cubicBezTo>
                      <a:pt x="2" y="100"/>
                      <a:pt x="1" y="103"/>
                      <a:pt x="1" y="103"/>
                    </a:cubicBezTo>
                    <a:cubicBezTo>
                      <a:pt x="1" y="104"/>
                      <a:pt x="1" y="104"/>
                      <a:pt x="1" y="104"/>
                    </a:cubicBezTo>
                    <a:cubicBezTo>
                      <a:pt x="2" y="104"/>
                      <a:pt x="2" y="106"/>
                      <a:pt x="2" y="107"/>
                    </a:cubicBezTo>
                    <a:cubicBezTo>
                      <a:pt x="2" y="107"/>
                      <a:pt x="1" y="110"/>
                      <a:pt x="1" y="111"/>
                    </a:cubicBezTo>
                    <a:cubicBezTo>
                      <a:pt x="1" y="111"/>
                      <a:pt x="1" y="112"/>
                      <a:pt x="1" y="112"/>
                    </a:cubicBezTo>
                    <a:cubicBezTo>
                      <a:pt x="1" y="113"/>
                      <a:pt x="1" y="113"/>
                      <a:pt x="1" y="113"/>
                    </a:cubicBezTo>
                    <a:cubicBezTo>
                      <a:pt x="3" y="113"/>
                      <a:pt x="5" y="113"/>
                      <a:pt x="6" y="113"/>
                    </a:cubicBezTo>
                    <a:cubicBezTo>
                      <a:pt x="8" y="113"/>
                      <a:pt x="10" y="112"/>
                      <a:pt x="11" y="112"/>
                    </a:cubicBezTo>
                    <a:cubicBezTo>
                      <a:pt x="12" y="111"/>
                      <a:pt x="14" y="109"/>
                      <a:pt x="14" y="110"/>
                    </a:cubicBezTo>
                    <a:cubicBezTo>
                      <a:pt x="15" y="110"/>
                      <a:pt x="16" y="111"/>
                      <a:pt x="17" y="111"/>
                    </a:cubicBezTo>
                    <a:cubicBezTo>
                      <a:pt x="19" y="111"/>
                      <a:pt x="28" y="112"/>
                      <a:pt x="33" y="118"/>
                    </a:cubicBezTo>
                    <a:cubicBezTo>
                      <a:pt x="33" y="118"/>
                      <a:pt x="35" y="121"/>
                      <a:pt x="36" y="121"/>
                    </a:cubicBezTo>
                    <a:cubicBezTo>
                      <a:pt x="37" y="121"/>
                      <a:pt x="37" y="122"/>
                      <a:pt x="37" y="122"/>
                    </a:cubicBezTo>
                    <a:cubicBezTo>
                      <a:pt x="37" y="122"/>
                      <a:pt x="38" y="123"/>
                      <a:pt x="39" y="123"/>
                    </a:cubicBezTo>
                    <a:cubicBezTo>
                      <a:pt x="40" y="122"/>
                      <a:pt x="41" y="122"/>
                      <a:pt x="41" y="123"/>
                    </a:cubicBezTo>
                    <a:cubicBezTo>
                      <a:pt x="41" y="123"/>
                      <a:pt x="40" y="123"/>
                      <a:pt x="39" y="124"/>
                    </a:cubicBezTo>
                    <a:cubicBezTo>
                      <a:pt x="37" y="125"/>
                      <a:pt x="39" y="126"/>
                      <a:pt x="39" y="126"/>
                    </a:cubicBezTo>
                    <a:cubicBezTo>
                      <a:pt x="40" y="126"/>
                      <a:pt x="40" y="127"/>
                      <a:pt x="42" y="126"/>
                    </a:cubicBezTo>
                    <a:cubicBezTo>
                      <a:pt x="44" y="126"/>
                      <a:pt x="43" y="127"/>
                      <a:pt x="42" y="127"/>
                    </a:cubicBezTo>
                    <a:cubicBezTo>
                      <a:pt x="42" y="128"/>
                      <a:pt x="42" y="132"/>
                      <a:pt x="43" y="135"/>
                    </a:cubicBezTo>
                    <a:cubicBezTo>
                      <a:pt x="44" y="137"/>
                      <a:pt x="48" y="144"/>
                      <a:pt x="53" y="143"/>
                    </a:cubicBezTo>
                    <a:cubicBezTo>
                      <a:pt x="53" y="143"/>
                      <a:pt x="54" y="143"/>
                      <a:pt x="55" y="143"/>
                    </a:cubicBezTo>
                    <a:cubicBezTo>
                      <a:pt x="56" y="143"/>
                      <a:pt x="57" y="143"/>
                      <a:pt x="57" y="142"/>
                    </a:cubicBezTo>
                    <a:cubicBezTo>
                      <a:pt x="58" y="141"/>
                      <a:pt x="58" y="141"/>
                      <a:pt x="59" y="142"/>
                    </a:cubicBezTo>
                    <a:cubicBezTo>
                      <a:pt x="60" y="142"/>
                      <a:pt x="60" y="142"/>
                      <a:pt x="60" y="141"/>
                    </a:cubicBezTo>
                    <a:cubicBezTo>
                      <a:pt x="60" y="141"/>
                      <a:pt x="61" y="140"/>
                      <a:pt x="62" y="140"/>
                    </a:cubicBezTo>
                    <a:cubicBezTo>
                      <a:pt x="62" y="141"/>
                      <a:pt x="64" y="141"/>
                      <a:pt x="64" y="140"/>
                    </a:cubicBezTo>
                    <a:cubicBezTo>
                      <a:pt x="64" y="140"/>
                      <a:pt x="65" y="139"/>
                      <a:pt x="65" y="139"/>
                    </a:cubicBezTo>
                    <a:cubicBezTo>
                      <a:pt x="66" y="139"/>
                      <a:pt x="67" y="140"/>
                      <a:pt x="67" y="139"/>
                    </a:cubicBezTo>
                    <a:cubicBezTo>
                      <a:pt x="67" y="138"/>
                      <a:pt x="68" y="138"/>
                      <a:pt x="69" y="138"/>
                    </a:cubicBezTo>
                    <a:cubicBezTo>
                      <a:pt x="69" y="139"/>
                      <a:pt x="71" y="139"/>
                      <a:pt x="72" y="139"/>
                    </a:cubicBezTo>
                    <a:cubicBezTo>
                      <a:pt x="73" y="138"/>
                      <a:pt x="74" y="139"/>
                      <a:pt x="74" y="139"/>
                    </a:cubicBezTo>
                    <a:cubicBezTo>
                      <a:pt x="75" y="140"/>
                      <a:pt x="76" y="140"/>
                      <a:pt x="78" y="140"/>
                    </a:cubicBezTo>
                    <a:cubicBezTo>
                      <a:pt x="80" y="140"/>
                      <a:pt x="85" y="140"/>
                      <a:pt x="84" y="137"/>
                    </a:cubicBezTo>
                    <a:cubicBezTo>
                      <a:pt x="83" y="134"/>
                      <a:pt x="85" y="136"/>
                      <a:pt x="86" y="136"/>
                    </a:cubicBezTo>
                    <a:cubicBezTo>
                      <a:pt x="86" y="137"/>
                      <a:pt x="86" y="137"/>
                      <a:pt x="87" y="138"/>
                    </a:cubicBezTo>
                    <a:cubicBezTo>
                      <a:pt x="87" y="137"/>
                      <a:pt x="88" y="136"/>
                      <a:pt x="89" y="135"/>
                    </a:cubicBezTo>
                    <a:cubicBezTo>
                      <a:pt x="89" y="133"/>
                      <a:pt x="91" y="130"/>
                      <a:pt x="91" y="129"/>
                    </a:cubicBezTo>
                    <a:cubicBezTo>
                      <a:pt x="92" y="128"/>
                      <a:pt x="92" y="127"/>
                      <a:pt x="92" y="127"/>
                    </a:cubicBezTo>
                    <a:cubicBezTo>
                      <a:pt x="92" y="127"/>
                      <a:pt x="92" y="125"/>
                      <a:pt x="92" y="123"/>
                    </a:cubicBezTo>
                    <a:cubicBezTo>
                      <a:pt x="92" y="121"/>
                      <a:pt x="93" y="120"/>
                      <a:pt x="94" y="120"/>
                    </a:cubicBezTo>
                    <a:cubicBezTo>
                      <a:pt x="94" y="120"/>
                      <a:pt x="94" y="119"/>
                      <a:pt x="94" y="119"/>
                    </a:cubicBezTo>
                    <a:cubicBezTo>
                      <a:pt x="94" y="119"/>
                      <a:pt x="97" y="116"/>
                      <a:pt x="98" y="115"/>
                    </a:cubicBezTo>
                    <a:cubicBezTo>
                      <a:pt x="99" y="114"/>
                      <a:pt x="101" y="112"/>
                      <a:pt x="101" y="112"/>
                    </a:cubicBezTo>
                    <a:cubicBezTo>
                      <a:pt x="101" y="112"/>
                      <a:pt x="103" y="111"/>
                      <a:pt x="103" y="110"/>
                    </a:cubicBezTo>
                    <a:cubicBezTo>
                      <a:pt x="104" y="110"/>
                      <a:pt x="104" y="110"/>
                      <a:pt x="104" y="110"/>
                    </a:cubicBezTo>
                    <a:cubicBezTo>
                      <a:pt x="105" y="110"/>
                      <a:pt x="105" y="110"/>
                      <a:pt x="105" y="110"/>
                    </a:cubicBezTo>
                    <a:cubicBezTo>
                      <a:pt x="105" y="110"/>
                      <a:pt x="105" y="109"/>
                      <a:pt x="105" y="109"/>
                    </a:cubicBezTo>
                    <a:cubicBezTo>
                      <a:pt x="105" y="109"/>
                      <a:pt x="106" y="108"/>
                      <a:pt x="106" y="108"/>
                    </a:cubicBezTo>
                    <a:cubicBezTo>
                      <a:pt x="106" y="108"/>
                      <a:pt x="109" y="104"/>
                      <a:pt x="111" y="103"/>
                    </a:cubicBezTo>
                    <a:cubicBezTo>
                      <a:pt x="112" y="103"/>
                      <a:pt x="114" y="104"/>
                      <a:pt x="115" y="105"/>
                    </a:cubicBezTo>
                    <a:cubicBezTo>
                      <a:pt x="115" y="105"/>
                      <a:pt x="115" y="105"/>
                      <a:pt x="115" y="105"/>
                    </a:cubicBezTo>
                    <a:cubicBezTo>
                      <a:pt x="115" y="105"/>
                      <a:pt x="116" y="104"/>
                      <a:pt x="116" y="104"/>
                    </a:cubicBezTo>
                    <a:cubicBezTo>
                      <a:pt x="117" y="104"/>
                      <a:pt x="117" y="104"/>
                      <a:pt x="117" y="104"/>
                    </a:cubicBezTo>
                    <a:cubicBezTo>
                      <a:pt x="117" y="104"/>
                      <a:pt x="118" y="103"/>
                      <a:pt x="118" y="102"/>
                    </a:cubicBezTo>
                    <a:cubicBezTo>
                      <a:pt x="118" y="101"/>
                      <a:pt x="118" y="101"/>
                      <a:pt x="118" y="101"/>
                    </a:cubicBezTo>
                    <a:cubicBezTo>
                      <a:pt x="119" y="102"/>
                      <a:pt x="121" y="104"/>
                      <a:pt x="121" y="104"/>
                    </a:cubicBezTo>
                    <a:cubicBezTo>
                      <a:pt x="122" y="104"/>
                      <a:pt x="122" y="105"/>
                      <a:pt x="122" y="105"/>
                    </a:cubicBezTo>
                    <a:cubicBezTo>
                      <a:pt x="122" y="105"/>
                      <a:pt x="126" y="111"/>
                      <a:pt x="127" y="111"/>
                    </a:cubicBezTo>
                    <a:cubicBezTo>
                      <a:pt x="127" y="112"/>
                      <a:pt x="127" y="111"/>
                      <a:pt x="127" y="111"/>
                    </a:cubicBezTo>
                    <a:cubicBezTo>
                      <a:pt x="127" y="111"/>
                      <a:pt x="129" y="111"/>
                      <a:pt x="130" y="111"/>
                    </a:cubicBezTo>
                    <a:cubicBezTo>
                      <a:pt x="130" y="111"/>
                      <a:pt x="130" y="110"/>
                      <a:pt x="130" y="110"/>
                    </a:cubicBezTo>
                    <a:cubicBezTo>
                      <a:pt x="131" y="110"/>
                      <a:pt x="133" y="106"/>
                      <a:pt x="134" y="105"/>
                    </a:cubicBezTo>
                    <a:cubicBezTo>
                      <a:pt x="135" y="103"/>
                      <a:pt x="136" y="102"/>
                      <a:pt x="137" y="102"/>
                    </a:cubicBezTo>
                    <a:cubicBezTo>
                      <a:pt x="137" y="102"/>
                      <a:pt x="137" y="101"/>
                      <a:pt x="137" y="101"/>
                    </a:cubicBezTo>
                    <a:cubicBezTo>
                      <a:pt x="137" y="101"/>
                      <a:pt x="136" y="100"/>
                      <a:pt x="136" y="100"/>
                    </a:cubicBezTo>
                    <a:cubicBezTo>
                      <a:pt x="135" y="99"/>
                      <a:pt x="136" y="99"/>
                      <a:pt x="136" y="99"/>
                    </a:cubicBezTo>
                    <a:cubicBezTo>
                      <a:pt x="136" y="99"/>
                      <a:pt x="142" y="87"/>
                      <a:pt x="142" y="86"/>
                    </a:cubicBezTo>
                    <a:cubicBezTo>
                      <a:pt x="143" y="85"/>
                      <a:pt x="142" y="85"/>
                      <a:pt x="142" y="85"/>
                    </a:cubicBezTo>
                    <a:cubicBezTo>
                      <a:pt x="142" y="83"/>
                      <a:pt x="143" y="81"/>
                      <a:pt x="145" y="80"/>
                    </a:cubicBezTo>
                    <a:cubicBezTo>
                      <a:pt x="148" y="79"/>
                      <a:pt x="149" y="77"/>
                      <a:pt x="150" y="77"/>
                    </a:cubicBezTo>
                    <a:cubicBezTo>
                      <a:pt x="151" y="76"/>
                      <a:pt x="152" y="70"/>
                      <a:pt x="152" y="69"/>
                    </a:cubicBezTo>
                    <a:cubicBezTo>
                      <a:pt x="152" y="67"/>
                      <a:pt x="154" y="66"/>
                      <a:pt x="154" y="66"/>
                    </a:cubicBezTo>
                    <a:cubicBezTo>
                      <a:pt x="155" y="65"/>
                      <a:pt x="155" y="65"/>
                      <a:pt x="156" y="65"/>
                    </a:cubicBezTo>
                    <a:cubicBezTo>
                      <a:pt x="157" y="65"/>
                      <a:pt x="157" y="64"/>
                      <a:pt x="157" y="63"/>
                    </a:cubicBezTo>
                    <a:cubicBezTo>
                      <a:pt x="158" y="62"/>
                      <a:pt x="157" y="59"/>
                      <a:pt x="157" y="59"/>
                    </a:cubicBezTo>
                    <a:cubicBezTo>
                      <a:pt x="157" y="58"/>
                      <a:pt x="158" y="58"/>
                      <a:pt x="158" y="58"/>
                    </a:cubicBezTo>
                    <a:cubicBezTo>
                      <a:pt x="158" y="58"/>
                      <a:pt x="159" y="57"/>
                      <a:pt x="159" y="57"/>
                    </a:cubicBezTo>
                    <a:cubicBezTo>
                      <a:pt x="159" y="56"/>
                      <a:pt x="160" y="56"/>
                      <a:pt x="160" y="56"/>
                    </a:cubicBezTo>
                    <a:cubicBezTo>
                      <a:pt x="161" y="54"/>
                      <a:pt x="162" y="49"/>
                      <a:pt x="162" y="48"/>
                    </a:cubicBezTo>
                    <a:cubicBezTo>
                      <a:pt x="162" y="48"/>
                      <a:pt x="164" y="45"/>
                      <a:pt x="164" y="45"/>
                    </a:cubicBezTo>
                    <a:cubicBezTo>
                      <a:pt x="165" y="44"/>
                      <a:pt x="165" y="44"/>
                      <a:pt x="166" y="43"/>
                    </a:cubicBezTo>
                    <a:cubicBezTo>
                      <a:pt x="166" y="43"/>
                      <a:pt x="166" y="42"/>
                      <a:pt x="167" y="40"/>
                    </a:cubicBezTo>
                    <a:cubicBezTo>
                      <a:pt x="169" y="39"/>
                      <a:pt x="170" y="39"/>
                      <a:pt x="171" y="39"/>
                    </a:cubicBezTo>
                    <a:cubicBezTo>
                      <a:pt x="171" y="39"/>
                      <a:pt x="172" y="39"/>
                      <a:pt x="172" y="39"/>
                    </a:cubicBezTo>
                    <a:cubicBezTo>
                      <a:pt x="172" y="39"/>
                      <a:pt x="176" y="37"/>
                      <a:pt x="177" y="35"/>
                    </a:cubicBezTo>
                    <a:cubicBezTo>
                      <a:pt x="178" y="34"/>
                      <a:pt x="178" y="32"/>
                      <a:pt x="178" y="31"/>
                    </a:cubicBezTo>
                    <a:cubicBezTo>
                      <a:pt x="177" y="31"/>
                      <a:pt x="178" y="28"/>
                      <a:pt x="178" y="27"/>
                    </a:cubicBezTo>
                    <a:cubicBezTo>
                      <a:pt x="178" y="26"/>
                      <a:pt x="178" y="26"/>
                      <a:pt x="178" y="26"/>
                    </a:cubicBezTo>
                    <a:cubicBezTo>
                      <a:pt x="175" y="23"/>
                      <a:pt x="172" y="22"/>
                      <a:pt x="172" y="22"/>
                    </a:cubicBezTo>
                    <a:cubicBezTo>
                      <a:pt x="171" y="22"/>
                      <a:pt x="171" y="21"/>
                      <a:pt x="171" y="21"/>
                    </a:cubicBezTo>
                    <a:cubicBezTo>
                      <a:pt x="171" y="21"/>
                      <a:pt x="170" y="15"/>
                      <a:pt x="170" y="13"/>
                    </a:cubicBezTo>
                    <a:cubicBezTo>
                      <a:pt x="170" y="13"/>
                      <a:pt x="170" y="12"/>
                      <a:pt x="169"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58" name="Freeform 969">
                <a:extLst>
                  <a:ext uri="{FF2B5EF4-FFF2-40B4-BE49-F238E27FC236}">
                    <a16:creationId xmlns:a16="http://schemas.microsoft.com/office/drawing/2014/main" id="{D5F6E0F7-A49D-4076-90F5-B0C4D5D617B5}"/>
                  </a:ext>
                </a:extLst>
              </p:cNvPr>
              <p:cNvSpPr>
                <a:spLocks/>
              </p:cNvSpPr>
              <p:nvPr/>
            </p:nvSpPr>
            <p:spPr bwMode="auto">
              <a:xfrm>
                <a:off x="3694" y="1981"/>
                <a:ext cx="325" cy="299"/>
              </a:xfrm>
              <a:custGeom>
                <a:avLst/>
                <a:gdLst>
                  <a:gd name="T0" fmla="*/ 233 w 235"/>
                  <a:gd name="T1" fmla="*/ 134 h 218"/>
                  <a:gd name="T2" fmla="*/ 232 w 235"/>
                  <a:gd name="T3" fmla="*/ 64 h 218"/>
                  <a:gd name="T4" fmla="*/ 231 w 235"/>
                  <a:gd name="T5" fmla="*/ 57 h 218"/>
                  <a:gd name="T6" fmla="*/ 229 w 235"/>
                  <a:gd name="T7" fmla="*/ 48 h 218"/>
                  <a:gd name="T8" fmla="*/ 231 w 235"/>
                  <a:gd name="T9" fmla="*/ 32 h 218"/>
                  <a:gd name="T10" fmla="*/ 235 w 235"/>
                  <a:gd name="T11" fmla="*/ 25 h 218"/>
                  <a:gd name="T12" fmla="*/ 227 w 235"/>
                  <a:gd name="T13" fmla="*/ 19 h 218"/>
                  <a:gd name="T14" fmla="*/ 209 w 235"/>
                  <a:gd name="T15" fmla="*/ 16 h 218"/>
                  <a:gd name="T16" fmla="*/ 202 w 235"/>
                  <a:gd name="T17" fmla="*/ 8 h 218"/>
                  <a:gd name="T18" fmla="*/ 186 w 235"/>
                  <a:gd name="T19" fmla="*/ 5 h 218"/>
                  <a:gd name="T20" fmla="*/ 165 w 235"/>
                  <a:gd name="T21" fmla="*/ 12 h 218"/>
                  <a:gd name="T22" fmla="*/ 159 w 235"/>
                  <a:gd name="T23" fmla="*/ 29 h 218"/>
                  <a:gd name="T24" fmla="*/ 139 w 235"/>
                  <a:gd name="T25" fmla="*/ 44 h 218"/>
                  <a:gd name="T26" fmla="*/ 105 w 235"/>
                  <a:gd name="T27" fmla="*/ 32 h 218"/>
                  <a:gd name="T28" fmla="*/ 89 w 235"/>
                  <a:gd name="T29" fmla="*/ 17 h 218"/>
                  <a:gd name="T30" fmla="*/ 71 w 235"/>
                  <a:gd name="T31" fmla="*/ 8 h 218"/>
                  <a:gd name="T32" fmla="*/ 51 w 235"/>
                  <a:gd name="T33" fmla="*/ 6 h 218"/>
                  <a:gd name="T34" fmla="*/ 33 w 235"/>
                  <a:gd name="T35" fmla="*/ 0 h 218"/>
                  <a:gd name="T36" fmla="*/ 32 w 235"/>
                  <a:gd name="T37" fmla="*/ 13 h 218"/>
                  <a:gd name="T38" fmla="*/ 23 w 235"/>
                  <a:gd name="T39" fmla="*/ 17 h 218"/>
                  <a:gd name="T40" fmla="*/ 18 w 235"/>
                  <a:gd name="T41" fmla="*/ 21 h 218"/>
                  <a:gd name="T42" fmla="*/ 14 w 235"/>
                  <a:gd name="T43" fmla="*/ 26 h 218"/>
                  <a:gd name="T44" fmla="*/ 13 w 235"/>
                  <a:gd name="T45" fmla="*/ 40 h 218"/>
                  <a:gd name="T46" fmla="*/ 6 w 235"/>
                  <a:gd name="T47" fmla="*/ 47 h 218"/>
                  <a:gd name="T48" fmla="*/ 0 w 235"/>
                  <a:gd name="T49" fmla="*/ 50 h 218"/>
                  <a:gd name="T50" fmla="*/ 8 w 235"/>
                  <a:gd name="T51" fmla="*/ 70 h 218"/>
                  <a:gd name="T52" fmla="*/ 9 w 235"/>
                  <a:gd name="T53" fmla="*/ 87 h 218"/>
                  <a:gd name="T54" fmla="*/ 7 w 235"/>
                  <a:gd name="T55" fmla="*/ 108 h 218"/>
                  <a:gd name="T56" fmla="*/ 6 w 235"/>
                  <a:gd name="T57" fmla="*/ 120 h 218"/>
                  <a:gd name="T58" fmla="*/ 12 w 235"/>
                  <a:gd name="T59" fmla="*/ 136 h 218"/>
                  <a:gd name="T60" fmla="*/ 19 w 235"/>
                  <a:gd name="T61" fmla="*/ 140 h 218"/>
                  <a:gd name="T62" fmla="*/ 31 w 235"/>
                  <a:gd name="T63" fmla="*/ 142 h 218"/>
                  <a:gd name="T64" fmla="*/ 35 w 235"/>
                  <a:gd name="T65" fmla="*/ 147 h 218"/>
                  <a:gd name="T66" fmla="*/ 40 w 235"/>
                  <a:gd name="T67" fmla="*/ 155 h 218"/>
                  <a:gd name="T68" fmla="*/ 61 w 235"/>
                  <a:gd name="T69" fmla="*/ 160 h 218"/>
                  <a:gd name="T70" fmla="*/ 71 w 235"/>
                  <a:gd name="T71" fmla="*/ 168 h 218"/>
                  <a:gd name="T72" fmla="*/ 84 w 235"/>
                  <a:gd name="T73" fmla="*/ 164 h 218"/>
                  <a:gd name="T74" fmla="*/ 103 w 235"/>
                  <a:gd name="T75" fmla="*/ 158 h 218"/>
                  <a:gd name="T76" fmla="*/ 218 w 235"/>
                  <a:gd name="T77" fmla="*/ 213 h 218"/>
                  <a:gd name="T78" fmla="*/ 224 w 235"/>
                  <a:gd name="T79" fmla="*/ 210 h 218"/>
                  <a:gd name="T80" fmla="*/ 233 w 235"/>
                  <a:gd name="T81" fmla="*/ 21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5" h="218">
                    <a:moveTo>
                      <a:pt x="233" y="179"/>
                    </a:moveTo>
                    <a:cubicBezTo>
                      <a:pt x="233" y="134"/>
                      <a:pt x="233" y="134"/>
                      <a:pt x="233" y="134"/>
                    </a:cubicBezTo>
                    <a:cubicBezTo>
                      <a:pt x="233" y="95"/>
                      <a:pt x="233" y="95"/>
                      <a:pt x="233" y="95"/>
                    </a:cubicBezTo>
                    <a:cubicBezTo>
                      <a:pt x="233" y="95"/>
                      <a:pt x="232" y="65"/>
                      <a:pt x="232" y="64"/>
                    </a:cubicBezTo>
                    <a:cubicBezTo>
                      <a:pt x="232" y="63"/>
                      <a:pt x="232" y="61"/>
                      <a:pt x="231" y="61"/>
                    </a:cubicBezTo>
                    <a:cubicBezTo>
                      <a:pt x="231" y="60"/>
                      <a:pt x="231" y="59"/>
                      <a:pt x="231" y="57"/>
                    </a:cubicBezTo>
                    <a:cubicBezTo>
                      <a:pt x="230" y="56"/>
                      <a:pt x="230" y="52"/>
                      <a:pt x="229" y="50"/>
                    </a:cubicBezTo>
                    <a:cubicBezTo>
                      <a:pt x="228" y="49"/>
                      <a:pt x="229" y="48"/>
                      <a:pt x="229" y="48"/>
                    </a:cubicBezTo>
                    <a:cubicBezTo>
                      <a:pt x="229" y="48"/>
                      <a:pt x="230" y="47"/>
                      <a:pt x="232" y="44"/>
                    </a:cubicBezTo>
                    <a:cubicBezTo>
                      <a:pt x="234" y="41"/>
                      <a:pt x="231" y="36"/>
                      <a:pt x="231" y="32"/>
                    </a:cubicBezTo>
                    <a:cubicBezTo>
                      <a:pt x="230" y="29"/>
                      <a:pt x="233" y="26"/>
                      <a:pt x="235" y="25"/>
                    </a:cubicBezTo>
                    <a:cubicBezTo>
                      <a:pt x="235" y="25"/>
                      <a:pt x="235" y="25"/>
                      <a:pt x="235" y="25"/>
                    </a:cubicBezTo>
                    <a:cubicBezTo>
                      <a:pt x="233" y="21"/>
                      <a:pt x="233" y="20"/>
                      <a:pt x="231" y="19"/>
                    </a:cubicBezTo>
                    <a:cubicBezTo>
                      <a:pt x="229" y="19"/>
                      <a:pt x="229" y="19"/>
                      <a:pt x="227" y="19"/>
                    </a:cubicBezTo>
                    <a:cubicBezTo>
                      <a:pt x="225" y="20"/>
                      <a:pt x="222" y="19"/>
                      <a:pt x="220" y="18"/>
                    </a:cubicBezTo>
                    <a:cubicBezTo>
                      <a:pt x="218" y="17"/>
                      <a:pt x="212" y="16"/>
                      <a:pt x="209" y="16"/>
                    </a:cubicBezTo>
                    <a:cubicBezTo>
                      <a:pt x="205" y="15"/>
                      <a:pt x="204" y="14"/>
                      <a:pt x="204" y="12"/>
                    </a:cubicBezTo>
                    <a:cubicBezTo>
                      <a:pt x="205" y="10"/>
                      <a:pt x="207" y="9"/>
                      <a:pt x="202" y="8"/>
                    </a:cubicBezTo>
                    <a:cubicBezTo>
                      <a:pt x="197" y="6"/>
                      <a:pt x="194" y="6"/>
                      <a:pt x="192" y="5"/>
                    </a:cubicBezTo>
                    <a:cubicBezTo>
                      <a:pt x="191" y="4"/>
                      <a:pt x="189" y="4"/>
                      <a:pt x="186" y="5"/>
                    </a:cubicBezTo>
                    <a:cubicBezTo>
                      <a:pt x="184" y="6"/>
                      <a:pt x="173" y="8"/>
                      <a:pt x="168" y="10"/>
                    </a:cubicBezTo>
                    <a:cubicBezTo>
                      <a:pt x="168" y="10"/>
                      <a:pt x="167" y="10"/>
                      <a:pt x="165" y="12"/>
                    </a:cubicBezTo>
                    <a:cubicBezTo>
                      <a:pt x="164" y="14"/>
                      <a:pt x="161" y="17"/>
                      <a:pt x="160" y="18"/>
                    </a:cubicBezTo>
                    <a:cubicBezTo>
                      <a:pt x="159" y="19"/>
                      <a:pt x="156" y="24"/>
                      <a:pt x="159" y="29"/>
                    </a:cubicBezTo>
                    <a:cubicBezTo>
                      <a:pt x="163" y="35"/>
                      <a:pt x="159" y="41"/>
                      <a:pt x="154" y="44"/>
                    </a:cubicBezTo>
                    <a:cubicBezTo>
                      <a:pt x="150" y="48"/>
                      <a:pt x="145" y="49"/>
                      <a:pt x="139" y="44"/>
                    </a:cubicBezTo>
                    <a:cubicBezTo>
                      <a:pt x="133" y="40"/>
                      <a:pt x="122" y="34"/>
                      <a:pt x="118" y="34"/>
                    </a:cubicBezTo>
                    <a:cubicBezTo>
                      <a:pt x="113" y="33"/>
                      <a:pt x="110" y="31"/>
                      <a:pt x="105" y="32"/>
                    </a:cubicBezTo>
                    <a:cubicBezTo>
                      <a:pt x="101" y="32"/>
                      <a:pt x="94" y="28"/>
                      <a:pt x="91" y="24"/>
                    </a:cubicBezTo>
                    <a:cubicBezTo>
                      <a:pt x="89" y="20"/>
                      <a:pt x="90" y="19"/>
                      <a:pt x="89" y="17"/>
                    </a:cubicBezTo>
                    <a:cubicBezTo>
                      <a:pt x="89" y="14"/>
                      <a:pt x="88" y="12"/>
                      <a:pt x="84" y="12"/>
                    </a:cubicBezTo>
                    <a:cubicBezTo>
                      <a:pt x="81" y="12"/>
                      <a:pt x="74" y="10"/>
                      <a:pt x="71" y="8"/>
                    </a:cubicBezTo>
                    <a:cubicBezTo>
                      <a:pt x="67" y="5"/>
                      <a:pt x="64" y="6"/>
                      <a:pt x="61" y="6"/>
                    </a:cubicBezTo>
                    <a:cubicBezTo>
                      <a:pt x="59" y="5"/>
                      <a:pt x="53" y="5"/>
                      <a:pt x="51" y="6"/>
                    </a:cubicBezTo>
                    <a:cubicBezTo>
                      <a:pt x="49" y="6"/>
                      <a:pt x="45" y="5"/>
                      <a:pt x="43" y="4"/>
                    </a:cubicBezTo>
                    <a:cubicBezTo>
                      <a:pt x="40" y="3"/>
                      <a:pt x="35" y="0"/>
                      <a:pt x="33" y="0"/>
                    </a:cubicBezTo>
                    <a:cubicBezTo>
                      <a:pt x="33" y="11"/>
                      <a:pt x="33" y="11"/>
                      <a:pt x="33" y="11"/>
                    </a:cubicBezTo>
                    <a:cubicBezTo>
                      <a:pt x="33" y="11"/>
                      <a:pt x="33" y="12"/>
                      <a:pt x="32" y="13"/>
                    </a:cubicBezTo>
                    <a:cubicBezTo>
                      <a:pt x="31" y="13"/>
                      <a:pt x="26" y="15"/>
                      <a:pt x="25" y="16"/>
                    </a:cubicBezTo>
                    <a:cubicBezTo>
                      <a:pt x="25" y="16"/>
                      <a:pt x="23" y="16"/>
                      <a:pt x="23" y="17"/>
                    </a:cubicBezTo>
                    <a:cubicBezTo>
                      <a:pt x="22" y="18"/>
                      <a:pt x="21" y="21"/>
                      <a:pt x="20" y="20"/>
                    </a:cubicBezTo>
                    <a:cubicBezTo>
                      <a:pt x="20" y="20"/>
                      <a:pt x="19" y="19"/>
                      <a:pt x="18" y="21"/>
                    </a:cubicBezTo>
                    <a:cubicBezTo>
                      <a:pt x="17" y="23"/>
                      <a:pt x="16" y="24"/>
                      <a:pt x="16" y="24"/>
                    </a:cubicBezTo>
                    <a:cubicBezTo>
                      <a:pt x="15" y="24"/>
                      <a:pt x="14" y="24"/>
                      <a:pt x="14" y="26"/>
                    </a:cubicBezTo>
                    <a:cubicBezTo>
                      <a:pt x="14" y="28"/>
                      <a:pt x="13" y="31"/>
                      <a:pt x="14" y="34"/>
                    </a:cubicBezTo>
                    <a:cubicBezTo>
                      <a:pt x="15" y="37"/>
                      <a:pt x="15" y="38"/>
                      <a:pt x="13" y="40"/>
                    </a:cubicBezTo>
                    <a:cubicBezTo>
                      <a:pt x="11" y="42"/>
                      <a:pt x="11" y="43"/>
                      <a:pt x="10" y="44"/>
                    </a:cubicBezTo>
                    <a:cubicBezTo>
                      <a:pt x="9" y="45"/>
                      <a:pt x="7" y="46"/>
                      <a:pt x="6" y="47"/>
                    </a:cubicBezTo>
                    <a:cubicBezTo>
                      <a:pt x="5" y="47"/>
                      <a:pt x="4" y="48"/>
                      <a:pt x="3" y="48"/>
                    </a:cubicBezTo>
                    <a:cubicBezTo>
                      <a:pt x="2" y="49"/>
                      <a:pt x="0" y="50"/>
                      <a:pt x="0" y="50"/>
                    </a:cubicBezTo>
                    <a:cubicBezTo>
                      <a:pt x="1" y="52"/>
                      <a:pt x="3" y="53"/>
                      <a:pt x="3" y="55"/>
                    </a:cubicBezTo>
                    <a:cubicBezTo>
                      <a:pt x="4" y="56"/>
                      <a:pt x="9" y="65"/>
                      <a:pt x="8" y="70"/>
                    </a:cubicBezTo>
                    <a:cubicBezTo>
                      <a:pt x="8" y="74"/>
                      <a:pt x="7" y="82"/>
                      <a:pt x="9" y="84"/>
                    </a:cubicBezTo>
                    <a:cubicBezTo>
                      <a:pt x="9" y="84"/>
                      <a:pt x="10" y="87"/>
                      <a:pt x="9" y="87"/>
                    </a:cubicBezTo>
                    <a:cubicBezTo>
                      <a:pt x="9" y="88"/>
                      <a:pt x="6" y="94"/>
                      <a:pt x="7" y="97"/>
                    </a:cubicBezTo>
                    <a:cubicBezTo>
                      <a:pt x="7" y="101"/>
                      <a:pt x="9" y="107"/>
                      <a:pt x="7" y="108"/>
                    </a:cubicBezTo>
                    <a:cubicBezTo>
                      <a:pt x="5" y="110"/>
                      <a:pt x="1" y="111"/>
                      <a:pt x="2" y="114"/>
                    </a:cubicBezTo>
                    <a:cubicBezTo>
                      <a:pt x="2" y="116"/>
                      <a:pt x="5" y="119"/>
                      <a:pt x="6" y="120"/>
                    </a:cubicBezTo>
                    <a:cubicBezTo>
                      <a:pt x="6" y="121"/>
                      <a:pt x="9" y="125"/>
                      <a:pt x="10" y="129"/>
                    </a:cubicBezTo>
                    <a:cubicBezTo>
                      <a:pt x="10" y="132"/>
                      <a:pt x="11" y="134"/>
                      <a:pt x="12" y="136"/>
                    </a:cubicBezTo>
                    <a:cubicBezTo>
                      <a:pt x="14" y="137"/>
                      <a:pt x="14" y="139"/>
                      <a:pt x="15" y="139"/>
                    </a:cubicBezTo>
                    <a:cubicBezTo>
                      <a:pt x="15" y="140"/>
                      <a:pt x="17" y="140"/>
                      <a:pt x="19" y="140"/>
                    </a:cubicBezTo>
                    <a:cubicBezTo>
                      <a:pt x="20" y="139"/>
                      <a:pt x="22" y="139"/>
                      <a:pt x="23" y="140"/>
                    </a:cubicBezTo>
                    <a:cubicBezTo>
                      <a:pt x="24" y="140"/>
                      <a:pt x="30" y="142"/>
                      <a:pt x="31" y="142"/>
                    </a:cubicBezTo>
                    <a:cubicBezTo>
                      <a:pt x="31" y="142"/>
                      <a:pt x="32" y="143"/>
                      <a:pt x="33" y="144"/>
                    </a:cubicBezTo>
                    <a:cubicBezTo>
                      <a:pt x="33" y="145"/>
                      <a:pt x="35" y="147"/>
                      <a:pt x="35" y="147"/>
                    </a:cubicBezTo>
                    <a:cubicBezTo>
                      <a:pt x="36" y="148"/>
                      <a:pt x="36" y="149"/>
                      <a:pt x="37" y="150"/>
                    </a:cubicBezTo>
                    <a:cubicBezTo>
                      <a:pt x="38" y="151"/>
                      <a:pt x="38" y="155"/>
                      <a:pt x="40" y="155"/>
                    </a:cubicBezTo>
                    <a:cubicBezTo>
                      <a:pt x="40" y="155"/>
                      <a:pt x="40" y="155"/>
                      <a:pt x="40" y="155"/>
                    </a:cubicBezTo>
                    <a:cubicBezTo>
                      <a:pt x="42" y="156"/>
                      <a:pt x="61" y="160"/>
                      <a:pt x="61" y="160"/>
                    </a:cubicBezTo>
                    <a:cubicBezTo>
                      <a:pt x="61" y="160"/>
                      <a:pt x="64" y="162"/>
                      <a:pt x="66" y="164"/>
                    </a:cubicBezTo>
                    <a:cubicBezTo>
                      <a:pt x="68" y="166"/>
                      <a:pt x="71" y="168"/>
                      <a:pt x="71" y="168"/>
                    </a:cubicBezTo>
                    <a:cubicBezTo>
                      <a:pt x="71" y="168"/>
                      <a:pt x="74" y="170"/>
                      <a:pt x="77" y="168"/>
                    </a:cubicBezTo>
                    <a:cubicBezTo>
                      <a:pt x="78" y="167"/>
                      <a:pt x="81" y="165"/>
                      <a:pt x="84" y="164"/>
                    </a:cubicBezTo>
                    <a:cubicBezTo>
                      <a:pt x="89" y="161"/>
                      <a:pt x="95" y="158"/>
                      <a:pt x="95" y="158"/>
                    </a:cubicBezTo>
                    <a:cubicBezTo>
                      <a:pt x="96" y="157"/>
                      <a:pt x="99" y="156"/>
                      <a:pt x="103" y="158"/>
                    </a:cubicBezTo>
                    <a:cubicBezTo>
                      <a:pt x="106" y="160"/>
                      <a:pt x="205" y="211"/>
                      <a:pt x="218" y="218"/>
                    </a:cubicBezTo>
                    <a:cubicBezTo>
                      <a:pt x="218" y="215"/>
                      <a:pt x="218" y="214"/>
                      <a:pt x="218" y="213"/>
                    </a:cubicBezTo>
                    <a:cubicBezTo>
                      <a:pt x="218" y="212"/>
                      <a:pt x="218" y="211"/>
                      <a:pt x="219" y="211"/>
                    </a:cubicBezTo>
                    <a:cubicBezTo>
                      <a:pt x="220" y="210"/>
                      <a:pt x="223" y="210"/>
                      <a:pt x="224" y="210"/>
                    </a:cubicBezTo>
                    <a:cubicBezTo>
                      <a:pt x="225" y="210"/>
                      <a:pt x="232" y="210"/>
                      <a:pt x="232" y="210"/>
                    </a:cubicBezTo>
                    <a:cubicBezTo>
                      <a:pt x="233" y="210"/>
                      <a:pt x="233" y="210"/>
                      <a:pt x="233" y="210"/>
                    </a:cubicBezTo>
                    <a:lnTo>
                      <a:pt x="233" y="179"/>
                    </a:ln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59" name="Freeform 970">
                <a:extLst>
                  <a:ext uri="{FF2B5EF4-FFF2-40B4-BE49-F238E27FC236}">
                    <a16:creationId xmlns:a16="http://schemas.microsoft.com/office/drawing/2014/main" id="{8C0112E6-79A6-4737-AF0B-2BA1A1D7F6C8}"/>
                  </a:ext>
                </a:extLst>
              </p:cNvPr>
              <p:cNvSpPr>
                <a:spLocks/>
              </p:cNvSpPr>
              <p:nvPr/>
            </p:nvSpPr>
            <p:spPr bwMode="auto">
              <a:xfrm>
                <a:off x="3507" y="2193"/>
                <a:ext cx="325" cy="250"/>
              </a:xfrm>
              <a:custGeom>
                <a:avLst/>
                <a:gdLst>
                  <a:gd name="T0" fmla="*/ 198 w 235"/>
                  <a:gd name="T1" fmla="*/ 139 h 182"/>
                  <a:gd name="T2" fmla="*/ 208 w 235"/>
                  <a:gd name="T3" fmla="*/ 123 h 182"/>
                  <a:gd name="T4" fmla="*/ 226 w 235"/>
                  <a:gd name="T5" fmla="*/ 103 h 182"/>
                  <a:gd name="T6" fmla="*/ 227 w 235"/>
                  <a:gd name="T7" fmla="*/ 101 h 182"/>
                  <a:gd name="T8" fmla="*/ 230 w 235"/>
                  <a:gd name="T9" fmla="*/ 58 h 182"/>
                  <a:gd name="T10" fmla="*/ 229 w 235"/>
                  <a:gd name="T11" fmla="*/ 45 h 182"/>
                  <a:gd name="T12" fmla="*/ 224 w 235"/>
                  <a:gd name="T13" fmla="*/ 33 h 182"/>
                  <a:gd name="T14" fmla="*/ 222 w 235"/>
                  <a:gd name="T15" fmla="*/ 20 h 182"/>
                  <a:gd name="T16" fmla="*/ 212 w 235"/>
                  <a:gd name="T17" fmla="*/ 13 h 182"/>
                  <a:gd name="T18" fmla="*/ 201 w 235"/>
                  <a:gd name="T19" fmla="*/ 9 h 182"/>
                  <a:gd name="T20" fmla="*/ 175 w 235"/>
                  <a:gd name="T21" fmla="*/ 0 h 182"/>
                  <a:gd name="T22" fmla="*/ 119 w 235"/>
                  <a:gd name="T23" fmla="*/ 34 h 182"/>
                  <a:gd name="T24" fmla="*/ 87 w 235"/>
                  <a:gd name="T25" fmla="*/ 60 h 182"/>
                  <a:gd name="T26" fmla="*/ 70 w 235"/>
                  <a:gd name="T27" fmla="*/ 66 h 182"/>
                  <a:gd name="T28" fmla="*/ 59 w 235"/>
                  <a:gd name="T29" fmla="*/ 77 h 182"/>
                  <a:gd name="T30" fmla="*/ 60 w 235"/>
                  <a:gd name="T31" fmla="*/ 96 h 182"/>
                  <a:gd name="T32" fmla="*/ 56 w 235"/>
                  <a:gd name="T33" fmla="*/ 118 h 182"/>
                  <a:gd name="T34" fmla="*/ 48 w 235"/>
                  <a:gd name="T35" fmla="*/ 126 h 182"/>
                  <a:gd name="T36" fmla="*/ 40 w 235"/>
                  <a:gd name="T37" fmla="*/ 126 h 182"/>
                  <a:gd name="T38" fmla="*/ 17 w 235"/>
                  <a:gd name="T39" fmla="*/ 127 h 182"/>
                  <a:gd name="T40" fmla="*/ 1 w 235"/>
                  <a:gd name="T41" fmla="*/ 133 h 182"/>
                  <a:gd name="T42" fmla="*/ 0 w 235"/>
                  <a:gd name="T43" fmla="*/ 140 h 182"/>
                  <a:gd name="T44" fmla="*/ 2 w 235"/>
                  <a:gd name="T45" fmla="*/ 143 h 182"/>
                  <a:gd name="T46" fmla="*/ 4 w 235"/>
                  <a:gd name="T47" fmla="*/ 148 h 182"/>
                  <a:gd name="T48" fmla="*/ 6 w 235"/>
                  <a:gd name="T49" fmla="*/ 151 h 182"/>
                  <a:gd name="T50" fmla="*/ 15 w 235"/>
                  <a:gd name="T51" fmla="*/ 156 h 182"/>
                  <a:gd name="T52" fmla="*/ 14 w 235"/>
                  <a:gd name="T53" fmla="*/ 157 h 182"/>
                  <a:gd name="T54" fmla="*/ 12 w 235"/>
                  <a:gd name="T55" fmla="*/ 157 h 182"/>
                  <a:gd name="T56" fmla="*/ 12 w 235"/>
                  <a:gd name="T57" fmla="*/ 161 h 182"/>
                  <a:gd name="T58" fmla="*/ 23 w 235"/>
                  <a:gd name="T59" fmla="*/ 167 h 182"/>
                  <a:gd name="T60" fmla="*/ 30 w 235"/>
                  <a:gd name="T61" fmla="*/ 169 h 182"/>
                  <a:gd name="T62" fmla="*/ 28 w 235"/>
                  <a:gd name="T63" fmla="*/ 171 h 182"/>
                  <a:gd name="T64" fmla="*/ 32 w 235"/>
                  <a:gd name="T65" fmla="*/ 178 h 182"/>
                  <a:gd name="T66" fmla="*/ 32 w 235"/>
                  <a:gd name="T67" fmla="*/ 174 h 182"/>
                  <a:gd name="T68" fmla="*/ 35 w 235"/>
                  <a:gd name="T69" fmla="*/ 172 h 182"/>
                  <a:gd name="T70" fmla="*/ 39 w 235"/>
                  <a:gd name="T71" fmla="*/ 171 h 182"/>
                  <a:gd name="T72" fmla="*/ 48 w 235"/>
                  <a:gd name="T73" fmla="*/ 180 h 182"/>
                  <a:gd name="T74" fmla="*/ 50 w 235"/>
                  <a:gd name="T75" fmla="*/ 180 h 182"/>
                  <a:gd name="T76" fmla="*/ 52 w 235"/>
                  <a:gd name="T77" fmla="*/ 168 h 182"/>
                  <a:gd name="T78" fmla="*/ 58 w 235"/>
                  <a:gd name="T79" fmla="*/ 158 h 182"/>
                  <a:gd name="T80" fmla="*/ 59 w 235"/>
                  <a:gd name="T81" fmla="*/ 154 h 182"/>
                  <a:gd name="T82" fmla="*/ 66 w 235"/>
                  <a:gd name="T83" fmla="*/ 151 h 182"/>
                  <a:gd name="T84" fmla="*/ 80 w 235"/>
                  <a:gd name="T85" fmla="*/ 149 h 182"/>
                  <a:gd name="T86" fmla="*/ 90 w 235"/>
                  <a:gd name="T87" fmla="*/ 152 h 182"/>
                  <a:gd name="T88" fmla="*/ 101 w 235"/>
                  <a:gd name="T89" fmla="*/ 162 h 182"/>
                  <a:gd name="T90" fmla="*/ 110 w 235"/>
                  <a:gd name="T91" fmla="*/ 158 h 182"/>
                  <a:gd name="T92" fmla="*/ 124 w 235"/>
                  <a:gd name="T93" fmla="*/ 161 h 182"/>
                  <a:gd name="T94" fmla="*/ 131 w 235"/>
                  <a:gd name="T95" fmla="*/ 164 h 182"/>
                  <a:gd name="T96" fmla="*/ 140 w 235"/>
                  <a:gd name="T97" fmla="*/ 165 h 182"/>
                  <a:gd name="T98" fmla="*/ 152 w 235"/>
                  <a:gd name="T99" fmla="*/ 157 h 182"/>
                  <a:gd name="T100" fmla="*/ 166 w 235"/>
                  <a:gd name="T101" fmla="*/ 156 h 182"/>
                  <a:gd name="T102" fmla="*/ 180 w 235"/>
                  <a:gd name="T103" fmla="*/ 161 h 182"/>
                  <a:gd name="T104" fmla="*/ 186 w 235"/>
                  <a:gd name="T105" fmla="*/ 156 h 182"/>
                  <a:gd name="T106" fmla="*/ 192 w 235"/>
                  <a:gd name="T107" fmla="*/ 152 h 182"/>
                  <a:gd name="T108" fmla="*/ 199 w 235"/>
                  <a:gd name="T109" fmla="*/ 151 h 182"/>
                  <a:gd name="T110" fmla="*/ 197 w 235"/>
                  <a:gd name="T111" fmla="*/ 14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5" h="182">
                    <a:moveTo>
                      <a:pt x="197" y="141"/>
                    </a:moveTo>
                    <a:cubicBezTo>
                      <a:pt x="197" y="139"/>
                      <a:pt x="198" y="139"/>
                      <a:pt x="198" y="139"/>
                    </a:cubicBezTo>
                    <a:cubicBezTo>
                      <a:pt x="198" y="139"/>
                      <a:pt x="199" y="139"/>
                      <a:pt x="199" y="138"/>
                    </a:cubicBezTo>
                    <a:cubicBezTo>
                      <a:pt x="199" y="138"/>
                      <a:pt x="206" y="127"/>
                      <a:pt x="208" y="123"/>
                    </a:cubicBezTo>
                    <a:cubicBezTo>
                      <a:pt x="210" y="120"/>
                      <a:pt x="219" y="111"/>
                      <a:pt x="219" y="110"/>
                    </a:cubicBezTo>
                    <a:cubicBezTo>
                      <a:pt x="220" y="110"/>
                      <a:pt x="226" y="104"/>
                      <a:pt x="226" y="103"/>
                    </a:cubicBezTo>
                    <a:cubicBezTo>
                      <a:pt x="226" y="103"/>
                      <a:pt x="227" y="102"/>
                      <a:pt x="227" y="102"/>
                    </a:cubicBezTo>
                    <a:cubicBezTo>
                      <a:pt x="227" y="102"/>
                      <a:pt x="227" y="102"/>
                      <a:pt x="227" y="101"/>
                    </a:cubicBezTo>
                    <a:cubicBezTo>
                      <a:pt x="227" y="100"/>
                      <a:pt x="228" y="81"/>
                      <a:pt x="228" y="80"/>
                    </a:cubicBezTo>
                    <a:cubicBezTo>
                      <a:pt x="228" y="78"/>
                      <a:pt x="230" y="60"/>
                      <a:pt x="230" y="58"/>
                    </a:cubicBezTo>
                    <a:cubicBezTo>
                      <a:pt x="230" y="56"/>
                      <a:pt x="232" y="53"/>
                      <a:pt x="234" y="51"/>
                    </a:cubicBezTo>
                    <a:cubicBezTo>
                      <a:pt x="235" y="49"/>
                      <a:pt x="231" y="46"/>
                      <a:pt x="229" y="45"/>
                    </a:cubicBezTo>
                    <a:cubicBezTo>
                      <a:pt x="228" y="43"/>
                      <a:pt x="228" y="41"/>
                      <a:pt x="228" y="40"/>
                    </a:cubicBezTo>
                    <a:cubicBezTo>
                      <a:pt x="228" y="39"/>
                      <a:pt x="225" y="36"/>
                      <a:pt x="224" y="33"/>
                    </a:cubicBezTo>
                    <a:cubicBezTo>
                      <a:pt x="222" y="30"/>
                      <a:pt x="222" y="24"/>
                      <a:pt x="222" y="23"/>
                    </a:cubicBezTo>
                    <a:cubicBezTo>
                      <a:pt x="222" y="22"/>
                      <a:pt x="222" y="21"/>
                      <a:pt x="222" y="20"/>
                    </a:cubicBezTo>
                    <a:cubicBezTo>
                      <a:pt x="221" y="19"/>
                      <a:pt x="220" y="12"/>
                      <a:pt x="219" y="9"/>
                    </a:cubicBezTo>
                    <a:cubicBezTo>
                      <a:pt x="216" y="10"/>
                      <a:pt x="213" y="12"/>
                      <a:pt x="212" y="13"/>
                    </a:cubicBezTo>
                    <a:cubicBezTo>
                      <a:pt x="209" y="15"/>
                      <a:pt x="206" y="13"/>
                      <a:pt x="206" y="13"/>
                    </a:cubicBezTo>
                    <a:cubicBezTo>
                      <a:pt x="206" y="13"/>
                      <a:pt x="203" y="11"/>
                      <a:pt x="201" y="9"/>
                    </a:cubicBezTo>
                    <a:cubicBezTo>
                      <a:pt x="199" y="7"/>
                      <a:pt x="196" y="5"/>
                      <a:pt x="196" y="5"/>
                    </a:cubicBezTo>
                    <a:cubicBezTo>
                      <a:pt x="196" y="5"/>
                      <a:pt x="177" y="1"/>
                      <a:pt x="175" y="0"/>
                    </a:cubicBezTo>
                    <a:cubicBezTo>
                      <a:pt x="175" y="0"/>
                      <a:pt x="175" y="0"/>
                      <a:pt x="175" y="0"/>
                    </a:cubicBezTo>
                    <a:cubicBezTo>
                      <a:pt x="167" y="5"/>
                      <a:pt x="124" y="31"/>
                      <a:pt x="119" y="34"/>
                    </a:cubicBezTo>
                    <a:cubicBezTo>
                      <a:pt x="113" y="37"/>
                      <a:pt x="106" y="43"/>
                      <a:pt x="102" y="46"/>
                    </a:cubicBezTo>
                    <a:cubicBezTo>
                      <a:pt x="98" y="50"/>
                      <a:pt x="89" y="58"/>
                      <a:pt x="87" y="60"/>
                    </a:cubicBezTo>
                    <a:cubicBezTo>
                      <a:pt x="84" y="63"/>
                      <a:pt x="81" y="64"/>
                      <a:pt x="79" y="65"/>
                    </a:cubicBezTo>
                    <a:cubicBezTo>
                      <a:pt x="77" y="65"/>
                      <a:pt x="70" y="66"/>
                      <a:pt x="70" y="66"/>
                    </a:cubicBezTo>
                    <a:cubicBezTo>
                      <a:pt x="70" y="66"/>
                      <a:pt x="64" y="67"/>
                      <a:pt x="59" y="69"/>
                    </a:cubicBezTo>
                    <a:cubicBezTo>
                      <a:pt x="59" y="71"/>
                      <a:pt x="60" y="75"/>
                      <a:pt x="59" y="77"/>
                    </a:cubicBezTo>
                    <a:cubicBezTo>
                      <a:pt x="59" y="78"/>
                      <a:pt x="60" y="88"/>
                      <a:pt x="60" y="89"/>
                    </a:cubicBezTo>
                    <a:cubicBezTo>
                      <a:pt x="60" y="91"/>
                      <a:pt x="60" y="95"/>
                      <a:pt x="60" y="96"/>
                    </a:cubicBezTo>
                    <a:cubicBezTo>
                      <a:pt x="60" y="98"/>
                      <a:pt x="60" y="102"/>
                      <a:pt x="59" y="107"/>
                    </a:cubicBezTo>
                    <a:cubicBezTo>
                      <a:pt x="59" y="111"/>
                      <a:pt x="57" y="115"/>
                      <a:pt x="56" y="118"/>
                    </a:cubicBezTo>
                    <a:cubicBezTo>
                      <a:pt x="54" y="121"/>
                      <a:pt x="55" y="120"/>
                      <a:pt x="53" y="122"/>
                    </a:cubicBezTo>
                    <a:cubicBezTo>
                      <a:pt x="52" y="124"/>
                      <a:pt x="49" y="126"/>
                      <a:pt x="48" y="126"/>
                    </a:cubicBezTo>
                    <a:cubicBezTo>
                      <a:pt x="47" y="126"/>
                      <a:pt x="45" y="126"/>
                      <a:pt x="44" y="126"/>
                    </a:cubicBezTo>
                    <a:cubicBezTo>
                      <a:pt x="43" y="126"/>
                      <a:pt x="41" y="126"/>
                      <a:pt x="40" y="126"/>
                    </a:cubicBezTo>
                    <a:cubicBezTo>
                      <a:pt x="40" y="126"/>
                      <a:pt x="32" y="127"/>
                      <a:pt x="31" y="127"/>
                    </a:cubicBezTo>
                    <a:cubicBezTo>
                      <a:pt x="30" y="127"/>
                      <a:pt x="20" y="127"/>
                      <a:pt x="17" y="127"/>
                    </a:cubicBezTo>
                    <a:cubicBezTo>
                      <a:pt x="15" y="128"/>
                      <a:pt x="5" y="131"/>
                      <a:pt x="5" y="131"/>
                    </a:cubicBezTo>
                    <a:cubicBezTo>
                      <a:pt x="5" y="131"/>
                      <a:pt x="2" y="132"/>
                      <a:pt x="1" y="133"/>
                    </a:cubicBezTo>
                    <a:cubicBezTo>
                      <a:pt x="0" y="133"/>
                      <a:pt x="0" y="133"/>
                      <a:pt x="0" y="133"/>
                    </a:cubicBezTo>
                    <a:cubicBezTo>
                      <a:pt x="0" y="140"/>
                      <a:pt x="0" y="140"/>
                      <a:pt x="0" y="140"/>
                    </a:cubicBezTo>
                    <a:cubicBezTo>
                      <a:pt x="0" y="140"/>
                      <a:pt x="0" y="140"/>
                      <a:pt x="1" y="141"/>
                    </a:cubicBezTo>
                    <a:cubicBezTo>
                      <a:pt x="1" y="141"/>
                      <a:pt x="2" y="143"/>
                      <a:pt x="2" y="143"/>
                    </a:cubicBezTo>
                    <a:cubicBezTo>
                      <a:pt x="2" y="143"/>
                      <a:pt x="3" y="144"/>
                      <a:pt x="3" y="144"/>
                    </a:cubicBezTo>
                    <a:cubicBezTo>
                      <a:pt x="3" y="145"/>
                      <a:pt x="4" y="148"/>
                      <a:pt x="4" y="148"/>
                    </a:cubicBezTo>
                    <a:cubicBezTo>
                      <a:pt x="4" y="149"/>
                      <a:pt x="5" y="150"/>
                      <a:pt x="5" y="150"/>
                    </a:cubicBezTo>
                    <a:cubicBezTo>
                      <a:pt x="5" y="151"/>
                      <a:pt x="5" y="151"/>
                      <a:pt x="6" y="151"/>
                    </a:cubicBezTo>
                    <a:cubicBezTo>
                      <a:pt x="6" y="152"/>
                      <a:pt x="10" y="152"/>
                      <a:pt x="10" y="153"/>
                    </a:cubicBezTo>
                    <a:cubicBezTo>
                      <a:pt x="11" y="153"/>
                      <a:pt x="15" y="156"/>
                      <a:pt x="15" y="156"/>
                    </a:cubicBezTo>
                    <a:cubicBezTo>
                      <a:pt x="15" y="156"/>
                      <a:pt x="16" y="157"/>
                      <a:pt x="15" y="157"/>
                    </a:cubicBezTo>
                    <a:cubicBezTo>
                      <a:pt x="15" y="157"/>
                      <a:pt x="14" y="157"/>
                      <a:pt x="14" y="157"/>
                    </a:cubicBezTo>
                    <a:cubicBezTo>
                      <a:pt x="14" y="157"/>
                      <a:pt x="14" y="157"/>
                      <a:pt x="13" y="157"/>
                    </a:cubicBezTo>
                    <a:cubicBezTo>
                      <a:pt x="13" y="157"/>
                      <a:pt x="12" y="157"/>
                      <a:pt x="12" y="157"/>
                    </a:cubicBezTo>
                    <a:cubicBezTo>
                      <a:pt x="12" y="158"/>
                      <a:pt x="11" y="159"/>
                      <a:pt x="11" y="160"/>
                    </a:cubicBezTo>
                    <a:cubicBezTo>
                      <a:pt x="11" y="160"/>
                      <a:pt x="11" y="161"/>
                      <a:pt x="12" y="161"/>
                    </a:cubicBezTo>
                    <a:cubicBezTo>
                      <a:pt x="12" y="162"/>
                      <a:pt x="20" y="166"/>
                      <a:pt x="22" y="167"/>
                    </a:cubicBezTo>
                    <a:cubicBezTo>
                      <a:pt x="22" y="167"/>
                      <a:pt x="22" y="168"/>
                      <a:pt x="23" y="167"/>
                    </a:cubicBezTo>
                    <a:cubicBezTo>
                      <a:pt x="24" y="167"/>
                      <a:pt x="27" y="167"/>
                      <a:pt x="28" y="167"/>
                    </a:cubicBezTo>
                    <a:cubicBezTo>
                      <a:pt x="29" y="167"/>
                      <a:pt x="30" y="168"/>
                      <a:pt x="30" y="169"/>
                    </a:cubicBezTo>
                    <a:cubicBezTo>
                      <a:pt x="30" y="170"/>
                      <a:pt x="30" y="171"/>
                      <a:pt x="29" y="171"/>
                    </a:cubicBezTo>
                    <a:cubicBezTo>
                      <a:pt x="28" y="171"/>
                      <a:pt x="28" y="171"/>
                      <a:pt x="28" y="171"/>
                    </a:cubicBezTo>
                    <a:cubicBezTo>
                      <a:pt x="27" y="171"/>
                      <a:pt x="27" y="172"/>
                      <a:pt x="27" y="172"/>
                    </a:cubicBezTo>
                    <a:cubicBezTo>
                      <a:pt x="28" y="172"/>
                      <a:pt x="30" y="176"/>
                      <a:pt x="32" y="178"/>
                    </a:cubicBezTo>
                    <a:cubicBezTo>
                      <a:pt x="32" y="178"/>
                      <a:pt x="32" y="178"/>
                      <a:pt x="32" y="178"/>
                    </a:cubicBezTo>
                    <a:cubicBezTo>
                      <a:pt x="32" y="177"/>
                      <a:pt x="32" y="175"/>
                      <a:pt x="32" y="174"/>
                    </a:cubicBezTo>
                    <a:cubicBezTo>
                      <a:pt x="32" y="173"/>
                      <a:pt x="32" y="173"/>
                      <a:pt x="33" y="173"/>
                    </a:cubicBezTo>
                    <a:cubicBezTo>
                      <a:pt x="34" y="173"/>
                      <a:pt x="35" y="173"/>
                      <a:pt x="35" y="172"/>
                    </a:cubicBezTo>
                    <a:cubicBezTo>
                      <a:pt x="36" y="172"/>
                      <a:pt x="38" y="172"/>
                      <a:pt x="38" y="171"/>
                    </a:cubicBezTo>
                    <a:cubicBezTo>
                      <a:pt x="39" y="171"/>
                      <a:pt x="39" y="171"/>
                      <a:pt x="39" y="171"/>
                    </a:cubicBezTo>
                    <a:cubicBezTo>
                      <a:pt x="39" y="172"/>
                      <a:pt x="45" y="178"/>
                      <a:pt x="45" y="178"/>
                    </a:cubicBezTo>
                    <a:cubicBezTo>
                      <a:pt x="46" y="179"/>
                      <a:pt x="47" y="180"/>
                      <a:pt x="48" y="180"/>
                    </a:cubicBezTo>
                    <a:cubicBezTo>
                      <a:pt x="48" y="180"/>
                      <a:pt x="49" y="181"/>
                      <a:pt x="50" y="182"/>
                    </a:cubicBezTo>
                    <a:cubicBezTo>
                      <a:pt x="50" y="181"/>
                      <a:pt x="50" y="181"/>
                      <a:pt x="50" y="180"/>
                    </a:cubicBezTo>
                    <a:cubicBezTo>
                      <a:pt x="50" y="179"/>
                      <a:pt x="51" y="173"/>
                      <a:pt x="51" y="172"/>
                    </a:cubicBezTo>
                    <a:cubicBezTo>
                      <a:pt x="51" y="170"/>
                      <a:pt x="51" y="169"/>
                      <a:pt x="52" y="168"/>
                    </a:cubicBezTo>
                    <a:cubicBezTo>
                      <a:pt x="53" y="168"/>
                      <a:pt x="54" y="167"/>
                      <a:pt x="54" y="166"/>
                    </a:cubicBezTo>
                    <a:cubicBezTo>
                      <a:pt x="54" y="165"/>
                      <a:pt x="58" y="159"/>
                      <a:pt x="58" y="158"/>
                    </a:cubicBezTo>
                    <a:cubicBezTo>
                      <a:pt x="58" y="158"/>
                      <a:pt x="58" y="158"/>
                      <a:pt x="58" y="157"/>
                    </a:cubicBezTo>
                    <a:cubicBezTo>
                      <a:pt x="58" y="157"/>
                      <a:pt x="58" y="155"/>
                      <a:pt x="59" y="154"/>
                    </a:cubicBezTo>
                    <a:cubicBezTo>
                      <a:pt x="61" y="153"/>
                      <a:pt x="65" y="152"/>
                      <a:pt x="65" y="151"/>
                    </a:cubicBezTo>
                    <a:cubicBezTo>
                      <a:pt x="65" y="151"/>
                      <a:pt x="65" y="151"/>
                      <a:pt x="66" y="151"/>
                    </a:cubicBezTo>
                    <a:cubicBezTo>
                      <a:pt x="66" y="151"/>
                      <a:pt x="75" y="149"/>
                      <a:pt x="75" y="149"/>
                    </a:cubicBezTo>
                    <a:cubicBezTo>
                      <a:pt x="76" y="149"/>
                      <a:pt x="79" y="149"/>
                      <a:pt x="80" y="149"/>
                    </a:cubicBezTo>
                    <a:cubicBezTo>
                      <a:pt x="81" y="149"/>
                      <a:pt x="84" y="150"/>
                      <a:pt x="86" y="151"/>
                    </a:cubicBezTo>
                    <a:cubicBezTo>
                      <a:pt x="87" y="151"/>
                      <a:pt x="90" y="151"/>
                      <a:pt x="90" y="152"/>
                    </a:cubicBezTo>
                    <a:cubicBezTo>
                      <a:pt x="91" y="152"/>
                      <a:pt x="94" y="155"/>
                      <a:pt x="94" y="155"/>
                    </a:cubicBezTo>
                    <a:cubicBezTo>
                      <a:pt x="95" y="156"/>
                      <a:pt x="101" y="162"/>
                      <a:pt x="101" y="162"/>
                    </a:cubicBezTo>
                    <a:cubicBezTo>
                      <a:pt x="101" y="162"/>
                      <a:pt x="101" y="162"/>
                      <a:pt x="102" y="162"/>
                    </a:cubicBezTo>
                    <a:cubicBezTo>
                      <a:pt x="102" y="161"/>
                      <a:pt x="109" y="158"/>
                      <a:pt x="110" y="158"/>
                    </a:cubicBezTo>
                    <a:cubicBezTo>
                      <a:pt x="111" y="157"/>
                      <a:pt x="115" y="156"/>
                      <a:pt x="119" y="158"/>
                    </a:cubicBezTo>
                    <a:cubicBezTo>
                      <a:pt x="122" y="160"/>
                      <a:pt x="123" y="161"/>
                      <a:pt x="124" y="161"/>
                    </a:cubicBezTo>
                    <a:cubicBezTo>
                      <a:pt x="125" y="161"/>
                      <a:pt x="130" y="164"/>
                      <a:pt x="130" y="164"/>
                    </a:cubicBezTo>
                    <a:cubicBezTo>
                      <a:pt x="130" y="164"/>
                      <a:pt x="131" y="164"/>
                      <a:pt x="131" y="164"/>
                    </a:cubicBezTo>
                    <a:cubicBezTo>
                      <a:pt x="131" y="164"/>
                      <a:pt x="139" y="165"/>
                      <a:pt x="139" y="165"/>
                    </a:cubicBezTo>
                    <a:cubicBezTo>
                      <a:pt x="139" y="165"/>
                      <a:pt x="140" y="165"/>
                      <a:pt x="140" y="165"/>
                    </a:cubicBezTo>
                    <a:cubicBezTo>
                      <a:pt x="140" y="164"/>
                      <a:pt x="144" y="159"/>
                      <a:pt x="146" y="159"/>
                    </a:cubicBezTo>
                    <a:cubicBezTo>
                      <a:pt x="147" y="158"/>
                      <a:pt x="150" y="157"/>
                      <a:pt x="152" y="157"/>
                    </a:cubicBezTo>
                    <a:cubicBezTo>
                      <a:pt x="154" y="156"/>
                      <a:pt x="155" y="156"/>
                      <a:pt x="155" y="156"/>
                    </a:cubicBezTo>
                    <a:cubicBezTo>
                      <a:pt x="156" y="156"/>
                      <a:pt x="164" y="156"/>
                      <a:pt x="166" y="156"/>
                    </a:cubicBezTo>
                    <a:cubicBezTo>
                      <a:pt x="168" y="156"/>
                      <a:pt x="174" y="158"/>
                      <a:pt x="176" y="159"/>
                    </a:cubicBezTo>
                    <a:cubicBezTo>
                      <a:pt x="179" y="160"/>
                      <a:pt x="180" y="161"/>
                      <a:pt x="180" y="161"/>
                    </a:cubicBezTo>
                    <a:cubicBezTo>
                      <a:pt x="180" y="161"/>
                      <a:pt x="181" y="161"/>
                      <a:pt x="181" y="160"/>
                    </a:cubicBezTo>
                    <a:cubicBezTo>
                      <a:pt x="181" y="160"/>
                      <a:pt x="186" y="156"/>
                      <a:pt x="186" y="156"/>
                    </a:cubicBezTo>
                    <a:cubicBezTo>
                      <a:pt x="186" y="156"/>
                      <a:pt x="187" y="155"/>
                      <a:pt x="189" y="154"/>
                    </a:cubicBezTo>
                    <a:cubicBezTo>
                      <a:pt x="190" y="154"/>
                      <a:pt x="192" y="153"/>
                      <a:pt x="192" y="152"/>
                    </a:cubicBezTo>
                    <a:cubicBezTo>
                      <a:pt x="193" y="152"/>
                      <a:pt x="196" y="151"/>
                      <a:pt x="196" y="151"/>
                    </a:cubicBezTo>
                    <a:cubicBezTo>
                      <a:pt x="197" y="151"/>
                      <a:pt x="198" y="151"/>
                      <a:pt x="199" y="151"/>
                    </a:cubicBezTo>
                    <a:cubicBezTo>
                      <a:pt x="198" y="150"/>
                      <a:pt x="198" y="149"/>
                      <a:pt x="198" y="148"/>
                    </a:cubicBezTo>
                    <a:cubicBezTo>
                      <a:pt x="198" y="147"/>
                      <a:pt x="197" y="142"/>
                      <a:pt x="197" y="14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60" name="Freeform 971">
                <a:extLst>
                  <a:ext uri="{FF2B5EF4-FFF2-40B4-BE49-F238E27FC236}">
                    <a16:creationId xmlns:a16="http://schemas.microsoft.com/office/drawing/2014/main" id="{F3C7740F-D827-4B5B-A3D2-D8A5E38D7845}"/>
                  </a:ext>
                </a:extLst>
              </p:cNvPr>
              <p:cNvSpPr>
                <a:spLocks/>
              </p:cNvSpPr>
              <p:nvPr/>
            </p:nvSpPr>
            <p:spPr bwMode="auto">
              <a:xfrm>
                <a:off x="3390" y="2372"/>
                <a:ext cx="162" cy="119"/>
              </a:xfrm>
              <a:custGeom>
                <a:avLst/>
                <a:gdLst>
                  <a:gd name="T0" fmla="*/ 89 w 117"/>
                  <a:gd name="T1" fmla="*/ 62 h 87"/>
                  <a:gd name="T2" fmla="*/ 96 w 117"/>
                  <a:gd name="T3" fmla="*/ 62 h 87"/>
                  <a:gd name="T4" fmla="*/ 98 w 117"/>
                  <a:gd name="T5" fmla="*/ 61 h 87"/>
                  <a:gd name="T6" fmla="*/ 102 w 117"/>
                  <a:gd name="T7" fmla="*/ 56 h 87"/>
                  <a:gd name="T8" fmla="*/ 111 w 117"/>
                  <a:gd name="T9" fmla="*/ 56 h 87"/>
                  <a:gd name="T10" fmla="*/ 115 w 117"/>
                  <a:gd name="T11" fmla="*/ 52 h 87"/>
                  <a:gd name="T12" fmla="*/ 117 w 117"/>
                  <a:gd name="T13" fmla="*/ 48 h 87"/>
                  <a:gd name="T14" fmla="*/ 113 w 117"/>
                  <a:gd name="T15" fmla="*/ 41 h 87"/>
                  <a:gd name="T16" fmla="*/ 115 w 117"/>
                  <a:gd name="T17" fmla="*/ 39 h 87"/>
                  <a:gd name="T18" fmla="*/ 108 w 117"/>
                  <a:gd name="T19" fmla="*/ 37 h 87"/>
                  <a:gd name="T20" fmla="*/ 97 w 117"/>
                  <a:gd name="T21" fmla="*/ 31 h 87"/>
                  <a:gd name="T22" fmla="*/ 97 w 117"/>
                  <a:gd name="T23" fmla="*/ 27 h 87"/>
                  <a:gd name="T24" fmla="*/ 99 w 117"/>
                  <a:gd name="T25" fmla="*/ 27 h 87"/>
                  <a:gd name="T26" fmla="*/ 100 w 117"/>
                  <a:gd name="T27" fmla="*/ 26 h 87"/>
                  <a:gd name="T28" fmla="*/ 91 w 117"/>
                  <a:gd name="T29" fmla="*/ 21 h 87"/>
                  <a:gd name="T30" fmla="*/ 89 w 117"/>
                  <a:gd name="T31" fmla="*/ 18 h 87"/>
                  <a:gd name="T32" fmla="*/ 87 w 117"/>
                  <a:gd name="T33" fmla="*/ 13 h 87"/>
                  <a:gd name="T34" fmla="*/ 85 w 117"/>
                  <a:gd name="T35" fmla="*/ 10 h 87"/>
                  <a:gd name="T36" fmla="*/ 84 w 117"/>
                  <a:gd name="T37" fmla="*/ 3 h 87"/>
                  <a:gd name="T38" fmla="*/ 75 w 117"/>
                  <a:gd name="T39" fmla="*/ 0 h 87"/>
                  <a:gd name="T40" fmla="*/ 70 w 117"/>
                  <a:gd name="T41" fmla="*/ 1 h 87"/>
                  <a:gd name="T42" fmla="*/ 56 w 117"/>
                  <a:gd name="T43" fmla="*/ 9 h 87"/>
                  <a:gd name="T44" fmla="*/ 52 w 117"/>
                  <a:gd name="T45" fmla="*/ 12 h 87"/>
                  <a:gd name="T46" fmla="*/ 49 w 117"/>
                  <a:gd name="T47" fmla="*/ 14 h 87"/>
                  <a:gd name="T48" fmla="*/ 43 w 117"/>
                  <a:gd name="T49" fmla="*/ 14 h 87"/>
                  <a:gd name="T50" fmla="*/ 38 w 117"/>
                  <a:gd name="T51" fmla="*/ 22 h 87"/>
                  <a:gd name="T52" fmla="*/ 34 w 117"/>
                  <a:gd name="T53" fmla="*/ 21 h 87"/>
                  <a:gd name="T54" fmla="*/ 34 w 117"/>
                  <a:gd name="T55" fmla="*/ 27 h 87"/>
                  <a:gd name="T56" fmla="*/ 31 w 117"/>
                  <a:gd name="T57" fmla="*/ 29 h 87"/>
                  <a:gd name="T58" fmla="*/ 25 w 117"/>
                  <a:gd name="T59" fmla="*/ 27 h 87"/>
                  <a:gd name="T60" fmla="*/ 22 w 117"/>
                  <a:gd name="T61" fmla="*/ 25 h 87"/>
                  <a:gd name="T62" fmla="*/ 18 w 117"/>
                  <a:gd name="T63" fmla="*/ 31 h 87"/>
                  <a:gd name="T64" fmla="*/ 19 w 117"/>
                  <a:gd name="T65" fmla="*/ 33 h 87"/>
                  <a:gd name="T66" fmla="*/ 19 w 117"/>
                  <a:gd name="T67" fmla="*/ 36 h 87"/>
                  <a:gd name="T68" fmla="*/ 15 w 117"/>
                  <a:gd name="T69" fmla="*/ 37 h 87"/>
                  <a:gd name="T70" fmla="*/ 16 w 117"/>
                  <a:gd name="T71" fmla="*/ 43 h 87"/>
                  <a:gd name="T72" fmla="*/ 11 w 117"/>
                  <a:gd name="T73" fmla="*/ 47 h 87"/>
                  <a:gd name="T74" fmla="*/ 4 w 117"/>
                  <a:gd name="T75" fmla="*/ 49 h 87"/>
                  <a:gd name="T76" fmla="*/ 3 w 117"/>
                  <a:gd name="T77" fmla="*/ 51 h 87"/>
                  <a:gd name="T78" fmla="*/ 4 w 117"/>
                  <a:gd name="T79" fmla="*/ 55 h 87"/>
                  <a:gd name="T80" fmla="*/ 0 w 117"/>
                  <a:gd name="T81" fmla="*/ 61 h 87"/>
                  <a:gd name="T82" fmla="*/ 1 w 117"/>
                  <a:gd name="T83" fmla="*/ 66 h 87"/>
                  <a:gd name="T84" fmla="*/ 0 w 117"/>
                  <a:gd name="T85" fmla="*/ 71 h 87"/>
                  <a:gd name="T86" fmla="*/ 4 w 117"/>
                  <a:gd name="T87" fmla="*/ 72 h 87"/>
                  <a:gd name="T88" fmla="*/ 7 w 117"/>
                  <a:gd name="T89" fmla="*/ 75 h 87"/>
                  <a:gd name="T90" fmla="*/ 14 w 117"/>
                  <a:gd name="T91" fmla="*/ 81 h 87"/>
                  <a:gd name="T92" fmla="*/ 18 w 117"/>
                  <a:gd name="T93" fmla="*/ 83 h 87"/>
                  <a:gd name="T94" fmla="*/ 20 w 117"/>
                  <a:gd name="T95" fmla="*/ 80 h 87"/>
                  <a:gd name="T96" fmla="*/ 29 w 117"/>
                  <a:gd name="T97" fmla="*/ 78 h 87"/>
                  <a:gd name="T98" fmla="*/ 34 w 117"/>
                  <a:gd name="T99" fmla="*/ 79 h 87"/>
                  <a:gd name="T100" fmla="*/ 37 w 117"/>
                  <a:gd name="T101" fmla="*/ 82 h 87"/>
                  <a:gd name="T102" fmla="*/ 41 w 117"/>
                  <a:gd name="T103" fmla="*/ 86 h 87"/>
                  <a:gd name="T104" fmla="*/ 42 w 117"/>
                  <a:gd name="T105" fmla="*/ 84 h 87"/>
                  <a:gd name="T106" fmla="*/ 40 w 117"/>
                  <a:gd name="T107" fmla="*/ 80 h 87"/>
                  <a:gd name="T108" fmla="*/ 39 w 117"/>
                  <a:gd name="T109" fmla="*/ 70 h 87"/>
                  <a:gd name="T110" fmla="*/ 38 w 117"/>
                  <a:gd name="T111" fmla="*/ 66 h 87"/>
                  <a:gd name="T112" fmla="*/ 40 w 117"/>
                  <a:gd name="T113" fmla="*/ 62 h 87"/>
                  <a:gd name="T114" fmla="*/ 57 w 117"/>
                  <a:gd name="T115" fmla="*/ 62 h 87"/>
                  <a:gd name="T116" fmla="*/ 69 w 117"/>
                  <a:gd name="T117" fmla="*/ 62 h 87"/>
                  <a:gd name="T118" fmla="*/ 75 w 117"/>
                  <a:gd name="T119" fmla="*/ 62 h 87"/>
                  <a:gd name="T120" fmla="*/ 80 w 117"/>
                  <a:gd name="T121" fmla="*/ 6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7" h="87">
                    <a:moveTo>
                      <a:pt x="82" y="61"/>
                    </a:moveTo>
                    <a:cubicBezTo>
                      <a:pt x="84" y="61"/>
                      <a:pt x="88" y="62"/>
                      <a:pt x="89" y="62"/>
                    </a:cubicBezTo>
                    <a:cubicBezTo>
                      <a:pt x="89" y="62"/>
                      <a:pt x="93" y="62"/>
                      <a:pt x="95" y="62"/>
                    </a:cubicBezTo>
                    <a:cubicBezTo>
                      <a:pt x="95" y="62"/>
                      <a:pt x="96" y="62"/>
                      <a:pt x="96" y="62"/>
                    </a:cubicBezTo>
                    <a:cubicBezTo>
                      <a:pt x="97" y="62"/>
                      <a:pt x="98" y="61"/>
                      <a:pt x="98" y="61"/>
                    </a:cubicBezTo>
                    <a:cubicBezTo>
                      <a:pt x="98" y="61"/>
                      <a:pt x="98" y="61"/>
                      <a:pt x="98" y="61"/>
                    </a:cubicBezTo>
                    <a:cubicBezTo>
                      <a:pt x="98" y="60"/>
                      <a:pt x="97" y="60"/>
                      <a:pt x="98" y="59"/>
                    </a:cubicBezTo>
                    <a:cubicBezTo>
                      <a:pt x="99" y="59"/>
                      <a:pt x="102" y="56"/>
                      <a:pt x="102" y="56"/>
                    </a:cubicBezTo>
                    <a:cubicBezTo>
                      <a:pt x="103" y="55"/>
                      <a:pt x="103" y="55"/>
                      <a:pt x="104" y="55"/>
                    </a:cubicBezTo>
                    <a:cubicBezTo>
                      <a:pt x="104" y="55"/>
                      <a:pt x="111" y="56"/>
                      <a:pt x="111" y="56"/>
                    </a:cubicBezTo>
                    <a:cubicBezTo>
                      <a:pt x="111" y="56"/>
                      <a:pt x="112" y="56"/>
                      <a:pt x="112" y="55"/>
                    </a:cubicBezTo>
                    <a:cubicBezTo>
                      <a:pt x="112" y="55"/>
                      <a:pt x="115" y="53"/>
                      <a:pt x="115" y="52"/>
                    </a:cubicBezTo>
                    <a:cubicBezTo>
                      <a:pt x="116" y="52"/>
                      <a:pt x="116" y="52"/>
                      <a:pt x="116" y="51"/>
                    </a:cubicBezTo>
                    <a:cubicBezTo>
                      <a:pt x="116" y="51"/>
                      <a:pt x="117" y="49"/>
                      <a:pt x="117" y="48"/>
                    </a:cubicBezTo>
                    <a:cubicBezTo>
                      <a:pt x="115" y="46"/>
                      <a:pt x="113" y="42"/>
                      <a:pt x="112" y="42"/>
                    </a:cubicBezTo>
                    <a:cubicBezTo>
                      <a:pt x="112" y="42"/>
                      <a:pt x="112" y="41"/>
                      <a:pt x="113" y="41"/>
                    </a:cubicBezTo>
                    <a:cubicBezTo>
                      <a:pt x="113" y="41"/>
                      <a:pt x="113" y="41"/>
                      <a:pt x="114" y="41"/>
                    </a:cubicBezTo>
                    <a:cubicBezTo>
                      <a:pt x="115" y="41"/>
                      <a:pt x="115" y="40"/>
                      <a:pt x="115" y="39"/>
                    </a:cubicBezTo>
                    <a:cubicBezTo>
                      <a:pt x="115" y="38"/>
                      <a:pt x="114" y="37"/>
                      <a:pt x="113" y="37"/>
                    </a:cubicBezTo>
                    <a:cubicBezTo>
                      <a:pt x="112" y="37"/>
                      <a:pt x="109" y="37"/>
                      <a:pt x="108" y="37"/>
                    </a:cubicBezTo>
                    <a:cubicBezTo>
                      <a:pt x="107" y="38"/>
                      <a:pt x="107" y="37"/>
                      <a:pt x="107" y="37"/>
                    </a:cubicBezTo>
                    <a:cubicBezTo>
                      <a:pt x="105" y="36"/>
                      <a:pt x="97" y="32"/>
                      <a:pt x="97" y="31"/>
                    </a:cubicBezTo>
                    <a:cubicBezTo>
                      <a:pt x="96" y="31"/>
                      <a:pt x="96" y="30"/>
                      <a:pt x="96" y="30"/>
                    </a:cubicBezTo>
                    <a:cubicBezTo>
                      <a:pt x="96" y="29"/>
                      <a:pt x="97" y="28"/>
                      <a:pt x="97" y="27"/>
                    </a:cubicBezTo>
                    <a:cubicBezTo>
                      <a:pt x="97" y="27"/>
                      <a:pt x="98" y="27"/>
                      <a:pt x="98" y="27"/>
                    </a:cubicBezTo>
                    <a:cubicBezTo>
                      <a:pt x="99" y="27"/>
                      <a:pt x="99" y="27"/>
                      <a:pt x="99" y="27"/>
                    </a:cubicBezTo>
                    <a:cubicBezTo>
                      <a:pt x="99" y="27"/>
                      <a:pt x="100" y="27"/>
                      <a:pt x="100" y="27"/>
                    </a:cubicBezTo>
                    <a:cubicBezTo>
                      <a:pt x="101" y="27"/>
                      <a:pt x="100" y="26"/>
                      <a:pt x="100" y="26"/>
                    </a:cubicBezTo>
                    <a:cubicBezTo>
                      <a:pt x="100" y="26"/>
                      <a:pt x="96" y="23"/>
                      <a:pt x="95" y="23"/>
                    </a:cubicBezTo>
                    <a:cubicBezTo>
                      <a:pt x="95" y="22"/>
                      <a:pt x="91" y="22"/>
                      <a:pt x="91" y="21"/>
                    </a:cubicBezTo>
                    <a:cubicBezTo>
                      <a:pt x="90" y="21"/>
                      <a:pt x="90" y="21"/>
                      <a:pt x="90" y="20"/>
                    </a:cubicBezTo>
                    <a:cubicBezTo>
                      <a:pt x="90" y="20"/>
                      <a:pt x="89" y="19"/>
                      <a:pt x="89" y="18"/>
                    </a:cubicBezTo>
                    <a:cubicBezTo>
                      <a:pt x="89" y="18"/>
                      <a:pt x="88" y="15"/>
                      <a:pt x="88" y="14"/>
                    </a:cubicBezTo>
                    <a:cubicBezTo>
                      <a:pt x="88" y="14"/>
                      <a:pt x="87" y="13"/>
                      <a:pt x="87" y="13"/>
                    </a:cubicBezTo>
                    <a:cubicBezTo>
                      <a:pt x="87" y="13"/>
                      <a:pt x="86" y="11"/>
                      <a:pt x="86" y="11"/>
                    </a:cubicBezTo>
                    <a:cubicBezTo>
                      <a:pt x="85" y="10"/>
                      <a:pt x="85" y="10"/>
                      <a:pt x="85" y="10"/>
                    </a:cubicBezTo>
                    <a:cubicBezTo>
                      <a:pt x="85" y="3"/>
                      <a:pt x="85" y="3"/>
                      <a:pt x="85" y="3"/>
                    </a:cubicBezTo>
                    <a:cubicBezTo>
                      <a:pt x="85" y="3"/>
                      <a:pt x="84" y="3"/>
                      <a:pt x="84" y="3"/>
                    </a:cubicBezTo>
                    <a:cubicBezTo>
                      <a:pt x="84" y="3"/>
                      <a:pt x="80" y="2"/>
                      <a:pt x="79" y="1"/>
                    </a:cubicBezTo>
                    <a:cubicBezTo>
                      <a:pt x="79" y="1"/>
                      <a:pt x="75" y="0"/>
                      <a:pt x="75" y="0"/>
                    </a:cubicBezTo>
                    <a:cubicBezTo>
                      <a:pt x="74" y="0"/>
                      <a:pt x="72" y="0"/>
                      <a:pt x="71" y="0"/>
                    </a:cubicBezTo>
                    <a:cubicBezTo>
                      <a:pt x="71" y="0"/>
                      <a:pt x="70" y="1"/>
                      <a:pt x="70" y="1"/>
                    </a:cubicBezTo>
                    <a:cubicBezTo>
                      <a:pt x="70" y="1"/>
                      <a:pt x="67" y="4"/>
                      <a:pt x="66" y="4"/>
                    </a:cubicBezTo>
                    <a:cubicBezTo>
                      <a:pt x="66" y="5"/>
                      <a:pt x="57" y="9"/>
                      <a:pt x="56" y="9"/>
                    </a:cubicBezTo>
                    <a:cubicBezTo>
                      <a:pt x="56" y="10"/>
                      <a:pt x="54" y="10"/>
                      <a:pt x="53" y="10"/>
                    </a:cubicBezTo>
                    <a:cubicBezTo>
                      <a:pt x="52" y="10"/>
                      <a:pt x="52" y="12"/>
                      <a:pt x="52" y="12"/>
                    </a:cubicBezTo>
                    <a:cubicBezTo>
                      <a:pt x="52" y="13"/>
                      <a:pt x="51" y="14"/>
                      <a:pt x="51" y="14"/>
                    </a:cubicBezTo>
                    <a:cubicBezTo>
                      <a:pt x="50" y="15"/>
                      <a:pt x="50" y="14"/>
                      <a:pt x="49" y="14"/>
                    </a:cubicBezTo>
                    <a:cubicBezTo>
                      <a:pt x="49" y="14"/>
                      <a:pt x="49" y="13"/>
                      <a:pt x="47" y="13"/>
                    </a:cubicBezTo>
                    <a:cubicBezTo>
                      <a:pt x="46" y="13"/>
                      <a:pt x="44" y="14"/>
                      <a:pt x="43" y="14"/>
                    </a:cubicBezTo>
                    <a:cubicBezTo>
                      <a:pt x="42" y="15"/>
                      <a:pt x="39" y="19"/>
                      <a:pt x="39" y="19"/>
                    </a:cubicBezTo>
                    <a:cubicBezTo>
                      <a:pt x="39" y="20"/>
                      <a:pt x="38" y="21"/>
                      <a:pt x="38" y="22"/>
                    </a:cubicBezTo>
                    <a:cubicBezTo>
                      <a:pt x="38" y="22"/>
                      <a:pt x="37" y="22"/>
                      <a:pt x="37" y="22"/>
                    </a:cubicBezTo>
                    <a:cubicBezTo>
                      <a:pt x="37" y="22"/>
                      <a:pt x="34" y="22"/>
                      <a:pt x="34" y="21"/>
                    </a:cubicBezTo>
                    <a:cubicBezTo>
                      <a:pt x="33" y="21"/>
                      <a:pt x="33" y="21"/>
                      <a:pt x="33" y="22"/>
                    </a:cubicBezTo>
                    <a:cubicBezTo>
                      <a:pt x="33" y="22"/>
                      <a:pt x="33" y="27"/>
                      <a:pt x="34" y="27"/>
                    </a:cubicBezTo>
                    <a:cubicBezTo>
                      <a:pt x="34" y="28"/>
                      <a:pt x="33" y="28"/>
                      <a:pt x="33" y="28"/>
                    </a:cubicBezTo>
                    <a:cubicBezTo>
                      <a:pt x="32" y="28"/>
                      <a:pt x="32" y="28"/>
                      <a:pt x="31" y="29"/>
                    </a:cubicBezTo>
                    <a:cubicBezTo>
                      <a:pt x="30" y="30"/>
                      <a:pt x="30" y="29"/>
                      <a:pt x="30" y="29"/>
                    </a:cubicBezTo>
                    <a:cubicBezTo>
                      <a:pt x="30" y="29"/>
                      <a:pt x="25" y="27"/>
                      <a:pt x="25" y="27"/>
                    </a:cubicBezTo>
                    <a:cubicBezTo>
                      <a:pt x="24" y="26"/>
                      <a:pt x="23" y="25"/>
                      <a:pt x="23" y="24"/>
                    </a:cubicBezTo>
                    <a:cubicBezTo>
                      <a:pt x="23" y="24"/>
                      <a:pt x="22" y="25"/>
                      <a:pt x="22" y="25"/>
                    </a:cubicBezTo>
                    <a:cubicBezTo>
                      <a:pt x="22" y="25"/>
                      <a:pt x="20" y="28"/>
                      <a:pt x="19" y="28"/>
                    </a:cubicBezTo>
                    <a:cubicBezTo>
                      <a:pt x="19" y="29"/>
                      <a:pt x="18" y="31"/>
                      <a:pt x="18" y="31"/>
                    </a:cubicBezTo>
                    <a:cubicBezTo>
                      <a:pt x="18" y="32"/>
                      <a:pt x="19" y="32"/>
                      <a:pt x="19" y="32"/>
                    </a:cubicBezTo>
                    <a:cubicBezTo>
                      <a:pt x="19" y="32"/>
                      <a:pt x="19" y="33"/>
                      <a:pt x="19" y="33"/>
                    </a:cubicBezTo>
                    <a:cubicBezTo>
                      <a:pt x="19" y="33"/>
                      <a:pt x="19" y="34"/>
                      <a:pt x="19" y="35"/>
                    </a:cubicBezTo>
                    <a:cubicBezTo>
                      <a:pt x="19" y="36"/>
                      <a:pt x="19" y="36"/>
                      <a:pt x="19" y="36"/>
                    </a:cubicBezTo>
                    <a:cubicBezTo>
                      <a:pt x="19" y="36"/>
                      <a:pt x="17" y="36"/>
                      <a:pt x="16" y="36"/>
                    </a:cubicBezTo>
                    <a:cubicBezTo>
                      <a:pt x="15" y="36"/>
                      <a:pt x="15" y="37"/>
                      <a:pt x="15" y="37"/>
                    </a:cubicBezTo>
                    <a:cubicBezTo>
                      <a:pt x="15" y="37"/>
                      <a:pt x="16" y="41"/>
                      <a:pt x="16" y="42"/>
                    </a:cubicBezTo>
                    <a:cubicBezTo>
                      <a:pt x="16" y="42"/>
                      <a:pt x="16" y="43"/>
                      <a:pt x="16" y="43"/>
                    </a:cubicBezTo>
                    <a:cubicBezTo>
                      <a:pt x="16" y="43"/>
                      <a:pt x="14" y="45"/>
                      <a:pt x="13" y="46"/>
                    </a:cubicBezTo>
                    <a:cubicBezTo>
                      <a:pt x="12" y="46"/>
                      <a:pt x="11" y="47"/>
                      <a:pt x="11" y="47"/>
                    </a:cubicBezTo>
                    <a:cubicBezTo>
                      <a:pt x="10" y="47"/>
                      <a:pt x="8" y="47"/>
                      <a:pt x="8" y="47"/>
                    </a:cubicBezTo>
                    <a:cubicBezTo>
                      <a:pt x="8" y="47"/>
                      <a:pt x="5" y="48"/>
                      <a:pt x="4" y="49"/>
                    </a:cubicBezTo>
                    <a:cubicBezTo>
                      <a:pt x="3" y="49"/>
                      <a:pt x="2" y="49"/>
                      <a:pt x="2" y="50"/>
                    </a:cubicBezTo>
                    <a:cubicBezTo>
                      <a:pt x="1" y="50"/>
                      <a:pt x="3" y="50"/>
                      <a:pt x="3" y="51"/>
                    </a:cubicBezTo>
                    <a:cubicBezTo>
                      <a:pt x="3" y="51"/>
                      <a:pt x="4" y="51"/>
                      <a:pt x="4" y="51"/>
                    </a:cubicBezTo>
                    <a:cubicBezTo>
                      <a:pt x="4" y="51"/>
                      <a:pt x="4" y="55"/>
                      <a:pt x="4" y="55"/>
                    </a:cubicBezTo>
                    <a:cubicBezTo>
                      <a:pt x="4" y="56"/>
                      <a:pt x="3" y="58"/>
                      <a:pt x="3" y="59"/>
                    </a:cubicBezTo>
                    <a:cubicBezTo>
                      <a:pt x="3" y="60"/>
                      <a:pt x="1" y="61"/>
                      <a:pt x="0" y="61"/>
                    </a:cubicBezTo>
                    <a:cubicBezTo>
                      <a:pt x="0" y="61"/>
                      <a:pt x="0" y="62"/>
                      <a:pt x="0" y="62"/>
                    </a:cubicBezTo>
                    <a:cubicBezTo>
                      <a:pt x="0" y="62"/>
                      <a:pt x="0" y="65"/>
                      <a:pt x="1" y="66"/>
                    </a:cubicBezTo>
                    <a:cubicBezTo>
                      <a:pt x="1" y="67"/>
                      <a:pt x="0" y="69"/>
                      <a:pt x="0" y="69"/>
                    </a:cubicBezTo>
                    <a:cubicBezTo>
                      <a:pt x="0" y="70"/>
                      <a:pt x="0" y="70"/>
                      <a:pt x="0" y="71"/>
                    </a:cubicBezTo>
                    <a:cubicBezTo>
                      <a:pt x="0" y="71"/>
                      <a:pt x="0" y="71"/>
                      <a:pt x="0" y="71"/>
                    </a:cubicBezTo>
                    <a:cubicBezTo>
                      <a:pt x="1" y="71"/>
                      <a:pt x="3" y="72"/>
                      <a:pt x="4" y="72"/>
                    </a:cubicBezTo>
                    <a:cubicBezTo>
                      <a:pt x="4" y="72"/>
                      <a:pt x="5" y="72"/>
                      <a:pt x="6" y="73"/>
                    </a:cubicBezTo>
                    <a:cubicBezTo>
                      <a:pt x="6" y="73"/>
                      <a:pt x="7" y="74"/>
                      <a:pt x="7" y="75"/>
                    </a:cubicBezTo>
                    <a:cubicBezTo>
                      <a:pt x="7" y="75"/>
                      <a:pt x="8" y="80"/>
                      <a:pt x="12" y="81"/>
                    </a:cubicBezTo>
                    <a:cubicBezTo>
                      <a:pt x="12" y="81"/>
                      <a:pt x="13" y="81"/>
                      <a:pt x="14" y="81"/>
                    </a:cubicBezTo>
                    <a:cubicBezTo>
                      <a:pt x="15" y="82"/>
                      <a:pt x="17" y="83"/>
                      <a:pt x="17" y="83"/>
                    </a:cubicBezTo>
                    <a:cubicBezTo>
                      <a:pt x="17" y="83"/>
                      <a:pt x="18" y="83"/>
                      <a:pt x="18" y="83"/>
                    </a:cubicBezTo>
                    <a:cubicBezTo>
                      <a:pt x="18" y="82"/>
                      <a:pt x="19" y="81"/>
                      <a:pt x="19" y="81"/>
                    </a:cubicBezTo>
                    <a:cubicBezTo>
                      <a:pt x="19" y="81"/>
                      <a:pt x="20" y="80"/>
                      <a:pt x="20" y="80"/>
                    </a:cubicBezTo>
                    <a:cubicBezTo>
                      <a:pt x="20" y="80"/>
                      <a:pt x="24" y="79"/>
                      <a:pt x="24" y="78"/>
                    </a:cubicBezTo>
                    <a:cubicBezTo>
                      <a:pt x="25" y="78"/>
                      <a:pt x="28" y="78"/>
                      <a:pt x="29" y="78"/>
                    </a:cubicBezTo>
                    <a:cubicBezTo>
                      <a:pt x="29" y="78"/>
                      <a:pt x="34" y="78"/>
                      <a:pt x="34" y="78"/>
                    </a:cubicBezTo>
                    <a:cubicBezTo>
                      <a:pt x="34" y="78"/>
                      <a:pt x="34" y="78"/>
                      <a:pt x="34" y="79"/>
                    </a:cubicBezTo>
                    <a:cubicBezTo>
                      <a:pt x="34" y="79"/>
                      <a:pt x="34" y="79"/>
                      <a:pt x="35" y="80"/>
                    </a:cubicBezTo>
                    <a:cubicBezTo>
                      <a:pt x="35" y="80"/>
                      <a:pt x="36" y="81"/>
                      <a:pt x="37" y="82"/>
                    </a:cubicBezTo>
                    <a:cubicBezTo>
                      <a:pt x="38" y="82"/>
                      <a:pt x="38" y="82"/>
                      <a:pt x="38" y="82"/>
                    </a:cubicBezTo>
                    <a:cubicBezTo>
                      <a:pt x="38" y="82"/>
                      <a:pt x="39" y="87"/>
                      <a:pt x="41" y="86"/>
                    </a:cubicBezTo>
                    <a:cubicBezTo>
                      <a:pt x="42" y="85"/>
                      <a:pt x="42" y="85"/>
                      <a:pt x="42" y="85"/>
                    </a:cubicBezTo>
                    <a:cubicBezTo>
                      <a:pt x="42" y="85"/>
                      <a:pt x="42" y="84"/>
                      <a:pt x="42" y="84"/>
                    </a:cubicBezTo>
                    <a:cubicBezTo>
                      <a:pt x="41" y="83"/>
                      <a:pt x="41" y="82"/>
                      <a:pt x="41" y="82"/>
                    </a:cubicBezTo>
                    <a:cubicBezTo>
                      <a:pt x="40" y="81"/>
                      <a:pt x="40" y="81"/>
                      <a:pt x="40" y="80"/>
                    </a:cubicBezTo>
                    <a:cubicBezTo>
                      <a:pt x="40" y="79"/>
                      <a:pt x="40" y="75"/>
                      <a:pt x="40" y="74"/>
                    </a:cubicBezTo>
                    <a:cubicBezTo>
                      <a:pt x="40" y="73"/>
                      <a:pt x="39" y="71"/>
                      <a:pt x="39" y="70"/>
                    </a:cubicBezTo>
                    <a:cubicBezTo>
                      <a:pt x="39" y="69"/>
                      <a:pt x="38" y="67"/>
                      <a:pt x="38" y="67"/>
                    </a:cubicBezTo>
                    <a:cubicBezTo>
                      <a:pt x="38" y="67"/>
                      <a:pt x="38" y="66"/>
                      <a:pt x="38" y="66"/>
                    </a:cubicBezTo>
                    <a:cubicBezTo>
                      <a:pt x="39" y="65"/>
                      <a:pt x="39" y="63"/>
                      <a:pt x="39" y="63"/>
                    </a:cubicBezTo>
                    <a:cubicBezTo>
                      <a:pt x="39" y="62"/>
                      <a:pt x="39" y="62"/>
                      <a:pt x="40" y="62"/>
                    </a:cubicBezTo>
                    <a:cubicBezTo>
                      <a:pt x="41" y="62"/>
                      <a:pt x="44" y="62"/>
                      <a:pt x="45" y="62"/>
                    </a:cubicBezTo>
                    <a:cubicBezTo>
                      <a:pt x="46" y="62"/>
                      <a:pt x="55" y="62"/>
                      <a:pt x="57" y="62"/>
                    </a:cubicBezTo>
                    <a:cubicBezTo>
                      <a:pt x="58" y="62"/>
                      <a:pt x="62" y="61"/>
                      <a:pt x="62" y="62"/>
                    </a:cubicBezTo>
                    <a:cubicBezTo>
                      <a:pt x="63" y="62"/>
                      <a:pt x="68" y="62"/>
                      <a:pt x="69" y="62"/>
                    </a:cubicBezTo>
                    <a:cubicBezTo>
                      <a:pt x="70" y="62"/>
                      <a:pt x="73" y="62"/>
                      <a:pt x="74" y="62"/>
                    </a:cubicBezTo>
                    <a:cubicBezTo>
                      <a:pt x="74" y="62"/>
                      <a:pt x="74" y="62"/>
                      <a:pt x="75" y="62"/>
                    </a:cubicBezTo>
                    <a:cubicBezTo>
                      <a:pt x="75" y="61"/>
                      <a:pt x="76" y="60"/>
                      <a:pt x="77" y="60"/>
                    </a:cubicBezTo>
                    <a:cubicBezTo>
                      <a:pt x="77" y="60"/>
                      <a:pt x="79" y="60"/>
                      <a:pt x="80" y="60"/>
                    </a:cubicBezTo>
                    <a:cubicBezTo>
                      <a:pt x="80" y="60"/>
                      <a:pt x="81" y="60"/>
                      <a:pt x="82" y="6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61" name="Freeform 972">
                <a:extLst>
                  <a:ext uri="{FF2B5EF4-FFF2-40B4-BE49-F238E27FC236}">
                    <a16:creationId xmlns:a16="http://schemas.microsoft.com/office/drawing/2014/main" id="{41FAF7D5-9F4F-498B-AA2A-34745E14D04A}"/>
                  </a:ext>
                </a:extLst>
              </p:cNvPr>
              <p:cNvSpPr>
                <a:spLocks/>
              </p:cNvSpPr>
              <p:nvPr/>
            </p:nvSpPr>
            <p:spPr bwMode="auto">
              <a:xfrm>
                <a:off x="3518" y="2428"/>
                <a:ext cx="64" cy="128"/>
              </a:xfrm>
              <a:custGeom>
                <a:avLst/>
                <a:gdLst>
                  <a:gd name="T0" fmla="*/ 23 w 46"/>
                  <a:gd name="T1" fmla="*/ 10 h 93"/>
                  <a:gd name="T2" fmla="*/ 19 w 46"/>
                  <a:gd name="T3" fmla="*/ 14 h 93"/>
                  <a:gd name="T4" fmla="*/ 11 w 46"/>
                  <a:gd name="T5" fmla="*/ 14 h 93"/>
                  <a:gd name="T6" fmla="*/ 5 w 46"/>
                  <a:gd name="T7" fmla="*/ 18 h 93"/>
                  <a:gd name="T8" fmla="*/ 5 w 46"/>
                  <a:gd name="T9" fmla="*/ 20 h 93"/>
                  <a:gd name="T10" fmla="*/ 2 w 46"/>
                  <a:gd name="T11" fmla="*/ 21 h 93"/>
                  <a:gd name="T12" fmla="*/ 0 w 46"/>
                  <a:gd name="T13" fmla="*/ 28 h 93"/>
                  <a:gd name="T14" fmla="*/ 8 w 46"/>
                  <a:gd name="T15" fmla="*/ 36 h 93"/>
                  <a:gd name="T16" fmla="*/ 9 w 46"/>
                  <a:gd name="T17" fmla="*/ 43 h 93"/>
                  <a:gd name="T18" fmla="*/ 10 w 46"/>
                  <a:gd name="T19" fmla="*/ 45 h 93"/>
                  <a:gd name="T20" fmla="*/ 12 w 46"/>
                  <a:gd name="T21" fmla="*/ 50 h 93"/>
                  <a:gd name="T22" fmla="*/ 13 w 46"/>
                  <a:gd name="T23" fmla="*/ 62 h 93"/>
                  <a:gd name="T24" fmla="*/ 13 w 46"/>
                  <a:gd name="T25" fmla="*/ 71 h 93"/>
                  <a:gd name="T26" fmla="*/ 12 w 46"/>
                  <a:gd name="T27" fmla="*/ 82 h 93"/>
                  <a:gd name="T28" fmla="*/ 13 w 46"/>
                  <a:gd name="T29" fmla="*/ 84 h 93"/>
                  <a:gd name="T30" fmla="*/ 12 w 46"/>
                  <a:gd name="T31" fmla="*/ 86 h 93"/>
                  <a:gd name="T32" fmla="*/ 15 w 46"/>
                  <a:gd name="T33" fmla="*/ 91 h 93"/>
                  <a:gd name="T34" fmla="*/ 13 w 46"/>
                  <a:gd name="T35" fmla="*/ 93 h 93"/>
                  <a:gd name="T36" fmla="*/ 29 w 46"/>
                  <a:gd name="T37" fmla="*/ 91 h 93"/>
                  <a:gd name="T38" fmla="*/ 29 w 46"/>
                  <a:gd name="T39" fmla="*/ 89 h 93"/>
                  <a:gd name="T40" fmla="*/ 29 w 46"/>
                  <a:gd name="T41" fmla="*/ 82 h 93"/>
                  <a:gd name="T42" fmla="*/ 30 w 46"/>
                  <a:gd name="T43" fmla="*/ 78 h 93"/>
                  <a:gd name="T44" fmla="*/ 29 w 46"/>
                  <a:gd name="T45" fmla="*/ 68 h 93"/>
                  <a:gd name="T46" fmla="*/ 28 w 46"/>
                  <a:gd name="T47" fmla="*/ 66 h 93"/>
                  <a:gd name="T48" fmla="*/ 29 w 46"/>
                  <a:gd name="T49" fmla="*/ 60 h 93"/>
                  <a:gd name="T50" fmla="*/ 29 w 46"/>
                  <a:gd name="T51" fmla="*/ 55 h 93"/>
                  <a:gd name="T52" fmla="*/ 30 w 46"/>
                  <a:gd name="T53" fmla="*/ 50 h 93"/>
                  <a:gd name="T54" fmla="*/ 35 w 46"/>
                  <a:gd name="T55" fmla="*/ 48 h 93"/>
                  <a:gd name="T56" fmla="*/ 38 w 46"/>
                  <a:gd name="T57" fmla="*/ 41 h 93"/>
                  <a:gd name="T58" fmla="*/ 43 w 46"/>
                  <a:gd name="T59" fmla="*/ 34 h 93"/>
                  <a:gd name="T60" fmla="*/ 45 w 46"/>
                  <a:gd name="T61" fmla="*/ 27 h 93"/>
                  <a:gd name="T62" fmla="*/ 44 w 46"/>
                  <a:gd name="T63" fmla="*/ 20 h 93"/>
                  <a:gd name="T64" fmla="*/ 41 w 46"/>
                  <a:gd name="T65" fmla="*/ 15 h 93"/>
                  <a:gd name="T66" fmla="*/ 42 w 46"/>
                  <a:gd name="T67" fmla="*/ 11 h 93"/>
                  <a:gd name="T68" fmla="*/ 37 w 46"/>
                  <a:gd name="T69" fmla="*/ 7 h 93"/>
                  <a:gd name="T70" fmla="*/ 30 w 46"/>
                  <a:gd name="T71" fmla="*/ 0 h 93"/>
                  <a:gd name="T72" fmla="*/ 25 w 46"/>
                  <a:gd name="T73" fmla="*/ 2 h 93"/>
                  <a:gd name="T74" fmla="*/ 24 w 46"/>
                  <a:gd name="T75" fmla="*/ 7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6" h="93">
                    <a:moveTo>
                      <a:pt x="24" y="7"/>
                    </a:moveTo>
                    <a:cubicBezTo>
                      <a:pt x="24" y="8"/>
                      <a:pt x="23" y="10"/>
                      <a:pt x="23" y="10"/>
                    </a:cubicBezTo>
                    <a:cubicBezTo>
                      <a:pt x="23" y="11"/>
                      <a:pt x="23" y="11"/>
                      <a:pt x="22" y="11"/>
                    </a:cubicBezTo>
                    <a:cubicBezTo>
                      <a:pt x="22" y="12"/>
                      <a:pt x="19" y="14"/>
                      <a:pt x="19" y="14"/>
                    </a:cubicBezTo>
                    <a:cubicBezTo>
                      <a:pt x="19" y="15"/>
                      <a:pt x="18" y="15"/>
                      <a:pt x="18" y="15"/>
                    </a:cubicBezTo>
                    <a:cubicBezTo>
                      <a:pt x="18" y="15"/>
                      <a:pt x="11" y="14"/>
                      <a:pt x="11" y="14"/>
                    </a:cubicBezTo>
                    <a:cubicBezTo>
                      <a:pt x="10" y="14"/>
                      <a:pt x="10" y="14"/>
                      <a:pt x="9" y="15"/>
                    </a:cubicBezTo>
                    <a:cubicBezTo>
                      <a:pt x="9" y="15"/>
                      <a:pt x="6" y="18"/>
                      <a:pt x="5" y="18"/>
                    </a:cubicBezTo>
                    <a:cubicBezTo>
                      <a:pt x="4" y="19"/>
                      <a:pt x="5" y="19"/>
                      <a:pt x="5" y="20"/>
                    </a:cubicBezTo>
                    <a:cubicBezTo>
                      <a:pt x="5" y="20"/>
                      <a:pt x="5" y="20"/>
                      <a:pt x="5" y="20"/>
                    </a:cubicBezTo>
                    <a:cubicBezTo>
                      <a:pt x="5" y="20"/>
                      <a:pt x="4" y="21"/>
                      <a:pt x="3" y="21"/>
                    </a:cubicBezTo>
                    <a:cubicBezTo>
                      <a:pt x="3" y="21"/>
                      <a:pt x="2" y="21"/>
                      <a:pt x="2" y="21"/>
                    </a:cubicBezTo>
                    <a:cubicBezTo>
                      <a:pt x="2" y="22"/>
                      <a:pt x="1" y="24"/>
                      <a:pt x="1" y="25"/>
                    </a:cubicBezTo>
                    <a:cubicBezTo>
                      <a:pt x="0" y="25"/>
                      <a:pt x="0" y="26"/>
                      <a:pt x="0" y="28"/>
                    </a:cubicBezTo>
                    <a:cubicBezTo>
                      <a:pt x="1" y="30"/>
                      <a:pt x="1" y="31"/>
                      <a:pt x="3" y="32"/>
                    </a:cubicBezTo>
                    <a:cubicBezTo>
                      <a:pt x="4" y="33"/>
                      <a:pt x="8" y="36"/>
                      <a:pt x="8" y="36"/>
                    </a:cubicBezTo>
                    <a:cubicBezTo>
                      <a:pt x="9" y="36"/>
                      <a:pt x="9" y="37"/>
                      <a:pt x="9" y="37"/>
                    </a:cubicBezTo>
                    <a:cubicBezTo>
                      <a:pt x="9" y="37"/>
                      <a:pt x="9" y="43"/>
                      <a:pt x="9" y="43"/>
                    </a:cubicBezTo>
                    <a:cubicBezTo>
                      <a:pt x="9" y="43"/>
                      <a:pt x="9" y="44"/>
                      <a:pt x="9" y="44"/>
                    </a:cubicBezTo>
                    <a:cubicBezTo>
                      <a:pt x="9" y="44"/>
                      <a:pt x="10" y="45"/>
                      <a:pt x="10" y="45"/>
                    </a:cubicBezTo>
                    <a:cubicBezTo>
                      <a:pt x="9" y="46"/>
                      <a:pt x="10" y="46"/>
                      <a:pt x="10" y="47"/>
                    </a:cubicBezTo>
                    <a:cubicBezTo>
                      <a:pt x="10" y="47"/>
                      <a:pt x="11" y="48"/>
                      <a:pt x="12" y="50"/>
                    </a:cubicBezTo>
                    <a:cubicBezTo>
                      <a:pt x="13" y="52"/>
                      <a:pt x="13" y="56"/>
                      <a:pt x="13" y="58"/>
                    </a:cubicBezTo>
                    <a:cubicBezTo>
                      <a:pt x="12" y="59"/>
                      <a:pt x="13" y="61"/>
                      <a:pt x="13" y="62"/>
                    </a:cubicBezTo>
                    <a:cubicBezTo>
                      <a:pt x="13" y="63"/>
                      <a:pt x="13" y="66"/>
                      <a:pt x="13" y="66"/>
                    </a:cubicBezTo>
                    <a:cubicBezTo>
                      <a:pt x="13" y="67"/>
                      <a:pt x="13" y="70"/>
                      <a:pt x="13" y="71"/>
                    </a:cubicBezTo>
                    <a:cubicBezTo>
                      <a:pt x="13" y="72"/>
                      <a:pt x="13" y="73"/>
                      <a:pt x="13" y="74"/>
                    </a:cubicBezTo>
                    <a:cubicBezTo>
                      <a:pt x="13" y="75"/>
                      <a:pt x="12" y="81"/>
                      <a:pt x="12" y="82"/>
                    </a:cubicBezTo>
                    <a:cubicBezTo>
                      <a:pt x="12" y="82"/>
                      <a:pt x="12" y="82"/>
                      <a:pt x="12" y="82"/>
                    </a:cubicBezTo>
                    <a:cubicBezTo>
                      <a:pt x="13" y="83"/>
                      <a:pt x="13" y="83"/>
                      <a:pt x="13" y="84"/>
                    </a:cubicBezTo>
                    <a:cubicBezTo>
                      <a:pt x="13" y="84"/>
                      <a:pt x="12" y="85"/>
                      <a:pt x="12" y="85"/>
                    </a:cubicBezTo>
                    <a:cubicBezTo>
                      <a:pt x="12" y="86"/>
                      <a:pt x="12" y="86"/>
                      <a:pt x="12" y="86"/>
                    </a:cubicBezTo>
                    <a:cubicBezTo>
                      <a:pt x="13" y="87"/>
                      <a:pt x="14" y="88"/>
                      <a:pt x="14" y="89"/>
                    </a:cubicBezTo>
                    <a:cubicBezTo>
                      <a:pt x="15" y="89"/>
                      <a:pt x="15" y="90"/>
                      <a:pt x="15" y="91"/>
                    </a:cubicBezTo>
                    <a:cubicBezTo>
                      <a:pt x="15" y="91"/>
                      <a:pt x="15" y="92"/>
                      <a:pt x="15" y="92"/>
                    </a:cubicBezTo>
                    <a:cubicBezTo>
                      <a:pt x="14" y="92"/>
                      <a:pt x="14" y="92"/>
                      <a:pt x="13" y="93"/>
                    </a:cubicBezTo>
                    <a:cubicBezTo>
                      <a:pt x="16" y="92"/>
                      <a:pt x="21" y="91"/>
                      <a:pt x="23" y="91"/>
                    </a:cubicBezTo>
                    <a:cubicBezTo>
                      <a:pt x="24" y="91"/>
                      <a:pt x="27" y="91"/>
                      <a:pt x="29" y="91"/>
                    </a:cubicBezTo>
                    <a:cubicBezTo>
                      <a:pt x="29" y="90"/>
                      <a:pt x="29" y="90"/>
                      <a:pt x="29" y="90"/>
                    </a:cubicBezTo>
                    <a:cubicBezTo>
                      <a:pt x="29" y="90"/>
                      <a:pt x="29" y="89"/>
                      <a:pt x="29" y="89"/>
                    </a:cubicBezTo>
                    <a:cubicBezTo>
                      <a:pt x="29" y="88"/>
                      <a:pt x="30" y="85"/>
                      <a:pt x="30" y="85"/>
                    </a:cubicBezTo>
                    <a:cubicBezTo>
                      <a:pt x="30" y="84"/>
                      <a:pt x="30" y="82"/>
                      <a:pt x="29" y="82"/>
                    </a:cubicBezTo>
                    <a:cubicBezTo>
                      <a:pt x="29" y="82"/>
                      <a:pt x="29" y="82"/>
                      <a:pt x="29" y="81"/>
                    </a:cubicBezTo>
                    <a:cubicBezTo>
                      <a:pt x="29" y="81"/>
                      <a:pt x="30" y="78"/>
                      <a:pt x="30" y="78"/>
                    </a:cubicBezTo>
                    <a:cubicBezTo>
                      <a:pt x="30" y="78"/>
                      <a:pt x="30" y="77"/>
                      <a:pt x="30" y="76"/>
                    </a:cubicBezTo>
                    <a:cubicBezTo>
                      <a:pt x="30" y="76"/>
                      <a:pt x="29" y="68"/>
                      <a:pt x="29" y="68"/>
                    </a:cubicBezTo>
                    <a:cubicBezTo>
                      <a:pt x="29" y="68"/>
                      <a:pt x="29" y="68"/>
                      <a:pt x="28" y="68"/>
                    </a:cubicBezTo>
                    <a:cubicBezTo>
                      <a:pt x="28" y="68"/>
                      <a:pt x="28" y="67"/>
                      <a:pt x="28" y="66"/>
                    </a:cubicBezTo>
                    <a:cubicBezTo>
                      <a:pt x="28" y="66"/>
                      <a:pt x="29" y="62"/>
                      <a:pt x="29" y="62"/>
                    </a:cubicBezTo>
                    <a:cubicBezTo>
                      <a:pt x="29" y="61"/>
                      <a:pt x="29" y="61"/>
                      <a:pt x="29" y="60"/>
                    </a:cubicBezTo>
                    <a:cubicBezTo>
                      <a:pt x="29" y="59"/>
                      <a:pt x="29" y="58"/>
                      <a:pt x="29" y="58"/>
                    </a:cubicBezTo>
                    <a:cubicBezTo>
                      <a:pt x="29" y="57"/>
                      <a:pt x="29" y="55"/>
                      <a:pt x="29" y="55"/>
                    </a:cubicBezTo>
                    <a:cubicBezTo>
                      <a:pt x="29" y="54"/>
                      <a:pt x="30" y="53"/>
                      <a:pt x="30" y="53"/>
                    </a:cubicBezTo>
                    <a:cubicBezTo>
                      <a:pt x="30" y="52"/>
                      <a:pt x="30" y="50"/>
                      <a:pt x="30" y="50"/>
                    </a:cubicBezTo>
                    <a:cubicBezTo>
                      <a:pt x="30" y="50"/>
                      <a:pt x="30" y="50"/>
                      <a:pt x="30" y="50"/>
                    </a:cubicBezTo>
                    <a:cubicBezTo>
                      <a:pt x="31" y="50"/>
                      <a:pt x="34" y="50"/>
                      <a:pt x="35" y="48"/>
                    </a:cubicBezTo>
                    <a:cubicBezTo>
                      <a:pt x="36" y="45"/>
                      <a:pt x="37" y="42"/>
                      <a:pt x="37" y="42"/>
                    </a:cubicBezTo>
                    <a:cubicBezTo>
                      <a:pt x="37" y="42"/>
                      <a:pt x="38" y="41"/>
                      <a:pt x="38" y="41"/>
                    </a:cubicBezTo>
                    <a:cubicBezTo>
                      <a:pt x="38" y="40"/>
                      <a:pt x="42" y="35"/>
                      <a:pt x="42" y="35"/>
                    </a:cubicBezTo>
                    <a:cubicBezTo>
                      <a:pt x="43" y="35"/>
                      <a:pt x="43" y="35"/>
                      <a:pt x="43" y="34"/>
                    </a:cubicBezTo>
                    <a:cubicBezTo>
                      <a:pt x="43" y="34"/>
                      <a:pt x="42" y="31"/>
                      <a:pt x="43" y="29"/>
                    </a:cubicBezTo>
                    <a:cubicBezTo>
                      <a:pt x="45" y="27"/>
                      <a:pt x="45" y="27"/>
                      <a:pt x="45" y="27"/>
                    </a:cubicBezTo>
                    <a:cubicBezTo>
                      <a:pt x="45" y="27"/>
                      <a:pt x="46" y="27"/>
                      <a:pt x="46" y="26"/>
                    </a:cubicBezTo>
                    <a:cubicBezTo>
                      <a:pt x="45" y="25"/>
                      <a:pt x="44" y="20"/>
                      <a:pt x="44" y="20"/>
                    </a:cubicBezTo>
                    <a:cubicBezTo>
                      <a:pt x="44" y="20"/>
                      <a:pt x="44" y="19"/>
                      <a:pt x="44" y="19"/>
                    </a:cubicBezTo>
                    <a:cubicBezTo>
                      <a:pt x="43" y="19"/>
                      <a:pt x="41" y="15"/>
                      <a:pt x="41" y="15"/>
                    </a:cubicBezTo>
                    <a:cubicBezTo>
                      <a:pt x="41" y="15"/>
                      <a:pt x="40" y="15"/>
                      <a:pt x="41" y="14"/>
                    </a:cubicBezTo>
                    <a:cubicBezTo>
                      <a:pt x="41" y="14"/>
                      <a:pt x="42" y="12"/>
                      <a:pt x="42" y="11"/>
                    </a:cubicBezTo>
                    <a:cubicBezTo>
                      <a:pt x="41" y="10"/>
                      <a:pt x="40" y="9"/>
                      <a:pt x="40" y="9"/>
                    </a:cubicBezTo>
                    <a:cubicBezTo>
                      <a:pt x="39" y="9"/>
                      <a:pt x="38" y="8"/>
                      <a:pt x="37" y="7"/>
                    </a:cubicBezTo>
                    <a:cubicBezTo>
                      <a:pt x="37" y="7"/>
                      <a:pt x="31" y="1"/>
                      <a:pt x="31" y="0"/>
                    </a:cubicBezTo>
                    <a:cubicBezTo>
                      <a:pt x="31" y="0"/>
                      <a:pt x="31" y="0"/>
                      <a:pt x="30" y="0"/>
                    </a:cubicBezTo>
                    <a:cubicBezTo>
                      <a:pt x="30" y="1"/>
                      <a:pt x="28" y="1"/>
                      <a:pt x="27" y="1"/>
                    </a:cubicBezTo>
                    <a:cubicBezTo>
                      <a:pt x="27" y="2"/>
                      <a:pt x="26" y="2"/>
                      <a:pt x="25" y="2"/>
                    </a:cubicBezTo>
                    <a:cubicBezTo>
                      <a:pt x="24" y="2"/>
                      <a:pt x="24" y="2"/>
                      <a:pt x="24" y="3"/>
                    </a:cubicBezTo>
                    <a:cubicBezTo>
                      <a:pt x="24" y="4"/>
                      <a:pt x="24" y="6"/>
                      <a:pt x="24" y="7"/>
                    </a:cubicBezTo>
                    <a:cubicBezTo>
                      <a:pt x="24" y="7"/>
                      <a:pt x="24" y="7"/>
                      <a:pt x="24"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62" name="Freeform 973">
                <a:extLst>
                  <a:ext uri="{FF2B5EF4-FFF2-40B4-BE49-F238E27FC236}">
                    <a16:creationId xmlns:a16="http://schemas.microsoft.com/office/drawing/2014/main" id="{15961FE8-0340-4EEB-8BD4-8F0354FBF92D}"/>
                  </a:ext>
                </a:extLst>
              </p:cNvPr>
              <p:cNvSpPr>
                <a:spLocks/>
              </p:cNvSpPr>
              <p:nvPr/>
            </p:nvSpPr>
            <p:spPr bwMode="auto">
              <a:xfrm>
                <a:off x="3437" y="2454"/>
                <a:ext cx="90" cy="133"/>
              </a:xfrm>
              <a:custGeom>
                <a:avLst/>
                <a:gdLst>
                  <a:gd name="T0" fmla="*/ 6 w 65"/>
                  <a:gd name="T1" fmla="*/ 30 h 97"/>
                  <a:gd name="T2" fmla="*/ 9 w 65"/>
                  <a:gd name="T3" fmla="*/ 35 h 97"/>
                  <a:gd name="T4" fmla="*/ 10 w 65"/>
                  <a:gd name="T5" fmla="*/ 39 h 97"/>
                  <a:gd name="T6" fmla="*/ 6 w 65"/>
                  <a:gd name="T7" fmla="*/ 50 h 97"/>
                  <a:gd name="T8" fmla="*/ 2 w 65"/>
                  <a:gd name="T9" fmla="*/ 61 h 97"/>
                  <a:gd name="T10" fmla="*/ 0 w 65"/>
                  <a:gd name="T11" fmla="*/ 67 h 97"/>
                  <a:gd name="T12" fmla="*/ 7 w 65"/>
                  <a:gd name="T13" fmla="*/ 84 h 97"/>
                  <a:gd name="T14" fmla="*/ 6 w 65"/>
                  <a:gd name="T15" fmla="*/ 90 h 97"/>
                  <a:gd name="T16" fmla="*/ 1 w 65"/>
                  <a:gd name="T17" fmla="*/ 91 h 97"/>
                  <a:gd name="T18" fmla="*/ 20 w 65"/>
                  <a:gd name="T19" fmla="*/ 94 h 97"/>
                  <a:gd name="T20" fmla="*/ 39 w 65"/>
                  <a:gd name="T21" fmla="*/ 87 h 97"/>
                  <a:gd name="T22" fmla="*/ 56 w 65"/>
                  <a:gd name="T23" fmla="*/ 79 h 97"/>
                  <a:gd name="T24" fmla="*/ 55 w 65"/>
                  <a:gd name="T25" fmla="*/ 77 h 97"/>
                  <a:gd name="T26" fmla="*/ 61 w 65"/>
                  <a:gd name="T27" fmla="*/ 80 h 97"/>
                  <a:gd name="T28" fmla="*/ 65 w 65"/>
                  <a:gd name="T29" fmla="*/ 75 h 97"/>
                  <a:gd name="T30" fmla="*/ 63 w 65"/>
                  <a:gd name="T31" fmla="*/ 74 h 97"/>
                  <a:gd name="T32" fmla="*/ 58 w 65"/>
                  <a:gd name="T33" fmla="*/ 68 h 97"/>
                  <a:gd name="T34" fmla="*/ 56 w 65"/>
                  <a:gd name="T35" fmla="*/ 62 h 97"/>
                  <a:gd name="T36" fmla="*/ 57 w 65"/>
                  <a:gd name="T37" fmla="*/ 57 h 97"/>
                  <a:gd name="T38" fmla="*/ 55 w 65"/>
                  <a:gd name="T39" fmla="*/ 53 h 97"/>
                  <a:gd name="T40" fmla="*/ 57 w 65"/>
                  <a:gd name="T41" fmla="*/ 48 h 97"/>
                  <a:gd name="T42" fmla="*/ 58 w 65"/>
                  <a:gd name="T43" fmla="*/ 43 h 97"/>
                  <a:gd name="T44" fmla="*/ 58 w 65"/>
                  <a:gd name="T45" fmla="*/ 40 h 97"/>
                  <a:gd name="T46" fmla="*/ 54 w 65"/>
                  <a:gd name="T47" fmla="*/ 36 h 97"/>
                  <a:gd name="T48" fmla="*/ 55 w 65"/>
                  <a:gd name="T49" fmla="*/ 35 h 97"/>
                  <a:gd name="T50" fmla="*/ 53 w 65"/>
                  <a:gd name="T51" fmla="*/ 26 h 97"/>
                  <a:gd name="T52" fmla="*/ 51 w 65"/>
                  <a:gd name="T53" fmla="*/ 25 h 97"/>
                  <a:gd name="T54" fmla="*/ 52 w 65"/>
                  <a:gd name="T55" fmla="*/ 23 h 97"/>
                  <a:gd name="T56" fmla="*/ 53 w 65"/>
                  <a:gd name="T57" fmla="*/ 17 h 97"/>
                  <a:gd name="T58" fmla="*/ 51 w 65"/>
                  <a:gd name="T59" fmla="*/ 10 h 97"/>
                  <a:gd name="T60" fmla="*/ 46 w 65"/>
                  <a:gd name="T61" fmla="*/ 6 h 97"/>
                  <a:gd name="T62" fmla="*/ 48 w 65"/>
                  <a:gd name="T63" fmla="*/ 1 h 97"/>
                  <a:gd name="T64" fmla="*/ 43 w 65"/>
                  <a:gd name="T65" fmla="*/ 0 h 97"/>
                  <a:gd name="T66" fmla="*/ 40 w 65"/>
                  <a:gd name="T67" fmla="*/ 2 h 97"/>
                  <a:gd name="T68" fmla="*/ 28 w 65"/>
                  <a:gd name="T69" fmla="*/ 2 h 97"/>
                  <a:gd name="T70" fmla="*/ 11 w 65"/>
                  <a:gd name="T71" fmla="*/ 2 h 97"/>
                  <a:gd name="T72" fmla="*/ 5 w 65"/>
                  <a:gd name="T73" fmla="*/ 3 h 97"/>
                  <a:gd name="T74" fmla="*/ 4 w 65"/>
                  <a:gd name="T75" fmla="*/ 7 h 97"/>
                  <a:gd name="T76" fmla="*/ 6 w 65"/>
                  <a:gd name="T77" fmla="*/ 14 h 97"/>
                  <a:gd name="T78" fmla="*/ 7 w 65"/>
                  <a:gd name="T79" fmla="*/ 22 h 97"/>
                  <a:gd name="T80" fmla="*/ 8 w 65"/>
                  <a:gd name="T81" fmla="*/ 25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 h="97">
                    <a:moveTo>
                      <a:pt x="8" y="25"/>
                    </a:moveTo>
                    <a:cubicBezTo>
                      <a:pt x="7" y="26"/>
                      <a:pt x="7" y="28"/>
                      <a:pt x="6" y="30"/>
                    </a:cubicBezTo>
                    <a:cubicBezTo>
                      <a:pt x="6" y="32"/>
                      <a:pt x="8" y="34"/>
                      <a:pt x="8" y="35"/>
                    </a:cubicBezTo>
                    <a:cubicBezTo>
                      <a:pt x="8" y="35"/>
                      <a:pt x="9" y="35"/>
                      <a:pt x="9" y="35"/>
                    </a:cubicBezTo>
                    <a:cubicBezTo>
                      <a:pt x="9" y="35"/>
                      <a:pt x="9" y="36"/>
                      <a:pt x="9" y="36"/>
                    </a:cubicBezTo>
                    <a:cubicBezTo>
                      <a:pt x="9" y="36"/>
                      <a:pt x="9" y="36"/>
                      <a:pt x="10" y="39"/>
                    </a:cubicBezTo>
                    <a:cubicBezTo>
                      <a:pt x="11" y="41"/>
                      <a:pt x="10" y="44"/>
                      <a:pt x="10" y="45"/>
                    </a:cubicBezTo>
                    <a:cubicBezTo>
                      <a:pt x="9" y="46"/>
                      <a:pt x="7" y="49"/>
                      <a:pt x="6" y="50"/>
                    </a:cubicBezTo>
                    <a:cubicBezTo>
                      <a:pt x="6" y="50"/>
                      <a:pt x="5" y="51"/>
                      <a:pt x="5" y="51"/>
                    </a:cubicBezTo>
                    <a:cubicBezTo>
                      <a:pt x="5" y="52"/>
                      <a:pt x="2" y="60"/>
                      <a:pt x="2" y="61"/>
                    </a:cubicBezTo>
                    <a:cubicBezTo>
                      <a:pt x="2" y="61"/>
                      <a:pt x="1" y="63"/>
                      <a:pt x="0" y="64"/>
                    </a:cubicBezTo>
                    <a:cubicBezTo>
                      <a:pt x="0" y="65"/>
                      <a:pt x="0" y="66"/>
                      <a:pt x="0" y="67"/>
                    </a:cubicBezTo>
                    <a:cubicBezTo>
                      <a:pt x="0" y="68"/>
                      <a:pt x="0" y="71"/>
                      <a:pt x="1" y="76"/>
                    </a:cubicBezTo>
                    <a:cubicBezTo>
                      <a:pt x="2" y="81"/>
                      <a:pt x="6" y="84"/>
                      <a:pt x="7" y="84"/>
                    </a:cubicBezTo>
                    <a:cubicBezTo>
                      <a:pt x="7" y="85"/>
                      <a:pt x="7" y="86"/>
                      <a:pt x="7" y="88"/>
                    </a:cubicBezTo>
                    <a:cubicBezTo>
                      <a:pt x="7" y="89"/>
                      <a:pt x="7" y="90"/>
                      <a:pt x="6" y="90"/>
                    </a:cubicBezTo>
                    <a:cubicBezTo>
                      <a:pt x="6" y="90"/>
                      <a:pt x="4" y="90"/>
                      <a:pt x="3" y="90"/>
                    </a:cubicBezTo>
                    <a:cubicBezTo>
                      <a:pt x="2" y="90"/>
                      <a:pt x="1" y="90"/>
                      <a:pt x="1" y="91"/>
                    </a:cubicBezTo>
                    <a:cubicBezTo>
                      <a:pt x="5" y="92"/>
                      <a:pt x="11" y="94"/>
                      <a:pt x="14" y="95"/>
                    </a:cubicBezTo>
                    <a:cubicBezTo>
                      <a:pt x="19" y="97"/>
                      <a:pt x="19" y="95"/>
                      <a:pt x="20" y="94"/>
                    </a:cubicBezTo>
                    <a:cubicBezTo>
                      <a:pt x="22" y="94"/>
                      <a:pt x="25" y="91"/>
                      <a:pt x="28" y="90"/>
                    </a:cubicBezTo>
                    <a:cubicBezTo>
                      <a:pt x="31" y="89"/>
                      <a:pt x="36" y="89"/>
                      <a:pt x="39" y="87"/>
                    </a:cubicBezTo>
                    <a:cubicBezTo>
                      <a:pt x="41" y="84"/>
                      <a:pt x="46" y="83"/>
                      <a:pt x="48" y="83"/>
                    </a:cubicBezTo>
                    <a:cubicBezTo>
                      <a:pt x="49" y="82"/>
                      <a:pt x="55" y="80"/>
                      <a:pt x="56" y="79"/>
                    </a:cubicBezTo>
                    <a:cubicBezTo>
                      <a:pt x="56" y="79"/>
                      <a:pt x="55" y="78"/>
                      <a:pt x="55" y="78"/>
                    </a:cubicBezTo>
                    <a:cubicBezTo>
                      <a:pt x="54" y="77"/>
                      <a:pt x="54" y="77"/>
                      <a:pt x="55" y="77"/>
                    </a:cubicBezTo>
                    <a:cubicBezTo>
                      <a:pt x="57" y="77"/>
                      <a:pt x="57" y="78"/>
                      <a:pt x="57" y="79"/>
                    </a:cubicBezTo>
                    <a:cubicBezTo>
                      <a:pt x="57" y="79"/>
                      <a:pt x="59" y="81"/>
                      <a:pt x="61" y="80"/>
                    </a:cubicBezTo>
                    <a:cubicBezTo>
                      <a:pt x="64" y="79"/>
                      <a:pt x="64" y="78"/>
                      <a:pt x="65" y="76"/>
                    </a:cubicBezTo>
                    <a:cubicBezTo>
                      <a:pt x="65" y="76"/>
                      <a:pt x="65" y="76"/>
                      <a:pt x="65" y="75"/>
                    </a:cubicBezTo>
                    <a:cubicBezTo>
                      <a:pt x="65" y="75"/>
                      <a:pt x="64" y="75"/>
                      <a:pt x="64" y="75"/>
                    </a:cubicBezTo>
                    <a:cubicBezTo>
                      <a:pt x="64" y="75"/>
                      <a:pt x="63" y="74"/>
                      <a:pt x="63" y="74"/>
                    </a:cubicBezTo>
                    <a:cubicBezTo>
                      <a:pt x="63" y="74"/>
                      <a:pt x="59" y="70"/>
                      <a:pt x="59" y="69"/>
                    </a:cubicBezTo>
                    <a:cubicBezTo>
                      <a:pt x="58" y="69"/>
                      <a:pt x="58" y="68"/>
                      <a:pt x="58" y="68"/>
                    </a:cubicBezTo>
                    <a:cubicBezTo>
                      <a:pt x="58" y="68"/>
                      <a:pt x="56" y="63"/>
                      <a:pt x="55" y="63"/>
                    </a:cubicBezTo>
                    <a:cubicBezTo>
                      <a:pt x="55" y="62"/>
                      <a:pt x="55" y="62"/>
                      <a:pt x="56" y="62"/>
                    </a:cubicBezTo>
                    <a:cubicBezTo>
                      <a:pt x="56" y="62"/>
                      <a:pt x="56" y="62"/>
                      <a:pt x="56" y="62"/>
                    </a:cubicBezTo>
                    <a:cubicBezTo>
                      <a:pt x="57" y="61"/>
                      <a:pt x="57" y="58"/>
                      <a:pt x="57" y="57"/>
                    </a:cubicBezTo>
                    <a:cubicBezTo>
                      <a:pt x="57" y="56"/>
                      <a:pt x="57" y="56"/>
                      <a:pt x="57" y="56"/>
                    </a:cubicBezTo>
                    <a:cubicBezTo>
                      <a:pt x="56" y="55"/>
                      <a:pt x="55" y="54"/>
                      <a:pt x="55" y="53"/>
                    </a:cubicBezTo>
                    <a:cubicBezTo>
                      <a:pt x="55" y="53"/>
                      <a:pt x="56" y="49"/>
                      <a:pt x="57" y="49"/>
                    </a:cubicBezTo>
                    <a:cubicBezTo>
                      <a:pt x="57" y="49"/>
                      <a:pt x="57" y="48"/>
                      <a:pt x="57" y="48"/>
                    </a:cubicBezTo>
                    <a:cubicBezTo>
                      <a:pt x="57" y="47"/>
                      <a:pt x="57" y="47"/>
                      <a:pt x="57" y="47"/>
                    </a:cubicBezTo>
                    <a:cubicBezTo>
                      <a:pt x="56" y="44"/>
                      <a:pt x="57" y="43"/>
                      <a:pt x="58" y="43"/>
                    </a:cubicBezTo>
                    <a:cubicBezTo>
                      <a:pt x="58" y="42"/>
                      <a:pt x="58" y="42"/>
                      <a:pt x="58" y="41"/>
                    </a:cubicBezTo>
                    <a:cubicBezTo>
                      <a:pt x="58" y="41"/>
                      <a:pt x="58" y="41"/>
                      <a:pt x="58" y="40"/>
                    </a:cubicBezTo>
                    <a:cubicBezTo>
                      <a:pt x="57" y="40"/>
                      <a:pt x="57" y="40"/>
                      <a:pt x="56" y="39"/>
                    </a:cubicBezTo>
                    <a:cubicBezTo>
                      <a:pt x="56" y="39"/>
                      <a:pt x="54" y="36"/>
                      <a:pt x="54" y="36"/>
                    </a:cubicBezTo>
                    <a:cubicBezTo>
                      <a:pt x="53" y="36"/>
                      <a:pt x="54" y="35"/>
                      <a:pt x="54" y="35"/>
                    </a:cubicBezTo>
                    <a:cubicBezTo>
                      <a:pt x="54" y="35"/>
                      <a:pt x="54" y="35"/>
                      <a:pt x="55" y="35"/>
                    </a:cubicBezTo>
                    <a:cubicBezTo>
                      <a:pt x="55" y="34"/>
                      <a:pt x="55" y="34"/>
                      <a:pt x="55" y="34"/>
                    </a:cubicBezTo>
                    <a:cubicBezTo>
                      <a:pt x="55" y="34"/>
                      <a:pt x="53" y="26"/>
                      <a:pt x="53" y="26"/>
                    </a:cubicBezTo>
                    <a:cubicBezTo>
                      <a:pt x="53" y="25"/>
                      <a:pt x="53" y="25"/>
                      <a:pt x="52" y="26"/>
                    </a:cubicBezTo>
                    <a:cubicBezTo>
                      <a:pt x="52" y="26"/>
                      <a:pt x="52" y="26"/>
                      <a:pt x="51" y="25"/>
                    </a:cubicBezTo>
                    <a:cubicBezTo>
                      <a:pt x="51" y="25"/>
                      <a:pt x="52" y="24"/>
                      <a:pt x="52" y="24"/>
                    </a:cubicBezTo>
                    <a:cubicBezTo>
                      <a:pt x="53" y="23"/>
                      <a:pt x="53" y="24"/>
                      <a:pt x="52" y="23"/>
                    </a:cubicBezTo>
                    <a:cubicBezTo>
                      <a:pt x="51" y="23"/>
                      <a:pt x="52" y="21"/>
                      <a:pt x="52" y="20"/>
                    </a:cubicBezTo>
                    <a:cubicBezTo>
                      <a:pt x="52" y="19"/>
                      <a:pt x="53" y="17"/>
                      <a:pt x="53" y="17"/>
                    </a:cubicBezTo>
                    <a:cubicBezTo>
                      <a:pt x="54" y="16"/>
                      <a:pt x="54" y="15"/>
                      <a:pt x="54" y="13"/>
                    </a:cubicBezTo>
                    <a:cubicBezTo>
                      <a:pt x="54" y="12"/>
                      <a:pt x="52" y="11"/>
                      <a:pt x="51" y="10"/>
                    </a:cubicBezTo>
                    <a:cubicBezTo>
                      <a:pt x="50" y="10"/>
                      <a:pt x="47" y="7"/>
                      <a:pt x="47" y="7"/>
                    </a:cubicBezTo>
                    <a:cubicBezTo>
                      <a:pt x="46" y="7"/>
                      <a:pt x="46" y="6"/>
                      <a:pt x="46" y="6"/>
                    </a:cubicBezTo>
                    <a:cubicBezTo>
                      <a:pt x="46" y="6"/>
                      <a:pt x="47" y="4"/>
                      <a:pt x="48" y="3"/>
                    </a:cubicBezTo>
                    <a:cubicBezTo>
                      <a:pt x="48" y="2"/>
                      <a:pt x="48" y="1"/>
                      <a:pt x="48" y="1"/>
                    </a:cubicBezTo>
                    <a:cubicBezTo>
                      <a:pt x="47" y="0"/>
                      <a:pt x="46" y="0"/>
                      <a:pt x="46" y="0"/>
                    </a:cubicBezTo>
                    <a:cubicBezTo>
                      <a:pt x="45" y="0"/>
                      <a:pt x="43" y="0"/>
                      <a:pt x="43" y="0"/>
                    </a:cubicBezTo>
                    <a:cubicBezTo>
                      <a:pt x="42" y="0"/>
                      <a:pt x="41" y="1"/>
                      <a:pt x="41" y="2"/>
                    </a:cubicBezTo>
                    <a:cubicBezTo>
                      <a:pt x="40" y="2"/>
                      <a:pt x="40" y="2"/>
                      <a:pt x="40" y="2"/>
                    </a:cubicBezTo>
                    <a:cubicBezTo>
                      <a:pt x="39" y="2"/>
                      <a:pt x="36" y="2"/>
                      <a:pt x="35" y="2"/>
                    </a:cubicBezTo>
                    <a:cubicBezTo>
                      <a:pt x="34" y="2"/>
                      <a:pt x="29" y="2"/>
                      <a:pt x="28" y="2"/>
                    </a:cubicBezTo>
                    <a:cubicBezTo>
                      <a:pt x="28" y="1"/>
                      <a:pt x="24" y="2"/>
                      <a:pt x="23" y="2"/>
                    </a:cubicBezTo>
                    <a:cubicBezTo>
                      <a:pt x="21" y="2"/>
                      <a:pt x="12" y="2"/>
                      <a:pt x="11" y="2"/>
                    </a:cubicBezTo>
                    <a:cubicBezTo>
                      <a:pt x="10" y="2"/>
                      <a:pt x="7" y="2"/>
                      <a:pt x="6" y="2"/>
                    </a:cubicBezTo>
                    <a:cubicBezTo>
                      <a:pt x="5" y="2"/>
                      <a:pt x="5" y="2"/>
                      <a:pt x="5" y="3"/>
                    </a:cubicBezTo>
                    <a:cubicBezTo>
                      <a:pt x="5" y="3"/>
                      <a:pt x="5" y="5"/>
                      <a:pt x="4" y="6"/>
                    </a:cubicBezTo>
                    <a:cubicBezTo>
                      <a:pt x="4" y="6"/>
                      <a:pt x="4" y="7"/>
                      <a:pt x="4" y="7"/>
                    </a:cubicBezTo>
                    <a:cubicBezTo>
                      <a:pt x="4" y="7"/>
                      <a:pt x="5" y="9"/>
                      <a:pt x="5" y="10"/>
                    </a:cubicBezTo>
                    <a:cubicBezTo>
                      <a:pt x="5" y="11"/>
                      <a:pt x="6" y="13"/>
                      <a:pt x="6" y="14"/>
                    </a:cubicBezTo>
                    <a:cubicBezTo>
                      <a:pt x="6" y="15"/>
                      <a:pt x="6" y="19"/>
                      <a:pt x="6" y="20"/>
                    </a:cubicBezTo>
                    <a:cubicBezTo>
                      <a:pt x="6" y="21"/>
                      <a:pt x="6" y="21"/>
                      <a:pt x="7" y="22"/>
                    </a:cubicBezTo>
                    <a:cubicBezTo>
                      <a:pt x="7" y="22"/>
                      <a:pt x="7" y="23"/>
                      <a:pt x="8" y="24"/>
                    </a:cubicBezTo>
                    <a:cubicBezTo>
                      <a:pt x="8" y="24"/>
                      <a:pt x="8" y="25"/>
                      <a:pt x="8" y="2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63" name="Freeform 974">
                <a:extLst>
                  <a:ext uri="{FF2B5EF4-FFF2-40B4-BE49-F238E27FC236}">
                    <a16:creationId xmlns:a16="http://schemas.microsoft.com/office/drawing/2014/main" id="{E0FD4C21-F231-4F91-A86A-31FB03617649}"/>
                  </a:ext>
                </a:extLst>
              </p:cNvPr>
              <p:cNvSpPr>
                <a:spLocks/>
              </p:cNvSpPr>
              <p:nvPr/>
            </p:nvSpPr>
            <p:spPr bwMode="auto">
              <a:xfrm>
                <a:off x="3325" y="2462"/>
                <a:ext cx="127" cy="131"/>
              </a:xfrm>
              <a:custGeom>
                <a:avLst/>
                <a:gdLst>
                  <a:gd name="T0" fmla="*/ 43 w 92"/>
                  <a:gd name="T1" fmla="*/ 4 h 95"/>
                  <a:gd name="T2" fmla="*/ 37 w 92"/>
                  <a:gd name="T3" fmla="*/ 8 h 95"/>
                  <a:gd name="T4" fmla="*/ 36 w 92"/>
                  <a:gd name="T5" fmla="*/ 1 h 95"/>
                  <a:gd name="T6" fmla="*/ 34 w 92"/>
                  <a:gd name="T7" fmla="*/ 1 h 95"/>
                  <a:gd name="T8" fmla="*/ 33 w 92"/>
                  <a:gd name="T9" fmla="*/ 2 h 95"/>
                  <a:gd name="T10" fmla="*/ 30 w 92"/>
                  <a:gd name="T11" fmla="*/ 2 h 95"/>
                  <a:gd name="T12" fmla="*/ 29 w 92"/>
                  <a:gd name="T13" fmla="*/ 6 h 95"/>
                  <a:gd name="T14" fmla="*/ 25 w 92"/>
                  <a:gd name="T15" fmla="*/ 8 h 95"/>
                  <a:gd name="T16" fmla="*/ 21 w 92"/>
                  <a:gd name="T17" fmla="*/ 8 h 95"/>
                  <a:gd name="T18" fmla="*/ 19 w 92"/>
                  <a:gd name="T19" fmla="*/ 6 h 95"/>
                  <a:gd name="T20" fmla="*/ 13 w 92"/>
                  <a:gd name="T21" fmla="*/ 6 h 95"/>
                  <a:gd name="T22" fmla="*/ 10 w 92"/>
                  <a:gd name="T23" fmla="*/ 9 h 95"/>
                  <a:gd name="T24" fmla="*/ 8 w 92"/>
                  <a:gd name="T25" fmla="*/ 11 h 95"/>
                  <a:gd name="T26" fmla="*/ 8 w 92"/>
                  <a:gd name="T27" fmla="*/ 19 h 95"/>
                  <a:gd name="T28" fmla="*/ 12 w 92"/>
                  <a:gd name="T29" fmla="*/ 20 h 95"/>
                  <a:gd name="T30" fmla="*/ 13 w 92"/>
                  <a:gd name="T31" fmla="*/ 25 h 95"/>
                  <a:gd name="T32" fmla="*/ 11 w 92"/>
                  <a:gd name="T33" fmla="*/ 29 h 95"/>
                  <a:gd name="T34" fmla="*/ 13 w 92"/>
                  <a:gd name="T35" fmla="*/ 30 h 95"/>
                  <a:gd name="T36" fmla="*/ 14 w 92"/>
                  <a:gd name="T37" fmla="*/ 35 h 95"/>
                  <a:gd name="T38" fmla="*/ 12 w 92"/>
                  <a:gd name="T39" fmla="*/ 34 h 95"/>
                  <a:gd name="T40" fmla="*/ 8 w 92"/>
                  <a:gd name="T41" fmla="*/ 33 h 95"/>
                  <a:gd name="T42" fmla="*/ 9 w 92"/>
                  <a:gd name="T43" fmla="*/ 38 h 95"/>
                  <a:gd name="T44" fmla="*/ 10 w 92"/>
                  <a:gd name="T45" fmla="*/ 40 h 95"/>
                  <a:gd name="T46" fmla="*/ 9 w 92"/>
                  <a:gd name="T47" fmla="*/ 40 h 95"/>
                  <a:gd name="T48" fmla="*/ 9 w 92"/>
                  <a:gd name="T49" fmla="*/ 44 h 95"/>
                  <a:gd name="T50" fmla="*/ 5 w 92"/>
                  <a:gd name="T51" fmla="*/ 48 h 95"/>
                  <a:gd name="T52" fmla="*/ 3 w 92"/>
                  <a:gd name="T53" fmla="*/ 49 h 95"/>
                  <a:gd name="T54" fmla="*/ 1 w 92"/>
                  <a:gd name="T55" fmla="*/ 63 h 95"/>
                  <a:gd name="T56" fmla="*/ 6 w 92"/>
                  <a:gd name="T57" fmla="*/ 66 h 95"/>
                  <a:gd name="T58" fmla="*/ 12 w 92"/>
                  <a:gd name="T59" fmla="*/ 68 h 95"/>
                  <a:gd name="T60" fmla="*/ 19 w 92"/>
                  <a:gd name="T61" fmla="*/ 78 h 95"/>
                  <a:gd name="T62" fmla="*/ 16 w 92"/>
                  <a:gd name="T63" fmla="*/ 88 h 95"/>
                  <a:gd name="T64" fmla="*/ 17 w 92"/>
                  <a:gd name="T65" fmla="*/ 95 h 95"/>
                  <a:gd name="T66" fmla="*/ 28 w 92"/>
                  <a:gd name="T67" fmla="*/ 91 h 95"/>
                  <a:gd name="T68" fmla="*/ 47 w 92"/>
                  <a:gd name="T69" fmla="*/ 84 h 95"/>
                  <a:gd name="T70" fmla="*/ 58 w 92"/>
                  <a:gd name="T71" fmla="*/ 82 h 95"/>
                  <a:gd name="T72" fmla="*/ 72 w 92"/>
                  <a:gd name="T73" fmla="*/ 82 h 95"/>
                  <a:gd name="T74" fmla="*/ 82 w 92"/>
                  <a:gd name="T75" fmla="*/ 85 h 95"/>
                  <a:gd name="T76" fmla="*/ 87 w 92"/>
                  <a:gd name="T77" fmla="*/ 84 h 95"/>
                  <a:gd name="T78" fmla="*/ 88 w 92"/>
                  <a:gd name="T79" fmla="*/ 78 h 95"/>
                  <a:gd name="T80" fmla="*/ 81 w 92"/>
                  <a:gd name="T81" fmla="*/ 61 h 95"/>
                  <a:gd name="T82" fmla="*/ 83 w 92"/>
                  <a:gd name="T83" fmla="*/ 55 h 95"/>
                  <a:gd name="T84" fmla="*/ 87 w 92"/>
                  <a:gd name="T85" fmla="*/ 44 h 95"/>
                  <a:gd name="T86" fmla="*/ 91 w 92"/>
                  <a:gd name="T87" fmla="*/ 33 h 95"/>
                  <a:gd name="T88" fmla="*/ 90 w 92"/>
                  <a:gd name="T89" fmla="*/ 29 h 95"/>
                  <a:gd name="T90" fmla="*/ 87 w 92"/>
                  <a:gd name="T91" fmla="*/ 24 h 95"/>
                  <a:gd name="T92" fmla="*/ 88 w 92"/>
                  <a:gd name="T93" fmla="*/ 20 h 95"/>
                  <a:gd name="T94" fmla="*/ 84 w 92"/>
                  <a:gd name="T95" fmla="*/ 16 h 95"/>
                  <a:gd name="T96" fmla="*/ 81 w 92"/>
                  <a:gd name="T97" fmla="*/ 13 h 95"/>
                  <a:gd name="T98" fmla="*/ 76 w 92"/>
                  <a:gd name="T99" fmla="*/ 12 h 95"/>
                  <a:gd name="T100" fmla="*/ 67 w 92"/>
                  <a:gd name="T101" fmla="*/ 14 h 95"/>
                  <a:gd name="T102" fmla="*/ 65 w 92"/>
                  <a:gd name="T103" fmla="*/ 17 h 95"/>
                  <a:gd name="T104" fmla="*/ 61 w 92"/>
                  <a:gd name="T105" fmla="*/ 15 h 95"/>
                  <a:gd name="T106" fmla="*/ 54 w 92"/>
                  <a:gd name="T107" fmla="*/ 9 h 95"/>
                  <a:gd name="T108" fmla="*/ 51 w 92"/>
                  <a:gd name="T109" fmla="*/ 6 h 95"/>
                  <a:gd name="T110" fmla="*/ 47 w 92"/>
                  <a:gd name="T111" fmla="*/ 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2" h="95">
                    <a:moveTo>
                      <a:pt x="47" y="5"/>
                    </a:moveTo>
                    <a:cubicBezTo>
                      <a:pt x="46" y="4"/>
                      <a:pt x="44" y="5"/>
                      <a:pt x="43" y="4"/>
                    </a:cubicBezTo>
                    <a:cubicBezTo>
                      <a:pt x="43" y="4"/>
                      <a:pt x="42" y="5"/>
                      <a:pt x="41" y="7"/>
                    </a:cubicBezTo>
                    <a:cubicBezTo>
                      <a:pt x="40" y="8"/>
                      <a:pt x="38" y="8"/>
                      <a:pt x="37" y="8"/>
                    </a:cubicBezTo>
                    <a:cubicBezTo>
                      <a:pt x="37" y="8"/>
                      <a:pt x="36" y="8"/>
                      <a:pt x="36" y="7"/>
                    </a:cubicBezTo>
                    <a:cubicBezTo>
                      <a:pt x="36" y="6"/>
                      <a:pt x="36" y="1"/>
                      <a:pt x="36" y="1"/>
                    </a:cubicBezTo>
                    <a:cubicBezTo>
                      <a:pt x="36" y="0"/>
                      <a:pt x="36" y="0"/>
                      <a:pt x="35" y="0"/>
                    </a:cubicBezTo>
                    <a:cubicBezTo>
                      <a:pt x="35" y="1"/>
                      <a:pt x="34" y="1"/>
                      <a:pt x="34" y="1"/>
                    </a:cubicBezTo>
                    <a:cubicBezTo>
                      <a:pt x="33" y="1"/>
                      <a:pt x="33" y="1"/>
                      <a:pt x="33" y="2"/>
                    </a:cubicBezTo>
                    <a:cubicBezTo>
                      <a:pt x="34" y="2"/>
                      <a:pt x="33" y="2"/>
                      <a:pt x="33" y="2"/>
                    </a:cubicBezTo>
                    <a:cubicBezTo>
                      <a:pt x="33" y="2"/>
                      <a:pt x="32" y="2"/>
                      <a:pt x="31" y="1"/>
                    </a:cubicBezTo>
                    <a:cubicBezTo>
                      <a:pt x="31" y="1"/>
                      <a:pt x="30" y="1"/>
                      <a:pt x="30" y="2"/>
                    </a:cubicBezTo>
                    <a:cubicBezTo>
                      <a:pt x="29" y="3"/>
                      <a:pt x="30" y="4"/>
                      <a:pt x="30" y="5"/>
                    </a:cubicBezTo>
                    <a:cubicBezTo>
                      <a:pt x="30" y="6"/>
                      <a:pt x="30" y="6"/>
                      <a:pt x="29" y="6"/>
                    </a:cubicBezTo>
                    <a:cubicBezTo>
                      <a:pt x="29" y="6"/>
                      <a:pt x="28" y="6"/>
                      <a:pt x="26" y="6"/>
                    </a:cubicBezTo>
                    <a:cubicBezTo>
                      <a:pt x="25" y="6"/>
                      <a:pt x="25" y="7"/>
                      <a:pt x="25" y="8"/>
                    </a:cubicBezTo>
                    <a:cubicBezTo>
                      <a:pt x="25" y="8"/>
                      <a:pt x="24" y="9"/>
                      <a:pt x="24" y="8"/>
                    </a:cubicBezTo>
                    <a:cubicBezTo>
                      <a:pt x="23" y="8"/>
                      <a:pt x="22" y="8"/>
                      <a:pt x="21" y="8"/>
                    </a:cubicBezTo>
                    <a:cubicBezTo>
                      <a:pt x="20" y="8"/>
                      <a:pt x="20" y="7"/>
                      <a:pt x="20" y="7"/>
                    </a:cubicBezTo>
                    <a:cubicBezTo>
                      <a:pt x="19" y="6"/>
                      <a:pt x="19" y="6"/>
                      <a:pt x="19" y="6"/>
                    </a:cubicBezTo>
                    <a:cubicBezTo>
                      <a:pt x="17" y="5"/>
                      <a:pt x="16" y="4"/>
                      <a:pt x="15" y="5"/>
                    </a:cubicBezTo>
                    <a:cubicBezTo>
                      <a:pt x="14" y="5"/>
                      <a:pt x="14" y="6"/>
                      <a:pt x="13" y="6"/>
                    </a:cubicBezTo>
                    <a:cubicBezTo>
                      <a:pt x="13" y="7"/>
                      <a:pt x="12" y="8"/>
                      <a:pt x="11" y="8"/>
                    </a:cubicBezTo>
                    <a:cubicBezTo>
                      <a:pt x="11" y="8"/>
                      <a:pt x="10" y="8"/>
                      <a:pt x="10" y="9"/>
                    </a:cubicBezTo>
                    <a:cubicBezTo>
                      <a:pt x="9" y="9"/>
                      <a:pt x="9" y="10"/>
                      <a:pt x="8" y="10"/>
                    </a:cubicBezTo>
                    <a:cubicBezTo>
                      <a:pt x="8" y="11"/>
                      <a:pt x="8" y="11"/>
                      <a:pt x="8" y="11"/>
                    </a:cubicBezTo>
                    <a:cubicBezTo>
                      <a:pt x="8" y="11"/>
                      <a:pt x="7" y="15"/>
                      <a:pt x="7" y="16"/>
                    </a:cubicBezTo>
                    <a:cubicBezTo>
                      <a:pt x="7" y="16"/>
                      <a:pt x="7" y="17"/>
                      <a:pt x="8" y="19"/>
                    </a:cubicBezTo>
                    <a:cubicBezTo>
                      <a:pt x="9" y="21"/>
                      <a:pt x="11" y="20"/>
                      <a:pt x="12" y="20"/>
                    </a:cubicBezTo>
                    <a:cubicBezTo>
                      <a:pt x="12" y="20"/>
                      <a:pt x="12" y="20"/>
                      <a:pt x="12" y="20"/>
                    </a:cubicBezTo>
                    <a:cubicBezTo>
                      <a:pt x="12" y="21"/>
                      <a:pt x="13" y="23"/>
                      <a:pt x="13" y="24"/>
                    </a:cubicBezTo>
                    <a:cubicBezTo>
                      <a:pt x="14" y="25"/>
                      <a:pt x="14" y="25"/>
                      <a:pt x="13" y="25"/>
                    </a:cubicBezTo>
                    <a:cubicBezTo>
                      <a:pt x="13" y="26"/>
                      <a:pt x="11" y="28"/>
                      <a:pt x="11" y="28"/>
                    </a:cubicBezTo>
                    <a:cubicBezTo>
                      <a:pt x="10" y="29"/>
                      <a:pt x="11" y="29"/>
                      <a:pt x="11" y="29"/>
                    </a:cubicBezTo>
                    <a:cubicBezTo>
                      <a:pt x="11" y="29"/>
                      <a:pt x="11" y="29"/>
                      <a:pt x="12" y="29"/>
                    </a:cubicBezTo>
                    <a:cubicBezTo>
                      <a:pt x="12" y="30"/>
                      <a:pt x="12" y="30"/>
                      <a:pt x="13" y="30"/>
                    </a:cubicBezTo>
                    <a:cubicBezTo>
                      <a:pt x="14" y="31"/>
                      <a:pt x="15" y="35"/>
                      <a:pt x="15" y="35"/>
                    </a:cubicBezTo>
                    <a:cubicBezTo>
                      <a:pt x="15" y="36"/>
                      <a:pt x="14" y="35"/>
                      <a:pt x="14" y="35"/>
                    </a:cubicBezTo>
                    <a:cubicBezTo>
                      <a:pt x="13" y="35"/>
                      <a:pt x="13" y="35"/>
                      <a:pt x="13" y="35"/>
                    </a:cubicBezTo>
                    <a:cubicBezTo>
                      <a:pt x="13" y="34"/>
                      <a:pt x="13" y="34"/>
                      <a:pt x="12" y="34"/>
                    </a:cubicBezTo>
                    <a:cubicBezTo>
                      <a:pt x="12" y="34"/>
                      <a:pt x="12" y="34"/>
                      <a:pt x="11" y="34"/>
                    </a:cubicBezTo>
                    <a:cubicBezTo>
                      <a:pt x="11" y="34"/>
                      <a:pt x="10" y="33"/>
                      <a:pt x="8" y="33"/>
                    </a:cubicBezTo>
                    <a:cubicBezTo>
                      <a:pt x="7" y="34"/>
                      <a:pt x="6" y="35"/>
                      <a:pt x="6" y="36"/>
                    </a:cubicBezTo>
                    <a:cubicBezTo>
                      <a:pt x="7" y="38"/>
                      <a:pt x="9" y="39"/>
                      <a:pt x="9" y="38"/>
                    </a:cubicBezTo>
                    <a:cubicBezTo>
                      <a:pt x="9" y="38"/>
                      <a:pt x="9" y="39"/>
                      <a:pt x="9" y="39"/>
                    </a:cubicBezTo>
                    <a:cubicBezTo>
                      <a:pt x="9" y="39"/>
                      <a:pt x="10" y="39"/>
                      <a:pt x="10" y="40"/>
                    </a:cubicBezTo>
                    <a:cubicBezTo>
                      <a:pt x="11" y="41"/>
                      <a:pt x="10" y="41"/>
                      <a:pt x="10" y="41"/>
                    </a:cubicBezTo>
                    <a:cubicBezTo>
                      <a:pt x="10" y="41"/>
                      <a:pt x="10" y="41"/>
                      <a:pt x="9" y="40"/>
                    </a:cubicBezTo>
                    <a:cubicBezTo>
                      <a:pt x="9" y="40"/>
                      <a:pt x="9" y="41"/>
                      <a:pt x="9" y="41"/>
                    </a:cubicBezTo>
                    <a:cubicBezTo>
                      <a:pt x="9" y="41"/>
                      <a:pt x="9" y="43"/>
                      <a:pt x="9" y="44"/>
                    </a:cubicBezTo>
                    <a:cubicBezTo>
                      <a:pt x="9" y="44"/>
                      <a:pt x="7" y="46"/>
                      <a:pt x="7" y="47"/>
                    </a:cubicBezTo>
                    <a:cubicBezTo>
                      <a:pt x="6" y="48"/>
                      <a:pt x="5" y="48"/>
                      <a:pt x="5" y="48"/>
                    </a:cubicBezTo>
                    <a:cubicBezTo>
                      <a:pt x="3" y="47"/>
                      <a:pt x="3" y="47"/>
                      <a:pt x="3" y="47"/>
                    </a:cubicBezTo>
                    <a:cubicBezTo>
                      <a:pt x="3" y="48"/>
                      <a:pt x="3" y="49"/>
                      <a:pt x="3" y="49"/>
                    </a:cubicBezTo>
                    <a:cubicBezTo>
                      <a:pt x="4" y="50"/>
                      <a:pt x="6" y="55"/>
                      <a:pt x="5" y="57"/>
                    </a:cubicBezTo>
                    <a:cubicBezTo>
                      <a:pt x="4" y="60"/>
                      <a:pt x="4" y="61"/>
                      <a:pt x="1" y="63"/>
                    </a:cubicBezTo>
                    <a:cubicBezTo>
                      <a:pt x="1" y="63"/>
                      <a:pt x="0" y="63"/>
                      <a:pt x="1" y="64"/>
                    </a:cubicBezTo>
                    <a:cubicBezTo>
                      <a:pt x="3" y="65"/>
                      <a:pt x="6" y="66"/>
                      <a:pt x="6" y="66"/>
                    </a:cubicBezTo>
                    <a:cubicBezTo>
                      <a:pt x="6" y="66"/>
                      <a:pt x="7" y="66"/>
                      <a:pt x="8" y="66"/>
                    </a:cubicBezTo>
                    <a:cubicBezTo>
                      <a:pt x="8" y="66"/>
                      <a:pt x="11" y="66"/>
                      <a:pt x="12" y="68"/>
                    </a:cubicBezTo>
                    <a:cubicBezTo>
                      <a:pt x="14" y="69"/>
                      <a:pt x="15" y="70"/>
                      <a:pt x="16" y="71"/>
                    </a:cubicBezTo>
                    <a:cubicBezTo>
                      <a:pt x="17" y="72"/>
                      <a:pt x="19" y="75"/>
                      <a:pt x="19" y="78"/>
                    </a:cubicBezTo>
                    <a:cubicBezTo>
                      <a:pt x="19" y="80"/>
                      <a:pt x="19" y="82"/>
                      <a:pt x="18" y="83"/>
                    </a:cubicBezTo>
                    <a:cubicBezTo>
                      <a:pt x="18" y="84"/>
                      <a:pt x="16" y="88"/>
                      <a:pt x="16" y="88"/>
                    </a:cubicBezTo>
                    <a:cubicBezTo>
                      <a:pt x="16" y="88"/>
                      <a:pt x="16" y="89"/>
                      <a:pt x="16" y="90"/>
                    </a:cubicBezTo>
                    <a:cubicBezTo>
                      <a:pt x="16" y="90"/>
                      <a:pt x="17" y="93"/>
                      <a:pt x="17" y="95"/>
                    </a:cubicBezTo>
                    <a:cubicBezTo>
                      <a:pt x="18" y="95"/>
                      <a:pt x="19" y="95"/>
                      <a:pt x="19" y="95"/>
                    </a:cubicBezTo>
                    <a:cubicBezTo>
                      <a:pt x="22" y="93"/>
                      <a:pt x="23" y="92"/>
                      <a:pt x="28" y="91"/>
                    </a:cubicBezTo>
                    <a:cubicBezTo>
                      <a:pt x="32" y="89"/>
                      <a:pt x="37" y="87"/>
                      <a:pt x="38" y="87"/>
                    </a:cubicBezTo>
                    <a:cubicBezTo>
                      <a:pt x="39" y="86"/>
                      <a:pt x="44" y="84"/>
                      <a:pt x="47" y="84"/>
                    </a:cubicBezTo>
                    <a:cubicBezTo>
                      <a:pt x="50" y="84"/>
                      <a:pt x="53" y="84"/>
                      <a:pt x="54" y="83"/>
                    </a:cubicBezTo>
                    <a:cubicBezTo>
                      <a:pt x="55" y="82"/>
                      <a:pt x="57" y="82"/>
                      <a:pt x="58" y="82"/>
                    </a:cubicBezTo>
                    <a:cubicBezTo>
                      <a:pt x="59" y="82"/>
                      <a:pt x="62" y="82"/>
                      <a:pt x="65" y="81"/>
                    </a:cubicBezTo>
                    <a:cubicBezTo>
                      <a:pt x="67" y="81"/>
                      <a:pt x="70" y="81"/>
                      <a:pt x="72" y="82"/>
                    </a:cubicBezTo>
                    <a:cubicBezTo>
                      <a:pt x="74" y="83"/>
                      <a:pt x="78" y="84"/>
                      <a:pt x="79" y="84"/>
                    </a:cubicBezTo>
                    <a:cubicBezTo>
                      <a:pt x="80" y="84"/>
                      <a:pt x="81" y="84"/>
                      <a:pt x="82" y="85"/>
                    </a:cubicBezTo>
                    <a:cubicBezTo>
                      <a:pt x="82" y="84"/>
                      <a:pt x="83" y="84"/>
                      <a:pt x="84" y="84"/>
                    </a:cubicBezTo>
                    <a:cubicBezTo>
                      <a:pt x="85" y="84"/>
                      <a:pt x="87" y="84"/>
                      <a:pt x="87" y="84"/>
                    </a:cubicBezTo>
                    <a:cubicBezTo>
                      <a:pt x="88" y="84"/>
                      <a:pt x="88" y="83"/>
                      <a:pt x="88" y="82"/>
                    </a:cubicBezTo>
                    <a:cubicBezTo>
                      <a:pt x="88" y="80"/>
                      <a:pt x="88" y="79"/>
                      <a:pt x="88" y="78"/>
                    </a:cubicBezTo>
                    <a:cubicBezTo>
                      <a:pt x="87" y="78"/>
                      <a:pt x="83" y="75"/>
                      <a:pt x="82" y="70"/>
                    </a:cubicBezTo>
                    <a:cubicBezTo>
                      <a:pt x="81" y="65"/>
                      <a:pt x="81" y="62"/>
                      <a:pt x="81" y="61"/>
                    </a:cubicBezTo>
                    <a:cubicBezTo>
                      <a:pt x="81" y="60"/>
                      <a:pt x="81" y="59"/>
                      <a:pt x="81" y="58"/>
                    </a:cubicBezTo>
                    <a:cubicBezTo>
                      <a:pt x="82" y="57"/>
                      <a:pt x="83" y="55"/>
                      <a:pt x="83" y="55"/>
                    </a:cubicBezTo>
                    <a:cubicBezTo>
                      <a:pt x="83" y="54"/>
                      <a:pt x="86" y="46"/>
                      <a:pt x="86" y="45"/>
                    </a:cubicBezTo>
                    <a:cubicBezTo>
                      <a:pt x="86" y="45"/>
                      <a:pt x="87" y="44"/>
                      <a:pt x="87" y="44"/>
                    </a:cubicBezTo>
                    <a:cubicBezTo>
                      <a:pt x="88" y="43"/>
                      <a:pt x="90" y="40"/>
                      <a:pt x="91" y="39"/>
                    </a:cubicBezTo>
                    <a:cubicBezTo>
                      <a:pt x="91" y="38"/>
                      <a:pt x="92" y="35"/>
                      <a:pt x="91" y="33"/>
                    </a:cubicBezTo>
                    <a:cubicBezTo>
                      <a:pt x="90" y="30"/>
                      <a:pt x="90" y="30"/>
                      <a:pt x="90" y="30"/>
                    </a:cubicBezTo>
                    <a:cubicBezTo>
                      <a:pt x="90" y="30"/>
                      <a:pt x="90" y="29"/>
                      <a:pt x="90" y="29"/>
                    </a:cubicBezTo>
                    <a:cubicBezTo>
                      <a:pt x="90" y="29"/>
                      <a:pt x="89" y="29"/>
                      <a:pt x="89" y="29"/>
                    </a:cubicBezTo>
                    <a:cubicBezTo>
                      <a:pt x="89" y="28"/>
                      <a:pt x="87" y="26"/>
                      <a:pt x="87" y="24"/>
                    </a:cubicBezTo>
                    <a:cubicBezTo>
                      <a:pt x="88" y="22"/>
                      <a:pt x="88" y="20"/>
                      <a:pt x="89" y="19"/>
                    </a:cubicBezTo>
                    <a:cubicBezTo>
                      <a:pt x="88" y="20"/>
                      <a:pt x="88" y="20"/>
                      <a:pt x="88" y="20"/>
                    </a:cubicBezTo>
                    <a:cubicBezTo>
                      <a:pt x="86" y="21"/>
                      <a:pt x="85" y="16"/>
                      <a:pt x="85" y="16"/>
                    </a:cubicBezTo>
                    <a:cubicBezTo>
                      <a:pt x="85" y="16"/>
                      <a:pt x="85" y="16"/>
                      <a:pt x="84" y="16"/>
                    </a:cubicBezTo>
                    <a:cubicBezTo>
                      <a:pt x="83" y="15"/>
                      <a:pt x="82" y="14"/>
                      <a:pt x="82" y="14"/>
                    </a:cubicBezTo>
                    <a:cubicBezTo>
                      <a:pt x="81" y="13"/>
                      <a:pt x="81" y="13"/>
                      <a:pt x="81" y="13"/>
                    </a:cubicBezTo>
                    <a:cubicBezTo>
                      <a:pt x="81" y="12"/>
                      <a:pt x="81" y="12"/>
                      <a:pt x="81" y="12"/>
                    </a:cubicBezTo>
                    <a:cubicBezTo>
                      <a:pt x="81" y="12"/>
                      <a:pt x="76" y="12"/>
                      <a:pt x="76" y="12"/>
                    </a:cubicBezTo>
                    <a:cubicBezTo>
                      <a:pt x="75" y="12"/>
                      <a:pt x="72" y="12"/>
                      <a:pt x="71" y="12"/>
                    </a:cubicBezTo>
                    <a:cubicBezTo>
                      <a:pt x="71" y="13"/>
                      <a:pt x="67" y="14"/>
                      <a:pt x="67" y="14"/>
                    </a:cubicBezTo>
                    <a:cubicBezTo>
                      <a:pt x="67" y="14"/>
                      <a:pt x="66" y="15"/>
                      <a:pt x="66" y="15"/>
                    </a:cubicBezTo>
                    <a:cubicBezTo>
                      <a:pt x="66" y="15"/>
                      <a:pt x="65" y="16"/>
                      <a:pt x="65" y="17"/>
                    </a:cubicBezTo>
                    <a:cubicBezTo>
                      <a:pt x="65" y="17"/>
                      <a:pt x="64" y="17"/>
                      <a:pt x="64" y="17"/>
                    </a:cubicBezTo>
                    <a:cubicBezTo>
                      <a:pt x="64" y="17"/>
                      <a:pt x="62" y="16"/>
                      <a:pt x="61" y="15"/>
                    </a:cubicBezTo>
                    <a:cubicBezTo>
                      <a:pt x="60" y="15"/>
                      <a:pt x="59" y="15"/>
                      <a:pt x="59" y="15"/>
                    </a:cubicBezTo>
                    <a:cubicBezTo>
                      <a:pt x="55" y="14"/>
                      <a:pt x="54" y="9"/>
                      <a:pt x="54" y="9"/>
                    </a:cubicBezTo>
                    <a:cubicBezTo>
                      <a:pt x="54" y="8"/>
                      <a:pt x="53" y="7"/>
                      <a:pt x="53" y="7"/>
                    </a:cubicBezTo>
                    <a:cubicBezTo>
                      <a:pt x="52" y="6"/>
                      <a:pt x="51" y="6"/>
                      <a:pt x="51" y="6"/>
                    </a:cubicBezTo>
                    <a:cubicBezTo>
                      <a:pt x="50" y="6"/>
                      <a:pt x="48" y="5"/>
                      <a:pt x="47" y="5"/>
                    </a:cubicBezTo>
                    <a:cubicBezTo>
                      <a:pt x="47" y="5"/>
                      <a:pt x="47" y="5"/>
                      <a:pt x="47"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64" name="Freeform 975">
                <a:extLst>
                  <a:ext uri="{FF2B5EF4-FFF2-40B4-BE49-F238E27FC236}">
                    <a16:creationId xmlns:a16="http://schemas.microsoft.com/office/drawing/2014/main" id="{7431204A-61AE-40F6-A16C-43A5983D82D3}"/>
                  </a:ext>
                </a:extLst>
              </p:cNvPr>
              <p:cNvSpPr>
                <a:spLocks/>
              </p:cNvSpPr>
              <p:nvPr/>
            </p:nvSpPr>
            <p:spPr bwMode="auto">
              <a:xfrm>
                <a:off x="3251" y="2162"/>
                <a:ext cx="339" cy="313"/>
              </a:xfrm>
              <a:custGeom>
                <a:avLst/>
                <a:gdLst>
                  <a:gd name="T0" fmla="*/ 11 w 245"/>
                  <a:gd name="T1" fmla="*/ 197 h 228"/>
                  <a:gd name="T2" fmla="*/ 15 w 245"/>
                  <a:gd name="T3" fmla="*/ 200 h 228"/>
                  <a:gd name="T4" fmla="*/ 23 w 245"/>
                  <a:gd name="T5" fmla="*/ 201 h 228"/>
                  <a:gd name="T6" fmla="*/ 31 w 245"/>
                  <a:gd name="T7" fmla="*/ 198 h 228"/>
                  <a:gd name="T8" fmla="*/ 38 w 245"/>
                  <a:gd name="T9" fmla="*/ 199 h 228"/>
                  <a:gd name="T10" fmla="*/ 43 w 245"/>
                  <a:gd name="T11" fmla="*/ 195 h 228"/>
                  <a:gd name="T12" fmla="*/ 46 w 245"/>
                  <a:gd name="T13" fmla="*/ 193 h 228"/>
                  <a:gd name="T14" fmla="*/ 51 w 245"/>
                  <a:gd name="T15" fmla="*/ 203 h 228"/>
                  <a:gd name="T16" fmla="*/ 57 w 245"/>
                  <a:gd name="T17" fmla="*/ 209 h 228"/>
                  <a:gd name="T18" fmla="*/ 53 w 245"/>
                  <a:gd name="T19" fmla="*/ 215 h 228"/>
                  <a:gd name="T20" fmla="*/ 57 w 245"/>
                  <a:gd name="T21" fmla="*/ 214 h 228"/>
                  <a:gd name="T22" fmla="*/ 63 w 245"/>
                  <a:gd name="T23" fmla="*/ 228 h 228"/>
                  <a:gd name="T24" fmla="*/ 68 w 245"/>
                  <a:gd name="T25" fmla="*/ 224 h 228"/>
                  <a:gd name="T26" fmla="*/ 74 w 245"/>
                  <a:gd name="T27" fmla="*/ 227 h 228"/>
                  <a:gd name="T28" fmla="*/ 79 w 245"/>
                  <a:gd name="T29" fmla="*/ 225 h 228"/>
                  <a:gd name="T30" fmla="*/ 83 w 245"/>
                  <a:gd name="T31" fmla="*/ 221 h 228"/>
                  <a:gd name="T32" fmla="*/ 86 w 245"/>
                  <a:gd name="T33" fmla="*/ 221 h 228"/>
                  <a:gd name="T34" fmla="*/ 89 w 245"/>
                  <a:gd name="T35" fmla="*/ 220 h 228"/>
                  <a:gd name="T36" fmla="*/ 94 w 245"/>
                  <a:gd name="T37" fmla="*/ 226 h 228"/>
                  <a:gd name="T38" fmla="*/ 100 w 245"/>
                  <a:gd name="T39" fmla="*/ 222 h 228"/>
                  <a:gd name="T40" fmla="*/ 100 w 245"/>
                  <a:gd name="T41" fmla="*/ 214 h 228"/>
                  <a:gd name="T42" fmla="*/ 104 w 245"/>
                  <a:gd name="T43" fmla="*/ 204 h 228"/>
                  <a:gd name="T44" fmla="*/ 104 w 245"/>
                  <a:gd name="T45" fmla="*/ 202 h 228"/>
                  <a:gd name="T46" fmla="*/ 113 w 245"/>
                  <a:gd name="T47" fmla="*/ 199 h 228"/>
                  <a:gd name="T48" fmla="*/ 115 w 245"/>
                  <a:gd name="T49" fmla="*/ 190 h 228"/>
                  <a:gd name="T50" fmla="*/ 119 w 245"/>
                  <a:gd name="T51" fmla="*/ 188 h 228"/>
                  <a:gd name="T52" fmla="*/ 118 w 245"/>
                  <a:gd name="T53" fmla="*/ 184 h 228"/>
                  <a:gd name="T54" fmla="*/ 123 w 245"/>
                  <a:gd name="T55" fmla="*/ 177 h 228"/>
                  <a:gd name="T56" fmla="*/ 131 w 245"/>
                  <a:gd name="T57" fmla="*/ 182 h 228"/>
                  <a:gd name="T58" fmla="*/ 133 w 245"/>
                  <a:gd name="T59" fmla="*/ 175 h 228"/>
                  <a:gd name="T60" fmla="*/ 138 w 245"/>
                  <a:gd name="T61" fmla="*/ 175 h 228"/>
                  <a:gd name="T62" fmla="*/ 147 w 245"/>
                  <a:gd name="T63" fmla="*/ 166 h 228"/>
                  <a:gd name="T64" fmla="*/ 152 w 245"/>
                  <a:gd name="T65" fmla="*/ 165 h 228"/>
                  <a:gd name="T66" fmla="*/ 166 w 245"/>
                  <a:gd name="T67" fmla="*/ 157 h 228"/>
                  <a:gd name="T68" fmla="*/ 175 w 245"/>
                  <a:gd name="T69" fmla="*/ 153 h 228"/>
                  <a:gd name="T70" fmla="*/ 185 w 245"/>
                  <a:gd name="T71" fmla="*/ 156 h 228"/>
                  <a:gd name="T72" fmla="*/ 202 w 245"/>
                  <a:gd name="T73" fmla="*/ 150 h 228"/>
                  <a:gd name="T74" fmla="*/ 229 w 245"/>
                  <a:gd name="T75" fmla="*/ 149 h 228"/>
                  <a:gd name="T76" fmla="*/ 241 w 245"/>
                  <a:gd name="T77" fmla="*/ 141 h 228"/>
                  <a:gd name="T78" fmla="*/ 245 w 245"/>
                  <a:gd name="T79" fmla="*/ 112 h 228"/>
                  <a:gd name="T80" fmla="*/ 237 w 245"/>
                  <a:gd name="T81" fmla="*/ 93 h 228"/>
                  <a:gd name="T82" fmla="*/ 230 w 245"/>
                  <a:gd name="T83" fmla="*/ 86 h 228"/>
                  <a:gd name="T84" fmla="*/ 216 w 245"/>
                  <a:gd name="T85" fmla="*/ 74 h 228"/>
                  <a:gd name="T86" fmla="*/ 206 w 245"/>
                  <a:gd name="T87" fmla="*/ 70 h 228"/>
                  <a:gd name="T88" fmla="*/ 197 w 245"/>
                  <a:gd name="T89" fmla="*/ 59 h 228"/>
                  <a:gd name="T90" fmla="*/ 109 w 245"/>
                  <a:gd name="T91" fmla="*/ 0 h 228"/>
                  <a:gd name="T92" fmla="*/ 86 w 245"/>
                  <a:gd name="T93" fmla="*/ 16 h 228"/>
                  <a:gd name="T94" fmla="*/ 100 w 245"/>
                  <a:gd name="T95" fmla="*/ 131 h 228"/>
                  <a:gd name="T96" fmla="*/ 100 w 245"/>
                  <a:gd name="T97" fmla="*/ 147 h 228"/>
                  <a:gd name="T98" fmla="*/ 44 w 245"/>
                  <a:gd name="T99" fmla="*/ 146 h 228"/>
                  <a:gd name="T100" fmla="*/ 23 w 245"/>
                  <a:gd name="T101" fmla="*/ 148 h 228"/>
                  <a:gd name="T102" fmla="*/ 19 w 245"/>
                  <a:gd name="T103" fmla="*/ 152 h 228"/>
                  <a:gd name="T104" fmla="*/ 8 w 245"/>
                  <a:gd name="T105" fmla="*/ 146 h 228"/>
                  <a:gd name="T106" fmla="*/ 6 w 245"/>
                  <a:gd name="T107" fmla="*/ 157 h 228"/>
                  <a:gd name="T108" fmla="*/ 0 w 245"/>
                  <a:gd name="T109" fmla="*/ 158 h 228"/>
                  <a:gd name="T110" fmla="*/ 3 w 245"/>
                  <a:gd name="T111" fmla="*/ 172 h 228"/>
                  <a:gd name="T112" fmla="*/ 7 w 245"/>
                  <a:gd name="T113" fmla="*/ 179 h 228"/>
                  <a:gd name="T114" fmla="*/ 13 w 245"/>
                  <a:gd name="T115" fmla="*/ 1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45" h="228">
                    <a:moveTo>
                      <a:pt x="13" y="194"/>
                    </a:moveTo>
                    <a:cubicBezTo>
                      <a:pt x="13" y="194"/>
                      <a:pt x="13" y="194"/>
                      <a:pt x="13" y="194"/>
                    </a:cubicBezTo>
                    <a:cubicBezTo>
                      <a:pt x="12" y="195"/>
                      <a:pt x="11" y="197"/>
                      <a:pt x="11" y="197"/>
                    </a:cubicBezTo>
                    <a:cubicBezTo>
                      <a:pt x="11" y="197"/>
                      <a:pt x="11" y="197"/>
                      <a:pt x="11" y="197"/>
                    </a:cubicBezTo>
                    <a:cubicBezTo>
                      <a:pt x="12" y="198"/>
                      <a:pt x="14" y="200"/>
                      <a:pt x="14" y="200"/>
                    </a:cubicBezTo>
                    <a:cubicBezTo>
                      <a:pt x="14" y="200"/>
                      <a:pt x="15" y="200"/>
                      <a:pt x="15" y="200"/>
                    </a:cubicBezTo>
                    <a:cubicBezTo>
                      <a:pt x="15" y="200"/>
                      <a:pt x="18" y="198"/>
                      <a:pt x="18" y="198"/>
                    </a:cubicBezTo>
                    <a:cubicBezTo>
                      <a:pt x="18" y="198"/>
                      <a:pt x="20" y="196"/>
                      <a:pt x="21" y="198"/>
                    </a:cubicBezTo>
                    <a:cubicBezTo>
                      <a:pt x="23" y="200"/>
                      <a:pt x="23" y="201"/>
                      <a:pt x="23" y="201"/>
                    </a:cubicBezTo>
                    <a:cubicBezTo>
                      <a:pt x="23" y="201"/>
                      <a:pt x="23" y="201"/>
                      <a:pt x="24" y="201"/>
                    </a:cubicBezTo>
                    <a:cubicBezTo>
                      <a:pt x="24" y="201"/>
                      <a:pt x="25" y="199"/>
                      <a:pt x="26" y="199"/>
                    </a:cubicBezTo>
                    <a:cubicBezTo>
                      <a:pt x="28" y="199"/>
                      <a:pt x="31" y="198"/>
                      <a:pt x="31" y="198"/>
                    </a:cubicBezTo>
                    <a:cubicBezTo>
                      <a:pt x="31" y="198"/>
                      <a:pt x="32" y="198"/>
                      <a:pt x="32" y="198"/>
                    </a:cubicBezTo>
                    <a:cubicBezTo>
                      <a:pt x="32" y="198"/>
                      <a:pt x="36" y="199"/>
                      <a:pt x="37" y="199"/>
                    </a:cubicBezTo>
                    <a:cubicBezTo>
                      <a:pt x="38" y="199"/>
                      <a:pt x="38" y="199"/>
                      <a:pt x="38" y="199"/>
                    </a:cubicBezTo>
                    <a:cubicBezTo>
                      <a:pt x="38" y="198"/>
                      <a:pt x="38" y="198"/>
                      <a:pt x="38" y="198"/>
                    </a:cubicBezTo>
                    <a:cubicBezTo>
                      <a:pt x="39" y="198"/>
                      <a:pt x="40" y="197"/>
                      <a:pt x="41" y="197"/>
                    </a:cubicBezTo>
                    <a:cubicBezTo>
                      <a:pt x="42" y="196"/>
                      <a:pt x="43" y="196"/>
                      <a:pt x="43" y="195"/>
                    </a:cubicBezTo>
                    <a:cubicBezTo>
                      <a:pt x="43" y="194"/>
                      <a:pt x="43" y="193"/>
                      <a:pt x="43" y="193"/>
                    </a:cubicBezTo>
                    <a:cubicBezTo>
                      <a:pt x="43" y="192"/>
                      <a:pt x="44" y="192"/>
                      <a:pt x="44" y="192"/>
                    </a:cubicBezTo>
                    <a:cubicBezTo>
                      <a:pt x="44" y="192"/>
                      <a:pt x="46" y="193"/>
                      <a:pt x="46" y="193"/>
                    </a:cubicBezTo>
                    <a:cubicBezTo>
                      <a:pt x="46" y="193"/>
                      <a:pt x="47" y="194"/>
                      <a:pt x="47" y="194"/>
                    </a:cubicBezTo>
                    <a:cubicBezTo>
                      <a:pt x="47" y="194"/>
                      <a:pt x="51" y="199"/>
                      <a:pt x="51" y="200"/>
                    </a:cubicBezTo>
                    <a:cubicBezTo>
                      <a:pt x="51" y="201"/>
                      <a:pt x="51" y="203"/>
                      <a:pt x="51" y="203"/>
                    </a:cubicBezTo>
                    <a:cubicBezTo>
                      <a:pt x="51" y="204"/>
                      <a:pt x="50" y="205"/>
                      <a:pt x="52" y="205"/>
                    </a:cubicBezTo>
                    <a:cubicBezTo>
                      <a:pt x="53" y="205"/>
                      <a:pt x="53" y="205"/>
                      <a:pt x="53" y="206"/>
                    </a:cubicBezTo>
                    <a:cubicBezTo>
                      <a:pt x="54" y="207"/>
                      <a:pt x="56" y="209"/>
                      <a:pt x="57" y="209"/>
                    </a:cubicBezTo>
                    <a:cubicBezTo>
                      <a:pt x="57" y="210"/>
                      <a:pt x="58" y="211"/>
                      <a:pt x="57" y="211"/>
                    </a:cubicBezTo>
                    <a:cubicBezTo>
                      <a:pt x="57" y="211"/>
                      <a:pt x="56" y="211"/>
                      <a:pt x="56" y="211"/>
                    </a:cubicBezTo>
                    <a:cubicBezTo>
                      <a:pt x="56" y="211"/>
                      <a:pt x="54" y="213"/>
                      <a:pt x="53" y="215"/>
                    </a:cubicBezTo>
                    <a:cubicBezTo>
                      <a:pt x="52" y="216"/>
                      <a:pt x="53" y="216"/>
                      <a:pt x="53" y="216"/>
                    </a:cubicBezTo>
                    <a:cubicBezTo>
                      <a:pt x="54" y="216"/>
                      <a:pt x="55" y="216"/>
                      <a:pt x="55" y="215"/>
                    </a:cubicBezTo>
                    <a:cubicBezTo>
                      <a:pt x="56" y="215"/>
                      <a:pt x="56" y="214"/>
                      <a:pt x="57" y="214"/>
                    </a:cubicBezTo>
                    <a:cubicBezTo>
                      <a:pt x="57" y="214"/>
                      <a:pt x="59" y="215"/>
                      <a:pt x="59" y="216"/>
                    </a:cubicBezTo>
                    <a:cubicBezTo>
                      <a:pt x="59" y="218"/>
                      <a:pt x="58" y="221"/>
                      <a:pt x="59" y="223"/>
                    </a:cubicBezTo>
                    <a:cubicBezTo>
                      <a:pt x="60" y="224"/>
                      <a:pt x="62" y="226"/>
                      <a:pt x="63" y="228"/>
                    </a:cubicBezTo>
                    <a:cubicBezTo>
                      <a:pt x="63" y="227"/>
                      <a:pt x="64" y="227"/>
                      <a:pt x="64" y="227"/>
                    </a:cubicBezTo>
                    <a:cubicBezTo>
                      <a:pt x="65" y="227"/>
                      <a:pt x="66" y="226"/>
                      <a:pt x="66" y="225"/>
                    </a:cubicBezTo>
                    <a:cubicBezTo>
                      <a:pt x="67" y="225"/>
                      <a:pt x="67" y="224"/>
                      <a:pt x="68" y="224"/>
                    </a:cubicBezTo>
                    <a:cubicBezTo>
                      <a:pt x="69" y="223"/>
                      <a:pt x="70" y="224"/>
                      <a:pt x="72" y="225"/>
                    </a:cubicBezTo>
                    <a:cubicBezTo>
                      <a:pt x="72" y="225"/>
                      <a:pt x="72" y="225"/>
                      <a:pt x="73" y="226"/>
                    </a:cubicBezTo>
                    <a:cubicBezTo>
                      <a:pt x="73" y="226"/>
                      <a:pt x="73" y="227"/>
                      <a:pt x="74" y="227"/>
                    </a:cubicBezTo>
                    <a:cubicBezTo>
                      <a:pt x="75" y="227"/>
                      <a:pt x="76" y="227"/>
                      <a:pt x="77" y="227"/>
                    </a:cubicBezTo>
                    <a:cubicBezTo>
                      <a:pt x="77" y="228"/>
                      <a:pt x="78" y="227"/>
                      <a:pt x="78" y="227"/>
                    </a:cubicBezTo>
                    <a:cubicBezTo>
                      <a:pt x="78" y="226"/>
                      <a:pt x="78" y="225"/>
                      <a:pt x="79" y="225"/>
                    </a:cubicBezTo>
                    <a:cubicBezTo>
                      <a:pt x="81" y="225"/>
                      <a:pt x="82" y="225"/>
                      <a:pt x="82" y="225"/>
                    </a:cubicBezTo>
                    <a:cubicBezTo>
                      <a:pt x="83" y="225"/>
                      <a:pt x="83" y="225"/>
                      <a:pt x="83" y="224"/>
                    </a:cubicBezTo>
                    <a:cubicBezTo>
                      <a:pt x="83" y="223"/>
                      <a:pt x="82" y="222"/>
                      <a:pt x="83" y="221"/>
                    </a:cubicBezTo>
                    <a:cubicBezTo>
                      <a:pt x="83" y="220"/>
                      <a:pt x="84" y="220"/>
                      <a:pt x="84" y="220"/>
                    </a:cubicBezTo>
                    <a:cubicBezTo>
                      <a:pt x="85" y="221"/>
                      <a:pt x="86" y="221"/>
                      <a:pt x="86" y="221"/>
                    </a:cubicBezTo>
                    <a:cubicBezTo>
                      <a:pt x="86" y="221"/>
                      <a:pt x="87" y="221"/>
                      <a:pt x="86" y="221"/>
                    </a:cubicBezTo>
                    <a:cubicBezTo>
                      <a:pt x="86" y="220"/>
                      <a:pt x="86" y="220"/>
                      <a:pt x="87" y="220"/>
                    </a:cubicBezTo>
                    <a:cubicBezTo>
                      <a:pt x="87" y="220"/>
                      <a:pt x="88" y="220"/>
                      <a:pt x="88" y="219"/>
                    </a:cubicBezTo>
                    <a:cubicBezTo>
                      <a:pt x="89" y="219"/>
                      <a:pt x="89" y="219"/>
                      <a:pt x="89" y="220"/>
                    </a:cubicBezTo>
                    <a:cubicBezTo>
                      <a:pt x="89" y="220"/>
                      <a:pt x="89" y="225"/>
                      <a:pt x="89" y="226"/>
                    </a:cubicBezTo>
                    <a:cubicBezTo>
                      <a:pt x="89" y="227"/>
                      <a:pt x="90" y="227"/>
                      <a:pt x="90" y="227"/>
                    </a:cubicBezTo>
                    <a:cubicBezTo>
                      <a:pt x="91" y="227"/>
                      <a:pt x="93" y="227"/>
                      <a:pt x="94" y="226"/>
                    </a:cubicBezTo>
                    <a:cubicBezTo>
                      <a:pt x="95" y="224"/>
                      <a:pt x="96" y="223"/>
                      <a:pt x="96" y="223"/>
                    </a:cubicBezTo>
                    <a:cubicBezTo>
                      <a:pt x="97" y="224"/>
                      <a:pt x="99" y="223"/>
                      <a:pt x="100" y="224"/>
                    </a:cubicBezTo>
                    <a:cubicBezTo>
                      <a:pt x="100" y="223"/>
                      <a:pt x="100" y="223"/>
                      <a:pt x="100" y="222"/>
                    </a:cubicBezTo>
                    <a:cubicBezTo>
                      <a:pt x="100" y="222"/>
                      <a:pt x="101" y="220"/>
                      <a:pt x="101" y="219"/>
                    </a:cubicBezTo>
                    <a:cubicBezTo>
                      <a:pt x="100" y="218"/>
                      <a:pt x="100" y="215"/>
                      <a:pt x="100" y="215"/>
                    </a:cubicBezTo>
                    <a:cubicBezTo>
                      <a:pt x="100" y="215"/>
                      <a:pt x="100" y="214"/>
                      <a:pt x="100" y="214"/>
                    </a:cubicBezTo>
                    <a:cubicBezTo>
                      <a:pt x="101" y="214"/>
                      <a:pt x="103" y="213"/>
                      <a:pt x="103" y="212"/>
                    </a:cubicBezTo>
                    <a:cubicBezTo>
                      <a:pt x="103" y="211"/>
                      <a:pt x="104" y="209"/>
                      <a:pt x="104" y="208"/>
                    </a:cubicBezTo>
                    <a:cubicBezTo>
                      <a:pt x="104" y="208"/>
                      <a:pt x="104" y="204"/>
                      <a:pt x="104" y="204"/>
                    </a:cubicBezTo>
                    <a:cubicBezTo>
                      <a:pt x="104" y="204"/>
                      <a:pt x="103" y="204"/>
                      <a:pt x="103" y="204"/>
                    </a:cubicBezTo>
                    <a:cubicBezTo>
                      <a:pt x="103" y="203"/>
                      <a:pt x="101" y="203"/>
                      <a:pt x="102" y="203"/>
                    </a:cubicBezTo>
                    <a:cubicBezTo>
                      <a:pt x="102" y="202"/>
                      <a:pt x="103" y="202"/>
                      <a:pt x="104" y="202"/>
                    </a:cubicBezTo>
                    <a:cubicBezTo>
                      <a:pt x="105" y="201"/>
                      <a:pt x="108" y="200"/>
                      <a:pt x="108" y="200"/>
                    </a:cubicBezTo>
                    <a:cubicBezTo>
                      <a:pt x="108" y="200"/>
                      <a:pt x="110" y="200"/>
                      <a:pt x="111" y="200"/>
                    </a:cubicBezTo>
                    <a:cubicBezTo>
                      <a:pt x="111" y="200"/>
                      <a:pt x="112" y="199"/>
                      <a:pt x="113" y="199"/>
                    </a:cubicBezTo>
                    <a:cubicBezTo>
                      <a:pt x="114" y="198"/>
                      <a:pt x="116" y="196"/>
                      <a:pt x="116" y="196"/>
                    </a:cubicBezTo>
                    <a:cubicBezTo>
                      <a:pt x="116" y="196"/>
                      <a:pt x="116" y="195"/>
                      <a:pt x="116" y="195"/>
                    </a:cubicBezTo>
                    <a:cubicBezTo>
                      <a:pt x="116" y="194"/>
                      <a:pt x="115" y="190"/>
                      <a:pt x="115" y="190"/>
                    </a:cubicBezTo>
                    <a:cubicBezTo>
                      <a:pt x="115" y="190"/>
                      <a:pt x="115" y="189"/>
                      <a:pt x="116" y="189"/>
                    </a:cubicBezTo>
                    <a:cubicBezTo>
                      <a:pt x="117" y="189"/>
                      <a:pt x="119" y="189"/>
                      <a:pt x="119" y="189"/>
                    </a:cubicBezTo>
                    <a:cubicBezTo>
                      <a:pt x="119" y="189"/>
                      <a:pt x="119" y="189"/>
                      <a:pt x="119" y="188"/>
                    </a:cubicBezTo>
                    <a:cubicBezTo>
                      <a:pt x="119" y="187"/>
                      <a:pt x="119" y="186"/>
                      <a:pt x="119" y="186"/>
                    </a:cubicBezTo>
                    <a:cubicBezTo>
                      <a:pt x="119" y="186"/>
                      <a:pt x="119" y="185"/>
                      <a:pt x="119" y="185"/>
                    </a:cubicBezTo>
                    <a:cubicBezTo>
                      <a:pt x="119" y="185"/>
                      <a:pt x="118" y="185"/>
                      <a:pt x="118" y="184"/>
                    </a:cubicBezTo>
                    <a:cubicBezTo>
                      <a:pt x="118" y="184"/>
                      <a:pt x="119" y="182"/>
                      <a:pt x="119" y="181"/>
                    </a:cubicBezTo>
                    <a:cubicBezTo>
                      <a:pt x="120" y="181"/>
                      <a:pt x="122" y="178"/>
                      <a:pt x="122" y="178"/>
                    </a:cubicBezTo>
                    <a:cubicBezTo>
                      <a:pt x="122" y="178"/>
                      <a:pt x="123" y="177"/>
                      <a:pt x="123" y="177"/>
                    </a:cubicBezTo>
                    <a:cubicBezTo>
                      <a:pt x="123" y="178"/>
                      <a:pt x="124" y="179"/>
                      <a:pt x="125" y="180"/>
                    </a:cubicBezTo>
                    <a:cubicBezTo>
                      <a:pt x="125" y="180"/>
                      <a:pt x="130" y="182"/>
                      <a:pt x="130" y="182"/>
                    </a:cubicBezTo>
                    <a:cubicBezTo>
                      <a:pt x="130" y="182"/>
                      <a:pt x="130" y="183"/>
                      <a:pt x="131" y="182"/>
                    </a:cubicBezTo>
                    <a:cubicBezTo>
                      <a:pt x="132" y="181"/>
                      <a:pt x="132" y="181"/>
                      <a:pt x="133" y="181"/>
                    </a:cubicBezTo>
                    <a:cubicBezTo>
                      <a:pt x="133" y="181"/>
                      <a:pt x="134" y="181"/>
                      <a:pt x="134" y="180"/>
                    </a:cubicBezTo>
                    <a:cubicBezTo>
                      <a:pt x="133" y="180"/>
                      <a:pt x="133" y="175"/>
                      <a:pt x="133" y="175"/>
                    </a:cubicBezTo>
                    <a:cubicBezTo>
                      <a:pt x="133" y="174"/>
                      <a:pt x="133" y="174"/>
                      <a:pt x="134" y="174"/>
                    </a:cubicBezTo>
                    <a:cubicBezTo>
                      <a:pt x="134" y="175"/>
                      <a:pt x="137" y="175"/>
                      <a:pt x="137" y="175"/>
                    </a:cubicBezTo>
                    <a:cubicBezTo>
                      <a:pt x="137" y="175"/>
                      <a:pt x="138" y="175"/>
                      <a:pt x="138" y="175"/>
                    </a:cubicBezTo>
                    <a:cubicBezTo>
                      <a:pt x="138" y="174"/>
                      <a:pt x="139" y="173"/>
                      <a:pt x="139" y="172"/>
                    </a:cubicBezTo>
                    <a:cubicBezTo>
                      <a:pt x="139" y="172"/>
                      <a:pt x="142" y="168"/>
                      <a:pt x="143" y="167"/>
                    </a:cubicBezTo>
                    <a:cubicBezTo>
                      <a:pt x="144" y="167"/>
                      <a:pt x="146" y="166"/>
                      <a:pt x="147" y="166"/>
                    </a:cubicBezTo>
                    <a:cubicBezTo>
                      <a:pt x="149" y="166"/>
                      <a:pt x="149" y="167"/>
                      <a:pt x="149" y="167"/>
                    </a:cubicBezTo>
                    <a:cubicBezTo>
                      <a:pt x="150" y="167"/>
                      <a:pt x="150" y="168"/>
                      <a:pt x="151" y="167"/>
                    </a:cubicBezTo>
                    <a:cubicBezTo>
                      <a:pt x="151" y="167"/>
                      <a:pt x="152" y="166"/>
                      <a:pt x="152" y="165"/>
                    </a:cubicBezTo>
                    <a:cubicBezTo>
                      <a:pt x="152" y="165"/>
                      <a:pt x="152" y="163"/>
                      <a:pt x="153" y="163"/>
                    </a:cubicBezTo>
                    <a:cubicBezTo>
                      <a:pt x="154" y="163"/>
                      <a:pt x="156" y="163"/>
                      <a:pt x="156" y="162"/>
                    </a:cubicBezTo>
                    <a:cubicBezTo>
                      <a:pt x="157" y="162"/>
                      <a:pt x="166" y="158"/>
                      <a:pt x="166" y="157"/>
                    </a:cubicBezTo>
                    <a:cubicBezTo>
                      <a:pt x="167" y="157"/>
                      <a:pt x="170" y="154"/>
                      <a:pt x="170" y="154"/>
                    </a:cubicBezTo>
                    <a:cubicBezTo>
                      <a:pt x="170" y="154"/>
                      <a:pt x="171" y="153"/>
                      <a:pt x="171" y="153"/>
                    </a:cubicBezTo>
                    <a:cubicBezTo>
                      <a:pt x="172" y="153"/>
                      <a:pt x="174" y="153"/>
                      <a:pt x="175" y="153"/>
                    </a:cubicBezTo>
                    <a:cubicBezTo>
                      <a:pt x="175" y="153"/>
                      <a:pt x="179" y="154"/>
                      <a:pt x="179" y="154"/>
                    </a:cubicBezTo>
                    <a:cubicBezTo>
                      <a:pt x="180" y="155"/>
                      <a:pt x="184" y="156"/>
                      <a:pt x="184" y="156"/>
                    </a:cubicBezTo>
                    <a:cubicBezTo>
                      <a:pt x="184" y="156"/>
                      <a:pt x="185" y="156"/>
                      <a:pt x="185" y="156"/>
                    </a:cubicBezTo>
                    <a:cubicBezTo>
                      <a:pt x="185" y="156"/>
                      <a:pt x="185" y="156"/>
                      <a:pt x="186" y="156"/>
                    </a:cubicBezTo>
                    <a:cubicBezTo>
                      <a:pt x="187" y="155"/>
                      <a:pt x="190" y="154"/>
                      <a:pt x="190" y="154"/>
                    </a:cubicBezTo>
                    <a:cubicBezTo>
                      <a:pt x="190" y="154"/>
                      <a:pt x="200" y="151"/>
                      <a:pt x="202" y="150"/>
                    </a:cubicBezTo>
                    <a:cubicBezTo>
                      <a:pt x="205" y="150"/>
                      <a:pt x="215" y="150"/>
                      <a:pt x="216" y="150"/>
                    </a:cubicBezTo>
                    <a:cubicBezTo>
                      <a:pt x="217" y="150"/>
                      <a:pt x="225" y="149"/>
                      <a:pt x="225" y="149"/>
                    </a:cubicBezTo>
                    <a:cubicBezTo>
                      <a:pt x="226" y="149"/>
                      <a:pt x="228" y="149"/>
                      <a:pt x="229" y="149"/>
                    </a:cubicBezTo>
                    <a:cubicBezTo>
                      <a:pt x="230" y="149"/>
                      <a:pt x="232" y="149"/>
                      <a:pt x="233" y="149"/>
                    </a:cubicBezTo>
                    <a:cubicBezTo>
                      <a:pt x="234" y="149"/>
                      <a:pt x="237" y="147"/>
                      <a:pt x="238" y="145"/>
                    </a:cubicBezTo>
                    <a:cubicBezTo>
                      <a:pt x="240" y="143"/>
                      <a:pt x="239" y="144"/>
                      <a:pt x="241" y="141"/>
                    </a:cubicBezTo>
                    <a:cubicBezTo>
                      <a:pt x="242" y="138"/>
                      <a:pt x="244" y="134"/>
                      <a:pt x="244" y="130"/>
                    </a:cubicBezTo>
                    <a:cubicBezTo>
                      <a:pt x="245" y="125"/>
                      <a:pt x="245" y="121"/>
                      <a:pt x="245" y="119"/>
                    </a:cubicBezTo>
                    <a:cubicBezTo>
                      <a:pt x="245" y="118"/>
                      <a:pt x="245" y="114"/>
                      <a:pt x="245" y="112"/>
                    </a:cubicBezTo>
                    <a:cubicBezTo>
                      <a:pt x="245" y="111"/>
                      <a:pt x="244" y="101"/>
                      <a:pt x="244" y="100"/>
                    </a:cubicBezTo>
                    <a:cubicBezTo>
                      <a:pt x="245" y="98"/>
                      <a:pt x="244" y="94"/>
                      <a:pt x="244" y="92"/>
                    </a:cubicBezTo>
                    <a:cubicBezTo>
                      <a:pt x="241" y="92"/>
                      <a:pt x="239" y="93"/>
                      <a:pt x="237" y="93"/>
                    </a:cubicBezTo>
                    <a:cubicBezTo>
                      <a:pt x="234" y="93"/>
                      <a:pt x="229" y="92"/>
                      <a:pt x="228" y="92"/>
                    </a:cubicBezTo>
                    <a:cubicBezTo>
                      <a:pt x="227" y="91"/>
                      <a:pt x="229" y="90"/>
                      <a:pt x="230" y="88"/>
                    </a:cubicBezTo>
                    <a:cubicBezTo>
                      <a:pt x="230" y="87"/>
                      <a:pt x="230" y="86"/>
                      <a:pt x="230" y="86"/>
                    </a:cubicBezTo>
                    <a:cubicBezTo>
                      <a:pt x="229" y="85"/>
                      <a:pt x="230" y="83"/>
                      <a:pt x="229" y="82"/>
                    </a:cubicBezTo>
                    <a:cubicBezTo>
                      <a:pt x="229" y="80"/>
                      <a:pt x="227" y="79"/>
                      <a:pt x="224" y="79"/>
                    </a:cubicBezTo>
                    <a:cubicBezTo>
                      <a:pt x="220" y="78"/>
                      <a:pt x="217" y="75"/>
                      <a:pt x="216" y="74"/>
                    </a:cubicBezTo>
                    <a:cubicBezTo>
                      <a:pt x="215" y="73"/>
                      <a:pt x="214" y="74"/>
                      <a:pt x="214" y="74"/>
                    </a:cubicBezTo>
                    <a:cubicBezTo>
                      <a:pt x="214" y="75"/>
                      <a:pt x="213" y="74"/>
                      <a:pt x="213" y="74"/>
                    </a:cubicBezTo>
                    <a:cubicBezTo>
                      <a:pt x="208" y="74"/>
                      <a:pt x="206" y="72"/>
                      <a:pt x="206" y="70"/>
                    </a:cubicBezTo>
                    <a:cubicBezTo>
                      <a:pt x="205" y="68"/>
                      <a:pt x="204" y="68"/>
                      <a:pt x="202" y="68"/>
                    </a:cubicBezTo>
                    <a:cubicBezTo>
                      <a:pt x="200" y="67"/>
                      <a:pt x="199" y="67"/>
                      <a:pt x="199" y="64"/>
                    </a:cubicBezTo>
                    <a:cubicBezTo>
                      <a:pt x="200" y="62"/>
                      <a:pt x="198" y="60"/>
                      <a:pt x="197" y="59"/>
                    </a:cubicBezTo>
                    <a:cubicBezTo>
                      <a:pt x="195" y="58"/>
                      <a:pt x="192" y="56"/>
                      <a:pt x="190" y="55"/>
                    </a:cubicBezTo>
                    <a:cubicBezTo>
                      <a:pt x="188" y="54"/>
                      <a:pt x="146" y="26"/>
                      <a:pt x="137" y="19"/>
                    </a:cubicBezTo>
                    <a:cubicBezTo>
                      <a:pt x="133" y="16"/>
                      <a:pt x="122" y="9"/>
                      <a:pt x="109" y="0"/>
                    </a:cubicBezTo>
                    <a:cubicBezTo>
                      <a:pt x="101" y="0"/>
                      <a:pt x="85" y="0"/>
                      <a:pt x="85" y="0"/>
                    </a:cubicBezTo>
                    <a:cubicBezTo>
                      <a:pt x="84" y="0"/>
                      <a:pt x="84" y="0"/>
                      <a:pt x="84" y="0"/>
                    </a:cubicBezTo>
                    <a:cubicBezTo>
                      <a:pt x="86" y="16"/>
                      <a:pt x="86" y="16"/>
                      <a:pt x="86" y="16"/>
                    </a:cubicBezTo>
                    <a:cubicBezTo>
                      <a:pt x="86" y="16"/>
                      <a:pt x="90" y="51"/>
                      <a:pt x="90" y="52"/>
                    </a:cubicBezTo>
                    <a:cubicBezTo>
                      <a:pt x="90" y="52"/>
                      <a:pt x="95" y="93"/>
                      <a:pt x="95" y="93"/>
                    </a:cubicBezTo>
                    <a:cubicBezTo>
                      <a:pt x="95" y="93"/>
                      <a:pt x="100" y="130"/>
                      <a:pt x="100" y="131"/>
                    </a:cubicBezTo>
                    <a:cubicBezTo>
                      <a:pt x="100" y="132"/>
                      <a:pt x="100" y="133"/>
                      <a:pt x="101" y="134"/>
                    </a:cubicBezTo>
                    <a:cubicBezTo>
                      <a:pt x="102" y="134"/>
                      <a:pt x="102" y="135"/>
                      <a:pt x="102" y="136"/>
                    </a:cubicBezTo>
                    <a:cubicBezTo>
                      <a:pt x="102" y="138"/>
                      <a:pt x="100" y="146"/>
                      <a:pt x="100" y="147"/>
                    </a:cubicBezTo>
                    <a:cubicBezTo>
                      <a:pt x="100" y="147"/>
                      <a:pt x="99" y="147"/>
                      <a:pt x="99" y="147"/>
                    </a:cubicBezTo>
                    <a:cubicBezTo>
                      <a:pt x="99" y="147"/>
                      <a:pt x="47" y="147"/>
                      <a:pt x="46" y="147"/>
                    </a:cubicBezTo>
                    <a:cubicBezTo>
                      <a:pt x="46" y="147"/>
                      <a:pt x="45" y="147"/>
                      <a:pt x="44" y="146"/>
                    </a:cubicBezTo>
                    <a:cubicBezTo>
                      <a:pt x="44" y="145"/>
                      <a:pt x="44" y="145"/>
                      <a:pt x="43" y="145"/>
                    </a:cubicBezTo>
                    <a:cubicBezTo>
                      <a:pt x="41" y="145"/>
                      <a:pt x="42" y="148"/>
                      <a:pt x="42" y="148"/>
                    </a:cubicBezTo>
                    <a:cubicBezTo>
                      <a:pt x="42" y="148"/>
                      <a:pt x="24" y="148"/>
                      <a:pt x="23" y="148"/>
                    </a:cubicBezTo>
                    <a:cubicBezTo>
                      <a:pt x="23" y="148"/>
                      <a:pt x="22" y="148"/>
                      <a:pt x="22" y="148"/>
                    </a:cubicBezTo>
                    <a:cubicBezTo>
                      <a:pt x="22" y="148"/>
                      <a:pt x="20" y="152"/>
                      <a:pt x="20" y="152"/>
                    </a:cubicBezTo>
                    <a:cubicBezTo>
                      <a:pt x="20" y="153"/>
                      <a:pt x="19" y="152"/>
                      <a:pt x="19" y="152"/>
                    </a:cubicBezTo>
                    <a:cubicBezTo>
                      <a:pt x="18" y="150"/>
                      <a:pt x="12" y="146"/>
                      <a:pt x="11" y="145"/>
                    </a:cubicBezTo>
                    <a:cubicBezTo>
                      <a:pt x="11" y="145"/>
                      <a:pt x="10" y="145"/>
                      <a:pt x="10" y="145"/>
                    </a:cubicBezTo>
                    <a:cubicBezTo>
                      <a:pt x="10" y="145"/>
                      <a:pt x="9" y="146"/>
                      <a:pt x="8" y="146"/>
                    </a:cubicBezTo>
                    <a:cubicBezTo>
                      <a:pt x="8" y="146"/>
                      <a:pt x="8" y="147"/>
                      <a:pt x="8" y="147"/>
                    </a:cubicBezTo>
                    <a:cubicBezTo>
                      <a:pt x="8" y="147"/>
                      <a:pt x="7" y="152"/>
                      <a:pt x="7" y="154"/>
                    </a:cubicBezTo>
                    <a:cubicBezTo>
                      <a:pt x="7" y="155"/>
                      <a:pt x="6" y="156"/>
                      <a:pt x="6" y="157"/>
                    </a:cubicBezTo>
                    <a:cubicBezTo>
                      <a:pt x="5" y="157"/>
                      <a:pt x="4" y="157"/>
                      <a:pt x="4" y="158"/>
                    </a:cubicBezTo>
                    <a:cubicBezTo>
                      <a:pt x="3" y="159"/>
                      <a:pt x="3" y="159"/>
                      <a:pt x="2" y="159"/>
                    </a:cubicBezTo>
                    <a:cubicBezTo>
                      <a:pt x="2" y="159"/>
                      <a:pt x="1" y="158"/>
                      <a:pt x="0" y="158"/>
                    </a:cubicBezTo>
                    <a:cubicBezTo>
                      <a:pt x="0" y="158"/>
                      <a:pt x="0" y="158"/>
                      <a:pt x="0" y="158"/>
                    </a:cubicBezTo>
                    <a:cubicBezTo>
                      <a:pt x="0" y="160"/>
                      <a:pt x="1" y="162"/>
                      <a:pt x="1" y="163"/>
                    </a:cubicBezTo>
                    <a:cubicBezTo>
                      <a:pt x="1" y="165"/>
                      <a:pt x="3" y="171"/>
                      <a:pt x="3" y="172"/>
                    </a:cubicBezTo>
                    <a:cubicBezTo>
                      <a:pt x="4" y="173"/>
                      <a:pt x="4" y="174"/>
                      <a:pt x="3" y="174"/>
                    </a:cubicBezTo>
                    <a:cubicBezTo>
                      <a:pt x="3" y="174"/>
                      <a:pt x="2" y="174"/>
                      <a:pt x="3" y="175"/>
                    </a:cubicBezTo>
                    <a:cubicBezTo>
                      <a:pt x="4" y="176"/>
                      <a:pt x="7" y="179"/>
                      <a:pt x="7" y="179"/>
                    </a:cubicBezTo>
                    <a:cubicBezTo>
                      <a:pt x="7" y="179"/>
                      <a:pt x="7" y="180"/>
                      <a:pt x="7" y="179"/>
                    </a:cubicBezTo>
                    <a:cubicBezTo>
                      <a:pt x="8" y="178"/>
                      <a:pt x="9" y="179"/>
                      <a:pt x="9" y="180"/>
                    </a:cubicBezTo>
                    <a:cubicBezTo>
                      <a:pt x="10" y="181"/>
                      <a:pt x="13" y="183"/>
                      <a:pt x="13" y="187"/>
                    </a:cubicBezTo>
                    <a:cubicBezTo>
                      <a:pt x="13" y="189"/>
                      <a:pt x="13" y="192"/>
                      <a:pt x="13" y="19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65" name="Freeform 976">
                <a:extLst>
                  <a:ext uri="{FF2B5EF4-FFF2-40B4-BE49-F238E27FC236}">
                    <a16:creationId xmlns:a16="http://schemas.microsoft.com/office/drawing/2014/main" id="{1AAE2AEC-1535-429F-8211-1943C84DA6C5}"/>
                  </a:ext>
                </a:extLst>
              </p:cNvPr>
              <p:cNvSpPr>
                <a:spLocks/>
              </p:cNvSpPr>
              <p:nvPr/>
            </p:nvSpPr>
            <p:spPr bwMode="auto">
              <a:xfrm>
                <a:off x="3157" y="2399"/>
                <a:ext cx="61" cy="15"/>
              </a:xfrm>
              <a:custGeom>
                <a:avLst/>
                <a:gdLst>
                  <a:gd name="T0" fmla="*/ 14 w 44"/>
                  <a:gd name="T1" fmla="*/ 9 h 11"/>
                  <a:gd name="T2" fmla="*/ 15 w 44"/>
                  <a:gd name="T3" fmla="*/ 8 h 11"/>
                  <a:gd name="T4" fmla="*/ 17 w 44"/>
                  <a:gd name="T5" fmla="*/ 8 h 11"/>
                  <a:gd name="T6" fmla="*/ 24 w 44"/>
                  <a:gd name="T7" fmla="*/ 4 h 11"/>
                  <a:gd name="T8" fmla="*/ 25 w 44"/>
                  <a:gd name="T9" fmla="*/ 4 h 11"/>
                  <a:gd name="T10" fmla="*/ 32 w 44"/>
                  <a:gd name="T11" fmla="*/ 6 h 11"/>
                  <a:gd name="T12" fmla="*/ 34 w 44"/>
                  <a:gd name="T13" fmla="*/ 7 h 11"/>
                  <a:gd name="T14" fmla="*/ 38 w 44"/>
                  <a:gd name="T15" fmla="*/ 9 h 11"/>
                  <a:gd name="T16" fmla="*/ 43 w 44"/>
                  <a:gd name="T17" fmla="*/ 7 h 11"/>
                  <a:gd name="T18" fmla="*/ 44 w 44"/>
                  <a:gd name="T19" fmla="*/ 5 h 11"/>
                  <a:gd name="T20" fmla="*/ 43 w 44"/>
                  <a:gd name="T21" fmla="*/ 4 h 11"/>
                  <a:gd name="T22" fmla="*/ 36 w 44"/>
                  <a:gd name="T23" fmla="*/ 4 h 11"/>
                  <a:gd name="T24" fmla="*/ 34 w 44"/>
                  <a:gd name="T25" fmla="*/ 4 h 11"/>
                  <a:gd name="T26" fmla="*/ 30 w 44"/>
                  <a:gd name="T27" fmla="*/ 0 h 11"/>
                  <a:gd name="T28" fmla="*/ 28 w 44"/>
                  <a:gd name="T29" fmla="*/ 0 h 11"/>
                  <a:gd name="T30" fmla="*/ 23 w 44"/>
                  <a:gd name="T31" fmla="*/ 0 h 11"/>
                  <a:gd name="T32" fmla="*/ 20 w 44"/>
                  <a:gd name="T33" fmla="*/ 2 h 11"/>
                  <a:gd name="T34" fmla="*/ 19 w 44"/>
                  <a:gd name="T35" fmla="*/ 2 h 11"/>
                  <a:gd name="T36" fmla="*/ 12 w 44"/>
                  <a:gd name="T37" fmla="*/ 3 h 11"/>
                  <a:gd name="T38" fmla="*/ 4 w 44"/>
                  <a:gd name="T39" fmla="*/ 3 h 11"/>
                  <a:gd name="T40" fmla="*/ 5 w 44"/>
                  <a:gd name="T41" fmla="*/ 5 h 11"/>
                  <a:gd name="T42" fmla="*/ 8 w 44"/>
                  <a:gd name="T43" fmla="*/ 6 h 11"/>
                  <a:gd name="T44" fmla="*/ 11 w 44"/>
                  <a:gd name="T45" fmla="*/ 5 h 11"/>
                  <a:gd name="T46" fmla="*/ 11 w 44"/>
                  <a:gd name="T47" fmla="*/ 5 h 11"/>
                  <a:gd name="T48" fmla="*/ 9 w 44"/>
                  <a:gd name="T49" fmla="*/ 7 h 11"/>
                  <a:gd name="T50" fmla="*/ 8 w 44"/>
                  <a:gd name="T51" fmla="*/ 8 h 11"/>
                  <a:gd name="T52" fmla="*/ 4 w 44"/>
                  <a:gd name="T53" fmla="*/ 7 h 11"/>
                  <a:gd name="T54" fmla="*/ 1 w 44"/>
                  <a:gd name="T55" fmla="*/ 5 h 11"/>
                  <a:gd name="T56" fmla="*/ 0 w 44"/>
                  <a:gd name="T57" fmla="*/ 8 h 11"/>
                  <a:gd name="T58" fmla="*/ 1 w 44"/>
                  <a:gd name="T59" fmla="*/ 10 h 11"/>
                  <a:gd name="T60" fmla="*/ 2 w 44"/>
                  <a:gd name="T61" fmla="*/ 11 h 11"/>
                  <a:gd name="T62" fmla="*/ 13 w 44"/>
                  <a:gd name="T63" fmla="*/ 10 h 11"/>
                  <a:gd name="T64" fmla="*/ 14 w 44"/>
                  <a:gd name="T65"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11">
                    <a:moveTo>
                      <a:pt x="14" y="9"/>
                    </a:moveTo>
                    <a:cubicBezTo>
                      <a:pt x="15" y="8"/>
                      <a:pt x="15" y="8"/>
                      <a:pt x="15" y="8"/>
                    </a:cubicBezTo>
                    <a:cubicBezTo>
                      <a:pt x="17" y="8"/>
                      <a:pt x="17" y="8"/>
                      <a:pt x="17" y="8"/>
                    </a:cubicBezTo>
                    <a:cubicBezTo>
                      <a:pt x="22" y="7"/>
                      <a:pt x="24" y="4"/>
                      <a:pt x="24" y="4"/>
                    </a:cubicBezTo>
                    <a:cubicBezTo>
                      <a:pt x="24" y="4"/>
                      <a:pt x="25" y="4"/>
                      <a:pt x="25" y="4"/>
                    </a:cubicBezTo>
                    <a:cubicBezTo>
                      <a:pt x="25" y="4"/>
                      <a:pt x="32" y="6"/>
                      <a:pt x="32" y="6"/>
                    </a:cubicBezTo>
                    <a:cubicBezTo>
                      <a:pt x="32" y="6"/>
                      <a:pt x="33" y="7"/>
                      <a:pt x="34" y="7"/>
                    </a:cubicBezTo>
                    <a:cubicBezTo>
                      <a:pt x="34" y="8"/>
                      <a:pt x="37" y="8"/>
                      <a:pt x="38" y="9"/>
                    </a:cubicBezTo>
                    <a:cubicBezTo>
                      <a:pt x="39" y="9"/>
                      <a:pt x="42" y="8"/>
                      <a:pt x="43" y="7"/>
                    </a:cubicBezTo>
                    <a:cubicBezTo>
                      <a:pt x="44" y="6"/>
                      <a:pt x="44" y="5"/>
                      <a:pt x="44" y="5"/>
                    </a:cubicBezTo>
                    <a:cubicBezTo>
                      <a:pt x="44" y="4"/>
                      <a:pt x="43" y="4"/>
                      <a:pt x="43" y="4"/>
                    </a:cubicBezTo>
                    <a:cubicBezTo>
                      <a:pt x="43" y="4"/>
                      <a:pt x="36" y="4"/>
                      <a:pt x="36" y="4"/>
                    </a:cubicBezTo>
                    <a:cubicBezTo>
                      <a:pt x="35" y="4"/>
                      <a:pt x="34" y="4"/>
                      <a:pt x="34" y="4"/>
                    </a:cubicBezTo>
                    <a:cubicBezTo>
                      <a:pt x="34" y="4"/>
                      <a:pt x="30" y="1"/>
                      <a:pt x="30" y="0"/>
                    </a:cubicBezTo>
                    <a:cubicBezTo>
                      <a:pt x="29" y="0"/>
                      <a:pt x="28" y="0"/>
                      <a:pt x="28" y="0"/>
                    </a:cubicBezTo>
                    <a:cubicBezTo>
                      <a:pt x="28" y="0"/>
                      <a:pt x="23" y="0"/>
                      <a:pt x="23" y="0"/>
                    </a:cubicBezTo>
                    <a:cubicBezTo>
                      <a:pt x="22" y="0"/>
                      <a:pt x="21" y="1"/>
                      <a:pt x="20" y="2"/>
                    </a:cubicBezTo>
                    <a:cubicBezTo>
                      <a:pt x="20" y="2"/>
                      <a:pt x="19" y="2"/>
                      <a:pt x="19" y="2"/>
                    </a:cubicBezTo>
                    <a:cubicBezTo>
                      <a:pt x="19" y="2"/>
                      <a:pt x="12" y="3"/>
                      <a:pt x="12" y="3"/>
                    </a:cubicBezTo>
                    <a:cubicBezTo>
                      <a:pt x="11" y="3"/>
                      <a:pt x="7" y="3"/>
                      <a:pt x="4" y="3"/>
                    </a:cubicBezTo>
                    <a:cubicBezTo>
                      <a:pt x="4" y="4"/>
                      <a:pt x="4" y="4"/>
                      <a:pt x="5" y="5"/>
                    </a:cubicBezTo>
                    <a:cubicBezTo>
                      <a:pt x="6" y="7"/>
                      <a:pt x="7" y="7"/>
                      <a:pt x="8" y="6"/>
                    </a:cubicBezTo>
                    <a:cubicBezTo>
                      <a:pt x="9" y="5"/>
                      <a:pt x="9" y="5"/>
                      <a:pt x="11" y="5"/>
                    </a:cubicBezTo>
                    <a:cubicBezTo>
                      <a:pt x="13" y="5"/>
                      <a:pt x="17" y="5"/>
                      <a:pt x="11" y="5"/>
                    </a:cubicBezTo>
                    <a:cubicBezTo>
                      <a:pt x="11" y="5"/>
                      <a:pt x="9" y="6"/>
                      <a:pt x="9" y="7"/>
                    </a:cubicBezTo>
                    <a:cubicBezTo>
                      <a:pt x="10" y="8"/>
                      <a:pt x="10" y="7"/>
                      <a:pt x="8" y="8"/>
                    </a:cubicBezTo>
                    <a:cubicBezTo>
                      <a:pt x="7" y="8"/>
                      <a:pt x="5" y="9"/>
                      <a:pt x="4" y="7"/>
                    </a:cubicBezTo>
                    <a:cubicBezTo>
                      <a:pt x="3" y="6"/>
                      <a:pt x="2" y="5"/>
                      <a:pt x="1" y="5"/>
                    </a:cubicBezTo>
                    <a:cubicBezTo>
                      <a:pt x="0" y="6"/>
                      <a:pt x="0" y="7"/>
                      <a:pt x="0" y="8"/>
                    </a:cubicBezTo>
                    <a:cubicBezTo>
                      <a:pt x="1" y="9"/>
                      <a:pt x="1" y="10"/>
                      <a:pt x="1" y="10"/>
                    </a:cubicBezTo>
                    <a:cubicBezTo>
                      <a:pt x="2" y="11"/>
                      <a:pt x="2" y="11"/>
                      <a:pt x="2" y="11"/>
                    </a:cubicBezTo>
                    <a:cubicBezTo>
                      <a:pt x="6" y="10"/>
                      <a:pt x="13" y="10"/>
                      <a:pt x="13" y="10"/>
                    </a:cubicBezTo>
                    <a:cubicBezTo>
                      <a:pt x="14" y="10"/>
                      <a:pt x="14" y="9"/>
                      <a:pt x="14"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766" name="Freeform 977">
                <a:extLst>
                  <a:ext uri="{FF2B5EF4-FFF2-40B4-BE49-F238E27FC236}">
                    <a16:creationId xmlns:a16="http://schemas.microsoft.com/office/drawing/2014/main" id="{648802FA-904F-4B00-A006-4192B15ACD48}"/>
                  </a:ext>
                </a:extLst>
              </p:cNvPr>
              <p:cNvSpPr>
                <a:spLocks/>
              </p:cNvSpPr>
              <p:nvPr/>
            </p:nvSpPr>
            <p:spPr bwMode="auto">
              <a:xfrm>
                <a:off x="3152" y="2111"/>
                <a:ext cx="250" cy="269"/>
              </a:xfrm>
              <a:custGeom>
                <a:avLst/>
                <a:gdLst>
                  <a:gd name="T0" fmla="*/ 72 w 181"/>
                  <a:gd name="T1" fmla="*/ 195 h 196"/>
                  <a:gd name="T2" fmla="*/ 76 w 181"/>
                  <a:gd name="T3" fmla="*/ 195 h 196"/>
                  <a:gd name="T4" fmla="*/ 79 w 181"/>
                  <a:gd name="T5" fmla="*/ 191 h 196"/>
                  <a:gd name="T6" fmla="*/ 80 w 181"/>
                  <a:gd name="T7" fmla="*/ 183 h 196"/>
                  <a:gd name="T8" fmla="*/ 83 w 181"/>
                  <a:gd name="T9" fmla="*/ 182 h 196"/>
                  <a:gd name="T10" fmla="*/ 92 w 181"/>
                  <a:gd name="T11" fmla="*/ 189 h 196"/>
                  <a:gd name="T12" fmla="*/ 95 w 181"/>
                  <a:gd name="T13" fmla="*/ 185 h 196"/>
                  <a:gd name="T14" fmla="*/ 115 w 181"/>
                  <a:gd name="T15" fmla="*/ 182 h 196"/>
                  <a:gd name="T16" fmla="*/ 118 w 181"/>
                  <a:gd name="T17" fmla="*/ 184 h 196"/>
                  <a:gd name="T18" fmla="*/ 172 w 181"/>
                  <a:gd name="T19" fmla="*/ 184 h 196"/>
                  <a:gd name="T20" fmla="*/ 173 w 181"/>
                  <a:gd name="T21" fmla="*/ 171 h 196"/>
                  <a:gd name="T22" fmla="*/ 167 w 181"/>
                  <a:gd name="T23" fmla="*/ 130 h 196"/>
                  <a:gd name="T24" fmla="*/ 158 w 181"/>
                  <a:gd name="T25" fmla="*/ 53 h 196"/>
                  <a:gd name="T26" fmla="*/ 157 w 181"/>
                  <a:gd name="T27" fmla="*/ 37 h 196"/>
                  <a:gd name="T28" fmla="*/ 125 w 181"/>
                  <a:gd name="T29" fmla="*/ 0 h 196"/>
                  <a:gd name="T30" fmla="*/ 76 w 181"/>
                  <a:gd name="T31" fmla="*/ 21 h 196"/>
                  <a:gd name="T32" fmla="*/ 72 w 181"/>
                  <a:gd name="T33" fmla="*/ 62 h 196"/>
                  <a:gd name="T34" fmla="*/ 64 w 181"/>
                  <a:gd name="T35" fmla="*/ 66 h 196"/>
                  <a:gd name="T36" fmla="*/ 60 w 181"/>
                  <a:gd name="T37" fmla="*/ 83 h 196"/>
                  <a:gd name="T38" fmla="*/ 61 w 181"/>
                  <a:gd name="T39" fmla="*/ 94 h 196"/>
                  <a:gd name="T40" fmla="*/ 5 w 181"/>
                  <a:gd name="T41" fmla="*/ 94 h 196"/>
                  <a:gd name="T42" fmla="*/ 0 w 181"/>
                  <a:gd name="T43" fmla="*/ 103 h 196"/>
                  <a:gd name="T44" fmla="*/ 4 w 181"/>
                  <a:gd name="T45" fmla="*/ 100 h 196"/>
                  <a:gd name="T46" fmla="*/ 9 w 181"/>
                  <a:gd name="T47" fmla="*/ 105 h 196"/>
                  <a:gd name="T48" fmla="*/ 13 w 181"/>
                  <a:gd name="T49" fmla="*/ 111 h 196"/>
                  <a:gd name="T50" fmla="*/ 12 w 181"/>
                  <a:gd name="T51" fmla="*/ 116 h 196"/>
                  <a:gd name="T52" fmla="*/ 9 w 181"/>
                  <a:gd name="T53" fmla="*/ 124 h 196"/>
                  <a:gd name="T54" fmla="*/ 11 w 181"/>
                  <a:gd name="T55" fmla="*/ 124 h 196"/>
                  <a:gd name="T56" fmla="*/ 13 w 181"/>
                  <a:gd name="T57" fmla="*/ 133 h 196"/>
                  <a:gd name="T58" fmla="*/ 13 w 181"/>
                  <a:gd name="T59" fmla="*/ 159 h 196"/>
                  <a:gd name="T60" fmla="*/ 11 w 181"/>
                  <a:gd name="T61" fmla="*/ 169 h 196"/>
                  <a:gd name="T62" fmla="*/ 16 w 181"/>
                  <a:gd name="T63" fmla="*/ 169 h 196"/>
                  <a:gd name="T64" fmla="*/ 22 w 181"/>
                  <a:gd name="T65" fmla="*/ 168 h 196"/>
                  <a:gd name="T66" fmla="*/ 36 w 181"/>
                  <a:gd name="T67" fmla="*/ 167 h 196"/>
                  <a:gd name="T68" fmla="*/ 42 w 181"/>
                  <a:gd name="T69" fmla="*/ 168 h 196"/>
                  <a:gd name="T70" fmla="*/ 45 w 181"/>
                  <a:gd name="T71" fmla="*/ 170 h 196"/>
                  <a:gd name="T72" fmla="*/ 48 w 181"/>
                  <a:gd name="T73" fmla="*/ 174 h 196"/>
                  <a:gd name="T74" fmla="*/ 54 w 181"/>
                  <a:gd name="T75" fmla="*/ 175 h 196"/>
                  <a:gd name="T76" fmla="*/ 59 w 181"/>
                  <a:gd name="T77" fmla="*/ 183 h 196"/>
                  <a:gd name="T78" fmla="*/ 66 w 181"/>
                  <a:gd name="T79" fmla="*/ 191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1" h="196">
                    <a:moveTo>
                      <a:pt x="72" y="195"/>
                    </a:moveTo>
                    <a:cubicBezTo>
                      <a:pt x="72" y="195"/>
                      <a:pt x="72" y="195"/>
                      <a:pt x="72" y="195"/>
                    </a:cubicBezTo>
                    <a:cubicBezTo>
                      <a:pt x="73" y="195"/>
                      <a:pt x="74" y="196"/>
                      <a:pt x="74" y="196"/>
                    </a:cubicBezTo>
                    <a:cubicBezTo>
                      <a:pt x="75" y="196"/>
                      <a:pt x="75" y="196"/>
                      <a:pt x="76" y="195"/>
                    </a:cubicBezTo>
                    <a:cubicBezTo>
                      <a:pt x="76" y="194"/>
                      <a:pt x="77" y="194"/>
                      <a:pt x="78" y="194"/>
                    </a:cubicBezTo>
                    <a:cubicBezTo>
                      <a:pt x="78" y="193"/>
                      <a:pt x="79" y="192"/>
                      <a:pt x="79" y="191"/>
                    </a:cubicBezTo>
                    <a:cubicBezTo>
                      <a:pt x="79" y="189"/>
                      <a:pt x="80" y="184"/>
                      <a:pt x="80" y="184"/>
                    </a:cubicBezTo>
                    <a:cubicBezTo>
                      <a:pt x="80" y="184"/>
                      <a:pt x="80" y="183"/>
                      <a:pt x="80" y="183"/>
                    </a:cubicBezTo>
                    <a:cubicBezTo>
                      <a:pt x="81" y="183"/>
                      <a:pt x="82" y="182"/>
                      <a:pt x="82" y="182"/>
                    </a:cubicBezTo>
                    <a:cubicBezTo>
                      <a:pt x="82" y="182"/>
                      <a:pt x="83" y="182"/>
                      <a:pt x="83" y="182"/>
                    </a:cubicBezTo>
                    <a:cubicBezTo>
                      <a:pt x="84" y="183"/>
                      <a:pt x="90" y="187"/>
                      <a:pt x="91" y="189"/>
                    </a:cubicBezTo>
                    <a:cubicBezTo>
                      <a:pt x="91" y="189"/>
                      <a:pt x="92" y="190"/>
                      <a:pt x="92" y="189"/>
                    </a:cubicBezTo>
                    <a:cubicBezTo>
                      <a:pt x="92" y="189"/>
                      <a:pt x="94" y="185"/>
                      <a:pt x="94" y="185"/>
                    </a:cubicBezTo>
                    <a:cubicBezTo>
                      <a:pt x="94" y="185"/>
                      <a:pt x="95" y="185"/>
                      <a:pt x="95" y="185"/>
                    </a:cubicBezTo>
                    <a:cubicBezTo>
                      <a:pt x="96" y="185"/>
                      <a:pt x="114" y="185"/>
                      <a:pt x="114" y="185"/>
                    </a:cubicBezTo>
                    <a:cubicBezTo>
                      <a:pt x="114" y="185"/>
                      <a:pt x="113" y="182"/>
                      <a:pt x="115" y="182"/>
                    </a:cubicBezTo>
                    <a:cubicBezTo>
                      <a:pt x="116" y="182"/>
                      <a:pt x="116" y="182"/>
                      <a:pt x="116" y="183"/>
                    </a:cubicBezTo>
                    <a:cubicBezTo>
                      <a:pt x="117" y="184"/>
                      <a:pt x="118" y="184"/>
                      <a:pt x="118" y="184"/>
                    </a:cubicBezTo>
                    <a:cubicBezTo>
                      <a:pt x="119" y="184"/>
                      <a:pt x="171" y="184"/>
                      <a:pt x="171" y="184"/>
                    </a:cubicBezTo>
                    <a:cubicBezTo>
                      <a:pt x="171" y="184"/>
                      <a:pt x="172" y="184"/>
                      <a:pt x="172" y="184"/>
                    </a:cubicBezTo>
                    <a:cubicBezTo>
                      <a:pt x="172" y="183"/>
                      <a:pt x="174" y="175"/>
                      <a:pt x="174" y="173"/>
                    </a:cubicBezTo>
                    <a:cubicBezTo>
                      <a:pt x="174" y="172"/>
                      <a:pt x="174" y="171"/>
                      <a:pt x="173" y="171"/>
                    </a:cubicBezTo>
                    <a:cubicBezTo>
                      <a:pt x="172" y="170"/>
                      <a:pt x="172" y="169"/>
                      <a:pt x="172" y="168"/>
                    </a:cubicBezTo>
                    <a:cubicBezTo>
                      <a:pt x="172" y="167"/>
                      <a:pt x="167" y="130"/>
                      <a:pt x="167" y="130"/>
                    </a:cubicBezTo>
                    <a:cubicBezTo>
                      <a:pt x="167" y="130"/>
                      <a:pt x="162" y="89"/>
                      <a:pt x="162" y="89"/>
                    </a:cubicBezTo>
                    <a:cubicBezTo>
                      <a:pt x="162" y="88"/>
                      <a:pt x="158" y="53"/>
                      <a:pt x="158" y="53"/>
                    </a:cubicBezTo>
                    <a:cubicBezTo>
                      <a:pt x="156" y="37"/>
                      <a:pt x="156" y="37"/>
                      <a:pt x="156" y="37"/>
                    </a:cubicBezTo>
                    <a:cubicBezTo>
                      <a:pt x="156" y="37"/>
                      <a:pt x="156" y="37"/>
                      <a:pt x="157" y="37"/>
                    </a:cubicBezTo>
                    <a:cubicBezTo>
                      <a:pt x="157" y="37"/>
                      <a:pt x="173" y="37"/>
                      <a:pt x="181" y="37"/>
                    </a:cubicBezTo>
                    <a:cubicBezTo>
                      <a:pt x="160" y="23"/>
                      <a:pt x="134" y="6"/>
                      <a:pt x="125" y="0"/>
                    </a:cubicBezTo>
                    <a:cubicBezTo>
                      <a:pt x="125" y="21"/>
                      <a:pt x="125" y="21"/>
                      <a:pt x="125" y="21"/>
                    </a:cubicBezTo>
                    <a:cubicBezTo>
                      <a:pt x="125" y="21"/>
                      <a:pt x="76" y="21"/>
                      <a:pt x="76" y="21"/>
                    </a:cubicBezTo>
                    <a:cubicBezTo>
                      <a:pt x="75" y="21"/>
                      <a:pt x="76" y="61"/>
                      <a:pt x="76" y="61"/>
                    </a:cubicBezTo>
                    <a:cubicBezTo>
                      <a:pt x="76" y="61"/>
                      <a:pt x="73" y="62"/>
                      <a:pt x="72" y="62"/>
                    </a:cubicBezTo>
                    <a:cubicBezTo>
                      <a:pt x="72" y="63"/>
                      <a:pt x="69" y="63"/>
                      <a:pt x="68" y="64"/>
                    </a:cubicBezTo>
                    <a:cubicBezTo>
                      <a:pt x="67" y="64"/>
                      <a:pt x="65" y="65"/>
                      <a:pt x="64" y="66"/>
                    </a:cubicBezTo>
                    <a:cubicBezTo>
                      <a:pt x="62" y="67"/>
                      <a:pt x="58" y="70"/>
                      <a:pt x="59" y="74"/>
                    </a:cubicBezTo>
                    <a:cubicBezTo>
                      <a:pt x="60" y="78"/>
                      <a:pt x="60" y="81"/>
                      <a:pt x="60" y="83"/>
                    </a:cubicBezTo>
                    <a:cubicBezTo>
                      <a:pt x="60" y="85"/>
                      <a:pt x="60" y="90"/>
                      <a:pt x="60" y="91"/>
                    </a:cubicBezTo>
                    <a:cubicBezTo>
                      <a:pt x="61" y="92"/>
                      <a:pt x="61" y="94"/>
                      <a:pt x="61" y="94"/>
                    </a:cubicBezTo>
                    <a:cubicBezTo>
                      <a:pt x="61" y="94"/>
                      <a:pt x="9" y="94"/>
                      <a:pt x="9" y="94"/>
                    </a:cubicBezTo>
                    <a:cubicBezTo>
                      <a:pt x="9" y="94"/>
                      <a:pt x="6" y="94"/>
                      <a:pt x="5" y="94"/>
                    </a:cubicBezTo>
                    <a:cubicBezTo>
                      <a:pt x="5" y="94"/>
                      <a:pt x="3" y="94"/>
                      <a:pt x="2" y="96"/>
                    </a:cubicBezTo>
                    <a:cubicBezTo>
                      <a:pt x="1" y="98"/>
                      <a:pt x="1" y="101"/>
                      <a:pt x="0" y="103"/>
                    </a:cubicBezTo>
                    <a:cubicBezTo>
                      <a:pt x="1" y="102"/>
                      <a:pt x="2" y="100"/>
                      <a:pt x="2" y="98"/>
                    </a:cubicBezTo>
                    <a:cubicBezTo>
                      <a:pt x="3" y="96"/>
                      <a:pt x="3" y="99"/>
                      <a:pt x="4" y="100"/>
                    </a:cubicBezTo>
                    <a:cubicBezTo>
                      <a:pt x="5" y="101"/>
                      <a:pt x="7" y="104"/>
                      <a:pt x="8" y="105"/>
                    </a:cubicBezTo>
                    <a:cubicBezTo>
                      <a:pt x="8" y="106"/>
                      <a:pt x="8" y="106"/>
                      <a:pt x="9" y="105"/>
                    </a:cubicBezTo>
                    <a:cubicBezTo>
                      <a:pt x="9" y="104"/>
                      <a:pt x="10" y="104"/>
                      <a:pt x="10" y="105"/>
                    </a:cubicBezTo>
                    <a:cubicBezTo>
                      <a:pt x="10" y="106"/>
                      <a:pt x="12" y="109"/>
                      <a:pt x="13" y="111"/>
                    </a:cubicBezTo>
                    <a:cubicBezTo>
                      <a:pt x="14" y="112"/>
                      <a:pt x="13" y="112"/>
                      <a:pt x="13" y="113"/>
                    </a:cubicBezTo>
                    <a:cubicBezTo>
                      <a:pt x="13" y="114"/>
                      <a:pt x="12" y="116"/>
                      <a:pt x="12" y="116"/>
                    </a:cubicBezTo>
                    <a:cubicBezTo>
                      <a:pt x="13" y="117"/>
                      <a:pt x="13" y="118"/>
                      <a:pt x="12" y="120"/>
                    </a:cubicBezTo>
                    <a:cubicBezTo>
                      <a:pt x="11" y="121"/>
                      <a:pt x="9" y="122"/>
                      <a:pt x="9" y="124"/>
                    </a:cubicBezTo>
                    <a:cubicBezTo>
                      <a:pt x="9" y="125"/>
                      <a:pt x="9" y="124"/>
                      <a:pt x="10" y="123"/>
                    </a:cubicBezTo>
                    <a:cubicBezTo>
                      <a:pt x="11" y="123"/>
                      <a:pt x="12" y="122"/>
                      <a:pt x="11" y="124"/>
                    </a:cubicBezTo>
                    <a:cubicBezTo>
                      <a:pt x="10" y="126"/>
                      <a:pt x="9" y="126"/>
                      <a:pt x="10" y="128"/>
                    </a:cubicBezTo>
                    <a:cubicBezTo>
                      <a:pt x="12" y="129"/>
                      <a:pt x="13" y="130"/>
                      <a:pt x="13" y="133"/>
                    </a:cubicBezTo>
                    <a:cubicBezTo>
                      <a:pt x="14" y="135"/>
                      <a:pt x="15" y="146"/>
                      <a:pt x="16" y="148"/>
                    </a:cubicBezTo>
                    <a:cubicBezTo>
                      <a:pt x="16" y="149"/>
                      <a:pt x="14" y="157"/>
                      <a:pt x="13" y="159"/>
                    </a:cubicBezTo>
                    <a:cubicBezTo>
                      <a:pt x="12" y="162"/>
                      <a:pt x="9" y="169"/>
                      <a:pt x="9" y="174"/>
                    </a:cubicBezTo>
                    <a:cubicBezTo>
                      <a:pt x="10" y="172"/>
                      <a:pt x="11" y="170"/>
                      <a:pt x="11" y="169"/>
                    </a:cubicBezTo>
                    <a:cubicBezTo>
                      <a:pt x="12" y="169"/>
                      <a:pt x="14" y="168"/>
                      <a:pt x="14" y="168"/>
                    </a:cubicBezTo>
                    <a:cubicBezTo>
                      <a:pt x="15" y="168"/>
                      <a:pt x="15" y="169"/>
                      <a:pt x="16" y="169"/>
                    </a:cubicBezTo>
                    <a:cubicBezTo>
                      <a:pt x="17" y="169"/>
                      <a:pt x="18" y="169"/>
                      <a:pt x="19" y="169"/>
                    </a:cubicBezTo>
                    <a:cubicBezTo>
                      <a:pt x="19" y="169"/>
                      <a:pt x="21" y="169"/>
                      <a:pt x="22" y="168"/>
                    </a:cubicBezTo>
                    <a:cubicBezTo>
                      <a:pt x="23" y="168"/>
                      <a:pt x="30" y="166"/>
                      <a:pt x="32" y="167"/>
                    </a:cubicBezTo>
                    <a:cubicBezTo>
                      <a:pt x="34" y="167"/>
                      <a:pt x="35" y="167"/>
                      <a:pt x="36" y="167"/>
                    </a:cubicBezTo>
                    <a:cubicBezTo>
                      <a:pt x="36" y="167"/>
                      <a:pt x="39" y="167"/>
                      <a:pt x="40" y="167"/>
                    </a:cubicBezTo>
                    <a:cubicBezTo>
                      <a:pt x="41" y="167"/>
                      <a:pt x="42" y="168"/>
                      <a:pt x="42" y="168"/>
                    </a:cubicBezTo>
                    <a:cubicBezTo>
                      <a:pt x="43" y="168"/>
                      <a:pt x="44" y="169"/>
                      <a:pt x="44" y="170"/>
                    </a:cubicBezTo>
                    <a:cubicBezTo>
                      <a:pt x="44" y="170"/>
                      <a:pt x="44" y="170"/>
                      <a:pt x="45" y="170"/>
                    </a:cubicBezTo>
                    <a:cubicBezTo>
                      <a:pt x="46" y="170"/>
                      <a:pt x="46" y="172"/>
                      <a:pt x="46" y="172"/>
                    </a:cubicBezTo>
                    <a:cubicBezTo>
                      <a:pt x="47" y="172"/>
                      <a:pt x="48" y="174"/>
                      <a:pt x="48" y="174"/>
                    </a:cubicBezTo>
                    <a:cubicBezTo>
                      <a:pt x="49" y="174"/>
                      <a:pt x="51" y="174"/>
                      <a:pt x="51" y="174"/>
                    </a:cubicBezTo>
                    <a:cubicBezTo>
                      <a:pt x="52" y="174"/>
                      <a:pt x="54" y="174"/>
                      <a:pt x="54" y="175"/>
                    </a:cubicBezTo>
                    <a:cubicBezTo>
                      <a:pt x="55" y="177"/>
                      <a:pt x="56" y="179"/>
                      <a:pt x="57" y="180"/>
                    </a:cubicBezTo>
                    <a:cubicBezTo>
                      <a:pt x="57" y="182"/>
                      <a:pt x="58" y="182"/>
                      <a:pt x="59" y="183"/>
                    </a:cubicBezTo>
                    <a:cubicBezTo>
                      <a:pt x="60" y="184"/>
                      <a:pt x="62" y="185"/>
                      <a:pt x="63" y="187"/>
                    </a:cubicBezTo>
                    <a:cubicBezTo>
                      <a:pt x="64" y="189"/>
                      <a:pt x="65" y="191"/>
                      <a:pt x="66" y="191"/>
                    </a:cubicBezTo>
                    <a:cubicBezTo>
                      <a:pt x="66" y="191"/>
                      <a:pt x="71" y="195"/>
                      <a:pt x="72" y="19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1294" name="Group 1179">
              <a:extLst>
                <a:ext uri="{FF2B5EF4-FFF2-40B4-BE49-F238E27FC236}">
                  <a16:creationId xmlns:a16="http://schemas.microsoft.com/office/drawing/2014/main" id="{ABAC51CC-33AE-4316-A4FB-6341CEE6B3EB}"/>
                </a:ext>
              </a:extLst>
            </p:cNvPr>
            <p:cNvGrpSpPr>
              <a:grpSpLocks/>
            </p:cNvGrpSpPr>
            <p:nvPr/>
          </p:nvGrpSpPr>
          <p:grpSpPr bwMode="auto">
            <a:xfrm>
              <a:off x="2002" y="364"/>
              <a:ext cx="4956" cy="3425"/>
              <a:chOff x="2002" y="364"/>
              <a:chExt cx="4956" cy="3425"/>
            </a:xfrm>
            <a:grpFill/>
          </p:grpSpPr>
          <p:sp>
            <p:nvSpPr>
              <p:cNvPr id="1367" name="Freeform 979">
                <a:extLst>
                  <a:ext uri="{FF2B5EF4-FFF2-40B4-BE49-F238E27FC236}">
                    <a16:creationId xmlns:a16="http://schemas.microsoft.com/office/drawing/2014/main" id="{1AC2C87D-1445-4D48-B34C-B1D6199EC32E}"/>
                  </a:ext>
                </a:extLst>
              </p:cNvPr>
              <p:cNvSpPr>
                <a:spLocks/>
              </p:cNvSpPr>
              <p:nvPr/>
            </p:nvSpPr>
            <p:spPr bwMode="auto">
              <a:xfrm>
                <a:off x="3325" y="1889"/>
                <a:ext cx="424" cy="401"/>
              </a:xfrm>
              <a:custGeom>
                <a:avLst/>
                <a:gdLst>
                  <a:gd name="T0" fmla="*/ 211 w 307"/>
                  <a:gd name="T1" fmla="*/ 287 h 292"/>
                  <a:gd name="T2" fmla="*/ 251 w 307"/>
                  <a:gd name="T3" fmla="*/ 256 h 292"/>
                  <a:gd name="T4" fmla="*/ 302 w 307"/>
                  <a:gd name="T5" fmla="*/ 214 h 292"/>
                  <a:gd name="T6" fmla="*/ 290 w 307"/>
                  <a:gd name="T7" fmla="*/ 207 h 292"/>
                  <a:gd name="T8" fmla="*/ 279 w 307"/>
                  <a:gd name="T9" fmla="*/ 203 h 292"/>
                  <a:gd name="T10" fmla="*/ 269 w 307"/>
                  <a:gd name="T11" fmla="*/ 181 h 292"/>
                  <a:gd name="T12" fmla="*/ 276 w 307"/>
                  <a:gd name="T13" fmla="*/ 154 h 292"/>
                  <a:gd name="T14" fmla="*/ 270 w 307"/>
                  <a:gd name="T15" fmla="*/ 122 h 292"/>
                  <a:gd name="T16" fmla="*/ 264 w 307"/>
                  <a:gd name="T17" fmla="*/ 87 h 292"/>
                  <a:gd name="T18" fmla="*/ 252 w 307"/>
                  <a:gd name="T19" fmla="*/ 76 h 292"/>
                  <a:gd name="T20" fmla="*/ 242 w 307"/>
                  <a:gd name="T21" fmla="*/ 58 h 292"/>
                  <a:gd name="T22" fmla="*/ 248 w 307"/>
                  <a:gd name="T23" fmla="*/ 45 h 292"/>
                  <a:gd name="T24" fmla="*/ 254 w 307"/>
                  <a:gd name="T25" fmla="*/ 30 h 292"/>
                  <a:gd name="T26" fmla="*/ 253 w 307"/>
                  <a:gd name="T27" fmla="*/ 14 h 292"/>
                  <a:gd name="T28" fmla="*/ 251 w 307"/>
                  <a:gd name="T29" fmla="*/ 10 h 292"/>
                  <a:gd name="T30" fmla="*/ 244 w 307"/>
                  <a:gd name="T31" fmla="*/ 4 h 292"/>
                  <a:gd name="T32" fmla="*/ 234 w 307"/>
                  <a:gd name="T33" fmla="*/ 3 h 292"/>
                  <a:gd name="T34" fmla="*/ 225 w 307"/>
                  <a:gd name="T35" fmla="*/ 2 h 292"/>
                  <a:gd name="T36" fmla="*/ 211 w 307"/>
                  <a:gd name="T37" fmla="*/ 8 h 292"/>
                  <a:gd name="T38" fmla="*/ 175 w 307"/>
                  <a:gd name="T39" fmla="*/ 6 h 292"/>
                  <a:gd name="T40" fmla="*/ 146 w 307"/>
                  <a:gd name="T41" fmla="*/ 12 h 292"/>
                  <a:gd name="T42" fmla="*/ 125 w 307"/>
                  <a:gd name="T43" fmla="*/ 22 h 292"/>
                  <a:gd name="T44" fmla="*/ 111 w 307"/>
                  <a:gd name="T45" fmla="*/ 28 h 292"/>
                  <a:gd name="T46" fmla="*/ 95 w 307"/>
                  <a:gd name="T47" fmla="*/ 35 h 292"/>
                  <a:gd name="T48" fmla="*/ 102 w 307"/>
                  <a:gd name="T49" fmla="*/ 41 h 292"/>
                  <a:gd name="T50" fmla="*/ 103 w 307"/>
                  <a:gd name="T51" fmla="*/ 49 h 292"/>
                  <a:gd name="T52" fmla="*/ 103 w 307"/>
                  <a:gd name="T53" fmla="*/ 59 h 292"/>
                  <a:gd name="T54" fmla="*/ 113 w 307"/>
                  <a:gd name="T55" fmla="*/ 79 h 292"/>
                  <a:gd name="T56" fmla="*/ 110 w 307"/>
                  <a:gd name="T57" fmla="*/ 85 h 292"/>
                  <a:gd name="T58" fmla="*/ 87 w 307"/>
                  <a:gd name="T59" fmla="*/ 85 h 292"/>
                  <a:gd name="T60" fmla="*/ 79 w 307"/>
                  <a:gd name="T61" fmla="*/ 91 h 292"/>
                  <a:gd name="T62" fmla="*/ 72 w 307"/>
                  <a:gd name="T63" fmla="*/ 95 h 292"/>
                  <a:gd name="T64" fmla="*/ 72 w 307"/>
                  <a:gd name="T65" fmla="*/ 100 h 292"/>
                  <a:gd name="T66" fmla="*/ 71 w 307"/>
                  <a:gd name="T67" fmla="*/ 105 h 292"/>
                  <a:gd name="T68" fmla="*/ 54 w 307"/>
                  <a:gd name="T69" fmla="*/ 113 h 292"/>
                  <a:gd name="T70" fmla="*/ 33 w 307"/>
                  <a:gd name="T71" fmla="*/ 122 h 292"/>
                  <a:gd name="T72" fmla="*/ 30 w 307"/>
                  <a:gd name="T73" fmla="*/ 126 h 292"/>
                  <a:gd name="T74" fmla="*/ 9 w 307"/>
                  <a:gd name="T75" fmla="*/ 132 h 292"/>
                  <a:gd name="T76" fmla="*/ 56 w 307"/>
                  <a:gd name="T77" fmla="*/ 199 h 292"/>
                  <a:gd name="T78" fmla="*/ 144 w 307"/>
                  <a:gd name="T79" fmla="*/ 258 h 292"/>
                  <a:gd name="T80" fmla="*/ 153 w 307"/>
                  <a:gd name="T81" fmla="*/ 269 h 292"/>
                  <a:gd name="T82" fmla="*/ 163 w 307"/>
                  <a:gd name="T83" fmla="*/ 273 h 292"/>
                  <a:gd name="T84" fmla="*/ 177 w 307"/>
                  <a:gd name="T85" fmla="*/ 285 h 292"/>
                  <a:gd name="T86" fmla="*/ 184 w 307"/>
                  <a:gd name="T87" fmla="*/ 292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07" h="292">
                    <a:moveTo>
                      <a:pt x="191" y="291"/>
                    </a:moveTo>
                    <a:cubicBezTo>
                      <a:pt x="196" y="289"/>
                      <a:pt x="202" y="288"/>
                      <a:pt x="202" y="288"/>
                    </a:cubicBezTo>
                    <a:cubicBezTo>
                      <a:pt x="202" y="288"/>
                      <a:pt x="209" y="287"/>
                      <a:pt x="211" y="287"/>
                    </a:cubicBezTo>
                    <a:cubicBezTo>
                      <a:pt x="213" y="286"/>
                      <a:pt x="216" y="285"/>
                      <a:pt x="219" y="282"/>
                    </a:cubicBezTo>
                    <a:cubicBezTo>
                      <a:pt x="221" y="280"/>
                      <a:pt x="230" y="272"/>
                      <a:pt x="234" y="268"/>
                    </a:cubicBezTo>
                    <a:cubicBezTo>
                      <a:pt x="238" y="265"/>
                      <a:pt x="245" y="259"/>
                      <a:pt x="251" y="256"/>
                    </a:cubicBezTo>
                    <a:cubicBezTo>
                      <a:pt x="256" y="253"/>
                      <a:pt x="299" y="227"/>
                      <a:pt x="307" y="222"/>
                    </a:cubicBezTo>
                    <a:cubicBezTo>
                      <a:pt x="305" y="222"/>
                      <a:pt x="305" y="218"/>
                      <a:pt x="304" y="217"/>
                    </a:cubicBezTo>
                    <a:cubicBezTo>
                      <a:pt x="303" y="216"/>
                      <a:pt x="303" y="215"/>
                      <a:pt x="302" y="214"/>
                    </a:cubicBezTo>
                    <a:cubicBezTo>
                      <a:pt x="302" y="214"/>
                      <a:pt x="300" y="212"/>
                      <a:pt x="300" y="211"/>
                    </a:cubicBezTo>
                    <a:cubicBezTo>
                      <a:pt x="299" y="210"/>
                      <a:pt x="298" y="209"/>
                      <a:pt x="298" y="209"/>
                    </a:cubicBezTo>
                    <a:cubicBezTo>
                      <a:pt x="297" y="209"/>
                      <a:pt x="291" y="207"/>
                      <a:pt x="290" y="207"/>
                    </a:cubicBezTo>
                    <a:cubicBezTo>
                      <a:pt x="289" y="206"/>
                      <a:pt x="287" y="206"/>
                      <a:pt x="286" y="207"/>
                    </a:cubicBezTo>
                    <a:cubicBezTo>
                      <a:pt x="284" y="207"/>
                      <a:pt x="282" y="207"/>
                      <a:pt x="282" y="206"/>
                    </a:cubicBezTo>
                    <a:cubicBezTo>
                      <a:pt x="281" y="206"/>
                      <a:pt x="281" y="204"/>
                      <a:pt x="279" y="203"/>
                    </a:cubicBezTo>
                    <a:cubicBezTo>
                      <a:pt x="278" y="201"/>
                      <a:pt x="277" y="199"/>
                      <a:pt x="277" y="196"/>
                    </a:cubicBezTo>
                    <a:cubicBezTo>
                      <a:pt x="276" y="192"/>
                      <a:pt x="273" y="188"/>
                      <a:pt x="273" y="187"/>
                    </a:cubicBezTo>
                    <a:cubicBezTo>
                      <a:pt x="272" y="186"/>
                      <a:pt x="269" y="183"/>
                      <a:pt x="269" y="181"/>
                    </a:cubicBezTo>
                    <a:cubicBezTo>
                      <a:pt x="268" y="178"/>
                      <a:pt x="272" y="177"/>
                      <a:pt x="274" y="175"/>
                    </a:cubicBezTo>
                    <a:cubicBezTo>
                      <a:pt x="276" y="174"/>
                      <a:pt x="274" y="168"/>
                      <a:pt x="274" y="164"/>
                    </a:cubicBezTo>
                    <a:cubicBezTo>
                      <a:pt x="273" y="161"/>
                      <a:pt x="276" y="155"/>
                      <a:pt x="276" y="154"/>
                    </a:cubicBezTo>
                    <a:cubicBezTo>
                      <a:pt x="277" y="154"/>
                      <a:pt x="276" y="151"/>
                      <a:pt x="276" y="151"/>
                    </a:cubicBezTo>
                    <a:cubicBezTo>
                      <a:pt x="274" y="149"/>
                      <a:pt x="275" y="141"/>
                      <a:pt x="275" y="137"/>
                    </a:cubicBezTo>
                    <a:cubicBezTo>
                      <a:pt x="276" y="132"/>
                      <a:pt x="271" y="123"/>
                      <a:pt x="270" y="122"/>
                    </a:cubicBezTo>
                    <a:cubicBezTo>
                      <a:pt x="270" y="120"/>
                      <a:pt x="268" y="119"/>
                      <a:pt x="267" y="117"/>
                    </a:cubicBezTo>
                    <a:cubicBezTo>
                      <a:pt x="267" y="117"/>
                      <a:pt x="269" y="116"/>
                      <a:pt x="270" y="115"/>
                    </a:cubicBezTo>
                    <a:cubicBezTo>
                      <a:pt x="269" y="109"/>
                      <a:pt x="264" y="88"/>
                      <a:pt x="264" y="87"/>
                    </a:cubicBezTo>
                    <a:cubicBezTo>
                      <a:pt x="264" y="86"/>
                      <a:pt x="263" y="86"/>
                      <a:pt x="263" y="86"/>
                    </a:cubicBezTo>
                    <a:cubicBezTo>
                      <a:pt x="263" y="86"/>
                      <a:pt x="254" y="79"/>
                      <a:pt x="253" y="78"/>
                    </a:cubicBezTo>
                    <a:cubicBezTo>
                      <a:pt x="252" y="77"/>
                      <a:pt x="252" y="76"/>
                      <a:pt x="252" y="76"/>
                    </a:cubicBezTo>
                    <a:cubicBezTo>
                      <a:pt x="252" y="70"/>
                      <a:pt x="245" y="64"/>
                      <a:pt x="244" y="63"/>
                    </a:cubicBezTo>
                    <a:cubicBezTo>
                      <a:pt x="243" y="63"/>
                      <a:pt x="243" y="62"/>
                      <a:pt x="243" y="62"/>
                    </a:cubicBezTo>
                    <a:cubicBezTo>
                      <a:pt x="242" y="61"/>
                      <a:pt x="242" y="60"/>
                      <a:pt x="242" y="58"/>
                    </a:cubicBezTo>
                    <a:cubicBezTo>
                      <a:pt x="241" y="57"/>
                      <a:pt x="241" y="53"/>
                      <a:pt x="240" y="52"/>
                    </a:cubicBezTo>
                    <a:cubicBezTo>
                      <a:pt x="240" y="51"/>
                      <a:pt x="242" y="50"/>
                      <a:pt x="242" y="50"/>
                    </a:cubicBezTo>
                    <a:cubicBezTo>
                      <a:pt x="242" y="50"/>
                      <a:pt x="247" y="45"/>
                      <a:pt x="248" y="45"/>
                    </a:cubicBezTo>
                    <a:cubicBezTo>
                      <a:pt x="249" y="44"/>
                      <a:pt x="251" y="42"/>
                      <a:pt x="251" y="41"/>
                    </a:cubicBezTo>
                    <a:cubicBezTo>
                      <a:pt x="252" y="40"/>
                      <a:pt x="252" y="38"/>
                      <a:pt x="254" y="35"/>
                    </a:cubicBezTo>
                    <a:cubicBezTo>
                      <a:pt x="255" y="33"/>
                      <a:pt x="254" y="30"/>
                      <a:pt x="254" y="30"/>
                    </a:cubicBezTo>
                    <a:cubicBezTo>
                      <a:pt x="253" y="29"/>
                      <a:pt x="253" y="26"/>
                      <a:pt x="252" y="23"/>
                    </a:cubicBezTo>
                    <a:cubicBezTo>
                      <a:pt x="252" y="20"/>
                      <a:pt x="252" y="19"/>
                      <a:pt x="252" y="19"/>
                    </a:cubicBezTo>
                    <a:cubicBezTo>
                      <a:pt x="252" y="19"/>
                      <a:pt x="253" y="15"/>
                      <a:pt x="253" y="14"/>
                    </a:cubicBezTo>
                    <a:cubicBezTo>
                      <a:pt x="253" y="14"/>
                      <a:pt x="252" y="13"/>
                      <a:pt x="252" y="13"/>
                    </a:cubicBezTo>
                    <a:cubicBezTo>
                      <a:pt x="252" y="13"/>
                      <a:pt x="251" y="12"/>
                      <a:pt x="251" y="11"/>
                    </a:cubicBezTo>
                    <a:cubicBezTo>
                      <a:pt x="250" y="11"/>
                      <a:pt x="251" y="10"/>
                      <a:pt x="251" y="10"/>
                    </a:cubicBezTo>
                    <a:cubicBezTo>
                      <a:pt x="256" y="3"/>
                      <a:pt x="256" y="3"/>
                      <a:pt x="256" y="3"/>
                    </a:cubicBezTo>
                    <a:cubicBezTo>
                      <a:pt x="254" y="4"/>
                      <a:pt x="248" y="4"/>
                      <a:pt x="246" y="4"/>
                    </a:cubicBezTo>
                    <a:cubicBezTo>
                      <a:pt x="244" y="4"/>
                      <a:pt x="244" y="4"/>
                      <a:pt x="244" y="4"/>
                    </a:cubicBezTo>
                    <a:cubicBezTo>
                      <a:pt x="244" y="3"/>
                      <a:pt x="243" y="2"/>
                      <a:pt x="242" y="2"/>
                    </a:cubicBezTo>
                    <a:cubicBezTo>
                      <a:pt x="241" y="2"/>
                      <a:pt x="241" y="2"/>
                      <a:pt x="239" y="1"/>
                    </a:cubicBezTo>
                    <a:cubicBezTo>
                      <a:pt x="238" y="1"/>
                      <a:pt x="236" y="1"/>
                      <a:pt x="234" y="3"/>
                    </a:cubicBezTo>
                    <a:cubicBezTo>
                      <a:pt x="231" y="5"/>
                      <a:pt x="231" y="4"/>
                      <a:pt x="231" y="4"/>
                    </a:cubicBezTo>
                    <a:cubicBezTo>
                      <a:pt x="230" y="3"/>
                      <a:pt x="229" y="3"/>
                      <a:pt x="228" y="3"/>
                    </a:cubicBezTo>
                    <a:cubicBezTo>
                      <a:pt x="226" y="3"/>
                      <a:pt x="226" y="2"/>
                      <a:pt x="225" y="2"/>
                    </a:cubicBezTo>
                    <a:cubicBezTo>
                      <a:pt x="224" y="2"/>
                      <a:pt x="223" y="0"/>
                      <a:pt x="222" y="2"/>
                    </a:cubicBezTo>
                    <a:cubicBezTo>
                      <a:pt x="221" y="4"/>
                      <a:pt x="222" y="4"/>
                      <a:pt x="220" y="4"/>
                    </a:cubicBezTo>
                    <a:cubicBezTo>
                      <a:pt x="219" y="5"/>
                      <a:pt x="212" y="8"/>
                      <a:pt x="211" y="8"/>
                    </a:cubicBezTo>
                    <a:cubicBezTo>
                      <a:pt x="209" y="8"/>
                      <a:pt x="208" y="8"/>
                      <a:pt x="206" y="8"/>
                    </a:cubicBezTo>
                    <a:cubicBezTo>
                      <a:pt x="204" y="7"/>
                      <a:pt x="196" y="3"/>
                      <a:pt x="191" y="4"/>
                    </a:cubicBezTo>
                    <a:cubicBezTo>
                      <a:pt x="186" y="5"/>
                      <a:pt x="177" y="7"/>
                      <a:pt x="175" y="6"/>
                    </a:cubicBezTo>
                    <a:cubicBezTo>
                      <a:pt x="173" y="6"/>
                      <a:pt x="171" y="6"/>
                      <a:pt x="169" y="8"/>
                    </a:cubicBezTo>
                    <a:cubicBezTo>
                      <a:pt x="167" y="11"/>
                      <a:pt x="165" y="10"/>
                      <a:pt x="162" y="10"/>
                    </a:cubicBezTo>
                    <a:cubicBezTo>
                      <a:pt x="159" y="9"/>
                      <a:pt x="149" y="11"/>
                      <a:pt x="146" y="12"/>
                    </a:cubicBezTo>
                    <a:cubicBezTo>
                      <a:pt x="144" y="13"/>
                      <a:pt x="139" y="14"/>
                      <a:pt x="138" y="14"/>
                    </a:cubicBezTo>
                    <a:cubicBezTo>
                      <a:pt x="138" y="14"/>
                      <a:pt x="132" y="18"/>
                      <a:pt x="129" y="21"/>
                    </a:cubicBezTo>
                    <a:cubicBezTo>
                      <a:pt x="127" y="24"/>
                      <a:pt x="126" y="22"/>
                      <a:pt x="125" y="22"/>
                    </a:cubicBezTo>
                    <a:cubicBezTo>
                      <a:pt x="124" y="21"/>
                      <a:pt x="123" y="21"/>
                      <a:pt x="122" y="22"/>
                    </a:cubicBezTo>
                    <a:cubicBezTo>
                      <a:pt x="121" y="23"/>
                      <a:pt x="117" y="23"/>
                      <a:pt x="114" y="24"/>
                    </a:cubicBezTo>
                    <a:cubicBezTo>
                      <a:pt x="112" y="26"/>
                      <a:pt x="111" y="27"/>
                      <a:pt x="111" y="28"/>
                    </a:cubicBezTo>
                    <a:cubicBezTo>
                      <a:pt x="110" y="29"/>
                      <a:pt x="109" y="32"/>
                      <a:pt x="103" y="33"/>
                    </a:cubicBezTo>
                    <a:cubicBezTo>
                      <a:pt x="98" y="34"/>
                      <a:pt x="97" y="34"/>
                      <a:pt x="97" y="35"/>
                    </a:cubicBezTo>
                    <a:cubicBezTo>
                      <a:pt x="96" y="35"/>
                      <a:pt x="96" y="35"/>
                      <a:pt x="95" y="35"/>
                    </a:cubicBezTo>
                    <a:cubicBezTo>
                      <a:pt x="97" y="36"/>
                      <a:pt x="100" y="39"/>
                      <a:pt x="100" y="39"/>
                    </a:cubicBezTo>
                    <a:cubicBezTo>
                      <a:pt x="101" y="40"/>
                      <a:pt x="102" y="40"/>
                      <a:pt x="102" y="40"/>
                    </a:cubicBezTo>
                    <a:cubicBezTo>
                      <a:pt x="103" y="41"/>
                      <a:pt x="102" y="41"/>
                      <a:pt x="102" y="41"/>
                    </a:cubicBezTo>
                    <a:cubicBezTo>
                      <a:pt x="102" y="42"/>
                      <a:pt x="101" y="43"/>
                      <a:pt x="102" y="44"/>
                    </a:cubicBezTo>
                    <a:cubicBezTo>
                      <a:pt x="103" y="45"/>
                      <a:pt x="104" y="44"/>
                      <a:pt x="103" y="46"/>
                    </a:cubicBezTo>
                    <a:cubicBezTo>
                      <a:pt x="103" y="47"/>
                      <a:pt x="103" y="49"/>
                      <a:pt x="103" y="49"/>
                    </a:cubicBezTo>
                    <a:cubicBezTo>
                      <a:pt x="104" y="50"/>
                      <a:pt x="104" y="52"/>
                      <a:pt x="104" y="52"/>
                    </a:cubicBezTo>
                    <a:cubicBezTo>
                      <a:pt x="104" y="53"/>
                      <a:pt x="103" y="57"/>
                      <a:pt x="103" y="57"/>
                    </a:cubicBezTo>
                    <a:cubicBezTo>
                      <a:pt x="103" y="57"/>
                      <a:pt x="103" y="58"/>
                      <a:pt x="103" y="59"/>
                    </a:cubicBezTo>
                    <a:cubicBezTo>
                      <a:pt x="104" y="60"/>
                      <a:pt x="108" y="71"/>
                      <a:pt x="108" y="72"/>
                    </a:cubicBezTo>
                    <a:cubicBezTo>
                      <a:pt x="109" y="74"/>
                      <a:pt x="110" y="75"/>
                      <a:pt x="111" y="76"/>
                    </a:cubicBezTo>
                    <a:cubicBezTo>
                      <a:pt x="112" y="76"/>
                      <a:pt x="114" y="77"/>
                      <a:pt x="113" y="79"/>
                    </a:cubicBezTo>
                    <a:cubicBezTo>
                      <a:pt x="111" y="81"/>
                      <a:pt x="110" y="82"/>
                      <a:pt x="110" y="82"/>
                    </a:cubicBezTo>
                    <a:cubicBezTo>
                      <a:pt x="110" y="82"/>
                      <a:pt x="110" y="82"/>
                      <a:pt x="110" y="83"/>
                    </a:cubicBezTo>
                    <a:cubicBezTo>
                      <a:pt x="111" y="84"/>
                      <a:pt x="111" y="85"/>
                      <a:pt x="110" y="85"/>
                    </a:cubicBezTo>
                    <a:cubicBezTo>
                      <a:pt x="109" y="85"/>
                      <a:pt x="103" y="85"/>
                      <a:pt x="102" y="84"/>
                    </a:cubicBezTo>
                    <a:cubicBezTo>
                      <a:pt x="101" y="84"/>
                      <a:pt x="96" y="83"/>
                      <a:pt x="94" y="84"/>
                    </a:cubicBezTo>
                    <a:cubicBezTo>
                      <a:pt x="93" y="84"/>
                      <a:pt x="89" y="84"/>
                      <a:pt x="87" y="85"/>
                    </a:cubicBezTo>
                    <a:cubicBezTo>
                      <a:pt x="86" y="85"/>
                      <a:pt x="84" y="87"/>
                      <a:pt x="83" y="89"/>
                    </a:cubicBezTo>
                    <a:cubicBezTo>
                      <a:pt x="83" y="89"/>
                      <a:pt x="83" y="90"/>
                      <a:pt x="82" y="90"/>
                    </a:cubicBezTo>
                    <a:cubicBezTo>
                      <a:pt x="82" y="90"/>
                      <a:pt x="79" y="91"/>
                      <a:pt x="79" y="91"/>
                    </a:cubicBezTo>
                    <a:cubicBezTo>
                      <a:pt x="78" y="91"/>
                      <a:pt x="76" y="92"/>
                      <a:pt x="75" y="91"/>
                    </a:cubicBezTo>
                    <a:cubicBezTo>
                      <a:pt x="73" y="91"/>
                      <a:pt x="72" y="91"/>
                      <a:pt x="72" y="92"/>
                    </a:cubicBezTo>
                    <a:cubicBezTo>
                      <a:pt x="71" y="94"/>
                      <a:pt x="72" y="95"/>
                      <a:pt x="72" y="95"/>
                    </a:cubicBezTo>
                    <a:cubicBezTo>
                      <a:pt x="73" y="96"/>
                      <a:pt x="73" y="96"/>
                      <a:pt x="73" y="97"/>
                    </a:cubicBezTo>
                    <a:cubicBezTo>
                      <a:pt x="73" y="97"/>
                      <a:pt x="72" y="99"/>
                      <a:pt x="72" y="99"/>
                    </a:cubicBezTo>
                    <a:cubicBezTo>
                      <a:pt x="72" y="100"/>
                      <a:pt x="72" y="100"/>
                      <a:pt x="72" y="100"/>
                    </a:cubicBezTo>
                    <a:cubicBezTo>
                      <a:pt x="73" y="99"/>
                      <a:pt x="74" y="99"/>
                      <a:pt x="74" y="100"/>
                    </a:cubicBezTo>
                    <a:cubicBezTo>
                      <a:pt x="74" y="100"/>
                      <a:pt x="76" y="102"/>
                      <a:pt x="75" y="103"/>
                    </a:cubicBezTo>
                    <a:cubicBezTo>
                      <a:pt x="74" y="104"/>
                      <a:pt x="74" y="104"/>
                      <a:pt x="71" y="105"/>
                    </a:cubicBezTo>
                    <a:cubicBezTo>
                      <a:pt x="69" y="106"/>
                      <a:pt x="65" y="107"/>
                      <a:pt x="64" y="108"/>
                    </a:cubicBezTo>
                    <a:cubicBezTo>
                      <a:pt x="62" y="109"/>
                      <a:pt x="55" y="112"/>
                      <a:pt x="55" y="112"/>
                    </a:cubicBezTo>
                    <a:cubicBezTo>
                      <a:pt x="55" y="112"/>
                      <a:pt x="54" y="113"/>
                      <a:pt x="54" y="113"/>
                    </a:cubicBezTo>
                    <a:cubicBezTo>
                      <a:pt x="54" y="114"/>
                      <a:pt x="52" y="116"/>
                      <a:pt x="51" y="117"/>
                    </a:cubicBezTo>
                    <a:cubicBezTo>
                      <a:pt x="49" y="118"/>
                      <a:pt x="46" y="120"/>
                      <a:pt x="42" y="121"/>
                    </a:cubicBezTo>
                    <a:cubicBezTo>
                      <a:pt x="37" y="122"/>
                      <a:pt x="34" y="122"/>
                      <a:pt x="33" y="122"/>
                    </a:cubicBezTo>
                    <a:cubicBezTo>
                      <a:pt x="33" y="122"/>
                      <a:pt x="32" y="122"/>
                      <a:pt x="32" y="122"/>
                    </a:cubicBezTo>
                    <a:cubicBezTo>
                      <a:pt x="32" y="122"/>
                      <a:pt x="31" y="125"/>
                      <a:pt x="31" y="125"/>
                    </a:cubicBezTo>
                    <a:cubicBezTo>
                      <a:pt x="31" y="126"/>
                      <a:pt x="30" y="126"/>
                      <a:pt x="30" y="126"/>
                    </a:cubicBezTo>
                    <a:cubicBezTo>
                      <a:pt x="29" y="126"/>
                      <a:pt x="26" y="126"/>
                      <a:pt x="24" y="126"/>
                    </a:cubicBezTo>
                    <a:cubicBezTo>
                      <a:pt x="23" y="126"/>
                      <a:pt x="20" y="128"/>
                      <a:pt x="18" y="128"/>
                    </a:cubicBezTo>
                    <a:cubicBezTo>
                      <a:pt x="16" y="129"/>
                      <a:pt x="11" y="131"/>
                      <a:pt x="9" y="132"/>
                    </a:cubicBezTo>
                    <a:cubicBezTo>
                      <a:pt x="8" y="134"/>
                      <a:pt x="0" y="140"/>
                      <a:pt x="0" y="140"/>
                    </a:cubicBezTo>
                    <a:cubicBezTo>
                      <a:pt x="0" y="162"/>
                      <a:pt x="0" y="162"/>
                      <a:pt x="0" y="162"/>
                    </a:cubicBezTo>
                    <a:cubicBezTo>
                      <a:pt x="9" y="168"/>
                      <a:pt x="35" y="185"/>
                      <a:pt x="56" y="199"/>
                    </a:cubicBezTo>
                    <a:cubicBezTo>
                      <a:pt x="69" y="208"/>
                      <a:pt x="80" y="215"/>
                      <a:pt x="84" y="218"/>
                    </a:cubicBezTo>
                    <a:cubicBezTo>
                      <a:pt x="93" y="225"/>
                      <a:pt x="135" y="253"/>
                      <a:pt x="137" y="254"/>
                    </a:cubicBezTo>
                    <a:cubicBezTo>
                      <a:pt x="139" y="255"/>
                      <a:pt x="142" y="257"/>
                      <a:pt x="144" y="258"/>
                    </a:cubicBezTo>
                    <a:cubicBezTo>
                      <a:pt x="145" y="259"/>
                      <a:pt x="147" y="261"/>
                      <a:pt x="146" y="263"/>
                    </a:cubicBezTo>
                    <a:cubicBezTo>
                      <a:pt x="146" y="266"/>
                      <a:pt x="147" y="266"/>
                      <a:pt x="149" y="267"/>
                    </a:cubicBezTo>
                    <a:cubicBezTo>
                      <a:pt x="151" y="267"/>
                      <a:pt x="152" y="267"/>
                      <a:pt x="153" y="269"/>
                    </a:cubicBezTo>
                    <a:cubicBezTo>
                      <a:pt x="153" y="271"/>
                      <a:pt x="155" y="273"/>
                      <a:pt x="160" y="273"/>
                    </a:cubicBezTo>
                    <a:cubicBezTo>
                      <a:pt x="160" y="273"/>
                      <a:pt x="161" y="274"/>
                      <a:pt x="161" y="273"/>
                    </a:cubicBezTo>
                    <a:cubicBezTo>
                      <a:pt x="161" y="273"/>
                      <a:pt x="162" y="272"/>
                      <a:pt x="163" y="273"/>
                    </a:cubicBezTo>
                    <a:cubicBezTo>
                      <a:pt x="164" y="274"/>
                      <a:pt x="167" y="277"/>
                      <a:pt x="171" y="278"/>
                    </a:cubicBezTo>
                    <a:cubicBezTo>
                      <a:pt x="174" y="278"/>
                      <a:pt x="176" y="279"/>
                      <a:pt x="176" y="281"/>
                    </a:cubicBezTo>
                    <a:cubicBezTo>
                      <a:pt x="177" y="282"/>
                      <a:pt x="176" y="284"/>
                      <a:pt x="177" y="285"/>
                    </a:cubicBezTo>
                    <a:cubicBezTo>
                      <a:pt x="177" y="285"/>
                      <a:pt x="177" y="286"/>
                      <a:pt x="177" y="287"/>
                    </a:cubicBezTo>
                    <a:cubicBezTo>
                      <a:pt x="176" y="289"/>
                      <a:pt x="174" y="290"/>
                      <a:pt x="175" y="291"/>
                    </a:cubicBezTo>
                    <a:cubicBezTo>
                      <a:pt x="176" y="291"/>
                      <a:pt x="181" y="292"/>
                      <a:pt x="184" y="292"/>
                    </a:cubicBezTo>
                    <a:cubicBezTo>
                      <a:pt x="186" y="292"/>
                      <a:pt x="188" y="291"/>
                      <a:pt x="191" y="29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68" name="Freeform 980">
                <a:extLst>
                  <a:ext uri="{FF2B5EF4-FFF2-40B4-BE49-F238E27FC236}">
                    <a16:creationId xmlns:a16="http://schemas.microsoft.com/office/drawing/2014/main" id="{02CF83C0-4AF3-4FE1-89DF-330666C2A97E}"/>
                  </a:ext>
                </a:extLst>
              </p:cNvPr>
              <p:cNvSpPr>
                <a:spLocks/>
              </p:cNvSpPr>
              <p:nvPr/>
            </p:nvSpPr>
            <p:spPr bwMode="auto">
              <a:xfrm>
                <a:off x="3500" y="2456"/>
                <a:ext cx="39" cy="101"/>
              </a:xfrm>
              <a:custGeom>
                <a:avLst/>
                <a:gdLst>
                  <a:gd name="T0" fmla="*/ 28 w 28"/>
                  <a:gd name="T1" fmla="*/ 71 h 74"/>
                  <a:gd name="T2" fmla="*/ 27 w 28"/>
                  <a:gd name="T3" fmla="*/ 69 h 74"/>
                  <a:gd name="T4" fmla="*/ 25 w 28"/>
                  <a:gd name="T5" fmla="*/ 66 h 74"/>
                  <a:gd name="T6" fmla="*/ 25 w 28"/>
                  <a:gd name="T7" fmla="*/ 65 h 74"/>
                  <a:gd name="T8" fmla="*/ 26 w 28"/>
                  <a:gd name="T9" fmla="*/ 64 h 74"/>
                  <a:gd name="T10" fmla="*/ 25 w 28"/>
                  <a:gd name="T11" fmla="*/ 62 h 74"/>
                  <a:gd name="T12" fmla="*/ 25 w 28"/>
                  <a:gd name="T13" fmla="*/ 62 h 74"/>
                  <a:gd name="T14" fmla="*/ 26 w 28"/>
                  <a:gd name="T15" fmla="*/ 54 h 74"/>
                  <a:gd name="T16" fmla="*/ 26 w 28"/>
                  <a:gd name="T17" fmla="*/ 51 h 74"/>
                  <a:gd name="T18" fmla="*/ 26 w 28"/>
                  <a:gd name="T19" fmla="*/ 46 h 74"/>
                  <a:gd name="T20" fmla="*/ 26 w 28"/>
                  <a:gd name="T21" fmla="*/ 42 h 74"/>
                  <a:gd name="T22" fmla="*/ 26 w 28"/>
                  <a:gd name="T23" fmla="*/ 38 h 74"/>
                  <a:gd name="T24" fmla="*/ 25 w 28"/>
                  <a:gd name="T25" fmla="*/ 30 h 74"/>
                  <a:gd name="T26" fmla="*/ 23 w 28"/>
                  <a:gd name="T27" fmla="*/ 27 h 74"/>
                  <a:gd name="T28" fmla="*/ 23 w 28"/>
                  <a:gd name="T29" fmla="*/ 25 h 74"/>
                  <a:gd name="T30" fmla="*/ 22 w 28"/>
                  <a:gd name="T31" fmla="*/ 24 h 74"/>
                  <a:gd name="T32" fmla="*/ 22 w 28"/>
                  <a:gd name="T33" fmla="*/ 23 h 74"/>
                  <a:gd name="T34" fmla="*/ 22 w 28"/>
                  <a:gd name="T35" fmla="*/ 17 h 74"/>
                  <a:gd name="T36" fmla="*/ 21 w 28"/>
                  <a:gd name="T37" fmla="*/ 16 h 74"/>
                  <a:gd name="T38" fmla="*/ 16 w 28"/>
                  <a:gd name="T39" fmla="*/ 12 h 74"/>
                  <a:gd name="T40" fmla="*/ 13 w 28"/>
                  <a:gd name="T41" fmla="*/ 8 h 74"/>
                  <a:gd name="T42" fmla="*/ 14 w 28"/>
                  <a:gd name="T43" fmla="*/ 5 h 74"/>
                  <a:gd name="T44" fmla="*/ 15 w 28"/>
                  <a:gd name="T45" fmla="*/ 1 h 74"/>
                  <a:gd name="T46" fmla="*/ 9 w 28"/>
                  <a:gd name="T47" fmla="*/ 1 h 74"/>
                  <a:gd name="T48" fmla="*/ 2 w 28"/>
                  <a:gd name="T49" fmla="*/ 0 h 74"/>
                  <a:gd name="T50" fmla="*/ 2 w 28"/>
                  <a:gd name="T51" fmla="*/ 2 h 74"/>
                  <a:gd name="T52" fmla="*/ 0 w 28"/>
                  <a:gd name="T53" fmla="*/ 5 h 74"/>
                  <a:gd name="T54" fmla="*/ 1 w 28"/>
                  <a:gd name="T55" fmla="*/ 6 h 74"/>
                  <a:gd name="T56" fmla="*/ 5 w 28"/>
                  <a:gd name="T57" fmla="*/ 9 h 74"/>
                  <a:gd name="T58" fmla="*/ 8 w 28"/>
                  <a:gd name="T59" fmla="*/ 12 h 74"/>
                  <a:gd name="T60" fmla="*/ 7 w 28"/>
                  <a:gd name="T61" fmla="*/ 16 h 74"/>
                  <a:gd name="T62" fmla="*/ 6 w 28"/>
                  <a:gd name="T63" fmla="*/ 19 h 74"/>
                  <a:gd name="T64" fmla="*/ 6 w 28"/>
                  <a:gd name="T65" fmla="*/ 22 h 74"/>
                  <a:gd name="T66" fmla="*/ 6 w 28"/>
                  <a:gd name="T67" fmla="*/ 23 h 74"/>
                  <a:gd name="T68" fmla="*/ 5 w 28"/>
                  <a:gd name="T69" fmla="*/ 24 h 74"/>
                  <a:gd name="T70" fmla="*/ 6 w 28"/>
                  <a:gd name="T71" fmla="*/ 25 h 74"/>
                  <a:gd name="T72" fmla="*/ 7 w 28"/>
                  <a:gd name="T73" fmla="*/ 25 h 74"/>
                  <a:gd name="T74" fmla="*/ 9 w 28"/>
                  <a:gd name="T75" fmla="*/ 33 h 74"/>
                  <a:gd name="T76" fmla="*/ 9 w 28"/>
                  <a:gd name="T77" fmla="*/ 34 h 74"/>
                  <a:gd name="T78" fmla="*/ 8 w 28"/>
                  <a:gd name="T79" fmla="*/ 34 h 74"/>
                  <a:gd name="T80" fmla="*/ 8 w 28"/>
                  <a:gd name="T81" fmla="*/ 35 h 74"/>
                  <a:gd name="T82" fmla="*/ 10 w 28"/>
                  <a:gd name="T83" fmla="*/ 38 h 74"/>
                  <a:gd name="T84" fmla="*/ 12 w 28"/>
                  <a:gd name="T85" fmla="*/ 39 h 74"/>
                  <a:gd name="T86" fmla="*/ 12 w 28"/>
                  <a:gd name="T87" fmla="*/ 40 h 74"/>
                  <a:gd name="T88" fmla="*/ 12 w 28"/>
                  <a:gd name="T89" fmla="*/ 42 h 74"/>
                  <a:gd name="T90" fmla="*/ 11 w 28"/>
                  <a:gd name="T91" fmla="*/ 46 h 74"/>
                  <a:gd name="T92" fmla="*/ 11 w 28"/>
                  <a:gd name="T93" fmla="*/ 47 h 74"/>
                  <a:gd name="T94" fmla="*/ 11 w 28"/>
                  <a:gd name="T95" fmla="*/ 48 h 74"/>
                  <a:gd name="T96" fmla="*/ 9 w 28"/>
                  <a:gd name="T97" fmla="*/ 52 h 74"/>
                  <a:gd name="T98" fmla="*/ 11 w 28"/>
                  <a:gd name="T99" fmla="*/ 55 h 74"/>
                  <a:gd name="T100" fmla="*/ 11 w 28"/>
                  <a:gd name="T101" fmla="*/ 56 h 74"/>
                  <a:gd name="T102" fmla="*/ 10 w 28"/>
                  <a:gd name="T103" fmla="*/ 61 h 74"/>
                  <a:gd name="T104" fmla="*/ 10 w 28"/>
                  <a:gd name="T105" fmla="*/ 61 h 74"/>
                  <a:gd name="T106" fmla="*/ 9 w 28"/>
                  <a:gd name="T107" fmla="*/ 62 h 74"/>
                  <a:gd name="T108" fmla="*/ 12 w 28"/>
                  <a:gd name="T109" fmla="*/ 67 h 74"/>
                  <a:gd name="T110" fmla="*/ 13 w 28"/>
                  <a:gd name="T111" fmla="*/ 68 h 74"/>
                  <a:gd name="T112" fmla="*/ 17 w 28"/>
                  <a:gd name="T113" fmla="*/ 73 h 74"/>
                  <a:gd name="T114" fmla="*/ 18 w 28"/>
                  <a:gd name="T115" fmla="*/ 74 h 74"/>
                  <a:gd name="T116" fmla="*/ 19 w 28"/>
                  <a:gd name="T117" fmla="*/ 74 h 74"/>
                  <a:gd name="T118" fmla="*/ 22 w 28"/>
                  <a:gd name="T119" fmla="*/ 73 h 74"/>
                  <a:gd name="T120" fmla="*/ 26 w 28"/>
                  <a:gd name="T121" fmla="*/ 73 h 74"/>
                  <a:gd name="T122" fmla="*/ 28 w 28"/>
                  <a:gd name="T123" fmla="*/ 72 h 74"/>
                  <a:gd name="T124" fmla="*/ 28 w 28"/>
                  <a:gd name="T125" fmla="*/ 7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8" h="74">
                    <a:moveTo>
                      <a:pt x="28" y="71"/>
                    </a:moveTo>
                    <a:cubicBezTo>
                      <a:pt x="28" y="70"/>
                      <a:pt x="28" y="69"/>
                      <a:pt x="27" y="69"/>
                    </a:cubicBezTo>
                    <a:cubicBezTo>
                      <a:pt x="27" y="68"/>
                      <a:pt x="26" y="67"/>
                      <a:pt x="25" y="66"/>
                    </a:cubicBezTo>
                    <a:cubicBezTo>
                      <a:pt x="25" y="66"/>
                      <a:pt x="25" y="66"/>
                      <a:pt x="25" y="65"/>
                    </a:cubicBezTo>
                    <a:cubicBezTo>
                      <a:pt x="25" y="65"/>
                      <a:pt x="26" y="64"/>
                      <a:pt x="26" y="64"/>
                    </a:cubicBezTo>
                    <a:cubicBezTo>
                      <a:pt x="26" y="63"/>
                      <a:pt x="26" y="63"/>
                      <a:pt x="25" y="62"/>
                    </a:cubicBezTo>
                    <a:cubicBezTo>
                      <a:pt x="25" y="62"/>
                      <a:pt x="25" y="62"/>
                      <a:pt x="25" y="62"/>
                    </a:cubicBezTo>
                    <a:cubicBezTo>
                      <a:pt x="25" y="61"/>
                      <a:pt x="26" y="55"/>
                      <a:pt x="26" y="54"/>
                    </a:cubicBezTo>
                    <a:cubicBezTo>
                      <a:pt x="26" y="53"/>
                      <a:pt x="26" y="52"/>
                      <a:pt x="26" y="51"/>
                    </a:cubicBezTo>
                    <a:cubicBezTo>
                      <a:pt x="26" y="50"/>
                      <a:pt x="26" y="47"/>
                      <a:pt x="26" y="46"/>
                    </a:cubicBezTo>
                    <a:cubicBezTo>
                      <a:pt x="26" y="46"/>
                      <a:pt x="26" y="43"/>
                      <a:pt x="26" y="42"/>
                    </a:cubicBezTo>
                    <a:cubicBezTo>
                      <a:pt x="26" y="41"/>
                      <a:pt x="25" y="39"/>
                      <a:pt x="26" y="38"/>
                    </a:cubicBezTo>
                    <a:cubicBezTo>
                      <a:pt x="26" y="36"/>
                      <a:pt x="26" y="32"/>
                      <a:pt x="25" y="30"/>
                    </a:cubicBezTo>
                    <a:cubicBezTo>
                      <a:pt x="24" y="28"/>
                      <a:pt x="23" y="27"/>
                      <a:pt x="23" y="27"/>
                    </a:cubicBezTo>
                    <a:cubicBezTo>
                      <a:pt x="23" y="26"/>
                      <a:pt x="22" y="26"/>
                      <a:pt x="23" y="25"/>
                    </a:cubicBezTo>
                    <a:cubicBezTo>
                      <a:pt x="23" y="25"/>
                      <a:pt x="22" y="24"/>
                      <a:pt x="22" y="24"/>
                    </a:cubicBezTo>
                    <a:cubicBezTo>
                      <a:pt x="22" y="24"/>
                      <a:pt x="22" y="23"/>
                      <a:pt x="22" y="23"/>
                    </a:cubicBezTo>
                    <a:cubicBezTo>
                      <a:pt x="22" y="23"/>
                      <a:pt x="22" y="17"/>
                      <a:pt x="22" y="17"/>
                    </a:cubicBezTo>
                    <a:cubicBezTo>
                      <a:pt x="22" y="17"/>
                      <a:pt x="22" y="16"/>
                      <a:pt x="21" y="16"/>
                    </a:cubicBezTo>
                    <a:cubicBezTo>
                      <a:pt x="21" y="16"/>
                      <a:pt x="17" y="13"/>
                      <a:pt x="16" y="12"/>
                    </a:cubicBezTo>
                    <a:cubicBezTo>
                      <a:pt x="14" y="11"/>
                      <a:pt x="14" y="10"/>
                      <a:pt x="13" y="8"/>
                    </a:cubicBezTo>
                    <a:cubicBezTo>
                      <a:pt x="13" y="6"/>
                      <a:pt x="13" y="5"/>
                      <a:pt x="14" y="5"/>
                    </a:cubicBezTo>
                    <a:cubicBezTo>
                      <a:pt x="14" y="4"/>
                      <a:pt x="15" y="2"/>
                      <a:pt x="15" y="1"/>
                    </a:cubicBezTo>
                    <a:cubicBezTo>
                      <a:pt x="13" y="1"/>
                      <a:pt x="9" y="1"/>
                      <a:pt x="9" y="1"/>
                    </a:cubicBezTo>
                    <a:cubicBezTo>
                      <a:pt x="8" y="1"/>
                      <a:pt x="4" y="0"/>
                      <a:pt x="2" y="0"/>
                    </a:cubicBezTo>
                    <a:cubicBezTo>
                      <a:pt x="2" y="0"/>
                      <a:pt x="2" y="1"/>
                      <a:pt x="2" y="2"/>
                    </a:cubicBezTo>
                    <a:cubicBezTo>
                      <a:pt x="1" y="3"/>
                      <a:pt x="0" y="5"/>
                      <a:pt x="0" y="5"/>
                    </a:cubicBezTo>
                    <a:cubicBezTo>
                      <a:pt x="0" y="5"/>
                      <a:pt x="0" y="6"/>
                      <a:pt x="1" y="6"/>
                    </a:cubicBezTo>
                    <a:cubicBezTo>
                      <a:pt x="1" y="6"/>
                      <a:pt x="4" y="9"/>
                      <a:pt x="5" y="9"/>
                    </a:cubicBezTo>
                    <a:cubicBezTo>
                      <a:pt x="6" y="10"/>
                      <a:pt x="8" y="11"/>
                      <a:pt x="8" y="12"/>
                    </a:cubicBezTo>
                    <a:cubicBezTo>
                      <a:pt x="8" y="14"/>
                      <a:pt x="8" y="15"/>
                      <a:pt x="7" y="16"/>
                    </a:cubicBezTo>
                    <a:cubicBezTo>
                      <a:pt x="7" y="16"/>
                      <a:pt x="6" y="18"/>
                      <a:pt x="6" y="19"/>
                    </a:cubicBezTo>
                    <a:cubicBezTo>
                      <a:pt x="6" y="20"/>
                      <a:pt x="5" y="22"/>
                      <a:pt x="6" y="22"/>
                    </a:cubicBezTo>
                    <a:cubicBezTo>
                      <a:pt x="7" y="23"/>
                      <a:pt x="7" y="22"/>
                      <a:pt x="6" y="23"/>
                    </a:cubicBezTo>
                    <a:cubicBezTo>
                      <a:pt x="6" y="23"/>
                      <a:pt x="5" y="24"/>
                      <a:pt x="5" y="24"/>
                    </a:cubicBezTo>
                    <a:cubicBezTo>
                      <a:pt x="6" y="25"/>
                      <a:pt x="6" y="25"/>
                      <a:pt x="6" y="25"/>
                    </a:cubicBezTo>
                    <a:cubicBezTo>
                      <a:pt x="7" y="24"/>
                      <a:pt x="7" y="24"/>
                      <a:pt x="7" y="25"/>
                    </a:cubicBezTo>
                    <a:cubicBezTo>
                      <a:pt x="7" y="25"/>
                      <a:pt x="9" y="33"/>
                      <a:pt x="9" y="33"/>
                    </a:cubicBezTo>
                    <a:cubicBezTo>
                      <a:pt x="9" y="33"/>
                      <a:pt x="9" y="33"/>
                      <a:pt x="9" y="34"/>
                    </a:cubicBezTo>
                    <a:cubicBezTo>
                      <a:pt x="8" y="34"/>
                      <a:pt x="8" y="34"/>
                      <a:pt x="8" y="34"/>
                    </a:cubicBezTo>
                    <a:cubicBezTo>
                      <a:pt x="8" y="34"/>
                      <a:pt x="7" y="35"/>
                      <a:pt x="8" y="35"/>
                    </a:cubicBezTo>
                    <a:cubicBezTo>
                      <a:pt x="8" y="35"/>
                      <a:pt x="10" y="38"/>
                      <a:pt x="10" y="38"/>
                    </a:cubicBezTo>
                    <a:cubicBezTo>
                      <a:pt x="11" y="39"/>
                      <a:pt x="11" y="39"/>
                      <a:pt x="12" y="39"/>
                    </a:cubicBezTo>
                    <a:cubicBezTo>
                      <a:pt x="12" y="40"/>
                      <a:pt x="12" y="40"/>
                      <a:pt x="12" y="40"/>
                    </a:cubicBezTo>
                    <a:cubicBezTo>
                      <a:pt x="12" y="41"/>
                      <a:pt x="12" y="41"/>
                      <a:pt x="12" y="42"/>
                    </a:cubicBezTo>
                    <a:cubicBezTo>
                      <a:pt x="11" y="42"/>
                      <a:pt x="10" y="43"/>
                      <a:pt x="11" y="46"/>
                    </a:cubicBezTo>
                    <a:cubicBezTo>
                      <a:pt x="11" y="47"/>
                      <a:pt x="11" y="47"/>
                      <a:pt x="11" y="47"/>
                    </a:cubicBezTo>
                    <a:cubicBezTo>
                      <a:pt x="11" y="47"/>
                      <a:pt x="11" y="48"/>
                      <a:pt x="11" y="48"/>
                    </a:cubicBezTo>
                    <a:cubicBezTo>
                      <a:pt x="10" y="48"/>
                      <a:pt x="9" y="52"/>
                      <a:pt x="9" y="52"/>
                    </a:cubicBezTo>
                    <a:cubicBezTo>
                      <a:pt x="9" y="53"/>
                      <a:pt x="10" y="54"/>
                      <a:pt x="11" y="55"/>
                    </a:cubicBezTo>
                    <a:cubicBezTo>
                      <a:pt x="11" y="55"/>
                      <a:pt x="11" y="55"/>
                      <a:pt x="11" y="56"/>
                    </a:cubicBezTo>
                    <a:cubicBezTo>
                      <a:pt x="11" y="57"/>
                      <a:pt x="11" y="60"/>
                      <a:pt x="10" y="61"/>
                    </a:cubicBezTo>
                    <a:cubicBezTo>
                      <a:pt x="10" y="61"/>
                      <a:pt x="10" y="61"/>
                      <a:pt x="10" y="61"/>
                    </a:cubicBezTo>
                    <a:cubicBezTo>
                      <a:pt x="9" y="61"/>
                      <a:pt x="9" y="61"/>
                      <a:pt x="9" y="62"/>
                    </a:cubicBezTo>
                    <a:cubicBezTo>
                      <a:pt x="10" y="62"/>
                      <a:pt x="12" y="67"/>
                      <a:pt x="12" y="67"/>
                    </a:cubicBezTo>
                    <a:cubicBezTo>
                      <a:pt x="12" y="67"/>
                      <a:pt x="12" y="68"/>
                      <a:pt x="13" y="68"/>
                    </a:cubicBezTo>
                    <a:cubicBezTo>
                      <a:pt x="13" y="69"/>
                      <a:pt x="17" y="73"/>
                      <a:pt x="17" y="73"/>
                    </a:cubicBezTo>
                    <a:cubicBezTo>
                      <a:pt x="17" y="73"/>
                      <a:pt x="18" y="74"/>
                      <a:pt x="18" y="74"/>
                    </a:cubicBezTo>
                    <a:cubicBezTo>
                      <a:pt x="18" y="74"/>
                      <a:pt x="19" y="74"/>
                      <a:pt x="19" y="74"/>
                    </a:cubicBezTo>
                    <a:cubicBezTo>
                      <a:pt x="20" y="74"/>
                      <a:pt x="22" y="74"/>
                      <a:pt x="22" y="73"/>
                    </a:cubicBezTo>
                    <a:cubicBezTo>
                      <a:pt x="22" y="73"/>
                      <a:pt x="24" y="73"/>
                      <a:pt x="26" y="73"/>
                    </a:cubicBezTo>
                    <a:cubicBezTo>
                      <a:pt x="27" y="72"/>
                      <a:pt x="27" y="72"/>
                      <a:pt x="28" y="72"/>
                    </a:cubicBezTo>
                    <a:cubicBezTo>
                      <a:pt x="28" y="72"/>
                      <a:pt x="28" y="71"/>
                      <a:pt x="28" y="7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69" name="Freeform 981">
                <a:extLst>
                  <a:ext uri="{FF2B5EF4-FFF2-40B4-BE49-F238E27FC236}">
                    <a16:creationId xmlns:a16="http://schemas.microsoft.com/office/drawing/2014/main" id="{B16F8F44-13AF-45C6-8A6D-FC9006D99525}"/>
                  </a:ext>
                </a:extLst>
              </p:cNvPr>
              <p:cNvSpPr>
                <a:spLocks/>
              </p:cNvSpPr>
              <p:nvPr/>
            </p:nvSpPr>
            <p:spPr bwMode="auto">
              <a:xfrm>
                <a:off x="3684" y="2635"/>
                <a:ext cx="117" cy="127"/>
              </a:xfrm>
              <a:custGeom>
                <a:avLst/>
                <a:gdLst>
                  <a:gd name="T0" fmla="*/ 39 w 84"/>
                  <a:gd name="T1" fmla="*/ 86 h 92"/>
                  <a:gd name="T2" fmla="*/ 44 w 84"/>
                  <a:gd name="T3" fmla="*/ 89 h 92"/>
                  <a:gd name="T4" fmla="*/ 45 w 84"/>
                  <a:gd name="T5" fmla="*/ 86 h 92"/>
                  <a:gd name="T6" fmla="*/ 43 w 84"/>
                  <a:gd name="T7" fmla="*/ 82 h 92"/>
                  <a:gd name="T8" fmla="*/ 43 w 84"/>
                  <a:gd name="T9" fmla="*/ 79 h 92"/>
                  <a:gd name="T10" fmla="*/ 40 w 84"/>
                  <a:gd name="T11" fmla="*/ 75 h 92"/>
                  <a:gd name="T12" fmla="*/ 41 w 84"/>
                  <a:gd name="T13" fmla="*/ 69 h 92"/>
                  <a:gd name="T14" fmla="*/ 47 w 84"/>
                  <a:gd name="T15" fmla="*/ 69 h 92"/>
                  <a:gd name="T16" fmla="*/ 51 w 84"/>
                  <a:gd name="T17" fmla="*/ 68 h 92"/>
                  <a:gd name="T18" fmla="*/ 53 w 84"/>
                  <a:gd name="T19" fmla="*/ 62 h 92"/>
                  <a:gd name="T20" fmla="*/ 57 w 84"/>
                  <a:gd name="T21" fmla="*/ 62 h 92"/>
                  <a:gd name="T22" fmla="*/ 61 w 84"/>
                  <a:gd name="T23" fmla="*/ 69 h 92"/>
                  <a:gd name="T24" fmla="*/ 66 w 84"/>
                  <a:gd name="T25" fmla="*/ 69 h 92"/>
                  <a:gd name="T26" fmla="*/ 73 w 84"/>
                  <a:gd name="T27" fmla="*/ 66 h 92"/>
                  <a:gd name="T28" fmla="*/ 78 w 84"/>
                  <a:gd name="T29" fmla="*/ 71 h 92"/>
                  <a:gd name="T30" fmla="*/ 79 w 84"/>
                  <a:gd name="T31" fmla="*/ 69 h 92"/>
                  <a:gd name="T32" fmla="*/ 83 w 84"/>
                  <a:gd name="T33" fmla="*/ 51 h 92"/>
                  <a:gd name="T34" fmla="*/ 84 w 84"/>
                  <a:gd name="T35" fmla="*/ 46 h 92"/>
                  <a:gd name="T36" fmla="*/ 84 w 84"/>
                  <a:gd name="T37" fmla="*/ 43 h 92"/>
                  <a:gd name="T38" fmla="*/ 76 w 84"/>
                  <a:gd name="T39" fmla="*/ 38 h 92"/>
                  <a:gd name="T40" fmla="*/ 78 w 84"/>
                  <a:gd name="T41" fmla="*/ 27 h 92"/>
                  <a:gd name="T42" fmla="*/ 83 w 84"/>
                  <a:gd name="T43" fmla="*/ 23 h 92"/>
                  <a:gd name="T44" fmla="*/ 80 w 84"/>
                  <a:gd name="T45" fmla="*/ 14 h 92"/>
                  <a:gd name="T46" fmla="*/ 76 w 84"/>
                  <a:gd name="T47" fmla="*/ 13 h 92"/>
                  <a:gd name="T48" fmla="*/ 64 w 84"/>
                  <a:gd name="T49" fmla="*/ 15 h 92"/>
                  <a:gd name="T50" fmla="*/ 65 w 84"/>
                  <a:gd name="T51" fmla="*/ 1 h 92"/>
                  <a:gd name="T52" fmla="*/ 53 w 84"/>
                  <a:gd name="T53" fmla="*/ 0 h 92"/>
                  <a:gd name="T54" fmla="*/ 39 w 84"/>
                  <a:gd name="T55" fmla="*/ 0 h 92"/>
                  <a:gd name="T56" fmla="*/ 37 w 84"/>
                  <a:gd name="T57" fmla="*/ 18 h 92"/>
                  <a:gd name="T58" fmla="*/ 31 w 84"/>
                  <a:gd name="T59" fmla="*/ 19 h 92"/>
                  <a:gd name="T60" fmla="*/ 12 w 84"/>
                  <a:gd name="T61" fmla="*/ 19 h 92"/>
                  <a:gd name="T62" fmla="*/ 11 w 84"/>
                  <a:gd name="T63" fmla="*/ 25 h 92"/>
                  <a:gd name="T64" fmla="*/ 9 w 84"/>
                  <a:gd name="T65" fmla="*/ 27 h 92"/>
                  <a:gd name="T66" fmla="*/ 13 w 84"/>
                  <a:gd name="T67" fmla="*/ 32 h 92"/>
                  <a:gd name="T68" fmla="*/ 9 w 84"/>
                  <a:gd name="T69" fmla="*/ 31 h 92"/>
                  <a:gd name="T70" fmla="*/ 4 w 84"/>
                  <a:gd name="T71" fmla="*/ 45 h 92"/>
                  <a:gd name="T72" fmla="*/ 1 w 84"/>
                  <a:gd name="T73" fmla="*/ 46 h 92"/>
                  <a:gd name="T74" fmla="*/ 5 w 84"/>
                  <a:gd name="T75" fmla="*/ 55 h 92"/>
                  <a:gd name="T76" fmla="*/ 8 w 84"/>
                  <a:gd name="T77" fmla="*/ 58 h 92"/>
                  <a:gd name="T78" fmla="*/ 6 w 84"/>
                  <a:gd name="T79" fmla="*/ 58 h 92"/>
                  <a:gd name="T80" fmla="*/ 10 w 84"/>
                  <a:gd name="T81" fmla="*/ 64 h 92"/>
                  <a:gd name="T82" fmla="*/ 34 w 84"/>
                  <a:gd name="T83" fmla="*/ 9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4" h="92">
                    <a:moveTo>
                      <a:pt x="39" y="87"/>
                    </a:moveTo>
                    <a:cubicBezTo>
                      <a:pt x="39" y="87"/>
                      <a:pt x="39" y="87"/>
                      <a:pt x="39" y="86"/>
                    </a:cubicBezTo>
                    <a:cubicBezTo>
                      <a:pt x="39" y="86"/>
                      <a:pt x="39" y="86"/>
                      <a:pt x="40" y="87"/>
                    </a:cubicBezTo>
                    <a:cubicBezTo>
                      <a:pt x="41" y="87"/>
                      <a:pt x="43" y="88"/>
                      <a:pt x="44" y="89"/>
                    </a:cubicBezTo>
                    <a:cubicBezTo>
                      <a:pt x="44" y="89"/>
                      <a:pt x="45" y="89"/>
                      <a:pt x="45" y="89"/>
                    </a:cubicBezTo>
                    <a:cubicBezTo>
                      <a:pt x="46" y="88"/>
                      <a:pt x="45" y="87"/>
                      <a:pt x="45" y="86"/>
                    </a:cubicBezTo>
                    <a:cubicBezTo>
                      <a:pt x="45" y="85"/>
                      <a:pt x="45" y="85"/>
                      <a:pt x="46" y="84"/>
                    </a:cubicBezTo>
                    <a:cubicBezTo>
                      <a:pt x="47" y="83"/>
                      <a:pt x="45" y="83"/>
                      <a:pt x="43" y="82"/>
                    </a:cubicBezTo>
                    <a:cubicBezTo>
                      <a:pt x="42" y="81"/>
                      <a:pt x="43" y="80"/>
                      <a:pt x="43" y="79"/>
                    </a:cubicBezTo>
                    <a:cubicBezTo>
                      <a:pt x="44" y="79"/>
                      <a:pt x="43" y="79"/>
                      <a:pt x="43" y="79"/>
                    </a:cubicBezTo>
                    <a:cubicBezTo>
                      <a:pt x="43" y="79"/>
                      <a:pt x="41" y="77"/>
                      <a:pt x="40" y="76"/>
                    </a:cubicBezTo>
                    <a:cubicBezTo>
                      <a:pt x="40" y="76"/>
                      <a:pt x="40" y="75"/>
                      <a:pt x="40" y="75"/>
                    </a:cubicBezTo>
                    <a:cubicBezTo>
                      <a:pt x="41" y="73"/>
                      <a:pt x="41" y="71"/>
                      <a:pt x="41" y="70"/>
                    </a:cubicBezTo>
                    <a:cubicBezTo>
                      <a:pt x="41" y="70"/>
                      <a:pt x="39" y="69"/>
                      <a:pt x="41" y="69"/>
                    </a:cubicBezTo>
                    <a:cubicBezTo>
                      <a:pt x="43" y="69"/>
                      <a:pt x="43" y="70"/>
                      <a:pt x="44" y="69"/>
                    </a:cubicBezTo>
                    <a:cubicBezTo>
                      <a:pt x="45" y="69"/>
                      <a:pt x="47" y="69"/>
                      <a:pt x="47" y="69"/>
                    </a:cubicBezTo>
                    <a:cubicBezTo>
                      <a:pt x="48" y="69"/>
                      <a:pt x="48" y="69"/>
                      <a:pt x="49" y="69"/>
                    </a:cubicBezTo>
                    <a:cubicBezTo>
                      <a:pt x="49" y="69"/>
                      <a:pt x="51" y="68"/>
                      <a:pt x="51" y="68"/>
                    </a:cubicBezTo>
                    <a:cubicBezTo>
                      <a:pt x="52" y="68"/>
                      <a:pt x="52" y="66"/>
                      <a:pt x="52" y="66"/>
                    </a:cubicBezTo>
                    <a:cubicBezTo>
                      <a:pt x="52" y="66"/>
                      <a:pt x="53" y="63"/>
                      <a:pt x="53" y="62"/>
                    </a:cubicBezTo>
                    <a:cubicBezTo>
                      <a:pt x="53" y="62"/>
                      <a:pt x="54" y="62"/>
                      <a:pt x="54" y="62"/>
                    </a:cubicBezTo>
                    <a:cubicBezTo>
                      <a:pt x="54" y="62"/>
                      <a:pt x="57" y="62"/>
                      <a:pt x="57" y="62"/>
                    </a:cubicBezTo>
                    <a:cubicBezTo>
                      <a:pt x="58" y="62"/>
                      <a:pt x="58" y="62"/>
                      <a:pt x="58" y="62"/>
                    </a:cubicBezTo>
                    <a:cubicBezTo>
                      <a:pt x="58" y="62"/>
                      <a:pt x="61" y="69"/>
                      <a:pt x="61" y="69"/>
                    </a:cubicBezTo>
                    <a:cubicBezTo>
                      <a:pt x="61" y="69"/>
                      <a:pt x="62" y="69"/>
                      <a:pt x="62" y="69"/>
                    </a:cubicBezTo>
                    <a:cubicBezTo>
                      <a:pt x="66" y="69"/>
                      <a:pt x="66" y="69"/>
                      <a:pt x="66" y="69"/>
                    </a:cubicBezTo>
                    <a:cubicBezTo>
                      <a:pt x="70" y="69"/>
                      <a:pt x="72" y="66"/>
                      <a:pt x="73" y="66"/>
                    </a:cubicBezTo>
                    <a:cubicBezTo>
                      <a:pt x="73" y="65"/>
                      <a:pt x="73" y="65"/>
                      <a:pt x="73" y="66"/>
                    </a:cubicBezTo>
                    <a:cubicBezTo>
                      <a:pt x="73" y="66"/>
                      <a:pt x="74" y="68"/>
                      <a:pt x="74" y="68"/>
                    </a:cubicBezTo>
                    <a:cubicBezTo>
                      <a:pt x="75" y="71"/>
                      <a:pt x="77" y="71"/>
                      <a:pt x="78" y="71"/>
                    </a:cubicBezTo>
                    <a:cubicBezTo>
                      <a:pt x="78" y="71"/>
                      <a:pt x="78" y="71"/>
                      <a:pt x="78" y="71"/>
                    </a:cubicBezTo>
                    <a:cubicBezTo>
                      <a:pt x="78" y="71"/>
                      <a:pt x="78" y="70"/>
                      <a:pt x="79" y="69"/>
                    </a:cubicBezTo>
                    <a:cubicBezTo>
                      <a:pt x="80" y="68"/>
                      <a:pt x="82" y="64"/>
                      <a:pt x="83" y="60"/>
                    </a:cubicBezTo>
                    <a:cubicBezTo>
                      <a:pt x="84" y="56"/>
                      <a:pt x="84" y="53"/>
                      <a:pt x="83" y="51"/>
                    </a:cubicBezTo>
                    <a:cubicBezTo>
                      <a:pt x="83" y="50"/>
                      <a:pt x="83" y="49"/>
                      <a:pt x="83" y="48"/>
                    </a:cubicBezTo>
                    <a:cubicBezTo>
                      <a:pt x="83" y="48"/>
                      <a:pt x="83" y="47"/>
                      <a:pt x="84" y="46"/>
                    </a:cubicBezTo>
                    <a:cubicBezTo>
                      <a:pt x="84" y="45"/>
                      <a:pt x="84" y="45"/>
                      <a:pt x="84" y="44"/>
                    </a:cubicBezTo>
                    <a:cubicBezTo>
                      <a:pt x="84" y="43"/>
                      <a:pt x="84" y="43"/>
                      <a:pt x="84" y="43"/>
                    </a:cubicBezTo>
                    <a:cubicBezTo>
                      <a:pt x="83" y="42"/>
                      <a:pt x="80" y="41"/>
                      <a:pt x="79" y="40"/>
                    </a:cubicBezTo>
                    <a:cubicBezTo>
                      <a:pt x="79" y="40"/>
                      <a:pt x="76" y="39"/>
                      <a:pt x="76" y="38"/>
                    </a:cubicBezTo>
                    <a:cubicBezTo>
                      <a:pt x="75" y="38"/>
                      <a:pt x="75" y="36"/>
                      <a:pt x="75" y="35"/>
                    </a:cubicBezTo>
                    <a:cubicBezTo>
                      <a:pt x="75" y="34"/>
                      <a:pt x="77" y="29"/>
                      <a:pt x="78" y="27"/>
                    </a:cubicBezTo>
                    <a:cubicBezTo>
                      <a:pt x="78" y="26"/>
                      <a:pt x="80" y="26"/>
                      <a:pt x="80" y="25"/>
                    </a:cubicBezTo>
                    <a:cubicBezTo>
                      <a:pt x="81" y="25"/>
                      <a:pt x="82" y="23"/>
                      <a:pt x="83" y="23"/>
                    </a:cubicBezTo>
                    <a:cubicBezTo>
                      <a:pt x="84" y="22"/>
                      <a:pt x="83" y="20"/>
                      <a:pt x="82" y="19"/>
                    </a:cubicBezTo>
                    <a:cubicBezTo>
                      <a:pt x="82" y="17"/>
                      <a:pt x="80" y="15"/>
                      <a:pt x="80" y="14"/>
                    </a:cubicBezTo>
                    <a:cubicBezTo>
                      <a:pt x="80" y="14"/>
                      <a:pt x="80" y="14"/>
                      <a:pt x="80" y="14"/>
                    </a:cubicBezTo>
                    <a:cubicBezTo>
                      <a:pt x="76" y="13"/>
                      <a:pt x="76" y="13"/>
                      <a:pt x="76" y="13"/>
                    </a:cubicBezTo>
                    <a:cubicBezTo>
                      <a:pt x="72" y="12"/>
                      <a:pt x="66" y="15"/>
                      <a:pt x="65" y="16"/>
                    </a:cubicBezTo>
                    <a:cubicBezTo>
                      <a:pt x="64" y="16"/>
                      <a:pt x="64" y="15"/>
                      <a:pt x="64" y="15"/>
                    </a:cubicBezTo>
                    <a:cubicBezTo>
                      <a:pt x="64" y="9"/>
                      <a:pt x="66" y="3"/>
                      <a:pt x="66" y="2"/>
                    </a:cubicBezTo>
                    <a:cubicBezTo>
                      <a:pt x="66" y="2"/>
                      <a:pt x="66" y="1"/>
                      <a:pt x="65" y="1"/>
                    </a:cubicBezTo>
                    <a:cubicBezTo>
                      <a:pt x="65" y="0"/>
                      <a:pt x="65" y="0"/>
                      <a:pt x="65" y="0"/>
                    </a:cubicBezTo>
                    <a:cubicBezTo>
                      <a:pt x="65" y="0"/>
                      <a:pt x="53" y="0"/>
                      <a:pt x="53" y="0"/>
                    </a:cubicBezTo>
                    <a:cubicBezTo>
                      <a:pt x="52" y="0"/>
                      <a:pt x="48" y="0"/>
                      <a:pt x="47" y="0"/>
                    </a:cubicBezTo>
                    <a:cubicBezTo>
                      <a:pt x="46" y="0"/>
                      <a:pt x="42" y="0"/>
                      <a:pt x="39" y="0"/>
                    </a:cubicBezTo>
                    <a:cubicBezTo>
                      <a:pt x="37" y="0"/>
                      <a:pt x="37" y="2"/>
                      <a:pt x="37" y="2"/>
                    </a:cubicBezTo>
                    <a:cubicBezTo>
                      <a:pt x="37" y="2"/>
                      <a:pt x="37" y="16"/>
                      <a:pt x="37" y="18"/>
                    </a:cubicBezTo>
                    <a:cubicBezTo>
                      <a:pt x="37" y="19"/>
                      <a:pt x="35" y="19"/>
                      <a:pt x="34" y="19"/>
                    </a:cubicBezTo>
                    <a:cubicBezTo>
                      <a:pt x="33" y="19"/>
                      <a:pt x="31" y="19"/>
                      <a:pt x="31" y="19"/>
                    </a:cubicBezTo>
                    <a:cubicBezTo>
                      <a:pt x="13" y="19"/>
                      <a:pt x="13" y="19"/>
                      <a:pt x="13" y="19"/>
                    </a:cubicBezTo>
                    <a:cubicBezTo>
                      <a:pt x="13" y="19"/>
                      <a:pt x="12" y="19"/>
                      <a:pt x="12" y="19"/>
                    </a:cubicBezTo>
                    <a:cubicBezTo>
                      <a:pt x="11" y="20"/>
                      <a:pt x="11" y="20"/>
                      <a:pt x="11" y="21"/>
                    </a:cubicBezTo>
                    <a:cubicBezTo>
                      <a:pt x="12" y="23"/>
                      <a:pt x="12" y="26"/>
                      <a:pt x="11" y="25"/>
                    </a:cubicBezTo>
                    <a:cubicBezTo>
                      <a:pt x="11" y="25"/>
                      <a:pt x="10" y="25"/>
                      <a:pt x="9" y="25"/>
                    </a:cubicBezTo>
                    <a:cubicBezTo>
                      <a:pt x="8" y="26"/>
                      <a:pt x="8" y="26"/>
                      <a:pt x="9" y="27"/>
                    </a:cubicBezTo>
                    <a:cubicBezTo>
                      <a:pt x="9" y="28"/>
                      <a:pt x="10" y="30"/>
                      <a:pt x="11" y="30"/>
                    </a:cubicBezTo>
                    <a:cubicBezTo>
                      <a:pt x="12" y="30"/>
                      <a:pt x="14" y="31"/>
                      <a:pt x="13" y="32"/>
                    </a:cubicBezTo>
                    <a:cubicBezTo>
                      <a:pt x="13" y="33"/>
                      <a:pt x="12" y="32"/>
                      <a:pt x="11" y="32"/>
                    </a:cubicBezTo>
                    <a:cubicBezTo>
                      <a:pt x="11" y="32"/>
                      <a:pt x="9" y="31"/>
                      <a:pt x="9" y="31"/>
                    </a:cubicBezTo>
                    <a:cubicBezTo>
                      <a:pt x="8" y="30"/>
                      <a:pt x="7" y="30"/>
                      <a:pt x="7" y="32"/>
                    </a:cubicBezTo>
                    <a:cubicBezTo>
                      <a:pt x="7" y="33"/>
                      <a:pt x="6" y="40"/>
                      <a:pt x="4" y="45"/>
                    </a:cubicBezTo>
                    <a:cubicBezTo>
                      <a:pt x="4" y="45"/>
                      <a:pt x="3" y="47"/>
                      <a:pt x="3" y="46"/>
                    </a:cubicBezTo>
                    <a:cubicBezTo>
                      <a:pt x="2" y="45"/>
                      <a:pt x="1" y="46"/>
                      <a:pt x="1" y="46"/>
                    </a:cubicBezTo>
                    <a:cubicBezTo>
                      <a:pt x="1" y="47"/>
                      <a:pt x="0" y="48"/>
                      <a:pt x="1" y="50"/>
                    </a:cubicBezTo>
                    <a:cubicBezTo>
                      <a:pt x="2" y="52"/>
                      <a:pt x="4" y="55"/>
                      <a:pt x="5" y="55"/>
                    </a:cubicBezTo>
                    <a:cubicBezTo>
                      <a:pt x="7" y="54"/>
                      <a:pt x="8" y="53"/>
                      <a:pt x="7" y="55"/>
                    </a:cubicBezTo>
                    <a:cubicBezTo>
                      <a:pt x="7" y="56"/>
                      <a:pt x="7" y="58"/>
                      <a:pt x="8" y="58"/>
                    </a:cubicBezTo>
                    <a:cubicBezTo>
                      <a:pt x="9" y="58"/>
                      <a:pt x="9" y="59"/>
                      <a:pt x="8" y="58"/>
                    </a:cubicBezTo>
                    <a:cubicBezTo>
                      <a:pt x="7" y="58"/>
                      <a:pt x="6" y="57"/>
                      <a:pt x="6" y="58"/>
                    </a:cubicBezTo>
                    <a:cubicBezTo>
                      <a:pt x="6" y="59"/>
                      <a:pt x="6" y="62"/>
                      <a:pt x="7" y="62"/>
                    </a:cubicBezTo>
                    <a:cubicBezTo>
                      <a:pt x="8" y="62"/>
                      <a:pt x="10" y="62"/>
                      <a:pt x="10" y="64"/>
                    </a:cubicBezTo>
                    <a:cubicBezTo>
                      <a:pt x="10" y="65"/>
                      <a:pt x="11" y="69"/>
                      <a:pt x="13" y="71"/>
                    </a:cubicBezTo>
                    <a:cubicBezTo>
                      <a:pt x="14" y="72"/>
                      <a:pt x="26" y="84"/>
                      <a:pt x="34" y="92"/>
                    </a:cubicBezTo>
                    <a:cubicBezTo>
                      <a:pt x="36" y="87"/>
                      <a:pt x="38" y="87"/>
                      <a:pt x="39" y="8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70" name="Freeform 982">
                <a:extLst>
                  <a:ext uri="{FF2B5EF4-FFF2-40B4-BE49-F238E27FC236}">
                    <a16:creationId xmlns:a16="http://schemas.microsoft.com/office/drawing/2014/main" id="{8298EE7D-2A45-46A7-9E9A-8212411B03AB}"/>
                  </a:ext>
                </a:extLst>
              </p:cNvPr>
              <p:cNvSpPr>
                <a:spLocks/>
              </p:cNvSpPr>
              <p:nvPr/>
            </p:nvSpPr>
            <p:spPr bwMode="auto">
              <a:xfrm>
                <a:off x="3267" y="2508"/>
                <a:ext cx="84" cy="85"/>
              </a:xfrm>
              <a:custGeom>
                <a:avLst/>
                <a:gdLst>
                  <a:gd name="T0" fmla="*/ 60 w 61"/>
                  <a:gd name="T1" fmla="*/ 50 h 62"/>
                  <a:gd name="T2" fmla="*/ 61 w 61"/>
                  <a:gd name="T3" fmla="*/ 45 h 62"/>
                  <a:gd name="T4" fmla="*/ 58 w 61"/>
                  <a:gd name="T5" fmla="*/ 38 h 62"/>
                  <a:gd name="T6" fmla="*/ 54 w 61"/>
                  <a:gd name="T7" fmla="*/ 35 h 62"/>
                  <a:gd name="T8" fmla="*/ 50 w 61"/>
                  <a:gd name="T9" fmla="*/ 33 h 62"/>
                  <a:gd name="T10" fmla="*/ 48 w 61"/>
                  <a:gd name="T11" fmla="*/ 33 h 62"/>
                  <a:gd name="T12" fmla="*/ 43 w 61"/>
                  <a:gd name="T13" fmla="*/ 31 h 62"/>
                  <a:gd name="T14" fmla="*/ 43 w 61"/>
                  <a:gd name="T15" fmla="*/ 30 h 62"/>
                  <a:gd name="T16" fmla="*/ 47 w 61"/>
                  <a:gd name="T17" fmla="*/ 24 h 62"/>
                  <a:gd name="T18" fmla="*/ 45 w 61"/>
                  <a:gd name="T19" fmla="*/ 16 h 62"/>
                  <a:gd name="T20" fmla="*/ 44 w 61"/>
                  <a:gd name="T21" fmla="*/ 13 h 62"/>
                  <a:gd name="T22" fmla="*/ 43 w 61"/>
                  <a:gd name="T23" fmla="*/ 13 h 62"/>
                  <a:gd name="T24" fmla="*/ 40 w 61"/>
                  <a:gd name="T25" fmla="*/ 17 h 62"/>
                  <a:gd name="T26" fmla="*/ 36 w 61"/>
                  <a:gd name="T27" fmla="*/ 20 h 62"/>
                  <a:gd name="T28" fmla="*/ 35 w 61"/>
                  <a:gd name="T29" fmla="*/ 19 h 62"/>
                  <a:gd name="T30" fmla="*/ 31 w 61"/>
                  <a:gd name="T31" fmla="*/ 17 h 62"/>
                  <a:gd name="T32" fmla="*/ 30 w 61"/>
                  <a:gd name="T33" fmla="*/ 17 h 62"/>
                  <a:gd name="T34" fmla="*/ 32 w 61"/>
                  <a:gd name="T35" fmla="*/ 12 h 62"/>
                  <a:gd name="T36" fmla="*/ 32 w 61"/>
                  <a:gd name="T37" fmla="*/ 11 h 62"/>
                  <a:gd name="T38" fmla="*/ 31 w 61"/>
                  <a:gd name="T39" fmla="*/ 7 h 62"/>
                  <a:gd name="T40" fmla="*/ 28 w 61"/>
                  <a:gd name="T41" fmla="*/ 2 h 62"/>
                  <a:gd name="T42" fmla="*/ 26 w 61"/>
                  <a:gd name="T43" fmla="*/ 0 h 62"/>
                  <a:gd name="T44" fmla="*/ 24 w 61"/>
                  <a:gd name="T45" fmla="*/ 0 h 62"/>
                  <a:gd name="T46" fmla="*/ 18 w 61"/>
                  <a:gd name="T47" fmla="*/ 1 h 62"/>
                  <a:gd name="T48" fmla="*/ 18 w 61"/>
                  <a:gd name="T49" fmla="*/ 1 h 62"/>
                  <a:gd name="T50" fmla="*/ 18 w 61"/>
                  <a:gd name="T51" fmla="*/ 3 h 62"/>
                  <a:gd name="T52" fmla="*/ 16 w 61"/>
                  <a:gd name="T53" fmla="*/ 5 h 62"/>
                  <a:gd name="T54" fmla="*/ 13 w 61"/>
                  <a:gd name="T55" fmla="*/ 9 h 62"/>
                  <a:gd name="T56" fmla="*/ 11 w 61"/>
                  <a:gd name="T57" fmla="*/ 13 h 62"/>
                  <a:gd name="T58" fmla="*/ 7 w 61"/>
                  <a:gd name="T59" fmla="*/ 17 h 62"/>
                  <a:gd name="T60" fmla="*/ 4 w 61"/>
                  <a:gd name="T61" fmla="*/ 19 h 62"/>
                  <a:gd name="T62" fmla="*/ 0 w 61"/>
                  <a:gd name="T63" fmla="*/ 24 h 62"/>
                  <a:gd name="T64" fmla="*/ 2 w 61"/>
                  <a:gd name="T65" fmla="*/ 25 h 62"/>
                  <a:gd name="T66" fmla="*/ 11 w 61"/>
                  <a:gd name="T67" fmla="*/ 33 h 62"/>
                  <a:gd name="T68" fmla="*/ 15 w 61"/>
                  <a:gd name="T69" fmla="*/ 35 h 62"/>
                  <a:gd name="T70" fmla="*/ 23 w 61"/>
                  <a:gd name="T71" fmla="*/ 41 h 62"/>
                  <a:gd name="T72" fmla="*/ 39 w 61"/>
                  <a:gd name="T73" fmla="*/ 55 h 62"/>
                  <a:gd name="T74" fmla="*/ 56 w 61"/>
                  <a:gd name="T75" fmla="*/ 62 h 62"/>
                  <a:gd name="T76" fmla="*/ 59 w 61"/>
                  <a:gd name="T77" fmla="*/ 62 h 62"/>
                  <a:gd name="T78" fmla="*/ 58 w 61"/>
                  <a:gd name="T79" fmla="*/ 57 h 62"/>
                  <a:gd name="T80" fmla="*/ 58 w 61"/>
                  <a:gd name="T81" fmla="*/ 55 h 62"/>
                  <a:gd name="T82" fmla="*/ 60 w 61"/>
                  <a:gd name="T83" fmla="*/ 5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1" h="62">
                    <a:moveTo>
                      <a:pt x="60" y="50"/>
                    </a:moveTo>
                    <a:cubicBezTo>
                      <a:pt x="61" y="49"/>
                      <a:pt x="61" y="47"/>
                      <a:pt x="61" y="45"/>
                    </a:cubicBezTo>
                    <a:cubicBezTo>
                      <a:pt x="61" y="42"/>
                      <a:pt x="59" y="39"/>
                      <a:pt x="58" y="38"/>
                    </a:cubicBezTo>
                    <a:cubicBezTo>
                      <a:pt x="57" y="37"/>
                      <a:pt x="56" y="36"/>
                      <a:pt x="54" y="35"/>
                    </a:cubicBezTo>
                    <a:cubicBezTo>
                      <a:pt x="53" y="33"/>
                      <a:pt x="50" y="33"/>
                      <a:pt x="50" y="33"/>
                    </a:cubicBezTo>
                    <a:cubicBezTo>
                      <a:pt x="49" y="33"/>
                      <a:pt x="48" y="33"/>
                      <a:pt x="48" y="33"/>
                    </a:cubicBezTo>
                    <a:cubicBezTo>
                      <a:pt x="48" y="33"/>
                      <a:pt x="45" y="32"/>
                      <a:pt x="43" y="31"/>
                    </a:cubicBezTo>
                    <a:cubicBezTo>
                      <a:pt x="42" y="30"/>
                      <a:pt x="43" y="30"/>
                      <a:pt x="43" y="30"/>
                    </a:cubicBezTo>
                    <a:cubicBezTo>
                      <a:pt x="46" y="28"/>
                      <a:pt x="46" y="27"/>
                      <a:pt x="47" y="24"/>
                    </a:cubicBezTo>
                    <a:cubicBezTo>
                      <a:pt x="48" y="22"/>
                      <a:pt x="46" y="17"/>
                      <a:pt x="45" y="16"/>
                    </a:cubicBezTo>
                    <a:cubicBezTo>
                      <a:pt x="45" y="15"/>
                      <a:pt x="44" y="14"/>
                      <a:pt x="44" y="13"/>
                    </a:cubicBezTo>
                    <a:cubicBezTo>
                      <a:pt x="43" y="13"/>
                      <a:pt x="43" y="13"/>
                      <a:pt x="43" y="13"/>
                    </a:cubicBezTo>
                    <a:cubicBezTo>
                      <a:pt x="41" y="15"/>
                      <a:pt x="41" y="14"/>
                      <a:pt x="40" y="17"/>
                    </a:cubicBezTo>
                    <a:cubicBezTo>
                      <a:pt x="39" y="19"/>
                      <a:pt x="37" y="19"/>
                      <a:pt x="36" y="20"/>
                    </a:cubicBezTo>
                    <a:cubicBezTo>
                      <a:pt x="35" y="20"/>
                      <a:pt x="35" y="19"/>
                      <a:pt x="35" y="19"/>
                    </a:cubicBezTo>
                    <a:cubicBezTo>
                      <a:pt x="34" y="16"/>
                      <a:pt x="32" y="17"/>
                      <a:pt x="31" y="17"/>
                    </a:cubicBezTo>
                    <a:cubicBezTo>
                      <a:pt x="29" y="18"/>
                      <a:pt x="30" y="17"/>
                      <a:pt x="30" y="17"/>
                    </a:cubicBezTo>
                    <a:cubicBezTo>
                      <a:pt x="30" y="17"/>
                      <a:pt x="31" y="13"/>
                      <a:pt x="32" y="12"/>
                    </a:cubicBezTo>
                    <a:cubicBezTo>
                      <a:pt x="32" y="12"/>
                      <a:pt x="32" y="11"/>
                      <a:pt x="32" y="11"/>
                    </a:cubicBezTo>
                    <a:cubicBezTo>
                      <a:pt x="32" y="11"/>
                      <a:pt x="31" y="9"/>
                      <a:pt x="31" y="7"/>
                    </a:cubicBezTo>
                    <a:cubicBezTo>
                      <a:pt x="30" y="4"/>
                      <a:pt x="29" y="2"/>
                      <a:pt x="28" y="2"/>
                    </a:cubicBezTo>
                    <a:cubicBezTo>
                      <a:pt x="28" y="1"/>
                      <a:pt x="27" y="1"/>
                      <a:pt x="26" y="0"/>
                    </a:cubicBezTo>
                    <a:cubicBezTo>
                      <a:pt x="26" y="0"/>
                      <a:pt x="25" y="0"/>
                      <a:pt x="24" y="0"/>
                    </a:cubicBezTo>
                    <a:cubicBezTo>
                      <a:pt x="24" y="0"/>
                      <a:pt x="20" y="1"/>
                      <a:pt x="18" y="1"/>
                    </a:cubicBezTo>
                    <a:cubicBezTo>
                      <a:pt x="18" y="1"/>
                      <a:pt x="18" y="1"/>
                      <a:pt x="18" y="1"/>
                    </a:cubicBezTo>
                    <a:cubicBezTo>
                      <a:pt x="18" y="2"/>
                      <a:pt x="18" y="3"/>
                      <a:pt x="18" y="3"/>
                    </a:cubicBezTo>
                    <a:cubicBezTo>
                      <a:pt x="18" y="4"/>
                      <a:pt x="18" y="5"/>
                      <a:pt x="16" y="5"/>
                    </a:cubicBezTo>
                    <a:cubicBezTo>
                      <a:pt x="14" y="6"/>
                      <a:pt x="14" y="8"/>
                      <a:pt x="13" y="9"/>
                    </a:cubicBezTo>
                    <a:cubicBezTo>
                      <a:pt x="13" y="11"/>
                      <a:pt x="12" y="13"/>
                      <a:pt x="11" y="13"/>
                    </a:cubicBezTo>
                    <a:cubicBezTo>
                      <a:pt x="11" y="14"/>
                      <a:pt x="8" y="16"/>
                      <a:pt x="7" y="17"/>
                    </a:cubicBezTo>
                    <a:cubicBezTo>
                      <a:pt x="6" y="17"/>
                      <a:pt x="5" y="18"/>
                      <a:pt x="4" y="19"/>
                    </a:cubicBezTo>
                    <a:cubicBezTo>
                      <a:pt x="4" y="19"/>
                      <a:pt x="1" y="22"/>
                      <a:pt x="0" y="24"/>
                    </a:cubicBezTo>
                    <a:cubicBezTo>
                      <a:pt x="1" y="25"/>
                      <a:pt x="1" y="25"/>
                      <a:pt x="2" y="25"/>
                    </a:cubicBezTo>
                    <a:cubicBezTo>
                      <a:pt x="4" y="27"/>
                      <a:pt x="10" y="32"/>
                      <a:pt x="11" y="33"/>
                    </a:cubicBezTo>
                    <a:cubicBezTo>
                      <a:pt x="13" y="35"/>
                      <a:pt x="14" y="35"/>
                      <a:pt x="15" y="35"/>
                    </a:cubicBezTo>
                    <a:cubicBezTo>
                      <a:pt x="15" y="35"/>
                      <a:pt x="20" y="37"/>
                      <a:pt x="23" y="41"/>
                    </a:cubicBezTo>
                    <a:cubicBezTo>
                      <a:pt x="26" y="44"/>
                      <a:pt x="36" y="54"/>
                      <a:pt x="39" y="55"/>
                    </a:cubicBezTo>
                    <a:cubicBezTo>
                      <a:pt x="42" y="56"/>
                      <a:pt x="54" y="61"/>
                      <a:pt x="56" y="62"/>
                    </a:cubicBezTo>
                    <a:cubicBezTo>
                      <a:pt x="56" y="62"/>
                      <a:pt x="57" y="62"/>
                      <a:pt x="59" y="62"/>
                    </a:cubicBezTo>
                    <a:cubicBezTo>
                      <a:pt x="59" y="60"/>
                      <a:pt x="58" y="57"/>
                      <a:pt x="58" y="57"/>
                    </a:cubicBezTo>
                    <a:cubicBezTo>
                      <a:pt x="58" y="56"/>
                      <a:pt x="58" y="55"/>
                      <a:pt x="58" y="55"/>
                    </a:cubicBezTo>
                    <a:cubicBezTo>
                      <a:pt x="58" y="55"/>
                      <a:pt x="60" y="51"/>
                      <a:pt x="60" y="5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71" name="Freeform 983">
                <a:extLst>
                  <a:ext uri="{FF2B5EF4-FFF2-40B4-BE49-F238E27FC236}">
                    <a16:creationId xmlns:a16="http://schemas.microsoft.com/office/drawing/2014/main" id="{A6D42326-5B94-4B54-9F27-FECDEE455122}"/>
                  </a:ext>
                </a:extLst>
              </p:cNvPr>
              <p:cNvSpPr>
                <a:spLocks/>
              </p:cNvSpPr>
              <p:nvPr/>
            </p:nvSpPr>
            <p:spPr bwMode="auto">
              <a:xfrm>
                <a:off x="3150" y="2104"/>
                <a:ext cx="175" cy="148"/>
              </a:xfrm>
              <a:custGeom>
                <a:avLst/>
                <a:gdLst>
                  <a:gd name="T0" fmla="*/ 59 w 126"/>
                  <a:gd name="T1" fmla="*/ 0 h 108"/>
                  <a:gd name="T2" fmla="*/ 53 w 126"/>
                  <a:gd name="T3" fmla="*/ 14 h 108"/>
                  <a:gd name="T4" fmla="*/ 44 w 126"/>
                  <a:gd name="T5" fmla="*/ 21 h 108"/>
                  <a:gd name="T6" fmla="*/ 40 w 126"/>
                  <a:gd name="T7" fmla="*/ 25 h 108"/>
                  <a:gd name="T8" fmla="*/ 36 w 126"/>
                  <a:gd name="T9" fmla="*/ 34 h 108"/>
                  <a:gd name="T10" fmla="*/ 34 w 126"/>
                  <a:gd name="T11" fmla="*/ 43 h 108"/>
                  <a:gd name="T12" fmla="*/ 31 w 126"/>
                  <a:gd name="T13" fmla="*/ 49 h 108"/>
                  <a:gd name="T14" fmla="*/ 27 w 126"/>
                  <a:gd name="T15" fmla="*/ 53 h 108"/>
                  <a:gd name="T16" fmla="*/ 19 w 126"/>
                  <a:gd name="T17" fmla="*/ 62 h 108"/>
                  <a:gd name="T18" fmla="*/ 11 w 126"/>
                  <a:gd name="T19" fmla="*/ 82 h 108"/>
                  <a:gd name="T20" fmla="*/ 9 w 126"/>
                  <a:gd name="T21" fmla="*/ 85 h 108"/>
                  <a:gd name="T22" fmla="*/ 3 w 126"/>
                  <a:gd name="T23" fmla="*/ 94 h 108"/>
                  <a:gd name="T24" fmla="*/ 2 w 126"/>
                  <a:gd name="T25" fmla="*/ 101 h 108"/>
                  <a:gd name="T26" fmla="*/ 1 w 126"/>
                  <a:gd name="T27" fmla="*/ 108 h 108"/>
                  <a:gd name="T28" fmla="*/ 1 w 126"/>
                  <a:gd name="T29" fmla="*/ 108 h 108"/>
                  <a:gd name="T30" fmla="*/ 3 w 126"/>
                  <a:gd name="T31" fmla="*/ 101 h 108"/>
                  <a:gd name="T32" fmla="*/ 6 w 126"/>
                  <a:gd name="T33" fmla="*/ 99 h 108"/>
                  <a:gd name="T34" fmla="*/ 10 w 126"/>
                  <a:gd name="T35" fmla="*/ 99 h 108"/>
                  <a:gd name="T36" fmla="*/ 62 w 126"/>
                  <a:gd name="T37" fmla="*/ 99 h 108"/>
                  <a:gd name="T38" fmla="*/ 61 w 126"/>
                  <a:gd name="T39" fmla="*/ 96 h 108"/>
                  <a:gd name="T40" fmla="*/ 61 w 126"/>
                  <a:gd name="T41" fmla="*/ 88 h 108"/>
                  <a:gd name="T42" fmla="*/ 60 w 126"/>
                  <a:gd name="T43" fmla="*/ 79 h 108"/>
                  <a:gd name="T44" fmla="*/ 65 w 126"/>
                  <a:gd name="T45" fmla="*/ 71 h 108"/>
                  <a:gd name="T46" fmla="*/ 69 w 126"/>
                  <a:gd name="T47" fmla="*/ 69 h 108"/>
                  <a:gd name="T48" fmla="*/ 73 w 126"/>
                  <a:gd name="T49" fmla="*/ 67 h 108"/>
                  <a:gd name="T50" fmla="*/ 77 w 126"/>
                  <a:gd name="T51" fmla="*/ 66 h 108"/>
                  <a:gd name="T52" fmla="*/ 77 w 126"/>
                  <a:gd name="T53" fmla="*/ 26 h 108"/>
                  <a:gd name="T54" fmla="*/ 126 w 126"/>
                  <a:gd name="T55" fmla="*/ 26 h 108"/>
                  <a:gd name="T56" fmla="*/ 126 w 126"/>
                  <a:gd name="T57" fmla="*/ 0 h 108"/>
                  <a:gd name="T58" fmla="*/ 59 w 126"/>
                  <a:gd name="T59" fmla="*/ 0 h 108"/>
                  <a:gd name="T60" fmla="*/ 59 w 126"/>
                  <a:gd name="T61"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6" h="108">
                    <a:moveTo>
                      <a:pt x="59" y="0"/>
                    </a:moveTo>
                    <a:cubicBezTo>
                      <a:pt x="59" y="1"/>
                      <a:pt x="56" y="12"/>
                      <a:pt x="53" y="14"/>
                    </a:cubicBezTo>
                    <a:cubicBezTo>
                      <a:pt x="50" y="17"/>
                      <a:pt x="46" y="20"/>
                      <a:pt x="44" y="21"/>
                    </a:cubicBezTo>
                    <a:cubicBezTo>
                      <a:pt x="41" y="22"/>
                      <a:pt x="39" y="23"/>
                      <a:pt x="40" y="25"/>
                    </a:cubicBezTo>
                    <a:cubicBezTo>
                      <a:pt x="40" y="26"/>
                      <a:pt x="37" y="32"/>
                      <a:pt x="36" y="34"/>
                    </a:cubicBezTo>
                    <a:cubicBezTo>
                      <a:pt x="35" y="36"/>
                      <a:pt x="34" y="41"/>
                      <a:pt x="34" y="43"/>
                    </a:cubicBezTo>
                    <a:cubicBezTo>
                      <a:pt x="34" y="45"/>
                      <a:pt x="33" y="48"/>
                      <a:pt x="31" y="49"/>
                    </a:cubicBezTo>
                    <a:cubicBezTo>
                      <a:pt x="30" y="50"/>
                      <a:pt x="28" y="51"/>
                      <a:pt x="27" y="53"/>
                    </a:cubicBezTo>
                    <a:cubicBezTo>
                      <a:pt x="26" y="54"/>
                      <a:pt x="21" y="59"/>
                      <a:pt x="19" y="62"/>
                    </a:cubicBezTo>
                    <a:cubicBezTo>
                      <a:pt x="18" y="65"/>
                      <a:pt x="12" y="79"/>
                      <a:pt x="11" y="82"/>
                    </a:cubicBezTo>
                    <a:cubicBezTo>
                      <a:pt x="11" y="82"/>
                      <a:pt x="11" y="83"/>
                      <a:pt x="9" y="85"/>
                    </a:cubicBezTo>
                    <a:cubicBezTo>
                      <a:pt x="7" y="86"/>
                      <a:pt x="3" y="90"/>
                      <a:pt x="3" y="94"/>
                    </a:cubicBezTo>
                    <a:cubicBezTo>
                      <a:pt x="3" y="98"/>
                      <a:pt x="2" y="99"/>
                      <a:pt x="2" y="101"/>
                    </a:cubicBezTo>
                    <a:cubicBezTo>
                      <a:pt x="1" y="103"/>
                      <a:pt x="0" y="108"/>
                      <a:pt x="1" y="108"/>
                    </a:cubicBezTo>
                    <a:cubicBezTo>
                      <a:pt x="1" y="108"/>
                      <a:pt x="1" y="108"/>
                      <a:pt x="1" y="108"/>
                    </a:cubicBezTo>
                    <a:cubicBezTo>
                      <a:pt x="2" y="106"/>
                      <a:pt x="2" y="103"/>
                      <a:pt x="3" y="101"/>
                    </a:cubicBezTo>
                    <a:cubicBezTo>
                      <a:pt x="4" y="99"/>
                      <a:pt x="6" y="99"/>
                      <a:pt x="6" y="99"/>
                    </a:cubicBezTo>
                    <a:cubicBezTo>
                      <a:pt x="7" y="99"/>
                      <a:pt x="10" y="99"/>
                      <a:pt x="10" y="99"/>
                    </a:cubicBezTo>
                    <a:cubicBezTo>
                      <a:pt x="10" y="99"/>
                      <a:pt x="62" y="99"/>
                      <a:pt x="62" y="99"/>
                    </a:cubicBezTo>
                    <a:cubicBezTo>
                      <a:pt x="62" y="99"/>
                      <a:pt x="62" y="97"/>
                      <a:pt x="61" y="96"/>
                    </a:cubicBezTo>
                    <a:cubicBezTo>
                      <a:pt x="61" y="95"/>
                      <a:pt x="61" y="90"/>
                      <a:pt x="61" y="88"/>
                    </a:cubicBezTo>
                    <a:cubicBezTo>
                      <a:pt x="61" y="86"/>
                      <a:pt x="61" y="83"/>
                      <a:pt x="60" y="79"/>
                    </a:cubicBezTo>
                    <a:cubicBezTo>
                      <a:pt x="59" y="75"/>
                      <a:pt x="63" y="72"/>
                      <a:pt x="65" y="71"/>
                    </a:cubicBezTo>
                    <a:cubicBezTo>
                      <a:pt x="66" y="70"/>
                      <a:pt x="68" y="69"/>
                      <a:pt x="69" y="69"/>
                    </a:cubicBezTo>
                    <a:cubicBezTo>
                      <a:pt x="70" y="68"/>
                      <a:pt x="73" y="68"/>
                      <a:pt x="73" y="67"/>
                    </a:cubicBezTo>
                    <a:cubicBezTo>
                      <a:pt x="74" y="67"/>
                      <a:pt x="77" y="66"/>
                      <a:pt x="77" y="66"/>
                    </a:cubicBezTo>
                    <a:cubicBezTo>
                      <a:pt x="77" y="66"/>
                      <a:pt x="76" y="26"/>
                      <a:pt x="77" y="26"/>
                    </a:cubicBezTo>
                    <a:cubicBezTo>
                      <a:pt x="77" y="26"/>
                      <a:pt x="126" y="26"/>
                      <a:pt x="126" y="26"/>
                    </a:cubicBezTo>
                    <a:cubicBezTo>
                      <a:pt x="126" y="0"/>
                      <a:pt x="126" y="0"/>
                      <a:pt x="126" y="0"/>
                    </a:cubicBezTo>
                    <a:cubicBezTo>
                      <a:pt x="59" y="0"/>
                      <a:pt x="59" y="0"/>
                      <a:pt x="59" y="0"/>
                    </a:cubicBezTo>
                    <a:cubicBezTo>
                      <a:pt x="59" y="0"/>
                      <a:pt x="59" y="0"/>
                      <a:pt x="59"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72" name="Freeform 984">
                <a:extLst>
                  <a:ext uri="{FF2B5EF4-FFF2-40B4-BE49-F238E27FC236}">
                    <a16:creationId xmlns:a16="http://schemas.microsoft.com/office/drawing/2014/main" id="{5DC695FC-0F63-4458-BC50-6904A1CF9E8A}"/>
                  </a:ext>
                </a:extLst>
              </p:cNvPr>
              <p:cNvSpPr>
                <a:spLocks/>
              </p:cNvSpPr>
              <p:nvPr/>
            </p:nvSpPr>
            <p:spPr bwMode="auto">
              <a:xfrm>
                <a:off x="4318" y="2837"/>
                <a:ext cx="7" cy="10"/>
              </a:xfrm>
              <a:custGeom>
                <a:avLst/>
                <a:gdLst>
                  <a:gd name="T0" fmla="*/ 3 w 5"/>
                  <a:gd name="T1" fmla="*/ 3 h 7"/>
                  <a:gd name="T2" fmla="*/ 2 w 5"/>
                  <a:gd name="T3" fmla="*/ 3 h 7"/>
                  <a:gd name="T4" fmla="*/ 1 w 5"/>
                  <a:gd name="T5" fmla="*/ 5 h 7"/>
                  <a:gd name="T6" fmla="*/ 3 w 5"/>
                  <a:gd name="T7" fmla="*/ 3 h 7"/>
                </a:gdLst>
                <a:ahLst/>
                <a:cxnLst>
                  <a:cxn ang="0">
                    <a:pos x="T0" y="T1"/>
                  </a:cxn>
                  <a:cxn ang="0">
                    <a:pos x="T2" y="T3"/>
                  </a:cxn>
                  <a:cxn ang="0">
                    <a:pos x="T4" y="T5"/>
                  </a:cxn>
                  <a:cxn ang="0">
                    <a:pos x="T6" y="T7"/>
                  </a:cxn>
                </a:cxnLst>
                <a:rect l="0" t="0" r="r" b="b"/>
                <a:pathLst>
                  <a:path w="5" h="7">
                    <a:moveTo>
                      <a:pt x="3" y="3"/>
                    </a:moveTo>
                    <a:cubicBezTo>
                      <a:pt x="5" y="0"/>
                      <a:pt x="3" y="1"/>
                      <a:pt x="2" y="3"/>
                    </a:cubicBezTo>
                    <a:cubicBezTo>
                      <a:pt x="1" y="4"/>
                      <a:pt x="1" y="5"/>
                      <a:pt x="1" y="5"/>
                    </a:cubicBezTo>
                    <a:cubicBezTo>
                      <a:pt x="1" y="5"/>
                      <a:pt x="0" y="7"/>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73" name="Freeform 985">
                <a:extLst>
                  <a:ext uri="{FF2B5EF4-FFF2-40B4-BE49-F238E27FC236}">
                    <a16:creationId xmlns:a16="http://schemas.microsoft.com/office/drawing/2014/main" id="{2C0EE0F6-1D94-49B8-9FC0-DDC802537368}"/>
                  </a:ext>
                </a:extLst>
              </p:cNvPr>
              <p:cNvSpPr>
                <a:spLocks/>
              </p:cNvSpPr>
              <p:nvPr/>
            </p:nvSpPr>
            <p:spPr bwMode="auto">
              <a:xfrm>
                <a:off x="4308" y="2800"/>
                <a:ext cx="7" cy="14"/>
              </a:xfrm>
              <a:custGeom>
                <a:avLst/>
                <a:gdLst>
                  <a:gd name="T0" fmla="*/ 4 w 5"/>
                  <a:gd name="T1" fmla="*/ 8 h 10"/>
                  <a:gd name="T2" fmla="*/ 5 w 5"/>
                  <a:gd name="T3" fmla="*/ 7 h 10"/>
                  <a:gd name="T4" fmla="*/ 3 w 5"/>
                  <a:gd name="T5" fmla="*/ 5 h 10"/>
                  <a:gd name="T6" fmla="*/ 2 w 5"/>
                  <a:gd name="T7" fmla="*/ 1 h 10"/>
                  <a:gd name="T8" fmla="*/ 1 w 5"/>
                  <a:gd name="T9" fmla="*/ 1 h 10"/>
                  <a:gd name="T10" fmla="*/ 0 w 5"/>
                  <a:gd name="T11" fmla="*/ 3 h 10"/>
                  <a:gd name="T12" fmla="*/ 4 w 5"/>
                  <a:gd name="T13" fmla="*/ 8 h 10"/>
                </a:gdLst>
                <a:ahLst/>
                <a:cxnLst>
                  <a:cxn ang="0">
                    <a:pos x="T0" y="T1"/>
                  </a:cxn>
                  <a:cxn ang="0">
                    <a:pos x="T2" y="T3"/>
                  </a:cxn>
                  <a:cxn ang="0">
                    <a:pos x="T4" y="T5"/>
                  </a:cxn>
                  <a:cxn ang="0">
                    <a:pos x="T6" y="T7"/>
                  </a:cxn>
                  <a:cxn ang="0">
                    <a:pos x="T8" y="T9"/>
                  </a:cxn>
                  <a:cxn ang="0">
                    <a:pos x="T10" y="T11"/>
                  </a:cxn>
                  <a:cxn ang="0">
                    <a:pos x="T12" y="T13"/>
                  </a:cxn>
                </a:cxnLst>
                <a:rect l="0" t="0" r="r" b="b"/>
                <a:pathLst>
                  <a:path w="5" h="10">
                    <a:moveTo>
                      <a:pt x="4" y="8"/>
                    </a:moveTo>
                    <a:cubicBezTo>
                      <a:pt x="5" y="10"/>
                      <a:pt x="5" y="8"/>
                      <a:pt x="5" y="7"/>
                    </a:cubicBezTo>
                    <a:cubicBezTo>
                      <a:pt x="5" y="6"/>
                      <a:pt x="4" y="5"/>
                      <a:pt x="3" y="5"/>
                    </a:cubicBezTo>
                    <a:cubicBezTo>
                      <a:pt x="2" y="5"/>
                      <a:pt x="2" y="3"/>
                      <a:pt x="2" y="1"/>
                    </a:cubicBezTo>
                    <a:cubicBezTo>
                      <a:pt x="1" y="0"/>
                      <a:pt x="1" y="0"/>
                      <a:pt x="1" y="1"/>
                    </a:cubicBezTo>
                    <a:cubicBezTo>
                      <a:pt x="0" y="2"/>
                      <a:pt x="0" y="3"/>
                      <a:pt x="0" y="3"/>
                    </a:cubicBezTo>
                    <a:cubicBezTo>
                      <a:pt x="0" y="6"/>
                      <a:pt x="2" y="7"/>
                      <a:pt x="4"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74" name="Freeform 986">
                <a:extLst>
                  <a:ext uri="{FF2B5EF4-FFF2-40B4-BE49-F238E27FC236}">
                    <a16:creationId xmlns:a16="http://schemas.microsoft.com/office/drawing/2014/main" id="{4C914E74-4445-44E3-BB6D-7B7FC1E2F144}"/>
                  </a:ext>
                </a:extLst>
              </p:cNvPr>
              <p:cNvSpPr>
                <a:spLocks/>
              </p:cNvSpPr>
              <p:nvPr/>
            </p:nvSpPr>
            <p:spPr bwMode="auto">
              <a:xfrm>
                <a:off x="4318" y="2782"/>
                <a:ext cx="4" cy="11"/>
              </a:xfrm>
              <a:custGeom>
                <a:avLst/>
                <a:gdLst>
                  <a:gd name="T0" fmla="*/ 0 w 3"/>
                  <a:gd name="T1" fmla="*/ 7 h 8"/>
                  <a:gd name="T2" fmla="*/ 1 w 3"/>
                  <a:gd name="T3" fmla="*/ 6 h 8"/>
                  <a:gd name="T4" fmla="*/ 3 w 3"/>
                  <a:gd name="T5" fmla="*/ 3 h 8"/>
                  <a:gd name="T6" fmla="*/ 2 w 3"/>
                  <a:gd name="T7" fmla="*/ 0 h 8"/>
                  <a:gd name="T8" fmla="*/ 1 w 3"/>
                  <a:gd name="T9" fmla="*/ 2 h 8"/>
                  <a:gd name="T10" fmla="*/ 0 w 3"/>
                  <a:gd name="T11" fmla="*/ 7 h 8"/>
                </a:gdLst>
                <a:ahLst/>
                <a:cxnLst>
                  <a:cxn ang="0">
                    <a:pos x="T0" y="T1"/>
                  </a:cxn>
                  <a:cxn ang="0">
                    <a:pos x="T2" y="T3"/>
                  </a:cxn>
                  <a:cxn ang="0">
                    <a:pos x="T4" y="T5"/>
                  </a:cxn>
                  <a:cxn ang="0">
                    <a:pos x="T6" y="T7"/>
                  </a:cxn>
                  <a:cxn ang="0">
                    <a:pos x="T8" y="T9"/>
                  </a:cxn>
                  <a:cxn ang="0">
                    <a:pos x="T10" y="T11"/>
                  </a:cxn>
                </a:cxnLst>
                <a:rect l="0" t="0" r="r" b="b"/>
                <a:pathLst>
                  <a:path w="3" h="8">
                    <a:moveTo>
                      <a:pt x="0" y="7"/>
                    </a:moveTo>
                    <a:cubicBezTo>
                      <a:pt x="0" y="7"/>
                      <a:pt x="0" y="8"/>
                      <a:pt x="1" y="6"/>
                    </a:cubicBezTo>
                    <a:cubicBezTo>
                      <a:pt x="2" y="4"/>
                      <a:pt x="3" y="5"/>
                      <a:pt x="3" y="3"/>
                    </a:cubicBezTo>
                    <a:cubicBezTo>
                      <a:pt x="3" y="2"/>
                      <a:pt x="3" y="0"/>
                      <a:pt x="2" y="0"/>
                    </a:cubicBezTo>
                    <a:cubicBezTo>
                      <a:pt x="1" y="0"/>
                      <a:pt x="0" y="0"/>
                      <a:pt x="1" y="2"/>
                    </a:cubicBezTo>
                    <a:cubicBezTo>
                      <a:pt x="1" y="3"/>
                      <a:pt x="0" y="5"/>
                      <a:pt x="0"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75" name="Freeform 987">
                <a:extLst>
                  <a:ext uri="{FF2B5EF4-FFF2-40B4-BE49-F238E27FC236}">
                    <a16:creationId xmlns:a16="http://schemas.microsoft.com/office/drawing/2014/main" id="{2DBC623D-8EB4-430F-8B61-57FE24338033}"/>
                  </a:ext>
                </a:extLst>
              </p:cNvPr>
              <p:cNvSpPr>
                <a:spLocks/>
              </p:cNvSpPr>
              <p:nvPr/>
            </p:nvSpPr>
            <p:spPr bwMode="auto">
              <a:xfrm>
                <a:off x="4111" y="2703"/>
                <a:ext cx="224" cy="221"/>
              </a:xfrm>
              <a:custGeom>
                <a:avLst/>
                <a:gdLst>
                  <a:gd name="T0" fmla="*/ 120 w 162"/>
                  <a:gd name="T1" fmla="*/ 33 h 161"/>
                  <a:gd name="T2" fmla="*/ 114 w 162"/>
                  <a:gd name="T3" fmla="*/ 27 h 161"/>
                  <a:gd name="T4" fmla="*/ 67 w 162"/>
                  <a:gd name="T5" fmla="*/ 1 h 161"/>
                  <a:gd name="T6" fmla="*/ 65 w 162"/>
                  <a:gd name="T7" fmla="*/ 3 h 161"/>
                  <a:gd name="T8" fmla="*/ 64 w 162"/>
                  <a:gd name="T9" fmla="*/ 5 h 161"/>
                  <a:gd name="T10" fmla="*/ 61 w 162"/>
                  <a:gd name="T11" fmla="*/ 8 h 161"/>
                  <a:gd name="T12" fmla="*/ 56 w 162"/>
                  <a:gd name="T13" fmla="*/ 12 h 161"/>
                  <a:gd name="T14" fmla="*/ 57 w 162"/>
                  <a:gd name="T15" fmla="*/ 14 h 161"/>
                  <a:gd name="T16" fmla="*/ 56 w 162"/>
                  <a:gd name="T17" fmla="*/ 17 h 161"/>
                  <a:gd name="T18" fmla="*/ 57 w 162"/>
                  <a:gd name="T19" fmla="*/ 23 h 161"/>
                  <a:gd name="T20" fmla="*/ 50 w 162"/>
                  <a:gd name="T21" fmla="*/ 21 h 161"/>
                  <a:gd name="T22" fmla="*/ 48 w 162"/>
                  <a:gd name="T23" fmla="*/ 28 h 161"/>
                  <a:gd name="T24" fmla="*/ 48 w 162"/>
                  <a:gd name="T25" fmla="*/ 24 h 161"/>
                  <a:gd name="T26" fmla="*/ 46 w 162"/>
                  <a:gd name="T27" fmla="*/ 22 h 161"/>
                  <a:gd name="T28" fmla="*/ 44 w 162"/>
                  <a:gd name="T29" fmla="*/ 22 h 161"/>
                  <a:gd name="T30" fmla="*/ 40 w 162"/>
                  <a:gd name="T31" fmla="*/ 19 h 161"/>
                  <a:gd name="T32" fmla="*/ 37 w 162"/>
                  <a:gd name="T33" fmla="*/ 22 h 161"/>
                  <a:gd name="T34" fmla="*/ 36 w 162"/>
                  <a:gd name="T35" fmla="*/ 25 h 161"/>
                  <a:gd name="T36" fmla="*/ 34 w 162"/>
                  <a:gd name="T37" fmla="*/ 25 h 161"/>
                  <a:gd name="T38" fmla="*/ 31 w 162"/>
                  <a:gd name="T39" fmla="*/ 13 h 161"/>
                  <a:gd name="T40" fmla="*/ 33 w 162"/>
                  <a:gd name="T41" fmla="*/ 0 h 161"/>
                  <a:gd name="T42" fmla="*/ 23 w 162"/>
                  <a:gd name="T43" fmla="*/ 0 h 161"/>
                  <a:gd name="T44" fmla="*/ 18 w 162"/>
                  <a:gd name="T45" fmla="*/ 9 h 161"/>
                  <a:gd name="T46" fmla="*/ 19 w 162"/>
                  <a:gd name="T47" fmla="*/ 15 h 161"/>
                  <a:gd name="T48" fmla="*/ 15 w 162"/>
                  <a:gd name="T49" fmla="*/ 21 h 161"/>
                  <a:gd name="T50" fmla="*/ 13 w 162"/>
                  <a:gd name="T51" fmla="*/ 29 h 161"/>
                  <a:gd name="T52" fmla="*/ 17 w 162"/>
                  <a:gd name="T53" fmla="*/ 34 h 161"/>
                  <a:gd name="T54" fmla="*/ 9 w 162"/>
                  <a:gd name="T55" fmla="*/ 45 h 161"/>
                  <a:gd name="T56" fmla="*/ 2 w 162"/>
                  <a:gd name="T57" fmla="*/ 51 h 161"/>
                  <a:gd name="T58" fmla="*/ 1 w 162"/>
                  <a:gd name="T59" fmla="*/ 52 h 161"/>
                  <a:gd name="T60" fmla="*/ 3 w 162"/>
                  <a:gd name="T61" fmla="*/ 64 h 161"/>
                  <a:gd name="T62" fmla="*/ 4 w 162"/>
                  <a:gd name="T63" fmla="*/ 75 h 161"/>
                  <a:gd name="T64" fmla="*/ 8 w 162"/>
                  <a:gd name="T65" fmla="*/ 81 h 161"/>
                  <a:gd name="T66" fmla="*/ 24 w 162"/>
                  <a:gd name="T67" fmla="*/ 113 h 161"/>
                  <a:gd name="T68" fmla="*/ 37 w 162"/>
                  <a:gd name="T69" fmla="*/ 120 h 161"/>
                  <a:gd name="T70" fmla="*/ 52 w 162"/>
                  <a:gd name="T71" fmla="*/ 125 h 161"/>
                  <a:gd name="T72" fmla="*/ 65 w 162"/>
                  <a:gd name="T73" fmla="*/ 128 h 161"/>
                  <a:gd name="T74" fmla="*/ 73 w 162"/>
                  <a:gd name="T75" fmla="*/ 133 h 161"/>
                  <a:gd name="T76" fmla="*/ 77 w 162"/>
                  <a:gd name="T77" fmla="*/ 151 h 161"/>
                  <a:gd name="T78" fmla="*/ 83 w 162"/>
                  <a:gd name="T79" fmla="*/ 158 h 161"/>
                  <a:gd name="T80" fmla="*/ 93 w 162"/>
                  <a:gd name="T81" fmla="*/ 155 h 161"/>
                  <a:gd name="T82" fmla="*/ 105 w 162"/>
                  <a:gd name="T83" fmla="*/ 160 h 161"/>
                  <a:gd name="T84" fmla="*/ 116 w 162"/>
                  <a:gd name="T85" fmla="*/ 160 h 161"/>
                  <a:gd name="T86" fmla="*/ 119 w 162"/>
                  <a:gd name="T87" fmla="*/ 159 h 161"/>
                  <a:gd name="T88" fmla="*/ 123 w 162"/>
                  <a:gd name="T89" fmla="*/ 154 h 161"/>
                  <a:gd name="T90" fmla="*/ 131 w 162"/>
                  <a:gd name="T91" fmla="*/ 155 h 161"/>
                  <a:gd name="T92" fmla="*/ 140 w 162"/>
                  <a:gd name="T93" fmla="*/ 151 h 161"/>
                  <a:gd name="T94" fmla="*/ 162 w 162"/>
                  <a:gd name="T95" fmla="*/ 141 h 161"/>
                  <a:gd name="T96" fmla="*/ 158 w 162"/>
                  <a:gd name="T97" fmla="*/ 137 h 161"/>
                  <a:gd name="T98" fmla="*/ 154 w 162"/>
                  <a:gd name="T99" fmla="*/ 135 h 161"/>
                  <a:gd name="T100" fmla="*/ 150 w 162"/>
                  <a:gd name="T101" fmla="*/ 133 h 161"/>
                  <a:gd name="T102" fmla="*/ 149 w 162"/>
                  <a:gd name="T103" fmla="*/ 124 h 161"/>
                  <a:gd name="T104" fmla="*/ 145 w 162"/>
                  <a:gd name="T105" fmla="*/ 107 h 161"/>
                  <a:gd name="T106" fmla="*/ 146 w 162"/>
                  <a:gd name="T107" fmla="*/ 92 h 161"/>
                  <a:gd name="T108" fmla="*/ 138 w 162"/>
                  <a:gd name="T109" fmla="*/ 70 h 161"/>
                  <a:gd name="T110" fmla="*/ 121 w 162"/>
                  <a:gd name="T111" fmla="*/ 39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2" h="161">
                    <a:moveTo>
                      <a:pt x="120" y="34"/>
                    </a:moveTo>
                    <a:cubicBezTo>
                      <a:pt x="120" y="33"/>
                      <a:pt x="120" y="33"/>
                      <a:pt x="120" y="33"/>
                    </a:cubicBezTo>
                    <a:cubicBezTo>
                      <a:pt x="120" y="33"/>
                      <a:pt x="120" y="32"/>
                      <a:pt x="120" y="32"/>
                    </a:cubicBezTo>
                    <a:cubicBezTo>
                      <a:pt x="119" y="31"/>
                      <a:pt x="114" y="27"/>
                      <a:pt x="114" y="27"/>
                    </a:cubicBezTo>
                    <a:cubicBezTo>
                      <a:pt x="114" y="27"/>
                      <a:pt x="113" y="26"/>
                      <a:pt x="112" y="26"/>
                    </a:cubicBezTo>
                    <a:cubicBezTo>
                      <a:pt x="111" y="25"/>
                      <a:pt x="67" y="1"/>
                      <a:pt x="67" y="1"/>
                    </a:cubicBezTo>
                    <a:cubicBezTo>
                      <a:pt x="67" y="1"/>
                      <a:pt x="67" y="1"/>
                      <a:pt x="66" y="0"/>
                    </a:cubicBezTo>
                    <a:cubicBezTo>
                      <a:pt x="66" y="1"/>
                      <a:pt x="65" y="2"/>
                      <a:pt x="65" y="3"/>
                    </a:cubicBezTo>
                    <a:cubicBezTo>
                      <a:pt x="66" y="4"/>
                      <a:pt x="66" y="5"/>
                      <a:pt x="65" y="5"/>
                    </a:cubicBezTo>
                    <a:cubicBezTo>
                      <a:pt x="64" y="5"/>
                      <a:pt x="63" y="5"/>
                      <a:pt x="64" y="5"/>
                    </a:cubicBezTo>
                    <a:cubicBezTo>
                      <a:pt x="64" y="6"/>
                      <a:pt x="65" y="7"/>
                      <a:pt x="64" y="7"/>
                    </a:cubicBezTo>
                    <a:cubicBezTo>
                      <a:pt x="62" y="6"/>
                      <a:pt x="61" y="6"/>
                      <a:pt x="61" y="8"/>
                    </a:cubicBezTo>
                    <a:cubicBezTo>
                      <a:pt x="61" y="10"/>
                      <a:pt x="61" y="11"/>
                      <a:pt x="60" y="11"/>
                    </a:cubicBezTo>
                    <a:cubicBezTo>
                      <a:pt x="58" y="11"/>
                      <a:pt x="56" y="12"/>
                      <a:pt x="56" y="12"/>
                    </a:cubicBezTo>
                    <a:cubicBezTo>
                      <a:pt x="55" y="13"/>
                      <a:pt x="55" y="14"/>
                      <a:pt x="56" y="13"/>
                    </a:cubicBezTo>
                    <a:cubicBezTo>
                      <a:pt x="57" y="13"/>
                      <a:pt x="57" y="13"/>
                      <a:pt x="57" y="14"/>
                    </a:cubicBezTo>
                    <a:cubicBezTo>
                      <a:pt x="56" y="15"/>
                      <a:pt x="56" y="16"/>
                      <a:pt x="55" y="16"/>
                    </a:cubicBezTo>
                    <a:cubicBezTo>
                      <a:pt x="55" y="16"/>
                      <a:pt x="53" y="18"/>
                      <a:pt x="56" y="17"/>
                    </a:cubicBezTo>
                    <a:cubicBezTo>
                      <a:pt x="58" y="17"/>
                      <a:pt x="63" y="16"/>
                      <a:pt x="63" y="17"/>
                    </a:cubicBezTo>
                    <a:cubicBezTo>
                      <a:pt x="62" y="18"/>
                      <a:pt x="58" y="23"/>
                      <a:pt x="57" y="23"/>
                    </a:cubicBezTo>
                    <a:cubicBezTo>
                      <a:pt x="55" y="22"/>
                      <a:pt x="54" y="22"/>
                      <a:pt x="53" y="22"/>
                    </a:cubicBezTo>
                    <a:cubicBezTo>
                      <a:pt x="52" y="21"/>
                      <a:pt x="50" y="21"/>
                      <a:pt x="50" y="21"/>
                    </a:cubicBezTo>
                    <a:cubicBezTo>
                      <a:pt x="49" y="22"/>
                      <a:pt x="49" y="23"/>
                      <a:pt x="49" y="24"/>
                    </a:cubicBezTo>
                    <a:cubicBezTo>
                      <a:pt x="50" y="26"/>
                      <a:pt x="49" y="27"/>
                      <a:pt x="48" y="28"/>
                    </a:cubicBezTo>
                    <a:cubicBezTo>
                      <a:pt x="48" y="29"/>
                      <a:pt x="47" y="28"/>
                      <a:pt x="48" y="27"/>
                    </a:cubicBezTo>
                    <a:cubicBezTo>
                      <a:pt x="49" y="25"/>
                      <a:pt x="48" y="24"/>
                      <a:pt x="48" y="24"/>
                    </a:cubicBezTo>
                    <a:cubicBezTo>
                      <a:pt x="48" y="23"/>
                      <a:pt x="49" y="23"/>
                      <a:pt x="48" y="23"/>
                    </a:cubicBezTo>
                    <a:cubicBezTo>
                      <a:pt x="47" y="22"/>
                      <a:pt x="46" y="24"/>
                      <a:pt x="46" y="22"/>
                    </a:cubicBezTo>
                    <a:cubicBezTo>
                      <a:pt x="46" y="20"/>
                      <a:pt x="46" y="20"/>
                      <a:pt x="45" y="21"/>
                    </a:cubicBezTo>
                    <a:cubicBezTo>
                      <a:pt x="45" y="22"/>
                      <a:pt x="44" y="23"/>
                      <a:pt x="44" y="22"/>
                    </a:cubicBezTo>
                    <a:cubicBezTo>
                      <a:pt x="44" y="21"/>
                      <a:pt x="42" y="22"/>
                      <a:pt x="42" y="21"/>
                    </a:cubicBezTo>
                    <a:cubicBezTo>
                      <a:pt x="42" y="20"/>
                      <a:pt x="41" y="19"/>
                      <a:pt x="40" y="19"/>
                    </a:cubicBezTo>
                    <a:cubicBezTo>
                      <a:pt x="39" y="19"/>
                      <a:pt x="37" y="20"/>
                      <a:pt x="37" y="21"/>
                    </a:cubicBezTo>
                    <a:cubicBezTo>
                      <a:pt x="38" y="22"/>
                      <a:pt x="38" y="23"/>
                      <a:pt x="37" y="22"/>
                    </a:cubicBezTo>
                    <a:cubicBezTo>
                      <a:pt x="36" y="22"/>
                      <a:pt x="36" y="23"/>
                      <a:pt x="36" y="23"/>
                    </a:cubicBezTo>
                    <a:cubicBezTo>
                      <a:pt x="36" y="23"/>
                      <a:pt x="36" y="24"/>
                      <a:pt x="36" y="25"/>
                    </a:cubicBezTo>
                    <a:cubicBezTo>
                      <a:pt x="36" y="26"/>
                      <a:pt x="35" y="26"/>
                      <a:pt x="35" y="25"/>
                    </a:cubicBezTo>
                    <a:cubicBezTo>
                      <a:pt x="34" y="24"/>
                      <a:pt x="35" y="25"/>
                      <a:pt x="34" y="25"/>
                    </a:cubicBezTo>
                    <a:cubicBezTo>
                      <a:pt x="34" y="26"/>
                      <a:pt x="34" y="25"/>
                      <a:pt x="33" y="24"/>
                    </a:cubicBezTo>
                    <a:cubicBezTo>
                      <a:pt x="33" y="22"/>
                      <a:pt x="30" y="16"/>
                      <a:pt x="31" y="13"/>
                    </a:cubicBezTo>
                    <a:cubicBezTo>
                      <a:pt x="32" y="11"/>
                      <a:pt x="33" y="6"/>
                      <a:pt x="33" y="4"/>
                    </a:cubicBezTo>
                    <a:cubicBezTo>
                      <a:pt x="33" y="2"/>
                      <a:pt x="34" y="1"/>
                      <a:pt x="33" y="0"/>
                    </a:cubicBezTo>
                    <a:cubicBezTo>
                      <a:pt x="26" y="0"/>
                      <a:pt x="26" y="0"/>
                      <a:pt x="26" y="0"/>
                    </a:cubicBezTo>
                    <a:cubicBezTo>
                      <a:pt x="26" y="0"/>
                      <a:pt x="23" y="0"/>
                      <a:pt x="23" y="0"/>
                    </a:cubicBezTo>
                    <a:cubicBezTo>
                      <a:pt x="22" y="0"/>
                      <a:pt x="13" y="1"/>
                      <a:pt x="13" y="1"/>
                    </a:cubicBezTo>
                    <a:cubicBezTo>
                      <a:pt x="18" y="9"/>
                      <a:pt x="18" y="9"/>
                      <a:pt x="18" y="9"/>
                    </a:cubicBezTo>
                    <a:cubicBezTo>
                      <a:pt x="18" y="14"/>
                      <a:pt x="18" y="14"/>
                      <a:pt x="18" y="14"/>
                    </a:cubicBezTo>
                    <a:cubicBezTo>
                      <a:pt x="18" y="14"/>
                      <a:pt x="19" y="15"/>
                      <a:pt x="19" y="15"/>
                    </a:cubicBezTo>
                    <a:cubicBezTo>
                      <a:pt x="19" y="16"/>
                      <a:pt x="20" y="17"/>
                      <a:pt x="19" y="17"/>
                    </a:cubicBezTo>
                    <a:cubicBezTo>
                      <a:pt x="19" y="18"/>
                      <a:pt x="18" y="20"/>
                      <a:pt x="15" y="21"/>
                    </a:cubicBezTo>
                    <a:cubicBezTo>
                      <a:pt x="15" y="21"/>
                      <a:pt x="15" y="21"/>
                      <a:pt x="14" y="21"/>
                    </a:cubicBezTo>
                    <a:cubicBezTo>
                      <a:pt x="14" y="22"/>
                      <a:pt x="13" y="29"/>
                      <a:pt x="13" y="29"/>
                    </a:cubicBezTo>
                    <a:cubicBezTo>
                      <a:pt x="18" y="29"/>
                      <a:pt x="18" y="29"/>
                      <a:pt x="18" y="29"/>
                    </a:cubicBezTo>
                    <a:cubicBezTo>
                      <a:pt x="18" y="29"/>
                      <a:pt x="19" y="33"/>
                      <a:pt x="17" y="34"/>
                    </a:cubicBezTo>
                    <a:cubicBezTo>
                      <a:pt x="16" y="35"/>
                      <a:pt x="15" y="35"/>
                      <a:pt x="14" y="36"/>
                    </a:cubicBezTo>
                    <a:cubicBezTo>
                      <a:pt x="13" y="38"/>
                      <a:pt x="9" y="45"/>
                      <a:pt x="9" y="45"/>
                    </a:cubicBezTo>
                    <a:cubicBezTo>
                      <a:pt x="9" y="45"/>
                      <a:pt x="9" y="45"/>
                      <a:pt x="8" y="46"/>
                    </a:cubicBezTo>
                    <a:cubicBezTo>
                      <a:pt x="8" y="46"/>
                      <a:pt x="2" y="51"/>
                      <a:pt x="2" y="51"/>
                    </a:cubicBezTo>
                    <a:cubicBezTo>
                      <a:pt x="2" y="51"/>
                      <a:pt x="1" y="51"/>
                      <a:pt x="1" y="51"/>
                    </a:cubicBezTo>
                    <a:cubicBezTo>
                      <a:pt x="1" y="52"/>
                      <a:pt x="1" y="52"/>
                      <a:pt x="1" y="52"/>
                    </a:cubicBezTo>
                    <a:cubicBezTo>
                      <a:pt x="0" y="56"/>
                      <a:pt x="1" y="57"/>
                      <a:pt x="2" y="59"/>
                    </a:cubicBezTo>
                    <a:cubicBezTo>
                      <a:pt x="4" y="61"/>
                      <a:pt x="3" y="62"/>
                      <a:pt x="3" y="64"/>
                    </a:cubicBezTo>
                    <a:cubicBezTo>
                      <a:pt x="2" y="66"/>
                      <a:pt x="3" y="67"/>
                      <a:pt x="5" y="70"/>
                    </a:cubicBezTo>
                    <a:cubicBezTo>
                      <a:pt x="6" y="73"/>
                      <a:pt x="4" y="73"/>
                      <a:pt x="4" y="75"/>
                    </a:cubicBezTo>
                    <a:cubicBezTo>
                      <a:pt x="3" y="76"/>
                      <a:pt x="3" y="77"/>
                      <a:pt x="5" y="80"/>
                    </a:cubicBezTo>
                    <a:cubicBezTo>
                      <a:pt x="7" y="82"/>
                      <a:pt x="8" y="81"/>
                      <a:pt x="8" y="81"/>
                    </a:cubicBezTo>
                    <a:cubicBezTo>
                      <a:pt x="12" y="82"/>
                      <a:pt x="20" y="104"/>
                      <a:pt x="22" y="107"/>
                    </a:cubicBezTo>
                    <a:cubicBezTo>
                      <a:pt x="23" y="110"/>
                      <a:pt x="24" y="112"/>
                      <a:pt x="24" y="113"/>
                    </a:cubicBezTo>
                    <a:cubicBezTo>
                      <a:pt x="25" y="113"/>
                      <a:pt x="29" y="114"/>
                      <a:pt x="31" y="115"/>
                    </a:cubicBezTo>
                    <a:cubicBezTo>
                      <a:pt x="34" y="117"/>
                      <a:pt x="37" y="120"/>
                      <a:pt x="37" y="120"/>
                    </a:cubicBezTo>
                    <a:cubicBezTo>
                      <a:pt x="37" y="120"/>
                      <a:pt x="41" y="121"/>
                      <a:pt x="42" y="122"/>
                    </a:cubicBezTo>
                    <a:cubicBezTo>
                      <a:pt x="44" y="122"/>
                      <a:pt x="49" y="124"/>
                      <a:pt x="52" y="125"/>
                    </a:cubicBezTo>
                    <a:cubicBezTo>
                      <a:pt x="54" y="126"/>
                      <a:pt x="61" y="128"/>
                      <a:pt x="65" y="130"/>
                    </a:cubicBezTo>
                    <a:cubicBezTo>
                      <a:pt x="65" y="129"/>
                      <a:pt x="65" y="129"/>
                      <a:pt x="65" y="128"/>
                    </a:cubicBezTo>
                    <a:cubicBezTo>
                      <a:pt x="65" y="127"/>
                      <a:pt x="66" y="126"/>
                      <a:pt x="67" y="127"/>
                    </a:cubicBezTo>
                    <a:cubicBezTo>
                      <a:pt x="68" y="128"/>
                      <a:pt x="72" y="131"/>
                      <a:pt x="73" y="133"/>
                    </a:cubicBezTo>
                    <a:cubicBezTo>
                      <a:pt x="74" y="135"/>
                      <a:pt x="75" y="139"/>
                      <a:pt x="75" y="142"/>
                    </a:cubicBezTo>
                    <a:cubicBezTo>
                      <a:pt x="75" y="144"/>
                      <a:pt x="76" y="149"/>
                      <a:pt x="77" y="151"/>
                    </a:cubicBezTo>
                    <a:cubicBezTo>
                      <a:pt x="78" y="153"/>
                      <a:pt x="80" y="156"/>
                      <a:pt x="80" y="158"/>
                    </a:cubicBezTo>
                    <a:cubicBezTo>
                      <a:pt x="81" y="158"/>
                      <a:pt x="83" y="158"/>
                      <a:pt x="83" y="158"/>
                    </a:cubicBezTo>
                    <a:cubicBezTo>
                      <a:pt x="85" y="159"/>
                      <a:pt x="90" y="159"/>
                      <a:pt x="90" y="158"/>
                    </a:cubicBezTo>
                    <a:cubicBezTo>
                      <a:pt x="91" y="157"/>
                      <a:pt x="93" y="155"/>
                      <a:pt x="93" y="155"/>
                    </a:cubicBezTo>
                    <a:cubicBezTo>
                      <a:pt x="94" y="156"/>
                      <a:pt x="94" y="156"/>
                      <a:pt x="95" y="156"/>
                    </a:cubicBezTo>
                    <a:cubicBezTo>
                      <a:pt x="96" y="157"/>
                      <a:pt x="102" y="161"/>
                      <a:pt x="105" y="160"/>
                    </a:cubicBezTo>
                    <a:cubicBezTo>
                      <a:pt x="109" y="158"/>
                      <a:pt x="110" y="157"/>
                      <a:pt x="111" y="158"/>
                    </a:cubicBezTo>
                    <a:cubicBezTo>
                      <a:pt x="113" y="158"/>
                      <a:pt x="115" y="159"/>
                      <a:pt x="116" y="160"/>
                    </a:cubicBezTo>
                    <a:cubicBezTo>
                      <a:pt x="117" y="160"/>
                      <a:pt x="117" y="160"/>
                      <a:pt x="117" y="160"/>
                    </a:cubicBezTo>
                    <a:cubicBezTo>
                      <a:pt x="117" y="159"/>
                      <a:pt x="118" y="159"/>
                      <a:pt x="119" y="159"/>
                    </a:cubicBezTo>
                    <a:cubicBezTo>
                      <a:pt x="119" y="159"/>
                      <a:pt x="122" y="158"/>
                      <a:pt x="122" y="157"/>
                    </a:cubicBezTo>
                    <a:cubicBezTo>
                      <a:pt x="122" y="156"/>
                      <a:pt x="122" y="155"/>
                      <a:pt x="123" y="154"/>
                    </a:cubicBezTo>
                    <a:cubicBezTo>
                      <a:pt x="125" y="154"/>
                      <a:pt x="126" y="153"/>
                      <a:pt x="127" y="153"/>
                    </a:cubicBezTo>
                    <a:cubicBezTo>
                      <a:pt x="127" y="153"/>
                      <a:pt x="131" y="155"/>
                      <a:pt x="131" y="155"/>
                    </a:cubicBezTo>
                    <a:cubicBezTo>
                      <a:pt x="131" y="155"/>
                      <a:pt x="132" y="155"/>
                      <a:pt x="133" y="155"/>
                    </a:cubicBezTo>
                    <a:cubicBezTo>
                      <a:pt x="134" y="154"/>
                      <a:pt x="138" y="151"/>
                      <a:pt x="140" y="151"/>
                    </a:cubicBezTo>
                    <a:cubicBezTo>
                      <a:pt x="143" y="151"/>
                      <a:pt x="144" y="152"/>
                      <a:pt x="147" y="150"/>
                    </a:cubicBezTo>
                    <a:cubicBezTo>
                      <a:pt x="149" y="149"/>
                      <a:pt x="157" y="144"/>
                      <a:pt x="162" y="141"/>
                    </a:cubicBezTo>
                    <a:cubicBezTo>
                      <a:pt x="161" y="140"/>
                      <a:pt x="161" y="140"/>
                      <a:pt x="161" y="140"/>
                    </a:cubicBezTo>
                    <a:cubicBezTo>
                      <a:pt x="161" y="139"/>
                      <a:pt x="159" y="137"/>
                      <a:pt x="158" y="137"/>
                    </a:cubicBezTo>
                    <a:cubicBezTo>
                      <a:pt x="157" y="137"/>
                      <a:pt x="156" y="137"/>
                      <a:pt x="156" y="137"/>
                    </a:cubicBezTo>
                    <a:cubicBezTo>
                      <a:pt x="155" y="137"/>
                      <a:pt x="154" y="136"/>
                      <a:pt x="154" y="135"/>
                    </a:cubicBezTo>
                    <a:cubicBezTo>
                      <a:pt x="153" y="134"/>
                      <a:pt x="152" y="134"/>
                      <a:pt x="152" y="134"/>
                    </a:cubicBezTo>
                    <a:cubicBezTo>
                      <a:pt x="151" y="134"/>
                      <a:pt x="150" y="134"/>
                      <a:pt x="150" y="133"/>
                    </a:cubicBezTo>
                    <a:cubicBezTo>
                      <a:pt x="150" y="132"/>
                      <a:pt x="149" y="129"/>
                      <a:pt x="149" y="128"/>
                    </a:cubicBezTo>
                    <a:cubicBezTo>
                      <a:pt x="148" y="127"/>
                      <a:pt x="148" y="125"/>
                      <a:pt x="149" y="124"/>
                    </a:cubicBezTo>
                    <a:cubicBezTo>
                      <a:pt x="149" y="123"/>
                      <a:pt x="150" y="121"/>
                      <a:pt x="148" y="119"/>
                    </a:cubicBezTo>
                    <a:cubicBezTo>
                      <a:pt x="145" y="117"/>
                      <a:pt x="144" y="110"/>
                      <a:pt x="145" y="107"/>
                    </a:cubicBezTo>
                    <a:cubicBezTo>
                      <a:pt x="146" y="105"/>
                      <a:pt x="147" y="103"/>
                      <a:pt x="145" y="98"/>
                    </a:cubicBezTo>
                    <a:cubicBezTo>
                      <a:pt x="145" y="98"/>
                      <a:pt x="144" y="96"/>
                      <a:pt x="146" y="92"/>
                    </a:cubicBezTo>
                    <a:cubicBezTo>
                      <a:pt x="148" y="89"/>
                      <a:pt x="149" y="88"/>
                      <a:pt x="144" y="85"/>
                    </a:cubicBezTo>
                    <a:cubicBezTo>
                      <a:pt x="140" y="81"/>
                      <a:pt x="135" y="80"/>
                      <a:pt x="138" y="70"/>
                    </a:cubicBezTo>
                    <a:cubicBezTo>
                      <a:pt x="141" y="62"/>
                      <a:pt x="142" y="57"/>
                      <a:pt x="144" y="55"/>
                    </a:cubicBezTo>
                    <a:cubicBezTo>
                      <a:pt x="121" y="39"/>
                      <a:pt x="121" y="39"/>
                      <a:pt x="121" y="39"/>
                    </a:cubicBezTo>
                    <a:cubicBezTo>
                      <a:pt x="121" y="39"/>
                      <a:pt x="119" y="38"/>
                      <a:pt x="120" y="3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76" name="Freeform 988">
                <a:extLst>
                  <a:ext uri="{FF2B5EF4-FFF2-40B4-BE49-F238E27FC236}">
                    <a16:creationId xmlns:a16="http://schemas.microsoft.com/office/drawing/2014/main" id="{FFA24A48-FBD0-46EB-BF84-AAD5FFC4E84A}"/>
                  </a:ext>
                </a:extLst>
              </p:cNvPr>
              <p:cNvSpPr>
                <a:spLocks/>
              </p:cNvSpPr>
              <p:nvPr/>
            </p:nvSpPr>
            <p:spPr bwMode="auto">
              <a:xfrm>
                <a:off x="3232" y="1918"/>
                <a:ext cx="250" cy="186"/>
              </a:xfrm>
              <a:custGeom>
                <a:avLst/>
                <a:gdLst>
                  <a:gd name="T0" fmla="*/ 178 w 181"/>
                  <a:gd name="T1" fmla="*/ 55 h 136"/>
                  <a:gd name="T2" fmla="*/ 170 w 181"/>
                  <a:gd name="T3" fmla="*/ 38 h 136"/>
                  <a:gd name="T4" fmla="*/ 171 w 181"/>
                  <a:gd name="T5" fmla="*/ 31 h 136"/>
                  <a:gd name="T6" fmla="*/ 170 w 181"/>
                  <a:gd name="T7" fmla="*/ 25 h 136"/>
                  <a:gd name="T8" fmla="*/ 169 w 181"/>
                  <a:gd name="T9" fmla="*/ 20 h 136"/>
                  <a:gd name="T10" fmla="*/ 167 w 181"/>
                  <a:gd name="T11" fmla="*/ 18 h 136"/>
                  <a:gd name="T12" fmla="*/ 162 w 181"/>
                  <a:gd name="T13" fmla="*/ 13 h 136"/>
                  <a:gd name="T14" fmla="*/ 153 w 181"/>
                  <a:gd name="T15" fmla="*/ 12 h 136"/>
                  <a:gd name="T16" fmla="*/ 151 w 181"/>
                  <a:gd name="T17" fmla="*/ 8 h 136"/>
                  <a:gd name="T18" fmla="*/ 130 w 181"/>
                  <a:gd name="T19" fmla="*/ 12 h 136"/>
                  <a:gd name="T20" fmla="*/ 122 w 181"/>
                  <a:gd name="T21" fmla="*/ 9 h 136"/>
                  <a:gd name="T22" fmla="*/ 117 w 181"/>
                  <a:gd name="T23" fmla="*/ 1 h 136"/>
                  <a:gd name="T24" fmla="*/ 114 w 181"/>
                  <a:gd name="T25" fmla="*/ 0 h 136"/>
                  <a:gd name="T26" fmla="*/ 107 w 181"/>
                  <a:gd name="T27" fmla="*/ 5 h 136"/>
                  <a:gd name="T28" fmla="*/ 96 w 181"/>
                  <a:gd name="T29" fmla="*/ 29 h 136"/>
                  <a:gd name="T30" fmla="*/ 74 w 181"/>
                  <a:gd name="T31" fmla="*/ 42 h 136"/>
                  <a:gd name="T32" fmla="*/ 59 w 181"/>
                  <a:gd name="T33" fmla="*/ 55 h 136"/>
                  <a:gd name="T34" fmla="*/ 51 w 181"/>
                  <a:gd name="T35" fmla="*/ 72 h 136"/>
                  <a:gd name="T36" fmla="*/ 50 w 181"/>
                  <a:gd name="T37" fmla="*/ 85 h 136"/>
                  <a:gd name="T38" fmla="*/ 51 w 181"/>
                  <a:gd name="T39" fmla="*/ 98 h 136"/>
                  <a:gd name="T40" fmla="*/ 33 w 181"/>
                  <a:gd name="T41" fmla="*/ 118 h 136"/>
                  <a:gd name="T42" fmla="*/ 11 w 181"/>
                  <a:gd name="T43" fmla="*/ 130 h 136"/>
                  <a:gd name="T44" fmla="*/ 0 w 181"/>
                  <a:gd name="T45" fmla="*/ 136 h 136"/>
                  <a:gd name="T46" fmla="*/ 67 w 181"/>
                  <a:gd name="T47" fmla="*/ 119 h 136"/>
                  <a:gd name="T48" fmla="*/ 85 w 181"/>
                  <a:gd name="T49" fmla="*/ 107 h 136"/>
                  <a:gd name="T50" fmla="*/ 97 w 181"/>
                  <a:gd name="T51" fmla="*/ 105 h 136"/>
                  <a:gd name="T52" fmla="*/ 99 w 181"/>
                  <a:gd name="T53" fmla="*/ 101 h 136"/>
                  <a:gd name="T54" fmla="*/ 109 w 181"/>
                  <a:gd name="T55" fmla="*/ 100 h 136"/>
                  <a:gd name="T56" fmla="*/ 121 w 181"/>
                  <a:gd name="T57" fmla="*/ 92 h 136"/>
                  <a:gd name="T58" fmla="*/ 131 w 181"/>
                  <a:gd name="T59" fmla="*/ 87 h 136"/>
                  <a:gd name="T60" fmla="*/ 142 w 181"/>
                  <a:gd name="T61" fmla="*/ 82 h 136"/>
                  <a:gd name="T62" fmla="*/ 139 w 181"/>
                  <a:gd name="T63" fmla="*/ 79 h 136"/>
                  <a:gd name="T64" fmla="*/ 140 w 181"/>
                  <a:gd name="T65" fmla="*/ 76 h 136"/>
                  <a:gd name="T66" fmla="*/ 139 w 181"/>
                  <a:gd name="T67" fmla="*/ 71 h 136"/>
                  <a:gd name="T68" fmla="*/ 146 w 181"/>
                  <a:gd name="T69" fmla="*/ 70 h 136"/>
                  <a:gd name="T70" fmla="*/ 150 w 181"/>
                  <a:gd name="T71" fmla="*/ 68 h 136"/>
                  <a:gd name="T72" fmla="*/ 161 w 181"/>
                  <a:gd name="T73" fmla="*/ 63 h 136"/>
                  <a:gd name="T74" fmla="*/ 177 w 181"/>
                  <a:gd name="T75" fmla="*/ 64 h 136"/>
                  <a:gd name="T76" fmla="*/ 177 w 181"/>
                  <a:gd name="T77"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1" h="136">
                    <a:moveTo>
                      <a:pt x="180" y="58"/>
                    </a:moveTo>
                    <a:cubicBezTo>
                      <a:pt x="181" y="56"/>
                      <a:pt x="179" y="55"/>
                      <a:pt x="178" y="55"/>
                    </a:cubicBezTo>
                    <a:cubicBezTo>
                      <a:pt x="177" y="54"/>
                      <a:pt x="176" y="53"/>
                      <a:pt x="175" y="51"/>
                    </a:cubicBezTo>
                    <a:cubicBezTo>
                      <a:pt x="175" y="50"/>
                      <a:pt x="171" y="39"/>
                      <a:pt x="170" y="38"/>
                    </a:cubicBezTo>
                    <a:cubicBezTo>
                      <a:pt x="170" y="37"/>
                      <a:pt x="170" y="36"/>
                      <a:pt x="170" y="36"/>
                    </a:cubicBezTo>
                    <a:cubicBezTo>
                      <a:pt x="170" y="36"/>
                      <a:pt x="171" y="32"/>
                      <a:pt x="171" y="31"/>
                    </a:cubicBezTo>
                    <a:cubicBezTo>
                      <a:pt x="171" y="31"/>
                      <a:pt x="171" y="29"/>
                      <a:pt x="170" y="28"/>
                    </a:cubicBezTo>
                    <a:cubicBezTo>
                      <a:pt x="170" y="28"/>
                      <a:pt x="170" y="26"/>
                      <a:pt x="170" y="25"/>
                    </a:cubicBezTo>
                    <a:cubicBezTo>
                      <a:pt x="171" y="23"/>
                      <a:pt x="170" y="24"/>
                      <a:pt x="169" y="23"/>
                    </a:cubicBezTo>
                    <a:cubicBezTo>
                      <a:pt x="168" y="22"/>
                      <a:pt x="169" y="21"/>
                      <a:pt x="169" y="20"/>
                    </a:cubicBezTo>
                    <a:cubicBezTo>
                      <a:pt x="169" y="20"/>
                      <a:pt x="170" y="20"/>
                      <a:pt x="169" y="19"/>
                    </a:cubicBezTo>
                    <a:cubicBezTo>
                      <a:pt x="169" y="19"/>
                      <a:pt x="168" y="19"/>
                      <a:pt x="167" y="18"/>
                    </a:cubicBezTo>
                    <a:cubicBezTo>
                      <a:pt x="167" y="18"/>
                      <a:pt x="164" y="15"/>
                      <a:pt x="162" y="14"/>
                    </a:cubicBezTo>
                    <a:cubicBezTo>
                      <a:pt x="162" y="14"/>
                      <a:pt x="162" y="13"/>
                      <a:pt x="162" y="13"/>
                    </a:cubicBezTo>
                    <a:cubicBezTo>
                      <a:pt x="160" y="13"/>
                      <a:pt x="155" y="11"/>
                      <a:pt x="154" y="11"/>
                    </a:cubicBezTo>
                    <a:cubicBezTo>
                      <a:pt x="153" y="11"/>
                      <a:pt x="153" y="11"/>
                      <a:pt x="153" y="12"/>
                    </a:cubicBezTo>
                    <a:cubicBezTo>
                      <a:pt x="153" y="13"/>
                      <a:pt x="153" y="14"/>
                      <a:pt x="153" y="12"/>
                    </a:cubicBezTo>
                    <a:cubicBezTo>
                      <a:pt x="152" y="10"/>
                      <a:pt x="152" y="8"/>
                      <a:pt x="151" y="8"/>
                    </a:cubicBezTo>
                    <a:cubicBezTo>
                      <a:pt x="150" y="9"/>
                      <a:pt x="149" y="8"/>
                      <a:pt x="146" y="10"/>
                    </a:cubicBezTo>
                    <a:cubicBezTo>
                      <a:pt x="144" y="11"/>
                      <a:pt x="135" y="13"/>
                      <a:pt x="130" y="12"/>
                    </a:cubicBezTo>
                    <a:cubicBezTo>
                      <a:pt x="130" y="12"/>
                      <a:pt x="128" y="12"/>
                      <a:pt x="127" y="11"/>
                    </a:cubicBezTo>
                    <a:cubicBezTo>
                      <a:pt x="125" y="10"/>
                      <a:pt x="124" y="9"/>
                      <a:pt x="122" y="9"/>
                    </a:cubicBezTo>
                    <a:cubicBezTo>
                      <a:pt x="121" y="8"/>
                      <a:pt x="118" y="5"/>
                      <a:pt x="117" y="2"/>
                    </a:cubicBezTo>
                    <a:cubicBezTo>
                      <a:pt x="117" y="2"/>
                      <a:pt x="116" y="1"/>
                      <a:pt x="117" y="1"/>
                    </a:cubicBezTo>
                    <a:cubicBezTo>
                      <a:pt x="117" y="0"/>
                      <a:pt x="118" y="0"/>
                      <a:pt x="117" y="0"/>
                    </a:cubicBezTo>
                    <a:cubicBezTo>
                      <a:pt x="115" y="0"/>
                      <a:pt x="116" y="0"/>
                      <a:pt x="114" y="0"/>
                    </a:cubicBezTo>
                    <a:cubicBezTo>
                      <a:pt x="112" y="1"/>
                      <a:pt x="111" y="0"/>
                      <a:pt x="109" y="1"/>
                    </a:cubicBezTo>
                    <a:cubicBezTo>
                      <a:pt x="108" y="2"/>
                      <a:pt x="107" y="3"/>
                      <a:pt x="107" y="5"/>
                    </a:cubicBezTo>
                    <a:cubicBezTo>
                      <a:pt x="106" y="7"/>
                      <a:pt x="101" y="20"/>
                      <a:pt x="99" y="23"/>
                    </a:cubicBezTo>
                    <a:cubicBezTo>
                      <a:pt x="98" y="25"/>
                      <a:pt x="96" y="28"/>
                      <a:pt x="96" y="29"/>
                    </a:cubicBezTo>
                    <a:cubicBezTo>
                      <a:pt x="95" y="30"/>
                      <a:pt x="91" y="35"/>
                      <a:pt x="87" y="37"/>
                    </a:cubicBezTo>
                    <a:cubicBezTo>
                      <a:pt x="82" y="39"/>
                      <a:pt x="75" y="42"/>
                      <a:pt x="74" y="42"/>
                    </a:cubicBezTo>
                    <a:cubicBezTo>
                      <a:pt x="72" y="43"/>
                      <a:pt x="68" y="45"/>
                      <a:pt x="64" y="49"/>
                    </a:cubicBezTo>
                    <a:cubicBezTo>
                      <a:pt x="61" y="54"/>
                      <a:pt x="60" y="54"/>
                      <a:pt x="59" y="55"/>
                    </a:cubicBezTo>
                    <a:cubicBezTo>
                      <a:pt x="59" y="55"/>
                      <a:pt x="58" y="56"/>
                      <a:pt x="57" y="60"/>
                    </a:cubicBezTo>
                    <a:cubicBezTo>
                      <a:pt x="57" y="64"/>
                      <a:pt x="52" y="71"/>
                      <a:pt x="51" y="72"/>
                    </a:cubicBezTo>
                    <a:cubicBezTo>
                      <a:pt x="50" y="74"/>
                      <a:pt x="50" y="76"/>
                      <a:pt x="50" y="78"/>
                    </a:cubicBezTo>
                    <a:cubicBezTo>
                      <a:pt x="50" y="80"/>
                      <a:pt x="50" y="83"/>
                      <a:pt x="50" y="85"/>
                    </a:cubicBezTo>
                    <a:cubicBezTo>
                      <a:pt x="50" y="87"/>
                      <a:pt x="49" y="87"/>
                      <a:pt x="51" y="88"/>
                    </a:cubicBezTo>
                    <a:cubicBezTo>
                      <a:pt x="52" y="90"/>
                      <a:pt x="54" y="94"/>
                      <a:pt x="51" y="98"/>
                    </a:cubicBezTo>
                    <a:cubicBezTo>
                      <a:pt x="49" y="102"/>
                      <a:pt x="44" y="110"/>
                      <a:pt x="41" y="112"/>
                    </a:cubicBezTo>
                    <a:cubicBezTo>
                      <a:pt x="38" y="114"/>
                      <a:pt x="35" y="117"/>
                      <a:pt x="33" y="118"/>
                    </a:cubicBezTo>
                    <a:cubicBezTo>
                      <a:pt x="30" y="119"/>
                      <a:pt x="25" y="124"/>
                      <a:pt x="23" y="125"/>
                    </a:cubicBezTo>
                    <a:cubicBezTo>
                      <a:pt x="22" y="127"/>
                      <a:pt x="18" y="128"/>
                      <a:pt x="11" y="130"/>
                    </a:cubicBezTo>
                    <a:cubicBezTo>
                      <a:pt x="4" y="131"/>
                      <a:pt x="4" y="130"/>
                      <a:pt x="3" y="132"/>
                    </a:cubicBezTo>
                    <a:cubicBezTo>
                      <a:pt x="2" y="134"/>
                      <a:pt x="1" y="135"/>
                      <a:pt x="0" y="136"/>
                    </a:cubicBezTo>
                    <a:cubicBezTo>
                      <a:pt x="67" y="136"/>
                      <a:pt x="67" y="136"/>
                      <a:pt x="67" y="136"/>
                    </a:cubicBezTo>
                    <a:cubicBezTo>
                      <a:pt x="67" y="119"/>
                      <a:pt x="67" y="119"/>
                      <a:pt x="67" y="119"/>
                    </a:cubicBezTo>
                    <a:cubicBezTo>
                      <a:pt x="67" y="119"/>
                      <a:pt x="75" y="113"/>
                      <a:pt x="76" y="111"/>
                    </a:cubicBezTo>
                    <a:cubicBezTo>
                      <a:pt x="78" y="110"/>
                      <a:pt x="83" y="108"/>
                      <a:pt x="85" y="107"/>
                    </a:cubicBezTo>
                    <a:cubicBezTo>
                      <a:pt x="87" y="107"/>
                      <a:pt x="90" y="105"/>
                      <a:pt x="91" y="105"/>
                    </a:cubicBezTo>
                    <a:cubicBezTo>
                      <a:pt x="93" y="105"/>
                      <a:pt x="96" y="105"/>
                      <a:pt x="97" y="105"/>
                    </a:cubicBezTo>
                    <a:cubicBezTo>
                      <a:pt x="97" y="105"/>
                      <a:pt x="98" y="105"/>
                      <a:pt x="98" y="104"/>
                    </a:cubicBezTo>
                    <a:cubicBezTo>
                      <a:pt x="98" y="104"/>
                      <a:pt x="99" y="101"/>
                      <a:pt x="99" y="101"/>
                    </a:cubicBezTo>
                    <a:cubicBezTo>
                      <a:pt x="99" y="101"/>
                      <a:pt x="100" y="101"/>
                      <a:pt x="100" y="101"/>
                    </a:cubicBezTo>
                    <a:cubicBezTo>
                      <a:pt x="101" y="101"/>
                      <a:pt x="104" y="101"/>
                      <a:pt x="109" y="100"/>
                    </a:cubicBezTo>
                    <a:cubicBezTo>
                      <a:pt x="113" y="99"/>
                      <a:pt x="116" y="97"/>
                      <a:pt x="118" y="96"/>
                    </a:cubicBezTo>
                    <a:cubicBezTo>
                      <a:pt x="119" y="95"/>
                      <a:pt x="121" y="93"/>
                      <a:pt x="121" y="92"/>
                    </a:cubicBezTo>
                    <a:cubicBezTo>
                      <a:pt x="121" y="92"/>
                      <a:pt x="122" y="91"/>
                      <a:pt x="122" y="91"/>
                    </a:cubicBezTo>
                    <a:cubicBezTo>
                      <a:pt x="122" y="91"/>
                      <a:pt x="129" y="88"/>
                      <a:pt x="131" y="87"/>
                    </a:cubicBezTo>
                    <a:cubicBezTo>
                      <a:pt x="132" y="86"/>
                      <a:pt x="136" y="85"/>
                      <a:pt x="138" y="84"/>
                    </a:cubicBezTo>
                    <a:cubicBezTo>
                      <a:pt x="141" y="83"/>
                      <a:pt x="141" y="83"/>
                      <a:pt x="142" y="82"/>
                    </a:cubicBezTo>
                    <a:cubicBezTo>
                      <a:pt x="143" y="81"/>
                      <a:pt x="141" y="79"/>
                      <a:pt x="141" y="79"/>
                    </a:cubicBezTo>
                    <a:cubicBezTo>
                      <a:pt x="141" y="78"/>
                      <a:pt x="140" y="78"/>
                      <a:pt x="139" y="79"/>
                    </a:cubicBezTo>
                    <a:cubicBezTo>
                      <a:pt x="139" y="79"/>
                      <a:pt x="139" y="79"/>
                      <a:pt x="139" y="78"/>
                    </a:cubicBezTo>
                    <a:cubicBezTo>
                      <a:pt x="139" y="78"/>
                      <a:pt x="140" y="76"/>
                      <a:pt x="140" y="76"/>
                    </a:cubicBezTo>
                    <a:cubicBezTo>
                      <a:pt x="140" y="75"/>
                      <a:pt x="140" y="75"/>
                      <a:pt x="139" y="74"/>
                    </a:cubicBezTo>
                    <a:cubicBezTo>
                      <a:pt x="139" y="74"/>
                      <a:pt x="138" y="73"/>
                      <a:pt x="139" y="71"/>
                    </a:cubicBezTo>
                    <a:cubicBezTo>
                      <a:pt x="139" y="70"/>
                      <a:pt x="140" y="70"/>
                      <a:pt x="142" y="70"/>
                    </a:cubicBezTo>
                    <a:cubicBezTo>
                      <a:pt x="143" y="71"/>
                      <a:pt x="145" y="70"/>
                      <a:pt x="146" y="70"/>
                    </a:cubicBezTo>
                    <a:cubicBezTo>
                      <a:pt x="146" y="70"/>
                      <a:pt x="149" y="69"/>
                      <a:pt x="149" y="69"/>
                    </a:cubicBezTo>
                    <a:cubicBezTo>
                      <a:pt x="150" y="69"/>
                      <a:pt x="150" y="68"/>
                      <a:pt x="150" y="68"/>
                    </a:cubicBezTo>
                    <a:cubicBezTo>
                      <a:pt x="151" y="66"/>
                      <a:pt x="153" y="64"/>
                      <a:pt x="154" y="64"/>
                    </a:cubicBezTo>
                    <a:cubicBezTo>
                      <a:pt x="156" y="63"/>
                      <a:pt x="160" y="63"/>
                      <a:pt x="161" y="63"/>
                    </a:cubicBezTo>
                    <a:cubicBezTo>
                      <a:pt x="163" y="62"/>
                      <a:pt x="168" y="63"/>
                      <a:pt x="169" y="63"/>
                    </a:cubicBezTo>
                    <a:cubicBezTo>
                      <a:pt x="170" y="64"/>
                      <a:pt x="176" y="64"/>
                      <a:pt x="177" y="64"/>
                    </a:cubicBezTo>
                    <a:cubicBezTo>
                      <a:pt x="178" y="64"/>
                      <a:pt x="178" y="63"/>
                      <a:pt x="177" y="62"/>
                    </a:cubicBezTo>
                    <a:cubicBezTo>
                      <a:pt x="177" y="61"/>
                      <a:pt x="177" y="61"/>
                      <a:pt x="177" y="61"/>
                    </a:cubicBezTo>
                    <a:cubicBezTo>
                      <a:pt x="177" y="61"/>
                      <a:pt x="178" y="60"/>
                      <a:pt x="180" y="5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77" name="Freeform 989">
                <a:extLst>
                  <a:ext uri="{FF2B5EF4-FFF2-40B4-BE49-F238E27FC236}">
                    <a16:creationId xmlns:a16="http://schemas.microsoft.com/office/drawing/2014/main" id="{3ADD361E-FA32-417E-8B5B-FF4BB92DCD0E}"/>
                  </a:ext>
                </a:extLst>
              </p:cNvPr>
              <p:cNvSpPr>
                <a:spLocks/>
              </p:cNvSpPr>
              <p:nvPr/>
            </p:nvSpPr>
            <p:spPr bwMode="auto">
              <a:xfrm>
                <a:off x="4391" y="2926"/>
                <a:ext cx="150" cy="291"/>
              </a:xfrm>
              <a:custGeom>
                <a:avLst/>
                <a:gdLst>
                  <a:gd name="T0" fmla="*/ 100 w 108"/>
                  <a:gd name="T1" fmla="*/ 20 h 212"/>
                  <a:gd name="T2" fmla="*/ 92 w 108"/>
                  <a:gd name="T3" fmla="*/ 8 h 212"/>
                  <a:gd name="T4" fmla="*/ 90 w 108"/>
                  <a:gd name="T5" fmla="*/ 4 h 212"/>
                  <a:gd name="T6" fmla="*/ 87 w 108"/>
                  <a:gd name="T7" fmla="*/ 4 h 212"/>
                  <a:gd name="T8" fmla="*/ 84 w 108"/>
                  <a:gd name="T9" fmla="*/ 10 h 212"/>
                  <a:gd name="T10" fmla="*/ 83 w 108"/>
                  <a:gd name="T11" fmla="*/ 20 h 212"/>
                  <a:gd name="T12" fmla="*/ 78 w 108"/>
                  <a:gd name="T13" fmla="*/ 24 h 212"/>
                  <a:gd name="T14" fmla="*/ 75 w 108"/>
                  <a:gd name="T15" fmla="*/ 27 h 212"/>
                  <a:gd name="T16" fmla="*/ 71 w 108"/>
                  <a:gd name="T17" fmla="*/ 24 h 212"/>
                  <a:gd name="T18" fmla="*/ 70 w 108"/>
                  <a:gd name="T19" fmla="*/ 33 h 212"/>
                  <a:gd name="T20" fmla="*/ 67 w 108"/>
                  <a:gd name="T21" fmla="*/ 39 h 212"/>
                  <a:gd name="T22" fmla="*/ 67 w 108"/>
                  <a:gd name="T23" fmla="*/ 41 h 212"/>
                  <a:gd name="T24" fmla="*/ 63 w 108"/>
                  <a:gd name="T25" fmla="*/ 45 h 212"/>
                  <a:gd name="T26" fmla="*/ 58 w 108"/>
                  <a:gd name="T27" fmla="*/ 48 h 212"/>
                  <a:gd name="T28" fmla="*/ 57 w 108"/>
                  <a:gd name="T29" fmla="*/ 54 h 212"/>
                  <a:gd name="T30" fmla="*/ 52 w 108"/>
                  <a:gd name="T31" fmla="*/ 51 h 212"/>
                  <a:gd name="T32" fmla="*/ 47 w 108"/>
                  <a:gd name="T33" fmla="*/ 59 h 212"/>
                  <a:gd name="T34" fmla="*/ 45 w 108"/>
                  <a:gd name="T35" fmla="*/ 58 h 212"/>
                  <a:gd name="T36" fmla="*/ 40 w 108"/>
                  <a:gd name="T37" fmla="*/ 58 h 212"/>
                  <a:gd name="T38" fmla="*/ 35 w 108"/>
                  <a:gd name="T39" fmla="*/ 59 h 212"/>
                  <a:gd name="T40" fmla="*/ 30 w 108"/>
                  <a:gd name="T41" fmla="*/ 61 h 212"/>
                  <a:gd name="T42" fmla="*/ 19 w 108"/>
                  <a:gd name="T43" fmla="*/ 64 h 212"/>
                  <a:gd name="T44" fmla="*/ 12 w 108"/>
                  <a:gd name="T45" fmla="*/ 81 h 212"/>
                  <a:gd name="T46" fmla="*/ 14 w 108"/>
                  <a:gd name="T47" fmla="*/ 104 h 212"/>
                  <a:gd name="T48" fmla="*/ 17 w 108"/>
                  <a:gd name="T49" fmla="*/ 117 h 212"/>
                  <a:gd name="T50" fmla="*/ 15 w 108"/>
                  <a:gd name="T51" fmla="*/ 129 h 212"/>
                  <a:gd name="T52" fmla="*/ 9 w 108"/>
                  <a:gd name="T53" fmla="*/ 141 h 212"/>
                  <a:gd name="T54" fmla="*/ 3 w 108"/>
                  <a:gd name="T55" fmla="*/ 148 h 212"/>
                  <a:gd name="T56" fmla="*/ 1 w 108"/>
                  <a:gd name="T57" fmla="*/ 153 h 212"/>
                  <a:gd name="T58" fmla="*/ 6 w 108"/>
                  <a:gd name="T59" fmla="*/ 176 h 212"/>
                  <a:gd name="T60" fmla="*/ 6 w 108"/>
                  <a:gd name="T61" fmla="*/ 183 h 212"/>
                  <a:gd name="T62" fmla="*/ 11 w 108"/>
                  <a:gd name="T63" fmla="*/ 199 h 212"/>
                  <a:gd name="T64" fmla="*/ 41 w 108"/>
                  <a:gd name="T65" fmla="*/ 206 h 212"/>
                  <a:gd name="T66" fmla="*/ 56 w 108"/>
                  <a:gd name="T67" fmla="*/ 200 h 212"/>
                  <a:gd name="T68" fmla="*/ 92 w 108"/>
                  <a:gd name="T69" fmla="*/ 82 h 212"/>
                  <a:gd name="T70" fmla="*/ 97 w 108"/>
                  <a:gd name="T71" fmla="*/ 74 h 212"/>
                  <a:gd name="T72" fmla="*/ 96 w 108"/>
                  <a:gd name="T73" fmla="*/ 64 h 212"/>
                  <a:gd name="T74" fmla="*/ 96 w 108"/>
                  <a:gd name="T75" fmla="*/ 53 h 212"/>
                  <a:gd name="T76" fmla="*/ 106 w 108"/>
                  <a:gd name="T77" fmla="*/ 57 h 212"/>
                  <a:gd name="T78" fmla="*/ 103 w 108"/>
                  <a:gd name="T79" fmla="*/ 33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8" h="212">
                    <a:moveTo>
                      <a:pt x="103" y="33"/>
                    </a:moveTo>
                    <a:cubicBezTo>
                      <a:pt x="102" y="30"/>
                      <a:pt x="101" y="22"/>
                      <a:pt x="100" y="20"/>
                    </a:cubicBezTo>
                    <a:cubicBezTo>
                      <a:pt x="99" y="17"/>
                      <a:pt x="97" y="15"/>
                      <a:pt x="96" y="14"/>
                    </a:cubicBezTo>
                    <a:cubicBezTo>
                      <a:pt x="95" y="13"/>
                      <a:pt x="92" y="8"/>
                      <a:pt x="92" y="8"/>
                    </a:cubicBezTo>
                    <a:cubicBezTo>
                      <a:pt x="91" y="7"/>
                      <a:pt x="91" y="6"/>
                      <a:pt x="90" y="6"/>
                    </a:cubicBezTo>
                    <a:cubicBezTo>
                      <a:pt x="89" y="5"/>
                      <a:pt x="89" y="4"/>
                      <a:pt x="90" y="4"/>
                    </a:cubicBezTo>
                    <a:cubicBezTo>
                      <a:pt x="91" y="3"/>
                      <a:pt x="90" y="1"/>
                      <a:pt x="89" y="1"/>
                    </a:cubicBezTo>
                    <a:cubicBezTo>
                      <a:pt x="89" y="0"/>
                      <a:pt x="88" y="2"/>
                      <a:pt x="87" y="4"/>
                    </a:cubicBezTo>
                    <a:cubicBezTo>
                      <a:pt x="86" y="5"/>
                      <a:pt x="85" y="6"/>
                      <a:pt x="83" y="7"/>
                    </a:cubicBezTo>
                    <a:cubicBezTo>
                      <a:pt x="82" y="7"/>
                      <a:pt x="83" y="8"/>
                      <a:pt x="84" y="10"/>
                    </a:cubicBezTo>
                    <a:cubicBezTo>
                      <a:pt x="84" y="13"/>
                      <a:pt x="85" y="14"/>
                      <a:pt x="84" y="16"/>
                    </a:cubicBezTo>
                    <a:cubicBezTo>
                      <a:pt x="83" y="17"/>
                      <a:pt x="83" y="18"/>
                      <a:pt x="83" y="20"/>
                    </a:cubicBezTo>
                    <a:cubicBezTo>
                      <a:pt x="83" y="22"/>
                      <a:pt x="80" y="22"/>
                      <a:pt x="79" y="22"/>
                    </a:cubicBezTo>
                    <a:cubicBezTo>
                      <a:pt x="78" y="22"/>
                      <a:pt x="79" y="23"/>
                      <a:pt x="78" y="24"/>
                    </a:cubicBezTo>
                    <a:cubicBezTo>
                      <a:pt x="78" y="24"/>
                      <a:pt x="77" y="24"/>
                      <a:pt x="76" y="24"/>
                    </a:cubicBezTo>
                    <a:cubicBezTo>
                      <a:pt x="76" y="24"/>
                      <a:pt x="75" y="26"/>
                      <a:pt x="75" y="27"/>
                    </a:cubicBezTo>
                    <a:cubicBezTo>
                      <a:pt x="74" y="29"/>
                      <a:pt x="73" y="26"/>
                      <a:pt x="73" y="25"/>
                    </a:cubicBezTo>
                    <a:cubicBezTo>
                      <a:pt x="72" y="25"/>
                      <a:pt x="72" y="24"/>
                      <a:pt x="71" y="24"/>
                    </a:cubicBezTo>
                    <a:cubicBezTo>
                      <a:pt x="69" y="24"/>
                      <a:pt x="70" y="28"/>
                      <a:pt x="71" y="31"/>
                    </a:cubicBezTo>
                    <a:cubicBezTo>
                      <a:pt x="72" y="34"/>
                      <a:pt x="71" y="34"/>
                      <a:pt x="70" y="33"/>
                    </a:cubicBezTo>
                    <a:cubicBezTo>
                      <a:pt x="70" y="32"/>
                      <a:pt x="69" y="35"/>
                      <a:pt x="68" y="35"/>
                    </a:cubicBezTo>
                    <a:cubicBezTo>
                      <a:pt x="68" y="34"/>
                      <a:pt x="67" y="37"/>
                      <a:pt x="67" y="39"/>
                    </a:cubicBezTo>
                    <a:cubicBezTo>
                      <a:pt x="66" y="40"/>
                      <a:pt x="69" y="40"/>
                      <a:pt x="70" y="41"/>
                    </a:cubicBezTo>
                    <a:cubicBezTo>
                      <a:pt x="72" y="41"/>
                      <a:pt x="69" y="41"/>
                      <a:pt x="67" y="41"/>
                    </a:cubicBezTo>
                    <a:cubicBezTo>
                      <a:pt x="66" y="41"/>
                      <a:pt x="65" y="42"/>
                      <a:pt x="64" y="44"/>
                    </a:cubicBezTo>
                    <a:cubicBezTo>
                      <a:pt x="63" y="46"/>
                      <a:pt x="62" y="46"/>
                      <a:pt x="63" y="45"/>
                    </a:cubicBezTo>
                    <a:cubicBezTo>
                      <a:pt x="63" y="43"/>
                      <a:pt x="63" y="43"/>
                      <a:pt x="62" y="42"/>
                    </a:cubicBezTo>
                    <a:cubicBezTo>
                      <a:pt x="61" y="41"/>
                      <a:pt x="59" y="47"/>
                      <a:pt x="58" y="48"/>
                    </a:cubicBezTo>
                    <a:cubicBezTo>
                      <a:pt x="58" y="50"/>
                      <a:pt x="57" y="50"/>
                      <a:pt x="58" y="52"/>
                    </a:cubicBezTo>
                    <a:cubicBezTo>
                      <a:pt x="60" y="53"/>
                      <a:pt x="58" y="53"/>
                      <a:pt x="57" y="54"/>
                    </a:cubicBezTo>
                    <a:cubicBezTo>
                      <a:pt x="55" y="54"/>
                      <a:pt x="55" y="54"/>
                      <a:pt x="56" y="51"/>
                    </a:cubicBezTo>
                    <a:cubicBezTo>
                      <a:pt x="57" y="49"/>
                      <a:pt x="54" y="50"/>
                      <a:pt x="52" y="51"/>
                    </a:cubicBezTo>
                    <a:cubicBezTo>
                      <a:pt x="50" y="53"/>
                      <a:pt x="48" y="54"/>
                      <a:pt x="47" y="55"/>
                    </a:cubicBezTo>
                    <a:cubicBezTo>
                      <a:pt x="46" y="56"/>
                      <a:pt x="45" y="57"/>
                      <a:pt x="47" y="59"/>
                    </a:cubicBezTo>
                    <a:cubicBezTo>
                      <a:pt x="48" y="61"/>
                      <a:pt x="47" y="61"/>
                      <a:pt x="46" y="61"/>
                    </a:cubicBezTo>
                    <a:cubicBezTo>
                      <a:pt x="45" y="61"/>
                      <a:pt x="45" y="60"/>
                      <a:pt x="45" y="58"/>
                    </a:cubicBezTo>
                    <a:cubicBezTo>
                      <a:pt x="44" y="57"/>
                      <a:pt x="43" y="57"/>
                      <a:pt x="42" y="58"/>
                    </a:cubicBezTo>
                    <a:cubicBezTo>
                      <a:pt x="41" y="58"/>
                      <a:pt x="41" y="59"/>
                      <a:pt x="40" y="58"/>
                    </a:cubicBezTo>
                    <a:cubicBezTo>
                      <a:pt x="40" y="58"/>
                      <a:pt x="38" y="58"/>
                      <a:pt x="37" y="58"/>
                    </a:cubicBezTo>
                    <a:cubicBezTo>
                      <a:pt x="37" y="58"/>
                      <a:pt x="36" y="58"/>
                      <a:pt x="35" y="59"/>
                    </a:cubicBezTo>
                    <a:cubicBezTo>
                      <a:pt x="34" y="61"/>
                      <a:pt x="33" y="61"/>
                      <a:pt x="32" y="62"/>
                    </a:cubicBezTo>
                    <a:cubicBezTo>
                      <a:pt x="31" y="62"/>
                      <a:pt x="31" y="62"/>
                      <a:pt x="30" y="61"/>
                    </a:cubicBezTo>
                    <a:cubicBezTo>
                      <a:pt x="29" y="60"/>
                      <a:pt x="27" y="62"/>
                      <a:pt x="25" y="64"/>
                    </a:cubicBezTo>
                    <a:cubicBezTo>
                      <a:pt x="24" y="66"/>
                      <a:pt x="21" y="64"/>
                      <a:pt x="19" y="64"/>
                    </a:cubicBezTo>
                    <a:cubicBezTo>
                      <a:pt x="17" y="64"/>
                      <a:pt x="16" y="70"/>
                      <a:pt x="16" y="73"/>
                    </a:cubicBezTo>
                    <a:cubicBezTo>
                      <a:pt x="16" y="76"/>
                      <a:pt x="13" y="80"/>
                      <a:pt x="12" y="81"/>
                    </a:cubicBezTo>
                    <a:cubicBezTo>
                      <a:pt x="11" y="83"/>
                      <a:pt x="10" y="85"/>
                      <a:pt x="10" y="87"/>
                    </a:cubicBezTo>
                    <a:cubicBezTo>
                      <a:pt x="10" y="89"/>
                      <a:pt x="13" y="102"/>
                      <a:pt x="14" y="104"/>
                    </a:cubicBezTo>
                    <a:cubicBezTo>
                      <a:pt x="15" y="106"/>
                      <a:pt x="16" y="110"/>
                      <a:pt x="17" y="113"/>
                    </a:cubicBezTo>
                    <a:cubicBezTo>
                      <a:pt x="18" y="115"/>
                      <a:pt x="18" y="116"/>
                      <a:pt x="17" y="117"/>
                    </a:cubicBezTo>
                    <a:cubicBezTo>
                      <a:pt x="17" y="118"/>
                      <a:pt x="17" y="119"/>
                      <a:pt x="17" y="121"/>
                    </a:cubicBezTo>
                    <a:cubicBezTo>
                      <a:pt x="17" y="123"/>
                      <a:pt x="16" y="128"/>
                      <a:pt x="15" y="129"/>
                    </a:cubicBezTo>
                    <a:cubicBezTo>
                      <a:pt x="14" y="130"/>
                      <a:pt x="12" y="132"/>
                      <a:pt x="11" y="135"/>
                    </a:cubicBezTo>
                    <a:cubicBezTo>
                      <a:pt x="10" y="137"/>
                      <a:pt x="9" y="138"/>
                      <a:pt x="9" y="141"/>
                    </a:cubicBezTo>
                    <a:cubicBezTo>
                      <a:pt x="9" y="143"/>
                      <a:pt x="6" y="143"/>
                      <a:pt x="4" y="143"/>
                    </a:cubicBezTo>
                    <a:cubicBezTo>
                      <a:pt x="2" y="144"/>
                      <a:pt x="4" y="147"/>
                      <a:pt x="3" y="148"/>
                    </a:cubicBezTo>
                    <a:cubicBezTo>
                      <a:pt x="3" y="149"/>
                      <a:pt x="2" y="150"/>
                      <a:pt x="2" y="151"/>
                    </a:cubicBezTo>
                    <a:cubicBezTo>
                      <a:pt x="1" y="152"/>
                      <a:pt x="1" y="152"/>
                      <a:pt x="1" y="153"/>
                    </a:cubicBezTo>
                    <a:cubicBezTo>
                      <a:pt x="0" y="154"/>
                      <a:pt x="0" y="157"/>
                      <a:pt x="0" y="159"/>
                    </a:cubicBezTo>
                    <a:cubicBezTo>
                      <a:pt x="0" y="161"/>
                      <a:pt x="5" y="174"/>
                      <a:pt x="6" y="176"/>
                    </a:cubicBezTo>
                    <a:cubicBezTo>
                      <a:pt x="8" y="178"/>
                      <a:pt x="7" y="179"/>
                      <a:pt x="7" y="179"/>
                    </a:cubicBezTo>
                    <a:cubicBezTo>
                      <a:pt x="6" y="180"/>
                      <a:pt x="5" y="181"/>
                      <a:pt x="6" y="183"/>
                    </a:cubicBezTo>
                    <a:cubicBezTo>
                      <a:pt x="7" y="184"/>
                      <a:pt x="6" y="186"/>
                      <a:pt x="7" y="189"/>
                    </a:cubicBezTo>
                    <a:cubicBezTo>
                      <a:pt x="7" y="193"/>
                      <a:pt x="9" y="196"/>
                      <a:pt x="11" y="199"/>
                    </a:cubicBezTo>
                    <a:cubicBezTo>
                      <a:pt x="13" y="202"/>
                      <a:pt x="21" y="207"/>
                      <a:pt x="27" y="210"/>
                    </a:cubicBezTo>
                    <a:cubicBezTo>
                      <a:pt x="33" y="212"/>
                      <a:pt x="38" y="209"/>
                      <a:pt x="41" y="206"/>
                    </a:cubicBezTo>
                    <a:cubicBezTo>
                      <a:pt x="43" y="204"/>
                      <a:pt x="48" y="204"/>
                      <a:pt x="52" y="203"/>
                    </a:cubicBezTo>
                    <a:cubicBezTo>
                      <a:pt x="55" y="203"/>
                      <a:pt x="56" y="200"/>
                      <a:pt x="56" y="200"/>
                    </a:cubicBezTo>
                    <a:cubicBezTo>
                      <a:pt x="63" y="192"/>
                      <a:pt x="91" y="90"/>
                      <a:pt x="92" y="88"/>
                    </a:cubicBezTo>
                    <a:cubicBezTo>
                      <a:pt x="92" y="86"/>
                      <a:pt x="93" y="84"/>
                      <a:pt x="92" y="82"/>
                    </a:cubicBezTo>
                    <a:cubicBezTo>
                      <a:pt x="92" y="81"/>
                      <a:pt x="95" y="77"/>
                      <a:pt x="96" y="76"/>
                    </a:cubicBezTo>
                    <a:cubicBezTo>
                      <a:pt x="97" y="75"/>
                      <a:pt x="97" y="74"/>
                      <a:pt x="97" y="74"/>
                    </a:cubicBezTo>
                    <a:cubicBezTo>
                      <a:pt x="96" y="73"/>
                      <a:pt x="97" y="70"/>
                      <a:pt x="97" y="68"/>
                    </a:cubicBezTo>
                    <a:cubicBezTo>
                      <a:pt x="98" y="66"/>
                      <a:pt x="98" y="64"/>
                      <a:pt x="96" y="64"/>
                    </a:cubicBezTo>
                    <a:cubicBezTo>
                      <a:pt x="95" y="63"/>
                      <a:pt x="96" y="62"/>
                      <a:pt x="95" y="60"/>
                    </a:cubicBezTo>
                    <a:cubicBezTo>
                      <a:pt x="95" y="58"/>
                      <a:pt x="95" y="55"/>
                      <a:pt x="96" y="53"/>
                    </a:cubicBezTo>
                    <a:cubicBezTo>
                      <a:pt x="98" y="51"/>
                      <a:pt x="101" y="55"/>
                      <a:pt x="102" y="59"/>
                    </a:cubicBezTo>
                    <a:cubicBezTo>
                      <a:pt x="104" y="63"/>
                      <a:pt x="105" y="60"/>
                      <a:pt x="106" y="57"/>
                    </a:cubicBezTo>
                    <a:cubicBezTo>
                      <a:pt x="108" y="53"/>
                      <a:pt x="108" y="49"/>
                      <a:pt x="107" y="47"/>
                    </a:cubicBezTo>
                    <a:cubicBezTo>
                      <a:pt x="107" y="44"/>
                      <a:pt x="104" y="36"/>
                      <a:pt x="103" y="3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78" name="Freeform 990">
                <a:extLst>
                  <a:ext uri="{FF2B5EF4-FFF2-40B4-BE49-F238E27FC236}">
                    <a16:creationId xmlns:a16="http://schemas.microsoft.com/office/drawing/2014/main" id="{E269F4EE-5FA7-4A06-A940-A998EF151DBF}"/>
                  </a:ext>
                </a:extLst>
              </p:cNvPr>
              <p:cNvSpPr>
                <a:spLocks/>
              </p:cNvSpPr>
              <p:nvPr/>
            </p:nvSpPr>
            <p:spPr bwMode="auto">
              <a:xfrm>
                <a:off x="4492" y="2952"/>
                <a:ext cx="5" cy="4"/>
              </a:xfrm>
              <a:custGeom>
                <a:avLst/>
                <a:gdLst>
                  <a:gd name="T0" fmla="*/ 3 w 3"/>
                  <a:gd name="T1" fmla="*/ 2 h 3"/>
                  <a:gd name="T2" fmla="*/ 1 w 3"/>
                  <a:gd name="T3" fmla="*/ 0 h 3"/>
                  <a:gd name="T4" fmla="*/ 2 w 3"/>
                  <a:gd name="T5" fmla="*/ 3 h 3"/>
                  <a:gd name="T6" fmla="*/ 3 w 3"/>
                  <a:gd name="T7" fmla="*/ 2 h 3"/>
                </a:gdLst>
                <a:ahLst/>
                <a:cxnLst>
                  <a:cxn ang="0">
                    <a:pos x="T0" y="T1"/>
                  </a:cxn>
                  <a:cxn ang="0">
                    <a:pos x="T2" y="T3"/>
                  </a:cxn>
                  <a:cxn ang="0">
                    <a:pos x="T4" y="T5"/>
                  </a:cxn>
                  <a:cxn ang="0">
                    <a:pos x="T6" y="T7"/>
                  </a:cxn>
                </a:cxnLst>
                <a:rect l="0" t="0" r="r" b="b"/>
                <a:pathLst>
                  <a:path w="3" h="3">
                    <a:moveTo>
                      <a:pt x="3" y="2"/>
                    </a:moveTo>
                    <a:cubicBezTo>
                      <a:pt x="3" y="1"/>
                      <a:pt x="3" y="0"/>
                      <a:pt x="1" y="0"/>
                    </a:cubicBezTo>
                    <a:cubicBezTo>
                      <a:pt x="0" y="1"/>
                      <a:pt x="0" y="1"/>
                      <a:pt x="2" y="3"/>
                    </a:cubicBezTo>
                    <a:cubicBezTo>
                      <a:pt x="2" y="3"/>
                      <a:pt x="3" y="3"/>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79" name="Freeform 991">
                <a:extLst>
                  <a:ext uri="{FF2B5EF4-FFF2-40B4-BE49-F238E27FC236}">
                    <a16:creationId xmlns:a16="http://schemas.microsoft.com/office/drawing/2014/main" id="{EF2D501E-2EC8-4386-97DD-42EA88F350B5}"/>
                  </a:ext>
                </a:extLst>
              </p:cNvPr>
              <p:cNvSpPr>
                <a:spLocks/>
              </p:cNvSpPr>
              <p:nvPr/>
            </p:nvSpPr>
            <p:spPr bwMode="auto">
              <a:xfrm>
                <a:off x="4275" y="3713"/>
                <a:ext cx="7" cy="4"/>
              </a:xfrm>
              <a:custGeom>
                <a:avLst/>
                <a:gdLst>
                  <a:gd name="T0" fmla="*/ 2 w 5"/>
                  <a:gd name="T1" fmla="*/ 0 h 3"/>
                  <a:gd name="T2" fmla="*/ 1 w 5"/>
                  <a:gd name="T3" fmla="*/ 2 h 3"/>
                  <a:gd name="T4" fmla="*/ 2 w 5"/>
                  <a:gd name="T5" fmla="*/ 2 h 3"/>
                  <a:gd name="T6" fmla="*/ 4 w 5"/>
                  <a:gd name="T7" fmla="*/ 0 h 3"/>
                  <a:gd name="T8" fmla="*/ 2 w 5"/>
                  <a:gd name="T9" fmla="*/ 0 h 3"/>
                </a:gdLst>
                <a:ahLst/>
                <a:cxnLst>
                  <a:cxn ang="0">
                    <a:pos x="T0" y="T1"/>
                  </a:cxn>
                  <a:cxn ang="0">
                    <a:pos x="T2" y="T3"/>
                  </a:cxn>
                  <a:cxn ang="0">
                    <a:pos x="T4" y="T5"/>
                  </a:cxn>
                  <a:cxn ang="0">
                    <a:pos x="T6" y="T7"/>
                  </a:cxn>
                  <a:cxn ang="0">
                    <a:pos x="T8" y="T9"/>
                  </a:cxn>
                </a:cxnLst>
                <a:rect l="0" t="0" r="r" b="b"/>
                <a:pathLst>
                  <a:path w="5" h="3">
                    <a:moveTo>
                      <a:pt x="2" y="0"/>
                    </a:moveTo>
                    <a:cubicBezTo>
                      <a:pt x="1" y="0"/>
                      <a:pt x="0" y="1"/>
                      <a:pt x="1" y="2"/>
                    </a:cubicBezTo>
                    <a:cubicBezTo>
                      <a:pt x="1" y="2"/>
                      <a:pt x="1" y="3"/>
                      <a:pt x="2" y="2"/>
                    </a:cubicBezTo>
                    <a:cubicBezTo>
                      <a:pt x="4" y="1"/>
                      <a:pt x="5" y="1"/>
                      <a:pt x="4" y="0"/>
                    </a:cubicBezTo>
                    <a:cubicBezTo>
                      <a:pt x="3" y="0"/>
                      <a:pt x="2"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80" name="Freeform 992">
                <a:extLst>
                  <a:ext uri="{FF2B5EF4-FFF2-40B4-BE49-F238E27FC236}">
                    <a16:creationId xmlns:a16="http://schemas.microsoft.com/office/drawing/2014/main" id="{3F50431D-B76B-4D45-AD31-3E3C439CA976}"/>
                  </a:ext>
                </a:extLst>
              </p:cNvPr>
              <p:cNvSpPr>
                <a:spLocks noEditPoints="1"/>
              </p:cNvSpPr>
              <p:nvPr/>
            </p:nvSpPr>
            <p:spPr bwMode="auto">
              <a:xfrm>
                <a:off x="3841" y="3142"/>
                <a:ext cx="337" cy="280"/>
              </a:xfrm>
              <a:custGeom>
                <a:avLst/>
                <a:gdLst>
                  <a:gd name="T0" fmla="*/ 233 w 244"/>
                  <a:gd name="T1" fmla="*/ 73 h 204"/>
                  <a:gd name="T2" fmla="*/ 230 w 244"/>
                  <a:gd name="T3" fmla="*/ 79 h 204"/>
                  <a:gd name="T4" fmla="*/ 219 w 244"/>
                  <a:gd name="T5" fmla="*/ 79 h 204"/>
                  <a:gd name="T6" fmla="*/ 213 w 244"/>
                  <a:gd name="T7" fmla="*/ 71 h 204"/>
                  <a:gd name="T8" fmla="*/ 219 w 244"/>
                  <a:gd name="T9" fmla="*/ 59 h 204"/>
                  <a:gd name="T10" fmla="*/ 228 w 244"/>
                  <a:gd name="T11" fmla="*/ 59 h 204"/>
                  <a:gd name="T12" fmla="*/ 231 w 244"/>
                  <a:gd name="T13" fmla="*/ 53 h 204"/>
                  <a:gd name="T14" fmla="*/ 229 w 244"/>
                  <a:gd name="T15" fmla="*/ 28 h 204"/>
                  <a:gd name="T16" fmla="*/ 221 w 244"/>
                  <a:gd name="T17" fmla="*/ 5 h 204"/>
                  <a:gd name="T18" fmla="*/ 220 w 244"/>
                  <a:gd name="T19" fmla="*/ 4 h 204"/>
                  <a:gd name="T20" fmla="*/ 207 w 244"/>
                  <a:gd name="T21" fmla="*/ 1 h 204"/>
                  <a:gd name="T22" fmla="*/ 193 w 244"/>
                  <a:gd name="T23" fmla="*/ 1 h 204"/>
                  <a:gd name="T24" fmla="*/ 185 w 244"/>
                  <a:gd name="T25" fmla="*/ 3 h 204"/>
                  <a:gd name="T26" fmla="*/ 177 w 244"/>
                  <a:gd name="T27" fmla="*/ 6 h 204"/>
                  <a:gd name="T28" fmla="*/ 157 w 244"/>
                  <a:gd name="T29" fmla="*/ 23 h 204"/>
                  <a:gd name="T30" fmla="*/ 148 w 244"/>
                  <a:gd name="T31" fmla="*/ 38 h 204"/>
                  <a:gd name="T32" fmla="*/ 141 w 244"/>
                  <a:gd name="T33" fmla="*/ 40 h 204"/>
                  <a:gd name="T34" fmla="*/ 137 w 244"/>
                  <a:gd name="T35" fmla="*/ 50 h 204"/>
                  <a:gd name="T36" fmla="*/ 123 w 244"/>
                  <a:gd name="T37" fmla="*/ 57 h 204"/>
                  <a:gd name="T38" fmla="*/ 96 w 244"/>
                  <a:gd name="T39" fmla="*/ 49 h 204"/>
                  <a:gd name="T40" fmla="*/ 91 w 244"/>
                  <a:gd name="T41" fmla="*/ 62 h 204"/>
                  <a:gd name="T42" fmla="*/ 73 w 244"/>
                  <a:gd name="T43" fmla="*/ 73 h 204"/>
                  <a:gd name="T44" fmla="*/ 63 w 244"/>
                  <a:gd name="T45" fmla="*/ 73 h 204"/>
                  <a:gd name="T46" fmla="*/ 65 w 244"/>
                  <a:gd name="T47" fmla="*/ 58 h 204"/>
                  <a:gd name="T48" fmla="*/ 53 w 244"/>
                  <a:gd name="T49" fmla="*/ 40 h 204"/>
                  <a:gd name="T50" fmla="*/ 52 w 244"/>
                  <a:gd name="T51" fmla="*/ 99 h 204"/>
                  <a:gd name="T52" fmla="*/ 24 w 244"/>
                  <a:gd name="T53" fmla="*/ 106 h 204"/>
                  <a:gd name="T54" fmla="*/ 13 w 244"/>
                  <a:gd name="T55" fmla="*/ 100 h 204"/>
                  <a:gd name="T56" fmla="*/ 12 w 244"/>
                  <a:gd name="T57" fmla="*/ 96 h 204"/>
                  <a:gd name="T58" fmla="*/ 8 w 244"/>
                  <a:gd name="T59" fmla="*/ 93 h 204"/>
                  <a:gd name="T60" fmla="*/ 0 w 244"/>
                  <a:gd name="T61" fmla="*/ 101 h 204"/>
                  <a:gd name="T62" fmla="*/ 27 w 244"/>
                  <a:gd name="T63" fmla="*/ 165 h 204"/>
                  <a:gd name="T64" fmla="*/ 22 w 244"/>
                  <a:gd name="T65" fmla="*/ 174 h 204"/>
                  <a:gd name="T66" fmla="*/ 29 w 244"/>
                  <a:gd name="T67" fmla="*/ 188 h 204"/>
                  <a:gd name="T68" fmla="*/ 33 w 244"/>
                  <a:gd name="T69" fmla="*/ 191 h 204"/>
                  <a:gd name="T70" fmla="*/ 41 w 244"/>
                  <a:gd name="T71" fmla="*/ 198 h 204"/>
                  <a:gd name="T72" fmla="*/ 74 w 244"/>
                  <a:gd name="T73" fmla="*/ 196 h 204"/>
                  <a:gd name="T74" fmla="*/ 98 w 244"/>
                  <a:gd name="T75" fmla="*/ 191 h 204"/>
                  <a:gd name="T76" fmla="*/ 126 w 244"/>
                  <a:gd name="T77" fmla="*/ 191 h 204"/>
                  <a:gd name="T78" fmla="*/ 142 w 244"/>
                  <a:gd name="T79" fmla="*/ 185 h 204"/>
                  <a:gd name="T80" fmla="*/ 170 w 244"/>
                  <a:gd name="T81" fmla="*/ 173 h 204"/>
                  <a:gd name="T82" fmla="*/ 198 w 244"/>
                  <a:gd name="T83" fmla="*/ 148 h 204"/>
                  <a:gd name="T84" fmla="*/ 231 w 244"/>
                  <a:gd name="T85" fmla="*/ 105 h 204"/>
                  <a:gd name="T86" fmla="*/ 244 w 244"/>
                  <a:gd name="T87" fmla="*/ 76 h 204"/>
                  <a:gd name="T88" fmla="*/ 233 w 244"/>
                  <a:gd name="T89" fmla="*/ 73 h 204"/>
                  <a:gd name="T90" fmla="*/ 191 w 244"/>
                  <a:gd name="T91" fmla="*/ 116 h 204"/>
                  <a:gd name="T92" fmla="*/ 188 w 244"/>
                  <a:gd name="T93" fmla="*/ 121 h 204"/>
                  <a:gd name="T94" fmla="*/ 186 w 244"/>
                  <a:gd name="T95" fmla="*/ 124 h 204"/>
                  <a:gd name="T96" fmla="*/ 173 w 244"/>
                  <a:gd name="T97" fmla="*/ 134 h 204"/>
                  <a:gd name="T98" fmla="*/ 163 w 244"/>
                  <a:gd name="T99" fmla="*/ 130 h 204"/>
                  <a:gd name="T100" fmla="*/ 157 w 244"/>
                  <a:gd name="T101" fmla="*/ 118 h 204"/>
                  <a:gd name="T102" fmla="*/ 164 w 244"/>
                  <a:gd name="T103" fmla="*/ 112 h 204"/>
                  <a:gd name="T104" fmla="*/ 174 w 244"/>
                  <a:gd name="T105" fmla="*/ 104 h 204"/>
                  <a:gd name="T106" fmla="*/ 181 w 244"/>
                  <a:gd name="T107" fmla="*/ 101 h 204"/>
                  <a:gd name="T108" fmla="*/ 185 w 244"/>
                  <a:gd name="T109" fmla="*/ 105 h 204"/>
                  <a:gd name="T110" fmla="*/ 193 w 244"/>
                  <a:gd name="T111" fmla="*/ 113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44" h="204">
                    <a:moveTo>
                      <a:pt x="233" y="73"/>
                    </a:moveTo>
                    <a:cubicBezTo>
                      <a:pt x="233" y="74"/>
                      <a:pt x="233" y="75"/>
                      <a:pt x="233" y="75"/>
                    </a:cubicBezTo>
                    <a:cubicBezTo>
                      <a:pt x="233" y="75"/>
                      <a:pt x="233" y="74"/>
                      <a:pt x="233" y="73"/>
                    </a:cubicBezTo>
                    <a:cubicBezTo>
                      <a:pt x="233" y="73"/>
                      <a:pt x="232" y="73"/>
                      <a:pt x="232" y="73"/>
                    </a:cubicBezTo>
                    <a:cubicBezTo>
                      <a:pt x="231" y="73"/>
                      <a:pt x="231" y="73"/>
                      <a:pt x="231" y="73"/>
                    </a:cubicBezTo>
                    <a:cubicBezTo>
                      <a:pt x="231" y="74"/>
                      <a:pt x="230" y="78"/>
                      <a:pt x="230" y="79"/>
                    </a:cubicBezTo>
                    <a:cubicBezTo>
                      <a:pt x="230" y="79"/>
                      <a:pt x="231" y="81"/>
                      <a:pt x="230" y="80"/>
                    </a:cubicBezTo>
                    <a:cubicBezTo>
                      <a:pt x="229" y="80"/>
                      <a:pt x="220" y="80"/>
                      <a:pt x="220" y="80"/>
                    </a:cubicBezTo>
                    <a:cubicBezTo>
                      <a:pt x="220" y="80"/>
                      <a:pt x="219" y="79"/>
                      <a:pt x="219" y="79"/>
                    </a:cubicBezTo>
                    <a:cubicBezTo>
                      <a:pt x="219" y="78"/>
                      <a:pt x="215" y="73"/>
                      <a:pt x="215" y="73"/>
                    </a:cubicBezTo>
                    <a:cubicBezTo>
                      <a:pt x="215" y="73"/>
                      <a:pt x="214" y="72"/>
                      <a:pt x="214" y="72"/>
                    </a:cubicBezTo>
                    <a:cubicBezTo>
                      <a:pt x="213" y="72"/>
                      <a:pt x="213" y="71"/>
                      <a:pt x="213" y="71"/>
                    </a:cubicBezTo>
                    <a:cubicBezTo>
                      <a:pt x="213" y="71"/>
                      <a:pt x="213" y="67"/>
                      <a:pt x="213" y="67"/>
                    </a:cubicBezTo>
                    <a:cubicBezTo>
                      <a:pt x="213" y="66"/>
                      <a:pt x="217" y="61"/>
                      <a:pt x="217" y="61"/>
                    </a:cubicBezTo>
                    <a:cubicBezTo>
                      <a:pt x="217" y="61"/>
                      <a:pt x="218" y="59"/>
                      <a:pt x="219" y="59"/>
                    </a:cubicBezTo>
                    <a:cubicBezTo>
                      <a:pt x="219" y="58"/>
                      <a:pt x="221" y="57"/>
                      <a:pt x="222" y="56"/>
                    </a:cubicBezTo>
                    <a:cubicBezTo>
                      <a:pt x="222" y="56"/>
                      <a:pt x="222" y="55"/>
                      <a:pt x="223" y="56"/>
                    </a:cubicBezTo>
                    <a:cubicBezTo>
                      <a:pt x="223" y="57"/>
                      <a:pt x="227" y="59"/>
                      <a:pt x="228" y="59"/>
                    </a:cubicBezTo>
                    <a:cubicBezTo>
                      <a:pt x="228" y="59"/>
                      <a:pt x="229" y="59"/>
                      <a:pt x="230" y="59"/>
                    </a:cubicBezTo>
                    <a:cubicBezTo>
                      <a:pt x="230" y="58"/>
                      <a:pt x="231" y="57"/>
                      <a:pt x="231" y="56"/>
                    </a:cubicBezTo>
                    <a:cubicBezTo>
                      <a:pt x="231" y="55"/>
                      <a:pt x="231" y="54"/>
                      <a:pt x="231" y="53"/>
                    </a:cubicBezTo>
                    <a:cubicBezTo>
                      <a:pt x="230" y="52"/>
                      <a:pt x="231" y="49"/>
                      <a:pt x="231" y="47"/>
                    </a:cubicBezTo>
                    <a:cubicBezTo>
                      <a:pt x="231" y="45"/>
                      <a:pt x="230" y="35"/>
                      <a:pt x="230" y="33"/>
                    </a:cubicBezTo>
                    <a:cubicBezTo>
                      <a:pt x="230" y="31"/>
                      <a:pt x="229" y="29"/>
                      <a:pt x="229" y="28"/>
                    </a:cubicBezTo>
                    <a:cubicBezTo>
                      <a:pt x="228" y="27"/>
                      <a:pt x="228" y="25"/>
                      <a:pt x="226" y="23"/>
                    </a:cubicBezTo>
                    <a:cubicBezTo>
                      <a:pt x="224" y="21"/>
                      <a:pt x="224" y="18"/>
                      <a:pt x="224" y="17"/>
                    </a:cubicBezTo>
                    <a:cubicBezTo>
                      <a:pt x="224" y="15"/>
                      <a:pt x="221" y="6"/>
                      <a:pt x="221" y="5"/>
                    </a:cubicBezTo>
                    <a:cubicBezTo>
                      <a:pt x="221" y="4"/>
                      <a:pt x="220" y="4"/>
                      <a:pt x="220" y="4"/>
                    </a:cubicBezTo>
                    <a:cubicBezTo>
                      <a:pt x="220" y="5"/>
                      <a:pt x="219" y="5"/>
                      <a:pt x="219" y="5"/>
                    </a:cubicBezTo>
                    <a:cubicBezTo>
                      <a:pt x="219" y="5"/>
                      <a:pt x="220" y="5"/>
                      <a:pt x="220" y="4"/>
                    </a:cubicBezTo>
                    <a:cubicBezTo>
                      <a:pt x="220" y="3"/>
                      <a:pt x="220" y="3"/>
                      <a:pt x="220" y="3"/>
                    </a:cubicBezTo>
                    <a:cubicBezTo>
                      <a:pt x="220" y="3"/>
                      <a:pt x="216" y="2"/>
                      <a:pt x="215" y="2"/>
                    </a:cubicBezTo>
                    <a:cubicBezTo>
                      <a:pt x="215" y="2"/>
                      <a:pt x="209" y="1"/>
                      <a:pt x="207" y="1"/>
                    </a:cubicBezTo>
                    <a:cubicBezTo>
                      <a:pt x="204" y="1"/>
                      <a:pt x="196" y="0"/>
                      <a:pt x="195" y="0"/>
                    </a:cubicBezTo>
                    <a:cubicBezTo>
                      <a:pt x="194" y="0"/>
                      <a:pt x="193" y="0"/>
                      <a:pt x="192" y="0"/>
                    </a:cubicBezTo>
                    <a:cubicBezTo>
                      <a:pt x="193" y="1"/>
                      <a:pt x="193" y="1"/>
                      <a:pt x="193" y="1"/>
                    </a:cubicBezTo>
                    <a:cubicBezTo>
                      <a:pt x="193" y="1"/>
                      <a:pt x="193" y="1"/>
                      <a:pt x="192" y="0"/>
                    </a:cubicBezTo>
                    <a:cubicBezTo>
                      <a:pt x="191" y="0"/>
                      <a:pt x="190" y="0"/>
                      <a:pt x="189" y="0"/>
                    </a:cubicBezTo>
                    <a:cubicBezTo>
                      <a:pt x="186" y="1"/>
                      <a:pt x="185" y="3"/>
                      <a:pt x="185" y="3"/>
                    </a:cubicBezTo>
                    <a:cubicBezTo>
                      <a:pt x="185" y="3"/>
                      <a:pt x="185" y="4"/>
                      <a:pt x="185" y="4"/>
                    </a:cubicBezTo>
                    <a:cubicBezTo>
                      <a:pt x="185" y="4"/>
                      <a:pt x="183" y="5"/>
                      <a:pt x="182" y="5"/>
                    </a:cubicBezTo>
                    <a:cubicBezTo>
                      <a:pt x="181" y="5"/>
                      <a:pt x="179" y="6"/>
                      <a:pt x="177" y="6"/>
                    </a:cubicBezTo>
                    <a:cubicBezTo>
                      <a:pt x="175" y="7"/>
                      <a:pt x="171" y="13"/>
                      <a:pt x="170" y="13"/>
                    </a:cubicBezTo>
                    <a:cubicBezTo>
                      <a:pt x="170" y="14"/>
                      <a:pt x="169" y="14"/>
                      <a:pt x="169" y="14"/>
                    </a:cubicBezTo>
                    <a:cubicBezTo>
                      <a:pt x="169" y="14"/>
                      <a:pt x="158" y="22"/>
                      <a:pt x="157" y="23"/>
                    </a:cubicBezTo>
                    <a:cubicBezTo>
                      <a:pt x="156" y="24"/>
                      <a:pt x="156" y="23"/>
                      <a:pt x="156" y="26"/>
                    </a:cubicBezTo>
                    <a:cubicBezTo>
                      <a:pt x="155" y="28"/>
                      <a:pt x="154" y="31"/>
                      <a:pt x="154" y="33"/>
                    </a:cubicBezTo>
                    <a:cubicBezTo>
                      <a:pt x="153" y="34"/>
                      <a:pt x="149" y="37"/>
                      <a:pt x="148" y="38"/>
                    </a:cubicBezTo>
                    <a:cubicBezTo>
                      <a:pt x="147" y="38"/>
                      <a:pt x="147" y="38"/>
                      <a:pt x="147" y="38"/>
                    </a:cubicBezTo>
                    <a:cubicBezTo>
                      <a:pt x="146" y="39"/>
                      <a:pt x="144" y="39"/>
                      <a:pt x="144" y="39"/>
                    </a:cubicBezTo>
                    <a:cubicBezTo>
                      <a:pt x="143" y="39"/>
                      <a:pt x="142" y="39"/>
                      <a:pt x="141" y="40"/>
                    </a:cubicBezTo>
                    <a:cubicBezTo>
                      <a:pt x="139" y="40"/>
                      <a:pt x="140" y="41"/>
                      <a:pt x="140" y="41"/>
                    </a:cubicBezTo>
                    <a:cubicBezTo>
                      <a:pt x="140" y="41"/>
                      <a:pt x="140" y="41"/>
                      <a:pt x="140" y="42"/>
                    </a:cubicBezTo>
                    <a:cubicBezTo>
                      <a:pt x="139" y="43"/>
                      <a:pt x="138" y="49"/>
                      <a:pt x="137" y="50"/>
                    </a:cubicBezTo>
                    <a:cubicBezTo>
                      <a:pt x="136" y="52"/>
                      <a:pt x="134" y="54"/>
                      <a:pt x="133" y="55"/>
                    </a:cubicBezTo>
                    <a:cubicBezTo>
                      <a:pt x="132" y="56"/>
                      <a:pt x="131" y="56"/>
                      <a:pt x="130" y="56"/>
                    </a:cubicBezTo>
                    <a:cubicBezTo>
                      <a:pt x="128" y="56"/>
                      <a:pt x="125" y="56"/>
                      <a:pt x="123" y="57"/>
                    </a:cubicBezTo>
                    <a:cubicBezTo>
                      <a:pt x="121" y="57"/>
                      <a:pt x="118" y="55"/>
                      <a:pt x="117" y="55"/>
                    </a:cubicBezTo>
                    <a:cubicBezTo>
                      <a:pt x="115" y="54"/>
                      <a:pt x="105" y="51"/>
                      <a:pt x="102" y="49"/>
                    </a:cubicBezTo>
                    <a:cubicBezTo>
                      <a:pt x="100" y="48"/>
                      <a:pt x="98" y="48"/>
                      <a:pt x="96" y="49"/>
                    </a:cubicBezTo>
                    <a:cubicBezTo>
                      <a:pt x="95" y="51"/>
                      <a:pt x="94" y="54"/>
                      <a:pt x="94" y="55"/>
                    </a:cubicBezTo>
                    <a:cubicBezTo>
                      <a:pt x="94" y="56"/>
                      <a:pt x="93" y="59"/>
                      <a:pt x="93" y="60"/>
                    </a:cubicBezTo>
                    <a:cubicBezTo>
                      <a:pt x="92" y="61"/>
                      <a:pt x="91" y="62"/>
                      <a:pt x="91" y="62"/>
                    </a:cubicBezTo>
                    <a:cubicBezTo>
                      <a:pt x="91" y="62"/>
                      <a:pt x="80" y="72"/>
                      <a:pt x="78" y="73"/>
                    </a:cubicBezTo>
                    <a:cubicBezTo>
                      <a:pt x="77" y="74"/>
                      <a:pt x="75" y="73"/>
                      <a:pt x="75" y="73"/>
                    </a:cubicBezTo>
                    <a:cubicBezTo>
                      <a:pt x="74" y="73"/>
                      <a:pt x="74" y="73"/>
                      <a:pt x="73" y="73"/>
                    </a:cubicBezTo>
                    <a:cubicBezTo>
                      <a:pt x="72" y="73"/>
                      <a:pt x="69" y="74"/>
                      <a:pt x="68" y="73"/>
                    </a:cubicBezTo>
                    <a:cubicBezTo>
                      <a:pt x="66" y="73"/>
                      <a:pt x="64" y="73"/>
                      <a:pt x="63" y="74"/>
                    </a:cubicBezTo>
                    <a:cubicBezTo>
                      <a:pt x="63" y="74"/>
                      <a:pt x="63" y="74"/>
                      <a:pt x="63" y="73"/>
                    </a:cubicBezTo>
                    <a:cubicBezTo>
                      <a:pt x="62" y="72"/>
                      <a:pt x="62" y="70"/>
                      <a:pt x="62" y="69"/>
                    </a:cubicBezTo>
                    <a:cubicBezTo>
                      <a:pt x="62" y="67"/>
                      <a:pt x="64" y="65"/>
                      <a:pt x="65" y="63"/>
                    </a:cubicBezTo>
                    <a:cubicBezTo>
                      <a:pt x="66" y="62"/>
                      <a:pt x="65" y="59"/>
                      <a:pt x="65" y="58"/>
                    </a:cubicBezTo>
                    <a:cubicBezTo>
                      <a:pt x="65" y="56"/>
                      <a:pt x="63" y="54"/>
                      <a:pt x="62" y="51"/>
                    </a:cubicBezTo>
                    <a:cubicBezTo>
                      <a:pt x="61" y="48"/>
                      <a:pt x="59" y="45"/>
                      <a:pt x="57" y="44"/>
                    </a:cubicBezTo>
                    <a:cubicBezTo>
                      <a:pt x="57" y="43"/>
                      <a:pt x="54" y="41"/>
                      <a:pt x="53" y="40"/>
                    </a:cubicBezTo>
                    <a:cubicBezTo>
                      <a:pt x="53" y="95"/>
                      <a:pt x="53" y="95"/>
                      <a:pt x="53" y="95"/>
                    </a:cubicBezTo>
                    <a:cubicBezTo>
                      <a:pt x="53" y="95"/>
                      <a:pt x="53" y="97"/>
                      <a:pt x="52" y="98"/>
                    </a:cubicBezTo>
                    <a:cubicBezTo>
                      <a:pt x="52" y="99"/>
                      <a:pt x="52" y="99"/>
                      <a:pt x="52" y="99"/>
                    </a:cubicBezTo>
                    <a:cubicBezTo>
                      <a:pt x="44" y="100"/>
                      <a:pt x="41" y="105"/>
                      <a:pt x="41" y="106"/>
                    </a:cubicBezTo>
                    <a:cubicBezTo>
                      <a:pt x="41" y="106"/>
                      <a:pt x="41" y="107"/>
                      <a:pt x="40" y="107"/>
                    </a:cubicBezTo>
                    <a:cubicBezTo>
                      <a:pt x="39" y="107"/>
                      <a:pt x="25" y="106"/>
                      <a:pt x="24" y="106"/>
                    </a:cubicBezTo>
                    <a:cubicBezTo>
                      <a:pt x="23" y="105"/>
                      <a:pt x="17" y="105"/>
                      <a:pt x="16" y="104"/>
                    </a:cubicBezTo>
                    <a:cubicBezTo>
                      <a:pt x="14" y="104"/>
                      <a:pt x="14" y="103"/>
                      <a:pt x="14" y="102"/>
                    </a:cubicBezTo>
                    <a:cubicBezTo>
                      <a:pt x="14" y="101"/>
                      <a:pt x="14" y="101"/>
                      <a:pt x="13" y="100"/>
                    </a:cubicBezTo>
                    <a:cubicBezTo>
                      <a:pt x="13" y="100"/>
                      <a:pt x="13" y="99"/>
                      <a:pt x="13" y="99"/>
                    </a:cubicBezTo>
                    <a:cubicBezTo>
                      <a:pt x="14" y="99"/>
                      <a:pt x="14" y="99"/>
                      <a:pt x="14" y="98"/>
                    </a:cubicBezTo>
                    <a:cubicBezTo>
                      <a:pt x="14" y="97"/>
                      <a:pt x="13" y="96"/>
                      <a:pt x="12" y="96"/>
                    </a:cubicBezTo>
                    <a:cubicBezTo>
                      <a:pt x="11" y="95"/>
                      <a:pt x="11" y="94"/>
                      <a:pt x="11" y="94"/>
                    </a:cubicBezTo>
                    <a:cubicBezTo>
                      <a:pt x="11" y="93"/>
                      <a:pt x="10" y="93"/>
                      <a:pt x="10" y="93"/>
                    </a:cubicBezTo>
                    <a:cubicBezTo>
                      <a:pt x="9" y="93"/>
                      <a:pt x="8" y="93"/>
                      <a:pt x="8" y="93"/>
                    </a:cubicBezTo>
                    <a:cubicBezTo>
                      <a:pt x="7" y="93"/>
                      <a:pt x="7" y="93"/>
                      <a:pt x="6" y="94"/>
                    </a:cubicBezTo>
                    <a:cubicBezTo>
                      <a:pt x="6" y="94"/>
                      <a:pt x="6" y="94"/>
                      <a:pt x="5" y="95"/>
                    </a:cubicBezTo>
                    <a:cubicBezTo>
                      <a:pt x="4" y="96"/>
                      <a:pt x="1" y="100"/>
                      <a:pt x="0" y="101"/>
                    </a:cubicBezTo>
                    <a:cubicBezTo>
                      <a:pt x="1" y="102"/>
                      <a:pt x="1" y="102"/>
                      <a:pt x="2" y="103"/>
                    </a:cubicBezTo>
                    <a:cubicBezTo>
                      <a:pt x="2" y="105"/>
                      <a:pt x="18" y="141"/>
                      <a:pt x="24" y="150"/>
                    </a:cubicBezTo>
                    <a:cubicBezTo>
                      <a:pt x="24" y="150"/>
                      <a:pt x="29" y="159"/>
                      <a:pt x="27" y="165"/>
                    </a:cubicBezTo>
                    <a:cubicBezTo>
                      <a:pt x="27" y="165"/>
                      <a:pt x="26" y="169"/>
                      <a:pt x="25" y="169"/>
                    </a:cubicBezTo>
                    <a:cubicBezTo>
                      <a:pt x="24" y="169"/>
                      <a:pt x="21" y="169"/>
                      <a:pt x="21" y="171"/>
                    </a:cubicBezTo>
                    <a:cubicBezTo>
                      <a:pt x="21" y="173"/>
                      <a:pt x="22" y="174"/>
                      <a:pt x="22" y="174"/>
                    </a:cubicBezTo>
                    <a:cubicBezTo>
                      <a:pt x="23" y="174"/>
                      <a:pt x="24" y="175"/>
                      <a:pt x="24" y="176"/>
                    </a:cubicBezTo>
                    <a:cubicBezTo>
                      <a:pt x="24" y="177"/>
                      <a:pt x="26" y="180"/>
                      <a:pt x="28" y="183"/>
                    </a:cubicBezTo>
                    <a:cubicBezTo>
                      <a:pt x="29" y="185"/>
                      <a:pt x="30" y="186"/>
                      <a:pt x="29" y="188"/>
                    </a:cubicBezTo>
                    <a:cubicBezTo>
                      <a:pt x="28" y="190"/>
                      <a:pt x="28" y="193"/>
                      <a:pt x="30" y="194"/>
                    </a:cubicBezTo>
                    <a:cubicBezTo>
                      <a:pt x="31" y="195"/>
                      <a:pt x="31" y="194"/>
                      <a:pt x="31" y="194"/>
                    </a:cubicBezTo>
                    <a:cubicBezTo>
                      <a:pt x="31" y="193"/>
                      <a:pt x="31" y="192"/>
                      <a:pt x="33" y="191"/>
                    </a:cubicBezTo>
                    <a:cubicBezTo>
                      <a:pt x="34" y="191"/>
                      <a:pt x="36" y="192"/>
                      <a:pt x="36" y="194"/>
                    </a:cubicBezTo>
                    <a:cubicBezTo>
                      <a:pt x="36" y="196"/>
                      <a:pt x="35" y="197"/>
                      <a:pt x="37" y="197"/>
                    </a:cubicBezTo>
                    <a:cubicBezTo>
                      <a:pt x="39" y="196"/>
                      <a:pt x="39" y="196"/>
                      <a:pt x="41" y="198"/>
                    </a:cubicBezTo>
                    <a:cubicBezTo>
                      <a:pt x="43" y="200"/>
                      <a:pt x="44" y="200"/>
                      <a:pt x="47" y="201"/>
                    </a:cubicBezTo>
                    <a:cubicBezTo>
                      <a:pt x="50" y="202"/>
                      <a:pt x="54" y="204"/>
                      <a:pt x="55" y="203"/>
                    </a:cubicBezTo>
                    <a:cubicBezTo>
                      <a:pt x="56" y="201"/>
                      <a:pt x="64" y="195"/>
                      <a:pt x="74" y="196"/>
                    </a:cubicBezTo>
                    <a:cubicBezTo>
                      <a:pt x="74" y="196"/>
                      <a:pt x="81" y="197"/>
                      <a:pt x="84" y="194"/>
                    </a:cubicBezTo>
                    <a:cubicBezTo>
                      <a:pt x="86" y="191"/>
                      <a:pt x="88" y="191"/>
                      <a:pt x="90" y="191"/>
                    </a:cubicBezTo>
                    <a:cubicBezTo>
                      <a:pt x="92" y="191"/>
                      <a:pt x="96" y="190"/>
                      <a:pt x="98" y="191"/>
                    </a:cubicBezTo>
                    <a:cubicBezTo>
                      <a:pt x="100" y="191"/>
                      <a:pt x="102" y="191"/>
                      <a:pt x="104" y="191"/>
                    </a:cubicBezTo>
                    <a:cubicBezTo>
                      <a:pt x="106" y="190"/>
                      <a:pt x="109" y="190"/>
                      <a:pt x="115" y="191"/>
                    </a:cubicBezTo>
                    <a:cubicBezTo>
                      <a:pt x="121" y="193"/>
                      <a:pt x="125" y="193"/>
                      <a:pt x="126" y="191"/>
                    </a:cubicBezTo>
                    <a:cubicBezTo>
                      <a:pt x="128" y="189"/>
                      <a:pt x="131" y="190"/>
                      <a:pt x="133" y="190"/>
                    </a:cubicBezTo>
                    <a:cubicBezTo>
                      <a:pt x="135" y="190"/>
                      <a:pt x="137" y="190"/>
                      <a:pt x="137" y="188"/>
                    </a:cubicBezTo>
                    <a:cubicBezTo>
                      <a:pt x="137" y="186"/>
                      <a:pt x="140" y="185"/>
                      <a:pt x="142" y="185"/>
                    </a:cubicBezTo>
                    <a:cubicBezTo>
                      <a:pt x="144" y="185"/>
                      <a:pt x="154" y="185"/>
                      <a:pt x="158" y="182"/>
                    </a:cubicBezTo>
                    <a:cubicBezTo>
                      <a:pt x="163" y="179"/>
                      <a:pt x="165" y="178"/>
                      <a:pt x="166" y="177"/>
                    </a:cubicBezTo>
                    <a:cubicBezTo>
                      <a:pt x="167" y="176"/>
                      <a:pt x="169" y="174"/>
                      <a:pt x="170" y="173"/>
                    </a:cubicBezTo>
                    <a:cubicBezTo>
                      <a:pt x="170" y="173"/>
                      <a:pt x="174" y="170"/>
                      <a:pt x="176" y="169"/>
                    </a:cubicBezTo>
                    <a:cubicBezTo>
                      <a:pt x="178" y="168"/>
                      <a:pt x="185" y="161"/>
                      <a:pt x="186" y="160"/>
                    </a:cubicBezTo>
                    <a:cubicBezTo>
                      <a:pt x="186" y="159"/>
                      <a:pt x="195" y="150"/>
                      <a:pt x="198" y="148"/>
                    </a:cubicBezTo>
                    <a:cubicBezTo>
                      <a:pt x="200" y="146"/>
                      <a:pt x="208" y="137"/>
                      <a:pt x="212" y="130"/>
                    </a:cubicBezTo>
                    <a:cubicBezTo>
                      <a:pt x="215" y="123"/>
                      <a:pt x="221" y="111"/>
                      <a:pt x="228" y="107"/>
                    </a:cubicBezTo>
                    <a:cubicBezTo>
                      <a:pt x="228" y="107"/>
                      <a:pt x="231" y="106"/>
                      <a:pt x="231" y="105"/>
                    </a:cubicBezTo>
                    <a:cubicBezTo>
                      <a:pt x="231" y="103"/>
                      <a:pt x="232" y="103"/>
                      <a:pt x="233" y="103"/>
                    </a:cubicBezTo>
                    <a:cubicBezTo>
                      <a:pt x="233" y="102"/>
                      <a:pt x="239" y="96"/>
                      <a:pt x="240" y="90"/>
                    </a:cubicBezTo>
                    <a:cubicBezTo>
                      <a:pt x="241" y="84"/>
                      <a:pt x="243" y="77"/>
                      <a:pt x="244" y="76"/>
                    </a:cubicBezTo>
                    <a:cubicBezTo>
                      <a:pt x="244" y="75"/>
                      <a:pt x="244" y="74"/>
                      <a:pt x="244" y="73"/>
                    </a:cubicBezTo>
                    <a:cubicBezTo>
                      <a:pt x="234" y="73"/>
                      <a:pt x="234" y="73"/>
                      <a:pt x="234" y="73"/>
                    </a:cubicBezTo>
                    <a:cubicBezTo>
                      <a:pt x="234" y="73"/>
                      <a:pt x="233" y="73"/>
                      <a:pt x="233" y="73"/>
                    </a:cubicBezTo>
                    <a:close/>
                    <a:moveTo>
                      <a:pt x="193" y="114"/>
                    </a:moveTo>
                    <a:cubicBezTo>
                      <a:pt x="192" y="114"/>
                      <a:pt x="191" y="116"/>
                      <a:pt x="191" y="116"/>
                    </a:cubicBezTo>
                    <a:cubicBezTo>
                      <a:pt x="191" y="116"/>
                      <a:pt x="191" y="116"/>
                      <a:pt x="191" y="116"/>
                    </a:cubicBezTo>
                    <a:cubicBezTo>
                      <a:pt x="191" y="117"/>
                      <a:pt x="190" y="117"/>
                      <a:pt x="190" y="117"/>
                    </a:cubicBezTo>
                    <a:cubicBezTo>
                      <a:pt x="190" y="118"/>
                      <a:pt x="189" y="120"/>
                      <a:pt x="189" y="120"/>
                    </a:cubicBezTo>
                    <a:cubicBezTo>
                      <a:pt x="189" y="120"/>
                      <a:pt x="188" y="120"/>
                      <a:pt x="188" y="121"/>
                    </a:cubicBezTo>
                    <a:cubicBezTo>
                      <a:pt x="188" y="121"/>
                      <a:pt x="189" y="122"/>
                      <a:pt x="189" y="122"/>
                    </a:cubicBezTo>
                    <a:cubicBezTo>
                      <a:pt x="189" y="122"/>
                      <a:pt x="189" y="123"/>
                      <a:pt x="188" y="123"/>
                    </a:cubicBezTo>
                    <a:cubicBezTo>
                      <a:pt x="188" y="123"/>
                      <a:pt x="187" y="124"/>
                      <a:pt x="186" y="124"/>
                    </a:cubicBezTo>
                    <a:cubicBezTo>
                      <a:pt x="186" y="124"/>
                      <a:pt x="177" y="127"/>
                      <a:pt x="177" y="127"/>
                    </a:cubicBezTo>
                    <a:cubicBezTo>
                      <a:pt x="177" y="127"/>
                      <a:pt x="177" y="127"/>
                      <a:pt x="176" y="128"/>
                    </a:cubicBezTo>
                    <a:cubicBezTo>
                      <a:pt x="176" y="128"/>
                      <a:pt x="173" y="134"/>
                      <a:pt x="173" y="134"/>
                    </a:cubicBezTo>
                    <a:cubicBezTo>
                      <a:pt x="173" y="134"/>
                      <a:pt x="173" y="135"/>
                      <a:pt x="172" y="135"/>
                    </a:cubicBezTo>
                    <a:cubicBezTo>
                      <a:pt x="171" y="135"/>
                      <a:pt x="171" y="135"/>
                      <a:pt x="170" y="134"/>
                    </a:cubicBezTo>
                    <a:cubicBezTo>
                      <a:pt x="170" y="134"/>
                      <a:pt x="164" y="130"/>
                      <a:pt x="163" y="130"/>
                    </a:cubicBezTo>
                    <a:cubicBezTo>
                      <a:pt x="162" y="129"/>
                      <a:pt x="162" y="129"/>
                      <a:pt x="162" y="128"/>
                    </a:cubicBezTo>
                    <a:cubicBezTo>
                      <a:pt x="161" y="127"/>
                      <a:pt x="159" y="123"/>
                      <a:pt x="159" y="122"/>
                    </a:cubicBezTo>
                    <a:cubicBezTo>
                      <a:pt x="158" y="122"/>
                      <a:pt x="157" y="119"/>
                      <a:pt x="157" y="118"/>
                    </a:cubicBezTo>
                    <a:cubicBezTo>
                      <a:pt x="158" y="117"/>
                      <a:pt x="159" y="117"/>
                      <a:pt x="160" y="117"/>
                    </a:cubicBezTo>
                    <a:cubicBezTo>
                      <a:pt x="160" y="117"/>
                      <a:pt x="161" y="116"/>
                      <a:pt x="161" y="116"/>
                    </a:cubicBezTo>
                    <a:cubicBezTo>
                      <a:pt x="162" y="115"/>
                      <a:pt x="164" y="113"/>
                      <a:pt x="164" y="112"/>
                    </a:cubicBezTo>
                    <a:cubicBezTo>
                      <a:pt x="165" y="112"/>
                      <a:pt x="167" y="109"/>
                      <a:pt x="167" y="108"/>
                    </a:cubicBezTo>
                    <a:cubicBezTo>
                      <a:pt x="167" y="108"/>
                      <a:pt x="167" y="107"/>
                      <a:pt x="168" y="107"/>
                    </a:cubicBezTo>
                    <a:cubicBezTo>
                      <a:pt x="168" y="107"/>
                      <a:pt x="174" y="104"/>
                      <a:pt x="174" y="104"/>
                    </a:cubicBezTo>
                    <a:cubicBezTo>
                      <a:pt x="175" y="103"/>
                      <a:pt x="175" y="103"/>
                      <a:pt x="176" y="103"/>
                    </a:cubicBezTo>
                    <a:cubicBezTo>
                      <a:pt x="177" y="102"/>
                      <a:pt x="179" y="101"/>
                      <a:pt x="179" y="101"/>
                    </a:cubicBezTo>
                    <a:cubicBezTo>
                      <a:pt x="180" y="101"/>
                      <a:pt x="181" y="101"/>
                      <a:pt x="181" y="101"/>
                    </a:cubicBezTo>
                    <a:cubicBezTo>
                      <a:pt x="182" y="102"/>
                      <a:pt x="183" y="104"/>
                      <a:pt x="183" y="104"/>
                    </a:cubicBezTo>
                    <a:cubicBezTo>
                      <a:pt x="183" y="104"/>
                      <a:pt x="184" y="104"/>
                      <a:pt x="184" y="104"/>
                    </a:cubicBezTo>
                    <a:cubicBezTo>
                      <a:pt x="184" y="104"/>
                      <a:pt x="185" y="104"/>
                      <a:pt x="185" y="105"/>
                    </a:cubicBezTo>
                    <a:cubicBezTo>
                      <a:pt x="186" y="105"/>
                      <a:pt x="190" y="109"/>
                      <a:pt x="191" y="109"/>
                    </a:cubicBezTo>
                    <a:cubicBezTo>
                      <a:pt x="191" y="109"/>
                      <a:pt x="191" y="110"/>
                      <a:pt x="192" y="110"/>
                    </a:cubicBezTo>
                    <a:cubicBezTo>
                      <a:pt x="192" y="110"/>
                      <a:pt x="193" y="113"/>
                      <a:pt x="193" y="113"/>
                    </a:cubicBezTo>
                    <a:cubicBezTo>
                      <a:pt x="193" y="113"/>
                      <a:pt x="193" y="114"/>
                      <a:pt x="193" y="11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81" name="Freeform 993">
                <a:extLst>
                  <a:ext uri="{FF2B5EF4-FFF2-40B4-BE49-F238E27FC236}">
                    <a16:creationId xmlns:a16="http://schemas.microsoft.com/office/drawing/2014/main" id="{8F09684F-CF99-492E-AB24-7DA34B347520}"/>
                  </a:ext>
                </a:extLst>
              </p:cNvPr>
              <p:cNvSpPr>
                <a:spLocks/>
              </p:cNvSpPr>
              <p:nvPr/>
            </p:nvSpPr>
            <p:spPr bwMode="auto">
              <a:xfrm>
                <a:off x="3675" y="2605"/>
                <a:ext cx="15" cy="11"/>
              </a:xfrm>
              <a:custGeom>
                <a:avLst/>
                <a:gdLst>
                  <a:gd name="T0" fmla="*/ 8 w 11"/>
                  <a:gd name="T1" fmla="*/ 0 h 8"/>
                  <a:gd name="T2" fmla="*/ 4 w 11"/>
                  <a:gd name="T3" fmla="*/ 2 h 8"/>
                  <a:gd name="T4" fmla="*/ 3 w 11"/>
                  <a:gd name="T5" fmla="*/ 4 h 8"/>
                  <a:gd name="T6" fmla="*/ 1 w 11"/>
                  <a:gd name="T7" fmla="*/ 6 h 8"/>
                  <a:gd name="T8" fmla="*/ 2 w 11"/>
                  <a:gd name="T9" fmla="*/ 8 h 8"/>
                  <a:gd name="T10" fmla="*/ 6 w 11"/>
                  <a:gd name="T11" fmla="*/ 7 h 8"/>
                  <a:gd name="T12" fmla="*/ 8 w 11"/>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8" y="0"/>
                    </a:moveTo>
                    <a:cubicBezTo>
                      <a:pt x="6" y="1"/>
                      <a:pt x="4" y="1"/>
                      <a:pt x="4" y="2"/>
                    </a:cubicBezTo>
                    <a:cubicBezTo>
                      <a:pt x="3" y="4"/>
                      <a:pt x="4" y="5"/>
                      <a:pt x="3" y="4"/>
                    </a:cubicBezTo>
                    <a:cubicBezTo>
                      <a:pt x="2" y="4"/>
                      <a:pt x="1" y="3"/>
                      <a:pt x="1" y="6"/>
                    </a:cubicBezTo>
                    <a:cubicBezTo>
                      <a:pt x="1" y="6"/>
                      <a:pt x="0" y="7"/>
                      <a:pt x="2" y="8"/>
                    </a:cubicBezTo>
                    <a:cubicBezTo>
                      <a:pt x="3" y="8"/>
                      <a:pt x="5" y="8"/>
                      <a:pt x="6" y="7"/>
                    </a:cubicBezTo>
                    <a:cubicBezTo>
                      <a:pt x="7" y="6"/>
                      <a:pt x="11" y="0"/>
                      <a:pt x="8"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82" name="Freeform 994">
                <a:extLst>
                  <a:ext uri="{FF2B5EF4-FFF2-40B4-BE49-F238E27FC236}">
                    <a16:creationId xmlns:a16="http://schemas.microsoft.com/office/drawing/2014/main" id="{458227FF-EA0C-44C7-A26A-3EDADDD1E1C4}"/>
                  </a:ext>
                </a:extLst>
              </p:cNvPr>
              <p:cNvSpPr>
                <a:spLocks/>
              </p:cNvSpPr>
              <p:nvPr/>
            </p:nvSpPr>
            <p:spPr bwMode="auto">
              <a:xfrm>
                <a:off x="3636" y="2674"/>
                <a:ext cx="7" cy="8"/>
              </a:xfrm>
              <a:custGeom>
                <a:avLst/>
                <a:gdLst>
                  <a:gd name="T0" fmla="*/ 0 w 5"/>
                  <a:gd name="T1" fmla="*/ 3 h 6"/>
                  <a:gd name="T2" fmla="*/ 2 w 5"/>
                  <a:gd name="T3" fmla="*/ 5 h 6"/>
                  <a:gd name="T4" fmla="*/ 4 w 5"/>
                  <a:gd name="T5" fmla="*/ 1 h 6"/>
                  <a:gd name="T6" fmla="*/ 0 w 5"/>
                  <a:gd name="T7" fmla="*/ 3 h 6"/>
                </a:gdLst>
                <a:ahLst/>
                <a:cxnLst>
                  <a:cxn ang="0">
                    <a:pos x="T0" y="T1"/>
                  </a:cxn>
                  <a:cxn ang="0">
                    <a:pos x="T2" y="T3"/>
                  </a:cxn>
                  <a:cxn ang="0">
                    <a:pos x="T4" y="T5"/>
                  </a:cxn>
                  <a:cxn ang="0">
                    <a:pos x="T6" y="T7"/>
                  </a:cxn>
                </a:cxnLst>
                <a:rect l="0" t="0" r="r" b="b"/>
                <a:pathLst>
                  <a:path w="5" h="6">
                    <a:moveTo>
                      <a:pt x="0" y="3"/>
                    </a:moveTo>
                    <a:cubicBezTo>
                      <a:pt x="0" y="3"/>
                      <a:pt x="0" y="6"/>
                      <a:pt x="2" y="5"/>
                    </a:cubicBezTo>
                    <a:cubicBezTo>
                      <a:pt x="4" y="3"/>
                      <a:pt x="5" y="2"/>
                      <a:pt x="4" y="1"/>
                    </a:cubicBezTo>
                    <a:cubicBezTo>
                      <a:pt x="3" y="0"/>
                      <a:pt x="0" y="0"/>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83" name="Freeform 995">
                <a:extLst>
                  <a:ext uri="{FF2B5EF4-FFF2-40B4-BE49-F238E27FC236}">
                    <a16:creationId xmlns:a16="http://schemas.microsoft.com/office/drawing/2014/main" id="{43986117-07C5-4E25-8CD8-BA28D33EB555}"/>
                  </a:ext>
                </a:extLst>
              </p:cNvPr>
              <p:cNvSpPr>
                <a:spLocks/>
              </p:cNvSpPr>
              <p:nvPr/>
            </p:nvSpPr>
            <p:spPr bwMode="auto">
              <a:xfrm>
                <a:off x="3696" y="2634"/>
                <a:ext cx="40" cy="27"/>
              </a:xfrm>
              <a:custGeom>
                <a:avLst/>
                <a:gdLst>
                  <a:gd name="T0" fmla="*/ 11 w 29"/>
                  <a:gd name="T1" fmla="*/ 3 h 20"/>
                  <a:gd name="T2" fmla="*/ 7 w 29"/>
                  <a:gd name="T3" fmla="*/ 0 h 20"/>
                  <a:gd name="T4" fmla="*/ 6 w 29"/>
                  <a:gd name="T5" fmla="*/ 2 h 20"/>
                  <a:gd name="T6" fmla="*/ 5 w 29"/>
                  <a:gd name="T7" fmla="*/ 8 h 20"/>
                  <a:gd name="T8" fmla="*/ 4 w 29"/>
                  <a:gd name="T9" fmla="*/ 11 h 20"/>
                  <a:gd name="T10" fmla="*/ 2 w 29"/>
                  <a:gd name="T11" fmla="*/ 13 h 20"/>
                  <a:gd name="T12" fmla="*/ 0 w 29"/>
                  <a:gd name="T13" fmla="*/ 18 h 20"/>
                  <a:gd name="T14" fmla="*/ 2 w 29"/>
                  <a:gd name="T15" fmla="*/ 18 h 20"/>
                  <a:gd name="T16" fmla="*/ 3 w 29"/>
                  <a:gd name="T17" fmla="*/ 19 h 20"/>
                  <a:gd name="T18" fmla="*/ 4 w 29"/>
                  <a:gd name="T19" fmla="*/ 19 h 20"/>
                  <a:gd name="T20" fmla="*/ 5 w 29"/>
                  <a:gd name="T21" fmla="*/ 20 h 20"/>
                  <a:gd name="T22" fmla="*/ 23 w 29"/>
                  <a:gd name="T23" fmla="*/ 20 h 20"/>
                  <a:gd name="T24" fmla="*/ 26 w 29"/>
                  <a:gd name="T25" fmla="*/ 20 h 20"/>
                  <a:gd name="T26" fmla="*/ 29 w 29"/>
                  <a:gd name="T27" fmla="*/ 19 h 20"/>
                  <a:gd name="T28" fmla="*/ 29 w 29"/>
                  <a:gd name="T29" fmla="*/ 3 h 20"/>
                  <a:gd name="T30" fmla="*/ 29 w 29"/>
                  <a:gd name="T31" fmla="*/ 3 h 20"/>
                  <a:gd name="T32" fmla="*/ 12 w 29"/>
                  <a:gd name="T33" fmla="*/ 3 h 20"/>
                  <a:gd name="T34" fmla="*/ 11 w 29"/>
                  <a:gd name="T35"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 h="20">
                    <a:moveTo>
                      <a:pt x="11" y="3"/>
                    </a:moveTo>
                    <a:cubicBezTo>
                      <a:pt x="7" y="0"/>
                      <a:pt x="7" y="0"/>
                      <a:pt x="7" y="0"/>
                    </a:cubicBezTo>
                    <a:cubicBezTo>
                      <a:pt x="6" y="1"/>
                      <a:pt x="6" y="2"/>
                      <a:pt x="6" y="2"/>
                    </a:cubicBezTo>
                    <a:cubicBezTo>
                      <a:pt x="6" y="4"/>
                      <a:pt x="6" y="6"/>
                      <a:pt x="5" y="8"/>
                    </a:cubicBezTo>
                    <a:cubicBezTo>
                      <a:pt x="4" y="10"/>
                      <a:pt x="3" y="10"/>
                      <a:pt x="4" y="11"/>
                    </a:cubicBezTo>
                    <a:cubicBezTo>
                      <a:pt x="4" y="11"/>
                      <a:pt x="3" y="12"/>
                      <a:pt x="2" y="13"/>
                    </a:cubicBezTo>
                    <a:cubicBezTo>
                      <a:pt x="1" y="15"/>
                      <a:pt x="0" y="17"/>
                      <a:pt x="0" y="18"/>
                    </a:cubicBezTo>
                    <a:cubicBezTo>
                      <a:pt x="1" y="19"/>
                      <a:pt x="1" y="18"/>
                      <a:pt x="2" y="18"/>
                    </a:cubicBezTo>
                    <a:cubicBezTo>
                      <a:pt x="2" y="18"/>
                      <a:pt x="3" y="18"/>
                      <a:pt x="3" y="19"/>
                    </a:cubicBezTo>
                    <a:cubicBezTo>
                      <a:pt x="3" y="19"/>
                      <a:pt x="3" y="20"/>
                      <a:pt x="4" y="19"/>
                    </a:cubicBezTo>
                    <a:cubicBezTo>
                      <a:pt x="5" y="19"/>
                      <a:pt x="5" y="20"/>
                      <a:pt x="5" y="20"/>
                    </a:cubicBezTo>
                    <a:cubicBezTo>
                      <a:pt x="23" y="20"/>
                      <a:pt x="23" y="20"/>
                      <a:pt x="23" y="20"/>
                    </a:cubicBezTo>
                    <a:cubicBezTo>
                      <a:pt x="23" y="20"/>
                      <a:pt x="25" y="20"/>
                      <a:pt x="26" y="20"/>
                    </a:cubicBezTo>
                    <a:cubicBezTo>
                      <a:pt x="27" y="20"/>
                      <a:pt x="29" y="20"/>
                      <a:pt x="29" y="19"/>
                    </a:cubicBezTo>
                    <a:cubicBezTo>
                      <a:pt x="29" y="17"/>
                      <a:pt x="29" y="3"/>
                      <a:pt x="29" y="3"/>
                    </a:cubicBezTo>
                    <a:cubicBezTo>
                      <a:pt x="29" y="3"/>
                      <a:pt x="29" y="3"/>
                      <a:pt x="29" y="3"/>
                    </a:cubicBezTo>
                    <a:cubicBezTo>
                      <a:pt x="24" y="3"/>
                      <a:pt x="12" y="3"/>
                      <a:pt x="12" y="3"/>
                    </a:cubicBezTo>
                    <a:cubicBezTo>
                      <a:pt x="11" y="3"/>
                      <a:pt x="11" y="3"/>
                      <a:pt x="1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84" name="Freeform 996">
                <a:extLst>
                  <a:ext uri="{FF2B5EF4-FFF2-40B4-BE49-F238E27FC236}">
                    <a16:creationId xmlns:a16="http://schemas.microsoft.com/office/drawing/2014/main" id="{A91C7DC4-7D27-4993-85BA-5778EF83C219}"/>
                  </a:ext>
                </a:extLst>
              </p:cNvPr>
              <p:cNvSpPr>
                <a:spLocks/>
              </p:cNvSpPr>
              <p:nvPr/>
            </p:nvSpPr>
            <p:spPr bwMode="auto">
              <a:xfrm>
                <a:off x="3238" y="2526"/>
                <a:ext cx="8" cy="6"/>
              </a:xfrm>
              <a:custGeom>
                <a:avLst/>
                <a:gdLst>
                  <a:gd name="T0" fmla="*/ 3 w 6"/>
                  <a:gd name="T1" fmla="*/ 0 h 5"/>
                  <a:gd name="T2" fmla="*/ 2 w 6"/>
                  <a:gd name="T3" fmla="*/ 1 h 5"/>
                  <a:gd name="T4" fmla="*/ 5 w 6"/>
                  <a:gd name="T5" fmla="*/ 4 h 5"/>
                  <a:gd name="T6" fmla="*/ 6 w 6"/>
                  <a:gd name="T7" fmla="*/ 2 h 5"/>
                  <a:gd name="T8" fmla="*/ 3 w 6"/>
                  <a:gd name="T9" fmla="*/ 0 h 5"/>
                </a:gdLst>
                <a:ahLst/>
                <a:cxnLst>
                  <a:cxn ang="0">
                    <a:pos x="T0" y="T1"/>
                  </a:cxn>
                  <a:cxn ang="0">
                    <a:pos x="T2" y="T3"/>
                  </a:cxn>
                  <a:cxn ang="0">
                    <a:pos x="T4" y="T5"/>
                  </a:cxn>
                  <a:cxn ang="0">
                    <a:pos x="T6" y="T7"/>
                  </a:cxn>
                  <a:cxn ang="0">
                    <a:pos x="T8" y="T9"/>
                  </a:cxn>
                </a:cxnLst>
                <a:rect l="0" t="0" r="r" b="b"/>
                <a:pathLst>
                  <a:path w="6" h="5">
                    <a:moveTo>
                      <a:pt x="3" y="0"/>
                    </a:moveTo>
                    <a:cubicBezTo>
                      <a:pt x="0" y="0"/>
                      <a:pt x="2" y="1"/>
                      <a:pt x="2" y="1"/>
                    </a:cubicBezTo>
                    <a:cubicBezTo>
                      <a:pt x="2" y="1"/>
                      <a:pt x="4" y="3"/>
                      <a:pt x="5" y="4"/>
                    </a:cubicBezTo>
                    <a:cubicBezTo>
                      <a:pt x="6" y="5"/>
                      <a:pt x="6" y="3"/>
                      <a:pt x="6" y="2"/>
                    </a:cubicBezTo>
                    <a:cubicBezTo>
                      <a:pt x="6" y="1"/>
                      <a:pt x="6" y="0"/>
                      <a:pt x="3"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85" name="Freeform 997">
                <a:extLst>
                  <a:ext uri="{FF2B5EF4-FFF2-40B4-BE49-F238E27FC236}">
                    <a16:creationId xmlns:a16="http://schemas.microsoft.com/office/drawing/2014/main" id="{999C6766-11CE-4B0E-AD8C-C2C57BD76D2D}"/>
                  </a:ext>
                </a:extLst>
              </p:cNvPr>
              <p:cNvSpPr>
                <a:spLocks/>
              </p:cNvSpPr>
              <p:nvPr/>
            </p:nvSpPr>
            <p:spPr bwMode="auto">
              <a:xfrm>
                <a:off x="3229" y="2476"/>
                <a:ext cx="62" cy="65"/>
              </a:xfrm>
              <a:custGeom>
                <a:avLst/>
                <a:gdLst>
                  <a:gd name="T0" fmla="*/ 34 w 45"/>
                  <a:gd name="T1" fmla="*/ 40 h 47"/>
                  <a:gd name="T2" fmla="*/ 38 w 45"/>
                  <a:gd name="T3" fmla="*/ 36 h 47"/>
                  <a:gd name="T4" fmla="*/ 40 w 45"/>
                  <a:gd name="T5" fmla="*/ 32 h 47"/>
                  <a:gd name="T6" fmla="*/ 43 w 45"/>
                  <a:gd name="T7" fmla="*/ 28 h 47"/>
                  <a:gd name="T8" fmla="*/ 45 w 45"/>
                  <a:gd name="T9" fmla="*/ 26 h 47"/>
                  <a:gd name="T10" fmla="*/ 45 w 45"/>
                  <a:gd name="T11" fmla="*/ 24 h 47"/>
                  <a:gd name="T12" fmla="*/ 43 w 45"/>
                  <a:gd name="T13" fmla="*/ 25 h 47"/>
                  <a:gd name="T14" fmla="*/ 40 w 45"/>
                  <a:gd name="T15" fmla="*/ 26 h 47"/>
                  <a:gd name="T16" fmla="*/ 39 w 45"/>
                  <a:gd name="T17" fmla="*/ 27 h 47"/>
                  <a:gd name="T18" fmla="*/ 40 w 45"/>
                  <a:gd name="T19" fmla="*/ 24 h 47"/>
                  <a:gd name="T20" fmla="*/ 41 w 45"/>
                  <a:gd name="T21" fmla="*/ 22 h 47"/>
                  <a:gd name="T22" fmla="*/ 42 w 45"/>
                  <a:gd name="T23" fmla="*/ 20 h 47"/>
                  <a:gd name="T24" fmla="*/ 41 w 45"/>
                  <a:gd name="T25" fmla="*/ 16 h 47"/>
                  <a:gd name="T26" fmla="*/ 40 w 45"/>
                  <a:gd name="T27" fmla="*/ 15 h 47"/>
                  <a:gd name="T28" fmla="*/ 38 w 45"/>
                  <a:gd name="T29" fmla="*/ 13 h 47"/>
                  <a:gd name="T30" fmla="*/ 33 w 45"/>
                  <a:gd name="T31" fmla="*/ 3 h 47"/>
                  <a:gd name="T32" fmla="*/ 27 w 45"/>
                  <a:gd name="T33" fmla="*/ 1 h 47"/>
                  <a:gd name="T34" fmla="*/ 18 w 45"/>
                  <a:gd name="T35" fmla="*/ 3 h 47"/>
                  <a:gd name="T36" fmla="*/ 14 w 45"/>
                  <a:gd name="T37" fmla="*/ 3 h 47"/>
                  <a:gd name="T38" fmla="*/ 11 w 45"/>
                  <a:gd name="T39" fmla="*/ 5 h 47"/>
                  <a:gd name="T40" fmla="*/ 10 w 45"/>
                  <a:gd name="T41" fmla="*/ 7 h 47"/>
                  <a:gd name="T42" fmla="*/ 4 w 45"/>
                  <a:gd name="T43" fmla="*/ 14 h 47"/>
                  <a:gd name="T44" fmla="*/ 1 w 45"/>
                  <a:gd name="T45" fmla="*/ 15 h 47"/>
                  <a:gd name="T46" fmla="*/ 1 w 45"/>
                  <a:gd name="T47" fmla="*/ 16 h 47"/>
                  <a:gd name="T48" fmla="*/ 4 w 45"/>
                  <a:gd name="T49" fmla="*/ 18 h 47"/>
                  <a:gd name="T50" fmla="*/ 3 w 45"/>
                  <a:gd name="T51" fmla="*/ 22 h 47"/>
                  <a:gd name="T52" fmla="*/ 6 w 45"/>
                  <a:gd name="T53" fmla="*/ 22 h 47"/>
                  <a:gd name="T54" fmla="*/ 6 w 45"/>
                  <a:gd name="T55" fmla="*/ 23 h 47"/>
                  <a:gd name="T56" fmla="*/ 5 w 45"/>
                  <a:gd name="T57" fmla="*/ 24 h 47"/>
                  <a:gd name="T58" fmla="*/ 3 w 45"/>
                  <a:gd name="T59" fmla="*/ 25 h 47"/>
                  <a:gd name="T60" fmla="*/ 1 w 45"/>
                  <a:gd name="T61" fmla="*/ 25 h 47"/>
                  <a:gd name="T62" fmla="*/ 3 w 45"/>
                  <a:gd name="T63" fmla="*/ 28 h 47"/>
                  <a:gd name="T64" fmla="*/ 6 w 45"/>
                  <a:gd name="T65" fmla="*/ 29 h 47"/>
                  <a:gd name="T66" fmla="*/ 11 w 45"/>
                  <a:gd name="T67" fmla="*/ 35 h 47"/>
                  <a:gd name="T68" fmla="*/ 13 w 45"/>
                  <a:gd name="T69" fmla="*/ 36 h 47"/>
                  <a:gd name="T70" fmla="*/ 14 w 45"/>
                  <a:gd name="T71" fmla="*/ 38 h 47"/>
                  <a:gd name="T72" fmla="*/ 14 w 45"/>
                  <a:gd name="T73" fmla="*/ 38 h 47"/>
                  <a:gd name="T74" fmla="*/ 14 w 45"/>
                  <a:gd name="T75" fmla="*/ 39 h 47"/>
                  <a:gd name="T76" fmla="*/ 14 w 45"/>
                  <a:gd name="T77" fmla="*/ 40 h 47"/>
                  <a:gd name="T78" fmla="*/ 14 w 45"/>
                  <a:gd name="T79" fmla="*/ 41 h 47"/>
                  <a:gd name="T80" fmla="*/ 19 w 45"/>
                  <a:gd name="T81" fmla="*/ 43 h 47"/>
                  <a:gd name="T82" fmla="*/ 27 w 45"/>
                  <a:gd name="T83" fmla="*/ 47 h 47"/>
                  <a:gd name="T84" fmla="*/ 31 w 45"/>
                  <a:gd name="T85" fmla="*/ 42 h 47"/>
                  <a:gd name="T86" fmla="*/ 34 w 45"/>
                  <a:gd name="T87" fmla="*/ 4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5" h="47">
                    <a:moveTo>
                      <a:pt x="34" y="40"/>
                    </a:moveTo>
                    <a:cubicBezTo>
                      <a:pt x="35" y="39"/>
                      <a:pt x="38" y="37"/>
                      <a:pt x="38" y="36"/>
                    </a:cubicBezTo>
                    <a:cubicBezTo>
                      <a:pt x="39" y="36"/>
                      <a:pt x="40" y="34"/>
                      <a:pt x="40" y="32"/>
                    </a:cubicBezTo>
                    <a:cubicBezTo>
                      <a:pt x="41" y="31"/>
                      <a:pt x="41" y="29"/>
                      <a:pt x="43" y="28"/>
                    </a:cubicBezTo>
                    <a:cubicBezTo>
                      <a:pt x="45" y="28"/>
                      <a:pt x="45" y="27"/>
                      <a:pt x="45" y="26"/>
                    </a:cubicBezTo>
                    <a:cubicBezTo>
                      <a:pt x="45" y="26"/>
                      <a:pt x="45" y="25"/>
                      <a:pt x="45" y="24"/>
                    </a:cubicBezTo>
                    <a:cubicBezTo>
                      <a:pt x="43" y="24"/>
                      <a:pt x="43" y="24"/>
                      <a:pt x="43" y="25"/>
                    </a:cubicBezTo>
                    <a:cubicBezTo>
                      <a:pt x="42" y="26"/>
                      <a:pt x="42" y="26"/>
                      <a:pt x="40" y="26"/>
                    </a:cubicBezTo>
                    <a:cubicBezTo>
                      <a:pt x="39" y="26"/>
                      <a:pt x="39" y="27"/>
                      <a:pt x="39" y="27"/>
                    </a:cubicBezTo>
                    <a:cubicBezTo>
                      <a:pt x="39" y="26"/>
                      <a:pt x="39" y="25"/>
                      <a:pt x="40" y="24"/>
                    </a:cubicBezTo>
                    <a:cubicBezTo>
                      <a:pt x="40" y="24"/>
                      <a:pt x="41" y="22"/>
                      <a:pt x="41" y="22"/>
                    </a:cubicBezTo>
                    <a:cubicBezTo>
                      <a:pt x="42" y="22"/>
                      <a:pt x="42" y="21"/>
                      <a:pt x="42" y="20"/>
                    </a:cubicBezTo>
                    <a:cubicBezTo>
                      <a:pt x="42" y="20"/>
                      <a:pt x="41" y="16"/>
                      <a:pt x="41" y="16"/>
                    </a:cubicBezTo>
                    <a:cubicBezTo>
                      <a:pt x="40" y="15"/>
                      <a:pt x="41" y="15"/>
                      <a:pt x="40" y="15"/>
                    </a:cubicBezTo>
                    <a:cubicBezTo>
                      <a:pt x="38" y="15"/>
                      <a:pt x="38" y="13"/>
                      <a:pt x="38" y="13"/>
                    </a:cubicBezTo>
                    <a:cubicBezTo>
                      <a:pt x="38" y="13"/>
                      <a:pt x="33" y="5"/>
                      <a:pt x="33" y="3"/>
                    </a:cubicBezTo>
                    <a:cubicBezTo>
                      <a:pt x="32" y="0"/>
                      <a:pt x="28" y="1"/>
                      <a:pt x="27" y="1"/>
                    </a:cubicBezTo>
                    <a:cubicBezTo>
                      <a:pt x="26" y="1"/>
                      <a:pt x="19" y="2"/>
                      <a:pt x="18" y="3"/>
                    </a:cubicBezTo>
                    <a:cubicBezTo>
                      <a:pt x="17" y="3"/>
                      <a:pt x="16" y="3"/>
                      <a:pt x="14" y="3"/>
                    </a:cubicBezTo>
                    <a:cubicBezTo>
                      <a:pt x="12" y="3"/>
                      <a:pt x="12" y="4"/>
                      <a:pt x="11" y="5"/>
                    </a:cubicBezTo>
                    <a:cubicBezTo>
                      <a:pt x="11" y="5"/>
                      <a:pt x="11" y="6"/>
                      <a:pt x="10" y="7"/>
                    </a:cubicBezTo>
                    <a:cubicBezTo>
                      <a:pt x="10" y="8"/>
                      <a:pt x="6" y="13"/>
                      <a:pt x="4" y="14"/>
                    </a:cubicBezTo>
                    <a:cubicBezTo>
                      <a:pt x="4" y="15"/>
                      <a:pt x="2" y="15"/>
                      <a:pt x="1" y="15"/>
                    </a:cubicBezTo>
                    <a:cubicBezTo>
                      <a:pt x="1" y="16"/>
                      <a:pt x="1" y="16"/>
                      <a:pt x="1" y="16"/>
                    </a:cubicBezTo>
                    <a:cubicBezTo>
                      <a:pt x="2" y="17"/>
                      <a:pt x="5" y="18"/>
                      <a:pt x="4" y="18"/>
                    </a:cubicBezTo>
                    <a:cubicBezTo>
                      <a:pt x="2" y="19"/>
                      <a:pt x="1" y="21"/>
                      <a:pt x="3" y="22"/>
                    </a:cubicBezTo>
                    <a:cubicBezTo>
                      <a:pt x="4" y="23"/>
                      <a:pt x="6" y="22"/>
                      <a:pt x="6" y="22"/>
                    </a:cubicBezTo>
                    <a:cubicBezTo>
                      <a:pt x="7" y="21"/>
                      <a:pt x="7" y="23"/>
                      <a:pt x="6" y="23"/>
                    </a:cubicBezTo>
                    <a:cubicBezTo>
                      <a:pt x="5" y="23"/>
                      <a:pt x="5" y="23"/>
                      <a:pt x="5" y="24"/>
                    </a:cubicBezTo>
                    <a:cubicBezTo>
                      <a:pt x="4" y="25"/>
                      <a:pt x="4" y="26"/>
                      <a:pt x="3" y="25"/>
                    </a:cubicBezTo>
                    <a:cubicBezTo>
                      <a:pt x="2" y="24"/>
                      <a:pt x="0" y="23"/>
                      <a:pt x="1" y="25"/>
                    </a:cubicBezTo>
                    <a:cubicBezTo>
                      <a:pt x="2" y="26"/>
                      <a:pt x="2" y="29"/>
                      <a:pt x="3" y="28"/>
                    </a:cubicBezTo>
                    <a:cubicBezTo>
                      <a:pt x="4" y="27"/>
                      <a:pt x="5" y="28"/>
                      <a:pt x="6" y="29"/>
                    </a:cubicBezTo>
                    <a:cubicBezTo>
                      <a:pt x="6" y="30"/>
                      <a:pt x="7" y="37"/>
                      <a:pt x="11" y="35"/>
                    </a:cubicBezTo>
                    <a:cubicBezTo>
                      <a:pt x="11" y="35"/>
                      <a:pt x="13" y="34"/>
                      <a:pt x="13" y="36"/>
                    </a:cubicBezTo>
                    <a:cubicBezTo>
                      <a:pt x="13" y="37"/>
                      <a:pt x="13" y="38"/>
                      <a:pt x="14" y="38"/>
                    </a:cubicBezTo>
                    <a:cubicBezTo>
                      <a:pt x="15" y="38"/>
                      <a:pt x="17" y="37"/>
                      <a:pt x="14" y="38"/>
                    </a:cubicBezTo>
                    <a:cubicBezTo>
                      <a:pt x="14" y="38"/>
                      <a:pt x="13" y="38"/>
                      <a:pt x="14" y="39"/>
                    </a:cubicBezTo>
                    <a:cubicBezTo>
                      <a:pt x="14" y="40"/>
                      <a:pt x="14" y="40"/>
                      <a:pt x="14" y="40"/>
                    </a:cubicBezTo>
                    <a:cubicBezTo>
                      <a:pt x="13" y="40"/>
                      <a:pt x="12" y="40"/>
                      <a:pt x="14" y="41"/>
                    </a:cubicBezTo>
                    <a:cubicBezTo>
                      <a:pt x="15" y="41"/>
                      <a:pt x="18" y="42"/>
                      <a:pt x="19" y="43"/>
                    </a:cubicBezTo>
                    <a:cubicBezTo>
                      <a:pt x="20" y="43"/>
                      <a:pt x="24" y="45"/>
                      <a:pt x="27" y="47"/>
                    </a:cubicBezTo>
                    <a:cubicBezTo>
                      <a:pt x="28" y="45"/>
                      <a:pt x="31" y="42"/>
                      <a:pt x="31" y="42"/>
                    </a:cubicBezTo>
                    <a:cubicBezTo>
                      <a:pt x="32" y="41"/>
                      <a:pt x="33" y="40"/>
                      <a:pt x="34" y="4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86" name="Freeform 998">
                <a:extLst>
                  <a:ext uri="{FF2B5EF4-FFF2-40B4-BE49-F238E27FC236}">
                    <a16:creationId xmlns:a16="http://schemas.microsoft.com/office/drawing/2014/main" id="{46BD5866-04B9-40B0-AFA4-C456C21C79A4}"/>
                  </a:ext>
                </a:extLst>
              </p:cNvPr>
              <p:cNvSpPr>
                <a:spLocks/>
              </p:cNvSpPr>
              <p:nvPr/>
            </p:nvSpPr>
            <p:spPr bwMode="auto">
              <a:xfrm>
                <a:off x="3195" y="2457"/>
                <a:ext cx="2" cy="5"/>
              </a:xfrm>
              <a:custGeom>
                <a:avLst/>
                <a:gdLst>
                  <a:gd name="T0" fmla="*/ 0 w 2"/>
                  <a:gd name="T1" fmla="*/ 1 h 4"/>
                  <a:gd name="T2" fmla="*/ 1 w 2"/>
                  <a:gd name="T3" fmla="*/ 1 h 4"/>
                  <a:gd name="T4" fmla="*/ 0 w 2"/>
                  <a:gd name="T5" fmla="*/ 1 h 4"/>
                </a:gdLst>
                <a:ahLst/>
                <a:cxnLst>
                  <a:cxn ang="0">
                    <a:pos x="T0" y="T1"/>
                  </a:cxn>
                  <a:cxn ang="0">
                    <a:pos x="T2" y="T3"/>
                  </a:cxn>
                  <a:cxn ang="0">
                    <a:pos x="T4" y="T5"/>
                  </a:cxn>
                </a:cxnLst>
                <a:rect l="0" t="0" r="r" b="b"/>
                <a:pathLst>
                  <a:path w="2" h="4">
                    <a:moveTo>
                      <a:pt x="0" y="1"/>
                    </a:moveTo>
                    <a:cubicBezTo>
                      <a:pt x="0" y="4"/>
                      <a:pt x="1" y="3"/>
                      <a:pt x="1" y="1"/>
                    </a:cubicBezTo>
                    <a:cubicBezTo>
                      <a:pt x="2" y="0"/>
                      <a:pt x="0" y="1"/>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87" name="Freeform 999">
                <a:extLst>
                  <a:ext uri="{FF2B5EF4-FFF2-40B4-BE49-F238E27FC236}">
                    <a16:creationId xmlns:a16="http://schemas.microsoft.com/office/drawing/2014/main" id="{4ACDCD76-212A-4C20-9E4A-F00B7E38C0EA}"/>
                  </a:ext>
                </a:extLst>
              </p:cNvPr>
              <p:cNvSpPr>
                <a:spLocks/>
              </p:cNvSpPr>
              <p:nvPr/>
            </p:nvSpPr>
            <p:spPr bwMode="auto">
              <a:xfrm>
                <a:off x="3195" y="2423"/>
                <a:ext cx="150" cy="112"/>
              </a:xfrm>
              <a:custGeom>
                <a:avLst/>
                <a:gdLst>
                  <a:gd name="T0" fmla="*/ 76 w 109"/>
                  <a:gd name="T1" fmla="*/ 62 h 82"/>
                  <a:gd name="T2" fmla="*/ 83 w 109"/>
                  <a:gd name="T3" fmla="*/ 69 h 82"/>
                  <a:gd name="T4" fmla="*/ 82 w 109"/>
                  <a:gd name="T5" fmla="*/ 79 h 82"/>
                  <a:gd name="T6" fmla="*/ 88 w 109"/>
                  <a:gd name="T7" fmla="*/ 82 h 82"/>
                  <a:gd name="T8" fmla="*/ 96 w 109"/>
                  <a:gd name="T9" fmla="*/ 75 h 82"/>
                  <a:gd name="T10" fmla="*/ 101 w 109"/>
                  <a:gd name="T11" fmla="*/ 76 h 82"/>
                  <a:gd name="T12" fmla="*/ 103 w 109"/>
                  <a:gd name="T13" fmla="*/ 69 h 82"/>
                  <a:gd name="T14" fmla="*/ 103 w 109"/>
                  <a:gd name="T15" fmla="*/ 68 h 82"/>
                  <a:gd name="T16" fmla="*/ 102 w 109"/>
                  <a:gd name="T17" fmla="*/ 62 h 82"/>
                  <a:gd name="T18" fmla="*/ 107 w 109"/>
                  <a:gd name="T19" fmla="*/ 64 h 82"/>
                  <a:gd name="T20" fmla="*/ 107 w 109"/>
                  <a:gd name="T21" fmla="*/ 59 h 82"/>
                  <a:gd name="T22" fmla="*/ 105 w 109"/>
                  <a:gd name="T23" fmla="*/ 57 h 82"/>
                  <a:gd name="T24" fmla="*/ 106 w 109"/>
                  <a:gd name="T25" fmla="*/ 49 h 82"/>
                  <a:gd name="T26" fmla="*/ 101 w 109"/>
                  <a:gd name="T27" fmla="*/ 45 h 82"/>
                  <a:gd name="T28" fmla="*/ 104 w 109"/>
                  <a:gd name="T29" fmla="*/ 38 h 82"/>
                  <a:gd name="T30" fmla="*/ 98 w 109"/>
                  <a:gd name="T31" fmla="*/ 24 h 82"/>
                  <a:gd name="T32" fmla="*/ 94 w 109"/>
                  <a:gd name="T33" fmla="*/ 25 h 82"/>
                  <a:gd name="T34" fmla="*/ 98 w 109"/>
                  <a:gd name="T35" fmla="*/ 19 h 82"/>
                  <a:gd name="T36" fmla="*/ 92 w 109"/>
                  <a:gd name="T37" fmla="*/ 13 h 82"/>
                  <a:gd name="T38" fmla="*/ 87 w 109"/>
                  <a:gd name="T39" fmla="*/ 3 h 82"/>
                  <a:gd name="T40" fmla="*/ 84 w 109"/>
                  <a:gd name="T41" fmla="*/ 5 h 82"/>
                  <a:gd name="T42" fmla="*/ 79 w 109"/>
                  <a:gd name="T43" fmla="*/ 9 h 82"/>
                  <a:gd name="T44" fmla="*/ 72 w 109"/>
                  <a:gd name="T45" fmla="*/ 8 h 82"/>
                  <a:gd name="T46" fmla="*/ 64 w 109"/>
                  <a:gd name="T47" fmla="*/ 11 h 82"/>
                  <a:gd name="T48" fmla="*/ 56 w 109"/>
                  <a:gd name="T49" fmla="*/ 10 h 82"/>
                  <a:gd name="T50" fmla="*/ 52 w 109"/>
                  <a:gd name="T51" fmla="*/ 7 h 82"/>
                  <a:gd name="T52" fmla="*/ 37 w 109"/>
                  <a:gd name="T53" fmla="*/ 4 h 82"/>
                  <a:gd name="T54" fmla="*/ 23 w 109"/>
                  <a:gd name="T55" fmla="*/ 0 h 82"/>
                  <a:gd name="T56" fmla="*/ 19 w 109"/>
                  <a:gd name="T57" fmla="*/ 6 h 82"/>
                  <a:gd name="T58" fmla="*/ 18 w 109"/>
                  <a:gd name="T59" fmla="*/ 10 h 82"/>
                  <a:gd name="T60" fmla="*/ 17 w 109"/>
                  <a:gd name="T61" fmla="*/ 15 h 82"/>
                  <a:gd name="T62" fmla="*/ 6 w 109"/>
                  <a:gd name="T63" fmla="*/ 17 h 82"/>
                  <a:gd name="T64" fmla="*/ 1 w 109"/>
                  <a:gd name="T65" fmla="*/ 25 h 82"/>
                  <a:gd name="T66" fmla="*/ 5 w 109"/>
                  <a:gd name="T67" fmla="*/ 30 h 82"/>
                  <a:gd name="T68" fmla="*/ 6 w 109"/>
                  <a:gd name="T69" fmla="*/ 32 h 82"/>
                  <a:gd name="T70" fmla="*/ 11 w 109"/>
                  <a:gd name="T71" fmla="*/ 38 h 82"/>
                  <a:gd name="T72" fmla="*/ 18 w 109"/>
                  <a:gd name="T73" fmla="*/ 42 h 82"/>
                  <a:gd name="T74" fmla="*/ 20 w 109"/>
                  <a:gd name="T75" fmla="*/ 45 h 82"/>
                  <a:gd name="T76" fmla="*/ 25 w 109"/>
                  <a:gd name="T77" fmla="*/ 52 h 82"/>
                  <a:gd name="T78" fmla="*/ 29 w 109"/>
                  <a:gd name="T79" fmla="*/ 53 h 82"/>
                  <a:gd name="T80" fmla="*/ 39 w 109"/>
                  <a:gd name="T81" fmla="*/ 42 h 82"/>
                  <a:gd name="T82" fmla="*/ 58 w 109"/>
                  <a:gd name="T83" fmla="*/ 42 h 82"/>
                  <a:gd name="T84" fmla="*/ 66 w 109"/>
                  <a:gd name="T85" fmla="*/ 55 h 82"/>
                  <a:gd name="T86" fmla="*/ 65 w 109"/>
                  <a:gd name="T87" fmla="*/ 63 h 82"/>
                  <a:gd name="T88" fmla="*/ 68 w 109"/>
                  <a:gd name="T89" fmla="*/ 6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82">
                    <a:moveTo>
                      <a:pt x="70" y="63"/>
                    </a:moveTo>
                    <a:cubicBezTo>
                      <a:pt x="70" y="63"/>
                      <a:pt x="70" y="63"/>
                      <a:pt x="70" y="63"/>
                    </a:cubicBezTo>
                    <a:cubicBezTo>
                      <a:pt x="72" y="63"/>
                      <a:pt x="76" y="62"/>
                      <a:pt x="76" y="62"/>
                    </a:cubicBezTo>
                    <a:cubicBezTo>
                      <a:pt x="77" y="62"/>
                      <a:pt x="78" y="62"/>
                      <a:pt x="78" y="62"/>
                    </a:cubicBezTo>
                    <a:cubicBezTo>
                      <a:pt x="79" y="63"/>
                      <a:pt x="80" y="63"/>
                      <a:pt x="80" y="64"/>
                    </a:cubicBezTo>
                    <a:cubicBezTo>
                      <a:pt x="81" y="64"/>
                      <a:pt x="82" y="66"/>
                      <a:pt x="83" y="69"/>
                    </a:cubicBezTo>
                    <a:cubicBezTo>
                      <a:pt x="83" y="71"/>
                      <a:pt x="84" y="73"/>
                      <a:pt x="84" y="73"/>
                    </a:cubicBezTo>
                    <a:cubicBezTo>
                      <a:pt x="84" y="73"/>
                      <a:pt x="84" y="74"/>
                      <a:pt x="84" y="74"/>
                    </a:cubicBezTo>
                    <a:cubicBezTo>
                      <a:pt x="83" y="75"/>
                      <a:pt x="82" y="79"/>
                      <a:pt x="82" y="79"/>
                    </a:cubicBezTo>
                    <a:cubicBezTo>
                      <a:pt x="82" y="79"/>
                      <a:pt x="81" y="80"/>
                      <a:pt x="83" y="79"/>
                    </a:cubicBezTo>
                    <a:cubicBezTo>
                      <a:pt x="84" y="79"/>
                      <a:pt x="86" y="78"/>
                      <a:pt x="87" y="81"/>
                    </a:cubicBezTo>
                    <a:cubicBezTo>
                      <a:pt x="87" y="81"/>
                      <a:pt x="87" y="82"/>
                      <a:pt x="88" y="82"/>
                    </a:cubicBezTo>
                    <a:cubicBezTo>
                      <a:pt x="89" y="81"/>
                      <a:pt x="91" y="81"/>
                      <a:pt x="92" y="79"/>
                    </a:cubicBezTo>
                    <a:cubicBezTo>
                      <a:pt x="93" y="76"/>
                      <a:pt x="93" y="77"/>
                      <a:pt x="95" y="75"/>
                    </a:cubicBezTo>
                    <a:cubicBezTo>
                      <a:pt x="95" y="75"/>
                      <a:pt x="95" y="75"/>
                      <a:pt x="96" y="75"/>
                    </a:cubicBezTo>
                    <a:cubicBezTo>
                      <a:pt x="96" y="75"/>
                      <a:pt x="96" y="76"/>
                      <a:pt x="97" y="76"/>
                    </a:cubicBezTo>
                    <a:cubicBezTo>
                      <a:pt x="99" y="77"/>
                      <a:pt x="99" y="77"/>
                      <a:pt x="99" y="77"/>
                    </a:cubicBezTo>
                    <a:cubicBezTo>
                      <a:pt x="99" y="77"/>
                      <a:pt x="100" y="77"/>
                      <a:pt x="101" y="76"/>
                    </a:cubicBezTo>
                    <a:cubicBezTo>
                      <a:pt x="101" y="75"/>
                      <a:pt x="103" y="73"/>
                      <a:pt x="103" y="73"/>
                    </a:cubicBezTo>
                    <a:cubicBezTo>
                      <a:pt x="103" y="72"/>
                      <a:pt x="103" y="70"/>
                      <a:pt x="103" y="70"/>
                    </a:cubicBezTo>
                    <a:cubicBezTo>
                      <a:pt x="103" y="70"/>
                      <a:pt x="103" y="69"/>
                      <a:pt x="103" y="69"/>
                    </a:cubicBezTo>
                    <a:cubicBezTo>
                      <a:pt x="104" y="70"/>
                      <a:pt x="104" y="70"/>
                      <a:pt x="104" y="70"/>
                    </a:cubicBezTo>
                    <a:cubicBezTo>
                      <a:pt x="104" y="70"/>
                      <a:pt x="105" y="70"/>
                      <a:pt x="104" y="69"/>
                    </a:cubicBezTo>
                    <a:cubicBezTo>
                      <a:pt x="104" y="68"/>
                      <a:pt x="103" y="68"/>
                      <a:pt x="103" y="68"/>
                    </a:cubicBezTo>
                    <a:cubicBezTo>
                      <a:pt x="103" y="68"/>
                      <a:pt x="103" y="67"/>
                      <a:pt x="103" y="67"/>
                    </a:cubicBezTo>
                    <a:cubicBezTo>
                      <a:pt x="103" y="68"/>
                      <a:pt x="101" y="67"/>
                      <a:pt x="100" y="65"/>
                    </a:cubicBezTo>
                    <a:cubicBezTo>
                      <a:pt x="100" y="64"/>
                      <a:pt x="101" y="63"/>
                      <a:pt x="102" y="62"/>
                    </a:cubicBezTo>
                    <a:cubicBezTo>
                      <a:pt x="104" y="62"/>
                      <a:pt x="105" y="63"/>
                      <a:pt x="105" y="63"/>
                    </a:cubicBezTo>
                    <a:cubicBezTo>
                      <a:pt x="106" y="63"/>
                      <a:pt x="106" y="63"/>
                      <a:pt x="106" y="63"/>
                    </a:cubicBezTo>
                    <a:cubicBezTo>
                      <a:pt x="107" y="63"/>
                      <a:pt x="107" y="63"/>
                      <a:pt x="107" y="64"/>
                    </a:cubicBezTo>
                    <a:cubicBezTo>
                      <a:pt x="107" y="64"/>
                      <a:pt x="107" y="64"/>
                      <a:pt x="108" y="64"/>
                    </a:cubicBezTo>
                    <a:cubicBezTo>
                      <a:pt x="108" y="64"/>
                      <a:pt x="109" y="65"/>
                      <a:pt x="109" y="64"/>
                    </a:cubicBezTo>
                    <a:cubicBezTo>
                      <a:pt x="109" y="64"/>
                      <a:pt x="108" y="60"/>
                      <a:pt x="107" y="59"/>
                    </a:cubicBezTo>
                    <a:cubicBezTo>
                      <a:pt x="106" y="59"/>
                      <a:pt x="106" y="59"/>
                      <a:pt x="106" y="58"/>
                    </a:cubicBezTo>
                    <a:cubicBezTo>
                      <a:pt x="105" y="58"/>
                      <a:pt x="105" y="58"/>
                      <a:pt x="105" y="58"/>
                    </a:cubicBezTo>
                    <a:cubicBezTo>
                      <a:pt x="105" y="58"/>
                      <a:pt x="104" y="58"/>
                      <a:pt x="105" y="57"/>
                    </a:cubicBezTo>
                    <a:cubicBezTo>
                      <a:pt x="105" y="57"/>
                      <a:pt x="107" y="55"/>
                      <a:pt x="107" y="54"/>
                    </a:cubicBezTo>
                    <a:cubicBezTo>
                      <a:pt x="108" y="54"/>
                      <a:pt x="108" y="54"/>
                      <a:pt x="107" y="53"/>
                    </a:cubicBezTo>
                    <a:cubicBezTo>
                      <a:pt x="107" y="52"/>
                      <a:pt x="106" y="50"/>
                      <a:pt x="106" y="49"/>
                    </a:cubicBezTo>
                    <a:cubicBezTo>
                      <a:pt x="106" y="49"/>
                      <a:pt x="106" y="49"/>
                      <a:pt x="106" y="49"/>
                    </a:cubicBezTo>
                    <a:cubicBezTo>
                      <a:pt x="105" y="49"/>
                      <a:pt x="103" y="50"/>
                      <a:pt x="102" y="48"/>
                    </a:cubicBezTo>
                    <a:cubicBezTo>
                      <a:pt x="101" y="46"/>
                      <a:pt x="101" y="45"/>
                      <a:pt x="101" y="45"/>
                    </a:cubicBezTo>
                    <a:cubicBezTo>
                      <a:pt x="101" y="44"/>
                      <a:pt x="102" y="40"/>
                      <a:pt x="102" y="40"/>
                    </a:cubicBezTo>
                    <a:cubicBezTo>
                      <a:pt x="102" y="40"/>
                      <a:pt x="102" y="40"/>
                      <a:pt x="102" y="39"/>
                    </a:cubicBezTo>
                    <a:cubicBezTo>
                      <a:pt x="103" y="39"/>
                      <a:pt x="103" y="38"/>
                      <a:pt x="104" y="38"/>
                    </a:cubicBezTo>
                    <a:cubicBezTo>
                      <a:pt x="103" y="36"/>
                      <a:pt x="101" y="34"/>
                      <a:pt x="100" y="33"/>
                    </a:cubicBezTo>
                    <a:cubicBezTo>
                      <a:pt x="99" y="31"/>
                      <a:pt x="100" y="28"/>
                      <a:pt x="100" y="26"/>
                    </a:cubicBezTo>
                    <a:cubicBezTo>
                      <a:pt x="100" y="25"/>
                      <a:pt x="98" y="24"/>
                      <a:pt x="98" y="24"/>
                    </a:cubicBezTo>
                    <a:cubicBezTo>
                      <a:pt x="97" y="24"/>
                      <a:pt x="97" y="25"/>
                      <a:pt x="96" y="25"/>
                    </a:cubicBezTo>
                    <a:cubicBezTo>
                      <a:pt x="96" y="26"/>
                      <a:pt x="95" y="26"/>
                      <a:pt x="94" y="26"/>
                    </a:cubicBezTo>
                    <a:cubicBezTo>
                      <a:pt x="94" y="26"/>
                      <a:pt x="93" y="26"/>
                      <a:pt x="94" y="25"/>
                    </a:cubicBezTo>
                    <a:cubicBezTo>
                      <a:pt x="95" y="23"/>
                      <a:pt x="97" y="21"/>
                      <a:pt x="97" y="21"/>
                    </a:cubicBezTo>
                    <a:cubicBezTo>
                      <a:pt x="97" y="21"/>
                      <a:pt x="98" y="21"/>
                      <a:pt x="98" y="21"/>
                    </a:cubicBezTo>
                    <a:cubicBezTo>
                      <a:pt x="99" y="21"/>
                      <a:pt x="98" y="20"/>
                      <a:pt x="98" y="19"/>
                    </a:cubicBezTo>
                    <a:cubicBezTo>
                      <a:pt x="97" y="19"/>
                      <a:pt x="95" y="17"/>
                      <a:pt x="94" y="16"/>
                    </a:cubicBezTo>
                    <a:cubicBezTo>
                      <a:pt x="94" y="15"/>
                      <a:pt x="94" y="15"/>
                      <a:pt x="93" y="15"/>
                    </a:cubicBezTo>
                    <a:cubicBezTo>
                      <a:pt x="91" y="15"/>
                      <a:pt x="92" y="14"/>
                      <a:pt x="92" y="13"/>
                    </a:cubicBezTo>
                    <a:cubicBezTo>
                      <a:pt x="92" y="13"/>
                      <a:pt x="92" y="11"/>
                      <a:pt x="92" y="10"/>
                    </a:cubicBezTo>
                    <a:cubicBezTo>
                      <a:pt x="92" y="9"/>
                      <a:pt x="88" y="4"/>
                      <a:pt x="88" y="4"/>
                    </a:cubicBezTo>
                    <a:cubicBezTo>
                      <a:pt x="88" y="4"/>
                      <a:pt x="87" y="3"/>
                      <a:pt x="87" y="3"/>
                    </a:cubicBezTo>
                    <a:cubicBezTo>
                      <a:pt x="87" y="3"/>
                      <a:pt x="85" y="2"/>
                      <a:pt x="85" y="2"/>
                    </a:cubicBezTo>
                    <a:cubicBezTo>
                      <a:pt x="85" y="2"/>
                      <a:pt x="84" y="2"/>
                      <a:pt x="84" y="3"/>
                    </a:cubicBezTo>
                    <a:cubicBezTo>
                      <a:pt x="84" y="3"/>
                      <a:pt x="84" y="4"/>
                      <a:pt x="84" y="5"/>
                    </a:cubicBezTo>
                    <a:cubicBezTo>
                      <a:pt x="84" y="6"/>
                      <a:pt x="83" y="6"/>
                      <a:pt x="82" y="7"/>
                    </a:cubicBezTo>
                    <a:cubicBezTo>
                      <a:pt x="81" y="7"/>
                      <a:pt x="80" y="8"/>
                      <a:pt x="79" y="8"/>
                    </a:cubicBezTo>
                    <a:cubicBezTo>
                      <a:pt x="79" y="8"/>
                      <a:pt x="79" y="8"/>
                      <a:pt x="79" y="9"/>
                    </a:cubicBezTo>
                    <a:cubicBezTo>
                      <a:pt x="79" y="9"/>
                      <a:pt x="79" y="9"/>
                      <a:pt x="78" y="9"/>
                    </a:cubicBezTo>
                    <a:cubicBezTo>
                      <a:pt x="77" y="9"/>
                      <a:pt x="73" y="8"/>
                      <a:pt x="73" y="8"/>
                    </a:cubicBezTo>
                    <a:cubicBezTo>
                      <a:pt x="73" y="8"/>
                      <a:pt x="72" y="8"/>
                      <a:pt x="72" y="8"/>
                    </a:cubicBezTo>
                    <a:cubicBezTo>
                      <a:pt x="72" y="8"/>
                      <a:pt x="69" y="9"/>
                      <a:pt x="67" y="9"/>
                    </a:cubicBezTo>
                    <a:cubicBezTo>
                      <a:pt x="66" y="9"/>
                      <a:pt x="65" y="11"/>
                      <a:pt x="65" y="11"/>
                    </a:cubicBezTo>
                    <a:cubicBezTo>
                      <a:pt x="64" y="11"/>
                      <a:pt x="64" y="11"/>
                      <a:pt x="64" y="11"/>
                    </a:cubicBezTo>
                    <a:cubicBezTo>
                      <a:pt x="64" y="11"/>
                      <a:pt x="64" y="10"/>
                      <a:pt x="62" y="8"/>
                    </a:cubicBezTo>
                    <a:cubicBezTo>
                      <a:pt x="61" y="6"/>
                      <a:pt x="59" y="8"/>
                      <a:pt x="59" y="8"/>
                    </a:cubicBezTo>
                    <a:cubicBezTo>
                      <a:pt x="59" y="8"/>
                      <a:pt x="56" y="10"/>
                      <a:pt x="56" y="10"/>
                    </a:cubicBezTo>
                    <a:cubicBezTo>
                      <a:pt x="56" y="10"/>
                      <a:pt x="55" y="10"/>
                      <a:pt x="55" y="10"/>
                    </a:cubicBezTo>
                    <a:cubicBezTo>
                      <a:pt x="55" y="10"/>
                      <a:pt x="53" y="8"/>
                      <a:pt x="52" y="7"/>
                    </a:cubicBezTo>
                    <a:cubicBezTo>
                      <a:pt x="52" y="7"/>
                      <a:pt x="52" y="7"/>
                      <a:pt x="52" y="7"/>
                    </a:cubicBezTo>
                    <a:cubicBezTo>
                      <a:pt x="52" y="7"/>
                      <a:pt x="53" y="5"/>
                      <a:pt x="54" y="4"/>
                    </a:cubicBezTo>
                    <a:cubicBezTo>
                      <a:pt x="54" y="4"/>
                      <a:pt x="54" y="4"/>
                      <a:pt x="54" y="4"/>
                    </a:cubicBezTo>
                    <a:cubicBezTo>
                      <a:pt x="49" y="4"/>
                      <a:pt x="37" y="4"/>
                      <a:pt x="37" y="4"/>
                    </a:cubicBezTo>
                    <a:cubicBezTo>
                      <a:pt x="36" y="5"/>
                      <a:pt x="35" y="4"/>
                      <a:pt x="35" y="4"/>
                    </a:cubicBezTo>
                    <a:cubicBezTo>
                      <a:pt x="35" y="4"/>
                      <a:pt x="26" y="1"/>
                      <a:pt x="25" y="0"/>
                    </a:cubicBezTo>
                    <a:cubicBezTo>
                      <a:pt x="24" y="0"/>
                      <a:pt x="23" y="0"/>
                      <a:pt x="23" y="0"/>
                    </a:cubicBezTo>
                    <a:cubicBezTo>
                      <a:pt x="23" y="0"/>
                      <a:pt x="21" y="0"/>
                      <a:pt x="19" y="0"/>
                    </a:cubicBezTo>
                    <a:cubicBezTo>
                      <a:pt x="19" y="2"/>
                      <a:pt x="19" y="5"/>
                      <a:pt x="19" y="5"/>
                    </a:cubicBezTo>
                    <a:cubicBezTo>
                      <a:pt x="19" y="5"/>
                      <a:pt x="19" y="6"/>
                      <a:pt x="19" y="6"/>
                    </a:cubicBezTo>
                    <a:cubicBezTo>
                      <a:pt x="19" y="6"/>
                      <a:pt x="18" y="6"/>
                      <a:pt x="16" y="7"/>
                    </a:cubicBezTo>
                    <a:cubicBezTo>
                      <a:pt x="15" y="7"/>
                      <a:pt x="15" y="8"/>
                      <a:pt x="16" y="8"/>
                    </a:cubicBezTo>
                    <a:cubicBezTo>
                      <a:pt x="16" y="8"/>
                      <a:pt x="16" y="8"/>
                      <a:pt x="18" y="10"/>
                    </a:cubicBezTo>
                    <a:cubicBezTo>
                      <a:pt x="19" y="11"/>
                      <a:pt x="19" y="14"/>
                      <a:pt x="19" y="14"/>
                    </a:cubicBezTo>
                    <a:cubicBezTo>
                      <a:pt x="18" y="15"/>
                      <a:pt x="18" y="15"/>
                      <a:pt x="18" y="14"/>
                    </a:cubicBezTo>
                    <a:cubicBezTo>
                      <a:pt x="17" y="14"/>
                      <a:pt x="17" y="14"/>
                      <a:pt x="17" y="15"/>
                    </a:cubicBezTo>
                    <a:cubicBezTo>
                      <a:pt x="16" y="15"/>
                      <a:pt x="16" y="15"/>
                      <a:pt x="15" y="15"/>
                    </a:cubicBezTo>
                    <a:cubicBezTo>
                      <a:pt x="15" y="15"/>
                      <a:pt x="12" y="16"/>
                      <a:pt x="11" y="16"/>
                    </a:cubicBezTo>
                    <a:cubicBezTo>
                      <a:pt x="10" y="16"/>
                      <a:pt x="8" y="17"/>
                      <a:pt x="6" y="17"/>
                    </a:cubicBezTo>
                    <a:cubicBezTo>
                      <a:pt x="5" y="17"/>
                      <a:pt x="4" y="18"/>
                      <a:pt x="3" y="19"/>
                    </a:cubicBezTo>
                    <a:cubicBezTo>
                      <a:pt x="3" y="19"/>
                      <a:pt x="1" y="23"/>
                      <a:pt x="0" y="24"/>
                    </a:cubicBezTo>
                    <a:cubicBezTo>
                      <a:pt x="0" y="25"/>
                      <a:pt x="1" y="25"/>
                      <a:pt x="1" y="25"/>
                    </a:cubicBezTo>
                    <a:cubicBezTo>
                      <a:pt x="2" y="25"/>
                      <a:pt x="4" y="25"/>
                      <a:pt x="3" y="26"/>
                    </a:cubicBezTo>
                    <a:cubicBezTo>
                      <a:pt x="3" y="27"/>
                      <a:pt x="3" y="29"/>
                      <a:pt x="4" y="29"/>
                    </a:cubicBezTo>
                    <a:cubicBezTo>
                      <a:pt x="5" y="28"/>
                      <a:pt x="5" y="29"/>
                      <a:pt x="5" y="30"/>
                    </a:cubicBezTo>
                    <a:cubicBezTo>
                      <a:pt x="5" y="30"/>
                      <a:pt x="5" y="31"/>
                      <a:pt x="6" y="29"/>
                    </a:cubicBezTo>
                    <a:cubicBezTo>
                      <a:pt x="7" y="27"/>
                      <a:pt x="6" y="29"/>
                      <a:pt x="6" y="30"/>
                    </a:cubicBezTo>
                    <a:cubicBezTo>
                      <a:pt x="6" y="32"/>
                      <a:pt x="5" y="31"/>
                      <a:pt x="6" y="32"/>
                    </a:cubicBezTo>
                    <a:cubicBezTo>
                      <a:pt x="7" y="32"/>
                      <a:pt x="8" y="34"/>
                      <a:pt x="8" y="34"/>
                    </a:cubicBezTo>
                    <a:cubicBezTo>
                      <a:pt x="8" y="35"/>
                      <a:pt x="8" y="37"/>
                      <a:pt x="9" y="37"/>
                    </a:cubicBezTo>
                    <a:cubicBezTo>
                      <a:pt x="9" y="37"/>
                      <a:pt x="10" y="38"/>
                      <a:pt x="11" y="38"/>
                    </a:cubicBezTo>
                    <a:cubicBezTo>
                      <a:pt x="12" y="39"/>
                      <a:pt x="14" y="40"/>
                      <a:pt x="14" y="39"/>
                    </a:cubicBezTo>
                    <a:cubicBezTo>
                      <a:pt x="14" y="38"/>
                      <a:pt x="15" y="37"/>
                      <a:pt x="15" y="39"/>
                    </a:cubicBezTo>
                    <a:cubicBezTo>
                      <a:pt x="16" y="40"/>
                      <a:pt x="18" y="43"/>
                      <a:pt x="18" y="42"/>
                    </a:cubicBezTo>
                    <a:cubicBezTo>
                      <a:pt x="19" y="42"/>
                      <a:pt x="19" y="42"/>
                      <a:pt x="19" y="43"/>
                    </a:cubicBezTo>
                    <a:cubicBezTo>
                      <a:pt x="19" y="44"/>
                      <a:pt x="19" y="44"/>
                      <a:pt x="20" y="44"/>
                    </a:cubicBezTo>
                    <a:cubicBezTo>
                      <a:pt x="21" y="44"/>
                      <a:pt x="21" y="44"/>
                      <a:pt x="20" y="45"/>
                    </a:cubicBezTo>
                    <a:cubicBezTo>
                      <a:pt x="19" y="47"/>
                      <a:pt x="19" y="47"/>
                      <a:pt x="20" y="47"/>
                    </a:cubicBezTo>
                    <a:cubicBezTo>
                      <a:pt x="22" y="46"/>
                      <a:pt x="23" y="46"/>
                      <a:pt x="23" y="48"/>
                    </a:cubicBezTo>
                    <a:cubicBezTo>
                      <a:pt x="24" y="50"/>
                      <a:pt x="24" y="52"/>
                      <a:pt x="25" y="52"/>
                    </a:cubicBezTo>
                    <a:cubicBezTo>
                      <a:pt x="26" y="53"/>
                      <a:pt x="26" y="53"/>
                      <a:pt x="26" y="54"/>
                    </a:cubicBezTo>
                    <a:cubicBezTo>
                      <a:pt x="26" y="54"/>
                      <a:pt x="26" y="54"/>
                      <a:pt x="26" y="54"/>
                    </a:cubicBezTo>
                    <a:cubicBezTo>
                      <a:pt x="27" y="54"/>
                      <a:pt x="29" y="54"/>
                      <a:pt x="29" y="53"/>
                    </a:cubicBezTo>
                    <a:cubicBezTo>
                      <a:pt x="31" y="52"/>
                      <a:pt x="35" y="47"/>
                      <a:pt x="35" y="46"/>
                    </a:cubicBezTo>
                    <a:cubicBezTo>
                      <a:pt x="36" y="45"/>
                      <a:pt x="36" y="44"/>
                      <a:pt x="36" y="44"/>
                    </a:cubicBezTo>
                    <a:cubicBezTo>
                      <a:pt x="37" y="43"/>
                      <a:pt x="37" y="42"/>
                      <a:pt x="39" y="42"/>
                    </a:cubicBezTo>
                    <a:cubicBezTo>
                      <a:pt x="41" y="42"/>
                      <a:pt x="42" y="42"/>
                      <a:pt x="43" y="42"/>
                    </a:cubicBezTo>
                    <a:cubicBezTo>
                      <a:pt x="44" y="41"/>
                      <a:pt x="51" y="40"/>
                      <a:pt x="52" y="40"/>
                    </a:cubicBezTo>
                    <a:cubicBezTo>
                      <a:pt x="53" y="40"/>
                      <a:pt x="57" y="39"/>
                      <a:pt x="58" y="42"/>
                    </a:cubicBezTo>
                    <a:cubicBezTo>
                      <a:pt x="58" y="44"/>
                      <a:pt x="63" y="52"/>
                      <a:pt x="63" y="52"/>
                    </a:cubicBezTo>
                    <a:cubicBezTo>
                      <a:pt x="63" y="52"/>
                      <a:pt x="63" y="54"/>
                      <a:pt x="65" y="54"/>
                    </a:cubicBezTo>
                    <a:cubicBezTo>
                      <a:pt x="66" y="54"/>
                      <a:pt x="65" y="54"/>
                      <a:pt x="66" y="55"/>
                    </a:cubicBezTo>
                    <a:cubicBezTo>
                      <a:pt x="66" y="55"/>
                      <a:pt x="67" y="59"/>
                      <a:pt x="67" y="59"/>
                    </a:cubicBezTo>
                    <a:cubicBezTo>
                      <a:pt x="67" y="60"/>
                      <a:pt x="67" y="61"/>
                      <a:pt x="66" y="61"/>
                    </a:cubicBezTo>
                    <a:cubicBezTo>
                      <a:pt x="66" y="61"/>
                      <a:pt x="65" y="63"/>
                      <a:pt x="65" y="63"/>
                    </a:cubicBezTo>
                    <a:cubicBezTo>
                      <a:pt x="64" y="64"/>
                      <a:pt x="64" y="65"/>
                      <a:pt x="64" y="66"/>
                    </a:cubicBezTo>
                    <a:cubicBezTo>
                      <a:pt x="64" y="66"/>
                      <a:pt x="64" y="65"/>
                      <a:pt x="65" y="65"/>
                    </a:cubicBezTo>
                    <a:cubicBezTo>
                      <a:pt x="67" y="65"/>
                      <a:pt x="67" y="65"/>
                      <a:pt x="68" y="64"/>
                    </a:cubicBezTo>
                    <a:cubicBezTo>
                      <a:pt x="68" y="63"/>
                      <a:pt x="68" y="63"/>
                      <a:pt x="70" y="6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88" name="Freeform 1000">
                <a:extLst>
                  <a:ext uri="{FF2B5EF4-FFF2-40B4-BE49-F238E27FC236}">
                    <a16:creationId xmlns:a16="http://schemas.microsoft.com/office/drawing/2014/main" id="{0080EDB0-5446-4DA4-B935-C8F6F293D29C}"/>
                  </a:ext>
                </a:extLst>
              </p:cNvPr>
              <p:cNvSpPr>
                <a:spLocks/>
              </p:cNvSpPr>
              <p:nvPr/>
            </p:nvSpPr>
            <p:spPr bwMode="auto">
              <a:xfrm>
                <a:off x="3170" y="2438"/>
                <a:ext cx="4" cy="4"/>
              </a:xfrm>
              <a:custGeom>
                <a:avLst/>
                <a:gdLst>
                  <a:gd name="T0" fmla="*/ 2 w 3"/>
                  <a:gd name="T1" fmla="*/ 1 h 3"/>
                  <a:gd name="T2" fmla="*/ 1 w 3"/>
                  <a:gd name="T3" fmla="*/ 2 h 3"/>
                  <a:gd name="T4" fmla="*/ 3 w 3"/>
                  <a:gd name="T5" fmla="*/ 2 h 3"/>
                  <a:gd name="T6" fmla="*/ 2 w 3"/>
                  <a:gd name="T7" fmla="*/ 1 h 3"/>
                </a:gdLst>
                <a:ahLst/>
                <a:cxnLst>
                  <a:cxn ang="0">
                    <a:pos x="T0" y="T1"/>
                  </a:cxn>
                  <a:cxn ang="0">
                    <a:pos x="T2" y="T3"/>
                  </a:cxn>
                  <a:cxn ang="0">
                    <a:pos x="T4" y="T5"/>
                  </a:cxn>
                  <a:cxn ang="0">
                    <a:pos x="T6" y="T7"/>
                  </a:cxn>
                </a:cxnLst>
                <a:rect l="0" t="0" r="r" b="b"/>
                <a:pathLst>
                  <a:path w="3" h="3">
                    <a:moveTo>
                      <a:pt x="2" y="1"/>
                    </a:moveTo>
                    <a:cubicBezTo>
                      <a:pt x="0" y="0"/>
                      <a:pt x="1" y="2"/>
                      <a:pt x="1" y="2"/>
                    </a:cubicBezTo>
                    <a:cubicBezTo>
                      <a:pt x="1" y="3"/>
                      <a:pt x="2" y="2"/>
                      <a:pt x="3" y="2"/>
                    </a:cubicBezTo>
                    <a:cubicBezTo>
                      <a:pt x="3" y="1"/>
                      <a:pt x="3" y="1"/>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89" name="Freeform 1001">
                <a:extLst>
                  <a:ext uri="{FF2B5EF4-FFF2-40B4-BE49-F238E27FC236}">
                    <a16:creationId xmlns:a16="http://schemas.microsoft.com/office/drawing/2014/main" id="{6A04CC2B-BB4F-4131-BC26-959A693981D6}"/>
                  </a:ext>
                </a:extLst>
              </p:cNvPr>
              <p:cNvSpPr>
                <a:spLocks/>
              </p:cNvSpPr>
              <p:nvPr/>
            </p:nvSpPr>
            <p:spPr bwMode="auto">
              <a:xfrm>
                <a:off x="3166" y="2445"/>
                <a:ext cx="4" cy="2"/>
              </a:xfrm>
              <a:custGeom>
                <a:avLst/>
                <a:gdLst>
                  <a:gd name="T0" fmla="*/ 1 w 3"/>
                  <a:gd name="T1" fmla="*/ 0 h 2"/>
                  <a:gd name="T2" fmla="*/ 1 w 3"/>
                  <a:gd name="T3" fmla="*/ 2 h 2"/>
                  <a:gd name="T4" fmla="*/ 1 w 3"/>
                  <a:gd name="T5" fmla="*/ 0 h 2"/>
                </a:gdLst>
                <a:ahLst/>
                <a:cxnLst>
                  <a:cxn ang="0">
                    <a:pos x="T0" y="T1"/>
                  </a:cxn>
                  <a:cxn ang="0">
                    <a:pos x="T2" y="T3"/>
                  </a:cxn>
                  <a:cxn ang="0">
                    <a:pos x="T4" y="T5"/>
                  </a:cxn>
                </a:cxnLst>
                <a:rect l="0" t="0" r="r" b="b"/>
                <a:pathLst>
                  <a:path w="3" h="2">
                    <a:moveTo>
                      <a:pt x="1" y="0"/>
                    </a:moveTo>
                    <a:cubicBezTo>
                      <a:pt x="0" y="1"/>
                      <a:pt x="1" y="2"/>
                      <a:pt x="1" y="2"/>
                    </a:cubicBezTo>
                    <a:cubicBezTo>
                      <a:pt x="2" y="2"/>
                      <a:pt x="3"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0" name="Freeform 1002">
                <a:extLst>
                  <a:ext uri="{FF2B5EF4-FFF2-40B4-BE49-F238E27FC236}">
                    <a16:creationId xmlns:a16="http://schemas.microsoft.com/office/drawing/2014/main" id="{7E76CCAC-9A0A-4479-A11B-5526E29CDFF4}"/>
                  </a:ext>
                </a:extLst>
              </p:cNvPr>
              <p:cNvSpPr>
                <a:spLocks/>
              </p:cNvSpPr>
              <p:nvPr/>
            </p:nvSpPr>
            <p:spPr bwMode="auto">
              <a:xfrm>
                <a:off x="3168" y="2453"/>
                <a:ext cx="6" cy="5"/>
              </a:xfrm>
              <a:custGeom>
                <a:avLst/>
                <a:gdLst>
                  <a:gd name="T0" fmla="*/ 1 w 4"/>
                  <a:gd name="T1" fmla="*/ 2 h 4"/>
                  <a:gd name="T2" fmla="*/ 3 w 4"/>
                  <a:gd name="T3" fmla="*/ 2 h 4"/>
                  <a:gd name="T4" fmla="*/ 2 w 4"/>
                  <a:gd name="T5" fmla="*/ 0 h 4"/>
                  <a:gd name="T6" fmla="*/ 1 w 4"/>
                  <a:gd name="T7" fmla="*/ 2 h 4"/>
                </a:gdLst>
                <a:ahLst/>
                <a:cxnLst>
                  <a:cxn ang="0">
                    <a:pos x="T0" y="T1"/>
                  </a:cxn>
                  <a:cxn ang="0">
                    <a:pos x="T2" y="T3"/>
                  </a:cxn>
                  <a:cxn ang="0">
                    <a:pos x="T4" y="T5"/>
                  </a:cxn>
                  <a:cxn ang="0">
                    <a:pos x="T6" y="T7"/>
                  </a:cxn>
                </a:cxnLst>
                <a:rect l="0" t="0" r="r" b="b"/>
                <a:pathLst>
                  <a:path w="4" h="4">
                    <a:moveTo>
                      <a:pt x="1" y="2"/>
                    </a:moveTo>
                    <a:cubicBezTo>
                      <a:pt x="2" y="4"/>
                      <a:pt x="2" y="3"/>
                      <a:pt x="3" y="2"/>
                    </a:cubicBezTo>
                    <a:cubicBezTo>
                      <a:pt x="4" y="1"/>
                      <a:pt x="4" y="0"/>
                      <a:pt x="2" y="0"/>
                    </a:cubicBezTo>
                    <a:cubicBezTo>
                      <a:pt x="0" y="1"/>
                      <a:pt x="1"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1" name="Freeform 1003">
                <a:extLst>
                  <a:ext uri="{FF2B5EF4-FFF2-40B4-BE49-F238E27FC236}">
                    <a16:creationId xmlns:a16="http://schemas.microsoft.com/office/drawing/2014/main" id="{A4EE911C-22DF-483B-9475-6C95F16B7A83}"/>
                  </a:ext>
                </a:extLst>
              </p:cNvPr>
              <p:cNvSpPr>
                <a:spLocks/>
              </p:cNvSpPr>
              <p:nvPr/>
            </p:nvSpPr>
            <p:spPr bwMode="auto">
              <a:xfrm>
                <a:off x="3160" y="2423"/>
                <a:ext cx="61" cy="33"/>
              </a:xfrm>
              <a:custGeom>
                <a:avLst/>
                <a:gdLst>
                  <a:gd name="T0" fmla="*/ 31 w 44"/>
                  <a:gd name="T1" fmla="*/ 17 h 24"/>
                  <a:gd name="T2" fmla="*/ 36 w 44"/>
                  <a:gd name="T3" fmla="*/ 16 h 24"/>
                  <a:gd name="T4" fmla="*/ 40 w 44"/>
                  <a:gd name="T5" fmla="*/ 15 h 24"/>
                  <a:gd name="T6" fmla="*/ 42 w 44"/>
                  <a:gd name="T7" fmla="*/ 15 h 24"/>
                  <a:gd name="T8" fmla="*/ 43 w 44"/>
                  <a:gd name="T9" fmla="*/ 14 h 24"/>
                  <a:gd name="T10" fmla="*/ 44 w 44"/>
                  <a:gd name="T11" fmla="*/ 14 h 24"/>
                  <a:gd name="T12" fmla="*/ 43 w 44"/>
                  <a:gd name="T13" fmla="*/ 10 h 24"/>
                  <a:gd name="T14" fmla="*/ 41 w 44"/>
                  <a:gd name="T15" fmla="*/ 8 h 24"/>
                  <a:gd name="T16" fmla="*/ 41 w 44"/>
                  <a:gd name="T17" fmla="*/ 7 h 24"/>
                  <a:gd name="T18" fmla="*/ 44 w 44"/>
                  <a:gd name="T19" fmla="*/ 6 h 24"/>
                  <a:gd name="T20" fmla="*/ 44 w 44"/>
                  <a:gd name="T21" fmla="*/ 5 h 24"/>
                  <a:gd name="T22" fmla="*/ 44 w 44"/>
                  <a:gd name="T23" fmla="*/ 0 h 24"/>
                  <a:gd name="T24" fmla="*/ 28 w 44"/>
                  <a:gd name="T25" fmla="*/ 0 h 24"/>
                  <a:gd name="T26" fmla="*/ 26 w 44"/>
                  <a:gd name="T27" fmla="*/ 0 h 24"/>
                  <a:gd name="T28" fmla="*/ 13 w 44"/>
                  <a:gd name="T29" fmla="*/ 3 h 24"/>
                  <a:gd name="T30" fmla="*/ 10 w 44"/>
                  <a:gd name="T31" fmla="*/ 4 h 24"/>
                  <a:gd name="T32" fmla="*/ 0 w 44"/>
                  <a:gd name="T33" fmla="*/ 5 h 24"/>
                  <a:gd name="T34" fmla="*/ 0 w 44"/>
                  <a:gd name="T35" fmla="*/ 5 h 24"/>
                  <a:gd name="T36" fmla="*/ 5 w 44"/>
                  <a:gd name="T37" fmla="*/ 7 h 24"/>
                  <a:gd name="T38" fmla="*/ 7 w 44"/>
                  <a:gd name="T39" fmla="*/ 6 h 24"/>
                  <a:gd name="T40" fmla="*/ 6 w 44"/>
                  <a:gd name="T41" fmla="*/ 9 h 24"/>
                  <a:gd name="T42" fmla="*/ 10 w 44"/>
                  <a:gd name="T43" fmla="*/ 11 h 24"/>
                  <a:gd name="T44" fmla="*/ 13 w 44"/>
                  <a:gd name="T45" fmla="*/ 11 h 24"/>
                  <a:gd name="T46" fmla="*/ 12 w 44"/>
                  <a:gd name="T47" fmla="*/ 13 h 24"/>
                  <a:gd name="T48" fmla="*/ 16 w 44"/>
                  <a:gd name="T49" fmla="*/ 13 h 24"/>
                  <a:gd name="T50" fmla="*/ 19 w 44"/>
                  <a:gd name="T51" fmla="*/ 11 h 24"/>
                  <a:gd name="T52" fmla="*/ 26 w 44"/>
                  <a:gd name="T53" fmla="*/ 11 h 24"/>
                  <a:gd name="T54" fmla="*/ 25 w 44"/>
                  <a:gd name="T55" fmla="*/ 13 h 24"/>
                  <a:gd name="T56" fmla="*/ 20 w 44"/>
                  <a:gd name="T57" fmla="*/ 12 h 24"/>
                  <a:gd name="T58" fmla="*/ 19 w 44"/>
                  <a:gd name="T59" fmla="*/ 15 h 24"/>
                  <a:gd name="T60" fmla="*/ 20 w 44"/>
                  <a:gd name="T61" fmla="*/ 15 h 24"/>
                  <a:gd name="T62" fmla="*/ 25 w 44"/>
                  <a:gd name="T63" fmla="*/ 16 h 24"/>
                  <a:gd name="T64" fmla="*/ 24 w 44"/>
                  <a:gd name="T65" fmla="*/ 16 h 24"/>
                  <a:gd name="T66" fmla="*/ 21 w 44"/>
                  <a:gd name="T67" fmla="*/ 16 h 24"/>
                  <a:gd name="T68" fmla="*/ 18 w 44"/>
                  <a:gd name="T69" fmla="*/ 19 h 24"/>
                  <a:gd name="T70" fmla="*/ 20 w 44"/>
                  <a:gd name="T71" fmla="*/ 19 h 24"/>
                  <a:gd name="T72" fmla="*/ 20 w 44"/>
                  <a:gd name="T73" fmla="*/ 21 h 24"/>
                  <a:gd name="T74" fmla="*/ 22 w 44"/>
                  <a:gd name="T75" fmla="*/ 22 h 24"/>
                  <a:gd name="T76" fmla="*/ 24 w 44"/>
                  <a:gd name="T77" fmla="*/ 23 h 24"/>
                  <a:gd name="T78" fmla="*/ 25 w 44"/>
                  <a:gd name="T79" fmla="*/ 24 h 24"/>
                  <a:gd name="T80" fmla="*/ 25 w 44"/>
                  <a:gd name="T81" fmla="*/ 24 h 24"/>
                  <a:gd name="T82" fmla="*/ 28 w 44"/>
                  <a:gd name="T83" fmla="*/ 19 h 24"/>
                  <a:gd name="T84" fmla="*/ 31 w 44"/>
                  <a:gd name="T85" fmla="*/ 1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4" h="24">
                    <a:moveTo>
                      <a:pt x="31" y="17"/>
                    </a:moveTo>
                    <a:cubicBezTo>
                      <a:pt x="33" y="17"/>
                      <a:pt x="35" y="16"/>
                      <a:pt x="36" y="16"/>
                    </a:cubicBezTo>
                    <a:cubicBezTo>
                      <a:pt x="37" y="16"/>
                      <a:pt x="40" y="15"/>
                      <a:pt x="40" y="15"/>
                    </a:cubicBezTo>
                    <a:cubicBezTo>
                      <a:pt x="41" y="15"/>
                      <a:pt x="41" y="15"/>
                      <a:pt x="42" y="15"/>
                    </a:cubicBezTo>
                    <a:cubicBezTo>
                      <a:pt x="42" y="14"/>
                      <a:pt x="42" y="14"/>
                      <a:pt x="43" y="14"/>
                    </a:cubicBezTo>
                    <a:cubicBezTo>
                      <a:pt x="43" y="15"/>
                      <a:pt x="43" y="15"/>
                      <a:pt x="44" y="14"/>
                    </a:cubicBezTo>
                    <a:cubicBezTo>
                      <a:pt x="44" y="14"/>
                      <a:pt x="44" y="11"/>
                      <a:pt x="43" y="10"/>
                    </a:cubicBezTo>
                    <a:cubicBezTo>
                      <a:pt x="41" y="8"/>
                      <a:pt x="41" y="8"/>
                      <a:pt x="41" y="8"/>
                    </a:cubicBezTo>
                    <a:cubicBezTo>
                      <a:pt x="40" y="8"/>
                      <a:pt x="40" y="7"/>
                      <a:pt x="41" y="7"/>
                    </a:cubicBezTo>
                    <a:cubicBezTo>
                      <a:pt x="43" y="6"/>
                      <a:pt x="44" y="6"/>
                      <a:pt x="44" y="6"/>
                    </a:cubicBezTo>
                    <a:cubicBezTo>
                      <a:pt x="44" y="6"/>
                      <a:pt x="44" y="5"/>
                      <a:pt x="44" y="5"/>
                    </a:cubicBezTo>
                    <a:cubicBezTo>
                      <a:pt x="44" y="5"/>
                      <a:pt x="44" y="2"/>
                      <a:pt x="44" y="0"/>
                    </a:cubicBezTo>
                    <a:cubicBezTo>
                      <a:pt x="38" y="0"/>
                      <a:pt x="28" y="0"/>
                      <a:pt x="28" y="0"/>
                    </a:cubicBezTo>
                    <a:cubicBezTo>
                      <a:pt x="27" y="0"/>
                      <a:pt x="26" y="0"/>
                      <a:pt x="26" y="0"/>
                    </a:cubicBezTo>
                    <a:cubicBezTo>
                      <a:pt x="26" y="0"/>
                      <a:pt x="14" y="3"/>
                      <a:pt x="13" y="3"/>
                    </a:cubicBezTo>
                    <a:cubicBezTo>
                      <a:pt x="12" y="3"/>
                      <a:pt x="10" y="4"/>
                      <a:pt x="10" y="4"/>
                    </a:cubicBezTo>
                    <a:cubicBezTo>
                      <a:pt x="0" y="5"/>
                      <a:pt x="0" y="5"/>
                      <a:pt x="0" y="5"/>
                    </a:cubicBezTo>
                    <a:cubicBezTo>
                      <a:pt x="0" y="5"/>
                      <a:pt x="0" y="5"/>
                      <a:pt x="0" y="5"/>
                    </a:cubicBezTo>
                    <a:cubicBezTo>
                      <a:pt x="2" y="6"/>
                      <a:pt x="3" y="7"/>
                      <a:pt x="5" y="7"/>
                    </a:cubicBezTo>
                    <a:cubicBezTo>
                      <a:pt x="6" y="6"/>
                      <a:pt x="10" y="4"/>
                      <a:pt x="7" y="6"/>
                    </a:cubicBezTo>
                    <a:cubicBezTo>
                      <a:pt x="5" y="8"/>
                      <a:pt x="6" y="8"/>
                      <a:pt x="6" y="9"/>
                    </a:cubicBezTo>
                    <a:cubicBezTo>
                      <a:pt x="7" y="11"/>
                      <a:pt x="8" y="12"/>
                      <a:pt x="10" y="11"/>
                    </a:cubicBezTo>
                    <a:cubicBezTo>
                      <a:pt x="13" y="10"/>
                      <a:pt x="15" y="9"/>
                      <a:pt x="13" y="11"/>
                    </a:cubicBezTo>
                    <a:cubicBezTo>
                      <a:pt x="10" y="12"/>
                      <a:pt x="10" y="14"/>
                      <a:pt x="12" y="13"/>
                    </a:cubicBezTo>
                    <a:cubicBezTo>
                      <a:pt x="15" y="13"/>
                      <a:pt x="15" y="13"/>
                      <a:pt x="16" y="13"/>
                    </a:cubicBezTo>
                    <a:cubicBezTo>
                      <a:pt x="16" y="12"/>
                      <a:pt x="18" y="11"/>
                      <a:pt x="19" y="11"/>
                    </a:cubicBezTo>
                    <a:cubicBezTo>
                      <a:pt x="20" y="11"/>
                      <a:pt x="25" y="10"/>
                      <a:pt x="26" y="11"/>
                    </a:cubicBezTo>
                    <a:cubicBezTo>
                      <a:pt x="27" y="13"/>
                      <a:pt x="27" y="14"/>
                      <a:pt x="25" y="13"/>
                    </a:cubicBezTo>
                    <a:cubicBezTo>
                      <a:pt x="24" y="11"/>
                      <a:pt x="21" y="11"/>
                      <a:pt x="20" y="12"/>
                    </a:cubicBezTo>
                    <a:cubicBezTo>
                      <a:pt x="18" y="13"/>
                      <a:pt x="18" y="14"/>
                      <a:pt x="19" y="15"/>
                    </a:cubicBezTo>
                    <a:cubicBezTo>
                      <a:pt x="19" y="16"/>
                      <a:pt x="18" y="16"/>
                      <a:pt x="20" y="15"/>
                    </a:cubicBezTo>
                    <a:cubicBezTo>
                      <a:pt x="22" y="14"/>
                      <a:pt x="26" y="15"/>
                      <a:pt x="25" y="16"/>
                    </a:cubicBezTo>
                    <a:cubicBezTo>
                      <a:pt x="24" y="17"/>
                      <a:pt x="24" y="17"/>
                      <a:pt x="24" y="16"/>
                    </a:cubicBezTo>
                    <a:cubicBezTo>
                      <a:pt x="23" y="16"/>
                      <a:pt x="22" y="15"/>
                      <a:pt x="21" y="16"/>
                    </a:cubicBezTo>
                    <a:cubicBezTo>
                      <a:pt x="21" y="17"/>
                      <a:pt x="19" y="19"/>
                      <a:pt x="18" y="19"/>
                    </a:cubicBezTo>
                    <a:cubicBezTo>
                      <a:pt x="18" y="20"/>
                      <a:pt x="20" y="18"/>
                      <a:pt x="20" y="19"/>
                    </a:cubicBezTo>
                    <a:cubicBezTo>
                      <a:pt x="20" y="20"/>
                      <a:pt x="17" y="21"/>
                      <a:pt x="20" y="21"/>
                    </a:cubicBezTo>
                    <a:cubicBezTo>
                      <a:pt x="22" y="21"/>
                      <a:pt x="23" y="21"/>
                      <a:pt x="22" y="22"/>
                    </a:cubicBezTo>
                    <a:cubicBezTo>
                      <a:pt x="22" y="23"/>
                      <a:pt x="23" y="23"/>
                      <a:pt x="24" y="23"/>
                    </a:cubicBezTo>
                    <a:cubicBezTo>
                      <a:pt x="25" y="23"/>
                      <a:pt x="25" y="23"/>
                      <a:pt x="25" y="24"/>
                    </a:cubicBezTo>
                    <a:cubicBezTo>
                      <a:pt x="25" y="24"/>
                      <a:pt x="25" y="24"/>
                      <a:pt x="25" y="24"/>
                    </a:cubicBezTo>
                    <a:cubicBezTo>
                      <a:pt x="26" y="23"/>
                      <a:pt x="28" y="19"/>
                      <a:pt x="28" y="19"/>
                    </a:cubicBezTo>
                    <a:cubicBezTo>
                      <a:pt x="29" y="18"/>
                      <a:pt x="30" y="17"/>
                      <a:pt x="31" y="1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2" name="Freeform 1004">
                <a:extLst>
                  <a:ext uri="{FF2B5EF4-FFF2-40B4-BE49-F238E27FC236}">
                    <a16:creationId xmlns:a16="http://schemas.microsoft.com/office/drawing/2014/main" id="{53138C16-0E6C-4DB2-B5F5-4FAE042B0A42}"/>
                  </a:ext>
                </a:extLst>
              </p:cNvPr>
              <p:cNvSpPr>
                <a:spLocks/>
              </p:cNvSpPr>
              <p:nvPr/>
            </p:nvSpPr>
            <p:spPr bwMode="auto">
              <a:xfrm>
                <a:off x="3171" y="2421"/>
                <a:ext cx="10" cy="4"/>
              </a:xfrm>
              <a:custGeom>
                <a:avLst/>
                <a:gdLst>
                  <a:gd name="T0" fmla="*/ 5 w 7"/>
                  <a:gd name="T1" fmla="*/ 2 h 3"/>
                  <a:gd name="T2" fmla="*/ 3 w 7"/>
                  <a:gd name="T3" fmla="*/ 2 h 3"/>
                  <a:gd name="T4" fmla="*/ 1 w 7"/>
                  <a:gd name="T5" fmla="*/ 2 h 3"/>
                  <a:gd name="T6" fmla="*/ 3 w 7"/>
                  <a:gd name="T7" fmla="*/ 0 h 3"/>
                  <a:gd name="T8" fmla="*/ 5 w 7"/>
                  <a:gd name="T9" fmla="*/ 2 h 3"/>
                </a:gdLst>
                <a:ahLst/>
                <a:cxnLst>
                  <a:cxn ang="0">
                    <a:pos x="T0" y="T1"/>
                  </a:cxn>
                  <a:cxn ang="0">
                    <a:pos x="T2" y="T3"/>
                  </a:cxn>
                  <a:cxn ang="0">
                    <a:pos x="T4" y="T5"/>
                  </a:cxn>
                  <a:cxn ang="0">
                    <a:pos x="T6" y="T7"/>
                  </a:cxn>
                  <a:cxn ang="0">
                    <a:pos x="T8" y="T9"/>
                  </a:cxn>
                </a:cxnLst>
                <a:rect l="0" t="0" r="r" b="b"/>
                <a:pathLst>
                  <a:path w="7" h="3">
                    <a:moveTo>
                      <a:pt x="5" y="2"/>
                    </a:moveTo>
                    <a:cubicBezTo>
                      <a:pt x="3" y="2"/>
                      <a:pt x="3" y="2"/>
                      <a:pt x="3" y="2"/>
                    </a:cubicBezTo>
                    <a:cubicBezTo>
                      <a:pt x="3" y="2"/>
                      <a:pt x="0" y="3"/>
                      <a:pt x="1" y="2"/>
                    </a:cubicBezTo>
                    <a:cubicBezTo>
                      <a:pt x="2" y="1"/>
                      <a:pt x="2" y="0"/>
                      <a:pt x="3" y="0"/>
                    </a:cubicBezTo>
                    <a:cubicBezTo>
                      <a:pt x="4" y="1"/>
                      <a:pt x="7" y="2"/>
                      <a:pt x="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3" name="Freeform 1005">
                <a:extLst>
                  <a:ext uri="{FF2B5EF4-FFF2-40B4-BE49-F238E27FC236}">
                    <a16:creationId xmlns:a16="http://schemas.microsoft.com/office/drawing/2014/main" id="{C881AE9B-1A34-4046-8263-6B0F207489D0}"/>
                  </a:ext>
                </a:extLst>
              </p:cNvPr>
              <p:cNvSpPr>
                <a:spLocks/>
              </p:cNvSpPr>
              <p:nvPr/>
            </p:nvSpPr>
            <p:spPr bwMode="auto">
              <a:xfrm>
                <a:off x="3142" y="2339"/>
                <a:ext cx="127" cy="91"/>
              </a:xfrm>
              <a:custGeom>
                <a:avLst/>
                <a:gdLst>
                  <a:gd name="T0" fmla="*/ 61 w 92"/>
                  <a:gd name="T1" fmla="*/ 61 h 66"/>
                  <a:gd name="T2" fmla="*/ 73 w 92"/>
                  <a:gd name="T3" fmla="*/ 65 h 66"/>
                  <a:gd name="T4" fmla="*/ 92 w 92"/>
                  <a:gd name="T5" fmla="*/ 65 h 66"/>
                  <a:gd name="T6" fmla="*/ 88 w 92"/>
                  <a:gd name="T7" fmla="*/ 51 h 66"/>
                  <a:gd name="T8" fmla="*/ 86 w 92"/>
                  <a:gd name="T9" fmla="*/ 50 h 66"/>
                  <a:gd name="T10" fmla="*/ 82 w 92"/>
                  <a:gd name="T11" fmla="*/ 45 h 66"/>
                  <a:gd name="T12" fmla="*/ 80 w 92"/>
                  <a:gd name="T13" fmla="*/ 34 h 66"/>
                  <a:gd name="T14" fmla="*/ 73 w 92"/>
                  <a:gd name="T15" fmla="*/ 25 h 66"/>
                  <a:gd name="T16" fmla="*/ 66 w 92"/>
                  <a:gd name="T17" fmla="*/ 17 h 66"/>
                  <a:gd name="T18" fmla="*/ 61 w 92"/>
                  <a:gd name="T19" fmla="*/ 9 h 66"/>
                  <a:gd name="T20" fmla="*/ 55 w 92"/>
                  <a:gd name="T21" fmla="*/ 8 h 66"/>
                  <a:gd name="T22" fmla="*/ 52 w 92"/>
                  <a:gd name="T23" fmla="*/ 4 h 66"/>
                  <a:gd name="T24" fmla="*/ 49 w 92"/>
                  <a:gd name="T25" fmla="*/ 2 h 66"/>
                  <a:gd name="T26" fmla="*/ 43 w 92"/>
                  <a:gd name="T27" fmla="*/ 1 h 66"/>
                  <a:gd name="T28" fmla="*/ 29 w 92"/>
                  <a:gd name="T29" fmla="*/ 2 h 66"/>
                  <a:gd name="T30" fmla="*/ 23 w 92"/>
                  <a:gd name="T31" fmla="*/ 3 h 66"/>
                  <a:gd name="T32" fmla="*/ 18 w 92"/>
                  <a:gd name="T33" fmla="*/ 3 h 66"/>
                  <a:gd name="T34" fmla="*/ 16 w 92"/>
                  <a:gd name="T35" fmla="*/ 10 h 66"/>
                  <a:gd name="T36" fmla="*/ 6 w 92"/>
                  <a:gd name="T37" fmla="*/ 27 h 66"/>
                  <a:gd name="T38" fmla="*/ 1 w 92"/>
                  <a:gd name="T39" fmla="*/ 30 h 66"/>
                  <a:gd name="T40" fmla="*/ 5 w 92"/>
                  <a:gd name="T41" fmla="*/ 31 h 66"/>
                  <a:gd name="T42" fmla="*/ 12 w 92"/>
                  <a:gd name="T43" fmla="*/ 42 h 66"/>
                  <a:gd name="T44" fmla="*/ 13 w 92"/>
                  <a:gd name="T45" fmla="*/ 41 h 66"/>
                  <a:gd name="T46" fmla="*/ 12 w 92"/>
                  <a:gd name="T47" fmla="*/ 43 h 66"/>
                  <a:gd name="T48" fmla="*/ 14 w 92"/>
                  <a:gd name="T49" fmla="*/ 45 h 66"/>
                  <a:gd name="T50" fmla="*/ 23 w 92"/>
                  <a:gd name="T51" fmla="*/ 47 h 66"/>
                  <a:gd name="T52" fmla="*/ 31 w 92"/>
                  <a:gd name="T53" fmla="*/ 46 h 66"/>
                  <a:gd name="T54" fmla="*/ 39 w 92"/>
                  <a:gd name="T55" fmla="*/ 44 h 66"/>
                  <a:gd name="T56" fmla="*/ 45 w 92"/>
                  <a:gd name="T57" fmla="*/ 48 h 66"/>
                  <a:gd name="T58" fmla="*/ 54 w 92"/>
                  <a:gd name="T59" fmla="*/ 48 h 66"/>
                  <a:gd name="T60" fmla="*/ 54 w 92"/>
                  <a:gd name="T61" fmla="*/ 51 h 66"/>
                  <a:gd name="T62" fmla="*/ 45 w 92"/>
                  <a:gd name="T63" fmla="*/ 51 h 66"/>
                  <a:gd name="T64" fmla="*/ 36 w 92"/>
                  <a:gd name="T65" fmla="*/ 48 h 66"/>
                  <a:gd name="T66" fmla="*/ 28 w 92"/>
                  <a:gd name="T67" fmla="*/ 52 h 66"/>
                  <a:gd name="T68" fmla="*/ 25 w 92"/>
                  <a:gd name="T69" fmla="*/ 53 h 66"/>
                  <a:gd name="T70" fmla="*/ 13 w 92"/>
                  <a:gd name="T71" fmla="*/ 55 h 66"/>
                  <a:gd name="T72" fmla="*/ 12 w 92"/>
                  <a:gd name="T73" fmla="*/ 60 h 66"/>
                  <a:gd name="T74" fmla="*/ 15 w 92"/>
                  <a:gd name="T75" fmla="*/ 61 h 66"/>
                  <a:gd name="T76" fmla="*/ 11 w 92"/>
                  <a:gd name="T77" fmla="*/ 64 h 66"/>
                  <a:gd name="T78" fmla="*/ 14 w 92"/>
                  <a:gd name="T79" fmla="*/ 66 h 66"/>
                  <a:gd name="T80" fmla="*/ 23 w 92"/>
                  <a:gd name="T81" fmla="*/ 65 h 66"/>
                  <a:gd name="T82" fmla="*/ 39 w 92"/>
                  <a:gd name="T83" fmla="*/ 61 h 66"/>
                  <a:gd name="T84" fmla="*/ 57 w 92"/>
                  <a:gd name="T85" fmla="*/ 61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2" h="66">
                    <a:moveTo>
                      <a:pt x="57" y="61"/>
                    </a:moveTo>
                    <a:cubicBezTo>
                      <a:pt x="59" y="61"/>
                      <a:pt x="61" y="61"/>
                      <a:pt x="61" y="61"/>
                    </a:cubicBezTo>
                    <a:cubicBezTo>
                      <a:pt x="61" y="61"/>
                      <a:pt x="62" y="61"/>
                      <a:pt x="63" y="61"/>
                    </a:cubicBezTo>
                    <a:cubicBezTo>
                      <a:pt x="64" y="62"/>
                      <a:pt x="73" y="65"/>
                      <a:pt x="73" y="65"/>
                    </a:cubicBezTo>
                    <a:cubicBezTo>
                      <a:pt x="73" y="65"/>
                      <a:pt x="74" y="66"/>
                      <a:pt x="75" y="65"/>
                    </a:cubicBezTo>
                    <a:cubicBezTo>
                      <a:pt x="75" y="65"/>
                      <a:pt x="87" y="65"/>
                      <a:pt x="92" y="65"/>
                    </a:cubicBezTo>
                    <a:cubicBezTo>
                      <a:pt x="92" y="63"/>
                      <a:pt x="92" y="60"/>
                      <a:pt x="92" y="58"/>
                    </a:cubicBezTo>
                    <a:cubicBezTo>
                      <a:pt x="92" y="54"/>
                      <a:pt x="89" y="52"/>
                      <a:pt x="88" y="51"/>
                    </a:cubicBezTo>
                    <a:cubicBezTo>
                      <a:pt x="88" y="50"/>
                      <a:pt x="87" y="49"/>
                      <a:pt x="86" y="50"/>
                    </a:cubicBezTo>
                    <a:cubicBezTo>
                      <a:pt x="86" y="51"/>
                      <a:pt x="86" y="50"/>
                      <a:pt x="86" y="50"/>
                    </a:cubicBezTo>
                    <a:cubicBezTo>
                      <a:pt x="86" y="50"/>
                      <a:pt x="83" y="47"/>
                      <a:pt x="82" y="46"/>
                    </a:cubicBezTo>
                    <a:cubicBezTo>
                      <a:pt x="81" y="45"/>
                      <a:pt x="82" y="45"/>
                      <a:pt x="82" y="45"/>
                    </a:cubicBezTo>
                    <a:cubicBezTo>
                      <a:pt x="83" y="45"/>
                      <a:pt x="83" y="44"/>
                      <a:pt x="82" y="43"/>
                    </a:cubicBezTo>
                    <a:cubicBezTo>
                      <a:pt x="82" y="42"/>
                      <a:pt x="80" y="36"/>
                      <a:pt x="80" y="34"/>
                    </a:cubicBezTo>
                    <a:cubicBezTo>
                      <a:pt x="80" y="33"/>
                      <a:pt x="79" y="31"/>
                      <a:pt x="79" y="29"/>
                    </a:cubicBezTo>
                    <a:cubicBezTo>
                      <a:pt x="78" y="29"/>
                      <a:pt x="73" y="25"/>
                      <a:pt x="73" y="25"/>
                    </a:cubicBezTo>
                    <a:cubicBezTo>
                      <a:pt x="72" y="25"/>
                      <a:pt x="71" y="23"/>
                      <a:pt x="70" y="21"/>
                    </a:cubicBezTo>
                    <a:cubicBezTo>
                      <a:pt x="69" y="19"/>
                      <a:pt x="67" y="18"/>
                      <a:pt x="66" y="17"/>
                    </a:cubicBezTo>
                    <a:cubicBezTo>
                      <a:pt x="65" y="16"/>
                      <a:pt x="64" y="16"/>
                      <a:pt x="64" y="14"/>
                    </a:cubicBezTo>
                    <a:cubicBezTo>
                      <a:pt x="63" y="13"/>
                      <a:pt x="62" y="11"/>
                      <a:pt x="61" y="9"/>
                    </a:cubicBezTo>
                    <a:cubicBezTo>
                      <a:pt x="61" y="8"/>
                      <a:pt x="59" y="8"/>
                      <a:pt x="58" y="8"/>
                    </a:cubicBezTo>
                    <a:cubicBezTo>
                      <a:pt x="58" y="8"/>
                      <a:pt x="56" y="8"/>
                      <a:pt x="55" y="8"/>
                    </a:cubicBezTo>
                    <a:cubicBezTo>
                      <a:pt x="55" y="8"/>
                      <a:pt x="54" y="6"/>
                      <a:pt x="53" y="6"/>
                    </a:cubicBezTo>
                    <a:cubicBezTo>
                      <a:pt x="53" y="6"/>
                      <a:pt x="53" y="4"/>
                      <a:pt x="52" y="4"/>
                    </a:cubicBezTo>
                    <a:cubicBezTo>
                      <a:pt x="51" y="4"/>
                      <a:pt x="51" y="4"/>
                      <a:pt x="51" y="4"/>
                    </a:cubicBezTo>
                    <a:cubicBezTo>
                      <a:pt x="51" y="3"/>
                      <a:pt x="50" y="2"/>
                      <a:pt x="49" y="2"/>
                    </a:cubicBezTo>
                    <a:cubicBezTo>
                      <a:pt x="49" y="2"/>
                      <a:pt x="48" y="1"/>
                      <a:pt x="47" y="1"/>
                    </a:cubicBezTo>
                    <a:cubicBezTo>
                      <a:pt x="46" y="1"/>
                      <a:pt x="43" y="1"/>
                      <a:pt x="43" y="1"/>
                    </a:cubicBezTo>
                    <a:cubicBezTo>
                      <a:pt x="42" y="1"/>
                      <a:pt x="41" y="1"/>
                      <a:pt x="39" y="1"/>
                    </a:cubicBezTo>
                    <a:cubicBezTo>
                      <a:pt x="37" y="0"/>
                      <a:pt x="30" y="2"/>
                      <a:pt x="29" y="2"/>
                    </a:cubicBezTo>
                    <a:cubicBezTo>
                      <a:pt x="28" y="3"/>
                      <a:pt x="26" y="3"/>
                      <a:pt x="26" y="3"/>
                    </a:cubicBezTo>
                    <a:cubicBezTo>
                      <a:pt x="25" y="3"/>
                      <a:pt x="24" y="3"/>
                      <a:pt x="23" y="3"/>
                    </a:cubicBezTo>
                    <a:cubicBezTo>
                      <a:pt x="22" y="3"/>
                      <a:pt x="22" y="2"/>
                      <a:pt x="21" y="2"/>
                    </a:cubicBezTo>
                    <a:cubicBezTo>
                      <a:pt x="21" y="2"/>
                      <a:pt x="19" y="3"/>
                      <a:pt x="18" y="3"/>
                    </a:cubicBezTo>
                    <a:cubicBezTo>
                      <a:pt x="18" y="4"/>
                      <a:pt x="17" y="6"/>
                      <a:pt x="16" y="8"/>
                    </a:cubicBezTo>
                    <a:cubicBezTo>
                      <a:pt x="16" y="9"/>
                      <a:pt x="16" y="9"/>
                      <a:pt x="16" y="10"/>
                    </a:cubicBezTo>
                    <a:cubicBezTo>
                      <a:pt x="15" y="14"/>
                      <a:pt x="12" y="19"/>
                      <a:pt x="11" y="20"/>
                    </a:cubicBezTo>
                    <a:cubicBezTo>
                      <a:pt x="11" y="21"/>
                      <a:pt x="7" y="26"/>
                      <a:pt x="6" y="27"/>
                    </a:cubicBezTo>
                    <a:cubicBezTo>
                      <a:pt x="6" y="28"/>
                      <a:pt x="4" y="28"/>
                      <a:pt x="3" y="29"/>
                    </a:cubicBezTo>
                    <a:cubicBezTo>
                      <a:pt x="2" y="29"/>
                      <a:pt x="0" y="29"/>
                      <a:pt x="1" y="30"/>
                    </a:cubicBezTo>
                    <a:cubicBezTo>
                      <a:pt x="2" y="31"/>
                      <a:pt x="2" y="31"/>
                      <a:pt x="2" y="30"/>
                    </a:cubicBezTo>
                    <a:cubicBezTo>
                      <a:pt x="2" y="30"/>
                      <a:pt x="3" y="29"/>
                      <a:pt x="5" y="31"/>
                    </a:cubicBezTo>
                    <a:cubicBezTo>
                      <a:pt x="7" y="33"/>
                      <a:pt x="9" y="35"/>
                      <a:pt x="11" y="39"/>
                    </a:cubicBezTo>
                    <a:cubicBezTo>
                      <a:pt x="12" y="41"/>
                      <a:pt x="12" y="42"/>
                      <a:pt x="12" y="42"/>
                    </a:cubicBezTo>
                    <a:cubicBezTo>
                      <a:pt x="12" y="42"/>
                      <a:pt x="12" y="41"/>
                      <a:pt x="12" y="41"/>
                    </a:cubicBezTo>
                    <a:cubicBezTo>
                      <a:pt x="12" y="41"/>
                      <a:pt x="12" y="41"/>
                      <a:pt x="13" y="41"/>
                    </a:cubicBezTo>
                    <a:cubicBezTo>
                      <a:pt x="13" y="41"/>
                      <a:pt x="13" y="41"/>
                      <a:pt x="13" y="42"/>
                    </a:cubicBezTo>
                    <a:cubicBezTo>
                      <a:pt x="12" y="43"/>
                      <a:pt x="12" y="43"/>
                      <a:pt x="12" y="43"/>
                    </a:cubicBezTo>
                    <a:cubicBezTo>
                      <a:pt x="13" y="44"/>
                      <a:pt x="13" y="44"/>
                      <a:pt x="14" y="44"/>
                    </a:cubicBezTo>
                    <a:cubicBezTo>
                      <a:pt x="14" y="43"/>
                      <a:pt x="14" y="44"/>
                      <a:pt x="14" y="45"/>
                    </a:cubicBezTo>
                    <a:cubicBezTo>
                      <a:pt x="14" y="45"/>
                      <a:pt x="14" y="46"/>
                      <a:pt x="15" y="47"/>
                    </a:cubicBezTo>
                    <a:cubicBezTo>
                      <a:pt x="18" y="47"/>
                      <a:pt x="22" y="47"/>
                      <a:pt x="23" y="47"/>
                    </a:cubicBezTo>
                    <a:cubicBezTo>
                      <a:pt x="23" y="47"/>
                      <a:pt x="30" y="46"/>
                      <a:pt x="30" y="46"/>
                    </a:cubicBezTo>
                    <a:cubicBezTo>
                      <a:pt x="30" y="46"/>
                      <a:pt x="31" y="46"/>
                      <a:pt x="31" y="46"/>
                    </a:cubicBezTo>
                    <a:cubicBezTo>
                      <a:pt x="32" y="45"/>
                      <a:pt x="33" y="44"/>
                      <a:pt x="34" y="44"/>
                    </a:cubicBezTo>
                    <a:cubicBezTo>
                      <a:pt x="34" y="44"/>
                      <a:pt x="39" y="44"/>
                      <a:pt x="39" y="44"/>
                    </a:cubicBezTo>
                    <a:cubicBezTo>
                      <a:pt x="39" y="44"/>
                      <a:pt x="40" y="44"/>
                      <a:pt x="41" y="44"/>
                    </a:cubicBezTo>
                    <a:cubicBezTo>
                      <a:pt x="41" y="45"/>
                      <a:pt x="45" y="48"/>
                      <a:pt x="45" y="48"/>
                    </a:cubicBezTo>
                    <a:cubicBezTo>
                      <a:pt x="45" y="48"/>
                      <a:pt x="46" y="48"/>
                      <a:pt x="47" y="48"/>
                    </a:cubicBezTo>
                    <a:cubicBezTo>
                      <a:pt x="47" y="48"/>
                      <a:pt x="54" y="48"/>
                      <a:pt x="54" y="48"/>
                    </a:cubicBezTo>
                    <a:cubicBezTo>
                      <a:pt x="54" y="48"/>
                      <a:pt x="55" y="48"/>
                      <a:pt x="55" y="49"/>
                    </a:cubicBezTo>
                    <a:cubicBezTo>
                      <a:pt x="55" y="49"/>
                      <a:pt x="55" y="50"/>
                      <a:pt x="54" y="51"/>
                    </a:cubicBezTo>
                    <a:cubicBezTo>
                      <a:pt x="53" y="52"/>
                      <a:pt x="50" y="53"/>
                      <a:pt x="49" y="53"/>
                    </a:cubicBezTo>
                    <a:cubicBezTo>
                      <a:pt x="48" y="52"/>
                      <a:pt x="45" y="52"/>
                      <a:pt x="45" y="51"/>
                    </a:cubicBezTo>
                    <a:cubicBezTo>
                      <a:pt x="44" y="51"/>
                      <a:pt x="43" y="50"/>
                      <a:pt x="43" y="50"/>
                    </a:cubicBezTo>
                    <a:cubicBezTo>
                      <a:pt x="43" y="50"/>
                      <a:pt x="36" y="48"/>
                      <a:pt x="36" y="48"/>
                    </a:cubicBezTo>
                    <a:cubicBezTo>
                      <a:pt x="36" y="48"/>
                      <a:pt x="35" y="48"/>
                      <a:pt x="35" y="48"/>
                    </a:cubicBezTo>
                    <a:cubicBezTo>
                      <a:pt x="35" y="48"/>
                      <a:pt x="33" y="51"/>
                      <a:pt x="28" y="52"/>
                    </a:cubicBezTo>
                    <a:cubicBezTo>
                      <a:pt x="26" y="52"/>
                      <a:pt x="26" y="52"/>
                      <a:pt x="26" y="52"/>
                    </a:cubicBezTo>
                    <a:cubicBezTo>
                      <a:pt x="26" y="52"/>
                      <a:pt x="26" y="52"/>
                      <a:pt x="25" y="53"/>
                    </a:cubicBezTo>
                    <a:cubicBezTo>
                      <a:pt x="25" y="53"/>
                      <a:pt x="25" y="54"/>
                      <a:pt x="24" y="54"/>
                    </a:cubicBezTo>
                    <a:cubicBezTo>
                      <a:pt x="24" y="54"/>
                      <a:pt x="17" y="54"/>
                      <a:pt x="13" y="55"/>
                    </a:cubicBezTo>
                    <a:cubicBezTo>
                      <a:pt x="13" y="55"/>
                      <a:pt x="13" y="55"/>
                      <a:pt x="12" y="55"/>
                    </a:cubicBezTo>
                    <a:cubicBezTo>
                      <a:pt x="12" y="56"/>
                      <a:pt x="12" y="58"/>
                      <a:pt x="12" y="60"/>
                    </a:cubicBezTo>
                    <a:cubicBezTo>
                      <a:pt x="12" y="63"/>
                      <a:pt x="12" y="63"/>
                      <a:pt x="13" y="62"/>
                    </a:cubicBezTo>
                    <a:cubicBezTo>
                      <a:pt x="15" y="61"/>
                      <a:pt x="14" y="61"/>
                      <a:pt x="15" y="61"/>
                    </a:cubicBezTo>
                    <a:cubicBezTo>
                      <a:pt x="15" y="61"/>
                      <a:pt x="15" y="61"/>
                      <a:pt x="14" y="62"/>
                    </a:cubicBezTo>
                    <a:cubicBezTo>
                      <a:pt x="13" y="62"/>
                      <a:pt x="11" y="63"/>
                      <a:pt x="11" y="64"/>
                    </a:cubicBezTo>
                    <a:cubicBezTo>
                      <a:pt x="12" y="65"/>
                      <a:pt x="12" y="66"/>
                      <a:pt x="13" y="66"/>
                    </a:cubicBezTo>
                    <a:cubicBezTo>
                      <a:pt x="14" y="66"/>
                      <a:pt x="14" y="66"/>
                      <a:pt x="14" y="66"/>
                    </a:cubicBezTo>
                    <a:cubicBezTo>
                      <a:pt x="13" y="66"/>
                      <a:pt x="13" y="66"/>
                      <a:pt x="13" y="66"/>
                    </a:cubicBezTo>
                    <a:cubicBezTo>
                      <a:pt x="23" y="65"/>
                      <a:pt x="23" y="65"/>
                      <a:pt x="23" y="65"/>
                    </a:cubicBezTo>
                    <a:cubicBezTo>
                      <a:pt x="23" y="65"/>
                      <a:pt x="25" y="64"/>
                      <a:pt x="26" y="64"/>
                    </a:cubicBezTo>
                    <a:cubicBezTo>
                      <a:pt x="27" y="64"/>
                      <a:pt x="39" y="61"/>
                      <a:pt x="39" y="61"/>
                    </a:cubicBezTo>
                    <a:cubicBezTo>
                      <a:pt x="39" y="61"/>
                      <a:pt x="40" y="61"/>
                      <a:pt x="41" y="61"/>
                    </a:cubicBezTo>
                    <a:cubicBezTo>
                      <a:pt x="41" y="61"/>
                      <a:pt x="51" y="61"/>
                      <a:pt x="57" y="6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4" name="Freeform 1006">
                <a:extLst>
                  <a:ext uri="{FF2B5EF4-FFF2-40B4-BE49-F238E27FC236}">
                    <a16:creationId xmlns:a16="http://schemas.microsoft.com/office/drawing/2014/main" id="{64B3B74E-9E82-409D-8142-44AA323263D0}"/>
                  </a:ext>
                </a:extLst>
              </p:cNvPr>
              <p:cNvSpPr>
                <a:spLocks/>
              </p:cNvSpPr>
              <p:nvPr/>
            </p:nvSpPr>
            <p:spPr bwMode="auto">
              <a:xfrm>
                <a:off x="2982" y="2328"/>
                <a:ext cx="6" cy="5"/>
              </a:xfrm>
              <a:custGeom>
                <a:avLst/>
                <a:gdLst>
                  <a:gd name="T0" fmla="*/ 1 w 5"/>
                  <a:gd name="T1" fmla="*/ 1 h 4"/>
                  <a:gd name="T2" fmla="*/ 1 w 5"/>
                  <a:gd name="T3" fmla="*/ 3 h 4"/>
                  <a:gd name="T4" fmla="*/ 2 w 5"/>
                  <a:gd name="T5" fmla="*/ 4 h 4"/>
                  <a:gd name="T6" fmla="*/ 5 w 5"/>
                  <a:gd name="T7" fmla="*/ 1 h 4"/>
                  <a:gd name="T8" fmla="*/ 1 w 5"/>
                  <a:gd name="T9" fmla="*/ 1 h 4"/>
                </a:gdLst>
                <a:ahLst/>
                <a:cxnLst>
                  <a:cxn ang="0">
                    <a:pos x="T0" y="T1"/>
                  </a:cxn>
                  <a:cxn ang="0">
                    <a:pos x="T2" y="T3"/>
                  </a:cxn>
                  <a:cxn ang="0">
                    <a:pos x="T4" y="T5"/>
                  </a:cxn>
                  <a:cxn ang="0">
                    <a:pos x="T6" y="T7"/>
                  </a:cxn>
                  <a:cxn ang="0">
                    <a:pos x="T8" y="T9"/>
                  </a:cxn>
                </a:cxnLst>
                <a:rect l="0" t="0" r="r" b="b"/>
                <a:pathLst>
                  <a:path w="5" h="4">
                    <a:moveTo>
                      <a:pt x="1" y="1"/>
                    </a:moveTo>
                    <a:cubicBezTo>
                      <a:pt x="0" y="2"/>
                      <a:pt x="0" y="2"/>
                      <a:pt x="1" y="3"/>
                    </a:cubicBezTo>
                    <a:cubicBezTo>
                      <a:pt x="1" y="4"/>
                      <a:pt x="2" y="4"/>
                      <a:pt x="2" y="4"/>
                    </a:cubicBezTo>
                    <a:cubicBezTo>
                      <a:pt x="4" y="3"/>
                      <a:pt x="5" y="2"/>
                      <a:pt x="5" y="1"/>
                    </a:cubicBezTo>
                    <a:cubicBezTo>
                      <a:pt x="5" y="0"/>
                      <a:pt x="3"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5" name="Freeform 1007">
                <a:extLst>
                  <a:ext uri="{FF2B5EF4-FFF2-40B4-BE49-F238E27FC236}">
                    <a16:creationId xmlns:a16="http://schemas.microsoft.com/office/drawing/2014/main" id="{F5187A16-B06D-49CC-A146-763DDB0BEC44}"/>
                  </a:ext>
                </a:extLst>
              </p:cNvPr>
              <p:cNvSpPr>
                <a:spLocks/>
              </p:cNvSpPr>
              <p:nvPr/>
            </p:nvSpPr>
            <p:spPr bwMode="auto">
              <a:xfrm>
                <a:off x="2988" y="2333"/>
                <a:ext cx="2" cy="5"/>
              </a:xfrm>
              <a:custGeom>
                <a:avLst/>
                <a:gdLst>
                  <a:gd name="T0" fmla="*/ 1 w 1"/>
                  <a:gd name="T1" fmla="*/ 1 h 3"/>
                  <a:gd name="T2" fmla="*/ 0 w 1"/>
                  <a:gd name="T3" fmla="*/ 2 h 3"/>
                  <a:gd name="T4" fmla="*/ 1 w 1"/>
                  <a:gd name="T5" fmla="*/ 2 h 3"/>
                  <a:gd name="T6" fmla="*/ 1 w 1"/>
                  <a:gd name="T7" fmla="*/ 1 h 3"/>
                </a:gdLst>
                <a:ahLst/>
                <a:cxnLst>
                  <a:cxn ang="0">
                    <a:pos x="T0" y="T1"/>
                  </a:cxn>
                  <a:cxn ang="0">
                    <a:pos x="T2" y="T3"/>
                  </a:cxn>
                  <a:cxn ang="0">
                    <a:pos x="T4" y="T5"/>
                  </a:cxn>
                  <a:cxn ang="0">
                    <a:pos x="T6" y="T7"/>
                  </a:cxn>
                </a:cxnLst>
                <a:rect l="0" t="0" r="r" b="b"/>
                <a:pathLst>
                  <a:path w="1" h="3">
                    <a:moveTo>
                      <a:pt x="1" y="1"/>
                    </a:moveTo>
                    <a:cubicBezTo>
                      <a:pt x="0" y="1"/>
                      <a:pt x="0" y="2"/>
                      <a:pt x="0" y="2"/>
                    </a:cubicBezTo>
                    <a:cubicBezTo>
                      <a:pt x="1" y="3"/>
                      <a:pt x="1" y="3"/>
                      <a:pt x="1" y="2"/>
                    </a:cubicBezTo>
                    <a:cubicBezTo>
                      <a:pt x="1" y="1"/>
                      <a:pt x="1"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6" name="Freeform 1008">
                <a:extLst>
                  <a:ext uri="{FF2B5EF4-FFF2-40B4-BE49-F238E27FC236}">
                    <a16:creationId xmlns:a16="http://schemas.microsoft.com/office/drawing/2014/main" id="{AF08F055-9819-43B1-8BA3-97B84AF3142F}"/>
                  </a:ext>
                </a:extLst>
              </p:cNvPr>
              <p:cNvSpPr>
                <a:spLocks/>
              </p:cNvSpPr>
              <p:nvPr/>
            </p:nvSpPr>
            <p:spPr bwMode="auto">
              <a:xfrm>
                <a:off x="3001" y="2339"/>
                <a:ext cx="8" cy="5"/>
              </a:xfrm>
              <a:custGeom>
                <a:avLst/>
                <a:gdLst>
                  <a:gd name="T0" fmla="*/ 2 w 6"/>
                  <a:gd name="T1" fmla="*/ 0 h 4"/>
                  <a:gd name="T2" fmla="*/ 1 w 6"/>
                  <a:gd name="T3" fmla="*/ 2 h 4"/>
                  <a:gd name="T4" fmla="*/ 5 w 6"/>
                  <a:gd name="T5" fmla="*/ 2 h 4"/>
                  <a:gd name="T6" fmla="*/ 2 w 6"/>
                  <a:gd name="T7" fmla="*/ 0 h 4"/>
                </a:gdLst>
                <a:ahLst/>
                <a:cxnLst>
                  <a:cxn ang="0">
                    <a:pos x="T0" y="T1"/>
                  </a:cxn>
                  <a:cxn ang="0">
                    <a:pos x="T2" y="T3"/>
                  </a:cxn>
                  <a:cxn ang="0">
                    <a:pos x="T4" y="T5"/>
                  </a:cxn>
                  <a:cxn ang="0">
                    <a:pos x="T6" y="T7"/>
                  </a:cxn>
                </a:cxnLst>
                <a:rect l="0" t="0" r="r" b="b"/>
                <a:pathLst>
                  <a:path w="6" h="4">
                    <a:moveTo>
                      <a:pt x="2" y="0"/>
                    </a:moveTo>
                    <a:cubicBezTo>
                      <a:pt x="0" y="0"/>
                      <a:pt x="1" y="2"/>
                      <a:pt x="1" y="2"/>
                    </a:cubicBezTo>
                    <a:cubicBezTo>
                      <a:pt x="2" y="4"/>
                      <a:pt x="3" y="3"/>
                      <a:pt x="5" y="2"/>
                    </a:cubicBezTo>
                    <a:cubicBezTo>
                      <a:pt x="6" y="1"/>
                      <a:pt x="4" y="1"/>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7" name="Freeform 1009">
                <a:extLst>
                  <a:ext uri="{FF2B5EF4-FFF2-40B4-BE49-F238E27FC236}">
                    <a16:creationId xmlns:a16="http://schemas.microsoft.com/office/drawing/2014/main" id="{43BC4A41-32F1-43BD-9FB5-014877FC0ED2}"/>
                  </a:ext>
                </a:extLst>
              </p:cNvPr>
              <p:cNvSpPr>
                <a:spLocks/>
              </p:cNvSpPr>
              <p:nvPr/>
            </p:nvSpPr>
            <p:spPr bwMode="auto">
              <a:xfrm>
                <a:off x="3031" y="2333"/>
                <a:ext cx="2" cy="7"/>
              </a:xfrm>
              <a:custGeom>
                <a:avLst/>
                <a:gdLst>
                  <a:gd name="T0" fmla="*/ 1 w 1"/>
                  <a:gd name="T1" fmla="*/ 2 h 5"/>
                  <a:gd name="T2" fmla="*/ 0 w 1"/>
                  <a:gd name="T3" fmla="*/ 3 h 5"/>
                  <a:gd name="T4" fmla="*/ 1 w 1"/>
                  <a:gd name="T5" fmla="*/ 2 h 5"/>
                </a:gdLst>
                <a:ahLst/>
                <a:cxnLst>
                  <a:cxn ang="0">
                    <a:pos x="T0" y="T1"/>
                  </a:cxn>
                  <a:cxn ang="0">
                    <a:pos x="T2" y="T3"/>
                  </a:cxn>
                  <a:cxn ang="0">
                    <a:pos x="T4" y="T5"/>
                  </a:cxn>
                </a:cxnLst>
                <a:rect l="0" t="0" r="r" b="b"/>
                <a:pathLst>
                  <a:path w="1" h="5">
                    <a:moveTo>
                      <a:pt x="1" y="2"/>
                    </a:moveTo>
                    <a:cubicBezTo>
                      <a:pt x="0" y="0"/>
                      <a:pt x="0" y="3"/>
                      <a:pt x="0" y="3"/>
                    </a:cubicBezTo>
                    <a:cubicBezTo>
                      <a:pt x="1" y="5"/>
                      <a:pt x="1" y="4"/>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8" name="Freeform 1010">
                <a:extLst>
                  <a:ext uri="{FF2B5EF4-FFF2-40B4-BE49-F238E27FC236}">
                    <a16:creationId xmlns:a16="http://schemas.microsoft.com/office/drawing/2014/main" id="{5402B415-36EE-44FE-9089-0BDCEEE86E77}"/>
                  </a:ext>
                </a:extLst>
              </p:cNvPr>
              <p:cNvSpPr>
                <a:spLocks/>
              </p:cNvSpPr>
              <p:nvPr/>
            </p:nvSpPr>
            <p:spPr bwMode="auto">
              <a:xfrm>
                <a:off x="3031" y="2347"/>
                <a:ext cx="6" cy="7"/>
              </a:xfrm>
              <a:custGeom>
                <a:avLst/>
                <a:gdLst>
                  <a:gd name="T0" fmla="*/ 2 w 4"/>
                  <a:gd name="T1" fmla="*/ 1 h 5"/>
                  <a:gd name="T2" fmla="*/ 0 w 4"/>
                  <a:gd name="T3" fmla="*/ 2 h 5"/>
                  <a:gd name="T4" fmla="*/ 1 w 4"/>
                  <a:gd name="T5" fmla="*/ 4 h 5"/>
                  <a:gd name="T6" fmla="*/ 3 w 4"/>
                  <a:gd name="T7" fmla="*/ 3 h 5"/>
                  <a:gd name="T8" fmla="*/ 2 w 4"/>
                  <a:gd name="T9" fmla="*/ 1 h 5"/>
                </a:gdLst>
                <a:ahLst/>
                <a:cxnLst>
                  <a:cxn ang="0">
                    <a:pos x="T0" y="T1"/>
                  </a:cxn>
                  <a:cxn ang="0">
                    <a:pos x="T2" y="T3"/>
                  </a:cxn>
                  <a:cxn ang="0">
                    <a:pos x="T4" y="T5"/>
                  </a:cxn>
                  <a:cxn ang="0">
                    <a:pos x="T6" y="T7"/>
                  </a:cxn>
                  <a:cxn ang="0">
                    <a:pos x="T8" y="T9"/>
                  </a:cxn>
                </a:cxnLst>
                <a:rect l="0" t="0" r="r" b="b"/>
                <a:pathLst>
                  <a:path w="4" h="5">
                    <a:moveTo>
                      <a:pt x="2" y="1"/>
                    </a:moveTo>
                    <a:cubicBezTo>
                      <a:pt x="2" y="0"/>
                      <a:pt x="1" y="1"/>
                      <a:pt x="0" y="2"/>
                    </a:cubicBezTo>
                    <a:cubicBezTo>
                      <a:pt x="0" y="4"/>
                      <a:pt x="1" y="4"/>
                      <a:pt x="1" y="4"/>
                    </a:cubicBezTo>
                    <a:cubicBezTo>
                      <a:pt x="1" y="5"/>
                      <a:pt x="2" y="5"/>
                      <a:pt x="3" y="3"/>
                    </a:cubicBezTo>
                    <a:cubicBezTo>
                      <a:pt x="4" y="2"/>
                      <a:pt x="3" y="1"/>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99" name="Freeform 1011">
                <a:extLst>
                  <a:ext uri="{FF2B5EF4-FFF2-40B4-BE49-F238E27FC236}">
                    <a16:creationId xmlns:a16="http://schemas.microsoft.com/office/drawing/2014/main" id="{E2EDAB24-1481-4058-BA08-A6705471A27C}"/>
                  </a:ext>
                </a:extLst>
              </p:cNvPr>
              <p:cNvSpPr>
                <a:spLocks/>
              </p:cNvSpPr>
              <p:nvPr/>
            </p:nvSpPr>
            <p:spPr bwMode="auto">
              <a:xfrm>
                <a:off x="3026" y="2366"/>
                <a:ext cx="1" cy="7"/>
              </a:xfrm>
              <a:custGeom>
                <a:avLst/>
                <a:gdLst>
                  <a:gd name="T0" fmla="*/ 0 w 1"/>
                  <a:gd name="T1" fmla="*/ 3 h 5"/>
                  <a:gd name="T2" fmla="*/ 0 w 1"/>
                  <a:gd name="T3" fmla="*/ 2 h 5"/>
                  <a:gd name="T4" fmla="*/ 0 w 1"/>
                  <a:gd name="T5" fmla="*/ 3 h 5"/>
                </a:gdLst>
                <a:ahLst/>
                <a:cxnLst>
                  <a:cxn ang="0">
                    <a:pos x="T0" y="T1"/>
                  </a:cxn>
                  <a:cxn ang="0">
                    <a:pos x="T2" y="T3"/>
                  </a:cxn>
                  <a:cxn ang="0">
                    <a:pos x="T4" y="T5"/>
                  </a:cxn>
                </a:cxnLst>
                <a:rect l="0" t="0" r="r" b="b"/>
                <a:pathLst>
                  <a:path w="1" h="5">
                    <a:moveTo>
                      <a:pt x="0" y="3"/>
                    </a:moveTo>
                    <a:cubicBezTo>
                      <a:pt x="1" y="5"/>
                      <a:pt x="1" y="3"/>
                      <a:pt x="0" y="2"/>
                    </a:cubicBezTo>
                    <a:cubicBezTo>
                      <a:pt x="0" y="0"/>
                      <a:pt x="0" y="3"/>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00" name="Freeform 1012">
                <a:extLst>
                  <a:ext uri="{FF2B5EF4-FFF2-40B4-BE49-F238E27FC236}">
                    <a16:creationId xmlns:a16="http://schemas.microsoft.com/office/drawing/2014/main" id="{885EBD4A-E724-4E2D-B235-B701C62378CF}"/>
                  </a:ext>
                </a:extLst>
              </p:cNvPr>
              <p:cNvSpPr>
                <a:spLocks/>
              </p:cNvSpPr>
              <p:nvPr/>
            </p:nvSpPr>
            <p:spPr bwMode="auto">
              <a:xfrm>
                <a:off x="3015" y="2368"/>
                <a:ext cx="7" cy="9"/>
              </a:xfrm>
              <a:custGeom>
                <a:avLst/>
                <a:gdLst>
                  <a:gd name="T0" fmla="*/ 1 w 5"/>
                  <a:gd name="T1" fmla="*/ 1 h 7"/>
                  <a:gd name="T2" fmla="*/ 0 w 5"/>
                  <a:gd name="T3" fmla="*/ 1 h 7"/>
                  <a:gd name="T4" fmla="*/ 1 w 5"/>
                  <a:gd name="T5" fmla="*/ 6 h 7"/>
                  <a:gd name="T6" fmla="*/ 4 w 5"/>
                  <a:gd name="T7" fmla="*/ 4 h 7"/>
                  <a:gd name="T8" fmla="*/ 1 w 5"/>
                  <a:gd name="T9" fmla="*/ 1 h 7"/>
                </a:gdLst>
                <a:ahLst/>
                <a:cxnLst>
                  <a:cxn ang="0">
                    <a:pos x="T0" y="T1"/>
                  </a:cxn>
                  <a:cxn ang="0">
                    <a:pos x="T2" y="T3"/>
                  </a:cxn>
                  <a:cxn ang="0">
                    <a:pos x="T4" y="T5"/>
                  </a:cxn>
                  <a:cxn ang="0">
                    <a:pos x="T6" y="T7"/>
                  </a:cxn>
                  <a:cxn ang="0">
                    <a:pos x="T8" y="T9"/>
                  </a:cxn>
                </a:cxnLst>
                <a:rect l="0" t="0" r="r" b="b"/>
                <a:pathLst>
                  <a:path w="5" h="7">
                    <a:moveTo>
                      <a:pt x="1" y="1"/>
                    </a:moveTo>
                    <a:cubicBezTo>
                      <a:pt x="0" y="0"/>
                      <a:pt x="0" y="0"/>
                      <a:pt x="0" y="1"/>
                    </a:cubicBezTo>
                    <a:cubicBezTo>
                      <a:pt x="0" y="1"/>
                      <a:pt x="0" y="5"/>
                      <a:pt x="1" y="6"/>
                    </a:cubicBezTo>
                    <a:cubicBezTo>
                      <a:pt x="3" y="6"/>
                      <a:pt x="5" y="7"/>
                      <a:pt x="4" y="4"/>
                    </a:cubicBezTo>
                    <a:cubicBezTo>
                      <a:pt x="3" y="2"/>
                      <a:pt x="2" y="2"/>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01" name="Freeform 1013">
                <a:extLst>
                  <a:ext uri="{FF2B5EF4-FFF2-40B4-BE49-F238E27FC236}">
                    <a16:creationId xmlns:a16="http://schemas.microsoft.com/office/drawing/2014/main" id="{019DDC6F-A69A-4587-B2BD-4A3E850E616C}"/>
                  </a:ext>
                </a:extLst>
              </p:cNvPr>
              <p:cNvSpPr>
                <a:spLocks/>
              </p:cNvSpPr>
              <p:nvPr/>
            </p:nvSpPr>
            <p:spPr bwMode="auto">
              <a:xfrm>
                <a:off x="2998" y="2372"/>
                <a:ext cx="4" cy="5"/>
              </a:xfrm>
              <a:custGeom>
                <a:avLst/>
                <a:gdLst>
                  <a:gd name="T0" fmla="*/ 2 w 3"/>
                  <a:gd name="T1" fmla="*/ 1 h 4"/>
                  <a:gd name="T2" fmla="*/ 1 w 3"/>
                  <a:gd name="T3" fmla="*/ 3 h 4"/>
                  <a:gd name="T4" fmla="*/ 3 w 3"/>
                  <a:gd name="T5" fmla="*/ 2 h 4"/>
                  <a:gd name="T6" fmla="*/ 2 w 3"/>
                  <a:gd name="T7" fmla="*/ 1 h 4"/>
                </a:gdLst>
                <a:ahLst/>
                <a:cxnLst>
                  <a:cxn ang="0">
                    <a:pos x="T0" y="T1"/>
                  </a:cxn>
                  <a:cxn ang="0">
                    <a:pos x="T2" y="T3"/>
                  </a:cxn>
                  <a:cxn ang="0">
                    <a:pos x="T4" y="T5"/>
                  </a:cxn>
                  <a:cxn ang="0">
                    <a:pos x="T6" y="T7"/>
                  </a:cxn>
                </a:cxnLst>
                <a:rect l="0" t="0" r="r" b="b"/>
                <a:pathLst>
                  <a:path w="3" h="4">
                    <a:moveTo>
                      <a:pt x="2" y="1"/>
                    </a:moveTo>
                    <a:cubicBezTo>
                      <a:pt x="1" y="3"/>
                      <a:pt x="0" y="3"/>
                      <a:pt x="1" y="3"/>
                    </a:cubicBezTo>
                    <a:cubicBezTo>
                      <a:pt x="3" y="4"/>
                      <a:pt x="3" y="4"/>
                      <a:pt x="3" y="2"/>
                    </a:cubicBezTo>
                    <a:cubicBezTo>
                      <a:pt x="3" y="2"/>
                      <a:pt x="3"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02" name="Freeform 1014">
                <a:extLst>
                  <a:ext uri="{FF2B5EF4-FFF2-40B4-BE49-F238E27FC236}">
                    <a16:creationId xmlns:a16="http://schemas.microsoft.com/office/drawing/2014/main" id="{A70B3B71-E667-4EE9-868B-7BCDD837D783}"/>
                  </a:ext>
                </a:extLst>
              </p:cNvPr>
              <p:cNvSpPr>
                <a:spLocks/>
              </p:cNvSpPr>
              <p:nvPr/>
            </p:nvSpPr>
            <p:spPr bwMode="auto">
              <a:xfrm>
                <a:off x="3723" y="1962"/>
                <a:ext cx="7" cy="9"/>
              </a:xfrm>
              <a:custGeom>
                <a:avLst/>
                <a:gdLst>
                  <a:gd name="T0" fmla="*/ 1 w 5"/>
                  <a:gd name="T1" fmla="*/ 3 h 7"/>
                  <a:gd name="T2" fmla="*/ 3 w 5"/>
                  <a:gd name="T3" fmla="*/ 5 h 7"/>
                  <a:gd name="T4" fmla="*/ 4 w 5"/>
                  <a:gd name="T5" fmla="*/ 2 h 7"/>
                  <a:gd name="T6" fmla="*/ 1 w 5"/>
                  <a:gd name="T7" fmla="*/ 3 h 7"/>
                </a:gdLst>
                <a:ahLst/>
                <a:cxnLst>
                  <a:cxn ang="0">
                    <a:pos x="T0" y="T1"/>
                  </a:cxn>
                  <a:cxn ang="0">
                    <a:pos x="T2" y="T3"/>
                  </a:cxn>
                  <a:cxn ang="0">
                    <a:pos x="T4" y="T5"/>
                  </a:cxn>
                  <a:cxn ang="0">
                    <a:pos x="T6" y="T7"/>
                  </a:cxn>
                </a:cxnLst>
                <a:rect l="0" t="0" r="r" b="b"/>
                <a:pathLst>
                  <a:path w="5" h="7">
                    <a:moveTo>
                      <a:pt x="1" y="3"/>
                    </a:moveTo>
                    <a:cubicBezTo>
                      <a:pt x="1" y="3"/>
                      <a:pt x="1" y="7"/>
                      <a:pt x="3" y="5"/>
                    </a:cubicBezTo>
                    <a:cubicBezTo>
                      <a:pt x="5" y="4"/>
                      <a:pt x="5" y="3"/>
                      <a:pt x="4" y="2"/>
                    </a:cubicBezTo>
                    <a:cubicBezTo>
                      <a:pt x="3" y="2"/>
                      <a:pt x="0" y="0"/>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03" name="Freeform 1015">
                <a:extLst>
                  <a:ext uri="{FF2B5EF4-FFF2-40B4-BE49-F238E27FC236}">
                    <a16:creationId xmlns:a16="http://schemas.microsoft.com/office/drawing/2014/main" id="{D1AA1CC0-3E2F-42C0-B0DD-456FCA0D8765}"/>
                  </a:ext>
                </a:extLst>
              </p:cNvPr>
              <p:cNvSpPr>
                <a:spLocks/>
              </p:cNvSpPr>
              <p:nvPr/>
            </p:nvSpPr>
            <p:spPr bwMode="auto">
              <a:xfrm>
                <a:off x="3657" y="1883"/>
                <a:ext cx="83" cy="164"/>
              </a:xfrm>
              <a:custGeom>
                <a:avLst/>
                <a:gdLst>
                  <a:gd name="T0" fmla="*/ 12 w 60"/>
                  <a:gd name="T1" fmla="*/ 17 h 119"/>
                  <a:gd name="T2" fmla="*/ 12 w 60"/>
                  <a:gd name="T3" fmla="*/ 23 h 119"/>
                  <a:gd name="T4" fmla="*/ 14 w 60"/>
                  <a:gd name="T5" fmla="*/ 34 h 119"/>
                  <a:gd name="T6" fmla="*/ 11 w 60"/>
                  <a:gd name="T7" fmla="*/ 45 h 119"/>
                  <a:gd name="T8" fmla="*/ 2 w 60"/>
                  <a:gd name="T9" fmla="*/ 54 h 119"/>
                  <a:gd name="T10" fmla="*/ 2 w 60"/>
                  <a:gd name="T11" fmla="*/ 62 h 119"/>
                  <a:gd name="T12" fmla="*/ 4 w 60"/>
                  <a:gd name="T13" fmla="*/ 67 h 119"/>
                  <a:gd name="T14" fmla="*/ 13 w 60"/>
                  <a:gd name="T15" fmla="*/ 82 h 119"/>
                  <a:gd name="T16" fmla="*/ 24 w 60"/>
                  <a:gd name="T17" fmla="*/ 91 h 119"/>
                  <a:gd name="T18" fmla="*/ 33 w 60"/>
                  <a:gd name="T19" fmla="*/ 118 h 119"/>
                  <a:gd name="T20" fmla="*/ 40 w 60"/>
                  <a:gd name="T21" fmla="*/ 111 h 119"/>
                  <a:gd name="T22" fmla="*/ 41 w 60"/>
                  <a:gd name="T23" fmla="*/ 97 h 119"/>
                  <a:gd name="T24" fmla="*/ 45 w 60"/>
                  <a:gd name="T25" fmla="*/ 92 h 119"/>
                  <a:gd name="T26" fmla="*/ 50 w 60"/>
                  <a:gd name="T27" fmla="*/ 88 h 119"/>
                  <a:gd name="T28" fmla="*/ 59 w 60"/>
                  <a:gd name="T29" fmla="*/ 84 h 119"/>
                  <a:gd name="T30" fmla="*/ 60 w 60"/>
                  <a:gd name="T31" fmla="*/ 71 h 119"/>
                  <a:gd name="T32" fmla="*/ 54 w 60"/>
                  <a:gd name="T33" fmla="*/ 69 h 119"/>
                  <a:gd name="T34" fmla="*/ 52 w 60"/>
                  <a:gd name="T35" fmla="*/ 63 h 119"/>
                  <a:gd name="T36" fmla="*/ 48 w 60"/>
                  <a:gd name="T37" fmla="*/ 64 h 119"/>
                  <a:gd name="T38" fmla="*/ 39 w 60"/>
                  <a:gd name="T39" fmla="*/ 59 h 119"/>
                  <a:gd name="T40" fmla="*/ 49 w 60"/>
                  <a:gd name="T41" fmla="*/ 44 h 119"/>
                  <a:gd name="T42" fmla="*/ 54 w 60"/>
                  <a:gd name="T43" fmla="*/ 35 h 119"/>
                  <a:gd name="T44" fmla="*/ 51 w 60"/>
                  <a:gd name="T45" fmla="*/ 30 h 119"/>
                  <a:gd name="T46" fmla="*/ 47 w 60"/>
                  <a:gd name="T47" fmla="*/ 16 h 119"/>
                  <a:gd name="T48" fmla="*/ 53 w 60"/>
                  <a:gd name="T49" fmla="*/ 5 h 119"/>
                  <a:gd name="T50" fmla="*/ 47 w 60"/>
                  <a:gd name="T51" fmla="*/ 9 h 119"/>
                  <a:gd name="T52" fmla="*/ 42 w 60"/>
                  <a:gd name="T53" fmla="*/ 10 h 119"/>
                  <a:gd name="T54" fmla="*/ 40 w 60"/>
                  <a:gd name="T55" fmla="*/ 4 h 119"/>
                  <a:gd name="T56" fmla="*/ 34 w 60"/>
                  <a:gd name="T57" fmla="*/ 2 h 119"/>
                  <a:gd name="T58" fmla="*/ 23 w 60"/>
                  <a:gd name="T59" fmla="*/ 5 h 119"/>
                  <a:gd name="T60" fmla="*/ 17 w 60"/>
                  <a:gd name="T61" fmla="*/ 7 h 119"/>
                  <a:gd name="T62" fmla="*/ 11 w 60"/>
                  <a:gd name="T63" fmla="*/ 14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0" h="119">
                    <a:moveTo>
                      <a:pt x="11" y="15"/>
                    </a:moveTo>
                    <a:cubicBezTo>
                      <a:pt x="11" y="16"/>
                      <a:pt x="12" y="17"/>
                      <a:pt x="12" y="17"/>
                    </a:cubicBezTo>
                    <a:cubicBezTo>
                      <a:pt x="12" y="17"/>
                      <a:pt x="13" y="18"/>
                      <a:pt x="13" y="18"/>
                    </a:cubicBezTo>
                    <a:cubicBezTo>
                      <a:pt x="13" y="19"/>
                      <a:pt x="12" y="23"/>
                      <a:pt x="12" y="23"/>
                    </a:cubicBezTo>
                    <a:cubicBezTo>
                      <a:pt x="12" y="23"/>
                      <a:pt x="12" y="24"/>
                      <a:pt x="12" y="27"/>
                    </a:cubicBezTo>
                    <a:cubicBezTo>
                      <a:pt x="13" y="30"/>
                      <a:pt x="13" y="33"/>
                      <a:pt x="14" y="34"/>
                    </a:cubicBezTo>
                    <a:cubicBezTo>
                      <a:pt x="14" y="34"/>
                      <a:pt x="15" y="37"/>
                      <a:pt x="14" y="39"/>
                    </a:cubicBezTo>
                    <a:cubicBezTo>
                      <a:pt x="12" y="42"/>
                      <a:pt x="12" y="44"/>
                      <a:pt x="11" y="45"/>
                    </a:cubicBezTo>
                    <a:cubicBezTo>
                      <a:pt x="11" y="46"/>
                      <a:pt x="9" y="48"/>
                      <a:pt x="8" y="49"/>
                    </a:cubicBezTo>
                    <a:cubicBezTo>
                      <a:pt x="7" y="49"/>
                      <a:pt x="2" y="54"/>
                      <a:pt x="2" y="54"/>
                    </a:cubicBezTo>
                    <a:cubicBezTo>
                      <a:pt x="2" y="54"/>
                      <a:pt x="0" y="55"/>
                      <a:pt x="0" y="56"/>
                    </a:cubicBezTo>
                    <a:cubicBezTo>
                      <a:pt x="1" y="57"/>
                      <a:pt x="1" y="61"/>
                      <a:pt x="2" y="62"/>
                    </a:cubicBezTo>
                    <a:cubicBezTo>
                      <a:pt x="2" y="64"/>
                      <a:pt x="2" y="65"/>
                      <a:pt x="3" y="66"/>
                    </a:cubicBezTo>
                    <a:cubicBezTo>
                      <a:pt x="3" y="66"/>
                      <a:pt x="3" y="67"/>
                      <a:pt x="4" y="67"/>
                    </a:cubicBezTo>
                    <a:cubicBezTo>
                      <a:pt x="5" y="68"/>
                      <a:pt x="12" y="74"/>
                      <a:pt x="12" y="80"/>
                    </a:cubicBezTo>
                    <a:cubicBezTo>
                      <a:pt x="12" y="80"/>
                      <a:pt x="12" y="81"/>
                      <a:pt x="13" y="82"/>
                    </a:cubicBezTo>
                    <a:cubicBezTo>
                      <a:pt x="14" y="83"/>
                      <a:pt x="23" y="90"/>
                      <a:pt x="23" y="90"/>
                    </a:cubicBezTo>
                    <a:cubicBezTo>
                      <a:pt x="23" y="90"/>
                      <a:pt x="24" y="90"/>
                      <a:pt x="24" y="91"/>
                    </a:cubicBezTo>
                    <a:cubicBezTo>
                      <a:pt x="24" y="92"/>
                      <a:pt x="29" y="113"/>
                      <a:pt x="30" y="119"/>
                    </a:cubicBezTo>
                    <a:cubicBezTo>
                      <a:pt x="31" y="119"/>
                      <a:pt x="32" y="118"/>
                      <a:pt x="33" y="118"/>
                    </a:cubicBezTo>
                    <a:cubicBezTo>
                      <a:pt x="34" y="117"/>
                      <a:pt x="36" y="116"/>
                      <a:pt x="37" y="115"/>
                    </a:cubicBezTo>
                    <a:cubicBezTo>
                      <a:pt x="38" y="114"/>
                      <a:pt x="38" y="113"/>
                      <a:pt x="40" y="111"/>
                    </a:cubicBezTo>
                    <a:cubicBezTo>
                      <a:pt x="42" y="109"/>
                      <a:pt x="42" y="108"/>
                      <a:pt x="41" y="105"/>
                    </a:cubicBezTo>
                    <a:cubicBezTo>
                      <a:pt x="40" y="102"/>
                      <a:pt x="41" y="99"/>
                      <a:pt x="41" y="97"/>
                    </a:cubicBezTo>
                    <a:cubicBezTo>
                      <a:pt x="41" y="95"/>
                      <a:pt x="42" y="95"/>
                      <a:pt x="43" y="95"/>
                    </a:cubicBezTo>
                    <a:cubicBezTo>
                      <a:pt x="43" y="95"/>
                      <a:pt x="44" y="94"/>
                      <a:pt x="45" y="92"/>
                    </a:cubicBezTo>
                    <a:cubicBezTo>
                      <a:pt x="46" y="90"/>
                      <a:pt x="47" y="91"/>
                      <a:pt x="47" y="91"/>
                    </a:cubicBezTo>
                    <a:cubicBezTo>
                      <a:pt x="48" y="92"/>
                      <a:pt x="49" y="89"/>
                      <a:pt x="50" y="88"/>
                    </a:cubicBezTo>
                    <a:cubicBezTo>
                      <a:pt x="50" y="87"/>
                      <a:pt x="52" y="87"/>
                      <a:pt x="52" y="87"/>
                    </a:cubicBezTo>
                    <a:cubicBezTo>
                      <a:pt x="53" y="86"/>
                      <a:pt x="58" y="84"/>
                      <a:pt x="59" y="84"/>
                    </a:cubicBezTo>
                    <a:cubicBezTo>
                      <a:pt x="60" y="83"/>
                      <a:pt x="60" y="82"/>
                      <a:pt x="60" y="82"/>
                    </a:cubicBezTo>
                    <a:cubicBezTo>
                      <a:pt x="60" y="71"/>
                      <a:pt x="60" y="71"/>
                      <a:pt x="60" y="71"/>
                    </a:cubicBezTo>
                    <a:cubicBezTo>
                      <a:pt x="59" y="71"/>
                      <a:pt x="59" y="71"/>
                      <a:pt x="59" y="71"/>
                    </a:cubicBezTo>
                    <a:cubicBezTo>
                      <a:pt x="57" y="70"/>
                      <a:pt x="53" y="70"/>
                      <a:pt x="54" y="69"/>
                    </a:cubicBezTo>
                    <a:cubicBezTo>
                      <a:pt x="55" y="68"/>
                      <a:pt x="54" y="69"/>
                      <a:pt x="54" y="67"/>
                    </a:cubicBezTo>
                    <a:cubicBezTo>
                      <a:pt x="54" y="65"/>
                      <a:pt x="53" y="63"/>
                      <a:pt x="52" y="63"/>
                    </a:cubicBezTo>
                    <a:cubicBezTo>
                      <a:pt x="50" y="63"/>
                      <a:pt x="52" y="64"/>
                      <a:pt x="51" y="65"/>
                    </a:cubicBezTo>
                    <a:cubicBezTo>
                      <a:pt x="49" y="65"/>
                      <a:pt x="47" y="66"/>
                      <a:pt x="48" y="64"/>
                    </a:cubicBezTo>
                    <a:cubicBezTo>
                      <a:pt x="48" y="61"/>
                      <a:pt x="48" y="62"/>
                      <a:pt x="47" y="62"/>
                    </a:cubicBezTo>
                    <a:cubicBezTo>
                      <a:pt x="46" y="62"/>
                      <a:pt x="43" y="63"/>
                      <a:pt x="39" y="59"/>
                    </a:cubicBezTo>
                    <a:cubicBezTo>
                      <a:pt x="39" y="59"/>
                      <a:pt x="36" y="55"/>
                      <a:pt x="39" y="52"/>
                    </a:cubicBezTo>
                    <a:cubicBezTo>
                      <a:pt x="43" y="50"/>
                      <a:pt x="47" y="47"/>
                      <a:pt x="49" y="44"/>
                    </a:cubicBezTo>
                    <a:cubicBezTo>
                      <a:pt x="52" y="41"/>
                      <a:pt x="52" y="39"/>
                      <a:pt x="53" y="38"/>
                    </a:cubicBezTo>
                    <a:cubicBezTo>
                      <a:pt x="54" y="37"/>
                      <a:pt x="55" y="37"/>
                      <a:pt x="54" y="35"/>
                    </a:cubicBezTo>
                    <a:cubicBezTo>
                      <a:pt x="53" y="33"/>
                      <a:pt x="53" y="32"/>
                      <a:pt x="53" y="32"/>
                    </a:cubicBezTo>
                    <a:cubicBezTo>
                      <a:pt x="53" y="31"/>
                      <a:pt x="52" y="30"/>
                      <a:pt x="51" y="30"/>
                    </a:cubicBezTo>
                    <a:cubicBezTo>
                      <a:pt x="50" y="29"/>
                      <a:pt x="43" y="25"/>
                      <a:pt x="44" y="20"/>
                    </a:cubicBezTo>
                    <a:cubicBezTo>
                      <a:pt x="44" y="20"/>
                      <a:pt x="44" y="18"/>
                      <a:pt x="47" y="16"/>
                    </a:cubicBezTo>
                    <a:cubicBezTo>
                      <a:pt x="51" y="15"/>
                      <a:pt x="51" y="13"/>
                      <a:pt x="52" y="12"/>
                    </a:cubicBezTo>
                    <a:cubicBezTo>
                      <a:pt x="52" y="11"/>
                      <a:pt x="55" y="8"/>
                      <a:pt x="53" y="5"/>
                    </a:cubicBezTo>
                    <a:cubicBezTo>
                      <a:pt x="53" y="5"/>
                      <a:pt x="52" y="4"/>
                      <a:pt x="50" y="7"/>
                    </a:cubicBezTo>
                    <a:cubicBezTo>
                      <a:pt x="50" y="7"/>
                      <a:pt x="48" y="8"/>
                      <a:pt x="47" y="9"/>
                    </a:cubicBezTo>
                    <a:cubicBezTo>
                      <a:pt x="46" y="9"/>
                      <a:pt x="45" y="9"/>
                      <a:pt x="45" y="10"/>
                    </a:cubicBezTo>
                    <a:cubicBezTo>
                      <a:pt x="45" y="10"/>
                      <a:pt x="44" y="11"/>
                      <a:pt x="42" y="10"/>
                    </a:cubicBezTo>
                    <a:cubicBezTo>
                      <a:pt x="40" y="10"/>
                      <a:pt x="42" y="10"/>
                      <a:pt x="42" y="9"/>
                    </a:cubicBezTo>
                    <a:cubicBezTo>
                      <a:pt x="42" y="8"/>
                      <a:pt x="42" y="7"/>
                      <a:pt x="40" y="4"/>
                    </a:cubicBezTo>
                    <a:cubicBezTo>
                      <a:pt x="39" y="1"/>
                      <a:pt x="37" y="1"/>
                      <a:pt x="36" y="2"/>
                    </a:cubicBezTo>
                    <a:cubicBezTo>
                      <a:pt x="35" y="3"/>
                      <a:pt x="35" y="4"/>
                      <a:pt x="34" y="2"/>
                    </a:cubicBezTo>
                    <a:cubicBezTo>
                      <a:pt x="33" y="0"/>
                      <a:pt x="32" y="1"/>
                      <a:pt x="30" y="1"/>
                    </a:cubicBezTo>
                    <a:cubicBezTo>
                      <a:pt x="28" y="2"/>
                      <a:pt x="25" y="3"/>
                      <a:pt x="23" y="5"/>
                    </a:cubicBezTo>
                    <a:cubicBezTo>
                      <a:pt x="21" y="6"/>
                      <a:pt x="20" y="6"/>
                      <a:pt x="19" y="7"/>
                    </a:cubicBezTo>
                    <a:cubicBezTo>
                      <a:pt x="18" y="7"/>
                      <a:pt x="18" y="7"/>
                      <a:pt x="17" y="7"/>
                    </a:cubicBezTo>
                    <a:cubicBezTo>
                      <a:pt x="17" y="7"/>
                      <a:pt x="17" y="7"/>
                      <a:pt x="16" y="7"/>
                    </a:cubicBezTo>
                    <a:cubicBezTo>
                      <a:pt x="11" y="14"/>
                      <a:pt x="11" y="14"/>
                      <a:pt x="11" y="14"/>
                    </a:cubicBezTo>
                    <a:cubicBezTo>
                      <a:pt x="11" y="14"/>
                      <a:pt x="10" y="15"/>
                      <a:pt x="11" y="1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04" name="Freeform 1016">
                <a:extLst>
                  <a:ext uri="{FF2B5EF4-FFF2-40B4-BE49-F238E27FC236}">
                    <a16:creationId xmlns:a16="http://schemas.microsoft.com/office/drawing/2014/main" id="{4C050B8A-1A0D-4D6F-9840-A38F7FB6B169}"/>
                  </a:ext>
                </a:extLst>
              </p:cNvPr>
              <p:cNvSpPr>
                <a:spLocks/>
              </p:cNvSpPr>
              <p:nvPr/>
            </p:nvSpPr>
            <p:spPr bwMode="auto">
              <a:xfrm>
                <a:off x="4180" y="2023"/>
                <a:ext cx="8" cy="3"/>
              </a:xfrm>
              <a:custGeom>
                <a:avLst/>
                <a:gdLst>
                  <a:gd name="T0" fmla="*/ 0 w 6"/>
                  <a:gd name="T1" fmla="*/ 2 h 2"/>
                  <a:gd name="T2" fmla="*/ 3 w 6"/>
                  <a:gd name="T3" fmla="*/ 1 h 2"/>
                  <a:gd name="T4" fmla="*/ 0 w 6"/>
                  <a:gd name="T5" fmla="*/ 2 h 2"/>
                </a:gdLst>
                <a:ahLst/>
                <a:cxnLst>
                  <a:cxn ang="0">
                    <a:pos x="T0" y="T1"/>
                  </a:cxn>
                  <a:cxn ang="0">
                    <a:pos x="T2" y="T3"/>
                  </a:cxn>
                  <a:cxn ang="0">
                    <a:pos x="T4" y="T5"/>
                  </a:cxn>
                </a:cxnLst>
                <a:rect l="0" t="0" r="r" b="b"/>
                <a:pathLst>
                  <a:path w="6" h="2">
                    <a:moveTo>
                      <a:pt x="0" y="2"/>
                    </a:moveTo>
                    <a:cubicBezTo>
                      <a:pt x="0" y="2"/>
                      <a:pt x="6" y="1"/>
                      <a:pt x="3" y="1"/>
                    </a:cubicBezTo>
                    <a:cubicBezTo>
                      <a:pt x="1" y="0"/>
                      <a:pt x="0" y="2"/>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05" name="Freeform 1017">
                <a:extLst>
                  <a:ext uri="{FF2B5EF4-FFF2-40B4-BE49-F238E27FC236}">
                    <a16:creationId xmlns:a16="http://schemas.microsoft.com/office/drawing/2014/main" id="{470C581F-C59F-49C5-A09D-FCEDCA8FBA5F}"/>
                  </a:ext>
                </a:extLst>
              </p:cNvPr>
              <p:cNvSpPr>
                <a:spLocks/>
              </p:cNvSpPr>
              <p:nvPr/>
            </p:nvSpPr>
            <p:spPr bwMode="auto">
              <a:xfrm>
                <a:off x="4010" y="2015"/>
                <a:ext cx="228" cy="217"/>
              </a:xfrm>
              <a:custGeom>
                <a:avLst/>
                <a:gdLst>
                  <a:gd name="T0" fmla="*/ 4 w 165"/>
                  <a:gd name="T1" fmla="*/ 19 h 158"/>
                  <a:gd name="T2" fmla="*/ 1 w 165"/>
                  <a:gd name="T3" fmla="*/ 25 h 158"/>
                  <a:gd name="T4" fmla="*/ 3 w 165"/>
                  <a:gd name="T5" fmla="*/ 36 h 158"/>
                  <a:gd name="T6" fmla="*/ 5 w 165"/>
                  <a:gd name="T7" fmla="*/ 70 h 158"/>
                  <a:gd name="T8" fmla="*/ 5 w 165"/>
                  <a:gd name="T9" fmla="*/ 154 h 158"/>
                  <a:gd name="T10" fmla="*/ 99 w 165"/>
                  <a:gd name="T11" fmla="*/ 153 h 158"/>
                  <a:gd name="T12" fmla="*/ 101 w 165"/>
                  <a:gd name="T13" fmla="*/ 153 h 158"/>
                  <a:gd name="T14" fmla="*/ 126 w 165"/>
                  <a:gd name="T15" fmla="*/ 154 h 158"/>
                  <a:gd name="T16" fmla="*/ 132 w 165"/>
                  <a:gd name="T17" fmla="*/ 158 h 158"/>
                  <a:gd name="T18" fmla="*/ 139 w 165"/>
                  <a:gd name="T19" fmla="*/ 157 h 158"/>
                  <a:gd name="T20" fmla="*/ 147 w 165"/>
                  <a:gd name="T21" fmla="*/ 150 h 158"/>
                  <a:gd name="T22" fmla="*/ 155 w 165"/>
                  <a:gd name="T23" fmla="*/ 140 h 158"/>
                  <a:gd name="T24" fmla="*/ 163 w 165"/>
                  <a:gd name="T25" fmla="*/ 136 h 158"/>
                  <a:gd name="T26" fmla="*/ 162 w 165"/>
                  <a:gd name="T27" fmla="*/ 123 h 158"/>
                  <a:gd name="T28" fmla="*/ 160 w 165"/>
                  <a:gd name="T29" fmla="*/ 120 h 158"/>
                  <a:gd name="T30" fmla="*/ 139 w 165"/>
                  <a:gd name="T31" fmla="*/ 82 h 158"/>
                  <a:gd name="T32" fmla="*/ 138 w 165"/>
                  <a:gd name="T33" fmla="*/ 74 h 158"/>
                  <a:gd name="T34" fmla="*/ 130 w 165"/>
                  <a:gd name="T35" fmla="*/ 59 h 158"/>
                  <a:gd name="T36" fmla="*/ 116 w 165"/>
                  <a:gd name="T37" fmla="*/ 37 h 158"/>
                  <a:gd name="T38" fmla="*/ 116 w 165"/>
                  <a:gd name="T39" fmla="*/ 29 h 158"/>
                  <a:gd name="T40" fmla="*/ 118 w 165"/>
                  <a:gd name="T41" fmla="*/ 30 h 158"/>
                  <a:gd name="T42" fmla="*/ 123 w 165"/>
                  <a:gd name="T43" fmla="*/ 40 h 158"/>
                  <a:gd name="T44" fmla="*/ 132 w 165"/>
                  <a:gd name="T45" fmla="*/ 56 h 158"/>
                  <a:gd name="T46" fmla="*/ 143 w 165"/>
                  <a:gd name="T47" fmla="*/ 61 h 158"/>
                  <a:gd name="T48" fmla="*/ 150 w 165"/>
                  <a:gd name="T49" fmla="*/ 41 h 158"/>
                  <a:gd name="T50" fmla="*/ 144 w 165"/>
                  <a:gd name="T51" fmla="*/ 13 h 158"/>
                  <a:gd name="T52" fmla="*/ 142 w 165"/>
                  <a:gd name="T53" fmla="*/ 5 h 158"/>
                  <a:gd name="T54" fmla="*/ 120 w 165"/>
                  <a:gd name="T55" fmla="*/ 10 h 158"/>
                  <a:gd name="T56" fmla="*/ 113 w 165"/>
                  <a:gd name="T57" fmla="*/ 7 h 158"/>
                  <a:gd name="T58" fmla="*/ 110 w 165"/>
                  <a:gd name="T59" fmla="*/ 9 h 158"/>
                  <a:gd name="T60" fmla="*/ 106 w 165"/>
                  <a:gd name="T61" fmla="*/ 2 h 158"/>
                  <a:gd name="T62" fmla="*/ 92 w 165"/>
                  <a:gd name="T63" fmla="*/ 2 h 158"/>
                  <a:gd name="T64" fmla="*/ 83 w 165"/>
                  <a:gd name="T65" fmla="*/ 5 h 158"/>
                  <a:gd name="T66" fmla="*/ 83 w 165"/>
                  <a:gd name="T67" fmla="*/ 7 h 158"/>
                  <a:gd name="T68" fmla="*/ 67 w 165"/>
                  <a:gd name="T69" fmla="*/ 13 h 158"/>
                  <a:gd name="T70" fmla="*/ 54 w 165"/>
                  <a:gd name="T71" fmla="*/ 10 h 158"/>
                  <a:gd name="T72" fmla="*/ 31 w 165"/>
                  <a:gd name="T73" fmla="*/ 3 h 158"/>
                  <a:gd name="T74" fmla="*/ 7 w 165"/>
                  <a:gd name="T75"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5" h="158">
                    <a:moveTo>
                      <a:pt x="3" y="7"/>
                    </a:moveTo>
                    <a:cubicBezTo>
                      <a:pt x="3" y="11"/>
                      <a:pt x="6" y="16"/>
                      <a:pt x="4" y="19"/>
                    </a:cubicBezTo>
                    <a:cubicBezTo>
                      <a:pt x="2" y="22"/>
                      <a:pt x="1" y="23"/>
                      <a:pt x="1" y="23"/>
                    </a:cubicBezTo>
                    <a:cubicBezTo>
                      <a:pt x="1" y="23"/>
                      <a:pt x="0" y="24"/>
                      <a:pt x="1" y="25"/>
                    </a:cubicBezTo>
                    <a:cubicBezTo>
                      <a:pt x="2" y="27"/>
                      <a:pt x="2" y="31"/>
                      <a:pt x="3" y="32"/>
                    </a:cubicBezTo>
                    <a:cubicBezTo>
                      <a:pt x="3" y="34"/>
                      <a:pt x="3" y="35"/>
                      <a:pt x="3" y="36"/>
                    </a:cubicBezTo>
                    <a:cubicBezTo>
                      <a:pt x="4" y="36"/>
                      <a:pt x="4" y="38"/>
                      <a:pt x="4" y="39"/>
                    </a:cubicBezTo>
                    <a:cubicBezTo>
                      <a:pt x="4" y="40"/>
                      <a:pt x="5" y="70"/>
                      <a:pt x="5" y="70"/>
                    </a:cubicBezTo>
                    <a:cubicBezTo>
                      <a:pt x="5" y="109"/>
                      <a:pt x="5" y="109"/>
                      <a:pt x="5" y="109"/>
                    </a:cubicBezTo>
                    <a:cubicBezTo>
                      <a:pt x="5" y="154"/>
                      <a:pt x="5" y="154"/>
                      <a:pt x="5" y="154"/>
                    </a:cubicBezTo>
                    <a:cubicBezTo>
                      <a:pt x="98" y="153"/>
                      <a:pt x="98" y="153"/>
                      <a:pt x="98" y="153"/>
                    </a:cubicBezTo>
                    <a:cubicBezTo>
                      <a:pt x="98" y="153"/>
                      <a:pt x="99" y="153"/>
                      <a:pt x="99" y="153"/>
                    </a:cubicBezTo>
                    <a:cubicBezTo>
                      <a:pt x="99" y="152"/>
                      <a:pt x="101" y="150"/>
                      <a:pt x="101" y="152"/>
                    </a:cubicBezTo>
                    <a:cubicBezTo>
                      <a:pt x="101" y="153"/>
                      <a:pt x="101" y="153"/>
                      <a:pt x="101" y="153"/>
                    </a:cubicBezTo>
                    <a:cubicBezTo>
                      <a:pt x="101" y="153"/>
                      <a:pt x="101" y="154"/>
                      <a:pt x="102" y="154"/>
                    </a:cubicBezTo>
                    <a:cubicBezTo>
                      <a:pt x="102" y="154"/>
                      <a:pt x="126" y="154"/>
                      <a:pt x="126" y="154"/>
                    </a:cubicBezTo>
                    <a:cubicBezTo>
                      <a:pt x="126" y="154"/>
                      <a:pt x="127" y="154"/>
                      <a:pt x="127" y="154"/>
                    </a:cubicBezTo>
                    <a:cubicBezTo>
                      <a:pt x="127" y="155"/>
                      <a:pt x="132" y="158"/>
                      <a:pt x="132" y="158"/>
                    </a:cubicBezTo>
                    <a:cubicBezTo>
                      <a:pt x="132" y="158"/>
                      <a:pt x="132" y="158"/>
                      <a:pt x="133" y="158"/>
                    </a:cubicBezTo>
                    <a:cubicBezTo>
                      <a:pt x="134" y="158"/>
                      <a:pt x="138" y="158"/>
                      <a:pt x="139" y="157"/>
                    </a:cubicBezTo>
                    <a:cubicBezTo>
                      <a:pt x="140" y="155"/>
                      <a:pt x="140" y="152"/>
                      <a:pt x="142" y="151"/>
                    </a:cubicBezTo>
                    <a:cubicBezTo>
                      <a:pt x="143" y="151"/>
                      <a:pt x="147" y="150"/>
                      <a:pt x="147" y="150"/>
                    </a:cubicBezTo>
                    <a:cubicBezTo>
                      <a:pt x="148" y="149"/>
                      <a:pt x="150" y="148"/>
                      <a:pt x="151" y="145"/>
                    </a:cubicBezTo>
                    <a:cubicBezTo>
                      <a:pt x="152" y="141"/>
                      <a:pt x="153" y="141"/>
                      <a:pt x="155" y="140"/>
                    </a:cubicBezTo>
                    <a:cubicBezTo>
                      <a:pt x="156" y="140"/>
                      <a:pt x="158" y="139"/>
                      <a:pt x="158" y="139"/>
                    </a:cubicBezTo>
                    <a:cubicBezTo>
                      <a:pt x="159" y="139"/>
                      <a:pt x="161" y="137"/>
                      <a:pt x="163" y="136"/>
                    </a:cubicBezTo>
                    <a:cubicBezTo>
                      <a:pt x="163" y="136"/>
                      <a:pt x="162" y="135"/>
                      <a:pt x="162" y="135"/>
                    </a:cubicBezTo>
                    <a:cubicBezTo>
                      <a:pt x="161" y="126"/>
                      <a:pt x="160" y="123"/>
                      <a:pt x="162" y="123"/>
                    </a:cubicBezTo>
                    <a:cubicBezTo>
                      <a:pt x="165" y="124"/>
                      <a:pt x="164" y="123"/>
                      <a:pt x="163" y="122"/>
                    </a:cubicBezTo>
                    <a:cubicBezTo>
                      <a:pt x="162" y="121"/>
                      <a:pt x="161" y="121"/>
                      <a:pt x="160" y="120"/>
                    </a:cubicBezTo>
                    <a:cubicBezTo>
                      <a:pt x="159" y="118"/>
                      <a:pt x="153" y="110"/>
                      <a:pt x="149" y="101"/>
                    </a:cubicBezTo>
                    <a:cubicBezTo>
                      <a:pt x="145" y="92"/>
                      <a:pt x="139" y="82"/>
                      <a:pt x="139" y="82"/>
                    </a:cubicBezTo>
                    <a:cubicBezTo>
                      <a:pt x="139" y="82"/>
                      <a:pt x="138" y="81"/>
                      <a:pt x="138" y="80"/>
                    </a:cubicBezTo>
                    <a:cubicBezTo>
                      <a:pt x="138" y="79"/>
                      <a:pt x="139" y="76"/>
                      <a:pt x="138" y="74"/>
                    </a:cubicBezTo>
                    <a:cubicBezTo>
                      <a:pt x="137" y="72"/>
                      <a:pt x="133" y="65"/>
                      <a:pt x="133" y="64"/>
                    </a:cubicBezTo>
                    <a:cubicBezTo>
                      <a:pt x="133" y="63"/>
                      <a:pt x="132" y="61"/>
                      <a:pt x="130" y="59"/>
                    </a:cubicBezTo>
                    <a:cubicBezTo>
                      <a:pt x="128" y="57"/>
                      <a:pt x="122" y="51"/>
                      <a:pt x="121" y="46"/>
                    </a:cubicBezTo>
                    <a:cubicBezTo>
                      <a:pt x="119" y="42"/>
                      <a:pt x="118" y="39"/>
                      <a:pt x="116" y="37"/>
                    </a:cubicBezTo>
                    <a:cubicBezTo>
                      <a:pt x="114" y="35"/>
                      <a:pt x="114" y="33"/>
                      <a:pt x="115" y="31"/>
                    </a:cubicBezTo>
                    <a:cubicBezTo>
                      <a:pt x="116" y="30"/>
                      <a:pt x="116" y="30"/>
                      <a:pt x="116" y="29"/>
                    </a:cubicBezTo>
                    <a:cubicBezTo>
                      <a:pt x="116" y="29"/>
                      <a:pt x="116" y="28"/>
                      <a:pt x="117" y="28"/>
                    </a:cubicBezTo>
                    <a:cubicBezTo>
                      <a:pt x="117" y="28"/>
                      <a:pt x="118" y="29"/>
                      <a:pt x="118" y="30"/>
                    </a:cubicBezTo>
                    <a:cubicBezTo>
                      <a:pt x="119" y="31"/>
                      <a:pt x="120" y="36"/>
                      <a:pt x="120" y="37"/>
                    </a:cubicBezTo>
                    <a:cubicBezTo>
                      <a:pt x="120" y="37"/>
                      <a:pt x="122" y="39"/>
                      <a:pt x="123" y="40"/>
                    </a:cubicBezTo>
                    <a:cubicBezTo>
                      <a:pt x="125" y="41"/>
                      <a:pt x="127" y="43"/>
                      <a:pt x="127" y="47"/>
                    </a:cubicBezTo>
                    <a:cubicBezTo>
                      <a:pt x="127" y="51"/>
                      <a:pt x="129" y="53"/>
                      <a:pt x="132" y="56"/>
                    </a:cubicBezTo>
                    <a:cubicBezTo>
                      <a:pt x="135" y="58"/>
                      <a:pt x="139" y="62"/>
                      <a:pt x="140" y="62"/>
                    </a:cubicBezTo>
                    <a:cubicBezTo>
                      <a:pt x="141" y="63"/>
                      <a:pt x="143" y="64"/>
                      <a:pt x="143" y="61"/>
                    </a:cubicBezTo>
                    <a:cubicBezTo>
                      <a:pt x="144" y="59"/>
                      <a:pt x="145" y="55"/>
                      <a:pt x="146" y="53"/>
                    </a:cubicBezTo>
                    <a:cubicBezTo>
                      <a:pt x="146" y="53"/>
                      <a:pt x="149" y="43"/>
                      <a:pt x="150" y="41"/>
                    </a:cubicBezTo>
                    <a:cubicBezTo>
                      <a:pt x="150" y="39"/>
                      <a:pt x="151" y="37"/>
                      <a:pt x="152" y="35"/>
                    </a:cubicBezTo>
                    <a:cubicBezTo>
                      <a:pt x="150" y="31"/>
                      <a:pt x="145" y="15"/>
                      <a:pt x="144" y="13"/>
                    </a:cubicBezTo>
                    <a:cubicBezTo>
                      <a:pt x="144" y="11"/>
                      <a:pt x="142" y="8"/>
                      <a:pt x="142" y="5"/>
                    </a:cubicBezTo>
                    <a:cubicBezTo>
                      <a:pt x="142" y="5"/>
                      <a:pt x="142" y="5"/>
                      <a:pt x="142" y="5"/>
                    </a:cubicBezTo>
                    <a:cubicBezTo>
                      <a:pt x="141" y="6"/>
                      <a:pt x="138" y="7"/>
                      <a:pt x="136" y="8"/>
                    </a:cubicBezTo>
                    <a:cubicBezTo>
                      <a:pt x="134" y="9"/>
                      <a:pt x="123" y="10"/>
                      <a:pt x="120" y="10"/>
                    </a:cubicBezTo>
                    <a:cubicBezTo>
                      <a:pt x="117" y="10"/>
                      <a:pt x="117" y="9"/>
                      <a:pt x="115" y="7"/>
                    </a:cubicBezTo>
                    <a:cubicBezTo>
                      <a:pt x="113" y="6"/>
                      <a:pt x="112" y="5"/>
                      <a:pt x="113" y="7"/>
                    </a:cubicBezTo>
                    <a:cubicBezTo>
                      <a:pt x="114" y="8"/>
                      <a:pt x="113" y="8"/>
                      <a:pt x="112" y="9"/>
                    </a:cubicBezTo>
                    <a:cubicBezTo>
                      <a:pt x="112" y="9"/>
                      <a:pt x="111" y="9"/>
                      <a:pt x="110" y="9"/>
                    </a:cubicBezTo>
                    <a:cubicBezTo>
                      <a:pt x="109" y="8"/>
                      <a:pt x="105" y="7"/>
                      <a:pt x="106" y="5"/>
                    </a:cubicBezTo>
                    <a:cubicBezTo>
                      <a:pt x="107" y="2"/>
                      <a:pt x="109" y="1"/>
                      <a:pt x="106" y="2"/>
                    </a:cubicBezTo>
                    <a:cubicBezTo>
                      <a:pt x="102" y="4"/>
                      <a:pt x="101" y="3"/>
                      <a:pt x="99" y="2"/>
                    </a:cubicBezTo>
                    <a:cubicBezTo>
                      <a:pt x="97" y="1"/>
                      <a:pt x="95" y="0"/>
                      <a:pt x="92" y="2"/>
                    </a:cubicBezTo>
                    <a:cubicBezTo>
                      <a:pt x="88" y="3"/>
                      <a:pt x="89" y="2"/>
                      <a:pt x="86" y="3"/>
                    </a:cubicBezTo>
                    <a:cubicBezTo>
                      <a:pt x="83" y="5"/>
                      <a:pt x="83" y="5"/>
                      <a:pt x="83" y="5"/>
                    </a:cubicBezTo>
                    <a:cubicBezTo>
                      <a:pt x="82" y="6"/>
                      <a:pt x="82" y="6"/>
                      <a:pt x="83" y="6"/>
                    </a:cubicBezTo>
                    <a:cubicBezTo>
                      <a:pt x="84" y="6"/>
                      <a:pt x="83" y="7"/>
                      <a:pt x="83" y="7"/>
                    </a:cubicBezTo>
                    <a:cubicBezTo>
                      <a:pt x="82" y="6"/>
                      <a:pt x="81" y="6"/>
                      <a:pt x="80" y="6"/>
                    </a:cubicBezTo>
                    <a:cubicBezTo>
                      <a:pt x="80" y="7"/>
                      <a:pt x="70" y="13"/>
                      <a:pt x="67" y="13"/>
                    </a:cubicBezTo>
                    <a:cubicBezTo>
                      <a:pt x="64" y="13"/>
                      <a:pt x="64" y="13"/>
                      <a:pt x="62" y="12"/>
                    </a:cubicBezTo>
                    <a:cubicBezTo>
                      <a:pt x="61" y="11"/>
                      <a:pt x="58" y="10"/>
                      <a:pt x="54" y="10"/>
                    </a:cubicBezTo>
                    <a:cubicBezTo>
                      <a:pt x="50" y="9"/>
                      <a:pt x="44" y="8"/>
                      <a:pt x="41" y="7"/>
                    </a:cubicBezTo>
                    <a:cubicBezTo>
                      <a:pt x="39" y="6"/>
                      <a:pt x="36" y="5"/>
                      <a:pt x="31" y="3"/>
                    </a:cubicBezTo>
                    <a:cubicBezTo>
                      <a:pt x="26" y="2"/>
                      <a:pt x="20" y="0"/>
                      <a:pt x="16" y="1"/>
                    </a:cubicBezTo>
                    <a:cubicBezTo>
                      <a:pt x="12" y="2"/>
                      <a:pt x="9" y="4"/>
                      <a:pt x="7" y="0"/>
                    </a:cubicBezTo>
                    <a:cubicBezTo>
                      <a:pt x="5" y="1"/>
                      <a:pt x="2" y="4"/>
                      <a:pt x="3"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06" name="Freeform 1018">
                <a:extLst>
                  <a:ext uri="{FF2B5EF4-FFF2-40B4-BE49-F238E27FC236}">
                    <a16:creationId xmlns:a16="http://schemas.microsoft.com/office/drawing/2014/main" id="{AC2D83A0-2B90-48A2-A659-00E407A2ABB9}"/>
                  </a:ext>
                </a:extLst>
              </p:cNvPr>
              <p:cNvSpPr>
                <a:spLocks/>
              </p:cNvSpPr>
              <p:nvPr/>
            </p:nvSpPr>
            <p:spPr bwMode="auto">
              <a:xfrm>
                <a:off x="3963" y="1717"/>
                <a:ext cx="127" cy="73"/>
              </a:xfrm>
              <a:custGeom>
                <a:avLst/>
                <a:gdLst>
                  <a:gd name="T0" fmla="*/ 72 w 92"/>
                  <a:gd name="T1" fmla="*/ 2 h 53"/>
                  <a:gd name="T2" fmla="*/ 59 w 92"/>
                  <a:gd name="T3" fmla="*/ 4 h 53"/>
                  <a:gd name="T4" fmla="*/ 49 w 92"/>
                  <a:gd name="T5" fmla="*/ 10 h 53"/>
                  <a:gd name="T6" fmla="*/ 45 w 92"/>
                  <a:gd name="T7" fmla="*/ 11 h 53"/>
                  <a:gd name="T8" fmla="*/ 33 w 92"/>
                  <a:gd name="T9" fmla="*/ 9 h 53"/>
                  <a:gd name="T10" fmla="*/ 29 w 92"/>
                  <a:gd name="T11" fmla="*/ 10 h 53"/>
                  <a:gd name="T12" fmla="*/ 24 w 92"/>
                  <a:gd name="T13" fmla="*/ 9 h 53"/>
                  <a:gd name="T14" fmla="*/ 11 w 92"/>
                  <a:gd name="T15" fmla="*/ 8 h 53"/>
                  <a:gd name="T16" fmla="*/ 9 w 92"/>
                  <a:gd name="T17" fmla="*/ 3 h 53"/>
                  <a:gd name="T18" fmla="*/ 4 w 92"/>
                  <a:gd name="T19" fmla="*/ 0 h 53"/>
                  <a:gd name="T20" fmla="*/ 1 w 92"/>
                  <a:gd name="T21" fmla="*/ 11 h 53"/>
                  <a:gd name="T22" fmla="*/ 9 w 92"/>
                  <a:gd name="T23" fmla="*/ 19 h 53"/>
                  <a:gd name="T24" fmla="*/ 1 w 92"/>
                  <a:gd name="T25" fmla="*/ 27 h 53"/>
                  <a:gd name="T26" fmla="*/ 1 w 92"/>
                  <a:gd name="T27" fmla="*/ 30 h 53"/>
                  <a:gd name="T28" fmla="*/ 0 w 92"/>
                  <a:gd name="T29" fmla="*/ 34 h 53"/>
                  <a:gd name="T30" fmla="*/ 6 w 92"/>
                  <a:gd name="T31" fmla="*/ 41 h 53"/>
                  <a:gd name="T32" fmla="*/ 9 w 92"/>
                  <a:gd name="T33" fmla="*/ 46 h 53"/>
                  <a:gd name="T34" fmla="*/ 15 w 92"/>
                  <a:gd name="T35" fmla="*/ 51 h 53"/>
                  <a:gd name="T36" fmla="*/ 29 w 92"/>
                  <a:gd name="T37" fmla="*/ 48 h 53"/>
                  <a:gd name="T38" fmla="*/ 37 w 92"/>
                  <a:gd name="T39" fmla="*/ 52 h 53"/>
                  <a:gd name="T40" fmla="*/ 42 w 92"/>
                  <a:gd name="T41" fmla="*/ 53 h 53"/>
                  <a:gd name="T42" fmla="*/ 54 w 92"/>
                  <a:gd name="T43" fmla="*/ 52 h 53"/>
                  <a:gd name="T44" fmla="*/ 55 w 92"/>
                  <a:gd name="T45" fmla="*/ 47 h 53"/>
                  <a:gd name="T46" fmla="*/ 59 w 92"/>
                  <a:gd name="T47" fmla="*/ 45 h 53"/>
                  <a:gd name="T48" fmla="*/ 62 w 92"/>
                  <a:gd name="T49" fmla="*/ 42 h 53"/>
                  <a:gd name="T50" fmla="*/ 73 w 92"/>
                  <a:gd name="T51" fmla="*/ 39 h 53"/>
                  <a:gd name="T52" fmla="*/ 76 w 92"/>
                  <a:gd name="T53" fmla="*/ 41 h 53"/>
                  <a:gd name="T54" fmla="*/ 84 w 92"/>
                  <a:gd name="T55" fmla="*/ 40 h 53"/>
                  <a:gd name="T56" fmla="*/ 79 w 92"/>
                  <a:gd name="T57" fmla="*/ 33 h 53"/>
                  <a:gd name="T58" fmla="*/ 77 w 92"/>
                  <a:gd name="T59" fmla="*/ 31 h 53"/>
                  <a:gd name="T60" fmla="*/ 82 w 92"/>
                  <a:gd name="T61" fmla="*/ 21 h 53"/>
                  <a:gd name="T62" fmla="*/ 89 w 92"/>
                  <a:gd name="T63" fmla="*/ 15 h 53"/>
                  <a:gd name="T64" fmla="*/ 92 w 92"/>
                  <a:gd name="T65" fmla="*/ 9 h 53"/>
                  <a:gd name="T66" fmla="*/ 73 w 92"/>
                  <a:gd name="T67" fmla="*/ 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2" h="53">
                    <a:moveTo>
                      <a:pt x="73" y="2"/>
                    </a:moveTo>
                    <a:cubicBezTo>
                      <a:pt x="73" y="2"/>
                      <a:pt x="72" y="2"/>
                      <a:pt x="72" y="2"/>
                    </a:cubicBezTo>
                    <a:cubicBezTo>
                      <a:pt x="72" y="2"/>
                      <a:pt x="61" y="3"/>
                      <a:pt x="60" y="3"/>
                    </a:cubicBezTo>
                    <a:cubicBezTo>
                      <a:pt x="60" y="3"/>
                      <a:pt x="59" y="4"/>
                      <a:pt x="59" y="4"/>
                    </a:cubicBezTo>
                    <a:cubicBezTo>
                      <a:pt x="59" y="4"/>
                      <a:pt x="51" y="9"/>
                      <a:pt x="50" y="9"/>
                    </a:cubicBezTo>
                    <a:cubicBezTo>
                      <a:pt x="50" y="10"/>
                      <a:pt x="49" y="10"/>
                      <a:pt x="49" y="10"/>
                    </a:cubicBezTo>
                    <a:cubicBezTo>
                      <a:pt x="49" y="10"/>
                      <a:pt x="47" y="10"/>
                      <a:pt x="46" y="11"/>
                    </a:cubicBezTo>
                    <a:cubicBezTo>
                      <a:pt x="46" y="11"/>
                      <a:pt x="45" y="11"/>
                      <a:pt x="45" y="11"/>
                    </a:cubicBezTo>
                    <a:cubicBezTo>
                      <a:pt x="45" y="11"/>
                      <a:pt x="35" y="9"/>
                      <a:pt x="34" y="9"/>
                    </a:cubicBezTo>
                    <a:cubicBezTo>
                      <a:pt x="34" y="9"/>
                      <a:pt x="33" y="9"/>
                      <a:pt x="33" y="9"/>
                    </a:cubicBezTo>
                    <a:cubicBezTo>
                      <a:pt x="32" y="9"/>
                      <a:pt x="32" y="9"/>
                      <a:pt x="32" y="9"/>
                    </a:cubicBezTo>
                    <a:cubicBezTo>
                      <a:pt x="32" y="9"/>
                      <a:pt x="30" y="9"/>
                      <a:pt x="29" y="10"/>
                    </a:cubicBezTo>
                    <a:cubicBezTo>
                      <a:pt x="29" y="10"/>
                      <a:pt x="28" y="10"/>
                      <a:pt x="27" y="10"/>
                    </a:cubicBezTo>
                    <a:cubicBezTo>
                      <a:pt x="27" y="10"/>
                      <a:pt x="25" y="9"/>
                      <a:pt x="24" y="9"/>
                    </a:cubicBezTo>
                    <a:cubicBezTo>
                      <a:pt x="23" y="9"/>
                      <a:pt x="17" y="7"/>
                      <a:pt x="16" y="7"/>
                    </a:cubicBezTo>
                    <a:cubicBezTo>
                      <a:pt x="15" y="7"/>
                      <a:pt x="12" y="7"/>
                      <a:pt x="11" y="8"/>
                    </a:cubicBezTo>
                    <a:cubicBezTo>
                      <a:pt x="10" y="8"/>
                      <a:pt x="8" y="7"/>
                      <a:pt x="8" y="7"/>
                    </a:cubicBezTo>
                    <a:cubicBezTo>
                      <a:pt x="7" y="6"/>
                      <a:pt x="9" y="3"/>
                      <a:pt x="9" y="3"/>
                    </a:cubicBezTo>
                    <a:cubicBezTo>
                      <a:pt x="9" y="2"/>
                      <a:pt x="9" y="2"/>
                      <a:pt x="9" y="2"/>
                    </a:cubicBezTo>
                    <a:cubicBezTo>
                      <a:pt x="4" y="0"/>
                      <a:pt x="4" y="0"/>
                      <a:pt x="4" y="0"/>
                    </a:cubicBezTo>
                    <a:cubicBezTo>
                      <a:pt x="0" y="8"/>
                      <a:pt x="0" y="8"/>
                      <a:pt x="0" y="8"/>
                    </a:cubicBezTo>
                    <a:cubicBezTo>
                      <a:pt x="0" y="8"/>
                      <a:pt x="1" y="10"/>
                      <a:pt x="1" y="11"/>
                    </a:cubicBezTo>
                    <a:cubicBezTo>
                      <a:pt x="1" y="12"/>
                      <a:pt x="2" y="15"/>
                      <a:pt x="5" y="16"/>
                    </a:cubicBezTo>
                    <a:cubicBezTo>
                      <a:pt x="8" y="18"/>
                      <a:pt x="9" y="19"/>
                      <a:pt x="9" y="19"/>
                    </a:cubicBezTo>
                    <a:cubicBezTo>
                      <a:pt x="3" y="24"/>
                      <a:pt x="3" y="24"/>
                      <a:pt x="3" y="24"/>
                    </a:cubicBezTo>
                    <a:cubicBezTo>
                      <a:pt x="3" y="24"/>
                      <a:pt x="1" y="25"/>
                      <a:pt x="1" y="27"/>
                    </a:cubicBezTo>
                    <a:cubicBezTo>
                      <a:pt x="1" y="29"/>
                      <a:pt x="1" y="29"/>
                      <a:pt x="1" y="29"/>
                    </a:cubicBezTo>
                    <a:cubicBezTo>
                      <a:pt x="1" y="29"/>
                      <a:pt x="1" y="29"/>
                      <a:pt x="1" y="30"/>
                    </a:cubicBezTo>
                    <a:cubicBezTo>
                      <a:pt x="2" y="30"/>
                      <a:pt x="3" y="32"/>
                      <a:pt x="2" y="33"/>
                    </a:cubicBezTo>
                    <a:cubicBezTo>
                      <a:pt x="0" y="34"/>
                      <a:pt x="0" y="34"/>
                      <a:pt x="0" y="34"/>
                    </a:cubicBezTo>
                    <a:cubicBezTo>
                      <a:pt x="0" y="34"/>
                      <a:pt x="2" y="37"/>
                      <a:pt x="2" y="37"/>
                    </a:cubicBezTo>
                    <a:cubicBezTo>
                      <a:pt x="3" y="38"/>
                      <a:pt x="6" y="40"/>
                      <a:pt x="6" y="41"/>
                    </a:cubicBezTo>
                    <a:cubicBezTo>
                      <a:pt x="7" y="42"/>
                      <a:pt x="8" y="42"/>
                      <a:pt x="8" y="43"/>
                    </a:cubicBezTo>
                    <a:cubicBezTo>
                      <a:pt x="8" y="43"/>
                      <a:pt x="9" y="45"/>
                      <a:pt x="9" y="46"/>
                    </a:cubicBezTo>
                    <a:cubicBezTo>
                      <a:pt x="9" y="46"/>
                      <a:pt x="8" y="49"/>
                      <a:pt x="8" y="52"/>
                    </a:cubicBezTo>
                    <a:cubicBezTo>
                      <a:pt x="10" y="52"/>
                      <a:pt x="14" y="51"/>
                      <a:pt x="15" y="51"/>
                    </a:cubicBezTo>
                    <a:cubicBezTo>
                      <a:pt x="16" y="51"/>
                      <a:pt x="18" y="51"/>
                      <a:pt x="19" y="51"/>
                    </a:cubicBezTo>
                    <a:cubicBezTo>
                      <a:pt x="21" y="50"/>
                      <a:pt x="26" y="48"/>
                      <a:pt x="29" y="48"/>
                    </a:cubicBezTo>
                    <a:cubicBezTo>
                      <a:pt x="32" y="47"/>
                      <a:pt x="35" y="50"/>
                      <a:pt x="35" y="51"/>
                    </a:cubicBezTo>
                    <a:cubicBezTo>
                      <a:pt x="36" y="51"/>
                      <a:pt x="37" y="52"/>
                      <a:pt x="37" y="52"/>
                    </a:cubicBezTo>
                    <a:cubicBezTo>
                      <a:pt x="37" y="52"/>
                      <a:pt x="40" y="52"/>
                      <a:pt x="41" y="52"/>
                    </a:cubicBezTo>
                    <a:cubicBezTo>
                      <a:pt x="41" y="52"/>
                      <a:pt x="42" y="53"/>
                      <a:pt x="42" y="53"/>
                    </a:cubicBezTo>
                    <a:cubicBezTo>
                      <a:pt x="42" y="53"/>
                      <a:pt x="43" y="53"/>
                      <a:pt x="44" y="53"/>
                    </a:cubicBezTo>
                    <a:cubicBezTo>
                      <a:pt x="44" y="53"/>
                      <a:pt x="52" y="53"/>
                      <a:pt x="54" y="52"/>
                    </a:cubicBezTo>
                    <a:cubicBezTo>
                      <a:pt x="57" y="52"/>
                      <a:pt x="56" y="49"/>
                      <a:pt x="56" y="48"/>
                    </a:cubicBezTo>
                    <a:cubicBezTo>
                      <a:pt x="56" y="47"/>
                      <a:pt x="56" y="47"/>
                      <a:pt x="55" y="47"/>
                    </a:cubicBezTo>
                    <a:cubicBezTo>
                      <a:pt x="55" y="46"/>
                      <a:pt x="55" y="46"/>
                      <a:pt x="55" y="45"/>
                    </a:cubicBezTo>
                    <a:cubicBezTo>
                      <a:pt x="55" y="45"/>
                      <a:pt x="58" y="45"/>
                      <a:pt x="59" y="45"/>
                    </a:cubicBezTo>
                    <a:cubicBezTo>
                      <a:pt x="59" y="45"/>
                      <a:pt x="61" y="43"/>
                      <a:pt x="61" y="43"/>
                    </a:cubicBezTo>
                    <a:cubicBezTo>
                      <a:pt x="62" y="43"/>
                      <a:pt x="62" y="42"/>
                      <a:pt x="62" y="42"/>
                    </a:cubicBezTo>
                    <a:cubicBezTo>
                      <a:pt x="62" y="42"/>
                      <a:pt x="63" y="42"/>
                      <a:pt x="63" y="42"/>
                    </a:cubicBezTo>
                    <a:cubicBezTo>
                      <a:pt x="63" y="42"/>
                      <a:pt x="72" y="39"/>
                      <a:pt x="73" y="39"/>
                    </a:cubicBezTo>
                    <a:cubicBezTo>
                      <a:pt x="73" y="39"/>
                      <a:pt x="74" y="39"/>
                      <a:pt x="74" y="39"/>
                    </a:cubicBezTo>
                    <a:cubicBezTo>
                      <a:pt x="74" y="39"/>
                      <a:pt x="76" y="41"/>
                      <a:pt x="76" y="41"/>
                    </a:cubicBezTo>
                    <a:cubicBezTo>
                      <a:pt x="76" y="41"/>
                      <a:pt x="78" y="41"/>
                      <a:pt x="78" y="41"/>
                    </a:cubicBezTo>
                    <a:cubicBezTo>
                      <a:pt x="84" y="40"/>
                      <a:pt x="84" y="40"/>
                      <a:pt x="84" y="40"/>
                    </a:cubicBezTo>
                    <a:cubicBezTo>
                      <a:pt x="84" y="40"/>
                      <a:pt x="84" y="40"/>
                      <a:pt x="83" y="40"/>
                    </a:cubicBezTo>
                    <a:cubicBezTo>
                      <a:pt x="82" y="38"/>
                      <a:pt x="79" y="34"/>
                      <a:pt x="79" y="33"/>
                    </a:cubicBezTo>
                    <a:cubicBezTo>
                      <a:pt x="79" y="32"/>
                      <a:pt x="78" y="32"/>
                      <a:pt x="78" y="32"/>
                    </a:cubicBezTo>
                    <a:cubicBezTo>
                      <a:pt x="77" y="32"/>
                      <a:pt x="74" y="33"/>
                      <a:pt x="77" y="31"/>
                    </a:cubicBezTo>
                    <a:cubicBezTo>
                      <a:pt x="80" y="29"/>
                      <a:pt x="82" y="27"/>
                      <a:pt x="82" y="26"/>
                    </a:cubicBezTo>
                    <a:cubicBezTo>
                      <a:pt x="82" y="24"/>
                      <a:pt x="82" y="22"/>
                      <a:pt x="82" y="21"/>
                    </a:cubicBezTo>
                    <a:cubicBezTo>
                      <a:pt x="83" y="19"/>
                      <a:pt x="82" y="19"/>
                      <a:pt x="83" y="18"/>
                    </a:cubicBezTo>
                    <a:cubicBezTo>
                      <a:pt x="84" y="18"/>
                      <a:pt x="87" y="15"/>
                      <a:pt x="89" y="15"/>
                    </a:cubicBezTo>
                    <a:cubicBezTo>
                      <a:pt x="91" y="15"/>
                      <a:pt x="91" y="16"/>
                      <a:pt x="91" y="14"/>
                    </a:cubicBezTo>
                    <a:cubicBezTo>
                      <a:pt x="92" y="13"/>
                      <a:pt x="92" y="11"/>
                      <a:pt x="92" y="9"/>
                    </a:cubicBezTo>
                    <a:cubicBezTo>
                      <a:pt x="88" y="7"/>
                      <a:pt x="75" y="3"/>
                      <a:pt x="75" y="3"/>
                    </a:cubicBezTo>
                    <a:cubicBezTo>
                      <a:pt x="75" y="3"/>
                      <a:pt x="73" y="2"/>
                      <a:pt x="7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07" name="Freeform 1019">
                <a:extLst>
                  <a:ext uri="{FF2B5EF4-FFF2-40B4-BE49-F238E27FC236}">
                    <a16:creationId xmlns:a16="http://schemas.microsoft.com/office/drawing/2014/main" id="{35B90A27-EC1F-4DBF-B779-D48490A4CB59}"/>
                  </a:ext>
                </a:extLst>
              </p:cNvPr>
              <p:cNvSpPr>
                <a:spLocks/>
              </p:cNvSpPr>
              <p:nvPr/>
            </p:nvSpPr>
            <p:spPr bwMode="auto">
              <a:xfrm>
                <a:off x="3920" y="1614"/>
                <a:ext cx="192" cy="118"/>
              </a:xfrm>
              <a:custGeom>
                <a:avLst/>
                <a:gdLst>
                  <a:gd name="T0" fmla="*/ 117 w 139"/>
                  <a:gd name="T1" fmla="*/ 52 h 86"/>
                  <a:gd name="T2" fmla="*/ 116 w 139"/>
                  <a:gd name="T3" fmla="*/ 41 h 86"/>
                  <a:gd name="T4" fmla="*/ 118 w 139"/>
                  <a:gd name="T5" fmla="*/ 36 h 86"/>
                  <a:gd name="T6" fmla="*/ 118 w 139"/>
                  <a:gd name="T7" fmla="*/ 30 h 86"/>
                  <a:gd name="T8" fmla="*/ 116 w 139"/>
                  <a:gd name="T9" fmla="*/ 26 h 86"/>
                  <a:gd name="T10" fmla="*/ 114 w 139"/>
                  <a:gd name="T11" fmla="*/ 23 h 86"/>
                  <a:gd name="T12" fmla="*/ 106 w 139"/>
                  <a:gd name="T13" fmla="*/ 14 h 86"/>
                  <a:gd name="T14" fmla="*/ 104 w 139"/>
                  <a:gd name="T15" fmla="*/ 11 h 86"/>
                  <a:gd name="T16" fmla="*/ 100 w 139"/>
                  <a:gd name="T17" fmla="*/ 3 h 86"/>
                  <a:gd name="T18" fmla="*/ 94 w 139"/>
                  <a:gd name="T19" fmla="*/ 0 h 86"/>
                  <a:gd name="T20" fmla="*/ 85 w 139"/>
                  <a:gd name="T21" fmla="*/ 5 h 86"/>
                  <a:gd name="T22" fmla="*/ 70 w 139"/>
                  <a:gd name="T23" fmla="*/ 10 h 86"/>
                  <a:gd name="T24" fmla="*/ 64 w 139"/>
                  <a:gd name="T25" fmla="*/ 6 h 86"/>
                  <a:gd name="T26" fmla="*/ 49 w 139"/>
                  <a:gd name="T27" fmla="*/ 5 h 86"/>
                  <a:gd name="T28" fmla="*/ 47 w 139"/>
                  <a:gd name="T29" fmla="*/ 5 h 86"/>
                  <a:gd name="T30" fmla="*/ 38 w 139"/>
                  <a:gd name="T31" fmla="*/ 6 h 86"/>
                  <a:gd name="T32" fmla="*/ 28 w 139"/>
                  <a:gd name="T33" fmla="*/ 13 h 86"/>
                  <a:gd name="T34" fmla="*/ 20 w 139"/>
                  <a:gd name="T35" fmla="*/ 24 h 86"/>
                  <a:gd name="T36" fmla="*/ 17 w 139"/>
                  <a:gd name="T37" fmla="*/ 30 h 86"/>
                  <a:gd name="T38" fmla="*/ 14 w 139"/>
                  <a:gd name="T39" fmla="*/ 36 h 86"/>
                  <a:gd name="T40" fmla="*/ 10 w 139"/>
                  <a:gd name="T41" fmla="*/ 38 h 86"/>
                  <a:gd name="T42" fmla="*/ 7 w 139"/>
                  <a:gd name="T43" fmla="*/ 38 h 86"/>
                  <a:gd name="T44" fmla="*/ 6 w 139"/>
                  <a:gd name="T45" fmla="*/ 40 h 86"/>
                  <a:gd name="T46" fmla="*/ 6 w 139"/>
                  <a:gd name="T47" fmla="*/ 48 h 86"/>
                  <a:gd name="T48" fmla="*/ 8 w 139"/>
                  <a:gd name="T49" fmla="*/ 52 h 86"/>
                  <a:gd name="T50" fmla="*/ 18 w 139"/>
                  <a:gd name="T51" fmla="*/ 58 h 86"/>
                  <a:gd name="T52" fmla="*/ 19 w 139"/>
                  <a:gd name="T53" fmla="*/ 62 h 86"/>
                  <a:gd name="T54" fmla="*/ 18 w 139"/>
                  <a:gd name="T55" fmla="*/ 65 h 86"/>
                  <a:gd name="T56" fmla="*/ 26 w 139"/>
                  <a:gd name="T57" fmla="*/ 69 h 86"/>
                  <a:gd name="T58" fmla="*/ 34 w 139"/>
                  <a:gd name="T59" fmla="*/ 67 h 86"/>
                  <a:gd name="T60" fmla="*/ 35 w 139"/>
                  <a:gd name="T61" fmla="*/ 69 h 86"/>
                  <a:gd name="T62" fmla="*/ 33 w 139"/>
                  <a:gd name="T63" fmla="*/ 72 h 86"/>
                  <a:gd name="T64" fmla="*/ 35 w 139"/>
                  <a:gd name="T65" fmla="*/ 75 h 86"/>
                  <a:gd name="T66" fmla="*/ 40 w 139"/>
                  <a:gd name="T67" fmla="*/ 78 h 86"/>
                  <a:gd name="T68" fmla="*/ 42 w 139"/>
                  <a:gd name="T69" fmla="*/ 83 h 86"/>
                  <a:gd name="T70" fmla="*/ 55 w 139"/>
                  <a:gd name="T71" fmla="*/ 84 h 86"/>
                  <a:gd name="T72" fmla="*/ 60 w 139"/>
                  <a:gd name="T73" fmla="*/ 85 h 86"/>
                  <a:gd name="T74" fmla="*/ 64 w 139"/>
                  <a:gd name="T75" fmla="*/ 84 h 86"/>
                  <a:gd name="T76" fmla="*/ 76 w 139"/>
                  <a:gd name="T77" fmla="*/ 86 h 86"/>
                  <a:gd name="T78" fmla="*/ 80 w 139"/>
                  <a:gd name="T79" fmla="*/ 85 h 86"/>
                  <a:gd name="T80" fmla="*/ 90 w 139"/>
                  <a:gd name="T81" fmla="*/ 79 h 86"/>
                  <a:gd name="T82" fmla="*/ 103 w 139"/>
                  <a:gd name="T83" fmla="*/ 77 h 86"/>
                  <a:gd name="T84" fmla="*/ 106 w 139"/>
                  <a:gd name="T85" fmla="*/ 78 h 86"/>
                  <a:gd name="T86" fmla="*/ 124 w 139"/>
                  <a:gd name="T87" fmla="*/ 82 h 86"/>
                  <a:gd name="T88" fmla="*/ 127 w 139"/>
                  <a:gd name="T89" fmla="*/ 69 h 86"/>
                  <a:gd name="T90" fmla="*/ 129 w 139"/>
                  <a:gd name="T91" fmla="*/ 67 h 86"/>
                  <a:gd name="T92" fmla="*/ 131 w 139"/>
                  <a:gd name="T93" fmla="*/ 61 h 86"/>
                  <a:gd name="T94" fmla="*/ 138 w 139"/>
                  <a:gd name="T95" fmla="*/ 63 h 86"/>
                  <a:gd name="T96" fmla="*/ 139 w 139"/>
                  <a:gd name="T97" fmla="*/ 58 h 86"/>
                  <a:gd name="T98" fmla="*/ 136 w 139"/>
                  <a:gd name="T99" fmla="*/ 53 h 86"/>
                  <a:gd name="T100" fmla="*/ 127 w 139"/>
                  <a:gd name="T101" fmla="*/ 56 h 86"/>
                  <a:gd name="T102" fmla="*/ 125 w 139"/>
                  <a:gd name="T103" fmla="*/ 57 h 86"/>
                  <a:gd name="T104" fmla="*/ 118 w 139"/>
                  <a:gd name="T105" fmla="*/ 5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9" h="86">
                    <a:moveTo>
                      <a:pt x="118" y="53"/>
                    </a:moveTo>
                    <a:cubicBezTo>
                      <a:pt x="117" y="52"/>
                      <a:pt x="117" y="52"/>
                      <a:pt x="117" y="52"/>
                    </a:cubicBezTo>
                    <a:cubicBezTo>
                      <a:pt x="116" y="51"/>
                      <a:pt x="115" y="49"/>
                      <a:pt x="116" y="48"/>
                    </a:cubicBezTo>
                    <a:cubicBezTo>
                      <a:pt x="116" y="48"/>
                      <a:pt x="116" y="42"/>
                      <a:pt x="116" y="41"/>
                    </a:cubicBezTo>
                    <a:cubicBezTo>
                      <a:pt x="116" y="41"/>
                      <a:pt x="116" y="40"/>
                      <a:pt x="116" y="40"/>
                    </a:cubicBezTo>
                    <a:cubicBezTo>
                      <a:pt x="116" y="40"/>
                      <a:pt x="117" y="36"/>
                      <a:pt x="118" y="36"/>
                    </a:cubicBezTo>
                    <a:cubicBezTo>
                      <a:pt x="118" y="35"/>
                      <a:pt x="118" y="32"/>
                      <a:pt x="118" y="31"/>
                    </a:cubicBezTo>
                    <a:cubicBezTo>
                      <a:pt x="118" y="31"/>
                      <a:pt x="118" y="30"/>
                      <a:pt x="118" y="30"/>
                    </a:cubicBezTo>
                    <a:cubicBezTo>
                      <a:pt x="118" y="30"/>
                      <a:pt x="117" y="28"/>
                      <a:pt x="116" y="28"/>
                    </a:cubicBezTo>
                    <a:cubicBezTo>
                      <a:pt x="116" y="27"/>
                      <a:pt x="116" y="27"/>
                      <a:pt x="116" y="26"/>
                    </a:cubicBezTo>
                    <a:cubicBezTo>
                      <a:pt x="116" y="26"/>
                      <a:pt x="116" y="25"/>
                      <a:pt x="116" y="24"/>
                    </a:cubicBezTo>
                    <a:cubicBezTo>
                      <a:pt x="116" y="24"/>
                      <a:pt x="115" y="23"/>
                      <a:pt x="114" y="23"/>
                    </a:cubicBezTo>
                    <a:cubicBezTo>
                      <a:pt x="114" y="23"/>
                      <a:pt x="108" y="17"/>
                      <a:pt x="108" y="17"/>
                    </a:cubicBezTo>
                    <a:cubicBezTo>
                      <a:pt x="108" y="17"/>
                      <a:pt x="106" y="15"/>
                      <a:pt x="106" y="14"/>
                    </a:cubicBezTo>
                    <a:cubicBezTo>
                      <a:pt x="106" y="13"/>
                      <a:pt x="106" y="13"/>
                      <a:pt x="105" y="12"/>
                    </a:cubicBezTo>
                    <a:cubicBezTo>
                      <a:pt x="105" y="12"/>
                      <a:pt x="104" y="12"/>
                      <a:pt x="104" y="11"/>
                    </a:cubicBezTo>
                    <a:cubicBezTo>
                      <a:pt x="104" y="11"/>
                      <a:pt x="103" y="7"/>
                      <a:pt x="103" y="7"/>
                    </a:cubicBezTo>
                    <a:cubicBezTo>
                      <a:pt x="102" y="6"/>
                      <a:pt x="100" y="4"/>
                      <a:pt x="100" y="3"/>
                    </a:cubicBezTo>
                    <a:cubicBezTo>
                      <a:pt x="100" y="3"/>
                      <a:pt x="99" y="2"/>
                      <a:pt x="99" y="2"/>
                    </a:cubicBezTo>
                    <a:cubicBezTo>
                      <a:pt x="94" y="0"/>
                      <a:pt x="94" y="0"/>
                      <a:pt x="94" y="0"/>
                    </a:cubicBezTo>
                    <a:cubicBezTo>
                      <a:pt x="92" y="2"/>
                      <a:pt x="87" y="5"/>
                      <a:pt x="87" y="5"/>
                    </a:cubicBezTo>
                    <a:cubicBezTo>
                      <a:pt x="86" y="5"/>
                      <a:pt x="85" y="5"/>
                      <a:pt x="85" y="5"/>
                    </a:cubicBezTo>
                    <a:cubicBezTo>
                      <a:pt x="85" y="5"/>
                      <a:pt x="78" y="6"/>
                      <a:pt x="76" y="7"/>
                    </a:cubicBezTo>
                    <a:cubicBezTo>
                      <a:pt x="74" y="7"/>
                      <a:pt x="70" y="9"/>
                      <a:pt x="70" y="10"/>
                    </a:cubicBezTo>
                    <a:cubicBezTo>
                      <a:pt x="69" y="11"/>
                      <a:pt x="68" y="10"/>
                      <a:pt x="68" y="10"/>
                    </a:cubicBezTo>
                    <a:cubicBezTo>
                      <a:pt x="68" y="10"/>
                      <a:pt x="64" y="7"/>
                      <a:pt x="64" y="6"/>
                    </a:cubicBezTo>
                    <a:cubicBezTo>
                      <a:pt x="64" y="6"/>
                      <a:pt x="63" y="6"/>
                      <a:pt x="63" y="6"/>
                    </a:cubicBezTo>
                    <a:cubicBezTo>
                      <a:pt x="63" y="6"/>
                      <a:pt x="49" y="5"/>
                      <a:pt x="49" y="5"/>
                    </a:cubicBezTo>
                    <a:cubicBezTo>
                      <a:pt x="48" y="5"/>
                      <a:pt x="48" y="5"/>
                      <a:pt x="48" y="5"/>
                    </a:cubicBezTo>
                    <a:cubicBezTo>
                      <a:pt x="47" y="5"/>
                      <a:pt x="48" y="6"/>
                      <a:pt x="47" y="5"/>
                    </a:cubicBezTo>
                    <a:cubicBezTo>
                      <a:pt x="46" y="4"/>
                      <a:pt x="44" y="3"/>
                      <a:pt x="43" y="3"/>
                    </a:cubicBezTo>
                    <a:cubicBezTo>
                      <a:pt x="42" y="3"/>
                      <a:pt x="39" y="5"/>
                      <a:pt x="38" y="6"/>
                    </a:cubicBezTo>
                    <a:cubicBezTo>
                      <a:pt x="38" y="6"/>
                      <a:pt x="38" y="6"/>
                      <a:pt x="38" y="6"/>
                    </a:cubicBezTo>
                    <a:cubicBezTo>
                      <a:pt x="38" y="6"/>
                      <a:pt x="28" y="12"/>
                      <a:pt x="28" y="13"/>
                    </a:cubicBezTo>
                    <a:cubicBezTo>
                      <a:pt x="27" y="13"/>
                      <a:pt x="27" y="13"/>
                      <a:pt x="27" y="13"/>
                    </a:cubicBezTo>
                    <a:cubicBezTo>
                      <a:pt x="26" y="14"/>
                      <a:pt x="20" y="23"/>
                      <a:pt x="20" y="24"/>
                    </a:cubicBezTo>
                    <a:cubicBezTo>
                      <a:pt x="20" y="25"/>
                      <a:pt x="18" y="29"/>
                      <a:pt x="18" y="29"/>
                    </a:cubicBezTo>
                    <a:cubicBezTo>
                      <a:pt x="18" y="29"/>
                      <a:pt x="18" y="30"/>
                      <a:pt x="17" y="30"/>
                    </a:cubicBezTo>
                    <a:cubicBezTo>
                      <a:pt x="17" y="30"/>
                      <a:pt x="17" y="31"/>
                      <a:pt x="17" y="31"/>
                    </a:cubicBezTo>
                    <a:cubicBezTo>
                      <a:pt x="16" y="32"/>
                      <a:pt x="14" y="35"/>
                      <a:pt x="14" y="36"/>
                    </a:cubicBezTo>
                    <a:cubicBezTo>
                      <a:pt x="13" y="36"/>
                      <a:pt x="13" y="36"/>
                      <a:pt x="13" y="37"/>
                    </a:cubicBezTo>
                    <a:cubicBezTo>
                      <a:pt x="13" y="37"/>
                      <a:pt x="12" y="37"/>
                      <a:pt x="10" y="38"/>
                    </a:cubicBezTo>
                    <a:cubicBezTo>
                      <a:pt x="9" y="38"/>
                      <a:pt x="8" y="38"/>
                      <a:pt x="8" y="38"/>
                    </a:cubicBezTo>
                    <a:cubicBezTo>
                      <a:pt x="8" y="38"/>
                      <a:pt x="7" y="37"/>
                      <a:pt x="7" y="38"/>
                    </a:cubicBezTo>
                    <a:cubicBezTo>
                      <a:pt x="7" y="38"/>
                      <a:pt x="6" y="39"/>
                      <a:pt x="6" y="39"/>
                    </a:cubicBezTo>
                    <a:cubicBezTo>
                      <a:pt x="6" y="39"/>
                      <a:pt x="6" y="39"/>
                      <a:pt x="6" y="40"/>
                    </a:cubicBezTo>
                    <a:cubicBezTo>
                      <a:pt x="6" y="40"/>
                      <a:pt x="0" y="41"/>
                      <a:pt x="0" y="41"/>
                    </a:cubicBezTo>
                    <a:cubicBezTo>
                      <a:pt x="0" y="41"/>
                      <a:pt x="5" y="47"/>
                      <a:pt x="6" y="48"/>
                    </a:cubicBezTo>
                    <a:cubicBezTo>
                      <a:pt x="6" y="49"/>
                      <a:pt x="8" y="51"/>
                      <a:pt x="8" y="51"/>
                    </a:cubicBezTo>
                    <a:cubicBezTo>
                      <a:pt x="8" y="52"/>
                      <a:pt x="7" y="52"/>
                      <a:pt x="8" y="52"/>
                    </a:cubicBezTo>
                    <a:cubicBezTo>
                      <a:pt x="9" y="53"/>
                      <a:pt x="12" y="55"/>
                      <a:pt x="14" y="56"/>
                    </a:cubicBezTo>
                    <a:cubicBezTo>
                      <a:pt x="16" y="57"/>
                      <a:pt x="17" y="58"/>
                      <a:pt x="18" y="58"/>
                    </a:cubicBezTo>
                    <a:cubicBezTo>
                      <a:pt x="18" y="58"/>
                      <a:pt x="18" y="58"/>
                      <a:pt x="18" y="59"/>
                    </a:cubicBezTo>
                    <a:cubicBezTo>
                      <a:pt x="18" y="59"/>
                      <a:pt x="19" y="62"/>
                      <a:pt x="19" y="62"/>
                    </a:cubicBezTo>
                    <a:cubicBezTo>
                      <a:pt x="19" y="62"/>
                      <a:pt x="19" y="63"/>
                      <a:pt x="17" y="64"/>
                    </a:cubicBezTo>
                    <a:cubicBezTo>
                      <a:pt x="15" y="64"/>
                      <a:pt x="17" y="64"/>
                      <a:pt x="18" y="65"/>
                    </a:cubicBezTo>
                    <a:cubicBezTo>
                      <a:pt x="18" y="65"/>
                      <a:pt x="25" y="68"/>
                      <a:pt x="25" y="68"/>
                    </a:cubicBezTo>
                    <a:cubicBezTo>
                      <a:pt x="25" y="68"/>
                      <a:pt x="26" y="69"/>
                      <a:pt x="26" y="69"/>
                    </a:cubicBezTo>
                    <a:cubicBezTo>
                      <a:pt x="26" y="69"/>
                      <a:pt x="27" y="70"/>
                      <a:pt x="28" y="70"/>
                    </a:cubicBezTo>
                    <a:cubicBezTo>
                      <a:pt x="29" y="69"/>
                      <a:pt x="32" y="66"/>
                      <a:pt x="34" y="67"/>
                    </a:cubicBezTo>
                    <a:cubicBezTo>
                      <a:pt x="36" y="68"/>
                      <a:pt x="37" y="69"/>
                      <a:pt x="36" y="69"/>
                    </a:cubicBezTo>
                    <a:cubicBezTo>
                      <a:pt x="36" y="70"/>
                      <a:pt x="36" y="70"/>
                      <a:pt x="35" y="69"/>
                    </a:cubicBezTo>
                    <a:cubicBezTo>
                      <a:pt x="35" y="69"/>
                      <a:pt x="34" y="69"/>
                      <a:pt x="34" y="70"/>
                    </a:cubicBezTo>
                    <a:cubicBezTo>
                      <a:pt x="33" y="70"/>
                      <a:pt x="32" y="72"/>
                      <a:pt x="33" y="72"/>
                    </a:cubicBezTo>
                    <a:cubicBezTo>
                      <a:pt x="33" y="73"/>
                      <a:pt x="35" y="75"/>
                      <a:pt x="35" y="75"/>
                    </a:cubicBezTo>
                    <a:cubicBezTo>
                      <a:pt x="35" y="75"/>
                      <a:pt x="35" y="75"/>
                      <a:pt x="35" y="75"/>
                    </a:cubicBezTo>
                    <a:cubicBezTo>
                      <a:pt x="40" y="77"/>
                      <a:pt x="40" y="77"/>
                      <a:pt x="40" y="77"/>
                    </a:cubicBezTo>
                    <a:cubicBezTo>
                      <a:pt x="40" y="77"/>
                      <a:pt x="40" y="77"/>
                      <a:pt x="40" y="78"/>
                    </a:cubicBezTo>
                    <a:cubicBezTo>
                      <a:pt x="40" y="78"/>
                      <a:pt x="38" y="81"/>
                      <a:pt x="39" y="82"/>
                    </a:cubicBezTo>
                    <a:cubicBezTo>
                      <a:pt x="39" y="82"/>
                      <a:pt x="41" y="83"/>
                      <a:pt x="42" y="83"/>
                    </a:cubicBezTo>
                    <a:cubicBezTo>
                      <a:pt x="43" y="82"/>
                      <a:pt x="46" y="82"/>
                      <a:pt x="47" y="82"/>
                    </a:cubicBezTo>
                    <a:cubicBezTo>
                      <a:pt x="48" y="82"/>
                      <a:pt x="54" y="84"/>
                      <a:pt x="55" y="84"/>
                    </a:cubicBezTo>
                    <a:cubicBezTo>
                      <a:pt x="56" y="84"/>
                      <a:pt x="58" y="85"/>
                      <a:pt x="58" y="85"/>
                    </a:cubicBezTo>
                    <a:cubicBezTo>
                      <a:pt x="59" y="85"/>
                      <a:pt x="60" y="85"/>
                      <a:pt x="60" y="85"/>
                    </a:cubicBezTo>
                    <a:cubicBezTo>
                      <a:pt x="61" y="84"/>
                      <a:pt x="63" y="84"/>
                      <a:pt x="63" y="84"/>
                    </a:cubicBezTo>
                    <a:cubicBezTo>
                      <a:pt x="63" y="84"/>
                      <a:pt x="63" y="84"/>
                      <a:pt x="64" y="84"/>
                    </a:cubicBezTo>
                    <a:cubicBezTo>
                      <a:pt x="64" y="84"/>
                      <a:pt x="65" y="84"/>
                      <a:pt x="65" y="84"/>
                    </a:cubicBezTo>
                    <a:cubicBezTo>
                      <a:pt x="66" y="84"/>
                      <a:pt x="76" y="86"/>
                      <a:pt x="76" y="86"/>
                    </a:cubicBezTo>
                    <a:cubicBezTo>
                      <a:pt x="76" y="86"/>
                      <a:pt x="77" y="86"/>
                      <a:pt x="77" y="86"/>
                    </a:cubicBezTo>
                    <a:cubicBezTo>
                      <a:pt x="78" y="85"/>
                      <a:pt x="80" y="85"/>
                      <a:pt x="80" y="85"/>
                    </a:cubicBezTo>
                    <a:cubicBezTo>
                      <a:pt x="80" y="85"/>
                      <a:pt x="81" y="85"/>
                      <a:pt x="81" y="84"/>
                    </a:cubicBezTo>
                    <a:cubicBezTo>
                      <a:pt x="82" y="84"/>
                      <a:pt x="90" y="79"/>
                      <a:pt x="90" y="79"/>
                    </a:cubicBezTo>
                    <a:cubicBezTo>
                      <a:pt x="90" y="79"/>
                      <a:pt x="91" y="78"/>
                      <a:pt x="91" y="78"/>
                    </a:cubicBezTo>
                    <a:cubicBezTo>
                      <a:pt x="92" y="78"/>
                      <a:pt x="103" y="77"/>
                      <a:pt x="103" y="77"/>
                    </a:cubicBezTo>
                    <a:cubicBezTo>
                      <a:pt x="103" y="77"/>
                      <a:pt x="104" y="77"/>
                      <a:pt x="104" y="77"/>
                    </a:cubicBezTo>
                    <a:cubicBezTo>
                      <a:pt x="104" y="77"/>
                      <a:pt x="106" y="78"/>
                      <a:pt x="106" y="78"/>
                    </a:cubicBezTo>
                    <a:cubicBezTo>
                      <a:pt x="106" y="78"/>
                      <a:pt x="119" y="82"/>
                      <a:pt x="123" y="84"/>
                    </a:cubicBezTo>
                    <a:cubicBezTo>
                      <a:pt x="123" y="83"/>
                      <a:pt x="123" y="82"/>
                      <a:pt x="124" y="82"/>
                    </a:cubicBezTo>
                    <a:cubicBezTo>
                      <a:pt x="124" y="79"/>
                      <a:pt x="124" y="73"/>
                      <a:pt x="126" y="71"/>
                    </a:cubicBezTo>
                    <a:cubicBezTo>
                      <a:pt x="128" y="69"/>
                      <a:pt x="128" y="69"/>
                      <a:pt x="127" y="69"/>
                    </a:cubicBezTo>
                    <a:cubicBezTo>
                      <a:pt x="126" y="69"/>
                      <a:pt x="125" y="68"/>
                      <a:pt x="126" y="68"/>
                    </a:cubicBezTo>
                    <a:cubicBezTo>
                      <a:pt x="127" y="67"/>
                      <a:pt x="130" y="67"/>
                      <a:pt x="129" y="67"/>
                    </a:cubicBezTo>
                    <a:cubicBezTo>
                      <a:pt x="128" y="67"/>
                      <a:pt x="126" y="67"/>
                      <a:pt x="127" y="65"/>
                    </a:cubicBezTo>
                    <a:cubicBezTo>
                      <a:pt x="128" y="63"/>
                      <a:pt x="130" y="60"/>
                      <a:pt x="131" y="61"/>
                    </a:cubicBezTo>
                    <a:cubicBezTo>
                      <a:pt x="132" y="62"/>
                      <a:pt x="130" y="63"/>
                      <a:pt x="131" y="63"/>
                    </a:cubicBezTo>
                    <a:cubicBezTo>
                      <a:pt x="132" y="63"/>
                      <a:pt x="136" y="64"/>
                      <a:pt x="138" y="63"/>
                    </a:cubicBezTo>
                    <a:cubicBezTo>
                      <a:pt x="139" y="63"/>
                      <a:pt x="139" y="61"/>
                      <a:pt x="139" y="60"/>
                    </a:cubicBezTo>
                    <a:cubicBezTo>
                      <a:pt x="139" y="60"/>
                      <a:pt x="139" y="59"/>
                      <a:pt x="139" y="58"/>
                    </a:cubicBezTo>
                    <a:cubicBezTo>
                      <a:pt x="139" y="57"/>
                      <a:pt x="139" y="56"/>
                      <a:pt x="139" y="55"/>
                    </a:cubicBezTo>
                    <a:cubicBezTo>
                      <a:pt x="139" y="54"/>
                      <a:pt x="137" y="53"/>
                      <a:pt x="136" y="53"/>
                    </a:cubicBezTo>
                    <a:cubicBezTo>
                      <a:pt x="134" y="53"/>
                      <a:pt x="132" y="54"/>
                      <a:pt x="131" y="54"/>
                    </a:cubicBezTo>
                    <a:cubicBezTo>
                      <a:pt x="130" y="55"/>
                      <a:pt x="127" y="56"/>
                      <a:pt x="127" y="56"/>
                    </a:cubicBezTo>
                    <a:cubicBezTo>
                      <a:pt x="126" y="56"/>
                      <a:pt x="126" y="56"/>
                      <a:pt x="126" y="56"/>
                    </a:cubicBezTo>
                    <a:cubicBezTo>
                      <a:pt x="127" y="57"/>
                      <a:pt x="126" y="57"/>
                      <a:pt x="125" y="57"/>
                    </a:cubicBezTo>
                    <a:cubicBezTo>
                      <a:pt x="124" y="57"/>
                      <a:pt x="121" y="55"/>
                      <a:pt x="121" y="55"/>
                    </a:cubicBezTo>
                    <a:cubicBezTo>
                      <a:pt x="120" y="55"/>
                      <a:pt x="119" y="54"/>
                      <a:pt x="118" y="5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08" name="Freeform 1020">
                <a:extLst>
                  <a:ext uri="{FF2B5EF4-FFF2-40B4-BE49-F238E27FC236}">
                    <a16:creationId xmlns:a16="http://schemas.microsoft.com/office/drawing/2014/main" id="{D9B4AA40-6FEF-4D7B-8C43-B06F40308CA7}"/>
                  </a:ext>
                </a:extLst>
              </p:cNvPr>
              <p:cNvSpPr>
                <a:spLocks/>
              </p:cNvSpPr>
              <p:nvPr/>
            </p:nvSpPr>
            <p:spPr bwMode="auto">
              <a:xfrm>
                <a:off x="4050" y="1609"/>
                <a:ext cx="72" cy="78"/>
              </a:xfrm>
              <a:custGeom>
                <a:avLst/>
                <a:gdLst>
                  <a:gd name="T0" fmla="*/ 9 w 52"/>
                  <a:gd name="T1" fmla="*/ 11 h 57"/>
                  <a:gd name="T2" fmla="*/ 11 w 52"/>
                  <a:gd name="T3" fmla="*/ 16 h 57"/>
                  <a:gd name="T4" fmla="*/ 14 w 52"/>
                  <a:gd name="T5" fmla="*/ 21 h 57"/>
                  <a:gd name="T6" fmla="*/ 22 w 52"/>
                  <a:gd name="T7" fmla="*/ 28 h 57"/>
                  <a:gd name="T8" fmla="*/ 22 w 52"/>
                  <a:gd name="T9" fmla="*/ 32 h 57"/>
                  <a:gd name="T10" fmla="*/ 24 w 52"/>
                  <a:gd name="T11" fmla="*/ 35 h 57"/>
                  <a:gd name="T12" fmla="*/ 22 w 52"/>
                  <a:gd name="T13" fmla="*/ 44 h 57"/>
                  <a:gd name="T14" fmla="*/ 22 w 52"/>
                  <a:gd name="T15" fmla="*/ 52 h 57"/>
                  <a:gd name="T16" fmla="*/ 24 w 52"/>
                  <a:gd name="T17" fmla="*/ 57 h 57"/>
                  <a:gd name="T18" fmla="*/ 26 w 52"/>
                  <a:gd name="T19" fmla="*/ 55 h 57"/>
                  <a:gd name="T20" fmla="*/ 28 w 52"/>
                  <a:gd name="T21" fmla="*/ 53 h 57"/>
                  <a:gd name="T22" fmla="*/ 29 w 52"/>
                  <a:gd name="T23" fmla="*/ 51 h 57"/>
                  <a:gd name="T24" fmla="*/ 32 w 52"/>
                  <a:gd name="T25" fmla="*/ 47 h 57"/>
                  <a:gd name="T26" fmla="*/ 34 w 52"/>
                  <a:gd name="T27" fmla="*/ 46 h 57"/>
                  <a:gd name="T28" fmla="*/ 35 w 52"/>
                  <a:gd name="T29" fmla="*/ 42 h 57"/>
                  <a:gd name="T30" fmla="*/ 35 w 52"/>
                  <a:gd name="T31" fmla="*/ 38 h 57"/>
                  <a:gd name="T32" fmla="*/ 36 w 52"/>
                  <a:gd name="T33" fmla="*/ 38 h 57"/>
                  <a:gd name="T34" fmla="*/ 42 w 52"/>
                  <a:gd name="T35" fmla="*/ 38 h 57"/>
                  <a:gd name="T36" fmla="*/ 44 w 52"/>
                  <a:gd name="T37" fmla="*/ 39 h 57"/>
                  <a:gd name="T38" fmla="*/ 48 w 52"/>
                  <a:gd name="T39" fmla="*/ 40 h 57"/>
                  <a:gd name="T40" fmla="*/ 49 w 52"/>
                  <a:gd name="T41" fmla="*/ 37 h 57"/>
                  <a:gd name="T42" fmla="*/ 49 w 52"/>
                  <a:gd name="T43" fmla="*/ 32 h 57"/>
                  <a:gd name="T44" fmla="*/ 47 w 52"/>
                  <a:gd name="T45" fmla="*/ 30 h 57"/>
                  <a:gd name="T46" fmla="*/ 43 w 52"/>
                  <a:gd name="T47" fmla="*/ 25 h 57"/>
                  <a:gd name="T48" fmla="*/ 43 w 52"/>
                  <a:gd name="T49" fmla="*/ 21 h 57"/>
                  <a:gd name="T50" fmla="*/ 42 w 52"/>
                  <a:gd name="T51" fmla="*/ 23 h 57"/>
                  <a:gd name="T52" fmla="*/ 38 w 52"/>
                  <a:gd name="T53" fmla="*/ 17 h 57"/>
                  <a:gd name="T54" fmla="*/ 39 w 52"/>
                  <a:gd name="T55" fmla="*/ 13 h 57"/>
                  <a:gd name="T56" fmla="*/ 37 w 52"/>
                  <a:gd name="T57" fmla="*/ 9 h 57"/>
                  <a:gd name="T58" fmla="*/ 35 w 52"/>
                  <a:gd name="T59" fmla="*/ 10 h 57"/>
                  <a:gd name="T60" fmla="*/ 19 w 52"/>
                  <a:gd name="T61" fmla="*/ 3 h 57"/>
                  <a:gd name="T62" fmla="*/ 18 w 52"/>
                  <a:gd name="T63" fmla="*/ 2 h 57"/>
                  <a:gd name="T64" fmla="*/ 13 w 52"/>
                  <a:gd name="T65" fmla="*/ 0 h 57"/>
                  <a:gd name="T66" fmla="*/ 8 w 52"/>
                  <a:gd name="T67" fmla="*/ 2 h 57"/>
                  <a:gd name="T68" fmla="*/ 0 w 52"/>
                  <a:gd name="T69" fmla="*/ 4 h 57"/>
                  <a:gd name="T70" fmla="*/ 6 w 52"/>
                  <a:gd name="T71" fmla="*/ 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2" h="57">
                    <a:moveTo>
                      <a:pt x="6" y="7"/>
                    </a:moveTo>
                    <a:cubicBezTo>
                      <a:pt x="6" y="8"/>
                      <a:pt x="8" y="10"/>
                      <a:pt x="9" y="11"/>
                    </a:cubicBezTo>
                    <a:cubicBezTo>
                      <a:pt x="9" y="11"/>
                      <a:pt x="10" y="15"/>
                      <a:pt x="10" y="15"/>
                    </a:cubicBezTo>
                    <a:cubicBezTo>
                      <a:pt x="10" y="16"/>
                      <a:pt x="11" y="16"/>
                      <a:pt x="11" y="16"/>
                    </a:cubicBezTo>
                    <a:cubicBezTo>
                      <a:pt x="12" y="17"/>
                      <a:pt x="12" y="17"/>
                      <a:pt x="12" y="18"/>
                    </a:cubicBezTo>
                    <a:cubicBezTo>
                      <a:pt x="12" y="19"/>
                      <a:pt x="14" y="21"/>
                      <a:pt x="14" y="21"/>
                    </a:cubicBezTo>
                    <a:cubicBezTo>
                      <a:pt x="14" y="21"/>
                      <a:pt x="20" y="27"/>
                      <a:pt x="20" y="27"/>
                    </a:cubicBezTo>
                    <a:cubicBezTo>
                      <a:pt x="21" y="27"/>
                      <a:pt x="22" y="28"/>
                      <a:pt x="22" y="28"/>
                    </a:cubicBezTo>
                    <a:cubicBezTo>
                      <a:pt x="22" y="29"/>
                      <a:pt x="22" y="30"/>
                      <a:pt x="22" y="30"/>
                    </a:cubicBezTo>
                    <a:cubicBezTo>
                      <a:pt x="22" y="31"/>
                      <a:pt x="22" y="31"/>
                      <a:pt x="22" y="32"/>
                    </a:cubicBezTo>
                    <a:cubicBezTo>
                      <a:pt x="23" y="32"/>
                      <a:pt x="24" y="34"/>
                      <a:pt x="24" y="34"/>
                    </a:cubicBezTo>
                    <a:cubicBezTo>
                      <a:pt x="24" y="34"/>
                      <a:pt x="24" y="35"/>
                      <a:pt x="24" y="35"/>
                    </a:cubicBezTo>
                    <a:cubicBezTo>
                      <a:pt x="24" y="36"/>
                      <a:pt x="24" y="39"/>
                      <a:pt x="24" y="40"/>
                    </a:cubicBezTo>
                    <a:cubicBezTo>
                      <a:pt x="23" y="40"/>
                      <a:pt x="22" y="44"/>
                      <a:pt x="22" y="44"/>
                    </a:cubicBezTo>
                    <a:cubicBezTo>
                      <a:pt x="22" y="44"/>
                      <a:pt x="22" y="45"/>
                      <a:pt x="22" y="45"/>
                    </a:cubicBezTo>
                    <a:cubicBezTo>
                      <a:pt x="22" y="46"/>
                      <a:pt x="22" y="52"/>
                      <a:pt x="22" y="52"/>
                    </a:cubicBezTo>
                    <a:cubicBezTo>
                      <a:pt x="21" y="53"/>
                      <a:pt x="22" y="55"/>
                      <a:pt x="23" y="56"/>
                    </a:cubicBezTo>
                    <a:cubicBezTo>
                      <a:pt x="23" y="56"/>
                      <a:pt x="23" y="56"/>
                      <a:pt x="24" y="57"/>
                    </a:cubicBezTo>
                    <a:cubicBezTo>
                      <a:pt x="24" y="56"/>
                      <a:pt x="24" y="56"/>
                      <a:pt x="25" y="56"/>
                    </a:cubicBezTo>
                    <a:cubicBezTo>
                      <a:pt x="25" y="55"/>
                      <a:pt x="26" y="55"/>
                      <a:pt x="26" y="55"/>
                    </a:cubicBezTo>
                    <a:cubicBezTo>
                      <a:pt x="26" y="55"/>
                      <a:pt x="28" y="54"/>
                      <a:pt x="28" y="54"/>
                    </a:cubicBezTo>
                    <a:cubicBezTo>
                      <a:pt x="28" y="54"/>
                      <a:pt x="29" y="54"/>
                      <a:pt x="28" y="53"/>
                    </a:cubicBezTo>
                    <a:cubicBezTo>
                      <a:pt x="28" y="53"/>
                      <a:pt x="28" y="52"/>
                      <a:pt x="28" y="52"/>
                    </a:cubicBezTo>
                    <a:cubicBezTo>
                      <a:pt x="28" y="52"/>
                      <a:pt x="28" y="52"/>
                      <a:pt x="29" y="51"/>
                    </a:cubicBezTo>
                    <a:cubicBezTo>
                      <a:pt x="29" y="51"/>
                      <a:pt x="31" y="50"/>
                      <a:pt x="31" y="49"/>
                    </a:cubicBezTo>
                    <a:cubicBezTo>
                      <a:pt x="32" y="49"/>
                      <a:pt x="32" y="48"/>
                      <a:pt x="32" y="47"/>
                    </a:cubicBezTo>
                    <a:cubicBezTo>
                      <a:pt x="32" y="47"/>
                      <a:pt x="33" y="47"/>
                      <a:pt x="33" y="47"/>
                    </a:cubicBezTo>
                    <a:cubicBezTo>
                      <a:pt x="34" y="47"/>
                      <a:pt x="34" y="46"/>
                      <a:pt x="34" y="46"/>
                    </a:cubicBezTo>
                    <a:cubicBezTo>
                      <a:pt x="34" y="46"/>
                      <a:pt x="35" y="43"/>
                      <a:pt x="35" y="43"/>
                    </a:cubicBezTo>
                    <a:cubicBezTo>
                      <a:pt x="35" y="42"/>
                      <a:pt x="35" y="42"/>
                      <a:pt x="35" y="42"/>
                    </a:cubicBezTo>
                    <a:cubicBezTo>
                      <a:pt x="35" y="42"/>
                      <a:pt x="35" y="41"/>
                      <a:pt x="35" y="41"/>
                    </a:cubicBezTo>
                    <a:cubicBezTo>
                      <a:pt x="35" y="41"/>
                      <a:pt x="35" y="38"/>
                      <a:pt x="35" y="38"/>
                    </a:cubicBezTo>
                    <a:cubicBezTo>
                      <a:pt x="35" y="38"/>
                      <a:pt x="35" y="37"/>
                      <a:pt x="36" y="37"/>
                    </a:cubicBezTo>
                    <a:cubicBezTo>
                      <a:pt x="36" y="37"/>
                      <a:pt x="36" y="38"/>
                      <a:pt x="36" y="38"/>
                    </a:cubicBezTo>
                    <a:cubicBezTo>
                      <a:pt x="36" y="38"/>
                      <a:pt x="37" y="38"/>
                      <a:pt x="38" y="39"/>
                    </a:cubicBezTo>
                    <a:cubicBezTo>
                      <a:pt x="39" y="40"/>
                      <a:pt x="41" y="38"/>
                      <a:pt x="42" y="38"/>
                    </a:cubicBezTo>
                    <a:cubicBezTo>
                      <a:pt x="42" y="37"/>
                      <a:pt x="43" y="38"/>
                      <a:pt x="43" y="38"/>
                    </a:cubicBezTo>
                    <a:cubicBezTo>
                      <a:pt x="43" y="38"/>
                      <a:pt x="43" y="38"/>
                      <a:pt x="44" y="39"/>
                    </a:cubicBezTo>
                    <a:cubicBezTo>
                      <a:pt x="44" y="39"/>
                      <a:pt x="47" y="39"/>
                      <a:pt x="47" y="39"/>
                    </a:cubicBezTo>
                    <a:cubicBezTo>
                      <a:pt x="47" y="39"/>
                      <a:pt x="47" y="39"/>
                      <a:pt x="48" y="40"/>
                    </a:cubicBezTo>
                    <a:cubicBezTo>
                      <a:pt x="49" y="40"/>
                      <a:pt x="51" y="40"/>
                      <a:pt x="52" y="39"/>
                    </a:cubicBezTo>
                    <a:cubicBezTo>
                      <a:pt x="52" y="38"/>
                      <a:pt x="50" y="37"/>
                      <a:pt x="49" y="37"/>
                    </a:cubicBezTo>
                    <a:cubicBezTo>
                      <a:pt x="49" y="37"/>
                      <a:pt x="48" y="37"/>
                      <a:pt x="49" y="36"/>
                    </a:cubicBezTo>
                    <a:cubicBezTo>
                      <a:pt x="49" y="35"/>
                      <a:pt x="49" y="32"/>
                      <a:pt x="49" y="32"/>
                    </a:cubicBezTo>
                    <a:cubicBezTo>
                      <a:pt x="49" y="31"/>
                      <a:pt x="48" y="30"/>
                      <a:pt x="48" y="30"/>
                    </a:cubicBezTo>
                    <a:cubicBezTo>
                      <a:pt x="47" y="30"/>
                      <a:pt x="47" y="30"/>
                      <a:pt x="47" y="30"/>
                    </a:cubicBezTo>
                    <a:cubicBezTo>
                      <a:pt x="46" y="30"/>
                      <a:pt x="43" y="26"/>
                      <a:pt x="43" y="26"/>
                    </a:cubicBezTo>
                    <a:cubicBezTo>
                      <a:pt x="43" y="26"/>
                      <a:pt x="43" y="26"/>
                      <a:pt x="43" y="25"/>
                    </a:cubicBezTo>
                    <a:cubicBezTo>
                      <a:pt x="43" y="25"/>
                      <a:pt x="44" y="25"/>
                      <a:pt x="44" y="24"/>
                    </a:cubicBezTo>
                    <a:cubicBezTo>
                      <a:pt x="44" y="22"/>
                      <a:pt x="44" y="22"/>
                      <a:pt x="43" y="21"/>
                    </a:cubicBezTo>
                    <a:cubicBezTo>
                      <a:pt x="43" y="21"/>
                      <a:pt x="43" y="21"/>
                      <a:pt x="42" y="22"/>
                    </a:cubicBezTo>
                    <a:cubicBezTo>
                      <a:pt x="42" y="22"/>
                      <a:pt x="42" y="23"/>
                      <a:pt x="42" y="23"/>
                    </a:cubicBezTo>
                    <a:cubicBezTo>
                      <a:pt x="41" y="23"/>
                      <a:pt x="38" y="19"/>
                      <a:pt x="38" y="19"/>
                    </a:cubicBezTo>
                    <a:cubicBezTo>
                      <a:pt x="37" y="18"/>
                      <a:pt x="37" y="17"/>
                      <a:pt x="38" y="17"/>
                    </a:cubicBezTo>
                    <a:cubicBezTo>
                      <a:pt x="38" y="17"/>
                      <a:pt x="38" y="16"/>
                      <a:pt x="38" y="16"/>
                    </a:cubicBezTo>
                    <a:cubicBezTo>
                      <a:pt x="38" y="16"/>
                      <a:pt x="39" y="14"/>
                      <a:pt x="39" y="13"/>
                    </a:cubicBezTo>
                    <a:cubicBezTo>
                      <a:pt x="39" y="12"/>
                      <a:pt x="39" y="11"/>
                      <a:pt x="38" y="11"/>
                    </a:cubicBezTo>
                    <a:cubicBezTo>
                      <a:pt x="38" y="11"/>
                      <a:pt x="38" y="10"/>
                      <a:pt x="37" y="9"/>
                    </a:cubicBezTo>
                    <a:cubicBezTo>
                      <a:pt x="37" y="9"/>
                      <a:pt x="37" y="9"/>
                      <a:pt x="36" y="10"/>
                    </a:cubicBezTo>
                    <a:cubicBezTo>
                      <a:pt x="36" y="10"/>
                      <a:pt x="36" y="10"/>
                      <a:pt x="35" y="10"/>
                    </a:cubicBezTo>
                    <a:cubicBezTo>
                      <a:pt x="35" y="9"/>
                      <a:pt x="28" y="6"/>
                      <a:pt x="27" y="6"/>
                    </a:cubicBezTo>
                    <a:cubicBezTo>
                      <a:pt x="26" y="6"/>
                      <a:pt x="19" y="3"/>
                      <a:pt x="19" y="3"/>
                    </a:cubicBezTo>
                    <a:cubicBezTo>
                      <a:pt x="19" y="3"/>
                      <a:pt x="19" y="2"/>
                      <a:pt x="19" y="2"/>
                    </a:cubicBezTo>
                    <a:cubicBezTo>
                      <a:pt x="19" y="2"/>
                      <a:pt x="18" y="2"/>
                      <a:pt x="18" y="2"/>
                    </a:cubicBezTo>
                    <a:cubicBezTo>
                      <a:pt x="18" y="2"/>
                      <a:pt x="14" y="0"/>
                      <a:pt x="14" y="0"/>
                    </a:cubicBezTo>
                    <a:cubicBezTo>
                      <a:pt x="13" y="0"/>
                      <a:pt x="13" y="0"/>
                      <a:pt x="13" y="0"/>
                    </a:cubicBezTo>
                    <a:cubicBezTo>
                      <a:pt x="13" y="0"/>
                      <a:pt x="10" y="1"/>
                      <a:pt x="10" y="2"/>
                    </a:cubicBezTo>
                    <a:cubicBezTo>
                      <a:pt x="9" y="2"/>
                      <a:pt x="8" y="2"/>
                      <a:pt x="8" y="2"/>
                    </a:cubicBezTo>
                    <a:cubicBezTo>
                      <a:pt x="4" y="1"/>
                      <a:pt x="1" y="3"/>
                      <a:pt x="1" y="3"/>
                    </a:cubicBezTo>
                    <a:cubicBezTo>
                      <a:pt x="1" y="3"/>
                      <a:pt x="1" y="4"/>
                      <a:pt x="0" y="4"/>
                    </a:cubicBezTo>
                    <a:cubicBezTo>
                      <a:pt x="5" y="6"/>
                      <a:pt x="5" y="6"/>
                      <a:pt x="5" y="6"/>
                    </a:cubicBezTo>
                    <a:cubicBezTo>
                      <a:pt x="5" y="6"/>
                      <a:pt x="6" y="7"/>
                      <a:pt x="6"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09" name="Freeform 1021">
                <a:extLst>
                  <a:ext uri="{FF2B5EF4-FFF2-40B4-BE49-F238E27FC236}">
                    <a16:creationId xmlns:a16="http://schemas.microsoft.com/office/drawing/2014/main" id="{337B049B-D8D4-442B-B61B-285015E0BAB2}"/>
                  </a:ext>
                </a:extLst>
              </p:cNvPr>
              <p:cNvSpPr>
                <a:spLocks noEditPoints="1"/>
              </p:cNvSpPr>
              <p:nvPr/>
            </p:nvSpPr>
            <p:spPr bwMode="auto">
              <a:xfrm>
                <a:off x="3958" y="1505"/>
                <a:ext cx="370" cy="207"/>
              </a:xfrm>
              <a:custGeom>
                <a:avLst/>
                <a:gdLst>
                  <a:gd name="T0" fmla="*/ 264 w 267"/>
                  <a:gd name="T1" fmla="*/ 55 h 151"/>
                  <a:gd name="T2" fmla="*/ 239 w 267"/>
                  <a:gd name="T3" fmla="*/ 46 h 151"/>
                  <a:gd name="T4" fmla="*/ 215 w 267"/>
                  <a:gd name="T5" fmla="*/ 41 h 151"/>
                  <a:gd name="T6" fmla="*/ 200 w 267"/>
                  <a:gd name="T7" fmla="*/ 39 h 151"/>
                  <a:gd name="T8" fmla="*/ 190 w 267"/>
                  <a:gd name="T9" fmla="*/ 23 h 151"/>
                  <a:gd name="T10" fmla="*/ 177 w 267"/>
                  <a:gd name="T11" fmla="*/ 15 h 151"/>
                  <a:gd name="T12" fmla="*/ 176 w 267"/>
                  <a:gd name="T13" fmla="*/ 4 h 151"/>
                  <a:gd name="T14" fmla="*/ 154 w 267"/>
                  <a:gd name="T15" fmla="*/ 1 h 151"/>
                  <a:gd name="T16" fmla="*/ 138 w 267"/>
                  <a:gd name="T17" fmla="*/ 5 h 151"/>
                  <a:gd name="T18" fmla="*/ 125 w 267"/>
                  <a:gd name="T19" fmla="*/ 18 h 151"/>
                  <a:gd name="T20" fmla="*/ 107 w 267"/>
                  <a:gd name="T21" fmla="*/ 20 h 151"/>
                  <a:gd name="T22" fmla="*/ 101 w 267"/>
                  <a:gd name="T23" fmla="*/ 16 h 151"/>
                  <a:gd name="T24" fmla="*/ 90 w 267"/>
                  <a:gd name="T25" fmla="*/ 15 h 151"/>
                  <a:gd name="T26" fmla="*/ 80 w 267"/>
                  <a:gd name="T27" fmla="*/ 15 h 151"/>
                  <a:gd name="T28" fmla="*/ 31 w 267"/>
                  <a:gd name="T29" fmla="*/ 12 h 151"/>
                  <a:gd name="T30" fmla="*/ 29 w 267"/>
                  <a:gd name="T31" fmla="*/ 29 h 151"/>
                  <a:gd name="T32" fmla="*/ 19 w 267"/>
                  <a:gd name="T33" fmla="*/ 43 h 151"/>
                  <a:gd name="T34" fmla="*/ 9 w 267"/>
                  <a:gd name="T35" fmla="*/ 66 h 151"/>
                  <a:gd name="T36" fmla="*/ 0 w 267"/>
                  <a:gd name="T37" fmla="*/ 77 h 151"/>
                  <a:gd name="T38" fmla="*/ 21 w 267"/>
                  <a:gd name="T39" fmla="*/ 85 h 151"/>
                  <a:gd name="T40" fmla="*/ 48 w 267"/>
                  <a:gd name="T41" fmla="*/ 87 h 151"/>
                  <a:gd name="T42" fmla="*/ 74 w 267"/>
                  <a:gd name="T43" fmla="*/ 78 h 151"/>
                  <a:gd name="T44" fmla="*/ 85 w 267"/>
                  <a:gd name="T45" fmla="*/ 78 h 151"/>
                  <a:gd name="T46" fmla="*/ 103 w 267"/>
                  <a:gd name="T47" fmla="*/ 85 h 151"/>
                  <a:gd name="T48" fmla="*/ 104 w 267"/>
                  <a:gd name="T49" fmla="*/ 95 h 151"/>
                  <a:gd name="T50" fmla="*/ 109 w 267"/>
                  <a:gd name="T51" fmla="*/ 101 h 151"/>
                  <a:gd name="T52" fmla="*/ 115 w 267"/>
                  <a:gd name="T53" fmla="*/ 112 h 151"/>
                  <a:gd name="T54" fmla="*/ 110 w 267"/>
                  <a:gd name="T55" fmla="*/ 115 h 151"/>
                  <a:gd name="T56" fmla="*/ 102 w 267"/>
                  <a:gd name="T57" fmla="*/ 113 h 151"/>
                  <a:gd name="T58" fmla="*/ 100 w 267"/>
                  <a:gd name="T59" fmla="*/ 122 h 151"/>
                  <a:gd name="T60" fmla="*/ 94 w 267"/>
                  <a:gd name="T61" fmla="*/ 128 h 151"/>
                  <a:gd name="T62" fmla="*/ 90 w 267"/>
                  <a:gd name="T63" fmla="*/ 133 h 151"/>
                  <a:gd name="T64" fmla="*/ 103 w 267"/>
                  <a:gd name="T65" fmla="*/ 134 h 151"/>
                  <a:gd name="T66" fmla="*/ 112 w 267"/>
                  <a:gd name="T67" fmla="*/ 129 h 151"/>
                  <a:gd name="T68" fmla="*/ 122 w 267"/>
                  <a:gd name="T69" fmla="*/ 121 h 151"/>
                  <a:gd name="T70" fmla="*/ 122 w 267"/>
                  <a:gd name="T71" fmla="*/ 118 h 151"/>
                  <a:gd name="T72" fmla="*/ 141 w 267"/>
                  <a:gd name="T73" fmla="*/ 109 h 151"/>
                  <a:gd name="T74" fmla="*/ 151 w 267"/>
                  <a:gd name="T75" fmla="*/ 112 h 151"/>
                  <a:gd name="T76" fmla="*/ 144 w 267"/>
                  <a:gd name="T77" fmla="*/ 115 h 151"/>
                  <a:gd name="T78" fmla="*/ 154 w 267"/>
                  <a:gd name="T79" fmla="*/ 120 h 151"/>
                  <a:gd name="T80" fmla="*/ 170 w 267"/>
                  <a:gd name="T81" fmla="*/ 125 h 151"/>
                  <a:gd name="T82" fmla="*/ 158 w 267"/>
                  <a:gd name="T83" fmla="*/ 130 h 151"/>
                  <a:gd name="T84" fmla="*/ 169 w 267"/>
                  <a:gd name="T85" fmla="*/ 146 h 151"/>
                  <a:gd name="T86" fmla="*/ 197 w 267"/>
                  <a:gd name="T87" fmla="*/ 140 h 151"/>
                  <a:gd name="T88" fmla="*/ 214 w 267"/>
                  <a:gd name="T89" fmla="*/ 135 h 151"/>
                  <a:gd name="T90" fmla="*/ 190 w 267"/>
                  <a:gd name="T91" fmla="*/ 125 h 151"/>
                  <a:gd name="T92" fmla="*/ 195 w 267"/>
                  <a:gd name="T93" fmla="*/ 117 h 151"/>
                  <a:gd name="T94" fmla="*/ 219 w 267"/>
                  <a:gd name="T95" fmla="*/ 108 h 151"/>
                  <a:gd name="T96" fmla="*/ 239 w 267"/>
                  <a:gd name="T97" fmla="*/ 95 h 151"/>
                  <a:gd name="T98" fmla="*/ 260 w 267"/>
                  <a:gd name="T99" fmla="*/ 88 h 151"/>
                  <a:gd name="T100" fmla="*/ 263 w 267"/>
                  <a:gd name="T101" fmla="*/ 76 h 151"/>
                  <a:gd name="T102" fmla="*/ 261 w 267"/>
                  <a:gd name="T103" fmla="*/ 67 h 151"/>
                  <a:gd name="T104" fmla="*/ 192 w 267"/>
                  <a:gd name="T105" fmla="*/ 133 h 151"/>
                  <a:gd name="T106" fmla="*/ 182 w 267"/>
                  <a:gd name="T107" fmla="*/ 124 h 151"/>
                  <a:gd name="T108" fmla="*/ 180 w 267"/>
                  <a:gd name="T109" fmla="*/ 118 h 151"/>
                  <a:gd name="T110" fmla="*/ 191 w 267"/>
                  <a:gd name="T111" fmla="*/ 12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67" h="151">
                    <a:moveTo>
                      <a:pt x="261" y="66"/>
                    </a:moveTo>
                    <a:cubicBezTo>
                      <a:pt x="261" y="66"/>
                      <a:pt x="262" y="65"/>
                      <a:pt x="263" y="64"/>
                    </a:cubicBezTo>
                    <a:cubicBezTo>
                      <a:pt x="264" y="64"/>
                      <a:pt x="264" y="63"/>
                      <a:pt x="266" y="62"/>
                    </a:cubicBezTo>
                    <a:cubicBezTo>
                      <a:pt x="267" y="60"/>
                      <a:pt x="267" y="56"/>
                      <a:pt x="267" y="55"/>
                    </a:cubicBezTo>
                    <a:cubicBezTo>
                      <a:pt x="267" y="54"/>
                      <a:pt x="266" y="54"/>
                      <a:pt x="264" y="55"/>
                    </a:cubicBezTo>
                    <a:cubicBezTo>
                      <a:pt x="261" y="56"/>
                      <a:pt x="254" y="50"/>
                      <a:pt x="254" y="49"/>
                    </a:cubicBezTo>
                    <a:cubicBezTo>
                      <a:pt x="253" y="49"/>
                      <a:pt x="252" y="49"/>
                      <a:pt x="252" y="49"/>
                    </a:cubicBezTo>
                    <a:cubicBezTo>
                      <a:pt x="248" y="51"/>
                      <a:pt x="246" y="47"/>
                      <a:pt x="245" y="47"/>
                    </a:cubicBezTo>
                    <a:cubicBezTo>
                      <a:pt x="245" y="47"/>
                      <a:pt x="240" y="45"/>
                      <a:pt x="240" y="45"/>
                    </a:cubicBezTo>
                    <a:cubicBezTo>
                      <a:pt x="239" y="45"/>
                      <a:pt x="239" y="46"/>
                      <a:pt x="239" y="46"/>
                    </a:cubicBezTo>
                    <a:cubicBezTo>
                      <a:pt x="239" y="46"/>
                      <a:pt x="237" y="47"/>
                      <a:pt x="236" y="48"/>
                    </a:cubicBezTo>
                    <a:cubicBezTo>
                      <a:pt x="235" y="49"/>
                      <a:pt x="235" y="48"/>
                      <a:pt x="235" y="48"/>
                    </a:cubicBezTo>
                    <a:cubicBezTo>
                      <a:pt x="235" y="48"/>
                      <a:pt x="227" y="39"/>
                      <a:pt x="227" y="38"/>
                    </a:cubicBezTo>
                    <a:cubicBezTo>
                      <a:pt x="227" y="38"/>
                      <a:pt x="226" y="38"/>
                      <a:pt x="226" y="38"/>
                    </a:cubicBezTo>
                    <a:cubicBezTo>
                      <a:pt x="226" y="38"/>
                      <a:pt x="215" y="41"/>
                      <a:pt x="215" y="41"/>
                    </a:cubicBezTo>
                    <a:cubicBezTo>
                      <a:pt x="214" y="41"/>
                      <a:pt x="213" y="41"/>
                      <a:pt x="213" y="41"/>
                    </a:cubicBezTo>
                    <a:cubicBezTo>
                      <a:pt x="213" y="41"/>
                      <a:pt x="207" y="39"/>
                      <a:pt x="207" y="39"/>
                    </a:cubicBezTo>
                    <a:cubicBezTo>
                      <a:pt x="206" y="38"/>
                      <a:pt x="205" y="38"/>
                      <a:pt x="205" y="38"/>
                    </a:cubicBezTo>
                    <a:cubicBezTo>
                      <a:pt x="205" y="38"/>
                      <a:pt x="202" y="39"/>
                      <a:pt x="202" y="40"/>
                    </a:cubicBezTo>
                    <a:cubicBezTo>
                      <a:pt x="201" y="40"/>
                      <a:pt x="200" y="39"/>
                      <a:pt x="200" y="39"/>
                    </a:cubicBezTo>
                    <a:cubicBezTo>
                      <a:pt x="197" y="37"/>
                      <a:pt x="197" y="35"/>
                      <a:pt x="197" y="34"/>
                    </a:cubicBezTo>
                    <a:cubicBezTo>
                      <a:pt x="197" y="34"/>
                      <a:pt x="196" y="29"/>
                      <a:pt x="195" y="29"/>
                    </a:cubicBezTo>
                    <a:cubicBezTo>
                      <a:pt x="195" y="28"/>
                      <a:pt x="195" y="28"/>
                      <a:pt x="196" y="27"/>
                    </a:cubicBezTo>
                    <a:cubicBezTo>
                      <a:pt x="197" y="27"/>
                      <a:pt x="196" y="26"/>
                      <a:pt x="196" y="26"/>
                    </a:cubicBezTo>
                    <a:cubicBezTo>
                      <a:pt x="196" y="26"/>
                      <a:pt x="190" y="23"/>
                      <a:pt x="190" y="23"/>
                    </a:cubicBezTo>
                    <a:cubicBezTo>
                      <a:pt x="190" y="23"/>
                      <a:pt x="189" y="23"/>
                      <a:pt x="188" y="23"/>
                    </a:cubicBezTo>
                    <a:cubicBezTo>
                      <a:pt x="188" y="24"/>
                      <a:pt x="187" y="24"/>
                      <a:pt x="186" y="23"/>
                    </a:cubicBezTo>
                    <a:cubicBezTo>
                      <a:pt x="185" y="23"/>
                      <a:pt x="183" y="22"/>
                      <a:pt x="180" y="22"/>
                    </a:cubicBezTo>
                    <a:cubicBezTo>
                      <a:pt x="178" y="22"/>
                      <a:pt x="179" y="18"/>
                      <a:pt x="179" y="18"/>
                    </a:cubicBezTo>
                    <a:cubicBezTo>
                      <a:pt x="179" y="17"/>
                      <a:pt x="178" y="16"/>
                      <a:pt x="177" y="15"/>
                    </a:cubicBezTo>
                    <a:cubicBezTo>
                      <a:pt x="177" y="13"/>
                      <a:pt x="181" y="12"/>
                      <a:pt x="182" y="12"/>
                    </a:cubicBezTo>
                    <a:cubicBezTo>
                      <a:pt x="182" y="12"/>
                      <a:pt x="182" y="11"/>
                      <a:pt x="182" y="11"/>
                    </a:cubicBezTo>
                    <a:cubicBezTo>
                      <a:pt x="182" y="11"/>
                      <a:pt x="181" y="10"/>
                      <a:pt x="181" y="10"/>
                    </a:cubicBezTo>
                    <a:cubicBezTo>
                      <a:pt x="177" y="9"/>
                      <a:pt x="177" y="6"/>
                      <a:pt x="177" y="5"/>
                    </a:cubicBezTo>
                    <a:cubicBezTo>
                      <a:pt x="177" y="5"/>
                      <a:pt x="176" y="4"/>
                      <a:pt x="176" y="4"/>
                    </a:cubicBezTo>
                    <a:cubicBezTo>
                      <a:pt x="176" y="4"/>
                      <a:pt x="173" y="0"/>
                      <a:pt x="173" y="0"/>
                    </a:cubicBezTo>
                    <a:cubicBezTo>
                      <a:pt x="172" y="0"/>
                      <a:pt x="171" y="0"/>
                      <a:pt x="170" y="0"/>
                    </a:cubicBezTo>
                    <a:cubicBezTo>
                      <a:pt x="170" y="0"/>
                      <a:pt x="168" y="0"/>
                      <a:pt x="167" y="0"/>
                    </a:cubicBezTo>
                    <a:cubicBezTo>
                      <a:pt x="166" y="1"/>
                      <a:pt x="161" y="2"/>
                      <a:pt x="161" y="2"/>
                    </a:cubicBezTo>
                    <a:cubicBezTo>
                      <a:pt x="161" y="2"/>
                      <a:pt x="155" y="1"/>
                      <a:pt x="154" y="1"/>
                    </a:cubicBezTo>
                    <a:cubicBezTo>
                      <a:pt x="153" y="1"/>
                      <a:pt x="153" y="1"/>
                      <a:pt x="153" y="1"/>
                    </a:cubicBezTo>
                    <a:cubicBezTo>
                      <a:pt x="151" y="5"/>
                      <a:pt x="151" y="5"/>
                      <a:pt x="151" y="5"/>
                    </a:cubicBezTo>
                    <a:cubicBezTo>
                      <a:pt x="149" y="7"/>
                      <a:pt x="144" y="6"/>
                      <a:pt x="144" y="6"/>
                    </a:cubicBezTo>
                    <a:cubicBezTo>
                      <a:pt x="143" y="6"/>
                      <a:pt x="143" y="5"/>
                      <a:pt x="143" y="5"/>
                    </a:cubicBezTo>
                    <a:cubicBezTo>
                      <a:pt x="141" y="5"/>
                      <a:pt x="139" y="5"/>
                      <a:pt x="138" y="5"/>
                    </a:cubicBezTo>
                    <a:cubicBezTo>
                      <a:pt x="137" y="5"/>
                      <a:pt x="136" y="5"/>
                      <a:pt x="135" y="6"/>
                    </a:cubicBezTo>
                    <a:cubicBezTo>
                      <a:pt x="134" y="6"/>
                      <a:pt x="135" y="6"/>
                      <a:pt x="133" y="6"/>
                    </a:cubicBezTo>
                    <a:cubicBezTo>
                      <a:pt x="130" y="5"/>
                      <a:pt x="128" y="8"/>
                      <a:pt x="128" y="9"/>
                    </a:cubicBezTo>
                    <a:cubicBezTo>
                      <a:pt x="127" y="9"/>
                      <a:pt x="125" y="12"/>
                      <a:pt x="124" y="14"/>
                    </a:cubicBezTo>
                    <a:cubicBezTo>
                      <a:pt x="124" y="15"/>
                      <a:pt x="124" y="16"/>
                      <a:pt x="125" y="18"/>
                    </a:cubicBezTo>
                    <a:cubicBezTo>
                      <a:pt x="125" y="20"/>
                      <a:pt x="125" y="21"/>
                      <a:pt x="124" y="22"/>
                    </a:cubicBezTo>
                    <a:cubicBezTo>
                      <a:pt x="124" y="22"/>
                      <a:pt x="124" y="22"/>
                      <a:pt x="124" y="22"/>
                    </a:cubicBezTo>
                    <a:cubicBezTo>
                      <a:pt x="124" y="22"/>
                      <a:pt x="122" y="20"/>
                      <a:pt x="121" y="19"/>
                    </a:cubicBezTo>
                    <a:cubicBezTo>
                      <a:pt x="120" y="18"/>
                      <a:pt x="117" y="17"/>
                      <a:pt x="116" y="18"/>
                    </a:cubicBezTo>
                    <a:cubicBezTo>
                      <a:pt x="115" y="18"/>
                      <a:pt x="107" y="20"/>
                      <a:pt x="107" y="20"/>
                    </a:cubicBezTo>
                    <a:cubicBezTo>
                      <a:pt x="107" y="20"/>
                      <a:pt x="106" y="19"/>
                      <a:pt x="106" y="19"/>
                    </a:cubicBezTo>
                    <a:cubicBezTo>
                      <a:pt x="106" y="19"/>
                      <a:pt x="105" y="18"/>
                      <a:pt x="105" y="17"/>
                    </a:cubicBezTo>
                    <a:cubicBezTo>
                      <a:pt x="104" y="16"/>
                      <a:pt x="103" y="15"/>
                      <a:pt x="103" y="15"/>
                    </a:cubicBezTo>
                    <a:cubicBezTo>
                      <a:pt x="102" y="15"/>
                      <a:pt x="102" y="15"/>
                      <a:pt x="102" y="15"/>
                    </a:cubicBezTo>
                    <a:cubicBezTo>
                      <a:pt x="101" y="16"/>
                      <a:pt x="101" y="16"/>
                      <a:pt x="101" y="16"/>
                    </a:cubicBezTo>
                    <a:cubicBezTo>
                      <a:pt x="100" y="16"/>
                      <a:pt x="100" y="16"/>
                      <a:pt x="99" y="16"/>
                    </a:cubicBezTo>
                    <a:cubicBezTo>
                      <a:pt x="98" y="16"/>
                      <a:pt x="98" y="18"/>
                      <a:pt x="97" y="19"/>
                    </a:cubicBezTo>
                    <a:cubicBezTo>
                      <a:pt x="97" y="19"/>
                      <a:pt x="97" y="19"/>
                      <a:pt x="96" y="18"/>
                    </a:cubicBezTo>
                    <a:cubicBezTo>
                      <a:pt x="96" y="18"/>
                      <a:pt x="95" y="18"/>
                      <a:pt x="93" y="17"/>
                    </a:cubicBezTo>
                    <a:cubicBezTo>
                      <a:pt x="92" y="17"/>
                      <a:pt x="91" y="15"/>
                      <a:pt x="90" y="15"/>
                    </a:cubicBezTo>
                    <a:cubicBezTo>
                      <a:pt x="90" y="14"/>
                      <a:pt x="90" y="14"/>
                      <a:pt x="89" y="15"/>
                    </a:cubicBezTo>
                    <a:cubicBezTo>
                      <a:pt x="89" y="15"/>
                      <a:pt x="87" y="15"/>
                      <a:pt x="86" y="15"/>
                    </a:cubicBezTo>
                    <a:cubicBezTo>
                      <a:pt x="84" y="15"/>
                      <a:pt x="83" y="16"/>
                      <a:pt x="82" y="17"/>
                    </a:cubicBezTo>
                    <a:cubicBezTo>
                      <a:pt x="81" y="18"/>
                      <a:pt x="82" y="17"/>
                      <a:pt x="82" y="17"/>
                    </a:cubicBezTo>
                    <a:cubicBezTo>
                      <a:pt x="83" y="15"/>
                      <a:pt x="80" y="15"/>
                      <a:pt x="80" y="15"/>
                    </a:cubicBezTo>
                    <a:cubicBezTo>
                      <a:pt x="80" y="15"/>
                      <a:pt x="56" y="10"/>
                      <a:pt x="55" y="10"/>
                    </a:cubicBezTo>
                    <a:cubicBezTo>
                      <a:pt x="54" y="10"/>
                      <a:pt x="48" y="8"/>
                      <a:pt x="46" y="8"/>
                    </a:cubicBezTo>
                    <a:cubicBezTo>
                      <a:pt x="45" y="8"/>
                      <a:pt x="43" y="9"/>
                      <a:pt x="42" y="9"/>
                    </a:cubicBezTo>
                    <a:cubicBezTo>
                      <a:pt x="41" y="9"/>
                      <a:pt x="36" y="10"/>
                      <a:pt x="35" y="10"/>
                    </a:cubicBezTo>
                    <a:cubicBezTo>
                      <a:pt x="33" y="10"/>
                      <a:pt x="32" y="11"/>
                      <a:pt x="31" y="12"/>
                    </a:cubicBezTo>
                    <a:cubicBezTo>
                      <a:pt x="30" y="13"/>
                      <a:pt x="27" y="15"/>
                      <a:pt x="27" y="15"/>
                    </a:cubicBezTo>
                    <a:cubicBezTo>
                      <a:pt x="26" y="16"/>
                      <a:pt x="23" y="16"/>
                      <a:pt x="21" y="17"/>
                    </a:cubicBezTo>
                    <a:cubicBezTo>
                      <a:pt x="22" y="19"/>
                      <a:pt x="25" y="25"/>
                      <a:pt x="25" y="26"/>
                    </a:cubicBezTo>
                    <a:cubicBezTo>
                      <a:pt x="26" y="27"/>
                      <a:pt x="27" y="28"/>
                      <a:pt x="27" y="28"/>
                    </a:cubicBezTo>
                    <a:cubicBezTo>
                      <a:pt x="27" y="28"/>
                      <a:pt x="28" y="29"/>
                      <a:pt x="29" y="29"/>
                    </a:cubicBezTo>
                    <a:cubicBezTo>
                      <a:pt x="29" y="29"/>
                      <a:pt x="29" y="30"/>
                      <a:pt x="29" y="30"/>
                    </a:cubicBezTo>
                    <a:cubicBezTo>
                      <a:pt x="28" y="30"/>
                      <a:pt x="25" y="31"/>
                      <a:pt x="28" y="33"/>
                    </a:cubicBezTo>
                    <a:cubicBezTo>
                      <a:pt x="28" y="33"/>
                      <a:pt x="29" y="34"/>
                      <a:pt x="28" y="35"/>
                    </a:cubicBezTo>
                    <a:cubicBezTo>
                      <a:pt x="28" y="36"/>
                      <a:pt x="28" y="40"/>
                      <a:pt x="22" y="41"/>
                    </a:cubicBezTo>
                    <a:cubicBezTo>
                      <a:pt x="22" y="41"/>
                      <a:pt x="20" y="41"/>
                      <a:pt x="19" y="43"/>
                    </a:cubicBezTo>
                    <a:cubicBezTo>
                      <a:pt x="18" y="44"/>
                      <a:pt x="8" y="54"/>
                      <a:pt x="8" y="54"/>
                    </a:cubicBezTo>
                    <a:cubicBezTo>
                      <a:pt x="8" y="54"/>
                      <a:pt x="7" y="55"/>
                      <a:pt x="8" y="56"/>
                    </a:cubicBezTo>
                    <a:cubicBezTo>
                      <a:pt x="8" y="57"/>
                      <a:pt x="8" y="61"/>
                      <a:pt x="8" y="61"/>
                    </a:cubicBezTo>
                    <a:cubicBezTo>
                      <a:pt x="8" y="61"/>
                      <a:pt x="8" y="63"/>
                      <a:pt x="10" y="65"/>
                    </a:cubicBezTo>
                    <a:cubicBezTo>
                      <a:pt x="10" y="65"/>
                      <a:pt x="11" y="66"/>
                      <a:pt x="9" y="66"/>
                    </a:cubicBezTo>
                    <a:cubicBezTo>
                      <a:pt x="7" y="65"/>
                      <a:pt x="6" y="65"/>
                      <a:pt x="6" y="65"/>
                    </a:cubicBezTo>
                    <a:cubicBezTo>
                      <a:pt x="6" y="65"/>
                      <a:pt x="6" y="64"/>
                      <a:pt x="5" y="65"/>
                    </a:cubicBezTo>
                    <a:cubicBezTo>
                      <a:pt x="5" y="65"/>
                      <a:pt x="0" y="74"/>
                      <a:pt x="0" y="74"/>
                    </a:cubicBezTo>
                    <a:cubicBezTo>
                      <a:pt x="0" y="74"/>
                      <a:pt x="0" y="75"/>
                      <a:pt x="0" y="76"/>
                    </a:cubicBezTo>
                    <a:cubicBezTo>
                      <a:pt x="0" y="76"/>
                      <a:pt x="0" y="77"/>
                      <a:pt x="0" y="77"/>
                    </a:cubicBezTo>
                    <a:cubicBezTo>
                      <a:pt x="10" y="86"/>
                      <a:pt x="10" y="86"/>
                      <a:pt x="10" y="86"/>
                    </a:cubicBezTo>
                    <a:cubicBezTo>
                      <a:pt x="11" y="85"/>
                      <a:pt x="14" y="83"/>
                      <a:pt x="15" y="83"/>
                    </a:cubicBezTo>
                    <a:cubicBezTo>
                      <a:pt x="16" y="83"/>
                      <a:pt x="18" y="84"/>
                      <a:pt x="19" y="85"/>
                    </a:cubicBezTo>
                    <a:cubicBezTo>
                      <a:pt x="20" y="86"/>
                      <a:pt x="19" y="85"/>
                      <a:pt x="20" y="85"/>
                    </a:cubicBezTo>
                    <a:cubicBezTo>
                      <a:pt x="20" y="85"/>
                      <a:pt x="20" y="85"/>
                      <a:pt x="21" y="85"/>
                    </a:cubicBezTo>
                    <a:cubicBezTo>
                      <a:pt x="21" y="85"/>
                      <a:pt x="35" y="86"/>
                      <a:pt x="35" y="86"/>
                    </a:cubicBezTo>
                    <a:cubicBezTo>
                      <a:pt x="35" y="86"/>
                      <a:pt x="36" y="86"/>
                      <a:pt x="36" y="86"/>
                    </a:cubicBezTo>
                    <a:cubicBezTo>
                      <a:pt x="36" y="87"/>
                      <a:pt x="40" y="90"/>
                      <a:pt x="40" y="90"/>
                    </a:cubicBezTo>
                    <a:cubicBezTo>
                      <a:pt x="40" y="90"/>
                      <a:pt x="41" y="91"/>
                      <a:pt x="42" y="90"/>
                    </a:cubicBezTo>
                    <a:cubicBezTo>
                      <a:pt x="42" y="89"/>
                      <a:pt x="46" y="87"/>
                      <a:pt x="48" y="87"/>
                    </a:cubicBezTo>
                    <a:cubicBezTo>
                      <a:pt x="50" y="86"/>
                      <a:pt x="57" y="85"/>
                      <a:pt x="57" y="85"/>
                    </a:cubicBezTo>
                    <a:cubicBezTo>
                      <a:pt x="57" y="85"/>
                      <a:pt x="58" y="85"/>
                      <a:pt x="59" y="85"/>
                    </a:cubicBezTo>
                    <a:cubicBezTo>
                      <a:pt x="59" y="85"/>
                      <a:pt x="64" y="82"/>
                      <a:pt x="66" y="80"/>
                    </a:cubicBezTo>
                    <a:cubicBezTo>
                      <a:pt x="67" y="80"/>
                      <a:pt x="67" y="79"/>
                      <a:pt x="67" y="79"/>
                    </a:cubicBezTo>
                    <a:cubicBezTo>
                      <a:pt x="67" y="79"/>
                      <a:pt x="70" y="77"/>
                      <a:pt x="74" y="78"/>
                    </a:cubicBezTo>
                    <a:cubicBezTo>
                      <a:pt x="74" y="78"/>
                      <a:pt x="75" y="78"/>
                      <a:pt x="76" y="78"/>
                    </a:cubicBezTo>
                    <a:cubicBezTo>
                      <a:pt x="76" y="77"/>
                      <a:pt x="79" y="76"/>
                      <a:pt x="79" y="76"/>
                    </a:cubicBezTo>
                    <a:cubicBezTo>
                      <a:pt x="79" y="76"/>
                      <a:pt x="79" y="76"/>
                      <a:pt x="80" y="76"/>
                    </a:cubicBezTo>
                    <a:cubicBezTo>
                      <a:pt x="80" y="76"/>
                      <a:pt x="84" y="78"/>
                      <a:pt x="84" y="78"/>
                    </a:cubicBezTo>
                    <a:cubicBezTo>
                      <a:pt x="84" y="78"/>
                      <a:pt x="85" y="78"/>
                      <a:pt x="85" y="78"/>
                    </a:cubicBezTo>
                    <a:cubicBezTo>
                      <a:pt x="85" y="78"/>
                      <a:pt x="85" y="79"/>
                      <a:pt x="85" y="79"/>
                    </a:cubicBezTo>
                    <a:cubicBezTo>
                      <a:pt x="85" y="79"/>
                      <a:pt x="92" y="82"/>
                      <a:pt x="93" y="82"/>
                    </a:cubicBezTo>
                    <a:cubicBezTo>
                      <a:pt x="94" y="82"/>
                      <a:pt x="101" y="85"/>
                      <a:pt x="101" y="86"/>
                    </a:cubicBezTo>
                    <a:cubicBezTo>
                      <a:pt x="102" y="86"/>
                      <a:pt x="102" y="86"/>
                      <a:pt x="102" y="86"/>
                    </a:cubicBezTo>
                    <a:cubicBezTo>
                      <a:pt x="103" y="85"/>
                      <a:pt x="103" y="85"/>
                      <a:pt x="103" y="85"/>
                    </a:cubicBezTo>
                    <a:cubicBezTo>
                      <a:pt x="104" y="86"/>
                      <a:pt x="104" y="87"/>
                      <a:pt x="104" y="87"/>
                    </a:cubicBezTo>
                    <a:cubicBezTo>
                      <a:pt x="105" y="87"/>
                      <a:pt x="105" y="88"/>
                      <a:pt x="105" y="89"/>
                    </a:cubicBezTo>
                    <a:cubicBezTo>
                      <a:pt x="105" y="90"/>
                      <a:pt x="104" y="92"/>
                      <a:pt x="104" y="92"/>
                    </a:cubicBezTo>
                    <a:cubicBezTo>
                      <a:pt x="104" y="92"/>
                      <a:pt x="104" y="93"/>
                      <a:pt x="104" y="93"/>
                    </a:cubicBezTo>
                    <a:cubicBezTo>
                      <a:pt x="103" y="93"/>
                      <a:pt x="103" y="94"/>
                      <a:pt x="104" y="95"/>
                    </a:cubicBezTo>
                    <a:cubicBezTo>
                      <a:pt x="104" y="95"/>
                      <a:pt x="107" y="99"/>
                      <a:pt x="108" y="99"/>
                    </a:cubicBezTo>
                    <a:cubicBezTo>
                      <a:pt x="108" y="99"/>
                      <a:pt x="108" y="98"/>
                      <a:pt x="108" y="98"/>
                    </a:cubicBezTo>
                    <a:cubicBezTo>
                      <a:pt x="109" y="97"/>
                      <a:pt x="109" y="97"/>
                      <a:pt x="109" y="97"/>
                    </a:cubicBezTo>
                    <a:cubicBezTo>
                      <a:pt x="110" y="98"/>
                      <a:pt x="110" y="98"/>
                      <a:pt x="110" y="100"/>
                    </a:cubicBezTo>
                    <a:cubicBezTo>
                      <a:pt x="110" y="101"/>
                      <a:pt x="109" y="101"/>
                      <a:pt x="109" y="101"/>
                    </a:cubicBezTo>
                    <a:cubicBezTo>
                      <a:pt x="109" y="102"/>
                      <a:pt x="109" y="102"/>
                      <a:pt x="109" y="102"/>
                    </a:cubicBezTo>
                    <a:cubicBezTo>
                      <a:pt x="109" y="102"/>
                      <a:pt x="112" y="106"/>
                      <a:pt x="113" y="106"/>
                    </a:cubicBezTo>
                    <a:cubicBezTo>
                      <a:pt x="113" y="106"/>
                      <a:pt x="113" y="106"/>
                      <a:pt x="114" y="106"/>
                    </a:cubicBezTo>
                    <a:cubicBezTo>
                      <a:pt x="114" y="106"/>
                      <a:pt x="115" y="107"/>
                      <a:pt x="115" y="108"/>
                    </a:cubicBezTo>
                    <a:cubicBezTo>
                      <a:pt x="115" y="108"/>
                      <a:pt x="115" y="111"/>
                      <a:pt x="115" y="112"/>
                    </a:cubicBezTo>
                    <a:cubicBezTo>
                      <a:pt x="114" y="113"/>
                      <a:pt x="115" y="113"/>
                      <a:pt x="115" y="113"/>
                    </a:cubicBezTo>
                    <a:cubicBezTo>
                      <a:pt x="116" y="113"/>
                      <a:pt x="118" y="114"/>
                      <a:pt x="118" y="115"/>
                    </a:cubicBezTo>
                    <a:cubicBezTo>
                      <a:pt x="117" y="116"/>
                      <a:pt x="115" y="116"/>
                      <a:pt x="114" y="116"/>
                    </a:cubicBezTo>
                    <a:cubicBezTo>
                      <a:pt x="113" y="115"/>
                      <a:pt x="113" y="115"/>
                      <a:pt x="113" y="115"/>
                    </a:cubicBezTo>
                    <a:cubicBezTo>
                      <a:pt x="113" y="115"/>
                      <a:pt x="110" y="115"/>
                      <a:pt x="110" y="115"/>
                    </a:cubicBezTo>
                    <a:cubicBezTo>
                      <a:pt x="109" y="114"/>
                      <a:pt x="109" y="114"/>
                      <a:pt x="109" y="114"/>
                    </a:cubicBezTo>
                    <a:cubicBezTo>
                      <a:pt x="109" y="114"/>
                      <a:pt x="108" y="113"/>
                      <a:pt x="108" y="114"/>
                    </a:cubicBezTo>
                    <a:cubicBezTo>
                      <a:pt x="107" y="114"/>
                      <a:pt x="105" y="116"/>
                      <a:pt x="104" y="115"/>
                    </a:cubicBezTo>
                    <a:cubicBezTo>
                      <a:pt x="103" y="114"/>
                      <a:pt x="102" y="114"/>
                      <a:pt x="102" y="114"/>
                    </a:cubicBezTo>
                    <a:cubicBezTo>
                      <a:pt x="102" y="114"/>
                      <a:pt x="102" y="113"/>
                      <a:pt x="102" y="113"/>
                    </a:cubicBezTo>
                    <a:cubicBezTo>
                      <a:pt x="101" y="113"/>
                      <a:pt x="101" y="114"/>
                      <a:pt x="101" y="114"/>
                    </a:cubicBezTo>
                    <a:cubicBezTo>
                      <a:pt x="101" y="114"/>
                      <a:pt x="101" y="117"/>
                      <a:pt x="101" y="117"/>
                    </a:cubicBezTo>
                    <a:cubicBezTo>
                      <a:pt x="101" y="117"/>
                      <a:pt x="101" y="118"/>
                      <a:pt x="101" y="118"/>
                    </a:cubicBezTo>
                    <a:cubicBezTo>
                      <a:pt x="101" y="118"/>
                      <a:pt x="101" y="118"/>
                      <a:pt x="101" y="119"/>
                    </a:cubicBezTo>
                    <a:cubicBezTo>
                      <a:pt x="101" y="119"/>
                      <a:pt x="100" y="122"/>
                      <a:pt x="100" y="122"/>
                    </a:cubicBezTo>
                    <a:cubicBezTo>
                      <a:pt x="100" y="122"/>
                      <a:pt x="100" y="123"/>
                      <a:pt x="99" y="123"/>
                    </a:cubicBezTo>
                    <a:cubicBezTo>
                      <a:pt x="99" y="123"/>
                      <a:pt x="98" y="123"/>
                      <a:pt x="98" y="123"/>
                    </a:cubicBezTo>
                    <a:cubicBezTo>
                      <a:pt x="98" y="124"/>
                      <a:pt x="98" y="125"/>
                      <a:pt x="97" y="125"/>
                    </a:cubicBezTo>
                    <a:cubicBezTo>
                      <a:pt x="97" y="126"/>
                      <a:pt x="95" y="127"/>
                      <a:pt x="95" y="127"/>
                    </a:cubicBezTo>
                    <a:cubicBezTo>
                      <a:pt x="94" y="128"/>
                      <a:pt x="94" y="128"/>
                      <a:pt x="94" y="128"/>
                    </a:cubicBezTo>
                    <a:cubicBezTo>
                      <a:pt x="94" y="128"/>
                      <a:pt x="94" y="129"/>
                      <a:pt x="94" y="129"/>
                    </a:cubicBezTo>
                    <a:cubicBezTo>
                      <a:pt x="95" y="130"/>
                      <a:pt x="94" y="130"/>
                      <a:pt x="94" y="130"/>
                    </a:cubicBezTo>
                    <a:cubicBezTo>
                      <a:pt x="94" y="130"/>
                      <a:pt x="92" y="131"/>
                      <a:pt x="92" y="131"/>
                    </a:cubicBezTo>
                    <a:cubicBezTo>
                      <a:pt x="92" y="131"/>
                      <a:pt x="91" y="131"/>
                      <a:pt x="91" y="132"/>
                    </a:cubicBezTo>
                    <a:cubicBezTo>
                      <a:pt x="90" y="132"/>
                      <a:pt x="90" y="132"/>
                      <a:pt x="90" y="133"/>
                    </a:cubicBezTo>
                    <a:cubicBezTo>
                      <a:pt x="91" y="134"/>
                      <a:pt x="92" y="135"/>
                      <a:pt x="93" y="135"/>
                    </a:cubicBezTo>
                    <a:cubicBezTo>
                      <a:pt x="93" y="135"/>
                      <a:pt x="96" y="137"/>
                      <a:pt x="97" y="137"/>
                    </a:cubicBezTo>
                    <a:cubicBezTo>
                      <a:pt x="98" y="137"/>
                      <a:pt x="99" y="137"/>
                      <a:pt x="98" y="136"/>
                    </a:cubicBezTo>
                    <a:cubicBezTo>
                      <a:pt x="98" y="136"/>
                      <a:pt x="98" y="136"/>
                      <a:pt x="99" y="136"/>
                    </a:cubicBezTo>
                    <a:cubicBezTo>
                      <a:pt x="99" y="136"/>
                      <a:pt x="102" y="135"/>
                      <a:pt x="103" y="134"/>
                    </a:cubicBezTo>
                    <a:cubicBezTo>
                      <a:pt x="104" y="134"/>
                      <a:pt x="106" y="133"/>
                      <a:pt x="108" y="133"/>
                    </a:cubicBezTo>
                    <a:cubicBezTo>
                      <a:pt x="109" y="133"/>
                      <a:pt x="111" y="134"/>
                      <a:pt x="111" y="135"/>
                    </a:cubicBezTo>
                    <a:cubicBezTo>
                      <a:pt x="111" y="136"/>
                      <a:pt x="111" y="137"/>
                      <a:pt x="111" y="138"/>
                    </a:cubicBezTo>
                    <a:cubicBezTo>
                      <a:pt x="111" y="137"/>
                      <a:pt x="112" y="136"/>
                      <a:pt x="112" y="136"/>
                    </a:cubicBezTo>
                    <a:cubicBezTo>
                      <a:pt x="112" y="135"/>
                      <a:pt x="112" y="130"/>
                      <a:pt x="112" y="129"/>
                    </a:cubicBezTo>
                    <a:cubicBezTo>
                      <a:pt x="111" y="128"/>
                      <a:pt x="111" y="125"/>
                      <a:pt x="112" y="127"/>
                    </a:cubicBezTo>
                    <a:cubicBezTo>
                      <a:pt x="112" y="129"/>
                      <a:pt x="112" y="129"/>
                      <a:pt x="113" y="128"/>
                    </a:cubicBezTo>
                    <a:cubicBezTo>
                      <a:pt x="114" y="127"/>
                      <a:pt x="115" y="125"/>
                      <a:pt x="117" y="125"/>
                    </a:cubicBezTo>
                    <a:cubicBezTo>
                      <a:pt x="119" y="125"/>
                      <a:pt x="121" y="123"/>
                      <a:pt x="122" y="122"/>
                    </a:cubicBezTo>
                    <a:cubicBezTo>
                      <a:pt x="122" y="122"/>
                      <a:pt x="123" y="122"/>
                      <a:pt x="122" y="121"/>
                    </a:cubicBezTo>
                    <a:cubicBezTo>
                      <a:pt x="121" y="120"/>
                      <a:pt x="118" y="116"/>
                      <a:pt x="119" y="115"/>
                    </a:cubicBezTo>
                    <a:cubicBezTo>
                      <a:pt x="120" y="115"/>
                      <a:pt x="120" y="114"/>
                      <a:pt x="120" y="115"/>
                    </a:cubicBezTo>
                    <a:cubicBezTo>
                      <a:pt x="120" y="116"/>
                      <a:pt x="120" y="116"/>
                      <a:pt x="121" y="116"/>
                    </a:cubicBezTo>
                    <a:cubicBezTo>
                      <a:pt x="121" y="116"/>
                      <a:pt x="121" y="116"/>
                      <a:pt x="121" y="117"/>
                    </a:cubicBezTo>
                    <a:cubicBezTo>
                      <a:pt x="122" y="117"/>
                      <a:pt x="122" y="117"/>
                      <a:pt x="122" y="118"/>
                    </a:cubicBezTo>
                    <a:cubicBezTo>
                      <a:pt x="122" y="118"/>
                      <a:pt x="123" y="119"/>
                      <a:pt x="123" y="117"/>
                    </a:cubicBezTo>
                    <a:cubicBezTo>
                      <a:pt x="124" y="116"/>
                      <a:pt x="127" y="111"/>
                      <a:pt x="134" y="111"/>
                    </a:cubicBezTo>
                    <a:cubicBezTo>
                      <a:pt x="134" y="111"/>
                      <a:pt x="136" y="111"/>
                      <a:pt x="138" y="109"/>
                    </a:cubicBezTo>
                    <a:cubicBezTo>
                      <a:pt x="141" y="106"/>
                      <a:pt x="141" y="107"/>
                      <a:pt x="140" y="108"/>
                    </a:cubicBezTo>
                    <a:cubicBezTo>
                      <a:pt x="139" y="109"/>
                      <a:pt x="140" y="109"/>
                      <a:pt x="141" y="109"/>
                    </a:cubicBezTo>
                    <a:cubicBezTo>
                      <a:pt x="142" y="110"/>
                      <a:pt x="145" y="110"/>
                      <a:pt x="145" y="108"/>
                    </a:cubicBezTo>
                    <a:cubicBezTo>
                      <a:pt x="144" y="106"/>
                      <a:pt x="145" y="108"/>
                      <a:pt x="145" y="106"/>
                    </a:cubicBezTo>
                    <a:cubicBezTo>
                      <a:pt x="145" y="105"/>
                      <a:pt x="146" y="105"/>
                      <a:pt x="146" y="106"/>
                    </a:cubicBezTo>
                    <a:cubicBezTo>
                      <a:pt x="146" y="107"/>
                      <a:pt x="145" y="108"/>
                      <a:pt x="146" y="109"/>
                    </a:cubicBezTo>
                    <a:cubicBezTo>
                      <a:pt x="146" y="110"/>
                      <a:pt x="149" y="113"/>
                      <a:pt x="151" y="112"/>
                    </a:cubicBezTo>
                    <a:cubicBezTo>
                      <a:pt x="154" y="111"/>
                      <a:pt x="158" y="109"/>
                      <a:pt x="153" y="112"/>
                    </a:cubicBezTo>
                    <a:cubicBezTo>
                      <a:pt x="153" y="112"/>
                      <a:pt x="151" y="114"/>
                      <a:pt x="148" y="113"/>
                    </a:cubicBezTo>
                    <a:cubicBezTo>
                      <a:pt x="145" y="113"/>
                      <a:pt x="138" y="111"/>
                      <a:pt x="139" y="112"/>
                    </a:cubicBezTo>
                    <a:cubicBezTo>
                      <a:pt x="140" y="113"/>
                      <a:pt x="141" y="114"/>
                      <a:pt x="142" y="114"/>
                    </a:cubicBezTo>
                    <a:cubicBezTo>
                      <a:pt x="143" y="113"/>
                      <a:pt x="144" y="114"/>
                      <a:pt x="144" y="115"/>
                    </a:cubicBezTo>
                    <a:cubicBezTo>
                      <a:pt x="145" y="115"/>
                      <a:pt x="146" y="116"/>
                      <a:pt x="144" y="116"/>
                    </a:cubicBezTo>
                    <a:cubicBezTo>
                      <a:pt x="143" y="116"/>
                      <a:pt x="142" y="116"/>
                      <a:pt x="143" y="117"/>
                    </a:cubicBezTo>
                    <a:cubicBezTo>
                      <a:pt x="143" y="117"/>
                      <a:pt x="146" y="118"/>
                      <a:pt x="148" y="118"/>
                    </a:cubicBezTo>
                    <a:cubicBezTo>
                      <a:pt x="149" y="118"/>
                      <a:pt x="149" y="120"/>
                      <a:pt x="150" y="120"/>
                    </a:cubicBezTo>
                    <a:cubicBezTo>
                      <a:pt x="150" y="120"/>
                      <a:pt x="152" y="121"/>
                      <a:pt x="154" y="120"/>
                    </a:cubicBezTo>
                    <a:cubicBezTo>
                      <a:pt x="157" y="119"/>
                      <a:pt x="164" y="118"/>
                      <a:pt x="165" y="119"/>
                    </a:cubicBezTo>
                    <a:cubicBezTo>
                      <a:pt x="165" y="121"/>
                      <a:pt x="167" y="122"/>
                      <a:pt x="169" y="121"/>
                    </a:cubicBezTo>
                    <a:cubicBezTo>
                      <a:pt x="171" y="119"/>
                      <a:pt x="170" y="121"/>
                      <a:pt x="170" y="122"/>
                    </a:cubicBezTo>
                    <a:cubicBezTo>
                      <a:pt x="170" y="122"/>
                      <a:pt x="170" y="124"/>
                      <a:pt x="171" y="124"/>
                    </a:cubicBezTo>
                    <a:cubicBezTo>
                      <a:pt x="171" y="124"/>
                      <a:pt x="171" y="125"/>
                      <a:pt x="170" y="125"/>
                    </a:cubicBezTo>
                    <a:cubicBezTo>
                      <a:pt x="169" y="125"/>
                      <a:pt x="167" y="125"/>
                      <a:pt x="166" y="127"/>
                    </a:cubicBezTo>
                    <a:cubicBezTo>
                      <a:pt x="165" y="128"/>
                      <a:pt x="165" y="127"/>
                      <a:pt x="164" y="127"/>
                    </a:cubicBezTo>
                    <a:cubicBezTo>
                      <a:pt x="164" y="127"/>
                      <a:pt x="163" y="127"/>
                      <a:pt x="163" y="127"/>
                    </a:cubicBezTo>
                    <a:cubicBezTo>
                      <a:pt x="162" y="128"/>
                      <a:pt x="160" y="129"/>
                      <a:pt x="160" y="129"/>
                    </a:cubicBezTo>
                    <a:cubicBezTo>
                      <a:pt x="159" y="129"/>
                      <a:pt x="158" y="130"/>
                      <a:pt x="158" y="130"/>
                    </a:cubicBezTo>
                    <a:cubicBezTo>
                      <a:pt x="158" y="131"/>
                      <a:pt x="156" y="131"/>
                      <a:pt x="155" y="132"/>
                    </a:cubicBezTo>
                    <a:cubicBezTo>
                      <a:pt x="155" y="132"/>
                      <a:pt x="152" y="134"/>
                      <a:pt x="154" y="135"/>
                    </a:cubicBezTo>
                    <a:cubicBezTo>
                      <a:pt x="157" y="136"/>
                      <a:pt x="163" y="138"/>
                      <a:pt x="165" y="138"/>
                    </a:cubicBezTo>
                    <a:cubicBezTo>
                      <a:pt x="166" y="138"/>
                      <a:pt x="171" y="138"/>
                      <a:pt x="170" y="142"/>
                    </a:cubicBezTo>
                    <a:cubicBezTo>
                      <a:pt x="169" y="145"/>
                      <a:pt x="168" y="144"/>
                      <a:pt x="169" y="146"/>
                    </a:cubicBezTo>
                    <a:cubicBezTo>
                      <a:pt x="169" y="148"/>
                      <a:pt x="169" y="148"/>
                      <a:pt x="168" y="148"/>
                    </a:cubicBezTo>
                    <a:cubicBezTo>
                      <a:pt x="167" y="149"/>
                      <a:pt x="166" y="149"/>
                      <a:pt x="167" y="149"/>
                    </a:cubicBezTo>
                    <a:cubicBezTo>
                      <a:pt x="169" y="150"/>
                      <a:pt x="169" y="151"/>
                      <a:pt x="170" y="151"/>
                    </a:cubicBezTo>
                    <a:cubicBezTo>
                      <a:pt x="171" y="151"/>
                      <a:pt x="172" y="151"/>
                      <a:pt x="174" y="150"/>
                    </a:cubicBezTo>
                    <a:cubicBezTo>
                      <a:pt x="176" y="149"/>
                      <a:pt x="196" y="140"/>
                      <a:pt x="197" y="140"/>
                    </a:cubicBezTo>
                    <a:cubicBezTo>
                      <a:pt x="198" y="139"/>
                      <a:pt x="200" y="138"/>
                      <a:pt x="202" y="141"/>
                    </a:cubicBezTo>
                    <a:cubicBezTo>
                      <a:pt x="205" y="143"/>
                      <a:pt x="206" y="141"/>
                      <a:pt x="206" y="141"/>
                    </a:cubicBezTo>
                    <a:cubicBezTo>
                      <a:pt x="207" y="141"/>
                      <a:pt x="208" y="141"/>
                      <a:pt x="209" y="141"/>
                    </a:cubicBezTo>
                    <a:cubicBezTo>
                      <a:pt x="209" y="141"/>
                      <a:pt x="211" y="141"/>
                      <a:pt x="211" y="138"/>
                    </a:cubicBezTo>
                    <a:cubicBezTo>
                      <a:pt x="212" y="136"/>
                      <a:pt x="213" y="135"/>
                      <a:pt x="214" y="135"/>
                    </a:cubicBezTo>
                    <a:cubicBezTo>
                      <a:pt x="214" y="135"/>
                      <a:pt x="215" y="135"/>
                      <a:pt x="212" y="134"/>
                    </a:cubicBezTo>
                    <a:cubicBezTo>
                      <a:pt x="210" y="134"/>
                      <a:pt x="205" y="134"/>
                      <a:pt x="204" y="134"/>
                    </a:cubicBezTo>
                    <a:cubicBezTo>
                      <a:pt x="203" y="134"/>
                      <a:pt x="202" y="134"/>
                      <a:pt x="201" y="134"/>
                    </a:cubicBezTo>
                    <a:cubicBezTo>
                      <a:pt x="200" y="135"/>
                      <a:pt x="199" y="136"/>
                      <a:pt x="198" y="135"/>
                    </a:cubicBezTo>
                    <a:cubicBezTo>
                      <a:pt x="197" y="135"/>
                      <a:pt x="191" y="129"/>
                      <a:pt x="190" y="125"/>
                    </a:cubicBezTo>
                    <a:cubicBezTo>
                      <a:pt x="188" y="121"/>
                      <a:pt x="187" y="119"/>
                      <a:pt x="190" y="118"/>
                    </a:cubicBezTo>
                    <a:cubicBezTo>
                      <a:pt x="193" y="117"/>
                      <a:pt x="192" y="116"/>
                      <a:pt x="193" y="115"/>
                    </a:cubicBezTo>
                    <a:cubicBezTo>
                      <a:pt x="194" y="113"/>
                      <a:pt x="193" y="113"/>
                      <a:pt x="194" y="114"/>
                    </a:cubicBezTo>
                    <a:cubicBezTo>
                      <a:pt x="195" y="115"/>
                      <a:pt x="194" y="115"/>
                      <a:pt x="195" y="116"/>
                    </a:cubicBezTo>
                    <a:cubicBezTo>
                      <a:pt x="196" y="116"/>
                      <a:pt x="196" y="116"/>
                      <a:pt x="195" y="117"/>
                    </a:cubicBezTo>
                    <a:cubicBezTo>
                      <a:pt x="194" y="118"/>
                      <a:pt x="189" y="122"/>
                      <a:pt x="196" y="117"/>
                    </a:cubicBezTo>
                    <a:cubicBezTo>
                      <a:pt x="203" y="111"/>
                      <a:pt x="202" y="110"/>
                      <a:pt x="205" y="110"/>
                    </a:cubicBezTo>
                    <a:cubicBezTo>
                      <a:pt x="209" y="110"/>
                      <a:pt x="210" y="109"/>
                      <a:pt x="212" y="109"/>
                    </a:cubicBezTo>
                    <a:cubicBezTo>
                      <a:pt x="213" y="108"/>
                      <a:pt x="216" y="107"/>
                      <a:pt x="217" y="109"/>
                    </a:cubicBezTo>
                    <a:cubicBezTo>
                      <a:pt x="217" y="111"/>
                      <a:pt x="217" y="111"/>
                      <a:pt x="219" y="108"/>
                    </a:cubicBezTo>
                    <a:cubicBezTo>
                      <a:pt x="220" y="106"/>
                      <a:pt x="220" y="106"/>
                      <a:pt x="223" y="106"/>
                    </a:cubicBezTo>
                    <a:cubicBezTo>
                      <a:pt x="226" y="106"/>
                      <a:pt x="226" y="105"/>
                      <a:pt x="227" y="103"/>
                    </a:cubicBezTo>
                    <a:cubicBezTo>
                      <a:pt x="229" y="102"/>
                      <a:pt x="232" y="102"/>
                      <a:pt x="234" y="102"/>
                    </a:cubicBezTo>
                    <a:cubicBezTo>
                      <a:pt x="235" y="102"/>
                      <a:pt x="237" y="102"/>
                      <a:pt x="238" y="102"/>
                    </a:cubicBezTo>
                    <a:cubicBezTo>
                      <a:pt x="239" y="100"/>
                      <a:pt x="239" y="97"/>
                      <a:pt x="239" y="95"/>
                    </a:cubicBezTo>
                    <a:cubicBezTo>
                      <a:pt x="240" y="92"/>
                      <a:pt x="242" y="92"/>
                      <a:pt x="242" y="92"/>
                    </a:cubicBezTo>
                    <a:cubicBezTo>
                      <a:pt x="246" y="90"/>
                      <a:pt x="246" y="90"/>
                      <a:pt x="246" y="90"/>
                    </a:cubicBezTo>
                    <a:cubicBezTo>
                      <a:pt x="246" y="90"/>
                      <a:pt x="249" y="88"/>
                      <a:pt x="250" y="88"/>
                    </a:cubicBezTo>
                    <a:cubicBezTo>
                      <a:pt x="250" y="88"/>
                      <a:pt x="251" y="88"/>
                      <a:pt x="251" y="88"/>
                    </a:cubicBezTo>
                    <a:cubicBezTo>
                      <a:pt x="251" y="88"/>
                      <a:pt x="259" y="88"/>
                      <a:pt x="260" y="88"/>
                    </a:cubicBezTo>
                    <a:cubicBezTo>
                      <a:pt x="260" y="89"/>
                      <a:pt x="260" y="88"/>
                      <a:pt x="261" y="87"/>
                    </a:cubicBezTo>
                    <a:cubicBezTo>
                      <a:pt x="261" y="87"/>
                      <a:pt x="263" y="84"/>
                      <a:pt x="263" y="83"/>
                    </a:cubicBezTo>
                    <a:cubicBezTo>
                      <a:pt x="263" y="83"/>
                      <a:pt x="264" y="80"/>
                      <a:pt x="264" y="80"/>
                    </a:cubicBezTo>
                    <a:cubicBezTo>
                      <a:pt x="265" y="80"/>
                      <a:pt x="265" y="79"/>
                      <a:pt x="264" y="79"/>
                    </a:cubicBezTo>
                    <a:cubicBezTo>
                      <a:pt x="263" y="78"/>
                      <a:pt x="263" y="77"/>
                      <a:pt x="263" y="76"/>
                    </a:cubicBezTo>
                    <a:cubicBezTo>
                      <a:pt x="263" y="75"/>
                      <a:pt x="262" y="74"/>
                      <a:pt x="261" y="74"/>
                    </a:cubicBezTo>
                    <a:cubicBezTo>
                      <a:pt x="259" y="73"/>
                      <a:pt x="260" y="72"/>
                      <a:pt x="260" y="71"/>
                    </a:cubicBezTo>
                    <a:cubicBezTo>
                      <a:pt x="261" y="71"/>
                      <a:pt x="263" y="70"/>
                      <a:pt x="264" y="69"/>
                    </a:cubicBezTo>
                    <a:cubicBezTo>
                      <a:pt x="266" y="69"/>
                      <a:pt x="266" y="69"/>
                      <a:pt x="264" y="69"/>
                    </a:cubicBezTo>
                    <a:cubicBezTo>
                      <a:pt x="263" y="69"/>
                      <a:pt x="261" y="67"/>
                      <a:pt x="261" y="67"/>
                    </a:cubicBezTo>
                    <a:cubicBezTo>
                      <a:pt x="260" y="66"/>
                      <a:pt x="260" y="66"/>
                      <a:pt x="261" y="66"/>
                    </a:cubicBezTo>
                    <a:close/>
                    <a:moveTo>
                      <a:pt x="191" y="128"/>
                    </a:moveTo>
                    <a:cubicBezTo>
                      <a:pt x="192" y="129"/>
                      <a:pt x="195" y="134"/>
                      <a:pt x="196" y="135"/>
                    </a:cubicBezTo>
                    <a:cubicBezTo>
                      <a:pt x="197" y="135"/>
                      <a:pt x="198" y="136"/>
                      <a:pt x="196" y="136"/>
                    </a:cubicBezTo>
                    <a:cubicBezTo>
                      <a:pt x="195" y="136"/>
                      <a:pt x="193" y="136"/>
                      <a:pt x="192" y="133"/>
                    </a:cubicBezTo>
                    <a:cubicBezTo>
                      <a:pt x="192" y="131"/>
                      <a:pt x="190" y="129"/>
                      <a:pt x="189" y="128"/>
                    </a:cubicBezTo>
                    <a:cubicBezTo>
                      <a:pt x="188" y="127"/>
                      <a:pt x="186" y="124"/>
                      <a:pt x="185" y="125"/>
                    </a:cubicBezTo>
                    <a:cubicBezTo>
                      <a:pt x="184" y="126"/>
                      <a:pt x="183" y="127"/>
                      <a:pt x="184" y="125"/>
                    </a:cubicBezTo>
                    <a:cubicBezTo>
                      <a:pt x="186" y="122"/>
                      <a:pt x="184" y="123"/>
                      <a:pt x="183" y="124"/>
                    </a:cubicBezTo>
                    <a:cubicBezTo>
                      <a:pt x="182" y="125"/>
                      <a:pt x="182" y="127"/>
                      <a:pt x="182" y="124"/>
                    </a:cubicBezTo>
                    <a:cubicBezTo>
                      <a:pt x="181" y="122"/>
                      <a:pt x="181" y="122"/>
                      <a:pt x="180" y="123"/>
                    </a:cubicBezTo>
                    <a:cubicBezTo>
                      <a:pt x="179" y="124"/>
                      <a:pt x="176" y="122"/>
                      <a:pt x="173" y="120"/>
                    </a:cubicBezTo>
                    <a:cubicBezTo>
                      <a:pt x="173" y="120"/>
                      <a:pt x="169" y="118"/>
                      <a:pt x="173" y="119"/>
                    </a:cubicBezTo>
                    <a:cubicBezTo>
                      <a:pt x="178" y="119"/>
                      <a:pt x="179" y="119"/>
                      <a:pt x="178" y="118"/>
                    </a:cubicBezTo>
                    <a:cubicBezTo>
                      <a:pt x="178" y="118"/>
                      <a:pt x="177" y="117"/>
                      <a:pt x="180" y="118"/>
                    </a:cubicBezTo>
                    <a:cubicBezTo>
                      <a:pt x="182" y="119"/>
                      <a:pt x="184" y="119"/>
                      <a:pt x="183" y="120"/>
                    </a:cubicBezTo>
                    <a:cubicBezTo>
                      <a:pt x="182" y="121"/>
                      <a:pt x="182" y="122"/>
                      <a:pt x="183" y="122"/>
                    </a:cubicBezTo>
                    <a:cubicBezTo>
                      <a:pt x="184" y="122"/>
                      <a:pt x="185" y="122"/>
                      <a:pt x="185" y="121"/>
                    </a:cubicBezTo>
                    <a:cubicBezTo>
                      <a:pt x="185" y="119"/>
                      <a:pt x="186" y="119"/>
                      <a:pt x="187" y="120"/>
                    </a:cubicBezTo>
                    <a:cubicBezTo>
                      <a:pt x="188" y="122"/>
                      <a:pt x="190" y="127"/>
                      <a:pt x="191" y="12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10" name="Freeform 1022">
                <a:extLst>
                  <a:ext uri="{FF2B5EF4-FFF2-40B4-BE49-F238E27FC236}">
                    <a16:creationId xmlns:a16="http://schemas.microsoft.com/office/drawing/2014/main" id="{AAB78761-0DA9-46A3-B886-FD1ECB94D9CD}"/>
                  </a:ext>
                </a:extLst>
              </p:cNvPr>
              <p:cNvSpPr>
                <a:spLocks/>
              </p:cNvSpPr>
              <p:nvPr/>
            </p:nvSpPr>
            <p:spPr bwMode="auto">
              <a:xfrm>
                <a:off x="3978" y="1399"/>
                <a:ext cx="198" cy="136"/>
              </a:xfrm>
              <a:custGeom>
                <a:avLst/>
                <a:gdLst>
                  <a:gd name="T0" fmla="*/ 21 w 143"/>
                  <a:gd name="T1" fmla="*/ 87 h 99"/>
                  <a:gd name="T2" fmla="*/ 32 w 143"/>
                  <a:gd name="T3" fmla="*/ 85 h 99"/>
                  <a:gd name="T4" fmla="*/ 66 w 143"/>
                  <a:gd name="T5" fmla="*/ 92 h 99"/>
                  <a:gd name="T6" fmla="*/ 68 w 143"/>
                  <a:gd name="T7" fmla="*/ 94 h 99"/>
                  <a:gd name="T8" fmla="*/ 75 w 143"/>
                  <a:gd name="T9" fmla="*/ 92 h 99"/>
                  <a:gd name="T10" fmla="*/ 79 w 143"/>
                  <a:gd name="T11" fmla="*/ 94 h 99"/>
                  <a:gd name="T12" fmla="*/ 83 w 143"/>
                  <a:gd name="T13" fmla="*/ 96 h 99"/>
                  <a:gd name="T14" fmla="*/ 87 w 143"/>
                  <a:gd name="T15" fmla="*/ 93 h 99"/>
                  <a:gd name="T16" fmla="*/ 89 w 143"/>
                  <a:gd name="T17" fmla="*/ 92 h 99"/>
                  <a:gd name="T18" fmla="*/ 92 w 143"/>
                  <a:gd name="T19" fmla="*/ 96 h 99"/>
                  <a:gd name="T20" fmla="*/ 102 w 143"/>
                  <a:gd name="T21" fmla="*/ 95 h 99"/>
                  <a:gd name="T22" fmla="*/ 110 w 143"/>
                  <a:gd name="T23" fmla="*/ 99 h 99"/>
                  <a:gd name="T24" fmla="*/ 111 w 143"/>
                  <a:gd name="T25" fmla="*/ 95 h 99"/>
                  <a:gd name="T26" fmla="*/ 114 w 143"/>
                  <a:gd name="T27" fmla="*/ 86 h 99"/>
                  <a:gd name="T28" fmla="*/ 121 w 143"/>
                  <a:gd name="T29" fmla="*/ 83 h 99"/>
                  <a:gd name="T30" fmla="*/ 129 w 143"/>
                  <a:gd name="T31" fmla="*/ 82 h 99"/>
                  <a:gd name="T32" fmla="*/ 128 w 143"/>
                  <a:gd name="T33" fmla="*/ 81 h 99"/>
                  <a:gd name="T34" fmla="*/ 126 w 143"/>
                  <a:gd name="T35" fmla="*/ 71 h 99"/>
                  <a:gd name="T36" fmla="*/ 122 w 143"/>
                  <a:gd name="T37" fmla="*/ 65 h 99"/>
                  <a:gd name="T38" fmla="*/ 123 w 143"/>
                  <a:gd name="T39" fmla="*/ 62 h 99"/>
                  <a:gd name="T40" fmla="*/ 132 w 143"/>
                  <a:gd name="T41" fmla="*/ 62 h 99"/>
                  <a:gd name="T42" fmla="*/ 142 w 143"/>
                  <a:gd name="T43" fmla="*/ 58 h 99"/>
                  <a:gd name="T44" fmla="*/ 142 w 143"/>
                  <a:gd name="T45" fmla="*/ 55 h 99"/>
                  <a:gd name="T46" fmla="*/ 139 w 143"/>
                  <a:gd name="T47" fmla="*/ 50 h 99"/>
                  <a:gd name="T48" fmla="*/ 129 w 143"/>
                  <a:gd name="T49" fmla="*/ 46 h 99"/>
                  <a:gd name="T50" fmla="*/ 124 w 143"/>
                  <a:gd name="T51" fmla="*/ 39 h 99"/>
                  <a:gd name="T52" fmla="*/ 120 w 143"/>
                  <a:gd name="T53" fmla="*/ 33 h 99"/>
                  <a:gd name="T54" fmla="*/ 114 w 143"/>
                  <a:gd name="T55" fmla="*/ 27 h 99"/>
                  <a:gd name="T56" fmla="*/ 116 w 143"/>
                  <a:gd name="T57" fmla="*/ 20 h 99"/>
                  <a:gd name="T58" fmla="*/ 116 w 143"/>
                  <a:gd name="T59" fmla="*/ 16 h 99"/>
                  <a:gd name="T60" fmla="*/ 115 w 143"/>
                  <a:gd name="T61" fmla="*/ 11 h 99"/>
                  <a:gd name="T62" fmla="*/ 108 w 143"/>
                  <a:gd name="T63" fmla="*/ 6 h 99"/>
                  <a:gd name="T64" fmla="*/ 93 w 143"/>
                  <a:gd name="T65" fmla="*/ 8 h 99"/>
                  <a:gd name="T66" fmla="*/ 91 w 143"/>
                  <a:gd name="T67" fmla="*/ 3 h 99"/>
                  <a:gd name="T68" fmla="*/ 83 w 143"/>
                  <a:gd name="T69" fmla="*/ 4 h 99"/>
                  <a:gd name="T70" fmla="*/ 75 w 143"/>
                  <a:gd name="T71" fmla="*/ 0 h 99"/>
                  <a:gd name="T72" fmla="*/ 71 w 143"/>
                  <a:gd name="T73" fmla="*/ 1 h 99"/>
                  <a:gd name="T74" fmla="*/ 68 w 143"/>
                  <a:gd name="T75" fmla="*/ 4 h 99"/>
                  <a:gd name="T76" fmla="*/ 66 w 143"/>
                  <a:gd name="T77" fmla="*/ 6 h 99"/>
                  <a:gd name="T78" fmla="*/ 57 w 143"/>
                  <a:gd name="T79" fmla="*/ 7 h 99"/>
                  <a:gd name="T80" fmla="*/ 53 w 143"/>
                  <a:gd name="T81" fmla="*/ 10 h 99"/>
                  <a:gd name="T82" fmla="*/ 52 w 143"/>
                  <a:gd name="T83" fmla="*/ 10 h 99"/>
                  <a:gd name="T84" fmla="*/ 50 w 143"/>
                  <a:gd name="T85" fmla="*/ 15 h 99"/>
                  <a:gd name="T86" fmla="*/ 52 w 143"/>
                  <a:gd name="T87" fmla="*/ 17 h 99"/>
                  <a:gd name="T88" fmla="*/ 53 w 143"/>
                  <a:gd name="T89" fmla="*/ 19 h 99"/>
                  <a:gd name="T90" fmla="*/ 44 w 143"/>
                  <a:gd name="T91" fmla="*/ 24 h 99"/>
                  <a:gd name="T92" fmla="*/ 39 w 143"/>
                  <a:gd name="T93" fmla="*/ 27 h 99"/>
                  <a:gd name="T94" fmla="*/ 37 w 143"/>
                  <a:gd name="T95" fmla="*/ 38 h 99"/>
                  <a:gd name="T96" fmla="*/ 39 w 143"/>
                  <a:gd name="T97" fmla="*/ 41 h 99"/>
                  <a:gd name="T98" fmla="*/ 36 w 143"/>
                  <a:gd name="T99" fmla="*/ 39 h 99"/>
                  <a:gd name="T100" fmla="*/ 32 w 143"/>
                  <a:gd name="T101" fmla="*/ 40 h 99"/>
                  <a:gd name="T102" fmla="*/ 26 w 143"/>
                  <a:gd name="T103" fmla="*/ 42 h 99"/>
                  <a:gd name="T104" fmla="*/ 16 w 143"/>
                  <a:gd name="T105" fmla="*/ 46 h 99"/>
                  <a:gd name="T106" fmla="*/ 5 w 143"/>
                  <a:gd name="T107" fmla="*/ 45 h 99"/>
                  <a:gd name="T108" fmla="*/ 10 w 143"/>
                  <a:gd name="T109" fmla="*/ 58 h 99"/>
                  <a:gd name="T110" fmla="*/ 12 w 143"/>
                  <a:gd name="T111" fmla="*/ 69 h 99"/>
                  <a:gd name="T112" fmla="*/ 2 w 143"/>
                  <a:gd name="T113" fmla="*/ 79 h 99"/>
                  <a:gd name="T114" fmla="*/ 6 w 143"/>
                  <a:gd name="T115" fmla="*/ 82 h 99"/>
                  <a:gd name="T116" fmla="*/ 6 w 143"/>
                  <a:gd name="T117" fmla="*/ 91 h 99"/>
                  <a:gd name="T118" fmla="*/ 7 w 143"/>
                  <a:gd name="T119" fmla="*/ 94 h 99"/>
                  <a:gd name="T120" fmla="*/ 17 w 143"/>
                  <a:gd name="T121" fmla="*/ 8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3" h="99">
                    <a:moveTo>
                      <a:pt x="17" y="89"/>
                    </a:moveTo>
                    <a:cubicBezTo>
                      <a:pt x="18" y="88"/>
                      <a:pt x="19" y="87"/>
                      <a:pt x="21" y="87"/>
                    </a:cubicBezTo>
                    <a:cubicBezTo>
                      <a:pt x="22" y="87"/>
                      <a:pt x="27" y="86"/>
                      <a:pt x="28" y="86"/>
                    </a:cubicBezTo>
                    <a:cubicBezTo>
                      <a:pt x="29" y="86"/>
                      <a:pt x="31" y="85"/>
                      <a:pt x="32" y="85"/>
                    </a:cubicBezTo>
                    <a:cubicBezTo>
                      <a:pt x="34" y="85"/>
                      <a:pt x="40" y="87"/>
                      <a:pt x="41" y="87"/>
                    </a:cubicBezTo>
                    <a:cubicBezTo>
                      <a:pt x="42" y="87"/>
                      <a:pt x="66" y="92"/>
                      <a:pt x="66" y="92"/>
                    </a:cubicBezTo>
                    <a:cubicBezTo>
                      <a:pt x="66" y="92"/>
                      <a:pt x="69" y="92"/>
                      <a:pt x="68" y="94"/>
                    </a:cubicBezTo>
                    <a:cubicBezTo>
                      <a:pt x="68" y="94"/>
                      <a:pt x="67" y="95"/>
                      <a:pt x="68" y="94"/>
                    </a:cubicBezTo>
                    <a:cubicBezTo>
                      <a:pt x="69" y="93"/>
                      <a:pt x="70" y="92"/>
                      <a:pt x="72" y="92"/>
                    </a:cubicBezTo>
                    <a:cubicBezTo>
                      <a:pt x="73" y="92"/>
                      <a:pt x="75" y="92"/>
                      <a:pt x="75" y="92"/>
                    </a:cubicBezTo>
                    <a:cubicBezTo>
                      <a:pt x="76" y="91"/>
                      <a:pt x="76" y="91"/>
                      <a:pt x="76" y="92"/>
                    </a:cubicBezTo>
                    <a:cubicBezTo>
                      <a:pt x="77" y="92"/>
                      <a:pt x="78" y="94"/>
                      <a:pt x="79" y="94"/>
                    </a:cubicBezTo>
                    <a:cubicBezTo>
                      <a:pt x="81" y="95"/>
                      <a:pt x="82" y="95"/>
                      <a:pt x="82" y="95"/>
                    </a:cubicBezTo>
                    <a:cubicBezTo>
                      <a:pt x="83" y="96"/>
                      <a:pt x="83" y="96"/>
                      <a:pt x="83" y="96"/>
                    </a:cubicBezTo>
                    <a:cubicBezTo>
                      <a:pt x="84" y="95"/>
                      <a:pt x="84" y="93"/>
                      <a:pt x="85" y="93"/>
                    </a:cubicBezTo>
                    <a:cubicBezTo>
                      <a:pt x="86" y="93"/>
                      <a:pt x="86" y="93"/>
                      <a:pt x="87" y="93"/>
                    </a:cubicBezTo>
                    <a:cubicBezTo>
                      <a:pt x="87" y="93"/>
                      <a:pt x="87" y="93"/>
                      <a:pt x="88" y="92"/>
                    </a:cubicBezTo>
                    <a:cubicBezTo>
                      <a:pt x="88" y="92"/>
                      <a:pt x="88" y="92"/>
                      <a:pt x="89" y="92"/>
                    </a:cubicBezTo>
                    <a:cubicBezTo>
                      <a:pt x="89" y="92"/>
                      <a:pt x="90" y="93"/>
                      <a:pt x="91" y="94"/>
                    </a:cubicBezTo>
                    <a:cubicBezTo>
                      <a:pt x="91" y="95"/>
                      <a:pt x="92" y="96"/>
                      <a:pt x="92" y="96"/>
                    </a:cubicBezTo>
                    <a:cubicBezTo>
                      <a:pt x="92" y="96"/>
                      <a:pt x="93" y="97"/>
                      <a:pt x="93" y="97"/>
                    </a:cubicBezTo>
                    <a:cubicBezTo>
                      <a:pt x="93" y="97"/>
                      <a:pt x="101" y="95"/>
                      <a:pt x="102" y="95"/>
                    </a:cubicBezTo>
                    <a:cubicBezTo>
                      <a:pt x="103" y="94"/>
                      <a:pt x="106" y="95"/>
                      <a:pt x="107" y="96"/>
                    </a:cubicBezTo>
                    <a:cubicBezTo>
                      <a:pt x="108" y="97"/>
                      <a:pt x="110" y="99"/>
                      <a:pt x="110" y="99"/>
                    </a:cubicBezTo>
                    <a:cubicBezTo>
                      <a:pt x="110" y="99"/>
                      <a:pt x="110" y="99"/>
                      <a:pt x="110" y="99"/>
                    </a:cubicBezTo>
                    <a:cubicBezTo>
                      <a:pt x="111" y="98"/>
                      <a:pt x="111" y="97"/>
                      <a:pt x="111" y="95"/>
                    </a:cubicBezTo>
                    <a:cubicBezTo>
                      <a:pt x="110" y="93"/>
                      <a:pt x="110" y="92"/>
                      <a:pt x="110" y="91"/>
                    </a:cubicBezTo>
                    <a:cubicBezTo>
                      <a:pt x="111" y="89"/>
                      <a:pt x="113" y="86"/>
                      <a:pt x="114" y="86"/>
                    </a:cubicBezTo>
                    <a:cubicBezTo>
                      <a:pt x="114" y="85"/>
                      <a:pt x="116" y="82"/>
                      <a:pt x="119" y="83"/>
                    </a:cubicBezTo>
                    <a:cubicBezTo>
                      <a:pt x="121" y="83"/>
                      <a:pt x="120" y="83"/>
                      <a:pt x="121" y="83"/>
                    </a:cubicBezTo>
                    <a:cubicBezTo>
                      <a:pt x="122" y="82"/>
                      <a:pt x="123" y="82"/>
                      <a:pt x="124" y="82"/>
                    </a:cubicBezTo>
                    <a:cubicBezTo>
                      <a:pt x="125" y="82"/>
                      <a:pt x="127" y="82"/>
                      <a:pt x="129" y="82"/>
                    </a:cubicBezTo>
                    <a:cubicBezTo>
                      <a:pt x="129" y="82"/>
                      <a:pt x="129" y="82"/>
                      <a:pt x="129" y="82"/>
                    </a:cubicBezTo>
                    <a:cubicBezTo>
                      <a:pt x="129" y="82"/>
                      <a:pt x="128" y="81"/>
                      <a:pt x="128" y="81"/>
                    </a:cubicBezTo>
                    <a:cubicBezTo>
                      <a:pt x="128" y="80"/>
                      <a:pt x="126" y="79"/>
                      <a:pt x="125" y="78"/>
                    </a:cubicBezTo>
                    <a:cubicBezTo>
                      <a:pt x="125" y="77"/>
                      <a:pt x="126" y="71"/>
                      <a:pt x="126" y="71"/>
                    </a:cubicBezTo>
                    <a:cubicBezTo>
                      <a:pt x="126" y="70"/>
                      <a:pt x="126" y="69"/>
                      <a:pt x="126" y="69"/>
                    </a:cubicBezTo>
                    <a:cubicBezTo>
                      <a:pt x="125" y="69"/>
                      <a:pt x="123" y="67"/>
                      <a:pt x="122" y="65"/>
                    </a:cubicBezTo>
                    <a:cubicBezTo>
                      <a:pt x="121" y="63"/>
                      <a:pt x="122" y="63"/>
                      <a:pt x="122" y="62"/>
                    </a:cubicBezTo>
                    <a:cubicBezTo>
                      <a:pt x="123" y="62"/>
                      <a:pt x="123" y="62"/>
                      <a:pt x="123" y="62"/>
                    </a:cubicBezTo>
                    <a:cubicBezTo>
                      <a:pt x="123" y="62"/>
                      <a:pt x="127" y="62"/>
                      <a:pt x="128" y="62"/>
                    </a:cubicBezTo>
                    <a:cubicBezTo>
                      <a:pt x="129" y="62"/>
                      <a:pt x="132" y="62"/>
                      <a:pt x="132" y="62"/>
                    </a:cubicBezTo>
                    <a:cubicBezTo>
                      <a:pt x="133" y="62"/>
                      <a:pt x="133" y="63"/>
                      <a:pt x="134" y="62"/>
                    </a:cubicBezTo>
                    <a:cubicBezTo>
                      <a:pt x="134" y="62"/>
                      <a:pt x="142" y="58"/>
                      <a:pt x="142" y="58"/>
                    </a:cubicBezTo>
                    <a:cubicBezTo>
                      <a:pt x="143" y="58"/>
                      <a:pt x="143" y="57"/>
                      <a:pt x="143" y="56"/>
                    </a:cubicBezTo>
                    <a:cubicBezTo>
                      <a:pt x="143" y="56"/>
                      <a:pt x="142" y="55"/>
                      <a:pt x="142" y="55"/>
                    </a:cubicBezTo>
                    <a:cubicBezTo>
                      <a:pt x="139" y="54"/>
                      <a:pt x="138" y="52"/>
                      <a:pt x="139" y="51"/>
                    </a:cubicBezTo>
                    <a:cubicBezTo>
                      <a:pt x="140" y="50"/>
                      <a:pt x="139" y="50"/>
                      <a:pt x="139" y="50"/>
                    </a:cubicBezTo>
                    <a:cubicBezTo>
                      <a:pt x="139" y="50"/>
                      <a:pt x="131" y="49"/>
                      <a:pt x="130" y="49"/>
                    </a:cubicBezTo>
                    <a:cubicBezTo>
                      <a:pt x="128" y="48"/>
                      <a:pt x="129" y="46"/>
                      <a:pt x="129" y="46"/>
                    </a:cubicBezTo>
                    <a:cubicBezTo>
                      <a:pt x="130" y="45"/>
                      <a:pt x="129" y="44"/>
                      <a:pt x="129" y="43"/>
                    </a:cubicBezTo>
                    <a:cubicBezTo>
                      <a:pt x="128" y="42"/>
                      <a:pt x="124" y="39"/>
                      <a:pt x="124" y="39"/>
                    </a:cubicBezTo>
                    <a:cubicBezTo>
                      <a:pt x="123" y="38"/>
                      <a:pt x="121" y="37"/>
                      <a:pt x="121" y="36"/>
                    </a:cubicBezTo>
                    <a:cubicBezTo>
                      <a:pt x="121" y="36"/>
                      <a:pt x="120" y="35"/>
                      <a:pt x="120" y="33"/>
                    </a:cubicBezTo>
                    <a:cubicBezTo>
                      <a:pt x="120" y="31"/>
                      <a:pt x="116" y="29"/>
                      <a:pt x="115" y="28"/>
                    </a:cubicBezTo>
                    <a:cubicBezTo>
                      <a:pt x="114" y="28"/>
                      <a:pt x="114" y="27"/>
                      <a:pt x="114" y="27"/>
                    </a:cubicBezTo>
                    <a:cubicBezTo>
                      <a:pt x="115" y="26"/>
                      <a:pt x="117" y="24"/>
                      <a:pt x="117" y="23"/>
                    </a:cubicBezTo>
                    <a:cubicBezTo>
                      <a:pt x="118" y="22"/>
                      <a:pt x="117" y="21"/>
                      <a:pt x="116" y="20"/>
                    </a:cubicBezTo>
                    <a:cubicBezTo>
                      <a:pt x="116" y="20"/>
                      <a:pt x="115" y="19"/>
                      <a:pt x="115" y="18"/>
                    </a:cubicBezTo>
                    <a:cubicBezTo>
                      <a:pt x="115" y="17"/>
                      <a:pt x="116" y="16"/>
                      <a:pt x="116" y="16"/>
                    </a:cubicBezTo>
                    <a:cubicBezTo>
                      <a:pt x="117" y="15"/>
                      <a:pt x="116" y="13"/>
                      <a:pt x="116" y="12"/>
                    </a:cubicBezTo>
                    <a:cubicBezTo>
                      <a:pt x="116" y="11"/>
                      <a:pt x="115" y="11"/>
                      <a:pt x="115" y="11"/>
                    </a:cubicBezTo>
                    <a:cubicBezTo>
                      <a:pt x="115" y="11"/>
                      <a:pt x="110" y="8"/>
                      <a:pt x="109" y="7"/>
                    </a:cubicBezTo>
                    <a:cubicBezTo>
                      <a:pt x="109" y="7"/>
                      <a:pt x="108" y="6"/>
                      <a:pt x="108" y="6"/>
                    </a:cubicBezTo>
                    <a:cubicBezTo>
                      <a:pt x="100" y="5"/>
                      <a:pt x="98" y="8"/>
                      <a:pt x="96" y="9"/>
                    </a:cubicBezTo>
                    <a:cubicBezTo>
                      <a:pt x="95" y="10"/>
                      <a:pt x="94" y="8"/>
                      <a:pt x="93" y="8"/>
                    </a:cubicBezTo>
                    <a:cubicBezTo>
                      <a:pt x="93" y="7"/>
                      <a:pt x="93" y="7"/>
                      <a:pt x="93" y="6"/>
                    </a:cubicBezTo>
                    <a:cubicBezTo>
                      <a:pt x="93" y="5"/>
                      <a:pt x="91" y="4"/>
                      <a:pt x="91" y="3"/>
                    </a:cubicBezTo>
                    <a:cubicBezTo>
                      <a:pt x="91" y="3"/>
                      <a:pt x="90" y="3"/>
                      <a:pt x="90" y="3"/>
                    </a:cubicBezTo>
                    <a:cubicBezTo>
                      <a:pt x="89" y="4"/>
                      <a:pt x="84" y="4"/>
                      <a:pt x="83" y="4"/>
                    </a:cubicBezTo>
                    <a:cubicBezTo>
                      <a:pt x="82" y="3"/>
                      <a:pt x="77" y="1"/>
                      <a:pt x="77" y="1"/>
                    </a:cubicBezTo>
                    <a:cubicBezTo>
                      <a:pt x="76" y="0"/>
                      <a:pt x="75" y="0"/>
                      <a:pt x="75" y="0"/>
                    </a:cubicBezTo>
                    <a:cubicBezTo>
                      <a:pt x="74" y="0"/>
                      <a:pt x="72" y="0"/>
                      <a:pt x="72" y="0"/>
                    </a:cubicBezTo>
                    <a:cubicBezTo>
                      <a:pt x="72" y="0"/>
                      <a:pt x="71" y="1"/>
                      <a:pt x="71" y="1"/>
                    </a:cubicBezTo>
                    <a:cubicBezTo>
                      <a:pt x="71" y="1"/>
                      <a:pt x="69" y="3"/>
                      <a:pt x="69" y="3"/>
                    </a:cubicBezTo>
                    <a:cubicBezTo>
                      <a:pt x="69" y="3"/>
                      <a:pt x="68" y="4"/>
                      <a:pt x="68" y="4"/>
                    </a:cubicBezTo>
                    <a:cubicBezTo>
                      <a:pt x="67" y="4"/>
                      <a:pt x="67" y="5"/>
                      <a:pt x="67" y="6"/>
                    </a:cubicBezTo>
                    <a:cubicBezTo>
                      <a:pt x="67" y="7"/>
                      <a:pt x="66" y="6"/>
                      <a:pt x="66" y="6"/>
                    </a:cubicBezTo>
                    <a:cubicBezTo>
                      <a:pt x="66" y="6"/>
                      <a:pt x="58" y="7"/>
                      <a:pt x="58" y="7"/>
                    </a:cubicBezTo>
                    <a:cubicBezTo>
                      <a:pt x="57" y="6"/>
                      <a:pt x="57" y="7"/>
                      <a:pt x="57" y="7"/>
                    </a:cubicBezTo>
                    <a:cubicBezTo>
                      <a:pt x="57" y="7"/>
                      <a:pt x="56" y="8"/>
                      <a:pt x="56" y="9"/>
                    </a:cubicBezTo>
                    <a:cubicBezTo>
                      <a:pt x="55" y="9"/>
                      <a:pt x="54" y="10"/>
                      <a:pt x="53" y="10"/>
                    </a:cubicBezTo>
                    <a:cubicBezTo>
                      <a:pt x="53" y="10"/>
                      <a:pt x="52" y="10"/>
                      <a:pt x="52" y="10"/>
                    </a:cubicBezTo>
                    <a:cubicBezTo>
                      <a:pt x="52" y="10"/>
                      <a:pt x="52" y="10"/>
                      <a:pt x="52" y="10"/>
                    </a:cubicBezTo>
                    <a:cubicBezTo>
                      <a:pt x="52" y="10"/>
                      <a:pt x="52" y="11"/>
                      <a:pt x="52" y="11"/>
                    </a:cubicBezTo>
                    <a:cubicBezTo>
                      <a:pt x="52" y="11"/>
                      <a:pt x="50" y="14"/>
                      <a:pt x="50" y="15"/>
                    </a:cubicBezTo>
                    <a:cubicBezTo>
                      <a:pt x="50" y="16"/>
                      <a:pt x="50" y="17"/>
                      <a:pt x="50" y="17"/>
                    </a:cubicBezTo>
                    <a:cubicBezTo>
                      <a:pt x="51" y="17"/>
                      <a:pt x="51" y="17"/>
                      <a:pt x="52" y="17"/>
                    </a:cubicBezTo>
                    <a:cubicBezTo>
                      <a:pt x="52" y="18"/>
                      <a:pt x="53" y="18"/>
                      <a:pt x="53" y="18"/>
                    </a:cubicBezTo>
                    <a:cubicBezTo>
                      <a:pt x="53" y="18"/>
                      <a:pt x="54" y="19"/>
                      <a:pt x="53" y="19"/>
                    </a:cubicBezTo>
                    <a:cubicBezTo>
                      <a:pt x="53" y="19"/>
                      <a:pt x="46" y="23"/>
                      <a:pt x="46" y="24"/>
                    </a:cubicBezTo>
                    <a:cubicBezTo>
                      <a:pt x="45" y="24"/>
                      <a:pt x="44" y="24"/>
                      <a:pt x="44" y="24"/>
                    </a:cubicBezTo>
                    <a:cubicBezTo>
                      <a:pt x="43" y="25"/>
                      <a:pt x="40" y="26"/>
                      <a:pt x="40" y="26"/>
                    </a:cubicBezTo>
                    <a:cubicBezTo>
                      <a:pt x="40" y="26"/>
                      <a:pt x="39" y="27"/>
                      <a:pt x="39" y="27"/>
                    </a:cubicBezTo>
                    <a:cubicBezTo>
                      <a:pt x="39" y="27"/>
                      <a:pt x="38" y="34"/>
                      <a:pt x="37" y="34"/>
                    </a:cubicBezTo>
                    <a:cubicBezTo>
                      <a:pt x="37" y="35"/>
                      <a:pt x="36" y="37"/>
                      <a:pt x="37" y="38"/>
                    </a:cubicBezTo>
                    <a:cubicBezTo>
                      <a:pt x="38" y="39"/>
                      <a:pt x="39" y="40"/>
                      <a:pt x="39" y="40"/>
                    </a:cubicBezTo>
                    <a:cubicBezTo>
                      <a:pt x="39" y="41"/>
                      <a:pt x="40" y="41"/>
                      <a:pt x="39" y="41"/>
                    </a:cubicBezTo>
                    <a:cubicBezTo>
                      <a:pt x="38" y="41"/>
                      <a:pt x="35" y="42"/>
                      <a:pt x="36" y="41"/>
                    </a:cubicBezTo>
                    <a:cubicBezTo>
                      <a:pt x="36" y="40"/>
                      <a:pt x="36" y="40"/>
                      <a:pt x="36" y="39"/>
                    </a:cubicBezTo>
                    <a:cubicBezTo>
                      <a:pt x="36" y="39"/>
                      <a:pt x="36" y="38"/>
                      <a:pt x="35" y="38"/>
                    </a:cubicBezTo>
                    <a:cubicBezTo>
                      <a:pt x="34" y="39"/>
                      <a:pt x="33" y="39"/>
                      <a:pt x="32" y="40"/>
                    </a:cubicBezTo>
                    <a:cubicBezTo>
                      <a:pt x="31" y="40"/>
                      <a:pt x="29" y="41"/>
                      <a:pt x="26" y="41"/>
                    </a:cubicBezTo>
                    <a:cubicBezTo>
                      <a:pt x="26" y="41"/>
                      <a:pt x="26" y="41"/>
                      <a:pt x="26" y="42"/>
                    </a:cubicBezTo>
                    <a:cubicBezTo>
                      <a:pt x="26" y="42"/>
                      <a:pt x="25" y="45"/>
                      <a:pt x="24" y="45"/>
                    </a:cubicBezTo>
                    <a:cubicBezTo>
                      <a:pt x="22" y="46"/>
                      <a:pt x="19" y="47"/>
                      <a:pt x="16" y="46"/>
                    </a:cubicBezTo>
                    <a:cubicBezTo>
                      <a:pt x="12" y="45"/>
                      <a:pt x="12" y="45"/>
                      <a:pt x="11" y="45"/>
                    </a:cubicBezTo>
                    <a:cubicBezTo>
                      <a:pt x="10" y="45"/>
                      <a:pt x="7" y="45"/>
                      <a:pt x="5" y="45"/>
                    </a:cubicBezTo>
                    <a:cubicBezTo>
                      <a:pt x="6" y="46"/>
                      <a:pt x="6" y="47"/>
                      <a:pt x="6" y="47"/>
                    </a:cubicBezTo>
                    <a:cubicBezTo>
                      <a:pt x="7" y="49"/>
                      <a:pt x="9" y="55"/>
                      <a:pt x="10" y="58"/>
                    </a:cubicBezTo>
                    <a:cubicBezTo>
                      <a:pt x="12" y="61"/>
                      <a:pt x="12" y="63"/>
                      <a:pt x="12" y="66"/>
                    </a:cubicBezTo>
                    <a:cubicBezTo>
                      <a:pt x="12" y="68"/>
                      <a:pt x="12" y="69"/>
                      <a:pt x="12" y="69"/>
                    </a:cubicBezTo>
                    <a:cubicBezTo>
                      <a:pt x="11" y="70"/>
                      <a:pt x="1" y="78"/>
                      <a:pt x="1" y="78"/>
                    </a:cubicBezTo>
                    <a:cubicBezTo>
                      <a:pt x="1" y="78"/>
                      <a:pt x="0" y="79"/>
                      <a:pt x="2" y="79"/>
                    </a:cubicBezTo>
                    <a:cubicBezTo>
                      <a:pt x="3" y="80"/>
                      <a:pt x="5" y="81"/>
                      <a:pt x="5" y="81"/>
                    </a:cubicBezTo>
                    <a:cubicBezTo>
                      <a:pt x="5" y="81"/>
                      <a:pt x="6" y="81"/>
                      <a:pt x="6" y="82"/>
                    </a:cubicBezTo>
                    <a:cubicBezTo>
                      <a:pt x="7" y="82"/>
                      <a:pt x="8" y="83"/>
                      <a:pt x="8" y="84"/>
                    </a:cubicBezTo>
                    <a:cubicBezTo>
                      <a:pt x="8" y="85"/>
                      <a:pt x="7" y="90"/>
                      <a:pt x="6" y="91"/>
                    </a:cubicBezTo>
                    <a:cubicBezTo>
                      <a:pt x="6" y="92"/>
                      <a:pt x="7" y="92"/>
                      <a:pt x="7" y="93"/>
                    </a:cubicBezTo>
                    <a:cubicBezTo>
                      <a:pt x="7" y="93"/>
                      <a:pt x="7" y="94"/>
                      <a:pt x="7" y="94"/>
                    </a:cubicBezTo>
                    <a:cubicBezTo>
                      <a:pt x="9" y="93"/>
                      <a:pt x="12" y="93"/>
                      <a:pt x="13" y="92"/>
                    </a:cubicBezTo>
                    <a:cubicBezTo>
                      <a:pt x="13" y="92"/>
                      <a:pt x="16" y="90"/>
                      <a:pt x="17" y="8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11" name="Freeform 1023">
                <a:extLst>
                  <a:ext uri="{FF2B5EF4-FFF2-40B4-BE49-F238E27FC236}">
                    <a16:creationId xmlns:a16="http://schemas.microsoft.com/office/drawing/2014/main" id="{AAE7D8AD-E9F8-4696-99AD-F5AF77D08400}"/>
                  </a:ext>
                </a:extLst>
              </p:cNvPr>
              <p:cNvSpPr>
                <a:spLocks/>
              </p:cNvSpPr>
              <p:nvPr/>
            </p:nvSpPr>
            <p:spPr bwMode="auto">
              <a:xfrm>
                <a:off x="3906" y="1422"/>
                <a:ext cx="66" cy="29"/>
              </a:xfrm>
              <a:custGeom>
                <a:avLst/>
                <a:gdLst>
                  <a:gd name="T0" fmla="*/ 47 w 48"/>
                  <a:gd name="T1" fmla="*/ 12 h 21"/>
                  <a:gd name="T2" fmla="*/ 48 w 48"/>
                  <a:gd name="T3" fmla="*/ 11 h 21"/>
                  <a:gd name="T4" fmla="*/ 45 w 48"/>
                  <a:gd name="T5" fmla="*/ 8 h 21"/>
                  <a:gd name="T6" fmla="*/ 44 w 48"/>
                  <a:gd name="T7" fmla="*/ 6 h 21"/>
                  <a:gd name="T8" fmla="*/ 44 w 48"/>
                  <a:gd name="T9" fmla="*/ 5 h 21"/>
                  <a:gd name="T10" fmla="*/ 38 w 48"/>
                  <a:gd name="T11" fmla="*/ 5 h 21"/>
                  <a:gd name="T12" fmla="*/ 37 w 48"/>
                  <a:gd name="T13" fmla="*/ 6 h 21"/>
                  <a:gd name="T14" fmla="*/ 36 w 48"/>
                  <a:gd name="T15" fmla="*/ 6 h 21"/>
                  <a:gd name="T16" fmla="*/ 35 w 48"/>
                  <a:gd name="T17" fmla="*/ 5 h 21"/>
                  <a:gd name="T18" fmla="*/ 26 w 48"/>
                  <a:gd name="T19" fmla="*/ 2 h 21"/>
                  <a:gd name="T20" fmla="*/ 24 w 48"/>
                  <a:gd name="T21" fmla="*/ 2 h 21"/>
                  <a:gd name="T22" fmla="*/ 24 w 48"/>
                  <a:gd name="T23" fmla="*/ 6 h 21"/>
                  <a:gd name="T24" fmla="*/ 18 w 48"/>
                  <a:gd name="T25" fmla="*/ 8 h 21"/>
                  <a:gd name="T26" fmla="*/ 15 w 48"/>
                  <a:gd name="T27" fmla="*/ 7 h 21"/>
                  <a:gd name="T28" fmla="*/ 18 w 48"/>
                  <a:gd name="T29" fmla="*/ 3 h 21"/>
                  <a:gd name="T30" fmla="*/ 20 w 48"/>
                  <a:gd name="T31" fmla="*/ 1 h 21"/>
                  <a:gd name="T32" fmla="*/ 12 w 48"/>
                  <a:gd name="T33" fmla="*/ 6 h 21"/>
                  <a:gd name="T34" fmla="*/ 6 w 48"/>
                  <a:gd name="T35" fmla="*/ 8 h 21"/>
                  <a:gd name="T36" fmla="*/ 5 w 48"/>
                  <a:gd name="T37" fmla="*/ 10 h 21"/>
                  <a:gd name="T38" fmla="*/ 5 w 48"/>
                  <a:gd name="T39" fmla="*/ 12 h 21"/>
                  <a:gd name="T40" fmla="*/ 2 w 48"/>
                  <a:gd name="T41" fmla="*/ 16 h 21"/>
                  <a:gd name="T42" fmla="*/ 1 w 48"/>
                  <a:gd name="T43" fmla="*/ 17 h 21"/>
                  <a:gd name="T44" fmla="*/ 4 w 48"/>
                  <a:gd name="T45" fmla="*/ 14 h 21"/>
                  <a:gd name="T46" fmla="*/ 6 w 48"/>
                  <a:gd name="T47" fmla="*/ 12 h 21"/>
                  <a:gd name="T48" fmla="*/ 8 w 48"/>
                  <a:gd name="T49" fmla="*/ 13 h 21"/>
                  <a:gd name="T50" fmla="*/ 11 w 48"/>
                  <a:gd name="T51" fmla="*/ 14 h 21"/>
                  <a:gd name="T52" fmla="*/ 3 w 48"/>
                  <a:gd name="T53" fmla="*/ 18 h 21"/>
                  <a:gd name="T54" fmla="*/ 25 w 48"/>
                  <a:gd name="T55" fmla="*/ 20 h 21"/>
                  <a:gd name="T56" fmla="*/ 47 w 48"/>
                  <a:gd name="T57" fmla="*/ 20 h 21"/>
                  <a:gd name="T58" fmla="*/ 46 w 48"/>
                  <a:gd name="T59" fmla="*/ 13 h 21"/>
                  <a:gd name="T60" fmla="*/ 47 w 48"/>
                  <a:gd name="T61"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 h="21">
                    <a:moveTo>
                      <a:pt x="47" y="12"/>
                    </a:moveTo>
                    <a:cubicBezTo>
                      <a:pt x="48" y="11"/>
                      <a:pt x="48" y="11"/>
                      <a:pt x="48" y="11"/>
                    </a:cubicBezTo>
                    <a:cubicBezTo>
                      <a:pt x="48" y="11"/>
                      <a:pt x="45" y="8"/>
                      <a:pt x="45" y="8"/>
                    </a:cubicBezTo>
                    <a:cubicBezTo>
                      <a:pt x="45" y="7"/>
                      <a:pt x="44" y="6"/>
                      <a:pt x="44" y="6"/>
                    </a:cubicBezTo>
                    <a:cubicBezTo>
                      <a:pt x="44" y="5"/>
                      <a:pt x="44" y="5"/>
                      <a:pt x="44" y="5"/>
                    </a:cubicBezTo>
                    <a:cubicBezTo>
                      <a:pt x="44" y="5"/>
                      <a:pt x="39" y="5"/>
                      <a:pt x="38" y="5"/>
                    </a:cubicBezTo>
                    <a:cubicBezTo>
                      <a:pt x="38" y="5"/>
                      <a:pt x="37" y="6"/>
                      <a:pt x="37" y="6"/>
                    </a:cubicBezTo>
                    <a:cubicBezTo>
                      <a:pt x="36" y="6"/>
                      <a:pt x="36" y="6"/>
                      <a:pt x="36" y="6"/>
                    </a:cubicBezTo>
                    <a:cubicBezTo>
                      <a:pt x="35" y="5"/>
                      <a:pt x="35" y="5"/>
                      <a:pt x="35" y="5"/>
                    </a:cubicBezTo>
                    <a:cubicBezTo>
                      <a:pt x="35" y="5"/>
                      <a:pt x="27" y="2"/>
                      <a:pt x="26" y="2"/>
                    </a:cubicBezTo>
                    <a:cubicBezTo>
                      <a:pt x="26" y="2"/>
                      <a:pt x="25" y="2"/>
                      <a:pt x="24" y="2"/>
                    </a:cubicBezTo>
                    <a:cubicBezTo>
                      <a:pt x="24" y="4"/>
                      <a:pt x="24" y="6"/>
                      <a:pt x="24" y="6"/>
                    </a:cubicBezTo>
                    <a:cubicBezTo>
                      <a:pt x="23" y="7"/>
                      <a:pt x="19" y="9"/>
                      <a:pt x="18" y="8"/>
                    </a:cubicBezTo>
                    <a:cubicBezTo>
                      <a:pt x="18" y="8"/>
                      <a:pt x="13" y="8"/>
                      <a:pt x="15" y="7"/>
                    </a:cubicBezTo>
                    <a:cubicBezTo>
                      <a:pt x="16" y="5"/>
                      <a:pt x="17" y="4"/>
                      <a:pt x="18" y="3"/>
                    </a:cubicBezTo>
                    <a:cubicBezTo>
                      <a:pt x="20" y="2"/>
                      <a:pt x="22" y="0"/>
                      <a:pt x="20" y="1"/>
                    </a:cubicBezTo>
                    <a:cubicBezTo>
                      <a:pt x="18" y="2"/>
                      <a:pt x="14" y="5"/>
                      <a:pt x="12" y="6"/>
                    </a:cubicBezTo>
                    <a:cubicBezTo>
                      <a:pt x="11" y="6"/>
                      <a:pt x="8" y="8"/>
                      <a:pt x="6" y="8"/>
                    </a:cubicBezTo>
                    <a:cubicBezTo>
                      <a:pt x="4" y="8"/>
                      <a:pt x="5" y="9"/>
                      <a:pt x="5" y="10"/>
                    </a:cubicBezTo>
                    <a:cubicBezTo>
                      <a:pt x="5" y="11"/>
                      <a:pt x="5" y="12"/>
                      <a:pt x="5" y="12"/>
                    </a:cubicBezTo>
                    <a:cubicBezTo>
                      <a:pt x="4" y="13"/>
                      <a:pt x="2" y="16"/>
                      <a:pt x="2" y="16"/>
                    </a:cubicBezTo>
                    <a:cubicBezTo>
                      <a:pt x="1" y="16"/>
                      <a:pt x="0" y="18"/>
                      <a:pt x="1" y="17"/>
                    </a:cubicBezTo>
                    <a:cubicBezTo>
                      <a:pt x="3" y="16"/>
                      <a:pt x="4" y="14"/>
                      <a:pt x="4" y="14"/>
                    </a:cubicBezTo>
                    <a:cubicBezTo>
                      <a:pt x="5" y="13"/>
                      <a:pt x="6" y="12"/>
                      <a:pt x="6" y="12"/>
                    </a:cubicBezTo>
                    <a:cubicBezTo>
                      <a:pt x="7" y="13"/>
                      <a:pt x="7" y="13"/>
                      <a:pt x="8" y="13"/>
                    </a:cubicBezTo>
                    <a:cubicBezTo>
                      <a:pt x="9" y="13"/>
                      <a:pt x="13" y="13"/>
                      <a:pt x="11" y="14"/>
                    </a:cubicBezTo>
                    <a:cubicBezTo>
                      <a:pt x="9" y="15"/>
                      <a:pt x="5" y="17"/>
                      <a:pt x="3" y="18"/>
                    </a:cubicBezTo>
                    <a:cubicBezTo>
                      <a:pt x="7" y="19"/>
                      <a:pt x="20" y="20"/>
                      <a:pt x="25" y="20"/>
                    </a:cubicBezTo>
                    <a:cubicBezTo>
                      <a:pt x="30" y="21"/>
                      <a:pt x="42" y="20"/>
                      <a:pt x="47" y="20"/>
                    </a:cubicBezTo>
                    <a:cubicBezTo>
                      <a:pt x="46" y="17"/>
                      <a:pt x="46" y="13"/>
                      <a:pt x="46" y="13"/>
                    </a:cubicBezTo>
                    <a:cubicBezTo>
                      <a:pt x="46" y="12"/>
                      <a:pt x="47" y="12"/>
                      <a:pt x="47"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12" name="Freeform 1024">
                <a:extLst>
                  <a:ext uri="{FF2B5EF4-FFF2-40B4-BE49-F238E27FC236}">
                    <a16:creationId xmlns:a16="http://schemas.microsoft.com/office/drawing/2014/main" id="{30B8D5BA-B424-4F84-9EC8-013DE5C8A9FF}"/>
                  </a:ext>
                </a:extLst>
              </p:cNvPr>
              <p:cNvSpPr>
                <a:spLocks/>
              </p:cNvSpPr>
              <p:nvPr/>
            </p:nvSpPr>
            <p:spPr bwMode="auto">
              <a:xfrm>
                <a:off x="3935" y="1389"/>
                <a:ext cx="117" cy="74"/>
              </a:xfrm>
              <a:custGeom>
                <a:avLst/>
                <a:gdLst>
                  <a:gd name="T0" fmla="*/ 55 w 85"/>
                  <a:gd name="T1" fmla="*/ 52 h 54"/>
                  <a:gd name="T2" fmla="*/ 57 w 85"/>
                  <a:gd name="T3" fmla="*/ 48 h 54"/>
                  <a:gd name="T4" fmla="*/ 66 w 85"/>
                  <a:gd name="T5" fmla="*/ 45 h 54"/>
                  <a:gd name="T6" fmla="*/ 67 w 85"/>
                  <a:gd name="T7" fmla="*/ 48 h 54"/>
                  <a:gd name="T8" fmla="*/ 70 w 85"/>
                  <a:gd name="T9" fmla="*/ 47 h 54"/>
                  <a:gd name="T10" fmla="*/ 68 w 85"/>
                  <a:gd name="T11" fmla="*/ 41 h 54"/>
                  <a:gd name="T12" fmla="*/ 71 w 85"/>
                  <a:gd name="T13" fmla="*/ 33 h 54"/>
                  <a:gd name="T14" fmla="*/ 77 w 85"/>
                  <a:gd name="T15" fmla="*/ 31 h 54"/>
                  <a:gd name="T16" fmla="*/ 84 w 85"/>
                  <a:gd name="T17" fmla="*/ 25 h 54"/>
                  <a:gd name="T18" fmla="*/ 81 w 85"/>
                  <a:gd name="T19" fmla="*/ 24 h 54"/>
                  <a:gd name="T20" fmla="*/ 83 w 85"/>
                  <a:gd name="T21" fmla="*/ 18 h 54"/>
                  <a:gd name="T22" fmla="*/ 83 w 85"/>
                  <a:gd name="T23" fmla="*/ 17 h 54"/>
                  <a:gd name="T24" fmla="*/ 80 w 85"/>
                  <a:gd name="T25" fmla="*/ 16 h 54"/>
                  <a:gd name="T26" fmla="*/ 77 w 85"/>
                  <a:gd name="T27" fmla="*/ 13 h 54"/>
                  <a:gd name="T28" fmla="*/ 72 w 85"/>
                  <a:gd name="T29" fmla="*/ 10 h 54"/>
                  <a:gd name="T30" fmla="*/ 69 w 85"/>
                  <a:gd name="T31" fmla="*/ 7 h 54"/>
                  <a:gd name="T32" fmla="*/ 64 w 85"/>
                  <a:gd name="T33" fmla="*/ 6 h 54"/>
                  <a:gd name="T34" fmla="*/ 61 w 85"/>
                  <a:gd name="T35" fmla="*/ 6 h 54"/>
                  <a:gd name="T36" fmla="*/ 60 w 85"/>
                  <a:gd name="T37" fmla="*/ 5 h 54"/>
                  <a:gd name="T38" fmla="*/ 57 w 85"/>
                  <a:gd name="T39" fmla="*/ 1 h 54"/>
                  <a:gd name="T40" fmla="*/ 52 w 85"/>
                  <a:gd name="T41" fmla="*/ 4 h 54"/>
                  <a:gd name="T42" fmla="*/ 49 w 85"/>
                  <a:gd name="T43" fmla="*/ 4 h 54"/>
                  <a:gd name="T44" fmla="*/ 46 w 85"/>
                  <a:gd name="T45" fmla="*/ 4 h 54"/>
                  <a:gd name="T46" fmla="*/ 41 w 85"/>
                  <a:gd name="T47" fmla="*/ 2 h 54"/>
                  <a:gd name="T48" fmla="*/ 35 w 85"/>
                  <a:gd name="T49" fmla="*/ 2 h 54"/>
                  <a:gd name="T50" fmla="*/ 31 w 85"/>
                  <a:gd name="T51" fmla="*/ 3 h 54"/>
                  <a:gd name="T52" fmla="*/ 29 w 85"/>
                  <a:gd name="T53" fmla="*/ 2 h 54"/>
                  <a:gd name="T54" fmla="*/ 25 w 85"/>
                  <a:gd name="T55" fmla="*/ 2 h 54"/>
                  <a:gd name="T56" fmla="*/ 23 w 85"/>
                  <a:gd name="T57" fmla="*/ 2 h 54"/>
                  <a:gd name="T58" fmla="*/ 14 w 85"/>
                  <a:gd name="T59" fmla="*/ 2 h 54"/>
                  <a:gd name="T60" fmla="*/ 4 w 85"/>
                  <a:gd name="T61" fmla="*/ 6 h 54"/>
                  <a:gd name="T62" fmla="*/ 3 w 85"/>
                  <a:gd name="T63" fmla="*/ 7 h 54"/>
                  <a:gd name="T64" fmla="*/ 1 w 85"/>
                  <a:gd name="T65" fmla="*/ 9 h 54"/>
                  <a:gd name="T66" fmla="*/ 4 w 85"/>
                  <a:gd name="T67" fmla="*/ 24 h 54"/>
                  <a:gd name="T68" fmla="*/ 5 w 85"/>
                  <a:gd name="T69" fmla="*/ 26 h 54"/>
                  <a:gd name="T70" fmla="*/ 15 w 85"/>
                  <a:gd name="T71" fmla="*/ 30 h 54"/>
                  <a:gd name="T72" fmla="*/ 17 w 85"/>
                  <a:gd name="T73" fmla="*/ 29 h 54"/>
                  <a:gd name="T74" fmla="*/ 23 w 85"/>
                  <a:gd name="T75" fmla="*/ 30 h 54"/>
                  <a:gd name="T76" fmla="*/ 27 w 85"/>
                  <a:gd name="T77" fmla="*/ 35 h 54"/>
                  <a:gd name="T78" fmla="*/ 25 w 85"/>
                  <a:gd name="T79" fmla="*/ 37 h 54"/>
                  <a:gd name="T80" fmla="*/ 28 w 85"/>
                  <a:gd name="T81" fmla="*/ 43 h 54"/>
                  <a:gd name="T82" fmla="*/ 33 w 85"/>
                  <a:gd name="T83" fmla="*/ 46 h 54"/>
                  <a:gd name="T84" fmla="*/ 36 w 85"/>
                  <a:gd name="T85" fmla="*/ 52 h 54"/>
                  <a:gd name="T86" fmla="*/ 47 w 85"/>
                  <a:gd name="T87" fmla="*/ 5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54">
                    <a:moveTo>
                      <a:pt x="47" y="53"/>
                    </a:moveTo>
                    <a:cubicBezTo>
                      <a:pt x="50" y="54"/>
                      <a:pt x="53" y="53"/>
                      <a:pt x="55" y="52"/>
                    </a:cubicBezTo>
                    <a:cubicBezTo>
                      <a:pt x="56" y="52"/>
                      <a:pt x="57" y="49"/>
                      <a:pt x="57" y="49"/>
                    </a:cubicBezTo>
                    <a:cubicBezTo>
                      <a:pt x="57" y="48"/>
                      <a:pt x="57" y="48"/>
                      <a:pt x="57" y="48"/>
                    </a:cubicBezTo>
                    <a:cubicBezTo>
                      <a:pt x="60" y="48"/>
                      <a:pt x="62" y="47"/>
                      <a:pt x="63" y="47"/>
                    </a:cubicBezTo>
                    <a:cubicBezTo>
                      <a:pt x="64" y="46"/>
                      <a:pt x="65" y="46"/>
                      <a:pt x="66" y="45"/>
                    </a:cubicBezTo>
                    <a:cubicBezTo>
                      <a:pt x="67" y="45"/>
                      <a:pt x="67" y="46"/>
                      <a:pt x="67" y="46"/>
                    </a:cubicBezTo>
                    <a:cubicBezTo>
                      <a:pt x="67" y="47"/>
                      <a:pt x="67" y="47"/>
                      <a:pt x="67" y="48"/>
                    </a:cubicBezTo>
                    <a:cubicBezTo>
                      <a:pt x="66" y="49"/>
                      <a:pt x="69" y="48"/>
                      <a:pt x="70" y="48"/>
                    </a:cubicBezTo>
                    <a:cubicBezTo>
                      <a:pt x="71" y="48"/>
                      <a:pt x="70" y="48"/>
                      <a:pt x="70" y="47"/>
                    </a:cubicBezTo>
                    <a:cubicBezTo>
                      <a:pt x="70" y="47"/>
                      <a:pt x="69" y="46"/>
                      <a:pt x="68" y="45"/>
                    </a:cubicBezTo>
                    <a:cubicBezTo>
                      <a:pt x="67" y="44"/>
                      <a:pt x="68" y="42"/>
                      <a:pt x="68" y="41"/>
                    </a:cubicBezTo>
                    <a:cubicBezTo>
                      <a:pt x="69" y="41"/>
                      <a:pt x="70" y="34"/>
                      <a:pt x="70" y="34"/>
                    </a:cubicBezTo>
                    <a:cubicBezTo>
                      <a:pt x="70" y="34"/>
                      <a:pt x="71" y="33"/>
                      <a:pt x="71" y="33"/>
                    </a:cubicBezTo>
                    <a:cubicBezTo>
                      <a:pt x="71" y="33"/>
                      <a:pt x="74" y="32"/>
                      <a:pt x="75" y="31"/>
                    </a:cubicBezTo>
                    <a:cubicBezTo>
                      <a:pt x="75" y="31"/>
                      <a:pt x="76" y="31"/>
                      <a:pt x="77" y="31"/>
                    </a:cubicBezTo>
                    <a:cubicBezTo>
                      <a:pt x="77" y="30"/>
                      <a:pt x="84" y="26"/>
                      <a:pt x="84" y="26"/>
                    </a:cubicBezTo>
                    <a:cubicBezTo>
                      <a:pt x="85" y="26"/>
                      <a:pt x="84" y="25"/>
                      <a:pt x="84" y="25"/>
                    </a:cubicBezTo>
                    <a:cubicBezTo>
                      <a:pt x="84" y="25"/>
                      <a:pt x="83" y="25"/>
                      <a:pt x="83" y="24"/>
                    </a:cubicBezTo>
                    <a:cubicBezTo>
                      <a:pt x="82" y="24"/>
                      <a:pt x="82" y="24"/>
                      <a:pt x="81" y="24"/>
                    </a:cubicBezTo>
                    <a:cubicBezTo>
                      <a:pt x="81" y="24"/>
                      <a:pt x="81" y="23"/>
                      <a:pt x="81" y="22"/>
                    </a:cubicBezTo>
                    <a:cubicBezTo>
                      <a:pt x="81" y="21"/>
                      <a:pt x="83" y="18"/>
                      <a:pt x="83" y="18"/>
                    </a:cubicBezTo>
                    <a:cubicBezTo>
                      <a:pt x="83" y="18"/>
                      <a:pt x="83" y="17"/>
                      <a:pt x="83" y="17"/>
                    </a:cubicBezTo>
                    <a:cubicBezTo>
                      <a:pt x="83" y="17"/>
                      <a:pt x="83" y="17"/>
                      <a:pt x="83" y="17"/>
                    </a:cubicBezTo>
                    <a:cubicBezTo>
                      <a:pt x="83" y="17"/>
                      <a:pt x="82" y="17"/>
                      <a:pt x="82" y="17"/>
                    </a:cubicBezTo>
                    <a:cubicBezTo>
                      <a:pt x="82" y="17"/>
                      <a:pt x="80" y="16"/>
                      <a:pt x="80" y="16"/>
                    </a:cubicBezTo>
                    <a:cubicBezTo>
                      <a:pt x="80" y="16"/>
                      <a:pt x="79" y="15"/>
                      <a:pt x="79" y="15"/>
                    </a:cubicBezTo>
                    <a:cubicBezTo>
                      <a:pt x="78" y="15"/>
                      <a:pt x="77" y="13"/>
                      <a:pt x="77" y="13"/>
                    </a:cubicBezTo>
                    <a:cubicBezTo>
                      <a:pt x="76" y="13"/>
                      <a:pt x="75" y="11"/>
                      <a:pt x="75" y="11"/>
                    </a:cubicBezTo>
                    <a:cubicBezTo>
                      <a:pt x="75" y="11"/>
                      <a:pt x="73" y="10"/>
                      <a:pt x="72" y="10"/>
                    </a:cubicBezTo>
                    <a:cubicBezTo>
                      <a:pt x="72" y="10"/>
                      <a:pt x="71" y="9"/>
                      <a:pt x="71" y="9"/>
                    </a:cubicBezTo>
                    <a:cubicBezTo>
                      <a:pt x="71" y="9"/>
                      <a:pt x="69" y="8"/>
                      <a:pt x="69" y="7"/>
                    </a:cubicBezTo>
                    <a:cubicBezTo>
                      <a:pt x="68" y="6"/>
                      <a:pt x="67" y="6"/>
                      <a:pt x="67" y="6"/>
                    </a:cubicBezTo>
                    <a:cubicBezTo>
                      <a:pt x="67" y="6"/>
                      <a:pt x="65" y="6"/>
                      <a:pt x="64" y="6"/>
                    </a:cubicBezTo>
                    <a:cubicBezTo>
                      <a:pt x="64" y="6"/>
                      <a:pt x="63" y="6"/>
                      <a:pt x="63" y="6"/>
                    </a:cubicBezTo>
                    <a:cubicBezTo>
                      <a:pt x="63" y="6"/>
                      <a:pt x="62" y="6"/>
                      <a:pt x="61" y="6"/>
                    </a:cubicBezTo>
                    <a:cubicBezTo>
                      <a:pt x="61" y="6"/>
                      <a:pt x="61" y="6"/>
                      <a:pt x="61" y="6"/>
                    </a:cubicBezTo>
                    <a:cubicBezTo>
                      <a:pt x="61" y="6"/>
                      <a:pt x="60" y="5"/>
                      <a:pt x="60" y="5"/>
                    </a:cubicBezTo>
                    <a:cubicBezTo>
                      <a:pt x="60" y="4"/>
                      <a:pt x="58" y="1"/>
                      <a:pt x="57" y="1"/>
                    </a:cubicBezTo>
                    <a:cubicBezTo>
                      <a:pt x="57" y="0"/>
                      <a:pt x="57" y="1"/>
                      <a:pt x="57" y="1"/>
                    </a:cubicBezTo>
                    <a:cubicBezTo>
                      <a:pt x="56" y="1"/>
                      <a:pt x="54" y="2"/>
                      <a:pt x="54" y="2"/>
                    </a:cubicBezTo>
                    <a:cubicBezTo>
                      <a:pt x="54" y="2"/>
                      <a:pt x="52" y="3"/>
                      <a:pt x="52" y="4"/>
                    </a:cubicBezTo>
                    <a:cubicBezTo>
                      <a:pt x="52" y="4"/>
                      <a:pt x="51" y="4"/>
                      <a:pt x="51" y="4"/>
                    </a:cubicBezTo>
                    <a:cubicBezTo>
                      <a:pt x="51" y="4"/>
                      <a:pt x="50" y="4"/>
                      <a:pt x="49" y="4"/>
                    </a:cubicBezTo>
                    <a:cubicBezTo>
                      <a:pt x="48" y="3"/>
                      <a:pt x="47" y="4"/>
                      <a:pt x="46" y="4"/>
                    </a:cubicBezTo>
                    <a:cubicBezTo>
                      <a:pt x="46" y="5"/>
                      <a:pt x="46" y="4"/>
                      <a:pt x="46" y="4"/>
                    </a:cubicBezTo>
                    <a:cubicBezTo>
                      <a:pt x="46" y="4"/>
                      <a:pt x="45" y="4"/>
                      <a:pt x="44" y="3"/>
                    </a:cubicBezTo>
                    <a:cubicBezTo>
                      <a:pt x="44" y="3"/>
                      <a:pt x="43" y="3"/>
                      <a:pt x="41" y="2"/>
                    </a:cubicBezTo>
                    <a:cubicBezTo>
                      <a:pt x="40" y="2"/>
                      <a:pt x="39" y="2"/>
                      <a:pt x="38" y="2"/>
                    </a:cubicBezTo>
                    <a:cubicBezTo>
                      <a:pt x="36" y="2"/>
                      <a:pt x="35" y="2"/>
                      <a:pt x="35" y="2"/>
                    </a:cubicBezTo>
                    <a:cubicBezTo>
                      <a:pt x="34" y="2"/>
                      <a:pt x="33" y="2"/>
                      <a:pt x="32" y="2"/>
                    </a:cubicBezTo>
                    <a:cubicBezTo>
                      <a:pt x="32" y="2"/>
                      <a:pt x="31" y="3"/>
                      <a:pt x="31" y="3"/>
                    </a:cubicBezTo>
                    <a:cubicBezTo>
                      <a:pt x="30" y="3"/>
                      <a:pt x="30" y="3"/>
                      <a:pt x="30" y="3"/>
                    </a:cubicBezTo>
                    <a:cubicBezTo>
                      <a:pt x="30" y="3"/>
                      <a:pt x="29" y="2"/>
                      <a:pt x="29" y="2"/>
                    </a:cubicBezTo>
                    <a:cubicBezTo>
                      <a:pt x="29" y="1"/>
                      <a:pt x="28" y="1"/>
                      <a:pt x="27" y="2"/>
                    </a:cubicBezTo>
                    <a:cubicBezTo>
                      <a:pt x="27" y="2"/>
                      <a:pt x="26" y="2"/>
                      <a:pt x="25" y="2"/>
                    </a:cubicBezTo>
                    <a:cubicBezTo>
                      <a:pt x="25" y="2"/>
                      <a:pt x="24" y="2"/>
                      <a:pt x="24" y="2"/>
                    </a:cubicBezTo>
                    <a:cubicBezTo>
                      <a:pt x="24" y="2"/>
                      <a:pt x="23" y="2"/>
                      <a:pt x="23" y="2"/>
                    </a:cubicBezTo>
                    <a:cubicBezTo>
                      <a:pt x="23" y="1"/>
                      <a:pt x="17" y="1"/>
                      <a:pt x="16" y="1"/>
                    </a:cubicBezTo>
                    <a:cubicBezTo>
                      <a:pt x="15" y="2"/>
                      <a:pt x="14" y="2"/>
                      <a:pt x="14" y="2"/>
                    </a:cubicBezTo>
                    <a:cubicBezTo>
                      <a:pt x="13" y="2"/>
                      <a:pt x="9" y="4"/>
                      <a:pt x="8" y="4"/>
                    </a:cubicBezTo>
                    <a:cubicBezTo>
                      <a:pt x="7" y="4"/>
                      <a:pt x="4" y="5"/>
                      <a:pt x="4" y="6"/>
                    </a:cubicBezTo>
                    <a:cubicBezTo>
                      <a:pt x="3" y="6"/>
                      <a:pt x="3" y="6"/>
                      <a:pt x="3" y="7"/>
                    </a:cubicBezTo>
                    <a:cubicBezTo>
                      <a:pt x="3" y="7"/>
                      <a:pt x="3" y="7"/>
                      <a:pt x="3" y="7"/>
                    </a:cubicBezTo>
                    <a:cubicBezTo>
                      <a:pt x="1" y="8"/>
                      <a:pt x="1" y="8"/>
                      <a:pt x="1" y="8"/>
                    </a:cubicBezTo>
                    <a:cubicBezTo>
                      <a:pt x="1" y="8"/>
                      <a:pt x="1" y="8"/>
                      <a:pt x="1" y="9"/>
                    </a:cubicBezTo>
                    <a:cubicBezTo>
                      <a:pt x="0" y="9"/>
                      <a:pt x="0" y="13"/>
                      <a:pt x="1" y="14"/>
                    </a:cubicBezTo>
                    <a:cubicBezTo>
                      <a:pt x="1" y="16"/>
                      <a:pt x="4" y="21"/>
                      <a:pt x="4" y="24"/>
                    </a:cubicBezTo>
                    <a:cubicBezTo>
                      <a:pt x="3" y="25"/>
                      <a:pt x="3" y="25"/>
                      <a:pt x="3" y="26"/>
                    </a:cubicBezTo>
                    <a:cubicBezTo>
                      <a:pt x="4" y="26"/>
                      <a:pt x="5" y="26"/>
                      <a:pt x="5" y="26"/>
                    </a:cubicBezTo>
                    <a:cubicBezTo>
                      <a:pt x="6" y="26"/>
                      <a:pt x="14" y="29"/>
                      <a:pt x="14" y="29"/>
                    </a:cubicBezTo>
                    <a:cubicBezTo>
                      <a:pt x="14" y="29"/>
                      <a:pt x="14" y="29"/>
                      <a:pt x="15" y="30"/>
                    </a:cubicBezTo>
                    <a:cubicBezTo>
                      <a:pt x="15" y="30"/>
                      <a:pt x="15" y="30"/>
                      <a:pt x="16" y="30"/>
                    </a:cubicBezTo>
                    <a:cubicBezTo>
                      <a:pt x="16" y="30"/>
                      <a:pt x="17" y="29"/>
                      <a:pt x="17" y="29"/>
                    </a:cubicBezTo>
                    <a:cubicBezTo>
                      <a:pt x="18" y="29"/>
                      <a:pt x="23" y="29"/>
                      <a:pt x="23" y="29"/>
                    </a:cubicBezTo>
                    <a:cubicBezTo>
                      <a:pt x="23" y="29"/>
                      <a:pt x="23" y="29"/>
                      <a:pt x="23" y="30"/>
                    </a:cubicBezTo>
                    <a:cubicBezTo>
                      <a:pt x="23" y="30"/>
                      <a:pt x="24" y="31"/>
                      <a:pt x="24" y="32"/>
                    </a:cubicBezTo>
                    <a:cubicBezTo>
                      <a:pt x="24" y="32"/>
                      <a:pt x="27" y="35"/>
                      <a:pt x="27" y="35"/>
                    </a:cubicBezTo>
                    <a:cubicBezTo>
                      <a:pt x="27" y="35"/>
                      <a:pt x="27" y="35"/>
                      <a:pt x="26" y="36"/>
                    </a:cubicBezTo>
                    <a:cubicBezTo>
                      <a:pt x="26" y="36"/>
                      <a:pt x="25" y="36"/>
                      <a:pt x="25" y="37"/>
                    </a:cubicBezTo>
                    <a:cubicBezTo>
                      <a:pt x="25" y="37"/>
                      <a:pt x="25" y="41"/>
                      <a:pt x="26" y="44"/>
                    </a:cubicBezTo>
                    <a:cubicBezTo>
                      <a:pt x="26" y="44"/>
                      <a:pt x="27" y="44"/>
                      <a:pt x="28" y="43"/>
                    </a:cubicBezTo>
                    <a:cubicBezTo>
                      <a:pt x="28" y="43"/>
                      <a:pt x="28" y="43"/>
                      <a:pt x="29" y="43"/>
                    </a:cubicBezTo>
                    <a:cubicBezTo>
                      <a:pt x="30" y="44"/>
                      <a:pt x="33" y="46"/>
                      <a:pt x="33" y="46"/>
                    </a:cubicBezTo>
                    <a:cubicBezTo>
                      <a:pt x="34" y="46"/>
                      <a:pt x="35" y="46"/>
                      <a:pt x="35" y="47"/>
                    </a:cubicBezTo>
                    <a:cubicBezTo>
                      <a:pt x="35" y="48"/>
                      <a:pt x="36" y="50"/>
                      <a:pt x="36" y="52"/>
                    </a:cubicBezTo>
                    <a:cubicBezTo>
                      <a:pt x="38" y="52"/>
                      <a:pt x="41" y="52"/>
                      <a:pt x="42" y="52"/>
                    </a:cubicBezTo>
                    <a:cubicBezTo>
                      <a:pt x="43" y="52"/>
                      <a:pt x="43" y="52"/>
                      <a:pt x="47" y="5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13" name="Freeform 1025">
                <a:extLst>
                  <a:ext uri="{FF2B5EF4-FFF2-40B4-BE49-F238E27FC236}">
                    <a16:creationId xmlns:a16="http://schemas.microsoft.com/office/drawing/2014/main" id="{CD42925F-F148-441F-86B4-5859010C8273}"/>
                  </a:ext>
                </a:extLst>
              </p:cNvPr>
              <p:cNvSpPr>
                <a:spLocks/>
              </p:cNvSpPr>
              <p:nvPr/>
            </p:nvSpPr>
            <p:spPr bwMode="auto">
              <a:xfrm>
                <a:off x="3933" y="1343"/>
                <a:ext cx="150" cy="70"/>
              </a:xfrm>
              <a:custGeom>
                <a:avLst/>
                <a:gdLst>
                  <a:gd name="T0" fmla="*/ 85 w 108"/>
                  <a:gd name="T1" fmla="*/ 51 h 51"/>
                  <a:gd name="T2" fmla="*/ 89 w 108"/>
                  <a:gd name="T3" fmla="*/ 48 h 51"/>
                  <a:gd name="T4" fmla="*/ 98 w 108"/>
                  <a:gd name="T5" fmla="*/ 47 h 51"/>
                  <a:gd name="T6" fmla="*/ 100 w 108"/>
                  <a:gd name="T7" fmla="*/ 45 h 51"/>
                  <a:gd name="T8" fmla="*/ 103 w 108"/>
                  <a:gd name="T9" fmla="*/ 42 h 51"/>
                  <a:gd name="T10" fmla="*/ 107 w 108"/>
                  <a:gd name="T11" fmla="*/ 41 h 51"/>
                  <a:gd name="T12" fmla="*/ 107 w 108"/>
                  <a:gd name="T13" fmla="*/ 38 h 51"/>
                  <a:gd name="T14" fmla="*/ 104 w 108"/>
                  <a:gd name="T15" fmla="*/ 27 h 51"/>
                  <a:gd name="T16" fmla="*/ 100 w 108"/>
                  <a:gd name="T17" fmla="*/ 26 h 51"/>
                  <a:gd name="T18" fmla="*/ 101 w 108"/>
                  <a:gd name="T19" fmla="*/ 23 h 51"/>
                  <a:gd name="T20" fmla="*/ 101 w 108"/>
                  <a:gd name="T21" fmla="*/ 20 h 51"/>
                  <a:gd name="T22" fmla="*/ 101 w 108"/>
                  <a:gd name="T23" fmla="*/ 15 h 51"/>
                  <a:gd name="T24" fmla="*/ 96 w 108"/>
                  <a:gd name="T25" fmla="*/ 12 h 51"/>
                  <a:gd name="T26" fmla="*/ 94 w 108"/>
                  <a:gd name="T27" fmla="*/ 12 h 51"/>
                  <a:gd name="T28" fmla="*/ 90 w 108"/>
                  <a:gd name="T29" fmla="*/ 10 h 51"/>
                  <a:gd name="T30" fmla="*/ 87 w 108"/>
                  <a:gd name="T31" fmla="*/ 10 h 51"/>
                  <a:gd name="T32" fmla="*/ 85 w 108"/>
                  <a:gd name="T33" fmla="*/ 11 h 51"/>
                  <a:gd name="T34" fmla="*/ 82 w 108"/>
                  <a:gd name="T35" fmla="*/ 12 h 51"/>
                  <a:gd name="T36" fmla="*/ 80 w 108"/>
                  <a:gd name="T37" fmla="*/ 10 h 51"/>
                  <a:gd name="T38" fmla="*/ 77 w 108"/>
                  <a:gd name="T39" fmla="*/ 7 h 51"/>
                  <a:gd name="T40" fmla="*/ 75 w 108"/>
                  <a:gd name="T41" fmla="*/ 5 h 51"/>
                  <a:gd name="T42" fmla="*/ 74 w 108"/>
                  <a:gd name="T43" fmla="*/ 5 h 51"/>
                  <a:gd name="T44" fmla="*/ 69 w 108"/>
                  <a:gd name="T45" fmla="*/ 2 h 51"/>
                  <a:gd name="T46" fmla="*/ 67 w 108"/>
                  <a:gd name="T47" fmla="*/ 1 h 51"/>
                  <a:gd name="T48" fmla="*/ 64 w 108"/>
                  <a:gd name="T49" fmla="*/ 1 h 51"/>
                  <a:gd name="T50" fmla="*/ 61 w 108"/>
                  <a:gd name="T51" fmla="*/ 0 h 51"/>
                  <a:gd name="T52" fmla="*/ 60 w 108"/>
                  <a:gd name="T53" fmla="*/ 1 h 51"/>
                  <a:gd name="T54" fmla="*/ 54 w 108"/>
                  <a:gd name="T55" fmla="*/ 2 h 51"/>
                  <a:gd name="T56" fmla="*/ 50 w 108"/>
                  <a:gd name="T57" fmla="*/ 4 h 51"/>
                  <a:gd name="T58" fmla="*/ 51 w 108"/>
                  <a:gd name="T59" fmla="*/ 17 h 51"/>
                  <a:gd name="T60" fmla="*/ 34 w 108"/>
                  <a:gd name="T61" fmla="*/ 18 h 51"/>
                  <a:gd name="T62" fmla="*/ 26 w 108"/>
                  <a:gd name="T63" fmla="*/ 10 h 51"/>
                  <a:gd name="T64" fmla="*/ 10 w 108"/>
                  <a:gd name="T65" fmla="*/ 11 h 51"/>
                  <a:gd name="T66" fmla="*/ 5 w 108"/>
                  <a:gd name="T67" fmla="*/ 23 h 51"/>
                  <a:gd name="T68" fmla="*/ 1 w 108"/>
                  <a:gd name="T69" fmla="*/ 35 h 51"/>
                  <a:gd name="T70" fmla="*/ 1 w 108"/>
                  <a:gd name="T71" fmla="*/ 42 h 51"/>
                  <a:gd name="T72" fmla="*/ 4 w 108"/>
                  <a:gd name="T73" fmla="*/ 41 h 51"/>
                  <a:gd name="T74" fmla="*/ 5 w 108"/>
                  <a:gd name="T75" fmla="*/ 40 h 51"/>
                  <a:gd name="T76" fmla="*/ 15 w 108"/>
                  <a:gd name="T77" fmla="*/ 36 h 51"/>
                  <a:gd name="T78" fmla="*/ 24 w 108"/>
                  <a:gd name="T79" fmla="*/ 36 h 51"/>
                  <a:gd name="T80" fmla="*/ 26 w 108"/>
                  <a:gd name="T81" fmla="*/ 36 h 51"/>
                  <a:gd name="T82" fmla="*/ 30 w 108"/>
                  <a:gd name="T83" fmla="*/ 36 h 51"/>
                  <a:gd name="T84" fmla="*/ 32 w 108"/>
                  <a:gd name="T85" fmla="*/ 37 h 51"/>
                  <a:gd name="T86" fmla="*/ 36 w 108"/>
                  <a:gd name="T87" fmla="*/ 36 h 51"/>
                  <a:gd name="T88" fmla="*/ 42 w 108"/>
                  <a:gd name="T89" fmla="*/ 36 h 51"/>
                  <a:gd name="T90" fmla="*/ 47 w 108"/>
                  <a:gd name="T91" fmla="*/ 38 h 51"/>
                  <a:gd name="T92" fmla="*/ 50 w 108"/>
                  <a:gd name="T93" fmla="*/ 38 h 51"/>
                  <a:gd name="T94" fmla="*/ 53 w 108"/>
                  <a:gd name="T95" fmla="*/ 38 h 51"/>
                  <a:gd name="T96" fmla="*/ 58 w 108"/>
                  <a:gd name="T97" fmla="*/ 35 h 51"/>
                  <a:gd name="T98" fmla="*/ 61 w 108"/>
                  <a:gd name="T99" fmla="*/ 39 h 51"/>
                  <a:gd name="T100" fmla="*/ 62 w 108"/>
                  <a:gd name="T101" fmla="*/ 40 h 51"/>
                  <a:gd name="T102" fmla="*/ 65 w 108"/>
                  <a:gd name="T103" fmla="*/ 40 h 51"/>
                  <a:gd name="T104" fmla="*/ 70 w 108"/>
                  <a:gd name="T105" fmla="*/ 41 h 51"/>
                  <a:gd name="T106" fmla="*/ 73 w 108"/>
                  <a:gd name="T107" fmla="*/ 44 h 51"/>
                  <a:gd name="T108" fmla="*/ 78 w 108"/>
                  <a:gd name="T109" fmla="*/ 47 h 51"/>
                  <a:gd name="T110" fmla="*/ 81 w 108"/>
                  <a:gd name="T111" fmla="*/ 50 h 51"/>
                  <a:gd name="T112" fmla="*/ 84 w 108"/>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8" h="51">
                    <a:moveTo>
                      <a:pt x="84" y="51"/>
                    </a:moveTo>
                    <a:cubicBezTo>
                      <a:pt x="84" y="51"/>
                      <a:pt x="85" y="51"/>
                      <a:pt x="85" y="51"/>
                    </a:cubicBezTo>
                    <a:cubicBezTo>
                      <a:pt x="86" y="51"/>
                      <a:pt x="87" y="50"/>
                      <a:pt x="88" y="50"/>
                    </a:cubicBezTo>
                    <a:cubicBezTo>
                      <a:pt x="88" y="49"/>
                      <a:pt x="89" y="48"/>
                      <a:pt x="89" y="48"/>
                    </a:cubicBezTo>
                    <a:cubicBezTo>
                      <a:pt x="89" y="48"/>
                      <a:pt x="89" y="47"/>
                      <a:pt x="90" y="48"/>
                    </a:cubicBezTo>
                    <a:cubicBezTo>
                      <a:pt x="90" y="48"/>
                      <a:pt x="98" y="47"/>
                      <a:pt x="98" y="47"/>
                    </a:cubicBezTo>
                    <a:cubicBezTo>
                      <a:pt x="98" y="47"/>
                      <a:pt x="99" y="48"/>
                      <a:pt x="99" y="47"/>
                    </a:cubicBezTo>
                    <a:cubicBezTo>
                      <a:pt x="99" y="46"/>
                      <a:pt x="99" y="45"/>
                      <a:pt x="100" y="45"/>
                    </a:cubicBezTo>
                    <a:cubicBezTo>
                      <a:pt x="100" y="45"/>
                      <a:pt x="101" y="44"/>
                      <a:pt x="101" y="44"/>
                    </a:cubicBezTo>
                    <a:cubicBezTo>
                      <a:pt x="101" y="44"/>
                      <a:pt x="103" y="42"/>
                      <a:pt x="103" y="42"/>
                    </a:cubicBezTo>
                    <a:cubicBezTo>
                      <a:pt x="103" y="42"/>
                      <a:pt x="104" y="41"/>
                      <a:pt x="104" y="41"/>
                    </a:cubicBezTo>
                    <a:cubicBezTo>
                      <a:pt x="104" y="41"/>
                      <a:pt x="106" y="41"/>
                      <a:pt x="107" y="41"/>
                    </a:cubicBezTo>
                    <a:cubicBezTo>
                      <a:pt x="107" y="41"/>
                      <a:pt x="107" y="41"/>
                      <a:pt x="107" y="41"/>
                    </a:cubicBezTo>
                    <a:cubicBezTo>
                      <a:pt x="107" y="40"/>
                      <a:pt x="107" y="39"/>
                      <a:pt x="107" y="38"/>
                    </a:cubicBezTo>
                    <a:cubicBezTo>
                      <a:pt x="108" y="37"/>
                      <a:pt x="107" y="35"/>
                      <a:pt x="106" y="33"/>
                    </a:cubicBezTo>
                    <a:cubicBezTo>
                      <a:pt x="105" y="32"/>
                      <a:pt x="104" y="28"/>
                      <a:pt x="104" y="27"/>
                    </a:cubicBezTo>
                    <a:cubicBezTo>
                      <a:pt x="104" y="27"/>
                      <a:pt x="103" y="26"/>
                      <a:pt x="102" y="26"/>
                    </a:cubicBezTo>
                    <a:cubicBezTo>
                      <a:pt x="102" y="26"/>
                      <a:pt x="101" y="25"/>
                      <a:pt x="100" y="26"/>
                    </a:cubicBezTo>
                    <a:cubicBezTo>
                      <a:pt x="99" y="26"/>
                      <a:pt x="99" y="26"/>
                      <a:pt x="99" y="25"/>
                    </a:cubicBezTo>
                    <a:cubicBezTo>
                      <a:pt x="100" y="25"/>
                      <a:pt x="100" y="24"/>
                      <a:pt x="101" y="23"/>
                    </a:cubicBezTo>
                    <a:cubicBezTo>
                      <a:pt x="101" y="23"/>
                      <a:pt x="101" y="22"/>
                      <a:pt x="100" y="21"/>
                    </a:cubicBezTo>
                    <a:cubicBezTo>
                      <a:pt x="100" y="21"/>
                      <a:pt x="100" y="20"/>
                      <a:pt x="101" y="20"/>
                    </a:cubicBezTo>
                    <a:cubicBezTo>
                      <a:pt x="101" y="19"/>
                      <a:pt x="102" y="17"/>
                      <a:pt x="102" y="17"/>
                    </a:cubicBezTo>
                    <a:cubicBezTo>
                      <a:pt x="102" y="16"/>
                      <a:pt x="101" y="16"/>
                      <a:pt x="101" y="15"/>
                    </a:cubicBezTo>
                    <a:cubicBezTo>
                      <a:pt x="100" y="15"/>
                      <a:pt x="99" y="14"/>
                      <a:pt x="99" y="14"/>
                    </a:cubicBezTo>
                    <a:cubicBezTo>
                      <a:pt x="98" y="14"/>
                      <a:pt x="96" y="12"/>
                      <a:pt x="96" y="12"/>
                    </a:cubicBezTo>
                    <a:cubicBezTo>
                      <a:pt x="95" y="12"/>
                      <a:pt x="95" y="11"/>
                      <a:pt x="95" y="11"/>
                    </a:cubicBezTo>
                    <a:cubicBezTo>
                      <a:pt x="95" y="12"/>
                      <a:pt x="94" y="12"/>
                      <a:pt x="94" y="12"/>
                    </a:cubicBezTo>
                    <a:cubicBezTo>
                      <a:pt x="94" y="12"/>
                      <a:pt x="92" y="11"/>
                      <a:pt x="91" y="11"/>
                    </a:cubicBezTo>
                    <a:cubicBezTo>
                      <a:pt x="91" y="11"/>
                      <a:pt x="91" y="11"/>
                      <a:pt x="90" y="10"/>
                    </a:cubicBezTo>
                    <a:cubicBezTo>
                      <a:pt x="90" y="10"/>
                      <a:pt x="89" y="10"/>
                      <a:pt x="88" y="9"/>
                    </a:cubicBezTo>
                    <a:cubicBezTo>
                      <a:pt x="88" y="9"/>
                      <a:pt x="87" y="10"/>
                      <a:pt x="87" y="10"/>
                    </a:cubicBezTo>
                    <a:cubicBezTo>
                      <a:pt x="87" y="10"/>
                      <a:pt x="86" y="10"/>
                      <a:pt x="86" y="10"/>
                    </a:cubicBezTo>
                    <a:cubicBezTo>
                      <a:pt x="86" y="10"/>
                      <a:pt x="85" y="11"/>
                      <a:pt x="85" y="11"/>
                    </a:cubicBezTo>
                    <a:cubicBezTo>
                      <a:pt x="85" y="11"/>
                      <a:pt x="84" y="11"/>
                      <a:pt x="84" y="12"/>
                    </a:cubicBezTo>
                    <a:cubicBezTo>
                      <a:pt x="83" y="12"/>
                      <a:pt x="83" y="12"/>
                      <a:pt x="82" y="12"/>
                    </a:cubicBezTo>
                    <a:cubicBezTo>
                      <a:pt x="82" y="12"/>
                      <a:pt x="82" y="11"/>
                      <a:pt x="81" y="11"/>
                    </a:cubicBezTo>
                    <a:cubicBezTo>
                      <a:pt x="81" y="10"/>
                      <a:pt x="81" y="10"/>
                      <a:pt x="80" y="10"/>
                    </a:cubicBezTo>
                    <a:cubicBezTo>
                      <a:pt x="80" y="10"/>
                      <a:pt x="79" y="10"/>
                      <a:pt x="79" y="10"/>
                    </a:cubicBezTo>
                    <a:cubicBezTo>
                      <a:pt x="79" y="9"/>
                      <a:pt x="78" y="8"/>
                      <a:pt x="77" y="7"/>
                    </a:cubicBezTo>
                    <a:cubicBezTo>
                      <a:pt x="77" y="7"/>
                      <a:pt x="76" y="6"/>
                      <a:pt x="75" y="6"/>
                    </a:cubicBezTo>
                    <a:cubicBezTo>
                      <a:pt x="75" y="6"/>
                      <a:pt x="75" y="6"/>
                      <a:pt x="75" y="5"/>
                    </a:cubicBezTo>
                    <a:cubicBezTo>
                      <a:pt x="76" y="5"/>
                      <a:pt x="75" y="5"/>
                      <a:pt x="75" y="5"/>
                    </a:cubicBezTo>
                    <a:cubicBezTo>
                      <a:pt x="75" y="5"/>
                      <a:pt x="74" y="5"/>
                      <a:pt x="74" y="5"/>
                    </a:cubicBezTo>
                    <a:cubicBezTo>
                      <a:pt x="73" y="5"/>
                      <a:pt x="73" y="4"/>
                      <a:pt x="73" y="4"/>
                    </a:cubicBezTo>
                    <a:cubicBezTo>
                      <a:pt x="73" y="4"/>
                      <a:pt x="69" y="3"/>
                      <a:pt x="69" y="2"/>
                    </a:cubicBezTo>
                    <a:cubicBezTo>
                      <a:pt x="68" y="2"/>
                      <a:pt x="68" y="2"/>
                      <a:pt x="67" y="2"/>
                    </a:cubicBezTo>
                    <a:cubicBezTo>
                      <a:pt x="67" y="2"/>
                      <a:pt x="67" y="2"/>
                      <a:pt x="67" y="1"/>
                    </a:cubicBezTo>
                    <a:cubicBezTo>
                      <a:pt x="67" y="1"/>
                      <a:pt x="66" y="1"/>
                      <a:pt x="66" y="1"/>
                    </a:cubicBezTo>
                    <a:cubicBezTo>
                      <a:pt x="66" y="1"/>
                      <a:pt x="64" y="1"/>
                      <a:pt x="64" y="1"/>
                    </a:cubicBezTo>
                    <a:cubicBezTo>
                      <a:pt x="63" y="2"/>
                      <a:pt x="63" y="1"/>
                      <a:pt x="63" y="1"/>
                    </a:cubicBezTo>
                    <a:cubicBezTo>
                      <a:pt x="63" y="1"/>
                      <a:pt x="62" y="0"/>
                      <a:pt x="61" y="0"/>
                    </a:cubicBezTo>
                    <a:cubicBezTo>
                      <a:pt x="61" y="0"/>
                      <a:pt x="61" y="0"/>
                      <a:pt x="61" y="0"/>
                    </a:cubicBezTo>
                    <a:cubicBezTo>
                      <a:pt x="61" y="0"/>
                      <a:pt x="60" y="1"/>
                      <a:pt x="60" y="1"/>
                    </a:cubicBezTo>
                    <a:cubicBezTo>
                      <a:pt x="59" y="1"/>
                      <a:pt x="57" y="2"/>
                      <a:pt x="56" y="2"/>
                    </a:cubicBezTo>
                    <a:cubicBezTo>
                      <a:pt x="56" y="2"/>
                      <a:pt x="54" y="3"/>
                      <a:pt x="54" y="2"/>
                    </a:cubicBezTo>
                    <a:cubicBezTo>
                      <a:pt x="54" y="2"/>
                      <a:pt x="53" y="3"/>
                      <a:pt x="53" y="3"/>
                    </a:cubicBezTo>
                    <a:cubicBezTo>
                      <a:pt x="50" y="4"/>
                      <a:pt x="50" y="4"/>
                      <a:pt x="50" y="4"/>
                    </a:cubicBezTo>
                    <a:cubicBezTo>
                      <a:pt x="50" y="5"/>
                      <a:pt x="50" y="7"/>
                      <a:pt x="50" y="8"/>
                    </a:cubicBezTo>
                    <a:cubicBezTo>
                      <a:pt x="51" y="11"/>
                      <a:pt x="52" y="15"/>
                      <a:pt x="51" y="17"/>
                    </a:cubicBezTo>
                    <a:cubicBezTo>
                      <a:pt x="50" y="18"/>
                      <a:pt x="45" y="24"/>
                      <a:pt x="41" y="23"/>
                    </a:cubicBezTo>
                    <a:cubicBezTo>
                      <a:pt x="36" y="23"/>
                      <a:pt x="35" y="21"/>
                      <a:pt x="34" y="18"/>
                    </a:cubicBezTo>
                    <a:cubicBezTo>
                      <a:pt x="33" y="15"/>
                      <a:pt x="31" y="14"/>
                      <a:pt x="31" y="14"/>
                    </a:cubicBezTo>
                    <a:cubicBezTo>
                      <a:pt x="30" y="14"/>
                      <a:pt x="27" y="11"/>
                      <a:pt x="26" y="10"/>
                    </a:cubicBezTo>
                    <a:cubicBezTo>
                      <a:pt x="26" y="10"/>
                      <a:pt x="24" y="8"/>
                      <a:pt x="21" y="8"/>
                    </a:cubicBezTo>
                    <a:cubicBezTo>
                      <a:pt x="17" y="9"/>
                      <a:pt x="12" y="10"/>
                      <a:pt x="10" y="11"/>
                    </a:cubicBezTo>
                    <a:cubicBezTo>
                      <a:pt x="9" y="13"/>
                      <a:pt x="7" y="17"/>
                      <a:pt x="7" y="18"/>
                    </a:cubicBezTo>
                    <a:cubicBezTo>
                      <a:pt x="7" y="19"/>
                      <a:pt x="7" y="22"/>
                      <a:pt x="5" y="23"/>
                    </a:cubicBezTo>
                    <a:cubicBezTo>
                      <a:pt x="3" y="24"/>
                      <a:pt x="1" y="27"/>
                      <a:pt x="1" y="29"/>
                    </a:cubicBezTo>
                    <a:cubicBezTo>
                      <a:pt x="2" y="32"/>
                      <a:pt x="2" y="36"/>
                      <a:pt x="1" y="35"/>
                    </a:cubicBezTo>
                    <a:cubicBezTo>
                      <a:pt x="1" y="34"/>
                      <a:pt x="0" y="34"/>
                      <a:pt x="0" y="36"/>
                    </a:cubicBezTo>
                    <a:cubicBezTo>
                      <a:pt x="1" y="38"/>
                      <a:pt x="1" y="42"/>
                      <a:pt x="1" y="42"/>
                    </a:cubicBezTo>
                    <a:cubicBezTo>
                      <a:pt x="1" y="42"/>
                      <a:pt x="2" y="42"/>
                      <a:pt x="2" y="42"/>
                    </a:cubicBezTo>
                    <a:cubicBezTo>
                      <a:pt x="4" y="41"/>
                      <a:pt x="4" y="41"/>
                      <a:pt x="4" y="41"/>
                    </a:cubicBezTo>
                    <a:cubicBezTo>
                      <a:pt x="4" y="41"/>
                      <a:pt x="4" y="41"/>
                      <a:pt x="4" y="41"/>
                    </a:cubicBezTo>
                    <a:cubicBezTo>
                      <a:pt x="4" y="40"/>
                      <a:pt x="4" y="40"/>
                      <a:pt x="5" y="40"/>
                    </a:cubicBezTo>
                    <a:cubicBezTo>
                      <a:pt x="5" y="39"/>
                      <a:pt x="8" y="38"/>
                      <a:pt x="9" y="38"/>
                    </a:cubicBezTo>
                    <a:cubicBezTo>
                      <a:pt x="10" y="38"/>
                      <a:pt x="14" y="36"/>
                      <a:pt x="15" y="36"/>
                    </a:cubicBezTo>
                    <a:cubicBezTo>
                      <a:pt x="15" y="36"/>
                      <a:pt x="16" y="36"/>
                      <a:pt x="17" y="35"/>
                    </a:cubicBezTo>
                    <a:cubicBezTo>
                      <a:pt x="18" y="35"/>
                      <a:pt x="24" y="35"/>
                      <a:pt x="24" y="36"/>
                    </a:cubicBezTo>
                    <a:cubicBezTo>
                      <a:pt x="24" y="36"/>
                      <a:pt x="25" y="36"/>
                      <a:pt x="25" y="36"/>
                    </a:cubicBezTo>
                    <a:cubicBezTo>
                      <a:pt x="25" y="36"/>
                      <a:pt x="26" y="36"/>
                      <a:pt x="26" y="36"/>
                    </a:cubicBezTo>
                    <a:cubicBezTo>
                      <a:pt x="27" y="36"/>
                      <a:pt x="28" y="36"/>
                      <a:pt x="28" y="36"/>
                    </a:cubicBezTo>
                    <a:cubicBezTo>
                      <a:pt x="29" y="35"/>
                      <a:pt x="30" y="35"/>
                      <a:pt x="30" y="36"/>
                    </a:cubicBezTo>
                    <a:cubicBezTo>
                      <a:pt x="30" y="36"/>
                      <a:pt x="31" y="37"/>
                      <a:pt x="31" y="37"/>
                    </a:cubicBezTo>
                    <a:cubicBezTo>
                      <a:pt x="31" y="37"/>
                      <a:pt x="31" y="37"/>
                      <a:pt x="32" y="37"/>
                    </a:cubicBezTo>
                    <a:cubicBezTo>
                      <a:pt x="32" y="37"/>
                      <a:pt x="33" y="36"/>
                      <a:pt x="33" y="36"/>
                    </a:cubicBezTo>
                    <a:cubicBezTo>
                      <a:pt x="34" y="36"/>
                      <a:pt x="35" y="36"/>
                      <a:pt x="36" y="36"/>
                    </a:cubicBezTo>
                    <a:cubicBezTo>
                      <a:pt x="36" y="36"/>
                      <a:pt x="37" y="36"/>
                      <a:pt x="39" y="36"/>
                    </a:cubicBezTo>
                    <a:cubicBezTo>
                      <a:pt x="40" y="36"/>
                      <a:pt x="41" y="36"/>
                      <a:pt x="42" y="36"/>
                    </a:cubicBezTo>
                    <a:cubicBezTo>
                      <a:pt x="44" y="37"/>
                      <a:pt x="45" y="37"/>
                      <a:pt x="45" y="37"/>
                    </a:cubicBezTo>
                    <a:cubicBezTo>
                      <a:pt x="46" y="38"/>
                      <a:pt x="47" y="38"/>
                      <a:pt x="47" y="38"/>
                    </a:cubicBezTo>
                    <a:cubicBezTo>
                      <a:pt x="47" y="38"/>
                      <a:pt x="47" y="39"/>
                      <a:pt x="47" y="38"/>
                    </a:cubicBezTo>
                    <a:cubicBezTo>
                      <a:pt x="48" y="38"/>
                      <a:pt x="49" y="37"/>
                      <a:pt x="50" y="38"/>
                    </a:cubicBezTo>
                    <a:cubicBezTo>
                      <a:pt x="51" y="38"/>
                      <a:pt x="52" y="38"/>
                      <a:pt x="52" y="38"/>
                    </a:cubicBezTo>
                    <a:cubicBezTo>
                      <a:pt x="52" y="38"/>
                      <a:pt x="53" y="38"/>
                      <a:pt x="53" y="38"/>
                    </a:cubicBezTo>
                    <a:cubicBezTo>
                      <a:pt x="53" y="37"/>
                      <a:pt x="55" y="36"/>
                      <a:pt x="55" y="36"/>
                    </a:cubicBezTo>
                    <a:cubicBezTo>
                      <a:pt x="55" y="36"/>
                      <a:pt x="57" y="35"/>
                      <a:pt x="58" y="35"/>
                    </a:cubicBezTo>
                    <a:cubicBezTo>
                      <a:pt x="58" y="35"/>
                      <a:pt x="58" y="34"/>
                      <a:pt x="58" y="35"/>
                    </a:cubicBezTo>
                    <a:cubicBezTo>
                      <a:pt x="59" y="35"/>
                      <a:pt x="61" y="38"/>
                      <a:pt x="61" y="39"/>
                    </a:cubicBezTo>
                    <a:cubicBezTo>
                      <a:pt x="61" y="39"/>
                      <a:pt x="62" y="40"/>
                      <a:pt x="62" y="40"/>
                    </a:cubicBezTo>
                    <a:cubicBezTo>
                      <a:pt x="62" y="40"/>
                      <a:pt x="62" y="40"/>
                      <a:pt x="62" y="40"/>
                    </a:cubicBezTo>
                    <a:cubicBezTo>
                      <a:pt x="63" y="40"/>
                      <a:pt x="64" y="40"/>
                      <a:pt x="64" y="40"/>
                    </a:cubicBezTo>
                    <a:cubicBezTo>
                      <a:pt x="64" y="40"/>
                      <a:pt x="65" y="40"/>
                      <a:pt x="65" y="40"/>
                    </a:cubicBezTo>
                    <a:cubicBezTo>
                      <a:pt x="66" y="40"/>
                      <a:pt x="68" y="40"/>
                      <a:pt x="68" y="40"/>
                    </a:cubicBezTo>
                    <a:cubicBezTo>
                      <a:pt x="68" y="40"/>
                      <a:pt x="69" y="40"/>
                      <a:pt x="70" y="41"/>
                    </a:cubicBezTo>
                    <a:cubicBezTo>
                      <a:pt x="70" y="42"/>
                      <a:pt x="72" y="43"/>
                      <a:pt x="72" y="43"/>
                    </a:cubicBezTo>
                    <a:cubicBezTo>
                      <a:pt x="72" y="43"/>
                      <a:pt x="73" y="44"/>
                      <a:pt x="73" y="44"/>
                    </a:cubicBezTo>
                    <a:cubicBezTo>
                      <a:pt x="74" y="44"/>
                      <a:pt x="76" y="45"/>
                      <a:pt x="76" y="45"/>
                    </a:cubicBezTo>
                    <a:cubicBezTo>
                      <a:pt x="76" y="45"/>
                      <a:pt x="77" y="47"/>
                      <a:pt x="78" y="47"/>
                    </a:cubicBezTo>
                    <a:cubicBezTo>
                      <a:pt x="78" y="47"/>
                      <a:pt x="79" y="49"/>
                      <a:pt x="80" y="49"/>
                    </a:cubicBezTo>
                    <a:cubicBezTo>
                      <a:pt x="80" y="49"/>
                      <a:pt x="81" y="50"/>
                      <a:pt x="81" y="50"/>
                    </a:cubicBezTo>
                    <a:cubicBezTo>
                      <a:pt x="81" y="50"/>
                      <a:pt x="83" y="51"/>
                      <a:pt x="83" y="51"/>
                    </a:cubicBezTo>
                    <a:cubicBezTo>
                      <a:pt x="83" y="51"/>
                      <a:pt x="84" y="51"/>
                      <a:pt x="84" y="5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14" name="Freeform 1026">
                <a:extLst>
                  <a:ext uri="{FF2B5EF4-FFF2-40B4-BE49-F238E27FC236}">
                    <a16:creationId xmlns:a16="http://schemas.microsoft.com/office/drawing/2014/main" id="{3E0F6126-ED43-4E87-A5CF-9ABECDD52380}"/>
                  </a:ext>
                </a:extLst>
              </p:cNvPr>
              <p:cNvSpPr>
                <a:spLocks/>
              </p:cNvSpPr>
              <p:nvPr/>
            </p:nvSpPr>
            <p:spPr bwMode="auto">
              <a:xfrm>
                <a:off x="3951" y="1326"/>
                <a:ext cx="34" cy="22"/>
              </a:xfrm>
              <a:custGeom>
                <a:avLst/>
                <a:gdLst>
                  <a:gd name="T0" fmla="*/ 2 w 24"/>
                  <a:gd name="T1" fmla="*/ 8 h 16"/>
                  <a:gd name="T2" fmla="*/ 3 w 24"/>
                  <a:gd name="T3" fmla="*/ 13 h 16"/>
                  <a:gd name="T4" fmla="*/ 3 w 24"/>
                  <a:gd name="T5" fmla="*/ 15 h 16"/>
                  <a:gd name="T6" fmla="*/ 5 w 24"/>
                  <a:gd name="T7" fmla="*/ 14 h 16"/>
                  <a:gd name="T8" fmla="*/ 8 w 24"/>
                  <a:gd name="T9" fmla="*/ 9 h 16"/>
                  <a:gd name="T10" fmla="*/ 15 w 24"/>
                  <a:gd name="T11" fmla="*/ 7 h 16"/>
                  <a:gd name="T12" fmla="*/ 20 w 24"/>
                  <a:gd name="T13" fmla="*/ 4 h 16"/>
                  <a:gd name="T14" fmla="*/ 21 w 24"/>
                  <a:gd name="T15" fmla="*/ 3 h 16"/>
                  <a:gd name="T16" fmla="*/ 11 w 24"/>
                  <a:gd name="T17" fmla="*/ 1 h 16"/>
                  <a:gd name="T18" fmla="*/ 4 w 24"/>
                  <a:gd name="T19" fmla="*/ 3 h 16"/>
                  <a:gd name="T20" fmla="*/ 1 w 24"/>
                  <a:gd name="T21" fmla="*/ 3 h 16"/>
                  <a:gd name="T22" fmla="*/ 1 w 24"/>
                  <a:gd name="T23" fmla="*/ 6 h 16"/>
                  <a:gd name="T24" fmla="*/ 2 w 24"/>
                  <a:gd name="T25"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16">
                    <a:moveTo>
                      <a:pt x="2" y="8"/>
                    </a:moveTo>
                    <a:cubicBezTo>
                      <a:pt x="3" y="9"/>
                      <a:pt x="6" y="10"/>
                      <a:pt x="3" y="13"/>
                    </a:cubicBezTo>
                    <a:cubicBezTo>
                      <a:pt x="3" y="13"/>
                      <a:pt x="2" y="14"/>
                      <a:pt x="3" y="15"/>
                    </a:cubicBezTo>
                    <a:cubicBezTo>
                      <a:pt x="4" y="15"/>
                      <a:pt x="5" y="16"/>
                      <a:pt x="5" y="14"/>
                    </a:cubicBezTo>
                    <a:cubicBezTo>
                      <a:pt x="5" y="13"/>
                      <a:pt x="6" y="10"/>
                      <a:pt x="8" y="9"/>
                    </a:cubicBezTo>
                    <a:cubicBezTo>
                      <a:pt x="10" y="9"/>
                      <a:pt x="14" y="9"/>
                      <a:pt x="15" y="7"/>
                    </a:cubicBezTo>
                    <a:cubicBezTo>
                      <a:pt x="17" y="4"/>
                      <a:pt x="19" y="4"/>
                      <a:pt x="20" y="4"/>
                    </a:cubicBezTo>
                    <a:cubicBezTo>
                      <a:pt x="21" y="4"/>
                      <a:pt x="24" y="4"/>
                      <a:pt x="21" y="3"/>
                    </a:cubicBezTo>
                    <a:cubicBezTo>
                      <a:pt x="19" y="2"/>
                      <a:pt x="14" y="0"/>
                      <a:pt x="11" y="1"/>
                    </a:cubicBezTo>
                    <a:cubicBezTo>
                      <a:pt x="8" y="1"/>
                      <a:pt x="5" y="4"/>
                      <a:pt x="4" y="3"/>
                    </a:cubicBezTo>
                    <a:cubicBezTo>
                      <a:pt x="2" y="3"/>
                      <a:pt x="0" y="2"/>
                      <a:pt x="1" y="3"/>
                    </a:cubicBezTo>
                    <a:cubicBezTo>
                      <a:pt x="2" y="5"/>
                      <a:pt x="2" y="5"/>
                      <a:pt x="1" y="6"/>
                    </a:cubicBezTo>
                    <a:cubicBezTo>
                      <a:pt x="1" y="6"/>
                      <a:pt x="0" y="7"/>
                      <a:pt x="2"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15" name="Freeform 1027">
                <a:extLst>
                  <a:ext uri="{FF2B5EF4-FFF2-40B4-BE49-F238E27FC236}">
                    <a16:creationId xmlns:a16="http://schemas.microsoft.com/office/drawing/2014/main" id="{7646277C-419B-4F56-B41C-A5CD91A66963}"/>
                  </a:ext>
                </a:extLst>
              </p:cNvPr>
              <p:cNvSpPr>
                <a:spLocks/>
              </p:cNvSpPr>
              <p:nvPr/>
            </p:nvSpPr>
            <p:spPr bwMode="auto">
              <a:xfrm>
                <a:off x="3978" y="1325"/>
                <a:ext cx="7" cy="4"/>
              </a:xfrm>
              <a:custGeom>
                <a:avLst/>
                <a:gdLst>
                  <a:gd name="T0" fmla="*/ 1 w 5"/>
                  <a:gd name="T1" fmla="*/ 0 h 3"/>
                  <a:gd name="T2" fmla="*/ 2 w 5"/>
                  <a:gd name="T3" fmla="*/ 3 h 3"/>
                  <a:gd name="T4" fmla="*/ 4 w 5"/>
                  <a:gd name="T5" fmla="*/ 2 h 3"/>
                  <a:gd name="T6" fmla="*/ 1 w 5"/>
                  <a:gd name="T7" fmla="*/ 0 h 3"/>
                </a:gdLst>
                <a:ahLst/>
                <a:cxnLst>
                  <a:cxn ang="0">
                    <a:pos x="T0" y="T1"/>
                  </a:cxn>
                  <a:cxn ang="0">
                    <a:pos x="T2" y="T3"/>
                  </a:cxn>
                  <a:cxn ang="0">
                    <a:pos x="T4" y="T5"/>
                  </a:cxn>
                  <a:cxn ang="0">
                    <a:pos x="T6" y="T7"/>
                  </a:cxn>
                </a:cxnLst>
                <a:rect l="0" t="0" r="r" b="b"/>
                <a:pathLst>
                  <a:path w="5" h="3">
                    <a:moveTo>
                      <a:pt x="1" y="0"/>
                    </a:moveTo>
                    <a:cubicBezTo>
                      <a:pt x="0" y="1"/>
                      <a:pt x="0" y="3"/>
                      <a:pt x="2" y="3"/>
                    </a:cubicBezTo>
                    <a:cubicBezTo>
                      <a:pt x="2" y="3"/>
                      <a:pt x="5" y="3"/>
                      <a:pt x="4" y="2"/>
                    </a:cubicBezTo>
                    <a:cubicBezTo>
                      <a:pt x="2" y="0"/>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16" name="Freeform 1028">
                <a:extLst>
                  <a:ext uri="{FF2B5EF4-FFF2-40B4-BE49-F238E27FC236}">
                    <a16:creationId xmlns:a16="http://schemas.microsoft.com/office/drawing/2014/main" id="{B297BE3D-A6DC-4FCB-8C0B-AB36A930531D}"/>
                  </a:ext>
                </a:extLst>
              </p:cNvPr>
              <p:cNvSpPr>
                <a:spLocks/>
              </p:cNvSpPr>
              <p:nvPr/>
            </p:nvSpPr>
            <p:spPr bwMode="auto">
              <a:xfrm>
                <a:off x="3957" y="1312"/>
                <a:ext cx="19" cy="11"/>
              </a:xfrm>
              <a:custGeom>
                <a:avLst/>
                <a:gdLst>
                  <a:gd name="T0" fmla="*/ 7 w 14"/>
                  <a:gd name="T1" fmla="*/ 8 h 8"/>
                  <a:gd name="T2" fmla="*/ 13 w 14"/>
                  <a:gd name="T3" fmla="*/ 4 h 8"/>
                  <a:gd name="T4" fmla="*/ 8 w 14"/>
                  <a:gd name="T5" fmla="*/ 1 h 8"/>
                  <a:gd name="T6" fmla="*/ 2 w 14"/>
                  <a:gd name="T7" fmla="*/ 3 h 8"/>
                  <a:gd name="T8" fmla="*/ 3 w 14"/>
                  <a:gd name="T9" fmla="*/ 4 h 8"/>
                  <a:gd name="T10" fmla="*/ 6 w 14"/>
                  <a:gd name="T11" fmla="*/ 7 h 8"/>
                  <a:gd name="T12" fmla="*/ 7 w 14"/>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4" h="8">
                    <a:moveTo>
                      <a:pt x="7" y="8"/>
                    </a:moveTo>
                    <a:cubicBezTo>
                      <a:pt x="9" y="7"/>
                      <a:pt x="14" y="6"/>
                      <a:pt x="13" y="4"/>
                    </a:cubicBezTo>
                    <a:cubicBezTo>
                      <a:pt x="11" y="3"/>
                      <a:pt x="10" y="0"/>
                      <a:pt x="8" y="1"/>
                    </a:cubicBezTo>
                    <a:cubicBezTo>
                      <a:pt x="7" y="2"/>
                      <a:pt x="3" y="3"/>
                      <a:pt x="2" y="3"/>
                    </a:cubicBezTo>
                    <a:cubicBezTo>
                      <a:pt x="1" y="3"/>
                      <a:pt x="0" y="3"/>
                      <a:pt x="3" y="4"/>
                    </a:cubicBezTo>
                    <a:cubicBezTo>
                      <a:pt x="5" y="5"/>
                      <a:pt x="7" y="5"/>
                      <a:pt x="6" y="7"/>
                    </a:cubicBezTo>
                    <a:cubicBezTo>
                      <a:pt x="6" y="7"/>
                      <a:pt x="5" y="8"/>
                      <a:pt x="7"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17" name="Freeform 1029">
                <a:extLst>
                  <a:ext uri="{FF2B5EF4-FFF2-40B4-BE49-F238E27FC236}">
                    <a16:creationId xmlns:a16="http://schemas.microsoft.com/office/drawing/2014/main" id="{D9770DC9-A9BA-4975-A087-F44F0BDB391E}"/>
                  </a:ext>
                </a:extLst>
              </p:cNvPr>
              <p:cNvSpPr>
                <a:spLocks/>
              </p:cNvSpPr>
              <p:nvPr/>
            </p:nvSpPr>
            <p:spPr bwMode="auto">
              <a:xfrm>
                <a:off x="3981" y="1314"/>
                <a:ext cx="2" cy="3"/>
              </a:xfrm>
              <a:custGeom>
                <a:avLst/>
                <a:gdLst>
                  <a:gd name="T0" fmla="*/ 0 w 2"/>
                  <a:gd name="T1" fmla="*/ 0 h 2"/>
                  <a:gd name="T2" fmla="*/ 1 w 2"/>
                  <a:gd name="T3" fmla="*/ 1 h 2"/>
                  <a:gd name="T4" fmla="*/ 0 w 2"/>
                  <a:gd name="T5" fmla="*/ 0 h 2"/>
                </a:gdLst>
                <a:ahLst/>
                <a:cxnLst>
                  <a:cxn ang="0">
                    <a:pos x="T0" y="T1"/>
                  </a:cxn>
                  <a:cxn ang="0">
                    <a:pos x="T2" y="T3"/>
                  </a:cxn>
                  <a:cxn ang="0">
                    <a:pos x="T4" y="T5"/>
                  </a:cxn>
                </a:cxnLst>
                <a:rect l="0" t="0" r="r" b="b"/>
                <a:pathLst>
                  <a:path w="2" h="2">
                    <a:moveTo>
                      <a:pt x="0" y="0"/>
                    </a:moveTo>
                    <a:cubicBezTo>
                      <a:pt x="0" y="0"/>
                      <a:pt x="0" y="2"/>
                      <a:pt x="1" y="1"/>
                    </a:cubicBezTo>
                    <a:cubicBezTo>
                      <a:pt x="2" y="1"/>
                      <a:pt x="1" y="0"/>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18" name="Freeform 1030">
                <a:extLst>
                  <a:ext uri="{FF2B5EF4-FFF2-40B4-BE49-F238E27FC236}">
                    <a16:creationId xmlns:a16="http://schemas.microsoft.com/office/drawing/2014/main" id="{8064BC25-16F7-4DE7-B1DF-9F92BA77F859}"/>
                  </a:ext>
                </a:extLst>
              </p:cNvPr>
              <p:cNvSpPr>
                <a:spLocks/>
              </p:cNvSpPr>
              <p:nvPr/>
            </p:nvSpPr>
            <p:spPr bwMode="auto">
              <a:xfrm>
                <a:off x="3983" y="1296"/>
                <a:ext cx="99" cy="63"/>
              </a:xfrm>
              <a:custGeom>
                <a:avLst/>
                <a:gdLst>
                  <a:gd name="T0" fmla="*/ 20 w 71"/>
                  <a:gd name="T1" fmla="*/ 36 h 46"/>
                  <a:gd name="T2" fmla="*/ 25 w 71"/>
                  <a:gd name="T3" fmla="*/ 34 h 46"/>
                  <a:gd name="T4" fmla="*/ 27 w 71"/>
                  <a:gd name="T5" fmla="*/ 35 h 46"/>
                  <a:gd name="T6" fmla="*/ 30 w 71"/>
                  <a:gd name="T7" fmla="*/ 35 h 46"/>
                  <a:gd name="T8" fmla="*/ 31 w 71"/>
                  <a:gd name="T9" fmla="*/ 36 h 46"/>
                  <a:gd name="T10" fmla="*/ 37 w 71"/>
                  <a:gd name="T11" fmla="*/ 38 h 46"/>
                  <a:gd name="T12" fmla="*/ 39 w 71"/>
                  <a:gd name="T13" fmla="*/ 39 h 46"/>
                  <a:gd name="T14" fmla="*/ 39 w 71"/>
                  <a:gd name="T15" fmla="*/ 40 h 46"/>
                  <a:gd name="T16" fmla="*/ 43 w 71"/>
                  <a:gd name="T17" fmla="*/ 44 h 46"/>
                  <a:gd name="T18" fmla="*/ 45 w 71"/>
                  <a:gd name="T19" fmla="*/ 45 h 46"/>
                  <a:gd name="T20" fmla="*/ 48 w 71"/>
                  <a:gd name="T21" fmla="*/ 46 h 46"/>
                  <a:gd name="T22" fmla="*/ 50 w 71"/>
                  <a:gd name="T23" fmla="*/ 44 h 46"/>
                  <a:gd name="T24" fmla="*/ 52 w 71"/>
                  <a:gd name="T25" fmla="*/ 43 h 46"/>
                  <a:gd name="T26" fmla="*/ 55 w 71"/>
                  <a:gd name="T27" fmla="*/ 45 h 46"/>
                  <a:gd name="T28" fmla="*/ 59 w 71"/>
                  <a:gd name="T29" fmla="*/ 45 h 46"/>
                  <a:gd name="T30" fmla="*/ 62 w 71"/>
                  <a:gd name="T31" fmla="*/ 40 h 46"/>
                  <a:gd name="T32" fmla="*/ 64 w 71"/>
                  <a:gd name="T33" fmla="*/ 36 h 46"/>
                  <a:gd name="T34" fmla="*/ 61 w 71"/>
                  <a:gd name="T35" fmla="*/ 24 h 46"/>
                  <a:gd name="T36" fmla="*/ 64 w 71"/>
                  <a:gd name="T37" fmla="*/ 14 h 46"/>
                  <a:gd name="T38" fmla="*/ 69 w 71"/>
                  <a:gd name="T39" fmla="*/ 7 h 46"/>
                  <a:gd name="T40" fmla="*/ 70 w 71"/>
                  <a:gd name="T41" fmla="*/ 5 h 46"/>
                  <a:gd name="T42" fmla="*/ 69 w 71"/>
                  <a:gd name="T43" fmla="*/ 3 h 46"/>
                  <a:gd name="T44" fmla="*/ 57 w 71"/>
                  <a:gd name="T45" fmla="*/ 4 h 46"/>
                  <a:gd name="T46" fmla="*/ 46 w 71"/>
                  <a:gd name="T47" fmla="*/ 2 h 46"/>
                  <a:gd name="T48" fmla="*/ 32 w 71"/>
                  <a:gd name="T49" fmla="*/ 0 h 46"/>
                  <a:gd name="T50" fmla="*/ 31 w 71"/>
                  <a:gd name="T51" fmla="*/ 2 h 46"/>
                  <a:gd name="T52" fmla="*/ 15 w 71"/>
                  <a:gd name="T53" fmla="*/ 4 h 46"/>
                  <a:gd name="T54" fmla="*/ 10 w 71"/>
                  <a:gd name="T55" fmla="*/ 7 h 46"/>
                  <a:gd name="T56" fmla="*/ 1 w 71"/>
                  <a:gd name="T57" fmla="*/ 13 h 46"/>
                  <a:gd name="T58" fmla="*/ 1 w 71"/>
                  <a:gd name="T59" fmla="*/ 17 h 46"/>
                  <a:gd name="T60" fmla="*/ 6 w 71"/>
                  <a:gd name="T61" fmla="*/ 19 h 46"/>
                  <a:gd name="T62" fmla="*/ 3 w 71"/>
                  <a:gd name="T63" fmla="*/ 24 h 46"/>
                  <a:gd name="T64" fmla="*/ 14 w 71"/>
                  <a:gd name="T65" fmla="*/ 29 h 46"/>
                  <a:gd name="T66" fmla="*/ 14 w 71"/>
                  <a:gd name="T67" fmla="*/ 36 h 46"/>
                  <a:gd name="T68" fmla="*/ 17 w 71"/>
                  <a:gd name="T69" fmla="*/ 37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1" h="46">
                    <a:moveTo>
                      <a:pt x="18" y="36"/>
                    </a:moveTo>
                    <a:cubicBezTo>
                      <a:pt x="18" y="37"/>
                      <a:pt x="20" y="36"/>
                      <a:pt x="20" y="36"/>
                    </a:cubicBezTo>
                    <a:cubicBezTo>
                      <a:pt x="21" y="36"/>
                      <a:pt x="23" y="35"/>
                      <a:pt x="24" y="35"/>
                    </a:cubicBezTo>
                    <a:cubicBezTo>
                      <a:pt x="24" y="35"/>
                      <a:pt x="25" y="34"/>
                      <a:pt x="25" y="34"/>
                    </a:cubicBezTo>
                    <a:cubicBezTo>
                      <a:pt x="25" y="34"/>
                      <a:pt x="25" y="34"/>
                      <a:pt x="25" y="34"/>
                    </a:cubicBezTo>
                    <a:cubicBezTo>
                      <a:pt x="26" y="34"/>
                      <a:pt x="27" y="35"/>
                      <a:pt x="27" y="35"/>
                    </a:cubicBezTo>
                    <a:cubicBezTo>
                      <a:pt x="27" y="35"/>
                      <a:pt x="27" y="36"/>
                      <a:pt x="28" y="35"/>
                    </a:cubicBezTo>
                    <a:cubicBezTo>
                      <a:pt x="28" y="35"/>
                      <a:pt x="30" y="35"/>
                      <a:pt x="30" y="35"/>
                    </a:cubicBezTo>
                    <a:cubicBezTo>
                      <a:pt x="30" y="35"/>
                      <a:pt x="31" y="35"/>
                      <a:pt x="31" y="35"/>
                    </a:cubicBezTo>
                    <a:cubicBezTo>
                      <a:pt x="31" y="36"/>
                      <a:pt x="31" y="36"/>
                      <a:pt x="31" y="36"/>
                    </a:cubicBezTo>
                    <a:cubicBezTo>
                      <a:pt x="32" y="36"/>
                      <a:pt x="32" y="36"/>
                      <a:pt x="33" y="36"/>
                    </a:cubicBezTo>
                    <a:cubicBezTo>
                      <a:pt x="33" y="37"/>
                      <a:pt x="37" y="38"/>
                      <a:pt x="37" y="38"/>
                    </a:cubicBezTo>
                    <a:cubicBezTo>
                      <a:pt x="37" y="38"/>
                      <a:pt x="37" y="39"/>
                      <a:pt x="38" y="39"/>
                    </a:cubicBezTo>
                    <a:cubicBezTo>
                      <a:pt x="38" y="39"/>
                      <a:pt x="39" y="39"/>
                      <a:pt x="39" y="39"/>
                    </a:cubicBezTo>
                    <a:cubicBezTo>
                      <a:pt x="39" y="39"/>
                      <a:pt x="40" y="39"/>
                      <a:pt x="39" y="39"/>
                    </a:cubicBezTo>
                    <a:cubicBezTo>
                      <a:pt x="39" y="40"/>
                      <a:pt x="39" y="40"/>
                      <a:pt x="39" y="40"/>
                    </a:cubicBezTo>
                    <a:cubicBezTo>
                      <a:pt x="40" y="40"/>
                      <a:pt x="41" y="41"/>
                      <a:pt x="41" y="41"/>
                    </a:cubicBezTo>
                    <a:cubicBezTo>
                      <a:pt x="42" y="42"/>
                      <a:pt x="43" y="43"/>
                      <a:pt x="43" y="44"/>
                    </a:cubicBezTo>
                    <a:cubicBezTo>
                      <a:pt x="43" y="44"/>
                      <a:pt x="44" y="44"/>
                      <a:pt x="44" y="44"/>
                    </a:cubicBezTo>
                    <a:cubicBezTo>
                      <a:pt x="45" y="44"/>
                      <a:pt x="45" y="44"/>
                      <a:pt x="45" y="45"/>
                    </a:cubicBezTo>
                    <a:cubicBezTo>
                      <a:pt x="46" y="45"/>
                      <a:pt x="46" y="46"/>
                      <a:pt x="46" y="46"/>
                    </a:cubicBezTo>
                    <a:cubicBezTo>
                      <a:pt x="47" y="46"/>
                      <a:pt x="47" y="46"/>
                      <a:pt x="48" y="46"/>
                    </a:cubicBezTo>
                    <a:cubicBezTo>
                      <a:pt x="48" y="45"/>
                      <a:pt x="49" y="45"/>
                      <a:pt x="49" y="45"/>
                    </a:cubicBezTo>
                    <a:cubicBezTo>
                      <a:pt x="49" y="45"/>
                      <a:pt x="50" y="44"/>
                      <a:pt x="50" y="44"/>
                    </a:cubicBezTo>
                    <a:cubicBezTo>
                      <a:pt x="50" y="44"/>
                      <a:pt x="51" y="44"/>
                      <a:pt x="51" y="44"/>
                    </a:cubicBezTo>
                    <a:cubicBezTo>
                      <a:pt x="51" y="44"/>
                      <a:pt x="52" y="43"/>
                      <a:pt x="52" y="43"/>
                    </a:cubicBezTo>
                    <a:cubicBezTo>
                      <a:pt x="53" y="44"/>
                      <a:pt x="54" y="44"/>
                      <a:pt x="54" y="44"/>
                    </a:cubicBezTo>
                    <a:cubicBezTo>
                      <a:pt x="55" y="45"/>
                      <a:pt x="55" y="45"/>
                      <a:pt x="55" y="45"/>
                    </a:cubicBezTo>
                    <a:cubicBezTo>
                      <a:pt x="56" y="45"/>
                      <a:pt x="58" y="46"/>
                      <a:pt x="58" y="46"/>
                    </a:cubicBezTo>
                    <a:cubicBezTo>
                      <a:pt x="58" y="46"/>
                      <a:pt x="59" y="46"/>
                      <a:pt x="59" y="45"/>
                    </a:cubicBezTo>
                    <a:cubicBezTo>
                      <a:pt x="59" y="45"/>
                      <a:pt x="59" y="44"/>
                      <a:pt x="59" y="43"/>
                    </a:cubicBezTo>
                    <a:cubicBezTo>
                      <a:pt x="59" y="43"/>
                      <a:pt x="61" y="40"/>
                      <a:pt x="62" y="40"/>
                    </a:cubicBezTo>
                    <a:cubicBezTo>
                      <a:pt x="62" y="39"/>
                      <a:pt x="63" y="40"/>
                      <a:pt x="64" y="39"/>
                    </a:cubicBezTo>
                    <a:cubicBezTo>
                      <a:pt x="66" y="39"/>
                      <a:pt x="65" y="37"/>
                      <a:pt x="64" y="36"/>
                    </a:cubicBezTo>
                    <a:cubicBezTo>
                      <a:pt x="64" y="36"/>
                      <a:pt x="63" y="34"/>
                      <a:pt x="61" y="32"/>
                    </a:cubicBezTo>
                    <a:cubicBezTo>
                      <a:pt x="60" y="30"/>
                      <a:pt x="61" y="25"/>
                      <a:pt x="61" y="24"/>
                    </a:cubicBezTo>
                    <a:cubicBezTo>
                      <a:pt x="61" y="24"/>
                      <a:pt x="60" y="20"/>
                      <a:pt x="60" y="19"/>
                    </a:cubicBezTo>
                    <a:cubicBezTo>
                      <a:pt x="60" y="18"/>
                      <a:pt x="64" y="15"/>
                      <a:pt x="64" y="14"/>
                    </a:cubicBezTo>
                    <a:cubicBezTo>
                      <a:pt x="65" y="14"/>
                      <a:pt x="66" y="11"/>
                      <a:pt x="66" y="10"/>
                    </a:cubicBezTo>
                    <a:cubicBezTo>
                      <a:pt x="66" y="10"/>
                      <a:pt x="67" y="8"/>
                      <a:pt x="69" y="7"/>
                    </a:cubicBezTo>
                    <a:cubicBezTo>
                      <a:pt x="70" y="7"/>
                      <a:pt x="69" y="7"/>
                      <a:pt x="69" y="7"/>
                    </a:cubicBezTo>
                    <a:cubicBezTo>
                      <a:pt x="68" y="7"/>
                      <a:pt x="70" y="6"/>
                      <a:pt x="70" y="5"/>
                    </a:cubicBezTo>
                    <a:cubicBezTo>
                      <a:pt x="71" y="5"/>
                      <a:pt x="70" y="5"/>
                      <a:pt x="70" y="4"/>
                    </a:cubicBezTo>
                    <a:cubicBezTo>
                      <a:pt x="70" y="4"/>
                      <a:pt x="69" y="3"/>
                      <a:pt x="69" y="3"/>
                    </a:cubicBezTo>
                    <a:cubicBezTo>
                      <a:pt x="68" y="4"/>
                      <a:pt x="68" y="5"/>
                      <a:pt x="67" y="5"/>
                    </a:cubicBezTo>
                    <a:cubicBezTo>
                      <a:pt x="64" y="5"/>
                      <a:pt x="60" y="4"/>
                      <a:pt x="57" y="4"/>
                    </a:cubicBezTo>
                    <a:cubicBezTo>
                      <a:pt x="54" y="4"/>
                      <a:pt x="52" y="4"/>
                      <a:pt x="51" y="3"/>
                    </a:cubicBezTo>
                    <a:cubicBezTo>
                      <a:pt x="50" y="3"/>
                      <a:pt x="47" y="2"/>
                      <a:pt x="46" y="2"/>
                    </a:cubicBezTo>
                    <a:cubicBezTo>
                      <a:pt x="45" y="2"/>
                      <a:pt x="37" y="1"/>
                      <a:pt x="36" y="1"/>
                    </a:cubicBezTo>
                    <a:cubicBezTo>
                      <a:pt x="35" y="1"/>
                      <a:pt x="32" y="0"/>
                      <a:pt x="32" y="0"/>
                    </a:cubicBezTo>
                    <a:cubicBezTo>
                      <a:pt x="31" y="0"/>
                      <a:pt x="31" y="0"/>
                      <a:pt x="32" y="1"/>
                    </a:cubicBezTo>
                    <a:cubicBezTo>
                      <a:pt x="32" y="2"/>
                      <a:pt x="32" y="2"/>
                      <a:pt x="31" y="2"/>
                    </a:cubicBezTo>
                    <a:cubicBezTo>
                      <a:pt x="30" y="2"/>
                      <a:pt x="23" y="3"/>
                      <a:pt x="22" y="3"/>
                    </a:cubicBezTo>
                    <a:cubicBezTo>
                      <a:pt x="21" y="3"/>
                      <a:pt x="16" y="4"/>
                      <a:pt x="15" y="4"/>
                    </a:cubicBezTo>
                    <a:cubicBezTo>
                      <a:pt x="14" y="4"/>
                      <a:pt x="13" y="5"/>
                      <a:pt x="12" y="6"/>
                    </a:cubicBezTo>
                    <a:cubicBezTo>
                      <a:pt x="11" y="6"/>
                      <a:pt x="11" y="7"/>
                      <a:pt x="10" y="7"/>
                    </a:cubicBezTo>
                    <a:cubicBezTo>
                      <a:pt x="9" y="7"/>
                      <a:pt x="1" y="9"/>
                      <a:pt x="1" y="10"/>
                    </a:cubicBezTo>
                    <a:cubicBezTo>
                      <a:pt x="1" y="11"/>
                      <a:pt x="0" y="13"/>
                      <a:pt x="1" y="13"/>
                    </a:cubicBezTo>
                    <a:cubicBezTo>
                      <a:pt x="3" y="13"/>
                      <a:pt x="5" y="14"/>
                      <a:pt x="3" y="15"/>
                    </a:cubicBezTo>
                    <a:cubicBezTo>
                      <a:pt x="1" y="16"/>
                      <a:pt x="2" y="16"/>
                      <a:pt x="1" y="17"/>
                    </a:cubicBezTo>
                    <a:cubicBezTo>
                      <a:pt x="1" y="17"/>
                      <a:pt x="0" y="19"/>
                      <a:pt x="1" y="19"/>
                    </a:cubicBezTo>
                    <a:cubicBezTo>
                      <a:pt x="2" y="19"/>
                      <a:pt x="9" y="18"/>
                      <a:pt x="6" y="19"/>
                    </a:cubicBezTo>
                    <a:cubicBezTo>
                      <a:pt x="2" y="20"/>
                      <a:pt x="2" y="20"/>
                      <a:pt x="2" y="22"/>
                    </a:cubicBezTo>
                    <a:cubicBezTo>
                      <a:pt x="2" y="24"/>
                      <a:pt x="3" y="23"/>
                      <a:pt x="3" y="24"/>
                    </a:cubicBezTo>
                    <a:cubicBezTo>
                      <a:pt x="4" y="25"/>
                      <a:pt x="6" y="27"/>
                      <a:pt x="8" y="28"/>
                    </a:cubicBezTo>
                    <a:cubicBezTo>
                      <a:pt x="10" y="29"/>
                      <a:pt x="12" y="30"/>
                      <a:pt x="14" y="29"/>
                    </a:cubicBezTo>
                    <a:cubicBezTo>
                      <a:pt x="15" y="28"/>
                      <a:pt x="18" y="26"/>
                      <a:pt x="17" y="29"/>
                    </a:cubicBezTo>
                    <a:cubicBezTo>
                      <a:pt x="16" y="32"/>
                      <a:pt x="15" y="35"/>
                      <a:pt x="14" y="36"/>
                    </a:cubicBezTo>
                    <a:cubicBezTo>
                      <a:pt x="14" y="37"/>
                      <a:pt x="14" y="37"/>
                      <a:pt x="14" y="38"/>
                    </a:cubicBezTo>
                    <a:cubicBezTo>
                      <a:pt x="17" y="37"/>
                      <a:pt x="17" y="37"/>
                      <a:pt x="17" y="37"/>
                    </a:cubicBezTo>
                    <a:cubicBezTo>
                      <a:pt x="17" y="37"/>
                      <a:pt x="18" y="36"/>
                      <a:pt x="18" y="3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19" name="Freeform 1031">
                <a:extLst>
                  <a:ext uri="{FF2B5EF4-FFF2-40B4-BE49-F238E27FC236}">
                    <a16:creationId xmlns:a16="http://schemas.microsoft.com/office/drawing/2014/main" id="{2892D547-2463-49C9-82CF-6567054F5F1B}"/>
                  </a:ext>
                </a:extLst>
              </p:cNvPr>
              <p:cNvSpPr>
                <a:spLocks/>
              </p:cNvSpPr>
              <p:nvPr/>
            </p:nvSpPr>
            <p:spPr bwMode="auto">
              <a:xfrm>
                <a:off x="3849" y="1580"/>
                <a:ext cx="118" cy="48"/>
              </a:xfrm>
              <a:custGeom>
                <a:avLst/>
                <a:gdLst>
                  <a:gd name="T0" fmla="*/ 1 w 85"/>
                  <a:gd name="T1" fmla="*/ 19 h 35"/>
                  <a:gd name="T2" fmla="*/ 1 w 85"/>
                  <a:gd name="T3" fmla="*/ 24 h 35"/>
                  <a:gd name="T4" fmla="*/ 3 w 85"/>
                  <a:gd name="T5" fmla="*/ 27 h 35"/>
                  <a:gd name="T6" fmla="*/ 3 w 85"/>
                  <a:gd name="T7" fmla="*/ 28 h 35"/>
                  <a:gd name="T8" fmla="*/ 5 w 85"/>
                  <a:gd name="T9" fmla="*/ 30 h 35"/>
                  <a:gd name="T10" fmla="*/ 8 w 85"/>
                  <a:gd name="T11" fmla="*/ 31 h 35"/>
                  <a:gd name="T12" fmla="*/ 14 w 85"/>
                  <a:gd name="T13" fmla="*/ 35 h 35"/>
                  <a:gd name="T14" fmla="*/ 26 w 85"/>
                  <a:gd name="T15" fmla="*/ 34 h 35"/>
                  <a:gd name="T16" fmla="*/ 29 w 85"/>
                  <a:gd name="T17" fmla="*/ 33 h 35"/>
                  <a:gd name="T18" fmla="*/ 29 w 85"/>
                  <a:gd name="T19" fmla="*/ 30 h 35"/>
                  <a:gd name="T20" fmla="*/ 39 w 85"/>
                  <a:gd name="T21" fmla="*/ 26 h 35"/>
                  <a:gd name="T22" fmla="*/ 44 w 85"/>
                  <a:gd name="T23" fmla="*/ 27 h 35"/>
                  <a:gd name="T24" fmla="*/ 48 w 85"/>
                  <a:gd name="T25" fmla="*/ 26 h 35"/>
                  <a:gd name="T26" fmla="*/ 53 w 85"/>
                  <a:gd name="T27" fmla="*/ 21 h 35"/>
                  <a:gd name="T28" fmla="*/ 58 w 85"/>
                  <a:gd name="T29" fmla="*/ 19 h 35"/>
                  <a:gd name="T30" fmla="*/ 68 w 85"/>
                  <a:gd name="T31" fmla="*/ 20 h 35"/>
                  <a:gd name="T32" fmla="*/ 75 w 85"/>
                  <a:gd name="T33" fmla="*/ 23 h 35"/>
                  <a:gd name="T34" fmla="*/ 79 w 85"/>
                  <a:gd name="T35" fmla="*/ 21 h 35"/>
                  <a:gd name="T36" fmla="*/ 84 w 85"/>
                  <a:gd name="T37" fmla="*/ 10 h 35"/>
                  <a:gd name="T38" fmla="*/ 81 w 85"/>
                  <a:gd name="T39" fmla="*/ 8 h 35"/>
                  <a:gd name="T40" fmla="*/ 73 w 85"/>
                  <a:gd name="T41" fmla="*/ 4 h 35"/>
                  <a:gd name="T42" fmla="*/ 67 w 85"/>
                  <a:gd name="T43" fmla="*/ 3 h 35"/>
                  <a:gd name="T44" fmla="*/ 60 w 85"/>
                  <a:gd name="T45" fmla="*/ 5 h 35"/>
                  <a:gd name="T46" fmla="*/ 52 w 85"/>
                  <a:gd name="T47" fmla="*/ 4 h 35"/>
                  <a:gd name="T48" fmla="*/ 44 w 85"/>
                  <a:gd name="T49" fmla="*/ 7 h 35"/>
                  <a:gd name="T50" fmla="*/ 43 w 85"/>
                  <a:gd name="T51" fmla="*/ 6 h 35"/>
                  <a:gd name="T52" fmla="*/ 43 w 85"/>
                  <a:gd name="T53" fmla="*/ 3 h 35"/>
                  <a:gd name="T54" fmla="*/ 40 w 85"/>
                  <a:gd name="T55" fmla="*/ 1 h 35"/>
                  <a:gd name="T56" fmla="*/ 39 w 85"/>
                  <a:gd name="T57" fmla="*/ 0 h 35"/>
                  <a:gd name="T58" fmla="*/ 33 w 85"/>
                  <a:gd name="T59" fmla="*/ 3 h 35"/>
                  <a:gd name="T60" fmla="*/ 29 w 85"/>
                  <a:gd name="T61" fmla="*/ 1 h 35"/>
                  <a:gd name="T62" fmla="*/ 21 w 85"/>
                  <a:gd name="T63" fmla="*/ 5 h 35"/>
                  <a:gd name="T64" fmla="*/ 18 w 85"/>
                  <a:gd name="T65" fmla="*/ 10 h 35"/>
                  <a:gd name="T66" fmla="*/ 12 w 85"/>
                  <a:gd name="T67" fmla="*/ 14 h 35"/>
                  <a:gd name="T68" fmla="*/ 7 w 85"/>
                  <a:gd name="T69" fmla="*/ 14 h 35"/>
                  <a:gd name="T70" fmla="*/ 2 w 85"/>
                  <a:gd name="T71" fmla="*/ 1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5" h="35">
                    <a:moveTo>
                      <a:pt x="1" y="18"/>
                    </a:moveTo>
                    <a:cubicBezTo>
                      <a:pt x="1" y="18"/>
                      <a:pt x="1" y="19"/>
                      <a:pt x="1" y="19"/>
                    </a:cubicBezTo>
                    <a:cubicBezTo>
                      <a:pt x="2" y="19"/>
                      <a:pt x="1" y="20"/>
                      <a:pt x="0" y="22"/>
                    </a:cubicBezTo>
                    <a:cubicBezTo>
                      <a:pt x="0" y="23"/>
                      <a:pt x="1" y="24"/>
                      <a:pt x="1" y="24"/>
                    </a:cubicBezTo>
                    <a:cubicBezTo>
                      <a:pt x="2" y="25"/>
                      <a:pt x="1" y="26"/>
                      <a:pt x="2" y="26"/>
                    </a:cubicBezTo>
                    <a:cubicBezTo>
                      <a:pt x="2" y="27"/>
                      <a:pt x="2" y="27"/>
                      <a:pt x="3" y="27"/>
                    </a:cubicBezTo>
                    <a:cubicBezTo>
                      <a:pt x="3" y="27"/>
                      <a:pt x="3" y="27"/>
                      <a:pt x="3" y="28"/>
                    </a:cubicBezTo>
                    <a:cubicBezTo>
                      <a:pt x="3" y="28"/>
                      <a:pt x="3" y="28"/>
                      <a:pt x="3" y="28"/>
                    </a:cubicBezTo>
                    <a:cubicBezTo>
                      <a:pt x="4" y="30"/>
                      <a:pt x="4" y="30"/>
                      <a:pt x="4" y="30"/>
                    </a:cubicBezTo>
                    <a:cubicBezTo>
                      <a:pt x="5" y="30"/>
                      <a:pt x="5" y="30"/>
                      <a:pt x="5" y="30"/>
                    </a:cubicBezTo>
                    <a:cubicBezTo>
                      <a:pt x="5" y="30"/>
                      <a:pt x="6" y="29"/>
                      <a:pt x="6" y="30"/>
                    </a:cubicBezTo>
                    <a:cubicBezTo>
                      <a:pt x="7" y="30"/>
                      <a:pt x="8" y="30"/>
                      <a:pt x="8" y="31"/>
                    </a:cubicBezTo>
                    <a:cubicBezTo>
                      <a:pt x="9" y="31"/>
                      <a:pt x="12" y="34"/>
                      <a:pt x="12" y="34"/>
                    </a:cubicBezTo>
                    <a:cubicBezTo>
                      <a:pt x="12" y="34"/>
                      <a:pt x="13" y="35"/>
                      <a:pt x="14" y="35"/>
                    </a:cubicBezTo>
                    <a:cubicBezTo>
                      <a:pt x="15" y="35"/>
                      <a:pt x="21" y="35"/>
                      <a:pt x="22" y="35"/>
                    </a:cubicBezTo>
                    <a:cubicBezTo>
                      <a:pt x="23" y="35"/>
                      <a:pt x="25" y="34"/>
                      <a:pt x="26" y="34"/>
                    </a:cubicBezTo>
                    <a:cubicBezTo>
                      <a:pt x="27" y="34"/>
                      <a:pt x="28" y="34"/>
                      <a:pt x="28" y="34"/>
                    </a:cubicBezTo>
                    <a:cubicBezTo>
                      <a:pt x="29" y="33"/>
                      <a:pt x="30" y="34"/>
                      <a:pt x="29" y="33"/>
                    </a:cubicBezTo>
                    <a:cubicBezTo>
                      <a:pt x="29" y="32"/>
                      <a:pt x="29" y="31"/>
                      <a:pt x="29" y="31"/>
                    </a:cubicBezTo>
                    <a:cubicBezTo>
                      <a:pt x="29" y="31"/>
                      <a:pt x="28" y="31"/>
                      <a:pt x="29" y="30"/>
                    </a:cubicBezTo>
                    <a:cubicBezTo>
                      <a:pt x="30" y="30"/>
                      <a:pt x="31" y="29"/>
                      <a:pt x="31" y="29"/>
                    </a:cubicBezTo>
                    <a:cubicBezTo>
                      <a:pt x="32" y="29"/>
                      <a:pt x="39" y="26"/>
                      <a:pt x="39" y="26"/>
                    </a:cubicBezTo>
                    <a:cubicBezTo>
                      <a:pt x="39" y="26"/>
                      <a:pt x="40" y="26"/>
                      <a:pt x="41" y="26"/>
                    </a:cubicBezTo>
                    <a:cubicBezTo>
                      <a:pt x="41" y="26"/>
                      <a:pt x="44" y="27"/>
                      <a:pt x="44" y="27"/>
                    </a:cubicBezTo>
                    <a:cubicBezTo>
                      <a:pt x="44" y="27"/>
                      <a:pt x="45" y="27"/>
                      <a:pt x="46" y="27"/>
                    </a:cubicBezTo>
                    <a:cubicBezTo>
                      <a:pt x="46" y="27"/>
                      <a:pt x="47" y="27"/>
                      <a:pt x="48" y="26"/>
                    </a:cubicBezTo>
                    <a:cubicBezTo>
                      <a:pt x="49" y="25"/>
                      <a:pt x="52" y="23"/>
                      <a:pt x="52" y="22"/>
                    </a:cubicBezTo>
                    <a:cubicBezTo>
                      <a:pt x="53" y="22"/>
                      <a:pt x="53" y="22"/>
                      <a:pt x="53" y="21"/>
                    </a:cubicBezTo>
                    <a:cubicBezTo>
                      <a:pt x="54" y="21"/>
                      <a:pt x="54" y="21"/>
                      <a:pt x="54" y="21"/>
                    </a:cubicBezTo>
                    <a:cubicBezTo>
                      <a:pt x="55" y="20"/>
                      <a:pt x="58" y="19"/>
                      <a:pt x="58" y="19"/>
                    </a:cubicBezTo>
                    <a:cubicBezTo>
                      <a:pt x="58" y="19"/>
                      <a:pt x="59" y="19"/>
                      <a:pt x="59" y="19"/>
                    </a:cubicBezTo>
                    <a:cubicBezTo>
                      <a:pt x="60" y="19"/>
                      <a:pt x="68" y="20"/>
                      <a:pt x="68" y="20"/>
                    </a:cubicBezTo>
                    <a:cubicBezTo>
                      <a:pt x="68" y="20"/>
                      <a:pt x="69" y="20"/>
                      <a:pt x="69" y="20"/>
                    </a:cubicBezTo>
                    <a:cubicBezTo>
                      <a:pt x="70" y="21"/>
                      <a:pt x="71" y="24"/>
                      <a:pt x="75" y="23"/>
                    </a:cubicBezTo>
                    <a:cubicBezTo>
                      <a:pt x="76" y="23"/>
                      <a:pt x="78" y="22"/>
                      <a:pt x="79" y="22"/>
                    </a:cubicBezTo>
                    <a:cubicBezTo>
                      <a:pt x="79" y="22"/>
                      <a:pt x="79" y="21"/>
                      <a:pt x="79" y="21"/>
                    </a:cubicBezTo>
                    <a:cubicBezTo>
                      <a:pt x="79" y="20"/>
                      <a:pt x="79" y="19"/>
                      <a:pt x="79" y="19"/>
                    </a:cubicBezTo>
                    <a:cubicBezTo>
                      <a:pt x="79" y="19"/>
                      <a:pt x="84" y="10"/>
                      <a:pt x="84" y="10"/>
                    </a:cubicBezTo>
                    <a:cubicBezTo>
                      <a:pt x="84" y="10"/>
                      <a:pt x="84" y="10"/>
                      <a:pt x="85" y="10"/>
                    </a:cubicBezTo>
                    <a:cubicBezTo>
                      <a:pt x="83" y="9"/>
                      <a:pt x="81" y="8"/>
                      <a:pt x="81" y="8"/>
                    </a:cubicBezTo>
                    <a:cubicBezTo>
                      <a:pt x="80" y="8"/>
                      <a:pt x="78" y="7"/>
                      <a:pt x="77" y="6"/>
                    </a:cubicBezTo>
                    <a:cubicBezTo>
                      <a:pt x="76" y="6"/>
                      <a:pt x="73" y="4"/>
                      <a:pt x="73" y="4"/>
                    </a:cubicBezTo>
                    <a:cubicBezTo>
                      <a:pt x="72" y="4"/>
                      <a:pt x="69" y="3"/>
                      <a:pt x="68" y="3"/>
                    </a:cubicBezTo>
                    <a:cubicBezTo>
                      <a:pt x="68" y="3"/>
                      <a:pt x="68" y="2"/>
                      <a:pt x="67" y="3"/>
                    </a:cubicBezTo>
                    <a:cubicBezTo>
                      <a:pt x="67" y="3"/>
                      <a:pt x="62" y="5"/>
                      <a:pt x="62" y="5"/>
                    </a:cubicBezTo>
                    <a:cubicBezTo>
                      <a:pt x="62" y="5"/>
                      <a:pt x="61" y="5"/>
                      <a:pt x="60" y="5"/>
                    </a:cubicBezTo>
                    <a:cubicBezTo>
                      <a:pt x="53" y="4"/>
                      <a:pt x="53" y="4"/>
                      <a:pt x="53" y="4"/>
                    </a:cubicBezTo>
                    <a:cubicBezTo>
                      <a:pt x="53" y="4"/>
                      <a:pt x="53" y="3"/>
                      <a:pt x="52" y="4"/>
                    </a:cubicBezTo>
                    <a:cubicBezTo>
                      <a:pt x="52" y="4"/>
                      <a:pt x="47" y="6"/>
                      <a:pt x="46" y="6"/>
                    </a:cubicBezTo>
                    <a:cubicBezTo>
                      <a:pt x="46" y="7"/>
                      <a:pt x="45" y="7"/>
                      <a:pt x="44" y="7"/>
                    </a:cubicBezTo>
                    <a:cubicBezTo>
                      <a:pt x="44" y="7"/>
                      <a:pt x="43" y="7"/>
                      <a:pt x="43" y="7"/>
                    </a:cubicBezTo>
                    <a:cubicBezTo>
                      <a:pt x="43" y="7"/>
                      <a:pt x="43" y="7"/>
                      <a:pt x="43" y="6"/>
                    </a:cubicBezTo>
                    <a:cubicBezTo>
                      <a:pt x="43" y="5"/>
                      <a:pt x="43" y="4"/>
                      <a:pt x="43" y="4"/>
                    </a:cubicBezTo>
                    <a:cubicBezTo>
                      <a:pt x="43" y="4"/>
                      <a:pt x="43" y="3"/>
                      <a:pt x="43" y="3"/>
                    </a:cubicBezTo>
                    <a:cubicBezTo>
                      <a:pt x="42" y="3"/>
                      <a:pt x="41" y="2"/>
                      <a:pt x="41" y="2"/>
                    </a:cubicBezTo>
                    <a:cubicBezTo>
                      <a:pt x="41" y="2"/>
                      <a:pt x="40" y="2"/>
                      <a:pt x="40" y="1"/>
                    </a:cubicBezTo>
                    <a:cubicBezTo>
                      <a:pt x="40" y="1"/>
                      <a:pt x="40" y="0"/>
                      <a:pt x="40" y="0"/>
                    </a:cubicBezTo>
                    <a:cubicBezTo>
                      <a:pt x="40" y="0"/>
                      <a:pt x="39" y="0"/>
                      <a:pt x="39" y="0"/>
                    </a:cubicBezTo>
                    <a:cubicBezTo>
                      <a:pt x="38" y="1"/>
                      <a:pt x="34" y="3"/>
                      <a:pt x="34" y="3"/>
                    </a:cubicBezTo>
                    <a:cubicBezTo>
                      <a:pt x="34" y="3"/>
                      <a:pt x="34" y="3"/>
                      <a:pt x="33" y="3"/>
                    </a:cubicBezTo>
                    <a:cubicBezTo>
                      <a:pt x="33" y="3"/>
                      <a:pt x="30" y="1"/>
                      <a:pt x="29" y="1"/>
                    </a:cubicBezTo>
                    <a:cubicBezTo>
                      <a:pt x="29" y="1"/>
                      <a:pt x="29" y="1"/>
                      <a:pt x="29" y="1"/>
                    </a:cubicBezTo>
                    <a:cubicBezTo>
                      <a:pt x="27" y="2"/>
                      <a:pt x="24" y="4"/>
                      <a:pt x="24" y="4"/>
                    </a:cubicBezTo>
                    <a:cubicBezTo>
                      <a:pt x="23" y="4"/>
                      <a:pt x="21" y="5"/>
                      <a:pt x="21" y="5"/>
                    </a:cubicBezTo>
                    <a:cubicBezTo>
                      <a:pt x="20" y="5"/>
                      <a:pt x="19" y="7"/>
                      <a:pt x="19" y="8"/>
                    </a:cubicBezTo>
                    <a:cubicBezTo>
                      <a:pt x="19" y="8"/>
                      <a:pt x="18" y="9"/>
                      <a:pt x="18" y="10"/>
                    </a:cubicBezTo>
                    <a:cubicBezTo>
                      <a:pt x="18" y="10"/>
                      <a:pt x="16" y="11"/>
                      <a:pt x="16" y="11"/>
                    </a:cubicBezTo>
                    <a:cubicBezTo>
                      <a:pt x="16" y="12"/>
                      <a:pt x="12" y="13"/>
                      <a:pt x="12" y="14"/>
                    </a:cubicBezTo>
                    <a:cubicBezTo>
                      <a:pt x="12" y="14"/>
                      <a:pt x="10" y="14"/>
                      <a:pt x="10" y="14"/>
                    </a:cubicBezTo>
                    <a:cubicBezTo>
                      <a:pt x="9" y="14"/>
                      <a:pt x="8" y="14"/>
                      <a:pt x="7" y="14"/>
                    </a:cubicBezTo>
                    <a:cubicBezTo>
                      <a:pt x="5" y="13"/>
                      <a:pt x="4" y="14"/>
                      <a:pt x="4" y="15"/>
                    </a:cubicBezTo>
                    <a:cubicBezTo>
                      <a:pt x="3" y="15"/>
                      <a:pt x="2" y="16"/>
                      <a:pt x="2" y="17"/>
                    </a:cubicBezTo>
                    <a:cubicBezTo>
                      <a:pt x="2" y="17"/>
                      <a:pt x="2" y="18"/>
                      <a:pt x="1" y="1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20" name="Freeform 1032">
                <a:extLst>
                  <a:ext uri="{FF2B5EF4-FFF2-40B4-BE49-F238E27FC236}">
                    <a16:creationId xmlns:a16="http://schemas.microsoft.com/office/drawing/2014/main" id="{16414907-D884-44FA-A190-00C060E9CC2E}"/>
                  </a:ext>
                </a:extLst>
              </p:cNvPr>
              <p:cNvSpPr>
                <a:spLocks/>
              </p:cNvSpPr>
              <p:nvPr/>
            </p:nvSpPr>
            <p:spPr bwMode="auto">
              <a:xfrm>
                <a:off x="3698" y="1594"/>
                <a:ext cx="157" cy="68"/>
              </a:xfrm>
              <a:custGeom>
                <a:avLst/>
                <a:gdLst>
                  <a:gd name="T0" fmla="*/ 67 w 113"/>
                  <a:gd name="T1" fmla="*/ 48 h 50"/>
                  <a:gd name="T2" fmla="*/ 72 w 113"/>
                  <a:gd name="T3" fmla="*/ 49 h 50"/>
                  <a:gd name="T4" fmla="*/ 75 w 113"/>
                  <a:gd name="T5" fmla="*/ 50 h 50"/>
                  <a:gd name="T6" fmla="*/ 80 w 113"/>
                  <a:gd name="T7" fmla="*/ 46 h 50"/>
                  <a:gd name="T8" fmla="*/ 83 w 113"/>
                  <a:gd name="T9" fmla="*/ 45 h 50"/>
                  <a:gd name="T10" fmla="*/ 90 w 113"/>
                  <a:gd name="T11" fmla="*/ 46 h 50"/>
                  <a:gd name="T12" fmla="*/ 94 w 113"/>
                  <a:gd name="T13" fmla="*/ 44 h 50"/>
                  <a:gd name="T14" fmla="*/ 96 w 113"/>
                  <a:gd name="T15" fmla="*/ 42 h 50"/>
                  <a:gd name="T16" fmla="*/ 97 w 113"/>
                  <a:gd name="T17" fmla="*/ 41 h 50"/>
                  <a:gd name="T18" fmla="*/ 100 w 113"/>
                  <a:gd name="T19" fmla="*/ 39 h 50"/>
                  <a:gd name="T20" fmla="*/ 104 w 113"/>
                  <a:gd name="T21" fmla="*/ 38 h 50"/>
                  <a:gd name="T22" fmla="*/ 103 w 113"/>
                  <a:gd name="T23" fmla="*/ 32 h 50"/>
                  <a:gd name="T24" fmla="*/ 106 w 113"/>
                  <a:gd name="T25" fmla="*/ 29 h 50"/>
                  <a:gd name="T26" fmla="*/ 103 w 113"/>
                  <a:gd name="T27" fmla="*/ 26 h 50"/>
                  <a:gd name="T28" fmla="*/ 106 w 113"/>
                  <a:gd name="T29" fmla="*/ 25 h 50"/>
                  <a:gd name="T30" fmla="*/ 110 w 113"/>
                  <a:gd name="T31" fmla="*/ 26 h 50"/>
                  <a:gd name="T32" fmla="*/ 113 w 113"/>
                  <a:gd name="T33" fmla="*/ 21 h 50"/>
                  <a:gd name="T34" fmla="*/ 112 w 113"/>
                  <a:gd name="T35" fmla="*/ 18 h 50"/>
                  <a:gd name="T36" fmla="*/ 110 w 113"/>
                  <a:gd name="T37" fmla="*/ 14 h 50"/>
                  <a:gd name="T38" fmla="*/ 110 w 113"/>
                  <a:gd name="T39" fmla="*/ 8 h 50"/>
                  <a:gd name="T40" fmla="*/ 100 w 113"/>
                  <a:gd name="T41" fmla="*/ 6 h 50"/>
                  <a:gd name="T42" fmla="*/ 90 w 113"/>
                  <a:gd name="T43" fmla="*/ 3 h 50"/>
                  <a:gd name="T44" fmla="*/ 82 w 113"/>
                  <a:gd name="T45" fmla="*/ 1 h 50"/>
                  <a:gd name="T46" fmla="*/ 77 w 113"/>
                  <a:gd name="T47" fmla="*/ 9 h 50"/>
                  <a:gd name="T48" fmla="*/ 66 w 113"/>
                  <a:gd name="T49" fmla="*/ 6 h 50"/>
                  <a:gd name="T50" fmla="*/ 63 w 113"/>
                  <a:gd name="T51" fmla="*/ 9 h 50"/>
                  <a:gd name="T52" fmla="*/ 58 w 113"/>
                  <a:gd name="T53" fmla="*/ 12 h 50"/>
                  <a:gd name="T54" fmla="*/ 48 w 113"/>
                  <a:gd name="T55" fmla="*/ 17 h 50"/>
                  <a:gd name="T56" fmla="*/ 50 w 113"/>
                  <a:gd name="T57" fmla="*/ 21 h 50"/>
                  <a:gd name="T58" fmla="*/ 50 w 113"/>
                  <a:gd name="T59" fmla="*/ 25 h 50"/>
                  <a:gd name="T60" fmla="*/ 52 w 113"/>
                  <a:gd name="T61" fmla="*/ 28 h 50"/>
                  <a:gd name="T62" fmla="*/ 48 w 113"/>
                  <a:gd name="T63" fmla="*/ 26 h 50"/>
                  <a:gd name="T64" fmla="*/ 45 w 113"/>
                  <a:gd name="T65" fmla="*/ 27 h 50"/>
                  <a:gd name="T66" fmla="*/ 39 w 113"/>
                  <a:gd name="T67" fmla="*/ 27 h 50"/>
                  <a:gd name="T68" fmla="*/ 31 w 113"/>
                  <a:gd name="T69" fmla="*/ 28 h 50"/>
                  <a:gd name="T70" fmla="*/ 27 w 113"/>
                  <a:gd name="T71" fmla="*/ 30 h 50"/>
                  <a:gd name="T72" fmla="*/ 21 w 113"/>
                  <a:gd name="T73" fmla="*/ 29 h 50"/>
                  <a:gd name="T74" fmla="*/ 14 w 113"/>
                  <a:gd name="T75" fmla="*/ 28 h 50"/>
                  <a:gd name="T76" fmla="*/ 10 w 113"/>
                  <a:gd name="T77" fmla="*/ 32 h 50"/>
                  <a:gd name="T78" fmla="*/ 1 w 113"/>
                  <a:gd name="T79" fmla="*/ 29 h 50"/>
                  <a:gd name="T80" fmla="*/ 1 w 113"/>
                  <a:gd name="T81" fmla="*/ 32 h 50"/>
                  <a:gd name="T82" fmla="*/ 1 w 113"/>
                  <a:gd name="T83" fmla="*/ 36 h 50"/>
                  <a:gd name="T84" fmla="*/ 8 w 113"/>
                  <a:gd name="T85" fmla="*/ 41 h 50"/>
                  <a:gd name="T86" fmla="*/ 13 w 113"/>
                  <a:gd name="T87" fmla="*/ 40 h 50"/>
                  <a:gd name="T88" fmla="*/ 20 w 113"/>
                  <a:gd name="T89" fmla="*/ 42 h 50"/>
                  <a:gd name="T90" fmla="*/ 25 w 113"/>
                  <a:gd name="T91" fmla="*/ 39 h 50"/>
                  <a:gd name="T92" fmla="*/ 40 w 113"/>
                  <a:gd name="T93" fmla="*/ 38 h 50"/>
                  <a:gd name="T94" fmla="*/ 45 w 113"/>
                  <a:gd name="T95" fmla="*/ 45 h 50"/>
                  <a:gd name="T96" fmla="*/ 60 w 113"/>
                  <a:gd name="T97" fmla="*/ 4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3" h="50">
                    <a:moveTo>
                      <a:pt x="62" y="48"/>
                    </a:moveTo>
                    <a:cubicBezTo>
                      <a:pt x="63" y="48"/>
                      <a:pt x="63" y="48"/>
                      <a:pt x="63" y="48"/>
                    </a:cubicBezTo>
                    <a:cubicBezTo>
                      <a:pt x="64" y="48"/>
                      <a:pt x="67" y="49"/>
                      <a:pt x="67" y="48"/>
                    </a:cubicBezTo>
                    <a:cubicBezTo>
                      <a:pt x="68" y="48"/>
                      <a:pt x="68" y="49"/>
                      <a:pt x="68" y="49"/>
                    </a:cubicBezTo>
                    <a:cubicBezTo>
                      <a:pt x="68" y="49"/>
                      <a:pt x="69" y="49"/>
                      <a:pt x="69" y="49"/>
                    </a:cubicBezTo>
                    <a:cubicBezTo>
                      <a:pt x="69" y="49"/>
                      <a:pt x="72" y="49"/>
                      <a:pt x="72" y="49"/>
                    </a:cubicBezTo>
                    <a:cubicBezTo>
                      <a:pt x="73" y="49"/>
                      <a:pt x="73" y="49"/>
                      <a:pt x="73" y="49"/>
                    </a:cubicBezTo>
                    <a:cubicBezTo>
                      <a:pt x="73" y="50"/>
                      <a:pt x="74" y="50"/>
                      <a:pt x="74" y="50"/>
                    </a:cubicBezTo>
                    <a:cubicBezTo>
                      <a:pt x="75" y="50"/>
                      <a:pt x="75" y="50"/>
                      <a:pt x="75" y="50"/>
                    </a:cubicBezTo>
                    <a:cubicBezTo>
                      <a:pt x="76" y="50"/>
                      <a:pt x="78" y="48"/>
                      <a:pt x="78" y="48"/>
                    </a:cubicBezTo>
                    <a:cubicBezTo>
                      <a:pt x="79" y="48"/>
                      <a:pt x="79" y="48"/>
                      <a:pt x="79" y="47"/>
                    </a:cubicBezTo>
                    <a:cubicBezTo>
                      <a:pt x="79" y="47"/>
                      <a:pt x="79" y="46"/>
                      <a:pt x="80" y="46"/>
                    </a:cubicBezTo>
                    <a:cubicBezTo>
                      <a:pt x="80" y="46"/>
                      <a:pt x="81" y="46"/>
                      <a:pt x="81" y="46"/>
                    </a:cubicBezTo>
                    <a:cubicBezTo>
                      <a:pt x="81" y="46"/>
                      <a:pt x="82" y="45"/>
                      <a:pt x="82" y="45"/>
                    </a:cubicBezTo>
                    <a:cubicBezTo>
                      <a:pt x="82" y="45"/>
                      <a:pt x="83" y="45"/>
                      <a:pt x="83" y="45"/>
                    </a:cubicBezTo>
                    <a:cubicBezTo>
                      <a:pt x="84" y="45"/>
                      <a:pt x="87" y="45"/>
                      <a:pt x="87" y="45"/>
                    </a:cubicBezTo>
                    <a:cubicBezTo>
                      <a:pt x="87" y="45"/>
                      <a:pt x="88" y="45"/>
                      <a:pt x="88" y="45"/>
                    </a:cubicBezTo>
                    <a:cubicBezTo>
                      <a:pt x="88" y="46"/>
                      <a:pt x="89" y="46"/>
                      <a:pt x="90" y="46"/>
                    </a:cubicBezTo>
                    <a:cubicBezTo>
                      <a:pt x="90" y="45"/>
                      <a:pt x="91" y="45"/>
                      <a:pt x="91" y="45"/>
                    </a:cubicBezTo>
                    <a:cubicBezTo>
                      <a:pt x="91" y="44"/>
                      <a:pt x="91" y="44"/>
                      <a:pt x="92" y="44"/>
                    </a:cubicBezTo>
                    <a:cubicBezTo>
                      <a:pt x="92" y="44"/>
                      <a:pt x="93" y="44"/>
                      <a:pt x="94" y="44"/>
                    </a:cubicBezTo>
                    <a:cubicBezTo>
                      <a:pt x="94" y="44"/>
                      <a:pt x="96" y="45"/>
                      <a:pt x="96" y="45"/>
                    </a:cubicBezTo>
                    <a:cubicBezTo>
                      <a:pt x="96" y="45"/>
                      <a:pt x="97" y="45"/>
                      <a:pt x="97" y="44"/>
                    </a:cubicBezTo>
                    <a:cubicBezTo>
                      <a:pt x="96" y="44"/>
                      <a:pt x="96" y="43"/>
                      <a:pt x="96" y="42"/>
                    </a:cubicBezTo>
                    <a:cubicBezTo>
                      <a:pt x="96" y="42"/>
                      <a:pt x="97" y="42"/>
                      <a:pt x="97" y="42"/>
                    </a:cubicBezTo>
                    <a:cubicBezTo>
                      <a:pt x="97" y="42"/>
                      <a:pt x="97" y="41"/>
                      <a:pt x="98" y="41"/>
                    </a:cubicBezTo>
                    <a:cubicBezTo>
                      <a:pt x="97" y="41"/>
                      <a:pt x="97" y="41"/>
                      <a:pt x="97" y="41"/>
                    </a:cubicBezTo>
                    <a:cubicBezTo>
                      <a:pt x="97" y="41"/>
                      <a:pt x="97" y="41"/>
                      <a:pt x="98" y="41"/>
                    </a:cubicBezTo>
                    <a:cubicBezTo>
                      <a:pt x="98" y="41"/>
                      <a:pt x="98" y="41"/>
                      <a:pt x="99" y="40"/>
                    </a:cubicBezTo>
                    <a:cubicBezTo>
                      <a:pt x="99" y="40"/>
                      <a:pt x="100" y="39"/>
                      <a:pt x="100" y="39"/>
                    </a:cubicBezTo>
                    <a:cubicBezTo>
                      <a:pt x="100" y="39"/>
                      <a:pt x="101" y="38"/>
                      <a:pt x="101" y="38"/>
                    </a:cubicBezTo>
                    <a:cubicBezTo>
                      <a:pt x="101" y="38"/>
                      <a:pt x="103" y="39"/>
                      <a:pt x="103" y="39"/>
                    </a:cubicBezTo>
                    <a:cubicBezTo>
                      <a:pt x="103" y="39"/>
                      <a:pt x="104" y="38"/>
                      <a:pt x="104" y="38"/>
                    </a:cubicBezTo>
                    <a:cubicBezTo>
                      <a:pt x="103" y="37"/>
                      <a:pt x="103" y="36"/>
                      <a:pt x="103" y="35"/>
                    </a:cubicBezTo>
                    <a:cubicBezTo>
                      <a:pt x="103" y="34"/>
                      <a:pt x="103" y="32"/>
                      <a:pt x="103" y="32"/>
                    </a:cubicBezTo>
                    <a:cubicBezTo>
                      <a:pt x="103" y="32"/>
                      <a:pt x="103" y="32"/>
                      <a:pt x="103" y="32"/>
                    </a:cubicBezTo>
                    <a:cubicBezTo>
                      <a:pt x="104" y="31"/>
                      <a:pt x="105" y="31"/>
                      <a:pt x="105" y="31"/>
                    </a:cubicBezTo>
                    <a:cubicBezTo>
                      <a:pt x="105" y="31"/>
                      <a:pt x="106" y="30"/>
                      <a:pt x="106" y="30"/>
                    </a:cubicBezTo>
                    <a:cubicBezTo>
                      <a:pt x="106" y="29"/>
                      <a:pt x="106" y="29"/>
                      <a:pt x="106" y="29"/>
                    </a:cubicBezTo>
                    <a:cubicBezTo>
                      <a:pt x="105" y="28"/>
                      <a:pt x="104" y="27"/>
                      <a:pt x="104" y="27"/>
                    </a:cubicBezTo>
                    <a:cubicBezTo>
                      <a:pt x="104" y="27"/>
                      <a:pt x="103" y="27"/>
                      <a:pt x="103" y="27"/>
                    </a:cubicBezTo>
                    <a:cubicBezTo>
                      <a:pt x="103" y="27"/>
                      <a:pt x="102" y="26"/>
                      <a:pt x="103" y="26"/>
                    </a:cubicBezTo>
                    <a:cubicBezTo>
                      <a:pt x="104" y="25"/>
                      <a:pt x="104" y="25"/>
                      <a:pt x="104" y="25"/>
                    </a:cubicBezTo>
                    <a:cubicBezTo>
                      <a:pt x="104" y="25"/>
                      <a:pt x="104" y="25"/>
                      <a:pt x="105" y="25"/>
                    </a:cubicBezTo>
                    <a:cubicBezTo>
                      <a:pt x="105" y="25"/>
                      <a:pt x="106" y="25"/>
                      <a:pt x="106" y="25"/>
                    </a:cubicBezTo>
                    <a:cubicBezTo>
                      <a:pt x="107" y="25"/>
                      <a:pt x="107" y="25"/>
                      <a:pt x="107" y="25"/>
                    </a:cubicBezTo>
                    <a:cubicBezTo>
                      <a:pt x="107" y="26"/>
                      <a:pt x="108" y="26"/>
                      <a:pt x="108" y="26"/>
                    </a:cubicBezTo>
                    <a:cubicBezTo>
                      <a:pt x="108" y="26"/>
                      <a:pt x="110" y="26"/>
                      <a:pt x="110" y="26"/>
                    </a:cubicBezTo>
                    <a:cubicBezTo>
                      <a:pt x="111" y="26"/>
                      <a:pt x="112" y="26"/>
                      <a:pt x="112" y="26"/>
                    </a:cubicBezTo>
                    <a:cubicBezTo>
                      <a:pt x="112" y="26"/>
                      <a:pt x="112" y="25"/>
                      <a:pt x="112" y="25"/>
                    </a:cubicBezTo>
                    <a:cubicBezTo>
                      <a:pt x="112" y="24"/>
                      <a:pt x="113" y="21"/>
                      <a:pt x="113" y="21"/>
                    </a:cubicBezTo>
                    <a:cubicBezTo>
                      <a:pt x="113" y="20"/>
                      <a:pt x="113" y="20"/>
                      <a:pt x="113" y="20"/>
                    </a:cubicBezTo>
                    <a:cubicBezTo>
                      <a:pt x="112" y="18"/>
                      <a:pt x="112" y="18"/>
                      <a:pt x="112" y="18"/>
                    </a:cubicBezTo>
                    <a:cubicBezTo>
                      <a:pt x="112" y="18"/>
                      <a:pt x="112" y="18"/>
                      <a:pt x="112" y="18"/>
                    </a:cubicBezTo>
                    <a:cubicBezTo>
                      <a:pt x="112" y="17"/>
                      <a:pt x="112" y="17"/>
                      <a:pt x="112" y="17"/>
                    </a:cubicBezTo>
                    <a:cubicBezTo>
                      <a:pt x="111" y="17"/>
                      <a:pt x="111" y="17"/>
                      <a:pt x="111" y="16"/>
                    </a:cubicBezTo>
                    <a:cubicBezTo>
                      <a:pt x="110" y="16"/>
                      <a:pt x="111" y="15"/>
                      <a:pt x="110" y="14"/>
                    </a:cubicBezTo>
                    <a:cubicBezTo>
                      <a:pt x="110" y="14"/>
                      <a:pt x="109" y="13"/>
                      <a:pt x="109" y="12"/>
                    </a:cubicBezTo>
                    <a:cubicBezTo>
                      <a:pt x="110" y="10"/>
                      <a:pt x="111" y="9"/>
                      <a:pt x="110" y="9"/>
                    </a:cubicBezTo>
                    <a:cubicBezTo>
                      <a:pt x="110" y="9"/>
                      <a:pt x="110" y="8"/>
                      <a:pt x="110" y="8"/>
                    </a:cubicBezTo>
                    <a:cubicBezTo>
                      <a:pt x="109" y="8"/>
                      <a:pt x="108" y="7"/>
                      <a:pt x="107" y="6"/>
                    </a:cubicBezTo>
                    <a:cubicBezTo>
                      <a:pt x="106" y="5"/>
                      <a:pt x="103" y="5"/>
                      <a:pt x="103" y="5"/>
                    </a:cubicBezTo>
                    <a:cubicBezTo>
                      <a:pt x="102" y="5"/>
                      <a:pt x="101" y="5"/>
                      <a:pt x="100" y="6"/>
                    </a:cubicBezTo>
                    <a:cubicBezTo>
                      <a:pt x="100" y="6"/>
                      <a:pt x="99" y="6"/>
                      <a:pt x="99" y="6"/>
                    </a:cubicBezTo>
                    <a:cubicBezTo>
                      <a:pt x="99" y="6"/>
                      <a:pt x="92" y="3"/>
                      <a:pt x="92" y="3"/>
                    </a:cubicBezTo>
                    <a:cubicBezTo>
                      <a:pt x="92" y="3"/>
                      <a:pt x="90" y="3"/>
                      <a:pt x="90" y="3"/>
                    </a:cubicBezTo>
                    <a:cubicBezTo>
                      <a:pt x="89" y="2"/>
                      <a:pt x="88" y="2"/>
                      <a:pt x="88" y="2"/>
                    </a:cubicBezTo>
                    <a:cubicBezTo>
                      <a:pt x="88" y="2"/>
                      <a:pt x="84" y="2"/>
                      <a:pt x="84" y="2"/>
                    </a:cubicBezTo>
                    <a:cubicBezTo>
                      <a:pt x="84" y="2"/>
                      <a:pt x="83" y="1"/>
                      <a:pt x="82" y="1"/>
                    </a:cubicBezTo>
                    <a:cubicBezTo>
                      <a:pt x="81" y="0"/>
                      <a:pt x="81" y="2"/>
                      <a:pt x="81" y="4"/>
                    </a:cubicBezTo>
                    <a:cubicBezTo>
                      <a:pt x="81" y="5"/>
                      <a:pt x="80" y="7"/>
                      <a:pt x="79" y="7"/>
                    </a:cubicBezTo>
                    <a:cubicBezTo>
                      <a:pt x="79" y="7"/>
                      <a:pt x="77" y="9"/>
                      <a:pt x="77" y="9"/>
                    </a:cubicBezTo>
                    <a:cubicBezTo>
                      <a:pt x="77" y="9"/>
                      <a:pt x="74" y="9"/>
                      <a:pt x="74" y="9"/>
                    </a:cubicBezTo>
                    <a:cubicBezTo>
                      <a:pt x="73" y="9"/>
                      <a:pt x="70" y="9"/>
                      <a:pt x="70" y="9"/>
                    </a:cubicBezTo>
                    <a:cubicBezTo>
                      <a:pt x="69" y="9"/>
                      <a:pt x="66" y="7"/>
                      <a:pt x="66" y="6"/>
                    </a:cubicBezTo>
                    <a:cubicBezTo>
                      <a:pt x="65" y="6"/>
                      <a:pt x="65" y="6"/>
                      <a:pt x="64" y="5"/>
                    </a:cubicBezTo>
                    <a:cubicBezTo>
                      <a:pt x="64" y="5"/>
                      <a:pt x="64" y="6"/>
                      <a:pt x="63" y="6"/>
                    </a:cubicBezTo>
                    <a:cubicBezTo>
                      <a:pt x="63" y="7"/>
                      <a:pt x="62" y="9"/>
                      <a:pt x="63" y="9"/>
                    </a:cubicBezTo>
                    <a:cubicBezTo>
                      <a:pt x="63" y="10"/>
                      <a:pt x="62" y="10"/>
                      <a:pt x="62" y="10"/>
                    </a:cubicBezTo>
                    <a:cubicBezTo>
                      <a:pt x="62" y="10"/>
                      <a:pt x="62" y="10"/>
                      <a:pt x="60" y="9"/>
                    </a:cubicBezTo>
                    <a:cubicBezTo>
                      <a:pt x="58" y="9"/>
                      <a:pt x="58" y="11"/>
                      <a:pt x="58" y="12"/>
                    </a:cubicBezTo>
                    <a:cubicBezTo>
                      <a:pt x="58" y="13"/>
                      <a:pt x="57" y="13"/>
                      <a:pt x="57" y="13"/>
                    </a:cubicBezTo>
                    <a:cubicBezTo>
                      <a:pt x="57" y="13"/>
                      <a:pt x="56" y="14"/>
                      <a:pt x="55" y="14"/>
                    </a:cubicBezTo>
                    <a:cubicBezTo>
                      <a:pt x="53" y="15"/>
                      <a:pt x="49" y="17"/>
                      <a:pt x="48" y="17"/>
                    </a:cubicBezTo>
                    <a:cubicBezTo>
                      <a:pt x="48" y="18"/>
                      <a:pt x="48" y="18"/>
                      <a:pt x="48" y="18"/>
                    </a:cubicBezTo>
                    <a:cubicBezTo>
                      <a:pt x="48" y="18"/>
                      <a:pt x="49" y="19"/>
                      <a:pt x="49" y="19"/>
                    </a:cubicBezTo>
                    <a:cubicBezTo>
                      <a:pt x="49" y="19"/>
                      <a:pt x="50" y="20"/>
                      <a:pt x="50" y="21"/>
                    </a:cubicBezTo>
                    <a:cubicBezTo>
                      <a:pt x="51" y="21"/>
                      <a:pt x="51" y="22"/>
                      <a:pt x="51" y="22"/>
                    </a:cubicBezTo>
                    <a:cubicBezTo>
                      <a:pt x="52" y="23"/>
                      <a:pt x="51" y="23"/>
                      <a:pt x="51" y="23"/>
                    </a:cubicBezTo>
                    <a:cubicBezTo>
                      <a:pt x="51" y="23"/>
                      <a:pt x="51" y="24"/>
                      <a:pt x="50" y="25"/>
                    </a:cubicBezTo>
                    <a:cubicBezTo>
                      <a:pt x="50" y="25"/>
                      <a:pt x="51" y="25"/>
                      <a:pt x="52" y="25"/>
                    </a:cubicBezTo>
                    <a:cubicBezTo>
                      <a:pt x="52" y="25"/>
                      <a:pt x="52" y="26"/>
                      <a:pt x="52" y="26"/>
                    </a:cubicBezTo>
                    <a:cubicBezTo>
                      <a:pt x="52" y="26"/>
                      <a:pt x="52" y="27"/>
                      <a:pt x="52" y="28"/>
                    </a:cubicBezTo>
                    <a:cubicBezTo>
                      <a:pt x="52" y="28"/>
                      <a:pt x="52" y="29"/>
                      <a:pt x="52" y="29"/>
                    </a:cubicBezTo>
                    <a:cubicBezTo>
                      <a:pt x="52" y="30"/>
                      <a:pt x="51" y="30"/>
                      <a:pt x="51" y="30"/>
                    </a:cubicBezTo>
                    <a:cubicBezTo>
                      <a:pt x="51" y="30"/>
                      <a:pt x="48" y="27"/>
                      <a:pt x="48" y="26"/>
                    </a:cubicBezTo>
                    <a:cubicBezTo>
                      <a:pt x="47" y="26"/>
                      <a:pt x="47" y="26"/>
                      <a:pt x="47" y="26"/>
                    </a:cubicBezTo>
                    <a:cubicBezTo>
                      <a:pt x="47" y="26"/>
                      <a:pt x="46" y="26"/>
                      <a:pt x="46" y="27"/>
                    </a:cubicBezTo>
                    <a:cubicBezTo>
                      <a:pt x="45" y="27"/>
                      <a:pt x="45" y="27"/>
                      <a:pt x="45" y="27"/>
                    </a:cubicBezTo>
                    <a:cubicBezTo>
                      <a:pt x="45" y="27"/>
                      <a:pt x="43" y="26"/>
                      <a:pt x="42" y="26"/>
                    </a:cubicBezTo>
                    <a:cubicBezTo>
                      <a:pt x="42" y="26"/>
                      <a:pt x="41" y="26"/>
                      <a:pt x="41" y="26"/>
                    </a:cubicBezTo>
                    <a:cubicBezTo>
                      <a:pt x="41" y="26"/>
                      <a:pt x="40" y="26"/>
                      <a:pt x="39" y="27"/>
                    </a:cubicBezTo>
                    <a:cubicBezTo>
                      <a:pt x="38" y="27"/>
                      <a:pt x="36" y="27"/>
                      <a:pt x="36" y="27"/>
                    </a:cubicBezTo>
                    <a:cubicBezTo>
                      <a:pt x="35" y="28"/>
                      <a:pt x="33" y="28"/>
                      <a:pt x="32" y="28"/>
                    </a:cubicBezTo>
                    <a:cubicBezTo>
                      <a:pt x="32" y="28"/>
                      <a:pt x="31" y="28"/>
                      <a:pt x="31" y="28"/>
                    </a:cubicBezTo>
                    <a:cubicBezTo>
                      <a:pt x="30" y="28"/>
                      <a:pt x="29" y="29"/>
                      <a:pt x="29" y="29"/>
                    </a:cubicBezTo>
                    <a:cubicBezTo>
                      <a:pt x="28" y="29"/>
                      <a:pt x="28" y="29"/>
                      <a:pt x="28" y="30"/>
                    </a:cubicBezTo>
                    <a:cubicBezTo>
                      <a:pt x="28" y="30"/>
                      <a:pt x="27" y="30"/>
                      <a:pt x="27" y="30"/>
                    </a:cubicBezTo>
                    <a:cubicBezTo>
                      <a:pt x="27" y="30"/>
                      <a:pt x="23" y="31"/>
                      <a:pt x="22" y="31"/>
                    </a:cubicBezTo>
                    <a:cubicBezTo>
                      <a:pt x="21" y="32"/>
                      <a:pt x="21" y="31"/>
                      <a:pt x="21" y="31"/>
                    </a:cubicBezTo>
                    <a:cubicBezTo>
                      <a:pt x="21" y="31"/>
                      <a:pt x="21" y="30"/>
                      <a:pt x="21" y="29"/>
                    </a:cubicBezTo>
                    <a:cubicBezTo>
                      <a:pt x="20" y="29"/>
                      <a:pt x="20" y="29"/>
                      <a:pt x="20" y="29"/>
                    </a:cubicBezTo>
                    <a:cubicBezTo>
                      <a:pt x="20" y="29"/>
                      <a:pt x="15" y="28"/>
                      <a:pt x="15" y="28"/>
                    </a:cubicBezTo>
                    <a:cubicBezTo>
                      <a:pt x="14" y="28"/>
                      <a:pt x="14" y="28"/>
                      <a:pt x="14" y="28"/>
                    </a:cubicBezTo>
                    <a:cubicBezTo>
                      <a:pt x="14" y="30"/>
                      <a:pt x="14" y="30"/>
                      <a:pt x="14" y="30"/>
                    </a:cubicBezTo>
                    <a:cubicBezTo>
                      <a:pt x="14" y="31"/>
                      <a:pt x="11" y="33"/>
                      <a:pt x="10" y="33"/>
                    </a:cubicBezTo>
                    <a:cubicBezTo>
                      <a:pt x="9" y="34"/>
                      <a:pt x="10" y="33"/>
                      <a:pt x="10" y="32"/>
                    </a:cubicBezTo>
                    <a:cubicBezTo>
                      <a:pt x="10" y="31"/>
                      <a:pt x="7" y="29"/>
                      <a:pt x="7" y="29"/>
                    </a:cubicBezTo>
                    <a:cubicBezTo>
                      <a:pt x="7" y="29"/>
                      <a:pt x="6" y="29"/>
                      <a:pt x="6" y="29"/>
                    </a:cubicBezTo>
                    <a:cubicBezTo>
                      <a:pt x="1" y="29"/>
                      <a:pt x="1" y="29"/>
                      <a:pt x="1" y="29"/>
                    </a:cubicBezTo>
                    <a:cubicBezTo>
                      <a:pt x="1" y="29"/>
                      <a:pt x="1" y="29"/>
                      <a:pt x="1" y="30"/>
                    </a:cubicBezTo>
                    <a:cubicBezTo>
                      <a:pt x="2" y="30"/>
                      <a:pt x="2" y="30"/>
                      <a:pt x="2" y="31"/>
                    </a:cubicBezTo>
                    <a:cubicBezTo>
                      <a:pt x="2" y="32"/>
                      <a:pt x="2" y="32"/>
                      <a:pt x="1" y="32"/>
                    </a:cubicBezTo>
                    <a:cubicBezTo>
                      <a:pt x="1" y="32"/>
                      <a:pt x="0" y="33"/>
                      <a:pt x="0" y="34"/>
                    </a:cubicBezTo>
                    <a:cubicBezTo>
                      <a:pt x="0" y="34"/>
                      <a:pt x="0" y="34"/>
                      <a:pt x="0" y="34"/>
                    </a:cubicBezTo>
                    <a:cubicBezTo>
                      <a:pt x="1" y="35"/>
                      <a:pt x="1" y="35"/>
                      <a:pt x="1" y="36"/>
                    </a:cubicBezTo>
                    <a:cubicBezTo>
                      <a:pt x="1" y="36"/>
                      <a:pt x="1" y="37"/>
                      <a:pt x="1" y="38"/>
                    </a:cubicBezTo>
                    <a:cubicBezTo>
                      <a:pt x="1" y="38"/>
                      <a:pt x="2" y="38"/>
                      <a:pt x="2" y="38"/>
                    </a:cubicBezTo>
                    <a:cubicBezTo>
                      <a:pt x="2" y="38"/>
                      <a:pt x="8" y="41"/>
                      <a:pt x="8" y="41"/>
                    </a:cubicBezTo>
                    <a:cubicBezTo>
                      <a:pt x="8" y="41"/>
                      <a:pt x="9" y="42"/>
                      <a:pt x="9" y="41"/>
                    </a:cubicBezTo>
                    <a:cubicBezTo>
                      <a:pt x="10" y="41"/>
                      <a:pt x="11" y="40"/>
                      <a:pt x="11" y="40"/>
                    </a:cubicBezTo>
                    <a:cubicBezTo>
                      <a:pt x="12" y="39"/>
                      <a:pt x="13" y="38"/>
                      <a:pt x="13" y="40"/>
                    </a:cubicBezTo>
                    <a:cubicBezTo>
                      <a:pt x="14" y="41"/>
                      <a:pt x="14" y="41"/>
                      <a:pt x="14" y="41"/>
                    </a:cubicBezTo>
                    <a:cubicBezTo>
                      <a:pt x="15" y="42"/>
                      <a:pt x="15" y="42"/>
                      <a:pt x="15" y="42"/>
                    </a:cubicBezTo>
                    <a:cubicBezTo>
                      <a:pt x="16" y="42"/>
                      <a:pt x="19" y="42"/>
                      <a:pt x="20" y="42"/>
                    </a:cubicBezTo>
                    <a:cubicBezTo>
                      <a:pt x="20" y="42"/>
                      <a:pt x="22" y="43"/>
                      <a:pt x="23" y="42"/>
                    </a:cubicBezTo>
                    <a:cubicBezTo>
                      <a:pt x="24" y="40"/>
                      <a:pt x="24" y="40"/>
                      <a:pt x="24" y="40"/>
                    </a:cubicBezTo>
                    <a:cubicBezTo>
                      <a:pt x="24" y="40"/>
                      <a:pt x="24" y="39"/>
                      <a:pt x="25" y="39"/>
                    </a:cubicBezTo>
                    <a:cubicBezTo>
                      <a:pt x="26" y="39"/>
                      <a:pt x="37" y="38"/>
                      <a:pt x="38" y="37"/>
                    </a:cubicBezTo>
                    <a:cubicBezTo>
                      <a:pt x="39" y="37"/>
                      <a:pt x="39" y="37"/>
                      <a:pt x="39" y="37"/>
                    </a:cubicBezTo>
                    <a:cubicBezTo>
                      <a:pt x="40" y="37"/>
                      <a:pt x="40" y="37"/>
                      <a:pt x="40" y="38"/>
                    </a:cubicBezTo>
                    <a:cubicBezTo>
                      <a:pt x="40" y="38"/>
                      <a:pt x="39" y="39"/>
                      <a:pt x="40" y="41"/>
                    </a:cubicBezTo>
                    <a:cubicBezTo>
                      <a:pt x="40" y="42"/>
                      <a:pt x="42" y="44"/>
                      <a:pt x="43" y="44"/>
                    </a:cubicBezTo>
                    <a:cubicBezTo>
                      <a:pt x="44" y="45"/>
                      <a:pt x="44" y="45"/>
                      <a:pt x="45" y="45"/>
                    </a:cubicBezTo>
                    <a:cubicBezTo>
                      <a:pt x="46" y="45"/>
                      <a:pt x="47" y="45"/>
                      <a:pt x="47" y="45"/>
                    </a:cubicBezTo>
                    <a:cubicBezTo>
                      <a:pt x="48" y="45"/>
                      <a:pt x="50" y="46"/>
                      <a:pt x="50" y="46"/>
                    </a:cubicBezTo>
                    <a:cubicBezTo>
                      <a:pt x="51" y="46"/>
                      <a:pt x="59" y="47"/>
                      <a:pt x="60" y="47"/>
                    </a:cubicBezTo>
                    <a:cubicBezTo>
                      <a:pt x="60" y="47"/>
                      <a:pt x="61" y="48"/>
                      <a:pt x="62" y="4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21" name="Freeform 1033">
                <a:extLst>
                  <a:ext uri="{FF2B5EF4-FFF2-40B4-BE49-F238E27FC236}">
                    <a16:creationId xmlns:a16="http://schemas.microsoft.com/office/drawing/2014/main" id="{BFB7BB85-04D0-48B5-8BEE-79E1AEE84EEE}"/>
                  </a:ext>
                </a:extLst>
              </p:cNvPr>
              <p:cNvSpPr>
                <a:spLocks/>
              </p:cNvSpPr>
              <p:nvPr/>
            </p:nvSpPr>
            <p:spPr bwMode="auto">
              <a:xfrm>
                <a:off x="3794" y="1436"/>
                <a:ext cx="205" cy="159"/>
              </a:xfrm>
              <a:custGeom>
                <a:avLst/>
                <a:gdLst>
                  <a:gd name="T0" fmla="*/ 73 w 148"/>
                  <a:gd name="T1" fmla="*/ 108 h 116"/>
                  <a:gd name="T2" fmla="*/ 80 w 148"/>
                  <a:gd name="T3" fmla="*/ 105 h 116"/>
                  <a:gd name="T4" fmla="*/ 83 w 148"/>
                  <a:gd name="T5" fmla="*/ 108 h 116"/>
                  <a:gd name="T6" fmla="*/ 83 w 148"/>
                  <a:gd name="T7" fmla="*/ 112 h 116"/>
                  <a:gd name="T8" fmla="*/ 92 w 148"/>
                  <a:gd name="T9" fmla="*/ 109 h 116"/>
                  <a:gd name="T10" fmla="*/ 102 w 148"/>
                  <a:gd name="T11" fmla="*/ 110 h 116"/>
                  <a:gd name="T12" fmla="*/ 113 w 148"/>
                  <a:gd name="T13" fmla="*/ 109 h 116"/>
                  <a:gd name="T14" fmla="*/ 125 w 148"/>
                  <a:gd name="T15" fmla="*/ 115 h 116"/>
                  <a:gd name="T16" fmla="*/ 129 w 148"/>
                  <a:gd name="T17" fmla="*/ 115 h 116"/>
                  <a:gd name="T18" fmla="*/ 127 w 148"/>
                  <a:gd name="T19" fmla="*/ 104 h 116"/>
                  <a:gd name="T20" fmla="*/ 147 w 148"/>
                  <a:gd name="T21" fmla="*/ 85 h 116"/>
                  <a:gd name="T22" fmla="*/ 148 w 148"/>
                  <a:gd name="T23" fmla="*/ 79 h 116"/>
                  <a:gd name="T24" fmla="*/ 140 w 148"/>
                  <a:gd name="T25" fmla="*/ 66 h 116"/>
                  <a:gd name="T26" fmla="*/ 139 w 148"/>
                  <a:gd name="T27" fmla="*/ 55 h 116"/>
                  <a:gd name="T28" fmla="*/ 134 w 148"/>
                  <a:gd name="T29" fmla="*/ 51 h 116"/>
                  <a:gd name="T30" fmla="*/ 143 w 148"/>
                  <a:gd name="T31" fmla="*/ 31 h 116"/>
                  <a:gd name="T32" fmla="*/ 135 w 148"/>
                  <a:gd name="T33" fmla="*/ 12 h 116"/>
                  <a:gd name="T34" fmla="*/ 106 w 148"/>
                  <a:gd name="T35" fmla="*/ 10 h 116"/>
                  <a:gd name="T36" fmla="*/ 78 w 148"/>
                  <a:gd name="T37" fmla="*/ 12 h 116"/>
                  <a:gd name="T38" fmla="*/ 81 w 148"/>
                  <a:gd name="T39" fmla="*/ 8 h 116"/>
                  <a:gd name="T40" fmla="*/ 65 w 148"/>
                  <a:gd name="T41" fmla="*/ 7 h 116"/>
                  <a:gd name="T42" fmla="*/ 67 w 148"/>
                  <a:gd name="T43" fmla="*/ 2 h 116"/>
                  <a:gd name="T44" fmla="*/ 37 w 148"/>
                  <a:gd name="T45" fmla="*/ 6 h 116"/>
                  <a:gd name="T46" fmla="*/ 19 w 148"/>
                  <a:gd name="T47" fmla="*/ 14 h 116"/>
                  <a:gd name="T48" fmla="*/ 1 w 148"/>
                  <a:gd name="T49" fmla="*/ 18 h 116"/>
                  <a:gd name="T50" fmla="*/ 7 w 148"/>
                  <a:gd name="T51" fmla="*/ 21 h 116"/>
                  <a:gd name="T52" fmla="*/ 2 w 148"/>
                  <a:gd name="T53" fmla="*/ 23 h 116"/>
                  <a:gd name="T54" fmla="*/ 3 w 148"/>
                  <a:gd name="T55" fmla="*/ 35 h 116"/>
                  <a:gd name="T56" fmla="*/ 0 w 148"/>
                  <a:gd name="T57" fmla="*/ 38 h 116"/>
                  <a:gd name="T58" fmla="*/ 5 w 148"/>
                  <a:gd name="T59" fmla="*/ 44 h 116"/>
                  <a:gd name="T60" fmla="*/ 6 w 148"/>
                  <a:gd name="T61" fmla="*/ 50 h 116"/>
                  <a:gd name="T62" fmla="*/ 8 w 148"/>
                  <a:gd name="T63" fmla="*/ 53 h 116"/>
                  <a:gd name="T64" fmla="*/ 7 w 148"/>
                  <a:gd name="T65" fmla="*/ 60 h 116"/>
                  <a:gd name="T66" fmla="*/ 9 w 148"/>
                  <a:gd name="T67" fmla="*/ 66 h 116"/>
                  <a:gd name="T68" fmla="*/ 12 w 148"/>
                  <a:gd name="T69" fmla="*/ 70 h 116"/>
                  <a:gd name="T70" fmla="*/ 10 w 148"/>
                  <a:gd name="T71" fmla="*/ 80 h 116"/>
                  <a:gd name="T72" fmla="*/ 14 w 148"/>
                  <a:gd name="T73" fmla="*/ 77 h 116"/>
                  <a:gd name="T74" fmla="*/ 27 w 148"/>
                  <a:gd name="T75" fmla="*/ 83 h 116"/>
                  <a:gd name="T76" fmla="*/ 33 w 148"/>
                  <a:gd name="T77" fmla="*/ 87 h 116"/>
                  <a:gd name="T78" fmla="*/ 31 w 148"/>
                  <a:gd name="T79" fmla="*/ 90 h 116"/>
                  <a:gd name="T80" fmla="*/ 41 w 148"/>
                  <a:gd name="T81" fmla="*/ 92 h 116"/>
                  <a:gd name="T82" fmla="*/ 41 w 148"/>
                  <a:gd name="T83" fmla="*/ 89 h 116"/>
                  <a:gd name="T84" fmla="*/ 52 w 148"/>
                  <a:gd name="T85" fmla="*/ 91 h 116"/>
                  <a:gd name="T86" fmla="*/ 51 w 148"/>
                  <a:gd name="T87" fmla="*/ 94 h 116"/>
                  <a:gd name="T88" fmla="*/ 57 w 148"/>
                  <a:gd name="T89" fmla="*/ 96 h 116"/>
                  <a:gd name="T90" fmla="*/ 66 w 148"/>
                  <a:gd name="T91" fmla="*/ 10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8" h="116">
                    <a:moveTo>
                      <a:pt x="69" y="106"/>
                    </a:moveTo>
                    <a:cubicBezTo>
                      <a:pt x="69" y="106"/>
                      <a:pt x="69" y="106"/>
                      <a:pt x="69" y="106"/>
                    </a:cubicBezTo>
                    <a:cubicBezTo>
                      <a:pt x="70" y="106"/>
                      <a:pt x="73" y="108"/>
                      <a:pt x="73" y="108"/>
                    </a:cubicBezTo>
                    <a:cubicBezTo>
                      <a:pt x="74" y="108"/>
                      <a:pt x="74" y="108"/>
                      <a:pt x="74" y="108"/>
                    </a:cubicBezTo>
                    <a:cubicBezTo>
                      <a:pt x="74" y="108"/>
                      <a:pt x="78" y="106"/>
                      <a:pt x="79" y="105"/>
                    </a:cubicBezTo>
                    <a:cubicBezTo>
                      <a:pt x="79" y="105"/>
                      <a:pt x="80" y="105"/>
                      <a:pt x="80" y="105"/>
                    </a:cubicBezTo>
                    <a:cubicBezTo>
                      <a:pt x="80" y="105"/>
                      <a:pt x="80" y="106"/>
                      <a:pt x="80" y="106"/>
                    </a:cubicBezTo>
                    <a:cubicBezTo>
                      <a:pt x="80" y="107"/>
                      <a:pt x="81" y="107"/>
                      <a:pt x="81" y="107"/>
                    </a:cubicBezTo>
                    <a:cubicBezTo>
                      <a:pt x="81" y="107"/>
                      <a:pt x="82" y="108"/>
                      <a:pt x="83" y="108"/>
                    </a:cubicBezTo>
                    <a:cubicBezTo>
                      <a:pt x="83" y="108"/>
                      <a:pt x="83" y="109"/>
                      <a:pt x="83" y="109"/>
                    </a:cubicBezTo>
                    <a:cubicBezTo>
                      <a:pt x="83" y="109"/>
                      <a:pt x="83" y="110"/>
                      <a:pt x="83" y="111"/>
                    </a:cubicBezTo>
                    <a:cubicBezTo>
                      <a:pt x="83" y="112"/>
                      <a:pt x="83" y="112"/>
                      <a:pt x="83" y="112"/>
                    </a:cubicBezTo>
                    <a:cubicBezTo>
                      <a:pt x="83" y="112"/>
                      <a:pt x="84" y="112"/>
                      <a:pt x="84" y="112"/>
                    </a:cubicBezTo>
                    <a:cubicBezTo>
                      <a:pt x="85" y="112"/>
                      <a:pt x="86" y="112"/>
                      <a:pt x="86" y="111"/>
                    </a:cubicBezTo>
                    <a:cubicBezTo>
                      <a:pt x="87" y="111"/>
                      <a:pt x="92" y="109"/>
                      <a:pt x="92" y="109"/>
                    </a:cubicBezTo>
                    <a:cubicBezTo>
                      <a:pt x="93" y="108"/>
                      <a:pt x="93" y="109"/>
                      <a:pt x="93" y="109"/>
                    </a:cubicBezTo>
                    <a:cubicBezTo>
                      <a:pt x="100" y="110"/>
                      <a:pt x="100" y="110"/>
                      <a:pt x="100" y="110"/>
                    </a:cubicBezTo>
                    <a:cubicBezTo>
                      <a:pt x="101" y="110"/>
                      <a:pt x="102" y="110"/>
                      <a:pt x="102" y="110"/>
                    </a:cubicBezTo>
                    <a:cubicBezTo>
                      <a:pt x="102" y="110"/>
                      <a:pt x="107" y="108"/>
                      <a:pt x="107" y="108"/>
                    </a:cubicBezTo>
                    <a:cubicBezTo>
                      <a:pt x="108" y="107"/>
                      <a:pt x="108" y="108"/>
                      <a:pt x="108" y="108"/>
                    </a:cubicBezTo>
                    <a:cubicBezTo>
                      <a:pt x="109" y="108"/>
                      <a:pt x="112" y="109"/>
                      <a:pt x="113" y="109"/>
                    </a:cubicBezTo>
                    <a:cubicBezTo>
                      <a:pt x="113" y="109"/>
                      <a:pt x="116" y="111"/>
                      <a:pt x="117" y="111"/>
                    </a:cubicBezTo>
                    <a:cubicBezTo>
                      <a:pt x="118" y="112"/>
                      <a:pt x="120" y="113"/>
                      <a:pt x="121" y="113"/>
                    </a:cubicBezTo>
                    <a:cubicBezTo>
                      <a:pt x="121" y="113"/>
                      <a:pt x="123" y="114"/>
                      <a:pt x="125" y="115"/>
                    </a:cubicBezTo>
                    <a:cubicBezTo>
                      <a:pt x="125" y="114"/>
                      <a:pt x="125" y="115"/>
                      <a:pt x="125" y="115"/>
                    </a:cubicBezTo>
                    <a:cubicBezTo>
                      <a:pt x="125" y="115"/>
                      <a:pt x="126" y="115"/>
                      <a:pt x="128" y="116"/>
                    </a:cubicBezTo>
                    <a:cubicBezTo>
                      <a:pt x="130" y="116"/>
                      <a:pt x="129" y="115"/>
                      <a:pt x="129" y="115"/>
                    </a:cubicBezTo>
                    <a:cubicBezTo>
                      <a:pt x="127" y="113"/>
                      <a:pt x="127" y="111"/>
                      <a:pt x="127" y="111"/>
                    </a:cubicBezTo>
                    <a:cubicBezTo>
                      <a:pt x="127" y="111"/>
                      <a:pt x="127" y="107"/>
                      <a:pt x="127" y="106"/>
                    </a:cubicBezTo>
                    <a:cubicBezTo>
                      <a:pt x="126" y="105"/>
                      <a:pt x="127" y="104"/>
                      <a:pt x="127" y="104"/>
                    </a:cubicBezTo>
                    <a:cubicBezTo>
                      <a:pt x="127" y="104"/>
                      <a:pt x="137" y="94"/>
                      <a:pt x="138" y="93"/>
                    </a:cubicBezTo>
                    <a:cubicBezTo>
                      <a:pt x="139" y="91"/>
                      <a:pt x="141" y="91"/>
                      <a:pt x="141" y="91"/>
                    </a:cubicBezTo>
                    <a:cubicBezTo>
                      <a:pt x="147" y="90"/>
                      <a:pt x="147" y="86"/>
                      <a:pt x="147" y="85"/>
                    </a:cubicBezTo>
                    <a:cubicBezTo>
                      <a:pt x="148" y="84"/>
                      <a:pt x="147" y="83"/>
                      <a:pt x="147" y="83"/>
                    </a:cubicBezTo>
                    <a:cubicBezTo>
                      <a:pt x="144" y="81"/>
                      <a:pt x="147" y="80"/>
                      <a:pt x="148" y="80"/>
                    </a:cubicBezTo>
                    <a:cubicBezTo>
                      <a:pt x="148" y="80"/>
                      <a:pt x="148" y="79"/>
                      <a:pt x="148" y="79"/>
                    </a:cubicBezTo>
                    <a:cubicBezTo>
                      <a:pt x="147" y="79"/>
                      <a:pt x="146" y="78"/>
                      <a:pt x="146" y="78"/>
                    </a:cubicBezTo>
                    <a:cubicBezTo>
                      <a:pt x="146" y="78"/>
                      <a:pt x="145" y="77"/>
                      <a:pt x="144" y="76"/>
                    </a:cubicBezTo>
                    <a:cubicBezTo>
                      <a:pt x="144" y="75"/>
                      <a:pt x="140" y="67"/>
                      <a:pt x="140" y="66"/>
                    </a:cubicBezTo>
                    <a:cubicBezTo>
                      <a:pt x="140" y="65"/>
                      <a:pt x="139" y="65"/>
                      <a:pt x="139" y="64"/>
                    </a:cubicBezTo>
                    <a:cubicBezTo>
                      <a:pt x="140" y="63"/>
                      <a:pt x="141" y="58"/>
                      <a:pt x="141" y="57"/>
                    </a:cubicBezTo>
                    <a:cubicBezTo>
                      <a:pt x="141" y="56"/>
                      <a:pt x="140" y="55"/>
                      <a:pt x="139" y="55"/>
                    </a:cubicBezTo>
                    <a:cubicBezTo>
                      <a:pt x="139" y="54"/>
                      <a:pt x="138" y="54"/>
                      <a:pt x="138" y="54"/>
                    </a:cubicBezTo>
                    <a:cubicBezTo>
                      <a:pt x="138" y="54"/>
                      <a:pt x="136" y="53"/>
                      <a:pt x="135" y="52"/>
                    </a:cubicBezTo>
                    <a:cubicBezTo>
                      <a:pt x="133" y="52"/>
                      <a:pt x="134" y="51"/>
                      <a:pt x="134" y="51"/>
                    </a:cubicBezTo>
                    <a:cubicBezTo>
                      <a:pt x="134" y="51"/>
                      <a:pt x="144" y="43"/>
                      <a:pt x="145" y="42"/>
                    </a:cubicBezTo>
                    <a:cubicBezTo>
                      <a:pt x="145" y="42"/>
                      <a:pt x="145" y="41"/>
                      <a:pt x="145" y="39"/>
                    </a:cubicBezTo>
                    <a:cubicBezTo>
                      <a:pt x="145" y="36"/>
                      <a:pt x="145" y="34"/>
                      <a:pt x="143" y="31"/>
                    </a:cubicBezTo>
                    <a:cubicBezTo>
                      <a:pt x="142" y="28"/>
                      <a:pt x="140" y="22"/>
                      <a:pt x="139" y="20"/>
                    </a:cubicBezTo>
                    <a:cubicBezTo>
                      <a:pt x="138" y="18"/>
                      <a:pt x="137" y="14"/>
                      <a:pt x="137" y="13"/>
                    </a:cubicBezTo>
                    <a:cubicBezTo>
                      <a:pt x="137" y="12"/>
                      <a:pt x="136" y="12"/>
                      <a:pt x="135" y="12"/>
                    </a:cubicBezTo>
                    <a:cubicBezTo>
                      <a:pt x="135" y="12"/>
                      <a:pt x="132" y="10"/>
                      <a:pt x="131" y="9"/>
                    </a:cubicBezTo>
                    <a:cubicBezTo>
                      <a:pt x="130" y="9"/>
                      <a:pt x="130" y="9"/>
                      <a:pt x="130" y="9"/>
                    </a:cubicBezTo>
                    <a:cubicBezTo>
                      <a:pt x="126" y="10"/>
                      <a:pt x="112" y="11"/>
                      <a:pt x="106" y="10"/>
                    </a:cubicBezTo>
                    <a:cubicBezTo>
                      <a:pt x="101" y="10"/>
                      <a:pt x="88" y="9"/>
                      <a:pt x="84" y="8"/>
                    </a:cubicBezTo>
                    <a:cubicBezTo>
                      <a:pt x="83" y="9"/>
                      <a:pt x="82" y="9"/>
                      <a:pt x="82" y="9"/>
                    </a:cubicBezTo>
                    <a:cubicBezTo>
                      <a:pt x="81" y="10"/>
                      <a:pt x="79" y="11"/>
                      <a:pt x="78" y="12"/>
                    </a:cubicBezTo>
                    <a:cubicBezTo>
                      <a:pt x="78" y="12"/>
                      <a:pt x="77" y="13"/>
                      <a:pt x="76" y="12"/>
                    </a:cubicBezTo>
                    <a:cubicBezTo>
                      <a:pt x="76" y="11"/>
                      <a:pt x="75" y="10"/>
                      <a:pt x="77" y="10"/>
                    </a:cubicBezTo>
                    <a:cubicBezTo>
                      <a:pt x="79" y="9"/>
                      <a:pt x="82" y="8"/>
                      <a:pt x="81" y="8"/>
                    </a:cubicBezTo>
                    <a:cubicBezTo>
                      <a:pt x="80" y="8"/>
                      <a:pt x="78" y="8"/>
                      <a:pt x="77" y="8"/>
                    </a:cubicBezTo>
                    <a:cubicBezTo>
                      <a:pt x="76" y="9"/>
                      <a:pt x="71" y="10"/>
                      <a:pt x="70" y="10"/>
                    </a:cubicBezTo>
                    <a:cubicBezTo>
                      <a:pt x="69" y="10"/>
                      <a:pt x="65" y="8"/>
                      <a:pt x="65" y="7"/>
                    </a:cubicBezTo>
                    <a:cubicBezTo>
                      <a:pt x="65" y="6"/>
                      <a:pt x="62" y="1"/>
                      <a:pt x="64" y="1"/>
                    </a:cubicBezTo>
                    <a:cubicBezTo>
                      <a:pt x="66" y="2"/>
                      <a:pt x="68" y="3"/>
                      <a:pt x="68" y="3"/>
                    </a:cubicBezTo>
                    <a:cubicBezTo>
                      <a:pt x="69" y="4"/>
                      <a:pt x="68" y="3"/>
                      <a:pt x="67" y="2"/>
                    </a:cubicBezTo>
                    <a:cubicBezTo>
                      <a:pt x="66" y="1"/>
                      <a:pt x="61" y="0"/>
                      <a:pt x="58" y="0"/>
                    </a:cubicBezTo>
                    <a:cubicBezTo>
                      <a:pt x="55" y="1"/>
                      <a:pt x="52" y="1"/>
                      <a:pt x="48" y="2"/>
                    </a:cubicBezTo>
                    <a:cubicBezTo>
                      <a:pt x="45" y="3"/>
                      <a:pt x="38" y="5"/>
                      <a:pt x="37" y="6"/>
                    </a:cubicBezTo>
                    <a:cubicBezTo>
                      <a:pt x="36" y="6"/>
                      <a:pt x="34" y="6"/>
                      <a:pt x="33" y="9"/>
                    </a:cubicBezTo>
                    <a:cubicBezTo>
                      <a:pt x="31" y="12"/>
                      <a:pt x="29" y="12"/>
                      <a:pt x="28" y="12"/>
                    </a:cubicBezTo>
                    <a:cubicBezTo>
                      <a:pt x="26" y="13"/>
                      <a:pt x="22" y="13"/>
                      <a:pt x="19" y="14"/>
                    </a:cubicBezTo>
                    <a:cubicBezTo>
                      <a:pt x="16" y="15"/>
                      <a:pt x="9" y="16"/>
                      <a:pt x="8" y="17"/>
                    </a:cubicBezTo>
                    <a:cubicBezTo>
                      <a:pt x="8" y="17"/>
                      <a:pt x="4" y="18"/>
                      <a:pt x="3" y="18"/>
                    </a:cubicBezTo>
                    <a:cubicBezTo>
                      <a:pt x="2" y="19"/>
                      <a:pt x="1" y="19"/>
                      <a:pt x="1" y="18"/>
                    </a:cubicBezTo>
                    <a:cubicBezTo>
                      <a:pt x="1" y="19"/>
                      <a:pt x="1" y="19"/>
                      <a:pt x="1" y="20"/>
                    </a:cubicBezTo>
                    <a:cubicBezTo>
                      <a:pt x="2" y="20"/>
                      <a:pt x="5" y="20"/>
                      <a:pt x="5" y="20"/>
                    </a:cubicBezTo>
                    <a:cubicBezTo>
                      <a:pt x="6" y="20"/>
                      <a:pt x="7" y="20"/>
                      <a:pt x="7" y="21"/>
                    </a:cubicBezTo>
                    <a:cubicBezTo>
                      <a:pt x="6" y="23"/>
                      <a:pt x="7" y="24"/>
                      <a:pt x="7" y="24"/>
                    </a:cubicBezTo>
                    <a:cubicBezTo>
                      <a:pt x="7" y="25"/>
                      <a:pt x="7" y="26"/>
                      <a:pt x="6" y="25"/>
                    </a:cubicBezTo>
                    <a:cubicBezTo>
                      <a:pt x="5" y="24"/>
                      <a:pt x="3" y="23"/>
                      <a:pt x="2" y="23"/>
                    </a:cubicBezTo>
                    <a:cubicBezTo>
                      <a:pt x="2" y="25"/>
                      <a:pt x="3" y="28"/>
                      <a:pt x="3" y="28"/>
                    </a:cubicBezTo>
                    <a:cubicBezTo>
                      <a:pt x="3" y="29"/>
                      <a:pt x="4" y="30"/>
                      <a:pt x="4" y="31"/>
                    </a:cubicBezTo>
                    <a:cubicBezTo>
                      <a:pt x="4" y="31"/>
                      <a:pt x="3" y="35"/>
                      <a:pt x="3" y="35"/>
                    </a:cubicBezTo>
                    <a:cubicBezTo>
                      <a:pt x="3" y="35"/>
                      <a:pt x="3" y="36"/>
                      <a:pt x="3" y="36"/>
                    </a:cubicBezTo>
                    <a:cubicBezTo>
                      <a:pt x="2" y="37"/>
                      <a:pt x="2" y="37"/>
                      <a:pt x="1" y="37"/>
                    </a:cubicBezTo>
                    <a:cubicBezTo>
                      <a:pt x="1" y="37"/>
                      <a:pt x="0" y="38"/>
                      <a:pt x="0" y="38"/>
                    </a:cubicBezTo>
                    <a:cubicBezTo>
                      <a:pt x="0" y="39"/>
                      <a:pt x="0" y="39"/>
                      <a:pt x="0" y="40"/>
                    </a:cubicBezTo>
                    <a:cubicBezTo>
                      <a:pt x="1" y="40"/>
                      <a:pt x="4" y="43"/>
                      <a:pt x="4" y="43"/>
                    </a:cubicBezTo>
                    <a:cubicBezTo>
                      <a:pt x="4" y="43"/>
                      <a:pt x="4" y="44"/>
                      <a:pt x="5" y="44"/>
                    </a:cubicBezTo>
                    <a:cubicBezTo>
                      <a:pt x="5" y="45"/>
                      <a:pt x="7" y="46"/>
                      <a:pt x="7" y="47"/>
                    </a:cubicBezTo>
                    <a:cubicBezTo>
                      <a:pt x="6" y="48"/>
                      <a:pt x="6" y="49"/>
                      <a:pt x="6" y="49"/>
                    </a:cubicBezTo>
                    <a:cubicBezTo>
                      <a:pt x="6" y="49"/>
                      <a:pt x="5" y="50"/>
                      <a:pt x="6" y="50"/>
                    </a:cubicBezTo>
                    <a:cubicBezTo>
                      <a:pt x="6" y="51"/>
                      <a:pt x="7" y="52"/>
                      <a:pt x="7" y="52"/>
                    </a:cubicBezTo>
                    <a:cubicBezTo>
                      <a:pt x="7" y="52"/>
                      <a:pt x="7" y="52"/>
                      <a:pt x="7" y="52"/>
                    </a:cubicBezTo>
                    <a:cubicBezTo>
                      <a:pt x="7" y="52"/>
                      <a:pt x="8" y="52"/>
                      <a:pt x="8" y="53"/>
                    </a:cubicBezTo>
                    <a:cubicBezTo>
                      <a:pt x="8" y="54"/>
                      <a:pt x="8" y="57"/>
                      <a:pt x="8" y="57"/>
                    </a:cubicBezTo>
                    <a:cubicBezTo>
                      <a:pt x="8" y="57"/>
                      <a:pt x="8" y="58"/>
                      <a:pt x="8" y="58"/>
                    </a:cubicBezTo>
                    <a:cubicBezTo>
                      <a:pt x="8" y="58"/>
                      <a:pt x="7" y="60"/>
                      <a:pt x="7" y="60"/>
                    </a:cubicBezTo>
                    <a:cubicBezTo>
                      <a:pt x="7" y="60"/>
                      <a:pt x="6" y="61"/>
                      <a:pt x="7" y="62"/>
                    </a:cubicBezTo>
                    <a:cubicBezTo>
                      <a:pt x="7" y="63"/>
                      <a:pt x="8" y="65"/>
                      <a:pt x="8" y="65"/>
                    </a:cubicBezTo>
                    <a:cubicBezTo>
                      <a:pt x="8" y="65"/>
                      <a:pt x="9" y="65"/>
                      <a:pt x="9" y="66"/>
                    </a:cubicBezTo>
                    <a:cubicBezTo>
                      <a:pt x="9" y="66"/>
                      <a:pt x="8" y="67"/>
                      <a:pt x="9" y="67"/>
                    </a:cubicBezTo>
                    <a:cubicBezTo>
                      <a:pt x="9" y="67"/>
                      <a:pt x="11" y="69"/>
                      <a:pt x="11" y="69"/>
                    </a:cubicBezTo>
                    <a:cubicBezTo>
                      <a:pt x="11" y="69"/>
                      <a:pt x="12" y="70"/>
                      <a:pt x="12" y="70"/>
                    </a:cubicBezTo>
                    <a:cubicBezTo>
                      <a:pt x="12" y="70"/>
                      <a:pt x="13" y="71"/>
                      <a:pt x="13" y="72"/>
                    </a:cubicBezTo>
                    <a:cubicBezTo>
                      <a:pt x="12" y="72"/>
                      <a:pt x="11" y="77"/>
                      <a:pt x="11" y="78"/>
                    </a:cubicBezTo>
                    <a:cubicBezTo>
                      <a:pt x="11" y="78"/>
                      <a:pt x="10" y="79"/>
                      <a:pt x="10" y="80"/>
                    </a:cubicBezTo>
                    <a:cubicBezTo>
                      <a:pt x="11" y="80"/>
                      <a:pt x="12" y="79"/>
                      <a:pt x="12" y="78"/>
                    </a:cubicBezTo>
                    <a:cubicBezTo>
                      <a:pt x="13" y="78"/>
                      <a:pt x="13" y="78"/>
                      <a:pt x="12" y="77"/>
                    </a:cubicBezTo>
                    <a:cubicBezTo>
                      <a:pt x="12" y="77"/>
                      <a:pt x="13" y="77"/>
                      <a:pt x="14" y="77"/>
                    </a:cubicBezTo>
                    <a:cubicBezTo>
                      <a:pt x="15" y="77"/>
                      <a:pt x="17" y="80"/>
                      <a:pt x="18" y="81"/>
                    </a:cubicBezTo>
                    <a:cubicBezTo>
                      <a:pt x="18" y="81"/>
                      <a:pt x="18" y="81"/>
                      <a:pt x="19" y="82"/>
                    </a:cubicBezTo>
                    <a:cubicBezTo>
                      <a:pt x="20" y="82"/>
                      <a:pt x="26" y="83"/>
                      <a:pt x="27" y="83"/>
                    </a:cubicBezTo>
                    <a:cubicBezTo>
                      <a:pt x="27" y="84"/>
                      <a:pt x="29" y="84"/>
                      <a:pt x="30" y="84"/>
                    </a:cubicBezTo>
                    <a:cubicBezTo>
                      <a:pt x="31" y="84"/>
                      <a:pt x="31" y="83"/>
                      <a:pt x="32" y="84"/>
                    </a:cubicBezTo>
                    <a:cubicBezTo>
                      <a:pt x="33" y="84"/>
                      <a:pt x="33" y="86"/>
                      <a:pt x="33" y="87"/>
                    </a:cubicBezTo>
                    <a:cubicBezTo>
                      <a:pt x="32" y="87"/>
                      <a:pt x="32" y="87"/>
                      <a:pt x="31" y="87"/>
                    </a:cubicBezTo>
                    <a:cubicBezTo>
                      <a:pt x="31" y="87"/>
                      <a:pt x="31" y="88"/>
                      <a:pt x="31" y="88"/>
                    </a:cubicBezTo>
                    <a:cubicBezTo>
                      <a:pt x="30" y="88"/>
                      <a:pt x="31" y="89"/>
                      <a:pt x="31" y="90"/>
                    </a:cubicBezTo>
                    <a:cubicBezTo>
                      <a:pt x="32" y="90"/>
                      <a:pt x="34" y="92"/>
                      <a:pt x="35" y="93"/>
                    </a:cubicBezTo>
                    <a:cubicBezTo>
                      <a:pt x="37" y="94"/>
                      <a:pt x="39" y="93"/>
                      <a:pt x="39" y="93"/>
                    </a:cubicBezTo>
                    <a:cubicBezTo>
                      <a:pt x="39" y="93"/>
                      <a:pt x="40" y="93"/>
                      <a:pt x="41" y="92"/>
                    </a:cubicBezTo>
                    <a:cubicBezTo>
                      <a:pt x="41" y="92"/>
                      <a:pt x="41" y="92"/>
                      <a:pt x="42" y="92"/>
                    </a:cubicBezTo>
                    <a:cubicBezTo>
                      <a:pt x="43" y="93"/>
                      <a:pt x="42" y="92"/>
                      <a:pt x="42" y="91"/>
                    </a:cubicBezTo>
                    <a:cubicBezTo>
                      <a:pt x="42" y="91"/>
                      <a:pt x="41" y="90"/>
                      <a:pt x="41" y="89"/>
                    </a:cubicBezTo>
                    <a:cubicBezTo>
                      <a:pt x="41" y="88"/>
                      <a:pt x="41" y="88"/>
                      <a:pt x="42" y="88"/>
                    </a:cubicBezTo>
                    <a:cubicBezTo>
                      <a:pt x="42" y="88"/>
                      <a:pt x="45" y="89"/>
                      <a:pt x="47" y="90"/>
                    </a:cubicBezTo>
                    <a:cubicBezTo>
                      <a:pt x="49" y="91"/>
                      <a:pt x="52" y="91"/>
                      <a:pt x="52" y="91"/>
                    </a:cubicBezTo>
                    <a:cubicBezTo>
                      <a:pt x="53" y="90"/>
                      <a:pt x="53" y="90"/>
                      <a:pt x="53" y="91"/>
                    </a:cubicBezTo>
                    <a:cubicBezTo>
                      <a:pt x="53" y="92"/>
                      <a:pt x="52" y="93"/>
                      <a:pt x="52" y="93"/>
                    </a:cubicBezTo>
                    <a:cubicBezTo>
                      <a:pt x="51" y="93"/>
                      <a:pt x="51" y="93"/>
                      <a:pt x="51" y="94"/>
                    </a:cubicBezTo>
                    <a:cubicBezTo>
                      <a:pt x="51" y="94"/>
                      <a:pt x="52" y="95"/>
                      <a:pt x="52" y="95"/>
                    </a:cubicBezTo>
                    <a:cubicBezTo>
                      <a:pt x="53" y="95"/>
                      <a:pt x="53" y="96"/>
                      <a:pt x="54" y="97"/>
                    </a:cubicBezTo>
                    <a:cubicBezTo>
                      <a:pt x="55" y="97"/>
                      <a:pt x="57" y="96"/>
                      <a:pt x="57" y="96"/>
                    </a:cubicBezTo>
                    <a:cubicBezTo>
                      <a:pt x="58" y="95"/>
                      <a:pt x="58" y="96"/>
                      <a:pt x="58" y="96"/>
                    </a:cubicBezTo>
                    <a:cubicBezTo>
                      <a:pt x="58" y="96"/>
                      <a:pt x="64" y="99"/>
                      <a:pt x="65" y="100"/>
                    </a:cubicBezTo>
                    <a:cubicBezTo>
                      <a:pt x="65" y="100"/>
                      <a:pt x="65" y="100"/>
                      <a:pt x="66" y="102"/>
                    </a:cubicBezTo>
                    <a:cubicBezTo>
                      <a:pt x="67" y="103"/>
                      <a:pt x="69" y="105"/>
                      <a:pt x="69" y="10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22" name="Freeform 1034">
                <a:extLst>
                  <a:ext uri="{FF2B5EF4-FFF2-40B4-BE49-F238E27FC236}">
                    <a16:creationId xmlns:a16="http://schemas.microsoft.com/office/drawing/2014/main" id="{9D26FC2C-097C-46B2-B4A2-E1610A402AE0}"/>
                  </a:ext>
                </a:extLst>
              </p:cNvPr>
              <p:cNvSpPr>
                <a:spLocks/>
              </p:cNvSpPr>
              <p:nvPr/>
            </p:nvSpPr>
            <p:spPr bwMode="auto">
              <a:xfrm>
                <a:off x="3625" y="1627"/>
                <a:ext cx="93" cy="50"/>
              </a:xfrm>
              <a:custGeom>
                <a:avLst/>
                <a:gdLst>
                  <a:gd name="T0" fmla="*/ 53 w 67"/>
                  <a:gd name="T1" fmla="*/ 14 h 37"/>
                  <a:gd name="T2" fmla="*/ 53 w 67"/>
                  <a:gd name="T3" fmla="*/ 11 h 37"/>
                  <a:gd name="T4" fmla="*/ 53 w 67"/>
                  <a:gd name="T5" fmla="*/ 10 h 37"/>
                  <a:gd name="T6" fmla="*/ 55 w 67"/>
                  <a:gd name="T7" fmla="*/ 7 h 37"/>
                  <a:gd name="T8" fmla="*/ 54 w 67"/>
                  <a:gd name="T9" fmla="*/ 5 h 37"/>
                  <a:gd name="T10" fmla="*/ 48 w 67"/>
                  <a:gd name="T11" fmla="*/ 2 h 37"/>
                  <a:gd name="T12" fmla="*/ 43 w 67"/>
                  <a:gd name="T13" fmla="*/ 2 h 37"/>
                  <a:gd name="T14" fmla="*/ 41 w 67"/>
                  <a:gd name="T15" fmla="*/ 1 h 37"/>
                  <a:gd name="T16" fmla="*/ 38 w 67"/>
                  <a:gd name="T17" fmla="*/ 0 h 37"/>
                  <a:gd name="T18" fmla="*/ 37 w 67"/>
                  <a:gd name="T19" fmla="*/ 2 h 37"/>
                  <a:gd name="T20" fmla="*/ 39 w 67"/>
                  <a:gd name="T21" fmla="*/ 2 h 37"/>
                  <a:gd name="T22" fmla="*/ 38 w 67"/>
                  <a:gd name="T23" fmla="*/ 4 h 37"/>
                  <a:gd name="T24" fmla="*/ 34 w 67"/>
                  <a:gd name="T25" fmla="*/ 4 h 37"/>
                  <a:gd name="T26" fmla="*/ 30 w 67"/>
                  <a:gd name="T27" fmla="*/ 4 h 37"/>
                  <a:gd name="T28" fmla="*/ 26 w 67"/>
                  <a:gd name="T29" fmla="*/ 4 h 37"/>
                  <a:gd name="T30" fmla="*/ 24 w 67"/>
                  <a:gd name="T31" fmla="*/ 4 h 37"/>
                  <a:gd name="T32" fmla="*/ 23 w 67"/>
                  <a:gd name="T33" fmla="*/ 5 h 37"/>
                  <a:gd name="T34" fmla="*/ 21 w 67"/>
                  <a:gd name="T35" fmla="*/ 7 h 37"/>
                  <a:gd name="T36" fmla="*/ 19 w 67"/>
                  <a:gd name="T37" fmla="*/ 7 h 37"/>
                  <a:gd name="T38" fmla="*/ 16 w 67"/>
                  <a:gd name="T39" fmla="*/ 5 h 37"/>
                  <a:gd name="T40" fmla="*/ 14 w 67"/>
                  <a:gd name="T41" fmla="*/ 7 h 37"/>
                  <a:gd name="T42" fmla="*/ 16 w 67"/>
                  <a:gd name="T43" fmla="*/ 8 h 37"/>
                  <a:gd name="T44" fmla="*/ 15 w 67"/>
                  <a:gd name="T45" fmla="*/ 10 h 37"/>
                  <a:gd name="T46" fmla="*/ 8 w 67"/>
                  <a:gd name="T47" fmla="*/ 15 h 37"/>
                  <a:gd name="T48" fmla="*/ 7 w 67"/>
                  <a:gd name="T49" fmla="*/ 18 h 37"/>
                  <a:gd name="T50" fmla="*/ 3 w 67"/>
                  <a:gd name="T51" fmla="*/ 23 h 37"/>
                  <a:gd name="T52" fmla="*/ 2 w 67"/>
                  <a:gd name="T53" fmla="*/ 26 h 37"/>
                  <a:gd name="T54" fmla="*/ 2 w 67"/>
                  <a:gd name="T55" fmla="*/ 28 h 37"/>
                  <a:gd name="T56" fmla="*/ 1 w 67"/>
                  <a:gd name="T57" fmla="*/ 30 h 37"/>
                  <a:gd name="T58" fmla="*/ 4 w 67"/>
                  <a:gd name="T59" fmla="*/ 28 h 37"/>
                  <a:gd name="T60" fmla="*/ 6 w 67"/>
                  <a:gd name="T61" fmla="*/ 26 h 37"/>
                  <a:gd name="T62" fmla="*/ 10 w 67"/>
                  <a:gd name="T63" fmla="*/ 25 h 37"/>
                  <a:gd name="T64" fmla="*/ 13 w 67"/>
                  <a:gd name="T65" fmla="*/ 26 h 37"/>
                  <a:gd name="T66" fmla="*/ 14 w 67"/>
                  <a:gd name="T67" fmla="*/ 31 h 37"/>
                  <a:gd name="T68" fmla="*/ 16 w 67"/>
                  <a:gd name="T69" fmla="*/ 35 h 37"/>
                  <a:gd name="T70" fmla="*/ 22 w 67"/>
                  <a:gd name="T71" fmla="*/ 34 h 37"/>
                  <a:gd name="T72" fmla="*/ 24 w 67"/>
                  <a:gd name="T73" fmla="*/ 34 h 37"/>
                  <a:gd name="T74" fmla="*/ 29 w 67"/>
                  <a:gd name="T75" fmla="*/ 34 h 37"/>
                  <a:gd name="T76" fmla="*/ 32 w 67"/>
                  <a:gd name="T77" fmla="*/ 31 h 37"/>
                  <a:gd name="T78" fmla="*/ 33 w 67"/>
                  <a:gd name="T79" fmla="*/ 28 h 37"/>
                  <a:gd name="T80" fmla="*/ 36 w 67"/>
                  <a:gd name="T81" fmla="*/ 25 h 37"/>
                  <a:gd name="T82" fmla="*/ 37 w 67"/>
                  <a:gd name="T83" fmla="*/ 26 h 37"/>
                  <a:gd name="T84" fmla="*/ 37 w 67"/>
                  <a:gd name="T85" fmla="*/ 29 h 37"/>
                  <a:gd name="T86" fmla="*/ 42 w 67"/>
                  <a:gd name="T87" fmla="*/ 32 h 37"/>
                  <a:gd name="T88" fmla="*/ 44 w 67"/>
                  <a:gd name="T89" fmla="*/ 35 h 37"/>
                  <a:gd name="T90" fmla="*/ 44 w 67"/>
                  <a:gd name="T91" fmla="*/ 36 h 37"/>
                  <a:gd name="T92" fmla="*/ 46 w 67"/>
                  <a:gd name="T93" fmla="*/ 32 h 37"/>
                  <a:gd name="T94" fmla="*/ 49 w 67"/>
                  <a:gd name="T95" fmla="*/ 29 h 37"/>
                  <a:gd name="T96" fmla="*/ 49 w 67"/>
                  <a:gd name="T97" fmla="*/ 25 h 37"/>
                  <a:gd name="T98" fmla="*/ 53 w 67"/>
                  <a:gd name="T99" fmla="*/ 26 h 37"/>
                  <a:gd name="T100" fmla="*/ 62 w 67"/>
                  <a:gd name="T101" fmla="*/ 28 h 37"/>
                  <a:gd name="T102" fmla="*/ 62 w 67"/>
                  <a:gd name="T103" fmla="*/ 26 h 37"/>
                  <a:gd name="T104" fmla="*/ 61 w 67"/>
                  <a:gd name="T105" fmla="*/ 23 h 37"/>
                  <a:gd name="T106" fmla="*/ 66 w 67"/>
                  <a:gd name="T107" fmla="*/ 23 h 37"/>
                  <a:gd name="T108" fmla="*/ 67 w 67"/>
                  <a:gd name="T109" fmla="*/ 17 h 37"/>
                  <a:gd name="T110" fmla="*/ 64 w 67"/>
                  <a:gd name="T111" fmla="*/ 16 h 37"/>
                  <a:gd name="T112" fmla="*/ 61 w 67"/>
                  <a:gd name="T113" fmla="*/ 17 h 37"/>
                  <a:gd name="T114" fmla="*/ 54 w 67"/>
                  <a:gd name="T115" fmla="*/ 1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 h="37">
                    <a:moveTo>
                      <a:pt x="54" y="14"/>
                    </a:moveTo>
                    <a:cubicBezTo>
                      <a:pt x="54" y="14"/>
                      <a:pt x="53" y="14"/>
                      <a:pt x="53" y="14"/>
                    </a:cubicBezTo>
                    <a:cubicBezTo>
                      <a:pt x="52" y="14"/>
                      <a:pt x="52" y="13"/>
                      <a:pt x="52" y="13"/>
                    </a:cubicBezTo>
                    <a:cubicBezTo>
                      <a:pt x="52" y="13"/>
                      <a:pt x="53" y="11"/>
                      <a:pt x="53" y="11"/>
                    </a:cubicBezTo>
                    <a:cubicBezTo>
                      <a:pt x="53" y="11"/>
                      <a:pt x="53" y="10"/>
                      <a:pt x="53" y="10"/>
                    </a:cubicBezTo>
                    <a:cubicBezTo>
                      <a:pt x="53" y="10"/>
                      <a:pt x="53" y="10"/>
                      <a:pt x="53" y="10"/>
                    </a:cubicBezTo>
                    <a:cubicBezTo>
                      <a:pt x="53" y="9"/>
                      <a:pt x="54" y="8"/>
                      <a:pt x="54" y="8"/>
                    </a:cubicBezTo>
                    <a:cubicBezTo>
                      <a:pt x="55" y="8"/>
                      <a:pt x="55" y="8"/>
                      <a:pt x="55" y="7"/>
                    </a:cubicBezTo>
                    <a:cubicBezTo>
                      <a:pt x="55" y="6"/>
                      <a:pt x="55" y="6"/>
                      <a:pt x="54" y="6"/>
                    </a:cubicBezTo>
                    <a:cubicBezTo>
                      <a:pt x="54" y="5"/>
                      <a:pt x="54" y="5"/>
                      <a:pt x="54" y="5"/>
                    </a:cubicBezTo>
                    <a:cubicBezTo>
                      <a:pt x="53" y="5"/>
                      <a:pt x="53" y="4"/>
                      <a:pt x="53" y="4"/>
                    </a:cubicBezTo>
                    <a:cubicBezTo>
                      <a:pt x="53" y="4"/>
                      <a:pt x="48" y="2"/>
                      <a:pt x="48" y="2"/>
                    </a:cubicBezTo>
                    <a:cubicBezTo>
                      <a:pt x="48" y="2"/>
                      <a:pt x="45" y="2"/>
                      <a:pt x="45" y="2"/>
                    </a:cubicBezTo>
                    <a:cubicBezTo>
                      <a:pt x="44" y="2"/>
                      <a:pt x="43" y="2"/>
                      <a:pt x="43" y="2"/>
                    </a:cubicBezTo>
                    <a:cubicBezTo>
                      <a:pt x="42" y="2"/>
                      <a:pt x="42" y="2"/>
                      <a:pt x="41" y="2"/>
                    </a:cubicBezTo>
                    <a:cubicBezTo>
                      <a:pt x="41" y="2"/>
                      <a:pt x="41" y="1"/>
                      <a:pt x="41" y="1"/>
                    </a:cubicBezTo>
                    <a:cubicBezTo>
                      <a:pt x="41" y="1"/>
                      <a:pt x="40" y="0"/>
                      <a:pt x="40" y="0"/>
                    </a:cubicBezTo>
                    <a:cubicBezTo>
                      <a:pt x="39" y="0"/>
                      <a:pt x="39" y="0"/>
                      <a:pt x="38" y="0"/>
                    </a:cubicBezTo>
                    <a:cubicBezTo>
                      <a:pt x="38" y="0"/>
                      <a:pt x="38" y="0"/>
                      <a:pt x="37" y="1"/>
                    </a:cubicBezTo>
                    <a:cubicBezTo>
                      <a:pt x="37" y="1"/>
                      <a:pt x="37" y="1"/>
                      <a:pt x="37" y="2"/>
                    </a:cubicBezTo>
                    <a:cubicBezTo>
                      <a:pt x="37" y="2"/>
                      <a:pt x="38" y="3"/>
                      <a:pt x="38" y="2"/>
                    </a:cubicBezTo>
                    <a:cubicBezTo>
                      <a:pt x="38" y="2"/>
                      <a:pt x="39" y="2"/>
                      <a:pt x="39" y="2"/>
                    </a:cubicBezTo>
                    <a:cubicBezTo>
                      <a:pt x="39" y="2"/>
                      <a:pt x="39" y="3"/>
                      <a:pt x="39" y="3"/>
                    </a:cubicBezTo>
                    <a:cubicBezTo>
                      <a:pt x="39" y="4"/>
                      <a:pt x="38" y="4"/>
                      <a:pt x="38" y="4"/>
                    </a:cubicBezTo>
                    <a:cubicBezTo>
                      <a:pt x="38" y="4"/>
                      <a:pt x="37" y="4"/>
                      <a:pt x="37" y="4"/>
                    </a:cubicBezTo>
                    <a:cubicBezTo>
                      <a:pt x="36" y="4"/>
                      <a:pt x="34" y="4"/>
                      <a:pt x="34" y="4"/>
                    </a:cubicBezTo>
                    <a:cubicBezTo>
                      <a:pt x="33" y="4"/>
                      <a:pt x="32" y="4"/>
                      <a:pt x="32" y="4"/>
                    </a:cubicBezTo>
                    <a:cubicBezTo>
                      <a:pt x="32" y="4"/>
                      <a:pt x="31" y="4"/>
                      <a:pt x="30" y="4"/>
                    </a:cubicBezTo>
                    <a:cubicBezTo>
                      <a:pt x="30" y="4"/>
                      <a:pt x="29" y="4"/>
                      <a:pt x="29" y="4"/>
                    </a:cubicBezTo>
                    <a:cubicBezTo>
                      <a:pt x="28" y="4"/>
                      <a:pt x="27" y="4"/>
                      <a:pt x="26" y="4"/>
                    </a:cubicBezTo>
                    <a:cubicBezTo>
                      <a:pt x="26" y="5"/>
                      <a:pt x="25" y="4"/>
                      <a:pt x="25" y="4"/>
                    </a:cubicBezTo>
                    <a:cubicBezTo>
                      <a:pt x="25" y="4"/>
                      <a:pt x="25" y="4"/>
                      <a:pt x="24" y="4"/>
                    </a:cubicBezTo>
                    <a:cubicBezTo>
                      <a:pt x="24" y="4"/>
                      <a:pt x="24" y="4"/>
                      <a:pt x="24" y="4"/>
                    </a:cubicBezTo>
                    <a:cubicBezTo>
                      <a:pt x="24" y="4"/>
                      <a:pt x="23" y="4"/>
                      <a:pt x="23" y="5"/>
                    </a:cubicBezTo>
                    <a:cubicBezTo>
                      <a:pt x="23" y="6"/>
                      <a:pt x="22" y="6"/>
                      <a:pt x="22" y="6"/>
                    </a:cubicBezTo>
                    <a:cubicBezTo>
                      <a:pt x="22" y="7"/>
                      <a:pt x="21" y="7"/>
                      <a:pt x="21" y="7"/>
                    </a:cubicBezTo>
                    <a:cubicBezTo>
                      <a:pt x="21" y="6"/>
                      <a:pt x="20" y="6"/>
                      <a:pt x="20" y="7"/>
                    </a:cubicBezTo>
                    <a:cubicBezTo>
                      <a:pt x="19" y="7"/>
                      <a:pt x="19" y="7"/>
                      <a:pt x="19" y="7"/>
                    </a:cubicBezTo>
                    <a:cubicBezTo>
                      <a:pt x="19" y="7"/>
                      <a:pt x="18" y="6"/>
                      <a:pt x="18" y="6"/>
                    </a:cubicBezTo>
                    <a:cubicBezTo>
                      <a:pt x="18" y="5"/>
                      <a:pt x="17" y="6"/>
                      <a:pt x="16" y="5"/>
                    </a:cubicBezTo>
                    <a:cubicBezTo>
                      <a:pt x="16" y="5"/>
                      <a:pt x="15" y="6"/>
                      <a:pt x="15" y="6"/>
                    </a:cubicBezTo>
                    <a:cubicBezTo>
                      <a:pt x="15" y="6"/>
                      <a:pt x="15" y="6"/>
                      <a:pt x="14" y="7"/>
                    </a:cubicBezTo>
                    <a:cubicBezTo>
                      <a:pt x="13" y="8"/>
                      <a:pt x="14" y="8"/>
                      <a:pt x="14" y="8"/>
                    </a:cubicBezTo>
                    <a:cubicBezTo>
                      <a:pt x="14" y="8"/>
                      <a:pt x="14" y="8"/>
                      <a:pt x="16" y="8"/>
                    </a:cubicBezTo>
                    <a:cubicBezTo>
                      <a:pt x="17" y="8"/>
                      <a:pt x="16" y="9"/>
                      <a:pt x="16" y="9"/>
                    </a:cubicBezTo>
                    <a:cubicBezTo>
                      <a:pt x="16" y="9"/>
                      <a:pt x="15" y="9"/>
                      <a:pt x="15" y="10"/>
                    </a:cubicBezTo>
                    <a:cubicBezTo>
                      <a:pt x="15" y="10"/>
                      <a:pt x="13" y="12"/>
                      <a:pt x="12" y="13"/>
                    </a:cubicBezTo>
                    <a:cubicBezTo>
                      <a:pt x="11" y="14"/>
                      <a:pt x="9" y="15"/>
                      <a:pt x="8" y="15"/>
                    </a:cubicBezTo>
                    <a:cubicBezTo>
                      <a:pt x="8" y="15"/>
                      <a:pt x="8" y="16"/>
                      <a:pt x="8" y="16"/>
                    </a:cubicBezTo>
                    <a:cubicBezTo>
                      <a:pt x="8" y="16"/>
                      <a:pt x="8" y="17"/>
                      <a:pt x="7" y="18"/>
                    </a:cubicBezTo>
                    <a:cubicBezTo>
                      <a:pt x="7" y="18"/>
                      <a:pt x="7" y="19"/>
                      <a:pt x="7" y="19"/>
                    </a:cubicBezTo>
                    <a:cubicBezTo>
                      <a:pt x="6" y="19"/>
                      <a:pt x="4" y="22"/>
                      <a:pt x="3" y="23"/>
                    </a:cubicBezTo>
                    <a:cubicBezTo>
                      <a:pt x="3" y="23"/>
                      <a:pt x="2" y="24"/>
                      <a:pt x="2" y="25"/>
                    </a:cubicBezTo>
                    <a:cubicBezTo>
                      <a:pt x="2" y="25"/>
                      <a:pt x="2" y="26"/>
                      <a:pt x="2" y="26"/>
                    </a:cubicBezTo>
                    <a:cubicBezTo>
                      <a:pt x="2" y="26"/>
                      <a:pt x="2" y="26"/>
                      <a:pt x="2" y="27"/>
                    </a:cubicBezTo>
                    <a:cubicBezTo>
                      <a:pt x="2" y="27"/>
                      <a:pt x="2" y="28"/>
                      <a:pt x="2" y="28"/>
                    </a:cubicBezTo>
                    <a:cubicBezTo>
                      <a:pt x="1" y="29"/>
                      <a:pt x="1" y="29"/>
                      <a:pt x="1" y="29"/>
                    </a:cubicBezTo>
                    <a:cubicBezTo>
                      <a:pt x="0" y="31"/>
                      <a:pt x="1" y="30"/>
                      <a:pt x="1" y="30"/>
                    </a:cubicBezTo>
                    <a:cubicBezTo>
                      <a:pt x="1" y="30"/>
                      <a:pt x="3" y="28"/>
                      <a:pt x="4" y="28"/>
                    </a:cubicBezTo>
                    <a:cubicBezTo>
                      <a:pt x="4" y="28"/>
                      <a:pt x="4" y="28"/>
                      <a:pt x="4" y="28"/>
                    </a:cubicBezTo>
                    <a:cubicBezTo>
                      <a:pt x="4" y="28"/>
                      <a:pt x="5" y="27"/>
                      <a:pt x="5" y="26"/>
                    </a:cubicBezTo>
                    <a:cubicBezTo>
                      <a:pt x="6" y="26"/>
                      <a:pt x="6" y="26"/>
                      <a:pt x="6" y="26"/>
                    </a:cubicBezTo>
                    <a:cubicBezTo>
                      <a:pt x="7" y="26"/>
                      <a:pt x="8" y="25"/>
                      <a:pt x="9" y="25"/>
                    </a:cubicBezTo>
                    <a:cubicBezTo>
                      <a:pt x="9" y="25"/>
                      <a:pt x="10" y="25"/>
                      <a:pt x="10" y="25"/>
                    </a:cubicBezTo>
                    <a:cubicBezTo>
                      <a:pt x="11" y="25"/>
                      <a:pt x="11" y="25"/>
                      <a:pt x="12" y="25"/>
                    </a:cubicBezTo>
                    <a:cubicBezTo>
                      <a:pt x="12" y="25"/>
                      <a:pt x="13" y="26"/>
                      <a:pt x="13" y="26"/>
                    </a:cubicBezTo>
                    <a:cubicBezTo>
                      <a:pt x="13" y="27"/>
                      <a:pt x="13" y="30"/>
                      <a:pt x="13" y="30"/>
                    </a:cubicBezTo>
                    <a:cubicBezTo>
                      <a:pt x="13" y="31"/>
                      <a:pt x="14" y="31"/>
                      <a:pt x="14" y="31"/>
                    </a:cubicBezTo>
                    <a:cubicBezTo>
                      <a:pt x="14" y="31"/>
                      <a:pt x="15" y="33"/>
                      <a:pt x="16" y="34"/>
                    </a:cubicBezTo>
                    <a:cubicBezTo>
                      <a:pt x="16" y="34"/>
                      <a:pt x="16" y="34"/>
                      <a:pt x="16" y="35"/>
                    </a:cubicBezTo>
                    <a:cubicBezTo>
                      <a:pt x="16" y="35"/>
                      <a:pt x="16" y="35"/>
                      <a:pt x="17" y="35"/>
                    </a:cubicBezTo>
                    <a:cubicBezTo>
                      <a:pt x="17" y="35"/>
                      <a:pt x="22" y="34"/>
                      <a:pt x="22" y="34"/>
                    </a:cubicBezTo>
                    <a:cubicBezTo>
                      <a:pt x="23" y="34"/>
                      <a:pt x="23" y="34"/>
                      <a:pt x="23" y="34"/>
                    </a:cubicBezTo>
                    <a:cubicBezTo>
                      <a:pt x="24" y="34"/>
                      <a:pt x="24" y="34"/>
                      <a:pt x="24" y="34"/>
                    </a:cubicBezTo>
                    <a:cubicBezTo>
                      <a:pt x="25" y="34"/>
                      <a:pt x="28" y="35"/>
                      <a:pt x="28" y="35"/>
                    </a:cubicBezTo>
                    <a:cubicBezTo>
                      <a:pt x="28" y="35"/>
                      <a:pt x="28" y="35"/>
                      <a:pt x="29" y="34"/>
                    </a:cubicBezTo>
                    <a:cubicBezTo>
                      <a:pt x="29" y="34"/>
                      <a:pt x="31" y="32"/>
                      <a:pt x="31" y="32"/>
                    </a:cubicBezTo>
                    <a:cubicBezTo>
                      <a:pt x="31" y="32"/>
                      <a:pt x="31" y="31"/>
                      <a:pt x="32" y="31"/>
                    </a:cubicBezTo>
                    <a:cubicBezTo>
                      <a:pt x="32" y="30"/>
                      <a:pt x="33" y="28"/>
                      <a:pt x="33" y="28"/>
                    </a:cubicBezTo>
                    <a:cubicBezTo>
                      <a:pt x="33" y="28"/>
                      <a:pt x="33" y="28"/>
                      <a:pt x="33" y="28"/>
                    </a:cubicBezTo>
                    <a:cubicBezTo>
                      <a:pt x="33" y="28"/>
                      <a:pt x="34" y="27"/>
                      <a:pt x="34" y="27"/>
                    </a:cubicBezTo>
                    <a:cubicBezTo>
                      <a:pt x="34" y="27"/>
                      <a:pt x="36" y="25"/>
                      <a:pt x="36" y="25"/>
                    </a:cubicBezTo>
                    <a:cubicBezTo>
                      <a:pt x="36" y="25"/>
                      <a:pt x="36" y="25"/>
                      <a:pt x="37" y="25"/>
                    </a:cubicBezTo>
                    <a:cubicBezTo>
                      <a:pt x="37" y="25"/>
                      <a:pt x="37" y="25"/>
                      <a:pt x="37" y="26"/>
                    </a:cubicBezTo>
                    <a:cubicBezTo>
                      <a:pt x="37" y="26"/>
                      <a:pt x="37" y="28"/>
                      <a:pt x="37" y="28"/>
                    </a:cubicBezTo>
                    <a:cubicBezTo>
                      <a:pt x="37" y="28"/>
                      <a:pt x="37" y="29"/>
                      <a:pt x="37" y="29"/>
                    </a:cubicBezTo>
                    <a:cubicBezTo>
                      <a:pt x="38" y="29"/>
                      <a:pt x="41" y="31"/>
                      <a:pt x="41" y="31"/>
                    </a:cubicBezTo>
                    <a:cubicBezTo>
                      <a:pt x="41" y="31"/>
                      <a:pt x="41" y="32"/>
                      <a:pt x="42" y="32"/>
                    </a:cubicBezTo>
                    <a:cubicBezTo>
                      <a:pt x="42" y="32"/>
                      <a:pt x="43" y="32"/>
                      <a:pt x="43" y="32"/>
                    </a:cubicBezTo>
                    <a:cubicBezTo>
                      <a:pt x="43" y="33"/>
                      <a:pt x="44" y="35"/>
                      <a:pt x="44" y="35"/>
                    </a:cubicBezTo>
                    <a:cubicBezTo>
                      <a:pt x="44" y="35"/>
                      <a:pt x="44" y="35"/>
                      <a:pt x="44" y="36"/>
                    </a:cubicBezTo>
                    <a:cubicBezTo>
                      <a:pt x="44" y="36"/>
                      <a:pt x="44" y="37"/>
                      <a:pt x="44" y="36"/>
                    </a:cubicBezTo>
                    <a:cubicBezTo>
                      <a:pt x="45" y="35"/>
                      <a:pt x="46" y="35"/>
                      <a:pt x="46" y="34"/>
                    </a:cubicBezTo>
                    <a:cubicBezTo>
                      <a:pt x="46" y="33"/>
                      <a:pt x="46" y="32"/>
                      <a:pt x="46" y="32"/>
                    </a:cubicBezTo>
                    <a:cubicBezTo>
                      <a:pt x="46" y="32"/>
                      <a:pt x="47" y="31"/>
                      <a:pt x="47" y="31"/>
                    </a:cubicBezTo>
                    <a:cubicBezTo>
                      <a:pt x="47" y="30"/>
                      <a:pt x="49" y="29"/>
                      <a:pt x="49" y="29"/>
                    </a:cubicBezTo>
                    <a:cubicBezTo>
                      <a:pt x="49" y="29"/>
                      <a:pt x="49" y="28"/>
                      <a:pt x="49" y="28"/>
                    </a:cubicBezTo>
                    <a:cubicBezTo>
                      <a:pt x="49" y="27"/>
                      <a:pt x="49" y="25"/>
                      <a:pt x="49" y="25"/>
                    </a:cubicBezTo>
                    <a:cubicBezTo>
                      <a:pt x="49" y="25"/>
                      <a:pt x="50" y="24"/>
                      <a:pt x="50" y="24"/>
                    </a:cubicBezTo>
                    <a:cubicBezTo>
                      <a:pt x="51" y="25"/>
                      <a:pt x="53" y="26"/>
                      <a:pt x="53" y="26"/>
                    </a:cubicBezTo>
                    <a:cubicBezTo>
                      <a:pt x="54" y="27"/>
                      <a:pt x="60" y="29"/>
                      <a:pt x="61" y="29"/>
                    </a:cubicBezTo>
                    <a:cubicBezTo>
                      <a:pt x="62" y="29"/>
                      <a:pt x="63" y="29"/>
                      <a:pt x="62" y="28"/>
                    </a:cubicBezTo>
                    <a:cubicBezTo>
                      <a:pt x="62" y="27"/>
                      <a:pt x="62" y="27"/>
                      <a:pt x="62" y="27"/>
                    </a:cubicBezTo>
                    <a:cubicBezTo>
                      <a:pt x="62" y="26"/>
                      <a:pt x="62" y="26"/>
                      <a:pt x="62" y="26"/>
                    </a:cubicBezTo>
                    <a:cubicBezTo>
                      <a:pt x="61" y="25"/>
                      <a:pt x="60" y="24"/>
                      <a:pt x="61" y="24"/>
                    </a:cubicBezTo>
                    <a:cubicBezTo>
                      <a:pt x="61" y="23"/>
                      <a:pt x="61" y="23"/>
                      <a:pt x="61" y="23"/>
                    </a:cubicBezTo>
                    <a:cubicBezTo>
                      <a:pt x="61" y="23"/>
                      <a:pt x="62" y="22"/>
                      <a:pt x="62" y="22"/>
                    </a:cubicBezTo>
                    <a:cubicBezTo>
                      <a:pt x="63" y="22"/>
                      <a:pt x="66" y="23"/>
                      <a:pt x="66" y="23"/>
                    </a:cubicBezTo>
                    <a:cubicBezTo>
                      <a:pt x="66" y="23"/>
                      <a:pt x="67" y="23"/>
                      <a:pt x="67" y="22"/>
                    </a:cubicBezTo>
                    <a:cubicBezTo>
                      <a:pt x="67" y="22"/>
                      <a:pt x="67" y="19"/>
                      <a:pt x="67" y="17"/>
                    </a:cubicBezTo>
                    <a:cubicBezTo>
                      <a:pt x="67" y="17"/>
                      <a:pt x="67" y="17"/>
                      <a:pt x="66" y="16"/>
                    </a:cubicBezTo>
                    <a:cubicBezTo>
                      <a:pt x="66" y="14"/>
                      <a:pt x="65" y="15"/>
                      <a:pt x="64" y="16"/>
                    </a:cubicBezTo>
                    <a:cubicBezTo>
                      <a:pt x="64" y="16"/>
                      <a:pt x="63" y="17"/>
                      <a:pt x="62" y="17"/>
                    </a:cubicBezTo>
                    <a:cubicBezTo>
                      <a:pt x="62" y="18"/>
                      <a:pt x="61" y="17"/>
                      <a:pt x="61" y="17"/>
                    </a:cubicBezTo>
                    <a:cubicBezTo>
                      <a:pt x="61" y="17"/>
                      <a:pt x="55" y="14"/>
                      <a:pt x="55" y="14"/>
                    </a:cubicBezTo>
                    <a:cubicBezTo>
                      <a:pt x="55" y="14"/>
                      <a:pt x="54" y="14"/>
                      <a:pt x="54" y="1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23" name="Freeform 1035">
                <a:extLst>
                  <a:ext uri="{FF2B5EF4-FFF2-40B4-BE49-F238E27FC236}">
                    <a16:creationId xmlns:a16="http://schemas.microsoft.com/office/drawing/2014/main" id="{4B28D1D4-2B0D-4751-8F5F-6A3634A653EC}"/>
                  </a:ext>
                </a:extLst>
              </p:cNvPr>
              <p:cNvSpPr>
                <a:spLocks/>
              </p:cNvSpPr>
              <p:nvPr/>
            </p:nvSpPr>
            <p:spPr bwMode="auto">
              <a:xfrm>
                <a:off x="3826" y="1691"/>
                <a:ext cx="80" cy="67"/>
              </a:xfrm>
              <a:custGeom>
                <a:avLst/>
                <a:gdLst>
                  <a:gd name="T0" fmla="*/ 52 w 58"/>
                  <a:gd name="T1" fmla="*/ 31 h 49"/>
                  <a:gd name="T2" fmla="*/ 55 w 58"/>
                  <a:gd name="T3" fmla="*/ 30 h 49"/>
                  <a:gd name="T4" fmla="*/ 56 w 58"/>
                  <a:gd name="T5" fmla="*/ 29 h 49"/>
                  <a:gd name="T6" fmla="*/ 55 w 58"/>
                  <a:gd name="T7" fmla="*/ 27 h 49"/>
                  <a:gd name="T8" fmla="*/ 52 w 58"/>
                  <a:gd name="T9" fmla="*/ 23 h 49"/>
                  <a:gd name="T10" fmla="*/ 54 w 58"/>
                  <a:gd name="T11" fmla="*/ 24 h 49"/>
                  <a:gd name="T12" fmla="*/ 58 w 58"/>
                  <a:gd name="T13" fmla="*/ 23 h 49"/>
                  <a:gd name="T14" fmla="*/ 57 w 58"/>
                  <a:gd name="T15" fmla="*/ 22 h 49"/>
                  <a:gd name="T16" fmla="*/ 54 w 58"/>
                  <a:gd name="T17" fmla="*/ 19 h 49"/>
                  <a:gd name="T18" fmla="*/ 53 w 58"/>
                  <a:gd name="T19" fmla="*/ 18 h 49"/>
                  <a:gd name="T20" fmla="*/ 51 w 58"/>
                  <a:gd name="T21" fmla="*/ 18 h 49"/>
                  <a:gd name="T22" fmla="*/ 50 w 58"/>
                  <a:gd name="T23" fmla="*/ 14 h 49"/>
                  <a:gd name="T24" fmla="*/ 52 w 58"/>
                  <a:gd name="T25" fmla="*/ 12 h 49"/>
                  <a:gd name="T26" fmla="*/ 54 w 58"/>
                  <a:gd name="T27" fmla="*/ 7 h 49"/>
                  <a:gd name="T28" fmla="*/ 53 w 58"/>
                  <a:gd name="T29" fmla="*/ 7 h 49"/>
                  <a:gd name="T30" fmla="*/ 50 w 58"/>
                  <a:gd name="T31" fmla="*/ 7 h 49"/>
                  <a:gd name="T32" fmla="*/ 49 w 58"/>
                  <a:gd name="T33" fmla="*/ 7 h 49"/>
                  <a:gd name="T34" fmla="*/ 46 w 58"/>
                  <a:gd name="T35" fmla="*/ 6 h 49"/>
                  <a:gd name="T36" fmla="*/ 45 w 58"/>
                  <a:gd name="T37" fmla="*/ 5 h 49"/>
                  <a:gd name="T38" fmla="*/ 45 w 58"/>
                  <a:gd name="T39" fmla="*/ 5 h 49"/>
                  <a:gd name="T40" fmla="*/ 43 w 58"/>
                  <a:gd name="T41" fmla="*/ 4 h 49"/>
                  <a:gd name="T42" fmla="*/ 41 w 58"/>
                  <a:gd name="T43" fmla="*/ 4 h 49"/>
                  <a:gd name="T44" fmla="*/ 40 w 58"/>
                  <a:gd name="T45" fmla="*/ 4 h 49"/>
                  <a:gd name="T46" fmla="*/ 21 w 58"/>
                  <a:gd name="T47" fmla="*/ 2 h 49"/>
                  <a:gd name="T48" fmla="*/ 18 w 58"/>
                  <a:gd name="T49" fmla="*/ 0 h 49"/>
                  <a:gd name="T50" fmla="*/ 17 w 58"/>
                  <a:gd name="T51" fmla="*/ 0 h 49"/>
                  <a:gd name="T52" fmla="*/ 16 w 58"/>
                  <a:gd name="T53" fmla="*/ 1 h 49"/>
                  <a:gd name="T54" fmla="*/ 15 w 58"/>
                  <a:gd name="T55" fmla="*/ 1 h 49"/>
                  <a:gd name="T56" fmla="*/ 10 w 58"/>
                  <a:gd name="T57" fmla="*/ 4 h 49"/>
                  <a:gd name="T58" fmla="*/ 9 w 58"/>
                  <a:gd name="T59" fmla="*/ 4 h 49"/>
                  <a:gd name="T60" fmla="*/ 6 w 58"/>
                  <a:gd name="T61" fmla="*/ 2 h 49"/>
                  <a:gd name="T62" fmla="*/ 2 w 58"/>
                  <a:gd name="T63" fmla="*/ 1 h 49"/>
                  <a:gd name="T64" fmla="*/ 1 w 58"/>
                  <a:gd name="T65" fmla="*/ 2 h 49"/>
                  <a:gd name="T66" fmla="*/ 1 w 58"/>
                  <a:gd name="T67" fmla="*/ 4 h 49"/>
                  <a:gd name="T68" fmla="*/ 1 w 58"/>
                  <a:gd name="T69" fmla="*/ 7 h 49"/>
                  <a:gd name="T70" fmla="*/ 2 w 58"/>
                  <a:gd name="T71" fmla="*/ 10 h 49"/>
                  <a:gd name="T72" fmla="*/ 5 w 58"/>
                  <a:gd name="T73" fmla="*/ 12 h 49"/>
                  <a:gd name="T74" fmla="*/ 8 w 58"/>
                  <a:gd name="T75" fmla="*/ 19 h 49"/>
                  <a:gd name="T76" fmla="*/ 9 w 58"/>
                  <a:gd name="T77" fmla="*/ 20 h 49"/>
                  <a:gd name="T78" fmla="*/ 14 w 58"/>
                  <a:gd name="T79" fmla="*/ 25 h 49"/>
                  <a:gd name="T80" fmla="*/ 23 w 58"/>
                  <a:gd name="T81" fmla="*/ 33 h 49"/>
                  <a:gd name="T82" fmla="*/ 26 w 58"/>
                  <a:gd name="T83" fmla="*/ 38 h 49"/>
                  <a:gd name="T84" fmla="*/ 29 w 58"/>
                  <a:gd name="T85" fmla="*/ 41 h 49"/>
                  <a:gd name="T86" fmla="*/ 28 w 58"/>
                  <a:gd name="T87" fmla="*/ 42 h 49"/>
                  <a:gd name="T88" fmla="*/ 29 w 58"/>
                  <a:gd name="T89" fmla="*/ 43 h 49"/>
                  <a:gd name="T90" fmla="*/ 40 w 58"/>
                  <a:gd name="T91" fmla="*/ 49 h 49"/>
                  <a:gd name="T92" fmla="*/ 41 w 58"/>
                  <a:gd name="T93" fmla="*/ 49 h 49"/>
                  <a:gd name="T94" fmla="*/ 42 w 58"/>
                  <a:gd name="T95" fmla="*/ 48 h 49"/>
                  <a:gd name="T96" fmla="*/ 42 w 58"/>
                  <a:gd name="T97" fmla="*/ 45 h 49"/>
                  <a:gd name="T98" fmla="*/ 41 w 58"/>
                  <a:gd name="T99" fmla="*/ 41 h 49"/>
                  <a:gd name="T100" fmla="*/ 44 w 58"/>
                  <a:gd name="T101" fmla="*/ 37 h 49"/>
                  <a:gd name="T102" fmla="*/ 46 w 58"/>
                  <a:gd name="T103" fmla="*/ 35 h 49"/>
                  <a:gd name="T104" fmla="*/ 48 w 58"/>
                  <a:gd name="T105" fmla="*/ 35 h 49"/>
                  <a:gd name="T106" fmla="*/ 49 w 58"/>
                  <a:gd name="T107" fmla="*/ 36 h 49"/>
                  <a:gd name="T108" fmla="*/ 50 w 58"/>
                  <a:gd name="T109" fmla="*/ 35 h 49"/>
                  <a:gd name="T110" fmla="*/ 48 w 58"/>
                  <a:gd name="T111" fmla="*/ 32 h 49"/>
                  <a:gd name="T112" fmla="*/ 49 w 58"/>
                  <a:gd name="T113" fmla="*/ 31 h 49"/>
                  <a:gd name="T114" fmla="*/ 49 w 58"/>
                  <a:gd name="T115" fmla="*/ 32 h 49"/>
                  <a:gd name="T116" fmla="*/ 50 w 58"/>
                  <a:gd name="T117" fmla="*/ 32 h 49"/>
                  <a:gd name="T118" fmla="*/ 52 w 58"/>
                  <a:gd name="T119" fmla="*/ 32 h 49"/>
                  <a:gd name="T120" fmla="*/ 52 w 58"/>
                  <a:gd name="T121" fmla="*/ 3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 h="49">
                    <a:moveTo>
                      <a:pt x="52" y="31"/>
                    </a:moveTo>
                    <a:cubicBezTo>
                      <a:pt x="53" y="31"/>
                      <a:pt x="54" y="30"/>
                      <a:pt x="55" y="30"/>
                    </a:cubicBezTo>
                    <a:cubicBezTo>
                      <a:pt x="55" y="30"/>
                      <a:pt x="56" y="29"/>
                      <a:pt x="56" y="29"/>
                    </a:cubicBezTo>
                    <a:cubicBezTo>
                      <a:pt x="56" y="28"/>
                      <a:pt x="56" y="28"/>
                      <a:pt x="55" y="27"/>
                    </a:cubicBezTo>
                    <a:cubicBezTo>
                      <a:pt x="55" y="27"/>
                      <a:pt x="53" y="24"/>
                      <a:pt x="52" y="23"/>
                    </a:cubicBezTo>
                    <a:cubicBezTo>
                      <a:pt x="52" y="22"/>
                      <a:pt x="54" y="24"/>
                      <a:pt x="54" y="24"/>
                    </a:cubicBezTo>
                    <a:cubicBezTo>
                      <a:pt x="55" y="24"/>
                      <a:pt x="57" y="24"/>
                      <a:pt x="58" y="23"/>
                    </a:cubicBezTo>
                    <a:cubicBezTo>
                      <a:pt x="58" y="22"/>
                      <a:pt x="57" y="22"/>
                      <a:pt x="57" y="22"/>
                    </a:cubicBezTo>
                    <a:cubicBezTo>
                      <a:pt x="56" y="22"/>
                      <a:pt x="54" y="19"/>
                      <a:pt x="54" y="19"/>
                    </a:cubicBezTo>
                    <a:cubicBezTo>
                      <a:pt x="54" y="18"/>
                      <a:pt x="53" y="18"/>
                      <a:pt x="53" y="18"/>
                    </a:cubicBezTo>
                    <a:cubicBezTo>
                      <a:pt x="52" y="19"/>
                      <a:pt x="52" y="18"/>
                      <a:pt x="51" y="18"/>
                    </a:cubicBezTo>
                    <a:cubicBezTo>
                      <a:pt x="51" y="17"/>
                      <a:pt x="50" y="15"/>
                      <a:pt x="50" y="14"/>
                    </a:cubicBezTo>
                    <a:cubicBezTo>
                      <a:pt x="51" y="13"/>
                      <a:pt x="52" y="12"/>
                      <a:pt x="52" y="12"/>
                    </a:cubicBezTo>
                    <a:cubicBezTo>
                      <a:pt x="52" y="11"/>
                      <a:pt x="53" y="8"/>
                      <a:pt x="54" y="7"/>
                    </a:cubicBezTo>
                    <a:cubicBezTo>
                      <a:pt x="54" y="6"/>
                      <a:pt x="53" y="7"/>
                      <a:pt x="53" y="7"/>
                    </a:cubicBezTo>
                    <a:cubicBezTo>
                      <a:pt x="53" y="7"/>
                      <a:pt x="51" y="7"/>
                      <a:pt x="50" y="7"/>
                    </a:cubicBezTo>
                    <a:cubicBezTo>
                      <a:pt x="50" y="7"/>
                      <a:pt x="50" y="7"/>
                      <a:pt x="49" y="7"/>
                    </a:cubicBezTo>
                    <a:cubicBezTo>
                      <a:pt x="48" y="7"/>
                      <a:pt x="46" y="6"/>
                      <a:pt x="46" y="6"/>
                    </a:cubicBezTo>
                    <a:cubicBezTo>
                      <a:pt x="45" y="6"/>
                      <a:pt x="45" y="6"/>
                      <a:pt x="45" y="5"/>
                    </a:cubicBezTo>
                    <a:cubicBezTo>
                      <a:pt x="46" y="5"/>
                      <a:pt x="45" y="5"/>
                      <a:pt x="45" y="5"/>
                    </a:cubicBezTo>
                    <a:cubicBezTo>
                      <a:pt x="44" y="5"/>
                      <a:pt x="44" y="4"/>
                      <a:pt x="43" y="4"/>
                    </a:cubicBezTo>
                    <a:cubicBezTo>
                      <a:pt x="42" y="3"/>
                      <a:pt x="42" y="3"/>
                      <a:pt x="41" y="4"/>
                    </a:cubicBezTo>
                    <a:cubicBezTo>
                      <a:pt x="41" y="4"/>
                      <a:pt x="40" y="4"/>
                      <a:pt x="40" y="4"/>
                    </a:cubicBezTo>
                    <a:cubicBezTo>
                      <a:pt x="40" y="4"/>
                      <a:pt x="22" y="2"/>
                      <a:pt x="21" y="2"/>
                    </a:cubicBezTo>
                    <a:cubicBezTo>
                      <a:pt x="21" y="2"/>
                      <a:pt x="19" y="1"/>
                      <a:pt x="18" y="0"/>
                    </a:cubicBezTo>
                    <a:cubicBezTo>
                      <a:pt x="18" y="0"/>
                      <a:pt x="17" y="0"/>
                      <a:pt x="17" y="0"/>
                    </a:cubicBezTo>
                    <a:cubicBezTo>
                      <a:pt x="17" y="1"/>
                      <a:pt x="16" y="1"/>
                      <a:pt x="16" y="1"/>
                    </a:cubicBezTo>
                    <a:cubicBezTo>
                      <a:pt x="15" y="1"/>
                      <a:pt x="15" y="1"/>
                      <a:pt x="15" y="1"/>
                    </a:cubicBezTo>
                    <a:cubicBezTo>
                      <a:pt x="11" y="1"/>
                      <a:pt x="10" y="4"/>
                      <a:pt x="10" y="4"/>
                    </a:cubicBezTo>
                    <a:cubicBezTo>
                      <a:pt x="9" y="5"/>
                      <a:pt x="9" y="4"/>
                      <a:pt x="9" y="4"/>
                    </a:cubicBezTo>
                    <a:cubicBezTo>
                      <a:pt x="9" y="4"/>
                      <a:pt x="6" y="2"/>
                      <a:pt x="6" y="2"/>
                    </a:cubicBezTo>
                    <a:cubicBezTo>
                      <a:pt x="5" y="1"/>
                      <a:pt x="3" y="1"/>
                      <a:pt x="2" y="1"/>
                    </a:cubicBezTo>
                    <a:cubicBezTo>
                      <a:pt x="1" y="1"/>
                      <a:pt x="1" y="2"/>
                      <a:pt x="1" y="2"/>
                    </a:cubicBezTo>
                    <a:cubicBezTo>
                      <a:pt x="1" y="2"/>
                      <a:pt x="1" y="3"/>
                      <a:pt x="1" y="4"/>
                    </a:cubicBezTo>
                    <a:cubicBezTo>
                      <a:pt x="1" y="5"/>
                      <a:pt x="1" y="5"/>
                      <a:pt x="1" y="7"/>
                    </a:cubicBezTo>
                    <a:cubicBezTo>
                      <a:pt x="0" y="8"/>
                      <a:pt x="1" y="9"/>
                      <a:pt x="2" y="10"/>
                    </a:cubicBezTo>
                    <a:cubicBezTo>
                      <a:pt x="3" y="11"/>
                      <a:pt x="4" y="11"/>
                      <a:pt x="5" y="12"/>
                    </a:cubicBezTo>
                    <a:cubicBezTo>
                      <a:pt x="6" y="13"/>
                      <a:pt x="7" y="18"/>
                      <a:pt x="8" y="19"/>
                    </a:cubicBezTo>
                    <a:cubicBezTo>
                      <a:pt x="8" y="20"/>
                      <a:pt x="8" y="20"/>
                      <a:pt x="9" y="20"/>
                    </a:cubicBezTo>
                    <a:cubicBezTo>
                      <a:pt x="9" y="21"/>
                      <a:pt x="14" y="25"/>
                      <a:pt x="14" y="25"/>
                    </a:cubicBezTo>
                    <a:cubicBezTo>
                      <a:pt x="15" y="26"/>
                      <a:pt x="22" y="31"/>
                      <a:pt x="23" y="33"/>
                    </a:cubicBezTo>
                    <a:cubicBezTo>
                      <a:pt x="24" y="34"/>
                      <a:pt x="25" y="37"/>
                      <a:pt x="26" y="38"/>
                    </a:cubicBezTo>
                    <a:cubicBezTo>
                      <a:pt x="26" y="39"/>
                      <a:pt x="27" y="39"/>
                      <a:pt x="29" y="41"/>
                    </a:cubicBezTo>
                    <a:cubicBezTo>
                      <a:pt x="30" y="42"/>
                      <a:pt x="29" y="42"/>
                      <a:pt x="28" y="42"/>
                    </a:cubicBezTo>
                    <a:cubicBezTo>
                      <a:pt x="28" y="43"/>
                      <a:pt x="29" y="43"/>
                      <a:pt x="29" y="43"/>
                    </a:cubicBezTo>
                    <a:cubicBezTo>
                      <a:pt x="40" y="49"/>
                      <a:pt x="40" y="49"/>
                      <a:pt x="40" y="49"/>
                    </a:cubicBezTo>
                    <a:cubicBezTo>
                      <a:pt x="40" y="48"/>
                      <a:pt x="40" y="48"/>
                      <a:pt x="41" y="49"/>
                    </a:cubicBezTo>
                    <a:cubicBezTo>
                      <a:pt x="41" y="49"/>
                      <a:pt x="41" y="48"/>
                      <a:pt x="42" y="48"/>
                    </a:cubicBezTo>
                    <a:cubicBezTo>
                      <a:pt x="42" y="48"/>
                      <a:pt x="42" y="46"/>
                      <a:pt x="42" y="45"/>
                    </a:cubicBezTo>
                    <a:cubicBezTo>
                      <a:pt x="42" y="44"/>
                      <a:pt x="41" y="43"/>
                      <a:pt x="41" y="41"/>
                    </a:cubicBezTo>
                    <a:cubicBezTo>
                      <a:pt x="41" y="40"/>
                      <a:pt x="43" y="38"/>
                      <a:pt x="44" y="37"/>
                    </a:cubicBezTo>
                    <a:cubicBezTo>
                      <a:pt x="45" y="37"/>
                      <a:pt x="45" y="36"/>
                      <a:pt x="46" y="35"/>
                    </a:cubicBezTo>
                    <a:cubicBezTo>
                      <a:pt x="47" y="34"/>
                      <a:pt x="48" y="35"/>
                      <a:pt x="48" y="35"/>
                    </a:cubicBezTo>
                    <a:cubicBezTo>
                      <a:pt x="48" y="35"/>
                      <a:pt x="49" y="36"/>
                      <a:pt x="49" y="36"/>
                    </a:cubicBezTo>
                    <a:cubicBezTo>
                      <a:pt x="50" y="36"/>
                      <a:pt x="50" y="36"/>
                      <a:pt x="50" y="35"/>
                    </a:cubicBezTo>
                    <a:cubicBezTo>
                      <a:pt x="49" y="34"/>
                      <a:pt x="48" y="33"/>
                      <a:pt x="48" y="32"/>
                    </a:cubicBezTo>
                    <a:cubicBezTo>
                      <a:pt x="48" y="32"/>
                      <a:pt x="48" y="32"/>
                      <a:pt x="49" y="31"/>
                    </a:cubicBezTo>
                    <a:cubicBezTo>
                      <a:pt x="49" y="31"/>
                      <a:pt x="49" y="31"/>
                      <a:pt x="49" y="32"/>
                    </a:cubicBezTo>
                    <a:cubicBezTo>
                      <a:pt x="49" y="32"/>
                      <a:pt x="50" y="32"/>
                      <a:pt x="50" y="32"/>
                    </a:cubicBezTo>
                    <a:cubicBezTo>
                      <a:pt x="50" y="32"/>
                      <a:pt x="51" y="32"/>
                      <a:pt x="52" y="32"/>
                    </a:cubicBezTo>
                    <a:cubicBezTo>
                      <a:pt x="52" y="32"/>
                      <a:pt x="52" y="32"/>
                      <a:pt x="52" y="3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24" name="Freeform 1036">
                <a:extLst>
                  <a:ext uri="{FF2B5EF4-FFF2-40B4-BE49-F238E27FC236}">
                    <a16:creationId xmlns:a16="http://schemas.microsoft.com/office/drawing/2014/main" id="{A8419DEC-AF75-41CE-8B3E-2495DDEADC8E}"/>
                  </a:ext>
                </a:extLst>
              </p:cNvPr>
              <p:cNvSpPr>
                <a:spLocks/>
              </p:cNvSpPr>
              <p:nvPr/>
            </p:nvSpPr>
            <p:spPr bwMode="auto">
              <a:xfrm>
                <a:off x="3834" y="1606"/>
                <a:ext cx="138" cy="73"/>
              </a:xfrm>
              <a:custGeom>
                <a:avLst/>
                <a:gdLst>
                  <a:gd name="T0" fmla="*/ 15 w 100"/>
                  <a:gd name="T1" fmla="*/ 12 h 53"/>
                  <a:gd name="T2" fmla="*/ 14 w 100"/>
                  <a:gd name="T3" fmla="*/ 17 h 53"/>
                  <a:gd name="T4" fmla="*/ 10 w 100"/>
                  <a:gd name="T5" fmla="*/ 17 h 53"/>
                  <a:gd name="T6" fmla="*/ 8 w 100"/>
                  <a:gd name="T7" fmla="*/ 16 h 53"/>
                  <a:gd name="T8" fmla="*/ 6 w 100"/>
                  <a:gd name="T9" fmla="*/ 16 h 53"/>
                  <a:gd name="T10" fmla="*/ 5 w 100"/>
                  <a:gd name="T11" fmla="*/ 18 h 53"/>
                  <a:gd name="T12" fmla="*/ 8 w 100"/>
                  <a:gd name="T13" fmla="*/ 20 h 53"/>
                  <a:gd name="T14" fmla="*/ 7 w 100"/>
                  <a:gd name="T15" fmla="*/ 22 h 53"/>
                  <a:gd name="T16" fmla="*/ 5 w 100"/>
                  <a:gd name="T17" fmla="*/ 23 h 53"/>
                  <a:gd name="T18" fmla="*/ 6 w 100"/>
                  <a:gd name="T19" fmla="*/ 29 h 53"/>
                  <a:gd name="T20" fmla="*/ 3 w 100"/>
                  <a:gd name="T21" fmla="*/ 29 h 53"/>
                  <a:gd name="T22" fmla="*/ 1 w 100"/>
                  <a:gd name="T23" fmla="*/ 31 h 53"/>
                  <a:gd name="T24" fmla="*/ 1 w 100"/>
                  <a:gd name="T25" fmla="*/ 32 h 53"/>
                  <a:gd name="T26" fmla="*/ 3 w 100"/>
                  <a:gd name="T27" fmla="*/ 34 h 53"/>
                  <a:gd name="T28" fmla="*/ 5 w 100"/>
                  <a:gd name="T29" fmla="*/ 37 h 53"/>
                  <a:gd name="T30" fmla="*/ 9 w 100"/>
                  <a:gd name="T31" fmla="*/ 40 h 53"/>
                  <a:gd name="T32" fmla="*/ 11 w 100"/>
                  <a:gd name="T33" fmla="*/ 42 h 53"/>
                  <a:gd name="T34" fmla="*/ 18 w 100"/>
                  <a:gd name="T35" fmla="*/ 49 h 53"/>
                  <a:gd name="T36" fmla="*/ 24 w 100"/>
                  <a:gd name="T37" fmla="*/ 52 h 53"/>
                  <a:gd name="T38" fmla="*/ 31 w 100"/>
                  <a:gd name="T39" fmla="*/ 53 h 53"/>
                  <a:gd name="T40" fmla="*/ 41 w 100"/>
                  <a:gd name="T41" fmla="*/ 50 h 53"/>
                  <a:gd name="T42" fmla="*/ 55 w 100"/>
                  <a:gd name="T43" fmla="*/ 45 h 53"/>
                  <a:gd name="T44" fmla="*/ 61 w 100"/>
                  <a:gd name="T45" fmla="*/ 46 h 53"/>
                  <a:gd name="T46" fmla="*/ 68 w 100"/>
                  <a:gd name="T47" fmla="*/ 46 h 53"/>
                  <a:gd name="T48" fmla="*/ 69 w 100"/>
                  <a:gd name="T49" fmla="*/ 44 h 53"/>
                  <a:gd name="T50" fmla="*/ 72 w 100"/>
                  <a:gd name="T51" fmla="*/ 44 h 53"/>
                  <a:gd name="T52" fmla="*/ 76 w 100"/>
                  <a:gd name="T53" fmla="*/ 42 h 53"/>
                  <a:gd name="T54" fmla="*/ 79 w 100"/>
                  <a:gd name="T55" fmla="*/ 36 h 53"/>
                  <a:gd name="T56" fmla="*/ 82 w 100"/>
                  <a:gd name="T57" fmla="*/ 30 h 53"/>
                  <a:gd name="T58" fmla="*/ 90 w 100"/>
                  <a:gd name="T59" fmla="*/ 19 h 53"/>
                  <a:gd name="T60" fmla="*/ 90 w 100"/>
                  <a:gd name="T61" fmla="*/ 3 h 53"/>
                  <a:gd name="T62" fmla="*/ 86 w 100"/>
                  <a:gd name="T63" fmla="*/ 4 h 53"/>
                  <a:gd name="T64" fmla="*/ 79 w 100"/>
                  <a:gd name="T65" fmla="*/ 1 h 53"/>
                  <a:gd name="T66" fmla="*/ 69 w 100"/>
                  <a:gd name="T67" fmla="*/ 0 h 53"/>
                  <a:gd name="T68" fmla="*/ 64 w 100"/>
                  <a:gd name="T69" fmla="*/ 2 h 53"/>
                  <a:gd name="T70" fmla="*/ 59 w 100"/>
                  <a:gd name="T71" fmla="*/ 7 h 53"/>
                  <a:gd name="T72" fmla="*/ 55 w 100"/>
                  <a:gd name="T73" fmla="*/ 8 h 53"/>
                  <a:gd name="T74" fmla="*/ 50 w 100"/>
                  <a:gd name="T75" fmla="*/ 7 h 53"/>
                  <a:gd name="T76" fmla="*/ 40 w 100"/>
                  <a:gd name="T77" fmla="*/ 11 h 53"/>
                  <a:gd name="T78" fmla="*/ 40 w 100"/>
                  <a:gd name="T79" fmla="*/ 14 h 53"/>
                  <a:gd name="T80" fmla="*/ 37 w 100"/>
                  <a:gd name="T81" fmla="*/ 15 h 53"/>
                  <a:gd name="T82" fmla="*/ 25 w 100"/>
                  <a:gd name="T83" fmla="*/ 16 h 53"/>
                  <a:gd name="T84" fmla="*/ 19 w 100"/>
                  <a:gd name="T85" fmla="*/ 12 h 53"/>
                  <a:gd name="T86" fmla="*/ 16 w 100"/>
                  <a:gd name="T87" fmla="*/ 1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0" h="53">
                    <a:moveTo>
                      <a:pt x="15" y="11"/>
                    </a:moveTo>
                    <a:cubicBezTo>
                      <a:pt x="15" y="11"/>
                      <a:pt x="15" y="11"/>
                      <a:pt x="15" y="12"/>
                    </a:cubicBezTo>
                    <a:cubicBezTo>
                      <a:pt x="15" y="12"/>
                      <a:pt x="14" y="15"/>
                      <a:pt x="14" y="16"/>
                    </a:cubicBezTo>
                    <a:cubicBezTo>
                      <a:pt x="14" y="16"/>
                      <a:pt x="14" y="17"/>
                      <a:pt x="14" y="17"/>
                    </a:cubicBezTo>
                    <a:cubicBezTo>
                      <a:pt x="14" y="17"/>
                      <a:pt x="13" y="17"/>
                      <a:pt x="12" y="17"/>
                    </a:cubicBezTo>
                    <a:cubicBezTo>
                      <a:pt x="12" y="17"/>
                      <a:pt x="10" y="17"/>
                      <a:pt x="10" y="17"/>
                    </a:cubicBezTo>
                    <a:cubicBezTo>
                      <a:pt x="10" y="17"/>
                      <a:pt x="9" y="17"/>
                      <a:pt x="9" y="16"/>
                    </a:cubicBezTo>
                    <a:cubicBezTo>
                      <a:pt x="9" y="16"/>
                      <a:pt x="9" y="16"/>
                      <a:pt x="8" y="16"/>
                    </a:cubicBezTo>
                    <a:cubicBezTo>
                      <a:pt x="8" y="16"/>
                      <a:pt x="7" y="16"/>
                      <a:pt x="7" y="16"/>
                    </a:cubicBezTo>
                    <a:cubicBezTo>
                      <a:pt x="6" y="16"/>
                      <a:pt x="6" y="16"/>
                      <a:pt x="6" y="16"/>
                    </a:cubicBezTo>
                    <a:cubicBezTo>
                      <a:pt x="6" y="16"/>
                      <a:pt x="6" y="16"/>
                      <a:pt x="5" y="17"/>
                    </a:cubicBezTo>
                    <a:cubicBezTo>
                      <a:pt x="4" y="17"/>
                      <a:pt x="5" y="18"/>
                      <a:pt x="5" y="18"/>
                    </a:cubicBezTo>
                    <a:cubicBezTo>
                      <a:pt x="5" y="18"/>
                      <a:pt x="6" y="18"/>
                      <a:pt x="6" y="18"/>
                    </a:cubicBezTo>
                    <a:cubicBezTo>
                      <a:pt x="6" y="18"/>
                      <a:pt x="7" y="19"/>
                      <a:pt x="8" y="20"/>
                    </a:cubicBezTo>
                    <a:cubicBezTo>
                      <a:pt x="8" y="20"/>
                      <a:pt x="8" y="20"/>
                      <a:pt x="8" y="21"/>
                    </a:cubicBezTo>
                    <a:cubicBezTo>
                      <a:pt x="8" y="21"/>
                      <a:pt x="7" y="22"/>
                      <a:pt x="7" y="22"/>
                    </a:cubicBezTo>
                    <a:cubicBezTo>
                      <a:pt x="7" y="22"/>
                      <a:pt x="6" y="22"/>
                      <a:pt x="5" y="23"/>
                    </a:cubicBezTo>
                    <a:cubicBezTo>
                      <a:pt x="5" y="23"/>
                      <a:pt x="5" y="23"/>
                      <a:pt x="5" y="23"/>
                    </a:cubicBezTo>
                    <a:cubicBezTo>
                      <a:pt x="5" y="23"/>
                      <a:pt x="5" y="25"/>
                      <a:pt x="5" y="26"/>
                    </a:cubicBezTo>
                    <a:cubicBezTo>
                      <a:pt x="5" y="27"/>
                      <a:pt x="5" y="28"/>
                      <a:pt x="6" y="29"/>
                    </a:cubicBezTo>
                    <a:cubicBezTo>
                      <a:pt x="6" y="29"/>
                      <a:pt x="5" y="30"/>
                      <a:pt x="5" y="30"/>
                    </a:cubicBezTo>
                    <a:cubicBezTo>
                      <a:pt x="5" y="30"/>
                      <a:pt x="3" y="29"/>
                      <a:pt x="3" y="29"/>
                    </a:cubicBezTo>
                    <a:cubicBezTo>
                      <a:pt x="3" y="29"/>
                      <a:pt x="2" y="30"/>
                      <a:pt x="2" y="30"/>
                    </a:cubicBezTo>
                    <a:cubicBezTo>
                      <a:pt x="2" y="30"/>
                      <a:pt x="1" y="31"/>
                      <a:pt x="1" y="31"/>
                    </a:cubicBezTo>
                    <a:cubicBezTo>
                      <a:pt x="0" y="32"/>
                      <a:pt x="0" y="32"/>
                      <a:pt x="0" y="32"/>
                    </a:cubicBezTo>
                    <a:cubicBezTo>
                      <a:pt x="0" y="32"/>
                      <a:pt x="1" y="32"/>
                      <a:pt x="1" y="32"/>
                    </a:cubicBezTo>
                    <a:cubicBezTo>
                      <a:pt x="1" y="32"/>
                      <a:pt x="3" y="32"/>
                      <a:pt x="3" y="33"/>
                    </a:cubicBezTo>
                    <a:cubicBezTo>
                      <a:pt x="3" y="34"/>
                      <a:pt x="3" y="34"/>
                      <a:pt x="3" y="34"/>
                    </a:cubicBezTo>
                    <a:cubicBezTo>
                      <a:pt x="4" y="35"/>
                      <a:pt x="4" y="36"/>
                      <a:pt x="4" y="36"/>
                    </a:cubicBezTo>
                    <a:cubicBezTo>
                      <a:pt x="4" y="36"/>
                      <a:pt x="4" y="37"/>
                      <a:pt x="5" y="37"/>
                    </a:cubicBezTo>
                    <a:cubicBezTo>
                      <a:pt x="5" y="38"/>
                      <a:pt x="6" y="39"/>
                      <a:pt x="7" y="39"/>
                    </a:cubicBezTo>
                    <a:cubicBezTo>
                      <a:pt x="7" y="40"/>
                      <a:pt x="8" y="40"/>
                      <a:pt x="9" y="40"/>
                    </a:cubicBezTo>
                    <a:cubicBezTo>
                      <a:pt x="10" y="41"/>
                      <a:pt x="11" y="42"/>
                      <a:pt x="11" y="42"/>
                    </a:cubicBezTo>
                    <a:cubicBezTo>
                      <a:pt x="11" y="42"/>
                      <a:pt x="11" y="42"/>
                      <a:pt x="11" y="42"/>
                    </a:cubicBezTo>
                    <a:cubicBezTo>
                      <a:pt x="11" y="43"/>
                      <a:pt x="12" y="44"/>
                      <a:pt x="12" y="44"/>
                    </a:cubicBezTo>
                    <a:cubicBezTo>
                      <a:pt x="12" y="44"/>
                      <a:pt x="17" y="49"/>
                      <a:pt x="18" y="49"/>
                    </a:cubicBezTo>
                    <a:cubicBezTo>
                      <a:pt x="19" y="49"/>
                      <a:pt x="21" y="50"/>
                      <a:pt x="21" y="50"/>
                    </a:cubicBezTo>
                    <a:cubicBezTo>
                      <a:pt x="22" y="51"/>
                      <a:pt x="24" y="52"/>
                      <a:pt x="24" y="52"/>
                    </a:cubicBezTo>
                    <a:cubicBezTo>
                      <a:pt x="25" y="52"/>
                      <a:pt x="27" y="52"/>
                      <a:pt x="27" y="52"/>
                    </a:cubicBezTo>
                    <a:cubicBezTo>
                      <a:pt x="28" y="52"/>
                      <a:pt x="31" y="53"/>
                      <a:pt x="31" y="53"/>
                    </a:cubicBezTo>
                    <a:cubicBezTo>
                      <a:pt x="31" y="53"/>
                      <a:pt x="32" y="53"/>
                      <a:pt x="33" y="53"/>
                    </a:cubicBezTo>
                    <a:cubicBezTo>
                      <a:pt x="33" y="53"/>
                      <a:pt x="37" y="51"/>
                      <a:pt x="41" y="50"/>
                    </a:cubicBezTo>
                    <a:cubicBezTo>
                      <a:pt x="46" y="48"/>
                      <a:pt x="52" y="46"/>
                      <a:pt x="52" y="46"/>
                    </a:cubicBezTo>
                    <a:cubicBezTo>
                      <a:pt x="53" y="45"/>
                      <a:pt x="54" y="45"/>
                      <a:pt x="55" y="45"/>
                    </a:cubicBezTo>
                    <a:cubicBezTo>
                      <a:pt x="55" y="45"/>
                      <a:pt x="58" y="45"/>
                      <a:pt x="59" y="46"/>
                    </a:cubicBezTo>
                    <a:cubicBezTo>
                      <a:pt x="59" y="46"/>
                      <a:pt x="60" y="45"/>
                      <a:pt x="61" y="46"/>
                    </a:cubicBezTo>
                    <a:cubicBezTo>
                      <a:pt x="61" y="46"/>
                      <a:pt x="61" y="46"/>
                      <a:pt x="62" y="47"/>
                    </a:cubicBezTo>
                    <a:cubicBezTo>
                      <a:pt x="63" y="46"/>
                      <a:pt x="68" y="46"/>
                      <a:pt x="68" y="46"/>
                    </a:cubicBezTo>
                    <a:cubicBezTo>
                      <a:pt x="68" y="45"/>
                      <a:pt x="68" y="45"/>
                      <a:pt x="68" y="45"/>
                    </a:cubicBezTo>
                    <a:cubicBezTo>
                      <a:pt x="68" y="45"/>
                      <a:pt x="69" y="44"/>
                      <a:pt x="69" y="44"/>
                    </a:cubicBezTo>
                    <a:cubicBezTo>
                      <a:pt x="69" y="43"/>
                      <a:pt x="70" y="44"/>
                      <a:pt x="70" y="44"/>
                    </a:cubicBezTo>
                    <a:cubicBezTo>
                      <a:pt x="70" y="44"/>
                      <a:pt x="71" y="44"/>
                      <a:pt x="72" y="44"/>
                    </a:cubicBezTo>
                    <a:cubicBezTo>
                      <a:pt x="74" y="43"/>
                      <a:pt x="75" y="43"/>
                      <a:pt x="75" y="43"/>
                    </a:cubicBezTo>
                    <a:cubicBezTo>
                      <a:pt x="75" y="42"/>
                      <a:pt x="75" y="42"/>
                      <a:pt x="76" y="42"/>
                    </a:cubicBezTo>
                    <a:cubicBezTo>
                      <a:pt x="76" y="41"/>
                      <a:pt x="78" y="38"/>
                      <a:pt x="79" y="37"/>
                    </a:cubicBezTo>
                    <a:cubicBezTo>
                      <a:pt x="79" y="37"/>
                      <a:pt x="79" y="36"/>
                      <a:pt x="79" y="36"/>
                    </a:cubicBezTo>
                    <a:cubicBezTo>
                      <a:pt x="80" y="36"/>
                      <a:pt x="80" y="35"/>
                      <a:pt x="80" y="35"/>
                    </a:cubicBezTo>
                    <a:cubicBezTo>
                      <a:pt x="80" y="35"/>
                      <a:pt x="82" y="31"/>
                      <a:pt x="82" y="30"/>
                    </a:cubicBezTo>
                    <a:cubicBezTo>
                      <a:pt x="82" y="29"/>
                      <a:pt x="88" y="20"/>
                      <a:pt x="89" y="19"/>
                    </a:cubicBezTo>
                    <a:cubicBezTo>
                      <a:pt x="89" y="19"/>
                      <a:pt x="89" y="19"/>
                      <a:pt x="90" y="19"/>
                    </a:cubicBezTo>
                    <a:cubicBezTo>
                      <a:pt x="90" y="18"/>
                      <a:pt x="100" y="12"/>
                      <a:pt x="100" y="12"/>
                    </a:cubicBezTo>
                    <a:cubicBezTo>
                      <a:pt x="90" y="3"/>
                      <a:pt x="90" y="3"/>
                      <a:pt x="90" y="3"/>
                    </a:cubicBezTo>
                    <a:cubicBezTo>
                      <a:pt x="90" y="3"/>
                      <a:pt x="90" y="3"/>
                      <a:pt x="90" y="3"/>
                    </a:cubicBezTo>
                    <a:cubicBezTo>
                      <a:pt x="89" y="3"/>
                      <a:pt x="87" y="4"/>
                      <a:pt x="86" y="4"/>
                    </a:cubicBezTo>
                    <a:cubicBezTo>
                      <a:pt x="82" y="5"/>
                      <a:pt x="81" y="2"/>
                      <a:pt x="80" y="1"/>
                    </a:cubicBezTo>
                    <a:cubicBezTo>
                      <a:pt x="80" y="1"/>
                      <a:pt x="79" y="1"/>
                      <a:pt x="79" y="1"/>
                    </a:cubicBezTo>
                    <a:cubicBezTo>
                      <a:pt x="79" y="1"/>
                      <a:pt x="71" y="0"/>
                      <a:pt x="70" y="0"/>
                    </a:cubicBezTo>
                    <a:cubicBezTo>
                      <a:pt x="70" y="0"/>
                      <a:pt x="69" y="0"/>
                      <a:pt x="69" y="0"/>
                    </a:cubicBezTo>
                    <a:cubicBezTo>
                      <a:pt x="69" y="0"/>
                      <a:pt x="66" y="1"/>
                      <a:pt x="65" y="2"/>
                    </a:cubicBezTo>
                    <a:cubicBezTo>
                      <a:pt x="65" y="2"/>
                      <a:pt x="65" y="2"/>
                      <a:pt x="64" y="2"/>
                    </a:cubicBezTo>
                    <a:cubicBezTo>
                      <a:pt x="64" y="3"/>
                      <a:pt x="64" y="3"/>
                      <a:pt x="63" y="3"/>
                    </a:cubicBezTo>
                    <a:cubicBezTo>
                      <a:pt x="63" y="4"/>
                      <a:pt x="60" y="6"/>
                      <a:pt x="59" y="7"/>
                    </a:cubicBezTo>
                    <a:cubicBezTo>
                      <a:pt x="58" y="8"/>
                      <a:pt x="57" y="8"/>
                      <a:pt x="57" y="8"/>
                    </a:cubicBezTo>
                    <a:cubicBezTo>
                      <a:pt x="56" y="8"/>
                      <a:pt x="55" y="8"/>
                      <a:pt x="55" y="8"/>
                    </a:cubicBezTo>
                    <a:cubicBezTo>
                      <a:pt x="55" y="8"/>
                      <a:pt x="52" y="7"/>
                      <a:pt x="52" y="7"/>
                    </a:cubicBezTo>
                    <a:cubicBezTo>
                      <a:pt x="51" y="7"/>
                      <a:pt x="50" y="7"/>
                      <a:pt x="50" y="7"/>
                    </a:cubicBezTo>
                    <a:cubicBezTo>
                      <a:pt x="50" y="7"/>
                      <a:pt x="43" y="10"/>
                      <a:pt x="42" y="10"/>
                    </a:cubicBezTo>
                    <a:cubicBezTo>
                      <a:pt x="42" y="10"/>
                      <a:pt x="41" y="11"/>
                      <a:pt x="40" y="11"/>
                    </a:cubicBezTo>
                    <a:cubicBezTo>
                      <a:pt x="39" y="12"/>
                      <a:pt x="40" y="12"/>
                      <a:pt x="40" y="12"/>
                    </a:cubicBezTo>
                    <a:cubicBezTo>
                      <a:pt x="40" y="12"/>
                      <a:pt x="40" y="13"/>
                      <a:pt x="40" y="14"/>
                    </a:cubicBezTo>
                    <a:cubicBezTo>
                      <a:pt x="41" y="15"/>
                      <a:pt x="40" y="14"/>
                      <a:pt x="39" y="15"/>
                    </a:cubicBezTo>
                    <a:cubicBezTo>
                      <a:pt x="39" y="15"/>
                      <a:pt x="38" y="15"/>
                      <a:pt x="37" y="15"/>
                    </a:cubicBezTo>
                    <a:cubicBezTo>
                      <a:pt x="36" y="15"/>
                      <a:pt x="34" y="16"/>
                      <a:pt x="33" y="16"/>
                    </a:cubicBezTo>
                    <a:cubicBezTo>
                      <a:pt x="32" y="16"/>
                      <a:pt x="26" y="16"/>
                      <a:pt x="25" y="16"/>
                    </a:cubicBezTo>
                    <a:cubicBezTo>
                      <a:pt x="24" y="16"/>
                      <a:pt x="23" y="15"/>
                      <a:pt x="23" y="15"/>
                    </a:cubicBezTo>
                    <a:cubicBezTo>
                      <a:pt x="23" y="15"/>
                      <a:pt x="20" y="12"/>
                      <a:pt x="19" y="12"/>
                    </a:cubicBezTo>
                    <a:cubicBezTo>
                      <a:pt x="19" y="11"/>
                      <a:pt x="18" y="11"/>
                      <a:pt x="17" y="11"/>
                    </a:cubicBezTo>
                    <a:cubicBezTo>
                      <a:pt x="17" y="10"/>
                      <a:pt x="16" y="11"/>
                      <a:pt x="16" y="11"/>
                    </a:cubicBezTo>
                    <a:cubicBezTo>
                      <a:pt x="16" y="11"/>
                      <a:pt x="16" y="11"/>
                      <a:pt x="15"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25" name="Freeform 1037">
                <a:extLst>
                  <a:ext uri="{FF2B5EF4-FFF2-40B4-BE49-F238E27FC236}">
                    <a16:creationId xmlns:a16="http://schemas.microsoft.com/office/drawing/2014/main" id="{51B9792A-4C17-4B35-96AE-CF04E8AB0C37}"/>
                  </a:ext>
                </a:extLst>
              </p:cNvPr>
              <p:cNvSpPr>
                <a:spLocks/>
              </p:cNvSpPr>
              <p:nvPr/>
            </p:nvSpPr>
            <p:spPr bwMode="auto">
              <a:xfrm>
                <a:off x="3751" y="1540"/>
                <a:ext cx="138" cy="66"/>
              </a:xfrm>
              <a:custGeom>
                <a:avLst/>
                <a:gdLst>
                  <a:gd name="T0" fmla="*/ 40 w 100"/>
                  <a:gd name="T1" fmla="*/ 3 h 48"/>
                  <a:gd name="T2" fmla="*/ 35 w 100"/>
                  <a:gd name="T3" fmla="*/ 1 h 48"/>
                  <a:gd name="T4" fmla="*/ 33 w 100"/>
                  <a:gd name="T5" fmla="*/ 1 h 48"/>
                  <a:gd name="T6" fmla="*/ 33 w 100"/>
                  <a:gd name="T7" fmla="*/ 4 h 48"/>
                  <a:gd name="T8" fmla="*/ 23 w 100"/>
                  <a:gd name="T9" fmla="*/ 7 h 48"/>
                  <a:gd name="T10" fmla="*/ 17 w 100"/>
                  <a:gd name="T11" fmla="*/ 10 h 48"/>
                  <a:gd name="T12" fmla="*/ 12 w 100"/>
                  <a:gd name="T13" fmla="*/ 13 h 48"/>
                  <a:gd name="T14" fmla="*/ 6 w 100"/>
                  <a:gd name="T15" fmla="*/ 14 h 48"/>
                  <a:gd name="T16" fmla="*/ 2 w 100"/>
                  <a:gd name="T17" fmla="*/ 17 h 48"/>
                  <a:gd name="T18" fmla="*/ 2 w 100"/>
                  <a:gd name="T19" fmla="*/ 19 h 48"/>
                  <a:gd name="T20" fmla="*/ 7 w 100"/>
                  <a:gd name="T21" fmla="*/ 22 h 48"/>
                  <a:gd name="T22" fmla="*/ 5 w 100"/>
                  <a:gd name="T23" fmla="*/ 26 h 48"/>
                  <a:gd name="T24" fmla="*/ 8 w 100"/>
                  <a:gd name="T25" fmla="*/ 31 h 48"/>
                  <a:gd name="T26" fmla="*/ 17 w 100"/>
                  <a:gd name="T27" fmla="*/ 37 h 48"/>
                  <a:gd name="T28" fmla="*/ 20 w 100"/>
                  <a:gd name="T29" fmla="*/ 40 h 48"/>
                  <a:gd name="T30" fmla="*/ 26 w 100"/>
                  <a:gd name="T31" fmla="*/ 44 h 48"/>
                  <a:gd name="T32" fmla="*/ 32 w 100"/>
                  <a:gd name="T33" fmla="*/ 48 h 48"/>
                  <a:gd name="T34" fmla="*/ 39 w 100"/>
                  <a:gd name="T35" fmla="*/ 48 h 48"/>
                  <a:gd name="T36" fmla="*/ 43 w 100"/>
                  <a:gd name="T37" fmla="*/ 43 h 48"/>
                  <a:gd name="T38" fmla="*/ 46 w 100"/>
                  <a:gd name="T39" fmla="*/ 41 h 48"/>
                  <a:gd name="T40" fmla="*/ 52 w 100"/>
                  <a:gd name="T41" fmla="*/ 42 h 48"/>
                  <a:gd name="T42" fmla="*/ 61 w 100"/>
                  <a:gd name="T43" fmla="*/ 45 h 48"/>
                  <a:gd name="T44" fmla="*/ 65 w 100"/>
                  <a:gd name="T45" fmla="*/ 44 h 48"/>
                  <a:gd name="T46" fmla="*/ 72 w 100"/>
                  <a:gd name="T47" fmla="*/ 47 h 48"/>
                  <a:gd name="T48" fmla="*/ 75 w 100"/>
                  <a:gd name="T49" fmla="*/ 44 h 48"/>
                  <a:gd name="T50" fmla="*/ 81 w 100"/>
                  <a:gd name="T51" fmla="*/ 43 h 48"/>
                  <a:gd name="T52" fmla="*/ 87 w 100"/>
                  <a:gd name="T53" fmla="*/ 40 h 48"/>
                  <a:gd name="T54" fmla="*/ 90 w 100"/>
                  <a:gd name="T55" fmla="*/ 37 h 48"/>
                  <a:gd name="T56" fmla="*/ 95 w 100"/>
                  <a:gd name="T57" fmla="*/ 33 h 48"/>
                  <a:gd name="T58" fmla="*/ 97 w 100"/>
                  <a:gd name="T59" fmla="*/ 26 h 48"/>
                  <a:gd name="T60" fmla="*/ 89 w 100"/>
                  <a:gd name="T61" fmla="*/ 20 h 48"/>
                  <a:gd name="T62" fmla="*/ 85 w 100"/>
                  <a:gd name="T63" fmla="*/ 21 h 48"/>
                  <a:gd name="T64" fmla="*/ 82 w 100"/>
                  <a:gd name="T65" fmla="*/ 18 h 48"/>
                  <a:gd name="T66" fmla="*/ 84 w 100"/>
                  <a:gd name="T67" fmla="*/ 15 h 48"/>
                  <a:gd name="T68" fmla="*/ 78 w 100"/>
                  <a:gd name="T69" fmla="*/ 14 h 48"/>
                  <a:gd name="T70" fmla="*/ 72 w 100"/>
                  <a:gd name="T71" fmla="*/ 13 h 48"/>
                  <a:gd name="T72" fmla="*/ 73 w 100"/>
                  <a:gd name="T73" fmla="*/ 16 h 48"/>
                  <a:gd name="T74" fmla="*/ 70 w 100"/>
                  <a:gd name="T75" fmla="*/ 17 h 48"/>
                  <a:gd name="T76" fmla="*/ 62 w 100"/>
                  <a:gd name="T77" fmla="*/ 14 h 48"/>
                  <a:gd name="T78" fmla="*/ 62 w 100"/>
                  <a:gd name="T79" fmla="*/ 11 h 48"/>
                  <a:gd name="T80" fmla="*/ 63 w 100"/>
                  <a:gd name="T81" fmla="*/ 8 h 48"/>
                  <a:gd name="T82" fmla="*/ 58 w 100"/>
                  <a:gd name="T83" fmla="*/ 7 h 48"/>
                  <a:gd name="T84" fmla="*/ 49 w 100"/>
                  <a:gd name="T85" fmla="*/ 5 h 48"/>
                  <a:gd name="T86" fmla="*/ 43 w 100"/>
                  <a:gd name="T87" fmla="*/ 1 h 48"/>
                  <a:gd name="T88" fmla="*/ 41 w 100"/>
                  <a:gd name="T89"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0" h="48">
                    <a:moveTo>
                      <a:pt x="41" y="4"/>
                    </a:moveTo>
                    <a:cubicBezTo>
                      <a:pt x="41" y="4"/>
                      <a:pt x="40" y="4"/>
                      <a:pt x="40" y="3"/>
                    </a:cubicBezTo>
                    <a:cubicBezTo>
                      <a:pt x="39" y="3"/>
                      <a:pt x="37" y="2"/>
                      <a:pt x="37" y="1"/>
                    </a:cubicBezTo>
                    <a:cubicBezTo>
                      <a:pt x="36" y="1"/>
                      <a:pt x="36" y="1"/>
                      <a:pt x="35" y="1"/>
                    </a:cubicBezTo>
                    <a:cubicBezTo>
                      <a:pt x="35" y="1"/>
                      <a:pt x="33" y="0"/>
                      <a:pt x="33" y="0"/>
                    </a:cubicBezTo>
                    <a:cubicBezTo>
                      <a:pt x="33" y="0"/>
                      <a:pt x="33" y="0"/>
                      <a:pt x="33" y="1"/>
                    </a:cubicBezTo>
                    <a:cubicBezTo>
                      <a:pt x="33" y="2"/>
                      <a:pt x="33" y="3"/>
                      <a:pt x="33" y="3"/>
                    </a:cubicBezTo>
                    <a:cubicBezTo>
                      <a:pt x="33" y="3"/>
                      <a:pt x="34" y="4"/>
                      <a:pt x="33" y="4"/>
                    </a:cubicBezTo>
                    <a:cubicBezTo>
                      <a:pt x="32" y="4"/>
                      <a:pt x="27" y="5"/>
                      <a:pt x="27" y="6"/>
                    </a:cubicBezTo>
                    <a:cubicBezTo>
                      <a:pt x="26" y="6"/>
                      <a:pt x="24" y="6"/>
                      <a:pt x="23" y="7"/>
                    </a:cubicBezTo>
                    <a:cubicBezTo>
                      <a:pt x="23" y="7"/>
                      <a:pt x="22" y="7"/>
                      <a:pt x="21" y="7"/>
                    </a:cubicBezTo>
                    <a:cubicBezTo>
                      <a:pt x="21" y="8"/>
                      <a:pt x="17" y="10"/>
                      <a:pt x="17" y="10"/>
                    </a:cubicBezTo>
                    <a:cubicBezTo>
                      <a:pt x="17" y="11"/>
                      <a:pt x="14" y="12"/>
                      <a:pt x="14" y="12"/>
                    </a:cubicBezTo>
                    <a:cubicBezTo>
                      <a:pt x="13" y="12"/>
                      <a:pt x="13" y="13"/>
                      <a:pt x="12" y="13"/>
                    </a:cubicBezTo>
                    <a:cubicBezTo>
                      <a:pt x="12" y="13"/>
                      <a:pt x="9" y="12"/>
                      <a:pt x="8" y="13"/>
                    </a:cubicBezTo>
                    <a:cubicBezTo>
                      <a:pt x="8" y="13"/>
                      <a:pt x="6" y="14"/>
                      <a:pt x="6" y="14"/>
                    </a:cubicBezTo>
                    <a:cubicBezTo>
                      <a:pt x="5" y="14"/>
                      <a:pt x="5" y="15"/>
                      <a:pt x="4" y="16"/>
                    </a:cubicBezTo>
                    <a:cubicBezTo>
                      <a:pt x="4" y="16"/>
                      <a:pt x="3" y="18"/>
                      <a:pt x="2" y="17"/>
                    </a:cubicBezTo>
                    <a:cubicBezTo>
                      <a:pt x="1" y="16"/>
                      <a:pt x="0" y="14"/>
                      <a:pt x="1" y="16"/>
                    </a:cubicBezTo>
                    <a:cubicBezTo>
                      <a:pt x="2" y="18"/>
                      <a:pt x="2" y="19"/>
                      <a:pt x="2" y="19"/>
                    </a:cubicBezTo>
                    <a:cubicBezTo>
                      <a:pt x="2" y="19"/>
                      <a:pt x="2" y="20"/>
                      <a:pt x="3" y="20"/>
                    </a:cubicBezTo>
                    <a:cubicBezTo>
                      <a:pt x="4" y="20"/>
                      <a:pt x="6" y="21"/>
                      <a:pt x="7" y="22"/>
                    </a:cubicBezTo>
                    <a:cubicBezTo>
                      <a:pt x="7" y="23"/>
                      <a:pt x="5" y="25"/>
                      <a:pt x="5" y="25"/>
                    </a:cubicBezTo>
                    <a:cubicBezTo>
                      <a:pt x="5" y="25"/>
                      <a:pt x="5" y="26"/>
                      <a:pt x="5" y="26"/>
                    </a:cubicBezTo>
                    <a:cubicBezTo>
                      <a:pt x="5" y="26"/>
                      <a:pt x="7" y="29"/>
                      <a:pt x="8" y="30"/>
                    </a:cubicBezTo>
                    <a:cubicBezTo>
                      <a:pt x="8" y="30"/>
                      <a:pt x="8" y="31"/>
                      <a:pt x="8" y="31"/>
                    </a:cubicBezTo>
                    <a:cubicBezTo>
                      <a:pt x="9" y="31"/>
                      <a:pt x="12" y="34"/>
                      <a:pt x="12" y="34"/>
                    </a:cubicBezTo>
                    <a:cubicBezTo>
                      <a:pt x="13" y="34"/>
                      <a:pt x="16" y="37"/>
                      <a:pt x="17" y="37"/>
                    </a:cubicBezTo>
                    <a:cubicBezTo>
                      <a:pt x="17" y="38"/>
                      <a:pt x="19" y="40"/>
                      <a:pt x="19" y="40"/>
                    </a:cubicBezTo>
                    <a:cubicBezTo>
                      <a:pt x="19" y="40"/>
                      <a:pt x="20" y="40"/>
                      <a:pt x="20" y="40"/>
                    </a:cubicBezTo>
                    <a:cubicBezTo>
                      <a:pt x="21" y="40"/>
                      <a:pt x="21" y="40"/>
                      <a:pt x="22" y="41"/>
                    </a:cubicBezTo>
                    <a:cubicBezTo>
                      <a:pt x="22" y="41"/>
                      <a:pt x="24" y="43"/>
                      <a:pt x="26" y="44"/>
                    </a:cubicBezTo>
                    <a:cubicBezTo>
                      <a:pt x="27" y="45"/>
                      <a:pt x="27" y="45"/>
                      <a:pt x="28" y="45"/>
                    </a:cubicBezTo>
                    <a:cubicBezTo>
                      <a:pt x="28" y="46"/>
                      <a:pt x="31" y="48"/>
                      <a:pt x="32" y="48"/>
                    </a:cubicBezTo>
                    <a:cubicBezTo>
                      <a:pt x="32" y="48"/>
                      <a:pt x="35" y="48"/>
                      <a:pt x="36" y="48"/>
                    </a:cubicBezTo>
                    <a:cubicBezTo>
                      <a:pt x="36" y="48"/>
                      <a:pt x="39" y="48"/>
                      <a:pt x="39" y="48"/>
                    </a:cubicBezTo>
                    <a:cubicBezTo>
                      <a:pt x="39" y="48"/>
                      <a:pt x="41" y="46"/>
                      <a:pt x="41" y="46"/>
                    </a:cubicBezTo>
                    <a:cubicBezTo>
                      <a:pt x="42" y="46"/>
                      <a:pt x="43" y="44"/>
                      <a:pt x="43" y="43"/>
                    </a:cubicBezTo>
                    <a:cubicBezTo>
                      <a:pt x="43" y="41"/>
                      <a:pt x="43" y="39"/>
                      <a:pt x="44" y="40"/>
                    </a:cubicBezTo>
                    <a:cubicBezTo>
                      <a:pt x="45" y="40"/>
                      <a:pt x="46" y="41"/>
                      <a:pt x="46" y="41"/>
                    </a:cubicBezTo>
                    <a:cubicBezTo>
                      <a:pt x="46" y="41"/>
                      <a:pt x="50" y="41"/>
                      <a:pt x="50" y="41"/>
                    </a:cubicBezTo>
                    <a:cubicBezTo>
                      <a:pt x="50" y="41"/>
                      <a:pt x="51" y="41"/>
                      <a:pt x="52" y="42"/>
                    </a:cubicBezTo>
                    <a:cubicBezTo>
                      <a:pt x="52" y="42"/>
                      <a:pt x="54" y="42"/>
                      <a:pt x="54" y="42"/>
                    </a:cubicBezTo>
                    <a:cubicBezTo>
                      <a:pt x="54" y="42"/>
                      <a:pt x="61" y="45"/>
                      <a:pt x="61" y="45"/>
                    </a:cubicBezTo>
                    <a:cubicBezTo>
                      <a:pt x="61" y="45"/>
                      <a:pt x="62" y="45"/>
                      <a:pt x="62" y="45"/>
                    </a:cubicBezTo>
                    <a:cubicBezTo>
                      <a:pt x="63" y="44"/>
                      <a:pt x="64" y="44"/>
                      <a:pt x="65" y="44"/>
                    </a:cubicBezTo>
                    <a:cubicBezTo>
                      <a:pt x="65" y="44"/>
                      <a:pt x="68" y="44"/>
                      <a:pt x="69" y="45"/>
                    </a:cubicBezTo>
                    <a:cubicBezTo>
                      <a:pt x="70" y="46"/>
                      <a:pt x="71" y="47"/>
                      <a:pt x="72" y="47"/>
                    </a:cubicBezTo>
                    <a:cubicBezTo>
                      <a:pt x="73" y="47"/>
                      <a:pt x="73" y="46"/>
                      <a:pt x="73" y="46"/>
                    </a:cubicBezTo>
                    <a:cubicBezTo>
                      <a:pt x="73" y="45"/>
                      <a:pt x="74" y="44"/>
                      <a:pt x="75" y="44"/>
                    </a:cubicBezTo>
                    <a:cubicBezTo>
                      <a:pt x="75" y="43"/>
                      <a:pt x="76" y="42"/>
                      <a:pt x="78" y="43"/>
                    </a:cubicBezTo>
                    <a:cubicBezTo>
                      <a:pt x="79" y="43"/>
                      <a:pt x="80" y="43"/>
                      <a:pt x="81" y="43"/>
                    </a:cubicBezTo>
                    <a:cubicBezTo>
                      <a:pt x="81" y="43"/>
                      <a:pt x="83" y="43"/>
                      <a:pt x="83" y="43"/>
                    </a:cubicBezTo>
                    <a:cubicBezTo>
                      <a:pt x="83" y="42"/>
                      <a:pt x="87" y="41"/>
                      <a:pt x="87" y="40"/>
                    </a:cubicBezTo>
                    <a:cubicBezTo>
                      <a:pt x="87" y="40"/>
                      <a:pt x="89" y="39"/>
                      <a:pt x="89" y="39"/>
                    </a:cubicBezTo>
                    <a:cubicBezTo>
                      <a:pt x="89" y="38"/>
                      <a:pt x="90" y="37"/>
                      <a:pt x="90" y="37"/>
                    </a:cubicBezTo>
                    <a:cubicBezTo>
                      <a:pt x="90" y="36"/>
                      <a:pt x="91" y="34"/>
                      <a:pt x="92" y="34"/>
                    </a:cubicBezTo>
                    <a:cubicBezTo>
                      <a:pt x="92" y="34"/>
                      <a:pt x="94" y="33"/>
                      <a:pt x="95" y="33"/>
                    </a:cubicBezTo>
                    <a:cubicBezTo>
                      <a:pt x="95" y="33"/>
                      <a:pt x="98" y="31"/>
                      <a:pt x="100" y="30"/>
                    </a:cubicBezTo>
                    <a:cubicBezTo>
                      <a:pt x="100" y="29"/>
                      <a:pt x="98" y="27"/>
                      <a:pt x="97" y="26"/>
                    </a:cubicBezTo>
                    <a:cubicBezTo>
                      <a:pt x="96" y="24"/>
                      <a:pt x="96" y="24"/>
                      <a:pt x="96" y="24"/>
                    </a:cubicBezTo>
                    <a:cubicBezTo>
                      <a:pt x="95" y="23"/>
                      <a:pt x="89" y="20"/>
                      <a:pt x="89" y="20"/>
                    </a:cubicBezTo>
                    <a:cubicBezTo>
                      <a:pt x="89" y="20"/>
                      <a:pt x="89" y="19"/>
                      <a:pt x="88" y="20"/>
                    </a:cubicBezTo>
                    <a:cubicBezTo>
                      <a:pt x="88" y="20"/>
                      <a:pt x="86" y="21"/>
                      <a:pt x="85" y="21"/>
                    </a:cubicBezTo>
                    <a:cubicBezTo>
                      <a:pt x="84" y="20"/>
                      <a:pt x="84" y="19"/>
                      <a:pt x="83" y="19"/>
                    </a:cubicBezTo>
                    <a:cubicBezTo>
                      <a:pt x="83" y="19"/>
                      <a:pt x="82" y="18"/>
                      <a:pt x="82" y="18"/>
                    </a:cubicBezTo>
                    <a:cubicBezTo>
                      <a:pt x="82" y="17"/>
                      <a:pt x="82" y="17"/>
                      <a:pt x="83" y="17"/>
                    </a:cubicBezTo>
                    <a:cubicBezTo>
                      <a:pt x="83" y="17"/>
                      <a:pt x="84" y="16"/>
                      <a:pt x="84" y="15"/>
                    </a:cubicBezTo>
                    <a:cubicBezTo>
                      <a:pt x="84" y="14"/>
                      <a:pt x="84" y="14"/>
                      <a:pt x="83" y="15"/>
                    </a:cubicBezTo>
                    <a:cubicBezTo>
                      <a:pt x="83" y="15"/>
                      <a:pt x="80" y="15"/>
                      <a:pt x="78" y="14"/>
                    </a:cubicBezTo>
                    <a:cubicBezTo>
                      <a:pt x="76" y="13"/>
                      <a:pt x="73" y="12"/>
                      <a:pt x="73" y="12"/>
                    </a:cubicBezTo>
                    <a:cubicBezTo>
                      <a:pt x="72" y="12"/>
                      <a:pt x="72" y="12"/>
                      <a:pt x="72" y="13"/>
                    </a:cubicBezTo>
                    <a:cubicBezTo>
                      <a:pt x="72" y="14"/>
                      <a:pt x="73" y="15"/>
                      <a:pt x="73" y="15"/>
                    </a:cubicBezTo>
                    <a:cubicBezTo>
                      <a:pt x="73" y="16"/>
                      <a:pt x="74" y="17"/>
                      <a:pt x="73" y="16"/>
                    </a:cubicBezTo>
                    <a:cubicBezTo>
                      <a:pt x="72" y="16"/>
                      <a:pt x="72" y="16"/>
                      <a:pt x="72" y="16"/>
                    </a:cubicBezTo>
                    <a:cubicBezTo>
                      <a:pt x="71" y="17"/>
                      <a:pt x="70" y="17"/>
                      <a:pt x="70" y="17"/>
                    </a:cubicBezTo>
                    <a:cubicBezTo>
                      <a:pt x="70" y="17"/>
                      <a:pt x="68" y="18"/>
                      <a:pt x="66" y="17"/>
                    </a:cubicBezTo>
                    <a:cubicBezTo>
                      <a:pt x="65" y="16"/>
                      <a:pt x="63" y="14"/>
                      <a:pt x="62" y="14"/>
                    </a:cubicBezTo>
                    <a:cubicBezTo>
                      <a:pt x="62" y="13"/>
                      <a:pt x="61" y="12"/>
                      <a:pt x="62" y="12"/>
                    </a:cubicBezTo>
                    <a:cubicBezTo>
                      <a:pt x="62" y="12"/>
                      <a:pt x="62" y="11"/>
                      <a:pt x="62" y="11"/>
                    </a:cubicBezTo>
                    <a:cubicBezTo>
                      <a:pt x="63" y="11"/>
                      <a:pt x="63" y="11"/>
                      <a:pt x="64" y="11"/>
                    </a:cubicBezTo>
                    <a:cubicBezTo>
                      <a:pt x="64" y="10"/>
                      <a:pt x="64" y="8"/>
                      <a:pt x="63" y="8"/>
                    </a:cubicBezTo>
                    <a:cubicBezTo>
                      <a:pt x="62" y="7"/>
                      <a:pt x="62" y="8"/>
                      <a:pt x="61" y="8"/>
                    </a:cubicBezTo>
                    <a:cubicBezTo>
                      <a:pt x="60" y="8"/>
                      <a:pt x="58" y="8"/>
                      <a:pt x="58" y="7"/>
                    </a:cubicBezTo>
                    <a:cubicBezTo>
                      <a:pt x="57" y="7"/>
                      <a:pt x="51" y="6"/>
                      <a:pt x="50" y="6"/>
                    </a:cubicBezTo>
                    <a:cubicBezTo>
                      <a:pt x="49" y="5"/>
                      <a:pt x="49" y="5"/>
                      <a:pt x="49" y="5"/>
                    </a:cubicBezTo>
                    <a:cubicBezTo>
                      <a:pt x="48" y="4"/>
                      <a:pt x="46" y="1"/>
                      <a:pt x="45" y="1"/>
                    </a:cubicBezTo>
                    <a:cubicBezTo>
                      <a:pt x="44" y="1"/>
                      <a:pt x="43" y="1"/>
                      <a:pt x="43" y="1"/>
                    </a:cubicBezTo>
                    <a:cubicBezTo>
                      <a:pt x="44" y="2"/>
                      <a:pt x="44" y="2"/>
                      <a:pt x="43" y="2"/>
                    </a:cubicBezTo>
                    <a:cubicBezTo>
                      <a:pt x="43" y="3"/>
                      <a:pt x="42" y="4"/>
                      <a:pt x="4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26" name="Freeform 1038">
                <a:extLst>
                  <a:ext uri="{FF2B5EF4-FFF2-40B4-BE49-F238E27FC236}">
                    <a16:creationId xmlns:a16="http://schemas.microsoft.com/office/drawing/2014/main" id="{A32F7A13-8C1D-49E3-8F6B-A45BFAA356C7}"/>
                  </a:ext>
                </a:extLst>
              </p:cNvPr>
              <p:cNvSpPr>
                <a:spLocks/>
              </p:cNvSpPr>
              <p:nvPr/>
            </p:nvSpPr>
            <p:spPr bwMode="auto">
              <a:xfrm>
                <a:off x="3922" y="1764"/>
                <a:ext cx="53" cy="37"/>
              </a:xfrm>
              <a:custGeom>
                <a:avLst/>
                <a:gdLst>
                  <a:gd name="T0" fmla="*/ 2 w 38"/>
                  <a:gd name="T1" fmla="*/ 9 h 27"/>
                  <a:gd name="T2" fmla="*/ 2 w 38"/>
                  <a:gd name="T3" fmla="*/ 9 h 27"/>
                  <a:gd name="T4" fmla="*/ 2 w 38"/>
                  <a:gd name="T5" fmla="*/ 10 h 27"/>
                  <a:gd name="T6" fmla="*/ 2 w 38"/>
                  <a:gd name="T7" fmla="*/ 13 h 27"/>
                  <a:gd name="T8" fmla="*/ 1 w 38"/>
                  <a:gd name="T9" fmla="*/ 14 h 27"/>
                  <a:gd name="T10" fmla="*/ 0 w 38"/>
                  <a:gd name="T11" fmla="*/ 15 h 27"/>
                  <a:gd name="T12" fmla="*/ 1 w 38"/>
                  <a:gd name="T13" fmla="*/ 16 h 27"/>
                  <a:gd name="T14" fmla="*/ 2 w 38"/>
                  <a:gd name="T15" fmla="*/ 17 h 27"/>
                  <a:gd name="T16" fmla="*/ 1 w 38"/>
                  <a:gd name="T17" fmla="*/ 19 h 27"/>
                  <a:gd name="T18" fmla="*/ 2 w 38"/>
                  <a:gd name="T19" fmla="*/ 21 h 27"/>
                  <a:gd name="T20" fmla="*/ 3 w 38"/>
                  <a:gd name="T21" fmla="*/ 22 h 27"/>
                  <a:gd name="T22" fmla="*/ 4 w 38"/>
                  <a:gd name="T23" fmla="*/ 23 h 27"/>
                  <a:gd name="T24" fmla="*/ 5 w 38"/>
                  <a:gd name="T25" fmla="*/ 25 h 27"/>
                  <a:gd name="T26" fmla="*/ 6 w 38"/>
                  <a:gd name="T27" fmla="*/ 26 h 27"/>
                  <a:gd name="T28" fmla="*/ 7 w 38"/>
                  <a:gd name="T29" fmla="*/ 25 h 27"/>
                  <a:gd name="T30" fmla="*/ 8 w 38"/>
                  <a:gd name="T31" fmla="*/ 27 h 27"/>
                  <a:gd name="T32" fmla="*/ 10 w 38"/>
                  <a:gd name="T33" fmla="*/ 27 h 27"/>
                  <a:gd name="T34" fmla="*/ 19 w 38"/>
                  <a:gd name="T35" fmla="*/ 25 h 27"/>
                  <a:gd name="T36" fmla="*/ 21 w 38"/>
                  <a:gd name="T37" fmla="*/ 24 h 27"/>
                  <a:gd name="T38" fmla="*/ 22 w 38"/>
                  <a:gd name="T39" fmla="*/ 23 h 27"/>
                  <a:gd name="T40" fmla="*/ 26 w 38"/>
                  <a:gd name="T41" fmla="*/ 21 h 27"/>
                  <a:gd name="T42" fmla="*/ 28 w 38"/>
                  <a:gd name="T43" fmla="*/ 21 h 27"/>
                  <a:gd name="T44" fmla="*/ 32 w 38"/>
                  <a:gd name="T45" fmla="*/ 21 h 27"/>
                  <a:gd name="T46" fmla="*/ 33 w 38"/>
                  <a:gd name="T47" fmla="*/ 21 h 27"/>
                  <a:gd name="T48" fmla="*/ 34 w 38"/>
                  <a:gd name="T49" fmla="*/ 19 h 27"/>
                  <a:gd name="T50" fmla="*/ 35 w 38"/>
                  <a:gd name="T51" fmla="*/ 18 h 27"/>
                  <a:gd name="T52" fmla="*/ 36 w 38"/>
                  <a:gd name="T53" fmla="*/ 18 h 27"/>
                  <a:gd name="T54" fmla="*/ 37 w 38"/>
                  <a:gd name="T55" fmla="*/ 18 h 27"/>
                  <a:gd name="T56" fmla="*/ 38 w 38"/>
                  <a:gd name="T57" fmla="*/ 12 h 27"/>
                  <a:gd name="T58" fmla="*/ 37 w 38"/>
                  <a:gd name="T59" fmla="*/ 9 h 27"/>
                  <a:gd name="T60" fmla="*/ 35 w 38"/>
                  <a:gd name="T61" fmla="*/ 7 h 27"/>
                  <a:gd name="T62" fmla="*/ 31 w 38"/>
                  <a:gd name="T63" fmla="*/ 3 h 27"/>
                  <a:gd name="T64" fmla="*/ 29 w 38"/>
                  <a:gd name="T65" fmla="*/ 0 h 27"/>
                  <a:gd name="T66" fmla="*/ 29 w 38"/>
                  <a:gd name="T67" fmla="*/ 0 h 27"/>
                  <a:gd name="T68" fmla="*/ 25 w 38"/>
                  <a:gd name="T69" fmla="*/ 1 h 27"/>
                  <a:gd name="T70" fmla="*/ 23 w 38"/>
                  <a:gd name="T71" fmla="*/ 1 h 27"/>
                  <a:gd name="T72" fmla="*/ 19 w 38"/>
                  <a:gd name="T73" fmla="*/ 1 h 27"/>
                  <a:gd name="T74" fmla="*/ 17 w 38"/>
                  <a:gd name="T75" fmla="*/ 2 h 27"/>
                  <a:gd name="T76" fmla="*/ 17 w 38"/>
                  <a:gd name="T77" fmla="*/ 2 h 27"/>
                  <a:gd name="T78" fmla="*/ 16 w 38"/>
                  <a:gd name="T79" fmla="*/ 2 h 27"/>
                  <a:gd name="T80" fmla="*/ 14 w 38"/>
                  <a:gd name="T81" fmla="*/ 3 h 27"/>
                  <a:gd name="T82" fmla="*/ 13 w 38"/>
                  <a:gd name="T83" fmla="*/ 4 h 27"/>
                  <a:gd name="T84" fmla="*/ 13 w 38"/>
                  <a:gd name="T85" fmla="*/ 4 h 27"/>
                  <a:gd name="T86" fmla="*/ 11 w 38"/>
                  <a:gd name="T87" fmla="*/ 4 h 27"/>
                  <a:gd name="T88" fmla="*/ 10 w 38"/>
                  <a:gd name="T89" fmla="*/ 4 h 27"/>
                  <a:gd name="T90" fmla="*/ 9 w 38"/>
                  <a:gd name="T91" fmla="*/ 3 h 27"/>
                  <a:gd name="T92" fmla="*/ 7 w 38"/>
                  <a:gd name="T93" fmla="*/ 4 h 27"/>
                  <a:gd name="T94" fmla="*/ 5 w 38"/>
                  <a:gd name="T95" fmla="*/ 6 h 27"/>
                  <a:gd name="T96" fmla="*/ 5 w 38"/>
                  <a:gd name="T97" fmla="*/ 7 h 27"/>
                  <a:gd name="T98" fmla="*/ 5 w 38"/>
                  <a:gd name="T99" fmla="*/ 8 h 27"/>
                  <a:gd name="T100" fmla="*/ 4 w 38"/>
                  <a:gd name="T101" fmla="*/ 8 h 27"/>
                  <a:gd name="T102" fmla="*/ 2 w 38"/>
                  <a:gd name="T103"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8" h="27">
                    <a:moveTo>
                      <a:pt x="2" y="9"/>
                    </a:moveTo>
                    <a:cubicBezTo>
                      <a:pt x="2" y="9"/>
                      <a:pt x="2" y="9"/>
                      <a:pt x="2" y="9"/>
                    </a:cubicBezTo>
                    <a:cubicBezTo>
                      <a:pt x="2" y="9"/>
                      <a:pt x="2" y="9"/>
                      <a:pt x="2" y="10"/>
                    </a:cubicBezTo>
                    <a:cubicBezTo>
                      <a:pt x="2" y="10"/>
                      <a:pt x="2" y="13"/>
                      <a:pt x="2" y="13"/>
                    </a:cubicBezTo>
                    <a:cubicBezTo>
                      <a:pt x="2" y="13"/>
                      <a:pt x="2" y="13"/>
                      <a:pt x="1" y="14"/>
                    </a:cubicBezTo>
                    <a:cubicBezTo>
                      <a:pt x="1" y="14"/>
                      <a:pt x="0" y="14"/>
                      <a:pt x="0" y="15"/>
                    </a:cubicBezTo>
                    <a:cubicBezTo>
                      <a:pt x="1" y="15"/>
                      <a:pt x="1" y="16"/>
                      <a:pt x="1" y="16"/>
                    </a:cubicBezTo>
                    <a:cubicBezTo>
                      <a:pt x="1" y="16"/>
                      <a:pt x="2" y="17"/>
                      <a:pt x="2" y="17"/>
                    </a:cubicBezTo>
                    <a:cubicBezTo>
                      <a:pt x="2" y="17"/>
                      <a:pt x="1" y="18"/>
                      <a:pt x="1" y="19"/>
                    </a:cubicBezTo>
                    <a:cubicBezTo>
                      <a:pt x="1" y="19"/>
                      <a:pt x="2" y="20"/>
                      <a:pt x="2" y="21"/>
                    </a:cubicBezTo>
                    <a:cubicBezTo>
                      <a:pt x="2" y="21"/>
                      <a:pt x="2" y="22"/>
                      <a:pt x="3" y="22"/>
                    </a:cubicBezTo>
                    <a:cubicBezTo>
                      <a:pt x="3" y="22"/>
                      <a:pt x="4" y="22"/>
                      <a:pt x="4" y="23"/>
                    </a:cubicBezTo>
                    <a:cubicBezTo>
                      <a:pt x="4" y="23"/>
                      <a:pt x="5" y="25"/>
                      <a:pt x="5" y="25"/>
                    </a:cubicBezTo>
                    <a:cubicBezTo>
                      <a:pt x="5" y="25"/>
                      <a:pt x="6" y="26"/>
                      <a:pt x="6" y="26"/>
                    </a:cubicBezTo>
                    <a:cubicBezTo>
                      <a:pt x="6" y="25"/>
                      <a:pt x="6" y="25"/>
                      <a:pt x="7" y="25"/>
                    </a:cubicBezTo>
                    <a:cubicBezTo>
                      <a:pt x="7" y="26"/>
                      <a:pt x="8" y="26"/>
                      <a:pt x="8" y="27"/>
                    </a:cubicBezTo>
                    <a:cubicBezTo>
                      <a:pt x="9" y="26"/>
                      <a:pt x="9" y="27"/>
                      <a:pt x="10" y="27"/>
                    </a:cubicBezTo>
                    <a:cubicBezTo>
                      <a:pt x="10" y="27"/>
                      <a:pt x="19" y="25"/>
                      <a:pt x="19" y="25"/>
                    </a:cubicBezTo>
                    <a:cubicBezTo>
                      <a:pt x="19" y="25"/>
                      <a:pt x="20" y="25"/>
                      <a:pt x="21" y="24"/>
                    </a:cubicBezTo>
                    <a:cubicBezTo>
                      <a:pt x="21" y="24"/>
                      <a:pt x="21" y="23"/>
                      <a:pt x="22" y="23"/>
                    </a:cubicBezTo>
                    <a:cubicBezTo>
                      <a:pt x="22" y="22"/>
                      <a:pt x="25" y="21"/>
                      <a:pt x="26" y="21"/>
                    </a:cubicBezTo>
                    <a:cubicBezTo>
                      <a:pt x="27" y="21"/>
                      <a:pt x="27" y="21"/>
                      <a:pt x="28" y="21"/>
                    </a:cubicBezTo>
                    <a:cubicBezTo>
                      <a:pt x="29" y="22"/>
                      <a:pt x="31" y="21"/>
                      <a:pt x="32" y="21"/>
                    </a:cubicBezTo>
                    <a:cubicBezTo>
                      <a:pt x="32" y="22"/>
                      <a:pt x="33" y="21"/>
                      <a:pt x="33" y="21"/>
                    </a:cubicBezTo>
                    <a:cubicBezTo>
                      <a:pt x="33" y="21"/>
                      <a:pt x="34" y="19"/>
                      <a:pt x="34" y="19"/>
                    </a:cubicBezTo>
                    <a:cubicBezTo>
                      <a:pt x="35" y="19"/>
                      <a:pt x="35" y="18"/>
                      <a:pt x="35" y="18"/>
                    </a:cubicBezTo>
                    <a:cubicBezTo>
                      <a:pt x="35" y="18"/>
                      <a:pt x="36" y="18"/>
                      <a:pt x="36" y="18"/>
                    </a:cubicBezTo>
                    <a:cubicBezTo>
                      <a:pt x="36" y="18"/>
                      <a:pt x="37" y="18"/>
                      <a:pt x="37" y="18"/>
                    </a:cubicBezTo>
                    <a:cubicBezTo>
                      <a:pt x="37" y="15"/>
                      <a:pt x="38" y="12"/>
                      <a:pt x="38" y="12"/>
                    </a:cubicBezTo>
                    <a:cubicBezTo>
                      <a:pt x="38" y="11"/>
                      <a:pt x="37" y="9"/>
                      <a:pt x="37" y="9"/>
                    </a:cubicBezTo>
                    <a:cubicBezTo>
                      <a:pt x="37" y="8"/>
                      <a:pt x="36" y="8"/>
                      <a:pt x="35" y="7"/>
                    </a:cubicBezTo>
                    <a:cubicBezTo>
                      <a:pt x="35" y="6"/>
                      <a:pt x="32" y="4"/>
                      <a:pt x="31" y="3"/>
                    </a:cubicBezTo>
                    <a:cubicBezTo>
                      <a:pt x="31" y="3"/>
                      <a:pt x="29" y="0"/>
                      <a:pt x="29" y="0"/>
                    </a:cubicBezTo>
                    <a:cubicBezTo>
                      <a:pt x="29" y="0"/>
                      <a:pt x="29" y="0"/>
                      <a:pt x="29" y="0"/>
                    </a:cubicBezTo>
                    <a:cubicBezTo>
                      <a:pt x="28" y="1"/>
                      <a:pt x="25" y="1"/>
                      <a:pt x="25" y="1"/>
                    </a:cubicBezTo>
                    <a:cubicBezTo>
                      <a:pt x="25" y="1"/>
                      <a:pt x="23" y="0"/>
                      <a:pt x="23" y="1"/>
                    </a:cubicBezTo>
                    <a:cubicBezTo>
                      <a:pt x="23" y="1"/>
                      <a:pt x="19" y="1"/>
                      <a:pt x="19" y="1"/>
                    </a:cubicBezTo>
                    <a:cubicBezTo>
                      <a:pt x="18" y="2"/>
                      <a:pt x="18" y="2"/>
                      <a:pt x="17" y="2"/>
                    </a:cubicBezTo>
                    <a:cubicBezTo>
                      <a:pt x="17" y="2"/>
                      <a:pt x="17" y="2"/>
                      <a:pt x="17" y="2"/>
                    </a:cubicBezTo>
                    <a:cubicBezTo>
                      <a:pt x="17" y="2"/>
                      <a:pt x="16" y="2"/>
                      <a:pt x="16" y="2"/>
                    </a:cubicBezTo>
                    <a:cubicBezTo>
                      <a:pt x="15" y="2"/>
                      <a:pt x="14" y="3"/>
                      <a:pt x="14" y="3"/>
                    </a:cubicBezTo>
                    <a:cubicBezTo>
                      <a:pt x="13" y="3"/>
                      <a:pt x="13" y="4"/>
                      <a:pt x="13" y="4"/>
                    </a:cubicBezTo>
                    <a:cubicBezTo>
                      <a:pt x="13" y="4"/>
                      <a:pt x="13" y="4"/>
                      <a:pt x="13" y="4"/>
                    </a:cubicBezTo>
                    <a:cubicBezTo>
                      <a:pt x="12" y="4"/>
                      <a:pt x="12" y="4"/>
                      <a:pt x="11" y="4"/>
                    </a:cubicBezTo>
                    <a:cubicBezTo>
                      <a:pt x="11" y="4"/>
                      <a:pt x="10" y="4"/>
                      <a:pt x="10" y="4"/>
                    </a:cubicBezTo>
                    <a:cubicBezTo>
                      <a:pt x="10" y="3"/>
                      <a:pt x="9" y="3"/>
                      <a:pt x="9" y="3"/>
                    </a:cubicBezTo>
                    <a:cubicBezTo>
                      <a:pt x="8" y="4"/>
                      <a:pt x="7" y="4"/>
                      <a:pt x="7" y="4"/>
                    </a:cubicBezTo>
                    <a:cubicBezTo>
                      <a:pt x="7" y="5"/>
                      <a:pt x="5" y="6"/>
                      <a:pt x="5" y="6"/>
                    </a:cubicBezTo>
                    <a:cubicBezTo>
                      <a:pt x="5" y="6"/>
                      <a:pt x="5" y="7"/>
                      <a:pt x="5" y="7"/>
                    </a:cubicBezTo>
                    <a:cubicBezTo>
                      <a:pt x="5" y="7"/>
                      <a:pt x="5" y="8"/>
                      <a:pt x="5" y="8"/>
                    </a:cubicBezTo>
                    <a:cubicBezTo>
                      <a:pt x="5" y="8"/>
                      <a:pt x="5" y="9"/>
                      <a:pt x="4" y="8"/>
                    </a:cubicBezTo>
                    <a:cubicBezTo>
                      <a:pt x="4" y="8"/>
                      <a:pt x="3" y="8"/>
                      <a:pt x="2"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27" name="Freeform 1039">
                <a:extLst>
                  <a:ext uri="{FF2B5EF4-FFF2-40B4-BE49-F238E27FC236}">
                    <a16:creationId xmlns:a16="http://schemas.microsoft.com/office/drawing/2014/main" id="{6F3D6E18-50A8-448A-AA63-EB34BBCFF346}"/>
                  </a:ext>
                </a:extLst>
              </p:cNvPr>
              <p:cNvSpPr>
                <a:spLocks/>
              </p:cNvSpPr>
              <p:nvPr/>
            </p:nvSpPr>
            <p:spPr bwMode="auto">
              <a:xfrm>
                <a:off x="3697" y="1640"/>
                <a:ext cx="3" cy="6"/>
              </a:xfrm>
              <a:custGeom>
                <a:avLst/>
                <a:gdLst>
                  <a:gd name="T0" fmla="*/ 0 w 2"/>
                  <a:gd name="T1" fmla="*/ 3 h 4"/>
                  <a:gd name="T2" fmla="*/ 1 w 2"/>
                  <a:gd name="T3" fmla="*/ 4 h 4"/>
                  <a:gd name="T4" fmla="*/ 2 w 2"/>
                  <a:gd name="T5" fmla="*/ 4 h 4"/>
                  <a:gd name="T6" fmla="*/ 2 w 2"/>
                  <a:gd name="T7" fmla="*/ 2 h 4"/>
                  <a:gd name="T8" fmla="*/ 1 w 2"/>
                  <a:gd name="T9" fmla="*/ 0 h 4"/>
                  <a:gd name="T10" fmla="*/ 1 w 2"/>
                  <a:gd name="T11" fmla="*/ 1 h 4"/>
                  <a:gd name="T12" fmla="*/ 0 w 2"/>
                  <a:gd name="T13" fmla="*/ 3 h 4"/>
                </a:gdLst>
                <a:ahLst/>
                <a:cxnLst>
                  <a:cxn ang="0">
                    <a:pos x="T0" y="T1"/>
                  </a:cxn>
                  <a:cxn ang="0">
                    <a:pos x="T2" y="T3"/>
                  </a:cxn>
                  <a:cxn ang="0">
                    <a:pos x="T4" y="T5"/>
                  </a:cxn>
                  <a:cxn ang="0">
                    <a:pos x="T6" y="T7"/>
                  </a:cxn>
                  <a:cxn ang="0">
                    <a:pos x="T8" y="T9"/>
                  </a:cxn>
                  <a:cxn ang="0">
                    <a:pos x="T10" y="T11"/>
                  </a:cxn>
                  <a:cxn ang="0">
                    <a:pos x="T12" y="T13"/>
                  </a:cxn>
                </a:cxnLst>
                <a:rect l="0" t="0" r="r" b="b"/>
                <a:pathLst>
                  <a:path w="2" h="4">
                    <a:moveTo>
                      <a:pt x="0" y="3"/>
                    </a:moveTo>
                    <a:cubicBezTo>
                      <a:pt x="0" y="3"/>
                      <a:pt x="0" y="4"/>
                      <a:pt x="1" y="4"/>
                    </a:cubicBezTo>
                    <a:cubicBezTo>
                      <a:pt x="1" y="4"/>
                      <a:pt x="2" y="4"/>
                      <a:pt x="2" y="4"/>
                    </a:cubicBezTo>
                    <a:cubicBezTo>
                      <a:pt x="2" y="3"/>
                      <a:pt x="2" y="2"/>
                      <a:pt x="2" y="2"/>
                    </a:cubicBezTo>
                    <a:cubicBezTo>
                      <a:pt x="2" y="1"/>
                      <a:pt x="2" y="1"/>
                      <a:pt x="1" y="0"/>
                    </a:cubicBezTo>
                    <a:cubicBezTo>
                      <a:pt x="1" y="0"/>
                      <a:pt x="1" y="1"/>
                      <a:pt x="1" y="1"/>
                    </a:cubicBezTo>
                    <a:cubicBezTo>
                      <a:pt x="1" y="1"/>
                      <a:pt x="0" y="3"/>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28" name="Freeform 1040">
                <a:extLst>
                  <a:ext uri="{FF2B5EF4-FFF2-40B4-BE49-F238E27FC236}">
                    <a16:creationId xmlns:a16="http://schemas.microsoft.com/office/drawing/2014/main" id="{0414C0A6-07D6-40DC-B38B-56505CF2CF3B}"/>
                  </a:ext>
                </a:extLst>
              </p:cNvPr>
              <p:cNvSpPr>
                <a:spLocks/>
              </p:cNvSpPr>
              <p:nvPr/>
            </p:nvSpPr>
            <p:spPr bwMode="auto">
              <a:xfrm>
                <a:off x="3779" y="1650"/>
                <a:ext cx="65" cy="37"/>
              </a:xfrm>
              <a:custGeom>
                <a:avLst/>
                <a:gdLst>
                  <a:gd name="T0" fmla="*/ 8 w 47"/>
                  <a:gd name="T1" fmla="*/ 26 h 27"/>
                  <a:gd name="T2" fmla="*/ 10 w 47"/>
                  <a:gd name="T3" fmla="*/ 26 h 27"/>
                  <a:gd name="T4" fmla="*/ 16 w 47"/>
                  <a:gd name="T5" fmla="*/ 24 h 27"/>
                  <a:gd name="T6" fmla="*/ 17 w 47"/>
                  <a:gd name="T7" fmla="*/ 23 h 27"/>
                  <a:gd name="T8" fmla="*/ 19 w 47"/>
                  <a:gd name="T9" fmla="*/ 25 h 27"/>
                  <a:gd name="T10" fmla="*/ 23 w 47"/>
                  <a:gd name="T11" fmla="*/ 26 h 27"/>
                  <a:gd name="T12" fmla="*/ 26 w 47"/>
                  <a:gd name="T13" fmla="*/ 26 h 27"/>
                  <a:gd name="T14" fmla="*/ 28 w 47"/>
                  <a:gd name="T15" fmla="*/ 26 h 27"/>
                  <a:gd name="T16" fmla="*/ 28 w 47"/>
                  <a:gd name="T17" fmla="*/ 24 h 27"/>
                  <a:gd name="T18" fmla="*/ 29 w 47"/>
                  <a:gd name="T19" fmla="*/ 23 h 27"/>
                  <a:gd name="T20" fmla="*/ 28 w 47"/>
                  <a:gd name="T21" fmla="*/ 21 h 27"/>
                  <a:gd name="T22" fmla="*/ 32 w 47"/>
                  <a:gd name="T23" fmla="*/ 19 h 27"/>
                  <a:gd name="T24" fmla="*/ 34 w 47"/>
                  <a:gd name="T25" fmla="*/ 16 h 27"/>
                  <a:gd name="T26" fmla="*/ 33 w 47"/>
                  <a:gd name="T27" fmla="*/ 12 h 27"/>
                  <a:gd name="T28" fmla="*/ 36 w 47"/>
                  <a:gd name="T29" fmla="*/ 11 h 27"/>
                  <a:gd name="T30" fmla="*/ 39 w 47"/>
                  <a:gd name="T31" fmla="*/ 10 h 27"/>
                  <a:gd name="T32" fmla="*/ 42 w 47"/>
                  <a:gd name="T33" fmla="*/ 9 h 27"/>
                  <a:gd name="T34" fmla="*/ 42 w 47"/>
                  <a:gd name="T35" fmla="*/ 7 h 27"/>
                  <a:gd name="T36" fmla="*/ 47 w 47"/>
                  <a:gd name="T37" fmla="*/ 7 h 27"/>
                  <a:gd name="T38" fmla="*/ 44 w 47"/>
                  <a:gd name="T39" fmla="*/ 4 h 27"/>
                  <a:gd name="T40" fmla="*/ 43 w 47"/>
                  <a:gd name="T41" fmla="*/ 1 h 27"/>
                  <a:gd name="T42" fmla="*/ 40 w 47"/>
                  <a:gd name="T43" fmla="*/ 0 h 27"/>
                  <a:gd name="T44" fmla="*/ 38 w 47"/>
                  <a:gd name="T45" fmla="*/ 1 h 27"/>
                  <a:gd name="T46" fmla="*/ 38 w 47"/>
                  <a:gd name="T47" fmla="*/ 4 h 27"/>
                  <a:gd name="T48" fmla="*/ 34 w 47"/>
                  <a:gd name="T49" fmla="*/ 3 h 27"/>
                  <a:gd name="T50" fmla="*/ 32 w 47"/>
                  <a:gd name="T51" fmla="*/ 5 h 27"/>
                  <a:gd name="T52" fmla="*/ 29 w 47"/>
                  <a:gd name="T53" fmla="*/ 4 h 27"/>
                  <a:gd name="T54" fmla="*/ 24 w 47"/>
                  <a:gd name="T55" fmla="*/ 4 h 27"/>
                  <a:gd name="T56" fmla="*/ 22 w 47"/>
                  <a:gd name="T57" fmla="*/ 5 h 27"/>
                  <a:gd name="T58" fmla="*/ 20 w 47"/>
                  <a:gd name="T59" fmla="*/ 7 h 27"/>
                  <a:gd name="T60" fmla="*/ 16 w 47"/>
                  <a:gd name="T61" fmla="*/ 9 h 27"/>
                  <a:gd name="T62" fmla="*/ 14 w 47"/>
                  <a:gd name="T63" fmla="*/ 8 h 27"/>
                  <a:gd name="T64" fmla="*/ 10 w 47"/>
                  <a:gd name="T65" fmla="*/ 8 h 27"/>
                  <a:gd name="T66" fmla="*/ 5 w 47"/>
                  <a:gd name="T67" fmla="*/ 7 h 27"/>
                  <a:gd name="T68" fmla="*/ 3 w 47"/>
                  <a:gd name="T69" fmla="*/ 9 h 27"/>
                  <a:gd name="T70" fmla="*/ 0 w 47"/>
                  <a:gd name="T71" fmla="*/ 11 h 27"/>
                  <a:gd name="T72" fmla="*/ 3 w 47"/>
                  <a:gd name="T73" fmla="*/ 14 h 27"/>
                  <a:gd name="T74" fmla="*/ 1 w 47"/>
                  <a:gd name="T75" fmla="*/ 16 h 27"/>
                  <a:gd name="T76" fmla="*/ 4 w 47"/>
                  <a:gd name="T77" fmla="*/ 21 h 27"/>
                  <a:gd name="T78" fmla="*/ 6 w 47"/>
                  <a:gd name="T79" fmla="*/ 24 h 27"/>
                  <a:gd name="T80" fmla="*/ 4 w 47"/>
                  <a:gd name="T81" fmla="*/ 25 h 27"/>
                  <a:gd name="T82" fmla="*/ 3 w 47"/>
                  <a:gd name="T83"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 h="27">
                    <a:moveTo>
                      <a:pt x="4" y="26"/>
                    </a:moveTo>
                    <a:cubicBezTo>
                      <a:pt x="4" y="26"/>
                      <a:pt x="8" y="26"/>
                      <a:pt x="8" y="26"/>
                    </a:cubicBezTo>
                    <a:cubicBezTo>
                      <a:pt x="8" y="26"/>
                      <a:pt x="8" y="25"/>
                      <a:pt x="9" y="26"/>
                    </a:cubicBezTo>
                    <a:cubicBezTo>
                      <a:pt x="9" y="26"/>
                      <a:pt x="10" y="26"/>
                      <a:pt x="10" y="26"/>
                    </a:cubicBezTo>
                    <a:cubicBezTo>
                      <a:pt x="10" y="26"/>
                      <a:pt x="10" y="26"/>
                      <a:pt x="11" y="26"/>
                    </a:cubicBezTo>
                    <a:cubicBezTo>
                      <a:pt x="12" y="26"/>
                      <a:pt x="16" y="24"/>
                      <a:pt x="16" y="24"/>
                    </a:cubicBezTo>
                    <a:cubicBezTo>
                      <a:pt x="16" y="24"/>
                      <a:pt x="16" y="24"/>
                      <a:pt x="16" y="24"/>
                    </a:cubicBezTo>
                    <a:cubicBezTo>
                      <a:pt x="17" y="23"/>
                      <a:pt x="17" y="23"/>
                      <a:pt x="17" y="23"/>
                    </a:cubicBezTo>
                    <a:cubicBezTo>
                      <a:pt x="18" y="23"/>
                      <a:pt x="19" y="24"/>
                      <a:pt x="19" y="24"/>
                    </a:cubicBezTo>
                    <a:cubicBezTo>
                      <a:pt x="19" y="25"/>
                      <a:pt x="19" y="25"/>
                      <a:pt x="19" y="25"/>
                    </a:cubicBezTo>
                    <a:cubicBezTo>
                      <a:pt x="20" y="26"/>
                      <a:pt x="20" y="26"/>
                      <a:pt x="21" y="26"/>
                    </a:cubicBezTo>
                    <a:cubicBezTo>
                      <a:pt x="21" y="25"/>
                      <a:pt x="23" y="25"/>
                      <a:pt x="23" y="26"/>
                    </a:cubicBezTo>
                    <a:cubicBezTo>
                      <a:pt x="23" y="26"/>
                      <a:pt x="24" y="26"/>
                      <a:pt x="24" y="26"/>
                    </a:cubicBezTo>
                    <a:cubicBezTo>
                      <a:pt x="25" y="26"/>
                      <a:pt x="25" y="26"/>
                      <a:pt x="26" y="26"/>
                    </a:cubicBezTo>
                    <a:cubicBezTo>
                      <a:pt x="26" y="27"/>
                      <a:pt x="27" y="27"/>
                      <a:pt x="27" y="27"/>
                    </a:cubicBezTo>
                    <a:cubicBezTo>
                      <a:pt x="27" y="27"/>
                      <a:pt x="28" y="26"/>
                      <a:pt x="28" y="26"/>
                    </a:cubicBezTo>
                    <a:cubicBezTo>
                      <a:pt x="28" y="26"/>
                      <a:pt x="29" y="26"/>
                      <a:pt x="28" y="25"/>
                    </a:cubicBezTo>
                    <a:cubicBezTo>
                      <a:pt x="28" y="25"/>
                      <a:pt x="28" y="24"/>
                      <a:pt x="28" y="24"/>
                    </a:cubicBezTo>
                    <a:cubicBezTo>
                      <a:pt x="28" y="24"/>
                      <a:pt x="29" y="23"/>
                      <a:pt x="29" y="23"/>
                    </a:cubicBezTo>
                    <a:cubicBezTo>
                      <a:pt x="29" y="23"/>
                      <a:pt x="29" y="23"/>
                      <a:pt x="29" y="23"/>
                    </a:cubicBezTo>
                    <a:cubicBezTo>
                      <a:pt x="29" y="22"/>
                      <a:pt x="27" y="22"/>
                      <a:pt x="27" y="22"/>
                    </a:cubicBezTo>
                    <a:cubicBezTo>
                      <a:pt x="27" y="22"/>
                      <a:pt x="27" y="22"/>
                      <a:pt x="28" y="21"/>
                    </a:cubicBezTo>
                    <a:cubicBezTo>
                      <a:pt x="29" y="21"/>
                      <a:pt x="29" y="21"/>
                      <a:pt x="30" y="20"/>
                    </a:cubicBezTo>
                    <a:cubicBezTo>
                      <a:pt x="30" y="20"/>
                      <a:pt x="31" y="20"/>
                      <a:pt x="32" y="19"/>
                    </a:cubicBezTo>
                    <a:cubicBezTo>
                      <a:pt x="32" y="19"/>
                      <a:pt x="33" y="18"/>
                      <a:pt x="34" y="17"/>
                    </a:cubicBezTo>
                    <a:cubicBezTo>
                      <a:pt x="34" y="16"/>
                      <a:pt x="34" y="16"/>
                      <a:pt x="34" y="16"/>
                    </a:cubicBezTo>
                    <a:cubicBezTo>
                      <a:pt x="33" y="15"/>
                      <a:pt x="33" y="15"/>
                      <a:pt x="33" y="14"/>
                    </a:cubicBezTo>
                    <a:cubicBezTo>
                      <a:pt x="33" y="14"/>
                      <a:pt x="33" y="13"/>
                      <a:pt x="33" y="12"/>
                    </a:cubicBezTo>
                    <a:cubicBezTo>
                      <a:pt x="34" y="12"/>
                      <a:pt x="34" y="12"/>
                      <a:pt x="35" y="12"/>
                    </a:cubicBezTo>
                    <a:cubicBezTo>
                      <a:pt x="35" y="12"/>
                      <a:pt x="36" y="11"/>
                      <a:pt x="36" y="11"/>
                    </a:cubicBezTo>
                    <a:cubicBezTo>
                      <a:pt x="37" y="11"/>
                      <a:pt x="38" y="11"/>
                      <a:pt x="38" y="11"/>
                    </a:cubicBezTo>
                    <a:cubicBezTo>
                      <a:pt x="39" y="11"/>
                      <a:pt x="39" y="11"/>
                      <a:pt x="39" y="10"/>
                    </a:cubicBezTo>
                    <a:cubicBezTo>
                      <a:pt x="39" y="10"/>
                      <a:pt x="39" y="10"/>
                      <a:pt x="40" y="9"/>
                    </a:cubicBezTo>
                    <a:cubicBezTo>
                      <a:pt x="41" y="9"/>
                      <a:pt x="42" y="9"/>
                      <a:pt x="42" y="9"/>
                    </a:cubicBezTo>
                    <a:cubicBezTo>
                      <a:pt x="42" y="9"/>
                      <a:pt x="42" y="9"/>
                      <a:pt x="42" y="9"/>
                    </a:cubicBezTo>
                    <a:cubicBezTo>
                      <a:pt x="42" y="8"/>
                      <a:pt x="42" y="7"/>
                      <a:pt x="42" y="7"/>
                    </a:cubicBezTo>
                    <a:cubicBezTo>
                      <a:pt x="42" y="7"/>
                      <a:pt x="43" y="7"/>
                      <a:pt x="43" y="6"/>
                    </a:cubicBezTo>
                    <a:cubicBezTo>
                      <a:pt x="43" y="6"/>
                      <a:pt x="45" y="7"/>
                      <a:pt x="47" y="7"/>
                    </a:cubicBezTo>
                    <a:cubicBezTo>
                      <a:pt x="46" y="7"/>
                      <a:pt x="45" y="6"/>
                      <a:pt x="45" y="5"/>
                    </a:cubicBezTo>
                    <a:cubicBezTo>
                      <a:pt x="44" y="5"/>
                      <a:pt x="44" y="4"/>
                      <a:pt x="44" y="4"/>
                    </a:cubicBezTo>
                    <a:cubicBezTo>
                      <a:pt x="44" y="4"/>
                      <a:pt x="44" y="3"/>
                      <a:pt x="43" y="2"/>
                    </a:cubicBezTo>
                    <a:cubicBezTo>
                      <a:pt x="43" y="2"/>
                      <a:pt x="43" y="2"/>
                      <a:pt x="43" y="1"/>
                    </a:cubicBezTo>
                    <a:cubicBezTo>
                      <a:pt x="43" y="0"/>
                      <a:pt x="41" y="0"/>
                      <a:pt x="41" y="0"/>
                    </a:cubicBezTo>
                    <a:cubicBezTo>
                      <a:pt x="41" y="0"/>
                      <a:pt x="40" y="0"/>
                      <a:pt x="40" y="0"/>
                    </a:cubicBezTo>
                    <a:cubicBezTo>
                      <a:pt x="39" y="0"/>
                      <a:pt x="39" y="1"/>
                      <a:pt x="39" y="1"/>
                    </a:cubicBezTo>
                    <a:cubicBezTo>
                      <a:pt x="39" y="1"/>
                      <a:pt x="38" y="1"/>
                      <a:pt x="38" y="1"/>
                    </a:cubicBezTo>
                    <a:cubicBezTo>
                      <a:pt x="38" y="2"/>
                      <a:pt x="38" y="3"/>
                      <a:pt x="39" y="3"/>
                    </a:cubicBezTo>
                    <a:cubicBezTo>
                      <a:pt x="39" y="4"/>
                      <a:pt x="38" y="4"/>
                      <a:pt x="38" y="4"/>
                    </a:cubicBezTo>
                    <a:cubicBezTo>
                      <a:pt x="38" y="4"/>
                      <a:pt x="36" y="3"/>
                      <a:pt x="36" y="3"/>
                    </a:cubicBezTo>
                    <a:cubicBezTo>
                      <a:pt x="35" y="3"/>
                      <a:pt x="34" y="3"/>
                      <a:pt x="34" y="3"/>
                    </a:cubicBezTo>
                    <a:cubicBezTo>
                      <a:pt x="33" y="3"/>
                      <a:pt x="33" y="3"/>
                      <a:pt x="33" y="4"/>
                    </a:cubicBezTo>
                    <a:cubicBezTo>
                      <a:pt x="33" y="4"/>
                      <a:pt x="32" y="4"/>
                      <a:pt x="32" y="5"/>
                    </a:cubicBezTo>
                    <a:cubicBezTo>
                      <a:pt x="31" y="5"/>
                      <a:pt x="30" y="5"/>
                      <a:pt x="30" y="4"/>
                    </a:cubicBezTo>
                    <a:cubicBezTo>
                      <a:pt x="30" y="4"/>
                      <a:pt x="29" y="4"/>
                      <a:pt x="29" y="4"/>
                    </a:cubicBezTo>
                    <a:cubicBezTo>
                      <a:pt x="29" y="4"/>
                      <a:pt x="26" y="4"/>
                      <a:pt x="25" y="4"/>
                    </a:cubicBezTo>
                    <a:cubicBezTo>
                      <a:pt x="25" y="4"/>
                      <a:pt x="24" y="4"/>
                      <a:pt x="24" y="4"/>
                    </a:cubicBezTo>
                    <a:cubicBezTo>
                      <a:pt x="24" y="4"/>
                      <a:pt x="23" y="5"/>
                      <a:pt x="23" y="5"/>
                    </a:cubicBezTo>
                    <a:cubicBezTo>
                      <a:pt x="23" y="5"/>
                      <a:pt x="22" y="5"/>
                      <a:pt x="22" y="5"/>
                    </a:cubicBezTo>
                    <a:cubicBezTo>
                      <a:pt x="21" y="5"/>
                      <a:pt x="21" y="6"/>
                      <a:pt x="21" y="6"/>
                    </a:cubicBezTo>
                    <a:cubicBezTo>
                      <a:pt x="21" y="7"/>
                      <a:pt x="21" y="7"/>
                      <a:pt x="20" y="7"/>
                    </a:cubicBezTo>
                    <a:cubicBezTo>
                      <a:pt x="20" y="7"/>
                      <a:pt x="18" y="9"/>
                      <a:pt x="17" y="9"/>
                    </a:cubicBezTo>
                    <a:cubicBezTo>
                      <a:pt x="17" y="9"/>
                      <a:pt x="17" y="9"/>
                      <a:pt x="16" y="9"/>
                    </a:cubicBezTo>
                    <a:cubicBezTo>
                      <a:pt x="16" y="9"/>
                      <a:pt x="15" y="9"/>
                      <a:pt x="15" y="8"/>
                    </a:cubicBezTo>
                    <a:cubicBezTo>
                      <a:pt x="15" y="8"/>
                      <a:pt x="15" y="8"/>
                      <a:pt x="14" y="8"/>
                    </a:cubicBezTo>
                    <a:cubicBezTo>
                      <a:pt x="14" y="8"/>
                      <a:pt x="11" y="8"/>
                      <a:pt x="11" y="8"/>
                    </a:cubicBezTo>
                    <a:cubicBezTo>
                      <a:pt x="11" y="8"/>
                      <a:pt x="10" y="8"/>
                      <a:pt x="10" y="8"/>
                    </a:cubicBezTo>
                    <a:cubicBezTo>
                      <a:pt x="10" y="8"/>
                      <a:pt x="10" y="7"/>
                      <a:pt x="9" y="7"/>
                    </a:cubicBezTo>
                    <a:cubicBezTo>
                      <a:pt x="9" y="8"/>
                      <a:pt x="6" y="7"/>
                      <a:pt x="5" y="7"/>
                    </a:cubicBezTo>
                    <a:cubicBezTo>
                      <a:pt x="5" y="7"/>
                      <a:pt x="5" y="7"/>
                      <a:pt x="4" y="7"/>
                    </a:cubicBezTo>
                    <a:cubicBezTo>
                      <a:pt x="4" y="7"/>
                      <a:pt x="4" y="8"/>
                      <a:pt x="3" y="9"/>
                    </a:cubicBezTo>
                    <a:cubicBezTo>
                      <a:pt x="2" y="9"/>
                      <a:pt x="0" y="10"/>
                      <a:pt x="0" y="10"/>
                    </a:cubicBezTo>
                    <a:cubicBezTo>
                      <a:pt x="0" y="10"/>
                      <a:pt x="0" y="11"/>
                      <a:pt x="0" y="11"/>
                    </a:cubicBezTo>
                    <a:cubicBezTo>
                      <a:pt x="1" y="11"/>
                      <a:pt x="3" y="13"/>
                      <a:pt x="3" y="13"/>
                    </a:cubicBezTo>
                    <a:cubicBezTo>
                      <a:pt x="3" y="13"/>
                      <a:pt x="3" y="13"/>
                      <a:pt x="3" y="14"/>
                    </a:cubicBezTo>
                    <a:cubicBezTo>
                      <a:pt x="2" y="14"/>
                      <a:pt x="2" y="15"/>
                      <a:pt x="2" y="15"/>
                    </a:cubicBezTo>
                    <a:cubicBezTo>
                      <a:pt x="1" y="15"/>
                      <a:pt x="1" y="15"/>
                      <a:pt x="1" y="16"/>
                    </a:cubicBezTo>
                    <a:cubicBezTo>
                      <a:pt x="2" y="16"/>
                      <a:pt x="3" y="18"/>
                      <a:pt x="3" y="18"/>
                    </a:cubicBezTo>
                    <a:cubicBezTo>
                      <a:pt x="3" y="19"/>
                      <a:pt x="3" y="20"/>
                      <a:pt x="4" y="21"/>
                    </a:cubicBezTo>
                    <a:cubicBezTo>
                      <a:pt x="4" y="21"/>
                      <a:pt x="6" y="22"/>
                      <a:pt x="6" y="22"/>
                    </a:cubicBezTo>
                    <a:cubicBezTo>
                      <a:pt x="7" y="23"/>
                      <a:pt x="7" y="23"/>
                      <a:pt x="6" y="24"/>
                    </a:cubicBezTo>
                    <a:cubicBezTo>
                      <a:pt x="6" y="24"/>
                      <a:pt x="5" y="24"/>
                      <a:pt x="4" y="24"/>
                    </a:cubicBezTo>
                    <a:cubicBezTo>
                      <a:pt x="4" y="24"/>
                      <a:pt x="4" y="25"/>
                      <a:pt x="4" y="25"/>
                    </a:cubicBezTo>
                    <a:cubicBezTo>
                      <a:pt x="3" y="25"/>
                      <a:pt x="2" y="25"/>
                      <a:pt x="3" y="26"/>
                    </a:cubicBezTo>
                    <a:cubicBezTo>
                      <a:pt x="3" y="26"/>
                      <a:pt x="3" y="26"/>
                      <a:pt x="3" y="26"/>
                    </a:cubicBezTo>
                    <a:cubicBezTo>
                      <a:pt x="3" y="26"/>
                      <a:pt x="4" y="26"/>
                      <a:pt x="4" y="2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29" name="Freeform 1041">
                <a:extLst>
                  <a:ext uri="{FF2B5EF4-FFF2-40B4-BE49-F238E27FC236}">
                    <a16:creationId xmlns:a16="http://schemas.microsoft.com/office/drawing/2014/main" id="{B2248029-9736-42D7-82A4-7A55D1D283B2}"/>
                  </a:ext>
                </a:extLst>
              </p:cNvPr>
              <p:cNvSpPr>
                <a:spLocks/>
              </p:cNvSpPr>
              <p:nvPr/>
            </p:nvSpPr>
            <p:spPr bwMode="auto">
              <a:xfrm>
                <a:off x="3891" y="1668"/>
                <a:ext cx="84" cy="99"/>
              </a:xfrm>
              <a:custGeom>
                <a:avLst/>
                <a:gdLst>
                  <a:gd name="T0" fmla="*/ 14 w 61"/>
                  <a:gd name="T1" fmla="*/ 0 h 72"/>
                  <a:gd name="T2" fmla="*/ 0 w 61"/>
                  <a:gd name="T3" fmla="*/ 5 h 72"/>
                  <a:gd name="T4" fmla="*/ 0 w 61"/>
                  <a:gd name="T5" fmla="*/ 7 h 72"/>
                  <a:gd name="T6" fmla="*/ 0 w 61"/>
                  <a:gd name="T7" fmla="*/ 11 h 72"/>
                  <a:gd name="T8" fmla="*/ 3 w 61"/>
                  <a:gd name="T9" fmla="*/ 13 h 72"/>
                  <a:gd name="T10" fmla="*/ 7 w 61"/>
                  <a:gd name="T11" fmla="*/ 17 h 72"/>
                  <a:gd name="T12" fmla="*/ 3 w 61"/>
                  <a:gd name="T13" fmla="*/ 20 h 72"/>
                  <a:gd name="T14" fmla="*/ 2 w 61"/>
                  <a:gd name="T15" fmla="*/ 24 h 72"/>
                  <a:gd name="T16" fmla="*/ 6 w 61"/>
                  <a:gd name="T17" fmla="*/ 24 h 72"/>
                  <a:gd name="T18" fmla="*/ 5 w 61"/>
                  <a:gd name="T19" fmla="*/ 29 h 72"/>
                  <a:gd name="T20" fmla="*/ 4 w 61"/>
                  <a:gd name="T21" fmla="*/ 35 h 72"/>
                  <a:gd name="T22" fmla="*/ 7 w 61"/>
                  <a:gd name="T23" fmla="*/ 36 h 72"/>
                  <a:gd name="T24" fmla="*/ 11 w 61"/>
                  <a:gd name="T25" fmla="*/ 40 h 72"/>
                  <a:gd name="T26" fmla="*/ 5 w 61"/>
                  <a:gd name="T27" fmla="*/ 40 h 72"/>
                  <a:gd name="T28" fmla="*/ 9 w 61"/>
                  <a:gd name="T29" fmla="*/ 46 h 72"/>
                  <a:gd name="T30" fmla="*/ 5 w 61"/>
                  <a:gd name="T31" fmla="*/ 48 h 72"/>
                  <a:gd name="T32" fmla="*/ 23 w 61"/>
                  <a:gd name="T33" fmla="*/ 61 h 72"/>
                  <a:gd name="T34" fmla="*/ 24 w 61"/>
                  <a:gd name="T35" fmla="*/ 59 h 72"/>
                  <a:gd name="T36" fmla="*/ 26 w 61"/>
                  <a:gd name="T37" fmla="*/ 56 h 72"/>
                  <a:gd name="T38" fmla="*/ 28 w 61"/>
                  <a:gd name="T39" fmla="*/ 53 h 72"/>
                  <a:gd name="T40" fmla="*/ 33 w 61"/>
                  <a:gd name="T41" fmla="*/ 55 h 72"/>
                  <a:gd name="T42" fmla="*/ 36 w 61"/>
                  <a:gd name="T43" fmla="*/ 57 h 72"/>
                  <a:gd name="T44" fmla="*/ 38 w 61"/>
                  <a:gd name="T45" fmla="*/ 62 h 72"/>
                  <a:gd name="T46" fmla="*/ 41 w 61"/>
                  <a:gd name="T47" fmla="*/ 64 h 72"/>
                  <a:gd name="T48" fmla="*/ 43 w 61"/>
                  <a:gd name="T49" fmla="*/ 66 h 72"/>
                  <a:gd name="T50" fmla="*/ 40 w 61"/>
                  <a:gd name="T51" fmla="*/ 70 h 72"/>
                  <a:gd name="T52" fmla="*/ 40 w 61"/>
                  <a:gd name="T53" fmla="*/ 72 h 72"/>
                  <a:gd name="T54" fmla="*/ 46 w 61"/>
                  <a:gd name="T55" fmla="*/ 71 h 72"/>
                  <a:gd name="T56" fmla="*/ 52 w 61"/>
                  <a:gd name="T57" fmla="*/ 70 h 72"/>
                  <a:gd name="T58" fmla="*/ 53 w 61"/>
                  <a:gd name="T59" fmla="*/ 66 h 72"/>
                  <a:gd name="T60" fmla="*/ 53 w 61"/>
                  <a:gd name="T61" fmla="*/ 63 h 72"/>
                  <a:gd name="T62" fmla="*/ 61 w 61"/>
                  <a:gd name="T63" fmla="*/ 55 h 72"/>
                  <a:gd name="T64" fmla="*/ 53 w 61"/>
                  <a:gd name="T65" fmla="*/ 47 h 72"/>
                  <a:gd name="T66" fmla="*/ 56 w 61"/>
                  <a:gd name="T67" fmla="*/ 36 h 72"/>
                  <a:gd name="T68" fmla="*/ 55 w 61"/>
                  <a:gd name="T69" fmla="*/ 31 h 72"/>
                  <a:gd name="T70" fmla="*/ 57 w 61"/>
                  <a:gd name="T71" fmla="*/ 30 h 72"/>
                  <a:gd name="T72" fmla="*/ 49 w 61"/>
                  <a:gd name="T73" fmla="*/ 31 h 72"/>
                  <a:gd name="T74" fmla="*/ 46 w 61"/>
                  <a:gd name="T75" fmla="*/ 29 h 72"/>
                  <a:gd name="T76" fmla="*/ 38 w 61"/>
                  <a:gd name="T77" fmla="*/ 25 h 72"/>
                  <a:gd name="T78" fmla="*/ 39 w 61"/>
                  <a:gd name="T79" fmla="*/ 20 h 72"/>
                  <a:gd name="T80" fmla="*/ 35 w 61"/>
                  <a:gd name="T81" fmla="*/ 17 h 72"/>
                  <a:gd name="T82" fmla="*/ 29 w 61"/>
                  <a:gd name="T83" fmla="*/ 12 h 72"/>
                  <a:gd name="T84" fmla="*/ 21 w 61"/>
                  <a:gd name="T85" fmla="*/ 2 h 72"/>
                  <a:gd name="T86" fmla="*/ 20 w 61"/>
                  <a:gd name="T87" fmla="*/ 1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1" h="72">
                    <a:moveTo>
                      <a:pt x="18" y="1"/>
                    </a:moveTo>
                    <a:cubicBezTo>
                      <a:pt x="17" y="0"/>
                      <a:pt x="14" y="0"/>
                      <a:pt x="14" y="0"/>
                    </a:cubicBezTo>
                    <a:cubicBezTo>
                      <a:pt x="13" y="0"/>
                      <a:pt x="12" y="0"/>
                      <a:pt x="11" y="1"/>
                    </a:cubicBezTo>
                    <a:cubicBezTo>
                      <a:pt x="11" y="1"/>
                      <a:pt x="5" y="3"/>
                      <a:pt x="0" y="5"/>
                    </a:cubicBezTo>
                    <a:cubicBezTo>
                      <a:pt x="0" y="6"/>
                      <a:pt x="0" y="6"/>
                      <a:pt x="0" y="6"/>
                    </a:cubicBezTo>
                    <a:cubicBezTo>
                      <a:pt x="0" y="6"/>
                      <a:pt x="0" y="7"/>
                      <a:pt x="0" y="7"/>
                    </a:cubicBezTo>
                    <a:cubicBezTo>
                      <a:pt x="0" y="7"/>
                      <a:pt x="1" y="7"/>
                      <a:pt x="1" y="8"/>
                    </a:cubicBezTo>
                    <a:cubicBezTo>
                      <a:pt x="1" y="8"/>
                      <a:pt x="0" y="10"/>
                      <a:pt x="0" y="11"/>
                    </a:cubicBezTo>
                    <a:cubicBezTo>
                      <a:pt x="1" y="11"/>
                      <a:pt x="1" y="12"/>
                      <a:pt x="1" y="12"/>
                    </a:cubicBezTo>
                    <a:cubicBezTo>
                      <a:pt x="2" y="12"/>
                      <a:pt x="4" y="13"/>
                      <a:pt x="3" y="13"/>
                    </a:cubicBezTo>
                    <a:cubicBezTo>
                      <a:pt x="2" y="14"/>
                      <a:pt x="1" y="14"/>
                      <a:pt x="3" y="14"/>
                    </a:cubicBezTo>
                    <a:cubicBezTo>
                      <a:pt x="4" y="15"/>
                      <a:pt x="7" y="17"/>
                      <a:pt x="7" y="17"/>
                    </a:cubicBezTo>
                    <a:cubicBezTo>
                      <a:pt x="7" y="17"/>
                      <a:pt x="8" y="18"/>
                      <a:pt x="7" y="18"/>
                    </a:cubicBezTo>
                    <a:cubicBezTo>
                      <a:pt x="6" y="18"/>
                      <a:pt x="3" y="18"/>
                      <a:pt x="3" y="20"/>
                    </a:cubicBezTo>
                    <a:cubicBezTo>
                      <a:pt x="3" y="22"/>
                      <a:pt x="3" y="22"/>
                      <a:pt x="3" y="23"/>
                    </a:cubicBezTo>
                    <a:cubicBezTo>
                      <a:pt x="3" y="23"/>
                      <a:pt x="3" y="24"/>
                      <a:pt x="2" y="24"/>
                    </a:cubicBezTo>
                    <a:cubicBezTo>
                      <a:pt x="3" y="24"/>
                      <a:pt x="3" y="24"/>
                      <a:pt x="3" y="24"/>
                    </a:cubicBezTo>
                    <a:cubicBezTo>
                      <a:pt x="4" y="24"/>
                      <a:pt x="6" y="24"/>
                      <a:pt x="6" y="24"/>
                    </a:cubicBezTo>
                    <a:cubicBezTo>
                      <a:pt x="6" y="24"/>
                      <a:pt x="7" y="23"/>
                      <a:pt x="7" y="24"/>
                    </a:cubicBezTo>
                    <a:cubicBezTo>
                      <a:pt x="6" y="25"/>
                      <a:pt x="5" y="28"/>
                      <a:pt x="5" y="29"/>
                    </a:cubicBezTo>
                    <a:cubicBezTo>
                      <a:pt x="5" y="29"/>
                      <a:pt x="4" y="30"/>
                      <a:pt x="3" y="31"/>
                    </a:cubicBezTo>
                    <a:cubicBezTo>
                      <a:pt x="3" y="32"/>
                      <a:pt x="4" y="34"/>
                      <a:pt x="4" y="35"/>
                    </a:cubicBezTo>
                    <a:cubicBezTo>
                      <a:pt x="5" y="35"/>
                      <a:pt x="5" y="36"/>
                      <a:pt x="6" y="35"/>
                    </a:cubicBezTo>
                    <a:cubicBezTo>
                      <a:pt x="6" y="35"/>
                      <a:pt x="7" y="35"/>
                      <a:pt x="7" y="36"/>
                    </a:cubicBezTo>
                    <a:cubicBezTo>
                      <a:pt x="7" y="36"/>
                      <a:pt x="9" y="39"/>
                      <a:pt x="10" y="39"/>
                    </a:cubicBezTo>
                    <a:cubicBezTo>
                      <a:pt x="10" y="39"/>
                      <a:pt x="11" y="39"/>
                      <a:pt x="11" y="40"/>
                    </a:cubicBezTo>
                    <a:cubicBezTo>
                      <a:pt x="10" y="41"/>
                      <a:pt x="8" y="41"/>
                      <a:pt x="7" y="41"/>
                    </a:cubicBezTo>
                    <a:cubicBezTo>
                      <a:pt x="7" y="41"/>
                      <a:pt x="5" y="39"/>
                      <a:pt x="5" y="40"/>
                    </a:cubicBezTo>
                    <a:cubicBezTo>
                      <a:pt x="6" y="41"/>
                      <a:pt x="8" y="44"/>
                      <a:pt x="8" y="44"/>
                    </a:cubicBezTo>
                    <a:cubicBezTo>
                      <a:pt x="9" y="45"/>
                      <a:pt x="9" y="45"/>
                      <a:pt x="9" y="46"/>
                    </a:cubicBezTo>
                    <a:cubicBezTo>
                      <a:pt x="9" y="46"/>
                      <a:pt x="8" y="47"/>
                      <a:pt x="8" y="47"/>
                    </a:cubicBezTo>
                    <a:cubicBezTo>
                      <a:pt x="7" y="47"/>
                      <a:pt x="6" y="48"/>
                      <a:pt x="5" y="48"/>
                    </a:cubicBezTo>
                    <a:cubicBezTo>
                      <a:pt x="22" y="61"/>
                      <a:pt x="22" y="61"/>
                      <a:pt x="22" y="61"/>
                    </a:cubicBezTo>
                    <a:cubicBezTo>
                      <a:pt x="22" y="61"/>
                      <a:pt x="23" y="61"/>
                      <a:pt x="23" y="61"/>
                    </a:cubicBezTo>
                    <a:cubicBezTo>
                      <a:pt x="24" y="61"/>
                      <a:pt x="24" y="61"/>
                      <a:pt x="24" y="60"/>
                    </a:cubicBezTo>
                    <a:cubicBezTo>
                      <a:pt x="24" y="60"/>
                      <a:pt x="24" y="59"/>
                      <a:pt x="24" y="59"/>
                    </a:cubicBezTo>
                    <a:cubicBezTo>
                      <a:pt x="25" y="59"/>
                      <a:pt x="26" y="59"/>
                      <a:pt x="26" y="58"/>
                    </a:cubicBezTo>
                    <a:cubicBezTo>
                      <a:pt x="27" y="57"/>
                      <a:pt x="26" y="56"/>
                      <a:pt x="26" y="56"/>
                    </a:cubicBezTo>
                    <a:cubicBezTo>
                      <a:pt x="26" y="55"/>
                      <a:pt x="25" y="54"/>
                      <a:pt x="27" y="54"/>
                    </a:cubicBezTo>
                    <a:cubicBezTo>
                      <a:pt x="29" y="54"/>
                      <a:pt x="28" y="53"/>
                      <a:pt x="28" y="53"/>
                    </a:cubicBezTo>
                    <a:cubicBezTo>
                      <a:pt x="28" y="52"/>
                      <a:pt x="28" y="50"/>
                      <a:pt x="30" y="51"/>
                    </a:cubicBezTo>
                    <a:cubicBezTo>
                      <a:pt x="33" y="51"/>
                      <a:pt x="32" y="54"/>
                      <a:pt x="33" y="55"/>
                    </a:cubicBezTo>
                    <a:cubicBezTo>
                      <a:pt x="33" y="56"/>
                      <a:pt x="34" y="57"/>
                      <a:pt x="35" y="56"/>
                    </a:cubicBezTo>
                    <a:cubicBezTo>
                      <a:pt x="35" y="55"/>
                      <a:pt x="36" y="57"/>
                      <a:pt x="36" y="57"/>
                    </a:cubicBezTo>
                    <a:cubicBezTo>
                      <a:pt x="37" y="58"/>
                      <a:pt x="36" y="59"/>
                      <a:pt x="37" y="60"/>
                    </a:cubicBezTo>
                    <a:cubicBezTo>
                      <a:pt x="38" y="60"/>
                      <a:pt x="38" y="61"/>
                      <a:pt x="38" y="62"/>
                    </a:cubicBezTo>
                    <a:cubicBezTo>
                      <a:pt x="38" y="62"/>
                      <a:pt x="38" y="63"/>
                      <a:pt x="39" y="63"/>
                    </a:cubicBezTo>
                    <a:cubicBezTo>
                      <a:pt x="39" y="63"/>
                      <a:pt x="40" y="64"/>
                      <a:pt x="41" y="64"/>
                    </a:cubicBezTo>
                    <a:cubicBezTo>
                      <a:pt x="42" y="64"/>
                      <a:pt x="43" y="63"/>
                      <a:pt x="43" y="64"/>
                    </a:cubicBezTo>
                    <a:cubicBezTo>
                      <a:pt x="43" y="65"/>
                      <a:pt x="43" y="65"/>
                      <a:pt x="43" y="66"/>
                    </a:cubicBezTo>
                    <a:cubicBezTo>
                      <a:pt x="42" y="67"/>
                      <a:pt x="41" y="68"/>
                      <a:pt x="41" y="68"/>
                    </a:cubicBezTo>
                    <a:cubicBezTo>
                      <a:pt x="41" y="69"/>
                      <a:pt x="41" y="70"/>
                      <a:pt x="40" y="70"/>
                    </a:cubicBezTo>
                    <a:cubicBezTo>
                      <a:pt x="40" y="70"/>
                      <a:pt x="39" y="70"/>
                      <a:pt x="40" y="72"/>
                    </a:cubicBezTo>
                    <a:cubicBezTo>
                      <a:pt x="40" y="72"/>
                      <a:pt x="40" y="72"/>
                      <a:pt x="40" y="72"/>
                    </a:cubicBezTo>
                    <a:cubicBezTo>
                      <a:pt x="41" y="72"/>
                      <a:pt x="41" y="72"/>
                      <a:pt x="42" y="71"/>
                    </a:cubicBezTo>
                    <a:cubicBezTo>
                      <a:pt x="42" y="71"/>
                      <a:pt x="46" y="71"/>
                      <a:pt x="46" y="71"/>
                    </a:cubicBezTo>
                    <a:cubicBezTo>
                      <a:pt x="46" y="70"/>
                      <a:pt x="48" y="71"/>
                      <a:pt x="48" y="71"/>
                    </a:cubicBezTo>
                    <a:cubicBezTo>
                      <a:pt x="48" y="71"/>
                      <a:pt x="51" y="71"/>
                      <a:pt x="52" y="70"/>
                    </a:cubicBezTo>
                    <a:cubicBezTo>
                      <a:pt x="52" y="70"/>
                      <a:pt x="52" y="69"/>
                      <a:pt x="54" y="69"/>
                    </a:cubicBezTo>
                    <a:cubicBezTo>
                      <a:pt x="55" y="68"/>
                      <a:pt x="54" y="66"/>
                      <a:pt x="53" y="66"/>
                    </a:cubicBezTo>
                    <a:cubicBezTo>
                      <a:pt x="53" y="65"/>
                      <a:pt x="53" y="65"/>
                      <a:pt x="53" y="65"/>
                    </a:cubicBezTo>
                    <a:cubicBezTo>
                      <a:pt x="53" y="63"/>
                      <a:pt x="53" y="63"/>
                      <a:pt x="53" y="63"/>
                    </a:cubicBezTo>
                    <a:cubicBezTo>
                      <a:pt x="53" y="61"/>
                      <a:pt x="55" y="60"/>
                      <a:pt x="55" y="60"/>
                    </a:cubicBezTo>
                    <a:cubicBezTo>
                      <a:pt x="61" y="55"/>
                      <a:pt x="61" y="55"/>
                      <a:pt x="61" y="55"/>
                    </a:cubicBezTo>
                    <a:cubicBezTo>
                      <a:pt x="61" y="55"/>
                      <a:pt x="60" y="54"/>
                      <a:pt x="57" y="52"/>
                    </a:cubicBezTo>
                    <a:cubicBezTo>
                      <a:pt x="54" y="51"/>
                      <a:pt x="53" y="48"/>
                      <a:pt x="53" y="47"/>
                    </a:cubicBezTo>
                    <a:cubicBezTo>
                      <a:pt x="53" y="46"/>
                      <a:pt x="52" y="44"/>
                      <a:pt x="52" y="44"/>
                    </a:cubicBezTo>
                    <a:cubicBezTo>
                      <a:pt x="56" y="36"/>
                      <a:pt x="56" y="36"/>
                      <a:pt x="56" y="36"/>
                    </a:cubicBezTo>
                    <a:cubicBezTo>
                      <a:pt x="56" y="36"/>
                      <a:pt x="54" y="34"/>
                      <a:pt x="54" y="33"/>
                    </a:cubicBezTo>
                    <a:cubicBezTo>
                      <a:pt x="53" y="33"/>
                      <a:pt x="54" y="31"/>
                      <a:pt x="55" y="31"/>
                    </a:cubicBezTo>
                    <a:cubicBezTo>
                      <a:pt x="55" y="30"/>
                      <a:pt x="56" y="30"/>
                      <a:pt x="56" y="30"/>
                    </a:cubicBezTo>
                    <a:cubicBezTo>
                      <a:pt x="57" y="31"/>
                      <a:pt x="57" y="31"/>
                      <a:pt x="57" y="30"/>
                    </a:cubicBezTo>
                    <a:cubicBezTo>
                      <a:pt x="58" y="30"/>
                      <a:pt x="57" y="29"/>
                      <a:pt x="55" y="28"/>
                    </a:cubicBezTo>
                    <a:cubicBezTo>
                      <a:pt x="53" y="27"/>
                      <a:pt x="50" y="30"/>
                      <a:pt x="49" y="31"/>
                    </a:cubicBezTo>
                    <a:cubicBezTo>
                      <a:pt x="48" y="31"/>
                      <a:pt x="47" y="30"/>
                      <a:pt x="47" y="30"/>
                    </a:cubicBezTo>
                    <a:cubicBezTo>
                      <a:pt x="47" y="30"/>
                      <a:pt x="46" y="29"/>
                      <a:pt x="46" y="29"/>
                    </a:cubicBezTo>
                    <a:cubicBezTo>
                      <a:pt x="46" y="29"/>
                      <a:pt x="39" y="26"/>
                      <a:pt x="39" y="26"/>
                    </a:cubicBezTo>
                    <a:cubicBezTo>
                      <a:pt x="38" y="25"/>
                      <a:pt x="36" y="25"/>
                      <a:pt x="38" y="25"/>
                    </a:cubicBezTo>
                    <a:cubicBezTo>
                      <a:pt x="40" y="24"/>
                      <a:pt x="40" y="23"/>
                      <a:pt x="40" y="23"/>
                    </a:cubicBezTo>
                    <a:cubicBezTo>
                      <a:pt x="40" y="23"/>
                      <a:pt x="39" y="20"/>
                      <a:pt x="39" y="20"/>
                    </a:cubicBezTo>
                    <a:cubicBezTo>
                      <a:pt x="39" y="19"/>
                      <a:pt x="39" y="19"/>
                      <a:pt x="39" y="19"/>
                    </a:cubicBezTo>
                    <a:cubicBezTo>
                      <a:pt x="38" y="19"/>
                      <a:pt x="37" y="18"/>
                      <a:pt x="35" y="17"/>
                    </a:cubicBezTo>
                    <a:cubicBezTo>
                      <a:pt x="33" y="16"/>
                      <a:pt x="30" y="14"/>
                      <a:pt x="29" y="13"/>
                    </a:cubicBezTo>
                    <a:cubicBezTo>
                      <a:pt x="28" y="13"/>
                      <a:pt x="29" y="13"/>
                      <a:pt x="29" y="12"/>
                    </a:cubicBezTo>
                    <a:cubicBezTo>
                      <a:pt x="29" y="12"/>
                      <a:pt x="27" y="10"/>
                      <a:pt x="27" y="9"/>
                    </a:cubicBezTo>
                    <a:cubicBezTo>
                      <a:pt x="26" y="8"/>
                      <a:pt x="21" y="2"/>
                      <a:pt x="21" y="2"/>
                    </a:cubicBezTo>
                    <a:cubicBezTo>
                      <a:pt x="21" y="2"/>
                      <a:pt x="21" y="2"/>
                      <a:pt x="21" y="2"/>
                    </a:cubicBezTo>
                    <a:cubicBezTo>
                      <a:pt x="20" y="1"/>
                      <a:pt x="20" y="1"/>
                      <a:pt x="20" y="1"/>
                    </a:cubicBezTo>
                    <a:cubicBezTo>
                      <a:pt x="19" y="0"/>
                      <a:pt x="18" y="1"/>
                      <a:pt x="18"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30" name="Freeform 1042">
                <a:extLst>
                  <a:ext uri="{FF2B5EF4-FFF2-40B4-BE49-F238E27FC236}">
                    <a16:creationId xmlns:a16="http://schemas.microsoft.com/office/drawing/2014/main" id="{BF9611ED-4A0C-46DB-9E11-1844D791CB40}"/>
                  </a:ext>
                </a:extLst>
              </p:cNvPr>
              <p:cNvSpPr>
                <a:spLocks/>
              </p:cNvSpPr>
              <p:nvPr/>
            </p:nvSpPr>
            <p:spPr bwMode="auto">
              <a:xfrm>
                <a:off x="3914" y="1736"/>
                <a:ext cx="36" cy="40"/>
              </a:xfrm>
              <a:custGeom>
                <a:avLst/>
                <a:gdLst>
                  <a:gd name="T0" fmla="*/ 1 w 26"/>
                  <a:gd name="T1" fmla="*/ 16 h 29"/>
                  <a:gd name="T2" fmla="*/ 1 w 26"/>
                  <a:gd name="T3" fmla="*/ 17 h 29"/>
                  <a:gd name="T4" fmla="*/ 4 w 26"/>
                  <a:gd name="T5" fmla="*/ 20 h 29"/>
                  <a:gd name="T6" fmla="*/ 6 w 26"/>
                  <a:gd name="T7" fmla="*/ 21 h 29"/>
                  <a:gd name="T8" fmla="*/ 7 w 26"/>
                  <a:gd name="T9" fmla="*/ 22 h 29"/>
                  <a:gd name="T10" fmla="*/ 8 w 26"/>
                  <a:gd name="T11" fmla="*/ 24 h 29"/>
                  <a:gd name="T12" fmla="*/ 8 w 26"/>
                  <a:gd name="T13" fmla="*/ 29 h 29"/>
                  <a:gd name="T14" fmla="*/ 10 w 26"/>
                  <a:gd name="T15" fmla="*/ 28 h 29"/>
                  <a:gd name="T16" fmla="*/ 11 w 26"/>
                  <a:gd name="T17" fmla="*/ 28 h 29"/>
                  <a:gd name="T18" fmla="*/ 11 w 26"/>
                  <a:gd name="T19" fmla="*/ 27 h 29"/>
                  <a:gd name="T20" fmla="*/ 11 w 26"/>
                  <a:gd name="T21" fmla="*/ 26 h 29"/>
                  <a:gd name="T22" fmla="*/ 13 w 26"/>
                  <a:gd name="T23" fmla="*/ 24 h 29"/>
                  <a:gd name="T24" fmla="*/ 15 w 26"/>
                  <a:gd name="T25" fmla="*/ 23 h 29"/>
                  <a:gd name="T26" fmla="*/ 16 w 26"/>
                  <a:gd name="T27" fmla="*/ 24 h 29"/>
                  <a:gd name="T28" fmla="*/ 17 w 26"/>
                  <a:gd name="T29" fmla="*/ 24 h 29"/>
                  <a:gd name="T30" fmla="*/ 19 w 26"/>
                  <a:gd name="T31" fmla="*/ 24 h 29"/>
                  <a:gd name="T32" fmla="*/ 19 w 26"/>
                  <a:gd name="T33" fmla="*/ 24 h 29"/>
                  <a:gd name="T34" fmla="*/ 20 w 26"/>
                  <a:gd name="T35" fmla="*/ 23 h 29"/>
                  <a:gd name="T36" fmla="*/ 22 w 26"/>
                  <a:gd name="T37" fmla="*/ 22 h 29"/>
                  <a:gd name="T38" fmla="*/ 23 w 26"/>
                  <a:gd name="T39" fmla="*/ 22 h 29"/>
                  <a:gd name="T40" fmla="*/ 23 w 26"/>
                  <a:gd name="T41" fmla="*/ 20 h 29"/>
                  <a:gd name="T42" fmla="*/ 24 w 26"/>
                  <a:gd name="T43" fmla="*/ 18 h 29"/>
                  <a:gd name="T44" fmla="*/ 26 w 26"/>
                  <a:gd name="T45" fmla="*/ 16 h 29"/>
                  <a:gd name="T46" fmla="*/ 26 w 26"/>
                  <a:gd name="T47" fmla="*/ 14 h 29"/>
                  <a:gd name="T48" fmla="*/ 24 w 26"/>
                  <a:gd name="T49" fmla="*/ 14 h 29"/>
                  <a:gd name="T50" fmla="*/ 22 w 26"/>
                  <a:gd name="T51" fmla="*/ 13 h 29"/>
                  <a:gd name="T52" fmla="*/ 21 w 26"/>
                  <a:gd name="T53" fmla="*/ 12 h 29"/>
                  <a:gd name="T54" fmla="*/ 20 w 26"/>
                  <a:gd name="T55" fmla="*/ 10 h 29"/>
                  <a:gd name="T56" fmla="*/ 19 w 26"/>
                  <a:gd name="T57" fmla="*/ 7 h 29"/>
                  <a:gd name="T58" fmla="*/ 18 w 26"/>
                  <a:gd name="T59" fmla="*/ 6 h 29"/>
                  <a:gd name="T60" fmla="*/ 16 w 26"/>
                  <a:gd name="T61" fmla="*/ 5 h 29"/>
                  <a:gd name="T62" fmla="*/ 13 w 26"/>
                  <a:gd name="T63" fmla="*/ 1 h 29"/>
                  <a:gd name="T64" fmla="*/ 11 w 26"/>
                  <a:gd name="T65" fmla="*/ 3 h 29"/>
                  <a:gd name="T66" fmla="*/ 10 w 26"/>
                  <a:gd name="T67" fmla="*/ 4 h 29"/>
                  <a:gd name="T68" fmla="*/ 9 w 26"/>
                  <a:gd name="T69" fmla="*/ 6 h 29"/>
                  <a:gd name="T70" fmla="*/ 9 w 26"/>
                  <a:gd name="T71" fmla="*/ 8 h 29"/>
                  <a:gd name="T72" fmla="*/ 7 w 26"/>
                  <a:gd name="T73" fmla="*/ 9 h 29"/>
                  <a:gd name="T74" fmla="*/ 7 w 26"/>
                  <a:gd name="T75" fmla="*/ 10 h 29"/>
                  <a:gd name="T76" fmla="*/ 6 w 26"/>
                  <a:gd name="T77" fmla="*/ 11 h 29"/>
                  <a:gd name="T78" fmla="*/ 5 w 26"/>
                  <a:gd name="T79" fmla="*/ 11 h 29"/>
                  <a:gd name="T80" fmla="*/ 4 w 26"/>
                  <a:gd name="T81" fmla="*/ 12 h 29"/>
                  <a:gd name="T82" fmla="*/ 1 w 26"/>
                  <a:gd name="T83" fmla="*/ 12 h 29"/>
                  <a:gd name="T84" fmla="*/ 1 w 26"/>
                  <a:gd name="T85" fmla="*/ 15 h 29"/>
                  <a:gd name="T86" fmla="*/ 1 w 26"/>
                  <a:gd name="T87" fmla="*/ 1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6" h="29">
                    <a:moveTo>
                      <a:pt x="1" y="16"/>
                    </a:moveTo>
                    <a:cubicBezTo>
                      <a:pt x="1" y="17"/>
                      <a:pt x="1" y="17"/>
                      <a:pt x="1" y="17"/>
                    </a:cubicBezTo>
                    <a:cubicBezTo>
                      <a:pt x="1" y="17"/>
                      <a:pt x="4" y="20"/>
                      <a:pt x="4" y="20"/>
                    </a:cubicBezTo>
                    <a:cubicBezTo>
                      <a:pt x="4" y="20"/>
                      <a:pt x="5" y="21"/>
                      <a:pt x="6" y="21"/>
                    </a:cubicBezTo>
                    <a:cubicBezTo>
                      <a:pt x="6" y="21"/>
                      <a:pt x="7" y="22"/>
                      <a:pt x="7" y="22"/>
                    </a:cubicBezTo>
                    <a:cubicBezTo>
                      <a:pt x="7" y="23"/>
                      <a:pt x="8" y="24"/>
                      <a:pt x="8" y="24"/>
                    </a:cubicBezTo>
                    <a:cubicBezTo>
                      <a:pt x="8" y="29"/>
                      <a:pt x="8" y="29"/>
                      <a:pt x="8" y="29"/>
                    </a:cubicBezTo>
                    <a:cubicBezTo>
                      <a:pt x="9" y="28"/>
                      <a:pt x="10" y="28"/>
                      <a:pt x="10" y="28"/>
                    </a:cubicBezTo>
                    <a:cubicBezTo>
                      <a:pt x="11" y="29"/>
                      <a:pt x="11" y="28"/>
                      <a:pt x="11" y="28"/>
                    </a:cubicBezTo>
                    <a:cubicBezTo>
                      <a:pt x="11" y="28"/>
                      <a:pt x="11" y="27"/>
                      <a:pt x="11" y="27"/>
                    </a:cubicBezTo>
                    <a:cubicBezTo>
                      <a:pt x="11" y="27"/>
                      <a:pt x="11" y="26"/>
                      <a:pt x="11" y="26"/>
                    </a:cubicBezTo>
                    <a:cubicBezTo>
                      <a:pt x="11" y="26"/>
                      <a:pt x="13" y="25"/>
                      <a:pt x="13" y="24"/>
                    </a:cubicBezTo>
                    <a:cubicBezTo>
                      <a:pt x="13" y="24"/>
                      <a:pt x="14" y="24"/>
                      <a:pt x="15" y="23"/>
                    </a:cubicBezTo>
                    <a:cubicBezTo>
                      <a:pt x="15" y="23"/>
                      <a:pt x="16" y="23"/>
                      <a:pt x="16" y="24"/>
                    </a:cubicBezTo>
                    <a:cubicBezTo>
                      <a:pt x="16" y="24"/>
                      <a:pt x="17" y="24"/>
                      <a:pt x="17" y="24"/>
                    </a:cubicBezTo>
                    <a:cubicBezTo>
                      <a:pt x="18" y="24"/>
                      <a:pt x="18" y="24"/>
                      <a:pt x="19" y="24"/>
                    </a:cubicBezTo>
                    <a:cubicBezTo>
                      <a:pt x="19" y="24"/>
                      <a:pt x="19" y="24"/>
                      <a:pt x="19" y="24"/>
                    </a:cubicBezTo>
                    <a:cubicBezTo>
                      <a:pt x="19" y="24"/>
                      <a:pt x="19" y="23"/>
                      <a:pt x="20" y="23"/>
                    </a:cubicBezTo>
                    <a:cubicBezTo>
                      <a:pt x="20" y="23"/>
                      <a:pt x="21" y="22"/>
                      <a:pt x="22" y="22"/>
                    </a:cubicBezTo>
                    <a:cubicBezTo>
                      <a:pt x="22" y="22"/>
                      <a:pt x="23" y="22"/>
                      <a:pt x="23" y="22"/>
                    </a:cubicBezTo>
                    <a:cubicBezTo>
                      <a:pt x="22" y="20"/>
                      <a:pt x="23" y="20"/>
                      <a:pt x="23" y="20"/>
                    </a:cubicBezTo>
                    <a:cubicBezTo>
                      <a:pt x="24" y="20"/>
                      <a:pt x="24" y="19"/>
                      <a:pt x="24" y="18"/>
                    </a:cubicBezTo>
                    <a:cubicBezTo>
                      <a:pt x="24" y="18"/>
                      <a:pt x="25" y="17"/>
                      <a:pt x="26" y="16"/>
                    </a:cubicBezTo>
                    <a:cubicBezTo>
                      <a:pt x="26" y="15"/>
                      <a:pt x="26" y="15"/>
                      <a:pt x="26" y="14"/>
                    </a:cubicBezTo>
                    <a:cubicBezTo>
                      <a:pt x="26" y="13"/>
                      <a:pt x="25" y="14"/>
                      <a:pt x="24" y="14"/>
                    </a:cubicBezTo>
                    <a:cubicBezTo>
                      <a:pt x="23" y="14"/>
                      <a:pt x="22" y="13"/>
                      <a:pt x="22" y="13"/>
                    </a:cubicBezTo>
                    <a:cubicBezTo>
                      <a:pt x="21" y="13"/>
                      <a:pt x="21" y="12"/>
                      <a:pt x="21" y="12"/>
                    </a:cubicBezTo>
                    <a:cubicBezTo>
                      <a:pt x="21" y="11"/>
                      <a:pt x="21" y="10"/>
                      <a:pt x="20" y="10"/>
                    </a:cubicBezTo>
                    <a:cubicBezTo>
                      <a:pt x="19" y="9"/>
                      <a:pt x="20" y="8"/>
                      <a:pt x="19" y="7"/>
                    </a:cubicBezTo>
                    <a:cubicBezTo>
                      <a:pt x="19" y="7"/>
                      <a:pt x="18" y="5"/>
                      <a:pt x="18" y="6"/>
                    </a:cubicBezTo>
                    <a:cubicBezTo>
                      <a:pt x="17" y="7"/>
                      <a:pt x="16" y="6"/>
                      <a:pt x="16" y="5"/>
                    </a:cubicBezTo>
                    <a:cubicBezTo>
                      <a:pt x="15" y="4"/>
                      <a:pt x="16" y="1"/>
                      <a:pt x="13" y="1"/>
                    </a:cubicBezTo>
                    <a:cubicBezTo>
                      <a:pt x="11" y="0"/>
                      <a:pt x="11" y="2"/>
                      <a:pt x="11" y="3"/>
                    </a:cubicBezTo>
                    <a:cubicBezTo>
                      <a:pt x="11" y="3"/>
                      <a:pt x="12" y="4"/>
                      <a:pt x="10" y="4"/>
                    </a:cubicBezTo>
                    <a:cubicBezTo>
                      <a:pt x="8" y="4"/>
                      <a:pt x="9" y="5"/>
                      <a:pt x="9" y="6"/>
                    </a:cubicBezTo>
                    <a:cubicBezTo>
                      <a:pt x="9" y="6"/>
                      <a:pt x="10" y="7"/>
                      <a:pt x="9" y="8"/>
                    </a:cubicBezTo>
                    <a:cubicBezTo>
                      <a:pt x="9" y="9"/>
                      <a:pt x="8" y="9"/>
                      <a:pt x="7" y="9"/>
                    </a:cubicBezTo>
                    <a:cubicBezTo>
                      <a:pt x="7" y="9"/>
                      <a:pt x="7" y="10"/>
                      <a:pt x="7" y="10"/>
                    </a:cubicBezTo>
                    <a:cubicBezTo>
                      <a:pt x="7" y="11"/>
                      <a:pt x="7" y="11"/>
                      <a:pt x="6" y="11"/>
                    </a:cubicBezTo>
                    <a:cubicBezTo>
                      <a:pt x="6" y="11"/>
                      <a:pt x="5" y="11"/>
                      <a:pt x="5" y="11"/>
                    </a:cubicBezTo>
                    <a:cubicBezTo>
                      <a:pt x="4" y="12"/>
                      <a:pt x="4" y="12"/>
                      <a:pt x="4" y="12"/>
                    </a:cubicBezTo>
                    <a:cubicBezTo>
                      <a:pt x="3" y="12"/>
                      <a:pt x="2" y="12"/>
                      <a:pt x="1" y="12"/>
                    </a:cubicBezTo>
                    <a:cubicBezTo>
                      <a:pt x="0" y="12"/>
                      <a:pt x="1" y="14"/>
                      <a:pt x="1" y="15"/>
                    </a:cubicBezTo>
                    <a:cubicBezTo>
                      <a:pt x="1" y="16"/>
                      <a:pt x="1" y="16"/>
                      <a:pt x="1" y="1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31" name="Freeform 1043">
                <a:extLst>
                  <a:ext uri="{FF2B5EF4-FFF2-40B4-BE49-F238E27FC236}">
                    <a16:creationId xmlns:a16="http://schemas.microsoft.com/office/drawing/2014/main" id="{85703669-811E-4A6A-B2F4-90C25D86874F}"/>
                  </a:ext>
                </a:extLst>
              </p:cNvPr>
              <p:cNvSpPr>
                <a:spLocks/>
              </p:cNvSpPr>
              <p:nvPr/>
            </p:nvSpPr>
            <p:spPr bwMode="auto">
              <a:xfrm>
                <a:off x="3882" y="1734"/>
                <a:ext cx="39" cy="42"/>
              </a:xfrm>
              <a:custGeom>
                <a:avLst/>
                <a:gdLst>
                  <a:gd name="T0" fmla="*/ 13 w 28"/>
                  <a:gd name="T1" fmla="*/ 26 h 31"/>
                  <a:gd name="T2" fmla="*/ 13 w 28"/>
                  <a:gd name="T3" fmla="*/ 24 h 31"/>
                  <a:gd name="T4" fmla="*/ 15 w 28"/>
                  <a:gd name="T5" fmla="*/ 21 h 31"/>
                  <a:gd name="T6" fmla="*/ 17 w 28"/>
                  <a:gd name="T7" fmla="*/ 17 h 31"/>
                  <a:gd name="T8" fmla="*/ 19 w 28"/>
                  <a:gd name="T9" fmla="*/ 17 h 31"/>
                  <a:gd name="T10" fmla="*/ 19 w 28"/>
                  <a:gd name="T11" fmla="*/ 19 h 31"/>
                  <a:gd name="T12" fmla="*/ 20 w 28"/>
                  <a:gd name="T13" fmla="*/ 20 h 31"/>
                  <a:gd name="T14" fmla="*/ 21 w 28"/>
                  <a:gd name="T15" fmla="*/ 20 h 31"/>
                  <a:gd name="T16" fmla="*/ 24 w 28"/>
                  <a:gd name="T17" fmla="*/ 18 h 31"/>
                  <a:gd name="T18" fmla="*/ 24 w 28"/>
                  <a:gd name="T19" fmla="*/ 17 h 31"/>
                  <a:gd name="T20" fmla="*/ 24 w 28"/>
                  <a:gd name="T21" fmla="*/ 14 h 31"/>
                  <a:gd name="T22" fmla="*/ 27 w 28"/>
                  <a:gd name="T23" fmla="*/ 14 h 31"/>
                  <a:gd name="T24" fmla="*/ 28 w 28"/>
                  <a:gd name="T25" fmla="*/ 13 h 31"/>
                  <a:gd name="T26" fmla="*/ 11 w 28"/>
                  <a:gd name="T27" fmla="*/ 0 h 31"/>
                  <a:gd name="T28" fmla="*/ 11 w 28"/>
                  <a:gd name="T29" fmla="*/ 1 h 31"/>
                  <a:gd name="T30" fmla="*/ 9 w 28"/>
                  <a:gd name="T31" fmla="*/ 1 h 31"/>
                  <a:gd name="T32" fmla="*/ 8 w 28"/>
                  <a:gd name="T33" fmla="*/ 1 h 31"/>
                  <a:gd name="T34" fmla="*/ 8 w 28"/>
                  <a:gd name="T35" fmla="*/ 0 h 31"/>
                  <a:gd name="T36" fmla="*/ 7 w 28"/>
                  <a:gd name="T37" fmla="*/ 1 h 31"/>
                  <a:gd name="T38" fmla="*/ 9 w 28"/>
                  <a:gd name="T39" fmla="*/ 4 h 31"/>
                  <a:gd name="T40" fmla="*/ 8 w 28"/>
                  <a:gd name="T41" fmla="*/ 5 h 31"/>
                  <a:gd name="T42" fmla="*/ 7 w 28"/>
                  <a:gd name="T43" fmla="*/ 4 h 31"/>
                  <a:gd name="T44" fmla="*/ 5 w 28"/>
                  <a:gd name="T45" fmla="*/ 4 h 31"/>
                  <a:gd name="T46" fmla="*/ 3 w 28"/>
                  <a:gd name="T47" fmla="*/ 6 h 31"/>
                  <a:gd name="T48" fmla="*/ 0 w 28"/>
                  <a:gd name="T49" fmla="*/ 10 h 31"/>
                  <a:gd name="T50" fmla="*/ 1 w 28"/>
                  <a:gd name="T51" fmla="*/ 14 h 31"/>
                  <a:gd name="T52" fmla="*/ 1 w 28"/>
                  <a:gd name="T53" fmla="*/ 17 h 31"/>
                  <a:gd name="T54" fmla="*/ 0 w 28"/>
                  <a:gd name="T55" fmla="*/ 18 h 31"/>
                  <a:gd name="T56" fmla="*/ 0 w 28"/>
                  <a:gd name="T57" fmla="*/ 18 h 31"/>
                  <a:gd name="T58" fmla="*/ 3 w 28"/>
                  <a:gd name="T59" fmla="*/ 19 h 31"/>
                  <a:gd name="T60" fmla="*/ 3 w 28"/>
                  <a:gd name="T61" fmla="*/ 21 h 31"/>
                  <a:gd name="T62" fmla="*/ 3 w 28"/>
                  <a:gd name="T63" fmla="*/ 22 h 31"/>
                  <a:gd name="T64" fmla="*/ 13 w 28"/>
                  <a:gd name="T65" fmla="*/ 30 h 31"/>
                  <a:gd name="T66" fmla="*/ 13 w 28"/>
                  <a:gd name="T67" fmla="*/ 31 h 31"/>
                  <a:gd name="T68" fmla="*/ 14 w 28"/>
                  <a:gd name="T69" fmla="*/ 27 h 31"/>
                  <a:gd name="T70" fmla="*/ 13 w 28"/>
                  <a:gd name="T71" fmla="*/ 2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 h="31">
                    <a:moveTo>
                      <a:pt x="13" y="26"/>
                    </a:moveTo>
                    <a:cubicBezTo>
                      <a:pt x="13" y="26"/>
                      <a:pt x="12" y="25"/>
                      <a:pt x="13" y="24"/>
                    </a:cubicBezTo>
                    <a:cubicBezTo>
                      <a:pt x="14" y="22"/>
                      <a:pt x="14" y="22"/>
                      <a:pt x="15" y="21"/>
                    </a:cubicBezTo>
                    <a:cubicBezTo>
                      <a:pt x="15" y="20"/>
                      <a:pt x="17" y="17"/>
                      <a:pt x="17" y="17"/>
                    </a:cubicBezTo>
                    <a:cubicBezTo>
                      <a:pt x="18" y="17"/>
                      <a:pt x="18" y="16"/>
                      <a:pt x="19" y="17"/>
                    </a:cubicBezTo>
                    <a:cubicBezTo>
                      <a:pt x="19" y="18"/>
                      <a:pt x="19" y="19"/>
                      <a:pt x="19" y="19"/>
                    </a:cubicBezTo>
                    <a:cubicBezTo>
                      <a:pt x="19" y="19"/>
                      <a:pt x="20" y="20"/>
                      <a:pt x="20" y="20"/>
                    </a:cubicBezTo>
                    <a:cubicBezTo>
                      <a:pt x="20" y="20"/>
                      <a:pt x="20" y="20"/>
                      <a:pt x="21" y="20"/>
                    </a:cubicBezTo>
                    <a:cubicBezTo>
                      <a:pt x="21" y="19"/>
                      <a:pt x="23" y="19"/>
                      <a:pt x="24" y="18"/>
                    </a:cubicBezTo>
                    <a:cubicBezTo>
                      <a:pt x="24" y="18"/>
                      <a:pt x="24" y="18"/>
                      <a:pt x="24" y="17"/>
                    </a:cubicBezTo>
                    <a:cubicBezTo>
                      <a:pt x="24" y="16"/>
                      <a:pt x="23" y="14"/>
                      <a:pt x="24" y="14"/>
                    </a:cubicBezTo>
                    <a:cubicBezTo>
                      <a:pt x="25" y="14"/>
                      <a:pt x="26" y="14"/>
                      <a:pt x="27" y="14"/>
                    </a:cubicBezTo>
                    <a:cubicBezTo>
                      <a:pt x="27" y="14"/>
                      <a:pt x="27" y="14"/>
                      <a:pt x="28" y="13"/>
                    </a:cubicBezTo>
                    <a:cubicBezTo>
                      <a:pt x="11" y="0"/>
                      <a:pt x="11" y="0"/>
                      <a:pt x="11" y="0"/>
                    </a:cubicBezTo>
                    <a:cubicBezTo>
                      <a:pt x="11" y="1"/>
                      <a:pt x="11" y="1"/>
                      <a:pt x="11" y="1"/>
                    </a:cubicBezTo>
                    <a:cubicBezTo>
                      <a:pt x="10" y="1"/>
                      <a:pt x="9" y="1"/>
                      <a:pt x="9" y="1"/>
                    </a:cubicBezTo>
                    <a:cubicBezTo>
                      <a:pt x="9" y="1"/>
                      <a:pt x="8" y="1"/>
                      <a:pt x="8" y="1"/>
                    </a:cubicBezTo>
                    <a:cubicBezTo>
                      <a:pt x="8" y="0"/>
                      <a:pt x="8" y="0"/>
                      <a:pt x="8" y="0"/>
                    </a:cubicBezTo>
                    <a:cubicBezTo>
                      <a:pt x="7" y="1"/>
                      <a:pt x="7" y="1"/>
                      <a:pt x="7" y="1"/>
                    </a:cubicBezTo>
                    <a:cubicBezTo>
                      <a:pt x="7" y="2"/>
                      <a:pt x="8" y="3"/>
                      <a:pt x="9" y="4"/>
                    </a:cubicBezTo>
                    <a:cubicBezTo>
                      <a:pt x="9" y="5"/>
                      <a:pt x="9" y="5"/>
                      <a:pt x="8" y="5"/>
                    </a:cubicBezTo>
                    <a:cubicBezTo>
                      <a:pt x="8" y="5"/>
                      <a:pt x="7" y="4"/>
                      <a:pt x="7" y="4"/>
                    </a:cubicBezTo>
                    <a:cubicBezTo>
                      <a:pt x="7" y="4"/>
                      <a:pt x="6" y="3"/>
                      <a:pt x="5" y="4"/>
                    </a:cubicBezTo>
                    <a:cubicBezTo>
                      <a:pt x="4" y="5"/>
                      <a:pt x="4" y="6"/>
                      <a:pt x="3" y="6"/>
                    </a:cubicBezTo>
                    <a:cubicBezTo>
                      <a:pt x="2" y="7"/>
                      <a:pt x="0" y="9"/>
                      <a:pt x="0" y="10"/>
                    </a:cubicBezTo>
                    <a:cubicBezTo>
                      <a:pt x="0" y="12"/>
                      <a:pt x="1" y="13"/>
                      <a:pt x="1" y="14"/>
                    </a:cubicBezTo>
                    <a:cubicBezTo>
                      <a:pt x="1" y="15"/>
                      <a:pt x="1" y="17"/>
                      <a:pt x="1" y="17"/>
                    </a:cubicBezTo>
                    <a:cubicBezTo>
                      <a:pt x="0" y="17"/>
                      <a:pt x="0" y="18"/>
                      <a:pt x="0" y="18"/>
                    </a:cubicBezTo>
                    <a:cubicBezTo>
                      <a:pt x="0" y="18"/>
                      <a:pt x="0" y="18"/>
                      <a:pt x="0" y="18"/>
                    </a:cubicBezTo>
                    <a:cubicBezTo>
                      <a:pt x="1" y="19"/>
                      <a:pt x="1" y="20"/>
                      <a:pt x="3" y="19"/>
                    </a:cubicBezTo>
                    <a:cubicBezTo>
                      <a:pt x="4" y="19"/>
                      <a:pt x="5" y="21"/>
                      <a:pt x="3" y="21"/>
                    </a:cubicBezTo>
                    <a:cubicBezTo>
                      <a:pt x="2" y="21"/>
                      <a:pt x="1" y="20"/>
                      <a:pt x="3" y="22"/>
                    </a:cubicBezTo>
                    <a:cubicBezTo>
                      <a:pt x="5" y="23"/>
                      <a:pt x="13" y="30"/>
                      <a:pt x="13" y="30"/>
                    </a:cubicBezTo>
                    <a:cubicBezTo>
                      <a:pt x="13" y="30"/>
                      <a:pt x="13" y="30"/>
                      <a:pt x="13" y="31"/>
                    </a:cubicBezTo>
                    <a:cubicBezTo>
                      <a:pt x="14" y="27"/>
                      <a:pt x="14" y="27"/>
                      <a:pt x="14" y="27"/>
                    </a:cubicBezTo>
                    <a:cubicBezTo>
                      <a:pt x="14" y="27"/>
                      <a:pt x="14" y="26"/>
                      <a:pt x="13" y="2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32" name="Freeform 1044">
                <a:extLst>
                  <a:ext uri="{FF2B5EF4-FFF2-40B4-BE49-F238E27FC236}">
                    <a16:creationId xmlns:a16="http://schemas.microsoft.com/office/drawing/2014/main" id="{B13541B5-63E2-4901-97C1-75E569BA2904}"/>
                  </a:ext>
                </a:extLst>
              </p:cNvPr>
              <p:cNvSpPr>
                <a:spLocks/>
              </p:cNvSpPr>
              <p:nvPr/>
            </p:nvSpPr>
            <p:spPr bwMode="auto">
              <a:xfrm>
                <a:off x="3899" y="1756"/>
                <a:ext cx="36" cy="74"/>
              </a:xfrm>
              <a:custGeom>
                <a:avLst/>
                <a:gdLst>
                  <a:gd name="T0" fmla="*/ 23 w 26"/>
                  <a:gd name="T1" fmla="*/ 32 h 54"/>
                  <a:gd name="T2" fmla="*/ 22 w 26"/>
                  <a:gd name="T3" fmla="*/ 31 h 54"/>
                  <a:gd name="T4" fmla="*/ 21 w 26"/>
                  <a:gd name="T5" fmla="*/ 29 h 54"/>
                  <a:gd name="T6" fmla="*/ 20 w 26"/>
                  <a:gd name="T7" fmla="*/ 28 h 54"/>
                  <a:gd name="T8" fmla="*/ 19 w 26"/>
                  <a:gd name="T9" fmla="*/ 27 h 54"/>
                  <a:gd name="T10" fmla="*/ 18 w 26"/>
                  <a:gd name="T11" fmla="*/ 25 h 54"/>
                  <a:gd name="T12" fmla="*/ 19 w 26"/>
                  <a:gd name="T13" fmla="*/ 23 h 54"/>
                  <a:gd name="T14" fmla="*/ 18 w 26"/>
                  <a:gd name="T15" fmla="*/ 22 h 54"/>
                  <a:gd name="T16" fmla="*/ 17 w 26"/>
                  <a:gd name="T17" fmla="*/ 21 h 54"/>
                  <a:gd name="T18" fmla="*/ 18 w 26"/>
                  <a:gd name="T19" fmla="*/ 20 h 54"/>
                  <a:gd name="T20" fmla="*/ 19 w 26"/>
                  <a:gd name="T21" fmla="*/ 19 h 54"/>
                  <a:gd name="T22" fmla="*/ 19 w 26"/>
                  <a:gd name="T23" fmla="*/ 16 h 54"/>
                  <a:gd name="T24" fmla="*/ 19 w 26"/>
                  <a:gd name="T25" fmla="*/ 15 h 54"/>
                  <a:gd name="T26" fmla="*/ 19 w 26"/>
                  <a:gd name="T27" fmla="*/ 15 h 54"/>
                  <a:gd name="T28" fmla="*/ 19 w 26"/>
                  <a:gd name="T29" fmla="*/ 10 h 54"/>
                  <a:gd name="T30" fmla="*/ 18 w 26"/>
                  <a:gd name="T31" fmla="*/ 8 h 54"/>
                  <a:gd name="T32" fmla="*/ 17 w 26"/>
                  <a:gd name="T33" fmla="*/ 7 h 54"/>
                  <a:gd name="T34" fmla="*/ 15 w 26"/>
                  <a:gd name="T35" fmla="*/ 6 h 54"/>
                  <a:gd name="T36" fmla="*/ 12 w 26"/>
                  <a:gd name="T37" fmla="*/ 3 h 54"/>
                  <a:gd name="T38" fmla="*/ 12 w 26"/>
                  <a:gd name="T39" fmla="*/ 2 h 54"/>
                  <a:gd name="T40" fmla="*/ 9 w 26"/>
                  <a:gd name="T41" fmla="*/ 4 h 54"/>
                  <a:gd name="T42" fmla="*/ 8 w 26"/>
                  <a:gd name="T43" fmla="*/ 4 h 54"/>
                  <a:gd name="T44" fmla="*/ 7 w 26"/>
                  <a:gd name="T45" fmla="*/ 3 h 54"/>
                  <a:gd name="T46" fmla="*/ 7 w 26"/>
                  <a:gd name="T47" fmla="*/ 1 h 54"/>
                  <a:gd name="T48" fmla="*/ 5 w 26"/>
                  <a:gd name="T49" fmla="*/ 1 h 54"/>
                  <a:gd name="T50" fmla="*/ 3 w 26"/>
                  <a:gd name="T51" fmla="*/ 5 h 54"/>
                  <a:gd name="T52" fmla="*/ 1 w 26"/>
                  <a:gd name="T53" fmla="*/ 8 h 54"/>
                  <a:gd name="T54" fmla="*/ 1 w 26"/>
                  <a:gd name="T55" fmla="*/ 10 h 54"/>
                  <a:gd name="T56" fmla="*/ 2 w 26"/>
                  <a:gd name="T57" fmla="*/ 11 h 54"/>
                  <a:gd name="T58" fmla="*/ 1 w 26"/>
                  <a:gd name="T59" fmla="*/ 15 h 54"/>
                  <a:gd name="T60" fmla="*/ 3 w 26"/>
                  <a:gd name="T61" fmla="*/ 15 h 54"/>
                  <a:gd name="T62" fmla="*/ 4 w 26"/>
                  <a:gd name="T63" fmla="*/ 16 h 54"/>
                  <a:gd name="T64" fmla="*/ 4 w 26"/>
                  <a:gd name="T65" fmla="*/ 20 h 54"/>
                  <a:gd name="T66" fmla="*/ 2 w 26"/>
                  <a:gd name="T67" fmla="*/ 21 h 54"/>
                  <a:gd name="T68" fmla="*/ 3 w 26"/>
                  <a:gd name="T69" fmla="*/ 24 h 54"/>
                  <a:gd name="T70" fmla="*/ 3 w 26"/>
                  <a:gd name="T71" fmla="*/ 27 h 54"/>
                  <a:gd name="T72" fmla="*/ 3 w 26"/>
                  <a:gd name="T73" fmla="*/ 31 h 54"/>
                  <a:gd name="T74" fmla="*/ 2 w 26"/>
                  <a:gd name="T75" fmla="*/ 32 h 54"/>
                  <a:gd name="T76" fmla="*/ 1 w 26"/>
                  <a:gd name="T77" fmla="*/ 38 h 54"/>
                  <a:gd name="T78" fmla="*/ 2 w 26"/>
                  <a:gd name="T79" fmla="*/ 41 h 54"/>
                  <a:gd name="T80" fmla="*/ 2 w 26"/>
                  <a:gd name="T81" fmla="*/ 42 h 54"/>
                  <a:gd name="T82" fmla="*/ 6 w 26"/>
                  <a:gd name="T83" fmla="*/ 45 h 54"/>
                  <a:gd name="T84" fmla="*/ 10 w 26"/>
                  <a:gd name="T85" fmla="*/ 50 h 54"/>
                  <a:gd name="T86" fmla="*/ 11 w 26"/>
                  <a:gd name="T87" fmla="*/ 53 h 54"/>
                  <a:gd name="T88" fmla="*/ 15 w 26"/>
                  <a:gd name="T89" fmla="*/ 51 h 54"/>
                  <a:gd name="T90" fmla="*/ 16 w 26"/>
                  <a:gd name="T91" fmla="*/ 51 h 54"/>
                  <a:gd name="T92" fmla="*/ 16 w 26"/>
                  <a:gd name="T93" fmla="*/ 49 h 54"/>
                  <a:gd name="T94" fmla="*/ 17 w 26"/>
                  <a:gd name="T95" fmla="*/ 46 h 54"/>
                  <a:gd name="T96" fmla="*/ 19 w 26"/>
                  <a:gd name="T97" fmla="*/ 46 h 54"/>
                  <a:gd name="T98" fmla="*/ 20 w 26"/>
                  <a:gd name="T99" fmla="*/ 45 h 54"/>
                  <a:gd name="T100" fmla="*/ 21 w 26"/>
                  <a:gd name="T101" fmla="*/ 43 h 54"/>
                  <a:gd name="T102" fmla="*/ 22 w 26"/>
                  <a:gd name="T103" fmla="*/ 40 h 54"/>
                  <a:gd name="T104" fmla="*/ 23 w 26"/>
                  <a:gd name="T105" fmla="*/ 39 h 54"/>
                  <a:gd name="T106" fmla="*/ 26 w 26"/>
                  <a:gd name="T107" fmla="*/ 37 h 54"/>
                  <a:gd name="T108" fmla="*/ 26 w 26"/>
                  <a:gd name="T109" fmla="*/ 35 h 54"/>
                  <a:gd name="T110" fmla="*/ 25 w 26"/>
                  <a:gd name="T111" fmla="*/ 33 h 54"/>
                  <a:gd name="T112" fmla="*/ 25 w 26"/>
                  <a:gd name="T113" fmla="*/ 33 h 54"/>
                  <a:gd name="T114" fmla="*/ 24 w 26"/>
                  <a:gd name="T115" fmla="*/ 31 h 54"/>
                  <a:gd name="T116" fmla="*/ 23 w 26"/>
                  <a:gd name="T117"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 h="54">
                    <a:moveTo>
                      <a:pt x="23" y="32"/>
                    </a:moveTo>
                    <a:cubicBezTo>
                      <a:pt x="23" y="32"/>
                      <a:pt x="22" y="31"/>
                      <a:pt x="22" y="31"/>
                    </a:cubicBezTo>
                    <a:cubicBezTo>
                      <a:pt x="22" y="31"/>
                      <a:pt x="21" y="29"/>
                      <a:pt x="21" y="29"/>
                    </a:cubicBezTo>
                    <a:cubicBezTo>
                      <a:pt x="21" y="28"/>
                      <a:pt x="20" y="28"/>
                      <a:pt x="20" y="28"/>
                    </a:cubicBezTo>
                    <a:cubicBezTo>
                      <a:pt x="19" y="28"/>
                      <a:pt x="19" y="27"/>
                      <a:pt x="19" y="27"/>
                    </a:cubicBezTo>
                    <a:cubicBezTo>
                      <a:pt x="19" y="26"/>
                      <a:pt x="18" y="25"/>
                      <a:pt x="18" y="25"/>
                    </a:cubicBezTo>
                    <a:cubicBezTo>
                      <a:pt x="18" y="24"/>
                      <a:pt x="19" y="23"/>
                      <a:pt x="19" y="23"/>
                    </a:cubicBezTo>
                    <a:cubicBezTo>
                      <a:pt x="19" y="23"/>
                      <a:pt x="18" y="22"/>
                      <a:pt x="18" y="22"/>
                    </a:cubicBezTo>
                    <a:cubicBezTo>
                      <a:pt x="18" y="22"/>
                      <a:pt x="18" y="21"/>
                      <a:pt x="17" y="21"/>
                    </a:cubicBezTo>
                    <a:cubicBezTo>
                      <a:pt x="17" y="20"/>
                      <a:pt x="18" y="20"/>
                      <a:pt x="18" y="20"/>
                    </a:cubicBezTo>
                    <a:cubicBezTo>
                      <a:pt x="19" y="19"/>
                      <a:pt x="19" y="19"/>
                      <a:pt x="19" y="19"/>
                    </a:cubicBezTo>
                    <a:cubicBezTo>
                      <a:pt x="19" y="19"/>
                      <a:pt x="19" y="16"/>
                      <a:pt x="19" y="16"/>
                    </a:cubicBezTo>
                    <a:cubicBezTo>
                      <a:pt x="19" y="15"/>
                      <a:pt x="19" y="15"/>
                      <a:pt x="19" y="15"/>
                    </a:cubicBezTo>
                    <a:cubicBezTo>
                      <a:pt x="19" y="15"/>
                      <a:pt x="19" y="15"/>
                      <a:pt x="19" y="15"/>
                    </a:cubicBezTo>
                    <a:cubicBezTo>
                      <a:pt x="19" y="10"/>
                      <a:pt x="19" y="10"/>
                      <a:pt x="19" y="10"/>
                    </a:cubicBezTo>
                    <a:cubicBezTo>
                      <a:pt x="19" y="10"/>
                      <a:pt x="18" y="9"/>
                      <a:pt x="18" y="8"/>
                    </a:cubicBezTo>
                    <a:cubicBezTo>
                      <a:pt x="18" y="8"/>
                      <a:pt x="17" y="7"/>
                      <a:pt x="17" y="7"/>
                    </a:cubicBezTo>
                    <a:cubicBezTo>
                      <a:pt x="16" y="7"/>
                      <a:pt x="15" y="6"/>
                      <a:pt x="15" y="6"/>
                    </a:cubicBezTo>
                    <a:cubicBezTo>
                      <a:pt x="15" y="6"/>
                      <a:pt x="12" y="3"/>
                      <a:pt x="12" y="3"/>
                    </a:cubicBezTo>
                    <a:cubicBezTo>
                      <a:pt x="12" y="3"/>
                      <a:pt x="12" y="3"/>
                      <a:pt x="12" y="2"/>
                    </a:cubicBezTo>
                    <a:cubicBezTo>
                      <a:pt x="11" y="3"/>
                      <a:pt x="9" y="3"/>
                      <a:pt x="9" y="4"/>
                    </a:cubicBezTo>
                    <a:cubicBezTo>
                      <a:pt x="8" y="4"/>
                      <a:pt x="8" y="4"/>
                      <a:pt x="8" y="4"/>
                    </a:cubicBezTo>
                    <a:cubicBezTo>
                      <a:pt x="8" y="4"/>
                      <a:pt x="7" y="3"/>
                      <a:pt x="7" y="3"/>
                    </a:cubicBezTo>
                    <a:cubicBezTo>
                      <a:pt x="7" y="3"/>
                      <a:pt x="7" y="2"/>
                      <a:pt x="7" y="1"/>
                    </a:cubicBezTo>
                    <a:cubicBezTo>
                      <a:pt x="6" y="0"/>
                      <a:pt x="6" y="1"/>
                      <a:pt x="5" y="1"/>
                    </a:cubicBezTo>
                    <a:cubicBezTo>
                      <a:pt x="5" y="1"/>
                      <a:pt x="3" y="4"/>
                      <a:pt x="3" y="5"/>
                    </a:cubicBezTo>
                    <a:cubicBezTo>
                      <a:pt x="2" y="6"/>
                      <a:pt x="2" y="6"/>
                      <a:pt x="1" y="8"/>
                    </a:cubicBezTo>
                    <a:cubicBezTo>
                      <a:pt x="0" y="9"/>
                      <a:pt x="1" y="10"/>
                      <a:pt x="1" y="10"/>
                    </a:cubicBezTo>
                    <a:cubicBezTo>
                      <a:pt x="2" y="10"/>
                      <a:pt x="2" y="11"/>
                      <a:pt x="2" y="11"/>
                    </a:cubicBezTo>
                    <a:cubicBezTo>
                      <a:pt x="1" y="15"/>
                      <a:pt x="1" y="15"/>
                      <a:pt x="1" y="15"/>
                    </a:cubicBezTo>
                    <a:cubicBezTo>
                      <a:pt x="2" y="15"/>
                      <a:pt x="2" y="15"/>
                      <a:pt x="3" y="15"/>
                    </a:cubicBezTo>
                    <a:cubicBezTo>
                      <a:pt x="3" y="15"/>
                      <a:pt x="4" y="15"/>
                      <a:pt x="4" y="16"/>
                    </a:cubicBezTo>
                    <a:cubicBezTo>
                      <a:pt x="4" y="17"/>
                      <a:pt x="5" y="20"/>
                      <a:pt x="4" y="20"/>
                    </a:cubicBezTo>
                    <a:cubicBezTo>
                      <a:pt x="3" y="20"/>
                      <a:pt x="2" y="20"/>
                      <a:pt x="2" y="21"/>
                    </a:cubicBezTo>
                    <a:cubicBezTo>
                      <a:pt x="2" y="23"/>
                      <a:pt x="2" y="23"/>
                      <a:pt x="3" y="24"/>
                    </a:cubicBezTo>
                    <a:cubicBezTo>
                      <a:pt x="3" y="25"/>
                      <a:pt x="4" y="26"/>
                      <a:pt x="3" y="27"/>
                    </a:cubicBezTo>
                    <a:cubicBezTo>
                      <a:pt x="3" y="28"/>
                      <a:pt x="3" y="30"/>
                      <a:pt x="3" y="31"/>
                    </a:cubicBezTo>
                    <a:cubicBezTo>
                      <a:pt x="3" y="32"/>
                      <a:pt x="2" y="32"/>
                      <a:pt x="2" y="32"/>
                    </a:cubicBezTo>
                    <a:cubicBezTo>
                      <a:pt x="2" y="33"/>
                      <a:pt x="0" y="34"/>
                      <a:pt x="1" y="38"/>
                    </a:cubicBezTo>
                    <a:cubicBezTo>
                      <a:pt x="3" y="41"/>
                      <a:pt x="3" y="43"/>
                      <a:pt x="2" y="41"/>
                    </a:cubicBezTo>
                    <a:cubicBezTo>
                      <a:pt x="1" y="40"/>
                      <a:pt x="0" y="40"/>
                      <a:pt x="2" y="42"/>
                    </a:cubicBezTo>
                    <a:cubicBezTo>
                      <a:pt x="3" y="44"/>
                      <a:pt x="4" y="44"/>
                      <a:pt x="6" y="45"/>
                    </a:cubicBezTo>
                    <a:cubicBezTo>
                      <a:pt x="8" y="47"/>
                      <a:pt x="10" y="48"/>
                      <a:pt x="10" y="50"/>
                    </a:cubicBezTo>
                    <a:cubicBezTo>
                      <a:pt x="10" y="51"/>
                      <a:pt x="11" y="52"/>
                      <a:pt x="11" y="53"/>
                    </a:cubicBezTo>
                    <a:cubicBezTo>
                      <a:pt x="15" y="54"/>
                      <a:pt x="15" y="52"/>
                      <a:pt x="15" y="51"/>
                    </a:cubicBezTo>
                    <a:cubicBezTo>
                      <a:pt x="15" y="51"/>
                      <a:pt x="16" y="51"/>
                      <a:pt x="16" y="51"/>
                    </a:cubicBezTo>
                    <a:cubicBezTo>
                      <a:pt x="17" y="51"/>
                      <a:pt x="16" y="50"/>
                      <a:pt x="16" y="49"/>
                    </a:cubicBezTo>
                    <a:cubicBezTo>
                      <a:pt x="15" y="48"/>
                      <a:pt x="17" y="47"/>
                      <a:pt x="17" y="46"/>
                    </a:cubicBezTo>
                    <a:cubicBezTo>
                      <a:pt x="17" y="46"/>
                      <a:pt x="19" y="46"/>
                      <a:pt x="19" y="46"/>
                    </a:cubicBezTo>
                    <a:cubicBezTo>
                      <a:pt x="20" y="46"/>
                      <a:pt x="20" y="45"/>
                      <a:pt x="20" y="45"/>
                    </a:cubicBezTo>
                    <a:cubicBezTo>
                      <a:pt x="20" y="45"/>
                      <a:pt x="21" y="43"/>
                      <a:pt x="21" y="43"/>
                    </a:cubicBezTo>
                    <a:cubicBezTo>
                      <a:pt x="22" y="43"/>
                      <a:pt x="22" y="41"/>
                      <a:pt x="22" y="40"/>
                    </a:cubicBezTo>
                    <a:cubicBezTo>
                      <a:pt x="22" y="40"/>
                      <a:pt x="23" y="39"/>
                      <a:pt x="23" y="39"/>
                    </a:cubicBezTo>
                    <a:cubicBezTo>
                      <a:pt x="23" y="39"/>
                      <a:pt x="25" y="38"/>
                      <a:pt x="26" y="37"/>
                    </a:cubicBezTo>
                    <a:cubicBezTo>
                      <a:pt x="26" y="37"/>
                      <a:pt x="26" y="36"/>
                      <a:pt x="26" y="35"/>
                    </a:cubicBezTo>
                    <a:cubicBezTo>
                      <a:pt x="25" y="35"/>
                      <a:pt x="25" y="33"/>
                      <a:pt x="25" y="33"/>
                    </a:cubicBezTo>
                    <a:cubicBezTo>
                      <a:pt x="25" y="33"/>
                      <a:pt x="25" y="33"/>
                      <a:pt x="25" y="33"/>
                    </a:cubicBezTo>
                    <a:cubicBezTo>
                      <a:pt x="25" y="32"/>
                      <a:pt x="24" y="32"/>
                      <a:pt x="24" y="31"/>
                    </a:cubicBezTo>
                    <a:cubicBezTo>
                      <a:pt x="23" y="31"/>
                      <a:pt x="23" y="31"/>
                      <a:pt x="23" y="3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33" name="Freeform 1045">
                <a:extLst>
                  <a:ext uri="{FF2B5EF4-FFF2-40B4-BE49-F238E27FC236}">
                    <a16:creationId xmlns:a16="http://schemas.microsoft.com/office/drawing/2014/main" id="{4707A8D7-D400-4D4E-B7AE-BFFEAD5AA79D}"/>
                  </a:ext>
                </a:extLst>
              </p:cNvPr>
              <p:cNvSpPr>
                <a:spLocks/>
              </p:cNvSpPr>
              <p:nvPr/>
            </p:nvSpPr>
            <p:spPr bwMode="auto">
              <a:xfrm>
                <a:off x="3906" y="1826"/>
                <a:ext cx="7" cy="7"/>
              </a:xfrm>
              <a:custGeom>
                <a:avLst/>
                <a:gdLst>
                  <a:gd name="T0" fmla="*/ 2 w 5"/>
                  <a:gd name="T1" fmla="*/ 0 h 5"/>
                  <a:gd name="T2" fmla="*/ 1 w 5"/>
                  <a:gd name="T3" fmla="*/ 1 h 5"/>
                  <a:gd name="T4" fmla="*/ 4 w 5"/>
                  <a:gd name="T5" fmla="*/ 4 h 5"/>
                  <a:gd name="T6" fmla="*/ 4 w 5"/>
                  <a:gd name="T7" fmla="*/ 3 h 5"/>
                  <a:gd name="T8" fmla="*/ 4 w 5"/>
                  <a:gd name="T9" fmla="*/ 1 h 5"/>
                  <a:gd name="T10" fmla="*/ 2 w 5"/>
                  <a:gd name="T11" fmla="*/ 0 h 5"/>
                </a:gdLst>
                <a:ahLst/>
                <a:cxnLst>
                  <a:cxn ang="0">
                    <a:pos x="T0" y="T1"/>
                  </a:cxn>
                  <a:cxn ang="0">
                    <a:pos x="T2" y="T3"/>
                  </a:cxn>
                  <a:cxn ang="0">
                    <a:pos x="T4" y="T5"/>
                  </a:cxn>
                  <a:cxn ang="0">
                    <a:pos x="T6" y="T7"/>
                  </a:cxn>
                  <a:cxn ang="0">
                    <a:pos x="T8" y="T9"/>
                  </a:cxn>
                  <a:cxn ang="0">
                    <a:pos x="T10" y="T11"/>
                  </a:cxn>
                </a:cxnLst>
                <a:rect l="0" t="0" r="r" b="b"/>
                <a:pathLst>
                  <a:path w="5" h="5">
                    <a:moveTo>
                      <a:pt x="2" y="0"/>
                    </a:moveTo>
                    <a:cubicBezTo>
                      <a:pt x="0" y="0"/>
                      <a:pt x="1" y="1"/>
                      <a:pt x="1" y="1"/>
                    </a:cubicBezTo>
                    <a:cubicBezTo>
                      <a:pt x="5" y="5"/>
                      <a:pt x="4" y="5"/>
                      <a:pt x="4" y="4"/>
                    </a:cubicBezTo>
                    <a:cubicBezTo>
                      <a:pt x="4" y="3"/>
                      <a:pt x="4" y="3"/>
                      <a:pt x="4" y="3"/>
                    </a:cubicBezTo>
                    <a:cubicBezTo>
                      <a:pt x="3" y="3"/>
                      <a:pt x="3" y="3"/>
                      <a:pt x="4" y="1"/>
                    </a:cubicBezTo>
                    <a:cubicBezTo>
                      <a:pt x="5" y="0"/>
                      <a:pt x="3"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34" name="Freeform 1046">
                <a:extLst>
                  <a:ext uri="{FF2B5EF4-FFF2-40B4-BE49-F238E27FC236}">
                    <a16:creationId xmlns:a16="http://schemas.microsoft.com/office/drawing/2014/main" id="{7333EEFA-B448-47D6-B0EF-E186ECB8FCDB}"/>
                  </a:ext>
                </a:extLst>
              </p:cNvPr>
              <p:cNvSpPr>
                <a:spLocks/>
              </p:cNvSpPr>
              <p:nvPr/>
            </p:nvSpPr>
            <p:spPr bwMode="auto">
              <a:xfrm>
                <a:off x="3925" y="1846"/>
                <a:ext cx="4" cy="10"/>
              </a:xfrm>
              <a:custGeom>
                <a:avLst/>
                <a:gdLst>
                  <a:gd name="T0" fmla="*/ 1 w 3"/>
                  <a:gd name="T1" fmla="*/ 6 h 7"/>
                  <a:gd name="T2" fmla="*/ 2 w 3"/>
                  <a:gd name="T3" fmla="*/ 4 h 7"/>
                  <a:gd name="T4" fmla="*/ 1 w 3"/>
                  <a:gd name="T5" fmla="*/ 3 h 7"/>
                  <a:gd name="T6" fmla="*/ 1 w 3"/>
                  <a:gd name="T7" fmla="*/ 6 h 7"/>
                </a:gdLst>
                <a:ahLst/>
                <a:cxnLst>
                  <a:cxn ang="0">
                    <a:pos x="T0" y="T1"/>
                  </a:cxn>
                  <a:cxn ang="0">
                    <a:pos x="T2" y="T3"/>
                  </a:cxn>
                  <a:cxn ang="0">
                    <a:pos x="T4" y="T5"/>
                  </a:cxn>
                  <a:cxn ang="0">
                    <a:pos x="T6" y="T7"/>
                  </a:cxn>
                </a:cxnLst>
                <a:rect l="0" t="0" r="r" b="b"/>
                <a:pathLst>
                  <a:path w="3" h="7">
                    <a:moveTo>
                      <a:pt x="1" y="6"/>
                    </a:moveTo>
                    <a:cubicBezTo>
                      <a:pt x="2" y="6"/>
                      <a:pt x="2" y="7"/>
                      <a:pt x="2" y="4"/>
                    </a:cubicBezTo>
                    <a:cubicBezTo>
                      <a:pt x="3" y="0"/>
                      <a:pt x="1" y="3"/>
                      <a:pt x="1" y="3"/>
                    </a:cubicBezTo>
                    <a:cubicBezTo>
                      <a:pt x="0" y="6"/>
                      <a:pt x="0" y="6"/>
                      <a:pt x="1"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35" name="Freeform 1047">
                <a:extLst>
                  <a:ext uri="{FF2B5EF4-FFF2-40B4-BE49-F238E27FC236}">
                    <a16:creationId xmlns:a16="http://schemas.microsoft.com/office/drawing/2014/main" id="{3AF817D2-5AEB-422D-8988-40F8D2D66E87}"/>
                  </a:ext>
                </a:extLst>
              </p:cNvPr>
              <p:cNvSpPr>
                <a:spLocks/>
              </p:cNvSpPr>
              <p:nvPr/>
            </p:nvSpPr>
            <p:spPr bwMode="auto">
              <a:xfrm>
                <a:off x="3920" y="1857"/>
                <a:ext cx="11" cy="11"/>
              </a:xfrm>
              <a:custGeom>
                <a:avLst/>
                <a:gdLst>
                  <a:gd name="T0" fmla="*/ 3 w 8"/>
                  <a:gd name="T1" fmla="*/ 2 h 8"/>
                  <a:gd name="T2" fmla="*/ 2 w 8"/>
                  <a:gd name="T3" fmla="*/ 3 h 8"/>
                  <a:gd name="T4" fmla="*/ 2 w 8"/>
                  <a:gd name="T5" fmla="*/ 5 h 8"/>
                  <a:gd name="T6" fmla="*/ 4 w 8"/>
                  <a:gd name="T7" fmla="*/ 6 h 8"/>
                  <a:gd name="T8" fmla="*/ 7 w 8"/>
                  <a:gd name="T9" fmla="*/ 7 h 8"/>
                  <a:gd name="T10" fmla="*/ 5 w 8"/>
                  <a:gd name="T11" fmla="*/ 1 h 8"/>
                  <a:gd name="T12" fmla="*/ 3 w 8"/>
                  <a:gd name="T13" fmla="*/ 2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3" y="2"/>
                    </a:moveTo>
                    <a:cubicBezTo>
                      <a:pt x="3" y="3"/>
                      <a:pt x="3" y="3"/>
                      <a:pt x="2" y="3"/>
                    </a:cubicBezTo>
                    <a:cubicBezTo>
                      <a:pt x="0" y="4"/>
                      <a:pt x="0" y="5"/>
                      <a:pt x="2" y="5"/>
                    </a:cubicBezTo>
                    <a:cubicBezTo>
                      <a:pt x="3" y="5"/>
                      <a:pt x="3" y="6"/>
                      <a:pt x="4" y="6"/>
                    </a:cubicBezTo>
                    <a:cubicBezTo>
                      <a:pt x="5" y="6"/>
                      <a:pt x="5" y="6"/>
                      <a:pt x="7" y="7"/>
                    </a:cubicBezTo>
                    <a:cubicBezTo>
                      <a:pt x="8" y="8"/>
                      <a:pt x="5" y="3"/>
                      <a:pt x="5" y="1"/>
                    </a:cubicBezTo>
                    <a:cubicBezTo>
                      <a:pt x="4" y="0"/>
                      <a:pt x="3" y="2"/>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36" name="Freeform 1048">
                <a:extLst>
                  <a:ext uri="{FF2B5EF4-FFF2-40B4-BE49-F238E27FC236}">
                    <a16:creationId xmlns:a16="http://schemas.microsoft.com/office/drawing/2014/main" id="{3539B0EC-9C3B-4C50-BD6F-55FE011664ED}"/>
                  </a:ext>
                </a:extLst>
              </p:cNvPr>
              <p:cNvSpPr>
                <a:spLocks/>
              </p:cNvSpPr>
              <p:nvPr/>
            </p:nvSpPr>
            <p:spPr bwMode="auto">
              <a:xfrm>
                <a:off x="3927" y="1870"/>
                <a:ext cx="8" cy="6"/>
              </a:xfrm>
              <a:custGeom>
                <a:avLst/>
                <a:gdLst>
                  <a:gd name="T0" fmla="*/ 2 w 6"/>
                  <a:gd name="T1" fmla="*/ 1 h 5"/>
                  <a:gd name="T2" fmla="*/ 1 w 6"/>
                  <a:gd name="T3" fmla="*/ 2 h 5"/>
                  <a:gd name="T4" fmla="*/ 4 w 6"/>
                  <a:gd name="T5" fmla="*/ 4 h 5"/>
                  <a:gd name="T6" fmla="*/ 4 w 6"/>
                  <a:gd name="T7" fmla="*/ 3 h 5"/>
                  <a:gd name="T8" fmla="*/ 2 w 6"/>
                  <a:gd name="T9" fmla="*/ 1 h 5"/>
                </a:gdLst>
                <a:ahLst/>
                <a:cxnLst>
                  <a:cxn ang="0">
                    <a:pos x="T0" y="T1"/>
                  </a:cxn>
                  <a:cxn ang="0">
                    <a:pos x="T2" y="T3"/>
                  </a:cxn>
                  <a:cxn ang="0">
                    <a:pos x="T4" y="T5"/>
                  </a:cxn>
                  <a:cxn ang="0">
                    <a:pos x="T6" y="T7"/>
                  </a:cxn>
                  <a:cxn ang="0">
                    <a:pos x="T8" y="T9"/>
                  </a:cxn>
                </a:cxnLst>
                <a:rect l="0" t="0" r="r" b="b"/>
                <a:pathLst>
                  <a:path w="6" h="5">
                    <a:moveTo>
                      <a:pt x="2" y="1"/>
                    </a:moveTo>
                    <a:cubicBezTo>
                      <a:pt x="2" y="0"/>
                      <a:pt x="0" y="0"/>
                      <a:pt x="1" y="2"/>
                    </a:cubicBezTo>
                    <a:cubicBezTo>
                      <a:pt x="1" y="2"/>
                      <a:pt x="3" y="5"/>
                      <a:pt x="4" y="4"/>
                    </a:cubicBezTo>
                    <a:cubicBezTo>
                      <a:pt x="5" y="3"/>
                      <a:pt x="6" y="4"/>
                      <a:pt x="4" y="3"/>
                    </a:cubicBezTo>
                    <a:cubicBezTo>
                      <a:pt x="2" y="2"/>
                      <a:pt x="2" y="2"/>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37" name="Freeform 1049">
                <a:extLst>
                  <a:ext uri="{FF2B5EF4-FFF2-40B4-BE49-F238E27FC236}">
                    <a16:creationId xmlns:a16="http://schemas.microsoft.com/office/drawing/2014/main" id="{50A4CBA7-3325-43D8-A5A6-707BD7831BA3}"/>
                  </a:ext>
                </a:extLst>
              </p:cNvPr>
              <p:cNvSpPr>
                <a:spLocks/>
              </p:cNvSpPr>
              <p:nvPr/>
            </p:nvSpPr>
            <p:spPr bwMode="auto">
              <a:xfrm>
                <a:off x="3974" y="1905"/>
                <a:ext cx="2" cy="7"/>
              </a:xfrm>
              <a:custGeom>
                <a:avLst/>
                <a:gdLst>
                  <a:gd name="T0" fmla="*/ 2 w 2"/>
                  <a:gd name="T1" fmla="*/ 3 h 5"/>
                  <a:gd name="T2" fmla="*/ 0 w 2"/>
                  <a:gd name="T3" fmla="*/ 3 h 5"/>
                  <a:gd name="T4" fmla="*/ 1 w 2"/>
                  <a:gd name="T5" fmla="*/ 5 h 5"/>
                  <a:gd name="T6" fmla="*/ 2 w 2"/>
                  <a:gd name="T7" fmla="*/ 3 h 5"/>
                </a:gdLst>
                <a:ahLst/>
                <a:cxnLst>
                  <a:cxn ang="0">
                    <a:pos x="T0" y="T1"/>
                  </a:cxn>
                  <a:cxn ang="0">
                    <a:pos x="T2" y="T3"/>
                  </a:cxn>
                  <a:cxn ang="0">
                    <a:pos x="T4" y="T5"/>
                  </a:cxn>
                  <a:cxn ang="0">
                    <a:pos x="T6" y="T7"/>
                  </a:cxn>
                </a:cxnLst>
                <a:rect l="0" t="0" r="r" b="b"/>
                <a:pathLst>
                  <a:path w="2" h="5">
                    <a:moveTo>
                      <a:pt x="2" y="3"/>
                    </a:moveTo>
                    <a:cubicBezTo>
                      <a:pt x="1" y="2"/>
                      <a:pt x="0" y="0"/>
                      <a:pt x="0" y="3"/>
                    </a:cubicBezTo>
                    <a:cubicBezTo>
                      <a:pt x="0" y="3"/>
                      <a:pt x="0" y="5"/>
                      <a:pt x="1" y="5"/>
                    </a:cubicBezTo>
                    <a:cubicBezTo>
                      <a:pt x="2" y="5"/>
                      <a:pt x="2" y="5"/>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38" name="Freeform 1050">
                <a:extLst>
                  <a:ext uri="{FF2B5EF4-FFF2-40B4-BE49-F238E27FC236}">
                    <a16:creationId xmlns:a16="http://schemas.microsoft.com/office/drawing/2014/main" id="{C6EA6D15-4693-43EA-9A91-973BD49B4028}"/>
                  </a:ext>
                </a:extLst>
              </p:cNvPr>
              <p:cNvSpPr>
                <a:spLocks/>
              </p:cNvSpPr>
              <p:nvPr/>
            </p:nvSpPr>
            <p:spPr bwMode="auto">
              <a:xfrm>
                <a:off x="3971" y="1844"/>
                <a:ext cx="37" cy="26"/>
              </a:xfrm>
              <a:custGeom>
                <a:avLst/>
                <a:gdLst>
                  <a:gd name="T0" fmla="*/ 22 w 27"/>
                  <a:gd name="T1" fmla="*/ 13 h 19"/>
                  <a:gd name="T2" fmla="*/ 21 w 27"/>
                  <a:gd name="T3" fmla="*/ 9 h 19"/>
                  <a:gd name="T4" fmla="*/ 18 w 27"/>
                  <a:gd name="T5" fmla="*/ 7 h 19"/>
                  <a:gd name="T6" fmla="*/ 15 w 27"/>
                  <a:gd name="T7" fmla="*/ 6 h 19"/>
                  <a:gd name="T8" fmla="*/ 12 w 27"/>
                  <a:gd name="T9" fmla="*/ 5 h 19"/>
                  <a:gd name="T10" fmla="*/ 9 w 27"/>
                  <a:gd name="T11" fmla="*/ 2 h 19"/>
                  <a:gd name="T12" fmla="*/ 4 w 27"/>
                  <a:gd name="T13" fmla="*/ 2 h 19"/>
                  <a:gd name="T14" fmla="*/ 3 w 27"/>
                  <a:gd name="T15" fmla="*/ 3 h 19"/>
                  <a:gd name="T16" fmla="*/ 10 w 27"/>
                  <a:gd name="T17" fmla="*/ 7 h 19"/>
                  <a:gd name="T18" fmla="*/ 16 w 27"/>
                  <a:gd name="T19" fmla="*/ 11 h 19"/>
                  <a:gd name="T20" fmla="*/ 20 w 27"/>
                  <a:gd name="T21" fmla="*/ 14 h 19"/>
                  <a:gd name="T22" fmla="*/ 24 w 27"/>
                  <a:gd name="T23" fmla="*/ 18 h 19"/>
                  <a:gd name="T24" fmla="*/ 27 w 27"/>
                  <a:gd name="T25" fmla="*/ 17 h 19"/>
                  <a:gd name="T26" fmla="*/ 25 w 27"/>
                  <a:gd name="T27" fmla="*/ 16 h 19"/>
                  <a:gd name="T28" fmla="*/ 22 w 27"/>
                  <a:gd name="T29" fmla="*/ 1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19">
                    <a:moveTo>
                      <a:pt x="22" y="13"/>
                    </a:moveTo>
                    <a:cubicBezTo>
                      <a:pt x="21" y="12"/>
                      <a:pt x="21" y="11"/>
                      <a:pt x="21" y="9"/>
                    </a:cubicBezTo>
                    <a:cubicBezTo>
                      <a:pt x="21" y="7"/>
                      <a:pt x="19" y="7"/>
                      <a:pt x="18" y="7"/>
                    </a:cubicBezTo>
                    <a:cubicBezTo>
                      <a:pt x="17" y="7"/>
                      <a:pt x="16" y="6"/>
                      <a:pt x="15" y="6"/>
                    </a:cubicBezTo>
                    <a:cubicBezTo>
                      <a:pt x="14" y="5"/>
                      <a:pt x="14" y="5"/>
                      <a:pt x="12" y="5"/>
                    </a:cubicBezTo>
                    <a:cubicBezTo>
                      <a:pt x="11" y="4"/>
                      <a:pt x="10" y="3"/>
                      <a:pt x="9" y="2"/>
                    </a:cubicBezTo>
                    <a:cubicBezTo>
                      <a:pt x="9" y="0"/>
                      <a:pt x="8" y="0"/>
                      <a:pt x="4" y="2"/>
                    </a:cubicBezTo>
                    <a:cubicBezTo>
                      <a:pt x="0" y="3"/>
                      <a:pt x="3" y="3"/>
                      <a:pt x="3" y="3"/>
                    </a:cubicBezTo>
                    <a:cubicBezTo>
                      <a:pt x="6" y="3"/>
                      <a:pt x="8" y="4"/>
                      <a:pt x="10" y="7"/>
                    </a:cubicBezTo>
                    <a:cubicBezTo>
                      <a:pt x="11" y="11"/>
                      <a:pt x="15" y="11"/>
                      <a:pt x="16" y="11"/>
                    </a:cubicBezTo>
                    <a:cubicBezTo>
                      <a:pt x="18" y="10"/>
                      <a:pt x="19" y="12"/>
                      <a:pt x="20" y="14"/>
                    </a:cubicBezTo>
                    <a:cubicBezTo>
                      <a:pt x="20" y="16"/>
                      <a:pt x="22" y="17"/>
                      <a:pt x="24" y="18"/>
                    </a:cubicBezTo>
                    <a:cubicBezTo>
                      <a:pt x="26" y="19"/>
                      <a:pt x="27" y="18"/>
                      <a:pt x="27" y="17"/>
                    </a:cubicBezTo>
                    <a:cubicBezTo>
                      <a:pt x="27" y="16"/>
                      <a:pt x="26" y="16"/>
                      <a:pt x="25" y="16"/>
                    </a:cubicBezTo>
                    <a:cubicBezTo>
                      <a:pt x="24" y="16"/>
                      <a:pt x="23" y="14"/>
                      <a:pt x="22" y="1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39" name="Freeform 1051">
                <a:extLst>
                  <a:ext uri="{FF2B5EF4-FFF2-40B4-BE49-F238E27FC236}">
                    <a16:creationId xmlns:a16="http://schemas.microsoft.com/office/drawing/2014/main" id="{242B5C16-4E1E-448B-90F4-0B6ADB2AC7D9}"/>
                  </a:ext>
                </a:extLst>
              </p:cNvPr>
              <p:cNvSpPr>
                <a:spLocks/>
              </p:cNvSpPr>
              <p:nvPr/>
            </p:nvSpPr>
            <p:spPr bwMode="auto">
              <a:xfrm>
                <a:off x="3985" y="1922"/>
                <a:ext cx="59" cy="19"/>
              </a:xfrm>
              <a:custGeom>
                <a:avLst/>
                <a:gdLst>
                  <a:gd name="T0" fmla="*/ 5 w 43"/>
                  <a:gd name="T1" fmla="*/ 2 h 14"/>
                  <a:gd name="T2" fmla="*/ 3 w 43"/>
                  <a:gd name="T3" fmla="*/ 3 h 14"/>
                  <a:gd name="T4" fmla="*/ 2 w 43"/>
                  <a:gd name="T5" fmla="*/ 5 h 14"/>
                  <a:gd name="T6" fmla="*/ 3 w 43"/>
                  <a:gd name="T7" fmla="*/ 7 h 14"/>
                  <a:gd name="T8" fmla="*/ 19 w 43"/>
                  <a:gd name="T9" fmla="*/ 12 h 14"/>
                  <a:gd name="T10" fmla="*/ 21 w 43"/>
                  <a:gd name="T11" fmla="*/ 13 h 14"/>
                  <a:gd name="T12" fmla="*/ 40 w 43"/>
                  <a:gd name="T13" fmla="*/ 12 h 14"/>
                  <a:gd name="T14" fmla="*/ 42 w 43"/>
                  <a:gd name="T15" fmla="*/ 10 h 14"/>
                  <a:gd name="T16" fmla="*/ 41 w 43"/>
                  <a:gd name="T17" fmla="*/ 8 h 14"/>
                  <a:gd name="T18" fmla="*/ 36 w 43"/>
                  <a:gd name="T19" fmla="*/ 9 h 14"/>
                  <a:gd name="T20" fmla="*/ 35 w 43"/>
                  <a:gd name="T21" fmla="*/ 9 h 14"/>
                  <a:gd name="T22" fmla="*/ 34 w 43"/>
                  <a:gd name="T23" fmla="*/ 7 h 14"/>
                  <a:gd name="T24" fmla="*/ 28 w 43"/>
                  <a:gd name="T25" fmla="*/ 7 h 14"/>
                  <a:gd name="T26" fmla="*/ 19 w 43"/>
                  <a:gd name="T27" fmla="*/ 6 h 14"/>
                  <a:gd name="T28" fmla="*/ 13 w 43"/>
                  <a:gd name="T29" fmla="*/ 5 h 14"/>
                  <a:gd name="T30" fmla="*/ 10 w 43"/>
                  <a:gd name="T31" fmla="*/ 4 h 14"/>
                  <a:gd name="T32" fmla="*/ 11 w 43"/>
                  <a:gd name="T33" fmla="*/ 2 h 14"/>
                  <a:gd name="T34" fmla="*/ 7 w 43"/>
                  <a:gd name="T35" fmla="*/ 3 h 14"/>
                  <a:gd name="T36" fmla="*/ 5 w 43"/>
                  <a:gd name="T37"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14">
                    <a:moveTo>
                      <a:pt x="5" y="2"/>
                    </a:moveTo>
                    <a:cubicBezTo>
                      <a:pt x="5" y="0"/>
                      <a:pt x="4" y="1"/>
                      <a:pt x="3" y="3"/>
                    </a:cubicBezTo>
                    <a:cubicBezTo>
                      <a:pt x="3" y="4"/>
                      <a:pt x="3" y="5"/>
                      <a:pt x="2" y="5"/>
                    </a:cubicBezTo>
                    <a:cubicBezTo>
                      <a:pt x="2" y="5"/>
                      <a:pt x="0" y="7"/>
                      <a:pt x="3" y="7"/>
                    </a:cubicBezTo>
                    <a:cubicBezTo>
                      <a:pt x="7" y="8"/>
                      <a:pt x="20" y="10"/>
                      <a:pt x="19" y="12"/>
                    </a:cubicBezTo>
                    <a:cubicBezTo>
                      <a:pt x="18" y="14"/>
                      <a:pt x="20" y="13"/>
                      <a:pt x="21" y="13"/>
                    </a:cubicBezTo>
                    <a:cubicBezTo>
                      <a:pt x="23" y="13"/>
                      <a:pt x="39" y="12"/>
                      <a:pt x="40" y="12"/>
                    </a:cubicBezTo>
                    <a:cubicBezTo>
                      <a:pt x="41" y="12"/>
                      <a:pt x="42" y="11"/>
                      <a:pt x="42" y="10"/>
                    </a:cubicBezTo>
                    <a:cubicBezTo>
                      <a:pt x="42" y="10"/>
                      <a:pt x="43" y="7"/>
                      <a:pt x="41" y="8"/>
                    </a:cubicBezTo>
                    <a:cubicBezTo>
                      <a:pt x="39" y="9"/>
                      <a:pt x="37" y="9"/>
                      <a:pt x="36" y="9"/>
                    </a:cubicBezTo>
                    <a:cubicBezTo>
                      <a:pt x="36" y="10"/>
                      <a:pt x="35" y="10"/>
                      <a:pt x="35" y="9"/>
                    </a:cubicBezTo>
                    <a:cubicBezTo>
                      <a:pt x="34" y="8"/>
                      <a:pt x="35" y="6"/>
                      <a:pt x="34" y="7"/>
                    </a:cubicBezTo>
                    <a:cubicBezTo>
                      <a:pt x="33" y="7"/>
                      <a:pt x="30" y="7"/>
                      <a:pt x="28" y="7"/>
                    </a:cubicBezTo>
                    <a:cubicBezTo>
                      <a:pt x="27" y="6"/>
                      <a:pt x="22" y="5"/>
                      <a:pt x="19" y="6"/>
                    </a:cubicBezTo>
                    <a:cubicBezTo>
                      <a:pt x="17" y="7"/>
                      <a:pt x="14" y="6"/>
                      <a:pt x="13" y="5"/>
                    </a:cubicBezTo>
                    <a:cubicBezTo>
                      <a:pt x="11" y="5"/>
                      <a:pt x="11" y="4"/>
                      <a:pt x="10" y="4"/>
                    </a:cubicBezTo>
                    <a:cubicBezTo>
                      <a:pt x="9" y="4"/>
                      <a:pt x="13" y="3"/>
                      <a:pt x="11" y="2"/>
                    </a:cubicBezTo>
                    <a:cubicBezTo>
                      <a:pt x="9" y="2"/>
                      <a:pt x="8" y="3"/>
                      <a:pt x="7" y="3"/>
                    </a:cubicBezTo>
                    <a:cubicBezTo>
                      <a:pt x="5" y="3"/>
                      <a:pt x="5" y="3"/>
                      <a:pt x="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40" name="Freeform 1052">
                <a:extLst>
                  <a:ext uri="{FF2B5EF4-FFF2-40B4-BE49-F238E27FC236}">
                    <a16:creationId xmlns:a16="http://schemas.microsoft.com/office/drawing/2014/main" id="{D3C02100-321C-410E-A293-F8526CFA5337}"/>
                  </a:ext>
                </a:extLst>
              </p:cNvPr>
              <p:cNvSpPr>
                <a:spLocks/>
              </p:cNvSpPr>
              <p:nvPr/>
            </p:nvSpPr>
            <p:spPr bwMode="auto">
              <a:xfrm>
                <a:off x="4059" y="1920"/>
                <a:ext cx="5" cy="10"/>
              </a:xfrm>
              <a:custGeom>
                <a:avLst/>
                <a:gdLst>
                  <a:gd name="T0" fmla="*/ 1 w 3"/>
                  <a:gd name="T1" fmla="*/ 1 h 7"/>
                  <a:gd name="T2" fmla="*/ 1 w 3"/>
                  <a:gd name="T3" fmla="*/ 5 h 7"/>
                  <a:gd name="T4" fmla="*/ 1 w 3"/>
                  <a:gd name="T5" fmla="*/ 6 h 7"/>
                  <a:gd name="T6" fmla="*/ 2 w 3"/>
                  <a:gd name="T7" fmla="*/ 4 h 7"/>
                  <a:gd name="T8" fmla="*/ 2 w 3"/>
                  <a:gd name="T9" fmla="*/ 2 h 7"/>
                  <a:gd name="T10" fmla="*/ 1 w 3"/>
                  <a:gd name="T11" fmla="*/ 1 h 7"/>
                </a:gdLst>
                <a:ahLst/>
                <a:cxnLst>
                  <a:cxn ang="0">
                    <a:pos x="T0" y="T1"/>
                  </a:cxn>
                  <a:cxn ang="0">
                    <a:pos x="T2" y="T3"/>
                  </a:cxn>
                  <a:cxn ang="0">
                    <a:pos x="T4" y="T5"/>
                  </a:cxn>
                  <a:cxn ang="0">
                    <a:pos x="T6" y="T7"/>
                  </a:cxn>
                  <a:cxn ang="0">
                    <a:pos x="T8" y="T9"/>
                  </a:cxn>
                  <a:cxn ang="0">
                    <a:pos x="T10" y="T11"/>
                  </a:cxn>
                </a:cxnLst>
                <a:rect l="0" t="0" r="r" b="b"/>
                <a:pathLst>
                  <a:path w="3" h="7">
                    <a:moveTo>
                      <a:pt x="1" y="1"/>
                    </a:moveTo>
                    <a:cubicBezTo>
                      <a:pt x="0" y="3"/>
                      <a:pt x="0" y="4"/>
                      <a:pt x="1" y="5"/>
                    </a:cubicBezTo>
                    <a:cubicBezTo>
                      <a:pt x="1" y="5"/>
                      <a:pt x="1" y="7"/>
                      <a:pt x="1" y="6"/>
                    </a:cubicBezTo>
                    <a:cubicBezTo>
                      <a:pt x="2" y="5"/>
                      <a:pt x="3" y="5"/>
                      <a:pt x="2" y="4"/>
                    </a:cubicBezTo>
                    <a:cubicBezTo>
                      <a:pt x="1" y="3"/>
                      <a:pt x="1" y="2"/>
                      <a:pt x="2" y="2"/>
                    </a:cubicBezTo>
                    <a:cubicBezTo>
                      <a:pt x="2" y="1"/>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41" name="Freeform 1053">
                <a:extLst>
                  <a:ext uri="{FF2B5EF4-FFF2-40B4-BE49-F238E27FC236}">
                    <a16:creationId xmlns:a16="http://schemas.microsoft.com/office/drawing/2014/main" id="{128AEA27-212A-4B5B-884D-D19AD9D4651D}"/>
                  </a:ext>
                </a:extLst>
              </p:cNvPr>
              <p:cNvSpPr>
                <a:spLocks/>
              </p:cNvSpPr>
              <p:nvPr/>
            </p:nvSpPr>
            <p:spPr bwMode="auto">
              <a:xfrm>
                <a:off x="4072" y="1905"/>
                <a:ext cx="14" cy="13"/>
              </a:xfrm>
              <a:custGeom>
                <a:avLst/>
                <a:gdLst>
                  <a:gd name="T0" fmla="*/ 2 w 10"/>
                  <a:gd name="T1" fmla="*/ 8 h 9"/>
                  <a:gd name="T2" fmla="*/ 5 w 10"/>
                  <a:gd name="T3" fmla="*/ 7 h 9"/>
                  <a:gd name="T4" fmla="*/ 6 w 10"/>
                  <a:gd name="T5" fmla="*/ 5 h 9"/>
                  <a:gd name="T6" fmla="*/ 8 w 10"/>
                  <a:gd name="T7" fmla="*/ 0 h 9"/>
                  <a:gd name="T8" fmla="*/ 0 w 10"/>
                  <a:gd name="T9" fmla="*/ 6 h 9"/>
                  <a:gd name="T10" fmla="*/ 2 w 10"/>
                  <a:gd name="T11" fmla="*/ 8 h 9"/>
                </a:gdLst>
                <a:ahLst/>
                <a:cxnLst>
                  <a:cxn ang="0">
                    <a:pos x="T0" y="T1"/>
                  </a:cxn>
                  <a:cxn ang="0">
                    <a:pos x="T2" y="T3"/>
                  </a:cxn>
                  <a:cxn ang="0">
                    <a:pos x="T4" y="T5"/>
                  </a:cxn>
                  <a:cxn ang="0">
                    <a:pos x="T6" y="T7"/>
                  </a:cxn>
                  <a:cxn ang="0">
                    <a:pos x="T8" y="T9"/>
                  </a:cxn>
                  <a:cxn ang="0">
                    <a:pos x="T10" y="T11"/>
                  </a:cxn>
                </a:cxnLst>
                <a:rect l="0" t="0" r="r" b="b"/>
                <a:pathLst>
                  <a:path w="10" h="9">
                    <a:moveTo>
                      <a:pt x="2" y="8"/>
                    </a:moveTo>
                    <a:cubicBezTo>
                      <a:pt x="5" y="7"/>
                      <a:pt x="3" y="7"/>
                      <a:pt x="5" y="7"/>
                    </a:cubicBezTo>
                    <a:cubicBezTo>
                      <a:pt x="6" y="6"/>
                      <a:pt x="6" y="6"/>
                      <a:pt x="6" y="5"/>
                    </a:cubicBezTo>
                    <a:cubicBezTo>
                      <a:pt x="7" y="3"/>
                      <a:pt x="10" y="0"/>
                      <a:pt x="8" y="0"/>
                    </a:cubicBezTo>
                    <a:cubicBezTo>
                      <a:pt x="6" y="0"/>
                      <a:pt x="1" y="1"/>
                      <a:pt x="0" y="6"/>
                    </a:cubicBezTo>
                    <a:cubicBezTo>
                      <a:pt x="0" y="6"/>
                      <a:pt x="0" y="9"/>
                      <a:pt x="2"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42" name="Freeform 1054">
                <a:extLst>
                  <a:ext uri="{FF2B5EF4-FFF2-40B4-BE49-F238E27FC236}">
                    <a16:creationId xmlns:a16="http://schemas.microsoft.com/office/drawing/2014/main" id="{C1A2EFD1-B343-430E-9CB6-21649AB482D6}"/>
                  </a:ext>
                </a:extLst>
              </p:cNvPr>
              <p:cNvSpPr>
                <a:spLocks/>
              </p:cNvSpPr>
              <p:nvPr/>
            </p:nvSpPr>
            <p:spPr bwMode="auto">
              <a:xfrm>
                <a:off x="4004" y="1897"/>
                <a:ext cx="4" cy="4"/>
              </a:xfrm>
              <a:custGeom>
                <a:avLst/>
                <a:gdLst>
                  <a:gd name="T0" fmla="*/ 2 w 3"/>
                  <a:gd name="T1" fmla="*/ 2 h 3"/>
                  <a:gd name="T2" fmla="*/ 1 w 3"/>
                  <a:gd name="T3" fmla="*/ 1 h 3"/>
                  <a:gd name="T4" fmla="*/ 2 w 3"/>
                  <a:gd name="T5" fmla="*/ 2 h 3"/>
                </a:gdLst>
                <a:ahLst/>
                <a:cxnLst>
                  <a:cxn ang="0">
                    <a:pos x="T0" y="T1"/>
                  </a:cxn>
                  <a:cxn ang="0">
                    <a:pos x="T2" y="T3"/>
                  </a:cxn>
                  <a:cxn ang="0">
                    <a:pos x="T4" y="T5"/>
                  </a:cxn>
                </a:cxnLst>
                <a:rect l="0" t="0" r="r" b="b"/>
                <a:pathLst>
                  <a:path w="3" h="3">
                    <a:moveTo>
                      <a:pt x="2" y="2"/>
                    </a:moveTo>
                    <a:cubicBezTo>
                      <a:pt x="2" y="2"/>
                      <a:pt x="3" y="0"/>
                      <a:pt x="1" y="1"/>
                    </a:cubicBezTo>
                    <a:cubicBezTo>
                      <a:pt x="0" y="2"/>
                      <a:pt x="0" y="3"/>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43" name="Freeform 1055">
                <a:extLst>
                  <a:ext uri="{FF2B5EF4-FFF2-40B4-BE49-F238E27FC236}">
                    <a16:creationId xmlns:a16="http://schemas.microsoft.com/office/drawing/2014/main" id="{10B1D922-FA64-405C-A451-83F62489C28E}"/>
                  </a:ext>
                </a:extLst>
              </p:cNvPr>
              <p:cNvSpPr>
                <a:spLocks/>
              </p:cNvSpPr>
              <p:nvPr/>
            </p:nvSpPr>
            <p:spPr bwMode="auto">
              <a:xfrm>
                <a:off x="4023" y="1904"/>
                <a:ext cx="3" cy="5"/>
              </a:xfrm>
              <a:custGeom>
                <a:avLst/>
                <a:gdLst>
                  <a:gd name="T0" fmla="*/ 1 w 2"/>
                  <a:gd name="T1" fmla="*/ 1 h 4"/>
                  <a:gd name="T2" fmla="*/ 2 w 2"/>
                  <a:gd name="T3" fmla="*/ 2 h 4"/>
                  <a:gd name="T4" fmla="*/ 1 w 2"/>
                  <a:gd name="T5" fmla="*/ 1 h 4"/>
                </a:gdLst>
                <a:ahLst/>
                <a:cxnLst>
                  <a:cxn ang="0">
                    <a:pos x="T0" y="T1"/>
                  </a:cxn>
                  <a:cxn ang="0">
                    <a:pos x="T2" y="T3"/>
                  </a:cxn>
                  <a:cxn ang="0">
                    <a:pos x="T4" y="T5"/>
                  </a:cxn>
                </a:cxnLst>
                <a:rect l="0" t="0" r="r" b="b"/>
                <a:pathLst>
                  <a:path w="2" h="4">
                    <a:moveTo>
                      <a:pt x="1" y="1"/>
                    </a:moveTo>
                    <a:cubicBezTo>
                      <a:pt x="1" y="1"/>
                      <a:pt x="2" y="4"/>
                      <a:pt x="2" y="2"/>
                    </a:cubicBezTo>
                    <a:cubicBezTo>
                      <a:pt x="2" y="0"/>
                      <a:pt x="0"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44" name="Freeform 1056">
                <a:extLst>
                  <a:ext uri="{FF2B5EF4-FFF2-40B4-BE49-F238E27FC236}">
                    <a16:creationId xmlns:a16="http://schemas.microsoft.com/office/drawing/2014/main" id="{22BE0030-C6F4-47E7-9880-A73144F57985}"/>
                  </a:ext>
                </a:extLst>
              </p:cNvPr>
              <p:cNvSpPr>
                <a:spLocks/>
              </p:cNvSpPr>
              <p:nvPr/>
            </p:nvSpPr>
            <p:spPr bwMode="auto">
              <a:xfrm>
                <a:off x="4023" y="1887"/>
                <a:ext cx="7" cy="7"/>
              </a:xfrm>
              <a:custGeom>
                <a:avLst/>
                <a:gdLst>
                  <a:gd name="T0" fmla="*/ 2 w 5"/>
                  <a:gd name="T1" fmla="*/ 3 h 5"/>
                  <a:gd name="T2" fmla="*/ 3 w 5"/>
                  <a:gd name="T3" fmla="*/ 4 h 5"/>
                  <a:gd name="T4" fmla="*/ 3 w 5"/>
                  <a:gd name="T5" fmla="*/ 0 h 5"/>
                  <a:gd name="T6" fmla="*/ 2 w 5"/>
                  <a:gd name="T7" fmla="*/ 3 h 5"/>
                </a:gdLst>
                <a:ahLst/>
                <a:cxnLst>
                  <a:cxn ang="0">
                    <a:pos x="T0" y="T1"/>
                  </a:cxn>
                  <a:cxn ang="0">
                    <a:pos x="T2" y="T3"/>
                  </a:cxn>
                  <a:cxn ang="0">
                    <a:pos x="T4" y="T5"/>
                  </a:cxn>
                  <a:cxn ang="0">
                    <a:pos x="T6" y="T7"/>
                  </a:cxn>
                </a:cxnLst>
                <a:rect l="0" t="0" r="r" b="b"/>
                <a:pathLst>
                  <a:path w="5" h="5">
                    <a:moveTo>
                      <a:pt x="2" y="3"/>
                    </a:moveTo>
                    <a:cubicBezTo>
                      <a:pt x="2" y="3"/>
                      <a:pt x="2" y="5"/>
                      <a:pt x="3" y="4"/>
                    </a:cubicBezTo>
                    <a:cubicBezTo>
                      <a:pt x="4" y="2"/>
                      <a:pt x="5" y="0"/>
                      <a:pt x="3" y="0"/>
                    </a:cubicBezTo>
                    <a:cubicBezTo>
                      <a:pt x="2" y="1"/>
                      <a:pt x="0" y="0"/>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45" name="Freeform 1057">
                <a:extLst>
                  <a:ext uri="{FF2B5EF4-FFF2-40B4-BE49-F238E27FC236}">
                    <a16:creationId xmlns:a16="http://schemas.microsoft.com/office/drawing/2014/main" id="{FC420AE4-82E0-4888-8711-87FECC854037}"/>
                  </a:ext>
                </a:extLst>
              </p:cNvPr>
              <p:cNvSpPr>
                <a:spLocks/>
              </p:cNvSpPr>
              <p:nvPr/>
            </p:nvSpPr>
            <p:spPr bwMode="auto">
              <a:xfrm>
                <a:off x="4019" y="1887"/>
                <a:ext cx="4" cy="6"/>
              </a:xfrm>
              <a:custGeom>
                <a:avLst/>
                <a:gdLst>
                  <a:gd name="T0" fmla="*/ 1 w 3"/>
                  <a:gd name="T1" fmla="*/ 1 h 4"/>
                  <a:gd name="T2" fmla="*/ 0 w 3"/>
                  <a:gd name="T3" fmla="*/ 3 h 4"/>
                  <a:gd name="T4" fmla="*/ 2 w 3"/>
                  <a:gd name="T5" fmla="*/ 3 h 4"/>
                  <a:gd name="T6" fmla="*/ 1 w 3"/>
                  <a:gd name="T7" fmla="*/ 1 h 4"/>
                </a:gdLst>
                <a:ahLst/>
                <a:cxnLst>
                  <a:cxn ang="0">
                    <a:pos x="T0" y="T1"/>
                  </a:cxn>
                  <a:cxn ang="0">
                    <a:pos x="T2" y="T3"/>
                  </a:cxn>
                  <a:cxn ang="0">
                    <a:pos x="T4" y="T5"/>
                  </a:cxn>
                  <a:cxn ang="0">
                    <a:pos x="T6" y="T7"/>
                  </a:cxn>
                </a:cxnLst>
                <a:rect l="0" t="0" r="r" b="b"/>
                <a:pathLst>
                  <a:path w="3" h="4">
                    <a:moveTo>
                      <a:pt x="1" y="1"/>
                    </a:moveTo>
                    <a:cubicBezTo>
                      <a:pt x="0" y="2"/>
                      <a:pt x="0" y="2"/>
                      <a:pt x="0" y="3"/>
                    </a:cubicBezTo>
                    <a:cubicBezTo>
                      <a:pt x="1" y="4"/>
                      <a:pt x="1" y="4"/>
                      <a:pt x="2" y="3"/>
                    </a:cubicBezTo>
                    <a:cubicBezTo>
                      <a:pt x="2" y="3"/>
                      <a:pt x="3"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46" name="Freeform 1058">
                <a:extLst>
                  <a:ext uri="{FF2B5EF4-FFF2-40B4-BE49-F238E27FC236}">
                    <a16:creationId xmlns:a16="http://schemas.microsoft.com/office/drawing/2014/main" id="{1D0133CC-62C7-4EB6-99BD-B7025CBD897F}"/>
                  </a:ext>
                </a:extLst>
              </p:cNvPr>
              <p:cNvSpPr>
                <a:spLocks/>
              </p:cNvSpPr>
              <p:nvPr/>
            </p:nvSpPr>
            <p:spPr bwMode="auto">
              <a:xfrm>
                <a:off x="3985" y="1874"/>
                <a:ext cx="2" cy="2"/>
              </a:xfrm>
              <a:custGeom>
                <a:avLst/>
                <a:gdLst>
                  <a:gd name="T0" fmla="*/ 0 w 2"/>
                  <a:gd name="T1" fmla="*/ 0 h 2"/>
                  <a:gd name="T2" fmla="*/ 2 w 2"/>
                  <a:gd name="T3" fmla="*/ 1 h 2"/>
                  <a:gd name="T4" fmla="*/ 0 w 2"/>
                  <a:gd name="T5" fmla="*/ 0 h 2"/>
                </a:gdLst>
                <a:ahLst/>
                <a:cxnLst>
                  <a:cxn ang="0">
                    <a:pos x="T0" y="T1"/>
                  </a:cxn>
                  <a:cxn ang="0">
                    <a:pos x="T2" y="T3"/>
                  </a:cxn>
                  <a:cxn ang="0">
                    <a:pos x="T4" y="T5"/>
                  </a:cxn>
                </a:cxnLst>
                <a:rect l="0" t="0" r="r" b="b"/>
                <a:pathLst>
                  <a:path w="2" h="2">
                    <a:moveTo>
                      <a:pt x="0" y="0"/>
                    </a:moveTo>
                    <a:cubicBezTo>
                      <a:pt x="0" y="1"/>
                      <a:pt x="0" y="2"/>
                      <a:pt x="2" y="1"/>
                    </a:cubicBezTo>
                    <a:cubicBezTo>
                      <a:pt x="2" y="1"/>
                      <a:pt x="1" y="0"/>
                      <a:pt x="0"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47" name="Freeform 1059">
                <a:extLst>
                  <a:ext uri="{FF2B5EF4-FFF2-40B4-BE49-F238E27FC236}">
                    <a16:creationId xmlns:a16="http://schemas.microsoft.com/office/drawing/2014/main" id="{B88008D3-F53D-404F-972C-3EDF5475D8E6}"/>
                  </a:ext>
                </a:extLst>
              </p:cNvPr>
              <p:cNvSpPr>
                <a:spLocks/>
              </p:cNvSpPr>
              <p:nvPr/>
            </p:nvSpPr>
            <p:spPr bwMode="auto">
              <a:xfrm>
                <a:off x="4005" y="1845"/>
                <a:ext cx="6" cy="5"/>
              </a:xfrm>
              <a:custGeom>
                <a:avLst/>
                <a:gdLst>
                  <a:gd name="T0" fmla="*/ 1 w 4"/>
                  <a:gd name="T1" fmla="*/ 3 h 4"/>
                  <a:gd name="T2" fmla="*/ 2 w 4"/>
                  <a:gd name="T3" fmla="*/ 4 h 4"/>
                  <a:gd name="T4" fmla="*/ 3 w 4"/>
                  <a:gd name="T5" fmla="*/ 3 h 4"/>
                  <a:gd name="T6" fmla="*/ 1 w 4"/>
                  <a:gd name="T7" fmla="*/ 3 h 4"/>
                </a:gdLst>
                <a:ahLst/>
                <a:cxnLst>
                  <a:cxn ang="0">
                    <a:pos x="T0" y="T1"/>
                  </a:cxn>
                  <a:cxn ang="0">
                    <a:pos x="T2" y="T3"/>
                  </a:cxn>
                  <a:cxn ang="0">
                    <a:pos x="T4" y="T5"/>
                  </a:cxn>
                  <a:cxn ang="0">
                    <a:pos x="T6" y="T7"/>
                  </a:cxn>
                </a:cxnLst>
                <a:rect l="0" t="0" r="r" b="b"/>
                <a:pathLst>
                  <a:path w="4" h="4">
                    <a:moveTo>
                      <a:pt x="1" y="3"/>
                    </a:moveTo>
                    <a:cubicBezTo>
                      <a:pt x="1" y="3"/>
                      <a:pt x="1" y="4"/>
                      <a:pt x="2" y="4"/>
                    </a:cubicBezTo>
                    <a:cubicBezTo>
                      <a:pt x="3" y="4"/>
                      <a:pt x="4" y="4"/>
                      <a:pt x="3" y="3"/>
                    </a:cubicBezTo>
                    <a:cubicBezTo>
                      <a:pt x="2" y="2"/>
                      <a:pt x="0" y="0"/>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48" name="Freeform 1060">
                <a:extLst>
                  <a:ext uri="{FF2B5EF4-FFF2-40B4-BE49-F238E27FC236}">
                    <a16:creationId xmlns:a16="http://schemas.microsoft.com/office/drawing/2014/main" id="{92EC192D-AAAE-4B00-AD41-F38E848764B1}"/>
                  </a:ext>
                </a:extLst>
              </p:cNvPr>
              <p:cNvSpPr>
                <a:spLocks/>
              </p:cNvSpPr>
              <p:nvPr/>
            </p:nvSpPr>
            <p:spPr bwMode="auto">
              <a:xfrm>
                <a:off x="4010" y="1868"/>
                <a:ext cx="7" cy="10"/>
              </a:xfrm>
              <a:custGeom>
                <a:avLst/>
                <a:gdLst>
                  <a:gd name="T0" fmla="*/ 2 w 5"/>
                  <a:gd name="T1" fmla="*/ 3 h 7"/>
                  <a:gd name="T2" fmla="*/ 4 w 5"/>
                  <a:gd name="T3" fmla="*/ 5 h 7"/>
                  <a:gd name="T4" fmla="*/ 3 w 5"/>
                  <a:gd name="T5" fmla="*/ 2 h 7"/>
                  <a:gd name="T6" fmla="*/ 2 w 5"/>
                  <a:gd name="T7" fmla="*/ 3 h 7"/>
                </a:gdLst>
                <a:ahLst/>
                <a:cxnLst>
                  <a:cxn ang="0">
                    <a:pos x="T0" y="T1"/>
                  </a:cxn>
                  <a:cxn ang="0">
                    <a:pos x="T2" y="T3"/>
                  </a:cxn>
                  <a:cxn ang="0">
                    <a:pos x="T4" y="T5"/>
                  </a:cxn>
                  <a:cxn ang="0">
                    <a:pos x="T6" y="T7"/>
                  </a:cxn>
                </a:cxnLst>
                <a:rect l="0" t="0" r="r" b="b"/>
                <a:pathLst>
                  <a:path w="5" h="7">
                    <a:moveTo>
                      <a:pt x="2" y="3"/>
                    </a:moveTo>
                    <a:cubicBezTo>
                      <a:pt x="2" y="3"/>
                      <a:pt x="5" y="7"/>
                      <a:pt x="4" y="5"/>
                    </a:cubicBezTo>
                    <a:cubicBezTo>
                      <a:pt x="4" y="2"/>
                      <a:pt x="4" y="3"/>
                      <a:pt x="3" y="2"/>
                    </a:cubicBezTo>
                    <a:cubicBezTo>
                      <a:pt x="2" y="1"/>
                      <a:pt x="0" y="0"/>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49" name="Freeform 1061">
                <a:extLst>
                  <a:ext uri="{FF2B5EF4-FFF2-40B4-BE49-F238E27FC236}">
                    <a16:creationId xmlns:a16="http://schemas.microsoft.com/office/drawing/2014/main" id="{A7612385-35E4-412F-BDE0-6A217CFC789C}"/>
                  </a:ext>
                </a:extLst>
              </p:cNvPr>
              <p:cNvSpPr>
                <a:spLocks/>
              </p:cNvSpPr>
              <p:nvPr/>
            </p:nvSpPr>
            <p:spPr bwMode="auto">
              <a:xfrm>
                <a:off x="4015" y="1875"/>
                <a:ext cx="8" cy="6"/>
              </a:xfrm>
              <a:custGeom>
                <a:avLst/>
                <a:gdLst>
                  <a:gd name="T0" fmla="*/ 3 w 6"/>
                  <a:gd name="T1" fmla="*/ 2 h 4"/>
                  <a:gd name="T2" fmla="*/ 4 w 6"/>
                  <a:gd name="T3" fmla="*/ 2 h 4"/>
                  <a:gd name="T4" fmla="*/ 3 w 6"/>
                  <a:gd name="T5" fmla="*/ 2 h 4"/>
                </a:gdLst>
                <a:ahLst/>
                <a:cxnLst>
                  <a:cxn ang="0">
                    <a:pos x="T0" y="T1"/>
                  </a:cxn>
                  <a:cxn ang="0">
                    <a:pos x="T2" y="T3"/>
                  </a:cxn>
                  <a:cxn ang="0">
                    <a:pos x="T4" y="T5"/>
                  </a:cxn>
                </a:cxnLst>
                <a:rect l="0" t="0" r="r" b="b"/>
                <a:pathLst>
                  <a:path w="6" h="4">
                    <a:moveTo>
                      <a:pt x="3" y="2"/>
                    </a:moveTo>
                    <a:cubicBezTo>
                      <a:pt x="3" y="2"/>
                      <a:pt x="6" y="4"/>
                      <a:pt x="4" y="2"/>
                    </a:cubicBezTo>
                    <a:cubicBezTo>
                      <a:pt x="3" y="0"/>
                      <a:pt x="0" y="0"/>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50" name="Freeform 1062">
                <a:extLst>
                  <a:ext uri="{FF2B5EF4-FFF2-40B4-BE49-F238E27FC236}">
                    <a16:creationId xmlns:a16="http://schemas.microsoft.com/office/drawing/2014/main" id="{65D2D58A-B514-45DA-8249-03E83D6600C7}"/>
                  </a:ext>
                </a:extLst>
              </p:cNvPr>
              <p:cNvSpPr>
                <a:spLocks/>
              </p:cNvSpPr>
              <p:nvPr/>
            </p:nvSpPr>
            <p:spPr bwMode="auto">
              <a:xfrm>
                <a:off x="4007" y="1801"/>
                <a:ext cx="7" cy="7"/>
              </a:xfrm>
              <a:custGeom>
                <a:avLst/>
                <a:gdLst>
                  <a:gd name="T0" fmla="*/ 3 w 5"/>
                  <a:gd name="T1" fmla="*/ 1 h 5"/>
                  <a:gd name="T2" fmla="*/ 1 w 5"/>
                  <a:gd name="T3" fmla="*/ 2 h 5"/>
                  <a:gd name="T4" fmla="*/ 3 w 5"/>
                  <a:gd name="T5" fmla="*/ 4 h 5"/>
                  <a:gd name="T6" fmla="*/ 3 w 5"/>
                  <a:gd name="T7" fmla="*/ 1 h 5"/>
                </a:gdLst>
                <a:ahLst/>
                <a:cxnLst>
                  <a:cxn ang="0">
                    <a:pos x="T0" y="T1"/>
                  </a:cxn>
                  <a:cxn ang="0">
                    <a:pos x="T2" y="T3"/>
                  </a:cxn>
                  <a:cxn ang="0">
                    <a:pos x="T4" y="T5"/>
                  </a:cxn>
                  <a:cxn ang="0">
                    <a:pos x="T6" y="T7"/>
                  </a:cxn>
                </a:cxnLst>
                <a:rect l="0" t="0" r="r" b="b"/>
                <a:pathLst>
                  <a:path w="5" h="5">
                    <a:moveTo>
                      <a:pt x="3" y="1"/>
                    </a:moveTo>
                    <a:cubicBezTo>
                      <a:pt x="1" y="0"/>
                      <a:pt x="0" y="1"/>
                      <a:pt x="1" y="2"/>
                    </a:cubicBezTo>
                    <a:cubicBezTo>
                      <a:pt x="2" y="4"/>
                      <a:pt x="2" y="5"/>
                      <a:pt x="3" y="4"/>
                    </a:cubicBezTo>
                    <a:cubicBezTo>
                      <a:pt x="3" y="4"/>
                      <a:pt x="5" y="1"/>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51" name="Freeform 1063">
                <a:extLst>
                  <a:ext uri="{FF2B5EF4-FFF2-40B4-BE49-F238E27FC236}">
                    <a16:creationId xmlns:a16="http://schemas.microsoft.com/office/drawing/2014/main" id="{5F935574-A704-4214-AC83-8E47FE6CC83E}"/>
                  </a:ext>
                </a:extLst>
              </p:cNvPr>
              <p:cNvSpPr>
                <a:spLocks/>
              </p:cNvSpPr>
              <p:nvPr/>
            </p:nvSpPr>
            <p:spPr bwMode="auto">
              <a:xfrm>
                <a:off x="4035" y="1853"/>
                <a:ext cx="6" cy="14"/>
              </a:xfrm>
              <a:custGeom>
                <a:avLst/>
                <a:gdLst>
                  <a:gd name="T0" fmla="*/ 3 w 5"/>
                  <a:gd name="T1" fmla="*/ 1 h 10"/>
                  <a:gd name="T2" fmla="*/ 0 w 5"/>
                  <a:gd name="T3" fmla="*/ 2 h 10"/>
                  <a:gd name="T4" fmla="*/ 1 w 5"/>
                  <a:gd name="T5" fmla="*/ 7 h 10"/>
                  <a:gd name="T6" fmla="*/ 3 w 5"/>
                  <a:gd name="T7" fmla="*/ 8 h 10"/>
                  <a:gd name="T8" fmla="*/ 4 w 5"/>
                  <a:gd name="T9" fmla="*/ 4 h 10"/>
                  <a:gd name="T10" fmla="*/ 3 w 5"/>
                  <a:gd name="T11" fmla="*/ 1 h 10"/>
                </a:gdLst>
                <a:ahLst/>
                <a:cxnLst>
                  <a:cxn ang="0">
                    <a:pos x="T0" y="T1"/>
                  </a:cxn>
                  <a:cxn ang="0">
                    <a:pos x="T2" y="T3"/>
                  </a:cxn>
                  <a:cxn ang="0">
                    <a:pos x="T4" y="T5"/>
                  </a:cxn>
                  <a:cxn ang="0">
                    <a:pos x="T6" y="T7"/>
                  </a:cxn>
                  <a:cxn ang="0">
                    <a:pos x="T8" y="T9"/>
                  </a:cxn>
                  <a:cxn ang="0">
                    <a:pos x="T10" y="T11"/>
                  </a:cxn>
                </a:cxnLst>
                <a:rect l="0" t="0" r="r" b="b"/>
                <a:pathLst>
                  <a:path w="5" h="10">
                    <a:moveTo>
                      <a:pt x="3" y="1"/>
                    </a:moveTo>
                    <a:cubicBezTo>
                      <a:pt x="2" y="1"/>
                      <a:pt x="0" y="0"/>
                      <a:pt x="0" y="2"/>
                    </a:cubicBezTo>
                    <a:cubicBezTo>
                      <a:pt x="0" y="4"/>
                      <a:pt x="0" y="6"/>
                      <a:pt x="1" y="7"/>
                    </a:cubicBezTo>
                    <a:cubicBezTo>
                      <a:pt x="1" y="7"/>
                      <a:pt x="2" y="10"/>
                      <a:pt x="3" y="8"/>
                    </a:cubicBezTo>
                    <a:cubicBezTo>
                      <a:pt x="4" y="7"/>
                      <a:pt x="4" y="5"/>
                      <a:pt x="4" y="4"/>
                    </a:cubicBezTo>
                    <a:cubicBezTo>
                      <a:pt x="4" y="3"/>
                      <a:pt x="5" y="2"/>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52" name="Freeform 1064">
                <a:extLst>
                  <a:ext uri="{FF2B5EF4-FFF2-40B4-BE49-F238E27FC236}">
                    <a16:creationId xmlns:a16="http://schemas.microsoft.com/office/drawing/2014/main" id="{EDCDB6C9-A80A-41D3-AF9B-91F40D5CEB54}"/>
                  </a:ext>
                </a:extLst>
              </p:cNvPr>
              <p:cNvSpPr>
                <a:spLocks/>
              </p:cNvSpPr>
              <p:nvPr/>
            </p:nvSpPr>
            <p:spPr bwMode="auto">
              <a:xfrm>
                <a:off x="4032" y="1835"/>
                <a:ext cx="20" cy="13"/>
              </a:xfrm>
              <a:custGeom>
                <a:avLst/>
                <a:gdLst>
                  <a:gd name="T0" fmla="*/ 12 w 15"/>
                  <a:gd name="T1" fmla="*/ 5 h 9"/>
                  <a:gd name="T2" fmla="*/ 12 w 15"/>
                  <a:gd name="T3" fmla="*/ 4 h 9"/>
                  <a:gd name="T4" fmla="*/ 10 w 15"/>
                  <a:gd name="T5" fmla="*/ 2 h 9"/>
                  <a:gd name="T6" fmla="*/ 6 w 15"/>
                  <a:gd name="T7" fmla="*/ 1 h 9"/>
                  <a:gd name="T8" fmla="*/ 4 w 15"/>
                  <a:gd name="T9" fmla="*/ 3 h 9"/>
                  <a:gd name="T10" fmla="*/ 7 w 15"/>
                  <a:gd name="T11" fmla="*/ 4 h 9"/>
                  <a:gd name="T12" fmla="*/ 9 w 15"/>
                  <a:gd name="T13" fmla="*/ 7 h 9"/>
                  <a:gd name="T14" fmla="*/ 11 w 15"/>
                  <a:gd name="T15" fmla="*/ 7 h 9"/>
                  <a:gd name="T16" fmla="*/ 12 w 15"/>
                  <a:gd name="T17"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9">
                    <a:moveTo>
                      <a:pt x="12" y="5"/>
                    </a:moveTo>
                    <a:cubicBezTo>
                      <a:pt x="13" y="7"/>
                      <a:pt x="15" y="7"/>
                      <a:pt x="12" y="4"/>
                    </a:cubicBezTo>
                    <a:cubicBezTo>
                      <a:pt x="10" y="2"/>
                      <a:pt x="10" y="3"/>
                      <a:pt x="10" y="2"/>
                    </a:cubicBezTo>
                    <a:cubicBezTo>
                      <a:pt x="10" y="0"/>
                      <a:pt x="9" y="0"/>
                      <a:pt x="6" y="1"/>
                    </a:cubicBezTo>
                    <a:cubicBezTo>
                      <a:pt x="4" y="2"/>
                      <a:pt x="0" y="2"/>
                      <a:pt x="4" y="3"/>
                    </a:cubicBezTo>
                    <a:cubicBezTo>
                      <a:pt x="8" y="4"/>
                      <a:pt x="8" y="4"/>
                      <a:pt x="7" y="4"/>
                    </a:cubicBezTo>
                    <a:cubicBezTo>
                      <a:pt x="6" y="5"/>
                      <a:pt x="5" y="6"/>
                      <a:pt x="9" y="7"/>
                    </a:cubicBezTo>
                    <a:cubicBezTo>
                      <a:pt x="9" y="7"/>
                      <a:pt x="12" y="9"/>
                      <a:pt x="11" y="7"/>
                    </a:cubicBezTo>
                    <a:cubicBezTo>
                      <a:pt x="10" y="5"/>
                      <a:pt x="10" y="4"/>
                      <a:pt x="12"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53" name="Freeform 1065">
                <a:extLst>
                  <a:ext uri="{FF2B5EF4-FFF2-40B4-BE49-F238E27FC236}">
                    <a16:creationId xmlns:a16="http://schemas.microsoft.com/office/drawing/2014/main" id="{40D2E78F-C201-48D3-AF83-CDE6819FA5CC}"/>
                  </a:ext>
                </a:extLst>
              </p:cNvPr>
              <p:cNvSpPr>
                <a:spLocks/>
              </p:cNvSpPr>
              <p:nvPr/>
            </p:nvSpPr>
            <p:spPr bwMode="auto">
              <a:xfrm>
                <a:off x="4018" y="1819"/>
                <a:ext cx="10" cy="7"/>
              </a:xfrm>
              <a:custGeom>
                <a:avLst/>
                <a:gdLst>
                  <a:gd name="T0" fmla="*/ 5 w 7"/>
                  <a:gd name="T1" fmla="*/ 1 h 5"/>
                  <a:gd name="T2" fmla="*/ 3 w 7"/>
                  <a:gd name="T3" fmla="*/ 2 h 5"/>
                  <a:gd name="T4" fmla="*/ 1 w 7"/>
                  <a:gd name="T5" fmla="*/ 2 h 5"/>
                  <a:gd name="T6" fmla="*/ 0 w 7"/>
                  <a:gd name="T7" fmla="*/ 3 h 5"/>
                  <a:gd name="T8" fmla="*/ 1 w 7"/>
                  <a:gd name="T9" fmla="*/ 4 h 5"/>
                  <a:gd name="T10" fmla="*/ 4 w 7"/>
                  <a:gd name="T11" fmla="*/ 4 h 5"/>
                  <a:gd name="T12" fmla="*/ 5 w 7"/>
                  <a:gd name="T13" fmla="*/ 3 h 5"/>
                  <a:gd name="T14" fmla="*/ 5 w 7"/>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5">
                    <a:moveTo>
                      <a:pt x="5" y="1"/>
                    </a:moveTo>
                    <a:cubicBezTo>
                      <a:pt x="4" y="2"/>
                      <a:pt x="4" y="3"/>
                      <a:pt x="3" y="2"/>
                    </a:cubicBezTo>
                    <a:cubicBezTo>
                      <a:pt x="3" y="1"/>
                      <a:pt x="2" y="2"/>
                      <a:pt x="1" y="2"/>
                    </a:cubicBezTo>
                    <a:cubicBezTo>
                      <a:pt x="0" y="2"/>
                      <a:pt x="0" y="2"/>
                      <a:pt x="0" y="3"/>
                    </a:cubicBezTo>
                    <a:cubicBezTo>
                      <a:pt x="0" y="4"/>
                      <a:pt x="0" y="4"/>
                      <a:pt x="1" y="4"/>
                    </a:cubicBezTo>
                    <a:cubicBezTo>
                      <a:pt x="2" y="3"/>
                      <a:pt x="3" y="3"/>
                      <a:pt x="4" y="4"/>
                    </a:cubicBezTo>
                    <a:cubicBezTo>
                      <a:pt x="4" y="4"/>
                      <a:pt x="4" y="5"/>
                      <a:pt x="5" y="3"/>
                    </a:cubicBezTo>
                    <a:cubicBezTo>
                      <a:pt x="5" y="3"/>
                      <a:pt x="7" y="0"/>
                      <a:pt x="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54" name="Freeform 1066">
                <a:extLst>
                  <a:ext uri="{FF2B5EF4-FFF2-40B4-BE49-F238E27FC236}">
                    <a16:creationId xmlns:a16="http://schemas.microsoft.com/office/drawing/2014/main" id="{ED1E5091-533B-4787-A349-0E685F03F4C3}"/>
                  </a:ext>
                </a:extLst>
              </p:cNvPr>
              <p:cNvSpPr>
                <a:spLocks/>
              </p:cNvSpPr>
              <p:nvPr/>
            </p:nvSpPr>
            <p:spPr bwMode="auto">
              <a:xfrm>
                <a:off x="4025" y="1809"/>
                <a:ext cx="7" cy="2"/>
              </a:xfrm>
              <a:custGeom>
                <a:avLst/>
                <a:gdLst>
                  <a:gd name="T0" fmla="*/ 4 w 5"/>
                  <a:gd name="T1" fmla="*/ 1 h 1"/>
                  <a:gd name="T2" fmla="*/ 3 w 5"/>
                  <a:gd name="T3" fmla="*/ 1 h 1"/>
                  <a:gd name="T4" fmla="*/ 4 w 5"/>
                  <a:gd name="T5" fmla="*/ 1 h 1"/>
                </a:gdLst>
                <a:ahLst/>
                <a:cxnLst>
                  <a:cxn ang="0">
                    <a:pos x="T0" y="T1"/>
                  </a:cxn>
                  <a:cxn ang="0">
                    <a:pos x="T2" y="T3"/>
                  </a:cxn>
                  <a:cxn ang="0">
                    <a:pos x="T4" y="T5"/>
                  </a:cxn>
                </a:cxnLst>
                <a:rect l="0" t="0" r="r" b="b"/>
                <a:pathLst>
                  <a:path w="5" h="1">
                    <a:moveTo>
                      <a:pt x="4" y="1"/>
                    </a:moveTo>
                    <a:cubicBezTo>
                      <a:pt x="3" y="0"/>
                      <a:pt x="0" y="0"/>
                      <a:pt x="3" y="1"/>
                    </a:cubicBezTo>
                    <a:cubicBezTo>
                      <a:pt x="3" y="1"/>
                      <a:pt x="5" y="1"/>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55" name="Freeform 1067">
                <a:extLst>
                  <a:ext uri="{FF2B5EF4-FFF2-40B4-BE49-F238E27FC236}">
                    <a16:creationId xmlns:a16="http://schemas.microsoft.com/office/drawing/2014/main" id="{4A51E806-6290-4E9A-A235-971CD4A5EB7F}"/>
                  </a:ext>
                </a:extLst>
              </p:cNvPr>
              <p:cNvSpPr>
                <a:spLocks/>
              </p:cNvSpPr>
              <p:nvPr/>
            </p:nvSpPr>
            <p:spPr bwMode="auto">
              <a:xfrm>
                <a:off x="4057" y="1894"/>
                <a:ext cx="11" cy="4"/>
              </a:xfrm>
              <a:custGeom>
                <a:avLst/>
                <a:gdLst>
                  <a:gd name="T0" fmla="*/ 5 w 8"/>
                  <a:gd name="T1" fmla="*/ 0 h 3"/>
                  <a:gd name="T2" fmla="*/ 3 w 8"/>
                  <a:gd name="T3" fmla="*/ 2 h 3"/>
                  <a:gd name="T4" fmla="*/ 5 w 8"/>
                  <a:gd name="T5" fmla="*/ 0 h 3"/>
                </a:gdLst>
                <a:ahLst/>
                <a:cxnLst>
                  <a:cxn ang="0">
                    <a:pos x="T0" y="T1"/>
                  </a:cxn>
                  <a:cxn ang="0">
                    <a:pos x="T2" y="T3"/>
                  </a:cxn>
                  <a:cxn ang="0">
                    <a:pos x="T4" y="T5"/>
                  </a:cxn>
                </a:cxnLst>
                <a:rect l="0" t="0" r="r" b="b"/>
                <a:pathLst>
                  <a:path w="8" h="3">
                    <a:moveTo>
                      <a:pt x="5" y="0"/>
                    </a:moveTo>
                    <a:cubicBezTo>
                      <a:pt x="2" y="1"/>
                      <a:pt x="0" y="3"/>
                      <a:pt x="3" y="2"/>
                    </a:cubicBezTo>
                    <a:cubicBezTo>
                      <a:pt x="3" y="2"/>
                      <a:pt x="8" y="0"/>
                      <a:pt x="5"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56" name="Freeform 1068">
                <a:extLst>
                  <a:ext uri="{FF2B5EF4-FFF2-40B4-BE49-F238E27FC236}">
                    <a16:creationId xmlns:a16="http://schemas.microsoft.com/office/drawing/2014/main" id="{C7283D73-4C5F-4A1C-B8B8-E58BCE27D2B8}"/>
                  </a:ext>
                </a:extLst>
              </p:cNvPr>
              <p:cNvSpPr>
                <a:spLocks/>
              </p:cNvSpPr>
              <p:nvPr/>
            </p:nvSpPr>
            <p:spPr bwMode="auto">
              <a:xfrm>
                <a:off x="4055" y="1890"/>
                <a:ext cx="3" cy="3"/>
              </a:xfrm>
              <a:custGeom>
                <a:avLst/>
                <a:gdLst>
                  <a:gd name="T0" fmla="*/ 2 w 2"/>
                  <a:gd name="T1" fmla="*/ 2 h 2"/>
                  <a:gd name="T2" fmla="*/ 0 w 2"/>
                  <a:gd name="T3" fmla="*/ 0 h 2"/>
                  <a:gd name="T4" fmla="*/ 2 w 2"/>
                  <a:gd name="T5" fmla="*/ 2 h 2"/>
                </a:gdLst>
                <a:ahLst/>
                <a:cxnLst>
                  <a:cxn ang="0">
                    <a:pos x="T0" y="T1"/>
                  </a:cxn>
                  <a:cxn ang="0">
                    <a:pos x="T2" y="T3"/>
                  </a:cxn>
                  <a:cxn ang="0">
                    <a:pos x="T4" y="T5"/>
                  </a:cxn>
                </a:cxnLst>
                <a:rect l="0" t="0" r="r" b="b"/>
                <a:pathLst>
                  <a:path w="2" h="2">
                    <a:moveTo>
                      <a:pt x="2" y="2"/>
                    </a:moveTo>
                    <a:cubicBezTo>
                      <a:pt x="2" y="2"/>
                      <a:pt x="2" y="0"/>
                      <a:pt x="0" y="0"/>
                    </a:cubicBezTo>
                    <a:cubicBezTo>
                      <a:pt x="0" y="0"/>
                      <a:pt x="1" y="1"/>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57" name="Freeform 1069">
                <a:extLst>
                  <a:ext uri="{FF2B5EF4-FFF2-40B4-BE49-F238E27FC236}">
                    <a16:creationId xmlns:a16="http://schemas.microsoft.com/office/drawing/2014/main" id="{AE674EF8-29A3-4249-BDD0-F877D2A02DB3}"/>
                  </a:ext>
                </a:extLst>
              </p:cNvPr>
              <p:cNvSpPr>
                <a:spLocks/>
              </p:cNvSpPr>
              <p:nvPr/>
            </p:nvSpPr>
            <p:spPr bwMode="auto">
              <a:xfrm>
                <a:off x="4047" y="1872"/>
                <a:ext cx="15" cy="6"/>
              </a:xfrm>
              <a:custGeom>
                <a:avLst/>
                <a:gdLst>
                  <a:gd name="T0" fmla="*/ 9 w 11"/>
                  <a:gd name="T1" fmla="*/ 1 h 4"/>
                  <a:gd name="T2" fmla="*/ 4 w 11"/>
                  <a:gd name="T3" fmla="*/ 2 h 4"/>
                  <a:gd name="T4" fmla="*/ 6 w 11"/>
                  <a:gd name="T5" fmla="*/ 3 h 4"/>
                  <a:gd name="T6" fmla="*/ 9 w 11"/>
                  <a:gd name="T7" fmla="*/ 1 h 4"/>
                </a:gdLst>
                <a:ahLst/>
                <a:cxnLst>
                  <a:cxn ang="0">
                    <a:pos x="T0" y="T1"/>
                  </a:cxn>
                  <a:cxn ang="0">
                    <a:pos x="T2" y="T3"/>
                  </a:cxn>
                  <a:cxn ang="0">
                    <a:pos x="T4" y="T5"/>
                  </a:cxn>
                  <a:cxn ang="0">
                    <a:pos x="T6" y="T7"/>
                  </a:cxn>
                </a:cxnLst>
                <a:rect l="0" t="0" r="r" b="b"/>
                <a:pathLst>
                  <a:path w="11" h="4">
                    <a:moveTo>
                      <a:pt x="9" y="1"/>
                    </a:moveTo>
                    <a:cubicBezTo>
                      <a:pt x="6" y="1"/>
                      <a:pt x="0" y="0"/>
                      <a:pt x="4" y="2"/>
                    </a:cubicBezTo>
                    <a:cubicBezTo>
                      <a:pt x="4" y="2"/>
                      <a:pt x="5" y="4"/>
                      <a:pt x="6" y="3"/>
                    </a:cubicBezTo>
                    <a:cubicBezTo>
                      <a:pt x="8" y="3"/>
                      <a:pt x="11" y="2"/>
                      <a:pt x="9"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58" name="Freeform 1070">
                <a:extLst>
                  <a:ext uri="{FF2B5EF4-FFF2-40B4-BE49-F238E27FC236}">
                    <a16:creationId xmlns:a16="http://schemas.microsoft.com/office/drawing/2014/main" id="{E7AAD0F8-2125-49EE-9FC7-D4794785C402}"/>
                  </a:ext>
                </a:extLst>
              </p:cNvPr>
              <p:cNvSpPr>
                <a:spLocks/>
              </p:cNvSpPr>
              <p:nvPr/>
            </p:nvSpPr>
            <p:spPr bwMode="auto">
              <a:xfrm>
                <a:off x="4036" y="1875"/>
                <a:ext cx="11" cy="6"/>
              </a:xfrm>
              <a:custGeom>
                <a:avLst/>
                <a:gdLst>
                  <a:gd name="T0" fmla="*/ 4 w 8"/>
                  <a:gd name="T1" fmla="*/ 3 h 4"/>
                  <a:gd name="T2" fmla="*/ 4 w 8"/>
                  <a:gd name="T3" fmla="*/ 2 h 4"/>
                  <a:gd name="T4" fmla="*/ 4 w 8"/>
                  <a:gd name="T5" fmla="*/ 3 h 4"/>
                </a:gdLst>
                <a:ahLst/>
                <a:cxnLst>
                  <a:cxn ang="0">
                    <a:pos x="T0" y="T1"/>
                  </a:cxn>
                  <a:cxn ang="0">
                    <a:pos x="T2" y="T3"/>
                  </a:cxn>
                  <a:cxn ang="0">
                    <a:pos x="T4" y="T5"/>
                  </a:cxn>
                </a:cxnLst>
                <a:rect l="0" t="0" r="r" b="b"/>
                <a:pathLst>
                  <a:path w="8" h="4">
                    <a:moveTo>
                      <a:pt x="4" y="3"/>
                    </a:moveTo>
                    <a:cubicBezTo>
                      <a:pt x="4" y="3"/>
                      <a:pt x="8" y="0"/>
                      <a:pt x="4" y="2"/>
                    </a:cubicBezTo>
                    <a:cubicBezTo>
                      <a:pt x="1" y="4"/>
                      <a:pt x="0" y="4"/>
                      <a:pt x="4"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59" name="Freeform 1071">
                <a:extLst>
                  <a:ext uri="{FF2B5EF4-FFF2-40B4-BE49-F238E27FC236}">
                    <a16:creationId xmlns:a16="http://schemas.microsoft.com/office/drawing/2014/main" id="{555132E9-D05B-4517-854E-27D2E084DFF9}"/>
                  </a:ext>
                </a:extLst>
              </p:cNvPr>
              <p:cNvSpPr>
                <a:spLocks/>
              </p:cNvSpPr>
              <p:nvPr/>
            </p:nvSpPr>
            <p:spPr bwMode="auto">
              <a:xfrm>
                <a:off x="3914" y="1779"/>
                <a:ext cx="136" cy="128"/>
              </a:xfrm>
              <a:custGeom>
                <a:avLst/>
                <a:gdLst>
                  <a:gd name="T0" fmla="*/ 94 w 98"/>
                  <a:gd name="T1" fmla="*/ 11 h 93"/>
                  <a:gd name="T2" fmla="*/ 98 w 98"/>
                  <a:gd name="T3" fmla="*/ 5 h 93"/>
                  <a:gd name="T4" fmla="*/ 94 w 98"/>
                  <a:gd name="T5" fmla="*/ 0 h 93"/>
                  <a:gd name="T6" fmla="*/ 91 w 98"/>
                  <a:gd name="T7" fmla="*/ 3 h 93"/>
                  <a:gd name="T8" fmla="*/ 77 w 98"/>
                  <a:gd name="T9" fmla="*/ 8 h 93"/>
                  <a:gd name="T10" fmla="*/ 70 w 98"/>
                  <a:gd name="T11" fmla="*/ 6 h 93"/>
                  <a:gd name="T12" fmla="*/ 50 w 98"/>
                  <a:gd name="T13" fmla="*/ 6 h 93"/>
                  <a:gd name="T14" fmla="*/ 40 w 98"/>
                  <a:gd name="T15" fmla="*/ 8 h 93"/>
                  <a:gd name="T16" fmla="*/ 34 w 98"/>
                  <a:gd name="T17" fmla="*/ 10 h 93"/>
                  <a:gd name="T18" fmla="*/ 27 w 98"/>
                  <a:gd name="T19" fmla="*/ 13 h 93"/>
                  <a:gd name="T20" fmla="*/ 14 w 98"/>
                  <a:gd name="T21" fmla="*/ 16 h 93"/>
                  <a:gd name="T22" fmla="*/ 12 w 98"/>
                  <a:gd name="T23" fmla="*/ 22 h 93"/>
                  <a:gd name="T24" fmla="*/ 9 w 98"/>
                  <a:gd name="T25" fmla="*/ 28 h 93"/>
                  <a:gd name="T26" fmla="*/ 5 w 98"/>
                  <a:gd name="T27" fmla="*/ 32 h 93"/>
                  <a:gd name="T28" fmla="*/ 0 w 98"/>
                  <a:gd name="T29" fmla="*/ 36 h 93"/>
                  <a:gd name="T30" fmla="*/ 11 w 98"/>
                  <a:gd name="T31" fmla="*/ 48 h 93"/>
                  <a:gd name="T32" fmla="*/ 15 w 98"/>
                  <a:gd name="T33" fmla="*/ 50 h 93"/>
                  <a:gd name="T34" fmla="*/ 11 w 98"/>
                  <a:gd name="T35" fmla="*/ 50 h 93"/>
                  <a:gd name="T36" fmla="*/ 16 w 98"/>
                  <a:gd name="T37" fmla="*/ 57 h 93"/>
                  <a:gd name="T38" fmla="*/ 24 w 98"/>
                  <a:gd name="T39" fmla="*/ 60 h 93"/>
                  <a:gd name="T40" fmla="*/ 44 w 98"/>
                  <a:gd name="T41" fmla="*/ 61 h 93"/>
                  <a:gd name="T42" fmla="*/ 30 w 98"/>
                  <a:gd name="T43" fmla="*/ 60 h 93"/>
                  <a:gd name="T44" fmla="*/ 17 w 98"/>
                  <a:gd name="T45" fmla="*/ 69 h 93"/>
                  <a:gd name="T46" fmla="*/ 25 w 98"/>
                  <a:gd name="T47" fmla="*/ 85 h 93"/>
                  <a:gd name="T48" fmla="*/ 36 w 98"/>
                  <a:gd name="T49" fmla="*/ 91 h 93"/>
                  <a:gd name="T50" fmla="*/ 39 w 98"/>
                  <a:gd name="T51" fmla="*/ 86 h 93"/>
                  <a:gd name="T52" fmla="*/ 41 w 98"/>
                  <a:gd name="T53" fmla="*/ 75 h 93"/>
                  <a:gd name="T54" fmla="*/ 51 w 98"/>
                  <a:gd name="T55" fmla="*/ 76 h 93"/>
                  <a:gd name="T56" fmla="*/ 47 w 98"/>
                  <a:gd name="T57" fmla="*/ 71 h 93"/>
                  <a:gd name="T58" fmla="*/ 51 w 98"/>
                  <a:gd name="T59" fmla="*/ 65 h 93"/>
                  <a:gd name="T60" fmla="*/ 56 w 98"/>
                  <a:gd name="T61" fmla="*/ 68 h 93"/>
                  <a:gd name="T62" fmla="*/ 59 w 98"/>
                  <a:gd name="T63" fmla="*/ 71 h 93"/>
                  <a:gd name="T64" fmla="*/ 59 w 98"/>
                  <a:gd name="T65" fmla="*/ 61 h 93"/>
                  <a:gd name="T66" fmla="*/ 39 w 98"/>
                  <a:gd name="T67" fmla="*/ 51 h 93"/>
                  <a:gd name="T68" fmla="*/ 44 w 98"/>
                  <a:gd name="T69" fmla="*/ 46 h 93"/>
                  <a:gd name="T70" fmla="*/ 47 w 98"/>
                  <a:gd name="T71" fmla="*/ 44 h 93"/>
                  <a:gd name="T72" fmla="*/ 49 w 98"/>
                  <a:gd name="T73" fmla="*/ 44 h 93"/>
                  <a:gd name="T74" fmla="*/ 41 w 98"/>
                  <a:gd name="T75" fmla="*/ 20 h 93"/>
                  <a:gd name="T76" fmla="*/ 46 w 98"/>
                  <a:gd name="T77" fmla="*/ 25 h 93"/>
                  <a:gd name="T78" fmla="*/ 51 w 98"/>
                  <a:gd name="T79" fmla="*/ 31 h 93"/>
                  <a:gd name="T80" fmla="*/ 50 w 98"/>
                  <a:gd name="T81" fmla="*/ 28 h 93"/>
                  <a:gd name="T82" fmla="*/ 57 w 98"/>
                  <a:gd name="T83" fmla="*/ 31 h 93"/>
                  <a:gd name="T84" fmla="*/ 59 w 98"/>
                  <a:gd name="T85" fmla="*/ 25 h 93"/>
                  <a:gd name="T86" fmla="*/ 58 w 98"/>
                  <a:gd name="T87" fmla="*/ 16 h 93"/>
                  <a:gd name="T88" fmla="*/ 79 w 98"/>
                  <a:gd name="T89" fmla="*/ 14 h 93"/>
                  <a:gd name="T90" fmla="*/ 91 w 98"/>
                  <a:gd name="T91" fmla="*/ 17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8" h="93">
                    <a:moveTo>
                      <a:pt x="92" y="15"/>
                    </a:moveTo>
                    <a:cubicBezTo>
                      <a:pt x="92" y="15"/>
                      <a:pt x="94" y="13"/>
                      <a:pt x="94" y="13"/>
                    </a:cubicBezTo>
                    <a:cubicBezTo>
                      <a:pt x="94" y="13"/>
                      <a:pt x="94" y="12"/>
                      <a:pt x="94" y="11"/>
                    </a:cubicBezTo>
                    <a:cubicBezTo>
                      <a:pt x="94" y="11"/>
                      <a:pt x="93" y="9"/>
                      <a:pt x="95" y="8"/>
                    </a:cubicBezTo>
                    <a:cubicBezTo>
                      <a:pt x="96" y="7"/>
                      <a:pt x="96" y="7"/>
                      <a:pt x="97" y="6"/>
                    </a:cubicBezTo>
                    <a:cubicBezTo>
                      <a:pt x="98" y="6"/>
                      <a:pt x="98" y="5"/>
                      <a:pt x="98" y="5"/>
                    </a:cubicBezTo>
                    <a:cubicBezTo>
                      <a:pt x="98" y="4"/>
                      <a:pt x="97" y="2"/>
                      <a:pt x="96" y="1"/>
                    </a:cubicBezTo>
                    <a:cubicBezTo>
                      <a:pt x="95" y="1"/>
                      <a:pt x="95" y="0"/>
                      <a:pt x="94" y="0"/>
                    </a:cubicBezTo>
                    <a:cubicBezTo>
                      <a:pt x="94" y="0"/>
                      <a:pt x="94" y="0"/>
                      <a:pt x="94" y="0"/>
                    </a:cubicBezTo>
                    <a:cubicBezTo>
                      <a:pt x="93" y="0"/>
                      <a:pt x="90" y="0"/>
                      <a:pt x="90" y="0"/>
                    </a:cubicBezTo>
                    <a:cubicBezTo>
                      <a:pt x="90" y="1"/>
                      <a:pt x="90" y="1"/>
                      <a:pt x="90" y="2"/>
                    </a:cubicBezTo>
                    <a:cubicBezTo>
                      <a:pt x="91" y="2"/>
                      <a:pt x="91" y="2"/>
                      <a:pt x="91" y="3"/>
                    </a:cubicBezTo>
                    <a:cubicBezTo>
                      <a:pt x="91" y="4"/>
                      <a:pt x="92" y="7"/>
                      <a:pt x="89" y="7"/>
                    </a:cubicBezTo>
                    <a:cubicBezTo>
                      <a:pt x="87" y="8"/>
                      <a:pt x="79" y="8"/>
                      <a:pt x="79" y="8"/>
                    </a:cubicBezTo>
                    <a:cubicBezTo>
                      <a:pt x="78" y="8"/>
                      <a:pt x="77" y="8"/>
                      <a:pt x="77" y="8"/>
                    </a:cubicBezTo>
                    <a:cubicBezTo>
                      <a:pt x="77" y="8"/>
                      <a:pt x="76" y="7"/>
                      <a:pt x="76" y="7"/>
                    </a:cubicBezTo>
                    <a:cubicBezTo>
                      <a:pt x="75" y="7"/>
                      <a:pt x="72" y="7"/>
                      <a:pt x="72" y="7"/>
                    </a:cubicBezTo>
                    <a:cubicBezTo>
                      <a:pt x="72" y="7"/>
                      <a:pt x="71" y="6"/>
                      <a:pt x="70" y="6"/>
                    </a:cubicBezTo>
                    <a:cubicBezTo>
                      <a:pt x="70" y="5"/>
                      <a:pt x="67" y="2"/>
                      <a:pt x="64" y="3"/>
                    </a:cubicBezTo>
                    <a:cubicBezTo>
                      <a:pt x="61" y="3"/>
                      <a:pt x="56" y="5"/>
                      <a:pt x="54" y="6"/>
                    </a:cubicBezTo>
                    <a:cubicBezTo>
                      <a:pt x="53" y="6"/>
                      <a:pt x="51" y="6"/>
                      <a:pt x="50" y="6"/>
                    </a:cubicBezTo>
                    <a:cubicBezTo>
                      <a:pt x="49" y="6"/>
                      <a:pt x="43" y="7"/>
                      <a:pt x="42" y="7"/>
                    </a:cubicBezTo>
                    <a:cubicBezTo>
                      <a:pt x="42" y="7"/>
                      <a:pt x="41" y="7"/>
                      <a:pt x="41" y="7"/>
                    </a:cubicBezTo>
                    <a:cubicBezTo>
                      <a:pt x="41" y="7"/>
                      <a:pt x="41" y="8"/>
                      <a:pt x="40" y="8"/>
                    </a:cubicBezTo>
                    <a:cubicBezTo>
                      <a:pt x="40" y="8"/>
                      <a:pt x="39" y="10"/>
                      <a:pt x="39" y="10"/>
                    </a:cubicBezTo>
                    <a:cubicBezTo>
                      <a:pt x="39" y="10"/>
                      <a:pt x="38" y="11"/>
                      <a:pt x="38" y="10"/>
                    </a:cubicBezTo>
                    <a:cubicBezTo>
                      <a:pt x="37" y="10"/>
                      <a:pt x="35" y="11"/>
                      <a:pt x="34" y="10"/>
                    </a:cubicBezTo>
                    <a:cubicBezTo>
                      <a:pt x="33" y="10"/>
                      <a:pt x="33" y="10"/>
                      <a:pt x="32" y="10"/>
                    </a:cubicBezTo>
                    <a:cubicBezTo>
                      <a:pt x="31" y="10"/>
                      <a:pt x="28" y="11"/>
                      <a:pt x="28" y="12"/>
                    </a:cubicBezTo>
                    <a:cubicBezTo>
                      <a:pt x="27" y="12"/>
                      <a:pt x="27" y="13"/>
                      <a:pt x="27" y="13"/>
                    </a:cubicBezTo>
                    <a:cubicBezTo>
                      <a:pt x="26" y="14"/>
                      <a:pt x="25" y="14"/>
                      <a:pt x="25" y="14"/>
                    </a:cubicBezTo>
                    <a:cubicBezTo>
                      <a:pt x="25" y="14"/>
                      <a:pt x="16" y="16"/>
                      <a:pt x="16" y="16"/>
                    </a:cubicBezTo>
                    <a:cubicBezTo>
                      <a:pt x="15" y="15"/>
                      <a:pt x="14" y="15"/>
                      <a:pt x="14" y="16"/>
                    </a:cubicBezTo>
                    <a:cubicBezTo>
                      <a:pt x="14" y="16"/>
                      <a:pt x="14" y="18"/>
                      <a:pt x="15" y="18"/>
                    </a:cubicBezTo>
                    <a:cubicBezTo>
                      <a:pt x="15" y="19"/>
                      <a:pt x="15" y="20"/>
                      <a:pt x="15" y="20"/>
                    </a:cubicBezTo>
                    <a:cubicBezTo>
                      <a:pt x="14" y="21"/>
                      <a:pt x="12" y="22"/>
                      <a:pt x="12" y="22"/>
                    </a:cubicBezTo>
                    <a:cubicBezTo>
                      <a:pt x="12" y="22"/>
                      <a:pt x="11" y="23"/>
                      <a:pt x="11" y="23"/>
                    </a:cubicBezTo>
                    <a:cubicBezTo>
                      <a:pt x="11" y="24"/>
                      <a:pt x="11" y="26"/>
                      <a:pt x="10" y="26"/>
                    </a:cubicBezTo>
                    <a:cubicBezTo>
                      <a:pt x="10" y="26"/>
                      <a:pt x="9" y="28"/>
                      <a:pt x="9" y="28"/>
                    </a:cubicBezTo>
                    <a:cubicBezTo>
                      <a:pt x="9" y="28"/>
                      <a:pt x="9" y="29"/>
                      <a:pt x="8" y="29"/>
                    </a:cubicBezTo>
                    <a:cubicBezTo>
                      <a:pt x="8" y="29"/>
                      <a:pt x="6" y="29"/>
                      <a:pt x="6" y="29"/>
                    </a:cubicBezTo>
                    <a:cubicBezTo>
                      <a:pt x="6" y="30"/>
                      <a:pt x="4" y="31"/>
                      <a:pt x="5" y="32"/>
                    </a:cubicBezTo>
                    <a:cubicBezTo>
                      <a:pt x="5" y="33"/>
                      <a:pt x="6" y="34"/>
                      <a:pt x="5" y="34"/>
                    </a:cubicBezTo>
                    <a:cubicBezTo>
                      <a:pt x="5" y="34"/>
                      <a:pt x="4" y="34"/>
                      <a:pt x="4" y="34"/>
                    </a:cubicBezTo>
                    <a:cubicBezTo>
                      <a:pt x="4" y="35"/>
                      <a:pt x="4" y="37"/>
                      <a:pt x="0" y="36"/>
                    </a:cubicBezTo>
                    <a:cubicBezTo>
                      <a:pt x="2" y="39"/>
                      <a:pt x="4" y="42"/>
                      <a:pt x="6" y="43"/>
                    </a:cubicBezTo>
                    <a:cubicBezTo>
                      <a:pt x="8" y="45"/>
                      <a:pt x="10" y="46"/>
                      <a:pt x="10" y="47"/>
                    </a:cubicBezTo>
                    <a:cubicBezTo>
                      <a:pt x="11" y="48"/>
                      <a:pt x="10" y="50"/>
                      <a:pt x="11" y="48"/>
                    </a:cubicBezTo>
                    <a:cubicBezTo>
                      <a:pt x="12" y="46"/>
                      <a:pt x="12" y="46"/>
                      <a:pt x="14" y="46"/>
                    </a:cubicBezTo>
                    <a:cubicBezTo>
                      <a:pt x="15" y="47"/>
                      <a:pt x="16" y="47"/>
                      <a:pt x="16" y="49"/>
                    </a:cubicBezTo>
                    <a:cubicBezTo>
                      <a:pt x="16" y="50"/>
                      <a:pt x="16" y="50"/>
                      <a:pt x="15" y="50"/>
                    </a:cubicBezTo>
                    <a:cubicBezTo>
                      <a:pt x="14" y="49"/>
                      <a:pt x="14" y="49"/>
                      <a:pt x="13" y="49"/>
                    </a:cubicBezTo>
                    <a:cubicBezTo>
                      <a:pt x="13" y="49"/>
                      <a:pt x="12" y="49"/>
                      <a:pt x="12" y="49"/>
                    </a:cubicBezTo>
                    <a:cubicBezTo>
                      <a:pt x="11" y="49"/>
                      <a:pt x="11" y="49"/>
                      <a:pt x="11" y="50"/>
                    </a:cubicBezTo>
                    <a:cubicBezTo>
                      <a:pt x="12" y="50"/>
                      <a:pt x="11" y="50"/>
                      <a:pt x="11" y="50"/>
                    </a:cubicBezTo>
                    <a:cubicBezTo>
                      <a:pt x="11" y="50"/>
                      <a:pt x="10" y="51"/>
                      <a:pt x="12" y="52"/>
                    </a:cubicBezTo>
                    <a:cubicBezTo>
                      <a:pt x="13" y="53"/>
                      <a:pt x="15" y="56"/>
                      <a:pt x="16" y="57"/>
                    </a:cubicBezTo>
                    <a:cubicBezTo>
                      <a:pt x="16" y="58"/>
                      <a:pt x="16" y="60"/>
                      <a:pt x="17" y="59"/>
                    </a:cubicBezTo>
                    <a:cubicBezTo>
                      <a:pt x="19" y="58"/>
                      <a:pt x="20" y="57"/>
                      <a:pt x="21" y="59"/>
                    </a:cubicBezTo>
                    <a:cubicBezTo>
                      <a:pt x="22" y="60"/>
                      <a:pt x="22" y="60"/>
                      <a:pt x="24" y="60"/>
                    </a:cubicBezTo>
                    <a:cubicBezTo>
                      <a:pt x="25" y="59"/>
                      <a:pt x="29" y="58"/>
                      <a:pt x="31" y="59"/>
                    </a:cubicBezTo>
                    <a:cubicBezTo>
                      <a:pt x="34" y="59"/>
                      <a:pt x="37" y="59"/>
                      <a:pt x="38" y="59"/>
                    </a:cubicBezTo>
                    <a:cubicBezTo>
                      <a:pt x="39" y="59"/>
                      <a:pt x="42" y="60"/>
                      <a:pt x="44" y="61"/>
                    </a:cubicBezTo>
                    <a:cubicBezTo>
                      <a:pt x="46" y="62"/>
                      <a:pt x="48" y="62"/>
                      <a:pt x="47" y="64"/>
                    </a:cubicBezTo>
                    <a:cubicBezTo>
                      <a:pt x="45" y="66"/>
                      <a:pt x="43" y="67"/>
                      <a:pt x="40" y="65"/>
                    </a:cubicBezTo>
                    <a:cubicBezTo>
                      <a:pt x="38" y="63"/>
                      <a:pt x="31" y="61"/>
                      <a:pt x="30" y="60"/>
                    </a:cubicBezTo>
                    <a:cubicBezTo>
                      <a:pt x="29" y="60"/>
                      <a:pt x="25" y="59"/>
                      <a:pt x="22" y="62"/>
                    </a:cubicBezTo>
                    <a:cubicBezTo>
                      <a:pt x="19" y="64"/>
                      <a:pt x="19" y="65"/>
                      <a:pt x="19" y="65"/>
                    </a:cubicBezTo>
                    <a:cubicBezTo>
                      <a:pt x="18" y="66"/>
                      <a:pt x="14" y="66"/>
                      <a:pt x="17" y="69"/>
                    </a:cubicBezTo>
                    <a:cubicBezTo>
                      <a:pt x="20" y="72"/>
                      <a:pt x="26" y="75"/>
                      <a:pt x="24" y="78"/>
                    </a:cubicBezTo>
                    <a:cubicBezTo>
                      <a:pt x="23" y="81"/>
                      <a:pt x="23" y="81"/>
                      <a:pt x="24" y="83"/>
                    </a:cubicBezTo>
                    <a:cubicBezTo>
                      <a:pt x="25" y="84"/>
                      <a:pt x="25" y="85"/>
                      <a:pt x="25" y="85"/>
                    </a:cubicBezTo>
                    <a:cubicBezTo>
                      <a:pt x="25" y="85"/>
                      <a:pt x="25" y="87"/>
                      <a:pt x="27" y="85"/>
                    </a:cubicBezTo>
                    <a:cubicBezTo>
                      <a:pt x="29" y="83"/>
                      <a:pt x="30" y="80"/>
                      <a:pt x="33" y="84"/>
                    </a:cubicBezTo>
                    <a:cubicBezTo>
                      <a:pt x="35" y="88"/>
                      <a:pt x="35" y="89"/>
                      <a:pt x="36" y="91"/>
                    </a:cubicBezTo>
                    <a:cubicBezTo>
                      <a:pt x="36" y="92"/>
                      <a:pt x="37" y="93"/>
                      <a:pt x="37" y="91"/>
                    </a:cubicBezTo>
                    <a:cubicBezTo>
                      <a:pt x="36" y="89"/>
                      <a:pt x="37" y="89"/>
                      <a:pt x="37" y="88"/>
                    </a:cubicBezTo>
                    <a:cubicBezTo>
                      <a:pt x="38" y="88"/>
                      <a:pt x="38" y="86"/>
                      <a:pt x="39" y="86"/>
                    </a:cubicBezTo>
                    <a:cubicBezTo>
                      <a:pt x="41" y="87"/>
                      <a:pt x="45" y="90"/>
                      <a:pt x="46" y="91"/>
                    </a:cubicBezTo>
                    <a:cubicBezTo>
                      <a:pt x="46" y="92"/>
                      <a:pt x="48" y="92"/>
                      <a:pt x="47" y="89"/>
                    </a:cubicBezTo>
                    <a:cubicBezTo>
                      <a:pt x="45" y="86"/>
                      <a:pt x="42" y="77"/>
                      <a:pt x="41" y="75"/>
                    </a:cubicBezTo>
                    <a:cubicBezTo>
                      <a:pt x="40" y="73"/>
                      <a:pt x="41" y="74"/>
                      <a:pt x="43" y="75"/>
                    </a:cubicBezTo>
                    <a:cubicBezTo>
                      <a:pt x="45" y="76"/>
                      <a:pt x="46" y="77"/>
                      <a:pt x="47" y="77"/>
                    </a:cubicBezTo>
                    <a:cubicBezTo>
                      <a:pt x="48" y="77"/>
                      <a:pt x="50" y="76"/>
                      <a:pt x="51" y="76"/>
                    </a:cubicBezTo>
                    <a:cubicBezTo>
                      <a:pt x="51" y="75"/>
                      <a:pt x="51" y="75"/>
                      <a:pt x="51" y="74"/>
                    </a:cubicBezTo>
                    <a:cubicBezTo>
                      <a:pt x="50" y="72"/>
                      <a:pt x="51" y="71"/>
                      <a:pt x="50" y="72"/>
                    </a:cubicBezTo>
                    <a:cubicBezTo>
                      <a:pt x="48" y="72"/>
                      <a:pt x="48" y="73"/>
                      <a:pt x="47" y="71"/>
                    </a:cubicBezTo>
                    <a:cubicBezTo>
                      <a:pt x="46" y="70"/>
                      <a:pt x="46" y="69"/>
                      <a:pt x="45" y="68"/>
                    </a:cubicBezTo>
                    <a:cubicBezTo>
                      <a:pt x="45" y="68"/>
                      <a:pt x="43" y="67"/>
                      <a:pt x="46" y="66"/>
                    </a:cubicBezTo>
                    <a:cubicBezTo>
                      <a:pt x="49" y="66"/>
                      <a:pt x="50" y="66"/>
                      <a:pt x="51" y="65"/>
                    </a:cubicBezTo>
                    <a:cubicBezTo>
                      <a:pt x="53" y="64"/>
                      <a:pt x="53" y="64"/>
                      <a:pt x="53" y="65"/>
                    </a:cubicBezTo>
                    <a:cubicBezTo>
                      <a:pt x="53" y="66"/>
                      <a:pt x="53" y="66"/>
                      <a:pt x="54" y="66"/>
                    </a:cubicBezTo>
                    <a:cubicBezTo>
                      <a:pt x="55" y="66"/>
                      <a:pt x="55" y="67"/>
                      <a:pt x="56" y="68"/>
                    </a:cubicBezTo>
                    <a:cubicBezTo>
                      <a:pt x="56" y="69"/>
                      <a:pt x="56" y="69"/>
                      <a:pt x="57" y="69"/>
                    </a:cubicBezTo>
                    <a:cubicBezTo>
                      <a:pt x="58" y="69"/>
                      <a:pt x="58" y="69"/>
                      <a:pt x="58" y="70"/>
                    </a:cubicBezTo>
                    <a:cubicBezTo>
                      <a:pt x="58" y="71"/>
                      <a:pt x="59" y="71"/>
                      <a:pt x="59" y="71"/>
                    </a:cubicBezTo>
                    <a:cubicBezTo>
                      <a:pt x="60" y="71"/>
                      <a:pt x="61" y="70"/>
                      <a:pt x="60" y="68"/>
                    </a:cubicBezTo>
                    <a:cubicBezTo>
                      <a:pt x="59" y="65"/>
                      <a:pt x="59" y="64"/>
                      <a:pt x="59" y="63"/>
                    </a:cubicBezTo>
                    <a:cubicBezTo>
                      <a:pt x="60" y="63"/>
                      <a:pt x="61" y="62"/>
                      <a:pt x="59" y="61"/>
                    </a:cubicBezTo>
                    <a:cubicBezTo>
                      <a:pt x="58" y="61"/>
                      <a:pt x="49" y="56"/>
                      <a:pt x="47" y="55"/>
                    </a:cubicBezTo>
                    <a:cubicBezTo>
                      <a:pt x="46" y="54"/>
                      <a:pt x="44" y="52"/>
                      <a:pt x="42" y="52"/>
                    </a:cubicBezTo>
                    <a:cubicBezTo>
                      <a:pt x="40" y="51"/>
                      <a:pt x="39" y="51"/>
                      <a:pt x="39" y="51"/>
                    </a:cubicBezTo>
                    <a:cubicBezTo>
                      <a:pt x="38" y="51"/>
                      <a:pt x="36" y="50"/>
                      <a:pt x="40" y="50"/>
                    </a:cubicBezTo>
                    <a:cubicBezTo>
                      <a:pt x="43" y="49"/>
                      <a:pt x="43" y="49"/>
                      <a:pt x="44" y="49"/>
                    </a:cubicBezTo>
                    <a:cubicBezTo>
                      <a:pt x="44" y="48"/>
                      <a:pt x="44" y="48"/>
                      <a:pt x="44" y="46"/>
                    </a:cubicBezTo>
                    <a:cubicBezTo>
                      <a:pt x="43" y="45"/>
                      <a:pt x="43" y="45"/>
                      <a:pt x="42" y="45"/>
                    </a:cubicBezTo>
                    <a:cubicBezTo>
                      <a:pt x="42" y="46"/>
                      <a:pt x="41" y="44"/>
                      <a:pt x="42" y="43"/>
                    </a:cubicBezTo>
                    <a:cubicBezTo>
                      <a:pt x="43" y="42"/>
                      <a:pt x="46" y="42"/>
                      <a:pt x="47" y="44"/>
                    </a:cubicBezTo>
                    <a:cubicBezTo>
                      <a:pt x="48" y="45"/>
                      <a:pt x="47" y="45"/>
                      <a:pt x="47" y="45"/>
                    </a:cubicBezTo>
                    <a:cubicBezTo>
                      <a:pt x="46" y="46"/>
                      <a:pt x="45" y="46"/>
                      <a:pt x="47" y="46"/>
                    </a:cubicBezTo>
                    <a:cubicBezTo>
                      <a:pt x="49" y="46"/>
                      <a:pt x="50" y="45"/>
                      <a:pt x="49" y="44"/>
                    </a:cubicBezTo>
                    <a:cubicBezTo>
                      <a:pt x="48" y="43"/>
                      <a:pt x="45" y="39"/>
                      <a:pt x="44" y="38"/>
                    </a:cubicBezTo>
                    <a:cubicBezTo>
                      <a:pt x="44" y="37"/>
                      <a:pt x="36" y="30"/>
                      <a:pt x="38" y="25"/>
                    </a:cubicBezTo>
                    <a:cubicBezTo>
                      <a:pt x="40" y="20"/>
                      <a:pt x="40" y="21"/>
                      <a:pt x="41" y="20"/>
                    </a:cubicBezTo>
                    <a:cubicBezTo>
                      <a:pt x="43" y="19"/>
                      <a:pt x="43" y="19"/>
                      <a:pt x="43" y="21"/>
                    </a:cubicBezTo>
                    <a:cubicBezTo>
                      <a:pt x="42" y="23"/>
                      <a:pt x="41" y="22"/>
                      <a:pt x="42" y="23"/>
                    </a:cubicBezTo>
                    <a:cubicBezTo>
                      <a:pt x="43" y="24"/>
                      <a:pt x="45" y="25"/>
                      <a:pt x="46" y="25"/>
                    </a:cubicBezTo>
                    <a:cubicBezTo>
                      <a:pt x="47" y="25"/>
                      <a:pt x="49" y="26"/>
                      <a:pt x="49" y="28"/>
                    </a:cubicBezTo>
                    <a:cubicBezTo>
                      <a:pt x="49" y="30"/>
                      <a:pt x="49" y="29"/>
                      <a:pt x="50" y="30"/>
                    </a:cubicBezTo>
                    <a:cubicBezTo>
                      <a:pt x="50" y="31"/>
                      <a:pt x="49" y="31"/>
                      <a:pt x="51" y="31"/>
                    </a:cubicBezTo>
                    <a:cubicBezTo>
                      <a:pt x="52" y="32"/>
                      <a:pt x="53" y="32"/>
                      <a:pt x="54" y="32"/>
                    </a:cubicBezTo>
                    <a:cubicBezTo>
                      <a:pt x="55" y="32"/>
                      <a:pt x="56" y="32"/>
                      <a:pt x="53" y="31"/>
                    </a:cubicBezTo>
                    <a:cubicBezTo>
                      <a:pt x="51" y="29"/>
                      <a:pt x="50" y="28"/>
                      <a:pt x="50" y="28"/>
                    </a:cubicBezTo>
                    <a:cubicBezTo>
                      <a:pt x="50" y="27"/>
                      <a:pt x="49" y="27"/>
                      <a:pt x="51" y="27"/>
                    </a:cubicBezTo>
                    <a:cubicBezTo>
                      <a:pt x="52" y="26"/>
                      <a:pt x="55" y="26"/>
                      <a:pt x="56" y="28"/>
                    </a:cubicBezTo>
                    <a:cubicBezTo>
                      <a:pt x="57" y="30"/>
                      <a:pt x="56" y="30"/>
                      <a:pt x="57" y="31"/>
                    </a:cubicBezTo>
                    <a:cubicBezTo>
                      <a:pt x="58" y="31"/>
                      <a:pt x="60" y="32"/>
                      <a:pt x="59" y="30"/>
                    </a:cubicBezTo>
                    <a:cubicBezTo>
                      <a:pt x="57" y="29"/>
                      <a:pt x="54" y="25"/>
                      <a:pt x="56" y="24"/>
                    </a:cubicBezTo>
                    <a:cubicBezTo>
                      <a:pt x="56" y="24"/>
                      <a:pt x="57" y="24"/>
                      <a:pt x="59" y="25"/>
                    </a:cubicBezTo>
                    <a:cubicBezTo>
                      <a:pt x="60" y="26"/>
                      <a:pt x="62" y="26"/>
                      <a:pt x="59" y="24"/>
                    </a:cubicBezTo>
                    <a:cubicBezTo>
                      <a:pt x="57" y="23"/>
                      <a:pt x="56" y="20"/>
                      <a:pt x="56" y="18"/>
                    </a:cubicBezTo>
                    <a:cubicBezTo>
                      <a:pt x="55" y="17"/>
                      <a:pt x="56" y="17"/>
                      <a:pt x="58" y="16"/>
                    </a:cubicBezTo>
                    <a:cubicBezTo>
                      <a:pt x="61" y="15"/>
                      <a:pt x="65" y="13"/>
                      <a:pt x="69" y="14"/>
                    </a:cubicBezTo>
                    <a:cubicBezTo>
                      <a:pt x="73" y="15"/>
                      <a:pt x="73" y="14"/>
                      <a:pt x="75" y="13"/>
                    </a:cubicBezTo>
                    <a:cubicBezTo>
                      <a:pt x="76" y="13"/>
                      <a:pt x="77" y="13"/>
                      <a:pt x="79" y="14"/>
                    </a:cubicBezTo>
                    <a:cubicBezTo>
                      <a:pt x="80" y="14"/>
                      <a:pt x="87" y="17"/>
                      <a:pt x="89" y="17"/>
                    </a:cubicBezTo>
                    <a:cubicBezTo>
                      <a:pt x="89" y="17"/>
                      <a:pt x="90" y="17"/>
                      <a:pt x="90" y="17"/>
                    </a:cubicBezTo>
                    <a:cubicBezTo>
                      <a:pt x="91" y="17"/>
                      <a:pt x="91" y="17"/>
                      <a:pt x="91" y="17"/>
                    </a:cubicBezTo>
                    <a:cubicBezTo>
                      <a:pt x="91" y="17"/>
                      <a:pt x="91" y="16"/>
                      <a:pt x="92" y="1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60" name="Freeform 1072">
                <a:extLst>
                  <a:ext uri="{FF2B5EF4-FFF2-40B4-BE49-F238E27FC236}">
                    <a16:creationId xmlns:a16="http://schemas.microsoft.com/office/drawing/2014/main" id="{043D7F74-B12A-4206-B13E-4F50B6F1542D}"/>
                  </a:ext>
                </a:extLst>
              </p:cNvPr>
              <p:cNvSpPr>
                <a:spLocks/>
              </p:cNvSpPr>
              <p:nvPr/>
            </p:nvSpPr>
            <p:spPr bwMode="auto">
              <a:xfrm>
                <a:off x="3798" y="1697"/>
                <a:ext cx="3" cy="13"/>
              </a:xfrm>
              <a:custGeom>
                <a:avLst/>
                <a:gdLst>
                  <a:gd name="T0" fmla="*/ 2 w 2"/>
                  <a:gd name="T1" fmla="*/ 1 h 10"/>
                  <a:gd name="T2" fmla="*/ 1 w 2"/>
                  <a:gd name="T3" fmla="*/ 2 h 10"/>
                  <a:gd name="T4" fmla="*/ 1 w 2"/>
                  <a:gd name="T5" fmla="*/ 5 h 10"/>
                  <a:gd name="T6" fmla="*/ 2 w 2"/>
                  <a:gd name="T7" fmla="*/ 1 h 10"/>
                </a:gdLst>
                <a:ahLst/>
                <a:cxnLst>
                  <a:cxn ang="0">
                    <a:pos x="T0" y="T1"/>
                  </a:cxn>
                  <a:cxn ang="0">
                    <a:pos x="T2" y="T3"/>
                  </a:cxn>
                  <a:cxn ang="0">
                    <a:pos x="T4" y="T5"/>
                  </a:cxn>
                  <a:cxn ang="0">
                    <a:pos x="T6" y="T7"/>
                  </a:cxn>
                </a:cxnLst>
                <a:rect l="0" t="0" r="r" b="b"/>
                <a:pathLst>
                  <a:path w="2" h="10">
                    <a:moveTo>
                      <a:pt x="2" y="1"/>
                    </a:moveTo>
                    <a:cubicBezTo>
                      <a:pt x="1" y="0"/>
                      <a:pt x="0" y="0"/>
                      <a:pt x="1" y="2"/>
                    </a:cubicBezTo>
                    <a:cubicBezTo>
                      <a:pt x="1" y="2"/>
                      <a:pt x="2" y="10"/>
                      <a:pt x="1" y="5"/>
                    </a:cubicBezTo>
                    <a:cubicBezTo>
                      <a:pt x="1" y="5"/>
                      <a:pt x="2" y="2"/>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61" name="Freeform 1073">
                <a:extLst>
                  <a:ext uri="{FF2B5EF4-FFF2-40B4-BE49-F238E27FC236}">
                    <a16:creationId xmlns:a16="http://schemas.microsoft.com/office/drawing/2014/main" id="{2A68325C-BA4F-4461-B4AD-79853D24A6EF}"/>
                  </a:ext>
                </a:extLst>
              </p:cNvPr>
              <p:cNvSpPr>
                <a:spLocks/>
              </p:cNvSpPr>
              <p:nvPr/>
            </p:nvSpPr>
            <p:spPr bwMode="auto">
              <a:xfrm>
                <a:off x="3799" y="1693"/>
                <a:ext cx="9" cy="6"/>
              </a:xfrm>
              <a:custGeom>
                <a:avLst/>
                <a:gdLst>
                  <a:gd name="T0" fmla="*/ 3 w 6"/>
                  <a:gd name="T1" fmla="*/ 1 h 5"/>
                  <a:gd name="T2" fmla="*/ 1 w 6"/>
                  <a:gd name="T3" fmla="*/ 1 h 5"/>
                  <a:gd name="T4" fmla="*/ 1 w 6"/>
                  <a:gd name="T5" fmla="*/ 3 h 5"/>
                  <a:gd name="T6" fmla="*/ 4 w 6"/>
                  <a:gd name="T7" fmla="*/ 5 h 5"/>
                  <a:gd name="T8" fmla="*/ 3 w 6"/>
                  <a:gd name="T9" fmla="*/ 1 h 5"/>
                </a:gdLst>
                <a:ahLst/>
                <a:cxnLst>
                  <a:cxn ang="0">
                    <a:pos x="T0" y="T1"/>
                  </a:cxn>
                  <a:cxn ang="0">
                    <a:pos x="T2" y="T3"/>
                  </a:cxn>
                  <a:cxn ang="0">
                    <a:pos x="T4" y="T5"/>
                  </a:cxn>
                  <a:cxn ang="0">
                    <a:pos x="T6" y="T7"/>
                  </a:cxn>
                  <a:cxn ang="0">
                    <a:pos x="T8" y="T9"/>
                  </a:cxn>
                </a:cxnLst>
                <a:rect l="0" t="0" r="r" b="b"/>
                <a:pathLst>
                  <a:path w="6" h="5">
                    <a:moveTo>
                      <a:pt x="3" y="1"/>
                    </a:moveTo>
                    <a:cubicBezTo>
                      <a:pt x="2" y="0"/>
                      <a:pt x="2" y="1"/>
                      <a:pt x="1" y="1"/>
                    </a:cubicBezTo>
                    <a:cubicBezTo>
                      <a:pt x="1" y="2"/>
                      <a:pt x="1" y="3"/>
                      <a:pt x="1" y="3"/>
                    </a:cubicBezTo>
                    <a:cubicBezTo>
                      <a:pt x="0" y="3"/>
                      <a:pt x="3" y="4"/>
                      <a:pt x="4" y="5"/>
                    </a:cubicBezTo>
                    <a:cubicBezTo>
                      <a:pt x="6" y="5"/>
                      <a:pt x="4" y="2"/>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62" name="Freeform 1074">
                <a:extLst>
                  <a:ext uri="{FF2B5EF4-FFF2-40B4-BE49-F238E27FC236}">
                    <a16:creationId xmlns:a16="http://schemas.microsoft.com/office/drawing/2014/main" id="{D240017F-7036-4DAE-8352-0BB7EBACC8DD}"/>
                  </a:ext>
                </a:extLst>
              </p:cNvPr>
              <p:cNvSpPr>
                <a:spLocks/>
              </p:cNvSpPr>
              <p:nvPr/>
            </p:nvSpPr>
            <p:spPr bwMode="auto">
              <a:xfrm>
                <a:off x="3809" y="1709"/>
                <a:ext cx="7" cy="8"/>
              </a:xfrm>
              <a:custGeom>
                <a:avLst/>
                <a:gdLst>
                  <a:gd name="T0" fmla="*/ 4 w 5"/>
                  <a:gd name="T1" fmla="*/ 4 h 6"/>
                  <a:gd name="T2" fmla="*/ 1 w 5"/>
                  <a:gd name="T3" fmla="*/ 1 h 6"/>
                  <a:gd name="T4" fmla="*/ 4 w 5"/>
                  <a:gd name="T5" fmla="*/ 4 h 6"/>
                </a:gdLst>
                <a:ahLst/>
                <a:cxnLst>
                  <a:cxn ang="0">
                    <a:pos x="T0" y="T1"/>
                  </a:cxn>
                  <a:cxn ang="0">
                    <a:pos x="T2" y="T3"/>
                  </a:cxn>
                  <a:cxn ang="0">
                    <a:pos x="T4" y="T5"/>
                  </a:cxn>
                </a:cxnLst>
                <a:rect l="0" t="0" r="r" b="b"/>
                <a:pathLst>
                  <a:path w="5" h="6">
                    <a:moveTo>
                      <a:pt x="4" y="4"/>
                    </a:moveTo>
                    <a:cubicBezTo>
                      <a:pt x="3" y="1"/>
                      <a:pt x="0" y="0"/>
                      <a:pt x="1" y="1"/>
                    </a:cubicBezTo>
                    <a:cubicBezTo>
                      <a:pt x="1" y="1"/>
                      <a:pt x="5" y="6"/>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63" name="Freeform 1075">
                <a:extLst>
                  <a:ext uri="{FF2B5EF4-FFF2-40B4-BE49-F238E27FC236}">
                    <a16:creationId xmlns:a16="http://schemas.microsoft.com/office/drawing/2014/main" id="{B2E85F23-6999-432B-BC6B-DB0E6658D9CF}"/>
                  </a:ext>
                </a:extLst>
              </p:cNvPr>
              <p:cNvSpPr>
                <a:spLocks/>
              </p:cNvSpPr>
              <p:nvPr/>
            </p:nvSpPr>
            <p:spPr bwMode="auto">
              <a:xfrm>
                <a:off x="3838" y="1736"/>
                <a:ext cx="12" cy="6"/>
              </a:xfrm>
              <a:custGeom>
                <a:avLst/>
                <a:gdLst>
                  <a:gd name="T0" fmla="*/ 7 w 9"/>
                  <a:gd name="T1" fmla="*/ 3 h 4"/>
                  <a:gd name="T2" fmla="*/ 6 w 9"/>
                  <a:gd name="T3" fmla="*/ 2 h 4"/>
                  <a:gd name="T4" fmla="*/ 3 w 9"/>
                  <a:gd name="T5" fmla="*/ 3 h 4"/>
                  <a:gd name="T6" fmla="*/ 7 w 9"/>
                  <a:gd name="T7" fmla="*/ 3 h 4"/>
                </a:gdLst>
                <a:ahLst/>
                <a:cxnLst>
                  <a:cxn ang="0">
                    <a:pos x="T0" y="T1"/>
                  </a:cxn>
                  <a:cxn ang="0">
                    <a:pos x="T2" y="T3"/>
                  </a:cxn>
                  <a:cxn ang="0">
                    <a:pos x="T4" y="T5"/>
                  </a:cxn>
                  <a:cxn ang="0">
                    <a:pos x="T6" y="T7"/>
                  </a:cxn>
                </a:cxnLst>
                <a:rect l="0" t="0" r="r" b="b"/>
                <a:pathLst>
                  <a:path w="9" h="4">
                    <a:moveTo>
                      <a:pt x="7" y="3"/>
                    </a:moveTo>
                    <a:cubicBezTo>
                      <a:pt x="8" y="3"/>
                      <a:pt x="9" y="2"/>
                      <a:pt x="6" y="2"/>
                    </a:cubicBezTo>
                    <a:cubicBezTo>
                      <a:pt x="4" y="1"/>
                      <a:pt x="0" y="0"/>
                      <a:pt x="3" y="3"/>
                    </a:cubicBezTo>
                    <a:cubicBezTo>
                      <a:pt x="3" y="3"/>
                      <a:pt x="6" y="4"/>
                      <a:pt x="7"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64" name="Freeform 1076">
                <a:extLst>
                  <a:ext uri="{FF2B5EF4-FFF2-40B4-BE49-F238E27FC236}">
                    <a16:creationId xmlns:a16="http://schemas.microsoft.com/office/drawing/2014/main" id="{FDB879D1-DA53-4ED4-A963-03B28AB1D869}"/>
                  </a:ext>
                </a:extLst>
              </p:cNvPr>
              <p:cNvSpPr>
                <a:spLocks/>
              </p:cNvSpPr>
              <p:nvPr/>
            </p:nvSpPr>
            <p:spPr bwMode="auto">
              <a:xfrm>
                <a:off x="3837" y="1741"/>
                <a:ext cx="19" cy="4"/>
              </a:xfrm>
              <a:custGeom>
                <a:avLst/>
                <a:gdLst>
                  <a:gd name="T0" fmla="*/ 4 w 14"/>
                  <a:gd name="T1" fmla="*/ 2 h 3"/>
                  <a:gd name="T2" fmla="*/ 12 w 14"/>
                  <a:gd name="T3" fmla="*/ 3 h 3"/>
                  <a:gd name="T4" fmla="*/ 9 w 14"/>
                  <a:gd name="T5" fmla="*/ 2 h 3"/>
                  <a:gd name="T6" fmla="*/ 4 w 14"/>
                  <a:gd name="T7" fmla="*/ 2 h 3"/>
                </a:gdLst>
                <a:ahLst/>
                <a:cxnLst>
                  <a:cxn ang="0">
                    <a:pos x="T0" y="T1"/>
                  </a:cxn>
                  <a:cxn ang="0">
                    <a:pos x="T2" y="T3"/>
                  </a:cxn>
                  <a:cxn ang="0">
                    <a:pos x="T4" y="T5"/>
                  </a:cxn>
                  <a:cxn ang="0">
                    <a:pos x="T6" y="T7"/>
                  </a:cxn>
                </a:cxnLst>
                <a:rect l="0" t="0" r="r" b="b"/>
                <a:pathLst>
                  <a:path w="14" h="3">
                    <a:moveTo>
                      <a:pt x="4" y="2"/>
                    </a:moveTo>
                    <a:cubicBezTo>
                      <a:pt x="4" y="2"/>
                      <a:pt x="10" y="3"/>
                      <a:pt x="12" y="3"/>
                    </a:cubicBezTo>
                    <a:cubicBezTo>
                      <a:pt x="14" y="3"/>
                      <a:pt x="13" y="3"/>
                      <a:pt x="9" y="2"/>
                    </a:cubicBezTo>
                    <a:cubicBezTo>
                      <a:pt x="6" y="1"/>
                      <a:pt x="0" y="0"/>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65" name="Freeform 1077">
                <a:extLst>
                  <a:ext uri="{FF2B5EF4-FFF2-40B4-BE49-F238E27FC236}">
                    <a16:creationId xmlns:a16="http://schemas.microsoft.com/office/drawing/2014/main" id="{C2EF231D-AB02-4AE1-A03F-4BD6440039C7}"/>
                  </a:ext>
                </a:extLst>
              </p:cNvPr>
              <p:cNvSpPr>
                <a:spLocks/>
              </p:cNvSpPr>
              <p:nvPr/>
            </p:nvSpPr>
            <p:spPr bwMode="auto">
              <a:xfrm>
                <a:off x="3845" y="1749"/>
                <a:ext cx="11" cy="1"/>
              </a:xfrm>
              <a:custGeom>
                <a:avLst/>
                <a:gdLst>
                  <a:gd name="T0" fmla="*/ 2 w 8"/>
                  <a:gd name="T1" fmla="*/ 0 h 1"/>
                  <a:gd name="T2" fmla="*/ 5 w 8"/>
                  <a:gd name="T3" fmla="*/ 1 h 1"/>
                  <a:gd name="T4" fmla="*/ 4 w 8"/>
                  <a:gd name="T5" fmla="*/ 0 h 1"/>
                  <a:gd name="T6" fmla="*/ 2 w 8"/>
                  <a:gd name="T7" fmla="*/ 0 h 1"/>
                </a:gdLst>
                <a:ahLst/>
                <a:cxnLst>
                  <a:cxn ang="0">
                    <a:pos x="T0" y="T1"/>
                  </a:cxn>
                  <a:cxn ang="0">
                    <a:pos x="T2" y="T3"/>
                  </a:cxn>
                  <a:cxn ang="0">
                    <a:pos x="T4" y="T5"/>
                  </a:cxn>
                  <a:cxn ang="0">
                    <a:pos x="T6" y="T7"/>
                  </a:cxn>
                </a:cxnLst>
                <a:rect l="0" t="0" r="r" b="b"/>
                <a:pathLst>
                  <a:path w="8" h="1">
                    <a:moveTo>
                      <a:pt x="2" y="0"/>
                    </a:moveTo>
                    <a:cubicBezTo>
                      <a:pt x="2" y="0"/>
                      <a:pt x="3" y="1"/>
                      <a:pt x="5" y="1"/>
                    </a:cubicBezTo>
                    <a:cubicBezTo>
                      <a:pt x="7" y="1"/>
                      <a:pt x="8" y="0"/>
                      <a:pt x="4" y="0"/>
                    </a:cubicBezTo>
                    <a:cubicBezTo>
                      <a:pt x="0" y="0"/>
                      <a:pt x="2"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66" name="Freeform 1078">
                <a:extLst>
                  <a:ext uri="{FF2B5EF4-FFF2-40B4-BE49-F238E27FC236}">
                    <a16:creationId xmlns:a16="http://schemas.microsoft.com/office/drawing/2014/main" id="{6536D36F-C31E-4E06-B9FA-5BC2376B44BE}"/>
                  </a:ext>
                </a:extLst>
              </p:cNvPr>
              <p:cNvSpPr>
                <a:spLocks/>
              </p:cNvSpPr>
              <p:nvPr/>
            </p:nvSpPr>
            <p:spPr bwMode="auto">
              <a:xfrm>
                <a:off x="3860" y="1753"/>
                <a:ext cx="6" cy="3"/>
              </a:xfrm>
              <a:custGeom>
                <a:avLst/>
                <a:gdLst>
                  <a:gd name="T0" fmla="*/ 3 w 4"/>
                  <a:gd name="T1" fmla="*/ 1 h 2"/>
                  <a:gd name="T2" fmla="*/ 0 w 4"/>
                  <a:gd name="T3" fmla="*/ 0 h 2"/>
                  <a:gd name="T4" fmla="*/ 3 w 4"/>
                  <a:gd name="T5" fmla="*/ 1 h 2"/>
                </a:gdLst>
                <a:ahLst/>
                <a:cxnLst>
                  <a:cxn ang="0">
                    <a:pos x="T0" y="T1"/>
                  </a:cxn>
                  <a:cxn ang="0">
                    <a:pos x="T2" y="T3"/>
                  </a:cxn>
                  <a:cxn ang="0">
                    <a:pos x="T4" y="T5"/>
                  </a:cxn>
                </a:cxnLst>
                <a:rect l="0" t="0" r="r" b="b"/>
                <a:pathLst>
                  <a:path w="4" h="2">
                    <a:moveTo>
                      <a:pt x="3" y="1"/>
                    </a:moveTo>
                    <a:cubicBezTo>
                      <a:pt x="4" y="2"/>
                      <a:pt x="2" y="0"/>
                      <a:pt x="0" y="0"/>
                    </a:cubicBezTo>
                    <a:cubicBezTo>
                      <a:pt x="0" y="0"/>
                      <a:pt x="1" y="1"/>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67" name="Freeform 1079">
                <a:extLst>
                  <a:ext uri="{FF2B5EF4-FFF2-40B4-BE49-F238E27FC236}">
                    <a16:creationId xmlns:a16="http://schemas.microsoft.com/office/drawing/2014/main" id="{55B781E7-0D4F-4D5C-A8C4-B5969D69AAF8}"/>
                  </a:ext>
                </a:extLst>
              </p:cNvPr>
              <p:cNvSpPr>
                <a:spLocks/>
              </p:cNvSpPr>
              <p:nvPr/>
            </p:nvSpPr>
            <p:spPr bwMode="auto">
              <a:xfrm>
                <a:off x="3855" y="1747"/>
                <a:ext cx="27" cy="14"/>
              </a:xfrm>
              <a:custGeom>
                <a:avLst/>
                <a:gdLst>
                  <a:gd name="T0" fmla="*/ 6 w 20"/>
                  <a:gd name="T1" fmla="*/ 2 h 10"/>
                  <a:gd name="T2" fmla="*/ 3 w 20"/>
                  <a:gd name="T3" fmla="*/ 2 h 10"/>
                  <a:gd name="T4" fmla="*/ 19 w 20"/>
                  <a:gd name="T5" fmla="*/ 9 h 10"/>
                  <a:gd name="T6" fmla="*/ 19 w 20"/>
                  <a:gd name="T7" fmla="*/ 8 h 10"/>
                  <a:gd name="T8" fmla="*/ 19 w 20"/>
                  <a:gd name="T9" fmla="*/ 8 h 10"/>
                  <a:gd name="T10" fmla="*/ 8 w 20"/>
                  <a:gd name="T11" fmla="*/ 2 h 10"/>
                  <a:gd name="T12" fmla="*/ 6 w 20"/>
                  <a:gd name="T13" fmla="*/ 2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6" y="2"/>
                    </a:moveTo>
                    <a:cubicBezTo>
                      <a:pt x="3" y="1"/>
                      <a:pt x="0" y="0"/>
                      <a:pt x="3" y="2"/>
                    </a:cubicBezTo>
                    <a:cubicBezTo>
                      <a:pt x="7" y="3"/>
                      <a:pt x="18" y="9"/>
                      <a:pt x="19" y="9"/>
                    </a:cubicBezTo>
                    <a:cubicBezTo>
                      <a:pt x="20" y="10"/>
                      <a:pt x="20" y="10"/>
                      <a:pt x="19" y="8"/>
                    </a:cubicBezTo>
                    <a:cubicBezTo>
                      <a:pt x="19" y="8"/>
                      <a:pt x="19" y="8"/>
                      <a:pt x="19" y="8"/>
                    </a:cubicBezTo>
                    <a:cubicBezTo>
                      <a:pt x="8" y="2"/>
                      <a:pt x="8" y="2"/>
                      <a:pt x="8" y="2"/>
                    </a:cubicBezTo>
                    <a:cubicBezTo>
                      <a:pt x="8" y="2"/>
                      <a:pt x="8" y="3"/>
                      <a:pt x="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68" name="Freeform 1080">
                <a:extLst>
                  <a:ext uri="{FF2B5EF4-FFF2-40B4-BE49-F238E27FC236}">
                    <a16:creationId xmlns:a16="http://schemas.microsoft.com/office/drawing/2014/main" id="{35F69F85-80C4-4E09-8988-3A03D6574C0D}"/>
                  </a:ext>
                </a:extLst>
              </p:cNvPr>
              <p:cNvSpPr>
                <a:spLocks/>
              </p:cNvSpPr>
              <p:nvPr/>
            </p:nvSpPr>
            <p:spPr bwMode="auto">
              <a:xfrm>
                <a:off x="3780" y="1658"/>
                <a:ext cx="122" cy="91"/>
              </a:xfrm>
              <a:custGeom>
                <a:avLst/>
                <a:gdLst>
                  <a:gd name="T0" fmla="*/ 42 w 88"/>
                  <a:gd name="T1" fmla="*/ 0 h 66"/>
                  <a:gd name="T2" fmla="*/ 41 w 88"/>
                  <a:gd name="T3" fmla="*/ 3 h 66"/>
                  <a:gd name="T4" fmla="*/ 39 w 88"/>
                  <a:gd name="T5" fmla="*/ 3 h 66"/>
                  <a:gd name="T6" fmla="*/ 37 w 88"/>
                  <a:gd name="T7" fmla="*/ 5 h 66"/>
                  <a:gd name="T8" fmla="*/ 34 w 88"/>
                  <a:gd name="T9" fmla="*/ 6 h 66"/>
                  <a:gd name="T10" fmla="*/ 32 w 88"/>
                  <a:gd name="T11" fmla="*/ 8 h 66"/>
                  <a:gd name="T12" fmla="*/ 33 w 88"/>
                  <a:gd name="T13" fmla="*/ 11 h 66"/>
                  <a:gd name="T14" fmla="*/ 29 w 88"/>
                  <a:gd name="T15" fmla="*/ 14 h 66"/>
                  <a:gd name="T16" fmla="*/ 26 w 88"/>
                  <a:gd name="T17" fmla="*/ 16 h 66"/>
                  <a:gd name="T18" fmla="*/ 28 w 88"/>
                  <a:gd name="T19" fmla="*/ 17 h 66"/>
                  <a:gd name="T20" fmla="*/ 27 w 88"/>
                  <a:gd name="T21" fmla="*/ 19 h 66"/>
                  <a:gd name="T22" fmla="*/ 26 w 88"/>
                  <a:gd name="T23" fmla="*/ 21 h 66"/>
                  <a:gd name="T24" fmla="*/ 23 w 88"/>
                  <a:gd name="T25" fmla="*/ 20 h 66"/>
                  <a:gd name="T26" fmla="*/ 20 w 88"/>
                  <a:gd name="T27" fmla="*/ 20 h 66"/>
                  <a:gd name="T28" fmla="*/ 18 w 88"/>
                  <a:gd name="T29" fmla="*/ 18 h 66"/>
                  <a:gd name="T30" fmla="*/ 15 w 88"/>
                  <a:gd name="T31" fmla="*/ 18 h 66"/>
                  <a:gd name="T32" fmla="*/ 10 w 88"/>
                  <a:gd name="T33" fmla="*/ 20 h 66"/>
                  <a:gd name="T34" fmla="*/ 8 w 88"/>
                  <a:gd name="T35" fmla="*/ 20 h 66"/>
                  <a:gd name="T36" fmla="*/ 3 w 88"/>
                  <a:gd name="T37" fmla="*/ 20 h 66"/>
                  <a:gd name="T38" fmla="*/ 2 w 88"/>
                  <a:gd name="T39" fmla="*/ 21 h 66"/>
                  <a:gd name="T40" fmla="*/ 2 w 88"/>
                  <a:gd name="T41" fmla="*/ 26 h 66"/>
                  <a:gd name="T42" fmla="*/ 5 w 88"/>
                  <a:gd name="T43" fmla="*/ 31 h 66"/>
                  <a:gd name="T44" fmla="*/ 9 w 88"/>
                  <a:gd name="T45" fmla="*/ 29 h 66"/>
                  <a:gd name="T46" fmla="*/ 14 w 88"/>
                  <a:gd name="T47" fmla="*/ 23 h 66"/>
                  <a:gd name="T48" fmla="*/ 21 w 88"/>
                  <a:gd name="T49" fmla="*/ 30 h 66"/>
                  <a:gd name="T50" fmla="*/ 31 w 88"/>
                  <a:gd name="T51" fmla="*/ 44 h 66"/>
                  <a:gd name="T52" fmla="*/ 26 w 88"/>
                  <a:gd name="T53" fmla="*/ 42 h 66"/>
                  <a:gd name="T54" fmla="*/ 35 w 88"/>
                  <a:gd name="T55" fmla="*/ 52 h 66"/>
                  <a:gd name="T56" fmla="*/ 39 w 88"/>
                  <a:gd name="T57" fmla="*/ 56 h 66"/>
                  <a:gd name="T58" fmla="*/ 49 w 88"/>
                  <a:gd name="T59" fmla="*/ 58 h 66"/>
                  <a:gd name="T60" fmla="*/ 61 w 88"/>
                  <a:gd name="T61" fmla="*/ 66 h 66"/>
                  <a:gd name="T62" fmla="*/ 62 w 88"/>
                  <a:gd name="T63" fmla="*/ 65 h 66"/>
                  <a:gd name="T64" fmla="*/ 56 w 88"/>
                  <a:gd name="T65" fmla="*/ 57 h 66"/>
                  <a:gd name="T66" fmla="*/ 42 w 88"/>
                  <a:gd name="T67" fmla="*/ 44 h 66"/>
                  <a:gd name="T68" fmla="*/ 38 w 88"/>
                  <a:gd name="T69" fmla="*/ 36 h 66"/>
                  <a:gd name="T70" fmla="*/ 34 w 88"/>
                  <a:gd name="T71" fmla="*/ 31 h 66"/>
                  <a:gd name="T72" fmla="*/ 34 w 88"/>
                  <a:gd name="T73" fmla="*/ 26 h 66"/>
                  <a:gd name="T74" fmla="*/ 39 w 88"/>
                  <a:gd name="T75" fmla="*/ 26 h 66"/>
                  <a:gd name="T76" fmla="*/ 43 w 88"/>
                  <a:gd name="T77" fmla="*/ 28 h 66"/>
                  <a:gd name="T78" fmla="*/ 49 w 88"/>
                  <a:gd name="T79" fmla="*/ 25 h 66"/>
                  <a:gd name="T80" fmla="*/ 51 w 88"/>
                  <a:gd name="T81" fmla="*/ 24 h 66"/>
                  <a:gd name="T82" fmla="*/ 73 w 88"/>
                  <a:gd name="T83" fmla="*/ 28 h 66"/>
                  <a:gd name="T84" fmla="*/ 76 w 88"/>
                  <a:gd name="T85" fmla="*/ 28 h 66"/>
                  <a:gd name="T86" fmla="*/ 78 w 88"/>
                  <a:gd name="T87" fmla="*/ 29 h 66"/>
                  <a:gd name="T88" fmla="*/ 82 w 88"/>
                  <a:gd name="T89" fmla="*/ 31 h 66"/>
                  <a:gd name="T90" fmla="*/ 83 w 88"/>
                  <a:gd name="T91" fmla="*/ 27 h 66"/>
                  <a:gd name="T92" fmla="*/ 87 w 88"/>
                  <a:gd name="T93" fmla="*/ 24 h 66"/>
                  <a:gd name="T94" fmla="*/ 83 w 88"/>
                  <a:gd name="T95" fmla="*/ 20 h 66"/>
                  <a:gd name="T96" fmla="*/ 80 w 88"/>
                  <a:gd name="T97" fmla="*/ 18 h 66"/>
                  <a:gd name="T98" fmla="*/ 80 w 88"/>
                  <a:gd name="T99" fmla="*/ 14 h 66"/>
                  <a:gd name="T100" fmla="*/ 80 w 88"/>
                  <a:gd name="T101" fmla="*/ 12 h 66"/>
                  <a:gd name="T102" fmla="*/ 70 w 88"/>
                  <a:gd name="T103" fmla="*/ 15 h 66"/>
                  <a:gd name="T104" fmla="*/ 63 w 88"/>
                  <a:gd name="T105" fmla="*/ 14 h 66"/>
                  <a:gd name="T106" fmla="*/ 57 w 88"/>
                  <a:gd name="T107" fmla="*/ 11 h 66"/>
                  <a:gd name="T108" fmla="*/ 50 w 88"/>
                  <a:gd name="T109" fmla="*/ 4 h 66"/>
                  <a:gd name="T110" fmla="*/ 48 w 88"/>
                  <a:gd name="T111" fmla="*/ 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66">
                    <a:moveTo>
                      <a:pt x="46" y="1"/>
                    </a:moveTo>
                    <a:cubicBezTo>
                      <a:pt x="44" y="1"/>
                      <a:pt x="42" y="0"/>
                      <a:pt x="42" y="0"/>
                    </a:cubicBezTo>
                    <a:cubicBezTo>
                      <a:pt x="42" y="1"/>
                      <a:pt x="41" y="1"/>
                      <a:pt x="41" y="1"/>
                    </a:cubicBezTo>
                    <a:cubicBezTo>
                      <a:pt x="41" y="1"/>
                      <a:pt x="41" y="2"/>
                      <a:pt x="41" y="3"/>
                    </a:cubicBezTo>
                    <a:cubicBezTo>
                      <a:pt x="41" y="3"/>
                      <a:pt x="41" y="3"/>
                      <a:pt x="41" y="3"/>
                    </a:cubicBezTo>
                    <a:cubicBezTo>
                      <a:pt x="41" y="3"/>
                      <a:pt x="40" y="3"/>
                      <a:pt x="39" y="3"/>
                    </a:cubicBezTo>
                    <a:cubicBezTo>
                      <a:pt x="38" y="4"/>
                      <a:pt x="38" y="4"/>
                      <a:pt x="38" y="4"/>
                    </a:cubicBezTo>
                    <a:cubicBezTo>
                      <a:pt x="38" y="5"/>
                      <a:pt x="38" y="5"/>
                      <a:pt x="37" y="5"/>
                    </a:cubicBezTo>
                    <a:cubicBezTo>
                      <a:pt x="37" y="5"/>
                      <a:pt x="36" y="5"/>
                      <a:pt x="35" y="5"/>
                    </a:cubicBezTo>
                    <a:cubicBezTo>
                      <a:pt x="35" y="5"/>
                      <a:pt x="34" y="6"/>
                      <a:pt x="34" y="6"/>
                    </a:cubicBezTo>
                    <a:cubicBezTo>
                      <a:pt x="33" y="6"/>
                      <a:pt x="33" y="6"/>
                      <a:pt x="32" y="6"/>
                    </a:cubicBezTo>
                    <a:cubicBezTo>
                      <a:pt x="32" y="7"/>
                      <a:pt x="32" y="8"/>
                      <a:pt x="32" y="8"/>
                    </a:cubicBezTo>
                    <a:cubicBezTo>
                      <a:pt x="32" y="9"/>
                      <a:pt x="32" y="9"/>
                      <a:pt x="33" y="10"/>
                    </a:cubicBezTo>
                    <a:cubicBezTo>
                      <a:pt x="33" y="10"/>
                      <a:pt x="33" y="10"/>
                      <a:pt x="33" y="11"/>
                    </a:cubicBezTo>
                    <a:cubicBezTo>
                      <a:pt x="32" y="12"/>
                      <a:pt x="31" y="13"/>
                      <a:pt x="31" y="13"/>
                    </a:cubicBezTo>
                    <a:cubicBezTo>
                      <a:pt x="30" y="14"/>
                      <a:pt x="29" y="14"/>
                      <a:pt x="29" y="14"/>
                    </a:cubicBezTo>
                    <a:cubicBezTo>
                      <a:pt x="28" y="15"/>
                      <a:pt x="28" y="15"/>
                      <a:pt x="27" y="15"/>
                    </a:cubicBezTo>
                    <a:cubicBezTo>
                      <a:pt x="26" y="16"/>
                      <a:pt x="26" y="16"/>
                      <a:pt x="26" y="16"/>
                    </a:cubicBezTo>
                    <a:cubicBezTo>
                      <a:pt x="26" y="16"/>
                      <a:pt x="28" y="16"/>
                      <a:pt x="28" y="17"/>
                    </a:cubicBezTo>
                    <a:cubicBezTo>
                      <a:pt x="28" y="17"/>
                      <a:pt x="28" y="17"/>
                      <a:pt x="28" y="17"/>
                    </a:cubicBezTo>
                    <a:cubicBezTo>
                      <a:pt x="28" y="17"/>
                      <a:pt x="27" y="18"/>
                      <a:pt x="27" y="18"/>
                    </a:cubicBezTo>
                    <a:cubicBezTo>
                      <a:pt x="27" y="18"/>
                      <a:pt x="27" y="19"/>
                      <a:pt x="27" y="19"/>
                    </a:cubicBezTo>
                    <a:cubicBezTo>
                      <a:pt x="28" y="20"/>
                      <a:pt x="27" y="20"/>
                      <a:pt x="27" y="20"/>
                    </a:cubicBezTo>
                    <a:cubicBezTo>
                      <a:pt x="27" y="20"/>
                      <a:pt x="26" y="21"/>
                      <a:pt x="26" y="21"/>
                    </a:cubicBezTo>
                    <a:cubicBezTo>
                      <a:pt x="26" y="21"/>
                      <a:pt x="25" y="21"/>
                      <a:pt x="25" y="20"/>
                    </a:cubicBezTo>
                    <a:cubicBezTo>
                      <a:pt x="24" y="20"/>
                      <a:pt x="24" y="20"/>
                      <a:pt x="23" y="20"/>
                    </a:cubicBezTo>
                    <a:cubicBezTo>
                      <a:pt x="23" y="20"/>
                      <a:pt x="22" y="20"/>
                      <a:pt x="22" y="20"/>
                    </a:cubicBezTo>
                    <a:cubicBezTo>
                      <a:pt x="22" y="19"/>
                      <a:pt x="20" y="19"/>
                      <a:pt x="20" y="20"/>
                    </a:cubicBezTo>
                    <a:cubicBezTo>
                      <a:pt x="19" y="20"/>
                      <a:pt x="19" y="20"/>
                      <a:pt x="18" y="19"/>
                    </a:cubicBezTo>
                    <a:cubicBezTo>
                      <a:pt x="18" y="19"/>
                      <a:pt x="18" y="19"/>
                      <a:pt x="18" y="18"/>
                    </a:cubicBezTo>
                    <a:cubicBezTo>
                      <a:pt x="18" y="18"/>
                      <a:pt x="17" y="17"/>
                      <a:pt x="16" y="17"/>
                    </a:cubicBezTo>
                    <a:cubicBezTo>
                      <a:pt x="16" y="17"/>
                      <a:pt x="16" y="17"/>
                      <a:pt x="15" y="18"/>
                    </a:cubicBezTo>
                    <a:cubicBezTo>
                      <a:pt x="15" y="18"/>
                      <a:pt x="15" y="18"/>
                      <a:pt x="15" y="18"/>
                    </a:cubicBezTo>
                    <a:cubicBezTo>
                      <a:pt x="15" y="18"/>
                      <a:pt x="11" y="20"/>
                      <a:pt x="10" y="20"/>
                    </a:cubicBezTo>
                    <a:cubicBezTo>
                      <a:pt x="9" y="20"/>
                      <a:pt x="9" y="20"/>
                      <a:pt x="9" y="20"/>
                    </a:cubicBezTo>
                    <a:cubicBezTo>
                      <a:pt x="9" y="20"/>
                      <a:pt x="8" y="20"/>
                      <a:pt x="8" y="20"/>
                    </a:cubicBezTo>
                    <a:cubicBezTo>
                      <a:pt x="7" y="19"/>
                      <a:pt x="7" y="20"/>
                      <a:pt x="7" y="20"/>
                    </a:cubicBezTo>
                    <a:cubicBezTo>
                      <a:pt x="7" y="20"/>
                      <a:pt x="3" y="20"/>
                      <a:pt x="3" y="20"/>
                    </a:cubicBezTo>
                    <a:cubicBezTo>
                      <a:pt x="3" y="20"/>
                      <a:pt x="2" y="20"/>
                      <a:pt x="2" y="20"/>
                    </a:cubicBezTo>
                    <a:cubicBezTo>
                      <a:pt x="2" y="20"/>
                      <a:pt x="2" y="20"/>
                      <a:pt x="2" y="21"/>
                    </a:cubicBezTo>
                    <a:cubicBezTo>
                      <a:pt x="1" y="21"/>
                      <a:pt x="0" y="22"/>
                      <a:pt x="1" y="24"/>
                    </a:cubicBezTo>
                    <a:cubicBezTo>
                      <a:pt x="2" y="25"/>
                      <a:pt x="2" y="26"/>
                      <a:pt x="2" y="26"/>
                    </a:cubicBezTo>
                    <a:cubicBezTo>
                      <a:pt x="2" y="27"/>
                      <a:pt x="2" y="28"/>
                      <a:pt x="3" y="29"/>
                    </a:cubicBezTo>
                    <a:cubicBezTo>
                      <a:pt x="3" y="29"/>
                      <a:pt x="5" y="30"/>
                      <a:pt x="5" y="31"/>
                    </a:cubicBezTo>
                    <a:cubicBezTo>
                      <a:pt x="5" y="32"/>
                      <a:pt x="6" y="33"/>
                      <a:pt x="7" y="32"/>
                    </a:cubicBezTo>
                    <a:cubicBezTo>
                      <a:pt x="7" y="30"/>
                      <a:pt x="8" y="28"/>
                      <a:pt x="9" y="29"/>
                    </a:cubicBezTo>
                    <a:cubicBezTo>
                      <a:pt x="10" y="29"/>
                      <a:pt x="10" y="29"/>
                      <a:pt x="11" y="27"/>
                    </a:cubicBezTo>
                    <a:cubicBezTo>
                      <a:pt x="11" y="26"/>
                      <a:pt x="12" y="21"/>
                      <a:pt x="14" y="23"/>
                    </a:cubicBezTo>
                    <a:cubicBezTo>
                      <a:pt x="16" y="25"/>
                      <a:pt x="19" y="27"/>
                      <a:pt x="20" y="27"/>
                    </a:cubicBezTo>
                    <a:cubicBezTo>
                      <a:pt x="21" y="28"/>
                      <a:pt x="21" y="29"/>
                      <a:pt x="21" y="30"/>
                    </a:cubicBezTo>
                    <a:cubicBezTo>
                      <a:pt x="21" y="32"/>
                      <a:pt x="21" y="37"/>
                      <a:pt x="26" y="40"/>
                    </a:cubicBezTo>
                    <a:cubicBezTo>
                      <a:pt x="31" y="43"/>
                      <a:pt x="33" y="46"/>
                      <a:pt x="31" y="44"/>
                    </a:cubicBezTo>
                    <a:cubicBezTo>
                      <a:pt x="30" y="43"/>
                      <a:pt x="26" y="41"/>
                      <a:pt x="26" y="42"/>
                    </a:cubicBezTo>
                    <a:cubicBezTo>
                      <a:pt x="26" y="42"/>
                      <a:pt x="26" y="43"/>
                      <a:pt x="26" y="42"/>
                    </a:cubicBezTo>
                    <a:cubicBezTo>
                      <a:pt x="25" y="42"/>
                      <a:pt x="24" y="42"/>
                      <a:pt x="25" y="43"/>
                    </a:cubicBezTo>
                    <a:cubicBezTo>
                      <a:pt x="26" y="45"/>
                      <a:pt x="30" y="50"/>
                      <a:pt x="35" y="52"/>
                    </a:cubicBezTo>
                    <a:cubicBezTo>
                      <a:pt x="35" y="52"/>
                      <a:pt x="37" y="52"/>
                      <a:pt x="37" y="54"/>
                    </a:cubicBezTo>
                    <a:cubicBezTo>
                      <a:pt x="37" y="56"/>
                      <a:pt x="38" y="56"/>
                      <a:pt x="39" y="56"/>
                    </a:cubicBezTo>
                    <a:cubicBezTo>
                      <a:pt x="41" y="56"/>
                      <a:pt x="42" y="55"/>
                      <a:pt x="43" y="55"/>
                    </a:cubicBezTo>
                    <a:cubicBezTo>
                      <a:pt x="44" y="55"/>
                      <a:pt x="47" y="56"/>
                      <a:pt x="49" y="58"/>
                    </a:cubicBezTo>
                    <a:cubicBezTo>
                      <a:pt x="51" y="60"/>
                      <a:pt x="57" y="63"/>
                      <a:pt x="57" y="64"/>
                    </a:cubicBezTo>
                    <a:cubicBezTo>
                      <a:pt x="58" y="64"/>
                      <a:pt x="60" y="66"/>
                      <a:pt x="61" y="66"/>
                    </a:cubicBezTo>
                    <a:cubicBezTo>
                      <a:pt x="61" y="66"/>
                      <a:pt x="61" y="66"/>
                      <a:pt x="61" y="66"/>
                    </a:cubicBezTo>
                    <a:cubicBezTo>
                      <a:pt x="62" y="66"/>
                      <a:pt x="63" y="66"/>
                      <a:pt x="62" y="65"/>
                    </a:cubicBezTo>
                    <a:cubicBezTo>
                      <a:pt x="60" y="63"/>
                      <a:pt x="59" y="63"/>
                      <a:pt x="59" y="62"/>
                    </a:cubicBezTo>
                    <a:cubicBezTo>
                      <a:pt x="58" y="61"/>
                      <a:pt x="57" y="58"/>
                      <a:pt x="56" y="57"/>
                    </a:cubicBezTo>
                    <a:cubicBezTo>
                      <a:pt x="55" y="55"/>
                      <a:pt x="48" y="50"/>
                      <a:pt x="47" y="49"/>
                    </a:cubicBezTo>
                    <a:cubicBezTo>
                      <a:pt x="47" y="49"/>
                      <a:pt x="42" y="45"/>
                      <a:pt x="42" y="44"/>
                    </a:cubicBezTo>
                    <a:cubicBezTo>
                      <a:pt x="41" y="44"/>
                      <a:pt x="41" y="44"/>
                      <a:pt x="41" y="43"/>
                    </a:cubicBezTo>
                    <a:cubicBezTo>
                      <a:pt x="40" y="42"/>
                      <a:pt x="39" y="37"/>
                      <a:pt x="38" y="36"/>
                    </a:cubicBezTo>
                    <a:cubicBezTo>
                      <a:pt x="37" y="35"/>
                      <a:pt x="36" y="35"/>
                      <a:pt x="35" y="34"/>
                    </a:cubicBezTo>
                    <a:cubicBezTo>
                      <a:pt x="34" y="33"/>
                      <a:pt x="33" y="32"/>
                      <a:pt x="34" y="31"/>
                    </a:cubicBezTo>
                    <a:cubicBezTo>
                      <a:pt x="34" y="29"/>
                      <a:pt x="34" y="29"/>
                      <a:pt x="34" y="28"/>
                    </a:cubicBezTo>
                    <a:cubicBezTo>
                      <a:pt x="34" y="27"/>
                      <a:pt x="34" y="26"/>
                      <a:pt x="34" y="26"/>
                    </a:cubicBezTo>
                    <a:cubicBezTo>
                      <a:pt x="34" y="26"/>
                      <a:pt x="34" y="25"/>
                      <a:pt x="35" y="25"/>
                    </a:cubicBezTo>
                    <a:cubicBezTo>
                      <a:pt x="36" y="25"/>
                      <a:pt x="38" y="25"/>
                      <a:pt x="39" y="26"/>
                    </a:cubicBezTo>
                    <a:cubicBezTo>
                      <a:pt x="39" y="26"/>
                      <a:pt x="42" y="28"/>
                      <a:pt x="42" y="28"/>
                    </a:cubicBezTo>
                    <a:cubicBezTo>
                      <a:pt x="42" y="28"/>
                      <a:pt x="42" y="29"/>
                      <a:pt x="43" y="28"/>
                    </a:cubicBezTo>
                    <a:cubicBezTo>
                      <a:pt x="43" y="28"/>
                      <a:pt x="44" y="25"/>
                      <a:pt x="48" y="25"/>
                    </a:cubicBezTo>
                    <a:cubicBezTo>
                      <a:pt x="49" y="25"/>
                      <a:pt x="49" y="25"/>
                      <a:pt x="49" y="25"/>
                    </a:cubicBezTo>
                    <a:cubicBezTo>
                      <a:pt x="49" y="25"/>
                      <a:pt x="50" y="25"/>
                      <a:pt x="50" y="24"/>
                    </a:cubicBezTo>
                    <a:cubicBezTo>
                      <a:pt x="50" y="24"/>
                      <a:pt x="51" y="24"/>
                      <a:pt x="51" y="24"/>
                    </a:cubicBezTo>
                    <a:cubicBezTo>
                      <a:pt x="52" y="25"/>
                      <a:pt x="54" y="26"/>
                      <a:pt x="54" y="26"/>
                    </a:cubicBezTo>
                    <a:cubicBezTo>
                      <a:pt x="55" y="26"/>
                      <a:pt x="73" y="28"/>
                      <a:pt x="73" y="28"/>
                    </a:cubicBezTo>
                    <a:cubicBezTo>
                      <a:pt x="73" y="28"/>
                      <a:pt x="74" y="28"/>
                      <a:pt x="74" y="28"/>
                    </a:cubicBezTo>
                    <a:cubicBezTo>
                      <a:pt x="75" y="27"/>
                      <a:pt x="75" y="27"/>
                      <a:pt x="76" y="28"/>
                    </a:cubicBezTo>
                    <a:cubicBezTo>
                      <a:pt x="77" y="28"/>
                      <a:pt x="77" y="29"/>
                      <a:pt x="78" y="29"/>
                    </a:cubicBezTo>
                    <a:cubicBezTo>
                      <a:pt x="78" y="29"/>
                      <a:pt x="79" y="29"/>
                      <a:pt x="78" y="29"/>
                    </a:cubicBezTo>
                    <a:cubicBezTo>
                      <a:pt x="78" y="30"/>
                      <a:pt x="78" y="30"/>
                      <a:pt x="79" y="30"/>
                    </a:cubicBezTo>
                    <a:cubicBezTo>
                      <a:pt x="79" y="30"/>
                      <a:pt x="81" y="31"/>
                      <a:pt x="82" y="31"/>
                    </a:cubicBezTo>
                    <a:cubicBezTo>
                      <a:pt x="83" y="31"/>
                      <a:pt x="83" y="30"/>
                      <a:pt x="83" y="30"/>
                    </a:cubicBezTo>
                    <a:cubicBezTo>
                      <a:pt x="83" y="29"/>
                      <a:pt x="83" y="29"/>
                      <a:pt x="83" y="27"/>
                    </a:cubicBezTo>
                    <a:cubicBezTo>
                      <a:pt x="83" y="25"/>
                      <a:pt x="86" y="25"/>
                      <a:pt x="87" y="25"/>
                    </a:cubicBezTo>
                    <a:cubicBezTo>
                      <a:pt x="88" y="25"/>
                      <a:pt x="87" y="24"/>
                      <a:pt x="87" y="24"/>
                    </a:cubicBezTo>
                    <a:cubicBezTo>
                      <a:pt x="87" y="24"/>
                      <a:pt x="84" y="22"/>
                      <a:pt x="83" y="21"/>
                    </a:cubicBezTo>
                    <a:cubicBezTo>
                      <a:pt x="81" y="21"/>
                      <a:pt x="82" y="21"/>
                      <a:pt x="83" y="20"/>
                    </a:cubicBezTo>
                    <a:cubicBezTo>
                      <a:pt x="84" y="20"/>
                      <a:pt x="82" y="19"/>
                      <a:pt x="81" y="19"/>
                    </a:cubicBezTo>
                    <a:cubicBezTo>
                      <a:pt x="81" y="19"/>
                      <a:pt x="81" y="18"/>
                      <a:pt x="80" y="18"/>
                    </a:cubicBezTo>
                    <a:cubicBezTo>
                      <a:pt x="80" y="17"/>
                      <a:pt x="81" y="15"/>
                      <a:pt x="81" y="15"/>
                    </a:cubicBezTo>
                    <a:cubicBezTo>
                      <a:pt x="81" y="14"/>
                      <a:pt x="80" y="14"/>
                      <a:pt x="80" y="14"/>
                    </a:cubicBezTo>
                    <a:cubicBezTo>
                      <a:pt x="80" y="14"/>
                      <a:pt x="80" y="13"/>
                      <a:pt x="80" y="13"/>
                    </a:cubicBezTo>
                    <a:cubicBezTo>
                      <a:pt x="80" y="12"/>
                      <a:pt x="80" y="12"/>
                      <a:pt x="80" y="12"/>
                    </a:cubicBezTo>
                    <a:cubicBezTo>
                      <a:pt x="76" y="13"/>
                      <a:pt x="72" y="15"/>
                      <a:pt x="72" y="15"/>
                    </a:cubicBezTo>
                    <a:cubicBezTo>
                      <a:pt x="71" y="15"/>
                      <a:pt x="70" y="15"/>
                      <a:pt x="70" y="15"/>
                    </a:cubicBezTo>
                    <a:cubicBezTo>
                      <a:pt x="70" y="15"/>
                      <a:pt x="67" y="14"/>
                      <a:pt x="66" y="14"/>
                    </a:cubicBezTo>
                    <a:cubicBezTo>
                      <a:pt x="66" y="14"/>
                      <a:pt x="64" y="14"/>
                      <a:pt x="63" y="14"/>
                    </a:cubicBezTo>
                    <a:cubicBezTo>
                      <a:pt x="63" y="14"/>
                      <a:pt x="61" y="13"/>
                      <a:pt x="60" y="12"/>
                    </a:cubicBezTo>
                    <a:cubicBezTo>
                      <a:pt x="60" y="12"/>
                      <a:pt x="58" y="11"/>
                      <a:pt x="57" y="11"/>
                    </a:cubicBezTo>
                    <a:cubicBezTo>
                      <a:pt x="56" y="11"/>
                      <a:pt x="51" y="6"/>
                      <a:pt x="51" y="6"/>
                    </a:cubicBezTo>
                    <a:cubicBezTo>
                      <a:pt x="51" y="6"/>
                      <a:pt x="50" y="5"/>
                      <a:pt x="50" y="4"/>
                    </a:cubicBezTo>
                    <a:cubicBezTo>
                      <a:pt x="50" y="4"/>
                      <a:pt x="50" y="4"/>
                      <a:pt x="50" y="4"/>
                    </a:cubicBezTo>
                    <a:cubicBezTo>
                      <a:pt x="50" y="4"/>
                      <a:pt x="49" y="3"/>
                      <a:pt x="48" y="2"/>
                    </a:cubicBezTo>
                    <a:cubicBezTo>
                      <a:pt x="47" y="2"/>
                      <a:pt x="46" y="2"/>
                      <a:pt x="46"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69" name="Freeform 1081">
                <a:extLst>
                  <a:ext uri="{FF2B5EF4-FFF2-40B4-BE49-F238E27FC236}">
                    <a16:creationId xmlns:a16="http://schemas.microsoft.com/office/drawing/2014/main" id="{43EFA427-74B0-4113-B96F-16E888C2BCA3}"/>
                  </a:ext>
                </a:extLst>
              </p:cNvPr>
              <p:cNvSpPr>
                <a:spLocks/>
              </p:cNvSpPr>
              <p:nvPr/>
            </p:nvSpPr>
            <p:spPr bwMode="auto">
              <a:xfrm>
                <a:off x="3798" y="1915"/>
                <a:ext cx="3" cy="7"/>
              </a:xfrm>
              <a:custGeom>
                <a:avLst/>
                <a:gdLst>
                  <a:gd name="T0" fmla="*/ 1 w 2"/>
                  <a:gd name="T1" fmla="*/ 2 h 5"/>
                  <a:gd name="T2" fmla="*/ 2 w 2"/>
                  <a:gd name="T3" fmla="*/ 3 h 5"/>
                  <a:gd name="T4" fmla="*/ 1 w 2"/>
                  <a:gd name="T5" fmla="*/ 2 h 5"/>
                </a:gdLst>
                <a:ahLst/>
                <a:cxnLst>
                  <a:cxn ang="0">
                    <a:pos x="T0" y="T1"/>
                  </a:cxn>
                  <a:cxn ang="0">
                    <a:pos x="T2" y="T3"/>
                  </a:cxn>
                  <a:cxn ang="0">
                    <a:pos x="T4" y="T5"/>
                  </a:cxn>
                </a:cxnLst>
                <a:rect l="0" t="0" r="r" b="b"/>
                <a:pathLst>
                  <a:path w="2" h="5">
                    <a:moveTo>
                      <a:pt x="1" y="2"/>
                    </a:moveTo>
                    <a:cubicBezTo>
                      <a:pt x="1" y="2"/>
                      <a:pt x="2" y="5"/>
                      <a:pt x="2" y="3"/>
                    </a:cubicBezTo>
                    <a:cubicBezTo>
                      <a:pt x="2" y="1"/>
                      <a:pt x="0" y="0"/>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70" name="Freeform 1082">
                <a:extLst>
                  <a:ext uri="{FF2B5EF4-FFF2-40B4-BE49-F238E27FC236}">
                    <a16:creationId xmlns:a16="http://schemas.microsoft.com/office/drawing/2014/main" id="{CCCFDB09-02EF-4BA8-8648-0753C663B6F6}"/>
                  </a:ext>
                </a:extLst>
              </p:cNvPr>
              <p:cNvSpPr>
                <a:spLocks/>
              </p:cNvSpPr>
              <p:nvPr/>
            </p:nvSpPr>
            <p:spPr bwMode="auto">
              <a:xfrm>
                <a:off x="3671" y="1790"/>
                <a:ext cx="34" cy="59"/>
              </a:xfrm>
              <a:custGeom>
                <a:avLst/>
                <a:gdLst>
                  <a:gd name="T0" fmla="*/ 1 w 25"/>
                  <a:gd name="T1" fmla="*/ 12 h 43"/>
                  <a:gd name="T2" fmla="*/ 3 w 25"/>
                  <a:gd name="T3" fmla="*/ 14 h 43"/>
                  <a:gd name="T4" fmla="*/ 4 w 25"/>
                  <a:gd name="T5" fmla="*/ 21 h 43"/>
                  <a:gd name="T6" fmla="*/ 5 w 25"/>
                  <a:gd name="T7" fmla="*/ 26 h 43"/>
                  <a:gd name="T8" fmla="*/ 5 w 25"/>
                  <a:gd name="T9" fmla="*/ 29 h 43"/>
                  <a:gd name="T10" fmla="*/ 3 w 25"/>
                  <a:gd name="T11" fmla="*/ 37 h 43"/>
                  <a:gd name="T12" fmla="*/ 4 w 25"/>
                  <a:gd name="T13" fmla="*/ 39 h 43"/>
                  <a:gd name="T14" fmla="*/ 7 w 25"/>
                  <a:gd name="T15" fmla="*/ 41 h 43"/>
                  <a:gd name="T16" fmla="*/ 10 w 25"/>
                  <a:gd name="T17" fmla="*/ 42 h 43"/>
                  <a:gd name="T18" fmla="*/ 13 w 25"/>
                  <a:gd name="T19" fmla="*/ 37 h 43"/>
                  <a:gd name="T20" fmla="*/ 14 w 25"/>
                  <a:gd name="T21" fmla="*/ 37 h 43"/>
                  <a:gd name="T22" fmla="*/ 17 w 25"/>
                  <a:gd name="T23" fmla="*/ 36 h 43"/>
                  <a:gd name="T24" fmla="*/ 20 w 25"/>
                  <a:gd name="T25" fmla="*/ 38 h 43"/>
                  <a:gd name="T26" fmla="*/ 22 w 25"/>
                  <a:gd name="T27" fmla="*/ 29 h 43"/>
                  <a:gd name="T28" fmla="*/ 24 w 25"/>
                  <a:gd name="T29" fmla="*/ 16 h 43"/>
                  <a:gd name="T30" fmla="*/ 24 w 25"/>
                  <a:gd name="T31" fmla="*/ 10 h 43"/>
                  <a:gd name="T32" fmla="*/ 21 w 25"/>
                  <a:gd name="T33" fmla="*/ 7 h 43"/>
                  <a:gd name="T34" fmla="*/ 21 w 25"/>
                  <a:gd name="T35" fmla="*/ 3 h 43"/>
                  <a:gd name="T36" fmla="*/ 16 w 25"/>
                  <a:gd name="T37" fmla="*/ 1 h 43"/>
                  <a:gd name="T38" fmla="*/ 8 w 25"/>
                  <a:gd name="T39" fmla="*/ 7 h 43"/>
                  <a:gd name="T40" fmla="*/ 1 w 25"/>
                  <a:gd name="T41" fmla="*/ 6 h 43"/>
                  <a:gd name="T42" fmla="*/ 0 w 25"/>
                  <a:gd name="T43" fmla="*/ 7 h 43"/>
                  <a:gd name="T44" fmla="*/ 0 w 25"/>
                  <a:gd name="T45" fmla="*/ 11 h 43"/>
                  <a:gd name="T46" fmla="*/ 1 w 25"/>
                  <a:gd name="T47" fmla="*/ 1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 h="43">
                    <a:moveTo>
                      <a:pt x="1" y="12"/>
                    </a:moveTo>
                    <a:cubicBezTo>
                      <a:pt x="3" y="12"/>
                      <a:pt x="3" y="13"/>
                      <a:pt x="3" y="14"/>
                    </a:cubicBezTo>
                    <a:cubicBezTo>
                      <a:pt x="4" y="16"/>
                      <a:pt x="4" y="19"/>
                      <a:pt x="4" y="21"/>
                    </a:cubicBezTo>
                    <a:cubicBezTo>
                      <a:pt x="3" y="23"/>
                      <a:pt x="4" y="25"/>
                      <a:pt x="5" y="26"/>
                    </a:cubicBezTo>
                    <a:cubicBezTo>
                      <a:pt x="6" y="27"/>
                      <a:pt x="6" y="27"/>
                      <a:pt x="5" y="29"/>
                    </a:cubicBezTo>
                    <a:cubicBezTo>
                      <a:pt x="4" y="31"/>
                      <a:pt x="4" y="35"/>
                      <a:pt x="3" y="37"/>
                    </a:cubicBezTo>
                    <a:cubicBezTo>
                      <a:pt x="3" y="38"/>
                      <a:pt x="3" y="39"/>
                      <a:pt x="4" y="39"/>
                    </a:cubicBezTo>
                    <a:cubicBezTo>
                      <a:pt x="6" y="39"/>
                      <a:pt x="6" y="40"/>
                      <a:pt x="7" y="41"/>
                    </a:cubicBezTo>
                    <a:cubicBezTo>
                      <a:pt x="8" y="43"/>
                      <a:pt x="8" y="43"/>
                      <a:pt x="10" y="42"/>
                    </a:cubicBezTo>
                    <a:cubicBezTo>
                      <a:pt x="12" y="41"/>
                      <a:pt x="13" y="38"/>
                      <a:pt x="13" y="37"/>
                    </a:cubicBezTo>
                    <a:cubicBezTo>
                      <a:pt x="13" y="37"/>
                      <a:pt x="14" y="36"/>
                      <a:pt x="14" y="37"/>
                    </a:cubicBezTo>
                    <a:cubicBezTo>
                      <a:pt x="15" y="37"/>
                      <a:pt x="16" y="37"/>
                      <a:pt x="17" y="36"/>
                    </a:cubicBezTo>
                    <a:cubicBezTo>
                      <a:pt x="17" y="36"/>
                      <a:pt x="19" y="37"/>
                      <a:pt x="20" y="38"/>
                    </a:cubicBezTo>
                    <a:cubicBezTo>
                      <a:pt x="21" y="39"/>
                      <a:pt x="22" y="31"/>
                      <a:pt x="22" y="29"/>
                    </a:cubicBezTo>
                    <a:cubicBezTo>
                      <a:pt x="23" y="26"/>
                      <a:pt x="24" y="18"/>
                      <a:pt x="24" y="16"/>
                    </a:cubicBezTo>
                    <a:cubicBezTo>
                      <a:pt x="25" y="14"/>
                      <a:pt x="24" y="11"/>
                      <a:pt x="24" y="10"/>
                    </a:cubicBezTo>
                    <a:cubicBezTo>
                      <a:pt x="24" y="9"/>
                      <a:pt x="23" y="7"/>
                      <a:pt x="21" y="7"/>
                    </a:cubicBezTo>
                    <a:cubicBezTo>
                      <a:pt x="19" y="7"/>
                      <a:pt x="20" y="4"/>
                      <a:pt x="21" y="3"/>
                    </a:cubicBezTo>
                    <a:cubicBezTo>
                      <a:pt x="21" y="2"/>
                      <a:pt x="17" y="2"/>
                      <a:pt x="16" y="1"/>
                    </a:cubicBezTo>
                    <a:cubicBezTo>
                      <a:pt x="15" y="0"/>
                      <a:pt x="9" y="5"/>
                      <a:pt x="8" y="7"/>
                    </a:cubicBezTo>
                    <a:cubicBezTo>
                      <a:pt x="6" y="9"/>
                      <a:pt x="3" y="8"/>
                      <a:pt x="1" y="6"/>
                    </a:cubicBezTo>
                    <a:cubicBezTo>
                      <a:pt x="0" y="4"/>
                      <a:pt x="0" y="7"/>
                      <a:pt x="0" y="7"/>
                    </a:cubicBezTo>
                    <a:cubicBezTo>
                      <a:pt x="0" y="7"/>
                      <a:pt x="0" y="9"/>
                      <a:pt x="0" y="11"/>
                    </a:cubicBezTo>
                    <a:cubicBezTo>
                      <a:pt x="0" y="12"/>
                      <a:pt x="0" y="12"/>
                      <a:pt x="1"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71" name="Freeform 1083">
                <a:extLst>
                  <a:ext uri="{FF2B5EF4-FFF2-40B4-BE49-F238E27FC236}">
                    <a16:creationId xmlns:a16="http://schemas.microsoft.com/office/drawing/2014/main" id="{D0FE1685-A0B2-43C2-AF18-A86FF781055C}"/>
                  </a:ext>
                </a:extLst>
              </p:cNvPr>
              <p:cNvSpPr>
                <a:spLocks/>
              </p:cNvSpPr>
              <p:nvPr/>
            </p:nvSpPr>
            <p:spPr bwMode="auto">
              <a:xfrm>
                <a:off x="3709" y="1752"/>
                <a:ext cx="9" cy="4"/>
              </a:xfrm>
              <a:custGeom>
                <a:avLst/>
                <a:gdLst>
                  <a:gd name="T0" fmla="*/ 6 w 6"/>
                  <a:gd name="T1" fmla="*/ 1 h 3"/>
                  <a:gd name="T2" fmla="*/ 4 w 6"/>
                  <a:gd name="T3" fmla="*/ 0 h 3"/>
                  <a:gd name="T4" fmla="*/ 5 w 6"/>
                  <a:gd name="T5" fmla="*/ 2 h 3"/>
                  <a:gd name="T6" fmla="*/ 6 w 6"/>
                  <a:gd name="T7" fmla="*/ 1 h 3"/>
                </a:gdLst>
                <a:ahLst/>
                <a:cxnLst>
                  <a:cxn ang="0">
                    <a:pos x="T0" y="T1"/>
                  </a:cxn>
                  <a:cxn ang="0">
                    <a:pos x="T2" y="T3"/>
                  </a:cxn>
                  <a:cxn ang="0">
                    <a:pos x="T4" y="T5"/>
                  </a:cxn>
                  <a:cxn ang="0">
                    <a:pos x="T6" y="T7"/>
                  </a:cxn>
                </a:cxnLst>
                <a:rect l="0" t="0" r="r" b="b"/>
                <a:pathLst>
                  <a:path w="6" h="3">
                    <a:moveTo>
                      <a:pt x="6" y="1"/>
                    </a:moveTo>
                    <a:cubicBezTo>
                      <a:pt x="6" y="0"/>
                      <a:pt x="6" y="0"/>
                      <a:pt x="4" y="0"/>
                    </a:cubicBezTo>
                    <a:cubicBezTo>
                      <a:pt x="3" y="1"/>
                      <a:pt x="0" y="1"/>
                      <a:pt x="5" y="2"/>
                    </a:cubicBezTo>
                    <a:cubicBezTo>
                      <a:pt x="5" y="2"/>
                      <a:pt x="6" y="3"/>
                      <a:pt x="6"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72" name="Freeform 1084">
                <a:extLst>
                  <a:ext uri="{FF2B5EF4-FFF2-40B4-BE49-F238E27FC236}">
                    <a16:creationId xmlns:a16="http://schemas.microsoft.com/office/drawing/2014/main" id="{6CC65CE6-BC42-475E-98C6-44CA60FACD5A}"/>
                  </a:ext>
                </a:extLst>
              </p:cNvPr>
              <p:cNvSpPr>
                <a:spLocks/>
              </p:cNvSpPr>
              <p:nvPr/>
            </p:nvSpPr>
            <p:spPr bwMode="auto">
              <a:xfrm>
                <a:off x="3756" y="1859"/>
                <a:ext cx="72" cy="42"/>
              </a:xfrm>
              <a:custGeom>
                <a:avLst/>
                <a:gdLst>
                  <a:gd name="T0" fmla="*/ 40 w 52"/>
                  <a:gd name="T1" fmla="*/ 5 h 31"/>
                  <a:gd name="T2" fmla="*/ 30 w 52"/>
                  <a:gd name="T3" fmla="*/ 7 h 31"/>
                  <a:gd name="T4" fmla="*/ 15 w 52"/>
                  <a:gd name="T5" fmla="*/ 4 h 31"/>
                  <a:gd name="T6" fmla="*/ 8 w 52"/>
                  <a:gd name="T7" fmla="*/ 6 h 31"/>
                  <a:gd name="T8" fmla="*/ 6 w 52"/>
                  <a:gd name="T9" fmla="*/ 4 h 31"/>
                  <a:gd name="T10" fmla="*/ 5 w 52"/>
                  <a:gd name="T11" fmla="*/ 5 h 31"/>
                  <a:gd name="T12" fmla="*/ 3 w 52"/>
                  <a:gd name="T13" fmla="*/ 12 h 31"/>
                  <a:gd name="T14" fmla="*/ 7 w 52"/>
                  <a:gd name="T15" fmla="*/ 15 h 31"/>
                  <a:gd name="T16" fmla="*/ 18 w 52"/>
                  <a:gd name="T17" fmla="*/ 19 h 31"/>
                  <a:gd name="T18" fmla="*/ 31 w 52"/>
                  <a:gd name="T19" fmla="*/ 27 h 31"/>
                  <a:gd name="T20" fmla="*/ 39 w 52"/>
                  <a:gd name="T21" fmla="*/ 29 h 31"/>
                  <a:gd name="T22" fmla="*/ 42 w 52"/>
                  <a:gd name="T23" fmla="*/ 29 h 31"/>
                  <a:gd name="T24" fmla="*/ 44 w 52"/>
                  <a:gd name="T25" fmla="*/ 24 h 31"/>
                  <a:gd name="T26" fmla="*/ 41 w 52"/>
                  <a:gd name="T27" fmla="*/ 18 h 31"/>
                  <a:gd name="T28" fmla="*/ 47 w 52"/>
                  <a:gd name="T29" fmla="*/ 4 h 31"/>
                  <a:gd name="T30" fmla="*/ 40 w 52"/>
                  <a:gd name="T31"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 h="31">
                    <a:moveTo>
                      <a:pt x="40" y="5"/>
                    </a:moveTo>
                    <a:cubicBezTo>
                      <a:pt x="37" y="5"/>
                      <a:pt x="32" y="7"/>
                      <a:pt x="30" y="7"/>
                    </a:cubicBezTo>
                    <a:cubicBezTo>
                      <a:pt x="28" y="7"/>
                      <a:pt x="16" y="6"/>
                      <a:pt x="15" y="4"/>
                    </a:cubicBezTo>
                    <a:cubicBezTo>
                      <a:pt x="14" y="2"/>
                      <a:pt x="10" y="6"/>
                      <a:pt x="8" y="6"/>
                    </a:cubicBezTo>
                    <a:cubicBezTo>
                      <a:pt x="7" y="6"/>
                      <a:pt x="7" y="5"/>
                      <a:pt x="6" y="4"/>
                    </a:cubicBezTo>
                    <a:cubicBezTo>
                      <a:pt x="6" y="4"/>
                      <a:pt x="5" y="5"/>
                      <a:pt x="5" y="5"/>
                    </a:cubicBezTo>
                    <a:cubicBezTo>
                      <a:pt x="0" y="10"/>
                      <a:pt x="2" y="10"/>
                      <a:pt x="3" y="12"/>
                    </a:cubicBezTo>
                    <a:cubicBezTo>
                      <a:pt x="3" y="14"/>
                      <a:pt x="5" y="15"/>
                      <a:pt x="7" y="15"/>
                    </a:cubicBezTo>
                    <a:cubicBezTo>
                      <a:pt x="9" y="14"/>
                      <a:pt x="15" y="18"/>
                      <a:pt x="18" y="19"/>
                    </a:cubicBezTo>
                    <a:cubicBezTo>
                      <a:pt x="21" y="20"/>
                      <a:pt x="29" y="24"/>
                      <a:pt x="31" y="27"/>
                    </a:cubicBezTo>
                    <a:cubicBezTo>
                      <a:pt x="33" y="30"/>
                      <a:pt x="38" y="29"/>
                      <a:pt x="39" y="29"/>
                    </a:cubicBezTo>
                    <a:cubicBezTo>
                      <a:pt x="40" y="30"/>
                      <a:pt x="41" y="31"/>
                      <a:pt x="42" y="29"/>
                    </a:cubicBezTo>
                    <a:cubicBezTo>
                      <a:pt x="42" y="27"/>
                      <a:pt x="43" y="25"/>
                      <a:pt x="44" y="24"/>
                    </a:cubicBezTo>
                    <a:cubicBezTo>
                      <a:pt x="45" y="24"/>
                      <a:pt x="42" y="20"/>
                      <a:pt x="41" y="18"/>
                    </a:cubicBezTo>
                    <a:cubicBezTo>
                      <a:pt x="40" y="17"/>
                      <a:pt x="43" y="9"/>
                      <a:pt x="47" y="4"/>
                    </a:cubicBezTo>
                    <a:cubicBezTo>
                      <a:pt x="52" y="0"/>
                      <a:pt x="44" y="4"/>
                      <a:pt x="40"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73" name="Freeform 1085">
                <a:extLst>
                  <a:ext uri="{FF2B5EF4-FFF2-40B4-BE49-F238E27FC236}">
                    <a16:creationId xmlns:a16="http://schemas.microsoft.com/office/drawing/2014/main" id="{6FD0C02E-C7B0-47A5-95A6-A2C6EB1CB86C}"/>
                  </a:ext>
                </a:extLst>
              </p:cNvPr>
              <p:cNvSpPr>
                <a:spLocks/>
              </p:cNvSpPr>
              <p:nvPr/>
            </p:nvSpPr>
            <p:spPr bwMode="auto">
              <a:xfrm>
                <a:off x="3639" y="1645"/>
                <a:ext cx="246" cy="229"/>
              </a:xfrm>
              <a:custGeom>
                <a:avLst/>
                <a:gdLst>
                  <a:gd name="T0" fmla="*/ 3 w 178"/>
                  <a:gd name="T1" fmla="*/ 25 h 167"/>
                  <a:gd name="T2" fmla="*/ 8 w 178"/>
                  <a:gd name="T3" fmla="*/ 32 h 167"/>
                  <a:gd name="T4" fmla="*/ 1 w 178"/>
                  <a:gd name="T5" fmla="*/ 36 h 167"/>
                  <a:gd name="T6" fmla="*/ 5 w 178"/>
                  <a:gd name="T7" fmla="*/ 45 h 167"/>
                  <a:gd name="T8" fmla="*/ 4 w 178"/>
                  <a:gd name="T9" fmla="*/ 51 h 167"/>
                  <a:gd name="T10" fmla="*/ 16 w 178"/>
                  <a:gd name="T11" fmla="*/ 56 h 167"/>
                  <a:gd name="T12" fmla="*/ 17 w 178"/>
                  <a:gd name="T13" fmla="*/ 60 h 167"/>
                  <a:gd name="T14" fmla="*/ 33 w 178"/>
                  <a:gd name="T15" fmla="*/ 50 h 167"/>
                  <a:gd name="T16" fmla="*/ 57 w 178"/>
                  <a:gd name="T17" fmla="*/ 71 h 167"/>
                  <a:gd name="T18" fmla="*/ 63 w 178"/>
                  <a:gd name="T19" fmla="*/ 78 h 167"/>
                  <a:gd name="T20" fmla="*/ 68 w 178"/>
                  <a:gd name="T21" fmla="*/ 86 h 167"/>
                  <a:gd name="T22" fmla="*/ 95 w 178"/>
                  <a:gd name="T23" fmla="*/ 106 h 167"/>
                  <a:gd name="T24" fmla="*/ 115 w 178"/>
                  <a:gd name="T25" fmla="*/ 115 h 167"/>
                  <a:gd name="T26" fmla="*/ 120 w 178"/>
                  <a:gd name="T27" fmla="*/ 117 h 167"/>
                  <a:gd name="T28" fmla="*/ 125 w 178"/>
                  <a:gd name="T29" fmla="*/ 125 h 167"/>
                  <a:gd name="T30" fmla="*/ 142 w 178"/>
                  <a:gd name="T31" fmla="*/ 147 h 167"/>
                  <a:gd name="T32" fmla="*/ 137 w 178"/>
                  <a:gd name="T33" fmla="*/ 156 h 167"/>
                  <a:gd name="T34" fmla="*/ 147 w 178"/>
                  <a:gd name="T35" fmla="*/ 157 h 167"/>
                  <a:gd name="T36" fmla="*/ 155 w 178"/>
                  <a:gd name="T37" fmla="*/ 147 h 167"/>
                  <a:gd name="T38" fmla="*/ 153 w 178"/>
                  <a:gd name="T39" fmla="*/ 137 h 167"/>
                  <a:gd name="T40" fmla="*/ 157 w 178"/>
                  <a:gd name="T41" fmla="*/ 119 h 167"/>
                  <a:gd name="T42" fmla="*/ 167 w 178"/>
                  <a:gd name="T43" fmla="*/ 125 h 167"/>
                  <a:gd name="T44" fmla="*/ 175 w 178"/>
                  <a:gd name="T45" fmla="*/ 124 h 167"/>
                  <a:gd name="T46" fmla="*/ 153 w 178"/>
                  <a:gd name="T47" fmla="*/ 109 h 167"/>
                  <a:gd name="T48" fmla="*/ 142 w 178"/>
                  <a:gd name="T49" fmla="*/ 96 h 167"/>
                  <a:gd name="T50" fmla="*/ 107 w 178"/>
                  <a:gd name="T51" fmla="*/ 74 h 167"/>
                  <a:gd name="T52" fmla="*/ 85 w 178"/>
                  <a:gd name="T53" fmla="*/ 42 h 167"/>
                  <a:gd name="T54" fmla="*/ 83 w 178"/>
                  <a:gd name="T55" fmla="*/ 32 h 167"/>
                  <a:gd name="T56" fmla="*/ 97 w 178"/>
                  <a:gd name="T57" fmla="*/ 26 h 167"/>
                  <a:gd name="T58" fmla="*/ 105 w 178"/>
                  <a:gd name="T59" fmla="*/ 26 h 167"/>
                  <a:gd name="T60" fmla="*/ 107 w 178"/>
                  <a:gd name="T61" fmla="*/ 26 h 167"/>
                  <a:gd name="T62" fmla="*/ 102 w 178"/>
                  <a:gd name="T63" fmla="*/ 20 h 167"/>
                  <a:gd name="T64" fmla="*/ 104 w 178"/>
                  <a:gd name="T65" fmla="*/ 17 h 167"/>
                  <a:gd name="T66" fmla="*/ 104 w 178"/>
                  <a:gd name="T67" fmla="*/ 13 h 167"/>
                  <a:gd name="T68" fmla="*/ 93 w 178"/>
                  <a:gd name="T69" fmla="*/ 9 h 167"/>
                  <a:gd name="T70" fmla="*/ 86 w 178"/>
                  <a:gd name="T71" fmla="*/ 7 h 167"/>
                  <a:gd name="T72" fmla="*/ 82 w 178"/>
                  <a:gd name="T73" fmla="*/ 0 h 167"/>
                  <a:gd name="T74" fmla="*/ 67 w 178"/>
                  <a:gd name="T75" fmla="*/ 3 h 167"/>
                  <a:gd name="T76" fmla="*/ 58 w 178"/>
                  <a:gd name="T77" fmla="*/ 5 h 167"/>
                  <a:gd name="T78" fmla="*/ 56 w 178"/>
                  <a:gd name="T79" fmla="*/ 10 h 167"/>
                  <a:gd name="T80" fmla="*/ 51 w 178"/>
                  <a:gd name="T81" fmla="*/ 11 h 167"/>
                  <a:gd name="T82" fmla="*/ 52 w 178"/>
                  <a:gd name="T83" fmla="*/ 15 h 167"/>
                  <a:gd name="T84" fmla="*/ 40 w 178"/>
                  <a:gd name="T85" fmla="*/ 11 h 167"/>
                  <a:gd name="T86" fmla="*/ 39 w 178"/>
                  <a:gd name="T87" fmla="*/ 16 h 167"/>
                  <a:gd name="T88" fmla="*/ 36 w 178"/>
                  <a:gd name="T89" fmla="*/ 21 h 167"/>
                  <a:gd name="T90" fmla="*/ 34 w 178"/>
                  <a:gd name="T91" fmla="*/ 22 h 167"/>
                  <a:gd name="T92" fmla="*/ 31 w 178"/>
                  <a:gd name="T93" fmla="*/ 18 h 167"/>
                  <a:gd name="T94" fmla="*/ 27 w 178"/>
                  <a:gd name="T95" fmla="*/ 13 h 167"/>
                  <a:gd name="T96" fmla="*/ 24 w 178"/>
                  <a:gd name="T97" fmla="*/ 14 h 167"/>
                  <a:gd name="T98" fmla="*/ 22 w 178"/>
                  <a:gd name="T99" fmla="*/ 18 h 167"/>
                  <a:gd name="T100" fmla="*/ 18 w 178"/>
                  <a:gd name="T101" fmla="*/ 22 h 167"/>
                  <a:gd name="T102" fmla="*/ 12 w 178"/>
                  <a:gd name="T103" fmla="*/ 21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8" h="167">
                    <a:moveTo>
                      <a:pt x="6" y="22"/>
                    </a:moveTo>
                    <a:cubicBezTo>
                      <a:pt x="5" y="22"/>
                      <a:pt x="4" y="23"/>
                      <a:pt x="3" y="24"/>
                    </a:cubicBezTo>
                    <a:cubicBezTo>
                      <a:pt x="2" y="25"/>
                      <a:pt x="3" y="25"/>
                      <a:pt x="3" y="25"/>
                    </a:cubicBezTo>
                    <a:cubicBezTo>
                      <a:pt x="3" y="25"/>
                      <a:pt x="6" y="29"/>
                      <a:pt x="6" y="29"/>
                    </a:cubicBezTo>
                    <a:cubicBezTo>
                      <a:pt x="6" y="30"/>
                      <a:pt x="7" y="30"/>
                      <a:pt x="7" y="31"/>
                    </a:cubicBezTo>
                    <a:cubicBezTo>
                      <a:pt x="8" y="31"/>
                      <a:pt x="8" y="32"/>
                      <a:pt x="8" y="32"/>
                    </a:cubicBezTo>
                    <a:cubicBezTo>
                      <a:pt x="8" y="33"/>
                      <a:pt x="7" y="33"/>
                      <a:pt x="7" y="34"/>
                    </a:cubicBezTo>
                    <a:cubicBezTo>
                      <a:pt x="7" y="34"/>
                      <a:pt x="7" y="34"/>
                      <a:pt x="7" y="34"/>
                    </a:cubicBezTo>
                    <a:cubicBezTo>
                      <a:pt x="7" y="34"/>
                      <a:pt x="2" y="36"/>
                      <a:pt x="1" y="36"/>
                    </a:cubicBezTo>
                    <a:cubicBezTo>
                      <a:pt x="0" y="37"/>
                      <a:pt x="0" y="37"/>
                      <a:pt x="0" y="37"/>
                    </a:cubicBezTo>
                    <a:cubicBezTo>
                      <a:pt x="0" y="37"/>
                      <a:pt x="5" y="43"/>
                      <a:pt x="6" y="44"/>
                    </a:cubicBezTo>
                    <a:cubicBezTo>
                      <a:pt x="7" y="44"/>
                      <a:pt x="6" y="45"/>
                      <a:pt x="5" y="45"/>
                    </a:cubicBezTo>
                    <a:cubicBezTo>
                      <a:pt x="5" y="45"/>
                      <a:pt x="5" y="46"/>
                      <a:pt x="5" y="46"/>
                    </a:cubicBezTo>
                    <a:cubicBezTo>
                      <a:pt x="5" y="46"/>
                      <a:pt x="4" y="49"/>
                      <a:pt x="4" y="50"/>
                    </a:cubicBezTo>
                    <a:cubicBezTo>
                      <a:pt x="4" y="50"/>
                      <a:pt x="4" y="51"/>
                      <a:pt x="4" y="51"/>
                    </a:cubicBezTo>
                    <a:cubicBezTo>
                      <a:pt x="4" y="51"/>
                      <a:pt x="15" y="55"/>
                      <a:pt x="15" y="55"/>
                    </a:cubicBezTo>
                    <a:cubicBezTo>
                      <a:pt x="16" y="55"/>
                      <a:pt x="16" y="56"/>
                      <a:pt x="16" y="56"/>
                    </a:cubicBezTo>
                    <a:cubicBezTo>
                      <a:pt x="16" y="56"/>
                      <a:pt x="16" y="56"/>
                      <a:pt x="16" y="56"/>
                    </a:cubicBezTo>
                    <a:cubicBezTo>
                      <a:pt x="16" y="56"/>
                      <a:pt x="16" y="56"/>
                      <a:pt x="16" y="56"/>
                    </a:cubicBezTo>
                    <a:cubicBezTo>
                      <a:pt x="16" y="56"/>
                      <a:pt x="14" y="59"/>
                      <a:pt x="14" y="61"/>
                    </a:cubicBezTo>
                    <a:cubicBezTo>
                      <a:pt x="15" y="61"/>
                      <a:pt x="16" y="60"/>
                      <a:pt x="17" y="60"/>
                    </a:cubicBezTo>
                    <a:cubicBezTo>
                      <a:pt x="20" y="60"/>
                      <a:pt x="22" y="59"/>
                      <a:pt x="24" y="57"/>
                    </a:cubicBezTo>
                    <a:cubicBezTo>
                      <a:pt x="26" y="54"/>
                      <a:pt x="29" y="51"/>
                      <a:pt x="29" y="51"/>
                    </a:cubicBezTo>
                    <a:cubicBezTo>
                      <a:pt x="29" y="51"/>
                      <a:pt x="29" y="50"/>
                      <a:pt x="33" y="50"/>
                    </a:cubicBezTo>
                    <a:cubicBezTo>
                      <a:pt x="36" y="51"/>
                      <a:pt x="47" y="55"/>
                      <a:pt x="51" y="57"/>
                    </a:cubicBezTo>
                    <a:cubicBezTo>
                      <a:pt x="55" y="59"/>
                      <a:pt x="54" y="61"/>
                      <a:pt x="54" y="63"/>
                    </a:cubicBezTo>
                    <a:cubicBezTo>
                      <a:pt x="55" y="65"/>
                      <a:pt x="56" y="70"/>
                      <a:pt x="57" y="71"/>
                    </a:cubicBezTo>
                    <a:cubicBezTo>
                      <a:pt x="58" y="73"/>
                      <a:pt x="58" y="74"/>
                      <a:pt x="58" y="74"/>
                    </a:cubicBezTo>
                    <a:cubicBezTo>
                      <a:pt x="58" y="75"/>
                      <a:pt x="57" y="76"/>
                      <a:pt x="58" y="76"/>
                    </a:cubicBezTo>
                    <a:cubicBezTo>
                      <a:pt x="60" y="76"/>
                      <a:pt x="61" y="76"/>
                      <a:pt x="63" y="78"/>
                    </a:cubicBezTo>
                    <a:cubicBezTo>
                      <a:pt x="64" y="79"/>
                      <a:pt x="66" y="82"/>
                      <a:pt x="67" y="83"/>
                    </a:cubicBezTo>
                    <a:cubicBezTo>
                      <a:pt x="68" y="85"/>
                      <a:pt x="68" y="86"/>
                      <a:pt x="67" y="85"/>
                    </a:cubicBezTo>
                    <a:cubicBezTo>
                      <a:pt x="66" y="85"/>
                      <a:pt x="65" y="86"/>
                      <a:pt x="68" y="86"/>
                    </a:cubicBezTo>
                    <a:cubicBezTo>
                      <a:pt x="70" y="86"/>
                      <a:pt x="73" y="87"/>
                      <a:pt x="75" y="89"/>
                    </a:cubicBezTo>
                    <a:cubicBezTo>
                      <a:pt x="77" y="91"/>
                      <a:pt x="92" y="104"/>
                      <a:pt x="93" y="105"/>
                    </a:cubicBezTo>
                    <a:cubicBezTo>
                      <a:pt x="94" y="106"/>
                      <a:pt x="95" y="106"/>
                      <a:pt x="95" y="106"/>
                    </a:cubicBezTo>
                    <a:cubicBezTo>
                      <a:pt x="95" y="107"/>
                      <a:pt x="97" y="107"/>
                      <a:pt x="99" y="107"/>
                    </a:cubicBezTo>
                    <a:cubicBezTo>
                      <a:pt x="101" y="107"/>
                      <a:pt x="105" y="106"/>
                      <a:pt x="108" y="109"/>
                    </a:cubicBezTo>
                    <a:cubicBezTo>
                      <a:pt x="110" y="112"/>
                      <a:pt x="112" y="114"/>
                      <a:pt x="115" y="115"/>
                    </a:cubicBezTo>
                    <a:cubicBezTo>
                      <a:pt x="115" y="115"/>
                      <a:pt x="116" y="115"/>
                      <a:pt x="116" y="116"/>
                    </a:cubicBezTo>
                    <a:cubicBezTo>
                      <a:pt x="115" y="117"/>
                      <a:pt x="114" y="118"/>
                      <a:pt x="116" y="118"/>
                    </a:cubicBezTo>
                    <a:cubicBezTo>
                      <a:pt x="118" y="117"/>
                      <a:pt x="119" y="118"/>
                      <a:pt x="120" y="117"/>
                    </a:cubicBezTo>
                    <a:cubicBezTo>
                      <a:pt x="121" y="117"/>
                      <a:pt x="121" y="116"/>
                      <a:pt x="122" y="118"/>
                    </a:cubicBezTo>
                    <a:cubicBezTo>
                      <a:pt x="123" y="119"/>
                      <a:pt x="124" y="121"/>
                      <a:pt x="124" y="123"/>
                    </a:cubicBezTo>
                    <a:cubicBezTo>
                      <a:pt x="124" y="124"/>
                      <a:pt x="124" y="125"/>
                      <a:pt x="125" y="125"/>
                    </a:cubicBezTo>
                    <a:cubicBezTo>
                      <a:pt x="125" y="126"/>
                      <a:pt x="129" y="129"/>
                      <a:pt x="131" y="128"/>
                    </a:cubicBezTo>
                    <a:cubicBezTo>
                      <a:pt x="134" y="128"/>
                      <a:pt x="135" y="127"/>
                      <a:pt x="136" y="131"/>
                    </a:cubicBezTo>
                    <a:cubicBezTo>
                      <a:pt x="138" y="135"/>
                      <a:pt x="140" y="144"/>
                      <a:pt x="142" y="147"/>
                    </a:cubicBezTo>
                    <a:cubicBezTo>
                      <a:pt x="144" y="149"/>
                      <a:pt x="142" y="150"/>
                      <a:pt x="141" y="150"/>
                    </a:cubicBezTo>
                    <a:cubicBezTo>
                      <a:pt x="139" y="151"/>
                      <a:pt x="137" y="151"/>
                      <a:pt x="138" y="153"/>
                    </a:cubicBezTo>
                    <a:cubicBezTo>
                      <a:pt x="139" y="155"/>
                      <a:pt x="137" y="156"/>
                      <a:pt x="137" y="156"/>
                    </a:cubicBezTo>
                    <a:cubicBezTo>
                      <a:pt x="137" y="157"/>
                      <a:pt x="131" y="162"/>
                      <a:pt x="135" y="164"/>
                    </a:cubicBezTo>
                    <a:cubicBezTo>
                      <a:pt x="139" y="167"/>
                      <a:pt x="143" y="162"/>
                      <a:pt x="144" y="160"/>
                    </a:cubicBezTo>
                    <a:cubicBezTo>
                      <a:pt x="145" y="159"/>
                      <a:pt x="146" y="158"/>
                      <a:pt x="147" y="157"/>
                    </a:cubicBezTo>
                    <a:cubicBezTo>
                      <a:pt x="148" y="156"/>
                      <a:pt x="148" y="156"/>
                      <a:pt x="148" y="153"/>
                    </a:cubicBezTo>
                    <a:cubicBezTo>
                      <a:pt x="147" y="151"/>
                      <a:pt x="148" y="149"/>
                      <a:pt x="151" y="148"/>
                    </a:cubicBezTo>
                    <a:cubicBezTo>
                      <a:pt x="154" y="146"/>
                      <a:pt x="155" y="147"/>
                      <a:pt x="155" y="147"/>
                    </a:cubicBezTo>
                    <a:cubicBezTo>
                      <a:pt x="156" y="148"/>
                      <a:pt x="157" y="147"/>
                      <a:pt x="157" y="146"/>
                    </a:cubicBezTo>
                    <a:cubicBezTo>
                      <a:pt x="157" y="144"/>
                      <a:pt x="157" y="142"/>
                      <a:pt x="157" y="141"/>
                    </a:cubicBezTo>
                    <a:cubicBezTo>
                      <a:pt x="156" y="140"/>
                      <a:pt x="155" y="139"/>
                      <a:pt x="153" y="137"/>
                    </a:cubicBezTo>
                    <a:cubicBezTo>
                      <a:pt x="150" y="135"/>
                      <a:pt x="151" y="135"/>
                      <a:pt x="149" y="135"/>
                    </a:cubicBezTo>
                    <a:cubicBezTo>
                      <a:pt x="147" y="135"/>
                      <a:pt x="147" y="133"/>
                      <a:pt x="149" y="127"/>
                    </a:cubicBezTo>
                    <a:cubicBezTo>
                      <a:pt x="151" y="122"/>
                      <a:pt x="155" y="119"/>
                      <a:pt x="157" y="119"/>
                    </a:cubicBezTo>
                    <a:cubicBezTo>
                      <a:pt x="160" y="119"/>
                      <a:pt x="159" y="120"/>
                      <a:pt x="158" y="121"/>
                    </a:cubicBezTo>
                    <a:cubicBezTo>
                      <a:pt x="157" y="121"/>
                      <a:pt x="158" y="121"/>
                      <a:pt x="160" y="121"/>
                    </a:cubicBezTo>
                    <a:cubicBezTo>
                      <a:pt x="161" y="121"/>
                      <a:pt x="166" y="123"/>
                      <a:pt x="167" y="125"/>
                    </a:cubicBezTo>
                    <a:cubicBezTo>
                      <a:pt x="168" y="127"/>
                      <a:pt x="172" y="131"/>
                      <a:pt x="174" y="132"/>
                    </a:cubicBezTo>
                    <a:cubicBezTo>
                      <a:pt x="175" y="132"/>
                      <a:pt x="175" y="131"/>
                      <a:pt x="176" y="129"/>
                    </a:cubicBezTo>
                    <a:cubicBezTo>
                      <a:pt x="176" y="127"/>
                      <a:pt x="178" y="127"/>
                      <a:pt x="175" y="124"/>
                    </a:cubicBezTo>
                    <a:cubicBezTo>
                      <a:pt x="172" y="121"/>
                      <a:pt x="171" y="120"/>
                      <a:pt x="170" y="119"/>
                    </a:cubicBezTo>
                    <a:cubicBezTo>
                      <a:pt x="170" y="119"/>
                      <a:pt x="166" y="116"/>
                      <a:pt x="164" y="115"/>
                    </a:cubicBezTo>
                    <a:cubicBezTo>
                      <a:pt x="163" y="115"/>
                      <a:pt x="159" y="112"/>
                      <a:pt x="153" y="109"/>
                    </a:cubicBezTo>
                    <a:cubicBezTo>
                      <a:pt x="147" y="107"/>
                      <a:pt x="141" y="104"/>
                      <a:pt x="139" y="101"/>
                    </a:cubicBezTo>
                    <a:cubicBezTo>
                      <a:pt x="139" y="101"/>
                      <a:pt x="138" y="100"/>
                      <a:pt x="140" y="99"/>
                    </a:cubicBezTo>
                    <a:cubicBezTo>
                      <a:pt x="142" y="98"/>
                      <a:pt x="143" y="97"/>
                      <a:pt x="142" y="96"/>
                    </a:cubicBezTo>
                    <a:cubicBezTo>
                      <a:pt x="142" y="94"/>
                      <a:pt x="141" y="94"/>
                      <a:pt x="140" y="94"/>
                    </a:cubicBezTo>
                    <a:cubicBezTo>
                      <a:pt x="139" y="95"/>
                      <a:pt x="127" y="95"/>
                      <a:pt x="124" y="93"/>
                    </a:cubicBezTo>
                    <a:cubicBezTo>
                      <a:pt x="121" y="92"/>
                      <a:pt x="109" y="83"/>
                      <a:pt x="107" y="74"/>
                    </a:cubicBezTo>
                    <a:cubicBezTo>
                      <a:pt x="107" y="74"/>
                      <a:pt x="107" y="69"/>
                      <a:pt x="101" y="65"/>
                    </a:cubicBezTo>
                    <a:cubicBezTo>
                      <a:pt x="95" y="61"/>
                      <a:pt x="84" y="55"/>
                      <a:pt x="84" y="46"/>
                    </a:cubicBezTo>
                    <a:cubicBezTo>
                      <a:pt x="84" y="46"/>
                      <a:pt x="84" y="42"/>
                      <a:pt x="85" y="42"/>
                    </a:cubicBezTo>
                    <a:cubicBezTo>
                      <a:pt x="86" y="42"/>
                      <a:pt x="87" y="42"/>
                      <a:pt x="87" y="41"/>
                    </a:cubicBezTo>
                    <a:cubicBezTo>
                      <a:pt x="88" y="40"/>
                      <a:pt x="88" y="38"/>
                      <a:pt x="86" y="37"/>
                    </a:cubicBezTo>
                    <a:cubicBezTo>
                      <a:pt x="84" y="35"/>
                      <a:pt x="82" y="34"/>
                      <a:pt x="83" y="32"/>
                    </a:cubicBezTo>
                    <a:cubicBezTo>
                      <a:pt x="84" y="30"/>
                      <a:pt x="87" y="28"/>
                      <a:pt x="86" y="30"/>
                    </a:cubicBezTo>
                    <a:cubicBezTo>
                      <a:pt x="86" y="32"/>
                      <a:pt x="87" y="30"/>
                      <a:pt x="91" y="29"/>
                    </a:cubicBezTo>
                    <a:cubicBezTo>
                      <a:pt x="94" y="28"/>
                      <a:pt x="97" y="28"/>
                      <a:pt x="97" y="26"/>
                    </a:cubicBezTo>
                    <a:cubicBezTo>
                      <a:pt x="97" y="25"/>
                      <a:pt x="97" y="24"/>
                      <a:pt x="100" y="25"/>
                    </a:cubicBezTo>
                    <a:cubicBezTo>
                      <a:pt x="102" y="26"/>
                      <a:pt x="102" y="25"/>
                      <a:pt x="103" y="25"/>
                    </a:cubicBezTo>
                    <a:cubicBezTo>
                      <a:pt x="104" y="25"/>
                      <a:pt x="104" y="25"/>
                      <a:pt x="105" y="26"/>
                    </a:cubicBezTo>
                    <a:cubicBezTo>
                      <a:pt x="105" y="27"/>
                      <a:pt x="105" y="28"/>
                      <a:pt x="105" y="28"/>
                    </a:cubicBezTo>
                    <a:cubicBezTo>
                      <a:pt x="106" y="28"/>
                      <a:pt x="107" y="28"/>
                      <a:pt x="107" y="28"/>
                    </a:cubicBezTo>
                    <a:cubicBezTo>
                      <a:pt x="108" y="27"/>
                      <a:pt x="108" y="27"/>
                      <a:pt x="107" y="26"/>
                    </a:cubicBezTo>
                    <a:cubicBezTo>
                      <a:pt x="107" y="26"/>
                      <a:pt x="105" y="25"/>
                      <a:pt x="105" y="25"/>
                    </a:cubicBezTo>
                    <a:cubicBezTo>
                      <a:pt x="104" y="24"/>
                      <a:pt x="104" y="23"/>
                      <a:pt x="104" y="22"/>
                    </a:cubicBezTo>
                    <a:cubicBezTo>
                      <a:pt x="104" y="22"/>
                      <a:pt x="103" y="20"/>
                      <a:pt x="102" y="20"/>
                    </a:cubicBezTo>
                    <a:cubicBezTo>
                      <a:pt x="102" y="19"/>
                      <a:pt x="102" y="19"/>
                      <a:pt x="103" y="19"/>
                    </a:cubicBezTo>
                    <a:cubicBezTo>
                      <a:pt x="103" y="19"/>
                      <a:pt x="103" y="18"/>
                      <a:pt x="104" y="18"/>
                    </a:cubicBezTo>
                    <a:cubicBezTo>
                      <a:pt x="104" y="17"/>
                      <a:pt x="104" y="17"/>
                      <a:pt x="104" y="17"/>
                    </a:cubicBezTo>
                    <a:cubicBezTo>
                      <a:pt x="104" y="17"/>
                      <a:pt x="102" y="15"/>
                      <a:pt x="101" y="15"/>
                    </a:cubicBezTo>
                    <a:cubicBezTo>
                      <a:pt x="101" y="15"/>
                      <a:pt x="101" y="14"/>
                      <a:pt x="101" y="14"/>
                    </a:cubicBezTo>
                    <a:cubicBezTo>
                      <a:pt x="101" y="14"/>
                      <a:pt x="103" y="13"/>
                      <a:pt x="104" y="13"/>
                    </a:cubicBezTo>
                    <a:cubicBezTo>
                      <a:pt x="105" y="12"/>
                      <a:pt x="105" y="11"/>
                      <a:pt x="105" y="11"/>
                    </a:cubicBezTo>
                    <a:cubicBezTo>
                      <a:pt x="104" y="11"/>
                      <a:pt x="103" y="10"/>
                      <a:pt x="103" y="10"/>
                    </a:cubicBezTo>
                    <a:cubicBezTo>
                      <a:pt x="102" y="10"/>
                      <a:pt x="94" y="9"/>
                      <a:pt x="93" y="9"/>
                    </a:cubicBezTo>
                    <a:cubicBezTo>
                      <a:pt x="93" y="9"/>
                      <a:pt x="91" y="8"/>
                      <a:pt x="90" y="8"/>
                    </a:cubicBezTo>
                    <a:cubicBezTo>
                      <a:pt x="90" y="8"/>
                      <a:pt x="89" y="8"/>
                      <a:pt x="88" y="8"/>
                    </a:cubicBezTo>
                    <a:cubicBezTo>
                      <a:pt x="87" y="8"/>
                      <a:pt x="87" y="8"/>
                      <a:pt x="86" y="7"/>
                    </a:cubicBezTo>
                    <a:cubicBezTo>
                      <a:pt x="85" y="7"/>
                      <a:pt x="83" y="5"/>
                      <a:pt x="83" y="4"/>
                    </a:cubicBezTo>
                    <a:cubicBezTo>
                      <a:pt x="82" y="2"/>
                      <a:pt x="83" y="1"/>
                      <a:pt x="83" y="1"/>
                    </a:cubicBezTo>
                    <a:cubicBezTo>
                      <a:pt x="83" y="0"/>
                      <a:pt x="83" y="0"/>
                      <a:pt x="82" y="0"/>
                    </a:cubicBezTo>
                    <a:cubicBezTo>
                      <a:pt x="82" y="0"/>
                      <a:pt x="82" y="0"/>
                      <a:pt x="81" y="0"/>
                    </a:cubicBezTo>
                    <a:cubicBezTo>
                      <a:pt x="80" y="1"/>
                      <a:pt x="69" y="2"/>
                      <a:pt x="68" y="2"/>
                    </a:cubicBezTo>
                    <a:cubicBezTo>
                      <a:pt x="67" y="2"/>
                      <a:pt x="67" y="3"/>
                      <a:pt x="67" y="3"/>
                    </a:cubicBezTo>
                    <a:cubicBezTo>
                      <a:pt x="67" y="3"/>
                      <a:pt x="67" y="3"/>
                      <a:pt x="66" y="5"/>
                    </a:cubicBezTo>
                    <a:cubicBezTo>
                      <a:pt x="65" y="6"/>
                      <a:pt x="63" y="5"/>
                      <a:pt x="63" y="5"/>
                    </a:cubicBezTo>
                    <a:cubicBezTo>
                      <a:pt x="62" y="5"/>
                      <a:pt x="59" y="5"/>
                      <a:pt x="58" y="5"/>
                    </a:cubicBezTo>
                    <a:cubicBezTo>
                      <a:pt x="58" y="5"/>
                      <a:pt x="58" y="5"/>
                      <a:pt x="57" y="4"/>
                    </a:cubicBezTo>
                    <a:cubicBezTo>
                      <a:pt x="57" y="6"/>
                      <a:pt x="57" y="9"/>
                      <a:pt x="57" y="9"/>
                    </a:cubicBezTo>
                    <a:cubicBezTo>
                      <a:pt x="57" y="10"/>
                      <a:pt x="56" y="10"/>
                      <a:pt x="56" y="10"/>
                    </a:cubicBezTo>
                    <a:cubicBezTo>
                      <a:pt x="56" y="10"/>
                      <a:pt x="53" y="9"/>
                      <a:pt x="52" y="9"/>
                    </a:cubicBezTo>
                    <a:cubicBezTo>
                      <a:pt x="52" y="9"/>
                      <a:pt x="51" y="10"/>
                      <a:pt x="51" y="10"/>
                    </a:cubicBezTo>
                    <a:cubicBezTo>
                      <a:pt x="51" y="10"/>
                      <a:pt x="51" y="10"/>
                      <a:pt x="51" y="11"/>
                    </a:cubicBezTo>
                    <a:cubicBezTo>
                      <a:pt x="50" y="11"/>
                      <a:pt x="51" y="12"/>
                      <a:pt x="52" y="13"/>
                    </a:cubicBezTo>
                    <a:cubicBezTo>
                      <a:pt x="52" y="13"/>
                      <a:pt x="52" y="13"/>
                      <a:pt x="52" y="14"/>
                    </a:cubicBezTo>
                    <a:cubicBezTo>
                      <a:pt x="52" y="14"/>
                      <a:pt x="52" y="14"/>
                      <a:pt x="52" y="15"/>
                    </a:cubicBezTo>
                    <a:cubicBezTo>
                      <a:pt x="53" y="16"/>
                      <a:pt x="52" y="16"/>
                      <a:pt x="51" y="16"/>
                    </a:cubicBezTo>
                    <a:cubicBezTo>
                      <a:pt x="50" y="16"/>
                      <a:pt x="44" y="14"/>
                      <a:pt x="43" y="13"/>
                    </a:cubicBezTo>
                    <a:cubicBezTo>
                      <a:pt x="43" y="13"/>
                      <a:pt x="41" y="12"/>
                      <a:pt x="40" y="11"/>
                    </a:cubicBezTo>
                    <a:cubicBezTo>
                      <a:pt x="40" y="11"/>
                      <a:pt x="39" y="12"/>
                      <a:pt x="39" y="12"/>
                    </a:cubicBezTo>
                    <a:cubicBezTo>
                      <a:pt x="39" y="12"/>
                      <a:pt x="39" y="14"/>
                      <a:pt x="39" y="15"/>
                    </a:cubicBezTo>
                    <a:cubicBezTo>
                      <a:pt x="39" y="15"/>
                      <a:pt x="39" y="16"/>
                      <a:pt x="39" y="16"/>
                    </a:cubicBezTo>
                    <a:cubicBezTo>
                      <a:pt x="39" y="16"/>
                      <a:pt x="37" y="17"/>
                      <a:pt x="37" y="18"/>
                    </a:cubicBezTo>
                    <a:cubicBezTo>
                      <a:pt x="37" y="18"/>
                      <a:pt x="36" y="19"/>
                      <a:pt x="36" y="19"/>
                    </a:cubicBezTo>
                    <a:cubicBezTo>
                      <a:pt x="36" y="19"/>
                      <a:pt x="36" y="20"/>
                      <a:pt x="36" y="21"/>
                    </a:cubicBezTo>
                    <a:cubicBezTo>
                      <a:pt x="36" y="22"/>
                      <a:pt x="35" y="22"/>
                      <a:pt x="34" y="23"/>
                    </a:cubicBezTo>
                    <a:cubicBezTo>
                      <a:pt x="34" y="24"/>
                      <a:pt x="34" y="23"/>
                      <a:pt x="34" y="23"/>
                    </a:cubicBezTo>
                    <a:cubicBezTo>
                      <a:pt x="34" y="22"/>
                      <a:pt x="34" y="22"/>
                      <a:pt x="34" y="22"/>
                    </a:cubicBezTo>
                    <a:cubicBezTo>
                      <a:pt x="34" y="22"/>
                      <a:pt x="33" y="20"/>
                      <a:pt x="33" y="19"/>
                    </a:cubicBezTo>
                    <a:cubicBezTo>
                      <a:pt x="33" y="19"/>
                      <a:pt x="32" y="19"/>
                      <a:pt x="32" y="19"/>
                    </a:cubicBezTo>
                    <a:cubicBezTo>
                      <a:pt x="31" y="19"/>
                      <a:pt x="31" y="18"/>
                      <a:pt x="31" y="18"/>
                    </a:cubicBezTo>
                    <a:cubicBezTo>
                      <a:pt x="31" y="18"/>
                      <a:pt x="28" y="16"/>
                      <a:pt x="27" y="16"/>
                    </a:cubicBezTo>
                    <a:cubicBezTo>
                      <a:pt x="27" y="16"/>
                      <a:pt x="27" y="15"/>
                      <a:pt x="27" y="15"/>
                    </a:cubicBezTo>
                    <a:cubicBezTo>
                      <a:pt x="27" y="15"/>
                      <a:pt x="27" y="13"/>
                      <a:pt x="27" y="13"/>
                    </a:cubicBezTo>
                    <a:cubicBezTo>
                      <a:pt x="27" y="12"/>
                      <a:pt x="27" y="12"/>
                      <a:pt x="27" y="12"/>
                    </a:cubicBezTo>
                    <a:cubicBezTo>
                      <a:pt x="26" y="12"/>
                      <a:pt x="26" y="12"/>
                      <a:pt x="26" y="12"/>
                    </a:cubicBezTo>
                    <a:cubicBezTo>
                      <a:pt x="26" y="12"/>
                      <a:pt x="24" y="14"/>
                      <a:pt x="24" y="14"/>
                    </a:cubicBezTo>
                    <a:cubicBezTo>
                      <a:pt x="24" y="14"/>
                      <a:pt x="23" y="15"/>
                      <a:pt x="23" y="15"/>
                    </a:cubicBezTo>
                    <a:cubicBezTo>
                      <a:pt x="23" y="15"/>
                      <a:pt x="23" y="15"/>
                      <a:pt x="23" y="15"/>
                    </a:cubicBezTo>
                    <a:cubicBezTo>
                      <a:pt x="23" y="15"/>
                      <a:pt x="22" y="17"/>
                      <a:pt x="22" y="18"/>
                    </a:cubicBezTo>
                    <a:cubicBezTo>
                      <a:pt x="21" y="18"/>
                      <a:pt x="21" y="19"/>
                      <a:pt x="21" y="19"/>
                    </a:cubicBezTo>
                    <a:cubicBezTo>
                      <a:pt x="21" y="19"/>
                      <a:pt x="19" y="21"/>
                      <a:pt x="19" y="21"/>
                    </a:cubicBezTo>
                    <a:cubicBezTo>
                      <a:pt x="18" y="22"/>
                      <a:pt x="18" y="22"/>
                      <a:pt x="18" y="22"/>
                    </a:cubicBezTo>
                    <a:cubicBezTo>
                      <a:pt x="18" y="22"/>
                      <a:pt x="15" y="21"/>
                      <a:pt x="14" y="21"/>
                    </a:cubicBezTo>
                    <a:cubicBezTo>
                      <a:pt x="14" y="21"/>
                      <a:pt x="14" y="21"/>
                      <a:pt x="13" y="21"/>
                    </a:cubicBezTo>
                    <a:cubicBezTo>
                      <a:pt x="13" y="21"/>
                      <a:pt x="13" y="21"/>
                      <a:pt x="12" y="21"/>
                    </a:cubicBezTo>
                    <a:cubicBezTo>
                      <a:pt x="12" y="21"/>
                      <a:pt x="7" y="22"/>
                      <a:pt x="7" y="22"/>
                    </a:cubicBezTo>
                    <a:cubicBezTo>
                      <a:pt x="6" y="22"/>
                      <a:pt x="6" y="22"/>
                      <a:pt x="6" y="2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74" name="Freeform 1086">
                <a:extLst>
                  <a:ext uri="{FF2B5EF4-FFF2-40B4-BE49-F238E27FC236}">
                    <a16:creationId xmlns:a16="http://schemas.microsoft.com/office/drawing/2014/main" id="{B71C149E-1853-426F-812E-3AD5A9F642E2}"/>
                  </a:ext>
                </a:extLst>
              </p:cNvPr>
              <p:cNvSpPr>
                <a:spLocks/>
              </p:cNvSpPr>
              <p:nvPr/>
            </p:nvSpPr>
            <p:spPr bwMode="auto">
              <a:xfrm>
                <a:off x="3476" y="1671"/>
                <a:ext cx="4" cy="6"/>
              </a:xfrm>
              <a:custGeom>
                <a:avLst/>
                <a:gdLst>
                  <a:gd name="T0" fmla="*/ 1 w 3"/>
                  <a:gd name="T1" fmla="*/ 4 h 5"/>
                  <a:gd name="T2" fmla="*/ 1 w 3"/>
                  <a:gd name="T3" fmla="*/ 2 h 5"/>
                  <a:gd name="T4" fmla="*/ 0 w 3"/>
                  <a:gd name="T5" fmla="*/ 2 h 5"/>
                  <a:gd name="T6" fmla="*/ 1 w 3"/>
                  <a:gd name="T7" fmla="*/ 4 h 5"/>
                </a:gdLst>
                <a:ahLst/>
                <a:cxnLst>
                  <a:cxn ang="0">
                    <a:pos x="T0" y="T1"/>
                  </a:cxn>
                  <a:cxn ang="0">
                    <a:pos x="T2" y="T3"/>
                  </a:cxn>
                  <a:cxn ang="0">
                    <a:pos x="T4" y="T5"/>
                  </a:cxn>
                  <a:cxn ang="0">
                    <a:pos x="T6" y="T7"/>
                  </a:cxn>
                </a:cxnLst>
                <a:rect l="0" t="0" r="r" b="b"/>
                <a:pathLst>
                  <a:path w="3" h="5">
                    <a:moveTo>
                      <a:pt x="1" y="4"/>
                    </a:moveTo>
                    <a:cubicBezTo>
                      <a:pt x="3" y="5"/>
                      <a:pt x="2" y="4"/>
                      <a:pt x="1" y="2"/>
                    </a:cubicBezTo>
                    <a:cubicBezTo>
                      <a:pt x="0" y="0"/>
                      <a:pt x="0" y="2"/>
                      <a:pt x="0" y="2"/>
                    </a:cubicBezTo>
                    <a:cubicBezTo>
                      <a:pt x="0" y="3"/>
                      <a:pt x="0" y="2"/>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75" name="Freeform 1087">
                <a:extLst>
                  <a:ext uri="{FF2B5EF4-FFF2-40B4-BE49-F238E27FC236}">
                    <a16:creationId xmlns:a16="http://schemas.microsoft.com/office/drawing/2014/main" id="{FDEE2DFF-0AD2-4F41-A958-048BDBC6841D}"/>
                  </a:ext>
                </a:extLst>
              </p:cNvPr>
              <p:cNvSpPr>
                <a:spLocks/>
              </p:cNvSpPr>
              <p:nvPr/>
            </p:nvSpPr>
            <p:spPr bwMode="auto">
              <a:xfrm>
                <a:off x="3456" y="1645"/>
                <a:ext cx="3" cy="5"/>
              </a:xfrm>
              <a:custGeom>
                <a:avLst/>
                <a:gdLst>
                  <a:gd name="T0" fmla="*/ 1 w 2"/>
                  <a:gd name="T1" fmla="*/ 2 h 4"/>
                  <a:gd name="T2" fmla="*/ 0 w 2"/>
                  <a:gd name="T3" fmla="*/ 1 h 4"/>
                  <a:gd name="T4" fmla="*/ 1 w 2"/>
                  <a:gd name="T5" fmla="*/ 2 h 4"/>
                </a:gdLst>
                <a:ahLst/>
                <a:cxnLst>
                  <a:cxn ang="0">
                    <a:pos x="T0" y="T1"/>
                  </a:cxn>
                  <a:cxn ang="0">
                    <a:pos x="T2" y="T3"/>
                  </a:cxn>
                  <a:cxn ang="0">
                    <a:pos x="T4" y="T5"/>
                  </a:cxn>
                </a:cxnLst>
                <a:rect l="0" t="0" r="r" b="b"/>
                <a:pathLst>
                  <a:path w="2" h="4">
                    <a:moveTo>
                      <a:pt x="1" y="2"/>
                    </a:moveTo>
                    <a:cubicBezTo>
                      <a:pt x="1" y="0"/>
                      <a:pt x="0" y="0"/>
                      <a:pt x="0" y="1"/>
                    </a:cubicBezTo>
                    <a:cubicBezTo>
                      <a:pt x="0" y="1"/>
                      <a:pt x="2" y="4"/>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76" name="Freeform 1088">
                <a:extLst>
                  <a:ext uri="{FF2B5EF4-FFF2-40B4-BE49-F238E27FC236}">
                    <a16:creationId xmlns:a16="http://schemas.microsoft.com/office/drawing/2014/main" id="{BCA5064A-E739-4237-938A-AEEEA0686721}"/>
                  </a:ext>
                </a:extLst>
              </p:cNvPr>
              <p:cNvSpPr>
                <a:spLocks/>
              </p:cNvSpPr>
              <p:nvPr/>
            </p:nvSpPr>
            <p:spPr bwMode="auto">
              <a:xfrm>
                <a:off x="3679" y="1746"/>
                <a:ext cx="21" cy="44"/>
              </a:xfrm>
              <a:custGeom>
                <a:avLst/>
                <a:gdLst>
                  <a:gd name="T0" fmla="*/ 11 w 15"/>
                  <a:gd name="T1" fmla="*/ 6 h 32"/>
                  <a:gd name="T2" fmla="*/ 5 w 15"/>
                  <a:gd name="T3" fmla="*/ 8 h 32"/>
                  <a:gd name="T4" fmla="*/ 0 w 15"/>
                  <a:gd name="T5" fmla="*/ 14 h 32"/>
                  <a:gd name="T6" fmla="*/ 1 w 15"/>
                  <a:gd name="T7" fmla="*/ 18 h 32"/>
                  <a:gd name="T8" fmla="*/ 1 w 15"/>
                  <a:gd name="T9" fmla="*/ 20 h 32"/>
                  <a:gd name="T10" fmla="*/ 3 w 15"/>
                  <a:gd name="T11" fmla="*/ 22 h 32"/>
                  <a:gd name="T12" fmla="*/ 2 w 15"/>
                  <a:gd name="T13" fmla="*/ 24 h 32"/>
                  <a:gd name="T14" fmla="*/ 4 w 15"/>
                  <a:gd name="T15" fmla="*/ 25 h 32"/>
                  <a:gd name="T16" fmla="*/ 5 w 15"/>
                  <a:gd name="T17" fmla="*/ 28 h 32"/>
                  <a:gd name="T18" fmla="*/ 10 w 15"/>
                  <a:gd name="T19" fmla="*/ 29 h 32"/>
                  <a:gd name="T20" fmla="*/ 14 w 15"/>
                  <a:gd name="T21" fmla="*/ 16 h 32"/>
                  <a:gd name="T22" fmla="*/ 15 w 15"/>
                  <a:gd name="T23" fmla="*/ 10 h 32"/>
                  <a:gd name="T24" fmla="*/ 14 w 15"/>
                  <a:gd name="T25" fmla="*/ 4 h 32"/>
                  <a:gd name="T26" fmla="*/ 13 w 15"/>
                  <a:gd name="T27" fmla="*/ 2 h 32"/>
                  <a:gd name="T28" fmla="*/ 12 w 15"/>
                  <a:gd name="T29" fmla="*/ 2 h 32"/>
                  <a:gd name="T30" fmla="*/ 11 w 15"/>
                  <a:gd name="T31"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32">
                    <a:moveTo>
                      <a:pt x="11" y="6"/>
                    </a:moveTo>
                    <a:cubicBezTo>
                      <a:pt x="8" y="7"/>
                      <a:pt x="7" y="7"/>
                      <a:pt x="5" y="8"/>
                    </a:cubicBezTo>
                    <a:cubicBezTo>
                      <a:pt x="4" y="10"/>
                      <a:pt x="0" y="11"/>
                      <a:pt x="0" y="14"/>
                    </a:cubicBezTo>
                    <a:cubicBezTo>
                      <a:pt x="1" y="16"/>
                      <a:pt x="1" y="17"/>
                      <a:pt x="1" y="18"/>
                    </a:cubicBezTo>
                    <a:cubicBezTo>
                      <a:pt x="0" y="19"/>
                      <a:pt x="0" y="20"/>
                      <a:pt x="1" y="20"/>
                    </a:cubicBezTo>
                    <a:cubicBezTo>
                      <a:pt x="2" y="20"/>
                      <a:pt x="3" y="22"/>
                      <a:pt x="3" y="22"/>
                    </a:cubicBezTo>
                    <a:cubicBezTo>
                      <a:pt x="2" y="23"/>
                      <a:pt x="1" y="23"/>
                      <a:pt x="2" y="24"/>
                    </a:cubicBezTo>
                    <a:cubicBezTo>
                      <a:pt x="3" y="24"/>
                      <a:pt x="4" y="25"/>
                      <a:pt x="4" y="25"/>
                    </a:cubicBezTo>
                    <a:cubicBezTo>
                      <a:pt x="4" y="26"/>
                      <a:pt x="3" y="28"/>
                      <a:pt x="5" y="28"/>
                    </a:cubicBezTo>
                    <a:cubicBezTo>
                      <a:pt x="6" y="29"/>
                      <a:pt x="9" y="32"/>
                      <a:pt x="10" y="29"/>
                    </a:cubicBezTo>
                    <a:cubicBezTo>
                      <a:pt x="10" y="27"/>
                      <a:pt x="14" y="18"/>
                      <a:pt x="14" y="16"/>
                    </a:cubicBezTo>
                    <a:cubicBezTo>
                      <a:pt x="15" y="14"/>
                      <a:pt x="15" y="13"/>
                      <a:pt x="15" y="10"/>
                    </a:cubicBezTo>
                    <a:cubicBezTo>
                      <a:pt x="14" y="7"/>
                      <a:pt x="14" y="5"/>
                      <a:pt x="14" y="4"/>
                    </a:cubicBezTo>
                    <a:cubicBezTo>
                      <a:pt x="14" y="3"/>
                      <a:pt x="14" y="2"/>
                      <a:pt x="13" y="2"/>
                    </a:cubicBezTo>
                    <a:cubicBezTo>
                      <a:pt x="13" y="2"/>
                      <a:pt x="11" y="0"/>
                      <a:pt x="12" y="2"/>
                    </a:cubicBezTo>
                    <a:cubicBezTo>
                      <a:pt x="12" y="4"/>
                      <a:pt x="13" y="6"/>
                      <a:pt x="11"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77" name="Freeform 1089">
                <a:extLst>
                  <a:ext uri="{FF2B5EF4-FFF2-40B4-BE49-F238E27FC236}">
                    <a16:creationId xmlns:a16="http://schemas.microsoft.com/office/drawing/2014/main" id="{7BDFB34E-B88C-490B-A1DC-A27968F09567}"/>
                  </a:ext>
                </a:extLst>
              </p:cNvPr>
              <p:cNvSpPr>
                <a:spLocks/>
              </p:cNvSpPr>
              <p:nvPr/>
            </p:nvSpPr>
            <p:spPr bwMode="auto">
              <a:xfrm>
                <a:off x="4915" y="3759"/>
                <a:ext cx="38" cy="30"/>
              </a:xfrm>
              <a:custGeom>
                <a:avLst/>
                <a:gdLst>
                  <a:gd name="T0" fmla="*/ 23 w 28"/>
                  <a:gd name="T1" fmla="*/ 9 h 22"/>
                  <a:gd name="T2" fmla="*/ 21 w 28"/>
                  <a:gd name="T3" fmla="*/ 9 h 22"/>
                  <a:gd name="T4" fmla="*/ 17 w 28"/>
                  <a:gd name="T5" fmla="*/ 12 h 22"/>
                  <a:gd name="T6" fmla="*/ 15 w 28"/>
                  <a:gd name="T7" fmla="*/ 13 h 22"/>
                  <a:gd name="T8" fmla="*/ 13 w 28"/>
                  <a:gd name="T9" fmla="*/ 12 h 22"/>
                  <a:gd name="T10" fmla="*/ 12 w 28"/>
                  <a:gd name="T11" fmla="*/ 12 h 22"/>
                  <a:gd name="T12" fmla="*/ 11 w 28"/>
                  <a:gd name="T13" fmla="*/ 11 h 22"/>
                  <a:gd name="T14" fmla="*/ 11 w 28"/>
                  <a:gd name="T15" fmla="*/ 10 h 22"/>
                  <a:gd name="T16" fmla="*/ 11 w 28"/>
                  <a:gd name="T17" fmla="*/ 10 h 22"/>
                  <a:gd name="T18" fmla="*/ 14 w 28"/>
                  <a:gd name="T19" fmla="*/ 9 h 22"/>
                  <a:gd name="T20" fmla="*/ 14 w 28"/>
                  <a:gd name="T21" fmla="*/ 8 h 22"/>
                  <a:gd name="T22" fmla="*/ 13 w 28"/>
                  <a:gd name="T23" fmla="*/ 7 h 22"/>
                  <a:gd name="T24" fmla="*/ 12 w 28"/>
                  <a:gd name="T25" fmla="*/ 8 h 22"/>
                  <a:gd name="T26" fmla="*/ 11 w 28"/>
                  <a:gd name="T27" fmla="*/ 8 h 22"/>
                  <a:gd name="T28" fmla="*/ 9 w 28"/>
                  <a:gd name="T29" fmla="*/ 9 h 22"/>
                  <a:gd name="T30" fmla="*/ 7 w 28"/>
                  <a:gd name="T31" fmla="*/ 8 h 22"/>
                  <a:gd name="T32" fmla="*/ 5 w 28"/>
                  <a:gd name="T33" fmla="*/ 8 h 22"/>
                  <a:gd name="T34" fmla="*/ 5 w 28"/>
                  <a:gd name="T35" fmla="*/ 7 h 22"/>
                  <a:gd name="T36" fmla="*/ 6 w 28"/>
                  <a:gd name="T37" fmla="*/ 6 h 22"/>
                  <a:gd name="T38" fmla="*/ 7 w 28"/>
                  <a:gd name="T39" fmla="*/ 4 h 22"/>
                  <a:gd name="T40" fmla="*/ 6 w 28"/>
                  <a:gd name="T41" fmla="*/ 3 h 22"/>
                  <a:gd name="T42" fmla="*/ 4 w 28"/>
                  <a:gd name="T43" fmla="*/ 4 h 22"/>
                  <a:gd name="T44" fmla="*/ 4 w 28"/>
                  <a:gd name="T45" fmla="*/ 3 h 22"/>
                  <a:gd name="T46" fmla="*/ 5 w 28"/>
                  <a:gd name="T47" fmla="*/ 2 h 22"/>
                  <a:gd name="T48" fmla="*/ 5 w 28"/>
                  <a:gd name="T49" fmla="*/ 2 h 22"/>
                  <a:gd name="T50" fmla="*/ 5 w 28"/>
                  <a:gd name="T51" fmla="*/ 0 h 22"/>
                  <a:gd name="T52" fmla="*/ 4 w 28"/>
                  <a:gd name="T53" fmla="*/ 1 h 22"/>
                  <a:gd name="T54" fmla="*/ 2 w 28"/>
                  <a:gd name="T55" fmla="*/ 4 h 22"/>
                  <a:gd name="T56" fmla="*/ 1 w 28"/>
                  <a:gd name="T57" fmla="*/ 6 h 22"/>
                  <a:gd name="T58" fmla="*/ 1 w 28"/>
                  <a:gd name="T59" fmla="*/ 8 h 22"/>
                  <a:gd name="T60" fmla="*/ 1 w 28"/>
                  <a:gd name="T61" fmla="*/ 9 h 22"/>
                  <a:gd name="T62" fmla="*/ 1 w 28"/>
                  <a:gd name="T63" fmla="*/ 11 h 22"/>
                  <a:gd name="T64" fmla="*/ 2 w 28"/>
                  <a:gd name="T65" fmla="*/ 13 h 22"/>
                  <a:gd name="T66" fmla="*/ 2 w 28"/>
                  <a:gd name="T67" fmla="*/ 16 h 22"/>
                  <a:gd name="T68" fmla="*/ 1 w 28"/>
                  <a:gd name="T69" fmla="*/ 20 h 22"/>
                  <a:gd name="T70" fmla="*/ 5 w 28"/>
                  <a:gd name="T71" fmla="*/ 18 h 22"/>
                  <a:gd name="T72" fmla="*/ 9 w 28"/>
                  <a:gd name="T73" fmla="*/ 18 h 22"/>
                  <a:gd name="T74" fmla="*/ 14 w 28"/>
                  <a:gd name="T75" fmla="*/ 20 h 22"/>
                  <a:gd name="T76" fmla="*/ 14 w 28"/>
                  <a:gd name="T77" fmla="*/ 18 h 22"/>
                  <a:gd name="T78" fmla="*/ 16 w 28"/>
                  <a:gd name="T79" fmla="*/ 19 h 22"/>
                  <a:gd name="T80" fmla="*/ 20 w 28"/>
                  <a:gd name="T81" fmla="*/ 20 h 22"/>
                  <a:gd name="T82" fmla="*/ 24 w 28"/>
                  <a:gd name="T83" fmla="*/ 19 h 22"/>
                  <a:gd name="T84" fmla="*/ 22 w 28"/>
                  <a:gd name="T85" fmla="*/ 18 h 22"/>
                  <a:gd name="T86" fmla="*/ 20 w 28"/>
                  <a:gd name="T87" fmla="*/ 19 h 22"/>
                  <a:gd name="T88" fmla="*/ 16 w 28"/>
                  <a:gd name="T89" fmla="*/ 16 h 22"/>
                  <a:gd name="T90" fmla="*/ 17 w 28"/>
                  <a:gd name="T91" fmla="*/ 15 h 22"/>
                  <a:gd name="T92" fmla="*/ 17 w 28"/>
                  <a:gd name="T93" fmla="*/ 14 h 22"/>
                  <a:gd name="T94" fmla="*/ 18 w 28"/>
                  <a:gd name="T95" fmla="*/ 14 h 22"/>
                  <a:gd name="T96" fmla="*/ 22 w 28"/>
                  <a:gd name="T97" fmla="*/ 14 h 22"/>
                  <a:gd name="T98" fmla="*/ 25 w 28"/>
                  <a:gd name="T99" fmla="*/ 16 h 22"/>
                  <a:gd name="T100" fmla="*/ 26 w 28"/>
                  <a:gd name="T101" fmla="*/ 15 h 22"/>
                  <a:gd name="T102" fmla="*/ 27 w 28"/>
                  <a:gd name="T103" fmla="*/ 13 h 22"/>
                  <a:gd name="T104" fmla="*/ 27 w 28"/>
                  <a:gd name="T105" fmla="*/ 9 h 22"/>
                  <a:gd name="T106" fmla="*/ 23 w 28"/>
                  <a:gd name="T107" fmla="*/ 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8" h="22">
                    <a:moveTo>
                      <a:pt x="23" y="9"/>
                    </a:moveTo>
                    <a:cubicBezTo>
                      <a:pt x="22" y="10"/>
                      <a:pt x="23" y="9"/>
                      <a:pt x="21" y="9"/>
                    </a:cubicBezTo>
                    <a:cubicBezTo>
                      <a:pt x="20" y="9"/>
                      <a:pt x="18" y="10"/>
                      <a:pt x="17" y="12"/>
                    </a:cubicBezTo>
                    <a:cubicBezTo>
                      <a:pt x="16" y="13"/>
                      <a:pt x="16" y="12"/>
                      <a:pt x="15" y="13"/>
                    </a:cubicBezTo>
                    <a:cubicBezTo>
                      <a:pt x="14" y="13"/>
                      <a:pt x="13" y="13"/>
                      <a:pt x="13" y="12"/>
                    </a:cubicBezTo>
                    <a:cubicBezTo>
                      <a:pt x="14" y="12"/>
                      <a:pt x="13" y="12"/>
                      <a:pt x="12" y="12"/>
                    </a:cubicBezTo>
                    <a:cubicBezTo>
                      <a:pt x="10" y="13"/>
                      <a:pt x="11" y="12"/>
                      <a:pt x="11" y="11"/>
                    </a:cubicBezTo>
                    <a:cubicBezTo>
                      <a:pt x="12" y="11"/>
                      <a:pt x="11" y="11"/>
                      <a:pt x="11" y="10"/>
                    </a:cubicBezTo>
                    <a:cubicBezTo>
                      <a:pt x="10" y="10"/>
                      <a:pt x="11" y="10"/>
                      <a:pt x="11" y="10"/>
                    </a:cubicBezTo>
                    <a:cubicBezTo>
                      <a:pt x="11" y="9"/>
                      <a:pt x="13" y="10"/>
                      <a:pt x="14" y="9"/>
                    </a:cubicBezTo>
                    <a:cubicBezTo>
                      <a:pt x="14" y="9"/>
                      <a:pt x="14" y="8"/>
                      <a:pt x="14" y="8"/>
                    </a:cubicBezTo>
                    <a:cubicBezTo>
                      <a:pt x="13" y="7"/>
                      <a:pt x="14" y="7"/>
                      <a:pt x="13" y="7"/>
                    </a:cubicBezTo>
                    <a:cubicBezTo>
                      <a:pt x="12" y="7"/>
                      <a:pt x="12" y="7"/>
                      <a:pt x="12" y="8"/>
                    </a:cubicBezTo>
                    <a:cubicBezTo>
                      <a:pt x="12" y="8"/>
                      <a:pt x="11" y="9"/>
                      <a:pt x="11" y="8"/>
                    </a:cubicBezTo>
                    <a:cubicBezTo>
                      <a:pt x="10" y="8"/>
                      <a:pt x="10" y="9"/>
                      <a:pt x="9" y="9"/>
                    </a:cubicBezTo>
                    <a:cubicBezTo>
                      <a:pt x="8" y="10"/>
                      <a:pt x="7" y="9"/>
                      <a:pt x="7" y="8"/>
                    </a:cubicBezTo>
                    <a:cubicBezTo>
                      <a:pt x="6" y="8"/>
                      <a:pt x="6" y="7"/>
                      <a:pt x="5" y="8"/>
                    </a:cubicBezTo>
                    <a:cubicBezTo>
                      <a:pt x="4" y="9"/>
                      <a:pt x="5" y="7"/>
                      <a:pt x="5" y="7"/>
                    </a:cubicBezTo>
                    <a:cubicBezTo>
                      <a:pt x="6" y="6"/>
                      <a:pt x="6" y="6"/>
                      <a:pt x="6" y="6"/>
                    </a:cubicBezTo>
                    <a:cubicBezTo>
                      <a:pt x="5" y="5"/>
                      <a:pt x="6" y="5"/>
                      <a:pt x="7" y="4"/>
                    </a:cubicBezTo>
                    <a:cubicBezTo>
                      <a:pt x="8" y="3"/>
                      <a:pt x="7" y="4"/>
                      <a:pt x="6" y="3"/>
                    </a:cubicBezTo>
                    <a:cubicBezTo>
                      <a:pt x="6" y="2"/>
                      <a:pt x="6" y="2"/>
                      <a:pt x="4" y="4"/>
                    </a:cubicBezTo>
                    <a:cubicBezTo>
                      <a:pt x="3" y="5"/>
                      <a:pt x="2" y="5"/>
                      <a:pt x="4" y="3"/>
                    </a:cubicBezTo>
                    <a:cubicBezTo>
                      <a:pt x="6" y="2"/>
                      <a:pt x="6" y="2"/>
                      <a:pt x="5" y="2"/>
                    </a:cubicBezTo>
                    <a:cubicBezTo>
                      <a:pt x="4" y="3"/>
                      <a:pt x="4" y="2"/>
                      <a:pt x="5" y="2"/>
                    </a:cubicBezTo>
                    <a:cubicBezTo>
                      <a:pt x="5" y="1"/>
                      <a:pt x="5" y="0"/>
                      <a:pt x="5" y="0"/>
                    </a:cubicBezTo>
                    <a:cubicBezTo>
                      <a:pt x="4" y="0"/>
                      <a:pt x="4" y="1"/>
                      <a:pt x="4" y="1"/>
                    </a:cubicBezTo>
                    <a:cubicBezTo>
                      <a:pt x="3" y="3"/>
                      <a:pt x="3" y="3"/>
                      <a:pt x="2" y="4"/>
                    </a:cubicBezTo>
                    <a:cubicBezTo>
                      <a:pt x="1" y="5"/>
                      <a:pt x="1" y="4"/>
                      <a:pt x="1" y="6"/>
                    </a:cubicBezTo>
                    <a:cubicBezTo>
                      <a:pt x="2" y="7"/>
                      <a:pt x="2" y="8"/>
                      <a:pt x="1" y="8"/>
                    </a:cubicBezTo>
                    <a:cubicBezTo>
                      <a:pt x="1" y="8"/>
                      <a:pt x="0" y="8"/>
                      <a:pt x="1" y="9"/>
                    </a:cubicBezTo>
                    <a:cubicBezTo>
                      <a:pt x="2" y="10"/>
                      <a:pt x="2" y="11"/>
                      <a:pt x="1" y="11"/>
                    </a:cubicBezTo>
                    <a:cubicBezTo>
                      <a:pt x="0" y="11"/>
                      <a:pt x="2" y="12"/>
                      <a:pt x="2" y="13"/>
                    </a:cubicBezTo>
                    <a:cubicBezTo>
                      <a:pt x="2" y="15"/>
                      <a:pt x="3" y="15"/>
                      <a:pt x="2" y="16"/>
                    </a:cubicBezTo>
                    <a:cubicBezTo>
                      <a:pt x="2" y="17"/>
                      <a:pt x="2" y="18"/>
                      <a:pt x="1" y="20"/>
                    </a:cubicBezTo>
                    <a:cubicBezTo>
                      <a:pt x="0" y="22"/>
                      <a:pt x="4" y="20"/>
                      <a:pt x="5" y="18"/>
                    </a:cubicBezTo>
                    <a:cubicBezTo>
                      <a:pt x="6" y="17"/>
                      <a:pt x="7" y="17"/>
                      <a:pt x="9" y="18"/>
                    </a:cubicBezTo>
                    <a:cubicBezTo>
                      <a:pt x="11" y="19"/>
                      <a:pt x="13" y="19"/>
                      <a:pt x="14" y="20"/>
                    </a:cubicBezTo>
                    <a:cubicBezTo>
                      <a:pt x="15" y="20"/>
                      <a:pt x="15" y="19"/>
                      <a:pt x="14" y="18"/>
                    </a:cubicBezTo>
                    <a:cubicBezTo>
                      <a:pt x="14" y="16"/>
                      <a:pt x="15" y="18"/>
                      <a:pt x="16" y="19"/>
                    </a:cubicBezTo>
                    <a:cubicBezTo>
                      <a:pt x="17" y="20"/>
                      <a:pt x="19" y="20"/>
                      <a:pt x="20" y="20"/>
                    </a:cubicBezTo>
                    <a:cubicBezTo>
                      <a:pt x="22" y="21"/>
                      <a:pt x="23" y="20"/>
                      <a:pt x="24" y="19"/>
                    </a:cubicBezTo>
                    <a:cubicBezTo>
                      <a:pt x="25" y="17"/>
                      <a:pt x="23" y="18"/>
                      <a:pt x="22" y="18"/>
                    </a:cubicBezTo>
                    <a:cubicBezTo>
                      <a:pt x="22" y="18"/>
                      <a:pt x="22" y="19"/>
                      <a:pt x="20" y="19"/>
                    </a:cubicBezTo>
                    <a:cubicBezTo>
                      <a:pt x="19" y="19"/>
                      <a:pt x="17" y="17"/>
                      <a:pt x="16" y="16"/>
                    </a:cubicBezTo>
                    <a:cubicBezTo>
                      <a:pt x="15" y="15"/>
                      <a:pt x="16" y="15"/>
                      <a:pt x="17" y="15"/>
                    </a:cubicBezTo>
                    <a:cubicBezTo>
                      <a:pt x="18" y="15"/>
                      <a:pt x="18" y="15"/>
                      <a:pt x="17" y="14"/>
                    </a:cubicBezTo>
                    <a:cubicBezTo>
                      <a:pt x="16" y="14"/>
                      <a:pt x="17" y="14"/>
                      <a:pt x="18" y="14"/>
                    </a:cubicBezTo>
                    <a:cubicBezTo>
                      <a:pt x="19" y="14"/>
                      <a:pt x="21" y="14"/>
                      <a:pt x="22" y="14"/>
                    </a:cubicBezTo>
                    <a:cubicBezTo>
                      <a:pt x="23" y="13"/>
                      <a:pt x="24" y="15"/>
                      <a:pt x="25" y="16"/>
                    </a:cubicBezTo>
                    <a:cubicBezTo>
                      <a:pt x="25" y="16"/>
                      <a:pt x="26" y="16"/>
                      <a:pt x="26" y="15"/>
                    </a:cubicBezTo>
                    <a:cubicBezTo>
                      <a:pt x="25" y="14"/>
                      <a:pt x="26" y="14"/>
                      <a:pt x="27" y="13"/>
                    </a:cubicBezTo>
                    <a:cubicBezTo>
                      <a:pt x="28" y="13"/>
                      <a:pt x="28" y="10"/>
                      <a:pt x="27" y="9"/>
                    </a:cubicBezTo>
                    <a:cubicBezTo>
                      <a:pt x="26" y="8"/>
                      <a:pt x="24" y="8"/>
                      <a:pt x="23"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78" name="Freeform 1090">
                <a:extLst>
                  <a:ext uri="{FF2B5EF4-FFF2-40B4-BE49-F238E27FC236}">
                    <a16:creationId xmlns:a16="http://schemas.microsoft.com/office/drawing/2014/main" id="{A479A06F-93D8-43C2-A691-3B5E9FF275FE}"/>
                  </a:ext>
                </a:extLst>
              </p:cNvPr>
              <p:cNvSpPr>
                <a:spLocks/>
              </p:cNvSpPr>
              <p:nvPr/>
            </p:nvSpPr>
            <p:spPr bwMode="auto">
              <a:xfrm>
                <a:off x="4926" y="3766"/>
                <a:ext cx="2" cy="6"/>
              </a:xfrm>
              <a:custGeom>
                <a:avLst/>
                <a:gdLst>
                  <a:gd name="T0" fmla="*/ 1 w 2"/>
                  <a:gd name="T1" fmla="*/ 3 h 4"/>
                  <a:gd name="T2" fmla="*/ 2 w 2"/>
                  <a:gd name="T3" fmla="*/ 1 h 4"/>
                  <a:gd name="T4" fmla="*/ 1 w 2"/>
                  <a:gd name="T5" fmla="*/ 2 h 4"/>
                  <a:gd name="T6" fmla="*/ 1 w 2"/>
                  <a:gd name="T7" fmla="*/ 3 h 4"/>
                </a:gdLst>
                <a:ahLst/>
                <a:cxnLst>
                  <a:cxn ang="0">
                    <a:pos x="T0" y="T1"/>
                  </a:cxn>
                  <a:cxn ang="0">
                    <a:pos x="T2" y="T3"/>
                  </a:cxn>
                  <a:cxn ang="0">
                    <a:pos x="T4" y="T5"/>
                  </a:cxn>
                  <a:cxn ang="0">
                    <a:pos x="T6" y="T7"/>
                  </a:cxn>
                </a:cxnLst>
                <a:rect l="0" t="0" r="r" b="b"/>
                <a:pathLst>
                  <a:path w="2" h="4">
                    <a:moveTo>
                      <a:pt x="1" y="3"/>
                    </a:moveTo>
                    <a:cubicBezTo>
                      <a:pt x="2" y="1"/>
                      <a:pt x="2" y="3"/>
                      <a:pt x="2" y="1"/>
                    </a:cubicBezTo>
                    <a:cubicBezTo>
                      <a:pt x="2" y="1"/>
                      <a:pt x="2" y="0"/>
                      <a:pt x="1" y="2"/>
                    </a:cubicBezTo>
                    <a:cubicBezTo>
                      <a:pt x="0" y="3"/>
                      <a:pt x="0" y="4"/>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79" name="Freeform 1091">
                <a:extLst>
                  <a:ext uri="{FF2B5EF4-FFF2-40B4-BE49-F238E27FC236}">
                    <a16:creationId xmlns:a16="http://schemas.microsoft.com/office/drawing/2014/main" id="{386EAF6A-83A5-4A45-B76E-71197FF0D434}"/>
                  </a:ext>
                </a:extLst>
              </p:cNvPr>
              <p:cNvSpPr>
                <a:spLocks/>
              </p:cNvSpPr>
              <p:nvPr/>
            </p:nvSpPr>
            <p:spPr bwMode="auto">
              <a:xfrm>
                <a:off x="4638" y="3113"/>
                <a:ext cx="12" cy="12"/>
              </a:xfrm>
              <a:custGeom>
                <a:avLst/>
                <a:gdLst>
                  <a:gd name="T0" fmla="*/ 2 w 9"/>
                  <a:gd name="T1" fmla="*/ 1 h 9"/>
                  <a:gd name="T2" fmla="*/ 2 w 9"/>
                  <a:gd name="T3" fmla="*/ 6 h 9"/>
                  <a:gd name="T4" fmla="*/ 7 w 9"/>
                  <a:gd name="T5" fmla="*/ 8 h 9"/>
                  <a:gd name="T6" fmla="*/ 7 w 9"/>
                  <a:gd name="T7" fmla="*/ 3 h 9"/>
                  <a:gd name="T8" fmla="*/ 2 w 9"/>
                  <a:gd name="T9" fmla="*/ 1 h 9"/>
                </a:gdLst>
                <a:ahLst/>
                <a:cxnLst>
                  <a:cxn ang="0">
                    <a:pos x="T0" y="T1"/>
                  </a:cxn>
                  <a:cxn ang="0">
                    <a:pos x="T2" y="T3"/>
                  </a:cxn>
                  <a:cxn ang="0">
                    <a:pos x="T4" y="T5"/>
                  </a:cxn>
                  <a:cxn ang="0">
                    <a:pos x="T6" y="T7"/>
                  </a:cxn>
                  <a:cxn ang="0">
                    <a:pos x="T8" y="T9"/>
                  </a:cxn>
                </a:cxnLst>
                <a:rect l="0" t="0" r="r" b="b"/>
                <a:pathLst>
                  <a:path w="9" h="9">
                    <a:moveTo>
                      <a:pt x="2" y="1"/>
                    </a:moveTo>
                    <a:cubicBezTo>
                      <a:pt x="0" y="3"/>
                      <a:pt x="2" y="6"/>
                      <a:pt x="2" y="6"/>
                    </a:cubicBezTo>
                    <a:cubicBezTo>
                      <a:pt x="3" y="8"/>
                      <a:pt x="6" y="9"/>
                      <a:pt x="7" y="8"/>
                    </a:cubicBezTo>
                    <a:cubicBezTo>
                      <a:pt x="9" y="7"/>
                      <a:pt x="9" y="5"/>
                      <a:pt x="7" y="3"/>
                    </a:cubicBezTo>
                    <a:cubicBezTo>
                      <a:pt x="5" y="0"/>
                      <a:pt x="3"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80" name="Freeform 1092">
                <a:extLst>
                  <a:ext uri="{FF2B5EF4-FFF2-40B4-BE49-F238E27FC236}">
                    <a16:creationId xmlns:a16="http://schemas.microsoft.com/office/drawing/2014/main" id="{ADEFA34A-2420-40E2-A170-F9116AE33C7F}"/>
                  </a:ext>
                </a:extLst>
              </p:cNvPr>
              <p:cNvSpPr>
                <a:spLocks/>
              </p:cNvSpPr>
              <p:nvPr/>
            </p:nvSpPr>
            <p:spPr bwMode="auto">
              <a:xfrm>
                <a:off x="4681" y="3094"/>
                <a:ext cx="9" cy="13"/>
              </a:xfrm>
              <a:custGeom>
                <a:avLst/>
                <a:gdLst>
                  <a:gd name="T0" fmla="*/ 5 w 7"/>
                  <a:gd name="T1" fmla="*/ 1 h 10"/>
                  <a:gd name="T2" fmla="*/ 1 w 7"/>
                  <a:gd name="T3" fmla="*/ 7 h 10"/>
                  <a:gd name="T4" fmla="*/ 3 w 7"/>
                  <a:gd name="T5" fmla="*/ 8 h 10"/>
                  <a:gd name="T6" fmla="*/ 7 w 7"/>
                  <a:gd name="T7" fmla="*/ 5 h 10"/>
                  <a:gd name="T8" fmla="*/ 5 w 7"/>
                  <a:gd name="T9" fmla="*/ 1 h 10"/>
                </a:gdLst>
                <a:ahLst/>
                <a:cxnLst>
                  <a:cxn ang="0">
                    <a:pos x="T0" y="T1"/>
                  </a:cxn>
                  <a:cxn ang="0">
                    <a:pos x="T2" y="T3"/>
                  </a:cxn>
                  <a:cxn ang="0">
                    <a:pos x="T4" y="T5"/>
                  </a:cxn>
                  <a:cxn ang="0">
                    <a:pos x="T6" y="T7"/>
                  </a:cxn>
                  <a:cxn ang="0">
                    <a:pos x="T8" y="T9"/>
                  </a:cxn>
                </a:cxnLst>
                <a:rect l="0" t="0" r="r" b="b"/>
                <a:pathLst>
                  <a:path w="7" h="10">
                    <a:moveTo>
                      <a:pt x="5" y="1"/>
                    </a:moveTo>
                    <a:cubicBezTo>
                      <a:pt x="3" y="0"/>
                      <a:pt x="2" y="4"/>
                      <a:pt x="1" y="7"/>
                    </a:cubicBezTo>
                    <a:cubicBezTo>
                      <a:pt x="0" y="10"/>
                      <a:pt x="3" y="8"/>
                      <a:pt x="3" y="8"/>
                    </a:cubicBezTo>
                    <a:cubicBezTo>
                      <a:pt x="5" y="8"/>
                      <a:pt x="7" y="7"/>
                      <a:pt x="7" y="5"/>
                    </a:cubicBezTo>
                    <a:cubicBezTo>
                      <a:pt x="7" y="3"/>
                      <a:pt x="6" y="2"/>
                      <a:pt x="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81" name="Freeform 1093">
                <a:extLst>
                  <a:ext uri="{FF2B5EF4-FFF2-40B4-BE49-F238E27FC236}">
                    <a16:creationId xmlns:a16="http://schemas.microsoft.com/office/drawing/2014/main" id="{1433C9DE-CF6B-4D1B-8C61-5CDE025C7464}"/>
                  </a:ext>
                </a:extLst>
              </p:cNvPr>
              <p:cNvSpPr>
                <a:spLocks/>
              </p:cNvSpPr>
              <p:nvPr/>
            </p:nvSpPr>
            <p:spPr bwMode="auto">
              <a:xfrm>
                <a:off x="6871" y="3095"/>
                <a:ext cx="66" cy="54"/>
              </a:xfrm>
              <a:custGeom>
                <a:avLst/>
                <a:gdLst>
                  <a:gd name="T0" fmla="*/ 46 w 48"/>
                  <a:gd name="T1" fmla="*/ 36 h 39"/>
                  <a:gd name="T2" fmla="*/ 41 w 48"/>
                  <a:gd name="T3" fmla="*/ 30 h 39"/>
                  <a:gd name="T4" fmla="*/ 30 w 48"/>
                  <a:gd name="T5" fmla="*/ 22 h 39"/>
                  <a:gd name="T6" fmla="*/ 23 w 48"/>
                  <a:gd name="T7" fmla="*/ 17 h 39"/>
                  <a:gd name="T8" fmla="*/ 14 w 48"/>
                  <a:gd name="T9" fmla="*/ 9 h 39"/>
                  <a:gd name="T10" fmla="*/ 9 w 48"/>
                  <a:gd name="T11" fmla="*/ 5 h 39"/>
                  <a:gd name="T12" fmla="*/ 7 w 48"/>
                  <a:gd name="T13" fmla="*/ 5 h 39"/>
                  <a:gd name="T14" fmla="*/ 2 w 48"/>
                  <a:gd name="T15" fmla="*/ 3 h 39"/>
                  <a:gd name="T16" fmla="*/ 2 w 48"/>
                  <a:gd name="T17" fmla="*/ 3 h 39"/>
                  <a:gd name="T18" fmla="*/ 5 w 48"/>
                  <a:gd name="T19" fmla="*/ 9 h 39"/>
                  <a:gd name="T20" fmla="*/ 23 w 48"/>
                  <a:gd name="T21" fmla="*/ 26 h 39"/>
                  <a:gd name="T22" fmla="*/ 26 w 48"/>
                  <a:gd name="T23" fmla="*/ 27 h 39"/>
                  <a:gd name="T24" fmla="*/ 29 w 48"/>
                  <a:gd name="T25" fmla="*/ 28 h 39"/>
                  <a:gd name="T26" fmla="*/ 35 w 48"/>
                  <a:gd name="T27" fmla="*/ 33 h 39"/>
                  <a:gd name="T28" fmla="*/ 46 w 48"/>
                  <a:gd name="T29" fmla="*/ 36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39">
                    <a:moveTo>
                      <a:pt x="46" y="36"/>
                    </a:moveTo>
                    <a:cubicBezTo>
                      <a:pt x="48" y="32"/>
                      <a:pt x="42" y="31"/>
                      <a:pt x="41" y="30"/>
                    </a:cubicBezTo>
                    <a:cubicBezTo>
                      <a:pt x="39" y="29"/>
                      <a:pt x="32" y="23"/>
                      <a:pt x="30" y="22"/>
                    </a:cubicBezTo>
                    <a:cubicBezTo>
                      <a:pt x="28" y="21"/>
                      <a:pt x="24" y="18"/>
                      <a:pt x="23" y="17"/>
                    </a:cubicBezTo>
                    <a:cubicBezTo>
                      <a:pt x="21" y="15"/>
                      <a:pt x="17" y="11"/>
                      <a:pt x="14" y="9"/>
                    </a:cubicBezTo>
                    <a:cubicBezTo>
                      <a:pt x="12" y="8"/>
                      <a:pt x="10" y="7"/>
                      <a:pt x="9" y="5"/>
                    </a:cubicBezTo>
                    <a:cubicBezTo>
                      <a:pt x="7" y="3"/>
                      <a:pt x="7" y="4"/>
                      <a:pt x="7" y="5"/>
                    </a:cubicBezTo>
                    <a:cubicBezTo>
                      <a:pt x="7" y="6"/>
                      <a:pt x="5" y="5"/>
                      <a:pt x="2" y="3"/>
                    </a:cubicBezTo>
                    <a:cubicBezTo>
                      <a:pt x="0" y="0"/>
                      <a:pt x="2" y="3"/>
                      <a:pt x="2" y="3"/>
                    </a:cubicBezTo>
                    <a:cubicBezTo>
                      <a:pt x="2" y="4"/>
                      <a:pt x="5" y="9"/>
                      <a:pt x="5" y="9"/>
                    </a:cubicBezTo>
                    <a:cubicBezTo>
                      <a:pt x="11" y="17"/>
                      <a:pt x="22" y="25"/>
                      <a:pt x="23" y="26"/>
                    </a:cubicBezTo>
                    <a:cubicBezTo>
                      <a:pt x="24" y="27"/>
                      <a:pt x="25" y="27"/>
                      <a:pt x="26" y="27"/>
                    </a:cubicBezTo>
                    <a:cubicBezTo>
                      <a:pt x="27" y="27"/>
                      <a:pt x="28" y="28"/>
                      <a:pt x="29" y="28"/>
                    </a:cubicBezTo>
                    <a:cubicBezTo>
                      <a:pt x="30" y="29"/>
                      <a:pt x="33" y="31"/>
                      <a:pt x="35" y="33"/>
                    </a:cubicBezTo>
                    <a:cubicBezTo>
                      <a:pt x="37" y="34"/>
                      <a:pt x="44" y="39"/>
                      <a:pt x="46" y="3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82" name="Freeform 1094">
                <a:extLst>
                  <a:ext uri="{FF2B5EF4-FFF2-40B4-BE49-F238E27FC236}">
                    <a16:creationId xmlns:a16="http://schemas.microsoft.com/office/drawing/2014/main" id="{248580FF-8A61-414E-9A72-D9AB212B0701}"/>
                  </a:ext>
                </a:extLst>
              </p:cNvPr>
              <p:cNvSpPr>
                <a:spLocks/>
              </p:cNvSpPr>
              <p:nvPr/>
            </p:nvSpPr>
            <p:spPr bwMode="auto">
              <a:xfrm>
                <a:off x="6933" y="3109"/>
                <a:ext cx="11" cy="12"/>
              </a:xfrm>
              <a:custGeom>
                <a:avLst/>
                <a:gdLst>
                  <a:gd name="T0" fmla="*/ 2 w 8"/>
                  <a:gd name="T1" fmla="*/ 3 h 9"/>
                  <a:gd name="T2" fmla="*/ 2 w 8"/>
                  <a:gd name="T3" fmla="*/ 6 h 9"/>
                  <a:gd name="T4" fmla="*/ 5 w 8"/>
                  <a:gd name="T5" fmla="*/ 7 h 9"/>
                  <a:gd name="T6" fmla="*/ 7 w 8"/>
                  <a:gd name="T7" fmla="*/ 7 h 9"/>
                  <a:gd name="T8" fmla="*/ 6 w 8"/>
                  <a:gd name="T9" fmla="*/ 3 h 9"/>
                  <a:gd name="T10" fmla="*/ 2 w 8"/>
                  <a:gd name="T11" fmla="*/ 1 h 9"/>
                  <a:gd name="T12" fmla="*/ 2 w 8"/>
                  <a:gd name="T13" fmla="*/ 2 h 9"/>
                  <a:gd name="T14" fmla="*/ 2 w 8"/>
                  <a:gd name="T15" fmla="*/ 3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9">
                    <a:moveTo>
                      <a:pt x="2" y="3"/>
                    </a:moveTo>
                    <a:cubicBezTo>
                      <a:pt x="2" y="4"/>
                      <a:pt x="1" y="5"/>
                      <a:pt x="2" y="6"/>
                    </a:cubicBezTo>
                    <a:cubicBezTo>
                      <a:pt x="3" y="7"/>
                      <a:pt x="3" y="6"/>
                      <a:pt x="5" y="7"/>
                    </a:cubicBezTo>
                    <a:cubicBezTo>
                      <a:pt x="6" y="9"/>
                      <a:pt x="6" y="9"/>
                      <a:pt x="7" y="7"/>
                    </a:cubicBezTo>
                    <a:cubicBezTo>
                      <a:pt x="8" y="6"/>
                      <a:pt x="7" y="4"/>
                      <a:pt x="6" y="3"/>
                    </a:cubicBezTo>
                    <a:cubicBezTo>
                      <a:pt x="5" y="1"/>
                      <a:pt x="5" y="0"/>
                      <a:pt x="2" y="1"/>
                    </a:cubicBezTo>
                    <a:cubicBezTo>
                      <a:pt x="0" y="2"/>
                      <a:pt x="0" y="2"/>
                      <a:pt x="2" y="2"/>
                    </a:cubicBezTo>
                    <a:cubicBezTo>
                      <a:pt x="5" y="2"/>
                      <a:pt x="2"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83" name="Freeform 1095">
                <a:extLst>
                  <a:ext uri="{FF2B5EF4-FFF2-40B4-BE49-F238E27FC236}">
                    <a16:creationId xmlns:a16="http://schemas.microsoft.com/office/drawing/2014/main" id="{FD9E259A-0EA6-44BF-8BDF-F565065C8D06}"/>
                  </a:ext>
                </a:extLst>
              </p:cNvPr>
              <p:cNvSpPr>
                <a:spLocks/>
              </p:cNvSpPr>
              <p:nvPr/>
            </p:nvSpPr>
            <p:spPr bwMode="auto">
              <a:xfrm>
                <a:off x="6951" y="3123"/>
                <a:ext cx="7" cy="8"/>
              </a:xfrm>
              <a:custGeom>
                <a:avLst/>
                <a:gdLst>
                  <a:gd name="T0" fmla="*/ 2 w 5"/>
                  <a:gd name="T1" fmla="*/ 1 h 6"/>
                  <a:gd name="T2" fmla="*/ 0 w 5"/>
                  <a:gd name="T3" fmla="*/ 2 h 6"/>
                  <a:gd name="T4" fmla="*/ 2 w 5"/>
                  <a:gd name="T5" fmla="*/ 5 h 6"/>
                  <a:gd name="T6" fmla="*/ 4 w 5"/>
                  <a:gd name="T7" fmla="*/ 4 h 6"/>
                  <a:gd name="T8" fmla="*/ 4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1"/>
                      <a:pt x="0" y="2"/>
                    </a:cubicBezTo>
                    <a:cubicBezTo>
                      <a:pt x="0" y="4"/>
                      <a:pt x="1" y="5"/>
                      <a:pt x="2" y="5"/>
                    </a:cubicBezTo>
                    <a:cubicBezTo>
                      <a:pt x="2" y="5"/>
                      <a:pt x="3" y="6"/>
                      <a:pt x="4" y="4"/>
                    </a:cubicBezTo>
                    <a:cubicBezTo>
                      <a:pt x="4" y="2"/>
                      <a:pt x="5" y="3"/>
                      <a:pt x="4" y="2"/>
                    </a:cubicBezTo>
                    <a:cubicBezTo>
                      <a:pt x="3" y="1"/>
                      <a:pt x="2"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84" name="Freeform 1096">
                <a:extLst>
                  <a:ext uri="{FF2B5EF4-FFF2-40B4-BE49-F238E27FC236}">
                    <a16:creationId xmlns:a16="http://schemas.microsoft.com/office/drawing/2014/main" id="{55921A9F-634E-4D15-9041-625A6C924261}"/>
                  </a:ext>
                </a:extLst>
              </p:cNvPr>
              <p:cNvSpPr>
                <a:spLocks/>
              </p:cNvSpPr>
              <p:nvPr/>
            </p:nvSpPr>
            <p:spPr bwMode="auto">
              <a:xfrm>
                <a:off x="6925" y="3102"/>
                <a:ext cx="3" cy="7"/>
              </a:xfrm>
              <a:custGeom>
                <a:avLst/>
                <a:gdLst>
                  <a:gd name="T0" fmla="*/ 1 w 2"/>
                  <a:gd name="T1" fmla="*/ 1 h 5"/>
                  <a:gd name="T2" fmla="*/ 0 w 2"/>
                  <a:gd name="T3" fmla="*/ 5 h 5"/>
                  <a:gd name="T4" fmla="*/ 1 w 2"/>
                  <a:gd name="T5" fmla="*/ 3 h 5"/>
                  <a:gd name="T6" fmla="*/ 1 w 2"/>
                  <a:gd name="T7" fmla="*/ 1 h 5"/>
                </a:gdLst>
                <a:ahLst/>
                <a:cxnLst>
                  <a:cxn ang="0">
                    <a:pos x="T0" y="T1"/>
                  </a:cxn>
                  <a:cxn ang="0">
                    <a:pos x="T2" y="T3"/>
                  </a:cxn>
                  <a:cxn ang="0">
                    <a:pos x="T4" y="T5"/>
                  </a:cxn>
                  <a:cxn ang="0">
                    <a:pos x="T6" y="T7"/>
                  </a:cxn>
                </a:cxnLst>
                <a:rect l="0" t="0" r="r" b="b"/>
                <a:pathLst>
                  <a:path w="2" h="5">
                    <a:moveTo>
                      <a:pt x="1" y="1"/>
                    </a:moveTo>
                    <a:cubicBezTo>
                      <a:pt x="0" y="3"/>
                      <a:pt x="0" y="5"/>
                      <a:pt x="0" y="5"/>
                    </a:cubicBezTo>
                    <a:cubicBezTo>
                      <a:pt x="0" y="5"/>
                      <a:pt x="1" y="5"/>
                      <a:pt x="1" y="3"/>
                    </a:cubicBezTo>
                    <a:cubicBezTo>
                      <a:pt x="1" y="2"/>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85" name="Freeform 1097">
                <a:extLst>
                  <a:ext uri="{FF2B5EF4-FFF2-40B4-BE49-F238E27FC236}">
                    <a16:creationId xmlns:a16="http://schemas.microsoft.com/office/drawing/2014/main" id="{37C49269-C0F3-43D1-A9A6-157EAA5588F6}"/>
                  </a:ext>
                </a:extLst>
              </p:cNvPr>
              <p:cNvSpPr>
                <a:spLocks/>
              </p:cNvSpPr>
              <p:nvPr/>
            </p:nvSpPr>
            <p:spPr bwMode="auto">
              <a:xfrm>
                <a:off x="3404" y="1539"/>
                <a:ext cx="268" cy="225"/>
              </a:xfrm>
              <a:custGeom>
                <a:avLst/>
                <a:gdLst>
                  <a:gd name="T0" fmla="*/ 160 w 194"/>
                  <a:gd name="T1" fmla="*/ 32 h 164"/>
                  <a:gd name="T2" fmla="*/ 154 w 194"/>
                  <a:gd name="T3" fmla="*/ 31 h 164"/>
                  <a:gd name="T4" fmla="*/ 146 w 194"/>
                  <a:gd name="T5" fmla="*/ 26 h 164"/>
                  <a:gd name="T6" fmla="*/ 142 w 194"/>
                  <a:gd name="T7" fmla="*/ 19 h 164"/>
                  <a:gd name="T8" fmla="*/ 133 w 194"/>
                  <a:gd name="T9" fmla="*/ 21 h 164"/>
                  <a:gd name="T10" fmla="*/ 131 w 194"/>
                  <a:gd name="T11" fmla="*/ 15 h 164"/>
                  <a:gd name="T12" fmla="*/ 126 w 194"/>
                  <a:gd name="T13" fmla="*/ 12 h 164"/>
                  <a:gd name="T14" fmla="*/ 115 w 194"/>
                  <a:gd name="T15" fmla="*/ 8 h 164"/>
                  <a:gd name="T16" fmla="*/ 109 w 194"/>
                  <a:gd name="T17" fmla="*/ 0 h 164"/>
                  <a:gd name="T18" fmla="*/ 95 w 194"/>
                  <a:gd name="T19" fmla="*/ 19 h 164"/>
                  <a:gd name="T20" fmla="*/ 75 w 194"/>
                  <a:gd name="T21" fmla="*/ 32 h 164"/>
                  <a:gd name="T22" fmla="*/ 53 w 194"/>
                  <a:gd name="T23" fmla="*/ 29 h 164"/>
                  <a:gd name="T24" fmla="*/ 44 w 194"/>
                  <a:gd name="T25" fmla="*/ 28 h 164"/>
                  <a:gd name="T26" fmla="*/ 50 w 194"/>
                  <a:gd name="T27" fmla="*/ 48 h 164"/>
                  <a:gd name="T28" fmla="*/ 31 w 194"/>
                  <a:gd name="T29" fmla="*/ 49 h 164"/>
                  <a:gd name="T30" fmla="*/ 1 w 194"/>
                  <a:gd name="T31" fmla="*/ 52 h 164"/>
                  <a:gd name="T32" fmla="*/ 7 w 194"/>
                  <a:gd name="T33" fmla="*/ 54 h 164"/>
                  <a:gd name="T34" fmla="*/ 5 w 194"/>
                  <a:gd name="T35" fmla="*/ 58 h 164"/>
                  <a:gd name="T36" fmla="*/ 25 w 194"/>
                  <a:gd name="T37" fmla="*/ 69 h 164"/>
                  <a:gd name="T38" fmla="*/ 34 w 194"/>
                  <a:gd name="T39" fmla="*/ 70 h 164"/>
                  <a:gd name="T40" fmla="*/ 44 w 194"/>
                  <a:gd name="T41" fmla="*/ 74 h 164"/>
                  <a:gd name="T42" fmla="*/ 42 w 194"/>
                  <a:gd name="T43" fmla="*/ 84 h 164"/>
                  <a:gd name="T44" fmla="*/ 55 w 194"/>
                  <a:gd name="T45" fmla="*/ 93 h 164"/>
                  <a:gd name="T46" fmla="*/ 54 w 194"/>
                  <a:gd name="T47" fmla="*/ 101 h 164"/>
                  <a:gd name="T48" fmla="*/ 56 w 194"/>
                  <a:gd name="T49" fmla="*/ 121 h 164"/>
                  <a:gd name="T50" fmla="*/ 47 w 194"/>
                  <a:gd name="T51" fmla="*/ 146 h 164"/>
                  <a:gd name="T52" fmla="*/ 51 w 194"/>
                  <a:gd name="T53" fmla="*/ 149 h 164"/>
                  <a:gd name="T54" fmla="*/ 66 w 194"/>
                  <a:gd name="T55" fmla="*/ 155 h 164"/>
                  <a:gd name="T56" fmla="*/ 82 w 194"/>
                  <a:gd name="T57" fmla="*/ 157 h 164"/>
                  <a:gd name="T58" fmla="*/ 97 w 194"/>
                  <a:gd name="T59" fmla="*/ 160 h 164"/>
                  <a:gd name="T60" fmla="*/ 113 w 194"/>
                  <a:gd name="T61" fmla="*/ 164 h 164"/>
                  <a:gd name="T62" fmla="*/ 117 w 194"/>
                  <a:gd name="T63" fmla="*/ 153 h 164"/>
                  <a:gd name="T64" fmla="*/ 141 w 194"/>
                  <a:gd name="T65" fmla="*/ 144 h 164"/>
                  <a:gd name="T66" fmla="*/ 146 w 194"/>
                  <a:gd name="T67" fmla="*/ 145 h 164"/>
                  <a:gd name="T68" fmla="*/ 157 w 194"/>
                  <a:gd name="T69" fmla="*/ 150 h 164"/>
                  <a:gd name="T70" fmla="*/ 172 w 194"/>
                  <a:gd name="T71" fmla="*/ 145 h 164"/>
                  <a:gd name="T72" fmla="*/ 186 w 194"/>
                  <a:gd name="T73" fmla="*/ 133 h 164"/>
                  <a:gd name="T74" fmla="*/ 175 w 194"/>
                  <a:gd name="T75" fmla="*/ 123 h 164"/>
                  <a:gd name="T76" fmla="*/ 171 w 194"/>
                  <a:gd name="T77" fmla="*/ 113 h 164"/>
                  <a:gd name="T78" fmla="*/ 177 w 194"/>
                  <a:gd name="T79" fmla="*/ 108 h 164"/>
                  <a:gd name="T80" fmla="*/ 176 w 194"/>
                  <a:gd name="T81" fmla="*/ 99 h 164"/>
                  <a:gd name="T82" fmla="*/ 173 w 194"/>
                  <a:gd name="T83" fmla="*/ 90 h 164"/>
                  <a:gd name="T84" fmla="*/ 166 w 194"/>
                  <a:gd name="T85" fmla="*/ 90 h 164"/>
                  <a:gd name="T86" fmla="*/ 161 w 194"/>
                  <a:gd name="T87" fmla="*/ 94 h 164"/>
                  <a:gd name="T88" fmla="*/ 162 w 194"/>
                  <a:gd name="T89" fmla="*/ 90 h 164"/>
                  <a:gd name="T90" fmla="*/ 167 w 194"/>
                  <a:gd name="T91" fmla="*/ 82 h 164"/>
                  <a:gd name="T92" fmla="*/ 175 w 194"/>
                  <a:gd name="T93" fmla="*/ 74 h 164"/>
                  <a:gd name="T94" fmla="*/ 174 w 194"/>
                  <a:gd name="T95" fmla="*/ 71 h 164"/>
                  <a:gd name="T96" fmla="*/ 179 w 194"/>
                  <a:gd name="T97" fmla="*/ 71 h 164"/>
                  <a:gd name="T98" fmla="*/ 183 w 194"/>
                  <a:gd name="T99" fmla="*/ 69 h 164"/>
                  <a:gd name="T100" fmla="*/ 184 w 194"/>
                  <a:gd name="T101" fmla="*/ 64 h 164"/>
                  <a:gd name="T102" fmla="*/ 190 w 194"/>
                  <a:gd name="T103" fmla="*/ 46 h 164"/>
                  <a:gd name="T104" fmla="*/ 188 w 194"/>
                  <a:gd name="T105" fmla="*/ 40 h 164"/>
                  <a:gd name="T106" fmla="*/ 180 w 194"/>
                  <a:gd name="T107" fmla="*/ 38 h 164"/>
                  <a:gd name="T108" fmla="*/ 171 w 194"/>
                  <a:gd name="T109" fmla="*/ 36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4" h="164">
                    <a:moveTo>
                      <a:pt x="166" y="32"/>
                    </a:moveTo>
                    <a:cubicBezTo>
                      <a:pt x="166" y="32"/>
                      <a:pt x="165" y="31"/>
                      <a:pt x="165" y="31"/>
                    </a:cubicBezTo>
                    <a:cubicBezTo>
                      <a:pt x="164" y="31"/>
                      <a:pt x="164" y="31"/>
                      <a:pt x="164" y="31"/>
                    </a:cubicBezTo>
                    <a:cubicBezTo>
                      <a:pt x="164" y="31"/>
                      <a:pt x="161" y="32"/>
                      <a:pt x="160" y="32"/>
                    </a:cubicBezTo>
                    <a:cubicBezTo>
                      <a:pt x="160" y="32"/>
                      <a:pt x="159" y="31"/>
                      <a:pt x="159" y="31"/>
                    </a:cubicBezTo>
                    <a:cubicBezTo>
                      <a:pt x="158" y="31"/>
                      <a:pt x="158" y="31"/>
                      <a:pt x="158" y="31"/>
                    </a:cubicBezTo>
                    <a:cubicBezTo>
                      <a:pt x="157" y="31"/>
                      <a:pt x="157" y="31"/>
                      <a:pt x="157" y="31"/>
                    </a:cubicBezTo>
                    <a:cubicBezTo>
                      <a:pt x="157" y="31"/>
                      <a:pt x="154" y="31"/>
                      <a:pt x="154" y="31"/>
                    </a:cubicBezTo>
                    <a:cubicBezTo>
                      <a:pt x="153" y="31"/>
                      <a:pt x="153" y="31"/>
                      <a:pt x="153" y="31"/>
                    </a:cubicBezTo>
                    <a:cubicBezTo>
                      <a:pt x="153" y="31"/>
                      <a:pt x="152" y="30"/>
                      <a:pt x="152" y="29"/>
                    </a:cubicBezTo>
                    <a:cubicBezTo>
                      <a:pt x="151" y="29"/>
                      <a:pt x="151" y="29"/>
                      <a:pt x="151" y="29"/>
                    </a:cubicBezTo>
                    <a:cubicBezTo>
                      <a:pt x="151" y="29"/>
                      <a:pt x="147" y="26"/>
                      <a:pt x="146" y="26"/>
                    </a:cubicBezTo>
                    <a:cubicBezTo>
                      <a:pt x="146" y="26"/>
                      <a:pt x="146" y="26"/>
                      <a:pt x="145" y="26"/>
                    </a:cubicBezTo>
                    <a:cubicBezTo>
                      <a:pt x="145" y="26"/>
                      <a:pt x="145" y="26"/>
                      <a:pt x="144" y="26"/>
                    </a:cubicBezTo>
                    <a:cubicBezTo>
                      <a:pt x="143" y="25"/>
                      <a:pt x="143" y="21"/>
                      <a:pt x="143" y="20"/>
                    </a:cubicBezTo>
                    <a:cubicBezTo>
                      <a:pt x="143" y="18"/>
                      <a:pt x="142" y="19"/>
                      <a:pt x="142" y="19"/>
                    </a:cubicBezTo>
                    <a:cubicBezTo>
                      <a:pt x="142" y="19"/>
                      <a:pt x="138" y="22"/>
                      <a:pt x="138" y="22"/>
                    </a:cubicBezTo>
                    <a:cubicBezTo>
                      <a:pt x="137" y="23"/>
                      <a:pt x="137" y="23"/>
                      <a:pt x="136" y="23"/>
                    </a:cubicBezTo>
                    <a:cubicBezTo>
                      <a:pt x="135" y="23"/>
                      <a:pt x="134" y="22"/>
                      <a:pt x="134" y="22"/>
                    </a:cubicBezTo>
                    <a:cubicBezTo>
                      <a:pt x="133" y="22"/>
                      <a:pt x="133" y="22"/>
                      <a:pt x="133" y="21"/>
                    </a:cubicBezTo>
                    <a:cubicBezTo>
                      <a:pt x="134" y="21"/>
                      <a:pt x="134" y="19"/>
                      <a:pt x="134" y="18"/>
                    </a:cubicBezTo>
                    <a:cubicBezTo>
                      <a:pt x="134" y="18"/>
                      <a:pt x="134" y="17"/>
                      <a:pt x="134" y="17"/>
                    </a:cubicBezTo>
                    <a:cubicBezTo>
                      <a:pt x="134" y="17"/>
                      <a:pt x="133" y="16"/>
                      <a:pt x="132" y="15"/>
                    </a:cubicBezTo>
                    <a:cubicBezTo>
                      <a:pt x="132" y="15"/>
                      <a:pt x="132" y="15"/>
                      <a:pt x="131" y="15"/>
                    </a:cubicBezTo>
                    <a:cubicBezTo>
                      <a:pt x="130" y="15"/>
                      <a:pt x="128" y="15"/>
                      <a:pt x="127" y="15"/>
                    </a:cubicBezTo>
                    <a:cubicBezTo>
                      <a:pt x="127" y="16"/>
                      <a:pt x="127" y="15"/>
                      <a:pt x="127" y="15"/>
                    </a:cubicBezTo>
                    <a:cubicBezTo>
                      <a:pt x="126" y="15"/>
                      <a:pt x="126" y="14"/>
                      <a:pt x="126" y="13"/>
                    </a:cubicBezTo>
                    <a:cubicBezTo>
                      <a:pt x="126" y="13"/>
                      <a:pt x="126" y="13"/>
                      <a:pt x="126" y="12"/>
                    </a:cubicBezTo>
                    <a:cubicBezTo>
                      <a:pt x="125" y="12"/>
                      <a:pt x="125" y="12"/>
                      <a:pt x="123" y="12"/>
                    </a:cubicBezTo>
                    <a:cubicBezTo>
                      <a:pt x="121" y="12"/>
                      <a:pt x="120" y="9"/>
                      <a:pt x="120" y="8"/>
                    </a:cubicBezTo>
                    <a:cubicBezTo>
                      <a:pt x="120" y="7"/>
                      <a:pt x="118" y="6"/>
                      <a:pt x="117" y="6"/>
                    </a:cubicBezTo>
                    <a:cubicBezTo>
                      <a:pt x="117" y="6"/>
                      <a:pt x="115" y="7"/>
                      <a:pt x="115" y="8"/>
                    </a:cubicBezTo>
                    <a:cubicBezTo>
                      <a:pt x="114" y="8"/>
                      <a:pt x="114" y="8"/>
                      <a:pt x="114" y="8"/>
                    </a:cubicBezTo>
                    <a:cubicBezTo>
                      <a:pt x="114" y="8"/>
                      <a:pt x="111" y="5"/>
                      <a:pt x="111" y="4"/>
                    </a:cubicBezTo>
                    <a:cubicBezTo>
                      <a:pt x="110" y="4"/>
                      <a:pt x="110" y="3"/>
                      <a:pt x="110" y="3"/>
                    </a:cubicBezTo>
                    <a:cubicBezTo>
                      <a:pt x="109" y="0"/>
                      <a:pt x="109" y="0"/>
                      <a:pt x="109" y="0"/>
                    </a:cubicBezTo>
                    <a:cubicBezTo>
                      <a:pt x="109" y="0"/>
                      <a:pt x="109" y="1"/>
                      <a:pt x="108" y="1"/>
                    </a:cubicBezTo>
                    <a:cubicBezTo>
                      <a:pt x="106" y="1"/>
                      <a:pt x="95" y="3"/>
                      <a:pt x="95" y="8"/>
                    </a:cubicBezTo>
                    <a:cubicBezTo>
                      <a:pt x="96" y="13"/>
                      <a:pt x="96" y="14"/>
                      <a:pt x="96" y="16"/>
                    </a:cubicBezTo>
                    <a:cubicBezTo>
                      <a:pt x="96" y="18"/>
                      <a:pt x="96" y="18"/>
                      <a:pt x="95" y="19"/>
                    </a:cubicBezTo>
                    <a:cubicBezTo>
                      <a:pt x="93" y="20"/>
                      <a:pt x="91" y="21"/>
                      <a:pt x="89" y="22"/>
                    </a:cubicBezTo>
                    <a:cubicBezTo>
                      <a:pt x="87" y="23"/>
                      <a:pt x="83" y="24"/>
                      <a:pt x="82" y="24"/>
                    </a:cubicBezTo>
                    <a:cubicBezTo>
                      <a:pt x="81" y="25"/>
                      <a:pt x="75" y="26"/>
                      <a:pt x="74" y="28"/>
                    </a:cubicBezTo>
                    <a:cubicBezTo>
                      <a:pt x="73" y="30"/>
                      <a:pt x="72" y="32"/>
                      <a:pt x="75" y="32"/>
                    </a:cubicBezTo>
                    <a:cubicBezTo>
                      <a:pt x="78" y="32"/>
                      <a:pt x="80" y="31"/>
                      <a:pt x="76" y="33"/>
                    </a:cubicBezTo>
                    <a:cubicBezTo>
                      <a:pt x="72" y="35"/>
                      <a:pt x="69" y="36"/>
                      <a:pt x="57" y="35"/>
                    </a:cubicBezTo>
                    <a:cubicBezTo>
                      <a:pt x="57" y="35"/>
                      <a:pt x="55" y="35"/>
                      <a:pt x="54" y="33"/>
                    </a:cubicBezTo>
                    <a:cubicBezTo>
                      <a:pt x="53" y="31"/>
                      <a:pt x="52" y="30"/>
                      <a:pt x="53" y="29"/>
                    </a:cubicBezTo>
                    <a:cubicBezTo>
                      <a:pt x="53" y="27"/>
                      <a:pt x="53" y="27"/>
                      <a:pt x="52" y="27"/>
                    </a:cubicBezTo>
                    <a:cubicBezTo>
                      <a:pt x="51" y="27"/>
                      <a:pt x="50" y="27"/>
                      <a:pt x="49" y="28"/>
                    </a:cubicBezTo>
                    <a:cubicBezTo>
                      <a:pt x="49" y="28"/>
                      <a:pt x="47" y="28"/>
                      <a:pt x="46" y="28"/>
                    </a:cubicBezTo>
                    <a:cubicBezTo>
                      <a:pt x="45" y="27"/>
                      <a:pt x="42" y="26"/>
                      <a:pt x="44" y="28"/>
                    </a:cubicBezTo>
                    <a:cubicBezTo>
                      <a:pt x="45" y="31"/>
                      <a:pt x="47" y="36"/>
                      <a:pt x="48" y="37"/>
                    </a:cubicBezTo>
                    <a:cubicBezTo>
                      <a:pt x="49" y="37"/>
                      <a:pt x="49" y="39"/>
                      <a:pt x="49" y="39"/>
                    </a:cubicBezTo>
                    <a:cubicBezTo>
                      <a:pt x="49" y="40"/>
                      <a:pt x="49" y="46"/>
                      <a:pt x="50" y="47"/>
                    </a:cubicBezTo>
                    <a:cubicBezTo>
                      <a:pt x="52" y="48"/>
                      <a:pt x="52" y="48"/>
                      <a:pt x="50" y="48"/>
                    </a:cubicBezTo>
                    <a:cubicBezTo>
                      <a:pt x="47" y="47"/>
                      <a:pt x="43" y="46"/>
                      <a:pt x="43" y="48"/>
                    </a:cubicBezTo>
                    <a:cubicBezTo>
                      <a:pt x="43" y="50"/>
                      <a:pt x="43" y="49"/>
                      <a:pt x="41" y="49"/>
                    </a:cubicBezTo>
                    <a:cubicBezTo>
                      <a:pt x="40" y="48"/>
                      <a:pt x="36" y="49"/>
                      <a:pt x="33" y="50"/>
                    </a:cubicBezTo>
                    <a:cubicBezTo>
                      <a:pt x="31" y="50"/>
                      <a:pt x="32" y="50"/>
                      <a:pt x="31" y="49"/>
                    </a:cubicBezTo>
                    <a:cubicBezTo>
                      <a:pt x="30" y="48"/>
                      <a:pt x="28" y="46"/>
                      <a:pt x="27" y="45"/>
                    </a:cubicBezTo>
                    <a:cubicBezTo>
                      <a:pt x="26" y="44"/>
                      <a:pt x="26" y="43"/>
                      <a:pt x="24" y="44"/>
                    </a:cubicBezTo>
                    <a:cubicBezTo>
                      <a:pt x="22" y="45"/>
                      <a:pt x="13" y="48"/>
                      <a:pt x="4" y="49"/>
                    </a:cubicBezTo>
                    <a:cubicBezTo>
                      <a:pt x="4" y="49"/>
                      <a:pt x="1" y="49"/>
                      <a:pt x="1" y="52"/>
                    </a:cubicBezTo>
                    <a:cubicBezTo>
                      <a:pt x="1" y="54"/>
                      <a:pt x="1" y="54"/>
                      <a:pt x="3" y="53"/>
                    </a:cubicBezTo>
                    <a:cubicBezTo>
                      <a:pt x="6" y="52"/>
                      <a:pt x="8" y="52"/>
                      <a:pt x="7" y="53"/>
                    </a:cubicBezTo>
                    <a:cubicBezTo>
                      <a:pt x="6" y="54"/>
                      <a:pt x="6" y="54"/>
                      <a:pt x="7" y="53"/>
                    </a:cubicBezTo>
                    <a:cubicBezTo>
                      <a:pt x="8" y="53"/>
                      <a:pt x="9" y="54"/>
                      <a:pt x="7" y="54"/>
                    </a:cubicBezTo>
                    <a:cubicBezTo>
                      <a:pt x="5" y="55"/>
                      <a:pt x="3" y="53"/>
                      <a:pt x="4" y="55"/>
                    </a:cubicBezTo>
                    <a:cubicBezTo>
                      <a:pt x="4" y="56"/>
                      <a:pt x="4" y="57"/>
                      <a:pt x="5" y="56"/>
                    </a:cubicBezTo>
                    <a:cubicBezTo>
                      <a:pt x="6" y="55"/>
                      <a:pt x="8" y="56"/>
                      <a:pt x="8" y="57"/>
                    </a:cubicBezTo>
                    <a:cubicBezTo>
                      <a:pt x="8" y="57"/>
                      <a:pt x="8" y="58"/>
                      <a:pt x="5" y="58"/>
                    </a:cubicBezTo>
                    <a:cubicBezTo>
                      <a:pt x="3" y="58"/>
                      <a:pt x="0" y="59"/>
                      <a:pt x="2" y="60"/>
                    </a:cubicBezTo>
                    <a:cubicBezTo>
                      <a:pt x="4" y="61"/>
                      <a:pt x="7" y="64"/>
                      <a:pt x="9" y="63"/>
                    </a:cubicBezTo>
                    <a:cubicBezTo>
                      <a:pt x="10" y="62"/>
                      <a:pt x="15" y="60"/>
                      <a:pt x="24" y="67"/>
                    </a:cubicBezTo>
                    <a:cubicBezTo>
                      <a:pt x="24" y="67"/>
                      <a:pt x="25" y="68"/>
                      <a:pt x="25" y="69"/>
                    </a:cubicBezTo>
                    <a:cubicBezTo>
                      <a:pt x="25" y="69"/>
                      <a:pt x="25" y="69"/>
                      <a:pt x="26" y="68"/>
                    </a:cubicBezTo>
                    <a:cubicBezTo>
                      <a:pt x="26" y="67"/>
                      <a:pt x="26" y="68"/>
                      <a:pt x="27" y="68"/>
                    </a:cubicBezTo>
                    <a:cubicBezTo>
                      <a:pt x="27" y="67"/>
                      <a:pt x="27" y="66"/>
                      <a:pt x="29" y="67"/>
                    </a:cubicBezTo>
                    <a:cubicBezTo>
                      <a:pt x="30" y="67"/>
                      <a:pt x="34" y="70"/>
                      <a:pt x="34" y="70"/>
                    </a:cubicBezTo>
                    <a:cubicBezTo>
                      <a:pt x="34" y="70"/>
                      <a:pt x="35" y="70"/>
                      <a:pt x="35" y="71"/>
                    </a:cubicBezTo>
                    <a:cubicBezTo>
                      <a:pt x="34" y="72"/>
                      <a:pt x="35" y="75"/>
                      <a:pt x="39" y="74"/>
                    </a:cubicBezTo>
                    <a:cubicBezTo>
                      <a:pt x="43" y="72"/>
                      <a:pt x="44" y="73"/>
                      <a:pt x="45" y="74"/>
                    </a:cubicBezTo>
                    <a:cubicBezTo>
                      <a:pt x="45" y="74"/>
                      <a:pt x="45" y="75"/>
                      <a:pt x="44" y="74"/>
                    </a:cubicBezTo>
                    <a:cubicBezTo>
                      <a:pt x="42" y="73"/>
                      <a:pt x="41" y="73"/>
                      <a:pt x="40" y="74"/>
                    </a:cubicBezTo>
                    <a:cubicBezTo>
                      <a:pt x="39" y="76"/>
                      <a:pt x="38" y="76"/>
                      <a:pt x="40" y="77"/>
                    </a:cubicBezTo>
                    <a:cubicBezTo>
                      <a:pt x="41" y="77"/>
                      <a:pt x="42" y="78"/>
                      <a:pt x="41" y="79"/>
                    </a:cubicBezTo>
                    <a:cubicBezTo>
                      <a:pt x="41" y="81"/>
                      <a:pt x="40" y="82"/>
                      <a:pt x="42" y="84"/>
                    </a:cubicBezTo>
                    <a:cubicBezTo>
                      <a:pt x="44" y="86"/>
                      <a:pt x="44" y="87"/>
                      <a:pt x="45" y="88"/>
                    </a:cubicBezTo>
                    <a:cubicBezTo>
                      <a:pt x="45" y="89"/>
                      <a:pt x="46" y="89"/>
                      <a:pt x="47" y="89"/>
                    </a:cubicBezTo>
                    <a:cubicBezTo>
                      <a:pt x="48" y="90"/>
                      <a:pt x="55" y="91"/>
                      <a:pt x="55" y="91"/>
                    </a:cubicBezTo>
                    <a:cubicBezTo>
                      <a:pt x="55" y="91"/>
                      <a:pt x="55" y="92"/>
                      <a:pt x="55" y="93"/>
                    </a:cubicBezTo>
                    <a:cubicBezTo>
                      <a:pt x="54" y="93"/>
                      <a:pt x="54" y="95"/>
                      <a:pt x="55" y="98"/>
                    </a:cubicBezTo>
                    <a:cubicBezTo>
                      <a:pt x="55" y="98"/>
                      <a:pt x="56" y="99"/>
                      <a:pt x="55" y="99"/>
                    </a:cubicBezTo>
                    <a:cubicBezTo>
                      <a:pt x="55" y="100"/>
                      <a:pt x="55" y="101"/>
                      <a:pt x="55" y="101"/>
                    </a:cubicBezTo>
                    <a:cubicBezTo>
                      <a:pt x="55" y="102"/>
                      <a:pt x="55" y="101"/>
                      <a:pt x="54" y="101"/>
                    </a:cubicBezTo>
                    <a:cubicBezTo>
                      <a:pt x="54" y="101"/>
                      <a:pt x="53" y="102"/>
                      <a:pt x="54" y="103"/>
                    </a:cubicBezTo>
                    <a:cubicBezTo>
                      <a:pt x="56" y="105"/>
                      <a:pt x="56" y="106"/>
                      <a:pt x="55" y="107"/>
                    </a:cubicBezTo>
                    <a:cubicBezTo>
                      <a:pt x="55" y="108"/>
                      <a:pt x="55" y="117"/>
                      <a:pt x="55" y="120"/>
                    </a:cubicBezTo>
                    <a:cubicBezTo>
                      <a:pt x="55" y="120"/>
                      <a:pt x="55" y="120"/>
                      <a:pt x="56" y="121"/>
                    </a:cubicBezTo>
                    <a:cubicBezTo>
                      <a:pt x="57" y="122"/>
                      <a:pt x="56" y="122"/>
                      <a:pt x="56" y="123"/>
                    </a:cubicBezTo>
                    <a:cubicBezTo>
                      <a:pt x="55" y="123"/>
                      <a:pt x="52" y="126"/>
                      <a:pt x="52" y="128"/>
                    </a:cubicBezTo>
                    <a:cubicBezTo>
                      <a:pt x="52" y="130"/>
                      <a:pt x="51" y="142"/>
                      <a:pt x="48" y="144"/>
                    </a:cubicBezTo>
                    <a:cubicBezTo>
                      <a:pt x="48" y="144"/>
                      <a:pt x="45" y="146"/>
                      <a:pt x="47" y="146"/>
                    </a:cubicBezTo>
                    <a:cubicBezTo>
                      <a:pt x="49" y="146"/>
                      <a:pt x="51" y="147"/>
                      <a:pt x="51" y="149"/>
                    </a:cubicBezTo>
                    <a:cubicBezTo>
                      <a:pt x="51" y="149"/>
                      <a:pt x="51" y="149"/>
                      <a:pt x="51" y="149"/>
                    </a:cubicBezTo>
                    <a:cubicBezTo>
                      <a:pt x="51" y="149"/>
                      <a:pt x="51" y="149"/>
                      <a:pt x="51" y="149"/>
                    </a:cubicBezTo>
                    <a:cubicBezTo>
                      <a:pt x="51" y="149"/>
                      <a:pt x="51" y="149"/>
                      <a:pt x="51" y="149"/>
                    </a:cubicBezTo>
                    <a:cubicBezTo>
                      <a:pt x="50" y="151"/>
                      <a:pt x="50" y="152"/>
                      <a:pt x="52" y="152"/>
                    </a:cubicBezTo>
                    <a:cubicBezTo>
                      <a:pt x="54" y="152"/>
                      <a:pt x="60" y="153"/>
                      <a:pt x="60" y="153"/>
                    </a:cubicBezTo>
                    <a:cubicBezTo>
                      <a:pt x="61" y="153"/>
                      <a:pt x="61" y="154"/>
                      <a:pt x="61" y="154"/>
                    </a:cubicBezTo>
                    <a:cubicBezTo>
                      <a:pt x="62" y="154"/>
                      <a:pt x="63" y="157"/>
                      <a:pt x="66" y="155"/>
                    </a:cubicBezTo>
                    <a:cubicBezTo>
                      <a:pt x="66" y="155"/>
                      <a:pt x="67" y="155"/>
                      <a:pt x="68" y="155"/>
                    </a:cubicBezTo>
                    <a:cubicBezTo>
                      <a:pt x="68" y="156"/>
                      <a:pt x="70" y="158"/>
                      <a:pt x="73" y="158"/>
                    </a:cubicBezTo>
                    <a:cubicBezTo>
                      <a:pt x="75" y="158"/>
                      <a:pt x="80" y="158"/>
                      <a:pt x="81" y="158"/>
                    </a:cubicBezTo>
                    <a:cubicBezTo>
                      <a:pt x="82" y="158"/>
                      <a:pt x="82" y="157"/>
                      <a:pt x="82" y="157"/>
                    </a:cubicBezTo>
                    <a:cubicBezTo>
                      <a:pt x="82" y="156"/>
                      <a:pt x="82" y="154"/>
                      <a:pt x="84" y="155"/>
                    </a:cubicBezTo>
                    <a:cubicBezTo>
                      <a:pt x="85" y="156"/>
                      <a:pt x="91" y="159"/>
                      <a:pt x="93" y="160"/>
                    </a:cubicBezTo>
                    <a:cubicBezTo>
                      <a:pt x="93" y="159"/>
                      <a:pt x="94" y="159"/>
                      <a:pt x="94" y="159"/>
                    </a:cubicBezTo>
                    <a:cubicBezTo>
                      <a:pt x="94" y="159"/>
                      <a:pt x="97" y="160"/>
                      <a:pt x="97" y="160"/>
                    </a:cubicBezTo>
                    <a:cubicBezTo>
                      <a:pt x="98" y="160"/>
                      <a:pt x="98" y="160"/>
                      <a:pt x="98" y="160"/>
                    </a:cubicBezTo>
                    <a:cubicBezTo>
                      <a:pt x="98" y="161"/>
                      <a:pt x="97" y="161"/>
                      <a:pt x="97" y="161"/>
                    </a:cubicBezTo>
                    <a:cubicBezTo>
                      <a:pt x="99" y="162"/>
                      <a:pt x="102" y="163"/>
                      <a:pt x="104" y="164"/>
                    </a:cubicBezTo>
                    <a:cubicBezTo>
                      <a:pt x="105" y="164"/>
                      <a:pt x="110" y="164"/>
                      <a:pt x="113" y="164"/>
                    </a:cubicBezTo>
                    <a:cubicBezTo>
                      <a:pt x="115" y="163"/>
                      <a:pt x="117" y="163"/>
                      <a:pt x="119" y="162"/>
                    </a:cubicBezTo>
                    <a:cubicBezTo>
                      <a:pt x="119" y="162"/>
                      <a:pt x="119" y="161"/>
                      <a:pt x="118" y="160"/>
                    </a:cubicBezTo>
                    <a:cubicBezTo>
                      <a:pt x="118" y="159"/>
                      <a:pt x="117" y="156"/>
                      <a:pt x="117" y="155"/>
                    </a:cubicBezTo>
                    <a:cubicBezTo>
                      <a:pt x="116" y="155"/>
                      <a:pt x="116" y="155"/>
                      <a:pt x="117" y="153"/>
                    </a:cubicBezTo>
                    <a:cubicBezTo>
                      <a:pt x="118" y="152"/>
                      <a:pt x="120" y="147"/>
                      <a:pt x="125" y="146"/>
                    </a:cubicBezTo>
                    <a:cubicBezTo>
                      <a:pt x="129" y="144"/>
                      <a:pt x="130" y="143"/>
                      <a:pt x="131" y="143"/>
                    </a:cubicBezTo>
                    <a:cubicBezTo>
                      <a:pt x="131" y="143"/>
                      <a:pt x="132" y="142"/>
                      <a:pt x="134" y="143"/>
                    </a:cubicBezTo>
                    <a:cubicBezTo>
                      <a:pt x="137" y="145"/>
                      <a:pt x="139" y="144"/>
                      <a:pt x="141" y="144"/>
                    </a:cubicBezTo>
                    <a:cubicBezTo>
                      <a:pt x="142" y="143"/>
                      <a:pt x="142" y="144"/>
                      <a:pt x="142" y="144"/>
                    </a:cubicBezTo>
                    <a:cubicBezTo>
                      <a:pt x="142" y="145"/>
                      <a:pt x="142" y="145"/>
                      <a:pt x="143" y="145"/>
                    </a:cubicBezTo>
                    <a:cubicBezTo>
                      <a:pt x="144" y="145"/>
                      <a:pt x="146" y="145"/>
                      <a:pt x="146" y="145"/>
                    </a:cubicBezTo>
                    <a:cubicBezTo>
                      <a:pt x="146" y="145"/>
                      <a:pt x="146" y="145"/>
                      <a:pt x="146" y="145"/>
                    </a:cubicBezTo>
                    <a:cubicBezTo>
                      <a:pt x="147" y="146"/>
                      <a:pt x="147" y="146"/>
                      <a:pt x="150" y="146"/>
                    </a:cubicBezTo>
                    <a:cubicBezTo>
                      <a:pt x="150" y="146"/>
                      <a:pt x="151" y="145"/>
                      <a:pt x="151" y="147"/>
                    </a:cubicBezTo>
                    <a:cubicBezTo>
                      <a:pt x="151" y="148"/>
                      <a:pt x="152" y="148"/>
                      <a:pt x="153" y="148"/>
                    </a:cubicBezTo>
                    <a:cubicBezTo>
                      <a:pt x="154" y="149"/>
                      <a:pt x="156" y="148"/>
                      <a:pt x="157" y="150"/>
                    </a:cubicBezTo>
                    <a:cubicBezTo>
                      <a:pt x="158" y="151"/>
                      <a:pt x="158" y="151"/>
                      <a:pt x="160" y="151"/>
                    </a:cubicBezTo>
                    <a:cubicBezTo>
                      <a:pt x="162" y="151"/>
                      <a:pt x="163" y="150"/>
                      <a:pt x="163" y="151"/>
                    </a:cubicBezTo>
                    <a:cubicBezTo>
                      <a:pt x="162" y="151"/>
                      <a:pt x="162" y="151"/>
                      <a:pt x="164" y="151"/>
                    </a:cubicBezTo>
                    <a:cubicBezTo>
                      <a:pt x="165" y="151"/>
                      <a:pt x="167" y="151"/>
                      <a:pt x="172" y="145"/>
                    </a:cubicBezTo>
                    <a:cubicBezTo>
                      <a:pt x="172" y="145"/>
                      <a:pt x="175" y="143"/>
                      <a:pt x="177" y="142"/>
                    </a:cubicBezTo>
                    <a:cubicBezTo>
                      <a:pt x="179" y="142"/>
                      <a:pt x="180" y="140"/>
                      <a:pt x="181" y="140"/>
                    </a:cubicBezTo>
                    <a:cubicBezTo>
                      <a:pt x="181" y="139"/>
                      <a:pt x="182" y="139"/>
                      <a:pt x="184" y="138"/>
                    </a:cubicBezTo>
                    <a:cubicBezTo>
                      <a:pt x="184" y="136"/>
                      <a:pt x="186" y="133"/>
                      <a:pt x="186" y="133"/>
                    </a:cubicBezTo>
                    <a:cubicBezTo>
                      <a:pt x="186" y="133"/>
                      <a:pt x="186" y="132"/>
                      <a:pt x="185" y="132"/>
                    </a:cubicBezTo>
                    <a:cubicBezTo>
                      <a:pt x="185" y="132"/>
                      <a:pt x="174" y="128"/>
                      <a:pt x="174" y="128"/>
                    </a:cubicBezTo>
                    <a:cubicBezTo>
                      <a:pt x="174" y="128"/>
                      <a:pt x="174" y="127"/>
                      <a:pt x="174" y="127"/>
                    </a:cubicBezTo>
                    <a:cubicBezTo>
                      <a:pt x="174" y="126"/>
                      <a:pt x="175" y="123"/>
                      <a:pt x="175" y="123"/>
                    </a:cubicBezTo>
                    <a:cubicBezTo>
                      <a:pt x="175" y="123"/>
                      <a:pt x="175" y="122"/>
                      <a:pt x="175" y="122"/>
                    </a:cubicBezTo>
                    <a:cubicBezTo>
                      <a:pt x="176" y="122"/>
                      <a:pt x="177" y="121"/>
                      <a:pt x="176" y="121"/>
                    </a:cubicBezTo>
                    <a:cubicBezTo>
                      <a:pt x="175" y="120"/>
                      <a:pt x="170" y="114"/>
                      <a:pt x="170" y="114"/>
                    </a:cubicBezTo>
                    <a:cubicBezTo>
                      <a:pt x="170" y="114"/>
                      <a:pt x="170" y="114"/>
                      <a:pt x="171" y="113"/>
                    </a:cubicBezTo>
                    <a:cubicBezTo>
                      <a:pt x="172" y="113"/>
                      <a:pt x="177" y="111"/>
                      <a:pt x="177" y="111"/>
                    </a:cubicBezTo>
                    <a:cubicBezTo>
                      <a:pt x="177" y="111"/>
                      <a:pt x="177" y="111"/>
                      <a:pt x="177" y="111"/>
                    </a:cubicBezTo>
                    <a:cubicBezTo>
                      <a:pt x="177" y="110"/>
                      <a:pt x="178" y="110"/>
                      <a:pt x="178" y="109"/>
                    </a:cubicBezTo>
                    <a:cubicBezTo>
                      <a:pt x="178" y="109"/>
                      <a:pt x="178" y="108"/>
                      <a:pt x="177" y="108"/>
                    </a:cubicBezTo>
                    <a:cubicBezTo>
                      <a:pt x="177" y="107"/>
                      <a:pt x="176" y="107"/>
                      <a:pt x="176" y="106"/>
                    </a:cubicBezTo>
                    <a:cubicBezTo>
                      <a:pt x="176" y="106"/>
                      <a:pt x="173" y="102"/>
                      <a:pt x="173" y="102"/>
                    </a:cubicBezTo>
                    <a:cubicBezTo>
                      <a:pt x="173" y="102"/>
                      <a:pt x="172" y="102"/>
                      <a:pt x="173" y="101"/>
                    </a:cubicBezTo>
                    <a:cubicBezTo>
                      <a:pt x="174" y="100"/>
                      <a:pt x="175" y="99"/>
                      <a:pt x="176" y="99"/>
                    </a:cubicBezTo>
                    <a:cubicBezTo>
                      <a:pt x="176" y="98"/>
                      <a:pt x="176" y="98"/>
                      <a:pt x="176" y="98"/>
                    </a:cubicBezTo>
                    <a:cubicBezTo>
                      <a:pt x="175" y="97"/>
                      <a:pt x="174" y="95"/>
                      <a:pt x="174" y="95"/>
                    </a:cubicBezTo>
                    <a:cubicBezTo>
                      <a:pt x="174" y="95"/>
                      <a:pt x="173" y="95"/>
                      <a:pt x="173" y="94"/>
                    </a:cubicBezTo>
                    <a:cubicBezTo>
                      <a:pt x="173" y="94"/>
                      <a:pt x="173" y="91"/>
                      <a:pt x="173" y="90"/>
                    </a:cubicBezTo>
                    <a:cubicBezTo>
                      <a:pt x="173" y="90"/>
                      <a:pt x="172" y="89"/>
                      <a:pt x="172" y="89"/>
                    </a:cubicBezTo>
                    <a:cubicBezTo>
                      <a:pt x="171" y="89"/>
                      <a:pt x="171" y="89"/>
                      <a:pt x="170" y="89"/>
                    </a:cubicBezTo>
                    <a:cubicBezTo>
                      <a:pt x="170" y="89"/>
                      <a:pt x="169" y="89"/>
                      <a:pt x="169" y="89"/>
                    </a:cubicBezTo>
                    <a:cubicBezTo>
                      <a:pt x="168" y="89"/>
                      <a:pt x="167" y="90"/>
                      <a:pt x="166" y="90"/>
                    </a:cubicBezTo>
                    <a:cubicBezTo>
                      <a:pt x="166" y="90"/>
                      <a:pt x="166" y="90"/>
                      <a:pt x="165" y="90"/>
                    </a:cubicBezTo>
                    <a:cubicBezTo>
                      <a:pt x="165" y="91"/>
                      <a:pt x="164" y="92"/>
                      <a:pt x="164" y="92"/>
                    </a:cubicBezTo>
                    <a:cubicBezTo>
                      <a:pt x="164" y="92"/>
                      <a:pt x="164" y="92"/>
                      <a:pt x="164" y="92"/>
                    </a:cubicBezTo>
                    <a:cubicBezTo>
                      <a:pt x="163" y="92"/>
                      <a:pt x="161" y="94"/>
                      <a:pt x="161" y="94"/>
                    </a:cubicBezTo>
                    <a:cubicBezTo>
                      <a:pt x="161" y="94"/>
                      <a:pt x="160" y="95"/>
                      <a:pt x="161" y="93"/>
                    </a:cubicBezTo>
                    <a:cubicBezTo>
                      <a:pt x="162" y="92"/>
                      <a:pt x="162" y="92"/>
                      <a:pt x="162" y="92"/>
                    </a:cubicBezTo>
                    <a:cubicBezTo>
                      <a:pt x="162" y="92"/>
                      <a:pt x="162" y="91"/>
                      <a:pt x="162" y="91"/>
                    </a:cubicBezTo>
                    <a:cubicBezTo>
                      <a:pt x="162" y="90"/>
                      <a:pt x="162" y="90"/>
                      <a:pt x="162" y="90"/>
                    </a:cubicBezTo>
                    <a:cubicBezTo>
                      <a:pt x="162" y="90"/>
                      <a:pt x="162" y="89"/>
                      <a:pt x="162" y="89"/>
                    </a:cubicBezTo>
                    <a:cubicBezTo>
                      <a:pt x="162" y="88"/>
                      <a:pt x="163" y="87"/>
                      <a:pt x="163" y="87"/>
                    </a:cubicBezTo>
                    <a:cubicBezTo>
                      <a:pt x="164" y="86"/>
                      <a:pt x="166" y="83"/>
                      <a:pt x="167" y="83"/>
                    </a:cubicBezTo>
                    <a:cubicBezTo>
                      <a:pt x="167" y="83"/>
                      <a:pt x="167" y="82"/>
                      <a:pt x="167" y="82"/>
                    </a:cubicBezTo>
                    <a:cubicBezTo>
                      <a:pt x="168" y="81"/>
                      <a:pt x="168" y="80"/>
                      <a:pt x="168" y="80"/>
                    </a:cubicBezTo>
                    <a:cubicBezTo>
                      <a:pt x="168" y="80"/>
                      <a:pt x="168" y="79"/>
                      <a:pt x="168" y="79"/>
                    </a:cubicBezTo>
                    <a:cubicBezTo>
                      <a:pt x="169" y="79"/>
                      <a:pt x="171" y="78"/>
                      <a:pt x="172" y="77"/>
                    </a:cubicBezTo>
                    <a:cubicBezTo>
                      <a:pt x="173" y="76"/>
                      <a:pt x="175" y="74"/>
                      <a:pt x="175" y="74"/>
                    </a:cubicBezTo>
                    <a:cubicBezTo>
                      <a:pt x="175" y="73"/>
                      <a:pt x="176" y="73"/>
                      <a:pt x="176" y="73"/>
                    </a:cubicBezTo>
                    <a:cubicBezTo>
                      <a:pt x="176" y="73"/>
                      <a:pt x="177" y="72"/>
                      <a:pt x="176" y="72"/>
                    </a:cubicBezTo>
                    <a:cubicBezTo>
                      <a:pt x="174" y="72"/>
                      <a:pt x="174" y="72"/>
                      <a:pt x="174" y="72"/>
                    </a:cubicBezTo>
                    <a:cubicBezTo>
                      <a:pt x="174" y="72"/>
                      <a:pt x="173" y="72"/>
                      <a:pt x="174" y="71"/>
                    </a:cubicBezTo>
                    <a:cubicBezTo>
                      <a:pt x="175" y="70"/>
                      <a:pt x="175" y="70"/>
                      <a:pt x="175" y="70"/>
                    </a:cubicBezTo>
                    <a:cubicBezTo>
                      <a:pt x="175" y="70"/>
                      <a:pt x="176" y="69"/>
                      <a:pt x="176" y="69"/>
                    </a:cubicBezTo>
                    <a:cubicBezTo>
                      <a:pt x="177" y="70"/>
                      <a:pt x="178" y="69"/>
                      <a:pt x="178" y="70"/>
                    </a:cubicBezTo>
                    <a:cubicBezTo>
                      <a:pt x="178" y="70"/>
                      <a:pt x="179" y="71"/>
                      <a:pt x="179" y="71"/>
                    </a:cubicBezTo>
                    <a:cubicBezTo>
                      <a:pt x="179" y="71"/>
                      <a:pt x="179" y="71"/>
                      <a:pt x="180" y="71"/>
                    </a:cubicBezTo>
                    <a:cubicBezTo>
                      <a:pt x="180" y="70"/>
                      <a:pt x="181" y="70"/>
                      <a:pt x="181" y="71"/>
                    </a:cubicBezTo>
                    <a:cubicBezTo>
                      <a:pt x="181" y="71"/>
                      <a:pt x="182" y="71"/>
                      <a:pt x="182" y="70"/>
                    </a:cubicBezTo>
                    <a:cubicBezTo>
                      <a:pt x="182" y="70"/>
                      <a:pt x="183" y="70"/>
                      <a:pt x="183" y="69"/>
                    </a:cubicBezTo>
                    <a:cubicBezTo>
                      <a:pt x="183" y="68"/>
                      <a:pt x="184" y="68"/>
                      <a:pt x="184" y="68"/>
                    </a:cubicBezTo>
                    <a:cubicBezTo>
                      <a:pt x="184" y="68"/>
                      <a:pt x="184" y="68"/>
                      <a:pt x="184" y="68"/>
                    </a:cubicBezTo>
                    <a:cubicBezTo>
                      <a:pt x="184" y="67"/>
                      <a:pt x="184" y="67"/>
                      <a:pt x="184" y="67"/>
                    </a:cubicBezTo>
                    <a:cubicBezTo>
                      <a:pt x="184" y="66"/>
                      <a:pt x="184" y="65"/>
                      <a:pt x="184" y="64"/>
                    </a:cubicBezTo>
                    <a:cubicBezTo>
                      <a:pt x="184" y="64"/>
                      <a:pt x="184" y="59"/>
                      <a:pt x="184" y="58"/>
                    </a:cubicBezTo>
                    <a:cubicBezTo>
                      <a:pt x="184" y="58"/>
                      <a:pt x="185" y="56"/>
                      <a:pt x="186" y="56"/>
                    </a:cubicBezTo>
                    <a:cubicBezTo>
                      <a:pt x="186" y="55"/>
                      <a:pt x="189" y="48"/>
                      <a:pt x="189" y="47"/>
                    </a:cubicBezTo>
                    <a:cubicBezTo>
                      <a:pt x="190" y="47"/>
                      <a:pt x="190" y="46"/>
                      <a:pt x="190" y="46"/>
                    </a:cubicBezTo>
                    <a:cubicBezTo>
                      <a:pt x="190" y="46"/>
                      <a:pt x="193" y="42"/>
                      <a:pt x="194" y="42"/>
                    </a:cubicBezTo>
                    <a:cubicBezTo>
                      <a:pt x="194" y="41"/>
                      <a:pt x="193" y="41"/>
                      <a:pt x="193" y="41"/>
                    </a:cubicBezTo>
                    <a:cubicBezTo>
                      <a:pt x="193" y="41"/>
                      <a:pt x="190" y="41"/>
                      <a:pt x="189" y="40"/>
                    </a:cubicBezTo>
                    <a:cubicBezTo>
                      <a:pt x="189" y="40"/>
                      <a:pt x="188" y="40"/>
                      <a:pt x="188" y="40"/>
                    </a:cubicBezTo>
                    <a:cubicBezTo>
                      <a:pt x="188" y="40"/>
                      <a:pt x="187" y="40"/>
                      <a:pt x="186" y="40"/>
                    </a:cubicBezTo>
                    <a:cubicBezTo>
                      <a:pt x="186" y="40"/>
                      <a:pt x="185" y="40"/>
                      <a:pt x="185" y="40"/>
                    </a:cubicBezTo>
                    <a:cubicBezTo>
                      <a:pt x="185" y="40"/>
                      <a:pt x="182" y="39"/>
                      <a:pt x="181" y="38"/>
                    </a:cubicBezTo>
                    <a:cubicBezTo>
                      <a:pt x="181" y="38"/>
                      <a:pt x="180" y="38"/>
                      <a:pt x="180" y="38"/>
                    </a:cubicBezTo>
                    <a:cubicBezTo>
                      <a:pt x="180" y="38"/>
                      <a:pt x="178" y="38"/>
                      <a:pt x="177" y="38"/>
                    </a:cubicBezTo>
                    <a:cubicBezTo>
                      <a:pt x="177" y="38"/>
                      <a:pt x="176" y="38"/>
                      <a:pt x="176" y="38"/>
                    </a:cubicBezTo>
                    <a:cubicBezTo>
                      <a:pt x="176" y="38"/>
                      <a:pt x="173" y="37"/>
                      <a:pt x="172" y="37"/>
                    </a:cubicBezTo>
                    <a:cubicBezTo>
                      <a:pt x="172" y="37"/>
                      <a:pt x="171" y="37"/>
                      <a:pt x="171" y="36"/>
                    </a:cubicBezTo>
                    <a:cubicBezTo>
                      <a:pt x="171" y="36"/>
                      <a:pt x="169" y="34"/>
                      <a:pt x="169" y="34"/>
                    </a:cubicBezTo>
                    <a:cubicBezTo>
                      <a:pt x="169" y="33"/>
                      <a:pt x="168" y="33"/>
                      <a:pt x="168" y="33"/>
                    </a:cubicBezTo>
                    <a:cubicBezTo>
                      <a:pt x="168" y="33"/>
                      <a:pt x="167" y="32"/>
                      <a:pt x="166" y="3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86" name="Freeform 1098">
                <a:extLst>
                  <a:ext uri="{FF2B5EF4-FFF2-40B4-BE49-F238E27FC236}">
                    <a16:creationId xmlns:a16="http://schemas.microsoft.com/office/drawing/2014/main" id="{787BEC12-AD7F-4AA7-8655-941E50834517}"/>
                  </a:ext>
                </a:extLst>
              </p:cNvPr>
              <p:cNvSpPr>
                <a:spLocks/>
              </p:cNvSpPr>
              <p:nvPr/>
            </p:nvSpPr>
            <p:spPr bwMode="auto">
              <a:xfrm>
                <a:off x="3532" y="1757"/>
                <a:ext cx="7" cy="6"/>
              </a:xfrm>
              <a:custGeom>
                <a:avLst/>
                <a:gdLst>
                  <a:gd name="T0" fmla="*/ 4 w 5"/>
                  <a:gd name="T1" fmla="*/ 2 h 4"/>
                  <a:gd name="T2" fmla="*/ 5 w 5"/>
                  <a:gd name="T3" fmla="*/ 1 h 4"/>
                  <a:gd name="T4" fmla="*/ 4 w 5"/>
                  <a:gd name="T5" fmla="*/ 1 h 4"/>
                  <a:gd name="T6" fmla="*/ 1 w 5"/>
                  <a:gd name="T7" fmla="*/ 0 h 4"/>
                  <a:gd name="T8" fmla="*/ 0 w 5"/>
                  <a:gd name="T9" fmla="*/ 1 h 4"/>
                  <a:gd name="T10" fmla="*/ 0 w 5"/>
                  <a:gd name="T11" fmla="*/ 2 h 4"/>
                  <a:gd name="T12" fmla="*/ 2 w 5"/>
                  <a:gd name="T13" fmla="*/ 3 h 4"/>
                  <a:gd name="T14" fmla="*/ 4 w 5"/>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4" y="2"/>
                    </a:moveTo>
                    <a:cubicBezTo>
                      <a:pt x="4" y="2"/>
                      <a:pt x="5" y="2"/>
                      <a:pt x="5" y="1"/>
                    </a:cubicBezTo>
                    <a:cubicBezTo>
                      <a:pt x="5" y="1"/>
                      <a:pt x="5" y="1"/>
                      <a:pt x="4" y="1"/>
                    </a:cubicBezTo>
                    <a:cubicBezTo>
                      <a:pt x="4" y="1"/>
                      <a:pt x="1" y="0"/>
                      <a:pt x="1" y="0"/>
                    </a:cubicBezTo>
                    <a:cubicBezTo>
                      <a:pt x="1" y="0"/>
                      <a:pt x="0" y="0"/>
                      <a:pt x="0" y="1"/>
                    </a:cubicBezTo>
                    <a:cubicBezTo>
                      <a:pt x="0" y="1"/>
                      <a:pt x="0" y="1"/>
                      <a:pt x="0" y="2"/>
                    </a:cubicBezTo>
                    <a:cubicBezTo>
                      <a:pt x="0" y="2"/>
                      <a:pt x="0" y="4"/>
                      <a:pt x="2" y="3"/>
                    </a:cubicBezTo>
                    <a:cubicBezTo>
                      <a:pt x="2" y="3"/>
                      <a:pt x="3" y="2"/>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87" name="Freeform 1099">
                <a:extLst>
                  <a:ext uri="{FF2B5EF4-FFF2-40B4-BE49-F238E27FC236}">
                    <a16:creationId xmlns:a16="http://schemas.microsoft.com/office/drawing/2014/main" id="{ECAE8BDA-4822-49FC-9735-F94341103F5E}"/>
                  </a:ext>
                </a:extLst>
              </p:cNvPr>
              <p:cNvSpPr>
                <a:spLocks/>
              </p:cNvSpPr>
              <p:nvPr/>
            </p:nvSpPr>
            <p:spPr bwMode="auto">
              <a:xfrm>
                <a:off x="3130" y="2099"/>
                <a:ext cx="5" cy="5"/>
              </a:xfrm>
              <a:custGeom>
                <a:avLst/>
                <a:gdLst>
                  <a:gd name="T0" fmla="*/ 1 w 4"/>
                  <a:gd name="T1" fmla="*/ 2 h 4"/>
                  <a:gd name="T2" fmla="*/ 2 w 4"/>
                  <a:gd name="T3" fmla="*/ 4 h 4"/>
                  <a:gd name="T4" fmla="*/ 3 w 4"/>
                  <a:gd name="T5" fmla="*/ 3 h 4"/>
                  <a:gd name="T6" fmla="*/ 1 w 4"/>
                  <a:gd name="T7" fmla="*/ 2 h 4"/>
                </a:gdLst>
                <a:ahLst/>
                <a:cxnLst>
                  <a:cxn ang="0">
                    <a:pos x="T0" y="T1"/>
                  </a:cxn>
                  <a:cxn ang="0">
                    <a:pos x="T2" y="T3"/>
                  </a:cxn>
                  <a:cxn ang="0">
                    <a:pos x="T4" y="T5"/>
                  </a:cxn>
                  <a:cxn ang="0">
                    <a:pos x="T6" y="T7"/>
                  </a:cxn>
                </a:cxnLst>
                <a:rect l="0" t="0" r="r" b="b"/>
                <a:pathLst>
                  <a:path w="4" h="4">
                    <a:moveTo>
                      <a:pt x="1" y="2"/>
                    </a:moveTo>
                    <a:cubicBezTo>
                      <a:pt x="0" y="3"/>
                      <a:pt x="1" y="3"/>
                      <a:pt x="2" y="4"/>
                    </a:cubicBezTo>
                    <a:cubicBezTo>
                      <a:pt x="4" y="4"/>
                      <a:pt x="3" y="3"/>
                      <a:pt x="3" y="3"/>
                    </a:cubicBezTo>
                    <a:cubicBezTo>
                      <a:pt x="4" y="0"/>
                      <a:pt x="2" y="1"/>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88" name="Freeform 1100">
                <a:extLst>
                  <a:ext uri="{FF2B5EF4-FFF2-40B4-BE49-F238E27FC236}">
                    <a16:creationId xmlns:a16="http://schemas.microsoft.com/office/drawing/2014/main" id="{0B806EA5-3D5A-4217-B6BA-D48F2CE1CBA4}"/>
                  </a:ext>
                </a:extLst>
              </p:cNvPr>
              <p:cNvSpPr>
                <a:spLocks/>
              </p:cNvSpPr>
              <p:nvPr/>
            </p:nvSpPr>
            <p:spPr bwMode="auto">
              <a:xfrm>
                <a:off x="3132" y="2077"/>
                <a:ext cx="7" cy="9"/>
              </a:xfrm>
              <a:custGeom>
                <a:avLst/>
                <a:gdLst>
                  <a:gd name="T0" fmla="*/ 1 w 5"/>
                  <a:gd name="T1" fmla="*/ 0 h 7"/>
                  <a:gd name="T2" fmla="*/ 1 w 5"/>
                  <a:gd name="T3" fmla="*/ 3 h 7"/>
                  <a:gd name="T4" fmla="*/ 5 w 5"/>
                  <a:gd name="T5" fmla="*/ 2 h 7"/>
                  <a:gd name="T6" fmla="*/ 1 w 5"/>
                  <a:gd name="T7" fmla="*/ 0 h 7"/>
                </a:gdLst>
                <a:ahLst/>
                <a:cxnLst>
                  <a:cxn ang="0">
                    <a:pos x="T0" y="T1"/>
                  </a:cxn>
                  <a:cxn ang="0">
                    <a:pos x="T2" y="T3"/>
                  </a:cxn>
                  <a:cxn ang="0">
                    <a:pos x="T4" y="T5"/>
                  </a:cxn>
                  <a:cxn ang="0">
                    <a:pos x="T6" y="T7"/>
                  </a:cxn>
                </a:cxnLst>
                <a:rect l="0" t="0" r="r" b="b"/>
                <a:pathLst>
                  <a:path w="5" h="7">
                    <a:moveTo>
                      <a:pt x="1" y="0"/>
                    </a:moveTo>
                    <a:cubicBezTo>
                      <a:pt x="0" y="1"/>
                      <a:pt x="1" y="3"/>
                      <a:pt x="1" y="3"/>
                    </a:cubicBezTo>
                    <a:cubicBezTo>
                      <a:pt x="4" y="7"/>
                      <a:pt x="5" y="3"/>
                      <a:pt x="5" y="2"/>
                    </a:cubicBezTo>
                    <a:cubicBezTo>
                      <a:pt x="5" y="0"/>
                      <a:pt x="3"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89" name="Freeform 1101">
                <a:extLst>
                  <a:ext uri="{FF2B5EF4-FFF2-40B4-BE49-F238E27FC236}">
                    <a16:creationId xmlns:a16="http://schemas.microsoft.com/office/drawing/2014/main" id="{BC420C60-4C44-4D11-BB31-3A261A12640D}"/>
                  </a:ext>
                </a:extLst>
              </p:cNvPr>
              <p:cNvSpPr>
                <a:spLocks/>
              </p:cNvSpPr>
              <p:nvPr/>
            </p:nvSpPr>
            <p:spPr bwMode="auto">
              <a:xfrm>
                <a:off x="3146" y="2092"/>
                <a:ext cx="7" cy="5"/>
              </a:xfrm>
              <a:custGeom>
                <a:avLst/>
                <a:gdLst>
                  <a:gd name="T0" fmla="*/ 2 w 5"/>
                  <a:gd name="T1" fmla="*/ 0 h 4"/>
                  <a:gd name="T2" fmla="*/ 1 w 5"/>
                  <a:gd name="T3" fmla="*/ 2 h 4"/>
                  <a:gd name="T4" fmla="*/ 4 w 5"/>
                  <a:gd name="T5" fmla="*/ 1 h 4"/>
                  <a:gd name="T6" fmla="*/ 2 w 5"/>
                  <a:gd name="T7" fmla="*/ 0 h 4"/>
                </a:gdLst>
                <a:ahLst/>
                <a:cxnLst>
                  <a:cxn ang="0">
                    <a:pos x="T0" y="T1"/>
                  </a:cxn>
                  <a:cxn ang="0">
                    <a:pos x="T2" y="T3"/>
                  </a:cxn>
                  <a:cxn ang="0">
                    <a:pos x="T4" y="T5"/>
                  </a:cxn>
                  <a:cxn ang="0">
                    <a:pos x="T6" y="T7"/>
                  </a:cxn>
                </a:cxnLst>
                <a:rect l="0" t="0" r="r" b="b"/>
                <a:pathLst>
                  <a:path w="5" h="4">
                    <a:moveTo>
                      <a:pt x="2" y="0"/>
                    </a:moveTo>
                    <a:cubicBezTo>
                      <a:pt x="0" y="0"/>
                      <a:pt x="1" y="2"/>
                      <a:pt x="1" y="2"/>
                    </a:cubicBezTo>
                    <a:cubicBezTo>
                      <a:pt x="2" y="4"/>
                      <a:pt x="3" y="3"/>
                      <a:pt x="4" y="1"/>
                    </a:cubicBezTo>
                    <a:cubicBezTo>
                      <a:pt x="5" y="0"/>
                      <a:pt x="3"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90" name="Freeform 1102">
                <a:extLst>
                  <a:ext uri="{FF2B5EF4-FFF2-40B4-BE49-F238E27FC236}">
                    <a16:creationId xmlns:a16="http://schemas.microsoft.com/office/drawing/2014/main" id="{1BD50F11-FAD6-450F-BA93-210E4977610A}"/>
                  </a:ext>
                </a:extLst>
              </p:cNvPr>
              <p:cNvSpPr>
                <a:spLocks/>
              </p:cNvSpPr>
              <p:nvPr/>
            </p:nvSpPr>
            <p:spPr bwMode="auto">
              <a:xfrm>
                <a:off x="3155" y="2084"/>
                <a:ext cx="16" cy="13"/>
              </a:xfrm>
              <a:custGeom>
                <a:avLst/>
                <a:gdLst>
                  <a:gd name="T0" fmla="*/ 4 w 12"/>
                  <a:gd name="T1" fmla="*/ 9 h 10"/>
                  <a:gd name="T2" fmla="*/ 6 w 12"/>
                  <a:gd name="T3" fmla="*/ 8 h 10"/>
                  <a:gd name="T4" fmla="*/ 11 w 12"/>
                  <a:gd name="T5" fmla="*/ 2 h 10"/>
                  <a:gd name="T6" fmla="*/ 11 w 12"/>
                  <a:gd name="T7" fmla="*/ 0 h 10"/>
                  <a:gd name="T8" fmla="*/ 8 w 12"/>
                  <a:gd name="T9" fmla="*/ 2 h 10"/>
                  <a:gd name="T10" fmla="*/ 2 w 12"/>
                  <a:gd name="T11" fmla="*/ 3 h 10"/>
                  <a:gd name="T12" fmla="*/ 2 w 12"/>
                  <a:gd name="T13" fmla="*/ 5 h 10"/>
                  <a:gd name="T14" fmla="*/ 4 w 12"/>
                  <a:gd name="T15" fmla="*/ 9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0">
                    <a:moveTo>
                      <a:pt x="4" y="9"/>
                    </a:moveTo>
                    <a:cubicBezTo>
                      <a:pt x="4" y="10"/>
                      <a:pt x="6" y="8"/>
                      <a:pt x="6" y="8"/>
                    </a:cubicBezTo>
                    <a:cubicBezTo>
                      <a:pt x="6" y="8"/>
                      <a:pt x="9" y="4"/>
                      <a:pt x="11" y="2"/>
                    </a:cubicBezTo>
                    <a:cubicBezTo>
                      <a:pt x="12" y="0"/>
                      <a:pt x="11" y="0"/>
                      <a:pt x="11" y="0"/>
                    </a:cubicBezTo>
                    <a:cubicBezTo>
                      <a:pt x="10" y="0"/>
                      <a:pt x="9" y="0"/>
                      <a:pt x="8" y="2"/>
                    </a:cubicBezTo>
                    <a:cubicBezTo>
                      <a:pt x="7" y="3"/>
                      <a:pt x="3" y="3"/>
                      <a:pt x="2" y="3"/>
                    </a:cubicBezTo>
                    <a:cubicBezTo>
                      <a:pt x="0" y="3"/>
                      <a:pt x="2" y="5"/>
                      <a:pt x="2" y="5"/>
                    </a:cubicBezTo>
                    <a:cubicBezTo>
                      <a:pt x="3" y="6"/>
                      <a:pt x="3" y="7"/>
                      <a:pt x="4"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91" name="Freeform 1103">
                <a:extLst>
                  <a:ext uri="{FF2B5EF4-FFF2-40B4-BE49-F238E27FC236}">
                    <a16:creationId xmlns:a16="http://schemas.microsoft.com/office/drawing/2014/main" id="{F8F1DE1E-0F97-4025-BF98-5FD699E07388}"/>
                  </a:ext>
                </a:extLst>
              </p:cNvPr>
              <p:cNvSpPr>
                <a:spLocks/>
              </p:cNvSpPr>
              <p:nvPr/>
            </p:nvSpPr>
            <p:spPr bwMode="auto">
              <a:xfrm>
                <a:off x="3177" y="2092"/>
                <a:ext cx="11" cy="11"/>
              </a:xfrm>
              <a:custGeom>
                <a:avLst/>
                <a:gdLst>
                  <a:gd name="T0" fmla="*/ 1 w 8"/>
                  <a:gd name="T1" fmla="*/ 3 h 8"/>
                  <a:gd name="T2" fmla="*/ 3 w 8"/>
                  <a:gd name="T3" fmla="*/ 7 h 8"/>
                  <a:gd name="T4" fmla="*/ 5 w 8"/>
                  <a:gd name="T5" fmla="*/ 7 h 8"/>
                  <a:gd name="T6" fmla="*/ 8 w 8"/>
                  <a:gd name="T7" fmla="*/ 2 h 8"/>
                  <a:gd name="T8" fmla="*/ 6 w 8"/>
                  <a:gd name="T9" fmla="*/ 1 h 8"/>
                  <a:gd name="T10" fmla="*/ 4 w 8"/>
                  <a:gd name="T11" fmla="*/ 1 h 8"/>
                  <a:gd name="T12" fmla="*/ 3 w 8"/>
                  <a:gd name="T13" fmla="*/ 2 h 8"/>
                  <a:gd name="T14" fmla="*/ 1 w 8"/>
                  <a:gd name="T15" fmla="*/ 3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8">
                    <a:moveTo>
                      <a:pt x="1" y="3"/>
                    </a:moveTo>
                    <a:cubicBezTo>
                      <a:pt x="0" y="5"/>
                      <a:pt x="2" y="6"/>
                      <a:pt x="3" y="7"/>
                    </a:cubicBezTo>
                    <a:cubicBezTo>
                      <a:pt x="3" y="7"/>
                      <a:pt x="4" y="8"/>
                      <a:pt x="5" y="7"/>
                    </a:cubicBezTo>
                    <a:cubicBezTo>
                      <a:pt x="7" y="6"/>
                      <a:pt x="8" y="3"/>
                      <a:pt x="8" y="2"/>
                    </a:cubicBezTo>
                    <a:cubicBezTo>
                      <a:pt x="8" y="1"/>
                      <a:pt x="7" y="1"/>
                      <a:pt x="6" y="1"/>
                    </a:cubicBezTo>
                    <a:cubicBezTo>
                      <a:pt x="6" y="1"/>
                      <a:pt x="5" y="1"/>
                      <a:pt x="4" y="1"/>
                    </a:cubicBezTo>
                    <a:cubicBezTo>
                      <a:pt x="2" y="0"/>
                      <a:pt x="3" y="2"/>
                      <a:pt x="3" y="2"/>
                    </a:cubicBezTo>
                    <a:cubicBezTo>
                      <a:pt x="3" y="3"/>
                      <a:pt x="2" y="2"/>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92" name="Freeform 1104">
                <a:extLst>
                  <a:ext uri="{FF2B5EF4-FFF2-40B4-BE49-F238E27FC236}">
                    <a16:creationId xmlns:a16="http://schemas.microsoft.com/office/drawing/2014/main" id="{E1AA29C6-FD5A-4B0B-845D-681818032B66}"/>
                  </a:ext>
                </a:extLst>
              </p:cNvPr>
              <p:cNvSpPr>
                <a:spLocks/>
              </p:cNvSpPr>
              <p:nvPr/>
            </p:nvSpPr>
            <p:spPr bwMode="auto">
              <a:xfrm>
                <a:off x="3206" y="2078"/>
                <a:ext cx="14" cy="18"/>
              </a:xfrm>
              <a:custGeom>
                <a:avLst/>
                <a:gdLst>
                  <a:gd name="T0" fmla="*/ 7 w 10"/>
                  <a:gd name="T1" fmla="*/ 2 h 13"/>
                  <a:gd name="T2" fmla="*/ 4 w 10"/>
                  <a:gd name="T3" fmla="*/ 8 h 13"/>
                  <a:gd name="T4" fmla="*/ 1 w 10"/>
                  <a:gd name="T5" fmla="*/ 11 h 13"/>
                  <a:gd name="T6" fmla="*/ 1 w 10"/>
                  <a:gd name="T7" fmla="*/ 12 h 13"/>
                  <a:gd name="T8" fmla="*/ 8 w 10"/>
                  <a:gd name="T9" fmla="*/ 9 h 13"/>
                  <a:gd name="T10" fmla="*/ 9 w 10"/>
                  <a:gd name="T11" fmla="*/ 2 h 13"/>
                  <a:gd name="T12" fmla="*/ 7 w 10"/>
                  <a:gd name="T13" fmla="*/ 2 h 13"/>
                </a:gdLst>
                <a:ahLst/>
                <a:cxnLst>
                  <a:cxn ang="0">
                    <a:pos x="T0" y="T1"/>
                  </a:cxn>
                  <a:cxn ang="0">
                    <a:pos x="T2" y="T3"/>
                  </a:cxn>
                  <a:cxn ang="0">
                    <a:pos x="T4" y="T5"/>
                  </a:cxn>
                  <a:cxn ang="0">
                    <a:pos x="T6" y="T7"/>
                  </a:cxn>
                  <a:cxn ang="0">
                    <a:pos x="T8" y="T9"/>
                  </a:cxn>
                  <a:cxn ang="0">
                    <a:pos x="T10" y="T11"/>
                  </a:cxn>
                  <a:cxn ang="0">
                    <a:pos x="T12" y="T13"/>
                  </a:cxn>
                </a:cxnLst>
                <a:rect l="0" t="0" r="r" b="b"/>
                <a:pathLst>
                  <a:path w="10" h="13">
                    <a:moveTo>
                      <a:pt x="7" y="2"/>
                    </a:moveTo>
                    <a:cubicBezTo>
                      <a:pt x="6" y="4"/>
                      <a:pt x="5" y="6"/>
                      <a:pt x="4" y="8"/>
                    </a:cubicBezTo>
                    <a:cubicBezTo>
                      <a:pt x="4" y="10"/>
                      <a:pt x="3" y="10"/>
                      <a:pt x="1" y="11"/>
                    </a:cubicBezTo>
                    <a:cubicBezTo>
                      <a:pt x="0" y="12"/>
                      <a:pt x="1" y="12"/>
                      <a:pt x="1" y="12"/>
                    </a:cubicBezTo>
                    <a:cubicBezTo>
                      <a:pt x="2" y="13"/>
                      <a:pt x="6" y="11"/>
                      <a:pt x="8" y="9"/>
                    </a:cubicBezTo>
                    <a:cubicBezTo>
                      <a:pt x="10" y="8"/>
                      <a:pt x="10" y="4"/>
                      <a:pt x="9" y="2"/>
                    </a:cubicBezTo>
                    <a:cubicBezTo>
                      <a:pt x="8" y="0"/>
                      <a:pt x="8" y="1"/>
                      <a:pt x="7"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93" name="Freeform 1105">
                <a:extLst>
                  <a:ext uri="{FF2B5EF4-FFF2-40B4-BE49-F238E27FC236}">
                    <a16:creationId xmlns:a16="http://schemas.microsoft.com/office/drawing/2014/main" id="{7CFCD60A-1E61-4A37-A071-E6F333E59E1B}"/>
                  </a:ext>
                </a:extLst>
              </p:cNvPr>
              <p:cNvSpPr>
                <a:spLocks/>
              </p:cNvSpPr>
              <p:nvPr/>
            </p:nvSpPr>
            <p:spPr bwMode="auto">
              <a:xfrm>
                <a:off x="3218" y="2067"/>
                <a:ext cx="10" cy="11"/>
              </a:xfrm>
              <a:custGeom>
                <a:avLst/>
                <a:gdLst>
                  <a:gd name="T0" fmla="*/ 1 w 7"/>
                  <a:gd name="T1" fmla="*/ 6 h 8"/>
                  <a:gd name="T2" fmla="*/ 4 w 7"/>
                  <a:gd name="T3" fmla="*/ 6 h 8"/>
                  <a:gd name="T4" fmla="*/ 6 w 7"/>
                  <a:gd name="T5" fmla="*/ 2 h 8"/>
                  <a:gd name="T6" fmla="*/ 2 w 7"/>
                  <a:gd name="T7" fmla="*/ 4 h 8"/>
                  <a:gd name="T8" fmla="*/ 1 w 7"/>
                  <a:gd name="T9" fmla="*/ 6 h 8"/>
                </a:gdLst>
                <a:ahLst/>
                <a:cxnLst>
                  <a:cxn ang="0">
                    <a:pos x="T0" y="T1"/>
                  </a:cxn>
                  <a:cxn ang="0">
                    <a:pos x="T2" y="T3"/>
                  </a:cxn>
                  <a:cxn ang="0">
                    <a:pos x="T4" y="T5"/>
                  </a:cxn>
                  <a:cxn ang="0">
                    <a:pos x="T6" y="T7"/>
                  </a:cxn>
                  <a:cxn ang="0">
                    <a:pos x="T8" y="T9"/>
                  </a:cxn>
                </a:cxnLst>
                <a:rect l="0" t="0" r="r" b="b"/>
                <a:pathLst>
                  <a:path w="7" h="8">
                    <a:moveTo>
                      <a:pt x="1" y="6"/>
                    </a:moveTo>
                    <a:cubicBezTo>
                      <a:pt x="1" y="8"/>
                      <a:pt x="2" y="7"/>
                      <a:pt x="4" y="6"/>
                    </a:cubicBezTo>
                    <a:cubicBezTo>
                      <a:pt x="5" y="5"/>
                      <a:pt x="6" y="5"/>
                      <a:pt x="6" y="2"/>
                    </a:cubicBezTo>
                    <a:cubicBezTo>
                      <a:pt x="7" y="0"/>
                      <a:pt x="4" y="3"/>
                      <a:pt x="2" y="4"/>
                    </a:cubicBezTo>
                    <a:cubicBezTo>
                      <a:pt x="0" y="5"/>
                      <a:pt x="1" y="6"/>
                      <a:pt x="1"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94" name="Freeform 1106">
                <a:extLst>
                  <a:ext uri="{FF2B5EF4-FFF2-40B4-BE49-F238E27FC236}">
                    <a16:creationId xmlns:a16="http://schemas.microsoft.com/office/drawing/2014/main" id="{7082E247-D222-4A37-879A-121CAE5A7B26}"/>
                  </a:ext>
                </a:extLst>
              </p:cNvPr>
              <p:cNvSpPr>
                <a:spLocks/>
              </p:cNvSpPr>
              <p:nvPr/>
            </p:nvSpPr>
            <p:spPr bwMode="auto">
              <a:xfrm>
                <a:off x="3528" y="1841"/>
                <a:ext cx="10" cy="11"/>
              </a:xfrm>
              <a:custGeom>
                <a:avLst/>
                <a:gdLst>
                  <a:gd name="T0" fmla="*/ 5 w 7"/>
                  <a:gd name="T1" fmla="*/ 3 h 8"/>
                  <a:gd name="T2" fmla="*/ 2 w 7"/>
                  <a:gd name="T3" fmla="*/ 2 h 8"/>
                  <a:gd name="T4" fmla="*/ 1 w 7"/>
                  <a:gd name="T5" fmla="*/ 4 h 8"/>
                  <a:gd name="T6" fmla="*/ 5 w 7"/>
                  <a:gd name="T7" fmla="*/ 3 h 8"/>
                </a:gdLst>
                <a:ahLst/>
                <a:cxnLst>
                  <a:cxn ang="0">
                    <a:pos x="T0" y="T1"/>
                  </a:cxn>
                  <a:cxn ang="0">
                    <a:pos x="T2" y="T3"/>
                  </a:cxn>
                  <a:cxn ang="0">
                    <a:pos x="T4" y="T5"/>
                  </a:cxn>
                  <a:cxn ang="0">
                    <a:pos x="T6" y="T7"/>
                  </a:cxn>
                </a:cxnLst>
                <a:rect l="0" t="0" r="r" b="b"/>
                <a:pathLst>
                  <a:path w="7" h="8">
                    <a:moveTo>
                      <a:pt x="5" y="3"/>
                    </a:moveTo>
                    <a:cubicBezTo>
                      <a:pt x="7" y="0"/>
                      <a:pt x="4" y="1"/>
                      <a:pt x="2" y="2"/>
                    </a:cubicBezTo>
                    <a:cubicBezTo>
                      <a:pt x="0" y="2"/>
                      <a:pt x="1" y="4"/>
                      <a:pt x="1" y="4"/>
                    </a:cubicBezTo>
                    <a:cubicBezTo>
                      <a:pt x="2" y="8"/>
                      <a:pt x="3" y="5"/>
                      <a:pt x="5"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95" name="Freeform 1107">
                <a:extLst>
                  <a:ext uri="{FF2B5EF4-FFF2-40B4-BE49-F238E27FC236}">
                    <a16:creationId xmlns:a16="http://schemas.microsoft.com/office/drawing/2014/main" id="{CC138AF2-5224-4C51-9A2E-38093C9D819D}"/>
                  </a:ext>
                </a:extLst>
              </p:cNvPr>
              <p:cNvSpPr>
                <a:spLocks/>
              </p:cNvSpPr>
              <p:nvPr/>
            </p:nvSpPr>
            <p:spPr bwMode="auto">
              <a:xfrm>
                <a:off x="3550" y="1820"/>
                <a:ext cx="25" cy="19"/>
              </a:xfrm>
              <a:custGeom>
                <a:avLst/>
                <a:gdLst>
                  <a:gd name="T0" fmla="*/ 13 w 18"/>
                  <a:gd name="T1" fmla="*/ 1 h 14"/>
                  <a:gd name="T2" fmla="*/ 3 w 18"/>
                  <a:gd name="T3" fmla="*/ 6 h 14"/>
                  <a:gd name="T4" fmla="*/ 3 w 18"/>
                  <a:gd name="T5" fmla="*/ 8 h 14"/>
                  <a:gd name="T6" fmla="*/ 6 w 18"/>
                  <a:gd name="T7" fmla="*/ 10 h 14"/>
                  <a:gd name="T8" fmla="*/ 10 w 18"/>
                  <a:gd name="T9" fmla="*/ 13 h 14"/>
                  <a:gd name="T10" fmla="*/ 17 w 18"/>
                  <a:gd name="T11" fmla="*/ 7 h 14"/>
                  <a:gd name="T12" fmla="*/ 15 w 18"/>
                  <a:gd name="T13" fmla="*/ 5 h 14"/>
                  <a:gd name="T14" fmla="*/ 13 w 18"/>
                  <a:gd name="T15" fmla="*/ 4 h 14"/>
                  <a:gd name="T16" fmla="*/ 13 w 18"/>
                  <a:gd name="T17" fmla="*/ 3 h 14"/>
                  <a:gd name="T18" fmla="*/ 13 w 18"/>
                  <a:gd name="T19" fmla="*/ 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4">
                    <a:moveTo>
                      <a:pt x="13" y="1"/>
                    </a:moveTo>
                    <a:cubicBezTo>
                      <a:pt x="15" y="0"/>
                      <a:pt x="7" y="3"/>
                      <a:pt x="3" y="6"/>
                    </a:cubicBezTo>
                    <a:cubicBezTo>
                      <a:pt x="0" y="8"/>
                      <a:pt x="3" y="8"/>
                      <a:pt x="3" y="8"/>
                    </a:cubicBezTo>
                    <a:cubicBezTo>
                      <a:pt x="4" y="8"/>
                      <a:pt x="6" y="8"/>
                      <a:pt x="6" y="10"/>
                    </a:cubicBezTo>
                    <a:cubicBezTo>
                      <a:pt x="7" y="12"/>
                      <a:pt x="8" y="11"/>
                      <a:pt x="10" y="13"/>
                    </a:cubicBezTo>
                    <a:cubicBezTo>
                      <a:pt x="12" y="14"/>
                      <a:pt x="15" y="9"/>
                      <a:pt x="17" y="7"/>
                    </a:cubicBezTo>
                    <a:cubicBezTo>
                      <a:pt x="18" y="5"/>
                      <a:pt x="16" y="5"/>
                      <a:pt x="15" y="5"/>
                    </a:cubicBezTo>
                    <a:cubicBezTo>
                      <a:pt x="14" y="5"/>
                      <a:pt x="13" y="5"/>
                      <a:pt x="13" y="4"/>
                    </a:cubicBezTo>
                    <a:cubicBezTo>
                      <a:pt x="13" y="3"/>
                      <a:pt x="13" y="2"/>
                      <a:pt x="13" y="3"/>
                    </a:cubicBezTo>
                    <a:cubicBezTo>
                      <a:pt x="12" y="3"/>
                      <a:pt x="12" y="2"/>
                      <a:pt x="1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96" name="Freeform 1108">
                <a:extLst>
                  <a:ext uri="{FF2B5EF4-FFF2-40B4-BE49-F238E27FC236}">
                    <a16:creationId xmlns:a16="http://schemas.microsoft.com/office/drawing/2014/main" id="{BBC7D2A8-D300-4C43-ACC2-8AFE03C1287D}"/>
                  </a:ext>
                </a:extLst>
              </p:cNvPr>
              <p:cNvSpPr>
                <a:spLocks/>
              </p:cNvSpPr>
              <p:nvPr/>
            </p:nvSpPr>
            <p:spPr bwMode="auto">
              <a:xfrm>
                <a:off x="3579" y="1819"/>
                <a:ext cx="13" cy="8"/>
              </a:xfrm>
              <a:custGeom>
                <a:avLst/>
                <a:gdLst>
                  <a:gd name="T0" fmla="*/ 8 w 9"/>
                  <a:gd name="T1" fmla="*/ 4 h 6"/>
                  <a:gd name="T2" fmla="*/ 8 w 9"/>
                  <a:gd name="T3" fmla="*/ 2 h 6"/>
                  <a:gd name="T4" fmla="*/ 3 w 9"/>
                  <a:gd name="T5" fmla="*/ 0 h 6"/>
                  <a:gd name="T6" fmla="*/ 2 w 9"/>
                  <a:gd name="T7" fmla="*/ 2 h 6"/>
                  <a:gd name="T8" fmla="*/ 8 w 9"/>
                  <a:gd name="T9" fmla="*/ 4 h 6"/>
                </a:gdLst>
                <a:ahLst/>
                <a:cxnLst>
                  <a:cxn ang="0">
                    <a:pos x="T0" y="T1"/>
                  </a:cxn>
                  <a:cxn ang="0">
                    <a:pos x="T2" y="T3"/>
                  </a:cxn>
                  <a:cxn ang="0">
                    <a:pos x="T4" y="T5"/>
                  </a:cxn>
                  <a:cxn ang="0">
                    <a:pos x="T6" y="T7"/>
                  </a:cxn>
                  <a:cxn ang="0">
                    <a:pos x="T8" y="T9"/>
                  </a:cxn>
                </a:cxnLst>
                <a:rect l="0" t="0" r="r" b="b"/>
                <a:pathLst>
                  <a:path w="9" h="6">
                    <a:moveTo>
                      <a:pt x="8" y="4"/>
                    </a:moveTo>
                    <a:cubicBezTo>
                      <a:pt x="9" y="6"/>
                      <a:pt x="9" y="4"/>
                      <a:pt x="8" y="2"/>
                    </a:cubicBezTo>
                    <a:cubicBezTo>
                      <a:pt x="8" y="0"/>
                      <a:pt x="5" y="0"/>
                      <a:pt x="3" y="0"/>
                    </a:cubicBezTo>
                    <a:cubicBezTo>
                      <a:pt x="0" y="1"/>
                      <a:pt x="2" y="2"/>
                      <a:pt x="2" y="2"/>
                    </a:cubicBezTo>
                    <a:cubicBezTo>
                      <a:pt x="2" y="2"/>
                      <a:pt x="6" y="3"/>
                      <a:pt x="8"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97" name="Freeform 1109">
                <a:extLst>
                  <a:ext uri="{FF2B5EF4-FFF2-40B4-BE49-F238E27FC236}">
                    <a16:creationId xmlns:a16="http://schemas.microsoft.com/office/drawing/2014/main" id="{A6B94830-3A9A-4F9B-8021-35DA49228D79}"/>
                  </a:ext>
                </a:extLst>
              </p:cNvPr>
              <p:cNvSpPr>
                <a:spLocks/>
              </p:cNvSpPr>
              <p:nvPr/>
            </p:nvSpPr>
            <p:spPr bwMode="auto">
              <a:xfrm>
                <a:off x="3311" y="1728"/>
                <a:ext cx="263" cy="188"/>
              </a:xfrm>
              <a:custGeom>
                <a:avLst/>
                <a:gdLst>
                  <a:gd name="T0" fmla="*/ 162 w 190"/>
                  <a:gd name="T1" fmla="*/ 24 h 137"/>
                  <a:gd name="T2" fmla="*/ 151 w 190"/>
                  <a:gd name="T3" fmla="*/ 17 h 137"/>
                  <a:gd name="T4" fmla="*/ 140 w 190"/>
                  <a:gd name="T5" fmla="*/ 20 h 137"/>
                  <a:gd name="T6" fmla="*/ 128 w 190"/>
                  <a:gd name="T7" fmla="*/ 16 h 137"/>
                  <a:gd name="T8" fmla="*/ 118 w 190"/>
                  <a:gd name="T9" fmla="*/ 11 h 137"/>
                  <a:gd name="T10" fmla="*/ 113 w 190"/>
                  <a:gd name="T11" fmla="*/ 9 h 137"/>
                  <a:gd name="T12" fmla="*/ 95 w 190"/>
                  <a:gd name="T13" fmla="*/ 7 h 137"/>
                  <a:gd name="T14" fmla="*/ 70 w 190"/>
                  <a:gd name="T15" fmla="*/ 7 h 137"/>
                  <a:gd name="T16" fmla="*/ 50 w 190"/>
                  <a:gd name="T17" fmla="*/ 3 h 137"/>
                  <a:gd name="T18" fmla="*/ 23 w 190"/>
                  <a:gd name="T19" fmla="*/ 2 h 137"/>
                  <a:gd name="T20" fmla="*/ 17 w 190"/>
                  <a:gd name="T21" fmla="*/ 4 h 137"/>
                  <a:gd name="T22" fmla="*/ 16 w 190"/>
                  <a:gd name="T23" fmla="*/ 7 h 137"/>
                  <a:gd name="T24" fmla="*/ 5 w 190"/>
                  <a:gd name="T25" fmla="*/ 10 h 137"/>
                  <a:gd name="T26" fmla="*/ 2 w 190"/>
                  <a:gd name="T27" fmla="*/ 16 h 137"/>
                  <a:gd name="T28" fmla="*/ 9 w 190"/>
                  <a:gd name="T29" fmla="*/ 21 h 137"/>
                  <a:gd name="T30" fmla="*/ 9 w 190"/>
                  <a:gd name="T31" fmla="*/ 26 h 137"/>
                  <a:gd name="T32" fmla="*/ 7 w 190"/>
                  <a:gd name="T33" fmla="*/ 33 h 137"/>
                  <a:gd name="T34" fmla="*/ 10 w 190"/>
                  <a:gd name="T35" fmla="*/ 32 h 137"/>
                  <a:gd name="T36" fmla="*/ 17 w 190"/>
                  <a:gd name="T37" fmla="*/ 29 h 137"/>
                  <a:gd name="T38" fmla="*/ 17 w 190"/>
                  <a:gd name="T39" fmla="*/ 35 h 137"/>
                  <a:gd name="T40" fmla="*/ 21 w 190"/>
                  <a:gd name="T41" fmla="*/ 34 h 137"/>
                  <a:gd name="T42" fmla="*/ 26 w 190"/>
                  <a:gd name="T43" fmla="*/ 35 h 137"/>
                  <a:gd name="T44" fmla="*/ 34 w 190"/>
                  <a:gd name="T45" fmla="*/ 33 h 137"/>
                  <a:gd name="T46" fmla="*/ 41 w 190"/>
                  <a:gd name="T47" fmla="*/ 34 h 137"/>
                  <a:gd name="T48" fmla="*/ 46 w 190"/>
                  <a:gd name="T49" fmla="*/ 39 h 137"/>
                  <a:gd name="T50" fmla="*/ 44 w 190"/>
                  <a:gd name="T51" fmla="*/ 44 h 137"/>
                  <a:gd name="T52" fmla="*/ 39 w 190"/>
                  <a:gd name="T53" fmla="*/ 46 h 137"/>
                  <a:gd name="T54" fmla="*/ 37 w 190"/>
                  <a:gd name="T55" fmla="*/ 59 h 137"/>
                  <a:gd name="T56" fmla="*/ 35 w 190"/>
                  <a:gd name="T57" fmla="*/ 63 h 137"/>
                  <a:gd name="T58" fmla="*/ 33 w 190"/>
                  <a:gd name="T59" fmla="*/ 73 h 137"/>
                  <a:gd name="T60" fmla="*/ 27 w 190"/>
                  <a:gd name="T61" fmla="*/ 74 h 137"/>
                  <a:gd name="T62" fmla="*/ 31 w 190"/>
                  <a:gd name="T63" fmla="*/ 80 h 137"/>
                  <a:gd name="T64" fmla="*/ 33 w 190"/>
                  <a:gd name="T65" fmla="*/ 88 h 137"/>
                  <a:gd name="T66" fmla="*/ 30 w 190"/>
                  <a:gd name="T67" fmla="*/ 94 h 137"/>
                  <a:gd name="T68" fmla="*/ 35 w 190"/>
                  <a:gd name="T69" fmla="*/ 99 h 137"/>
                  <a:gd name="T70" fmla="*/ 31 w 190"/>
                  <a:gd name="T71" fmla="*/ 102 h 137"/>
                  <a:gd name="T72" fmla="*/ 27 w 190"/>
                  <a:gd name="T73" fmla="*/ 110 h 137"/>
                  <a:gd name="T74" fmla="*/ 28 w 190"/>
                  <a:gd name="T75" fmla="*/ 115 h 137"/>
                  <a:gd name="T76" fmla="*/ 36 w 190"/>
                  <a:gd name="T77" fmla="*/ 115 h 137"/>
                  <a:gd name="T78" fmla="*/ 45 w 190"/>
                  <a:gd name="T79" fmla="*/ 121 h 137"/>
                  <a:gd name="T80" fmla="*/ 49 w 190"/>
                  <a:gd name="T81" fmla="*/ 132 h 137"/>
                  <a:gd name="T82" fmla="*/ 64 w 190"/>
                  <a:gd name="T83" fmla="*/ 129 h 137"/>
                  <a:gd name="T84" fmla="*/ 91 w 190"/>
                  <a:gd name="T85" fmla="*/ 124 h 137"/>
                  <a:gd name="T86" fmla="*/ 105 w 190"/>
                  <a:gd name="T87" fmla="*/ 123 h 137"/>
                  <a:gd name="T88" fmla="*/ 123 w 190"/>
                  <a:gd name="T89" fmla="*/ 110 h 137"/>
                  <a:gd name="T90" fmla="*/ 127 w 190"/>
                  <a:gd name="T91" fmla="*/ 108 h 137"/>
                  <a:gd name="T92" fmla="*/ 141 w 190"/>
                  <a:gd name="T93" fmla="*/ 90 h 137"/>
                  <a:gd name="T94" fmla="*/ 150 w 190"/>
                  <a:gd name="T95" fmla="*/ 54 h 137"/>
                  <a:gd name="T96" fmla="*/ 181 w 190"/>
                  <a:gd name="T97" fmla="*/ 38 h 137"/>
                  <a:gd name="T98" fmla="*/ 187 w 190"/>
                  <a:gd name="T99" fmla="*/ 26 h 137"/>
                  <a:gd name="T100" fmla="*/ 171 w 190"/>
                  <a:gd name="T101" fmla="*/ 26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0" h="137">
                    <a:moveTo>
                      <a:pt x="171" y="26"/>
                    </a:moveTo>
                    <a:cubicBezTo>
                      <a:pt x="169" y="25"/>
                      <a:pt x="166" y="24"/>
                      <a:pt x="164" y="23"/>
                    </a:cubicBezTo>
                    <a:cubicBezTo>
                      <a:pt x="163" y="23"/>
                      <a:pt x="162" y="24"/>
                      <a:pt x="162" y="24"/>
                    </a:cubicBezTo>
                    <a:cubicBezTo>
                      <a:pt x="160" y="25"/>
                      <a:pt x="160" y="23"/>
                      <a:pt x="160" y="23"/>
                    </a:cubicBezTo>
                    <a:cubicBezTo>
                      <a:pt x="160" y="22"/>
                      <a:pt x="160" y="22"/>
                      <a:pt x="160" y="22"/>
                    </a:cubicBezTo>
                    <a:cubicBezTo>
                      <a:pt x="158" y="21"/>
                      <a:pt x="152" y="18"/>
                      <a:pt x="151" y="17"/>
                    </a:cubicBezTo>
                    <a:cubicBezTo>
                      <a:pt x="149" y="16"/>
                      <a:pt x="149" y="18"/>
                      <a:pt x="149" y="19"/>
                    </a:cubicBezTo>
                    <a:cubicBezTo>
                      <a:pt x="149" y="19"/>
                      <a:pt x="149" y="20"/>
                      <a:pt x="148" y="20"/>
                    </a:cubicBezTo>
                    <a:cubicBezTo>
                      <a:pt x="147" y="20"/>
                      <a:pt x="142" y="20"/>
                      <a:pt x="140" y="20"/>
                    </a:cubicBezTo>
                    <a:cubicBezTo>
                      <a:pt x="137" y="20"/>
                      <a:pt x="135" y="18"/>
                      <a:pt x="135" y="17"/>
                    </a:cubicBezTo>
                    <a:cubicBezTo>
                      <a:pt x="134" y="17"/>
                      <a:pt x="133" y="17"/>
                      <a:pt x="133" y="17"/>
                    </a:cubicBezTo>
                    <a:cubicBezTo>
                      <a:pt x="130" y="19"/>
                      <a:pt x="129" y="16"/>
                      <a:pt x="128" y="16"/>
                    </a:cubicBezTo>
                    <a:cubicBezTo>
                      <a:pt x="128" y="16"/>
                      <a:pt x="128" y="15"/>
                      <a:pt x="127" y="15"/>
                    </a:cubicBezTo>
                    <a:cubicBezTo>
                      <a:pt x="127" y="15"/>
                      <a:pt x="121" y="14"/>
                      <a:pt x="119" y="14"/>
                    </a:cubicBezTo>
                    <a:cubicBezTo>
                      <a:pt x="117" y="14"/>
                      <a:pt x="117" y="13"/>
                      <a:pt x="118" y="11"/>
                    </a:cubicBezTo>
                    <a:cubicBezTo>
                      <a:pt x="118" y="11"/>
                      <a:pt x="118" y="11"/>
                      <a:pt x="118" y="11"/>
                    </a:cubicBezTo>
                    <a:cubicBezTo>
                      <a:pt x="118" y="10"/>
                      <a:pt x="118" y="10"/>
                      <a:pt x="117" y="10"/>
                    </a:cubicBezTo>
                    <a:cubicBezTo>
                      <a:pt x="116" y="9"/>
                      <a:pt x="113" y="9"/>
                      <a:pt x="113" y="9"/>
                    </a:cubicBezTo>
                    <a:cubicBezTo>
                      <a:pt x="112" y="8"/>
                      <a:pt x="111" y="8"/>
                      <a:pt x="110" y="8"/>
                    </a:cubicBezTo>
                    <a:cubicBezTo>
                      <a:pt x="109" y="8"/>
                      <a:pt x="104" y="9"/>
                      <a:pt x="99" y="7"/>
                    </a:cubicBezTo>
                    <a:cubicBezTo>
                      <a:pt x="99" y="7"/>
                      <a:pt x="97" y="6"/>
                      <a:pt x="95" y="7"/>
                    </a:cubicBezTo>
                    <a:cubicBezTo>
                      <a:pt x="92" y="8"/>
                      <a:pt x="90" y="7"/>
                      <a:pt x="88" y="6"/>
                    </a:cubicBezTo>
                    <a:cubicBezTo>
                      <a:pt x="86" y="5"/>
                      <a:pt x="85" y="4"/>
                      <a:pt x="76" y="7"/>
                    </a:cubicBezTo>
                    <a:cubicBezTo>
                      <a:pt x="76" y="7"/>
                      <a:pt x="74" y="8"/>
                      <a:pt x="70" y="7"/>
                    </a:cubicBezTo>
                    <a:cubicBezTo>
                      <a:pt x="67" y="6"/>
                      <a:pt x="56" y="4"/>
                      <a:pt x="56" y="4"/>
                    </a:cubicBezTo>
                    <a:cubicBezTo>
                      <a:pt x="56" y="4"/>
                      <a:pt x="54" y="4"/>
                      <a:pt x="53" y="3"/>
                    </a:cubicBezTo>
                    <a:cubicBezTo>
                      <a:pt x="53" y="2"/>
                      <a:pt x="51" y="2"/>
                      <a:pt x="50" y="3"/>
                    </a:cubicBezTo>
                    <a:cubicBezTo>
                      <a:pt x="48" y="3"/>
                      <a:pt x="36" y="6"/>
                      <a:pt x="36" y="6"/>
                    </a:cubicBezTo>
                    <a:cubicBezTo>
                      <a:pt x="36" y="6"/>
                      <a:pt x="35" y="6"/>
                      <a:pt x="32" y="4"/>
                    </a:cubicBezTo>
                    <a:cubicBezTo>
                      <a:pt x="29" y="2"/>
                      <a:pt x="26" y="0"/>
                      <a:pt x="23" y="2"/>
                    </a:cubicBezTo>
                    <a:cubicBezTo>
                      <a:pt x="20" y="3"/>
                      <a:pt x="22" y="2"/>
                      <a:pt x="22" y="1"/>
                    </a:cubicBezTo>
                    <a:cubicBezTo>
                      <a:pt x="23" y="0"/>
                      <a:pt x="21" y="0"/>
                      <a:pt x="21" y="1"/>
                    </a:cubicBezTo>
                    <a:cubicBezTo>
                      <a:pt x="20" y="2"/>
                      <a:pt x="18" y="4"/>
                      <a:pt x="17" y="4"/>
                    </a:cubicBezTo>
                    <a:cubicBezTo>
                      <a:pt x="16" y="4"/>
                      <a:pt x="15" y="4"/>
                      <a:pt x="16" y="5"/>
                    </a:cubicBezTo>
                    <a:cubicBezTo>
                      <a:pt x="17" y="5"/>
                      <a:pt x="18" y="5"/>
                      <a:pt x="18" y="6"/>
                    </a:cubicBezTo>
                    <a:cubicBezTo>
                      <a:pt x="18" y="7"/>
                      <a:pt x="17" y="7"/>
                      <a:pt x="16" y="7"/>
                    </a:cubicBezTo>
                    <a:cubicBezTo>
                      <a:pt x="16" y="7"/>
                      <a:pt x="13" y="8"/>
                      <a:pt x="12" y="8"/>
                    </a:cubicBezTo>
                    <a:cubicBezTo>
                      <a:pt x="11" y="8"/>
                      <a:pt x="10" y="9"/>
                      <a:pt x="9" y="8"/>
                    </a:cubicBezTo>
                    <a:cubicBezTo>
                      <a:pt x="8" y="8"/>
                      <a:pt x="6" y="9"/>
                      <a:pt x="5" y="10"/>
                    </a:cubicBezTo>
                    <a:cubicBezTo>
                      <a:pt x="5" y="11"/>
                      <a:pt x="4" y="11"/>
                      <a:pt x="4" y="11"/>
                    </a:cubicBezTo>
                    <a:cubicBezTo>
                      <a:pt x="3" y="11"/>
                      <a:pt x="2" y="12"/>
                      <a:pt x="2" y="12"/>
                    </a:cubicBezTo>
                    <a:cubicBezTo>
                      <a:pt x="2" y="12"/>
                      <a:pt x="0" y="15"/>
                      <a:pt x="2" y="16"/>
                    </a:cubicBezTo>
                    <a:cubicBezTo>
                      <a:pt x="3" y="18"/>
                      <a:pt x="5" y="19"/>
                      <a:pt x="5" y="20"/>
                    </a:cubicBezTo>
                    <a:cubicBezTo>
                      <a:pt x="4" y="21"/>
                      <a:pt x="4" y="22"/>
                      <a:pt x="6" y="21"/>
                    </a:cubicBezTo>
                    <a:cubicBezTo>
                      <a:pt x="8" y="20"/>
                      <a:pt x="10" y="18"/>
                      <a:pt x="9" y="21"/>
                    </a:cubicBezTo>
                    <a:cubicBezTo>
                      <a:pt x="7" y="24"/>
                      <a:pt x="8" y="24"/>
                      <a:pt x="7" y="23"/>
                    </a:cubicBezTo>
                    <a:cubicBezTo>
                      <a:pt x="7" y="23"/>
                      <a:pt x="5" y="23"/>
                      <a:pt x="7" y="24"/>
                    </a:cubicBezTo>
                    <a:cubicBezTo>
                      <a:pt x="8" y="25"/>
                      <a:pt x="11" y="24"/>
                      <a:pt x="9" y="26"/>
                    </a:cubicBezTo>
                    <a:cubicBezTo>
                      <a:pt x="7" y="27"/>
                      <a:pt x="7" y="28"/>
                      <a:pt x="9" y="28"/>
                    </a:cubicBezTo>
                    <a:cubicBezTo>
                      <a:pt x="11" y="27"/>
                      <a:pt x="9" y="28"/>
                      <a:pt x="8" y="29"/>
                    </a:cubicBezTo>
                    <a:cubicBezTo>
                      <a:pt x="7" y="30"/>
                      <a:pt x="7" y="32"/>
                      <a:pt x="7" y="33"/>
                    </a:cubicBezTo>
                    <a:cubicBezTo>
                      <a:pt x="7" y="34"/>
                      <a:pt x="7" y="34"/>
                      <a:pt x="8" y="33"/>
                    </a:cubicBezTo>
                    <a:cubicBezTo>
                      <a:pt x="8" y="33"/>
                      <a:pt x="8" y="33"/>
                      <a:pt x="8" y="33"/>
                    </a:cubicBezTo>
                    <a:cubicBezTo>
                      <a:pt x="9" y="33"/>
                      <a:pt x="9" y="32"/>
                      <a:pt x="10" y="32"/>
                    </a:cubicBezTo>
                    <a:cubicBezTo>
                      <a:pt x="11" y="31"/>
                      <a:pt x="12" y="31"/>
                      <a:pt x="13" y="31"/>
                    </a:cubicBezTo>
                    <a:cubicBezTo>
                      <a:pt x="13" y="31"/>
                      <a:pt x="15" y="31"/>
                      <a:pt x="15" y="30"/>
                    </a:cubicBezTo>
                    <a:cubicBezTo>
                      <a:pt x="16" y="30"/>
                      <a:pt x="17" y="29"/>
                      <a:pt x="17" y="29"/>
                    </a:cubicBezTo>
                    <a:cubicBezTo>
                      <a:pt x="17" y="30"/>
                      <a:pt x="19" y="31"/>
                      <a:pt x="18" y="32"/>
                    </a:cubicBezTo>
                    <a:cubicBezTo>
                      <a:pt x="17" y="33"/>
                      <a:pt x="17" y="33"/>
                      <a:pt x="17" y="33"/>
                    </a:cubicBezTo>
                    <a:cubicBezTo>
                      <a:pt x="17" y="34"/>
                      <a:pt x="17" y="34"/>
                      <a:pt x="17" y="35"/>
                    </a:cubicBezTo>
                    <a:cubicBezTo>
                      <a:pt x="17" y="35"/>
                      <a:pt x="17" y="36"/>
                      <a:pt x="18" y="36"/>
                    </a:cubicBezTo>
                    <a:cubicBezTo>
                      <a:pt x="19" y="35"/>
                      <a:pt x="19" y="36"/>
                      <a:pt x="20" y="35"/>
                    </a:cubicBezTo>
                    <a:cubicBezTo>
                      <a:pt x="20" y="34"/>
                      <a:pt x="21" y="34"/>
                      <a:pt x="21" y="34"/>
                    </a:cubicBezTo>
                    <a:cubicBezTo>
                      <a:pt x="21" y="34"/>
                      <a:pt x="22" y="34"/>
                      <a:pt x="22" y="34"/>
                    </a:cubicBezTo>
                    <a:cubicBezTo>
                      <a:pt x="22" y="34"/>
                      <a:pt x="25" y="35"/>
                      <a:pt x="25" y="35"/>
                    </a:cubicBezTo>
                    <a:cubicBezTo>
                      <a:pt x="25" y="35"/>
                      <a:pt x="25" y="35"/>
                      <a:pt x="26" y="35"/>
                    </a:cubicBezTo>
                    <a:cubicBezTo>
                      <a:pt x="27" y="35"/>
                      <a:pt x="31" y="34"/>
                      <a:pt x="31" y="34"/>
                    </a:cubicBezTo>
                    <a:cubicBezTo>
                      <a:pt x="31" y="34"/>
                      <a:pt x="32" y="34"/>
                      <a:pt x="32" y="34"/>
                    </a:cubicBezTo>
                    <a:cubicBezTo>
                      <a:pt x="32" y="34"/>
                      <a:pt x="34" y="33"/>
                      <a:pt x="34" y="33"/>
                    </a:cubicBezTo>
                    <a:cubicBezTo>
                      <a:pt x="34" y="33"/>
                      <a:pt x="35" y="32"/>
                      <a:pt x="35" y="33"/>
                    </a:cubicBezTo>
                    <a:cubicBezTo>
                      <a:pt x="35" y="33"/>
                      <a:pt x="36" y="33"/>
                      <a:pt x="36" y="33"/>
                    </a:cubicBezTo>
                    <a:cubicBezTo>
                      <a:pt x="37" y="33"/>
                      <a:pt x="41" y="32"/>
                      <a:pt x="41" y="34"/>
                    </a:cubicBezTo>
                    <a:cubicBezTo>
                      <a:pt x="42" y="35"/>
                      <a:pt x="42" y="36"/>
                      <a:pt x="41" y="36"/>
                    </a:cubicBezTo>
                    <a:cubicBezTo>
                      <a:pt x="41" y="37"/>
                      <a:pt x="41" y="37"/>
                      <a:pt x="42" y="37"/>
                    </a:cubicBezTo>
                    <a:cubicBezTo>
                      <a:pt x="42" y="37"/>
                      <a:pt x="46" y="39"/>
                      <a:pt x="46" y="39"/>
                    </a:cubicBezTo>
                    <a:cubicBezTo>
                      <a:pt x="46" y="40"/>
                      <a:pt x="47" y="40"/>
                      <a:pt x="46" y="40"/>
                    </a:cubicBezTo>
                    <a:cubicBezTo>
                      <a:pt x="46" y="41"/>
                      <a:pt x="46" y="41"/>
                      <a:pt x="45" y="41"/>
                    </a:cubicBezTo>
                    <a:cubicBezTo>
                      <a:pt x="45" y="42"/>
                      <a:pt x="44" y="44"/>
                      <a:pt x="44" y="44"/>
                    </a:cubicBezTo>
                    <a:cubicBezTo>
                      <a:pt x="43" y="44"/>
                      <a:pt x="43" y="44"/>
                      <a:pt x="43" y="44"/>
                    </a:cubicBezTo>
                    <a:cubicBezTo>
                      <a:pt x="42" y="45"/>
                      <a:pt x="42" y="45"/>
                      <a:pt x="42" y="45"/>
                    </a:cubicBezTo>
                    <a:cubicBezTo>
                      <a:pt x="41" y="45"/>
                      <a:pt x="40" y="46"/>
                      <a:pt x="39" y="46"/>
                    </a:cubicBezTo>
                    <a:cubicBezTo>
                      <a:pt x="38" y="47"/>
                      <a:pt x="36" y="49"/>
                      <a:pt x="36" y="49"/>
                    </a:cubicBezTo>
                    <a:cubicBezTo>
                      <a:pt x="37" y="54"/>
                      <a:pt x="37" y="54"/>
                      <a:pt x="37" y="54"/>
                    </a:cubicBezTo>
                    <a:cubicBezTo>
                      <a:pt x="37" y="54"/>
                      <a:pt x="37" y="57"/>
                      <a:pt x="37" y="59"/>
                    </a:cubicBezTo>
                    <a:cubicBezTo>
                      <a:pt x="37" y="61"/>
                      <a:pt x="37" y="62"/>
                      <a:pt x="37" y="62"/>
                    </a:cubicBezTo>
                    <a:cubicBezTo>
                      <a:pt x="37" y="63"/>
                      <a:pt x="37" y="63"/>
                      <a:pt x="36" y="63"/>
                    </a:cubicBezTo>
                    <a:cubicBezTo>
                      <a:pt x="36" y="63"/>
                      <a:pt x="35" y="63"/>
                      <a:pt x="35" y="63"/>
                    </a:cubicBezTo>
                    <a:cubicBezTo>
                      <a:pt x="35" y="63"/>
                      <a:pt x="36" y="65"/>
                      <a:pt x="36" y="66"/>
                    </a:cubicBezTo>
                    <a:cubicBezTo>
                      <a:pt x="35" y="67"/>
                      <a:pt x="35" y="68"/>
                      <a:pt x="35" y="70"/>
                    </a:cubicBezTo>
                    <a:cubicBezTo>
                      <a:pt x="35" y="71"/>
                      <a:pt x="35" y="74"/>
                      <a:pt x="33" y="73"/>
                    </a:cubicBezTo>
                    <a:cubicBezTo>
                      <a:pt x="32" y="73"/>
                      <a:pt x="30" y="73"/>
                      <a:pt x="29" y="73"/>
                    </a:cubicBezTo>
                    <a:cubicBezTo>
                      <a:pt x="28" y="73"/>
                      <a:pt x="27" y="73"/>
                      <a:pt x="27" y="73"/>
                    </a:cubicBezTo>
                    <a:cubicBezTo>
                      <a:pt x="27" y="73"/>
                      <a:pt x="27" y="73"/>
                      <a:pt x="27" y="74"/>
                    </a:cubicBezTo>
                    <a:cubicBezTo>
                      <a:pt x="27" y="74"/>
                      <a:pt x="30" y="79"/>
                      <a:pt x="30" y="79"/>
                    </a:cubicBezTo>
                    <a:cubicBezTo>
                      <a:pt x="30" y="79"/>
                      <a:pt x="30" y="79"/>
                      <a:pt x="30" y="79"/>
                    </a:cubicBezTo>
                    <a:cubicBezTo>
                      <a:pt x="31" y="80"/>
                      <a:pt x="31" y="80"/>
                      <a:pt x="31" y="80"/>
                    </a:cubicBezTo>
                    <a:cubicBezTo>
                      <a:pt x="31" y="81"/>
                      <a:pt x="31" y="81"/>
                      <a:pt x="32" y="82"/>
                    </a:cubicBezTo>
                    <a:cubicBezTo>
                      <a:pt x="32" y="82"/>
                      <a:pt x="35" y="83"/>
                      <a:pt x="35" y="84"/>
                    </a:cubicBezTo>
                    <a:cubicBezTo>
                      <a:pt x="35" y="85"/>
                      <a:pt x="35" y="86"/>
                      <a:pt x="33" y="88"/>
                    </a:cubicBezTo>
                    <a:cubicBezTo>
                      <a:pt x="31" y="89"/>
                      <a:pt x="31" y="90"/>
                      <a:pt x="31" y="91"/>
                    </a:cubicBezTo>
                    <a:cubicBezTo>
                      <a:pt x="31" y="91"/>
                      <a:pt x="30" y="93"/>
                      <a:pt x="30" y="93"/>
                    </a:cubicBezTo>
                    <a:cubicBezTo>
                      <a:pt x="30" y="93"/>
                      <a:pt x="30" y="94"/>
                      <a:pt x="30" y="94"/>
                    </a:cubicBezTo>
                    <a:cubicBezTo>
                      <a:pt x="30" y="94"/>
                      <a:pt x="33" y="99"/>
                      <a:pt x="33" y="99"/>
                    </a:cubicBezTo>
                    <a:cubicBezTo>
                      <a:pt x="33" y="99"/>
                      <a:pt x="33" y="99"/>
                      <a:pt x="34" y="99"/>
                    </a:cubicBezTo>
                    <a:cubicBezTo>
                      <a:pt x="34" y="99"/>
                      <a:pt x="35" y="99"/>
                      <a:pt x="35" y="99"/>
                    </a:cubicBezTo>
                    <a:cubicBezTo>
                      <a:pt x="35" y="99"/>
                      <a:pt x="36" y="99"/>
                      <a:pt x="35" y="99"/>
                    </a:cubicBezTo>
                    <a:cubicBezTo>
                      <a:pt x="35" y="100"/>
                      <a:pt x="35" y="100"/>
                      <a:pt x="35" y="100"/>
                    </a:cubicBezTo>
                    <a:cubicBezTo>
                      <a:pt x="34" y="100"/>
                      <a:pt x="31" y="102"/>
                      <a:pt x="31" y="102"/>
                    </a:cubicBezTo>
                    <a:cubicBezTo>
                      <a:pt x="31" y="102"/>
                      <a:pt x="30" y="103"/>
                      <a:pt x="30" y="103"/>
                    </a:cubicBezTo>
                    <a:cubicBezTo>
                      <a:pt x="30" y="104"/>
                      <a:pt x="28" y="107"/>
                      <a:pt x="28" y="107"/>
                    </a:cubicBezTo>
                    <a:cubicBezTo>
                      <a:pt x="28" y="108"/>
                      <a:pt x="27" y="110"/>
                      <a:pt x="27" y="110"/>
                    </a:cubicBezTo>
                    <a:cubicBezTo>
                      <a:pt x="27" y="110"/>
                      <a:pt x="27" y="110"/>
                      <a:pt x="27" y="111"/>
                    </a:cubicBezTo>
                    <a:cubicBezTo>
                      <a:pt x="28" y="112"/>
                      <a:pt x="28" y="113"/>
                      <a:pt x="28" y="113"/>
                    </a:cubicBezTo>
                    <a:cubicBezTo>
                      <a:pt x="28" y="114"/>
                      <a:pt x="28" y="114"/>
                      <a:pt x="28" y="115"/>
                    </a:cubicBezTo>
                    <a:cubicBezTo>
                      <a:pt x="28" y="115"/>
                      <a:pt x="29" y="115"/>
                      <a:pt x="29" y="115"/>
                    </a:cubicBezTo>
                    <a:cubicBezTo>
                      <a:pt x="30" y="115"/>
                      <a:pt x="35" y="116"/>
                      <a:pt x="35" y="115"/>
                    </a:cubicBezTo>
                    <a:cubicBezTo>
                      <a:pt x="36" y="114"/>
                      <a:pt x="36" y="114"/>
                      <a:pt x="36" y="115"/>
                    </a:cubicBezTo>
                    <a:cubicBezTo>
                      <a:pt x="36" y="116"/>
                      <a:pt x="37" y="116"/>
                      <a:pt x="37" y="117"/>
                    </a:cubicBezTo>
                    <a:cubicBezTo>
                      <a:pt x="38" y="117"/>
                      <a:pt x="40" y="119"/>
                      <a:pt x="42" y="120"/>
                    </a:cubicBezTo>
                    <a:cubicBezTo>
                      <a:pt x="43" y="121"/>
                      <a:pt x="44" y="122"/>
                      <a:pt x="45" y="121"/>
                    </a:cubicBezTo>
                    <a:cubicBezTo>
                      <a:pt x="45" y="121"/>
                      <a:pt x="46" y="121"/>
                      <a:pt x="45" y="122"/>
                    </a:cubicBezTo>
                    <a:cubicBezTo>
                      <a:pt x="44" y="123"/>
                      <a:pt x="43" y="124"/>
                      <a:pt x="44" y="125"/>
                    </a:cubicBezTo>
                    <a:cubicBezTo>
                      <a:pt x="44" y="126"/>
                      <a:pt x="48" y="131"/>
                      <a:pt x="49" y="132"/>
                    </a:cubicBezTo>
                    <a:cubicBezTo>
                      <a:pt x="50" y="133"/>
                      <a:pt x="54" y="137"/>
                      <a:pt x="57" y="135"/>
                    </a:cubicBezTo>
                    <a:cubicBezTo>
                      <a:pt x="59" y="134"/>
                      <a:pt x="59" y="134"/>
                      <a:pt x="60" y="133"/>
                    </a:cubicBezTo>
                    <a:cubicBezTo>
                      <a:pt x="62" y="131"/>
                      <a:pt x="61" y="130"/>
                      <a:pt x="64" y="129"/>
                    </a:cubicBezTo>
                    <a:cubicBezTo>
                      <a:pt x="67" y="128"/>
                      <a:pt x="69" y="127"/>
                      <a:pt x="71" y="126"/>
                    </a:cubicBezTo>
                    <a:cubicBezTo>
                      <a:pt x="72" y="125"/>
                      <a:pt x="74" y="124"/>
                      <a:pt x="79" y="124"/>
                    </a:cubicBezTo>
                    <a:cubicBezTo>
                      <a:pt x="84" y="124"/>
                      <a:pt x="89" y="124"/>
                      <a:pt x="91" y="124"/>
                    </a:cubicBezTo>
                    <a:cubicBezTo>
                      <a:pt x="92" y="123"/>
                      <a:pt x="95" y="124"/>
                      <a:pt x="96" y="124"/>
                    </a:cubicBezTo>
                    <a:cubicBezTo>
                      <a:pt x="97" y="125"/>
                      <a:pt x="98" y="125"/>
                      <a:pt x="101" y="124"/>
                    </a:cubicBezTo>
                    <a:cubicBezTo>
                      <a:pt x="103" y="123"/>
                      <a:pt x="104" y="122"/>
                      <a:pt x="105" y="123"/>
                    </a:cubicBezTo>
                    <a:cubicBezTo>
                      <a:pt x="106" y="125"/>
                      <a:pt x="107" y="124"/>
                      <a:pt x="109" y="122"/>
                    </a:cubicBezTo>
                    <a:cubicBezTo>
                      <a:pt x="111" y="119"/>
                      <a:pt x="114" y="113"/>
                      <a:pt x="117" y="112"/>
                    </a:cubicBezTo>
                    <a:cubicBezTo>
                      <a:pt x="120" y="111"/>
                      <a:pt x="122" y="110"/>
                      <a:pt x="123" y="110"/>
                    </a:cubicBezTo>
                    <a:cubicBezTo>
                      <a:pt x="124" y="109"/>
                      <a:pt x="124" y="109"/>
                      <a:pt x="125" y="110"/>
                    </a:cubicBezTo>
                    <a:cubicBezTo>
                      <a:pt x="125" y="110"/>
                      <a:pt x="126" y="110"/>
                      <a:pt x="127" y="110"/>
                    </a:cubicBezTo>
                    <a:cubicBezTo>
                      <a:pt x="127" y="109"/>
                      <a:pt x="128" y="109"/>
                      <a:pt x="127" y="108"/>
                    </a:cubicBezTo>
                    <a:cubicBezTo>
                      <a:pt x="126" y="107"/>
                      <a:pt x="126" y="106"/>
                      <a:pt x="127" y="105"/>
                    </a:cubicBezTo>
                    <a:cubicBezTo>
                      <a:pt x="128" y="104"/>
                      <a:pt x="129" y="102"/>
                      <a:pt x="129" y="100"/>
                    </a:cubicBezTo>
                    <a:cubicBezTo>
                      <a:pt x="130" y="99"/>
                      <a:pt x="129" y="97"/>
                      <a:pt x="141" y="90"/>
                    </a:cubicBezTo>
                    <a:cubicBezTo>
                      <a:pt x="141" y="90"/>
                      <a:pt x="144" y="90"/>
                      <a:pt x="141" y="88"/>
                    </a:cubicBezTo>
                    <a:cubicBezTo>
                      <a:pt x="138" y="87"/>
                      <a:pt x="130" y="80"/>
                      <a:pt x="138" y="69"/>
                    </a:cubicBezTo>
                    <a:cubicBezTo>
                      <a:pt x="147" y="58"/>
                      <a:pt x="149" y="56"/>
                      <a:pt x="150" y="54"/>
                    </a:cubicBezTo>
                    <a:cubicBezTo>
                      <a:pt x="151" y="52"/>
                      <a:pt x="151" y="50"/>
                      <a:pt x="160" y="47"/>
                    </a:cubicBezTo>
                    <a:cubicBezTo>
                      <a:pt x="169" y="44"/>
                      <a:pt x="172" y="43"/>
                      <a:pt x="174" y="41"/>
                    </a:cubicBezTo>
                    <a:cubicBezTo>
                      <a:pt x="176" y="40"/>
                      <a:pt x="180" y="39"/>
                      <a:pt x="181" y="38"/>
                    </a:cubicBezTo>
                    <a:cubicBezTo>
                      <a:pt x="183" y="37"/>
                      <a:pt x="188" y="35"/>
                      <a:pt x="185" y="31"/>
                    </a:cubicBezTo>
                    <a:cubicBezTo>
                      <a:pt x="185" y="31"/>
                      <a:pt x="184" y="28"/>
                      <a:pt x="187" y="27"/>
                    </a:cubicBezTo>
                    <a:cubicBezTo>
                      <a:pt x="190" y="26"/>
                      <a:pt x="188" y="26"/>
                      <a:pt x="187" y="26"/>
                    </a:cubicBezTo>
                    <a:cubicBezTo>
                      <a:pt x="187" y="25"/>
                      <a:pt x="187" y="25"/>
                      <a:pt x="186" y="24"/>
                    </a:cubicBezTo>
                    <a:cubicBezTo>
                      <a:pt x="184" y="25"/>
                      <a:pt x="182" y="25"/>
                      <a:pt x="180" y="26"/>
                    </a:cubicBezTo>
                    <a:cubicBezTo>
                      <a:pt x="177" y="26"/>
                      <a:pt x="172" y="26"/>
                      <a:pt x="171" y="2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98" name="Freeform 1110">
                <a:extLst>
                  <a:ext uri="{FF2B5EF4-FFF2-40B4-BE49-F238E27FC236}">
                    <a16:creationId xmlns:a16="http://schemas.microsoft.com/office/drawing/2014/main" id="{B160C8F1-E398-4E03-8A6D-84AFFFC199BE}"/>
                  </a:ext>
                </a:extLst>
              </p:cNvPr>
              <p:cNvSpPr>
                <a:spLocks/>
              </p:cNvSpPr>
              <p:nvPr/>
            </p:nvSpPr>
            <p:spPr bwMode="auto">
              <a:xfrm>
                <a:off x="3554" y="1528"/>
                <a:ext cx="81" cy="53"/>
              </a:xfrm>
              <a:custGeom>
                <a:avLst/>
                <a:gdLst>
                  <a:gd name="T0" fmla="*/ 5 w 58"/>
                  <a:gd name="T1" fmla="*/ 16 h 39"/>
                  <a:gd name="T2" fmla="*/ 8 w 58"/>
                  <a:gd name="T3" fmla="*/ 14 h 39"/>
                  <a:gd name="T4" fmla="*/ 14 w 58"/>
                  <a:gd name="T5" fmla="*/ 20 h 39"/>
                  <a:gd name="T6" fmla="*/ 17 w 58"/>
                  <a:gd name="T7" fmla="*/ 21 h 39"/>
                  <a:gd name="T8" fmla="*/ 18 w 58"/>
                  <a:gd name="T9" fmla="*/ 23 h 39"/>
                  <a:gd name="T10" fmla="*/ 23 w 58"/>
                  <a:gd name="T11" fmla="*/ 23 h 39"/>
                  <a:gd name="T12" fmla="*/ 25 w 58"/>
                  <a:gd name="T13" fmla="*/ 26 h 39"/>
                  <a:gd name="T14" fmla="*/ 25 w 58"/>
                  <a:gd name="T15" fmla="*/ 30 h 39"/>
                  <a:gd name="T16" fmla="*/ 29 w 58"/>
                  <a:gd name="T17" fmla="*/ 30 h 39"/>
                  <a:gd name="T18" fmla="*/ 34 w 58"/>
                  <a:gd name="T19" fmla="*/ 28 h 39"/>
                  <a:gd name="T20" fmla="*/ 36 w 58"/>
                  <a:gd name="T21" fmla="*/ 34 h 39"/>
                  <a:gd name="T22" fmla="*/ 42 w 58"/>
                  <a:gd name="T23" fmla="*/ 37 h 39"/>
                  <a:gd name="T24" fmla="*/ 44 w 58"/>
                  <a:gd name="T25" fmla="*/ 39 h 39"/>
                  <a:gd name="T26" fmla="*/ 48 w 58"/>
                  <a:gd name="T27" fmla="*/ 39 h 39"/>
                  <a:gd name="T28" fmla="*/ 49 w 58"/>
                  <a:gd name="T29" fmla="*/ 38 h 39"/>
                  <a:gd name="T30" fmla="*/ 50 w 58"/>
                  <a:gd name="T31" fmla="*/ 35 h 39"/>
                  <a:gd name="T32" fmla="*/ 48 w 58"/>
                  <a:gd name="T33" fmla="*/ 32 h 39"/>
                  <a:gd name="T34" fmla="*/ 50 w 58"/>
                  <a:gd name="T35" fmla="*/ 28 h 39"/>
                  <a:gd name="T36" fmla="*/ 54 w 58"/>
                  <a:gd name="T37" fmla="*/ 27 h 39"/>
                  <a:gd name="T38" fmla="*/ 57 w 58"/>
                  <a:gd name="T39" fmla="*/ 24 h 39"/>
                  <a:gd name="T40" fmla="*/ 56 w 58"/>
                  <a:gd name="T41" fmla="*/ 19 h 39"/>
                  <a:gd name="T42" fmla="*/ 52 w 58"/>
                  <a:gd name="T43" fmla="*/ 15 h 39"/>
                  <a:gd name="T44" fmla="*/ 49 w 58"/>
                  <a:gd name="T45" fmla="*/ 15 h 39"/>
                  <a:gd name="T46" fmla="*/ 47 w 58"/>
                  <a:gd name="T47" fmla="*/ 13 h 39"/>
                  <a:gd name="T48" fmla="*/ 48 w 58"/>
                  <a:gd name="T49" fmla="*/ 11 h 39"/>
                  <a:gd name="T50" fmla="*/ 49 w 58"/>
                  <a:gd name="T51" fmla="*/ 9 h 39"/>
                  <a:gd name="T52" fmla="*/ 49 w 58"/>
                  <a:gd name="T53" fmla="*/ 7 h 39"/>
                  <a:gd name="T54" fmla="*/ 46 w 58"/>
                  <a:gd name="T55" fmla="*/ 6 h 39"/>
                  <a:gd name="T56" fmla="*/ 44 w 58"/>
                  <a:gd name="T57" fmla="*/ 5 h 39"/>
                  <a:gd name="T58" fmla="*/ 41 w 58"/>
                  <a:gd name="T59" fmla="*/ 5 h 39"/>
                  <a:gd name="T60" fmla="*/ 39 w 58"/>
                  <a:gd name="T61" fmla="*/ 3 h 39"/>
                  <a:gd name="T62" fmla="*/ 38 w 58"/>
                  <a:gd name="T63" fmla="*/ 1 h 39"/>
                  <a:gd name="T64" fmla="*/ 34 w 58"/>
                  <a:gd name="T65" fmla="*/ 0 h 39"/>
                  <a:gd name="T66" fmla="*/ 31 w 58"/>
                  <a:gd name="T67" fmla="*/ 1 h 39"/>
                  <a:gd name="T68" fmla="*/ 28 w 58"/>
                  <a:gd name="T69" fmla="*/ 2 h 39"/>
                  <a:gd name="T70" fmla="*/ 27 w 58"/>
                  <a:gd name="T71" fmla="*/ 3 h 39"/>
                  <a:gd name="T72" fmla="*/ 25 w 58"/>
                  <a:gd name="T73" fmla="*/ 3 h 39"/>
                  <a:gd name="T74" fmla="*/ 22 w 58"/>
                  <a:gd name="T75" fmla="*/ 5 h 39"/>
                  <a:gd name="T76" fmla="*/ 18 w 58"/>
                  <a:gd name="T77" fmla="*/ 5 h 39"/>
                  <a:gd name="T78" fmla="*/ 14 w 58"/>
                  <a:gd name="T79" fmla="*/ 5 h 39"/>
                  <a:gd name="T80" fmla="*/ 13 w 58"/>
                  <a:gd name="T81" fmla="*/ 4 h 39"/>
                  <a:gd name="T82" fmla="*/ 10 w 58"/>
                  <a:gd name="T83" fmla="*/ 4 h 39"/>
                  <a:gd name="T84" fmla="*/ 1 w 58"/>
                  <a:gd name="T85" fmla="*/ 1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8" h="39">
                    <a:moveTo>
                      <a:pt x="2" y="12"/>
                    </a:moveTo>
                    <a:cubicBezTo>
                      <a:pt x="2" y="13"/>
                      <a:pt x="5" y="16"/>
                      <a:pt x="5" y="16"/>
                    </a:cubicBezTo>
                    <a:cubicBezTo>
                      <a:pt x="5" y="16"/>
                      <a:pt x="5" y="16"/>
                      <a:pt x="6" y="16"/>
                    </a:cubicBezTo>
                    <a:cubicBezTo>
                      <a:pt x="6" y="15"/>
                      <a:pt x="8" y="14"/>
                      <a:pt x="8" y="14"/>
                    </a:cubicBezTo>
                    <a:cubicBezTo>
                      <a:pt x="9" y="14"/>
                      <a:pt x="11" y="15"/>
                      <a:pt x="11" y="16"/>
                    </a:cubicBezTo>
                    <a:cubicBezTo>
                      <a:pt x="11" y="17"/>
                      <a:pt x="12" y="20"/>
                      <a:pt x="14" y="20"/>
                    </a:cubicBezTo>
                    <a:cubicBezTo>
                      <a:pt x="16" y="20"/>
                      <a:pt x="16" y="20"/>
                      <a:pt x="17" y="20"/>
                    </a:cubicBezTo>
                    <a:cubicBezTo>
                      <a:pt x="17" y="21"/>
                      <a:pt x="17" y="21"/>
                      <a:pt x="17" y="21"/>
                    </a:cubicBezTo>
                    <a:cubicBezTo>
                      <a:pt x="17" y="22"/>
                      <a:pt x="17" y="23"/>
                      <a:pt x="18" y="23"/>
                    </a:cubicBezTo>
                    <a:cubicBezTo>
                      <a:pt x="18" y="23"/>
                      <a:pt x="18" y="24"/>
                      <a:pt x="18" y="23"/>
                    </a:cubicBezTo>
                    <a:cubicBezTo>
                      <a:pt x="19" y="23"/>
                      <a:pt x="21" y="23"/>
                      <a:pt x="22" y="23"/>
                    </a:cubicBezTo>
                    <a:cubicBezTo>
                      <a:pt x="23" y="23"/>
                      <a:pt x="23" y="23"/>
                      <a:pt x="23" y="23"/>
                    </a:cubicBezTo>
                    <a:cubicBezTo>
                      <a:pt x="24" y="24"/>
                      <a:pt x="25" y="25"/>
                      <a:pt x="25" y="25"/>
                    </a:cubicBezTo>
                    <a:cubicBezTo>
                      <a:pt x="25" y="25"/>
                      <a:pt x="25" y="26"/>
                      <a:pt x="25" y="26"/>
                    </a:cubicBezTo>
                    <a:cubicBezTo>
                      <a:pt x="25" y="27"/>
                      <a:pt x="25" y="29"/>
                      <a:pt x="24" y="29"/>
                    </a:cubicBezTo>
                    <a:cubicBezTo>
                      <a:pt x="24" y="30"/>
                      <a:pt x="24" y="30"/>
                      <a:pt x="25" y="30"/>
                    </a:cubicBezTo>
                    <a:cubicBezTo>
                      <a:pt x="25" y="30"/>
                      <a:pt x="26" y="31"/>
                      <a:pt x="27" y="31"/>
                    </a:cubicBezTo>
                    <a:cubicBezTo>
                      <a:pt x="28" y="31"/>
                      <a:pt x="28" y="31"/>
                      <a:pt x="29" y="30"/>
                    </a:cubicBezTo>
                    <a:cubicBezTo>
                      <a:pt x="29" y="30"/>
                      <a:pt x="33" y="27"/>
                      <a:pt x="33" y="27"/>
                    </a:cubicBezTo>
                    <a:cubicBezTo>
                      <a:pt x="33" y="27"/>
                      <a:pt x="34" y="26"/>
                      <a:pt x="34" y="28"/>
                    </a:cubicBezTo>
                    <a:cubicBezTo>
                      <a:pt x="34" y="29"/>
                      <a:pt x="34" y="33"/>
                      <a:pt x="35" y="34"/>
                    </a:cubicBezTo>
                    <a:cubicBezTo>
                      <a:pt x="36" y="34"/>
                      <a:pt x="36" y="34"/>
                      <a:pt x="36" y="34"/>
                    </a:cubicBezTo>
                    <a:cubicBezTo>
                      <a:pt x="37" y="34"/>
                      <a:pt x="37" y="34"/>
                      <a:pt x="37" y="34"/>
                    </a:cubicBezTo>
                    <a:cubicBezTo>
                      <a:pt x="38" y="34"/>
                      <a:pt x="42" y="37"/>
                      <a:pt x="42" y="37"/>
                    </a:cubicBezTo>
                    <a:cubicBezTo>
                      <a:pt x="42" y="37"/>
                      <a:pt x="42" y="37"/>
                      <a:pt x="43" y="37"/>
                    </a:cubicBezTo>
                    <a:cubicBezTo>
                      <a:pt x="43" y="38"/>
                      <a:pt x="44" y="39"/>
                      <a:pt x="44" y="39"/>
                    </a:cubicBezTo>
                    <a:cubicBezTo>
                      <a:pt x="44" y="39"/>
                      <a:pt x="44" y="39"/>
                      <a:pt x="45" y="39"/>
                    </a:cubicBezTo>
                    <a:cubicBezTo>
                      <a:pt x="45" y="39"/>
                      <a:pt x="48" y="39"/>
                      <a:pt x="48" y="39"/>
                    </a:cubicBezTo>
                    <a:cubicBezTo>
                      <a:pt x="48" y="39"/>
                      <a:pt x="48" y="39"/>
                      <a:pt x="49" y="39"/>
                    </a:cubicBezTo>
                    <a:cubicBezTo>
                      <a:pt x="49" y="38"/>
                      <a:pt x="49" y="38"/>
                      <a:pt x="49" y="38"/>
                    </a:cubicBezTo>
                    <a:cubicBezTo>
                      <a:pt x="49" y="38"/>
                      <a:pt x="50" y="38"/>
                      <a:pt x="50" y="37"/>
                    </a:cubicBezTo>
                    <a:cubicBezTo>
                      <a:pt x="50" y="36"/>
                      <a:pt x="50" y="36"/>
                      <a:pt x="50" y="35"/>
                    </a:cubicBezTo>
                    <a:cubicBezTo>
                      <a:pt x="49" y="34"/>
                      <a:pt x="48" y="33"/>
                      <a:pt x="48" y="33"/>
                    </a:cubicBezTo>
                    <a:cubicBezTo>
                      <a:pt x="48" y="33"/>
                      <a:pt x="48" y="33"/>
                      <a:pt x="48" y="32"/>
                    </a:cubicBezTo>
                    <a:cubicBezTo>
                      <a:pt x="49" y="32"/>
                      <a:pt x="49" y="31"/>
                      <a:pt x="49" y="31"/>
                    </a:cubicBezTo>
                    <a:cubicBezTo>
                      <a:pt x="49" y="30"/>
                      <a:pt x="50" y="29"/>
                      <a:pt x="50" y="28"/>
                    </a:cubicBezTo>
                    <a:cubicBezTo>
                      <a:pt x="51" y="27"/>
                      <a:pt x="52" y="26"/>
                      <a:pt x="52" y="26"/>
                    </a:cubicBezTo>
                    <a:cubicBezTo>
                      <a:pt x="53" y="26"/>
                      <a:pt x="53" y="27"/>
                      <a:pt x="54" y="27"/>
                    </a:cubicBezTo>
                    <a:cubicBezTo>
                      <a:pt x="54" y="27"/>
                      <a:pt x="54" y="27"/>
                      <a:pt x="54" y="27"/>
                    </a:cubicBezTo>
                    <a:cubicBezTo>
                      <a:pt x="55" y="26"/>
                      <a:pt x="57" y="24"/>
                      <a:pt x="57" y="24"/>
                    </a:cubicBezTo>
                    <a:cubicBezTo>
                      <a:pt x="57" y="23"/>
                      <a:pt x="58" y="23"/>
                      <a:pt x="57" y="23"/>
                    </a:cubicBezTo>
                    <a:cubicBezTo>
                      <a:pt x="57" y="22"/>
                      <a:pt x="56" y="20"/>
                      <a:pt x="56" y="19"/>
                    </a:cubicBezTo>
                    <a:cubicBezTo>
                      <a:pt x="55" y="19"/>
                      <a:pt x="52" y="15"/>
                      <a:pt x="52" y="15"/>
                    </a:cubicBezTo>
                    <a:cubicBezTo>
                      <a:pt x="52" y="15"/>
                      <a:pt x="52" y="15"/>
                      <a:pt x="52" y="15"/>
                    </a:cubicBezTo>
                    <a:cubicBezTo>
                      <a:pt x="51" y="15"/>
                      <a:pt x="51" y="15"/>
                      <a:pt x="51" y="15"/>
                    </a:cubicBezTo>
                    <a:cubicBezTo>
                      <a:pt x="50" y="15"/>
                      <a:pt x="50" y="15"/>
                      <a:pt x="49" y="15"/>
                    </a:cubicBezTo>
                    <a:cubicBezTo>
                      <a:pt x="49" y="15"/>
                      <a:pt x="48" y="15"/>
                      <a:pt x="47" y="15"/>
                    </a:cubicBezTo>
                    <a:cubicBezTo>
                      <a:pt x="47" y="15"/>
                      <a:pt x="47" y="14"/>
                      <a:pt x="47" y="13"/>
                    </a:cubicBezTo>
                    <a:cubicBezTo>
                      <a:pt x="47" y="13"/>
                      <a:pt x="47" y="12"/>
                      <a:pt x="47" y="12"/>
                    </a:cubicBezTo>
                    <a:cubicBezTo>
                      <a:pt x="48" y="12"/>
                      <a:pt x="48" y="12"/>
                      <a:pt x="48" y="11"/>
                    </a:cubicBezTo>
                    <a:cubicBezTo>
                      <a:pt x="48" y="11"/>
                      <a:pt x="48" y="10"/>
                      <a:pt x="48" y="10"/>
                    </a:cubicBezTo>
                    <a:cubicBezTo>
                      <a:pt x="48" y="9"/>
                      <a:pt x="49" y="9"/>
                      <a:pt x="49" y="9"/>
                    </a:cubicBezTo>
                    <a:cubicBezTo>
                      <a:pt x="49" y="8"/>
                      <a:pt x="49" y="8"/>
                      <a:pt x="49" y="8"/>
                    </a:cubicBezTo>
                    <a:cubicBezTo>
                      <a:pt x="49" y="7"/>
                      <a:pt x="49" y="7"/>
                      <a:pt x="49" y="7"/>
                    </a:cubicBezTo>
                    <a:cubicBezTo>
                      <a:pt x="49" y="7"/>
                      <a:pt x="48" y="6"/>
                      <a:pt x="48" y="6"/>
                    </a:cubicBezTo>
                    <a:cubicBezTo>
                      <a:pt x="47" y="6"/>
                      <a:pt x="46" y="6"/>
                      <a:pt x="46" y="6"/>
                    </a:cubicBezTo>
                    <a:cubicBezTo>
                      <a:pt x="45" y="6"/>
                      <a:pt x="45" y="5"/>
                      <a:pt x="45" y="4"/>
                    </a:cubicBezTo>
                    <a:cubicBezTo>
                      <a:pt x="44" y="4"/>
                      <a:pt x="44" y="4"/>
                      <a:pt x="44" y="5"/>
                    </a:cubicBezTo>
                    <a:cubicBezTo>
                      <a:pt x="43" y="5"/>
                      <a:pt x="43" y="5"/>
                      <a:pt x="43" y="5"/>
                    </a:cubicBezTo>
                    <a:cubicBezTo>
                      <a:pt x="42" y="5"/>
                      <a:pt x="41" y="5"/>
                      <a:pt x="41" y="5"/>
                    </a:cubicBezTo>
                    <a:cubicBezTo>
                      <a:pt x="40" y="5"/>
                      <a:pt x="40" y="5"/>
                      <a:pt x="40" y="4"/>
                    </a:cubicBezTo>
                    <a:cubicBezTo>
                      <a:pt x="40" y="4"/>
                      <a:pt x="39" y="3"/>
                      <a:pt x="39" y="3"/>
                    </a:cubicBezTo>
                    <a:cubicBezTo>
                      <a:pt x="38" y="3"/>
                      <a:pt x="39" y="2"/>
                      <a:pt x="38" y="2"/>
                    </a:cubicBezTo>
                    <a:cubicBezTo>
                      <a:pt x="38" y="1"/>
                      <a:pt x="38" y="1"/>
                      <a:pt x="38" y="1"/>
                    </a:cubicBezTo>
                    <a:cubicBezTo>
                      <a:pt x="37" y="1"/>
                      <a:pt x="37" y="1"/>
                      <a:pt x="36" y="1"/>
                    </a:cubicBezTo>
                    <a:cubicBezTo>
                      <a:pt x="36" y="1"/>
                      <a:pt x="34" y="1"/>
                      <a:pt x="34" y="0"/>
                    </a:cubicBezTo>
                    <a:cubicBezTo>
                      <a:pt x="33" y="0"/>
                      <a:pt x="32" y="1"/>
                      <a:pt x="32" y="1"/>
                    </a:cubicBezTo>
                    <a:cubicBezTo>
                      <a:pt x="32" y="2"/>
                      <a:pt x="31" y="1"/>
                      <a:pt x="31" y="1"/>
                    </a:cubicBezTo>
                    <a:cubicBezTo>
                      <a:pt x="30" y="1"/>
                      <a:pt x="29" y="1"/>
                      <a:pt x="29" y="1"/>
                    </a:cubicBezTo>
                    <a:cubicBezTo>
                      <a:pt x="28" y="1"/>
                      <a:pt x="28" y="1"/>
                      <a:pt x="28" y="2"/>
                    </a:cubicBezTo>
                    <a:cubicBezTo>
                      <a:pt x="28" y="2"/>
                      <a:pt x="28" y="2"/>
                      <a:pt x="27" y="2"/>
                    </a:cubicBezTo>
                    <a:cubicBezTo>
                      <a:pt x="27" y="3"/>
                      <a:pt x="27" y="3"/>
                      <a:pt x="27" y="3"/>
                    </a:cubicBezTo>
                    <a:cubicBezTo>
                      <a:pt x="26" y="3"/>
                      <a:pt x="26" y="3"/>
                      <a:pt x="26" y="3"/>
                    </a:cubicBezTo>
                    <a:cubicBezTo>
                      <a:pt x="27" y="3"/>
                      <a:pt x="26" y="3"/>
                      <a:pt x="25" y="3"/>
                    </a:cubicBezTo>
                    <a:cubicBezTo>
                      <a:pt x="25" y="4"/>
                      <a:pt x="24" y="4"/>
                      <a:pt x="24" y="4"/>
                    </a:cubicBezTo>
                    <a:cubicBezTo>
                      <a:pt x="24" y="4"/>
                      <a:pt x="22" y="5"/>
                      <a:pt x="22" y="5"/>
                    </a:cubicBezTo>
                    <a:cubicBezTo>
                      <a:pt x="22" y="6"/>
                      <a:pt x="21" y="6"/>
                      <a:pt x="20" y="6"/>
                    </a:cubicBezTo>
                    <a:cubicBezTo>
                      <a:pt x="19" y="6"/>
                      <a:pt x="18" y="5"/>
                      <a:pt x="18" y="5"/>
                    </a:cubicBezTo>
                    <a:cubicBezTo>
                      <a:pt x="17" y="4"/>
                      <a:pt x="16" y="5"/>
                      <a:pt x="16" y="4"/>
                    </a:cubicBezTo>
                    <a:cubicBezTo>
                      <a:pt x="15" y="4"/>
                      <a:pt x="14" y="5"/>
                      <a:pt x="14" y="5"/>
                    </a:cubicBezTo>
                    <a:cubicBezTo>
                      <a:pt x="13" y="5"/>
                      <a:pt x="13" y="5"/>
                      <a:pt x="13" y="5"/>
                    </a:cubicBezTo>
                    <a:cubicBezTo>
                      <a:pt x="13" y="5"/>
                      <a:pt x="13" y="4"/>
                      <a:pt x="13" y="4"/>
                    </a:cubicBezTo>
                    <a:cubicBezTo>
                      <a:pt x="13" y="3"/>
                      <a:pt x="13" y="3"/>
                      <a:pt x="13" y="3"/>
                    </a:cubicBezTo>
                    <a:cubicBezTo>
                      <a:pt x="11" y="3"/>
                      <a:pt x="10" y="3"/>
                      <a:pt x="10" y="4"/>
                    </a:cubicBezTo>
                    <a:cubicBezTo>
                      <a:pt x="8" y="5"/>
                      <a:pt x="3" y="7"/>
                      <a:pt x="0" y="8"/>
                    </a:cubicBezTo>
                    <a:cubicBezTo>
                      <a:pt x="1" y="11"/>
                      <a:pt x="1" y="11"/>
                      <a:pt x="1" y="11"/>
                    </a:cubicBezTo>
                    <a:cubicBezTo>
                      <a:pt x="1" y="11"/>
                      <a:pt x="1" y="12"/>
                      <a:pt x="2"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99" name="Freeform 1111">
                <a:extLst>
                  <a:ext uri="{FF2B5EF4-FFF2-40B4-BE49-F238E27FC236}">
                    <a16:creationId xmlns:a16="http://schemas.microsoft.com/office/drawing/2014/main" id="{32FE6DEF-A7B1-4826-8245-E4359C320871}"/>
                  </a:ext>
                </a:extLst>
              </p:cNvPr>
              <p:cNvSpPr>
                <a:spLocks/>
              </p:cNvSpPr>
              <p:nvPr/>
            </p:nvSpPr>
            <p:spPr bwMode="auto">
              <a:xfrm>
                <a:off x="3621" y="1564"/>
                <a:ext cx="15" cy="19"/>
              </a:xfrm>
              <a:custGeom>
                <a:avLst/>
                <a:gdLst>
                  <a:gd name="T0" fmla="*/ 9 w 11"/>
                  <a:gd name="T1" fmla="*/ 12 h 14"/>
                  <a:gd name="T2" fmla="*/ 10 w 11"/>
                  <a:gd name="T3" fmla="*/ 11 h 14"/>
                  <a:gd name="T4" fmla="*/ 11 w 11"/>
                  <a:gd name="T5" fmla="*/ 9 h 14"/>
                  <a:gd name="T6" fmla="*/ 11 w 11"/>
                  <a:gd name="T7" fmla="*/ 8 h 14"/>
                  <a:gd name="T8" fmla="*/ 10 w 11"/>
                  <a:gd name="T9" fmla="*/ 7 h 14"/>
                  <a:gd name="T10" fmla="*/ 7 w 11"/>
                  <a:gd name="T11" fmla="*/ 5 h 14"/>
                  <a:gd name="T12" fmla="*/ 6 w 11"/>
                  <a:gd name="T13" fmla="*/ 3 h 14"/>
                  <a:gd name="T14" fmla="*/ 6 w 11"/>
                  <a:gd name="T15" fmla="*/ 1 h 14"/>
                  <a:gd name="T16" fmla="*/ 4 w 11"/>
                  <a:gd name="T17" fmla="*/ 0 h 14"/>
                  <a:gd name="T18" fmla="*/ 2 w 11"/>
                  <a:gd name="T19" fmla="*/ 2 h 14"/>
                  <a:gd name="T20" fmla="*/ 1 w 11"/>
                  <a:gd name="T21" fmla="*/ 5 h 14"/>
                  <a:gd name="T22" fmla="*/ 0 w 11"/>
                  <a:gd name="T23" fmla="*/ 6 h 14"/>
                  <a:gd name="T24" fmla="*/ 0 w 11"/>
                  <a:gd name="T25" fmla="*/ 7 h 14"/>
                  <a:gd name="T26" fmla="*/ 2 w 11"/>
                  <a:gd name="T27" fmla="*/ 9 h 14"/>
                  <a:gd name="T28" fmla="*/ 2 w 11"/>
                  <a:gd name="T29" fmla="*/ 11 h 14"/>
                  <a:gd name="T30" fmla="*/ 1 w 11"/>
                  <a:gd name="T31" fmla="*/ 12 h 14"/>
                  <a:gd name="T32" fmla="*/ 1 w 11"/>
                  <a:gd name="T33" fmla="*/ 13 h 14"/>
                  <a:gd name="T34" fmla="*/ 2 w 11"/>
                  <a:gd name="T35" fmla="*/ 13 h 14"/>
                  <a:gd name="T36" fmla="*/ 3 w 11"/>
                  <a:gd name="T37" fmla="*/ 14 h 14"/>
                  <a:gd name="T38" fmla="*/ 7 w 11"/>
                  <a:gd name="T39" fmla="*/ 13 h 14"/>
                  <a:gd name="T40" fmla="*/ 8 w 11"/>
                  <a:gd name="T41" fmla="*/ 13 h 14"/>
                  <a:gd name="T42" fmla="*/ 9 w 11"/>
                  <a:gd name="T43" fmla="*/ 14 h 14"/>
                  <a:gd name="T44" fmla="*/ 9 w 11"/>
                  <a:gd name="T45"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 h="14">
                    <a:moveTo>
                      <a:pt x="9" y="12"/>
                    </a:moveTo>
                    <a:cubicBezTo>
                      <a:pt x="9" y="12"/>
                      <a:pt x="9" y="11"/>
                      <a:pt x="10" y="11"/>
                    </a:cubicBezTo>
                    <a:cubicBezTo>
                      <a:pt x="10" y="10"/>
                      <a:pt x="11" y="9"/>
                      <a:pt x="11" y="9"/>
                    </a:cubicBezTo>
                    <a:cubicBezTo>
                      <a:pt x="11" y="9"/>
                      <a:pt x="11" y="9"/>
                      <a:pt x="11" y="8"/>
                    </a:cubicBezTo>
                    <a:cubicBezTo>
                      <a:pt x="11" y="8"/>
                      <a:pt x="11" y="8"/>
                      <a:pt x="10" y="7"/>
                    </a:cubicBezTo>
                    <a:cubicBezTo>
                      <a:pt x="10" y="7"/>
                      <a:pt x="7" y="6"/>
                      <a:pt x="7" y="5"/>
                    </a:cubicBezTo>
                    <a:cubicBezTo>
                      <a:pt x="7" y="5"/>
                      <a:pt x="6" y="4"/>
                      <a:pt x="6" y="3"/>
                    </a:cubicBezTo>
                    <a:cubicBezTo>
                      <a:pt x="6" y="3"/>
                      <a:pt x="6" y="2"/>
                      <a:pt x="6" y="1"/>
                    </a:cubicBezTo>
                    <a:cubicBezTo>
                      <a:pt x="5" y="1"/>
                      <a:pt x="5" y="0"/>
                      <a:pt x="4" y="0"/>
                    </a:cubicBezTo>
                    <a:cubicBezTo>
                      <a:pt x="4" y="0"/>
                      <a:pt x="3" y="1"/>
                      <a:pt x="2" y="2"/>
                    </a:cubicBezTo>
                    <a:cubicBezTo>
                      <a:pt x="2" y="3"/>
                      <a:pt x="1" y="4"/>
                      <a:pt x="1" y="5"/>
                    </a:cubicBezTo>
                    <a:cubicBezTo>
                      <a:pt x="1" y="5"/>
                      <a:pt x="1" y="6"/>
                      <a:pt x="0" y="6"/>
                    </a:cubicBezTo>
                    <a:cubicBezTo>
                      <a:pt x="0" y="7"/>
                      <a:pt x="0" y="7"/>
                      <a:pt x="0" y="7"/>
                    </a:cubicBezTo>
                    <a:cubicBezTo>
                      <a:pt x="0" y="7"/>
                      <a:pt x="1" y="8"/>
                      <a:pt x="2" y="9"/>
                    </a:cubicBezTo>
                    <a:cubicBezTo>
                      <a:pt x="2" y="10"/>
                      <a:pt x="2" y="10"/>
                      <a:pt x="2" y="11"/>
                    </a:cubicBezTo>
                    <a:cubicBezTo>
                      <a:pt x="2" y="12"/>
                      <a:pt x="1" y="12"/>
                      <a:pt x="1" y="12"/>
                    </a:cubicBezTo>
                    <a:cubicBezTo>
                      <a:pt x="1" y="13"/>
                      <a:pt x="1" y="13"/>
                      <a:pt x="1" y="13"/>
                    </a:cubicBezTo>
                    <a:cubicBezTo>
                      <a:pt x="1" y="13"/>
                      <a:pt x="1" y="13"/>
                      <a:pt x="2" y="13"/>
                    </a:cubicBezTo>
                    <a:cubicBezTo>
                      <a:pt x="2" y="13"/>
                      <a:pt x="3" y="14"/>
                      <a:pt x="3" y="14"/>
                    </a:cubicBezTo>
                    <a:cubicBezTo>
                      <a:pt x="4" y="14"/>
                      <a:pt x="7" y="13"/>
                      <a:pt x="7" y="13"/>
                    </a:cubicBezTo>
                    <a:cubicBezTo>
                      <a:pt x="7" y="13"/>
                      <a:pt x="7" y="13"/>
                      <a:pt x="8" y="13"/>
                    </a:cubicBezTo>
                    <a:cubicBezTo>
                      <a:pt x="8" y="13"/>
                      <a:pt x="9" y="14"/>
                      <a:pt x="9" y="14"/>
                    </a:cubicBezTo>
                    <a:cubicBezTo>
                      <a:pt x="9" y="13"/>
                      <a:pt x="9" y="13"/>
                      <a:pt x="9"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00" name="Freeform 1112">
                <a:extLst>
                  <a:ext uri="{FF2B5EF4-FFF2-40B4-BE49-F238E27FC236}">
                    <a16:creationId xmlns:a16="http://schemas.microsoft.com/office/drawing/2014/main" id="{524F0ABB-84F7-4FD0-BA77-07FDB6D21B11}"/>
                  </a:ext>
                </a:extLst>
              </p:cNvPr>
              <p:cNvSpPr>
                <a:spLocks/>
              </p:cNvSpPr>
              <p:nvPr/>
            </p:nvSpPr>
            <p:spPr bwMode="auto">
              <a:xfrm>
                <a:off x="2861" y="1831"/>
                <a:ext cx="2" cy="6"/>
              </a:xfrm>
              <a:custGeom>
                <a:avLst/>
                <a:gdLst>
                  <a:gd name="T0" fmla="*/ 0 w 1"/>
                  <a:gd name="T1" fmla="*/ 3 h 4"/>
                  <a:gd name="T2" fmla="*/ 0 w 1"/>
                  <a:gd name="T3" fmla="*/ 1 h 4"/>
                  <a:gd name="T4" fmla="*/ 0 w 1"/>
                  <a:gd name="T5" fmla="*/ 3 h 4"/>
                </a:gdLst>
                <a:ahLst/>
                <a:cxnLst>
                  <a:cxn ang="0">
                    <a:pos x="T0" y="T1"/>
                  </a:cxn>
                  <a:cxn ang="0">
                    <a:pos x="T2" y="T3"/>
                  </a:cxn>
                  <a:cxn ang="0">
                    <a:pos x="T4" y="T5"/>
                  </a:cxn>
                </a:cxnLst>
                <a:rect l="0" t="0" r="r" b="b"/>
                <a:pathLst>
                  <a:path w="1" h="4">
                    <a:moveTo>
                      <a:pt x="0" y="3"/>
                    </a:moveTo>
                    <a:cubicBezTo>
                      <a:pt x="0" y="4"/>
                      <a:pt x="1" y="3"/>
                      <a:pt x="0" y="1"/>
                    </a:cubicBezTo>
                    <a:cubicBezTo>
                      <a:pt x="0" y="0"/>
                      <a:pt x="0" y="3"/>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01" name="Freeform 1113">
                <a:extLst>
                  <a:ext uri="{FF2B5EF4-FFF2-40B4-BE49-F238E27FC236}">
                    <a16:creationId xmlns:a16="http://schemas.microsoft.com/office/drawing/2014/main" id="{3A4856B2-E933-4315-BA78-C3AE0017D7FC}"/>
                  </a:ext>
                </a:extLst>
              </p:cNvPr>
              <p:cNvSpPr>
                <a:spLocks/>
              </p:cNvSpPr>
              <p:nvPr/>
            </p:nvSpPr>
            <p:spPr bwMode="auto">
              <a:xfrm>
                <a:off x="2972" y="1870"/>
                <a:ext cx="16" cy="6"/>
              </a:xfrm>
              <a:custGeom>
                <a:avLst/>
                <a:gdLst>
                  <a:gd name="T0" fmla="*/ 5 w 12"/>
                  <a:gd name="T1" fmla="*/ 2 h 5"/>
                  <a:gd name="T2" fmla="*/ 2 w 12"/>
                  <a:gd name="T3" fmla="*/ 1 h 5"/>
                  <a:gd name="T4" fmla="*/ 1 w 12"/>
                  <a:gd name="T5" fmla="*/ 2 h 5"/>
                  <a:gd name="T6" fmla="*/ 5 w 12"/>
                  <a:gd name="T7" fmla="*/ 4 h 5"/>
                  <a:gd name="T8" fmla="*/ 10 w 12"/>
                  <a:gd name="T9" fmla="*/ 2 h 5"/>
                  <a:gd name="T10" fmla="*/ 5 w 12"/>
                  <a:gd name="T11" fmla="*/ 2 h 5"/>
                </a:gdLst>
                <a:ahLst/>
                <a:cxnLst>
                  <a:cxn ang="0">
                    <a:pos x="T0" y="T1"/>
                  </a:cxn>
                  <a:cxn ang="0">
                    <a:pos x="T2" y="T3"/>
                  </a:cxn>
                  <a:cxn ang="0">
                    <a:pos x="T4" y="T5"/>
                  </a:cxn>
                  <a:cxn ang="0">
                    <a:pos x="T6" y="T7"/>
                  </a:cxn>
                  <a:cxn ang="0">
                    <a:pos x="T8" y="T9"/>
                  </a:cxn>
                  <a:cxn ang="0">
                    <a:pos x="T10" y="T11"/>
                  </a:cxn>
                </a:cxnLst>
                <a:rect l="0" t="0" r="r" b="b"/>
                <a:pathLst>
                  <a:path w="12" h="5">
                    <a:moveTo>
                      <a:pt x="5" y="2"/>
                    </a:moveTo>
                    <a:cubicBezTo>
                      <a:pt x="4" y="3"/>
                      <a:pt x="3" y="2"/>
                      <a:pt x="2" y="1"/>
                    </a:cubicBezTo>
                    <a:cubicBezTo>
                      <a:pt x="0" y="0"/>
                      <a:pt x="1" y="2"/>
                      <a:pt x="1" y="2"/>
                    </a:cubicBezTo>
                    <a:cubicBezTo>
                      <a:pt x="1" y="4"/>
                      <a:pt x="3" y="4"/>
                      <a:pt x="5" y="4"/>
                    </a:cubicBezTo>
                    <a:cubicBezTo>
                      <a:pt x="7" y="5"/>
                      <a:pt x="9" y="4"/>
                      <a:pt x="10" y="2"/>
                    </a:cubicBezTo>
                    <a:cubicBezTo>
                      <a:pt x="12" y="0"/>
                      <a:pt x="7" y="2"/>
                      <a:pt x="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02" name="Freeform 1114">
                <a:extLst>
                  <a:ext uri="{FF2B5EF4-FFF2-40B4-BE49-F238E27FC236}">
                    <a16:creationId xmlns:a16="http://schemas.microsoft.com/office/drawing/2014/main" id="{1598358D-1BAF-4C9A-921C-12F4A93E988E}"/>
                  </a:ext>
                </a:extLst>
              </p:cNvPr>
              <p:cNvSpPr>
                <a:spLocks/>
              </p:cNvSpPr>
              <p:nvPr/>
            </p:nvSpPr>
            <p:spPr bwMode="auto">
              <a:xfrm>
                <a:off x="2937" y="1849"/>
                <a:ext cx="10" cy="6"/>
              </a:xfrm>
              <a:custGeom>
                <a:avLst/>
                <a:gdLst>
                  <a:gd name="T0" fmla="*/ 5 w 7"/>
                  <a:gd name="T1" fmla="*/ 1 h 4"/>
                  <a:gd name="T2" fmla="*/ 4 w 7"/>
                  <a:gd name="T3" fmla="*/ 3 h 4"/>
                  <a:gd name="T4" fmla="*/ 6 w 7"/>
                  <a:gd name="T5" fmla="*/ 2 h 4"/>
                  <a:gd name="T6" fmla="*/ 5 w 7"/>
                  <a:gd name="T7" fmla="*/ 1 h 4"/>
                </a:gdLst>
                <a:ahLst/>
                <a:cxnLst>
                  <a:cxn ang="0">
                    <a:pos x="T0" y="T1"/>
                  </a:cxn>
                  <a:cxn ang="0">
                    <a:pos x="T2" y="T3"/>
                  </a:cxn>
                  <a:cxn ang="0">
                    <a:pos x="T4" y="T5"/>
                  </a:cxn>
                  <a:cxn ang="0">
                    <a:pos x="T6" y="T7"/>
                  </a:cxn>
                </a:cxnLst>
                <a:rect l="0" t="0" r="r" b="b"/>
                <a:pathLst>
                  <a:path w="7" h="4">
                    <a:moveTo>
                      <a:pt x="5" y="1"/>
                    </a:moveTo>
                    <a:cubicBezTo>
                      <a:pt x="3" y="1"/>
                      <a:pt x="0" y="1"/>
                      <a:pt x="4" y="3"/>
                    </a:cubicBezTo>
                    <a:cubicBezTo>
                      <a:pt x="4" y="3"/>
                      <a:pt x="7" y="4"/>
                      <a:pt x="6" y="2"/>
                    </a:cubicBezTo>
                    <a:cubicBezTo>
                      <a:pt x="6" y="1"/>
                      <a:pt x="6" y="0"/>
                      <a:pt x="5"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03" name="Freeform 1115">
                <a:extLst>
                  <a:ext uri="{FF2B5EF4-FFF2-40B4-BE49-F238E27FC236}">
                    <a16:creationId xmlns:a16="http://schemas.microsoft.com/office/drawing/2014/main" id="{B9481161-E767-42A0-9696-ED3DB966ED52}"/>
                  </a:ext>
                </a:extLst>
              </p:cNvPr>
              <p:cNvSpPr>
                <a:spLocks/>
              </p:cNvSpPr>
              <p:nvPr/>
            </p:nvSpPr>
            <p:spPr bwMode="auto">
              <a:xfrm>
                <a:off x="2914" y="1856"/>
                <a:ext cx="15" cy="4"/>
              </a:xfrm>
              <a:custGeom>
                <a:avLst/>
                <a:gdLst>
                  <a:gd name="T0" fmla="*/ 4 w 11"/>
                  <a:gd name="T1" fmla="*/ 0 h 3"/>
                  <a:gd name="T2" fmla="*/ 5 w 11"/>
                  <a:gd name="T3" fmla="*/ 3 h 3"/>
                  <a:gd name="T4" fmla="*/ 8 w 11"/>
                  <a:gd name="T5" fmla="*/ 2 h 3"/>
                  <a:gd name="T6" fmla="*/ 4 w 11"/>
                  <a:gd name="T7" fmla="*/ 0 h 3"/>
                </a:gdLst>
                <a:ahLst/>
                <a:cxnLst>
                  <a:cxn ang="0">
                    <a:pos x="T0" y="T1"/>
                  </a:cxn>
                  <a:cxn ang="0">
                    <a:pos x="T2" y="T3"/>
                  </a:cxn>
                  <a:cxn ang="0">
                    <a:pos x="T4" y="T5"/>
                  </a:cxn>
                  <a:cxn ang="0">
                    <a:pos x="T6" y="T7"/>
                  </a:cxn>
                </a:cxnLst>
                <a:rect l="0" t="0" r="r" b="b"/>
                <a:pathLst>
                  <a:path w="11" h="3">
                    <a:moveTo>
                      <a:pt x="4" y="0"/>
                    </a:moveTo>
                    <a:cubicBezTo>
                      <a:pt x="3" y="0"/>
                      <a:pt x="0" y="1"/>
                      <a:pt x="5" y="3"/>
                    </a:cubicBezTo>
                    <a:cubicBezTo>
                      <a:pt x="5" y="3"/>
                      <a:pt x="11" y="3"/>
                      <a:pt x="8" y="2"/>
                    </a:cubicBezTo>
                    <a:cubicBezTo>
                      <a:pt x="6" y="1"/>
                      <a:pt x="5" y="0"/>
                      <a:pt x="4"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04" name="Freeform 1116">
                <a:extLst>
                  <a:ext uri="{FF2B5EF4-FFF2-40B4-BE49-F238E27FC236}">
                    <a16:creationId xmlns:a16="http://schemas.microsoft.com/office/drawing/2014/main" id="{33F54C35-74BC-4CD2-B7F4-46EB7DA35CFB}"/>
                  </a:ext>
                </a:extLst>
              </p:cNvPr>
              <p:cNvSpPr>
                <a:spLocks/>
              </p:cNvSpPr>
              <p:nvPr/>
            </p:nvSpPr>
            <p:spPr bwMode="auto">
              <a:xfrm>
                <a:off x="3148" y="1988"/>
                <a:ext cx="13" cy="5"/>
              </a:xfrm>
              <a:custGeom>
                <a:avLst/>
                <a:gdLst>
                  <a:gd name="T0" fmla="*/ 8 w 10"/>
                  <a:gd name="T1" fmla="*/ 2 h 4"/>
                  <a:gd name="T2" fmla="*/ 7 w 10"/>
                  <a:gd name="T3" fmla="*/ 1 h 4"/>
                  <a:gd name="T4" fmla="*/ 2 w 10"/>
                  <a:gd name="T5" fmla="*/ 0 h 4"/>
                  <a:gd name="T6" fmla="*/ 1 w 10"/>
                  <a:gd name="T7" fmla="*/ 2 h 4"/>
                  <a:gd name="T8" fmla="*/ 8 w 10"/>
                  <a:gd name="T9" fmla="*/ 2 h 4"/>
                </a:gdLst>
                <a:ahLst/>
                <a:cxnLst>
                  <a:cxn ang="0">
                    <a:pos x="T0" y="T1"/>
                  </a:cxn>
                  <a:cxn ang="0">
                    <a:pos x="T2" y="T3"/>
                  </a:cxn>
                  <a:cxn ang="0">
                    <a:pos x="T4" y="T5"/>
                  </a:cxn>
                  <a:cxn ang="0">
                    <a:pos x="T6" y="T7"/>
                  </a:cxn>
                  <a:cxn ang="0">
                    <a:pos x="T8" y="T9"/>
                  </a:cxn>
                </a:cxnLst>
                <a:rect l="0" t="0" r="r" b="b"/>
                <a:pathLst>
                  <a:path w="10" h="4">
                    <a:moveTo>
                      <a:pt x="8" y="2"/>
                    </a:moveTo>
                    <a:cubicBezTo>
                      <a:pt x="10" y="1"/>
                      <a:pt x="8" y="1"/>
                      <a:pt x="7" y="1"/>
                    </a:cubicBezTo>
                    <a:cubicBezTo>
                      <a:pt x="6" y="0"/>
                      <a:pt x="4" y="0"/>
                      <a:pt x="2" y="0"/>
                    </a:cubicBezTo>
                    <a:cubicBezTo>
                      <a:pt x="0" y="1"/>
                      <a:pt x="1" y="2"/>
                      <a:pt x="1" y="2"/>
                    </a:cubicBezTo>
                    <a:cubicBezTo>
                      <a:pt x="5" y="4"/>
                      <a:pt x="6" y="4"/>
                      <a:pt x="8"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05" name="Freeform 1117">
                <a:extLst>
                  <a:ext uri="{FF2B5EF4-FFF2-40B4-BE49-F238E27FC236}">
                    <a16:creationId xmlns:a16="http://schemas.microsoft.com/office/drawing/2014/main" id="{A04D378C-205A-477B-AC85-7AE48C43364D}"/>
                  </a:ext>
                </a:extLst>
              </p:cNvPr>
              <p:cNvSpPr>
                <a:spLocks/>
              </p:cNvSpPr>
              <p:nvPr/>
            </p:nvSpPr>
            <p:spPr bwMode="auto">
              <a:xfrm>
                <a:off x="3307" y="1768"/>
                <a:ext cx="69" cy="125"/>
              </a:xfrm>
              <a:custGeom>
                <a:avLst/>
                <a:gdLst>
                  <a:gd name="T0" fmla="*/ 30 w 50"/>
                  <a:gd name="T1" fmla="*/ 81 h 91"/>
                  <a:gd name="T2" fmla="*/ 33 w 50"/>
                  <a:gd name="T3" fmla="*/ 74 h 91"/>
                  <a:gd name="T4" fmla="*/ 38 w 50"/>
                  <a:gd name="T5" fmla="*/ 71 h 91"/>
                  <a:gd name="T6" fmla="*/ 38 w 50"/>
                  <a:gd name="T7" fmla="*/ 70 h 91"/>
                  <a:gd name="T8" fmla="*/ 36 w 50"/>
                  <a:gd name="T9" fmla="*/ 70 h 91"/>
                  <a:gd name="T10" fmla="*/ 33 w 50"/>
                  <a:gd name="T11" fmla="*/ 64 h 91"/>
                  <a:gd name="T12" fmla="*/ 36 w 50"/>
                  <a:gd name="T13" fmla="*/ 59 h 91"/>
                  <a:gd name="T14" fmla="*/ 35 w 50"/>
                  <a:gd name="T15" fmla="*/ 53 h 91"/>
                  <a:gd name="T16" fmla="*/ 33 w 50"/>
                  <a:gd name="T17" fmla="*/ 50 h 91"/>
                  <a:gd name="T18" fmla="*/ 30 w 50"/>
                  <a:gd name="T19" fmla="*/ 45 h 91"/>
                  <a:gd name="T20" fmla="*/ 32 w 50"/>
                  <a:gd name="T21" fmla="*/ 44 h 91"/>
                  <a:gd name="T22" fmla="*/ 38 w 50"/>
                  <a:gd name="T23" fmla="*/ 41 h 91"/>
                  <a:gd name="T24" fmla="*/ 38 w 50"/>
                  <a:gd name="T25" fmla="*/ 34 h 91"/>
                  <a:gd name="T26" fmla="*/ 40 w 50"/>
                  <a:gd name="T27" fmla="*/ 33 h 91"/>
                  <a:gd name="T28" fmla="*/ 40 w 50"/>
                  <a:gd name="T29" fmla="*/ 25 h 91"/>
                  <a:gd name="T30" fmla="*/ 42 w 50"/>
                  <a:gd name="T31" fmla="*/ 17 h 91"/>
                  <a:gd name="T32" fmla="*/ 46 w 50"/>
                  <a:gd name="T33" fmla="*/ 15 h 91"/>
                  <a:gd name="T34" fmla="*/ 48 w 50"/>
                  <a:gd name="T35" fmla="*/ 12 h 91"/>
                  <a:gd name="T36" fmla="*/ 49 w 50"/>
                  <a:gd name="T37" fmla="*/ 10 h 91"/>
                  <a:gd name="T38" fmla="*/ 44 w 50"/>
                  <a:gd name="T39" fmla="*/ 7 h 91"/>
                  <a:gd name="T40" fmla="*/ 39 w 50"/>
                  <a:gd name="T41" fmla="*/ 4 h 91"/>
                  <a:gd name="T42" fmla="*/ 37 w 50"/>
                  <a:gd name="T43" fmla="*/ 4 h 91"/>
                  <a:gd name="T44" fmla="*/ 34 w 50"/>
                  <a:gd name="T45" fmla="*/ 5 h 91"/>
                  <a:gd name="T46" fmla="*/ 28 w 50"/>
                  <a:gd name="T47" fmla="*/ 6 h 91"/>
                  <a:gd name="T48" fmla="*/ 24 w 50"/>
                  <a:gd name="T49" fmla="*/ 5 h 91"/>
                  <a:gd name="T50" fmla="*/ 21 w 50"/>
                  <a:gd name="T51" fmla="*/ 7 h 91"/>
                  <a:gd name="T52" fmla="*/ 20 w 50"/>
                  <a:gd name="T53" fmla="*/ 4 h 91"/>
                  <a:gd name="T54" fmla="*/ 20 w 50"/>
                  <a:gd name="T55" fmla="*/ 0 h 91"/>
                  <a:gd name="T56" fmla="*/ 16 w 50"/>
                  <a:gd name="T57" fmla="*/ 2 h 91"/>
                  <a:gd name="T58" fmla="*/ 11 w 50"/>
                  <a:gd name="T59" fmla="*/ 4 h 91"/>
                  <a:gd name="T60" fmla="*/ 11 w 50"/>
                  <a:gd name="T61" fmla="*/ 11 h 91"/>
                  <a:gd name="T62" fmla="*/ 13 w 50"/>
                  <a:gd name="T63" fmla="*/ 23 h 91"/>
                  <a:gd name="T64" fmla="*/ 13 w 50"/>
                  <a:gd name="T65" fmla="*/ 27 h 91"/>
                  <a:gd name="T66" fmla="*/ 6 w 50"/>
                  <a:gd name="T67" fmla="*/ 47 h 91"/>
                  <a:gd name="T68" fmla="*/ 3 w 50"/>
                  <a:gd name="T69" fmla="*/ 52 h 91"/>
                  <a:gd name="T70" fmla="*/ 2 w 50"/>
                  <a:gd name="T71" fmla="*/ 61 h 91"/>
                  <a:gd name="T72" fmla="*/ 9 w 50"/>
                  <a:gd name="T73" fmla="*/ 58 h 91"/>
                  <a:gd name="T74" fmla="*/ 8 w 50"/>
                  <a:gd name="T75" fmla="*/ 61 h 91"/>
                  <a:gd name="T76" fmla="*/ 7 w 50"/>
                  <a:gd name="T77" fmla="*/ 63 h 91"/>
                  <a:gd name="T78" fmla="*/ 5 w 50"/>
                  <a:gd name="T79" fmla="*/ 63 h 91"/>
                  <a:gd name="T80" fmla="*/ 10 w 50"/>
                  <a:gd name="T81" fmla="*/ 64 h 91"/>
                  <a:gd name="T82" fmla="*/ 11 w 50"/>
                  <a:gd name="T83" fmla="*/ 66 h 91"/>
                  <a:gd name="T84" fmla="*/ 11 w 50"/>
                  <a:gd name="T85" fmla="*/ 69 h 91"/>
                  <a:gd name="T86" fmla="*/ 11 w 50"/>
                  <a:gd name="T87" fmla="*/ 77 h 91"/>
                  <a:gd name="T88" fmla="*/ 12 w 50"/>
                  <a:gd name="T89" fmla="*/ 89 h 91"/>
                  <a:gd name="T90" fmla="*/ 20 w 50"/>
                  <a:gd name="T91" fmla="*/ 89 h 91"/>
                  <a:gd name="T92" fmla="*/ 27 w 50"/>
                  <a:gd name="T93" fmla="*/ 89 h 91"/>
                  <a:gd name="T94" fmla="*/ 31 w 50"/>
                  <a:gd name="T95" fmla="*/ 86 h 91"/>
                  <a:gd name="T96" fmla="*/ 30 w 50"/>
                  <a:gd name="T97" fmla="*/ 8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 h="91">
                    <a:moveTo>
                      <a:pt x="30" y="82"/>
                    </a:moveTo>
                    <a:cubicBezTo>
                      <a:pt x="30" y="81"/>
                      <a:pt x="30" y="81"/>
                      <a:pt x="30" y="81"/>
                    </a:cubicBezTo>
                    <a:cubicBezTo>
                      <a:pt x="30" y="81"/>
                      <a:pt x="31" y="79"/>
                      <a:pt x="31" y="78"/>
                    </a:cubicBezTo>
                    <a:cubicBezTo>
                      <a:pt x="31" y="78"/>
                      <a:pt x="33" y="75"/>
                      <a:pt x="33" y="74"/>
                    </a:cubicBezTo>
                    <a:cubicBezTo>
                      <a:pt x="33" y="74"/>
                      <a:pt x="34" y="73"/>
                      <a:pt x="34" y="73"/>
                    </a:cubicBezTo>
                    <a:cubicBezTo>
                      <a:pt x="34" y="73"/>
                      <a:pt x="37" y="71"/>
                      <a:pt x="38" y="71"/>
                    </a:cubicBezTo>
                    <a:cubicBezTo>
                      <a:pt x="38" y="71"/>
                      <a:pt x="38" y="71"/>
                      <a:pt x="38" y="70"/>
                    </a:cubicBezTo>
                    <a:cubicBezTo>
                      <a:pt x="39" y="70"/>
                      <a:pt x="38" y="70"/>
                      <a:pt x="38" y="70"/>
                    </a:cubicBezTo>
                    <a:cubicBezTo>
                      <a:pt x="38" y="70"/>
                      <a:pt x="37" y="70"/>
                      <a:pt x="37" y="70"/>
                    </a:cubicBezTo>
                    <a:cubicBezTo>
                      <a:pt x="36" y="70"/>
                      <a:pt x="36" y="70"/>
                      <a:pt x="36" y="70"/>
                    </a:cubicBezTo>
                    <a:cubicBezTo>
                      <a:pt x="36" y="70"/>
                      <a:pt x="33" y="65"/>
                      <a:pt x="33" y="65"/>
                    </a:cubicBezTo>
                    <a:cubicBezTo>
                      <a:pt x="33" y="65"/>
                      <a:pt x="33" y="64"/>
                      <a:pt x="33" y="64"/>
                    </a:cubicBezTo>
                    <a:cubicBezTo>
                      <a:pt x="33" y="64"/>
                      <a:pt x="34" y="62"/>
                      <a:pt x="34" y="62"/>
                    </a:cubicBezTo>
                    <a:cubicBezTo>
                      <a:pt x="34" y="61"/>
                      <a:pt x="34" y="60"/>
                      <a:pt x="36" y="59"/>
                    </a:cubicBezTo>
                    <a:cubicBezTo>
                      <a:pt x="38" y="57"/>
                      <a:pt x="38" y="56"/>
                      <a:pt x="38" y="55"/>
                    </a:cubicBezTo>
                    <a:cubicBezTo>
                      <a:pt x="38" y="54"/>
                      <a:pt x="35" y="53"/>
                      <a:pt x="35" y="53"/>
                    </a:cubicBezTo>
                    <a:cubicBezTo>
                      <a:pt x="34" y="52"/>
                      <a:pt x="34" y="52"/>
                      <a:pt x="34" y="51"/>
                    </a:cubicBezTo>
                    <a:cubicBezTo>
                      <a:pt x="34" y="51"/>
                      <a:pt x="34" y="51"/>
                      <a:pt x="33" y="50"/>
                    </a:cubicBezTo>
                    <a:cubicBezTo>
                      <a:pt x="33" y="50"/>
                      <a:pt x="33" y="50"/>
                      <a:pt x="33" y="50"/>
                    </a:cubicBezTo>
                    <a:cubicBezTo>
                      <a:pt x="33" y="50"/>
                      <a:pt x="30" y="45"/>
                      <a:pt x="30" y="45"/>
                    </a:cubicBezTo>
                    <a:cubicBezTo>
                      <a:pt x="30" y="44"/>
                      <a:pt x="30" y="44"/>
                      <a:pt x="30" y="44"/>
                    </a:cubicBezTo>
                    <a:cubicBezTo>
                      <a:pt x="30" y="44"/>
                      <a:pt x="31" y="44"/>
                      <a:pt x="32" y="44"/>
                    </a:cubicBezTo>
                    <a:cubicBezTo>
                      <a:pt x="33" y="44"/>
                      <a:pt x="35" y="44"/>
                      <a:pt x="36" y="44"/>
                    </a:cubicBezTo>
                    <a:cubicBezTo>
                      <a:pt x="38" y="45"/>
                      <a:pt x="38" y="42"/>
                      <a:pt x="38" y="41"/>
                    </a:cubicBezTo>
                    <a:cubicBezTo>
                      <a:pt x="38" y="39"/>
                      <a:pt x="38" y="38"/>
                      <a:pt x="39" y="37"/>
                    </a:cubicBezTo>
                    <a:cubicBezTo>
                      <a:pt x="39" y="36"/>
                      <a:pt x="38" y="34"/>
                      <a:pt x="38" y="34"/>
                    </a:cubicBezTo>
                    <a:cubicBezTo>
                      <a:pt x="38" y="34"/>
                      <a:pt x="39" y="34"/>
                      <a:pt x="39" y="34"/>
                    </a:cubicBezTo>
                    <a:cubicBezTo>
                      <a:pt x="40" y="34"/>
                      <a:pt x="40" y="34"/>
                      <a:pt x="40" y="33"/>
                    </a:cubicBezTo>
                    <a:cubicBezTo>
                      <a:pt x="40" y="33"/>
                      <a:pt x="40" y="32"/>
                      <a:pt x="40" y="30"/>
                    </a:cubicBezTo>
                    <a:cubicBezTo>
                      <a:pt x="40" y="28"/>
                      <a:pt x="40" y="25"/>
                      <a:pt x="40" y="25"/>
                    </a:cubicBezTo>
                    <a:cubicBezTo>
                      <a:pt x="39" y="20"/>
                      <a:pt x="39" y="20"/>
                      <a:pt x="39" y="20"/>
                    </a:cubicBezTo>
                    <a:cubicBezTo>
                      <a:pt x="39" y="20"/>
                      <a:pt x="41" y="18"/>
                      <a:pt x="42" y="17"/>
                    </a:cubicBezTo>
                    <a:cubicBezTo>
                      <a:pt x="43" y="17"/>
                      <a:pt x="44" y="16"/>
                      <a:pt x="45" y="16"/>
                    </a:cubicBezTo>
                    <a:cubicBezTo>
                      <a:pt x="45" y="16"/>
                      <a:pt x="45" y="16"/>
                      <a:pt x="46" y="15"/>
                    </a:cubicBezTo>
                    <a:cubicBezTo>
                      <a:pt x="46" y="15"/>
                      <a:pt x="46" y="15"/>
                      <a:pt x="47" y="15"/>
                    </a:cubicBezTo>
                    <a:cubicBezTo>
                      <a:pt x="47" y="15"/>
                      <a:pt x="48" y="13"/>
                      <a:pt x="48" y="12"/>
                    </a:cubicBezTo>
                    <a:cubicBezTo>
                      <a:pt x="49" y="12"/>
                      <a:pt x="49" y="12"/>
                      <a:pt x="49" y="11"/>
                    </a:cubicBezTo>
                    <a:cubicBezTo>
                      <a:pt x="50" y="11"/>
                      <a:pt x="49" y="11"/>
                      <a:pt x="49" y="10"/>
                    </a:cubicBezTo>
                    <a:cubicBezTo>
                      <a:pt x="49" y="10"/>
                      <a:pt x="45" y="8"/>
                      <a:pt x="45" y="8"/>
                    </a:cubicBezTo>
                    <a:cubicBezTo>
                      <a:pt x="44" y="8"/>
                      <a:pt x="44" y="8"/>
                      <a:pt x="44" y="7"/>
                    </a:cubicBezTo>
                    <a:cubicBezTo>
                      <a:pt x="45" y="7"/>
                      <a:pt x="45" y="6"/>
                      <a:pt x="44" y="5"/>
                    </a:cubicBezTo>
                    <a:cubicBezTo>
                      <a:pt x="44" y="3"/>
                      <a:pt x="40" y="4"/>
                      <a:pt x="39" y="4"/>
                    </a:cubicBezTo>
                    <a:cubicBezTo>
                      <a:pt x="39" y="4"/>
                      <a:pt x="38" y="4"/>
                      <a:pt x="38" y="4"/>
                    </a:cubicBezTo>
                    <a:cubicBezTo>
                      <a:pt x="38" y="3"/>
                      <a:pt x="37" y="4"/>
                      <a:pt x="37" y="4"/>
                    </a:cubicBezTo>
                    <a:cubicBezTo>
                      <a:pt x="37" y="4"/>
                      <a:pt x="35" y="5"/>
                      <a:pt x="35" y="5"/>
                    </a:cubicBezTo>
                    <a:cubicBezTo>
                      <a:pt x="35" y="5"/>
                      <a:pt x="34" y="5"/>
                      <a:pt x="34" y="5"/>
                    </a:cubicBezTo>
                    <a:cubicBezTo>
                      <a:pt x="34" y="5"/>
                      <a:pt x="30" y="6"/>
                      <a:pt x="29" y="6"/>
                    </a:cubicBezTo>
                    <a:cubicBezTo>
                      <a:pt x="28" y="6"/>
                      <a:pt x="28" y="6"/>
                      <a:pt x="28" y="6"/>
                    </a:cubicBezTo>
                    <a:cubicBezTo>
                      <a:pt x="28" y="6"/>
                      <a:pt x="25" y="5"/>
                      <a:pt x="25" y="5"/>
                    </a:cubicBezTo>
                    <a:cubicBezTo>
                      <a:pt x="25" y="5"/>
                      <a:pt x="24" y="5"/>
                      <a:pt x="24" y="5"/>
                    </a:cubicBezTo>
                    <a:cubicBezTo>
                      <a:pt x="24" y="5"/>
                      <a:pt x="23" y="5"/>
                      <a:pt x="23" y="6"/>
                    </a:cubicBezTo>
                    <a:cubicBezTo>
                      <a:pt x="22" y="7"/>
                      <a:pt x="22" y="6"/>
                      <a:pt x="21" y="7"/>
                    </a:cubicBezTo>
                    <a:cubicBezTo>
                      <a:pt x="20" y="7"/>
                      <a:pt x="20" y="6"/>
                      <a:pt x="20" y="6"/>
                    </a:cubicBezTo>
                    <a:cubicBezTo>
                      <a:pt x="20" y="5"/>
                      <a:pt x="20" y="5"/>
                      <a:pt x="20" y="4"/>
                    </a:cubicBezTo>
                    <a:cubicBezTo>
                      <a:pt x="20" y="4"/>
                      <a:pt x="20" y="4"/>
                      <a:pt x="21" y="3"/>
                    </a:cubicBezTo>
                    <a:cubicBezTo>
                      <a:pt x="22" y="2"/>
                      <a:pt x="20" y="1"/>
                      <a:pt x="20" y="0"/>
                    </a:cubicBezTo>
                    <a:cubicBezTo>
                      <a:pt x="20" y="0"/>
                      <a:pt x="19" y="1"/>
                      <a:pt x="18" y="1"/>
                    </a:cubicBezTo>
                    <a:cubicBezTo>
                      <a:pt x="18" y="2"/>
                      <a:pt x="16" y="2"/>
                      <a:pt x="16" y="2"/>
                    </a:cubicBezTo>
                    <a:cubicBezTo>
                      <a:pt x="15" y="2"/>
                      <a:pt x="14" y="2"/>
                      <a:pt x="13" y="3"/>
                    </a:cubicBezTo>
                    <a:cubicBezTo>
                      <a:pt x="12" y="3"/>
                      <a:pt x="12" y="4"/>
                      <a:pt x="11" y="4"/>
                    </a:cubicBezTo>
                    <a:cubicBezTo>
                      <a:pt x="12" y="4"/>
                      <a:pt x="11" y="5"/>
                      <a:pt x="11" y="6"/>
                    </a:cubicBezTo>
                    <a:cubicBezTo>
                      <a:pt x="11" y="6"/>
                      <a:pt x="10" y="8"/>
                      <a:pt x="11" y="11"/>
                    </a:cubicBezTo>
                    <a:cubicBezTo>
                      <a:pt x="12" y="14"/>
                      <a:pt x="12" y="15"/>
                      <a:pt x="13" y="17"/>
                    </a:cubicBezTo>
                    <a:cubicBezTo>
                      <a:pt x="14" y="19"/>
                      <a:pt x="13" y="22"/>
                      <a:pt x="13" y="23"/>
                    </a:cubicBezTo>
                    <a:cubicBezTo>
                      <a:pt x="13" y="25"/>
                      <a:pt x="12" y="27"/>
                      <a:pt x="13" y="26"/>
                    </a:cubicBezTo>
                    <a:cubicBezTo>
                      <a:pt x="14" y="24"/>
                      <a:pt x="15" y="25"/>
                      <a:pt x="13" y="27"/>
                    </a:cubicBezTo>
                    <a:cubicBezTo>
                      <a:pt x="12" y="28"/>
                      <a:pt x="11" y="30"/>
                      <a:pt x="11" y="33"/>
                    </a:cubicBezTo>
                    <a:cubicBezTo>
                      <a:pt x="10" y="36"/>
                      <a:pt x="7" y="46"/>
                      <a:pt x="6" y="47"/>
                    </a:cubicBezTo>
                    <a:cubicBezTo>
                      <a:pt x="6" y="47"/>
                      <a:pt x="5" y="49"/>
                      <a:pt x="5" y="49"/>
                    </a:cubicBezTo>
                    <a:cubicBezTo>
                      <a:pt x="4" y="50"/>
                      <a:pt x="3" y="50"/>
                      <a:pt x="3" y="52"/>
                    </a:cubicBezTo>
                    <a:cubicBezTo>
                      <a:pt x="3" y="53"/>
                      <a:pt x="2" y="55"/>
                      <a:pt x="2" y="57"/>
                    </a:cubicBezTo>
                    <a:cubicBezTo>
                      <a:pt x="2" y="59"/>
                      <a:pt x="0" y="60"/>
                      <a:pt x="2" y="61"/>
                    </a:cubicBezTo>
                    <a:cubicBezTo>
                      <a:pt x="4" y="62"/>
                      <a:pt x="4" y="61"/>
                      <a:pt x="6" y="60"/>
                    </a:cubicBezTo>
                    <a:cubicBezTo>
                      <a:pt x="8" y="58"/>
                      <a:pt x="9" y="57"/>
                      <a:pt x="9" y="58"/>
                    </a:cubicBezTo>
                    <a:cubicBezTo>
                      <a:pt x="9" y="60"/>
                      <a:pt x="10" y="60"/>
                      <a:pt x="9" y="60"/>
                    </a:cubicBezTo>
                    <a:cubicBezTo>
                      <a:pt x="8" y="61"/>
                      <a:pt x="8" y="61"/>
                      <a:pt x="8" y="61"/>
                    </a:cubicBezTo>
                    <a:cubicBezTo>
                      <a:pt x="8" y="61"/>
                      <a:pt x="8" y="62"/>
                      <a:pt x="8" y="62"/>
                    </a:cubicBezTo>
                    <a:cubicBezTo>
                      <a:pt x="7" y="62"/>
                      <a:pt x="7" y="62"/>
                      <a:pt x="7" y="63"/>
                    </a:cubicBezTo>
                    <a:cubicBezTo>
                      <a:pt x="7" y="63"/>
                      <a:pt x="7" y="62"/>
                      <a:pt x="6" y="62"/>
                    </a:cubicBezTo>
                    <a:cubicBezTo>
                      <a:pt x="4" y="62"/>
                      <a:pt x="4" y="62"/>
                      <a:pt x="5" y="63"/>
                    </a:cubicBezTo>
                    <a:cubicBezTo>
                      <a:pt x="5" y="64"/>
                      <a:pt x="4" y="66"/>
                      <a:pt x="6" y="66"/>
                    </a:cubicBezTo>
                    <a:cubicBezTo>
                      <a:pt x="8" y="65"/>
                      <a:pt x="9" y="65"/>
                      <a:pt x="10" y="64"/>
                    </a:cubicBezTo>
                    <a:cubicBezTo>
                      <a:pt x="12" y="64"/>
                      <a:pt x="13" y="64"/>
                      <a:pt x="14" y="66"/>
                    </a:cubicBezTo>
                    <a:cubicBezTo>
                      <a:pt x="14" y="67"/>
                      <a:pt x="11" y="66"/>
                      <a:pt x="11" y="66"/>
                    </a:cubicBezTo>
                    <a:cubicBezTo>
                      <a:pt x="10" y="66"/>
                      <a:pt x="9" y="65"/>
                      <a:pt x="10" y="66"/>
                    </a:cubicBezTo>
                    <a:cubicBezTo>
                      <a:pt x="11" y="68"/>
                      <a:pt x="11" y="68"/>
                      <a:pt x="11" y="69"/>
                    </a:cubicBezTo>
                    <a:cubicBezTo>
                      <a:pt x="11" y="70"/>
                      <a:pt x="11" y="71"/>
                      <a:pt x="11" y="72"/>
                    </a:cubicBezTo>
                    <a:cubicBezTo>
                      <a:pt x="11" y="73"/>
                      <a:pt x="11" y="74"/>
                      <a:pt x="11" y="77"/>
                    </a:cubicBezTo>
                    <a:cubicBezTo>
                      <a:pt x="12" y="79"/>
                      <a:pt x="11" y="86"/>
                      <a:pt x="9" y="88"/>
                    </a:cubicBezTo>
                    <a:cubicBezTo>
                      <a:pt x="7" y="91"/>
                      <a:pt x="8" y="90"/>
                      <a:pt x="12" y="89"/>
                    </a:cubicBezTo>
                    <a:cubicBezTo>
                      <a:pt x="16" y="87"/>
                      <a:pt x="15" y="88"/>
                      <a:pt x="17" y="89"/>
                    </a:cubicBezTo>
                    <a:cubicBezTo>
                      <a:pt x="18" y="89"/>
                      <a:pt x="19" y="89"/>
                      <a:pt x="20" y="89"/>
                    </a:cubicBezTo>
                    <a:cubicBezTo>
                      <a:pt x="21" y="89"/>
                      <a:pt x="21" y="89"/>
                      <a:pt x="22" y="90"/>
                    </a:cubicBezTo>
                    <a:cubicBezTo>
                      <a:pt x="23" y="90"/>
                      <a:pt x="25" y="90"/>
                      <a:pt x="27" y="89"/>
                    </a:cubicBezTo>
                    <a:cubicBezTo>
                      <a:pt x="29" y="88"/>
                      <a:pt x="29" y="88"/>
                      <a:pt x="31" y="87"/>
                    </a:cubicBezTo>
                    <a:cubicBezTo>
                      <a:pt x="31" y="87"/>
                      <a:pt x="31" y="86"/>
                      <a:pt x="31" y="86"/>
                    </a:cubicBezTo>
                    <a:cubicBezTo>
                      <a:pt x="31" y="85"/>
                      <a:pt x="31" y="85"/>
                      <a:pt x="31" y="84"/>
                    </a:cubicBezTo>
                    <a:cubicBezTo>
                      <a:pt x="31" y="84"/>
                      <a:pt x="31" y="83"/>
                      <a:pt x="30" y="8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06" name="Freeform 1118">
                <a:extLst>
                  <a:ext uri="{FF2B5EF4-FFF2-40B4-BE49-F238E27FC236}">
                    <a16:creationId xmlns:a16="http://schemas.microsoft.com/office/drawing/2014/main" id="{D186E9B7-8BD6-487B-980A-EEDDEEDF539F}"/>
                  </a:ext>
                </a:extLst>
              </p:cNvPr>
              <p:cNvSpPr>
                <a:spLocks/>
              </p:cNvSpPr>
              <p:nvPr/>
            </p:nvSpPr>
            <p:spPr bwMode="auto">
              <a:xfrm>
                <a:off x="3914" y="1281"/>
                <a:ext cx="4" cy="7"/>
              </a:xfrm>
              <a:custGeom>
                <a:avLst/>
                <a:gdLst>
                  <a:gd name="T0" fmla="*/ 1 w 3"/>
                  <a:gd name="T1" fmla="*/ 0 h 5"/>
                  <a:gd name="T2" fmla="*/ 2 w 3"/>
                  <a:gd name="T3" fmla="*/ 2 h 5"/>
                  <a:gd name="T4" fmla="*/ 3 w 3"/>
                  <a:gd name="T5" fmla="*/ 3 h 5"/>
                  <a:gd name="T6" fmla="*/ 1 w 3"/>
                  <a:gd name="T7" fmla="*/ 0 h 5"/>
                </a:gdLst>
                <a:ahLst/>
                <a:cxnLst>
                  <a:cxn ang="0">
                    <a:pos x="T0" y="T1"/>
                  </a:cxn>
                  <a:cxn ang="0">
                    <a:pos x="T2" y="T3"/>
                  </a:cxn>
                  <a:cxn ang="0">
                    <a:pos x="T4" y="T5"/>
                  </a:cxn>
                  <a:cxn ang="0">
                    <a:pos x="T6" y="T7"/>
                  </a:cxn>
                </a:cxnLst>
                <a:rect l="0" t="0" r="r" b="b"/>
                <a:pathLst>
                  <a:path w="3" h="5">
                    <a:moveTo>
                      <a:pt x="1" y="0"/>
                    </a:moveTo>
                    <a:cubicBezTo>
                      <a:pt x="1" y="1"/>
                      <a:pt x="0" y="1"/>
                      <a:pt x="2" y="2"/>
                    </a:cubicBezTo>
                    <a:cubicBezTo>
                      <a:pt x="2" y="2"/>
                      <a:pt x="3" y="5"/>
                      <a:pt x="3" y="3"/>
                    </a:cubicBezTo>
                    <a:cubicBezTo>
                      <a:pt x="3" y="1"/>
                      <a:pt x="2" y="0"/>
                      <a:pt x="1"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07" name="Freeform 1119">
                <a:extLst>
                  <a:ext uri="{FF2B5EF4-FFF2-40B4-BE49-F238E27FC236}">
                    <a16:creationId xmlns:a16="http://schemas.microsoft.com/office/drawing/2014/main" id="{A0995A1A-AB37-4114-AD0B-82A362C2B60D}"/>
                  </a:ext>
                </a:extLst>
              </p:cNvPr>
              <p:cNvSpPr>
                <a:spLocks/>
              </p:cNvSpPr>
              <p:nvPr/>
            </p:nvSpPr>
            <p:spPr bwMode="auto">
              <a:xfrm>
                <a:off x="3906" y="1275"/>
                <a:ext cx="1" cy="6"/>
              </a:xfrm>
              <a:custGeom>
                <a:avLst/>
                <a:gdLst>
                  <a:gd name="T0" fmla="*/ 1 w 1"/>
                  <a:gd name="T1" fmla="*/ 3 h 4"/>
                  <a:gd name="T2" fmla="*/ 0 w 1"/>
                  <a:gd name="T3" fmla="*/ 2 h 4"/>
                  <a:gd name="T4" fmla="*/ 1 w 1"/>
                  <a:gd name="T5" fmla="*/ 3 h 4"/>
                </a:gdLst>
                <a:ahLst/>
                <a:cxnLst>
                  <a:cxn ang="0">
                    <a:pos x="T0" y="T1"/>
                  </a:cxn>
                  <a:cxn ang="0">
                    <a:pos x="T2" y="T3"/>
                  </a:cxn>
                  <a:cxn ang="0">
                    <a:pos x="T4" y="T5"/>
                  </a:cxn>
                </a:cxnLst>
                <a:rect l="0" t="0" r="r" b="b"/>
                <a:pathLst>
                  <a:path w="1" h="4">
                    <a:moveTo>
                      <a:pt x="1" y="3"/>
                    </a:moveTo>
                    <a:cubicBezTo>
                      <a:pt x="1" y="2"/>
                      <a:pt x="0" y="0"/>
                      <a:pt x="0" y="2"/>
                    </a:cubicBezTo>
                    <a:cubicBezTo>
                      <a:pt x="0" y="2"/>
                      <a:pt x="0" y="4"/>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08" name="Freeform 1120">
                <a:extLst>
                  <a:ext uri="{FF2B5EF4-FFF2-40B4-BE49-F238E27FC236}">
                    <a16:creationId xmlns:a16="http://schemas.microsoft.com/office/drawing/2014/main" id="{7E48705F-235D-4091-8B2E-91B9C8CBE25A}"/>
                  </a:ext>
                </a:extLst>
              </p:cNvPr>
              <p:cNvSpPr>
                <a:spLocks/>
              </p:cNvSpPr>
              <p:nvPr/>
            </p:nvSpPr>
            <p:spPr bwMode="auto">
              <a:xfrm>
                <a:off x="3907" y="1271"/>
                <a:ext cx="13" cy="11"/>
              </a:xfrm>
              <a:custGeom>
                <a:avLst/>
                <a:gdLst>
                  <a:gd name="T0" fmla="*/ 9 w 9"/>
                  <a:gd name="T1" fmla="*/ 3 h 8"/>
                  <a:gd name="T2" fmla="*/ 6 w 9"/>
                  <a:gd name="T3" fmla="*/ 2 h 8"/>
                  <a:gd name="T4" fmla="*/ 4 w 9"/>
                  <a:gd name="T5" fmla="*/ 1 h 8"/>
                  <a:gd name="T6" fmla="*/ 2 w 9"/>
                  <a:gd name="T7" fmla="*/ 1 h 8"/>
                  <a:gd name="T8" fmla="*/ 1 w 9"/>
                  <a:gd name="T9" fmla="*/ 3 h 8"/>
                  <a:gd name="T10" fmla="*/ 1 w 9"/>
                  <a:gd name="T11" fmla="*/ 4 h 8"/>
                  <a:gd name="T12" fmla="*/ 5 w 9"/>
                  <a:gd name="T13" fmla="*/ 7 h 8"/>
                  <a:gd name="T14" fmla="*/ 5 w 9"/>
                  <a:gd name="T15" fmla="*/ 3 h 8"/>
                  <a:gd name="T16" fmla="*/ 7 w 9"/>
                  <a:gd name="T17" fmla="*/ 5 h 8"/>
                  <a:gd name="T18" fmla="*/ 9 w 9"/>
                  <a:gd name="T19"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8">
                    <a:moveTo>
                      <a:pt x="9" y="3"/>
                    </a:moveTo>
                    <a:cubicBezTo>
                      <a:pt x="8" y="2"/>
                      <a:pt x="7" y="2"/>
                      <a:pt x="6" y="2"/>
                    </a:cubicBezTo>
                    <a:cubicBezTo>
                      <a:pt x="5" y="2"/>
                      <a:pt x="5" y="2"/>
                      <a:pt x="4" y="1"/>
                    </a:cubicBezTo>
                    <a:cubicBezTo>
                      <a:pt x="3" y="1"/>
                      <a:pt x="3" y="0"/>
                      <a:pt x="2" y="1"/>
                    </a:cubicBezTo>
                    <a:cubicBezTo>
                      <a:pt x="2" y="3"/>
                      <a:pt x="2" y="3"/>
                      <a:pt x="1" y="3"/>
                    </a:cubicBezTo>
                    <a:cubicBezTo>
                      <a:pt x="0" y="3"/>
                      <a:pt x="1" y="4"/>
                      <a:pt x="1" y="4"/>
                    </a:cubicBezTo>
                    <a:cubicBezTo>
                      <a:pt x="2" y="6"/>
                      <a:pt x="4" y="8"/>
                      <a:pt x="5" y="7"/>
                    </a:cubicBezTo>
                    <a:cubicBezTo>
                      <a:pt x="6" y="7"/>
                      <a:pt x="5" y="5"/>
                      <a:pt x="5" y="3"/>
                    </a:cubicBezTo>
                    <a:cubicBezTo>
                      <a:pt x="5" y="2"/>
                      <a:pt x="6" y="3"/>
                      <a:pt x="7" y="5"/>
                    </a:cubicBezTo>
                    <a:cubicBezTo>
                      <a:pt x="8" y="7"/>
                      <a:pt x="9" y="4"/>
                      <a:pt x="9"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09" name="Freeform 1121">
                <a:extLst>
                  <a:ext uri="{FF2B5EF4-FFF2-40B4-BE49-F238E27FC236}">
                    <a16:creationId xmlns:a16="http://schemas.microsoft.com/office/drawing/2014/main" id="{312CC015-F50F-4931-9999-AA2BB753B568}"/>
                  </a:ext>
                </a:extLst>
              </p:cNvPr>
              <p:cNvSpPr>
                <a:spLocks/>
              </p:cNvSpPr>
              <p:nvPr/>
            </p:nvSpPr>
            <p:spPr bwMode="auto">
              <a:xfrm>
                <a:off x="3737" y="1336"/>
                <a:ext cx="10" cy="5"/>
              </a:xfrm>
              <a:custGeom>
                <a:avLst/>
                <a:gdLst>
                  <a:gd name="T0" fmla="*/ 7 w 7"/>
                  <a:gd name="T1" fmla="*/ 2 h 4"/>
                  <a:gd name="T2" fmla="*/ 5 w 7"/>
                  <a:gd name="T3" fmla="*/ 1 h 4"/>
                  <a:gd name="T4" fmla="*/ 2 w 7"/>
                  <a:gd name="T5" fmla="*/ 2 h 4"/>
                  <a:gd name="T6" fmla="*/ 3 w 7"/>
                  <a:gd name="T7" fmla="*/ 3 h 4"/>
                  <a:gd name="T8" fmla="*/ 7 w 7"/>
                  <a:gd name="T9" fmla="*/ 2 h 4"/>
                </a:gdLst>
                <a:ahLst/>
                <a:cxnLst>
                  <a:cxn ang="0">
                    <a:pos x="T0" y="T1"/>
                  </a:cxn>
                  <a:cxn ang="0">
                    <a:pos x="T2" y="T3"/>
                  </a:cxn>
                  <a:cxn ang="0">
                    <a:pos x="T4" y="T5"/>
                  </a:cxn>
                  <a:cxn ang="0">
                    <a:pos x="T6" y="T7"/>
                  </a:cxn>
                  <a:cxn ang="0">
                    <a:pos x="T8" y="T9"/>
                  </a:cxn>
                </a:cxnLst>
                <a:rect l="0" t="0" r="r" b="b"/>
                <a:pathLst>
                  <a:path w="7" h="4">
                    <a:moveTo>
                      <a:pt x="7" y="2"/>
                    </a:moveTo>
                    <a:cubicBezTo>
                      <a:pt x="7" y="0"/>
                      <a:pt x="6" y="1"/>
                      <a:pt x="5" y="1"/>
                    </a:cubicBezTo>
                    <a:cubicBezTo>
                      <a:pt x="3" y="1"/>
                      <a:pt x="2" y="2"/>
                      <a:pt x="2" y="2"/>
                    </a:cubicBezTo>
                    <a:cubicBezTo>
                      <a:pt x="2" y="2"/>
                      <a:pt x="0" y="3"/>
                      <a:pt x="3" y="3"/>
                    </a:cubicBezTo>
                    <a:cubicBezTo>
                      <a:pt x="5" y="3"/>
                      <a:pt x="7" y="4"/>
                      <a:pt x="7"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10" name="Freeform 1122">
                <a:extLst>
                  <a:ext uri="{FF2B5EF4-FFF2-40B4-BE49-F238E27FC236}">
                    <a16:creationId xmlns:a16="http://schemas.microsoft.com/office/drawing/2014/main" id="{421AEFC8-3BAC-466A-BEC5-0A888C37BA97}"/>
                  </a:ext>
                </a:extLst>
              </p:cNvPr>
              <p:cNvSpPr>
                <a:spLocks/>
              </p:cNvSpPr>
              <p:nvPr/>
            </p:nvSpPr>
            <p:spPr bwMode="auto">
              <a:xfrm>
                <a:off x="3738" y="1341"/>
                <a:ext cx="7" cy="6"/>
              </a:xfrm>
              <a:custGeom>
                <a:avLst/>
                <a:gdLst>
                  <a:gd name="T0" fmla="*/ 2 w 5"/>
                  <a:gd name="T1" fmla="*/ 3 h 4"/>
                  <a:gd name="T2" fmla="*/ 4 w 5"/>
                  <a:gd name="T3" fmla="*/ 3 h 4"/>
                  <a:gd name="T4" fmla="*/ 4 w 5"/>
                  <a:gd name="T5" fmla="*/ 1 h 4"/>
                  <a:gd name="T6" fmla="*/ 2 w 5"/>
                  <a:gd name="T7" fmla="*/ 3 h 4"/>
                </a:gdLst>
                <a:ahLst/>
                <a:cxnLst>
                  <a:cxn ang="0">
                    <a:pos x="T0" y="T1"/>
                  </a:cxn>
                  <a:cxn ang="0">
                    <a:pos x="T2" y="T3"/>
                  </a:cxn>
                  <a:cxn ang="0">
                    <a:pos x="T4" y="T5"/>
                  </a:cxn>
                  <a:cxn ang="0">
                    <a:pos x="T6" y="T7"/>
                  </a:cxn>
                </a:cxnLst>
                <a:rect l="0" t="0" r="r" b="b"/>
                <a:pathLst>
                  <a:path w="5" h="4">
                    <a:moveTo>
                      <a:pt x="2" y="3"/>
                    </a:moveTo>
                    <a:cubicBezTo>
                      <a:pt x="2" y="3"/>
                      <a:pt x="3" y="4"/>
                      <a:pt x="4" y="3"/>
                    </a:cubicBezTo>
                    <a:cubicBezTo>
                      <a:pt x="5" y="2"/>
                      <a:pt x="5" y="0"/>
                      <a:pt x="4" y="1"/>
                    </a:cubicBezTo>
                    <a:cubicBezTo>
                      <a:pt x="3" y="1"/>
                      <a:pt x="0" y="2"/>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11" name="Freeform 1123">
                <a:extLst>
                  <a:ext uri="{FF2B5EF4-FFF2-40B4-BE49-F238E27FC236}">
                    <a16:creationId xmlns:a16="http://schemas.microsoft.com/office/drawing/2014/main" id="{5C90CBA4-B6C3-47CD-953D-5FE62F383D90}"/>
                  </a:ext>
                </a:extLst>
              </p:cNvPr>
              <p:cNvSpPr>
                <a:spLocks/>
              </p:cNvSpPr>
              <p:nvPr/>
            </p:nvSpPr>
            <p:spPr bwMode="auto">
              <a:xfrm>
                <a:off x="3841" y="1362"/>
                <a:ext cx="15" cy="36"/>
              </a:xfrm>
              <a:custGeom>
                <a:avLst/>
                <a:gdLst>
                  <a:gd name="T0" fmla="*/ 2 w 11"/>
                  <a:gd name="T1" fmla="*/ 23 h 26"/>
                  <a:gd name="T2" fmla="*/ 10 w 11"/>
                  <a:gd name="T3" fmla="*/ 4 h 26"/>
                  <a:gd name="T4" fmla="*/ 9 w 11"/>
                  <a:gd name="T5" fmla="*/ 1 h 26"/>
                  <a:gd name="T6" fmla="*/ 5 w 11"/>
                  <a:gd name="T7" fmla="*/ 9 h 26"/>
                  <a:gd name="T8" fmla="*/ 1 w 11"/>
                  <a:gd name="T9" fmla="*/ 16 h 26"/>
                  <a:gd name="T10" fmla="*/ 0 w 11"/>
                  <a:gd name="T11" fmla="*/ 23 h 26"/>
                  <a:gd name="T12" fmla="*/ 2 w 11"/>
                  <a:gd name="T13" fmla="*/ 23 h 26"/>
                </a:gdLst>
                <a:ahLst/>
                <a:cxnLst>
                  <a:cxn ang="0">
                    <a:pos x="T0" y="T1"/>
                  </a:cxn>
                  <a:cxn ang="0">
                    <a:pos x="T2" y="T3"/>
                  </a:cxn>
                  <a:cxn ang="0">
                    <a:pos x="T4" y="T5"/>
                  </a:cxn>
                  <a:cxn ang="0">
                    <a:pos x="T6" y="T7"/>
                  </a:cxn>
                  <a:cxn ang="0">
                    <a:pos x="T8" y="T9"/>
                  </a:cxn>
                  <a:cxn ang="0">
                    <a:pos x="T10" y="T11"/>
                  </a:cxn>
                  <a:cxn ang="0">
                    <a:pos x="T12" y="T13"/>
                  </a:cxn>
                </a:cxnLst>
                <a:rect l="0" t="0" r="r" b="b"/>
                <a:pathLst>
                  <a:path w="11" h="26">
                    <a:moveTo>
                      <a:pt x="2" y="23"/>
                    </a:moveTo>
                    <a:cubicBezTo>
                      <a:pt x="2" y="20"/>
                      <a:pt x="8" y="6"/>
                      <a:pt x="10" y="4"/>
                    </a:cubicBezTo>
                    <a:cubicBezTo>
                      <a:pt x="11" y="2"/>
                      <a:pt x="10" y="1"/>
                      <a:pt x="9" y="1"/>
                    </a:cubicBezTo>
                    <a:cubicBezTo>
                      <a:pt x="8" y="0"/>
                      <a:pt x="6" y="6"/>
                      <a:pt x="5" y="9"/>
                    </a:cubicBezTo>
                    <a:cubicBezTo>
                      <a:pt x="4" y="12"/>
                      <a:pt x="2" y="13"/>
                      <a:pt x="1" y="16"/>
                    </a:cubicBezTo>
                    <a:cubicBezTo>
                      <a:pt x="0" y="19"/>
                      <a:pt x="0" y="20"/>
                      <a:pt x="0" y="23"/>
                    </a:cubicBezTo>
                    <a:cubicBezTo>
                      <a:pt x="1" y="26"/>
                      <a:pt x="2" y="23"/>
                      <a:pt x="2" y="2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12" name="Freeform 1124">
                <a:extLst>
                  <a:ext uri="{FF2B5EF4-FFF2-40B4-BE49-F238E27FC236}">
                    <a16:creationId xmlns:a16="http://schemas.microsoft.com/office/drawing/2014/main" id="{FA498CBA-E531-42ED-B800-01484E8DFF56}"/>
                  </a:ext>
                </a:extLst>
              </p:cNvPr>
              <p:cNvSpPr>
                <a:spLocks/>
              </p:cNvSpPr>
              <p:nvPr/>
            </p:nvSpPr>
            <p:spPr bwMode="auto">
              <a:xfrm>
                <a:off x="3874" y="1347"/>
                <a:ext cx="22" cy="30"/>
              </a:xfrm>
              <a:custGeom>
                <a:avLst/>
                <a:gdLst>
                  <a:gd name="T0" fmla="*/ 13 w 16"/>
                  <a:gd name="T1" fmla="*/ 4 h 22"/>
                  <a:gd name="T2" fmla="*/ 15 w 16"/>
                  <a:gd name="T3" fmla="*/ 3 h 22"/>
                  <a:gd name="T4" fmla="*/ 15 w 16"/>
                  <a:gd name="T5" fmla="*/ 1 h 22"/>
                  <a:gd name="T6" fmla="*/ 12 w 16"/>
                  <a:gd name="T7" fmla="*/ 0 h 22"/>
                  <a:gd name="T8" fmla="*/ 10 w 16"/>
                  <a:gd name="T9" fmla="*/ 0 h 22"/>
                  <a:gd name="T10" fmla="*/ 7 w 16"/>
                  <a:gd name="T11" fmla="*/ 1 h 22"/>
                  <a:gd name="T12" fmla="*/ 2 w 16"/>
                  <a:gd name="T13" fmla="*/ 7 h 22"/>
                  <a:gd name="T14" fmla="*/ 1 w 16"/>
                  <a:gd name="T15" fmla="*/ 14 h 22"/>
                  <a:gd name="T16" fmla="*/ 2 w 16"/>
                  <a:gd name="T17" fmla="*/ 20 h 22"/>
                  <a:gd name="T18" fmla="*/ 3 w 16"/>
                  <a:gd name="T19" fmla="*/ 21 h 22"/>
                  <a:gd name="T20" fmla="*/ 6 w 16"/>
                  <a:gd name="T21" fmla="*/ 17 h 22"/>
                  <a:gd name="T22" fmla="*/ 9 w 16"/>
                  <a:gd name="T23" fmla="*/ 16 h 22"/>
                  <a:gd name="T24" fmla="*/ 10 w 16"/>
                  <a:gd name="T25" fmla="*/ 13 h 22"/>
                  <a:gd name="T26" fmla="*/ 12 w 16"/>
                  <a:gd name="T27" fmla="*/ 12 h 22"/>
                  <a:gd name="T28" fmla="*/ 11 w 16"/>
                  <a:gd name="T29" fmla="*/ 10 h 22"/>
                  <a:gd name="T30" fmla="*/ 11 w 16"/>
                  <a:gd name="T31" fmla="*/ 9 h 22"/>
                  <a:gd name="T32" fmla="*/ 11 w 16"/>
                  <a:gd name="T33" fmla="*/ 6 h 22"/>
                  <a:gd name="T34" fmla="*/ 13 w 16"/>
                  <a:gd name="T35"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2">
                    <a:moveTo>
                      <a:pt x="13" y="4"/>
                    </a:moveTo>
                    <a:cubicBezTo>
                      <a:pt x="14" y="5"/>
                      <a:pt x="14" y="3"/>
                      <a:pt x="15" y="3"/>
                    </a:cubicBezTo>
                    <a:cubicBezTo>
                      <a:pt x="15" y="2"/>
                      <a:pt x="16" y="1"/>
                      <a:pt x="15" y="1"/>
                    </a:cubicBezTo>
                    <a:cubicBezTo>
                      <a:pt x="14" y="0"/>
                      <a:pt x="13" y="0"/>
                      <a:pt x="12" y="0"/>
                    </a:cubicBezTo>
                    <a:cubicBezTo>
                      <a:pt x="11" y="1"/>
                      <a:pt x="11" y="1"/>
                      <a:pt x="10" y="0"/>
                    </a:cubicBezTo>
                    <a:cubicBezTo>
                      <a:pt x="10" y="0"/>
                      <a:pt x="9" y="0"/>
                      <a:pt x="7" y="1"/>
                    </a:cubicBezTo>
                    <a:cubicBezTo>
                      <a:pt x="6" y="2"/>
                      <a:pt x="4" y="5"/>
                      <a:pt x="2" y="7"/>
                    </a:cubicBezTo>
                    <a:cubicBezTo>
                      <a:pt x="0" y="9"/>
                      <a:pt x="0" y="12"/>
                      <a:pt x="1" y="14"/>
                    </a:cubicBezTo>
                    <a:cubicBezTo>
                      <a:pt x="1" y="16"/>
                      <a:pt x="2" y="18"/>
                      <a:pt x="2" y="20"/>
                    </a:cubicBezTo>
                    <a:cubicBezTo>
                      <a:pt x="1" y="22"/>
                      <a:pt x="3" y="21"/>
                      <a:pt x="3" y="21"/>
                    </a:cubicBezTo>
                    <a:cubicBezTo>
                      <a:pt x="4" y="21"/>
                      <a:pt x="6" y="19"/>
                      <a:pt x="6" y="17"/>
                    </a:cubicBezTo>
                    <a:cubicBezTo>
                      <a:pt x="7" y="15"/>
                      <a:pt x="8" y="16"/>
                      <a:pt x="9" y="16"/>
                    </a:cubicBezTo>
                    <a:cubicBezTo>
                      <a:pt x="10" y="16"/>
                      <a:pt x="10" y="14"/>
                      <a:pt x="10" y="13"/>
                    </a:cubicBezTo>
                    <a:cubicBezTo>
                      <a:pt x="10" y="12"/>
                      <a:pt x="11" y="12"/>
                      <a:pt x="12" y="12"/>
                    </a:cubicBezTo>
                    <a:cubicBezTo>
                      <a:pt x="13" y="12"/>
                      <a:pt x="13" y="11"/>
                      <a:pt x="11" y="10"/>
                    </a:cubicBezTo>
                    <a:cubicBezTo>
                      <a:pt x="10" y="10"/>
                      <a:pt x="11" y="9"/>
                      <a:pt x="11" y="9"/>
                    </a:cubicBezTo>
                    <a:cubicBezTo>
                      <a:pt x="11" y="8"/>
                      <a:pt x="12" y="8"/>
                      <a:pt x="11" y="6"/>
                    </a:cubicBezTo>
                    <a:cubicBezTo>
                      <a:pt x="10" y="5"/>
                      <a:pt x="12" y="4"/>
                      <a:pt x="13"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13" name="Freeform 1125">
                <a:extLst>
                  <a:ext uri="{FF2B5EF4-FFF2-40B4-BE49-F238E27FC236}">
                    <a16:creationId xmlns:a16="http://schemas.microsoft.com/office/drawing/2014/main" id="{5291A56F-9B7E-4FD1-9F80-899D769FBD47}"/>
                  </a:ext>
                </a:extLst>
              </p:cNvPr>
              <p:cNvSpPr>
                <a:spLocks/>
              </p:cNvSpPr>
              <p:nvPr/>
            </p:nvSpPr>
            <p:spPr bwMode="auto">
              <a:xfrm>
                <a:off x="3733" y="987"/>
                <a:ext cx="266" cy="434"/>
              </a:xfrm>
              <a:custGeom>
                <a:avLst/>
                <a:gdLst>
                  <a:gd name="T0" fmla="*/ 190 w 192"/>
                  <a:gd name="T1" fmla="*/ 57 h 316"/>
                  <a:gd name="T2" fmla="*/ 185 w 192"/>
                  <a:gd name="T3" fmla="*/ 41 h 316"/>
                  <a:gd name="T4" fmla="*/ 185 w 192"/>
                  <a:gd name="T5" fmla="*/ 29 h 316"/>
                  <a:gd name="T6" fmla="*/ 135 w 192"/>
                  <a:gd name="T7" fmla="*/ 0 h 316"/>
                  <a:gd name="T8" fmla="*/ 128 w 192"/>
                  <a:gd name="T9" fmla="*/ 17 h 316"/>
                  <a:gd name="T10" fmla="*/ 100 w 192"/>
                  <a:gd name="T11" fmla="*/ 26 h 316"/>
                  <a:gd name="T12" fmla="*/ 81 w 192"/>
                  <a:gd name="T13" fmla="*/ 33 h 316"/>
                  <a:gd name="T14" fmla="*/ 77 w 192"/>
                  <a:gd name="T15" fmla="*/ 51 h 316"/>
                  <a:gd name="T16" fmla="*/ 63 w 192"/>
                  <a:gd name="T17" fmla="*/ 69 h 316"/>
                  <a:gd name="T18" fmla="*/ 50 w 192"/>
                  <a:gd name="T19" fmla="*/ 93 h 316"/>
                  <a:gd name="T20" fmla="*/ 41 w 192"/>
                  <a:gd name="T21" fmla="*/ 123 h 316"/>
                  <a:gd name="T22" fmla="*/ 21 w 192"/>
                  <a:gd name="T23" fmla="*/ 127 h 316"/>
                  <a:gd name="T24" fmla="*/ 15 w 192"/>
                  <a:gd name="T25" fmla="*/ 152 h 316"/>
                  <a:gd name="T26" fmla="*/ 15 w 192"/>
                  <a:gd name="T27" fmla="*/ 174 h 316"/>
                  <a:gd name="T28" fmla="*/ 17 w 192"/>
                  <a:gd name="T29" fmla="*/ 194 h 316"/>
                  <a:gd name="T30" fmla="*/ 18 w 192"/>
                  <a:gd name="T31" fmla="*/ 215 h 316"/>
                  <a:gd name="T32" fmla="*/ 11 w 192"/>
                  <a:gd name="T33" fmla="*/ 221 h 316"/>
                  <a:gd name="T34" fmla="*/ 8 w 192"/>
                  <a:gd name="T35" fmla="*/ 239 h 316"/>
                  <a:gd name="T36" fmla="*/ 0 w 192"/>
                  <a:gd name="T37" fmla="*/ 238 h 316"/>
                  <a:gd name="T38" fmla="*/ 5 w 192"/>
                  <a:gd name="T39" fmla="*/ 254 h 316"/>
                  <a:gd name="T40" fmla="*/ 11 w 192"/>
                  <a:gd name="T41" fmla="*/ 256 h 316"/>
                  <a:gd name="T42" fmla="*/ 9 w 192"/>
                  <a:gd name="T43" fmla="*/ 266 h 316"/>
                  <a:gd name="T44" fmla="*/ 15 w 192"/>
                  <a:gd name="T45" fmla="*/ 281 h 316"/>
                  <a:gd name="T46" fmla="*/ 26 w 192"/>
                  <a:gd name="T47" fmla="*/ 292 h 316"/>
                  <a:gd name="T48" fmla="*/ 23 w 192"/>
                  <a:gd name="T49" fmla="*/ 298 h 316"/>
                  <a:gd name="T50" fmla="*/ 27 w 192"/>
                  <a:gd name="T51" fmla="*/ 308 h 316"/>
                  <a:gd name="T52" fmla="*/ 27 w 192"/>
                  <a:gd name="T53" fmla="*/ 316 h 316"/>
                  <a:gd name="T54" fmla="*/ 51 w 192"/>
                  <a:gd name="T55" fmla="*/ 302 h 316"/>
                  <a:gd name="T56" fmla="*/ 76 w 192"/>
                  <a:gd name="T57" fmla="*/ 291 h 316"/>
                  <a:gd name="T58" fmla="*/ 80 w 192"/>
                  <a:gd name="T59" fmla="*/ 279 h 316"/>
                  <a:gd name="T60" fmla="*/ 81 w 192"/>
                  <a:gd name="T61" fmla="*/ 267 h 316"/>
                  <a:gd name="T62" fmla="*/ 83 w 192"/>
                  <a:gd name="T63" fmla="*/ 261 h 316"/>
                  <a:gd name="T64" fmla="*/ 82 w 192"/>
                  <a:gd name="T65" fmla="*/ 252 h 316"/>
                  <a:gd name="T66" fmla="*/ 79 w 192"/>
                  <a:gd name="T67" fmla="*/ 247 h 316"/>
                  <a:gd name="T68" fmla="*/ 95 w 192"/>
                  <a:gd name="T69" fmla="*/ 242 h 316"/>
                  <a:gd name="T70" fmla="*/ 100 w 192"/>
                  <a:gd name="T71" fmla="*/ 242 h 316"/>
                  <a:gd name="T72" fmla="*/ 112 w 192"/>
                  <a:gd name="T73" fmla="*/ 233 h 316"/>
                  <a:gd name="T74" fmla="*/ 105 w 192"/>
                  <a:gd name="T75" fmla="*/ 231 h 316"/>
                  <a:gd name="T76" fmla="*/ 114 w 192"/>
                  <a:gd name="T77" fmla="*/ 223 h 316"/>
                  <a:gd name="T78" fmla="*/ 110 w 192"/>
                  <a:gd name="T79" fmla="*/ 213 h 316"/>
                  <a:gd name="T80" fmla="*/ 95 w 192"/>
                  <a:gd name="T81" fmla="*/ 204 h 316"/>
                  <a:gd name="T82" fmla="*/ 89 w 192"/>
                  <a:gd name="T83" fmla="*/ 193 h 316"/>
                  <a:gd name="T84" fmla="*/ 88 w 192"/>
                  <a:gd name="T85" fmla="*/ 183 h 316"/>
                  <a:gd name="T86" fmla="*/ 89 w 192"/>
                  <a:gd name="T87" fmla="*/ 178 h 316"/>
                  <a:gd name="T88" fmla="*/ 92 w 192"/>
                  <a:gd name="T89" fmla="*/ 175 h 316"/>
                  <a:gd name="T90" fmla="*/ 99 w 192"/>
                  <a:gd name="T91" fmla="*/ 160 h 316"/>
                  <a:gd name="T92" fmla="*/ 97 w 192"/>
                  <a:gd name="T93" fmla="*/ 148 h 316"/>
                  <a:gd name="T94" fmla="*/ 103 w 192"/>
                  <a:gd name="T95" fmla="*/ 153 h 316"/>
                  <a:gd name="T96" fmla="*/ 118 w 192"/>
                  <a:gd name="T97" fmla="*/ 143 h 316"/>
                  <a:gd name="T98" fmla="*/ 128 w 192"/>
                  <a:gd name="T99" fmla="*/ 137 h 316"/>
                  <a:gd name="T100" fmla="*/ 143 w 192"/>
                  <a:gd name="T101" fmla="*/ 127 h 316"/>
                  <a:gd name="T102" fmla="*/ 153 w 192"/>
                  <a:gd name="T103" fmla="*/ 113 h 316"/>
                  <a:gd name="T104" fmla="*/ 150 w 192"/>
                  <a:gd name="T105" fmla="*/ 107 h 316"/>
                  <a:gd name="T106" fmla="*/ 155 w 192"/>
                  <a:gd name="T107" fmla="*/ 95 h 316"/>
                  <a:gd name="T108" fmla="*/ 163 w 192"/>
                  <a:gd name="T109" fmla="*/ 87 h 316"/>
                  <a:gd name="T110" fmla="*/ 166 w 192"/>
                  <a:gd name="T111" fmla="*/ 83 h 316"/>
                  <a:gd name="T112" fmla="*/ 173 w 192"/>
                  <a:gd name="T113" fmla="*/ 81 h 316"/>
                  <a:gd name="T114" fmla="*/ 192 w 192"/>
                  <a:gd name="T115" fmla="*/ 82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2" h="316">
                    <a:moveTo>
                      <a:pt x="188" y="73"/>
                    </a:moveTo>
                    <a:cubicBezTo>
                      <a:pt x="184" y="71"/>
                      <a:pt x="186" y="67"/>
                      <a:pt x="186" y="66"/>
                    </a:cubicBezTo>
                    <a:cubicBezTo>
                      <a:pt x="187" y="66"/>
                      <a:pt x="188" y="63"/>
                      <a:pt x="188" y="62"/>
                    </a:cubicBezTo>
                    <a:cubicBezTo>
                      <a:pt x="188" y="61"/>
                      <a:pt x="189" y="58"/>
                      <a:pt x="190" y="57"/>
                    </a:cubicBezTo>
                    <a:cubicBezTo>
                      <a:pt x="190" y="57"/>
                      <a:pt x="190" y="56"/>
                      <a:pt x="190" y="56"/>
                    </a:cubicBezTo>
                    <a:cubicBezTo>
                      <a:pt x="190" y="56"/>
                      <a:pt x="186" y="50"/>
                      <a:pt x="185" y="49"/>
                    </a:cubicBezTo>
                    <a:cubicBezTo>
                      <a:pt x="184" y="48"/>
                      <a:pt x="185" y="46"/>
                      <a:pt x="187" y="45"/>
                    </a:cubicBezTo>
                    <a:cubicBezTo>
                      <a:pt x="188" y="43"/>
                      <a:pt x="186" y="42"/>
                      <a:pt x="185" y="41"/>
                    </a:cubicBezTo>
                    <a:cubicBezTo>
                      <a:pt x="185" y="40"/>
                      <a:pt x="184" y="40"/>
                      <a:pt x="183" y="41"/>
                    </a:cubicBezTo>
                    <a:cubicBezTo>
                      <a:pt x="182" y="41"/>
                      <a:pt x="181" y="41"/>
                      <a:pt x="183" y="39"/>
                    </a:cubicBezTo>
                    <a:cubicBezTo>
                      <a:pt x="184" y="37"/>
                      <a:pt x="183" y="33"/>
                      <a:pt x="183" y="32"/>
                    </a:cubicBezTo>
                    <a:cubicBezTo>
                      <a:pt x="183" y="30"/>
                      <a:pt x="184" y="30"/>
                      <a:pt x="185" y="29"/>
                    </a:cubicBezTo>
                    <a:cubicBezTo>
                      <a:pt x="186" y="28"/>
                      <a:pt x="182" y="25"/>
                      <a:pt x="181" y="24"/>
                    </a:cubicBezTo>
                    <a:cubicBezTo>
                      <a:pt x="180" y="23"/>
                      <a:pt x="179" y="22"/>
                      <a:pt x="179" y="22"/>
                    </a:cubicBezTo>
                    <a:cubicBezTo>
                      <a:pt x="140" y="0"/>
                      <a:pt x="140" y="0"/>
                      <a:pt x="140" y="0"/>
                    </a:cubicBezTo>
                    <a:cubicBezTo>
                      <a:pt x="138" y="0"/>
                      <a:pt x="136" y="0"/>
                      <a:pt x="135" y="0"/>
                    </a:cubicBezTo>
                    <a:cubicBezTo>
                      <a:pt x="133" y="0"/>
                      <a:pt x="135" y="2"/>
                      <a:pt x="135" y="4"/>
                    </a:cubicBezTo>
                    <a:cubicBezTo>
                      <a:pt x="136" y="6"/>
                      <a:pt x="133" y="10"/>
                      <a:pt x="133" y="11"/>
                    </a:cubicBezTo>
                    <a:cubicBezTo>
                      <a:pt x="132" y="12"/>
                      <a:pt x="131" y="12"/>
                      <a:pt x="131" y="15"/>
                    </a:cubicBezTo>
                    <a:cubicBezTo>
                      <a:pt x="131" y="19"/>
                      <a:pt x="128" y="17"/>
                      <a:pt x="128" y="17"/>
                    </a:cubicBezTo>
                    <a:cubicBezTo>
                      <a:pt x="128" y="17"/>
                      <a:pt x="106" y="13"/>
                      <a:pt x="105" y="13"/>
                    </a:cubicBezTo>
                    <a:cubicBezTo>
                      <a:pt x="104" y="13"/>
                      <a:pt x="104" y="14"/>
                      <a:pt x="104" y="14"/>
                    </a:cubicBezTo>
                    <a:cubicBezTo>
                      <a:pt x="104" y="14"/>
                      <a:pt x="104" y="14"/>
                      <a:pt x="103" y="18"/>
                    </a:cubicBezTo>
                    <a:cubicBezTo>
                      <a:pt x="103" y="21"/>
                      <a:pt x="102" y="25"/>
                      <a:pt x="100" y="26"/>
                    </a:cubicBezTo>
                    <a:cubicBezTo>
                      <a:pt x="99" y="28"/>
                      <a:pt x="93" y="25"/>
                      <a:pt x="92" y="24"/>
                    </a:cubicBezTo>
                    <a:cubicBezTo>
                      <a:pt x="91" y="24"/>
                      <a:pt x="91" y="24"/>
                      <a:pt x="90" y="25"/>
                    </a:cubicBezTo>
                    <a:cubicBezTo>
                      <a:pt x="90" y="25"/>
                      <a:pt x="87" y="26"/>
                      <a:pt x="87" y="26"/>
                    </a:cubicBezTo>
                    <a:cubicBezTo>
                      <a:pt x="84" y="28"/>
                      <a:pt x="82" y="30"/>
                      <a:pt x="81" y="33"/>
                    </a:cubicBezTo>
                    <a:cubicBezTo>
                      <a:pt x="80" y="36"/>
                      <a:pt x="80" y="36"/>
                      <a:pt x="79" y="37"/>
                    </a:cubicBezTo>
                    <a:cubicBezTo>
                      <a:pt x="78" y="39"/>
                      <a:pt x="76" y="37"/>
                      <a:pt x="75" y="39"/>
                    </a:cubicBezTo>
                    <a:cubicBezTo>
                      <a:pt x="73" y="42"/>
                      <a:pt x="77" y="45"/>
                      <a:pt x="78" y="46"/>
                    </a:cubicBezTo>
                    <a:cubicBezTo>
                      <a:pt x="79" y="47"/>
                      <a:pt x="77" y="50"/>
                      <a:pt x="77" y="51"/>
                    </a:cubicBezTo>
                    <a:cubicBezTo>
                      <a:pt x="77" y="51"/>
                      <a:pt x="71" y="57"/>
                      <a:pt x="70" y="58"/>
                    </a:cubicBezTo>
                    <a:cubicBezTo>
                      <a:pt x="69" y="59"/>
                      <a:pt x="66" y="62"/>
                      <a:pt x="65" y="63"/>
                    </a:cubicBezTo>
                    <a:cubicBezTo>
                      <a:pt x="63" y="64"/>
                      <a:pt x="63" y="67"/>
                      <a:pt x="64" y="67"/>
                    </a:cubicBezTo>
                    <a:cubicBezTo>
                      <a:pt x="64" y="68"/>
                      <a:pt x="63" y="69"/>
                      <a:pt x="63" y="69"/>
                    </a:cubicBezTo>
                    <a:cubicBezTo>
                      <a:pt x="63" y="69"/>
                      <a:pt x="52" y="73"/>
                      <a:pt x="51" y="73"/>
                    </a:cubicBezTo>
                    <a:cubicBezTo>
                      <a:pt x="50" y="74"/>
                      <a:pt x="50" y="74"/>
                      <a:pt x="50" y="75"/>
                    </a:cubicBezTo>
                    <a:cubicBezTo>
                      <a:pt x="51" y="77"/>
                      <a:pt x="52" y="79"/>
                      <a:pt x="51" y="81"/>
                    </a:cubicBezTo>
                    <a:cubicBezTo>
                      <a:pt x="51" y="83"/>
                      <a:pt x="50" y="89"/>
                      <a:pt x="50" y="93"/>
                    </a:cubicBezTo>
                    <a:cubicBezTo>
                      <a:pt x="49" y="97"/>
                      <a:pt x="41" y="105"/>
                      <a:pt x="40" y="106"/>
                    </a:cubicBezTo>
                    <a:cubicBezTo>
                      <a:pt x="39" y="108"/>
                      <a:pt x="40" y="109"/>
                      <a:pt x="40" y="111"/>
                    </a:cubicBezTo>
                    <a:cubicBezTo>
                      <a:pt x="41" y="114"/>
                      <a:pt x="43" y="113"/>
                      <a:pt x="43" y="117"/>
                    </a:cubicBezTo>
                    <a:cubicBezTo>
                      <a:pt x="44" y="120"/>
                      <a:pt x="43" y="122"/>
                      <a:pt x="41" y="123"/>
                    </a:cubicBezTo>
                    <a:cubicBezTo>
                      <a:pt x="39" y="125"/>
                      <a:pt x="33" y="124"/>
                      <a:pt x="32" y="123"/>
                    </a:cubicBezTo>
                    <a:cubicBezTo>
                      <a:pt x="31" y="123"/>
                      <a:pt x="29" y="123"/>
                      <a:pt x="29" y="123"/>
                    </a:cubicBezTo>
                    <a:cubicBezTo>
                      <a:pt x="29" y="123"/>
                      <a:pt x="24" y="125"/>
                      <a:pt x="23" y="126"/>
                    </a:cubicBezTo>
                    <a:cubicBezTo>
                      <a:pt x="22" y="126"/>
                      <a:pt x="21" y="127"/>
                      <a:pt x="21" y="127"/>
                    </a:cubicBezTo>
                    <a:cubicBezTo>
                      <a:pt x="21" y="128"/>
                      <a:pt x="16" y="133"/>
                      <a:pt x="16" y="134"/>
                    </a:cubicBezTo>
                    <a:cubicBezTo>
                      <a:pt x="15" y="135"/>
                      <a:pt x="14" y="138"/>
                      <a:pt x="13" y="140"/>
                    </a:cubicBezTo>
                    <a:cubicBezTo>
                      <a:pt x="11" y="143"/>
                      <a:pt x="14" y="145"/>
                      <a:pt x="15" y="147"/>
                    </a:cubicBezTo>
                    <a:cubicBezTo>
                      <a:pt x="16" y="148"/>
                      <a:pt x="15" y="151"/>
                      <a:pt x="15" y="152"/>
                    </a:cubicBezTo>
                    <a:cubicBezTo>
                      <a:pt x="15" y="154"/>
                      <a:pt x="15" y="155"/>
                      <a:pt x="14" y="157"/>
                    </a:cubicBezTo>
                    <a:cubicBezTo>
                      <a:pt x="13" y="159"/>
                      <a:pt x="16" y="163"/>
                      <a:pt x="17" y="163"/>
                    </a:cubicBezTo>
                    <a:cubicBezTo>
                      <a:pt x="17" y="164"/>
                      <a:pt x="17" y="166"/>
                      <a:pt x="17" y="167"/>
                    </a:cubicBezTo>
                    <a:cubicBezTo>
                      <a:pt x="17" y="168"/>
                      <a:pt x="16" y="170"/>
                      <a:pt x="15" y="174"/>
                    </a:cubicBezTo>
                    <a:cubicBezTo>
                      <a:pt x="15" y="177"/>
                      <a:pt x="13" y="175"/>
                      <a:pt x="20" y="182"/>
                    </a:cubicBezTo>
                    <a:cubicBezTo>
                      <a:pt x="27" y="188"/>
                      <a:pt x="23" y="191"/>
                      <a:pt x="23" y="192"/>
                    </a:cubicBezTo>
                    <a:cubicBezTo>
                      <a:pt x="23" y="193"/>
                      <a:pt x="21" y="193"/>
                      <a:pt x="21" y="193"/>
                    </a:cubicBezTo>
                    <a:cubicBezTo>
                      <a:pt x="21" y="193"/>
                      <a:pt x="19" y="193"/>
                      <a:pt x="17" y="194"/>
                    </a:cubicBezTo>
                    <a:cubicBezTo>
                      <a:pt x="16" y="194"/>
                      <a:pt x="16" y="195"/>
                      <a:pt x="16" y="195"/>
                    </a:cubicBezTo>
                    <a:cubicBezTo>
                      <a:pt x="17" y="199"/>
                      <a:pt x="20" y="203"/>
                      <a:pt x="21" y="204"/>
                    </a:cubicBezTo>
                    <a:cubicBezTo>
                      <a:pt x="21" y="204"/>
                      <a:pt x="21" y="206"/>
                      <a:pt x="21" y="206"/>
                    </a:cubicBezTo>
                    <a:cubicBezTo>
                      <a:pt x="21" y="206"/>
                      <a:pt x="18" y="214"/>
                      <a:pt x="18" y="215"/>
                    </a:cubicBezTo>
                    <a:cubicBezTo>
                      <a:pt x="18" y="216"/>
                      <a:pt x="17" y="217"/>
                      <a:pt x="17" y="217"/>
                    </a:cubicBezTo>
                    <a:cubicBezTo>
                      <a:pt x="17" y="217"/>
                      <a:pt x="12" y="218"/>
                      <a:pt x="11" y="219"/>
                    </a:cubicBezTo>
                    <a:cubicBezTo>
                      <a:pt x="10" y="219"/>
                      <a:pt x="11" y="219"/>
                      <a:pt x="10" y="220"/>
                    </a:cubicBezTo>
                    <a:cubicBezTo>
                      <a:pt x="10" y="220"/>
                      <a:pt x="11" y="221"/>
                      <a:pt x="11" y="221"/>
                    </a:cubicBezTo>
                    <a:cubicBezTo>
                      <a:pt x="11" y="221"/>
                      <a:pt x="10" y="223"/>
                      <a:pt x="9" y="224"/>
                    </a:cubicBezTo>
                    <a:cubicBezTo>
                      <a:pt x="8" y="224"/>
                      <a:pt x="8" y="226"/>
                      <a:pt x="8" y="226"/>
                    </a:cubicBezTo>
                    <a:cubicBezTo>
                      <a:pt x="8" y="226"/>
                      <a:pt x="9" y="230"/>
                      <a:pt x="9" y="232"/>
                    </a:cubicBezTo>
                    <a:cubicBezTo>
                      <a:pt x="9" y="234"/>
                      <a:pt x="8" y="238"/>
                      <a:pt x="8" y="239"/>
                    </a:cubicBezTo>
                    <a:cubicBezTo>
                      <a:pt x="7" y="240"/>
                      <a:pt x="6" y="240"/>
                      <a:pt x="6" y="240"/>
                    </a:cubicBezTo>
                    <a:cubicBezTo>
                      <a:pt x="6" y="239"/>
                      <a:pt x="2" y="238"/>
                      <a:pt x="1" y="237"/>
                    </a:cubicBezTo>
                    <a:cubicBezTo>
                      <a:pt x="1" y="237"/>
                      <a:pt x="1" y="237"/>
                      <a:pt x="0" y="237"/>
                    </a:cubicBezTo>
                    <a:cubicBezTo>
                      <a:pt x="0" y="237"/>
                      <a:pt x="0" y="238"/>
                      <a:pt x="0" y="238"/>
                    </a:cubicBezTo>
                    <a:cubicBezTo>
                      <a:pt x="0" y="239"/>
                      <a:pt x="0" y="248"/>
                      <a:pt x="1" y="251"/>
                    </a:cubicBezTo>
                    <a:cubicBezTo>
                      <a:pt x="2" y="254"/>
                      <a:pt x="2" y="253"/>
                      <a:pt x="2" y="253"/>
                    </a:cubicBezTo>
                    <a:cubicBezTo>
                      <a:pt x="3" y="252"/>
                      <a:pt x="3" y="254"/>
                      <a:pt x="3" y="254"/>
                    </a:cubicBezTo>
                    <a:cubicBezTo>
                      <a:pt x="4" y="254"/>
                      <a:pt x="5" y="256"/>
                      <a:pt x="5" y="254"/>
                    </a:cubicBezTo>
                    <a:cubicBezTo>
                      <a:pt x="6" y="252"/>
                      <a:pt x="7" y="250"/>
                      <a:pt x="8" y="251"/>
                    </a:cubicBezTo>
                    <a:cubicBezTo>
                      <a:pt x="8" y="252"/>
                      <a:pt x="7" y="252"/>
                      <a:pt x="7" y="253"/>
                    </a:cubicBezTo>
                    <a:cubicBezTo>
                      <a:pt x="6" y="253"/>
                      <a:pt x="5" y="254"/>
                      <a:pt x="7" y="254"/>
                    </a:cubicBezTo>
                    <a:cubicBezTo>
                      <a:pt x="10" y="254"/>
                      <a:pt x="11" y="254"/>
                      <a:pt x="11" y="256"/>
                    </a:cubicBezTo>
                    <a:cubicBezTo>
                      <a:pt x="10" y="258"/>
                      <a:pt x="9" y="259"/>
                      <a:pt x="9" y="260"/>
                    </a:cubicBezTo>
                    <a:cubicBezTo>
                      <a:pt x="9" y="261"/>
                      <a:pt x="9" y="263"/>
                      <a:pt x="9" y="263"/>
                    </a:cubicBezTo>
                    <a:cubicBezTo>
                      <a:pt x="8" y="264"/>
                      <a:pt x="8" y="265"/>
                      <a:pt x="9" y="265"/>
                    </a:cubicBezTo>
                    <a:cubicBezTo>
                      <a:pt x="10" y="265"/>
                      <a:pt x="10" y="265"/>
                      <a:pt x="9" y="266"/>
                    </a:cubicBezTo>
                    <a:cubicBezTo>
                      <a:pt x="9" y="266"/>
                      <a:pt x="8" y="267"/>
                      <a:pt x="10" y="269"/>
                    </a:cubicBezTo>
                    <a:cubicBezTo>
                      <a:pt x="12" y="270"/>
                      <a:pt x="11" y="270"/>
                      <a:pt x="11" y="271"/>
                    </a:cubicBezTo>
                    <a:cubicBezTo>
                      <a:pt x="11" y="272"/>
                      <a:pt x="11" y="275"/>
                      <a:pt x="13" y="276"/>
                    </a:cubicBezTo>
                    <a:cubicBezTo>
                      <a:pt x="15" y="278"/>
                      <a:pt x="14" y="280"/>
                      <a:pt x="15" y="281"/>
                    </a:cubicBezTo>
                    <a:cubicBezTo>
                      <a:pt x="16" y="282"/>
                      <a:pt x="18" y="284"/>
                      <a:pt x="19" y="285"/>
                    </a:cubicBezTo>
                    <a:cubicBezTo>
                      <a:pt x="20" y="286"/>
                      <a:pt x="21" y="287"/>
                      <a:pt x="21" y="287"/>
                    </a:cubicBezTo>
                    <a:cubicBezTo>
                      <a:pt x="22" y="288"/>
                      <a:pt x="23" y="289"/>
                      <a:pt x="24" y="290"/>
                    </a:cubicBezTo>
                    <a:cubicBezTo>
                      <a:pt x="25" y="290"/>
                      <a:pt x="26" y="291"/>
                      <a:pt x="26" y="292"/>
                    </a:cubicBezTo>
                    <a:cubicBezTo>
                      <a:pt x="26" y="293"/>
                      <a:pt x="25" y="293"/>
                      <a:pt x="24" y="294"/>
                    </a:cubicBezTo>
                    <a:cubicBezTo>
                      <a:pt x="22" y="294"/>
                      <a:pt x="22" y="293"/>
                      <a:pt x="22" y="294"/>
                    </a:cubicBezTo>
                    <a:cubicBezTo>
                      <a:pt x="22" y="295"/>
                      <a:pt x="23" y="295"/>
                      <a:pt x="23" y="295"/>
                    </a:cubicBezTo>
                    <a:cubicBezTo>
                      <a:pt x="24" y="296"/>
                      <a:pt x="24" y="299"/>
                      <a:pt x="23" y="298"/>
                    </a:cubicBezTo>
                    <a:cubicBezTo>
                      <a:pt x="22" y="297"/>
                      <a:pt x="20" y="296"/>
                      <a:pt x="20" y="297"/>
                    </a:cubicBezTo>
                    <a:cubicBezTo>
                      <a:pt x="21" y="298"/>
                      <a:pt x="22" y="301"/>
                      <a:pt x="23" y="302"/>
                    </a:cubicBezTo>
                    <a:cubicBezTo>
                      <a:pt x="24" y="303"/>
                      <a:pt x="24" y="305"/>
                      <a:pt x="24" y="305"/>
                    </a:cubicBezTo>
                    <a:cubicBezTo>
                      <a:pt x="25" y="306"/>
                      <a:pt x="26" y="307"/>
                      <a:pt x="27" y="308"/>
                    </a:cubicBezTo>
                    <a:cubicBezTo>
                      <a:pt x="27" y="309"/>
                      <a:pt x="29" y="310"/>
                      <a:pt x="28" y="310"/>
                    </a:cubicBezTo>
                    <a:cubicBezTo>
                      <a:pt x="27" y="311"/>
                      <a:pt x="26" y="311"/>
                      <a:pt x="27" y="312"/>
                    </a:cubicBezTo>
                    <a:cubicBezTo>
                      <a:pt x="27" y="314"/>
                      <a:pt x="27" y="315"/>
                      <a:pt x="26" y="315"/>
                    </a:cubicBezTo>
                    <a:cubicBezTo>
                      <a:pt x="26" y="315"/>
                      <a:pt x="25" y="316"/>
                      <a:pt x="27" y="316"/>
                    </a:cubicBezTo>
                    <a:cubicBezTo>
                      <a:pt x="29" y="315"/>
                      <a:pt x="45" y="315"/>
                      <a:pt x="45" y="315"/>
                    </a:cubicBezTo>
                    <a:cubicBezTo>
                      <a:pt x="45" y="315"/>
                      <a:pt x="46" y="315"/>
                      <a:pt x="47" y="314"/>
                    </a:cubicBezTo>
                    <a:cubicBezTo>
                      <a:pt x="47" y="312"/>
                      <a:pt x="47" y="312"/>
                      <a:pt x="47" y="311"/>
                    </a:cubicBezTo>
                    <a:cubicBezTo>
                      <a:pt x="46" y="309"/>
                      <a:pt x="43" y="304"/>
                      <a:pt x="51" y="302"/>
                    </a:cubicBezTo>
                    <a:cubicBezTo>
                      <a:pt x="58" y="300"/>
                      <a:pt x="63" y="299"/>
                      <a:pt x="65" y="299"/>
                    </a:cubicBezTo>
                    <a:cubicBezTo>
                      <a:pt x="66" y="298"/>
                      <a:pt x="67" y="299"/>
                      <a:pt x="68" y="299"/>
                    </a:cubicBezTo>
                    <a:cubicBezTo>
                      <a:pt x="69" y="300"/>
                      <a:pt x="69" y="302"/>
                      <a:pt x="71" y="299"/>
                    </a:cubicBezTo>
                    <a:cubicBezTo>
                      <a:pt x="73" y="297"/>
                      <a:pt x="74" y="293"/>
                      <a:pt x="76" y="291"/>
                    </a:cubicBezTo>
                    <a:cubicBezTo>
                      <a:pt x="78" y="289"/>
                      <a:pt x="79" y="286"/>
                      <a:pt x="78" y="286"/>
                    </a:cubicBezTo>
                    <a:cubicBezTo>
                      <a:pt x="78" y="287"/>
                      <a:pt x="78" y="285"/>
                      <a:pt x="78" y="283"/>
                    </a:cubicBezTo>
                    <a:cubicBezTo>
                      <a:pt x="78" y="282"/>
                      <a:pt x="78" y="281"/>
                      <a:pt x="79" y="281"/>
                    </a:cubicBezTo>
                    <a:cubicBezTo>
                      <a:pt x="80" y="281"/>
                      <a:pt x="80" y="280"/>
                      <a:pt x="80" y="279"/>
                    </a:cubicBezTo>
                    <a:cubicBezTo>
                      <a:pt x="79" y="277"/>
                      <a:pt x="79" y="275"/>
                      <a:pt x="80" y="274"/>
                    </a:cubicBezTo>
                    <a:cubicBezTo>
                      <a:pt x="82" y="273"/>
                      <a:pt x="83" y="271"/>
                      <a:pt x="81" y="270"/>
                    </a:cubicBezTo>
                    <a:cubicBezTo>
                      <a:pt x="79" y="268"/>
                      <a:pt x="80" y="269"/>
                      <a:pt x="81" y="268"/>
                    </a:cubicBezTo>
                    <a:cubicBezTo>
                      <a:pt x="81" y="268"/>
                      <a:pt x="81" y="268"/>
                      <a:pt x="81" y="267"/>
                    </a:cubicBezTo>
                    <a:cubicBezTo>
                      <a:pt x="81" y="267"/>
                      <a:pt x="81" y="267"/>
                      <a:pt x="82" y="267"/>
                    </a:cubicBezTo>
                    <a:cubicBezTo>
                      <a:pt x="82" y="267"/>
                      <a:pt x="83" y="267"/>
                      <a:pt x="82" y="266"/>
                    </a:cubicBezTo>
                    <a:cubicBezTo>
                      <a:pt x="81" y="264"/>
                      <a:pt x="78" y="262"/>
                      <a:pt x="81" y="262"/>
                    </a:cubicBezTo>
                    <a:cubicBezTo>
                      <a:pt x="84" y="263"/>
                      <a:pt x="84" y="262"/>
                      <a:pt x="83" y="261"/>
                    </a:cubicBezTo>
                    <a:cubicBezTo>
                      <a:pt x="82" y="260"/>
                      <a:pt x="82" y="260"/>
                      <a:pt x="82" y="260"/>
                    </a:cubicBezTo>
                    <a:cubicBezTo>
                      <a:pt x="83" y="259"/>
                      <a:pt x="85" y="255"/>
                      <a:pt x="84" y="254"/>
                    </a:cubicBezTo>
                    <a:cubicBezTo>
                      <a:pt x="83" y="253"/>
                      <a:pt x="82" y="253"/>
                      <a:pt x="82" y="253"/>
                    </a:cubicBezTo>
                    <a:cubicBezTo>
                      <a:pt x="83" y="253"/>
                      <a:pt x="84" y="253"/>
                      <a:pt x="82" y="252"/>
                    </a:cubicBezTo>
                    <a:cubicBezTo>
                      <a:pt x="81" y="251"/>
                      <a:pt x="77" y="250"/>
                      <a:pt x="79" y="250"/>
                    </a:cubicBezTo>
                    <a:cubicBezTo>
                      <a:pt x="81" y="251"/>
                      <a:pt x="84" y="252"/>
                      <a:pt x="85" y="251"/>
                    </a:cubicBezTo>
                    <a:cubicBezTo>
                      <a:pt x="86" y="250"/>
                      <a:pt x="85" y="250"/>
                      <a:pt x="84" y="249"/>
                    </a:cubicBezTo>
                    <a:cubicBezTo>
                      <a:pt x="84" y="248"/>
                      <a:pt x="80" y="247"/>
                      <a:pt x="79" y="247"/>
                    </a:cubicBezTo>
                    <a:cubicBezTo>
                      <a:pt x="78" y="247"/>
                      <a:pt x="77" y="248"/>
                      <a:pt x="76" y="247"/>
                    </a:cubicBezTo>
                    <a:cubicBezTo>
                      <a:pt x="75" y="246"/>
                      <a:pt x="76" y="246"/>
                      <a:pt x="78" y="246"/>
                    </a:cubicBezTo>
                    <a:cubicBezTo>
                      <a:pt x="80" y="247"/>
                      <a:pt x="83" y="247"/>
                      <a:pt x="85" y="247"/>
                    </a:cubicBezTo>
                    <a:cubicBezTo>
                      <a:pt x="86" y="246"/>
                      <a:pt x="94" y="245"/>
                      <a:pt x="95" y="242"/>
                    </a:cubicBezTo>
                    <a:cubicBezTo>
                      <a:pt x="96" y="239"/>
                      <a:pt x="96" y="240"/>
                      <a:pt x="96" y="240"/>
                    </a:cubicBezTo>
                    <a:cubicBezTo>
                      <a:pt x="97" y="241"/>
                      <a:pt x="97" y="241"/>
                      <a:pt x="97" y="240"/>
                    </a:cubicBezTo>
                    <a:cubicBezTo>
                      <a:pt x="97" y="238"/>
                      <a:pt x="98" y="233"/>
                      <a:pt x="98" y="237"/>
                    </a:cubicBezTo>
                    <a:cubicBezTo>
                      <a:pt x="98" y="241"/>
                      <a:pt x="99" y="243"/>
                      <a:pt x="100" y="242"/>
                    </a:cubicBezTo>
                    <a:cubicBezTo>
                      <a:pt x="102" y="240"/>
                      <a:pt x="103" y="239"/>
                      <a:pt x="105" y="238"/>
                    </a:cubicBezTo>
                    <a:cubicBezTo>
                      <a:pt x="106" y="237"/>
                      <a:pt x="109" y="236"/>
                      <a:pt x="108" y="235"/>
                    </a:cubicBezTo>
                    <a:cubicBezTo>
                      <a:pt x="107" y="233"/>
                      <a:pt x="106" y="232"/>
                      <a:pt x="108" y="233"/>
                    </a:cubicBezTo>
                    <a:cubicBezTo>
                      <a:pt x="109" y="234"/>
                      <a:pt x="111" y="234"/>
                      <a:pt x="112" y="233"/>
                    </a:cubicBezTo>
                    <a:cubicBezTo>
                      <a:pt x="112" y="232"/>
                      <a:pt x="112" y="232"/>
                      <a:pt x="111" y="231"/>
                    </a:cubicBezTo>
                    <a:cubicBezTo>
                      <a:pt x="110" y="230"/>
                      <a:pt x="107" y="229"/>
                      <a:pt x="108" y="230"/>
                    </a:cubicBezTo>
                    <a:cubicBezTo>
                      <a:pt x="108" y="231"/>
                      <a:pt x="108" y="231"/>
                      <a:pt x="107" y="231"/>
                    </a:cubicBezTo>
                    <a:cubicBezTo>
                      <a:pt x="107" y="231"/>
                      <a:pt x="105" y="231"/>
                      <a:pt x="105" y="231"/>
                    </a:cubicBezTo>
                    <a:cubicBezTo>
                      <a:pt x="104" y="231"/>
                      <a:pt x="103" y="230"/>
                      <a:pt x="104" y="230"/>
                    </a:cubicBezTo>
                    <a:cubicBezTo>
                      <a:pt x="105" y="230"/>
                      <a:pt x="107" y="231"/>
                      <a:pt x="106" y="230"/>
                    </a:cubicBezTo>
                    <a:cubicBezTo>
                      <a:pt x="106" y="229"/>
                      <a:pt x="105" y="229"/>
                      <a:pt x="106" y="228"/>
                    </a:cubicBezTo>
                    <a:cubicBezTo>
                      <a:pt x="108" y="228"/>
                      <a:pt x="113" y="223"/>
                      <a:pt x="114" y="223"/>
                    </a:cubicBezTo>
                    <a:cubicBezTo>
                      <a:pt x="116" y="222"/>
                      <a:pt x="118" y="222"/>
                      <a:pt x="116" y="220"/>
                    </a:cubicBezTo>
                    <a:cubicBezTo>
                      <a:pt x="115" y="218"/>
                      <a:pt x="115" y="216"/>
                      <a:pt x="114" y="215"/>
                    </a:cubicBezTo>
                    <a:cubicBezTo>
                      <a:pt x="114" y="215"/>
                      <a:pt x="114" y="214"/>
                      <a:pt x="112" y="214"/>
                    </a:cubicBezTo>
                    <a:cubicBezTo>
                      <a:pt x="110" y="214"/>
                      <a:pt x="109" y="214"/>
                      <a:pt x="110" y="213"/>
                    </a:cubicBezTo>
                    <a:cubicBezTo>
                      <a:pt x="111" y="212"/>
                      <a:pt x="110" y="210"/>
                      <a:pt x="109" y="210"/>
                    </a:cubicBezTo>
                    <a:cubicBezTo>
                      <a:pt x="109" y="209"/>
                      <a:pt x="103" y="206"/>
                      <a:pt x="102" y="205"/>
                    </a:cubicBezTo>
                    <a:cubicBezTo>
                      <a:pt x="101" y="204"/>
                      <a:pt x="101" y="203"/>
                      <a:pt x="99" y="204"/>
                    </a:cubicBezTo>
                    <a:cubicBezTo>
                      <a:pt x="97" y="205"/>
                      <a:pt x="96" y="205"/>
                      <a:pt x="95" y="204"/>
                    </a:cubicBezTo>
                    <a:cubicBezTo>
                      <a:pt x="93" y="202"/>
                      <a:pt x="92" y="202"/>
                      <a:pt x="91" y="201"/>
                    </a:cubicBezTo>
                    <a:cubicBezTo>
                      <a:pt x="90" y="201"/>
                      <a:pt x="89" y="201"/>
                      <a:pt x="90" y="201"/>
                    </a:cubicBezTo>
                    <a:cubicBezTo>
                      <a:pt x="91" y="200"/>
                      <a:pt x="92" y="200"/>
                      <a:pt x="91" y="199"/>
                    </a:cubicBezTo>
                    <a:cubicBezTo>
                      <a:pt x="90" y="198"/>
                      <a:pt x="89" y="195"/>
                      <a:pt x="89" y="193"/>
                    </a:cubicBezTo>
                    <a:cubicBezTo>
                      <a:pt x="89" y="190"/>
                      <a:pt x="88" y="187"/>
                      <a:pt x="89" y="188"/>
                    </a:cubicBezTo>
                    <a:cubicBezTo>
                      <a:pt x="90" y="188"/>
                      <a:pt x="90" y="188"/>
                      <a:pt x="89" y="187"/>
                    </a:cubicBezTo>
                    <a:cubicBezTo>
                      <a:pt x="88" y="185"/>
                      <a:pt x="88" y="186"/>
                      <a:pt x="89" y="185"/>
                    </a:cubicBezTo>
                    <a:cubicBezTo>
                      <a:pt x="89" y="184"/>
                      <a:pt x="89" y="183"/>
                      <a:pt x="88" y="183"/>
                    </a:cubicBezTo>
                    <a:cubicBezTo>
                      <a:pt x="88" y="182"/>
                      <a:pt x="88" y="182"/>
                      <a:pt x="89" y="182"/>
                    </a:cubicBezTo>
                    <a:cubicBezTo>
                      <a:pt x="90" y="182"/>
                      <a:pt x="89" y="181"/>
                      <a:pt x="89" y="180"/>
                    </a:cubicBezTo>
                    <a:cubicBezTo>
                      <a:pt x="88" y="180"/>
                      <a:pt x="89" y="180"/>
                      <a:pt x="89" y="179"/>
                    </a:cubicBezTo>
                    <a:cubicBezTo>
                      <a:pt x="90" y="179"/>
                      <a:pt x="89" y="179"/>
                      <a:pt x="89" y="178"/>
                    </a:cubicBezTo>
                    <a:cubicBezTo>
                      <a:pt x="89" y="178"/>
                      <a:pt x="89" y="178"/>
                      <a:pt x="90" y="178"/>
                    </a:cubicBezTo>
                    <a:cubicBezTo>
                      <a:pt x="91" y="178"/>
                      <a:pt x="92" y="178"/>
                      <a:pt x="93" y="179"/>
                    </a:cubicBezTo>
                    <a:cubicBezTo>
                      <a:pt x="93" y="180"/>
                      <a:pt x="93" y="180"/>
                      <a:pt x="93" y="178"/>
                    </a:cubicBezTo>
                    <a:cubicBezTo>
                      <a:pt x="92" y="177"/>
                      <a:pt x="91" y="176"/>
                      <a:pt x="92" y="175"/>
                    </a:cubicBezTo>
                    <a:cubicBezTo>
                      <a:pt x="92" y="173"/>
                      <a:pt x="94" y="169"/>
                      <a:pt x="94" y="167"/>
                    </a:cubicBezTo>
                    <a:cubicBezTo>
                      <a:pt x="93" y="164"/>
                      <a:pt x="92" y="164"/>
                      <a:pt x="92" y="163"/>
                    </a:cubicBezTo>
                    <a:cubicBezTo>
                      <a:pt x="92" y="161"/>
                      <a:pt x="92" y="160"/>
                      <a:pt x="94" y="161"/>
                    </a:cubicBezTo>
                    <a:cubicBezTo>
                      <a:pt x="96" y="162"/>
                      <a:pt x="98" y="162"/>
                      <a:pt x="99" y="160"/>
                    </a:cubicBezTo>
                    <a:cubicBezTo>
                      <a:pt x="99" y="158"/>
                      <a:pt x="100" y="157"/>
                      <a:pt x="100" y="156"/>
                    </a:cubicBezTo>
                    <a:cubicBezTo>
                      <a:pt x="101" y="155"/>
                      <a:pt x="101" y="154"/>
                      <a:pt x="100" y="153"/>
                    </a:cubicBezTo>
                    <a:cubicBezTo>
                      <a:pt x="99" y="152"/>
                      <a:pt x="100" y="152"/>
                      <a:pt x="99" y="151"/>
                    </a:cubicBezTo>
                    <a:cubicBezTo>
                      <a:pt x="98" y="150"/>
                      <a:pt x="96" y="149"/>
                      <a:pt x="97" y="148"/>
                    </a:cubicBezTo>
                    <a:cubicBezTo>
                      <a:pt x="98" y="147"/>
                      <a:pt x="98" y="147"/>
                      <a:pt x="99" y="149"/>
                    </a:cubicBezTo>
                    <a:cubicBezTo>
                      <a:pt x="99" y="150"/>
                      <a:pt x="100" y="150"/>
                      <a:pt x="100" y="151"/>
                    </a:cubicBezTo>
                    <a:cubicBezTo>
                      <a:pt x="100" y="152"/>
                      <a:pt x="100" y="153"/>
                      <a:pt x="102" y="153"/>
                    </a:cubicBezTo>
                    <a:cubicBezTo>
                      <a:pt x="103" y="153"/>
                      <a:pt x="104" y="152"/>
                      <a:pt x="103" y="153"/>
                    </a:cubicBezTo>
                    <a:cubicBezTo>
                      <a:pt x="103" y="154"/>
                      <a:pt x="104" y="153"/>
                      <a:pt x="104" y="152"/>
                    </a:cubicBezTo>
                    <a:cubicBezTo>
                      <a:pt x="105" y="151"/>
                      <a:pt x="105" y="149"/>
                      <a:pt x="107" y="147"/>
                    </a:cubicBezTo>
                    <a:cubicBezTo>
                      <a:pt x="109" y="146"/>
                      <a:pt x="114" y="144"/>
                      <a:pt x="115" y="144"/>
                    </a:cubicBezTo>
                    <a:cubicBezTo>
                      <a:pt x="116" y="144"/>
                      <a:pt x="117" y="144"/>
                      <a:pt x="118" y="143"/>
                    </a:cubicBezTo>
                    <a:cubicBezTo>
                      <a:pt x="118" y="141"/>
                      <a:pt x="120" y="138"/>
                      <a:pt x="122" y="138"/>
                    </a:cubicBezTo>
                    <a:cubicBezTo>
                      <a:pt x="124" y="138"/>
                      <a:pt x="124" y="138"/>
                      <a:pt x="123" y="137"/>
                    </a:cubicBezTo>
                    <a:cubicBezTo>
                      <a:pt x="123" y="135"/>
                      <a:pt x="123" y="135"/>
                      <a:pt x="124" y="136"/>
                    </a:cubicBezTo>
                    <a:cubicBezTo>
                      <a:pt x="126" y="137"/>
                      <a:pt x="127" y="138"/>
                      <a:pt x="128" y="137"/>
                    </a:cubicBezTo>
                    <a:cubicBezTo>
                      <a:pt x="130" y="136"/>
                      <a:pt x="135" y="132"/>
                      <a:pt x="136" y="132"/>
                    </a:cubicBezTo>
                    <a:cubicBezTo>
                      <a:pt x="138" y="132"/>
                      <a:pt x="138" y="132"/>
                      <a:pt x="139" y="131"/>
                    </a:cubicBezTo>
                    <a:cubicBezTo>
                      <a:pt x="140" y="130"/>
                      <a:pt x="140" y="130"/>
                      <a:pt x="141" y="130"/>
                    </a:cubicBezTo>
                    <a:cubicBezTo>
                      <a:pt x="142" y="130"/>
                      <a:pt x="143" y="128"/>
                      <a:pt x="143" y="127"/>
                    </a:cubicBezTo>
                    <a:cubicBezTo>
                      <a:pt x="144" y="126"/>
                      <a:pt x="147" y="120"/>
                      <a:pt x="149" y="119"/>
                    </a:cubicBezTo>
                    <a:cubicBezTo>
                      <a:pt x="150" y="118"/>
                      <a:pt x="152" y="118"/>
                      <a:pt x="152" y="117"/>
                    </a:cubicBezTo>
                    <a:cubicBezTo>
                      <a:pt x="153" y="116"/>
                      <a:pt x="156" y="115"/>
                      <a:pt x="154" y="114"/>
                    </a:cubicBezTo>
                    <a:cubicBezTo>
                      <a:pt x="153" y="114"/>
                      <a:pt x="152" y="113"/>
                      <a:pt x="153" y="113"/>
                    </a:cubicBezTo>
                    <a:cubicBezTo>
                      <a:pt x="154" y="113"/>
                      <a:pt x="155" y="113"/>
                      <a:pt x="153" y="112"/>
                    </a:cubicBezTo>
                    <a:cubicBezTo>
                      <a:pt x="151" y="111"/>
                      <a:pt x="150" y="110"/>
                      <a:pt x="149" y="110"/>
                    </a:cubicBezTo>
                    <a:cubicBezTo>
                      <a:pt x="149" y="109"/>
                      <a:pt x="148" y="109"/>
                      <a:pt x="150" y="109"/>
                    </a:cubicBezTo>
                    <a:cubicBezTo>
                      <a:pt x="151" y="109"/>
                      <a:pt x="150" y="108"/>
                      <a:pt x="150" y="107"/>
                    </a:cubicBezTo>
                    <a:cubicBezTo>
                      <a:pt x="149" y="106"/>
                      <a:pt x="146" y="107"/>
                      <a:pt x="147" y="105"/>
                    </a:cubicBezTo>
                    <a:cubicBezTo>
                      <a:pt x="149" y="104"/>
                      <a:pt x="151" y="101"/>
                      <a:pt x="153" y="101"/>
                    </a:cubicBezTo>
                    <a:cubicBezTo>
                      <a:pt x="154" y="100"/>
                      <a:pt x="155" y="99"/>
                      <a:pt x="155" y="97"/>
                    </a:cubicBezTo>
                    <a:cubicBezTo>
                      <a:pt x="155" y="95"/>
                      <a:pt x="154" y="95"/>
                      <a:pt x="155" y="95"/>
                    </a:cubicBezTo>
                    <a:cubicBezTo>
                      <a:pt x="156" y="94"/>
                      <a:pt x="157" y="93"/>
                      <a:pt x="155" y="93"/>
                    </a:cubicBezTo>
                    <a:cubicBezTo>
                      <a:pt x="154" y="93"/>
                      <a:pt x="152" y="92"/>
                      <a:pt x="154" y="91"/>
                    </a:cubicBezTo>
                    <a:cubicBezTo>
                      <a:pt x="156" y="90"/>
                      <a:pt x="158" y="89"/>
                      <a:pt x="159" y="88"/>
                    </a:cubicBezTo>
                    <a:cubicBezTo>
                      <a:pt x="160" y="87"/>
                      <a:pt x="162" y="86"/>
                      <a:pt x="163" y="87"/>
                    </a:cubicBezTo>
                    <a:cubicBezTo>
                      <a:pt x="165" y="88"/>
                      <a:pt x="167" y="88"/>
                      <a:pt x="167" y="87"/>
                    </a:cubicBezTo>
                    <a:cubicBezTo>
                      <a:pt x="167" y="86"/>
                      <a:pt x="166" y="85"/>
                      <a:pt x="166" y="85"/>
                    </a:cubicBezTo>
                    <a:cubicBezTo>
                      <a:pt x="165" y="85"/>
                      <a:pt x="164" y="84"/>
                      <a:pt x="165" y="84"/>
                    </a:cubicBezTo>
                    <a:cubicBezTo>
                      <a:pt x="166" y="83"/>
                      <a:pt x="166" y="83"/>
                      <a:pt x="166" y="83"/>
                    </a:cubicBezTo>
                    <a:cubicBezTo>
                      <a:pt x="166" y="82"/>
                      <a:pt x="166" y="81"/>
                      <a:pt x="166" y="81"/>
                    </a:cubicBezTo>
                    <a:cubicBezTo>
                      <a:pt x="167" y="81"/>
                      <a:pt x="167" y="80"/>
                      <a:pt x="168" y="81"/>
                    </a:cubicBezTo>
                    <a:cubicBezTo>
                      <a:pt x="169" y="82"/>
                      <a:pt x="170" y="83"/>
                      <a:pt x="171" y="82"/>
                    </a:cubicBezTo>
                    <a:cubicBezTo>
                      <a:pt x="171" y="81"/>
                      <a:pt x="172" y="80"/>
                      <a:pt x="173" y="81"/>
                    </a:cubicBezTo>
                    <a:cubicBezTo>
                      <a:pt x="174" y="82"/>
                      <a:pt x="176" y="82"/>
                      <a:pt x="176" y="82"/>
                    </a:cubicBezTo>
                    <a:cubicBezTo>
                      <a:pt x="176" y="83"/>
                      <a:pt x="177" y="84"/>
                      <a:pt x="178" y="83"/>
                    </a:cubicBezTo>
                    <a:cubicBezTo>
                      <a:pt x="179" y="81"/>
                      <a:pt x="179" y="81"/>
                      <a:pt x="180" y="81"/>
                    </a:cubicBezTo>
                    <a:cubicBezTo>
                      <a:pt x="181" y="81"/>
                      <a:pt x="189" y="81"/>
                      <a:pt x="192" y="82"/>
                    </a:cubicBezTo>
                    <a:cubicBezTo>
                      <a:pt x="192" y="80"/>
                      <a:pt x="189" y="74"/>
                      <a:pt x="189" y="74"/>
                    </a:cubicBezTo>
                    <a:cubicBezTo>
                      <a:pt x="189" y="73"/>
                      <a:pt x="188" y="73"/>
                      <a:pt x="188" y="7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14" name="Freeform 1126">
                <a:extLst>
                  <a:ext uri="{FF2B5EF4-FFF2-40B4-BE49-F238E27FC236}">
                    <a16:creationId xmlns:a16="http://schemas.microsoft.com/office/drawing/2014/main" id="{ED8EA74A-C7A1-478B-937B-7698060B5E83}"/>
                  </a:ext>
                </a:extLst>
              </p:cNvPr>
              <p:cNvSpPr>
                <a:spLocks/>
              </p:cNvSpPr>
              <p:nvPr/>
            </p:nvSpPr>
            <p:spPr bwMode="auto">
              <a:xfrm>
                <a:off x="3772" y="1440"/>
                <a:ext cx="15" cy="14"/>
              </a:xfrm>
              <a:custGeom>
                <a:avLst/>
                <a:gdLst>
                  <a:gd name="T0" fmla="*/ 4 w 11"/>
                  <a:gd name="T1" fmla="*/ 9 h 10"/>
                  <a:gd name="T2" fmla="*/ 6 w 11"/>
                  <a:gd name="T3" fmla="*/ 8 h 10"/>
                  <a:gd name="T4" fmla="*/ 10 w 11"/>
                  <a:gd name="T5" fmla="*/ 8 h 10"/>
                  <a:gd name="T6" fmla="*/ 8 w 11"/>
                  <a:gd name="T7" fmla="*/ 6 h 10"/>
                  <a:gd name="T8" fmla="*/ 9 w 11"/>
                  <a:gd name="T9" fmla="*/ 4 h 10"/>
                  <a:gd name="T10" fmla="*/ 6 w 11"/>
                  <a:gd name="T11" fmla="*/ 3 h 10"/>
                  <a:gd name="T12" fmla="*/ 6 w 11"/>
                  <a:gd name="T13" fmla="*/ 1 h 10"/>
                  <a:gd name="T14" fmla="*/ 3 w 11"/>
                  <a:gd name="T15" fmla="*/ 1 h 10"/>
                  <a:gd name="T16" fmla="*/ 5 w 11"/>
                  <a:gd name="T17" fmla="*/ 3 h 10"/>
                  <a:gd name="T18" fmla="*/ 2 w 11"/>
                  <a:gd name="T19" fmla="*/ 3 h 10"/>
                  <a:gd name="T20" fmla="*/ 1 w 11"/>
                  <a:gd name="T21" fmla="*/ 4 h 10"/>
                  <a:gd name="T22" fmla="*/ 4 w 11"/>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 h="10">
                    <a:moveTo>
                      <a:pt x="4" y="9"/>
                    </a:moveTo>
                    <a:cubicBezTo>
                      <a:pt x="5" y="10"/>
                      <a:pt x="5" y="9"/>
                      <a:pt x="6" y="8"/>
                    </a:cubicBezTo>
                    <a:cubicBezTo>
                      <a:pt x="7" y="6"/>
                      <a:pt x="9" y="8"/>
                      <a:pt x="10" y="8"/>
                    </a:cubicBezTo>
                    <a:cubicBezTo>
                      <a:pt x="11" y="8"/>
                      <a:pt x="10" y="7"/>
                      <a:pt x="8" y="6"/>
                    </a:cubicBezTo>
                    <a:cubicBezTo>
                      <a:pt x="6" y="4"/>
                      <a:pt x="8" y="4"/>
                      <a:pt x="9" y="4"/>
                    </a:cubicBezTo>
                    <a:cubicBezTo>
                      <a:pt x="10" y="3"/>
                      <a:pt x="8" y="3"/>
                      <a:pt x="6" y="3"/>
                    </a:cubicBezTo>
                    <a:cubicBezTo>
                      <a:pt x="5" y="2"/>
                      <a:pt x="6" y="2"/>
                      <a:pt x="6" y="1"/>
                    </a:cubicBezTo>
                    <a:cubicBezTo>
                      <a:pt x="6" y="0"/>
                      <a:pt x="5" y="0"/>
                      <a:pt x="3" y="1"/>
                    </a:cubicBezTo>
                    <a:cubicBezTo>
                      <a:pt x="2" y="1"/>
                      <a:pt x="5" y="2"/>
                      <a:pt x="5" y="3"/>
                    </a:cubicBezTo>
                    <a:cubicBezTo>
                      <a:pt x="4" y="3"/>
                      <a:pt x="4" y="4"/>
                      <a:pt x="2" y="3"/>
                    </a:cubicBezTo>
                    <a:cubicBezTo>
                      <a:pt x="1" y="2"/>
                      <a:pt x="1" y="4"/>
                      <a:pt x="1" y="4"/>
                    </a:cubicBezTo>
                    <a:cubicBezTo>
                      <a:pt x="0" y="6"/>
                      <a:pt x="3" y="9"/>
                      <a:pt x="4"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15" name="Freeform 1127">
                <a:extLst>
                  <a:ext uri="{FF2B5EF4-FFF2-40B4-BE49-F238E27FC236}">
                    <a16:creationId xmlns:a16="http://schemas.microsoft.com/office/drawing/2014/main" id="{D9A9BEF7-792F-430D-9C25-2B8B481A66F5}"/>
                  </a:ext>
                </a:extLst>
              </p:cNvPr>
              <p:cNvSpPr>
                <a:spLocks/>
              </p:cNvSpPr>
              <p:nvPr/>
            </p:nvSpPr>
            <p:spPr bwMode="auto">
              <a:xfrm>
                <a:off x="3624" y="1429"/>
                <a:ext cx="188" cy="211"/>
              </a:xfrm>
              <a:custGeom>
                <a:avLst/>
                <a:gdLst>
                  <a:gd name="T0" fmla="*/ 9 w 136"/>
                  <a:gd name="T1" fmla="*/ 106 h 154"/>
                  <a:gd name="T2" fmla="*/ 9 w 136"/>
                  <a:gd name="T3" fmla="*/ 113 h 154"/>
                  <a:gd name="T4" fmla="*/ 18 w 136"/>
                  <a:gd name="T5" fmla="*/ 118 h 154"/>
                  <a:gd name="T6" fmla="*/ 29 w 136"/>
                  <a:gd name="T7" fmla="*/ 120 h 154"/>
                  <a:gd name="T8" fmla="*/ 30 w 136"/>
                  <a:gd name="T9" fmla="*/ 127 h 154"/>
                  <a:gd name="T10" fmla="*/ 25 w 136"/>
                  <a:gd name="T11" fmla="*/ 148 h 154"/>
                  <a:gd name="T12" fmla="*/ 33 w 136"/>
                  <a:gd name="T13" fmla="*/ 148 h 154"/>
                  <a:gd name="T14" fmla="*/ 40 w 136"/>
                  <a:gd name="T15" fmla="*/ 146 h 154"/>
                  <a:gd name="T16" fmla="*/ 41 w 136"/>
                  <a:gd name="T17" fmla="*/ 144 h 154"/>
                  <a:gd name="T18" fmla="*/ 49 w 136"/>
                  <a:gd name="T19" fmla="*/ 146 h 154"/>
                  <a:gd name="T20" fmla="*/ 64 w 136"/>
                  <a:gd name="T21" fmla="*/ 152 h 154"/>
                  <a:gd name="T22" fmla="*/ 74 w 136"/>
                  <a:gd name="T23" fmla="*/ 149 h 154"/>
                  <a:gd name="T24" fmla="*/ 82 w 136"/>
                  <a:gd name="T25" fmla="*/ 150 h 154"/>
                  <a:gd name="T26" fmla="*/ 93 w 136"/>
                  <a:gd name="T27" fmla="*/ 147 h 154"/>
                  <a:gd name="T28" fmla="*/ 101 w 136"/>
                  <a:gd name="T29" fmla="*/ 146 h 154"/>
                  <a:gd name="T30" fmla="*/ 106 w 136"/>
                  <a:gd name="T31" fmla="*/ 146 h 154"/>
                  <a:gd name="T32" fmla="*/ 104 w 136"/>
                  <a:gd name="T33" fmla="*/ 141 h 154"/>
                  <a:gd name="T34" fmla="*/ 111 w 136"/>
                  <a:gd name="T35" fmla="*/ 133 h 154"/>
                  <a:gd name="T36" fmla="*/ 117 w 136"/>
                  <a:gd name="T37" fmla="*/ 126 h 154"/>
                  <a:gd name="T38" fmla="*/ 109 w 136"/>
                  <a:gd name="T39" fmla="*/ 118 h 154"/>
                  <a:gd name="T40" fmla="*/ 97 w 136"/>
                  <a:gd name="T41" fmla="*/ 106 h 154"/>
                  <a:gd name="T42" fmla="*/ 94 w 136"/>
                  <a:gd name="T43" fmla="*/ 98 h 154"/>
                  <a:gd name="T44" fmla="*/ 106 w 136"/>
                  <a:gd name="T45" fmla="*/ 93 h 154"/>
                  <a:gd name="T46" fmla="*/ 125 w 136"/>
                  <a:gd name="T47" fmla="*/ 85 h 154"/>
                  <a:gd name="T48" fmla="*/ 129 w 136"/>
                  <a:gd name="T49" fmla="*/ 82 h 154"/>
                  <a:gd name="T50" fmla="*/ 135 w 136"/>
                  <a:gd name="T51" fmla="*/ 75 h 154"/>
                  <a:gd name="T52" fmla="*/ 130 w 136"/>
                  <a:gd name="T53" fmla="*/ 67 h 154"/>
                  <a:gd name="T54" fmla="*/ 130 w 136"/>
                  <a:gd name="T55" fmla="*/ 57 h 154"/>
                  <a:gd name="T56" fmla="*/ 128 w 136"/>
                  <a:gd name="T57" fmla="*/ 49 h 154"/>
                  <a:gd name="T58" fmla="*/ 126 w 136"/>
                  <a:gd name="T59" fmla="*/ 41 h 154"/>
                  <a:gd name="T60" fmla="*/ 124 w 136"/>
                  <a:gd name="T61" fmla="*/ 28 h 154"/>
                  <a:gd name="T62" fmla="*/ 107 w 136"/>
                  <a:gd name="T63" fmla="*/ 15 h 154"/>
                  <a:gd name="T64" fmla="*/ 92 w 136"/>
                  <a:gd name="T65" fmla="*/ 20 h 154"/>
                  <a:gd name="T66" fmla="*/ 73 w 136"/>
                  <a:gd name="T67" fmla="*/ 15 h 154"/>
                  <a:gd name="T68" fmla="*/ 61 w 136"/>
                  <a:gd name="T69" fmla="*/ 12 h 154"/>
                  <a:gd name="T70" fmla="*/ 51 w 136"/>
                  <a:gd name="T71" fmla="*/ 5 h 154"/>
                  <a:gd name="T72" fmla="*/ 37 w 136"/>
                  <a:gd name="T73" fmla="*/ 1 h 154"/>
                  <a:gd name="T74" fmla="*/ 44 w 136"/>
                  <a:gd name="T75" fmla="*/ 9 h 154"/>
                  <a:gd name="T76" fmla="*/ 45 w 136"/>
                  <a:gd name="T77" fmla="*/ 17 h 154"/>
                  <a:gd name="T78" fmla="*/ 50 w 136"/>
                  <a:gd name="T79" fmla="*/ 25 h 154"/>
                  <a:gd name="T80" fmla="*/ 40 w 136"/>
                  <a:gd name="T81" fmla="*/ 33 h 154"/>
                  <a:gd name="T82" fmla="*/ 33 w 136"/>
                  <a:gd name="T83" fmla="*/ 32 h 154"/>
                  <a:gd name="T84" fmla="*/ 20 w 136"/>
                  <a:gd name="T85" fmla="*/ 37 h 154"/>
                  <a:gd name="T86" fmla="*/ 18 w 136"/>
                  <a:gd name="T87" fmla="*/ 45 h 154"/>
                  <a:gd name="T88" fmla="*/ 13 w 136"/>
                  <a:gd name="T89" fmla="*/ 51 h 154"/>
                  <a:gd name="T90" fmla="*/ 17 w 136"/>
                  <a:gd name="T91" fmla="*/ 57 h 154"/>
                  <a:gd name="T92" fmla="*/ 14 w 136"/>
                  <a:gd name="T93" fmla="*/ 62 h 154"/>
                  <a:gd name="T94" fmla="*/ 4 w 136"/>
                  <a:gd name="T95" fmla="*/ 64 h 154"/>
                  <a:gd name="T96" fmla="*/ 5 w 136"/>
                  <a:gd name="T97" fmla="*/ 72 h 154"/>
                  <a:gd name="T98" fmla="*/ 4 w 136"/>
                  <a:gd name="T99" fmla="*/ 79 h 154"/>
                  <a:gd name="T100" fmla="*/ 1 w 136"/>
                  <a:gd name="T101" fmla="*/ 83 h 154"/>
                  <a:gd name="T102" fmla="*/ 2 w 136"/>
                  <a:gd name="T103" fmla="*/ 86 h 154"/>
                  <a:gd name="T104" fmla="*/ 7 w 136"/>
                  <a:gd name="T105" fmla="*/ 9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6" h="154">
                    <a:moveTo>
                      <a:pt x="4" y="99"/>
                    </a:moveTo>
                    <a:cubicBezTo>
                      <a:pt x="4" y="100"/>
                      <a:pt x="4" y="101"/>
                      <a:pt x="4" y="101"/>
                    </a:cubicBezTo>
                    <a:cubicBezTo>
                      <a:pt x="4" y="102"/>
                      <a:pt x="5" y="103"/>
                      <a:pt x="5" y="103"/>
                    </a:cubicBezTo>
                    <a:cubicBezTo>
                      <a:pt x="5" y="104"/>
                      <a:pt x="8" y="105"/>
                      <a:pt x="8" y="105"/>
                    </a:cubicBezTo>
                    <a:cubicBezTo>
                      <a:pt x="9" y="106"/>
                      <a:pt x="9" y="106"/>
                      <a:pt x="9" y="106"/>
                    </a:cubicBezTo>
                    <a:cubicBezTo>
                      <a:pt x="9" y="107"/>
                      <a:pt x="9" y="107"/>
                      <a:pt x="9" y="107"/>
                    </a:cubicBezTo>
                    <a:cubicBezTo>
                      <a:pt x="9" y="107"/>
                      <a:pt x="8" y="108"/>
                      <a:pt x="8" y="109"/>
                    </a:cubicBezTo>
                    <a:cubicBezTo>
                      <a:pt x="7" y="109"/>
                      <a:pt x="7" y="110"/>
                      <a:pt x="7" y="110"/>
                    </a:cubicBezTo>
                    <a:cubicBezTo>
                      <a:pt x="7" y="111"/>
                      <a:pt x="7" y="111"/>
                      <a:pt x="7" y="112"/>
                    </a:cubicBezTo>
                    <a:cubicBezTo>
                      <a:pt x="8" y="112"/>
                      <a:pt x="9" y="113"/>
                      <a:pt x="9" y="113"/>
                    </a:cubicBezTo>
                    <a:cubicBezTo>
                      <a:pt x="9" y="113"/>
                      <a:pt x="10" y="113"/>
                      <a:pt x="10" y="114"/>
                    </a:cubicBezTo>
                    <a:cubicBezTo>
                      <a:pt x="10" y="114"/>
                      <a:pt x="12" y="116"/>
                      <a:pt x="12" y="116"/>
                    </a:cubicBezTo>
                    <a:cubicBezTo>
                      <a:pt x="12" y="117"/>
                      <a:pt x="13" y="117"/>
                      <a:pt x="13" y="117"/>
                    </a:cubicBezTo>
                    <a:cubicBezTo>
                      <a:pt x="14" y="117"/>
                      <a:pt x="17" y="118"/>
                      <a:pt x="17" y="118"/>
                    </a:cubicBezTo>
                    <a:cubicBezTo>
                      <a:pt x="17" y="118"/>
                      <a:pt x="18" y="118"/>
                      <a:pt x="18" y="118"/>
                    </a:cubicBezTo>
                    <a:cubicBezTo>
                      <a:pt x="19" y="118"/>
                      <a:pt x="21" y="118"/>
                      <a:pt x="21" y="118"/>
                    </a:cubicBezTo>
                    <a:cubicBezTo>
                      <a:pt x="21" y="118"/>
                      <a:pt x="22" y="118"/>
                      <a:pt x="22" y="118"/>
                    </a:cubicBezTo>
                    <a:cubicBezTo>
                      <a:pt x="23" y="119"/>
                      <a:pt x="26" y="120"/>
                      <a:pt x="26" y="120"/>
                    </a:cubicBezTo>
                    <a:cubicBezTo>
                      <a:pt x="26" y="120"/>
                      <a:pt x="27" y="120"/>
                      <a:pt x="27" y="120"/>
                    </a:cubicBezTo>
                    <a:cubicBezTo>
                      <a:pt x="28" y="120"/>
                      <a:pt x="29" y="120"/>
                      <a:pt x="29" y="120"/>
                    </a:cubicBezTo>
                    <a:cubicBezTo>
                      <a:pt x="29" y="120"/>
                      <a:pt x="30" y="120"/>
                      <a:pt x="30" y="120"/>
                    </a:cubicBezTo>
                    <a:cubicBezTo>
                      <a:pt x="31" y="121"/>
                      <a:pt x="34" y="121"/>
                      <a:pt x="34" y="121"/>
                    </a:cubicBezTo>
                    <a:cubicBezTo>
                      <a:pt x="34" y="121"/>
                      <a:pt x="35" y="121"/>
                      <a:pt x="35" y="122"/>
                    </a:cubicBezTo>
                    <a:cubicBezTo>
                      <a:pt x="34" y="122"/>
                      <a:pt x="31" y="126"/>
                      <a:pt x="31" y="126"/>
                    </a:cubicBezTo>
                    <a:cubicBezTo>
                      <a:pt x="31" y="126"/>
                      <a:pt x="31" y="127"/>
                      <a:pt x="30" y="127"/>
                    </a:cubicBezTo>
                    <a:cubicBezTo>
                      <a:pt x="30" y="128"/>
                      <a:pt x="27" y="135"/>
                      <a:pt x="27" y="136"/>
                    </a:cubicBezTo>
                    <a:cubicBezTo>
                      <a:pt x="26" y="136"/>
                      <a:pt x="25" y="138"/>
                      <a:pt x="25" y="138"/>
                    </a:cubicBezTo>
                    <a:cubicBezTo>
                      <a:pt x="25" y="139"/>
                      <a:pt x="25" y="144"/>
                      <a:pt x="25" y="144"/>
                    </a:cubicBezTo>
                    <a:cubicBezTo>
                      <a:pt x="25" y="145"/>
                      <a:pt x="25" y="146"/>
                      <a:pt x="25" y="147"/>
                    </a:cubicBezTo>
                    <a:cubicBezTo>
                      <a:pt x="25" y="147"/>
                      <a:pt x="25" y="147"/>
                      <a:pt x="25" y="148"/>
                    </a:cubicBezTo>
                    <a:cubicBezTo>
                      <a:pt x="26" y="148"/>
                      <a:pt x="26" y="148"/>
                      <a:pt x="26" y="148"/>
                    </a:cubicBezTo>
                    <a:cubicBezTo>
                      <a:pt x="26" y="148"/>
                      <a:pt x="27" y="149"/>
                      <a:pt x="27" y="148"/>
                    </a:cubicBezTo>
                    <a:cubicBezTo>
                      <a:pt x="28" y="148"/>
                      <a:pt x="29" y="148"/>
                      <a:pt x="30" y="148"/>
                    </a:cubicBezTo>
                    <a:cubicBezTo>
                      <a:pt x="30" y="148"/>
                      <a:pt x="31" y="148"/>
                      <a:pt x="31" y="148"/>
                    </a:cubicBezTo>
                    <a:cubicBezTo>
                      <a:pt x="32" y="148"/>
                      <a:pt x="33" y="148"/>
                      <a:pt x="33" y="148"/>
                    </a:cubicBezTo>
                    <a:cubicBezTo>
                      <a:pt x="33" y="148"/>
                      <a:pt x="34" y="148"/>
                      <a:pt x="35" y="148"/>
                    </a:cubicBezTo>
                    <a:cubicBezTo>
                      <a:pt x="35" y="148"/>
                      <a:pt x="37" y="148"/>
                      <a:pt x="38" y="148"/>
                    </a:cubicBezTo>
                    <a:cubicBezTo>
                      <a:pt x="38" y="148"/>
                      <a:pt x="39" y="148"/>
                      <a:pt x="39" y="148"/>
                    </a:cubicBezTo>
                    <a:cubicBezTo>
                      <a:pt x="39" y="148"/>
                      <a:pt x="40" y="148"/>
                      <a:pt x="40" y="147"/>
                    </a:cubicBezTo>
                    <a:cubicBezTo>
                      <a:pt x="40" y="147"/>
                      <a:pt x="40" y="146"/>
                      <a:pt x="40" y="146"/>
                    </a:cubicBezTo>
                    <a:cubicBezTo>
                      <a:pt x="40" y="146"/>
                      <a:pt x="39" y="146"/>
                      <a:pt x="39" y="146"/>
                    </a:cubicBezTo>
                    <a:cubicBezTo>
                      <a:pt x="39" y="147"/>
                      <a:pt x="38" y="146"/>
                      <a:pt x="38" y="146"/>
                    </a:cubicBezTo>
                    <a:cubicBezTo>
                      <a:pt x="38" y="145"/>
                      <a:pt x="38" y="145"/>
                      <a:pt x="38" y="145"/>
                    </a:cubicBezTo>
                    <a:cubicBezTo>
                      <a:pt x="39" y="144"/>
                      <a:pt x="39" y="144"/>
                      <a:pt x="39" y="144"/>
                    </a:cubicBezTo>
                    <a:cubicBezTo>
                      <a:pt x="40" y="144"/>
                      <a:pt x="40" y="144"/>
                      <a:pt x="41" y="144"/>
                    </a:cubicBezTo>
                    <a:cubicBezTo>
                      <a:pt x="41" y="144"/>
                      <a:pt x="42" y="145"/>
                      <a:pt x="42" y="145"/>
                    </a:cubicBezTo>
                    <a:cubicBezTo>
                      <a:pt x="42" y="145"/>
                      <a:pt x="42" y="146"/>
                      <a:pt x="42" y="146"/>
                    </a:cubicBezTo>
                    <a:cubicBezTo>
                      <a:pt x="43" y="146"/>
                      <a:pt x="43" y="146"/>
                      <a:pt x="44" y="146"/>
                    </a:cubicBezTo>
                    <a:cubicBezTo>
                      <a:pt x="44" y="146"/>
                      <a:pt x="45" y="146"/>
                      <a:pt x="46" y="146"/>
                    </a:cubicBezTo>
                    <a:cubicBezTo>
                      <a:pt x="46" y="146"/>
                      <a:pt x="49" y="146"/>
                      <a:pt x="49" y="146"/>
                    </a:cubicBezTo>
                    <a:cubicBezTo>
                      <a:pt x="49" y="146"/>
                      <a:pt x="54" y="148"/>
                      <a:pt x="54" y="148"/>
                    </a:cubicBezTo>
                    <a:cubicBezTo>
                      <a:pt x="54" y="148"/>
                      <a:pt x="54" y="149"/>
                      <a:pt x="55" y="149"/>
                    </a:cubicBezTo>
                    <a:cubicBezTo>
                      <a:pt x="60" y="149"/>
                      <a:pt x="60" y="149"/>
                      <a:pt x="60" y="149"/>
                    </a:cubicBezTo>
                    <a:cubicBezTo>
                      <a:pt x="60" y="149"/>
                      <a:pt x="61" y="149"/>
                      <a:pt x="61" y="149"/>
                    </a:cubicBezTo>
                    <a:cubicBezTo>
                      <a:pt x="61" y="149"/>
                      <a:pt x="64" y="151"/>
                      <a:pt x="64" y="152"/>
                    </a:cubicBezTo>
                    <a:cubicBezTo>
                      <a:pt x="64" y="153"/>
                      <a:pt x="63" y="154"/>
                      <a:pt x="64" y="153"/>
                    </a:cubicBezTo>
                    <a:cubicBezTo>
                      <a:pt x="65" y="153"/>
                      <a:pt x="68" y="151"/>
                      <a:pt x="68" y="150"/>
                    </a:cubicBezTo>
                    <a:cubicBezTo>
                      <a:pt x="68" y="148"/>
                      <a:pt x="68" y="148"/>
                      <a:pt x="68" y="148"/>
                    </a:cubicBezTo>
                    <a:cubicBezTo>
                      <a:pt x="68" y="148"/>
                      <a:pt x="68" y="148"/>
                      <a:pt x="69" y="148"/>
                    </a:cubicBezTo>
                    <a:cubicBezTo>
                      <a:pt x="69" y="148"/>
                      <a:pt x="74" y="149"/>
                      <a:pt x="74" y="149"/>
                    </a:cubicBezTo>
                    <a:cubicBezTo>
                      <a:pt x="74" y="149"/>
                      <a:pt x="74" y="149"/>
                      <a:pt x="75" y="149"/>
                    </a:cubicBezTo>
                    <a:cubicBezTo>
                      <a:pt x="75" y="150"/>
                      <a:pt x="75" y="151"/>
                      <a:pt x="75" y="151"/>
                    </a:cubicBezTo>
                    <a:cubicBezTo>
                      <a:pt x="75" y="151"/>
                      <a:pt x="75" y="152"/>
                      <a:pt x="76" y="151"/>
                    </a:cubicBezTo>
                    <a:cubicBezTo>
                      <a:pt x="77" y="151"/>
                      <a:pt x="81" y="150"/>
                      <a:pt x="81" y="150"/>
                    </a:cubicBezTo>
                    <a:cubicBezTo>
                      <a:pt x="81" y="150"/>
                      <a:pt x="82" y="150"/>
                      <a:pt x="82" y="150"/>
                    </a:cubicBezTo>
                    <a:cubicBezTo>
                      <a:pt x="82" y="149"/>
                      <a:pt x="82" y="149"/>
                      <a:pt x="83" y="149"/>
                    </a:cubicBezTo>
                    <a:cubicBezTo>
                      <a:pt x="83" y="149"/>
                      <a:pt x="84" y="148"/>
                      <a:pt x="85" y="148"/>
                    </a:cubicBezTo>
                    <a:cubicBezTo>
                      <a:pt x="85" y="148"/>
                      <a:pt x="86" y="148"/>
                      <a:pt x="86" y="148"/>
                    </a:cubicBezTo>
                    <a:cubicBezTo>
                      <a:pt x="87" y="148"/>
                      <a:pt x="89" y="148"/>
                      <a:pt x="90" y="147"/>
                    </a:cubicBezTo>
                    <a:cubicBezTo>
                      <a:pt x="90" y="147"/>
                      <a:pt x="92" y="147"/>
                      <a:pt x="93" y="147"/>
                    </a:cubicBezTo>
                    <a:cubicBezTo>
                      <a:pt x="94" y="146"/>
                      <a:pt x="95" y="146"/>
                      <a:pt x="95" y="146"/>
                    </a:cubicBezTo>
                    <a:cubicBezTo>
                      <a:pt x="95" y="146"/>
                      <a:pt x="96" y="146"/>
                      <a:pt x="96" y="146"/>
                    </a:cubicBezTo>
                    <a:cubicBezTo>
                      <a:pt x="97" y="146"/>
                      <a:pt x="99" y="147"/>
                      <a:pt x="99" y="147"/>
                    </a:cubicBezTo>
                    <a:cubicBezTo>
                      <a:pt x="99" y="147"/>
                      <a:pt x="99" y="147"/>
                      <a:pt x="100" y="147"/>
                    </a:cubicBezTo>
                    <a:cubicBezTo>
                      <a:pt x="100" y="146"/>
                      <a:pt x="101" y="146"/>
                      <a:pt x="101" y="146"/>
                    </a:cubicBezTo>
                    <a:cubicBezTo>
                      <a:pt x="101" y="146"/>
                      <a:pt x="101" y="146"/>
                      <a:pt x="102" y="146"/>
                    </a:cubicBezTo>
                    <a:cubicBezTo>
                      <a:pt x="102" y="147"/>
                      <a:pt x="105" y="150"/>
                      <a:pt x="105" y="150"/>
                    </a:cubicBezTo>
                    <a:cubicBezTo>
                      <a:pt x="105" y="150"/>
                      <a:pt x="106" y="150"/>
                      <a:pt x="106" y="149"/>
                    </a:cubicBezTo>
                    <a:cubicBezTo>
                      <a:pt x="106" y="149"/>
                      <a:pt x="106" y="148"/>
                      <a:pt x="106" y="148"/>
                    </a:cubicBezTo>
                    <a:cubicBezTo>
                      <a:pt x="106" y="147"/>
                      <a:pt x="106" y="146"/>
                      <a:pt x="106" y="146"/>
                    </a:cubicBezTo>
                    <a:cubicBezTo>
                      <a:pt x="106" y="146"/>
                      <a:pt x="106" y="145"/>
                      <a:pt x="106" y="145"/>
                    </a:cubicBezTo>
                    <a:cubicBezTo>
                      <a:pt x="105" y="145"/>
                      <a:pt x="104" y="145"/>
                      <a:pt x="104" y="145"/>
                    </a:cubicBezTo>
                    <a:cubicBezTo>
                      <a:pt x="105" y="144"/>
                      <a:pt x="105" y="143"/>
                      <a:pt x="105" y="143"/>
                    </a:cubicBezTo>
                    <a:cubicBezTo>
                      <a:pt x="105" y="143"/>
                      <a:pt x="106" y="143"/>
                      <a:pt x="105" y="142"/>
                    </a:cubicBezTo>
                    <a:cubicBezTo>
                      <a:pt x="105" y="142"/>
                      <a:pt x="105" y="141"/>
                      <a:pt x="104" y="141"/>
                    </a:cubicBezTo>
                    <a:cubicBezTo>
                      <a:pt x="104" y="140"/>
                      <a:pt x="103" y="139"/>
                      <a:pt x="103" y="139"/>
                    </a:cubicBezTo>
                    <a:cubicBezTo>
                      <a:pt x="103" y="139"/>
                      <a:pt x="102" y="138"/>
                      <a:pt x="102" y="138"/>
                    </a:cubicBezTo>
                    <a:cubicBezTo>
                      <a:pt x="102" y="138"/>
                      <a:pt x="102" y="138"/>
                      <a:pt x="102" y="137"/>
                    </a:cubicBezTo>
                    <a:cubicBezTo>
                      <a:pt x="103" y="137"/>
                      <a:pt x="107" y="135"/>
                      <a:pt x="109" y="134"/>
                    </a:cubicBezTo>
                    <a:cubicBezTo>
                      <a:pt x="110" y="134"/>
                      <a:pt x="111" y="133"/>
                      <a:pt x="111" y="133"/>
                    </a:cubicBezTo>
                    <a:cubicBezTo>
                      <a:pt x="111" y="133"/>
                      <a:pt x="112" y="133"/>
                      <a:pt x="112" y="132"/>
                    </a:cubicBezTo>
                    <a:cubicBezTo>
                      <a:pt x="112" y="131"/>
                      <a:pt x="112" y="129"/>
                      <a:pt x="114" y="129"/>
                    </a:cubicBezTo>
                    <a:cubicBezTo>
                      <a:pt x="116" y="130"/>
                      <a:pt x="116" y="130"/>
                      <a:pt x="116" y="130"/>
                    </a:cubicBezTo>
                    <a:cubicBezTo>
                      <a:pt x="116" y="130"/>
                      <a:pt x="117" y="130"/>
                      <a:pt x="117" y="129"/>
                    </a:cubicBezTo>
                    <a:cubicBezTo>
                      <a:pt x="116" y="129"/>
                      <a:pt x="117" y="127"/>
                      <a:pt x="117" y="126"/>
                    </a:cubicBezTo>
                    <a:cubicBezTo>
                      <a:pt x="118" y="126"/>
                      <a:pt x="118" y="125"/>
                      <a:pt x="118" y="125"/>
                    </a:cubicBezTo>
                    <a:cubicBezTo>
                      <a:pt x="116" y="124"/>
                      <a:pt x="114" y="122"/>
                      <a:pt x="114" y="122"/>
                    </a:cubicBezTo>
                    <a:cubicBezTo>
                      <a:pt x="113" y="121"/>
                      <a:pt x="113" y="121"/>
                      <a:pt x="112" y="121"/>
                    </a:cubicBezTo>
                    <a:cubicBezTo>
                      <a:pt x="112" y="121"/>
                      <a:pt x="111" y="121"/>
                      <a:pt x="111" y="121"/>
                    </a:cubicBezTo>
                    <a:cubicBezTo>
                      <a:pt x="111" y="121"/>
                      <a:pt x="109" y="119"/>
                      <a:pt x="109" y="118"/>
                    </a:cubicBezTo>
                    <a:cubicBezTo>
                      <a:pt x="108" y="118"/>
                      <a:pt x="105" y="115"/>
                      <a:pt x="104" y="115"/>
                    </a:cubicBezTo>
                    <a:cubicBezTo>
                      <a:pt x="104" y="115"/>
                      <a:pt x="101" y="112"/>
                      <a:pt x="100" y="112"/>
                    </a:cubicBezTo>
                    <a:cubicBezTo>
                      <a:pt x="100" y="112"/>
                      <a:pt x="100" y="111"/>
                      <a:pt x="100" y="111"/>
                    </a:cubicBezTo>
                    <a:cubicBezTo>
                      <a:pt x="99" y="110"/>
                      <a:pt x="97" y="107"/>
                      <a:pt x="97" y="107"/>
                    </a:cubicBezTo>
                    <a:cubicBezTo>
                      <a:pt x="97" y="107"/>
                      <a:pt x="97" y="106"/>
                      <a:pt x="97" y="106"/>
                    </a:cubicBezTo>
                    <a:cubicBezTo>
                      <a:pt x="97" y="106"/>
                      <a:pt x="99" y="104"/>
                      <a:pt x="99" y="103"/>
                    </a:cubicBezTo>
                    <a:cubicBezTo>
                      <a:pt x="98" y="102"/>
                      <a:pt x="96" y="101"/>
                      <a:pt x="95" y="101"/>
                    </a:cubicBezTo>
                    <a:cubicBezTo>
                      <a:pt x="94" y="101"/>
                      <a:pt x="94" y="100"/>
                      <a:pt x="94" y="100"/>
                    </a:cubicBezTo>
                    <a:cubicBezTo>
                      <a:pt x="94" y="100"/>
                      <a:pt x="94" y="99"/>
                      <a:pt x="93" y="97"/>
                    </a:cubicBezTo>
                    <a:cubicBezTo>
                      <a:pt x="92" y="95"/>
                      <a:pt x="93" y="97"/>
                      <a:pt x="94" y="98"/>
                    </a:cubicBezTo>
                    <a:cubicBezTo>
                      <a:pt x="95" y="99"/>
                      <a:pt x="96" y="97"/>
                      <a:pt x="96" y="97"/>
                    </a:cubicBezTo>
                    <a:cubicBezTo>
                      <a:pt x="97" y="96"/>
                      <a:pt x="97" y="95"/>
                      <a:pt x="98" y="95"/>
                    </a:cubicBezTo>
                    <a:cubicBezTo>
                      <a:pt x="98" y="95"/>
                      <a:pt x="100" y="94"/>
                      <a:pt x="100" y="94"/>
                    </a:cubicBezTo>
                    <a:cubicBezTo>
                      <a:pt x="101" y="93"/>
                      <a:pt x="104" y="94"/>
                      <a:pt x="104" y="94"/>
                    </a:cubicBezTo>
                    <a:cubicBezTo>
                      <a:pt x="105" y="94"/>
                      <a:pt x="105" y="93"/>
                      <a:pt x="106" y="93"/>
                    </a:cubicBezTo>
                    <a:cubicBezTo>
                      <a:pt x="106" y="93"/>
                      <a:pt x="109" y="92"/>
                      <a:pt x="109" y="91"/>
                    </a:cubicBezTo>
                    <a:cubicBezTo>
                      <a:pt x="109" y="91"/>
                      <a:pt x="113" y="89"/>
                      <a:pt x="113" y="88"/>
                    </a:cubicBezTo>
                    <a:cubicBezTo>
                      <a:pt x="114" y="88"/>
                      <a:pt x="115" y="88"/>
                      <a:pt x="115" y="88"/>
                    </a:cubicBezTo>
                    <a:cubicBezTo>
                      <a:pt x="116" y="87"/>
                      <a:pt x="118" y="87"/>
                      <a:pt x="119" y="87"/>
                    </a:cubicBezTo>
                    <a:cubicBezTo>
                      <a:pt x="119" y="86"/>
                      <a:pt x="124" y="85"/>
                      <a:pt x="125" y="85"/>
                    </a:cubicBezTo>
                    <a:cubicBezTo>
                      <a:pt x="126" y="85"/>
                      <a:pt x="125" y="84"/>
                      <a:pt x="125" y="84"/>
                    </a:cubicBezTo>
                    <a:cubicBezTo>
                      <a:pt x="125" y="84"/>
                      <a:pt x="125" y="83"/>
                      <a:pt x="125" y="82"/>
                    </a:cubicBezTo>
                    <a:cubicBezTo>
                      <a:pt x="125" y="81"/>
                      <a:pt x="125" y="81"/>
                      <a:pt x="125" y="81"/>
                    </a:cubicBezTo>
                    <a:cubicBezTo>
                      <a:pt x="125" y="81"/>
                      <a:pt x="127" y="82"/>
                      <a:pt x="127" y="82"/>
                    </a:cubicBezTo>
                    <a:cubicBezTo>
                      <a:pt x="128" y="82"/>
                      <a:pt x="128" y="82"/>
                      <a:pt x="129" y="82"/>
                    </a:cubicBezTo>
                    <a:cubicBezTo>
                      <a:pt x="129" y="83"/>
                      <a:pt x="131" y="84"/>
                      <a:pt x="132" y="84"/>
                    </a:cubicBezTo>
                    <a:cubicBezTo>
                      <a:pt x="132" y="85"/>
                      <a:pt x="133" y="85"/>
                      <a:pt x="133" y="85"/>
                    </a:cubicBezTo>
                    <a:cubicBezTo>
                      <a:pt x="133" y="84"/>
                      <a:pt x="134" y="83"/>
                      <a:pt x="134" y="83"/>
                    </a:cubicBezTo>
                    <a:cubicBezTo>
                      <a:pt x="134" y="82"/>
                      <a:pt x="135" y="77"/>
                      <a:pt x="136" y="77"/>
                    </a:cubicBezTo>
                    <a:cubicBezTo>
                      <a:pt x="136" y="76"/>
                      <a:pt x="135" y="75"/>
                      <a:pt x="135" y="75"/>
                    </a:cubicBezTo>
                    <a:cubicBezTo>
                      <a:pt x="135" y="75"/>
                      <a:pt x="134" y="74"/>
                      <a:pt x="134" y="74"/>
                    </a:cubicBezTo>
                    <a:cubicBezTo>
                      <a:pt x="134" y="74"/>
                      <a:pt x="132" y="72"/>
                      <a:pt x="132" y="72"/>
                    </a:cubicBezTo>
                    <a:cubicBezTo>
                      <a:pt x="131" y="72"/>
                      <a:pt x="132" y="71"/>
                      <a:pt x="132" y="71"/>
                    </a:cubicBezTo>
                    <a:cubicBezTo>
                      <a:pt x="132" y="70"/>
                      <a:pt x="131" y="70"/>
                      <a:pt x="131" y="70"/>
                    </a:cubicBezTo>
                    <a:cubicBezTo>
                      <a:pt x="131" y="70"/>
                      <a:pt x="130" y="68"/>
                      <a:pt x="130" y="67"/>
                    </a:cubicBezTo>
                    <a:cubicBezTo>
                      <a:pt x="129" y="66"/>
                      <a:pt x="130" y="65"/>
                      <a:pt x="130" y="65"/>
                    </a:cubicBezTo>
                    <a:cubicBezTo>
                      <a:pt x="130" y="65"/>
                      <a:pt x="131" y="63"/>
                      <a:pt x="131" y="63"/>
                    </a:cubicBezTo>
                    <a:cubicBezTo>
                      <a:pt x="131" y="63"/>
                      <a:pt x="131" y="62"/>
                      <a:pt x="131" y="62"/>
                    </a:cubicBezTo>
                    <a:cubicBezTo>
                      <a:pt x="131" y="62"/>
                      <a:pt x="131" y="59"/>
                      <a:pt x="131" y="58"/>
                    </a:cubicBezTo>
                    <a:cubicBezTo>
                      <a:pt x="131" y="57"/>
                      <a:pt x="130" y="57"/>
                      <a:pt x="130" y="57"/>
                    </a:cubicBezTo>
                    <a:cubicBezTo>
                      <a:pt x="130" y="57"/>
                      <a:pt x="130" y="57"/>
                      <a:pt x="130" y="57"/>
                    </a:cubicBezTo>
                    <a:cubicBezTo>
                      <a:pt x="130" y="57"/>
                      <a:pt x="129" y="56"/>
                      <a:pt x="129" y="55"/>
                    </a:cubicBezTo>
                    <a:cubicBezTo>
                      <a:pt x="128" y="55"/>
                      <a:pt x="129" y="54"/>
                      <a:pt x="129" y="54"/>
                    </a:cubicBezTo>
                    <a:cubicBezTo>
                      <a:pt x="129" y="54"/>
                      <a:pt x="129" y="53"/>
                      <a:pt x="130" y="52"/>
                    </a:cubicBezTo>
                    <a:cubicBezTo>
                      <a:pt x="130" y="51"/>
                      <a:pt x="128" y="50"/>
                      <a:pt x="128" y="49"/>
                    </a:cubicBezTo>
                    <a:cubicBezTo>
                      <a:pt x="127" y="49"/>
                      <a:pt x="127" y="48"/>
                      <a:pt x="127" y="48"/>
                    </a:cubicBezTo>
                    <a:cubicBezTo>
                      <a:pt x="127" y="48"/>
                      <a:pt x="124" y="45"/>
                      <a:pt x="123" y="45"/>
                    </a:cubicBezTo>
                    <a:cubicBezTo>
                      <a:pt x="123" y="44"/>
                      <a:pt x="123" y="44"/>
                      <a:pt x="123" y="43"/>
                    </a:cubicBezTo>
                    <a:cubicBezTo>
                      <a:pt x="123" y="43"/>
                      <a:pt x="124" y="42"/>
                      <a:pt x="124" y="42"/>
                    </a:cubicBezTo>
                    <a:cubicBezTo>
                      <a:pt x="125" y="42"/>
                      <a:pt x="125" y="42"/>
                      <a:pt x="126" y="41"/>
                    </a:cubicBezTo>
                    <a:cubicBezTo>
                      <a:pt x="126" y="41"/>
                      <a:pt x="126" y="40"/>
                      <a:pt x="126" y="40"/>
                    </a:cubicBezTo>
                    <a:cubicBezTo>
                      <a:pt x="126" y="40"/>
                      <a:pt x="127" y="36"/>
                      <a:pt x="127" y="36"/>
                    </a:cubicBezTo>
                    <a:cubicBezTo>
                      <a:pt x="127" y="35"/>
                      <a:pt x="126" y="34"/>
                      <a:pt x="126" y="33"/>
                    </a:cubicBezTo>
                    <a:cubicBezTo>
                      <a:pt x="126" y="33"/>
                      <a:pt x="125" y="30"/>
                      <a:pt x="125" y="28"/>
                    </a:cubicBezTo>
                    <a:cubicBezTo>
                      <a:pt x="124" y="28"/>
                      <a:pt x="124" y="28"/>
                      <a:pt x="124" y="28"/>
                    </a:cubicBezTo>
                    <a:cubicBezTo>
                      <a:pt x="123" y="28"/>
                      <a:pt x="121" y="27"/>
                      <a:pt x="121" y="27"/>
                    </a:cubicBezTo>
                    <a:cubicBezTo>
                      <a:pt x="120" y="26"/>
                      <a:pt x="118" y="26"/>
                      <a:pt x="118" y="25"/>
                    </a:cubicBezTo>
                    <a:cubicBezTo>
                      <a:pt x="118" y="23"/>
                      <a:pt x="117" y="22"/>
                      <a:pt x="117" y="21"/>
                    </a:cubicBezTo>
                    <a:cubicBezTo>
                      <a:pt x="117" y="20"/>
                      <a:pt x="116" y="19"/>
                      <a:pt x="115" y="19"/>
                    </a:cubicBezTo>
                    <a:cubicBezTo>
                      <a:pt x="114" y="19"/>
                      <a:pt x="111" y="20"/>
                      <a:pt x="107" y="15"/>
                    </a:cubicBezTo>
                    <a:cubicBezTo>
                      <a:pt x="107" y="15"/>
                      <a:pt x="107" y="13"/>
                      <a:pt x="105" y="14"/>
                    </a:cubicBezTo>
                    <a:cubicBezTo>
                      <a:pt x="102" y="16"/>
                      <a:pt x="95" y="15"/>
                      <a:pt x="98" y="14"/>
                    </a:cubicBezTo>
                    <a:cubicBezTo>
                      <a:pt x="101" y="14"/>
                      <a:pt x="106" y="13"/>
                      <a:pt x="102" y="13"/>
                    </a:cubicBezTo>
                    <a:cubicBezTo>
                      <a:pt x="99" y="12"/>
                      <a:pt x="98" y="13"/>
                      <a:pt x="96" y="15"/>
                    </a:cubicBezTo>
                    <a:cubicBezTo>
                      <a:pt x="95" y="18"/>
                      <a:pt x="93" y="21"/>
                      <a:pt x="92" y="20"/>
                    </a:cubicBezTo>
                    <a:cubicBezTo>
                      <a:pt x="91" y="19"/>
                      <a:pt x="90" y="19"/>
                      <a:pt x="89" y="19"/>
                    </a:cubicBezTo>
                    <a:cubicBezTo>
                      <a:pt x="88" y="20"/>
                      <a:pt x="81" y="24"/>
                      <a:pt x="78" y="23"/>
                    </a:cubicBezTo>
                    <a:cubicBezTo>
                      <a:pt x="75" y="23"/>
                      <a:pt x="72" y="23"/>
                      <a:pt x="74" y="20"/>
                    </a:cubicBezTo>
                    <a:cubicBezTo>
                      <a:pt x="77" y="18"/>
                      <a:pt x="79" y="14"/>
                      <a:pt x="77" y="14"/>
                    </a:cubicBezTo>
                    <a:cubicBezTo>
                      <a:pt x="74" y="15"/>
                      <a:pt x="74" y="15"/>
                      <a:pt x="73" y="15"/>
                    </a:cubicBezTo>
                    <a:cubicBezTo>
                      <a:pt x="71" y="16"/>
                      <a:pt x="69" y="15"/>
                      <a:pt x="68" y="14"/>
                    </a:cubicBezTo>
                    <a:cubicBezTo>
                      <a:pt x="67" y="14"/>
                      <a:pt x="66" y="13"/>
                      <a:pt x="65" y="14"/>
                    </a:cubicBezTo>
                    <a:cubicBezTo>
                      <a:pt x="64" y="15"/>
                      <a:pt x="64" y="14"/>
                      <a:pt x="64" y="13"/>
                    </a:cubicBezTo>
                    <a:cubicBezTo>
                      <a:pt x="64" y="12"/>
                      <a:pt x="64" y="13"/>
                      <a:pt x="63" y="13"/>
                    </a:cubicBezTo>
                    <a:cubicBezTo>
                      <a:pt x="61" y="13"/>
                      <a:pt x="59" y="13"/>
                      <a:pt x="61" y="12"/>
                    </a:cubicBezTo>
                    <a:cubicBezTo>
                      <a:pt x="62" y="11"/>
                      <a:pt x="62" y="9"/>
                      <a:pt x="61" y="7"/>
                    </a:cubicBezTo>
                    <a:cubicBezTo>
                      <a:pt x="59" y="5"/>
                      <a:pt x="55" y="5"/>
                      <a:pt x="54" y="5"/>
                    </a:cubicBezTo>
                    <a:cubicBezTo>
                      <a:pt x="54" y="5"/>
                      <a:pt x="54" y="5"/>
                      <a:pt x="54" y="5"/>
                    </a:cubicBezTo>
                    <a:cubicBezTo>
                      <a:pt x="53" y="5"/>
                      <a:pt x="52" y="5"/>
                      <a:pt x="52" y="5"/>
                    </a:cubicBezTo>
                    <a:cubicBezTo>
                      <a:pt x="52" y="5"/>
                      <a:pt x="51" y="5"/>
                      <a:pt x="51" y="5"/>
                    </a:cubicBezTo>
                    <a:cubicBezTo>
                      <a:pt x="50" y="5"/>
                      <a:pt x="44" y="4"/>
                      <a:pt x="43" y="4"/>
                    </a:cubicBezTo>
                    <a:cubicBezTo>
                      <a:pt x="43" y="4"/>
                      <a:pt x="42" y="4"/>
                      <a:pt x="42" y="4"/>
                    </a:cubicBezTo>
                    <a:cubicBezTo>
                      <a:pt x="42" y="4"/>
                      <a:pt x="42" y="4"/>
                      <a:pt x="41" y="4"/>
                    </a:cubicBezTo>
                    <a:cubicBezTo>
                      <a:pt x="41" y="4"/>
                      <a:pt x="37" y="5"/>
                      <a:pt x="38" y="3"/>
                    </a:cubicBezTo>
                    <a:cubicBezTo>
                      <a:pt x="38" y="1"/>
                      <a:pt x="38" y="0"/>
                      <a:pt x="37" y="1"/>
                    </a:cubicBezTo>
                    <a:cubicBezTo>
                      <a:pt x="36" y="2"/>
                      <a:pt x="35" y="7"/>
                      <a:pt x="36" y="6"/>
                    </a:cubicBezTo>
                    <a:cubicBezTo>
                      <a:pt x="37" y="4"/>
                      <a:pt x="36" y="5"/>
                      <a:pt x="38" y="5"/>
                    </a:cubicBezTo>
                    <a:cubicBezTo>
                      <a:pt x="39" y="5"/>
                      <a:pt x="40" y="4"/>
                      <a:pt x="40" y="4"/>
                    </a:cubicBezTo>
                    <a:cubicBezTo>
                      <a:pt x="41" y="4"/>
                      <a:pt x="41" y="5"/>
                      <a:pt x="42" y="5"/>
                    </a:cubicBezTo>
                    <a:cubicBezTo>
                      <a:pt x="43" y="6"/>
                      <a:pt x="44" y="7"/>
                      <a:pt x="44" y="9"/>
                    </a:cubicBezTo>
                    <a:cubicBezTo>
                      <a:pt x="45" y="11"/>
                      <a:pt x="48" y="12"/>
                      <a:pt x="46" y="13"/>
                    </a:cubicBezTo>
                    <a:cubicBezTo>
                      <a:pt x="44" y="14"/>
                      <a:pt x="43" y="13"/>
                      <a:pt x="42" y="14"/>
                    </a:cubicBezTo>
                    <a:cubicBezTo>
                      <a:pt x="42" y="14"/>
                      <a:pt x="40" y="14"/>
                      <a:pt x="41" y="15"/>
                    </a:cubicBezTo>
                    <a:cubicBezTo>
                      <a:pt x="41" y="16"/>
                      <a:pt x="42" y="16"/>
                      <a:pt x="43" y="16"/>
                    </a:cubicBezTo>
                    <a:cubicBezTo>
                      <a:pt x="45" y="16"/>
                      <a:pt x="46" y="16"/>
                      <a:pt x="45" y="17"/>
                    </a:cubicBezTo>
                    <a:cubicBezTo>
                      <a:pt x="43" y="18"/>
                      <a:pt x="44" y="19"/>
                      <a:pt x="44" y="19"/>
                    </a:cubicBezTo>
                    <a:cubicBezTo>
                      <a:pt x="45" y="20"/>
                      <a:pt x="45" y="21"/>
                      <a:pt x="44" y="21"/>
                    </a:cubicBezTo>
                    <a:cubicBezTo>
                      <a:pt x="44" y="21"/>
                      <a:pt x="44" y="21"/>
                      <a:pt x="45" y="21"/>
                    </a:cubicBezTo>
                    <a:cubicBezTo>
                      <a:pt x="45" y="22"/>
                      <a:pt x="50" y="24"/>
                      <a:pt x="51" y="26"/>
                    </a:cubicBezTo>
                    <a:cubicBezTo>
                      <a:pt x="51" y="26"/>
                      <a:pt x="52" y="27"/>
                      <a:pt x="50" y="25"/>
                    </a:cubicBezTo>
                    <a:cubicBezTo>
                      <a:pt x="50" y="25"/>
                      <a:pt x="49" y="25"/>
                      <a:pt x="48" y="25"/>
                    </a:cubicBezTo>
                    <a:cubicBezTo>
                      <a:pt x="48" y="25"/>
                      <a:pt x="45" y="25"/>
                      <a:pt x="44" y="25"/>
                    </a:cubicBezTo>
                    <a:cubicBezTo>
                      <a:pt x="42" y="24"/>
                      <a:pt x="40" y="25"/>
                      <a:pt x="40" y="26"/>
                    </a:cubicBezTo>
                    <a:cubicBezTo>
                      <a:pt x="40" y="27"/>
                      <a:pt x="39" y="29"/>
                      <a:pt x="40" y="30"/>
                    </a:cubicBezTo>
                    <a:cubicBezTo>
                      <a:pt x="40" y="31"/>
                      <a:pt x="40" y="33"/>
                      <a:pt x="40" y="33"/>
                    </a:cubicBezTo>
                    <a:cubicBezTo>
                      <a:pt x="40" y="34"/>
                      <a:pt x="39" y="34"/>
                      <a:pt x="39" y="32"/>
                    </a:cubicBezTo>
                    <a:cubicBezTo>
                      <a:pt x="40" y="31"/>
                      <a:pt x="38" y="31"/>
                      <a:pt x="37" y="30"/>
                    </a:cubicBezTo>
                    <a:cubicBezTo>
                      <a:pt x="36" y="30"/>
                      <a:pt x="35" y="30"/>
                      <a:pt x="36" y="31"/>
                    </a:cubicBezTo>
                    <a:cubicBezTo>
                      <a:pt x="36" y="32"/>
                      <a:pt x="37" y="32"/>
                      <a:pt x="36" y="33"/>
                    </a:cubicBezTo>
                    <a:cubicBezTo>
                      <a:pt x="35" y="34"/>
                      <a:pt x="32" y="34"/>
                      <a:pt x="33" y="32"/>
                    </a:cubicBezTo>
                    <a:cubicBezTo>
                      <a:pt x="35" y="31"/>
                      <a:pt x="33" y="30"/>
                      <a:pt x="32" y="29"/>
                    </a:cubicBezTo>
                    <a:cubicBezTo>
                      <a:pt x="30" y="28"/>
                      <a:pt x="28" y="28"/>
                      <a:pt x="26" y="28"/>
                    </a:cubicBezTo>
                    <a:cubicBezTo>
                      <a:pt x="24" y="29"/>
                      <a:pt x="19" y="29"/>
                      <a:pt x="18" y="32"/>
                    </a:cubicBezTo>
                    <a:cubicBezTo>
                      <a:pt x="17" y="34"/>
                      <a:pt x="17" y="36"/>
                      <a:pt x="19" y="36"/>
                    </a:cubicBezTo>
                    <a:cubicBezTo>
                      <a:pt x="22" y="36"/>
                      <a:pt x="20" y="37"/>
                      <a:pt x="20" y="37"/>
                    </a:cubicBezTo>
                    <a:cubicBezTo>
                      <a:pt x="20" y="38"/>
                      <a:pt x="20" y="40"/>
                      <a:pt x="20" y="38"/>
                    </a:cubicBezTo>
                    <a:cubicBezTo>
                      <a:pt x="20" y="38"/>
                      <a:pt x="20" y="38"/>
                      <a:pt x="20" y="37"/>
                    </a:cubicBezTo>
                    <a:cubicBezTo>
                      <a:pt x="20" y="39"/>
                      <a:pt x="20" y="40"/>
                      <a:pt x="20" y="40"/>
                    </a:cubicBezTo>
                    <a:cubicBezTo>
                      <a:pt x="20" y="41"/>
                      <a:pt x="20" y="42"/>
                      <a:pt x="19" y="42"/>
                    </a:cubicBezTo>
                    <a:cubicBezTo>
                      <a:pt x="19" y="42"/>
                      <a:pt x="18" y="45"/>
                      <a:pt x="18" y="45"/>
                    </a:cubicBezTo>
                    <a:cubicBezTo>
                      <a:pt x="18" y="46"/>
                      <a:pt x="18" y="48"/>
                      <a:pt x="17" y="49"/>
                    </a:cubicBezTo>
                    <a:cubicBezTo>
                      <a:pt x="17" y="49"/>
                      <a:pt x="17" y="49"/>
                      <a:pt x="17" y="49"/>
                    </a:cubicBezTo>
                    <a:cubicBezTo>
                      <a:pt x="16" y="49"/>
                      <a:pt x="16" y="50"/>
                      <a:pt x="15" y="50"/>
                    </a:cubicBezTo>
                    <a:cubicBezTo>
                      <a:pt x="15" y="49"/>
                      <a:pt x="14" y="50"/>
                      <a:pt x="13" y="50"/>
                    </a:cubicBezTo>
                    <a:cubicBezTo>
                      <a:pt x="12" y="50"/>
                      <a:pt x="13" y="50"/>
                      <a:pt x="13" y="51"/>
                    </a:cubicBezTo>
                    <a:cubicBezTo>
                      <a:pt x="13" y="51"/>
                      <a:pt x="13" y="51"/>
                      <a:pt x="13" y="52"/>
                    </a:cubicBezTo>
                    <a:cubicBezTo>
                      <a:pt x="12" y="53"/>
                      <a:pt x="13" y="53"/>
                      <a:pt x="13" y="53"/>
                    </a:cubicBezTo>
                    <a:cubicBezTo>
                      <a:pt x="13" y="53"/>
                      <a:pt x="15" y="54"/>
                      <a:pt x="16" y="54"/>
                    </a:cubicBezTo>
                    <a:cubicBezTo>
                      <a:pt x="16" y="54"/>
                      <a:pt x="17" y="54"/>
                      <a:pt x="17" y="55"/>
                    </a:cubicBezTo>
                    <a:cubicBezTo>
                      <a:pt x="18" y="55"/>
                      <a:pt x="17" y="57"/>
                      <a:pt x="17" y="57"/>
                    </a:cubicBezTo>
                    <a:cubicBezTo>
                      <a:pt x="17" y="57"/>
                      <a:pt x="17" y="58"/>
                      <a:pt x="17" y="58"/>
                    </a:cubicBezTo>
                    <a:cubicBezTo>
                      <a:pt x="16" y="58"/>
                      <a:pt x="16" y="59"/>
                      <a:pt x="15" y="59"/>
                    </a:cubicBezTo>
                    <a:cubicBezTo>
                      <a:pt x="15" y="59"/>
                      <a:pt x="14" y="60"/>
                      <a:pt x="13" y="60"/>
                    </a:cubicBezTo>
                    <a:cubicBezTo>
                      <a:pt x="13" y="60"/>
                      <a:pt x="12" y="61"/>
                      <a:pt x="12" y="61"/>
                    </a:cubicBezTo>
                    <a:cubicBezTo>
                      <a:pt x="12" y="62"/>
                      <a:pt x="13" y="62"/>
                      <a:pt x="14" y="62"/>
                    </a:cubicBezTo>
                    <a:cubicBezTo>
                      <a:pt x="14" y="63"/>
                      <a:pt x="14" y="64"/>
                      <a:pt x="13" y="64"/>
                    </a:cubicBezTo>
                    <a:cubicBezTo>
                      <a:pt x="13" y="64"/>
                      <a:pt x="12" y="64"/>
                      <a:pt x="12" y="64"/>
                    </a:cubicBezTo>
                    <a:cubicBezTo>
                      <a:pt x="11" y="64"/>
                      <a:pt x="10" y="65"/>
                      <a:pt x="9" y="65"/>
                    </a:cubicBezTo>
                    <a:cubicBezTo>
                      <a:pt x="9" y="65"/>
                      <a:pt x="8" y="65"/>
                      <a:pt x="7" y="65"/>
                    </a:cubicBezTo>
                    <a:cubicBezTo>
                      <a:pt x="7" y="65"/>
                      <a:pt x="5" y="65"/>
                      <a:pt x="4" y="64"/>
                    </a:cubicBezTo>
                    <a:cubicBezTo>
                      <a:pt x="4" y="64"/>
                      <a:pt x="3" y="65"/>
                      <a:pt x="3" y="65"/>
                    </a:cubicBezTo>
                    <a:cubicBezTo>
                      <a:pt x="3" y="65"/>
                      <a:pt x="2" y="65"/>
                      <a:pt x="2" y="66"/>
                    </a:cubicBezTo>
                    <a:cubicBezTo>
                      <a:pt x="1" y="66"/>
                      <a:pt x="1" y="66"/>
                      <a:pt x="1" y="67"/>
                    </a:cubicBezTo>
                    <a:cubicBezTo>
                      <a:pt x="1" y="67"/>
                      <a:pt x="1" y="68"/>
                      <a:pt x="1" y="68"/>
                    </a:cubicBezTo>
                    <a:cubicBezTo>
                      <a:pt x="1" y="68"/>
                      <a:pt x="4" y="72"/>
                      <a:pt x="5" y="72"/>
                    </a:cubicBezTo>
                    <a:cubicBezTo>
                      <a:pt x="5" y="72"/>
                      <a:pt x="5" y="74"/>
                      <a:pt x="5" y="75"/>
                    </a:cubicBezTo>
                    <a:cubicBezTo>
                      <a:pt x="5" y="75"/>
                      <a:pt x="5" y="75"/>
                      <a:pt x="4" y="76"/>
                    </a:cubicBezTo>
                    <a:cubicBezTo>
                      <a:pt x="4" y="76"/>
                      <a:pt x="3" y="77"/>
                      <a:pt x="3" y="77"/>
                    </a:cubicBezTo>
                    <a:cubicBezTo>
                      <a:pt x="3" y="77"/>
                      <a:pt x="3" y="78"/>
                      <a:pt x="3" y="78"/>
                    </a:cubicBezTo>
                    <a:cubicBezTo>
                      <a:pt x="3" y="79"/>
                      <a:pt x="3" y="79"/>
                      <a:pt x="4" y="79"/>
                    </a:cubicBezTo>
                    <a:cubicBezTo>
                      <a:pt x="5" y="79"/>
                      <a:pt x="3" y="79"/>
                      <a:pt x="3" y="80"/>
                    </a:cubicBezTo>
                    <a:cubicBezTo>
                      <a:pt x="3" y="80"/>
                      <a:pt x="2" y="80"/>
                      <a:pt x="2" y="80"/>
                    </a:cubicBezTo>
                    <a:cubicBezTo>
                      <a:pt x="1" y="80"/>
                      <a:pt x="0" y="81"/>
                      <a:pt x="0" y="81"/>
                    </a:cubicBezTo>
                    <a:cubicBezTo>
                      <a:pt x="0" y="81"/>
                      <a:pt x="0" y="82"/>
                      <a:pt x="0" y="82"/>
                    </a:cubicBezTo>
                    <a:cubicBezTo>
                      <a:pt x="0" y="83"/>
                      <a:pt x="1" y="83"/>
                      <a:pt x="1" y="83"/>
                    </a:cubicBezTo>
                    <a:cubicBezTo>
                      <a:pt x="1" y="83"/>
                      <a:pt x="1" y="83"/>
                      <a:pt x="1" y="83"/>
                    </a:cubicBezTo>
                    <a:cubicBezTo>
                      <a:pt x="2" y="83"/>
                      <a:pt x="2" y="83"/>
                      <a:pt x="2" y="84"/>
                    </a:cubicBezTo>
                    <a:cubicBezTo>
                      <a:pt x="3" y="84"/>
                      <a:pt x="3" y="84"/>
                      <a:pt x="3" y="84"/>
                    </a:cubicBezTo>
                    <a:cubicBezTo>
                      <a:pt x="3" y="84"/>
                      <a:pt x="2" y="85"/>
                      <a:pt x="2" y="85"/>
                    </a:cubicBezTo>
                    <a:cubicBezTo>
                      <a:pt x="2" y="85"/>
                      <a:pt x="2" y="85"/>
                      <a:pt x="2" y="86"/>
                    </a:cubicBezTo>
                    <a:cubicBezTo>
                      <a:pt x="1" y="86"/>
                      <a:pt x="2" y="87"/>
                      <a:pt x="2" y="87"/>
                    </a:cubicBezTo>
                    <a:cubicBezTo>
                      <a:pt x="2" y="87"/>
                      <a:pt x="2" y="87"/>
                      <a:pt x="2" y="87"/>
                    </a:cubicBezTo>
                    <a:cubicBezTo>
                      <a:pt x="2" y="87"/>
                      <a:pt x="5" y="91"/>
                      <a:pt x="6" y="91"/>
                    </a:cubicBezTo>
                    <a:cubicBezTo>
                      <a:pt x="6" y="92"/>
                      <a:pt x="7" y="94"/>
                      <a:pt x="7" y="95"/>
                    </a:cubicBezTo>
                    <a:cubicBezTo>
                      <a:pt x="8" y="95"/>
                      <a:pt x="7" y="95"/>
                      <a:pt x="7" y="96"/>
                    </a:cubicBezTo>
                    <a:cubicBezTo>
                      <a:pt x="7" y="96"/>
                      <a:pt x="5" y="98"/>
                      <a:pt x="4" y="99"/>
                    </a:cubicBezTo>
                    <a:cubicBezTo>
                      <a:pt x="4" y="99"/>
                      <a:pt x="4" y="99"/>
                      <a:pt x="4" y="9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16" name="Freeform 1128">
                <a:extLst>
                  <a:ext uri="{FF2B5EF4-FFF2-40B4-BE49-F238E27FC236}">
                    <a16:creationId xmlns:a16="http://schemas.microsoft.com/office/drawing/2014/main" id="{5EBBA81B-AB8B-4563-972B-FB143AAE8EF7}"/>
                  </a:ext>
                </a:extLst>
              </p:cNvPr>
              <p:cNvSpPr>
                <a:spLocks/>
              </p:cNvSpPr>
              <p:nvPr/>
            </p:nvSpPr>
            <p:spPr bwMode="auto">
              <a:xfrm>
                <a:off x="3787" y="1459"/>
                <a:ext cx="8" cy="4"/>
              </a:xfrm>
              <a:custGeom>
                <a:avLst/>
                <a:gdLst>
                  <a:gd name="T0" fmla="*/ 6 w 6"/>
                  <a:gd name="T1" fmla="*/ 1 h 3"/>
                  <a:gd name="T2" fmla="*/ 6 w 6"/>
                  <a:gd name="T3" fmla="*/ 1 h 3"/>
                  <a:gd name="T4" fmla="*/ 3 w 6"/>
                  <a:gd name="T5" fmla="*/ 0 h 3"/>
                  <a:gd name="T6" fmla="*/ 2 w 6"/>
                  <a:gd name="T7" fmla="*/ 3 h 3"/>
                  <a:gd name="T8" fmla="*/ 5 w 6"/>
                  <a:gd name="T9" fmla="*/ 3 h 3"/>
                  <a:gd name="T10" fmla="*/ 6 w 6"/>
                  <a:gd name="T11" fmla="*/ 3 h 3"/>
                  <a:gd name="T12" fmla="*/ 6 w 6"/>
                  <a:gd name="T13" fmla="*/ 1 h 3"/>
                </a:gdLst>
                <a:ahLst/>
                <a:cxnLst>
                  <a:cxn ang="0">
                    <a:pos x="T0" y="T1"/>
                  </a:cxn>
                  <a:cxn ang="0">
                    <a:pos x="T2" y="T3"/>
                  </a:cxn>
                  <a:cxn ang="0">
                    <a:pos x="T4" y="T5"/>
                  </a:cxn>
                  <a:cxn ang="0">
                    <a:pos x="T6" y="T7"/>
                  </a:cxn>
                  <a:cxn ang="0">
                    <a:pos x="T8" y="T9"/>
                  </a:cxn>
                  <a:cxn ang="0">
                    <a:pos x="T10" y="T11"/>
                  </a:cxn>
                  <a:cxn ang="0">
                    <a:pos x="T12" y="T13"/>
                  </a:cxn>
                </a:cxnLst>
                <a:rect l="0" t="0" r="r" b="b"/>
                <a:pathLst>
                  <a:path w="6" h="3">
                    <a:moveTo>
                      <a:pt x="6" y="1"/>
                    </a:moveTo>
                    <a:cubicBezTo>
                      <a:pt x="6" y="1"/>
                      <a:pt x="6" y="1"/>
                      <a:pt x="6" y="1"/>
                    </a:cubicBezTo>
                    <a:cubicBezTo>
                      <a:pt x="5" y="1"/>
                      <a:pt x="3" y="0"/>
                      <a:pt x="3" y="0"/>
                    </a:cubicBezTo>
                    <a:cubicBezTo>
                      <a:pt x="2" y="0"/>
                      <a:pt x="0" y="2"/>
                      <a:pt x="2" y="3"/>
                    </a:cubicBezTo>
                    <a:cubicBezTo>
                      <a:pt x="4" y="3"/>
                      <a:pt x="4" y="3"/>
                      <a:pt x="5" y="3"/>
                    </a:cubicBezTo>
                    <a:cubicBezTo>
                      <a:pt x="5" y="3"/>
                      <a:pt x="6" y="3"/>
                      <a:pt x="6" y="3"/>
                    </a:cubicBezTo>
                    <a:cubicBezTo>
                      <a:pt x="6" y="2"/>
                      <a:pt x="6" y="2"/>
                      <a:pt x="6"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17" name="Freeform 1129">
                <a:extLst>
                  <a:ext uri="{FF2B5EF4-FFF2-40B4-BE49-F238E27FC236}">
                    <a16:creationId xmlns:a16="http://schemas.microsoft.com/office/drawing/2014/main" id="{7BBC5C0B-6185-47D9-BC92-364B85AB63B2}"/>
                  </a:ext>
                </a:extLst>
              </p:cNvPr>
              <p:cNvSpPr>
                <a:spLocks/>
              </p:cNvSpPr>
              <p:nvPr/>
            </p:nvSpPr>
            <p:spPr bwMode="auto">
              <a:xfrm>
                <a:off x="3927" y="947"/>
                <a:ext cx="224" cy="339"/>
              </a:xfrm>
              <a:custGeom>
                <a:avLst/>
                <a:gdLst>
                  <a:gd name="T0" fmla="*/ 157 w 162"/>
                  <a:gd name="T1" fmla="*/ 173 h 247"/>
                  <a:gd name="T2" fmla="*/ 144 w 162"/>
                  <a:gd name="T3" fmla="*/ 157 h 247"/>
                  <a:gd name="T4" fmla="*/ 142 w 162"/>
                  <a:gd name="T5" fmla="*/ 146 h 247"/>
                  <a:gd name="T6" fmla="*/ 142 w 162"/>
                  <a:gd name="T7" fmla="*/ 139 h 247"/>
                  <a:gd name="T8" fmla="*/ 136 w 162"/>
                  <a:gd name="T9" fmla="*/ 128 h 247"/>
                  <a:gd name="T10" fmla="*/ 135 w 162"/>
                  <a:gd name="T11" fmla="*/ 116 h 247"/>
                  <a:gd name="T12" fmla="*/ 141 w 162"/>
                  <a:gd name="T13" fmla="*/ 113 h 247"/>
                  <a:gd name="T14" fmla="*/ 126 w 162"/>
                  <a:gd name="T15" fmla="*/ 84 h 247"/>
                  <a:gd name="T16" fmla="*/ 139 w 162"/>
                  <a:gd name="T17" fmla="*/ 64 h 247"/>
                  <a:gd name="T18" fmla="*/ 129 w 162"/>
                  <a:gd name="T19" fmla="*/ 53 h 247"/>
                  <a:gd name="T20" fmla="*/ 118 w 162"/>
                  <a:gd name="T21" fmla="*/ 45 h 247"/>
                  <a:gd name="T22" fmla="*/ 117 w 162"/>
                  <a:gd name="T23" fmla="*/ 33 h 247"/>
                  <a:gd name="T24" fmla="*/ 125 w 162"/>
                  <a:gd name="T25" fmla="*/ 29 h 247"/>
                  <a:gd name="T26" fmla="*/ 123 w 162"/>
                  <a:gd name="T27" fmla="*/ 10 h 247"/>
                  <a:gd name="T28" fmla="*/ 94 w 162"/>
                  <a:gd name="T29" fmla="*/ 5 h 247"/>
                  <a:gd name="T30" fmla="*/ 77 w 162"/>
                  <a:gd name="T31" fmla="*/ 27 h 247"/>
                  <a:gd name="T32" fmla="*/ 65 w 162"/>
                  <a:gd name="T33" fmla="*/ 40 h 247"/>
                  <a:gd name="T34" fmla="*/ 49 w 162"/>
                  <a:gd name="T35" fmla="*/ 34 h 247"/>
                  <a:gd name="T36" fmla="*/ 28 w 162"/>
                  <a:gd name="T37" fmla="*/ 37 h 247"/>
                  <a:gd name="T38" fmla="*/ 13 w 162"/>
                  <a:gd name="T39" fmla="*/ 23 h 247"/>
                  <a:gd name="T40" fmla="*/ 7 w 162"/>
                  <a:gd name="T41" fmla="*/ 25 h 247"/>
                  <a:gd name="T42" fmla="*/ 39 w 162"/>
                  <a:gd name="T43" fmla="*/ 51 h 247"/>
                  <a:gd name="T44" fmla="*/ 43 w 162"/>
                  <a:gd name="T45" fmla="*/ 61 h 247"/>
                  <a:gd name="T46" fmla="*/ 45 w 162"/>
                  <a:gd name="T47" fmla="*/ 70 h 247"/>
                  <a:gd name="T48" fmla="*/ 50 w 162"/>
                  <a:gd name="T49" fmla="*/ 85 h 247"/>
                  <a:gd name="T50" fmla="*/ 46 w 162"/>
                  <a:gd name="T51" fmla="*/ 95 h 247"/>
                  <a:gd name="T52" fmla="*/ 52 w 162"/>
                  <a:gd name="T53" fmla="*/ 111 h 247"/>
                  <a:gd name="T54" fmla="*/ 65 w 162"/>
                  <a:gd name="T55" fmla="*/ 116 h 247"/>
                  <a:gd name="T56" fmla="*/ 70 w 162"/>
                  <a:gd name="T57" fmla="*/ 128 h 247"/>
                  <a:gd name="T58" fmla="*/ 69 w 162"/>
                  <a:gd name="T59" fmla="*/ 134 h 247"/>
                  <a:gd name="T60" fmla="*/ 60 w 162"/>
                  <a:gd name="T61" fmla="*/ 135 h 247"/>
                  <a:gd name="T62" fmla="*/ 46 w 162"/>
                  <a:gd name="T63" fmla="*/ 151 h 247"/>
                  <a:gd name="T64" fmla="*/ 41 w 162"/>
                  <a:gd name="T65" fmla="*/ 156 h 247"/>
                  <a:gd name="T66" fmla="*/ 25 w 162"/>
                  <a:gd name="T67" fmla="*/ 167 h 247"/>
                  <a:gd name="T68" fmla="*/ 21 w 162"/>
                  <a:gd name="T69" fmla="*/ 173 h 247"/>
                  <a:gd name="T70" fmla="*/ 16 w 162"/>
                  <a:gd name="T71" fmla="*/ 177 h 247"/>
                  <a:gd name="T72" fmla="*/ 12 w 162"/>
                  <a:gd name="T73" fmla="*/ 194 h 247"/>
                  <a:gd name="T74" fmla="*/ 15 w 162"/>
                  <a:gd name="T75" fmla="*/ 211 h 247"/>
                  <a:gd name="T76" fmla="*/ 13 w 162"/>
                  <a:gd name="T77" fmla="*/ 220 h 247"/>
                  <a:gd name="T78" fmla="*/ 15 w 162"/>
                  <a:gd name="T79" fmla="*/ 234 h 247"/>
                  <a:gd name="T80" fmla="*/ 21 w 162"/>
                  <a:gd name="T81" fmla="*/ 234 h 247"/>
                  <a:gd name="T82" fmla="*/ 31 w 162"/>
                  <a:gd name="T83" fmla="*/ 240 h 247"/>
                  <a:gd name="T84" fmla="*/ 28 w 162"/>
                  <a:gd name="T85" fmla="*/ 242 h 247"/>
                  <a:gd name="T86" fmla="*/ 28 w 162"/>
                  <a:gd name="T87" fmla="*/ 245 h 247"/>
                  <a:gd name="T88" fmla="*/ 38 w 162"/>
                  <a:gd name="T89" fmla="*/ 244 h 247"/>
                  <a:gd name="T90" fmla="*/ 41 w 162"/>
                  <a:gd name="T91" fmla="*/ 247 h 247"/>
                  <a:gd name="T92" fmla="*/ 56 w 162"/>
                  <a:gd name="T93" fmla="*/ 245 h 247"/>
                  <a:gd name="T94" fmla="*/ 71 w 162"/>
                  <a:gd name="T95" fmla="*/ 241 h 247"/>
                  <a:gd name="T96" fmla="*/ 79 w 162"/>
                  <a:gd name="T97" fmla="*/ 239 h 247"/>
                  <a:gd name="T98" fmla="*/ 82 w 162"/>
                  <a:gd name="T99" fmla="*/ 236 h 247"/>
                  <a:gd name="T100" fmla="*/ 106 w 162"/>
                  <a:gd name="T101" fmla="*/ 234 h 247"/>
                  <a:gd name="T102" fmla="*/ 113 w 162"/>
                  <a:gd name="T103" fmla="*/ 228 h 247"/>
                  <a:gd name="T104" fmla="*/ 133 w 162"/>
                  <a:gd name="T105" fmla="*/ 212 h 247"/>
                  <a:gd name="T106" fmla="*/ 148 w 162"/>
                  <a:gd name="T107" fmla="*/ 198 h 247"/>
                  <a:gd name="T108" fmla="*/ 161 w 162"/>
                  <a:gd name="T109" fmla="*/ 17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2" h="247">
                    <a:moveTo>
                      <a:pt x="161" y="177"/>
                    </a:moveTo>
                    <a:cubicBezTo>
                      <a:pt x="160" y="177"/>
                      <a:pt x="159" y="174"/>
                      <a:pt x="159" y="174"/>
                    </a:cubicBezTo>
                    <a:cubicBezTo>
                      <a:pt x="158" y="173"/>
                      <a:pt x="157" y="173"/>
                      <a:pt x="157" y="173"/>
                    </a:cubicBezTo>
                    <a:cubicBezTo>
                      <a:pt x="157" y="173"/>
                      <a:pt x="141" y="162"/>
                      <a:pt x="140" y="161"/>
                    </a:cubicBezTo>
                    <a:cubicBezTo>
                      <a:pt x="140" y="160"/>
                      <a:pt x="139" y="160"/>
                      <a:pt x="140" y="160"/>
                    </a:cubicBezTo>
                    <a:cubicBezTo>
                      <a:pt x="141" y="159"/>
                      <a:pt x="143" y="158"/>
                      <a:pt x="144" y="157"/>
                    </a:cubicBezTo>
                    <a:cubicBezTo>
                      <a:pt x="144" y="157"/>
                      <a:pt x="145" y="155"/>
                      <a:pt x="147" y="155"/>
                    </a:cubicBezTo>
                    <a:cubicBezTo>
                      <a:pt x="148" y="154"/>
                      <a:pt x="148" y="153"/>
                      <a:pt x="148" y="150"/>
                    </a:cubicBezTo>
                    <a:cubicBezTo>
                      <a:pt x="147" y="147"/>
                      <a:pt x="143" y="146"/>
                      <a:pt x="142" y="146"/>
                    </a:cubicBezTo>
                    <a:cubicBezTo>
                      <a:pt x="141" y="146"/>
                      <a:pt x="140" y="141"/>
                      <a:pt x="139" y="141"/>
                    </a:cubicBezTo>
                    <a:cubicBezTo>
                      <a:pt x="139" y="140"/>
                      <a:pt x="139" y="140"/>
                      <a:pt x="139" y="140"/>
                    </a:cubicBezTo>
                    <a:cubicBezTo>
                      <a:pt x="140" y="140"/>
                      <a:pt x="140" y="140"/>
                      <a:pt x="142" y="139"/>
                    </a:cubicBezTo>
                    <a:cubicBezTo>
                      <a:pt x="143" y="139"/>
                      <a:pt x="140" y="136"/>
                      <a:pt x="139" y="135"/>
                    </a:cubicBezTo>
                    <a:cubicBezTo>
                      <a:pt x="137" y="134"/>
                      <a:pt x="135" y="135"/>
                      <a:pt x="134" y="133"/>
                    </a:cubicBezTo>
                    <a:cubicBezTo>
                      <a:pt x="133" y="131"/>
                      <a:pt x="133" y="129"/>
                      <a:pt x="136" y="128"/>
                    </a:cubicBezTo>
                    <a:cubicBezTo>
                      <a:pt x="138" y="128"/>
                      <a:pt x="136" y="126"/>
                      <a:pt x="134" y="125"/>
                    </a:cubicBezTo>
                    <a:cubicBezTo>
                      <a:pt x="132" y="124"/>
                      <a:pt x="134" y="121"/>
                      <a:pt x="135" y="120"/>
                    </a:cubicBezTo>
                    <a:cubicBezTo>
                      <a:pt x="135" y="119"/>
                      <a:pt x="136" y="117"/>
                      <a:pt x="135" y="116"/>
                    </a:cubicBezTo>
                    <a:cubicBezTo>
                      <a:pt x="135" y="115"/>
                      <a:pt x="135" y="115"/>
                      <a:pt x="136" y="115"/>
                    </a:cubicBezTo>
                    <a:cubicBezTo>
                      <a:pt x="137" y="114"/>
                      <a:pt x="139" y="114"/>
                      <a:pt x="140" y="114"/>
                    </a:cubicBezTo>
                    <a:cubicBezTo>
                      <a:pt x="141" y="114"/>
                      <a:pt x="141" y="113"/>
                      <a:pt x="141" y="113"/>
                    </a:cubicBezTo>
                    <a:cubicBezTo>
                      <a:pt x="141" y="113"/>
                      <a:pt x="135" y="99"/>
                      <a:pt x="134" y="98"/>
                    </a:cubicBezTo>
                    <a:cubicBezTo>
                      <a:pt x="133" y="96"/>
                      <a:pt x="131" y="92"/>
                      <a:pt x="130" y="90"/>
                    </a:cubicBezTo>
                    <a:cubicBezTo>
                      <a:pt x="129" y="89"/>
                      <a:pt x="127" y="87"/>
                      <a:pt x="126" y="84"/>
                    </a:cubicBezTo>
                    <a:cubicBezTo>
                      <a:pt x="125" y="82"/>
                      <a:pt x="128" y="78"/>
                      <a:pt x="130" y="77"/>
                    </a:cubicBezTo>
                    <a:cubicBezTo>
                      <a:pt x="131" y="75"/>
                      <a:pt x="138" y="65"/>
                      <a:pt x="139" y="65"/>
                    </a:cubicBezTo>
                    <a:cubicBezTo>
                      <a:pt x="139" y="64"/>
                      <a:pt x="139" y="64"/>
                      <a:pt x="139" y="64"/>
                    </a:cubicBezTo>
                    <a:cubicBezTo>
                      <a:pt x="139" y="64"/>
                      <a:pt x="136" y="62"/>
                      <a:pt x="135" y="61"/>
                    </a:cubicBezTo>
                    <a:cubicBezTo>
                      <a:pt x="134" y="60"/>
                      <a:pt x="131" y="55"/>
                      <a:pt x="130" y="55"/>
                    </a:cubicBezTo>
                    <a:cubicBezTo>
                      <a:pt x="130" y="54"/>
                      <a:pt x="129" y="53"/>
                      <a:pt x="129" y="53"/>
                    </a:cubicBezTo>
                    <a:cubicBezTo>
                      <a:pt x="128" y="53"/>
                      <a:pt x="122" y="52"/>
                      <a:pt x="121" y="51"/>
                    </a:cubicBezTo>
                    <a:cubicBezTo>
                      <a:pt x="121" y="51"/>
                      <a:pt x="120" y="50"/>
                      <a:pt x="120" y="50"/>
                    </a:cubicBezTo>
                    <a:cubicBezTo>
                      <a:pt x="120" y="49"/>
                      <a:pt x="118" y="46"/>
                      <a:pt x="118" y="45"/>
                    </a:cubicBezTo>
                    <a:cubicBezTo>
                      <a:pt x="118" y="44"/>
                      <a:pt x="117" y="44"/>
                      <a:pt x="117" y="43"/>
                    </a:cubicBezTo>
                    <a:cubicBezTo>
                      <a:pt x="118" y="41"/>
                      <a:pt x="120" y="35"/>
                      <a:pt x="120" y="34"/>
                    </a:cubicBezTo>
                    <a:cubicBezTo>
                      <a:pt x="120" y="33"/>
                      <a:pt x="119" y="34"/>
                      <a:pt x="117" y="33"/>
                    </a:cubicBezTo>
                    <a:cubicBezTo>
                      <a:pt x="116" y="33"/>
                      <a:pt x="116" y="33"/>
                      <a:pt x="117" y="32"/>
                    </a:cubicBezTo>
                    <a:cubicBezTo>
                      <a:pt x="118" y="32"/>
                      <a:pt x="123" y="30"/>
                      <a:pt x="124" y="30"/>
                    </a:cubicBezTo>
                    <a:cubicBezTo>
                      <a:pt x="124" y="30"/>
                      <a:pt x="124" y="30"/>
                      <a:pt x="125" y="29"/>
                    </a:cubicBezTo>
                    <a:cubicBezTo>
                      <a:pt x="124" y="28"/>
                      <a:pt x="124" y="26"/>
                      <a:pt x="123" y="25"/>
                    </a:cubicBezTo>
                    <a:cubicBezTo>
                      <a:pt x="123" y="24"/>
                      <a:pt x="127" y="20"/>
                      <a:pt x="127" y="20"/>
                    </a:cubicBezTo>
                    <a:cubicBezTo>
                      <a:pt x="131" y="15"/>
                      <a:pt x="125" y="11"/>
                      <a:pt x="123" y="10"/>
                    </a:cubicBezTo>
                    <a:cubicBezTo>
                      <a:pt x="120" y="10"/>
                      <a:pt x="116" y="8"/>
                      <a:pt x="111" y="4"/>
                    </a:cubicBezTo>
                    <a:cubicBezTo>
                      <a:pt x="107" y="0"/>
                      <a:pt x="103" y="2"/>
                      <a:pt x="102" y="3"/>
                    </a:cubicBezTo>
                    <a:cubicBezTo>
                      <a:pt x="101" y="3"/>
                      <a:pt x="98" y="5"/>
                      <a:pt x="94" y="5"/>
                    </a:cubicBezTo>
                    <a:cubicBezTo>
                      <a:pt x="90" y="5"/>
                      <a:pt x="86" y="7"/>
                      <a:pt x="86" y="8"/>
                    </a:cubicBezTo>
                    <a:cubicBezTo>
                      <a:pt x="85" y="8"/>
                      <a:pt x="83" y="9"/>
                      <a:pt x="83" y="9"/>
                    </a:cubicBezTo>
                    <a:cubicBezTo>
                      <a:pt x="78" y="14"/>
                      <a:pt x="77" y="22"/>
                      <a:pt x="77" y="27"/>
                    </a:cubicBezTo>
                    <a:cubicBezTo>
                      <a:pt x="76" y="32"/>
                      <a:pt x="73" y="32"/>
                      <a:pt x="73" y="32"/>
                    </a:cubicBezTo>
                    <a:cubicBezTo>
                      <a:pt x="72" y="32"/>
                      <a:pt x="71" y="33"/>
                      <a:pt x="71" y="33"/>
                    </a:cubicBezTo>
                    <a:cubicBezTo>
                      <a:pt x="71" y="33"/>
                      <a:pt x="66" y="39"/>
                      <a:pt x="65" y="40"/>
                    </a:cubicBezTo>
                    <a:cubicBezTo>
                      <a:pt x="64" y="41"/>
                      <a:pt x="63" y="40"/>
                      <a:pt x="63" y="40"/>
                    </a:cubicBezTo>
                    <a:cubicBezTo>
                      <a:pt x="63" y="40"/>
                      <a:pt x="54" y="36"/>
                      <a:pt x="53" y="36"/>
                    </a:cubicBezTo>
                    <a:cubicBezTo>
                      <a:pt x="52" y="35"/>
                      <a:pt x="49" y="35"/>
                      <a:pt x="49" y="34"/>
                    </a:cubicBezTo>
                    <a:cubicBezTo>
                      <a:pt x="48" y="34"/>
                      <a:pt x="47" y="35"/>
                      <a:pt x="47" y="36"/>
                    </a:cubicBezTo>
                    <a:cubicBezTo>
                      <a:pt x="47" y="37"/>
                      <a:pt x="46" y="37"/>
                      <a:pt x="46" y="37"/>
                    </a:cubicBezTo>
                    <a:cubicBezTo>
                      <a:pt x="46" y="37"/>
                      <a:pt x="30" y="37"/>
                      <a:pt x="28" y="37"/>
                    </a:cubicBezTo>
                    <a:cubicBezTo>
                      <a:pt x="27" y="37"/>
                      <a:pt x="26" y="36"/>
                      <a:pt x="26" y="35"/>
                    </a:cubicBezTo>
                    <a:cubicBezTo>
                      <a:pt x="26" y="34"/>
                      <a:pt x="23" y="31"/>
                      <a:pt x="22" y="29"/>
                    </a:cubicBezTo>
                    <a:cubicBezTo>
                      <a:pt x="20" y="28"/>
                      <a:pt x="13" y="23"/>
                      <a:pt x="13" y="23"/>
                    </a:cubicBezTo>
                    <a:cubicBezTo>
                      <a:pt x="12" y="23"/>
                      <a:pt x="11" y="22"/>
                      <a:pt x="11" y="22"/>
                    </a:cubicBezTo>
                    <a:cubicBezTo>
                      <a:pt x="11" y="22"/>
                      <a:pt x="9" y="22"/>
                      <a:pt x="8" y="23"/>
                    </a:cubicBezTo>
                    <a:cubicBezTo>
                      <a:pt x="7" y="23"/>
                      <a:pt x="7" y="25"/>
                      <a:pt x="7" y="25"/>
                    </a:cubicBezTo>
                    <a:cubicBezTo>
                      <a:pt x="7" y="28"/>
                      <a:pt x="4" y="28"/>
                      <a:pt x="4" y="28"/>
                    </a:cubicBezTo>
                    <a:cubicBezTo>
                      <a:pt x="4" y="28"/>
                      <a:pt x="2" y="29"/>
                      <a:pt x="0" y="29"/>
                    </a:cubicBezTo>
                    <a:cubicBezTo>
                      <a:pt x="39" y="51"/>
                      <a:pt x="39" y="51"/>
                      <a:pt x="39" y="51"/>
                    </a:cubicBezTo>
                    <a:cubicBezTo>
                      <a:pt x="39" y="51"/>
                      <a:pt x="40" y="52"/>
                      <a:pt x="41" y="53"/>
                    </a:cubicBezTo>
                    <a:cubicBezTo>
                      <a:pt x="42" y="54"/>
                      <a:pt x="46" y="57"/>
                      <a:pt x="45" y="58"/>
                    </a:cubicBezTo>
                    <a:cubicBezTo>
                      <a:pt x="44" y="59"/>
                      <a:pt x="43" y="59"/>
                      <a:pt x="43" y="61"/>
                    </a:cubicBezTo>
                    <a:cubicBezTo>
                      <a:pt x="43" y="62"/>
                      <a:pt x="44" y="66"/>
                      <a:pt x="43" y="68"/>
                    </a:cubicBezTo>
                    <a:cubicBezTo>
                      <a:pt x="41" y="70"/>
                      <a:pt x="42" y="70"/>
                      <a:pt x="43" y="70"/>
                    </a:cubicBezTo>
                    <a:cubicBezTo>
                      <a:pt x="44" y="69"/>
                      <a:pt x="45" y="69"/>
                      <a:pt x="45" y="70"/>
                    </a:cubicBezTo>
                    <a:cubicBezTo>
                      <a:pt x="46" y="71"/>
                      <a:pt x="48" y="72"/>
                      <a:pt x="47" y="74"/>
                    </a:cubicBezTo>
                    <a:cubicBezTo>
                      <a:pt x="45" y="75"/>
                      <a:pt x="44" y="77"/>
                      <a:pt x="45" y="78"/>
                    </a:cubicBezTo>
                    <a:cubicBezTo>
                      <a:pt x="46" y="79"/>
                      <a:pt x="50" y="85"/>
                      <a:pt x="50" y="85"/>
                    </a:cubicBezTo>
                    <a:cubicBezTo>
                      <a:pt x="50" y="85"/>
                      <a:pt x="50" y="86"/>
                      <a:pt x="50" y="86"/>
                    </a:cubicBezTo>
                    <a:cubicBezTo>
                      <a:pt x="49" y="87"/>
                      <a:pt x="48" y="90"/>
                      <a:pt x="48" y="91"/>
                    </a:cubicBezTo>
                    <a:cubicBezTo>
                      <a:pt x="48" y="92"/>
                      <a:pt x="47" y="95"/>
                      <a:pt x="46" y="95"/>
                    </a:cubicBezTo>
                    <a:cubicBezTo>
                      <a:pt x="46" y="96"/>
                      <a:pt x="44" y="100"/>
                      <a:pt x="48" y="102"/>
                    </a:cubicBezTo>
                    <a:cubicBezTo>
                      <a:pt x="48" y="102"/>
                      <a:pt x="49" y="102"/>
                      <a:pt x="49" y="103"/>
                    </a:cubicBezTo>
                    <a:cubicBezTo>
                      <a:pt x="49" y="103"/>
                      <a:pt x="52" y="109"/>
                      <a:pt x="52" y="111"/>
                    </a:cubicBezTo>
                    <a:cubicBezTo>
                      <a:pt x="53" y="111"/>
                      <a:pt x="53" y="111"/>
                      <a:pt x="53" y="111"/>
                    </a:cubicBezTo>
                    <a:cubicBezTo>
                      <a:pt x="56" y="111"/>
                      <a:pt x="58" y="112"/>
                      <a:pt x="59" y="113"/>
                    </a:cubicBezTo>
                    <a:cubicBezTo>
                      <a:pt x="60" y="114"/>
                      <a:pt x="64" y="115"/>
                      <a:pt x="65" y="116"/>
                    </a:cubicBezTo>
                    <a:cubicBezTo>
                      <a:pt x="66" y="116"/>
                      <a:pt x="70" y="116"/>
                      <a:pt x="70" y="119"/>
                    </a:cubicBezTo>
                    <a:cubicBezTo>
                      <a:pt x="69" y="122"/>
                      <a:pt x="70" y="124"/>
                      <a:pt x="69" y="125"/>
                    </a:cubicBezTo>
                    <a:cubicBezTo>
                      <a:pt x="68" y="126"/>
                      <a:pt x="69" y="128"/>
                      <a:pt x="70" y="128"/>
                    </a:cubicBezTo>
                    <a:cubicBezTo>
                      <a:pt x="72" y="128"/>
                      <a:pt x="73" y="132"/>
                      <a:pt x="72" y="131"/>
                    </a:cubicBezTo>
                    <a:cubicBezTo>
                      <a:pt x="70" y="130"/>
                      <a:pt x="69" y="131"/>
                      <a:pt x="70" y="132"/>
                    </a:cubicBezTo>
                    <a:cubicBezTo>
                      <a:pt x="71" y="133"/>
                      <a:pt x="70" y="134"/>
                      <a:pt x="69" y="134"/>
                    </a:cubicBezTo>
                    <a:cubicBezTo>
                      <a:pt x="69" y="134"/>
                      <a:pt x="67" y="133"/>
                      <a:pt x="67" y="133"/>
                    </a:cubicBezTo>
                    <a:cubicBezTo>
                      <a:pt x="66" y="133"/>
                      <a:pt x="65" y="133"/>
                      <a:pt x="64" y="133"/>
                    </a:cubicBezTo>
                    <a:cubicBezTo>
                      <a:pt x="63" y="134"/>
                      <a:pt x="61" y="135"/>
                      <a:pt x="60" y="135"/>
                    </a:cubicBezTo>
                    <a:cubicBezTo>
                      <a:pt x="60" y="135"/>
                      <a:pt x="58" y="136"/>
                      <a:pt x="57" y="138"/>
                    </a:cubicBezTo>
                    <a:cubicBezTo>
                      <a:pt x="56" y="141"/>
                      <a:pt x="54" y="143"/>
                      <a:pt x="53" y="144"/>
                    </a:cubicBezTo>
                    <a:cubicBezTo>
                      <a:pt x="52" y="145"/>
                      <a:pt x="47" y="149"/>
                      <a:pt x="46" y="151"/>
                    </a:cubicBezTo>
                    <a:cubicBezTo>
                      <a:pt x="46" y="152"/>
                      <a:pt x="45" y="153"/>
                      <a:pt x="44" y="153"/>
                    </a:cubicBezTo>
                    <a:cubicBezTo>
                      <a:pt x="43" y="153"/>
                      <a:pt x="42" y="152"/>
                      <a:pt x="42" y="153"/>
                    </a:cubicBezTo>
                    <a:cubicBezTo>
                      <a:pt x="42" y="155"/>
                      <a:pt x="42" y="155"/>
                      <a:pt x="41" y="156"/>
                    </a:cubicBezTo>
                    <a:cubicBezTo>
                      <a:pt x="39" y="156"/>
                      <a:pt x="37" y="158"/>
                      <a:pt x="36" y="160"/>
                    </a:cubicBezTo>
                    <a:cubicBezTo>
                      <a:pt x="35" y="161"/>
                      <a:pt x="33" y="162"/>
                      <a:pt x="31" y="163"/>
                    </a:cubicBezTo>
                    <a:cubicBezTo>
                      <a:pt x="29" y="163"/>
                      <a:pt x="23" y="166"/>
                      <a:pt x="25" y="167"/>
                    </a:cubicBezTo>
                    <a:cubicBezTo>
                      <a:pt x="26" y="169"/>
                      <a:pt x="27" y="170"/>
                      <a:pt x="25" y="171"/>
                    </a:cubicBezTo>
                    <a:cubicBezTo>
                      <a:pt x="23" y="173"/>
                      <a:pt x="23" y="172"/>
                      <a:pt x="22" y="173"/>
                    </a:cubicBezTo>
                    <a:cubicBezTo>
                      <a:pt x="22" y="173"/>
                      <a:pt x="21" y="174"/>
                      <a:pt x="21" y="173"/>
                    </a:cubicBezTo>
                    <a:cubicBezTo>
                      <a:pt x="21" y="172"/>
                      <a:pt x="20" y="171"/>
                      <a:pt x="19" y="171"/>
                    </a:cubicBezTo>
                    <a:cubicBezTo>
                      <a:pt x="18" y="172"/>
                      <a:pt x="13" y="172"/>
                      <a:pt x="14" y="174"/>
                    </a:cubicBezTo>
                    <a:cubicBezTo>
                      <a:pt x="16" y="175"/>
                      <a:pt x="17" y="176"/>
                      <a:pt x="16" y="177"/>
                    </a:cubicBezTo>
                    <a:cubicBezTo>
                      <a:pt x="14" y="177"/>
                      <a:pt x="10" y="179"/>
                      <a:pt x="9" y="183"/>
                    </a:cubicBezTo>
                    <a:cubicBezTo>
                      <a:pt x="7" y="188"/>
                      <a:pt x="8" y="191"/>
                      <a:pt x="9" y="192"/>
                    </a:cubicBezTo>
                    <a:cubicBezTo>
                      <a:pt x="11" y="194"/>
                      <a:pt x="11" y="193"/>
                      <a:pt x="12" y="194"/>
                    </a:cubicBezTo>
                    <a:cubicBezTo>
                      <a:pt x="12" y="196"/>
                      <a:pt x="12" y="198"/>
                      <a:pt x="11" y="199"/>
                    </a:cubicBezTo>
                    <a:cubicBezTo>
                      <a:pt x="11" y="200"/>
                      <a:pt x="11" y="203"/>
                      <a:pt x="13" y="206"/>
                    </a:cubicBezTo>
                    <a:cubicBezTo>
                      <a:pt x="16" y="208"/>
                      <a:pt x="16" y="211"/>
                      <a:pt x="15" y="211"/>
                    </a:cubicBezTo>
                    <a:cubicBezTo>
                      <a:pt x="14" y="210"/>
                      <a:pt x="13" y="210"/>
                      <a:pt x="13" y="211"/>
                    </a:cubicBezTo>
                    <a:cubicBezTo>
                      <a:pt x="13" y="212"/>
                      <a:pt x="13" y="214"/>
                      <a:pt x="14" y="215"/>
                    </a:cubicBezTo>
                    <a:cubicBezTo>
                      <a:pt x="14" y="216"/>
                      <a:pt x="14" y="219"/>
                      <a:pt x="13" y="220"/>
                    </a:cubicBezTo>
                    <a:cubicBezTo>
                      <a:pt x="12" y="221"/>
                      <a:pt x="10" y="221"/>
                      <a:pt x="11" y="223"/>
                    </a:cubicBezTo>
                    <a:cubicBezTo>
                      <a:pt x="12" y="225"/>
                      <a:pt x="13" y="228"/>
                      <a:pt x="12" y="230"/>
                    </a:cubicBezTo>
                    <a:cubicBezTo>
                      <a:pt x="12" y="231"/>
                      <a:pt x="14" y="235"/>
                      <a:pt x="15" y="234"/>
                    </a:cubicBezTo>
                    <a:cubicBezTo>
                      <a:pt x="16" y="234"/>
                      <a:pt x="16" y="233"/>
                      <a:pt x="16" y="233"/>
                    </a:cubicBezTo>
                    <a:cubicBezTo>
                      <a:pt x="16" y="232"/>
                      <a:pt x="16" y="231"/>
                      <a:pt x="18" y="232"/>
                    </a:cubicBezTo>
                    <a:cubicBezTo>
                      <a:pt x="19" y="233"/>
                      <a:pt x="20" y="234"/>
                      <a:pt x="21" y="234"/>
                    </a:cubicBezTo>
                    <a:cubicBezTo>
                      <a:pt x="21" y="235"/>
                      <a:pt x="24" y="236"/>
                      <a:pt x="25" y="236"/>
                    </a:cubicBezTo>
                    <a:cubicBezTo>
                      <a:pt x="26" y="237"/>
                      <a:pt x="30" y="237"/>
                      <a:pt x="30" y="238"/>
                    </a:cubicBezTo>
                    <a:cubicBezTo>
                      <a:pt x="29" y="239"/>
                      <a:pt x="29" y="241"/>
                      <a:pt x="31" y="240"/>
                    </a:cubicBezTo>
                    <a:cubicBezTo>
                      <a:pt x="33" y="240"/>
                      <a:pt x="38" y="236"/>
                      <a:pt x="36" y="239"/>
                    </a:cubicBezTo>
                    <a:cubicBezTo>
                      <a:pt x="34" y="241"/>
                      <a:pt x="33" y="241"/>
                      <a:pt x="32" y="241"/>
                    </a:cubicBezTo>
                    <a:cubicBezTo>
                      <a:pt x="32" y="241"/>
                      <a:pt x="27" y="241"/>
                      <a:pt x="28" y="242"/>
                    </a:cubicBezTo>
                    <a:cubicBezTo>
                      <a:pt x="28" y="243"/>
                      <a:pt x="28" y="243"/>
                      <a:pt x="28" y="243"/>
                    </a:cubicBezTo>
                    <a:cubicBezTo>
                      <a:pt x="27" y="244"/>
                      <a:pt x="27" y="244"/>
                      <a:pt x="27" y="245"/>
                    </a:cubicBezTo>
                    <a:cubicBezTo>
                      <a:pt x="27" y="245"/>
                      <a:pt x="27" y="246"/>
                      <a:pt x="28" y="245"/>
                    </a:cubicBezTo>
                    <a:cubicBezTo>
                      <a:pt x="30" y="245"/>
                      <a:pt x="32" y="246"/>
                      <a:pt x="33" y="244"/>
                    </a:cubicBezTo>
                    <a:cubicBezTo>
                      <a:pt x="34" y="243"/>
                      <a:pt x="34" y="242"/>
                      <a:pt x="34" y="243"/>
                    </a:cubicBezTo>
                    <a:cubicBezTo>
                      <a:pt x="35" y="243"/>
                      <a:pt x="37" y="244"/>
                      <a:pt x="38" y="244"/>
                    </a:cubicBezTo>
                    <a:cubicBezTo>
                      <a:pt x="39" y="244"/>
                      <a:pt x="39" y="245"/>
                      <a:pt x="39" y="245"/>
                    </a:cubicBezTo>
                    <a:cubicBezTo>
                      <a:pt x="38" y="246"/>
                      <a:pt x="38" y="247"/>
                      <a:pt x="39" y="247"/>
                    </a:cubicBezTo>
                    <a:cubicBezTo>
                      <a:pt x="40" y="247"/>
                      <a:pt x="41" y="247"/>
                      <a:pt x="41" y="247"/>
                    </a:cubicBezTo>
                    <a:cubicBezTo>
                      <a:pt x="42" y="247"/>
                      <a:pt x="43" y="246"/>
                      <a:pt x="44" y="246"/>
                    </a:cubicBezTo>
                    <a:cubicBezTo>
                      <a:pt x="45" y="246"/>
                      <a:pt x="53" y="245"/>
                      <a:pt x="54" y="245"/>
                    </a:cubicBezTo>
                    <a:cubicBezTo>
                      <a:pt x="54" y="245"/>
                      <a:pt x="55" y="244"/>
                      <a:pt x="56" y="245"/>
                    </a:cubicBezTo>
                    <a:cubicBezTo>
                      <a:pt x="57" y="246"/>
                      <a:pt x="59" y="246"/>
                      <a:pt x="59" y="244"/>
                    </a:cubicBezTo>
                    <a:cubicBezTo>
                      <a:pt x="59" y="243"/>
                      <a:pt x="59" y="242"/>
                      <a:pt x="60" y="242"/>
                    </a:cubicBezTo>
                    <a:cubicBezTo>
                      <a:pt x="61" y="242"/>
                      <a:pt x="70" y="241"/>
                      <a:pt x="71" y="241"/>
                    </a:cubicBezTo>
                    <a:cubicBezTo>
                      <a:pt x="72" y="240"/>
                      <a:pt x="73" y="240"/>
                      <a:pt x="74" y="239"/>
                    </a:cubicBezTo>
                    <a:cubicBezTo>
                      <a:pt x="75" y="238"/>
                      <a:pt x="75" y="237"/>
                      <a:pt x="76" y="238"/>
                    </a:cubicBezTo>
                    <a:cubicBezTo>
                      <a:pt x="77" y="239"/>
                      <a:pt x="79" y="241"/>
                      <a:pt x="79" y="239"/>
                    </a:cubicBezTo>
                    <a:cubicBezTo>
                      <a:pt x="79" y="238"/>
                      <a:pt x="79" y="238"/>
                      <a:pt x="80" y="238"/>
                    </a:cubicBezTo>
                    <a:cubicBezTo>
                      <a:pt x="81" y="238"/>
                      <a:pt x="81" y="238"/>
                      <a:pt x="81" y="237"/>
                    </a:cubicBezTo>
                    <a:cubicBezTo>
                      <a:pt x="81" y="236"/>
                      <a:pt x="80" y="235"/>
                      <a:pt x="82" y="236"/>
                    </a:cubicBezTo>
                    <a:cubicBezTo>
                      <a:pt x="84" y="236"/>
                      <a:pt x="86" y="236"/>
                      <a:pt x="87" y="235"/>
                    </a:cubicBezTo>
                    <a:cubicBezTo>
                      <a:pt x="89" y="234"/>
                      <a:pt x="96" y="234"/>
                      <a:pt x="98" y="234"/>
                    </a:cubicBezTo>
                    <a:cubicBezTo>
                      <a:pt x="101" y="235"/>
                      <a:pt x="105" y="234"/>
                      <a:pt x="106" y="234"/>
                    </a:cubicBezTo>
                    <a:cubicBezTo>
                      <a:pt x="106" y="234"/>
                      <a:pt x="106" y="234"/>
                      <a:pt x="107" y="234"/>
                    </a:cubicBezTo>
                    <a:cubicBezTo>
                      <a:pt x="107" y="233"/>
                      <a:pt x="108" y="232"/>
                      <a:pt x="108" y="232"/>
                    </a:cubicBezTo>
                    <a:cubicBezTo>
                      <a:pt x="109" y="232"/>
                      <a:pt x="112" y="229"/>
                      <a:pt x="113" y="228"/>
                    </a:cubicBezTo>
                    <a:cubicBezTo>
                      <a:pt x="114" y="227"/>
                      <a:pt x="119" y="224"/>
                      <a:pt x="120" y="223"/>
                    </a:cubicBezTo>
                    <a:cubicBezTo>
                      <a:pt x="121" y="221"/>
                      <a:pt x="125" y="219"/>
                      <a:pt x="126" y="218"/>
                    </a:cubicBezTo>
                    <a:cubicBezTo>
                      <a:pt x="127" y="218"/>
                      <a:pt x="133" y="213"/>
                      <a:pt x="133" y="212"/>
                    </a:cubicBezTo>
                    <a:cubicBezTo>
                      <a:pt x="134" y="212"/>
                      <a:pt x="136" y="210"/>
                      <a:pt x="136" y="209"/>
                    </a:cubicBezTo>
                    <a:cubicBezTo>
                      <a:pt x="137" y="208"/>
                      <a:pt x="138" y="208"/>
                      <a:pt x="139" y="207"/>
                    </a:cubicBezTo>
                    <a:cubicBezTo>
                      <a:pt x="140" y="206"/>
                      <a:pt x="144" y="201"/>
                      <a:pt x="148" y="198"/>
                    </a:cubicBezTo>
                    <a:cubicBezTo>
                      <a:pt x="152" y="194"/>
                      <a:pt x="155" y="192"/>
                      <a:pt x="157" y="190"/>
                    </a:cubicBezTo>
                    <a:cubicBezTo>
                      <a:pt x="158" y="188"/>
                      <a:pt x="161" y="183"/>
                      <a:pt x="162" y="181"/>
                    </a:cubicBezTo>
                    <a:cubicBezTo>
                      <a:pt x="162" y="179"/>
                      <a:pt x="161" y="178"/>
                      <a:pt x="161" y="17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18" name="Freeform 1130">
                <a:extLst>
                  <a:ext uri="{FF2B5EF4-FFF2-40B4-BE49-F238E27FC236}">
                    <a16:creationId xmlns:a16="http://schemas.microsoft.com/office/drawing/2014/main" id="{10E51AAA-F8F9-4974-BD1D-1370E1D18196}"/>
                  </a:ext>
                </a:extLst>
              </p:cNvPr>
              <p:cNvSpPr>
                <a:spLocks/>
              </p:cNvSpPr>
              <p:nvPr/>
            </p:nvSpPr>
            <p:spPr bwMode="auto">
              <a:xfrm>
                <a:off x="3578" y="1521"/>
                <a:ext cx="10" cy="3"/>
              </a:xfrm>
              <a:custGeom>
                <a:avLst/>
                <a:gdLst>
                  <a:gd name="T0" fmla="*/ 3 w 7"/>
                  <a:gd name="T1" fmla="*/ 2 h 2"/>
                  <a:gd name="T2" fmla="*/ 5 w 7"/>
                  <a:gd name="T3" fmla="*/ 2 h 2"/>
                  <a:gd name="T4" fmla="*/ 4 w 7"/>
                  <a:gd name="T5" fmla="*/ 1 h 2"/>
                  <a:gd name="T6" fmla="*/ 2 w 7"/>
                  <a:gd name="T7" fmla="*/ 1 h 2"/>
                  <a:gd name="T8" fmla="*/ 1 w 7"/>
                  <a:gd name="T9" fmla="*/ 2 h 2"/>
                  <a:gd name="T10" fmla="*/ 3 w 7"/>
                  <a:gd name="T11" fmla="*/ 2 h 2"/>
                </a:gdLst>
                <a:ahLst/>
                <a:cxnLst>
                  <a:cxn ang="0">
                    <a:pos x="T0" y="T1"/>
                  </a:cxn>
                  <a:cxn ang="0">
                    <a:pos x="T2" y="T3"/>
                  </a:cxn>
                  <a:cxn ang="0">
                    <a:pos x="T4" y="T5"/>
                  </a:cxn>
                  <a:cxn ang="0">
                    <a:pos x="T6" y="T7"/>
                  </a:cxn>
                  <a:cxn ang="0">
                    <a:pos x="T8" y="T9"/>
                  </a:cxn>
                  <a:cxn ang="0">
                    <a:pos x="T10" y="T11"/>
                  </a:cxn>
                </a:cxnLst>
                <a:rect l="0" t="0" r="r" b="b"/>
                <a:pathLst>
                  <a:path w="7" h="2">
                    <a:moveTo>
                      <a:pt x="3" y="2"/>
                    </a:moveTo>
                    <a:cubicBezTo>
                      <a:pt x="4" y="2"/>
                      <a:pt x="4" y="2"/>
                      <a:pt x="5" y="2"/>
                    </a:cubicBezTo>
                    <a:cubicBezTo>
                      <a:pt x="7" y="2"/>
                      <a:pt x="5" y="1"/>
                      <a:pt x="4" y="1"/>
                    </a:cubicBezTo>
                    <a:cubicBezTo>
                      <a:pt x="4" y="0"/>
                      <a:pt x="3" y="0"/>
                      <a:pt x="2" y="1"/>
                    </a:cubicBezTo>
                    <a:cubicBezTo>
                      <a:pt x="0" y="1"/>
                      <a:pt x="1" y="2"/>
                      <a:pt x="1" y="2"/>
                    </a:cubicBezTo>
                    <a:cubicBezTo>
                      <a:pt x="2" y="2"/>
                      <a:pt x="2" y="2"/>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19" name="Freeform 1131">
                <a:extLst>
                  <a:ext uri="{FF2B5EF4-FFF2-40B4-BE49-F238E27FC236}">
                    <a16:creationId xmlns:a16="http://schemas.microsoft.com/office/drawing/2014/main" id="{A77C794F-991A-4668-855F-A35AF45748D0}"/>
                  </a:ext>
                </a:extLst>
              </p:cNvPr>
              <p:cNvSpPr>
                <a:spLocks/>
              </p:cNvSpPr>
              <p:nvPr/>
            </p:nvSpPr>
            <p:spPr bwMode="auto">
              <a:xfrm>
                <a:off x="3583" y="1520"/>
                <a:ext cx="7" cy="4"/>
              </a:xfrm>
              <a:custGeom>
                <a:avLst/>
                <a:gdLst>
                  <a:gd name="T0" fmla="*/ 3 w 5"/>
                  <a:gd name="T1" fmla="*/ 2 h 3"/>
                  <a:gd name="T2" fmla="*/ 5 w 5"/>
                  <a:gd name="T3" fmla="*/ 2 h 3"/>
                  <a:gd name="T4" fmla="*/ 1 w 5"/>
                  <a:gd name="T5" fmla="*/ 0 h 3"/>
                  <a:gd name="T6" fmla="*/ 0 w 5"/>
                  <a:gd name="T7" fmla="*/ 0 h 3"/>
                  <a:gd name="T8" fmla="*/ 3 w 5"/>
                  <a:gd name="T9" fmla="*/ 2 h 3"/>
                </a:gdLst>
                <a:ahLst/>
                <a:cxnLst>
                  <a:cxn ang="0">
                    <a:pos x="T0" y="T1"/>
                  </a:cxn>
                  <a:cxn ang="0">
                    <a:pos x="T2" y="T3"/>
                  </a:cxn>
                  <a:cxn ang="0">
                    <a:pos x="T4" y="T5"/>
                  </a:cxn>
                  <a:cxn ang="0">
                    <a:pos x="T6" y="T7"/>
                  </a:cxn>
                  <a:cxn ang="0">
                    <a:pos x="T8" y="T9"/>
                  </a:cxn>
                </a:cxnLst>
                <a:rect l="0" t="0" r="r" b="b"/>
                <a:pathLst>
                  <a:path w="5" h="3">
                    <a:moveTo>
                      <a:pt x="3" y="2"/>
                    </a:moveTo>
                    <a:cubicBezTo>
                      <a:pt x="3" y="3"/>
                      <a:pt x="4" y="2"/>
                      <a:pt x="5" y="2"/>
                    </a:cubicBezTo>
                    <a:cubicBezTo>
                      <a:pt x="5" y="1"/>
                      <a:pt x="3" y="0"/>
                      <a:pt x="1" y="0"/>
                    </a:cubicBezTo>
                    <a:cubicBezTo>
                      <a:pt x="0" y="0"/>
                      <a:pt x="0" y="0"/>
                      <a:pt x="0" y="0"/>
                    </a:cubicBezTo>
                    <a:cubicBezTo>
                      <a:pt x="1" y="1"/>
                      <a:pt x="2" y="1"/>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20" name="Freeform 1132">
                <a:extLst>
                  <a:ext uri="{FF2B5EF4-FFF2-40B4-BE49-F238E27FC236}">
                    <a16:creationId xmlns:a16="http://schemas.microsoft.com/office/drawing/2014/main" id="{3779C2F2-767B-40FA-8682-951FA9F3EE0E}"/>
                  </a:ext>
                </a:extLst>
              </p:cNvPr>
              <p:cNvSpPr>
                <a:spLocks/>
              </p:cNvSpPr>
              <p:nvPr/>
            </p:nvSpPr>
            <p:spPr bwMode="auto">
              <a:xfrm>
                <a:off x="3600" y="1480"/>
                <a:ext cx="7" cy="11"/>
              </a:xfrm>
              <a:custGeom>
                <a:avLst/>
                <a:gdLst>
                  <a:gd name="T0" fmla="*/ 2 w 5"/>
                  <a:gd name="T1" fmla="*/ 4 h 8"/>
                  <a:gd name="T2" fmla="*/ 1 w 5"/>
                  <a:gd name="T3" fmla="*/ 4 h 8"/>
                  <a:gd name="T4" fmla="*/ 2 w 5"/>
                  <a:gd name="T5" fmla="*/ 4 h 8"/>
                </a:gdLst>
                <a:ahLst/>
                <a:cxnLst>
                  <a:cxn ang="0">
                    <a:pos x="T0" y="T1"/>
                  </a:cxn>
                  <a:cxn ang="0">
                    <a:pos x="T2" y="T3"/>
                  </a:cxn>
                  <a:cxn ang="0">
                    <a:pos x="T4" y="T5"/>
                  </a:cxn>
                </a:cxnLst>
                <a:rect l="0" t="0" r="r" b="b"/>
                <a:pathLst>
                  <a:path w="5" h="8">
                    <a:moveTo>
                      <a:pt x="2" y="4"/>
                    </a:moveTo>
                    <a:cubicBezTo>
                      <a:pt x="5" y="0"/>
                      <a:pt x="2" y="3"/>
                      <a:pt x="1" y="4"/>
                    </a:cubicBezTo>
                    <a:cubicBezTo>
                      <a:pt x="1" y="4"/>
                      <a:pt x="0" y="8"/>
                      <a:pt x="2"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21" name="Freeform 1133">
                <a:extLst>
                  <a:ext uri="{FF2B5EF4-FFF2-40B4-BE49-F238E27FC236}">
                    <a16:creationId xmlns:a16="http://schemas.microsoft.com/office/drawing/2014/main" id="{9E3C379B-E904-4A9C-84C5-C67877F16A7E}"/>
                  </a:ext>
                </a:extLst>
              </p:cNvPr>
              <p:cNvSpPr>
                <a:spLocks/>
              </p:cNvSpPr>
              <p:nvPr/>
            </p:nvSpPr>
            <p:spPr bwMode="auto">
              <a:xfrm>
                <a:off x="3572" y="1532"/>
                <a:ext cx="17" cy="4"/>
              </a:xfrm>
              <a:custGeom>
                <a:avLst/>
                <a:gdLst>
                  <a:gd name="T0" fmla="*/ 0 w 12"/>
                  <a:gd name="T1" fmla="*/ 2 h 3"/>
                  <a:gd name="T2" fmla="*/ 1 w 12"/>
                  <a:gd name="T3" fmla="*/ 2 h 3"/>
                  <a:gd name="T4" fmla="*/ 3 w 12"/>
                  <a:gd name="T5" fmla="*/ 1 h 3"/>
                  <a:gd name="T6" fmla="*/ 5 w 12"/>
                  <a:gd name="T7" fmla="*/ 2 h 3"/>
                  <a:gd name="T8" fmla="*/ 7 w 12"/>
                  <a:gd name="T9" fmla="*/ 3 h 3"/>
                  <a:gd name="T10" fmla="*/ 9 w 12"/>
                  <a:gd name="T11" fmla="*/ 2 h 3"/>
                  <a:gd name="T12" fmla="*/ 11 w 12"/>
                  <a:gd name="T13" fmla="*/ 1 h 3"/>
                  <a:gd name="T14" fmla="*/ 12 w 12"/>
                  <a:gd name="T15" fmla="*/ 0 h 3"/>
                  <a:gd name="T16" fmla="*/ 11 w 12"/>
                  <a:gd name="T17" fmla="*/ 0 h 3"/>
                  <a:gd name="T18" fmla="*/ 0 w 12"/>
                  <a:gd name="T19" fmla="*/ 0 h 3"/>
                  <a:gd name="T20" fmla="*/ 0 w 12"/>
                  <a:gd name="T21" fmla="*/ 1 h 3"/>
                  <a:gd name="T22" fmla="*/ 0 w 12"/>
                  <a:gd name="T23"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3">
                    <a:moveTo>
                      <a:pt x="0" y="2"/>
                    </a:moveTo>
                    <a:cubicBezTo>
                      <a:pt x="0" y="2"/>
                      <a:pt x="0" y="2"/>
                      <a:pt x="1" y="2"/>
                    </a:cubicBezTo>
                    <a:cubicBezTo>
                      <a:pt x="1" y="2"/>
                      <a:pt x="2" y="1"/>
                      <a:pt x="3" y="1"/>
                    </a:cubicBezTo>
                    <a:cubicBezTo>
                      <a:pt x="3" y="2"/>
                      <a:pt x="4" y="1"/>
                      <a:pt x="5" y="2"/>
                    </a:cubicBezTo>
                    <a:cubicBezTo>
                      <a:pt x="5" y="2"/>
                      <a:pt x="6" y="3"/>
                      <a:pt x="7" y="3"/>
                    </a:cubicBezTo>
                    <a:cubicBezTo>
                      <a:pt x="8" y="3"/>
                      <a:pt x="9" y="3"/>
                      <a:pt x="9" y="2"/>
                    </a:cubicBezTo>
                    <a:cubicBezTo>
                      <a:pt x="9" y="2"/>
                      <a:pt x="11" y="1"/>
                      <a:pt x="11" y="1"/>
                    </a:cubicBezTo>
                    <a:cubicBezTo>
                      <a:pt x="11" y="1"/>
                      <a:pt x="12" y="1"/>
                      <a:pt x="12" y="0"/>
                    </a:cubicBezTo>
                    <a:cubicBezTo>
                      <a:pt x="12" y="0"/>
                      <a:pt x="12" y="0"/>
                      <a:pt x="11" y="0"/>
                    </a:cubicBezTo>
                    <a:cubicBezTo>
                      <a:pt x="9" y="0"/>
                      <a:pt x="3" y="0"/>
                      <a:pt x="0" y="0"/>
                    </a:cubicBezTo>
                    <a:cubicBezTo>
                      <a:pt x="0" y="1"/>
                      <a:pt x="0" y="1"/>
                      <a:pt x="0" y="1"/>
                    </a:cubicBezTo>
                    <a:cubicBezTo>
                      <a:pt x="0" y="1"/>
                      <a:pt x="0" y="2"/>
                      <a:pt x="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22" name="Freeform 1134">
                <a:extLst>
                  <a:ext uri="{FF2B5EF4-FFF2-40B4-BE49-F238E27FC236}">
                    <a16:creationId xmlns:a16="http://schemas.microsoft.com/office/drawing/2014/main" id="{7FAD9B94-EA0A-4B08-A476-AB49589E2C85}"/>
                  </a:ext>
                </a:extLst>
              </p:cNvPr>
              <p:cNvSpPr>
                <a:spLocks noEditPoints="1"/>
              </p:cNvSpPr>
              <p:nvPr/>
            </p:nvSpPr>
            <p:spPr bwMode="auto">
              <a:xfrm>
                <a:off x="3570" y="1474"/>
                <a:ext cx="81" cy="74"/>
              </a:xfrm>
              <a:custGeom>
                <a:avLst/>
                <a:gdLst>
                  <a:gd name="T0" fmla="*/ 58 w 59"/>
                  <a:gd name="T1" fmla="*/ 4 h 54"/>
                  <a:gd name="T2" fmla="*/ 46 w 59"/>
                  <a:gd name="T3" fmla="*/ 1 h 54"/>
                  <a:gd name="T4" fmla="*/ 23 w 59"/>
                  <a:gd name="T5" fmla="*/ 11 h 54"/>
                  <a:gd name="T6" fmla="*/ 13 w 59"/>
                  <a:gd name="T7" fmla="*/ 30 h 54"/>
                  <a:gd name="T8" fmla="*/ 21 w 59"/>
                  <a:gd name="T9" fmla="*/ 34 h 54"/>
                  <a:gd name="T10" fmla="*/ 23 w 59"/>
                  <a:gd name="T11" fmla="*/ 35 h 54"/>
                  <a:gd name="T12" fmla="*/ 14 w 59"/>
                  <a:gd name="T13" fmla="*/ 37 h 54"/>
                  <a:gd name="T14" fmla="*/ 15 w 59"/>
                  <a:gd name="T15" fmla="*/ 40 h 54"/>
                  <a:gd name="T16" fmla="*/ 7 w 59"/>
                  <a:gd name="T17" fmla="*/ 37 h 54"/>
                  <a:gd name="T18" fmla="*/ 13 w 59"/>
                  <a:gd name="T19" fmla="*/ 41 h 54"/>
                  <a:gd name="T20" fmla="*/ 16 w 59"/>
                  <a:gd name="T21" fmla="*/ 42 h 54"/>
                  <a:gd name="T22" fmla="*/ 17 w 59"/>
                  <a:gd name="T23" fmla="*/ 41 h 54"/>
                  <a:gd name="T24" fmla="*/ 20 w 59"/>
                  <a:gd name="T25" fmla="*/ 40 h 54"/>
                  <a:gd name="T26" fmla="*/ 23 w 59"/>
                  <a:gd name="T27" fmla="*/ 39 h 54"/>
                  <a:gd name="T28" fmla="*/ 27 w 59"/>
                  <a:gd name="T29" fmla="*/ 40 h 54"/>
                  <a:gd name="T30" fmla="*/ 28 w 59"/>
                  <a:gd name="T31" fmla="*/ 42 h 54"/>
                  <a:gd name="T32" fmla="*/ 30 w 59"/>
                  <a:gd name="T33" fmla="*/ 44 h 54"/>
                  <a:gd name="T34" fmla="*/ 33 w 59"/>
                  <a:gd name="T35" fmla="*/ 44 h 54"/>
                  <a:gd name="T36" fmla="*/ 35 w 59"/>
                  <a:gd name="T37" fmla="*/ 45 h 54"/>
                  <a:gd name="T38" fmla="*/ 38 w 59"/>
                  <a:gd name="T39" fmla="*/ 46 h 54"/>
                  <a:gd name="T40" fmla="*/ 38 w 59"/>
                  <a:gd name="T41" fmla="*/ 48 h 54"/>
                  <a:gd name="T42" fmla="*/ 37 w 59"/>
                  <a:gd name="T43" fmla="*/ 50 h 54"/>
                  <a:gd name="T44" fmla="*/ 36 w 59"/>
                  <a:gd name="T45" fmla="*/ 52 h 54"/>
                  <a:gd name="T46" fmla="*/ 38 w 59"/>
                  <a:gd name="T47" fmla="*/ 54 h 54"/>
                  <a:gd name="T48" fmla="*/ 41 w 59"/>
                  <a:gd name="T49" fmla="*/ 54 h 54"/>
                  <a:gd name="T50" fmla="*/ 41 w 59"/>
                  <a:gd name="T51" fmla="*/ 52 h 54"/>
                  <a:gd name="T52" fmla="*/ 41 w 59"/>
                  <a:gd name="T53" fmla="*/ 51 h 54"/>
                  <a:gd name="T54" fmla="*/ 40 w 59"/>
                  <a:gd name="T55" fmla="*/ 50 h 54"/>
                  <a:gd name="T56" fmla="*/ 39 w 59"/>
                  <a:gd name="T57" fmla="*/ 48 h 54"/>
                  <a:gd name="T58" fmla="*/ 42 w 59"/>
                  <a:gd name="T59" fmla="*/ 47 h 54"/>
                  <a:gd name="T60" fmla="*/ 42 w 59"/>
                  <a:gd name="T61" fmla="*/ 45 h 54"/>
                  <a:gd name="T62" fmla="*/ 43 w 59"/>
                  <a:gd name="T63" fmla="*/ 43 h 54"/>
                  <a:gd name="T64" fmla="*/ 44 w 59"/>
                  <a:gd name="T65" fmla="*/ 39 h 54"/>
                  <a:gd name="T66" fmla="*/ 40 w 59"/>
                  <a:gd name="T67" fmla="*/ 34 h 54"/>
                  <a:gd name="T68" fmla="*/ 42 w 59"/>
                  <a:gd name="T69" fmla="*/ 32 h 54"/>
                  <a:gd name="T70" fmla="*/ 46 w 59"/>
                  <a:gd name="T71" fmla="*/ 32 h 54"/>
                  <a:gd name="T72" fmla="*/ 51 w 59"/>
                  <a:gd name="T73" fmla="*/ 31 h 54"/>
                  <a:gd name="T74" fmla="*/ 53 w 59"/>
                  <a:gd name="T75" fmla="*/ 29 h 54"/>
                  <a:gd name="T76" fmla="*/ 52 w 59"/>
                  <a:gd name="T77" fmla="*/ 27 h 54"/>
                  <a:gd name="T78" fmla="*/ 56 w 59"/>
                  <a:gd name="T79" fmla="*/ 25 h 54"/>
                  <a:gd name="T80" fmla="*/ 56 w 59"/>
                  <a:gd name="T81" fmla="*/ 22 h 54"/>
                  <a:gd name="T82" fmla="*/ 52 w 59"/>
                  <a:gd name="T83" fmla="*/ 20 h 54"/>
                  <a:gd name="T84" fmla="*/ 52 w 59"/>
                  <a:gd name="T85" fmla="*/ 18 h 54"/>
                  <a:gd name="T86" fmla="*/ 54 w 59"/>
                  <a:gd name="T87" fmla="*/ 17 h 54"/>
                  <a:gd name="T88" fmla="*/ 56 w 59"/>
                  <a:gd name="T89" fmla="*/ 16 h 54"/>
                  <a:gd name="T90" fmla="*/ 58 w 59"/>
                  <a:gd name="T91" fmla="*/ 9 h 54"/>
                  <a:gd name="T92" fmla="*/ 59 w 59"/>
                  <a:gd name="T93" fmla="*/ 4 h 54"/>
                  <a:gd name="T94" fmla="*/ 33 w 59"/>
                  <a:gd name="T95" fmla="*/ 18 h 54"/>
                  <a:gd name="T96" fmla="*/ 33 w 59"/>
                  <a:gd name="T97" fmla="*/ 23 h 54"/>
                  <a:gd name="T98" fmla="*/ 36 w 59"/>
                  <a:gd name="T99" fmla="*/ 22 h 54"/>
                  <a:gd name="T100" fmla="*/ 27 w 59"/>
                  <a:gd name="T101" fmla="*/ 22 h 54"/>
                  <a:gd name="T102" fmla="*/ 28 w 59"/>
                  <a:gd name="T103" fmla="*/ 16 h 54"/>
                  <a:gd name="T104" fmla="*/ 27 w 59"/>
                  <a:gd name="T105" fmla="*/ 12 h 54"/>
                  <a:gd name="T106" fmla="*/ 32 w 59"/>
                  <a:gd name="T107" fmla="*/ 9 h 54"/>
                  <a:gd name="T108" fmla="*/ 34 w 59"/>
                  <a:gd name="T109" fmla="*/ 12 h 54"/>
                  <a:gd name="T110" fmla="*/ 35 w 59"/>
                  <a:gd name="T111" fmla="*/ 16 h 54"/>
                  <a:gd name="T112" fmla="*/ 37 w 59"/>
                  <a:gd name="T113" fmla="*/ 1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 h="54">
                    <a:moveTo>
                      <a:pt x="59" y="4"/>
                    </a:moveTo>
                    <a:cubicBezTo>
                      <a:pt x="58" y="4"/>
                      <a:pt x="58" y="5"/>
                      <a:pt x="58" y="4"/>
                    </a:cubicBezTo>
                    <a:cubicBezTo>
                      <a:pt x="57" y="4"/>
                      <a:pt x="56" y="3"/>
                      <a:pt x="55" y="2"/>
                    </a:cubicBezTo>
                    <a:cubicBezTo>
                      <a:pt x="55" y="2"/>
                      <a:pt x="51" y="0"/>
                      <a:pt x="46" y="1"/>
                    </a:cubicBezTo>
                    <a:cubicBezTo>
                      <a:pt x="41" y="1"/>
                      <a:pt x="35" y="2"/>
                      <a:pt x="32" y="6"/>
                    </a:cubicBezTo>
                    <a:cubicBezTo>
                      <a:pt x="28" y="11"/>
                      <a:pt x="25" y="11"/>
                      <a:pt x="23" y="11"/>
                    </a:cubicBezTo>
                    <a:cubicBezTo>
                      <a:pt x="22" y="12"/>
                      <a:pt x="21" y="12"/>
                      <a:pt x="21" y="14"/>
                    </a:cubicBezTo>
                    <a:cubicBezTo>
                      <a:pt x="21" y="17"/>
                      <a:pt x="19" y="26"/>
                      <a:pt x="13" y="30"/>
                    </a:cubicBezTo>
                    <a:cubicBezTo>
                      <a:pt x="13" y="30"/>
                      <a:pt x="11" y="32"/>
                      <a:pt x="14" y="33"/>
                    </a:cubicBezTo>
                    <a:cubicBezTo>
                      <a:pt x="16" y="34"/>
                      <a:pt x="18" y="36"/>
                      <a:pt x="21" y="34"/>
                    </a:cubicBezTo>
                    <a:cubicBezTo>
                      <a:pt x="25" y="33"/>
                      <a:pt x="22" y="34"/>
                      <a:pt x="23" y="34"/>
                    </a:cubicBezTo>
                    <a:cubicBezTo>
                      <a:pt x="23" y="35"/>
                      <a:pt x="24" y="35"/>
                      <a:pt x="23" y="35"/>
                    </a:cubicBezTo>
                    <a:cubicBezTo>
                      <a:pt x="21" y="35"/>
                      <a:pt x="16" y="35"/>
                      <a:pt x="15" y="37"/>
                    </a:cubicBezTo>
                    <a:cubicBezTo>
                      <a:pt x="15" y="37"/>
                      <a:pt x="14" y="38"/>
                      <a:pt x="14" y="37"/>
                    </a:cubicBezTo>
                    <a:cubicBezTo>
                      <a:pt x="13" y="37"/>
                      <a:pt x="10" y="37"/>
                      <a:pt x="12" y="38"/>
                    </a:cubicBezTo>
                    <a:cubicBezTo>
                      <a:pt x="14" y="39"/>
                      <a:pt x="15" y="39"/>
                      <a:pt x="15" y="40"/>
                    </a:cubicBezTo>
                    <a:cubicBezTo>
                      <a:pt x="15" y="41"/>
                      <a:pt x="13" y="40"/>
                      <a:pt x="12" y="39"/>
                    </a:cubicBezTo>
                    <a:cubicBezTo>
                      <a:pt x="10" y="38"/>
                      <a:pt x="8" y="37"/>
                      <a:pt x="7" y="37"/>
                    </a:cubicBezTo>
                    <a:cubicBezTo>
                      <a:pt x="5" y="37"/>
                      <a:pt x="0" y="39"/>
                      <a:pt x="5" y="40"/>
                    </a:cubicBezTo>
                    <a:cubicBezTo>
                      <a:pt x="10" y="41"/>
                      <a:pt x="10" y="40"/>
                      <a:pt x="13" y="41"/>
                    </a:cubicBezTo>
                    <a:cubicBezTo>
                      <a:pt x="14" y="41"/>
                      <a:pt x="15" y="42"/>
                      <a:pt x="15" y="42"/>
                    </a:cubicBezTo>
                    <a:cubicBezTo>
                      <a:pt x="16" y="42"/>
                      <a:pt x="16" y="42"/>
                      <a:pt x="16" y="42"/>
                    </a:cubicBezTo>
                    <a:cubicBezTo>
                      <a:pt x="16" y="42"/>
                      <a:pt x="16" y="42"/>
                      <a:pt x="16" y="41"/>
                    </a:cubicBezTo>
                    <a:cubicBezTo>
                      <a:pt x="17" y="41"/>
                      <a:pt x="17" y="41"/>
                      <a:pt x="17" y="41"/>
                    </a:cubicBezTo>
                    <a:cubicBezTo>
                      <a:pt x="17" y="40"/>
                      <a:pt x="17" y="40"/>
                      <a:pt x="18" y="40"/>
                    </a:cubicBezTo>
                    <a:cubicBezTo>
                      <a:pt x="18" y="40"/>
                      <a:pt x="19" y="40"/>
                      <a:pt x="20" y="40"/>
                    </a:cubicBezTo>
                    <a:cubicBezTo>
                      <a:pt x="20" y="40"/>
                      <a:pt x="21" y="41"/>
                      <a:pt x="21" y="40"/>
                    </a:cubicBezTo>
                    <a:cubicBezTo>
                      <a:pt x="21" y="40"/>
                      <a:pt x="22" y="39"/>
                      <a:pt x="23" y="39"/>
                    </a:cubicBezTo>
                    <a:cubicBezTo>
                      <a:pt x="23" y="40"/>
                      <a:pt x="25" y="40"/>
                      <a:pt x="25" y="40"/>
                    </a:cubicBezTo>
                    <a:cubicBezTo>
                      <a:pt x="26" y="40"/>
                      <a:pt x="26" y="40"/>
                      <a:pt x="27" y="40"/>
                    </a:cubicBezTo>
                    <a:cubicBezTo>
                      <a:pt x="27" y="40"/>
                      <a:pt x="27" y="40"/>
                      <a:pt x="27" y="41"/>
                    </a:cubicBezTo>
                    <a:cubicBezTo>
                      <a:pt x="28" y="41"/>
                      <a:pt x="27" y="42"/>
                      <a:pt x="28" y="42"/>
                    </a:cubicBezTo>
                    <a:cubicBezTo>
                      <a:pt x="28" y="42"/>
                      <a:pt x="29" y="43"/>
                      <a:pt x="29" y="43"/>
                    </a:cubicBezTo>
                    <a:cubicBezTo>
                      <a:pt x="29" y="44"/>
                      <a:pt x="29" y="44"/>
                      <a:pt x="30" y="44"/>
                    </a:cubicBezTo>
                    <a:cubicBezTo>
                      <a:pt x="30" y="44"/>
                      <a:pt x="31" y="44"/>
                      <a:pt x="32" y="44"/>
                    </a:cubicBezTo>
                    <a:cubicBezTo>
                      <a:pt x="32" y="44"/>
                      <a:pt x="32" y="44"/>
                      <a:pt x="33" y="44"/>
                    </a:cubicBezTo>
                    <a:cubicBezTo>
                      <a:pt x="33" y="43"/>
                      <a:pt x="33" y="43"/>
                      <a:pt x="34" y="43"/>
                    </a:cubicBezTo>
                    <a:cubicBezTo>
                      <a:pt x="34" y="44"/>
                      <a:pt x="34" y="45"/>
                      <a:pt x="35" y="45"/>
                    </a:cubicBezTo>
                    <a:cubicBezTo>
                      <a:pt x="35" y="45"/>
                      <a:pt x="36" y="45"/>
                      <a:pt x="37" y="45"/>
                    </a:cubicBezTo>
                    <a:cubicBezTo>
                      <a:pt x="37" y="45"/>
                      <a:pt x="38" y="46"/>
                      <a:pt x="38" y="46"/>
                    </a:cubicBezTo>
                    <a:cubicBezTo>
                      <a:pt x="38" y="46"/>
                      <a:pt x="38" y="46"/>
                      <a:pt x="38" y="47"/>
                    </a:cubicBezTo>
                    <a:cubicBezTo>
                      <a:pt x="38" y="47"/>
                      <a:pt x="38" y="47"/>
                      <a:pt x="38" y="48"/>
                    </a:cubicBezTo>
                    <a:cubicBezTo>
                      <a:pt x="38" y="48"/>
                      <a:pt x="37" y="48"/>
                      <a:pt x="37" y="49"/>
                    </a:cubicBezTo>
                    <a:cubicBezTo>
                      <a:pt x="37" y="49"/>
                      <a:pt x="37" y="50"/>
                      <a:pt x="37" y="50"/>
                    </a:cubicBezTo>
                    <a:cubicBezTo>
                      <a:pt x="37" y="51"/>
                      <a:pt x="37" y="51"/>
                      <a:pt x="36" y="51"/>
                    </a:cubicBezTo>
                    <a:cubicBezTo>
                      <a:pt x="36" y="51"/>
                      <a:pt x="36" y="52"/>
                      <a:pt x="36" y="52"/>
                    </a:cubicBezTo>
                    <a:cubicBezTo>
                      <a:pt x="36" y="53"/>
                      <a:pt x="36" y="54"/>
                      <a:pt x="36" y="54"/>
                    </a:cubicBezTo>
                    <a:cubicBezTo>
                      <a:pt x="37" y="54"/>
                      <a:pt x="38" y="54"/>
                      <a:pt x="38" y="54"/>
                    </a:cubicBezTo>
                    <a:cubicBezTo>
                      <a:pt x="39" y="54"/>
                      <a:pt x="39" y="54"/>
                      <a:pt x="40" y="54"/>
                    </a:cubicBezTo>
                    <a:cubicBezTo>
                      <a:pt x="40" y="54"/>
                      <a:pt x="40" y="54"/>
                      <a:pt x="41" y="54"/>
                    </a:cubicBezTo>
                    <a:cubicBezTo>
                      <a:pt x="41" y="54"/>
                      <a:pt x="40" y="53"/>
                      <a:pt x="41" y="53"/>
                    </a:cubicBezTo>
                    <a:cubicBezTo>
                      <a:pt x="41" y="52"/>
                      <a:pt x="41" y="52"/>
                      <a:pt x="41" y="52"/>
                    </a:cubicBezTo>
                    <a:cubicBezTo>
                      <a:pt x="41" y="52"/>
                      <a:pt x="42" y="51"/>
                      <a:pt x="42" y="51"/>
                    </a:cubicBezTo>
                    <a:cubicBezTo>
                      <a:pt x="42" y="51"/>
                      <a:pt x="42" y="51"/>
                      <a:pt x="41" y="51"/>
                    </a:cubicBezTo>
                    <a:cubicBezTo>
                      <a:pt x="41" y="50"/>
                      <a:pt x="41" y="50"/>
                      <a:pt x="40" y="50"/>
                    </a:cubicBezTo>
                    <a:cubicBezTo>
                      <a:pt x="40" y="50"/>
                      <a:pt x="40" y="50"/>
                      <a:pt x="40" y="50"/>
                    </a:cubicBezTo>
                    <a:cubicBezTo>
                      <a:pt x="40" y="50"/>
                      <a:pt x="39" y="50"/>
                      <a:pt x="39" y="49"/>
                    </a:cubicBezTo>
                    <a:cubicBezTo>
                      <a:pt x="39" y="49"/>
                      <a:pt x="39" y="48"/>
                      <a:pt x="39" y="48"/>
                    </a:cubicBezTo>
                    <a:cubicBezTo>
                      <a:pt x="39" y="48"/>
                      <a:pt x="40" y="47"/>
                      <a:pt x="41" y="47"/>
                    </a:cubicBezTo>
                    <a:cubicBezTo>
                      <a:pt x="41" y="47"/>
                      <a:pt x="42" y="47"/>
                      <a:pt x="42" y="47"/>
                    </a:cubicBezTo>
                    <a:cubicBezTo>
                      <a:pt x="42" y="46"/>
                      <a:pt x="44" y="46"/>
                      <a:pt x="43" y="46"/>
                    </a:cubicBezTo>
                    <a:cubicBezTo>
                      <a:pt x="42" y="46"/>
                      <a:pt x="42" y="46"/>
                      <a:pt x="42" y="45"/>
                    </a:cubicBezTo>
                    <a:cubicBezTo>
                      <a:pt x="42" y="45"/>
                      <a:pt x="42" y="44"/>
                      <a:pt x="42" y="44"/>
                    </a:cubicBezTo>
                    <a:cubicBezTo>
                      <a:pt x="42" y="44"/>
                      <a:pt x="43" y="43"/>
                      <a:pt x="43" y="43"/>
                    </a:cubicBezTo>
                    <a:cubicBezTo>
                      <a:pt x="44" y="42"/>
                      <a:pt x="44" y="42"/>
                      <a:pt x="44" y="42"/>
                    </a:cubicBezTo>
                    <a:cubicBezTo>
                      <a:pt x="44" y="41"/>
                      <a:pt x="44" y="39"/>
                      <a:pt x="44" y="39"/>
                    </a:cubicBezTo>
                    <a:cubicBezTo>
                      <a:pt x="43" y="39"/>
                      <a:pt x="40" y="35"/>
                      <a:pt x="40" y="35"/>
                    </a:cubicBezTo>
                    <a:cubicBezTo>
                      <a:pt x="40" y="35"/>
                      <a:pt x="40" y="34"/>
                      <a:pt x="40" y="34"/>
                    </a:cubicBezTo>
                    <a:cubicBezTo>
                      <a:pt x="40" y="33"/>
                      <a:pt x="40" y="33"/>
                      <a:pt x="41" y="33"/>
                    </a:cubicBezTo>
                    <a:cubicBezTo>
                      <a:pt x="41" y="32"/>
                      <a:pt x="42" y="32"/>
                      <a:pt x="42" y="32"/>
                    </a:cubicBezTo>
                    <a:cubicBezTo>
                      <a:pt x="42" y="32"/>
                      <a:pt x="43" y="31"/>
                      <a:pt x="43" y="31"/>
                    </a:cubicBezTo>
                    <a:cubicBezTo>
                      <a:pt x="44" y="32"/>
                      <a:pt x="46" y="32"/>
                      <a:pt x="46" y="32"/>
                    </a:cubicBezTo>
                    <a:cubicBezTo>
                      <a:pt x="47" y="32"/>
                      <a:pt x="48" y="32"/>
                      <a:pt x="48" y="32"/>
                    </a:cubicBezTo>
                    <a:cubicBezTo>
                      <a:pt x="49" y="32"/>
                      <a:pt x="50" y="31"/>
                      <a:pt x="51" y="31"/>
                    </a:cubicBezTo>
                    <a:cubicBezTo>
                      <a:pt x="51" y="31"/>
                      <a:pt x="52" y="31"/>
                      <a:pt x="52" y="31"/>
                    </a:cubicBezTo>
                    <a:cubicBezTo>
                      <a:pt x="53" y="31"/>
                      <a:pt x="53" y="30"/>
                      <a:pt x="53" y="29"/>
                    </a:cubicBezTo>
                    <a:cubicBezTo>
                      <a:pt x="52" y="29"/>
                      <a:pt x="51" y="29"/>
                      <a:pt x="51" y="28"/>
                    </a:cubicBezTo>
                    <a:cubicBezTo>
                      <a:pt x="51" y="28"/>
                      <a:pt x="52" y="27"/>
                      <a:pt x="52" y="27"/>
                    </a:cubicBezTo>
                    <a:cubicBezTo>
                      <a:pt x="53" y="27"/>
                      <a:pt x="54" y="26"/>
                      <a:pt x="54" y="26"/>
                    </a:cubicBezTo>
                    <a:cubicBezTo>
                      <a:pt x="55" y="26"/>
                      <a:pt x="55" y="25"/>
                      <a:pt x="56" y="25"/>
                    </a:cubicBezTo>
                    <a:cubicBezTo>
                      <a:pt x="56" y="25"/>
                      <a:pt x="56" y="24"/>
                      <a:pt x="56" y="24"/>
                    </a:cubicBezTo>
                    <a:cubicBezTo>
                      <a:pt x="56" y="24"/>
                      <a:pt x="57" y="22"/>
                      <a:pt x="56" y="22"/>
                    </a:cubicBezTo>
                    <a:cubicBezTo>
                      <a:pt x="56" y="21"/>
                      <a:pt x="55" y="21"/>
                      <a:pt x="55" y="21"/>
                    </a:cubicBezTo>
                    <a:cubicBezTo>
                      <a:pt x="54" y="21"/>
                      <a:pt x="52" y="20"/>
                      <a:pt x="52" y="20"/>
                    </a:cubicBezTo>
                    <a:cubicBezTo>
                      <a:pt x="52" y="20"/>
                      <a:pt x="51" y="20"/>
                      <a:pt x="52" y="19"/>
                    </a:cubicBezTo>
                    <a:cubicBezTo>
                      <a:pt x="52" y="18"/>
                      <a:pt x="52" y="18"/>
                      <a:pt x="52" y="18"/>
                    </a:cubicBezTo>
                    <a:cubicBezTo>
                      <a:pt x="52" y="17"/>
                      <a:pt x="51" y="17"/>
                      <a:pt x="52" y="17"/>
                    </a:cubicBezTo>
                    <a:cubicBezTo>
                      <a:pt x="53" y="17"/>
                      <a:pt x="54" y="16"/>
                      <a:pt x="54" y="17"/>
                    </a:cubicBezTo>
                    <a:cubicBezTo>
                      <a:pt x="55" y="17"/>
                      <a:pt x="55" y="16"/>
                      <a:pt x="56" y="16"/>
                    </a:cubicBezTo>
                    <a:cubicBezTo>
                      <a:pt x="56" y="16"/>
                      <a:pt x="56" y="16"/>
                      <a:pt x="56" y="16"/>
                    </a:cubicBezTo>
                    <a:cubicBezTo>
                      <a:pt x="57" y="15"/>
                      <a:pt x="57" y="13"/>
                      <a:pt x="57" y="12"/>
                    </a:cubicBezTo>
                    <a:cubicBezTo>
                      <a:pt x="57" y="12"/>
                      <a:pt x="58" y="9"/>
                      <a:pt x="58" y="9"/>
                    </a:cubicBezTo>
                    <a:cubicBezTo>
                      <a:pt x="59" y="9"/>
                      <a:pt x="59" y="8"/>
                      <a:pt x="59" y="7"/>
                    </a:cubicBezTo>
                    <a:cubicBezTo>
                      <a:pt x="59" y="7"/>
                      <a:pt x="59" y="6"/>
                      <a:pt x="59" y="4"/>
                    </a:cubicBezTo>
                    <a:close/>
                    <a:moveTo>
                      <a:pt x="37" y="18"/>
                    </a:moveTo>
                    <a:cubicBezTo>
                      <a:pt x="35" y="17"/>
                      <a:pt x="34" y="18"/>
                      <a:pt x="33" y="18"/>
                    </a:cubicBezTo>
                    <a:cubicBezTo>
                      <a:pt x="32" y="19"/>
                      <a:pt x="27" y="21"/>
                      <a:pt x="29" y="22"/>
                    </a:cubicBezTo>
                    <a:cubicBezTo>
                      <a:pt x="30" y="23"/>
                      <a:pt x="32" y="24"/>
                      <a:pt x="33" y="23"/>
                    </a:cubicBezTo>
                    <a:cubicBezTo>
                      <a:pt x="35" y="22"/>
                      <a:pt x="37" y="21"/>
                      <a:pt x="37" y="20"/>
                    </a:cubicBezTo>
                    <a:cubicBezTo>
                      <a:pt x="38" y="20"/>
                      <a:pt x="38" y="21"/>
                      <a:pt x="36" y="22"/>
                    </a:cubicBezTo>
                    <a:cubicBezTo>
                      <a:pt x="35" y="23"/>
                      <a:pt x="35" y="24"/>
                      <a:pt x="33" y="24"/>
                    </a:cubicBezTo>
                    <a:cubicBezTo>
                      <a:pt x="32" y="24"/>
                      <a:pt x="26" y="24"/>
                      <a:pt x="27" y="22"/>
                    </a:cubicBezTo>
                    <a:cubicBezTo>
                      <a:pt x="28" y="20"/>
                      <a:pt x="27" y="20"/>
                      <a:pt x="27" y="18"/>
                    </a:cubicBezTo>
                    <a:cubicBezTo>
                      <a:pt x="26" y="17"/>
                      <a:pt x="27" y="17"/>
                      <a:pt x="28" y="16"/>
                    </a:cubicBezTo>
                    <a:cubicBezTo>
                      <a:pt x="30" y="16"/>
                      <a:pt x="32" y="15"/>
                      <a:pt x="30" y="14"/>
                    </a:cubicBezTo>
                    <a:cubicBezTo>
                      <a:pt x="29" y="14"/>
                      <a:pt x="28" y="14"/>
                      <a:pt x="27" y="12"/>
                    </a:cubicBezTo>
                    <a:cubicBezTo>
                      <a:pt x="27" y="12"/>
                      <a:pt x="26" y="11"/>
                      <a:pt x="27" y="11"/>
                    </a:cubicBezTo>
                    <a:cubicBezTo>
                      <a:pt x="28" y="10"/>
                      <a:pt x="31" y="9"/>
                      <a:pt x="32" y="9"/>
                    </a:cubicBezTo>
                    <a:cubicBezTo>
                      <a:pt x="32" y="10"/>
                      <a:pt x="32" y="10"/>
                      <a:pt x="33" y="11"/>
                    </a:cubicBezTo>
                    <a:cubicBezTo>
                      <a:pt x="33" y="12"/>
                      <a:pt x="33" y="12"/>
                      <a:pt x="34" y="12"/>
                    </a:cubicBezTo>
                    <a:cubicBezTo>
                      <a:pt x="35" y="12"/>
                      <a:pt x="37" y="12"/>
                      <a:pt x="36" y="13"/>
                    </a:cubicBezTo>
                    <a:cubicBezTo>
                      <a:pt x="35" y="14"/>
                      <a:pt x="34" y="16"/>
                      <a:pt x="35" y="16"/>
                    </a:cubicBezTo>
                    <a:cubicBezTo>
                      <a:pt x="37" y="17"/>
                      <a:pt x="38" y="17"/>
                      <a:pt x="38" y="18"/>
                    </a:cubicBezTo>
                    <a:cubicBezTo>
                      <a:pt x="38" y="18"/>
                      <a:pt x="40" y="19"/>
                      <a:pt x="37" y="1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23" name="Freeform 1135">
                <a:extLst>
                  <a:ext uri="{FF2B5EF4-FFF2-40B4-BE49-F238E27FC236}">
                    <a16:creationId xmlns:a16="http://schemas.microsoft.com/office/drawing/2014/main" id="{AE750847-2EEA-4376-AA56-B30449663A9A}"/>
                  </a:ext>
                </a:extLst>
              </p:cNvPr>
              <p:cNvSpPr>
                <a:spLocks/>
              </p:cNvSpPr>
              <p:nvPr/>
            </p:nvSpPr>
            <p:spPr bwMode="auto">
              <a:xfrm>
                <a:off x="3372" y="1323"/>
                <a:ext cx="167" cy="247"/>
              </a:xfrm>
              <a:custGeom>
                <a:avLst/>
                <a:gdLst>
                  <a:gd name="T0" fmla="*/ 12 w 121"/>
                  <a:gd name="T1" fmla="*/ 31 h 180"/>
                  <a:gd name="T2" fmla="*/ 11 w 121"/>
                  <a:gd name="T3" fmla="*/ 37 h 180"/>
                  <a:gd name="T4" fmla="*/ 3 w 121"/>
                  <a:gd name="T5" fmla="*/ 42 h 180"/>
                  <a:gd name="T6" fmla="*/ 2 w 121"/>
                  <a:gd name="T7" fmla="*/ 46 h 180"/>
                  <a:gd name="T8" fmla="*/ 2 w 121"/>
                  <a:gd name="T9" fmla="*/ 52 h 180"/>
                  <a:gd name="T10" fmla="*/ 6 w 121"/>
                  <a:gd name="T11" fmla="*/ 45 h 180"/>
                  <a:gd name="T12" fmla="*/ 18 w 121"/>
                  <a:gd name="T13" fmla="*/ 42 h 180"/>
                  <a:gd name="T14" fmla="*/ 15 w 121"/>
                  <a:gd name="T15" fmla="*/ 46 h 180"/>
                  <a:gd name="T16" fmla="*/ 12 w 121"/>
                  <a:gd name="T17" fmla="*/ 54 h 180"/>
                  <a:gd name="T18" fmla="*/ 11 w 121"/>
                  <a:gd name="T19" fmla="*/ 60 h 180"/>
                  <a:gd name="T20" fmla="*/ 9 w 121"/>
                  <a:gd name="T21" fmla="*/ 72 h 180"/>
                  <a:gd name="T22" fmla="*/ 14 w 121"/>
                  <a:gd name="T23" fmla="*/ 63 h 180"/>
                  <a:gd name="T24" fmla="*/ 19 w 121"/>
                  <a:gd name="T25" fmla="*/ 54 h 180"/>
                  <a:gd name="T26" fmla="*/ 22 w 121"/>
                  <a:gd name="T27" fmla="*/ 59 h 180"/>
                  <a:gd name="T28" fmla="*/ 25 w 121"/>
                  <a:gd name="T29" fmla="*/ 59 h 180"/>
                  <a:gd name="T30" fmla="*/ 21 w 121"/>
                  <a:gd name="T31" fmla="*/ 76 h 180"/>
                  <a:gd name="T32" fmla="*/ 22 w 121"/>
                  <a:gd name="T33" fmla="*/ 86 h 180"/>
                  <a:gd name="T34" fmla="*/ 30 w 121"/>
                  <a:gd name="T35" fmla="*/ 85 h 180"/>
                  <a:gd name="T36" fmla="*/ 43 w 121"/>
                  <a:gd name="T37" fmla="*/ 79 h 180"/>
                  <a:gd name="T38" fmla="*/ 44 w 121"/>
                  <a:gd name="T39" fmla="*/ 93 h 180"/>
                  <a:gd name="T40" fmla="*/ 52 w 121"/>
                  <a:gd name="T41" fmla="*/ 97 h 180"/>
                  <a:gd name="T42" fmla="*/ 52 w 121"/>
                  <a:gd name="T43" fmla="*/ 113 h 180"/>
                  <a:gd name="T44" fmla="*/ 41 w 121"/>
                  <a:gd name="T45" fmla="*/ 113 h 180"/>
                  <a:gd name="T46" fmla="*/ 31 w 121"/>
                  <a:gd name="T47" fmla="*/ 112 h 180"/>
                  <a:gd name="T48" fmla="*/ 30 w 121"/>
                  <a:gd name="T49" fmla="*/ 118 h 180"/>
                  <a:gd name="T50" fmla="*/ 33 w 121"/>
                  <a:gd name="T51" fmla="*/ 121 h 180"/>
                  <a:gd name="T52" fmla="*/ 31 w 121"/>
                  <a:gd name="T53" fmla="*/ 135 h 180"/>
                  <a:gd name="T54" fmla="*/ 22 w 121"/>
                  <a:gd name="T55" fmla="*/ 144 h 180"/>
                  <a:gd name="T56" fmla="*/ 31 w 121"/>
                  <a:gd name="T57" fmla="*/ 144 h 180"/>
                  <a:gd name="T58" fmla="*/ 44 w 121"/>
                  <a:gd name="T59" fmla="*/ 150 h 180"/>
                  <a:gd name="T60" fmla="*/ 29 w 121"/>
                  <a:gd name="T61" fmla="*/ 158 h 180"/>
                  <a:gd name="T62" fmla="*/ 11 w 121"/>
                  <a:gd name="T63" fmla="*/ 176 h 180"/>
                  <a:gd name="T64" fmla="*/ 22 w 121"/>
                  <a:gd name="T65" fmla="*/ 174 h 180"/>
                  <a:gd name="T66" fmla="*/ 35 w 121"/>
                  <a:gd name="T67" fmla="*/ 172 h 180"/>
                  <a:gd name="T68" fmla="*/ 44 w 121"/>
                  <a:gd name="T69" fmla="*/ 166 h 180"/>
                  <a:gd name="T70" fmla="*/ 63 w 121"/>
                  <a:gd name="T71" fmla="*/ 167 h 180"/>
                  <a:gd name="T72" fmla="*/ 75 w 121"/>
                  <a:gd name="T73" fmla="*/ 161 h 180"/>
                  <a:gd name="T74" fmla="*/ 102 w 121"/>
                  <a:gd name="T75" fmla="*/ 163 h 180"/>
                  <a:gd name="T76" fmla="*/ 115 w 121"/>
                  <a:gd name="T77" fmla="*/ 151 h 180"/>
                  <a:gd name="T78" fmla="*/ 108 w 121"/>
                  <a:gd name="T79" fmla="*/ 146 h 180"/>
                  <a:gd name="T80" fmla="*/ 113 w 121"/>
                  <a:gd name="T81" fmla="*/ 140 h 180"/>
                  <a:gd name="T82" fmla="*/ 112 w 121"/>
                  <a:gd name="T83" fmla="*/ 120 h 180"/>
                  <a:gd name="T84" fmla="*/ 96 w 121"/>
                  <a:gd name="T85" fmla="*/ 120 h 180"/>
                  <a:gd name="T86" fmla="*/ 88 w 121"/>
                  <a:gd name="T87" fmla="*/ 105 h 180"/>
                  <a:gd name="T88" fmla="*/ 91 w 121"/>
                  <a:gd name="T89" fmla="*/ 95 h 180"/>
                  <a:gd name="T90" fmla="*/ 72 w 121"/>
                  <a:gd name="T91" fmla="*/ 73 h 180"/>
                  <a:gd name="T92" fmla="*/ 50 w 121"/>
                  <a:gd name="T93" fmla="*/ 55 h 180"/>
                  <a:gd name="T94" fmla="*/ 57 w 121"/>
                  <a:gd name="T95" fmla="*/ 44 h 180"/>
                  <a:gd name="T96" fmla="*/ 65 w 121"/>
                  <a:gd name="T97" fmla="*/ 32 h 180"/>
                  <a:gd name="T98" fmla="*/ 53 w 121"/>
                  <a:gd name="T99" fmla="*/ 22 h 180"/>
                  <a:gd name="T100" fmla="*/ 32 w 121"/>
                  <a:gd name="T101" fmla="*/ 25 h 180"/>
                  <a:gd name="T102" fmla="*/ 31 w 121"/>
                  <a:gd name="T103" fmla="*/ 18 h 180"/>
                  <a:gd name="T104" fmla="*/ 49 w 121"/>
                  <a:gd name="T105" fmla="*/ 4 h 180"/>
                  <a:gd name="T106" fmla="*/ 42 w 121"/>
                  <a:gd name="T107" fmla="*/ 2 h 180"/>
                  <a:gd name="T108" fmla="*/ 30 w 121"/>
                  <a:gd name="T109" fmla="*/ 4 h 180"/>
                  <a:gd name="T110" fmla="*/ 25 w 121"/>
                  <a:gd name="T111" fmla="*/ 4 h 180"/>
                  <a:gd name="T112" fmla="*/ 19 w 121"/>
                  <a:gd name="T113" fmla="*/ 9 h 180"/>
                  <a:gd name="T114" fmla="*/ 15 w 121"/>
                  <a:gd name="T115" fmla="*/ 13 h 180"/>
                  <a:gd name="T116" fmla="*/ 14 w 121"/>
                  <a:gd name="T117" fmla="*/ 18 h 180"/>
                  <a:gd name="T118" fmla="*/ 9 w 121"/>
                  <a:gd name="T119" fmla="*/ 19 h 180"/>
                  <a:gd name="T120" fmla="*/ 8 w 121"/>
                  <a:gd name="T121" fmla="*/ 26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1" h="180">
                    <a:moveTo>
                      <a:pt x="10" y="28"/>
                    </a:moveTo>
                    <a:cubicBezTo>
                      <a:pt x="12" y="28"/>
                      <a:pt x="12" y="29"/>
                      <a:pt x="12" y="29"/>
                    </a:cubicBezTo>
                    <a:cubicBezTo>
                      <a:pt x="11" y="29"/>
                      <a:pt x="9" y="31"/>
                      <a:pt x="11" y="30"/>
                    </a:cubicBezTo>
                    <a:cubicBezTo>
                      <a:pt x="13" y="29"/>
                      <a:pt x="13" y="30"/>
                      <a:pt x="12" y="31"/>
                    </a:cubicBezTo>
                    <a:cubicBezTo>
                      <a:pt x="11" y="31"/>
                      <a:pt x="11" y="33"/>
                      <a:pt x="11" y="33"/>
                    </a:cubicBezTo>
                    <a:cubicBezTo>
                      <a:pt x="12" y="34"/>
                      <a:pt x="12" y="35"/>
                      <a:pt x="11" y="34"/>
                    </a:cubicBezTo>
                    <a:cubicBezTo>
                      <a:pt x="11" y="34"/>
                      <a:pt x="9" y="35"/>
                      <a:pt x="9" y="36"/>
                    </a:cubicBezTo>
                    <a:cubicBezTo>
                      <a:pt x="10" y="36"/>
                      <a:pt x="13" y="37"/>
                      <a:pt x="11" y="37"/>
                    </a:cubicBezTo>
                    <a:cubicBezTo>
                      <a:pt x="10" y="37"/>
                      <a:pt x="8" y="36"/>
                      <a:pt x="8" y="37"/>
                    </a:cubicBezTo>
                    <a:cubicBezTo>
                      <a:pt x="8" y="38"/>
                      <a:pt x="7" y="39"/>
                      <a:pt x="8" y="41"/>
                    </a:cubicBezTo>
                    <a:cubicBezTo>
                      <a:pt x="8" y="42"/>
                      <a:pt x="8" y="42"/>
                      <a:pt x="7" y="42"/>
                    </a:cubicBezTo>
                    <a:cubicBezTo>
                      <a:pt x="6" y="42"/>
                      <a:pt x="3" y="42"/>
                      <a:pt x="3" y="42"/>
                    </a:cubicBezTo>
                    <a:cubicBezTo>
                      <a:pt x="2" y="43"/>
                      <a:pt x="2" y="43"/>
                      <a:pt x="4" y="43"/>
                    </a:cubicBezTo>
                    <a:cubicBezTo>
                      <a:pt x="4" y="44"/>
                      <a:pt x="4" y="44"/>
                      <a:pt x="5" y="44"/>
                    </a:cubicBezTo>
                    <a:cubicBezTo>
                      <a:pt x="4" y="44"/>
                      <a:pt x="3" y="44"/>
                      <a:pt x="2" y="45"/>
                    </a:cubicBezTo>
                    <a:cubicBezTo>
                      <a:pt x="0" y="46"/>
                      <a:pt x="2" y="46"/>
                      <a:pt x="2" y="46"/>
                    </a:cubicBezTo>
                    <a:cubicBezTo>
                      <a:pt x="2" y="46"/>
                      <a:pt x="4" y="48"/>
                      <a:pt x="5" y="48"/>
                    </a:cubicBezTo>
                    <a:cubicBezTo>
                      <a:pt x="6" y="48"/>
                      <a:pt x="6" y="48"/>
                      <a:pt x="5" y="49"/>
                    </a:cubicBezTo>
                    <a:cubicBezTo>
                      <a:pt x="5" y="51"/>
                      <a:pt x="4" y="50"/>
                      <a:pt x="3" y="50"/>
                    </a:cubicBezTo>
                    <a:cubicBezTo>
                      <a:pt x="2" y="50"/>
                      <a:pt x="1" y="50"/>
                      <a:pt x="2" y="52"/>
                    </a:cubicBezTo>
                    <a:cubicBezTo>
                      <a:pt x="2" y="53"/>
                      <a:pt x="5" y="52"/>
                      <a:pt x="6" y="51"/>
                    </a:cubicBezTo>
                    <a:cubicBezTo>
                      <a:pt x="8" y="50"/>
                      <a:pt x="7" y="52"/>
                      <a:pt x="10" y="50"/>
                    </a:cubicBezTo>
                    <a:cubicBezTo>
                      <a:pt x="12" y="49"/>
                      <a:pt x="9" y="48"/>
                      <a:pt x="8" y="47"/>
                    </a:cubicBezTo>
                    <a:cubicBezTo>
                      <a:pt x="7" y="47"/>
                      <a:pt x="7" y="47"/>
                      <a:pt x="6" y="45"/>
                    </a:cubicBezTo>
                    <a:cubicBezTo>
                      <a:pt x="6" y="45"/>
                      <a:pt x="5" y="45"/>
                      <a:pt x="5" y="45"/>
                    </a:cubicBezTo>
                    <a:cubicBezTo>
                      <a:pt x="6" y="45"/>
                      <a:pt x="7" y="46"/>
                      <a:pt x="8" y="46"/>
                    </a:cubicBezTo>
                    <a:cubicBezTo>
                      <a:pt x="10" y="47"/>
                      <a:pt x="11" y="47"/>
                      <a:pt x="12" y="47"/>
                    </a:cubicBezTo>
                    <a:cubicBezTo>
                      <a:pt x="12" y="46"/>
                      <a:pt x="16" y="43"/>
                      <a:pt x="18" y="42"/>
                    </a:cubicBezTo>
                    <a:cubicBezTo>
                      <a:pt x="19" y="41"/>
                      <a:pt x="18" y="40"/>
                      <a:pt x="19" y="41"/>
                    </a:cubicBezTo>
                    <a:cubicBezTo>
                      <a:pt x="19" y="42"/>
                      <a:pt x="20" y="43"/>
                      <a:pt x="19" y="43"/>
                    </a:cubicBezTo>
                    <a:cubicBezTo>
                      <a:pt x="18" y="44"/>
                      <a:pt x="15" y="45"/>
                      <a:pt x="16" y="46"/>
                    </a:cubicBezTo>
                    <a:cubicBezTo>
                      <a:pt x="17" y="46"/>
                      <a:pt x="17" y="45"/>
                      <a:pt x="15" y="46"/>
                    </a:cubicBezTo>
                    <a:cubicBezTo>
                      <a:pt x="14" y="47"/>
                      <a:pt x="13" y="46"/>
                      <a:pt x="14" y="47"/>
                    </a:cubicBezTo>
                    <a:cubicBezTo>
                      <a:pt x="15" y="48"/>
                      <a:pt x="14" y="48"/>
                      <a:pt x="14" y="49"/>
                    </a:cubicBezTo>
                    <a:cubicBezTo>
                      <a:pt x="13" y="50"/>
                      <a:pt x="12" y="52"/>
                      <a:pt x="12" y="52"/>
                    </a:cubicBezTo>
                    <a:cubicBezTo>
                      <a:pt x="12" y="53"/>
                      <a:pt x="13" y="53"/>
                      <a:pt x="12" y="54"/>
                    </a:cubicBezTo>
                    <a:cubicBezTo>
                      <a:pt x="12" y="55"/>
                      <a:pt x="11" y="55"/>
                      <a:pt x="12" y="55"/>
                    </a:cubicBezTo>
                    <a:cubicBezTo>
                      <a:pt x="12" y="55"/>
                      <a:pt x="12" y="56"/>
                      <a:pt x="11" y="57"/>
                    </a:cubicBezTo>
                    <a:cubicBezTo>
                      <a:pt x="11" y="57"/>
                      <a:pt x="10" y="59"/>
                      <a:pt x="10" y="59"/>
                    </a:cubicBezTo>
                    <a:cubicBezTo>
                      <a:pt x="11" y="59"/>
                      <a:pt x="11" y="60"/>
                      <a:pt x="11" y="60"/>
                    </a:cubicBezTo>
                    <a:cubicBezTo>
                      <a:pt x="12" y="59"/>
                      <a:pt x="10" y="62"/>
                      <a:pt x="12" y="62"/>
                    </a:cubicBezTo>
                    <a:cubicBezTo>
                      <a:pt x="13" y="61"/>
                      <a:pt x="14" y="61"/>
                      <a:pt x="13" y="63"/>
                    </a:cubicBezTo>
                    <a:cubicBezTo>
                      <a:pt x="12" y="64"/>
                      <a:pt x="10" y="66"/>
                      <a:pt x="10" y="67"/>
                    </a:cubicBezTo>
                    <a:cubicBezTo>
                      <a:pt x="10" y="69"/>
                      <a:pt x="8" y="72"/>
                      <a:pt x="9" y="72"/>
                    </a:cubicBezTo>
                    <a:cubicBezTo>
                      <a:pt x="11" y="72"/>
                      <a:pt x="13" y="73"/>
                      <a:pt x="13" y="71"/>
                    </a:cubicBezTo>
                    <a:cubicBezTo>
                      <a:pt x="12" y="69"/>
                      <a:pt x="12" y="69"/>
                      <a:pt x="13" y="68"/>
                    </a:cubicBezTo>
                    <a:cubicBezTo>
                      <a:pt x="13" y="67"/>
                      <a:pt x="14" y="67"/>
                      <a:pt x="14" y="66"/>
                    </a:cubicBezTo>
                    <a:cubicBezTo>
                      <a:pt x="14" y="65"/>
                      <a:pt x="13" y="64"/>
                      <a:pt x="14" y="63"/>
                    </a:cubicBezTo>
                    <a:cubicBezTo>
                      <a:pt x="15" y="62"/>
                      <a:pt x="17" y="62"/>
                      <a:pt x="16" y="61"/>
                    </a:cubicBezTo>
                    <a:cubicBezTo>
                      <a:pt x="14" y="59"/>
                      <a:pt x="14" y="58"/>
                      <a:pt x="15" y="58"/>
                    </a:cubicBezTo>
                    <a:cubicBezTo>
                      <a:pt x="15" y="57"/>
                      <a:pt x="18" y="54"/>
                      <a:pt x="19" y="53"/>
                    </a:cubicBezTo>
                    <a:cubicBezTo>
                      <a:pt x="20" y="52"/>
                      <a:pt x="21" y="53"/>
                      <a:pt x="19" y="54"/>
                    </a:cubicBezTo>
                    <a:cubicBezTo>
                      <a:pt x="17" y="55"/>
                      <a:pt x="16" y="56"/>
                      <a:pt x="16" y="58"/>
                    </a:cubicBezTo>
                    <a:cubicBezTo>
                      <a:pt x="16" y="60"/>
                      <a:pt x="17" y="61"/>
                      <a:pt x="18" y="60"/>
                    </a:cubicBezTo>
                    <a:cubicBezTo>
                      <a:pt x="18" y="59"/>
                      <a:pt x="19" y="60"/>
                      <a:pt x="20" y="59"/>
                    </a:cubicBezTo>
                    <a:cubicBezTo>
                      <a:pt x="20" y="58"/>
                      <a:pt x="22" y="61"/>
                      <a:pt x="22" y="59"/>
                    </a:cubicBezTo>
                    <a:cubicBezTo>
                      <a:pt x="22" y="57"/>
                      <a:pt x="22" y="55"/>
                      <a:pt x="23" y="55"/>
                    </a:cubicBezTo>
                    <a:cubicBezTo>
                      <a:pt x="23" y="55"/>
                      <a:pt x="23" y="55"/>
                      <a:pt x="24" y="54"/>
                    </a:cubicBezTo>
                    <a:cubicBezTo>
                      <a:pt x="24" y="53"/>
                      <a:pt x="24" y="55"/>
                      <a:pt x="25" y="56"/>
                    </a:cubicBezTo>
                    <a:cubicBezTo>
                      <a:pt x="25" y="58"/>
                      <a:pt x="27" y="59"/>
                      <a:pt x="25" y="59"/>
                    </a:cubicBezTo>
                    <a:cubicBezTo>
                      <a:pt x="24" y="59"/>
                      <a:pt x="22" y="59"/>
                      <a:pt x="23" y="61"/>
                    </a:cubicBezTo>
                    <a:cubicBezTo>
                      <a:pt x="24" y="63"/>
                      <a:pt x="22" y="65"/>
                      <a:pt x="24" y="66"/>
                    </a:cubicBezTo>
                    <a:cubicBezTo>
                      <a:pt x="26" y="66"/>
                      <a:pt x="27" y="67"/>
                      <a:pt x="26" y="69"/>
                    </a:cubicBezTo>
                    <a:cubicBezTo>
                      <a:pt x="24" y="71"/>
                      <a:pt x="22" y="75"/>
                      <a:pt x="21" y="76"/>
                    </a:cubicBezTo>
                    <a:cubicBezTo>
                      <a:pt x="21" y="78"/>
                      <a:pt x="20" y="79"/>
                      <a:pt x="19" y="79"/>
                    </a:cubicBezTo>
                    <a:cubicBezTo>
                      <a:pt x="19" y="80"/>
                      <a:pt x="17" y="80"/>
                      <a:pt x="18" y="81"/>
                    </a:cubicBezTo>
                    <a:cubicBezTo>
                      <a:pt x="19" y="82"/>
                      <a:pt x="20" y="83"/>
                      <a:pt x="21" y="84"/>
                    </a:cubicBezTo>
                    <a:cubicBezTo>
                      <a:pt x="21" y="85"/>
                      <a:pt x="22" y="87"/>
                      <a:pt x="22" y="86"/>
                    </a:cubicBezTo>
                    <a:cubicBezTo>
                      <a:pt x="22" y="85"/>
                      <a:pt x="21" y="83"/>
                      <a:pt x="22" y="82"/>
                    </a:cubicBezTo>
                    <a:cubicBezTo>
                      <a:pt x="22" y="81"/>
                      <a:pt x="23" y="82"/>
                      <a:pt x="24" y="82"/>
                    </a:cubicBezTo>
                    <a:cubicBezTo>
                      <a:pt x="24" y="82"/>
                      <a:pt x="26" y="83"/>
                      <a:pt x="27" y="84"/>
                    </a:cubicBezTo>
                    <a:cubicBezTo>
                      <a:pt x="29" y="85"/>
                      <a:pt x="28" y="86"/>
                      <a:pt x="30" y="85"/>
                    </a:cubicBezTo>
                    <a:cubicBezTo>
                      <a:pt x="31" y="83"/>
                      <a:pt x="31" y="84"/>
                      <a:pt x="30" y="83"/>
                    </a:cubicBezTo>
                    <a:cubicBezTo>
                      <a:pt x="29" y="82"/>
                      <a:pt x="29" y="80"/>
                      <a:pt x="30" y="81"/>
                    </a:cubicBezTo>
                    <a:cubicBezTo>
                      <a:pt x="32" y="82"/>
                      <a:pt x="34" y="84"/>
                      <a:pt x="36" y="83"/>
                    </a:cubicBezTo>
                    <a:cubicBezTo>
                      <a:pt x="37" y="82"/>
                      <a:pt x="41" y="79"/>
                      <a:pt x="43" y="79"/>
                    </a:cubicBezTo>
                    <a:cubicBezTo>
                      <a:pt x="45" y="79"/>
                      <a:pt x="51" y="79"/>
                      <a:pt x="48" y="80"/>
                    </a:cubicBezTo>
                    <a:cubicBezTo>
                      <a:pt x="46" y="80"/>
                      <a:pt x="44" y="82"/>
                      <a:pt x="43" y="84"/>
                    </a:cubicBezTo>
                    <a:cubicBezTo>
                      <a:pt x="42" y="86"/>
                      <a:pt x="41" y="88"/>
                      <a:pt x="41" y="89"/>
                    </a:cubicBezTo>
                    <a:cubicBezTo>
                      <a:pt x="41" y="90"/>
                      <a:pt x="42" y="91"/>
                      <a:pt x="44" y="93"/>
                    </a:cubicBezTo>
                    <a:cubicBezTo>
                      <a:pt x="45" y="94"/>
                      <a:pt x="46" y="96"/>
                      <a:pt x="47" y="97"/>
                    </a:cubicBezTo>
                    <a:cubicBezTo>
                      <a:pt x="47" y="98"/>
                      <a:pt x="48" y="98"/>
                      <a:pt x="49" y="97"/>
                    </a:cubicBezTo>
                    <a:cubicBezTo>
                      <a:pt x="50" y="95"/>
                      <a:pt x="50" y="94"/>
                      <a:pt x="51" y="95"/>
                    </a:cubicBezTo>
                    <a:cubicBezTo>
                      <a:pt x="52" y="95"/>
                      <a:pt x="53" y="95"/>
                      <a:pt x="52" y="97"/>
                    </a:cubicBezTo>
                    <a:cubicBezTo>
                      <a:pt x="51" y="99"/>
                      <a:pt x="49" y="101"/>
                      <a:pt x="50" y="102"/>
                    </a:cubicBezTo>
                    <a:cubicBezTo>
                      <a:pt x="51" y="104"/>
                      <a:pt x="52" y="104"/>
                      <a:pt x="51" y="106"/>
                    </a:cubicBezTo>
                    <a:cubicBezTo>
                      <a:pt x="49" y="107"/>
                      <a:pt x="48" y="108"/>
                      <a:pt x="50" y="110"/>
                    </a:cubicBezTo>
                    <a:cubicBezTo>
                      <a:pt x="51" y="111"/>
                      <a:pt x="54" y="114"/>
                      <a:pt x="52" y="113"/>
                    </a:cubicBezTo>
                    <a:cubicBezTo>
                      <a:pt x="51" y="112"/>
                      <a:pt x="50" y="110"/>
                      <a:pt x="49" y="111"/>
                    </a:cubicBezTo>
                    <a:cubicBezTo>
                      <a:pt x="48" y="111"/>
                      <a:pt x="47" y="111"/>
                      <a:pt x="48" y="112"/>
                    </a:cubicBezTo>
                    <a:cubicBezTo>
                      <a:pt x="49" y="114"/>
                      <a:pt x="49" y="114"/>
                      <a:pt x="48" y="114"/>
                    </a:cubicBezTo>
                    <a:cubicBezTo>
                      <a:pt x="46" y="114"/>
                      <a:pt x="42" y="113"/>
                      <a:pt x="41" y="113"/>
                    </a:cubicBezTo>
                    <a:cubicBezTo>
                      <a:pt x="40" y="113"/>
                      <a:pt x="38" y="112"/>
                      <a:pt x="37" y="113"/>
                    </a:cubicBezTo>
                    <a:cubicBezTo>
                      <a:pt x="36" y="114"/>
                      <a:pt x="33" y="115"/>
                      <a:pt x="34" y="114"/>
                    </a:cubicBezTo>
                    <a:cubicBezTo>
                      <a:pt x="35" y="113"/>
                      <a:pt x="35" y="113"/>
                      <a:pt x="34" y="113"/>
                    </a:cubicBezTo>
                    <a:cubicBezTo>
                      <a:pt x="33" y="113"/>
                      <a:pt x="32" y="113"/>
                      <a:pt x="31" y="112"/>
                    </a:cubicBezTo>
                    <a:cubicBezTo>
                      <a:pt x="31" y="111"/>
                      <a:pt x="31" y="110"/>
                      <a:pt x="30" y="111"/>
                    </a:cubicBezTo>
                    <a:cubicBezTo>
                      <a:pt x="29" y="111"/>
                      <a:pt x="27" y="111"/>
                      <a:pt x="28" y="113"/>
                    </a:cubicBezTo>
                    <a:cubicBezTo>
                      <a:pt x="29" y="115"/>
                      <a:pt x="30" y="117"/>
                      <a:pt x="30" y="117"/>
                    </a:cubicBezTo>
                    <a:cubicBezTo>
                      <a:pt x="31" y="116"/>
                      <a:pt x="31" y="117"/>
                      <a:pt x="30" y="118"/>
                    </a:cubicBezTo>
                    <a:cubicBezTo>
                      <a:pt x="30" y="119"/>
                      <a:pt x="30" y="120"/>
                      <a:pt x="28" y="120"/>
                    </a:cubicBezTo>
                    <a:cubicBezTo>
                      <a:pt x="27" y="121"/>
                      <a:pt x="23" y="123"/>
                      <a:pt x="25" y="123"/>
                    </a:cubicBezTo>
                    <a:cubicBezTo>
                      <a:pt x="26" y="123"/>
                      <a:pt x="27" y="123"/>
                      <a:pt x="29" y="122"/>
                    </a:cubicBezTo>
                    <a:cubicBezTo>
                      <a:pt x="30" y="122"/>
                      <a:pt x="32" y="121"/>
                      <a:pt x="33" y="121"/>
                    </a:cubicBezTo>
                    <a:cubicBezTo>
                      <a:pt x="34" y="121"/>
                      <a:pt x="34" y="121"/>
                      <a:pt x="34" y="123"/>
                    </a:cubicBezTo>
                    <a:cubicBezTo>
                      <a:pt x="33" y="124"/>
                      <a:pt x="34" y="126"/>
                      <a:pt x="34" y="127"/>
                    </a:cubicBezTo>
                    <a:cubicBezTo>
                      <a:pt x="34" y="128"/>
                      <a:pt x="36" y="128"/>
                      <a:pt x="36" y="129"/>
                    </a:cubicBezTo>
                    <a:cubicBezTo>
                      <a:pt x="35" y="131"/>
                      <a:pt x="33" y="134"/>
                      <a:pt x="31" y="135"/>
                    </a:cubicBezTo>
                    <a:cubicBezTo>
                      <a:pt x="28" y="136"/>
                      <a:pt x="16" y="140"/>
                      <a:pt x="17" y="142"/>
                    </a:cubicBezTo>
                    <a:cubicBezTo>
                      <a:pt x="18" y="143"/>
                      <a:pt x="19" y="144"/>
                      <a:pt x="18" y="144"/>
                    </a:cubicBezTo>
                    <a:cubicBezTo>
                      <a:pt x="16" y="145"/>
                      <a:pt x="17" y="145"/>
                      <a:pt x="18" y="145"/>
                    </a:cubicBezTo>
                    <a:cubicBezTo>
                      <a:pt x="19" y="145"/>
                      <a:pt x="24" y="142"/>
                      <a:pt x="22" y="144"/>
                    </a:cubicBezTo>
                    <a:cubicBezTo>
                      <a:pt x="21" y="146"/>
                      <a:pt x="19" y="145"/>
                      <a:pt x="20" y="147"/>
                    </a:cubicBezTo>
                    <a:cubicBezTo>
                      <a:pt x="21" y="148"/>
                      <a:pt x="22" y="148"/>
                      <a:pt x="24" y="146"/>
                    </a:cubicBezTo>
                    <a:cubicBezTo>
                      <a:pt x="26" y="145"/>
                      <a:pt x="27" y="145"/>
                      <a:pt x="28" y="145"/>
                    </a:cubicBezTo>
                    <a:cubicBezTo>
                      <a:pt x="29" y="144"/>
                      <a:pt x="30" y="143"/>
                      <a:pt x="31" y="144"/>
                    </a:cubicBezTo>
                    <a:cubicBezTo>
                      <a:pt x="33" y="145"/>
                      <a:pt x="36" y="145"/>
                      <a:pt x="33" y="146"/>
                    </a:cubicBezTo>
                    <a:cubicBezTo>
                      <a:pt x="31" y="147"/>
                      <a:pt x="29" y="149"/>
                      <a:pt x="32" y="149"/>
                    </a:cubicBezTo>
                    <a:cubicBezTo>
                      <a:pt x="34" y="148"/>
                      <a:pt x="39" y="148"/>
                      <a:pt x="40" y="149"/>
                    </a:cubicBezTo>
                    <a:cubicBezTo>
                      <a:pt x="41" y="150"/>
                      <a:pt x="42" y="151"/>
                      <a:pt x="44" y="150"/>
                    </a:cubicBezTo>
                    <a:cubicBezTo>
                      <a:pt x="46" y="150"/>
                      <a:pt x="59" y="144"/>
                      <a:pt x="55" y="148"/>
                    </a:cubicBezTo>
                    <a:cubicBezTo>
                      <a:pt x="51" y="151"/>
                      <a:pt x="51" y="152"/>
                      <a:pt x="50" y="153"/>
                    </a:cubicBezTo>
                    <a:cubicBezTo>
                      <a:pt x="50" y="155"/>
                      <a:pt x="51" y="156"/>
                      <a:pt x="49" y="156"/>
                    </a:cubicBezTo>
                    <a:cubicBezTo>
                      <a:pt x="48" y="155"/>
                      <a:pt x="33" y="152"/>
                      <a:pt x="29" y="158"/>
                    </a:cubicBezTo>
                    <a:cubicBezTo>
                      <a:pt x="26" y="164"/>
                      <a:pt x="27" y="163"/>
                      <a:pt x="26" y="165"/>
                    </a:cubicBezTo>
                    <a:cubicBezTo>
                      <a:pt x="24" y="167"/>
                      <a:pt x="24" y="168"/>
                      <a:pt x="22" y="168"/>
                    </a:cubicBezTo>
                    <a:cubicBezTo>
                      <a:pt x="21" y="168"/>
                      <a:pt x="18" y="169"/>
                      <a:pt x="16" y="171"/>
                    </a:cubicBezTo>
                    <a:cubicBezTo>
                      <a:pt x="15" y="172"/>
                      <a:pt x="12" y="175"/>
                      <a:pt x="11" y="176"/>
                    </a:cubicBezTo>
                    <a:cubicBezTo>
                      <a:pt x="10" y="177"/>
                      <a:pt x="9" y="177"/>
                      <a:pt x="11" y="177"/>
                    </a:cubicBezTo>
                    <a:cubicBezTo>
                      <a:pt x="14" y="177"/>
                      <a:pt x="16" y="177"/>
                      <a:pt x="17" y="179"/>
                    </a:cubicBezTo>
                    <a:cubicBezTo>
                      <a:pt x="17" y="179"/>
                      <a:pt x="17" y="180"/>
                      <a:pt x="18" y="179"/>
                    </a:cubicBezTo>
                    <a:cubicBezTo>
                      <a:pt x="19" y="177"/>
                      <a:pt x="20" y="175"/>
                      <a:pt x="22" y="174"/>
                    </a:cubicBezTo>
                    <a:cubicBezTo>
                      <a:pt x="24" y="174"/>
                      <a:pt x="30" y="172"/>
                      <a:pt x="31" y="172"/>
                    </a:cubicBezTo>
                    <a:cubicBezTo>
                      <a:pt x="32" y="172"/>
                      <a:pt x="33" y="173"/>
                      <a:pt x="33" y="172"/>
                    </a:cubicBezTo>
                    <a:cubicBezTo>
                      <a:pt x="33" y="170"/>
                      <a:pt x="33" y="171"/>
                      <a:pt x="34" y="172"/>
                    </a:cubicBezTo>
                    <a:cubicBezTo>
                      <a:pt x="34" y="173"/>
                      <a:pt x="35" y="172"/>
                      <a:pt x="35" y="172"/>
                    </a:cubicBezTo>
                    <a:cubicBezTo>
                      <a:pt x="36" y="173"/>
                      <a:pt x="37" y="173"/>
                      <a:pt x="38" y="174"/>
                    </a:cubicBezTo>
                    <a:cubicBezTo>
                      <a:pt x="38" y="174"/>
                      <a:pt x="40" y="176"/>
                      <a:pt x="41" y="174"/>
                    </a:cubicBezTo>
                    <a:cubicBezTo>
                      <a:pt x="42" y="172"/>
                      <a:pt x="42" y="170"/>
                      <a:pt x="43" y="169"/>
                    </a:cubicBezTo>
                    <a:cubicBezTo>
                      <a:pt x="43" y="167"/>
                      <a:pt x="43" y="166"/>
                      <a:pt x="44" y="166"/>
                    </a:cubicBezTo>
                    <a:cubicBezTo>
                      <a:pt x="46" y="165"/>
                      <a:pt x="50" y="164"/>
                      <a:pt x="52" y="165"/>
                    </a:cubicBezTo>
                    <a:cubicBezTo>
                      <a:pt x="54" y="165"/>
                      <a:pt x="56" y="165"/>
                      <a:pt x="57" y="166"/>
                    </a:cubicBezTo>
                    <a:cubicBezTo>
                      <a:pt x="58" y="167"/>
                      <a:pt x="58" y="168"/>
                      <a:pt x="59" y="168"/>
                    </a:cubicBezTo>
                    <a:cubicBezTo>
                      <a:pt x="61" y="167"/>
                      <a:pt x="62" y="167"/>
                      <a:pt x="63" y="167"/>
                    </a:cubicBezTo>
                    <a:cubicBezTo>
                      <a:pt x="64" y="167"/>
                      <a:pt x="65" y="167"/>
                      <a:pt x="65" y="166"/>
                    </a:cubicBezTo>
                    <a:cubicBezTo>
                      <a:pt x="65" y="165"/>
                      <a:pt x="64" y="164"/>
                      <a:pt x="66" y="164"/>
                    </a:cubicBezTo>
                    <a:cubicBezTo>
                      <a:pt x="67" y="164"/>
                      <a:pt x="72" y="164"/>
                      <a:pt x="73" y="162"/>
                    </a:cubicBezTo>
                    <a:cubicBezTo>
                      <a:pt x="74" y="161"/>
                      <a:pt x="74" y="161"/>
                      <a:pt x="75" y="161"/>
                    </a:cubicBezTo>
                    <a:cubicBezTo>
                      <a:pt x="76" y="161"/>
                      <a:pt x="81" y="162"/>
                      <a:pt x="82" y="163"/>
                    </a:cubicBezTo>
                    <a:cubicBezTo>
                      <a:pt x="83" y="165"/>
                      <a:pt x="84" y="165"/>
                      <a:pt x="86" y="164"/>
                    </a:cubicBezTo>
                    <a:cubicBezTo>
                      <a:pt x="86" y="164"/>
                      <a:pt x="91" y="162"/>
                      <a:pt x="94" y="163"/>
                    </a:cubicBezTo>
                    <a:cubicBezTo>
                      <a:pt x="96" y="164"/>
                      <a:pt x="98" y="165"/>
                      <a:pt x="102" y="163"/>
                    </a:cubicBezTo>
                    <a:cubicBezTo>
                      <a:pt x="106" y="161"/>
                      <a:pt x="110" y="160"/>
                      <a:pt x="111" y="159"/>
                    </a:cubicBezTo>
                    <a:cubicBezTo>
                      <a:pt x="113" y="158"/>
                      <a:pt x="116" y="157"/>
                      <a:pt x="116" y="155"/>
                    </a:cubicBezTo>
                    <a:cubicBezTo>
                      <a:pt x="115" y="153"/>
                      <a:pt x="116" y="153"/>
                      <a:pt x="116" y="152"/>
                    </a:cubicBezTo>
                    <a:cubicBezTo>
                      <a:pt x="117" y="152"/>
                      <a:pt x="116" y="151"/>
                      <a:pt x="115" y="151"/>
                    </a:cubicBezTo>
                    <a:cubicBezTo>
                      <a:pt x="113" y="151"/>
                      <a:pt x="102" y="150"/>
                      <a:pt x="102" y="150"/>
                    </a:cubicBezTo>
                    <a:cubicBezTo>
                      <a:pt x="102" y="150"/>
                      <a:pt x="102" y="150"/>
                      <a:pt x="104" y="149"/>
                    </a:cubicBezTo>
                    <a:cubicBezTo>
                      <a:pt x="106" y="148"/>
                      <a:pt x="106" y="149"/>
                      <a:pt x="107" y="149"/>
                    </a:cubicBezTo>
                    <a:cubicBezTo>
                      <a:pt x="109" y="148"/>
                      <a:pt x="110" y="147"/>
                      <a:pt x="108" y="146"/>
                    </a:cubicBezTo>
                    <a:cubicBezTo>
                      <a:pt x="107" y="145"/>
                      <a:pt x="104" y="144"/>
                      <a:pt x="107" y="144"/>
                    </a:cubicBezTo>
                    <a:cubicBezTo>
                      <a:pt x="110" y="144"/>
                      <a:pt x="111" y="144"/>
                      <a:pt x="112" y="144"/>
                    </a:cubicBezTo>
                    <a:cubicBezTo>
                      <a:pt x="113" y="144"/>
                      <a:pt x="114" y="143"/>
                      <a:pt x="113" y="142"/>
                    </a:cubicBezTo>
                    <a:cubicBezTo>
                      <a:pt x="112" y="141"/>
                      <a:pt x="111" y="140"/>
                      <a:pt x="113" y="140"/>
                    </a:cubicBezTo>
                    <a:cubicBezTo>
                      <a:pt x="114" y="140"/>
                      <a:pt x="115" y="140"/>
                      <a:pt x="116" y="140"/>
                    </a:cubicBezTo>
                    <a:cubicBezTo>
                      <a:pt x="117" y="139"/>
                      <a:pt x="117" y="139"/>
                      <a:pt x="118" y="138"/>
                    </a:cubicBezTo>
                    <a:cubicBezTo>
                      <a:pt x="119" y="137"/>
                      <a:pt x="121" y="132"/>
                      <a:pt x="121" y="129"/>
                    </a:cubicBezTo>
                    <a:cubicBezTo>
                      <a:pt x="121" y="129"/>
                      <a:pt x="121" y="123"/>
                      <a:pt x="112" y="120"/>
                    </a:cubicBezTo>
                    <a:cubicBezTo>
                      <a:pt x="103" y="118"/>
                      <a:pt x="102" y="122"/>
                      <a:pt x="100" y="123"/>
                    </a:cubicBezTo>
                    <a:cubicBezTo>
                      <a:pt x="100" y="123"/>
                      <a:pt x="99" y="124"/>
                      <a:pt x="98" y="123"/>
                    </a:cubicBezTo>
                    <a:cubicBezTo>
                      <a:pt x="98" y="122"/>
                      <a:pt x="97" y="122"/>
                      <a:pt x="96" y="122"/>
                    </a:cubicBezTo>
                    <a:cubicBezTo>
                      <a:pt x="96" y="122"/>
                      <a:pt x="94" y="122"/>
                      <a:pt x="96" y="120"/>
                    </a:cubicBezTo>
                    <a:cubicBezTo>
                      <a:pt x="98" y="119"/>
                      <a:pt x="101" y="117"/>
                      <a:pt x="100" y="115"/>
                    </a:cubicBezTo>
                    <a:cubicBezTo>
                      <a:pt x="99" y="113"/>
                      <a:pt x="93" y="107"/>
                      <a:pt x="92" y="107"/>
                    </a:cubicBezTo>
                    <a:cubicBezTo>
                      <a:pt x="91" y="106"/>
                      <a:pt x="89" y="105"/>
                      <a:pt x="88" y="105"/>
                    </a:cubicBezTo>
                    <a:cubicBezTo>
                      <a:pt x="88" y="106"/>
                      <a:pt x="86" y="105"/>
                      <a:pt x="88" y="105"/>
                    </a:cubicBezTo>
                    <a:cubicBezTo>
                      <a:pt x="91" y="104"/>
                      <a:pt x="91" y="105"/>
                      <a:pt x="92" y="105"/>
                    </a:cubicBezTo>
                    <a:cubicBezTo>
                      <a:pt x="92" y="106"/>
                      <a:pt x="93" y="107"/>
                      <a:pt x="94" y="106"/>
                    </a:cubicBezTo>
                    <a:cubicBezTo>
                      <a:pt x="96" y="106"/>
                      <a:pt x="98" y="108"/>
                      <a:pt x="96" y="106"/>
                    </a:cubicBezTo>
                    <a:cubicBezTo>
                      <a:pt x="95" y="103"/>
                      <a:pt x="93" y="97"/>
                      <a:pt x="91" y="95"/>
                    </a:cubicBezTo>
                    <a:cubicBezTo>
                      <a:pt x="88" y="93"/>
                      <a:pt x="87" y="92"/>
                      <a:pt x="86" y="90"/>
                    </a:cubicBezTo>
                    <a:cubicBezTo>
                      <a:pt x="85" y="89"/>
                      <a:pt x="81" y="87"/>
                      <a:pt x="80" y="86"/>
                    </a:cubicBezTo>
                    <a:cubicBezTo>
                      <a:pt x="78" y="85"/>
                      <a:pt x="77" y="86"/>
                      <a:pt x="75" y="82"/>
                    </a:cubicBezTo>
                    <a:cubicBezTo>
                      <a:pt x="73" y="78"/>
                      <a:pt x="72" y="75"/>
                      <a:pt x="72" y="73"/>
                    </a:cubicBezTo>
                    <a:cubicBezTo>
                      <a:pt x="72" y="70"/>
                      <a:pt x="71" y="65"/>
                      <a:pt x="65" y="62"/>
                    </a:cubicBezTo>
                    <a:cubicBezTo>
                      <a:pt x="58" y="58"/>
                      <a:pt x="55" y="58"/>
                      <a:pt x="53" y="58"/>
                    </a:cubicBezTo>
                    <a:cubicBezTo>
                      <a:pt x="51" y="58"/>
                      <a:pt x="42" y="58"/>
                      <a:pt x="46" y="57"/>
                    </a:cubicBezTo>
                    <a:cubicBezTo>
                      <a:pt x="49" y="56"/>
                      <a:pt x="49" y="56"/>
                      <a:pt x="50" y="55"/>
                    </a:cubicBezTo>
                    <a:cubicBezTo>
                      <a:pt x="50" y="54"/>
                      <a:pt x="51" y="54"/>
                      <a:pt x="52" y="54"/>
                    </a:cubicBezTo>
                    <a:cubicBezTo>
                      <a:pt x="54" y="54"/>
                      <a:pt x="56" y="54"/>
                      <a:pt x="55" y="52"/>
                    </a:cubicBezTo>
                    <a:cubicBezTo>
                      <a:pt x="54" y="49"/>
                      <a:pt x="53" y="48"/>
                      <a:pt x="54" y="48"/>
                    </a:cubicBezTo>
                    <a:cubicBezTo>
                      <a:pt x="56" y="47"/>
                      <a:pt x="57" y="45"/>
                      <a:pt x="57" y="44"/>
                    </a:cubicBezTo>
                    <a:cubicBezTo>
                      <a:pt x="58" y="43"/>
                      <a:pt x="58" y="42"/>
                      <a:pt x="60" y="42"/>
                    </a:cubicBezTo>
                    <a:cubicBezTo>
                      <a:pt x="61" y="41"/>
                      <a:pt x="62" y="40"/>
                      <a:pt x="62" y="39"/>
                    </a:cubicBezTo>
                    <a:cubicBezTo>
                      <a:pt x="63" y="37"/>
                      <a:pt x="62" y="37"/>
                      <a:pt x="63" y="36"/>
                    </a:cubicBezTo>
                    <a:cubicBezTo>
                      <a:pt x="64" y="35"/>
                      <a:pt x="65" y="34"/>
                      <a:pt x="65" y="32"/>
                    </a:cubicBezTo>
                    <a:cubicBezTo>
                      <a:pt x="65" y="31"/>
                      <a:pt x="66" y="30"/>
                      <a:pt x="67" y="29"/>
                    </a:cubicBezTo>
                    <a:cubicBezTo>
                      <a:pt x="68" y="28"/>
                      <a:pt x="69" y="27"/>
                      <a:pt x="68" y="25"/>
                    </a:cubicBezTo>
                    <a:cubicBezTo>
                      <a:pt x="68" y="24"/>
                      <a:pt x="67" y="24"/>
                      <a:pt x="65" y="24"/>
                    </a:cubicBezTo>
                    <a:cubicBezTo>
                      <a:pt x="63" y="23"/>
                      <a:pt x="56" y="23"/>
                      <a:pt x="53" y="22"/>
                    </a:cubicBezTo>
                    <a:cubicBezTo>
                      <a:pt x="51" y="22"/>
                      <a:pt x="45" y="21"/>
                      <a:pt x="42" y="23"/>
                    </a:cubicBezTo>
                    <a:cubicBezTo>
                      <a:pt x="38" y="24"/>
                      <a:pt x="37" y="24"/>
                      <a:pt x="36" y="24"/>
                    </a:cubicBezTo>
                    <a:cubicBezTo>
                      <a:pt x="35" y="24"/>
                      <a:pt x="35" y="25"/>
                      <a:pt x="34" y="25"/>
                    </a:cubicBezTo>
                    <a:cubicBezTo>
                      <a:pt x="34" y="26"/>
                      <a:pt x="31" y="28"/>
                      <a:pt x="32" y="25"/>
                    </a:cubicBezTo>
                    <a:cubicBezTo>
                      <a:pt x="33" y="22"/>
                      <a:pt x="33" y="22"/>
                      <a:pt x="34" y="22"/>
                    </a:cubicBezTo>
                    <a:cubicBezTo>
                      <a:pt x="35" y="21"/>
                      <a:pt x="35" y="23"/>
                      <a:pt x="36" y="21"/>
                    </a:cubicBezTo>
                    <a:cubicBezTo>
                      <a:pt x="37" y="20"/>
                      <a:pt x="37" y="19"/>
                      <a:pt x="36" y="19"/>
                    </a:cubicBezTo>
                    <a:cubicBezTo>
                      <a:pt x="34" y="19"/>
                      <a:pt x="29" y="18"/>
                      <a:pt x="31" y="18"/>
                    </a:cubicBezTo>
                    <a:cubicBezTo>
                      <a:pt x="33" y="18"/>
                      <a:pt x="35" y="19"/>
                      <a:pt x="35" y="18"/>
                    </a:cubicBezTo>
                    <a:cubicBezTo>
                      <a:pt x="34" y="16"/>
                      <a:pt x="34" y="16"/>
                      <a:pt x="37" y="15"/>
                    </a:cubicBezTo>
                    <a:cubicBezTo>
                      <a:pt x="39" y="14"/>
                      <a:pt x="45" y="10"/>
                      <a:pt x="46" y="9"/>
                    </a:cubicBezTo>
                    <a:cubicBezTo>
                      <a:pt x="47" y="9"/>
                      <a:pt x="49" y="6"/>
                      <a:pt x="49" y="4"/>
                    </a:cubicBezTo>
                    <a:cubicBezTo>
                      <a:pt x="50" y="1"/>
                      <a:pt x="51" y="1"/>
                      <a:pt x="49" y="1"/>
                    </a:cubicBezTo>
                    <a:cubicBezTo>
                      <a:pt x="48" y="1"/>
                      <a:pt x="46" y="1"/>
                      <a:pt x="45" y="1"/>
                    </a:cubicBezTo>
                    <a:cubicBezTo>
                      <a:pt x="45" y="1"/>
                      <a:pt x="45" y="0"/>
                      <a:pt x="44" y="1"/>
                    </a:cubicBezTo>
                    <a:cubicBezTo>
                      <a:pt x="43" y="2"/>
                      <a:pt x="43" y="3"/>
                      <a:pt x="42" y="2"/>
                    </a:cubicBezTo>
                    <a:cubicBezTo>
                      <a:pt x="42" y="2"/>
                      <a:pt x="41" y="2"/>
                      <a:pt x="40" y="3"/>
                    </a:cubicBezTo>
                    <a:cubicBezTo>
                      <a:pt x="39" y="3"/>
                      <a:pt x="36" y="4"/>
                      <a:pt x="36" y="3"/>
                    </a:cubicBezTo>
                    <a:cubicBezTo>
                      <a:pt x="35" y="2"/>
                      <a:pt x="35" y="3"/>
                      <a:pt x="34" y="3"/>
                    </a:cubicBezTo>
                    <a:cubicBezTo>
                      <a:pt x="33" y="4"/>
                      <a:pt x="31" y="4"/>
                      <a:pt x="30" y="4"/>
                    </a:cubicBezTo>
                    <a:cubicBezTo>
                      <a:pt x="29" y="5"/>
                      <a:pt x="29" y="6"/>
                      <a:pt x="29" y="5"/>
                    </a:cubicBezTo>
                    <a:cubicBezTo>
                      <a:pt x="29" y="4"/>
                      <a:pt x="29" y="3"/>
                      <a:pt x="28" y="3"/>
                    </a:cubicBezTo>
                    <a:cubicBezTo>
                      <a:pt x="27" y="3"/>
                      <a:pt x="26" y="4"/>
                      <a:pt x="26" y="5"/>
                    </a:cubicBezTo>
                    <a:cubicBezTo>
                      <a:pt x="25" y="5"/>
                      <a:pt x="24" y="6"/>
                      <a:pt x="25" y="4"/>
                    </a:cubicBezTo>
                    <a:cubicBezTo>
                      <a:pt x="26" y="2"/>
                      <a:pt x="25" y="2"/>
                      <a:pt x="24" y="2"/>
                    </a:cubicBezTo>
                    <a:cubicBezTo>
                      <a:pt x="24" y="2"/>
                      <a:pt x="23" y="3"/>
                      <a:pt x="23" y="2"/>
                    </a:cubicBezTo>
                    <a:cubicBezTo>
                      <a:pt x="22" y="2"/>
                      <a:pt x="20" y="2"/>
                      <a:pt x="20" y="3"/>
                    </a:cubicBezTo>
                    <a:cubicBezTo>
                      <a:pt x="20" y="3"/>
                      <a:pt x="17" y="8"/>
                      <a:pt x="19" y="9"/>
                    </a:cubicBezTo>
                    <a:cubicBezTo>
                      <a:pt x="21" y="10"/>
                      <a:pt x="21" y="10"/>
                      <a:pt x="19" y="10"/>
                    </a:cubicBezTo>
                    <a:cubicBezTo>
                      <a:pt x="17" y="10"/>
                      <a:pt x="14" y="10"/>
                      <a:pt x="15" y="10"/>
                    </a:cubicBezTo>
                    <a:cubicBezTo>
                      <a:pt x="16" y="11"/>
                      <a:pt x="17" y="12"/>
                      <a:pt x="16" y="13"/>
                    </a:cubicBezTo>
                    <a:cubicBezTo>
                      <a:pt x="16" y="13"/>
                      <a:pt x="15" y="14"/>
                      <a:pt x="15" y="13"/>
                    </a:cubicBezTo>
                    <a:cubicBezTo>
                      <a:pt x="14" y="13"/>
                      <a:pt x="13" y="14"/>
                      <a:pt x="15" y="14"/>
                    </a:cubicBezTo>
                    <a:cubicBezTo>
                      <a:pt x="16" y="15"/>
                      <a:pt x="21" y="20"/>
                      <a:pt x="19" y="18"/>
                    </a:cubicBezTo>
                    <a:cubicBezTo>
                      <a:pt x="17" y="17"/>
                      <a:pt x="14" y="16"/>
                      <a:pt x="15" y="17"/>
                    </a:cubicBezTo>
                    <a:cubicBezTo>
                      <a:pt x="16" y="18"/>
                      <a:pt x="16" y="18"/>
                      <a:pt x="14" y="18"/>
                    </a:cubicBezTo>
                    <a:cubicBezTo>
                      <a:pt x="13" y="18"/>
                      <a:pt x="13" y="19"/>
                      <a:pt x="13" y="18"/>
                    </a:cubicBezTo>
                    <a:cubicBezTo>
                      <a:pt x="12" y="17"/>
                      <a:pt x="11" y="17"/>
                      <a:pt x="11" y="18"/>
                    </a:cubicBezTo>
                    <a:cubicBezTo>
                      <a:pt x="11" y="19"/>
                      <a:pt x="11" y="20"/>
                      <a:pt x="10" y="19"/>
                    </a:cubicBezTo>
                    <a:cubicBezTo>
                      <a:pt x="10" y="18"/>
                      <a:pt x="9" y="17"/>
                      <a:pt x="9" y="19"/>
                    </a:cubicBezTo>
                    <a:cubicBezTo>
                      <a:pt x="8" y="20"/>
                      <a:pt x="9" y="21"/>
                      <a:pt x="10" y="22"/>
                    </a:cubicBezTo>
                    <a:cubicBezTo>
                      <a:pt x="10" y="23"/>
                      <a:pt x="14" y="25"/>
                      <a:pt x="12" y="26"/>
                    </a:cubicBezTo>
                    <a:cubicBezTo>
                      <a:pt x="11" y="26"/>
                      <a:pt x="10" y="26"/>
                      <a:pt x="9" y="25"/>
                    </a:cubicBezTo>
                    <a:cubicBezTo>
                      <a:pt x="9" y="25"/>
                      <a:pt x="7" y="25"/>
                      <a:pt x="8" y="26"/>
                    </a:cubicBezTo>
                    <a:cubicBezTo>
                      <a:pt x="9" y="27"/>
                      <a:pt x="8" y="28"/>
                      <a:pt x="10" y="2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24" name="Freeform 1136">
                <a:extLst>
                  <a:ext uri="{FF2B5EF4-FFF2-40B4-BE49-F238E27FC236}">
                    <a16:creationId xmlns:a16="http://schemas.microsoft.com/office/drawing/2014/main" id="{35CAB5A5-9681-4ACD-8044-73AB06F3F014}"/>
                  </a:ext>
                </a:extLst>
              </p:cNvPr>
              <p:cNvSpPr>
                <a:spLocks/>
              </p:cNvSpPr>
              <p:nvPr/>
            </p:nvSpPr>
            <p:spPr bwMode="auto">
              <a:xfrm>
                <a:off x="3469" y="1548"/>
                <a:ext cx="12" cy="6"/>
              </a:xfrm>
              <a:custGeom>
                <a:avLst/>
                <a:gdLst>
                  <a:gd name="T0" fmla="*/ 3 w 9"/>
                  <a:gd name="T1" fmla="*/ 1 h 4"/>
                  <a:gd name="T2" fmla="*/ 2 w 9"/>
                  <a:gd name="T3" fmla="*/ 2 h 4"/>
                  <a:gd name="T4" fmla="*/ 7 w 9"/>
                  <a:gd name="T5" fmla="*/ 3 h 4"/>
                  <a:gd name="T6" fmla="*/ 9 w 9"/>
                  <a:gd name="T7" fmla="*/ 2 h 4"/>
                  <a:gd name="T8" fmla="*/ 8 w 9"/>
                  <a:gd name="T9" fmla="*/ 1 h 4"/>
                  <a:gd name="T10" fmla="*/ 3 w 9"/>
                  <a:gd name="T11" fmla="*/ 1 h 4"/>
                </a:gdLst>
                <a:ahLst/>
                <a:cxnLst>
                  <a:cxn ang="0">
                    <a:pos x="T0" y="T1"/>
                  </a:cxn>
                  <a:cxn ang="0">
                    <a:pos x="T2" y="T3"/>
                  </a:cxn>
                  <a:cxn ang="0">
                    <a:pos x="T4" y="T5"/>
                  </a:cxn>
                  <a:cxn ang="0">
                    <a:pos x="T6" y="T7"/>
                  </a:cxn>
                  <a:cxn ang="0">
                    <a:pos x="T8" y="T9"/>
                  </a:cxn>
                  <a:cxn ang="0">
                    <a:pos x="T10" y="T11"/>
                  </a:cxn>
                </a:cxnLst>
                <a:rect l="0" t="0" r="r" b="b"/>
                <a:pathLst>
                  <a:path w="9" h="4">
                    <a:moveTo>
                      <a:pt x="3" y="1"/>
                    </a:moveTo>
                    <a:cubicBezTo>
                      <a:pt x="3" y="1"/>
                      <a:pt x="0" y="1"/>
                      <a:pt x="2" y="2"/>
                    </a:cubicBezTo>
                    <a:cubicBezTo>
                      <a:pt x="4" y="3"/>
                      <a:pt x="6" y="4"/>
                      <a:pt x="7" y="3"/>
                    </a:cubicBezTo>
                    <a:cubicBezTo>
                      <a:pt x="8" y="2"/>
                      <a:pt x="8" y="2"/>
                      <a:pt x="9" y="2"/>
                    </a:cubicBezTo>
                    <a:cubicBezTo>
                      <a:pt x="9" y="1"/>
                      <a:pt x="9" y="1"/>
                      <a:pt x="8" y="1"/>
                    </a:cubicBezTo>
                    <a:cubicBezTo>
                      <a:pt x="7" y="0"/>
                      <a:pt x="4" y="0"/>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25" name="Freeform 1137">
                <a:extLst>
                  <a:ext uri="{FF2B5EF4-FFF2-40B4-BE49-F238E27FC236}">
                    <a16:creationId xmlns:a16="http://schemas.microsoft.com/office/drawing/2014/main" id="{0C8BB546-BD89-4D04-B247-3426A0C1421E}"/>
                  </a:ext>
                </a:extLst>
              </p:cNvPr>
              <p:cNvSpPr>
                <a:spLocks/>
              </p:cNvSpPr>
              <p:nvPr/>
            </p:nvSpPr>
            <p:spPr bwMode="auto">
              <a:xfrm>
                <a:off x="3467" y="1266"/>
                <a:ext cx="14" cy="23"/>
              </a:xfrm>
              <a:custGeom>
                <a:avLst/>
                <a:gdLst>
                  <a:gd name="T0" fmla="*/ 3 w 10"/>
                  <a:gd name="T1" fmla="*/ 9 h 17"/>
                  <a:gd name="T2" fmla="*/ 5 w 10"/>
                  <a:gd name="T3" fmla="*/ 9 h 17"/>
                  <a:gd name="T4" fmla="*/ 7 w 10"/>
                  <a:gd name="T5" fmla="*/ 8 h 17"/>
                  <a:gd name="T6" fmla="*/ 7 w 10"/>
                  <a:gd name="T7" fmla="*/ 10 h 17"/>
                  <a:gd name="T8" fmla="*/ 6 w 10"/>
                  <a:gd name="T9" fmla="*/ 14 h 17"/>
                  <a:gd name="T10" fmla="*/ 6 w 10"/>
                  <a:gd name="T11" fmla="*/ 16 h 17"/>
                  <a:gd name="T12" fmla="*/ 8 w 10"/>
                  <a:gd name="T13" fmla="*/ 15 h 17"/>
                  <a:gd name="T14" fmla="*/ 10 w 10"/>
                  <a:gd name="T15" fmla="*/ 5 h 17"/>
                  <a:gd name="T16" fmla="*/ 10 w 10"/>
                  <a:gd name="T17" fmla="*/ 4 h 17"/>
                  <a:gd name="T18" fmla="*/ 9 w 10"/>
                  <a:gd name="T19" fmla="*/ 4 h 17"/>
                  <a:gd name="T20" fmla="*/ 6 w 10"/>
                  <a:gd name="T21" fmla="*/ 0 h 17"/>
                  <a:gd name="T22" fmla="*/ 5 w 10"/>
                  <a:gd name="T23" fmla="*/ 1 h 17"/>
                  <a:gd name="T24" fmla="*/ 4 w 10"/>
                  <a:gd name="T25" fmla="*/ 2 h 17"/>
                  <a:gd name="T26" fmla="*/ 2 w 10"/>
                  <a:gd name="T27" fmla="*/ 2 h 17"/>
                  <a:gd name="T28" fmla="*/ 4 w 10"/>
                  <a:gd name="T29" fmla="*/ 3 h 17"/>
                  <a:gd name="T30" fmla="*/ 5 w 10"/>
                  <a:gd name="T31" fmla="*/ 4 h 17"/>
                  <a:gd name="T32" fmla="*/ 6 w 10"/>
                  <a:gd name="T33" fmla="*/ 5 h 17"/>
                  <a:gd name="T34" fmla="*/ 6 w 10"/>
                  <a:gd name="T35" fmla="*/ 6 h 17"/>
                  <a:gd name="T36" fmla="*/ 3 w 10"/>
                  <a:gd name="T37" fmla="*/ 7 h 17"/>
                  <a:gd name="T38" fmla="*/ 1 w 10"/>
                  <a:gd name="T39" fmla="*/ 8 h 17"/>
                  <a:gd name="T40" fmla="*/ 3 w 10"/>
                  <a:gd name="T41"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7">
                    <a:moveTo>
                      <a:pt x="3" y="9"/>
                    </a:moveTo>
                    <a:cubicBezTo>
                      <a:pt x="3" y="8"/>
                      <a:pt x="3" y="10"/>
                      <a:pt x="5" y="9"/>
                    </a:cubicBezTo>
                    <a:cubicBezTo>
                      <a:pt x="7" y="8"/>
                      <a:pt x="7" y="7"/>
                      <a:pt x="7" y="8"/>
                    </a:cubicBezTo>
                    <a:cubicBezTo>
                      <a:pt x="7" y="9"/>
                      <a:pt x="7" y="9"/>
                      <a:pt x="7" y="10"/>
                    </a:cubicBezTo>
                    <a:cubicBezTo>
                      <a:pt x="7" y="11"/>
                      <a:pt x="6" y="13"/>
                      <a:pt x="6" y="14"/>
                    </a:cubicBezTo>
                    <a:cubicBezTo>
                      <a:pt x="6" y="14"/>
                      <a:pt x="5" y="15"/>
                      <a:pt x="6" y="16"/>
                    </a:cubicBezTo>
                    <a:cubicBezTo>
                      <a:pt x="7" y="17"/>
                      <a:pt x="8" y="17"/>
                      <a:pt x="8" y="15"/>
                    </a:cubicBezTo>
                    <a:cubicBezTo>
                      <a:pt x="8" y="13"/>
                      <a:pt x="10" y="6"/>
                      <a:pt x="10" y="5"/>
                    </a:cubicBezTo>
                    <a:cubicBezTo>
                      <a:pt x="10" y="4"/>
                      <a:pt x="10" y="3"/>
                      <a:pt x="10" y="4"/>
                    </a:cubicBezTo>
                    <a:cubicBezTo>
                      <a:pt x="10" y="4"/>
                      <a:pt x="9" y="6"/>
                      <a:pt x="9" y="4"/>
                    </a:cubicBezTo>
                    <a:cubicBezTo>
                      <a:pt x="8" y="2"/>
                      <a:pt x="7" y="0"/>
                      <a:pt x="6" y="0"/>
                    </a:cubicBezTo>
                    <a:cubicBezTo>
                      <a:pt x="4" y="0"/>
                      <a:pt x="5" y="1"/>
                      <a:pt x="5" y="1"/>
                    </a:cubicBezTo>
                    <a:cubicBezTo>
                      <a:pt x="5" y="2"/>
                      <a:pt x="5" y="3"/>
                      <a:pt x="4" y="2"/>
                    </a:cubicBezTo>
                    <a:cubicBezTo>
                      <a:pt x="3" y="2"/>
                      <a:pt x="2" y="2"/>
                      <a:pt x="2" y="2"/>
                    </a:cubicBezTo>
                    <a:cubicBezTo>
                      <a:pt x="2" y="3"/>
                      <a:pt x="3" y="3"/>
                      <a:pt x="4" y="3"/>
                    </a:cubicBezTo>
                    <a:cubicBezTo>
                      <a:pt x="4" y="3"/>
                      <a:pt x="5" y="3"/>
                      <a:pt x="5" y="4"/>
                    </a:cubicBezTo>
                    <a:cubicBezTo>
                      <a:pt x="5" y="5"/>
                      <a:pt x="5" y="5"/>
                      <a:pt x="6" y="5"/>
                    </a:cubicBezTo>
                    <a:cubicBezTo>
                      <a:pt x="6" y="6"/>
                      <a:pt x="7" y="6"/>
                      <a:pt x="6" y="6"/>
                    </a:cubicBezTo>
                    <a:cubicBezTo>
                      <a:pt x="5" y="7"/>
                      <a:pt x="4" y="7"/>
                      <a:pt x="3" y="7"/>
                    </a:cubicBezTo>
                    <a:cubicBezTo>
                      <a:pt x="2" y="7"/>
                      <a:pt x="0" y="7"/>
                      <a:pt x="1" y="8"/>
                    </a:cubicBezTo>
                    <a:cubicBezTo>
                      <a:pt x="2" y="9"/>
                      <a:pt x="2" y="9"/>
                      <a:pt x="3"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26" name="Freeform 1138">
                <a:extLst>
                  <a:ext uri="{FF2B5EF4-FFF2-40B4-BE49-F238E27FC236}">
                    <a16:creationId xmlns:a16="http://schemas.microsoft.com/office/drawing/2014/main" id="{5025FC0A-0E93-4DF6-ACE4-D4358334A3D5}"/>
                  </a:ext>
                </a:extLst>
              </p:cNvPr>
              <p:cNvSpPr>
                <a:spLocks/>
              </p:cNvSpPr>
              <p:nvPr/>
            </p:nvSpPr>
            <p:spPr bwMode="auto">
              <a:xfrm>
                <a:off x="3478" y="1262"/>
                <a:ext cx="4" cy="8"/>
              </a:xfrm>
              <a:custGeom>
                <a:avLst/>
                <a:gdLst>
                  <a:gd name="T0" fmla="*/ 2 w 3"/>
                  <a:gd name="T1" fmla="*/ 3 h 6"/>
                  <a:gd name="T2" fmla="*/ 2 w 3"/>
                  <a:gd name="T3" fmla="*/ 1 h 6"/>
                  <a:gd name="T4" fmla="*/ 1 w 3"/>
                  <a:gd name="T5" fmla="*/ 2 h 6"/>
                  <a:gd name="T6" fmla="*/ 1 w 3"/>
                  <a:gd name="T7" fmla="*/ 5 h 6"/>
                  <a:gd name="T8" fmla="*/ 2 w 3"/>
                  <a:gd name="T9" fmla="*/ 3 h 6"/>
                </a:gdLst>
                <a:ahLst/>
                <a:cxnLst>
                  <a:cxn ang="0">
                    <a:pos x="T0" y="T1"/>
                  </a:cxn>
                  <a:cxn ang="0">
                    <a:pos x="T2" y="T3"/>
                  </a:cxn>
                  <a:cxn ang="0">
                    <a:pos x="T4" y="T5"/>
                  </a:cxn>
                  <a:cxn ang="0">
                    <a:pos x="T6" y="T7"/>
                  </a:cxn>
                  <a:cxn ang="0">
                    <a:pos x="T8" y="T9"/>
                  </a:cxn>
                </a:cxnLst>
                <a:rect l="0" t="0" r="r" b="b"/>
                <a:pathLst>
                  <a:path w="3" h="6">
                    <a:moveTo>
                      <a:pt x="2" y="3"/>
                    </a:moveTo>
                    <a:cubicBezTo>
                      <a:pt x="3" y="0"/>
                      <a:pt x="3" y="0"/>
                      <a:pt x="2" y="1"/>
                    </a:cubicBezTo>
                    <a:cubicBezTo>
                      <a:pt x="2" y="1"/>
                      <a:pt x="1" y="1"/>
                      <a:pt x="1" y="2"/>
                    </a:cubicBezTo>
                    <a:cubicBezTo>
                      <a:pt x="1" y="3"/>
                      <a:pt x="0" y="4"/>
                      <a:pt x="1" y="5"/>
                    </a:cubicBezTo>
                    <a:cubicBezTo>
                      <a:pt x="1" y="5"/>
                      <a:pt x="2" y="6"/>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27" name="Freeform 1139">
                <a:extLst>
                  <a:ext uri="{FF2B5EF4-FFF2-40B4-BE49-F238E27FC236}">
                    <a16:creationId xmlns:a16="http://schemas.microsoft.com/office/drawing/2014/main" id="{87D52434-E16A-4878-AD43-AC20974C8A7B}"/>
                  </a:ext>
                </a:extLst>
              </p:cNvPr>
              <p:cNvSpPr>
                <a:spLocks/>
              </p:cNvSpPr>
              <p:nvPr/>
            </p:nvSpPr>
            <p:spPr bwMode="auto">
              <a:xfrm>
                <a:off x="3482" y="1258"/>
                <a:ext cx="6" cy="6"/>
              </a:xfrm>
              <a:custGeom>
                <a:avLst/>
                <a:gdLst>
                  <a:gd name="T0" fmla="*/ 3 w 4"/>
                  <a:gd name="T1" fmla="*/ 3 h 5"/>
                  <a:gd name="T2" fmla="*/ 2 w 4"/>
                  <a:gd name="T3" fmla="*/ 1 h 5"/>
                  <a:gd name="T4" fmla="*/ 1 w 4"/>
                  <a:gd name="T5" fmla="*/ 4 h 5"/>
                  <a:gd name="T6" fmla="*/ 3 w 4"/>
                  <a:gd name="T7" fmla="*/ 3 h 5"/>
                </a:gdLst>
                <a:ahLst/>
                <a:cxnLst>
                  <a:cxn ang="0">
                    <a:pos x="T0" y="T1"/>
                  </a:cxn>
                  <a:cxn ang="0">
                    <a:pos x="T2" y="T3"/>
                  </a:cxn>
                  <a:cxn ang="0">
                    <a:pos x="T4" y="T5"/>
                  </a:cxn>
                  <a:cxn ang="0">
                    <a:pos x="T6" y="T7"/>
                  </a:cxn>
                </a:cxnLst>
                <a:rect l="0" t="0" r="r" b="b"/>
                <a:pathLst>
                  <a:path w="4" h="5">
                    <a:moveTo>
                      <a:pt x="3" y="3"/>
                    </a:moveTo>
                    <a:cubicBezTo>
                      <a:pt x="3" y="0"/>
                      <a:pt x="4" y="1"/>
                      <a:pt x="2" y="1"/>
                    </a:cubicBezTo>
                    <a:cubicBezTo>
                      <a:pt x="1" y="2"/>
                      <a:pt x="0" y="3"/>
                      <a:pt x="1" y="4"/>
                    </a:cubicBezTo>
                    <a:cubicBezTo>
                      <a:pt x="1" y="4"/>
                      <a:pt x="3" y="5"/>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28" name="Freeform 1140">
                <a:extLst>
                  <a:ext uri="{FF2B5EF4-FFF2-40B4-BE49-F238E27FC236}">
                    <a16:creationId xmlns:a16="http://schemas.microsoft.com/office/drawing/2014/main" id="{EF40D8C2-3C41-4571-A3B6-2EDF800AB0F3}"/>
                  </a:ext>
                </a:extLst>
              </p:cNvPr>
              <p:cNvSpPr>
                <a:spLocks/>
              </p:cNvSpPr>
              <p:nvPr/>
            </p:nvSpPr>
            <p:spPr bwMode="auto">
              <a:xfrm>
                <a:off x="3433" y="1317"/>
                <a:ext cx="4" cy="5"/>
              </a:xfrm>
              <a:custGeom>
                <a:avLst/>
                <a:gdLst>
                  <a:gd name="T0" fmla="*/ 2 w 3"/>
                  <a:gd name="T1" fmla="*/ 3 h 4"/>
                  <a:gd name="T2" fmla="*/ 3 w 3"/>
                  <a:gd name="T3" fmla="*/ 2 h 4"/>
                  <a:gd name="T4" fmla="*/ 1 w 3"/>
                  <a:gd name="T5" fmla="*/ 0 h 4"/>
                  <a:gd name="T6" fmla="*/ 2 w 3"/>
                  <a:gd name="T7" fmla="*/ 3 h 4"/>
                </a:gdLst>
                <a:ahLst/>
                <a:cxnLst>
                  <a:cxn ang="0">
                    <a:pos x="T0" y="T1"/>
                  </a:cxn>
                  <a:cxn ang="0">
                    <a:pos x="T2" y="T3"/>
                  </a:cxn>
                  <a:cxn ang="0">
                    <a:pos x="T4" y="T5"/>
                  </a:cxn>
                  <a:cxn ang="0">
                    <a:pos x="T6" y="T7"/>
                  </a:cxn>
                </a:cxnLst>
                <a:rect l="0" t="0" r="r" b="b"/>
                <a:pathLst>
                  <a:path w="3" h="4">
                    <a:moveTo>
                      <a:pt x="2" y="3"/>
                    </a:moveTo>
                    <a:cubicBezTo>
                      <a:pt x="2" y="3"/>
                      <a:pt x="3" y="4"/>
                      <a:pt x="3" y="2"/>
                    </a:cubicBezTo>
                    <a:cubicBezTo>
                      <a:pt x="3" y="0"/>
                      <a:pt x="2" y="0"/>
                      <a:pt x="1" y="0"/>
                    </a:cubicBezTo>
                    <a:cubicBezTo>
                      <a:pt x="0" y="0"/>
                      <a:pt x="0" y="2"/>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29" name="Freeform 1141">
                <a:extLst>
                  <a:ext uri="{FF2B5EF4-FFF2-40B4-BE49-F238E27FC236}">
                    <a16:creationId xmlns:a16="http://schemas.microsoft.com/office/drawing/2014/main" id="{181045D0-D989-4A57-AF14-DBBDC8D4C4D5}"/>
                  </a:ext>
                </a:extLst>
              </p:cNvPr>
              <p:cNvSpPr>
                <a:spLocks/>
              </p:cNvSpPr>
              <p:nvPr/>
            </p:nvSpPr>
            <p:spPr bwMode="auto">
              <a:xfrm>
                <a:off x="3431" y="1311"/>
                <a:ext cx="18" cy="7"/>
              </a:xfrm>
              <a:custGeom>
                <a:avLst/>
                <a:gdLst>
                  <a:gd name="T0" fmla="*/ 3 w 13"/>
                  <a:gd name="T1" fmla="*/ 4 h 5"/>
                  <a:gd name="T2" fmla="*/ 10 w 13"/>
                  <a:gd name="T3" fmla="*/ 5 h 5"/>
                  <a:gd name="T4" fmla="*/ 12 w 13"/>
                  <a:gd name="T5" fmla="*/ 4 h 5"/>
                  <a:gd name="T6" fmla="*/ 9 w 13"/>
                  <a:gd name="T7" fmla="*/ 3 h 5"/>
                  <a:gd name="T8" fmla="*/ 6 w 13"/>
                  <a:gd name="T9" fmla="*/ 3 h 5"/>
                  <a:gd name="T10" fmla="*/ 7 w 13"/>
                  <a:gd name="T11" fmla="*/ 2 h 5"/>
                  <a:gd name="T12" fmla="*/ 6 w 13"/>
                  <a:gd name="T13" fmla="*/ 0 h 5"/>
                  <a:gd name="T14" fmla="*/ 2 w 13"/>
                  <a:gd name="T15" fmla="*/ 1 h 5"/>
                  <a:gd name="T16" fmla="*/ 3 w 13"/>
                  <a:gd name="T1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5">
                    <a:moveTo>
                      <a:pt x="3" y="4"/>
                    </a:moveTo>
                    <a:cubicBezTo>
                      <a:pt x="5" y="4"/>
                      <a:pt x="7" y="5"/>
                      <a:pt x="10" y="5"/>
                    </a:cubicBezTo>
                    <a:cubicBezTo>
                      <a:pt x="10" y="5"/>
                      <a:pt x="13" y="5"/>
                      <a:pt x="12" y="4"/>
                    </a:cubicBezTo>
                    <a:cubicBezTo>
                      <a:pt x="11" y="3"/>
                      <a:pt x="9" y="3"/>
                      <a:pt x="9" y="3"/>
                    </a:cubicBezTo>
                    <a:cubicBezTo>
                      <a:pt x="8" y="3"/>
                      <a:pt x="7" y="3"/>
                      <a:pt x="6" y="3"/>
                    </a:cubicBezTo>
                    <a:cubicBezTo>
                      <a:pt x="6" y="3"/>
                      <a:pt x="5" y="3"/>
                      <a:pt x="7" y="2"/>
                    </a:cubicBezTo>
                    <a:cubicBezTo>
                      <a:pt x="8" y="1"/>
                      <a:pt x="7" y="0"/>
                      <a:pt x="6" y="0"/>
                    </a:cubicBezTo>
                    <a:cubicBezTo>
                      <a:pt x="5" y="0"/>
                      <a:pt x="3" y="0"/>
                      <a:pt x="2" y="1"/>
                    </a:cubicBezTo>
                    <a:cubicBezTo>
                      <a:pt x="2" y="2"/>
                      <a:pt x="0" y="3"/>
                      <a:pt x="3"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30" name="Freeform 1142">
                <a:extLst>
                  <a:ext uri="{FF2B5EF4-FFF2-40B4-BE49-F238E27FC236}">
                    <a16:creationId xmlns:a16="http://schemas.microsoft.com/office/drawing/2014/main" id="{7A73470D-AD99-4C87-9292-1B5D78873CCC}"/>
                  </a:ext>
                </a:extLst>
              </p:cNvPr>
              <p:cNvSpPr>
                <a:spLocks/>
              </p:cNvSpPr>
              <p:nvPr/>
            </p:nvSpPr>
            <p:spPr bwMode="auto">
              <a:xfrm>
                <a:off x="3357" y="1329"/>
                <a:ext cx="20" cy="19"/>
              </a:xfrm>
              <a:custGeom>
                <a:avLst/>
                <a:gdLst>
                  <a:gd name="T0" fmla="*/ 8 w 15"/>
                  <a:gd name="T1" fmla="*/ 4 h 14"/>
                  <a:gd name="T2" fmla="*/ 4 w 15"/>
                  <a:gd name="T3" fmla="*/ 6 h 14"/>
                  <a:gd name="T4" fmla="*/ 2 w 15"/>
                  <a:gd name="T5" fmla="*/ 6 h 14"/>
                  <a:gd name="T6" fmla="*/ 0 w 15"/>
                  <a:gd name="T7" fmla="*/ 10 h 14"/>
                  <a:gd name="T8" fmla="*/ 1 w 15"/>
                  <a:gd name="T9" fmla="*/ 12 h 14"/>
                  <a:gd name="T10" fmla="*/ 6 w 15"/>
                  <a:gd name="T11" fmla="*/ 14 h 14"/>
                  <a:gd name="T12" fmla="*/ 6 w 15"/>
                  <a:gd name="T13" fmla="*/ 13 h 14"/>
                  <a:gd name="T14" fmla="*/ 7 w 15"/>
                  <a:gd name="T15" fmla="*/ 11 h 14"/>
                  <a:gd name="T16" fmla="*/ 8 w 15"/>
                  <a:gd name="T17" fmla="*/ 13 h 14"/>
                  <a:gd name="T18" fmla="*/ 10 w 15"/>
                  <a:gd name="T19" fmla="*/ 12 h 14"/>
                  <a:gd name="T20" fmla="*/ 10 w 15"/>
                  <a:gd name="T21" fmla="*/ 10 h 14"/>
                  <a:gd name="T22" fmla="*/ 10 w 15"/>
                  <a:gd name="T23" fmla="*/ 9 h 14"/>
                  <a:gd name="T24" fmla="*/ 11 w 15"/>
                  <a:gd name="T25" fmla="*/ 7 h 14"/>
                  <a:gd name="T26" fmla="*/ 13 w 15"/>
                  <a:gd name="T27" fmla="*/ 7 h 14"/>
                  <a:gd name="T28" fmla="*/ 15 w 15"/>
                  <a:gd name="T29" fmla="*/ 5 h 14"/>
                  <a:gd name="T30" fmla="*/ 14 w 15"/>
                  <a:gd name="T31" fmla="*/ 2 h 14"/>
                  <a:gd name="T32" fmla="*/ 11 w 15"/>
                  <a:gd name="T33" fmla="*/ 2 h 14"/>
                  <a:gd name="T34" fmla="*/ 8 w 15"/>
                  <a:gd name="T35" fmla="*/ 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 h="14">
                    <a:moveTo>
                      <a:pt x="8" y="4"/>
                    </a:moveTo>
                    <a:cubicBezTo>
                      <a:pt x="6" y="4"/>
                      <a:pt x="5" y="5"/>
                      <a:pt x="4" y="6"/>
                    </a:cubicBezTo>
                    <a:cubicBezTo>
                      <a:pt x="3" y="7"/>
                      <a:pt x="3" y="6"/>
                      <a:pt x="2" y="6"/>
                    </a:cubicBezTo>
                    <a:cubicBezTo>
                      <a:pt x="1" y="6"/>
                      <a:pt x="0" y="9"/>
                      <a:pt x="0" y="10"/>
                    </a:cubicBezTo>
                    <a:cubicBezTo>
                      <a:pt x="0" y="12"/>
                      <a:pt x="1" y="12"/>
                      <a:pt x="1" y="12"/>
                    </a:cubicBezTo>
                    <a:cubicBezTo>
                      <a:pt x="1" y="12"/>
                      <a:pt x="5" y="13"/>
                      <a:pt x="6" y="14"/>
                    </a:cubicBezTo>
                    <a:cubicBezTo>
                      <a:pt x="7" y="14"/>
                      <a:pt x="7" y="14"/>
                      <a:pt x="6" y="13"/>
                    </a:cubicBezTo>
                    <a:cubicBezTo>
                      <a:pt x="6" y="12"/>
                      <a:pt x="6" y="11"/>
                      <a:pt x="7" y="11"/>
                    </a:cubicBezTo>
                    <a:cubicBezTo>
                      <a:pt x="8" y="10"/>
                      <a:pt x="8" y="11"/>
                      <a:pt x="8" y="13"/>
                    </a:cubicBezTo>
                    <a:cubicBezTo>
                      <a:pt x="8" y="14"/>
                      <a:pt x="10" y="13"/>
                      <a:pt x="10" y="12"/>
                    </a:cubicBezTo>
                    <a:cubicBezTo>
                      <a:pt x="11" y="11"/>
                      <a:pt x="12" y="11"/>
                      <a:pt x="10" y="10"/>
                    </a:cubicBezTo>
                    <a:cubicBezTo>
                      <a:pt x="8" y="9"/>
                      <a:pt x="9" y="10"/>
                      <a:pt x="10" y="9"/>
                    </a:cubicBezTo>
                    <a:cubicBezTo>
                      <a:pt x="11" y="9"/>
                      <a:pt x="11" y="8"/>
                      <a:pt x="11" y="7"/>
                    </a:cubicBezTo>
                    <a:cubicBezTo>
                      <a:pt x="11" y="6"/>
                      <a:pt x="12" y="7"/>
                      <a:pt x="13" y="7"/>
                    </a:cubicBezTo>
                    <a:cubicBezTo>
                      <a:pt x="15" y="8"/>
                      <a:pt x="15" y="6"/>
                      <a:pt x="15" y="5"/>
                    </a:cubicBezTo>
                    <a:cubicBezTo>
                      <a:pt x="14" y="5"/>
                      <a:pt x="14" y="4"/>
                      <a:pt x="14" y="2"/>
                    </a:cubicBezTo>
                    <a:cubicBezTo>
                      <a:pt x="14" y="0"/>
                      <a:pt x="11" y="2"/>
                      <a:pt x="11" y="2"/>
                    </a:cubicBezTo>
                    <a:cubicBezTo>
                      <a:pt x="10" y="2"/>
                      <a:pt x="9" y="4"/>
                      <a:pt x="8"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31" name="Freeform 1143">
                <a:extLst>
                  <a:ext uri="{FF2B5EF4-FFF2-40B4-BE49-F238E27FC236}">
                    <a16:creationId xmlns:a16="http://schemas.microsoft.com/office/drawing/2014/main" id="{D047615C-8117-4AAC-B35D-CE56985FED12}"/>
                  </a:ext>
                </a:extLst>
              </p:cNvPr>
              <p:cNvSpPr>
                <a:spLocks/>
              </p:cNvSpPr>
              <p:nvPr/>
            </p:nvSpPr>
            <p:spPr bwMode="auto">
              <a:xfrm>
                <a:off x="3357" y="1347"/>
                <a:ext cx="8" cy="7"/>
              </a:xfrm>
              <a:custGeom>
                <a:avLst/>
                <a:gdLst>
                  <a:gd name="T0" fmla="*/ 1 w 6"/>
                  <a:gd name="T1" fmla="*/ 2 h 5"/>
                  <a:gd name="T2" fmla="*/ 1 w 6"/>
                  <a:gd name="T3" fmla="*/ 3 h 5"/>
                  <a:gd name="T4" fmla="*/ 5 w 6"/>
                  <a:gd name="T5" fmla="*/ 1 h 5"/>
                  <a:gd name="T6" fmla="*/ 1 w 6"/>
                  <a:gd name="T7" fmla="*/ 2 h 5"/>
                </a:gdLst>
                <a:ahLst/>
                <a:cxnLst>
                  <a:cxn ang="0">
                    <a:pos x="T0" y="T1"/>
                  </a:cxn>
                  <a:cxn ang="0">
                    <a:pos x="T2" y="T3"/>
                  </a:cxn>
                  <a:cxn ang="0">
                    <a:pos x="T4" y="T5"/>
                  </a:cxn>
                  <a:cxn ang="0">
                    <a:pos x="T6" y="T7"/>
                  </a:cxn>
                </a:cxnLst>
                <a:rect l="0" t="0" r="r" b="b"/>
                <a:pathLst>
                  <a:path w="6" h="5">
                    <a:moveTo>
                      <a:pt x="1" y="2"/>
                    </a:moveTo>
                    <a:cubicBezTo>
                      <a:pt x="0" y="3"/>
                      <a:pt x="1" y="3"/>
                      <a:pt x="1" y="3"/>
                    </a:cubicBezTo>
                    <a:cubicBezTo>
                      <a:pt x="4" y="5"/>
                      <a:pt x="6" y="2"/>
                      <a:pt x="5" y="1"/>
                    </a:cubicBezTo>
                    <a:cubicBezTo>
                      <a:pt x="4" y="0"/>
                      <a:pt x="3" y="1"/>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32" name="Freeform 1144">
                <a:extLst>
                  <a:ext uri="{FF2B5EF4-FFF2-40B4-BE49-F238E27FC236}">
                    <a16:creationId xmlns:a16="http://schemas.microsoft.com/office/drawing/2014/main" id="{58C2CBAC-BA7A-4512-8DF4-FF3AC5B10CE4}"/>
                  </a:ext>
                </a:extLst>
              </p:cNvPr>
              <p:cNvSpPr>
                <a:spLocks/>
              </p:cNvSpPr>
              <p:nvPr/>
            </p:nvSpPr>
            <p:spPr bwMode="auto">
              <a:xfrm>
                <a:off x="3347" y="1355"/>
                <a:ext cx="11" cy="5"/>
              </a:xfrm>
              <a:custGeom>
                <a:avLst/>
                <a:gdLst>
                  <a:gd name="T0" fmla="*/ 2 w 8"/>
                  <a:gd name="T1" fmla="*/ 2 h 4"/>
                  <a:gd name="T2" fmla="*/ 5 w 8"/>
                  <a:gd name="T3" fmla="*/ 3 h 4"/>
                  <a:gd name="T4" fmla="*/ 7 w 8"/>
                  <a:gd name="T5" fmla="*/ 1 h 4"/>
                  <a:gd name="T6" fmla="*/ 2 w 8"/>
                  <a:gd name="T7" fmla="*/ 0 h 4"/>
                  <a:gd name="T8" fmla="*/ 2 w 8"/>
                  <a:gd name="T9" fmla="*/ 2 h 4"/>
                </a:gdLst>
                <a:ahLst/>
                <a:cxnLst>
                  <a:cxn ang="0">
                    <a:pos x="T0" y="T1"/>
                  </a:cxn>
                  <a:cxn ang="0">
                    <a:pos x="T2" y="T3"/>
                  </a:cxn>
                  <a:cxn ang="0">
                    <a:pos x="T4" y="T5"/>
                  </a:cxn>
                  <a:cxn ang="0">
                    <a:pos x="T6" y="T7"/>
                  </a:cxn>
                  <a:cxn ang="0">
                    <a:pos x="T8" y="T9"/>
                  </a:cxn>
                </a:cxnLst>
                <a:rect l="0" t="0" r="r" b="b"/>
                <a:pathLst>
                  <a:path w="8" h="4">
                    <a:moveTo>
                      <a:pt x="2" y="2"/>
                    </a:moveTo>
                    <a:cubicBezTo>
                      <a:pt x="2" y="2"/>
                      <a:pt x="4" y="2"/>
                      <a:pt x="5" y="3"/>
                    </a:cubicBezTo>
                    <a:cubicBezTo>
                      <a:pt x="6" y="4"/>
                      <a:pt x="7" y="2"/>
                      <a:pt x="7" y="1"/>
                    </a:cubicBezTo>
                    <a:cubicBezTo>
                      <a:pt x="8" y="0"/>
                      <a:pt x="5" y="0"/>
                      <a:pt x="2" y="0"/>
                    </a:cubicBezTo>
                    <a:cubicBezTo>
                      <a:pt x="0" y="1"/>
                      <a:pt x="2" y="2"/>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33" name="Freeform 1145">
                <a:extLst>
                  <a:ext uri="{FF2B5EF4-FFF2-40B4-BE49-F238E27FC236}">
                    <a16:creationId xmlns:a16="http://schemas.microsoft.com/office/drawing/2014/main" id="{2B7E119E-4AEF-447F-AD56-17D5F401E5A6}"/>
                  </a:ext>
                </a:extLst>
              </p:cNvPr>
              <p:cNvSpPr>
                <a:spLocks/>
              </p:cNvSpPr>
              <p:nvPr/>
            </p:nvSpPr>
            <p:spPr bwMode="auto">
              <a:xfrm>
                <a:off x="3352" y="1359"/>
                <a:ext cx="3" cy="4"/>
              </a:xfrm>
              <a:custGeom>
                <a:avLst/>
                <a:gdLst>
                  <a:gd name="T0" fmla="*/ 1 w 2"/>
                  <a:gd name="T1" fmla="*/ 1 h 3"/>
                  <a:gd name="T2" fmla="*/ 0 w 2"/>
                  <a:gd name="T3" fmla="*/ 1 h 3"/>
                  <a:gd name="T4" fmla="*/ 1 w 2"/>
                  <a:gd name="T5" fmla="*/ 1 h 3"/>
                </a:gdLst>
                <a:ahLst/>
                <a:cxnLst>
                  <a:cxn ang="0">
                    <a:pos x="T0" y="T1"/>
                  </a:cxn>
                  <a:cxn ang="0">
                    <a:pos x="T2" y="T3"/>
                  </a:cxn>
                  <a:cxn ang="0">
                    <a:pos x="T4" y="T5"/>
                  </a:cxn>
                </a:cxnLst>
                <a:rect l="0" t="0" r="r" b="b"/>
                <a:pathLst>
                  <a:path w="2" h="3">
                    <a:moveTo>
                      <a:pt x="1" y="1"/>
                    </a:moveTo>
                    <a:cubicBezTo>
                      <a:pt x="0" y="0"/>
                      <a:pt x="0" y="1"/>
                      <a:pt x="0" y="1"/>
                    </a:cubicBezTo>
                    <a:cubicBezTo>
                      <a:pt x="0" y="3"/>
                      <a:pt x="2" y="2"/>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34" name="Freeform 1146">
                <a:extLst>
                  <a:ext uri="{FF2B5EF4-FFF2-40B4-BE49-F238E27FC236}">
                    <a16:creationId xmlns:a16="http://schemas.microsoft.com/office/drawing/2014/main" id="{15B2CF50-E883-494B-9C0A-B3846B6EE43A}"/>
                  </a:ext>
                </a:extLst>
              </p:cNvPr>
              <p:cNvSpPr>
                <a:spLocks/>
              </p:cNvSpPr>
              <p:nvPr/>
            </p:nvSpPr>
            <p:spPr bwMode="auto">
              <a:xfrm>
                <a:off x="3348" y="1373"/>
                <a:ext cx="3" cy="3"/>
              </a:xfrm>
              <a:custGeom>
                <a:avLst/>
                <a:gdLst>
                  <a:gd name="T0" fmla="*/ 0 w 2"/>
                  <a:gd name="T1" fmla="*/ 1 h 2"/>
                  <a:gd name="T2" fmla="*/ 2 w 2"/>
                  <a:gd name="T3" fmla="*/ 2 h 2"/>
                  <a:gd name="T4" fmla="*/ 0 w 2"/>
                  <a:gd name="T5" fmla="*/ 1 h 2"/>
                </a:gdLst>
                <a:ahLst/>
                <a:cxnLst>
                  <a:cxn ang="0">
                    <a:pos x="T0" y="T1"/>
                  </a:cxn>
                  <a:cxn ang="0">
                    <a:pos x="T2" y="T3"/>
                  </a:cxn>
                  <a:cxn ang="0">
                    <a:pos x="T4" y="T5"/>
                  </a:cxn>
                </a:cxnLst>
                <a:rect l="0" t="0" r="r" b="b"/>
                <a:pathLst>
                  <a:path w="2" h="2">
                    <a:moveTo>
                      <a:pt x="0" y="1"/>
                    </a:moveTo>
                    <a:cubicBezTo>
                      <a:pt x="0" y="1"/>
                      <a:pt x="1" y="2"/>
                      <a:pt x="2" y="2"/>
                    </a:cubicBezTo>
                    <a:cubicBezTo>
                      <a:pt x="2" y="1"/>
                      <a:pt x="0" y="0"/>
                      <a:pt x="0"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35" name="Freeform 1147">
                <a:extLst>
                  <a:ext uri="{FF2B5EF4-FFF2-40B4-BE49-F238E27FC236}">
                    <a16:creationId xmlns:a16="http://schemas.microsoft.com/office/drawing/2014/main" id="{913A1A7F-8CE2-4C31-8821-7BFEF25E0FDC}"/>
                  </a:ext>
                </a:extLst>
              </p:cNvPr>
              <p:cNvSpPr>
                <a:spLocks/>
              </p:cNvSpPr>
              <p:nvPr/>
            </p:nvSpPr>
            <p:spPr bwMode="auto">
              <a:xfrm>
                <a:off x="3350" y="1362"/>
                <a:ext cx="5" cy="9"/>
              </a:xfrm>
              <a:custGeom>
                <a:avLst/>
                <a:gdLst>
                  <a:gd name="T0" fmla="*/ 3 w 4"/>
                  <a:gd name="T1" fmla="*/ 3 h 7"/>
                  <a:gd name="T2" fmla="*/ 3 w 4"/>
                  <a:gd name="T3" fmla="*/ 1 h 7"/>
                  <a:gd name="T4" fmla="*/ 0 w 4"/>
                  <a:gd name="T5" fmla="*/ 2 h 7"/>
                  <a:gd name="T6" fmla="*/ 3 w 4"/>
                  <a:gd name="T7" fmla="*/ 7 h 7"/>
                  <a:gd name="T8" fmla="*/ 2 w 4"/>
                  <a:gd name="T9" fmla="*/ 5 h 7"/>
                  <a:gd name="T10" fmla="*/ 2 w 4"/>
                  <a:gd name="T11" fmla="*/ 3 h 7"/>
                  <a:gd name="T12" fmla="*/ 3 w 4"/>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4" h="7">
                    <a:moveTo>
                      <a:pt x="3" y="3"/>
                    </a:moveTo>
                    <a:cubicBezTo>
                      <a:pt x="4" y="3"/>
                      <a:pt x="4" y="2"/>
                      <a:pt x="3" y="1"/>
                    </a:cubicBezTo>
                    <a:cubicBezTo>
                      <a:pt x="1" y="0"/>
                      <a:pt x="1" y="0"/>
                      <a:pt x="0" y="2"/>
                    </a:cubicBezTo>
                    <a:cubicBezTo>
                      <a:pt x="0" y="5"/>
                      <a:pt x="3" y="7"/>
                      <a:pt x="3" y="7"/>
                    </a:cubicBezTo>
                    <a:cubicBezTo>
                      <a:pt x="4" y="7"/>
                      <a:pt x="2" y="5"/>
                      <a:pt x="2" y="5"/>
                    </a:cubicBezTo>
                    <a:cubicBezTo>
                      <a:pt x="3" y="4"/>
                      <a:pt x="3" y="4"/>
                      <a:pt x="2" y="3"/>
                    </a:cubicBezTo>
                    <a:cubicBezTo>
                      <a:pt x="1" y="3"/>
                      <a:pt x="2" y="3"/>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36" name="Freeform 1148">
                <a:extLst>
                  <a:ext uri="{FF2B5EF4-FFF2-40B4-BE49-F238E27FC236}">
                    <a16:creationId xmlns:a16="http://schemas.microsoft.com/office/drawing/2014/main" id="{4E089BC5-60A4-4488-B3F2-07F819805E34}"/>
                  </a:ext>
                </a:extLst>
              </p:cNvPr>
              <p:cNvSpPr>
                <a:spLocks/>
              </p:cNvSpPr>
              <p:nvPr/>
            </p:nvSpPr>
            <p:spPr bwMode="auto">
              <a:xfrm>
                <a:off x="3363" y="1354"/>
                <a:ext cx="24" cy="19"/>
              </a:xfrm>
              <a:custGeom>
                <a:avLst/>
                <a:gdLst>
                  <a:gd name="T0" fmla="*/ 7 w 17"/>
                  <a:gd name="T1" fmla="*/ 1 h 14"/>
                  <a:gd name="T2" fmla="*/ 6 w 17"/>
                  <a:gd name="T3" fmla="*/ 4 h 14"/>
                  <a:gd name="T4" fmla="*/ 3 w 17"/>
                  <a:gd name="T5" fmla="*/ 2 h 14"/>
                  <a:gd name="T6" fmla="*/ 2 w 17"/>
                  <a:gd name="T7" fmla="*/ 3 h 14"/>
                  <a:gd name="T8" fmla="*/ 1 w 17"/>
                  <a:gd name="T9" fmla="*/ 4 h 14"/>
                  <a:gd name="T10" fmla="*/ 1 w 17"/>
                  <a:gd name="T11" fmla="*/ 6 h 14"/>
                  <a:gd name="T12" fmla="*/ 5 w 17"/>
                  <a:gd name="T13" fmla="*/ 7 h 14"/>
                  <a:gd name="T14" fmla="*/ 5 w 17"/>
                  <a:gd name="T15" fmla="*/ 8 h 14"/>
                  <a:gd name="T16" fmla="*/ 10 w 17"/>
                  <a:gd name="T17" fmla="*/ 11 h 14"/>
                  <a:gd name="T18" fmla="*/ 11 w 17"/>
                  <a:gd name="T19" fmla="*/ 10 h 14"/>
                  <a:gd name="T20" fmla="*/ 14 w 17"/>
                  <a:gd name="T21" fmla="*/ 11 h 14"/>
                  <a:gd name="T22" fmla="*/ 13 w 17"/>
                  <a:gd name="T23" fmla="*/ 13 h 14"/>
                  <a:gd name="T24" fmla="*/ 12 w 17"/>
                  <a:gd name="T25" fmla="*/ 14 h 14"/>
                  <a:gd name="T26" fmla="*/ 15 w 17"/>
                  <a:gd name="T27" fmla="*/ 12 h 14"/>
                  <a:gd name="T28" fmla="*/ 17 w 17"/>
                  <a:gd name="T29" fmla="*/ 10 h 14"/>
                  <a:gd name="T30" fmla="*/ 12 w 17"/>
                  <a:gd name="T31" fmla="*/ 9 h 14"/>
                  <a:gd name="T32" fmla="*/ 10 w 17"/>
                  <a:gd name="T33" fmla="*/ 8 h 14"/>
                  <a:gd name="T34" fmla="*/ 9 w 17"/>
                  <a:gd name="T35" fmla="*/ 7 h 14"/>
                  <a:gd name="T36" fmla="*/ 10 w 17"/>
                  <a:gd name="T37" fmla="*/ 4 h 14"/>
                  <a:gd name="T38" fmla="*/ 7 w 17"/>
                  <a:gd name="T39" fmla="*/ 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 h="14">
                    <a:moveTo>
                      <a:pt x="7" y="1"/>
                    </a:moveTo>
                    <a:cubicBezTo>
                      <a:pt x="6" y="0"/>
                      <a:pt x="6" y="1"/>
                      <a:pt x="6" y="4"/>
                    </a:cubicBezTo>
                    <a:cubicBezTo>
                      <a:pt x="6" y="6"/>
                      <a:pt x="4" y="3"/>
                      <a:pt x="3" y="2"/>
                    </a:cubicBezTo>
                    <a:cubicBezTo>
                      <a:pt x="3" y="1"/>
                      <a:pt x="2" y="1"/>
                      <a:pt x="2" y="3"/>
                    </a:cubicBezTo>
                    <a:cubicBezTo>
                      <a:pt x="3" y="6"/>
                      <a:pt x="2" y="4"/>
                      <a:pt x="1" y="4"/>
                    </a:cubicBezTo>
                    <a:cubicBezTo>
                      <a:pt x="0" y="4"/>
                      <a:pt x="1" y="6"/>
                      <a:pt x="1" y="6"/>
                    </a:cubicBezTo>
                    <a:cubicBezTo>
                      <a:pt x="2" y="6"/>
                      <a:pt x="4" y="6"/>
                      <a:pt x="5" y="7"/>
                    </a:cubicBezTo>
                    <a:cubicBezTo>
                      <a:pt x="6" y="7"/>
                      <a:pt x="6" y="8"/>
                      <a:pt x="5" y="8"/>
                    </a:cubicBezTo>
                    <a:cubicBezTo>
                      <a:pt x="4" y="8"/>
                      <a:pt x="9" y="11"/>
                      <a:pt x="10" y="11"/>
                    </a:cubicBezTo>
                    <a:cubicBezTo>
                      <a:pt x="11" y="11"/>
                      <a:pt x="11" y="11"/>
                      <a:pt x="11" y="10"/>
                    </a:cubicBezTo>
                    <a:cubicBezTo>
                      <a:pt x="11" y="9"/>
                      <a:pt x="12" y="11"/>
                      <a:pt x="14" y="11"/>
                    </a:cubicBezTo>
                    <a:cubicBezTo>
                      <a:pt x="15" y="12"/>
                      <a:pt x="14" y="11"/>
                      <a:pt x="13" y="13"/>
                    </a:cubicBezTo>
                    <a:cubicBezTo>
                      <a:pt x="12" y="14"/>
                      <a:pt x="12" y="14"/>
                      <a:pt x="12" y="14"/>
                    </a:cubicBezTo>
                    <a:cubicBezTo>
                      <a:pt x="12" y="14"/>
                      <a:pt x="14" y="13"/>
                      <a:pt x="15" y="12"/>
                    </a:cubicBezTo>
                    <a:cubicBezTo>
                      <a:pt x="16" y="11"/>
                      <a:pt x="16" y="11"/>
                      <a:pt x="17" y="10"/>
                    </a:cubicBezTo>
                    <a:cubicBezTo>
                      <a:pt x="17" y="9"/>
                      <a:pt x="12" y="9"/>
                      <a:pt x="12" y="9"/>
                    </a:cubicBezTo>
                    <a:cubicBezTo>
                      <a:pt x="11" y="9"/>
                      <a:pt x="11" y="8"/>
                      <a:pt x="10" y="8"/>
                    </a:cubicBezTo>
                    <a:cubicBezTo>
                      <a:pt x="9" y="8"/>
                      <a:pt x="10" y="8"/>
                      <a:pt x="9" y="7"/>
                    </a:cubicBezTo>
                    <a:cubicBezTo>
                      <a:pt x="9" y="6"/>
                      <a:pt x="10" y="6"/>
                      <a:pt x="10" y="4"/>
                    </a:cubicBezTo>
                    <a:cubicBezTo>
                      <a:pt x="10" y="3"/>
                      <a:pt x="9" y="1"/>
                      <a:pt x="7"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37" name="Freeform 1149">
                <a:extLst>
                  <a:ext uri="{FF2B5EF4-FFF2-40B4-BE49-F238E27FC236}">
                    <a16:creationId xmlns:a16="http://schemas.microsoft.com/office/drawing/2014/main" id="{54E4F669-B4CE-404D-817D-D577AC8425B1}"/>
                  </a:ext>
                </a:extLst>
              </p:cNvPr>
              <p:cNvSpPr>
                <a:spLocks/>
              </p:cNvSpPr>
              <p:nvPr/>
            </p:nvSpPr>
            <p:spPr bwMode="auto">
              <a:xfrm>
                <a:off x="3369" y="1371"/>
                <a:ext cx="6" cy="6"/>
              </a:xfrm>
              <a:custGeom>
                <a:avLst/>
                <a:gdLst>
                  <a:gd name="T0" fmla="*/ 4 w 4"/>
                  <a:gd name="T1" fmla="*/ 2 h 4"/>
                  <a:gd name="T2" fmla="*/ 2 w 4"/>
                  <a:gd name="T3" fmla="*/ 2 h 4"/>
                  <a:gd name="T4" fmla="*/ 4 w 4"/>
                  <a:gd name="T5" fmla="*/ 2 h 4"/>
                </a:gdLst>
                <a:ahLst/>
                <a:cxnLst>
                  <a:cxn ang="0">
                    <a:pos x="T0" y="T1"/>
                  </a:cxn>
                  <a:cxn ang="0">
                    <a:pos x="T2" y="T3"/>
                  </a:cxn>
                  <a:cxn ang="0">
                    <a:pos x="T4" y="T5"/>
                  </a:cxn>
                </a:cxnLst>
                <a:rect l="0" t="0" r="r" b="b"/>
                <a:pathLst>
                  <a:path w="4" h="4">
                    <a:moveTo>
                      <a:pt x="4" y="2"/>
                    </a:moveTo>
                    <a:cubicBezTo>
                      <a:pt x="4" y="0"/>
                      <a:pt x="0" y="0"/>
                      <a:pt x="2" y="2"/>
                    </a:cubicBezTo>
                    <a:cubicBezTo>
                      <a:pt x="2" y="2"/>
                      <a:pt x="4" y="4"/>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38" name="Freeform 1150">
                <a:extLst>
                  <a:ext uri="{FF2B5EF4-FFF2-40B4-BE49-F238E27FC236}">
                    <a16:creationId xmlns:a16="http://schemas.microsoft.com/office/drawing/2014/main" id="{AF4C51D5-EC3A-4981-951B-3626FB1FF3FE}"/>
                  </a:ext>
                </a:extLst>
              </p:cNvPr>
              <p:cNvSpPr>
                <a:spLocks/>
              </p:cNvSpPr>
              <p:nvPr/>
            </p:nvSpPr>
            <p:spPr bwMode="auto">
              <a:xfrm>
                <a:off x="3366" y="1381"/>
                <a:ext cx="4" cy="6"/>
              </a:xfrm>
              <a:custGeom>
                <a:avLst/>
                <a:gdLst>
                  <a:gd name="T0" fmla="*/ 0 w 3"/>
                  <a:gd name="T1" fmla="*/ 4 h 4"/>
                  <a:gd name="T2" fmla="*/ 3 w 3"/>
                  <a:gd name="T3" fmla="*/ 2 h 4"/>
                  <a:gd name="T4" fmla="*/ 0 w 3"/>
                  <a:gd name="T5" fmla="*/ 4 h 4"/>
                </a:gdLst>
                <a:ahLst/>
                <a:cxnLst>
                  <a:cxn ang="0">
                    <a:pos x="T0" y="T1"/>
                  </a:cxn>
                  <a:cxn ang="0">
                    <a:pos x="T2" y="T3"/>
                  </a:cxn>
                  <a:cxn ang="0">
                    <a:pos x="T4" y="T5"/>
                  </a:cxn>
                </a:cxnLst>
                <a:rect l="0" t="0" r="r" b="b"/>
                <a:pathLst>
                  <a:path w="3" h="4">
                    <a:moveTo>
                      <a:pt x="0" y="4"/>
                    </a:moveTo>
                    <a:cubicBezTo>
                      <a:pt x="0" y="4"/>
                      <a:pt x="2" y="3"/>
                      <a:pt x="3" y="2"/>
                    </a:cubicBezTo>
                    <a:cubicBezTo>
                      <a:pt x="3" y="0"/>
                      <a:pt x="0" y="4"/>
                      <a:pt x="0"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39" name="Freeform 1151">
                <a:extLst>
                  <a:ext uri="{FF2B5EF4-FFF2-40B4-BE49-F238E27FC236}">
                    <a16:creationId xmlns:a16="http://schemas.microsoft.com/office/drawing/2014/main" id="{778B2A26-9948-46DA-91F4-36AE4C76B05A}"/>
                  </a:ext>
                </a:extLst>
              </p:cNvPr>
              <p:cNvSpPr>
                <a:spLocks/>
              </p:cNvSpPr>
              <p:nvPr/>
            </p:nvSpPr>
            <p:spPr bwMode="auto">
              <a:xfrm>
                <a:off x="3369" y="1404"/>
                <a:ext cx="11" cy="13"/>
              </a:xfrm>
              <a:custGeom>
                <a:avLst/>
                <a:gdLst>
                  <a:gd name="T0" fmla="*/ 6 w 8"/>
                  <a:gd name="T1" fmla="*/ 6 h 9"/>
                  <a:gd name="T2" fmla="*/ 7 w 8"/>
                  <a:gd name="T3" fmla="*/ 4 h 9"/>
                  <a:gd name="T4" fmla="*/ 6 w 8"/>
                  <a:gd name="T5" fmla="*/ 1 h 9"/>
                  <a:gd name="T6" fmla="*/ 4 w 8"/>
                  <a:gd name="T7" fmla="*/ 1 h 9"/>
                  <a:gd name="T8" fmla="*/ 3 w 8"/>
                  <a:gd name="T9" fmla="*/ 2 h 9"/>
                  <a:gd name="T10" fmla="*/ 1 w 8"/>
                  <a:gd name="T11" fmla="*/ 2 h 9"/>
                  <a:gd name="T12" fmla="*/ 3 w 8"/>
                  <a:gd name="T13" fmla="*/ 3 h 9"/>
                  <a:gd name="T14" fmla="*/ 3 w 8"/>
                  <a:gd name="T15" fmla="*/ 7 h 9"/>
                  <a:gd name="T16" fmla="*/ 6 w 8"/>
                  <a:gd name="T17" fmla="*/ 6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9">
                    <a:moveTo>
                      <a:pt x="6" y="6"/>
                    </a:moveTo>
                    <a:cubicBezTo>
                      <a:pt x="8" y="6"/>
                      <a:pt x="8" y="5"/>
                      <a:pt x="7" y="4"/>
                    </a:cubicBezTo>
                    <a:cubicBezTo>
                      <a:pt x="7" y="3"/>
                      <a:pt x="6" y="1"/>
                      <a:pt x="6" y="1"/>
                    </a:cubicBezTo>
                    <a:cubicBezTo>
                      <a:pt x="5" y="0"/>
                      <a:pt x="4" y="1"/>
                      <a:pt x="4" y="1"/>
                    </a:cubicBezTo>
                    <a:cubicBezTo>
                      <a:pt x="3" y="2"/>
                      <a:pt x="3" y="2"/>
                      <a:pt x="3" y="2"/>
                    </a:cubicBezTo>
                    <a:cubicBezTo>
                      <a:pt x="2" y="1"/>
                      <a:pt x="2" y="1"/>
                      <a:pt x="1" y="2"/>
                    </a:cubicBezTo>
                    <a:cubicBezTo>
                      <a:pt x="0" y="4"/>
                      <a:pt x="1" y="3"/>
                      <a:pt x="3" y="3"/>
                    </a:cubicBezTo>
                    <a:cubicBezTo>
                      <a:pt x="4" y="3"/>
                      <a:pt x="4" y="5"/>
                      <a:pt x="3" y="7"/>
                    </a:cubicBezTo>
                    <a:cubicBezTo>
                      <a:pt x="3" y="9"/>
                      <a:pt x="5" y="7"/>
                      <a:pt x="6"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40" name="Freeform 1152">
                <a:extLst>
                  <a:ext uri="{FF2B5EF4-FFF2-40B4-BE49-F238E27FC236}">
                    <a16:creationId xmlns:a16="http://schemas.microsoft.com/office/drawing/2014/main" id="{1FCC713A-CF16-417D-8A82-BE4C63CDE93B}"/>
                  </a:ext>
                </a:extLst>
              </p:cNvPr>
              <p:cNvSpPr>
                <a:spLocks/>
              </p:cNvSpPr>
              <p:nvPr/>
            </p:nvSpPr>
            <p:spPr bwMode="auto">
              <a:xfrm>
                <a:off x="3377" y="1398"/>
                <a:ext cx="10" cy="12"/>
              </a:xfrm>
              <a:custGeom>
                <a:avLst/>
                <a:gdLst>
                  <a:gd name="T0" fmla="*/ 3 w 7"/>
                  <a:gd name="T1" fmla="*/ 7 h 9"/>
                  <a:gd name="T2" fmla="*/ 5 w 7"/>
                  <a:gd name="T3" fmla="*/ 3 h 9"/>
                  <a:gd name="T4" fmla="*/ 6 w 7"/>
                  <a:gd name="T5" fmla="*/ 1 h 9"/>
                  <a:gd name="T6" fmla="*/ 1 w 7"/>
                  <a:gd name="T7" fmla="*/ 7 h 9"/>
                  <a:gd name="T8" fmla="*/ 3 w 7"/>
                  <a:gd name="T9" fmla="*/ 7 h 9"/>
                </a:gdLst>
                <a:ahLst/>
                <a:cxnLst>
                  <a:cxn ang="0">
                    <a:pos x="T0" y="T1"/>
                  </a:cxn>
                  <a:cxn ang="0">
                    <a:pos x="T2" y="T3"/>
                  </a:cxn>
                  <a:cxn ang="0">
                    <a:pos x="T4" y="T5"/>
                  </a:cxn>
                  <a:cxn ang="0">
                    <a:pos x="T6" y="T7"/>
                  </a:cxn>
                  <a:cxn ang="0">
                    <a:pos x="T8" y="T9"/>
                  </a:cxn>
                </a:cxnLst>
                <a:rect l="0" t="0" r="r" b="b"/>
                <a:pathLst>
                  <a:path w="7" h="9">
                    <a:moveTo>
                      <a:pt x="3" y="7"/>
                    </a:moveTo>
                    <a:cubicBezTo>
                      <a:pt x="4" y="5"/>
                      <a:pt x="4" y="4"/>
                      <a:pt x="5" y="3"/>
                    </a:cubicBezTo>
                    <a:cubicBezTo>
                      <a:pt x="6" y="2"/>
                      <a:pt x="7" y="0"/>
                      <a:pt x="6" y="1"/>
                    </a:cubicBezTo>
                    <a:cubicBezTo>
                      <a:pt x="4" y="3"/>
                      <a:pt x="0" y="4"/>
                      <a:pt x="1" y="7"/>
                    </a:cubicBezTo>
                    <a:cubicBezTo>
                      <a:pt x="1" y="7"/>
                      <a:pt x="2" y="9"/>
                      <a:pt x="3"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41" name="Freeform 1153">
                <a:extLst>
                  <a:ext uri="{FF2B5EF4-FFF2-40B4-BE49-F238E27FC236}">
                    <a16:creationId xmlns:a16="http://schemas.microsoft.com/office/drawing/2014/main" id="{0A64F64D-66A9-4BF6-B136-CED2D6645321}"/>
                  </a:ext>
                </a:extLst>
              </p:cNvPr>
              <p:cNvSpPr>
                <a:spLocks/>
              </p:cNvSpPr>
              <p:nvPr/>
            </p:nvSpPr>
            <p:spPr bwMode="auto">
              <a:xfrm>
                <a:off x="3392" y="1410"/>
                <a:ext cx="7" cy="9"/>
              </a:xfrm>
              <a:custGeom>
                <a:avLst/>
                <a:gdLst>
                  <a:gd name="T0" fmla="*/ 4 w 5"/>
                  <a:gd name="T1" fmla="*/ 6 h 7"/>
                  <a:gd name="T2" fmla="*/ 4 w 5"/>
                  <a:gd name="T3" fmla="*/ 3 h 7"/>
                  <a:gd name="T4" fmla="*/ 1 w 5"/>
                  <a:gd name="T5" fmla="*/ 1 h 7"/>
                  <a:gd name="T6" fmla="*/ 1 w 5"/>
                  <a:gd name="T7" fmla="*/ 3 h 7"/>
                  <a:gd name="T8" fmla="*/ 4 w 5"/>
                  <a:gd name="T9" fmla="*/ 6 h 7"/>
                </a:gdLst>
                <a:ahLst/>
                <a:cxnLst>
                  <a:cxn ang="0">
                    <a:pos x="T0" y="T1"/>
                  </a:cxn>
                  <a:cxn ang="0">
                    <a:pos x="T2" y="T3"/>
                  </a:cxn>
                  <a:cxn ang="0">
                    <a:pos x="T4" y="T5"/>
                  </a:cxn>
                  <a:cxn ang="0">
                    <a:pos x="T6" y="T7"/>
                  </a:cxn>
                  <a:cxn ang="0">
                    <a:pos x="T8" y="T9"/>
                  </a:cxn>
                </a:cxnLst>
                <a:rect l="0" t="0" r="r" b="b"/>
                <a:pathLst>
                  <a:path w="5" h="7">
                    <a:moveTo>
                      <a:pt x="4" y="6"/>
                    </a:moveTo>
                    <a:cubicBezTo>
                      <a:pt x="5" y="6"/>
                      <a:pt x="5" y="4"/>
                      <a:pt x="4" y="3"/>
                    </a:cubicBezTo>
                    <a:cubicBezTo>
                      <a:pt x="3" y="2"/>
                      <a:pt x="3" y="0"/>
                      <a:pt x="1" y="1"/>
                    </a:cubicBezTo>
                    <a:cubicBezTo>
                      <a:pt x="0" y="1"/>
                      <a:pt x="1" y="3"/>
                      <a:pt x="1" y="3"/>
                    </a:cubicBezTo>
                    <a:cubicBezTo>
                      <a:pt x="1" y="4"/>
                      <a:pt x="2" y="7"/>
                      <a:pt x="4"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42" name="Freeform 1154">
                <a:extLst>
                  <a:ext uri="{FF2B5EF4-FFF2-40B4-BE49-F238E27FC236}">
                    <a16:creationId xmlns:a16="http://schemas.microsoft.com/office/drawing/2014/main" id="{A07860A8-93D9-4865-9071-E994C68E2580}"/>
                  </a:ext>
                </a:extLst>
              </p:cNvPr>
              <p:cNvSpPr>
                <a:spLocks/>
              </p:cNvSpPr>
              <p:nvPr/>
            </p:nvSpPr>
            <p:spPr bwMode="auto">
              <a:xfrm>
                <a:off x="3404" y="1447"/>
                <a:ext cx="11" cy="12"/>
              </a:xfrm>
              <a:custGeom>
                <a:avLst/>
                <a:gdLst>
                  <a:gd name="T0" fmla="*/ 2 w 8"/>
                  <a:gd name="T1" fmla="*/ 8 h 9"/>
                  <a:gd name="T2" fmla="*/ 6 w 8"/>
                  <a:gd name="T3" fmla="*/ 5 h 9"/>
                  <a:gd name="T4" fmla="*/ 7 w 8"/>
                  <a:gd name="T5" fmla="*/ 3 h 9"/>
                  <a:gd name="T6" fmla="*/ 6 w 8"/>
                  <a:gd name="T7" fmla="*/ 2 h 9"/>
                  <a:gd name="T8" fmla="*/ 1 w 8"/>
                  <a:gd name="T9" fmla="*/ 6 h 9"/>
                  <a:gd name="T10" fmla="*/ 2 w 8"/>
                  <a:gd name="T11" fmla="*/ 8 h 9"/>
                </a:gdLst>
                <a:ahLst/>
                <a:cxnLst>
                  <a:cxn ang="0">
                    <a:pos x="T0" y="T1"/>
                  </a:cxn>
                  <a:cxn ang="0">
                    <a:pos x="T2" y="T3"/>
                  </a:cxn>
                  <a:cxn ang="0">
                    <a:pos x="T4" y="T5"/>
                  </a:cxn>
                  <a:cxn ang="0">
                    <a:pos x="T6" y="T7"/>
                  </a:cxn>
                  <a:cxn ang="0">
                    <a:pos x="T8" y="T9"/>
                  </a:cxn>
                  <a:cxn ang="0">
                    <a:pos x="T10" y="T11"/>
                  </a:cxn>
                </a:cxnLst>
                <a:rect l="0" t="0" r="r" b="b"/>
                <a:pathLst>
                  <a:path w="8" h="9">
                    <a:moveTo>
                      <a:pt x="2" y="8"/>
                    </a:moveTo>
                    <a:cubicBezTo>
                      <a:pt x="4" y="8"/>
                      <a:pt x="5" y="7"/>
                      <a:pt x="6" y="5"/>
                    </a:cubicBezTo>
                    <a:cubicBezTo>
                      <a:pt x="7" y="4"/>
                      <a:pt x="8" y="5"/>
                      <a:pt x="7" y="3"/>
                    </a:cubicBezTo>
                    <a:cubicBezTo>
                      <a:pt x="7" y="1"/>
                      <a:pt x="7" y="0"/>
                      <a:pt x="6" y="2"/>
                    </a:cubicBezTo>
                    <a:cubicBezTo>
                      <a:pt x="4" y="3"/>
                      <a:pt x="2" y="5"/>
                      <a:pt x="1" y="6"/>
                    </a:cubicBezTo>
                    <a:cubicBezTo>
                      <a:pt x="1" y="6"/>
                      <a:pt x="0" y="9"/>
                      <a:pt x="2"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43" name="Freeform 1155">
                <a:extLst>
                  <a:ext uri="{FF2B5EF4-FFF2-40B4-BE49-F238E27FC236}">
                    <a16:creationId xmlns:a16="http://schemas.microsoft.com/office/drawing/2014/main" id="{7FD69218-668F-455B-8D6C-C6EB71723719}"/>
                  </a:ext>
                </a:extLst>
              </p:cNvPr>
              <p:cNvSpPr>
                <a:spLocks/>
              </p:cNvSpPr>
              <p:nvPr/>
            </p:nvSpPr>
            <p:spPr bwMode="auto">
              <a:xfrm>
                <a:off x="3334" y="1425"/>
                <a:ext cx="58" cy="34"/>
              </a:xfrm>
              <a:custGeom>
                <a:avLst/>
                <a:gdLst>
                  <a:gd name="T0" fmla="*/ 40 w 42"/>
                  <a:gd name="T1" fmla="*/ 13 h 25"/>
                  <a:gd name="T2" fmla="*/ 35 w 42"/>
                  <a:gd name="T3" fmla="*/ 12 h 25"/>
                  <a:gd name="T4" fmla="*/ 36 w 42"/>
                  <a:gd name="T5" fmla="*/ 10 h 25"/>
                  <a:gd name="T6" fmla="*/ 36 w 42"/>
                  <a:gd name="T7" fmla="*/ 7 h 25"/>
                  <a:gd name="T8" fmla="*/ 32 w 42"/>
                  <a:gd name="T9" fmla="*/ 2 h 25"/>
                  <a:gd name="T10" fmla="*/ 26 w 42"/>
                  <a:gd name="T11" fmla="*/ 0 h 25"/>
                  <a:gd name="T12" fmla="*/ 19 w 42"/>
                  <a:gd name="T13" fmla="*/ 2 h 25"/>
                  <a:gd name="T14" fmla="*/ 15 w 42"/>
                  <a:gd name="T15" fmla="*/ 3 h 25"/>
                  <a:gd name="T16" fmla="*/ 15 w 42"/>
                  <a:gd name="T17" fmla="*/ 3 h 25"/>
                  <a:gd name="T18" fmla="*/ 12 w 42"/>
                  <a:gd name="T19" fmla="*/ 5 h 25"/>
                  <a:gd name="T20" fmla="*/ 11 w 42"/>
                  <a:gd name="T21" fmla="*/ 8 h 25"/>
                  <a:gd name="T22" fmla="*/ 8 w 42"/>
                  <a:gd name="T23" fmla="*/ 10 h 25"/>
                  <a:gd name="T24" fmla="*/ 5 w 42"/>
                  <a:gd name="T25" fmla="*/ 12 h 25"/>
                  <a:gd name="T26" fmla="*/ 7 w 42"/>
                  <a:gd name="T27" fmla="*/ 13 h 25"/>
                  <a:gd name="T28" fmla="*/ 1 w 42"/>
                  <a:gd name="T29" fmla="*/ 15 h 25"/>
                  <a:gd name="T30" fmla="*/ 1 w 42"/>
                  <a:gd name="T31" fmla="*/ 16 h 25"/>
                  <a:gd name="T32" fmla="*/ 5 w 42"/>
                  <a:gd name="T33" fmla="*/ 20 h 25"/>
                  <a:gd name="T34" fmla="*/ 12 w 42"/>
                  <a:gd name="T35" fmla="*/ 23 h 25"/>
                  <a:gd name="T36" fmla="*/ 13 w 42"/>
                  <a:gd name="T37" fmla="*/ 22 h 25"/>
                  <a:gd name="T38" fmla="*/ 14 w 42"/>
                  <a:gd name="T39" fmla="*/ 19 h 25"/>
                  <a:gd name="T40" fmla="*/ 16 w 42"/>
                  <a:gd name="T41" fmla="*/ 18 h 25"/>
                  <a:gd name="T42" fmla="*/ 19 w 42"/>
                  <a:gd name="T43" fmla="*/ 18 h 25"/>
                  <a:gd name="T44" fmla="*/ 20 w 42"/>
                  <a:gd name="T45" fmla="*/ 19 h 25"/>
                  <a:gd name="T46" fmla="*/ 22 w 42"/>
                  <a:gd name="T47" fmla="*/ 21 h 25"/>
                  <a:gd name="T48" fmla="*/ 23 w 42"/>
                  <a:gd name="T49" fmla="*/ 22 h 25"/>
                  <a:gd name="T50" fmla="*/ 23 w 42"/>
                  <a:gd name="T51" fmla="*/ 24 h 25"/>
                  <a:gd name="T52" fmla="*/ 24 w 42"/>
                  <a:gd name="T53" fmla="*/ 24 h 25"/>
                  <a:gd name="T54" fmla="*/ 30 w 42"/>
                  <a:gd name="T55" fmla="*/ 24 h 25"/>
                  <a:gd name="T56" fmla="*/ 32 w 42"/>
                  <a:gd name="T57" fmla="*/ 24 h 25"/>
                  <a:gd name="T58" fmla="*/ 34 w 42"/>
                  <a:gd name="T59" fmla="*/ 23 h 25"/>
                  <a:gd name="T60" fmla="*/ 38 w 42"/>
                  <a:gd name="T61" fmla="*/ 20 h 25"/>
                  <a:gd name="T62" fmla="*/ 38 w 42"/>
                  <a:gd name="T63" fmla="*/ 18 h 25"/>
                  <a:gd name="T64" fmla="*/ 37 w 42"/>
                  <a:gd name="T65" fmla="*/ 17 h 25"/>
                  <a:gd name="T66" fmla="*/ 39 w 42"/>
                  <a:gd name="T67" fmla="*/ 17 h 25"/>
                  <a:gd name="T68" fmla="*/ 41 w 42"/>
                  <a:gd name="T69" fmla="*/ 18 h 25"/>
                  <a:gd name="T70" fmla="*/ 40 w 42"/>
                  <a:gd name="T71" fmla="*/ 1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 h="25">
                    <a:moveTo>
                      <a:pt x="40" y="13"/>
                    </a:moveTo>
                    <a:cubicBezTo>
                      <a:pt x="39" y="11"/>
                      <a:pt x="38" y="12"/>
                      <a:pt x="35" y="12"/>
                    </a:cubicBezTo>
                    <a:cubicBezTo>
                      <a:pt x="33" y="13"/>
                      <a:pt x="34" y="11"/>
                      <a:pt x="36" y="10"/>
                    </a:cubicBezTo>
                    <a:cubicBezTo>
                      <a:pt x="38" y="9"/>
                      <a:pt x="38" y="9"/>
                      <a:pt x="36" y="7"/>
                    </a:cubicBezTo>
                    <a:cubicBezTo>
                      <a:pt x="34" y="6"/>
                      <a:pt x="34" y="4"/>
                      <a:pt x="32" y="2"/>
                    </a:cubicBezTo>
                    <a:cubicBezTo>
                      <a:pt x="31" y="0"/>
                      <a:pt x="29" y="0"/>
                      <a:pt x="26" y="0"/>
                    </a:cubicBezTo>
                    <a:cubicBezTo>
                      <a:pt x="24" y="0"/>
                      <a:pt x="20" y="2"/>
                      <a:pt x="19" y="2"/>
                    </a:cubicBezTo>
                    <a:cubicBezTo>
                      <a:pt x="17" y="3"/>
                      <a:pt x="17" y="3"/>
                      <a:pt x="15" y="3"/>
                    </a:cubicBezTo>
                    <a:cubicBezTo>
                      <a:pt x="15" y="3"/>
                      <a:pt x="15" y="3"/>
                      <a:pt x="15" y="3"/>
                    </a:cubicBezTo>
                    <a:cubicBezTo>
                      <a:pt x="14" y="4"/>
                      <a:pt x="13" y="5"/>
                      <a:pt x="12" y="5"/>
                    </a:cubicBezTo>
                    <a:cubicBezTo>
                      <a:pt x="11" y="6"/>
                      <a:pt x="11" y="7"/>
                      <a:pt x="11" y="8"/>
                    </a:cubicBezTo>
                    <a:cubicBezTo>
                      <a:pt x="10" y="8"/>
                      <a:pt x="10" y="10"/>
                      <a:pt x="8" y="10"/>
                    </a:cubicBezTo>
                    <a:cubicBezTo>
                      <a:pt x="6" y="11"/>
                      <a:pt x="3" y="10"/>
                      <a:pt x="5" y="12"/>
                    </a:cubicBezTo>
                    <a:cubicBezTo>
                      <a:pt x="7" y="13"/>
                      <a:pt x="7" y="13"/>
                      <a:pt x="7" y="13"/>
                    </a:cubicBezTo>
                    <a:cubicBezTo>
                      <a:pt x="6" y="14"/>
                      <a:pt x="1" y="15"/>
                      <a:pt x="1" y="15"/>
                    </a:cubicBezTo>
                    <a:cubicBezTo>
                      <a:pt x="1" y="15"/>
                      <a:pt x="0" y="16"/>
                      <a:pt x="1" y="16"/>
                    </a:cubicBezTo>
                    <a:cubicBezTo>
                      <a:pt x="2" y="17"/>
                      <a:pt x="3" y="19"/>
                      <a:pt x="5" y="20"/>
                    </a:cubicBezTo>
                    <a:cubicBezTo>
                      <a:pt x="6" y="20"/>
                      <a:pt x="12" y="23"/>
                      <a:pt x="12" y="23"/>
                    </a:cubicBezTo>
                    <a:cubicBezTo>
                      <a:pt x="12" y="23"/>
                      <a:pt x="13" y="23"/>
                      <a:pt x="13" y="22"/>
                    </a:cubicBezTo>
                    <a:cubicBezTo>
                      <a:pt x="14" y="21"/>
                      <a:pt x="14" y="19"/>
                      <a:pt x="14" y="19"/>
                    </a:cubicBezTo>
                    <a:cubicBezTo>
                      <a:pt x="14" y="19"/>
                      <a:pt x="15" y="18"/>
                      <a:pt x="16" y="18"/>
                    </a:cubicBezTo>
                    <a:cubicBezTo>
                      <a:pt x="16" y="18"/>
                      <a:pt x="19" y="18"/>
                      <a:pt x="19" y="18"/>
                    </a:cubicBezTo>
                    <a:cubicBezTo>
                      <a:pt x="19" y="18"/>
                      <a:pt x="20" y="18"/>
                      <a:pt x="20" y="19"/>
                    </a:cubicBezTo>
                    <a:cubicBezTo>
                      <a:pt x="21" y="19"/>
                      <a:pt x="22" y="21"/>
                      <a:pt x="22" y="21"/>
                    </a:cubicBezTo>
                    <a:cubicBezTo>
                      <a:pt x="22" y="21"/>
                      <a:pt x="23" y="22"/>
                      <a:pt x="23" y="22"/>
                    </a:cubicBezTo>
                    <a:cubicBezTo>
                      <a:pt x="23" y="23"/>
                      <a:pt x="23" y="24"/>
                      <a:pt x="23" y="24"/>
                    </a:cubicBezTo>
                    <a:cubicBezTo>
                      <a:pt x="23" y="24"/>
                      <a:pt x="24" y="24"/>
                      <a:pt x="24" y="24"/>
                    </a:cubicBezTo>
                    <a:cubicBezTo>
                      <a:pt x="25" y="24"/>
                      <a:pt x="28" y="23"/>
                      <a:pt x="30" y="24"/>
                    </a:cubicBezTo>
                    <a:cubicBezTo>
                      <a:pt x="30" y="24"/>
                      <a:pt x="31" y="24"/>
                      <a:pt x="32" y="24"/>
                    </a:cubicBezTo>
                    <a:cubicBezTo>
                      <a:pt x="32" y="25"/>
                      <a:pt x="33" y="24"/>
                      <a:pt x="34" y="23"/>
                    </a:cubicBezTo>
                    <a:cubicBezTo>
                      <a:pt x="35" y="21"/>
                      <a:pt x="36" y="21"/>
                      <a:pt x="38" y="20"/>
                    </a:cubicBezTo>
                    <a:cubicBezTo>
                      <a:pt x="39" y="20"/>
                      <a:pt x="39" y="18"/>
                      <a:pt x="38" y="18"/>
                    </a:cubicBezTo>
                    <a:cubicBezTo>
                      <a:pt x="37" y="18"/>
                      <a:pt x="37" y="18"/>
                      <a:pt x="37" y="17"/>
                    </a:cubicBezTo>
                    <a:cubicBezTo>
                      <a:pt x="38" y="16"/>
                      <a:pt x="38" y="16"/>
                      <a:pt x="39" y="17"/>
                    </a:cubicBezTo>
                    <a:cubicBezTo>
                      <a:pt x="39" y="17"/>
                      <a:pt x="40" y="18"/>
                      <a:pt x="41" y="18"/>
                    </a:cubicBezTo>
                    <a:cubicBezTo>
                      <a:pt x="42" y="18"/>
                      <a:pt x="40" y="14"/>
                      <a:pt x="40" y="1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44" name="Freeform 1156">
                <a:extLst>
                  <a:ext uri="{FF2B5EF4-FFF2-40B4-BE49-F238E27FC236}">
                    <a16:creationId xmlns:a16="http://schemas.microsoft.com/office/drawing/2014/main" id="{B7B65364-7727-49D4-95AB-AD5EF16444C9}"/>
                  </a:ext>
                </a:extLst>
              </p:cNvPr>
              <p:cNvSpPr>
                <a:spLocks/>
              </p:cNvSpPr>
              <p:nvPr/>
            </p:nvSpPr>
            <p:spPr bwMode="auto">
              <a:xfrm>
                <a:off x="3455" y="1588"/>
                <a:ext cx="5" cy="3"/>
              </a:xfrm>
              <a:custGeom>
                <a:avLst/>
                <a:gdLst>
                  <a:gd name="T0" fmla="*/ 3 w 4"/>
                  <a:gd name="T1" fmla="*/ 0 h 2"/>
                  <a:gd name="T2" fmla="*/ 3 w 4"/>
                  <a:gd name="T3" fmla="*/ 1 h 2"/>
                  <a:gd name="T4" fmla="*/ 4 w 4"/>
                  <a:gd name="T5" fmla="*/ 1 h 2"/>
                  <a:gd name="T6" fmla="*/ 3 w 4"/>
                  <a:gd name="T7" fmla="*/ 0 h 2"/>
                </a:gdLst>
                <a:ahLst/>
                <a:cxnLst>
                  <a:cxn ang="0">
                    <a:pos x="T0" y="T1"/>
                  </a:cxn>
                  <a:cxn ang="0">
                    <a:pos x="T2" y="T3"/>
                  </a:cxn>
                  <a:cxn ang="0">
                    <a:pos x="T4" y="T5"/>
                  </a:cxn>
                  <a:cxn ang="0">
                    <a:pos x="T6" y="T7"/>
                  </a:cxn>
                </a:cxnLst>
                <a:rect l="0" t="0" r="r" b="b"/>
                <a:pathLst>
                  <a:path w="4" h="2">
                    <a:moveTo>
                      <a:pt x="3" y="0"/>
                    </a:moveTo>
                    <a:cubicBezTo>
                      <a:pt x="2" y="0"/>
                      <a:pt x="0" y="1"/>
                      <a:pt x="3" y="1"/>
                    </a:cubicBezTo>
                    <a:cubicBezTo>
                      <a:pt x="3" y="1"/>
                      <a:pt x="4" y="2"/>
                      <a:pt x="4" y="1"/>
                    </a:cubicBezTo>
                    <a:cubicBezTo>
                      <a:pt x="4" y="0"/>
                      <a:pt x="3" y="0"/>
                      <a:pt x="3"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45" name="Freeform 1157">
                <a:extLst>
                  <a:ext uri="{FF2B5EF4-FFF2-40B4-BE49-F238E27FC236}">
                    <a16:creationId xmlns:a16="http://schemas.microsoft.com/office/drawing/2014/main" id="{FD8585E5-4878-4A5B-A441-E4C31659A31E}"/>
                  </a:ext>
                </a:extLst>
              </p:cNvPr>
              <p:cNvSpPr>
                <a:spLocks/>
              </p:cNvSpPr>
              <p:nvPr/>
            </p:nvSpPr>
            <p:spPr bwMode="auto">
              <a:xfrm>
                <a:off x="3289" y="1419"/>
                <a:ext cx="91" cy="110"/>
              </a:xfrm>
              <a:custGeom>
                <a:avLst/>
                <a:gdLst>
                  <a:gd name="T0" fmla="*/ 56 w 66"/>
                  <a:gd name="T1" fmla="*/ 28 h 80"/>
                  <a:gd name="T2" fmla="*/ 55 w 66"/>
                  <a:gd name="T3" fmla="*/ 25 h 80"/>
                  <a:gd name="T4" fmla="*/ 52 w 66"/>
                  <a:gd name="T5" fmla="*/ 22 h 80"/>
                  <a:gd name="T6" fmla="*/ 47 w 66"/>
                  <a:gd name="T7" fmla="*/ 23 h 80"/>
                  <a:gd name="T8" fmla="*/ 45 w 66"/>
                  <a:gd name="T9" fmla="*/ 27 h 80"/>
                  <a:gd name="T10" fmla="*/ 34 w 66"/>
                  <a:gd name="T11" fmla="*/ 20 h 80"/>
                  <a:gd name="T12" fmla="*/ 40 w 66"/>
                  <a:gd name="T13" fmla="*/ 17 h 80"/>
                  <a:gd name="T14" fmla="*/ 41 w 66"/>
                  <a:gd name="T15" fmla="*/ 14 h 80"/>
                  <a:gd name="T16" fmla="*/ 45 w 66"/>
                  <a:gd name="T17" fmla="*/ 9 h 80"/>
                  <a:gd name="T18" fmla="*/ 48 w 66"/>
                  <a:gd name="T19" fmla="*/ 6 h 80"/>
                  <a:gd name="T20" fmla="*/ 47 w 66"/>
                  <a:gd name="T21" fmla="*/ 1 h 80"/>
                  <a:gd name="T22" fmla="*/ 45 w 66"/>
                  <a:gd name="T23" fmla="*/ 3 h 80"/>
                  <a:gd name="T24" fmla="*/ 42 w 66"/>
                  <a:gd name="T25" fmla="*/ 8 h 80"/>
                  <a:gd name="T26" fmla="*/ 40 w 66"/>
                  <a:gd name="T27" fmla="*/ 3 h 80"/>
                  <a:gd name="T28" fmla="*/ 39 w 66"/>
                  <a:gd name="T29" fmla="*/ 4 h 80"/>
                  <a:gd name="T30" fmla="*/ 36 w 66"/>
                  <a:gd name="T31" fmla="*/ 4 h 80"/>
                  <a:gd name="T32" fmla="*/ 32 w 66"/>
                  <a:gd name="T33" fmla="*/ 6 h 80"/>
                  <a:gd name="T34" fmla="*/ 26 w 66"/>
                  <a:gd name="T35" fmla="*/ 14 h 80"/>
                  <a:gd name="T36" fmla="*/ 33 w 66"/>
                  <a:gd name="T37" fmla="*/ 17 h 80"/>
                  <a:gd name="T38" fmla="*/ 29 w 66"/>
                  <a:gd name="T39" fmla="*/ 22 h 80"/>
                  <a:gd name="T40" fmla="*/ 24 w 66"/>
                  <a:gd name="T41" fmla="*/ 23 h 80"/>
                  <a:gd name="T42" fmla="*/ 18 w 66"/>
                  <a:gd name="T43" fmla="*/ 24 h 80"/>
                  <a:gd name="T44" fmla="*/ 10 w 66"/>
                  <a:gd name="T45" fmla="*/ 22 h 80"/>
                  <a:gd name="T46" fmla="*/ 7 w 66"/>
                  <a:gd name="T47" fmla="*/ 24 h 80"/>
                  <a:gd name="T48" fmla="*/ 8 w 66"/>
                  <a:gd name="T49" fmla="*/ 26 h 80"/>
                  <a:gd name="T50" fmla="*/ 12 w 66"/>
                  <a:gd name="T51" fmla="*/ 31 h 80"/>
                  <a:gd name="T52" fmla="*/ 10 w 66"/>
                  <a:gd name="T53" fmla="*/ 36 h 80"/>
                  <a:gd name="T54" fmla="*/ 5 w 66"/>
                  <a:gd name="T55" fmla="*/ 38 h 80"/>
                  <a:gd name="T56" fmla="*/ 4 w 66"/>
                  <a:gd name="T57" fmla="*/ 41 h 80"/>
                  <a:gd name="T58" fmla="*/ 12 w 66"/>
                  <a:gd name="T59" fmla="*/ 43 h 80"/>
                  <a:gd name="T60" fmla="*/ 21 w 66"/>
                  <a:gd name="T61" fmla="*/ 46 h 80"/>
                  <a:gd name="T62" fmla="*/ 17 w 66"/>
                  <a:gd name="T63" fmla="*/ 47 h 80"/>
                  <a:gd name="T64" fmla="*/ 11 w 66"/>
                  <a:gd name="T65" fmla="*/ 56 h 80"/>
                  <a:gd name="T66" fmla="*/ 19 w 66"/>
                  <a:gd name="T67" fmla="*/ 55 h 80"/>
                  <a:gd name="T68" fmla="*/ 24 w 66"/>
                  <a:gd name="T69" fmla="*/ 56 h 80"/>
                  <a:gd name="T70" fmla="*/ 10 w 66"/>
                  <a:gd name="T71" fmla="*/ 60 h 80"/>
                  <a:gd name="T72" fmla="*/ 9 w 66"/>
                  <a:gd name="T73" fmla="*/ 63 h 80"/>
                  <a:gd name="T74" fmla="*/ 6 w 66"/>
                  <a:gd name="T75" fmla="*/ 64 h 80"/>
                  <a:gd name="T76" fmla="*/ 4 w 66"/>
                  <a:gd name="T77" fmla="*/ 64 h 80"/>
                  <a:gd name="T78" fmla="*/ 2 w 66"/>
                  <a:gd name="T79" fmla="*/ 66 h 80"/>
                  <a:gd name="T80" fmla="*/ 9 w 66"/>
                  <a:gd name="T81" fmla="*/ 67 h 80"/>
                  <a:gd name="T82" fmla="*/ 4 w 66"/>
                  <a:gd name="T83" fmla="*/ 69 h 80"/>
                  <a:gd name="T84" fmla="*/ 10 w 66"/>
                  <a:gd name="T85" fmla="*/ 72 h 80"/>
                  <a:gd name="T86" fmla="*/ 5 w 66"/>
                  <a:gd name="T87" fmla="*/ 77 h 80"/>
                  <a:gd name="T88" fmla="*/ 10 w 66"/>
                  <a:gd name="T89" fmla="*/ 78 h 80"/>
                  <a:gd name="T90" fmla="*/ 9 w 66"/>
                  <a:gd name="T91" fmla="*/ 79 h 80"/>
                  <a:gd name="T92" fmla="*/ 26 w 66"/>
                  <a:gd name="T93" fmla="*/ 78 h 80"/>
                  <a:gd name="T94" fmla="*/ 32 w 66"/>
                  <a:gd name="T95" fmla="*/ 73 h 80"/>
                  <a:gd name="T96" fmla="*/ 42 w 66"/>
                  <a:gd name="T97" fmla="*/ 68 h 80"/>
                  <a:gd name="T98" fmla="*/ 51 w 66"/>
                  <a:gd name="T99" fmla="*/ 65 h 80"/>
                  <a:gd name="T100" fmla="*/ 54 w 66"/>
                  <a:gd name="T101" fmla="*/ 65 h 80"/>
                  <a:gd name="T102" fmla="*/ 59 w 66"/>
                  <a:gd name="T103" fmla="*/ 64 h 80"/>
                  <a:gd name="T104" fmla="*/ 61 w 66"/>
                  <a:gd name="T105" fmla="*/ 60 h 80"/>
                  <a:gd name="T106" fmla="*/ 65 w 66"/>
                  <a:gd name="T107" fmla="*/ 46 h 80"/>
                  <a:gd name="T108" fmla="*/ 63 w 66"/>
                  <a:gd name="T109" fmla="*/ 35 h 80"/>
                  <a:gd name="T110" fmla="*/ 63 w 66"/>
                  <a:gd name="T111" fmla="*/ 30 h 80"/>
                  <a:gd name="T112" fmla="*/ 63 w 66"/>
                  <a:gd name="T113" fmla="*/ 2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6" h="80">
                    <a:moveTo>
                      <a:pt x="57" y="28"/>
                    </a:moveTo>
                    <a:cubicBezTo>
                      <a:pt x="57" y="28"/>
                      <a:pt x="56" y="28"/>
                      <a:pt x="56" y="28"/>
                    </a:cubicBezTo>
                    <a:cubicBezTo>
                      <a:pt x="56" y="28"/>
                      <a:pt x="56" y="27"/>
                      <a:pt x="56" y="26"/>
                    </a:cubicBezTo>
                    <a:cubicBezTo>
                      <a:pt x="56" y="26"/>
                      <a:pt x="55" y="25"/>
                      <a:pt x="55" y="25"/>
                    </a:cubicBezTo>
                    <a:cubicBezTo>
                      <a:pt x="55" y="25"/>
                      <a:pt x="54" y="23"/>
                      <a:pt x="53" y="23"/>
                    </a:cubicBezTo>
                    <a:cubicBezTo>
                      <a:pt x="53" y="22"/>
                      <a:pt x="52" y="22"/>
                      <a:pt x="52" y="22"/>
                    </a:cubicBezTo>
                    <a:cubicBezTo>
                      <a:pt x="52" y="22"/>
                      <a:pt x="49" y="22"/>
                      <a:pt x="49" y="22"/>
                    </a:cubicBezTo>
                    <a:cubicBezTo>
                      <a:pt x="48" y="22"/>
                      <a:pt x="47" y="23"/>
                      <a:pt x="47" y="23"/>
                    </a:cubicBezTo>
                    <a:cubicBezTo>
                      <a:pt x="47" y="23"/>
                      <a:pt x="47" y="25"/>
                      <a:pt x="46" y="26"/>
                    </a:cubicBezTo>
                    <a:cubicBezTo>
                      <a:pt x="46" y="27"/>
                      <a:pt x="45" y="27"/>
                      <a:pt x="45" y="27"/>
                    </a:cubicBezTo>
                    <a:cubicBezTo>
                      <a:pt x="45" y="27"/>
                      <a:pt x="39" y="24"/>
                      <a:pt x="38" y="24"/>
                    </a:cubicBezTo>
                    <a:cubicBezTo>
                      <a:pt x="36" y="23"/>
                      <a:pt x="35" y="21"/>
                      <a:pt x="34" y="20"/>
                    </a:cubicBezTo>
                    <a:cubicBezTo>
                      <a:pt x="33" y="20"/>
                      <a:pt x="34" y="19"/>
                      <a:pt x="34" y="19"/>
                    </a:cubicBezTo>
                    <a:cubicBezTo>
                      <a:pt x="34" y="19"/>
                      <a:pt x="39" y="18"/>
                      <a:pt x="40" y="17"/>
                    </a:cubicBezTo>
                    <a:cubicBezTo>
                      <a:pt x="40" y="17"/>
                      <a:pt x="40" y="17"/>
                      <a:pt x="38" y="16"/>
                    </a:cubicBezTo>
                    <a:cubicBezTo>
                      <a:pt x="36" y="14"/>
                      <a:pt x="39" y="15"/>
                      <a:pt x="41" y="14"/>
                    </a:cubicBezTo>
                    <a:cubicBezTo>
                      <a:pt x="43" y="14"/>
                      <a:pt x="43" y="12"/>
                      <a:pt x="44" y="12"/>
                    </a:cubicBezTo>
                    <a:cubicBezTo>
                      <a:pt x="44" y="11"/>
                      <a:pt x="44" y="10"/>
                      <a:pt x="45" y="9"/>
                    </a:cubicBezTo>
                    <a:cubicBezTo>
                      <a:pt x="46" y="9"/>
                      <a:pt x="47" y="8"/>
                      <a:pt x="48" y="7"/>
                    </a:cubicBezTo>
                    <a:cubicBezTo>
                      <a:pt x="47" y="7"/>
                      <a:pt x="48" y="6"/>
                      <a:pt x="48" y="6"/>
                    </a:cubicBezTo>
                    <a:cubicBezTo>
                      <a:pt x="48" y="6"/>
                      <a:pt x="49" y="5"/>
                      <a:pt x="51" y="4"/>
                    </a:cubicBezTo>
                    <a:cubicBezTo>
                      <a:pt x="53" y="3"/>
                      <a:pt x="49" y="2"/>
                      <a:pt x="47" y="1"/>
                    </a:cubicBezTo>
                    <a:cubicBezTo>
                      <a:pt x="46" y="0"/>
                      <a:pt x="46" y="2"/>
                      <a:pt x="47" y="2"/>
                    </a:cubicBezTo>
                    <a:cubicBezTo>
                      <a:pt x="48" y="3"/>
                      <a:pt x="45" y="3"/>
                      <a:pt x="45" y="3"/>
                    </a:cubicBezTo>
                    <a:cubicBezTo>
                      <a:pt x="44" y="2"/>
                      <a:pt x="44" y="3"/>
                      <a:pt x="44" y="6"/>
                    </a:cubicBezTo>
                    <a:cubicBezTo>
                      <a:pt x="44" y="8"/>
                      <a:pt x="43" y="8"/>
                      <a:pt x="42" y="8"/>
                    </a:cubicBezTo>
                    <a:cubicBezTo>
                      <a:pt x="41" y="7"/>
                      <a:pt x="43" y="6"/>
                      <a:pt x="42" y="5"/>
                    </a:cubicBezTo>
                    <a:cubicBezTo>
                      <a:pt x="42" y="4"/>
                      <a:pt x="41" y="3"/>
                      <a:pt x="40" y="3"/>
                    </a:cubicBezTo>
                    <a:cubicBezTo>
                      <a:pt x="39" y="3"/>
                      <a:pt x="40" y="4"/>
                      <a:pt x="40" y="6"/>
                    </a:cubicBezTo>
                    <a:cubicBezTo>
                      <a:pt x="40" y="7"/>
                      <a:pt x="39" y="5"/>
                      <a:pt x="39" y="4"/>
                    </a:cubicBezTo>
                    <a:cubicBezTo>
                      <a:pt x="39" y="3"/>
                      <a:pt x="39" y="4"/>
                      <a:pt x="38" y="4"/>
                    </a:cubicBezTo>
                    <a:cubicBezTo>
                      <a:pt x="37" y="5"/>
                      <a:pt x="36" y="5"/>
                      <a:pt x="36" y="4"/>
                    </a:cubicBezTo>
                    <a:cubicBezTo>
                      <a:pt x="37" y="4"/>
                      <a:pt x="36" y="4"/>
                      <a:pt x="35" y="5"/>
                    </a:cubicBezTo>
                    <a:cubicBezTo>
                      <a:pt x="35" y="6"/>
                      <a:pt x="34" y="6"/>
                      <a:pt x="32" y="6"/>
                    </a:cubicBezTo>
                    <a:cubicBezTo>
                      <a:pt x="31" y="6"/>
                      <a:pt x="29" y="9"/>
                      <a:pt x="29" y="11"/>
                    </a:cubicBezTo>
                    <a:cubicBezTo>
                      <a:pt x="28" y="13"/>
                      <a:pt x="28" y="13"/>
                      <a:pt x="26" y="14"/>
                    </a:cubicBezTo>
                    <a:cubicBezTo>
                      <a:pt x="23" y="15"/>
                      <a:pt x="28" y="16"/>
                      <a:pt x="31" y="16"/>
                    </a:cubicBezTo>
                    <a:cubicBezTo>
                      <a:pt x="35" y="17"/>
                      <a:pt x="34" y="17"/>
                      <a:pt x="33" y="17"/>
                    </a:cubicBezTo>
                    <a:cubicBezTo>
                      <a:pt x="33" y="17"/>
                      <a:pt x="32" y="19"/>
                      <a:pt x="31" y="19"/>
                    </a:cubicBezTo>
                    <a:cubicBezTo>
                      <a:pt x="30" y="20"/>
                      <a:pt x="30" y="20"/>
                      <a:pt x="29" y="22"/>
                    </a:cubicBezTo>
                    <a:cubicBezTo>
                      <a:pt x="29" y="23"/>
                      <a:pt x="29" y="24"/>
                      <a:pt x="29" y="24"/>
                    </a:cubicBezTo>
                    <a:cubicBezTo>
                      <a:pt x="28" y="24"/>
                      <a:pt x="25" y="24"/>
                      <a:pt x="24" y="23"/>
                    </a:cubicBezTo>
                    <a:cubicBezTo>
                      <a:pt x="22" y="23"/>
                      <a:pt x="20" y="24"/>
                      <a:pt x="20" y="25"/>
                    </a:cubicBezTo>
                    <a:cubicBezTo>
                      <a:pt x="19" y="26"/>
                      <a:pt x="19" y="25"/>
                      <a:pt x="18" y="24"/>
                    </a:cubicBezTo>
                    <a:cubicBezTo>
                      <a:pt x="18" y="23"/>
                      <a:pt x="15" y="23"/>
                      <a:pt x="14" y="23"/>
                    </a:cubicBezTo>
                    <a:cubicBezTo>
                      <a:pt x="13" y="23"/>
                      <a:pt x="10" y="22"/>
                      <a:pt x="10" y="22"/>
                    </a:cubicBezTo>
                    <a:cubicBezTo>
                      <a:pt x="9" y="22"/>
                      <a:pt x="9" y="22"/>
                      <a:pt x="8" y="23"/>
                    </a:cubicBezTo>
                    <a:cubicBezTo>
                      <a:pt x="8" y="25"/>
                      <a:pt x="7" y="25"/>
                      <a:pt x="7" y="24"/>
                    </a:cubicBezTo>
                    <a:cubicBezTo>
                      <a:pt x="7" y="23"/>
                      <a:pt x="6" y="23"/>
                      <a:pt x="5" y="24"/>
                    </a:cubicBezTo>
                    <a:cubicBezTo>
                      <a:pt x="5" y="25"/>
                      <a:pt x="6" y="26"/>
                      <a:pt x="8" y="26"/>
                    </a:cubicBezTo>
                    <a:cubicBezTo>
                      <a:pt x="10" y="27"/>
                      <a:pt x="8" y="29"/>
                      <a:pt x="7" y="31"/>
                    </a:cubicBezTo>
                    <a:cubicBezTo>
                      <a:pt x="7" y="33"/>
                      <a:pt x="9" y="32"/>
                      <a:pt x="12" y="31"/>
                    </a:cubicBezTo>
                    <a:cubicBezTo>
                      <a:pt x="15" y="31"/>
                      <a:pt x="11" y="33"/>
                      <a:pt x="9" y="34"/>
                    </a:cubicBezTo>
                    <a:cubicBezTo>
                      <a:pt x="8" y="34"/>
                      <a:pt x="8" y="34"/>
                      <a:pt x="10" y="36"/>
                    </a:cubicBezTo>
                    <a:cubicBezTo>
                      <a:pt x="11" y="37"/>
                      <a:pt x="9" y="37"/>
                      <a:pt x="8" y="37"/>
                    </a:cubicBezTo>
                    <a:cubicBezTo>
                      <a:pt x="7" y="37"/>
                      <a:pt x="6" y="38"/>
                      <a:pt x="5" y="38"/>
                    </a:cubicBezTo>
                    <a:cubicBezTo>
                      <a:pt x="4" y="38"/>
                      <a:pt x="3" y="38"/>
                      <a:pt x="4" y="39"/>
                    </a:cubicBezTo>
                    <a:cubicBezTo>
                      <a:pt x="4" y="40"/>
                      <a:pt x="5" y="40"/>
                      <a:pt x="4" y="41"/>
                    </a:cubicBezTo>
                    <a:cubicBezTo>
                      <a:pt x="4" y="42"/>
                      <a:pt x="9" y="41"/>
                      <a:pt x="10" y="41"/>
                    </a:cubicBezTo>
                    <a:cubicBezTo>
                      <a:pt x="12" y="41"/>
                      <a:pt x="14" y="41"/>
                      <a:pt x="12" y="43"/>
                    </a:cubicBezTo>
                    <a:cubicBezTo>
                      <a:pt x="11" y="45"/>
                      <a:pt x="18" y="45"/>
                      <a:pt x="21" y="44"/>
                    </a:cubicBezTo>
                    <a:cubicBezTo>
                      <a:pt x="23" y="44"/>
                      <a:pt x="21" y="45"/>
                      <a:pt x="21" y="46"/>
                    </a:cubicBezTo>
                    <a:cubicBezTo>
                      <a:pt x="21" y="47"/>
                      <a:pt x="19" y="47"/>
                      <a:pt x="18" y="47"/>
                    </a:cubicBezTo>
                    <a:cubicBezTo>
                      <a:pt x="17" y="46"/>
                      <a:pt x="17" y="46"/>
                      <a:pt x="17" y="47"/>
                    </a:cubicBezTo>
                    <a:cubicBezTo>
                      <a:pt x="16" y="48"/>
                      <a:pt x="14" y="51"/>
                      <a:pt x="14" y="53"/>
                    </a:cubicBezTo>
                    <a:cubicBezTo>
                      <a:pt x="14" y="55"/>
                      <a:pt x="13" y="54"/>
                      <a:pt x="11" y="56"/>
                    </a:cubicBezTo>
                    <a:cubicBezTo>
                      <a:pt x="9" y="57"/>
                      <a:pt x="9" y="58"/>
                      <a:pt x="10" y="57"/>
                    </a:cubicBezTo>
                    <a:cubicBezTo>
                      <a:pt x="12" y="57"/>
                      <a:pt x="18" y="55"/>
                      <a:pt x="19" y="55"/>
                    </a:cubicBezTo>
                    <a:cubicBezTo>
                      <a:pt x="21" y="54"/>
                      <a:pt x="22" y="54"/>
                      <a:pt x="24" y="55"/>
                    </a:cubicBezTo>
                    <a:cubicBezTo>
                      <a:pt x="25" y="56"/>
                      <a:pt x="25" y="56"/>
                      <a:pt x="24" y="56"/>
                    </a:cubicBezTo>
                    <a:cubicBezTo>
                      <a:pt x="23" y="57"/>
                      <a:pt x="14" y="58"/>
                      <a:pt x="13" y="58"/>
                    </a:cubicBezTo>
                    <a:cubicBezTo>
                      <a:pt x="12" y="57"/>
                      <a:pt x="11" y="58"/>
                      <a:pt x="10" y="60"/>
                    </a:cubicBezTo>
                    <a:cubicBezTo>
                      <a:pt x="10" y="61"/>
                      <a:pt x="9" y="61"/>
                      <a:pt x="8" y="61"/>
                    </a:cubicBezTo>
                    <a:cubicBezTo>
                      <a:pt x="8" y="61"/>
                      <a:pt x="8" y="62"/>
                      <a:pt x="9" y="63"/>
                    </a:cubicBezTo>
                    <a:cubicBezTo>
                      <a:pt x="11" y="65"/>
                      <a:pt x="9" y="64"/>
                      <a:pt x="8" y="64"/>
                    </a:cubicBezTo>
                    <a:cubicBezTo>
                      <a:pt x="6" y="64"/>
                      <a:pt x="6" y="64"/>
                      <a:pt x="6" y="64"/>
                    </a:cubicBezTo>
                    <a:cubicBezTo>
                      <a:pt x="6" y="63"/>
                      <a:pt x="5" y="64"/>
                      <a:pt x="5" y="64"/>
                    </a:cubicBezTo>
                    <a:cubicBezTo>
                      <a:pt x="4" y="65"/>
                      <a:pt x="4" y="64"/>
                      <a:pt x="4" y="64"/>
                    </a:cubicBezTo>
                    <a:cubicBezTo>
                      <a:pt x="4" y="63"/>
                      <a:pt x="2" y="64"/>
                      <a:pt x="1" y="65"/>
                    </a:cubicBezTo>
                    <a:cubicBezTo>
                      <a:pt x="0" y="66"/>
                      <a:pt x="0" y="66"/>
                      <a:pt x="2" y="66"/>
                    </a:cubicBezTo>
                    <a:cubicBezTo>
                      <a:pt x="4" y="67"/>
                      <a:pt x="6" y="67"/>
                      <a:pt x="8" y="66"/>
                    </a:cubicBezTo>
                    <a:cubicBezTo>
                      <a:pt x="10" y="65"/>
                      <a:pt x="9" y="67"/>
                      <a:pt x="9" y="67"/>
                    </a:cubicBezTo>
                    <a:cubicBezTo>
                      <a:pt x="8" y="67"/>
                      <a:pt x="8" y="67"/>
                      <a:pt x="8" y="68"/>
                    </a:cubicBezTo>
                    <a:cubicBezTo>
                      <a:pt x="7" y="68"/>
                      <a:pt x="6" y="68"/>
                      <a:pt x="4" y="69"/>
                    </a:cubicBezTo>
                    <a:cubicBezTo>
                      <a:pt x="3" y="69"/>
                      <a:pt x="3" y="69"/>
                      <a:pt x="2" y="71"/>
                    </a:cubicBezTo>
                    <a:cubicBezTo>
                      <a:pt x="0" y="73"/>
                      <a:pt x="7" y="73"/>
                      <a:pt x="10" y="72"/>
                    </a:cubicBezTo>
                    <a:cubicBezTo>
                      <a:pt x="13" y="72"/>
                      <a:pt x="12" y="73"/>
                      <a:pt x="12" y="73"/>
                    </a:cubicBezTo>
                    <a:cubicBezTo>
                      <a:pt x="12" y="73"/>
                      <a:pt x="8" y="76"/>
                      <a:pt x="5" y="77"/>
                    </a:cubicBezTo>
                    <a:cubicBezTo>
                      <a:pt x="2" y="79"/>
                      <a:pt x="9" y="77"/>
                      <a:pt x="10" y="77"/>
                    </a:cubicBezTo>
                    <a:cubicBezTo>
                      <a:pt x="12" y="76"/>
                      <a:pt x="11" y="77"/>
                      <a:pt x="10" y="78"/>
                    </a:cubicBezTo>
                    <a:cubicBezTo>
                      <a:pt x="9" y="78"/>
                      <a:pt x="10" y="78"/>
                      <a:pt x="11" y="78"/>
                    </a:cubicBezTo>
                    <a:cubicBezTo>
                      <a:pt x="11" y="78"/>
                      <a:pt x="11" y="79"/>
                      <a:pt x="9" y="79"/>
                    </a:cubicBezTo>
                    <a:cubicBezTo>
                      <a:pt x="8" y="80"/>
                      <a:pt x="13" y="80"/>
                      <a:pt x="15" y="80"/>
                    </a:cubicBezTo>
                    <a:cubicBezTo>
                      <a:pt x="17" y="79"/>
                      <a:pt x="23" y="79"/>
                      <a:pt x="26" y="78"/>
                    </a:cubicBezTo>
                    <a:cubicBezTo>
                      <a:pt x="29" y="76"/>
                      <a:pt x="29" y="75"/>
                      <a:pt x="30" y="74"/>
                    </a:cubicBezTo>
                    <a:cubicBezTo>
                      <a:pt x="30" y="73"/>
                      <a:pt x="31" y="73"/>
                      <a:pt x="32" y="73"/>
                    </a:cubicBezTo>
                    <a:cubicBezTo>
                      <a:pt x="33" y="74"/>
                      <a:pt x="33" y="74"/>
                      <a:pt x="36" y="71"/>
                    </a:cubicBezTo>
                    <a:cubicBezTo>
                      <a:pt x="39" y="69"/>
                      <a:pt x="40" y="70"/>
                      <a:pt x="42" y="68"/>
                    </a:cubicBezTo>
                    <a:cubicBezTo>
                      <a:pt x="44" y="67"/>
                      <a:pt x="46" y="68"/>
                      <a:pt x="49" y="67"/>
                    </a:cubicBezTo>
                    <a:cubicBezTo>
                      <a:pt x="52" y="66"/>
                      <a:pt x="51" y="66"/>
                      <a:pt x="51" y="65"/>
                    </a:cubicBezTo>
                    <a:cubicBezTo>
                      <a:pt x="51" y="63"/>
                      <a:pt x="51" y="65"/>
                      <a:pt x="52" y="66"/>
                    </a:cubicBezTo>
                    <a:cubicBezTo>
                      <a:pt x="52" y="67"/>
                      <a:pt x="53" y="66"/>
                      <a:pt x="54" y="65"/>
                    </a:cubicBezTo>
                    <a:cubicBezTo>
                      <a:pt x="55" y="64"/>
                      <a:pt x="58" y="65"/>
                      <a:pt x="59" y="66"/>
                    </a:cubicBezTo>
                    <a:cubicBezTo>
                      <a:pt x="61" y="66"/>
                      <a:pt x="60" y="66"/>
                      <a:pt x="59" y="64"/>
                    </a:cubicBezTo>
                    <a:cubicBezTo>
                      <a:pt x="58" y="62"/>
                      <a:pt x="59" y="62"/>
                      <a:pt x="60" y="62"/>
                    </a:cubicBezTo>
                    <a:cubicBezTo>
                      <a:pt x="60" y="62"/>
                      <a:pt x="61" y="62"/>
                      <a:pt x="61" y="60"/>
                    </a:cubicBezTo>
                    <a:cubicBezTo>
                      <a:pt x="62" y="58"/>
                      <a:pt x="63" y="55"/>
                      <a:pt x="65" y="52"/>
                    </a:cubicBezTo>
                    <a:cubicBezTo>
                      <a:pt x="66" y="50"/>
                      <a:pt x="66" y="48"/>
                      <a:pt x="65" y="46"/>
                    </a:cubicBezTo>
                    <a:cubicBezTo>
                      <a:pt x="64" y="44"/>
                      <a:pt x="65" y="41"/>
                      <a:pt x="65" y="40"/>
                    </a:cubicBezTo>
                    <a:cubicBezTo>
                      <a:pt x="65" y="38"/>
                      <a:pt x="63" y="36"/>
                      <a:pt x="63" y="35"/>
                    </a:cubicBezTo>
                    <a:cubicBezTo>
                      <a:pt x="62" y="34"/>
                      <a:pt x="61" y="33"/>
                      <a:pt x="60" y="31"/>
                    </a:cubicBezTo>
                    <a:cubicBezTo>
                      <a:pt x="60" y="29"/>
                      <a:pt x="62" y="30"/>
                      <a:pt x="63" y="30"/>
                    </a:cubicBezTo>
                    <a:cubicBezTo>
                      <a:pt x="64" y="29"/>
                      <a:pt x="64" y="30"/>
                      <a:pt x="64" y="29"/>
                    </a:cubicBezTo>
                    <a:cubicBezTo>
                      <a:pt x="63" y="28"/>
                      <a:pt x="63" y="28"/>
                      <a:pt x="63" y="28"/>
                    </a:cubicBezTo>
                    <a:cubicBezTo>
                      <a:pt x="61" y="27"/>
                      <a:pt x="58" y="28"/>
                      <a:pt x="57" y="2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46" name="Freeform 1158">
                <a:extLst>
                  <a:ext uri="{FF2B5EF4-FFF2-40B4-BE49-F238E27FC236}">
                    <a16:creationId xmlns:a16="http://schemas.microsoft.com/office/drawing/2014/main" id="{9603FFCC-E094-4491-804E-C2CDA8D7BAD3}"/>
                  </a:ext>
                </a:extLst>
              </p:cNvPr>
              <p:cNvSpPr>
                <a:spLocks/>
              </p:cNvSpPr>
              <p:nvPr/>
            </p:nvSpPr>
            <p:spPr bwMode="auto">
              <a:xfrm>
                <a:off x="3291" y="1457"/>
                <a:ext cx="7" cy="6"/>
              </a:xfrm>
              <a:custGeom>
                <a:avLst/>
                <a:gdLst>
                  <a:gd name="T0" fmla="*/ 5 w 5"/>
                  <a:gd name="T1" fmla="*/ 3 h 5"/>
                  <a:gd name="T2" fmla="*/ 1 w 5"/>
                  <a:gd name="T3" fmla="*/ 3 h 5"/>
                  <a:gd name="T4" fmla="*/ 5 w 5"/>
                  <a:gd name="T5" fmla="*/ 3 h 5"/>
                </a:gdLst>
                <a:ahLst/>
                <a:cxnLst>
                  <a:cxn ang="0">
                    <a:pos x="T0" y="T1"/>
                  </a:cxn>
                  <a:cxn ang="0">
                    <a:pos x="T2" y="T3"/>
                  </a:cxn>
                  <a:cxn ang="0">
                    <a:pos x="T4" y="T5"/>
                  </a:cxn>
                </a:cxnLst>
                <a:rect l="0" t="0" r="r" b="b"/>
                <a:pathLst>
                  <a:path w="5" h="5">
                    <a:moveTo>
                      <a:pt x="5" y="3"/>
                    </a:moveTo>
                    <a:cubicBezTo>
                      <a:pt x="5" y="0"/>
                      <a:pt x="0" y="2"/>
                      <a:pt x="1" y="3"/>
                    </a:cubicBezTo>
                    <a:cubicBezTo>
                      <a:pt x="1" y="3"/>
                      <a:pt x="5" y="5"/>
                      <a:pt x="5"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47" name="Freeform 1159">
                <a:extLst>
                  <a:ext uri="{FF2B5EF4-FFF2-40B4-BE49-F238E27FC236}">
                    <a16:creationId xmlns:a16="http://schemas.microsoft.com/office/drawing/2014/main" id="{932E5340-2334-40EE-9ED4-19B01801329A}"/>
                  </a:ext>
                </a:extLst>
              </p:cNvPr>
              <p:cNvSpPr>
                <a:spLocks/>
              </p:cNvSpPr>
              <p:nvPr/>
            </p:nvSpPr>
            <p:spPr bwMode="auto">
              <a:xfrm>
                <a:off x="2002" y="364"/>
                <a:ext cx="1258" cy="921"/>
              </a:xfrm>
              <a:custGeom>
                <a:avLst/>
                <a:gdLst>
                  <a:gd name="T0" fmla="*/ 673 w 909"/>
                  <a:gd name="T1" fmla="*/ 426 h 671"/>
                  <a:gd name="T2" fmla="*/ 688 w 909"/>
                  <a:gd name="T3" fmla="*/ 415 h 671"/>
                  <a:gd name="T4" fmla="*/ 666 w 909"/>
                  <a:gd name="T5" fmla="*/ 373 h 671"/>
                  <a:gd name="T6" fmla="*/ 763 w 909"/>
                  <a:gd name="T7" fmla="*/ 406 h 671"/>
                  <a:gd name="T8" fmla="*/ 753 w 909"/>
                  <a:gd name="T9" fmla="*/ 383 h 671"/>
                  <a:gd name="T10" fmla="*/ 719 w 909"/>
                  <a:gd name="T11" fmla="*/ 359 h 671"/>
                  <a:gd name="T12" fmla="*/ 680 w 909"/>
                  <a:gd name="T13" fmla="*/ 341 h 671"/>
                  <a:gd name="T14" fmla="*/ 730 w 909"/>
                  <a:gd name="T15" fmla="*/ 326 h 671"/>
                  <a:gd name="T16" fmla="*/ 756 w 909"/>
                  <a:gd name="T17" fmla="*/ 309 h 671"/>
                  <a:gd name="T18" fmla="*/ 778 w 909"/>
                  <a:gd name="T19" fmla="*/ 283 h 671"/>
                  <a:gd name="T20" fmla="*/ 792 w 909"/>
                  <a:gd name="T21" fmla="*/ 256 h 671"/>
                  <a:gd name="T22" fmla="*/ 753 w 909"/>
                  <a:gd name="T23" fmla="*/ 233 h 671"/>
                  <a:gd name="T24" fmla="*/ 803 w 909"/>
                  <a:gd name="T25" fmla="*/ 220 h 671"/>
                  <a:gd name="T26" fmla="*/ 774 w 909"/>
                  <a:gd name="T27" fmla="*/ 176 h 671"/>
                  <a:gd name="T28" fmla="*/ 795 w 909"/>
                  <a:gd name="T29" fmla="*/ 140 h 671"/>
                  <a:gd name="T30" fmla="*/ 783 w 909"/>
                  <a:gd name="T31" fmla="*/ 108 h 671"/>
                  <a:gd name="T32" fmla="*/ 785 w 909"/>
                  <a:gd name="T33" fmla="*/ 79 h 671"/>
                  <a:gd name="T34" fmla="*/ 692 w 909"/>
                  <a:gd name="T35" fmla="*/ 74 h 671"/>
                  <a:gd name="T36" fmla="*/ 729 w 909"/>
                  <a:gd name="T37" fmla="*/ 31 h 671"/>
                  <a:gd name="T38" fmla="*/ 614 w 909"/>
                  <a:gd name="T39" fmla="*/ 21 h 671"/>
                  <a:gd name="T40" fmla="*/ 533 w 909"/>
                  <a:gd name="T41" fmla="*/ 18 h 671"/>
                  <a:gd name="T42" fmla="*/ 421 w 909"/>
                  <a:gd name="T43" fmla="*/ 19 h 671"/>
                  <a:gd name="T44" fmla="*/ 428 w 909"/>
                  <a:gd name="T45" fmla="*/ 44 h 671"/>
                  <a:gd name="T46" fmla="*/ 337 w 909"/>
                  <a:gd name="T47" fmla="*/ 64 h 671"/>
                  <a:gd name="T48" fmla="*/ 270 w 909"/>
                  <a:gd name="T49" fmla="*/ 48 h 671"/>
                  <a:gd name="T50" fmla="*/ 178 w 909"/>
                  <a:gd name="T51" fmla="*/ 88 h 671"/>
                  <a:gd name="T52" fmla="*/ 129 w 909"/>
                  <a:gd name="T53" fmla="*/ 128 h 671"/>
                  <a:gd name="T54" fmla="*/ 7 w 909"/>
                  <a:gd name="T55" fmla="*/ 182 h 671"/>
                  <a:gd name="T56" fmla="*/ 73 w 909"/>
                  <a:gd name="T57" fmla="*/ 222 h 671"/>
                  <a:gd name="T58" fmla="*/ 89 w 909"/>
                  <a:gd name="T59" fmla="*/ 252 h 671"/>
                  <a:gd name="T60" fmla="*/ 218 w 909"/>
                  <a:gd name="T61" fmla="*/ 281 h 671"/>
                  <a:gd name="T62" fmla="*/ 255 w 909"/>
                  <a:gd name="T63" fmla="*/ 326 h 671"/>
                  <a:gd name="T64" fmla="*/ 270 w 909"/>
                  <a:gd name="T65" fmla="*/ 363 h 671"/>
                  <a:gd name="T66" fmla="*/ 297 w 909"/>
                  <a:gd name="T67" fmla="*/ 379 h 671"/>
                  <a:gd name="T68" fmla="*/ 320 w 909"/>
                  <a:gd name="T69" fmla="*/ 399 h 671"/>
                  <a:gd name="T70" fmla="*/ 333 w 909"/>
                  <a:gd name="T71" fmla="*/ 418 h 671"/>
                  <a:gd name="T72" fmla="*/ 338 w 909"/>
                  <a:gd name="T73" fmla="*/ 442 h 671"/>
                  <a:gd name="T74" fmla="*/ 315 w 909"/>
                  <a:gd name="T75" fmla="*/ 467 h 671"/>
                  <a:gd name="T76" fmla="*/ 331 w 909"/>
                  <a:gd name="T77" fmla="*/ 480 h 671"/>
                  <a:gd name="T78" fmla="*/ 289 w 909"/>
                  <a:gd name="T79" fmla="*/ 492 h 671"/>
                  <a:gd name="T80" fmla="*/ 303 w 909"/>
                  <a:gd name="T81" fmla="*/ 488 h 671"/>
                  <a:gd name="T82" fmla="*/ 292 w 909"/>
                  <a:gd name="T83" fmla="*/ 508 h 671"/>
                  <a:gd name="T84" fmla="*/ 302 w 909"/>
                  <a:gd name="T85" fmla="*/ 522 h 671"/>
                  <a:gd name="T86" fmla="*/ 299 w 909"/>
                  <a:gd name="T87" fmla="*/ 533 h 671"/>
                  <a:gd name="T88" fmla="*/ 306 w 909"/>
                  <a:gd name="T89" fmla="*/ 550 h 671"/>
                  <a:gd name="T90" fmla="*/ 321 w 909"/>
                  <a:gd name="T91" fmla="*/ 566 h 671"/>
                  <a:gd name="T92" fmla="*/ 333 w 909"/>
                  <a:gd name="T93" fmla="*/ 566 h 671"/>
                  <a:gd name="T94" fmla="*/ 321 w 909"/>
                  <a:gd name="T95" fmla="*/ 585 h 671"/>
                  <a:gd name="T96" fmla="*/ 340 w 909"/>
                  <a:gd name="T97" fmla="*/ 604 h 671"/>
                  <a:gd name="T98" fmla="*/ 354 w 909"/>
                  <a:gd name="T99" fmla="*/ 630 h 671"/>
                  <a:gd name="T100" fmla="*/ 378 w 909"/>
                  <a:gd name="T101" fmla="*/ 651 h 671"/>
                  <a:gd name="T102" fmla="*/ 403 w 909"/>
                  <a:gd name="T103" fmla="*/ 651 h 671"/>
                  <a:gd name="T104" fmla="*/ 421 w 909"/>
                  <a:gd name="T105" fmla="*/ 655 h 671"/>
                  <a:gd name="T106" fmla="*/ 430 w 909"/>
                  <a:gd name="T107" fmla="*/ 658 h 671"/>
                  <a:gd name="T108" fmla="*/ 447 w 909"/>
                  <a:gd name="T109" fmla="*/ 647 h 671"/>
                  <a:gd name="T110" fmla="*/ 454 w 909"/>
                  <a:gd name="T111" fmla="*/ 627 h 671"/>
                  <a:gd name="T112" fmla="*/ 466 w 909"/>
                  <a:gd name="T113" fmla="*/ 603 h 671"/>
                  <a:gd name="T114" fmla="*/ 471 w 909"/>
                  <a:gd name="T115" fmla="*/ 590 h 671"/>
                  <a:gd name="T116" fmla="*/ 484 w 909"/>
                  <a:gd name="T117" fmla="*/ 571 h 671"/>
                  <a:gd name="T118" fmla="*/ 519 w 909"/>
                  <a:gd name="T119" fmla="*/ 528 h 671"/>
                  <a:gd name="T120" fmla="*/ 556 w 909"/>
                  <a:gd name="T121" fmla="*/ 523 h 671"/>
                  <a:gd name="T122" fmla="*/ 603 w 909"/>
                  <a:gd name="T123" fmla="*/ 475 h 671"/>
                  <a:gd name="T124" fmla="*/ 667 w 909"/>
                  <a:gd name="T125" fmla="*/ 467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09" h="671">
                    <a:moveTo>
                      <a:pt x="719" y="444"/>
                    </a:moveTo>
                    <a:cubicBezTo>
                      <a:pt x="719" y="444"/>
                      <a:pt x="721" y="444"/>
                      <a:pt x="721" y="445"/>
                    </a:cubicBezTo>
                    <a:cubicBezTo>
                      <a:pt x="721" y="446"/>
                      <a:pt x="724" y="445"/>
                      <a:pt x="726" y="444"/>
                    </a:cubicBezTo>
                    <a:cubicBezTo>
                      <a:pt x="728" y="443"/>
                      <a:pt x="728" y="442"/>
                      <a:pt x="725" y="440"/>
                    </a:cubicBezTo>
                    <a:cubicBezTo>
                      <a:pt x="722" y="439"/>
                      <a:pt x="725" y="439"/>
                      <a:pt x="725" y="440"/>
                    </a:cubicBezTo>
                    <a:cubicBezTo>
                      <a:pt x="726" y="440"/>
                      <a:pt x="727" y="440"/>
                      <a:pt x="728" y="440"/>
                    </a:cubicBezTo>
                    <a:cubicBezTo>
                      <a:pt x="728" y="440"/>
                      <a:pt x="729" y="439"/>
                      <a:pt x="730" y="441"/>
                    </a:cubicBezTo>
                    <a:cubicBezTo>
                      <a:pt x="731" y="443"/>
                      <a:pt x="731" y="441"/>
                      <a:pt x="732" y="440"/>
                    </a:cubicBezTo>
                    <a:cubicBezTo>
                      <a:pt x="733" y="438"/>
                      <a:pt x="734" y="437"/>
                      <a:pt x="731" y="436"/>
                    </a:cubicBezTo>
                    <a:cubicBezTo>
                      <a:pt x="728" y="435"/>
                      <a:pt x="737" y="435"/>
                      <a:pt x="739" y="435"/>
                    </a:cubicBezTo>
                    <a:cubicBezTo>
                      <a:pt x="740" y="435"/>
                      <a:pt x="740" y="435"/>
                      <a:pt x="739" y="434"/>
                    </a:cubicBezTo>
                    <a:cubicBezTo>
                      <a:pt x="738" y="433"/>
                      <a:pt x="740" y="434"/>
                      <a:pt x="742" y="435"/>
                    </a:cubicBezTo>
                    <a:cubicBezTo>
                      <a:pt x="743" y="435"/>
                      <a:pt x="743" y="435"/>
                      <a:pt x="743" y="434"/>
                    </a:cubicBezTo>
                    <a:cubicBezTo>
                      <a:pt x="743" y="433"/>
                      <a:pt x="742" y="433"/>
                      <a:pt x="740" y="433"/>
                    </a:cubicBezTo>
                    <a:cubicBezTo>
                      <a:pt x="738" y="432"/>
                      <a:pt x="742" y="431"/>
                      <a:pt x="746" y="431"/>
                    </a:cubicBezTo>
                    <a:cubicBezTo>
                      <a:pt x="749" y="430"/>
                      <a:pt x="753" y="428"/>
                      <a:pt x="756" y="426"/>
                    </a:cubicBezTo>
                    <a:cubicBezTo>
                      <a:pt x="759" y="424"/>
                      <a:pt x="754" y="424"/>
                      <a:pt x="753" y="424"/>
                    </a:cubicBezTo>
                    <a:cubicBezTo>
                      <a:pt x="752" y="424"/>
                      <a:pt x="736" y="424"/>
                      <a:pt x="731" y="424"/>
                    </a:cubicBezTo>
                    <a:cubicBezTo>
                      <a:pt x="726" y="424"/>
                      <a:pt x="720" y="422"/>
                      <a:pt x="718" y="421"/>
                    </a:cubicBezTo>
                    <a:cubicBezTo>
                      <a:pt x="716" y="420"/>
                      <a:pt x="716" y="420"/>
                      <a:pt x="714" y="419"/>
                    </a:cubicBezTo>
                    <a:cubicBezTo>
                      <a:pt x="713" y="419"/>
                      <a:pt x="712" y="419"/>
                      <a:pt x="711" y="419"/>
                    </a:cubicBezTo>
                    <a:cubicBezTo>
                      <a:pt x="710" y="419"/>
                      <a:pt x="708" y="420"/>
                      <a:pt x="710" y="418"/>
                    </a:cubicBezTo>
                    <a:cubicBezTo>
                      <a:pt x="712" y="416"/>
                      <a:pt x="705" y="420"/>
                      <a:pt x="705" y="420"/>
                    </a:cubicBezTo>
                    <a:cubicBezTo>
                      <a:pt x="699" y="423"/>
                      <a:pt x="685" y="425"/>
                      <a:pt x="683" y="425"/>
                    </a:cubicBezTo>
                    <a:cubicBezTo>
                      <a:pt x="682" y="426"/>
                      <a:pt x="680" y="427"/>
                      <a:pt x="679" y="429"/>
                    </a:cubicBezTo>
                    <a:cubicBezTo>
                      <a:pt x="679" y="431"/>
                      <a:pt x="667" y="428"/>
                      <a:pt x="663" y="427"/>
                    </a:cubicBezTo>
                    <a:cubicBezTo>
                      <a:pt x="659" y="426"/>
                      <a:pt x="663" y="426"/>
                      <a:pt x="664" y="425"/>
                    </a:cubicBezTo>
                    <a:cubicBezTo>
                      <a:pt x="665" y="425"/>
                      <a:pt x="667" y="425"/>
                      <a:pt x="669" y="426"/>
                    </a:cubicBezTo>
                    <a:cubicBezTo>
                      <a:pt x="671" y="427"/>
                      <a:pt x="672" y="426"/>
                      <a:pt x="673" y="426"/>
                    </a:cubicBezTo>
                    <a:cubicBezTo>
                      <a:pt x="674" y="425"/>
                      <a:pt x="680" y="423"/>
                      <a:pt x="681" y="422"/>
                    </a:cubicBezTo>
                    <a:cubicBezTo>
                      <a:pt x="683" y="421"/>
                      <a:pt x="684" y="420"/>
                      <a:pt x="687" y="420"/>
                    </a:cubicBezTo>
                    <a:cubicBezTo>
                      <a:pt x="690" y="421"/>
                      <a:pt x="691" y="420"/>
                      <a:pt x="693" y="419"/>
                    </a:cubicBezTo>
                    <a:cubicBezTo>
                      <a:pt x="694" y="418"/>
                      <a:pt x="693" y="417"/>
                      <a:pt x="691" y="416"/>
                    </a:cubicBezTo>
                    <a:cubicBezTo>
                      <a:pt x="690" y="416"/>
                      <a:pt x="687" y="416"/>
                      <a:pt x="686" y="417"/>
                    </a:cubicBezTo>
                    <a:cubicBezTo>
                      <a:pt x="685" y="417"/>
                      <a:pt x="681" y="417"/>
                      <a:pt x="679" y="417"/>
                    </a:cubicBezTo>
                    <a:cubicBezTo>
                      <a:pt x="678" y="417"/>
                      <a:pt x="670" y="419"/>
                      <a:pt x="667" y="419"/>
                    </a:cubicBezTo>
                    <a:cubicBezTo>
                      <a:pt x="665" y="419"/>
                      <a:pt x="664" y="416"/>
                      <a:pt x="664" y="416"/>
                    </a:cubicBezTo>
                    <a:cubicBezTo>
                      <a:pt x="665" y="415"/>
                      <a:pt x="659" y="416"/>
                      <a:pt x="657" y="416"/>
                    </a:cubicBezTo>
                    <a:cubicBezTo>
                      <a:pt x="655" y="417"/>
                      <a:pt x="655" y="417"/>
                      <a:pt x="653" y="418"/>
                    </a:cubicBezTo>
                    <a:cubicBezTo>
                      <a:pt x="650" y="419"/>
                      <a:pt x="652" y="417"/>
                      <a:pt x="653" y="416"/>
                    </a:cubicBezTo>
                    <a:cubicBezTo>
                      <a:pt x="653" y="416"/>
                      <a:pt x="658" y="415"/>
                      <a:pt x="660" y="415"/>
                    </a:cubicBezTo>
                    <a:cubicBezTo>
                      <a:pt x="662" y="414"/>
                      <a:pt x="664" y="414"/>
                      <a:pt x="665" y="413"/>
                    </a:cubicBezTo>
                    <a:cubicBezTo>
                      <a:pt x="666" y="413"/>
                      <a:pt x="668" y="407"/>
                      <a:pt x="669" y="406"/>
                    </a:cubicBezTo>
                    <a:cubicBezTo>
                      <a:pt x="669" y="405"/>
                      <a:pt x="670" y="405"/>
                      <a:pt x="666" y="404"/>
                    </a:cubicBezTo>
                    <a:cubicBezTo>
                      <a:pt x="663" y="403"/>
                      <a:pt x="665" y="403"/>
                      <a:pt x="666" y="402"/>
                    </a:cubicBezTo>
                    <a:cubicBezTo>
                      <a:pt x="666" y="402"/>
                      <a:pt x="671" y="403"/>
                      <a:pt x="674" y="404"/>
                    </a:cubicBezTo>
                    <a:cubicBezTo>
                      <a:pt x="676" y="404"/>
                      <a:pt x="673" y="402"/>
                      <a:pt x="672" y="400"/>
                    </a:cubicBezTo>
                    <a:cubicBezTo>
                      <a:pt x="670" y="398"/>
                      <a:pt x="671" y="398"/>
                      <a:pt x="673" y="399"/>
                    </a:cubicBezTo>
                    <a:cubicBezTo>
                      <a:pt x="674" y="400"/>
                      <a:pt x="676" y="402"/>
                      <a:pt x="677" y="403"/>
                    </a:cubicBezTo>
                    <a:cubicBezTo>
                      <a:pt x="679" y="404"/>
                      <a:pt x="681" y="403"/>
                      <a:pt x="682" y="403"/>
                    </a:cubicBezTo>
                    <a:cubicBezTo>
                      <a:pt x="683" y="403"/>
                      <a:pt x="686" y="403"/>
                      <a:pt x="687" y="403"/>
                    </a:cubicBezTo>
                    <a:cubicBezTo>
                      <a:pt x="689" y="404"/>
                      <a:pt x="685" y="405"/>
                      <a:pt x="684" y="405"/>
                    </a:cubicBezTo>
                    <a:cubicBezTo>
                      <a:pt x="683" y="405"/>
                      <a:pt x="679" y="407"/>
                      <a:pt x="678" y="408"/>
                    </a:cubicBezTo>
                    <a:cubicBezTo>
                      <a:pt x="677" y="409"/>
                      <a:pt x="674" y="410"/>
                      <a:pt x="672" y="411"/>
                    </a:cubicBezTo>
                    <a:cubicBezTo>
                      <a:pt x="670" y="412"/>
                      <a:pt x="669" y="412"/>
                      <a:pt x="668" y="414"/>
                    </a:cubicBezTo>
                    <a:cubicBezTo>
                      <a:pt x="666" y="417"/>
                      <a:pt x="670" y="417"/>
                      <a:pt x="672" y="417"/>
                    </a:cubicBezTo>
                    <a:cubicBezTo>
                      <a:pt x="675" y="416"/>
                      <a:pt x="682" y="416"/>
                      <a:pt x="682" y="415"/>
                    </a:cubicBezTo>
                    <a:cubicBezTo>
                      <a:pt x="683" y="415"/>
                      <a:pt x="686" y="414"/>
                      <a:pt x="688" y="415"/>
                    </a:cubicBezTo>
                    <a:cubicBezTo>
                      <a:pt x="689" y="415"/>
                      <a:pt x="693" y="414"/>
                      <a:pt x="694" y="413"/>
                    </a:cubicBezTo>
                    <a:cubicBezTo>
                      <a:pt x="695" y="413"/>
                      <a:pt x="696" y="414"/>
                      <a:pt x="698" y="414"/>
                    </a:cubicBezTo>
                    <a:cubicBezTo>
                      <a:pt x="699" y="415"/>
                      <a:pt x="700" y="414"/>
                      <a:pt x="701" y="413"/>
                    </a:cubicBezTo>
                    <a:cubicBezTo>
                      <a:pt x="703" y="412"/>
                      <a:pt x="706" y="412"/>
                      <a:pt x="708" y="411"/>
                    </a:cubicBezTo>
                    <a:cubicBezTo>
                      <a:pt x="711" y="411"/>
                      <a:pt x="709" y="410"/>
                      <a:pt x="708" y="409"/>
                    </a:cubicBezTo>
                    <a:cubicBezTo>
                      <a:pt x="707" y="408"/>
                      <a:pt x="707" y="408"/>
                      <a:pt x="708" y="407"/>
                    </a:cubicBezTo>
                    <a:cubicBezTo>
                      <a:pt x="709" y="407"/>
                      <a:pt x="709" y="407"/>
                      <a:pt x="708" y="406"/>
                    </a:cubicBezTo>
                    <a:cubicBezTo>
                      <a:pt x="708" y="404"/>
                      <a:pt x="707" y="404"/>
                      <a:pt x="706" y="403"/>
                    </a:cubicBezTo>
                    <a:cubicBezTo>
                      <a:pt x="705" y="402"/>
                      <a:pt x="704" y="402"/>
                      <a:pt x="703" y="401"/>
                    </a:cubicBezTo>
                    <a:cubicBezTo>
                      <a:pt x="703" y="400"/>
                      <a:pt x="705" y="399"/>
                      <a:pt x="701" y="401"/>
                    </a:cubicBezTo>
                    <a:cubicBezTo>
                      <a:pt x="696" y="402"/>
                      <a:pt x="689" y="403"/>
                      <a:pt x="691" y="402"/>
                    </a:cubicBezTo>
                    <a:cubicBezTo>
                      <a:pt x="692" y="402"/>
                      <a:pt x="702" y="398"/>
                      <a:pt x="703" y="398"/>
                    </a:cubicBezTo>
                    <a:cubicBezTo>
                      <a:pt x="704" y="397"/>
                      <a:pt x="705" y="398"/>
                      <a:pt x="704" y="396"/>
                    </a:cubicBezTo>
                    <a:cubicBezTo>
                      <a:pt x="703" y="395"/>
                      <a:pt x="704" y="395"/>
                      <a:pt x="705" y="396"/>
                    </a:cubicBezTo>
                    <a:cubicBezTo>
                      <a:pt x="707" y="397"/>
                      <a:pt x="707" y="395"/>
                      <a:pt x="706" y="393"/>
                    </a:cubicBezTo>
                    <a:cubicBezTo>
                      <a:pt x="706" y="390"/>
                      <a:pt x="701" y="388"/>
                      <a:pt x="699" y="388"/>
                    </a:cubicBezTo>
                    <a:cubicBezTo>
                      <a:pt x="697" y="389"/>
                      <a:pt x="696" y="388"/>
                      <a:pt x="693" y="388"/>
                    </a:cubicBezTo>
                    <a:cubicBezTo>
                      <a:pt x="691" y="388"/>
                      <a:pt x="689" y="389"/>
                      <a:pt x="687" y="388"/>
                    </a:cubicBezTo>
                    <a:cubicBezTo>
                      <a:pt x="686" y="387"/>
                      <a:pt x="683" y="387"/>
                      <a:pt x="681" y="388"/>
                    </a:cubicBezTo>
                    <a:cubicBezTo>
                      <a:pt x="679" y="389"/>
                      <a:pt x="679" y="387"/>
                      <a:pt x="679" y="386"/>
                    </a:cubicBezTo>
                    <a:cubicBezTo>
                      <a:pt x="678" y="384"/>
                      <a:pt x="670" y="387"/>
                      <a:pt x="665" y="387"/>
                    </a:cubicBezTo>
                    <a:cubicBezTo>
                      <a:pt x="660" y="388"/>
                      <a:pt x="663" y="386"/>
                      <a:pt x="665" y="386"/>
                    </a:cubicBezTo>
                    <a:cubicBezTo>
                      <a:pt x="667" y="386"/>
                      <a:pt x="672" y="384"/>
                      <a:pt x="674" y="384"/>
                    </a:cubicBezTo>
                    <a:cubicBezTo>
                      <a:pt x="676" y="384"/>
                      <a:pt x="677" y="385"/>
                      <a:pt x="678" y="383"/>
                    </a:cubicBezTo>
                    <a:cubicBezTo>
                      <a:pt x="679" y="382"/>
                      <a:pt x="674" y="380"/>
                      <a:pt x="672" y="379"/>
                    </a:cubicBezTo>
                    <a:cubicBezTo>
                      <a:pt x="669" y="378"/>
                      <a:pt x="669" y="378"/>
                      <a:pt x="671" y="378"/>
                    </a:cubicBezTo>
                    <a:cubicBezTo>
                      <a:pt x="673" y="377"/>
                      <a:pt x="666" y="376"/>
                      <a:pt x="663" y="376"/>
                    </a:cubicBezTo>
                    <a:cubicBezTo>
                      <a:pt x="661" y="376"/>
                      <a:pt x="663" y="375"/>
                      <a:pt x="663" y="373"/>
                    </a:cubicBezTo>
                    <a:cubicBezTo>
                      <a:pt x="663" y="371"/>
                      <a:pt x="664" y="373"/>
                      <a:pt x="666" y="373"/>
                    </a:cubicBezTo>
                    <a:cubicBezTo>
                      <a:pt x="667" y="374"/>
                      <a:pt x="668" y="374"/>
                      <a:pt x="670" y="375"/>
                    </a:cubicBezTo>
                    <a:cubicBezTo>
                      <a:pt x="672" y="375"/>
                      <a:pt x="674" y="377"/>
                      <a:pt x="675" y="377"/>
                    </a:cubicBezTo>
                    <a:cubicBezTo>
                      <a:pt x="676" y="378"/>
                      <a:pt x="676" y="379"/>
                      <a:pt x="677" y="380"/>
                    </a:cubicBezTo>
                    <a:cubicBezTo>
                      <a:pt x="678" y="381"/>
                      <a:pt x="677" y="378"/>
                      <a:pt x="682" y="383"/>
                    </a:cubicBezTo>
                    <a:cubicBezTo>
                      <a:pt x="686" y="388"/>
                      <a:pt x="690" y="387"/>
                      <a:pt x="691" y="387"/>
                    </a:cubicBezTo>
                    <a:cubicBezTo>
                      <a:pt x="692" y="386"/>
                      <a:pt x="692" y="385"/>
                      <a:pt x="694" y="386"/>
                    </a:cubicBezTo>
                    <a:cubicBezTo>
                      <a:pt x="694" y="386"/>
                      <a:pt x="694" y="386"/>
                      <a:pt x="694" y="386"/>
                    </a:cubicBezTo>
                    <a:cubicBezTo>
                      <a:pt x="694" y="386"/>
                      <a:pt x="695" y="386"/>
                      <a:pt x="698" y="386"/>
                    </a:cubicBezTo>
                    <a:cubicBezTo>
                      <a:pt x="705" y="386"/>
                      <a:pt x="710" y="392"/>
                      <a:pt x="711" y="393"/>
                    </a:cubicBezTo>
                    <a:cubicBezTo>
                      <a:pt x="713" y="394"/>
                      <a:pt x="716" y="393"/>
                      <a:pt x="718" y="393"/>
                    </a:cubicBezTo>
                    <a:cubicBezTo>
                      <a:pt x="719" y="392"/>
                      <a:pt x="720" y="392"/>
                      <a:pt x="719" y="393"/>
                    </a:cubicBezTo>
                    <a:cubicBezTo>
                      <a:pt x="718" y="394"/>
                      <a:pt x="719" y="394"/>
                      <a:pt x="720" y="395"/>
                    </a:cubicBezTo>
                    <a:cubicBezTo>
                      <a:pt x="720" y="396"/>
                      <a:pt x="720" y="396"/>
                      <a:pt x="721" y="397"/>
                    </a:cubicBezTo>
                    <a:cubicBezTo>
                      <a:pt x="723" y="398"/>
                      <a:pt x="726" y="401"/>
                      <a:pt x="725" y="403"/>
                    </a:cubicBezTo>
                    <a:cubicBezTo>
                      <a:pt x="725" y="405"/>
                      <a:pt x="725" y="408"/>
                      <a:pt x="730" y="413"/>
                    </a:cubicBezTo>
                    <a:cubicBezTo>
                      <a:pt x="735" y="418"/>
                      <a:pt x="745" y="417"/>
                      <a:pt x="747" y="417"/>
                    </a:cubicBezTo>
                    <a:cubicBezTo>
                      <a:pt x="750" y="417"/>
                      <a:pt x="750" y="409"/>
                      <a:pt x="751" y="406"/>
                    </a:cubicBezTo>
                    <a:cubicBezTo>
                      <a:pt x="752" y="404"/>
                      <a:pt x="752" y="414"/>
                      <a:pt x="752" y="416"/>
                    </a:cubicBezTo>
                    <a:cubicBezTo>
                      <a:pt x="752" y="418"/>
                      <a:pt x="756" y="417"/>
                      <a:pt x="758" y="416"/>
                    </a:cubicBezTo>
                    <a:cubicBezTo>
                      <a:pt x="759" y="415"/>
                      <a:pt x="758" y="417"/>
                      <a:pt x="758" y="418"/>
                    </a:cubicBezTo>
                    <a:cubicBezTo>
                      <a:pt x="758" y="419"/>
                      <a:pt x="759" y="418"/>
                      <a:pt x="760" y="418"/>
                    </a:cubicBezTo>
                    <a:cubicBezTo>
                      <a:pt x="761" y="417"/>
                      <a:pt x="761" y="418"/>
                      <a:pt x="763" y="417"/>
                    </a:cubicBezTo>
                    <a:cubicBezTo>
                      <a:pt x="766" y="416"/>
                      <a:pt x="763" y="413"/>
                      <a:pt x="761" y="413"/>
                    </a:cubicBezTo>
                    <a:cubicBezTo>
                      <a:pt x="759" y="413"/>
                      <a:pt x="762" y="413"/>
                      <a:pt x="764" y="411"/>
                    </a:cubicBezTo>
                    <a:cubicBezTo>
                      <a:pt x="766" y="410"/>
                      <a:pt x="764" y="410"/>
                      <a:pt x="762" y="410"/>
                    </a:cubicBezTo>
                    <a:cubicBezTo>
                      <a:pt x="760" y="410"/>
                      <a:pt x="763" y="409"/>
                      <a:pt x="763" y="409"/>
                    </a:cubicBezTo>
                    <a:cubicBezTo>
                      <a:pt x="763" y="409"/>
                      <a:pt x="763" y="408"/>
                      <a:pt x="761" y="408"/>
                    </a:cubicBezTo>
                    <a:cubicBezTo>
                      <a:pt x="759" y="408"/>
                      <a:pt x="760" y="407"/>
                      <a:pt x="762" y="407"/>
                    </a:cubicBezTo>
                    <a:cubicBezTo>
                      <a:pt x="764" y="407"/>
                      <a:pt x="762" y="407"/>
                      <a:pt x="763" y="406"/>
                    </a:cubicBezTo>
                    <a:cubicBezTo>
                      <a:pt x="763" y="405"/>
                      <a:pt x="762" y="404"/>
                      <a:pt x="764" y="404"/>
                    </a:cubicBezTo>
                    <a:cubicBezTo>
                      <a:pt x="766" y="403"/>
                      <a:pt x="763" y="403"/>
                      <a:pt x="762" y="403"/>
                    </a:cubicBezTo>
                    <a:cubicBezTo>
                      <a:pt x="761" y="403"/>
                      <a:pt x="763" y="402"/>
                      <a:pt x="760" y="403"/>
                    </a:cubicBezTo>
                    <a:cubicBezTo>
                      <a:pt x="758" y="403"/>
                      <a:pt x="761" y="403"/>
                      <a:pt x="761" y="402"/>
                    </a:cubicBezTo>
                    <a:cubicBezTo>
                      <a:pt x="761" y="401"/>
                      <a:pt x="764" y="402"/>
                      <a:pt x="763" y="401"/>
                    </a:cubicBezTo>
                    <a:cubicBezTo>
                      <a:pt x="762" y="400"/>
                      <a:pt x="760" y="400"/>
                      <a:pt x="756" y="401"/>
                    </a:cubicBezTo>
                    <a:cubicBezTo>
                      <a:pt x="753" y="401"/>
                      <a:pt x="757" y="400"/>
                      <a:pt x="758" y="400"/>
                    </a:cubicBezTo>
                    <a:cubicBezTo>
                      <a:pt x="759" y="399"/>
                      <a:pt x="762" y="399"/>
                      <a:pt x="761" y="399"/>
                    </a:cubicBezTo>
                    <a:cubicBezTo>
                      <a:pt x="761" y="398"/>
                      <a:pt x="761" y="397"/>
                      <a:pt x="762" y="398"/>
                    </a:cubicBezTo>
                    <a:cubicBezTo>
                      <a:pt x="763" y="399"/>
                      <a:pt x="763" y="397"/>
                      <a:pt x="762" y="396"/>
                    </a:cubicBezTo>
                    <a:cubicBezTo>
                      <a:pt x="761" y="395"/>
                      <a:pt x="761" y="395"/>
                      <a:pt x="759" y="395"/>
                    </a:cubicBezTo>
                    <a:cubicBezTo>
                      <a:pt x="758" y="395"/>
                      <a:pt x="760" y="394"/>
                      <a:pt x="761" y="394"/>
                    </a:cubicBezTo>
                    <a:cubicBezTo>
                      <a:pt x="763" y="393"/>
                      <a:pt x="762" y="393"/>
                      <a:pt x="761" y="393"/>
                    </a:cubicBezTo>
                    <a:cubicBezTo>
                      <a:pt x="761" y="393"/>
                      <a:pt x="761" y="392"/>
                      <a:pt x="761" y="392"/>
                    </a:cubicBezTo>
                    <a:cubicBezTo>
                      <a:pt x="762" y="391"/>
                      <a:pt x="762" y="391"/>
                      <a:pt x="762" y="391"/>
                    </a:cubicBezTo>
                    <a:cubicBezTo>
                      <a:pt x="762" y="391"/>
                      <a:pt x="762" y="390"/>
                      <a:pt x="761" y="390"/>
                    </a:cubicBezTo>
                    <a:cubicBezTo>
                      <a:pt x="760" y="389"/>
                      <a:pt x="761" y="390"/>
                      <a:pt x="761" y="389"/>
                    </a:cubicBezTo>
                    <a:cubicBezTo>
                      <a:pt x="762" y="388"/>
                      <a:pt x="760" y="388"/>
                      <a:pt x="759" y="389"/>
                    </a:cubicBezTo>
                    <a:cubicBezTo>
                      <a:pt x="759" y="389"/>
                      <a:pt x="758" y="389"/>
                      <a:pt x="756" y="389"/>
                    </a:cubicBezTo>
                    <a:cubicBezTo>
                      <a:pt x="755" y="389"/>
                      <a:pt x="753" y="392"/>
                      <a:pt x="753" y="393"/>
                    </a:cubicBezTo>
                    <a:cubicBezTo>
                      <a:pt x="753" y="395"/>
                      <a:pt x="753" y="395"/>
                      <a:pt x="752" y="395"/>
                    </a:cubicBezTo>
                    <a:cubicBezTo>
                      <a:pt x="750" y="394"/>
                      <a:pt x="751" y="390"/>
                      <a:pt x="751" y="388"/>
                    </a:cubicBezTo>
                    <a:cubicBezTo>
                      <a:pt x="750" y="387"/>
                      <a:pt x="752" y="386"/>
                      <a:pt x="753" y="386"/>
                    </a:cubicBezTo>
                    <a:cubicBezTo>
                      <a:pt x="754" y="386"/>
                      <a:pt x="754" y="386"/>
                      <a:pt x="756" y="385"/>
                    </a:cubicBezTo>
                    <a:cubicBezTo>
                      <a:pt x="757" y="385"/>
                      <a:pt x="755" y="385"/>
                      <a:pt x="756" y="384"/>
                    </a:cubicBezTo>
                    <a:cubicBezTo>
                      <a:pt x="756" y="384"/>
                      <a:pt x="757" y="384"/>
                      <a:pt x="758" y="383"/>
                    </a:cubicBezTo>
                    <a:cubicBezTo>
                      <a:pt x="760" y="381"/>
                      <a:pt x="758" y="382"/>
                      <a:pt x="757" y="382"/>
                    </a:cubicBezTo>
                    <a:cubicBezTo>
                      <a:pt x="757" y="382"/>
                      <a:pt x="756" y="383"/>
                      <a:pt x="755" y="382"/>
                    </a:cubicBezTo>
                    <a:cubicBezTo>
                      <a:pt x="755" y="381"/>
                      <a:pt x="754" y="382"/>
                      <a:pt x="753" y="383"/>
                    </a:cubicBezTo>
                    <a:cubicBezTo>
                      <a:pt x="753" y="385"/>
                      <a:pt x="751" y="385"/>
                      <a:pt x="750" y="385"/>
                    </a:cubicBezTo>
                    <a:cubicBezTo>
                      <a:pt x="749" y="386"/>
                      <a:pt x="749" y="387"/>
                      <a:pt x="749" y="385"/>
                    </a:cubicBezTo>
                    <a:cubicBezTo>
                      <a:pt x="748" y="384"/>
                      <a:pt x="750" y="383"/>
                      <a:pt x="750" y="383"/>
                    </a:cubicBezTo>
                    <a:cubicBezTo>
                      <a:pt x="750" y="383"/>
                      <a:pt x="750" y="383"/>
                      <a:pt x="751" y="382"/>
                    </a:cubicBezTo>
                    <a:cubicBezTo>
                      <a:pt x="752" y="380"/>
                      <a:pt x="751" y="381"/>
                      <a:pt x="750" y="381"/>
                    </a:cubicBezTo>
                    <a:cubicBezTo>
                      <a:pt x="748" y="382"/>
                      <a:pt x="746" y="382"/>
                      <a:pt x="745" y="383"/>
                    </a:cubicBezTo>
                    <a:cubicBezTo>
                      <a:pt x="744" y="384"/>
                      <a:pt x="743" y="384"/>
                      <a:pt x="742" y="385"/>
                    </a:cubicBezTo>
                    <a:cubicBezTo>
                      <a:pt x="741" y="385"/>
                      <a:pt x="742" y="383"/>
                      <a:pt x="743" y="383"/>
                    </a:cubicBezTo>
                    <a:cubicBezTo>
                      <a:pt x="744" y="382"/>
                      <a:pt x="745" y="381"/>
                      <a:pt x="746" y="380"/>
                    </a:cubicBezTo>
                    <a:cubicBezTo>
                      <a:pt x="747" y="379"/>
                      <a:pt x="747" y="379"/>
                      <a:pt x="748" y="379"/>
                    </a:cubicBezTo>
                    <a:cubicBezTo>
                      <a:pt x="749" y="379"/>
                      <a:pt x="749" y="378"/>
                      <a:pt x="750" y="377"/>
                    </a:cubicBezTo>
                    <a:cubicBezTo>
                      <a:pt x="751" y="376"/>
                      <a:pt x="747" y="375"/>
                      <a:pt x="747" y="375"/>
                    </a:cubicBezTo>
                    <a:cubicBezTo>
                      <a:pt x="747" y="375"/>
                      <a:pt x="743" y="374"/>
                      <a:pt x="742" y="374"/>
                    </a:cubicBezTo>
                    <a:cubicBezTo>
                      <a:pt x="741" y="375"/>
                      <a:pt x="741" y="374"/>
                      <a:pt x="740" y="373"/>
                    </a:cubicBezTo>
                    <a:cubicBezTo>
                      <a:pt x="740" y="372"/>
                      <a:pt x="737" y="371"/>
                      <a:pt x="736" y="371"/>
                    </a:cubicBezTo>
                    <a:cubicBezTo>
                      <a:pt x="735" y="370"/>
                      <a:pt x="734" y="371"/>
                      <a:pt x="733" y="371"/>
                    </a:cubicBezTo>
                    <a:cubicBezTo>
                      <a:pt x="732" y="371"/>
                      <a:pt x="732" y="372"/>
                      <a:pt x="731" y="371"/>
                    </a:cubicBezTo>
                    <a:cubicBezTo>
                      <a:pt x="730" y="370"/>
                      <a:pt x="731" y="369"/>
                      <a:pt x="730" y="368"/>
                    </a:cubicBezTo>
                    <a:cubicBezTo>
                      <a:pt x="729" y="366"/>
                      <a:pt x="728" y="367"/>
                      <a:pt x="727" y="366"/>
                    </a:cubicBezTo>
                    <a:cubicBezTo>
                      <a:pt x="726" y="366"/>
                      <a:pt x="724" y="365"/>
                      <a:pt x="723" y="365"/>
                    </a:cubicBezTo>
                    <a:cubicBezTo>
                      <a:pt x="722" y="364"/>
                      <a:pt x="721" y="363"/>
                      <a:pt x="720" y="363"/>
                    </a:cubicBezTo>
                    <a:cubicBezTo>
                      <a:pt x="719" y="363"/>
                      <a:pt x="716" y="363"/>
                      <a:pt x="715" y="363"/>
                    </a:cubicBezTo>
                    <a:cubicBezTo>
                      <a:pt x="714" y="364"/>
                      <a:pt x="712" y="364"/>
                      <a:pt x="711" y="365"/>
                    </a:cubicBezTo>
                    <a:cubicBezTo>
                      <a:pt x="710" y="365"/>
                      <a:pt x="710" y="365"/>
                      <a:pt x="708" y="370"/>
                    </a:cubicBezTo>
                    <a:cubicBezTo>
                      <a:pt x="706" y="374"/>
                      <a:pt x="706" y="369"/>
                      <a:pt x="708" y="366"/>
                    </a:cubicBezTo>
                    <a:cubicBezTo>
                      <a:pt x="709" y="363"/>
                      <a:pt x="708" y="364"/>
                      <a:pt x="703" y="363"/>
                    </a:cubicBezTo>
                    <a:cubicBezTo>
                      <a:pt x="698" y="363"/>
                      <a:pt x="707" y="362"/>
                      <a:pt x="709" y="362"/>
                    </a:cubicBezTo>
                    <a:cubicBezTo>
                      <a:pt x="710" y="363"/>
                      <a:pt x="717" y="361"/>
                      <a:pt x="718" y="361"/>
                    </a:cubicBezTo>
                    <a:cubicBezTo>
                      <a:pt x="720" y="360"/>
                      <a:pt x="719" y="360"/>
                      <a:pt x="719" y="359"/>
                    </a:cubicBezTo>
                    <a:cubicBezTo>
                      <a:pt x="718" y="358"/>
                      <a:pt x="718" y="358"/>
                      <a:pt x="718" y="356"/>
                    </a:cubicBezTo>
                    <a:cubicBezTo>
                      <a:pt x="717" y="354"/>
                      <a:pt x="717" y="355"/>
                      <a:pt x="716" y="355"/>
                    </a:cubicBezTo>
                    <a:cubicBezTo>
                      <a:pt x="715" y="355"/>
                      <a:pt x="712" y="353"/>
                      <a:pt x="711" y="353"/>
                    </a:cubicBezTo>
                    <a:cubicBezTo>
                      <a:pt x="710" y="352"/>
                      <a:pt x="710" y="353"/>
                      <a:pt x="709" y="352"/>
                    </a:cubicBezTo>
                    <a:cubicBezTo>
                      <a:pt x="707" y="352"/>
                      <a:pt x="707" y="352"/>
                      <a:pt x="706" y="351"/>
                    </a:cubicBezTo>
                    <a:cubicBezTo>
                      <a:pt x="704" y="351"/>
                      <a:pt x="699" y="354"/>
                      <a:pt x="698" y="354"/>
                    </a:cubicBezTo>
                    <a:cubicBezTo>
                      <a:pt x="697" y="355"/>
                      <a:pt x="697" y="354"/>
                      <a:pt x="694" y="357"/>
                    </a:cubicBezTo>
                    <a:cubicBezTo>
                      <a:pt x="691" y="360"/>
                      <a:pt x="693" y="356"/>
                      <a:pt x="693" y="355"/>
                    </a:cubicBezTo>
                    <a:cubicBezTo>
                      <a:pt x="693" y="354"/>
                      <a:pt x="692" y="354"/>
                      <a:pt x="690" y="354"/>
                    </a:cubicBezTo>
                    <a:cubicBezTo>
                      <a:pt x="687" y="355"/>
                      <a:pt x="687" y="354"/>
                      <a:pt x="688" y="353"/>
                    </a:cubicBezTo>
                    <a:cubicBezTo>
                      <a:pt x="688" y="351"/>
                      <a:pt x="687" y="352"/>
                      <a:pt x="682" y="352"/>
                    </a:cubicBezTo>
                    <a:cubicBezTo>
                      <a:pt x="677" y="352"/>
                      <a:pt x="680" y="351"/>
                      <a:pt x="681" y="351"/>
                    </a:cubicBezTo>
                    <a:cubicBezTo>
                      <a:pt x="681" y="351"/>
                      <a:pt x="683" y="351"/>
                      <a:pt x="685" y="350"/>
                    </a:cubicBezTo>
                    <a:cubicBezTo>
                      <a:pt x="688" y="350"/>
                      <a:pt x="691" y="351"/>
                      <a:pt x="691" y="351"/>
                    </a:cubicBezTo>
                    <a:cubicBezTo>
                      <a:pt x="697" y="353"/>
                      <a:pt x="699" y="352"/>
                      <a:pt x="701" y="351"/>
                    </a:cubicBezTo>
                    <a:cubicBezTo>
                      <a:pt x="703" y="350"/>
                      <a:pt x="704" y="349"/>
                      <a:pt x="708" y="349"/>
                    </a:cubicBezTo>
                    <a:cubicBezTo>
                      <a:pt x="712" y="349"/>
                      <a:pt x="711" y="347"/>
                      <a:pt x="712" y="346"/>
                    </a:cubicBezTo>
                    <a:cubicBezTo>
                      <a:pt x="712" y="344"/>
                      <a:pt x="711" y="344"/>
                      <a:pt x="710" y="344"/>
                    </a:cubicBezTo>
                    <a:cubicBezTo>
                      <a:pt x="709" y="344"/>
                      <a:pt x="707" y="343"/>
                      <a:pt x="706" y="343"/>
                    </a:cubicBezTo>
                    <a:cubicBezTo>
                      <a:pt x="704" y="343"/>
                      <a:pt x="701" y="341"/>
                      <a:pt x="699" y="341"/>
                    </a:cubicBezTo>
                    <a:cubicBezTo>
                      <a:pt x="698" y="341"/>
                      <a:pt x="696" y="341"/>
                      <a:pt x="695" y="341"/>
                    </a:cubicBezTo>
                    <a:cubicBezTo>
                      <a:pt x="693" y="341"/>
                      <a:pt x="691" y="342"/>
                      <a:pt x="690" y="343"/>
                    </a:cubicBezTo>
                    <a:cubicBezTo>
                      <a:pt x="688" y="344"/>
                      <a:pt x="685" y="343"/>
                      <a:pt x="683" y="343"/>
                    </a:cubicBezTo>
                    <a:cubicBezTo>
                      <a:pt x="681" y="343"/>
                      <a:pt x="680" y="343"/>
                      <a:pt x="680" y="345"/>
                    </a:cubicBezTo>
                    <a:cubicBezTo>
                      <a:pt x="679" y="346"/>
                      <a:pt x="679" y="347"/>
                      <a:pt x="678" y="347"/>
                    </a:cubicBezTo>
                    <a:cubicBezTo>
                      <a:pt x="676" y="348"/>
                      <a:pt x="677" y="345"/>
                      <a:pt x="678" y="344"/>
                    </a:cubicBezTo>
                    <a:cubicBezTo>
                      <a:pt x="679" y="343"/>
                      <a:pt x="678" y="343"/>
                      <a:pt x="677" y="343"/>
                    </a:cubicBezTo>
                    <a:cubicBezTo>
                      <a:pt x="675" y="343"/>
                      <a:pt x="675" y="343"/>
                      <a:pt x="676" y="342"/>
                    </a:cubicBezTo>
                    <a:cubicBezTo>
                      <a:pt x="677" y="342"/>
                      <a:pt x="678" y="342"/>
                      <a:pt x="680" y="341"/>
                    </a:cubicBezTo>
                    <a:cubicBezTo>
                      <a:pt x="681" y="341"/>
                      <a:pt x="686" y="342"/>
                      <a:pt x="687" y="342"/>
                    </a:cubicBezTo>
                    <a:cubicBezTo>
                      <a:pt x="689" y="343"/>
                      <a:pt x="690" y="340"/>
                      <a:pt x="691" y="339"/>
                    </a:cubicBezTo>
                    <a:cubicBezTo>
                      <a:pt x="691" y="338"/>
                      <a:pt x="688" y="338"/>
                      <a:pt x="687" y="338"/>
                    </a:cubicBezTo>
                    <a:cubicBezTo>
                      <a:pt x="686" y="337"/>
                      <a:pt x="682" y="336"/>
                      <a:pt x="681" y="336"/>
                    </a:cubicBezTo>
                    <a:cubicBezTo>
                      <a:pt x="680" y="335"/>
                      <a:pt x="681" y="334"/>
                      <a:pt x="679" y="334"/>
                    </a:cubicBezTo>
                    <a:cubicBezTo>
                      <a:pt x="677" y="333"/>
                      <a:pt x="679" y="333"/>
                      <a:pt x="680" y="333"/>
                    </a:cubicBezTo>
                    <a:cubicBezTo>
                      <a:pt x="680" y="333"/>
                      <a:pt x="683" y="335"/>
                      <a:pt x="684" y="335"/>
                    </a:cubicBezTo>
                    <a:cubicBezTo>
                      <a:pt x="685" y="336"/>
                      <a:pt x="690" y="337"/>
                      <a:pt x="691" y="337"/>
                    </a:cubicBezTo>
                    <a:cubicBezTo>
                      <a:pt x="693" y="337"/>
                      <a:pt x="695" y="338"/>
                      <a:pt x="696" y="339"/>
                    </a:cubicBezTo>
                    <a:cubicBezTo>
                      <a:pt x="697" y="340"/>
                      <a:pt x="700" y="339"/>
                      <a:pt x="702" y="339"/>
                    </a:cubicBezTo>
                    <a:cubicBezTo>
                      <a:pt x="703" y="339"/>
                      <a:pt x="705" y="336"/>
                      <a:pt x="708" y="334"/>
                    </a:cubicBezTo>
                    <a:cubicBezTo>
                      <a:pt x="711" y="332"/>
                      <a:pt x="712" y="329"/>
                      <a:pt x="712" y="328"/>
                    </a:cubicBezTo>
                    <a:cubicBezTo>
                      <a:pt x="712" y="326"/>
                      <a:pt x="709" y="325"/>
                      <a:pt x="708" y="325"/>
                    </a:cubicBezTo>
                    <a:cubicBezTo>
                      <a:pt x="707" y="324"/>
                      <a:pt x="706" y="324"/>
                      <a:pt x="704" y="321"/>
                    </a:cubicBezTo>
                    <a:cubicBezTo>
                      <a:pt x="702" y="319"/>
                      <a:pt x="706" y="321"/>
                      <a:pt x="707" y="322"/>
                    </a:cubicBezTo>
                    <a:cubicBezTo>
                      <a:pt x="708" y="323"/>
                      <a:pt x="711" y="325"/>
                      <a:pt x="712" y="326"/>
                    </a:cubicBezTo>
                    <a:cubicBezTo>
                      <a:pt x="713" y="326"/>
                      <a:pt x="714" y="327"/>
                      <a:pt x="714" y="328"/>
                    </a:cubicBezTo>
                    <a:cubicBezTo>
                      <a:pt x="715" y="330"/>
                      <a:pt x="716" y="330"/>
                      <a:pt x="718" y="330"/>
                    </a:cubicBezTo>
                    <a:cubicBezTo>
                      <a:pt x="720" y="330"/>
                      <a:pt x="720" y="330"/>
                      <a:pt x="721" y="331"/>
                    </a:cubicBezTo>
                    <a:cubicBezTo>
                      <a:pt x="723" y="331"/>
                      <a:pt x="722" y="329"/>
                      <a:pt x="722" y="328"/>
                    </a:cubicBezTo>
                    <a:cubicBezTo>
                      <a:pt x="722" y="326"/>
                      <a:pt x="723" y="325"/>
                      <a:pt x="724" y="325"/>
                    </a:cubicBezTo>
                    <a:cubicBezTo>
                      <a:pt x="725" y="324"/>
                      <a:pt x="730" y="325"/>
                      <a:pt x="731" y="325"/>
                    </a:cubicBezTo>
                    <a:cubicBezTo>
                      <a:pt x="732" y="325"/>
                      <a:pt x="734" y="326"/>
                      <a:pt x="735" y="326"/>
                    </a:cubicBezTo>
                    <a:cubicBezTo>
                      <a:pt x="736" y="326"/>
                      <a:pt x="742" y="328"/>
                      <a:pt x="745" y="329"/>
                    </a:cubicBezTo>
                    <a:cubicBezTo>
                      <a:pt x="748" y="330"/>
                      <a:pt x="747" y="330"/>
                      <a:pt x="752" y="328"/>
                    </a:cubicBezTo>
                    <a:cubicBezTo>
                      <a:pt x="758" y="327"/>
                      <a:pt x="754" y="329"/>
                      <a:pt x="752" y="330"/>
                    </a:cubicBezTo>
                    <a:cubicBezTo>
                      <a:pt x="751" y="330"/>
                      <a:pt x="748" y="331"/>
                      <a:pt x="747" y="331"/>
                    </a:cubicBezTo>
                    <a:cubicBezTo>
                      <a:pt x="745" y="330"/>
                      <a:pt x="738" y="328"/>
                      <a:pt x="736" y="327"/>
                    </a:cubicBezTo>
                    <a:cubicBezTo>
                      <a:pt x="735" y="326"/>
                      <a:pt x="734" y="326"/>
                      <a:pt x="730" y="326"/>
                    </a:cubicBezTo>
                    <a:cubicBezTo>
                      <a:pt x="726" y="326"/>
                      <a:pt x="729" y="329"/>
                      <a:pt x="729" y="330"/>
                    </a:cubicBezTo>
                    <a:cubicBezTo>
                      <a:pt x="730" y="331"/>
                      <a:pt x="738" y="335"/>
                      <a:pt x="740" y="335"/>
                    </a:cubicBezTo>
                    <a:cubicBezTo>
                      <a:pt x="741" y="335"/>
                      <a:pt x="741" y="337"/>
                      <a:pt x="743" y="337"/>
                    </a:cubicBezTo>
                    <a:cubicBezTo>
                      <a:pt x="744" y="337"/>
                      <a:pt x="748" y="338"/>
                      <a:pt x="749" y="338"/>
                    </a:cubicBezTo>
                    <a:cubicBezTo>
                      <a:pt x="750" y="338"/>
                      <a:pt x="752" y="339"/>
                      <a:pt x="754" y="339"/>
                    </a:cubicBezTo>
                    <a:cubicBezTo>
                      <a:pt x="755" y="340"/>
                      <a:pt x="757" y="338"/>
                      <a:pt x="758" y="337"/>
                    </a:cubicBezTo>
                    <a:cubicBezTo>
                      <a:pt x="759" y="337"/>
                      <a:pt x="761" y="336"/>
                      <a:pt x="763" y="336"/>
                    </a:cubicBezTo>
                    <a:cubicBezTo>
                      <a:pt x="765" y="335"/>
                      <a:pt x="765" y="335"/>
                      <a:pt x="765" y="333"/>
                    </a:cubicBezTo>
                    <a:cubicBezTo>
                      <a:pt x="765" y="332"/>
                      <a:pt x="768" y="333"/>
                      <a:pt x="770" y="334"/>
                    </a:cubicBezTo>
                    <a:cubicBezTo>
                      <a:pt x="771" y="334"/>
                      <a:pt x="774" y="333"/>
                      <a:pt x="776" y="333"/>
                    </a:cubicBezTo>
                    <a:cubicBezTo>
                      <a:pt x="778" y="333"/>
                      <a:pt x="779" y="334"/>
                      <a:pt x="781" y="333"/>
                    </a:cubicBezTo>
                    <a:cubicBezTo>
                      <a:pt x="782" y="332"/>
                      <a:pt x="781" y="331"/>
                      <a:pt x="781" y="330"/>
                    </a:cubicBezTo>
                    <a:cubicBezTo>
                      <a:pt x="781" y="329"/>
                      <a:pt x="780" y="327"/>
                      <a:pt x="780" y="326"/>
                    </a:cubicBezTo>
                    <a:cubicBezTo>
                      <a:pt x="780" y="325"/>
                      <a:pt x="781" y="325"/>
                      <a:pt x="781" y="325"/>
                    </a:cubicBezTo>
                    <a:cubicBezTo>
                      <a:pt x="781" y="324"/>
                      <a:pt x="782" y="324"/>
                      <a:pt x="783" y="323"/>
                    </a:cubicBezTo>
                    <a:cubicBezTo>
                      <a:pt x="785" y="321"/>
                      <a:pt x="781" y="320"/>
                      <a:pt x="781" y="320"/>
                    </a:cubicBezTo>
                    <a:cubicBezTo>
                      <a:pt x="781" y="320"/>
                      <a:pt x="765" y="317"/>
                      <a:pt x="763" y="316"/>
                    </a:cubicBezTo>
                    <a:cubicBezTo>
                      <a:pt x="761" y="316"/>
                      <a:pt x="761" y="317"/>
                      <a:pt x="760" y="318"/>
                    </a:cubicBezTo>
                    <a:cubicBezTo>
                      <a:pt x="759" y="319"/>
                      <a:pt x="760" y="319"/>
                      <a:pt x="761" y="320"/>
                    </a:cubicBezTo>
                    <a:cubicBezTo>
                      <a:pt x="762" y="321"/>
                      <a:pt x="762" y="323"/>
                      <a:pt x="762" y="324"/>
                    </a:cubicBezTo>
                    <a:cubicBezTo>
                      <a:pt x="762" y="326"/>
                      <a:pt x="762" y="328"/>
                      <a:pt x="761" y="328"/>
                    </a:cubicBezTo>
                    <a:cubicBezTo>
                      <a:pt x="760" y="328"/>
                      <a:pt x="760" y="325"/>
                      <a:pt x="761" y="324"/>
                    </a:cubicBezTo>
                    <a:cubicBezTo>
                      <a:pt x="761" y="323"/>
                      <a:pt x="760" y="322"/>
                      <a:pt x="759" y="321"/>
                    </a:cubicBezTo>
                    <a:cubicBezTo>
                      <a:pt x="758" y="320"/>
                      <a:pt x="755" y="318"/>
                      <a:pt x="753" y="316"/>
                    </a:cubicBezTo>
                    <a:cubicBezTo>
                      <a:pt x="751" y="315"/>
                      <a:pt x="753" y="315"/>
                      <a:pt x="754" y="315"/>
                    </a:cubicBezTo>
                    <a:cubicBezTo>
                      <a:pt x="755" y="315"/>
                      <a:pt x="755" y="315"/>
                      <a:pt x="756" y="314"/>
                    </a:cubicBezTo>
                    <a:cubicBezTo>
                      <a:pt x="757" y="313"/>
                      <a:pt x="756" y="312"/>
                      <a:pt x="757" y="312"/>
                    </a:cubicBezTo>
                    <a:cubicBezTo>
                      <a:pt x="757" y="311"/>
                      <a:pt x="757" y="310"/>
                      <a:pt x="756" y="310"/>
                    </a:cubicBezTo>
                    <a:cubicBezTo>
                      <a:pt x="755" y="309"/>
                      <a:pt x="755" y="309"/>
                      <a:pt x="756" y="309"/>
                    </a:cubicBezTo>
                    <a:cubicBezTo>
                      <a:pt x="757" y="308"/>
                      <a:pt x="758" y="309"/>
                      <a:pt x="759" y="307"/>
                    </a:cubicBezTo>
                    <a:cubicBezTo>
                      <a:pt x="761" y="306"/>
                      <a:pt x="761" y="304"/>
                      <a:pt x="759" y="302"/>
                    </a:cubicBezTo>
                    <a:cubicBezTo>
                      <a:pt x="757" y="301"/>
                      <a:pt x="757" y="301"/>
                      <a:pt x="758" y="301"/>
                    </a:cubicBezTo>
                    <a:cubicBezTo>
                      <a:pt x="759" y="301"/>
                      <a:pt x="759" y="302"/>
                      <a:pt x="761" y="303"/>
                    </a:cubicBezTo>
                    <a:cubicBezTo>
                      <a:pt x="762" y="305"/>
                      <a:pt x="765" y="305"/>
                      <a:pt x="767" y="304"/>
                    </a:cubicBezTo>
                    <a:cubicBezTo>
                      <a:pt x="769" y="304"/>
                      <a:pt x="776" y="304"/>
                      <a:pt x="778" y="304"/>
                    </a:cubicBezTo>
                    <a:cubicBezTo>
                      <a:pt x="780" y="305"/>
                      <a:pt x="782" y="304"/>
                      <a:pt x="784" y="307"/>
                    </a:cubicBezTo>
                    <a:cubicBezTo>
                      <a:pt x="786" y="310"/>
                      <a:pt x="788" y="310"/>
                      <a:pt x="792" y="311"/>
                    </a:cubicBezTo>
                    <a:cubicBezTo>
                      <a:pt x="797" y="312"/>
                      <a:pt x="799" y="308"/>
                      <a:pt x="800" y="307"/>
                    </a:cubicBezTo>
                    <a:cubicBezTo>
                      <a:pt x="801" y="306"/>
                      <a:pt x="802" y="305"/>
                      <a:pt x="803" y="304"/>
                    </a:cubicBezTo>
                    <a:cubicBezTo>
                      <a:pt x="804" y="303"/>
                      <a:pt x="801" y="303"/>
                      <a:pt x="800" y="303"/>
                    </a:cubicBezTo>
                    <a:cubicBezTo>
                      <a:pt x="799" y="302"/>
                      <a:pt x="799" y="302"/>
                      <a:pt x="798" y="302"/>
                    </a:cubicBezTo>
                    <a:cubicBezTo>
                      <a:pt x="798" y="302"/>
                      <a:pt x="798" y="301"/>
                      <a:pt x="798" y="300"/>
                    </a:cubicBezTo>
                    <a:cubicBezTo>
                      <a:pt x="799" y="300"/>
                      <a:pt x="799" y="299"/>
                      <a:pt x="798" y="298"/>
                    </a:cubicBezTo>
                    <a:cubicBezTo>
                      <a:pt x="797" y="297"/>
                      <a:pt x="796" y="298"/>
                      <a:pt x="794" y="300"/>
                    </a:cubicBezTo>
                    <a:cubicBezTo>
                      <a:pt x="792" y="301"/>
                      <a:pt x="789" y="300"/>
                      <a:pt x="787" y="298"/>
                    </a:cubicBezTo>
                    <a:cubicBezTo>
                      <a:pt x="786" y="297"/>
                      <a:pt x="781" y="298"/>
                      <a:pt x="780" y="298"/>
                    </a:cubicBezTo>
                    <a:cubicBezTo>
                      <a:pt x="779" y="299"/>
                      <a:pt x="776" y="299"/>
                      <a:pt x="773" y="299"/>
                    </a:cubicBezTo>
                    <a:cubicBezTo>
                      <a:pt x="770" y="299"/>
                      <a:pt x="772" y="298"/>
                      <a:pt x="773" y="298"/>
                    </a:cubicBezTo>
                    <a:cubicBezTo>
                      <a:pt x="774" y="298"/>
                      <a:pt x="776" y="298"/>
                      <a:pt x="777" y="297"/>
                    </a:cubicBezTo>
                    <a:cubicBezTo>
                      <a:pt x="779" y="296"/>
                      <a:pt x="778" y="296"/>
                      <a:pt x="777" y="295"/>
                    </a:cubicBezTo>
                    <a:cubicBezTo>
                      <a:pt x="777" y="295"/>
                      <a:pt x="777" y="293"/>
                      <a:pt x="777" y="292"/>
                    </a:cubicBezTo>
                    <a:cubicBezTo>
                      <a:pt x="777" y="291"/>
                      <a:pt x="778" y="290"/>
                      <a:pt x="777" y="290"/>
                    </a:cubicBezTo>
                    <a:cubicBezTo>
                      <a:pt x="777" y="289"/>
                      <a:pt x="778" y="288"/>
                      <a:pt x="778" y="287"/>
                    </a:cubicBezTo>
                    <a:cubicBezTo>
                      <a:pt x="778" y="286"/>
                      <a:pt x="777" y="286"/>
                      <a:pt x="776" y="287"/>
                    </a:cubicBezTo>
                    <a:cubicBezTo>
                      <a:pt x="775" y="287"/>
                      <a:pt x="775" y="287"/>
                      <a:pt x="773" y="286"/>
                    </a:cubicBezTo>
                    <a:cubicBezTo>
                      <a:pt x="771" y="286"/>
                      <a:pt x="771" y="286"/>
                      <a:pt x="772" y="285"/>
                    </a:cubicBezTo>
                    <a:cubicBezTo>
                      <a:pt x="773" y="285"/>
                      <a:pt x="776" y="284"/>
                      <a:pt x="778" y="285"/>
                    </a:cubicBezTo>
                    <a:cubicBezTo>
                      <a:pt x="780" y="285"/>
                      <a:pt x="779" y="283"/>
                      <a:pt x="778" y="283"/>
                    </a:cubicBezTo>
                    <a:cubicBezTo>
                      <a:pt x="778" y="282"/>
                      <a:pt x="771" y="278"/>
                      <a:pt x="769" y="278"/>
                    </a:cubicBezTo>
                    <a:cubicBezTo>
                      <a:pt x="767" y="277"/>
                      <a:pt x="767" y="276"/>
                      <a:pt x="765" y="275"/>
                    </a:cubicBezTo>
                    <a:cubicBezTo>
                      <a:pt x="763" y="275"/>
                      <a:pt x="756" y="275"/>
                      <a:pt x="752" y="274"/>
                    </a:cubicBezTo>
                    <a:cubicBezTo>
                      <a:pt x="748" y="272"/>
                      <a:pt x="753" y="271"/>
                      <a:pt x="755" y="273"/>
                    </a:cubicBezTo>
                    <a:cubicBezTo>
                      <a:pt x="757" y="274"/>
                      <a:pt x="761" y="274"/>
                      <a:pt x="764" y="275"/>
                    </a:cubicBezTo>
                    <a:cubicBezTo>
                      <a:pt x="766" y="275"/>
                      <a:pt x="766" y="274"/>
                      <a:pt x="765" y="274"/>
                    </a:cubicBezTo>
                    <a:cubicBezTo>
                      <a:pt x="765" y="273"/>
                      <a:pt x="763" y="272"/>
                      <a:pt x="757" y="270"/>
                    </a:cubicBezTo>
                    <a:cubicBezTo>
                      <a:pt x="751" y="268"/>
                      <a:pt x="760" y="270"/>
                      <a:pt x="763" y="271"/>
                    </a:cubicBezTo>
                    <a:cubicBezTo>
                      <a:pt x="766" y="272"/>
                      <a:pt x="770" y="274"/>
                      <a:pt x="770" y="275"/>
                    </a:cubicBezTo>
                    <a:cubicBezTo>
                      <a:pt x="771" y="276"/>
                      <a:pt x="773" y="277"/>
                      <a:pt x="774" y="278"/>
                    </a:cubicBezTo>
                    <a:cubicBezTo>
                      <a:pt x="775" y="278"/>
                      <a:pt x="777" y="279"/>
                      <a:pt x="779" y="280"/>
                    </a:cubicBezTo>
                    <a:cubicBezTo>
                      <a:pt x="780" y="280"/>
                      <a:pt x="784" y="279"/>
                      <a:pt x="785" y="278"/>
                    </a:cubicBezTo>
                    <a:cubicBezTo>
                      <a:pt x="787" y="278"/>
                      <a:pt x="789" y="279"/>
                      <a:pt x="788" y="282"/>
                    </a:cubicBezTo>
                    <a:cubicBezTo>
                      <a:pt x="787" y="284"/>
                      <a:pt x="790" y="285"/>
                      <a:pt x="793" y="284"/>
                    </a:cubicBezTo>
                    <a:cubicBezTo>
                      <a:pt x="797" y="283"/>
                      <a:pt x="797" y="278"/>
                      <a:pt x="798" y="276"/>
                    </a:cubicBezTo>
                    <a:cubicBezTo>
                      <a:pt x="798" y="275"/>
                      <a:pt x="794" y="269"/>
                      <a:pt x="793" y="268"/>
                    </a:cubicBezTo>
                    <a:cubicBezTo>
                      <a:pt x="793" y="268"/>
                      <a:pt x="794" y="267"/>
                      <a:pt x="796" y="267"/>
                    </a:cubicBezTo>
                    <a:cubicBezTo>
                      <a:pt x="798" y="266"/>
                      <a:pt x="795" y="265"/>
                      <a:pt x="794" y="264"/>
                    </a:cubicBezTo>
                    <a:cubicBezTo>
                      <a:pt x="793" y="263"/>
                      <a:pt x="792" y="262"/>
                      <a:pt x="791" y="262"/>
                    </a:cubicBezTo>
                    <a:cubicBezTo>
                      <a:pt x="790" y="261"/>
                      <a:pt x="788" y="260"/>
                      <a:pt x="787" y="260"/>
                    </a:cubicBezTo>
                    <a:cubicBezTo>
                      <a:pt x="786" y="261"/>
                      <a:pt x="782" y="260"/>
                      <a:pt x="781" y="260"/>
                    </a:cubicBezTo>
                    <a:cubicBezTo>
                      <a:pt x="779" y="260"/>
                      <a:pt x="771" y="259"/>
                      <a:pt x="766" y="260"/>
                    </a:cubicBezTo>
                    <a:cubicBezTo>
                      <a:pt x="762" y="260"/>
                      <a:pt x="760" y="260"/>
                      <a:pt x="760" y="259"/>
                    </a:cubicBezTo>
                    <a:cubicBezTo>
                      <a:pt x="759" y="258"/>
                      <a:pt x="761" y="259"/>
                      <a:pt x="762" y="259"/>
                    </a:cubicBezTo>
                    <a:cubicBezTo>
                      <a:pt x="763" y="260"/>
                      <a:pt x="764" y="259"/>
                      <a:pt x="766" y="259"/>
                    </a:cubicBezTo>
                    <a:cubicBezTo>
                      <a:pt x="768" y="258"/>
                      <a:pt x="777" y="258"/>
                      <a:pt x="778" y="259"/>
                    </a:cubicBezTo>
                    <a:cubicBezTo>
                      <a:pt x="780" y="259"/>
                      <a:pt x="784" y="259"/>
                      <a:pt x="785" y="258"/>
                    </a:cubicBezTo>
                    <a:cubicBezTo>
                      <a:pt x="785" y="258"/>
                      <a:pt x="788" y="256"/>
                      <a:pt x="789" y="257"/>
                    </a:cubicBezTo>
                    <a:cubicBezTo>
                      <a:pt x="790" y="257"/>
                      <a:pt x="791" y="257"/>
                      <a:pt x="792" y="256"/>
                    </a:cubicBezTo>
                    <a:cubicBezTo>
                      <a:pt x="794" y="254"/>
                      <a:pt x="791" y="253"/>
                      <a:pt x="790" y="252"/>
                    </a:cubicBezTo>
                    <a:cubicBezTo>
                      <a:pt x="788" y="251"/>
                      <a:pt x="785" y="251"/>
                      <a:pt x="784" y="251"/>
                    </a:cubicBezTo>
                    <a:cubicBezTo>
                      <a:pt x="784" y="252"/>
                      <a:pt x="782" y="252"/>
                      <a:pt x="781" y="251"/>
                    </a:cubicBezTo>
                    <a:cubicBezTo>
                      <a:pt x="780" y="251"/>
                      <a:pt x="777" y="250"/>
                      <a:pt x="776" y="249"/>
                    </a:cubicBezTo>
                    <a:cubicBezTo>
                      <a:pt x="775" y="249"/>
                      <a:pt x="774" y="249"/>
                      <a:pt x="773" y="249"/>
                    </a:cubicBezTo>
                    <a:cubicBezTo>
                      <a:pt x="771" y="249"/>
                      <a:pt x="777" y="252"/>
                      <a:pt x="779" y="253"/>
                    </a:cubicBezTo>
                    <a:cubicBezTo>
                      <a:pt x="781" y="253"/>
                      <a:pt x="781" y="254"/>
                      <a:pt x="781" y="254"/>
                    </a:cubicBezTo>
                    <a:cubicBezTo>
                      <a:pt x="781" y="255"/>
                      <a:pt x="779" y="255"/>
                      <a:pt x="778" y="254"/>
                    </a:cubicBezTo>
                    <a:cubicBezTo>
                      <a:pt x="777" y="253"/>
                      <a:pt x="776" y="253"/>
                      <a:pt x="774" y="251"/>
                    </a:cubicBezTo>
                    <a:cubicBezTo>
                      <a:pt x="772" y="249"/>
                      <a:pt x="770" y="250"/>
                      <a:pt x="769" y="250"/>
                    </a:cubicBezTo>
                    <a:cubicBezTo>
                      <a:pt x="769" y="250"/>
                      <a:pt x="768" y="251"/>
                      <a:pt x="768" y="251"/>
                    </a:cubicBezTo>
                    <a:cubicBezTo>
                      <a:pt x="767" y="250"/>
                      <a:pt x="767" y="250"/>
                      <a:pt x="766" y="251"/>
                    </a:cubicBezTo>
                    <a:cubicBezTo>
                      <a:pt x="765" y="252"/>
                      <a:pt x="764" y="251"/>
                      <a:pt x="763" y="251"/>
                    </a:cubicBezTo>
                    <a:cubicBezTo>
                      <a:pt x="762" y="251"/>
                      <a:pt x="763" y="249"/>
                      <a:pt x="764" y="247"/>
                    </a:cubicBezTo>
                    <a:cubicBezTo>
                      <a:pt x="765" y="245"/>
                      <a:pt x="762" y="245"/>
                      <a:pt x="759" y="246"/>
                    </a:cubicBezTo>
                    <a:cubicBezTo>
                      <a:pt x="757" y="246"/>
                      <a:pt x="754" y="245"/>
                      <a:pt x="752" y="245"/>
                    </a:cubicBezTo>
                    <a:cubicBezTo>
                      <a:pt x="751" y="245"/>
                      <a:pt x="752" y="244"/>
                      <a:pt x="752" y="244"/>
                    </a:cubicBezTo>
                    <a:cubicBezTo>
                      <a:pt x="753" y="243"/>
                      <a:pt x="753" y="243"/>
                      <a:pt x="755" y="244"/>
                    </a:cubicBezTo>
                    <a:cubicBezTo>
                      <a:pt x="756" y="246"/>
                      <a:pt x="760" y="245"/>
                      <a:pt x="762" y="244"/>
                    </a:cubicBezTo>
                    <a:cubicBezTo>
                      <a:pt x="764" y="243"/>
                      <a:pt x="760" y="244"/>
                      <a:pt x="759" y="244"/>
                    </a:cubicBezTo>
                    <a:cubicBezTo>
                      <a:pt x="757" y="244"/>
                      <a:pt x="760" y="243"/>
                      <a:pt x="762" y="242"/>
                    </a:cubicBezTo>
                    <a:cubicBezTo>
                      <a:pt x="764" y="241"/>
                      <a:pt x="760" y="242"/>
                      <a:pt x="758" y="242"/>
                    </a:cubicBezTo>
                    <a:cubicBezTo>
                      <a:pt x="756" y="242"/>
                      <a:pt x="758" y="241"/>
                      <a:pt x="760" y="241"/>
                    </a:cubicBezTo>
                    <a:cubicBezTo>
                      <a:pt x="762" y="240"/>
                      <a:pt x="760" y="240"/>
                      <a:pt x="757" y="239"/>
                    </a:cubicBezTo>
                    <a:cubicBezTo>
                      <a:pt x="755" y="239"/>
                      <a:pt x="754" y="240"/>
                      <a:pt x="753" y="241"/>
                    </a:cubicBezTo>
                    <a:cubicBezTo>
                      <a:pt x="753" y="243"/>
                      <a:pt x="752" y="241"/>
                      <a:pt x="751" y="240"/>
                    </a:cubicBezTo>
                    <a:cubicBezTo>
                      <a:pt x="750" y="239"/>
                      <a:pt x="752" y="239"/>
                      <a:pt x="749" y="238"/>
                    </a:cubicBezTo>
                    <a:cubicBezTo>
                      <a:pt x="746" y="236"/>
                      <a:pt x="751" y="235"/>
                      <a:pt x="753" y="235"/>
                    </a:cubicBezTo>
                    <a:cubicBezTo>
                      <a:pt x="754" y="235"/>
                      <a:pt x="753" y="235"/>
                      <a:pt x="753" y="233"/>
                    </a:cubicBezTo>
                    <a:cubicBezTo>
                      <a:pt x="752" y="232"/>
                      <a:pt x="753" y="232"/>
                      <a:pt x="754" y="232"/>
                    </a:cubicBezTo>
                    <a:cubicBezTo>
                      <a:pt x="755" y="232"/>
                      <a:pt x="756" y="232"/>
                      <a:pt x="756" y="233"/>
                    </a:cubicBezTo>
                    <a:cubicBezTo>
                      <a:pt x="757" y="234"/>
                      <a:pt x="757" y="234"/>
                      <a:pt x="758" y="235"/>
                    </a:cubicBezTo>
                    <a:cubicBezTo>
                      <a:pt x="759" y="235"/>
                      <a:pt x="760" y="235"/>
                      <a:pt x="761" y="237"/>
                    </a:cubicBezTo>
                    <a:cubicBezTo>
                      <a:pt x="762" y="239"/>
                      <a:pt x="764" y="238"/>
                      <a:pt x="765" y="238"/>
                    </a:cubicBezTo>
                    <a:cubicBezTo>
                      <a:pt x="766" y="237"/>
                      <a:pt x="769" y="235"/>
                      <a:pt x="770" y="234"/>
                    </a:cubicBezTo>
                    <a:cubicBezTo>
                      <a:pt x="771" y="234"/>
                      <a:pt x="772" y="234"/>
                      <a:pt x="774" y="233"/>
                    </a:cubicBezTo>
                    <a:cubicBezTo>
                      <a:pt x="776" y="233"/>
                      <a:pt x="775" y="232"/>
                      <a:pt x="774" y="232"/>
                    </a:cubicBezTo>
                    <a:cubicBezTo>
                      <a:pt x="773" y="232"/>
                      <a:pt x="769" y="232"/>
                      <a:pt x="765" y="231"/>
                    </a:cubicBezTo>
                    <a:cubicBezTo>
                      <a:pt x="761" y="231"/>
                      <a:pt x="764" y="231"/>
                      <a:pt x="766" y="230"/>
                    </a:cubicBezTo>
                    <a:cubicBezTo>
                      <a:pt x="767" y="230"/>
                      <a:pt x="773" y="231"/>
                      <a:pt x="774" y="231"/>
                    </a:cubicBezTo>
                    <a:cubicBezTo>
                      <a:pt x="775" y="231"/>
                      <a:pt x="775" y="232"/>
                      <a:pt x="777" y="231"/>
                    </a:cubicBezTo>
                    <a:cubicBezTo>
                      <a:pt x="780" y="230"/>
                      <a:pt x="776" y="229"/>
                      <a:pt x="774" y="229"/>
                    </a:cubicBezTo>
                    <a:cubicBezTo>
                      <a:pt x="771" y="229"/>
                      <a:pt x="778" y="228"/>
                      <a:pt x="779" y="228"/>
                    </a:cubicBezTo>
                    <a:cubicBezTo>
                      <a:pt x="781" y="228"/>
                      <a:pt x="783" y="229"/>
                      <a:pt x="785" y="229"/>
                    </a:cubicBezTo>
                    <a:cubicBezTo>
                      <a:pt x="787" y="229"/>
                      <a:pt x="789" y="228"/>
                      <a:pt x="792" y="230"/>
                    </a:cubicBezTo>
                    <a:cubicBezTo>
                      <a:pt x="794" y="231"/>
                      <a:pt x="800" y="232"/>
                      <a:pt x="802" y="232"/>
                    </a:cubicBezTo>
                    <a:cubicBezTo>
                      <a:pt x="804" y="231"/>
                      <a:pt x="805" y="232"/>
                      <a:pt x="806" y="233"/>
                    </a:cubicBezTo>
                    <a:cubicBezTo>
                      <a:pt x="807" y="234"/>
                      <a:pt x="808" y="234"/>
                      <a:pt x="808" y="233"/>
                    </a:cubicBezTo>
                    <a:cubicBezTo>
                      <a:pt x="809" y="233"/>
                      <a:pt x="809" y="232"/>
                      <a:pt x="810" y="234"/>
                    </a:cubicBezTo>
                    <a:cubicBezTo>
                      <a:pt x="811" y="236"/>
                      <a:pt x="811" y="235"/>
                      <a:pt x="811" y="234"/>
                    </a:cubicBezTo>
                    <a:cubicBezTo>
                      <a:pt x="811" y="234"/>
                      <a:pt x="811" y="233"/>
                      <a:pt x="812" y="234"/>
                    </a:cubicBezTo>
                    <a:cubicBezTo>
                      <a:pt x="813" y="234"/>
                      <a:pt x="813" y="233"/>
                      <a:pt x="813" y="232"/>
                    </a:cubicBezTo>
                    <a:cubicBezTo>
                      <a:pt x="813" y="231"/>
                      <a:pt x="813" y="232"/>
                      <a:pt x="814" y="231"/>
                    </a:cubicBezTo>
                    <a:cubicBezTo>
                      <a:pt x="815" y="230"/>
                      <a:pt x="816" y="229"/>
                      <a:pt x="816" y="228"/>
                    </a:cubicBezTo>
                    <a:cubicBezTo>
                      <a:pt x="816" y="227"/>
                      <a:pt x="815" y="221"/>
                      <a:pt x="815" y="220"/>
                    </a:cubicBezTo>
                    <a:cubicBezTo>
                      <a:pt x="815" y="219"/>
                      <a:pt x="814" y="219"/>
                      <a:pt x="813" y="218"/>
                    </a:cubicBezTo>
                    <a:cubicBezTo>
                      <a:pt x="813" y="218"/>
                      <a:pt x="805" y="219"/>
                      <a:pt x="804" y="219"/>
                    </a:cubicBezTo>
                    <a:cubicBezTo>
                      <a:pt x="803" y="219"/>
                      <a:pt x="802" y="219"/>
                      <a:pt x="803" y="220"/>
                    </a:cubicBezTo>
                    <a:cubicBezTo>
                      <a:pt x="803" y="221"/>
                      <a:pt x="801" y="221"/>
                      <a:pt x="800" y="220"/>
                    </a:cubicBezTo>
                    <a:cubicBezTo>
                      <a:pt x="798" y="220"/>
                      <a:pt x="795" y="219"/>
                      <a:pt x="794" y="218"/>
                    </a:cubicBezTo>
                    <a:cubicBezTo>
                      <a:pt x="793" y="216"/>
                      <a:pt x="784" y="211"/>
                      <a:pt x="782" y="210"/>
                    </a:cubicBezTo>
                    <a:cubicBezTo>
                      <a:pt x="780" y="210"/>
                      <a:pt x="781" y="209"/>
                      <a:pt x="783" y="210"/>
                    </a:cubicBezTo>
                    <a:cubicBezTo>
                      <a:pt x="785" y="210"/>
                      <a:pt x="783" y="209"/>
                      <a:pt x="782" y="208"/>
                    </a:cubicBezTo>
                    <a:cubicBezTo>
                      <a:pt x="780" y="207"/>
                      <a:pt x="778" y="207"/>
                      <a:pt x="777" y="206"/>
                    </a:cubicBezTo>
                    <a:cubicBezTo>
                      <a:pt x="776" y="205"/>
                      <a:pt x="778" y="204"/>
                      <a:pt x="780" y="205"/>
                    </a:cubicBezTo>
                    <a:cubicBezTo>
                      <a:pt x="782" y="205"/>
                      <a:pt x="783" y="205"/>
                      <a:pt x="785" y="205"/>
                    </a:cubicBezTo>
                    <a:cubicBezTo>
                      <a:pt x="787" y="204"/>
                      <a:pt x="792" y="207"/>
                      <a:pt x="794" y="208"/>
                    </a:cubicBezTo>
                    <a:cubicBezTo>
                      <a:pt x="797" y="209"/>
                      <a:pt x="798" y="209"/>
                      <a:pt x="802" y="208"/>
                    </a:cubicBezTo>
                    <a:cubicBezTo>
                      <a:pt x="806" y="206"/>
                      <a:pt x="798" y="203"/>
                      <a:pt x="792" y="202"/>
                    </a:cubicBezTo>
                    <a:cubicBezTo>
                      <a:pt x="786" y="201"/>
                      <a:pt x="782" y="199"/>
                      <a:pt x="780" y="198"/>
                    </a:cubicBezTo>
                    <a:cubicBezTo>
                      <a:pt x="779" y="197"/>
                      <a:pt x="779" y="197"/>
                      <a:pt x="779" y="197"/>
                    </a:cubicBezTo>
                    <a:cubicBezTo>
                      <a:pt x="778" y="196"/>
                      <a:pt x="777" y="195"/>
                      <a:pt x="775" y="196"/>
                    </a:cubicBezTo>
                    <a:cubicBezTo>
                      <a:pt x="773" y="197"/>
                      <a:pt x="770" y="201"/>
                      <a:pt x="768" y="203"/>
                    </a:cubicBezTo>
                    <a:cubicBezTo>
                      <a:pt x="766" y="205"/>
                      <a:pt x="767" y="206"/>
                      <a:pt x="768" y="207"/>
                    </a:cubicBezTo>
                    <a:cubicBezTo>
                      <a:pt x="769" y="207"/>
                      <a:pt x="767" y="208"/>
                      <a:pt x="767" y="208"/>
                    </a:cubicBezTo>
                    <a:cubicBezTo>
                      <a:pt x="762" y="211"/>
                      <a:pt x="763" y="210"/>
                      <a:pt x="765" y="207"/>
                    </a:cubicBezTo>
                    <a:cubicBezTo>
                      <a:pt x="768" y="205"/>
                      <a:pt x="760" y="206"/>
                      <a:pt x="758" y="206"/>
                    </a:cubicBezTo>
                    <a:cubicBezTo>
                      <a:pt x="757" y="206"/>
                      <a:pt x="758" y="205"/>
                      <a:pt x="758" y="205"/>
                    </a:cubicBezTo>
                    <a:cubicBezTo>
                      <a:pt x="758" y="205"/>
                      <a:pt x="762" y="200"/>
                      <a:pt x="764" y="198"/>
                    </a:cubicBezTo>
                    <a:cubicBezTo>
                      <a:pt x="765" y="196"/>
                      <a:pt x="762" y="198"/>
                      <a:pt x="761" y="199"/>
                    </a:cubicBezTo>
                    <a:cubicBezTo>
                      <a:pt x="759" y="199"/>
                      <a:pt x="764" y="195"/>
                      <a:pt x="765" y="195"/>
                    </a:cubicBezTo>
                    <a:cubicBezTo>
                      <a:pt x="765" y="194"/>
                      <a:pt x="769" y="193"/>
                      <a:pt x="765" y="192"/>
                    </a:cubicBezTo>
                    <a:cubicBezTo>
                      <a:pt x="760" y="191"/>
                      <a:pt x="765" y="192"/>
                      <a:pt x="767" y="191"/>
                    </a:cubicBezTo>
                    <a:cubicBezTo>
                      <a:pt x="769" y="191"/>
                      <a:pt x="768" y="189"/>
                      <a:pt x="768" y="188"/>
                    </a:cubicBezTo>
                    <a:cubicBezTo>
                      <a:pt x="767" y="187"/>
                      <a:pt x="767" y="187"/>
                      <a:pt x="768" y="185"/>
                    </a:cubicBezTo>
                    <a:cubicBezTo>
                      <a:pt x="769" y="184"/>
                      <a:pt x="769" y="181"/>
                      <a:pt x="771" y="180"/>
                    </a:cubicBezTo>
                    <a:cubicBezTo>
                      <a:pt x="773" y="178"/>
                      <a:pt x="773" y="177"/>
                      <a:pt x="774" y="176"/>
                    </a:cubicBezTo>
                    <a:cubicBezTo>
                      <a:pt x="774" y="175"/>
                      <a:pt x="771" y="175"/>
                      <a:pt x="770" y="175"/>
                    </a:cubicBezTo>
                    <a:cubicBezTo>
                      <a:pt x="769" y="176"/>
                      <a:pt x="768" y="176"/>
                      <a:pt x="767" y="175"/>
                    </a:cubicBezTo>
                    <a:cubicBezTo>
                      <a:pt x="767" y="174"/>
                      <a:pt x="772" y="174"/>
                      <a:pt x="774" y="174"/>
                    </a:cubicBezTo>
                    <a:cubicBezTo>
                      <a:pt x="775" y="173"/>
                      <a:pt x="772" y="173"/>
                      <a:pt x="771" y="172"/>
                    </a:cubicBezTo>
                    <a:cubicBezTo>
                      <a:pt x="769" y="172"/>
                      <a:pt x="771" y="172"/>
                      <a:pt x="771" y="172"/>
                    </a:cubicBezTo>
                    <a:cubicBezTo>
                      <a:pt x="772" y="171"/>
                      <a:pt x="772" y="171"/>
                      <a:pt x="771" y="170"/>
                    </a:cubicBezTo>
                    <a:cubicBezTo>
                      <a:pt x="770" y="169"/>
                      <a:pt x="772" y="169"/>
                      <a:pt x="773" y="169"/>
                    </a:cubicBezTo>
                    <a:cubicBezTo>
                      <a:pt x="774" y="169"/>
                      <a:pt x="776" y="169"/>
                      <a:pt x="777" y="168"/>
                    </a:cubicBezTo>
                    <a:cubicBezTo>
                      <a:pt x="778" y="167"/>
                      <a:pt x="777" y="167"/>
                      <a:pt x="780" y="167"/>
                    </a:cubicBezTo>
                    <a:cubicBezTo>
                      <a:pt x="784" y="167"/>
                      <a:pt x="786" y="167"/>
                      <a:pt x="788" y="167"/>
                    </a:cubicBezTo>
                    <a:cubicBezTo>
                      <a:pt x="790" y="167"/>
                      <a:pt x="789" y="165"/>
                      <a:pt x="788" y="164"/>
                    </a:cubicBezTo>
                    <a:cubicBezTo>
                      <a:pt x="788" y="162"/>
                      <a:pt x="788" y="161"/>
                      <a:pt x="789" y="160"/>
                    </a:cubicBezTo>
                    <a:cubicBezTo>
                      <a:pt x="789" y="159"/>
                      <a:pt x="790" y="159"/>
                      <a:pt x="791" y="159"/>
                    </a:cubicBezTo>
                    <a:cubicBezTo>
                      <a:pt x="792" y="160"/>
                      <a:pt x="792" y="160"/>
                      <a:pt x="793" y="159"/>
                    </a:cubicBezTo>
                    <a:cubicBezTo>
                      <a:pt x="793" y="159"/>
                      <a:pt x="793" y="159"/>
                      <a:pt x="794" y="159"/>
                    </a:cubicBezTo>
                    <a:cubicBezTo>
                      <a:pt x="796" y="159"/>
                      <a:pt x="796" y="157"/>
                      <a:pt x="797" y="156"/>
                    </a:cubicBezTo>
                    <a:cubicBezTo>
                      <a:pt x="798" y="154"/>
                      <a:pt x="799" y="154"/>
                      <a:pt x="800" y="154"/>
                    </a:cubicBezTo>
                    <a:cubicBezTo>
                      <a:pt x="801" y="154"/>
                      <a:pt x="800" y="156"/>
                      <a:pt x="799" y="157"/>
                    </a:cubicBezTo>
                    <a:cubicBezTo>
                      <a:pt x="799" y="158"/>
                      <a:pt x="799" y="158"/>
                      <a:pt x="800" y="157"/>
                    </a:cubicBezTo>
                    <a:cubicBezTo>
                      <a:pt x="802" y="157"/>
                      <a:pt x="802" y="157"/>
                      <a:pt x="802" y="155"/>
                    </a:cubicBezTo>
                    <a:cubicBezTo>
                      <a:pt x="803" y="153"/>
                      <a:pt x="799" y="153"/>
                      <a:pt x="798" y="153"/>
                    </a:cubicBezTo>
                    <a:cubicBezTo>
                      <a:pt x="797" y="153"/>
                      <a:pt x="797" y="152"/>
                      <a:pt x="795" y="153"/>
                    </a:cubicBezTo>
                    <a:cubicBezTo>
                      <a:pt x="793" y="153"/>
                      <a:pt x="793" y="155"/>
                      <a:pt x="793" y="155"/>
                    </a:cubicBezTo>
                    <a:cubicBezTo>
                      <a:pt x="792" y="156"/>
                      <a:pt x="792" y="157"/>
                      <a:pt x="792" y="157"/>
                    </a:cubicBezTo>
                    <a:cubicBezTo>
                      <a:pt x="791" y="158"/>
                      <a:pt x="791" y="158"/>
                      <a:pt x="791" y="158"/>
                    </a:cubicBezTo>
                    <a:cubicBezTo>
                      <a:pt x="790" y="158"/>
                      <a:pt x="790" y="158"/>
                      <a:pt x="792" y="155"/>
                    </a:cubicBezTo>
                    <a:cubicBezTo>
                      <a:pt x="794" y="153"/>
                      <a:pt x="794" y="149"/>
                      <a:pt x="794" y="148"/>
                    </a:cubicBezTo>
                    <a:cubicBezTo>
                      <a:pt x="794" y="147"/>
                      <a:pt x="792" y="147"/>
                      <a:pt x="794" y="145"/>
                    </a:cubicBezTo>
                    <a:cubicBezTo>
                      <a:pt x="795" y="144"/>
                      <a:pt x="794" y="145"/>
                      <a:pt x="795" y="140"/>
                    </a:cubicBezTo>
                    <a:cubicBezTo>
                      <a:pt x="797" y="136"/>
                      <a:pt x="803" y="137"/>
                      <a:pt x="810" y="138"/>
                    </a:cubicBezTo>
                    <a:cubicBezTo>
                      <a:pt x="817" y="139"/>
                      <a:pt x="818" y="137"/>
                      <a:pt x="819" y="135"/>
                    </a:cubicBezTo>
                    <a:cubicBezTo>
                      <a:pt x="821" y="134"/>
                      <a:pt x="822" y="131"/>
                      <a:pt x="825" y="130"/>
                    </a:cubicBezTo>
                    <a:cubicBezTo>
                      <a:pt x="828" y="128"/>
                      <a:pt x="825" y="128"/>
                      <a:pt x="825" y="128"/>
                    </a:cubicBezTo>
                    <a:cubicBezTo>
                      <a:pt x="825" y="128"/>
                      <a:pt x="799" y="131"/>
                      <a:pt x="798" y="132"/>
                    </a:cubicBezTo>
                    <a:cubicBezTo>
                      <a:pt x="796" y="132"/>
                      <a:pt x="788" y="133"/>
                      <a:pt x="785" y="134"/>
                    </a:cubicBezTo>
                    <a:cubicBezTo>
                      <a:pt x="783" y="134"/>
                      <a:pt x="785" y="134"/>
                      <a:pt x="785" y="135"/>
                    </a:cubicBezTo>
                    <a:cubicBezTo>
                      <a:pt x="785" y="137"/>
                      <a:pt x="785" y="136"/>
                      <a:pt x="787" y="136"/>
                    </a:cubicBezTo>
                    <a:cubicBezTo>
                      <a:pt x="789" y="135"/>
                      <a:pt x="791" y="135"/>
                      <a:pt x="787" y="137"/>
                    </a:cubicBezTo>
                    <a:cubicBezTo>
                      <a:pt x="783" y="139"/>
                      <a:pt x="782" y="137"/>
                      <a:pt x="781" y="136"/>
                    </a:cubicBezTo>
                    <a:cubicBezTo>
                      <a:pt x="780" y="136"/>
                      <a:pt x="780" y="135"/>
                      <a:pt x="778" y="135"/>
                    </a:cubicBezTo>
                    <a:cubicBezTo>
                      <a:pt x="775" y="135"/>
                      <a:pt x="781" y="130"/>
                      <a:pt x="782" y="129"/>
                    </a:cubicBezTo>
                    <a:cubicBezTo>
                      <a:pt x="783" y="128"/>
                      <a:pt x="782" y="127"/>
                      <a:pt x="781" y="127"/>
                    </a:cubicBezTo>
                    <a:cubicBezTo>
                      <a:pt x="780" y="126"/>
                      <a:pt x="784" y="124"/>
                      <a:pt x="789" y="121"/>
                    </a:cubicBezTo>
                    <a:cubicBezTo>
                      <a:pt x="794" y="119"/>
                      <a:pt x="800" y="121"/>
                      <a:pt x="804" y="122"/>
                    </a:cubicBezTo>
                    <a:cubicBezTo>
                      <a:pt x="807" y="123"/>
                      <a:pt x="821" y="122"/>
                      <a:pt x="829" y="122"/>
                    </a:cubicBezTo>
                    <a:cubicBezTo>
                      <a:pt x="836" y="122"/>
                      <a:pt x="842" y="117"/>
                      <a:pt x="845" y="114"/>
                    </a:cubicBezTo>
                    <a:cubicBezTo>
                      <a:pt x="849" y="111"/>
                      <a:pt x="839" y="110"/>
                      <a:pt x="837" y="111"/>
                    </a:cubicBezTo>
                    <a:cubicBezTo>
                      <a:pt x="836" y="111"/>
                      <a:pt x="833" y="110"/>
                      <a:pt x="830" y="109"/>
                    </a:cubicBezTo>
                    <a:cubicBezTo>
                      <a:pt x="827" y="109"/>
                      <a:pt x="825" y="109"/>
                      <a:pt x="822" y="110"/>
                    </a:cubicBezTo>
                    <a:cubicBezTo>
                      <a:pt x="820" y="111"/>
                      <a:pt x="811" y="112"/>
                      <a:pt x="808" y="111"/>
                    </a:cubicBezTo>
                    <a:cubicBezTo>
                      <a:pt x="806" y="110"/>
                      <a:pt x="802" y="110"/>
                      <a:pt x="800" y="110"/>
                    </a:cubicBezTo>
                    <a:cubicBezTo>
                      <a:pt x="798" y="110"/>
                      <a:pt x="796" y="109"/>
                      <a:pt x="792" y="108"/>
                    </a:cubicBezTo>
                    <a:cubicBezTo>
                      <a:pt x="788" y="107"/>
                      <a:pt x="786" y="108"/>
                      <a:pt x="785" y="109"/>
                    </a:cubicBezTo>
                    <a:cubicBezTo>
                      <a:pt x="785" y="110"/>
                      <a:pt x="784" y="110"/>
                      <a:pt x="783" y="110"/>
                    </a:cubicBezTo>
                    <a:cubicBezTo>
                      <a:pt x="782" y="111"/>
                      <a:pt x="781" y="110"/>
                      <a:pt x="779" y="112"/>
                    </a:cubicBezTo>
                    <a:cubicBezTo>
                      <a:pt x="777" y="113"/>
                      <a:pt x="779" y="111"/>
                      <a:pt x="774" y="111"/>
                    </a:cubicBezTo>
                    <a:cubicBezTo>
                      <a:pt x="769" y="111"/>
                      <a:pt x="772" y="110"/>
                      <a:pt x="774" y="110"/>
                    </a:cubicBezTo>
                    <a:cubicBezTo>
                      <a:pt x="776" y="109"/>
                      <a:pt x="778" y="111"/>
                      <a:pt x="783" y="108"/>
                    </a:cubicBezTo>
                    <a:cubicBezTo>
                      <a:pt x="787" y="105"/>
                      <a:pt x="794" y="107"/>
                      <a:pt x="794" y="107"/>
                    </a:cubicBezTo>
                    <a:cubicBezTo>
                      <a:pt x="806" y="110"/>
                      <a:pt x="814" y="108"/>
                      <a:pt x="816" y="105"/>
                    </a:cubicBezTo>
                    <a:cubicBezTo>
                      <a:pt x="819" y="102"/>
                      <a:pt x="820" y="101"/>
                      <a:pt x="822" y="103"/>
                    </a:cubicBezTo>
                    <a:cubicBezTo>
                      <a:pt x="823" y="105"/>
                      <a:pt x="825" y="105"/>
                      <a:pt x="827" y="105"/>
                    </a:cubicBezTo>
                    <a:cubicBezTo>
                      <a:pt x="830" y="104"/>
                      <a:pt x="835" y="105"/>
                      <a:pt x="837" y="105"/>
                    </a:cubicBezTo>
                    <a:cubicBezTo>
                      <a:pt x="840" y="106"/>
                      <a:pt x="840" y="105"/>
                      <a:pt x="844" y="104"/>
                    </a:cubicBezTo>
                    <a:cubicBezTo>
                      <a:pt x="849" y="103"/>
                      <a:pt x="856" y="100"/>
                      <a:pt x="859" y="100"/>
                    </a:cubicBezTo>
                    <a:cubicBezTo>
                      <a:pt x="862" y="100"/>
                      <a:pt x="867" y="99"/>
                      <a:pt x="868" y="98"/>
                    </a:cubicBezTo>
                    <a:cubicBezTo>
                      <a:pt x="870" y="98"/>
                      <a:pt x="869" y="97"/>
                      <a:pt x="868" y="97"/>
                    </a:cubicBezTo>
                    <a:cubicBezTo>
                      <a:pt x="867" y="96"/>
                      <a:pt x="869" y="96"/>
                      <a:pt x="869" y="96"/>
                    </a:cubicBezTo>
                    <a:cubicBezTo>
                      <a:pt x="869" y="96"/>
                      <a:pt x="906" y="76"/>
                      <a:pt x="907" y="75"/>
                    </a:cubicBezTo>
                    <a:cubicBezTo>
                      <a:pt x="909" y="75"/>
                      <a:pt x="907" y="74"/>
                      <a:pt x="907" y="74"/>
                    </a:cubicBezTo>
                    <a:cubicBezTo>
                      <a:pt x="907" y="74"/>
                      <a:pt x="883" y="67"/>
                      <a:pt x="877" y="65"/>
                    </a:cubicBezTo>
                    <a:cubicBezTo>
                      <a:pt x="871" y="64"/>
                      <a:pt x="863" y="63"/>
                      <a:pt x="863" y="63"/>
                    </a:cubicBezTo>
                    <a:cubicBezTo>
                      <a:pt x="863" y="63"/>
                      <a:pt x="839" y="63"/>
                      <a:pt x="837" y="63"/>
                    </a:cubicBezTo>
                    <a:cubicBezTo>
                      <a:pt x="835" y="63"/>
                      <a:pt x="835" y="64"/>
                      <a:pt x="835" y="64"/>
                    </a:cubicBezTo>
                    <a:cubicBezTo>
                      <a:pt x="834" y="64"/>
                      <a:pt x="829" y="64"/>
                      <a:pt x="827" y="65"/>
                    </a:cubicBezTo>
                    <a:cubicBezTo>
                      <a:pt x="825" y="65"/>
                      <a:pt x="826" y="66"/>
                      <a:pt x="826" y="68"/>
                    </a:cubicBezTo>
                    <a:cubicBezTo>
                      <a:pt x="827" y="69"/>
                      <a:pt x="824" y="69"/>
                      <a:pt x="822" y="69"/>
                    </a:cubicBezTo>
                    <a:cubicBezTo>
                      <a:pt x="820" y="70"/>
                      <a:pt x="821" y="70"/>
                      <a:pt x="820" y="71"/>
                    </a:cubicBezTo>
                    <a:cubicBezTo>
                      <a:pt x="820" y="73"/>
                      <a:pt x="819" y="73"/>
                      <a:pt x="821" y="74"/>
                    </a:cubicBezTo>
                    <a:cubicBezTo>
                      <a:pt x="824" y="74"/>
                      <a:pt x="822" y="75"/>
                      <a:pt x="822" y="75"/>
                    </a:cubicBezTo>
                    <a:cubicBezTo>
                      <a:pt x="822" y="75"/>
                      <a:pt x="819" y="75"/>
                      <a:pt x="817" y="75"/>
                    </a:cubicBezTo>
                    <a:cubicBezTo>
                      <a:pt x="816" y="75"/>
                      <a:pt x="816" y="76"/>
                      <a:pt x="816" y="76"/>
                    </a:cubicBezTo>
                    <a:cubicBezTo>
                      <a:pt x="817" y="76"/>
                      <a:pt x="818" y="77"/>
                      <a:pt x="815" y="79"/>
                    </a:cubicBezTo>
                    <a:cubicBezTo>
                      <a:pt x="813" y="82"/>
                      <a:pt x="806" y="78"/>
                      <a:pt x="805" y="78"/>
                    </a:cubicBezTo>
                    <a:cubicBezTo>
                      <a:pt x="804" y="77"/>
                      <a:pt x="800" y="76"/>
                      <a:pt x="797" y="76"/>
                    </a:cubicBezTo>
                    <a:cubicBezTo>
                      <a:pt x="795" y="76"/>
                      <a:pt x="788" y="79"/>
                      <a:pt x="786" y="80"/>
                    </a:cubicBezTo>
                    <a:cubicBezTo>
                      <a:pt x="784" y="81"/>
                      <a:pt x="784" y="80"/>
                      <a:pt x="785" y="79"/>
                    </a:cubicBezTo>
                    <a:cubicBezTo>
                      <a:pt x="785" y="77"/>
                      <a:pt x="784" y="76"/>
                      <a:pt x="785" y="74"/>
                    </a:cubicBezTo>
                    <a:cubicBezTo>
                      <a:pt x="787" y="72"/>
                      <a:pt x="784" y="74"/>
                      <a:pt x="782" y="74"/>
                    </a:cubicBezTo>
                    <a:cubicBezTo>
                      <a:pt x="780" y="74"/>
                      <a:pt x="777" y="75"/>
                      <a:pt x="775" y="77"/>
                    </a:cubicBezTo>
                    <a:cubicBezTo>
                      <a:pt x="773" y="78"/>
                      <a:pt x="769" y="80"/>
                      <a:pt x="768" y="80"/>
                    </a:cubicBezTo>
                    <a:cubicBezTo>
                      <a:pt x="767" y="81"/>
                      <a:pt x="767" y="82"/>
                      <a:pt x="766" y="83"/>
                    </a:cubicBezTo>
                    <a:cubicBezTo>
                      <a:pt x="766" y="84"/>
                      <a:pt x="765" y="85"/>
                      <a:pt x="763" y="86"/>
                    </a:cubicBezTo>
                    <a:cubicBezTo>
                      <a:pt x="760" y="87"/>
                      <a:pt x="726" y="108"/>
                      <a:pt x="723" y="110"/>
                    </a:cubicBezTo>
                    <a:cubicBezTo>
                      <a:pt x="720" y="111"/>
                      <a:pt x="722" y="109"/>
                      <a:pt x="722" y="108"/>
                    </a:cubicBezTo>
                    <a:cubicBezTo>
                      <a:pt x="722" y="107"/>
                      <a:pt x="724" y="106"/>
                      <a:pt x="727" y="106"/>
                    </a:cubicBezTo>
                    <a:cubicBezTo>
                      <a:pt x="730" y="106"/>
                      <a:pt x="730" y="102"/>
                      <a:pt x="730" y="101"/>
                    </a:cubicBezTo>
                    <a:cubicBezTo>
                      <a:pt x="730" y="100"/>
                      <a:pt x="733" y="97"/>
                      <a:pt x="734" y="97"/>
                    </a:cubicBezTo>
                    <a:cubicBezTo>
                      <a:pt x="735" y="96"/>
                      <a:pt x="737" y="95"/>
                      <a:pt x="738" y="94"/>
                    </a:cubicBezTo>
                    <a:cubicBezTo>
                      <a:pt x="738" y="93"/>
                      <a:pt x="739" y="91"/>
                      <a:pt x="741" y="91"/>
                    </a:cubicBezTo>
                    <a:cubicBezTo>
                      <a:pt x="742" y="91"/>
                      <a:pt x="743" y="91"/>
                      <a:pt x="743" y="88"/>
                    </a:cubicBezTo>
                    <a:cubicBezTo>
                      <a:pt x="744" y="86"/>
                      <a:pt x="745" y="85"/>
                      <a:pt x="747" y="85"/>
                    </a:cubicBezTo>
                    <a:cubicBezTo>
                      <a:pt x="748" y="86"/>
                      <a:pt x="750" y="84"/>
                      <a:pt x="751" y="83"/>
                    </a:cubicBezTo>
                    <a:cubicBezTo>
                      <a:pt x="752" y="82"/>
                      <a:pt x="757" y="72"/>
                      <a:pt x="758" y="68"/>
                    </a:cubicBezTo>
                    <a:cubicBezTo>
                      <a:pt x="760" y="64"/>
                      <a:pt x="758" y="61"/>
                      <a:pt x="756" y="59"/>
                    </a:cubicBezTo>
                    <a:cubicBezTo>
                      <a:pt x="754" y="57"/>
                      <a:pt x="753" y="57"/>
                      <a:pt x="751" y="58"/>
                    </a:cubicBezTo>
                    <a:cubicBezTo>
                      <a:pt x="749" y="58"/>
                      <a:pt x="735" y="59"/>
                      <a:pt x="732" y="59"/>
                    </a:cubicBezTo>
                    <a:cubicBezTo>
                      <a:pt x="729" y="59"/>
                      <a:pt x="727" y="60"/>
                      <a:pt x="727" y="63"/>
                    </a:cubicBezTo>
                    <a:cubicBezTo>
                      <a:pt x="727" y="65"/>
                      <a:pt x="727" y="63"/>
                      <a:pt x="726" y="67"/>
                    </a:cubicBezTo>
                    <a:cubicBezTo>
                      <a:pt x="726" y="72"/>
                      <a:pt x="722" y="72"/>
                      <a:pt x="719" y="72"/>
                    </a:cubicBezTo>
                    <a:cubicBezTo>
                      <a:pt x="715" y="73"/>
                      <a:pt x="685" y="81"/>
                      <a:pt x="683" y="81"/>
                    </a:cubicBezTo>
                    <a:cubicBezTo>
                      <a:pt x="682" y="81"/>
                      <a:pt x="681" y="82"/>
                      <a:pt x="681" y="81"/>
                    </a:cubicBezTo>
                    <a:cubicBezTo>
                      <a:pt x="681" y="80"/>
                      <a:pt x="681" y="80"/>
                      <a:pt x="680" y="80"/>
                    </a:cubicBezTo>
                    <a:cubicBezTo>
                      <a:pt x="678" y="80"/>
                      <a:pt x="675" y="80"/>
                      <a:pt x="674" y="79"/>
                    </a:cubicBezTo>
                    <a:cubicBezTo>
                      <a:pt x="674" y="78"/>
                      <a:pt x="681" y="76"/>
                      <a:pt x="683" y="76"/>
                    </a:cubicBezTo>
                    <a:cubicBezTo>
                      <a:pt x="684" y="76"/>
                      <a:pt x="690" y="75"/>
                      <a:pt x="692" y="74"/>
                    </a:cubicBezTo>
                    <a:cubicBezTo>
                      <a:pt x="694" y="73"/>
                      <a:pt x="702" y="71"/>
                      <a:pt x="706" y="70"/>
                    </a:cubicBezTo>
                    <a:cubicBezTo>
                      <a:pt x="710" y="68"/>
                      <a:pt x="710" y="66"/>
                      <a:pt x="710" y="64"/>
                    </a:cubicBezTo>
                    <a:cubicBezTo>
                      <a:pt x="710" y="62"/>
                      <a:pt x="708" y="63"/>
                      <a:pt x="707" y="62"/>
                    </a:cubicBezTo>
                    <a:cubicBezTo>
                      <a:pt x="706" y="62"/>
                      <a:pt x="695" y="62"/>
                      <a:pt x="691" y="62"/>
                    </a:cubicBezTo>
                    <a:cubicBezTo>
                      <a:pt x="686" y="61"/>
                      <a:pt x="665" y="61"/>
                      <a:pt x="662" y="60"/>
                    </a:cubicBezTo>
                    <a:cubicBezTo>
                      <a:pt x="658" y="60"/>
                      <a:pt x="651" y="61"/>
                      <a:pt x="650" y="61"/>
                    </a:cubicBezTo>
                    <a:cubicBezTo>
                      <a:pt x="649" y="62"/>
                      <a:pt x="636" y="64"/>
                      <a:pt x="621" y="65"/>
                    </a:cubicBezTo>
                    <a:cubicBezTo>
                      <a:pt x="607" y="67"/>
                      <a:pt x="601" y="70"/>
                      <a:pt x="598" y="71"/>
                    </a:cubicBezTo>
                    <a:cubicBezTo>
                      <a:pt x="594" y="73"/>
                      <a:pt x="594" y="72"/>
                      <a:pt x="594" y="70"/>
                    </a:cubicBezTo>
                    <a:cubicBezTo>
                      <a:pt x="593" y="68"/>
                      <a:pt x="594" y="67"/>
                      <a:pt x="595" y="66"/>
                    </a:cubicBezTo>
                    <a:cubicBezTo>
                      <a:pt x="597" y="65"/>
                      <a:pt x="611" y="63"/>
                      <a:pt x="613" y="62"/>
                    </a:cubicBezTo>
                    <a:cubicBezTo>
                      <a:pt x="616" y="62"/>
                      <a:pt x="623" y="61"/>
                      <a:pt x="624" y="60"/>
                    </a:cubicBezTo>
                    <a:cubicBezTo>
                      <a:pt x="625" y="60"/>
                      <a:pt x="632" y="59"/>
                      <a:pt x="637" y="58"/>
                    </a:cubicBezTo>
                    <a:cubicBezTo>
                      <a:pt x="642" y="57"/>
                      <a:pt x="636" y="57"/>
                      <a:pt x="636" y="57"/>
                    </a:cubicBezTo>
                    <a:cubicBezTo>
                      <a:pt x="636" y="57"/>
                      <a:pt x="619" y="54"/>
                      <a:pt x="616" y="53"/>
                    </a:cubicBezTo>
                    <a:cubicBezTo>
                      <a:pt x="614" y="52"/>
                      <a:pt x="622" y="53"/>
                      <a:pt x="626" y="53"/>
                    </a:cubicBezTo>
                    <a:cubicBezTo>
                      <a:pt x="629" y="53"/>
                      <a:pt x="635" y="54"/>
                      <a:pt x="636" y="54"/>
                    </a:cubicBezTo>
                    <a:cubicBezTo>
                      <a:pt x="638" y="54"/>
                      <a:pt x="639" y="54"/>
                      <a:pt x="641" y="55"/>
                    </a:cubicBezTo>
                    <a:cubicBezTo>
                      <a:pt x="643" y="56"/>
                      <a:pt x="647" y="55"/>
                      <a:pt x="647" y="55"/>
                    </a:cubicBezTo>
                    <a:cubicBezTo>
                      <a:pt x="655" y="54"/>
                      <a:pt x="673" y="53"/>
                      <a:pt x="690" y="54"/>
                    </a:cubicBezTo>
                    <a:cubicBezTo>
                      <a:pt x="706" y="56"/>
                      <a:pt x="721" y="53"/>
                      <a:pt x="728" y="51"/>
                    </a:cubicBezTo>
                    <a:cubicBezTo>
                      <a:pt x="734" y="49"/>
                      <a:pt x="741" y="50"/>
                      <a:pt x="748" y="49"/>
                    </a:cubicBezTo>
                    <a:cubicBezTo>
                      <a:pt x="754" y="48"/>
                      <a:pt x="765" y="40"/>
                      <a:pt x="767" y="39"/>
                    </a:cubicBezTo>
                    <a:cubicBezTo>
                      <a:pt x="769" y="38"/>
                      <a:pt x="768" y="38"/>
                      <a:pt x="767" y="37"/>
                    </a:cubicBezTo>
                    <a:cubicBezTo>
                      <a:pt x="766" y="36"/>
                      <a:pt x="764" y="37"/>
                      <a:pt x="763" y="36"/>
                    </a:cubicBezTo>
                    <a:cubicBezTo>
                      <a:pt x="762" y="36"/>
                      <a:pt x="761" y="35"/>
                      <a:pt x="759" y="34"/>
                    </a:cubicBezTo>
                    <a:cubicBezTo>
                      <a:pt x="757" y="34"/>
                      <a:pt x="756" y="34"/>
                      <a:pt x="753" y="32"/>
                    </a:cubicBezTo>
                    <a:cubicBezTo>
                      <a:pt x="750" y="31"/>
                      <a:pt x="731" y="33"/>
                      <a:pt x="729" y="33"/>
                    </a:cubicBezTo>
                    <a:cubicBezTo>
                      <a:pt x="728" y="33"/>
                      <a:pt x="728" y="32"/>
                      <a:pt x="729" y="31"/>
                    </a:cubicBezTo>
                    <a:cubicBezTo>
                      <a:pt x="731" y="31"/>
                      <a:pt x="730" y="30"/>
                      <a:pt x="728" y="28"/>
                    </a:cubicBezTo>
                    <a:cubicBezTo>
                      <a:pt x="727" y="26"/>
                      <a:pt x="716" y="28"/>
                      <a:pt x="712" y="29"/>
                    </a:cubicBezTo>
                    <a:cubicBezTo>
                      <a:pt x="709" y="30"/>
                      <a:pt x="709" y="30"/>
                      <a:pt x="710" y="29"/>
                    </a:cubicBezTo>
                    <a:cubicBezTo>
                      <a:pt x="711" y="29"/>
                      <a:pt x="711" y="28"/>
                      <a:pt x="712" y="28"/>
                    </a:cubicBezTo>
                    <a:cubicBezTo>
                      <a:pt x="713" y="27"/>
                      <a:pt x="714" y="26"/>
                      <a:pt x="716" y="25"/>
                    </a:cubicBezTo>
                    <a:cubicBezTo>
                      <a:pt x="718" y="24"/>
                      <a:pt x="714" y="21"/>
                      <a:pt x="712" y="19"/>
                    </a:cubicBezTo>
                    <a:cubicBezTo>
                      <a:pt x="709" y="17"/>
                      <a:pt x="700" y="19"/>
                      <a:pt x="698" y="20"/>
                    </a:cubicBezTo>
                    <a:cubicBezTo>
                      <a:pt x="696" y="21"/>
                      <a:pt x="690" y="21"/>
                      <a:pt x="689" y="21"/>
                    </a:cubicBezTo>
                    <a:cubicBezTo>
                      <a:pt x="687" y="20"/>
                      <a:pt x="646" y="19"/>
                      <a:pt x="644" y="19"/>
                    </a:cubicBezTo>
                    <a:cubicBezTo>
                      <a:pt x="642" y="19"/>
                      <a:pt x="635" y="20"/>
                      <a:pt x="633" y="21"/>
                    </a:cubicBezTo>
                    <a:cubicBezTo>
                      <a:pt x="631" y="21"/>
                      <a:pt x="627" y="21"/>
                      <a:pt x="624" y="22"/>
                    </a:cubicBezTo>
                    <a:cubicBezTo>
                      <a:pt x="622" y="23"/>
                      <a:pt x="614" y="24"/>
                      <a:pt x="611" y="24"/>
                    </a:cubicBezTo>
                    <a:cubicBezTo>
                      <a:pt x="609" y="25"/>
                      <a:pt x="594" y="25"/>
                      <a:pt x="591" y="25"/>
                    </a:cubicBezTo>
                    <a:cubicBezTo>
                      <a:pt x="587" y="26"/>
                      <a:pt x="585" y="26"/>
                      <a:pt x="584" y="28"/>
                    </a:cubicBezTo>
                    <a:cubicBezTo>
                      <a:pt x="582" y="30"/>
                      <a:pt x="580" y="31"/>
                      <a:pt x="579" y="30"/>
                    </a:cubicBezTo>
                    <a:cubicBezTo>
                      <a:pt x="577" y="29"/>
                      <a:pt x="571" y="28"/>
                      <a:pt x="568" y="27"/>
                    </a:cubicBezTo>
                    <a:cubicBezTo>
                      <a:pt x="564" y="27"/>
                      <a:pt x="559" y="31"/>
                      <a:pt x="558" y="32"/>
                    </a:cubicBezTo>
                    <a:cubicBezTo>
                      <a:pt x="556" y="33"/>
                      <a:pt x="558" y="31"/>
                      <a:pt x="559" y="30"/>
                    </a:cubicBezTo>
                    <a:cubicBezTo>
                      <a:pt x="560" y="29"/>
                      <a:pt x="557" y="28"/>
                      <a:pt x="556" y="27"/>
                    </a:cubicBezTo>
                    <a:cubicBezTo>
                      <a:pt x="555" y="27"/>
                      <a:pt x="563" y="27"/>
                      <a:pt x="563" y="27"/>
                    </a:cubicBezTo>
                    <a:cubicBezTo>
                      <a:pt x="564" y="27"/>
                      <a:pt x="568" y="26"/>
                      <a:pt x="571" y="26"/>
                    </a:cubicBezTo>
                    <a:cubicBezTo>
                      <a:pt x="575" y="26"/>
                      <a:pt x="581" y="25"/>
                      <a:pt x="583" y="25"/>
                    </a:cubicBezTo>
                    <a:cubicBezTo>
                      <a:pt x="585" y="24"/>
                      <a:pt x="590" y="23"/>
                      <a:pt x="591" y="24"/>
                    </a:cubicBezTo>
                    <a:cubicBezTo>
                      <a:pt x="592" y="24"/>
                      <a:pt x="594" y="23"/>
                      <a:pt x="595" y="23"/>
                    </a:cubicBezTo>
                    <a:cubicBezTo>
                      <a:pt x="596" y="23"/>
                      <a:pt x="597" y="23"/>
                      <a:pt x="596" y="22"/>
                    </a:cubicBezTo>
                    <a:cubicBezTo>
                      <a:pt x="595" y="22"/>
                      <a:pt x="592" y="20"/>
                      <a:pt x="590" y="19"/>
                    </a:cubicBezTo>
                    <a:cubicBezTo>
                      <a:pt x="588" y="18"/>
                      <a:pt x="589" y="18"/>
                      <a:pt x="591" y="18"/>
                    </a:cubicBezTo>
                    <a:cubicBezTo>
                      <a:pt x="592" y="18"/>
                      <a:pt x="597" y="19"/>
                      <a:pt x="600" y="20"/>
                    </a:cubicBezTo>
                    <a:cubicBezTo>
                      <a:pt x="603" y="21"/>
                      <a:pt x="611" y="21"/>
                      <a:pt x="614" y="21"/>
                    </a:cubicBezTo>
                    <a:cubicBezTo>
                      <a:pt x="616" y="21"/>
                      <a:pt x="629" y="19"/>
                      <a:pt x="635" y="18"/>
                    </a:cubicBezTo>
                    <a:cubicBezTo>
                      <a:pt x="641" y="17"/>
                      <a:pt x="663" y="18"/>
                      <a:pt x="668" y="19"/>
                    </a:cubicBezTo>
                    <a:cubicBezTo>
                      <a:pt x="672" y="19"/>
                      <a:pt x="688" y="18"/>
                      <a:pt x="690" y="17"/>
                    </a:cubicBezTo>
                    <a:cubicBezTo>
                      <a:pt x="691" y="17"/>
                      <a:pt x="693" y="17"/>
                      <a:pt x="695" y="16"/>
                    </a:cubicBezTo>
                    <a:cubicBezTo>
                      <a:pt x="697" y="16"/>
                      <a:pt x="700" y="15"/>
                      <a:pt x="702" y="14"/>
                    </a:cubicBezTo>
                    <a:cubicBezTo>
                      <a:pt x="705" y="13"/>
                      <a:pt x="702" y="12"/>
                      <a:pt x="702" y="12"/>
                    </a:cubicBezTo>
                    <a:cubicBezTo>
                      <a:pt x="702" y="12"/>
                      <a:pt x="637" y="1"/>
                      <a:pt x="635" y="1"/>
                    </a:cubicBezTo>
                    <a:cubicBezTo>
                      <a:pt x="634" y="1"/>
                      <a:pt x="630" y="2"/>
                      <a:pt x="629" y="2"/>
                    </a:cubicBezTo>
                    <a:cubicBezTo>
                      <a:pt x="628" y="2"/>
                      <a:pt x="607" y="0"/>
                      <a:pt x="605" y="0"/>
                    </a:cubicBezTo>
                    <a:cubicBezTo>
                      <a:pt x="603" y="1"/>
                      <a:pt x="585" y="1"/>
                      <a:pt x="584" y="1"/>
                    </a:cubicBezTo>
                    <a:cubicBezTo>
                      <a:pt x="583" y="1"/>
                      <a:pt x="578" y="0"/>
                      <a:pt x="580" y="4"/>
                    </a:cubicBezTo>
                    <a:cubicBezTo>
                      <a:pt x="581" y="7"/>
                      <a:pt x="579" y="4"/>
                      <a:pt x="577" y="3"/>
                    </a:cubicBezTo>
                    <a:cubicBezTo>
                      <a:pt x="576" y="2"/>
                      <a:pt x="571" y="1"/>
                      <a:pt x="569" y="1"/>
                    </a:cubicBezTo>
                    <a:cubicBezTo>
                      <a:pt x="568" y="1"/>
                      <a:pt x="567" y="1"/>
                      <a:pt x="566" y="2"/>
                    </a:cubicBezTo>
                    <a:cubicBezTo>
                      <a:pt x="565" y="3"/>
                      <a:pt x="561" y="3"/>
                      <a:pt x="561" y="3"/>
                    </a:cubicBezTo>
                    <a:cubicBezTo>
                      <a:pt x="561" y="3"/>
                      <a:pt x="545" y="3"/>
                      <a:pt x="542" y="4"/>
                    </a:cubicBezTo>
                    <a:cubicBezTo>
                      <a:pt x="539" y="4"/>
                      <a:pt x="540" y="5"/>
                      <a:pt x="539" y="5"/>
                    </a:cubicBezTo>
                    <a:cubicBezTo>
                      <a:pt x="537" y="5"/>
                      <a:pt x="538" y="6"/>
                      <a:pt x="538" y="6"/>
                    </a:cubicBezTo>
                    <a:cubicBezTo>
                      <a:pt x="539" y="6"/>
                      <a:pt x="540" y="6"/>
                      <a:pt x="542" y="9"/>
                    </a:cubicBezTo>
                    <a:cubicBezTo>
                      <a:pt x="544" y="11"/>
                      <a:pt x="538" y="9"/>
                      <a:pt x="534" y="7"/>
                    </a:cubicBezTo>
                    <a:cubicBezTo>
                      <a:pt x="530" y="6"/>
                      <a:pt x="526" y="5"/>
                      <a:pt x="523" y="5"/>
                    </a:cubicBezTo>
                    <a:cubicBezTo>
                      <a:pt x="521" y="6"/>
                      <a:pt x="519" y="7"/>
                      <a:pt x="521" y="9"/>
                    </a:cubicBezTo>
                    <a:cubicBezTo>
                      <a:pt x="523" y="10"/>
                      <a:pt x="521" y="10"/>
                      <a:pt x="521" y="10"/>
                    </a:cubicBezTo>
                    <a:cubicBezTo>
                      <a:pt x="521" y="10"/>
                      <a:pt x="512" y="8"/>
                      <a:pt x="510" y="8"/>
                    </a:cubicBezTo>
                    <a:cubicBezTo>
                      <a:pt x="508" y="8"/>
                      <a:pt x="508" y="8"/>
                      <a:pt x="509" y="9"/>
                    </a:cubicBezTo>
                    <a:cubicBezTo>
                      <a:pt x="510" y="10"/>
                      <a:pt x="508" y="10"/>
                      <a:pt x="509" y="13"/>
                    </a:cubicBezTo>
                    <a:cubicBezTo>
                      <a:pt x="509" y="16"/>
                      <a:pt x="511" y="17"/>
                      <a:pt x="514" y="17"/>
                    </a:cubicBezTo>
                    <a:cubicBezTo>
                      <a:pt x="517" y="16"/>
                      <a:pt x="519" y="17"/>
                      <a:pt x="522" y="17"/>
                    </a:cubicBezTo>
                    <a:cubicBezTo>
                      <a:pt x="524" y="17"/>
                      <a:pt x="527" y="18"/>
                      <a:pt x="533" y="18"/>
                    </a:cubicBezTo>
                    <a:cubicBezTo>
                      <a:pt x="538" y="18"/>
                      <a:pt x="534" y="19"/>
                      <a:pt x="532" y="19"/>
                    </a:cubicBezTo>
                    <a:cubicBezTo>
                      <a:pt x="531" y="19"/>
                      <a:pt x="527" y="19"/>
                      <a:pt x="522" y="19"/>
                    </a:cubicBezTo>
                    <a:cubicBezTo>
                      <a:pt x="518" y="19"/>
                      <a:pt x="515" y="20"/>
                      <a:pt x="511" y="21"/>
                    </a:cubicBezTo>
                    <a:cubicBezTo>
                      <a:pt x="507" y="23"/>
                      <a:pt x="517" y="23"/>
                      <a:pt x="518" y="22"/>
                    </a:cubicBezTo>
                    <a:cubicBezTo>
                      <a:pt x="520" y="22"/>
                      <a:pt x="519" y="21"/>
                      <a:pt x="526" y="22"/>
                    </a:cubicBezTo>
                    <a:cubicBezTo>
                      <a:pt x="533" y="22"/>
                      <a:pt x="529" y="23"/>
                      <a:pt x="527" y="23"/>
                    </a:cubicBezTo>
                    <a:cubicBezTo>
                      <a:pt x="525" y="22"/>
                      <a:pt x="522" y="23"/>
                      <a:pt x="521" y="23"/>
                    </a:cubicBezTo>
                    <a:cubicBezTo>
                      <a:pt x="520" y="23"/>
                      <a:pt x="518" y="24"/>
                      <a:pt x="514" y="23"/>
                    </a:cubicBezTo>
                    <a:cubicBezTo>
                      <a:pt x="510" y="23"/>
                      <a:pt x="509" y="24"/>
                      <a:pt x="506" y="24"/>
                    </a:cubicBezTo>
                    <a:cubicBezTo>
                      <a:pt x="503" y="25"/>
                      <a:pt x="505" y="25"/>
                      <a:pt x="506" y="26"/>
                    </a:cubicBezTo>
                    <a:cubicBezTo>
                      <a:pt x="507" y="26"/>
                      <a:pt x="507" y="26"/>
                      <a:pt x="508" y="27"/>
                    </a:cubicBezTo>
                    <a:cubicBezTo>
                      <a:pt x="509" y="29"/>
                      <a:pt x="509" y="29"/>
                      <a:pt x="511" y="31"/>
                    </a:cubicBezTo>
                    <a:cubicBezTo>
                      <a:pt x="513" y="32"/>
                      <a:pt x="511" y="32"/>
                      <a:pt x="511" y="32"/>
                    </a:cubicBezTo>
                    <a:cubicBezTo>
                      <a:pt x="510" y="32"/>
                      <a:pt x="510" y="32"/>
                      <a:pt x="508" y="31"/>
                    </a:cubicBezTo>
                    <a:cubicBezTo>
                      <a:pt x="507" y="31"/>
                      <a:pt x="506" y="29"/>
                      <a:pt x="505" y="28"/>
                    </a:cubicBezTo>
                    <a:cubicBezTo>
                      <a:pt x="505" y="28"/>
                      <a:pt x="503" y="27"/>
                      <a:pt x="503" y="27"/>
                    </a:cubicBezTo>
                    <a:cubicBezTo>
                      <a:pt x="497" y="25"/>
                      <a:pt x="492" y="25"/>
                      <a:pt x="488" y="26"/>
                    </a:cubicBezTo>
                    <a:cubicBezTo>
                      <a:pt x="484" y="26"/>
                      <a:pt x="480" y="24"/>
                      <a:pt x="480" y="24"/>
                    </a:cubicBezTo>
                    <a:cubicBezTo>
                      <a:pt x="479" y="23"/>
                      <a:pt x="475" y="22"/>
                      <a:pt x="473" y="21"/>
                    </a:cubicBezTo>
                    <a:cubicBezTo>
                      <a:pt x="470" y="19"/>
                      <a:pt x="470" y="20"/>
                      <a:pt x="466" y="20"/>
                    </a:cubicBezTo>
                    <a:cubicBezTo>
                      <a:pt x="463" y="20"/>
                      <a:pt x="462" y="19"/>
                      <a:pt x="465" y="18"/>
                    </a:cubicBezTo>
                    <a:cubicBezTo>
                      <a:pt x="467" y="16"/>
                      <a:pt x="462" y="16"/>
                      <a:pt x="460" y="16"/>
                    </a:cubicBezTo>
                    <a:cubicBezTo>
                      <a:pt x="459" y="16"/>
                      <a:pt x="447" y="14"/>
                      <a:pt x="444" y="14"/>
                    </a:cubicBezTo>
                    <a:cubicBezTo>
                      <a:pt x="441" y="13"/>
                      <a:pt x="439" y="15"/>
                      <a:pt x="435" y="16"/>
                    </a:cubicBezTo>
                    <a:cubicBezTo>
                      <a:pt x="430" y="16"/>
                      <a:pt x="434" y="17"/>
                      <a:pt x="435" y="17"/>
                    </a:cubicBezTo>
                    <a:cubicBezTo>
                      <a:pt x="436" y="18"/>
                      <a:pt x="436" y="17"/>
                      <a:pt x="443" y="18"/>
                    </a:cubicBezTo>
                    <a:cubicBezTo>
                      <a:pt x="450" y="20"/>
                      <a:pt x="447" y="20"/>
                      <a:pt x="445" y="20"/>
                    </a:cubicBezTo>
                    <a:cubicBezTo>
                      <a:pt x="443" y="19"/>
                      <a:pt x="441" y="19"/>
                      <a:pt x="440" y="19"/>
                    </a:cubicBezTo>
                    <a:cubicBezTo>
                      <a:pt x="439" y="20"/>
                      <a:pt x="421" y="19"/>
                      <a:pt x="421" y="19"/>
                    </a:cubicBezTo>
                    <a:cubicBezTo>
                      <a:pt x="421" y="19"/>
                      <a:pt x="414" y="18"/>
                      <a:pt x="411" y="18"/>
                    </a:cubicBezTo>
                    <a:cubicBezTo>
                      <a:pt x="407" y="18"/>
                      <a:pt x="411" y="21"/>
                      <a:pt x="412" y="21"/>
                    </a:cubicBezTo>
                    <a:cubicBezTo>
                      <a:pt x="413" y="21"/>
                      <a:pt x="414" y="22"/>
                      <a:pt x="417" y="23"/>
                    </a:cubicBezTo>
                    <a:cubicBezTo>
                      <a:pt x="419" y="24"/>
                      <a:pt x="429" y="25"/>
                      <a:pt x="435" y="26"/>
                    </a:cubicBezTo>
                    <a:cubicBezTo>
                      <a:pt x="442" y="27"/>
                      <a:pt x="430" y="27"/>
                      <a:pt x="427" y="27"/>
                    </a:cubicBezTo>
                    <a:cubicBezTo>
                      <a:pt x="424" y="26"/>
                      <a:pt x="421" y="26"/>
                      <a:pt x="419" y="26"/>
                    </a:cubicBezTo>
                    <a:cubicBezTo>
                      <a:pt x="418" y="26"/>
                      <a:pt x="415" y="27"/>
                      <a:pt x="415" y="26"/>
                    </a:cubicBezTo>
                    <a:cubicBezTo>
                      <a:pt x="416" y="24"/>
                      <a:pt x="412" y="26"/>
                      <a:pt x="400" y="25"/>
                    </a:cubicBezTo>
                    <a:cubicBezTo>
                      <a:pt x="387" y="25"/>
                      <a:pt x="395" y="26"/>
                      <a:pt x="396" y="26"/>
                    </a:cubicBezTo>
                    <a:cubicBezTo>
                      <a:pt x="396" y="26"/>
                      <a:pt x="425" y="28"/>
                      <a:pt x="429" y="29"/>
                    </a:cubicBezTo>
                    <a:cubicBezTo>
                      <a:pt x="432" y="29"/>
                      <a:pt x="477" y="33"/>
                      <a:pt x="480" y="33"/>
                    </a:cubicBezTo>
                    <a:cubicBezTo>
                      <a:pt x="483" y="34"/>
                      <a:pt x="488" y="34"/>
                      <a:pt x="491" y="35"/>
                    </a:cubicBezTo>
                    <a:cubicBezTo>
                      <a:pt x="493" y="35"/>
                      <a:pt x="493" y="38"/>
                      <a:pt x="491" y="39"/>
                    </a:cubicBezTo>
                    <a:cubicBezTo>
                      <a:pt x="490" y="40"/>
                      <a:pt x="491" y="41"/>
                      <a:pt x="493" y="42"/>
                    </a:cubicBezTo>
                    <a:cubicBezTo>
                      <a:pt x="494" y="43"/>
                      <a:pt x="494" y="41"/>
                      <a:pt x="493" y="44"/>
                    </a:cubicBezTo>
                    <a:cubicBezTo>
                      <a:pt x="493" y="47"/>
                      <a:pt x="492" y="46"/>
                      <a:pt x="491" y="46"/>
                    </a:cubicBezTo>
                    <a:cubicBezTo>
                      <a:pt x="490" y="46"/>
                      <a:pt x="489" y="44"/>
                      <a:pt x="490" y="44"/>
                    </a:cubicBezTo>
                    <a:cubicBezTo>
                      <a:pt x="490" y="43"/>
                      <a:pt x="490" y="42"/>
                      <a:pt x="489" y="41"/>
                    </a:cubicBezTo>
                    <a:cubicBezTo>
                      <a:pt x="488" y="40"/>
                      <a:pt x="486" y="40"/>
                      <a:pt x="485" y="40"/>
                    </a:cubicBezTo>
                    <a:cubicBezTo>
                      <a:pt x="484" y="40"/>
                      <a:pt x="483" y="40"/>
                      <a:pt x="480" y="38"/>
                    </a:cubicBezTo>
                    <a:cubicBezTo>
                      <a:pt x="476" y="36"/>
                      <a:pt x="468" y="34"/>
                      <a:pt x="466" y="33"/>
                    </a:cubicBezTo>
                    <a:cubicBezTo>
                      <a:pt x="463" y="33"/>
                      <a:pt x="466" y="37"/>
                      <a:pt x="467" y="40"/>
                    </a:cubicBezTo>
                    <a:cubicBezTo>
                      <a:pt x="468" y="43"/>
                      <a:pt x="466" y="44"/>
                      <a:pt x="465" y="43"/>
                    </a:cubicBezTo>
                    <a:cubicBezTo>
                      <a:pt x="463" y="42"/>
                      <a:pt x="463" y="40"/>
                      <a:pt x="464" y="38"/>
                    </a:cubicBezTo>
                    <a:cubicBezTo>
                      <a:pt x="464" y="37"/>
                      <a:pt x="464" y="36"/>
                      <a:pt x="461" y="34"/>
                    </a:cubicBezTo>
                    <a:cubicBezTo>
                      <a:pt x="458" y="31"/>
                      <a:pt x="433" y="32"/>
                      <a:pt x="431" y="32"/>
                    </a:cubicBezTo>
                    <a:cubicBezTo>
                      <a:pt x="429" y="32"/>
                      <a:pt x="415" y="32"/>
                      <a:pt x="412" y="32"/>
                    </a:cubicBezTo>
                    <a:cubicBezTo>
                      <a:pt x="409" y="32"/>
                      <a:pt x="412" y="33"/>
                      <a:pt x="413" y="34"/>
                    </a:cubicBezTo>
                    <a:cubicBezTo>
                      <a:pt x="414" y="34"/>
                      <a:pt x="424" y="40"/>
                      <a:pt x="428" y="44"/>
                    </a:cubicBezTo>
                    <a:cubicBezTo>
                      <a:pt x="433" y="48"/>
                      <a:pt x="438" y="50"/>
                      <a:pt x="443" y="50"/>
                    </a:cubicBezTo>
                    <a:cubicBezTo>
                      <a:pt x="449" y="51"/>
                      <a:pt x="449" y="51"/>
                      <a:pt x="446" y="51"/>
                    </a:cubicBezTo>
                    <a:cubicBezTo>
                      <a:pt x="444" y="52"/>
                      <a:pt x="434" y="50"/>
                      <a:pt x="432" y="49"/>
                    </a:cubicBezTo>
                    <a:cubicBezTo>
                      <a:pt x="431" y="49"/>
                      <a:pt x="428" y="49"/>
                      <a:pt x="425" y="50"/>
                    </a:cubicBezTo>
                    <a:cubicBezTo>
                      <a:pt x="421" y="50"/>
                      <a:pt x="421" y="50"/>
                      <a:pt x="423" y="53"/>
                    </a:cubicBezTo>
                    <a:cubicBezTo>
                      <a:pt x="425" y="56"/>
                      <a:pt x="425" y="56"/>
                      <a:pt x="424" y="57"/>
                    </a:cubicBezTo>
                    <a:cubicBezTo>
                      <a:pt x="422" y="58"/>
                      <a:pt x="425" y="63"/>
                      <a:pt x="426" y="65"/>
                    </a:cubicBezTo>
                    <a:cubicBezTo>
                      <a:pt x="428" y="67"/>
                      <a:pt x="426" y="67"/>
                      <a:pt x="425" y="68"/>
                    </a:cubicBezTo>
                    <a:cubicBezTo>
                      <a:pt x="424" y="68"/>
                      <a:pt x="422" y="69"/>
                      <a:pt x="421" y="69"/>
                    </a:cubicBezTo>
                    <a:cubicBezTo>
                      <a:pt x="420" y="68"/>
                      <a:pt x="416" y="68"/>
                      <a:pt x="415" y="68"/>
                    </a:cubicBezTo>
                    <a:cubicBezTo>
                      <a:pt x="414" y="67"/>
                      <a:pt x="411" y="66"/>
                      <a:pt x="409" y="64"/>
                    </a:cubicBezTo>
                    <a:cubicBezTo>
                      <a:pt x="406" y="63"/>
                      <a:pt x="404" y="62"/>
                      <a:pt x="403" y="62"/>
                    </a:cubicBezTo>
                    <a:cubicBezTo>
                      <a:pt x="402" y="62"/>
                      <a:pt x="402" y="62"/>
                      <a:pt x="402" y="61"/>
                    </a:cubicBezTo>
                    <a:cubicBezTo>
                      <a:pt x="402" y="60"/>
                      <a:pt x="402" y="60"/>
                      <a:pt x="401" y="59"/>
                    </a:cubicBezTo>
                    <a:cubicBezTo>
                      <a:pt x="400" y="59"/>
                      <a:pt x="396" y="57"/>
                      <a:pt x="394" y="56"/>
                    </a:cubicBezTo>
                    <a:cubicBezTo>
                      <a:pt x="392" y="56"/>
                      <a:pt x="390" y="56"/>
                      <a:pt x="388" y="55"/>
                    </a:cubicBezTo>
                    <a:cubicBezTo>
                      <a:pt x="386" y="55"/>
                      <a:pt x="384" y="54"/>
                      <a:pt x="380" y="54"/>
                    </a:cubicBezTo>
                    <a:cubicBezTo>
                      <a:pt x="376" y="55"/>
                      <a:pt x="379" y="53"/>
                      <a:pt x="378" y="52"/>
                    </a:cubicBezTo>
                    <a:cubicBezTo>
                      <a:pt x="377" y="51"/>
                      <a:pt x="374" y="50"/>
                      <a:pt x="370" y="50"/>
                    </a:cubicBezTo>
                    <a:cubicBezTo>
                      <a:pt x="366" y="49"/>
                      <a:pt x="362" y="48"/>
                      <a:pt x="359" y="45"/>
                    </a:cubicBezTo>
                    <a:cubicBezTo>
                      <a:pt x="356" y="42"/>
                      <a:pt x="340" y="41"/>
                      <a:pt x="338" y="42"/>
                    </a:cubicBezTo>
                    <a:cubicBezTo>
                      <a:pt x="337" y="42"/>
                      <a:pt x="331" y="42"/>
                      <a:pt x="328" y="42"/>
                    </a:cubicBezTo>
                    <a:cubicBezTo>
                      <a:pt x="325" y="42"/>
                      <a:pt x="326" y="43"/>
                      <a:pt x="327" y="45"/>
                    </a:cubicBezTo>
                    <a:cubicBezTo>
                      <a:pt x="329" y="47"/>
                      <a:pt x="330" y="47"/>
                      <a:pt x="331" y="50"/>
                    </a:cubicBezTo>
                    <a:cubicBezTo>
                      <a:pt x="331" y="54"/>
                      <a:pt x="334" y="55"/>
                      <a:pt x="336" y="56"/>
                    </a:cubicBezTo>
                    <a:cubicBezTo>
                      <a:pt x="337" y="56"/>
                      <a:pt x="342" y="60"/>
                      <a:pt x="346" y="61"/>
                    </a:cubicBezTo>
                    <a:cubicBezTo>
                      <a:pt x="350" y="62"/>
                      <a:pt x="351" y="63"/>
                      <a:pt x="349" y="64"/>
                    </a:cubicBezTo>
                    <a:cubicBezTo>
                      <a:pt x="347" y="65"/>
                      <a:pt x="343" y="65"/>
                      <a:pt x="342" y="64"/>
                    </a:cubicBezTo>
                    <a:cubicBezTo>
                      <a:pt x="341" y="64"/>
                      <a:pt x="339" y="64"/>
                      <a:pt x="337" y="64"/>
                    </a:cubicBezTo>
                    <a:cubicBezTo>
                      <a:pt x="336" y="64"/>
                      <a:pt x="333" y="63"/>
                      <a:pt x="332" y="63"/>
                    </a:cubicBezTo>
                    <a:cubicBezTo>
                      <a:pt x="330" y="62"/>
                      <a:pt x="328" y="62"/>
                      <a:pt x="327" y="63"/>
                    </a:cubicBezTo>
                    <a:cubicBezTo>
                      <a:pt x="326" y="64"/>
                      <a:pt x="330" y="65"/>
                      <a:pt x="331" y="65"/>
                    </a:cubicBezTo>
                    <a:cubicBezTo>
                      <a:pt x="331" y="65"/>
                      <a:pt x="333" y="66"/>
                      <a:pt x="333" y="66"/>
                    </a:cubicBezTo>
                    <a:cubicBezTo>
                      <a:pt x="334" y="67"/>
                      <a:pt x="334" y="68"/>
                      <a:pt x="336" y="68"/>
                    </a:cubicBezTo>
                    <a:cubicBezTo>
                      <a:pt x="338" y="69"/>
                      <a:pt x="341" y="69"/>
                      <a:pt x="343" y="70"/>
                    </a:cubicBezTo>
                    <a:cubicBezTo>
                      <a:pt x="344" y="71"/>
                      <a:pt x="344" y="72"/>
                      <a:pt x="346" y="73"/>
                    </a:cubicBezTo>
                    <a:cubicBezTo>
                      <a:pt x="348" y="73"/>
                      <a:pt x="347" y="73"/>
                      <a:pt x="346" y="74"/>
                    </a:cubicBezTo>
                    <a:cubicBezTo>
                      <a:pt x="344" y="74"/>
                      <a:pt x="341" y="74"/>
                      <a:pt x="340" y="72"/>
                    </a:cubicBezTo>
                    <a:cubicBezTo>
                      <a:pt x="339" y="70"/>
                      <a:pt x="338" y="70"/>
                      <a:pt x="336" y="70"/>
                    </a:cubicBezTo>
                    <a:cubicBezTo>
                      <a:pt x="335" y="69"/>
                      <a:pt x="332" y="68"/>
                      <a:pt x="331" y="68"/>
                    </a:cubicBezTo>
                    <a:cubicBezTo>
                      <a:pt x="330" y="68"/>
                      <a:pt x="328" y="66"/>
                      <a:pt x="327" y="66"/>
                    </a:cubicBezTo>
                    <a:cubicBezTo>
                      <a:pt x="326" y="66"/>
                      <a:pt x="324" y="65"/>
                      <a:pt x="323" y="64"/>
                    </a:cubicBezTo>
                    <a:cubicBezTo>
                      <a:pt x="322" y="64"/>
                      <a:pt x="319" y="63"/>
                      <a:pt x="319" y="63"/>
                    </a:cubicBezTo>
                    <a:cubicBezTo>
                      <a:pt x="318" y="63"/>
                      <a:pt x="315" y="63"/>
                      <a:pt x="313" y="63"/>
                    </a:cubicBezTo>
                    <a:cubicBezTo>
                      <a:pt x="311" y="62"/>
                      <a:pt x="307" y="60"/>
                      <a:pt x="307" y="60"/>
                    </a:cubicBezTo>
                    <a:cubicBezTo>
                      <a:pt x="304" y="60"/>
                      <a:pt x="299" y="60"/>
                      <a:pt x="298" y="60"/>
                    </a:cubicBezTo>
                    <a:cubicBezTo>
                      <a:pt x="297" y="60"/>
                      <a:pt x="298" y="61"/>
                      <a:pt x="297" y="62"/>
                    </a:cubicBezTo>
                    <a:cubicBezTo>
                      <a:pt x="297" y="64"/>
                      <a:pt x="291" y="70"/>
                      <a:pt x="290" y="72"/>
                    </a:cubicBezTo>
                    <a:cubicBezTo>
                      <a:pt x="289" y="73"/>
                      <a:pt x="290" y="74"/>
                      <a:pt x="290" y="75"/>
                    </a:cubicBezTo>
                    <a:cubicBezTo>
                      <a:pt x="290" y="76"/>
                      <a:pt x="289" y="76"/>
                      <a:pt x="289" y="77"/>
                    </a:cubicBezTo>
                    <a:cubicBezTo>
                      <a:pt x="290" y="78"/>
                      <a:pt x="289" y="78"/>
                      <a:pt x="287" y="77"/>
                    </a:cubicBezTo>
                    <a:cubicBezTo>
                      <a:pt x="285" y="76"/>
                      <a:pt x="286" y="73"/>
                      <a:pt x="286" y="71"/>
                    </a:cubicBezTo>
                    <a:cubicBezTo>
                      <a:pt x="286" y="70"/>
                      <a:pt x="287" y="69"/>
                      <a:pt x="289" y="66"/>
                    </a:cubicBezTo>
                    <a:cubicBezTo>
                      <a:pt x="291" y="63"/>
                      <a:pt x="290" y="62"/>
                      <a:pt x="290" y="61"/>
                    </a:cubicBezTo>
                    <a:cubicBezTo>
                      <a:pt x="289" y="60"/>
                      <a:pt x="289" y="59"/>
                      <a:pt x="289" y="58"/>
                    </a:cubicBezTo>
                    <a:cubicBezTo>
                      <a:pt x="289" y="57"/>
                      <a:pt x="288" y="56"/>
                      <a:pt x="288" y="56"/>
                    </a:cubicBezTo>
                    <a:cubicBezTo>
                      <a:pt x="288" y="56"/>
                      <a:pt x="279" y="49"/>
                      <a:pt x="277" y="48"/>
                    </a:cubicBezTo>
                    <a:cubicBezTo>
                      <a:pt x="275" y="47"/>
                      <a:pt x="271" y="48"/>
                      <a:pt x="270" y="48"/>
                    </a:cubicBezTo>
                    <a:cubicBezTo>
                      <a:pt x="269" y="49"/>
                      <a:pt x="265" y="49"/>
                      <a:pt x="262" y="49"/>
                    </a:cubicBezTo>
                    <a:cubicBezTo>
                      <a:pt x="260" y="50"/>
                      <a:pt x="261" y="50"/>
                      <a:pt x="263" y="50"/>
                    </a:cubicBezTo>
                    <a:cubicBezTo>
                      <a:pt x="265" y="50"/>
                      <a:pt x="262" y="51"/>
                      <a:pt x="261" y="51"/>
                    </a:cubicBezTo>
                    <a:cubicBezTo>
                      <a:pt x="260" y="51"/>
                      <a:pt x="254" y="51"/>
                      <a:pt x="253" y="51"/>
                    </a:cubicBezTo>
                    <a:cubicBezTo>
                      <a:pt x="252" y="51"/>
                      <a:pt x="249" y="51"/>
                      <a:pt x="247" y="52"/>
                    </a:cubicBezTo>
                    <a:cubicBezTo>
                      <a:pt x="245" y="52"/>
                      <a:pt x="242" y="52"/>
                      <a:pt x="241" y="53"/>
                    </a:cubicBezTo>
                    <a:cubicBezTo>
                      <a:pt x="239" y="53"/>
                      <a:pt x="235" y="54"/>
                      <a:pt x="230" y="54"/>
                    </a:cubicBezTo>
                    <a:cubicBezTo>
                      <a:pt x="225" y="55"/>
                      <a:pt x="205" y="60"/>
                      <a:pt x="203" y="60"/>
                    </a:cubicBezTo>
                    <a:cubicBezTo>
                      <a:pt x="201" y="60"/>
                      <a:pt x="203" y="61"/>
                      <a:pt x="203" y="61"/>
                    </a:cubicBezTo>
                    <a:cubicBezTo>
                      <a:pt x="239" y="80"/>
                      <a:pt x="239" y="80"/>
                      <a:pt x="239" y="80"/>
                    </a:cubicBezTo>
                    <a:cubicBezTo>
                      <a:pt x="239" y="80"/>
                      <a:pt x="245" y="83"/>
                      <a:pt x="246" y="84"/>
                    </a:cubicBezTo>
                    <a:cubicBezTo>
                      <a:pt x="247" y="85"/>
                      <a:pt x="245" y="83"/>
                      <a:pt x="244" y="83"/>
                    </a:cubicBezTo>
                    <a:cubicBezTo>
                      <a:pt x="243" y="82"/>
                      <a:pt x="242" y="82"/>
                      <a:pt x="241" y="82"/>
                    </a:cubicBezTo>
                    <a:cubicBezTo>
                      <a:pt x="239" y="82"/>
                      <a:pt x="237" y="81"/>
                      <a:pt x="236" y="81"/>
                    </a:cubicBezTo>
                    <a:cubicBezTo>
                      <a:pt x="235" y="81"/>
                      <a:pt x="236" y="80"/>
                      <a:pt x="235" y="79"/>
                    </a:cubicBezTo>
                    <a:cubicBezTo>
                      <a:pt x="233" y="77"/>
                      <a:pt x="232" y="78"/>
                      <a:pt x="231" y="76"/>
                    </a:cubicBezTo>
                    <a:cubicBezTo>
                      <a:pt x="229" y="75"/>
                      <a:pt x="227" y="75"/>
                      <a:pt x="226" y="75"/>
                    </a:cubicBezTo>
                    <a:cubicBezTo>
                      <a:pt x="225" y="75"/>
                      <a:pt x="224" y="75"/>
                      <a:pt x="218" y="73"/>
                    </a:cubicBezTo>
                    <a:cubicBezTo>
                      <a:pt x="213" y="72"/>
                      <a:pt x="212" y="71"/>
                      <a:pt x="213" y="69"/>
                    </a:cubicBezTo>
                    <a:cubicBezTo>
                      <a:pt x="214" y="68"/>
                      <a:pt x="213" y="69"/>
                      <a:pt x="212" y="67"/>
                    </a:cubicBezTo>
                    <a:cubicBezTo>
                      <a:pt x="211" y="65"/>
                      <a:pt x="210" y="65"/>
                      <a:pt x="210" y="65"/>
                    </a:cubicBezTo>
                    <a:cubicBezTo>
                      <a:pt x="207" y="64"/>
                      <a:pt x="199" y="64"/>
                      <a:pt x="198" y="65"/>
                    </a:cubicBezTo>
                    <a:cubicBezTo>
                      <a:pt x="196" y="65"/>
                      <a:pt x="185" y="67"/>
                      <a:pt x="184" y="67"/>
                    </a:cubicBezTo>
                    <a:cubicBezTo>
                      <a:pt x="182" y="67"/>
                      <a:pt x="176" y="68"/>
                      <a:pt x="174" y="69"/>
                    </a:cubicBezTo>
                    <a:cubicBezTo>
                      <a:pt x="171" y="69"/>
                      <a:pt x="175" y="73"/>
                      <a:pt x="177" y="74"/>
                    </a:cubicBezTo>
                    <a:cubicBezTo>
                      <a:pt x="179" y="75"/>
                      <a:pt x="178" y="77"/>
                      <a:pt x="178" y="77"/>
                    </a:cubicBezTo>
                    <a:cubicBezTo>
                      <a:pt x="178" y="78"/>
                      <a:pt x="175" y="82"/>
                      <a:pt x="175" y="82"/>
                    </a:cubicBezTo>
                    <a:cubicBezTo>
                      <a:pt x="174" y="83"/>
                      <a:pt x="174" y="84"/>
                      <a:pt x="175" y="84"/>
                    </a:cubicBezTo>
                    <a:cubicBezTo>
                      <a:pt x="177" y="85"/>
                      <a:pt x="177" y="86"/>
                      <a:pt x="178" y="88"/>
                    </a:cubicBezTo>
                    <a:cubicBezTo>
                      <a:pt x="178" y="90"/>
                      <a:pt x="177" y="91"/>
                      <a:pt x="176" y="91"/>
                    </a:cubicBezTo>
                    <a:cubicBezTo>
                      <a:pt x="175" y="91"/>
                      <a:pt x="173" y="93"/>
                      <a:pt x="171" y="93"/>
                    </a:cubicBezTo>
                    <a:cubicBezTo>
                      <a:pt x="170" y="94"/>
                      <a:pt x="163" y="90"/>
                      <a:pt x="162" y="89"/>
                    </a:cubicBezTo>
                    <a:cubicBezTo>
                      <a:pt x="161" y="89"/>
                      <a:pt x="157" y="89"/>
                      <a:pt x="156" y="88"/>
                    </a:cubicBezTo>
                    <a:cubicBezTo>
                      <a:pt x="156" y="88"/>
                      <a:pt x="147" y="89"/>
                      <a:pt x="145" y="90"/>
                    </a:cubicBezTo>
                    <a:cubicBezTo>
                      <a:pt x="142" y="91"/>
                      <a:pt x="145" y="95"/>
                      <a:pt x="146" y="96"/>
                    </a:cubicBezTo>
                    <a:cubicBezTo>
                      <a:pt x="147" y="98"/>
                      <a:pt x="149" y="99"/>
                      <a:pt x="151" y="102"/>
                    </a:cubicBezTo>
                    <a:cubicBezTo>
                      <a:pt x="153" y="105"/>
                      <a:pt x="152" y="103"/>
                      <a:pt x="151" y="103"/>
                    </a:cubicBezTo>
                    <a:cubicBezTo>
                      <a:pt x="151" y="103"/>
                      <a:pt x="150" y="102"/>
                      <a:pt x="147" y="99"/>
                    </a:cubicBezTo>
                    <a:cubicBezTo>
                      <a:pt x="144" y="97"/>
                      <a:pt x="143" y="94"/>
                      <a:pt x="143" y="93"/>
                    </a:cubicBezTo>
                    <a:cubicBezTo>
                      <a:pt x="143" y="93"/>
                      <a:pt x="142" y="94"/>
                      <a:pt x="142" y="94"/>
                    </a:cubicBezTo>
                    <a:cubicBezTo>
                      <a:pt x="142" y="94"/>
                      <a:pt x="91" y="115"/>
                      <a:pt x="90" y="115"/>
                    </a:cubicBezTo>
                    <a:cubicBezTo>
                      <a:pt x="90" y="115"/>
                      <a:pt x="87" y="117"/>
                      <a:pt x="85" y="117"/>
                    </a:cubicBezTo>
                    <a:cubicBezTo>
                      <a:pt x="84" y="117"/>
                      <a:pt x="83" y="119"/>
                      <a:pt x="83" y="119"/>
                    </a:cubicBezTo>
                    <a:cubicBezTo>
                      <a:pt x="83" y="120"/>
                      <a:pt x="82" y="120"/>
                      <a:pt x="82" y="121"/>
                    </a:cubicBezTo>
                    <a:cubicBezTo>
                      <a:pt x="82" y="122"/>
                      <a:pt x="83" y="122"/>
                      <a:pt x="83" y="123"/>
                    </a:cubicBezTo>
                    <a:cubicBezTo>
                      <a:pt x="82" y="124"/>
                      <a:pt x="87" y="125"/>
                      <a:pt x="88" y="125"/>
                    </a:cubicBezTo>
                    <a:cubicBezTo>
                      <a:pt x="88" y="126"/>
                      <a:pt x="89" y="127"/>
                      <a:pt x="89" y="128"/>
                    </a:cubicBezTo>
                    <a:cubicBezTo>
                      <a:pt x="88" y="128"/>
                      <a:pt x="90" y="128"/>
                      <a:pt x="91" y="128"/>
                    </a:cubicBezTo>
                    <a:cubicBezTo>
                      <a:pt x="92" y="128"/>
                      <a:pt x="95" y="128"/>
                      <a:pt x="97" y="127"/>
                    </a:cubicBezTo>
                    <a:cubicBezTo>
                      <a:pt x="99" y="126"/>
                      <a:pt x="102" y="127"/>
                      <a:pt x="103" y="129"/>
                    </a:cubicBezTo>
                    <a:cubicBezTo>
                      <a:pt x="104" y="130"/>
                      <a:pt x="110" y="130"/>
                      <a:pt x="113" y="128"/>
                    </a:cubicBezTo>
                    <a:cubicBezTo>
                      <a:pt x="116" y="126"/>
                      <a:pt x="116" y="127"/>
                      <a:pt x="120" y="128"/>
                    </a:cubicBezTo>
                    <a:cubicBezTo>
                      <a:pt x="124" y="128"/>
                      <a:pt x="129" y="124"/>
                      <a:pt x="130" y="122"/>
                    </a:cubicBezTo>
                    <a:cubicBezTo>
                      <a:pt x="132" y="121"/>
                      <a:pt x="132" y="122"/>
                      <a:pt x="132" y="123"/>
                    </a:cubicBezTo>
                    <a:cubicBezTo>
                      <a:pt x="131" y="125"/>
                      <a:pt x="132" y="125"/>
                      <a:pt x="134" y="125"/>
                    </a:cubicBezTo>
                    <a:cubicBezTo>
                      <a:pt x="136" y="125"/>
                      <a:pt x="137" y="125"/>
                      <a:pt x="136" y="125"/>
                    </a:cubicBezTo>
                    <a:cubicBezTo>
                      <a:pt x="134" y="126"/>
                      <a:pt x="133" y="126"/>
                      <a:pt x="132" y="125"/>
                    </a:cubicBezTo>
                    <a:cubicBezTo>
                      <a:pt x="131" y="125"/>
                      <a:pt x="129" y="127"/>
                      <a:pt x="129" y="128"/>
                    </a:cubicBezTo>
                    <a:cubicBezTo>
                      <a:pt x="129" y="128"/>
                      <a:pt x="122" y="129"/>
                      <a:pt x="120" y="130"/>
                    </a:cubicBezTo>
                    <a:cubicBezTo>
                      <a:pt x="118" y="130"/>
                      <a:pt x="120" y="130"/>
                      <a:pt x="120" y="131"/>
                    </a:cubicBezTo>
                    <a:cubicBezTo>
                      <a:pt x="120" y="132"/>
                      <a:pt x="120" y="132"/>
                      <a:pt x="119" y="134"/>
                    </a:cubicBezTo>
                    <a:cubicBezTo>
                      <a:pt x="118" y="135"/>
                      <a:pt x="119" y="136"/>
                      <a:pt x="119" y="137"/>
                    </a:cubicBezTo>
                    <a:cubicBezTo>
                      <a:pt x="119" y="138"/>
                      <a:pt x="119" y="138"/>
                      <a:pt x="120" y="139"/>
                    </a:cubicBezTo>
                    <a:cubicBezTo>
                      <a:pt x="121" y="140"/>
                      <a:pt x="120" y="140"/>
                      <a:pt x="120" y="140"/>
                    </a:cubicBezTo>
                    <a:cubicBezTo>
                      <a:pt x="120" y="140"/>
                      <a:pt x="111" y="155"/>
                      <a:pt x="108" y="158"/>
                    </a:cubicBezTo>
                    <a:cubicBezTo>
                      <a:pt x="105" y="161"/>
                      <a:pt x="102" y="160"/>
                      <a:pt x="102" y="160"/>
                    </a:cubicBezTo>
                    <a:cubicBezTo>
                      <a:pt x="102" y="160"/>
                      <a:pt x="101" y="160"/>
                      <a:pt x="100" y="160"/>
                    </a:cubicBezTo>
                    <a:cubicBezTo>
                      <a:pt x="100" y="159"/>
                      <a:pt x="99" y="159"/>
                      <a:pt x="98" y="159"/>
                    </a:cubicBezTo>
                    <a:cubicBezTo>
                      <a:pt x="97" y="159"/>
                      <a:pt x="96" y="158"/>
                      <a:pt x="95" y="159"/>
                    </a:cubicBezTo>
                    <a:cubicBezTo>
                      <a:pt x="94" y="159"/>
                      <a:pt x="93" y="159"/>
                      <a:pt x="93" y="159"/>
                    </a:cubicBezTo>
                    <a:cubicBezTo>
                      <a:pt x="92" y="160"/>
                      <a:pt x="92" y="160"/>
                      <a:pt x="91" y="160"/>
                    </a:cubicBezTo>
                    <a:cubicBezTo>
                      <a:pt x="91" y="159"/>
                      <a:pt x="91" y="159"/>
                      <a:pt x="91" y="159"/>
                    </a:cubicBezTo>
                    <a:cubicBezTo>
                      <a:pt x="91" y="159"/>
                      <a:pt x="90" y="160"/>
                      <a:pt x="89" y="159"/>
                    </a:cubicBezTo>
                    <a:cubicBezTo>
                      <a:pt x="89" y="159"/>
                      <a:pt x="89" y="159"/>
                      <a:pt x="88" y="159"/>
                    </a:cubicBezTo>
                    <a:cubicBezTo>
                      <a:pt x="87" y="160"/>
                      <a:pt x="87" y="160"/>
                      <a:pt x="85" y="159"/>
                    </a:cubicBezTo>
                    <a:cubicBezTo>
                      <a:pt x="84" y="159"/>
                      <a:pt x="81" y="159"/>
                      <a:pt x="81" y="159"/>
                    </a:cubicBezTo>
                    <a:cubicBezTo>
                      <a:pt x="81" y="159"/>
                      <a:pt x="60" y="164"/>
                      <a:pt x="58" y="165"/>
                    </a:cubicBezTo>
                    <a:cubicBezTo>
                      <a:pt x="57" y="165"/>
                      <a:pt x="58" y="166"/>
                      <a:pt x="59" y="166"/>
                    </a:cubicBezTo>
                    <a:cubicBezTo>
                      <a:pt x="60" y="166"/>
                      <a:pt x="60" y="166"/>
                      <a:pt x="62" y="168"/>
                    </a:cubicBezTo>
                    <a:cubicBezTo>
                      <a:pt x="64" y="169"/>
                      <a:pt x="62" y="169"/>
                      <a:pt x="62" y="169"/>
                    </a:cubicBezTo>
                    <a:cubicBezTo>
                      <a:pt x="62" y="169"/>
                      <a:pt x="38" y="176"/>
                      <a:pt x="37" y="176"/>
                    </a:cubicBezTo>
                    <a:cubicBezTo>
                      <a:pt x="36" y="176"/>
                      <a:pt x="34" y="176"/>
                      <a:pt x="33" y="176"/>
                    </a:cubicBezTo>
                    <a:cubicBezTo>
                      <a:pt x="32" y="176"/>
                      <a:pt x="30" y="176"/>
                      <a:pt x="30" y="176"/>
                    </a:cubicBezTo>
                    <a:cubicBezTo>
                      <a:pt x="29" y="176"/>
                      <a:pt x="9" y="179"/>
                      <a:pt x="8" y="179"/>
                    </a:cubicBezTo>
                    <a:cubicBezTo>
                      <a:pt x="7" y="179"/>
                      <a:pt x="7" y="179"/>
                      <a:pt x="7" y="180"/>
                    </a:cubicBezTo>
                    <a:cubicBezTo>
                      <a:pt x="7" y="180"/>
                      <a:pt x="7" y="181"/>
                      <a:pt x="6" y="181"/>
                    </a:cubicBezTo>
                    <a:cubicBezTo>
                      <a:pt x="6" y="182"/>
                      <a:pt x="6" y="182"/>
                      <a:pt x="7" y="182"/>
                    </a:cubicBezTo>
                    <a:cubicBezTo>
                      <a:pt x="7" y="183"/>
                      <a:pt x="7" y="183"/>
                      <a:pt x="6" y="183"/>
                    </a:cubicBezTo>
                    <a:cubicBezTo>
                      <a:pt x="5" y="184"/>
                      <a:pt x="4" y="185"/>
                      <a:pt x="3" y="186"/>
                    </a:cubicBezTo>
                    <a:cubicBezTo>
                      <a:pt x="3" y="188"/>
                      <a:pt x="2" y="188"/>
                      <a:pt x="1" y="190"/>
                    </a:cubicBezTo>
                    <a:cubicBezTo>
                      <a:pt x="0" y="191"/>
                      <a:pt x="1" y="191"/>
                      <a:pt x="1" y="191"/>
                    </a:cubicBezTo>
                    <a:cubicBezTo>
                      <a:pt x="1" y="191"/>
                      <a:pt x="20" y="197"/>
                      <a:pt x="23" y="198"/>
                    </a:cubicBezTo>
                    <a:cubicBezTo>
                      <a:pt x="26" y="199"/>
                      <a:pt x="27" y="201"/>
                      <a:pt x="27" y="203"/>
                    </a:cubicBezTo>
                    <a:cubicBezTo>
                      <a:pt x="26" y="205"/>
                      <a:pt x="35" y="203"/>
                      <a:pt x="39" y="202"/>
                    </a:cubicBezTo>
                    <a:cubicBezTo>
                      <a:pt x="42" y="201"/>
                      <a:pt x="43" y="202"/>
                      <a:pt x="42" y="203"/>
                    </a:cubicBezTo>
                    <a:cubicBezTo>
                      <a:pt x="41" y="203"/>
                      <a:pt x="38" y="204"/>
                      <a:pt x="37" y="205"/>
                    </a:cubicBezTo>
                    <a:cubicBezTo>
                      <a:pt x="35" y="206"/>
                      <a:pt x="37" y="207"/>
                      <a:pt x="40" y="207"/>
                    </a:cubicBezTo>
                    <a:cubicBezTo>
                      <a:pt x="42" y="207"/>
                      <a:pt x="48" y="205"/>
                      <a:pt x="51" y="205"/>
                    </a:cubicBezTo>
                    <a:cubicBezTo>
                      <a:pt x="54" y="204"/>
                      <a:pt x="52" y="206"/>
                      <a:pt x="51" y="207"/>
                    </a:cubicBezTo>
                    <a:cubicBezTo>
                      <a:pt x="50" y="207"/>
                      <a:pt x="53" y="210"/>
                      <a:pt x="55" y="211"/>
                    </a:cubicBezTo>
                    <a:cubicBezTo>
                      <a:pt x="57" y="213"/>
                      <a:pt x="60" y="213"/>
                      <a:pt x="62" y="213"/>
                    </a:cubicBezTo>
                    <a:cubicBezTo>
                      <a:pt x="64" y="212"/>
                      <a:pt x="66" y="213"/>
                      <a:pt x="66" y="209"/>
                    </a:cubicBezTo>
                    <a:cubicBezTo>
                      <a:pt x="66" y="205"/>
                      <a:pt x="69" y="211"/>
                      <a:pt x="71" y="211"/>
                    </a:cubicBezTo>
                    <a:cubicBezTo>
                      <a:pt x="73" y="212"/>
                      <a:pt x="83" y="211"/>
                      <a:pt x="85" y="210"/>
                    </a:cubicBezTo>
                    <a:cubicBezTo>
                      <a:pt x="87" y="209"/>
                      <a:pt x="93" y="209"/>
                      <a:pt x="95" y="209"/>
                    </a:cubicBezTo>
                    <a:cubicBezTo>
                      <a:pt x="97" y="208"/>
                      <a:pt x="102" y="210"/>
                      <a:pt x="104" y="211"/>
                    </a:cubicBezTo>
                    <a:cubicBezTo>
                      <a:pt x="105" y="213"/>
                      <a:pt x="101" y="214"/>
                      <a:pt x="99" y="214"/>
                    </a:cubicBezTo>
                    <a:cubicBezTo>
                      <a:pt x="96" y="214"/>
                      <a:pt x="97" y="215"/>
                      <a:pt x="99" y="217"/>
                    </a:cubicBezTo>
                    <a:cubicBezTo>
                      <a:pt x="102" y="219"/>
                      <a:pt x="101" y="220"/>
                      <a:pt x="100" y="220"/>
                    </a:cubicBezTo>
                    <a:cubicBezTo>
                      <a:pt x="99" y="220"/>
                      <a:pt x="97" y="219"/>
                      <a:pt x="96" y="218"/>
                    </a:cubicBezTo>
                    <a:cubicBezTo>
                      <a:pt x="94" y="217"/>
                      <a:pt x="86" y="216"/>
                      <a:pt x="84" y="215"/>
                    </a:cubicBezTo>
                    <a:cubicBezTo>
                      <a:pt x="83" y="215"/>
                      <a:pt x="73" y="216"/>
                      <a:pt x="69" y="216"/>
                    </a:cubicBezTo>
                    <a:cubicBezTo>
                      <a:pt x="66" y="216"/>
                      <a:pt x="64" y="217"/>
                      <a:pt x="62" y="219"/>
                    </a:cubicBezTo>
                    <a:cubicBezTo>
                      <a:pt x="60" y="221"/>
                      <a:pt x="71" y="221"/>
                      <a:pt x="76" y="220"/>
                    </a:cubicBezTo>
                    <a:cubicBezTo>
                      <a:pt x="81" y="220"/>
                      <a:pt x="79" y="222"/>
                      <a:pt x="79" y="222"/>
                    </a:cubicBezTo>
                    <a:cubicBezTo>
                      <a:pt x="79" y="222"/>
                      <a:pt x="74" y="222"/>
                      <a:pt x="73" y="222"/>
                    </a:cubicBezTo>
                    <a:cubicBezTo>
                      <a:pt x="72" y="222"/>
                      <a:pt x="68" y="223"/>
                      <a:pt x="64" y="222"/>
                    </a:cubicBezTo>
                    <a:cubicBezTo>
                      <a:pt x="61" y="221"/>
                      <a:pt x="45" y="220"/>
                      <a:pt x="44" y="220"/>
                    </a:cubicBezTo>
                    <a:cubicBezTo>
                      <a:pt x="43" y="220"/>
                      <a:pt x="35" y="221"/>
                      <a:pt x="35" y="222"/>
                    </a:cubicBezTo>
                    <a:cubicBezTo>
                      <a:pt x="35" y="222"/>
                      <a:pt x="33" y="223"/>
                      <a:pt x="32" y="223"/>
                    </a:cubicBezTo>
                    <a:cubicBezTo>
                      <a:pt x="31" y="223"/>
                      <a:pt x="29" y="223"/>
                      <a:pt x="28" y="224"/>
                    </a:cubicBezTo>
                    <a:cubicBezTo>
                      <a:pt x="27" y="225"/>
                      <a:pt x="26" y="226"/>
                      <a:pt x="26" y="227"/>
                    </a:cubicBezTo>
                    <a:cubicBezTo>
                      <a:pt x="27" y="229"/>
                      <a:pt x="30" y="229"/>
                      <a:pt x="32" y="229"/>
                    </a:cubicBezTo>
                    <a:cubicBezTo>
                      <a:pt x="34" y="229"/>
                      <a:pt x="34" y="231"/>
                      <a:pt x="33" y="232"/>
                    </a:cubicBezTo>
                    <a:cubicBezTo>
                      <a:pt x="32" y="233"/>
                      <a:pt x="35" y="233"/>
                      <a:pt x="38" y="234"/>
                    </a:cubicBezTo>
                    <a:cubicBezTo>
                      <a:pt x="40" y="235"/>
                      <a:pt x="45" y="231"/>
                      <a:pt x="46" y="229"/>
                    </a:cubicBezTo>
                    <a:cubicBezTo>
                      <a:pt x="48" y="228"/>
                      <a:pt x="51" y="228"/>
                      <a:pt x="50" y="228"/>
                    </a:cubicBezTo>
                    <a:cubicBezTo>
                      <a:pt x="48" y="229"/>
                      <a:pt x="48" y="231"/>
                      <a:pt x="46" y="234"/>
                    </a:cubicBezTo>
                    <a:cubicBezTo>
                      <a:pt x="44" y="236"/>
                      <a:pt x="54" y="237"/>
                      <a:pt x="57" y="237"/>
                    </a:cubicBezTo>
                    <a:cubicBezTo>
                      <a:pt x="59" y="237"/>
                      <a:pt x="70" y="238"/>
                      <a:pt x="73" y="238"/>
                    </a:cubicBezTo>
                    <a:cubicBezTo>
                      <a:pt x="75" y="237"/>
                      <a:pt x="75" y="238"/>
                      <a:pt x="75" y="239"/>
                    </a:cubicBezTo>
                    <a:cubicBezTo>
                      <a:pt x="75" y="240"/>
                      <a:pt x="74" y="240"/>
                      <a:pt x="73" y="240"/>
                    </a:cubicBezTo>
                    <a:cubicBezTo>
                      <a:pt x="72" y="240"/>
                      <a:pt x="69" y="241"/>
                      <a:pt x="68" y="241"/>
                    </a:cubicBezTo>
                    <a:cubicBezTo>
                      <a:pt x="67" y="240"/>
                      <a:pt x="64" y="241"/>
                      <a:pt x="63" y="241"/>
                    </a:cubicBezTo>
                    <a:cubicBezTo>
                      <a:pt x="62" y="242"/>
                      <a:pt x="58" y="244"/>
                      <a:pt x="57" y="244"/>
                    </a:cubicBezTo>
                    <a:cubicBezTo>
                      <a:pt x="56" y="245"/>
                      <a:pt x="53" y="245"/>
                      <a:pt x="52" y="246"/>
                    </a:cubicBezTo>
                    <a:cubicBezTo>
                      <a:pt x="51" y="247"/>
                      <a:pt x="54" y="248"/>
                      <a:pt x="55" y="249"/>
                    </a:cubicBezTo>
                    <a:cubicBezTo>
                      <a:pt x="56" y="249"/>
                      <a:pt x="58" y="250"/>
                      <a:pt x="59" y="251"/>
                    </a:cubicBezTo>
                    <a:cubicBezTo>
                      <a:pt x="60" y="252"/>
                      <a:pt x="64" y="254"/>
                      <a:pt x="66" y="254"/>
                    </a:cubicBezTo>
                    <a:cubicBezTo>
                      <a:pt x="68" y="255"/>
                      <a:pt x="71" y="256"/>
                      <a:pt x="71" y="256"/>
                    </a:cubicBezTo>
                    <a:cubicBezTo>
                      <a:pt x="88" y="259"/>
                      <a:pt x="88" y="259"/>
                      <a:pt x="88" y="259"/>
                    </a:cubicBezTo>
                    <a:cubicBezTo>
                      <a:pt x="88" y="259"/>
                      <a:pt x="96" y="261"/>
                      <a:pt x="98" y="261"/>
                    </a:cubicBezTo>
                    <a:cubicBezTo>
                      <a:pt x="99" y="260"/>
                      <a:pt x="97" y="259"/>
                      <a:pt x="95" y="258"/>
                    </a:cubicBezTo>
                    <a:cubicBezTo>
                      <a:pt x="93" y="258"/>
                      <a:pt x="91" y="257"/>
                      <a:pt x="90" y="256"/>
                    </a:cubicBezTo>
                    <a:cubicBezTo>
                      <a:pt x="89" y="255"/>
                      <a:pt x="90" y="255"/>
                      <a:pt x="89" y="252"/>
                    </a:cubicBezTo>
                    <a:cubicBezTo>
                      <a:pt x="88" y="249"/>
                      <a:pt x="92" y="251"/>
                      <a:pt x="93" y="251"/>
                    </a:cubicBezTo>
                    <a:cubicBezTo>
                      <a:pt x="94" y="252"/>
                      <a:pt x="95" y="252"/>
                      <a:pt x="94" y="253"/>
                    </a:cubicBezTo>
                    <a:cubicBezTo>
                      <a:pt x="94" y="253"/>
                      <a:pt x="96" y="255"/>
                      <a:pt x="98" y="255"/>
                    </a:cubicBezTo>
                    <a:cubicBezTo>
                      <a:pt x="99" y="256"/>
                      <a:pt x="99" y="255"/>
                      <a:pt x="101" y="252"/>
                    </a:cubicBezTo>
                    <a:cubicBezTo>
                      <a:pt x="102" y="248"/>
                      <a:pt x="107" y="250"/>
                      <a:pt x="110" y="250"/>
                    </a:cubicBezTo>
                    <a:cubicBezTo>
                      <a:pt x="113" y="251"/>
                      <a:pt x="110" y="252"/>
                      <a:pt x="109" y="253"/>
                    </a:cubicBezTo>
                    <a:cubicBezTo>
                      <a:pt x="108" y="254"/>
                      <a:pt x="111" y="256"/>
                      <a:pt x="112" y="256"/>
                    </a:cubicBezTo>
                    <a:cubicBezTo>
                      <a:pt x="114" y="257"/>
                      <a:pt x="115" y="257"/>
                      <a:pt x="117" y="257"/>
                    </a:cubicBezTo>
                    <a:cubicBezTo>
                      <a:pt x="118" y="257"/>
                      <a:pt x="122" y="255"/>
                      <a:pt x="123" y="255"/>
                    </a:cubicBezTo>
                    <a:cubicBezTo>
                      <a:pt x="125" y="255"/>
                      <a:pt x="125" y="254"/>
                      <a:pt x="125" y="253"/>
                    </a:cubicBezTo>
                    <a:cubicBezTo>
                      <a:pt x="125" y="253"/>
                      <a:pt x="126" y="252"/>
                      <a:pt x="127" y="252"/>
                    </a:cubicBezTo>
                    <a:cubicBezTo>
                      <a:pt x="128" y="251"/>
                      <a:pt x="128" y="251"/>
                      <a:pt x="129" y="249"/>
                    </a:cubicBezTo>
                    <a:cubicBezTo>
                      <a:pt x="130" y="246"/>
                      <a:pt x="133" y="252"/>
                      <a:pt x="134" y="253"/>
                    </a:cubicBezTo>
                    <a:cubicBezTo>
                      <a:pt x="135" y="254"/>
                      <a:pt x="135" y="254"/>
                      <a:pt x="136" y="254"/>
                    </a:cubicBezTo>
                    <a:cubicBezTo>
                      <a:pt x="136" y="254"/>
                      <a:pt x="137" y="254"/>
                      <a:pt x="138" y="253"/>
                    </a:cubicBezTo>
                    <a:cubicBezTo>
                      <a:pt x="139" y="252"/>
                      <a:pt x="141" y="252"/>
                      <a:pt x="141" y="252"/>
                    </a:cubicBezTo>
                    <a:cubicBezTo>
                      <a:pt x="141" y="252"/>
                      <a:pt x="177" y="253"/>
                      <a:pt x="179" y="253"/>
                    </a:cubicBezTo>
                    <a:cubicBezTo>
                      <a:pt x="180" y="253"/>
                      <a:pt x="181" y="254"/>
                      <a:pt x="181" y="255"/>
                    </a:cubicBezTo>
                    <a:cubicBezTo>
                      <a:pt x="182" y="256"/>
                      <a:pt x="186" y="256"/>
                      <a:pt x="186" y="256"/>
                    </a:cubicBezTo>
                    <a:cubicBezTo>
                      <a:pt x="193" y="257"/>
                      <a:pt x="215" y="266"/>
                      <a:pt x="216" y="266"/>
                    </a:cubicBezTo>
                    <a:cubicBezTo>
                      <a:pt x="217" y="266"/>
                      <a:pt x="216" y="268"/>
                      <a:pt x="218" y="268"/>
                    </a:cubicBezTo>
                    <a:cubicBezTo>
                      <a:pt x="219" y="269"/>
                      <a:pt x="219" y="269"/>
                      <a:pt x="218" y="270"/>
                    </a:cubicBezTo>
                    <a:cubicBezTo>
                      <a:pt x="217" y="270"/>
                      <a:pt x="218" y="272"/>
                      <a:pt x="219" y="272"/>
                    </a:cubicBezTo>
                    <a:cubicBezTo>
                      <a:pt x="220" y="272"/>
                      <a:pt x="220" y="273"/>
                      <a:pt x="221" y="273"/>
                    </a:cubicBezTo>
                    <a:cubicBezTo>
                      <a:pt x="222" y="274"/>
                      <a:pt x="221" y="275"/>
                      <a:pt x="220" y="275"/>
                    </a:cubicBezTo>
                    <a:cubicBezTo>
                      <a:pt x="219" y="275"/>
                      <a:pt x="218" y="275"/>
                      <a:pt x="216" y="277"/>
                    </a:cubicBezTo>
                    <a:cubicBezTo>
                      <a:pt x="213" y="278"/>
                      <a:pt x="216" y="278"/>
                      <a:pt x="218" y="277"/>
                    </a:cubicBezTo>
                    <a:cubicBezTo>
                      <a:pt x="219" y="277"/>
                      <a:pt x="219" y="279"/>
                      <a:pt x="218" y="279"/>
                    </a:cubicBezTo>
                    <a:cubicBezTo>
                      <a:pt x="217" y="280"/>
                      <a:pt x="218" y="280"/>
                      <a:pt x="218" y="281"/>
                    </a:cubicBezTo>
                    <a:cubicBezTo>
                      <a:pt x="219" y="281"/>
                      <a:pt x="223" y="282"/>
                      <a:pt x="224" y="283"/>
                    </a:cubicBezTo>
                    <a:cubicBezTo>
                      <a:pt x="226" y="284"/>
                      <a:pt x="231" y="290"/>
                      <a:pt x="232" y="290"/>
                    </a:cubicBezTo>
                    <a:cubicBezTo>
                      <a:pt x="234" y="291"/>
                      <a:pt x="235" y="291"/>
                      <a:pt x="236" y="291"/>
                    </a:cubicBezTo>
                    <a:cubicBezTo>
                      <a:pt x="238" y="291"/>
                      <a:pt x="239" y="292"/>
                      <a:pt x="239" y="293"/>
                    </a:cubicBezTo>
                    <a:cubicBezTo>
                      <a:pt x="240" y="294"/>
                      <a:pt x="241" y="293"/>
                      <a:pt x="240" y="294"/>
                    </a:cubicBezTo>
                    <a:cubicBezTo>
                      <a:pt x="239" y="294"/>
                      <a:pt x="239" y="295"/>
                      <a:pt x="238" y="295"/>
                    </a:cubicBezTo>
                    <a:cubicBezTo>
                      <a:pt x="237" y="295"/>
                      <a:pt x="237" y="295"/>
                      <a:pt x="237" y="296"/>
                    </a:cubicBezTo>
                    <a:cubicBezTo>
                      <a:pt x="238" y="297"/>
                      <a:pt x="240" y="296"/>
                      <a:pt x="241" y="297"/>
                    </a:cubicBezTo>
                    <a:cubicBezTo>
                      <a:pt x="242" y="298"/>
                      <a:pt x="243" y="299"/>
                      <a:pt x="244" y="299"/>
                    </a:cubicBezTo>
                    <a:cubicBezTo>
                      <a:pt x="245" y="299"/>
                      <a:pt x="246" y="299"/>
                      <a:pt x="246" y="300"/>
                    </a:cubicBezTo>
                    <a:cubicBezTo>
                      <a:pt x="245" y="301"/>
                      <a:pt x="247" y="302"/>
                      <a:pt x="249" y="302"/>
                    </a:cubicBezTo>
                    <a:cubicBezTo>
                      <a:pt x="250" y="302"/>
                      <a:pt x="249" y="302"/>
                      <a:pt x="249" y="303"/>
                    </a:cubicBezTo>
                    <a:cubicBezTo>
                      <a:pt x="250" y="304"/>
                      <a:pt x="247" y="304"/>
                      <a:pt x="245" y="304"/>
                    </a:cubicBezTo>
                    <a:cubicBezTo>
                      <a:pt x="242" y="304"/>
                      <a:pt x="242" y="304"/>
                      <a:pt x="243" y="305"/>
                    </a:cubicBezTo>
                    <a:cubicBezTo>
                      <a:pt x="243" y="306"/>
                      <a:pt x="245" y="306"/>
                      <a:pt x="249" y="306"/>
                    </a:cubicBezTo>
                    <a:cubicBezTo>
                      <a:pt x="252" y="306"/>
                      <a:pt x="248" y="308"/>
                      <a:pt x="246" y="308"/>
                    </a:cubicBezTo>
                    <a:cubicBezTo>
                      <a:pt x="243" y="307"/>
                      <a:pt x="244" y="308"/>
                      <a:pt x="246" y="309"/>
                    </a:cubicBezTo>
                    <a:cubicBezTo>
                      <a:pt x="248" y="309"/>
                      <a:pt x="247" y="310"/>
                      <a:pt x="246" y="310"/>
                    </a:cubicBezTo>
                    <a:cubicBezTo>
                      <a:pt x="245" y="311"/>
                      <a:pt x="241" y="312"/>
                      <a:pt x="237" y="313"/>
                    </a:cubicBezTo>
                    <a:cubicBezTo>
                      <a:pt x="234" y="314"/>
                      <a:pt x="233" y="315"/>
                      <a:pt x="236" y="315"/>
                    </a:cubicBezTo>
                    <a:cubicBezTo>
                      <a:pt x="240" y="315"/>
                      <a:pt x="248" y="312"/>
                      <a:pt x="250" y="311"/>
                    </a:cubicBezTo>
                    <a:cubicBezTo>
                      <a:pt x="253" y="309"/>
                      <a:pt x="250" y="312"/>
                      <a:pt x="249" y="314"/>
                    </a:cubicBezTo>
                    <a:cubicBezTo>
                      <a:pt x="247" y="316"/>
                      <a:pt x="249" y="317"/>
                      <a:pt x="250" y="317"/>
                    </a:cubicBezTo>
                    <a:cubicBezTo>
                      <a:pt x="252" y="316"/>
                      <a:pt x="253" y="317"/>
                      <a:pt x="252" y="317"/>
                    </a:cubicBezTo>
                    <a:cubicBezTo>
                      <a:pt x="251" y="318"/>
                      <a:pt x="255" y="320"/>
                      <a:pt x="257" y="321"/>
                    </a:cubicBezTo>
                    <a:cubicBezTo>
                      <a:pt x="259" y="322"/>
                      <a:pt x="257" y="322"/>
                      <a:pt x="255" y="322"/>
                    </a:cubicBezTo>
                    <a:cubicBezTo>
                      <a:pt x="253" y="322"/>
                      <a:pt x="255" y="324"/>
                      <a:pt x="256" y="324"/>
                    </a:cubicBezTo>
                    <a:cubicBezTo>
                      <a:pt x="257" y="325"/>
                      <a:pt x="259" y="325"/>
                      <a:pt x="258" y="326"/>
                    </a:cubicBezTo>
                    <a:cubicBezTo>
                      <a:pt x="256" y="326"/>
                      <a:pt x="257" y="325"/>
                      <a:pt x="255" y="326"/>
                    </a:cubicBezTo>
                    <a:cubicBezTo>
                      <a:pt x="253" y="326"/>
                      <a:pt x="255" y="327"/>
                      <a:pt x="254" y="327"/>
                    </a:cubicBezTo>
                    <a:cubicBezTo>
                      <a:pt x="253" y="328"/>
                      <a:pt x="252" y="328"/>
                      <a:pt x="255" y="329"/>
                    </a:cubicBezTo>
                    <a:cubicBezTo>
                      <a:pt x="257" y="329"/>
                      <a:pt x="259" y="330"/>
                      <a:pt x="260" y="332"/>
                    </a:cubicBezTo>
                    <a:cubicBezTo>
                      <a:pt x="261" y="333"/>
                      <a:pt x="263" y="334"/>
                      <a:pt x="264" y="334"/>
                    </a:cubicBezTo>
                    <a:cubicBezTo>
                      <a:pt x="266" y="334"/>
                      <a:pt x="266" y="335"/>
                      <a:pt x="265" y="335"/>
                    </a:cubicBezTo>
                    <a:cubicBezTo>
                      <a:pt x="264" y="336"/>
                      <a:pt x="264" y="336"/>
                      <a:pt x="263" y="337"/>
                    </a:cubicBezTo>
                    <a:cubicBezTo>
                      <a:pt x="262" y="338"/>
                      <a:pt x="262" y="338"/>
                      <a:pt x="264" y="339"/>
                    </a:cubicBezTo>
                    <a:cubicBezTo>
                      <a:pt x="266" y="341"/>
                      <a:pt x="264" y="341"/>
                      <a:pt x="263" y="341"/>
                    </a:cubicBezTo>
                    <a:cubicBezTo>
                      <a:pt x="262" y="341"/>
                      <a:pt x="262" y="341"/>
                      <a:pt x="262" y="342"/>
                    </a:cubicBezTo>
                    <a:cubicBezTo>
                      <a:pt x="262" y="342"/>
                      <a:pt x="262" y="343"/>
                      <a:pt x="261" y="343"/>
                    </a:cubicBezTo>
                    <a:cubicBezTo>
                      <a:pt x="260" y="343"/>
                      <a:pt x="259" y="343"/>
                      <a:pt x="258" y="344"/>
                    </a:cubicBezTo>
                    <a:cubicBezTo>
                      <a:pt x="257" y="345"/>
                      <a:pt x="259" y="345"/>
                      <a:pt x="260" y="345"/>
                    </a:cubicBezTo>
                    <a:cubicBezTo>
                      <a:pt x="261" y="344"/>
                      <a:pt x="262" y="344"/>
                      <a:pt x="263" y="345"/>
                    </a:cubicBezTo>
                    <a:cubicBezTo>
                      <a:pt x="264" y="345"/>
                      <a:pt x="266" y="346"/>
                      <a:pt x="267" y="345"/>
                    </a:cubicBezTo>
                    <a:cubicBezTo>
                      <a:pt x="267" y="345"/>
                      <a:pt x="268" y="345"/>
                      <a:pt x="269" y="346"/>
                    </a:cubicBezTo>
                    <a:cubicBezTo>
                      <a:pt x="270" y="347"/>
                      <a:pt x="271" y="346"/>
                      <a:pt x="271" y="348"/>
                    </a:cubicBezTo>
                    <a:cubicBezTo>
                      <a:pt x="272" y="349"/>
                      <a:pt x="272" y="351"/>
                      <a:pt x="271" y="352"/>
                    </a:cubicBezTo>
                    <a:cubicBezTo>
                      <a:pt x="270" y="352"/>
                      <a:pt x="271" y="353"/>
                      <a:pt x="272" y="353"/>
                    </a:cubicBezTo>
                    <a:cubicBezTo>
                      <a:pt x="272" y="353"/>
                      <a:pt x="273" y="354"/>
                      <a:pt x="272" y="355"/>
                    </a:cubicBezTo>
                    <a:cubicBezTo>
                      <a:pt x="271" y="356"/>
                      <a:pt x="269" y="356"/>
                      <a:pt x="271" y="357"/>
                    </a:cubicBezTo>
                    <a:cubicBezTo>
                      <a:pt x="273" y="357"/>
                      <a:pt x="270" y="358"/>
                      <a:pt x="269" y="358"/>
                    </a:cubicBezTo>
                    <a:cubicBezTo>
                      <a:pt x="268" y="359"/>
                      <a:pt x="268" y="360"/>
                      <a:pt x="269" y="360"/>
                    </a:cubicBezTo>
                    <a:cubicBezTo>
                      <a:pt x="271" y="359"/>
                      <a:pt x="270" y="360"/>
                      <a:pt x="272" y="360"/>
                    </a:cubicBezTo>
                    <a:cubicBezTo>
                      <a:pt x="274" y="361"/>
                      <a:pt x="272" y="361"/>
                      <a:pt x="271" y="362"/>
                    </a:cubicBezTo>
                    <a:cubicBezTo>
                      <a:pt x="270" y="362"/>
                      <a:pt x="268" y="361"/>
                      <a:pt x="266" y="361"/>
                    </a:cubicBezTo>
                    <a:cubicBezTo>
                      <a:pt x="263" y="360"/>
                      <a:pt x="261" y="360"/>
                      <a:pt x="259" y="362"/>
                    </a:cubicBezTo>
                    <a:cubicBezTo>
                      <a:pt x="258" y="363"/>
                      <a:pt x="261" y="363"/>
                      <a:pt x="262" y="363"/>
                    </a:cubicBezTo>
                    <a:cubicBezTo>
                      <a:pt x="264" y="363"/>
                      <a:pt x="264" y="362"/>
                      <a:pt x="265" y="363"/>
                    </a:cubicBezTo>
                    <a:cubicBezTo>
                      <a:pt x="267" y="365"/>
                      <a:pt x="268" y="363"/>
                      <a:pt x="270" y="363"/>
                    </a:cubicBezTo>
                    <a:cubicBezTo>
                      <a:pt x="272" y="364"/>
                      <a:pt x="271" y="364"/>
                      <a:pt x="270" y="365"/>
                    </a:cubicBezTo>
                    <a:cubicBezTo>
                      <a:pt x="269" y="365"/>
                      <a:pt x="270" y="366"/>
                      <a:pt x="269" y="367"/>
                    </a:cubicBezTo>
                    <a:cubicBezTo>
                      <a:pt x="268" y="369"/>
                      <a:pt x="263" y="371"/>
                      <a:pt x="261" y="373"/>
                    </a:cubicBezTo>
                    <a:cubicBezTo>
                      <a:pt x="258" y="375"/>
                      <a:pt x="261" y="375"/>
                      <a:pt x="261" y="375"/>
                    </a:cubicBezTo>
                    <a:cubicBezTo>
                      <a:pt x="265" y="377"/>
                      <a:pt x="269" y="376"/>
                      <a:pt x="272" y="375"/>
                    </a:cubicBezTo>
                    <a:cubicBezTo>
                      <a:pt x="274" y="374"/>
                      <a:pt x="274" y="374"/>
                      <a:pt x="273" y="375"/>
                    </a:cubicBezTo>
                    <a:cubicBezTo>
                      <a:pt x="272" y="376"/>
                      <a:pt x="269" y="378"/>
                      <a:pt x="268" y="377"/>
                    </a:cubicBezTo>
                    <a:cubicBezTo>
                      <a:pt x="266" y="377"/>
                      <a:pt x="263" y="378"/>
                      <a:pt x="264" y="379"/>
                    </a:cubicBezTo>
                    <a:cubicBezTo>
                      <a:pt x="264" y="381"/>
                      <a:pt x="261" y="380"/>
                      <a:pt x="260" y="381"/>
                    </a:cubicBezTo>
                    <a:cubicBezTo>
                      <a:pt x="260" y="382"/>
                      <a:pt x="258" y="382"/>
                      <a:pt x="257" y="382"/>
                    </a:cubicBezTo>
                    <a:cubicBezTo>
                      <a:pt x="255" y="382"/>
                      <a:pt x="255" y="384"/>
                      <a:pt x="257" y="385"/>
                    </a:cubicBezTo>
                    <a:cubicBezTo>
                      <a:pt x="259" y="386"/>
                      <a:pt x="270" y="391"/>
                      <a:pt x="270" y="391"/>
                    </a:cubicBezTo>
                    <a:cubicBezTo>
                      <a:pt x="273" y="392"/>
                      <a:pt x="276" y="392"/>
                      <a:pt x="278" y="392"/>
                    </a:cubicBezTo>
                    <a:cubicBezTo>
                      <a:pt x="280" y="391"/>
                      <a:pt x="281" y="391"/>
                      <a:pt x="283" y="390"/>
                    </a:cubicBezTo>
                    <a:cubicBezTo>
                      <a:pt x="284" y="390"/>
                      <a:pt x="285" y="389"/>
                      <a:pt x="285" y="388"/>
                    </a:cubicBezTo>
                    <a:cubicBezTo>
                      <a:pt x="286" y="387"/>
                      <a:pt x="284" y="386"/>
                      <a:pt x="283" y="384"/>
                    </a:cubicBezTo>
                    <a:cubicBezTo>
                      <a:pt x="281" y="382"/>
                      <a:pt x="282" y="383"/>
                      <a:pt x="283" y="383"/>
                    </a:cubicBezTo>
                    <a:cubicBezTo>
                      <a:pt x="285" y="384"/>
                      <a:pt x="286" y="384"/>
                      <a:pt x="287" y="384"/>
                    </a:cubicBezTo>
                    <a:cubicBezTo>
                      <a:pt x="287" y="384"/>
                      <a:pt x="287" y="383"/>
                      <a:pt x="286" y="382"/>
                    </a:cubicBezTo>
                    <a:cubicBezTo>
                      <a:pt x="286" y="382"/>
                      <a:pt x="287" y="381"/>
                      <a:pt x="288" y="381"/>
                    </a:cubicBezTo>
                    <a:cubicBezTo>
                      <a:pt x="289" y="381"/>
                      <a:pt x="291" y="381"/>
                      <a:pt x="292" y="380"/>
                    </a:cubicBezTo>
                    <a:cubicBezTo>
                      <a:pt x="292" y="378"/>
                      <a:pt x="291" y="376"/>
                      <a:pt x="289" y="374"/>
                    </a:cubicBezTo>
                    <a:cubicBezTo>
                      <a:pt x="288" y="372"/>
                      <a:pt x="287" y="371"/>
                      <a:pt x="285" y="370"/>
                    </a:cubicBezTo>
                    <a:cubicBezTo>
                      <a:pt x="284" y="368"/>
                      <a:pt x="286" y="367"/>
                      <a:pt x="286" y="369"/>
                    </a:cubicBezTo>
                    <a:cubicBezTo>
                      <a:pt x="287" y="370"/>
                      <a:pt x="288" y="371"/>
                      <a:pt x="289" y="372"/>
                    </a:cubicBezTo>
                    <a:cubicBezTo>
                      <a:pt x="290" y="372"/>
                      <a:pt x="291" y="373"/>
                      <a:pt x="292" y="374"/>
                    </a:cubicBezTo>
                    <a:cubicBezTo>
                      <a:pt x="293" y="375"/>
                      <a:pt x="293" y="379"/>
                      <a:pt x="293" y="380"/>
                    </a:cubicBezTo>
                    <a:cubicBezTo>
                      <a:pt x="292" y="380"/>
                      <a:pt x="293" y="380"/>
                      <a:pt x="294" y="380"/>
                    </a:cubicBezTo>
                    <a:cubicBezTo>
                      <a:pt x="294" y="380"/>
                      <a:pt x="295" y="379"/>
                      <a:pt x="297" y="379"/>
                    </a:cubicBezTo>
                    <a:cubicBezTo>
                      <a:pt x="298" y="379"/>
                      <a:pt x="298" y="378"/>
                      <a:pt x="297" y="377"/>
                    </a:cubicBezTo>
                    <a:cubicBezTo>
                      <a:pt x="297" y="376"/>
                      <a:pt x="298" y="376"/>
                      <a:pt x="300" y="375"/>
                    </a:cubicBezTo>
                    <a:cubicBezTo>
                      <a:pt x="302" y="373"/>
                      <a:pt x="302" y="375"/>
                      <a:pt x="302" y="375"/>
                    </a:cubicBezTo>
                    <a:cubicBezTo>
                      <a:pt x="301" y="376"/>
                      <a:pt x="300" y="377"/>
                      <a:pt x="300" y="377"/>
                    </a:cubicBezTo>
                    <a:cubicBezTo>
                      <a:pt x="299" y="377"/>
                      <a:pt x="299" y="377"/>
                      <a:pt x="299" y="378"/>
                    </a:cubicBezTo>
                    <a:cubicBezTo>
                      <a:pt x="300" y="379"/>
                      <a:pt x="300" y="379"/>
                      <a:pt x="296" y="381"/>
                    </a:cubicBezTo>
                    <a:cubicBezTo>
                      <a:pt x="292" y="383"/>
                      <a:pt x="299" y="383"/>
                      <a:pt x="301" y="383"/>
                    </a:cubicBezTo>
                    <a:cubicBezTo>
                      <a:pt x="303" y="383"/>
                      <a:pt x="306" y="384"/>
                      <a:pt x="307" y="385"/>
                    </a:cubicBezTo>
                    <a:cubicBezTo>
                      <a:pt x="309" y="386"/>
                      <a:pt x="314" y="385"/>
                      <a:pt x="316" y="383"/>
                    </a:cubicBezTo>
                    <a:cubicBezTo>
                      <a:pt x="318" y="380"/>
                      <a:pt x="318" y="383"/>
                      <a:pt x="317" y="384"/>
                    </a:cubicBezTo>
                    <a:cubicBezTo>
                      <a:pt x="316" y="386"/>
                      <a:pt x="314" y="386"/>
                      <a:pt x="312" y="386"/>
                    </a:cubicBezTo>
                    <a:cubicBezTo>
                      <a:pt x="310" y="386"/>
                      <a:pt x="304" y="387"/>
                      <a:pt x="301" y="388"/>
                    </a:cubicBezTo>
                    <a:cubicBezTo>
                      <a:pt x="297" y="390"/>
                      <a:pt x="300" y="391"/>
                      <a:pt x="300" y="391"/>
                    </a:cubicBezTo>
                    <a:cubicBezTo>
                      <a:pt x="303" y="392"/>
                      <a:pt x="309" y="390"/>
                      <a:pt x="311" y="389"/>
                    </a:cubicBezTo>
                    <a:cubicBezTo>
                      <a:pt x="314" y="389"/>
                      <a:pt x="316" y="388"/>
                      <a:pt x="320" y="388"/>
                    </a:cubicBezTo>
                    <a:cubicBezTo>
                      <a:pt x="323" y="388"/>
                      <a:pt x="321" y="390"/>
                      <a:pt x="319" y="390"/>
                    </a:cubicBezTo>
                    <a:cubicBezTo>
                      <a:pt x="316" y="390"/>
                      <a:pt x="312" y="391"/>
                      <a:pt x="311" y="391"/>
                    </a:cubicBezTo>
                    <a:cubicBezTo>
                      <a:pt x="309" y="391"/>
                      <a:pt x="308" y="393"/>
                      <a:pt x="308" y="394"/>
                    </a:cubicBezTo>
                    <a:cubicBezTo>
                      <a:pt x="308" y="395"/>
                      <a:pt x="308" y="395"/>
                      <a:pt x="307" y="395"/>
                    </a:cubicBezTo>
                    <a:cubicBezTo>
                      <a:pt x="307" y="395"/>
                      <a:pt x="306" y="395"/>
                      <a:pt x="305" y="396"/>
                    </a:cubicBezTo>
                    <a:cubicBezTo>
                      <a:pt x="304" y="397"/>
                      <a:pt x="307" y="397"/>
                      <a:pt x="307" y="397"/>
                    </a:cubicBezTo>
                    <a:cubicBezTo>
                      <a:pt x="308" y="397"/>
                      <a:pt x="314" y="394"/>
                      <a:pt x="315" y="393"/>
                    </a:cubicBezTo>
                    <a:cubicBezTo>
                      <a:pt x="317" y="392"/>
                      <a:pt x="318" y="392"/>
                      <a:pt x="319" y="393"/>
                    </a:cubicBezTo>
                    <a:cubicBezTo>
                      <a:pt x="319" y="394"/>
                      <a:pt x="318" y="395"/>
                      <a:pt x="317" y="395"/>
                    </a:cubicBezTo>
                    <a:cubicBezTo>
                      <a:pt x="315" y="395"/>
                      <a:pt x="312" y="396"/>
                      <a:pt x="311" y="397"/>
                    </a:cubicBezTo>
                    <a:cubicBezTo>
                      <a:pt x="310" y="398"/>
                      <a:pt x="310" y="398"/>
                      <a:pt x="310" y="398"/>
                    </a:cubicBezTo>
                    <a:cubicBezTo>
                      <a:pt x="310" y="399"/>
                      <a:pt x="312" y="399"/>
                      <a:pt x="313" y="399"/>
                    </a:cubicBezTo>
                    <a:cubicBezTo>
                      <a:pt x="313" y="399"/>
                      <a:pt x="314" y="398"/>
                      <a:pt x="316" y="398"/>
                    </a:cubicBezTo>
                    <a:cubicBezTo>
                      <a:pt x="317" y="399"/>
                      <a:pt x="317" y="399"/>
                      <a:pt x="320" y="399"/>
                    </a:cubicBezTo>
                    <a:cubicBezTo>
                      <a:pt x="323" y="398"/>
                      <a:pt x="323" y="399"/>
                      <a:pt x="321" y="399"/>
                    </a:cubicBezTo>
                    <a:cubicBezTo>
                      <a:pt x="320" y="400"/>
                      <a:pt x="324" y="402"/>
                      <a:pt x="326" y="401"/>
                    </a:cubicBezTo>
                    <a:cubicBezTo>
                      <a:pt x="329" y="401"/>
                      <a:pt x="328" y="402"/>
                      <a:pt x="327" y="403"/>
                    </a:cubicBezTo>
                    <a:cubicBezTo>
                      <a:pt x="326" y="403"/>
                      <a:pt x="323" y="403"/>
                      <a:pt x="322" y="402"/>
                    </a:cubicBezTo>
                    <a:cubicBezTo>
                      <a:pt x="321" y="401"/>
                      <a:pt x="316" y="400"/>
                      <a:pt x="314" y="401"/>
                    </a:cubicBezTo>
                    <a:cubicBezTo>
                      <a:pt x="313" y="401"/>
                      <a:pt x="316" y="402"/>
                      <a:pt x="317" y="403"/>
                    </a:cubicBezTo>
                    <a:cubicBezTo>
                      <a:pt x="318" y="403"/>
                      <a:pt x="324" y="405"/>
                      <a:pt x="325" y="405"/>
                    </a:cubicBezTo>
                    <a:cubicBezTo>
                      <a:pt x="326" y="406"/>
                      <a:pt x="326" y="406"/>
                      <a:pt x="328" y="406"/>
                    </a:cubicBezTo>
                    <a:cubicBezTo>
                      <a:pt x="330" y="405"/>
                      <a:pt x="330" y="406"/>
                      <a:pt x="331" y="407"/>
                    </a:cubicBezTo>
                    <a:cubicBezTo>
                      <a:pt x="332" y="408"/>
                      <a:pt x="332" y="409"/>
                      <a:pt x="331" y="409"/>
                    </a:cubicBezTo>
                    <a:cubicBezTo>
                      <a:pt x="331" y="410"/>
                      <a:pt x="329" y="409"/>
                      <a:pt x="329" y="409"/>
                    </a:cubicBezTo>
                    <a:cubicBezTo>
                      <a:pt x="328" y="408"/>
                      <a:pt x="327" y="408"/>
                      <a:pt x="325" y="407"/>
                    </a:cubicBezTo>
                    <a:cubicBezTo>
                      <a:pt x="323" y="407"/>
                      <a:pt x="323" y="408"/>
                      <a:pt x="323" y="408"/>
                    </a:cubicBezTo>
                    <a:cubicBezTo>
                      <a:pt x="322" y="409"/>
                      <a:pt x="323" y="410"/>
                      <a:pt x="323" y="410"/>
                    </a:cubicBezTo>
                    <a:cubicBezTo>
                      <a:pt x="324" y="410"/>
                      <a:pt x="325" y="411"/>
                      <a:pt x="325" y="410"/>
                    </a:cubicBezTo>
                    <a:cubicBezTo>
                      <a:pt x="326" y="409"/>
                      <a:pt x="327" y="409"/>
                      <a:pt x="327" y="410"/>
                    </a:cubicBezTo>
                    <a:cubicBezTo>
                      <a:pt x="328" y="411"/>
                      <a:pt x="328" y="411"/>
                      <a:pt x="329" y="411"/>
                    </a:cubicBezTo>
                    <a:cubicBezTo>
                      <a:pt x="331" y="411"/>
                      <a:pt x="330" y="411"/>
                      <a:pt x="329" y="411"/>
                    </a:cubicBezTo>
                    <a:cubicBezTo>
                      <a:pt x="328" y="411"/>
                      <a:pt x="328" y="412"/>
                      <a:pt x="330" y="413"/>
                    </a:cubicBezTo>
                    <a:cubicBezTo>
                      <a:pt x="331" y="413"/>
                      <a:pt x="330" y="414"/>
                      <a:pt x="330" y="413"/>
                    </a:cubicBezTo>
                    <a:cubicBezTo>
                      <a:pt x="329" y="413"/>
                      <a:pt x="329" y="413"/>
                      <a:pt x="328" y="414"/>
                    </a:cubicBezTo>
                    <a:cubicBezTo>
                      <a:pt x="328" y="414"/>
                      <a:pt x="326" y="413"/>
                      <a:pt x="325" y="413"/>
                    </a:cubicBezTo>
                    <a:cubicBezTo>
                      <a:pt x="325" y="412"/>
                      <a:pt x="324" y="412"/>
                      <a:pt x="323" y="413"/>
                    </a:cubicBezTo>
                    <a:cubicBezTo>
                      <a:pt x="322" y="414"/>
                      <a:pt x="326" y="415"/>
                      <a:pt x="327" y="416"/>
                    </a:cubicBezTo>
                    <a:cubicBezTo>
                      <a:pt x="328" y="416"/>
                      <a:pt x="328" y="417"/>
                      <a:pt x="327" y="417"/>
                    </a:cubicBezTo>
                    <a:cubicBezTo>
                      <a:pt x="326" y="417"/>
                      <a:pt x="329" y="418"/>
                      <a:pt x="331" y="417"/>
                    </a:cubicBezTo>
                    <a:cubicBezTo>
                      <a:pt x="333" y="417"/>
                      <a:pt x="333" y="416"/>
                      <a:pt x="334" y="415"/>
                    </a:cubicBezTo>
                    <a:cubicBezTo>
                      <a:pt x="336" y="414"/>
                      <a:pt x="334" y="416"/>
                      <a:pt x="333" y="417"/>
                    </a:cubicBezTo>
                    <a:cubicBezTo>
                      <a:pt x="333" y="417"/>
                      <a:pt x="333" y="418"/>
                      <a:pt x="333" y="418"/>
                    </a:cubicBezTo>
                    <a:cubicBezTo>
                      <a:pt x="334" y="418"/>
                      <a:pt x="334" y="419"/>
                      <a:pt x="334" y="419"/>
                    </a:cubicBezTo>
                    <a:cubicBezTo>
                      <a:pt x="334" y="420"/>
                      <a:pt x="333" y="420"/>
                      <a:pt x="332" y="420"/>
                    </a:cubicBezTo>
                    <a:cubicBezTo>
                      <a:pt x="330" y="420"/>
                      <a:pt x="326" y="419"/>
                      <a:pt x="323" y="418"/>
                    </a:cubicBezTo>
                    <a:cubicBezTo>
                      <a:pt x="319" y="417"/>
                      <a:pt x="313" y="414"/>
                      <a:pt x="313" y="414"/>
                    </a:cubicBezTo>
                    <a:cubicBezTo>
                      <a:pt x="304" y="409"/>
                      <a:pt x="299" y="408"/>
                      <a:pt x="295" y="408"/>
                    </a:cubicBezTo>
                    <a:cubicBezTo>
                      <a:pt x="290" y="409"/>
                      <a:pt x="288" y="407"/>
                      <a:pt x="284" y="407"/>
                    </a:cubicBezTo>
                    <a:cubicBezTo>
                      <a:pt x="279" y="406"/>
                      <a:pt x="276" y="409"/>
                      <a:pt x="275" y="410"/>
                    </a:cubicBezTo>
                    <a:cubicBezTo>
                      <a:pt x="273" y="411"/>
                      <a:pt x="275" y="412"/>
                      <a:pt x="275" y="412"/>
                    </a:cubicBezTo>
                    <a:cubicBezTo>
                      <a:pt x="275" y="412"/>
                      <a:pt x="315" y="428"/>
                      <a:pt x="317" y="428"/>
                    </a:cubicBezTo>
                    <a:cubicBezTo>
                      <a:pt x="318" y="429"/>
                      <a:pt x="319" y="428"/>
                      <a:pt x="321" y="428"/>
                    </a:cubicBezTo>
                    <a:cubicBezTo>
                      <a:pt x="323" y="429"/>
                      <a:pt x="324" y="428"/>
                      <a:pt x="325" y="427"/>
                    </a:cubicBezTo>
                    <a:cubicBezTo>
                      <a:pt x="326" y="426"/>
                      <a:pt x="326" y="427"/>
                      <a:pt x="328" y="427"/>
                    </a:cubicBezTo>
                    <a:cubicBezTo>
                      <a:pt x="329" y="428"/>
                      <a:pt x="328" y="428"/>
                      <a:pt x="327" y="428"/>
                    </a:cubicBezTo>
                    <a:cubicBezTo>
                      <a:pt x="326" y="428"/>
                      <a:pt x="326" y="428"/>
                      <a:pt x="325" y="429"/>
                    </a:cubicBezTo>
                    <a:cubicBezTo>
                      <a:pt x="324" y="429"/>
                      <a:pt x="324" y="430"/>
                      <a:pt x="325" y="430"/>
                    </a:cubicBezTo>
                    <a:cubicBezTo>
                      <a:pt x="326" y="430"/>
                      <a:pt x="331" y="429"/>
                      <a:pt x="332" y="429"/>
                    </a:cubicBezTo>
                    <a:cubicBezTo>
                      <a:pt x="333" y="428"/>
                      <a:pt x="332" y="428"/>
                      <a:pt x="335" y="428"/>
                    </a:cubicBezTo>
                    <a:cubicBezTo>
                      <a:pt x="338" y="427"/>
                      <a:pt x="337" y="428"/>
                      <a:pt x="336" y="428"/>
                    </a:cubicBezTo>
                    <a:cubicBezTo>
                      <a:pt x="335" y="429"/>
                      <a:pt x="335" y="429"/>
                      <a:pt x="334" y="430"/>
                    </a:cubicBezTo>
                    <a:cubicBezTo>
                      <a:pt x="334" y="430"/>
                      <a:pt x="334" y="431"/>
                      <a:pt x="336" y="431"/>
                    </a:cubicBezTo>
                    <a:cubicBezTo>
                      <a:pt x="337" y="431"/>
                      <a:pt x="337" y="432"/>
                      <a:pt x="338" y="434"/>
                    </a:cubicBezTo>
                    <a:cubicBezTo>
                      <a:pt x="339" y="435"/>
                      <a:pt x="337" y="436"/>
                      <a:pt x="334" y="437"/>
                    </a:cubicBezTo>
                    <a:cubicBezTo>
                      <a:pt x="331" y="437"/>
                      <a:pt x="330" y="438"/>
                      <a:pt x="331" y="438"/>
                    </a:cubicBezTo>
                    <a:cubicBezTo>
                      <a:pt x="332" y="438"/>
                      <a:pt x="333" y="437"/>
                      <a:pt x="336" y="438"/>
                    </a:cubicBezTo>
                    <a:cubicBezTo>
                      <a:pt x="338" y="440"/>
                      <a:pt x="334" y="439"/>
                      <a:pt x="331" y="438"/>
                    </a:cubicBezTo>
                    <a:cubicBezTo>
                      <a:pt x="329" y="438"/>
                      <a:pt x="330" y="441"/>
                      <a:pt x="330" y="442"/>
                    </a:cubicBezTo>
                    <a:cubicBezTo>
                      <a:pt x="330" y="443"/>
                      <a:pt x="330" y="441"/>
                      <a:pt x="332" y="442"/>
                    </a:cubicBezTo>
                    <a:cubicBezTo>
                      <a:pt x="334" y="442"/>
                      <a:pt x="335" y="441"/>
                      <a:pt x="336" y="441"/>
                    </a:cubicBezTo>
                    <a:cubicBezTo>
                      <a:pt x="338" y="441"/>
                      <a:pt x="338" y="442"/>
                      <a:pt x="338" y="442"/>
                    </a:cubicBezTo>
                    <a:cubicBezTo>
                      <a:pt x="337" y="442"/>
                      <a:pt x="335" y="442"/>
                      <a:pt x="335" y="442"/>
                    </a:cubicBezTo>
                    <a:cubicBezTo>
                      <a:pt x="334" y="443"/>
                      <a:pt x="333" y="443"/>
                      <a:pt x="331" y="443"/>
                    </a:cubicBezTo>
                    <a:cubicBezTo>
                      <a:pt x="330" y="443"/>
                      <a:pt x="330" y="444"/>
                      <a:pt x="330" y="445"/>
                    </a:cubicBezTo>
                    <a:cubicBezTo>
                      <a:pt x="330" y="447"/>
                      <a:pt x="329" y="448"/>
                      <a:pt x="328" y="450"/>
                    </a:cubicBezTo>
                    <a:cubicBezTo>
                      <a:pt x="327" y="451"/>
                      <a:pt x="330" y="450"/>
                      <a:pt x="332" y="449"/>
                    </a:cubicBezTo>
                    <a:cubicBezTo>
                      <a:pt x="333" y="449"/>
                      <a:pt x="333" y="450"/>
                      <a:pt x="334" y="449"/>
                    </a:cubicBezTo>
                    <a:cubicBezTo>
                      <a:pt x="335" y="448"/>
                      <a:pt x="337" y="445"/>
                      <a:pt x="336" y="448"/>
                    </a:cubicBezTo>
                    <a:cubicBezTo>
                      <a:pt x="335" y="450"/>
                      <a:pt x="337" y="450"/>
                      <a:pt x="339" y="450"/>
                    </a:cubicBezTo>
                    <a:cubicBezTo>
                      <a:pt x="341" y="449"/>
                      <a:pt x="340" y="450"/>
                      <a:pt x="340" y="451"/>
                    </a:cubicBezTo>
                    <a:cubicBezTo>
                      <a:pt x="339" y="451"/>
                      <a:pt x="337" y="451"/>
                      <a:pt x="335" y="452"/>
                    </a:cubicBezTo>
                    <a:cubicBezTo>
                      <a:pt x="333" y="452"/>
                      <a:pt x="333" y="451"/>
                      <a:pt x="333" y="452"/>
                    </a:cubicBezTo>
                    <a:cubicBezTo>
                      <a:pt x="333" y="452"/>
                      <a:pt x="335" y="453"/>
                      <a:pt x="337" y="453"/>
                    </a:cubicBezTo>
                    <a:cubicBezTo>
                      <a:pt x="339" y="453"/>
                      <a:pt x="338" y="454"/>
                      <a:pt x="336" y="455"/>
                    </a:cubicBezTo>
                    <a:cubicBezTo>
                      <a:pt x="335" y="455"/>
                      <a:pt x="336" y="455"/>
                      <a:pt x="337" y="456"/>
                    </a:cubicBezTo>
                    <a:cubicBezTo>
                      <a:pt x="337" y="458"/>
                      <a:pt x="335" y="456"/>
                      <a:pt x="334" y="454"/>
                    </a:cubicBezTo>
                    <a:cubicBezTo>
                      <a:pt x="333" y="453"/>
                      <a:pt x="332" y="454"/>
                      <a:pt x="330" y="454"/>
                    </a:cubicBezTo>
                    <a:cubicBezTo>
                      <a:pt x="328" y="454"/>
                      <a:pt x="329" y="453"/>
                      <a:pt x="330" y="452"/>
                    </a:cubicBezTo>
                    <a:cubicBezTo>
                      <a:pt x="331" y="452"/>
                      <a:pt x="329" y="452"/>
                      <a:pt x="328" y="451"/>
                    </a:cubicBezTo>
                    <a:cubicBezTo>
                      <a:pt x="326" y="451"/>
                      <a:pt x="326" y="455"/>
                      <a:pt x="326" y="456"/>
                    </a:cubicBezTo>
                    <a:cubicBezTo>
                      <a:pt x="325" y="458"/>
                      <a:pt x="325" y="458"/>
                      <a:pt x="326" y="457"/>
                    </a:cubicBezTo>
                    <a:cubicBezTo>
                      <a:pt x="328" y="457"/>
                      <a:pt x="326" y="459"/>
                      <a:pt x="324" y="461"/>
                    </a:cubicBezTo>
                    <a:cubicBezTo>
                      <a:pt x="323" y="463"/>
                      <a:pt x="329" y="460"/>
                      <a:pt x="331" y="460"/>
                    </a:cubicBezTo>
                    <a:cubicBezTo>
                      <a:pt x="333" y="459"/>
                      <a:pt x="333" y="460"/>
                      <a:pt x="332" y="460"/>
                    </a:cubicBezTo>
                    <a:cubicBezTo>
                      <a:pt x="332" y="461"/>
                      <a:pt x="331" y="461"/>
                      <a:pt x="330" y="463"/>
                    </a:cubicBezTo>
                    <a:cubicBezTo>
                      <a:pt x="330" y="465"/>
                      <a:pt x="329" y="465"/>
                      <a:pt x="328" y="464"/>
                    </a:cubicBezTo>
                    <a:cubicBezTo>
                      <a:pt x="327" y="463"/>
                      <a:pt x="327" y="463"/>
                      <a:pt x="327" y="465"/>
                    </a:cubicBezTo>
                    <a:cubicBezTo>
                      <a:pt x="327" y="467"/>
                      <a:pt x="325" y="466"/>
                      <a:pt x="323" y="466"/>
                    </a:cubicBezTo>
                    <a:cubicBezTo>
                      <a:pt x="321" y="466"/>
                      <a:pt x="320" y="467"/>
                      <a:pt x="319" y="467"/>
                    </a:cubicBezTo>
                    <a:cubicBezTo>
                      <a:pt x="317" y="468"/>
                      <a:pt x="315" y="467"/>
                      <a:pt x="315" y="467"/>
                    </a:cubicBezTo>
                    <a:cubicBezTo>
                      <a:pt x="314" y="467"/>
                      <a:pt x="314" y="468"/>
                      <a:pt x="313" y="467"/>
                    </a:cubicBezTo>
                    <a:cubicBezTo>
                      <a:pt x="313" y="466"/>
                      <a:pt x="314" y="466"/>
                      <a:pt x="314" y="466"/>
                    </a:cubicBezTo>
                    <a:cubicBezTo>
                      <a:pt x="313" y="465"/>
                      <a:pt x="311" y="467"/>
                      <a:pt x="310" y="466"/>
                    </a:cubicBezTo>
                    <a:cubicBezTo>
                      <a:pt x="309" y="466"/>
                      <a:pt x="308" y="466"/>
                      <a:pt x="305" y="467"/>
                    </a:cubicBezTo>
                    <a:cubicBezTo>
                      <a:pt x="303" y="467"/>
                      <a:pt x="304" y="467"/>
                      <a:pt x="306" y="468"/>
                    </a:cubicBezTo>
                    <a:cubicBezTo>
                      <a:pt x="308" y="468"/>
                      <a:pt x="305" y="469"/>
                      <a:pt x="304" y="469"/>
                    </a:cubicBezTo>
                    <a:cubicBezTo>
                      <a:pt x="303" y="469"/>
                      <a:pt x="299" y="471"/>
                      <a:pt x="299" y="472"/>
                    </a:cubicBezTo>
                    <a:cubicBezTo>
                      <a:pt x="298" y="472"/>
                      <a:pt x="295" y="472"/>
                      <a:pt x="294" y="472"/>
                    </a:cubicBezTo>
                    <a:cubicBezTo>
                      <a:pt x="293" y="472"/>
                      <a:pt x="293" y="473"/>
                      <a:pt x="293" y="473"/>
                    </a:cubicBezTo>
                    <a:cubicBezTo>
                      <a:pt x="294" y="473"/>
                      <a:pt x="294" y="474"/>
                      <a:pt x="294" y="473"/>
                    </a:cubicBezTo>
                    <a:cubicBezTo>
                      <a:pt x="295" y="473"/>
                      <a:pt x="295" y="473"/>
                      <a:pt x="296" y="473"/>
                    </a:cubicBezTo>
                    <a:cubicBezTo>
                      <a:pt x="297" y="474"/>
                      <a:pt x="298" y="473"/>
                      <a:pt x="301" y="472"/>
                    </a:cubicBezTo>
                    <a:cubicBezTo>
                      <a:pt x="303" y="472"/>
                      <a:pt x="302" y="473"/>
                      <a:pt x="300" y="473"/>
                    </a:cubicBezTo>
                    <a:cubicBezTo>
                      <a:pt x="299" y="474"/>
                      <a:pt x="301" y="475"/>
                      <a:pt x="302" y="475"/>
                    </a:cubicBezTo>
                    <a:cubicBezTo>
                      <a:pt x="303" y="475"/>
                      <a:pt x="303" y="475"/>
                      <a:pt x="302" y="474"/>
                    </a:cubicBezTo>
                    <a:cubicBezTo>
                      <a:pt x="301" y="474"/>
                      <a:pt x="302" y="474"/>
                      <a:pt x="303" y="473"/>
                    </a:cubicBezTo>
                    <a:cubicBezTo>
                      <a:pt x="305" y="473"/>
                      <a:pt x="305" y="473"/>
                      <a:pt x="306" y="475"/>
                    </a:cubicBezTo>
                    <a:cubicBezTo>
                      <a:pt x="306" y="477"/>
                      <a:pt x="310" y="475"/>
                      <a:pt x="311" y="475"/>
                    </a:cubicBezTo>
                    <a:cubicBezTo>
                      <a:pt x="312" y="474"/>
                      <a:pt x="321" y="474"/>
                      <a:pt x="323" y="473"/>
                    </a:cubicBezTo>
                    <a:cubicBezTo>
                      <a:pt x="325" y="473"/>
                      <a:pt x="324" y="472"/>
                      <a:pt x="323" y="472"/>
                    </a:cubicBezTo>
                    <a:cubicBezTo>
                      <a:pt x="322" y="472"/>
                      <a:pt x="321" y="472"/>
                      <a:pt x="320" y="471"/>
                    </a:cubicBezTo>
                    <a:cubicBezTo>
                      <a:pt x="318" y="470"/>
                      <a:pt x="321" y="470"/>
                      <a:pt x="322" y="470"/>
                    </a:cubicBezTo>
                    <a:cubicBezTo>
                      <a:pt x="324" y="470"/>
                      <a:pt x="327" y="469"/>
                      <a:pt x="330" y="468"/>
                    </a:cubicBezTo>
                    <a:cubicBezTo>
                      <a:pt x="332" y="467"/>
                      <a:pt x="328" y="471"/>
                      <a:pt x="327" y="473"/>
                    </a:cubicBezTo>
                    <a:cubicBezTo>
                      <a:pt x="326" y="474"/>
                      <a:pt x="324" y="474"/>
                      <a:pt x="326" y="475"/>
                    </a:cubicBezTo>
                    <a:cubicBezTo>
                      <a:pt x="329" y="476"/>
                      <a:pt x="325" y="475"/>
                      <a:pt x="322" y="475"/>
                    </a:cubicBezTo>
                    <a:cubicBezTo>
                      <a:pt x="320" y="475"/>
                      <a:pt x="326" y="478"/>
                      <a:pt x="327" y="478"/>
                    </a:cubicBezTo>
                    <a:cubicBezTo>
                      <a:pt x="328" y="478"/>
                      <a:pt x="328" y="477"/>
                      <a:pt x="328" y="478"/>
                    </a:cubicBezTo>
                    <a:cubicBezTo>
                      <a:pt x="328" y="480"/>
                      <a:pt x="330" y="480"/>
                      <a:pt x="331" y="480"/>
                    </a:cubicBezTo>
                    <a:cubicBezTo>
                      <a:pt x="331" y="480"/>
                      <a:pt x="331" y="480"/>
                      <a:pt x="332" y="480"/>
                    </a:cubicBezTo>
                    <a:cubicBezTo>
                      <a:pt x="332" y="481"/>
                      <a:pt x="333" y="481"/>
                      <a:pt x="334" y="481"/>
                    </a:cubicBezTo>
                    <a:cubicBezTo>
                      <a:pt x="335" y="480"/>
                      <a:pt x="335" y="482"/>
                      <a:pt x="335" y="482"/>
                    </a:cubicBezTo>
                    <a:cubicBezTo>
                      <a:pt x="337" y="482"/>
                      <a:pt x="335" y="482"/>
                      <a:pt x="335" y="482"/>
                    </a:cubicBezTo>
                    <a:cubicBezTo>
                      <a:pt x="330" y="482"/>
                      <a:pt x="327" y="480"/>
                      <a:pt x="326" y="479"/>
                    </a:cubicBezTo>
                    <a:cubicBezTo>
                      <a:pt x="325" y="479"/>
                      <a:pt x="323" y="479"/>
                      <a:pt x="322" y="479"/>
                    </a:cubicBezTo>
                    <a:cubicBezTo>
                      <a:pt x="320" y="480"/>
                      <a:pt x="314" y="479"/>
                      <a:pt x="312" y="479"/>
                    </a:cubicBezTo>
                    <a:cubicBezTo>
                      <a:pt x="310" y="478"/>
                      <a:pt x="305" y="476"/>
                      <a:pt x="304" y="476"/>
                    </a:cubicBezTo>
                    <a:cubicBezTo>
                      <a:pt x="303" y="475"/>
                      <a:pt x="302" y="476"/>
                      <a:pt x="303" y="477"/>
                    </a:cubicBezTo>
                    <a:cubicBezTo>
                      <a:pt x="305" y="478"/>
                      <a:pt x="304" y="478"/>
                      <a:pt x="304" y="478"/>
                    </a:cubicBezTo>
                    <a:cubicBezTo>
                      <a:pt x="304" y="478"/>
                      <a:pt x="299" y="476"/>
                      <a:pt x="298" y="476"/>
                    </a:cubicBezTo>
                    <a:cubicBezTo>
                      <a:pt x="296" y="476"/>
                      <a:pt x="296" y="476"/>
                      <a:pt x="294" y="476"/>
                    </a:cubicBezTo>
                    <a:cubicBezTo>
                      <a:pt x="293" y="477"/>
                      <a:pt x="295" y="477"/>
                      <a:pt x="296" y="477"/>
                    </a:cubicBezTo>
                    <a:cubicBezTo>
                      <a:pt x="297" y="476"/>
                      <a:pt x="297" y="478"/>
                      <a:pt x="297" y="478"/>
                    </a:cubicBezTo>
                    <a:cubicBezTo>
                      <a:pt x="297" y="479"/>
                      <a:pt x="299" y="480"/>
                      <a:pt x="300" y="480"/>
                    </a:cubicBezTo>
                    <a:cubicBezTo>
                      <a:pt x="302" y="481"/>
                      <a:pt x="302" y="482"/>
                      <a:pt x="301" y="482"/>
                    </a:cubicBezTo>
                    <a:cubicBezTo>
                      <a:pt x="301" y="481"/>
                      <a:pt x="300" y="481"/>
                      <a:pt x="299" y="480"/>
                    </a:cubicBezTo>
                    <a:cubicBezTo>
                      <a:pt x="298" y="480"/>
                      <a:pt x="297" y="479"/>
                      <a:pt x="296" y="480"/>
                    </a:cubicBezTo>
                    <a:cubicBezTo>
                      <a:pt x="295" y="480"/>
                      <a:pt x="296" y="481"/>
                      <a:pt x="298" y="481"/>
                    </a:cubicBezTo>
                    <a:cubicBezTo>
                      <a:pt x="299" y="481"/>
                      <a:pt x="297" y="482"/>
                      <a:pt x="296" y="482"/>
                    </a:cubicBezTo>
                    <a:cubicBezTo>
                      <a:pt x="294" y="482"/>
                      <a:pt x="295" y="482"/>
                      <a:pt x="296" y="483"/>
                    </a:cubicBezTo>
                    <a:cubicBezTo>
                      <a:pt x="297" y="484"/>
                      <a:pt x="294" y="485"/>
                      <a:pt x="293" y="484"/>
                    </a:cubicBezTo>
                    <a:cubicBezTo>
                      <a:pt x="293" y="484"/>
                      <a:pt x="292" y="483"/>
                      <a:pt x="292" y="483"/>
                    </a:cubicBezTo>
                    <a:cubicBezTo>
                      <a:pt x="291" y="483"/>
                      <a:pt x="292" y="484"/>
                      <a:pt x="292" y="485"/>
                    </a:cubicBezTo>
                    <a:cubicBezTo>
                      <a:pt x="293" y="485"/>
                      <a:pt x="294" y="486"/>
                      <a:pt x="293" y="486"/>
                    </a:cubicBezTo>
                    <a:cubicBezTo>
                      <a:pt x="292" y="486"/>
                      <a:pt x="291" y="486"/>
                      <a:pt x="291" y="485"/>
                    </a:cubicBezTo>
                    <a:cubicBezTo>
                      <a:pt x="290" y="485"/>
                      <a:pt x="290" y="485"/>
                      <a:pt x="289" y="485"/>
                    </a:cubicBezTo>
                    <a:cubicBezTo>
                      <a:pt x="288" y="486"/>
                      <a:pt x="288" y="486"/>
                      <a:pt x="289" y="487"/>
                    </a:cubicBezTo>
                    <a:cubicBezTo>
                      <a:pt x="290" y="488"/>
                      <a:pt x="290" y="491"/>
                      <a:pt x="289" y="492"/>
                    </a:cubicBezTo>
                    <a:cubicBezTo>
                      <a:pt x="289" y="494"/>
                      <a:pt x="295" y="490"/>
                      <a:pt x="295" y="489"/>
                    </a:cubicBezTo>
                    <a:cubicBezTo>
                      <a:pt x="296" y="488"/>
                      <a:pt x="299" y="487"/>
                      <a:pt x="301" y="486"/>
                    </a:cubicBezTo>
                    <a:cubicBezTo>
                      <a:pt x="302" y="486"/>
                      <a:pt x="306" y="485"/>
                      <a:pt x="307" y="485"/>
                    </a:cubicBezTo>
                    <a:cubicBezTo>
                      <a:pt x="308" y="484"/>
                      <a:pt x="310" y="483"/>
                      <a:pt x="311" y="483"/>
                    </a:cubicBezTo>
                    <a:cubicBezTo>
                      <a:pt x="312" y="483"/>
                      <a:pt x="315" y="483"/>
                      <a:pt x="317" y="482"/>
                    </a:cubicBezTo>
                    <a:cubicBezTo>
                      <a:pt x="320" y="481"/>
                      <a:pt x="316" y="485"/>
                      <a:pt x="314" y="486"/>
                    </a:cubicBezTo>
                    <a:cubicBezTo>
                      <a:pt x="313" y="487"/>
                      <a:pt x="316" y="487"/>
                      <a:pt x="317" y="486"/>
                    </a:cubicBezTo>
                    <a:cubicBezTo>
                      <a:pt x="318" y="486"/>
                      <a:pt x="318" y="486"/>
                      <a:pt x="318" y="487"/>
                    </a:cubicBezTo>
                    <a:cubicBezTo>
                      <a:pt x="318" y="488"/>
                      <a:pt x="318" y="487"/>
                      <a:pt x="319" y="487"/>
                    </a:cubicBezTo>
                    <a:cubicBezTo>
                      <a:pt x="320" y="487"/>
                      <a:pt x="321" y="487"/>
                      <a:pt x="322" y="487"/>
                    </a:cubicBezTo>
                    <a:cubicBezTo>
                      <a:pt x="323" y="486"/>
                      <a:pt x="322" y="485"/>
                      <a:pt x="320" y="483"/>
                    </a:cubicBezTo>
                    <a:cubicBezTo>
                      <a:pt x="318" y="482"/>
                      <a:pt x="325" y="481"/>
                      <a:pt x="326" y="481"/>
                    </a:cubicBezTo>
                    <a:cubicBezTo>
                      <a:pt x="326" y="481"/>
                      <a:pt x="327" y="482"/>
                      <a:pt x="327" y="483"/>
                    </a:cubicBezTo>
                    <a:cubicBezTo>
                      <a:pt x="328" y="483"/>
                      <a:pt x="328" y="485"/>
                      <a:pt x="327" y="486"/>
                    </a:cubicBezTo>
                    <a:cubicBezTo>
                      <a:pt x="327" y="487"/>
                      <a:pt x="328" y="486"/>
                      <a:pt x="329" y="486"/>
                    </a:cubicBezTo>
                    <a:cubicBezTo>
                      <a:pt x="329" y="486"/>
                      <a:pt x="330" y="486"/>
                      <a:pt x="331" y="486"/>
                    </a:cubicBezTo>
                    <a:cubicBezTo>
                      <a:pt x="332" y="485"/>
                      <a:pt x="334" y="484"/>
                      <a:pt x="335" y="484"/>
                    </a:cubicBezTo>
                    <a:cubicBezTo>
                      <a:pt x="336" y="483"/>
                      <a:pt x="336" y="485"/>
                      <a:pt x="337" y="485"/>
                    </a:cubicBezTo>
                    <a:cubicBezTo>
                      <a:pt x="338" y="485"/>
                      <a:pt x="337" y="486"/>
                      <a:pt x="337" y="486"/>
                    </a:cubicBezTo>
                    <a:cubicBezTo>
                      <a:pt x="336" y="487"/>
                      <a:pt x="332" y="489"/>
                      <a:pt x="330" y="489"/>
                    </a:cubicBezTo>
                    <a:cubicBezTo>
                      <a:pt x="329" y="490"/>
                      <a:pt x="329" y="490"/>
                      <a:pt x="329" y="490"/>
                    </a:cubicBezTo>
                    <a:cubicBezTo>
                      <a:pt x="330" y="490"/>
                      <a:pt x="332" y="490"/>
                      <a:pt x="334" y="489"/>
                    </a:cubicBezTo>
                    <a:cubicBezTo>
                      <a:pt x="337" y="488"/>
                      <a:pt x="340" y="487"/>
                      <a:pt x="342" y="488"/>
                    </a:cubicBezTo>
                    <a:cubicBezTo>
                      <a:pt x="344" y="488"/>
                      <a:pt x="342" y="489"/>
                      <a:pt x="341" y="490"/>
                    </a:cubicBezTo>
                    <a:cubicBezTo>
                      <a:pt x="340" y="490"/>
                      <a:pt x="334" y="492"/>
                      <a:pt x="333" y="492"/>
                    </a:cubicBezTo>
                    <a:cubicBezTo>
                      <a:pt x="332" y="492"/>
                      <a:pt x="326" y="491"/>
                      <a:pt x="324" y="490"/>
                    </a:cubicBezTo>
                    <a:cubicBezTo>
                      <a:pt x="322" y="489"/>
                      <a:pt x="321" y="489"/>
                      <a:pt x="321" y="489"/>
                    </a:cubicBezTo>
                    <a:cubicBezTo>
                      <a:pt x="312" y="489"/>
                      <a:pt x="308" y="487"/>
                      <a:pt x="307" y="487"/>
                    </a:cubicBezTo>
                    <a:cubicBezTo>
                      <a:pt x="306" y="486"/>
                      <a:pt x="303" y="488"/>
                      <a:pt x="303" y="488"/>
                    </a:cubicBezTo>
                    <a:cubicBezTo>
                      <a:pt x="303" y="488"/>
                      <a:pt x="291" y="494"/>
                      <a:pt x="289" y="495"/>
                    </a:cubicBezTo>
                    <a:cubicBezTo>
                      <a:pt x="287" y="495"/>
                      <a:pt x="286" y="497"/>
                      <a:pt x="285" y="498"/>
                    </a:cubicBezTo>
                    <a:cubicBezTo>
                      <a:pt x="285" y="499"/>
                      <a:pt x="285" y="500"/>
                      <a:pt x="286" y="500"/>
                    </a:cubicBezTo>
                    <a:cubicBezTo>
                      <a:pt x="287" y="501"/>
                      <a:pt x="289" y="500"/>
                      <a:pt x="289" y="500"/>
                    </a:cubicBezTo>
                    <a:cubicBezTo>
                      <a:pt x="290" y="500"/>
                      <a:pt x="291" y="499"/>
                      <a:pt x="291" y="499"/>
                    </a:cubicBezTo>
                    <a:cubicBezTo>
                      <a:pt x="292" y="499"/>
                      <a:pt x="293" y="499"/>
                      <a:pt x="294" y="498"/>
                    </a:cubicBezTo>
                    <a:cubicBezTo>
                      <a:pt x="295" y="497"/>
                      <a:pt x="295" y="498"/>
                      <a:pt x="296" y="498"/>
                    </a:cubicBezTo>
                    <a:cubicBezTo>
                      <a:pt x="296" y="499"/>
                      <a:pt x="298" y="499"/>
                      <a:pt x="298" y="498"/>
                    </a:cubicBezTo>
                    <a:cubicBezTo>
                      <a:pt x="299" y="498"/>
                      <a:pt x="302" y="498"/>
                      <a:pt x="305" y="497"/>
                    </a:cubicBezTo>
                    <a:cubicBezTo>
                      <a:pt x="308" y="496"/>
                      <a:pt x="312" y="496"/>
                      <a:pt x="313" y="496"/>
                    </a:cubicBezTo>
                    <a:cubicBezTo>
                      <a:pt x="314" y="497"/>
                      <a:pt x="318" y="497"/>
                      <a:pt x="321" y="496"/>
                    </a:cubicBezTo>
                    <a:cubicBezTo>
                      <a:pt x="323" y="496"/>
                      <a:pt x="324" y="496"/>
                      <a:pt x="322" y="497"/>
                    </a:cubicBezTo>
                    <a:cubicBezTo>
                      <a:pt x="320" y="498"/>
                      <a:pt x="321" y="496"/>
                      <a:pt x="322" y="499"/>
                    </a:cubicBezTo>
                    <a:cubicBezTo>
                      <a:pt x="324" y="502"/>
                      <a:pt x="322" y="501"/>
                      <a:pt x="321" y="499"/>
                    </a:cubicBezTo>
                    <a:cubicBezTo>
                      <a:pt x="320" y="498"/>
                      <a:pt x="317" y="498"/>
                      <a:pt x="317" y="498"/>
                    </a:cubicBezTo>
                    <a:cubicBezTo>
                      <a:pt x="316" y="498"/>
                      <a:pt x="315" y="498"/>
                      <a:pt x="312" y="498"/>
                    </a:cubicBezTo>
                    <a:cubicBezTo>
                      <a:pt x="309" y="497"/>
                      <a:pt x="307" y="497"/>
                      <a:pt x="306" y="498"/>
                    </a:cubicBezTo>
                    <a:cubicBezTo>
                      <a:pt x="306" y="498"/>
                      <a:pt x="304" y="499"/>
                      <a:pt x="303" y="498"/>
                    </a:cubicBezTo>
                    <a:cubicBezTo>
                      <a:pt x="302" y="498"/>
                      <a:pt x="299" y="499"/>
                      <a:pt x="298" y="499"/>
                    </a:cubicBezTo>
                    <a:cubicBezTo>
                      <a:pt x="298" y="499"/>
                      <a:pt x="294" y="500"/>
                      <a:pt x="292" y="500"/>
                    </a:cubicBezTo>
                    <a:cubicBezTo>
                      <a:pt x="290" y="501"/>
                      <a:pt x="291" y="501"/>
                      <a:pt x="291" y="501"/>
                    </a:cubicBezTo>
                    <a:cubicBezTo>
                      <a:pt x="292" y="501"/>
                      <a:pt x="289" y="501"/>
                      <a:pt x="288" y="501"/>
                    </a:cubicBezTo>
                    <a:cubicBezTo>
                      <a:pt x="286" y="501"/>
                      <a:pt x="285" y="502"/>
                      <a:pt x="284" y="503"/>
                    </a:cubicBezTo>
                    <a:cubicBezTo>
                      <a:pt x="284" y="503"/>
                      <a:pt x="285" y="504"/>
                      <a:pt x="286" y="504"/>
                    </a:cubicBezTo>
                    <a:cubicBezTo>
                      <a:pt x="288" y="504"/>
                      <a:pt x="289" y="504"/>
                      <a:pt x="287" y="504"/>
                    </a:cubicBezTo>
                    <a:cubicBezTo>
                      <a:pt x="285" y="504"/>
                      <a:pt x="287" y="505"/>
                      <a:pt x="288" y="506"/>
                    </a:cubicBezTo>
                    <a:cubicBezTo>
                      <a:pt x="290" y="506"/>
                      <a:pt x="290" y="507"/>
                      <a:pt x="288" y="506"/>
                    </a:cubicBezTo>
                    <a:cubicBezTo>
                      <a:pt x="286" y="506"/>
                      <a:pt x="286" y="507"/>
                      <a:pt x="287" y="507"/>
                    </a:cubicBezTo>
                    <a:cubicBezTo>
                      <a:pt x="287" y="507"/>
                      <a:pt x="290" y="508"/>
                      <a:pt x="292" y="508"/>
                    </a:cubicBezTo>
                    <a:cubicBezTo>
                      <a:pt x="293" y="508"/>
                      <a:pt x="298" y="508"/>
                      <a:pt x="300" y="509"/>
                    </a:cubicBezTo>
                    <a:cubicBezTo>
                      <a:pt x="302" y="509"/>
                      <a:pt x="304" y="508"/>
                      <a:pt x="305" y="507"/>
                    </a:cubicBezTo>
                    <a:cubicBezTo>
                      <a:pt x="306" y="506"/>
                      <a:pt x="306" y="507"/>
                      <a:pt x="307" y="508"/>
                    </a:cubicBezTo>
                    <a:cubicBezTo>
                      <a:pt x="307" y="508"/>
                      <a:pt x="308" y="508"/>
                      <a:pt x="307" y="509"/>
                    </a:cubicBezTo>
                    <a:cubicBezTo>
                      <a:pt x="306" y="509"/>
                      <a:pt x="306" y="509"/>
                      <a:pt x="307" y="510"/>
                    </a:cubicBezTo>
                    <a:cubicBezTo>
                      <a:pt x="308" y="511"/>
                      <a:pt x="306" y="510"/>
                      <a:pt x="305" y="510"/>
                    </a:cubicBezTo>
                    <a:cubicBezTo>
                      <a:pt x="303" y="510"/>
                      <a:pt x="302" y="510"/>
                      <a:pt x="301" y="510"/>
                    </a:cubicBezTo>
                    <a:cubicBezTo>
                      <a:pt x="299" y="510"/>
                      <a:pt x="299" y="510"/>
                      <a:pt x="298" y="510"/>
                    </a:cubicBezTo>
                    <a:cubicBezTo>
                      <a:pt x="297" y="511"/>
                      <a:pt x="297" y="511"/>
                      <a:pt x="300" y="511"/>
                    </a:cubicBezTo>
                    <a:cubicBezTo>
                      <a:pt x="302" y="511"/>
                      <a:pt x="300" y="512"/>
                      <a:pt x="298" y="512"/>
                    </a:cubicBezTo>
                    <a:cubicBezTo>
                      <a:pt x="297" y="513"/>
                      <a:pt x="296" y="512"/>
                      <a:pt x="296" y="513"/>
                    </a:cubicBezTo>
                    <a:cubicBezTo>
                      <a:pt x="296" y="513"/>
                      <a:pt x="298" y="513"/>
                      <a:pt x="300" y="513"/>
                    </a:cubicBezTo>
                    <a:cubicBezTo>
                      <a:pt x="303" y="513"/>
                      <a:pt x="302" y="514"/>
                      <a:pt x="302" y="514"/>
                    </a:cubicBezTo>
                    <a:cubicBezTo>
                      <a:pt x="301" y="514"/>
                      <a:pt x="299" y="514"/>
                      <a:pt x="298" y="514"/>
                    </a:cubicBezTo>
                    <a:cubicBezTo>
                      <a:pt x="296" y="514"/>
                      <a:pt x="294" y="514"/>
                      <a:pt x="293" y="514"/>
                    </a:cubicBezTo>
                    <a:cubicBezTo>
                      <a:pt x="291" y="515"/>
                      <a:pt x="292" y="516"/>
                      <a:pt x="293" y="517"/>
                    </a:cubicBezTo>
                    <a:cubicBezTo>
                      <a:pt x="293" y="517"/>
                      <a:pt x="296" y="517"/>
                      <a:pt x="297" y="517"/>
                    </a:cubicBezTo>
                    <a:cubicBezTo>
                      <a:pt x="298" y="516"/>
                      <a:pt x="300" y="516"/>
                      <a:pt x="302" y="517"/>
                    </a:cubicBezTo>
                    <a:cubicBezTo>
                      <a:pt x="305" y="517"/>
                      <a:pt x="303" y="518"/>
                      <a:pt x="302" y="518"/>
                    </a:cubicBezTo>
                    <a:cubicBezTo>
                      <a:pt x="300" y="518"/>
                      <a:pt x="298" y="517"/>
                      <a:pt x="297" y="518"/>
                    </a:cubicBezTo>
                    <a:cubicBezTo>
                      <a:pt x="295" y="519"/>
                      <a:pt x="294" y="518"/>
                      <a:pt x="293" y="518"/>
                    </a:cubicBezTo>
                    <a:cubicBezTo>
                      <a:pt x="292" y="518"/>
                      <a:pt x="291" y="518"/>
                      <a:pt x="290" y="518"/>
                    </a:cubicBezTo>
                    <a:cubicBezTo>
                      <a:pt x="288" y="518"/>
                      <a:pt x="288" y="520"/>
                      <a:pt x="289" y="519"/>
                    </a:cubicBezTo>
                    <a:cubicBezTo>
                      <a:pt x="290" y="519"/>
                      <a:pt x="290" y="520"/>
                      <a:pt x="288" y="521"/>
                    </a:cubicBezTo>
                    <a:cubicBezTo>
                      <a:pt x="287" y="523"/>
                      <a:pt x="290" y="524"/>
                      <a:pt x="291" y="524"/>
                    </a:cubicBezTo>
                    <a:cubicBezTo>
                      <a:pt x="293" y="524"/>
                      <a:pt x="293" y="524"/>
                      <a:pt x="293" y="525"/>
                    </a:cubicBezTo>
                    <a:cubicBezTo>
                      <a:pt x="292" y="525"/>
                      <a:pt x="291" y="525"/>
                      <a:pt x="289" y="526"/>
                    </a:cubicBezTo>
                    <a:cubicBezTo>
                      <a:pt x="287" y="528"/>
                      <a:pt x="291" y="528"/>
                      <a:pt x="291" y="528"/>
                    </a:cubicBezTo>
                    <a:cubicBezTo>
                      <a:pt x="297" y="528"/>
                      <a:pt x="301" y="522"/>
                      <a:pt x="302" y="522"/>
                    </a:cubicBezTo>
                    <a:cubicBezTo>
                      <a:pt x="303" y="521"/>
                      <a:pt x="307" y="519"/>
                      <a:pt x="309" y="519"/>
                    </a:cubicBezTo>
                    <a:cubicBezTo>
                      <a:pt x="310" y="519"/>
                      <a:pt x="312" y="516"/>
                      <a:pt x="313" y="515"/>
                    </a:cubicBezTo>
                    <a:cubicBezTo>
                      <a:pt x="313" y="514"/>
                      <a:pt x="314" y="514"/>
                      <a:pt x="315" y="514"/>
                    </a:cubicBezTo>
                    <a:cubicBezTo>
                      <a:pt x="315" y="514"/>
                      <a:pt x="317" y="513"/>
                      <a:pt x="318" y="512"/>
                    </a:cubicBezTo>
                    <a:cubicBezTo>
                      <a:pt x="319" y="511"/>
                      <a:pt x="323" y="509"/>
                      <a:pt x="324" y="508"/>
                    </a:cubicBezTo>
                    <a:cubicBezTo>
                      <a:pt x="326" y="508"/>
                      <a:pt x="331" y="505"/>
                      <a:pt x="334" y="505"/>
                    </a:cubicBezTo>
                    <a:cubicBezTo>
                      <a:pt x="336" y="504"/>
                      <a:pt x="337" y="505"/>
                      <a:pt x="335" y="505"/>
                    </a:cubicBezTo>
                    <a:cubicBezTo>
                      <a:pt x="333" y="505"/>
                      <a:pt x="335" y="506"/>
                      <a:pt x="337" y="506"/>
                    </a:cubicBezTo>
                    <a:cubicBezTo>
                      <a:pt x="339" y="506"/>
                      <a:pt x="339" y="507"/>
                      <a:pt x="339" y="507"/>
                    </a:cubicBezTo>
                    <a:cubicBezTo>
                      <a:pt x="338" y="507"/>
                      <a:pt x="335" y="506"/>
                      <a:pt x="334" y="506"/>
                    </a:cubicBezTo>
                    <a:cubicBezTo>
                      <a:pt x="333" y="506"/>
                      <a:pt x="330" y="507"/>
                      <a:pt x="329" y="507"/>
                    </a:cubicBezTo>
                    <a:cubicBezTo>
                      <a:pt x="329" y="507"/>
                      <a:pt x="328" y="508"/>
                      <a:pt x="328" y="509"/>
                    </a:cubicBezTo>
                    <a:cubicBezTo>
                      <a:pt x="329" y="510"/>
                      <a:pt x="331" y="509"/>
                      <a:pt x="335" y="509"/>
                    </a:cubicBezTo>
                    <a:cubicBezTo>
                      <a:pt x="339" y="510"/>
                      <a:pt x="336" y="510"/>
                      <a:pt x="335" y="510"/>
                    </a:cubicBezTo>
                    <a:cubicBezTo>
                      <a:pt x="335" y="510"/>
                      <a:pt x="333" y="510"/>
                      <a:pt x="332" y="510"/>
                    </a:cubicBezTo>
                    <a:cubicBezTo>
                      <a:pt x="331" y="510"/>
                      <a:pt x="329" y="510"/>
                      <a:pt x="327" y="510"/>
                    </a:cubicBezTo>
                    <a:cubicBezTo>
                      <a:pt x="324" y="509"/>
                      <a:pt x="322" y="511"/>
                      <a:pt x="321" y="512"/>
                    </a:cubicBezTo>
                    <a:cubicBezTo>
                      <a:pt x="320" y="512"/>
                      <a:pt x="319" y="513"/>
                      <a:pt x="318" y="514"/>
                    </a:cubicBezTo>
                    <a:cubicBezTo>
                      <a:pt x="316" y="515"/>
                      <a:pt x="314" y="516"/>
                      <a:pt x="314" y="516"/>
                    </a:cubicBezTo>
                    <a:cubicBezTo>
                      <a:pt x="313" y="517"/>
                      <a:pt x="310" y="520"/>
                      <a:pt x="308" y="520"/>
                    </a:cubicBezTo>
                    <a:cubicBezTo>
                      <a:pt x="306" y="521"/>
                      <a:pt x="302" y="523"/>
                      <a:pt x="302" y="524"/>
                    </a:cubicBezTo>
                    <a:cubicBezTo>
                      <a:pt x="301" y="525"/>
                      <a:pt x="299" y="526"/>
                      <a:pt x="298" y="527"/>
                    </a:cubicBezTo>
                    <a:cubicBezTo>
                      <a:pt x="297" y="527"/>
                      <a:pt x="295" y="528"/>
                      <a:pt x="293" y="529"/>
                    </a:cubicBezTo>
                    <a:cubicBezTo>
                      <a:pt x="291" y="530"/>
                      <a:pt x="294" y="530"/>
                      <a:pt x="294" y="530"/>
                    </a:cubicBezTo>
                    <a:cubicBezTo>
                      <a:pt x="295" y="530"/>
                      <a:pt x="294" y="530"/>
                      <a:pt x="292" y="531"/>
                    </a:cubicBezTo>
                    <a:cubicBezTo>
                      <a:pt x="291" y="532"/>
                      <a:pt x="294" y="532"/>
                      <a:pt x="296" y="531"/>
                    </a:cubicBezTo>
                    <a:cubicBezTo>
                      <a:pt x="298" y="530"/>
                      <a:pt x="298" y="531"/>
                      <a:pt x="297" y="532"/>
                    </a:cubicBezTo>
                    <a:cubicBezTo>
                      <a:pt x="295" y="532"/>
                      <a:pt x="295" y="533"/>
                      <a:pt x="296" y="533"/>
                    </a:cubicBezTo>
                    <a:cubicBezTo>
                      <a:pt x="296" y="534"/>
                      <a:pt x="298" y="533"/>
                      <a:pt x="299" y="533"/>
                    </a:cubicBezTo>
                    <a:cubicBezTo>
                      <a:pt x="300" y="533"/>
                      <a:pt x="301" y="533"/>
                      <a:pt x="301" y="532"/>
                    </a:cubicBezTo>
                    <a:cubicBezTo>
                      <a:pt x="301" y="531"/>
                      <a:pt x="303" y="532"/>
                      <a:pt x="303" y="531"/>
                    </a:cubicBezTo>
                    <a:cubicBezTo>
                      <a:pt x="304" y="531"/>
                      <a:pt x="305" y="531"/>
                      <a:pt x="305" y="532"/>
                    </a:cubicBezTo>
                    <a:cubicBezTo>
                      <a:pt x="306" y="532"/>
                      <a:pt x="306" y="534"/>
                      <a:pt x="308" y="533"/>
                    </a:cubicBezTo>
                    <a:cubicBezTo>
                      <a:pt x="308" y="533"/>
                      <a:pt x="309" y="533"/>
                      <a:pt x="310" y="532"/>
                    </a:cubicBezTo>
                    <a:cubicBezTo>
                      <a:pt x="311" y="530"/>
                      <a:pt x="312" y="531"/>
                      <a:pt x="313" y="530"/>
                    </a:cubicBezTo>
                    <a:cubicBezTo>
                      <a:pt x="315" y="529"/>
                      <a:pt x="317" y="529"/>
                      <a:pt x="317" y="530"/>
                    </a:cubicBezTo>
                    <a:cubicBezTo>
                      <a:pt x="317" y="531"/>
                      <a:pt x="316" y="532"/>
                      <a:pt x="314" y="531"/>
                    </a:cubicBezTo>
                    <a:cubicBezTo>
                      <a:pt x="313" y="531"/>
                      <a:pt x="311" y="531"/>
                      <a:pt x="310" y="532"/>
                    </a:cubicBezTo>
                    <a:cubicBezTo>
                      <a:pt x="309" y="533"/>
                      <a:pt x="309" y="534"/>
                      <a:pt x="308" y="534"/>
                    </a:cubicBezTo>
                    <a:cubicBezTo>
                      <a:pt x="307" y="534"/>
                      <a:pt x="306" y="534"/>
                      <a:pt x="304" y="533"/>
                    </a:cubicBezTo>
                    <a:cubicBezTo>
                      <a:pt x="302" y="532"/>
                      <a:pt x="299" y="533"/>
                      <a:pt x="298" y="534"/>
                    </a:cubicBezTo>
                    <a:cubicBezTo>
                      <a:pt x="297" y="534"/>
                      <a:pt x="297" y="535"/>
                      <a:pt x="296" y="536"/>
                    </a:cubicBezTo>
                    <a:cubicBezTo>
                      <a:pt x="295" y="536"/>
                      <a:pt x="294" y="537"/>
                      <a:pt x="297" y="536"/>
                    </a:cubicBezTo>
                    <a:cubicBezTo>
                      <a:pt x="300" y="536"/>
                      <a:pt x="297" y="537"/>
                      <a:pt x="296" y="537"/>
                    </a:cubicBezTo>
                    <a:cubicBezTo>
                      <a:pt x="295" y="538"/>
                      <a:pt x="294" y="538"/>
                      <a:pt x="296" y="539"/>
                    </a:cubicBezTo>
                    <a:cubicBezTo>
                      <a:pt x="297" y="539"/>
                      <a:pt x="300" y="539"/>
                      <a:pt x="301" y="538"/>
                    </a:cubicBezTo>
                    <a:cubicBezTo>
                      <a:pt x="301" y="538"/>
                      <a:pt x="302" y="538"/>
                      <a:pt x="302" y="538"/>
                    </a:cubicBezTo>
                    <a:cubicBezTo>
                      <a:pt x="301" y="539"/>
                      <a:pt x="301" y="540"/>
                      <a:pt x="302" y="539"/>
                    </a:cubicBezTo>
                    <a:cubicBezTo>
                      <a:pt x="303" y="539"/>
                      <a:pt x="303" y="539"/>
                      <a:pt x="302" y="540"/>
                    </a:cubicBezTo>
                    <a:cubicBezTo>
                      <a:pt x="302" y="540"/>
                      <a:pt x="302" y="541"/>
                      <a:pt x="301" y="541"/>
                    </a:cubicBezTo>
                    <a:cubicBezTo>
                      <a:pt x="300" y="542"/>
                      <a:pt x="303" y="542"/>
                      <a:pt x="303" y="542"/>
                    </a:cubicBezTo>
                    <a:cubicBezTo>
                      <a:pt x="304" y="541"/>
                      <a:pt x="304" y="541"/>
                      <a:pt x="304" y="542"/>
                    </a:cubicBezTo>
                    <a:cubicBezTo>
                      <a:pt x="304" y="543"/>
                      <a:pt x="305" y="543"/>
                      <a:pt x="305" y="542"/>
                    </a:cubicBezTo>
                    <a:cubicBezTo>
                      <a:pt x="306" y="542"/>
                      <a:pt x="306" y="542"/>
                      <a:pt x="306" y="543"/>
                    </a:cubicBezTo>
                    <a:cubicBezTo>
                      <a:pt x="306" y="544"/>
                      <a:pt x="306" y="544"/>
                      <a:pt x="307" y="545"/>
                    </a:cubicBezTo>
                    <a:cubicBezTo>
                      <a:pt x="308" y="545"/>
                      <a:pt x="307" y="545"/>
                      <a:pt x="307" y="546"/>
                    </a:cubicBezTo>
                    <a:cubicBezTo>
                      <a:pt x="306" y="546"/>
                      <a:pt x="305" y="548"/>
                      <a:pt x="305" y="549"/>
                    </a:cubicBezTo>
                    <a:cubicBezTo>
                      <a:pt x="305" y="550"/>
                      <a:pt x="306" y="550"/>
                      <a:pt x="306" y="550"/>
                    </a:cubicBezTo>
                    <a:cubicBezTo>
                      <a:pt x="306" y="550"/>
                      <a:pt x="307" y="549"/>
                      <a:pt x="307" y="548"/>
                    </a:cubicBezTo>
                    <a:cubicBezTo>
                      <a:pt x="307" y="547"/>
                      <a:pt x="308" y="548"/>
                      <a:pt x="309" y="547"/>
                    </a:cubicBezTo>
                    <a:cubicBezTo>
                      <a:pt x="310" y="547"/>
                      <a:pt x="310" y="549"/>
                      <a:pt x="309" y="550"/>
                    </a:cubicBezTo>
                    <a:cubicBezTo>
                      <a:pt x="308" y="551"/>
                      <a:pt x="309" y="550"/>
                      <a:pt x="310" y="550"/>
                    </a:cubicBezTo>
                    <a:cubicBezTo>
                      <a:pt x="311" y="549"/>
                      <a:pt x="312" y="549"/>
                      <a:pt x="311" y="550"/>
                    </a:cubicBezTo>
                    <a:cubicBezTo>
                      <a:pt x="310" y="550"/>
                      <a:pt x="310" y="551"/>
                      <a:pt x="310" y="552"/>
                    </a:cubicBezTo>
                    <a:cubicBezTo>
                      <a:pt x="309" y="553"/>
                      <a:pt x="309" y="553"/>
                      <a:pt x="310" y="553"/>
                    </a:cubicBezTo>
                    <a:cubicBezTo>
                      <a:pt x="310" y="554"/>
                      <a:pt x="311" y="554"/>
                      <a:pt x="312" y="555"/>
                    </a:cubicBezTo>
                    <a:cubicBezTo>
                      <a:pt x="312" y="556"/>
                      <a:pt x="311" y="557"/>
                      <a:pt x="310" y="558"/>
                    </a:cubicBezTo>
                    <a:cubicBezTo>
                      <a:pt x="309" y="559"/>
                      <a:pt x="309" y="559"/>
                      <a:pt x="310" y="559"/>
                    </a:cubicBezTo>
                    <a:cubicBezTo>
                      <a:pt x="310" y="560"/>
                      <a:pt x="312" y="558"/>
                      <a:pt x="312" y="558"/>
                    </a:cubicBezTo>
                    <a:cubicBezTo>
                      <a:pt x="313" y="557"/>
                      <a:pt x="313" y="558"/>
                      <a:pt x="313" y="559"/>
                    </a:cubicBezTo>
                    <a:cubicBezTo>
                      <a:pt x="312" y="559"/>
                      <a:pt x="312" y="560"/>
                      <a:pt x="312" y="560"/>
                    </a:cubicBezTo>
                    <a:cubicBezTo>
                      <a:pt x="313" y="560"/>
                      <a:pt x="314" y="559"/>
                      <a:pt x="314" y="559"/>
                    </a:cubicBezTo>
                    <a:cubicBezTo>
                      <a:pt x="315" y="559"/>
                      <a:pt x="315" y="558"/>
                      <a:pt x="315" y="558"/>
                    </a:cubicBezTo>
                    <a:cubicBezTo>
                      <a:pt x="316" y="558"/>
                      <a:pt x="316" y="558"/>
                      <a:pt x="316" y="557"/>
                    </a:cubicBezTo>
                    <a:cubicBezTo>
                      <a:pt x="316" y="557"/>
                      <a:pt x="315" y="556"/>
                      <a:pt x="317" y="555"/>
                    </a:cubicBezTo>
                    <a:cubicBezTo>
                      <a:pt x="318" y="555"/>
                      <a:pt x="319" y="555"/>
                      <a:pt x="318" y="557"/>
                    </a:cubicBezTo>
                    <a:cubicBezTo>
                      <a:pt x="316" y="558"/>
                      <a:pt x="318" y="558"/>
                      <a:pt x="321" y="556"/>
                    </a:cubicBezTo>
                    <a:cubicBezTo>
                      <a:pt x="324" y="553"/>
                      <a:pt x="323" y="556"/>
                      <a:pt x="322" y="556"/>
                    </a:cubicBezTo>
                    <a:cubicBezTo>
                      <a:pt x="322" y="557"/>
                      <a:pt x="320" y="559"/>
                      <a:pt x="319" y="558"/>
                    </a:cubicBezTo>
                    <a:cubicBezTo>
                      <a:pt x="319" y="558"/>
                      <a:pt x="318" y="559"/>
                      <a:pt x="317" y="559"/>
                    </a:cubicBezTo>
                    <a:cubicBezTo>
                      <a:pt x="316" y="559"/>
                      <a:pt x="314" y="560"/>
                      <a:pt x="314" y="560"/>
                    </a:cubicBezTo>
                    <a:cubicBezTo>
                      <a:pt x="313" y="561"/>
                      <a:pt x="312" y="561"/>
                      <a:pt x="311" y="563"/>
                    </a:cubicBezTo>
                    <a:cubicBezTo>
                      <a:pt x="310" y="564"/>
                      <a:pt x="311" y="565"/>
                      <a:pt x="311" y="570"/>
                    </a:cubicBezTo>
                    <a:cubicBezTo>
                      <a:pt x="311" y="575"/>
                      <a:pt x="315" y="574"/>
                      <a:pt x="316" y="573"/>
                    </a:cubicBezTo>
                    <a:cubicBezTo>
                      <a:pt x="316" y="573"/>
                      <a:pt x="318" y="571"/>
                      <a:pt x="318" y="571"/>
                    </a:cubicBezTo>
                    <a:cubicBezTo>
                      <a:pt x="317" y="570"/>
                      <a:pt x="318" y="570"/>
                      <a:pt x="319" y="569"/>
                    </a:cubicBezTo>
                    <a:cubicBezTo>
                      <a:pt x="319" y="569"/>
                      <a:pt x="321" y="567"/>
                      <a:pt x="321" y="566"/>
                    </a:cubicBezTo>
                    <a:cubicBezTo>
                      <a:pt x="321" y="565"/>
                      <a:pt x="321" y="564"/>
                      <a:pt x="322" y="564"/>
                    </a:cubicBezTo>
                    <a:cubicBezTo>
                      <a:pt x="322" y="564"/>
                      <a:pt x="323" y="563"/>
                      <a:pt x="323" y="562"/>
                    </a:cubicBezTo>
                    <a:cubicBezTo>
                      <a:pt x="323" y="561"/>
                      <a:pt x="324" y="561"/>
                      <a:pt x="326" y="560"/>
                    </a:cubicBezTo>
                    <a:cubicBezTo>
                      <a:pt x="327" y="560"/>
                      <a:pt x="327" y="561"/>
                      <a:pt x="326" y="562"/>
                    </a:cubicBezTo>
                    <a:cubicBezTo>
                      <a:pt x="325" y="563"/>
                      <a:pt x="325" y="564"/>
                      <a:pt x="325" y="564"/>
                    </a:cubicBezTo>
                    <a:cubicBezTo>
                      <a:pt x="326" y="565"/>
                      <a:pt x="327" y="564"/>
                      <a:pt x="328" y="563"/>
                    </a:cubicBezTo>
                    <a:cubicBezTo>
                      <a:pt x="329" y="562"/>
                      <a:pt x="331" y="561"/>
                      <a:pt x="332" y="561"/>
                    </a:cubicBezTo>
                    <a:cubicBezTo>
                      <a:pt x="333" y="560"/>
                      <a:pt x="332" y="559"/>
                      <a:pt x="332" y="559"/>
                    </a:cubicBezTo>
                    <a:cubicBezTo>
                      <a:pt x="331" y="559"/>
                      <a:pt x="331" y="559"/>
                      <a:pt x="331" y="557"/>
                    </a:cubicBezTo>
                    <a:cubicBezTo>
                      <a:pt x="332" y="555"/>
                      <a:pt x="331" y="555"/>
                      <a:pt x="330" y="555"/>
                    </a:cubicBezTo>
                    <a:cubicBezTo>
                      <a:pt x="329" y="556"/>
                      <a:pt x="329" y="555"/>
                      <a:pt x="329" y="554"/>
                    </a:cubicBezTo>
                    <a:cubicBezTo>
                      <a:pt x="329" y="553"/>
                      <a:pt x="329" y="553"/>
                      <a:pt x="328" y="551"/>
                    </a:cubicBezTo>
                    <a:cubicBezTo>
                      <a:pt x="328" y="550"/>
                      <a:pt x="330" y="551"/>
                      <a:pt x="331" y="551"/>
                    </a:cubicBezTo>
                    <a:cubicBezTo>
                      <a:pt x="332" y="550"/>
                      <a:pt x="331" y="552"/>
                      <a:pt x="331" y="553"/>
                    </a:cubicBezTo>
                    <a:cubicBezTo>
                      <a:pt x="331" y="553"/>
                      <a:pt x="331" y="554"/>
                      <a:pt x="332" y="555"/>
                    </a:cubicBezTo>
                    <a:cubicBezTo>
                      <a:pt x="333" y="555"/>
                      <a:pt x="333" y="557"/>
                      <a:pt x="333" y="558"/>
                    </a:cubicBezTo>
                    <a:cubicBezTo>
                      <a:pt x="333" y="559"/>
                      <a:pt x="334" y="560"/>
                      <a:pt x="334" y="561"/>
                    </a:cubicBezTo>
                    <a:cubicBezTo>
                      <a:pt x="335" y="562"/>
                      <a:pt x="338" y="562"/>
                      <a:pt x="339" y="561"/>
                    </a:cubicBezTo>
                    <a:cubicBezTo>
                      <a:pt x="339" y="559"/>
                      <a:pt x="341" y="559"/>
                      <a:pt x="342" y="559"/>
                    </a:cubicBezTo>
                    <a:cubicBezTo>
                      <a:pt x="343" y="558"/>
                      <a:pt x="342" y="559"/>
                      <a:pt x="342" y="560"/>
                    </a:cubicBezTo>
                    <a:cubicBezTo>
                      <a:pt x="342" y="561"/>
                      <a:pt x="343" y="562"/>
                      <a:pt x="342" y="564"/>
                    </a:cubicBezTo>
                    <a:cubicBezTo>
                      <a:pt x="341" y="566"/>
                      <a:pt x="342" y="566"/>
                      <a:pt x="346" y="569"/>
                    </a:cubicBezTo>
                    <a:cubicBezTo>
                      <a:pt x="349" y="571"/>
                      <a:pt x="345" y="570"/>
                      <a:pt x="343" y="569"/>
                    </a:cubicBezTo>
                    <a:cubicBezTo>
                      <a:pt x="341" y="568"/>
                      <a:pt x="339" y="566"/>
                      <a:pt x="338" y="564"/>
                    </a:cubicBezTo>
                    <a:cubicBezTo>
                      <a:pt x="338" y="563"/>
                      <a:pt x="337" y="563"/>
                      <a:pt x="335" y="562"/>
                    </a:cubicBezTo>
                    <a:cubicBezTo>
                      <a:pt x="334" y="562"/>
                      <a:pt x="333" y="562"/>
                      <a:pt x="335" y="563"/>
                    </a:cubicBezTo>
                    <a:cubicBezTo>
                      <a:pt x="336" y="563"/>
                      <a:pt x="333" y="563"/>
                      <a:pt x="331" y="564"/>
                    </a:cubicBezTo>
                    <a:cubicBezTo>
                      <a:pt x="329" y="564"/>
                      <a:pt x="331" y="565"/>
                      <a:pt x="332" y="565"/>
                    </a:cubicBezTo>
                    <a:cubicBezTo>
                      <a:pt x="333" y="565"/>
                      <a:pt x="333" y="566"/>
                      <a:pt x="333" y="566"/>
                    </a:cubicBezTo>
                    <a:cubicBezTo>
                      <a:pt x="333" y="567"/>
                      <a:pt x="333" y="567"/>
                      <a:pt x="335" y="566"/>
                    </a:cubicBezTo>
                    <a:cubicBezTo>
                      <a:pt x="336" y="566"/>
                      <a:pt x="335" y="566"/>
                      <a:pt x="336" y="568"/>
                    </a:cubicBezTo>
                    <a:cubicBezTo>
                      <a:pt x="336" y="570"/>
                      <a:pt x="337" y="568"/>
                      <a:pt x="339" y="568"/>
                    </a:cubicBezTo>
                    <a:cubicBezTo>
                      <a:pt x="340" y="567"/>
                      <a:pt x="339" y="569"/>
                      <a:pt x="338" y="569"/>
                    </a:cubicBezTo>
                    <a:cubicBezTo>
                      <a:pt x="337" y="570"/>
                      <a:pt x="335" y="569"/>
                      <a:pt x="334" y="569"/>
                    </a:cubicBezTo>
                    <a:cubicBezTo>
                      <a:pt x="332" y="569"/>
                      <a:pt x="333" y="569"/>
                      <a:pt x="333" y="569"/>
                    </a:cubicBezTo>
                    <a:cubicBezTo>
                      <a:pt x="334" y="570"/>
                      <a:pt x="332" y="569"/>
                      <a:pt x="330" y="569"/>
                    </a:cubicBezTo>
                    <a:cubicBezTo>
                      <a:pt x="329" y="569"/>
                      <a:pt x="329" y="570"/>
                      <a:pt x="329" y="572"/>
                    </a:cubicBezTo>
                    <a:cubicBezTo>
                      <a:pt x="330" y="573"/>
                      <a:pt x="329" y="573"/>
                      <a:pt x="327" y="574"/>
                    </a:cubicBezTo>
                    <a:cubicBezTo>
                      <a:pt x="325" y="574"/>
                      <a:pt x="324" y="574"/>
                      <a:pt x="323" y="574"/>
                    </a:cubicBezTo>
                    <a:cubicBezTo>
                      <a:pt x="322" y="574"/>
                      <a:pt x="322" y="573"/>
                      <a:pt x="319" y="574"/>
                    </a:cubicBezTo>
                    <a:cubicBezTo>
                      <a:pt x="317" y="574"/>
                      <a:pt x="317" y="574"/>
                      <a:pt x="318" y="574"/>
                    </a:cubicBezTo>
                    <a:cubicBezTo>
                      <a:pt x="318" y="574"/>
                      <a:pt x="319" y="574"/>
                      <a:pt x="321" y="575"/>
                    </a:cubicBezTo>
                    <a:cubicBezTo>
                      <a:pt x="322" y="575"/>
                      <a:pt x="321" y="575"/>
                      <a:pt x="320" y="575"/>
                    </a:cubicBezTo>
                    <a:cubicBezTo>
                      <a:pt x="318" y="575"/>
                      <a:pt x="317" y="576"/>
                      <a:pt x="319" y="577"/>
                    </a:cubicBezTo>
                    <a:cubicBezTo>
                      <a:pt x="320" y="577"/>
                      <a:pt x="324" y="577"/>
                      <a:pt x="326" y="576"/>
                    </a:cubicBezTo>
                    <a:cubicBezTo>
                      <a:pt x="329" y="575"/>
                      <a:pt x="335" y="572"/>
                      <a:pt x="336" y="571"/>
                    </a:cubicBezTo>
                    <a:cubicBezTo>
                      <a:pt x="337" y="569"/>
                      <a:pt x="338" y="571"/>
                      <a:pt x="337" y="573"/>
                    </a:cubicBezTo>
                    <a:cubicBezTo>
                      <a:pt x="337" y="575"/>
                      <a:pt x="336" y="574"/>
                      <a:pt x="339" y="574"/>
                    </a:cubicBezTo>
                    <a:cubicBezTo>
                      <a:pt x="341" y="573"/>
                      <a:pt x="340" y="575"/>
                      <a:pt x="340" y="574"/>
                    </a:cubicBezTo>
                    <a:cubicBezTo>
                      <a:pt x="339" y="574"/>
                      <a:pt x="338" y="575"/>
                      <a:pt x="338" y="575"/>
                    </a:cubicBezTo>
                    <a:cubicBezTo>
                      <a:pt x="337" y="575"/>
                      <a:pt x="335" y="576"/>
                      <a:pt x="334" y="575"/>
                    </a:cubicBezTo>
                    <a:cubicBezTo>
                      <a:pt x="333" y="575"/>
                      <a:pt x="331" y="576"/>
                      <a:pt x="330" y="576"/>
                    </a:cubicBezTo>
                    <a:cubicBezTo>
                      <a:pt x="328" y="577"/>
                      <a:pt x="323" y="578"/>
                      <a:pt x="321" y="578"/>
                    </a:cubicBezTo>
                    <a:cubicBezTo>
                      <a:pt x="319" y="579"/>
                      <a:pt x="319" y="579"/>
                      <a:pt x="321" y="579"/>
                    </a:cubicBezTo>
                    <a:cubicBezTo>
                      <a:pt x="322" y="580"/>
                      <a:pt x="322" y="580"/>
                      <a:pt x="321" y="582"/>
                    </a:cubicBezTo>
                    <a:cubicBezTo>
                      <a:pt x="321" y="583"/>
                      <a:pt x="321" y="583"/>
                      <a:pt x="324" y="583"/>
                    </a:cubicBezTo>
                    <a:cubicBezTo>
                      <a:pt x="326" y="582"/>
                      <a:pt x="324" y="583"/>
                      <a:pt x="322" y="584"/>
                    </a:cubicBezTo>
                    <a:cubicBezTo>
                      <a:pt x="321" y="585"/>
                      <a:pt x="320" y="584"/>
                      <a:pt x="321" y="585"/>
                    </a:cubicBezTo>
                    <a:cubicBezTo>
                      <a:pt x="322" y="585"/>
                      <a:pt x="322" y="586"/>
                      <a:pt x="320" y="586"/>
                    </a:cubicBezTo>
                    <a:cubicBezTo>
                      <a:pt x="319" y="587"/>
                      <a:pt x="321" y="587"/>
                      <a:pt x="321" y="589"/>
                    </a:cubicBezTo>
                    <a:cubicBezTo>
                      <a:pt x="322" y="590"/>
                      <a:pt x="323" y="590"/>
                      <a:pt x="324" y="590"/>
                    </a:cubicBezTo>
                    <a:cubicBezTo>
                      <a:pt x="326" y="591"/>
                      <a:pt x="325" y="591"/>
                      <a:pt x="325" y="589"/>
                    </a:cubicBezTo>
                    <a:cubicBezTo>
                      <a:pt x="324" y="588"/>
                      <a:pt x="325" y="587"/>
                      <a:pt x="327" y="587"/>
                    </a:cubicBezTo>
                    <a:cubicBezTo>
                      <a:pt x="328" y="587"/>
                      <a:pt x="326" y="588"/>
                      <a:pt x="325" y="589"/>
                    </a:cubicBezTo>
                    <a:cubicBezTo>
                      <a:pt x="325" y="590"/>
                      <a:pt x="326" y="590"/>
                      <a:pt x="329" y="590"/>
                    </a:cubicBezTo>
                    <a:cubicBezTo>
                      <a:pt x="332" y="589"/>
                      <a:pt x="329" y="590"/>
                      <a:pt x="328" y="590"/>
                    </a:cubicBezTo>
                    <a:cubicBezTo>
                      <a:pt x="328" y="590"/>
                      <a:pt x="326" y="591"/>
                      <a:pt x="325" y="592"/>
                    </a:cubicBezTo>
                    <a:cubicBezTo>
                      <a:pt x="324" y="593"/>
                      <a:pt x="326" y="593"/>
                      <a:pt x="327" y="592"/>
                    </a:cubicBezTo>
                    <a:cubicBezTo>
                      <a:pt x="327" y="591"/>
                      <a:pt x="327" y="591"/>
                      <a:pt x="327" y="592"/>
                    </a:cubicBezTo>
                    <a:cubicBezTo>
                      <a:pt x="326" y="593"/>
                      <a:pt x="327" y="594"/>
                      <a:pt x="327" y="594"/>
                    </a:cubicBezTo>
                    <a:cubicBezTo>
                      <a:pt x="328" y="594"/>
                      <a:pt x="329" y="594"/>
                      <a:pt x="335" y="593"/>
                    </a:cubicBezTo>
                    <a:cubicBezTo>
                      <a:pt x="340" y="592"/>
                      <a:pt x="334" y="594"/>
                      <a:pt x="333" y="594"/>
                    </a:cubicBezTo>
                    <a:cubicBezTo>
                      <a:pt x="332" y="594"/>
                      <a:pt x="329" y="594"/>
                      <a:pt x="327" y="594"/>
                    </a:cubicBezTo>
                    <a:cubicBezTo>
                      <a:pt x="326" y="595"/>
                      <a:pt x="326" y="595"/>
                      <a:pt x="326" y="597"/>
                    </a:cubicBezTo>
                    <a:cubicBezTo>
                      <a:pt x="327" y="598"/>
                      <a:pt x="327" y="598"/>
                      <a:pt x="329" y="597"/>
                    </a:cubicBezTo>
                    <a:cubicBezTo>
                      <a:pt x="330" y="597"/>
                      <a:pt x="330" y="597"/>
                      <a:pt x="329" y="598"/>
                    </a:cubicBezTo>
                    <a:cubicBezTo>
                      <a:pt x="328" y="599"/>
                      <a:pt x="329" y="599"/>
                      <a:pt x="330" y="598"/>
                    </a:cubicBezTo>
                    <a:cubicBezTo>
                      <a:pt x="331" y="598"/>
                      <a:pt x="332" y="597"/>
                      <a:pt x="334" y="598"/>
                    </a:cubicBezTo>
                    <a:cubicBezTo>
                      <a:pt x="335" y="598"/>
                      <a:pt x="335" y="598"/>
                      <a:pt x="337" y="598"/>
                    </a:cubicBezTo>
                    <a:cubicBezTo>
                      <a:pt x="339" y="597"/>
                      <a:pt x="339" y="598"/>
                      <a:pt x="337" y="598"/>
                    </a:cubicBezTo>
                    <a:cubicBezTo>
                      <a:pt x="336" y="598"/>
                      <a:pt x="336" y="600"/>
                      <a:pt x="335" y="600"/>
                    </a:cubicBezTo>
                    <a:cubicBezTo>
                      <a:pt x="334" y="600"/>
                      <a:pt x="334" y="600"/>
                      <a:pt x="334" y="602"/>
                    </a:cubicBezTo>
                    <a:cubicBezTo>
                      <a:pt x="334" y="605"/>
                      <a:pt x="338" y="603"/>
                      <a:pt x="339" y="602"/>
                    </a:cubicBezTo>
                    <a:cubicBezTo>
                      <a:pt x="340" y="600"/>
                      <a:pt x="340" y="603"/>
                      <a:pt x="338" y="604"/>
                    </a:cubicBezTo>
                    <a:cubicBezTo>
                      <a:pt x="336" y="605"/>
                      <a:pt x="337" y="605"/>
                      <a:pt x="337" y="606"/>
                    </a:cubicBezTo>
                    <a:cubicBezTo>
                      <a:pt x="337" y="608"/>
                      <a:pt x="338" y="606"/>
                      <a:pt x="338" y="606"/>
                    </a:cubicBezTo>
                    <a:cubicBezTo>
                      <a:pt x="338" y="605"/>
                      <a:pt x="339" y="604"/>
                      <a:pt x="340" y="604"/>
                    </a:cubicBezTo>
                    <a:cubicBezTo>
                      <a:pt x="340" y="604"/>
                      <a:pt x="342" y="602"/>
                      <a:pt x="345" y="601"/>
                    </a:cubicBezTo>
                    <a:cubicBezTo>
                      <a:pt x="348" y="600"/>
                      <a:pt x="345" y="603"/>
                      <a:pt x="343" y="603"/>
                    </a:cubicBezTo>
                    <a:cubicBezTo>
                      <a:pt x="341" y="603"/>
                      <a:pt x="339" y="605"/>
                      <a:pt x="339" y="606"/>
                    </a:cubicBezTo>
                    <a:cubicBezTo>
                      <a:pt x="338" y="607"/>
                      <a:pt x="338" y="608"/>
                      <a:pt x="338" y="609"/>
                    </a:cubicBezTo>
                    <a:cubicBezTo>
                      <a:pt x="339" y="610"/>
                      <a:pt x="339" y="608"/>
                      <a:pt x="340" y="608"/>
                    </a:cubicBezTo>
                    <a:cubicBezTo>
                      <a:pt x="340" y="607"/>
                      <a:pt x="339" y="607"/>
                      <a:pt x="340" y="607"/>
                    </a:cubicBezTo>
                    <a:cubicBezTo>
                      <a:pt x="341" y="607"/>
                      <a:pt x="341" y="607"/>
                      <a:pt x="342" y="606"/>
                    </a:cubicBezTo>
                    <a:cubicBezTo>
                      <a:pt x="344" y="605"/>
                      <a:pt x="344" y="606"/>
                      <a:pt x="343" y="606"/>
                    </a:cubicBezTo>
                    <a:cubicBezTo>
                      <a:pt x="343" y="606"/>
                      <a:pt x="342" y="607"/>
                      <a:pt x="341" y="608"/>
                    </a:cubicBezTo>
                    <a:cubicBezTo>
                      <a:pt x="341" y="609"/>
                      <a:pt x="341" y="609"/>
                      <a:pt x="340" y="610"/>
                    </a:cubicBezTo>
                    <a:cubicBezTo>
                      <a:pt x="340" y="610"/>
                      <a:pt x="339" y="610"/>
                      <a:pt x="338" y="612"/>
                    </a:cubicBezTo>
                    <a:cubicBezTo>
                      <a:pt x="337" y="615"/>
                      <a:pt x="340" y="616"/>
                      <a:pt x="341" y="617"/>
                    </a:cubicBezTo>
                    <a:cubicBezTo>
                      <a:pt x="341" y="617"/>
                      <a:pt x="346" y="619"/>
                      <a:pt x="347" y="619"/>
                    </a:cubicBezTo>
                    <a:cubicBezTo>
                      <a:pt x="349" y="620"/>
                      <a:pt x="348" y="618"/>
                      <a:pt x="350" y="619"/>
                    </a:cubicBezTo>
                    <a:cubicBezTo>
                      <a:pt x="352" y="620"/>
                      <a:pt x="349" y="620"/>
                      <a:pt x="348" y="621"/>
                    </a:cubicBezTo>
                    <a:cubicBezTo>
                      <a:pt x="348" y="622"/>
                      <a:pt x="350" y="622"/>
                      <a:pt x="351" y="621"/>
                    </a:cubicBezTo>
                    <a:cubicBezTo>
                      <a:pt x="352" y="621"/>
                      <a:pt x="352" y="621"/>
                      <a:pt x="352" y="622"/>
                    </a:cubicBezTo>
                    <a:cubicBezTo>
                      <a:pt x="351" y="623"/>
                      <a:pt x="351" y="623"/>
                      <a:pt x="349" y="623"/>
                    </a:cubicBezTo>
                    <a:cubicBezTo>
                      <a:pt x="347" y="622"/>
                      <a:pt x="347" y="624"/>
                      <a:pt x="348" y="625"/>
                    </a:cubicBezTo>
                    <a:cubicBezTo>
                      <a:pt x="349" y="626"/>
                      <a:pt x="350" y="625"/>
                      <a:pt x="350" y="624"/>
                    </a:cubicBezTo>
                    <a:cubicBezTo>
                      <a:pt x="351" y="624"/>
                      <a:pt x="351" y="624"/>
                      <a:pt x="353" y="625"/>
                    </a:cubicBezTo>
                    <a:cubicBezTo>
                      <a:pt x="354" y="626"/>
                      <a:pt x="354" y="625"/>
                      <a:pt x="355" y="624"/>
                    </a:cubicBezTo>
                    <a:cubicBezTo>
                      <a:pt x="356" y="623"/>
                      <a:pt x="356" y="624"/>
                      <a:pt x="358" y="624"/>
                    </a:cubicBezTo>
                    <a:cubicBezTo>
                      <a:pt x="360" y="624"/>
                      <a:pt x="359" y="624"/>
                      <a:pt x="358" y="625"/>
                    </a:cubicBezTo>
                    <a:cubicBezTo>
                      <a:pt x="357" y="625"/>
                      <a:pt x="355" y="626"/>
                      <a:pt x="354" y="626"/>
                    </a:cubicBezTo>
                    <a:cubicBezTo>
                      <a:pt x="352" y="626"/>
                      <a:pt x="352" y="627"/>
                      <a:pt x="351" y="629"/>
                    </a:cubicBezTo>
                    <a:cubicBezTo>
                      <a:pt x="351" y="630"/>
                      <a:pt x="352" y="629"/>
                      <a:pt x="353" y="628"/>
                    </a:cubicBezTo>
                    <a:cubicBezTo>
                      <a:pt x="354" y="627"/>
                      <a:pt x="355" y="628"/>
                      <a:pt x="354" y="629"/>
                    </a:cubicBezTo>
                    <a:cubicBezTo>
                      <a:pt x="353" y="630"/>
                      <a:pt x="353" y="631"/>
                      <a:pt x="354" y="630"/>
                    </a:cubicBezTo>
                    <a:cubicBezTo>
                      <a:pt x="354" y="630"/>
                      <a:pt x="355" y="629"/>
                      <a:pt x="356" y="627"/>
                    </a:cubicBezTo>
                    <a:cubicBezTo>
                      <a:pt x="358" y="626"/>
                      <a:pt x="358" y="626"/>
                      <a:pt x="360" y="626"/>
                    </a:cubicBezTo>
                    <a:cubicBezTo>
                      <a:pt x="362" y="626"/>
                      <a:pt x="359" y="627"/>
                      <a:pt x="358" y="628"/>
                    </a:cubicBezTo>
                    <a:cubicBezTo>
                      <a:pt x="357" y="629"/>
                      <a:pt x="356" y="629"/>
                      <a:pt x="356" y="630"/>
                    </a:cubicBezTo>
                    <a:cubicBezTo>
                      <a:pt x="355" y="631"/>
                      <a:pt x="356" y="632"/>
                      <a:pt x="357" y="631"/>
                    </a:cubicBezTo>
                    <a:cubicBezTo>
                      <a:pt x="358" y="631"/>
                      <a:pt x="358" y="631"/>
                      <a:pt x="357" y="633"/>
                    </a:cubicBezTo>
                    <a:cubicBezTo>
                      <a:pt x="356" y="635"/>
                      <a:pt x="358" y="634"/>
                      <a:pt x="361" y="634"/>
                    </a:cubicBezTo>
                    <a:cubicBezTo>
                      <a:pt x="364" y="634"/>
                      <a:pt x="359" y="635"/>
                      <a:pt x="356" y="635"/>
                    </a:cubicBezTo>
                    <a:cubicBezTo>
                      <a:pt x="353" y="634"/>
                      <a:pt x="352" y="635"/>
                      <a:pt x="355" y="636"/>
                    </a:cubicBezTo>
                    <a:cubicBezTo>
                      <a:pt x="357" y="637"/>
                      <a:pt x="361" y="637"/>
                      <a:pt x="364" y="636"/>
                    </a:cubicBezTo>
                    <a:cubicBezTo>
                      <a:pt x="367" y="635"/>
                      <a:pt x="365" y="637"/>
                      <a:pt x="362" y="637"/>
                    </a:cubicBezTo>
                    <a:cubicBezTo>
                      <a:pt x="359" y="638"/>
                      <a:pt x="359" y="639"/>
                      <a:pt x="360" y="639"/>
                    </a:cubicBezTo>
                    <a:cubicBezTo>
                      <a:pt x="361" y="638"/>
                      <a:pt x="362" y="639"/>
                      <a:pt x="364" y="639"/>
                    </a:cubicBezTo>
                    <a:cubicBezTo>
                      <a:pt x="365" y="639"/>
                      <a:pt x="367" y="640"/>
                      <a:pt x="366" y="640"/>
                    </a:cubicBezTo>
                    <a:cubicBezTo>
                      <a:pt x="365" y="641"/>
                      <a:pt x="365" y="642"/>
                      <a:pt x="364" y="642"/>
                    </a:cubicBezTo>
                    <a:cubicBezTo>
                      <a:pt x="362" y="643"/>
                      <a:pt x="364" y="643"/>
                      <a:pt x="365" y="643"/>
                    </a:cubicBezTo>
                    <a:cubicBezTo>
                      <a:pt x="365" y="643"/>
                      <a:pt x="367" y="644"/>
                      <a:pt x="366" y="645"/>
                    </a:cubicBezTo>
                    <a:cubicBezTo>
                      <a:pt x="365" y="646"/>
                      <a:pt x="367" y="645"/>
                      <a:pt x="369" y="642"/>
                    </a:cubicBezTo>
                    <a:cubicBezTo>
                      <a:pt x="371" y="640"/>
                      <a:pt x="372" y="641"/>
                      <a:pt x="370" y="642"/>
                    </a:cubicBezTo>
                    <a:cubicBezTo>
                      <a:pt x="369" y="643"/>
                      <a:pt x="370" y="643"/>
                      <a:pt x="369" y="644"/>
                    </a:cubicBezTo>
                    <a:cubicBezTo>
                      <a:pt x="369" y="645"/>
                      <a:pt x="372" y="646"/>
                      <a:pt x="373" y="645"/>
                    </a:cubicBezTo>
                    <a:cubicBezTo>
                      <a:pt x="375" y="644"/>
                      <a:pt x="375" y="645"/>
                      <a:pt x="374" y="646"/>
                    </a:cubicBezTo>
                    <a:cubicBezTo>
                      <a:pt x="373" y="647"/>
                      <a:pt x="374" y="647"/>
                      <a:pt x="372" y="647"/>
                    </a:cubicBezTo>
                    <a:cubicBezTo>
                      <a:pt x="369" y="648"/>
                      <a:pt x="369" y="649"/>
                      <a:pt x="371" y="648"/>
                    </a:cubicBezTo>
                    <a:cubicBezTo>
                      <a:pt x="373" y="648"/>
                      <a:pt x="373" y="649"/>
                      <a:pt x="375" y="648"/>
                    </a:cubicBezTo>
                    <a:cubicBezTo>
                      <a:pt x="377" y="648"/>
                      <a:pt x="376" y="650"/>
                      <a:pt x="372" y="651"/>
                    </a:cubicBezTo>
                    <a:cubicBezTo>
                      <a:pt x="368" y="652"/>
                      <a:pt x="370" y="652"/>
                      <a:pt x="371" y="651"/>
                    </a:cubicBezTo>
                    <a:cubicBezTo>
                      <a:pt x="372" y="651"/>
                      <a:pt x="373" y="651"/>
                      <a:pt x="374" y="651"/>
                    </a:cubicBezTo>
                    <a:cubicBezTo>
                      <a:pt x="375" y="651"/>
                      <a:pt x="377" y="651"/>
                      <a:pt x="378" y="651"/>
                    </a:cubicBezTo>
                    <a:cubicBezTo>
                      <a:pt x="379" y="651"/>
                      <a:pt x="379" y="650"/>
                      <a:pt x="381" y="650"/>
                    </a:cubicBezTo>
                    <a:cubicBezTo>
                      <a:pt x="382" y="649"/>
                      <a:pt x="385" y="650"/>
                      <a:pt x="386" y="649"/>
                    </a:cubicBezTo>
                    <a:cubicBezTo>
                      <a:pt x="386" y="649"/>
                      <a:pt x="387" y="649"/>
                      <a:pt x="387" y="650"/>
                    </a:cubicBezTo>
                    <a:cubicBezTo>
                      <a:pt x="386" y="651"/>
                      <a:pt x="387" y="652"/>
                      <a:pt x="387" y="652"/>
                    </a:cubicBezTo>
                    <a:cubicBezTo>
                      <a:pt x="388" y="652"/>
                      <a:pt x="388" y="651"/>
                      <a:pt x="388" y="652"/>
                    </a:cubicBezTo>
                    <a:cubicBezTo>
                      <a:pt x="388" y="652"/>
                      <a:pt x="387" y="653"/>
                      <a:pt x="389" y="652"/>
                    </a:cubicBezTo>
                    <a:cubicBezTo>
                      <a:pt x="392" y="652"/>
                      <a:pt x="390" y="650"/>
                      <a:pt x="391" y="650"/>
                    </a:cubicBezTo>
                    <a:cubicBezTo>
                      <a:pt x="392" y="650"/>
                      <a:pt x="393" y="650"/>
                      <a:pt x="392" y="649"/>
                    </a:cubicBezTo>
                    <a:cubicBezTo>
                      <a:pt x="392" y="649"/>
                      <a:pt x="392" y="649"/>
                      <a:pt x="393" y="648"/>
                    </a:cubicBezTo>
                    <a:cubicBezTo>
                      <a:pt x="394" y="648"/>
                      <a:pt x="395" y="647"/>
                      <a:pt x="396" y="647"/>
                    </a:cubicBezTo>
                    <a:cubicBezTo>
                      <a:pt x="397" y="646"/>
                      <a:pt x="397" y="646"/>
                      <a:pt x="399" y="646"/>
                    </a:cubicBezTo>
                    <a:cubicBezTo>
                      <a:pt x="401" y="647"/>
                      <a:pt x="403" y="646"/>
                      <a:pt x="403" y="646"/>
                    </a:cubicBezTo>
                    <a:cubicBezTo>
                      <a:pt x="402" y="645"/>
                      <a:pt x="402" y="645"/>
                      <a:pt x="403" y="645"/>
                    </a:cubicBezTo>
                    <a:cubicBezTo>
                      <a:pt x="404" y="645"/>
                      <a:pt x="404" y="644"/>
                      <a:pt x="403" y="643"/>
                    </a:cubicBezTo>
                    <a:cubicBezTo>
                      <a:pt x="401" y="643"/>
                      <a:pt x="400" y="642"/>
                      <a:pt x="402" y="643"/>
                    </a:cubicBezTo>
                    <a:cubicBezTo>
                      <a:pt x="404" y="643"/>
                      <a:pt x="403" y="642"/>
                      <a:pt x="404" y="641"/>
                    </a:cubicBezTo>
                    <a:cubicBezTo>
                      <a:pt x="406" y="640"/>
                      <a:pt x="405" y="641"/>
                      <a:pt x="404" y="642"/>
                    </a:cubicBezTo>
                    <a:cubicBezTo>
                      <a:pt x="403" y="643"/>
                      <a:pt x="405" y="644"/>
                      <a:pt x="406" y="644"/>
                    </a:cubicBezTo>
                    <a:cubicBezTo>
                      <a:pt x="408" y="645"/>
                      <a:pt x="407" y="645"/>
                      <a:pt x="406" y="645"/>
                    </a:cubicBezTo>
                    <a:cubicBezTo>
                      <a:pt x="406" y="646"/>
                      <a:pt x="405" y="646"/>
                      <a:pt x="405" y="646"/>
                    </a:cubicBezTo>
                    <a:cubicBezTo>
                      <a:pt x="405" y="647"/>
                      <a:pt x="405" y="647"/>
                      <a:pt x="404" y="647"/>
                    </a:cubicBezTo>
                    <a:cubicBezTo>
                      <a:pt x="404" y="647"/>
                      <a:pt x="403" y="648"/>
                      <a:pt x="402" y="648"/>
                    </a:cubicBezTo>
                    <a:cubicBezTo>
                      <a:pt x="400" y="649"/>
                      <a:pt x="402" y="649"/>
                      <a:pt x="402" y="649"/>
                    </a:cubicBezTo>
                    <a:cubicBezTo>
                      <a:pt x="408" y="649"/>
                      <a:pt x="409" y="646"/>
                      <a:pt x="409" y="644"/>
                    </a:cubicBezTo>
                    <a:cubicBezTo>
                      <a:pt x="409" y="642"/>
                      <a:pt x="410" y="643"/>
                      <a:pt x="410" y="644"/>
                    </a:cubicBezTo>
                    <a:cubicBezTo>
                      <a:pt x="411" y="644"/>
                      <a:pt x="411" y="647"/>
                      <a:pt x="413" y="645"/>
                    </a:cubicBezTo>
                    <a:cubicBezTo>
                      <a:pt x="414" y="643"/>
                      <a:pt x="413" y="645"/>
                      <a:pt x="412" y="646"/>
                    </a:cubicBezTo>
                    <a:cubicBezTo>
                      <a:pt x="412" y="646"/>
                      <a:pt x="409" y="649"/>
                      <a:pt x="408" y="649"/>
                    </a:cubicBezTo>
                    <a:cubicBezTo>
                      <a:pt x="408" y="650"/>
                      <a:pt x="404" y="650"/>
                      <a:pt x="403" y="651"/>
                    </a:cubicBezTo>
                    <a:cubicBezTo>
                      <a:pt x="401" y="651"/>
                      <a:pt x="401" y="651"/>
                      <a:pt x="402" y="651"/>
                    </a:cubicBezTo>
                    <a:cubicBezTo>
                      <a:pt x="404" y="651"/>
                      <a:pt x="402" y="652"/>
                      <a:pt x="400" y="653"/>
                    </a:cubicBezTo>
                    <a:cubicBezTo>
                      <a:pt x="398" y="654"/>
                      <a:pt x="400" y="654"/>
                      <a:pt x="401" y="654"/>
                    </a:cubicBezTo>
                    <a:cubicBezTo>
                      <a:pt x="402" y="654"/>
                      <a:pt x="402" y="653"/>
                      <a:pt x="402" y="653"/>
                    </a:cubicBezTo>
                    <a:cubicBezTo>
                      <a:pt x="402" y="652"/>
                      <a:pt x="402" y="652"/>
                      <a:pt x="403" y="652"/>
                    </a:cubicBezTo>
                    <a:cubicBezTo>
                      <a:pt x="405" y="652"/>
                      <a:pt x="406" y="652"/>
                      <a:pt x="404" y="653"/>
                    </a:cubicBezTo>
                    <a:cubicBezTo>
                      <a:pt x="403" y="654"/>
                      <a:pt x="404" y="654"/>
                      <a:pt x="406" y="653"/>
                    </a:cubicBezTo>
                    <a:cubicBezTo>
                      <a:pt x="408" y="653"/>
                      <a:pt x="410" y="651"/>
                      <a:pt x="411" y="649"/>
                    </a:cubicBezTo>
                    <a:cubicBezTo>
                      <a:pt x="411" y="647"/>
                      <a:pt x="411" y="649"/>
                      <a:pt x="411" y="650"/>
                    </a:cubicBezTo>
                    <a:cubicBezTo>
                      <a:pt x="411" y="652"/>
                      <a:pt x="408" y="653"/>
                      <a:pt x="406" y="654"/>
                    </a:cubicBezTo>
                    <a:cubicBezTo>
                      <a:pt x="404" y="655"/>
                      <a:pt x="405" y="655"/>
                      <a:pt x="406" y="655"/>
                    </a:cubicBezTo>
                    <a:cubicBezTo>
                      <a:pt x="408" y="655"/>
                      <a:pt x="407" y="656"/>
                      <a:pt x="404" y="657"/>
                    </a:cubicBezTo>
                    <a:cubicBezTo>
                      <a:pt x="401" y="658"/>
                      <a:pt x="403" y="658"/>
                      <a:pt x="405" y="657"/>
                    </a:cubicBezTo>
                    <a:cubicBezTo>
                      <a:pt x="407" y="656"/>
                      <a:pt x="407" y="657"/>
                      <a:pt x="406" y="657"/>
                    </a:cubicBezTo>
                    <a:cubicBezTo>
                      <a:pt x="405" y="658"/>
                      <a:pt x="408" y="658"/>
                      <a:pt x="408" y="658"/>
                    </a:cubicBezTo>
                    <a:cubicBezTo>
                      <a:pt x="409" y="658"/>
                      <a:pt x="410" y="658"/>
                      <a:pt x="410" y="657"/>
                    </a:cubicBezTo>
                    <a:cubicBezTo>
                      <a:pt x="410" y="657"/>
                      <a:pt x="411" y="657"/>
                      <a:pt x="411" y="656"/>
                    </a:cubicBezTo>
                    <a:cubicBezTo>
                      <a:pt x="412" y="655"/>
                      <a:pt x="411" y="655"/>
                      <a:pt x="413" y="655"/>
                    </a:cubicBezTo>
                    <a:cubicBezTo>
                      <a:pt x="415" y="656"/>
                      <a:pt x="414" y="656"/>
                      <a:pt x="412" y="656"/>
                    </a:cubicBezTo>
                    <a:cubicBezTo>
                      <a:pt x="411" y="657"/>
                      <a:pt x="411" y="657"/>
                      <a:pt x="410" y="658"/>
                    </a:cubicBezTo>
                    <a:cubicBezTo>
                      <a:pt x="410" y="660"/>
                      <a:pt x="410" y="660"/>
                      <a:pt x="410" y="659"/>
                    </a:cubicBezTo>
                    <a:cubicBezTo>
                      <a:pt x="411" y="659"/>
                      <a:pt x="413" y="658"/>
                      <a:pt x="413" y="658"/>
                    </a:cubicBezTo>
                    <a:cubicBezTo>
                      <a:pt x="413" y="657"/>
                      <a:pt x="413" y="657"/>
                      <a:pt x="413" y="657"/>
                    </a:cubicBezTo>
                    <a:cubicBezTo>
                      <a:pt x="413" y="658"/>
                      <a:pt x="414" y="657"/>
                      <a:pt x="414" y="657"/>
                    </a:cubicBezTo>
                    <a:cubicBezTo>
                      <a:pt x="413" y="656"/>
                      <a:pt x="414" y="657"/>
                      <a:pt x="415" y="656"/>
                    </a:cubicBezTo>
                    <a:cubicBezTo>
                      <a:pt x="416" y="656"/>
                      <a:pt x="415" y="657"/>
                      <a:pt x="414" y="659"/>
                    </a:cubicBezTo>
                    <a:cubicBezTo>
                      <a:pt x="413" y="660"/>
                      <a:pt x="412" y="661"/>
                      <a:pt x="414" y="660"/>
                    </a:cubicBezTo>
                    <a:cubicBezTo>
                      <a:pt x="416" y="660"/>
                      <a:pt x="418" y="659"/>
                      <a:pt x="418" y="658"/>
                    </a:cubicBezTo>
                    <a:cubicBezTo>
                      <a:pt x="419" y="656"/>
                      <a:pt x="419" y="655"/>
                      <a:pt x="421" y="655"/>
                    </a:cubicBezTo>
                    <a:cubicBezTo>
                      <a:pt x="422" y="654"/>
                      <a:pt x="422" y="655"/>
                      <a:pt x="421" y="655"/>
                    </a:cubicBezTo>
                    <a:cubicBezTo>
                      <a:pt x="421" y="656"/>
                      <a:pt x="420" y="658"/>
                      <a:pt x="419" y="659"/>
                    </a:cubicBezTo>
                    <a:cubicBezTo>
                      <a:pt x="418" y="660"/>
                      <a:pt x="418" y="660"/>
                      <a:pt x="419" y="661"/>
                    </a:cubicBezTo>
                    <a:cubicBezTo>
                      <a:pt x="419" y="661"/>
                      <a:pt x="417" y="663"/>
                      <a:pt x="415" y="665"/>
                    </a:cubicBezTo>
                    <a:cubicBezTo>
                      <a:pt x="413" y="667"/>
                      <a:pt x="416" y="667"/>
                      <a:pt x="417" y="666"/>
                    </a:cubicBezTo>
                    <a:cubicBezTo>
                      <a:pt x="418" y="665"/>
                      <a:pt x="421" y="663"/>
                      <a:pt x="423" y="660"/>
                    </a:cubicBezTo>
                    <a:cubicBezTo>
                      <a:pt x="425" y="657"/>
                      <a:pt x="424" y="660"/>
                      <a:pt x="424" y="660"/>
                    </a:cubicBezTo>
                    <a:cubicBezTo>
                      <a:pt x="421" y="663"/>
                      <a:pt x="418" y="667"/>
                      <a:pt x="416" y="667"/>
                    </a:cubicBezTo>
                    <a:cubicBezTo>
                      <a:pt x="414" y="668"/>
                      <a:pt x="415" y="669"/>
                      <a:pt x="416" y="669"/>
                    </a:cubicBezTo>
                    <a:cubicBezTo>
                      <a:pt x="417" y="670"/>
                      <a:pt x="417" y="669"/>
                      <a:pt x="418" y="668"/>
                    </a:cubicBezTo>
                    <a:cubicBezTo>
                      <a:pt x="418" y="667"/>
                      <a:pt x="419" y="669"/>
                      <a:pt x="419" y="670"/>
                    </a:cubicBezTo>
                    <a:cubicBezTo>
                      <a:pt x="420" y="671"/>
                      <a:pt x="420" y="671"/>
                      <a:pt x="422" y="670"/>
                    </a:cubicBezTo>
                    <a:cubicBezTo>
                      <a:pt x="423" y="670"/>
                      <a:pt x="423" y="670"/>
                      <a:pt x="424" y="669"/>
                    </a:cubicBezTo>
                    <a:cubicBezTo>
                      <a:pt x="424" y="668"/>
                      <a:pt x="425" y="668"/>
                      <a:pt x="426" y="667"/>
                    </a:cubicBezTo>
                    <a:cubicBezTo>
                      <a:pt x="428" y="667"/>
                      <a:pt x="427" y="665"/>
                      <a:pt x="428" y="665"/>
                    </a:cubicBezTo>
                    <a:cubicBezTo>
                      <a:pt x="429" y="665"/>
                      <a:pt x="428" y="665"/>
                      <a:pt x="428" y="664"/>
                    </a:cubicBezTo>
                    <a:cubicBezTo>
                      <a:pt x="428" y="663"/>
                      <a:pt x="429" y="663"/>
                      <a:pt x="429" y="663"/>
                    </a:cubicBezTo>
                    <a:cubicBezTo>
                      <a:pt x="430" y="663"/>
                      <a:pt x="430" y="661"/>
                      <a:pt x="430" y="663"/>
                    </a:cubicBezTo>
                    <a:cubicBezTo>
                      <a:pt x="430" y="664"/>
                      <a:pt x="430" y="665"/>
                      <a:pt x="429" y="666"/>
                    </a:cubicBezTo>
                    <a:cubicBezTo>
                      <a:pt x="429" y="667"/>
                      <a:pt x="429" y="667"/>
                      <a:pt x="430" y="667"/>
                    </a:cubicBezTo>
                    <a:cubicBezTo>
                      <a:pt x="432" y="667"/>
                      <a:pt x="444" y="668"/>
                      <a:pt x="445" y="668"/>
                    </a:cubicBezTo>
                    <a:cubicBezTo>
                      <a:pt x="446" y="669"/>
                      <a:pt x="445" y="668"/>
                      <a:pt x="444" y="667"/>
                    </a:cubicBezTo>
                    <a:cubicBezTo>
                      <a:pt x="444" y="666"/>
                      <a:pt x="444" y="666"/>
                      <a:pt x="445" y="665"/>
                    </a:cubicBezTo>
                    <a:cubicBezTo>
                      <a:pt x="445" y="665"/>
                      <a:pt x="444" y="664"/>
                      <a:pt x="444" y="663"/>
                    </a:cubicBezTo>
                    <a:cubicBezTo>
                      <a:pt x="444" y="662"/>
                      <a:pt x="444" y="662"/>
                      <a:pt x="443" y="662"/>
                    </a:cubicBezTo>
                    <a:cubicBezTo>
                      <a:pt x="442" y="663"/>
                      <a:pt x="441" y="663"/>
                      <a:pt x="439" y="663"/>
                    </a:cubicBezTo>
                    <a:cubicBezTo>
                      <a:pt x="438" y="664"/>
                      <a:pt x="439" y="663"/>
                      <a:pt x="439" y="663"/>
                    </a:cubicBezTo>
                    <a:cubicBezTo>
                      <a:pt x="439" y="662"/>
                      <a:pt x="440" y="662"/>
                      <a:pt x="441" y="661"/>
                    </a:cubicBezTo>
                    <a:cubicBezTo>
                      <a:pt x="443" y="661"/>
                      <a:pt x="434" y="659"/>
                      <a:pt x="430" y="658"/>
                    </a:cubicBezTo>
                    <a:cubicBezTo>
                      <a:pt x="426" y="657"/>
                      <a:pt x="435" y="658"/>
                      <a:pt x="436" y="658"/>
                    </a:cubicBezTo>
                    <a:cubicBezTo>
                      <a:pt x="438" y="659"/>
                      <a:pt x="436" y="658"/>
                      <a:pt x="436" y="656"/>
                    </a:cubicBezTo>
                    <a:cubicBezTo>
                      <a:pt x="436" y="654"/>
                      <a:pt x="436" y="656"/>
                      <a:pt x="437" y="658"/>
                    </a:cubicBezTo>
                    <a:cubicBezTo>
                      <a:pt x="439" y="660"/>
                      <a:pt x="442" y="660"/>
                      <a:pt x="443" y="660"/>
                    </a:cubicBezTo>
                    <a:cubicBezTo>
                      <a:pt x="444" y="661"/>
                      <a:pt x="444" y="660"/>
                      <a:pt x="442" y="659"/>
                    </a:cubicBezTo>
                    <a:cubicBezTo>
                      <a:pt x="441" y="658"/>
                      <a:pt x="443" y="658"/>
                      <a:pt x="444" y="659"/>
                    </a:cubicBezTo>
                    <a:cubicBezTo>
                      <a:pt x="445" y="659"/>
                      <a:pt x="446" y="659"/>
                      <a:pt x="447" y="659"/>
                    </a:cubicBezTo>
                    <a:cubicBezTo>
                      <a:pt x="448" y="658"/>
                      <a:pt x="448" y="658"/>
                      <a:pt x="446" y="658"/>
                    </a:cubicBezTo>
                    <a:cubicBezTo>
                      <a:pt x="444" y="657"/>
                      <a:pt x="445" y="657"/>
                      <a:pt x="447" y="657"/>
                    </a:cubicBezTo>
                    <a:cubicBezTo>
                      <a:pt x="449" y="658"/>
                      <a:pt x="448" y="657"/>
                      <a:pt x="447" y="657"/>
                    </a:cubicBezTo>
                    <a:cubicBezTo>
                      <a:pt x="447" y="657"/>
                      <a:pt x="445" y="657"/>
                      <a:pt x="443" y="656"/>
                    </a:cubicBezTo>
                    <a:cubicBezTo>
                      <a:pt x="441" y="655"/>
                      <a:pt x="443" y="656"/>
                      <a:pt x="444" y="656"/>
                    </a:cubicBezTo>
                    <a:cubicBezTo>
                      <a:pt x="444" y="656"/>
                      <a:pt x="446" y="656"/>
                      <a:pt x="447" y="656"/>
                    </a:cubicBezTo>
                    <a:cubicBezTo>
                      <a:pt x="448" y="656"/>
                      <a:pt x="451" y="655"/>
                      <a:pt x="449" y="654"/>
                    </a:cubicBezTo>
                    <a:cubicBezTo>
                      <a:pt x="447" y="653"/>
                      <a:pt x="445" y="653"/>
                      <a:pt x="444" y="653"/>
                    </a:cubicBezTo>
                    <a:cubicBezTo>
                      <a:pt x="442" y="653"/>
                      <a:pt x="442" y="653"/>
                      <a:pt x="441" y="653"/>
                    </a:cubicBezTo>
                    <a:cubicBezTo>
                      <a:pt x="440" y="652"/>
                      <a:pt x="438" y="652"/>
                      <a:pt x="439" y="652"/>
                    </a:cubicBezTo>
                    <a:cubicBezTo>
                      <a:pt x="441" y="652"/>
                      <a:pt x="443" y="652"/>
                      <a:pt x="444" y="653"/>
                    </a:cubicBezTo>
                    <a:cubicBezTo>
                      <a:pt x="445" y="653"/>
                      <a:pt x="450" y="653"/>
                      <a:pt x="449" y="653"/>
                    </a:cubicBezTo>
                    <a:cubicBezTo>
                      <a:pt x="448" y="652"/>
                      <a:pt x="446" y="652"/>
                      <a:pt x="446" y="652"/>
                    </a:cubicBezTo>
                    <a:cubicBezTo>
                      <a:pt x="445" y="652"/>
                      <a:pt x="445" y="652"/>
                      <a:pt x="444" y="651"/>
                    </a:cubicBezTo>
                    <a:cubicBezTo>
                      <a:pt x="444" y="651"/>
                      <a:pt x="443" y="651"/>
                      <a:pt x="441" y="651"/>
                    </a:cubicBezTo>
                    <a:cubicBezTo>
                      <a:pt x="438" y="650"/>
                      <a:pt x="439" y="649"/>
                      <a:pt x="441" y="650"/>
                    </a:cubicBezTo>
                    <a:cubicBezTo>
                      <a:pt x="444" y="651"/>
                      <a:pt x="447" y="651"/>
                      <a:pt x="447" y="651"/>
                    </a:cubicBezTo>
                    <a:cubicBezTo>
                      <a:pt x="447" y="651"/>
                      <a:pt x="449" y="650"/>
                      <a:pt x="449" y="650"/>
                    </a:cubicBezTo>
                    <a:cubicBezTo>
                      <a:pt x="450" y="650"/>
                      <a:pt x="450" y="650"/>
                      <a:pt x="450" y="649"/>
                    </a:cubicBezTo>
                    <a:cubicBezTo>
                      <a:pt x="449" y="648"/>
                      <a:pt x="450" y="648"/>
                      <a:pt x="451" y="648"/>
                    </a:cubicBezTo>
                    <a:cubicBezTo>
                      <a:pt x="452" y="649"/>
                      <a:pt x="451" y="649"/>
                      <a:pt x="450" y="648"/>
                    </a:cubicBezTo>
                    <a:cubicBezTo>
                      <a:pt x="449" y="647"/>
                      <a:pt x="448" y="647"/>
                      <a:pt x="447" y="647"/>
                    </a:cubicBezTo>
                    <a:cubicBezTo>
                      <a:pt x="446" y="647"/>
                      <a:pt x="447" y="647"/>
                      <a:pt x="446" y="646"/>
                    </a:cubicBezTo>
                    <a:cubicBezTo>
                      <a:pt x="446" y="646"/>
                      <a:pt x="444" y="646"/>
                      <a:pt x="441" y="646"/>
                    </a:cubicBezTo>
                    <a:cubicBezTo>
                      <a:pt x="437" y="646"/>
                      <a:pt x="439" y="646"/>
                      <a:pt x="439" y="645"/>
                    </a:cubicBezTo>
                    <a:cubicBezTo>
                      <a:pt x="440" y="645"/>
                      <a:pt x="449" y="646"/>
                      <a:pt x="450" y="646"/>
                    </a:cubicBezTo>
                    <a:cubicBezTo>
                      <a:pt x="451" y="646"/>
                      <a:pt x="451" y="646"/>
                      <a:pt x="451" y="645"/>
                    </a:cubicBezTo>
                    <a:cubicBezTo>
                      <a:pt x="450" y="645"/>
                      <a:pt x="446" y="644"/>
                      <a:pt x="445" y="644"/>
                    </a:cubicBezTo>
                    <a:cubicBezTo>
                      <a:pt x="443" y="643"/>
                      <a:pt x="450" y="644"/>
                      <a:pt x="452" y="644"/>
                    </a:cubicBezTo>
                    <a:cubicBezTo>
                      <a:pt x="453" y="644"/>
                      <a:pt x="452" y="643"/>
                      <a:pt x="450" y="643"/>
                    </a:cubicBezTo>
                    <a:cubicBezTo>
                      <a:pt x="448" y="643"/>
                      <a:pt x="448" y="643"/>
                      <a:pt x="448" y="642"/>
                    </a:cubicBezTo>
                    <a:cubicBezTo>
                      <a:pt x="448" y="641"/>
                      <a:pt x="447" y="641"/>
                      <a:pt x="445" y="641"/>
                    </a:cubicBezTo>
                    <a:cubicBezTo>
                      <a:pt x="443" y="641"/>
                      <a:pt x="442" y="641"/>
                      <a:pt x="444" y="641"/>
                    </a:cubicBezTo>
                    <a:cubicBezTo>
                      <a:pt x="446" y="640"/>
                      <a:pt x="448" y="641"/>
                      <a:pt x="450" y="641"/>
                    </a:cubicBezTo>
                    <a:cubicBezTo>
                      <a:pt x="452" y="642"/>
                      <a:pt x="453" y="641"/>
                      <a:pt x="454" y="640"/>
                    </a:cubicBezTo>
                    <a:cubicBezTo>
                      <a:pt x="454" y="640"/>
                      <a:pt x="455" y="639"/>
                      <a:pt x="454" y="639"/>
                    </a:cubicBezTo>
                    <a:cubicBezTo>
                      <a:pt x="453" y="639"/>
                      <a:pt x="454" y="639"/>
                      <a:pt x="453" y="637"/>
                    </a:cubicBezTo>
                    <a:cubicBezTo>
                      <a:pt x="452" y="635"/>
                      <a:pt x="449" y="638"/>
                      <a:pt x="447" y="636"/>
                    </a:cubicBezTo>
                    <a:cubicBezTo>
                      <a:pt x="445" y="635"/>
                      <a:pt x="446" y="635"/>
                      <a:pt x="447" y="635"/>
                    </a:cubicBezTo>
                    <a:cubicBezTo>
                      <a:pt x="447" y="635"/>
                      <a:pt x="449" y="636"/>
                      <a:pt x="452" y="636"/>
                    </a:cubicBezTo>
                    <a:cubicBezTo>
                      <a:pt x="455" y="636"/>
                      <a:pt x="456" y="635"/>
                      <a:pt x="456" y="634"/>
                    </a:cubicBezTo>
                    <a:cubicBezTo>
                      <a:pt x="456" y="633"/>
                      <a:pt x="455" y="632"/>
                      <a:pt x="453" y="633"/>
                    </a:cubicBezTo>
                    <a:cubicBezTo>
                      <a:pt x="452" y="633"/>
                      <a:pt x="452" y="632"/>
                      <a:pt x="451" y="632"/>
                    </a:cubicBezTo>
                    <a:cubicBezTo>
                      <a:pt x="451" y="631"/>
                      <a:pt x="450" y="631"/>
                      <a:pt x="449" y="631"/>
                    </a:cubicBezTo>
                    <a:cubicBezTo>
                      <a:pt x="448" y="631"/>
                      <a:pt x="450" y="630"/>
                      <a:pt x="452" y="631"/>
                    </a:cubicBezTo>
                    <a:cubicBezTo>
                      <a:pt x="453" y="631"/>
                      <a:pt x="454" y="632"/>
                      <a:pt x="456" y="631"/>
                    </a:cubicBezTo>
                    <a:cubicBezTo>
                      <a:pt x="458" y="630"/>
                      <a:pt x="457" y="629"/>
                      <a:pt x="456" y="628"/>
                    </a:cubicBezTo>
                    <a:cubicBezTo>
                      <a:pt x="454" y="628"/>
                      <a:pt x="455" y="628"/>
                      <a:pt x="456" y="628"/>
                    </a:cubicBezTo>
                    <a:cubicBezTo>
                      <a:pt x="456" y="628"/>
                      <a:pt x="457" y="628"/>
                      <a:pt x="458" y="627"/>
                    </a:cubicBezTo>
                    <a:cubicBezTo>
                      <a:pt x="459" y="627"/>
                      <a:pt x="458" y="626"/>
                      <a:pt x="457" y="625"/>
                    </a:cubicBezTo>
                    <a:cubicBezTo>
                      <a:pt x="455" y="625"/>
                      <a:pt x="455" y="626"/>
                      <a:pt x="454" y="627"/>
                    </a:cubicBezTo>
                    <a:cubicBezTo>
                      <a:pt x="453" y="628"/>
                      <a:pt x="453" y="626"/>
                      <a:pt x="454" y="626"/>
                    </a:cubicBezTo>
                    <a:cubicBezTo>
                      <a:pt x="454" y="625"/>
                      <a:pt x="453" y="625"/>
                      <a:pt x="453" y="625"/>
                    </a:cubicBezTo>
                    <a:cubicBezTo>
                      <a:pt x="454" y="624"/>
                      <a:pt x="456" y="622"/>
                      <a:pt x="456" y="621"/>
                    </a:cubicBezTo>
                    <a:cubicBezTo>
                      <a:pt x="457" y="620"/>
                      <a:pt x="457" y="621"/>
                      <a:pt x="456" y="619"/>
                    </a:cubicBezTo>
                    <a:cubicBezTo>
                      <a:pt x="456" y="618"/>
                      <a:pt x="455" y="618"/>
                      <a:pt x="454" y="618"/>
                    </a:cubicBezTo>
                    <a:cubicBezTo>
                      <a:pt x="453" y="618"/>
                      <a:pt x="452" y="618"/>
                      <a:pt x="451" y="617"/>
                    </a:cubicBezTo>
                    <a:cubicBezTo>
                      <a:pt x="451" y="615"/>
                      <a:pt x="449" y="616"/>
                      <a:pt x="447" y="615"/>
                    </a:cubicBezTo>
                    <a:cubicBezTo>
                      <a:pt x="445" y="613"/>
                      <a:pt x="450" y="614"/>
                      <a:pt x="451" y="615"/>
                    </a:cubicBezTo>
                    <a:cubicBezTo>
                      <a:pt x="452" y="615"/>
                      <a:pt x="456" y="617"/>
                      <a:pt x="458" y="617"/>
                    </a:cubicBezTo>
                    <a:cubicBezTo>
                      <a:pt x="460" y="617"/>
                      <a:pt x="456" y="616"/>
                      <a:pt x="455" y="616"/>
                    </a:cubicBezTo>
                    <a:cubicBezTo>
                      <a:pt x="455" y="616"/>
                      <a:pt x="453" y="615"/>
                      <a:pt x="453" y="614"/>
                    </a:cubicBezTo>
                    <a:cubicBezTo>
                      <a:pt x="453" y="613"/>
                      <a:pt x="454" y="614"/>
                      <a:pt x="455" y="615"/>
                    </a:cubicBezTo>
                    <a:cubicBezTo>
                      <a:pt x="456" y="615"/>
                      <a:pt x="457" y="615"/>
                      <a:pt x="456" y="613"/>
                    </a:cubicBezTo>
                    <a:cubicBezTo>
                      <a:pt x="455" y="612"/>
                      <a:pt x="453" y="612"/>
                      <a:pt x="452" y="612"/>
                    </a:cubicBezTo>
                    <a:cubicBezTo>
                      <a:pt x="452" y="612"/>
                      <a:pt x="451" y="612"/>
                      <a:pt x="450" y="611"/>
                    </a:cubicBezTo>
                    <a:cubicBezTo>
                      <a:pt x="449" y="611"/>
                      <a:pt x="447" y="610"/>
                      <a:pt x="446" y="610"/>
                    </a:cubicBezTo>
                    <a:cubicBezTo>
                      <a:pt x="446" y="610"/>
                      <a:pt x="445" y="610"/>
                      <a:pt x="444" y="609"/>
                    </a:cubicBezTo>
                    <a:cubicBezTo>
                      <a:pt x="444" y="608"/>
                      <a:pt x="445" y="609"/>
                      <a:pt x="445" y="609"/>
                    </a:cubicBezTo>
                    <a:cubicBezTo>
                      <a:pt x="449" y="610"/>
                      <a:pt x="451" y="609"/>
                      <a:pt x="452" y="610"/>
                    </a:cubicBezTo>
                    <a:cubicBezTo>
                      <a:pt x="452" y="610"/>
                      <a:pt x="452" y="610"/>
                      <a:pt x="453" y="609"/>
                    </a:cubicBezTo>
                    <a:cubicBezTo>
                      <a:pt x="454" y="609"/>
                      <a:pt x="453" y="609"/>
                      <a:pt x="453" y="608"/>
                    </a:cubicBezTo>
                    <a:cubicBezTo>
                      <a:pt x="453" y="608"/>
                      <a:pt x="453" y="607"/>
                      <a:pt x="452" y="606"/>
                    </a:cubicBezTo>
                    <a:cubicBezTo>
                      <a:pt x="452" y="605"/>
                      <a:pt x="454" y="605"/>
                      <a:pt x="455" y="604"/>
                    </a:cubicBezTo>
                    <a:cubicBezTo>
                      <a:pt x="456" y="604"/>
                      <a:pt x="457" y="604"/>
                      <a:pt x="457" y="605"/>
                    </a:cubicBezTo>
                    <a:cubicBezTo>
                      <a:pt x="456" y="605"/>
                      <a:pt x="458" y="605"/>
                      <a:pt x="457" y="606"/>
                    </a:cubicBezTo>
                    <a:cubicBezTo>
                      <a:pt x="456" y="606"/>
                      <a:pt x="456" y="607"/>
                      <a:pt x="457" y="607"/>
                    </a:cubicBezTo>
                    <a:cubicBezTo>
                      <a:pt x="458" y="607"/>
                      <a:pt x="460" y="607"/>
                      <a:pt x="461" y="607"/>
                    </a:cubicBezTo>
                    <a:cubicBezTo>
                      <a:pt x="461" y="607"/>
                      <a:pt x="462" y="606"/>
                      <a:pt x="463" y="606"/>
                    </a:cubicBezTo>
                    <a:cubicBezTo>
                      <a:pt x="465" y="607"/>
                      <a:pt x="466" y="605"/>
                      <a:pt x="466" y="603"/>
                    </a:cubicBezTo>
                    <a:cubicBezTo>
                      <a:pt x="466" y="602"/>
                      <a:pt x="463" y="602"/>
                      <a:pt x="462" y="602"/>
                    </a:cubicBezTo>
                    <a:cubicBezTo>
                      <a:pt x="462" y="602"/>
                      <a:pt x="460" y="601"/>
                      <a:pt x="460" y="601"/>
                    </a:cubicBezTo>
                    <a:cubicBezTo>
                      <a:pt x="459" y="601"/>
                      <a:pt x="459" y="600"/>
                      <a:pt x="459" y="600"/>
                    </a:cubicBezTo>
                    <a:cubicBezTo>
                      <a:pt x="459" y="599"/>
                      <a:pt x="459" y="599"/>
                      <a:pt x="459" y="598"/>
                    </a:cubicBezTo>
                    <a:cubicBezTo>
                      <a:pt x="459" y="598"/>
                      <a:pt x="460" y="599"/>
                      <a:pt x="460" y="599"/>
                    </a:cubicBezTo>
                    <a:cubicBezTo>
                      <a:pt x="461" y="600"/>
                      <a:pt x="461" y="600"/>
                      <a:pt x="462" y="600"/>
                    </a:cubicBezTo>
                    <a:cubicBezTo>
                      <a:pt x="462" y="601"/>
                      <a:pt x="463" y="600"/>
                      <a:pt x="463" y="601"/>
                    </a:cubicBezTo>
                    <a:cubicBezTo>
                      <a:pt x="464" y="601"/>
                      <a:pt x="465" y="602"/>
                      <a:pt x="466" y="602"/>
                    </a:cubicBezTo>
                    <a:cubicBezTo>
                      <a:pt x="467" y="602"/>
                      <a:pt x="468" y="601"/>
                      <a:pt x="467" y="601"/>
                    </a:cubicBezTo>
                    <a:cubicBezTo>
                      <a:pt x="467" y="600"/>
                      <a:pt x="465" y="599"/>
                      <a:pt x="463" y="598"/>
                    </a:cubicBezTo>
                    <a:cubicBezTo>
                      <a:pt x="460" y="597"/>
                      <a:pt x="462" y="597"/>
                      <a:pt x="462" y="597"/>
                    </a:cubicBezTo>
                    <a:cubicBezTo>
                      <a:pt x="463" y="597"/>
                      <a:pt x="467" y="599"/>
                      <a:pt x="468" y="600"/>
                    </a:cubicBezTo>
                    <a:cubicBezTo>
                      <a:pt x="469" y="601"/>
                      <a:pt x="470" y="599"/>
                      <a:pt x="469" y="598"/>
                    </a:cubicBezTo>
                    <a:cubicBezTo>
                      <a:pt x="469" y="598"/>
                      <a:pt x="467" y="596"/>
                      <a:pt x="466" y="595"/>
                    </a:cubicBezTo>
                    <a:cubicBezTo>
                      <a:pt x="465" y="595"/>
                      <a:pt x="464" y="595"/>
                      <a:pt x="465" y="594"/>
                    </a:cubicBezTo>
                    <a:cubicBezTo>
                      <a:pt x="465" y="593"/>
                      <a:pt x="464" y="594"/>
                      <a:pt x="463" y="592"/>
                    </a:cubicBezTo>
                    <a:cubicBezTo>
                      <a:pt x="462" y="591"/>
                      <a:pt x="464" y="592"/>
                      <a:pt x="465" y="592"/>
                    </a:cubicBezTo>
                    <a:cubicBezTo>
                      <a:pt x="465" y="593"/>
                      <a:pt x="469" y="595"/>
                      <a:pt x="471" y="596"/>
                    </a:cubicBezTo>
                    <a:cubicBezTo>
                      <a:pt x="473" y="597"/>
                      <a:pt x="475" y="599"/>
                      <a:pt x="474" y="596"/>
                    </a:cubicBezTo>
                    <a:cubicBezTo>
                      <a:pt x="473" y="594"/>
                      <a:pt x="471" y="594"/>
                      <a:pt x="471" y="594"/>
                    </a:cubicBezTo>
                    <a:cubicBezTo>
                      <a:pt x="470" y="595"/>
                      <a:pt x="470" y="595"/>
                      <a:pt x="470" y="594"/>
                    </a:cubicBezTo>
                    <a:cubicBezTo>
                      <a:pt x="469" y="593"/>
                      <a:pt x="468" y="592"/>
                      <a:pt x="468" y="592"/>
                    </a:cubicBezTo>
                    <a:cubicBezTo>
                      <a:pt x="467" y="592"/>
                      <a:pt x="466" y="591"/>
                      <a:pt x="464" y="591"/>
                    </a:cubicBezTo>
                    <a:cubicBezTo>
                      <a:pt x="462" y="591"/>
                      <a:pt x="465" y="591"/>
                      <a:pt x="467" y="591"/>
                    </a:cubicBezTo>
                    <a:cubicBezTo>
                      <a:pt x="469" y="592"/>
                      <a:pt x="471" y="594"/>
                      <a:pt x="472" y="594"/>
                    </a:cubicBezTo>
                    <a:cubicBezTo>
                      <a:pt x="473" y="595"/>
                      <a:pt x="474" y="595"/>
                      <a:pt x="473" y="594"/>
                    </a:cubicBezTo>
                    <a:cubicBezTo>
                      <a:pt x="473" y="594"/>
                      <a:pt x="470" y="593"/>
                      <a:pt x="468" y="592"/>
                    </a:cubicBezTo>
                    <a:cubicBezTo>
                      <a:pt x="467" y="591"/>
                      <a:pt x="471" y="592"/>
                      <a:pt x="472" y="593"/>
                    </a:cubicBezTo>
                    <a:cubicBezTo>
                      <a:pt x="473" y="593"/>
                      <a:pt x="472" y="592"/>
                      <a:pt x="471" y="590"/>
                    </a:cubicBezTo>
                    <a:cubicBezTo>
                      <a:pt x="469" y="589"/>
                      <a:pt x="472" y="592"/>
                      <a:pt x="473" y="592"/>
                    </a:cubicBezTo>
                    <a:cubicBezTo>
                      <a:pt x="473" y="592"/>
                      <a:pt x="474" y="593"/>
                      <a:pt x="475" y="593"/>
                    </a:cubicBezTo>
                    <a:cubicBezTo>
                      <a:pt x="475" y="593"/>
                      <a:pt x="475" y="593"/>
                      <a:pt x="475" y="593"/>
                    </a:cubicBezTo>
                    <a:cubicBezTo>
                      <a:pt x="474" y="592"/>
                      <a:pt x="473" y="592"/>
                      <a:pt x="472" y="590"/>
                    </a:cubicBezTo>
                    <a:cubicBezTo>
                      <a:pt x="471" y="589"/>
                      <a:pt x="473" y="591"/>
                      <a:pt x="475" y="592"/>
                    </a:cubicBezTo>
                    <a:cubicBezTo>
                      <a:pt x="476" y="593"/>
                      <a:pt x="476" y="592"/>
                      <a:pt x="475" y="591"/>
                    </a:cubicBezTo>
                    <a:cubicBezTo>
                      <a:pt x="473" y="590"/>
                      <a:pt x="477" y="590"/>
                      <a:pt x="478" y="591"/>
                    </a:cubicBezTo>
                    <a:cubicBezTo>
                      <a:pt x="480" y="591"/>
                      <a:pt x="479" y="591"/>
                      <a:pt x="479" y="590"/>
                    </a:cubicBezTo>
                    <a:cubicBezTo>
                      <a:pt x="478" y="589"/>
                      <a:pt x="478" y="589"/>
                      <a:pt x="478" y="588"/>
                    </a:cubicBezTo>
                    <a:cubicBezTo>
                      <a:pt x="478" y="587"/>
                      <a:pt x="476" y="586"/>
                      <a:pt x="475" y="587"/>
                    </a:cubicBezTo>
                    <a:cubicBezTo>
                      <a:pt x="474" y="587"/>
                      <a:pt x="473" y="586"/>
                      <a:pt x="471" y="586"/>
                    </a:cubicBezTo>
                    <a:cubicBezTo>
                      <a:pt x="470" y="585"/>
                      <a:pt x="469" y="585"/>
                      <a:pt x="467" y="585"/>
                    </a:cubicBezTo>
                    <a:cubicBezTo>
                      <a:pt x="465" y="584"/>
                      <a:pt x="469" y="584"/>
                      <a:pt x="472" y="585"/>
                    </a:cubicBezTo>
                    <a:cubicBezTo>
                      <a:pt x="475" y="586"/>
                      <a:pt x="479" y="587"/>
                      <a:pt x="480" y="587"/>
                    </a:cubicBezTo>
                    <a:cubicBezTo>
                      <a:pt x="482" y="586"/>
                      <a:pt x="482" y="587"/>
                      <a:pt x="482" y="587"/>
                    </a:cubicBezTo>
                    <a:cubicBezTo>
                      <a:pt x="483" y="586"/>
                      <a:pt x="483" y="586"/>
                      <a:pt x="483" y="585"/>
                    </a:cubicBezTo>
                    <a:cubicBezTo>
                      <a:pt x="482" y="585"/>
                      <a:pt x="482" y="584"/>
                      <a:pt x="482" y="582"/>
                    </a:cubicBezTo>
                    <a:cubicBezTo>
                      <a:pt x="481" y="581"/>
                      <a:pt x="481" y="581"/>
                      <a:pt x="479" y="580"/>
                    </a:cubicBezTo>
                    <a:cubicBezTo>
                      <a:pt x="478" y="580"/>
                      <a:pt x="480" y="578"/>
                      <a:pt x="481" y="577"/>
                    </a:cubicBezTo>
                    <a:cubicBezTo>
                      <a:pt x="481" y="576"/>
                      <a:pt x="482" y="576"/>
                      <a:pt x="481" y="576"/>
                    </a:cubicBezTo>
                    <a:cubicBezTo>
                      <a:pt x="479" y="575"/>
                      <a:pt x="477" y="575"/>
                      <a:pt x="477" y="576"/>
                    </a:cubicBezTo>
                    <a:cubicBezTo>
                      <a:pt x="476" y="576"/>
                      <a:pt x="476" y="576"/>
                      <a:pt x="475" y="576"/>
                    </a:cubicBezTo>
                    <a:cubicBezTo>
                      <a:pt x="475" y="576"/>
                      <a:pt x="474" y="576"/>
                      <a:pt x="474" y="576"/>
                    </a:cubicBezTo>
                    <a:cubicBezTo>
                      <a:pt x="469" y="575"/>
                      <a:pt x="469" y="574"/>
                      <a:pt x="469" y="573"/>
                    </a:cubicBezTo>
                    <a:cubicBezTo>
                      <a:pt x="469" y="573"/>
                      <a:pt x="468" y="573"/>
                      <a:pt x="468" y="573"/>
                    </a:cubicBezTo>
                    <a:cubicBezTo>
                      <a:pt x="467" y="573"/>
                      <a:pt x="466" y="571"/>
                      <a:pt x="470" y="571"/>
                    </a:cubicBezTo>
                    <a:cubicBezTo>
                      <a:pt x="474" y="571"/>
                      <a:pt x="475" y="572"/>
                      <a:pt x="479" y="571"/>
                    </a:cubicBezTo>
                    <a:cubicBezTo>
                      <a:pt x="482" y="570"/>
                      <a:pt x="482" y="571"/>
                      <a:pt x="482" y="571"/>
                    </a:cubicBezTo>
                    <a:cubicBezTo>
                      <a:pt x="482" y="571"/>
                      <a:pt x="483" y="572"/>
                      <a:pt x="484" y="571"/>
                    </a:cubicBezTo>
                    <a:cubicBezTo>
                      <a:pt x="486" y="570"/>
                      <a:pt x="483" y="569"/>
                      <a:pt x="483" y="568"/>
                    </a:cubicBezTo>
                    <a:cubicBezTo>
                      <a:pt x="482" y="568"/>
                      <a:pt x="481" y="569"/>
                      <a:pt x="482" y="567"/>
                    </a:cubicBezTo>
                    <a:cubicBezTo>
                      <a:pt x="483" y="565"/>
                      <a:pt x="481" y="563"/>
                      <a:pt x="480" y="562"/>
                    </a:cubicBezTo>
                    <a:cubicBezTo>
                      <a:pt x="480" y="561"/>
                      <a:pt x="478" y="561"/>
                      <a:pt x="478" y="561"/>
                    </a:cubicBezTo>
                    <a:cubicBezTo>
                      <a:pt x="478" y="560"/>
                      <a:pt x="478" y="560"/>
                      <a:pt x="478" y="560"/>
                    </a:cubicBezTo>
                    <a:cubicBezTo>
                      <a:pt x="475" y="559"/>
                      <a:pt x="477" y="559"/>
                      <a:pt x="475" y="558"/>
                    </a:cubicBezTo>
                    <a:cubicBezTo>
                      <a:pt x="473" y="556"/>
                      <a:pt x="474" y="555"/>
                      <a:pt x="474" y="555"/>
                    </a:cubicBezTo>
                    <a:cubicBezTo>
                      <a:pt x="474" y="555"/>
                      <a:pt x="475" y="555"/>
                      <a:pt x="474" y="554"/>
                    </a:cubicBezTo>
                    <a:cubicBezTo>
                      <a:pt x="474" y="552"/>
                      <a:pt x="475" y="553"/>
                      <a:pt x="478" y="553"/>
                    </a:cubicBezTo>
                    <a:cubicBezTo>
                      <a:pt x="481" y="554"/>
                      <a:pt x="479" y="555"/>
                      <a:pt x="481" y="554"/>
                    </a:cubicBezTo>
                    <a:cubicBezTo>
                      <a:pt x="484" y="553"/>
                      <a:pt x="486" y="555"/>
                      <a:pt x="486" y="555"/>
                    </a:cubicBezTo>
                    <a:cubicBezTo>
                      <a:pt x="487" y="555"/>
                      <a:pt x="487" y="554"/>
                      <a:pt x="488" y="552"/>
                    </a:cubicBezTo>
                    <a:cubicBezTo>
                      <a:pt x="489" y="550"/>
                      <a:pt x="491" y="550"/>
                      <a:pt x="493" y="549"/>
                    </a:cubicBezTo>
                    <a:cubicBezTo>
                      <a:pt x="494" y="548"/>
                      <a:pt x="493" y="547"/>
                      <a:pt x="492" y="546"/>
                    </a:cubicBezTo>
                    <a:cubicBezTo>
                      <a:pt x="491" y="545"/>
                      <a:pt x="493" y="545"/>
                      <a:pt x="493" y="544"/>
                    </a:cubicBezTo>
                    <a:cubicBezTo>
                      <a:pt x="493" y="543"/>
                      <a:pt x="490" y="545"/>
                      <a:pt x="489" y="543"/>
                    </a:cubicBezTo>
                    <a:cubicBezTo>
                      <a:pt x="487" y="542"/>
                      <a:pt x="490" y="542"/>
                      <a:pt x="492" y="542"/>
                    </a:cubicBezTo>
                    <a:cubicBezTo>
                      <a:pt x="494" y="543"/>
                      <a:pt x="493" y="543"/>
                      <a:pt x="495" y="540"/>
                    </a:cubicBezTo>
                    <a:cubicBezTo>
                      <a:pt x="496" y="538"/>
                      <a:pt x="498" y="541"/>
                      <a:pt x="499" y="542"/>
                    </a:cubicBezTo>
                    <a:cubicBezTo>
                      <a:pt x="501" y="542"/>
                      <a:pt x="502" y="542"/>
                      <a:pt x="501" y="538"/>
                    </a:cubicBezTo>
                    <a:cubicBezTo>
                      <a:pt x="500" y="535"/>
                      <a:pt x="503" y="540"/>
                      <a:pt x="504" y="540"/>
                    </a:cubicBezTo>
                    <a:cubicBezTo>
                      <a:pt x="505" y="541"/>
                      <a:pt x="506" y="542"/>
                      <a:pt x="508" y="541"/>
                    </a:cubicBezTo>
                    <a:cubicBezTo>
                      <a:pt x="510" y="541"/>
                      <a:pt x="511" y="542"/>
                      <a:pt x="509" y="540"/>
                    </a:cubicBezTo>
                    <a:cubicBezTo>
                      <a:pt x="508" y="537"/>
                      <a:pt x="512" y="540"/>
                      <a:pt x="513" y="541"/>
                    </a:cubicBezTo>
                    <a:cubicBezTo>
                      <a:pt x="514" y="542"/>
                      <a:pt x="517" y="538"/>
                      <a:pt x="518" y="537"/>
                    </a:cubicBezTo>
                    <a:cubicBezTo>
                      <a:pt x="519" y="536"/>
                      <a:pt x="519" y="535"/>
                      <a:pt x="516" y="534"/>
                    </a:cubicBezTo>
                    <a:cubicBezTo>
                      <a:pt x="513" y="533"/>
                      <a:pt x="514" y="532"/>
                      <a:pt x="514" y="531"/>
                    </a:cubicBezTo>
                    <a:cubicBezTo>
                      <a:pt x="515" y="530"/>
                      <a:pt x="518" y="530"/>
                      <a:pt x="521" y="529"/>
                    </a:cubicBezTo>
                    <a:cubicBezTo>
                      <a:pt x="523" y="529"/>
                      <a:pt x="520" y="528"/>
                      <a:pt x="519" y="528"/>
                    </a:cubicBezTo>
                    <a:cubicBezTo>
                      <a:pt x="518" y="528"/>
                      <a:pt x="521" y="527"/>
                      <a:pt x="522" y="527"/>
                    </a:cubicBezTo>
                    <a:cubicBezTo>
                      <a:pt x="523" y="526"/>
                      <a:pt x="523" y="525"/>
                      <a:pt x="522" y="525"/>
                    </a:cubicBezTo>
                    <a:cubicBezTo>
                      <a:pt x="520" y="525"/>
                      <a:pt x="521" y="524"/>
                      <a:pt x="523" y="525"/>
                    </a:cubicBezTo>
                    <a:cubicBezTo>
                      <a:pt x="525" y="525"/>
                      <a:pt x="525" y="524"/>
                      <a:pt x="524" y="523"/>
                    </a:cubicBezTo>
                    <a:cubicBezTo>
                      <a:pt x="524" y="523"/>
                      <a:pt x="522" y="522"/>
                      <a:pt x="520" y="522"/>
                    </a:cubicBezTo>
                    <a:cubicBezTo>
                      <a:pt x="518" y="522"/>
                      <a:pt x="520" y="521"/>
                      <a:pt x="520" y="521"/>
                    </a:cubicBezTo>
                    <a:cubicBezTo>
                      <a:pt x="521" y="521"/>
                      <a:pt x="522" y="522"/>
                      <a:pt x="522" y="521"/>
                    </a:cubicBezTo>
                    <a:cubicBezTo>
                      <a:pt x="523" y="520"/>
                      <a:pt x="524" y="521"/>
                      <a:pt x="525" y="522"/>
                    </a:cubicBezTo>
                    <a:cubicBezTo>
                      <a:pt x="526" y="523"/>
                      <a:pt x="528" y="523"/>
                      <a:pt x="531" y="522"/>
                    </a:cubicBezTo>
                    <a:cubicBezTo>
                      <a:pt x="534" y="522"/>
                      <a:pt x="530" y="524"/>
                      <a:pt x="529" y="525"/>
                    </a:cubicBezTo>
                    <a:cubicBezTo>
                      <a:pt x="528" y="526"/>
                      <a:pt x="526" y="529"/>
                      <a:pt x="525" y="529"/>
                    </a:cubicBezTo>
                    <a:cubicBezTo>
                      <a:pt x="523" y="529"/>
                      <a:pt x="524" y="532"/>
                      <a:pt x="523" y="533"/>
                    </a:cubicBezTo>
                    <a:cubicBezTo>
                      <a:pt x="523" y="534"/>
                      <a:pt x="523" y="534"/>
                      <a:pt x="525" y="533"/>
                    </a:cubicBezTo>
                    <a:cubicBezTo>
                      <a:pt x="527" y="533"/>
                      <a:pt x="531" y="536"/>
                      <a:pt x="532" y="537"/>
                    </a:cubicBezTo>
                    <a:cubicBezTo>
                      <a:pt x="534" y="538"/>
                      <a:pt x="532" y="536"/>
                      <a:pt x="532" y="534"/>
                    </a:cubicBezTo>
                    <a:cubicBezTo>
                      <a:pt x="532" y="532"/>
                      <a:pt x="532" y="533"/>
                      <a:pt x="533" y="531"/>
                    </a:cubicBezTo>
                    <a:cubicBezTo>
                      <a:pt x="534" y="529"/>
                      <a:pt x="534" y="531"/>
                      <a:pt x="535" y="534"/>
                    </a:cubicBezTo>
                    <a:cubicBezTo>
                      <a:pt x="535" y="536"/>
                      <a:pt x="536" y="535"/>
                      <a:pt x="540" y="531"/>
                    </a:cubicBezTo>
                    <a:cubicBezTo>
                      <a:pt x="543" y="527"/>
                      <a:pt x="544" y="531"/>
                      <a:pt x="544" y="532"/>
                    </a:cubicBezTo>
                    <a:cubicBezTo>
                      <a:pt x="545" y="533"/>
                      <a:pt x="545" y="533"/>
                      <a:pt x="547" y="533"/>
                    </a:cubicBezTo>
                    <a:cubicBezTo>
                      <a:pt x="549" y="532"/>
                      <a:pt x="550" y="531"/>
                      <a:pt x="551" y="530"/>
                    </a:cubicBezTo>
                    <a:cubicBezTo>
                      <a:pt x="551" y="529"/>
                      <a:pt x="552" y="529"/>
                      <a:pt x="552" y="528"/>
                    </a:cubicBezTo>
                    <a:cubicBezTo>
                      <a:pt x="552" y="527"/>
                      <a:pt x="553" y="527"/>
                      <a:pt x="554" y="527"/>
                    </a:cubicBezTo>
                    <a:cubicBezTo>
                      <a:pt x="554" y="527"/>
                      <a:pt x="555" y="527"/>
                      <a:pt x="556" y="528"/>
                    </a:cubicBezTo>
                    <a:cubicBezTo>
                      <a:pt x="557" y="529"/>
                      <a:pt x="556" y="527"/>
                      <a:pt x="556" y="527"/>
                    </a:cubicBezTo>
                    <a:cubicBezTo>
                      <a:pt x="556" y="526"/>
                      <a:pt x="555" y="526"/>
                      <a:pt x="555" y="525"/>
                    </a:cubicBezTo>
                    <a:cubicBezTo>
                      <a:pt x="556" y="525"/>
                      <a:pt x="556" y="525"/>
                      <a:pt x="555" y="524"/>
                    </a:cubicBezTo>
                    <a:cubicBezTo>
                      <a:pt x="554" y="524"/>
                      <a:pt x="555" y="523"/>
                      <a:pt x="554" y="522"/>
                    </a:cubicBezTo>
                    <a:cubicBezTo>
                      <a:pt x="552" y="520"/>
                      <a:pt x="555" y="522"/>
                      <a:pt x="556" y="523"/>
                    </a:cubicBezTo>
                    <a:cubicBezTo>
                      <a:pt x="556" y="523"/>
                      <a:pt x="557" y="524"/>
                      <a:pt x="559" y="524"/>
                    </a:cubicBezTo>
                    <a:cubicBezTo>
                      <a:pt x="560" y="524"/>
                      <a:pt x="562" y="525"/>
                      <a:pt x="563" y="525"/>
                    </a:cubicBezTo>
                    <a:cubicBezTo>
                      <a:pt x="565" y="525"/>
                      <a:pt x="564" y="524"/>
                      <a:pt x="563" y="524"/>
                    </a:cubicBezTo>
                    <a:cubicBezTo>
                      <a:pt x="562" y="523"/>
                      <a:pt x="562" y="522"/>
                      <a:pt x="562" y="521"/>
                    </a:cubicBezTo>
                    <a:cubicBezTo>
                      <a:pt x="563" y="520"/>
                      <a:pt x="563" y="520"/>
                      <a:pt x="564" y="523"/>
                    </a:cubicBezTo>
                    <a:cubicBezTo>
                      <a:pt x="565" y="526"/>
                      <a:pt x="569" y="522"/>
                      <a:pt x="570" y="521"/>
                    </a:cubicBezTo>
                    <a:cubicBezTo>
                      <a:pt x="571" y="519"/>
                      <a:pt x="571" y="519"/>
                      <a:pt x="572" y="518"/>
                    </a:cubicBezTo>
                    <a:cubicBezTo>
                      <a:pt x="573" y="517"/>
                      <a:pt x="574" y="517"/>
                      <a:pt x="573" y="517"/>
                    </a:cubicBezTo>
                    <a:cubicBezTo>
                      <a:pt x="572" y="516"/>
                      <a:pt x="572" y="516"/>
                      <a:pt x="573" y="515"/>
                    </a:cubicBezTo>
                    <a:cubicBezTo>
                      <a:pt x="573" y="514"/>
                      <a:pt x="574" y="515"/>
                      <a:pt x="574" y="516"/>
                    </a:cubicBezTo>
                    <a:cubicBezTo>
                      <a:pt x="574" y="517"/>
                      <a:pt x="575" y="516"/>
                      <a:pt x="576" y="516"/>
                    </a:cubicBezTo>
                    <a:cubicBezTo>
                      <a:pt x="576" y="517"/>
                      <a:pt x="578" y="512"/>
                      <a:pt x="579" y="511"/>
                    </a:cubicBezTo>
                    <a:cubicBezTo>
                      <a:pt x="580" y="510"/>
                      <a:pt x="580" y="509"/>
                      <a:pt x="580" y="508"/>
                    </a:cubicBezTo>
                    <a:cubicBezTo>
                      <a:pt x="580" y="507"/>
                      <a:pt x="580" y="507"/>
                      <a:pt x="580" y="506"/>
                    </a:cubicBezTo>
                    <a:cubicBezTo>
                      <a:pt x="581" y="506"/>
                      <a:pt x="583" y="504"/>
                      <a:pt x="586" y="503"/>
                    </a:cubicBezTo>
                    <a:cubicBezTo>
                      <a:pt x="588" y="502"/>
                      <a:pt x="586" y="501"/>
                      <a:pt x="585" y="501"/>
                    </a:cubicBezTo>
                    <a:cubicBezTo>
                      <a:pt x="584" y="501"/>
                      <a:pt x="587" y="499"/>
                      <a:pt x="588" y="498"/>
                    </a:cubicBezTo>
                    <a:cubicBezTo>
                      <a:pt x="589" y="498"/>
                      <a:pt x="588" y="497"/>
                      <a:pt x="587" y="497"/>
                    </a:cubicBezTo>
                    <a:cubicBezTo>
                      <a:pt x="586" y="497"/>
                      <a:pt x="588" y="496"/>
                      <a:pt x="590" y="495"/>
                    </a:cubicBezTo>
                    <a:cubicBezTo>
                      <a:pt x="592" y="494"/>
                      <a:pt x="591" y="494"/>
                      <a:pt x="590" y="493"/>
                    </a:cubicBezTo>
                    <a:cubicBezTo>
                      <a:pt x="588" y="492"/>
                      <a:pt x="591" y="491"/>
                      <a:pt x="593" y="490"/>
                    </a:cubicBezTo>
                    <a:cubicBezTo>
                      <a:pt x="594" y="490"/>
                      <a:pt x="594" y="490"/>
                      <a:pt x="593" y="489"/>
                    </a:cubicBezTo>
                    <a:cubicBezTo>
                      <a:pt x="591" y="489"/>
                      <a:pt x="593" y="488"/>
                      <a:pt x="593" y="488"/>
                    </a:cubicBezTo>
                    <a:cubicBezTo>
                      <a:pt x="593" y="488"/>
                      <a:pt x="606" y="483"/>
                      <a:pt x="607" y="482"/>
                    </a:cubicBezTo>
                    <a:cubicBezTo>
                      <a:pt x="608" y="481"/>
                      <a:pt x="608" y="481"/>
                      <a:pt x="608" y="481"/>
                    </a:cubicBezTo>
                    <a:cubicBezTo>
                      <a:pt x="607" y="480"/>
                      <a:pt x="608" y="480"/>
                      <a:pt x="609" y="479"/>
                    </a:cubicBezTo>
                    <a:cubicBezTo>
                      <a:pt x="610" y="478"/>
                      <a:pt x="610" y="478"/>
                      <a:pt x="609" y="477"/>
                    </a:cubicBezTo>
                    <a:cubicBezTo>
                      <a:pt x="608" y="476"/>
                      <a:pt x="608" y="477"/>
                      <a:pt x="606" y="476"/>
                    </a:cubicBezTo>
                    <a:cubicBezTo>
                      <a:pt x="605" y="476"/>
                      <a:pt x="605" y="475"/>
                      <a:pt x="603" y="475"/>
                    </a:cubicBezTo>
                    <a:cubicBezTo>
                      <a:pt x="601" y="475"/>
                      <a:pt x="604" y="474"/>
                      <a:pt x="606" y="473"/>
                    </a:cubicBezTo>
                    <a:cubicBezTo>
                      <a:pt x="608" y="472"/>
                      <a:pt x="605" y="472"/>
                      <a:pt x="604" y="471"/>
                    </a:cubicBezTo>
                    <a:cubicBezTo>
                      <a:pt x="603" y="471"/>
                      <a:pt x="603" y="470"/>
                      <a:pt x="602" y="469"/>
                    </a:cubicBezTo>
                    <a:cubicBezTo>
                      <a:pt x="601" y="468"/>
                      <a:pt x="601" y="468"/>
                      <a:pt x="602" y="467"/>
                    </a:cubicBezTo>
                    <a:cubicBezTo>
                      <a:pt x="602" y="467"/>
                      <a:pt x="603" y="467"/>
                      <a:pt x="602" y="465"/>
                    </a:cubicBezTo>
                    <a:cubicBezTo>
                      <a:pt x="602" y="464"/>
                      <a:pt x="605" y="467"/>
                      <a:pt x="605" y="468"/>
                    </a:cubicBezTo>
                    <a:cubicBezTo>
                      <a:pt x="605" y="469"/>
                      <a:pt x="605" y="470"/>
                      <a:pt x="606" y="470"/>
                    </a:cubicBezTo>
                    <a:cubicBezTo>
                      <a:pt x="607" y="471"/>
                      <a:pt x="608" y="470"/>
                      <a:pt x="609" y="472"/>
                    </a:cubicBezTo>
                    <a:cubicBezTo>
                      <a:pt x="610" y="474"/>
                      <a:pt x="609" y="474"/>
                      <a:pt x="613" y="474"/>
                    </a:cubicBezTo>
                    <a:cubicBezTo>
                      <a:pt x="618" y="474"/>
                      <a:pt x="616" y="475"/>
                      <a:pt x="614" y="475"/>
                    </a:cubicBezTo>
                    <a:cubicBezTo>
                      <a:pt x="613" y="475"/>
                      <a:pt x="614" y="476"/>
                      <a:pt x="614" y="478"/>
                    </a:cubicBezTo>
                    <a:cubicBezTo>
                      <a:pt x="615" y="479"/>
                      <a:pt x="617" y="479"/>
                      <a:pt x="618" y="479"/>
                    </a:cubicBezTo>
                    <a:cubicBezTo>
                      <a:pt x="619" y="479"/>
                      <a:pt x="621" y="479"/>
                      <a:pt x="624" y="479"/>
                    </a:cubicBezTo>
                    <a:cubicBezTo>
                      <a:pt x="626" y="479"/>
                      <a:pt x="629" y="478"/>
                      <a:pt x="630" y="477"/>
                    </a:cubicBezTo>
                    <a:cubicBezTo>
                      <a:pt x="631" y="476"/>
                      <a:pt x="630" y="476"/>
                      <a:pt x="630" y="476"/>
                    </a:cubicBezTo>
                    <a:cubicBezTo>
                      <a:pt x="626" y="474"/>
                      <a:pt x="631" y="475"/>
                      <a:pt x="632" y="475"/>
                    </a:cubicBezTo>
                    <a:cubicBezTo>
                      <a:pt x="633" y="475"/>
                      <a:pt x="634" y="476"/>
                      <a:pt x="634" y="477"/>
                    </a:cubicBezTo>
                    <a:cubicBezTo>
                      <a:pt x="634" y="479"/>
                      <a:pt x="636" y="478"/>
                      <a:pt x="637" y="477"/>
                    </a:cubicBezTo>
                    <a:cubicBezTo>
                      <a:pt x="639" y="476"/>
                      <a:pt x="638" y="475"/>
                      <a:pt x="637" y="474"/>
                    </a:cubicBezTo>
                    <a:cubicBezTo>
                      <a:pt x="635" y="474"/>
                      <a:pt x="636" y="474"/>
                      <a:pt x="637" y="473"/>
                    </a:cubicBezTo>
                    <a:cubicBezTo>
                      <a:pt x="639" y="473"/>
                      <a:pt x="639" y="472"/>
                      <a:pt x="640" y="472"/>
                    </a:cubicBezTo>
                    <a:cubicBezTo>
                      <a:pt x="641" y="471"/>
                      <a:pt x="641" y="470"/>
                      <a:pt x="642" y="471"/>
                    </a:cubicBezTo>
                    <a:cubicBezTo>
                      <a:pt x="643" y="473"/>
                      <a:pt x="645" y="473"/>
                      <a:pt x="645" y="474"/>
                    </a:cubicBezTo>
                    <a:cubicBezTo>
                      <a:pt x="645" y="474"/>
                      <a:pt x="646" y="475"/>
                      <a:pt x="647" y="475"/>
                    </a:cubicBezTo>
                    <a:cubicBezTo>
                      <a:pt x="647" y="475"/>
                      <a:pt x="649" y="475"/>
                      <a:pt x="650" y="473"/>
                    </a:cubicBezTo>
                    <a:cubicBezTo>
                      <a:pt x="650" y="472"/>
                      <a:pt x="651" y="473"/>
                      <a:pt x="651" y="471"/>
                    </a:cubicBezTo>
                    <a:cubicBezTo>
                      <a:pt x="652" y="470"/>
                      <a:pt x="653" y="471"/>
                      <a:pt x="654" y="472"/>
                    </a:cubicBezTo>
                    <a:cubicBezTo>
                      <a:pt x="655" y="472"/>
                      <a:pt x="659" y="472"/>
                      <a:pt x="659" y="472"/>
                    </a:cubicBezTo>
                    <a:cubicBezTo>
                      <a:pt x="659" y="472"/>
                      <a:pt x="665" y="468"/>
                      <a:pt x="667" y="467"/>
                    </a:cubicBezTo>
                    <a:cubicBezTo>
                      <a:pt x="668" y="466"/>
                      <a:pt x="669" y="466"/>
                      <a:pt x="670" y="468"/>
                    </a:cubicBezTo>
                    <a:cubicBezTo>
                      <a:pt x="671" y="469"/>
                      <a:pt x="674" y="468"/>
                      <a:pt x="674" y="468"/>
                    </a:cubicBezTo>
                    <a:cubicBezTo>
                      <a:pt x="674" y="468"/>
                      <a:pt x="694" y="462"/>
                      <a:pt x="698" y="461"/>
                    </a:cubicBezTo>
                    <a:cubicBezTo>
                      <a:pt x="702" y="460"/>
                      <a:pt x="704" y="455"/>
                      <a:pt x="705" y="454"/>
                    </a:cubicBezTo>
                    <a:cubicBezTo>
                      <a:pt x="705" y="453"/>
                      <a:pt x="705" y="453"/>
                      <a:pt x="706" y="453"/>
                    </a:cubicBezTo>
                    <a:cubicBezTo>
                      <a:pt x="707" y="453"/>
                      <a:pt x="707" y="452"/>
                      <a:pt x="708" y="454"/>
                    </a:cubicBezTo>
                    <a:cubicBezTo>
                      <a:pt x="709" y="455"/>
                      <a:pt x="710" y="454"/>
                      <a:pt x="709" y="453"/>
                    </a:cubicBezTo>
                    <a:cubicBezTo>
                      <a:pt x="709" y="452"/>
                      <a:pt x="710" y="451"/>
                      <a:pt x="711" y="450"/>
                    </a:cubicBezTo>
                    <a:cubicBezTo>
                      <a:pt x="713" y="449"/>
                      <a:pt x="712" y="449"/>
                      <a:pt x="711" y="449"/>
                    </a:cubicBezTo>
                    <a:cubicBezTo>
                      <a:pt x="709" y="449"/>
                      <a:pt x="710" y="448"/>
                      <a:pt x="711" y="448"/>
                    </a:cubicBezTo>
                    <a:cubicBezTo>
                      <a:pt x="712" y="448"/>
                      <a:pt x="716" y="448"/>
                      <a:pt x="717" y="448"/>
                    </a:cubicBezTo>
                    <a:cubicBezTo>
                      <a:pt x="718" y="449"/>
                      <a:pt x="718" y="448"/>
                      <a:pt x="719" y="447"/>
                    </a:cubicBezTo>
                    <a:cubicBezTo>
                      <a:pt x="719" y="446"/>
                      <a:pt x="719" y="446"/>
                      <a:pt x="718" y="445"/>
                    </a:cubicBezTo>
                    <a:cubicBezTo>
                      <a:pt x="717" y="444"/>
                      <a:pt x="718" y="444"/>
                      <a:pt x="719" y="44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48" name="Freeform 1160">
                <a:extLst>
                  <a:ext uri="{FF2B5EF4-FFF2-40B4-BE49-F238E27FC236}">
                    <a16:creationId xmlns:a16="http://schemas.microsoft.com/office/drawing/2014/main" id="{A8BE6A51-0626-4B01-8D30-1E9DBC43BBD9}"/>
                  </a:ext>
                </a:extLst>
              </p:cNvPr>
              <p:cNvSpPr>
                <a:spLocks/>
              </p:cNvSpPr>
              <p:nvPr/>
            </p:nvSpPr>
            <p:spPr bwMode="auto">
              <a:xfrm>
                <a:off x="2010" y="656"/>
                <a:ext cx="29" cy="9"/>
              </a:xfrm>
              <a:custGeom>
                <a:avLst/>
                <a:gdLst>
                  <a:gd name="T0" fmla="*/ 9 w 21"/>
                  <a:gd name="T1" fmla="*/ 5 h 6"/>
                  <a:gd name="T2" fmla="*/ 18 w 21"/>
                  <a:gd name="T3" fmla="*/ 4 h 6"/>
                  <a:gd name="T4" fmla="*/ 7 w 21"/>
                  <a:gd name="T5" fmla="*/ 0 h 6"/>
                  <a:gd name="T6" fmla="*/ 3 w 21"/>
                  <a:gd name="T7" fmla="*/ 1 h 6"/>
                  <a:gd name="T8" fmla="*/ 3 w 21"/>
                  <a:gd name="T9" fmla="*/ 3 h 6"/>
                  <a:gd name="T10" fmla="*/ 9 w 21"/>
                  <a:gd name="T11" fmla="*/ 5 h 6"/>
                </a:gdLst>
                <a:ahLst/>
                <a:cxnLst>
                  <a:cxn ang="0">
                    <a:pos x="T0" y="T1"/>
                  </a:cxn>
                  <a:cxn ang="0">
                    <a:pos x="T2" y="T3"/>
                  </a:cxn>
                  <a:cxn ang="0">
                    <a:pos x="T4" y="T5"/>
                  </a:cxn>
                  <a:cxn ang="0">
                    <a:pos x="T6" y="T7"/>
                  </a:cxn>
                  <a:cxn ang="0">
                    <a:pos x="T8" y="T9"/>
                  </a:cxn>
                  <a:cxn ang="0">
                    <a:pos x="T10" y="T11"/>
                  </a:cxn>
                </a:cxnLst>
                <a:rect l="0" t="0" r="r" b="b"/>
                <a:pathLst>
                  <a:path w="21" h="6">
                    <a:moveTo>
                      <a:pt x="9" y="5"/>
                    </a:moveTo>
                    <a:cubicBezTo>
                      <a:pt x="10" y="6"/>
                      <a:pt x="16" y="4"/>
                      <a:pt x="18" y="4"/>
                    </a:cubicBezTo>
                    <a:cubicBezTo>
                      <a:pt x="21" y="3"/>
                      <a:pt x="8" y="1"/>
                      <a:pt x="7" y="0"/>
                    </a:cubicBezTo>
                    <a:cubicBezTo>
                      <a:pt x="6" y="0"/>
                      <a:pt x="5" y="0"/>
                      <a:pt x="3" y="1"/>
                    </a:cubicBezTo>
                    <a:cubicBezTo>
                      <a:pt x="0" y="2"/>
                      <a:pt x="3" y="3"/>
                      <a:pt x="3" y="3"/>
                    </a:cubicBezTo>
                    <a:cubicBezTo>
                      <a:pt x="4" y="3"/>
                      <a:pt x="8" y="3"/>
                      <a:pt x="9"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49" name="Freeform 1161">
                <a:extLst>
                  <a:ext uri="{FF2B5EF4-FFF2-40B4-BE49-F238E27FC236}">
                    <a16:creationId xmlns:a16="http://schemas.microsoft.com/office/drawing/2014/main" id="{0AD79E59-918C-4FA6-838E-C5D279264A3A}"/>
                  </a:ext>
                </a:extLst>
              </p:cNvPr>
              <p:cNvSpPr>
                <a:spLocks/>
              </p:cNvSpPr>
              <p:nvPr/>
            </p:nvSpPr>
            <p:spPr bwMode="auto">
              <a:xfrm>
                <a:off x="2039" y="656"/>
                <a:ext cx="29" cy="7"/>
              </a:xfrm>
              <a:custGeom>
                <a:avLst/>
                <a:gdLst>
                  <a:gd name="T0" fmla="*/ 16 w 21"/>
                  <a:gd name="T1" fmla="*/ 2 h 5"/>
                  <a:gd name="T2" fmla="*/ 3 w 21"/>
                  <a:gd name="T3" fmla="*/ 0 h 5"/>
                  <a:gd name="T4" fmla="*/ 1 w 21"/>
                  <a:gd name="T5" fmla="*/ 2 h 5"/>
                  <a:gd name="T6" fmla="*/ 16 w 21"/>
                  <a:gd name="T7" fmla="*/ 2 h 5"/>
                </a:gdLst>
                <a:ahLst/>
                <a:cxnLst>
                  <a:cxn ang="0">
                    <a:pos x="T0" y="T1"/>
                  </a:cxn>
                  <a:cxn ang="0">
                    <a:pos x="T2" y="T3"/>
                  </a:cxn>
                  <a:cxn ang="0">
                    <a:pos x="T4" y="T5"/>
                  </a:cxn>
                  <a:cxn ang="0">
                    <a:pos x="T6" y="T7"/>
                  </a:cxn>
                </a:cxnLst>
                <a:rect l="0" t="0" r="r" b="b"/>
                <a:pathLst>
                  <a:path w="21" h="5">
                    <a:moveTo>
                      <a:pt x="16" y="2"/>
                    </a:moveTo>
                    <a:cubicBezTo>
                      <a:pt x="21" y="1"/>
                      <a:pt x="5" y="0"/>
                      <a:pt x="3" y="0"/>
                    </a:cubicBezTo>
                    <a:cubicBezTo>
                      <a:pt x="0" y="0"/>
                      <a:pt x="1" y="2"/>
                      <a:pt x="1" y="2"/>
                    </a:cubicBezTo>
                    <a:cubicBezTo>
                      <a:pt x="3" y="5"/>
                      <a:pt x="11" y="3"/>
                      <a:pt x="1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50" name="Freeform 1162">
                <a:extLst>
                  <a:ext uri="{FF2B5EF4-FFF2-40B4-BE49-F238E27FC236}">
                    <a16:creationId xmlns:a16="http://schemas.microsoft.com/office/drawing/2014/main" id="{2D023478-6AD6-40CF-B776-659CA810B37C}"/>
                  </a:ext>
                </a:extLst>
              </p:cNvPr>
              <p:cNvSpPr>
                <a:spLocks/>
              </p:cNvSpPr>
              <p:nvPr/>
            </p:nvSpPr>
            <p:spPr bwMode="auto">
              <a:xfrm>
                <a:off x="2406" y="430"/>
                <a:ext cx="51" cy="18"/>
              </a:xfrm>
              <a:custGeom>
                <a:avLst/>
                <a:gdLst>
                  <a:gd name="T0" fmla="*/ 1 w 37"/>
                  <a:gd name="T1" fmla="*/ 6 h 13"/>
                  <a:gd name="T2" fmla="*/ 5 w 37"/>
                  <a:gd name="T3" fmla="*/ 8 h 13"/>
                  <a:gd name="T4" fmla="*/ 28 w 37"/>
                  <a:gd name="T5" fmla="*/ 12 h 13"/>
                  <a:gd name="T6" fmla="*/ 25 w 37"/>
                  <a:gd name="T7" fmla="*/ 9 h 13"/>
                  <a:gd name="T8" fmla="*/ 17 w 37"/>
                  <a:gd name="T9" fmla="*/ 6 h 13"/>
                  <a:gd name="T10" fmla="*/ 6 w 37"/>
                  <a:gd name="T11" fmla="*/ 1 h 13"/>
                  <a:gd name="T12" fmla="*/ 1 w 37"/>
                  <a:gd name="T13" fmla="*/ 3 h 13"/>
                  <a:gd name="T14" fmla="*/ 1 w 37"/>
                  <a:gd name="T15" fmla="*/ 6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13">
                    <a:moveTo>
                      <a:pt x="1" y="6"/>
                    </a:moveTo>
                    <a:cubicBezTo>
                      <a:pt x="2" y="6"/>
                      <a:pt x="1" y="7"/>
                      <a:pt x="5" y="8"/>
                    </a:cubicBezTo>
                    <a:cubicBezTo>
                      <a:pt x="8" y="10"/>
                      <a:pt x="18" y="11"/>
                      <a:pt x="28" y="12"/>
                    </a:cubicBezTo>
                    <a:cubicBezTo>
                      <a:pt x="37" y="13"/>
                      <a:pt x="28" y="10"/>
                      <a:pt x="25" y="9"/>
                    </a:cubicBezTo>
                    <a:cubicBezTo>
                      <a:pt x="23" y="7"/>
                      <a:pt x="19" y="6"/>
                      <a:pt x="17" y="6"/>
                    </a:cubicBezTo>
                    <a:cubicBezTo>
                      <a:pt x="15" y="6"/>
                      <a:pt x="8" y="2"/>
                      <a:pt x="6" y="1"/>
                    </a:cubicBezTo>
                    <a:cubicBezTo>
                      <a:pt x="4" y="0"/>
                      <a:pt x="2" y="2"/>
                      <a:pt x="1" y="3"/>
                    </a:cubicBezTo>
                    <a:cubicBezTo>
                      <a:pt x="0" y="4"/>
                      <a:pt x="1" y="6"/>
                      <a:pt x="1"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51" name="Freeform 1163">
                <a:extLst>
                  <a:ext uri="{FF2B5EF4-FFF2-40B4-BE49-F238E27FC236}">
                    <a16:creationId xmlns:a16="http://schemas.microsoft.com/office/drawing/2014/main" id="{29AECCA9-A7EE-4DAB-9635-FACF063EB515}"/>
                  </a:ext>
                </a:extLst>
              </p:cNvPr>
              <p:cNvSpPr>
                <a:spLocks/>
              </p:cNvSpPr>
              <p:nvPr/>
            </p:nvSpPr>
            <p:spPr bwMode="auto">
              <a:xfrm>
                <a:off x="2403" y="890"/>
                <a:ext cx="18" cy="7"/>
              </a:xfrm>
              <a:custGeom>
                <a:avLst/>
                <a:gdLst>
                  <a:gd name="T0" fmla="*/ 2 w 13"/>
                  <a:gd name="T1" fmla="*/ 1 h 5"/>
                  <a:gd name="T2" fmla="*/ 2 w 13"/>
                  <a:gd name="T3" fmla="*/ 2 h 5"/>
                  <a:gd name="T4" fmla="*/ 4 w 13"/>
                  <a:gd name="T5" fmla="*/ 4 h 5"/>
                  <a:gd name="T6" fmla="*/ 10 w 13"/>
                  <a:gd name="T7" fmla="*/ 2 h 5"/>
                  <a:gd name="T8" fmla="*/ 2 w 13"/>
                  <a:gd name="T9" fmla="*/ 1 h 5"/>
                </a:gdLst>
                <a:ahLst/>
                <a:cxnLst>
                  <a:cxn ang="0">
                    <a:pos x="T0" y="T1"/>
                  </a:cxn>
                  <a:cxn ang="0">
                    <a:pos x="T2" y="T3"/>
                  </a:cxn>
                  <a:cxn ang="0">
                    <a:pos x="T4" y="T5"/>
                  </a:cxn>
                  <a:cxn ang="0">
                    <a:pos x="T6" y="T7"/>
                  </a:cxn>
                  <a:cxn ang="0">
                    <a:pos x="T8" y="T9"/>
                  </a:cxn>
                </a:cxnLst>
                <a:rect l="0" t="0" r="r" b="b"/>
                <a:pathLst>
                  <a:path w="13" h="5">
                    <a:moveTo>
                      <a:pt x="2" y="1"/>
                    </a:moveTo>
                    <a:cubicBezTo>
                      <a:pt x="0" y="1"/>
                      <a:pt x="2" y="2"/>
                      <a:pt x="2" y="2"/>
                    </a:cubicBezTo>
                    <a:cubicBezTo>
                      <a:pt x="2" y="2"/>
                      <a:pt x="3" y="3"/>
                      <a:pt x="4" y="4"/>
                    </a:cubicBezTo>
                    <a:cubicBezTo>
                      <a:pt x="6" y="5"/>
                      <a:pt x="7" y="3"/>
                      <a:pt x="10" y="2"/>
                    </a:cubicBezTo>
                    <a:cubicBezTo>
                      <a:pt x="13" y="0"/>
                      <a:pt x="5"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52" name="Freeform 1164">
                <a:extLst>
                  <a:ext uri="{FF2B5EF4-FFF2-40B4-BE49-F238E27FC236}">
                    <a16:creationId xmlns:a16="http://schemas.microsoft.com/office/drawing/2014/main" id="{5300683F-C95D-4281-881E-239E43AB23A4}"/>
                  </a:ext>
                </a:extLst>
              </p:cNvPr>
              <p:cNvSpPr>
                <a:spLocks/>
              </p:cNvSpPr>
              <p:nvPr/>
            </p:nvSpPr>
            <p:spPr bwMode="auto">
              <a:xfrm>
                <a:off x="2394" y="902"/>
                <a:ext cx="13" cy="14"/>
              </a:xfrm>
              <a:custGeom>
                <a:avLst/>
                <a:gdLst>
                  <a:gd name="T0" fmla="*/ 3 w 10"/>
                  <a:gd name="T1" fmla="*/ 3 h 10"/>
                  <a:gd name="T2" fmla="*/ 3 w 10"/>
                  <a:gd name="T3" fmla="*/ 8 h 10"/>
                  <a:gd name="T4" fmla="*/ 8 w 10"/>
                  <a:gd name="T5" fmla="*/ 8 h 10"/>
                  <a:gd name="T6" fmla="*/ 7 w 10"/>
                  <a:gd name="T7" fmla="*/ 2 h 10"/>
                  <a:gd name="T8" fmla="*/ 3 w 10"/>
                  <a:gd name="T9" fmla="*/ 3 h 10"/>
                </a:gdLst>
                <a:ahLst/>
                <a:cxnLst>
                  <a:cxn ang="0">
                    <a:pos x="T0" y="T1"/>
                  </a:cxn>
                  <a:cxn ang="0">
                    <a:pos x="T2" y="T3"/>
                  </a:cxn>
                  <a:cxn ang="0">
                    <a:pos x="T4" y="T5"/>
                  </a:cxn>
                  <a:cxn ang="0">
                    <a:pos x="T6" y="T7"/>
                  </a:cxn>
                  <a:cxn ang="0">
                    <a:pos x="T8" y="T9"/>
                  </a:cxn>
                </a:cxnLst>
                <a:rect l="0" t="0" r="r" b="b"/>
                <a:pathLst>
                  <a:path w="10" h="10">
                    <a:moveTo>
                      <a:pt x="3" y="3"/>
                    </a:moveTo>
                    <a:cubicBezTo>
                      <a:pt x="0" y="6"/>
                      <a:pt x="1" y="6"/>
                      <a:pt x="3" y="8"/>
                    </a:cubicBezTo>
                    <a:cubicBezTo>
                      <a:pt x="5" y="9"/>
                      <a:pt x="6" y="10"/>
                      <a:pt x="8" y="8"/>
                    </a:cubicBezTo>
                    <a:cubicBezTo>
                      <a:pt x="10" y="7"/>
                      <a:pt x="7" y="4"/>
                      <a:pt x="7" y="2"/>
                    </a:cubicBezTo>
                    <a:cubicBezTo>
                      <a:pt x="6" y="0"/>
                      <a:pt x="3" y="3"/>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53" name="Freeform 1165">
                <a:extLst>
                  <a:ext uri="{FF2B5EF4-FFF2-40B4-BE49-F238E27FC236}">
                    <a16:creationId xmlns:a16="http://schemas.microsoft.com/office/drawing/2014/main" id="{5430753E-D123-400C-86D8-454C9DCDF590}"/>
                  </a:ext>
                </a:extLst>
              </p:cNvPr>
              <p:cNvSpPr>
                <a:spLocks/>
              </p:cNvSpPr>
              <p:nvPr/>
            </p:nvSpPr>
            <p:spPr bwMode="auto">
              <a:xfrm>
                <a:off x="2411" y="902"/>
                <a:ext cx="20" cy="7"/>
              </a:xfrm>
              <a:custGeom>
                <a:avLst/>
                <a:gdLst>
                  <a:gd name="T0" fmla="*/ 3 w 14"/>
                  <a:gd name="T1" fmla="*/ 5 h 5"/>
                  <a:gd name="T2" fmla="*/ 7 w 14"/>
                  <a:gd name="T3" fmla="*/ 4 h 5"/>
                  <a:gd name="T4" fmla="*/ 11 w 14"/>
                  <a:gd name="T5" fmla="*/ 2 h 5"/>
                  <a:gd name="T6" fmla="*/ 0 w 14"/>
                  <a:gd name="T7" fmla="*/ 2 h 5"/>
                  <a:gd name="T8" fmla="*/ 3 w 14"/>
                  <a:gd name="T9" fmla="*/ 5 h 5"/>
                </a:gdLst>
                <a:ahLst/>
                <a:cxnLst>
                  <a:cxn ang="0">
                    <a:pos x="T0" y="T1"/>
                  </a:cxn>
                  <a:cxn ang="0">
                    <a:pos x="T2" y="T3"/>
                  </a:cxn>
                  <a:cxn ang="0">
                    <a:pos x="T4" y="T5"/>
                  </a:cxn>
                  <a:cxn ang="0">
                    <a:pos x="T6" y="T7"/>
                  </a:cxn>
                  <a:cxn ang="0">
                    <a:pos x="T8" y="T9"/>
                  </a:cxn>
                </a:cxnLst>
                <a:rect l="0" t="0" r="r" b="b"/>
                <a:pathLst>
                  <a:path w="14" h="5">
                    <a:moveTo>
                      <a:pt x="3" y="5"/>
                    </a:moveTo>
                    <a:cubicBezTo>
                      <a:pt x="5" y="5"/>
                      <a:pt x="6" y="5"/>
                      <a:pt x="7" y="4"/>
                    </a:cubicBezTo>
                    <a:cubicBezTo>
                      <a:pt x="8" y="2"/>
                      <a:pt x="14" y="2"/>
                      <a:pt x="11" y="2"/>
                    </a:cubicBezTo>
                    <a:cubicBezTo>
                      <a:pt x="7" y="1"/>
                      <a:pt x="0" y="0"/>
                      <a:pt x="0" y="2"/>
                    </a:cubicBezTo>
                    <a:cubicBezTo>
                      <a:pt x="0" y="2"/>
                      <a:pt x="0" y="5"/>
                      <a:pt x="3"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54" name="Freeform 1166">
                <a:extLst>
                  <a:ext uri="{FF2B5EF4-FFF2-40B4-BE49-F238E27FC236}">
                    <a16:creationId xmlns:a16="http://schemas.microsoft.com/office/drawing/2014/main" id="{E03221DA-6CA1-4B91-A295-3D96E78677E1}"/>
                  </a:ext>
                </a:extLst>
              </p:cNvPr>
              <p:cNvSpPr>
                <a:spLocks/>
              </p:cNvSpPr>
              <p:nvPr/>
            </p:nvSpPr>
            <p:spPr bwMode="auto">
              <a:xfrm>
                <a:off x="2373" y="935"/>
                <a:ext cx="7" cy="4"/>
              </a:xfrm>
              <a:custGeom>
                <a:avLst/>
                <a:gdLst>
                  <a:gd name="T0" fmla="*/ 3 w 5"/>
                  <a:gd name="T1" fmla="*/ 1 h 3"/>
                  <a:gd name="T2" fmla="*/ 1 w 5"/>
                  <a:gd name="T3" fmla="*/ 1 h 3"/>
                  <a:gd name="T4" fmla="*/ 3 w 5"/>
                  <a:gd name="T5" fmla="*/ 2 h 3"/>
                  <a:gd name="T6" fmla="*/ 3 w 5"/>
                  <a:gd name="T7" fmla="*/ 1 h 3"/>
                </a:gdLst>
                <a:ahLst/>
                <a:cxnLst>
                  <a:cxn ang="0">
                    <a:pos x="T0" y="T1"/>
                  </a:cxn>
                  <a:cxn ang="0">
                    <a:pos x="T2" y="T3"/>
                  </a:cxn>
                  <a:cxn ang="0">
                    <a:pos x="T4" y="T5"/>
                  </a:cxn>
                  <a:cxn ang="0">
                    <a:pos x="T6" y="T7"/>
                  </a:cxn>
                </a:cxnLst>
                <a:rect l="0" t="0" r="r" b="b"/>
                <a:pathLst>
                  <a:path w="5" h="3">
                    <a:moveTo>
                      <a:pt x="3" y="1"/>
                    </a:moveTo>
                    <a:cubicBezTo>
                      <a:pt x="2" y="0"/>
                      <a:pt x="0" y="0"/>
                      <a:pt x="1" y="1"/>
                    </a:cubicBezTo>
                    <a:cubicBezTo>
                      <a:pt x="1" y="1"/>
                      <a:pt x="2" y="3"/>
                      <a:pt x="3" y="2"/>
                    </a:cubicBezTo>
                    <a:cubicBezTo>
                      <a:pt x="5" y="2"/>
                      <a:pt x="5" y="2"/>
                      <a:pt x="3"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55" name="Freeform 1167">
                <a:extLst>
                  <a:ext uri="{FF2B5EF4-FFF2-40B4-BE49-F238E27FC236}">
                    <a16:creationId xmlns:a16="http://schemas.microsoft.com/office/drawing/2014/main" id="{79EFA13C-42C3-4D2E-8EAB-DE0B8861FF24}"/>
                  </a:ext>
                </a:extLst>
              </p:cNvPr>
              <p:cNvSpPr>
                <a:spLocks/>
              </p:cNvSpPr>
              <p:nvPr/>
            </p:nvSpPr>
            <p:spPr bwMode="auto">
              <a:xfrm>
                <a:off x="2374" y="941"/>
                <a:ext cx="64" cy="39"/>
              </a:xfrm>
              <a:custGeom>
                <a:avLst/>
                <a:gdLst>
                  <a:gd name="T0" fmla="*/ 38 w 46"/>
                  <a:gd name="T1" fmla="*/ 12 h 29"/>
                  <a:gd name="T2" fmla="*/ 29 w 46"/>
                  <a:gd name="T3" fmla="*/ 7 h 29"/>
                  <a:gd name="T4" fmla="*/ 18 w 46"/>
                  <a:gd name="T5" fmla="*/ 1 h 29"/>
                  <a:gd name="T6" fmla="*/ 4 w 46"/>
                  <a:gd name="T7" fmla="*/ 2 h 29"/>
                  <a:gd name="T8" fmla="*/ 3 w 46"/>
                  <a:gd name="T9" fmla="*/ 7 h 29"/>
                  <a:gd name="T10" fmla="*/ 8 w 46"/>
                  <a:gd name="T11" fmla="*/ 10 h 29"/>
                  <a:gd name="T12" fmla="*/ 4 w 46"/>
                  <a:gd name="T13" fmla="*/ 10 h 29"/>
                  <a:gd name="T14" fmla="*/ 2 w 46"/>
                  <a:gd name="T15" fmla="*/ 12 h 29"/>
                  <a:gd name="T16" fmla="*/ 4 w 46"/>
                  <a:gd name="T17" fmla="*/ 14 h 29"/>
                  <a:gd name="T18" fmla="*/ 2 w 46"/>
                  <a:gd name="T19" fmla="*/ 16 h 29"/>
                  <a:gd name="T20" fmla="*/ 0 w 46"/>
                  <a:gd name="T21" fmla="*/ 18 h 29"/>
                  <a:gd name="T22" fmla="*/ 14 w 46"/>
                  <a:gd name="T23" fmla="*/ 21 h 29"/>
                  <a:gd name="T24" fmla="*/ 16 w 46"/>
                  <a:gd name="T25" fmla="*/ 22 h 29"/>
                  <a:gd name="T26" fmla="*/ 21 w 46"/>
                  <a:gd name="T27" fmla="*/ 23 h 29"/>
                  <a:gd name="T28" fmla="*/ 11 w 46"/>
                  <a:gd name="T29" fmla="*/ 24 h 29"/>
                  <a:gd name="T30" fmla="*/ 14 w 46"/>
                  <a:gd name="T31" fmla="*/ 26 h 29"/>
                  <a:gd name="T32" fmla="*/ 21 w 46"/>
                  <a:gd name="T33" fmla="*/ 29 h 29"/>
                  <a:gd name="T34" fmla="*/ 44 w 46"/>
                  <a:gd name="T35" fmla="*/ 21 h 29"/>
                  <a:gd name="T36" fmla="*/ 45 w 46"/>
                  <a:gd name="T37" fmla="*/ 18 h 29"/>
                  <a:gd name="T38" fmla="*/ 44 w 46"/>
                  <a:gd name="T39" fmla="*/ 15 h 29"/>
                  <a:gd name="T40" fmla="*/ 38 w 46"/>
                  <a:gd name="T41" fmla="*/ 1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 h="29">
                    <a:moveTo>
                      <a:pt x="38" y="12"/>
                    </a:moveTo>
                    <a:cubicBezTo>
                      <a:pt x="35" y="11"/>
                      <a:pt x="32" y="10"/>
                      <a:pt x="29" y="7"/>
                    </a:cubicBezTo>
                    <a:cubicBezTo>
                      <a:pt x="27" y="4"/>
                      <a:pt x="22" y="2"/>
                      <a:pt x="18" y="1"/>
                    </a:cubicBezTo>
                    <a:cubicBezTo>
                      <a:pt x="14" y="0"/>
                      <a:pt x="9" y="0"/>
                      <a:pt x="4" y="2"/>
                    </a:cubicBezTo>
                    <a:cubicBezTo>
                      <a:pt x="0" y="3"/>
                      <a:pt x="3" y="7"/>
                      <a:pt x="3" y="7"/>
                    </a:cubicBezTo>
                    <a:cubicBezTo>
                      <a:pt x="3" y="7"/>
                      <a:pt x="3" y="8"/>
                      <a:pt x="8" y="10"/>
                    </a:cubicBezTo>
                    <a:cubicBezTo>
                      <a:pt x="13" y="11"/>
                      <a:pt x="6" y="10"/>
                      <a:pt x="4" y="10"/>
                    </a:cubicBezTo>
                    <a:cubicBezTo>
                      <a:pt x="3" y="10"/>
                      <a:pt x="2" y="10"/>
                      <a:pt x="2" y="12"/>
                    </a:cubicBezTo>
                    <a:cubicBezTo>
                      <a:pt x="2" y="13"/>
                      <a:pt x="4" y="14"/>
                      <a:pt x="4" y="14"/>
                    </a:cubicBezTo>
                    <a:cubicBezTo>
                      <a:pt x="12" y="19"/>
                      <a:pt x="4" y="16"/>
                      <a:pt x="2" y="16"/>
                    </a:cubicBezTo>
                    <a:cubicBezTo>
                      <a:pt x="0" y="16"/>
                      <a:pt x="0" y="17"/>
                      <a:pt x="0" y="18"/>
                    </a:cubicBezTo>
                    <a:cubicBezTo>
                      <a:pt x="1" y="19"/>
                      <a:pt x="12" y="21"/>
                      <a:pt x="14" y="21"/>
                    </a:cubicBezTo>
                    <a:cubicBezTo>
                      <a:pt x="16" y="21"/>
                      <a:pt x="15" y="22"/>
                      <a:pt x="16" y="22"/>
                    </a:cubicBezTo>
                    <a:cubicBezTo>
                      <a:pt x="17" y="23"/>
                      <a:pt x="16" y="22"/>
                      <a:pt x="21" y="23"/>
                    </a:cubicBezTo>
                    <a:cubicBezTo>
                      <a:pt x="27" y="24"/>
                      <a:pt x="16" y="24"/>
                      <a:pt x="11" y="24"/>
                    </a:cubicBezTo>
                    <a:cubicBezTo>
                      <a:pt x="7" y="25"/>
                      <a:pt x="13" y="26"/>
                      <a:pt x="14" y="26"/>
                    </a:cubicBezTo>
                    <a:cubicBezTo>
                      <a:pt x="16" y="27"/>
                      <a:pt x="17" y="29"/>
                      <a:pt x="21" y="29"/>
                    </a:cubicBezTo>
                    <a:cubicBezTo>
                      <a:pt x="24" y="29"/>
                      <a:pt x="42" y="22"/>
                      <a:pt x="44" y="21"/>
                    </a:cubicBezTo>
                    <a:cubicBezTo>
                      <a:pt x="46" y="19"/>
                      <a:pt x="46" y="19"/>
                      <a:pt x="45" y="18"/>
                    </a:cubicBezTo>
                    <a:cubicBezTo>
                      <a:pt x="44" y="17"/>
                      <a:pt x="44" y="17"/>
                      <a:pt x="44" y="15"/>
                    </a:cubicBezTo>
                    <a:cubicBezTo>
                      <a:pt x="45" y="13"/>
                      <a:pt x="41" y="13"/>
                      <a:pt x="38"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56" name="Freeform 1168">
                <a:extLst>
                  <a:ext uri="{FF2B5EF4-FFF2-40B4-BE49-F238E27FC236}">
                    <a16:creationId xmlns:a16="http://schemas.microsoft.com/office/drawing/2014/main" id="{85A19BE6-1900-45DA-9095-8A74247790B8}"/>
                  </a:ext>
                </a:extLst>
              </p:cNvPr>
              <p:cNvSpPr>
                <a:spLocks/>
              </p:cNvSpPr>
              <p:nvPr/>
            </p:nvSpPr>
            <p:spPr bwMode="auto">
              <a:xfrm>
                <a:off x="2446" y="954"/>
                <a:ext cx="18" cy="15"/>
              </a:xfrm>
              <a:custGeom>
                <a:avLst/>
                <a:gdLst>
                  <a:gd name="T0" fmla="*/ 2 w 13"/>
                  <a:gd name="T1" fmla="*/ 3 h 11"/>
                  <a:gd name="T2" fmla="*/ 5 w 13"/>
                  <a:gd name="T3" fmla="*/ 3 h 11"/>
                  <a:gd name="T4" fmla="*/ 2 w 13"/>
                  <a:gd name="T5" fmla="*/ 6 h 11"/>
                  <a:gd name="T6" fmla="*/ 2 w 13"/>
                  <a:gd name="T7" fmla="*/ 9 h 11"/>
                  <a:gd name="T8" fmla="*/ 5 w 13"/>
                  <a:gd name="T9" fmla="*/ 11 h 11"/>
                  <a:gd name="T10" fmla="*/ 7 w 13"/>
                  <a:gd name="T11" fmla="*/ 8 h 11"/>
                  <a:gd name="T12" fmla="*/ 9 w 13"/>
                  <a:gd name="T13" fmla="*/ 6 h 11"/>
                  <a:gd name="T14" fmla="*/ 10 w 13"/>
                  <a:gd name="T15" fmla="*/ 2 h 11"/>
                  <a:gd name="T16" fmla="*/ 6 w 13"/>
                  <a:gd name="T17" fmla="*/ 1 h 11"/>
                  <a:gd name="T18" fmla="*/ 4 w 13"/>
                  <a:gd name="T19" fmla="*/ 2 h 11"/>
                  <a:gd name="T20" fmla="*/ 2 w 13"/>
                  <a:gd name="T21"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
                    <a:moveTo>
                      <a:pt x="2" y="3"/>
                    </a:moveTo>
                    <a:cubicBezTo>
                      <a:pt x="3" y="3"/>
                      <a:pt x="8" y="1"/>
                      <a:pt x="5" y="3"/>
                    </a:cubicBezTo>
                    <a:cubicBezTo>
                      <a:pt x="2" y="5"/>
                      <a:pt x="2" y="6"/>
                      <a:pt x="2" y="6"/>
                    </a:cubicBezTo>
                    <a:cubicBezTo>
                      <a:pt x="2" y="6"/>
                      <a:pt x="1" y="7"/>
                      <a:pt x="2" y="9"/>
                    </a:cubicBezTo>
                    <a:cubicBezTo>
                      <a:pt x="3" y="10"/>
                      <a:pt x="4" y="11"/>
                      <a:pt x="5" y="11"/>
                    </a:cubicBezTo>
                    <a:cubicBezTo>
                      <a:pt x="7" y="11"/>
                      <a:pt x="7" y="10"/>
                      <a:pt x="7" y="8"/>
                    </a:cubicBezTo>
                    <a:cubicBezTo>
                      <a:pt x="7" y="7"/>
                      <a:pt x="8" y="6"/>
                      <a:pt x="9" y="6"/>
                    </a:cubicBezTo>
                    <a:cubicBezTo>
                      <a:pt x="9" y="5"/>
                      <a:pt x="13" y="3"/>
                      <a:pt x="10" y="2"/>
                    </a:cubicBezTo>
                    <a:cubicBezTo>
                      <a:pt x="8" y="1"/>
                      <a:pt x="7" y="1"/>
                      <a:pt x="6" y="1"/>
                    </a:cubicBezTo>
                    <a:cubicBezTo>
                      <a:pt x="5" y="0"/>
                      <a:pt x="3" y="1"/>
                      <a:pt x="4" y="2"/>
                    </a:cubicBezTo>
                    <a:cubicBezTo>
                      <a:pt x="4" y="2"/>
                      <a:pt x="0"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57" name="Freeform 1169">
                <a:extLst>
                  <a:ext uri="{FF2B5EF4-FFF2-40B4-BE49-F238E27FC236}">
                    <a16:creationId xmlns:a16="http://schemas.microsoft.com/office/drawing/2014/main" id="{FF0318E1-C28B-41EE-BBE2-1866DACBCDB2}"/>
                  </a:ext>
                </a:extLst>
              </p:cNvPr>
              <p:cNvSpPr>
                <a:spLocks/>
              </p:cNvSpPr>
              <p:nvPr/>
            </p:nvSpPr>
            <p:spPr bwMode="auto">
              <a:xfrm>
                <a:off x="2522" y="412"/>
                <a:ext cx="69" cy="32"/>
              </a:xfrm>
              <a:custGeom>
                <a:avLst/>
                <a:gdLst>
                  <a:gd name="T0" fmla="*/ 3 w 50"/>
                  <a:gd name="T1" fmla="*/ 3 h 23"/>
                  <a:gd name="T2" fmla="*/ 11 w 50"/>
                  <a:gd name="T3" fmla="*/ 8 h 23"/>
                  <a:gd name="T4" fmla="*/ 37 w 50"/>
                  <a:gd name="T5" fmla="*/ 22 h 23"/>
                  <a:gd name="T6" fmla="*/ 43 w 50"/>
                  <a:gd name="T7" fmla="*/ 22 h 23"/>
                  <a:gd name="T8" fmla="*/ 41 w 50"/>
                  <a:gd name="T9" fmla="*/ 18 h 23"/>
                  <a:gd name="T10" fmla="*/ 48 w 50"/>
                  <a:gd name="T11" fmla="*/ 12 h 23"/>
                  <a:gd name="T12" fmla="*/ 47 w 50"/>
                  <a:gd name="T13" fmla="*/ 10 h 23"/>
                  <a:gd name="T14" fmla="*/ 42 w 50"/>
                  <a:gd name="T15" fmla="*/ 7 h 23"/>
                  <a:gd name="T16" fmla="*/ 29 w 50"/>
                  <a:gd name="T17" fmla="*/ 3 h 23"/>
                  <a:gd name="T18" fmla="*/ 15 w 50"/>
                  <a:gd name="T19" fmla="*/ 0 h 23"/>
                  <a:gd name="T20" fmla="*/ 13 w 50"/>
                  <a:gd name="T21" fmla="*/ 2 h 23"/>
                  <a:gd name="T22" fmla="*/ 3 w 50"/>
                  <a:gd name="T23" fmla="*/ 2 h 23"/>
                  <a:gd name="T24" fmla="*/ 3 w 50"/>
                  <a:gd name="T25"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23">
                    <a:moveTo>
                      <a:pt x="3" y="3"/>
                    </a:moveTo>
                    <a:cubicBezTo>
                      <a:pt x="3" y="4"/>
                      <a:pt x="8" y="7"/>
                      <a:pt x="11" y="8"/>
                    </a:cubicBezTo>
                    <a:cubicBezTo>
                      <a:pt x="13" y="10"/>
                      <a:pt x="35" y="20"/>
                      <a:pt x="37" y="22"/>
                    </a:cubicBezTo>
                    <a:cubicBezTo>
                      <a:pt x="39" y="23"/>
                      <a:pt x="41" y="23"/>
                      <a:pt x="43" y="22"/>
                    </a:cubicBezTo>
                    <a:cubicBezTo>
                      <a:pt x="46" y="21"/>
                      <a:pt x="43" y="20"/>
                      <a:pt x="41" y="18"/>
                    </a:cubicBezTo>
                    <a:cubicBezTo>
                      <a:pt x="38" y="16"/>
                      <a:pt x="46" y="13"/>
                      <a:pt x="48" y="12"/>
                    </a:cubicBezTo>
                    <a:cubicBezTo>
                      <a:pt x="50" y="12"/>
                      <a:pt x="48" y="10"/>
                      <a:pt x="47" y="10"/>
                    </a:cubicBezTo>
                    <a:cubicBezTo>
                      <a:pt x="46" y="10"/>
                      <a:pt x="44" y="9"/>
                      <a:pt x="42" y="7"/>
                    </a:cubicBezTo>
                    <a:cubicBezTo>
                      <a:pt x="41" y="6"/>
                      <a:pt x="33" y="4"/>
                      <a:pt x="29" y="3"/>
                    </a:cubicBezTo>
                    <a:cubicBezTo>
                      <a:pt x="26" y="1"/>
                      <a:pt x="18" y="1"/>
                      <a:pt x="15" y="0"/>
                    </a:cubicBezTo>
                    <a:cubicBezTo>
                      <a:pt x="13" y="0"/>
                      <a:pt x="14" y="2"/>
                      <a:pt x="13" y="2"/>
                    </a:cubicBezTo>
                    <a:cubicBezTo>
                      <a:pt x="11" y="2"/>
                      <a:pt x="7" y="2"/>
                      <a:pt x="3" y="2"/>
                    </a:cubicBezTo>
                    <a:cubicBezTo>
                      <a:pt x="0" y="1"/>
                      <a:pt x="3" y="3"/>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58" name="Freeform 1170">
                <a:extLst>
                  <a:ext uri="{FF2B5EF4-FFF2-40B4-BE49-F238E27FC236}">
                    <a16:creationId xmlns:a16="http://schemas.microsoft.com/office/drawing/2014/main" id="{109285E0-C5E5-40BB-91F8-C43EADEFB8DA}"/>
                  </a:ext>
                </a:extLst>
              </p:cNvPr>
              <p:cNvSpPr>
                <a:spLocks/>
              </p:cNvSpPr>
              <p:nvPr/>
            </p:nvSpPr>
            <p:spPr bwMode="auto">
              <a:xfrm>
                <a:off x="3001" y="844"/>
                <a:ext cx="53" cy="31"/>
              </a:xfrm>
              <a:custGeom>
                <a:avLst/>
                <a:gdLst>
                  <a:gd name="T0" fmla="*/ 36 w 38"/>
                  <a:gd name="T1" fmla="*/ 12 h 22"/>
                  <a:gd name="T2" fmla="*/ 35 w 38"/>
                  <a:gd name="T3" fmla="*/ 10 h 22"/>
                  <a:gd name="T4" fmla="*/ 31 w 38"/>
                  <a:gd name="T5" fmla="*/ 8 h 22"/>
                  <a:gd name="T6" fmla="*/ 28 w 38"/>
                  <a:gd name="T7" fmla="*/ 7 h 22"/>
                  <a:gd name="T8" fmla="*/ 21 w 38"/>
                  <a:gd name="T9" fmla="*/ 2 h 22"/>
                  <a:gd name="T10" fmla="*/ 14 w 38"/>
                  <a:gd name="T11" fmla="*/ 1 h 22"/>
                  <a:gd name="T12" fmla="*/ 8 w 38"/>
                  <a:gd name="T13" fmla="*/ 0 h 22"/>
                  <a:gd name="T14" fmla="*/ 1 w 38"/>
                  <a:gd name="T15" fmla="*/ 0 h 22"/>
                  <a:gd name="T16" fmla="*/ 1 w 38"/>
                  <a:gd name="T17" fmla="*/ 7 h 22"/>
                  <a:gd name="T18" fmla="*/ 4 w 38"/>
                  <a:gd name="T19" fmla="*/ 9 h 22"/>
                  <a:gd name="T20" fmla="*/ 5 w 38"/>
                  <a:gd name="T21" fmla="*/ 11 h 22"/>
                  <a:gd name="T22" fmla="*/ 7 w 38"/>
                  <a:gd name="T23" fmla="*/ 11 h 22"/>
                  <a:gd name="T24" fmla="*/ 19 w 38"/>
                  <a:gd name="T25" fmla="*/ 16 h 22"/>
                  <a:gd name="T26" fmla="*/ 31 w 38"/>
                  <a:gd name="T27" fmla="*/ 22 h 22"/>
                  <a:gd name="T28" fmla="*/ 35 w 38"/>
                  <a:gd name="T29" fmla="*/ 17 h 22"/>
                  <a:gd name="T30" fmla="*/ 33 w 38"/>
                  <a:gd name="T31" fmla="*/ 17 h 22"/>
                  <a:gd name="T32" fmla="*/ 32 w 38"/>
                  <a:gd name="T33" fmla="*/ 16 h 22"/>
                  <a:gd name="T34" fmla="*/ 27 w 38"/>
                  <a:gd name="T35" fmla="*/ 15 h 22"/>
                  <a:gd name="T36" fmla="*/ 36 w 38"/>
                  <a:gd name="T37"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22">
                    <a:moveTo>
                      <a:pt x="36" y="12"/>
                    </a:moveTo>
                    <a:cubicBezTo>
                      <a:pt x="38" y="11"/>
                      <a:pt x="36" y="10"/>
                      <a:pt x="35" y="10"/>
                    </a:cubicBezTo>
                    <a:cubicBezTo>
                      <a:pt x="34" y="10"/>
                      <a:pt x="33" y="9"/>
                      <a:pt x="31" y="8"/>
                    </a:cubicBezTo>
                    <a:cubicBezTo>
                      <a:pt x="30" y="7"/>
                      <a:pt x="29" y="8"/>
                      <a:pt x="28" y="7"/>
                    </a:cubicBezTo>
                    <a:cubicBezTo>
                      <a:pt x="27" y="7"/>
                      <a:pt x="21" y="4"/>
                      <a:pt x="21" y="2"/>
                    </a:cubicBezTo>
                    <a:cubicBezTo>
                      <a:pt x="20" y="1"/>
                      <a:pt x="15" y="1"/>
                      <a:pt x="14" y="1"/>
                    </a:cubicBezTo>
                    <a:cubicBezTo>
                      <a:pt x="13" y="0"/>
                      <a:pt x="9" y="1"/>
                      <a:pt x="8" y="0"/>
                    </a:cubicBezTo>
                    <a:cubicBezTo>
                      <a:pt x="7" y="0"/>
                      <a:pt x="2" y="0"/>
                      <a:pt x="1" y="0"/>
                    </a:cubicBezTo>
                    <a:cubicBezTo>
                      <a:pt x="0" y="1"/>
                      <a:pt x="0" y="5"/>
                      <a:pt x="1" y="7"/>
                    </a:cubicBezTo>
                    <a:cubicBezTo>
                      <a:pt x="1" y="9"/>
                      <a:pt x="4" y="9"/>
                      <a:pt x="4" y="9"/>
                    </a:cubicBezTo>
                    <a:cubicBezTo>
                      <a:pt x="4" y="9"/>
                      <a:pt x="5" y="9"/>
                      <a:pt x="5" y="11"/>
                    </a:cubicBezTo>
                    <a:cubicBezTo>
                      <a:pt x="5" y="12"/>
                      <a:pt x="6" y="12"/>
                      <a:pt x="7" y="11"/>
                    </a:cubicBezTo>
                    <a:cubicBezTo>
                      <a:pt x="9" y="11"/>
                      <a:pt x="16" y="14"/>
                      <a:pt x="19" y="16"/>
                    </a:cubicBezTo>
                    <a:cubicBezTo>
                      <a:pt x="23" y="17"/>
                      <a:pt x="27" y="21"/>
                      <a:pt x="31" y="22"/>
                    </a:cubicBezTo>
                    <a:cubicBezTo>
                      <a:pt x="35" y="22"/>
                      <a:pt x="34" y="19"/>
                      <a:pt x="35" y="17"/>
                    </a:cubicBezTo>
                    <a:cubicBezTo>
                      <a:pt x="35" y="16"/>
                      <a:pt x="33" y="17"/>
                      <a:pt x="33" y="17"/>
                    </a:cubicBezTo>
                    <a:cubicBezTo>
                      <a:pt x="32" y="18"/>
                      <a:pt x="32" y="17"/>
                      <a:pt x="32" y="16"/>
                    </a:cubicBezTo>
                    <a:cubicBezTo>
                      <a:pt x="31" y="15"/>
                      <a:pt x="27" y="15"/>
                      <a:pt x="27" y="15"/>
                    </a:cubicBezTo>
                    <a:cubicBezTo>
                      <a:pt x="19" y="12"/>
                      <a:pt x="33" y="12"/>
                      <a:pt x="36"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59" name="Freeform 1171">
                <a:extLst>
                  <a:ext uri="{FF2B5EF4-FFF2-40B4-BE49-F238E27FC236}">
                    <a16:creationId xmlns:a16="http://schemas.microsoft.com/office/drawing/2014/main" id="{43321C32-FD82-46C4-93DF-1F9FCA728B0D}"/>
                  </a:ext>
                </a:extLst>
              </p:cNvPr>
              <p:cNvSpPr>
                <a:spLocks/>
              </p:cNvSpPr>
              <p:nvPr/>
            </p:nvSpPr>
            <p:spPr bwMode="auto">
              <a:xfrm>
                <a:off x="2995" y="838"/>
                <a:ext cx="57" cy="15"/>
              </a:xfrm>
              <a:custGeom>
                <a:avLst/>
                <a:gdLst>
                  <a:gd name="T0" fmla="*/ 41 w 41"/>
                  <a:gd name="T1" fmla="*/ 9 h 11"/>
                  <a:gd name="T2" fmla="*/ 39 w 41"/>
                  <a:gd name="T3" fmla="*/ 7 h 11"/>
                  <a:gd name="T4" fmla="*/ 40 w 41"/>
                  <a:gd name="T5" fmla="*/ 5 h 11"/>
                  <a:gd name="T6" fmla="*/ 37 w 41"/>
                  <a:gd name="T7" fmla="*/ 2 h 11"/>
                  <a:gd name="T8" fmla="*/ 23 w 41"/>
                  <a:gd name="T9" fmla="*/ 0 h 11"/>
                  <a:gd name="T10" fmla="*/ 17 w 41"/>
                  <a:gd name="T11" fmla="*/ 1 h 11"/>
                  <a:gd name="T12" fmla="*/ 4 w 41"/>
                  <a:gd name="T13" fmla="*/ 2 h 11"/>
                  <a:gd name="T14" fmla="*/ 4 w 41"/>
                  <a:gd name="T15" fmla="*/ 3 h 11"/>
                  <a:gd name="T16" fmla="*/ 29 w 41"/>
                  <a:gd name="T17" fmla="*/ 7 h 11"/>
                  <a:gd name="T18" fmla="*/ 30 w 41"/>
                  <a:gd name="T19" fmla="*/ 9 h 11"/>
                  <a:gd name="T20" fmla="*/ 37 w 41"/>
                  <a:gd name="T21" fmla="*/ 10 h 11"/>
                  <a:gd name="T22" fmla="*/ 39 w 41"/>
                  <a:gd name="T23" fmla="*/ 10 h 11"/>
                  <a:gd name="T24" fmla="*/ 41 w 41"/>
                  <a:gd name="T25"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11">
                    <a:moveTo>
                      <a:pt x="41" y="9"/>
                    </a:moveTo>
                    <a:cubicBezTo>
                      <a:pt x="40" y="8"/>
                      <a:pt x="41" y="8"/>
                      <a:pt x="39" y="7"/>
                    </a:cubicBezTo>
                    <a:cubicBezTo>
                      <a:pt x="37" y="6"/>
                      <a:pt x="39" y="6"/>
                      <a:pt x="40" y="5"/>
                    </a:cubicBezTo>
                    <a:cubicBezTo>
                      <a:pt x="41" y="4"/>
                      <a:pt x="40" y="3"/>
                      <a:pt x="37" y="2"/>
                    </a:cubicBezTo>
                    <a:cubicBezTo>
                      <a:pt x="35" y="1"/>
                      <a:pt x="25" y="0"/>
                      <a:pt x="23" y="0"/>
                    </a:cubicBezTo>
                    <a:cubicBezTo>
                      <a:pt x="22" y="0"/>
                      <a:pt x="19" y="0"/>
                      <a:pt x="17" y="1"/>
                    </a:cubicBezTo>
                    <a:cubicBezTo>
                      <a:pt x="14" y="2"/>
                      <a:pt x="9" y="1"/>
                      <a:pt x="4" y="2"/>
                    </a:cubicBezTo>
                    <a:cubicBezTo>
                      <a:pt x="0" y="2"/>
                      <a:pt x="3" y="3"/>
                      <a:pt x="4" y="3"/>
                    </a:cubicBezTo>
                    <a:cubicBezTo>
                      <a:pt x="12" y="3"/>
                      <a:pt x="27" y="7"/>
                      <a:pt x="29" y="7"/>
                    </a:cubicBezTo>
                    <a:cubicBezTo>
                      <a:pt x="30" y="8"/>
                      <a:pt x="31" y="9"/>
                      <a:pt x="30" y="9"/>
                    </a:cubicBezTo>
                    <a:cubicBezTo>
                      <a:pt x="29" y="10"/>
                      <a:pt x="37" y="10"/>
                      <a:pt x="37" y="10"/>
                    </a:cubicBezTo>
                    <a:cubicBezTo>
                      <a:pt x="38" y="10"/>
                      <a:pt x="39" y="9"/>
                      <a:pt x="39" y="10"/>
                    </a:cubicBezTo>
                    <a:cubicBezTo>
                      <a:pt x="40" y="11"/>
                      <a:pt x="41" y="10"/>
                      <a:pt x="41"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60" name="Freeform 1172">
                <a:extLst>
                  <a:ext uri="{FF2B5EF4-FFF2-40B4-BE49-F238E27FC236}">
                    <a16:creationId xmlns:a16="http://schemas.microsoft.com/office/drawing/2014/main" id="{0C6317BC-23F9-487C-8548-16477109E57B}"/>
                  </a:ext>
                </a:extLst>
              </p:cNvPr>
              <p:cNvSpPr>
                <a:spLocks/>
              </p:cNvSpPr>
              <p:nvPr/>
            </p:nvSpPr>
            <p:spPr bwMode="auto">
              <a:xfrm>
                <a:off x="2984" y="823"/>
                <a:ext cx="45" cy="8"/>
              </a:xfrm>
              <a:custGeom>
                <a:avLst/>
                <a:gdLst>
                  <a:gd name="T0" fmla="*/ 29 w 32"/>
                  <a:gd name="T1" fmla="*/ 6 h 6"/>
                  <a:gd name="T2" fmla="*/ 23 w 32"/>
                  <a:gd name="T3" fmla="*/ 3 h 6"/>
                  <a:gd name="T4" fmla="*/ 3 w 32"/>
                  <a:gd name="T5" fmla="*/ 0 h 6"/>
                  <a:gd name="T6" fmla="*/ 1 w 32"/>
                  <a:gd name="T7" fmla="*/ 2 h 6"/>
                  <a:gd name="T8" fmla="*/ 4 w 32"/>
                  <a:gd name="T9" fmla="*/ 3 h 6"/>
                  <a:gd name="T10" fmla="*/ 11 w 32"/>
                  <a:gd name="T11" fmla="*/ 4 h 6"/>
                  <a:gd name="T12" fmla="*/ 20 w 32"/>
                  <a:gd name="T13" fmla="*/ 5 h 6"/>
                  <a:gd name="T14" fmla="*/ 29 w 32"/>
                  <a:gd name="T15" fmla="*/ 6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6">
                    <a:moveTo>
                      <a:pt x="29" y="6"/>
                    </a:moveTo>
                    <a:cubicBezTo>
                      <a:pt x="32" y="6"/>
                      <a:pt x="28" y="4"/>
                      <a:pt x="23" y="3"/>
                    </a:cubicBezTo>
                    <a:cubicBezTo>
                      <a:pt x="19" y="1"/>
                      <a:pt x="5" y="0"/>
                      <a:pt x="3" y="0"/>
                    </a:cubicBezTo>
                    <a:cubicBezTo>
                      <a:pt x="1" y="0"/>
                      <a:pt x="0" y="1"/>
                      <a:pt x="1" y="2"/>
                    </a:cubicBezTo>
                    <a:cubicBezTo>
                      <a:pt x="3" y="3"/>
                      <a:pt x="4" y="3"/>
                      <a:pt x="4" y="3"/>
                    </a:cubicBezTo>
                    <a:cubicBezTo>
                      <a:pt x="4" y="3"/>
                      <a:pt x="9" y="4"/>
                      <a:pt x="11" y="4"/>
                    </a:cubicBezTo>
                    <a:cubicBezTo>
                      <a:pt x="13" y="4"/>
                      <a:pt x="16" y="4"/>
                      <a:pt x="20" y="5"/>
                    </a:cubicBezTo>
                    <a:cubicBezTo>
                      <a:pt x="23" y="6"/>
                      <a:pt x="26" y="6"/>
                      <a:pt x="29"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61" name="Freeform 1173">
                <a:extLst>
                  <a:ext uri="{FF2B5EF4-FFF2-40B4-BE49-F238E27FC236}">
                    <a16:creationId xmlns:a16="http://schemas.microsoft.com/office/drawing/2014/main" id="{DDF0A47B-33AF-47D1-8B14-6C18B002B002}"/>
                  </a:ext>
                </a:extLst>
              </p:cNvPr>
              <p:cNvSpPr>
                <a:spLocks/>
              </p:cNvSpPr>
              <p:nvPr/>
            </p:nvSpPr>
            <p:spPr bwMode="auto">
              <a:xfrm>
                <a:off x="3062" y="833"/>
                <a:ext cx="8" cy="3"/>
              </a:xfrm>
              <a:custGeom>
                <a:avLst/>
                <a:gdLst>
                  <a:gd name="T0" fmla="*/ 1 w 6"/>
                  <a:gd name="T1" fmla="*/ 1 h 2"/>
                  <a:gd name="T2" fmla="*/ 2 w 6"/>
                  <a:gd name="T3" fmla="*/ 0 h 2"/>
                  <a:gd name="T4" fmla="*/ 1 w 6"/>
                  <a:gd name="T5" fmla="*/ 1 h 2"/>
                </a:gdLst>
                <a:ahLst/>
                <a:cxnLst>
                  <a:cxn ang="0">
                    <a:pos x="T0" y="T1"/>
                  </a:cxn>
                  <a:cxn ang="0">
                    <a:pos x="T2" y="T3"/>
                  </a:cxn>
                  <a:cxn ang="0">
                    <a:pos x="T4" y="T5"/>
                  </a:cxn>
                </a:cxnLst>
                <a:rect l="0" t="0" r="r" b="b"/>
                <a:pathLst>
                  <a:path w="6" h="2">
                    <a:moveTo>
                      <a:pt x="1" y="1"/>
                    </a:moveTo>
                    <a:cubicBezTo>
                      <a:pt x="6" y="2"/>
                      <a:pt x="4" y="0"/>
                      <a:pt x="2" y="0"/>
                    </a:cubicBezTo>
                    <a:cubicBezTo>
                      <a:pt x="0" y="0"/>
                      <a:pt x="1" y="1"/>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62" name="Freeform 1174">
                <a:extLst>
                  <a:ext uri="{FF2B5EF4-FFF2-40B4-BE49-F238E27FC236}">
                    <a16:creationId xmlns:a16="http://schemas.microsoft.com/office/drawing/2014/main" id="{79C77BD9-D067-48D6-B403-16586557A68D}"/>
                  </a:ext>
                </a:extLst>
              </p:cNvPr>
              <p:cNvSpPr>
                <a:spLocks/>
              </p:cNvSpPr>
              <p:nvPr/>
            </p:nvSpPr>
            <p:spPr bwMode="auto">
              <a:xfrm>
                <a:off x="3049" y="783"/>
                <a:ext cx="42" cy="16"/>
              </a:xfrm>
              <a:custGeom>
                <a:avLst/>
                <a:gdLst>
                  <a:gd name="T0" fmla="*/ 25 w 30"/>
                  <a:gd name="T1" fmla="*/ 2 h 12"/>
                  <a:gd name="T2" fmla="*/ 19 w 30"/>
                  <a:gd name="T3" fmla="*/ 0 h 12"/>
                  <a:gd name="T4" fmla="*/ 15 w 30"/>
                  <a:gd name="T5" fmla="*/ 0 h 12"/>
                  <a:gd name="T6" fmla="*/ 3 w 30"/>
                  <a:gd name="T7" fmla="*/ 5 h 12"/>
                  <a:gd name="T8" fmla="*/ 3 w 30"/>
                  <a:gd name="T9" fmla="*/ 7 h 12"/>
                  <a:gd name="T10" fmla="*/ 11 w 30"/>
                  <a:gd name="T11" fmla="*/ 10 h 12"/>
                  <a:gd name="T12" fmla="*/ 24 w 30"/>
                  <a:gd name="T13" fmla="*/ 8 h 12"/>
                  <a:gd name="T14" fmla="*/ 27 w 30"/>
                  <a:gd name="T15" fmla="*/ 6 h 12"/>
                  <a:gd name="T16" fmla="*/ 25 w 30"/>
                  <a:gd name="T17"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12">
                    <a:moveTo>
                      <a:pt x="25" y="2"/>
                    </a:moveTo>
                    <a:cubicBezTo>
                      <a:pt x="24" y="0"/>
                      <a:pt x="21" y="0"/>
                      <a:pt x="19" y="0"/>
                    </a:cubicBezTo>
                    <a:cubicBezTo>
                      <a:pt x="17" y="0"/>
                      <a:pt x="15" y="0"/>
                      <a:pt x="15" y="0"/>
                    </a:cubicBezTo>
                    <a:cubicBezTo>
                      <a:pt x="15" y="0"/>
                      <a:pt x="7" y="3"/>
                      <a:pt x="3" y="5"/>
                    </a:cubicBezTo>
                    <a:cubicBezTo>
                      <a:pt x="0" y="7"/>
                      <a:pt x="3" y="7"/>
                      <a:pt x="3" y="7"/>
                    </a:cubicBezTo>
                    <a:cubicBezTo>
                      <a:pt x="5" y="6"/>
                      <a:pt x="8" y="9"/>
                      <a:pt x="11" y="10"/>
                    </a:cubicBezTo>
                    <a:cubicBezTo>
                      <a:pt x="13" y="12"/>
                      <a:pt x="18" y="10"/>
                      <a:pt x="24" y="8"/>
                    </a:cubicBezTo>
                    <a:cubicBezTo>
                      <a:pt x="30" y="7"/>
                      <a:pt x="28" y="6"/>
                      <a:pt x="27" y="6"/>
                    </a:cubicBezTo>
                    <a:cubicBezTo>
                      <a:pt x="25" y="6"/>
                      <a:pt x="25" y="5"/>
                      <a:pt x="25"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63" name="Freeform 1175">
                <a:extLst>
                  <a:ext uri="{FF2B5EF4-FFF2-40B4-BE49-F238E27FC236}">
                    <a16:creationId xmlns:a16="http://schemas.microsoft.com/office/drawing/2014/main" id="{7AA6C1E3-340E-41D3-A2C7-51B90A2E02D3}"/>
                  </a:ext>
                </a:extLst>
              </p:cNvPr>
              <p:cNvSpPr>
                <a:spLocks/>
              </p:cNvSpPr>
              <p:nvPr/>
            </p:nvSpPr>
            <p:spPr bwMode="auto">
              <a:xfrm>
                <a:off x="3077" y="757"/>
                <a:ext cx="22" cy="15"/>
              </a:xfrm>
              <a:custGeom>
                <a:avLst/>
                <a:gdLst>
                  <a:gd name="T0" fmla="*/ 7 w 16"/>
                  <a:gd name="T1" fmla="*/ 11 h 11"/>
                  <a:gd name="T2" fmla="*/ 14 w 16"/>
                  <a:gd name="T3" fmla="*/ 7 h 11"/>
                  <a:gd name="T4" fmla="*/ 10 w 16"/>
                  <a:gd name="T5" fmla="*/ 5 h 11"/>
                  <a:gd name="T6" fmla="*/ 10 w 16"/>
                  <a:gd name="T7" fmla="*/ 3 h 11"/>
                  <a:gd name="T8" fmla="*/ 9 w 16"/>
                  <a:gd name="T9" fmla="*/ 1 h 11"/>
                  <a:gd name="T10" fmla="*/ 4 w 16"/>
                  <a:gd name="T11" fmla="*/ 2 h 11"/>
                  <a:gd name="T12" fmla="*/ 3 w 16"/>
                  <a:gd name="T13" fmla="*/ 4 h 11"/>
                  <a:gd name="T14" fmla="*/ 2 w 16"/>
                  <a:gd name="T15" fmla="*/ 7 h 11"/>
                  <a:gd name="T16" fmla="*/ 7 w 16"/>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1">
                    <a:moveTo>
                      <a:pt x="7" y="11"/>
                    </a:moveTo>
                    <a:cubicBezTo>
                      <a:pt x="9" y="11"/>
                      <a:pt x="13" y="9"/>
                      <a:pt x="14" y="7"/>
                    </a:cubicBezTo>
                    <a:cubicBezTo>
                      <a:pt x="16" y="5"/>
                      <a:pt x="13" y="5"/>
                      <a:pt x="10" y="5"/>
                    </a:cubicBezTo>
                    <a:cubicBezTo>
                      <a:pt x="7" y="4"/>
                      <a:pt x="9" y="4"/>
                      <a:pt x="10" y="3"/>
                    </a:cubicBezTo>
                    <a:cubicBezTo>
                      <a:pt x="11" y="3"/>
                      <a:pt x="11" y="2"/>
                      <a:pt x="9" y="1"/>
                    </a:cubicBezTo>
                    <a:cubicBezTo>
                      <a:pt x="7" y="1"/>
                      <a:pt x="6" y="0"/>
                      <a:pt x="4" y="2"/>
                    </a:cubicBezTo>
                    <a:cubicBezTo>
                      <a:pt x="1" y="3"/>
                      <a:pt x="3" y="4"/>
                      <a:pt x="3" y="4"/>
                    </a:cubicBezTo>
                    <a:cubicBezTo>
                      <a:pt x="3" y="5"/>
                      <a:pt x="3" y="6"/>
                      <a:pt x="2" y="7"/>
                    </a:cubicBezTo>
                    <a:cubicBezTo>
                      <a:pt x="0" y="8"/>
                      <a:pt x="5" y="10"/>
                      <a:pt x="7" y="1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64" name="Freeform 1176">
                <a:extLst>
                  <a:ext uri="{FF2B5EF4-FFF2-40B4-BE49-F238E27FC236}">
                    <a16:creationId xmlns:a16="http://schemas.microsoft.com/office/drawing/2014/main" id="{C869F521-8E70-4889-9D09-AABDC8CBE8D4}"/>
                  </a:ext>
                </a:extLst>
              </p:cNvPr>
              <p:cNvSpPr>
                <a:spLocks/>
              </p:cNvSpPr>
              <p:nvPr/>
            </p:nvSpPr>
            <p:spPr bwMode="auto">
              <a:xfrm>
                <a:off x="3116" y="742"/>
                <a:ext cx="33" cy="20"/>
              </a:xfrm>
              <a:custGeom>
                <a:avLst/>
                <a:gdLst>
                  <a:gd name="T0" fmla="*/ 22 w 24"/>
                  <a:gd name="T1" fmla="*/ 13 h 15"/>
                  <a:gd name="T2" fmla="*/ 24 w 24"/>
                  <a:gd name="T3" fmla="*/ 10 h 15"/>
                  <a:gd name="T4" fmla="*/ 19 w 24"/>
                  <a:gd name="T5" fmla="*/ 10 h 15"/>
                  <a:gd name="T6" fmla="*/ 14 w 24"/>
                  <a:gd name="T7" fmla="*/ 9 h 15"/>
                  <a:gd name="T8" fmla="*/ 15 w 24"/>
                  <a:gd name="T9" fmla="*/ 5 h 15"/>
                  <a:gd name="T10" fmla="*/ 13 w 24"/>
                  <a:gd name="T11" fmla="*/ 1 h 15"/>
                  <a:gd name="T12" fmla="*/ 10 w 24"/>
                  <a:gd name="T13" fmla="*/ 4 h 15"/>
                  <a:gd name="T14" fmla="*/ 7 w 24"/>
                  <a:gd name="T15" fmla="*/ 3 h 15"/>
                  <a:gd name="T16" fmla="*/ 1 w 24"/>
                  <a:gd name="T17" fmla="*/ 3 h 15"/>
                  <a:gd name="T18" fmla="*/ 1 w 24"/>
                  <a:gd name="T19" fmla="*/ 6 h 15"/>
                  <a:gd name="T20" fmla="*/ 0 w 24"/>
                  <a:gd name="T21" fmla="*/ 12 h 15"/>
                  <a:gd name="T22" fmla="*/ 2 w 24"/>
                  <a:gd name="T23" fmla="*/ 13 h 15"/>
                  <a:gd name="T24" fmla="*/ 9 w 24"/>
                  <a:gd name="T25" fmla="*/ 14 h 15"/>
                  <a:gd name="T26" fmla="*/ 15 w 24"/>
                  <a:gd name="T27" fmla="*/ 14 h 15"/>
                  <a:gd name="T28" fmla="*/ 21 w 24"/>
                  <a:gd name="T29" fmla="*/ 15 h 15"/>
                  <a:gd name="T30" fmla="*/ 22 w 24"/>
                  <a:gd name="T31" fmla="*/ 13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15">
                    <a:moveTo>
                      <a:pt x="22" y="13"/>
                    </a:moveTo>
                    <a:cubicBezTo>
                      <a:pt x="23" y="12"/>
                      <a:pt x="24" y="11"/>
                      <a:pt x="24" y="10"/>
                    </a:cubicBezTo>
                    <a:cubicBezTo>
                      <a:pt x="24" y="8"/>
                      <a:pt x="20" y="9"/>
                      <a:pt x="19" y="10"/>
                    </a:cubicBezTo>
                    <a:cubicBezTo>
                      <a:pt x="18" y="12"/>
                      <a:pt x="17" y="11"/>
                      <a:pt x="14" y="9"/>
                    </a:cubicBezTo>
                    <a:cubicBezTo>
                      <a:pt x="12" y="8"/>
                      <a:pt x="13" y="7"/>
                      <a:pt x="15" y="5"/>
                    </a:cubicBezTo>
                    <a:cubicBezTo>
                      <a:pt x="17" y="3"/>
                      <a:pt x="15" y="2"/>
                      <a:pt x="13" y="1"/>
                    </a:cubicBezTo>
                    <a:cubicBezTo>
                      <a:pt x="11" y="0"/>
                      <a:pt x="11" y="3"/>
                      <a:pt x="10" y="4"/>
                    </a:cubicBezTo>
                    <a:cubicBezTo>
                      <a:pt x="9" y="6"/>
                      <a:pt x="8" y="4"/>
                      <a:pt x="7" y="3"/>
                    </a:cubicBezTo>
                    <a:cubicBezTo>
                      <a:pt x="5" y="2"/>
                      <a:pt x="2" y="3"/>
                      <a:pt x="1" y="3"/>
                    </a:cubicBezTo>
                    <a:cubicBezTo>
                      <a:pt x="0" y="4"/>
                      <a:pt x="0" y="4"/>
                      <a:pt x="1" y="6"/>
                    </a:cubicBezTo>
                    <a:cubicBezTo>
                      <a:pt x="1" y="7"/>
                      <a:pt x="0" y="9"/>
                      <a:pt x="0" y="12"/>
                    </a:cubicBezTo>
                    <a:cubicBezTo>
                      <a:pt x="0" y="14"/>
                      <a:pt x="2" y="13"/>
                      <a:pt x="2" y="13"/>
                    </a:cubicBezTo>
                    <a:cubicBezTo>
                      <a:pt x="3" y="14"/>
                      <a:pt x="6" y="14"/>
                      <a:pt x="9" y="14"/>
                    </a:cubicBezTo>
                    <a:cubicBezTo>
                      <a:pt x="11" y="13"/>
                      <a:pt x="13" y="14"/>
                      <a:pt x="15" y="14"/>
                    </a:cubicBezTo>
                    <a:cubicBezTo>
                      <a:pt x="17" y="15"/>
                      <a:pt x="18" y="15"/>
                      <a:pt x="21" y="15"/>
                    </a:cubicBezTo>
                    <a:cubicBezTo>
                      <a:pt x="23" y="14"/>
                      <a:pt x="21" y="14"/>
                      <a:pt x="22" y="1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65" name="Freeform 1177">
                <a:extLst>
                  <a:ext uri="{FF2B5EF4-FFF2-40B4-BE49-F238E27FC236}">
                    <a16:creationId xmlns:a16="http://schemas.microsoft.com/office/drawing/2014/main" id="{87D8D592-B0BF-4728-827B-A265DC6EA02A}"/>
                  </a:ext>
                </a:extLst>
              </p:cNvPr>
              <p:cNvSpPr>
                <a:spLocks/>
              </p:cNvSpPr>
              <p:nvPr/>
            </p:nvSpPr>
            <p:spPr bwMode="auto">
              <a:xfrm>
                <a:off x="3110" y="687"/>
                <a:ext cx="13" cy="38"/>
              </a:xfrm>
              <a:custGeom>
                <a:avLst/>
                <a:gdLst>
                  <a:gd name="T0" fmla="*/ 5 w 9"/>
                  <a:gd name="T1" fmla="*/ 6 h 28"/>
                  <a:gd name="T2" fmla="*/ 1 w 9"/>
                  <a:gd name="T3" fmla="*/ 7 h 28"/>
                  <a:gd name="T4" fmla="*/ 2 w 9"/>
                  <a:gd name="T5" fmla="*/ 11 h 28"/>
                  <a:gd name="T6" fmla="*/ 4 w 9"/>
                  <a:gd name="T7" fmla="*/ 16 h 28"/>
                  <a:gd name="T8" fmla="*/ 6 w 9"/>
                  <a:gd name="T9" fmla="*/ 20 h 28"/>
                  <a:gd name="T10" fmla="*/ 7 w 9"/>
                  <a:gd name="T11" fmla="*/ 25 h 28"/>
                  <a:gd name="T12" fmla="*/ 9 w 9"/>
                  <a:gd name="T13" fmla="*/ 26 h 28"/>
                  <a:gd name="T14" fmla="*/ 8 w 9"/>
                  <a:gd name="T15" fmla="*/ 19 h 28"/>
                  <a:gd name="T16" fmla="*/ 7 w 9"/>
                  <a:gd name="T17" fmla="*/ 13 h 28"/>
                  <a:gd name="T18" fmla="*/ 7 w 9"/>
                  <a:gd name="T19" fmla="*/ 2 h 28"/>
                  <a:gd name="T20" fmla="*/ 2 w 9"/>
                  <a:gd name="T21" fmla="*/ 1 h 28"/>
                  <a:gd name="T22" fmla="*/ 2 w 9"/>
                  <a:gd name="T23" fmla="*/ 3 h 28"/>
                  <a:gd name="T24" fmla="*/ 4 w 9"/>
                  <a:gd name="T25" fmla="*/ 4 h 28"/>
                  <a:gd name="T26" fmla="*/ 5 w 9"/>
                  <a:gd name="T2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28">
                    <a:moveTo>
                      <a:pt x="5" y="6"/>
                    </a:moveTo>
                    <a:cubicBezTo>
                      <a:pt x="3" y="5"/>
                      <a:pt x="2" y="5"/>
                      <a:pt x="1" y="7"/>
                    </a:cubicBezTo>
                    <a:cubicBezTo>
                      <a:pt x="0" y="9"/>
                      <a:pt x="0" y="9"/>
                      <a:pt x="2" y="11"/>
                    </a:cubicBezTo>
                    <a:cubicBezTo>
                      <a:pt x="3" y="13"/>
                      <a:pt x="4" y="14"/>
                      <a:pt x="4" y="16"/>
                    </a:cubicBezTo>
                    <a:cubicBezTo>
                      <a:pt x="4" y="18"/>
                      <a:pt x="5" y="19"/>
                      <a:pt x="6" y="20"/>
                    </a:cubicBezTo>
                    <a:cubicBezTo>
                      <a:pt x="6" y="21"/>
                      <a:pt x="7" y="24"/>
                      <a:pt x="7" y="25"/>
                    </a:cubicBezTo>
                    <a:cubicBezTo>
                      <a:pt x="7" y="25"/>
                      <a:pt x="9" y="28"/>
                      <a:pt x="9" y="26"/>
                    </a:cubicBezTo>
                    <a:cubicBezTo>
                      <a:pt x="9" y="24"/>
                      <a:pt x="9" y="22"/>
                      <a:pt x="8" y="19"/>
                    </a:cubicBezTo>
                    <a:cubicBezTo>
                      <a:pt x="7" y="16"/>
                      <a:pt x="7" y="16"/>
                      <a:pt x="7" y="13"/>
                    </a:cubicBezTo>
                    <a:cubicBezTo>
                      <a:pt x="8" y="9"/>
                      <a:pt x="9" y="4"/>
                      <a:pt x="7" y="2"/>
                    </a:cubicBezTo>
                    <a:cubicBezTo>
                      <a:pt x="5" y="1"/>
                      <a:pt x="3" y="0"/>
                      <a:pt x="2" y="1"/>
                    </a:cubicBezTo>
                    <a:cubicBezTo>
                      <a:pt x="1" y="1"/>
                      <a:pt x="1" y="1"/>
                      <a:pt x="2" y="3"/>
                    </a:cubicBezTo>
                    <a:cubicBezTo>
                      <a:pt x="3" y="4"/>
                      <a:pt x="2" y="4"/>
                      <a:pt x="4" y="4"/>
                    </a:cubicBezTo>
                    <a:cubicBezTo>
                      <a:pt x="5" y="4"/>
                      <a:pt x="7" y="6"/>
                      <a:pt x="5"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66" name="Freeform 1178">
                <a:extLst>
                  <a:ext uri="{FF2B5EF4-FFF2-40B4-BE49-F238E27FC236}">
                    <a16:creationId xmlns:a16="http://schemas.microsoft.com/office/drawing/2014/main" id="{322F766F-FA45-4DD6-825E-B725D8FB2E92}"/>
                  </a:ext>
                </a:extLst>
              </p:cNvPr>
              <p:cNvSpPr>
                <a:spLocks/>
              </p:cNvSpPr>
              <p:nvPr/>
            </p:nvSpPr>
            <p:spPr bwMode="auto">
              <a:xfrm>
                <a:off x="3077" y="633"/>
                <a:ext cx="30" cy="8"/>
              </a:xfrm>
              <a:custGeom>
                <a:avLst/>
                <a:gdLst>
                  <a:gd name="T0" fmla="*/ 6 w 22"/>
                  <a:gd name="T1" fmla="*/ 3 h 6"/>
                  <a:gd name="T2" fmla="*/ 21 w 22"/>
                  <a:gd name="T3" fmla="*/ 6 h 6"/>
                  <a:gd name="T4" fmla="*/ 7 w 22"/>
                  <a:gd name="T5" fmla="*/ 2 h 6"/>
                  <a:gd name="T6" fmla="*/ 6 w 22"/>
                  <a:gd name="T7" fmla="*/ 3 h 6"/>
                </a:gdLst>
                <a:ahLst/>
                <a:cxnLst>
                  <a:cxn ang="0">
                    <a:pos x="T0" y="T1"/>
                  </a:cxn>
                  <a:cxn ang="0">
                    <a:pos x="T2" y="T3"/>
                  </a:cxn>
                  <a:cxn ang="0">
                    <a:pos x="T4" y="T5"/>
                  </a:cxn>
                  <a:cxn ang="0">
                    <a:pos x="T6" y="T7"/>
                  </a:cxn>
                </a:cxnLst>
                <a:rect l="0" t="0" r="r" b="b"/>
                <a:pathLst>
                  <a:path w="22" h="6">
                    <a:moveTo>
                      <a:pt x="6" y="3"/>
                    </a:moveTo>
                    <a:cubicBezTo>
                      <a:pt x="10" y="4"/>
                      <a:pt x="19" y="6"/>
                      <a:pt x="21" y="6"/>
                    </a:cubicBezTo>
                    <a:cubicBezTo>
                      <a:pt x="22" y="6"/>
                      <a:pt x="15" y="4"/>
                      <a:pt x="7" y="2"/>
                    </a:cubicBezTo>
                    <a:cubicBezTo>
                      <a:pt x="0" y="0"/>
                      <a:pt x="6" y="3"/>
                      <a:pt x="6"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1295" name="Freeform 1180">
              <a:extLst>
                <a:ext uri="{FF2B5EF4-FFF2-40B4-BE49-F238E27FC236}">
                  <a16:creationId xmlns:a16="http://schemas.microsoft.com/office/drawing/2014/main" id="{ECC9CBD8-66FB-42E5-B61A-92E182C069AA}"/>
                </a:ext>
              </a:extLst>
            </p:cNvPr>
            <p:cNvSpPr>
              <a:spLocks/>
            </p:cNvSpPr>
            <p:nvPr/>
          </p:nvSpPr>
          <p:spPr bwMode="auto">
            <a:xfrm>
              <a:off x="3128" y="636"/>
              <a:ext cx="15" cy="12"/>
            </a:xfrm>
            <a:custGeom>
              <a:avLst/>
              <a:gdLst>
                <a:gd name="T0" fmla="*/ 3 w 11"/>
                <a:gd name="T1" fmla="*/ 8 h 9"/>
                <a:gd name="T2" fmla="*/ 10 w 11"/>
                <a:gd name="T3" fmla="*/ 2 h 9"/>
                <a:gd name="T4" fmla="*/ 7 w 11"/>
                <a:gd name="T5" fmla="*/ 1 h 9"/>
                <a:gd name="T6" fmla="*/ 4 w 11"/>
                <a:gd name="T7" fmla="*/ 4 h 9"/>
                <a:gd name="T8" fmla="*/ 2 w 11"/>
                <a:gd name="T9" fmla="*/ 7 h 9"/>
                <a:gd name="T10" fmla="*/ 3 w 11"/>
                <a:gd name="T11" fmla="*/ 8 h 9"/>
              </a:gdLst>
              <a:ahLst/>
              <a:cxnLst>
                <a:cxn ang="0">
                  <a:pos x="T0" y="T1"/>
                </a:cxn>
                <a:cxn ang="0">
                  <a:pos x="T2" y="T3"/>
                </a:cxn>
                <a:cxn ang="0">
                  <a:pos x="T4" y="T5"/>
                </a:cxn>
                <a:cxn ang="0">
                  <a:pos x="T6" y="T7"/>
                </a:cxn>
                <a:cxn ang="0">
                  <a:pos x="T8" y="T9"/>
                </a:cxn>
                <a:cxn ang="0">
                  <a:pos x="T10" y="T11"/>
                </a:cxn>
              </a:cxnLst>
              <a:rect l="0" t="0" r="r" b="b"/>
              <a:pathLst>
                <a:path w="11" h="9">
                  <a:moveTo>
                    <a:pt x="3" y="8"/>
                  </a:moveTo>
                  <a:cubicBezTo>
                    <a:pt x="11" y="9"/>
                    <a:pt x="10" y="4"/>
                    <a:pt x="10" y="2"/>
                  </a:cubicBezTo>
                  <a:cubicBezTo>
                    <a:pt x="10" y="0"/>
                    <a:pt x="8" y="1"/>
                    <a:pt x="7" y="1"/>
                  </a:cubicBezTo>
                  <a:cubicBezTo>
                    <a:pt x="6" y="1"/>
                    <a:pt x="5" y="3"/>
                    <a:pt x="4" y="4"/>
                  </a:cubicBezTo>
                  <a:cubicBezTo>
                    <a:pt x="4" y="6"/>
                    <a:pt x="3" y="6"/>
                    <a:pt x="2" y="7"/>
                  </a:cubicBezTo>
                  <a:cubicBezTo>
                    <a:pt x="0" y="8"/>
                    <a:pt x="3" y="8"/>
                    <a:pt x="3"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296" name="Freeform 1181">
              <a:extLst>
                <a:ext uri="{FF2B5EF4-FFF2-40B4-BE49-F238E27FC236}">
                  <a16:creationId xmlns:a16="http://schemas.microsoft.com/office/drawing/2014/main" id="{87026FD7-17BD-43D3-A29D-2E2282487352}"/>
                </a:ext>
              </a:extLst>
            </p:cNvPr>
            <p:cNvSpPr>
              <a:spLocks/>
            </p:cNvSpPr>
            <p:nvPr/>
          </p:nvSpPr>
          <p:spPr bwMode="auto">
            <a:xfrm>
              <a:off x="3119" y="603"/>
              <a:ext cx="11" cy="3"/>
            </a:xfrm>
            <a:custGeom>
              <a:avLst/>
              <a:gdLst>
                <a:gd name="T0" fmla="*/ 2 w 8"/>
                <a:gd name="T1" fmla="*/ 1 h 2"/>
                <a:gd name="T2" fmla="*/ 4 w 8"/>
                <a:gd name="T3" fmla="*/ 1 h 2"/>
                <a:gd name="T4" fmla="*/ 5 w 8"/>
                <a:gd name="T5" fmla="*/ 0 h 2"/>
                <a:gd name="T6" fmla="*/ 2 w 8"/>
                <a:gd name="T7" fmla="*/ 1 h 2"/>
              </a:gdLst>
              <a:ahLst/>
              <a:cxnLst>
                <a:cxn ang="0">
                  <a:pos x="T0" y="T1"/>
                </a:cxn>
                <a:cxn ang="0">
                  <a:pos x="T2" y="T3"/>
                </a:cxn>
                <a:cxn ang="0">
                  <a:pos x="T4" y="T5"/>
                </a:cxn>
                <a:cxn ang="0">
                  <a:pos x="T6" y="T7"/>
                </a:cxn>
              </a:cxnLst>
              <a:rect l="0" t="0" r="r" b="b"/>
              <a:pathLst>
                <a:path w="8" h="2">
                  <a:moveTo>
                    <a:pt x="2" y="1"/>
                  </a:moveTo>
                  <a:cubicBezTo>
                    <a:pt x="0" y="2"/>
                    <a:pt x="1" y="2"/>
                    <a:pt x="4" y="1"/>
                  </a:cubicBezTo>
                  <a:cubicBezTo>
                    <a:pt x="4" y="1"/>
                    <a:pt x="8" y="1"/>
                    <a:pt x="5" y="0"/>
                  </a:cubicBezTo>
                  <a:cubicBezTo>
                    <a:pt x="3" y="0"/>
                    <a:pt x="3"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297" name="Freeform 1182">
              <a:extLst>
                <a:ext uri="{FF2B5EF4-FFF2-40B4-BE49-F238E27FC236}">
                  <a16:creationId xmlns:a16="http://schemas.microsoft.com/office/drawing/2014/main" id="{9E905484-605D-4B34-B1AC-9122255E82A5}"/>
                </a:ext>
              </a:extLst>
            </p:cNvPr>
            <p:cNvSpPr>
              <a:spLocks/>
            </p:cNvSpPr>
            <p:nvPr/>
          </p:nvSpPr>
          <p:spPr bwMode="auto">
            <a:xfrm>
              <a:off x="3095" y="586"/>
              <a:ext cx="15" cy="13"/>
            </a:xfrm>
            <a:custGeom>
              <a:avLst/>
              <a:gdLst>
                <a:gd name="T0" fmla="*/ 9 w 11"/>
                <a:gd name="T1" fmla="*/ 8 h 9"/>
                <a:gd name="T2" fmla="*/ 10 w 11"/>
                <a:gd name="T3" fmla="*/ 4 h 9"/>
                <a:gd name="T4" fmla="*/ 3 w 11"/>
                <a:gd name="T5" fmla="*/ 7 h 9"/>
                <a:gd name="T6" fmla="*/ 5 w 11"/>
                <a:gd name="T7" fmla="*/ 9 h 9"/>
                <a:gd name="T8" fmla="*/ 9 w 11"/>
                <a:gd name="T9" fmla="*/ 9 h 9"/>
                <a:gd name="T10" fmla="*/ 9 w 11"/>
                <a:gd name="T11" fmla="*/ 8 h 9"/>
              </a:gdLst>
              <a:ahLst/>
              <a:cxnLst>
                <a:cxn ang="0">
                  <a:pos x="T0" y="T1"/>
                </a:cxn>
                <a:cxn ang="0">
                  <a:pos x="T2" y="T3"/>
                </a:cxn>
                <a:cxn ang="0">
                  <a:pos x="T4" y="T5"/>
                </a:cxn>
                <a:cxn ang="0">
                  <a:pos x="T6" y="T7"/>
                </a:cxn>
                <a:cxn ang="0">
                  <a:pos x="T8" y="T9"/>
                </a:cxn>
                <a:cxn ang="0">
                  <a:pos x="T10" y="T11"/>
                </a:cxn>
              </a:cxnLst>
              <a:rect l="0" t="0" r="r" b="b"/>
              <a:pathLst>
                <a:path w="11" h="9">
                  <a:moveTo>
                    <a:pt x="9" y="8"/>
                  </a:moveTo>
                  <a:cubicBezTo>
                    <a:pt x="11" y="7"/>
                    <a:pt x="11" y="7"/>
                    <a:pt x="10" y="4"/>
                  </a:cubicBezTo>
                  <a:cubicBezTo>
                    <a:pt x="10" y="0"/>
                    <a:pt x="6" y="5"/>
                    <a:pt x="3" y="7"/>
                  </a:cubicBezTo>
                  <a:cubicBezTo>
                    <a:pt x="0" y="9"/>
                    <a:pt x="5" y="9"/>
                    <a:pt x="5" y="9"/>
                  </a:cubicBezTo>
                  <a:cubicBezTo>
                    <a:pt x="8" y="9"/>
                    <a:pt x="10" y="9"/>
                    <a:pt x="9" y="9"/>
                  </a:cubicBezTo>
                  <a:cubicBezTo>
                    <a:pt x="8" y="8"/>
                    <a:pt x="8" y="8"/>
                    <a:pt x="9"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298" name="Freeform 1183">
              <a:extLst>
                <a:ext uri="{FF2B5EF4-FFF2-40B4-BE49-F238E27FC236}">
                  <a16:creationId xmlns:a16="http://schemas.microsoft.com/office/drawing/2014/main" id="{EE8C5226-EDD9-46A0-915B-F85C6D29563A}"/>
                </a:ext>
              </a:extLst>
            </p:cNvPr>
            <p:cNvSpPr>
              <a:spLocks/>
            </p:cNvSpPr>
            <p:nvPr/>
          </p:nvSpPr>
          <p:spPr bwMode="auto">
            <a:xfrm>
              <a:off x="3131" y="577"/>
              <a:ext cx="11" cy="12"/>
            </a:xfrm>
            <a:custGeom>
              <a:avLst/>
              <a:gdLst>
                <a:gd name="T0" fmla="*/ 2 w 8"/>
                <a:gd name="T1" fmla="*/ 8 h 9"/>
                <a:gd name="T2" fmla="*/ 7 w 8"/>
                <a:gd name="T3" fmla="*/ 6 h 9"/>
                <a:gd name="T4" fmla="*/ 7 w 8"/>
                <a:gd name="T5" fmla="*/ 2 h 9"/>
                <a:gd name="T6" fmla="*/ 3 w 8"/>
                <a:gd name="T7" fmla="*/ 3 h 9"/>
                <a:gd name="T8" fmla="*/ 1 w 8"/>
                <a:gd name="T9" fmla="*/ 7 h 9"/>
                <a:gd name="T10" fmla="*/ 2 w 8"/>
                <a:gd name="T11" fmla="*/ 8 h 9"/>
              </a:gdLst>
              <a:ahLst/>
              <a:cxnLst>
                <a:cxn ang="0">
                  <a:pos x="T0" y="T1"/>
                </a:cxn>
                <a:cxn ang="0">
                  <a:pos x="T2" y="T3"/>
                </a:cxn>
                <a:cxn ang="0">
                  <a:pos x="T4" y="T5"/>
                </a:cxn>
                <a:cxn ang="0">
                  <a:pos x="T6" y="T7"/>
                </a:cxn>
                <a:cxn ang="0">
                  <a:pos x="T8" y="T9"/>
                </a:cxn>
                <a:cxn ang="0">
                  <a:pos x="T10" y="T11"/>
                </a:cxn>
              </a:cxnLst>
              <a:rect l="0" t="0" r="r" b="b"/>
              <a:pathLst>
                <a:path w="8" h="9">
                  <a:moveTo>
                    <a:pt x="2" y="8"/>
                  </a:moveTo>
                  <a:cubicBezTo>
                    <a:pt x="4" y="7"/>
                    <a:pt x="6" y="7"/>
                    <a:pt x="7" y="6"/>
                  </a:cubicBezTo>
                  <a:cubicBezTo>
                    <a:pt x="8" y="5"/>
                    <a:pt x="8" y="3"/>
                    <a:pt x="7" y="2"/>
                  </a:cubicBezTo>
                  <a:cubicBezTo>
                    <a:pt x="6" y="0"/>
                    <a:pt x="4" y="3"/>
                    <a:pt x="3" y="3"/>
                  </a:cubicBezTo>
                  <a:cubicBezTo>
                    <a:pt x="3" y="4"/>
                    <a:pt x="1" y="4"/>
                    <a:pt x="1" y="7"/>
                  </a:cubicBezTo>
                  <a:cubicBezTo>
                    <a:pt x="0" y="9"/>
                    <a:pt x="2" y="8"/>
                    <a:pt x="2"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299" name="Freeform 1184">
              <a:extLst>
                <a:ext uri="{FF2B5EF4-FFF2-40B4-BE49-F238E27FC236}">
                  <a16:creationId xmlns:a16="http://schemas.microsoft.com/office/drawing/2014/main" id="{872EB6F0-E609-4DB9-9EB1-5678DBDD5CE6}"/>
                </a:ext>
              </a:extLst>
            </p:cNvPr>
            <p:cNvSpPr>
              <a:spLocks/>
            </p:cNvSpPr>
            <p:nvPr/>
          </p:nvSpPr>
          <p:spPr bwMode="auto">
            <a:xfrm>
              <a:off x="3092" y="529"/>
              <a:ext cx="21" cy="9"/>
            </a:xfrm>
            <a:custGeom>
              <a:avLst/>
              <a:gdLst>
                <a:gd name="T0" fmla="*/ 1 w 15"/>
                <a:gd name="T1" fmla="*/ 5 h 7"/>
                <a:gd name="T2" fmla="*/ 3 w 15"/>
                <a:gd name="T3" fmla="*/ 6 h 7"/>
                <a:gd name="T4" fmla="*/ 13 w 15"/>
                <a:gd name="T5" fmla="*/ 5 h 7"/>
                <a:gd name="T6" fmla="*/ 9 w 15"/>
                <a:gd name="T7" fmla="*/ 2 h 7"/>
                <a:gd name="T8" fmla="*/ 1 w 15"/>
                <a:gd name="T9" fmla="*/ 5 h 7"/>
              </a:gdLst>
              <a:ahLst/>
              <a:cxnLst>
                <a:cxn ang="0">
                  <a:pos x="T0" y="T1"/>
                </a:cxn>
                <a:cxn ang="0">
                  <a:pos x="T2" y="T3"/>
                </a:cxn>
                <a:cxn ang="0">
                  <a:pos x="T4" y="T5"/>
                </a:cxn>
                <a:cxn ang="0">
                  <a:pos x="T6" y="T7"/>
                </a:cxn>
                <a:cxn ang="0">
                  <a:pos x="T8" y="T9"/>
                </a:cxn>
              </a:cxnLst>
              <a:rect l="0" t="0" r="r" b="b"/>
              <a:pathLst>
                <a:path w="15" h="7">
                  <a:moveTo>
                    <a:pt x="1" y="5"/>
                  </a:moveTo>
                  <a:cubicBezTo>
                    <a:pt x="0" y="7"/>
                    <a:pt x="3" y="6"/>
                    <a:pt x="3" y="6"/>
                  </a:cubicBezTo>
                  <a:cubicBezTo>
                    <a:pt x="3" y="6"/>
                    <a:pt x="10" y="5"/>
                    <a:pt x="13" y="5"/>
                  </a:cubicBezTo>
                  <a:cubicBezTo>
                    <a:pt x="15" y="5"/>
                    <a:pt x="13" y="4"/>
                    <a:pt x="9" y="2"/>
                  </a:cubicBezTo>
                  <a:cubicBezTo>
                    <a:pt x="4" y="0"/>
                    <a:pt x="3" y="3"/>
                    <a:pt x="1"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00" name="Freeform 1185">
              <a:extLst>
                <a:ext uri="{FF2B5EF4-FFF2-40B4-BE49-F238E27FC236}">
                  <a16:creationId xmlns:a16="http://schemas.microsoft.com/office/drawing/2014/main" id="{F1F0B69C-BEC2-4F87-BD73-07B14209BC86}"/>
                </a:ext>
              </a:extLst>
            </p:cNvPr>
            <p:cNvSpPr>
              <a:spLocks/>
            </p:cNvSpPr>
            <p:nvPr/>
          </p:nvSpPr>
          <p:spPr bwMode="auto">
            <a:xfrm>
              <a:off x="2597" y="1286"/>
              <a:ext cx="11" cy="6"/>
            </a:xfrm>
            <a:custGeom>
              <a:avLst/>
              <a:gdLst>
                <a:gd name="T0" fmla="*/ 2 w 8"/>
                <a:gd name="T1" fmla="*/ 1 h 4"/>
                <a:gd name="T2" fmla="*/ 1 w 8"/>
                <a:gd name="T3" fmla="*/ 2 h 4"/>
                <a:gd name="T4" fmla="*/ 3 w 8"/>
                <a:gd name="T5" fmla="*/ 3 h 4"/>
                <a:gd name="T6" fmla="*/ 5 w 8"/>
                <a:gd name="T7" fmla="*/ 2 h 4"/>
                <a:gd name="T8" fmla="*/ 6 w 8"/>
                <a:gd name="T9" fmla="*/ 1 h 4"/>
                <a:gd name="T10" fmla="*/ 2 w 8"/>
                <a:gd name="T11" fmla="*/ 1 h 4"/>
              </a:gdLst>
              <a:ahLst/>
              <a:cxnLst>
                <a:cxn ang="0">
                  <a:pos x="T0" y="T1"/>
                </a:cxn>
                <a:cxn ang="0">
                  <a:pos x="T2" y="T3"/>
                </a:cxn>
                <a:cxn ang="0">
                  <a:pos x="T4" y="T5"/>
                </a:cxn>
                <a:cxn ang="0">
                  <a:pos x="T6" y="T7"/>
                </a:cxn>
                <a:cxn ang="0">
                  <a:pos x="T8" y="T9"/>
                </a:cxn>
                <a:cxn ang="0">
                  <a:pos x="T10" y="T11"/>
                </a:cxn>
              </a:cxnLst>
              <a:rect l="0" t="0" r="r" b="b"/>
              <a:pathLst>
                <a:path w="8" h="4">
                  <a:moveTo>
                    <a:pt x="2" y="1"/>
                  </a:moveTo>
                  <a:cubicBezTo>
                    <a:pt x="1" y="1"/>
                    <a:pt x="0" y="1"/>
                    <a:pt x="1" y="2"/>
                  </a:cubicBezTo>
                  <a:cubicBezTo>
                    <a:pt x="1" y="2"/>
                    <a:pt x="2" y="4"/>
                    <a:pt x="3" y="3"/>
                  </a:cubicBezTo>
                  <a:cubicBezTo>
                    <a:pt x="4" y="2"/>
                    <a:pt x="5" y="1"/>
                    <a:pt x="5" y="2"/>
                  </a:cubicBezTo>
                  <a:cubicBezTo>
                    <a:pt x="6" y="2"/>
                    <a:pt x="8" y="2"/>
                    <a:pt x="6" y="1"/>
                  </a:cubicBezTo>
                  <a:cubicBezTo>
                    <a:pt x="5" y="0"/>
                    <a:pt x="3" y="1"/>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01" name="Freeform 1186">
              <a:extLst>
                <a:ext uri="{FF2B5EF4-FFF2-40B4-BE49-F238E27FC236}">
                  <a16:creationId xmlns:a16="http://schemas.microsoft.com/office/drawing/2014/main" id="{E97357A4-2891-45DD-8BC2-C476187B4587}"/>
                </a:ext>
              </a:extLst>
            </p:cNvPr>
            <p:cNvSpPr>
              <a:spLocks/>
            </p:cNvSpPr>
            <p:nvPr/>
          </p:nvSpPr>
          <p:spPr bwMode="auto">
            <a:xfrm>
              <a:off x="2591" y="1284"/>
              <a:ext cx="10" cy="4"/>
            </a:xfrm>
            <a:custGeom>
              <a:avLst/>
              <a:gdLst>
                <a:gd name="T0" fmla="*/ 1 w 7"/>
                <a:gd name="T1" fmla="*/ 1 h 3"/>
                <a:gd name="T2" fmla="*/ 3 w 7"/>
                <a:gd name="T3" fmla="*/ 2 h 3"/>
                <a:gd name="T4" fmla="*/ 5 w 7"/>
                <a:gd name="T5" fmla="*/ 0 h 3"/>
                <a:gd name="T6" fmla="*/ 1 w 7"/>
                <a:gd name="T7" fmla="*/ 1 h 3"/>
              </a:gdLst>
              <a:ahLst/>
              <a:cxnLst>
                <a:cxn ang="0">
                  <a:pos x="T0" y="T1"/>
                </a:cxn>
                <a:cxn ang="0">
                  <a:pos x="T2" y="T3"/>
                </a:cxn>
                <a:cxn ang="0">
                  <a:pos x="T4" y="T5"/>
                </a:cxn>
                <a:cxn ang="0">
                  <a:pos x="T6" y="T7"/>
                </a:cxn>
              </a:cxnLst>
              <a:rect l="0" t="0" r="r" b="b"/>
              <a:pathLst>
                <a:path w="7" h="3">
                  <a:moveTo>
                    <a:pt x="1" y="1"/>
                  </a:moveTo>
                  <a:cubicBezTo>
                    <a:pt x="0" y="2"/>
                    <a:pt x="0" y="3"/>
                    <a:pt x="3" y="2"/>
                  </a:cubicBezTo>
                  <a:cubicBezTo>
                    <a:pt x="3" y="2"/>
                    <a:pt x="7" y="0"/>
                    <a:pt x="5" y="0"/>
                  </a:cubicBezTo>
                  <a:cubicBezTo>
                    <a:pt x="3" y="0"/>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02" name="Freeform 1187">
              <a:extLst>
                <a:ext uri="{FF2B5EF4-FFF2-40B4-BE49-F238E27FC236}">
                  <a16:creationId xmlns:a16="http://schemas.microsoft.com/office/drawing/2014/main" id="{807F1F45-779F-4E3F-AA9A-E8F12AE236D5}"/>
                </a:ext>
              </a:extLst>
            </p:cNvPr>
            <p:cNvSpPr>
              <a:spLocks/>
            </p:cNvSpPr>
            <p:nvPr/>
          </p:nvSpPr>
          <p:spPr bwMode="auto">
            <a:xfrm>
              <a:off x="2591" y="1281"/>
              <a:ext cx="5" cy="5"/>
            </a:xfrm>
            <a:custGeom>
              <a:avLst/>
              <a:gdLst>
                <a:gd name="T0" fmla="*/ 2 w 3"/>
                <a:gd name="T1" fmla="*/ 1 h 4"/>
                <a:gd name="T2" fmla="*/ 0 w 3"/>
                <a:gd name="T3" fmla="*/ 2 h 4"/>
                <a:gd name="T4" fmla="*/ 1 w 3"/>
                <a:gd name="T5" fmla="*/ 2 h 4"/>
                <a:gd name="T6" fmla="*/ 2 w 3"/>
                <a:gd name="T7" fmla="*/ 1 h 4"/>
              </a:gdLst>
              <a:ahLst/>
              <a:cxnLst>
                <a:cxn ang="0">
                  <a:pos x="T0" y="T1"/>
                </a:cxn>
                <a:cxn ang="0">
                  <a:pos x="T2" y="T3"/>
                </a:cxn>
                <a:cxn ang="0">
                  <a:pos x="T4" y="T5"/>
                </a:cxn>
                <a:cxn ang="0">
                  <a:pos x="T6" y="T7"/>
                </a:cxn>
              </a:cxnLst>
              <a:rect l="0" t="0" r="r" b="b"/>
              <a:pathLst>
                <a:path w="3" h="4">
                  <a:moveTo>
                    <a:pt x="2" y="1"/>
                  </a:moveTo>
                  <a:cubicBezTo>
                    <a:pt x="1" y="0"/>
                    <a:pt x="0" y="1"/>
                    <a:pt x="0" y="2"/>
                  </a:cubicBezTo>
                  <a:cubicBezTo>
                    <a:pt x="0" y="4"/>
                    <a:pt x="0" y="3"/>
                    <a:pt x="1" y="2"/>
                  </a:cubicBezTo>
                  <a:cubicBezTo>
                    <a:pt x="1" y="2"/>
                    <a:pt x="3" y="2"/>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03" name="Freeform 1188">
              <a:extLst>
                <a:ext uri="{FF2B5EF4-FFF2-40B4-BE49-F238E27FC236}">
                  <a16:creationId xmlns:a16="http://schemas.microsoft.com/office/drawing/2014/main" id="{A8416E8B-B7B3-49C7-B066-B0989062F3DF}"/>
                </a:ext>
              </a:extLst>
            </p:cNvPr>
            <p:cNvSpPr>
              <a:spLocks/>
            </p:cNvSpPr>
            <p:nvPr/>
          </p:nvSpPr>
          <p:spPr bwMode="auto">
            <a:xfrm>
              <a:off x="2569" y="1271"/>
              <a:ext cx="6" cy="8"/>
            </a:xfrm>
            <a:custGeom>
              <a:avLst/>
              <a:gdLst>
                <a:gd name="T0" fmla="*/ 2 w 4"/>
                <a:gd name="T1" fmla="*/ 3 h 6"/>
                <a:gd name="T2" fmla="*/ 3 w 4"/>
                <a:gd name="T3" fmla="*/ 1 h 6"/>
                <a:gd name="T4" fmla="*/ 1 w 4"/>
                <a:gd name="T5" fmla="*/ 3 h 6"/>
                <a:gd name="T6" fmla="*/ 2 w 4"/>
                <a:gd name="T7" fmla="*/ 3 h 6"/>
              </a:gdLst>
              <a:ahLst/>
              <a:cxnLst>
                <a:cxn ang="0">
                  <a:pos x="T0" y="T1"/>
                </a:cxn>
                <a:cxn ang="0">
                  <a:pos x="T2" y="T3"/>
                </a:cxn>
                <a:cxn ang="0">
                  <a:pos x="T4" y="T5"/>
                </a:cxn>
                <a:cxn ang="0">
                  <a:pos x="T6" y="T7"/>
                </a:cxn>
              </a:cxnLst>
              <a:rect l="0" t="0" r="r" b="b"/>
              <a:pathLst>
                <a:path w="4" h="6">
                  <a:moveTo>
                    <a:pt x="2" y="3"/>
                  </a:moveTo>
                  <a:cubicBezTo>
                    <a:pt x="4" y="1"/>
                    <a:pt x="4" y="2"/>
                    <a:pt x="3" y="1"/>
                  </a:cubicBezTo>
                  <a:cubicBezTo>
                    <a:pt x="2" y="1"/>
                    <a:pt x="1" y="0"/>
                    <a:pt x="1" y="3"/>
                  </a:cubicBezTo>
                  <a:cubicBezTo>
                    <a:pt x="1" y="3"/>
                    <a:pt x="0" y="6"/>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04" name="Freeform 1189">
              <a:extLst>
                <a:ext uri="{FF2B5EF4-FFF2-40B4-BE49-F238E27FC236}">
                  <a16:creationId xmlns:a16="http://schemas.microsoft.com/office/drawing/2014/main" id="{E62956E0-B1A1-4097-8FF1-2F8BB4C0AC2D}"/>
                </a:ext>
              </a:extLst>
            </p:cNvPr>
            <p:cNvSpPr>
              <a:spLocks/>
            </p:cNvSpPr>
            <p:nvPr/>
          </p:nvSpPr>
          <p:spPr bwMode="auto">
            <a:xfrm>
              <a:off x="2596" y="1279"/>
              <a:ext cx="22" cy="9"/>
            </a:xfrm>
            <a:custGeom>
              <a:avLst/>
              <a:gdLst>
                <a:gd name="T0" fmla="*/ 14 w 16"/>
                <a:gd name="T1" fmla="*/ 4 h 6"/>
                <a:gd name="T2" fmla="*/ 13 w 16"/>
                <a:gd name="T3" fmla="*/ 2 h 6"/>
                <a:gd name="T4" fmla="*/ 3 w 16"/>
                <a:gd name="T5" fmla="*/ 0 h 6"/>
                <a:gd name="T6" fmla="*/ 2 w 16"/>
                <a:gd name="T7" fmla="*/ 1 h 6"/>
                <a:gd name="T8" fmla="*/ 8 w 16"/>
                <a:gd name="T9" fmla="*/ 5 h 6"/>
                <a:gd name="T10" fmla="*/ 10 w 16"/>
                <a:gd name="T11" fmla="*/ 3 h 6"/>
                <a:gd name="T12" fmla="*/ 14 w 16"/>
                <a:gd name="T13" fmla="*/ 4 h 6"/>
              </a:gdLst>
              <a:ahLst/>
              <a:cxnLst>
                <a:cxn ang="0">
                  <a:pos x="T0" y="T1"/>
                </a:cxn>
                <a:cxn ang="0">
                  <a:pos x="T2" y="T3"/>
                </a:cxn>
                <a:cxn ang="0">
                  <a:pos x="T4" y="T5"/>
                </a:cxn>
                <a:cxn ang="0">
                  <a:pos x="T6" y="T7"/>
                </a:cxn>
                <a:cxn ang="0">
                  <a:pos x="T8" y="T9"/>
                </a:cxn>
                <a:cxn ang="0">
                  <a:pos x="T10" y="T11"/>
                </a:cxn>
                <a:cxn ang="0">
                  <a:pos x="T12" y="T13"/>
                </a:cxn>
              </a:cxnLst>
              <a:rect l="0" t="0" r="r" b="b"/>
              <a:pathLst>
                <a:path w="16" h="6">
                  <a:moveTo>
                    <a:pt x="14" y="4"/>
                  </a:moveTo>
                  <a:cubicBezTo>
                    <a:pt x="16" y="4"/>
                    <a:pt x="16" y="3"/>
                    <a:pt x="13" y="2"/>
                  </a:cubicBezTo>
                  <a:cubicBezTo>
                    <a:pt x="11" y="1"/>
                    <a:pt x="6" y="1"/>
                    <a:pt x="3" y="0"/>
                  </a:cubicBezTo>
                  <a:cubicBezTo>
                    <a:pt x="0" y="0"/>
                    <a:pt x="2" y="1"/>
                    <a:pt x="2" y="1"/>
                  </a:cubicBezTo>
                  <a:cubicBezTo>
                    <a:pt x="2" y="1"/>
                    <a:pt x="7" y="4"/>
                    <a:pt x="8" y="5"/>
                  </a:cubicBezTo>
                  <a:cubicBezTo>
                    <a:pt x="9" y="6"/>
                    <a:pt x="10" y="4"/>
                    <a:pt x="10" y="3"/>
                  </a:cubicBezTo>
                  <a:cubicBezTo>
                    <a:pt x="10" y="2"/>
                    <a:pt x="13" y="3"/>
                    <a:pt x="1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05" name="Freeform 1190">
              <a:extLst>
                <a:ext uri="{FF2B5EF4-FFF2-40B4-BE49-F238E27FC236}">
                  <a16:creationId xmlns:a16="http://schemas.microsoft.com/office/drawing/2014/main" id="{07063469-8D1F-4F69-AF16-868465C981BB}"/>
                </a:ext>
              </a:extLst>
            </p:cNvPr>
            <p:cNvSpPr>
              <a:spLocks/>
            </p:cNvSpPr>
            <p:nvPr/>
          </p:nvSpPr>
          <p:spPr bwMode="auto">
            <a:xfrm>
              <a:off x="2510" y="1259"/>
              <a:ext cx="15" cy="5"/>
            </a:xfrm>
            <a:custGeom>
              <a:avLst/>
              <a:gdLst>
                <a:gd name="T0" fmla="*/ 3 w 11"/>
                <a:gd name="T1" fmla="*/ 2 h 4"/>
                <a:gd name="T2" fmla="*/ 8 w 11"/>
                <a:gd name="T3" fmla="*/ 3 h 4"/>
                <a:gd name="T4" fmla="*/ 8 w 11"/>
                <a:gd name="T5" fmla="*/ 1 h 4"/>
                <a:gd name="T6" fmla="*/ 3 w 11"/>
                <a:gd name="T7" fmla="*/ 2 h 4"/>
              </a:gdLst>
              <a:ahLst/>
              <a:cxnLst>
                <a:cxn ang="0">
                  <a:pos x="T0" y="T1"/>
                </a:cxn>
                <a:cxn ang="0">
                  <a:pos x="T2" y="T3"/>
                </a:cxn>
                <a:cxn ang="0">
                  <a:pos x="T4" y="T5"/>
                </a:cxn>
                <a:cxn ang="0">
                  <a:pos x="T6" y="T7"/>
                </a:cxn>
              </a:cxnLst>
              <a:rect l="0" t="0" r="r" b="b"/>
              <a:pathLst>
                <a:path w="11" h="4">
                  <a:moveTo>
                    <a:pt x="3" y="2"/>
                  </a:moveTo>
                  <a:cubicBezTo>
                    <a:pt x="3" y="2"/>
                    <a:pt x="6" y="4"/>
                    <a:pt x="8" y="3"/>
                  </a:cubicBezTo>
                  <a:cubicBezTo>
                    <a:pt x="10" y="2"/>
                    <a:pt x="11" y="1"/>
                    <a:pt x="8" y="1"/>
                  </a:cubicBezTo>
                  <a:cubicBezTo>
                    <a:pt x="5" y="0"/>
                    <a:pt x="0" y="0"/>
                    <a:pt x="3"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06" name="Freeform 1191">
              <a:extLst>
                <a:ext uri="{FF2B5EF4-FFF2-40B4-BE49-F238E27FC236}">
                  <a16:creationId xmlns:a16="http://schemas.microsoft.com/office/drawing/2014/main" id="{F113832E-1BEF-4417-8347-FD96B4F0E127}"/>
                </a:ext>
              </a:extLst>
            </p:cNvPr>
            <p:cNvSpPr>
              <a:spLocks/>
            </p:cNvSpPr>
            <p:nvPr/>
          </p:nvSpPr>
          <p:spPr bwMode="auto">
            <a:xfrm>
              <a:off x="2519" y="1256"/>
              <a:ext cx="13" cy="4"/>
            </a:xfrm>
            <a:custGeom>
              <a:avLst/>
              <a:gdLst>
                <a:gd name="T0" fmla="*/ 7 w 9"/>
                <a:gd name="T1" fmla="*/ 2 h 3"/>
                <a:gd name="T2" fmla="*/ 6 w 9"/>
                <a:gd name="T3" fmla="*/ 1 h 3"/>
                <a:gd name="T4" fmla="*/ 3 w 9"/>
                <a:gd name="T5" fmla="*/ 3 h 3"/>
                <a:gd name="T6" fmla="*/ 7 w 9"/>
                <a:gd name="T7" fmla="*/ 2 h 3"/>
              </a:gdLst>
              <a:ahLst/>
              <a:cxnLst>
                <a:cxn ang="0">
                  <a:pos x="T0" y="T1"/>
                </a:cxn>
                <a:cxn ang="0">
                  <a:pos x="T2" y="T3"/>
                </a:cxn>
                <a:cxn ang="0">
                  <a:pos x="T4" y="T5"/>
                </a:cxn>
                <a:cxn ang="0">
                  <a:pos x="T6" y="T7"/>
                </a:cxn>
              </a:cxnLst>
              <a:rect l="0" t="0" r="r" b="b"/>
              <a:pathLst>
                <a:path w="9" h="3">
                  <a:moveTo>
                    <a:pt x="7" y="2"/>
                  </a:moveTo>
                  <a:cubicBezTo>
                    <a:pt x="8" y="2"/>
                    <a:pt x="9" y="0"/>
                    <a:pt x="6" y="1"/>
                  </a:cubicBezTo>
                  <a:cubicBezTo>
                    <a:pt x="4" y="1"/>
                    <a:pt x="0" y="2"/>
                    <a:pt x="3" y="3"/>
                  </a:cubicBezTo>
                  <a:cubicBezTo>
                    <a:pt x="3" y="3"/>
                    <a:pt x="6" y="3"/>
                    <a:pt x="7"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07" name="Freeform 1192">
              <a:extLst>
                <a:ext uri="{FF2B5EF4-FFF2-40B4-BE49-F238E27FC236}">
                  <a16:creationId xmlns:a16="http://schemas.microsoft.com/office/drawing/2014/main" id="{17437412-F94B-4101-A473-F5801BFAA72D}"/>
                </a:ext>
              </a:extLst>
            </p:cNvPr>
            <p:cNvSpPr>
              <a:spLocks/>
            </p:cNvSpPr>
            <p:nvPr/>
          </p:nvSpPr>
          <p:spPr bwMode="auto">
            <a:xfrm>
              <a:off x="2540" y="1256"/>
              <a:ext cx="14" cy="6"/>
            </a:xfrm>
            <a:custGeom>
              <a:avLst/>
              <a:gdLst>
                <a:gd name="T0" fmla="*/ 4 w 10"/>
                <a:gd name="T1" fmla="*/ 3 h 4"/>
                <a:gd name="T2" fmla="*/ 9 w 10"/>
                <a:gd name="T3" fmla="*/ 1 h 4"/>
                <a:gd name="T4" fmla="*/ 6 w 10"/>
                <a:gd name="T5" fmla="*/ 1 h 4"/>
                <a:gd name="T6" fmla="*/ 4 w 10"/>
                <a:gd name="T7" fmla="*/ 3 h 4"/>
              </a:gdLst>
              <a:ahLst/>
              <a:cxnLst>
                <a:cxn ang="0">
                  <a:pos x="T0" y="T1"/>
                </a:cxn>
                <a:cxn ang="0">
                  <a:pos x="T2" y="T3"/>
                </a:cxn>
                <a:cxn ang="0">
                  <a:pos x="T4" y="T5"/>
                </a:cxn>
                <a:cxn ang="0">
                  <a:pos x="T6" y="T7"/>
                </a:cxn>
              </a:cxnLst>
              <a:rect l="0" t="0" r="r" b="b"/>
              <a:pathLst>
                <a:path w="10" h="4">
                  <a:moveTo>
                    <a:pt x="4" y="3"/>
                  </a:moveTo>
                  <a:cubicBezTo>
                    <a:pt x="4" y="3"/>
                    <a:pt x="10" y="1"/>
                    <a:pt x="9" y="1"/>
                  </a:cubicBezTo>
                  <a:cubicBezTo>
                    <a:pt x="8" y="0"/>
                    <a:pt x="9" y="0"/>
                    <a:pt x="6" y="1"/>
                  </a:cubicBezTo>
                  <a:cubicBezTo>
                    <a:pt x="4" y="2"/>
                    <a:pt x="0" y="4"/>
                    <a:pt x="4"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08" name="Freeform 1193">
              <a:extLst>
                <a:ext uri="{FF2B5EF4-FFF2-40B4-BE49-F238E27FC236}">
                  <a16:creationId xmlns:a16="http://schemas.microsoft.com/office/drawing/2014/main" id="{E5EDAF03-30E7-4029-8C69-AAE0F6AF2607}"/>
                </a:ext>
              </a:extLst>
            </p:cNvPr>
            <p:cNvSpPr>
              <a:spLocks/>
            </p:cNvSpPr>
            <p:nvPr/>
          </p:nvSpPr>
          <p:spPr bwMode="auto">
            <a:xfrm>
              <a:off x="2631" y="1199"/>
              <a:ext cx="12" cy="2"/>
            </a:xfrm>
            <a:custGeom>
              <a:avLst/>
              <a:gdLst>
                <a:gd name="T0" fmla="*/ 6 w 8"/>
                <a:gd name="T1" fmla="*/ 1 h 2"/>
                <a:gd name="T2" fmla="*/ 7 w 8"/>
                <a:gd name="T3" fmla="*/ 1 h 2"/>
                <a:gd name="T4" fmla="*/ 5 w 8"/>
                <a:gd name="T5" fmla="*/ 0 h 2"/>
                <a:gd name="T6" fmla="*/ 1 w 8"/>
                <a:gd name="T7" fmla="*/ 0 h 2"/>
                <a:gd name="T8" fmla="*/ 1 w 8"/>
                <a:gd name="T9" fmla="*/ 1 h 2"/>
                <a:gd name="T10" fmla="*/ 4 w 8"/>
                <a:gd name="T11" fmla="*/ 2 h 2"/>
                <a:gd name="T12" fmla="*/ 6 w 8"/>
                <a:gd name="T13" fmla="*/ 1 h 2"/>
              </a:gdLst>
              <a:ahLst/>
              <a:cxnLst>
                <a:cxn ang="0">
                  <a:pos x="T0" y="T1"/>
                </a:cxn>
                <a:cxn ang="0">
                  <a:pos x="T2" y="T3"/>
                </a:cxn>
                <a:cxn ang="0">
                  <a:pos x="T4" y="T5"/>
                </a:cxn>
                <a:cxn ang="0">
                  <a:pos x="T6" y="T7"/>
                </a:cxn>
                <a:cxn ang="0">
                  <a:pos x="T8" y="T9"/>
                </a:cxn>
                <a:cxn ang="0">
                  <a:pos x="T10" y="T11"/>
                </a:cxn>
                <a:cxn ang="0">
                  <a:pos x="T12" y="T13"/>
                </a:cxn>
              </a:cxnLst>
              <a:rect l="0" t="0" r="r" b="b"/>
              <a:pathLst>
                <a:path w="8" h="2">
                  <a:moveTo>
                    <a:pt x="6" y="1"/>
                  </a:moveTo>
                  <a:cubicBezTo>
                    <a:pt x="6" y="0"/>
                    <a:pt x="6" y="1"/>
                    <a:pt x="7" y="1"/>
                  </a:cubicBezTo>
                  <a:cubicBezTo>
                    <a:pt x="8" y="1"/>
                    <a:pt x="6" y="0"/>
                    <a:pt x="5" y="0"/>
                  </a:cubicBezTo>
                  <a:cubicBezTo>
                    <a:pt x="4" y="0"/>
                    <a:pt x="2" y="0"/>
                    <a:pt x="1" y="0"/>
                  </a:cubicBezTo>
                  <a:cubicBezTo>
                    <a:pt x="0" y="1"/>
                    <a:pt x="1" y="1"/>
                    <a:pt x="1" y="1"/>
                  </a:cubicBezTo>
                  <a:cubicBezTo>
                    <a:pt x="2" y="2"/>
                    <a:pt x="3" y="1"/>
                    <a:pt x="4" y="2"/>
                  </a:cubicBezTo>
                  <a:cubicBezTo>
                    <a:pt x="5" y="2"/>
                    <a:pt x="5" y="2"/>
                    <a:pt x="6"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09" name="Freeform 1194">
              <a:extLst>
                <a:ext uri="{FF2B5EF4-FFF2-40B4-BE49-F238E27FC236}">
                  <a16:creationId xmlns:a16="http://schemas.microsoft.com/office/drawing/2014/main" id="{CBA2A82F-B988-4E77-9CF5-441D3B5DC667}"/>
                </a:ext>
              </a:extLst>
            </p:cNvPr>
            <p:cNvSpPr>
              <a:spLocks/>
            </p:cNvSpPr>
            <p:nvPr/>
          </p:nvSpPr>
          <p:spPr bwMode="auto">
            <a:xfrm>
              <a:off x="2659" y="1149"/>
              <a:ext cx="8" cy="3"/>
            </a:xfrm>
            <a:custGeom>
              <a:avLst/>
              <a:gdLst>
                <a:gd name="T0" fmla="*/ 2 w 6"/>
                <a:gd name="T1" fmla="*/ 1 h 2"/>
                <a:gd name="T2" fmla="*/ 2 w 6"/>
                <a:gd name="T3" fmla="*/ 2 h 2"/>
                <a:gd name="T4" fmla="*/ 6 w 6"/>
                <a:gd name="T5" fmla="*/ 1 h 2"/>
                <a:gd name="T6" fmla="*/ 2 w 6"/>
                <a:gd name="T7" fmla="*/ 1 h 2"/>
              </a:gdLst>
              <a:ahLst/>
              <a:cxnLst>
                <a:cxn ang="0">
                  <a:pos x="T0" y="T1"/>
                </a:cxn>
                <a:cxn ang="0">
                  <a:pos x="T2" y="T3"/>
                </a:cxn>
                <a:cxn ang="0">
                  <a:pos x="T4" y="T5"/>
                </a:cxn>
                <a:cxn ang="0">
                  <a:pos x="T6" y="T7"/>
                </a:cxn>
              </a:cxnLst>
              <a:rect l="0" t="0" r="r" b="b"/>
              <a:pathLst>
                <a:path w="6" h="2">
                  <a:moveTo>
                    <a:pt x="2" y="1"/>
                  </a:moveTo>
                  <a:cubicBezTo>
                    <a:pt x="0" y="2"/>
                    <a:pt x="2" y="2"/>
                    <a:pt x="2" y="2"/>
                  </a:cubicBezTo>
                  <a:cubicBezTo>
                    <a:pt x="6" y="2"/>
                    <a:pt x="6" y="2"/>
                    <a:pt x="6" y="1"/>
                  </a:cubicBezTo>
                  <a:cubicBezTo>
                    <a:pt x="5" y="0"/>
                    <a:pt x="4" y="0"/>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10" name="Freeform 1195">
              <a:extLst>
                <a:ext uri="{FF2B5EF4-FFF2-40B4-BE49-F238E27FC236}">
                  <a16:creationId xmlns:a16="http://schemas.microsoft.com/office/drawing/2014/main" id="{0739EC53-EE70-4F2C-A860-152D7FBCF5D9}"/>
                </a:ext>
              </a:extLst>
            </p:cNvPr>
            <p:cNvSpPr>
              <a:spLocks/>
            </p:cNvSpPr>
            <p:nvPr/>
          </p:nvSpPr>
          <p:spPr bwMode="auto">
            <a:xfrm>
              <a:off x="2665" y="1127"/>
              <a:ext cx="12" cy="18"/>
            </a:xfrm>
            <a:custGeom>
              <a:avLst/>
              <a:gdLst>
                <a:gd name="T0" fmla="*/ 1 w 9"/>
                <a:gd name="T1" fmla="*/ 1 h 13"/>
                <a:gd name="T2" fmla="*/ 0 w 9"/>
                <a:gd name="T3" fmla="*/ 2 h 13"/>
                <a:gd name="T4" fmla="*/ 3 w 9"/>
                <a:gd name="T5" fmla="*/ 8 h 13"/>
                <a:gd name="T6" fmla="*/ 7 w 9"/>
                <a:gd name="T7" fmla="*/ 12 h 13"/>
                <a:gd name="T8" fmla="*/ 9 w 9"/>
                <a:gd name="T9" fmla="*/ 11 h 13"/>
                <a:gd name="T10" fmla="*/ 5 w 9"/>
                <a:gd name="T11" fmla="*/ 10 h 13"/>
                <a:gd name="T12" fmla="*/ 5 w 9"/>
                <a:gd name="T13" fmla="*/ 8 h 13"/>
                <a:gd name="T14" fmla="*/ 4 w 9"/>
                <a:gd name="T15" fmla="*/ 6 h 13"/>
                <a:gd name="T16" fmla="*/ 5 w 9"/>
                <a:gd name="T17" fmla="*/ 4 h 13"/>
                <a:gd name="T18" fmla="*/ 1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1" y="1"/>
                  </a:moveTo>
                  <a:cubicBezTo>
                    <a:pt x="0" y="0"/>
                    <a:pt x="0" y="2"/>
                    <a:pt x="0" y="2"/>
                  </a:cubicBezTo>
                  <a:cubicBezTo>
                    <a:pt x="0" y="3"/>
                    <a:pt x="2" y="5"/>
                    <a:pt x="3" y="8"/>
                  </a:cubicBezTo>
                  <a:cubicBezTo>
                    <a:pt x="4" y="11"/>
                    <a:pt x="6" y="12"/>
                    <a:pt x="7" y="12"/>
                  </a:cubicBezTo>
                  <a:cubicBezTo>
                    <a:pt x="9" y="13"/>
                    <a:pt x="9" y="12"/>
                    <a:pt x="9" y="11"/>
                  </a:cubicBezTo>
                  <a:cubicBezTo>
                    <a:pt x="8" y="10"/>
                    <a:pt x="7" y="10"/>
                    <a:pt x="5" y="10"/>
                  </a:cubicBezTo>
                  <a:cubicBezTo>
                    <a:pt x="4" y="9"/>
                    <a:pt x="4" y="8"/>
                    <a:pt x="5" y="8"/>
                  </a:cubicBezTo>
                  <a:cubicBezTo>
                    <a:pt x="5" y="7"/>
                    <a:pt x="5" y="7"/>
                    <a:pt x="4" y="6"/>
                  </a:cubicBezTo>
                  <a:cubicBezTo>
                    <a:pt x="4" y="6"/>
                    <a:pt x="4" y="5"/>
                    <a:pt x="5" y="4"/>
                  </a:cubicBezTo>
                  <a:cubicBezTo>
                    <a:pt x="6" y="4"/>
                    <a:pt x="3" y="2"/>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11" name="Freeform 1196">
              <a:extLst>
                <a:ext uri="{FF2B5EF4-FFF2-40B4-BE49-F238E27FC236}">
                  <a16:creationId xmlns:a16="http://schemas.microsoft.com/office/drawing/2014/main" id="{4BF1A2F5-EB48-4918-8100-A7AD6B0E6739}"/>
                </a:ext>
              </a:extLst>
            </p:cNvPr>
            <p:cNvSpPr>
              <a:spLocks/>
            </p:cNvSpPr>
            <p:nvPr/>
          </p:nvSpPr>
          <p:spPr bwMode="auto">
            <a:xfrm>
              <a:off x="2723" y="1097"/>
              <a:ext cx="14" cy="10"/>
            </a:xfrm>
            <a:custGeom>
              <a:avLst/>
              <a:gdLst>
                <a:gd name="T0" fmla="*/ 9 w 10"/>
                <a:gd name="T1" fmla="*/ 3 h 7"/>
                <a:gd name="T2" fmla="*/ 8 w 10"/>
                <a:gd name="T3" fmla="*/ 1 h 7"/>
                <a:gd name="T4" fmla="*/ 4 w 10"/>
                <a:gd name="T5" fmla="*/ 0 h 7"/>
                <a:gd name="T6" fmla="*/ 1 w 10"/>
                <a:gd name="T7" fmla="*/ 1 h 7"/>
                <a:gd name="T8" fmla="*/ 0 w 10"/>
                <a:gd name="T9" fmla="*/ 4 h 7"/>
                <a:gd name="T10" fmla="*/ 2 w 10"/>
                <a:gd name="T11" fmla="*/ 6 h 7"/>
                <a:gd name="T12" fmla="*/ 8 w 10"/>
                <a:gd name="T13" fmla="*/ 6 h 7"/>
                <a:gd name="T14" fmla="*/ 9 w 10"/>
                <a:gd name="T15" fmla="*/ 4 h 7"/>
                <a:gd name="T16" fmla="*/ 9 w 10"/>
                <a:gd name="T1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7">
                  <a:moveTo>
                    <a:pt x="9" y="3"/>
                  </a:moveTo>
                  <a:cubicBezTo>
                    <a:pt x="10" y="3"/>
                    <a:pt x="10" y="2"/>
                    <a:pt x="8" y="1"/>
                  </a:cubicBezTo>
                  <a:cubicBezTo>
                    <a:pt x="7" y="1"/>
                    <a:pt x="5" y="0"/>
                    <a:pt x="4" y="0"/>
                  </a:cubicBezTo>
                  <a:cubicBezTo>
                    <a:pt x="3" y="0"/>
                    <a:pt x="2" y="1"/>
                    <a:pt x="1" y="1"/>
                  </a:cubicBezTo>
                  <a:cubicBezTo>
                    <a:pt x="0" y="2"/>
                    <a:pt x="0" y="1"/>
                    <a:pt x="0" y="4"/>
                  </a:cubicBezTo>
                  <a:cubicBezTo>
                    <a:pt x="0" y="6"/>
                    <a:pt x="2" y="6"/>
                    <a:pt x="2" y="6"/>
                  </a:cubicBezTo>
                  <a:cubicBezTo>
                    <a:pt x="3" y="7"/>
                    <a:pt x="6" y="7"/>
                    <a:pt x="8" y="6"/>
                  </a:cubicBezTo>
                  <a:cubicBezTo>
                    <a:pt x="10" y="6"/>
                    <a:pt x="10" y="5"/>
                    <a:pt x="9" y="4"/>
                  </a:cubicBezTo>
                  <a:cubicBezTo>
                    <a:pt x="8" y="4"/>
                    <a:pt x="8" y="4"/>
                    <a:pt x="9"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12" name="Freeform 1197">
              <a:extLst>
                <a:ext uri="{FF2B5EF4-FFF2-40B4-BE49-F238E27FC236}">
                  <a16:creationId xmlns:a16="http://schemas.microsoft.com/office/drawing/2014/main" id="{8B9E81D2-EC2C-4EFF-ACF7-1E0A1031F3D8}"/>
                </a:ext>
              </a:extLst>
            </p:cNvPr>
            <p:cNvSpPr>
              <a:spLocks/>
            </p:cNvSpPr>
            <p:nvPr/>
          </p:nvSpPr>
          <p:spPr bwMode="auto">
            <a:xfrm>
              <a:off x="3350" y="1212"/>
              <a:ext cx="16" cy="14"/>
            </a:xfrm>
            <a:custGeom>
              <a:avLst/>
              <a:gdLst>
                <a:gd name="T0" fmla="*/ 2 w 12"/>
                <a:gd name="T1" fmla="*/ 6 h 10"/>
                <a:gd name="T2" fmla="*/ 4 w 12"/>
                <a:gd name="T3" fmla="*/ 7 h 10"/>
                <a:gd name="T4" fmla="*/ 7 w 12"/>
                <a:gd name="T5" fmla="*/ 6 h 10"/>
                <a:gd name="T6" fmla="*/ 11 w 12"/>
                <a:gd name="T7" fmla="*/ 9 h 10"/>
                <a:gd name="T8" fmla="*/ 11 w 12"/>
                <a:gd name="T9" fmla="*/ 7 h 10"/>
                <a:gd name="T10" fmla="*/ 10 w 12"/>
                <a:gd name="T11" fmla="*/ 6 h 10"/>
                <a:gd name="T12" fmla="*/ 9 w 12"/>
                <a:gd name="T13" fmla="*/ 5 h 10"/>
                <a:gd name="T14" fmla="*/ 8 w 12"/>
                <a:gd name="T15" fmla="*/ 4 h 10"/>
                <a:gd name="T16" fmla="*/ 6 w 12"/>
                <a:gd name="T17" fmla="*/ 2 h 10"/>
                <a:gd name="T18" fmla="*/ 4 w 12"/>
                <a:gd name="T19" fmla="*/ 1 h 10"/>
                <a:gd name="T20" fmla="*/ 4 w 12"/>
                <a:gd name="T21" fmla="*/ 3 h 10"/>
                <a:gd name="T22" fmla="*/ 3 w 12"/>
                <a:gd name="T23" fmla="*/ 4 h 10"/>
                <a:gd name="T24" fmla="*/ 2 w 12"/>
                <a:gd name="T25"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10">
                  <a:moveTo>
                    <a:pt x="2" y="6"/>
                  </a:moveTo>
                  <a:cubicBezTo>
                    <a:pt x="2" y="6"/>
                    <a:pt x="2" y="7"/>
                    <a:pt x="4" y="7"/>
                  </a:cubicBezTo>
                  <a:cubicBezTo>
                    <a:pt x="5" y="8"/>
                    <a:pt x="6" y="6"/>
                    <a:pt x="7" y="6"/>
                  </a:cubicBezTo>
                  <a:cubicBezTo>
                    <a:pt x="7" y="5"/>
                    <a:pt x="10" y="8"/>
                    <a:pt x="11" y="9"/>
                  </a:cubicBezTo>
                  <a:cubicBezTo>
                    <a:pt x="12" y="10"/>
                    <a:pt x="11" y="8"/>
                    <a:pt x="11" y="7"/>
                  </a:cubicBezTo>
                  <a:cubicBezTo>
                    <a:pt x="11" y="6"/>
                    <a:pt x="11" y="6"/>
                    <a:pt x="10" y="6"/>
                  </a:cubicBezTo>
                  <a:cubicBezTo>
                    <a:pt x="9" y="6"/>
                    <a:pt x="10" y="6"/>
                    <a:pt x="9" y="5"/>
                  </a:cubicBezTo>
                  <a:cubicBezTo>
                    <a:pt x="8" y="4"/>
                    <a:pt x="9" y="4"/>
                    <a:pt x="8" y="4"/>
                  </a:cubicBezTo>
                  <a:cubicBezTo>
                    <a:pt x="7" y="4"/>
                    <a:pt x="7" y="3"/>
                    <a:pt x="6" y="2"/>
                  </a:cubicBezTo>
                  <a:cubicBezTo>
                    <a:pt x="6" y="0"/>
                    <a:pt x="5" y="1"/>
                    <a:pt x="4" y="1"/>
                  </a:cubicBezTo>
                  <a:cubicBezTo>
                    <a:pt x="3" y="2"/>
                    <a:pt x="3" y="1"/>
                    <a:pt x="4" y="3"/>
                  </a:cubicBezTo>
                  <a:cubicBezTo>
                    <a:pt x="6" y="5"/>
                    <a:pt x="5" y="4"/>
                    <a:pt x="3" y="4"/>
                  </a:cubicBezTo>
                  <a:cubicBezTo>
                    <a:pt x="0" y="4"/>
                    <a:pt x="2" y="6"/>
                    <a:pt x="2"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13" name="Freeform 1198">
              <a:extLst>
                <a:ext uri="{FF2B5EF4-FFF2-40B4-BE49-F238E27FC236}">
                  <a16:creationId xmlns:a16="http://schemas.microsoft.com/office/drawing/2014/main" id="{7CF6DCB4-990A-4A16-A0DD-56A3403F6E6C}"/>
                </a:ext>
              </a:extLst>
            </p:cNvPr>
            <p:cNvSpPr>
              <a:spLocks/>
            </p:cNvSpPr>
            <p:nvPr/>
          </p:nvSpPr>
          <p:spPr bwMode="auto">
            <a:xfrm>
              <a:off x="3359" y="1225"/>
              <a:ext cx="9" cy="6"/>
            </a:xfrm>
            <a:custGeom>
              <a:avLst/>
              <a:gdLst>
                <a:gd name="T0" fmla="*/ 5 w 6"/>
                <a:gd name="T1" fmla="*/ 3 h 5"/>
                <a:gd name="T2" fmla="*/ 4 w 6"/>
                <a:gd name="T3" fmla="*/ 1 h 5"/>
                <a:gd name="T4" fmla="*/ 3 w 6"/>
                <a:gd name="T5" fmla="*/ 2 h 5"/>
                <a:gd name="T6" fmla="*/ 5 w 6"/>
                <a:gd name="T7" fmla="*/ 3 h 5"/>
              </a:gdLst>
              <a:ahLst/>
              <a:cxnLst>
                <a:cxn ang="0">
                  <a:pos x="T0" y="T1"/>
                </a:cxn>
                <a:cxn ang="0">
                  <a:pos x="T2" y="T3"/>
                </a:cxn>
                <a:cxn ang="0">
                  <a:pos x="T4" y="T5"/>
                </a:cxn>
                <a:cxn ang="0">
                  <a:pos x="T6" y="T7"/>
                </a:cxn>
              </a:cxnLst>
              <a:rect l="0" t="0" r="r" b="b"/>
              <a:pathLst>
                <a:path w="6" h="5">
                  <a:moveTo>
                    <a:pt x="5" y="3"/>
                  </a:moveTo>
                  <a:cubicBezTo>
                    <a:pt x="5" y="2"/>
                    <a:pt x="4" y="1"/>
                    <a:pt x="4" y="1"/>
                  </a:cubicBezTo>
                  <a:cubicBezTo>
                    <a:pt x="0" y="0"/>
                    <a:pt x="3" y="2"/>
                    <a:pt x="3" y="2"/>
                  </a:cubicBezTo>
                  <a:cubicBezTo>
                    <a:pt x="6" y="5"/>
                    <a:pt x="5" y="3"/>
                    <a:pt x="5"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14" name="Freeform 1199">
              <a:extLst>
                <a:ext uri="{FF2B5EF4-FFF2-40B4-BE49-F238E27FC236}">
                  <a16:creationId xmlns:a16="http://schemas.microsoft.com/office/drawing/2014/main" id="{4CE4ED48-16DC-44BA-86DF-E8D94CB9C8E8}"/>
                </a:ext>
              </a:extLst>
            </p:cNvPr>
            <p:cNvSpPr>
              <a:spLocks/>
            </p:cNvSpPr>
            <p:nvPr/>
          </p:nvSpPr>
          <p:spPr bwMode="auto">
            <a:xfrm>
              <a:off x="3358" y="1234"/>
              <a:ext cx="8" cy="8"/>
            </a:xfrm>
            <a:custGeom>
              <a:avLst/>
              <a:gdLst>
                <a:gd name="T0" fmla="*/ 2 w 6"/>
                <a:gd name="T1" fmla="*/ 2 h 6"/>
                <a:gd name="T2" fmla="*/ 6 w 6"/>
                <a:gd name="T3" fmla="*/ 3 h 6"/>
                <a:gd name="T4" fmla="*/ 2 w 6"/>
                <a:gd name="T5" fmla="*/ 0 h 6"/>
                <a:gd name="T6" fmla="*/ 2 w 6"/>
                <a:gd name="T7" fmla="*/ 2 h 6"/>
              </a:gdLst>
              <a:ahLst/>
              <a:cxnLst>
                <a:cxn ang="0">
                  <a:pos x="T0" y="T1"/>
                </a:cxn>
                <a:cxn ang="0">
                  <a:pos x="T2" y="T3"/>
                </a:cxn>
                <a:cxn ang="0">
                  <a:pos x="T4" y="T5"/>
                </a:cxn>
                <a:cxn ang="0">
                  <a:pos x="T6" y="T7"/>
                </a:cxn>
              </a:cxnLst>
              <a:rect l="0" t="0" r="r" b="b"/>
              <a:pathLst>
                <a:path w="6" h="6">
                  <a:moveTo>
                    <a:pt x="2" y="2"/>
                  </a:moveTo>
                  <a:cubicBezTo>
                    <a:pt x="5" y="6"/>
                    <a:pt x="6" y="5"/>
                    <a:pt x="6" y="3"/>
                  </a:cubicBezTo>
                  <a:cubicBezTo>
                    <a:pt x="5" y="2"/>
                    <a:pt x="5" y="1"/>
                    <a:pt x="2" y="0"/>
                  </a:cubicBezTo>
                  <a:cubicBezTo>
                    <a:pt x="0" y="0"/>
                    <a:pt x="2" y="2"/>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15" name="Freeform 1200">
              <a:extLst>
                <a:ext uri="{FF2B5EF4-FFF2-40B4-BE49-F238E27FC236}">
                  <a16:creationId xmlns:a16="http://schemas.microsoft.com/office/drawing/2014/main" id="{17110C10-927A-4DF7-BA53-DE5AAE8309A8}"/>
                </a:ext>
              </a:extLst>
            </p:cNvPr>
            <p:cNvSpPr>
              <a:spLocks/>
            </p:cNvSpPr>
            <p:nvPr/>
          </p:nvSpPr>
          <p:spPr bwMode="auto">
            <a:xfrm>
              <a:off x="3357" y="1212"/>
              <a:ext cx="11" cy="8"/>
            </a:xfrm>
            <a:custGeom>
              <a:avLst/>
              <a:gdLst>
                <a:gd name="T0" fmla="*/ 5 w 8"/>
                <a:gd name="T1" fmla="*/ 3 h 6"/>
                <a:gd name="T2" fmla="*/ 7 w 8"/>
                <a:gd name="T3" fmla="*/ 5 h 6"/>
                <a:gd name="T4" fmla="*/ 8 w 8"/>
                <a:gd name="T5" fmla="*/ 5 h 6"/>
                <a:gd name="T6" fmla="*/ 7 w 8"/>
                <a:gd name="T7" fmla="*/ 3 h 6"/>
                <a:gd name="T8" fmla="*/ 6 w 8"/>
                <a:gd name="T9" fmla="*/ 2 h 6"/>
                <a:gd name="T10" fmla="*/ 2 w 8"/>
                <a:gd name="T11" fmla="*/ 0 h 6"/>
                <a:gd name="T12" fmla="*/ 2 w 8"/>
                <a:gd name="T13" fmla="*/ 3 h 6"/>
                <a:gd name="T14" fmla="*/ 5 w 8"/>
                <a:gd name="T15" fmla="*/ 3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6">
                  <a:moveTo>
                    <a:pt x="5" y="3"/>
                  </a:moveTo>
                  <a:cubicBezTo>
                    <a:pt x="5" y="3"/>
                    <a:pt x="6" y="4"/>
                    <a:pt x="7" y="5"/>
                  </a:cubicBezTo>
                  <a:cubicBezTo>
                    <a:pt x="7" y="6"/>
                    <a:pt x="7" y="6"/>
                    <a:pt x="8" y="5"/>
                  </a:cubicBezTo>
                  <a:cubicBezTo>
                    <a:pt x="8" y="4"/>
                    <a:pt x="8" y="5"/>
                    <a:pt x="7" y="3"/>
                  </a:cubicBezTo>
                  <a:cubicBezTo>
                    <a:pt x="7" y="3"/>
                    <a:pt x="7" y="2"/>
                    <a:pt x="6" y="2"/>
                  </a:cubicBezTo>
                  <a:cubicBezTo>
                    <a:pt x="5" y="1"/>
                    <a:pt x="2" y="0"/>
                    <a:pt x="2" y="0"/>
                  </a:cubicBezTo>
                  <a:cubicBezTo>
                    <a:pt x="0" y="0"/>
                    <a:pt x="2" y="2"/>
                    <a:pt x="2" y="3"/>
                  </a:cubicBezTo>
                  <a:cubicBezTo>
                    <a:pt x="3" y="4"/>
                    <a:pt x="4" y="4"/>
                    <a:pt x="5"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16" name="Freeform 1201">
              <a:extLst>
                <a:ext uri="{FF2B5EF4-FFF2-40B4-BE49-F238E27FC236}">
                  <a16:creationId xmlns:a16="http://schemas.microsoft.com/office/drawing/2014/main" id="{AACC3F7B-8184-4198-8124-2F7536BDDFFE}"/>
                </a:ext>
              </a:extLst>
            </p:cNvPr>
            <p:cNvSpPr>
              <a:spLocks/>
            </p:cNvSpPr>
            <p:nvPr/>
          </p:nvSpPr>
          <p:spPr bwMode="auto">
            <a:xfrm>
              <a:off x="3368" y="1211"/>
              <a:ext cx="4" cy="7"/>
            </a:xfrm>
            <a:custGeom>
              <a:avLst/>
              <a:gdLst>
                <a:gd name="T0" fmla="*/ 2 w 3"/>
                <a:gd name="T1" fmla="*/ 4 h 5"/>
                <a:gd name="T2" fmla="*/ 2 w 3"/>
                <a:gd name="T3" fmla="*/ 2 h 5"/>
                <a:gd name="T4" fmla="*/ 1 w 3"/>
                <a:gd name="T5" fmla="*/ 2 h 5"/>
                <a:gd name="T6" fmla="*/ 2 w 3"/>
                <a:gd name="T7" fmla="*/ 4 h 5"/>
              </a:gdLst>
              <a:ahLst/>
              <a:cxnLst>
                <a:cxn ang="0">
                  <a:pos x="T0" y="T1"/>
                </a:cxn>
                <a:cxn ang="0">
                  <a:pos x="T2" y="T3"/>
                </a:cxn>
                <a:cxn ang="0">
                  <a:pos x="T4" y="T5"/>
                </a:cxn>
                <a:cxn ang="0">
                  <a:pos x="T6" y="T7"/>
                </a:cxn>
              </a:cxnLst>
              <a:rect l="0" t="0" r="r" b="b"/>
              <a:pathLst>
                <a:path w="3" h="5">
                  <a:moveTo>
                    <a:pt x="2" y="4"/>
                  </a:moveTo>
                  <a:cubicBezTo>
                    <a:pt x="3" y="3"/>
                    <a:pt x="3" y="3"/>
                    <a:pt x="2" y="2"/>
                  </a:cubicBezTo>
                  <a:cubicBezTo>
                    <a:pt x="1" y="1"/>
                    <a:pt x="1" y="0"/>
                    <a:pt x="1" y="2"/>
                  </a:cubicBezTo>
                  <a:cubicBezTo>
                    <a:pt x="1" y="2"/>
                    <a:pt x="0" y="5"/>
                    <a:pt x="2"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17" name="Freeform 1202">
              <a:extLst>
                <a:ext uri="{FF2B5EF4-FFF2-40B4-BE49-F238E27FC236}">
                  <a16:creationId xmlns:a16="http://schemas.microsoft.com/office/drawing/2014/main" id="{A77FEAFB-1F20-4E99-B854-11957E7066F2}"/>
                </a:ext>
              </a:extLst>
            </p:cNvPr>
            <p:cNvSpPr>
              <a:spLocks/>
            </p:cNvSpPr>
            <p:nvPr/>
          </p:nvSpPr>
          <p:spPr bwMode="auto">
            <a:xfrm>
              <a:off x="3672" y="1349"/>
              <a:ext cx="53" cy="39"/>
            </a:xfrm>
            <a:custGeom>
              <a:avLst/>
              <a:gdLst>
                <a:gd name="T0" fmla="*/ 28 w 38"/>
                <a:gd name="T1" fmla="*/ 5 h 28"/>
                <a:gd name="T2" fmla="*/ 20 w 38"/>
                <a:gd name="T3" fmla="*/ 12 h 28"/>
                <a:gd name="T4" fmla="*/ 9 w 38"/>
                <a:gd name="T5" fmla="*/ 15 h 28"/>
                <a:gd name="T6" fmla="*/ 1 w 38"/>
                <a:gd name="T7" fmla="*/ 22 h 28"/>
                <a:gd name="T8" fmla="*/ 1 w 38"/>
                <a:gd name="T9" fmla="*/ 24 h 28"/>
                <a:gd name="T10" fmla="*/ 4 w 38"/>
                <a:gd name="T11" fmla="*/ 25 h 28"/>
                <a:gd name="T12" fmla="*/ 5 w 38"/>
                <a:gd name="T13" fmla="*/ 23 h 28"/>
                <a:gd name="T14" fmla="*/ 6 w 38"/>
                <a:gd name="T15" fmla="*/ 23 h 28"/>
                <a:gd name="T16" fmla="*/ 8 w 38"/>
                <a:gd name="T17" fmla="*/ 24 h 28"/>
                <a:gd name="T18" fmla="*/ 9 w 38"/>
                <a:gd name="T19" fmla="*/ 21 h 28"/>
                <a:gd name="T20" fmla="*/ 10 w 38"/>
                <a:gd name="T21" fmla="*/ 19 h 28"/>
                <a:gd name="T22" fmla="*/ 12 w 38"/>
                <a:gd name="T23" fmla="*/ 17 h 28"/>
                <a:gd name="T24" fmla="*/ 21 w 38"/>
                <a:gd name="T25" fmla="*/ 16 h 28"/>
                <a:gd name="T26" fmla="*/ 30 w 38"/>
                <a:gd name="T27" fmla="*/ 16 h 28"/>
                <a:gd name="T28" fmla="*/ 33 w 38"/>
                <a:gd name="T29" fmla="*/ 14 h 28"/>
                <a:gd name="T30" fmla="*/ 33 w 38"/>
                <a:gd name="T31" fmla="*/ 8 h 28"/>
                <a:gd name="T32" fmla="*/ 35 w 38"/>
                <a:gd name="T33" fmla="*/ 3 h 28"/>
                <a:gd name="T34" fmla="*/ 28 w 38"/>
                <a:gd name="T35" fmla="*/ 5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8" h="28">
                  <a:moveTo>
                    <a:pt x="28" y="5"/>
                  </a:moveTo>
                  <a:cubicBezTo>
                    <a:pt x="25" y="7"/>
                    <a:pt x="22" y="8"/>
                    <a:pt x="20" y="12"/>
                  </a:cubicBezTo>
                  <a:cubicBezTo>
                    <a:pt x="18" y="17"/>
                    <a:pt x="14" y="15"/>
                    <a:pt x="9" y="15"/>
                  </a:cubicBezTo>
                  <a:cubicBezTo>
                    <a:pt x="3" y="15"/>
                    <a:pt x="3" y="19"/>
                    <a:pt x="1" y="22"/>
                  </a:cubicBezTo>
                  <a:cubicBezTo>
                    <a:pt x="0" y="24"/>
                    <a:pt x="1" y="24"/>
                    <a:pt x="1" y="24"/>
                  </a:cubicBezTo>
                  <a:cubicBezTo>
                    <a:pt x="6" y="28"/>
                    <a:pt x="5" y="26"/>
                    <a:pt x="4" y="25"/>
                  </a:cubicBezTo>
                  <a:cubicBezTo>
                    <a:pt x="2" y="24"/>
                    <a:pt x="4" y="24"/>
                    <a:pt x="5" y="23"/>
                  </a:cubicBezTo>
                  <a:cubicBezTo>
                    <a:pt x="5" y="21"/>
                    <a:pt x="6" y="21"/>
                    <a:pt x="6" y="23"/>
                  </a:cubicBezTo>
                  <a:cubicBezTo>
                    <a:pt x="5" y="25"/>
                    <a:pt x="7" y="25"/>
                    <a:pt x="8" y="24"/>
                  </a:cubicBezTo>
                  <a:cubicBezTo>
                    <a:pt x="9" y="24"/>
                    <a:pt x="9" y="23"/>
                    <a:pt x="9" y="21"/>
                  </a:cubicBezTo>
                  <a:cubicBezTo>
                    <a:pt x="9" y="20"/>
                    <a:pt x="10" y="21"/>
                    <a:pt x="10" y="19"/>
                  </a:cubicBezTo>
                  <a:cubicBezTo>
                    <a:pt x="11" y="18"/>
                    <a:pt x="11" y="18"/>
                    <a:pt x="12" y="17"/>
                  </a:cubicBezTo>
                  <a:cubicBezTo>
                    <a:pt x="14" y="17"/>
                    <a:pt x="19" y="17"/>
                    <a:pt x="21" y="16"/>
                  </a:cubicBezTo>
                  <a:cubicBezTo>
                    <a:pt x="22" y="16"/>
                    <a:pt x="27" y="16"/>
                    <a:pt x="30" y="16"/>
                  </a:cubicBezTo>
                  <a:cubicBezTo>
                    <a:pt x="33" y="16"/>
                    <a:pt x="32" y="15"/>
                    <a:pt x="33" y="14"/>
                  </a:cubicBezTo>
                  <a:cubicBezTo>
                    <a:pt x="34" y="12"/>
                    <a:pt x="34" y="10"/>
                    <a:pt x="33" y="8"/>
                  </a:cubicBezTo>
                  <a:cubicBezTo>
                    <a:pt x="32" y="7"/>
                    <a:pt x="33" y="6"/>
                    <a:pt x="35" y="3"/>
                  </a:cubicBezTo>
                  <a:cubicBezTo>
                    <a:pt x="38" y="0"/>
                    <a:pt x="30" y="4"/>
                    <a:pt x="28"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18" name="Freeform 1203">
              <a:extLst>
                <a:ext uri="{FF2B5EF4-FFF2-40B4-BE49-F238E27FC236}">
                  <a16:creationId xmlns:a16="http://schemas.microsoft.com/office/drawing/2014/main" id="{723838D5-B37E-4BC3-BB9C-85F2A9C48897}"/>
                </a:ext>
              </a:extLst>
            </p:cNvPr>
            <p:cNvSpPr>
              <a:spLocks/>
            </p:cNvSpPr>
            <p:nvPr/>
          </p:nvSpPr>
          <p:spPr bwMode="auto">
            <a:xfrm>
              <a:off x="3700" y="1429"/>
              <a:ext cx="8" cy="7"/>
            </a:xfrm>
            <a:custGeom>
              <a:avLst/>
              <a:gdLst>
                <a:gd name="T0" fmla="*/ 2 w 6"/>
                <a:gd name="T1" fmla="*/ 0 h 5"/>
                <a:gd name="T2" fmla="*/ 3 w 6"/>
                <a:gd name="T3" fmla="*/ 1 h 5"/>
                <a:gd name="T4" fmla="*/ 4 w 6"/>
                <a:gd name="T5" fmla="*/ 3 h 5"/>
                <a:gd name="T6" fmla="*/ 6 w 6"/>
                <a:gd name="T7" fmla="*/ 3 h 5"/>
                <a:gd name="T8" fmla="*/ 5 w 6"/>
                <a:gd name="T9" fmla="*/ 1 h 5"/>
                <a:gd name="T10" fmla="*/ 2 w 6"/>
                <a:gd name="T11" fmla="*/ 0 h 5"/>
              </a:gdLst>
              <a:ahLst/>
              <a:cxnLst>
                <a:cxn ang="0">
                  <a:pos x="T0" y="T1"/>
                </a:cxn>
                <a:cxn ang="0">
                  <a:pos x="T2" y="T3"/>
                </a:cxn>
                <a:cxn ang="0">
                  <a:pos x="T4" y="T5"/>
                </a:cxn>
                <a:cxn ang="0">
                  <a:pos x="T6" y="T7"/>
                </a:cxn>
                <a:cxn ang="0">
                  <a:pos x="T8" y="T9"/>
                </a:cxn>
                <a:cxn ang="0">
                  <a:pos x="T10" y="T11"/>
                </a:cxn>
              </a:cxnLst>
              <a:rect l="0" t="0" r="r" b="b"/>
              <a:pathLst>
                <a:path w="6" h="5">
                  <a:moveTo>
                    <a:pt x="2" y="0"/>
                  </a:moveTo>
                  <a:cubicBezTo>
                    <a:pt x="0" y="1"/>
                    <a:pt x="3" y="1"/>
                    <a:pt x="3" y="1"/>
                  </a:cubicBezTo>
                  <a:cubicBezTo>
                    <a:pt x="4" y="2"/>
                    <a:pt x="4" y="1"/>
                    <a:pt x="4" y="3"/>
                  </a:cubicBezTo>
                  <a:cubicBezTo>
                    <a:pt x="4" y="5"/>
                    <a:pt x="6" y="4"/>
                    <a:pt x="6" y="3"/>
                  </a:cubicBezTo>
                  <a:cubicBezTo>
                    <a:pt x="6" y="3"/>
                    <a:pt x="6" y="2"/>
                    <a:pt x="5" y="1"/>
                  </a:cubicBezTo>
                  <a:cubicBezTo>
                    <a:pt x="4" y="0"/>
                    <a:pt x="4" y="0"/>
                    <a:pt x="2" y="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19" name="Freeform 1204">
              <a:extLst>
                <a:ext uri="{FF2B5EF4-FFF2-40B4-BE49-F238E27FC236}">
                  <a16:creationId xmlns:a16="http://schemas.microsoft.com/office/drawing/2014/main" id="{786B7EED-0D68-45FC-935E-BE9C38DABCAE}"/>
                </a:ext>
              </a:extLst>
            </p:cNvPr>
            <p:cNvSpPr>
              <a:spLocks/>
            </p:cNvSpPr>
            <p:nvPr/>
          </p:nvSpPr>
          <p:spPr bwMode="auto">
            <a:xfrm>
              <a:off x="3701" y="1413"/>
              <a:ext cx="26" cy="19"/>
            </a:xfrm>
            <a:custGeom>
              <a:avLst/>
              <a:gdLst>
                <a:gd name="T0" fmla="*/ 10 w 19"/>
                <a:gd name="T1" fmla="*/ 12 h 14"/>
                <a:gd name="T2" fmla="*/ 17 w 19"/>
                <a:gd name="T3" fmla="*/ 11 h 14"/>
                <a:gd name="T4" fmla="*/ 17 w 19"/>
                <a:gd name="T5" fmla="*/ 7 h 14"/>
                <a:gd name="T6" fmla="*/ 15 w 19"/>
                <a:gd name="T7" fmla="*/ 5 h 14"/>
                <a:gd name="T8" fmla="*/ 16 w 19"/>
                <a:gd name="T9" fmla="*/ 4 h 14"/>
                <a:gd name="T10" fmla="*/ 15 w 19"/>
                <a:gd name="T11" fmla="*/ 1 h 14"/>
                <a:gd name="T12" fmla="*/ 13 w 19"/>
                <a:gd name="T13" fmla="*/ 4 h 14"/>
                <a:gd name="T14" fmla="*/ 13 w 19"/>
                <a:gd name="T15" fmla="*/ 3 h 14"/>
                <a:gd name="T16" fmla="*/ 4 w 19"/>
                <a:gd name="T17" fmla="*/ 3 h 14"/>
                <a:gd name="T18" fmla="*/ 2 w 19"/>
                <a:gd name="T19" fmla="*/ 4 h 14"/>
                <a:gd name="T20" fmla="*/ 3 w 19"/>
                <a:gd name="T21" fmla="*/ 6 h 14"/>
                <a:gd name="T22" fmla="*/ 5 w 19"/>
                <a:gd name="T23" fmla="*/ 9 h 14"/>
                <a:gd name="T24" fmla="*/ 10 w 19"/>
                <a:gd name="T25"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14">
                  <a:moveTo>
                    <a:pt x="10" y="12"/>
                  </a:moveTo>
                  <a:cubicBezTo>
                    <a:pt x="11" y="14"/>
                    <a:pt x="15" y="12"/>
                    <a:pt x="17" y="11"/>
                  </a:cubicBezTo>
                  <a:cubicBezTo>
                    <a:pt x="19" y="10"/>
                    <a:pt x="18" y="9"/>
                    <a:pt x="17" y="7"/>
                  </a:cubicBezTo>
                  <a:cubicBezTo>
                    <a:pt x="15" y="5"/>
                    <a:pt x="17" y="5"/>
                    <a:pt x="15" y="5"/>
                  </a:cubicBezTo>
                  <a:cubicBezTo>
                    <a:pt x="13" y="4"/>
                    <a:pt x="15" y="4"/>
                    <a:pt x="16" y="4"/>
                  </a:cubicBezTo>
                  <a:cubicBezTo>
                    <a:pt x="17" y="3"/>
                    <a:pt x="16" y="2"/>
                    <a:pt x="15" y="1"/>
                  </a:cubicBezTo>
                  <a:cubicBezTo>
                    <a:pt x="14" y="0"/>
                    <a:pt x="14" y="3"/>
                    <a:pt x="13" y="4"/>
                  </a:cubicBezTo>
                  <a:cubicBezTo>
                    <a:pt x="12" y="5"/>
                    <a:pt x="12" y="4"/>
                    <a:pt x="13" y="3"/>
                  </a:cubicBezTo>
                  <a:cubicBezTo>
                    <a:pt x="13" y="2"/>
                    <a:pt x="7" y="2"/>
                    <a:pt x="4" y="3"/>
                  </a:cubicBezTo>
                  <a:cubicBezTo>
                    <a:pt x="0" y="3"/>
                    <a:pt x="2" y="4"/>
                    <a:pt x="2" y="4"/>
                  </a:cubicBezTo>
                  <a:cubicBezTo>
                    <a:pt x="3" y="5"/>
                    <a:pt x="3" y="5"/>
                    <a:pt x="3" y="6"/>
                  </a:cubicBezTo>
                  <a:cubicBezTo>
                    <a:pt x="4" y="7"/>
                    <a:pt x="4" y="9"/>
                    <a:pt x="5" y="9"/>
                  </a:cubicBezTo>
                  <a:cubicBezTo>
                    <a:pt x="7" y="10"/>
                    <a:pt x="8" y="9"/>
                    <a:pt x="10" y="1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20" name="Freeform 1205">
              <a:extLst>
                <a:ext uri="{FF2B5EF4-FFF2-40B4-BE49-F238E27FC236}">
                  <a16:creationId xmlns:a16="http://schemas.microsoft.com/office/drawing/2014/main" id="{03695972-0211-468B-8542-CDD54C683D75}"/>
                </a:ext>
              </a:extLst>
            </p:cNvPr>
            <p:cNvSpPr>
              <a:spLocks/>
            </p:cNvSpPr>
            <p:nvPr/>
          </p:nvSpPr>
          <p:spPr bwMode="auto">
            <a:xfrm>
              <a:off x="3718" y="1403"/>
              <a:ext cx="5" cy="7"/>
            </a:xfrm>
            <a:custGeom>
              <a:avLst/>
              <a:gdLst>
                <a:gd name="T0" fmla="*/ 2 w 4"/>
                <a:gd name="T1" fmla="*/ 3 h 5"/>
                <a:gd name="T2" fmla="*/ 2 w 4"/>
                <a:gd name="T3" fmla="*/ 1 h 5"/>
                <a:gd name="T4" fmla="*/ 1 w 4"/>
                <a:gd name="T5" fmla="*/ 3 h 5"/>
                <a:gd name="T6" fmla="*/ 2 w 4"/>
                <a:gd name="T7" fmla="*/ 3 h 5"/>
              </a:gdLst>
              <a:ahLst/>
              <a:cxnLst>
                <a:cxn ang="0">
                  <a:pos x="T0" y="T1"/>
                </a:cxn>
                <a:cxn ang="0">
                  <a:pos x="T2" y="T3"/>
                </a:cxn>
                <a:cxn ang="0">
                  <a:pos x="T4" y="T5"/>
                </a:cxn>
                <a:cxn ang="0">
                  <a:pos x="T6" y="T7"/>
                </a:cxn>
              </a:cxnLst>
              <a:rect l="0" t="0" r="r" b="b"/>
              <a:pathLst>
                <a:path w="4" h="5">
                  <a:moveTo>
                    <a:pt x="2" y="3"/>
                  </a:moveTo>
                  <a:cubicBezTo>
                    <a:pt x="4" y="2"/>
                    <a:pt x="2" y="2"/>
                    <a:pt x="2" y="1"/>
                  </a:cubicBezTo>
                  <a:cubicBezTo>
                    <a:pt x="1" y="0"/>
                    <a:pt x="1" y="0"/>
                    <a:pt x="1" y="3"/>
                  </a:cubicBezTo>
                  <a:cubicBezTo>
                    <a:pt x="0" y="5"/>
                    <a:pt x="2" y="3"/>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21" name="Freeform 1206">
              <a:extLst>
                <a:ext uri="{FF2B5EF4-FFF2-40B4-BE49-F238E27FC236}">
                  <a16:creationId xmlns:a16="http://schemas.microsoft.com/office/drawing/2014/main" id="{995C2B73-A1E2-4553-9D38-63E806671EAE}"/>
                </a:ext>
              </a:extLst>
            </p:cNvPr>
            <p:cNvSpPr>
              <a:spLocks/>
            </p:cNvSpPr>
            <p:nvPr/>
          </p:nvSpPr>
          <p:spPr bwMode="auto">
            <a:xfrm>
              <a:off x="3720" y="1426"/>
              <a:ext cx="9" cy="14"/>
            </a:xfrm>
            <a:custGeom>
              <a:avLst/>
              <a:gdLst>
                <a:gd name="T0" fmla="*/ 3 w 6"/>
                <a:gd name="T1" fmla="*/ 8 h 10"/>
                <a:gd name="T2" fmla="*/ 5 w 6"/>
                <a:gd name="T3" fmla="*/ 3 h 10"/>
                <a:gd name="T4" fmla="*/ 5 w 6"/>
                <a:gd name="T5" fmla="*/ 1 h 10"/>
                <a:gd name="T6" fmla="*/ 2 w 6"/>
                <a:gd name="T7" fmla="*/ 7 h 10"/>
                <a:gd name="T8" fmla="*/ 1 w 6"/>
                <a:gd name="T9" fmla="*/ 8 h 10"/>
                <a:gd name="T10" fmla="*/ 3 w 6"/>
                <a:gd name="T11" fmla="*/ 8 h 10"/>
              </a:gdLst>
              <a:ahLst/>
              <a:cxnLst>
                <a:cxn ang="0">
                  <a:pos x="T0" y="T1"/>
                </a:cxn>
                <a:cxn ang="0">
                  <a:pos x="T2" y="T3"/>
                </a:cxn>
                <a:cxn ang="0">
                  <a:pos x="T4" y="T5"/>
                </a:cxn>
                <a:cxn ang="0">
                  <a:pos x="T6" y="T7"/>
                </a:cxn>
                <a:cxn ang="0">
                  <a:pos x="T8" y="T9"/>
                </a:cxn>
                <a:cxn ang="0">
                  <a:pos x="T10" y="T11"/>
                </a:cxn>
              </a:cxnLst>
              <a:rect l="0" t="0" r="r" b="b"/>
              <a:pathLst>
                <a:path w="6" h="10">
                  <a:moveTo>
                    <a:pt x="3" y="8"/>
                  </a:moveTo>
                  <a:cubicBezTo>
                    <a:pt x="3" y="6"/>
                    <a:pt x="4" y="4"/>
                    <a:pt x="5" y="3"/>
                  </a:cubicBezTo>
                  <a:cubicBezTo>
                    <a:pt x="6" y="2"/>
                    <a:pt x="6" y="0"/>
                    <a:pt x="5" y="1"/>
                  </a:cubicBezTo>
                  <a:cubicBezTo>
                    <a:pt x="3" y="3"/>
                    <a:pt x="3" y="6"/>
                    <a:pt x="2" y="7"/>
                  </a:cubicBezTo>
                  <a:cubicBezTo>
                    <a:pt x="2" y="7"/>
                    <a:pt x="0" y="7"/>
                    <a:pt x="1" y="8"/>
                  </a:cubicBezTo>
                  <a:cubicBezTo>
                    <a:pt x="2" y="10"/>
                    <a:pt x="3" y="10"/>
                    <a:pt x="3"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22" name="Freeform 1207">
              <a:extLst>
                <a:ext uri="{FF2B5EF4-FFF2-40B4-BE49-F238E27FC236}">
                  <a16:creationId xmlns:a16="http://schemas.microsoft.com/office/drawing/2014/main" id="{C3EF5C1D-4B28-4948-B303-20624D32F9C2}"/>
                </a:ext>
              </a:extLst>
            </p:cNvPr>
            <p:cNvSpPr>
              <a:spLocks/>
            </p:cNvSpPr>
            <p:nvPr/>
          </p:nvSpPr>
          <p:spPr bwMode="auto">
            <a:xfrm>
              <a:off x="3726" y="1398"/>
              <a:ext cx="37" cy="49"/>
            </a:xfrm>
            <a:custGeom>
              <a:avLst/>
              <a:gdLst>
                <a:gd name="T0" fmla="*/ 7 w 27"/>
                <a:gd name="T1" fmla="*/ 9 h 36"/>
                <a:gd name="T2" fmla="*/ 2 w 27"/>
                <a:gd name="T3" fmla="*/ 10 h 36"/>
                <a:gd name="T4" fmla="*/ 2 w 27"/>
                <a:gd name="T5" fmla="*/ 11 h 36"/>
                <a:gd name="T6" fmla="*/ 5 w 27"/>
                <a:gd name="T7" fmla="*/ 13 h 36"/>
                <a:gd name="T8" fmla="*/ 4 w 27"/>
                <a:gd name="T9" fmla="*/ 17 h 36"/>
                <a:gd name="T10" fmla="*/ 13 w 27"/>
                <a:gd name="T11" fmla="*/ 21 h 36"/>
                <a:gd name="T12" fmla="*/ 13 w 27"/>
                <a:gd name="T13" fmla="*/ 22 h 36"/>
                <a:gd name="T14" fmla="*/ 14 w 27"/>
                <a:gd name="T15" fmla="*/ 24 h 36"/>
                <a:gd name="T16" fmla="*/ 13 w 27"/>
                <a:gd name="T17" fmla="*/ 26 h 36"/>
                <a:gd name="T18" fmla="*/ 16 w 27"/>
                <a:gd name="T19" fmla="*/ 32 h 36"/>
                <a:gd name="T20" fmla="*/ 17 w 27"/>
                <a:gd name="T21" fmla="*/ 32 h 36"/>
                <a:gd name="T22" fmla="*/ 19 w 27"/>
                <a:gd name="T23" fmla="*/ 29 h 36"/>
                <a:gd name="T24" fmla="*/ 17 w 27"/>
                <a:gd name="T25" fmla="*/ 27 h 36"/>
                <a:gd name="T26" fmla="*/ 18 w 27"/>
                <a:gd name="T27" fmla="*/ 24 h 36"/>
                <a:gd name="T28" fmla="*/ 18 w 27"/>
                <a:gd name="T29" fmla="*/ 22 h 36"/>
                <a:gd name="T30" fmla="*/ 21 w 27"/>
                <a:gd name="T31" fmla="*/ 20 h 36"/>
                <a:gd name="T32" fmla="*/ 22 w 27"/>
                <a:gd name="T33" fmla="*/ 17 h 36"/>
                <a:gd name="T34" fmla="*/ 21 w 27"/>
                <a:gd name="T35" fmla="*/ 15 h 36"/>
                <a:gd name="T36" fmla="*/ 25 w 27"/>
                <a:gd name="T37" fmla="*/ 11 h 36"/>
                <a:gd name="T38" fmla="*/ 25 w 27"/>
                <a:gd name="T39" fmla="*/ 5 h 36"/>
                <a:gd name="T40" fmla="*/ 23 w 27"/>
                <a:gd name="T41" fmla="*/ 1 h 36"/>
                <a:gd name="T42" fmla="*/ 17 w 27"/>
                <a:gd name="T43" fmla="*/ 3 h 36"/>
                <a:gd name="T44" fmla="*/ 18 w 27"/>
                <a:gd name="T45" fmla="*/ 6 h 36"/>
                <a:gd name="T46" fmla="*/ 17 w 27"/>
                <a:gd name="T47" fmla="*/ 11 h 36"/>
                <a:gd name="T48" fmla="*/ 17 w 27"/>
                <a:gd name="T49" fmla="*/ 10 h 36"/>
                <a:gd name="T50" fmla="*/ 16 w 27"/>
                <a:gd name="T51" fmla="*/ 6 h 36"/>
                <a:gd name="T52" fmla="*/ 15 w 27"/>
                <a:gd name="T53" fmla="*/ 10 h 36"/>
                <a:gd name="T54" fmla="*/ 12 w 27"/>
                <a:gd name="T55" fmla="*/ 9 h 36"/>
                <a:gd name="T56" fmla="*/ 13 w 27"/>
                <a:gd name="T57" fmla="*/ 6 h 36"/>
                <a:gd name="T58" fmla="*/ 9 w 27"/>
                <a:gd name="T59" fmla="*/ 4 h 36"/>
                <a:gd name="T60" fmla="*/ 9 w 27"/>
                <a:gd name="T61" fmla="*/ 5 h 36"/>
                <a:gd name="T62" fmla="*/ 7 w 27"/>
                <a:gd name="T63" fmla="*/ 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6">
                  <a:moveTo>
                    <a:pt x="7" y="9"/>
                  </a:moveTo>
                  <a:cubicBezTo>
                    <a:pt x="5" y="10"/>
                    <a:pt x="4" y="10"/>
                    <a:pt x="2" y="10"/>
                  </a:cubicBezTo>
                  <a:cubicBezTo>
                    <a:pt x="0" y="9"/>
                    <a:pt x="2" y="11"/>
                    <a:pt x="2" y="11"/>
                  </a:cubicBezTo>
                  <a:cubicBezTo>
                    <a:pt x="3" y="12"/>
                    <a:pt x="4" y="12"/>
                    <a:pt x="5" y="13"/>
                  </a:cubicBezTo>
                  <a:cubicBezTo>
                    <a:pt x="5" y="15"/>
                    <a:pt x="6" y="16"/>
                    <a:pt x="4" y="17"/>
                  </a:cubicBezTo>
                  <a:cubicBezTo>
                    <a:pt x="3" y="19"/>
                    <a:pt x="11" y="20"/>
                    <a:pt x="13" y="21"/>
                  </a:cubicBezTo>
                  <a:cubicBezTo>
                    <a:pt x="15" y="22"/>
                    <a:pt x="15" y="22"/>
                    <a:pt x="13" y="22"/>
                  </a:cubicBezTo>
                  <a:cubicBezTo>
                    <a:pt x="12" y="23"/>
                    <a:pt x="12" y="23"/>
                    <a:pt x="14" y="24"/>
                  </a:cubicBezTo>
                  <a:cubicBezTo>
                    <a:pt x="15" y="25"/>
                    <a:pt x="15" y="25"/>
                    <a:pt x="13" y="26"/>
                  </a:cubicBezTo>
                  <a:cubicBezTo>
                    <a:pt x="12" y="27"/>
                    <a:pt x="15" y="29"/>
                    <a:pt x="16" y="32"/>
                  </a:cubicBezTo>
                  <a:cubicBezTo>
                    <a:pt x="16" y="36"/>
                    <a:pt x="17" y="33"/>
                    <a:pt x="17" y="32"/>
                  </a:cubicBezTo>
                  <a:cubicBezTo>
                    <a:pt x="18" y="31"/>
                    <a:pt x="18" y="30"/>
                    <a:pt x="19" y="29"/>
                  </a:cubicBezTo>
                  <a:cubicBezTo>
                    <a:pt x="20" y="27"/>
                    <a:pt x="19" y="27"/>
                    <a:pt x="17" y="27"/>
                  </a:cubicBezTo>
                  <a:cubicBezTo>
                    <a:pt x="15" y="26"/>
                    <a:pt x="16" y="25"/>
                    <a:pt x="18" y="24"/>
                  </a:cubicBezTo>
                  <a:cubicBezTo>
                    <a:pt x="19" y="24"/>
                    <a:pt x="19" y="23"/>
                    <a:pt x="18" y="22"/>
                  </a:cubicBezTo>
                  <a:cubicBezTo>
                    <a:pt x="17" y="21"/>
                    <a:pt x="18" y="21"/>
                    <a:pt x="21" y="20"/>
                  </a:cubicBezTo>
                  <a:cubicBezTo>
                    <a:pt x="24" y="19"/>
                    <a:pt x="24" y="17"/>
                    <a:pt x="22" y="17"/>
                  </a:cubicBezTo>
                  <a:cubicBezTo>
                    <a:pt x="20" y="17"/>
                    <a:pt x="22" y="16"/>
                    <a:pt x="21" y="15"/>
                  </a:cubicBezTo>
                  <a:cubicBezTo>
                    <a:pt x="20" y="13"/>
                    <a:pt x="23" y="12"/>
                    <a:pt x="25" y="11"/>
                  </a:cubicBezTo>
                  <a:cubicBezTo>
                    <a:pt x="27" y="10"/>
                    <a:pt x="26" y="8"/>
                    <a:pt x="25" y="5"/>
                  </a:cubicBezTo>
                  <a:cubicBezTo>
                    <a:pt x="25" y="3"/>
                    <a:pt x="24" y="2"/>
                    <a:pt x="23" y="1"/>
                  </a:cubicBezTo>
                  <a:cubicBezTo>
                    <a:pt x="21" y="0"/>
                    <a:pt x="19" y="2"/>
                    <a:pt x="17" y="3"/>
                  </a:cubicBezTo>
                  <a:cubicBezTo>
                    <a:pt x="15" y="5"/>
                    <a:pt x="16" y="4"/>
                    <a:pt x="18" y="6"/>
                  </a:cubicBezTo>
                  <a:cubicBezTo>
                    <a:pt x="19" y="8"/>
                    <a:pt x="19" y="10"/>
                    <a:pt x="17" y="11"/>
                  </a:cubicBezTo>
                  <a:cubicBezTo>
                    <a:pt x="16" y="12"/>
                    <a:pt x="16" y="11"/>
                    <a:pt x="17" y="10"/>
                  </a:cubicBezTo>
                  <a:cubicBezTo>
                    <a:pt x="18" y="8"/>
                    <a:pt x="17" y="8"/>
                    <a:pt x="16" y="6"/>
                  </a:cubicBezTo>
                  <a:cubicBezTo>
                    <a:pt x="16" y="5"/>
                    <a:pt x="15" y="7"/>
                    <a:pt x="15" y="10"/>
                  </a:cubicBezTo>
                  <a:cubicBezTo>
                    <a:pt x="14" y="13"/>
                    <a:pt x="13" y="10"/>
                    <a:pt x="12" y="9"/>
                  </a:cubicBezTo>
                  <a:cubicBezTo>
                    <a:pt x="12" y="7"/>
                    <a:pt x="11" y="8"/>
                    <a:pt x="13" y="6"/>
                  </a:cubicBezTo>
                  <a:cubicBezTo>
                    <a:pt x="14" y="4"/>
                    <a:pt x="11" y="5"/>
                    <a:pt x="9" y="4"/>
                  </a:cubicBezTo>
                  <a:cubicBezTo>
                    <a:pt x="6" y="4"/>
                    <a:pt x="8" y="5"/>
                    <a:pt x="9" y="5"/>
                  </a:cubicBezTo>
                  <a:cubicBezTo>
                    <a:pt x="11" y="6"/>
                    <a:pt x="9" y="8"/>
                    <a:pt x="7"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23" name="Freeform 1208">
              <a:extLst>
                <a:ext uri="{FF2B5EF4-FFF2-40B4-BE49-F238E27FC236}">
                  <a16:creationId xmlns:a16="http://schemas.microsoft.com/office/drawing/2014/main" id="{CA42ADBC-A4A8-46FA-A772-23AAB4E3D9D2}"/>
                </a:ext>
              </a:extLst>
            </p:cNvPr>
            <p:cNvSpPr>
              <a:spLocks/>
            </p:cNvSpPr>
            <p:nvPr/>
          </p:nvSpPr>
          <p:spPr bwMode="auto">
            <a:xfrm>
              <a:off x="3729" y="1444"/>
              <a:ext cx="5" cy="3"/>
            </a:xfrm>
            <a:custGeom>
              <a:avLst/>
              <a:gdLst>
                <a:gd name="T0" fmla="*/ 1 w 4"/>
                <a:gd name="T1" fmla="*/ 1 h 2"/>
                <a:gd name="T2" fmla="*/ 2 w 4"/>
                <a:gd name="T3" fmla="*/ 2 h 2"/>
                <a:gd name="T4" fmla="*/ 3 w 4"/>
                <a:gd name="T5" fmla="*/ 1 h 2"/>
                <a:gd name="T6" fmla="*/ 1 w 4"/>
                <a:gd name="T7" fmla="*/ 1 h 2"/>
              </a:gdLst>
              <a:ahLst/>
              <a:cxnLst>
                <a:cxn ang="0">
                  <a:pos x="T0" y="T1"/>
                </a:cxn>
                <a:cxn ang="0">
                  <a:pos x="T2" y="T3"/>
                </a:cxn>
                <a:cxn ang="0">
                  <a:pos x="T4" y="T5"/>
                </a:cxn>
                <a:cxn ang="0">
                  <a:pos x="T6" y="T7"/>
                </a:cxn>
              </a:cxnLst>
              <a:rect l="0" t="0" r="r" b="b"/>
              <a:pathLst>
                <a:path w="4" h="2">
                  <a:moveTo>
                    <a:pt x="1" y="1"/>
                  </a:moveTo>
                  <a:cubicBezTo>
                    <a:pt x="0" y="1"/>
                    <a:pt x="2" y="2"/>
                    <a:pt x="2" y="2"/>
                  </a:cubicBezTo>
                  <a:cubicBezTo>
                    <a:pt x="4" y="2"/>
                    <a:pt x="4" y="1"/>
                    <a:pt x="3" y="1"/>
                  </a:cubicBezTo>
                  <a:cubicBezTo>
                    <a:pt x="2" y="0"/>
                    <a:pt x="2" y="0"/>
                    <a:pt x="1"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24" name="Freeform 1209">
              <a:extLst>
                <a:ext uri="{FF2B5EF4-FFF2-40B4-BE49-F238E27FC236}">
                  <a16:creationId xmlns:a16="http://schemas.microsoft.com/office/drawing/2014/main" id="{4E41EA46-59C7-4A7F-98EC-15CB55B11051}"/>
                </a:ext>
              </a:extLst>
            </p:cNvPr>
            <p:cNvSpPr>
              <a:spLocks/>
            </p:cNvSpPr>
            <p:nvPr/>
          </p:nvSpPr>
          <p:spPr bwMode="auto">
            <a:xfrm>
              <a:off x="3729" y="1435"/>
              <a:ext cx="18" cy="8"/>
            </a:xfrm>
            <a:custGeom>
              <a:avLst/>
              <a:gdLst>
                <a:gd name="T0" fmla="*/ 11 w 13"/>
                <a:gd name="T1" fmla="*/ 4 h 6"/>
                <a:gd name="T2" fmla="*/ 12 w 13"/>
                <a:gd name="T3" fmla="*/ 2 h 6"/>
                <a:gd name="T4" fmla="*/ 8 w 13"/>
                <a:gd name="T5" fmla="*/ 1 h 6"/>
                <a:gd name="T6" fmla="*/ 4 w 13"/>
                <a:gd name="T7" fmla="*/ 0 h 6"/>
                <a:gd name="T8" fmla="*/ 1 w 13"/>
                <a:gd name="T9" fmla="*/ 1 h 6"/>
                <a:gd name="T10" fmla="*/ 1 w 13"/>
                <a:gd name="T11" fmla="*/ 3 h 6"/>
                <a:gd name="T12" fmla="*/ 6 w 13"/>
                <a:gd name="T13" fmla="*/ 5 h 6"/>
                <a:gd name="T14" fmla="*/ 11 w 13"/>
                <a:gd name="T15" fmla="*/ 4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6">
                  <a:moveTo>
                    <a:pt x="11" y="4"/>
                  </a:moveTo>
                  <a:cubicBezTo>
                    <a:pt x="13" y="3"/>
                    <a:pt x="12" y="3"/>
                    <a:pt x="12" y="2"/>
                  </a:cubicBezTo>
                  <a:cubicBezTo>
                    <a:pt x="12" y="1"/>
                    <a:pt x="9" y="1"/>
                    <a:pt x="8" y="1"/>
                  </a:cubicBezTo>
                  <a:cubicBezTo>
                    <a:pt x="7" y="1"/>
                    <a:pt x="6" y="0"/>
                    <a:pt x="4" y="0"/>
                  </a:cubicBezTo>
                  <a:cubicBezTo>
                    <a:pt x="2" y="0"/>
                    <a:pt x="2" y="1"/>
                    <a:pt x="1" y="1"/>
                  </a:cubicBezTo>
                  <a:cubicBezTo>
                    <a:pt x="0" y="2"/>
                    <a:pt x="1" y="3"/>
                    <a:pt x="1" y="3"/>
                  </a:cubicBezTo>
                  <a:cubicBezTo>
                    <a:pt x="3" y="4"/>
                    <a:pt x="4" y="3"/>
                    <a:pt x="6" y="5"/>
                  </a:cubicBezTo>
                  <a:cubicBezTo>
                    <a:pt x="8" y="6"/>
                    <a:pt x="8" y="4"/>
                    <a:pt x="1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25" name="Freeform 1210">
              <a:extLst>
                <a:ext uri="{FF2B5EF4-FFF2-40B4-BE49-F238E27FC236}">
                  <a16:creationId xmlns:a16="http://schemas.microsoft.com/office/drawing/2014/main" id="{2524A812-F6C9-439C-9DB2-E06642C6C0CC}"/>
                </a:ext>
              </a:extLst>
            </p:cNvPr>
            <p:cNvSpPr>
              <a:spLocks/>
            </p:cNvSpPr>
            <p:nvPr/>
          </p:nvSpPr>
          <p:spPr bwMode="auto">
            <a:xfrm>
              <a:off x="3803" y="1424"/>
              <a:ext cx="10" cy="8"/>
            </a:xfrm>
            <a:custGeom>
              <a:avLst/>
              <a:gdLst>
                <a:gd name="T0" fmla="*/ 5 w 7"/>
                <a:gd name="T1" fmla="*/ 5 h 6"/>
                <a:gd name="T2" fmla="*/ 7 w 7"/>
                <a:gd name="T3" fmla="*/ 3 h 6"/>
                <a:gd name="T4" fmla="*/ 3 w 7"/>
                <a:gd name="T5" fmla="*/ 1 h 6"/>
                <a:gd name="T6" fmla="*/ 2 w 7"/>
                <a:gd name="T7" fmla="*/ 1 h 6"/>
                <a:gd name="T8" fmla="*/ 5 w 7"/>
                <a:gd name="T9" fmla="*/ 5 h 6"/>
              </a:gdLst>
              <a:ahLst/>
              <a:cxnLst>
                <a:cxn ang="0">
                  <a:pos x="T0" y="T1"/>
                </a:cxn>
                <a:cxn ang="0">
                  <a:pos x="T2" y="T3"/>
                </a:cxn>
                <a:cxn ang="0">
                  <a:pos x="T4" y="T5"/>
                </a:cxn>
                <a:cxn ang="0">
                  <a:pos x="T6" y="T7"/>
                </a:cxn>
                <a:cxn ang="0">
                  <a:pos x="T8" y="T9"/>
                </a:cxn>
              </a:cxnLst>
              <a:rect l="0" t="0" r="r" b="b"/>
              <a:pathLst>
                <a:path w="7" h="6">
                  <a:moveTo>
                    <a:pt x="5" y="5"/>
                  </a:moveTo>
                  <a:cubicBezTo>
                    <a:pt x="7" y="6"/>
                    <a:pt x="6" y="4"/>
                    <a:pt x="7" y="3"/>
                  </a:cubicBezTo>
                  <a:cubicBezTo>
                    <a:pt x="7" y="2"/>
                    <a:pt x="4" y="1"/>
                    <a:pt x="3" y="1"/>
                  </a:cubicBezTo>
                  <a:cubicBezTo>
                    <a:pt x="1" y="0"/>
                    <a:pt x="2" y="1"/>
                    <a:pt x="2" y="1"/>
                  </a:cubicBezTo>
                  <a:cubicBezTo>
                    <a:pt x="0" y="4"/>
                    <a:pt x="3" y="4"/>
                    <a:pt x="5"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26" name="Freeform 1211">
              <a:extLst>
                <a:ext uri="{FF2B5EF4-FFF2-40B4-BE49-F238E27FC236}">
                  <a16:creationId xmlns:a16="http://schemas.microsoft.com/office/drawing/2014/main" id="{3AB1E942-17E1-4927-9CE8-A8AE871AC3A2}"/>
                </a:ext>
              </a:extLst>
            </p:cNvPr>
            <p:cNvSpPr>
              <a:spLocks/>
            </p:cNvSpPr>
            <p:nvPr/>
          </p:nvSpPr>
          <p:spPr bwMode="auto">
            <a:xfrm>
              <a:off x="3752" y="1429"/>
              <a:ext cx="10" cy="7"/>
            </a:xfrm>
            <a:custGeom>
              <a:avLst/>
              <a:gdLst>
                <a:gd name="T0" fmla="*/ 1 w 7"/>
                <a:gd name="T1" fmla="*/ 3 h 5"/>
                <a:gd name="T2" fmla="*/ 2 w 7"/>
                <a:gd name="T3" fmla="*/ 3 h 5"/>
                <a:gd name="T4" fmla="*/ 5 w 7"/>
                <a:gd name="T5" fmla="*/ 3 h 5"/>
                <a:gd name="T6" fmla="*/ 3 w 7"/>
                <a:gd name="T7" fmla="*/ 1 h 5"/>
                <a:gd name="T8" fmla="*/ 1 w 7"/>
                <a:gd name="T9" fmla="*/ 3 h 5"/>
              </a:gdLst>
              <a:ahLst/>
              <a:cxnLst>
                <a:cxn ang="0">
                  <a:pos x="T0" y="T1"/>
                </a:cxn>
                <a:cxn ang="0">
                  <a:pos x="T2" y="T3"/>
                </a:cxn>
                <a:cxn ang="0">
                  <a:pos x="T4" y="T5"/>
                </a:cxn>
                <a:cxn ang="0">
                  <a:pos x="T6" y="T7"/>
                </a:cxn>
                <a:cxn ang="0">
                  <a:pos x="T8" y="T9"/>
                </a:cxn>
              </a:cxnLst>
              <a:rect l="0" t="0" r="r" b="b"/>
              <a:pathLst>
                <a:path w="7" h="5">
                  <a:moveTo>
                    <a:pt x="1" y="3"/>
                  </a:moveTo>
                  <a:cubicBezTo>
                    <a:pt x="0" y="5"/>
                    <a:pt x="2" y="3"/>
                    <a:pt x="2" y="3"/>
                  </a:cubicBezTo>
                  <a:cubicBezTo>
                    <a:pt x="3" y="2"/>
                    <a:pt x="4" y="2"/>
                    <a:pt x="5" y="3"/>
                  </a:cubicBezTo>
                  <a:cubicBezTo>
                    <a:pt x="7" y="3"/>
                    <a:pt x="5" y="2"/>
                    <a:pt x="3" y="1"/>
                  </a:cubicBezTo>
                  <a:cubicBezTo>
                    <a:pt x="2" y="0"/>
                    <a:pt x="2" y="0"/>
                    <a:pt x="1"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27" name="Freeform 1212">
              <a:extLst>
                <a:ext uri="{FF2B5EF4-FFF2-40B4-BE49-F238E27FC236}">
                  <a16:creationId xmlns:a16="http://schemas.microsoft.com/office/drawing/2014/main" id="{B77A4699-7DC3-4BC4-B926-F38BAEA54F9B}"/>
                </a:ext>
              </a:extLst>
            </p:cNvPr>
            <p:cNvSpPr>
              <a:spLocks/>
            </p:cNvSpPr>
            <p:nvPr/>
          </p:nvSpPr>
          <p:spPr bwMode="auto">
            <a:xfrm>
              <a:off x="3668" y="1373"/>
              <a:ext cx="59" cy="63"/>
            </a:xfrm>
            <a:custGeom>
              <a:avLst/>
              <a:gdLst>
                <a:gd name="T0" fmla="*/ 20 w 43"/>
                <a:gd name="T1" fmla="*/ 46 h 46"/>
                <a:gd name="T2" fmla="*/ 23 w 43"/>
                <a:gd name="T3" fmla="*/ 45 h 46"/>
                <a:gd name="T4" fmla="*/ 25 w 43"/>
                <a:gd name="T5" fmla="*/ 43 h 46"/>
                <a:gd name="T6" fmla="*/ 21 w 43"/>
                <a:gd name="T7" fmla="*/ 41 h 46"/>
                <a:gd name="T8" fmla="*/ 24 w 43"/>
                <a:gd name="T9" fmla="*/ 37 h 46"/>
                <a:gd name="T10" fmla="*/ 24 w 43"/>
                <a:gd name="T11" fmla="*/ 29 h 46"/>
                <a:gd name="T12" fmla="*/ 29 w 43"/>
                <a:gd name="T13" fmla="*/ 28 h 46"/>
                <a:gd name="T14" fmla="*/ 31 w 43"/>
                <a:gd name="T15" fmla="*/ 25 h 46"/>
                <a:gd name="T16" fmla="*/ 36 w 43"/>
                <a:gd name="T17" fmla="*/ 16 h 46"/>
                <a:gd name="T18" fmla="*/ 36 w 43"/>
                <a:gd name="T19" fmla="*/ 18 h 46"/>
                <a:gd name="T20" fmla="*/ 38 w 43"/>
                <a:gd name="T21" fmla="*/ 19 h 46"/>
                <a:gd name="T22" fmla="*/ 42 w 43"/>
                <a:gd name="T23" fmla="*/ 12 h 46"/>
                <a:gd name="T24" fmla="*/ 34 w 43"/>
                <a:gd name="T25" fmla="*/ 10 h 46"/>
                <a:gd name="T26" fmla="*/ 34 w 43"/>
                <a:gd name="T27" fmla="*/ 8 h 46"/>
                <a:gd name="T28" fmla="*/ 34 w 43"/>
                <a:gd name="T29" fmla="*/ 5 h 46"/>
                <a:gd name="T30" fmla="*/ 32 w 43"/>
                <a:gd name="T31" fmla="*/ 0 h 46"/>
                <a:gd name="T32" fmla="*/ 22 w 43"/>
                <a:gd name="T33" fmla="*/ 0 h 46"/>
                <a:gd name="T34" fmla="*/ 18 w 43"/>
                <a:gd name="T35" fmla="*/ 7 h 46"/>
                <a:gd name="T36" fmla="*/ 19 w 43"/>
                <a:gd name="T37" fmla="*/ 10 h 46"/>
                <a:gd name="T38" fmla="*/ 16 w 43"/>
                <a:gd name="T39" fmla="*/ 6 h 46"/>
                <a:gd name="T40" fmla="*/ 11 w 43"/>
                <a:gd name="T41" fmla="*/ 8 h 46"/>
                <a:gd name="T42" fmla="*/ 10 w 43"/>
                <a:gd name="T43" fmla="*/ 12 h 46"/>
                <a:gd name="T44" fmla="*/ 3 w 43"/>
                <a:gd name="T45" fmla="*/ 8 h 46"/>
                <a:gd name="T46" fmla="*/ 1 w 43"/>
                <a:gd name="T47" fmla="*/ 20 h 46"/>
                <a:gd name="T48" fmla="*/ 4 w 43"/>
                <a:gd name="T49" fmla="*/ 21 h 46"/>
                <a:gd name="T50" fmla="*/ 2 w 43"/>
                <a:gd name="T51" fmla="*/ 23 h 46"/>
                <a:gd name="T52" fmla="*/ 1 w 43"/>
                <a:gd name="T53" fmla="*/ 30 h 46"/>
                <a:gd name="T54" fmla="*/ 4 w 43"/>
                <a:gd name="T55" fmla="*/ 32 h 46"/>
                <a:gd name="T56" fmla="*/ 9 w 43"/>
                <a:gd name="T57" fmla="*/ 35 h 46"/>
                <a:gd name="T58" fmla="*/ 8 w 43"/>
                <a:gd name="T59" fmla="*/ 39 h 46"/>
                <a:gd name="T60" fmla="*/ 9 w 43"/>
                <a:gd name="T61" fmla="*/ 40 h 46"/>
                <a:gd name="T62" fmla="*/ 10 w 43"/>
                <a:gd name="T63" fmla="*/ 44 h 46"/>
                <a:gd name="T64" fmla="*/ 11 w 43"/>
                <a:gd name="T65"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 h="46">
                  <a:moveTo>
                    <a:pt x="19" y="46"/>
                  </a:moveTo>
                  <a:cubicBezTo>
                    <a:pt x="19" y="46"/>
                    <a:pt x="20" y="46"/>
                    <a:pt x="20" y="46"/>
                  </a:cubicBezTo>
                  <a:cubicBezTo>
                    <a:pt x="20" y="46"/>
                    <a:pt x="21" y="46"/>
                    <a:pt x="22" y="46"/>
                  </a:cubicBezTo>
                  <a:cubicBezTo>
                    <a:pt x="21" y="46"/>
                    <a:pt x="22" y="46"/>
                    <a:pt x="23" y="45"/>
                  </a:cubicBezTo>
                  <a:cubicBezTo>
                    <a:pt x="23" y="45"/>
                    <a:pt x="24" y="44"/>
                    <a:pt x="25" y="45"/>
                  </a:cubicBezTo>
                  <a:cubicBezTo>
                    <a:pt x="25" y="45"/>
                    <a:pt x="26" y="44"/>
                    <a:pt x="25" y="43"/>
                  </a:cubicBezTo>
                  <a:cubicBezTo>
                    <a:pt x="24" y="42"/>
                    <a:pt x="23" y="42"/>
                    <a:pt x="23" y="42"/>
                  </a:cubicBezTo>
                  <a:cubicBezTo>
                    <a:pt x="22" y="42"/>
                    <a:pt x="21" y="42"/>
                    <a:pt x="21" y="41"/>
                  </a:cubicBezTo>
                  <a:cubicBezTo>
                    <a:pt x="22" y="40"/>
                    <a:pt x="22" y="40"/>
                    <a:pt x="23" y="40"/>
                  </a:cubicBezTo>
                  <a:cubicBezTo>
                    <a:pt x="24" y="39"/>
                    <a:pt x="25" y="39"/>
                    <a:pt x="24" y="37"/>
                  </a:cubicBezTo>
                  <a:cubicBezTo>
                    <a:pt x="23" y="34"/>
                    <a:pt x="23" y="32"/>
                    <a:pt x="24" y="30"/>
                  </a:cubicBezTo>
                  <a:cubicBezTo>
                    <a:pt x="26" y="29"/>
                    <a:pt x="24" y="29"/>
                    <a:pt x="24" y="29"/>
                  </a:cubicBezTo>
                  <a:cubicBezTo>
                    <a:pt x="24" y="28"/>
                    <a:pt x="24" y="28"/>
                    <a:pt x="25" y="28"/>
                  </a:cubicBezTo>
                  <a:cubicBezTo>
                    <a:pt x="27" y="28"/>
                    <a:pt x="28" y="28"/>
                    <a:pt x="29" y="28"/>
                  </a:cubicBezTo>
                  <a:cubicBezTo>
                    <a:pt x="29" y="28"/>
                    <a:pt x="29" y="28"/>
                    <a:pt x="29" y="26"/>
                  </a:cubicBezTo>
                  <a:cubicBezTo>
                    <a:pt x="29" y="25"/>
                    <a:pt x="29" y="24"/>
                    <a:pt x="31" y="25"/>
                  </a:cubicBezTo>
                  <a:cubicBezTo>
                    <a:pt x="32" y="26"/>
                    <a:pt x="33" y="25"/>
                    <a:pt x="33" y="23"/>
                  </a:cubicBezTo>
                  <a:cubicBezTo>
                    <a:pt x="33" y="21"/>
                    <a:pt x="34" y="16"/>
                    <a:pt x="36" y="16"/>
                  </a:cubicBezTo>
                  <a:cubicBezTo>
                    <a:pt x="37" y="16"/>
                    <a:pt x="37" y="16"/>
                    <a:pt x="36" y="17"/>
                  </a:cubicBezTo>
                  <a:cubicBezTo>
                    <a:pt x="36" y="17"/>
                    <a:pt x="35" y="18"/>
                    <a:pt x="36" y="18"/>
                  </a:cubicBezTo>
                  <a:cubicBezTo>
                    <a:pt x="37" y="18"/>
                    <a:pt x="37" y="19"/>
                    <a:pt x="37" y="19"/>
                  </a:cubicBezTo>
                  <a:cubicBezTo>
                    <a:pt x="37" y="19"/>
                    <a:pt x="37" y="20"/>
                    <a:pt x="38" y="19"/>
                  </a:cubicBezTo>
                  <a:cubicBezTo>
                    <a:pt x="39" y="18"/>
                    <a:pt x="42" y="16"/>
                    <a:pt x="43" y="14"/>
                  </a:cubicBezTo>
                  <a:cubicBezTo>
                    <a:pt x="43" y="12"/>
                    <a:pt x="43" y="12"/>
                    <a:pt x="42" y="12"/>
                  </a:cubicBezTo>
                  <a:cubicBezTo>
                    <a:pt x="41" y="12"/>
                    <a:pt x="36" y="11"/>
                    <a:pt x="35" y="10"/>
                  </a:cubicBezTo>
                  <a:cubicBezTo>
                    <a:pt x="34" y="9"/>
                    <a:pt x="34" y="9"/>
                    <a:pt x="34" y="10"/>
                  </a:cubicBezTo>
                  <a:cubicBezTo>
                    <a:pt x="33" y="11"/>
                    <a:pt x="33" y="11"/>
                    <a:pt x="34" y="9"/>
                  </a:cubicBezTo>
                  <a:cubicBezTo>
                    <a:pt x="34" y="9"/>
                    <a:pt x="35" y="8"/>
                    <a:pt x="34" y="8"/>
                  </a:cubicBezTo>
                  <a:cubicBezTo>
                    <a:pt x="33" y="8"/>
                    <a:pt x="31" y="7"/>
                    <a:pt x="34" y="7"/>
                  </a:cubicBezTo>
                  <a:cubicBezTo>
                    <a:pt x="34" y="7"/>
                    <a:pt x="34" y="7"/>
                    <a:pt x="34" y="5"/>
                  </a:cubicBezTo>
                  <a:cubicBezTo>
                    <a:pt x="34" y="4"/>
                    <a:pt x="33" y="4"/>
                    <a:pt x="34" y="3"/>
                  </a:cubicBezTo>
                  <a:cubicBezTo>
                    <a:pt x="34" y="2"/>
                    <a:pt x="34" y="1"/>
                    <a:pt x="32" y="0"/>
                  </a:cubicBezTo>
                  <a:cubicBezTo>
                    <a:pt x="30" y="0"/>
                    <a:pt x="29" y="0"/>
                    <a:pt x="26" y="1"/>
                  </a:cubicBezTo>
                  <a:cubicBezTo>
                    <a:pt x="24" y="1"/>
                    <a:pt x="23" y="1"/>
                    <a:pt x="22" y="0"/>
                  </a:cubicBezTo>
                  <a:cubicBezTo>
                    <a:pt x="21" y="0"/>
                    <a:pt x="20" y="0"/>
                    <a:pt x="18" y="3"/>
                  </a:cubicBezTo>
                  <a:cubicBezTo>
                    <a:pt x="17" y="6"/>
                    <a:pt x="17" y="7"/>
                    <a:pt x="18" y="7"/>
                  </a:cubicBezTo>
                  <a:cubicBezTo>
                    <a:pt x="19" y="7"/>
                    <a:pt x="20" y="8"/>
                    <a:pt x="20" y="9"/>
                  </a:cubicBezTo>
                  <a:cubicBezTo>
                    <a:pt x="20" y="10"/>
                    <a:pt x="20" y="10"/>
                    <a:pt x="19" y="10"/>
                  </a:cubicBezTo>
                  <a:cubicBezTo>
                    <a:pt x="17" y="9"/>
                    <a:pt x="15" y="9"/>
                    <a:pt x="16" y="8"/>
                  </a:cubicBezTo>
                  <a:cubicBezTo>
                    <a:pt x="17" y="7"/>
                    <a:pt x="16" y="7"/>
                    <a:pt x="16" y="6"/>
                  </a:cubicBezTo>
                  <a:cubicBezTo>
                    <a:pt x="15" y="6"/>
                    <a:pt x="14" y="5"/>
                    <a:pt x="13" y="6"/>
                  </a:cubicBezTo>
                  <a:cubicBezTo>
                    <a:pt x="13" y="7"/>
                    <a:pt x="12" y="8"/>
                    <a:pt x="11" y="8"/>
                  </a:cubicBezTo>
                  <a:cubicBezTo>
                    <a:pt x="10" y="9"/>
                    <a:pt x="10" y="9"/>
                    <a:pt x="11" y="10"/>
                  </a:cubicBezTo>
                  <a:cubicBezTo>
                    <a:pt x="11" y="11"/>
                    <a:pt x="11" y="12"/>
                    <a:pt x="10" y="12"/>
                  </a:cubicBezTo>
                  <a:cubicBezTo>
                    <a:pt x="10" y="11"/>
                    <a:pt x="4" y="10"/>
                    <a:pt x="4" y="9"/>
                  </a:cubicBezTo>
                  <a:cubicBezTo>
                    <a:pt x="4" y="9"/>
                    <a:pt x="3" y="8"/>
                    <a:pt x="3" y="8"/>
                  </a:cubicBezTo>
                  <a:cubicBezTo>
                    <a:pt x="2" y="9"/>
                    <a:pt x="1" y="10"/>
                    <a:pt x="2" y="13"/>
                  </a:cubicBezTo>
                  <a:cubicBezTo>
                    <a:pt x="2" y="17"/>
                    <a:pt x="2" y="19"/>
                    <a:pt x="1" y="20"/>
                  </a:cubicBezTo>
                  <a:cubicBezTo>
                    <a:pt x="1" y="21"/>
                    <a:pt x="1" y="22"/>
                    <a:pt x="2" y="21"/>
                  </a:cubicBezTo>
                  <a:cubicBezTo>
                    <a:pt x="2" y="21"/>
                    <a:pt x="3" y="20"/>
                    <a:pt x="4" y="21"/>
                  </a:cubicBezTo>
                  <a:cubicBezTo>
                    <a:pt x="4" y="21"/>
                    <a:pt x="6" y="24"/>
                    <a:pt x="5" y="24"/>
                  </a:cubicBezTo>
                  <a:cubicBezTo>
                    <a:pt x="4" y="24"/>
                    <a:pt x="2" y="24"/>
                    <a:pt x="2" y="23"/>
                  </a:cubicBezTo>
                  <a:cubicBezTo>
                    <a:pt x="1" y="22"/>
                    <a:pt x="1" y="23"/>
                    <a:pt x="2" y="24"/>
                  </a:cubicBezTo>
                  <a:cubicBezTo>
                    <a:pt x="2" y="25"/>
                    <a:pt x="2" y="28"/>
                    <a:pt x="1" y="30"/>
                  </a:cubicBezTo>
                  <a:cubicBezTo>
                    <a:pt x="0" y="32"/>
                    <a:pt x="3" y="33"/>
                    <a:pt x="4" y="33"/>
                  </a:cubicBezTo>
                  <a:cubicBezTo>
                    <a:pt x="4" y="33"/>
                    <a:pt x="4" y="32"/>
                    <a:pt x="4" y="32"/>
                  </a:cubicBezTo>
                  <a:cubicBezTo>
                    <a:pt x="3" y="31"/>
                    <a:pt x="3" y="31"/>
                    <a:pt x="5" y="31"/>
                  </a:cubicBezTo>
                  <a:cubicBezTo>
                    <a:pt x="6" y="31"/>
                    <a:pt x="8" y="33"/>
                    <a:pt x="9" y="35"/>
                  </a:cubicBezTo>
                  <a:cubicBezTo>
                    <a:pt x="10" y="37"/>
                    <a:pt x="10" y="38"/>
                    <a:pt x="9" y="39"/>
                  </a:cubicBezTo>
                  <a:cubicBezTo>
                    <a:pt x="7" y="40"/>
                    <a:pt x="8" y="39"/>
                    <a:pt x="8" y="39"/>
                  </a:cubicBezTo>
                  <a:cubicBezTo>
                    <a:pt x="8" y="39"/>
                    <a:pt x="7" y="38"/>
                    <a:pt x="7" y="39"/>
                  </a:cubicBezTo>
                  <a:cubicBezTo>
                    <a:pt x="6" y="40"/>
                    <a:pt x="7" y="40"/>
                    <a:pt x="9" y="40"/>
                  </a:cubicBezTo>
                  <a:cubicBezTo>
                    <a:pt x="10" y="40"/>
                    <a:pt x="9" y="41"/>
                    <a:pt x="9" y="41"/>
                  </a:cubicBezTo>
                  <a:cubicBezTo>
                    <a:pt x="9" y="42"/>
                    <a:pt x="9" y="43"/>
                    <a:pt x="10" y="44"/>
                  </a:cubicBezTo>
                  <a:cubicBezTo>
                    <a:pt x="10" y="44"/>
                    <a:pt x="10" y="45"/>
                    <a:pt x="10" y="45"/>
                  </a:cubicBezTo>
                  <a:cubicBezTo>
                    <a:pt x="10" y="45"/>
                    <a:pt x="11" y="45"/>
                    <a:pt x="11" y="45"/>
                  </a:cubicBezTo>
                  <a:cubicBezTo>
                    <a:pt x="12" y="45"/>
                    <a:pt x="18" y="46"/>
                    <a:pt x="19" y="4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28" name="Freeform 1213">
              <a:extLst>
                <a:ext uri="{FF2B5EF4-FFF2-40B4-BE49-F238E27FC236}">
                  <a16:creationId xmlns:a16="http://schemas.microsoft.com/office/drawing/2014/main" id="{32588DB1-F23D-48C8-8068-9F0BDBD7AFEC}"/>
                </a:ext>
              </a:extLst>
            </p:cNvPr>
            <p:cNvSpPr>
              <a:spLocks/>
            </p:cNvSpPr>
            <p:nvPr/>
          </p:nvSpPr>
          <p:spPr bwMode="auto">
            <a:xfrm>
              <a:off x="3308" y="908"/>
              <a:ext cx="35" cy="16"/>
            </a:xfrm>
            <a:custGeom>
              <a:avLst/>
              <a:gdLst>
                <a:gd name="T0" fmla="*/ 10 w 25"/>
                <a:gd name="T1" fmla="*/ 8 h 12"/>
                <a:gd name="T2" fmla="*/ 21 w 25"/>
                <a:gd name="T3" fmla="*/ 4 h 12"/>
                <a:gd name="T4" fmla="*/ 12 w 25"/>
                <a:gd name="T5" fmla="*/ 7 h 12"/>
                <a:gd name="T6" fmla="*/ 10 w 25"/>
                <a:gd name="T7" fmla="*/ 8 h 12"/>
              </a:gdLst>
              <a:ahLst/>
              <a:cxnLst>
                <a:cxn ang="0">
                  <a:pos x="T0" y="T1"/>
                </a:cxn>
                <a:cxn ang="0">
                  <a:pos x="T2" y="T3"/>
                </a:cxn>
                <a:cxn ang="0">
                  <a:pos x="T4" y="T5"/>
                </a:cxn>
                <a:cxn ang="0">
                  <a:pos x="T6" y="T7"/>
                </a:cxn>
              </a:cxnLst>
              <a:rect l="0" t="0" r="r" b="b"/>
              <a:pathLst>
                <a:path w="25" h="12">
                  <a:moveTo>
                    <a:pt x="10" y="8"/>
                  </a:moveTo>
                  <a:cubicBezTo>
                    <a:pt x="10" y="8"/>
                    <a:pt x="17" y="8"/>
                    <a:pt x="21" y="4"/>
                  </a:cubicBezTo>
                  <a:cubicBezTo>
                    <a:pt x="25" y="0"/>
                    <a:pt x="24" y="1"/>
                    <a:pt x="12" y="7"/>
                  </a:cubicBezTo>
                  <a:cubicBezTo>
                    <a:pt x="0" y="12"/>
                    <a:pt x="10" y="8"/>
                    <a:pt x="10" y="8"/>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29" name="Freeform 1214">
              <a:extLst>
                <a:ext uri="{FF2B5EF4-FFF2-40B4-BE49-F238E27FC236}">
                  <a16:creationId xmlns:a16="http://schemas.microsoft.com/office/drawing/2014/main" id="{F2DFAD00-8DCA-4673-950E-60C00FE0BAE2}"/>
                </a:ext>
              </a:extLst>
            </p:cNvPr>
            <p:cNvSpPr>
              <a:spLocks/>
            </p:cNvSpPr>
            <p:nvPr/>
          </p:nvSpPr>
          <p:spPr bwMode="auto">
            <a:xfrm>
              <a:off x="3722" y="541"/>
              <a:ext cx="224" cy="155"/>
            </a:xfrm>
            <a:custGeom>
              <a:avLst/>
              <a:gdLst>
                <a:gd name="T0" fmla="*/ 10 w 162"/>
                <a:gd name="T1" fmla="*/ 31 h 113"/>
                <a:gd name="T2" fmla="*/ 17 w 162"/>
                <a:gd name="T3" fmla="*/ 24 h 113"/>
                <a:gd name="T4" fmla="*/ 16 w 162"/>
                <a:gd name="T5" fmla="*/ 31 h 113"/>
                <a:gd name="T6" fmla="*/ 16 w 162"/>
                <a:gd name="T7" fmla="*/ 36 h 113"/>
                <a:gd name="T8" fmla="*/ 11 w 162"/>
                <a:gd name="T9" fmla="*/ 42 h 113"/>
                <a:gd name="T10" fmla="*/ 32 w 162"/>
                <a:gd name="T11" fmla="*/ 51 h 113"/>
                <a:gd name="T12" fmla="*/ 42 w 162"/>
                <a:gd name="T13" fmla="*/ 61 h 113"/>
                <a:gd name="T14" fmla="*/ 47 w 162"/>
                <a:gd name="T15" fmla="*/ 58 h 113"/>
                <a:gd name="T16" fmla="*/ 55 w 162"/>
                <a:gd name="T17" fmla="*/ 55 h 113"/>
                <a:gd name="T18" fmla="*/ 54 w 162"/>
                <a:gd name="T19" fmla="*/ 51 h 113"/>
                <a:gd name="T20" fmla="*/ 60 w 162"/>
                <a:gd name="T21" fmla="*/ 44 h 113"/>
                <a:gd name="T22" fmla="*/ 66 w 162"/>
                <a:gd name="T23" fmla="*/ 43 h 113"/>
                <a:gd name="T24" fmla="*/ 73 w 162"/>
                <a:gd name="T25" fmla="*/ 52 h 113"/>
                <a:gd name="T26" fmla="*/ 85 w 162"/>
                <a:gd name="T27" fmla="*/ 45 h 113"/>
                <a:gd name="T28" fmla="*/ 89 w 162"/>
                <a:gd name="T29" fmla="*/ 54 h 113"/>
                <a:gd name="T30" fmla="*/ 74 w 162"/>
                <a:gd name="T31" fmla="*/ 59 h 113"/>
                <a:gd name="T32" fmla="*/ 46 w 162"/>
                <a:gd name="T33" fmla="*/ 64 h 113"/>
                <a:gd name="T34" fmla="*/ 43 w 162"/>
                <a:gd name="T35" fmla="*/ 74 h 113"/>
                <a:gd name="T36" fmla="*/ 56 w 162"/>
                <a:gd name="T37" fmla="*/ 74 h 113"/>
                <a:gd name="T38" fmla="*/ 74 w 162"/>
                <a:gd name="T39" fmla="*/ 72 h 113"/>
                <a:gd name="T40" fmla="*/ 91 w 162"/>
                <a:gd name="T41" fmla="*/ 70 h 113"/>
                <a:gd name="T42" fmla="*/ 86 w 162"/>
                <a:gd name="T43" fmla="*/ 74 h 113"/>
                <a:gd name="T44" fmla="*/ 74 w 162"/>
                <a:gd name="T45" fmla="*/ 80 h 113"/>
                <a:gd name="T46" fmla="*/ 77 w 162"/>
                <a:gd name="T47" fmla="*/ 83 h 113"/>
                <a:gd name="T48" fmla="*/ 61 w 162"/>
                <a:gd name="T49" fmla="*/ 81 h 113"/>
                <a:gd name="T50" fmla="*/ 47 w 162"/>
                <a:gd name="T51" fmla="*/ 81 h 113"/>
                <a:gd name="T52" fmla="*/ 68 w 162"/>
                <a:gd name="T53" fmla="*/ 98 h 113"/>
                <a:gd name="T54" fmla="*/ 79 w 162"/>
                <a:gd name="T55" fmla="*/ 97 h 113"/>
                <a:gd name="T56" fmla="*/ 80 w 162"/>
                <a:gd name="T57" fmla="*/ 100 h 113"/>
                <a:gd name="T58" fmla="*/ 83 w 162"/>
                <a:gd name="T59" fmla="*/ 110 h 113"/>
                <a:gd name="T60" fmla="*/ 95 w 162"/>
                <a:gd name="T61" fmla="*/ 109 h 113"/>
                <a:gd name="T62" fmla="*/ 97 w 162"/>
                <a:gd name="T63" fmla="*/ 102 h 113"/>
                <a:gd name="T64" fmla="*/ 103 w 162"/>
                <a:gd name="T65" fmla="*/ 86 h 113"/>
                <a:gd name="T66" fmla="*/ 115 w 162"/>
                <a:gd name="T67" fmla="*/ 73 h 113"/>
                <a:gd name="T68" fmla="*/ 124 w 162"/>
                <a:gd name="T69" fmla="*/ 59 h 113"/>
                <a:gd name="T70" fmla="*/ 132 w 162"/>
                <a:gd name="T71" fmla="*/ 50 h 113"/>
                <a:gd name="T72" fmla="*/ 140 w 162"/>
                <a:gd name="T73" fmla="*/ 47 h 113"/>
                <a:gd name="T74" fmla="*/ 153 w 162"/>
                <a:gd name="T75" fmla="*/ 46 h 113"/>
                <a:gd name="T76" fmla="*/ 159 w 162"/>
                <a:gd name="T77" fmla="*/ 45 h 113"/>
                <a:gd name="T78" fmla="*/ 147 w 162"/>
                <a:gd name="T79" fmla="*/ 37 h 113"/>
                <a:gd name="T80" fmla="*/ 131 w 162"/>
                <a:gd name="T81" fmla="*/ 29 h 113"/>
                <a:gd name="T82" fmla="*/ 121 w 162"/>
                <a:gd name="T83" fmla="*/ 23 h 113"/>
                <a:gd name="T84" fmla="*/ 108 w 162"/>
                <a:gd name="T85" fmla="*/ 19 h 113"/>
                <a:gd name="T86" fmla="*/ 105 w 162"/>
                <a:gd name="T87" fmla="*/ 15 h 113"/>
                <a:gd name="T88" fmla="*/ 91 w 162"/>
                <a:gd name="T89" fmla="*/ 6 h 113"/>
                <a:gd name="T90" fmla="*/ 82 w 162"/>
                <a:gd name="T91" fmla="*/ 1 h 113"/>
                <a:gd name="T92" fmla="*/ 77 w 162"/>
                <a:gd name="T93" fmla="*/ 7 h 113"/>
                <a:gd name="T94" fmla="*/ 83 w 162"/>
                <a:gd name="T95" fmla="*/ 26 h 113"/>
                <a:gd name="T96" fmla="*/ 85 w 162"/>
                <a:gd name="T97" fmla="*/ 35 h 113"/>
                <a:gd name="T98" fmla="*/ 78 w 162"/>
                <a:gd name="T99" fmla="*/ 29 h 113"/>
                <a:gd name="T100" fmla="*/ 73 w 162"/>
                <a:gd name="T101" fmla="*/ 20 h 113"/>
                <a:gd name="T102" fmla="*/ 62 w 162"/>
                <a:gd name="T103" fmla="*/ 8 h 113"/>
                <a:gd name="T104" fmla="*/ 51 w 162"/>
                <a:gd name="T105" fmla="*/ 14 h 113"/>
                <a:gd name="T106" fmla="*/ 49 w 162"/>
                <a:gd name="T107" fmla="*/ 23 h 113"/>
                <a:gd name="T108" fmla="*/ 42 w 162"/>
                <a:gd name="T109" fmla="*/ 17 h 113"/>
                <a:gd name="T110" fmla="*/ 29 w 162"/>
                <a:gd name="T111" fmla="*/ 15 h 113"/>
                <a:gd name="T112" fmla="*/ 51 w 162"/>
                <a:gd name="T113" fmla="*/ 7 h 113"/>
                <a:gd name="T114" fmla="*/ 30 w 162"/>
                <a:gd name="T115" fmla="*/ 9 h 113"/>
                <a:gd name="T116" fmla="*/ 22 w 162"/>
                <a:gd name="T117" fmla="*/ 10 h 113"/>
                <a:gd name="T118" fmla="*/ 10 w 162"/>
                <a:gd name="T119" fmla="*/ 9 h 113"/>
                <a:gd name="T120" fmla="*/ 5 w 162"/>
                <a:gd name="T121" fmla="*/ 13 h 113"/>
                <a:gd name="T122" fmla="*/ 2 w 162"/>
                <a:gd name="T123" fmla="*/ 1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2" h="113">
                  <a:moveTo>
                    <a:pt x="4" y="24"/>
                  </a:moveTo>
                  <a:cubicBezTo>
                    <a:pt x="6" y="25"/>
                    <a:pt x="7" y="28"/>
                    <a:pt x="7" y="28"/>
                  </a:cubicBezTo>
                  <a:cubicBezTo>
                    <a:pt x="7" y="29"/>
                    <a:pt x="9" y="30"/>
                    <a:pt x="10" y="31"/>
                  </a:cubicBezTo>
                  <a:cubicBezTo>
                    <a:pt x="12" y="31"/>
                    <a:pt x="13" y="30"/>
                    <a:pt x="15" y="29"/>
                  </a:cubicBezTo>
                  <a:cubicBezTo>
                    <a:pt x="17" y="28"/>
                    <a:pt x="15" y="27"/>
                    <a:pt x="14" y="25"/>
                  </a:cubicBezTo>
                  <a:cubicBezTo>
                    <a:pt x="13" y="24"/>
                    <a:pt x="16" y="24"/>
                    <a:pt x="17" y="24"/>
                  </a:cubicBezTo>
                  <a:cubicBezTo>
                    <a:pt x="17" y="25"/>
                    <a:pt x="18" y="25"/>
                    <a:pt x="20" y="24"/>
                  </a:cubicBezTo>
                  <a:cubicBezTo>
                    <a:pt x="22" y="24"/>
                    <a:pt x="22" y="25"/>
                    <a:pt x="21" y="27"/>
                  </a:cubicBezTo>
                  <a:cubicBezTo>
                    <a:pt x="20" y="28"/>
                    <a:pt x="18" y="31"/>
                    <a:pt x="16" y="31"/>
                  </a:cubicBezTo>
                  <a:cubicBezTo>
                    <a:pt x="15" y="32"/>
                    <a:pt x="21" y="34"/>
                    <a:pt x="24" y="35"/>
                  </a:cubicBezTo>
                  <a:cubicBezTo>
                    <a:pt x="26" y="35"/>
                    <a:pt x="24" y="36"/>
                    <a:pt x="24" y="37"/>
                  </a:cubicBezTo>
                  <a:cubicBezTo>
                    <a:pt x="23" y="38"/>
                    <a:pt x="17" y="37"/>
                    <a:pt x="16" y="36"/>
                  </a:cubicBezTo>
                  <a:cubicBezTo>
                    <a:pt x="15" y="36"/>
                    <a:pt x="10" y="35"/>
                    <a:pt x="8" y="35"/>
                  </a:cubicBezTo>
                  <a:cubicBezTo>
                    <a:pt x="6" y="36"/>
                    <a:pt x="9" y="37"/>
                    <a:pt x="10" y="38"/>
                  </a:cubicBezTo>
                  <a:cubicBezTo>
                    <a:pt x="12" y="39"/>
                    <a:pt x="11" y="41"/>
                    <a:pt x="11" y="42"/>
                  </a:cubicBezTo>
                  <a:cubicBezTo>
                    <a:pt x="12" y="43"/>
                    <a:pt x="17" y="45"/>
                    <a:pt x="22" y="47"/>
                  </a:cubicBezTo>
                  <a:cubicBezTo>
                    <a:pt x="28" y="50"/>
                    <a:pt x="29" y="50"/>
                    <a:pt x="32" y="49"/>
                  </a:cubicBezTo>
                  <a:cubicBezTo>
                    <a:pt x="36" y="49"/>
                    <a:pt x="33" y="50"/>
                    <a:pt x="32" y="51"/>
                  </a:cubicBezTo>
                  <a:cubicBezTo>
                    <a:pt x="31" y="51"/>
                    <a:pt x="26" y="52"/>
                    <a:pt x="23" y="52"/>
                  </a:cubicBezTo>
                  <a:cubicBezTo>
                    <a:pt x="21" y="52"/>
                    <a:pt x="26" y="57"/>
                    <a:pt x="29" y="59"/>
                  </a:cubicBezTo>
                  <a:cubicBezTo>
                    <a:pt x="31" y="60"/>
                    <a:pt x="40" y="62"/>
                    <a:pt x="42" y="61"/>
                  </a:cubicBezTo>
                  <a:cubicBezTo>
                    <a:pt x="44" y="61"/>
                    <a:pt x="45" y="61"/>
                    <a:pt x="44" y="59"/>
                  </a:cubicBezTo>
                  <a:cubicBezTo>
                    <a:pt x="43" y="58"/>
                    <a:pt x="44" y="59"/>
                    <a:pt x="45" y="59"/>
                  </a:cubicBezTo>
                  <a:cubicBezTo>
                    <a:pt x="46" y="60"/>
                    <a:pt x="46" y="59"/>
                    <a:pt x="47" y="58"/>
                  </a:cubicBezTo>
                  <a:cubicBezTo>
                    <a:pt x="47" y="57"/>
                    <a:pt x="49" y="58"/>
                    <a:pt x="51" y="58"/>
                  </a:cubicBezTo>
                  <a:cubicBezTo>
                    <a:pt x="52" y="58"/>
                    <a:pt x="51" y="57"/>
                    <a:pt x="51" y="55"/>
                  </a:cubicBezTo>
                  <a:cubicBezTo>
                    <a:pt x="51" y="53"/>
                    <a:pt x="53" y="54"/>
                    <a:pt x="55" y="55"/>
                  </a:cubicBezTo>
                  <a:cubicBezTo>
                    <a:pt x="56" y="56"/>
                    <a:pt x="57" y="55"/>
                    <a:pt x="58" y="54"/>
                  </a:cubicBezTo>
                  <a:cubicBezTo>
                    <a:pt x="59" y="53"/>
                    <a:pt x="57" y="52"/>
                    <a:pt x="55" y="52"/>
                  </a:cubicBezTo>
                  <a:cubicBezTo>
                    <a:pt x="53" y="52"/>
                    <a:pt x="54" y="52"/>
                    <a:pt x="54" y="51"/>
                  </a:cubicBezTo>
                  <a:cubicBezTo>
                    <a:pt x="55" y="50"/>
                    <a:pt x="56" y="50"/>
                    <a:pt x="56" y="49"/>
                  </a:cubicBezTo>
                  <a:cubicBezTo>
                    <a:pt x="56" y="47"/>
                    <a:pt x="55" y="46"/>
                    <a:pt x="56" y="45"/>
                  </a:cubicBezTo>
                  <a:cubicBezTo>
                    <a:pt x="56" y="43"/>
                    <a:pt x="58" y="44"/>
                    <a:pt x="60" y="44"/>
                  </a:cubicBezTo>
                  <a:cubicBezTo>
                    <a:pt x="61" y="45"/>
                    <a:pt x="61" y="47"/>
                    <a:pt x="63" y="48"/>
                  </a:cubicBezTo>
                  <a:cubicBezTo>
                    <a:pt x="64" y="48"/>
                    <a:pt x="64" y="46"/>
                    <a:pt x="66" y="46"/>
                  </a:cubicBezTo>
                  <a:cubicBezTo>
                    <a:pt x="67" y="46"/>
                    <a:pt x="67" y="47"/>
                    <a:pt x="66" y="43"/>
                  </a:cubicBezTo>
                  <a:cubicBezTo>
                    <a:pt x="66" y="40"/>
                    <a:pt x="67" y="40"/>
                    <a:pt x="69" y="40"/>
                  </a:cubicBezTo>
                  <a:cubicBezTo>
                    <a:pt x="71" y="41"/>
                    <a:pt x="69" y="47"/>
                    <a:pt x="68" y="49"/>
                  </a:cubicBezTo>
                  <a:cubicBezTo>
                    <a:pt x="67" y="52"/>
                    <a:pt x="70" y="52"/>
                    <a:pt x="73" y="52"/>
                  </a:cubicBezTo>
                  <a:cubicBezTo>
                    <a:pt x="76" y="52"/>
                    <a:pt x="78" y="51"/>
                    <a:pt x="79" y="51"/>
                  </a:cubicBezTo>
                  <a:cubicBezTo>
                    <a:pt x="79" y="50"/>
                    <a:pt x="81" y="50"/>
                    <a:pt x="83" y="48"/>
                  </a:cubicBezTo>
                  <a:cubicBezTo>
                    <a:pt x="84" y="47"/>
                    <a:pt x="84" y="46"/>
                    <a:pt x="85" y="45"/>
                  </a:cubicBezTo>
                  <a:cubicBezTo>
                    <a:pt x="86" y="43"/>
                    <a:pt x="87" y="44"/>
                    <a:pt x="89" y="45"/>
                  </a:cubicBezTo>
                  <a:cubicBezTo>
                    <a:pt x="91" y="46"/>
                    <a:pt x="87" y="49"/>
                    <a:pt x="85" y="51"/>
                  </a:cubicBezTo>
                  <a:cubicBezTo>
                    <a:pt x="83" y="54"/>
                    <a:pt x="87" y="53"/>
                    <a:pt x="89" y="54"/>
                  </a:cubicBezTo>
                  <a:cubicBezTo>
                    <a:pt x="91" y="55"/>
                    <a:pt x="88" y="54"/>
                    <a:pt x="87" y="55"/>
                  </a:cubicBezTo>
                  <a:cubicBezTo>
                    <a:pt x="86" y="55"/>
                    <a:pt x="79" y="55"/>
                    <a:pt x="77" y="56"/>
                  </a:cubicBezTo>
                  <a:cubicBezTo>
                    <a:pt x="75" y="56"/>
                    <a:pt x="74" y="57"/>
                    <a:pt x="74" y="59"/>
                  </a:cubicBezTo>
                  <a:cubicBezTo>
                    <a:pt x="73" y="60"/>
                    <a:pt x="72" y="60"/>
                    <a:pt x="72" y="60"/>
                  </a:cubicBezTo>
                  <a:cubicBezTo>
                    <a:pt x="72" y="60"/>
                    <a:pt x="53" y="66"/>
                    <a:pt x="51" y="67"/>
                  </a:cubicBezTo>
                  <a:cubicBezTo>
                    <a:pt x="50" y="67"/>
                    <a:pt x="47" y="65"/>
                    <a:pt x="46" y="64"/>
                  </a:cubicBezTo>
                  <a:cubicBezTo>
                    <a:pt x="46" y="64"/>
                    <a:pt x="44" y="64"/>
                    <a:pt x="42" y="65"/>
                  </a:cubicBezTo>
                  <a:cubicBezTo>
                    <a:pt x="41" y="65"/>
                    <a:pt x="42" y="68"/>
                    <a:pt x="42" y="69"/>
                  </a:cubicBezTo>
                  <a:cubicBezTo>
                    <a:pt x="42" y="70"/>
                    <a:pt x="42" y="72"/>
                    <a:pt x="43" y="74"/>
                  </a:cubicBezTo>
                  <a:cubicBezTo>
                    <a:pt x="44" y="76"/>
                    <a:pt x="46" y="75"/>
                    <a:pt x="47" y="75"/>
                  </a:cubicBezTo>
                  <a:cubicBezTo>
                    <a:pt x="47" y="75"/>
                    <a:pt x="49" y="75"/>
                    <a:pt x="49" y="74"/>
                  </a:cubicBezTo>
                  <a:cubicBezTo>
                    <a:pt x="50" y="74"/>
                    <a:pt x="55" y="75"/>
                    <a:pt x="56" y="74"/>
                  </a:cubicBezTo>
                  <a:cubicBezTo>
                    <a:pt x="58" y="74"/>
                    <a:pt x="60" y="74"/>
                    <a:pt x="61" y="74"/>
                  </a:cubicBezTo>
                  <a:cubicBezTo>
                    <a:pt x="63" y="74"/>
                    <a:pt x="66" y="72"/>
                    <a:pt x="69" y="71"/>
                  </a:cubicBezTo>
                  <a:cubicBezTo>
                    <a:pt x="72" y="70"/>
                    <a:pt x="72" y="71"/>
                    <a:pt x="74" y="72"/>
                  </a:cubicBezTo>
                  <a:cubicBezTo>
                    <a:pt x="76" y="73"/>
                    <a:pt x="85" y="72"/>
                    <a:pt x="87" y="72"/>
                  </a:cubicBezTo>
                  <a:cubicBezTo>
                    <a:pt x="89" y="71"/>
                    <a:pt x="89" y="70"/>
                    <a:pt x="91" y="69"/>
                  </a:cubicBezTo>
                  <a:cubicBezTo>
                    <a:pt x="94" y="68"/>
                    <a:pt x="92" y="70"/>
                    <a:pt x="91" y="70"/>
                  </a:cubicBezTo>
                  <a:cubicBezTo>
                    <a:pt x="90" y="71"/>
                    <a:pt x="89" y="71"/>
                    <a:pt x="92" y="72"/>
                  </a:cubicBezTo>
                  <a:cubicBezTo>
                    <a:pt x="95" y="74"/>
                    <a:pt x="93" y="74"/>
                    <a:pt x="93" y="74"/>
                  </a:cubicBezTo>
                  <a:cubicBezTo>
                    <a:pt x="92" y="74"/>
                    <a:pt x="90" y="74"/>
                    <a:pt x="86" y="74"/>
                  </a:cubicBezTo>
                  <a:cubicBezTo>
                    <a:pt x="82" y="74"/>
                    <a:pt x="63" y="77"/>
                    <a:pt x="60" y="78"/>
                  </a:cubicBezTo>
                  <a:cubicBezTo>
                    <a:pt x="57" y="78"/>
                    <a:pt x="63" y="80"/>
                    <a:pt x="65" y="79"/>
                  </a:cubicBezTo>
                  <a:cubicBezTo>
                    <a:pt x="67" y="79"/>
                    <a:pt x="73" y="80"/>
                    <a:pt x="74" y="80"/>
                  </a:cubicBezTo>
                  <a:cubicBezTo>
                    <a:pt x="75" y="80"/>
                    <a:pt x="79" y="82"/>
                    <a:pt x="81" y="83"/>
                  </a:cubicBezTo>
                  <a:cubicBezTo>
                    <a:pt x="83" y="83"/>
                    <a:pt x="82" y="84"/>
                    <a:pt x="81" y="85"/>
                  </a:cubicBezTo>
                  <a:cubicBezTo>
                    <a:pt x="80" y="86"/>
                    <a:pt x="79" y="84"/>
                    <a:pt x="77" y="83"/>
                  </a:cubicBezTo>
                  <a:cubicBezTo>
                    <a:pt x="76" y="82"/>
                    <a:pt x="74" y="82"/>
                    <a:pt x="73" y="82"/>
                  </a:cubicBezTo>
                  <a:cubicBezTo>
                    <a:pt x="71" y="82"/>
                    <a:pt x="68" y="82"/>
                    <a:pt x="66" y="81"/>
                  </a:cubicBezTo>
                  <a:cubicBezTo>
                    <a:pt x="63" y="81"/>
                    <a:pt x="62" y="81"/>
                    <a:pt x="61" y="81"/>
                  </a:cubicBezTo>
                  <a:cubicBezTo>
                    <a:pt x="59" y="82"/>
                    <a:pt x="59" y="82"/>
                    <a:pt x="58" y="83"/>
                  </a:cubicBezTo>
                  <a:cubicBezTo>
                    <a:pt x="57" y="84"/>
                    <a:pt x="56" y="83"/>
                    <a:pt x="55" y="81"/>
                  </a:cubicBezTo>
                  <a:cubicBezTo>
                    <a:pt x="55" y="80"/>
                    <a:pt x="50" y="80"/>
                    <a:pt x="47" y="81"/>
                  </a:cubicBezTo>
                  <a:cubicBezTo>
                    <a:pt x="45" y="83"/>
                    <a:pt x="48" y="87"/>
                    <a:pt x="50" y="90"/>
                  </a:cubicBezTo>
                  <a:cubicBezTo>
                    <a:pt x="52" y="93"/>
                    <a:pt x="56" y="93"/>
                    <a:pt x="59" y="94"/>
                  </a:cubicBezTo>
                  <a:cubicBezTo>
                    <a:pt x="61" y="94"/>
                    <a:pt x="64" y="95"/>
                    <a:pt x="68" y="98"/>
                  </a:cubicBezTo>
                  <a:cubicBezTo>
                    <a:pt x="72" y="100"/>
                    <a:pt x="75" y="98"/>
                    <a:pt x="76" y="98"/>
                  </a:cubicBezTo>
                  <a:cubicBezTo>
                    <a:pt x="77" y="97"/>
                    <a:pt x="76" y="97"/>
                    <a:pt x="77" y="96"/>
                  </a:cubicBezTo>
                  <a:cubicBezTo>
                    <a:pt x="78" y="96"/>
                    <a:pt x="78" y="96"/>
                    <a:pt x="79" y="97"/>
                  </a:cubicBezTo>
                  <a:cubicBezTo>
                    <a:pt x="80" y="97"/>
                    <a:pt x="80" y="99"/>
                    <a:pt x="83" y="99"/>
                  </a:cubicBezTo>
                  <a:cubicBezTo>
                    <a:pt x="86" y="99"/>
                    <a:pt x="83" y="100"/>
                    <a:pt x="82" y="100"/>
                  </a:cubicBezTo>
                  <a:cubicBezTo>
                    <a:pt x="81" y="101"/>
                    <a:pt x="81" y="100"/>
                    <a:pt x="80" y="100"/>
                  </a:cubicBezTo>
                  <a:cubicBezTo>
                    <a:pt x="80" y="99"/>
                    <a:pt x="74" y="101"/>
                    <a:pt x="71" y="102"/>
                  </a:cubicBezTo>
                  <a:cubicBezTo>
                    <a:pt x="68" y="102"/>
                    <a:pt x="79" y="107"/>
                    <a:pt x="81" y="108"/>
                  </a:cubicBezTo>
                  <a:cubicBezTo>
                    <a:pt x="82" y="108"/>
                    <a:pt x="83" y="109"/>
                    <a:pt x="83" y="110"/>
                  </a:cubicBezTo>
                  <a:cubicBezTo>
                    <a:pt x="82" y="112"/>
                    <a:pt x="83" y="112"/>
                    <a:pt x="84" y="111"/>
                  </a:cubicBezTo>
                  <a:cubicBezTo>
                    <a:pt x="85" y="111"/>
                    <a:pt x="85" y="111"/>
                    <a:pt x="88" y="112"/>
                  </a:cubicBezTo>
                  <a:cubicBezTo>
                    <a:pt x="90" y="113"/>
                    <a:pt x="93" y="111"/>
                    <a:pt x="95" y="109"/>
                  </a:cubicBezTo>
                  <a:cubicBezTo>
                    <a:pt x="96" y="108"/>
                    <a:pt x="94" y="106"/>
                    <a:pt x="93" y="105"/>
                  </a:cubicBezTo>
                  <a:cubicBezTo>
                    <a:pt x="92" y="105"/>
                    <a:pt x="94" y="104"/>
                    <a:pt x="94" y="103"/>
                  </a:cubicBezTo>
                  <a:cubicBezTo>
                    <a:pt x="95" y="102"/>
                    <a:pt x="95" y="102"/>
                    <a:pt x="97" y="102"/>
                  </a:cubicBezTo>
                  <a:cubicBezTo>
                    <a:pt x="99" y="101"/>
                    <a:pt x="98" y="100"/>
                    <a:pt x="96" y="98"/>
                  </a:cubicBezTo>
                  <a:cubicBezTo>
                    <a:pt x="94" y="97"/>
                    <a:pt x="97" y="96"/>
                    <a:pt x="98" y="97"/>
                  </a:cubicBezTo>
                  <a:cubicBezTo>
                    <a:pt x="98" y="97"/>
                    <a:pt x="101" y="90"/>
                    <a:pt x="103" y="86"/>
                  </a:cubicBezTo>
                  <a:cubicBezTo>
                    <a:pt x="105" y="82"/>
                    <a:pt x="108" y="83"/>
                    <a:pt x="111" y="83"/>
                  </a:cubicBezTo>
                  <a:cubicBezTo>
                    <a:pt x="114" y="82"/>
                    <a:pt x="113" y="81"/>
                    <a:pt x="113" y="79"/>
                  </a:cubicBezTo>
                  <a:cubicBezTo>
                    <a:pt x="113" y="78"/>
                    <a:pt x="115" y="75"/>
                    <a:pt x="115" y="73"/>
                  </a:cubicBezTo>
                  <a:cubicBezTo>
                    <a:pt x="115" y="71"/>
                    <a:pt x="116" y="68"/>
                    <a:pt x="116" y="66"/>
                  </a:cubicBezTo>
                  <a:cubicBezTo>
                    <a:pt x="117" y="64"/>
                    <a:pt x="121" y="66"/>
                    <a:pt x="124" y="65"/>
                  </a:cubicBezTo>
                  <a:cubicBezTo>
                    <a:pt x="126" y="63"/>
                    <a:pt x="125" y="61"/>
                    <a:pt x="124" y="59"/>
                  </a:cubicBezTo>
                  <a:cubicBezTo>
                    <a:pt x="123" y="57"/>
                    <a:pt x="123" y="57"/>
                    <a:pt x="124" y="56"/>
                  </a:cubicBezTo>
                  <a:cubicBezTo>
                    <a:pt x="124" y="56"/>
                    <a:pt x="125" y="55"/>
                    <a:pt x="124" y="53"/>
                  </a:cubicBezTo>
                  <a:cubicBezTo>
                    <a:pt x="123" y="52"/>
                    <a:pt x="130" y="51"/>
                    <a:pt x="132" y="50"/>
                  </a:cubicBezTo>
                  <a:cubicBezTo>
                    <a:pt x="133" y="50"/>
                    <a:pt x="134" y="50"/>
                    <a:pt x="134" y="48"/>
                  </a:cubicBezTo>
                  <a:cubicBezTo>
                    <a:pt x="135" y="46"/>
                    <a:pt x="136" y="47"/>
                    <a:pt x="137" y="47"/>
                  </a:cubicBezTo>
                  <a:cubicBezTo>
                    <a:pt x="139" y="48"/>
                    <a:pt x="139" y="47"/>
                    <a:pt x="140" y="47"/>
                  </a:cubicBezTo>
                  <a:cubicBezTo>
                    <a:pt x="141" y="46"/>
                    <a:pt x="142" y="45"/>
                    <a:pt x="144" y="46"/>
                  </a:cubicBezTo>
                  <a:cubicBezTo>
                    <a:pt x="146" y="47"/>
                    <a:pt x="148" y="46"/>
                    <a:pt x="148" y="45"/>
                  </a:cubicBezTo>
                  <a:cubicBezTo>
                    <a:pt x="149" y="44"/>
                    <a:pt x="151" y="45"/>
                    <a:pt x="153" y="46"/>
                  </a:cubicBezTo>
                  <a:cubicBezTo>
                    <a:pt x="155" y="47"/>
                    <a:pt x="155" y="46"/>
                    <a:pt x="156" y="46"/>
                  </a:cubicBezTo>
                  <a:cubicBezTo>
                    <a:pt x="156" y="45"/>
                    <a:pt x="157" y="45"/>
                    <a:pt x="158" y="45"/>
                  </a:cubicBezTo>
                  <a:cubicBezTo>
                    <a:pt x="159" y="46"/>
                    <a:pt x="159" y="46"/>
                    <a:pt x="159" y="45"/>
                  </a:cubicBezTo>
                  <a:cubicBezTo>
                    <a:pt x="159" y="44"/>
                    <a:pt x="159" y="44"/>
                    <a:pt x="160" y="43"/>
                  </a:cubicBezTo>
                  <a:cubicBezTo>
                    <a:pt x="162" y="42"/>
                    <a:pt x="158" y="40"/>
                    <a:pt x="157" y="40"/>
                  </a:cubicBezTo>
                  <a:cubicBezTo>
                    <a:pt x="156" y="40"/>
                    <a:pt x="151" y="38"/>
                    <a:pt x="147" y="37"/>
                  </a:cubicBezTo>
                  <a:cubicBezTo>
                    <a:pt x="144" y="36"/>
                    <a:pt x="140" y="34"/>
                    <a:pt x="139" y="35"/>
                  </a:cubicBezTo>
                  <a:cubicBezTo>
                    <a:pt x="138" y="35"/>
                    <a:pt x="137" y="33"/>
                    <a:pt x="136" y="31"/>
                  </a:cubicBezTo>
                  <a:cubicBezTo>
                    <a:pt x="135" y="30"/>
                    <a:pt x="133" y="29"/>
                    <a:pt x="131" y="29"/>
                  </a:cubicBezTo>
                  <a:cubicBezTo>
                    <a:pt x="129" y="28"/>
                    <a:pt x="128" y="28"/>
                    <a:pt x="126" y="29"/>
                  </a:cubicBezTo>
                  <a:cubicBezTo>
                    <a:pt x="125" y="30"/>
                    <a:pt x="124" y="30"/>
                    <a:pt x="122" y="28"/>
                  </a:cubicBezTo>
                  <a:cubicBezTo>
                    <a:pt x="121" y="27"/>
                    <a:pt x="121" y="25"/>
                    <a:pt x="121" y="23"/>
                  </a:cubicBezTo>
                  <a:cubicBezTo>
                    <a:pt x="121" y="21"/>
                    <a:pt x="121" y="20"/>
                    <a:pt x="120" y="18"/>
                  </a:cubicBezTo>
                  <a:cubicBezTo>
                    <a:pt x="120" y="17"/>
                    <a:pt x="113" y="16"/>
                    <a:pt x="111" y="16"/>
                  </a:cubicBezTo>
                  <a:cubicBezTo>
                    <a:pt x="109" y="16"/>
                    <a:pt x="109" y="16"/>
                    <a:pt x="108" y="19"/>
                  </a:cubicBezTo>
                  <a:cubicBezTo>
                    <a:pt x="108" y="21"/>
                    <a:pt x="107" y="21"/>
                    <a:pt x="105" y="22"/>
                  </a:cubicBezTo>
                  <a:cubicBezTo>
                    <a:pt x="103" y="23"/>
                    <a:pt x="104" y="22"/>
                    <a:pt x="104" y="21"/>
                  </a:cubicBezTo>
                  <a:cubicBezTo>
                    <a:pt x="105" y="20"/>
                    <a:pt x="105" y="18"/>
                    <a:pt x="105" y="15"/>
                  </a:cubicBezTo>
                  <a:cubicBezTo>
                    <a:pt x="105" y="12"/>
                    <a:pt x="106" y="13"/>
                    <a:pt x="109" y="11"/>
                  </a:cubicBezTo>
                  <a:cubicBezTo>
                    <a:pt x="112" y="10"/>
                    <a:pt x="104" y="9"/>
                    <a:pt x="100" y="8"/>
                  </a:cubicBezTo>
                  <a:cubicBezTo>
                    <a:pt x="95" y="7"/>
                    <a:pt x="93" y="7"/>
                    <a:pt x="91" y="6"/>
                  </a:cubicBezTo>
                  <a:cubicBezTo>
                    <a:pt x="89" y="4"/>
                    <a:pt x="89" y="2"/>
                    <a:pt x="88" y="1"/>
                  </a:cubicBezTo>
                  <a:cubicBezTo>
                    <a:pt x="87" y="0"/>
                    <a:pt x="86" y="0"/>
                    <a:pt x="83" y="0"/>
                  </a:cubicBezTo>
                  <a:cubicBezTo>
                    <a:pt x="81" y="0"/>
                    <a:pt x="81" y="1"/>
                    <a:pt x="82" y="1"/>
                  </a:cubicBezTo>
                  <a:cubicBezTo>
                    <a:pt x="83" y="1"/>
                    <a:pt x="82" y="2"/>
                    <a:pt x="84" y="4"/>
                  </a:cubicBezTo>
                  <a:cubicBezTo>
                    <a:pt x="85" y="7"/>
                    <a:pt x="81" y="5"/>
                    <a:pt x="79" y="5"/>
                  </a:cubicBezTo>
                  <a:cubicBezTo>
                    <a:pt x="78" y="5"/>
                    <a:pt x="77" y="5"/>
                    <a:pt x="77" y="7"/>
                  </a:cubicBezTo>
                  <a:cubicBezTo>
                    <a:pt x="77" y="9"/>
                    <a:pt x="77" y="11"/>
                    <a:pt x="79" y="13"/>
                  </a:cubicBezTo>
                  <a:cubicBezTo>
                    <a:pt x="80" y="14"/>
                    <a:pt x="80" y="17"/>
                    <a:pt x="81" y="20"/>
                  </a:cubicBezTo>
                  <a:cubicBezTo>
                    <a:pt x="81" y="23"/>
                    <a:pt x="82" y="24"/>
                    <a:pt x="83" y="26"/>
                  </a:cubicBezTo>
                  <a:cubicBezTo>
                    <a:pt x="84" y="27"/>
                    <a:pt x="85" y="27"/>
                    <a:pt x="85" y="29"/>
                  </a:cubicBezTo>
                  <a:cubicBezTo>
                    <a:pt x="85" y="30"/>
                    <a:pt x="85" y="31"/>
                    <a:pt x="88" y="35"/>
                  </a:cubicBezTo>
                  <a:cubicBezTo>
                    <a:pt x="91" y="39"/>
                    <a:pt x="86" y="36"/>
                    <a:pt x="85" y="35"/>
                  </a:cubicBezTo>
                  <a:cubicBezTo>
                    <a:pt x="84" y="35"/>
                    <a:pt x="83" y="34"/>
                    <a:pt x="84" y="33"/>
                  </a:cubicBezTo>
                  <a:cubicBezTo>
                    <a:pt x="84" y="32"/>
                    <a:pt x="82" y="31"/>
                    <a:pt x="81" y="30"/>
                  </a:cubicBezTo>
                  <a:cubicBezTo>
                    <a:pt x="81" y="29"/>
                    <a:pt x="80" y="29"/>
                    <a:pt x="78" y="29"/>
                  </a:cubicBezTo>
                  <a:cubicBezTo>
                    <a:pt x="77" y="30"/>
                    <a:pt x="77" y="29"/>
                    <a:pt x="78" y="28"/>
                  </a:cubicBezTo>
                  <a:cubicBezTo>
                    <a:pt x="78" y="27"/>
                    <a:pt x="79" y="26"/>
                    <a:pt x="77" y="25"/>
                  </a:cubicBezTo>
                  <a:cubicBezTo>
                    <a:pt x="75" y="24"/>
                    <a:pt x="74" y="22"/>
                    <a:pt x="73" y="20"/>
                  </a:cubicBezTo>
                  <a:cubicBezTo>
                    <a:pt x="72" y="19"/>
                    <a:pt x="71" y="17"/>
                    <a:pt x="71" y="15"/>
                  </a:cubicBezTo>
                  <a:cubicBezTo>
                    <a:pt x="72" y="13"/>
                    <a:pt x="68" y="13"/>
                    <a:pt x="67" y="11"/>
                  </a:cubicBezTo>
                  <a:cubicBezTo>
                    <a:pt x="65" y="10"/>
                    <a:pt x="63" y="8"/>
                    <a:pt x="62" y="8"/>
                  </a:cubicBezTo>
                  <a:cubicBezTo>
                    <a:pt x="60" y="7"/>
                    <a:pt x="57" y="10"/>
                    <a:pt x="55" y="12"/>
                  </a:cubicBezTo>
                  <a:cubicBezTo>
                    <a:pt x="53" y="14"/>
                    <a:pt x="55" y="12"/>
                    <a:pt x="55" y="13"/>
                  </a:cubicBezTo>
                  <a:cubicBezTo>
                    <a:pt x="55" y="15"/>
                    <a:pt x="53" y="14"/>
                    <a:pt x="51" y="14"/>
                  </a:cubicBezTo>
                  <a:cubicBezTo>
                    <a:pt x="49" y="14"/>
                    <a:pt x="51" y="20"/>
                    <a:pt x="53" y="22"/>
                  </a:cubicBezTo>
                  <a:cubicBezTo>
                    <a:pt x="54" y="24"/>
                    <a:pt x="53" y="25"/>
                    <a:pt x="51" y="25"/>
                  </a:cubicBezTo>
                  <a:cubicBezTo>
                    <a:pt x="50" y="25"/>
                    <a:pt x="49" y="24"/>
                    <a:pt x="49" y="23"/>
                  </a:cubicBezTo>
                  <a:cubicBezTo>
                    <a:pt x="49" y="22"/>
                    <a:pt x="48" y="21"/>
                    <a:pt x="46" y="19"/>
                  </a:cubicBezTo>
                  <a:cubicBezTo>
                    <a:pt x="44" y="18"/>
                    <a:pt x="44" y="19"/>
                    <a:pt x="41" y="19"/>
                  </a:cubicBezTo>
                  <a:cubicBezTo>
                    <a:pt x="38" y="20"/>
                    <a:pt x="40" y="18"/>
                    <a:pt x="42" y="17"/>
                  </a:cubicBezTo>
                  <a:cubicBezTo>
                    <a:pt x="44" y="16"/>
                    <a:pt x="42" y="15"/>
                    <a:pt x="41" y="14"/>
                  </a:cubicBezTo>
                  <a:cubicBezTo>
                    <a:pt x="39" y="14"/>
                    <a:pt x="36" y="15"/>
                    <a:pt x="30" y="16"/>
                  </a:cubicBezTo>
                  <a:cubicBezTo>
                    <a:pt x="24" y="17"/>
                    <a:pt x="28" y="15"/>
                    <a:pt x="29" y="15"/>
                  </a:cubicBezTo>
                  <a:cubicBezTo>
                    <a:pt x="30" y="14"/>
                    <a:pt x="32" y="14"/>
                    <a:pt x="34" y="12"/>
                  </a:cubicBezTo>
                  <a:cubicBezTo>
                    <a:pt x="36" y="11"/>
                    <a:pt x="40" y="11"/>
                    <a:pt x="45" y="11"/>
                  </a:cubicBezTo>
                  <a:cubicBezTo>
                    <a:pt x="49" y="11"/>
                    <a:pt x="51" y="9"/>
                    <a:pt x="51" y="7"/>
                  </a:cubicBezTo>
                  <a:cubicBezTo>
                    <a:pt x="50" y="5"/>
                    <a:pt x="44" y="6"/>
                    <a:pt x="43" y="6"/>
                  </a:cubicBezTo>
                  <a:cubicBezTo>
                    <a:pt x="42" y="6"/>
                    <a:pt x="37" y="7"/>
                    <a:pt x="35" y="7"/>
                  </a:cubicBezTo>
                  <a:cubicBezTo>
                    <a:pt x="34" y="8"/>
                    <a:pt x="31" y="9"/>
                    <a:pt x="30" y="9"/>
                  </a:cubicBezTo>
                  <a:cubicBezTo>
                    <a:pt x="28" y="10"/>
                    <a:pt x="28" y="9"/>
                    <a:pt x="28" y="8"/>
                  </a:cubicBezTo>
                  <a:cubicBezTo>
                    <a:pt x="28" y="7"/>
                    <a:pt x="26" y="7"/>
                    <a:pt x="25" y="7"/>
                  </a:cubicBezTo>
                  <a:cubicBezTo>
                    <a:pt x="24" y="7"/>
                    <a:pt x="22" y="5"/>
                    <a:pt x="22" y="10"/>
                  </a:cubicBezTo>
                  <a:cubicBezTo>
                    <a:pt x="21" y="14"/>
                    <a:pt x="20" y="9"/>
                    <a:pt x="19" y="8"/>
                  </a:cubicBezTo>
                  <a:cubicBezTo>
                    <a:pt x="19" y="6"/>
                    <a:pt x="15" y="7"/>
                    <a:pt x="14" y="8"/>
                  </a:cubicBezTo>
                  <a:cubicBezTo>
                    <a:pt x="13" y="8"/>
                    <a:pt x="12" y="9"/>
                    <a:pt x="10" y="9"/>
                  </a:cubicBezTo>
                  <a:cubicBezTo>
                    <a:pt x="8" y="8"/>
                    <a:pt x="8" y="9"/>
                    <a:pt x="8" y="10"/>
                  </a:cubicBezTo>
                  <a:cubicBezTo>
                    <a:pt x="8" y="12"/>
                    <a:pt x="8" y="13"/>
                    <a:pt x="7" y="13"/>
                  </a:cubicBezTo>
                  <a:cubicBezTo>
                    <a:pt x="6" y="13"/>
                    <a:pt x="6" y="12"/>
                    <a:pt x="5" y="13"/>
                  </a:cubicBezTo>
                  <a:cubicBezTo>
                    <a:pt x="4" y="14"/>
                    <a:pt x="4" y="13"/>
                    <a:pt x="5" y="15"/>
                  </a:cubicBezTo>
                  <a:cubicBezTo>
                    <a:pt x="7" y="16"/>
                    <a:pt x="4" y="16"/>
                    <a:pt x="2" y="16"/>
                  </a:cubicBezTo>
                  <a:cubicBezTo>
                    <a:pt x="0" y="16"/>
                    <a:pt x="1" y="17"/>
                    <a:pt x="2" y="19"/>
                  </a:cubicBezTo>
                  <a:cubicBezTo>
                    <a:pt x="2" y="20"/>
                    <a:pt x="3" y="23"/>
                    <a:pt x="4" y="2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30" name="Freeform 1215">
              <a:extLst>
                <a:ext uri="{FF2B5EF4-FFF2-40B4-BE49-F238E27FC236}">
                  <a16:creationId xmlns:a16="http://schemas.microsoft.com/office/drawing/2014/main" id="{DE792E63-8D9D-49B9-9DFC-853D920185F1}"/>
                </a:ext>
              </a:extLst>
            </p:cNvPr>
            <p:cNvSpPr>
              <a:spLocks/>
            </p:cNvSpPr>
            <p:nvPr/>
          </p:nvSpPr>
          <p:spPr bwMode="auto">
            <a:xfrm>
              <a:off x="3914" y="604"/>
              <a:ext cx="47" cy="21"/>
            </a:xfrm>
            <a:custGeom>
              <a:avLst/>
              <a:gdLst>
                <a:gd name="T0" fmla="*/ 14 w 34"/>
                <a:gd name="T1" fmla="*/ 14 h 15"/>
                <a:gd name="T2" fmla="*/ 21 w 34"/>
                <a:gd name="T3" fmla="*/ 13 h 15"/>
                <a:gd name="T4" fmla="*/ 31 w 34"/>
                <a:gd name="T5" fmla="*/ 13 h 15"/>
                <a:gd name="T6" fmla="*/ 33 w 34"/>
                <a:gd name="T7" fmla="*/ 8 h 15"/>
                <a:gd name="T8" fmla="*/ 32 w 34"/>
                <a:gd name="T9" fmla="*/ 5 h 15"/>
                <a:gd name="T10" fmla="*/ 31 w 34"/>
                <a:gd name="T11" fmla="*/ 3 h 15"/>
                <a:gd name="T12" fmla="*/ 29 w 34"/>
                <a:gd name="T13" fmla="*/ 3 h 15"/>
                <a:gd name="T14" fmla="*/ 26 w 34"/>
                <a:gd name="T15" fmla="*/ 2 h 15"/>
                <a:gd name="T16" fmla="*/ 23 w 34"/>
                <a:gd name="T17" fmla="*/ 2 h 15"/>
                <a:gd name="T18" fmla="*/ 20 w 34"/>
                <a:gd name="T19" fmla="*/ 1 h 15"/>
                <a:gd name="T20" fmla="*/ 16 w 34"/>
                <a:gd name="T21" fmla="*/ 3 h 15"/>
                <a:gd name="T22" fmla="*/ 12 w 34"/>
                <a:gd name="T23" fmla="*/ 3 h 15"/>
                <a:gd name="T24" fmla="*/ 4 w 34"/>
                <a:gd name="T25" fmla="*/ 5 h 15"/>
                <a:gd name="T26" fmla="*/ 3 w 34"/>
                <a:gd name="T27" fmla="*/ 6 h 15"/>
                <a:gd name="T28" fmla="*/ 10 w 34"/>
                <a:gd name="T29" fmla="*/ 11 h 15"/>
                <a:gd name="T30" fmla="*/ 10 w 34"/>
                <a:gd name="T31" fmla="*/ 14 h 15"/>
                <a:gd name="T32" fmla="*/ 14 w 34"/>
                <a:gd name="T33"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15">
                  <a:moveTo>
                    <a:pt x="14" y="14"/>
                  </a:moveTo>
                  <a:cubicBezTo>
                    <a:pt x="15" y="14"/>
                    <a:pt x="19" y="14"/>
                    <a:pt x="21" y="13"/>
                  </a:cubicBezTo>
                  <a:cubicBezTo>
                    <a:pt x="24" y="13"/>
                    <a:pt x="28" y="13"/>
                    <a:pt x="31" y="13"/>
                  </a:cubicBezTo>
                  <a:cubicBezTo>
                    <a:pt x="34" y="12"/>
                    <a:pt x="33" y="9"/>
                    <a:pt x="33" y="8"/>
                  </a:cubicBezTo>
                  <a:cubicBezTo>
                    <a:pt x="33" y="6"/>
                    <a:pt x="33" y="6"/>
                    <a:pt x="32" y="5"/>
                  </a:cubicBezTo>
                  <a:cubicBezTo>
                    <a:pt x="32" y="5"/>
                    <a:pt x="32" y="4"/>
                    <a:pt x="31" y="3"/>
                  </a:cubicBezTo>
                  <a:cubicBezTo>
                    <a:pt x="31" y="2"/>
                    <a:pt x="30" y="2"/>
                    <a:pt x="29" y="3"/>
                  </a:cubicBezTo>
                  <a:cubicBezTo>
                    <a:pt x="29" y="3"/>
                    <a:pt x="27" y="3"/>
                    <a:pt x="26" y="2"/>
                  </a:cubicBezTo>
                  <a:cubicBezTo>
                    <a:pt x="25" y="1"/>
                    <a:pt x="24" y="2"/>
                    <a:pt x="23" y="2"/>
                  </a:cubicBezTo>
                  <a:cubicBezTo>
                    <a:pt x="22" y="3"/>
                    <a:pt x="21" y="2"/>
                    <a:pt x="20" y="1"/>
                  </a:cubicBezTo>
                  <a:cubicBezTo>
                    <a:pt x="18" y="0"/>
                    <a:pt x="17" y="2"/>
                    <a:pt x="16" y="3"/>
                  </a:cubicBezTo>
                  <a:cubicBezTo>
                    <a:pt x="16" y="4"/>
                    <a:pt x="14" y="3"/>
                    <a:pt x="12" y="3"/>
                  </a:cubicBezTo>
                  <a:cubicBezTo>
                    <a:pt x="10" y="4"/>
                    <a:pt x="8" y="4"/>
                    <a:pt x="4" y="5"/>
                  </a:cubicBezTo>
                  <a:cubicBezTo>
                    <a:pt x="0" y="6"/>
                    <a:pt x="3" y="6"/>
                    <a:pt x="3" y="6"/>
                  </a:cubicBezTo>
                  <a:cubicBezTo>
                    <a:pt x="7" y="6"/>
                    <a:pt x="9" y="10"/>
                    <a:pt x="10" y="11"/>
                  </a:cubicBezTo>
                  <a:cubicBezTo>
                    <a:pt x="11" y="11"/>
                    <a:pt x="11" y="12"/>
                    <a:pt x="10" y="14"/>
                  </a:cubicBezTo>
                  <a:cubicBezTo>
                    <a:pt x="9" y="15"/>
                    <a:pt x="13" y="14"/>
                    <a:pt x="14" y="1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31" name="Freeform 1216">
              <a:extLst>
                <a:ext uri="{FF2B5EF4-FFF2-40B4-BE49-F238E27FC236}">
                  <a16:creationId xmlns:a16="http://schemas.microsoft.com/office/drawing/2014/main" id="{63971BB1-62E0-44B1-972B-B0C724A3AE9F}"/>
                </a:ext>
              </a:extLst>
            </p:cNvPr>
            <p:cNvSpPr>
              <a:spLocks/>
            </p:cNvSpPr>
            <p:nvPr/>
          </p:nvSpPr>
          <p:spPr bwMode="auto">
            <a:xfrm>
              <a:off x="3928" y="621"/>
              <a:ext cx="87" cy="45"/>
            </a:xfrm>
            <a:custGeom>
              <a:avLst/>
              <a:gdLst>
                <a:gd name="T0" fmla="*/ 61 w 63"/>
                <a:gd name="T1" fmla="*/ 17 h 33"/>
                <a:gd name="T2" fmla="*/ 61 w 63"/>
                <a:gd name="T3" fmla="*/ 16 h 33"/>
                <a:gd name="T4" fmla="*/ 55 w 63"/>
                <a:gd name="T5" fmla="*/ 13 h 33"/>
                <a:gd name="T6" fmla="*/ 52 w 63"/>
                <a:gd name="T7" fmla="*/ 12 h 33"/>
                <a:gd name="T8" fmla="*/ 48 w 63"/>
                <a:gd name="T9" fmla="*/ 13 h 33"/>
                <a:gd name="T10" fmla="*/ 43 w 63"/>
                <a:gd name="T11" fmla="*/ 12 h 33"/>
                <a:gd name="T12" fmla="*/ 38 w 63"/>
                <a:gd name="T13" fmla="*/ 8 h 33"/>
                <a:gd name="T14" fmla="*/ 40 w 63"/>
                <a:gd name="T15" fmla="*/ 3 h 33"/>
                <a:gd name="T16" fmla="*/ 28 w 63"/>
                <a:gd name="T17" fmla="*/ 1 h 33"/>
                <a:gd name="T18" fmla="*/ 24 w 63"/>
                <a:gd name="T19" fmla="*/ 3 h 33"/>
                <a:gd name="T20" fmla="*/ 11 w 63"/>
                <a:gd name="T21" fmla="*/ 3 h 33"/>
                <a:gd name="T22" fmla="*/ 3 w 63"/>
                <a:gd name="T23" fmla="*/ 6 h 33"/>
                <a:gd name="T24" fmla="*/ 10 w 63"/>
                <a:gd name="T25" fmla="*/ 10 h 33"/>
                <a:gd name="T26" fmla="*/ 13 w 63"/>
                <a:gd name="T27" fmla="*/ 12 h 33"/>
                <a:gd name="T28" fmla="*/ 11 w 63"/>
                <a:gd name="T29" fmla="*/ 15 h 33"/>
                <a:gd name="T30" fmla="*/ 8 w 63"/>
                <a:gd name="T31" fmla="*/ 19 h 33"/>
                <a:gd name="T32" fmla="*/ 6 w 63"/>
                <a:gd name="T33" fmla="*/ 22 h 33"/>
                <a:gd name="T34" fmla="*/ 3 w 63"/>
                <a:gd name="T35" fmla="*/ 23 h 33"/>
                <a:gd name="T36" fmla="*/ 3 w 63"/>
                <a:gd name="T37" fmla="*/ 26 h 33"/>
                <a:gd name="T38" fmla="*/ 29 w 63"/>
                <a:gd name="T39" fmla="*/ 23 h 33"/>
                <a:gd name="T40" fmla="*/ 30 w 63"/>
                <a:gd name="T41" fmla="*/ 24 h 33"/>
                <a:gd name="T42" fmla="*/ 26 w 63"/>
                <a:gd name="T43" fmla="*/ 28 h 33"/>
                <a:gd name="T44" fmla="*/ 32 w 63"/>
                <a:gd name="T45" fmla="*/ 31 h 33"/>
                <a:gd name="T46" fmla="*/ 36 w 63"/>
                <a:gd name="T47" fmla="*/ 29 h 33"/>
                <a:gd name="T48" fmla="*/ 41 w 63"/>
                <a:gd name="T49" fmla="*/ 28 h 33"/>
                <a:gd name="T50" fmla="*/ 47 w 63"/>
                <a:gd name="T51" fmla="*/ 24 h 33"/>
                <a:gd name="T52" fmla="*/ 52 w 63"/>
                <a:gd name="T53" fmla="*/ 21 h 33"/>
                <a:gd name="T54" fmla="*/ 61 w 63"/>
                <a:gd name="T55" fmla="*/ 17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3" h="33">
                  <a:moveTo>
                    <a:pt x="61" y="17"/>
                  </a:moveTo>
                  <a:cubicBezTo>
                    <a:pt x="61" y="17"/>
                    <a:pt x="63" y="17"/>
                    <a:pt x="61" y="16"/>
                  </a:cubicBezTo>
                  <a:cubicBezTo>
                    <a:pt x="58" y="15"/>
                    <a:pt x="55" y="13"/>
                    <a:pt x="55" y="13"/>
                  </a:cubicBezTo>
                  <a:cubicBezTo>
                    <a:pt x="54" y="12"/>
                    <a:pt x="54" y="12"/>
                    <a:pt x="52" y="12"/>
                  </a:cubicBezTo>
                  <a:cubicBezTo>
                    <a:pt x="51" y="12"/>
                    <a:pt x="49" y="13"/>
                    <a:pt x="48" y="13"/>
                  </a:cubicBezTo>
                  <a:cubicBezTo>
                    <a:pt x="47" y="14"/>
                    <a:pt x="44" y="13"/>
                    <a:pt x="43" y="12"/>
                  </a:cubicBezTo>
                  <a:cubicBezTo>
                    <a:pt x="41" y="12"/>
                    <a:pt x="36" y="11"/>
                    <a:pt x="38" y="8"/>
                  </a:cubicBezTo>
                  <a:cubicBezTo>
                    <a:pt x="40" y="5"/>
                    <a:pt x="42" y="4"/>
                    <a:pt x="40" y="3"/>
                  </a:cubicBezTo>
                  <a:cubicBezTo>
                    <a:pt x="38" y="2"/>
                    <a:pt x="31" y="0"/>
                    <a:pt x="28" y="1"/>
                  </a:cubicBezTo>
                  <a:cubicBezTo>
                    <a:pt x="26" y="2"/>
                    <a:pt x="25" y="3"/>
                    <a:pt x="24" y="3"/>
                  </a:cubicBezTo>
                  <a:cubicBezTo>
                    <a:pt x="22" y="2"/>
                    <a:pt x="15" y="2"/>
                    <a:pt x="11" y="3"/>
                  </a:cubicBezTo>
                  <a:cubicBezTo>
                    <a:pt x="8" y="4"/>
                    <a:pt x="0" y="5"/>
                    <a:pt x="3" y="6"/>
                  </a:cubicBezTo>
                  <a:cubicBezTo>
                    <a:pt x="6" y="7"/>
                    <a:pt x="8" y="9"/>
                    <a:pt x="10" y="10"/>
                  </a:cubicBezTo>
                  <a:cubicBezTo>
                    <a:pt x="12" y="10"/>
                    <a:pt x="14" y="11"/>
                    <a:pt x="13" y="12"/>
                  </a:cubicBezTo>
                  <a:cubicBezTo>
                    <a:pt x="12" y="13"/>
                    <a:pt x="12" y="14"/>
                    <a:pt x="11" y="15"/>
                  </a:cubicBezTo>
                  <a:cubicBezTo>
                    <a:pt x="10" y="16"/>
                    <a:pt x="8" y="17"/>
                    <a:pt x="8" y="19"/>
                  </a:cubicBezTo>
                  <a:cubicBezTo>
                    <a:pt x="8" y="21"/>
                    <a:pt x="8" y="21"/>
                    <a:pt x="6" y="22"/>
                  </a:cubicBezTo>
                  <a:cubicBezTo>
                    <a:pt x="5" y="22"/>
                    <a:pt x="3" y="23"/>
                    <a:pt x="3" y="23"/>
                  </a:cubicBezTo>
                  <a:cubicBezTo>
                    <a:pt x="3" y="23"/>
                    <a:pt x="1" y="26"/>
                    <a:pt x="3" y="26"/>
                  </a:cubicBezTo>
                  <a:cubicBezTo>
                    <a:pt x="5" y="25"/>
                    <a:pt x="29" y="23"/>
                    <a:pt x="29" y="23"/>
                  </a:cubicBezTo>
                  <a:cubicBezTo>
                    <a:pt x="29" y="23"/>
                    <a:pt x="33" y="23"/>
                    <a:pt x="30" y="24"/>
                  </a:cubicBezTo>
                  <a:cubicBezTo>
                    <a:pt x="27" y="26"/>
                    <a:pt x="24" y="26"/>
                    <a:pt x="26" y="28"/>
                  </a:cubicBezTo>
                  <a:cubicBezTo>
                    <a:pt x="28" y="30"/>
                    <a:pt x="32" y="33"/>
                    <a:pt x="32" y="31"/>
                  </a:cubicBezTo>
                  <a:cubicBezTo>
                    <a:pt x="33" y="30"/>
                    <a:pt x="34" y="29"/>
                    <a:pt x="36" y="29"/>
                  </a:cubicBezTo>
                  <a:cubicBezTo>
                    <a:pt x="37" y="29"/>
                    <a:pt x="41" y="28"/>
                    <a:pt x="41" y="28"/>
                  </a:cubicBezTo>
                  <a:cubicBezTo>
                    <a:pt x="41" y="28"/>
                    <a:pt x="46" y="25"/>
                    <a:pt x="47" y="24"/>
                  </a:cubicBezTo>
                  <a:cubicBezTo>
                    <a:pt x="48" y="23"/>
                    <a:pt x="50" y="22"/>
                    <a:pt x="52" y="21"/>
                  </a:cubicBezTo>
                  <a:cubicBezTo>
                    <a:pt x="54" y="21"/>
                    <a:pt x="61" y="17"/>
                    <a:pt x="61" y="1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32" name="Freeform 1217">
              <a:extLst>
                <a:ext uri="{FF2B5EF4-FFF2-40B4-BE49-F238E27FC236}">
                  <a16:creationId xmlns:a16="http://schemas.microsoft.com/office/drawing/2014/main" id="{76FFFC01-3BBA-49A2-9D95-7823320D7516}"/>
                </a:ext>
              </a:extLst>
            </p:cNvPr>
            <p:cNvSpPr>
              <a:spLocks/>
            </p:cNvSpPr>
            <p:nvPr/>
          </p:nvSpPr>
          <p:spPr bwMode="auto">
            <a:xfrm>
              <a:off x="3866" y="518"/>
              <a:ext cx="199" cy="63"/>
            </a:xfrm>
            <a:custGeom>
              <a:avLst/>
              <a:gdLst>
                <a:gd name="T0" fmla="*/ 17 w 144"/>
                <a:gd name="T1" fmla="*/ 16 h 46"/>
                <a:gd name="T2" fmla="*/ 15 w 144"/>
                <a:gd name="T3" fmla="*/ 18 h 46"/>
                <a:gd name="T4" fmla="*/ 13 w 144"/>
                <a:gd name="T5" fmla="*/ 21 h 46"/>
                <a:gd name="T6" fmla="*/ 19 w 144"/>
                <a:gd name="T7" fmla="*/ 27 h 46"/>
                <a:gd name="T8" fmla="*/ 40 w 144"/>
                <a:gd name="T9" fmla="*/ 25 h 46"/>
                <a:gd name="T10" fmla="*/ 64 w 144"/>
                <a:gd name="T11" fmla="*/ 27 h 46"/>
                <a:gd name="T12" fmla="*/ 59 w 144"/>
                <a:gd name="T13" fmla="*/ 28 h 46"/>
                <a:gd name="T14" fmla="*/ 50 w 144"/>
                <a:gd name="T15" fmla="*/ 31 h 46"/>
                <a:gd name="T16" fmla="*/ 42 w 144"/>
                <a:gd name="T17" fmla="*/ 32 h 46"/>
                <a:gd name="T18" fmla="*/ 38 w 144"/>
                <a:gd name="T19" fmla="*/ 36 h 46"/>
                <a:gd name="T20" fmla="*/ 58 w 144"/>
                <a:gd name="T21" fmla="*/ 39 h 46"/>
                <a:gd name="T22" fmla="*/ 71 w 144"/>
                <a:gd name="T23" fmla="*/ 38 h 46"/>
                <a:gd name="T24" fmla="*/ 90 w 144"/>
                <a:gd name="T25" fmla="*/ 45 h 46"/>
                <a:gd name="T26" fmla="*/ 100 w 144"/>
                <a:gd name="T27" fmla="*/ 41 h 46"/>
                <a:gd name="T28" fmla="*/ 113 w 144"/>
                <a:gd name="T29" fmla="*/ 40 h 46"/>
                <a:gd name="T30" fmla="*/ 122 w 144"/>
                <a:gd name="T31" fmla="*/ 35 h 46"/>
                <a:gd name="T32" fmla="*/ 127 w 144"/>
                <a:gd name="T33" fmla="*/ 29 h 46"/>
                <a:gd name="T34" fmla="*/ 138 w 144"/>
                <a:gd name="T35" fmla="*/ 24 h 46"/>
                <a:gd name="T36" fmla="*/ 141 w 144"/>
                <a:gd name="T37" fmla="*/ 19 h 46"/>
                <a:gd name="T38" fmla="*/ 141 w 144"/>
                <a:gd name="T39" fmla="*/ 15 h 46"/>
                <a:gd name="T40" fmla="*/ 98 w 144"/>
                <a:gd name="T41" fmla="*/ 7 h 46"/>
                <a:gd name="T42" fmla="*/ 91 w 144"/>
                <a:gd name="T43" fmla="*/ 10 h 46"/>
                <a:gd name="T44" fmla="*/ 79 w 144"/>
                <a:gd name="T45" fmla="*/ 12 h 46"/>
                <a:gd name="T46" fmla="*/ 84 w 144"/>
                <a:gd name="T47" fmla="*/ 8 h 46"/>
                <a:gd name="T48" fmla="*/ 77 w 144"/>
                <a:gd name="T49" fmla="*/ 1 h 46"/>
                <a:gd name="T50" fmla="*/ 73 w 144"/>
                <a:gd name="T51" fmla="*/ 3 h 46"/>
                <a:gd name="T52" fmla="*/ 72 w 144"/>
                <a:gd name="T53" fmla="*/ 6 h 46"/>
                <a:gd name="T54" fmla="*/ 71 w 144"/>
                <a:gd name="T55" fmla="*/ 12 h 46"/>
                <a:gd name="T56" fmla="*/ 67 w 144"/>
                <a:gd name="T57" fmla="*/ 16 h 46"/>
                <a:gd name="T58" fmla="*/ 59 w 144"/>
                <a:gd name="T59" fmla="*/ 13 h 46"/>
                <a:gd name="T60" fmla="*/ 44 w 144"/>
                <a:gd name="T61" fmla="*/ 9 h 46"/>
                <a:gd name="T62" fmla="*/ 31 w 144"/>
                <a:gd name="T63" fmla="*/ 2 h 46"/>
                <a:gd name="T64" fmla="*/ 27 w 144"/>
                <a:gd name="T65" fmla="*/ 4 h 46"/>
                <a:gd name="T66" fmla="*/ 32 w 144"/>
                <a:gd name="T67" fmla="*/ 7 h 46"/>
                <a:gd name="T68" fmla="*/ 26 w 144"/>
                <a:gd name="T69" fmla="*/ 10 h 46"/>
                <a:gd name="T70" fmla="*/ 20 w 144"/>
                <a:gd name="T71" fmla="*/ 7 h 46"/>
                <a:gd name="T72" fmla="*/ 21 w 144"/>
                <a:gd name="T73" fmla="*/ 11 h 46"/>
                <a:gd name="T74" fmla="*/ 3 w 144"/>
                <a:gd name="T75" fmla="*/ 1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4" h="46">
                  <a:moveTo>
                    <a:pt x="3" y="14"/>
                  </a:moveTo>
                  <a:cubicBezTo>
                    <a:pt x="3" y="14"/>
                    <a:pt x="15" y="16"/>
                    <a:pt x="17" y="16"/>
                  </a:cubicBezTo>
                  <a:cubicBezTo>
                    <a:pt x="19" y="17"/>
                    <a:pt x="18" y="17"/>
                    <a:pt x="17" y="18"/>
                  </a:cubicBezTo>
                  <a:cubicBezTo>
                    <a:pt x="16" y="19"/>
                    <a:pt x="16" y="19"/>
                    <a:pt x="15" y="18"/>
                  </a:cubicBezTo>
                  <a:cubicBezTo>
                    <a:pt x="14" y="18"/>
                    <a:pt x="14" y="19"/>
                    <a:pt x="13" y="19"/>
                  </a:cubicBezTo>
                  <a:cubicBezTo>
                    <a:pt x="13" y="20"/>
                    <a:pt x="12" y="20"/>
                    <a:pt x="13" y="21"/>
                  </a:cubicBezTo>
                  <a:cubicBezTo>
                    <a:pt x="13" y="22"/>
                    <a:pt x="15" y="25"/>
                    <a:pt x="16" y="27"/>
                  </a:cubicBezTo>
                  <a:cubicBezTo>
                    <a:pt x="16" y="28"/>
                    <a:pt x="19" y="27"/>
                    <a:pt x="19" y="27"/>
                  </a:cubicBezTo>
                  <a:cubicBezTo>
                    <a:pt x="20" y="27"/>
                    <a:pt x="26" y="27"/>
                    <a:pt x="28" y="27"/>
                  </a:cubicBezTo>
                  <a:cubicBezTo>
                    <a:pt x="30" y="27"/>
                    <a:pt x="37" y="26"/>
                    <a:pt x="40" y="25"/>
                  </a:cubicBezTo>
                  <a:cubicBezTo>
                    <a:pt x="42" y="24"/>
                    <a:pt x="61" y="24"/>
                    <a:pt x="66" y="25"/>
                  </a:cubicBezTo>
                  <a:cubicBezTo>
                    <a:pt x="71" y="25"/>
                    <a:pt x="65" y="26"/>
                    <a:pt x="64" y="27"/>
                  </a:cubicBezTo>
                  <a:cubicBezTo>
                    <a:pt x="63" y="27"/>
                    <a:pt x="62" y="27"/>
                    <a:pt x="62" y="28"/>
                  </a:cubicBezTo>
                  <a:cubicBezTo>
                    <a:pt x="62" y="28"/>
                    <a:pt x="61" y="28"/>
                    <a:pt x="59" y="28"/>
                  </a:cubicBezTo>
                  <a:cubicBezTo>
                    <a:pt x="57" y="27"/>
                    <a:pt x="48" y="28"/>
                    <a:pt x="47" y="28"/>
                  </a:cubicBezTo>
                  <a:cubicBezTo>
                    <a:pt x="46" y="28"/>
                    <a:pt x="46" y="28"/>
                    <a:pt x="50" y="31"/>
                  </a:cubicBezTo>
                  <a:cubicBezTo>
                    <a:pt x="53" y="34"/>
                    <a:pt x="49" y="33"/>
                    <a:pt x="48" y="33"/>
                  </a:cubicBezTo>
                  <a:cubicBezTo>
                    <a:pt x="47" y="33"/>
                    <a:pt x="44" y="32"/>
                    <a:pt x="42" y="32"/>
                  </a:cubicBezTo>
                  <a:cubicBezTo>
                    <a:pt x="41" y="31"/>
                    <a:pt x="37" y="31"/>
                    <a:pt x="35" y="31"/>
                  </a:cubicBezTo>
                  <a:cubicBezTo>
                    <a:pt x="33" y="30"/>
                    <a:pt x="35" y="32"/>
                    <a:pt x="38" y="36"/>
                  </a:cubicBezTo>
                  <a:cubicBezTo>
                    <a:pt x="42" y="39"/>
                    <a:pt x="49" y="39"/>
                    <a:pt x="50" y="39"/>
                  </a:cubicBezTo>
                  <a:cubicBezTo>
                    <a:pt x="52" y="38"/>
                    <a:pt x="57" y="39"/>
                    <a:pt x="58" y="39"/>
                  </a:cubicBezTo>
                  <a:cubicBezTo>
                    <a:pt x="60" y="40"/>
                    <a:pt x="63" y="39"/>
                    <a:pt x="64" y="38"/>
                  </a:cubicBezTo>
                  <a:cubicBezTo>
                    <a:pt x="65" y="38"/>
                    <a:pt x="70" y="38"/>
                    <a:pt x="71" y="38"/>
                  </a:cubicBezTo>
                  <a:cubicBezTo>
                    <a:pt x="73" y="38"/>
                    <a:pt x="79" y="40"/>
                    <a:pt x="80" y="40"/>
                  </a:cubicBezTo>
                  <a:cubicBezTo>
                    <a:pt x="82" y="40"/>
                    <a:pt x="87" y="45"/>
                    <a:pt x="90" y="45"/>
                  </a:cubicBezTo>
                  <a:cubicBezTo>
                    <a:pt x="93" y="46"/>
                    <a:pt x="97" y="44"/>
                    <a:pt x="97" y="44"/>
                  </a:cubicBezTo>
                  <a:cubicBezTo>
                    <a:pt x="98" y="43"/>
                    <a:pt x="99" y="41"/>
                    <a:pt x="100" y="41"/>
                  </a:cubicBezTo>
                  <a:cubicBezTo>
                    <a:pt x="101" y="41"/>
                    <a:pt x="105" y="40"/>
                    <a:pt x="107" y="40"/>
                  </a:cubicBezTo>
                  <a:cubicBezTo>
                    <a:pt x="108" y="41"/>
                    <a:pt x="111" y="41"/>
                    <a:pt x="113" y="40"/>
                  </a:cubicBezTo>
                  <a:cubicBezTo>
                    <a:pt x="115" y="39"/>
                    <a:pt x="117" y="38"/>
                    <a:pt x="119" y="38"/>
                  </a:cubicBezTo>
                  <a:cubicBezTo>
                    <a:pt x="120" y="38"/>
                    <a:pt x="121" y="36"/>
                    <a:pt x="122" y="35"/>
                  </a:cubicBezTo>
                  <a:cubicBezTo>
                    <a:pt x="124" y="34"/>
                    <a:pt x="123" y="33"/>
                    <a:pt x="122" y="32"/>
                  </a:cubicBezTo>
                  <a:cubicBezTo>
                    <a:pt x="120" y="30"/>
                    <a:pt x="125" y="29"/>
                    <a:pt x="127" y="29"/>
                  </a:cubicBezTo>
                  <a:cubicBezTo>
                    <a:pt x="129" y="28"/>
                    <a:pt x="131" y="27"/>
                    <a:pt x="133" y="26"/>
                  </a:cubicBezTo>
                  <a:cubicBezTo>
                    <a:pt x="135" y="25"/>
                    <a:pt x="136" y="24"/>
                    <a:pt x="138" y="24"/>
                  </a:cubicBezTo>
                  <a:cubicBezTo>
                    <a:pt x="140" y="24"/>
                    <a:pt x="140" y="23"/>
                    <a:pt x="142" y="22"/>
                  </a:cubicBezTo>
                  <a:cubicBezTo>
                    <a:pt x="144" y="21"/>
                    <a:pt x="142" y="20"/>
                    <a:pt x="141" y="19"/>
                  </a:cubicBezTo>
                  <a:cubicBezTo>
                    <a:pt x="140" y="18"/>
                    <a:pt x="140" y="17"/>
                    <a:pt x="141" y="17"/>
                  </a:cubicBezTo>
                  <a:cubicBezTo>
                    <a:pt x="142" y="16"/>
                    <a:pt x="141" y="15"/>
                    <a:pt x="141" y="15"/>
                  </a:cubicBezTo>
                  <a:cubicBezTo>
                    <a:pt x="141" y="15"/>
                    <a:pt x="102" y="6"/>
                    <a:pt x="99" y="5"/>
                  </a:cubicBezTo>
                  <a:cubicBezTo>
                    <a:pt x="96" y="5"/>
                    <a:pt x="98" y="7"/>
                    <a:pt x="98" y="7"/>
                  </a:cubicBezTo>
                  <a:cubicBezTo>
                    <a:pt x="97" y="7"/>
                    <a:pt x="93" y="7"/>
                    <a:pt x="92" y="8"/>
                  </a:cubicBezTo>
                  <a:cubicBezTo>
                    <a:pt x="90" y="8"/>
                    <a:pt x="90" y="9"/>
                    <a:pt x="91" y="10"/>
                  </a:cubicBezTo>
                  <a:cubicBezTo>
                    <a:pt x="91" y="11"/>
                    <a:pt x="84" y="14"/>
                    <a:pt x="82" y="14"/>
                  </a:cubicBezTo>
                  <a:cubicBezTo>
                    <a:pt x="81" y="14"/>
                    <a:pt x="80" y="13"/>
                    <a:pt x="79" y="12"/>
                  </a:cubicBezTo>
                  <a:cubicBezTo>
                    <a:pt x="79" y="11"/>
                    <a:pt x="80" y="9"/>
                    <a:pt x="82" y="9"/>
                  </a:cubicBezTo>
                  <a:cubicBezTo>
                    <a:pt x="83" y="9"/>
                    <a:pt x="83" y="8"/>
                    <a:pt x="84" y="8"/>
                  </a:cubicBezTo>
                  <a:cubicBezTo>
                    <a:pt x="84" y="7"/>
                    <a:pt x="84" y="6"/>
                    <a:pt x="83" y="6"/>
                  </a:cubicBezTo>
                  <a:cubicBezTo>
                    <a:pt x="82" y="5"/>
                    <a:pt x="78" y="2"/>
                    <a:pt x="77" y="1"/>
                  </a:cubicBezTo>
                  <a:cubicBezTo>
                    <a:pt x="76" y="0"/>
                    <a:pt x="76" y="1"/>
                    <a:pt x="76" y="2"/>
                  </a:cubicBezTo>
                  <a:cubicBezTo>
                    <a:pt x="76" y="3"/>
                    <a:pt x="75" y="3"/>
                    <a:pt x="73" y="3"/>
                  </a:cubicBezTo>
                  <a:cubicBezTo>
                    <a:pt x="72" y="3"/>
                    <a:pt x="71" y="3"/>
                    <a:pt x="70" y="4"/>
                  </a:cubicBezTo>
                  <a:cubicBezTo>
                    <a:pt x="69" y="6"/>
                    <a:pt x="70" y="6"/>
                    <a:pt x="72" y="6"/>
                  </a:cubicBezTo>
                  <a:cubicBezTo>
                    <a:pt x="73" y="6"/>
                    <a:pt x="73" y="8"/>
                    <a:pt x="72" y="8"/>
                  </a:cubicBezTo>
                  <a:cubicBezTo>
                    <a:pt x="71" y="8"/>
                    <a:pt x="71" y="11"/>
                    <a:pt x="71" y="12"/>
                  </a:cubicBezTo>
                  <a:cubicBezTo>
                    <a:pt x="70" y="12"/>
                    <a:pt x="70" y="16"/>
                    <a:pt x="68" y="18"/>
                  </a:cubicBezTo>
                  <a:cubicBezTo>
                    <a:pt x="67" y="19"/>
                    <a:pt x="67" y="18"/>
                    <a:pt x="67" y="16"/>
                  </a:cubicBezTo>
                  <a:cubicBezTo>
                    <a:pt x="67" y="15"/>
                    <a:pt x="62" y="14"/>
                    <a:pt x="60" y="14"/>
                  </a:cubicBezTo>
                  <a:cubicBezTo>
                    <a:pt x="59" y="14"/>
                    <a:pt x="58" y="14"/>
                    <a:pt x="59" y="13"/>
                  </a:cubicBezTo>
                  <a:cubicBezTo>
                    <a:pt x="60" y="12"/>
                    <a:pt x="51" y="11"/>
                    <a:pt x="50" y="11"/>
                  </a:cubicBezTo>
                  <a:cubicBezTo>
                    <a:pt x="48" y="11"/>
                    <a:pt x="46" y="10"/>
                    <a:pt x="44" y="9"/>
                  </a:cubicBezTo>
                  <a:cubicBezTo>
                    <a:pt x="43" y="8"/>
                    <a:pt x="41" y="6"/>
                    <a:pt x="39" y="5"/>
                  </a:cubicBezTo>
                  <a:cubicBezTo>
                    <a:pt x="37" y="5"/>
                    <a:pt x="33" y="3"/>
                    <a:pt x="31" y="2"/>
                  </a:cubicBezTo>
                  <a:cubicBezTo>
                    <a:pt x="29" y="1"/>
                    <a:pt x="28" y="2"/>
                    <a:pt x="28" y="2"/>
                  </a:cubicBezTo>
                  <a:cubicBezTo>
                    <a:pt x="27" y="3"/>
                    <a:pt x="26" y="4"/>
                    <a:pt x="27" y="4"/>
                  </a:cubicBezTo>
                  <a:cubicBezTo>
                    <a:pt x="28" y="5"/>
                    <a:pt x="31" y="5"/>
                    <a:pt x="32" y="5"/>
                  </a:cubicBezTo>
                  <a:cubicBezTo>
                    <a:pt x="34" y="6"/>
                    <a:pt x="32" y="6"/>
                    <a:pt x="32" y="7"/>
                  </a:cubicBezTo>
                  <a:cubicBezTo>
                    <a:pt x="31" y="8"/>
                    <a:pt x="31" y="7"/>
                    <a:pt x="30" y="9"/>
                  </a:cubicBezTo>
                  <a:cubicBezTo>
                    <a:pt x="28" y="11"/>
                    <a:pt x="27" y="10"/>
                    <a:pt x="26" y="10"/>
                  </a:cubicBezTo>
                  <a:cubicBezTo>
                    <a:pt x="26" y="9"/>
                    <a:pt x="21" y="7"/>
                    <a:pt x="20" y="6"/>
                  </a:cubicBezTo>
                  <a:cubicBezTo>
                    <a:pt x="19" y="6"/>
                    <a:pt x="20" y="7"/>
                    <a:pt x="20" y="7"/>
                  </a:cubicBezTo>
                  <a:cubicBezTo>
                    <a:pt x="21" y="8"/>
                    <a:pt x="21" y="8"/>
                    <a:pt x="21" y="9"/>
                  </a:cubicBezTo>
                  <a:cubicBezTo>
                    <a:pt x="22" y="10"/>
                    <a:pt x="21" y="11"/>
                    <a:pt x="21" y="11"/>
                  </a:cubicBezTo>
                  <a:cubicBezTo>
                    <a:pt x="21" y="11"/>
                    <a:pt x="9" y="13"/>
                    <a:pt x="5" y="13"/>
                  </a:cubicBezTo>
                  <a:cubicBezTo>
                    <a:pt x="0" y="14"/>
                    <a:pt x="3" y="14"/>
                    <a:pt x="3" y="1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33" name="Freeform 1218">
              <a:extLst>
                <a:ext uri="{FF2B5EF4-FFF2-40B4-BE49-F238E27FC236}">
                  <a16:creationId xmlns:a16="http://schemas.microsoft.com/office/drawing/2014/main" id="{B206142D-67D3-450D-9335-C70F1306E920}"/>
                </a:ext>
              </a:extLst>
            </p:cNvPr>
            <p:cNvSpPr>
              <a:spLocks/>
            </p:cNvSpPr>
            <p:nvPr/>
          </p:nvSpPr>
          <p:spPr bwMode="auto">
            <a:xfrm>
              <a:off x="4046" y="596"/>
              <a:ext cx="12" cy="10"/>
            </a:xfrm>
            <a:custGeom>
              <a:avLst/>
              <a:gdLst>
                <a:gd name="T0" fmla="*/ 4 w 9"/>
                <a:gd name="T1" fmla="*/ 2 h 7"/>
                <a:gd name="T2" fmla="*/ 1 w 9"/>
                <a:gd name="T3" fmla="*/ 0 h 7"/>
                <a:gd name="T4" fmla="*/ 1 w 9"/>
                <a:gd name="T5" fmla="*/ 2 h 7"/>
                <a:gd name="T6" fmla="*/ 6 w 9"/>
                <a:gd name="T7" fmla="*/ 7 h 7"/>
                <a:gd name="T8" fmla="*/ 8 w 9"/>
                <a:gd name="T9" fmla="*/ 5 h 7"/>
                <a:gd name="T10" fmla="*/ 4 w 9"/>
                <a:gd name="T11" fmla="*/ 2 h 7"/>
              </a:gdLst>
              <a:ahLst/>
              <a:cxnLst>
                <a:cxn ang="0">
                  <a:pos x="T0" y="T1"/>
                </a:cxn>
                <a:cxn ang="0">
                  <a:pos x="T2" y="T3"/>
                </a:cxn>
                <a:cxn ang="0">
                  <a:pos x="T4" y="T5"/>
                </a:cxn>
                <a:cxn ang="0">
                  <a:pos x="T6" y="T7"/>
                </a:cxn>
                <a:cxn ang="0">
                  <a:pos x="T8" y="T9"/>
                </a:cxn>
                <a:cxn ang="0">
                  <a:pos x="T10" y="T11"/>
                </a:cxn>
              </a:cxnLst>
              <a:rect l="0" t="0" r="r" b="b"/>
              <a:pathLst>
                <a:path w="9" h="7">
                  <a:moveTo>
                    <a:pt x="4" y="2"/>
                  </a:moveTo>
                  <a:cubicBezTo>
                    <a:pt x="3" y="1"/>
                    <a:pt x="2" y="1"/>
                    <a:pt x="1" y="0"/>
                  </a:cubicBezTo>
                  <a:cubicBezTo>
                    <a:pt x="0" y="0"/>
                    <a:pt x="1" y="2"/>
                    <a:pt x="1" y="2"/>
                  </a:cubicBezTo>
                  <a:cubicBezTo>
                    <a:pt x="0" y="2"/>
                    <a:pt x="4" y="6"/>
                    <a:pt x="6" y="7"/>
                  </a:cubicBezTo>
                  <a:cubicBezTo>
                    <a:pt x="7" y="7"/>
                    <a:pt x="8" y="6"/>
                    <a:pt x="8" y="5"/>
                  </a:cubicBezTo>
                  <a:cubicBezTo>
                    <a:pt x="9" y="4"/>
                    <a:pt x="5" y="2"/>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34" name="Freeform 1219">
              <a:extLst>
                <a:ext uri="{FF2B5EF4-FFF2-40B4-BE49-F238E27FC236}">
                  <a16:creationId xmlns:a16="http://schemas.microsoft.com/office/drawing/2014/main" id="{1C7F7475-2D49-45CA-AC85-085A08B4AC9E}"/>
                </a:ext>
              </a:extLst>
            </p:cNvPr>
            <p:cNvSpPr>
              <a:spLocks/>
            </p:cNvSpPr>
            <p:nvPr/>
          </p:nvSpPr>
          <p:spPr bwMode="auto">
            <a:xfrm>
              <a:off x="4075" y="589"/>
              <a:ext cx="38" cy="7"/>
            </a:xfrm>
            <a:custGeom>
              <a:avLst/>
              <a:gdLst>
                <a:gd name="T0" fmla="*/ 2 w 28"/>
                <a:gd name="T1" fmla="*/ 5 h 5"/>
                <a:gd name="T2" fmla="*/ 6 w 28"/>
                <a:gd name="T3" fmla="*/ 4 h 5"/>
                <a:gd name="T4" fmla="*/ 11 w 28"/>
                <a:gd name="T5" fmla="*/ 3 h 5"/>
                <a:gd name="T6" fmla="*/ 15 w 28"/>
                <a:gd name="T7" fmla="*/ 3 h 5"/>
                <a:gd name="T8" fmla="*/ 19 w 28"/>
                <a:gd name="T9" fmla="*/ 4 h 5"/>
                <a:gd name="T10" fmla="*/ 25 w 28"/>
                <a:gd name="T11" fmla="*/ 4 h 5"/>
                <a:gd name="T12" fmla="*/ 23 w 28"/>
                <a:gd name="T13" fmla="*/ 2 h 5"/>
                <a:gd name="T14" fmla="*/ 11 w 28"/>
                <a:gd name="T15" fmla="*/ 1 h 5"/>
                <a:gd name="T16" fmla="*/ 2 w 28"/>
                <a:gd name="T17" fmla="*/ 3 h 5"/>
                <a:gd name="T18" fmla="*/ 2 w 28"/>
                <a:gd name="T19"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5">
                  <a:moveTo>
                    <a:pt x="2" y="5"/>
                  </a:moveTo>
                  <a:cubicBezTo>
                    <a:pt x="3" y="5"/>
                    <a:pt x="6" y="5"/>
                    <a:pt x="6" y="4"/>
                  </a:cubicBezTo>
                  <a:cubicBezTo>
                    <a:pt x="7" y="4"/>
                    <a:pt x="9" y="3"/>
                    <a:pt x="11" y="3"/>
                  </a:cubicBezTo>
                  <a:cubicBezTo>
                    <a:pt x="12" y="4"/>
                    <a:pt x="13" y="3"/>
                    <a:pt x="15" y="3"/>
                  </a:cubicBezTo>
                  <a:cubicBezTo>
                    <a:pt x="17" y="3"/>
                    <a:pt x="16" y="3"/>
                    <a:pt x="19" y="4"/>
                  </a:cubicBezTo>
                  <a:cubicBezTo>
                    <a:pt x="22" y="5"/>
                    <a:pt x="22" y="4"/>
                    <a:pt x="25" y="4"/>
                  </a:cubicBezTo>
                  <a:cubicBezTo>
                    <a:pt x="28" y="3"/>
                    <a:pt x="24" y="2"/>
                    <a:pt x="23" y="2"/>
                  </a:cubicBezTo>
                  <a:cubicBezTo>
                    <a:pt x="22" y="2"/>
                    <a:pt x="12" y="1"/>
                    <a:pt x="11" y="1"/>
                  </a:cubicBezTo>
                  <a:cubicBezTo>
                    <a:pt x="10" y="0"/>
                    <a:pt x="5" y="3"/>
                    <a:pt x="2" y="3"/>
                  </a:cubicBezTo>
                  <a:cubicBezTo>
                    <a:pt x="0" y="4"/>
                    <a:pt x="2" y="5"/>
                    <a:pt x="2"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35" name="Freeform 1220">
              <a:extLst>
                <a:ext uri="{FF2B5EF4-FFF2-40B4-BE49-F238E27FC236}">
                  <a16:creationId xmlns:a16="http://schemas.microsoft.com/office/drawing/2014/main" id="{6C697125-BCAC-4201-BDFC-87C5F716D5E6}"/>
                </a:ext>
              </a:extLst>
            </p:cNvPr>
            <p:cNvSpPr>
              <a:spLocks/>
            </p:cNvSpPr>
            <p:nvPr/>
          </p:nvSpPr>
          <p:spPr bwMode="auto">
            <a:xfrm>
              <a:off x="4156" y="532"/>
              <a:ext cx="39" cy="6"/>
            </a:xfrm>
            <a:custGeom>
              <a:avLst/>
              <a:gdLst>
                <a:gd name="T0" fmla="*/ 1 w 28"/>
                <a:gd name="T1" fmla="*/ 5 h 5"/>
                <a:gd name="T2" fmla="*/ 11 w 28"/>
                <a:gd name="T3" fmla="*/ 4 h 5"/>
                <a:gd name="T4" fmla="*/ 21 w 28"/>
                <a:gd name="T5" fmla="*/ 2 h 5"/>
                <a:gd name="T6" fmla="*/ 27 w 28"/>
                <a:gd name="T7" fmla="*/ 1 h 5"/>
                <a:gd name="T8" fmla="*/ 3 w 28"/>
                <a:gd name="T9" fmla="*/ 4 h 5"/>
                <a:gd name="T10" fmla="*/ 1 w 28"/>
                <a:gd name="T11" fmla="*/ 5 h 5"/>
              </a:gdLst>
              <a:ahLst/>
              <a:cxnLst>
                <a:cxn ang="0">
                  <a:pos x="T0" y="T1"/>
                </a:cxn>
                <a:cxn ang="0">
                  <a:pos x="T2" y="T3"/>
                </a:cxn>
                <a:cxn ang="0">
                  <a:pos x="T4" y="T5"/>
                </a:cxn>
                <a:cxn ang="0">
                  <a:pos x="T6" y="T7"/>
                </a:cxn>
                <a:cxn ang="0">
                  <a:pos x="T8" y="T9"/>
                </a:cxn>
                <a:cxn ang="0">
                  <a:pos x="T10" y="T11"/>
                </a:cxn>
              </a:cxnLst>
              <a:rect l="0" t="0" r="r" b="b"/>
              <a:pathLst>
                <a:path w="28" h="5">
                  <a:moveTo>
                    <a:pt x="1" y="5"/>
                  </a:moveTo>
                  <a:cubicBezTo>
                    <a:pt x="2" y="5"/>
                    <a:pt x="8" y="5"/>
                    <a:pt x="11" y="4"/>
                  </a:cubicBezTo>
                  <a:cubicBezTo>
                    <a:pt x="14" y="4"/>
                    <a:pt x="18" y="3"/>
                    <a:pt x="21" y="2"/>
                  </a:cubicBezTo>
                  <a:cubicBezTo>
                    <a:pt x="24" y="2"/>
                    <a:pt x="26" y="1"/>
                    <a:pt x="27" y="1"/>
                  </a:cubicBezTo>
                  <a:cubicBezTo>
                    <a:pt x="28" y="0"/>
                    <a:pt x="7" y="4"/>
                    <a:pt x="3" y="4"/>
                  </a:cubicBezTo>
                  <a:cubicBezTo>
                    <a:pt x="0" y="5"/>
                    <a:pt x="1" y="5"/>
                    <a:pt x="1"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36" name="Freeform 1221">
              <a:extLst>
                <a:ext uri="{FF2B5EF4-FFF2-40B4-BE49-F238E27FC236}">
                  <a16:creationId xmlns:a16="http://schemas.microsoft.com/office/drawing/2014/main" id="{C782A3B7-0808-4068-9669-F8A3F8EDC59A}"/>
                </a:ext>
              </a:extLst>
            </p:cNvPr>
            <p:cNvSpPr>
              <a:spLocks/>
            </p:cNvSpPr>
            <p:nvPr/>
          </p:nvSpPr>
          <p:spPr bwMode="auto">
            <a:xfrm>
              <a:off x="3886" y="780"/>
              <a:ext cx="13" cy="7"/>
            </a:xfrm>
            <a:custGeom>
              <a:avLst/>
              <a:gdLst>
                <a:gd name="T0" fmla="*/ 2 w 9"/>
                <a:gd name="T1" fmla="*/ 2 h 5"/>
                <a:gd name="T2" fmla="*/ 6 w 9"/>
                <a:gd name="T3" fmla="*/ 4 h 5"/>
                <a:gd name="T4" fmla="*/ 9 w 9"/>
                <a:gd name="T5" fmla="*/ 1 h 5"/>
                <a:gd name="T6" fmla="*/ 3 w 9"/>
                <a:gd name="T7" fmla="*/ 0 h 5"/>
                <a:gd name="T8" fmla="*/ 2 w 9"/>
                <a:gd name="T9" fmla="*/ 2 h 5"/>
              </a:gdLst>
              <a:ahLst/>
              <a:cxnLst>
                <a:cxn ang="0">
                  <a:pos x="T0" y="T1"/>
                </a:cxn>
                <a:cxn ang="0">
                  <a:pos x="T2" y="T3"/>
                </a:cxn>
                <a:cxn ang="0">
                  <a:pos x="T4" y="T5"/>
                </a:cxn>
                <a:cxn ang="0">
                  <a:pos x="T6" y="T7"/>
                </a:cxn>
                <a:cxn ang="0">
                  <a:pos x="T8" y="T9"/>
                </a:cxn>
              </a:cxnLst>
              <a:rect l="0" t="0" r="r" b="b"/>
              <a:pathLst>
                <a:path w="9" h="5">
                  <a:moveTo>
                    <a:pt x="2" y="2"/>
                  </a:moveTo>
                  <a:cubicBezTo>
                    <a:pt x="4" y="5"/>
                    <a:pt x="5" y="5"/>
                    <a:pt x="6" y="4"/>
                  </a:cubicBezTo>
                  <a:cubicBezTo>
                    <a:pt x="8" y="4"/>
                    <a:pt x="8" y="3"/>
                    <a:pt x="9" y="1"/>
                  </a:cubicBezTo>
                  <a:cubicBezTo>
                    <a:pt x="9" y="0"/>
                    <a:pt x="5" y="0"/>
                    <a:pt x="3" y="0"/>
                  </a:cubicBezTo>
                  <a:cubicBezTo>
                    <a:pt x="0" y="0"/>
                    <a:pt x="2" y="2"/>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37" name="Freeform 1222">
              <a:extLst>
                <a:ext uri="{FF2B5EF4-FFF2-40B4-BE49-F238E27FC236}">
                  <a16:creationId xmlns:a16="http://schemas.microsoft.com/office/drawing/2014/main" id="{38B2A3B6-7009-4FA6-8D74-D622C355C564}"/>
                </a:ext>
              </a:extLst>
            </p:cNvPr>
            <p:cNvSpPr>
              <a:spLocks/>
            </p:cNvSpPr>
            <p:nvPr/>
          </p:nvSpPr>
          <p:spPr bwMode="auto">
            <a:xfrm>
              <a:off x="3672" y="1166"/>
              <a:ext cx="15" cy="4"/>
            </a:xfrm>
            <a:custGeom>
              <a:avLst/>
              <a:gdLst>
                <a:gd name="T0" fmla="*/ 3 w 11"/>
                <a:gd name="T1" fmla="*/ 3 h 3"/>
                <a:gd name="T2" fmla="*/ 8 w 11"/>
                <a:gd name="T3" fmla="*/ 2 h 3"/>
                <a:gd name="T4" fmla="*/ 5 w 11"/>
                <a:gd name="T5" fmla="*/ 2 h 3"/>
                <a:gd name="T6" fmla="*/ 3 w 11"/>
                <a:gd name="T7" fmla="*/ 3 h 3"/>
              </a:gdLst>
              <a:ahLst/>
              <a:cxnLst>
                <a:cxn ang="0">
                  <a:pos x="T0" y="T1"/>
                </a:cxn>
                <a:cxn ang="0">
                  <a:pos x="T2" y="T3"/>
                </a:cxn>
                <a:cxn ang="0">
                  <a:pos x="T4" y="T5"/>
                </a:cxn>
                <a:cxn ang="0">
                  <a:pos x="T6" y="T7"/>
                </a:cxn>
              </a:cxnLst>
              <a:rect l="0" t="0" r="r" b="b"/>
              <a:pathLst>
                <a:path w="11" h="3">
                  <a:moveTo>
                    <a:pt x="3" y="3"/>
                  </a:moveTo>
                  <a:cubicBezTo>
                    <a:pt x="4" y="3"/>
                    <a:pt x="6" y="3"/>
                    <a:pt x="8" y="2"/>
                  </a:cubicBezTo>
                  <a:cubicBezTo>
                    <a:pt x="11" y="1"/>
                    <a:pt x="10" y="0"/>
                    <a:pt x="5" y="2"/>
                  </a:cubicBezTo>
                  <a:cubicBezTo>
                    <a:pt x="0" y="3"/>
                    <a:pt x="3" y="3"/>
                    <a:pt x="3"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38" name="Freeform 1223">
              <a:extLst>
                <a:ext uri="{FF2B5EF4-FFF2-40B4-BE49-F238E27FC236}">
                  <a16:creationId xmlns:a16="http://schemas.microsoft.com/office/drawing/2014/main" id="{7B45D096-C9BB-412D-9923-A5D503A25062}"/>
                </a:ext>
              </a:extLst>
            </p:cNvPr>
            <p:cNvSpPr>
              <a:spLocks/>
            </p:cNvSpPr>
            <p:nvPr/>
          </p:nvSpPr>
          <p:spPr bwMode="auto">
            <a:xfrm>
              <a:off x="3664" y="1175"/>
              <a:ext cx="8" cy="4"/>
            </a:xfrm>
            <a:custGeom>
              <a:avLst/>
              <a:gdLst>
                <a:gd name="T0" fmla="*/ 1 w 6"/>
                <a:gd name="T1" fmla="*/ 2 h 3"/>
                <a:gd name="T2" fmla="*/ 6 w 6"/>
                <a:gd name="T3" fmla="*/ 2 h 3"/>
                <a:gd name="T4" fmla="*/ 3 w 6"/>
                <a:gd name="T5" fmla="*/ 1 h 3"/>
                <a:gd name="T6" fmla="*/ 1 w 6"/>
                <a:gd name="T7" fmla="*/ 2 h 3"/>
              </a:gdLst>
              <a:ahLst/>
              <a:cxnLst>
                <a:cxn ang="0">
                  <a:pos x="T0" y="T1"/>
                </a:cxn>
                <a:cxn ang="0">
                  <a:pos x="T2" y="T3"/>
                </a:cxn>
                <a:cxn ang="0">
                  <a:pos x="T4" y="T5"/>
                </a:cxn>
                <a:cxn ang="0">
                  <a:pos x="T6" y="T7"/>
                </a:cxn>
              </a:cxnLst>
              <a:rect l="0" t="0" r="r" b="b"/>
              <a:pathLst>
                <a:path w="6" h="3">
                  <a:moveTo>
                    <a:pt x="1" y="2"/>
                  </a:moveTo>
                  <a:cubicBezTo>
                    <a:pt x="3" y="2"/>
                    <a:pt x="6" y="3"/>
                    <a:pt x="6" y="2"/>
                  </a:cubicBezTo>
                  <a:cubicBezTo>
                    <a:pt x="6" y="2"/>
                    <a:pt x="6" y="0"/>
                    <a:pt x="3" y="1"/>
                  </a:cubicBezTo>
                  <a:cubicBezTo>
                    <a:pt x="1" y="1"/>
                    <a:pt x="0" y="2"/>
                    <a:pt x="1"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39" name="Freeform 1224">
              <a:extLst>
                <a:ext uri="{FF2B5EF4-FFF2-40B4-BE49-F238E27FC236}">
                  <a16:creationId xmlns:a16="http://schemas.microsoft.com/office/drawing/2014/main" id="{2B2D7354-C9C6-41B9-94D0-916E529C25E1}"/>
                </a:ext>
              </a:extLst>
            </p:cNvPr>
            <p:cNvSpPr>
              <a:spLocks/>
            </p:cNvSpPr>
            <p:nvPr/>
          </p:nvSpPr>
          <p:spPr bwMode="auto">
            <a:xfrm>
              <a:off x="3664" y="1183"/>
              <a:ext cx="8" cy="5"/>
            </a:xfrm>
            <a:custGeom>
              <a:avLst/>
              <a:gdLst>
                <a:gd name="T0" fmla="*/ 4 w 6"/>
                <a:gd name="T1" fmla="*/ 2 h 3"/>
                <a:gd name="T2" fmla="*/ 5 w 6"/>
                <a:gd name="T3" fmla="*/ 1 h 3"/>
                <a:gd name="T4" fmla="*/ 4 w 6"/>
                <a:gd name="T5" fmla="*/ 2 h 3"/>
              </a:gdLst>
              <a:ahLst/>
              <a:cxnLst>
                <a:cxn ang="0">
                  <a:pos x="T0" y="T1"/>
                </a:cxn>
                <a:cxn ang="0">
                  <a:pos x="T2" y="T3"/>
                </a:cxn>
                <a:cxn ang="0">
                  <a:pos x="T4" y="T5"/>
                </a:cxn>
              </a:cxnLst>
              <a:rect l="0" t="0" r="r" b="b"/>
              <a:pathLst>
                <a:path w="6" h="3">
                  <a:moveTo>
                    <a:pt x="4" y="2"/>
                  </a:moveTo>
                  <a:cubicBezTo>
                    <a:pt x="6" y="3"/>
                    <a:pt x="5" y="1"/>
                    <a:pt x="5" y="1"/>
                  </a:cubicBezTo>
                  <a:cubicBezTo>
                    <a:pt x="0" y="0"/>
                    <a:pt x="4" y="2"/>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40" name="Freeform 1225">
              <a:extLst>
                <a:ext uri="{FF2B5EF4-FFF2-40B4-BE49-F238E27FC236}">
                  <a16:creationId xmlns:a16="http://schemas.microsoft.com/office/drawing/2014/main" id="{7007CB5E-06B4-42DD-A9B1-B1DB6C1BA0AA}"/>
                </a:ext>
              </a:extLst>
            </p:cNvPr>
            <p:cNvSpPr>
              <a:spLocks/>
            </p:cNvSpPr>
            <p:nvPr/>
          </p:nvSpPr>
          <p:spPr bwMode="auto">
            <a:xfrm>
              <a:off x="3673" y="1181"/>
              <a:ext cx="7" cy="4"/>
            </a:xfrm>
            <a:custGeom>
              <a:avLst/>
              <a:gdLst>
                <a:gd name="T0" fmla="*/ 4 w 5"/>
                <a:gd name="T1" fmla="*/ 2 h 3"/>
                <a:gd name="T2" fmla="*/ 1 w 5"/>
                <a:gd name="T3" fmla="*/ 1 h 3"/>
                <a:gd name="T4" fmla="*/ 1 w 5"/>
                <a:gd name="T5" fmla="*/ 2 h 3"/>
                <a:gd name="T6" fmla="*/ 4 w 5"/>
                <a:gd name="T7" fmla="*/ 2 h 3"/>
              </a:gdLst>
              <a:ahLst/>
              <a:cxnLst>
                <a:cxn ang="0">
                  <a:pos x="T0" y="T1"/>
                </a:cxn>
                <a:cxn ang="0">
                  <a:pos x="T2" y="T3"/>
                </a:cxn>
                <a:cxn ang="0">
                  <a:pos x="T4" y="T5"/>
                </a:cxn>
                <a:cxn ang="0">
                  <a:pos x="T6" y="T7"/>
                </a:cxn>
              </a:cxnLst>
              <a:rect l="0" t="0" r="r" b="b"/>
              <a:pathLst>
                <a:path w="5" h="3">
                  <a:moveTo>
                    <a:pt x="4" y="2"/>
                  </a:moveTo>
                  <a:cubicBezTo>
                    <a:pt x="3" y="0"/>
                    <a:pt x="3" y="2"/>
                    <a:pt x="1" y="1"/>
                  </a:cubicBezTo>
                  <a:cubicBezTo>
                    <a:pt x="0" y="1"/>
                    <a:pt x="1" y="2"/>
                    <a:pt x="1" y="2"/>
                  </a:cubicBezTo>
                  <a:cubicBezTo>
                    <a:pt x="3" y="3"/>
                    <a:pt x="5" y="3"/>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41" name="Freeform 1226">
              <a:extLst>
                <a:ext uri="{FF2B5EF4-FFF2-40B4-BE49-F238E27FC236}">
                  <a16:creationId xmlns:a16="http://schemas.microsoft.com/office/drawing/2014/main" id="{C05DFCC3-A184-48BD-A6FD-C4C75265E805}"/>
                </a:ext>
              </a:extLst>
            </p:cNvPr>
            <p:cNvSpPr>
              <a:spLocks/>
            </p:cNvSpPr>
            <p:nvPr/>
          </p:nvSpPr>
          <p:spPr bwMode="auto">
            <a:xfrm>
              <a:off x="3673" y="1170"/>
              <a:ext cx="21" cy="8"/>
            </a:xfrm>
            <a:custGeom>
              <a:avLst/>
              <a:gdLst>
                <a:gd name="T0" fmla="*/ 2 w 15"/>
                <a:gd name="T1" fmla="*/ 5 h 6"/>
                <a:gd name="T2" fmla="*/ 13 w 15"/>
                <a:gd name="T3" fmla="*/ 2 h 6"/>
                <a:gd name="T4" fmla="*/ 10 w 15"/>
                <a:gd name="T5" fmla="*/ 0 h 6"/>
                <a:gd name="T6" fmla="*/ 3 w 15"/>
                <a:gd name="T7" fmla="*/ 4 h 6"/>
                <a:gd name="T8" fmla="*/ 2 w 15"/>
                <a:gd name="T9" fmla="*/ 5 h 6"/>
              </a:gdLst>
              <a:ahLst/>
              <a:cxnLst>
                <a:cxn ang="0">
                  <a:pos x="T0" y="T1"/>
                </a:cxn>
                <a:cxn ang="0">
                  <a:pos x="T2" y="T3"/>
                </a:cxn>
                <a:cxn ang="0">
                  <a:pos x="T4" y="T5"/>
                </a:cxn>
                <a:cxn ang="0">
                  <a:pos x="T6" y="T7"/>
                </a:cxn>
                <a:cxn ang="0">
                  <a:pos x="T8" y="T9"/>
                </a:cxn>
              </a:cxnLst>
              <a:rect l="0" t="0" r="r" b="b"/>
              <a:pathLst>
                <a:path w="15" h="6">
                  <a:moveTo>
                    <a:pt x="2" y="5"/>
                  </a:moveTo>
                  <a:cubicBezTo>
                    <a:pt x="6" y="6"/>
                    <a:pt x="10" y="4"/>
                    <a:pt x="13" y="2"/>
                  </a:cubicBezTo>
                  <a:cubicBezTo>
                    <a:pt x="15" y="1"/>
                    <a:pt x="12" y="1"/>
                    <a:pt x="10" y="0"/>
                  </a:cubicBezTo>
                  <a:cubicBezTo>
                    <a:pt x="8" y="0"/>
                    <a:pt x="6" y="3"/>
                    <a:pt x="3" y="4"/>
                  </a:cubicBezTo>
                  <a:cubicBezTo>
                    <a:pt x="0" y="5"/>
                    <a:pt x="2" y="5"/>
                    <a:pt x="2"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42" name="Freeform 1227">
              <a:extLst>
                <a:ext uri="{FF2B5EF4-FFF2-40B4-BE49-F238E27FC236}">
                  <a16:creationId xmlns:a16="http://schemas.microsoft.com/office/drawing/2014/main" id="{DAB8F5D5-4031-4250-A5A1-C4446725A162}"/>
                </a:ext>
              </a:extLst>
            </p:cNvPr>
            <p:cNvSpPr>
              <a:spLocks/>
            </p:cNvSpPr>
            <p:nvPr/>
          </p:nvSpPr>
          <p:spPr bwMode="auto">
            <a:xfrm>
              <a:off x="3622" y="1210"/>
              <a:ext cx="6" cy="6"/>
            </a:xfrm>
            <a:custGeom>
              <a:avLst/>
              <a:gdLst>
                <a:gd name="T0" fmla="*/ 4 w 4"/>
                <a:gd name="T1" fmla="*/ 2 h 5"/>
                <a:gd name="T2" fmla="*/ 3 w 4"/>
                <a:gd name="T3" fmla="*/ 0 h 5"/>
                <a:gd name="T4" fmla="*/ 1 w 4"/>
                <a:gd name="T5" fmla="*/ 2 h 5"/>
                <a:gd name="T6" fmla="*/ 4 w 4"/>
                <a:gd name="T7" fmla="*/ 2 h 5"/>
              </a:gdLst>
              <a:ahLst/>
              <a:cxnLst>
                <a:cxn ang="0">
                  <a:pos x="T0" y="T1"/>
                </a:cxn>
                <a:cxn ang="0">
                  <a:pos x="T2" y="T3"/>
                </a:cxn>
                <a:cxn ang="0">
                  <a:pos x="T4" y="T5"/>
                </a:cxn>
                <a:cxn ang="0">
                  <a:pos x="T6" y="T7"/>
                </a:cxn>
              </a:cxnLst>
              <a:rect l="0" t="0" r="r" b="b"/>
              <a:pathLst>
                <a:path w="4" h="5">
                  <a:moveTo>
                    <a:pt x="4" y="2"/>
                  </a:moveTo>
                  <a:cubicBezTo>
                    <a:pt x="4" y="2"/>
                    <a:pt x="4" y="0"/>
                    <a:pt x="3" y="0"/>
                  </a:cubicBezTo>
                  <a:cubicBezTo>
                    <a:pt x="1" y="0"/>
                    <a:pt x="0" y="0"/>
                    <a:pt x="1" y="2"/>
                  </a:cubicBezTo>
                  <a:cubicBezTo>
                    <a:pt x="1" y="3"/>
                    <a:pt x="3" y="5"/>
                    <a:pt x="4"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43" name="Freeform 1228">
              <a:extLst>
                <a:ext uri="{FF2B5EF4-FFF2-40B4-BE49-F238E27FC236}">
                  <a16:creationId xmlns:a16="http://schemas.microsoft.com/office/drawing/2014/main" id="{0783CECA-F9B6-45FE-B70D-3DEFC45DF610}"/>
                </a:ext>
              </a:extLst>
            </p:cNvPr>
            <p:cNvSpPr>
              <a:spLocks/>
            </p:cNvSpPr>
            <p:nvPr/>
          </p:nvSpPr>
          <p:spPr bwMode="auto">
            <a:xfrm>
              <a:off x="3618" y="1212"/>
              <a:ext cx="6" cy="6"/>
            </a:xfrm>
            <a:custGeom>
              <a:avLst/>
              <a:gdLst>
                <a:gd name="T0" fmla="*/ 2 w 4"/>
                <a:gd name="T1" fmla="*/ 3 h 4"/>
                <a:gd name="T2" fmla="*/ 2 w 4"/>
                <a:gd name="T3" fmla="*/ 2 h 4"/>
                <a:gd name="T4" fmla="*/ 2 w 4"/>
                <a:gd name="T5" fmla="*/ 3 h 4"/>
              </a:gdLst>
              <a:ahLst/>
              <a:cxnLst>
                <a:cxn ang="0">
                  <a:pos x="T0" y="T1"/>
                </a:cxn>
                <a:cxn ang="0">
                  <a:pos x="T2" y="T3"/>
                </a:cxn>
                <a:cxn ang="0">
                  <a:pos x="T4" y="T5"/>
                </a:cxn>
              </a:cxnLst>
              <a:rect l="0" t="0" r="r" b="b"/>
              <a:pathLst>
                <a:path w="4" h="4">
                  <a:moveTo>
                    <a:pt x="2" y="3"/>
                  </a:moveTo>
                  <a:cubicBezTo>
                    <a:pt x="4" y="2"/>
                    <a:pt x="3" y="0"/>
                    <a:pt x="2" y="2"/>
                  </a:cubicBezTo>
                  <a:cubicBezTo>
                    <a:pt x="2" y="2"/>
                    <a:pt x="0" y="4"/>
                    <a:pt x="2"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44" name="Freeform 1229">
              <a:extLst>
                <a:ext uri="{FF2B5EF4-FFF2-40B4-BE49-F238E27FC236}">
                  <a16:creationId xmlns:a16="http://schemas.microsoft.com/office/drawing/2014/main" id="{25486C31-B718-4528-ABA6-9109867743B9}"/>
                </a:ext>
              </a:extLst>
            </p:cNvPr>
            <p:cNvSpPr>
              <a:spLocks/>
            </p:cNvSpPr>
            <p:nvPr/>
          </p:nvSpPr>
          <p:spPr bwMode="auto">
            <a:xfrm>
              <a:off x="3604" y="1227"/>
              <a:ext cx="6" cy="2"/>
            </a:xfrm>
            <a:custGeom>
              <a:avLst/>
              <a:gdLst>
                <a:gd name="T0" fmla="*/ 2 w 4"/>
                <a:gd name="T1" fmla="*/ 1 h 1"/>
                <a:gd name="T2" fmla="*/ 0 w 4"/>
                <a:gd name="T3" fmla="*/ 0 h 1"/>
                <a:gd name="T4" fmla="*/ 2 w 4"/>
                <a:gd name="T5" fmla="*/ 1 h 1"/>
              </a:gdLst>
              <a:ahLst/>
              <a:cxnLst>
                <a:cxn ang="0">
                  <a:pos x="T0" y="T1"/>
                </a:cxn>
                <a:cxn ang="0">
                  <a:pos x="T2" y="T3"/>
                </a:cxn>
                <a:cxn ang="0">
                  <a:pos x="T4" y="T5"/>
                </a:cxn>
              </a:cxnLst>
              <a:rect l="0" t="0" r="r" b="b"/>
              <a:pathLst>
                <a:path w="4" h="1">
                  <a:moveTo>
                    <a:pt x="2" y="1"/>
                  </a:moveTo>
                  <a:cubicBezTo>
                    <a:pt x="4" y="0"/>
                    <a:pt x="3" y="0"/>
                    <a:pt x="0" y="0"/>
                  </a:cubicBezTo>
                  <a:cubicBezTo>
                    <a:pt x="0" y="0"/>
                    <a:pt x="0" y="1"/>
                    <a:pt x="2"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45" name="Freeform 1230">
              <a:extLst>
                <a:ext uri="{FF2B5EF4-FFF2-40B4-BE49-F238E27FC236}">
                  <a16:creationId xmlns:a16="http://schemas.microsoft.com/office/drawing/2014/main" id="{8CD05F1B-C649-4A08-8B4C-1A8731CF7846}"/>
                </a:ext>
              </a:extLst>
            </p:cNvPr>
            <p:cNvSpPr>
              <a:spLocks/>
            </p:cNvSpPr>
            <p:nvPr/>
          </p:nvSpPr>
          <p:spPr bwMode="auto">
            <a:xfrm>
              <a:off x="3615" y="1281"/>
              <a:ext cx="6" cy="8"/>
            </a:xfrm>
            <a:custGeom>
              <a:avLst/>
              <a:gdLst>
                <a:gd name="T0" fmla="*/ 1 w 4"/>
                <a:gd name="T1" fmla="*/ 4 h 6"/>
                <a:gd name="T2" fmla="*/ 3 w 4"/>
                <a:gd name="T3" fmla="*/ 4 h 6"/>
                <a:gd name="T4" fmla="*/ 3 w 4"/>
                <a:gd name="T5" fmla="*/ 1 h 6"/>
                <a:gd name="T6" fmla="*/ 0 w 4"/>
                <a:gd name="T7" fmla="*/ 2 h 6"/>
                <a:gd name="T8" fmla="*/ 1 w 4"/>
                <a:gd name="T9" fmla="*/ 4 h 6"/>
              </a:gdLst>
              <a:ahLst/>
              <a:cxnLst>
                <a:cxn ang="0">
                  <a:pos x="T0" y="T1"/>
                </a:cxn>
                <a:cxn ang="0">
                  <a:pos x="T2" y="T3"/>
                </a:cxn>
                <a:cxn ang="0">
                  <a:pos x="T4" y="T5"/>
                </a:cxn>
                <a:cxn ang="0">
                  <a:pos x="T6" y="T7"/>
                </a:cxn>
                <a:cxn ang="0">
                  <a:pos x="T8" y="T9"/>
                </a:cxn>
              </a:cxnLst>
              <a:rect l="0" t="0" r="r" b="b"/>
              <a:pathLst>
                <a:path w="4" h="6">
                  <a:moveTo>
                    <a:pt x="1" y="4"/>
                  </a:moveTo>
                  <a:cubicBezTo>
                    <a:pt x="1" y="4"/>
                    <a:pt x="2" y="6"/>
                    <a:pt x="3" y="4"/>
                  </a:cubicBezTo>
                  <a:cubicBezTo>
                    <a:pt x="4" y="3"/>
                    <a:pt x="4" y="0"/>
                    <a:pt x="3" y="1"/>
                  </a:cubicBezTo>
                  <a:cubicBezTo>
                    <a:pt x="1" y="1"/>
                    <a:pt x="1" y="2"/>
                    <a:pt x="0" y="2"/>
                  </a:cubicBezTo>
                  <a:cubicBezTo>
                    <a:pt x="0" y="3"/>
                    <a:pt x="0" y="3"/>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46" name="Freeform 1231">
              <a:extLst>
                <a:ext uri="{FF2B5EF4-FFF2-40B4-BE49-F238E27FC236}">
                  <a16:creationId xmlns:a16="http://schemas.microsoft.com/office/drawing/2014/main" id="{580A45D0-8710-49BC-BDFD-C40B646C998E}"/>
                </a:ext>
              </a:extLst>
            </p:cNvPr>
            <p:cNvSpPr>
              <a:spLocks/>
            </p:cNvSpPr>
            <p:nvPr/>
          </p:nvSpPr>
          <p:spPr bwMode="auto">
            <a:xfrm>
              <a:off x="3612" y="1285"/>
              <a:ext cx="5" cy="5"/>
            </a:xfrm>
            <a:custGeom>
              <a:avLst/>
              <a:gdLst>
                <a:gd name="T0" fmla="*/ 0 w 3"/>
                <a:gd name="T1" fmla="*/ 3 h 4"/>
                <a:gd name="T2" fmla="*/ 1 w 3"/>
                <a:gd name="T3" fmla="*/ 4 h 4"/>
                <a:gd name="T4" fmla="*/ 2 w 3"/>
                <a:gd name="T5" fmla="*/ 3 h 4"/>
                <a:gd name="T6" fmla="*/ 0 w 3"/>
                <a:gd name="T7" fmla="*/ 3 h 4"/>
              </a:gdLst>
              <a:ahLst/>
              <a:cxnLst>
                <a:cxn ang="0">
                  <a:pos x="T0" y="T1"/>
                </a:cxn>
                <a:cxn ang="0">
                  <a:pos x="T2" y="T3"/>
                </a:cxn>
                <a:cxn ang="0">
                  <a:pos x="T4" y="T5"/>
                </a:cxn>
                <a:cxn ang="0">
                  <a:pos x="T6" y="T7"/>
                </a:cxn>
              </a:cxnLst>
              <a:rect l="0" t="0" r="r" b="b"/>
              <a:pathLst>
                <a:path w="3" h="4">
                  <a:moveTo>
                    <a:pt x="0" y="3"/>
                  </a:moveTo>
                  <a:cubicBezTo>
                    <a:pt x="0" y="3"/>
                    <a:pt x="0" y="4"/>
                    <a:pt x="1" y="4"/>
                  </a:cubicBezTo>
                  <a:cubicBezTo>
                    <a:pt x="3" y="4"/>
                    <a:pt x="3" y="4"/>
                    <a:pt x="2" y="3"/>
                  </a:cubicBezTo>
                  <a:cubicBezTo>
                    <a:pt x="1" y="1"/>
                    <a:pt x="0" y="0"/>
                    <a:pt x="0"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47" name="Freeform 1232">
              <a:extLst>
                <a:ext uri="{FF2B5EF4-FFF2-40B4-BE49-F238E27FC236}">
                  <a16:creationId xmlns:a16="http://schemas.microsoft.com/office/drawing/2014/main" id="{45FD4046-A05F-4B9D-91DF-DAA44E1282B2}"/>
                </a:ext>
              </a:extLst>
            </p:cNvPr>
            <p:cNvSpPr>
              <a:spLocks/>
            </p:cNvSpPr>
            <p:nvPr/>
          </p:nvSpPr>
          <p:spPr bwMode="auto">
            <a:xfrm>
              <a:off x="3608" y="1288"/>
              <a:ext cx="4" cy="12"/>
            </a:xfrm>
            <a:custGeom>
              <a:avLst/>
              <a:gdLst>
                <a:gd name="T0" fmla="*/ 1 w 3"/>
                <a:gd name="T1" fmla="*/ 4 h 9"/>
                <a:gd name="T2" fmla="*/ 2 w 3"/>
                <a:gd name="T3" fmla="*/ 6 h 9"/>
                <a:gd name="T4" fmla="*/ 1 w 3"/>
                <a:gd name="T5" fmla="*/ 4 h 9"/>
              </a:gdLst>
              <a:ahLst/>
              <a:cxnLst>
                <a:cxn ang="0">
                  <a:pos x="T0" y="T1"/>
                </a:cxn>
                <a:cxn ang="0">
                  <a:pos x="T2" y="T3"/>
                </a:cxn>
                <a:cxn ang="0">
                  <a:pos x="T4" y="T5"/>
                </a:cxn>
              </a:cxnLst>
              <a:rect l="0" t="0" r="r" b="b"/>
              <a:pathLst>
                <a:path w="3" h="9">
                  <a:moveTo>
                    <a:pt x="1" y="4"/>
                  </a:moveTo>
                  <a:cubicBezTo>
                    <a:pt x="1" y="4"/>
                    <a:pt x="2" y="9"/>
                    <a:pt x="2" y="6"/>
                  </a:cubicBezTo>
                  <a:cubicBezTo>
                    <a:pt x="3" y="4"/>
                    <a:pt x="0" y="0"/>
                    <a:pt x="1"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48" name="Freeform 1233">
              <a:extLst>
                <a:ext uri="{FF2B5EF4-FFF2-40B4-BE49-F238E27FC236}">
                  <a16:creationId xmlns:a16="http://schemas.microsoft.com/office/drawing/2014/main" id="{ED7F0D0A-7AE7-4446-A6E6-1F2221FDD5DB}"/>
                </a:ext>
              </a:extLst>
            </p:cNvPr>
            <p:cNvSpPr>
              <a:spLocks/>
            </p:cNvSpPr>
            <p:nvPr/>
          </p:nvSpPr>
          <p:spPr bwMode="auto">
            <a:xfrm>
              <a:off x="3608" y="1301"/>
              <a:ext cx="6" cy="10"/>
            </a:xfrm>
            <a:custGeom>
              <a:avLst/>
              <a:gdLst>
                <a:gd name="T0" fmla="*/ 2 w 4"/>
                <a:gd name="T1" fmla="*/ 2 h 7"/>
                <a:gd name="T2" fmla="*/ 2 w 4"/>
                <a:gd name="T3" fmla="*/ 6 h 7"/>
                <a:gd name="T4" fmla="*/ 3 w 4"/>
                <a:gd name="T5" fmla="*/ 3 h 7"/>
                <a:gd name="T6" fmla="*/ 2 w 4"/>
                <a:gd name="T7" fmla="*/ 2 h 7"/>
              </a:gdLst>
              <a:ahLst/>
              <a:cxnLst>
                <a:cxn ang="0">
                  <a:pos x="T0" y="T1"/>
                </a:cxn>
                <a:cxn ang="0">
                  <a:pos x="T2" y="T3"/>
                </a:cxn>
                <a:cxn ang="0">
                  <a:pos x="T4" y="T5"/>
                </a:cxn>
                <a:cxn ang="0">
                  <a:pos x="T6" y="T7"/>
                </a:cxn>
              </a:cxnLst>
              <a:rect l="0" t="0" r="r" b="b"/>
              <a:pathLst>
                <a:path w="4" h="7">
                  <a:moveTo>
                    <a:pt x="2" y="2"/>
                  </a:moveTo>
                  <a:cubicBezTo>
                    <a:pt x="2" y="2"/>
                    <a:pt x="0" y="6"/>
                    <a:pt x="2" y="6"/>
                  </a:cubicBezTo>
                  <a:cubicBezTo>
                    <a:pt x="3" y="7"/>
                    <a:pt x="4" y="5"/>
                    <a:pt x="3" y="3"/>
                  </a:cubicBezTo>
                  <a:cubicBezTo>
                    <a:pt x="2" y="1"/>
                    <a:pt x="2" y="0"/>
                    <a:pt x="2"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49" name="Freeform 1234">
              <a:extLst>
                <a:ext uri="{FF2B5EF4-FFF2-40B4-BE49-F238E27FC236}">
                  <a16:creationId xmlns:a16="http://schemas.microsoft.com/office/drawing/2014/main" id="{7C5C9DF0-CAB0-41FC-A373-72DBEA173AC7}"/>
                </a:ext>
              </a:extLst>
            </p:cNvPr>
            <p:cNvSpPr>
              <a:spLocks/>
            </p:cNvSpPr>
            <p:nvPr/>
          </p:nvSpPr>
          <p:spPr bwMode="auto">
            <a:xfrm>
              <a:off x="3766" y="1017"/>
              <a:ext cx="8" cy="13"/>
            </a:xfrm>
            <a:custGeom>
              <a:avLst/>
              <a:gdLst>
                <a:gd name="T0" fmla="*/ 6 w 6"/>
                <a:gd name="T1" fmla="*/ 2 h 9"/>
                <a:gd name="T2" fmla="*/ 1 w 6"/>
                <a:gd name="T3" fmla="*/ 8 h 9"/>
                <a:gd name="T4" fmla="*/ 3 w 6"/>
                <a:gd name="T5" fmla="*/ 8 h 9"/>
                <a:gd name="T6" fmla="*/ 5 w 6"/>
                <a:gd name="T7" fmla="*/ 6 h 9"/>
                <a:gd name="T8" fmla="*/ 5 w 6"/>
                <a:gd name="T9" fmla="*/ 4 h 9"/>
                <a:gd name="T10" fmla="*/ 6 w 6"/>
                <a:gd name="T11" fmla="*/ 2 h 9"/>
              </a:gdLst>
              <a:ahLst/>
              <a:cxnLst>
                <a:cxn ang="0">
                  <a:pos x="T0" y="T1"/>
                </a:cxn>
                <a:cxn ang="0">
                  <a:pos x="T2" y="T3"/>
                </a:cxn>
                <a:cxn ang="0">
                  <a:pos x="T4" y="T5"/>
                </a:cxn>
                <a:cxn ang="0">
                  <a:pos x="T6" y="T7"/>
                </a:cxn>
                <a:cxn ang="0">
                  <a:pos x="T8" y="T9"/>
                </a:cxn>
                <a:cxn ang="0">
                  <a:pos x="T10" y="T11"/>
                </a:cxn>
              </a:cxnLst>
              <a:rect l="0" t="0" r="r" b="b"/>
              <a:pathLst>
                <a:path w="6" h="9">
                  <a:moveTo>
                    <a:pt x="6" y="2"/>
                  </a:moveTo>
                  <a:cubicBezTo>
                    <a:pt x="6" y="0"/>
                    <a:pt x="2" y="6"/>
                    <a:pt x="1" y="8"/>
                  </a:cubicBezTo>
                  <a:cubicBezTo>
                    <a:pt x="0" y="9"/>
                    <a:pt x="3" y="8"/>
                    <a:pt x="3" y="8"/>
                  </a:cubicBezTo>
                  <a:cubicBezTo>
                    <a:pt x="4" y="8"/>
                    <a:pt x="4" y="7"/>
                    <a:pt x="5" y="6"/>
                  </a:cubicBezTo>
                  <a:cubicBezTo>
                    <a:pt x="6" y="5"/>
                    <a:pt x="6" y="5"/>
                    <a:pt x="5" y="4"/>
                  </a:cubicBezTo>
                  <a:cubicBezTo>
                    <a:pt x="4" y="3"/>
                    <a:pt x="5" y="4"/>
                    <a:pt x="6"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50" name="Freeform 1235">
              <a:extLst>
                <a:ext uri="{FF2B5EF4-FFF2-40B4-BE49-F238E27FC236}">
                  <a16:creationId xmlns:a16="http://schemas.microsoft.com/office/drawing/2014/main" id="{CE8C1C63-795E-422A-999C-745EE05F88E4}"/>
                </a:ext>
              </a:extLst>
            </p:cNvPr>
            <p:cNvSpPr>
              <a:spLocks/>
            </p:cNvSpPr>
            <p:nvPr/>
          </p:nvSpPr>
          <p:spPr bwMode="auto">
            <a:xfrm>
              <a:off x="3780" y="1012"/>
              <a:ext cx="17" cy="10"/>
            </a:xfrm>
            <a:custGeom>
              <a:avLst/>
              <a:gdLst>
                <a:gd name="T0" fmla="*/ 4 w 12"/>
                <a:gd name="T1" fmla="*/ 1 h 7"/>
                <a:gd name="T2" fmla="*/ 2 w 12"/>
                <a:gd name="T3" fmla="*/ 3 h 7"/>
                <a:gd name="T4" fmla="*/ 1 w 12"/>
                <a:gd name="T5" fmla="*/ 5 h 7"/>
                <a:gd name="T6" fmla="*/ 5 w 12"/>
                <a:gd name="T7" fmla="*/ 6 h 7"/>
                <a:gd name="T8" fmla="*/ 10 w 12"/>
                <a:gd name="T9" fmla="*/ 3 h 7"/>
                <a:gd name="T10" fmla="*/ 8 w 12"/>
                <a:gd name="T11" fmla="*/ 0 h 7"/>
                <a:gd name="T12" fmla="*/ 4 w 12"/>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1"/>
                  </a:moveTo>
                  <a:cubicBezTo>
                    <a:pt x="2" y="2"/>
                    <a:pt x="3" y="3"/>
                    <a:pt x="2" y="3"/>
                  </a:cubicBezTo>
                  <a:cubicBezTo>
                    <a:pt x="0" y="4"/>
                    <a:pt x="1" y="5"/>
                    <a:pt x="1" y="5"/>
                  </a:cubicBezTo>
                  <a:cubicBezTo>
                    <a:pt x="1" y="7"/>
                    <a:pt x="3" y="6"/>
                    <a:pt x="5" y="6"/>
                  </a:cubicBezTo>
                  <a:cubicBezTo>
                    <a:pt x="6" y="6"/>
                    <a:pt x="9" y="4"/>
                    <a:pt x="10" y="3"/>
                  </a:cubicBezTo>
                  <a:cubicBezTo>
                    <a:pt x="12" y="1"/>
                    <a:pt x="9" y="1"/>
                    <a:pt x="8" y="0"/>
                  </a:cubicBezTo>
                  <a:cubicBezTo>
                    <a:pt x="7" y="0"/>
                    <a:pt x="6" y="1"/>
                    <a:pt x="4" y="1"/>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51" name="Freeform 1236">
              <a:extLst>
                <a:ext uri="{FF2B5EF4-FFF2-40B4-BE49-F238E27FC236}">
                  <a16:creationId xmlns:a16="http://schemas.microsoft.com/office/drawing/2014/main" id="{76FFDEFC-687D-4E37-9834-36C2C2C93670}"/>
                </a:ext>
              </a:extLst>
            </p:cNvPr>
            <p:cNvSpPr>
              <a:spLocks/>
            </p:cNvSpPr>
            <p:nvPr/>
          </p:nvSpPr>
          <p:spPr bwMode="auto">
            <a:xfrm>
              <a:off x="3797" y="1006"/>
              <a:ext cx="20" cy="11"/>
            </a:xfrm>
            <a:custGeom>
              <a:avLst/>
              <a:gdLst>
                <a:gd name="T0" fmla="*/ 1 w 15"/>
                <a:gd name="T1" fmla="*/ 7 h 8"/>
                <a:gd name="T2" fmla="*/ 13 w 15"/>
                <a:gd name="T3" fmla="*/ 1 h 8"/>
                <a:gd name="T4" fmla="*/ 5 w 15"/>
                <a:gd name="T5" fmla="*/ 2 h 8"/>
                <a:gd name="T6" fmla="*/ 1 w 15"/>
                <a:gd name="T7" fmla="*/ 6 h 8"/>
                <a:gd name="T8" fmla="*/ 1 w 15"/>
                <a:gd name="T9" fmla="*/ 7 h 8"/>
              </a:gdLst>
              <a:ahLst/>
              <a:cxnLst>
                <a:cxn ang="0">
                  <a:pos x="T0" y="T1"/>
                </a:cxn>
                <a:cxn ang="0">
                  <a:pos x="T2" y="T3"/>
                </a:cxn>
                <a:cxn ang="0">
                  <a:pos x="T4" y="T5"/>
                </a:cxn>
                <a:cxn ang="0">
                  <a:pos x="T6" y="T7"/>
                </a:cxn>
                <a:cxn ang="0">
                  <a:pos x="T8" y="T9"/>
                </a:cxn>
              </a:cxnLst>
              <a:rect l="0" t="0" r="r" b="b"/>
              <a:pathLst>
                <a:path w="15" h="8">
                  <a:moveTo>
                    <a:pt x="1" y="7"/>
                  </a:moveTo>
                  <a:cubicBezTo>
                    <a:pt x="5" y="6"/>
                    <a:pt x="11" y="3"/>
                    <a:pt x="13" y="1"/>
                  </a:cubicBezTo>
                  <a:cubicBezTo>
                    <a:pt x="15" y="0"/>
                    <a:pt x="7" y="2"/>
                    <a:pt x="5" y="2"/>
                  </a:cubicBezTo>
                  <a:cubicBezTo>
                    <a:pt x="3" y="3"/>
                    <a:pt x="2" y="4"/>
                    <a:pt x="1" y="6"/>
                  </a:cubicBezTo>
                  <a:cubicBezTo>
                    <a:pt x="0" y="7"/>
                    <a:pt x="0" y="8"/>
                    <a:pt x="1"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52" name="Freeform 1237">
              <a:extLst>
                <a:ext uri="{FF2B5EF4-FFF2-40B4-BE49-F238E27FC236}">
                  <a16:creationId xmlns:a16="http://schemas.microsoft.com/office/drawing/2014/main" id="{0F04D48D-274C-4DEE-814B-4AC8AE1D4FD1}"/>
                </a:ext>
              </a:extLst>
            </p:cNvPr>
            <p:cNvSpPr>
              <a:spLocks/>
            </p:cNvSpPr>
            <p:nvPr/>
          </p:nvSpPr>
          <p:spPr bwMode="auto">
            <a:xfrm>
              <a:off x="3798" y="987"/>
              <a:ext cx="25" cy="18"/>
            </a:xfrm>
            <a:custGeom>
              <a:avLst/>
              <a:gdLst>
                <a:gd name="T0" fmla="*/ 8 w 18"/>
                <a:gd name="T1" fmla="*/ 5 h 13"/>
                <a:gd name="T2" fmla="*/ 2 w 18"/>
                <a:gd name="T3" fmla="*/ 9 h 13"/>
                <a:gd name="T4" fmla="*/ 3 w 18"/>
                <a:gd name="T5" fmla="*/ 11 h 13"/>
                <a:gd name="T6" fmla="*/ 6 w 18"/>
                <a:gd name="T7" fmla="*/ 9 h 13"/>
                <a:gd name="T8" fmla="*/ 9 w 18"/>
                <a:gd name="T9" fmla="*/ 9 h 13"/>
                <a:gd name="T10" fmla="*/ 10 w 18"/>
                <a:gd name="T11" fmla="*/ 11 h 13"/>
                <a:gd name="T12" fmla="*/ 16 w 18"/>
                <a:gd name="T13" fmla="*/ 9 h 13"/>
                <a:gd name="T14" fmla="*/ 16 w 18"/>
                <a:gd name="T15" fmla="*/ 6 h 13"/>
                <a:gd name="T16" fmla="*/ 14 w 18"/>
                <a:gd name="T17" fmla="*/ 5 h 13"/>
                <a:gd name="T18" fmla="*/ 11 w 18"/>
                <a:gd name="T19" fmla="*/ 1 h 13"/>
                <a:gd name="T20" fmla="*/ 11 w 18"/>
                <a:gd name="T21" fmla="*/ 3 h 13"/>
                <a:gd name="T22" fmla="*/ 8 w 18"/>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3">
                  <a:moveTo>
                    <a:pt x="8" y="5"/>
                  </a:moveTo>
                  <a:cubicBezTo>
                    <a:pt x="7" y="7"/>
                    <a:pt x="5" y="7"/>
                    <a:pt x="2" y="9"/>
                  </a:cubicBezTo>
                  <a:cubicBezTo>
                    <a:pt x="0" y="10"/>
                    <a:pt x="3" y="11"/>
                    <a:pt x="3" y="11"/>
                  </a:cubicBezTo>
                  <a:cubicBezTo>
                    <a:pt x="4" y="11"/>
                    <a:pt x="5" y="10"/>
                    <a:pt x="6" y="9"/>
                  </a:cubicBezTo>
                  <a:cubicBezTo>
                    <a:pt x="7" y="8"/>
                    <a:pt x="7" y="9"/>
                    <a:pt x="9" y="9"/>
                  </a:cubicBezTo>
                  <a:cubicBezTo>
                    <a:pt x="11" y="9"/>
                    <a:pt x="12" y="9"/>
                    <a:pt x="10" y="11"/>
                  </a:cubicBezTo>
                  <a:cubicBezTo>
                    <a:pt x="7" y="13"/>
                    <a:pt x="14" y="10"/>
                    <a:pt x="16" y="9"/>
                  </a:cubicBezTo>
                  <a:cubicBezTo>
                    <a:pt x="18" y="8"/>
                    <a:pt x="16" y="7"/>
                    <a:pt x="16" y="6"/>
                  </a:cubicBezTo>
                  <a:cubicBezTo>
                    <a:pt x="15" y="4"/>
                    <a:pt x="15" y="5"/>
                    <a:pt x="14" y="5"/>
                  </a:cubicBezTo>
                  <a:cubicBezTo>
                    <a:pt x="13" y="4"/>
                    <a:pt x="13" y="2"/>
                    <a:pt x="11" y="1"/>
                  </a:cubicBezTo>
                  <a:cubicBezTo>
                    <a:pt x="10" y="0"/>
                    <a:pt x="10" y="2"/>
                    <a:pt x="11" y="3"/>
                  </a:cubicBezTo>
                  <a:cubicBezTo>
                    <a:pt x="12" y="3"/>
                    <a:pt x="10" y="4"/>
                    <a:pt x="8"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53" name="Freeform 1238">
              <a:extLst>
                <a:ext uri="{FF2B5EF4-FFF2-40B4-BE49-F238E27FC236}">
                  <a16:creationId xmlns:a16="http://schemas.microsoft.com/office/drawing/2014/main" id="{AEBE72AF-0617-4CC1-B72B-F6AF04E3DA70}"/>
                </a:ext>
              </a:extLst>
            </p:cNvPr>
            <p:cNvSpPr>
              <a:spLocks/>
            </p:cNvSpPr>
            <p:nvPr/>
          </p:nvSpPr>
          <p:spPr bwMode="auto">
            <a:xfrm>
              <a:off x="3813" y="989"/>
              <a:ext cx="32" cy="24"/>
            </a:xfrm>
            <a:custGeom>
              <a:avLst/>
              <a:gdLst>
                <a:gd name="T0" fmla="*/ 2 w 23"/>
                <a:gd name="T1" fmla="*/ 16 h 18"/>
                <a:gd name="T2" fmla="*/ 7 w 23"/>
                <a:gd name="T3" fmla="*/ 17 h 18"/>
                <a:gd name="T4" fmla="*/ 13 w 23"/>
                <a:gd name="T5" fmla="*/ 14 h 18"/>
                <a:gd name="T6" fmla="*/ 20 w 23"/>
                <a:gd name="T7" fmla="*/ 11 h 18"/>
                <a:gd name="T8" fmla="*/ 23 w 23"/>
                <a:gd name="T9" fmla="*/ 6 h 18"/>
                <a:gd name="T10" fmla="*/ 22 w 23"/>
                <a:gd name="T11" fmla="*/ 4 h 18"/>
                <a:gd name="T12" fmla="*/ 17 w 23"/>
                <a:gd name="T13" fmla="*/ 4 h 18"/>
                <a:gd name="T14" fmla="*/ 16 w 23"/>
                <a:gd name="T15" fmla="*/ 6 h 18"/>
                <a:gd name="T16" fmla="*/ 11 w 23"/>
                <a:gd name="T17" fmla="*/ 11 h 18"/>
                <a:gd name="T18" fmla="*/ 12 w 23"/>
                <a:gd name="T19" fmla="*/ 9 h 18"/>
                <a:gd name="T20" fmla="*/ 12 w 23"/>
                <a:gd name="T21" fmla="*/ 7 h 18"/>
                <a:gd name="T22" fmla="*/ 13 w 23"/>
                <a:gd name="T23" fmla="*/ 5 h 18"/>
                <a:gd name="T24" fmla="*/ 12 w 23"/>
                <a:gd name="T25" fmla="*/ 1 h 18"/>
                <a:gd name="T26" fmla="*/ 9 w 23"/>
                <a:gd name="T27" fmla="*/ 4 h 18"/>
                <a:gd name="T28" fmla="*/ 7 w 23"/>
                <a:gd name="T29" fmla="*/ 6 h 18"/>
                <a:gd name="T30" fmla="*/ 6 w 23"/>
                <a:gd name="T31" fmla="*/ 9 h 18"/>
                <a:gd name="T32" fmla="*/ 3 w 23"/>
                <a:gd name="T33" fmla="*/ 15 h 18"/>
                <a:gd name="T34" fmla="*/ 2 w 23"/>
                <a:gd name="T35"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18">
                  <a:moveTo>
                    <a:pt x="2" y="16"/>
                  </a:moveTo>
                  <a:cubicBezTo>
                    <a:pt x="2" y="16"/>
                    <a:pt x="5" y="16"/>
                    <a:pt x="7" y="17"/>
                  </a:cubicBezTo>
                  <a:cubicBezTo>
                    <a:pt x="9" y="18"/>
                    <a:pt x="10" y="17"/>
                    <a:pt x="13" y="14"/>
                  </a:cubicBezTo>
                  <a:cubicBezTo>
                    <a:pt x="15" y="10"/>
                    <a:pt x="17" y="12"/>
                    <a:pt x="20" y="11"/>
                  </a:cubicBezTo>
                  <a:cubicBezTo>
                    <a:pt x="23" y="10"/>
                    <a:pt x="23" y="8"/>
                    <a:pt x="23" y="6"/>
                  </a:cubicBezTo>
                  <a:cubicBezTo>
                    <a:pt x="23" y="4"/>
                    <a:pt x="23" y="4"/>
                    <a:pt x="22" y="4"/>
                  </a:cubicBezTo>
                  <a:cubicBezTo>
                    <a:pt x="21" y="4"/>
                    <a:pt x="18" y="3"/>
                    <a:pt x="17" y="4"/>
                  </a:cubicBezTo>
                  <a:cubicBezTo>
                    <a:pt x="16" y="4"/>
                    <a:pt x="15" y="5"/>
                    <a:pt x="16" y="6"/>
                  </a:cubicBezTo>
                  <a:cubicBezTo>
                    <a:pt x="17" y="8"/>
                    <a:pt x="13" y="10"/>
                    <a:pt x="11" y="11"/>
                  </a:cubicBezTo>
                  <a:cubicBezTo>
                    <a:pt x="10" y="13"/>
                    <a:pt x="11" y="10"/>
                    <a:pt x="12" y="9"/>
                  </a:cubicBezTo>
                  <a:cubicBezTo>
                    <a:pt x="13" y="9"/>
                    <a:pt x="13" y="7"/>
                    <a:pt x="12" y="7"/>
                  </a:cubicBezTo>
                  <a:cubicBezTo>
                    <a:pt x="10" y="7"/>
                    <a:pt x="11" y="6"/>
                    <a:pt x="13" y="5"/>
                  </a:cubicBezTo>
                  <a:cubicBezTo>
                    <a:pt x="14" y="3"/>
                    <a:pt x="13" y="1"/>
                    <a:pt x="12" y="1"/>
                  </a:cubicBezTo>
                  <a:cubicBezTo>
                    <a:pt x="10" y="0"/>
                    <a:pt x="9" y="1"/>
                    <a:pt x="9" y="4"/>
                  </a:cubicBezTo>
                  <a:cubicBezTo>
                    <a:pt x="9" y="6"/>
                    <a:pt x="10" y="6"/>
                    <a:pt x="7" y="6"/>
                  </a:cubicBezTo>
                  <a:cubicBezTo>
                    <a:pt x="4" y="6"/>
                    <a:pt x="9" y="8"/>
                    <a:pt x="6" y="9"/>
                  </a:cubicBezTo>
                  <a:cubicBezTo>
                    <a:pt x="3" y="11"/>
                    <a:pt x="6" y="13"/>
                    <a:pt x="3" y="15"/>
                  </a:cubicBezTo>
                  <a:cubicBezTo>
                    <a:pt x="0" y="17"/>
                    <a:pt x="2" y="17"/>
                    <a:pt x="2" y="1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54" name="Freeform 1239">
              <a:extLst>
                <a:ext uri="{FF2B5EF4-FFF2-40B4-BE49-F238E27FC236}">
                  <a16:creationId xmlns:a16="http://schemas.microsoft.com/office/drawing/2014/main" id="{48FD7004-0209-4EDF-B254-063960D84265}"/>
                </a:ext>
              </a:extLst>
            </p:cNvPr>
            <p:cNvSpPr>
              <a:spLocks/>
            </p:cNvSpPr>
            <p:nvPr/>
          </p:nvSpPr>
          <p:spPr bwMode="auto">
            <a:xfrm>
              <a:off x="3821" y="979"/>
              <a:ext cx="16" cy="16"/>
            </a:xfrm>
            <a:custGeom>
              <a:avLst/>
              <a:gdLst>
                <a:gd name="T0" fmla="*/ 3 w 11"/>
                <a:gd name="T1" fmla="*/ 7 h 12"/>
                <a:gd name="T2" fmla="*/ 10 w 11"/>
                <a:gd name="T3" fmla="*/ 1 h 12"/>
                <a:gd name="T4" fmla="*/ 5 w 11"/>
                <a:gd name="T5" fmla="*/ 3 h 12"/>
                <a:gd name="T6" fmla="*/ 0 w 11"/>
                <a:gd name="T7" fmla="*/ 8 h 12"/>
                <a:gd name="T8" fmla="*/ 1 w 11"/>
                <a:gd name="T9" fmla="*/ 9 h 12"/>
                <a:gd name="T10" fmla="*/ 3 w 11"/>
                <a:gd name="T11" fmla="*/ 7 h 12"/>
              </a:gdLst>
              <a:ahLst/>
              <a:cxnLst>
                <a:cxn ang="0">
                  <a:pos x="T0" y="T1"/>
                </a:cxn>
                <a:cxn ang="0">
                  <a:pos x="T2" y="T3"/>
                </a:cxn>
                <a:cxn ang="0">
                  <a:pos x="T4" y="T5"/>
                </a:cxn>
                <a:cxn ang="0">
                  <a:pos x="T6" y="T7"/>
                </a:cxn>
                <a:cxn ang="0">
                  <a:pos x="T8" y="T9"/>
                </a:cxn>
                <a:cxn ang="0">
                  <a:pos x="T10" y="T11"/>
                </a:cxn>
              </a:cxnLst>
              <a:rect l="0" t="0" r="r" b="b"/>
              <a:pathLst>
                <a:path w="11" h="12">
                  <a:moveTo>
                    <a:pt x="3" y="7"/>
                  </a:moveTo>
                  <a:cubicBezTo>
                    <a:pt x="4" y="8"/>
                    <a:pt x="9" y="3"/>
                    <a:pt x="10" y="1"/>
                  </a:cubicBezTo>
                  <a:cubicBezTo>
                    <a:pt x="11" y="0"/>
                    <a:pt x="8" y="0"/>
                    <a:pt x="5" y="3"/>
                  </a:cubicBezTo>
                  <a:cubicBezTo>
                    <a:pt x="1" y="5"/>
                    <a:pt x="0" y="4"/>
                    <a:pt x="0" y="8"/>
                  </a:cubicBezTo>
                  <a:cubicBezTo>
                    <a:pt x="0" y="12"/>
                    <a:pt x="1" y="9"/>
                    <a:pt x="1" y="9"/>
                  </a:cubicBezTo>
                  <a:cubicBezTo>
                    <a:pt x="1" y="7"/>
                    <a:pt x="2" y="7"/>
                    <a:pt x="3" y="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55" name="Freeform 1240">
              <a:extLst>
                <a:ext uri="{FF2B5EF4-FFF2-40B4-BE49-F238E27FC236}">
                  <a16:creationId xmlns:a16="http://schemas.microsoft.com/office/drawing/2014/main" id="{AA35E104-92EB-4623-A825-51DF058300CA}"/>
                </a:ext>
              </a:extLst>
            </p:cNvPr>
            <p:cNvSpPr>
              <a:spLocks/>
            </p:cNvSpPr>
            <p:nvPr/>
          </p:nvSpPr>
          <p:spPr bwMode="auto">
            <a:xfrm>
              <a:off x="3849" y="965"/>
              <a:ext cx="26" cy="25"/>
            </a:xfrm>
            <a:custGeom>
              <a:avLst/>
              <a:gdLst>
                <a:gd name="T0" fmla="*/ 16 w 19"/>
                <a:gd name="T1" fmla="*/ 3 h 18"/>
                <a:gd name="T2" fmla="*/ 14 w 19"/>
                <a:gd name="T3" fmla="*/ 2 h 18"/>
                <a:gd name="T4" fmla="*/ 11 w 19"/>
                <a:gd name="T5" fmla="*/ 2 h 18"/>
                <a:gd name="T6" fmla="*/ 12 w 19"/>
                <a:gd name="T7" fmla="*/ 5 h 18"/>
                <a:gd name="T8" fmla="*/ 6 w 19"/>
                <a:gd name="T9" fmla="*/ 4 h 18"/>
                <a:gd name="T10" fmla="*/ 9 w 19"/>
                <a:gd name="T11" fmla="*/ 6 h 18"/>
                <a:gd name="T12" fmla="*/ 7 w 19"/>
                <a:gd name="T13" fmla="*/ 6 h 18"/>
                <a:gd name="T14" fmla="*/ 2 w 19"/>
                <a:gd name="T15" fmla="*/ 9 h 18"/>
                <a:gd name="T16" fmla="*/ 3 w 19"/>
                <a:gd name="T17" fmla="*/ 11 h 18"/>
                <a:gd name="T18" fmla="*/ 1 w 19"/>
                <a:gd name="T19" fmla="*/ 14 h 18"/>
                <a:gd name="T20" fmla="*/ 2 w 19"/>
                <a:gd name="T21" fmla="*/ 15 h 18"/>
                <a:gd name="T22" fmla="*/ 4 w 19"/>
                <a:gd name="T23" fmla="*/ 17 h 18"/>
                <a:gd name="T24" fmla="*/ 7 w 19"/>
                <a:gd name="T25" fmla="*/ 15 h 18"/>
                <a:gd name="T26" fmla="*/ 16 w 19"/>
                <a:gd name="T27" fmla="*/ 12 h 18"/>
                <a:gd name="T28" fmla="*/ 18 w 19"/>
                <a:gd name="T29" fmla="*/ 8 h 18"/>
                <a:gd name="T30" fmla="*/ 18 w 19"/>
                <a:gd name="T31" fmla="*/ 5 h 18"/>
                <a:gd name="T32" fmla="*/ 16 w 19"/>
                <a:gd name="T33"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18">
                  <a:moveTo>
                    <a:pt x="16" y="3"/>
                  </a:moveTo>
                  <a:cubicBezTo>
                    <a:pt x="15" y="2"/>
                    <a:pt x="15" y="4"/>
                    <a:pt x="14" y="2"/>
                  </a:cubicBezTo>
                  <a:cubicBezTo>
                    <a:pt x="13" y="1"/>
                    <a:pt x="13" y="3"/>
                    <a:pt x="11" y="2"/>
                  </a:cubicBezTo>
                  <a:cubicBezTo>
                    <a:pt x="9" y="0"/>
                    <a:pt x="12" y="3"/>
                    <a:pt x="12" y="5"/>
                  </a:cubicBezTo>
                  <a:cubicBezTo>
                    <a:pt x="11" y="6"/>
                    <a:pt x="9" y="4"/>
                    <a:pt x="6" y="4"/>
                  </a:cubicBezTo>
                  <a:cubicBezTo>
                    <a:pt x="3" y="5"/>
                    <a:pt x="8" y="5"/>
                    <a:pt x="9" y="6"/>
                  </a:cubicBezTo>
                  <a:cubicBezTo>
                    <a:pt x="11" y="7"/>
                    <a:pt x="9" y="7"/>
                    <a:pt x="7" y="6"/>
                  </a:cubicBezTo>
                  <a:cubicBezTo>
                    <a:pt x="4" y="5"/>
                    <a:pt x="1" y="7"/>
                    <a:pt x="2" y="9"/>
                  </a:cubicBezTo>
                  <a:cubicBezTo>
                    <a:pt x="3" y="11"/>
                    <a:pt x="7" y="10"/>
                    <a:pt x="3" y="11"/>
                  </a:cubicBezTo>
                  <a:cubicBezTo>
                    <a:pt x="0" y="12"/>
                    <a:pt x="3" y="12"/>
                    <a:pt x="1" y="14"/>
                  </a:cubicBezTo>
                  <a:cubicBezTo>
                    <a:pt x="0" y="15"/>
                    <a:pt x="2" y="15"/>
                    <a:pt x="2" y="15"/>
                  </a:cubicBezTo>
                  <a:cubicBezTo>
                    <a:pt x="3" y="14"/>
                    <a:pt x="4" y="15"/>
                    <a:pt x="4" y="17"/>
                  </a:cubicBezTo>
                  <a:cubicBezTo>
                    <a:pt x="4" y="18"/>
                    <a:pt x="5" y="17"/>
                    <a:pt x="7" y="15"/>
                  </a:cubicBezTo>
                  <a:cubicBezTo>
                    <a:pt x="9" y="14"/>
                    <a:pt x="14" y="13"/>
                    <a:pt x="16" y="12"/>
                  </a:cubicBezTo>
                  <a:cubicBezTo>
                    <a:pt x="18" y="11"/>
                    <a:pt x="17" y="11"/>
                    <a:pt x="18" y="8"/>
                  </a:cubicBezTo>
                  <a:cubicBezTo>
                    <a:pt x="18" y="6"/>
                    <a:pt x="17" y="6"/>
                    <a:pt x="18" y="5"/>
                  </a:cubicBezTo>
                  <a:cubicBezTo>
                    <a:pt x="19" y="4"/>
                    <a:pt x="18" y="3"/>
                    <a:pt x="16"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56" name="Freeform 1241">
              <a:extLst>
                <a:ext uri="{FF2B5EF4-FFF2-40B4-BE49-F238E27FC236}">
                  <a16:creationId xmlns:a16="http://schemas.microsoft.com/office/drawing/2014/main" id="{8F3E5C62-9C98-4D44-8D3C-D3AEDF8A807B}"/>
                </a:ext>
              </a:extLst>
            </p:cNvPr>
            <p:cNvSpPr>
              <a:spLocks/>
            </p:cNvSpPr>
            <p:nvPr/>
          </p:nvSpPr>
          <p:spPr bwMode="auto">
            <a:xfrm>
              <a:off x="3873" y="954"/>
              <a:ext cx="23" cy="15"/>
            </a:xfrm>
            <a:custGeom>
              <a:avLst/>
              <a:gdLst>
                <a:gd name="T0" fmla="*/ 9 w 17"/>
                <a:gd name="T1" fmla="*/ 10 h 11"/>
                <a:gd name="T2" fmla="*/ 12 w 17"/>
                <a:gd name="T3" fmla="*/ 9 h 11"/>
                <a:gd name="T4" fmla="*/ 15 w 17"/>
                <a:gd name="T5" fmla="*/ 6 h 11"/>
                <a:gd name="T6" fmla="*/ 15 w 17"/>
                <a:gd name="T7" fmla="*/ 3 h 11"/>
                <a:gd name="T8" fmla="*/ 12 w 17"/>
                <a:gd name="T9" fmla="*/ 2 h 11"/>
                <a:gd name="T10" fmla="*/ 10 w 17"/>
                <a:gd name="T11" fmla="*/ 4 h 11"/>
                <a:gd name="T12" fmla="*/ 9 w 17"/>
                <a:gd name="T13" fmla="*/ 4 h 11"/>
                <a:gd name="T14" fmla="*/ 7 w 17"/>
                <a:gd name="T15" fmla="*/ 4 h 11"/>
                <a:gd name="T16" fmla="*/ 4 w 17"/>
                <a:gd name="T17" fmla="*/ 6 h 11"/>
                <a:gd name="T18" fmla="*/ 4 w 17"/>
                <a:gd name="T19" fmla="*/ 8 h 11"/>
                <a:gd name="T20" fmla="*/ 3 w 17"/>
                <a:gd name="T21" fmla="*/ 8 h 11"/>
                <a:gd name="T22" fmla="*/ 2 w 17"/>
                <a:gd name="T23" fmla="*/ 10 h 11"/>
                <a:gd name="T24" fmla="*/ 9 w 17"/>
                <a:gd name="T25" fmla="*/ 1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1">
                  <a:moveTo>
                    <a:pt x="9" y="10"/>
                  </a:moveTo>
                  <a:cubicBezTo>
                    <a:pt x="11" y="10"/>
                    <a:pt x="12" y="10"/>
                    <a:pt x="12" y="9"/>
                  </a:cubicBezTo>
                  <a:cubicBezTo>
                    <a:pt x="12" y="7"/>
                    <a:pt x="12" y="7"/>
                    <a:pt x="15" y="6"/>
                  </a:cubicBezTo>
                  <a:cubicBezTo>
                    <a:pt x="17" y="5"/>
                    <a:pt x="16" y="4"/>
                    <a:pt x="15" y="3"/>
                  </a:cubicBezTo>
                  <a:cubicBezTo>
                    <a:pt x="13" y="3"/>
                    <a:pt x="13" y="3"/>
                    <a:pt x="12" y="2"/>
                  </a:cubicBezTo>
                  <a:cubicBezTo>
                    <a:pt x="11" y="0"/>
                    <a:pt x="11" y="5"/>
                    <a:pt x="10" y="4"/>
                  </a:cubicBezTo>
                  <a:cubicBezTo>
                    <a:pt x="10" y="3"/>
                    <a:pt x="10" y="3"/>
                    <a:pt x="9" y="4"/>
                  </a:cubicBezTo>
                  <a:cubicBezTo>
                    <a:pt x="8" y="6"/>
                    <a:pt x="8" y="6"/>
                    <a:pt x="7" y="4"/>
                  </a:cubicBezTo>
                  <a:cubicBezTo>
                    <a:pt x="5" y="3"/>
                    <a:pt x="5" y="5"/>
                    <a:pt x="4" y="6"/>
                  </a:cubicBezTo>
                  <a:cubicBezTo>
                    <a:pt x="3" y="7"/>
                    <a:pt x="3" y="6"/>
                    <a:pt x="4" y="8"/>
                  </a:cubicBezTo>
                  <a:cubicBezTo>
                    <a:pt x="5" y="9"/>
                    <a:pt x="5" y="9"/>
                    <a:pt x="3" y="8"/>
                  </a:cubicBezTo>
                  <a:cubicBezTo>
                    <a:pt x="0" y="8"/>
                    <a:pt x="2" y="10"/>
                    <a:pt x="2" y="10"/>
                  </a:cubicBezTo>
                  <a:cubicBezTo>
                    <a:pt x="4" y="11"/>
                    <a:pt x="7" y="10"/>
                    <a:pt x="9" y="10"/>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57" name="Freeform 1242">
              <a:extLst>
                <a:ext uri="{FF2B5EF4-FFF2-40B4-BE49-F238E27FC236}">
                  <a16:creationId xmlns:a16="http://schemas.microsoft.com/office/drawing/2014/main" id="{CB12F791-53DA-4754-A5F9-3E17142AA154}"/>
                </a:ext>
              </a:extLst>
            </p:cNvPr>
            <p:cNvSpPr>
              <a:spLocks/>
            </p:cNvSpPr>
            <p:nvPr/>
          </p:nvSpPr>
          <p:spPr bwMode="auto">
            <a:xfrm>
              <a:off x="3886" y="949"/>
              <a:ext cx="24" cy="11"/>
            </a:xfrm>
            <a:custGeom>
              <a:avLst/>
              <a:gdLst>
                <a:gd name="T0" fmla="*/ 15 w 17"/>
                <a:gd name="T1" fmla="*/ 3 h 8"/>
                <a:gd name="T2" fmla="*/ 8 w 17"/>
                <a:gd name="T3" fmla="*/ 0 h 8"/>
                <a:gd name="T4" fmla="*/ 3 w 17"/>
                <a:gd name="T5" fmla="*/ 3 h 8"/>
                <a:gd name="T6" fmla="*/ 4 w 17"/>
                <a:gd name="T7" fmla="*/ 5 h 8"/>
                <a:gd name="T8" fmla="*/ 9 w 17"/>
                <a:gd name="T9" fmla="*/ 7 h 8"/>
                <a:gd name="T10" fmla="*/ 15 w 17"/>
                <a:gd name="T11" fmla="*/ 3 h 8"/>
              </a:gdLst>
              <a:ahLst/>
              <a:cxnLst>
                <a:cxn ang="0">
                  <a:pos x="T0" y="T1"/>
                </a:cxn>
                <a:cxn ang="0">
                  <a:pos x="T2" y="T3"/>
                </a:cxn>
                <a:cxn ang="0">
                  <a:pos x="T4" y="T5"/>
                </a:cxn>
                <a:cxn ang="0">
                  <a:pos x="T6" y="T7"/>
                </a:cxn>
                <a:cxn ang="0">
                  <a:pos x="T8" y="T9"/>
                </a:cxn>
                <a:cxn ang="0">
                  <a:pos x="T10" y="T11"/>
                </a:cxn>
              </a:cxnLst>
              <a:rect l="0" t="0" r="r" b="b"/>
              <a:pathLst>
                <a:path w="17" h="8">
                  <a:moveTo>
                    <a:pt x="15" y="3"/>
                  </a:moveTo>
                  <a:cubicBezTo>
                    <a:pt x="17" y="1"/>
                    <a:pt x="11" y="0"/>
                    <a:pt x="8" y="0"/>
                  </a:cubicBezTo>
                  <a:cubicBezTo>
                    <a:pt x="5" y="0"/>
                    <a:pt x="5" y="1"/>
                    <a:pt x="3" y="3"/>
                  </a:cubicBezTo>
                  <a:cubicBezTo>
                    <a:pt x="0" y="5"/>
                    <a:pt x="4" y="5"/>
                    <a:pt x="4" y="5"/>
                  </a:cubicBezTo>
                  <a:cubicBezTo>
                    <a:pt x="4" y="5"/>
                    <a:pt x="7" y="7"/>
                    <a:pt x="9" y="7"/>
                  </a:cubicBezTo>
                  <a:cubicBezTo>
                    <a:pt x="12" y="8"/>
                    <a:pt x="14" y="4"/>
                    <a:pt x="15" y="3"/>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58" name="Freeform 1243">
              <a:extLst>
                <a:ext uri="{FF2B5EF4-FFF2-40B4-BE49-F238E27FC236}">
                  <a16:creationId xmlns:a16="http://schemas.microsoft.com/office/drawing/2014/main" id="{299F086A-EE9F-4E19-8829-42F1C54D3D3C}"/>
                </a:ext>
              </a:extLst>
            </p:cNvPr>
            <p:cNvSpPr>
              <a:spLocks/>
            </p:cNvSpPr>
            <p:nvPr/>
          </p:nvSpPr>
          <p:spPr bwMode="auto">
            <a:xfrm>
              <a:off x="3902" y="942"/>
              <a:ext cx="16" cy="10"/>
            </a:xfrm>
            <a:custGeom>
              <a:avLst/>
              <a:gdLst>
                <a:gd name="T0" fmla="*/ 5 w 12"/>
                <a:gd name="T1" fmla="*/ 5 h 7"/>
                <a:gd name="T2" fmla="*/ 10 w 12"/>
                <a:gd name="T3" fmla="*/ 5 h 7"/>
                <a:gd name="T4" fmla="*/ 4 w 12"/>
                <a:gd name="T5" fmla="*/ 1 h 7"/>
                <a:gd name="T6" fmla="*/ 4 w 12"/>
                <a:gd name="T7" fmla="*/ 2 h 7"/>
                <a:gd name="T8" fmla="*/ 5 w 12"/>
                <a:gd name="T9" fmla="*/ 5 h 7"/>
              </a:gdLst>
              <a:ahLst/>
              <a:cxnLst>
                <a:cxn ang="0">
                  <a:pos x="T0" y="T1"/>
                </a:cxn>
                <a:cxn ang="0">
                  <a:pos x="T2" y="T3"/>
                </a:cxn>
                <a:cxn ang="0">
                  <a:pos x="T4" y="T5"/>
                </a:cxn>
                <a:cxn ang="0">
                  <a:pos x="T6" y="T7"/>
                </a:cxn>
                <a:cxn ang="0">
                  <a:pos x="T8" y="T9"/>
                </a:cxn>
              </a:cxnLst>
              <a:rect l="0" t="0" r="r" b="b"/>
              <a:pathLst>
                <a:path w="12" h="7">
                  <a:moveTo>
                    <a:pt x="5" y="5"/>
                  </a:moveTo>
                  <a:cubicBezTo>
                    <a:pt x="5" y="7"/>
                    <a:pt x="9" y="6"/>
                    <a:pt x="10" y="5"/>
                  </a:cubicBezTo>
                  <a:cubicBezTo>
                    <a:pt x="12" y="4"/>
                    <a:pt x="7" y="3"/>
                    <a:pt x="4" y="1"/>
                  </a:cubicBezTo>
                  <a:cubicBezTo>
                    <a:pt x="0" y="0"/>
                    <a:pt x="4" y="2"/>
                    <a:pt x="4" y="2"/>
                  </a:cubicBezTo>
                  <a:cubicBezTo>
                    <a:pt x="6" y="3"/>
                    <a:pt x="5" y="3"/>
                    <a:pt x="5"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59" name="Freeform 1244">
              <a:extLst>
                <a:ext uri="{FF2B5EF4-FFF2-40B4-BE49-F238E27FC236}">
                  <a16:creationId xmlns:a16="http://schemas.microsoft.com/office/drawing/2014/main" id="{E39080CE-D15C-4229-946E-66DFF4D59438}"/>
                </a:ext>
              </a:extLst>
            </p:cNvPr>
            <p:cNvSpPr>
              <a:spLocks/>
            </p:cNvSpPr>
            <p:nvPr/>
          </p:nvSpPr>
          <p:spPr bwMode="auto">
            <a:xfrm>
              <a:off x="3921" y="943"/>
              <a:ext cx="10" cy="9"/>
            </a:xfrm>
            <a:custGeom>
              <a:avLst/>
              <a:gdLst>
                <a:gd name="T0" fmla="*/ 4 w 7"/>
                <a:gd name="T1" fmla="*/ 5 h 6"/>
                <a:gd name="T2" fmla="*/ 7 w 7"/>
                <a:gd name="T3" fmla="*/ 2 h 6"/>
                <a:gd name="T4" fmla="*/ 2 w 7"/>
                <a:gd name="T5" fmla="*/ 2 h 6"/>
                <a:gd name="T6" fmla="*/ 2 w 7"/>
                <a:gd name="T7" fmla="*/ 4 h 6"/>
                <a:gd name="T8" fmla="*/ 4 w 7"/>
                <a:gd name="T9" fmla="*/ 5 h 6"/>
              </a:gdLst>
              <a:ahLst/>
              <a:cxnLst>
                <a:cxn ang="0">
                  <a:pos x="T0" y="T1"/>
                </a:cxn>
                <a:cxn ang="0">
                  <a:pos x="T2" y="T3"/>
                </a:cxn>
                <a:cxn ang="0">
                  <a:pos x="T4" y="T5"/>
                </a:cxn>
                <a:cxn ang="0">
                  <a:pos x="T6" y="T7"/>
                </a:cxn>
                <a:cxn ang="0">
                  <a:pos x="T8" y="T9"/>
                </a:cxn>
              </a:cxnLst>
              <a:rect l="0" t="0" r="r" b="b"/>
              <a:pathLst>
                <a:path w="7" h="6">
                  <a:moveTo>
                    <a:pt x="4" y="5"/>
                  </a:moveTo>
                  <a:cubicBezTo>
                    <a:pt x="5" y="6"/>
                    <a:pt x="7" y="5"/>
                    <a:pt x="7" y="2"/>
                  </a:cubicBezTo>
                  <a:cubicBezTo>
                    <a:pt x="7" y="0"/>
                    <a:pt x="4" y="1"/>
                    <a:pt x="2" y="2"/>
                  </a:cubicBezTo>
                  <a:cubicBezTo>
                    <a:pt x="0" y="2"/>
                    <a:pt x="2" y="4"/>
                    <a:pt x="2" y="4"/>
                  </a:cubicBezTo>
                  <a:cubicBezTo>
                    <a:pt x="3" y="6"/>
                    <a:pt x="3" y="4"/>
                    <a:pt x="4" y="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60" name="Freeform 1245">
              <a:extLst>
                <a:ext uri="{FF2B5EF4-FFF2-40B4-BE49-F238E27FC236}">
                  <a16:creationId xmlns:a16="http://schemas.microsoft.com/office/drawing/2014/main" id="{459545CE-A1AD-49CD-86A5-46700E3598B9}"/>
                </a:ext>
              </a:extLst>
            </p:cNvPr>
            <p:cNvSpPr>
              <a:spLocks/>
            </p:cNvSpPr>
            <p:nvPr/>
          </p:nvSpPr>
          <p:spPr bwMode="auto">
            <a:xfrm>
              <a:off x="3953" y="921"/>
              <a:ext cx="33" cy="14"/>
            </a:xfrm>
            <a:custGeom>
              <a:avLst/>
              <a:gdLst>
                <a:gd name="T0" fmla="*/ 15 w 24"/>
                <a:gd name="T1" fmla="*/ 9 h 10"/>
                <a:gd name="T2" fmla="*/ 18 w 24"/>
                <a:gd name="T3" fmla="*/ 7 h 10"/>
                <a:gd name="T4" fmla="*/ 20 w 24"/>
                <a:gd name="T5" fmla="*/ 5 h 10"/>
                <a:gd name="T6" fmla="*/ 23 w 24"/>
                <a:gd name="T7" fmla="*/ 2 h 10"/>
                <a:gd name="T8" fmla="*/ 23 w 24"/>
                <a:gd name="T9" fmla="*/ 0 h 10"/>
                <a:gd name="T10" fmla="*/ 16 w 24"/>
                <a:gd name="T11" fmla="*/ 4 h 10"/>
                <a:gd name="T12" fmla="*/ 9 w 24"/>
                <a:gd name="T13" fmla="*/ 4 h 10"/>
                <a:gd name="T14" fmla="*/ 7 w 24"/>
                <a:gd name="T15" fmla="*/ 4 h 10"/>
                <a:gd name="T16" fmla="*/ 5 w 24"/>
                <a:gd name="T17" fmla="*/ 5 h 10"/>
                <a:gd name="T18" fmla="*/ 2 w 24"/>
                <a:gd name="T19" fmla="*/ 5 h 10"/>
                <a:gd name="T20" fmla="*/ 3 w 24"/>
                <a:gd name="T21" fmla="*/ 9 h 10"/>
                <a:gd name="T22" fmla="*/ 5 w 24"/>
                <a:gd name="T23" fmla="*/ 10 h 10"/>
                <a:gd name="T24" fmla="*/ 12 w 24"/>
                <a:gd name="T25" fmla="*/ 8 h 10"/>
                <a:gd name="T26" fmla="*/ 15 w 24"/>
                <a:gd name="T27"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10">
                  <a:moveTo>
                    <a:pt x="15" y="9"/>
                  </a:moveTo>
                  <a:cubicBezTo>
                    <a:pt x="17" y="9"/>
                    <a:pt x="17" y="7"/>
                    <a:pt x="18" y="7"/>
                  </a:cubicBezTo>
                  <a:cubicBezTo>
                    <a:pt x="19" y="7"/>
                    <a:pt x="19" y="6"/>
                    <a:pt x="20" y="5"/>
                  </a:cubicBezTo>
                  <a:cubicBezTo>
                    <a:pt x="21" y="3"/>
                    <a:pt x="21" y="2"/>
                    <a:pt x="23" y="2"/>
                  </a:cubicBezTo>
                  <a:cubicBezTo>
                    <a:pt x="24" y="3"/>
                    <a:pt x="24" y="1"/>
                    <a:pt x="23" y="0"/>
                  </a:cubicBezTo>
                  <a:cubicBezTo>
                    <a:pt x="22" y="0"/>
                    <a:pt x="19" y="3"/>
                    <a:pt x="16" y="4"/>
                  </a:cubicBezTo>
                  <a:cubicBezTo>
                    <a:pt x="13" y="6"/>
                    <a:pt x="9" y="5"/>
                    <a:pt x="9" y="4"/>
                  </a:cubicBezTo>
                  <a:cubicBezTo>
                    <a:pt x="8" y="4"/>
                    <a:pt x="7" y="2"/>
                    <a:pt x="7" y="4"/>
                  </a:cubicBezTo>
                  <a:cubicBezTo>
                    <a:pt x="6" y="5"/>
                    <a:pt x="5" y="4"/>
                    <a:pt x="5" y="5"/>
                  </a:cubicBezTo>
                  <a:cubicBezTo>
                    <a:pt x="4" y="6"/>
                    <a:pt x="4" y="6"/>
                    <a:pt x="2" y="5"/>
                  </a:cubicBezTo>
                  <a:cubicBezTo>
                    <a:pt x="0" y="5"/>
                    <a:pt x="3" y="7"/>
                    <a:pt x="3" y="9"/>
                  </a:cubicBezTo>
                  <a:cubicBezTo>
                    <a:pt x="4" y="10"/>
                    <a:pt x="5" y="10"/>
                    <a:pt x="5" y="10"/>
                  </a:cubicBezTo>
                  <a:cubicBezTo>
                    <a:pt x="6" y="10"/>
                    <a:pt x="11" y="9"/>
                    <a:pt x="12" y="8"/>
                  </a:cubicBezTo>
                  <a:cubicBezTo>
                    <a:pt x="13" y="7"/>
                    <a:pt x="14" y="9"/>
                    <a:pt x="15" y="9"/>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61" name="Freeform 1246">
              <a:extLst>
                <a:ext uri="{FF2B5EF4-FFF2-40B4-BE49-F238E27FC236}">
                  <a16:creationId xmlns:a16="http://schemas.microsoft.com/office/drawing/2014/main" id="{92CBCB1E-1CEE-4F15-96AD-2FDBE3F5021B}"/>
                </a:ext>
              </a:extLst>
            </p:cNvPr>
            <p:cNvSpPr>
              <a:spLocks/>
            </p:cNvSpPr>
            <p:nvPr/>
          </p:nvSpPr>
          <p:spPr bwMode="auto">
            <a:xfrm>
              <a:off x="3963" y="939"/>
              <a:ext cx="16" cy="4"/>
            </a:xfrm>
            <a:custGeom>
              <a:avLst/>
              <a:gdLst>
                <a:gd name="T0" fmla="*/ 10 w 12"/>
                <a:gd name="T1" fmla="*/ 2 h 3"/>
                <a:gd name="T2" fmla="*/ 2 w 12"/>
                <a:gd name="T3" fmla="*/ 0 h 3"/>
                <a:gd name="T4" fmla="*/ 1 w 12"/>
                <a:gd name="T5" fmla="*/ 1 h 3"/>
                <a:gd name="T6" fmla="*/ 3 w 12"/>
                <a:gd name="T7" fmla="*/ 2 h 3"/>
                <a:gd name="T8" fmla="*/ 10 w 12"/>
                <a:gd name="T9" fmla="*/ 2 h 3"/>
              </a:gdLst>
              <a:ahLst/>
              <a:cxnLst>
                <a:cxn ang="0">
                  <a:pos x="T0" y="T1"/>
                </a:cxn>
                <a:cxn ang="0">
                  <a:pos x="T2" y="T3"/>
                </a:cxn>
                <a:cxn ang="0">
                  <a:pos x="T4" y="T5"/>
                </a:cxn>
                <a:cxn ang="0">
                  <a:pos x="T6" y="T7"/>
                </a:cxn>
                <a:cxn ang="0">
                  <a:pos x="T8" y="T9"/>
                </a:cxn>
              </a:cxnLst>
              <a:rect l="0" t="0" r="r" b="b"/>
              <a:pathLst>
                <a:path w="12" h="3">
                  <a:moveTo>
                    <a:pt x="10" y="2"/>
                  </a:moveTo>
                  <a:cubicBezTo>
                    <a:pt x="12" y="1"/>
                    <a:pt x="2" y="0"/>
                    <a:pt x="2" y="0"/>
                  </a:cubicBezTo>
                  <a:cubicBezTo>
                    <a:pt x="0" y="0"/>
                    <a:pt x="3" y="1"/>
                    <a:pt x="1" y="1"/>
                  </a:cubicBezTo>
                  <a:cubicBezTo>
                    <a:pt x="0" y="1"/>
                    <a:pt x="1" y="1"/>
                    <a:pt x="3" y="2"/>
                  </a:cubicBezTo>
                  <a:cubicBezTo>
                    <a:pt x="6" y="3"/>
                    <a:pt x="7" y="3"/>
                    <a:pt x="10" y="2"/>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62" name="Freeform 1247">
              <a:extLst>
                <a:ext uri="{FF2B5EF4-FFF2-40B4-BE49-F238E27FC236}">
                  <a16:creationId xmlns:a16="http://schemas.microsoft.com/office/drawing/2014/main" id="{406CFB18-387F-4183-AC6D-881F6C02B166}"/>
                </a:ext>
              </a:extLst>
            </p:cNvPr>
            <p:cNvSpPr>
              <a:spLocks/>
            </p:cNvSpPr>
            <p:nvPr/>
          </p:nvSpPr>
          <p:spPr bwMode="auto">
            <a:xfrm>
              <a:off x="3974" y="930"/>
              <a:ext cx="15" cy="11"/>
            </a:xfrm>
            <a:custGeom>
              <a:avLst/>
              <a:gdLst>
                <a:gd name="T0" fmla="*/ 9 w 11"/>
                <a:gd name="T1" fmla="*/ 6 h 8"/>
                <a:gd name="T2" fmla="*/ 11 w 11"/>
                <a:gd name="T3" fmla="*/ 2 h 8"/>
                <a:gd name="T4" fmla="*/ 9 w 11"/>
                <a:gd name="T5" fmla="*/ 0 h 8"/>
                <a:gd name="T6" fmla="*/ 9 w 11"/>
                <a:gd name="T7" fmla="*/ 1 h 8"/>
                <a:gd name="T8" fmla="*/ 2 w 11"/>
                <a:gd name="T9" fmla="*/ 4 h 8"/>
                <a:gd name="T10" fmla="*/ 0 w 11"/>
                <a:gd name="T11" fmla="*/ 6 h 8"/>
                <a:gd name="T12" fmla="*/ 4 w 11"/>
                <a:gd name="T13" fmla="*/ 8 h 8"/>
                <a:gd name="T14" fmla="*/ 9 w 11"/>
                <a:gd name="T15" fmla="*/ 6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8">
                  <a:moveTo>
                    <a:pt x="9" y="6"/>
                  </a:moveTo>
                  <a:cubicBezTo>
                    <a:pt x="11" y="4"/>
                    <a:pt x="11" y="3"/>
                    <a:pt x="11" y="2"/>
                  </a:cubicBezTo>
                  <a:cubicBezTo>
                    <a:pt x="11" y="1"/>
                    <a:pt x="10" y="0"/>
                    <a:pt x="9" y="0"/>
                  </a:cubicBezTo>
                  <a:cubicBezTo>
                    <a:pt x="8" y="0"/>
                    <a:pt x="8" y="0"/>
                    <a:pt x="9" y="1"/>
                  </a:cubicBezTo>
                  <a:cubicBezTo>
                    <a:pt x="10" y="3"/>
                    <a:pt x="5" y="4"/>
                    <a:pt x="2" y="4"/>
                  </a:cubicBezTo>
                  <a:cubicBezTo>
                    <a:pt x="0" y="5"/>
                    <a:pt x="0" y="6"/>
                    <a:pt x="0" y="6"/>
                  </a:cubicBezTo>
                  <a:cubicBezTo>
                    <a:pt x="1" y="7"/>
                    <a:pt x="2" y="8"/>
                    <a:pt x="4" y="8"/>
                  </a:cubicBezTo>
                  <a:cubicBezTo>
                    <a:pt x="5" y="8"/>
                    <a:pt x="7" y="8"/>
                    <a:pt x="9"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63" name="Freeform 1248">
              <a:extLst>
                <a:ext uri="{FF2B5EF4-FFF2-40B4-BE49-F238E27FC236}">
                  <a16:creationId xmlns:a16="http://schemas.microsoft.com/office/drawing/2014/main" id="{DE020149-4078-494B-939F-6F0DF8B88B2F}"/>
                </a:ext>
              </a:extLst>
            </p:cNvPr>
            <p:cNvSpPr>
              <a:spLocks/>
            </p:cNvSpPr>
            <p:nvPr/>
          </p:nvSpPr>
          <p:spPr bwMode="auto">
            <a:xfrm>
              <a:off x="3989" y="924"/>
              <a:ext cx="10" cy="10"/>
            </a:xfrm>
            <a:custGeom>
              <a:avLst/>
              <a:gdLst>
                <a:gd name="T0" fmla="*/ 2 w 7"/>
                <a:gd name="T1" fmla="*/ 6 h 7"/>
                <a:gd name="T2" fmla="*/ 6 w 7"/>
                <a:gd name="T3" fmla="*/ 5 h 7"/>
                <a:gd name="T4" fmla="*/ 5 w 7"/>
                <a:gd name="T5" fmla="*/ 2 h 7"/>
                <a:gd name="T6" fmla="*/ 1 w 7"/>
                <a:gd name="T7" fmla="*/ 3 h 7"/>
                <a:gd name="T8" fmla="*/ 2 w 7"/>
                <a:gd name="T9" fmla="*/ 6 h 7"/>
              </a:gdLst>
              <a:ahLst/>
              <a:cxnLst>
                <a:cxn ang="0">
                  <a:pos x="T0" y="T1"/>
                </a:cxn>
                <a:cxn ang="0">
                  <a:pos x="T2" y="T3"/>
                </a:cxn>
                <a:cxn ang="0">
                  <a:pos x="T4" y="T5"/>
                </a:cxn>
                <a:cxn ang="0">
                  <a:pos x="T6" y="T7"/>
                </a:cxn>
                <a:cxn ang="0">
                  <a:pos x="T8" y="T9"/>
                </a:cxn>
              </a:cxnLst>
              <a:rect l="0" t="0" r="r" b="b"/>
              <a:pathLst>
                <a:path w="7" h="7">
                  <a:moveTo>
                    <a:pt x="2" y="6"/>
                  </a:moveTo>
                  <a:cubicBezTo>
                    <a:pt x="3" y="6"/>
                    <a:pt x="6" y="7"/>
                    <a:pt x="6" y="5"/>
                  </a:cubicBezTo>
                  <a:cubicBezTo>
                    <a:pt x="6" y="3"/>
                    <a:pt x="7" y="3"/>
                    <a:pt x="5" y="2"/>
                  </a:cubicBezTo>
                  <a:cubicBezTo>
                    <a:pt x="3" y="2"/>
                    <a:pt x="0" y="0"/>
                    <a:pt x="1" y="3"/>
                  </a:cubicBezTo>
                  <a:cubicBezTo>
                    <a:pt x="1" y="3"/>
                    <a:pt x="0" y="6"/>
                    <a:pt x="2" y="6"/>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64" name="Freeform 1249">
              <a:extLst>
                <a:ext uri="{FF2B5EF4-FFF2-40B4-BE49-F238E27FC236}">
                  <a16:creationId xmlns:a16="http://schemas.microsoft.com/office/drawing/2014/main" id="{993D89DB-BA88-4DD2-A67A-39D7261CBDD4}"/>
                </a:ext>
              </a:extLst>
            </p:cNvPr>
            <p:cNvSpPr>
              <a:spLocks/>
            </p:cNvSpPr>
            <p:nvPr/>
          </p:nvSpPr>
          <p:spPr bwMode="auto">
            <a:xfrm>
              <a:off x="4021" y="908"/>
              <a:ext cx="18" cy="12"/>
            </a:xfrm>
            <a:custGeom>
              <a:avLst/>
              <a:gdLst>
                <a:gd name="T0" fmla="*/ 4 w 13"/>
                <a:gd name="T1" fmla="*/ 4 h 9"/>
                <a:gd name="T2" fmla="*/ 3 w 13"/>
                <a:gd name="T3" fmla="*/ 6 h 9"/>
                <a:gd name="T4" fmla="*/ 11 w 13"/>
                <a:gd name="T5" fmla="*/ 6 h 9"/>
                <a:gd name="T6" fmla="*/ 13 w 13"/>
                <a:gd name="T7" fmla="*/ 4 h 9"/>
                <a:gd name="T8" fmla="*/ 9 w 13"/>
                <a:gd name="T9" fmla="*/ 1 h 9"/>
                <a:gd name="T10" fmla="*/ 8 w 13"/>
                <a:gd name="T11" fmla="*/ 3 h 9"/>
                <a:gd name="T12" fmla="*/ 4 w 13"/>
                <a:gd name="T13" fmla="*/ 4 h 9"/>
              </a:gdLst>
              <a:ahLst/>
              <a:cxnLst>
                <a:cxn ang="0">
                  <a:pos x="T0" y="T1"/>
                </a:cxn>
                <a:cxn ang="0">
                  <a:pos x="T2" y="T3"/>
                </a:cxn>
                <a:cxn ang="0">
                  <a:pos x="T4" y="T5"/>
                </a:cxn>
                <a:cxn ang="0">
                  <a:pos x="T6" y="T7"/>
                </a:cxn>
                <a:cxn ang="0">
                  <a:pos x="T8" y="T9"/>
                </a:cxn>
                <a:cxn ang="0">
                  <a:pos x="T10" y="T11"/>
                </a:cxn>
                <a:cxn ang="0">
                  <a:pos x="T12" y="T13"/>
                </a:cxn>
              </a:cxnLst>
              <a:rect l="0" t="0" r="r" b="b"/>
              <a:pathLst>
                <a:path w="13" h="9">
                  <a:moveTo>
                    <a:pt x="4" y="4"/>
                  </a:moveTo>
                  <a:cubicBezTo>
                    <a:pt x="0" y="4"/>
                    <a:pt x="3" y="6"/>
                    <a:pt x="3" y="6"/>
                  </a:cubicBezTo>
                  <a:cubicBezTo>
                    <a:pt x="6" y="9"/>
                    <a:pt x="8" y="7"/>
                    <a:pt x="11" y="6"/>
                  </a:cubicBezTo>
                  <a:cubicBezTo>
                    <a:pt x="13" y="5"/>
                    <a:pt x="13" y="5"/>
                    <a:pt x="13" y="4"/>
                  </a:cubicBezTo>
                  <a:cubicBezTo>
                    <a:pt x="13" y="2"/>
                    <a:pt x="11" y="2"/>
                    <a:pt x="9" y="1"/>
                  </a:cubicBezTo>
                  <a:cubicBezTo>
                    <a:pt x="7" y="0"/>
                    <a:pt x="6" y="1"/>
                    <a:pt x="8" y="3"/>
                  </a:cubicBezTo>
                  <a:cubicBezTo>
                    <a:pt x="10" y="4"/>
                    <a:pt x="8" y="4"/>
                    <a:pt x="4" y="4"/>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65" name="Freeform 1250">
              <a:extLst>
                <a:ext uri="{FF2B5EF4-FFF2-40B4-BE49-F238E27FC236}">
                  <a16:creationId xmlns:a16="http://schemas.microsoft.com/office/drawing/2014/main" id="{2555E8F6-B3A3-45A8-B587-4751564F8F37}"/>
                </a:ext>
              </a:extLst>
            </p:cNvPr>
            <p:cNvSpPr>
              <a:spLocks/>
            </p:cNvSpPr>
            <p:nvPr/>
          </p:nvSpPr>
          <p:spPr bwMode="auto">
            <a:xfrm>
              <a:off x="3606" y="909"/>
              <a:ext cx="536" cy="435"/>
            </a:xfrm>
            <a:custGeom>
              <a:avLst/>
              <a:gdLst>
                <a:gd name="T0" fmla="*/ 279 w 388"/>
                <a:gd name="T1" fmla="*/ 64 h 317"/>
                <a:gd name="T2" fmla="*/ 334 w 388"/>
                <a:gd name="T3" fmla="*/ 31 h 317"/>
                <a:gd name="T4" fmla="*/ 380 w 388"/>
                <a:gd name="T5" fmla="*/ 44 h 317"/>
                <a:gd name="T6" fmla="*/ 363 w 388"/>
                <a:gd name="T7" fmla="*/ 35 h 317"/>
                <a:gd name="T8" fmla="*/ 378 w 388"/>
                <a:gd name="T9" fmla="*/ 18 h 317"/>
                <a:gd name="T10" fmla="*/ 352 w 388"/>
                <a:gd name="T11" fmla="*/ 10 h 317"/>
                <a:gd name="T12" fmla="*/ 341 w 388"/>
                <a:gd name="T13" fmla="*/ 12 h 317"/>
                <a:gd name="T14" fmla="*/ 329 w 388"/>
                <a:gd name="T15" fmla="*/ 13 h 317"/>
                <a:gd name="T16" fmla="*/ 323 w 388"/>
                <a:gd name="T17" fmla="*/ 10 h 317"/>
                <a:gd name="T18" fmla="*/ 297 w 388"/>
                <a:gd name="T19" fmla="*/ 25 h 317"/>
                <a:gd name="T20" fmla="*/ 294 w 388"/>
                <a:gd name="T21" fmla="*/ 5 h 317"/>
                <a:gd name="T22" fmla="*/ 286 w 388"/>
                <a:gd name="T23" fmla="*/ 19 h 317"/>
                <a:gd name="T24" fmla="*/ 269 w 388"/>
                <a:gd name="T25" fmla="*/ 31 h 317"/>
                <a:gd name="T26" fmla="*/ 256 w 388"/>
                <a:gd name="T27" fmla="*/ 28 h 317"/>
                <a:gd name="T28" fmla="*/ 253 w 388"/>
                <a:gd name="T29" fmla="*/ 35 h 317"/>
                <a:gd name="T30" fmla="*/ 230 w 388"/>
                <a:gd name="T31" fmla="*/ 43 h 317"/>
                <a:gd name="T32" fmla="*/ 223 w 388"/>
                <a:gd name="T33" fmla="*/ 37 h 317"/>
                <a:gd name="T34" fmla="*/ 213 w 388"/>
                <a:gd name="T35" fmla="*/ 37 h 317"/>
                <a:gd name="T36" fmla="*/ 199 w 388"/>
                <a:gd name="T37" fmla="*/ 48 h 317"/>
                <a:gd name="T38" fmla="*/ 190 w 388"/>
                <a:gd name="T39" fmla="*/ 64 h 317"/>
                <a:gd name="T40" fmla="*/ 190 w 388"/>
                <a:gd name="T41" fmla="*/ 73 h 317"/>
                <a:gd name="T42" fmla="*/ 172 w 388"/>
                <a:gd name="T43" fmla="*/ 81 h 317"/>
                <a:gd name="T44" fmla="*/ 159 w 388"/>
                <a:gd name="T45" fmla="*/ 81 h 317"/>
                <a:gd name="T46" fmla="*/ 148 w 388"/>
                <a:gd name="T47" fmla="*/ 86 h 317"/>
                <a:gd name="T48" fmla="*/ 158 w 388"/>
                <a:gd name="T49" fmla="*/ 96 h 317"/>
                <a:gd name="T50" fmla="*/ 144 w 388"/>
                <a:gd name="T51" fmla="*/ 99 h 317"/>
                <a:gd name="T52" fmla="*/ 141 w 388"/>
                <a:gd name="T53" fmla="*/ 107 h 317"/>
                <a:gd name="T54" fmla="*/ 126 w 388"/>
                <a:gd name="T55" fmla="*/ 120 h 317"/>
                <a:gd name="T56" fmla="*/ 128 w 388"/>
                <a:gd name="T57" fmla="*/ 129 h 317"/>
                <a:gd name="T58" fmla="*/ 114 w 388"/>
                <a:gd name="T59" fmla="*/ 141 h 317"/>
                <a:gd name="T60" fmla="*/ 111 w 388"/>
                <a:gd name="T61" fmla="*/ 152 h 317"/>
                <a:gd name="T62" fmla="*/ 95 w 388"/>
                <a:gd name="T63" fmla="*/ 163 h 317"/>
                <a:gd name="T64" fmla="*/ 88 w 388"/>
                <a:gd name="T65" fmla="*/ 170 h 317"/>
                <a:gd name="T66" fmla="*/ 73 w 388"/>
                <a:gd name="T67" fmla="*/ 192 h 317"/>
                <a:gd name="T68" fmla="*/ 88 w 388"/>
                <a:gd name="T69" fmla="*/ 190 h 317"/>
                <a:gd name="T70" fmla="*/ 65 w 388"/>
                <a:gd name="T71" fmla="*/ 193 h 317"/>
                <a:gd name="T72" fmla="*/ 48 w 388"/>
                <a:gd name="T73" fmla="*/ 203 h 317"/>
                <a:gd name="T74" fmla="*/ 37 w 388"/>
                <a:gd name="T75" fmla="*/ 207 h 317"/>
                <a:gd name="T76" fmla="*/ 38 w 388"/>
                <a:gd name="T77" fmla="*/ 217 h 317"/>
                <a:gd name="T78" fmla="*/ 24 w 388"/>
                <a:gd name="T79" fmla="*/ 224 h 317"/>
                <a:gd name="T80" fmla="*/ 6 w 388"/>
                <a:gd name="T81" fmla="*/ 227 h 317"/>
                <a:gd name="T82" fmla="*/ 1 w 388"/>
                <a:gd name="T83" fmla="*/ 235 h 317"/>
                <a:gd name="T84" fmla="*/ 2 w 388"/>
                <a:gd name="T85" fmla="*/ 246 h 317"/>
                <a:gd name="T86" fmla="*/ 31 w 388"/>
                <a:gd name="T87" fmla="*/ 251 h 317"/>
                <a:gd name="T88" fmla="*/ 3 w 388"/>
                <a:gd name="T89" fmla="*/ 254 h 317"/>
                <a:gd name="T90" fmla="*/ 6 w 388"/>
                <a:gd name="T91" fmla="*/ 269 h 317"/>
                <a:gd name="T92" fmla="*/ 24 w 388"/>
                <a:gd name="T93" fmla="*/ 269 h 317"/>
                <a:gd name="T94" fmla="*/ 14 w 388"/>
                <a:gd name="T95" fmla="*/ 280 h 317"/>
                <a:gd name="T96" fmla="*/ 7 w 388"/>
                <a:gd name="T97" fmla="*/ 288 h 317"/>
                <a:gd name="T98" fmla="*/ 17 w 388"/>
                <a:gd name="T99" fmla="*/ 288 h 317"/>
                <a:gd name="T100" fmla="*/ 10 w 388"/>
                <a:gd name="T101" fmla="*/ 296 h 317"/>
                <a:gd name="T102" fmla="*/ 32 w 388"/>
                <a:gd name="T103" fmla="*/ 317 h 317"/>
                <a:gd name="T104" fmla="*/ 66 w 388"/>
                <a:gd name="T105" fmla="*/ 298 h 317"/>
                <a:gd name="T106" fmla="*/ 83 w 388"/>
                <a:gd name="T107" fmla="*/ 277 h 317"/>
                <a:gd name="T108" fmla="*/ 100 w 388"/>
                <a:gd name="T109" fmla="*/ 296 h 317"/>
                <a:gd name="T110" fmla="*/ 108 w 388"/>
                <a:gd name="T111" fmla="*/ 252 h 317"/>
                <a:gd name="T112" fmla="*/ 105 w 388"/>
                <a:gd name="T113" fmla="*/ 197 h 317"/>
                <a:gd name="T114" fmla="*/ 143 w 388"/>
                <a:gd name="T115" fmla="*/ 138 h 317"/>
                <a:gd name="T116" fmla="*/ 173 w 388"/>
                <a:gd name="T117" fmla="*/ 90 h 317"/>
                <a:gd name="T118" fmla="*/ 227 w 388"/>
                <a:gd name="T119" fmla="*/ 6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8" h="317">
                  <a:moveTo>
                    <a:pt x="232" y="57"/>
                  </a:moveTo>
                  <a:cubicBezTo>
                    <a:pt x="234" y="57"/>
                    <a:pt x="236" y="56"/>
                    <a:pt x="236" y="56"/>
                  </a:cubicBezTo>
                  <a:cubicBezTo>
                    <a:pt x="236" y="56"/>
                    <a:pt x="239" y="56"/>
                    <a:pt x="239" y="53"/>
                  </a:cubicBezTo>
                  <a:cubicBezTo>
                    <a:pt x="239" y="53"/>
                    <a:pt x="239" y="51"/>
                    <a:pt x="240" y="51"/>
                  </a:cubicBezTo>
                  <a:cubicBezTo>
                    <a:pt x="241" y="50"/>
                    <a:pt x="243" y="50"/>
                    <a:pt x="243" y="50"/>
                  </a:cubicBezTo>
                  <a:cubicBezTo>
                    <a:pt x="243" y="50"/>
                    <a:pt x="244" y="51"/>
                    <a:pt x="245" y="51"/>
                  </a:cubicBezTo>
                  <a:cubicBezTo>
                    <a:pt x="245" y="51"/>
                    <a:pt x="252" y="56"/>
                    <a:pt x="254" y="57"/>
                  </a:cubicBezTo>
                  <a:cubicBezTo>
                    <a:pt x="255" y="59"/>
                    <a:pt x="258" y="62"/>
                    <a:pt x="258" y="63"/>
                  </a:cubicBezTo>
                  <a:cubicBezTo>
                    <a:pt x="258" y="64"/>
                    <a:pt x="259" y="65"/>
                    <a:pt x="260" y="65"/>
                  </a:cubicBezTo>
                  <a:cubicBezTo>
                    <a:pt x="262" y="65"/>
                    <a:pt x="278" y="65"/>
                    <a:pt x="278" y="65"/>
                  </a:cubicBezTo>
                  <a:cubicBezTo>
                    <a:pt x="278" y="65"/>
                    <a:pt x="279" y="65"/>
                    <a:pt x="279" y="64"/>
                  </a:cubicBezTo>
                  <a:cubicBezTo>
                    <a:pt x="279" y="63"/>
                    <a:pt x="280" y="62"/>
                    <a:pt x="281" y="62"/>
                  </a:cubicBezTo>
                  <a:cubicBezTo>
                    <a:pt x="281" y="63"/>
                    <a:pt x="284" y="63"/>
                    <a:pt x="285" y="64"/>
                  </a:cubicBezTo>
                  <a:cubicBezTo>
                    <a:pt x="286" y="64"/>
                    <a:pt x="295" y="68"/>
                    <a:pt x="295" y="68"/>
                  </a:cubicBezTo>
                  <a:cubicBezTo>
                    <a:pt x="295" y="68"/>
                    <a:pt x="296" y="69"/>
                    <a:pt x="297" y="68"/>
                  </a:cubicBezTo>
                  <a:cubicBezTo>
                    <a:pt x="298" y="67"/>
                    <a:pt x="303" y="61"/>
                    <a:pt x="303" y="61"/>
                  </a:cubicBezTo>
                  <a:cubicBezTo>
                    <a:pt x="303" y="61"/>
                    <a:pt x="304" y="60"/>
                    <a:pt x="305" y="60"/>
                  </a:cubicBezTo>
                  <a:cubicBezTo>
                    <a:pt x="305" y="60"/>
                    <a:pt x="308" y="60"/>
                    <a:pt x="309" y="55"/>
                  </a:cubicBezTo>
                  <a:cubicBezTo>
                    <a:pt x="309" y="50"/>
                    <a:pt x="310" y="42"/>
                    <a:pt x="315" y="37"/>
                  </a:cubicBezTo>
                  <a:cubicBezTo>
                    <a:pt x="315" y="37"/>
                    <a:pt x="317" y="36"/>
                    <a:pt x="318" y="36"/>
                  </a:cubicBezTo>
                  <a:cubicBezTo>
                    <a:pt x="318" y="35"/>
                    <a:pt x="322" y="33"/>
                    <a:pt x="326" y="33"/>
                  </a:cubicBezTo>
                  <a:cubicBezTo>
                    <a:pt x="330" y="33"/>
                    <a:pt x="333" y="31"/>
                    <a:pt x="334" y="31"/>
                  </a:cubicBezTo>
                  <a:cubicBezTo>
                    <a:pt x="335" y="30"/>
                    <a:pt x="339" y="28"/>
                    <a:pt x="343" y="32"/>
                  </a:cubicBezTo>
                  <a:cubicBezTo>
                    <a:pt x="348" y="36"/>
                    <a:pt x="352" y="38"/>
                    <a:pt x="355" y="38"/>
                  </a:cubicBezTo>
                  <a:cubicBezTo>
                    <a:pt x="357" y="39"/>
                    <a:pt x="363" y="43"/>
                    <a:pt x="359" y="48"/>
                  </a:cubicBezTo>
                  <a:cubicBezTo>
                    <a:pt x="359" y="48"/>
                    <a:pt x="355" y="52"/>
                    <a:pt x="355" y="53"/>
                  </a:cubicBezTo>
                  <a:cubicBezTo>
                    <a:pt x="356" y="54"/>
                    <a:pt x="356" y="56"/>
                    <a:pt x="357" y="57"/>
                  </a:cubicBezTo>
                  <a:cubicBezTo>
                    <a:pt x="357" y="57"/>
                    <a:pt x="358" y="55"/>
                    <a:pt x="360" y="53"/>
                  </a:cubicBezTo>
                  <a:cubicBezTo>
                    <a:pt x="362" y="50"/>
                    <a:pt x="365" y="49"/>
                    <a:pt x="366" y="49"/>
                  </a:cubicBezTo>
                  <a:cubicBezTo>
                    <a:pt x="367" y="49"/>
                    <a:pt x="369" y="48"/>
                    <a:pt x="370" y="48"/>
                  </a:cubicBezTo>
                  <a:cubicBezTo>
                    <a:pt x="372" y="47"/>
                    <a:pt x="374" y="43"/>
                    <a:pt x="374" y="43"/>
                  </a:cubicBezTo>
                  <a:cubicBezTo>
                    <a:pt x="374" y="42"/>
                    <a:pt x="373" y="41"/>
                    <a:pt x="375" y="42"/>
                  </a:cubicBezTo>
                  <a:cubicBezTo>
                    <a:pt x="377" y="43"/>
                    <a:pt x="379" y="43"/>
                    <a:pt x="380" y="44"/>
                  </a:cubicBezTo>
                  <a:cubicBezTo>
                    <a:pt x="382" y="44"/>
                    <a:pt x="384" y="45"/>
                    <a:pt x="385" y="43"/>
                  </a:cubicBezTo>
                  <a:cubicBezTo>
                    <a:pt x="385" y="42"/>
                    <a:pt x="384" y="39"/>
                    <a:pt x="384" y="38"/>
                  </a:cubicBezTo>
                  <a:cubicBezTo>
                    <a:pt x="384" y="38"/>
                    <a:pt x="383" y="38"/>
                    <a:pt x="382" y="37"/>
                  </a:cubicBezTo>
                  <a:cubicBezTo>
                    <a:pt x="381" y="37"/>
                    <a:pt x="380" y="36"/>
                    <a:pt x="379" y="37"/>
                  </a:cubicBezTo>
                  <a:cubicBezTo>
                    <a:pt x="378" y="38"/>
                    <a:pt x="378" y="39"/>
                    <a:pt x="377" y="38"/>
                  </a:cubicBezTo>
                  <a:cubicBezTo>
                    <a:pt x="376" y="37"/>
                    <a:pt x="375" y="34"/>
                    <a:pt x="373" y="36"/>
                  </a:cubicBezTo>
                  <a:cubicBezTo>
                    <a:pt x="372" y="37"/>
                    <a:pt x="366" y="40"/>
                    <a:pt x="365" y="40"/>
                  </a:cubicBezTo>
                  <a:cubicBezTo>
                    <a:pt x="365" y="40"/>
                    <a:pt x="364" y="40"/>
                    <a:pt x="365" y="39"/>
                  </a:cubicBezTo>
                  <a:cubicBezTo>
                    <a:pt x="366" y="39"/>
                    <a:pt x="366" y="38"/>
                    <a:pt x="367" y="38"/>
                  </a:cubicBezTo>
                  <a:cubicBezTo>
                    <a:pt x="367" y="37"/>
                    <a:pt x="367" y="37"/>
                    <a:pt x="366" y="36"/>
                  </a:cubicBezTo>
                  <a:cubicBezTo>
                    <a:pt x="366" y="36"/>
                    <a:pt x="362" y="35"/>
                    <a:pt x="363" y="35"/>
                  </a:cubicBezTo>
                  <a:cubicBezTo>
                    <a:pt x="364" y="35"/>
                    <a:pt x="363" y="32"/>
                    <a:pt x="363" y="31"/>
                  </a:cubicBezTo>
                  <a:cubicBezTo>
                    <a:pt x="362" y="31"/>
                    <a:pt x="357" y="30"/>
                    <a:pt x="355" y="29"/>
                  </a:cubicBezTo>
                  <a:cubicBezTo>
                    <a:pt x="353" y="29"/>
                    <a:pt x="351" y="29"/>
                    <a:pt x="352" y="28"/>
                  </a:cubicBezTo>
                  <a:cubicBezTo>
                    <a:pt x="352" y="27"/>
                    <a:pt x="351" y="26"/>
                    <a:pt x="355" y="27"/>
                  </a:cubicBezTo>
                  <a:cubicBezTo>
                    <a:pt x="358" y="28"/>
                    <a:pt x="367" y="29"/>
                    <a:pt x="369" y="29"/>
                  </a:cubicBezTo>
                  <a:cubicBezTo>
                    <a:pt x="372" y="29"/>
                    <a:pt x="374" y="30"/>
                    <a:pt x="375" y="28"/>
                  </a:cubicBezTo>
                  <a:cubicBezTo>
                    <a:pt x="376" y="27"/>
                    <a:pt x="379" y="26"/>
                    <a:pt x="381" y="26"/>
                  </a:cubicBezTo>
                  <a:cubicBezTo>
                    <a:pt x="382" y="25"/>
                    <a:pt x="387" y="25"/>
                    <a:pt x="388" y="23"/>
                  </a:cubicBezTo>
                  <a:cubicBezTo>
                    <a:pt x="388" y="21"/>
                    <a:pt x="387" y="20"/>
                    <a:pt x="386" y="20"/>
                  </a:cubicBezTo>
                  <a:cubicBezTo>
                    <a:pt x="385" y="20"/>
                    <a:pt x="384" y="20"/>
                    <a:pt x="384" y="20"/>
                  </a:cubicBezTo>
                  <a:cubicBezTo>
                    <a:pt x="383" y="19"/>
                    <a:pt x="380" y="19"/>
                    <a:pt x="378" y="18"/>
                  </a:cubicBezTo>
                  <a:cubicBezTo>
                    <a:pt x="377" y="18"/>
                    <a:pt x="372" y="18"/>
                    <a:pt x="374" y="17"/>
                  </a:cubicBezTo>
                  <a:cubicBezTo>
                    <a:pt x="375" y="17"/>
                    <a:pt x="375" y="16"/>
                    <a:pt x="375" y="15"/>
                  </a:cubicBezTo>
                  <a:cubicBezTo>
                    <a:pt x="374" y="15"/>
                    <a:pt x="373" y="12"/>
                    <a:pt x="372" y="13"/>
                  </a:cubicBezTo>
                  <a:cubicBezTo>
                    <a:pt x="370" y="14"/>
                    <a:pt x="370" y="14"/>
                    <a:pt x="369" y="14"/>
                  </a:cubicBezTo>
                  <a:cubicBezTo>
                    <a:pt x="368" y="14"/>
                    <a:pt x="368" y="14"/>
                    <a:pt x="368" y="13"/>
                  </a:cubicBezTo>
                  <a:cubicBezTo>
                    <a:pt x="369" y="12"/>
                    <a:pt x="368" y="12"/>
                    <a:pt x="368" y="12"/>
                  </a:cubicBezTo>
                  <a:cubicBezTo>
                    <a:pt x="367" y="13"/>
                    <a:pt x="364" y="14"/>
                    <a:pt x="363" y="14"/>
                  </a:cubicBezTo>
                  <a:cubicBezTo>
                    <a:pt x="362" y="14"/>
                    <a:pt x="361" y="14"/>
                    <a:pt x="362" y="13"/>
                  </a:cubicBezTo>
                  <a:cubicBezTo>
                    <a:pt x="363" y="12"/>
                    <a:pt x="362" y="13"/>
                    <a:pt x="361" y="12"/>
                  </a:cubicBezTo>
                  <a:cubicBezTo>
                    <a:pt x="361" y="11"/>
                    <a:pt x="357" y="8"/>
                    <a:pt x="355" y="8"/>
                  </a:cubicBezTo>
                  <a:cubicBezTo>
                    <a:pt x="353" y="9"/>
                    <a:pt x="353" y="9"/>
                    <a:pt x="352" y="10"/>
                  </a:cubicBezTo>
                  <a:cubicBezTo>
                    <a:pt x="352" y="11"/>
                    <a:pt x="350" y="14"/>
                    <a:pt x="350" y="14"/>
                  </a:cubicBezTo>
                  <a:cubicBezTo>
                    <a:pt x="349" y="15"/>
                    <a:pt x="348" y="17"/>
                    <a:pt x="349" y="18"/>
                  </a:cubicBezTo>
                  <a:cubicBezTo>
                    <a:pt x="349" y="18"/>
                    <a:pt x="349" y="20"/>
                    <a:pt x="349" y="21"/>
                  </a:cubicBezTo>
                  <a:cubicBezTo>
                    <a:pt x="348" y="21"/>
                    <a:pt x="346" y="23"/>
                    <a:pt x="346" y="23"/>
                  </a:cubicBezTo>
                  <a:cubicBezTo>
                    <a:pt x="345" y="23"/>
                    <a:pt x="344" y="23"/>
                    <a:pt x="345" y="21"/>
                  </a:cubicBezTo>
                  <a:cubicBezTo>
                    <a:pt x="347" y="19"/>
                    <a:pt x="348" y="19"/>
                    <a:pt x="347" y="19"/>
                  </a:cubicBezTo>
                  <a:cubicBezTo>
                    <a:pt x="345" y="19"/>
                    <a:pt x="337" y="21"/>
                    <a:pt x="340" y="18"/>
                  </a:cubicBezTo>
                  <a:cubicBezTo>
                    <a:pt x="343" y="16"/>
                    <a:pt x="345" y="15"/>
                    <a:pt x="346" y="14"/>
                  </a:cubicBezTo>
                  <a:cubicBezTo>
                    <a:pt x="346" y="13"/>
                    <a:pt x="347" y="11"/>
                    <a:pt x="346" y="12"/>
                  </a:cubicBezTo>
                  <a:cubicBezTo>
                    <a:pt x="345" y="13"/>
                    <a:pt x="342" y="14"/>
                    <a:pt x="342" y="13"/>
                  </a:cubicBezTo>
                  <a:cubicBezTo>
                    <a:pt x="341" y="13"/>
                    <a:pt x="340" y="12"/>
                    <a:pt x="341" y="12"/>
                  </a:cubicBezTo>
                  <a:cubicBezTo>
                    <a:pt x="342" y="11"/>
                    <a:pt x="342" y="10"/>
                    <a:pt x="344" y="10"/>
                  </a:cubicBezTo>
                  <a:cubicBezTo>
                    <a:pt x="345" y="11"/>
                    <a:pt x="347" y="10"/>
                    <a:pt x="347" y="9"/>
                  </a:cubicBezTo>
                  <a:cubicBezTo>
                    <a:pt x="348" y="9"/>
                    <a:pt x="351" y="6"/>
                    <a:pt x="349" y="5"/>
                  </a:cubicBezTo>
                  <a:cubicBezTo>
                    <a:pt x="347" y="4"/>
                    <a:pt x="338" y="2"/>
                    <a:pt x="338" y="1"/>
                  </a:cubicBezTo>
                  <a:cubicBezTo>
                    <a:pt x="338" y="1"/>
                    <a:pt x="337" y="0"/>
                    <a:pt x="337" y="2"/>
                  </a:cubicBezTo>
                  <a:cubicBezTo>
                    <a:pt x="336" y="4"/>
                    <a:pt x="336" y="6"/>
                    <a:pt x="334" y="6"/>
                  </a:cubicBezTo>
                  <a:cubicBezTo>
                    <a:pt x="333" y="7"/>
                    <a:pt x="330" y="8"/>
                    <a:pt x="332" y="8"/>
                  </a:cubicBezTo>
                  <a:cubicBezTo>
                    <a:pt x="334" y="8"/>
                    <a:pt x="333" y="8"/>
                    <a:pt x="335" y="8"/>
                  </a:cubicBezTo>
                  <a:cubicBezTo>
                    <a:pt x="336" y="8"/>
                    <a:pt x="334" y="10"/>
                    <a:pt x="336" y="10"/>
                  </a:cubicBezTo>
                  <a:cubicBezTo>
                    <a:pt x="337" y="10"/>
                    <a:pt x="336" y="10"/>
                    <a:pt x="334" y="11"/>
                  </a:cubicBezTo>
                  <a:cubicBezTo>
                    <a:pt x="333" y="11"/>
                    <a:pt x="328" y="12"/>
                    <a:pt x="329" y="13"/>
                  </a:cubicBezTo>
                  <a:cubicBezTo>
                    <a:pt x="330" y="13"/>
                    <a:pt x="329" y="14"/>
                    <a:pt x="329" y="14"/>
                  </a:cubicBezTo>
                  <a:cubicBezTo>
                    <a:pt x="330" y="15"/>
                    <a:pt x="332" y="16"/>
                    <a:pt x="331" y="16"/>
                  </a:cubicBezTo>
                  <a:cubicBezTo>
                    <a:pt x="329" y="16"/>
                    <a:pt x="327" y="15"/>
                    <a:pt x="327" y="16"/>
                  </a:cubicBezTo>
                  <a:cubicBezTo>
                    <a:pt x="327" y="17"/>
                    <a:pt x="329" y="19"/>
                    <a:pt x="328" y="19"/>
                  </a:cubicBezTo>
                  <a:cubicBezTo>
                    <a:pt x="326" y="19"/>
                    <a:pt x="324" y="18"/>
                    <a:pt x="324" y="19"/>
                  </a:cubicBezTo>
                  <a:cubicBezTo>
                    <a:pt x="323" y="21"/>
                    <a:pt x="323" y="20"/>
                    <a:pt x="322" y="20"/>
                  </a:cubicBezTo>
                  <a:cubicBezTo>
                    <a:pt x="322" y="21"/>
                    <a:pt x="322" y="22"/>
                    <a:pt x="321" y="21"/>
                  </a:cubicBezTo>
                  <a:cubicBezTo>
                    <a:pt x="321" y="21"/>
                    <a:pt x="320" y="21"/>
                    <a:pt x="320" y="18"/>
                  </a:cubicBezTo>
                  <a:cubicBezTo>
                    <a:pt x="320" y="16"/>
                    <a:pt x="320" y="16"/>
                    <a:pt x="320" y="15"/>
                  </a:cubicBezTo>
                  <a:cubicBezTo>
                    <a:pt x="319" y="14"/>
                    <a:pt x="317" y="14"/>
                    <a:pt x="320" y="13"/>
                  </a:cubicBezTo>
                  <a:cubicBezTo>
                    <a:pt x="322" y="13"/>
                    <a:pt x="323" y="12"/>
                    <a:pt x="323" y="10"/>
                  </a:cubicBezTo>
                  <a:cubicBezTo>
                    <a:pt x="323" y="9"/>
                    <a:pt x="324" y="4"/>
                    <a:pt x="322" y="6"/>
                  </a:cubicBezTo>
                  <a:cubicBezTo>
                    <a:pt x="320" y="8"/>
                    <a:pt x="315" y="12"/>
                    <a:pt x="313" y="13"/>
                  </a:cubicBezTo>
                  <a:cubicBezTo>
                    <a:pt x="311" y="15"/>
                    <a:pt x="311" y="17"/>
                    <a:pt x="310" y="17"/>
                  </a:cubicBezTo>
                  <a:cubicBezTo>
                    <a:pt x="308" y="18"/>
                    <a:pt x="306" y="20"/>
                    <a:pt x="306" y="20"/>
                  </a:cubicBezTo>
                  <a:cubicBezTo>
                    <a:pt x="305" y="21"/>
                    <a:pt x="303" y="22"/>
                    <a:pt x="304" y="23"/>
                  </a:cubicBezTo>
                  <a:cubicBezTo>
                    <a:pt x="305" y="23"/>
                    <a:pt x="305" y="24"/>
                    <a:pt x="304" y="25"/>
                  </a:cubicBezTo>
                  <a:cubicBezTo>
                    <a:pt x="304" y="25"/>
                    <a:pt x="302" y="27"/>
                    <a:pt x="301" y="28"/>
                  </a:cubicBezTo>
                  <a:cubicBezTo>
                    <a:pt x="301" y="29"/>
                    <a:pt x="300" y="29"/>
                    <a:pt x="299" y="28"/>
                  </a:cubicBezTo>
                  <a:cubicBezTo>
                    <a:pt x="298" y="27"/>
                    <a:pt x="298" y="27"/>
                    <a:pt x="298" y="28"/>
                  </a:cubicBezTo>
                  <a:cubicBezTo>
                    <a:pt x="298" y="29"/>
                    <a:pt x="298" y="30"/>
                    <a:pt x="297" y="29"/>
                  </a:cubicBezTo>
                  <a:cubicBezTo>
                    <a:pt x="296" y="27"/>
                    <a:pt x="296" y="27"/>
                    <a:pt x="297" y="25"/>
                  </a:cubicBezTo>
                  <a:cubicBezTo>
                    <a:pt x="298" y="24"/>
                    <a:pt x="299" y="20"/>
                    <a:pt x="299" y="20"/>
                  </a:cubicBezTo>
                  <a:cubicBezTo>
                    <a:pt x="300" y="19"/>
                    <a:pt x="298" y="19"/>
                    <a:pt x="299" y="18"/>
                  </a:cubicBezTo>
                  <a:cubicBezTo>
                    <a:pt x="300" y="17"/>
                    <a:pt x="303" y="15"/>
                    <a:pt x="305" y="14"/>
                  </a:cubicBezTo>
                  <a:cubicBezTo>
                    <a:pt x="307" y="13"/>
                    <a:pt x="308" y="13"/>
                    <a:pt x="308" y="12"/>
                  </a:cubicBezTo>
                  <a:cubicBezTo>
                    <a:pt x="309" y="11"/>
                    <a:pt x="310" y="10"/>
                    <a:pt x="311" y="9"/>
                  </a:cubicBezTo>
                  <a:cubicBezTo>
                    <a:pt x="311" y="9"/>
                    <a:pt x="311" y="8"/>
                    <a:pt x="310" y="8"/>
                  </a:cubicBezTo>
                  <a:cubicBezTo>
                    <a:pt x="308" y="7"/>
                    <a:pt x="301" y="6"/>
                    <a:pt x="300" y="7"/>
                  </a:cubicBezTo>
                  <a:cubicBezTo>
                    <a:pt x="298" y="7"/>
                    <a:pt x="295" y="9"/>
                    <a:pt x="297" y="7"/>
                  </a:cubicBezTo>
                  <a:cubicBezTo>
                    <a:pt x="298" y="6"/>
                    <a:pt x="298" y="5"/>
                    <a:pt x="297" y="6"/>
                  </a:cubicBezTo>
                  <a:cubicBezTo>
                    <a:pt x="295" y="7"/>
                    <a:pt x="295" y="7"/>
                    <a:pt x="295" y="6"/>
                  </a:cubicBezTo>
                  <a:cubicBezTo>
                    <a:pt x="294" y="6"/>
                    <a:pt x="294" y="5"/>
                    <a:pt x="294" y="5"/>
                  </a:cubicBezTo>
                  <a:cubicBezTo>
                    <a:pt x="293" y="6"/>
                    <a:pt x="293" y="5"/>
                    <a:pt x="293" y="5"/>
                  </a:cubicBezTo>
                  <a:cubicBezTo>
                    <a:pt x="293" y="4"/>
                    <a:pt x="291" y="4"/>
                    <a:pt x="291" y="5"/>
                  </a:cubicBezTo>
                  <a:cubicBezTo>
                    <a:pt x="291" y="7"/>
                    <a:pt x="290" y="9"/>
                    <a:pt x="290" y="9"/>
                  </a:cubicBezTo>
                  <a:cubicBezTo>
                    <a:pt x="290" y="9"/>
                    <a:pt x="290" y="10"/>
                    <a:pt x="289" y="9"/>
                  </a:cubicBezTo>
                  <a:cubicBezTo>
                    <a:pt x="289" y="9"/>
                    <a:pt x="289" y="9"/>
                    <a:pt x="288" y="9"/>
                  </a:cubicBezTo>
                  <a:cubicBezTo>
                    <a:pt x="288" y="8"/>
                    <a:pt x="287" y="8"/>
                    <a:pt x="287" y="9"/>
                  </a:cubicBezTo>
                  <a:cubicBezTo>
                    <a:pt x="286" y="10"/>
                    <a:pt x="286" y="10"/>
                    <a:pt x="288" y="11"/>
                  </a:cubicBezTo>
                  <a:cubicBezTo>
                    <a:pt x="289" y="12"/>
                    <a:pt x="294" y="14"/>
                    <a:pt x="292" y="14"/>
                  </a:cubicBezTo>
                  <a:cubicBezTo>
                    <a:pt x="290" y="13"/>
                    <a:pt x="288" y="13"/>
                    <a:pt x="288" y="15"/>
                  </a:cubicBezTo>
                  <a:cubicBezTo>
                    <a:pt x="287" y="16"/>
                    <a:pt x="286" y="17"/>
                    <a:pt x="287" y="18"/>
                  </a:cubicBezTo>
                  <a:cubicBezTo>
                    <a:pt x="288" y="18"/>
                    <a:pt x="288" y="20"/>
                    <a:pt x="286" y="19"/>
                  </a:cubicBezTo>
                  <a:cubicBezTo>
                    <a:pt x="283" y="18"/>
                    <a:pt x="282" y="18"/>
                    <a:pt x="280" y="19"/>
                  </a:cubicBezTo>
                  <a:cubicBezTo>
                    <a:pt x="278" y="20"/>
                    <a:pt x="276" y="21"/>
                    <a:pt x="276" y="22"/>
                  </a:cubicBezTo>
                  <a:cubicBezTo>
                    <a:pt x="275" y="22"/>
                    <a:pt x="272" y="24"/>
                    <a:pt x="272" y="25"/>
                  </a:cubicBezTo>
                  <a:cubicBezTo>
                    <a:pt x="273" y="25"/>
                    <a:pt x="275" y="25"/>
                    <a:pt x="273" y="26"/>
                  </a:cubicBezTo>
                  <a:cubicBezTo>
                    <a:pt x="271" y="26"/>
                    <a:pt x="271" y="26"/>
                    <a:pt x="272" y="27"/>
                  </a:cubicBezTo>
                  <a:cubicBezTo>
                    <a:pt x="273" y="28"/>
                    <a:pt x="273" y="28"/>
                    <a:pt x="272" y="29"/>
                  </a:cubicBezTo>
                  <a:cubicBezTo>
                    <a:pt x="271" y="29"/>
                    <a:pt x="270" y="30"/>
                    <a:pt x="272" y="30"/>
                  </a:cubicBezTo>
                  <a:cubicBezTo>
                    <a:pt x="274" y="31"/>
                    <a:pt x="277" y="31"/>
                    <a:pt x="275" y="32"/>
                  </a:cubicBezTo>
                  <a:cubicBezTo>
                    <a:pt x="273" y="32"/>
                    <a:pt x="272" y="32"/>
                    <a:pt x="272" y="33"/>
                  </a:cubicBezTo>
                  <a:cubicBezTo>
                    <a:pt x="271" y="33"/>
                    <a:pt x="269" y="34"/>
                    <a:pt x="270" y="33"/>
                  </a:cubicBezTo>
                  <a:cubicBezTo>
                    <a:pt x="270" y="32"/>
                    <a:pt x="270" y="32"/>
                    <a:pt x="269" y="31"/>
                  </a:cubicBezTo>
                  <a:cubicBezTo>
                    <a:pt x="268" y="31"/>
                    <a:pt x="267" y="31"/>
                    <a:pt x="268" y="30"/>
                  </a:cubicBezTo>
                  <a:cubicBezTo>
                    <a:pt x="268" y="29"/>
                    <a:pt x="268" y="28"/>
                    <a:pt x="267" y="29"/>
                  </a:cubicBezTo>
                  <a:cubicBezTo>
                    <a:pt x="266" y="29"/>
                    <a:pt x="264" y="29"/>
                    <a:pt x="263" y="30"/>
                  </a:cubicBezTo>
                  <a:cubicBezTo>
                    <a:pt x="262" y="30"/>
                    <a:pt x="261" y="30"/>
                    <a:pt x="260" y="30"/>
                  </a:cubicBezTo>
                  <a:cubicBezTo>
                    <a:pt x="260" y="30"/>
                    <a:pt x="259" y="29"/>
                    <a:pt x="263" y="29"/>
                  </a:cubicBezTo>
                  <a:cubicBezTo>
                    <a:pt x="266" y="28"/>
                    <a:pt x="265" y="28"/>
                    <a:pt x="266" y="27"/>
                  </a:cubicBezTo>
                  <a:cubicBezTo>
                    <a:pt x="267" y="27"/>
                    <a:pt x="267" y="26"/>
                    <a:pt x="265" y="26"/>
                  </a:cubicBezTo>
                  <a:cubicBezTo>
                    <a:pt x="263" y="25"/>
                    <a:pt x="260" y="24"/>
                    <a:pt x="259" y="25"/>
                  </a:cubicBezTo>
                  <a:cubicBezTo>
                    <a:pt x="258" y="26"/>
                    <a:pt x="257" y="27"/>
                    <a:pt x="258" y="27"/>
                  </a:cubicBezTo>
                  <a:cubicBezTo>
                    <a:pt x="259" y="28"/>
                    <a:pt x="260" y="28"/>
                    <a:pt x="259" y="28"/>
                  </a:cubicBezTo>
                  <a:cubicBezTo>
                    <a:pt x="258" y="28"/>
                    <a:pt x="256" y="28"/>
                    <a:pt x="256" y="28"/>
                  </a:cubicBezTo>
                  <a:cubicBezTo>
                    <a:pt x="256" y="27"/>
                    <a:pt x="255" y="27"/>
                    <a:pt x="255" y="27"/>
                  </a:cubicBezTo>
                  <a:cubicBezTo>
                    <a:pt x="254" y="27"/>
                    <a:pt x="242" y="26"/>
                    <a:pt x="242" y="26"/>
                  </a:cubicBezTo>
                  <a:cubicBezTo>
                    <a:pt x="242" y="26"/>
                    <a:pt x="240" y="25"/>
                    <a:pt x="241" y="26"/>
                  </a:cubicBezTo>
                  <a:cubicBezTo>
                    <a:pt x="243" y="27"/>
                    <a:pt x="245" y="27"/>
                    <a:pt x="246" y="28"/>
                  </a:cubicBezTo>
                  <a:cubicBezTo>
                    <a:pt x="246" y="29"/>
                    <a:pt x="246" y="29"/>
                    <a:pt x="246" y="29"/>
                  </a:cubicBezTo>
                  <a:cubicBezTo>
                    <a:pt x="247" y="29"/>
                    <a:pt x="247" y="30"/>
                    <a:pt x="248" y="30"/>
                  </a:cubicBezTo>
                  <a:cubicBezTo>
                    <a:pt x="248" y="30"/>
                    <a:pt x="252" y="30"/>
                    <a:pt x="253" y="29"/>
                  </a:cubicBezTo>
                  <a:cubicBezTo>
                    <a:pt x="254" y="28"/>
                    <a:pt x="254" y="28"/>
                    <a:pt x="254" y="29"/>
                  </a:cubicBezTo>
                  <a:cubicBezTo>
                    <a:pt x="254" y="30"/>
                    <a:pt x="255" y="32"/>
                    <a:pt x="254" y="33"/>
                  </a:cubicBezTo>
                  <a:cubicBezTo>
                    <a:pt x="252" y="34"/>
                    <a:pt x="252" y="34"/>
                    <a:pt x="252" y="35"/>
                  </a:cubicBezTo>
                  <a:cubicBezTo>
                    <a:pt x="253" y="35"/>
                    <a:pt x="254" y="35"/>
                    <a:pt x="253" y="35"/>
                  </a:cubicBezTo>
                  <a:cubicBezTo>
                    <a:pt x="252" y="36"/>
                    <a:pt x="252" y="36"/>
                    <a:pt x="253" y="36"/>
                  </a:cubicBezTo>
                  <a:cubicBezTo>
                    <a:pt x="253" y="37"/>
                    <a:pt x="255" y="39"/>
                    <a:pt x="253" y="37"/>
                  </a:cubicBezTo>
                  <a:cubicBezTo>
                    <a:pt x="250" y="36"/>
                    <a:pt x="243" y="33"/>
                    <a:pt x="242" y="33"/>
                  </a:cubicBezTo>
                  <a:cubicBezTo>
                    <a:pt x="242" y="32"/>
                    <a:pt x="241" y="32"/>
                    <a:pt x="242" y="33"/>
                  </a:cubicBezTo>
                  <a:cubicBezTo>
                    <a:pt x="242" y="35"/>
                    <a:pt x="241" y="36"/>
                    <a:pt x="240" y="36"/>
                  </a:cubicBezTo>
                  <a:cubicBezTo>
                    <a:pt x="239" y="36"/>
                    <a:pt x="238" y="36"/>
                    <a:pt x="238" y="35"/>
                  </a:cubicBezTo>
                  <a:cubicBezTo>
                    <a:pt x="238" y="34"/>
                    <a:pt x="237" y="34"/>
                    <a:pt x="237" y="34"/>
                  </a:cubicBezTo>
                  <a:cubicBezTo>
                    <a:pt x="237" y="34"/>
                    <a:pt x="230" y="37"/>
                    <a:pt x="230" y="38"/>
                  </a:cubicBezTo>
                  <a:cubicBezTo>
                    <a:pt x="231" y="40"/>
                    <a:pt x="232" y="42"/>
                    <a:pt x="232" y="42"/>
                  </a:cubicBezTo>
                  <a:cubicBezTo>
                    <a:pt x="232" y="43"/>
                    <a:pt x="234" y="44"/>
                    <a:pt x="232" y="43"/>
                  </a:cubicBezTo>
                  <a:cubicBezTo>
                    <a:pt x="231" y="43"/>
                    <a:pt x="230" y="42"/>
                    <a:pt x="230" y="43"/>
                  </a:cubicBezTo>
                  <a:cubicBezTo>
                    <a:pt x="229" y="45"/>
                    <a:pt x="227" y="48"/>
                    <a:pt x="224" y="50"/>
                  </a:cubicBezTo>
                  <a:cubicBezTo>
                    <a:pt x="222" y="51"/>
                    <a:pt x="222" y="50"/>
                    <a:pt x="224" y="48"/>
                  </a:cubicBezTo>
                  <a:cubicBezTo>
                    <a:pt x="226" y="46"/>
                    <a:pt x="227" y="45"/>
                    <a:pt x="227" y="45"/>
                  </a:cubicBezTo>
                  <a:cubicBezTo>
                    <a:pt x="227" y="44"/>
                    <a:pt x="227" y="44"/>
                    <a:pt x="228" y="43"/>
                  </a:cubicBezTo>
                  <a:cubicBezTo>
                    <a:pt x="228" y="43"/>
                    <a:pt x="229" y="41"/>
                    <a:pt x="228" y="41"/>
                  </a:cubicBezTo>
                  <a:cubicBezTo>
                    <a:pt x="228" y="40"/>
                    <a:pt x="227" y="39"/>
                    <a:pt x="228" y="38"/>
                  </a:cubicBezTo>
                  <a:cubicBezTo>
                    <a:pt x="229" y="36"/>
                    <a:pt x="230" y="35"/>
                    <a:pt x="229" y="34"/>
                  </a:cubicBezTo>
                  <a:cubicBezTo>
                    <a:pt x="228" y="32"/>
                    <a:pt x="228" y="32"/>
                    <a:pt x="227" y="33"/>
                  </a:cubicBezTo>
                  <a:cubicBezTo>
                    <a:pt x="226" y="34"/>
                    <a:pt x="225" y="34"/>
                    <a:pt x="225" y="33"/>
                  </a:cubicBezTo>
                  <a:cubicBezTo>
                    <a:pt x="225" y="33"/>
                    <a:pt x="225" y="33"/>
                    <a:pt x="225" y="34"/>
                  </a:cubicBezTo>
                  <a:cubicBezTo>
                    <a:pt x="224" y="35"/>
                    <a:pt x="223" y="38"/>
                    <a:pt x="223" y="37"/>
                  </a:cubicBezTo>
                  <a:cubicBezTo>
                    <a:pt x="224" y="36"/>
                    <a:pt x="223" y="35"/>
                    <a:pt x="223" y="36"/>
                  </a:cubicBezTo>
                  <a:cubicBezTo>
                    <a:pt x="222" y="36"/>
                    <a:pt x="218" y="40"/>
                    <a:pt x="221" y="41"/>
                  </a:cubicBezTo>
                  <a:cubicBezTo>
                    <a:pt x="224" y="43"/>
                    <a:pt x="224" y="43"/>
                    <a:pt x="223" y="43"/>
                  </a:cubicBezTo>
                  <a:cubicBezTo>
                    <a:pt x="223" y="43"/>
                    <a:pt x="219" y="46"/>
                    <a:pt x="218" y="46"/>
                  </a:cubicBezTo>
                  <a:cubicBezTo>
                    <a:pt x="217" y="47"/>
                    <a:pt x="217" y="47"/>
                    <a:pt x="218" y="46"/>
                  </a:cubicBezTo>
                  <a:cubicBezTo>
                    <a:pt x="219" y="45"/>
                    <a:pt x="218" y="45"/>
                    <a:pt x="218" y="44"/>
                  </a:cubicBezTo>
                  <a:cubicBezTo>
                    <a:pt x="219" y="43"/>
                    <a:pt x="219" y="43"/>
                    <a:pt x="219" y="43"/>
                  </a:cubicBezTo>
                  <a:cubicBezTo>
                    <a:pt x="219" y="42"/>
                    <a:pt x="220" y="42"/>
                    <a:pt x="219" y="41"/>
                  </a:cubicBezTo>
                  <a:cubicBezTo>
                    <a:pt x="219" y="39"/>
                    <a:pt x="218" y="39"/>
                    <a:pt x="219" y="38"/>
                  </a:cubicBezTo>
                  <a:cubicBezTo>
                    <a:pt x="219" y="37"/>
                    <a:pt x="220" y="36"/>
                    <a:pt x="218" y="37"/>
                  </a:cubicBezTo>
                  <a:cubicBezTo>
                    <a:pt x="216" y="37"/>
                    <a:pt x="214" y="37"/>
                    <a:pt x="213" y="37"/>
                  </a:cubicBezTo>
                  <a:cubicBezTo>
                    <a:pt x="212" y="37"/>
                    <a:pt x="210" y="39"/>
                    <a:pt x="209" y="40"/>
                  </a:cubicBezTo>
                  <a:cubicBezTo>
                    <a:pt x="208" y="41"/>
                    <a:pt x="207" y="42"/>
                    <a:pt x="209" y="42"/>
                  </a:cubicBezTo>
                  <a:cubicBezTo>
                    <a:pt x="211" y="43"/>
                    <a:pt x="213" y="44"/>
                    <a:pt x="212" y="44"/>
                  </a:cubicBezTo>
                  <a:cubicBezTo>
                    <a:pt x="210" y="44"/>
                    <a:pt x="208" y="44"/>
                    <a:pt x="209" y="45"/>
                  </a:cubicBezTo>
                  <a:cubicBezTo>
                    <a:pt x="210" y="46"/>
                    <a:pt x="210" y="48"/>
                    <a:pt x="209" y="47"/>
                  </a:cubicBezTo>
                  <a:cubicBezTo>
                    <a:pt x="208" y="46"/>
                    <a:pt x="204" y="45"/>
                    <a:pt x="203" y="45"/>
                  </a:cubicBezTo>
                  <a:cubicBezTo>
                    <a:pt x="202" y="44"/>
                    <a:pt x="201" y="44"/>
                    <a:pt x="202" y="45"/>
                  </a:cubicBezTo>
                  <a:cubicBezTo>
                    <a:pt x="203" y="46"/>
                    <a:pt x="204" y="48"/>
                    <a:pt x="206" y="48"/>
                  </a:cubicBezTo>
                  <a:cubicBezTo>
                    <a:pt x="207" y="49"/>
                    <a:pt x="209" y="50"/>
                    <a:pt x="207" y="51"/>
                  </a:cubicBezTo>
                  <a:cubicBezTo>
                    <a:pt x="205" y="51"/>
                    <a:pt x="201" y="51"/>
                    <a:pt x="201" y="49"/>
                  </a:cubicBezTo>
                  <a:cubicBezTo>
                    <a:pt x="200" y="48"/>
                    <a:pt x="200" y="48"/>
                    <a:pt x="199" y="48"/>
                  </a:cubicBezTo>
                  <a:cubicBezTo>
                    <a:pt x="199" y="48"/>
                    <a:pt x="198" y="48"/>
                    <a:pt x="199" y="47"/>
                  </a:cubicBezTo>
                  <a:cubicBezTo>
                    <a:pt x="199" y="46"/>
                    <a:pt x="199" y="46"/>
                    <a:pt x="198" y="46"/>
                  </a:cubicBezTo>
                  <a:cubicBezTo>
                    <a:pt x="197" y="46"/>
                    <a:pt x="197" y="46"/>
                    <a:pt x="197" y="46"/>
                  </a:cubicBezTo>
                  <a:cubicBezTo>
                    <a:pt x="196" y="47"/>
                    <a:pt x="193" y="50"/>
                    <a:pt x="194" y="51"/>
                  </a:cubicBezTo>
                  <a:cubicBezTo>
                    <a:pt x="195" y="52"/>
                    <a:pt x="195" y="53"/>
                    <a:pt x="194" y="53"/>
                  </a:cubicBezTo>
                  <a:cubicBezTo>
                    <a:pt x="194" y="53"/>
                    <a:pt x="192" y="55"/>
                    <a:pt x="190" y="55"/>
                  </a:cubicBezTo>
                  <a:cubicBezTo>
                    <a:pt x="189" y="55"/>
                    <a:pt x="188" y="55"/>
                    <a:pt x="188" y="56"/>
                  </a:cubicBezTo>
                  <a:cubicBezTo>
                    <a:pt x="188" y="58"/>
                    <a:pt x="188" y="59"/>
                    <a:pt x="189" y="60"/>
                  </a:cubicBezTo>
                  <a:cubicBezTo>
                    <a:pt x="191" y="61"/>
                    <a:pt x="191" y="61"/>
                    <a:pt x="190" y="61"/>
                  </a:cubicBezTo>
                  <a:cubicBezTo>
                    <a:pt x="189" y="62"/>
                    <a:pt x="186" y="62"/>
                    <a:pt x="187" y="62"/>
                  </a:cubicBezTo>
                  <a:cubicBezTo>
                    <a:pt x="188" y="63"/>
                    <a:pt x="192" y="65"/>
                    <a:pt x="190" y="64"/>
                  </a:cubicBezTo>
                  <a:cubicBezTo>
                    <a:pt x="187" y="64"/>
                    <a:pt x="185" y="62"/>
                    <a:pt x="186" y="64"/>
                  </a:cubicBezTo>
                  <a:cubicBezTo>
                    <a:pt x="186" y="65"/>
                    <a:pt x="186" y="66"/>
                    <a:pt x="187" y="66"/>
                  </a:cubicBezTo>
                  <a:cubicBezTo>
                    <a:pt x="188" y="66"/>
                    <a:pt x="188" y="66"/>
                    <a:pt x="187" y="66"/>
                  </a:cubicBezTo>
                  <a:cubicBezTo>
                    <a:pt x="186" y="66"/>
                    <a:pt x="182" y="65"/>
                    <a:pt x="181" y="66"/>
                  </a:cubicBezTo>
                  <a:cubicBezTo>
                    <a:pt x="180" y="66"/>
                    <a:pt x="174" y="69"/>
                    <a:pt x="174" y="69"/>
                  </a:cubicBezTo>
                  <a:cubicBezTo>
                    <a:pt x="173" y="69"/>
                    <a:pt x="172" y="70"/>
                    <a:pt x="172" y="71"/>
                  </a:cubicBezTo>
                  <a:cubicBezTo>
                    <a:pt x="172" y="72"/>
                    <a:pt x="172" y="72"/>
                    <a:pt x="173" y="72"/>
                  </a:cubicBezTo>
                  <a:cubicBezTo>
                    <a:pt x="175" y="72"/>
                    <a:pt x="180" y="72"/>
                    <a:pt x="181" y="72"/>
                  </a:cubicBezTo>
                  <a:cubicBezTo>
                    <a:pt x="182" y="72"/>
                    <a:pt x="183" y="72"/>
                    <a:pt x="184" y="71"/>
                  </a:cubicBezTo>
                  <a:cubicBezTo>
                    <a:pt x="185" y="70"/>
                    <a:pt x="187" y="70"/>
                    <a:pt x="188" y="71"/>
                  </a:cubicBezTo>
                  <a:cubicBezTo>
                    <a:pt x="189" y="73"/>
                    <a:pt x="190" y="73"/>
                    <a:pt x="190" y="73"/>
                  </a:cubicBezTo>
                  <a:cubicBezTo>
                    <a:pt x="191" y="73"/>
                    <a:pt x="191" y="73"/>
                    <a:pt x="190" y="74"/>
                  </a:cubicBezTo>
                  <a:cubicBezTo>
                    <a:pt x="189" y="74"/>
                    <a:pt x="185" y="76"/>
                    <a:pt x="185" y="77"/>
                  </a:cubicBezTo>
                  <a:cubicBezTo>
                    <a:pt x="184" y="77"/>
                    <a:pt x="185" y="79"/>
                    <a:pt x="183" y="78"/>
                  </a:cubicBezTo>
                  <a:cubicBezTo>
                    <a:pt x="182" y="76"/>
                    <a:pt x="180" y="73"/>
                    <a:pt x="179" y="74"/>
                  </a:cubicBezTo>
                  <a:cubicBezTo>
                    <a:pt x="178" y="75"/>
                    <a:pt x="175" y="77"/>
                    <a:pt x="175" y="77"/>
                  </a:cubicBezTo>
                  <a:cubicBezTo>
                    <a:pt x="175" y="77"/>
                    <a:pt x="173" y="78"/>
                    <a:pt x="174" y="78"/>
                  </a:cubicBezTo>
                  <a:cubicBezTo>
                    <a:pt x="175" y="79"/>
                    <a:pt x="175" y="79"/>
                    <a:pt x="174" y="79"/>
                  </a:cubicBezTo>
                  <a:cubicBezTo>
                    <a:pt x="173" y="79"/>
                    <a:pt x="172" y="78"/>
                    <a:pt x="172" y="78"/>
                  </a:cubicBezTo>
                  <a:cubicBezTo>
                    <a:pt x="172" y="79"/>
                    <a:pt x="173" y="79"/>
                    <a:pt x="172" y="79"/>
                  </a:cubicBezTo>
                  <a:cubicBezTo>
                    <a:pt x="171" y="80"/>
                    <a:pt x="168" y="82"/>
                    <a:pt x="170" y="81"/>
                  </a:cubicBezTo>
                  <a:cubicBezTo>
                    <a:pt x="171" y="81"/>
                    <a:pt x="172" y="80"/>
                    <a:pt x="172" y="81"/>
                  </a:cubicBezTo>
                  <a:cubicBezTo>
                    <a:pt x="173" y="81"/>
                    <a:pt x="173" y="82"/>
                    <a:pt x="172" y="82"/>
                  </a:cubicBezTo>
                  <a:cubicBezTo>
                    <a:pt x="170" y="82"/>
                    <a:pt x="169" y="82"/>
                    <a:pt x="170" y="82"/>
                  </a:cubicBezTo>
                  <a:cubicBezTo>
                    <a:pt x="172" y="83"/>
                    <a:pt x="171" y="83"/>
                    <a:pt x="171" y="84"/>
                  </a:cubicBezTo>
                  <a:cubicBezTo>
                    <a:pt x="172" y="84"/>
                    <a:pt x="171" y="85"/>
                    <a:pt x="171" y="85"/>
                  </a:cubicBezTo>
                  <a:cubicBezTo>
                    <a:pt x="170" y="86"/>
                    <a:pt x="168" y="85"/>
                    <a:pt x="169" y="86"/>
                  </a:cubicBezTo>
                  <a:cubicBezTo>
                    <a:pt x="169" y="86"/>
                    <a:pt x="171" y="87"/>
                    <a:pt x="170" y="87"/>
                  </a:cubicBezTo>
                  <a:cubicBezTo>
                    <a:pt x="169" y="87"/>
                    <a:pt x="167" y="87"/>
                    <a:pt x="167" y="85"/>
                  </a:cubicBezTo>
                  <a:cubicBezTo>
                    <a:pt x="166" y="84"/>
                    <a:pt x="166" y="81"/>
                    <a:pt x="166" y="80"/>
                  </a:cubicBezTo>
                  <a:cubicBezTo>
                    <a:pt x="166" y="80"/>
                    <a:pt x="165" y="77"/>
                    <a:pt x="163" y="78"/>
                  </a:cubicBezTo>
                  <a:cubicBezTo>
                    <a:pt x="162" y="79"/>
                    <a:pt x="161" y="80"/>
                    <a:pt x="160" y="81"/>
                  </a:cubicBezTo>
                  <a:cubicBezTo>
                    <a:pt x="159" y="82"/>
                    <a:pt x="158" y="82"/>
                    <a:pt x="159" y="81"/>
                  </a:cubicBezTo>
                  <a:cubicBezTo>
                    <a:pt x="159" y="79"/>
                    <a:pt x="160" y="79"/>
                    <a:pt x="159" y="79"/>
                  </a:cubicBezTo>
                  <a:cubicBezTo>
                    <a:pt x="157" y="79"/>
                    <a:pt x="158" y="80"/>
                    <a:pt x="157" y="80"/>
                  </a:cubicBezTo>
                  <a:cubicBezTo>
                    <a:pt x="157" y="81"/>
                    <a:pt x="156" y="80"/>
                    <a:pt x="156" y="80"/>
                  </a:cubicBezTo>
                  <a:cubicBezTo>
                    <a:pt x="156" y="80"/>
                    <a:pt x="155" y="80"/>
                    <a:pt x="155" y="81"/>
                  </a:cubicBezTo>
                  <a:cubicBezTo>
                    <a:pt x="154" y="81"/>
                    <a:pt x="153" y="82"/>
                    <a:pt x="155" y="82"/>
                  </a:cubicBezTo>
                  <a:cubicBezTo>
                    <a:pt x="157" y="82"/>
                    <a:pt x="160" y="83"/>
                    <a:pt x="161" y="83"/>
                  </a:cubicBezTo>
                  <a:cubicBezTo>
                    <a:pt x="161" y="83"/>
                    <a:pt x="163" y="83"/>
                    <a:pt x="161" y="84"/>
                  </a:cubicBezTo>
                  <a:cubicBezTo>
                    <a:pt x="159" y="85"/>
                    <a:pt x="157" y="86"/>
                    <a:pt x="156" y="86"/>
                  </a:cubicBezTo>
                  <a:cubicBezTo>
                    <a:pt x="155" y="86"/>
                    <a:pt x="154" y="86"/>
                    <a:pt x="153" y="86"/>
                  </a:cubicBezTo>
                  <a:cubicBezTo>
                    <a:pt x="153" y="87"/>
                    <a:pt x="152" y="88"/>
                    <a:pt x="152" y="87"/>
                  </a:cubicBezTo>
                  <a:cubicBezTo>
                    <a:pt x="152" y="86"/>
                    <a:pt x="149" y="86"/>
                    <a:pt x="148" y="86"/>
                  </a:cubicBezTo>
                  <a:cubicBezTo>
                    <a:pt x="146" y="87"/>
                    <a:pt x="147" y="87"/>
                    <a:pt x="146" y="88"/>
                  </a:cubicBezTo>
                  <a:cubicBezTo>
                    <a:pt x="145" y="89"/>
                    <a:pt x="146" y="89"/>
                    <a:pt x="146" y="89"/>
                  </a:cubicBezTo>
                  <a:cubicBezTo>
                    <a:pt x="146" y="90"/>
                    <a:pt x="147" y="91"/>
                    <a:pt x="146" y="91"/>
                  </a:cubicBezTo>
                  <a:cubicBezTo>
                    <a:pt x="146" y="91"/>
                    <a:pt x="146" y="92"/>
                    <a:pt x="147" y="91"/>
                  </a:cubicBezTo>
                  <a:cubicBezTo>
                    <a:pt x="148" y="91"/>
                    <a:pt x="153" y="89"/>
                    <a:pt x="153" y="89"/>
                  </a:cubicBezTo>
                  <a:cubicBezTo>
                    <a:pt x="154" y="88"/>
                    <a:pt x="154" y="87"/>
                    <a:pt x="155" y="88"/>
                  </a:cubicBezTo>
                  <a:cubicBezTo>
                    <a:pt x="156" y="88"/>
                    <a:pt x="160" y="90"/>
                    <a:pt x="158" y="90"/>
                  </a:cubicBezTo>
                  <a:cubicBezTo>
                    <a:pt x="155" y="90"/>
                    <a:pt x="153" y="92"/>
                    <a:pt x="153" y="92"/>
                  </a:cubicBezTo>
                  <a:cubicBezTo>
                    <a:pt x="152" y="93"/>
                    <a:pt x="152" y="93"/>
                    <a:pt x="153" y="93"/>
                  </a:cubicBezTo>
                  <a:cubicBezTo>
                    <a:pt x="155" y="93"/>
                    <a:pt x="155" y="93"/>
                    <a:pt x="156" y="94"/>
                  </a:cubicBezTo>
                  <a:cubicBezTo>
                    <a:pt x="156" y="95"/>
                    <a:pt x="157" y="96"/>
                    <a:pt x="158" y="96"/>
                  </a:cubicBezTo>
                  <a:cubicBezTo>
                    <a:pt x="158" y="95"/>
                    <a:pt x="165" y="93"/>
                    <a:pt x="160" y="96"/>
                  </a:cubicBezTo>
                  <a:cubicBezTo>
                    <a:pt x="160" y="96"/>
                    <a:pt x="157" y="98"/>
                    <a:pt x="159" y="99"/>
                  </a:cubicBezTo>
                  <a:cubicBezTo>
                    <a:pt x="161" y="100"/>
                    <a:pt x="159" y="99"/>
                    <a:pt x="158" y="99"/>
                  </a:cubicBezTo>
                  <a:cubicBezTo>
                    <a:pt x="157" y="99"/>
                    <a:pt x="152" y="96"/>
                    <a:pt x="151" y="96"/>
                  </a:cubicBezTo>
                  <a:cubicBezTo>
                    <a:pt x="150" y="96"/>
                    <a:pt x="148" y="97"/>
                    <a:pt x="150" y="95"/>
                  </a:cubicBezTo>
                  <a:cubicBezTo>
                    <a:pt x="151" y="94"/>
                    <a:pt x="150" y="94"/>
                    <a:pt x="148" y="95"/>
                  </a:cubicBezTo>
                  <a:cubicBezTo>
                    <a:pt x="147" y="95"/>
                    <a:pt x="145" y="96"/>
                    <a:pt x="145" y="96"/>
                  </a:cubicBezTo>
                  <a:cubicBezTo>
                    <a:pt x="145" y="97"/>
                    <a:pt x="144" y="97"/>
                    <a:pt x="146" y="97"/>
                  </a:cubicBezTo>
                  <a:cubicBezTo>
                    <a:pt x="148" y="97"/>
                    <a:pt x="150" y="97"/>
                    <a:pt x="149" y="98"/>
                  </a:cubicBezTo>
                  <a:cubicBezTo>
                    <a:pt x="147" y="99"/>
                    <a:pt x="147" y="99"/>
                    <a:pt x="146" y="98"/>
                  </a:cubicBezTo>
                  <a:cubicBezTo>
                    <a:pt x="146" y="98"/>
                    <a:pt x="145" y="98"/>
                    <a:pt x="144" y="99"/>
                  </a:cubicBezTo>
                  <a:cubicBezTo>
                    <a:pt x="143" y="100"/>
                    <a:pt x="142" y="101"/>
                    <a:pt x="141" y="101"/>
                  </a:cubicBezTo>
                  <a:cubicBezTo>
                    <a:pt x="140" y="102"/>
                    <a:pt x="139" y="102"/>
                    <a:pt x="141" y="102"/>
                  </a:cubicBezTo>
                  <a:cubicBezTo>
                    <a:pt x="144" y="102"/>
                    <a:pt x="148" y="101"/>
                    <a:pt x="148" y="101"/>
                  </a:cubicBezTo>
                  <a:cubicBezTo>
                    <a:pt x="148" y="101"/>
                    <a:pt x="150" y="101"/>
                    <a:pt x="152" y="102"/>
                  </a:cubicBezTo>
                  <a:cubicBezTo>
                    <a:pt x="154" y="103"/>
                    <a:pt x="156" y="104"/>
                    <a:pt x="156" y="104"/>
                  </a:cubicBezTo>
                  <a:cubicBezTo>
                    <a:pt x="156" y="105"/>
                    <a:pt x="156" y="107"/>
                    <a:pt x="155" y="105"/>
                  </a:cubicBezTo>
                  <a:cubicBezTo>
                    <a:pt x="155" y="105"/>
                    <a:pt x="154" y="104"/>
                    <a:pt x="152" y="104"/>
                  </a:cubicBezTo>
                  <a:cubicBezTo>
                    <a:pt x="150" y="104"/>
                    <a:pt x="148" y="103"/>
                    <a:pt x="147" y="104"/>
                  </a:cubicBezTo>
                  <a:cubicBezTo>
                    <a:pt x="146" y="104"/>
                    <a:pt x="144" y="104"/>
                    <a:pt x="143" y="104"/>
                  </a:cubicBezTo>
                  <a:cubicBezTo>
                    <a:pt x="142" y="104"/>
                    <a:pt x="139" y="104"/>
                    <a:pt x="139" y="105"/>
                  </a:cubicBezTo>
                  <a:cubicBezTo>
                    <a:pt x="139" y="106"/>
                    <a:pt x="139" y="107"/>
                    <a:pt x="141" y="107"/>
                  </a:cubicBezTo>
                  <a:cubicBezTo>
                    <a:pt x="143" y="107"/>
                    <a:pt x="143" y="107"/>
                    <a:pt x="140" y="107"/>
                  </a:cubicBezTo>
                  <a:cubicBezTo>
                    <a:pt x="138" y="107"/>
                    <a:pt x="135" y="109"/>
                    <a:pt x="134" y="109"/>
                  </a:cubicBezTo>
                  <a:cubicBezTo>
                    <a:pt x="133" y="109"/>
                    <a:pt x="130" y="110"/>
                    <a:pt x="129" y="110"/>
                  </a:cubicBezTo>
                  <a:cubicBezTo>
                    <a:pt x="129" y="110"/>
                    <a:pt x="128" y="110"/>
                    <a:pt x="130" y="112"/>
                  </a:cubicBezTo>
                  <a:cubicBezTo>
                    <a:pt x="132" y="113"/>
                    <a:pt x="132" y="113"/>
                    <a:pt x="133" y="113"/>
                  </a:cubicBezTo>
                  <a:cubicBezTo>
                    <a:pt x="134" y="113"/>
                    <a:pt x="134" y="114"/>
                    <a:pt x="132" y="114"/>
                  </a:cubicBezTo>
                  <a:cubicBezTo>
                    <a:pt x="129" y="115"/>
                    <a:pt x="124" y="115"/>
                    <a:pt x="126" y="116"/>
                  </a:cubicBezTo>
                  <a:cubicBezTo>
                    <a:pt x="127" y="116"/>
                    <a:pt x="127" y="117"/>
                    <a:pt x="126" y="117"/>
                  </a:cubicBezTo>
                  <a:cubicBezTo>
                    <a:pt x="125" y="117"/>
                    <a:pt x="123" y="117"/>
                    <a:pt x="124" y="118"/>
                  </a:cubicBezTo>
                  <a:cubicBezTo>
                    <a:pt x="125" y="118"/>
                    <a:pt x="125" y="119"/>
                    <a:pt x="125" y="119"/>
                  </a:cubicBezTo>
                  <a:cubicBezTo>
                    <a:pt x="125" y="119"/>
                    <a:pt x="124" y="121"/>
                    <a:pt x="126" y="120"/>
                  </a:cubicBezTo>
                  <a:cubicBezTo>
                    <a:pt x="128" y="119"/>
                    <a:pt x="130" y="118"/>
                    <a:pt x="130" y="119"/>
                  </a:cubicBezTo>
                  <a:cubicBezTo>
                    <a:pt x="130" y="120"/>
                    <a:pt x="129" y="121"/>
                    <a:pt x="128" y="121"/>
                  </a:cubicBezTo>
                  <a:cubicBezTo>
                    <a:pt x="127" y="121"/>
                    <a:pt x="121" y="121"/>
                    <a:pt x="121" y="121"/>
                  </a:cubicBezTo>
                  <a:cubicBezTo>
                    <a:pt x="121" y="121"/>
                    <a:pt x="120" y="121"/>
                    <a:pt x="119" y="122"/>
                  </a:cubicBezTo>
                  <a:cubicBezTo>
                    <a:pt x="119" y="124"/>
                    <a:pt x="119" y="125"/>
                    <a:pt x="121" y="126"/>
                  </a:cubicBezTo>
                  <a:cubicBezTo>
                    <a:pt x="124" y="127"/>
                    <a:pt x="123" y="127"/>
                    <a:pt x="122" y="127"/>
                  </a:cubicBezTo>
                  <a:cubicBezTo>
                    <a:pt x="121" y="128"/>
                    <a:pt x="119" y="129"/>
                    <a:pt x="120" y="129"/>
                  </a:cubicBezTo>
                  <a:cubicBezTo>
                    <a:pt x="121" y="129"/>
                    <a:pt x="124" y="128"/>
                    <a:pt x="126" y="127"/>
                  </a:cubicBezTo>
                  <a:cubicBezTo>
                    <a:pt x="127" y="127"/>
                    <a:pt x="132" y="126"/>
                    <a:pt x="133" y="126"/>
                  </a:cubicBezTo>
                  <a:cubicBezTo>
                    <a:pt x="134" y="126"/>
                    <a:pt x="136" y="125"/>
                    <a:pt x="134" y="127"/>
                  </a:cubicBezTo>
                  <a:cubicBezTo>
                    <a:pt x="131" y="129"/>
                    <a:pt x="129" y="130"/>
                    <a:pt x="128" y="129"/>
                  </a:cubicBezTo>
                  <a:cubicBezTo>
                    <a:pt x="126" y="128"/>
                    <a:pt x="126" y="128"/>
                    <a:pt x="124" y="129"/>
                  </a:cubicBezTo>
                  <a:cubicBezTo>
                    <a:pt x="122" y="130"/>
                    <a:pt x="120" y="130"/>
                    <a:pt x="119" y="130"/>
                  </a:cubicBezTo>
                  <a:cubicBezTo>
                    <a:pt x="118" y="130"/>
                    <a:pt x="116" y="131"/>
                    <a:pt x="116" y="131"/>
                  </a:cubicBezTo>
                  <a:cubicBezTo>
                    <a:pt x="116" y="132"/>
                    <a:pt x="117" y="132"/>
                    <a:pt x="118" y="132"/>
                  </a:cubicBezTo>
                  <a:cubicBezTo>
                    <a:pt x="119" y="132"/>
                    <a:pt x="120" y="132"/>
                    <a:pt x="119" y="133"/>
                  </a:cubicBezTo>
                  <a:cubicBezTo>
                    <a:pt x="118" y="133"/>
                    <a:pt x="118" y="134"/>
                    <a:pt x="119" y="134"/>
                  </a:cubicBezTo>
                  <a:cubicBezTo>
                    <a:pt x="120" y="135"/>
                    <a:pt x="123" y="137"/>
                    <a:pt x="122" y="137"/>
                  </a:cubicBezTo>
                  <a:cubicBezTo>
                    <a:pt x="121" y="137"/>
                    <a:pt x="120" y="136"/>
                    <a:pt x="119" y="135"/>
                  </a:cubicBezTo>
                  <a:cubicBezTo>
                    <a:pt x="119" y="135"/>
                    <a:pt x="118" y="134"/>
                    <a:pt x="117" y="135"/>
                  </a:cubicBezTo>
                  <a:cubicBezTo>
                    <a:pt x="116" y="136"/>
                    <a:pt x="113" y="138"/>
                    <a:pt x="114" y="139"/>
                  </a:cubicBezTo>
                  <a:cubicBezTo>
                    <a:pt x="114" y="140"/>
                    <a:pt x="115" y="142"/>
                    <a:pt x="114" y="141"/>
                  </a:cubicBezTo>
                  <a:cubicBezTo>
                    <a:pt x="113" y="140"/>
                    <a:pt x="112" y="140"/>
                    <a:pt x="111" y="142"/>
                  </a:cubicBezTo>
                  <a:cubicBezTo>
                    <a:pt x="111" y="144"/>
                    <a:pt x="110" y="145"/>
                    <a:pt x="112" y="145"/>
                  </a:cubicBezTo>
                  <a:cubicBezTo>
                    <a:pt x="113" y="145"/>
                    <a:pt x="114" y="145"/>
                    <a:pt x="114" y="146"/>
                  </a:cubicBezTo>
                  <a:cubicBezTo>
                    <a:pt x="113" y="146"/>
                    <a:pt x="114" y="147"/>
                    <a:pt x="115" y="147"/>
                  </a:cubicBezTo>
                  <a:cubicBezTo>
                    <a:pt x="115" y="147"/>
                    <a:pt x="116" y="147"/>
                    <a:pt x="115" y="148"/>
                  </a:cubicBezTo>
                  <a:cubicBezTo>
                    <a:pt x="115" y="149"/>
                    <a:pt x="115" y="148"/>
                    <a:pt x="114" y="148"/>
                  </a:cubicBezTo>
                  <a:cubicBezTo>
                    <a:pt x="113" y="148"/>
                    <a:pt x="110" y="146"/>
                    <a:pt x="110" y="145"/>
                  </a:cubicBezTo>
                  <a:cubicBezTo>
                    <a:pt x="109" y="145"/>
                    <a:pt x="109" y="144"/>
                    <a:pt x="109" y="145"/>
                  </a:cubicBezTo>
                  <a:cubicBezTo>
                    <a:pt x="108" y="147"/>
                    <a:pt x="107" y="151"/>
                    <a:pt x="107" y="151"/>
                  </a:cubicBezTo>
                  <a:cubicBezTo>
                    <a:pt x="106" y="151"/>
                    <a:pt x="105" y="153"/>
                    <a:pt x="107" y="152"/>
                  </a:cubicBezTo>
                  <a:cubicBezTo>
                    <a:pt x="109" y="150"/>
                    <a:pt x="110" y="150"/>
                    <a:pt x="111" y="152"/>
                  </a:cubicBezTo>
                  <a:cubicBezTo>
                    <a:pt x="112" y="153"/>
                    <a:pt x="112" y="153"/>
                    <a:pt x="111" y="153"/>
                  </a:cubicBezTo>
                  <a:cubicBezTo>
                    <a:pt x="110" y="153"/>
                    <a:pt x="110" y="154"/>
                    <a:pt x="111" y="154"/>
                  </a:cubicBezTo>
                  <a:cubicBezTo>
                    <a:pt x="111" y="154"/>
                    <a:pt x="113" y="154"/>
                    <a:pt x="114" y="153"/>
                  </a:cubicBezTo>
                  <a:cubicBezTo>
                    <a:pt x="115" y="153"/>
                    <a:pt x="116" y="153"/>
                    <a:pt x="113" y="154"/>
                  </a:cubicBezTo>
                  <a:cubicBezTo>
                    <a:pt x="111" y="156"/>
                    <a:pt x="111" y="156"/>
                    <a:pt x="109" y="156"/>
                  </a:cubicBezTo>
                  <a:cubicBezTo>
                    <a:pt x="108" y="156"/>
                    <a:pt x="109" y="156"/>
                    <a:pt x="109" y="155"/>
                  </a:cubicBezTo>
                  <a:cubicBezTo>
                    <a:pt x="110" y="155"/>
                    <a:pt x="109" y="153"/>
                    <a:pt x="108" y="153"/>
                  </a:cubicBezTo>
                  <a:cubicBezTo>
                    <a:pt x="107" y="153"/>
                    <a:pt x="105" y="153"/>
                    <a:pt x="104" y="154"/>
                  </a:cubicBezTo>
                  <a:cubicBezTo>
                    <a:pt x="103" y="155"/>
                    <a:pt x="101" y="158"/>
                    <a:pt x="101" y="157"/>
                  </a:cubicBezTo>
                  <a:cubicBezTo>
                    <a:pt x="102" y="157"/>
                    <a:pt x="105" y="156"/>
                    <a:pt x="104" y="157"/>
                  </a:cubicBezTo>
                  <a:cubicBezTo>
                    <a:pt x="104" y="157"/>
                    <a:pt x="96" y="162"/>
                    <a:pt x="95" y="163"/>
                  </a:cubicBezTo>
                  <a:cubicBezTo>
                    <a:pt x="94" y="164"/>
                    <a:pt x="93" y="165"/>
                    <a:pt x="96" y="164"/>
                  </a:cubicBezTo>
                  <a:cubicBezTo>
                    <a:pt x="99" y="162"/>
                    <a:pt x="104" y="159"/>
                    <a:pt x="102" y="161"/>
                  </a:cubicBezTo>
                  <a:cubicBezTo>
                    <a:pt x="100" y="163"/>
                    <a:pt x="99" y="163"/>
                    <a:pt x="101" y="163"/>
                  </a:cubicBezTo>
                  <a:cubicBezTo>
                    <a:pt x="103" y="163"/>
                    <a:pt x="101" y="164"/>
                    <a:pt x="100" y="164"/>
                  </a:cubicBezTo>
                  <a:cubicBezTo>
                    <a:pt x="98" y="165"/>
                    <a:pt x="95" y="165"/>
                    <a:pt x="97" y="166"/>
                  </a:cubicBezTo>
                  <a:cubicBezTo>
                    <a:pt x="100" y="167"/>
                    <a:pt x="100" y="168"/>
                    <a:pt x="98" y="169"/>
                  </a:cubicBezTo>
                  <a:cubicBezTo>
                    <a:pt x="97" y="170"/>
                    <a:pt x="96" y="171"/>
                    <a:pt x="97" y="171"/>
                  </a:cubicBezTo>
                  <a:cubicBezTo>
                    <a:pt x="98" y="171"/>
                    <a:pt x="97" y="171"/>
                    <a:pt x="96" y="172"/>
                  </a:cubicBezTo>
                  <a:cubicBezTo>
                    <a:pt x="95" y="173"/>
                    <a:pt x="92" y="175"/>
                    <a:pt x="93" y="173"/>
                  </a:cubicBezTo>
                  <a:cubicBezTo>
                    <a:pt x="94" y="171"/>
                    <a:pt x="94" y="171"/>
                    <a:pt x="93" y="171"/>
                  </a:cubicBezTo>
                  <a:cubicBezTo>
                    <a:pt x="92" y="170"/>
                    <a:pt x="90" y="169"/>
                    <a:pt x="88" y="170"/>
                  </a:cubicBezTo>
                  <a:cubicBezTo>
                    <a:pt x="86" y="172"/>
                    <a:pt x="82" y="174"/>
                    <a:pt x="81" y="175"/>
                  </a:cubicBezTo>
                  <a:cubicBezTo>
                    <a:pt x="80" y="175"/>
                    <a:pt x="79" y="176"/>
                    <a:pt x="80" y="177"/>
                  </a:cubicBezTo>
                  <a:cubicBezTo>
                    <a:pt x="81" y="178"/>
                    <a:pt x="80" y="178"/>
                    <a:pt x="80" y="178"/>
                  </a:cubicBezTo>
                  <a:cubicBezTo>
                    <a:pt x="79" y="179"/>
                    <a:pt x="76" y="181"/>
                    <a:pt x="75" y="182"/>
                  </a:cubicBezTo>
                  <a:cubicBezTo>
                    <a:pt x="74" y="183"/>
                    <a:pt x="74" y="183"/>
                    <a:pt x="76" y="183"/>
                  </a:cubicBezTo>
                  <a:cubicBezTo>
                    <a:pt x="77" y="182"/>
                    <a:pt x="77" y="183"/>
                    <a:pt x="76" y="184"/>
                  </a:cubicBezTo>
                  <a:cubicBezTo>
                    <a:pt x="75" y="184"/>
                    <a:pt x="71" y="187"/>
                    <a:pt x="70" y="187"/>
                  </a:cubicBezTo>
                  <a:cubicBezTo>
                    <a:pt x="69" y="188"/>
                    <a:pt x="68" y="189"/>
                    <a:pt x="70" y="189"/>
                  </a:cubicBezTo>
                  <a:cubicBezTo>
                    <a:pt x="72" y="188"/>
                    <a:pt x="73" y="189"/>
                    <a:pt x="74" y="188"/>
                  </a:cubicBezTo>
                  <a:cubicBezTo>
                    <a:pt x="75" y="188"/>
                    <a:pt x="76" y="188"/>
                    <a:pt x="74" y="189"/>
                  </a:cubicBezTo>
                  <a:cubicBezTo>
                    <a:pt x="73" y="190"/>
                    <a:pt x="72" y="191"/>
                    <a:pt x="73" y="192"/>
                  </a:cubicBezTo>
                  <a:cubicBezTo>
                    <a:pt x="74" y="193"/>
                    <a:pt x="75" y="195"/>
                    <a:pt x="77" y="193"/>
                  </a:cubicBezTo>
                  <a:cubicBezTo>
                    <a:pt x="79" y="192"/>
                    <a:pt x="85" y="190"/>
                    <a:pt x="86" y="189"/>
                  </a:cubicBezTo>
                  <a:cubicBezTo>
                    <a:pt x="88" y="188"/>
                    <a:pt x="90" y="187"/>
                    <a:pt x="90" y="186"/>
                  </a:cubicBezTo>
                  <a:cubicBezTo>
                    <a:pt x="90" y="184"/>
                    <a:pt x="89" y="184"/>
                    <a:pt x="88" y="185"/>
                  </a:cubicBezTo>
                  <a:cubicBezTo>
                    <a:pt x="87" y="186"/>
                    <a:pt x="84" y="186"/>
                    <a:pt x="87" y="185"/>
                  </a:cubicBezTo>
                  <a:cubicBezTo>
                    <a:pt x="90" y="183"/>
                    <a:pt x="94" y="180"/>
                    <a:pt x="94" y="180"/>
                  </a:cubicBezTo>
                  <a:cubicBezTo>
                    <a:pt x="94" y="180"/>
                    <a:pt x="94" y="179"/>
                    <a:pt x="95" y="181"/>
                  </a:cubicBezTo>
                  <a:cubicBezTo>
                    <a:pt x="96" y="182"/>
                    <a:pt x="96" y="182"/>
                    <a:pt x="95" y="183"/>
                  </a:cubicBezTo>
                  <a:cubicBezTo>
                    <a:pt x="94" y="183"/>
                    <a:pt x="90" y="184"/>
                    <a:pt x="92" y="185"/>
                  </a:cubicBezTo>
                  <a:cubicBezTo>
                    <a:pt x="93" y="185"/>
                    <a:pt x="97" y="186"/>
                    <a:pt x="95" y="187"/>
                  </a:cubicBezTo>
                  <a:cubicBezTo>
                    <a:pt x="92" y="189"/>
                    <a:pt x="89" y="190"/>
                    <a:pt x="88" y="190"/>
                  </a:cubicBezTo>
                  <a:cubicBezTo>
                    <a:pt x="87" y="191"/>
                    <a:pt x="84" y="192"/>
                    <a:pt x="85" y="192"/>
                  </a:cubicBezTo>
                  <a:cubicBezTo>
                    <a:pt x="86" y="193"/>
                    <a:pt x="85" y="192"/>
                    <a:pt x="86" y="192"/>
                  </a:cubicBezTo>
                  <a:cubicBezTo>
                    <a:pt x="87" y="192"/>
                    <a:pt x="87" y="192"/>
                    <a:pt x="87" y="193"/>
                  </a:cubicBezTo>
                  <a:cubicBezTo>
                    <a:pt x="86" y="193"/>
                    <a:pt x="86" y="193"/>
                    <a:pt x="87" y="194"/>
                  </a:cubicBezTo>
                  <a:cubicBezTo>
                    <a:pt x="87" y="194"/>
                    <a:pt x="88" y="195"/>
                    <a:pt x="86" y="195"/>
                  </a:cubicBezTo>
                  <a:cubicBezTo>
                    <a:pt x="85" y="195"/>
                    <a:pt x="75" y="197"/>
                    <a:pt x="74" y="197"/>
                  </a:cubicBezTo>
                  <a:cubicBezTo>
                    <a:pt x="73" y="198"/>
                    <a:pt x="72" y="199"/>
                    <a:pt x="73" y="197"/>
                  </a:cubicBezTo>
                  <a:cubicBezTo>
                    <a:pt x="74" y="196"/>
                    <a:pt x="74" y="195"/>
                    <a:pt x="73" y="194"/>
                  </a:cubicBezTo>
                  <a:cubicBezTo>
                    <a:pt x="72" y="193"/>
                    <a:pt x="71" y="191"/>
                    <a:pt x="71" y="191"/>
                  </a:cubicBezTo>
                  <a:cubicBezTo>
                    <a:pt x="70" y="191"/>
                    <a:pt x="70" y="191"/>
                    <a:pt x="69" y="191"/>
                  </a:cubicBezTo>
                  <a:cubicBezTo>
                    <a:pt x="68" y="192"/>
                    <a:pt x="65" y="193"/>
                    <a:pt x="65" y="193"/>
                  </a:cubicBezTo>
                  <a:cubicBezTo>
                    <a:pt x="64" y="193"/>
                    <a:pt x="62" y="193"/>
                    <a:pt x="64" y="194"/>
                  </a:cubicBezTo>
                  <a:cubicBezTo>
                    <a:pt x="65" y="194"/>
                    <a:pt x="65" y="194"/>
                    <a:pt x="66" y="194"/>
                  </a:cubicBezTo>
                  <a:cubicBezTo>
                    <a:pt x="66" y="194"/>
                    <a:pt x="67" y="195"/>
                    <a:pt x="66" y="195"/>
                  </a:cubicBezTo>
                  <a:cubicBezTo>
                    <a:pt x="64" y="196"/>
                    <a:pt x="63" y="198"/>
                    <a:pt x="62" y="198"/>
                  </a:cubicBezTo>
                  <a:cubicBezTo>
                    <a:pt x="62" y="199"/>
                    <a:pt x="61" y="200"/>
                    <a:pt x="61" y="198"/>
                  </a:cubicBezTo>
                  <a:cubicBezTo>
                    <a:pt x="62" y="197"/>
                    <a:pt x="61" y="196"/>
                    <a:pt x="61" y="196"/>
                  </a:cubicBezTo>
                  <a:cubicBezTo>
                    <a:pt x="60" y="195"/>
                    <a:pt x="59" y="195"/>
                    <a:pt x="58" y="195"/>
                  </a:cubicBezTo>
                  <a:cubicBezTo>
                    <a:pt x="58" y="195"/>
                    <a:pt x="56" y="196"/>
                    <a:pt x="55" y="197"/>
                  </a:cubicBezTo>
                  <a:cubicBezTo>
                    <a:pt x="54" y="198"/>
                    <a:pt x="52" y="199"/>
                    <a:pt x="54" y="199"/>
                  </a:cubicBezTo>
                  <a:cubicBezTo>
                    <a:pt x="55" y="200"/>
                    <a:pt x="59" y="201"/>
                    <a:pt x="56" y="201"/>
                  </a:cubicBezTo>
                  <a:cubicBezTo>
                    <a:pt x="53" y="202"/>
                    <a:pt x="48" y="202"/>
                    <a:pt x="48" y="203"/>
                  </a:cubicBezTo>
                  <a:cubicBezTo>
                    <a:pt x="48" y="204"/>
                    <a:pt x="49" y="205"/>
                    <a:pt x="52" y="205"/>
                  </a:cubicBezTo>
                  <a:cubicBezTo>
                    <a:pt x="54" y="205"/>
                    <a:pt x="55" y="206"/>
                    <a:pt x="55" y="207"/>
                  </a:cubicBezTo>
                  <a:cubicBezTo>
                    <a:pt x="56" y="208"/>
                    <a:pt x="56" y="210"/>
                    <a:pt x="55" y="209"/>
                  </a:cubicBezTo>
                  <a:cubicBezTo>
                    <a:pt x="53" y="208"/>
                    <a:pt x="53" y="208"/>
                    <a:pt x="52" y="208"/>
                  </a:cubicBezTo>
                  <a:cubicBezTo>
                    <a:pt x="52" y="208"/>
                    <a:pt x="50" y="208"/>
                    <a:pt x="49" y="207"/>
                  </a:cubicBezTo>
                  <a:cubicBezTo>
                    <a:pt x="49" y="206"/>
                    <a:pt x="47" y="202"/>
                    <a:pt x="45" y="204"/>
                  </a:cubicBezTo>
                  <a:cubicBezTo>
                    <a:pt x="44" y="205"/>
                    <a:pt x="45" y="205"/>
                    <a:pt x="46" y="206"/>
                  </a:cubicBezTo>
                  <a:cubicBezTo>
                    <a:pt x="47" y="206"/>
                    <a:pt x="50" y="209"/>
                    <a:pt x="50" y="210"/>
                  </a:cubicBezTo>
                  <a:cubicBezTo>
                    <a:pt x="51" y="211"/>
                    <a:pt x="52" y="211"/>
                    <a:pt x="49" y="210"/>
                  </a:cubicBezTo>
                  <a:cubicBezTo>
                    <a:pt x="47" y="209"/>
                    <a:pt x="44" y="206"/>
                    <a:pt x="42" y="207"/>
                  </a:cubicBezTo>
                  <a:cubicBezTo>
                    <a:pt x="40" y="207"/>
                    <a:pt x="37" y="208"/>
                    <a:pt x="37" y="207"/>
                  </a:cubicBezTo>
                  <a:cubicBezTo>
                    <a:pt x="36" y="206"/>
                    <a:pt x="35" y="205"/>
                    <a:pt x="33" y="205"/>
                  </a:cubicBezTo>
                  <a:cubicBezTo>
                    <a:pt x="31" y="206"/>
                    <a:pt x="29" y="206"/>
                    <a:pt x="30" y="208"/>
                  </a:cubicBezTo>
                  <a:cubicBezTo>
                    <a:pt x="31" y="209"/>
                    <a:pt x="32" y="209"/>
                    <a:pt x="33" y="209"/>
                  </a:cubicBezTo>
                  <a:cubicBezTo>
                    <a:pt x="33" y="210"/>
                    <a:pt x="33" y="210"/>
                    <a:pt x="32" y="210"/>
                  </a:cubicBezTo>
                  <a:cubicBezTo>
                    <a:pt x="31" y="211"/>
                    <a:pt x="30" y="211"/>
                    <a:pt x="31" y="212"/>
                  </a:cubicBezTo>
                  <a:cubicBezTo>
                    <a:pt x="32" y="212"/>
                    <a:pt x="37" y="212"/>
                    <a:pt x="38" y="212"/>
                  </a:cubicBezTo>
                  <a:cubicBezTo>
                    <a:pt x="39" y="212"/>
                    <a:pt x="41" y="212"/>
                    <a:pt x="43" y="211"/>
                  </a:cubicBezTo>
                  <a:cubicBezTo>
                    <a:pt x="44" y="211"/>
                    <a:pt x="48" y="211"/>
                    <a:pt x="45" y="212"/>
                  </a:cubicBezTo>
                  <a:cubicBezTo>
                    <a:pt x="42" y="213"/>
                    <a:pt x="38" y="213"/>
                    <a:pt x="37" y="214"/>
                  </a:cubicBezTo>
                  <a:cubicBezTo>
                    <a:pt x="36" y="215"/>
                    <a:pt x="37" y="215"/>
                    <a:pt x="39" y="215"/>
                  </a:cubicBezTo>
                  <a:cubicBezTo>
                    <a:pt x="41" y="215"/>
                    <a:pt x="40" y="217"/>
                    <a:pt x="38" y="217"/>
                  </a:cubicBezTo>
                  <a:cubicBezTo>
                    <a:pt x="36" y="216"/>
                    <a:pt x="33" y="214"/>
                    <a:pt x="31" y="214"/>
                  </a:cubicBezTo>
                  <a:cubicBezTo>
                    <a:pt x="29" y="215"/>
                    <a:pt x="24" y="215"/>
                    <a:pt x="23" y="215"/>
                  </a:cubicBezTo>
                  <a:cubicBezTo>
                    <a:pt x="22" y="215"/>
                    <a:pt x="18" y="215"/>
                    <a:pt x="20" y="216"/>
                  </a:cubicBezTo>
                  <a:cubicBezTo>
                    <a:pt x="21" y="217"/>
                    <a:pt x="21" y="217"/>
                    <a:pt x="23" y="217"/>
                  </a:cubicBezTo>
                  <a:cubicBezTo>
                    <a:pt x="24" y="216"/>
                    <a:pt x="24" y="217"/>
                    <a:pt x="23" y="217"/>
                  </a:cubicBezTo>
                  <a:cubicBezTo>
                    <a:pt x="22" y="218"/>
                    <a:pt x="21" y="218"/>
                    <a:pt x="23" y="218"/>
                  </a:cubicBezTo>
                  <a:cubicBezTo>
                    <a:pt x="24" y="218"/>
                    <a:pt x="25" y="217"/>
                    <a:pt x="27" y="218"/>
                  </a:cubicBezTo>
                  <a:cubicBezTo>
                    <a:pt x="29" y="218"/>
                    <a:pt x="30" y="219"/>
                    <a:pt x="28" y="219"/>
                  </a:cubicBezTo>
                  <a:cubicBezTo>
                    <a:pt x="26" y="218"/>
                    <a:pt x="23" y="218"/>
                    <a:pt x="23" y="220"/>
                  </a:cubicBezTo>
                  <a:cubicBezTo>
                    <a:pt x="22" y="221"/>
                    <a:pt x="22" y="222"/>
                    <a:pt x="23" y="222"/>
                  </a:cubicBezTo>
                  <a:cubicBezTo>
                    <a:pt x="25" y="223"/>
                    <a:pt x="25" y="225"/>
                    <a:pt x="24" y="224"/>
                  </a:cubicBezTo>
                  <a:cubicBezTo>
                    <a:pt x="23" y="223"/>
                    <a:pt x="21" y="220"/>
                    <a:pt x="20" y="220"/>
                  </a:cubicBezTo>
                  <a:cubicBezTo>
                    <a:pt x="19" y="221"/>
                    <a:pt x="15" y="222"/>
                    <a:pt x="16" y="224"/>
                  </a:cubicBezTo>
                  <a:cubicBezTo>
                    <a:pt x="17" y="225"/>
                    <a:pt x="18" y="227"/>
                    <a:pt x="17" y="226"/>
                  </a:cubicBezTo>
                  <a:cubicBezTo>
                    <a:pt x="15" y="226"/>
                    <a:pt x="15" y="226"/>
                    <a:pt x="14" y="227"/>
                  </a:cubicBezTo>
                  <a:cubicBezTo>
                    <a:pt x="13" y="228"/>
                    <a:pt x="13" y="228"/>
                    <a:pt x="13" y="227"/>
                  </a:cubicBezTo>
                  <a:cubicBezTo>
                    <a:pt x="13" y="225"/>
                    <a:pt x="13" y="224"/>
                    <a:pt x="12" y="224"/>
                  </a:cubicBezTo>
                  <a:cubicBezTo>
                    <a:pt x="11" y="225"/>
                    <a:pt x="10" y="225"/>
                    <a:pt x="9" y="225"/>
                  </a:cubicBezTo>
                  <a:cubicBezTo>
                    <a:pt x="8" y="224"/>
                    <a:pt x="7" y="224"/>
                    <a:pt x="7" y="225"/>
                  </a:cubicBezTo>
                  <a:cubicBezTo>
                    <a:pt x="7" y="226"/>
                    <a:pt x="8" y="229"/>
                    <a:pt x="7" y="226"/>
                  </a:cubicBezTo>
                  <a:cubicBezTo>
                    <a:pt x="5" y="224"/>
                    <a:pt x="3" y="223"/>
                    <a:pt x="4" y="224"/>
                  </a:cubicBezTo>
                  <a:cubicBezTo>
                    <a:pt x="4" y="225"/>
                    <a:pt x="5" y="227"/>
                    <a:pt x="6" y="227"/>
                  </a:cubicBezTo>
                  <a:cubicBezTo>
                    <a:pt x="7" y="228"/>
                    <a:pt x="7" y="228"/>
                    <a:pt x="6" y="228"/>
                  </a:cubicBezTo>
                  <a:cubicBezTo>
                    <a:pt x="5" y="229"/>
                    <a:pt x="2" y="230"/>
                    <a:pt x="3" y="230"/>
                  </a:cubicBezTo>
                  <a:cubicBezTo>
                    <a:pt x="5" y="230"/>
                    <a:pt x="11" y="230"/>
                    <a:pt x="12" y="231"/>
                  </a:cubicBezTo>
                  <a:cubicBezTo>
                    <a:pt x="14" y="231"/>
                    <a:pt x="18" y="231"/>
                    <a:pt x="19" y="231"/>
                  </a:cubicBezTo>
                  <a:cubicBezTo>
                    <a:pt x="20" y="231"/>
                    <a:pt x="24" y="231"/>
                    <a:pt x="21" y="232"/>
                  </a:cubicBezTo>
                  <a:cubicBezTo>
                    <a:pt x="17" y="233"/>
                    <a:pt x="16" y="234"/>
                    <a:pt x="15" y="234"/>
                  </a:cubicBezTo>
                  <a:cubicBezTo>
                    <a:pt x="15" y="234"/>
                    <a:pt x="14" y="235"/>
                    <a:pt x="14" y="233"/>
                  </a:cubicBezTo>
                  <a:cubicBezTo>
                    <a:pt x="14" y="232"/>
                    <a:pt x="14" y="232"/>
                    <a:pt x="13" y="232"/>
                  </a:cubicBezTo>
                  <a:cubicBezTo>
                    <a:pt x="12" y="232"/>
                    <a:pt x="11" y="231"/>
                    <a:pt x="9" y="231"/>
                  </a:cubicBezTo>
                  <a:cubicBezTo>
                    <a:pt x="8" y="231"/>
                    <a:pt x="7" y="230"/>
                    <a:pt x="6" y="231"/>
                  </a:cubicBezTo>
                  <a:cubicBezTo>
                    <a:pt x="4" y="233"/>
                    <a:pt x="2" y="235"/>
                    <a:pt x="1" y="235"/>
                  </a:cubicBezTo>
                  <a:cubicBezTo>
                    <a:pt x="0" y="236"/>
                    <a:pt x="0" y="236"/>
                    <a:pt x="2" y="236"/>
                  </a:cubicBezTo>
                  <a:cubicBezTo>
                    <a:pt x="4" y="236"/>
                    <a:pt x="7" y="237"/>
                    <a:pt x="5" y="237"/>
                  </a:cubicBezTo>
                  <a:cubicBezTo>
                    <a:pt x="4" y="237"/>
                    <a:pt x="5" y="237"/>
                    <a:pt x="5" y="238"/>
                  </a:cubicBezTo>
                  <a:cubicBezTo>
                    <a:pt x="6" y="238"/>
                    <a:pt x="6" y="238"/>
                    <a:pt x="6" y="239"/>
                  </a:cubicBezTo>
                  <a:cubicBezTo>
                    <a:pt x="6" y="239"/>
                    <a:pt x="6" y="240"/>
                    <a:pt x="7" y="240"/>
                  </a:cubicBezTo>
                  <a:cubicBezTo>
                    <a:pt x="8" y="240"/>
                    <a:pt x="6" y="240"/>
                    <a:pt x="4" y="241"/>
                  </a:cubicBezTo>
                  <a:cubicBezTo>
                    <a:pt x="2" y="241"/>
                    <a:pt x="2" y="241"/>
                    <a:pt x="2" y="242"/>
                  </a:cubicBezTo>
                  <a:cubicBezTo>
                    <a:pt x="2" y="242"/>
                    <a:pt x="1" y="244"/>
                    <a:pt x="3" y="243"/>
                  </a:cubicBezTo>
                  <a:cubicBezTo>
                    <a:pt x="5" y="242"/>
                    <a:pt x="6" y="242"/>
                    <a:pt x="7" y="242"/>
                  </a:cubicBezTo>
                  <a:cubicBezTo>
                    <a:pt x="8" y="242"/>
                    <a:pt x="7" y="243"/>
                    <a:pt x="4" y="244"/>
                  </a:cubicBezTo>
                  <a:cubicBezTo>
                    <a:pt x="1" y="244"/>
                    <a:pt x="1" y="245"/>
                    <a:pt x="2" y="246"/>
                  </a:cubicBezTo>
                  <a:cubicBezTo>
                    <a:pt x="3" y="246"/>
                    <a:pt x="5" y="249"/>
                    <a:pt x="7" y="249"/>
                  </a:cubicBezTo>
                  <a:cubicBezTo>
                    <a:pt x="9" y="249"/>
                    <a:pt x="16" y="247"/>
                    <a:pt x="17" y="248"/>
                  </a:cubicBezTo>
                  <a:cubicBezTo>
                    <a:pt x="18" y="248"/>
                    <a:pt x="22" y="250"/>
                    <a:pt x="23" y="247"/>
                  </a:cubicBezTo>
                  <a:cubicBezTo>
                    <a:pt x="25" y="245"/>
                    <a:pt x="24" y="246"/>
                    <a:pt x="25" y="246"/>
                  </a:cubicBezTo>
                  <a:cubicBezTo>
                    <a:pt x="26" y="247"/>
                    <a:pt x="34" y="247"/>
                    <a:pt x="34" y="247"/>
                  </a:cubicBezTo>
                  <a:cubicBezTo>
                    <a:pt x="35" y="247"/>
                    <a:pt x="36" y="247"/>
                    <a:pt x="35" y="246"/>
                  </a:cubicBezTo>
                  <a:cubicBezTo>
                    <a:pt x="34" y="244"/>
                    <a:pt x="34" y="245"/>
                    <a:pt x="34" y="243"/>
                  </a:cubicBezTo>
                  <a:cubicBezTo>
                    <a:pt x="35" y="242"/>
                    <a:pt x="36" y="241"/>
                    <a:pt x="36" y="242"/>
                  </a:cubicBezTo>
                  <a:cubicBezTo>
                    <a:pt x="36" y="243"/>
                    <a:pt x="35" y="245"/>
                    <a:pt x="36" y="246"/>
                  </a:cubicBezTo>
                  <a:cubicBezTo>
                    <a:pt x="37" y="247"/>
                    <a:pt x="40" y="247"/>
                    <a:pt x="37" y="247"/>
                  </a:cubicBezTo>
                  <a:cubicBezTo>
                    <a:pt x="34" y="248"/>
                    <a:pt x="30" y="249"/>
                    <a:pt x="31" y="251"/>
                  </a:cubicBezTo>
                  <a:cubicBezTo>
                    <a:pt x="32" y="253"/>
                    <a:pt x="34" y="253"/>
                    <a:pt x="32" y="253"/>
                  </a:cubicBezTo>
                  <a:cubicBezTo>
                    <a:pt x="30" y="254"/>
                    <a:pt x="28" y="253"/>
                    <a:pt x="29" y="252"/>
                  </a:cubicBezTo>
                  <a:cubicBezTo>
                    <a:pt x="30" y="251"/>
                    <a:pt x="31" y="251"/>
                    <a:pt x="29" y="250"/>
                  </a:cubicBezTo>
                  <a:cubicBezTo>
                    <a:pt x="28" y="249"/>
                    <a:pt x="26" y="247"/>
                    <a:pt x="24" y="248"/>
                  </a:cubicBezTo>
                  <a:cubicBezTo>
                    <a:pt x="23" y="250"/>
                    <a:pt x="22" y="250"/>
                    <a:pt x="22" y="250"/>
                  </a:cubicBezTo>
                  <a:cubicBezTo>
                    <a:pt x="22" y="251"/>
                    <a:pt x="21" y="251"/>
                    <a:pt x="21" y="250"/>
                  </a:cubicBezTo>
                  <a:cubicBezTo>
                    <a:pt x="20" y="250"/>
                    <a:pt x="18" y="249"/>
                    <a:pt x="16" y="249"/>
                  </a:cubicBezTo>
                  <a:cubicBezTo>
                    <a:pt x="14" y="249"/>
                    <a:pt x="8" y="250"/>
                    <a:pt x="5" y="250"/>
                  </a:cubicBezTo>
                  <a:cubicBezTo>
                    <a:pt x="2" y="249"/>
                    <a:pt x="2" y="250"/>
                    <a:pt x="3" y="251"/>
                  </a:cubicBezTo>
                  <a:cubicBezTo>
                    <a:pt x="4" y="252"/>
                    <a:pt x="4" y="252"/>
                    <a:pt x="4" y="252"/>
                  </a:cubicBezTo>
                  <a:cubicBezTo>
                    <a:pt x="3" y="253"/>
                    <a:pt x="2" y="254"/>
                    <a:pt x="3" y="254"/>
                  </a:cubicBezTo>
                  <a:cubicBezTo>
                    <a:pt x="4" y="254"/>
                    <a:pt x="7" y="254"/>
                    <a:pt x="6" y="254"/>
                  </a:cubicBezTo>
                  <a:cubicBezTo>
                    <a:pt x="5" y="255"/>
                    <a:pt x="5" y="256"/>
                    <a:pt x="6" y="257"/>
                  </a:cubicBezTo>
                  <a:cubicBezTo>
                    <a:pt x="7" y="257"/>
                    <a:pt x="7" y="258"/>
                    <a:pt x="6" y="258"/>
                  </a:cubicBezTo>
                  <a:cubicBezTo>
                    <a:pt x="5" y="259"/>
                    <a:pt x="3" y="260"/>
                    <a:pt x="4" y="260"/>
                  </a:cubicBezTo>
                  <a:cubicBezTo>
                    <a:pt x="4" y="261"/>
                    <a:pt x="6" y="261"/>
                    <a:pt x="7" y="260"/>
                  </a:cubicBezTo>
                  <a:cubicBezTo>
                    <a:pt x="8" y="259"/>
                    <a:pt x="10" y="257"/>
                    <a:pt x="11" y="257"/>
                  </a:cubicBezTo>
                  <a:cubicBezTo>
                    <a:pt x="13" y="258"/>
                    <a:pt x="12" y="258"/>
                    <a:pt x="12" y="259"/>
                  </a:cubicBezTo>
                  <a:cubicBezTo>
                    <a:pt x="11" y="259"/>
                    <a:pt x="11" y="264"/>
                    <a:pt x="9" y="264"/>
                  </a:cubicBezTo>
                  <a:cubicBezTo>
                    <a:pt x="7" y="263"/>
                    <a:pt x="6" y="261"/>
                    <a:pt x="5" y="262"/>
                  </a:cubicBezTo>
                  <a:cubicBezTo>
                    <a:pt x="4" y="263"/>
                    <a:pt x="3" y="265"/>
                    <a:pt x="4" y="266"/>
                  </a:cubicBezTo>
                  <a:cubicBezTo>
                    <a:pt x="5" y="267"/>
                    <a:pt x="6" y="268"/>
                    <a:pt x="6" y="269"/>
                  </a:cubicBezTo>
                  <a:cubicBezTo>
                    <a:pt x="6" y="269"/>
                    <a:pt x="7" y="270"/>
                    <a:pt x="8" y="269"/>
                  </a:cubicBezTo>
                  <a:cubicBezTo>
                    <a:pt x="9" y="268"/>
                    <a:pt x="10" y="267"/>
                    <a:pt x="10" y="268"/>
                  </a:cubicBezTo>
                  <a:cubicBezTo>
                    <a:pt x="9" y="270"/>
                    <a:pt x="10" y="269"/>
                    <a:pt x="11" y="269"/>
                  </a:cubicBezTo>
                  <a:cubicBezTo>
                    <a:pt x="12" y="269"/>
                    <a:pt x="12" y="269"/>
                    <a:pt x="12" y="270"/>
                  </a:cubicBezTo>
                  <a:cubicBezTo>
                    <a:pt x="12" y="271"/>
                    <a:pt x="11" y="273"/>
                    <a:pt x="12" y="274"/>
                  </a:cubicBezTo>
                  <a:cubicBezTo>
                    <a:pt x="13" y="274"/>
                    <a:pt x="14" y="273"/>
                    <a:pt x="14" y="272"/>
                  </a:cubicBezTo>
                  <a:cubicBezTo>
                    <a:pt x="14" y="271"/>
                    <a:pt x="14" y="270"/>
                    <a:pt x="15" y="269"/>
                  </a:cubicBezTo>
                  <a:cubicBezTo>
                    <a:pt x="16" y="269"/>
                    <a:pt x="18" y="267"/>
                    <a:pt x="19" y="266"/>
                  </a:cubicBezTo>
                  <a:cubicBezTo>
                    <a:pt x="20" y="266"/>
                    <a:pt x="26" y="263"/>
                    <a:pt x="27" y="263"/>
                  </a:cubicBezTo>
                  <a:cubicBezTo>
                    <a:pt x="28" y="262"/>
                    <a:pt x="31" y="262"/>
                    <a:pt x="28" y="263"/>
                  </a:cubicBezTo>
                  <a:cubicBezTo>
                    <a:pt x="26" y="264"/>
                    <a:pt x="25" y="268"/>
                    <a:pt x="24" y="269"/>
                  </a:cubicBezTo>
                  <a:cubicBezTo>
                    <a:pt x="24" y="270"/>
                    <a:pt x="23" y="270"/>
                    <a:pt x="24" y="268"/>
                  </a:cubicBezTo>
                  <a:cubicBezTo>
                    <a:pt x="25" y="265"/>
                    <a:pt x="26" y="265"/>
                    <a:pt x="24" y="265"/>
                  </a:cubicBezTo>
                  <a:cubicBezTo>
                    <a:pt x="22" y="265"/>
                    <a:pt x="19" y="267"/>
                    <a:pt x="18" y="268"/>
                  </a:cubicBezTo>
                  <a:cubicBezTo>
                    <a:pt x="17" y="269"/>
                    <a:pt x="17" y="270"/>
                    <a:pt x="18" y="270"/>
                  </a:cubicBezTo>
                  <a:cubicBezTo>
                    <a:pt x="19" y="270"/>
                    <a:pt x="21" y="270"/>
                    <a:pt x="20" y="271"/>
                  </a:cubicBezTo>
                  <a:cubicBezTo>
                    <a:pt x="19" y="271"/>
                    <a:pt x="17" y="273"/>
                    <a:pt x="16" y="273"/>
                  </a:cubicBezTo>
                  <a:cubicBezTo>
                    <a:pt x="15" y="273"/>
                    <a:pt x="15" y="274"/>
                    <a:pt x="15" y="274"/>
                  </a:cubicBezTo>
                  <a:cubicBezTo>
                    <a:pt x="15" y="274"/>
                    <a:pt x="14" y="275"/>
                    <a:pt x="14" y="275"/>
                  </a:cubicBezTo>
                  <a:cubicBezTo>
                    <a:pt x="13" y="276"/>
                    <a:pt x="10" y="277"/>
                    <a:pt x="11" y="277"/>
                  </a:cubicBezTo>
                  <a:cubicBezTo>
                    <a:pt x="12" y="278"/>
                    <a:pt x="14" y="278"/>
                    <a:pt x="15" y="278"/>
                  </a:cubicBezTo>
                  <a:cubicBezTo>
                    <a:pt x="15" y="279"/>
                    <a:pt x="16" y="279"/>
                    <a:pt x="14" y="280"/>
                  </a:cubicBezTo>
                  <a:cubicBezTo>
                    <a:pt x="13" y="281"/>
                    <a:pt x="13" y="281"/>
                    <a:pt x="13" y="282"/>
                  </a:cubicBezTo>
                  <a:cubicBezTo>
                    <a:pt x="13" y="282"/>
                    <a:pt x="12" y="284"/>
                    <a:pt x="11" y="283"/>
                  </a:cubicBezTo>
                  <a:cubicBezTo>
                    <a:pt x="11" y="282"/>
                    <a:pt x="10" y="280"/>
                    <a:pt x="9" y="282"/>
                  </a:cubicBezTo>
                  <a:cubicBezTo>
                    <a:pt x="8" y="283"/>
                    <a:pt x="8" y="285"/>
                    <a:pt x="7" y="285"/>
                  </a:cubicBezTo>
                  <a:cubicBezTo>
                    <a:pt x="5" y="285"/>
                    <a:pt x="6" y="284"/>
                    <a:pt x="7" y="284"/>
                  </a:cubicBezTo>
                  <a:cubicBezTo>
                    <a:pt x="8" y="283"/>
                    <a:pt x="9" y="282"/>
                    <a:pt x="8" y="281"/>
                  </a:cubicBezTo>
                  <a:cubicBezTo>
                    <a:pt x="8" y="280"/>
                    <a:pt x="8" y="279"/>
                    <a:pt x="7" y="280"/>
                  </a:cubicBezTo>
                  <a:cubicBezTo>
                    <a:pt x="7" y="281"/>
                    <a:pt x="6" y="281"/>
                    <a:pt x="6" y="282"/>
                  </a:cubicBezTo>
                  <a:cubicBezTo>
                    <a:pt x="5" y="282"/>
                    <a:pt x="5" y="282"/>
                    <a:pt x="5" y="283"/>
                  </a:cubicBezTo>
                  <a:cubicBezTo>
                    <a:pt x="5" y="284"/>
                    <a:pt x="4" y="286"/>
                    <a:pt x="5" y="286"/>
                  </a:cubicBezTo>
                  <a:cubicBezTo>
                    <a:pt x="6" y="286"/>
                    <a:pt x="7" y="288"/>
                    <a:pt x="7" y="288"/>
                  </a:cubicBezTo>
                  <a:cubicBezTo>
                    <a:pt x="8" y="289"/>
                    <a:pt x="9" y="290"/>
                    <a:pt x="9" y="289"/>
                  </a:cubicBezTo>
                  <a:cubicBezTo>
                    <a:pt x="9" y="288"/>
                    <a:pt x="10" y="287"/>
                    <a:pt x="10" y="289"/>
                  </a:cubicBezTo>
                  <a:cubicBezTo>
                    <a:pt x="10" y="291"/>
                    <a:pt x="11" y="289"/>
                    <a:pt x="11" y="289"/>
                  </a:cubicBezTo>
                  <a:cubicBezTo>
                    <a:pt x="12" y="288"/>
                    <a:pt x="12" y="286"/>
                    <a:pt x="13" y="286"/>
                  </a:cubicBezTo>
                  <a:cubicBezTo>
                    <a:pt x="15" y="285"/>
                    <a:pt x="19" y="284"/>
                    <a:pt x="17" y="285"/>
                  </a:cubicBezTo>
                  <a:cubicBezTo>
                    <a:pt x="15" y="286"/>
                    <a:pt x="15" y="288"/>
                    <a:pt x="16" y="287"/>
                  </a:cubicBezTo>
                  <a:cubicBezTo>
                    <a:pt x="16" y="287"/>
                    <a:pt x="18" y="286"/>
                    <a:pt x="18" y="285"/>
                  </a:cubicBezTo>
                  <a:cubicBezTo>
                    <a:pt x="19" y="285"/>
                    <a:pt x="18" y="283"/>
                    <a:pt x="20" y="283"/>
                  </a:cubicBezTo>
                  <a:cubicBezTo>
                    <a:pt x="22" y="283"/>
                    <a:pt x="24" y="283"/>
                    <a:pt x="22" y="284"/>
                  </a:cubicBezTo>
                  <a:cubicBezTo>
                    <a:pt x="20" y="284"/>
                    <a:pt x="19" y="286"/>
                    <a:pt x="18" y="286"/>
                  </a:cubicBezTo>
                  <a:cubicBezTo>
                    <a:pt x="18" y="286"/>
                    <a:pt x="16" y="288"/>
                    <a:pt x="17" y="288"/>
                  </a:cubicBezTo>
                  <a:cubicBezTo>
                    <a:pt x="18" y="288"/>
                    <a:pt x="21" y="289"/>
                    <a:pt x="22" y="289"/>
                  </a:cubicBezTo>
                  <a:cubicBezTo>
                    <a:pt x="23" y="289"/>
                    <a:pt x="22" y="289"/>
                    <a:pt x="21" y="289"/>
                  </a:cubicBezTo>
                  <a:cubicBezTo>
                    <a:pt x="20" y="290"/>
                    <a:pt x="16" y="292"/>
                    <a:pt x="15" y="293"/>
                  </a:cubicBezTo>
                  <a:cubicBezTo>
                    <a:pt x="14" y="294"/>
                    <a:pt x="13" y="296"/>
                    <a:pt x="17" y="295"/>
                  </a:cubicBezTo>
                  <a:cubicBezTo>
                    <a:pt x="21" y="295"/>
                    <a:pt x="26" y="294"/>
                    <a:pt x="22" y="295"/>
                  </a:cubicBezTo>
                  <a:cubicBezTo>
                    <a:pt x="18" y="297"/>
                    <a:pt x="19" y="297"/>
                    <a:pt x="18" y="298"/>
                  </a:cubicBezTo>
                  <a:cubicBezTo>
                    <a:pt x="18" y="300"/>
                    <a:pt x="18" y="299"/>
                    <a:pt x="17" y="299"/>
                  </a:cubicBezTo>
                  <a:cubicBezTo>
                    <a:pt x="17" y="299"/>
                    <a:pt x="14" y="298"/>
                    <a:pt x="13" y="298"/>
                  </a:cubicBezTo>
                  <a:cubicBezTo>
                    <a:pt x="12" y="298"/>
                    <a:pt x="11" y="298"/>
                    <a:pt x="11" y="297"/>
                  </a:cubicBezTo>
                  <a:cubicBezTo>
                    <a:pt x="10" y="296"/>
                    <a:pt x="10" y="295"/>
                    <a:pt x="10" y="296"/>
                  </a:cubicBezTo>
                  <a:cubicBezTo>
                    <a:pt x="9" y="296"/>
                    <a:pt x="9" y="296"/>
                    <a:pt x="10" y="296"/>
                  </a:cubicBezTo>
                  <a:cubicBezTo>
                    <a:pt x="10" y="297"/>
                    <a:pt x="10" y="297"/>
                    <a:pt x="10" y="298"/>
                  </a:cubicBezTo>
                  <a:cubicBezTo>
                    <a:pt x="9" y="298"/>
                    <a:pt x="9" y="298"/>
                    <a:pt x="9" y="299"/>
                  </a:cubicBezTo>
                  <a:cubicBezTo>
                    <a:pt x="8" y="300"/>
                    <a:pt x="7" y="302"/>
                    <a:pt x="10" y="305"/>
                  </a:cubicBezTo>
                  <a:cubicBezTo>
                    <a:pt x="13" y="308"/>
                    <a:pt x="20" y="312"/>
                    <a:pt x="23" y="312"/>
                  </a:cubicBezTo>
                  <a:cubicBezTo>
                    <a:pt x="23" y="312"/>
                    <a:pt x="26" y="312"/>
                    <a:pt x="27" y="312"/>
                  </a:cubicBezTo>
                  <a:cubicBezTo>
                    <a:pt x="28" y="311"/>
                    <a:pt x="30" y="311"/>
                    <a:pt x="28" y="312"/>
                  </a:cubicBezTo>
                  <a:cubicBezTo>
                    <a:pt x="25" y="313"/>
                    <a:pt x="23" y="315"/>
                    <a:pt x="24" y="315"/>
                  </a:cubicBezTo>
                  <a:cubicBezTo>
                    <a:pt x="24" y="315"/>
                    <a:pt x="26" y="316"/>
                    <a:pt x="28" y="316"/>
                  </a:cubicBezTo>
                  <a:cubicBezTo>
                    <a:pt x="31" y="316"/>
                    <a:pt x="31" y="316"/>
                    <a:pt x="31" y="315"/>
                  </a:cubicBezTo>
                  <a:cubicBezTo>
                    <a:pt x="32" y="315"/>
                    <a:pt x="32" y="315"/>
                    <a:pt x="32" y="316"/>
                  </a:cubicBezTo>
                  <a:cubicBezTo>
                    <a:pt x="31" y="317"/>
                    <a:pt x="31" y="317"/>
                    <a:pt x="32" y="317"/>
                  </a:cubicBezTo>
                  <a:cubicBezTo>
                    <a:pt x="33" y="316"/>
                    <a:pt x="35" y="316"/>
                    <a:pt x="36" y="317"/>
                  </a:cubicBezTo>
                  <a:cubicBezTo>
                    <a:pt x="37" y="317"/>
                    <a:pt x="38" y="317"/>
                    <a:pt x="39" y="316"/>
                  </a:cubicBezTo>
                  <a:cubicBezTo>
                    <a:pt x="40" y="316"/>
                    <a:pt x="42" y="315"/>
                    <a:pt x="44" y="315"/>
                  </a:cubicBezTo>
                  <a:cubicBezTo>
                    <a:pt x="46" y="315"/>
                    <a:pt x="53" y="311"/>
                    <a:pt x="55" y="309"/>
                  </a:cubicBezTo>
                  <a:cubicBezTo>
                    <a:pt x="56" y="307"/>
                    <a:pt x="57" y="307"/>
                    <a:pt x="58" y="306"/>
                  </a:cubicBezTo>
                  <a:cubicBezTo>
                    <a:pt x="59" y="306"/>
                    <a:pt x="59" y="305"/>
                    <a:pt x="59" y="305"/>
                  </a:cubicBezTo>
                  <a:cubicBezTo>
                    <a:pt x="59" y="304"/>
                    <a:pt x="60" y="304"/>
                    <a:pt x="61" y="304"/>
                  </a:cubicBezTo>
                  <a:cubicBezTo>
                    <a:pt x="62" y="303"/>
                    <a:pt x="64" y="303"/>
                    <a:pt x="63" y="302"/>
                  </a:cubicBezTo>
                  <a:cubicBezTo>
                    <a:pt x="63" y="302"/>
                    <a:pt x="62" y="301"/>
                    <a:pt x="64" y="301"/>
                  </a:cubicBezTo>
                  <a:cubicBezTo>
                    <a:pt x="65" y="301"/>
                    <a:pt x="66" y="300"/>
                    <a:pt x="66" y="299"/>
                  </a:cubicBezTo>
                  <a:cubicBezTo>
                    <a:pt x="65" y="299"/>
                    <a:pt x="65" y="298"/>
                    <a:pt x="66" y="298"/>
                  </a:cubicBezTo>
                  <a:cubicBezTo>
                    <a:pt x="67" y="298"/>
                    <a:pt x="71" y="297"/>
                    <a:pt x="70" y="295"/>
                  </a:cubicBezTo>
                  <a:cubicBezTo>
                    <a:pt x="69" y="294"/>
                    <a:pt x="67" y="292"/>
                    <a:pt x="71" y="294"/>
                  </a:cubicBezTo>
                  <a:cubicBezTo>
                    <a:pt x="75" y="296"/>
                    <a:pt x="77" y="295"/>
                    <a:pt x="78" y="294"/>
                  </a:cubicBezTo>
                  <a:cubicBezTo>
                    <a:pt x="79" y="292"/>
                    <a:pt x="80" y="289"/>
                    <a:pt x="81" y="290"/>
                  </a:cubicBezTo>
                  <a:cubicBezTo>
                    <a:pt x="81" y="291"/>
                    <a:pt x="82" y="292"/>
                    <a:pt x="82" y="290"/>
                  </a:cubicBezTo>
                  <a:cubicBezTo>
                    <a:pt x="82" y="288"/>
                    <a:pt x="81" y="286"/>
                    <a:pt x="80" y="285"/>
                  </a:cubicBezTo>
                  <a:cubicBezTo>
                    <a:pt x="79" y="284"/>
                    <a:pt x="78" y="283"/>
                    <a:pt x="79" y="283"/>
                  </a:cubicBezTo>
                  <a:cubicBezTo>
                    <a:pt x="81" y="284"/>
                    <a:pt x="81" y="283"/>
                    <a:pt x="81" y="283"/>
                  </a:cubicBezTo>
                  <a:cubicBezTo>
                    <a:pt x="81" y="283"/>
                    <a:pt x="81" y="282"/>
                    <a:pt x="82" y="282"/>
                  </a:cubicBezTo>
                  <a:cubicBezTo>
                    <a:pt x="83" y="283"/>
                    <a:pt x="84" y="283"/>
                    <a:pt x="83" y="282"/>
                  </a:cubicBezTo>
                  <a:cubicBezTo>
                    <a:pt x="83" y="282"/>
                    <a:pt x="81" y="279"/>
                    <a:pt x="83" y="277"/>
                  </a:cubicBezTo>
                  <a:cubicBezTo>
                    <a:pt x="85" y="275"/>
                    <a:pt x="85" y="276"/>
                    <a:pt x="86" y="277"/>
                  </a:cubicBezTo>
                  <a:cubicBezTo>
                    <a:pt x="86" y="278"/>
                    <a:pt x="86" y="279"/>
                    <a:pt x="85" y="278"/>
                  </a:cubicBezTo>
                  <a:cubicBezTo>
                    <a:pt x="84" y="278"/>
                    <a:pt x="84" y="279"/>
                    <a:pt x="84" y="280"/>
                  </a:cubicBezTo>
                  <a:cubicBezTo>
                    <a:pt x="84" y="282"/>
                    <a:pt x="86" y="284"/>
                    <a:pt x="85" y="285"/>
                  </a:cubicBezTo>
                  <a:cubicBezTo>
                    <a:pt x="85" y="286"/>
                    <a:pt x="84" y="288"/>
                    <a:pt x="85" y="288"/>
                  </a:cubicBezTo>
                  <a:cubicBezTo>
                    <a:pt x="86" y="289"/>
                    <a:pt x="86" y="289"/>
                    <a:pt x="86" y="290"/>
                  </a:cubicBezTo>
                  <a:cubicBezTo>
                    <a:pt x="87" y="291"/>
                    <a:pt x="87" y="292"/>
                    <a:pt x="89" y="292"/>
                  </a:cubicBezTo>
                  <a:cubicBezTo>
                    <a:pt x="91" y="292"/>
                    <a:pt x="92" y="293"/>
                    <a:pt x="92" y="294"/>
                  </a:cubicBezTo>
                  <a:cubicBezTo>
                    <a:pt x="93" y="294"/>
                    <a:pt x="93" y="294"/>
                    <a:pt x="93" y="294"/>
                  </a:cubicBezTo>
                  <a:cubicBezTo>
                    <a:pt x="94" y="295"/>
                    <a:pt x="98" y="296"/>
                    <a:pt x="98" y="297"/>
                  </a:cubicBezTo>
                  <a:cubicBezTo>
                    <a:pt x="98" y="297"/>
                    <a:pt x="99" y="297"/>
                    <a:pt x="100" y="296"/>
                  </a:cubicBezTo>
                  <a:cubicBezTo>
                    <a:pt x="100" y="295"/>
                    <a:pt x="101" y="291"/>
                    <a:pt x="101" y="289"/>
                  </a:cubicBezTo>
                  <a:cubicBezTo>
                    <a:pt x="101" y="287"/>
                    <a:pt x="100" y="283"/>
                    <a:pt x="100" y="283"/>
                  </a:cubicBezTo>
                  <a:cubicBezTo>
                    <a:pt x="100" y="283"/>
                    <a:pt x="100" y="281"/>
                    <a:pt x="101" y="281"/>
                  </a:cubicBezTo>
                  <a:cubicBezTo>
                    <a:pt x="102" y="280"/>
                    <a:pt x="103" y="278"/>
                    <a:pt x="103" y="278"/>
                  </a:cubicBezTo>
                  <a:cubicBezTo>
                    <a:pt x="103" y="278"/>
                    <a:pt x="102" y="277"/>
                    <a:pt x="102" y="277"/>
                  </a:cubicBezTo>
                  <a:cubicBezTo>
                    <a:pt x="103" y="276"/>
                    <a:pt x="102" y="276"/>
                    <a:pt x="103" y="276"/>
                  </a:cubicBezTo>
                  <a:cubicBezTo>
                    <a:pt x="104" y="275"/>
                    <a:pt x="109" y="274"/>
                    <a:pt x="109" y="274"/>
                  </a:cubicBezTo>
                  <a:cubicBezTo>
                    <a:pt x="109" y="274"/>
                    <a:pt x="110" y="273"/>
                    <a:pt x="110" y="272"/>
                  </a:cubicBezTo>
                  <a:cubicBezTo>
                    <a:pt x="110" y="271"/>
                    <a:pt x="113" y="263"/>
                    <a:pt x="113" y="263"/>
                  </a:cubicBezTo>
                  <a:cubicBezTo>
                    <a:pt x="113" y="263"/>
                    <a:pt x="113" y="261"/>
                    <a:pt x="113" y="261"/>
                  </a:cubicBezTo>
                  <a:cubicBezTo>
                    <a:pt x="112" y="260"/>
                    <a:pt x="109" y="256"/>
                    <a:pt x="108" y="252"/>
                  </a:cubicBezTo>
                  <a:cubicBezTo>
                    <a:pt x="108" y="252"/>
                    <a:pt x="108" y="251"/>
                    <a:pt x="109" y="251"/>
                  </a:cubicBezTo>
                  <a:cubicBezTo>
                    <a:pt x="111" y="250"/>
                    <a:pt x="113" y="250"/>
                    <a:pt x="113" y="250"/>
                  </a:cubicBezTo>
                  <a:cubicBezTo>
                    <a:pt x="113" y="250"/>
                    <a:pt x="115" y="250"/>
                    <a:pt x="115" y="249"/>
                  </a:cubicBezTo>
                  <a:cubicBezTo>
                    <a:pt x="115" y="248"/>
                    <a:pt x="119" y="245"/>
                    <a:pt x="112" y="239"/>
                  </a:cubicBezTo>
                  <a:cubicBezTo>
                    <a:pt x="105" y="232"/>
                    <a:pt x="107" y="234"/>
                    <a:pt x="107" y="231"/>
                  </a:cubicBezTo>
                  <a:cubicBezTo>
                    <a:pt x="108" y="227"/>
                    <a:pt x="109" y="225"/>
                    <a:pt x="109" y="224"/>
                  </a:cubicBezTo>
                  <a:cubicBezTo>
                    <a:pt x="109" y="223"/>
                    <a:pt x="109" y="221"/>
                    <a:pt x="109" y="220"/>
                  </a:cubicBezTo>
                  <a:cubicBezTo>
                    <a:pt x="108" y="220"/>
                    <a:pt x="105" y="216"/>
                    <a:pt x="106" y="214"/>
                  </a:cubicBezTo>
                  <a:cubicBezTo>
                    <a:pt x="107" y="212"/>
                    <a:pt x="107" y="211"/>
                    <a:pt x="107" y="209"/>
                  </a:cubicBezTo>
                  <a:cubicBezTo>
                    <a:pt x="107" y="208"/>
                    <a:pt x="108" y="205"/>
                    <a:pt x="107" y="204"/>
                  </a:cubicBezTo>
                  <a:cubicBezTo>
                    <a:pt x="106" y="202"/>
                    <a:pt x="103" y="200"/>
                    <a:pt x="105" y="197"/>
                  </a:cubicBezTo>
                  <a:cubicBezTo>
                    <a:pt x="106" y="195"/>
                    <a:pt x="107" y="192"/>
                    <a:pt x="108" y="191"/>
                  </a:cubicBezTo>
                  <a:cubicBezTo>
                    <a:pt x="108" y="190"/>
                    <a:pt x="113" y="185"/>
                    <a:pt x="113" y="184"/>
                  </a:cubicBezTo>
                  <a:cubicBezTo>
                    <a:pt x="113" y="184"/>
                    <a:pt x="114" y="183"/>
                    <a:pt x="115" y="183"/>
                  </a:cubicBezTo>
                  <a:cubicBezTo>
                    <a:pt x="116" y="182"/>
                    <a:pt x="121" y="180"/>
                    <a:pt x="121" y="180"/>
                  </a:cubicBezTo>
                  <a:cubicBezTo>
                    <a:pt x="121" y="180"/>
                    <a:pt x="123" y="180"/>
                    <a:pt x="124" y="180"/>
                  </a:cubicBezTo>
                  <a:cubicBezTo>
                    <a:pt x="125" y="181"/>
                    <a:pt x="131" y="182"/>
                    <a:pt x="133" y="180"/>
                  </a:cubicBezTo>
                  <a:cubicBezTo>
                    <a:pt x="135" y="179"/>
                    <a:pt x="136" y="177"/>
                    <a:pt x="135" y="174"/>
                  </a:cubicBezTo>
                  <a:cubicBezTo>
                    <a:pt x="135" y="170"/>
                    <a:pt x="133" y="171"/>
                    <a:pt x="132" y="168"/>
                  </a:cubicBezTo>
                  <a:cubicBezTo>
                    <a:pt x="132" y="166"/>
                    <a:pt x="131" y="165"/>
                    <a:pt x="132" y="163"/>
                  </a:cubicBezTo>
                  <a:cubicBezTo>
                    <a:pt x="133" y="162"/>
                    <a:pt x="141" y="154"/>
                    <a:pt x="142" y="150"/>
                  </a:cubicBezTo>
                  <a:cubicBezTo>
                    <a:pt x="142" y="146"/>
                    <a:pt x="143" y="140"/>
                    <a:pt x="143" y="138"/>
                  </a:cubicBezTo>
                  <a:cubicBezTo>
                    <a:pt x="144" y="136"/>
                    <a:pt x="143" y="134"/>
                    <a:pt x="142" y="132"/>
                  </a:cubicBezTo>
                  <a:cubicBezTo>
                    <a:pt x="142" y="131"/>
                    <a:pt x="142" y="131"/>
                    <a:pt x="143" y="130"/>
                  </a:cubicBezTo>
                  <a:cubicBezTo>
                    <a:pt x="144" y="130"/>
                    <a:pt x="155" y="126"/>
                    <a:pt x="155" y="126"/>
                  </a:cubicBezTo>
                  <a:cubicBezTo>
                    <a:pt x="155" y="126"/>
                    <a:pt x="156" y="125"/>
                    <a:pt x="156" y="124"/>
                  </a:cubicBezTo>
                  <a:cubicBezTo>
                    <a:pt x="155" y="124"/>
                    <a:pt x="155" y="121"/>
                    <a:pt x="157" y="120"/>
                  </a:cubicBezTo>
                  <a:cubicBezTo>
                    <a:pt x="158" y="119"/>
                    <a:pt x="161" y="116"/>
                    <a:pt x="162" y="115"/>
                  </a:cubicBezTo>
                  <a:cubicBezTo>
                    <a:pt x="163" y="114"/>
                    <a:pt x="169" y="108"/>
                    <a:pt x="169" y="108"/>
                  </a:cubicBezTo>
                  <a:cubicBezTo>
                    <a:pt x="169" y="107"/>
                    <a:pt x="171" y="104"/>
                    <a:pt x="170" y="103"/>
                  </a:cubicBezTo>
                  <a:cubicBezTo>
                    <a:pt x="169" y="102"/>
                    <a:pt x="165" y="99"/>
                    <a:pt x="167" y="96"/>
                  </a:cubicBezTo>
                  <a:cubicBezTo>
                    <a:pt x="168" y="94"/>
                    <a:pt x="170" y="96"/>
                    <a:pt x="171" y="94"/>
                  </a:cubicBezTo>
                  <a:cubicBezTo>
                    <a:pt x="172" y="93"/>
                    <a:pt x="172" y="93"/>
                    <a:pt x="173" y="90"/>
                  </a:cubicBezTo>
                  <a:cubicBezTo>
                    <a:pt x="174" y="87"/>
                    <a:pt x="176" y="85"/>
                    <a:pt x="179" y="83"/>
                  </a:cubicBezTo>
                  <a:cubicBezTo>
                    <a:pt x="179" y="83"/>
                    <a:pt x="182" y="82"/>
                    <a:pt x="182" y="82"/>
                  </a:cubicBezTo>
                  <a:cubicBezTo>
                    <a:pt x="183" y="81"/>
                    <a:pt x="183" y="81"/>
                    <a:pt x="184" y="81"/>
                  </a:cubicBezTo>
                  <a:cubicBezTo>
                    <a:pt x="185" y="82"/>
                    <a:pt x="191" y="85"/>
                    <a:pt x="192" y="83"/>
                  </a:cubicBezTo>
                  <a:cubicBezTo>
                    <a:pt x="194" y="82"/>
                    <a:pt x="195" y="78"/>
                    <a:pt x="195" y="75"/>
                  </a:cubicBezTo>
                  <a:cubicBezTo>
                    <a:pt x="196" y="71"/>
                    <a:pt x="196" y="71"/>
                    <a:pt x="196" y="71"/>
                  </a:cubicBezTo>
                  <a:cubicBezTo>
                    <a:pt x="196" y="71"/>
                    <a:pt x="196" y="70"/>
                    <a:pt x="197" y="70"/>
                  </a:cubicBezTo>
                  <a:cubicBezTo>
                    <a:pt x="198" y="70"/>
                    <a:pt x="220" y="74"/>
                    <a:pt x="220" y="74"/>
                  </a:cubicBezTo>
                  <a:cubicBezTo>
                    <a:pt x="220" y="74"/>
                    <a:pt x="223" y="76"/>
                    <a:pt x="223" y="72"/>
                  </a:cubicBezTo>
                  <a:cubicBezTo>
                    <a:pt x="223" y="69"/>
                    <a:pt x="224" y="69"/>
                    <a:pt x="225" y="68"/>
                  </a:cubicBezTo>
                  <a:cubicBezTo>
                    <a:pt x="225" y="67"/>
                    <a:pt x="228" y="63"/>
                    <a:pt x="227" y="61"/>
                  </a:cubicBezTo>
                  <a:cubicBezTo>
                    <a:pt x="227" y="59"/>
                    <a:pt x="225" y="57"/>
                    <a:pt x="227" y="57"/>
                  </a:cubicBezTo>
                  <a:cubicBezTo>
                    <a:pt x="228" y="57"/>
                    <a:pt x="230" y="57"/>
                    <a:pt x="232" y="57"/>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66" name="Freeform 1251">
              <a:extLst>
                <a:ext uri="{FF2B5EF4-FFF2-40B4-BE49-F238E27FC236}">
                  <a16:creationId xmlns:a16="http://schemas.microsoft.com/office/drawing/2014/main" id="{CC357351-38ED-460C-ABED-D4CDEF1CBF2D}"/>
                </a:ext>
              </a:extLst>
            </p:cNvPr>
            <p:cNvSpPr>
              <a:spLocks/>
            </p:cNvSpPr>
            <p:nvPr/>
          </p:nvSpPr>
          <p:spPr bwMode="auto">
            <a:xfrm>
              <a:off x="2998" y="1075"/>
              <a:ext cx="228" cy="104"/>
            </a:xfrm>
            <a:custGeom>
              <a:avLst/>
              <a:gdLst>
                <a:gd name="T0" fmla="*/ 143 w 165"/>
                <a:gd name="T1" fmla="*/ 55 h 76"/>
                <a:gd name="T2" fmla="*/ 151 w 165"/>
                <a:gd name="T3" fmla="*/ 43 h 76"/>
                <a:gd name="T4" fmla="*/ 158 w 165"/>
                <a:gd name="T5" fmla="*/ 39 h 76"/>
                <a:gd name="T6" fmla="*/ 163 w 165"/>
                <a:gd name="T7" fmla="*/ 35 h 76"/>
                <a:gd name="T8" fmla="*/ 161 w 165"/>
                <a:gd name="T9" fmla="*/ 31 h 76"/>
                <a:gd name="T10" fmla="*/ 162 w 165"/>
                <a:gd name="T11" fmla="*/ 26 h 76"/>
                <a:gd name="T12" fmla="*/ 152 w 165"/>
                <a:gd name="T13" fmla="*/ 22 h 76"/>
                <a:gd name="T14" fmla="*/ 149 w 165"/>
                <a:gd name="T15" fmla="*/ 19 h 76"/>
                <a:gd name="T16" fmla="*/ 141 w 165"/>
                <a:gd name="T17" fmla="*/ 10 h 76"/>
                <a:gd name="T18" fmla="*/ 147 w 165"/>
                <a:gd name="T19" fmla="*/ 3 h 76"/>
                <a:gd name="T20" fmla="*/ 131 w 165"/>
                <a:gd name="T21" fmla="*/ 5 h 76"/>
                <a:gd name="T22" fmla="*/ 128 w 165"/>
                <a:gd name="T23" fmla="*/ 0 h 76"/>
                <a:gd name="T24" fmla="*/ 121 w 165"/>
                <a:gd name="T25" fmla="*/ 7 h 76"/>
                <a:gd name="T26" fmla="*/ 111 w 165"/>
                <a:gd name="T27" fmla="*/ 9 h 76"/>
                <a:gd name="T28" fmla="*/ 94 w 165"/>
                <a:gd name="T29" fmla="*/ 10 h 76"/>
                <a:gd name="T30" fmla="*/ 83 w 165"/>
                <a:gd name="T31" fmla="*/ 9 h 76"/>
                <a:gd name="T32" fmla="*/ 76 w 165"/>
                <a:gd name="T33" fmla="*/ 15 h 76"/>
                <a:gd name="T34" fmla="*/ 67 w 165"/>
                <a:gd name="T35" fmla="*/ 11 h 76"/>
                <a:gd name="T36" fmla="*/ 61 w 165"/>
                <a:gd name="T37" fmla="*/ 24 h 76"/>
                <a:gd name="T38" fmla="*/ 57 w 165"/>
                <a:gd name="T39" fmla="*/ 21 h 76"/>
                <a:gd name="T40" fmla="*/ 52 w 165"/>
                <a:gd name="T41" fmla="*/ 32 h 76"/>
                <a:gd name="T42" fmla="*/ 47 w 165"/>
                <a:gd name="T43" fmla="*/ 23 h 76"/>
                <a:gd name="T44" fmla="*/ 43 w 165"/>
                <a:gd name="T45" fmla="*/ 20 h 76"/>
                <a:gd name="T46" fmla="*/ 46 w 165"/>
                <a:gd name="T47" fmla="*/ 14 h 76"/>
                <a:gd name="T48" fmla="*/ 41 w 165"/>
                <a:gd name="T49" fmla="*/ 9 h 76"/>
                <a:gd name="T50" fmla="*/ 22 w 165"/>
                <a:gd name="T51" fmla="*/ 2 h 76"/>
                <a:gd name="T52" fmla="*/ 25 w 165"/>
                <a:gd name="T53" fmla="*/ 5 h 76"/>
                <a:gd name="T54" fmla="*/ 29 w 165"/>
                <a:gd name="T55" fmla="*/ 6 h 76"/>
                <a:gd name="T56" fmla="*/ 31 w 165"/>
                <a:gd name="T57" fmla="*/ 7 h 76"/>
                <a:gd name="T58" fmla="*/ 32 w 165"/>
                <a:gd name="T59" fmla="*/ 11 h 76"/>
                <a:gd name="T60" fmla="*/ 30 w 165"/>
                <a:gd name="T61" fmla="*/ 15 h 76"/>
                <a:gd name="T62" fmla="*/ 24 w 165"/>
                <a:gd name="T63" fmla="*/ 11 h 76"/>
                <a:gd name="T64" fmla="*/ 16 w 165"/>
                <a:gd name="T65" fmla="*/ 11 h 76"/>
                <a:gd name="T66" fmla="*/ 15 w 165"/>
                <a:gd name="T67" fmla="*/ 15 h 76"/>
                <a:gd name="T68" fmla="*/ 11 w 165"/>
                <a:gd name="T69" fmla="*/ 15 h 76"/>
                <a:gd name="T70" fmla="*/ 15 w 165"/>
                <a:gd name="T71" fmla="*/ 21 h 76"/>
                <a:gd name="T72" fmla="*/ 7 w 165"/>
                <a:gd name="T73" fmla="*/ 18 h 76"/>
                <a:gd name="T74" fmla="*/ 10 w 165"/>
                <a:gd name="T75" fmla="*/ 24 h 76"/>
                <a:gd name="T76" fmla="*/ 1 w 165"/>
                <a:gd name="T77" fmla="*/ 24 h 76"/>
                <a:gd name="T78" fmla="*/ 27 w 165"/>
                <a:gd name="T79" fmla="*/ 23 h 76"/>
                <a:gd name="T80" fmla="*/ 31 w 165"/>
                <a:gd name="T81" fmla="*/ 33 h 76"/>
                <a:gd name="T82" fmla="*/ 38 w 165"/>
                <a:gd name="T83" fmla="*/ 36 h 76"/>
                <a:gd name="T84" fmla="*/ 26 w 165"/>
                <a:gd name="T85" fmla="*/ 36 h 76"/>
                <a:gd name="T86" fmla="*/ 21 w 165"/>
                <a:gd name="T87" fmla="*/ 37 h 76"/>
                <a:gd name="T88" fmla="*/ 15 w 165"/>
                <a:gd name="T89" fmla="*/ 39 h 76"/>
                <a:gd name="T90" fmla="*/ 8 w 165"/>
                <a:gd name="T91" fmla="*/ 41 h 76"/>
                <a:gd name="T92" fmla="*/ 33 w 165"/>
                <a:gd name="T93" fmla="*/ 46 h 76"/>
                <a:gd name="T94" fmla="*/ 40 w 165"/>
                <a:gd name="T95" fmla="*/ 49 h 76"/>
                <a:gd name="T96" fmla="*/ 41 w 165"/>
                <a:gd name="T97" fmla="*/ 53 h 76"/>
                <a:gd name="T98" fmla="*/ 29 w 165"/>
                <a:gd name="T99" fmla="*/ 61 h 76"/>
                <a:gd name="T100" fmla="*/ 56 w 165"/>
                <a:gd name="T101" fmla="*/ 64 h 76"/>
                <a:gd name="T102" fmla="*/ 60 w 165"/>
                <a:gd name="T103" fmla="*/ 67 h 76"/>
                <a:gd name="T104" fmla="*/ 97 w 165"/>
                <a:gd name="T105" fmla="*/ 72 h 76"/>
                <a:gd name="T106" fmla="*/ 134 w 165"/>
                <a:gd name="T107" fmla="*/ 55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5" h="76">
                  <a:moveTo>
                    <a:pt x="134" y="55"/>
                  </a:moveTo>
                  <a:cubicBezTo>
                    <a:pt x="135" y="55"/>
                    <a:pt x="136" y="53"/>
                    <a:pt x="137" y="54"/>
                  </a:cubicBezTo>
                  <a:cubicBezTo>
                    <a:pt x="138" y="55"/>
                    <a:pt x="141" y="55"/>
                    <a:pt x="143" y="55"/>
                  </a:cubicBezTo>
                  <a:cubicBezTo>
                    <a:pt x="144" y="54"/>
                    <a:pt x="150" y="51"/>
                    <a:pt x="149" y="49"/>
                  </a:cubicBezTo>
                  <a:cubicBezTo>
                    <a:pt x="148" y="47"/>
                    <a:pt x="149" y="46"/>
                    <a:pt x="150" y="45"/>
                  </a:cubicBezTo>
                  <a:cubicBezTo>
                    <a:pt x="151" y="44"/>
                    <a:pt x="150" y="42"/>
                    <a:pt x="151" y="43"/>
                  </a:cubicBezTo>
                  <a:cubicBezTo>
                    <a:pt x="153" y="44"/>
                    <a:pt x="154" y="45"/>
                    <a:pt x="156" y="44"/>
                  </a:cubicBezTo>
                  <a:cubicBezTo>
                    <a:pt x="157" y="42"/>
                    <a:pt x="159" y="40"/>
                    <a:pt x="158" y="40"/>
                  </a:cubicBezTo>
                  <a:cubicBezTo>
                    <a:pt x="157" y="39"/>
                    <a:pt x="157" y="39"/>
                    <a:pt x="158" y="39"/>
                  </a:cubicBezTo>
                  <a:cubicBezTo>
                    <a:pt x="159" y="39"/>
                    <a:pt x="160" y="38"/>
                    <a:pt x="159" y="37"/>
                  </a:cubicBezTo>
                  <a:cubicBezTo>
                    <a:pt x="158" y="36"/>
                    <a:pt x="153" y="36"/>
                    <a:pt x="158" y="36"/>
                  </a:cubicBezTo>
                  <a:cubicBezTo>
                    <a:pt x="163" y="35"/>
                    <a:pt x="165" y="35"/>
                    <a:pt x="163" y="35"/>
                  </a:cubicBezTo>
                  <a:cubicBezTo>
                    <a:pt x="161" y="34"/>
                    <a:pt x="161" y="34"/>
                    <a:pt x="160" y="33"/>
                  </a:cubicBezTo>
                  <a:cubicBezTo>
                    <a:pt x="160" y="32"/>
                    <a:pt x="160" y="32"/>
                    <a:pt x="159" y="32"/>
                  </a:cubicBezTo>
                  <a:cubicBezTo>
                    <a:pt x="158" y="32"/>
                    <a:pt x="158" y="32"/>
                    <a:pt x="161" y="31"/>
                  </a:cubicBezTo>
                  <a:cubicBezTo>
                    <a:pt x="163" y="31"/>
                    <a:pt x="163" y="30"/>
                    <a:pt x="162" y="30"/>
                  </a:cubicBezTo>
                  <a:cubicBezTo>
                    <a:pt x="160" y="30"/>
                    <a:pt x="159" y="30"/>
                    <a:pt x="160" y="29"/>
                  </a:cubicBezTo>
                  <a:cubicBezTo>
                    <a:pt x="161" y="29"/>
                    <a:pt x="162" y="27"/>
                    <a:pt x="162" y="26"/>
                  </a:cubicBezTo>
                  <a:cubicBezTo>
                    <a:pt x="163" y="25"/>
                    <a:pt x="163" y="24"/>
                    <a:pt x="162" y="24"/>
                  </a:cubicBezTo>
                  <a:cubicBezTo>
                    <a:pt x="161" y="24"/>
                    <a:pt x="155" y="22"/>
                    <a:pt x="154" y="22"/>
                  </a:cubicBezTo>
                  <a:cubicBezTo>
                    <a:pt x="153" y="21"/>
                    <a:pt x="152" y="21"/>
                    <a:pt x="152" y="22"/>
                  </a:cubicBezTo>
                  <a:cubicBezTo>
                    <a:pt x="151" y="22"/>
                    <a:pt x="151" y="21"/>
                    <a:pt x="152" y="20"/>
                  </a:cubicBezTo>
                  <a:cubicBezTo>
                    <a:pt x="153" y="19"/>
                    <a:pt x="153" y="20"/>
                    <a:pt x="152" y="19"/>
                  </a:cubicBezTo>
                  <a:cubicBezTo>
                    <a:pt x="151" y="17"/>
                    <a:pt x="150" y="18"/>
                    <a:pt x="149" y="19"/>
                  </a:cubicBezTo>
                  <a:cubicBezTo>
                    <a:pt x="148" y="19"/>
                    <a:pt x="144" y="19"/>
                    <a:pt x="145" y="17"/>
                  </a:cubicBezTo>
                  <a:cubicBezTo>
                    <a:pt x="147" y="16"/>
                    <a:pt x="149" y="15"/>
                    <a:pt x="148" y="14"/>
                  </a:cubicBezTo>
                  <a:cubicBezTo>
                    <a:pt x="146" y="12"/>
                    <a:pt x="139" y="11"/>
                    <a:pt x="141" y="10"/>
                  </a:cubicBezTo>
                  <a:cubicBezTo>
                    <a:pt x="142" y="8"/>
                    <a:pt x="142" y="8"/>
                    <a:pt x="142" y="7"/>
                  </a:cubicBezTo>
                  <a:cubicBezTo>
                    <a:pt x="142" y="5"/>
                    <a:pt x="144" y="5"/>
                    <a:pt x="145" y="5"/>
                  </a:cubicBezTo>
                  <a:cubicBezTo>
                    <a:pt x="147" y="4"/>
                    <a:pt x="151" y="3"/>
                    <a:pt x="147" y="3"/>
                  </a:cubicBezTo>
                  <a:cubicBezTo>
                    <a:pt x="144" y="4"/>
                    <a:pt x="138" y="4"/>
                    <a:pt x="138" y="7"/>
                  </a:cubicBezTo>
                  <a:cubicBezTo>
                    <a:pt x="137" y="9"/>
                    <a:pt x="137" y="10"/>
                    <a:pt x="136" y="9"/>
                  </a:cubicBezTo>
                  <a:cubicBezTo>
                    <a:pt x="135" y="8"/>
                    <a:pt x="130" y="6"/>
                    <a:pt x="131" y="5"/>
                  </a:cubicBezTo>
                  <a:cubicBezTo>
                    <a:pt x="132" y="4"/>
                    <a:pt x="132" y="3"/>
                    <a:pt x="131" y="2"/>
                  </a:cubicBezTo>
                  <a:cubicBezTo>
                    <a:pt x="129" y="2"/>
                    <a:pt x="127" y="2"/>
                    <a:pt x="128" y="1"/>
                  </a:cubicBezTo>
                  <a:cubicBezTo>
                    <a:pt x="128" y="1"/>
                    <a:pt x="130" y="1"/>
                    <a:pt x="128" y="0"/>
                  </a:cubicBezTo>
                  <a:cubicBezTo>
                    <a:pt x="126" y="0"/>
                    <a:pt x="124" y="0"/>
                    <a:pt x="123" y="0"/>
                  </a:cubicBezTo>
                  <a:cubicBezTo>
                    <a:pt x="122" y="0"/>
                    <a:pt x="118" y="0"/>
                    <a:pt x="119" y="2"/>
                  </a:cubicBezTo>
                  <a:cubicBezTo>
                    <a:pt x="120" y="4"/>
                    <a:pt x="122" y="6"/>
                    <a:pt x="121" y="7"/>
                  </a:cubicBezTo>
                  <a:cubicBezTo>
                    <a:pt x="120" y="8"/>
                    <a:pt x="120" y="8"/>
                    <a:pt x="121" y="8"/>
                  </a:cubicBezTo>
                  <a:cubicBezTo>
                    <a:pt x="121" y="8"/>
                    <a:pt x="121" y="9"/>
                    <a:pt x="120" y="9"/>
                  </a:cubicBezTo>
                  <a:cubicBezTo>
                    <a:pt x="118" y="9"/>
                    <a:pt x="113" y="8"/>
                    <a:pt x="111" y="9"/>
                  </a:cubicBezTo>
                  <a:cubicBezTo>
                    <a:pt x="110" y="10"/>
                    <a:pt x="103" y="14"/>
                    <a:pt x="102" y="12"/>
                  </a:cubicBezTo>
                  <a:cubicBezTo>
                    <a:pt x="101" y="10"/>
                    <a:pt x="97" y="9"/>
                    <a:pt x="95" y="8"/>
                  </a:cubicBezTo>
                  <a:cubicBezTo>
                    <a:pt x="94" y="8"/>
                    <a:pt x="93" y="8"/>
                    <a:pt x="94" y="10"/>
                  </a:cubicBezTo>
                  <a:cubicBezTo>
                    <a:pt x="95" y="12"/>
                    <a:pt x="96" y="17"/>
                    <a:pt x="96" y="17"/>
                  </a:cubicBezTo>
                  <a:cubicBezTo>
                    <a:pt x="96" y="17"/>
                    <a:pt x="98" y="23"/>
                    <a:pt x="94" y="16"/>
                  </a:cubicBezTo>
                  <a:cubicBezTo>
                    <a:pt x="90" y="9"/>
                    <a:pt x="84" y="9"/>
                    <a:pt x="83" y="9"/>
                  </a:cubicBezTo>
                  <a:cubicBezTo>
                    <a:pt x="80" y="9"/>
                    <a:pt x="78" y="10"/>
                    <a:pt x="77" y="11"/>
                  </a:cubicBezTo>
                  <a:cubicBezTo>
                    <a:pt x="76" y="11"/>
                    <a:pt x="76" y="13"/>
                    <a:pt x="76" y="13"/>
                  </a:cubicBezTo>
                  <a:cubicBezTo>
                    <a:pt x="75" y="14"/>
                    <a:pt x="75" y="14"/>
                    <a:pt x="76" y="15"/>
                  </a:cubicBezTo>
                  <a:cubicBezTo>
                    <a:pt x="77" y="16"/>
                    <a:pt x="77" y="17"/>
                    <a:pt x="77" y="18"/>
                  </a:cubicBezTo>
                  <a:cubicBezTo>
                    <a:pt x="76" y="20"/>
                    <a:pt x="75" y="18"/>
                    <a:pt x="75" y="18"/>
                  </a:cubicBezTo>
                  <a:cubicBezTo>
                    <a:pt x="75" y="18"/>
                    <a:pt x="68" y="12"/>
                    <a:pt x="67" y="11"/>
                  </a:cubicBezTo>
                  <a:cubicBezTo>
                    <a:pt x="66" y="9"/>
                    <a:pt x="65" y="10"/>
                    <a:pt x="63" y="10"/>
                  </a:cubicBezTo>
                  <a:cubicBezTo>
                    <a:pt x="62" y="11"/>
                    <a:pt x="61" y="11"/>
                    <a:pt x="63" y="16"/>
                  </a:cubicBezTo>
                  <a:cubicBezTo>
                    <a:pt x="65" y="20"/>
                    <a:pt x="62" y="23"/>
                    <a:pt x="61" y="24"/>
                  </a:cubicBezTo>
                  <a:cubicBezTo>
                    <a:pt x="61" y="26"/>
                    <a:pt x="59" y="24"/>
                    <a:pt x="59" y="23"/>
                  </a:cubicBezTo>
                  <a:cubicBezTo>
                    <a:pt x="58" y="23"/>
                    <a:pt x="58" y="23"/>
                    <a:pt x="58" y="22"/>
                  </a:cubicBezTo>
                  <a:cubicBezTo>
                    <a:pt x="58" y="21"/>
                    <a:pt x="59" y="20"/>
                    <a:pt x="57" y="21"/>
                  </a:cubicBezTo>
                  <a:cubicBezTo>
                    <a:pt x="56" y="21"/>
                    <a:pt x="55" y="22"/>
                    <a:pt x="54" y="26"/>
                  </a:cubicBezTo>
                  <a:cubicBezTo>
                    <a:pt x="53" y="29"/>
                    <a:pt x="53" y="28"/>
                    <a:pt x="52" y="26"/>
                  </a:cubicBezTo>
                  <a:cubicBezTo>
                    <a:pt x="51" y="25"/>
                    <a:pt x="51" y="29"/>
                    <a:pt x="52" y="32"/>
                  </a:cubicBezTo>
                  <a:cubicBezTo>
                    <a:pt x="52" y="36"/>
                    <a:pt x="48" y="28"/>
                    <a:pt x="47" y="27"/>
                  </a:cubicBezTo>
                  <a:cubicBezTo>
                    <a:pt x="46" y="26"/>
                    <a:pt x="47" y="25"/>
                    <a:pt x="48" y="24"/>
                  </a:cubicBezTo>
                  <a:cubicBezTo>
                    <a:pt x="49" y="23"/>
                    <a:pt x="48" y="23"/>
                    <a:pt x="47" y="23"/>
                  </a:cubicBezTo>
                  <a:cubicBezTo>
                    <a:pt x="47" y="23"/>
                    <a:pt x="46" y="23"/>
                    <a:pt x="47" y="22"/>
                  </a:cubicBezTo>
                  <a:cubicBezTo>
                    <a:pt x="47" y="22"/>
                    <a:pt x="46" y="22"/>
                    <a:pt x="45" y="22"/>
                  </a:cubicBezTo>
                  <a:cubicBezTo>
                    <a:pt x="44" y="22"/>
                    <a:pt x="44" y="21"/>
                    <a:pt x="43" y="20"/>
                  </a:cubicBezTo>
                  <a:cubicBezTo>
                    <a:pt x="41" y="18"/>
                    <a:pt x="43" y="19"/>
                    <a:pt x="45" y="20"/>
                  </a:cubicBezTo>
                  <a:cubicBezTo>
                    <a:pt x="47" y="22"/>
                    <a:pt x="47" y="20"/>
                    <a:pt x="48" y="17"/>
                  </a:cubicBezTo>
                  <a:cubicBezTo>
                    <a:pt x="49" y="15"/>
                    <a:pt x="48" y="14"/>
                    <a:pt x="46" y="14"/>
                  </a:cubicBezTo>
                  <a:cubicBezTo>
                    <a:pt x="44" y="14"/>
                    <a:pt x="45" y="14"/>
                    <a:pt x="47" y="13"/>
                  </a:cubicBezTo>
                  <a:cubicBezTo>
                    <a:pt x="49" y="13"/>
                    <a:pt x="46" y="12"/>
                    <a:pt x="45" y="12"/>
                  </a:cubicBezTo>
                  <a:cubicBezTo>
                    <a:pt x="43" y="12"/>
                    <a:pt x="42" y="11"/>
                    <a:pt x="41" y="9"/>
                  </a:cubicBezTo>
                  <a:cubicBezTo>
                    <a:pt x="39" y="7"/>
                    <a:pt x="35" y="4"/>
                    <a:pt x="33" y="3"/>
                  </a:cubicBezTo>
                  <a:cubicBezTo>
                    <a:pt x="32" y="1"/>
                    <a:pt x="29" y="1"/>
                    <a:pt x="28" y="1"/>
                  </a:cubicBezTo>
                  <a:cubicBezTo>
                    <a:pt x="27" y="2"/>
                    <a:pt x="23" y="2"/>
                    <a:pt x="22" y="2"/>
                  </a:cubicBezTo>
                  <a:cubicBezTo>
                    <a:pt x="21" y="2"/>
                    <a:pt x="22" y="2"/>
                    <a:pt x="22" y="3"/>
                  </a:cubicBezTo>
                  <a:cubicBezTo>
                    <a:pt x="22" y="5"/>
                    <a:pt x="22" y="5"/>
                    <a:pt x="23" y="5"/>
                  </a:cubicBezTo>
                  <a:cubicBezTo>
                    <a:pt x="25" y="5"/>
                    <a:pt x="25" y="5"/>
                    <a:pt x="25" y="5"/>
                  </a:cubicBezTo>
                  <a:cubicBezTo>
                    <a:pt x="25" y="5"/>
                    <a:pt x="26" y="5"/>
                    <a:pt x="27" y="5"/>
                  </a:cubicBezTo>
                  <a:cubicBezTo>
                    <a:pt x="27" y="5"/>
                    <a:pt x="29" y="4"/>
                    <a:pt x="28" y="4"/>
                  </a:cubicBezTo>
                  <a:cubicBezTo>
                    <a:pt x="27" y="5"/>
                    <a:pt x="28" y="6"/>
                    <a:pt x="29" y="6"/>
                  </a:cubicBezTo>
                  <a:cubicBezTo>
                    <a:pt x="29" y="6"/>
                    <a:pt x="31" y="5"/>
                    <a:pt x="31" y="5"/>
                  </a:cubicBezTo>
                  <a:cubicBezTo>
                    <a:pt x="30" y="6"/>
                    <a:pt x="30" y="6"/>
                    <a:pt x="31" y="6"/>
                  </a:cubicBezTo>
                  <a:cubicBezTo>
                    <a:pt x="33" y="6"/>
                    <a:pt x="31" y="7"/>
                    <a:pt x="31" y="7"/>
                  </a:cubicBezTo>
                  <a:cubicBezTo>
                    <a:pt x="31" y="7"/>
                    <a:pt x="30" y="8"/>
                    <a:pt x="28" y="9"/>
                  </a:cubicBezTo>
                  <a:cubicBezTo>
                    <a:pt x="26" y="10"/>
                    <a:pt x="29" y="10"/>
                    <a:pt x="30" y="11"/>
                  </a:cubicBezTo>
                  <a:cubicBezTo>
                    <a:pt x="32" y="11"/>
                    <a:pt x="32" y="11"/>
                    <a:pt x="32" y="11"/>
                  </a:cubicBezTo>
                  <a:cubicBezTo>
                    <a:pt x="31" y="12"/>
                    <a:pt x="32" y="11"/>
                    <a:pt x="32" y="15"/>
                  </a:cubicBezTo>
                  <a:cubicBezTo>
                    <a:pt x="33" y="18"/>
                    <a:pt x="31" y="15"/>
                    <a:pt x="31" y="15"/>
                  </a:cubicBezTo>
                  <a:cubicBezTo>
                    <a:pt x="31" y="14"/>
                    <a:pt x="31" y="13"/>
                    <a:pt x="30" y="15"/>
                  </a:cubicBezTo>
                  <a:cubicBezTo>
                    <a:pt x="29" y="17"/>
                    <a:pt x="29" y="14"/>
                    <a:pt x="29" y="12"/>
                  </a:cubicBezTo>
                  <a:cubicBezTo>
                    <a:pt x="28" y="11"/>
                    <a:pt x="27" y="11"/>
                    <a:pt x="26" y="14"/>
                  </a:cubicBezTo>
                  <a:cubicBezTo>
                    <a:pt x="25" y="16"/>
                    <a:pt x="25" y="13"/>
                    <a:pt x="24" y="11"/>
                  </a:cubicBezTo>
                  <a:cubicBezTo>
                    <a:pt x="23" y="10"/>
                    <a:pt x="17" y="9"/>
                    <a:pt x="16" y="9"/>
                  </a:cubicBezTo>
                  <a:cubicBezTo>
                    <a:pt x="15" y="8"/>
                    <a:pt x="16" y="10"/>
                    <a:pt x="15" y="9"/>
                  </a:cubicBezTo>
                  <a:cubicBezTo>
                    <a:pt x="13" y="9"/>
                    <a:pt x="13" y="9"/>
                    <a:pt x="16" y="11"/>
                  </a:cubicBezTo>
                  <a:cubicBezTo>
                    <a:pt x="19" y="13"/>
                    <a:pt x="16" y="12"/>
                    <a:pt x="15" y="12"/>
                  </a:cubicBezTo>
                  <a:cubicBezTo>
                    <a:pt x="14" y="11"/>
                    <a:pt x="12" y="10"/>
                    <a:pt x="12" y="11"/>
                  </a:cubicBezTo>
                  <a:cubicBezTo>
                    <a:pt x="11" y="13"/>
                    <a:pt x="11" y="14"/>
                    <a:pt x="15" y="15"/>
                  </a:cubicBezTo>
                  <a:cubicBezTo>
                    <a:pt x="19" y="16"/>
                    <a:pt x="18" y="16"/>
                    <a:pt x="17" y="16"/>
                  </a:cubicBezTo>
                  <a:cubicBezTo>
                    <a:pt x="16" y="16"/>
                    <a:pt x="14" y="16"/>
                    <a:pt x="13" y="15"/>
                  </a:cubicBezTo>
                  <a:cubicBezTo>
                    <a:pt x="12" y="15"/>
                    <a:pt x="11" y="14"/>
                    <a:pt x="11" y="15"/>
                  </a:cubicBezTo>
                  <a:cubicBezTo>
                    <a:pt x="10" y="16"/>
                    <a:pt x="14" y="18"/>
                    <a:pt x="17" y="18"/>
                  </a:cubicBezTo>
                  <a:cubicBezTo>
                    <a:pt x="19" y="19"/>
                    <a:pt x="18" y="19"/>
                    <a:pt x="17" y="19"/>
                  </a:cubicBezTo>
                  <a:cubicBezTo>
                    <a:pt x="16" y="20"/>
                    <a:pt x="15" y="19"/>
                    <a:pt x="15" y="21"/>
                  </a:cubicBezTo>
                  <a:cubicBezTo>
                    <a:pt x="15" y="22"/>
                    <a:pt x="14" y="21"/>
                    <a:pt x="14" y="20"/>
                  </a:cubicBezTo>
                  <a:cubicBezTo>
                    <a:pt x="13" y="20"/>
                    <a:pt x="10" y="18"/>
                    <a:pt x="8" y="18"/>
                  </a:cubicBezTo>
                  <a:cubicBezTo>
                    <a:pt x="7" y="18"/>
                    <a:pt x="7" y="17"/>
                    <a:pt x="7" y="18"/>
                  </a:cubicBezTo>
                  <a:cubicBezTo>
                    <a:pt x="7" y="19"/>
                    <a:pt x="6" y="20"/>
                    <a:pt x="9" y="21"/>
                  </a:cubicBezTo>
                  <a:cubicBezTo>
                    <a:pt x="11" y="22"/>
                    <a:pt x="10" y="22"/>
                    <a:pt x="9" y="22"/>
                  </a:cubicBezTo>
                  <a:cubicBezTo>
                    <a:pt x="7" y="21"/>
                    <a:pt x="8" y="22"/>
                    <a:pt x="10" y="24"/>
                  </a:cubicBezTo>
                  <a:cubicBezTo>
                    <a:pt x="12" y="26"/>
                    <a:pt x="8" y="23"/>
                    <a:pt x="6" y="22"/>
                  </a:cubicBezTo>
                  <a:cubicBezTo>
                    <a:pt x="4" y="21"/>
                    <a:pt x="3" y="22"/>
                    <a:pt x="3" y="23"/>
                  </a:cubicBezTo>
                  <a:cubicBezTo>
                    <a:pt x="2" y="23"/>
                    <a:pt x="2" y="24"/>
                    <a:pt x="1" y="24"/>
                  </a:cubicBezTo>
                  <a:cubicBezTo>
                    <a:pt x="0" y="25"/>
                    <a:pt x="2" y="25"/>
                    <a:pt x="2" y="25"/>
                  </a:cubicBezTo>
                  <a:cubicBezTo>
                    <a:pt x="2" y="25"/>
                    <a:pt x="9" y="28"/>
                    <a:pt x="13" y="27"/>
                  </a:cubicBezTo>
                  <a:cubicBezTo>
                    <a:pt x="16" y="25"/>
                    <a:pt x="24" y="22"/>
                    <a:pt x="27" y="23"/>
                  </a:cubicBezTo>
                  <a:cubicBezTo>
                    <a:pt x="30" y="24"/>
                    <a:pt x="45" y="26"/>
                    <a:pt x="42" y="27"/>
                  </a:cubicBezTo>
                  <a:cubicBezTo>
                    <a:pt x="39" y="28"/>
                    <a:pt x="37" y="29"/>
                    <a:pt x="35" y="30"/>
                  </a:cubicBezTo>
                  <a:cubicBezTo>
                    <a:pt x="33" y="30"/>
                    <a:pt x="29" y="32"/>
                    <a:pt x="31" y="33"/>
                  </a:cubicBezTo>
                  <a:cubicBezTo>
                    <a:pt x="34" y="34"/>
                    <a:pt x="39" y="35"/>
                    <a:pt x="40" y="34"/>
                  </a:cubicBezTo>
                  <a:cubicBezTo>
                    <a:pt x="41" y="33"/>
                    <a:pt x="43" y="32"/>
                    <a:pt x="42" y="33"/>
                  </a:cubicBezTo>
                  <a:cubicBezTo>
                    <a:pt x="41" y="35"/>
                    <a:pt x="40" y="37"/>
                    <a:pt x="38" y="36"/>
                  </a:cubicBezTo>
                  <a:cubicBezTo>
                    <a:pt x="35" y="36"/>
                    <a:pt x="31" y="36"/>
                    <a:pt x="29" y="37"/>
                  </a:cubicBezTo>
                  <a:cubicBezTo>
                    <a:pt x="28" y="37"/>
                    <a:pt x="27" y="37"/>
                    <a:pt x="27" y="36"/>
                  </a:cubicBezTo>
                  <a:cubicBezTo>
                    <a:pt x="28" y="35"/>
                    <a:pt x="27" y="35"/>
                    <a:pt x="26" y="36"/>
                  </a:cubicBezTo>
                  <a:cubicBezTo>
                    <a:pt x="24" y="38"/>
                    <a:pt x="24" y="38"/>
                    <a:pt x="24" y="37"/>
                  </a:cubicBezTo>
                  <a:cubicBezTo>
                    <a:pt x="23" y="37"/>
                    <a:pt x="22" y="37"/>
                    <a:pt x="22" y="38"/>
                  </a:cubicBezTo>
                  <a:cubicBezTo>
                    <a:pt x="21" y="39"/>
                    <a:pt x="20" y="38"/>
                    <a:pt x="21" y="37"/>
                  </a:cubicBezTo>
                  <a:cubicBezTo>
                    <a:pt x="21" y="37"/>
                    <a:pt x="21" y="36"/>
                    <a:pt x="20" y="37"/>
                  </a:cubicBezTo>
                  <a:cubicBezTo>
                    <a:pt x="19" y="38"/>
                    <a:pt x="19" y="39"/>
                    <a:pt x="18" y="38"/>
                  </a:cubicBezTo>
                  <a:cubicBezTo>
                    <a:pt x="17" y="38"/>
                    <a:pt x="16" y="38"/>
                    <a:pt x="15" y="39"/>
                  </a:cubicBezTo>
                  <a:cubicBezTo>
                    <a:pt x="14" y="40"/>
                    <a:pt x="12" y="40"/>
                    <a:pt x="11" y="39"/>
                  </a:cubicBezTo>
                  <a:cubicBezTo>
                    <a:pt x="10" y="38"/>
                    <a:pt x="10" y="39"/>
                    <a:pt x="9" y="39"/>
                  </a:cubicBezTo>
                  <a:cubicBezTo>
                    <a:pt x="8" y="40"/>
                    <a:pt x="7" y="40"/>
                    <a:pt x="8" y="41"/>
                  </a:cubicBezTo>
                  <a:cubicBezTo>
                    <a:pt x="9" y="42"/>
                    <a:pt x="10" y="43"/>
                    <a:pt x="15" y="43"/>
                  </a:cubicBezTo>
                  <a:cubicBezTo>
                    <a:pt x="20" y="43"/>
                    <a:pt x="36" y="43"/>
                    <a:pt x="35" y="44"/>
                  </a:cubicBezTo>
                  <a:cubicBezTo>
                    <a:pt x="34" y="44"/>
                    <a:pt x="32" y="45"/>
                    <a:pt x="33" y="46"/>
                  </a:cubicBezTo>
                  <a:cubicBezTo>
                    <a:pt x="33" y="47"/>
                    <a:pt x="35" y="47"/>
                    <a:pt x="35" y="48"/>
                  </a:cubicBezTo>
                  <a:cubicBezTo>
                    <a:pt x="35" y="49"/>
                    <a:pt x="35" y="51"/>
                    <a:pt x="36" y="50"/>
                  </a:cubicBezTo>
                  <a:cubicBezTo>
                    <a:pt x="38" y="49"/>
                    <a:pt x="42" y="47"/>
                    <a:pt x="40" y="49"/>
                  </a:cubicBezTo>
                  <a:cubicBezTo>
                    <a:pt x="38" y="51"/>
                    <a:pt x="38" y="51"/>
                    <a:pt x="38" y="52"/>
                  </a:cubicBezTo>
                  <a:cubicBezTo>
                    <a:pt x="38" y="52"/>
                    <a:pt x="37" y="53"/>
                    <a:pt x="38" y="53"/>
                  </a:cubicBezTo>
                  <a:cubicBezTo>
                    <a:pt x="39" y="53"/>
                    <a:pt x="42" y="52"/>
                    <a:pt x="41" y="53"/>
                  </a:cubicBezTo>
                  <a:cubicBezTo>
                    <a:pt x="40" y="55"/>
                    <a:pt x="39" y="55"/>
                    <a:pt x="40" y="56"/>
                  </a:cubicBezTo>
                  <a:cubicBezTo>
                    <a:pt x="40" y="56"/>
                    <a:pt x="43" y="56"/>
                    <a:pt x="40" y="57"/>
                  </a:cubicBezTo>
                  <a:cubicBezTo>
                    <a:pt x="37" y="59"/>
                    <a:pt x="29" y="61"/>
                    <a:pt x="29" y="61"/>
                  </a:cubicBezTo>
                  <a:cubicBezTo>
                    <a:pt x="29" y="60"/>
                    <a:pt x="28" y="58"/>
                    <a:pt x="28" y="61"/>
                  </a:cubicBezTo>
                  <a:cubicBezTo>
                    <a:pt x="27" y="63"/>
                    <a:pt x="26" y="65"/>
                    <a:pt x="28" y="65"/>
                  </a:cubicBezTo>
                  <a:cubicBezTo>
                    <a:pt x="30" y="65"/>
                    <a:pt x="56" y="64"/>
                    <a:pt x="56" y="64"/>
                  </a:cubicBezTo>
                  <a:cubicBezTo>
                    <a:pt x="56" y="64"/>
                    <a:pt x="58" y="64"/>
                    <a:pt x="57" y="65"/>
                  </a:cubicBezTo>
                  <a:cubicBezTo>
                    <a:pt x="56" y="67"/>
                    <a:pt x="57" y="67"/>
                    <a:pt x="58" y="67"/>
                  </a:cubicBezTo>
                  <a:cubicBezTo>
                    <a:pt x="60" y="66"/>
                    <a:pt x="61" y="66"/>
                    <a:pt x="60" y="67"/>
                  </a:cubicBezTo>
                  <a:cubicBezTo>
                    <a:pt x="60" y="68"/>
                    <a:pt x="60" y="69"/>
                    <a:pt x="62" y="70"/>
                  </a:cubicBezTo>
                  <a:cubicBezTo>
                    <a:pt x="64" y="71"/>
                    <a:pt x="85" y="76"/>
                    <a:pt x="88" y="75"/>
                  </a:cubicBezTo>
                  <a:cubicBezTo>
                    <a:pt x="91" y="74"/>
                    <a:pt x="96" y="74"/>
                    <a:pt x="97" y="72"/>
                  </a:cubicBezTo>
                  <a:cubicBezTo>
                    <a:pt x="98" y="70"/>
                    <a:pt x="99" y="67"/>
                    <a:pt x="103" y="66"/>
                  </a:cubicBezTo>
                  <a:cubicBezTo>
                    <a:pt x="108" y="66"/>
                    <a:pt x="114" y="66"/>
                    <a:pt x="120" y="62"/>
                  </a:cubicBezTo>
                  <a:cubicBezTo>
                    <a:pt x="126" y="58"/>
                    <a:pt x="132" y="56"/>
                    <a:pt x="134" y="55"/>
                  </a:cubicBezTo>
                  <a:close/>
                </a:path>
              </a:pathLst>
            </a:custGeom>
            <a:grpFill/>
            <a:ln w="3175">
              <a:solidFill>
                <a:schemeClr val="accent1"/>
              </a:solidFill>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1151" name="Group 1150">
            <a:extLst>
              <a:ext uri="{FF2B5EF4-FFF2-40B4-BE49-F238E27FC236}">
                <a16:creationId xmlns:a16="http://schemas.microsoft.com/office/drawing/2014/main" id="{DA335FAE-01A6-4545-82ED-62633A311AB9}"/>
              </a:ext>
              <a:ext uri="{C183D7F6-B498-43B3-948B-1728B52AA6E4}">
                <adec:decorative xmlns:adec="http://schemas.microsoft.com/office/drawing/2017/decorative" val="1"/>
              </a:ext>
            </a:extLst>
          </p:cNvPr>
          <p:cNvGrpSpPr/>
          <p:nvPr/>
        </p:nvGrpSpPr>
        <p:grpSpPr>
          <a:xfrm>
            <a:off x="5517501" y="1179548"/>
            <a:ext cx="5682194" cy="3243761"/>
            <a:chOff x="6863805" y="1103307"/>
            <a:chExt cx="4477941" cy="2556295"/>
          </a:xfrm>
        </p:grpSpPr>
        <p:cxnSp>
          <p:nvCxnSpPr>
            <p:cNvPr id="2392" name="Straight Arrow Connector 2391">
              <a:extLst>
                <a:ext uri="{FF2B5EF4-FFF2-40B4-BE49-F238E27FC236}">
                  <a16:creationId xmlns:a16="http://schemas.microsoft.com/office/drawing/2014/main" id="{DDAB227A-EEDE-4084-A1BC-A4D739722A21}"/>
                </a:ext>
              </a:extLst>
            </p:cNvPr>
            <p:cNvCxnSpPr>
              <a:cxnSpLocks/>
              <a:endCxn id="2278" idx="9"/>
            </p:cNvCxnSpPr>
            <p:nvPr/>
          </p:nvCxnSpPr>
          <p:spPr>
            <a:xfrm flipH="1">
              <a:off x="7774147" y="1103307"/>
              <a:ext cx="1297110" cy="1126144"/>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93" name="Straight Arrow Connector 2392">
              <a:extLst>
                <a:ext uri="{FF2B5EF4-FFF2-40B4-BE49-F238E27FC236}">
                  <a16:creationId xmlns:a16="http://schemas.microsoft.com/office/drawing/2014/main" id="{CC8AB76F-DDB5-4B00-89CA-2DFF21EA8185}"/>
                </a:ext>
              </a:extLst>
            </p:cNvPr>
            <p:cNvCxnSpPr>
              <a:cxnSpLocks/>
            </p:cNvCxnSpPr>
            <p:nvPr/>
          </p:nvCxnSpPr>
          <p:spPr>
            <a:xfrm>
              <a:off x="9002386" y="1158039"/>
              <a:ext cx="1897747" cy="1446234"/>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94" name="Straight Arrow Connector 2393">
              <a:extLst>
                <a:ext uri="{FF2B5EF4-FFF2-40B4-BE49-F238E27FC236}">
                  <a16:creationId xmlns:a16="http://schemas.microsoft.com/office/drawing/2014/main" id="{404FFF27-44A9-436C-AE14-DB4C3B0506AB}"/>
                </a:ext>
              </a:extLst>
            </p:cNvPr>
            <p:cNvCxnSpPr>
              <a:cxnSpLocks/>
            </p:cNvCxnSpPr>
            <p:nvPr/>
          </p:nvCxnSpPr>
          <p:spPr>
            <a:xfrm>
              <a:off x="9002386" y="1158039"/>
              <a:ext cx="2339360" cy="2501563"/>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95" name="Straight Arrow Connector 2394">
              <a:extLst>
                <a:ext uri="{FF2B5EF4-FFF2-40B4-BE49-F238E27FC236}">
                  <a16:creationId xmlns:a16="http://schemas.microsoft.com/office/drawing/2014/main" id="{EE431C53-9016-4391-BD1A-4F299FABBF02}"/>
                </a:ext>
              </a:extLst>
            </p:cNvPr>
            <p:cNvCxnSpPr>
              <a:cxnSpLocks/>
              <a:endCxn id="2456" idx="5"/>
            </p:cNvCxnSpPr>
            <p:nvPr/>
          </p:nvCxnSpPr>
          <p:spPr>
            <a:xfrm flipH="1">
              <a:off x="6863805" y="1103307"/>
              <a:ext cx="2100639" cy="1281302"/>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97" name="Straight Arrow Connector 2396">
              <a:extLst>
                <a:ext uri="{FF2B5EF4-FFF2-40B4-BE49-F238E27FC236}">
                  <a16:creationId xmlns:a16="http://schemas.microsoft.com/office/drawing/2014/main" id="{C6219A27-723D-4AB2-9E19-BF83C2B6B9C9}"/>
                </a:ext>
              </a:extLst>
            </p:cNvPr>
            <p:cNvCxnSpPr>
              <a:cxnSpLocks/>
            </p:cNvCxnSpPr>
            <p:nvPr/>
          </p:nvCxnSpPr>
          <p:spPr>
            <a:xfrm flipH="1">
              <a:off x="7927859" y="1164793"/>
              <a:ext cx="997349" cy="2400432"/>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98" name="Straight Arrow Connector 2397">
              <a:extLst>
                <a:ext uri="{FF2B5EF4-FFF2-40B4-BE49-F238E27FC236}">
                  <a16:creationId xmlns:a16="http://schemas.microsoft.com/office/drawing/2014/main" id="{0626B2C5-6CE6-4CDA-ABF3-19391EC374A4}"/>
                </a:ext>
              </a:extLst>
            </p:cNvPr>
            <p:cNvCxnSpPr>
              <a:cxnSpLocks/>
              <a:endCxn id="1515" idx="45"/>
            </p:cNvCxnSpPr>
            <p:nvPr/>
          </p:nvCxnSpPr>
          <p:spPr>
            <a:xfrm flipH="1">
              <a:off x="8966279" y="1103307"/>
              <a:ext cx="104978" cy="1056564"/>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01" name="Straight Arrow Connector 2400">
              <a:extLst>
                <a:ext uri="{FF2B5EF4-FFF2-40B4-BE49-F238E27FC236}">
                  <a16:creationId xmlns:a16="http://schemas.microsoft.com/office/drawing/2014/main" id="{5C5048E1-125D-4EAB-A4AC-783B8D1FB674}"/>
                </a:ext>
              </a:extLst>
            </p:cNvPr>
            <p:cNvCxnSpPr>
              <a:cxnSpLocks/>
              <a:endCxn id="1936" idx="5"/>
            </p:cNvCxnSpPr>
            <p:nvPr/>
          </p:nvCxnSpPr>
          <p:spPr>
            <a:xfrm>
              <a:off x="9112072" y="1169962"/>
              <a:ext cx="1458843" cy="1869433"/>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02" name="Straight Arrow Connector 2401">
              <a:extLst>
                <a:ext uri="{FF2B5EF4-FFF2-40B4-BE49-F238E27FC236}">
                  <a16:creationId xmlns:a16="http://schemas.microsoft.com/office/drawing/2014/main" id="{222D075D-456C-4A06-B054-A90F3F2B6177}"/>
                </a:ext>
              </a:extLst>
            </p:cNvPr>
            <p:cNvCxnSpPr>
              <a:cxnSpLocks/>
              <a:endCxn id="1739" idx="30"/>
            </p:cNvCxnSpPr>
            <p:nvPr/>
          </p:nvCxnSpPr>
          <p:spPr>
            <a:xfrm>
              <a:off x="9039757" y="1169962"/>
              <a:ext cx="133864" cy="2467524"/>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03" name="Straight Arrow Connector 2402">
              <a:extLst>
                <a:ext uri="{FF2B5EF4-FFF2-40B4-BE49-F238E27FC236}">
                  <a16:creationId xmlns:a16="http://schemas.microsoft.com/office/drawing/2014/main" id="{A3D840AD-DF0C-4B17-A63D-3473E06DB8A2}"/>
                </a:ext>
              </a:extLst>
            </p:cNvPr>
            <p:cNvCxnSpPr>
              <a:cxnSpLocks/>
            </p:cNvCxnSpPr>
            <p:nvPr/>
          </p:nvCxnSpPr>
          <p:spPr>
            <a:xfrm flipH="1">
              <a:off x="7216465" y="1219742"/>
              <a:ext cx="1651178" cy="1207034"/>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04" name="Straight Arrow Connector 2403">
              <a:extLst>
                <a:ext uri="{FF2B5EF4-FFF2-40B4-BE49-F238E27FC236}">
                  <a16:creationId xmlns:a16="http://schemas.microsoft.com/office/drawing/2014/main" id="{288680B0-207F-49B9-9625-483E6F9E7F31}"/>
                </a:ext>
              </a:extLst>
            </p:cNvPr>
            <p:cNvCxnSpPr>
              <a:cxnSpLocks/>
              <a:endCxn id="2168" idx="54"/>
            </p:cNvCxnSpPr>
            <p:nvPr/>
          </p:nvCxnSpPr>
          <p:spPr>
            <a:xfrm flipH="1">
              <a:off x="7149369" y="1162269"/>
              <a:ext cx="1769510" cy="1497528"/>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05" name="Straight Arrow Connector 2404">
              <a:extLst>
                <a:ext uri="{FF2B5EF4-FFF2-40B4-BE49-F238E27FC236}">
                  <a16:creationId xmlns:a16="http://schemas.microsoft.com/office/drawing/2014/main" id="{E4C3701D-2881-4394-A142-91FC9BA35467}"/>
                </a:ext>
              </a:extLst>
            </p:cNvPr>
            <p:cNvCxnSpPr>
              <a:cxnSpLocks/>
              <a:endCxn id="1523" idx="23"/>
            </p:cNvCxnSpPr>
            <p:nvPr/>
          </p:nvCxnSpPr>
          <p:spPr>
            <a:xfrm flipH="1">
              <a:off x="8773153" y="1162269"/>
              <a:ext cx="224484" cy="972366"/>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5" name="Straight Arrow Connector 1184">
              <a:extLst>
                <a:ext uri="{FF2B5EF4-FFF2-40B4-BE49-F238E27FC236}">
                  <a16:creationId xmlns:a16="http://schemas.microsoft.com/office/drawing/2014/main" id="{A018205C-8C1E-42C5-BB37-602490C00A82}"/>
                </a:ext>
              </a:extLst>
            </p:cNvPr>
            <p:cNvCxnSpPr>
              <a:cxnSpLocks/>
              <a:endCxn id="1780" idx="38"/>
            </p:cNvCxnSpPr>
            <p:nvPr/>
          </p:nvCxnSpPr>
          <p:spPr>
            <a:xfrm>
              <a:off x="9124072" y="1169962"/>
              <a:ext cx="383745" cy="1379580"/>
            </a:xfrm>
            <a:prstGeom prst="straightConnector1">
              <a:avLst/>
            </a:prstGeom>
            <a:ln w="9525">
              <a:solidFill>
                <a:schemeClr val="accent6">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07" name="Diamond 2406">
            <a:extLst>
              <a:ext uri="{FF2B5EF4-FFF2-40B4-BE49-F238E27FC236}">
                <a16:creationId xmlns:a16="http://schemas.microsoft.com/office/drawing/2014/main" id="{E558B74A-B066-405A-B7D7-5E49D4DD9D84}"/>
              </a:ext>
              <a:ext uri="{C183D7F6-B498-43B3-948B-1728B52AA6E4}">
                <adec:decorative xmlns:adec="http://schemas.microsoft.com/office/drawing/2017/decorative" val="1"/>
              </a:ext>
            </a:extLst>
          </p:cNvPr>
          <p:cNvSpPr/>
          <p:nvPr/>
        </p:nvSpPr>
        <p:spPr bwMode="auto">
          <a:xfrm>
            <a:off x="8705175" y="3040111"/>
            <a:ext cx="150840" cy="150840"/>
          </a:xfrm>
          <a:prstGeom prst="diamond">
            <a:avLst/>
          </a:prstGeom>
          <a:solidFill>
            <a:srgbClr val="8561C5"/>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08" name="Oval 2407">
            <a:extLst>
              <a:ext uri="{FF2B5EF4-FFF2-40B4-BE49-F238E27FC236}">
                <a16:creationId xmlns:a16="http://schemas.microsoft.com/office/drawing/2014/main" id="{A3C846CD-5AED-49C9-AAF9-795AEB0B7394}"/>
              </a:ext>
              <a:ext uri="{C183D7F6-B498-43B3-948B-1728B52AA6E4}">
                <adec:decorative xmlns:adec="http://schemas.microsoft.com/office/drawing/2017/decorative" val="1"/>
              </a:ext>
            </a:extLst>
          </p:cNvPr>
          <p:cNvSpPr/>
          <p:nvPr/>
        </p:nvSpPr>
        <p:spPr bwMode="auto">
          <a:xfrm>
            <a:off x="8967307" y="3224130"/>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09" name="Oval 2408">
            <a:extLst>
              <a:ext uri="{FF2B5EF4-FFF2-40B4-BE49-F238E27FC236}">
                <a16:creationId xmlns:a16="http://schemas.microsoft.com/office/drawing/2014/main" id="{E53F3FA0-F577-4B24-859D-CEA16C1FF395}"/>
              </a:ext>
              <a:ext uri="{C183D7F6-B498-43B3-948B-1728B52AA6E4}">
                <adec:decorative xmlns:adec="http://schemas.microsoft.com/office/drawing/2017/decorative" val="1"/>
              </a:ext>
            </a:extLst>
          </p:cNvPr>
          <p:cNvSpPr/>
          <p:nvPr/>
        </p:nvSpPr>
        <p:spPr bwMode="auto">
          <a:xfrm>
            <a:off x="9158075" y="3136076"/>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10" name="Rectangle 2409">
            <a:extLst>
              <a:ext uri="{FF2B5EF4-FFF2-40B4-BE49-F238E27FC236}">
                <a16:creationId xmlns:a16="http://schemas.microsoft.com/office/drawing/2014/main" id="{F2AC3980-3C4C-422A-87D5-E64FB6A0EC4E}"/>
              </a:ext>
              <a:ext uri="{C183D7F6-B498-43B3-948B-1728B52AA6E4}">
                <adec:decorative xmlns:adec="http://schemas.microsoft.com/office/drawing/2017/decorative" val="1"/>
              </a:ext>
            </a:extLst>
          </p:cNvPr>
          <p:cNvSpPr/>
          <p:nvPr/>
        </p:nvSpPr>
        <p:spPr bwMode="auto">
          <a:xfrm>
            <a:off x="9042155" y="3285508"/>
            <a:ext cx="116031" cy="116031"/>
          </a:xfrm>
          <a:prstGeom prst="rect">
            <a:avLst/>
          </a:prstGeom>
          <a:solidFill>
            <a:srgbClr val="243A5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11" name="Oval 2410">
            <a:extLst>
              <a:ext uri="{FF2B5EF4-FFF2-40B4-BE49-F238E27FC236}">
                <a16:creationId xmlns:a16="http://schemas.microsoft.com/office/drawing/2014/main" id="{6E366558-6CCE-43F0-A909-E48FDCA37F33}"/>
              </a:ext>
              <a:ext uri="{C183D7F6-B498-43B3-948B-1728B52AA6E4}">
                <adec:decorative xmlns:adec="http://schemas.microsoft.com/office/drawing/2017/decorative" val="1"/>
              </a:ext>
            </a:extLst>
          </p:cNvPr>
          <p:cNvSpPr/>
          <p:nvPr/>
        </p:nvSpPr>
        <p:spPr bwMode="auto">
          <a:xfrm>
            <a:off x="9496750" y="3240178"/>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12" name="Diamond 2411">
            <a:extLst>
              <a:ext uri="{FF2B5EF4-FFF2-40B4-BE49-F238E27FC236}">
                <a16:creationId xmlns:a16="http://schemas.microsoft.com/office/drawing/2014/main" id="{1D165637-31DF-4240-97AA-D3DCEF6E04E9}"/>
              </a:ext>
              <a:ext uri="{C183D7F6-B498-43B3-948B-1728B52AA6E4}">
                <adec:decorative xmlns:adec="http://schemas.microsoft.com/office/drawing/2017/decorative" val="1"/>
              </a:ext>
            </a:extLst>
          </p:cNvPr>
          <p:cNvSpPr/>
          <p:nvPr/>
        </p:nvSpPr>
        <p:spPr bwMode="auto">
          <a:xfrm>
            <a:off x="9594817" y="3312093"/>
            <a:ext cx="152438" cy="152438"/>
          </a:xfrm>
          <a:prstGeom prst="diamond">
            <a:avLst/>
          </a:prstGeom>
          <a:solidFill>
            <a:srgbClr val="8561C5"/>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13" name="Oval 2412">
            <a:extLst>
              <a:ext uri="{FF2B5EF4-FFF2-40B4-BE49-F238E27FC236}">
                <a16:creationId xmlns:a16="http://schemas.microsoft.com/office/drawing/2014/main" id="{BED4988F-2CEE-44E8-A1B7-D75EC425FF40}"/>
              </a:ext>
              <a:ext uri="{C183D7F6-B498-43B3-948B-1728B52AA6E4}">
                <adec:decorative xmlns:adec="http://schemas.microsoft.com/office/drawing/2017/decorative" val="1"/>
              </a:ext>
            </a:extLst>
          </p:cNvPr>
          <p:cNvSpPr/>
          <p:nvPr/>
        </p:nvSpPr>
        <p:spPr bwMode="auto">
          <a:xfrm>
            <a:off x="9656273" y="3440236"/>
            <a:ext cx="116031" cy="116031"/>
          </a:xfrm>
          <a:prstGeom prst="ellipse">
            <a:avLst/>
          </a:prstGeom>
          <a:solidFill>
            <a:schemeClr val="bg1"/>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14" name="Isosceles Triangle 2413">
            <a:extLst>
              <a:ext uri="{FF2B5EF4-FFF2-40B4-BE49-F238E27FC236}">
                <a16:creationId xmlns:a16="http://schemas.microsoft.com/office/drawing/2014/main" id="{72600E82-1509-44AB-9ADE-567C676B47A4}"/>
              </a:ext>
              <a:ext uri="{C183D7F6-B498-43B3-948B-1728B52AA6E4}">
                <adec:decorative xmlns:adec="http://schemas.microsoft.com/office/drawing/2017/decorative" val="1"/>
              </a:ext>
            </a:extLst>
          </p:cNvPr>
          <p:cNvSpPr/>
          <p:nvPr/>
        </p:nvSpPr>
        <p:spPr bwMode="auto">
          <a:xfrm>
            <a:off x="11699498" y="4602649"/>
            <a:ext cx="174046" cy="174047"/>
          </a:xfrm>
          <a:prstGeom prst="triangle">
            <a:avLst/>
          </a:prstGeom>
          <a:solidFill>
            <a:srgbClr val="107C0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17" name="Diamond 2416">
            <a:extLst>
              <a:ext uri="{FF2B5EF4-FFF2-40B4-BE49-F238E27FC236}">
                <a16:creationId xmlns:a16="http://schemas.microsoft.com/office/drawing/2014/main" id="{B33900A4-4035-46C9-BEC3-D2A1DC92DEA3}"/>
              </a:ext>
              <a:ext uri="{C183D7F6-B498-43B3-948B-1728B52AA6E4}">
                <adec:decorative xmlns:adec="http://schemas.microsoft.com/office/drawing/2017/decorative" val="1"/>
              </a:ext>
            </a:extLst>
          </p:cNvPr>
          <p:cNvSpPr/>
          <p:nvPr/>
        </p:nvSpPr>
        <p:spPr bwMode="auto">
          <a:xfrm>
            <a:off x="10652894" y="2876497"/>
            <a:ext cx="150840" cy="150840"/>
          </a:xfrm>
          <a:prstGeom prst="diamond">
            <a:avLst/>
          </a:prstGeom>
          <a:solidFill>
            <a:srgbClr val="8561C5"/>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18" name="Isosceles Triangle 2417">
            <a:extLst>
              <a:ext uri="{FF2B5EF4-FFF2-40B4-BE49-F238E27FC236}">
                <a16:creationId xmlns:a16="http://schemas.microsoft.com/office/drawing/2014/main" id="{329D3715-461A-47E9-88FD-99316DAA9864}"/>
              </a:ext>
              <a:ext uri="{C183D7F6-B498-43B3-948B-1728B52AA6E4}">
                <adec:decorative xmlns:adec="http://schemas.microsoft.com/office/drawing/2017/decorative" val="1"/>
              </a:ext>
            </a:extLst>
          </p:cNvPr>
          <p:cNvSpPr/>
          <p:nvPr/>
        </p:nvSpPr>
        <p:spPr bwMode="auto">
          <a:xfrm>
            <a:off x="10650282" y="2954409"/>
            <a:ext cx="169864" cy="169864"/>
          </a:xfrm>
          <a:prstGeom prst="triangle">
            <a:avLst/>
          </a:prstGeom>
          <a:solidFill>
            <a:srgbClr val="107C0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19" name="Oval 2418">
            <a:extLst>
              <a:ext uri="{FF2B5EF4-FFF2-40B4-BE49-F238E27FC236}">
                <a16:creationId xmlns:a16="http://schemas.microsoft.com/office/drawing/2014/main" id="{954304C6-0828-432F-970D-85934E7EB5CA}"/>
              </a:ext>
              <a:ext uri="{C183D7F6-B498-43B3-948B-1728B52AA6E4}">
                <adec:decorative xmlns:adec="http://schemas.microsoft.com/office/drawing/2017/decorative" val="1"/>
              </a:ext>
            </a:extLst>
          </p:cNvPr>
          <p:cNvSpPr/>
          <p:nvPr/>
        </p:nvSpPr>
        <p:spPr bwMode="auto">
          <a:xfrm>
            <a:off x="10788671" y="3013250"/>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20" name="Oval 2419">
            <a:extLst>
              <a:ext uri="{FF2B5EF4-FFF2-40B4-BE49-F238E27FC236}">
                <a16:creationId xmlns:a16="http://schemas.microsoft.com/office/drawing/2014/main" id="{DA611DC9-9AA8-4526-AE0E-107E92A44899}"/>
              </a:ext>
              <a:ext uri="{C183D7F6-B498-43B3-948B-1728B52AA6E4}">
                <adec:decorative xmlns:adec="http://schemas.microsoft.com/office/drawing/2017/decorative" val="1"/>
              </a:ext>
            </a:extLst>
          </p:cNvPr>
          <p:cNvSpPr/>
          <p:nvPr/>
        </p:nvSpPr>
        <p:spPr bwMode="auto">
          <a:xfrm>
            <a:off x="10988058" y="2895867"/>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23" name="Oval 2422">
            <a:extLst>
              <a:ext uri="{FF2B5EF4-FFF2-40B4-BE49-F238E27FC236}">
                <a16:creationId xmlns:a16="http://schemas.microsoft.com/office/drawing/2014/main" id="{A1949120-3AC7-4390-9681-32FC61AAA8F6}"/>
              </a:ext>
              <a:ext uri="{C183D7F6-B498-43B3-948B-1728B52AA6E4}">
                <adec:decorative xmlns:adec="http://schemas.microsoft.com/office/drawing/2017/decorative" val="1"/>
              </a:ext>
            </a:extLst>
          </p:cNvPr>
          <p:cNvSpPr/>
          <p:nvPr/>
        </p:nvSpPr>
        <p:spPr bwMode="auto">
          <a:xfrm>
            <a:off x="10333881" y="3271624"/>
            <a:ext cx="116031" cy="116031"/>
          </a:xfrm>
          <a:prstGeom prst="ellipse">
            <a:avLst/>
          </a:prstGeom>
          <a:solidFill>
            <a:schemeClr val="bg1"/>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24" name="Oval 2423">
            <a:extLst>
              <a:ext uri="{FF2B5EF4-FFF2-40B4-BE49-F238E27FC236}">
                <a16:creationId xmlns:a16="http://schemas.microsoft.com/office/drawing/2014/main" id="{14BDD151-163C-4F49-BDDD-CC624BA97AAF}"/>
              </a:ext>
              <a:ext uri="{C183D7F6-B498-43B3-948B-1728B52AA6E4}">
                <adec:decorative xmlns:adec="http://schemas.microsoft.com/office/drawing/2017/decorative" val="1"/>
              </a:ext>
            </a:extLst>
          </p:cNvPr>
          <p:cNvSpPr/>
          <p:nvPr/>
        </p:nvSpPr>
        <p:spPr bwMode="auto">
          <a:xfrm>
            <a:off x="10153934" y="3648922"/>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25" name="Diamond 2424">
            <a:extLst>
              <a:ext uri="{FF2B5EF4-FFF2-40B4-BE49-F238E27FC236}">
                <a16:creationId xmlns:a16="http://schemas.microsoft.com/office/drawing/2014/main" id="{921E14B7-BC09-4F87-810C-4FCA8D287E49}"/>
              </a:ext>
              <a:ext uri="{C183D7F6-B498-43B3-948B-1728B52AA6E4}">
                <adec:decorative xmlns:adec="http://schemas.microsoft.com/office/drawing/2017/decorative" val="1"/>
              </a:ext>
            </a:extLst>
          </p:cNvPr>
          <p:cNvSpPr/>
          <p:nvPr/>
        </p:nvSpPr>
        <p:spPr bwMode="auto">
          <a:xfrm>
            <a:off x="8552737" y="4229016"/>
            <a:ext cx="152438" cy="152438"/>
          </a:xfrm>
          <a:prstGeom prst="diamond">
            <a:avLst/>
          </a:prstGeom>
          <a:solidFill>
            <a:srgbClr val="8561C5"/>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26" name="Rectangle 2425">
            <a:extLst>
              <a:ext uri="{FF2B5EF4-FFF2-40B4-BE49-F238E27FC236}">
                <a16:creationId xmlns:a16="http://schemas.microsoft.com/office/drawing/2014/main" id="{857379C9-7578-4A52-AA00-A793D2ABBAD3}"/>
              </a:ext>
              <a:ext uri="{C183D7F6-B498-43B3-948B-1728B52AA6E4}">
                <adec:decorative xmlns:adec="http://schemas.microsoft.com/office/drawing/2017/decorative" val="1"/>
              </a:ext>
            </a:extLst>
          </p:cNvPr>
          <p:cNvSpPr/>
          <p:nvPr/>
        </p:nvSpPr>
        <p:spPr bwMode="auto">
          <a:xfrm>
            <a:off x="8328883" y="4417307"/>
            <a:ext cx="116031" cy="116031"/>
          </a:xfrm>
          <a:prstGeom prst="rect">
            <a:avLst/>
          </a:prstGeom>
          <a:solidFill>
            <a:srgbClr val="243A5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27" name="Isosceles Triangle 2426">
            <a:extLst>
              <a:ext uri="{FF2B5EF4-FFF2-40B4-BE49-F238E27FC236}">
                <a16:creationId xmlns:a16="http://schemas.microsoft.com/office/drawing/2014/main" id="{81ECEF2E-216D-48EF-869F-979DECDCAEC9}"/>
              </a:ext>
              <a:ext uri="{C183D7F6-B498-43B3-948B-1728B52AA6E4}">
                <adec:decorative xmlns:adec="http://schemas.microsoft.com/office/drawing/2017/decorative" val="1"/>
              </a:ext>
            </a:extLst>
          </p:cNvPr>
          <p:cNvSpPr/>
          <p:nvPr/>
        </p:nvSpPr>
        <p:spPr bwMode="auto">
          <a:xfrm>
            <a:off x="6756211" y="4282777"/>
            <a:ext cx="169864" cy="169864"/>
          </a:xfrm>
          <a:prstGeom prst="triangle">
            <a:avLst/>
          </a:prstGeom>
          <a:solidFill>
            <a:srgbClr val="107C0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29" name="Oval 2428">
            <a:extLst>
              <a:ext uri="{FF2B5EF4-FFF2-40B4-BE49-F238E27FC236}">
                <a16:creationId xmlns:a16="http://schemas.microsoft.com/office/drawing/2014/main" id="{5D686829-6B06-4738-8937-2AA2EA0320F2}"/>
              </a:ext>
              <a:ext uri="{C183D7F6-B498-43B3-948B-1728B52AA6E4}">
                <adec:decorative xmlns:adec="http://schemas.microsoft.com/office/drawing/2017/decorative" val="1"/>
              </a:ext>
            </a:extLst>
          </p:cNvPr>
          <p:cNvSpPr/>
          <p:nvPr/>
        </p:nvSpPr>
        <p:spPr bwMode="auto">
          <a:xfrm>
            <a:off x="8048395" y="2199042"/>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30" name="Isosceles Triangle 2429">
            <a:extLst>
              <a:ext uri="{FF2B5EF4-FFF2-40B4-BE49-F238E27FC236}">
                <a16:creationId xmlns:a16="http://schemas.microsoft.com/office/drawing/2014/main" id="{5F125AA2-8E1E-46A0-9C2C-32065CC7B96B}"/>
              </a:ext>
              <a:ext uri="{C183D7F6-B498-43B3-948B-1728B52AA6E4}">
                <adec:decorative xmlns:adec="http://schemas.microsoft.com/office/drawing/2017/decorative" val="1"/>
              </a:ext>
            </a:extLst>
          </p:cNvPr>
          <p:cNvSpPr/>
          <p:nvPr/>
        </p:nvSpPr>
        <p:spPr bwMode="auto">
          <a:xfrm>
            <a:off x="7775435" y="2530074"/>
            <a:ext cx="169864" cy="169864"/>
          </a:xfrm>
          <a:prstGeom prst="triangle">
            <a:avLst/>
          </a:prstGeom>
          <a:solidFill>
            <a:srgbClr val="107C0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31" name="Oval 2430">
            <a:extLst>
              <a:ext uri="{FF2B5EF4-FFF2-40B4-BE49-F238E27FC236}">
                <a16:creationId xmlns:a16="http://schemas.microsoft.com/office/drawing/2014/main" id="{2CF9A760-285C-4D04-ABDC-CFDE0A66C352}"/>
              </a:ext>
              <a:ext uri="{C183D7F6-B498-43B3-948B-1728B52AA6E4}">
                <adec:decorative xmlns:adec="http://schemas.microsoft.com/office/drawing/2017/decorative" val="1"/>
              </a:ext>
            </a:extLst>
          </p:cNvPr>
          <p:cNvSpPr/>
          <p:nvPr/>
        </p:nvSpPr>
        <p:spPr bwMode="auto">
          <a:xfrm>
            <a:off x="8144501" y="2523536"/>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32" name="Oval 2431">
            <a:extLst>
              <a:ext uri="{FF2B5EF4-FFF2-40B4-BE49-F238E27FC236}">
                <a16:creationId xmlns:a16="http://schemas.microsoft.com/office/drawing/2014/main" id="{24A4858C-1E64-4749-AD13-8AC7464276AB}"/>
              </a:ext>
              <a:ext uri="{C183D7F6-B498-43B3-948B-1728B52AA6E4}">
                <adec:decorative xmlns:adec="http://schemas.microsoft.com/office/drawing/2017/decorative" val="1"/>
              </a:ext>
            </a:extLst>
          </p:cNvPr>
          <p:cNvSpPr/>
          <p:nvPr/>
        </p:nvSpPr>
        <p:spPr bwMode="auto">
          <a:xfrm>
            <a:off x="8236358" y="2524734"/>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33" name="Diamond 2432">
            <a:extLst>
              <a:ext uri="{FF2B5EF4-FFF2-40B4-BE49-F238E27FC236}">
                <a16:creationId xmlns:a16="http://schemas.microsoft.com/office/drawing/2014/main" id="{277712FE-A5EA-4D2F-8F96-7A8882F21E18}"/>
              </a:ext>
              <a:ext uri="{C183D7F6-B498-43B3-948B-1728B52AA6E4}">
                <adec:decorative xmlns:adec="http://schemas.microsoft.com/office/drawing/2017/decorative" val="1"/>
              </a:ext>
            </a:extLst>
          </p:cNvPr>
          <p:cNvSpPr/>
          <p:nvPr/>
        </p:nvSpPr>
        <p:spPr bwMode="auto">
          <a:xfrm>
            <a:off x="8098080" y="2609616"/>
            <a:ext cx="152438" cy="152438"/>
          </a:xfrm>
          <a:prstGeom prst="diamond">
            <a:avLst/>
          </a:prstGeom>
          <a:solidFill>
            <a:srgbClr val="8561C5"/>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34" name="Oval 2433">
            <a:extLst>
              <a:ext uri="{FF2B5EF4-FFF2-40B4-BE49-F238E27FC236}">
                <a16:creationId xmlns:a16="http://schemas.microsoft.com/office/drawing/2014/main" id="{B666A4D4-3BDC-480E-BE1D-4F5BE4115466}"/>
              </a:ext>
              <a:ext uri="{C183D7F6-B498-43B3-948B-1728B52AA6E4}">
                <adec:decorative xmlns:adec="http://schemas.microsoft.com/office/drawing/2017/decorative" val="1"/>
              </a:ext>
            </a:extLst>
          </p:cNvPr>
          <p:cNvSpPr/>
          <p:nvPr/>
        </p:nvSpPr>
        <p:spPr bwMode="auto">
          <a:xfrm>
            <a:off x="8210532" y="2604388"/>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35" name="Oval 2434">
            <a:extLst>
              <a:ext uri="{FF2B5EF4-FFF2-40B4-BE49-F238E27FC236}">
                <a16:creationId xmlns:a16="http://schemas.microsoft.com/office/drawing/2014/main" id="{713CBE34-2E72-4987-A384-312319092AE9}"/>
              </a:ext>
              <a:ext uri="{C183D7F6-B498-43B3-948B-1728B52AA6E4}">
                <adec:decorative xmlns:adec="http://schemas.microsoft.com/office/drawing/2017/decorative" val="1"/>
              </a:ext>
            </a:extLst>
          </p:cNvPr>
          <p:cNvSpPr/>
          <p:nvPr/>
        </p:nvSpPr>
        <p:spPr bwMode="auto">
          <a:xfrm>
            <a:off x="8177769" y="2674969"/>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36" name="Oval 2435">
            <a:extLst>
              <a:ext uri="{FF2B5EF4-FFF2-40B4-BE49-F238E27FC236}">
                <a16:creationId xmlns:a16="http://schemas.microsoft.com/office/drawing/2014/main" id="{D1A7F527-7754-478E-A920-AA6894520067}"/>
              </a:ext>
              <a:ext uri="{C183D7F6-B498-43B3-948B-1728B52AA6E4}">
                <adec:decorative xmlns:adec="http://schemas.microsoft.com/office/drawing/2017/decorative" val="1"/>
              </a:ext>
            </a:extLst>
          </p:cNvPr>
          <p:cNvSpPr/>
          <p:nvPr/>
        </p:nvSpPr>
        <p:spPr bwMode="auto">
          <a:xfrm>
            <a:off x="8062342" y="2695917"/>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37" name="Oval 2436">
            <a:extLst>
              <a:ext uri="{FF2B5EF4-FFF2-40B4-BE49-F238E27FC236}">
                <a16:creationId xmlns:a16="http://schemas.microsoft.com/office/drawing/2014/main" id="{9C0A569E-8779-46A2-9E48-589EB32AB293}"/>
              </a:ext>
              <a:ext uri="{C183D7F6-B498-43B3-948B-1728B52AA6E4}">
                <adec:decorative xmlns:adec="http://schemas.microsoft.com/office/drawing/2017/decorative" val="1"/>
              </a:ext>
            </a:extLst>
          </p:cNvPr>
          <p:cNvSpPr/>
          <p:nvPr/>
        </p:nvSpPr>
        <p:spPr bwMode="auto">
          <a:xfrm>
            <a:off x="7945424" y="2758570"/>
            <a:ext cx="116031" cy="116031"/>
          </a:xfrm>
          <a:prstGeom prst="ellipse">
            <a:avLst/>
          </a:prstGeom>
          <a:solidFill>
            <a:schemeClr val="bg1"/>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38" name="Oval 2437">
            <a:extLst>
              <a:ext uri="{FF2B5EF4-FFF2-40B4-BE49-F238E27FC236}">
                <a16:creationId xmlns:a16="http://schemas.microsoft.com/office/drawing/2014/main" id="{0187A525-885C-4353-BF8F-0D8C37DC113B}"/>
              </a:ext>
              <a:ext uri="{C183D7F6-B498-43B3-948B-1728B52AA6E4}">
                <adec:decorative xmlns:adec="http://schemas.microsoft.com/office/drawing/2017/decorative" val="1"/>
              </a:ext>
            </a:extLst>
          </p:cNvPr>
          <p:cNvSpPr/>
          <p:nvPr/>
        </p:nvSpPr>
        <p:spPr bwMode="auto">
          <a:xfrm>
            <a:off x="7977204" y="2631054"/>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39" name="Rectangle 2438">
            <a:extLst>
              <a:ext uri="{FF2B5EF4-FFF2-40B4-BE49-F238E27FC236}">
                <a16:creationId xmlns:a16="http://schemas.microsoft.com/office/drawing/2014/main" id="{CF78ED0E-2402-4B92-9FC1-799C5142CE74}"/>
              </a:ext>
              <a:ext uri="{C183D7F6-B498-43B3-948B-1728B52AA6E4}">
                <adec:decorative xmlns:adec="http://schemas.microsoft.com/office/drawing/2017/decorative" val="1"/>
              </a:ext>
            </a:extLst>
          </p:cNvPr>
          <p:cNvSpPr/>
          <p:nvPr/>
        </p:nvSpPr>
        <p:spPr bwMode="auto">
          <a:xfrm>
            <a:off x="8038224" y="2535166"/>
            <a:ext cx="116031" cy="116031"/>
          </a:xfrm>
          <a:prstGeom prst="rect">
            <a:avLst/>
          </a:prstGeom>
          <a:solidFill>
            <a:srgbClr val="243A5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40" name="Oval 2439">
            <a:extLst>
              <a:ext uri="{FF2B5EF4-FFF2-40B4-BE49-F238E27FC236}">
                <a16:creationId xmlns:a16="http://schemas.microsoft.com/office/drawing/2014/main" id="{931A8DFE-1B2C-41D1-BF99-4F8EFA0C5C05}"/>
              </a:ext>
              <a:ext uri="{C183D7F6-B498-43B3-948B-1728B52AA6E4}">
                <adec:decorative xmlns:adec="http://schemas.microsoft.com/office/drawing/2017/decorative" val="1"/>
              </a:ext>
            </a:extLst>
          </p:cNvPr>
          <p:cNvSpPr/>
          <p:nvPr/>
        </p:nvSpPr>
        <p:spPr bwMode="auto">
          <a:xfrm>
            <a:off x="7915748" y="2477307"/>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41" name="Diamond 2440">
            <a:extLst>
              <a:ext uri="{FF2B5EF4-FFF2-40B4-BE49-F238E27FC236}">
                <a16:creationId xmlns:a16="http://schemas.microsoft.com/office/drawing/2014/main" id="{C2FE5B57-2ADB-4B68-B421-C666C3DFA2E5}"/>
              </a:ext>
              <a:ext uri="{C183D7F6-B498-43B3-948B-1728B52AA6E4}">
                <adec:decorative xmlns:adec="http://schemas.microsoft.com/office/drawing/2017/decorative" val="1"/>
              </a:ext>
            </a:extLst>
          </p:cNvPr>
          <p:cNvSpPr/>
          <p:nvPr/>
        </p:nvSpPr>
        <p:spPr bwMode="auto">
          <a:xfrm>
            <a:off x="5672839" y="3204730"/>
            <a:ext cx="150840" cy="150840"/>
          </a:xfrm>
          <a:prstGeom prst="diamond">
            <a:avLst/>
          </a:prstGeom>
          <a:solidFill>
            <a:srgbClr val="8561C5"/>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42" name="Isosceles Triangle 2441">
            <a:extLst>
              <a:ext uri="{FF2B5EF4-FFF2-40B4-BE49-F238E27FC236}">
                <a16:creationId xmlns:a16="http://schemas.microsoft.com/office/drawing/2014/main" id="{C73E4B1C-6104-4074-882E-8B929DB1D151}"/>
              </a:ext>
              <a:ext uri="{C183D7F6-B498-43B3-948B-1728B52AA6E4}">
                <adec:decorative xmlns:adec="http://schemas.microsoft.com/office/drawing/2017/decorative" val="1"/>
              </a:ext>
            </a:extLst>
          </p:cNvPr>
          <p:cNvSpPr/>
          <p:nvPr/>
        </p:nvSpPr>
        <p:spPr bwMode="auto">
          <a:xfrm>
            <a:off x="6109388" y="2909536"/>
            <a:ext cx="174046" cy="174047"/>
          </a:xfrm>
          <a:prstGeom prst="triangle">
            <a:avLst/>
          </a:prstGeom>
          <a:solidFill>
            <a:srgbClr val="107C0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43" name="Rectangle 2442">
            <a:extLst>
              <a:ext uri="{FF2B5EF4-FFF2-40B4-BE49-F238E27FC236}">
                <a16:creationId xmlns:a16="http://schemas.microsoft.com/office/drawing/2014/main" id="{BA1DED3C-5B02-4A0C-A8E5-2F74EC65CC15}"/>
              </a:ext>
              <a:ext uri="{C183D7F6-B498-43B3-948B-1728B52AA6E4}">
                <adec:decorative xmlns:adec="http://schemas.microsoft.com/office/drawing/2017/decorative" val="1"/>
              </a:ext>
            </a:extLst>
          </p:cNvPr>
          <p:cNvSpPr/>
          <p:nvPr/>
        </p:nvSpPr>
        <p:spPr bwMode="auto">
          <a:xfrm>
            <a:off x="6218684" y="2674122"/>
            <a:ext cx="116031" cy="116031"/>
          </a:xfrm>
          <a:prstGeom prst="rect">
            <a:avLst/>
          </a:prstGeom>
          <a:solidFill>
            <a:srgbClr val="243A5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44" name="Oval 2443">
            <a:extLst>
              <a:ext uri="{FF2B5EF4-FFF2-40B4-BE49-F238E27FC236}">
                <a16:creationId xmlns:a16="http://schemas.microsoft.com/office/drawing/2014/main" id="{BE0E76D6-7ABA-4462-A825-378EAA0D2E8E}"/>
              </a:ext>
              <a:ext uri="{C183D7F6-B498-43B3-948B-1728B52AA6E4}">
                <adec:decorative xmlns:adec="http://schemas.microsoft.com/office/drawing/2017/decorative" val="1"/>
              </a:ext>
            </a:extLst>
          </p:cNvPr>
          <p:cNvSpPr/>
          <p:nvPr/>
        </p:nvSpPr>
        <p:spPr bwMode="auto">
          <a:xfrm>
            <a:off x="6412676" y="2561515"/>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47" name="Rectangle 2446">
            <a:extLst>
              <a:ext uri="{FF2B5EF4-FFF2-40B4-BE49-F238E27FC236}">
                <a16:creationId xmlns:a16="http://schemas.microsoft.com/office/drawing/2014/main" id="{B9C60656-1CBD-4589-863D-DAA7C4A6AB6E}"/>
              </a:ext>
              <a:ext uri="{C183D7F6-B498-43B3-948B-1728B52AA6E4}">
                <adec:decorative xmlns:adec="http://schemas.microsoft.com/office/drawing/2017/decorative" val="1"/>
              </a:ext>
            </a:extLst>
          </p:cNvPr>
          <p:cNvSpPr/>
          <p:nvPr/>
        </p:nvSpPr>
        <p:spPr bwMode="auto">
          <a:xfrm>
            <a:off x="6051034" y="3008243"/>
            <a:ext cx="116031" cy="116031"/>
          </a:xfrm>
          <a:prstGeom prst="rect">
            <a:avLst/>
          </a:prstGeom>
          <a:solidFill>
            <a:srgbClr val="243A5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49" name="Oval 2448">
            <a:extLst>
              <a:ext uri="{FF2B5EF4-FFF2-40B4-BE49-F238E27FC236}">
                <a16:creationId xmlns:a16="http://schemas.microsoft.com/office/drawing/2014/main" id="{B38015FB-87DB-46BD-80E5-8AD97CC3873C}"/>
              </a:ext>
              <a:ext uri="{C183D7F6-B498-43B3-948B-1728B52AA6E4}">
                <adec:decorative xmlns:adec="http://schemas.microsoft.com/office/drawing/2017/decorative" val="1"/>
              </a:ext>
            </a:extLst>
          </p:cNvPr>
          <p:cNvSpPr/>
          <p:nvPr/>
        </p:nvSpPr>
        <p:spPr bwMode="auto">
          <a:xfrm>
            <a:off x="6000982" y="2813665"/>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50" name="Diamond 2449">
            <a:extLst>
              <a:ext uri="{FF2B5EF4-FFF2-40B4-BE49-F238E27FC236}">
                <a16:creationId xmlns:a16="http://schemas.microsoft.com/office/drawing/2014/main" id="{146D5F9C-44DF-412E-952F-5EAB7FE534E2}"/>
              </a:ext>
              <a:ext uri="{C183D7F6-B498-43B3-948B-1728B52AA6E4}">
                <adec:decorative xmlns:adec="http://schemas.microsoft.com/office/drawing/2017/decorative" val="1"/>
              </a:ext>
            </a:extLst>
          </p:cNvPr>
          <p:cNvSpPr/>
          <p:nvPr/>
        </p:nvSpPr>
        <p:spPr bwMode="auto">
          <a:xfrm>
            <a:off x="5838524" y="2705047"/>
            <a:ext cx="152438" cy="152438"/>
          </a:xfrm>
          <a:prstGeom prst="diamond">
            <a:avLst/>
          </a:prstGeom>
          <a:solidFill>
            <a:srgbClr val="8561C5"/>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51" name="Oval 2450">
            <a:extLst>
              <a:ext uri="{FF2B5EF4-FFF2-40B4-BE49-F238E27FC236}">
                <a16:creationId xmlns:a16="http://schemas.microsoft.com/office/drawing/2014/main" id="{BEB8AE75-1002-4077-BD10-2490FDA42C7F}"/>
              </a:ext>
              <a:ext uri="{C183D7F6-B498-43B3-948B-1728B52AA6E4}">
                <adec:decorative xmlns:adec="http://schemas.microsoft.com/office/drawing/2017/decorative" val="1"/>
              </a:ext>
            </a:extLst>
          </p:cNvPr>
          <p:cNvSpPr/>
          <p:nvPr/>
        </p:nvSpPr>
        <p:spPr bwMode="auto">
          <a:xfrm>
            <a:off x="5625304" y="2805315"/>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52" name="Oval 2451">
            <a:extLst>
              <a:ext uri="{FF2B5EF4-FFF2-40B4-BE49-F238E27FC236}">
                <a16:creationId xmlns:a16="http://schemas.microsoft.com/office/drawing/2014/main" id="{C311351C-0749-45BE-A313-F8629B6DA6F7}"/>
              </a:ext>
              <a:ext uri="{C183D7F6-B498-43B3-948B-1728B52AA6E4}">
                <adec:decorative xmlns:adec="http://schemas.microsoft.com/office/drawing/2017/decorative" val="1"/>
              </a:ext>
            </a:extLst>
          </p:cNvPr>
          <p:cNvSpPr/>
          <p:nvPr/>
        </p:nvSpPr>
        <p:spPr bwMode="auto">
          <a:xfrm>
            <a:off x="5335025" y="2919075"/>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53" name="Diamond 2452">
            <a:extLst>
              <a:ext uri="{FF2B5EF4-FFF2-40B4-BE49-F238E27FC236}">
                <a16:creationId xmlns:a16="http://schemas.microsoft.com/office/drawing/2014/main" id="{CF819778-454B-4DFE-8135-CF413D75B0B3}"/>
              </a:ext>
              <a:ext uri="{C183D7F6-B498-43B3-948B-1728B52AA6E4}">
                <adec:decorative xmlns:adec="http://schemas.microsoft.com/office/drawing/2017/decorative" val="1"/>
              </a:ext>
            </a:extLst>
          </p:cNvPr>
          <p:cNvSpPr/>
          <p:nvPr/>
        </p:nvSpPr>
        <p:spPr bwMode="auto">
          <a:xfrm>
            <a:off x="5569078" y="2976606"/>
            <a:ext cx="152438" cy="152438"/>
          </a:xfrm>
          <a:prstGeom prst="diamond">
            <a:avLst/>
          </a:prstGeom>
          <a:solidFill>
            <a:srgbClr val="8561C5"/>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55" name="Isosceles Triangle 2454">
            <a:extLst>
              <a:ext uri="{FF2B5EF4-FFF2-40B4-BE49-F238E27FC236}">
                <a16:creationId xmlns:a16="http://schemas.microsoft.com/office/drawing/2014/main" id="{6A0AFCCD-2969-4272-A517-AE196578388D}"/>
              </a:ext>
              <a:ext uri="{C183D7F6-B498-43B3-948B-1728B52AA6E4}">
                <adec:decorative xmlns:adec="http://schemas.microsoft.com/office/drawing/2017/decorative" val="1"/>
              </a:ext>
            </a:extLst>
          </p:cNvPr>
          <p:cNvSpPr/>
          <p:nvPr/>
        </p:nvSpPr>
        <p:spPr bwMode="auto">
          <a:xfrm>
            <a:off x="5754282" y="2981325"/>
            <a:ext cx="169864" cy="169864"/>
          </a:xfrm>
          <a:prstGeom prst="triangle">
            <a:avLst/>
          </a:prstGeom>
          <a:solidFill>
            <a:srgbClr val="107C0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56" name="Isosceles Triangle 2455">
            <a:extLst>
              <a:ext uri="{FF2B5EF4-FFF2-40B4-BE49-F238E27FC236}">
                <a16:creationId xmlns:a16="http://schemas.microsoft.com/office/drawing/2014/main" id="{D197F6C5-927A-4903-B7DD-50ED2F52DF05}"/>
              </a:ext>
              <a:ext uri="{C183D7F6-B498-43B3-948B-1728B52AA6E4}">
                <adec:decorative xmlns:adec="http://schemas.microsoft.com/office/drawing/2017/decorative" val="1"/>
              </a:ext>
            </a:extLst>
          </p:cNvPr>
          <p:cNvSpPr/>
          <p:nvPr/>
        </p:nvSpPr>
        <p:spPr bwMode="auto">
          <a:xfrm>
            <a:off x="5299575" y="2718407"/>
            <a:ext cx="174046" cy="174047"/>
          </a:xfrm>
          <a:prstGeom prst="triangle">
            <a:avLst/>
          </a:prstGeom>
          <a:solidFill>
            <a:srgbClr val="107C0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57" name="Oval 2456">
            <a:extLst>
              <a:ext uri="{FF2B5EF4-FFF2-40B4-BE49-F238E27FC236}">
                <a16:creationId xmlns:a16="http://schemas.microsoft.com/office/drawing/2014/main" id="{A4C63E67-5CFD-47B6-B727-F2B705276C88}"/>
              </a:ext>
              <a:ext uri="{C183D7F6-B498-43B3-948B-1728B52AA6E4}">
                <adec:decorative xmlns:adec="http://schemas.microsoft.com/office/drawing/2017/decorative" val="1"/>
              </a:ext>
            </a:extLst>
          </p:cNvPr>
          <p:cNvSpPr/>
          <p:nvPr/>
        </p:nvSpPr>
        <p:spPr bwMode="auto">
          <a:xfrm>
            <a:off x="11215927" y="4356504"/>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58" name="Oval 2457">
            <a:extLst>
              <a:ext uri="{FF2B5EF4-FFF2-40B4-BE49-F238E27FC236}">
                <a16:creationId xmlns:a16="http://schemas.microsoft.com/office/drawing/2014/main" id="{F4F19ED5-A625-4D5A-9340-12176D5EC602}"/>
              </a:ext>
              <a:ext uri="{C183D7F6-B498-43B3-948B-1728B52AA6E4}">
                <adec:decorative xmlns:adec="http://schemas.microsoft.com/office/drawing/2017/decorative" val="1"/>
              </a:ext>
            </a:extLst>
          </p:cNvPr>
          <p:cNvSpPr/>
          <p:nvPr/>
        </p:nvSpPr>
        <p:spPr bwMode="auto">
          <a:xfrm>
            <a:off x="11166241" y="4470664"/>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59" name="Rectangle 2458">
            <a:extLst>
              <a:ext uri="{FF2B5EF4-FFF2-40B4-BE49-F238E27FC236}">
                <a16:creationId xmlns:a16="http://schemas.microsoft.com/office/drawing/2014/main" id="{40F8E9B8-51B1-4D6D-A11A-247779A5C5C9}"/>
              </a:ext>
              <a:ext uri="{C183D7F6-B498-43B3-948B-1728B52AA6E4}">
                <adec:decorative xmlns:adec="http://schemas.microsoft.com/office/drawing/2017/decorative" val="1"/>
              </a:ext>
            </a:extLst>
          </p:cNvPr>
          <p:cNvSpPr/>
          <p:nvPr/>
        </p:nvSpPr>
        <p:spPr bwMode="auto">
          <a:xfrm>
            <a:off x="11044636" y="4577482"/>
            <a:ext cx="116031" cy="116031"/>
          </a:xfrm>
          <a:prstGeom prst="rect">
            <a:avLst/>
          </a:prstGeom>
          <a:solidFill>
            <a:srgbClr val="243A5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60" name="Oval 2459">
            <a:extLst>
              <a:ext uri="{FF2B5EF4-FFF2-40B4-BE49-F238E27FC236}">
                <a16:creationId xmlns:a16="http://schemas.microsoft.com/office/drawing/2014/main" id="{B89D34FA-88F4-429F-9A62-B1C5C9D24ECA}"/>
              </a:ext>
              <a:ext uri="{C183D7F6-B498-43B3-948B-1728B52AA6E4}">
                <adec:decorative xmlns:adec="http://schemas.microsoft.com/office/drawing/2017/decorative" val="1"/>
              </a:ext>
            </a:extLst>
          </p:cNvPr>
          <p:cNvSpPr/>
          <p:nvPr/>
        </p:nvSpPr>
        <p:spPr bwMode="auto">
          <a:xfrm>
            <a:off x="11102823" y="4470046"/>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61" name="Isosceles Triangle 2460">
            <a:extLst>
              <a:ext uri="{FF2B5EF4-FFF2-40B4-BE49-F238E27FC236}">
                <a16:creationId xmlns:a16="http://schemas.microsoft.com/office/drawing/2014/main" id="{59D8371E-5F11-470A-AD89-42666139013C}"/>
              </a:ext>
              <a:ext uri="{C183D7F6-B498-43B3-948B-1728B52AA6E4}">
                <adec:decorative xmlns:adec="http://schemas.microsoft.com/office/drawing/2017/decorative" val="1"/>
              </a:ext>
            </a:extLst>
          </p:cNvPr>
          <p:cNvSpPr/>
          <p:nvPr/>
        </p:nvSpPr>
        <p:spPr bwMode="auto">
          <a:xfrm>
            <a:off x="8128265" y="2700820"/>
            <a:ext cx="174046" cy="174047"/>
          </a:xfrm>
          <a:prstGeom prst="triangle">
            <a:avLst/>
          </a:prstGeom>
          <a:solidFill>
            <a:srgbClr val="107C0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62" name="Oval 2461">
            <a:extLst>
              <a:ext uri="{FF2B5EF4-FFF2-40B4-BE49-F238E27FC236}">
                <a16:creationId xmlns:a16="http://schemas.microsoft.com/office/drawing/2014/main" id="{78A802E2-3C0F-4326-AF47-98512AEDA903}"/>
              </a:ext>
              <a:ext uri="{C183D7F6-B498-43B3-948B-1728B52AA6E4}">
                <adec:decorative xmlns:adec="http://schemas.microsoft.com/office/drawing/2017/decorative" val="1"/>
              </a:ext>
            </a:extLst>
          </p:cNvPr>
          <p:cNvSpPr/>
          <p:nvPr/>
        </p:nvSpPr>
        <p:spPr bwMode="auto">
          <a:xfrm>
            <a:off x="8329303" y="2498146"/>
            <a:ext cx="116031" cy="116031"/>
          </a:xfrm>
          <a:prstGeom prst="ellipse">
            <a:avLst/>
          </a:prstGeom>
          <a:solidFill>
            <a:schemeClr val="bg1"/>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63" name="Oval 2462">
            <a:extLst>
              <a:ext uri="{FF2B5EF4-FFF2-40B4-BE49-F238E27FC236}">
                <a16:creationId xmlns:a16="http://schemas.microsoft.com/office/drawing/2014/main" id="{19651F4E-B7BF-4AFC-B515-AA1391D3E10C}"/>
              </a:ext>
              <a:ext uri="{C183D7F6-B498-43B3-948B-1728B52AA6E4}">
                <adec:decorative xmlns:adec="http://schemas.microsoft.com/office/drawing/2017/decorative" val="1"/>
              </a:ext>
            </a:extLst>
          </p:cNvPr>
          <p:cNvSpPr/>
          <p:nvPr/>
        </p:nvSpPr>
        <p:spPr bwMode="auto">
          <a:xfrm>
            <a:off x="7853677" y="2823404"/>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64" name="Oval 2463">
            <a:extLst>
              <a:ext uri="{FF2B5EF4-FFF2-40B4-BE49-F238E27FC236}">
                <a16:creationId xmlns:a16="http://schemas.microsoft.com/office/drawing/2014/main" id="{7D95CE94-43BB-4BA8-AC2C-C80791D43D9B}"/>
              </a:ext>
              <a:ext uri="{C183D7F6-B498-43B3-948B-1728B52AA6E4}">
                <adec:decorative xmlns:adec="http://schemas.microsoft.com/office/drawing/2017/decorative" val="1"/>
              </a:ext>
            </a:extLst>
          </p:cNvPr>
          <p:cNvSpPr/>
          <p:nvPr/>
        </p:nvSpPr>
        <p:spPr bwMode="auto">
          <a:xfrm>
            <a:off x="5370126" y="2968303"/>
            <a:ext cx="116031" cy="116031"/>
          </a:xfrm>
          <a:prstGeom prst="ellipse">
            <a:avLst/>
          </a:prstGeom>
          <a:solidFill>
            <a:schemeClr val="bg1"/>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65" name="Diamond 2464">
            <a:extLst>
              <a:ext uri="{FF2B5EF4-FFF2-40B4-BE49-F238E27FC236}">
                <a16:creationId xmlns:a16="http://schemas.microsoft.com/office/drawing/2014/main" id="{67E625C7-D85E-4846-B566-31E5764307A7}"/>
              </a:ext>
              <a:ext uri="{C183D7F6-B498-43B3-948B-1728B52AA6E4}">
                <adec:decorative xmlns:adec="http://schemas.microsoft.com/office/drawing/2017/decorative" val="1"/>
              </a:ext>
            </a:extLst>
          </p:cNvPr>
          <p:cNvSpPr/>
          <p:nvPr/>
        </p:nvSpPr>
        <p:spPr bwMode="auto">
          <a:xfrm>
            <a:off x="7736611" y="2489837"/>
            <a:ext cx="150840" cy="150840"/>
          </a:xfrm>
          <a:prstGeom prst="diamond">
            <a:avLst/>
          </a:prstGeom>
          <a:solidFill>
            <a:srgbClr val="8561C5"/>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467" name="Rectangle 2466">
            <a:extLst>
              <a:ext uri="{FF2B5EF4-FFF2-40B4-BE49-F238E27FC236}">
                <a16:creationId xmlns:a16="http://schemas.microsoft.com/office/drawing/2014/main" id="{CA439400-41AB-4545-8EFF-4F57CC02DBAC}"/>
              </a:ext>
              <a:ext uri="{C183D7F6-B498-43B3-948B-1728B52AA6E4}">
                <adec:decorative xmlns:adec="http://schemas.microsoft.com/office/drawing/2017/decorative" val="1"/>
              </a:ext>
            </a:extLst>
          </p:cNvPr>
          <p:cNvSpPr/>
          <p:nvPr/>
        </p:nvSpPr>
        <p:spPr bwMode="auto">
          <a:xfrm>
            <a:off x="4909835" y="1167482"/>
            <a:ext cx="6488120" cy="393028"/>
          </a:xfrm>
          <a:prstGeom prst="rect">
            <a:avLst/>
          </a:prstGeom>
          <a:gradFill>
            <a:gsLst>
              <a:gs pos="27000">
                <a:schemeClr val="accent1"/>
              </a:gs>
              <a:gs pos="100000">
                <a:schemeClr val="accent1">
                  <a:alpha val="0"/>
                </a:schemeClr>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88" name="Rectangle 1287">
            <a:extLst>
              <a:ext uri="{FF2B5EF4-FFF2-40B4-BE49-F238E27FC236}">
                <a16:creationId xmlns:a16="http://schemas.microsoft.com/office/drawing/2014/main" id="{67D133C1-96DB-4CD4-8A84-1B876EE3FDDB}"/>
              </a:ext>
              <a:ext uri="{C183D7F6-B498-43B3-948B-1728B52AA6E4}">
                <adec:decorative xmlns:adec="http://schemas.microsoft.com/office/drawing/2017/decorative" val="1"/>
              </a:ext>
            </a:extLst>
          </p:cNvPr>
          <p:cNvSpPr/>
          <p:nvPr/>
        </p:nvSpPr>
        <p:spPr bwMode="auto">
          <a:xfrm>
            <a:off x="5932416" y="801462"/>
            <a:ext cx="4547042" cy="6030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a:ln w="3175">
                  <a:noFill/>
                </a:ln>
                <a:gradFill>
                  <a:gsLst>
                    <a:gs pos="1250">
                      <a:srgbClr val="000000"/>
                    </a:gs>
                    <a:gs pos="100000">
                      <a:srgbClr val="000000"/>
                    </a:gs>
                  </a:gsLst>
                  <a:lin ang="5400000" scaled="0"/>
                </a:gradFill>
                <a:effectLst/>
                <a:uLnTx/>
                <a:uFillTx/>
                <a:latin typeface="Segoe UI Semibold"/>
                <a:ea typeface="+mn-ea"/>
                <a:cs typeface="Segoe UI" pitchFamily="34" charset="0"/>
              </a:rPr>
              <a:t>Azure savings plan for compute</a:t>
            </a:r>
            <a:endParaRPr kumimoji="0" lang="en-US" sz="1800" b="0" i="0" u="none" strike="noStrike" kern="0" cap="none" spc="0" normalizeH="0" baseline="30000" noProof="0">
              <a:ln w="3175">
                <a:noFill/>
              </a:ln>
              <a:gradFill>
                <a:gsLst>
                  <a:gs pos="1250">
                    <a:srgbClr val="000000"/>
                  </a:gs>
                  <a:gs pos="100000">
                    <a:srgbClr val="000000"/>
                  </a:gs>
                </a:gsLst>
                <a:lin ang="5400000" scaled="0"/>
              </a:gradFill>
              <a:effectLst/>
              <a:uLnTx/>
              <a:uFillTx/>
              <a:latin typeface="Segoe UI Semibold"/>
              <a:ea typeface="+mn-ea"/>
              <a:cs typeface="Segoe UI" pitchFamily="34" charset="0"/>
            </a:endParaRPr>
          </a:p>
        </p:txBody>
      </p:sp>
      <p:sp>
        <p:nvSpPr>
          <p:cNvPr id="4" name="Oval 3">
            <a:extLst>
              <a:ext uri="{FF2B5EF4-FFF2-40B4-BE49-F238E27FC236}">
                <a16:creationId xmlns:a16="http://schemas.microsoft.com/office/drawing/2014/main" id="{24313216-54AD-40A2-A5ED-4397204244B1}"/>
              </a:ext>
              <a:ext uri="{C183D7F6-B498-43B3-948B-1728B52AA6E4}">
                <adec:decorative xmlns:adec="http://schemas.microsoft.com/office/drawing/2017/decorative" val="1"/>
              </a:ext>
            </a:extLst>
          </p:cNvPr>
          <p:cNvSpPr/>
          <p:nvPr/>
        </p:nvSpPr>
        <p:spPr bwMode="auto">
          <a:xfrm>
            <a:off x="5281932" y="2604386"/>
            <a:ext cx="116031" cy="116031"/>
          </a:xfrm>
          <a:prstGeom prst="ellipse">
            <a:avLst/>
          </a:prstGeom>
          <a:solidFill>
            <a:schemeClr val="accent4"/>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Oval 4">
            <a:extLst>
              <a:ext uri="{FF2B5EF4-FFF2-40B4-BE49-F238E27FC236}">
                <a16:creationId xmlns:a16="http://schemas.microsoft.com/office/drawing/2014/main" id="{A50D216B-A2CA-46E1-A48E-3C19AB936DA8}"/>
              </a:ext>
              <a:ext uri="{C183D7F6-B498-43B3-948B-1728B52AA6E4}">
                <adec:decorative xmlns:adec="http://schemas.microsoft.com/office/drawing/2017/decorative" val="1"/>
              </a:ext>
            </a:extLst>
          </p:cNvPr>
          <p:cNvSpPr/>
          <p:nvPr/>
        </p:nvSpPr>
        <p:spPr bwMode="auto">
          <a:xfrm>
            <a:off x="5511062" y="2677474"/>
            <a:ext cx="116031" cy="116031"/>
          </a:xfrm>
          <a:prstGeom prst="ellipse">
            <a:avLst/>
          </a:prstGeom>
          <a:solidFill>
            <a:schemeClr val="bg1"/>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6" name="Oval 5">
            <a:extLst>
              <a:ext uri="{FF2B5EF4-FFF2-40B4-BE49-F238E27FC236}">
                <a16:creationId xmlns:a16="http://schemas.microsoft.com/office/drawing/2014/main" id="{0030EB9B-9FF4-4992-AFBD-0A135AC69924}"/>
              </a:ext>
              <a:ext uri="{C183D7F6-B498-43B3-948B-1728B52AA6E4}">
                <adec:decorative xmlns:adec="http://schemas.microsoft.com/office/drawing/2017/decorative" val="1"/>
              </a:ext>
            </a:extLst>
          </p:cNvPr>
          <p:cNvSpPr/>
          <p:nvPr/>
        </p:nvSpPr>
        <p:spPr bwMode="auto">
          <a:xfrm>
            <a:off x="6917501" y="4155329"/>
            <a:ext cx="116031" cy="116031"/>
          </a:xfrm>
          <a:prstGeom prst="ellipse">
            <a:avLst/>
          </a:prstGeom>
          <a:solidFill>
            <a:schemeClr val="bg1"/>
          </a:solid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ectangle 7">
            <a:extLst>
              <a:ext uri="{FF2B5EF4-FFF2-40B4-BE49-F238E27FC236}">
                <a16:creationId xmlns:a16="http://schemas.microsoft.com/office/drawing/2014/main" id="{470C192F-4753-4961-B708-F76D960ABD5E}"/>
              </a:ext>
              <a:ext uri="{C183D7F6-B498-43B3-948B-1728B52AA6E4}">
                <adec:decorative xmlns:adec="http://schemas.microsoft.com/office/drawing/2017/decorative" val="1"/>
              </a:ext>
            </a:extLst>
          </p:cNvPr>
          <p:cNvSpPr/>
          <p:nvPr/>
        </p:nvSpPr>
        <p:spPr bwMode="auto">
          <a:xfrm>
            <a:off x="10547586" y="3218042"/>
            <a:ext cx="116031" cy="116031"/>
          </a:xfrm>
          <a:prstGeom prst="rect">
            <a:avLst/>
          </a:prstGeom>
          <a:solidFill>
            <a:srgbClr val="243A5F"/>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182" name="Oval 1181">
            <a:extLst>
              <a:ext uri="{FF2B5EF4-FFF2-40B4-BE49-F238E27FC236}">
                <a16:creationId xmlns:a16="http://schemas.microsoft.com/office/drawing/2014/main" id="{E7E52CE3-A120-4EBB-B4E6-336792186870}"/>
              </a:ext>
              <a:ext uri="{C183D7F6-B498-43B3-948B-1728B52AA6E4}">
                <adec:decorative xmlns:adec="http://schemas.microsoft.com/office/drawing/2017/decorative" val="1"/>
              </a:ext>
            </a:extLst>
          </p:cNvPr>
          <p:cNvSpPr/>
          <p:nvPr/>
        </p:nvSpPr>
        <p:spPr bwMode="auto">
          <a:xfrm>
            <a:off x="1809599" y="1153081"/>
            <a:ext cx="578427" cy="578427"/>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737360" rIns="274320" bIns="274320" numCol="1" spcCol="0" rtlCol="0" fromWordArt="0" anchor="t"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600"/>
              </a:spcAft>
              <a:buClr>
                <a:srgbClr val="000000"/>
              </a:buClr>
              <a:buSzPct val="90000"/>
              <a:buFontTx/>
              <a:buNone/>
              <a:tabLst/>
              <a:defRPr/>
            </a:pPr>
            <a:endParaRPr kumimoji="0" lang="en-US" sz="1600" b="0" i="0" u="none" strike="noStrike" kern="1200" cap="none" spc="0" normalizeH="0" baseline="0" noProof="0" err="1">
              <a:ln>
                <a:noFill/>
              </a:ln>
              <a:gradFill>
                <a:gsLst>
                  <a:gs pos="54400">
                    <a:srgbClr val="0078D3"/>
                  </a:gs>
                  <a:gs pos="100000">
                    <a:srgbClr val="0078D3"/>
                  </a:gs>
                </a:gsLst>
                <a:lin ang="0" scaled="0"/>
              </a:gradFill>
              <a:effectLst/>
              <a:uLnTx/>
              <a:uFillTx/>
              <a:latin typeface="Segoe UI Semibold"/>
              <a:ea typeface="+mn-ea"/>
              <a:cs typeface="Segoe UI" panose="020B0502040204020203" pitchFamily="34" charset="0"/>
            </a:endParaRPr>
          </a:p>
        </p:txBody>
      </p:sp>
      <p:grpSp>
        <p:nvGrpSpPr>
          <p:cNvPr id="1183" name="Group 1182">
            <a:extLst>
              <a:ext uri="{FF2B5EF4-FFF2-40B4-BE49-F238E27FC236}">
                <a16:creationId xmlns:a16="http://schemas.microsoft.com/office/drawing/2014/main" id="{6881BADC-D8C4-4742-BBB5-FBBB32EC640F}"/>
              </a:ext>
              <a:ext uri="{C183D7F6-B498-43B3-948B-1728B52AA6E4}">
                <adec:decorative xmlns:adec="http://schemas.microsoft.com/office/drawing/2017/decorative" val="1"/>
              </a:ext>
            </a:extLst>
          </p:cNvPr>
          <p:cNvGrpSpPr/>
          <p:nvPr/>
        </p:nvGrpSpPr>
        <p:grpSpPr>
          <a:xfrm>
            <a:off x="1225375" y="1275578"/>
            <a:ext cx="392888" cy="333433"/>
            <a:chOff x="5692537" y="3717104"/>
            <a:chExt cx="1048981" cy="890242"/>
          </a:xfrm>
          <a:effectLst/>
        </p:grpSpPr>
        <p:grpSp>
          <p:nvGrpSpPr>
            <p:cNvPr id="1184" name="gears 1" descr="gears, process, precision, productivity, mechanical">
              <a:extLst>
                <a:ext uri="{FF2B5EF4-FFF2-40B4-BE49-F238E27FC236}">
                  <a16:creationId xmlns:a16="http://schemas.microsoft.com/office/drawing/2014/main" id="{1A47798F-C129-41EE-B352-9CDFA02B723C}"/>
                </a:ext>
              </a:extLst>
            </p:cNvPr>
            <p:cNvGrpSpPr>
              <a:grpSpLocks noChangeAspect="1"/>
            </p:cNvGrpSpPr>
            <p:nvPr/>
          </p:nvGrpSpPr>
          <p:grpSpPr bwMode="auto">
            <a:xfrm>
              <a:off x="5692537" y="3717104"/>
              <a:ext cx="806922" cy="648183"/>
              <a:chOff x="1682" y="3095"/>
              <a:chExt cx="244" cy="196"/>
            </a:xfrm>
          </p:grpSpPr>
          <p:sp>
            <p:nvSpPr>
              <p:cNvPr id="1190" name="AutoShape 151">
                <a:extLst>
                  <a:ext uri="{FF2B5EF4-FFF2-40B4-BE49-F238E27FC236}">
                    <a16:creationId xmlns:a16="http://schemas.microsoft.com/office/drawing/2014/main" id="{BE3D65D2-812A-41FB-BF30-AAB8A98814D5}"/>
                  </a:ext>
                </a:extLst>
              </p:cNvPr>
              <p:cNvSpPr>
                <a:spLocks noChangeAspect="1" noChangeArrowheads="1" noTextEdit="1"/>
              </p:cNvSpPr>
              <p:nvPr/>
            </p:nvSpPr>
            <p:spPr bwMode="auto">
              <a:xfrm>
                <a:off x="1682" y="3095"/>
                <a:ext cx="24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191" name="Freeform 153">
                <a:extLst>
                  <a:ext uri="{FF2B5EF4-FFF2-40B4-BE49-F238E27FC236}">
                    <a16:creationId xmlns:a16="http://schemas.microsoft.com/office/drawing/2014/main" id="{3F7B6562-4793-49F5-A8BB-31B000E6ECAF}"/>
                  </a:ext>
                </a:extLst>
              </p:cNvPr>
              <p:cNvSpPr>
                <a:spLocks noEditPoints="1"/>
              </p:cNvSpPr>
              <p:nvPr/>
            </p:nvSpPr>
            <p:spPr bwMode="auto">
              <a:xfrm>
                <a:off x="1810" y="3094"/>
                <a:ext cx="115" cy="113"/>
              </a:xfrm>
              <a:custGeom>
                <a:avLst/>
                <a:gdLst>
                  <a:gd name="T0" fmla="*/ 68 w 79"/>
                  <a:gd name="T1" fmla="*/ 36 h 78"/>
                  <a:gd name="T2" fmla="*/ 66 w 79"/>
                  <a:gd name="T3" fmla="*/ 26 h 78"/>
                  <a:gd name="T4" fmla="*/ 72 w 79"/>
                  <a:gd name="T5" fmla="*/ 18 h 78"/>
                  <a:gd name="T6" fmla="*/ 66 w 79"/>
                  <a:gd name="T7" fmla="*/ 11 h 78"/>
                  <a:gd name="T8" fmla="*/ 57 w 79"/>
                  <a:gd name="T9" fmla="*/ 16 h 78"/>
                  <a:gd name="T10" fmla="*/ 49 w 79"/>
                  <a:gd name="T11" fmla="*/ 12 h 78"/>
                  <a:gd name="T12" fmla="*/ 48 w 79"/>
                  <a:gd name="T13" fmla="*/ 1 h 78"/>
                  <a:gd name="T14" fmla="*/ 38 w 79"/>
                  <a:gd name="T15" fmla="*/ 0 h 78"/>
                  <a:gd name="T16" fmla="*/ 35 w 79"/>
                  <a:gd name="T17" fmla="*/ 11 h 78"/>
                  <a:gd name="T18" fmla="*/ 26 w 79"/>
                  <a:gd name="T19" fmla="*/ 13 h 78"/>
                  <a:gd name="T20" fmla="*/ 18 w 79"/>
                  <a:gd name="T21" fmla="*/ 6 h 78"/>
                  <a:gd name="T22" fmla="*/ 11 w 79"/>
                  <a:gd name="T23" fmla="*/ 12 h 78"/>
                  <a:gd name="T24" fmla="*/ 16 w 79"/>
                  <a:gd name="T25" fmla="*/ 22 h 78"/>
                  <a:gd name="T26" fmla="*/ 11 w 79"/>
                  <a:gd name="T27" fmla="*/ 30 h 78"/>
                  <a:gd name="T28" fmla="*/ 1 w 79"/>
                  <a:gd name="T29" fmla="*/ 31 h 78"/>
                  <a:gd name="T30" fmla="*/ 0 w 79"/>
                  <a:gd name="T31" fmla="*/ 40 h 78"/>
                  <a:gd name="T32" fmla="*/ 10 w 79"/>
                  <a:gd name="T33" fmla="*/ 43 h 78"/>
                  <a:gd name="T34" fmla="*/ 13 w 79"/>
                  <a:gd name="T35" fmla="*/ 52 h 78"/>
                  <a:gd name="T36" fmla="*/ 6 w 79"/>
                  <a:gd name="T37" fmla="*/ 60 h 78"/>
                  <a:gd name="T38" fmla="*/ 12 w 79"/>
                  <a:gd name="T39" fmla="*/ 67 h 78"/>
                  <a:gd name="T40" fmla="*/ 22 w 79"/>
                  <a:gd name="T41" fmla="*/ 62 h 78"/>
                  <a:gd name="T42" fmla="*/ 30 w 79"/>
                  <a:gd name="T43" fmla="*/ 66 h 78"/>
                  <a:gd name="T44" fmla="*/ 31 w 79"/>
                  <a:gd name="T45" fmla="*/ 77 h 78"/>
                  <a:gd name="T46" fmla="*/ 40 w 79"/>
                  <a:gd name="T47" fmla="*/ 78 h 78"/>
                  <a:gd name="T48" fmla="*/ 43 w 79"/>
                  <a:gd name="T49" fmla="*/ 67 h 78"/>
                  <a:gd name="T50" fmla="*/ 52 w 79"/>
                  <a:gd name="T51" fmla="*/ 65 h 78"/>
                  <a:gd name="T52" fmla="*/ 61 w 79"/>
                  <a:gd name="T53" fmla="*/ 72 h 78"/>
                  <a:gd name="T54" fmla="*/ 68 w 79"/>
                  <a:gd name="T55" fmla="*/ 66 h 78"/>
                  <a:gd name="T56" fmla="*/ 63 w 79"/>
                  <a:gd name="T57" fmla="*/ 56 h 78"/>
                  <a:gd name="T58" fmla="*/ 68 w 79"/>
                  <a:gd name="T59" fmla="*/ 48 h 78"/>
                  <a:gd name="T60" fmla="*/ 78 w 79"/>
                  <a:gd name="T61" fmla="*/ 47 h 78"/>
                  <a:gd name="T62" fmla="*/ 79 w 79"/>
                  <a:gd name="T63" fmla="*/ 38 h 78"/>
                  <a:gd name="T64" fmla="*/ 68 w 79"/>
                  <a:gd name="T65" fmla="*/ 36 h 78"/>
                  <a:gd name="T66" fmla="*/ 44 w 79"/>
                  <a:gd name="T67" fmla="*/ 56 h 78"/>
                  <a:gd name="T68" fmla="*/ 22 w 79"/>
                  <a:gd name="T69" fmla="*/ 45 h 78"/>
                  <a:gd name="T70" fmla="*/ 34 w 79"/>
                  <a:gd name="T71" fmla="*/ 23 h 78"/>
                  <a:gd name="T72" fmla="*/ 55 w 79"/>
                  <a:gd name="T73" fmla="*/ 34 h 78"/>
                  <a:gd name="T74" fmla="*/ 44 w 79"/>
                  <a:gd name="T75" fmla="*/ 5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9" h="78">
                    <a:moveTo>
                      <a:pt x="68" y="36"/>
                    </a:moveTo>
                    <a:cubicBezTo>
                      <a:pt x="68" y="32"/>
                      <a:pt x="67" y="29"/>
                      <a:pt x="66" y="26"/>
                    </a:cubicBezTo>
                    <a:cubicBezTo>
                      <a:pt x="67" y="26"/>
                      <a:pt x="72" y="18"/>
                      <a:pt x="72" y="18"/>
                    </a:cubicBezTo>
                    <a:cubicBezTo>
                      <a:pt x="66" y="11"/>
                      <a:pt x="66" y="11"/>
                      <a:pt x="66" y="11"/>
                    </a:cubicBezTo>
                    <a:cubicBezTo>
                      <a:pt x="66" y="11"/>
                      <a:pt x="57" y="15"/>
                      <a:pt x="57" y="16"/>
                    </a:cubicBezTo>
                    <a:cubicBezTo>
                      <a:pt x="54" y="14"/>
                      <a:pt x="52" y="13"/>
                      <a:pt x="49" y="12"/>
                    </a:cubicBezTo>
                    <a:cubicBezTo>
                      <a:pt x="49" y="11"/>
                      <a:pt x="48" y="1"/>
                      <a:pt x="48" y="1"/>
                    </a:cubicBezTo>
                    <a:cubicBezTo>
                      <a:pt x="38" y="0"/>
                      <a:pt x="38" y="0"/>
                      <a:pt x="38" y="0"/>
                    </a:cubicBezTo>
                    <a:cubicBezTo>
                      <a:pt x="38" y="0"/>
                      <a:pt x="35" y="10"/>
                      <a:pt x="35" y="11"/>
                    </a:cubicBezTo>
                    <a:cubicBezTo>
                      <a:pt x="32" y="11"/>
                      <a:pt x="29" y="12"/>
                      <a:pt x="26" y="13"/>
                    </a:cubicBezTo>
                    <a:cubicBezTo>
                      <a:pt x="26" y="12"/>
                      <a:pt x="18" y="6"/>
                      <a:pt x="18" y="6"/>
                    </a:cubicBezTo>
                    <a:cubicBezTo>
                      <a:pt x="11" y="12"/>
                      <a:pt x="11" y="12"/>
                      <a:pt x="11" y="12"/>
                    </a:cubicBezTo>
                    <a:cubicBezTo>
                      <a:pt x="11" y="12"/>
                      <a:pt x="15" y="21"/>
                      <a:pt x="16" y="22"/>
                    </a:cubicBezTo>
                    <a:cubicBezTo>
                      <a:pt x="14" y="24"/>
                      <a:pt x="12" y="27"/>
                      <a:pt x="11" y="30"/>
                    </a:cubicBezTo>
                    <a:cubicBezTo>
                      <a:pt x="10" y="30"/>
                      <a:pt x="1" y="31"/>
                      <a:pt x="1" y="31"/>
                    </a:cubicBezTo>
                    <a:cubicBezTo>
                      <a:pt x="0" y="40"/>
                      <a:pt x="0" y="40"/>
                      <a:pt x="0" y="40"/>
                    </a:cubicBezTo>
                    <a:cubicBezTo>
                      <a:pt x="0" y="40"/>
                      <a:pt x="9" y="43"/>
                      <a:pt x="10" y="43"/>
                    </a:cubicBezTo>
                    <a:cubicBezTo>
                      <a:pt x="10" y="46"/>
                      <a:pt x="12" y="49"/>
                      <a:pt x="13" y="52"/>
                    </a:cubicBezTo>
                    <a:cubicBezTo>
                      <a:pt x="12" y="53"/>
                      <a:pt x="6" y="60"/>
                      <a:pt x="6" y="60"/>
                    </a:cubicBezTo>
                    <a:cubicBezTo>
                      <a:pt x="12" y="67"/>
                      <a:pt x="12" y="67"/>
                      <a:pt x="12" y="67"/>
                    </a:cubicBezTo>
                    <a:cubicBezTo>
                      <a:pt x="12" y="67"/>
                      <a:pt x="21" y="63"/>
                      <a:pt x="22" y="62"/>
                    </a:cubicBezTo>
                    <a:cubicBezTo>
                      <a:pt x="24" y="64"/>
                      <a:pt x="27" y="65"/>
                      <a:pt x="30" y="66"/>
                    </a:cubicBezTo>
                    <a:cubicBezTo>
                      <a:pt x="30" y="66"/>
                      <a:pt x="31" y="77"/>
                      <a:pt x="31" y="77"/>
                    </a:cubicBezTo>
                    <a:cubicBezTo>
                      <a:pt x="40" y="78"/>
                      <a:pt x="40" y="78"/>
                      <a:pt x="40" y="78"/>
                    </a:cubicBezTo>
                    <a:cubicBezTo>
                      <a:pt x="40" y="78"/>
                      <a:pt x="43" y="68"/>
                      <a:pt x="43" y="67"/>
                    </a:cubicBezTo>
                    <a:cubicBezTo>
                      <a:pt x="46" y="67"/>
                      <a:pt x="49" y="66"/>
                      <a:pt x="52" y="65"/>
                    </a:cubicBezTo>
                    <a:cubicBezTo>
                      <a:pt x="52" y="66"/>
                      <a:pt x="61" y="72"/>
                      <a:pt x="61" y="72"/>
                    </a:cubicBezTo>
                    <a:cubicBezTo>
                      <a:pt x="68" y="66"/>
                      <a:pt x="68" y="66"/>
                      <a:pt x="68" y="66"/>
                    </a:cubicBezTo>
                    <a:cubicBezTo>
                      <a:pt x="68" y="66"/>
                      <a:pt x="64" y="58"/>
                      <a:pt x="63" y="56"/>
                    </a:cubicBezTo>
                    <a:cubicBezTo>
                      <a:pt x="65" y="54"/>
                      <a:pt x="66" y="51"/>
                      <a:pt x="68" y="48"/>
                    </a:cubicBezTo>
                    <a:cubicBezTo>
                      <a:pt x="69" y="48"/>
                      <a:pt x="78" y="47"/>
                      <a:pt x="78" y="47"/>
                    </a:cubicBezTo>
                    <a:cubicBezTo>
                      <a:pt x="79" y="38"/>
                      <a:pt x="79" y="38"/>
                      <a:pt x="79" y="38"/>
                    </a:cubicBezTo>
                    <a:cubicBezTo>
                      <a:pt x="78" y="39"/>
                      <a:pt x="70" y="36"/>
                      <a:pt x="68" y="36"/>
                    </a:cubicBezTo>
                    <a:close/>
                    <a:moveTo>
                      <a:pt x="44" y="56"/>
                    </a:moveTo>
                    <a:cubicBezTo>
                      <a:pt x="35" y="59"/>
                      <a:pt x="25" y="54"/>
                      <a:pt x="22" y="45"/>
                    </a:cubicBezTo>
                    <a:cubicBezTo>
                      <a:pt x="20" y="36"/>
                      <a:pt x="24" y="26"/>
                      <a:pt x="34" y="23"/>
                    </a:cubicBezTo>
                    <a:cubicBezTo>
                      <a:pt x="43" y="20"/>
                      <a:pt x="52" y="25"/>
                      <a:pt x="55" y="34"/>
                    </a:cubicBezTo>
                    <a:cubicBezTo>
                      <a:pt x="58" y="43"/>
                      <a:pt x="53" y="53"/>
                      <a:pt x="44" y="56"/>
                    </a:cubicBezTo>
                    <a:close/>
                  </a:path>
                </a:pathLst>
              </a:custGeom>
              <a:solidFill>
                <a:srgbClr val="243A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192" name="Freeform 154">
                <a:extLst>
                  <a:ext uri="{FF2B5EF4-FFF2-40B4-BE49-F238E27FC236}">
                    <a16:creationId xmlns:a16="http://schemas.microsoft.com/office/drawing/2014/main" id="{83EA9120-0E3F-4508-8987-AAE1CF3D744F}"/>
                  </a:ext>
                </a:extLst>
              </p:cNvPr>
              <p:cNvSpPr>
                <a:spLocks noEditPoints="1"/>
              </p:cNvSpPr>
              <p:nvPr/>
            </p:nvSpPr>
            <p:spPr bwMode="auto">
              <a:xfrm>
                <a:off x="1682" y="3140"/>
                <a:ext cx="151" cy="150"/>
              </a:xfrm>
              <a:custGeom>
                <a:avLst/>
                <a:gdLst>
                  <a:gd name="T0" fmla="*/ 84 w 104"/>
                  <a:gd name="T1" fmla="*/ 31 h 103"/>
                  <a:gd name="T2" fmla="*/ 92 w 104"/>
                  <a:gd name="T3" fmla="*/ 20 h 103"/>
                  <a:gd name="T4" fmla="*/ 83 w 104"/>
                  <a:gd name="T5" fmla="*/ 11 h 103"/>
                  <a:gd name="T6" fmla="*/ 71 w 104"/>
                  <a:gd name="T7" fmla="*/ 19 h 103"/>
                  <a:gd name="T8" fmla="*/ 60 w 104"/>
                  <a:gd name="T9" fmla="*/ 14 h 103"/>
                  <a:gd name="T10" fmla="*/ 57 w 104"/>
                  <a:gd name="T11" fmla="*/ 0 h 103"/>
                  <a:gd name="T12" fmla="*/ 45 w 104"/>
                  <a:gd name="T13" fmla="*/ 0 h 103"/>
                  <a:gd name="T14" fmla="*/ 42 w 104"/>
                  <a:gd name="T15" fmla="*/ 14 h 103"/>
                  <a:gd name="T16" fmla="*/ 31 w 104"/>
                  <a:gd name="T17" fmla="*/ 19 h 103"/>
                  <a:gd name="T18" fmla="*/ 19 w 104"/>
                  <a:gd name="T19" fmla="*/ 11 h 103"/>
                  <a:gd name="T20" fmla="*/ 10 w 104"/>
                  <a:gd name="T21" fmla="*/ 20 h 103"/>
                  <a:gd name="T22" fmla="*/ 18 w 104"/>
                  <a:gd name="T23" fmla="*/ 32 h 103"/>
                  <a:gd name="T24" fmla="*/ 13 w 104"/>
                  <a:gd name="T25" fmla="*/ 43 h 103"/>
                  <a:gd name="T26" fmla="*/ 0 w 104"/>
                  <a:gd name="T27" fmla="*/ 46 h 103"/>
                  <a:gd name="T28" fmla="*/ 0 w 104"/>
                  <a:gd name="T29" fmla="*/ 57 h 103"/>
                  <a:gd name="T30" fmla="*/ 14 w 104"/>
                  <a:gd name="T31" fmla="*/ 60 h 103"/>
                  <a:gd name="T32" fmla="*/ 18 w 104"/>
                  <a:gd name="T33" fmla="*/ 72 h 103"/>
                  <a:gd name="T34" fmla="*/ 11 w 104"/>
                  <a:gd name="T35" fmla="*/ 84 h 103"/>
                  <a:gd name="T36" fmla="*/ 19 w 104"/>
                  <a:gd name="T37" fmla="*/ 92 h 103"/>
                  <a:gd name="T38" fmla="*/ 32 w 104"/>
                  <a:gd name="T39" fmla="*/ 84 h 103"/>
                  <a:gd name="T40" fmla="*/ 43 w 104"/>
                  <a:gd name="T41" fmla="*/ 88 h 103"/>
                  <a:gd name="T42" fmla="*/ 46 w 104"/>
                  <a:gd name="T43" fmla="*/ 103 h 103"/>
                  <a:gd name="T44" fmla="*/ 58 w 104"/>
                  <a:gd name="T45" fmla="*/ 103 h 103"/>
                  <a:gd name="T46" fmla="*/ 61 w 104"/>
                  <a:gd name="T47" fmla="*/ 88 h 103"/>
                  <a:gd name="T48" fmla="*/ 72 w 104"/>
                  <a:gd name="T49" fmla="*/ 84 h 103"/>
                  <a:gd name="T50" fmla="*/ 84 w 104"/>
                  <a:gd name="T51" fmla="*/ 92 h 103"/>
                  <a:gd name="T52" fmla="*/ 92 w 104"/>
                  <a:gd name="T53" fmla="*/ 83 h 103"/>
                  <a:gd name="T54" fmla="*/ 85 w 104"/>
                  <a:gd name="T55" fmla="*/ 72 h 103"/>
                  <a:gd name="T56" fmla="*/ 90 w 104"/>
                  <a:gd name="T57" fmla="*/ 60 h 103"/>
                  <a:gd name="T58" fmla="*/ 104 w 104"/>
                  <a:gd name="T59" fmla="*/ 57 h 103"/>
                  <a:gd name="T60" fmla="*/ 104 w 104"/>
                  <a:gd name="T61" fmla="*/ 45 h 103"/>
                  <a:gd name="T62" fmla="*/ 90 w 104"/>
                  <a:gd name="T63" fmla="*/ 42 h 103"/>
                  <a:gd name="T64" fmla="*/ 84 w 104"/>
                  <a:gd name="T65" fmla="*/ 31 h 103"/>
                  <a:gd name="T66" fmla="*/ 60 w 104"/>
                  <a:gd name="T67" fmla="*/ 72 h 103"/>
                  <a:gd name="T68" fmla="*/ 30 w 104"/>
                  <a:gd name="T69" fmla="*/ 60 h 103"/>
                  <a:gd name="T70" fmla="*/ 42 w 104"/>
                  <a:gd name="T71" fmla="*/ 30 h 103"/>
                  <a:gd name="T72" fmla="*/ 72 w 104"/>
                  <a:gd name="T73" fmla="*/ 42 h 103"/>
                  <a:gd name="T74" fmla="*/ 60 w 104"/>
                  <a:gd name="T75" fmla="*/ 7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 h="103">
                    <a:moveTo>
                      <a:pt x="84" y="31"/>
                    </a:moveTo>
                    <a:cubicBezTo>
                      <a:pt x="86" y="30"/>
                      <a:pt x="92" y="20"/>
                      <a:pt x="92" y="20"/>
                    </a:cubicBezTo>
                    <a:cubicBezTo>
                      <a:pt x="83" y="11"/>
                      <a:pt x="83" y="11"/>
                      <a:pt x="83" y="11"/>
                    </a:cubicBezTo>
                    <a:cubicBezTo>
                      <a:pt x="83" y="11"/>
                      <a:pt x="72" y="18"/>
                      <a:pt x="71" y="19"/>
                    </a:cubicBezTo>
                    <a:cubicBezTo>
                      <a:pt x="68" y="17"/>
                      <a:pt x="64" y="15"/>
                      <a:pt x="60" y="14"/>
                    </a:cubicBezTo>
                    <a:cubicBezTo>
                      <a:pt x="60" y="14"/>
                      <a:pt x="57" y="0"/>
                      <a:pt x="57" y="0"/>
                    </a:cubicBezTo>
                    <a:cubicBezTo>
                      <a:pt x="45" y="0"/>
                      <a:pt x="45" y="0"/>
                      <a:pt x="45" y="0"/>
                    </a:cubicBezTo>
                    <a:cubicBezTo>
                      <a:pt x="45" y="0"/>
                      <a:pt x="42" y="14"/>
                      <a:pt x="42" y="14"/>
                    </a:cubicBezTo>
                    <a:cubicBezTo>
                      <a:pt x="38" y="15"/>
                      <a:pt x="34" y="17"/>
                      <a:pt x="31" y="19"/>
                    </a:cubicBezTo>
                    <a:cubicBezTo>
                      <a:pt x="30" y="18"/>
                      <a:pt x="19" y="11"/>
                      <a:pt x="19" y="11"/>
                    </a:cubicBezTo>
                    <a:cubicBezTo>
                      <a:pt x="10" y="20"/>
                      <a:pt x="10" y="20"/>
                      <a:pt x="10" y="20"/>
                    </a:cubicBezTo>
                    <a:cubicBezTo>
                      <a:pt x="10" y="20"/>
                      <a:pt x="17" y="30"/>
                      <a:pt x="18" y="32"/>
                    </a:cubicBezTo>
                    <a:cubicBezTo>
                      <a:pt x="16" y="35"/>
                      <a:pt x="14" y="39"/>
                      <a:pt x="13" y="43"/>
                    </a:cubicBezTo>
                    <a:cubicBezTo>
                      <a:pt x="12" y="42"/>
                      <a:pt x="0" y="46"/>
                      <a:pt x="0" y="46"/>
                    </a:cubicBezTo>
                    <a:cubicBezTo>
                      <a:pt x="0" y="57"/>
                      <a:pt x="0" y="57"/>
                      <a:pt x="0" y="57"/>
                    </a:cubicBezTo>
                    <a:cubicBezTo>
                      <a:pt x="0" y="57"/>
                      <a:pt x="12" y="60"/>
                      <a:pt x="14" y="60"/>
                    </a:cubicBezTo>
                    <a:cubicBezTo>
                      <a:pt x="15" y="64"/>
                      <a:pt x="16" y="68"/>
                      <a:pt x="18" y="72"/>
                    </a:cubicBezTo>
                    <a:cubicBezTo>
                      <a:pt x="17" y="72"/>
                      <a:pt x="11" y="84"/>
                      <a:pt x="11" y="84"/>
                    </a:cubicBezTo>
                    <a:cubicBezTo>
                      <a:pt x="19" y="92"/>
                      <a:pt x="19" y="92"/>
                      <a:pt x="19" y="92"/>
                    </a:cubicBezTo>
                    <a:cubicBezTo>
                      <a:pt x="19" y="92"/>
                      <a:pt x="31" y="85"/>
                      <a:pt x="32" y="84"/>
                    </a:cubicBezTo>
                    <a:cubicBezTo>
                      <a:pt x="35" y="86"/>
                      <a:pt x="39" y="88"/>
                      <a:pt x="43" y="88"/>
                    </a:cubicBezTo>
                    <a:cubicBezTo>
                      <a:pt x="43" y="89"/>
                      <a:pt x="46" y="103"/>
                      <a:pt x="46" y="103"/>
                    </a:cubicBezTo>
                    <a:cubicBezTo>
                      <a:pt x="58" y="103"/>
                      <a:pt x="58" y="103"/>
                      <a:pt x="58" y="103"/>
                    </a:cubicBezTo>
                    <a:cubicBezTo>
                      <a:pt x="58" y="103"/>
                      <a:pt x="61" y="89"/>
                      <a:pt x="61" y="88"/>
                    </a:cubicBezTo>
                    <a:cubicBezTo>
                      <a:pt x="65" y="88"/>
                      <a:pt x="68" y="86"/>
                      <a:pt x="72" y="84"/>
                    </a:cubicBezTo>
                    <a:cubicBezTo>
                      <a:pt x="73" y="85"/>
                      <a:pt x="84" y="92"/>
                      <a:pt x="84" y="92"/>
                    </a:cubicBezTo>
                    <a:cubicBezTo>
                      <a:pt x="92" y="83"/>
                      <a:pt x="92" y="83"/>
                      <a:pt x="92" y="83"/>
                    </a:cubicBezTo>
                    <a:cubicBezTo>
                      <a:pt x="92" y="83"/>
                      <a:pt x="86" y="72"/>
                      <a:pt x="85" y="72"/>
                    </a:cubicBezTo>
                    <a:cubicBezTo>
                      <a:pt x="88" y="68"/>
                      <a:pt x="89" y="64"/>
                      <a:pt x="90" y="60"/>
                    </a:cubicBezTo>
                    <a:cubicBezTo>
                      <a:pt x="92" y="60"/>
                      <a:pt x="104" y="57"/>
                      <a:pt x="104" y="57"/>
                    </a:cubicBezTo>
                    <a:cubicBezTo>
                      <a:pt x="104" y="45"/>
                      <a:pt x="104" y="45"/>
                      <a:pt x="104" y="45"/>
                    </a:cubicBezTo>
                    <a:cubicBezTo>
                      <a:pt x="104" y="45"/>
                      <a:pt x="92" y="42"/>
                      <a:pt x="90" y="42"/>
                    </a:cubicBezTo>
                    <a:cubicBezTo>
                      <a:pt x="88" y="38"/>
                      <a:pt x="87" y="34"/>
                      <a:pt x="84" y="31"/>
                    </a:cubicBezTo>
                    <a:close/>
                    <a:moveTo>
                      <a:pt x="60" y="72"/>
                    </a:moveTo>
                    <a:cubicBezTo>
                      <a:pt x="49" y="77"/>
                      <a:pt x="36" y="72"/>
                      <a:pt x="30" y="60"/>
                    </a:cubicBezTo>
                    <a:cubicBezTo>
                      <a:pt x="26" y="49"/>
                      <a:pt x="31" y="36"/>
                      <a:pt x="42" y="30"/>
                    </a:cubicBezTo>
                    <a:cubicBezTo>
                      <a:pt x="54" y="26"/>
                      <a:pt x="67" y="31"/>
                      <a:pt x="72" y="42"/>
                    </a:cubicBezTo>
                    <a:cubicBezTo>
                      <a:pt x="77" y="54"/>
                      <a:pt x="72" y="67"/>
                      <a:pt x="60" y="72"/>
                    </a:cubicBezTo>
                    <a:close/>
                  </a:path>
                </a:pathLst>
              </a:custGeom>
              <a:solidFill>
                <a:srgbClr val="243A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186" name="Group 1185">
              <a:extLst>
                <a:ext uri="{FF2B5EF4-FFF2-40B4-BE49-F238E27FC236}">
                  <a16:creationId xmlns:a16="http://schemas.microsoft.com/office/drawing/2014/main" id="{BEDCD991-12D8-4958-BE8A-756BEC0D751D}"/>
                </a:ext>
              </a:extLst>
            </p:cNvPr>
            <p:cNvGrpSpPr/>
            <p:nvPr/>
          </p:nvGrpSpPr>
          <p:grpSpPr>
            <a:xfrm>
              <a:off x="6242152" y="4107980"/>
              <a:ext cx="499366" cy="499366"/>
              <a:chOff x="7051040" y="3982567"/>
              <a:chExt cx="508000" cy="508000"/>
            </a:xfrm>
          </p:grpSpPr>
          <p:sp>
            <p:nvSpPr>
              <p:cNvPr id="1187" name="Oval 1186">
                <a:extLst>
                  <a:ext uri="{FF2B5EF4-FFF2-40B4-BE49-F238E27FC236}">
                    <a16:creationId xmlns:a16="http://schemas.microsoft.com/office/drawing/2014/main" id="{782925DE-E11F-4301-8E9E-8485B3A15ECC}"/>
                  </a:ext>
                </a:extLst>
              </p:cNvPr>
              <p:cNvSpPr/>
              <p:nvPr/>
            </p:nvSpPr>
            <p:spPr bwMode="auto">
              <a:xfrm>
                <a:off x="7051040" y="3982567"/>
                <a:ext cx="508000" cy="50800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89" name="Freeform: Shape 1188">
                <a:extLst>
                  <a:ext uri="{FF2B5EF4-FFF2-40B4-BE49-F238E27FC236}">
                    <a16:creationId xmlns:a16="http://schemas.microsoft.com/office/drawing/2014/main" id="{095C30A4-D120-49C6-A633-FCBEBEDCAD23}"/>
                  </a:ext>
                </a:extLst>
              </p:cNvPr>
              <p:cNvSpPr/>
              <p:nvPr/>
            </p:nvSpPr>
            <p:spPr>
              <a:xfrm>
                <a:off x="7237688" y="4101864"/>
                <a:ext cx="134705" cy="269407"/>
              </a:xfrm>
              <a:custGeom>
                <a:avLst/>
                <a:gdLst>
                  <a:gd name="connsiteX0" fmla="*/ 66148 w 88898"/>
                  <a:gd name="connsiteY0" fmla="*/ 119136 h 177796"/>
                  <a:gd name="connsiteX1" fmla="*/ 52721 w 88898"/>
                  <a:gd name="connsiteY1" fmla="*/ 104145 h 177796"/>
                  <a:gd name="connsiteX2" fmla="*/ 52721 w 88898"/>
                  <a:gd name="connsiteY2" fmla="*/ 132562 h 177796"/>
                  <a:gd name="connsiteX3" fmla="*/ 66148 w 88898"/>
                  <a:gd name="connsiteY3" fmla="*/ 119136 h 177796"/>
                  <a:gd name="connsiteX4" fmla="*/ 39034 w 88898"/>
                  <a:gd name="connsiteY4" fmla="*/ 72404 h 177796"/>
                  <a:gd name="connsiteX5" fmla="*/ 39034 w 88898"/>
                  <a:gd name="connsiteY5" fmla="*/ 42683 h 177796"/>
                  <a:gd name="connsiteX6" fmla="*/ 25998 w 88898"/>
                  <a:gd name="connsiteY6" fmla="*/ 56305 h 177796"/>
                  <a:gd name="connsiteX7" fmla="*/ 39034 w 88898"/>
                  <a:gd name="connsiteY7" fmla="*/ 72404 h 177796"/>
                  <a:gd name="connsiteX8" fmla="*/ 91110 w 88898"/>
                  <a:gd name="connsiteY8" fmla="*/ 117832 h 177796"/>
                  <a:gd name="connsiteX9" fmla="*/ 81334 w 88898"/>
                  <a:gd name="connsiteY9" fmla="*/ 142861 h 177796"/>
                  <a:gd name="connsiteX10" fmla="*/ 52786 w 88898"/>
                  <a:gd name="connsiteY10" fmla="*/ 154462 h 177796"/>
                  <a:gd name="connsiteX11" fmla="*/ 52786 w 88898"/>
                  <a:gd name="connsiteY11" fmla="*/ 176752 h 177796"/>
                  <a:gd name="connsiteX12" fmla="*/ 39099 w 88898"/>
                  <a:gd name="connsiteY12" fmla="*/ 176752 h 177796"/>
                  <a:gd name="connsiteX13" fmla="*/ 39099 w 88898"/>
                  <a:gd name="connsiteY13" fmla="*/ 155048 h 177796"/>
                  <a:gd name="connsiteX14" fmla="*/ 3642 w 88898"/>
                  <a:gd name="connsiteY14" fmla="*/ 146445 h 177796"/>
                  <a:gd name="connsiteX15" fmla="*/ 3642 w 88898"/>
                  <a:gd name="connsiteY15" fmla="*/ 120439 h 177796"/>
                  <a:gd name="connsiteX16" fmla="*/ 19806 w 88898"/>
                  <a:gd name="connsiteY16" fmla="*/ 128456 h 177796"/>
                  <a:gd name="connsiteX17" fmla="*/ 39099 w 88898"/>
                  <a:gd name="connsiteY17" fmla="*/ 132889 h 177796"/>
                  <a:gd name="connsiteX18" fmla="*/ 39099 w 88898"/>
                  <a:gd name="connsiteY18" fmla="*/ 98735 h 177796"/>
                  <a:gd name="connsiteX19" fmla="*/ 9769 w 88898"/>
                  <a:gd name="connsiteY19" fmla="*/ 81920 h 177796"/>
                  <a:gd name="connsiteX20" fmla="*/ 1166 w 88898"/>
                  <a:gd name="connsiteY20" fmla="*/ 57869 h 177796"/>
                  <a:gd name="connsiteX21" fmla="*/ 11790 w 88898"/>
                  <a:gd name="connsiteY21" fmla="*/ 32711 h 177796"/>
                  <a:gd name="connsiteX22" fmla="*/ 39164 w 88898"/>
                  <a:gd name="connsiteY22" fmla="*/ 20784 h 177796"/>
                  <a:gd name="connsiteX23" fmla="*/ 39164 w 88898"/>
                  <a:gd name="connsiteY23" fmla="*/ 1166 h 177796"/>
                  <a:gd name="connsiteX24" fmla="*/ 52852 w 88898"/>
                  <a:gd name="connsiteY24" fmla="*/ 1166 h 177796"/>
                  <a:gd name="connsiteX25" fmla="*/ 52852 w 88898"/>
                  <a:gd name="connsiteY25" fmla="*/ 20393 h 177796"/>
                  <a:gd name="connsiteX26" fmla="*/ 82377 w 88898"/>
                  <a:gd name="connsiteY26" fmla="*/ 26780 h 177796"/>
                  <a:gd name="connsiteX27" fmla="*/ 82377 w 88898"/>
                  <a:gd name="connsiteY27" fmla="*/ 52069 h 177796"/>
                  <a:gd name="connsiteX28" fmla="*/ 52852 w 88898"/>
                  <a:gd name="connsiteY28" fmla="*/ 42292 h 177796"/>
                  <a:gd name="connsiteX29" fmla="*/ 52852 w 88898"/>
                  <a:gd name="connsiteY29" fmla="*/ 77814 h 177796"/>
                  <a:gd name="connsiteX30" fmla="*/ 82377 w 88898"/>
                  <a:gd name="connsiteY30" fmla="*/ 94694 h 177796"/>
                  <a:gd name="connsiteX31" fmla="*/ 91110 w 88898"/>
                  <a:gd name="connsiteY31" fmla="*/ 117832 h 17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898" h="177796">
                    <a:moveTo>
                      <a:pt x="66148" y="119136"/>
                    </a:moveTo>
                    <a:cubicBezTo>
                      <a:pt x="66148" y="113075"/>
                      <a:pt x="61650" y="108056"/>
                      <a:pt x="52721" y="104145"/>
                    </a:cubicBezTo>
                    <a:lnTo>
                      <a:pt x="52721" y="132562"/>
                    </a:lnTo>
                    <a:cubicBezTo>
                      <a:pt x="61716" y="131129"/>
                      <a:pt x="66148" y="126631"/>
                      <a:pt x="66148" y="119136"/>
                    </a:cubicBezTo>
                    <a:close/>
                    <a:moveTo>
                      <a:pt x="39034" y="72404"/>
                    </a:moveTo>
                    <a:lnTo>
                      <a:pt x="39034" y="42683"/>
                    </a:lnTo>
                    <a:cubicBezTo>
                      <a:pt x="30365" y="44247"/>
                      <a:pt x="25998" y="48745"/>
                      <a:pt x="25998" y="56305"/>
                    </a:cubicBezTo>
                    <a:cubicBezTo>
                      <a:pt x="25998" y="62888"/>
                      <a:pt x="30365" y="68233"/>
                      <a:pt x="39034" y="72404"/>
                    </a:cubicBezTo>
                    <a:close/>
                    <a:moveTo>
                      <a:pt x="91110" y="117832"/>
                    </a:moveTo>
                    <a:cubicBezTo>
                      <a:pt x="91110" y="128195"/>
                      <a:pt x="87852" y="136538"/>
                      <a:pt x="81334" y="142861"/>
                    </a:cubicBezTo>
                    <a:cubicBezTo>
                      <a:pt x="74816" y="149182"/>
                      <a:pt x="65300" y="153028"/>
                      <a:pt x="52786" y="154462"/>
                    </a:cubicBezTo>
                    <a:lnTo>
                      <a:pt x="52786" y="176752"/>
                    </a:lnTo>
                    <a:lnTo>
                      <a:pt x="39099" y="176752"/>
                    </a:lnTo>
                    <a:lnTo>
                      <a:pt x="39099" y="155048"/>
                    </a:lnTo>
                    <a:cubicBezTo>
                      <a:pt x="26194" y="154918"/>
                      <a:pt x="14397" y="152050"/>
                      <a:pt x="3642" y="146445"/>
                    </a:cubicBezTo>
                    <a:lnTo>
                      <a:pt x="3642" y="120439"/>
                    </a:lnTo>
                    <a:cubicBezTo>
                      <a:pt x="7032" y="123177"/>
                      <a:pt x="12441" y="125849"/>
                      <a:pt x="19806" y="128456"/>
                    </a:cubicBezTo>
                    <a:cubicBezTo>
                      <a:pt x="27237" y="131063"/>
                      <a:pt x="33624" y="132562"/>
                      <a:pt x="39099" y="132889"/>
                    </a:cubicBezTo>
                    <a:lnTo>
                      <a:pt x="39099" y="98735"/>
                    </a:lnTo>
                    <a:cubicBezTo>
                      <a:pt x="25281" y="93587"/>
                      <a:pt x="15505" y="87981"/>
                      <a:pt x="9769" y="81920"/>
                    </a:cubicBezTo>
                    <a:cubicBezTo>
                      <a:pt x="4033" y="75793"/>
                      <a:pt x="1166" y="67776"/>
                      <a:pt x="1166" y="57869"/>
                    </a:cubicBezTo>
                    <a:cubicBezTo>
                      <a:pt x="1166" y="47963"/>
                      <a:pt x="4685" y="39555"/>
                      <a:pt x="11790" y="32711"/>
                    </a:cubicBezTo>
                    <a:cubicBezTo>
                      <a:pt x="18829" y="25868"/>
                      <a:pt x="27954" y="21892"/>
                      <a:pt x="39164" y="20784"/>
                    </a:cubicBezTo>
                    <a:lnTo>
                      <a:pt x="39164" y="1166"/>
                    </a:lnTo>
                    <a:lnTo>
                      <a:pt x="52852" y="1166"/>
                    </a:lnTo>
                    <a:lnTo>
                      <a:pt x="52852" y="20393"/>
                    </a:lnTo>
                    <a:cubicBezTo>
                      <a:pt x="66017" y="21045"/>
                      <a:pt x="75859" y="23130"/>
                      <a:pt x="82377" y="26780"/>
                    </a:cubicBezTo>
                    <a:lnTo>
                      <a:pt x="82377" y="52069"/>
                    </a:lnTo>
                    <a:cubicBezTo>
                      <a:pt x="73708" y="46790"/>
                      <a:pt x="63866" y="43596"/>
                      <a:pt x="52852" y="42292"/>
                    </a:cubicBezTo>
                    <a:lnTo>
                      <a:pt x="52852" y="77814"/>
                    </a:lnTo>
                    <a:cubicBezTo>
                      <a:pt x="66669" y="82832"/>
                      <a:pt x="76511" y="88438"/>
                      <a:pt x="82377" y="94694"/>
                    </a:cubicBezTo>
                    <a:cubicBezTo>
                      <a:pt x="88178" y="101017"/>
                      <a:pt x="91110" y="108707"/>
                      <a:pt x="91110" y="117832"/>
                    </a:cubicBezTo>
                    <a:close/>
                  </a:path>
                </a:pathLst>
              </a:custGeom>
              <a:solidFill>
                <a:srgbClr val="243A5E"/>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1193" name="list">
            <a:extLst>
              <a:ext uri="{FF2B5EF4-FFF2-40B4-BE49-F238E27FC236}">
                <a16:creationId xmlns:a16="http://schemas.microsoft.com/office/drawing/2014/main" id="{576766CF-43B0-482D-AE4D-DA9E7A5FD66F}"/>
              </a:ext>
              <a:ext uri="{C183D7F6-B498-43B3-948B-1728B52AA6E4}">
                <adec:decorative xmlns:adec="http://schemas.microsoft.com/office/drawing/2017/decorative" val="1"/>
              </a:ext>
            </a:extLst>
          </p:cNvPr>
          <p:cNvGrpSpPr/>
          <p:nvPr/>
        </p:nvGrpSpPr>
        <p:grpSpPr>
          <a:xfrm>
            <a:off x="1924279" y="1267761"/>
            <a:ext cx="349066" cy="349066"/>
            <a:chOff x="4473209" y="3968750"/>
            <a:chExt cx="370140" cy="370140"/>
          </a:xfrm>
          <a:effectLst/>
        </p:grpSpPr>
        <p:sp>
          <p:nvSpPr>
            <p:cNvPr id="1194" name="Freeform: Shape 1193">
              <a:extLst>
                <a:ext uri="{FF2B5EF4-FFF2-40B4-BE49-F238E27FC236}">
                  <a16:creationId xmlns:a16="http://schemas.microsoft.com/office/drawing/2014/main" id="{16EBE56C-57B3-46A1-A73F-9F3626F0CFFE}"/>
                </a:ext>
              </a:extLst>
            </p:cNvPr>
            <p:cNvSpPr/>
            <p:nvPr/>
          </p:nvSpPr>
          <p:spPr>
            <a:xfrm>
              <a:off x="4510839" y="3969537"/>
              <a:ext cx="290007" cy="366324"/>
            </a:xfrm>
            <a:custGeom>
              <a:avLst/>
              <a:gdLst>
                <a:gd name="connsiteX0" fmla="*/ 1121 w 290006"/>
                <a:gd name="connsiteY0" fmla="*/ 367064 h 366324"/>
                <a:gd name="connsiteX1" fmla="*/ 290746 w 290006"/>
                <a:gd name="connsiteY1" fmla="*/ 367064 h 366324"/>
                <a:gd name="connsiteX2" fmla="*/ 290746 w 290006"/>
                <a:gd name="connsiteY2" fmla="*/ 1121 h 366324"/>
                <a:gd name="connsiteX3" fmla="*/ 1121 w 290006"/>
                <a:gd name="connsiteY3" fmla="*/ 1121 h 366324"/>
                <a:gd name="connsiteX4" fmla="*/ 1121 w 290006"/>
                <a:gd name="connsiteY4" fmla="*/ 367064 h 366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06" h="366324">
                  <a:moveTo>
                    <a:pt x="1121" y="367064"/>
                  </a:moveTo>
                  <a:lnTo>
                    <a:pt x="290746" y="367064"/>
                  </a:lnTo>
                  <a:lnTo>
                    <a:pt x="290746" y="1121"/>
                  </a:lnTo>
                  <a:lnTo>
                    <a:pt x="1121" y="1121"/>
                  </a:lnTo>
                  <a:lnTo>
                    <a:pt x="1121" y="367064"/>
                  </a:lnTo>
                  <a:close/>
                </a:path>
              </a:pathLst>
            </a:custGeom>
            <a:solidFill>
              <a:srgbClr val="243A5E"/>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195" name="Freeform: Shape 1194">
              <a:extLst>
                <a:ext uri="{FF2B5EF4-FFF2-40B4-BE49-F238E27FC236}">
                  <a16:creationId xmlns:a16="http://schemas.microsoft.com/office/drawing/2014/main" id="{70638A4A-3CB7-4267-A3BC-03234AA87218}"/>
                </a:ext>
              </a:extLst>
            </p:cNvPr>
            <p:cNvSpPr/>
            <p:nvPr/>
          </p:nvSpPr>
          <p:spPr>
            <a:xfrm>
              <a:off x="4569221" y="4240076"/>
              <a:ext cx="175530" cy="38159"/>
            </a:xfrm>
            <a:custGeom>
              <a:avLst/>
              <a:gdLst>
                <a:gd name="connsiteX0" fmla="*/ 1121 w 175530"/>
                <a:gd name="connsiteY0" fmla="*/ 39280 h 38158"/>
                <a:gd name="connsiteX1" fmla="*/ 174744 w 175530"/>
                <a:gd name="connsiteY1" fmla="*/ 39280 h 38158"/>
                <a:gd name="connsiteX2" fmla="*/ 174744 w 175530"/>
                <a:gd name="connsiteY2" fmla="*/ 1121 h 38158"/>
                <a:gd name="connsiteX3" fmla="*/ 1121 w 175530"/>
                <a:gd name="connsiteY3" fmla="*/ 1121 h 38158"/>
                <a:gd name="connsiteX4" fmla="*/ 1121 w 175530"/>
                <a:gd name="connsiteY4" fmla="*/ 39280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280"/>
                  </a:moveTo>
                  <a:lnTo>
                    <a:pt x="174744" y="39280"/>
                  </a:lnTo>
                  <a:lnTo>
                    <a:pt x="174744" y="1121"/>
                  </a:lnTo>
                  <a:lnTo>
                    <a:pt x="1121" y="1121"/>
                  </a:lnTo>
                  <a:lnTo>
                    <a:pt x="1121" y="39280"/>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196" name="Freeform: Shape 1195">
              <a:extLst>
                <a:ext uri="{FF2B5EF4-FFF2-40B4-BE49-F238E27FC236}">
                  <a16:creationId xmlns:a16="http://schemas.microsoft.com/office/drawing/2014/main" id="{E890E158-6C34-4B38-9F3B-8C27BCF61E96}"/>
                </a:ext>
              </a:extLst>
            </p:cNvPr>
            <p:cNvSpPr/>
            <p:nvPr/>
          </p:nvSpPr>
          <p:spPr>
            <a:xfrm>
              <a:off x="4569221" y="4182078"/>
              <a:ext cx="175530" cy="38159"/>
            </a:xfrm>
            <a:custGeom>
              <a:avLst/>
              <a:gdLst>
                <a:gd name="connsiteX0" fmla="*/ 1121 w 175530"/>
                <a:gd name="connsiteY0" fmla="*/ 39662 h 38158"/>
                <a:gd name="connsiteX1" fmla="*/ 174744 w 175530"/>
                <a:gd name="connsiteY1" fmla="*/ 39662 h 38158"/>
                <a:gd name="connsiteX2" fmla="*/ 174744 w 175530"/>
                <a:gd name="connsiteY2" fmla="*/ 1121 h 38158"/>
                <a:gd name="connsiteX3" fmla="*/ 1121 w 175530"/>
                <a:gd name="connsiteY3" fmla="*/ 1121 h 38158"/>
                <a:gd name="connsiteX4" fmla="*/ 1121 w 175530"/>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662"/>
                  </a:moveTo>
                  <a:lnTo>
                    <a:pt x="174744" y="39662"/>
                  </a:lnTo>
                  <a:lnTo>
                    <a:pt x="174744"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197" name="Freeform: Shape 1196">
              <a:extLst>
                <a:ext uri="{FF2B5EF4-FFF2-40B4-BE49-F238E27FC236}">
                  <a16:creationId xmlns:a16="http://schemas.microsoft.com/office/drawing/2014/main" id="{9EFA9109-DEC8-46E3-A219-1DD17CF46A15}"/>
                </a:ext>
              </a:extLst>
            </p:cNvPr>
            <p:cNvSpPr/>
            <p:nvPr/>
          </p:nvSpPr>
          <p:spPr>
            <a:xfrm>
              <a:off x="4569221" y="4123692"/>
              <a:ext cx="175530" cy="38159"/>
            </a:xfrm>
            <a:custGeom>
              <a:avLst/>
              <a:gdLst>
                <a:gd name="connsiteX0" fmla="*/ 1121 w 175530"/>
                <a:gd name="connsiteY0" fmla="*/ 39662 h 38158"/>
                <a:gd name="connsiteX1" fmla="*/ 174744 w 175530"/>
                <a:gd name="connsiteY1" fmla="*/ 39662 h 38158"/>
                <a:gd name="connsiteX2" fmla="*/ 174744 w 175530"/>
                <a:gd name="connsiteY2" fmla="*/ 1121 h 38158"/>
                <a:gd name="connsiteX3" fmla="*/ 1121 w 175530"/>
                <a:gd name="connsiteY3" fmla="*/ 1121 h 38158"/>
                <a:gd name="connsiteX4" fmla="*/ 1121 w 175530"/>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662"/>
                  </a:moveTo>
                  <a:lnTo>
                    <a:pt x="174744" y="39662"/>
                  </a:lnTo>
                  <a:lnTo>
                    <a:pt x="174744"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198" name="Freeform: Shape 1197">
              <a:extLst>
                <a:ext uri="{FF2B5EF4-FFF2-40B4-BE49-F238E27FC236}">
                  <a16:creationId xmlns:a16="http://schemas.microsoft.com/office/drawing/2014/main" id="{29CD4344-EAA8-4C09-A815-F02820846EF5}"/>
                </a:ext>
              </a:extLst>
            </p:cNvPr>
            <p:cNvSpPr/>
            <p:nvPr/>
          </p:nvSpPr>
          <p:spPr>
            <a:xfrm>
              <a:off x="4684082" y="4065321"/>
              <a:ext cx="57238" cy="38159"/>
            </a:xfrm>
            <a:custGeom>
              <a:avLst/>
              <a:gdLst>
                <a:gd name="connsiteX0" fmla="*/ 1121 w 57238"/>
                <a:gd name="connsiteY0" fmla="*/ 39662 h 38158"/>
                <a:gd name="connsiteX1" fmla="*/ 59886 w 57238"/>
                <a:gd name="connsiteY1" fmla="*/ 39662 h 38158"/>
                <a:gd name="connsiteX2" fmla="*/ 59886 w 57238"/>
                <a:gd name="connsiteY2" fmla="*/ 1121 h 38158"/>
                <a:gd name="connsiteX3" fmla="*/ 1121 w 57238"/>
                <a:gd name="connsiteY3" fmla="*/ 1121 h 38158"/>
                <a:gd name="connsiteX4" fmla="*/ 1121 w 57238"/>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38" h="38158">
                  <a:moveTo>
                    <a:pt x="1121" y="39662"/>
                  </a:moveTo>
                  <a:lnTo>
                    <a:pt x="59886" y="39662"/>
                  </a:lnTo>
                  <a:lnTo>
                    <a:pt x="59886"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199" name="Freeform: Shape 1198">
              <a:extLst>
                <a:ext uri="{FF2B5EF4-FFF2-40B4-BE49-F238E27FC236}">
                  <a16:creationId xmlns:a16="http://schemas.microsoft.com/office/drawing/2014/main" id="{4A61FDF4-4A1E-49C0-98B2-9336B0B8F66F}"/>
                </a:ext>
              </a:extLst>
            </p:cNvPr>
            <p:cNvSpPr/>
            <p:nvPr/>
          </p:nvSpPr>
          <p:spPr>
            <a:xfrm>
              <a:off x="4684082" y="4008083"/>
              <a:ext cx="57238" cy="38159"/>
            </a:xfrm>
            <a:custGeom>
              <a:avLst/>
              <a:gdLst>
                <a:gd name="connsiteX0" fmla="*/ 1121 w 57238"/>
                <a:gd name="connsiteY0" fmla="*/ 39280 h 38158"/>
                <a:gd name="connsiteX1" fmla="*/ 59886 w 57238"/>
                <a:gd name="connsiteY1" fmla="*/ 39280 h 38158"/>
                <a:gd name="connsiteX2" fmla="*/ 59886 w 57238"/>
                <a:gd name="connsiteY2" fmla="*/ 1121 h 38158"/>
                <a:gd name="connsiteX3" fmla="*/ 1121 w 57238"/>
                <a:gd name="connsiteY3" fmla="*/ 1121 h 38158"/>
                <a:gd name="connsiteX4" fmla="*/ 1121 w 57238"/>
                <a:gd name="connsiteY4" fmla="*/ 39280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38" h="38158">
                  <a:moveTo>
                    <a:pt x="1121" y="39280"/>
                  </a:moveTo>
                  <a:lnTo>
                    <a:pt x="59886" y="39280"/>
                  </a:lnTo>
                  <a:lnTo>
                    <a:pt x="59886" y="1121"/>
                  </a:lnTo>
                  <a:lnTo>
                    <a:pt x="1121" y="1121"/>
                  </a:lnTo>
                  <a:lnTo>
                    <a:pt x="1121" y="39280"/>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00" name="Freeform: Shape 1199">
              <a:extLst>
                <a:ext uri="{FF2B5EF4-FFF2-40B4-BE49-F238E27FC236}">
                  <a16:creationId xmlns:a16="http://schemas.microsoft.com/office/drawing/2014/main" id="{039C5777-CC32-47E1-BF3F-8A330A3020D5}"/>
                </a:ext>
              </a:extLst>
            </p:cNvPr>
            <p:cNvSpPr/>
            <p:nvPr/>
          </p:nvSpPr>
          <p:spPr>
            <a:xfrm>
              <a:off x="4589829" y="4022571"/>
              <a:ext cx="76318" cy="76318"/>
            </a:xfrm>
            <a:custGeom>
              <a:avLst/>
              <a:gdLst>
                <a:gd name="connsiteX0" fmla="*/ 1121 w 76317"/>
                <a:gd name="connsiteY0" fmla="*/ 66373 h 76317"/>
                <a:gd name="connsiteX1" fmla="*/ 12950 w 76317"/>
                <a:gd name="connsiteY1" fmla="*/ 78202 h 76317"/>
                <a:gd name="connsiteX2" fmla="*/ 78202 w 76317"/>
                <a:gd name="connsiteY2" fmla="*/ 12950 h 76317"/>
                <a:gd name="connsiteX3" fmla="*/ 66373 w 76317"/>
                <a:gd name="connsiteY3" fmla="*/ 1121 h 76317"/>
                <a:gd name="connsiteX4" fmla="*/ 1121 w 76317"/>
                <a:gd name="connsiteY4" fmla="*/ 66373 h 76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17" h="76317">
                  <a:moveTo>
                    <a:pt x="1121" y="66373"/>
                  </a:moveTo>
                  <a:lnTo>
                    <a:pt x="12950" y="78202"/>
                  </a:lnTo>
                  <a:lnTo>
                    <a:pt x="78202" y="12950"/>
                  </a:lnTo>
                  <a:lnTo>
                    <a:pt x="66373" y="1121"/>
                  </a:lnTo>
                  <a:lnTo>
                    <a:pt x="1121" y="66373"/>
                  </a:lnTo>
                  <a:close/>
                </a:path>
              </a:pathLst>
            </a:custGeom>
            <a:solidFill>
              <a:srgbClr val="FFFF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01" name="Freeform: Shape 1200">
              <a:extLst>
                <a:ext uri="{FF2B5EF4-FFF2-40B4-BE49-F238E27FC236}">
                  <a16:creationId xmlns:a16="http://schemas.microsoft.com/office/drawing/2014/main" id="{BB009B65-8BE7-4820-BDD2-E620359E67D8}"/>
                </a:ext>
              </a:extLst>
            </p:cNvPr>
            <p:cNvSpPr/>
            <p:nvPr/>
          </p:nvSpPr>
          <p:spPr>
            <a:xfrm>
              <a:off x="4563878" y="4050430"/>
              <a:ext cx="49606" cy="49606"/>
            </a:xfrm>
            <a:custGeom>
              <a:avLst/>
              <a:gdLst>
                <a:gd name="connsiteX0" fmla="*/ 38517 w 49606"/>
                <a:gd name="connsiteY0" fmla="*/ 49964 h 49606"/>
                <a:gd name="connsiteX1" fmla="*/ 50346 w 49606"/>
                <a:gd name="connsiteY1" fmla="*/ 38135 h 49606"/>
                <a:gd name="connsiteX2" fmla="*/ 12950 w 49606"/>
                <a:gd name="connsiteY2" fmla="*/ 1121 h 49606"/>
                <a:gd name="connsiteX3" fmla="*/ 1121 w 49606"/>
                <a:gd name="connsiteY3" fmla="*/ 12950 h 49606"/>
                <a:gd name="connsiteX4" fmla="*/ 38517 w 49606"/>
                <a:gd name="connsiteY4" fmla="*/ 49964 h 49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06" h="49606">
                  <a:moveTo>
                    <a:pt x="38517" y="49964"/>
                  </a:moveTo>
                  <a:lnTo>
                    <a:pt x="50346" y="38135"/>
                  </a:lnTo>
                  <a:lnTo>
                    <a:pt x="12950" y="1121"/>
                  </a:lnTo>
                  <a:lnTo>
                    <a:pt x="1121" y="12950"/>
                  </a:lnTo>
                  <a:lnTo>
                    <a:pt x="38517" y="49964"/>
                  </a:lnTo>
                  <a:close/>
                </a:path>
              </a:pathLst>
            </a:custGeom>
            <a:solidFill>
              <a:srgbClr val="FFFF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203" name="Group 1202">
            <a:extLst>
              <a:ext uri="{FF2B5EF4-FFF2-40B4-BE49-F238E27FC236}">
                <a16:creationId xmlns:a16="http://schemas.microsoft.com/office/drawing/2014/main" id="{1EE985EF-A183-4242-8187-DB7A1C68E0B2}"/>
              </a:ext>
              <a:ext uri="{C183D7F6-B498-43B3-948B-1728B52AA6E4}">
                <adec:decorative xmlns:adec="http://schemas.microsoft.com/office/drawing/2017/decorative" val="1"/>
              </a:ext>
            </a:extLst>
          </p:cNvPr>
          <p:cNvGrpSpPr/>
          <p:nvPr/>
        </p:nvGrpSpPr>
        <p:grpSpPr>
          <a:xfrm>
            <a:off x="632275" y="1263056"/>
            <a:ext cx="225102" cy="358477"/>
            <a:chOff x="2056615" y="3578958"/>
            <a:chExt cx="570946" cy="909235"/>
          </a:xfrm>
          <a:effectLst/>
        </p:grpSpPr>
        <p:sp>
          <p:nvSpPr>
            <p:cNvPr id="1204" name="Freeform: Shape 1203">
              <a:extLst>
                <a:ext uri="{FF2B5EF4-FFF2-40B4-BE49-F238E27FC236}">
                  <a16:creationId xmlns:a16="http://schemas.microsoft.com/office/drawing/2014/main" id="{C8F60EE4-F957-41C2-BE1C-1D86110AC173}"/>
                </a:ext>
              </a:extLst>
            </p:cNvPr>
            <p:cNvSpPr/>
            <p:nvPr/>
          </p:nvSpPr>
          <p:spPr>
            <a:xfrm>
              <a:off x="2056615" y="3578958"/>
              <a:ext cx="570946" cy="909235"/>
            </a:xfrm>
            <a:custGeom>
              <a:avLst/>
              <a:gdLst>
                <a:gd name="connsiteX0" fmla="*/ 436174 w 436173"/>
                <a:gd name="connsiteY0" fmla="*/ 216824 h 694608"/>
                <a:gd name="connsiteX1" fmla="*/ 219350 w 436173"/>
                <a:gd name="connsiteY1" fmla="*/ 0 h 694608"/>
                <a:gd name="connsiteX2" fmla="*/ 5583 w 436173"/>
                <a:gd name="connsiteY2" fmla="*/ 181196 h 694608"/>
                <a:gd name="connsiteX3" fmla="*/ 94254 w 436173"/>
                <a:gd name="connsiteY3" fmla="*/ 181196 h 694608"/>
                <a:gd name="connsiteX4" fmla="*/ 127489 w 436173"/>
                <a:gd name="connsiteY4" fmla="*/ 124963 h 694608"/>
                <a:gd name="connsiteX5" fmla="*/ 219217 w 436173"/>
                <a:gd name="connsiteY5" fmla="*/ 86809 h 694608"/>
                <a:gd name="connsiteX6" fmla="*/ 310945 w 436173"/>
                <a:gd name="connsiteY6" fmla="*/ 124963 h 694608"/>
                <a:gd name="connsiteX7" fmla="*/ 349099 w 436173"/>
                <a:gd name="connsiteY7" fmla="*/ 216691 h 694608"/>
                <a:gd name="connsiteX8" fmla="*/ 348966 w 436173"/>
                <a:gd name="connsiteY8" fmla="*/ 255111 h 694608"/>
                <a:gd name="connsiteX9" fmla="*/ 0 w 436173"/>
                <a:gd name="connsiteY9" fmla="*/ 255111 h 694608"/>
                <a:gd name="connsiteX10" fmla="*/ 0 w 436173"/>
                <a:gd name="connsiteY10" fmla="*/ 694609 h 694608"/>
                <a:gd name="connsiteX11" fmla="*/ 436174 w 436173"/>
                <a:gd name="connsiteY11" fmla="*/ 694609 h 694608"/>
                <a:gd name="connsiteX12" fmla="*/ 436174 w 436173"/>
                <a:gd name="connsiteY12" fmla="*/ 297386 h 694608"/>
                <a:gd name="connsiteX13" fmla="*/ 436174 w 436173"/>
                <a:gd name="connsiteY13" fmla="*/ 216824 h 69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6173" h="694608">
                  <a:moveTo>
                    <a:pt x="436174" y="216824"/>
                  </a:moveTo>
                  <a:cubicBezTo>
                    <a:pt x="436174" y="97578"/>
                    <a:pt x="338596" y="0"/>
                    <a:pt x="219350" y="0"/>
                  </a:cubicBezTo>
                  <a:cubicBezTo>
                    <a:pt x="112201" y="0"/>
                    <a:pt x="22733" y="78833"/>
                    <a:pt x="5583" y="181196"/>
                  </a:cubicBezTo>
                  <a:lnTo>
                    <a:pt x="94254" y="181196"/>
                  </a:lnTo>
                  <a:cubicBezTo>
                    <a:pt x="100236" y="160325"/>
                    <a:pt x="111536" y="141048"/>
                    <a:pt x="127489" y="124963"/>
                  </a:cubicBezTo>
                  <a:cubicBezTo>
                    <a:pt x="152083" y="100369"/>
                    <a:pt x="184786" y="86809"/>
                    <a:pt x="219217" y="86809"/>
                  </a:cubicBezTo>
                  <a:cubicBezTo>
                    <a:pt x="253649" y="86809"/>
                    <a:pt x="286352" y="100369"/>
                    <a:pt x="310945" y="124963"/>
                  </a:cubicBezTo>
                  <a:cubicBezTo>
                    <a:pt x="335539" y="149557"/>
                    <a:pt x="349099" y="182260"/>
                    <a:pt x="349099" y="216691"/>
                  </a:cubicBezTo>
                  <a:cubicBezTo>
                    <a:pt x="349099" y="223604"/>
                    <a:pt x="349099" y="229321"/>
                    <a:pt x="348966" y="255111"/>
                  </a:cubicBezTo>
                  <a:lnTo>
                    <a:pt x="0" y="255111"/>
                  </a:lnTo>
                  <a:lnTo>
                    <a:pt x="0" y="694609"/>
                  </a:lnTo>
                  <a:lnTo>
                    <a:pt x="436174" y="694609"/>
                  </a:lnTo>
                  <a:lnTo>
                    <a:pt x="436174" y="297386"/>
                  </a:lnTo>
                  <a:cubicBezTo>
                    <a:pt x="436174" y="258035"/>
                    <a:pt x="436174" y="226263"/>
                    <a:pt x="436174" y="216824"/>
                  </a:cubicBezTo>
                  <a:close/>
                </a:path>
              </a:pathLst>
            </a:custGeom>
            <a:solidFill>
              <a:srgbClr val="243A5E"/>
            </a:solidFill>
            <a:ln w="785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05" name="Freeform: Shape 1204">
              <a:extLst>
                <a:ext uri="{FF2B5EF4-FFF2-40B4-BE49-F238E27FC236}">
                  <a16:creationId xmlns:a16="http://schemas.microsoft.com/office/drawing/2014/main" id="{F9019480-B1E5-4CDD-9914-D41A111CE60E}"/>
                </a:ext>
              </a:extLst>
            </p:cNvPr>
            <p:cNvSpPr/>
            <p:nvPr/>
          </p:nvSpPr>
          <p:spPr>
            <a:xfrm>
              <a:off x="2246407" y="4000120"/>
              <a:ext cx="191361" cy="382720"/>
            </a:xfrm>
            <a:custGeom>
              <a:avLst/>
              <a:gdLst>
                <a:gd name="connsiteX0" fmla="*/ 66148 w 88898"/>
                <a:gd name="connsiteY0" fmla="*/ 119136 h 177796"/>
                <a:gd name="connsiteX1" fmla="*/ 52721 w 88898"/>
                <a:gd name="connsiteY1" fmla="*/ 104145 h 177796"/>
                <a:gd name="connsiteX2" fmla="*/ 52721 w 88898"/>
                <a:gd name="connsiteY2" fmla="*/ 132562 h 177796"/>
                <a:gd name="connsiteX3" fmla="*/ 66148 w 88898"/>
                <a:gd name="connsiteY3" fmla="*/ 119136 h 177796"/>
                <a:gd name="connsiteX4" fmla="*/ 39034 w 88898"/>
                <a:gd name="connsiteY4" fmla="*/ 72404 h 177796"/>
                <a:gd name="connsiteX5" fmla="*/ 39034 w 88898"/>
                <a:gd name="connsiteY5" fmla="*/ 42683 h 177796"/>
                <a:gd name="connsiteX6" fmla="*/ 25998 w 88898"/>
                <a:gd name="connsiteY6" fmla="*/ 56305 h 177796"/>
                <a:gd name="connsiteX7" fmla="*/ 39034 w 88898"/>
                <a:gd name="connsiteY7" fmla="*/ 72404 h 177796"/>
                <a:gd name="connsiteX8" fmla="*/ 91110 w 88898"/>
                <a:gd name="connsiteY8" fmla="*/ 117832 h 177796"/>
                <a:gd name="connsiteX9" fmla="*/ 81334 w 88898"/>
                <a:gd name="connsiteY9" fmla="*/ 142861 h 177796"/>
                <a:gd name="connsiteX10" fmla="*/ 52786 w 88898"/>
                <a:gd name="connsiteY10" fmla="*/ 154462 h 177796"/>
                <a:gd name="connsiteX11" fmla="*/ 52786 w 88898"/>
                <a:gd name="connsiteY11" fmla="*/ 176752 h 177796"/>
                <a:gd name="connsiteX12" fmla="*/ 39099 w 88898"/>
                <a:gd name="connsiteY12" fmla="*/ 176752 h 177796"/>
                <a:gd name="connsiteX13" fmla="*/ 39099 w 88898"/>
                <a:gd name="connsiteY13" fmla="*/ 155048 h 177796"/>
                <a:gd name="connsiteX14" fmla="*/ 3642 w 88898"/>
                <a:gd name="connsiteY14" fmla="*/ 146445 h 177796"/>
                <a:gd name="connsiteX15" fmla="*/ 3642 w 88898"/>
                <a:gd name="connsiteY15" fmla="*/ 120439 h 177796"/>
                <a:gd name="connsiteX16" fmla="*/ 19806 w 88898"/>
                <a:gd name="connsiteY16" fmla="*/ 128456 h 177796"/>
                <a:gd name="connsiteX17" fmla="*/ 39099 w 88898"/>
                <a:gd name="connsiteY17" fmla="*/ 132889 h 177796"/>
                <a:gd name="connsiteX18" fmla="*/ 39099 w 88898"/>
                <a:gd name="connsiteY18" fmla="*/ 98735 h 177796"/>
                <a:gd name="connsiteX19" fmla="*/ 9769 w 88898"/>
                <a:gd name="connsiteY19" fmla="*/ 81920 h 177796"/>
                <a:gd name="connsiteX20" fmla="*/ 1166 w 88898"/>
                <a:gd name="connsiteY20" fmla="*/ 57869 h 177796"/>
                <a:gd name="connsiteX21" fmla="*/ 11790 w 88898"/>
                <a:gd name="connsiteY21" fmla="*/ 32711 h 177796"/>
                <a:gd name="connsiteX22" fmla="*/ 39164 w 88898"/>
                <a:gd name="connsiteY22" fmla="*/ 20784 h 177796"/>
                <a:gd name="connsiteX23" fmla="*/ 39164 w 88898"/>
                <a:gd name="connsiteY23" fmla="*/ 1166 h 177796"/>
                <a:gd name="connsiteX24" fmla="*/ 52852 w 88898"/>
                <a:gd name="connsiteY24" fmla="*/ 1166 h 177796"/>
                <a:gd name="connsiteX25" fmla="*/ 52852 w 88898"/>
                <a:gd name="connsiteY25" fmla="*/ 20393 h 177796"/>
                <a:gd name="connsiteX26" fmla="*/ 82377 w 88898"/>
                <a:gd name="connsiteY26" fmla="*/ 26780 h 177796"/>
                <a:gd name="connsiteX27" fmla="*/ 82377 w 88898"/>
                <a:gd name="connsiteY27" fmla="*/ 52069 h 177796"/>
                <a:gd name="connsiteX28" fmla="*/ 52852 w 88898"/>
                <a:gd name="connsiteY28" fmla="*/ 42292 h 177796"/>
                <a:gd name="connsiteX29" fmla="*/ 52852 w 88898"/>
                <a:gd name="connsiteY29" fmla="*/ 77814 h 177796"/>
                <a:gd name="connsiteX30" fmla="*/ 82377 w 88898"/>
                <a:gd name="connsiteY30" fmla="*/ 94694 h 177796"/>
                <a:gd name="connsiteX31" fmla="*/ 91110 w 88898"/>
                <a:gd name="connsiteY31" fmla="*/ 117832 h 17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898" h="177796">
                  <a:moveTo>
                    <a:pt x="66148" y="119136"/>
                  </a:moveTo>
                  <a:cubicBezTo>
                    <a:pt x="66148" y="113075"/>
                    <a:pt x="61650" y="108056"/>
                    <a:pt x="52721" y="104145"/>
                  </a:cubicBezTo>
                  <a:lnTo>
                    <a:pt x="52721" y="132562"/>
                  </a:lnTo>
                  <a:cubicBezTo>
                    <a:pt x="61716" y="131129"/>
                    <a:pt x="66148" y="126631"/>
                    <a:pt x="66148" y="119136"/>
                  </a:cubicBezTo>
                  <a:close/>
                  <a:moveTo>
                    <a:pt x="39034" y="72404"/>
                  </a:moveTo>
                  <a:lnTo>
                    <a:pt x="39034" y="42683"/>
                  </a:lnTo>
                  <a:cubicBezTo>
                    <a:pt x="30365" y="44247"/>
                    <a:pt x="25998" y="48745"/>
                    <a:pt x="25998" y="56305"/>
                  </a:cubicBezTo>
                  <a:cubicBezTo>
                    <a:pt x="25998" y="62888"/>
                    <a:pt x="30365" y="68233"/>
                    <a:pt x="39034" y="72404"/>
                  </a:cubicBezTo>
                  <a:close/>
                  <a:moveTo>
                    <a:pt x="91110" y="117832"/>
                  </a:moveTo>
                  <a:cubicBezTo>
                    <a:pt x="91110" y="128195"/>
                    <a:pt x="87852" y="136538"/>
                    <a:pt x="81334" y="142861"/>
                  </a:cubicBezTo>
                  <a:cubicBezTo>
                    <a:pt x="74816" y="149182"/>
                    <a:pt x="65300" y="153028"/>
                    <a:pt x="52786" y="154462"/>
                  </a:cubicBezTo>
                  <a:lnTo>
                    <a:pt x="52786" y="176752"/>
                  </a:lnTo>
                  <a:lnTo>
                    <a:pt x="39099" y="176752"/>
                  </a:lnTo>
                  <a:lnTo>
                    <a:pt x="39099" y="155048"/>
                  </a:lnTo>
                  <a:cubicBezTo>
                    <a:pt x="26194" y="154918"/>
                    <a:pt x="14397" y="152050"/>
                    <a:pt x="3642" y="146445"/>
                  </a:cubicBezTo>
                  <a:lnTo>
                    <a:pt x="3642" y="120439"/>
                  </a:lnTo>
                  <a:cubicBezTo>
                    <a:pt x="7032" y="123177"/>
                    <a:pt x="12441" y="125849"/>
                    <a:pt x="19806" y="128456"/>
                  </a:cubicBezTo>
                  <a:cubicBezTo>
                    <a:pt x="27237" y="131063"/>
                    <a:pt x="33624" y="132562"/>
                    <a:pt x="39099" y="132889"/>
                  </a:cubicBezTo>
                  <a:lnTo>
                    <a:pt x="39099" y="98735"/>
                  </a:lnTo>
                  <a:cubicBezTo>
                    <a:pt x="25281" y="93587"/>
                    <a:pt x="15505" y="87981"/>
                    <a:pt x="9769" y="81920"/>
                  </a:cubicBezTo>
                  <a:cubicBezTo>
                    <a:pt x="4033" y="75793"/>
                    <a:pt x="1166" y="67776"/>
                    <a:pt x="1166" y="57869"/>
                  </a:cubicBezTo>
                  <a:cubicBezTo>
                    <a:pt x="1166" y="47963"/>
                    <a:pt x="4685" y="39555"/>
                    <a:pt x="11790" y="32711"/>
                  </a:cubicBezTo>
                  <a:cubicBezTo>
                    <a:pt x="18829" y="25868"/>
                    <a:pt x="27954" y="21892"/>
                    <a:pt x="39164" y="20784"/>
                  </a:cubicBezTo>
                  <a:lnTo>
                    <a:pt x="39164" y="1166"/>
                  </a:lnTo>
                  <a:lnTo>
                    <a:pt x="52852" y="1166"/>
                  </a:lnTo>
                  <a:lnTo>
                    <a:pt x="52852" y="20393"/>
                  </a:lnTo>
                  <a:cubicBezTo>
                    <a:pt x="66017" y="21045"/>
                    <a:pt x="75859" y="23130"/>
                    <a:pt x="82377" y="26780"/>
                  </a:cubicBezTo>
                  <a:lnTo>
                    <a:pt x="82377" y="52069"/>
                  </a:lnTo>
                  <a:cubicBezTo>
                    <a:pt x="73708" y="46790"/>
                    <a:pt x="63866" y="43596"/>
                    <a:pt x="52852" y="42292"/>
                  </a:cubicBezTo>
                  <a:lnTo>
                    <a:pt x="52852" y="77814"/>
                  </a:lnTo>
                  <a:cubicBezTo>
                    <a:pt x="66669" y="82832"/>
                    <a:pt x="76511" y="88438"/>
                    <a:pt x="82377" y="94694"/>
                  </a:cubicBezTo>
                  <a:cubicBezTo>
                    <a:pt x="88178" y="101017"/>
                    <a:pt x="91110" y="108707"/>
                    <a:pt x="91110" y="117832"/>
                  </a:cubicBezTo>
                  <a:close/>
                </a:path>
              </a:pathLst>
            </a:custGeom>
            <a:solidFill>
              <a:schemeClr val="accent5"/>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206" name="Rectangle 1205">
            <a:extLst>
              <a:ext uri="{FF2B5EF4-FFF2-40B4-BE49-F238E27FC236}">
                <a16:creationId xmlns:a16="http://schemas.microsoft.com/office/drawing/2014/main" id="{B60AAFB3-78A8-47BF-92C4-AB70DD9998D9}"/>
              </a:ext>
              <a:ext uri="{C183D7F6-B498-43B3-948B-1728B52AA6E4}">
                <adec:decorative xmlns:adec="http://schemas.microsoft.com/office/drawing/2017/decorative" val="1"/>
              </a:ext>
            </a:extLst>
          </p:cNvPr>
          <p:cNvSpPr/>
          <p:nvPr/>
        </p:nvSpPr>
        <p:spPr bwMode="auto">
          <a:xfrm>
            <a:off x="1901408" y="1153081"/>
            <a:ext cx="876515" cy="578427"/>
          </a:xfrm>
          <a:prstGeom prst="rect">
            <a:avLst/>
          </a:prstGeom>
          <a:solidFill>
            <a:schemeClr val="accent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207" name="Rectangle 1206">
            <a:extLst>
              <a:ext uri="{FF2B5EF4-FFF2-40B4-BE49-F238E27FC236}">
                <a16:creationId xmlns:a16="http://schemas.microsoft.com/office/drawing/2014/main" id="{364266A2-0261-42DD-A1F9-00403D019ABD}"/>
              </a:ext>
              <a:ext uri="{C183D7F6-B498-43B3-948B-1728B52AA6E4}">
                <adec:decorative xmlns:adec="http://schemas.microsoft.com/office/drawing/2017/decorative" val="1"/>
              </a:ext>
            </a:extLst>
          </p:cNvPr>
          <p:cNvSpPr/>
          <p:nvPr/>
        </p:nvSpPr>
        <p:spPr bwMode="auto">
          <a:xfrm>
            <a:off x="304452" y="1167465"/>
            <a:ext cx="681068" cy="578427"/>
          </a:xfrm>
          <a:prstGeom prst="rect">
            <a:avLst/>
          </a:prstGeom>
          <a:solidFill>
            <a:schemeClr val="accent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3" name="TextBox 2">
            <a:extLst>
              <a:ext uri="{FF2B5EF4-FFF2-40B4-BE49-F238E27FC236}">
                <a16:creationId xmlns:a16="http://schemas.microsoft.com/office/drawing/2014/main" id="{ACA88E75-A4C4-0E13-64C0-732E8BF19AAC}"/>
              </a:ext>
            </a:extLst>
          </p:cNvPr>
          <p:cNvSpPr txBox="1"/>
          <p:nvPr/>
        </p:nvSpPr>
        <p:spPr>
          <a:xfrm>
            <a:off x="6226489" y="6429739"/>
            <a:ext cx="6095234" cy="369332"/>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900" b="0" i="0" u="none" strike="noStrike" kern="1200" cap="none" spc="0" normalizeH="0" baseline="0" noProof="0" dirty="0">
                <a:ln>
                  <a:noFill/>
                </a:ln>
                <a:solidFill>
                  <a:srgbClr val="243A5E"/>
                </a:solidFill>
                <a:effectLst/>
                <a:uLnTx/>
                <a:uFillTx/>
                <a:latin typeface="Segoe UI" panose="020B0502040204020203" pitchFamily="34" charset="0"/>
                <a:ea typeface="SimSun" panose="02010600030101010101" pitchFamily="2" charset="-122"/>
                <a:cs typeface="Times New Roman" panose="02020603050405020304" pitchFamily="18" charset="0"/>
              </a:rPr>
              <a:t>*Does not include BareMetal Infrastructure, A, G, and GS series. </a:t>
            </a:r>
          </a:p>
          <a:p>
            <a:pPr marR="0" lvl="0" algn="l" defTabSz="914400" rtl="0" eaLnBrk="1" fontAlgn="auto" latinLnBrk="0" hangingPunct="1">
              <a:lnSpc>
                <a:spcPct val="100000"/>
              </a:lnSpc>
              <a:spcBef>
                <a:spcPts val="0"/>
              </a:spcBef>
              <a:spcAft>
                <a:spcPts val="0"/>
              </a:spcAft>
              <a:buClrTx/>
              <a:buSzTx/>
              <a:tabLst/>
              <a:defRPr/>
            </a:pPr>
            <a:r>
              <a:rPr kumimoji="0" lang="en-US" sz="900" b="0" i="0" u="none" strike="noStrike" kern="1200" cap="none" spc="0" normalizeH="0" baseline="0" noProof="0" dirty="0">
                <a:ln>
                  <a:noFill/>
                </a:ln>
                <a:solidFill>
                  <a:srgbClr val="243A5E"/>
                </a:solidFill>
                <a:effectLst/>
                <a:uLnTx/>
                <a:uFillTx/>
                <a:latin typeface="Segoe UI" panose="020B0502040204020203" pitchFamily="34" charset="0"/>
                <a:ea typeface="SimSun" panose="02010600030101010101" pitchFamily="2" charset="-122"/>
                <a:cs typeface="Times New Roman" panose="02020603050405020304" pitchFamily="18" charset="0"/>
              </a:rPr>
              <a:t>**App Service includes only upgraded premium and isolated services (Premium v3 and Isolated v2)</a:t>
            </a:r>
          </a:p>
        </p:txBody>
      </p:sp>
    </p:spTree>
    <p:extLst>
      <p:ext uri="{BB962C8B-B14F-4D97-AF65-F5344CB8AC3E}">
        <p14:creationId xmlns:p14="http://schemas.microsoft.com/office/powerpoint/2010/main" val="2462522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p14="http://schemas.microsoft.com/office/powerpoint/2010/main" xmlns:a14="http://schemas.microsoft.com/office/drawing/2010/main" xmlns:adec="http://schemas.microsoft.com/office/drawing/2017/decorative"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88"/>
                                        </p:tgtEl>
                                        <p:attrNameLst>
                                          <p:attrName>style.visibility</p:attrName>
                                        </p:attrNameLst>
                                      </p:cBhvr>
                                      <p:to>
                                        <p:strVal val="visible"/>
                                      </p:to>
                                    </p:set>
                                    <p:animEffect transition="in" filter="fade">
                                      <p:cBhvr>
                                        <p:cTn id="7" dur="500"/>
                                        <p:tgtEl>
                                          <p:spTgt spid="1288"/>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2407"/>
                                        </p:tgtEl>
                                        <p:attrNameLst>
                                          <p:attrName>style.visibility</p:attrName>
                                        </p:attrNameLst>
                                      </p:cBhvr>
                                      <p:to>
                                        <p:strVal val="visible"/>
                                      </p:to>
                                    </p:set>
                                    <p:anim calcmode="lin" valueType="num">
                                      <p:cBhvr>
                                        <p:cTn id="10" dur="500" fill="hold"/>
                                        <p:tgtEl>
                                          <p:spTgt spid="2407"/>
                                        </p:tgtEl>
                                        <p:attrNameLst>
                                          <p:attrName>ppt_w</p:attrName>
                                        </p:attrNameLst>
                                      </p:cBhvr>
                                      <p:tavLst>
                                        <p:tav tm="0">
                                          <p:val>
                                            <p:fltVal val="0"/>
                                          </p:val>
                                        </p:tav>
                                        <p:tav tm="100000">
                                          <p:val>
                                            <p:strVal val="#ppt_w"/>
                                          </p:val>
                                        </p:tav>
                                      </p:tavLst>
                                    </p:anim>
                                    <p:anim calcmode="lin" valueType="num">
                                      <p:cBhvr>
                                        <p:cTn id="11" dur="500" fill="hold"/>
                                        <p:tgtEl>
                                          <p:spTgt spid="2407"/>
                                        </p:tgtEl>
                                        <p:attrNameLst>
                                          <p:attrName>ppt_h</p:attrName>
                                        </p:attrNameLst>
                                      </p:cBhvr>
                                      <p:tavLst>
                                        <p:tav tm="0">
                                          <p:val>
                                            <p:fltVal val="0"/>
                                          </p:val>
                                        </p:tav>
                                        <p:tav tm="100000">
                                          <p:val>
                                            <p:strVal val="#ppt_h"/>
                                          </p:val>
                                        </p:tav>
                                      </p:tavLst>
                                    </p:anim>
                                    <p:animEffect transition="in" filter="fade">
                                      <p:cBhvr>
                                        <p:cTn id="12" dur="500"/>
                                        <p:tgtEl>
                                          <p:spTgt spid="2407"/>
                                        </p:tgtEl>
                                      </p:cBhvr>
                                    </p:animEffect>
                                  </p:childTnLst>
                                </p:cTn>
                              </p:par>
                              <p:par>
                                <p:cTn id="13" presetID="53" presetClass="entr" presetSubtype="16" fill="hold" grpId="0" nodeType="withEffect">
                                  <p:stCondLst>
                                    <p:cond delay="250"/>
                                  </p:stCondLst>
                                  <p:childTnLst>
                                    <p:set>
                                      <p:cBhvr>
                                        <p:cTn id="14" dur="1" fill="hold">
                                          <p:stCondLst>
                                            <p:cond delay="0"/>
                                          </p:stCondLst>
                                        </p:cTn>
                                        <p:tgtEl>
                                          <p:spTgt spid="2408"/>
                                        </p:tgtEl>
                                        <p:attrNameLst>
                                          <p:attrName>style.visibility</p:attrName>
                                        </p:attrNameLst>
                                      </p:cBhvr>
                                      <p:to>
                                        <p:strVal val="visible"/>
                                      </p:to>
                                    </p:set>
                                    <p:anim calcmode="lin" valueType="num">
                                      <p:cBhvr>
                                        <p:cTn id="15" dur="500" fill="hold"/>
                                        <p:tgtEl>
                                          <p:spTgt spid="2408"/>
                                        </p:tgtEl>
                                        <p:attrNameLst>
                                          <p:attrName>ppt_w</p:attrName>
                                        </p:attrNameLst>
                                      </p:cBhvr>
                                      <p:tavLst>
                                        <p:tav tm="0">
                                          <p:val>
                                            <p:fltVal val="0"/>
                                          </p:val>
                                        </p:tav>
                                        <p:tav tm="100000">
                                          <p:val>
                                            <p:strVal val="#ppt_w"/>
                                          </p:val>
                                        </p:tav>
                                      </p:tavLst>
                                    </p:anim>
                                    <p:anim calcmode="lin" valueType="num">
                                      <p:cBhvr>
                                        <p:cTn id="16" dur="500" fill="hold"/>
                                        <p:tgtEl>
                                          <p:spTgt spid="2408"/>
                                        </p:tgtEl>
                                        <p:attrNameLst>
                                          <p:attrName>ppt_h</p:attrName>
                                        </p:attrNameLst>
                                      </p:cBhvr>
                                      <p:tavLst>
                                        <p:tav tm="0">
                                          <p:val>
                                            <p:fltVal val="0"/>
                                          </p:val>
                                        </p:tav>
                                        <p:tav tm="100000">
                                          <p:val>
                                            <p:strVal val="#ppt_h"/>
                                          </p:val>
                                        </p:tav>
                                      </p:tavLst>
                                    </p:anim>
                                    <p:animEffect transition="in" filter="fade">
                                      <p:cBhvr>
                                        <p:cTn id="17" dur="500"/>
                                        <p:tgtEl>
                                          <p:spTgt spid="2408"/>
                                        </p:tgtEl>
                                      </p:cBhvr>
                                    </p:animEffect>
                                  </p:childTnLst>
                                </p:cTn>
                              </p:par>
                              <p:par>
                                <p:cTn id="18" presetID="53" presetClass="entr" presetSubtype="16" fill="hold" grpId="0" nodeType="withEffect">
                                  <p:stCondLst>
                                    <p:cond delay="250"/>
                                  </p:stCondLst>
                                  <p:childTnLst>
                                    <p:set>
                                      <p:cBhvr>
                                        <p:cTn id="19" dur="1" fill="hold">
                                          <p:stCondLst>
                                            <p:cond delay="0"/>
                                          </p:stCondLst>
                                        </p:cTn>
                                        <p:tgtEl>
                                          <p:spTgt spid="2409"/>
                                        </p:tgtEl>
                                        <p:attrNameLst>
                                          <p:attrName>style.visibility</p:attrName>
                                        </p:attrNameLst>
                                      </p:cBhvr>
                                      <p:to>
                                        <p:strVal val="visible"/>
                                      </p:to>
                                    </p:set>
                                    <p:anim calcmode="lin" valueType="num">
                                      <p:cBhvr>
                                        <p:cTn id="20" dur="500" fill="hold"/>
                                        <p:tgtEl>
                                          <p:spTgt spid="2409"/>
                                        </p:tgtEl>
                                        <p:attrNameLst>
                                          <p:attrName>ppt_w</p:attrName>
                                        </p:attrNameLst>
                                      </p:cBhvr>
                                      <p:tavLst>
                                        <p:tav tm="0">
                                          <p:val>
                                            <p:fltVal val="0"/>
                                          </p:val>
                                        </p:tav>
                                        <p:tav tm="100000">
                                          <p:val>
                                            <p:strVal val="#ppt_w"/>
                                          </p:val>
                                        </p:tav>
                                      </p:tavLst>
                                    </p:anim>
                                    <p:anim calcmode="lin" valueType="num">
                                      <p:cBhvr>
                                        <p:cTn id="21" dur="500" fill="hold"/>
                                        <p:tgtEl>
                                          <p:spTgt spid="2409"/>
                                        </p:tgtEl>
                                        <p:attrNameLst>
                                          <p:attrName>ppt_h</p:attrName>
                                        </p:attrNameLst>
                                      </p:cBhvr>
                                      <p:tavLst>
                                        <p:tav tm="0">
                                          <p:val>
                                            <p:fltVal val="0"/>
                                          </p:val>
                                        </p:tav>
                                        <p:tav tm="100000">
                                          <p:val>
                                            <p:strVal val="#ppt_h"/>
                                          </p:val>
                                        </p:tav>
                                      </p:tavLst>
                                    </p:anim>
                                    <p:animEffect transition="in" filter="fade">
                                      <p:cBhvr>
                                        <p:cTn id="22" dur="500"/>
                                        <p:tgtEl>
                                          <p:spTgt spid="2409"/>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2410"/>
                                        </p:tgtEl>
                                        <p:attrNameLst>
                                          <p:attrName>style.visibility</p:attrName>
                                        </p:attrNameLst>
                                      </p:cBhvr>
                                      <p:to>
                                        <p:strVal val="visible"/>
                                      </p:to>
                                    </p:set>
                                    <p:anim calcmode="lin" valueType="num">
                                      <p:cBhvr>
                                        <p:cTn id="25" dur="500" fill="hold"/>
                                        <p:tgtEl>
                                          <p:spTgt spid="2410"/>
                                        </p:tgtEl>
                                        <p:attrNameLst>
                                          <p:attrName>ppt_w</p:attrName>
                                        </p:attrNameLst>
                                      </p:cBhvr>
                                      <p:tavLst>
                                        <p:tav tm="0">
                                          <p:val>
                                            <p:fltVal val="0"/>
                                          </p:val>
                                        </p:tav>
                                        <p:tav tm="100000">
                                          <p:val>
                                            <p:strVal val="#ppt_w"/>
                                          </p:val>
                                        </p:tav>
                                      </p:tavLst>
                                    </p:anim>
                                    <p:anim calcmode="lin" valueType="num">
                                      <p:cBhvr>
                                        <p:cTn id="26" dur="500" fill="hold"/>
                                        <p:tgtEl>
                                          <p:spTgt spid="2410"/>
                                        </p:tgtEl>
                                        <p:attrNameLst>
                                          <p:attrName>ppt_h</p:attrName>
                                        </p:attrNameLst>
                                      </p:cBhvr>
                                      <p:tavLst>
                                        <p:tav tm="0">
                                          <p:val>
                                            <p:fltVal val="0"/>
                                          </p:val>
                                        </p:tav>
                                        <p:tav tm="100000">
                                          <p:val>
                                            <p:strVal val="#ppt_h"/>
                                          </p:val>
                                        </p:tav>
                                      </p:tavLst>
                                    </p:anim>
                                    <p:animEffect transition="in" filter="fade">
                                      <p:cBhvr>
                                        <p:cTn id="27" dur="500"/>
                                        <p:tgtEl>
                                          <p:spTgt spid="2410"/>
                                        </p:tgtEl>
                                      </p:cBhvr>
                                    </p:animEffect>
                                  </p:childTnLst>
                                </p:cTn>
                              </p:par>
                              <p:par>
                                <p:cTn id="28" presetID="53" presetClass="entr" presetSubtype="16" fill="hold" grpId="0" nodeType="withEffect">
                                  <p:stCondLst>
                                    <p:cond delay="250"/>
                                  </p:stCondLst>
                                  <p:childTnLst>
                                    <p:set>
                                      <p:cBhvr>
                                        <p:cTn id="29" dur="1" fill="hold">
                                          <p:stCondLst>
                                            <p:cond delay="0"/>
                                          </p:stCondLst>
                                        </p:cTn>
                                        <p:tgtEl>
                                          <p:spTgt spid="2411"/>
                                        </p:tgtEl>
                                        <p:attrNameLst>
                                          <p:attrName>style.visibility</p:attrName>
                                        </p:attrNameLst>
                                      </p:cBhvr>
                                      <p:to>
                                        <p:strVal val="visible"/>
                                      </p:to>
                                    </p:set>
                                    <p:anim calcmode="lin" valueType="num">
                                      <p:cBhvr>
                                        <p:cTn id="30" dur="500" fill="hold"/>
                                        <p:tgtEl>
                                          <p:spTgt spid="2411"/>
                                        </p:tgtEl>
                                        <p:attrNameLst>
                                          <p:attrName>ppt_w</p:attrName>
                                        </p:attrNameLst>
                                      </p:cBhvr>
                                      <p:tavLst>
                                        <p:tav tm="0">
                                          <p:val>
                                            <p:fltVal val="0"/>
                                          </p:val>
                                        </p:tav>
                                        <p:tav tm="100000">
                                          <p:val>
                                            <p:strVal val="#ppt_w"/>
                                          </p:val>
                                        </p:tav>
                                      </p:tavLst>
                                    </p:anim>
                                    <p:anim calcmode="lin" valueType="num">
                                      <p:cBhvr>
                                        <p:cTn id="31" dur="500" fill="hold"/>
                                        <p:tgtEl>
                                          <p:spTgt spid="2411"/>
                                        </p:tgtEl>
                                        <p:attrNameLst>
                                          <p:attrName>ppt_h</p:attrName>
                                        </p:attrNameLst>
                                      </p:cBhvr>
                                      <p:tavLst>
                                        <p:tav tm="0">
                                          <p:val>
                                            <p:fltVal val="0"/>
                                          </p:val>
                                        </p:tav>
                                        <p:tav tm="100000">
                                          <p:val>
                                            <p:strVal val="#ppt_h"/>
                                          </p:val>
                                        </p:tav>
                                      </p:tavLst>
                                    </p:anim>
                                    <p:animEffect transition="in" filter="fade">
                                      <p:cBhvr>
                                        <p:cTn id="32" dur="500"/>
                                        <p:tgtEl>
                                          <p:spTgt spid="2411"/>
                                        </p:tgtEl>
                                      </p:cBhvr>
                                    </p:animEffect>
                                  </p:childTnLst>
                                </p:cTn>
                              </p:par>
                              <p:par>
                                <p:cTn id="33" presetID="53" presetClass="entr" presetSubtype="16" fill="hold" grpId="0" nodeType="withEffect">
                                  <p:stCondLst>
                                    <p:cond delay="250"/>
                                  </p:stCondLst>
                                  <p:childTnLst>
                                    <p:set>
                                      <p:cBhvr>
                                        <p:cTn id="34" dur="1" fill="hold">
                                          <p:stCondLst>
                                            <p:cond delay="0"/>
                                          </p:stCondLst>
                                        </p:cTn>
                                        <p:tgtEl>
                                          <p:spTgt spid="2412"/>
                                        </p:tgtEl>
                                        <p:attrNameLst>
                                          <p:attrName>style.visibility</p:attrName>
                                        </p:attrNameLst>
                                      </p:cBhvr>
                                      <p:to>
                                        <p:strVal val="visible"/>
                                      </p:to>
                                    </p:set>
                                    <p:anim calcmode="lin" valueType="num">
                                      <p:cBhvr>
                                        <p:cTn id="35" dur="500" fill="hold"/>
                                        <p:tgtEl>
                                          <p:spTgt spid="2412"/>
                                        </p:tgtEl>
                                        <p:attrNameLst>
                                          <p:attrName>ppt_w</p:attrName>
                                        </p:attrNameLst>
                                      </p:cBhvr>
                                      <p:tavLst>
                                        <p:tav tm="0">
                                          <p:val>
                                            <p:fltVal val="0"/>
                                          </p:val>
                                        </p:tav>
                                        <p:tav tm="100000">
                                          <p:val>
                                            <p:strVal val="#ppt_w"/>
                                          </p:val>
                                        </p:tav>
                                      </p:tavLst>
                                    </p:anim>
                                    <p:anim calcmode="lin" valueType="num">
                                      <p:cBhvr>
                                        <p:cTn id="36" dur="500" fill="hold"/>
                                        <p:tgtEl>
                                          <p:spTgt spid="2412"/>
                                        </p:tgtEl>
                                        <p:attrNameLst>
                                          <p:attrName>ppt_h</p:attrName>
                                        </p:attrNameLst>
                                      </p:cBhvr>
                                      <p:tavLst>
                                        <p:tav tm="0">
                                          <p:val>
                                            <p:fltVal val="0"/>
                                          </p:val>
                                        </p:tav>
                                        <p:tav tm="100000">
                                          <p:val>
                                            <p:strVal val="#ppt_h"/>
                                          </p:val>
                                        </p:tav>
                                      </p:tavLst>
                                    </p:anim>
                                    <p:animEffect transition="in" filter="fade">
                                      <p:cBhvr>
                                        <p:cTn id="37" dur="500"/>
                                        <p:tgtEl>
                                          <p:spTgt spid="2412"/>
                                        </p:tgtEl>
                                      </p:cBhvr>
                                    </p:animEffect>
                                  </p:childTnLst>
                                </p:cTn>
                              </p:par>
                              <p:par>
                                <p:cTn id="38" presetID="53" presetClass="entr" presetSubtype="16" fill="hold" grpId="0" nodeType="withEffect">
                                  <p:stCondLst>
                                    <p:cond delay="250"/>
                                  </p:stCondLst>
                                  <p:childTnLst>
                                    <p:set>
                                      <p:cBhvr>
                                        <p:cTn id="39" dur="1" fill="hold">
                                          <p:stCondLst>
                                            <p:cond delay="0"/>
                                          </p:stCondLst>
                                        </p:cTn>
                                        <p:tgtEl>
                                          <p:spTgt spid="2413"/>
                                        </p:tgtEl>
                                        <p:attrNameLst>
                                          <p:attrName>style.visibility</p:attrName>
                                        </p:attrNameLst>
                                      </p:cBhvr>
                                      <p:to>
                                        <p:strVal val="visible"/>
                                      </p:to>
                                    </p:set>
                                    <p:anim calcmode="lin" valueType="num">
                                      <p:cBhvr>
                                        <p:cTn id="40" dur="500" fill="hold"/>
                                        <p:tgtEl>
                                          <p:spTgt spid="2413"/>
                                        </p:tgtEl>
                                        <p:attrNameLst>
                                          <p:attrName>ppt_w</p:attrName>
                                        </p:attrNameLst>
                                      </p:cBhvr>
                                      <p:tavLst>
                                        <p:tav tm="0">
                                          <p:val>
                                            <p:fltVal val="0"/>
                                          </p:val>
                                        </p:tav>
                                        <p:tav tm="100000">
                                          <p:val>
                                            <p:strVal val="#ppt_w"/>
                                          </p:val>
                                        </p:tav>
                                      </p:tavLst>
                                    </p:anim>
                                    <p:anim calcmode="lin" valueType="num">
                                      <p:cBhvr>
                                        <p:cTn id="41" dur="500" fill="hold"/>
                                        <p:tgtEl>
                                          <p:spTgt spid="2413"/>
                                        </p:tgtEl>
                                        <p:attrNameLst>
                                          <p:attrName>ppt_h</p:attrName>
                                        </p:attrNameLst>
                                      </p:cBhvr>
                                      <p:tavLst>
                                        <p:tav tm="0">
                                          <p:val>
                                            <p:fltVal val="0"/>
                                          </p:val>
                                        </p:tav>
                                        <p:tav tm="100000">
                                          <p:val>
                                            <p:strVal val="#ppt_h"/>
                                          </p:val>
                                        </p:tav>
                                      </p:tavLst>
                                    </p:anim>
                                    <p:animEffect transition="in" filter="fade">
                                      <p:cBhvr>
                                        <p:cTn id="42" dur="500"/>
                                        <p:tgtEl>
                                          <p:spTgt spid="2413"/>
                                        </p:tgtEl>
                                      </p:cBhvr>
                                    </p:animEffect>
                                  </p:childTnLst>
                                </p:cTn>
                              </p:par>
                              <p:par>
                                <p:cTn id="43" presetID="53" presetClass="entr" presetSubtype="16" fill="hold" grpId="0" nodeType="withEffect">
                                  <p:stCondLst>
                                    <p:cond delay="250"/>
                                  </p:stCondLst>
                                  <p:childTnLst>
                                    <p:set>
                                      <p:cBhvr>
                                        <p:cTn id="44" dur="1" fill="hold">
                                          <p:stCondLst>
                                            <p:cond delay="0"/>
                                          </p:stCondLst>
                                        </p:cTn>
                                        <p:tgtEl>
                                          <p:spTgt spid="2414"/>
                                        </p:tgtEl>
                                        <p:attrNameLst>
                                          <p:attrName>style.visibility</p:attrName>
                                        </p:attrNameLst>
                                      </p:cBhvr>
                                      <p:to>
                                        <p:strVal val="visible"/>
                                      </p:to>
                                    </p:set>
                                    <p:anim calcmode="lin" valueType="num">
                                      <p:cBhvr>
                                        <p:cTn id="45" dur="500" fill="hold"/>
                                        <p:tgtEl>
                                          <p:spTgt spid="2414"/>
                                        </p:tgtEl>
                                        <p:attrNameLst>
                                          <p:attrName>ppt_w</p:attrName>
                                        </p:attrNameLst>
                                      </p:cBhvr>
                                      <p:tavLst>
                                        <p:tav tm="0">
                                          <p:val>
                                            <p:fltVal val="0"/>
                                          </p:val>
                                        </p:tav>
                                        <p:tav tm="100000">
                                          <p:val>
                                            <p:strVal val="#ppt_w"/>
                                          </p:val>
                                        </p:tav>
                                      </p:tavLst>
                                    </p:anim>
                                    <p:anim calcmode="lin" valueType="num">
                                      <p:cBhvr>
                                        <p:cTn id="46" dur="500" fill="hold"/>
                                        <p:tgtEl>
                                          <p:spTgt spid="2414"/>
                                        </p:tgtEl>
                                        <p:attrNameLst>
                                          <p:attrName>ppt_h</p:attrName>
                                        </p:attrNameLst>
                                      </p:cBhvr>
                                      <p:tavLst>
                                        <p:tav tm="0">
                                          <p:val>
                                            <p:fltVal val="0"/>
                                          </p:val>
                                        </p:tav>
                                        <p:tav tm="100000">
                                          <p:val>
                                            <p:strVal val="#ppt_h"/>
                                          </p:val>
                                        </p:tav>
                                      </p:tavLst>
                                    </p:anim>
                                    <p:animEffect transition="in" filter="fade">
                                      <p:cBhvr>
                                        <p:cTn id="47" dur="500"/>
                                        <p:tgtEl>
                                          <p:spTgt spid="2414"/>
                                        </p:tgtEl>
                                      </p:cBhvr>
                                    </p:animEffect>
                                  </p:childTnLst>
                                </p:cTn>
                              </p:par>
                              <p:par>
                                <p:cTn id="48" presetID="53" presetClass="entr" presetSubtype="16" fill="hold" grpId="0" nodeType="withEffect">
                                  <p:stCondLst>
                                    <p:cond delay="250"/>
                                  </p:stCondLst>
                                  <p:childTnLst>
                                    <p:set>
                                      <p:cBhvr>
                                        <p:cTn id="49" dur="1" fill="hold">
                                          <p:stCondLst>
                                            <p:cond delay="0"/>
                                          </p:stCondLst>
                                        </p:cTn>
                                        <p:tgtEl>
                                          <p:spTgt spid="2417"/>
                                        </p:tgtEl>
                                        <p:attrNameLst>
                                          <p:attrName>style.visibility</p:attrName>
                                        </p:attrNameLst>
                                      </p:cBhvr>
                                      <p:to>
                                        <p:strVal val="visible"/>
                                      </p:to>
                                    </p:set>
                                    <p:anim calcmode="lin" valueType="num">
                                      <p:cBhvr>
                                        <p:cTn id="50" dur="500" fill="hold"/>
                                        <p:tgtEl>
                                          <p:spTgt spid="2417"/>
                                        </p:tgtEl>
                                        <p:attrNameLst>
                                          <p:attrName>ppt_w</p:attrName>
                                        </p:attrNameLst>
                                      </p:cBhvr>
                                      <p:tavLst>
                                        <p:tav tm="0">
                                          <p:val>
                                            <p:fltVal val="0"/>
                                          </p:val>
                                        </p:tav>
                                        <p:tav tm="100000">
                                          <p:val>
                                            <p:strVal val="#ppt_w"/>
                                          </p:val>
                                        </p:tav>
                                      </p:tavLst>
                                    </p:anim>
                                    <p:anim calcmode="lin" valueType="num">
                                      <p:cBhvr>
                                        <p:cTn id="51" dur="500" fill="hold"/>
                                        <p:tgtEl>
                                          <p:spTgt spid="2417"/>
                                        </p:tgtEl>
                                        <p:attrNameLst>
                                          <p:attrName>ppt_h</p:attrName>
                                        </p:attrNameLst>
                                      </p:cBhvr>
                                      <p:tavLst>
                                        <p:tav tm="0">
                                          <p:val>
                                            <p:fltVal val="0"/>
                                          </p:val>
                                        </p:tav>
                                        <p:tav tm="100000">
                                          <p:val>
                                            <p:strVal val="#ppt_h"/>
                                          </p:val>
                                        </p:tav>
                                      </p:tavLst>
                                    </p:anim>
                                    <p:animEffect transition="in" filter="fade">
                                      <p:cBhvr>
                                        <p:cTn id="52" dur="500"/>
                                        <p:tgtEl>
                                          <p:spTgt spid="2417"/>
                                        </p:tgtEl>
                                      </p:cBhvr>
                                    </p:animEffect>
                                  </p:childTnLst>
                                </p:cTn>
                              </p:par>
                              <p:par>
                                <p:cTn id="53" presetID="53" presetClass="entr" presetSubtype="16" fill="hold" grpId="0" nodeType="withEffect">
                                  <p:stCondLst>
                                    <p:cond delay="250"/>
                                  </p:stCondLst>
                                  <p:childTnLst>
                                    <p:set>
                                      <p:cBhvr>
                                        <p:cTn id="54" dur="1" fill="hold">
                                          <p:stCondLst>
                                            <p:cond delay="0"/>
                                          </p:stCondLst>
                                        </p:cTn>
                                        <p:tgtEl>
                                          <p:spTgt spid="2418"/>
                                        </p:tgtEl>
                                        <p:attrNameLst>
                                          <p:attrName>style.visibility</p:attrName>
                                        </p:attrNameLst>
                                      </p:cBhvr>
                                      <p:to>
                                        <p:strVal val="visible"/>
                                      </p:to>
                                    </p:set>
                                    <p:anim calcmode="lin" valueType="num">
                                      <p:cBhvr>
                                        <p:cTn id="55" dur="500" fill="hold"/>
                                        <p:tgtEl>
                                          <p:spTgt spid="2418"/>
                                        </p:tgtEl>
                                        <p:attrNameLst>
                                          <p:attrName>ppt_w</p:attrName>
                                        </p:attrNameLst>
                                      </p:cBhvr>
                                      <p:tavLst>
                                        <p:tav tm="0">
                                          <p:val>
                                            <p:fltVal val="0"/>
                                          </p:val>
                                        </p:tav>
                                        <p:tav tm="100000">
                                          <p:val>
                                            <p:strVal val="#ppt_w"/>
                                          </p:val>
                                        </p:tav>
                                      </p:tavLst>
                                    </p:anim>
                                    <p:anim calcmode="lin" valueType="num">
                                      <p:cBhvr>
                                        <p:cTn id="56" dur="500" fill="hold"/>
                                        <p:tgtEl>
                                          <p:spTgt spid="2418"/>
                                        </p:tgtEl>
                                        <p:attrNameLst>
                                          <p:attrName>ppt_h</p:attrName>
                                        </p:attrNameLst>
                                      </p:cBhvr>
                                      <p:tavLst>
                                        <p:tav tm="0">
                                          <p:val>
                                            <p:fltVal val="0"/>
                                          </p:val>
                                        </p:tav>
                                        <p:tav tm="100000">
                                          <p:val>
                                            <p:strVal val="#ppt_h"/>
                                          </p:val>
                                        </p:tav>
                                      </p:tavLst>
                                    </p:anim>
                                    <p:animEffect transition="in" filter="fade">
                                      <p:cBhvr>
                                        <p:cTn id="57" dur="500"/>
                                        <p:tgtEl>
                                          <p:spTgt spid="2418"/>
                                        </p:tgtEl>
                                      </p:cBhvr>
                                    </p:animEffect>
                                  </p:childTnLst>
                                </p:cTn>
                              </p:par>
                              <p:par>
                                <p:cTn id="58" presetID="53" presetClass="entr" presetSubtype="16" fill="hold" grpId="0" nodeType="withEffect">
                                  <p:stCondLst>
                                    <p:cond delay="250"/>
                                  </p:stCondLst>
                                  <p:childTnLst>
                                    <p:set>
                                      <p:cBhvr>
                                        <p:cTn id="59" dur="1" fill="hold">
                                          <p:stCondLst>
                                            <p:cond delay="0"/>
                                          </p:stCondLst>
                                        </p:cTn>
                                        <p:tgtEl>
                                          <p:spTgt spid="2419"/>
                                        </p:tgtEl>
                                        <p:attrNameLst>
                                          <p:attrName>style.visibility</p:attrName>
                                        </p:attrNameLst>
                                      </p:cBhvr>
                                      <p:to>
                                        <p:strVal val="visible"/>
                                      </p:to>
                                    </p:set>
                                    <p:anim calcmode="lin" valueType="num">
                                      <p:cBhvr>
                                        <p:cTn id="60" dur="500" fill="hold"/>
                                        <p:tgtEl>
                                          <p:spTgt spid="2419"/>
                                        </p:tgtEl>
                                        <p:attrNameLst>
                                          <p:attrName>ppt_w</p:attrName>
                                        </p:attrNameLst>
                                      </p:cBhvr>
                                      <p:tavLst>
                                        <p:tav tm="0">
                                          <p:val>
                                            <p:fltVal val="0"/>
                                          </p:val>
                                        </p:tav>
                                        <p:tav tm="100000">
                                          <p:val>
                                            <p:strVal val="#ppt_w"/>
                                          </p:val>
                                        </p:tav>
                                      </p:tavLst>
                                    </p:anim>
                                    <p:anim calcmode="lin" valueType="num">
                                      <p:cBhvr>
                                        <p:cTn id="61" dur="500" fill="hold"/>
                                        <p:tgtEl>
                                          <p:spTgt spid="2419"/>
                                        </p:tgtEl>
                                        <p:attrNameLst>
                                          <p:attrName>ppt_h</p:attrName>
                                        </p:attrNameLst>
                                      </p:cBhvr>
                                      <p:tavLst>
                                        <p:tav tm="0">
                                          <p:val>
                                            <p:fltVal val="0"/>
                                          </p:val>
                                        </p:tav>
                                        <p:tav tm="100000">
                                          <p:val>
                                            <p:strVal val="#ppt_h"/>
                                          </p:val>
                                        </p:tav>
                                      </p:tavLst>
                                    </p:anim>
                                    <p:animEffect transition="in" filter="fade">
                                      <p:cBhvr>
                                        <p:cTn id="62" dur="500"/>
                                        <p:tgtEl>
                                          <p:spTgt spid="2419"/>
                                        </p:tgtEl>
                                      </p:cBhvr>
                                    </p:animEffect>
                                  </p:childTnLst>
                                </p:cTn>
                              </p:par>
                              <p:par>
                                <p:cTn id="63" presetID="53" presetClass="entr" presetSubtype="16" fill="hold" grpId="0" nodeType="withEffect">
                                  <p:stCondLst>
                                    <p:cond delay="250"/>
                                  </p:stCondLst>
                                  <p:childTnLst>
                                    <p:set>
                                      <p:cBhvr>
                                        <p:cTn id="64" dur="1" fill="hold">
                                          <p:stCondLst>
                                            <p:cond delay="0"/>
                                          </p:stCondLst>
                                        </p:cTn>
                                        <p:tgtEl>
                                          <p:spTgt spid="2420"/>
                                        </p:tgtEl>
                                        <p:attrNameLst>
                                          <p:attrName>style.visibility</p:attrName>
                                        </p:attrNameLst>
                                      </p:cBhvr>
                                      <p:to>
                                        <p:strVal val="visible"/>
                                      </p:to>
                                    </p:set>
                                    <p:anim calcmode="lin" valueType="num">
                                      <p:cBhvr>
                                        <p:cTn id="65" dur="500" fill="hold"/>
                                        <p:tgtEl>
                                          <p:spTgt spid="2420"/>
                                        </p:tgtEl>
                                        <p:attrNameLst>
                                          <p:attrName>ppt_w</p:attrName>
                                        </p:attrNameLst>
                                      </p:cBhvr>
                                      <p:tavLst>
                                        <p:tav tm="0">
                                          <p:val>
                                            <p:fltVal val="0"/>
                                          </p:val>
                                        </p:tav>
                                        <p:tav tm="100000">
                                          <p:val>
                                            <p:strVal val="#ppt_w"/>
                                          </p:val>
                                        </p:tav>
                                      </p:tavLst>
                                    </p:anim>
                                    <p:anim calcmode="lin" valueType="num">
                                      <p:cBhvr>
                                        <p:cTn id="66" dur="500" fill="hold"/>
                                        <p:tgtEl>
                                          <p:spTgt spid="2420"/>
                                        </p:tgtEl>
                                        <p:attrNameLst>
                                          <p:attrName>ppt_h</p:attrName>
                                        </p:attrNameLst>
                                      </p:cBhvr>
                                      <p:tavLst>
                                        <p:tav tm="0">
                                          <p:val>
                                            <p:fltVal val="0"/>
                                          </p:val>
                                        </p:tav>
                                        <p:tav tm="100000">
                                          <p:val>
                                            <p:strVal val="#ppt_h"/>
                                          </p:val>
                                        </p:tav>
                                      </p:tavLst>
                                    </p:anim>
                                    <p:animEffect transition="in" filter="fade">
                                      <p:cBhvr>
                                        <p:cTn id="67" dur="500"/>
                                        <p:tgtEl>
                                          <p:spTgt spid="2420"/>
                                        </p:tgtEl>
                                      </p:cBhvr>
                                    </p:animEffect>
                                  </p:childTnLst>
                                </p:cTn>
                              </p:par>
                              <p:par>
                                <p:cTn id="68" presetID="53" presetClass="entr" presetSubtype="16" fill="hold" grpId="0" nodeType="withEffect">
                                  <p:stCondLst>
                                    <p:cond delay="250"/>
                                  </p:stCondLst>
                                  <p:childTnLst>
                                    <p:set>
                                      <p:cBhvr>
                                        <p:cTn id="69" dur="1" fill="hold">
                                          <p:stCondLst>
                                            <p:cond delay="0"/>
                                          </p:stCondLst>
                                        </p:cTn>
                                        <p:tgtEl>
                                          <p:spTgt spid="2423"/>
                                        </p:tgtEl>
                                        <p:attrNameLst>
                                          <p:attrName>style.visibility</p:attrName>
                                        </p:attrNameLst>
                                      </p:cBhvr>
                                      <p:to>
                                        <p:strVal val="visible"/>
                                      </p:to>
                                    </p:set>
                                    <p:anim calcmode="lin" valueType="num">
                                      <p:cBhvr>
                                        <p:cTn id="70" dur="500" fill="hold"/>
                                        <p:tgtEl>
                                          <p:spTgt spid="2423"/>
                                        </p:tgtEl>
                                        <p:attrNameLst>
                                          <p:attrName>ppt_w</p:attrName>
                                        </p:attrNameLst>
                                      </p:cBhvr>
                                      <p:tavLst>
                                        <p:tav tm="0">
                                          <p:val>
                                            <p:fltVal val="0"/>
                                          </p:val>
                                        </p:tav>
                                        <p:tav tm="100000">
                                          <p:val>
                                            <p:strVal val="#ppt_w"/>
                                          </p:val>
                                        </p:tav>
                                      </p:tavLst>
                                    </p:anim>
                                    <p:anim calcmode="lin" valueType="num">
                                      <p:cBhvr>
                                        <p:cTn id="71" dur="500" fill="hold"/>
                                        <p:tgtEl>
                                          <p:spTgt spid="2423"/>
                                        </p:tgtEl>
                                        <p:attrNameLst>
                                          <p:attrName>ppt_h</p:attrName>
                                        </p:attrNameLst>
                                      </p:cBhvr>
                                      <p:tavLst>
                                        <p:tav tm="0">
                                          <p:val>
                                            <p:fltVal val="0"/>
                                          </p:val>
                                        </p:tav>
                                        <p:tav tm="100000">
                                          <p:val>
                                            <p:strVal val="#ppt_h"/>
                                          </p:val>
                                        </p:tav>
                                      </p:tavLst>
                                    </p:anim>
                                    <p:animEffect transition="in" filter="fade">
                                      <p:cBhvr>
                                        <p:cTn id="72" dur="500"/>
                                        <p:tgtEl>
                                          <p:spTgt spid="2423"/>
                                        </p:tgtEl>
                                      </p:cBhvr>
                                    </p:animEffect>
                                  </p:childTnLst>
                                </p:cTn>
                              </p:par>
                              <p:par>
                                <p:cTn id="73" presetID="53" presetClass="entr" presetSubtype="16" fill="hold" grpId="0" nodeType="withEffect">
                                  <p:stCondLst>
                                    <p:cond delay="250"/>
                                  </p:stCondLst>
                                  <p:childTnLst>
                                    <p:set>
                                      <p:cBhvr>
                                        <p:cTn id="74" dur="1" fill="hold">
                                          <p:stCondLst>
                                            <p:cond delay="0"/>
                                          </p:stCondLst>
                                        </p:cTn>
                                        <p:tgtEl>
                                          <p:spTgt spid="2424"/>
                                        </p:tgtEl>
                                        <p:attrNameLst>
                                          <p:attrName>style.visibility</p:attrName>
                                        </p:attrNameLst>
                                      </p:cBhvr>
                                      <p:to>
                                        <p:strVal val="visible"/>
                                      </p:to>
                                    </p:set>
                                    <p:anim calcmode="lin" valueType="num">
                                      <p:cBhvr>
                                        <p:cTn id="75" dur="500" fill="hold"/>
                                        <p:tgtEl>
                                          <p:spTgt spid="2424"/>
                                        </p:tgtEl>
                                        <p:attrNameLst>
                                          <p:attrName>ppt_w</p:attrName>
                                        </p:attrNameLst>
                                      </p:cBhvr>
                                      <p:tavLst>
                                        <p:tav tm="0">
                                          <p:val>
                                            <p:fltVal val="0"/>
                                          </p:val>
                                        </p:tav>
                                        <p:tav tm="100000">
                                          <p:val>
                                            <p:strVal val="#ppt_w"/>
                                          </p:val>
                                        </p:tav>
                                      </p:tavLst>
                                    </p:anim>
                                    <p:anim calcmode="lin" valueType="num">
                                      <p:cBhvr>
                                        <p:cTn id="76" dur="500" fill="hold"/>
                                        <p:tgtEl>
                                          <p:spTgt spid="2424"/>
                                        </p:tgtEl>
                                        <p:attrNameLst>
                                          <p:attrName>ppt_h</p:attrName>
                                        </p:attrNameLst>
                                      </p:cBhvr>
                                      <p:tavLst>
                                        <p:tav tm="0">
                                          <p:val>
                                            <p:fltVal val="0"/>
                                          </p:val>
                                        </p:tav>
                                        <p:tav tm="100000">
                                          <p:val>
                                            <p:strVal val="#ppt_h"/>
                                          </p:val>
                                        </p:tav>
                                      </p:tavLst>
                                    </p:anim>
                                    <p:animEffect transition="in" filter="fade">
                                      <p:cBhvr>
                                        <p:cTn id="77" dur="500"/>
                                        <p:tgtEl>
                                          <p:spTgt spid="2424"/>
                                        </p:tgtEl>
                                      </p:cBhvr>
                                    </p:animEffect>
                                  </p:childTnLst>
                                </p:cTn>
                              </p:par>
                              <p:par>
                                <p:cTn id="78" presetID="53" presetClass="entr" presetSubtype="16" fill="hold" grpId="0" nodeType="withEffect">
                                  <p:stCondLst>
                                    <p:cond delay="250"/>
                                  </p:stCondLst>
                                  <p:childTnLst>
                                    <p:set>
                                      <p:cBhvr>
                                        <p:cTn id="79" dur="1" fill="hold">
                                          <p:stCondLst>
                                            <p:cond delay="0"/>
                                          </p:stCondLst>
                                        </p:cTn>
                                        <p:tgtEl>
                                          <p:spTgt spid="2425"/>
                                        </p:tgtEl>
                                        <p:attrNameLst>
                                          <p:attrName>style.visibility</p:attrName>
                                        </p:attrNameLst>
                                      </p:cBhvr>
                                      <p:to>
                                        <p:strVal val="visible"/>
                                      </p:to>
                                    </p:set>
                                    <p:anim calcmode="lin" valueType="num">
                                      <p:cBhvr>
                                        <p:cTn id="80" dur="500" fill="hold"/>
                                        <p:tgtEl>
                                          <p:spTgt spid="2425"/>
                                        </p:tgtEl>
                                        <p:attrNameLst>
                                          <p:attrName>ppt_w</p:attrName>
                                        </p:attrNameLst>
                                      </p:cBhvr>
                                      <p:tavLst>
                                        <p:tav tm="0">
                                          <p:val>
                                            <p:fltVal val="0"/>
                                          </p:val>
                                        </p:tav>
                                        <p:tav tm="100000">
                                          <p:val>
                                            <p:strVal val="#ppt_w"/>
                                          </p:val>
                                        </p:tav>
                                      </p:tavLst>
                                    </p:anim>
                                    <p:anim calcmode="lin" valueType="num">
                                      <p:cBhvr>
                                        <p:cTn id="81" dur="500" fill="hold"/>
                                        <p:tgtEl>
                                          <p:spTgt spid="2425"/>
                                        </p:tgtEl>
                                        <p:attrNameLst>
                                          <p:attrName>ppt_h</p:attrName>
                                        </p:attrNameLst>
                                      </p:cBhvr>
                                      <p:tavLst>
                                        <p:tav tm="0">
                                          <p:val>
                                            <p:fltVal val="0"/>
                                          </p:val>
                                        </p:tav>
                                        <p:tav tm="100000">
                                          <p:val>
                                            <p:strVal val="#ppt_h"/>
                                          </p:val>
                                        </p:tav>
                                      </p:tavLst>
                                    </p:anim>
                                    <p:animEffect transition="in" filter="fade">
                                      <p:cBhvr>
                                        <p:cTn id="82" dur="500"/>
                                        <p:tgtEl>
                                          <p:spTgt spid="2425"/>
                                        </p:tgtEl>
                                      </p:cBhvr>
                                    </p:animEffect>
                                  </p:childTnLst>
                                </p:cTn>
                              </p:par>
                              <p:par>
                                <p:cTn id="83" presetID="53" presetClass="entr" presetSubtype="16" fill="hold" grpId="0" nodeType="withEffect">
                                  <p:stCondLst>
                                    <p:cond delay="250"/>
                                  </p:stCondLst>
                                  <p:childTnLst>
                                    <p:set>
                                      <p:cBhvr>
                                        <p:cTn id="84" dur="1" fill="hold">
                                          <p:stCondLst>
                                            <p:cond delay="0"/>
                                          </p:stCondLst>
                                        </p:cTn>
                                        <p:tgtEl>
                                          <p:spTgt spid="2426"/>
                                        </p:tgtEl>
                                        <p:attrNameLst>
                                          <p:attrName>style.visibility</p:attrName>
                                        </p:attrNameLst>
                                      </p:cBhvr>
                                      <p:to>
                                        <p:strVal val="visible"/>
                                      </p:to>
                                    </p:set>
                                    <p:anim calcmode="lin" valueType="num">
                                      <p:cBhvr>
                                        <p:cTn id="85" dur="500" fill="hold"/>
                                        <p:tgtEl>
                                          <p:spTgt spid="2426"/>
                                        </p:tgtEl>
                                        <p:attrNameLst>
                                          <p:attrName>ppt_w</p:attrName>
                                        </p:attrNameLst>
                                      </p:cBhvr>
                                      <p:tavLst>
                                        <p:tav tm="0">
                                          <p:val>
                                            <p:fltVal val="0"/>
                                          </p:val>
                                        </p:tav>
                                        <p:tav tm="100000">
                                          <p:val>
                                            <p:strVal val="#ppt_w"/>
                                          </p:val>
                                        </p:tav>
                                      </p:tavLst>
                                    </p:anim>
                                    <p:anim calcmode="lin" valueType="num">
                                      <p:cBhvr>
                                        <p:cTn id="86" dur="500" fill="hold"/>
                                        <p:tgtEl>
                                          <p:spTgt spid="2426"/>
                                        </p:tgtEl>
                                        <p:attrNameLst>
                                          <p:attrName>ppt_h</p:attrName>
                                        </p:attrNameLst>
                                      </p:cBhvr>
                                      <p:tavLst>
                                        <p:tav tm="0">
                                          <p:val>
                                            <p:fltVal val="0"/>
                                          </p:val>
                                        </p:tav>
                                        <p:tav tm="100000">
                                          <p:val>
                                            <p:strVal val="#ppt_h"/>
                                          </p:val>
                                        </p:tav>
                                      </p:tavLst>
                                    </p:anim>
                                    <p:animEffect transition="in" filter="fade">
                                      <p:cBhvr>
                                        <p:cTn id="87" dur="500"/>
                                        <p:tgtEl>
                                          <p:spTgt spid="2426"/>
                                        </p:tgtEl>
                                      </p:cBhvr>
                                    </p:animEffect>
                                  </p:childTnLst>
                                </p:cTn>
                              </p:par>
                              <p:par>
                                <p:cTn id="88" presetID="53" presetClass="entr" presetSubtype="16" fill="hold" grpId="0" nodeType="withEffect">
                                  <p:stCondLst>
                                    <p:cond delay="250"/>
                                  </p:stCondLst>
                                  <p:childTnLst>
                                    <p:set>
                                      <p:cBhvr>
                                        <p:cTn id="89" dur="1" fill="hold">
                                          <p:stCondLst>
                                            <p:cond delay="0"/>
                                          </p:stCondLst>
                                        </p:cTn>
                                        <p:tgtEl>
                                          <p:spTgt spid="2427"/>
                                        </p:tgtEl>
                                        <p:attrNameLst>
                                          <p:attrName>style.visibility</p:attrName>
                                        </p:attrNameLst>
                                      </p:cBhvr>
                                      <p:to>
                                        <p:strVal val="visible"/>
                                      </p:to>
                                    </p:set>
                                    <p:anim calcmode="lin" valueType="num">
                                      <p:cBhvr>
                                        <p:cTn id="90" dur="500" fill="hold"/>
                                        <p:tgtEl>
                                          <p:spTgt spid="2427"/>
                                        </p:tgtEl>
                                        <p:attrNameLst>
                                          <p:attrName>ppt_w</p:attrName>
                                        </p:attrNameLst>
                                      </p:cBhvr>
                                      <p:tavLst>
                                        <p:tav tm="0">
                                          <p:val>
                                            <p:fltVal val="0"/>
                                          </p:val>
                                        </p:tav>
                                        <p:tav tm="100000">
                                          <p:val>
                                            <p:strVal val="#ppt_w"/>
                                          </p:val>
                                        </p:tav>
                                      </p:tavLst>
                                    </p:anim>
                                    <p:anim calcmode="lin" valueType="num">
                                      <p:cBhvr>
                                        <p:cTn id="91" dur="500" fill="hold"/>
                                        <p:tgtEl>
                                          <p:spTgt spid="2427"/>
                                        </p:tgtEl>
                                        <p:attrNameLst>
                                          <p:attrName>ppt_h</p:attrName>
                                        </p:attrNameLst>
                                      </p:cBhvr>
                                      <p:tavLst>
                                        <p:tav tm="0">
                                          <p:val>
                                            <p:fltVal val="0"/>
                                          </p:val>
                                        </p:tav>
                                        <p:tav tm="100000">
                                          <p:val>
                                            <p:strVal val="#ppt_h"/>
                                          </p:val>
                                        </p:tav>
                                      </p:tavLst>
                                    </p:anim>
                                    <p:animEffect transition="in" filter="fade">
                                      <p:cBhvr>
                                        <p:cTn id="92" dur="500"/>
                                        <p:tgtEl>
                                          <p:spTgt spid="2427"/>
                                        </p:tgtEl>
                                      </p:cBhvr>
                                    </p:animEffect>
                                  </p:childTnLst>
                                </p:cTn>
                              </p:par>
                              <p:par>
                                <p:cTn id="93" presetID="53" presetClass="entr" presetSubtype="16" fill="hold" grpId="0" nodeType="withEffect">
                                  <p:stCondLst>
                                    <p:cond delay="250"/>
                                  </p:stCondLst>
                                  <p:childTnLst>
                                    <p:set>
                                      <p:cBhvr>
                                        <p:cTn id="94" dur="1" fill="hold">
                                          <p:stCondLst>
                                            <p:cond delay="0"/>
                                          </p:stCondLst>
                                        </p:cTn>
                                        <p:tgtEl>
                                          <p:spTgt spid="2430"/>
                                        </p:tgtEl>
                                        <p:attrNameLst>
                                          <p:attrName>style.visibility</p:attrName>
                                        </p:attrNameLst>
                                      </p:cBhvr>
                                      <p:to>
                                        <p:strVal val="visible"/>
                                      </p:to>
                                    </p:set>
                                    <p:anim calcmode="lin" valueType="num">
                                      <p:cBhvr>
                                        <p:cTn id="95" dur="500" fill="hold"/>
                                        <p:tgtEl>
                                          <p:spTgt spid="2430"/>
                                        </p:tgtEl>
                                        <p:attrNameLst>
                                          <p:attrName>ppt_w</p:attrName>
                                        </p:attrNameLst>
                                      </p:cBhvr>
                                      <p:tavLst>
                                        <p:tav tm="0">
                                          <p:val>
                                            <p:fltVal val="0"/>
                                          </p:val>
                                        </p:tav>
                                        <p:tav tm="100000">
                                          <p:val>
                                            <p:strVal val="#ppt_w"/>
                                          </p:val>
                                        </p:tav>
                                      </p:tavLst>
                                    </p:anim>
                                    <p:anim calcmode="lin" valueType="num">
                                      <p:cBhvr>
                                        <p:cTn id="96" dur="500" fill="hold"/>
                                        <p:tgtEl>
                                          <p:spTgt spid="2430"/>
                                        </p:tgtEl>
                                        <p:attrNameLst>
                                          <p:attrName>ppt_h</p:attrName>
                                        </p:attrNameLst>
                                      </p:cBhvr>
                                      <p:tavLst>
                                        <p:tav tm="0">
                                          <p:val>
                                            <p:fltVal val="0"/>
                                          </p:val>
                                        </p:tav>
                                        <p:tav tm="100000">
                                          <p:val>
                                            <p:strVal val="#ppt_h"/>
                                          </p:val>
                                        </p:tav>
                                      </p:tavLst>
                                    </p:anim>
                                    <p:animEffect transition="in" filter="fade">
                                      <p:cBhvr>
                                        <p:cTn id="97" dur="500"/>
                                        <p:tgtEl>
                                          <p:spTgt spid="2430"/>
                                        </p:tgtEl>
                                      </p:cBhvr>
                                    </p:animEffect>
                                  </p:childTnLst>
                                </p:cTn>
                              </p:par>
                              <p:par>
                                <p:cTn id="98" presetID="53" presetClass="entr" presetSubtype="16" fill="hold" grpId="0" nodeType="withEffect">
                                  <p:stCondLst>
                                    <p:cond delay="250"/>
                                  </p:stCondLst>
                                  <p:childTnLst>
                                    <p:set>
                                      <p:cBhvr>
                                        <p:cTn id="99" dur="1" fill="hold">
                                          <p:stCondLst>
                                            <p:cond delay="0"/>
                                          </p:stCondLst>
                                        </p:cTn>
                                        <p:tgtEl>
                                          <p:spTgt spid="2431"/>
                                        </p:tgtEl>
                                        <p:attrNameLst>
                                          <p:attrName>style.visibility</p:attrName>
                                        </p:attrNameLst>
                                      </p:cBhvr>
                                      <p:to>
                                        <p:strVal val="visible"/>
                                      </p:to>
                                    </p:set>
                                    <p:anim calcmode="lin" valueType="num">
                                      <p:cBhvr>
                                        <p:cTn id="100" dur="500" fill="hold"/>
                                        <p:tgtEl>
                                          <p:spTgt spid="2431"/>
                                        </p:tgtEl>
                                        <p:attrNameLst>
                                          <p:attrName>ppt_w</p:attrName>
                                        </p:attrNameLst>
                                      </p:cBhvr>
                                      <p:tavLst>
                                        <p:tav tm="0">
                                          <p:val>
                                            <p:fltVal val="0"/>
                                          </p:val>
                                        </p:tav>
                                        <p:tav tm="100000">
                                          <p:val>
                                            <p:strVal val="#ppt_w"/>
                                          </p:val>
                                        </p:tav>
                                      </p:tavLst>
                                    </p:anim>
                                    <p:anim calcmode="lin" valueType="num">
                                      <p:cBhvr>
                                        <p:cTn id="101" dur="500" fill="hold"/>
                                        <p:tgtEl>
                                          <p:spTgt spid="2431"/>
                                        </p:tgtEl>
                                        <p:attrNameLst>
                                          <p:attrName>ppt_h</p:attrName>
                                        </p:attrNameLst>
                                      </p:cBhvr>
                                      <p:tavLst>
                                        <p:tav tm="0">
                                          <p:val>
                                            <p:fltVal val="0"/>
                                          </p:val>
                                        </p:tav>
                                        <p:tav tm="100000">
                                          <p:val>
                                            <p:strVal val="#ppt_h"/>
                                          </p:val>
                                        </p:tav>
                                      </p:tavLst>
                                    </p:anim>
                                    <p:animEffect transition="in" filter="fade">
                                      <p:cBhvr>
                                        <p:cTn id="102" dur="500"/>
                                        <p:tgtEl>
                                          <p:spTgt spid="2431"/>
                                        </p:tgtEl>
                                      </p:cBhvr>
                                    </p:animEffect>
                                  </p:childTnLst>
                                </p:cTn>
                              </p:par>
                              <p:par>
                                <p:cTn id="103" presetID="53" presetClass="entr" presetSubtype="16" fill="hold" grpId="0" nodeType="withEffect">
                                  <p:stCondLst>
                                    <p:cond delay="250"/>
                                  </p:stCondLst>
                                  <p:childTnLst>
                                    <p:set>
                                      <p:cBhvr>
                                        <p:cTn id="104" dur="1" fill="hold">
                                          <p:stCondLst>
                                            <p:cond delay="0"/>
                                          </p:stCondLst>
                                        </p:cTn>
                                        <p:tgtEl>
                                          <p:spTgt spid="2432"/>
                                        </p:tgtEl>
                                        <p:attrNameLst>
                                          <p:attrName>style.visibility</p:attrName>
                                        </p:attrNameLst>
                                      </p:cBhvr>
                                      <p:to>
                                        <p:strVal val="visible"/>
                                      </p:to>
                                    </p:set>
                                    <p:anim calcmode="lin" valueType="num">
                                      <p:cBhvr>
                                        <p:cTn id="105" dur="500" fill="hold"/>
                                        <p:tgtEl>
                                          <p:spTgt spid="2432"/>
                                        </p:tgtEl>
                                        <p:attrNameLst>
                                          <p:attrName>ppt_w</p:attrName>
                                        </p:attrNameLst>
                                      </p:cBhvr>
                                      <p:tavLst>
                                        <p:tav tm="0">
                                          <p:val>
                                            <p:fltVal val="0"/>
                                          </p:val>
                                        </p:tav>
                                        <p:tav tm="100000">
                                          <p:val>
                                            <p:strVal val="#ppt_w"/>
                                          </p:val>
                                        </p:tav>
                                      </p:tavLst>
                                    </p:anim>
                                    <p:anim calcmode="lin" valueType="num">
                                      <p:cBhvr>
                                        <p:cTn id="106" dur="500" fill="hold"/>
                                        <p:tgtEl>
                                          <p:spTgt spid="2432"/>
                                        </p:tgtEl>
                                        <p:attrNameLst>
                                          <p:attrName>ppt_h</p:attrName>
                                        </p:attrNameLst>
                                      </p:cBhvr>
                                      <p:tavLst>
                                        <p:tav tm="0">
                                          <p:val>
                                            <p:fltVal val="0"/>
                                          </p:val>
                                        </p:tav>
                                        <p:tav tm="100000">
                                          <p:val>
                                            <p:strVal val="#ppt_h"/>
                                          </p:val>
                                        </p:tav>
                                      </p:tavLst>
                                    </p:anim>
                                    <p:animEffect transition="in" filter="fade">
                                      <p:cBhvr>
                                        <p:cTn id="107" dur="500"/>
                                        <p:tgtEl>
                                          <p:spTgt spid="2432"/>
                                        </p:tgtEl>
                                      </p:cBhvr>
                                    </p:animEffect>
                                  </p:childTnLst>
                                </p:cTn>
                              </p:par>
                              <p:par>
                                <p:cTn id="108" presetID="53" presetClass="entr" presetSubtype="16" fill="hold" grpId="0" nodeType="withEffect">
                                  <p:stCondLst>
                                    <p:cond delay="250"/>
                                  </p:stCondLst>
                                  <p:childTnLst>
                                    <p:set>
                                      <p:cBhvr>
                                        <p:cTn id="109" dur="1" fill="hold">
                                          <p:stCondLst>
                                            <p:cond delay="0"/>
                                          </p:stCondLst>
                                        </p:cTn>
                                        <p:tgtEl>
                                          <p:spTgt spid="2433"/>
                                        </p:tgtEl>
                                        <p:attrNameLst>
                                          <p:attrName>style.visibility</p:attrName>
                                        </p:attrNameLst>
                                      </p:cBhvr>
                                      <p:to>
                                        <p:strVal val="visible"/>
                                      </p:to>
                                    </p:set>
                                    <p:anim calcmode="lin" valueType="num">
                                      <p:cBhvr>
                                        <p:cTn id="110" dur="500" fill="hold"/>
                                        <p:tgtEl>
                                          <p:spTgt spid="2433"/>
                                        </p:tgtEl>
                                        <p:attrNameLst>
                                          <p:attrName>ppt_w</p:attrName>
                                        </p:attrNameLst>
                                      </p:cBhvr>
                                      <p:tavLst>
                                        <p:tav tm="0">
                                          <p:val>
                                            <p:fltVal val="0"/>
                                          </p:val>
                                        </p:tav>
                                        <p:tav tm="100000">
                                          <p:val>
                                            <p:strVal val="#ppt_w"/>
                                          </p:val>
                                        </p:tav>
                                      </p:tavLst>
                                    </p:anim>
                                    <p:anim calcmode="lin" valueType="num">
                                      <p:cBhvr>
                                        <p:cTn id="111" dur="500" fill="hold"/>
                                        <p:tgtEl>
                                          <p:spTgt spid="2433"/>
                                        </p:tgtEl>
                                        <p:attrNameLst>
                                          <p:attrName>ppt_h</p:attrName>
                                        </p:attrNameLst>
                                      </p:cBhvr>
                                      <p:tavLst>
                                        <p:tav tm="0">
                                          <p:val>
                                            <p:fltVal val="0"/>
                                          </p:val>
                                        </p:tav>
                                        <p:tav tm="100000">
                                          <p:val>
                                            <p:strVal val="#ppt_h"/>
                                          </p:val>
                                        </p:tav>
                                      </p:tavLst>
                                    </p:anim>
                                    <p:animEffect transition="in" filter="fade">
                                      <p:cBhvr>
                                        <p:cTn id="112" dur="500"/>
                                        <p:tgtEl>
                                          <p:spTgt spid="2433"/>
                                        </p:tgtEl>
                                      </p:cBhvr>
                                    </p:animEffect>
                                  </p:childTnLst>
                                </p:cTn>
                              </p:par>
                              <p:par>
                                <p:cTn id="113" presetID="53" presetClass="entr" presetSubtype="16" fill="hold" grpId="0" nodeType="withEffect">
                                  <p:stCondLst>
                                    <p:cond delay="250"/>
                                  </p:stCondLst>
                                  <p:childTnLst>
                                    <p:set>
                                      <p:cBhvr>
                                        <p:cTn id="114" dur="1" fill="hold">
                                          <p:stCondLst>
                                            <p:cond delay="0"/>
                                          </p:stCondLst>
                                        </p:cTn>
                                        <p:tgtEl>
                                          <p:spTgt spid="2434"/>
                                        </p:tgtEl>
                                        <p:attrNameLst>
                                          <p:attrName>style.visibility</p:attrName>
                                        </p:attrNameLst>
                                      </p:cBhvr>
                                      <p:to>
                                        <p:strVal val="visible"/>
                                      </p:to>
                                    </p:set>
                                    <p:anim calcmode="lin" valueType="num">
                                      <p:cBhvr>
                                        <p:cTn id="115" dur="500" fill="hold"/>
                                        <p:tgtEl>
                                          <p:spTgt spid="2434"/>
                                        </p:tgtEl>
                                        <p:attrNameLst>
                                          <p:attrName>ppt_w</p:attrName>
                                        </p:attrNameLst>
                                      </p:cBhvr>
                                      <p:tavLst>
                                        <p:tav tm="0">
                                          <p:val>
                                            <p:fltVal val="0"/>
                                          </p:val>
                                        </p:tav>
                                        <p:tav tm="100000">
                                          <p:val>
                                            <p:strVal val="#ppt_w"/>
                                          </p:val>
                                        </p:tav>
                                      </p:tavLst>
                                    </p:anim>
                                    <p:anim calcmode="lin" valueType="num">
                                      <p:cBhvr>
                                        <p:cTn id="116" dur="500" fill="hold"/>
                                        <p:tgtEl>
                                          <p:spTgt spid="2434"/>
                                        </p:tgtEl>
                                        <p:attrNameLst>
                                          <p:attrName>ppt_h</p:attrName>
                                        </p:attrNameLst>
                                      </p:cBhvr>
                                      <p:tavLst>
                                        <p:tav tm="0">
                                          <p:val>
                                            <p:fltVal val="0"/>
                                          </p:val>
                                        </p:tav>
                                        <p:tav tm="100000">
                                          <p:val>
                                            <p:strVal val="#ppt_h"/>
                                          </p:val>
                                        </p:tav>
                                      </p:tavLst>
                                    </p:anim>
                                    <p:animEffect transition="in" filter="fade">
                                      <p:cBhvr>
                                        <p:cTn id="117" dur="500"/>
                                        <p:tgtEl>
                                          <p:spTgt spid="2434"/>
                                        </p:tgtEl>
                                      </p:cBhvr>
                                    </p:animEffect>
                                  </p:childTnLst>
                                </p:cTn>
                              </p:par>
                              <p:par>
                                <p:cTn id="118" presetID="53" presetClass="entr" presetSubtype="16" fill="hold" grpId="0" nodeType="withEffect">
                                  <p:stCondLst>
                                    <p:cond delay="250"/>
                                  </p:stCondLst>
                                  <p:childTnLst>
                                    <p:set>
                                      <p:cBhvr>
                                        <p:cTn id="119" dur="1" fill="hold">
                                          <p:stCondLst>
                                            <p:cond delay="0"/>
                                          </p:stCondLst>
                                        </p:cTn>
                                        <p:tgtEl>
                                          <p:spTgt spid="2435"/>
                                        </p:tgtEl>
                                        <p:attrNameLst>
                                          <p:attrName>style.visibility</p:attrName>
                                        </p:attrNameLst>
                                      </p:cBhvr>
                                      <p:to>
                                        <p:strVal val="visible"/>
                                      </p:to>
                                    </p:set>
                                    <p:anim calcmode="lin" valueType="num">
                                      <p:cBhvr>
                                        <p:cTn id="120" dur="500" fill="hold"/>
                                        <p:tgtEl>
                                          <p:spTgt spid="2435"/>
                                        </p:tgtEl>
                                        <p:attrNameLst>
                                          <p:attrName>ppt_w</p:attrName>
                                        </p:attrNameLst>
                                      </p:cBhvr>
                                      <p:tavLst>
                                        <p:tav tm="0">
                                          <p:val>
                                            <p:fltVal val="0"/>
                                          </p:val>
                                        </p:tav>
                                        <p:tav tm="100000">
                                          <p:val>
                                            <p:strVal val="#ppt_w"/>
                                          </p:val>
                                        </p:tav>
                                      </p:tavLst>
                                    </p:anim>
                                    <p:anim calcmode="lin" valueType="num">
                                      <p:cBhvr>
                                        <p:cTn id="121" dur="500" fill="hold"/>
                                        <p:tgtEl>
                                          <p:spTgt spid="2435"/>
                                        </p:tgtEl>
                                        <p:attrNameLst>
                                          <p:attrName>ppt_h</p:attrName>
                                        </p:attrNameLst>
                                      </p:cBhvr>
                                      <p:tavLst>
                                        <p:tav tm="0">
                                          <p:val>
                                            <p:fltVal val="0"/>
                                          </p:val>
                                        </p:tav>
                                        <p:tav tm="100000">
                                          <p:val>
                                            <p:strVal val="#ppt_h"/>
                                          </p:val>
                                        </p:tav>
                                      </p:tavLst>
                                    </p:anim>
                                    <p:animEffect transition="in" filter="fade">
                                      <p:cBhvr>
                                        <p:cTn id="122" dur="500"/>
                                        <p:tgtEl>
                                          <p:spTgt spid="2435"/>
                                        </p:tgtEl>
                                      </p:cBhvr>
                                    </p:animEffect>
                                  </p:childTnLst>
                                </p:cTn>
                              </p:par>
                              <p:par>
                                <p:cTn id="123" presetID="53" presetClass="entr" presetSubtype="16" fill="hold" grpId="0" nodeType="withEffect">
                                  <p:stCondLst>
                                    <p:cond delay="250"/>
                                  </p:stCondLst>
                                  <p:childTnLst>
                                    <p:set>
                                      <p:cBhvr>
                                        <p:cTn id="124" dur="1" fill="hold">
                                          <p:stCondLst>
                                            <p:cond delay="0"/>
                                          </p:stCondLst>
                                        </p:cTn>
                                        <p:tgtEl>
                                          <p:spTgt spid="2436"/>
                                        </p:tgtEl>
                                        <p:attrNameLst>
                                          <p:attrName>style.visibility</p:attrName>
                                        </p:attrNameLst>
                                      </p:cBhvr>
                                      <p:to>
                                        <p:strVal val="visible"/>
                                      </p:to>
                                    </p:set>
                                    <p:anim calcmode="lin" valueType="num">
                                      <p:cBhvr>
                                        <p:cTn id="125" dur="500" fill="hold"/>
                                        <p:tgtEl>
                                          <p:spTgt spid="2436"/>
                                        </p:tgtEl>
                                        <p:attrNameLst>
                                          <p:attrName>ppt_w</p:attrName>
                                        </p:attrNameLst>
                                      </p:cBhvr>
                                      <p:tavLst>
                                        <p:tav tm="0">
                                          <p:val>
                                            <p:fltVal val="0"/>
                                          </p:val>
                                        </p:tav>
                                        <p:tav tm="100000">
                                          <p:val>
                                            <p:strVal val="#ppt_w"/>
                                          </p:val>
                                        </p:tav>
                                      </p:tavLst>
                                    </p:anim>
                                    <p:anim calcmode="lin" valueType="num">
                                      <p:cBhvr>
                                        <p:cTn id="126" dur="500" fill="hold"/>
                                        <p:tgtEl>
                                          <p:spTgt spid="2436"/>
                                        </p:tgtEl>
                                        <p:attrNameLst>
                                          <p:attrName>ppt_h</p:attrName>
                                        </p:attrNameLst>
                                      </p:cBhvr>
                                      <p:tavLst>
                                        <p:tav tm="0">
                                          <p:val>
                                            <p:fltVal val="0"/>
                                          </p:val>
                                        </p:tav>
                                        <p:tav tm="100000">
                                          <p:val>
                                            <p:strVal val="#ppt_h"/>
                                          </p:val>
                                        </p:tav>
                                      </p:tavLst>
                                    </p:anim>
                                    <p:animEffect transition="in" filter="fade">
                                      <p:cBhvr>
                                        <p:cTn id="127" dur="500"/>
                                        <p:tgtEl>
                                          <p:spTgt spid="2436"/>
                                        </p:tgtEl>
                                      </p:cBhvr>
                                    </p:animEffect>
                                  </p:childTnLst>
                                </p:cTn>
                              </p:par>
                              <p:par>
                                <p:cTn id="128" presetID="53" presetClass="entr" presetSubtype="16" fill="hold" grpId="0" nodeType="withEffect">
                                  <p:stCondLst>
                                    <p:cond delay="250"/>
                                  </p:stCondLst>
                                  <p:childTnLst>
                                    <p:set>
                                      <p:cBhvr>
                                        <p:cTn id="129" dur="1" fill="hold">
                                          <p:stCondLst>
                                            <p:cond delay="0"/>
                                          </p:stCondLst>
                                        </p:cTn>
                                        <p:tgtEl>
                                          <p:spTgt spid="2437"/>
                                        </p:tgtEl>
                                        <p:attrNameLst>
                                          <p:attrName>style.visibility</p:attrName>
                                        </p:attrNameLst>
                                      </p:cBhvr>
                                      <p:to>
                                        <p:strVal val="visible"/>
                                      </p:to>
                                    </p:set>
                                    <p:anim calcmode="lin" valueType="num">
                                      <p:cBhvr>
                                        <p:cTn id="130" dur="500" fill="hold"/>
                                        <p:tgtEl>
                                          <p:spTgt spid="2437"/>
                                        </p:tgtEl>
                                        <p:attrNameLst>
                                          <p:attrName>ppt_w</p:attrName>
                                        </p:attrNameLst>
                                      </p:cBhvr>
                                      <p:tavLst>
                                        <p:tav tm="0">
                                          <p:val>
                                            <p:fltVal val="0"/>
                                          </p:val>
                                        </p:tav>
                                        <p:tav tm="100000">
                                          <p:val>
                                            <p:strVal val="#ppt_w"/>
                                          </p:val>
                                        </p:tav>
                                      </p:tavLst>
                                    </p:anim>
                                    <p:anim calcmode="lin" valueType="num">
                                      <p:cBhvr>
                                        <p:cTn id="131" dur="500" fill="hold"/>
                                        <p:tgtEl>
                                          <p:spTgt spid="2437"/>
                                        </p:tgtEl>
                                        <p:attrNameLst>
                                          <p:attrName>ppt_h</p:attrName>
                                        </p:attrNameLst>
                                      </p:cBhvr>
                                      <p:tavLst>
                                        <p:tav tm="0">
                                          <p:val>
                                            <p:fltVal val="0"/>
                                          </p:val>
                                        </p:tav>
                                        <p:tav tm="100000">
                                          <p:val>
                                            <p:strVal val="#ppt_h"/>
                                          </p:val>
                                        </p:tav>
                                      </p:tavLst>
                                    </p:anim>
                                    <p:animEffect transition="in" filter="fade">
                                      <p:cBhvr>
                                        <p:cTn id="132" dur="500"/>
                                        <p:tgtEl>
                                          <p:spTgt spid="2437"/>
                                        </p:tgtEl>
                                      </p:cBhvr>
                                    </p:animEffect>
                                  </p:childTnLst>
                                </p:cTn>
                              </p:par>
                              <p:par>
                                <p:cTn id="133" presetID="53" presetClass="entr" presetSubtype="16" fill="hold" grpId="0" nodeType="withEffect">
                                  <p:stCondLst>
                                    <p:cond delay="250"/>
                                  </p:stCondLst>
                                  <p:childTnLst>
                                    <p:set>
                                      <p:cBhvr>
                                        <p:cTn id="134" dur="1" fill="hold">
                                          <p:stCondLst>
                                            <p:cond delay="0"/>
                                          </p:stCondLst>
                                        </p:cTn>
                                        <p:tgtEl>
                                          <p:spTgt spid="2438"/>
                                        </p:tgtEl>
                                        <p:attrNameLst>
                                          <p:attrName>style.visibility</p:attrName>
                                        </p:attrNameLst>
                                      </p:cBhvr>
                                      <p:to>
                                        <p:strVal val="visible"/>
                                      </p:to>
                                    </p:set>
                                    <p:anim calcmode="lin" valueType="num">
                                      <p:cBhvr>
                                        <p:cTn id="135" dur="500" fill="hold"/>
                                        <p:tgtEl>
                                          <p:spTgt spid="2438"/>
                                        </p:tgtEl>
                                        <p:attrNameLst>
                                          <p:attrName>ppt_w</p:attrName>
                                        </p:attrNameLst>
                                      </p:cBhvr>
                                      <p:tavLst>
                                        <p:tav tm="0">
                                          <p:val>
                                            <p:fltVal val="0"/>
                                          </p:val>
                                        </p:tav>
                                        <p:tav tm="100000">
                                          <p:val>
                                            <p:strVal val="#ppt_w"/>
                                          </p:val>
                                        </p:tav>
                                      </p:tavLst>
                                    </p:anim>
                                    <p:anim calcmode="lin" valueType="num">
                                      <p:cBhvr>
                                        <p:cTn id="136" dur="500" fill="hold"/>
                                        <p:tgtEl>
                                          <p:spTgt spid="2438"/>
                                        </p:tgtEl>
                                        <p:attrNameLst>
                                          <p:attrName>ppt_h</p:attrName>
                                        </p:attrNameLst>
                                      </p:cBhvr>
                                      <p:tavLst>
                                        <p:tav tm="0">
                                          <p:val>
                                            <p:fltVal val="0"/>
                                          </p:val>
                                        </p:tav>
                                        <p:tav tm="100000">
                                          <p:val>
                                            <p:strVal val="#ppt_h"/>
                                          </p:val>
                                        </p:tav>
                                      </p:tavLst>
                                    </p:anim>
                                    <p:animEffect transition="in" filter="fade">
                                      <p:cBhvr>
                                        <p:cTn id="137" dur="500"/>
                                        <p:tgtEl>
                                          <p:spTgt spid="2438"/>
                                        </p:tgtEl>
                                      </p:cBhvr>
                                    </p:animEffect>
                                  </p:childTnLst>
                                </p:cTn>
                              </p:par>
                              <p:par>
                                <p:cTn id="138" presetID="53" presetClass="entr" presetSubtype="16" fill="hold" grpId="0" nodeType="withEffect">
                                  <p:stCondLst>
                                    <p:cond delay="250"/>
                                  </p:stCondLst>
                                  <p:childTnLst>
                                    <p:set>
                                      <p:cBhvr>
                                        <p:cTn id="139" dur="1" fill="hold">
                                          <p:stCondLst>
                                            <p:cond delay="0"/>
                                          </p:stCondLst>
                                        </p:cTn>
                                        <p:tgtEl>
                                          <p:spTgt spid="2439"/>
                                        </p:tgtEl>
                                        <p:attrNameLst>
                                          <p:attrName>style.visibility</p:attrName>
                                        </p:attrNameLst>
                                      </p:cBhvr>
                                      <p:to>
                                        <p:strVal val="visible"/>
                                      </p:to>
                                    </p:set>
                                    <p:anim calcmode="lin" valueType="num">
                                      <p:cBhvr>
                                        <p:cTn id="140" dur="500" fill="hold"/>
                                        <p:tgtEl>
                                          <p:spTgt spid="2439"/>
                                        </p:tgtEl>
                                        <p:attrNameLst>
                                          <p:attrName>ppt_w</p:attrName>
                                        </p:attrNameLst>
                                      </p:cBhvr>
                                      <p:tavLst>
                                        <p:tav tm="0">
                                          <p:val>
                                            <p:fltVal val="0"/>
                                          </p:val>
                                        </p:tav>
                                        <p:tav tm="100000">
                                          <p:val>
                                            <p:strVal val="#ppt_w"/>
                                          </p:val>
                                        </p:tav>
                                      </p:tavLst>
                                    </p:anim>
                                    <p:anim calcmode="lin" valueType="num">
                                      <p:cBhvr>
                                        <p:cTn id="141" dur="500" fill="hold"/>
                                        <p:tgtEl>
                                          <p:spTgt spid="2439"/>
                                        </p:tgtEl>
                                        <p:attrNameLst>
                                          <p:attrName>ppt_h</p:attrName>
                                        </p:attrNameLst>
                                      </p:cBhvr>
                                      <p:tavLst>
                                        <p:tav tm="0">
                                          <p:val>
                                            <p:fltVal val="0"/>
                                          </p:val>
                                        </p:tav>
                                        <p:tav tm="100000">
                                          <p:val>
                                            <p:strVal val="#ppt_h"/>
                                          </p:val>
                                        </p:tav>
                                      </p:tavLst>
                                    </p:anim>
                                    <p:animEffect transition="in" filter="fade">
                                      <p:cBhvr>
                                        <p:cTn id="142" dur="500"/>
                                        <p:tgtEl>
                                          <p:spTgt spid="2439"/>
                                        </p:tgtEl>
                                      </p:cBhvr>
                                    </p:animEffect>
                                  </p:childTnLst>
                                </p:cTn>
                              </p:par>
                              <p:par>
                                <p:cTn id="143" presetID="53" presetClass="entr" presetSubtype="16" fill="hold" grpId="0" nodeType="withEffect">
                                  <p:stCondLst>
                                    <p:cond delay="250"/>
                                  </p:stCondLst>
                                  <p:childTnLst>
                                    <p:set>
                                      <p:cBhvr>
                                        <p:cTn id="144" dur="1" fill="hold">
                                          <p:stCondLst>
                                            <p:cond delay="0"/>
                                          </p:stCondLst>
                                        </p:cTn>
                                        <p:tgtEl>
                                          <p:spTgt spid="2440"/>
                                        </p:tgtEl>
                                        <p:attrNameLst>
                                          <p:attrName>style.visibility</p:attrName>
                                        </p:attrNameLst>
                                      </p:cBhvr>
                                      <p:to>
                                        <p:strVal val="visible"/>
                                      </p:to>
                                    </p:set>
                                    <p:anim calcmode="lin" valueType="num">
                                      <p:cBhvr>
                                        <p:cTn id="145" dur="500" fill="hold"/>
                                        <p:tgtEl>
                                          <p:spTgt spid="2440"/>
                                        </p:tgtEl>
                                        <p:attrNameLst>
                                          <p:attrName>ppt_w</p:attrName>
                                        </p:attrNameLst>
                                      </p:cBhvr>
                                      <p:tavLst>
                                        <p:tav tm="0">
                                          <p:val>
                                            <p:fltVal val="0"/>
                                          </p:val>
                                        </p:tav>
                                        <p:tav tm="100000">
                                          <p:val>
                                            <p:strVal val="#ppt_w"/>
                                          </p:val>
                                        </p:tav>
                                      </p:tavLst>
                                    </p:anim>
                                    <p:anim calcmode="lin" valueType="num">
                                      <p:cBhvr>
                                        <p:cTn id="146" dur="500" fill="hold"/>
                                        <p:tgtEl>
                                          <p:spTgt spid="2440"/>
                                        </p:tgtEl>
                                        <p:attrNameLst>
                                          <p:attrName>ppt_h</p:attrName>
                                        </p:attrNameLst>
                                      </p:cBhvr>
                                      <p:tavLst>
                                        <p:tav tm="0">
                                          <p:val>
                                            <p:fltVal val="0"/>
                                          </p:val>
                                        </p:tav>
                                        <p:tav tm="100000">
                                          <p:val>
                                            <p:strVal val="#ppt_h"/>
                                          </p:val>
                                        </p:tav>
                                      </p:tavLst>
                                    </p:anim>
                                    <p:animEffect transition="in" filter="fade">
                                      <p:cBhvr>
                                        <p:cTn id="147" dur="500"/>
                                        <p:tgtEl>
                                          <p:spTgt spid="2440"/>
                                        </p:tgtEl>
                                      </p:cBhvr>
                                    </p:animEffect>
                                  </p:childTnLst>
                                </p:cTn>
                              </p:par>
                              <p:par>
                                <p:cTn id="148" presetID="53" presetClass="entr" presetSubtype="16" fill="hold" grpId="0" nodeType="withEffect">
                                  <p:stCondLst>
                                    <p:cond delay="250"/>
                                  </p:stCondLst>
                                  <p:childTnLst>
                                    <p:set>
                                      <p:cBhvr>
                                        <p:cTn id="149" dur="1" fill="hold">
                                          <p:stCondLst>
                                            <p:cond delay="0"/>
                                          </p:stCondLst>
                                        </p:cTn>
                                        <p:tgtEl>
                                          <p:spTgt spid="2441"/>
                                        </p:tgtEl>
                                        <p:attrNameLst>
                                          <p:attrName>style.visibility</p:attrName>
                                        </p:attrNameLst>
                                      </p:cBhvr>
                                      <p:to>
                                        <p:strVal val="visible"/>
                                      </p:to>
                                    </p:set>
                                    <p:anim calcmode="lin" valueType="num">
                                      <p:cBhvr>
                                        <p:cTn id="150" dur="500" fill="hold"/>
                                        <p:tgtEl>
                                          <p:spTgt spid="2441"/>
                                        </p:tgtEl>
                                        <p:attrNameLst>
                                          <p:attrName>ppt_w</p:attrName>
                                        </p:attrNameLst>
                                      </p:cBhvr>
                                      <p:tavLst>
                                        <p:tav tm="0">
                                          <p:val>
                                            <p:fltVal val="0"/>
                                          </p:val>
                                        </p:tav>
                                        <p:tav tm="100000">
                                          <p:val>
                                            <p:strVal val="#ppt_w"/>
                                          </p:val>
                                        </p:tav>
                                      </p:tavLst>
                                    </p:anim>
                                    <p:anim calcmode="lin" valueType="num">
                                      <p:cBhvr>
                                        <p:cTn id="151" dur="500" fill="hold"/>
                                        <p:tgtEl>
                                          <p:spTgt spid="2441"/>
                                        </p:tgtEl>
                                        <p:attrNameLst>
                                          <p:attrName>ppt_h</p:attrName>
                                        </p:attrNameLst>
                                      </p:cBhvr>
                                      <p:tavLst>
                                        <p:tav tm="0">
                                          <p:val>
                                            <p:fltVal val="0"/>
                                          </p:val>
                                        </p:tav>
                                        <p:tav tm="100000">
                                          <p:val>
                                            <p:strVal val="#ppt_h"/>
                                          </p:val>
                                        </p:tav>
                                      </p:tavLst>
                                    </p:anim>
                                    <p:animEffect transition="in" filter="fade">
                                      <p:cBhvr>
                                        <p:cTn id="152" dur="500"/>
                                        <p:tgtEl>
                                          <p:spTgt spid="2441"/>
                                        </p:tgtEl>
                                      </p:cBhvr>
                                    </p:animEffect>
                                  </p:childTnLst>
                                </p:cTn>
                              </p:par>
                              <p:par>
                                <p:cTn id="153" presetID="53" presetClass="entr" presetSubtype="16" fill="hold" grpId="0" nodeType="withEffect">
                                  <p:stCondLst>
                                    <p:cond delay="250"/>
                                  </p:stCondLst>
                                  <p:childTnLst>
                                    <p:set>
                                      <p:cBhvr>
                                        <p:cTn id="154" dur="1" fill="hold">
                                          <p:stCondLst>
                                            <p:cond delay="0"/>
                                          </p:stCondLst>
                                        </p:cTn>
                                        <p:tgtEl>
                                          <p:spTgt spid="2442"/>
                                        </p:tgtEl>
                                        <p:attrNameLst>
                                          <p:attrName>style.visibility</p:attrName>
                                        </p:attrNameLst>
                                      </p:cBhvr>
                                      <p:to>
                                        <p:strVal val="visible"/>
                                      </p:to>
                                    </p:set>
                                    <p:anim calcmode="lin" valueType="num">
                                      <p:cBhvr>
                                        <p:cTn id="155" dur="500" fill="hold"/>
                                        <p:tgtEl>
                                          <p:spTgt spid="2442"/>
                                        </p:tgtEl>
                                        <p:attrNameLst>
                                          <p:attrName>ppt_w</p:attrName>
                                        </p:attrNameLst>
                                      </p:cBhvr>
                                      <p:tavLst>
                                        <p:tav tm="0">
                                          <p:val>
                                            <p:fltVal val="0"/>
                                          </p:val>
                                        </p:tav>
                                        <p:tav tm="100000">
                                          <p:val>
                                            <p:strVal val="#ppt_w"/>
                                          </p:val>
                                        </p:tav>
                                      </p:tavLst>
                                    </p:anim>
                                    <p:anim calcmode="lin" valueType="num">
                                      <p:cBhvr>
                                        <p:cTn id="156" dur="500" fill="hold"/>
                                        <p:tgtEl>
                                          <p:spTgt spid="2442"/>
                                        </p:tgtEl>
                                        <p:attrNameLst>
                                          <p:attrName>ppt_h</p:attrName>
                                        </p:attrNameLst>
                                      </p:cBhvr>
                                      <p:tavLst>
                                        <p:tav tm="0">
                                          <p:val>
                                            <p:fltVal val="0"/>
                                          </p:val>
                                        </p:tav>
                                        <p:tav tm="100000">
                                          <p:val>
                                            <p:strVal val="#ppt_h"/>
                                          </p:val>
                                        </p:tav>
                                      </p:tavLst>
                                    </p:anim>
                                    <p:animEffect transition="in" filter="fade">
                                      <p:cBhvr>
                                        <p:cTn id="157" dur="500"/>
                                        <p:tgtEl>
                                          <p:spTgt spid="2442"/>
                                        </p:tgtEl>
                                      </p:cBhvr>
                                    </p:animEffect>
                                  </p:childTnLst>
                                </p:cTn>
                              </p:par>
                              <p:par>
                                <p:cTn id="158" presetID="53" presetClass="entr" presetSubtype="16" fill="hold" grpId="0" nodeType="withEffect">
                                  <p:stCondLst>
                                    <p:cond delay="250"/>
                                  </p:stCondLst>
                                  <p:childTnLst>
                                    <p:set>
                                      <p:cBhvr>
                                        <p:cTn id="159" dur="1" fill="hold">
                                          <p:stCondLst>
                                            <p:cond delay="0"/>
                                          </p:stCondLst>
                                        </p:cTn>
                                        <p:tgtEl>
                                          <p:spTgt spid="2443"/>
                                        </p:tgtEl>
                                        <p:attrNameLst>
                                          <p:attrName>style.visibility</p:attrName>
                                        </p:attrNameLst>
                                      </p:cBhvr>
                                      <p:to>
                                        <p:strVal val="visible"/>
                                      </p:to>
                                    </p:set>
                                    <p:anim calcmode="lin" valueType="num">
                                      <p:cBhvr>
                                        <p:cTn id="160" dur="500" fill="hold"/>
                                        <p:tgtEl>
                                          <p:spTgt spid="2443"/>
                                        </p:tgtEl>
                                        <p:attrNameLst>
                                          <p:attrName>ppt_w</p:attrName>
                                        </p:attrNameLst>
                                      </p:cBhvr>
                                      <p:tavLst>
                                        <p:tav tm="0">
                                          <p:val>
                                            <p:fltVal val="0"/>
                                          </p:val>
                                        </p:tav>
                                        <p:tav tm="100000">
                                          <p:val>
                                            <p:strVal val="#ppt_w"/>
                                          </p:val>
                                        </p:tav>
                                      </p:tavLst>
                                    </p:anim>
                                    <p:anim calcmode="lin" valueType="num">
                                      <p:cBhvr>
                                        <p:cTn id="161" dur="500" fill="hold"/>
                                        <p:tgtEl>
                                          <p:spTgt spid="2443"/>
                                        </p:tgtEl>
                                        <p:attrNameLst>
                                          <p:attrName>ppt_h</p:attrName>
                                        </p:attrNameLst>
                                      </p:cBhvr>
                                      <p:tavLst>
                                        <p:tav tm="0">
                                          <p:val>
                                            <p:fltVal val="0"/>
                                          </p:val>
                                        </p:tav>
                                        <p:tav tm="100000">
                                          <p:val>
                                            <p:strVal val="#ppt_h"/>
                                          </p:val>
                                        </p:tav>
                                      </p:tavLst>
                                    </p:anim>
                                    <p:animEffect transition="in" filter="fade">
                                      <p:cBhvr>
                                        <p:cTn id="162" dur="500"/>
                                        <p:tgtEl>
                                          <p:spTgt spid="2443"/>
                                        </p:tgtEl>
                                      </p:cBhvr>
                                    </p:animEffect>
                                  </p:childTnLst>
                                </p:cTn>
                              </p:par>
                              <p:par>
                                <p:cTn id="163" presetID="53" presetClass="entr" presetSubtype="16" fill="hold" grpId="0" nodeType="withEffect">
                                  <p:stCondLst>
                                    <p:cond delay="250"/>
                                  </p:stCondLst>
                                  <p:childTnLst>
                                    <p:set>
                                      <p:cBhvr>
                                        <p:cTn id="164" dur="1" fill="hold">
                                          <p:stCondLst>
                                            <p:cond delay="0"/>
                                          </p:stCondLst>
                                        </p:cTn>
                                        <p:tgtEl>
                                          <p:spTgt spid="2444"/>
                                        </p:tgtEl>
                                        <p:attrNameLst>
                                          <p:attrName>style.visibility</p:attrName>
                                        </p:attrNameLst>
                                      </p:cBhvr>
                                      <p:to>
                                        <p:strVal val="visible"/>
                                      </p:to>
                                    </p:set>
                                    <p:anim calcmode="lin" valueType="num">
                                      <p:cBhvr>
                                        <p:cTn id="165" dur="500" fill="hold"/>
                                        <p:tgtEl>
                                          <p:spTgt spid="2444"/>
                                        </p:tgtEl>
                                        <p:attrNameLst>
                                          <p:attrName>ppt_w</p:attrName>
                                        </p:attrNameLst>
                                      </p:cBhvr>
                                      <p:tavLst>
                                        <p:tav tm="0">
                                          <p:val>
                                            <p:fltVal val="0"/>
                                          </p:val>
                                        </p:tav>
                                        <p:tav tm="100000">
                                          <p:val>
                                            <p:strVal val="#ppt_w"/>
                                          </p:val>
                                        </p:tav>
                                      </p:tavLst>
                                    </p:anim>
                                    <p:anim calcmode="lin" valueType="num">
                                      <p:cBhvr>
                                        <p:cTn id="166" dur="500" fill="hold"/>
                                        <p:tgtEl>
                                          <p:spTgt spid="2444"/>
                                        </p:tgtEl>
                                        <p:attrNameLst>
                                          <p:attrName>ppt_h</p:attrName>
                                        </p:attrNameLst>
                                      </p:cBhvr>
                                      <p:tavLst>
                                        <p:tav tm="0">
                                          <p:val>
                                            <p:fltVal val="0"/>
                                          </p:val>
                                        </p:tav>
                                        <p:tav tm="100000">
                                          <p:val>
                                            <p:strVal val="#ppt_h"/>
                                          </p:val>
                                        </p:tav>
                                      </p:tavLst>
                                    </p:anim>
                                    <p:animEffect transition="in" filter="fade">
                                      <p:cBhvr>
                                        <p:cTn id="167" dur="500"/>
                                        <p:tgtEl>
                                          <p:spTgt spid="2444"/>
                                        </p:tgtEl>
                                      </p:cBhvr>
                                    </p:animEffect>
                                  </p:childTnLst>
                                </p:cTn>
                              </p:par>
                              <p:par>
                                <p:cTn id="168" presetID="53" presetClass="entr" presetSubtype="16" fill="hold" grpId="0" nodeType="withEffect">
                                  <p:stCondLst>
                                    <p:cond delay="250"/>
                                  </p:stCondLst>
                                  <p:childTnLst>
                                    <p:set>
                                      <p:cBhvr>
                                        <p:cTn id="169" dur="1" fill="hold">
                                          <p:stCondLst>
                                            <p:cond delay="0"/>
                                          </p:stCondLst>
                                        </p:cTn>
                                        <p:tgtEl>
                                          <p:spTgt spid="2447"/>
                                        </p:tgtEl>
                                        <p:attrNameLst>
                                          <p:attrName>style.visibility</p:attrName>
                                        </p:attrNameLst>
                                      </p:cBhvr>
                                      <p:to>
                                        <p:strVal val="visible"/>
                                      </p:to>
                                    </p:set>
                                    <p:anim calcmode="lin" valueType="num">
                                      <p:cBhvr>
                                        <p:cTn id="170" dur="500" fill="hold"/>
                                        <p:tgtEl>
                                          <p:spTgt spid="2447"/>
                                        </p:tgtEl>
                                        <p:attrNameLst>
                                          <p:attrName>ppt_w</p:attrName>
                                        </p:attrNameLst>
                                      </p:cBhvr>
                                      <p:tavLst>
                                        <p:tav tm="0">
                                          <p:val>
                                            <p:fltVal val="0"/>
                                          </p:val>
                                        </p:tav>
                                        <p:tav tm="100000">
                                          <p:val>
                                            <p:strVal val="#ppt_w"/>
                                          </p:val>
                                        </p:tav>
                                      </p:tavLst>
                                    </p:anim>
                                    <p:anim calcmode="lin" valueType="num">
                                      <p:cBhvr>
                                        <p:cTn id="171" dur="500" fill="hold"/>
                                        <p:tgtEl>
                                          <p:spTgt spid="2447"/>
                                        </p:tgtEl>
                                        <p:attrNameLst>
                                          <p:attrName>ppt_h</p:attrName>
                                        </p:attrNameLst>
                                      </p:cBhvr>
                                      <p:tavLst>
                                        <p:tav tm="0">
                                          <p:val>
                                            <p:fltVal val="0"/>
                                          </p:val>
                                        </p:tav>
                                        <p:tav tm="100000">
                                          <p:val>
                                            <p:strVal val="#ppt_h"/>
                                          </p:val>
                                        </p:tav>
                                      </p:tavLst>
                                    </p:anim>
                                    <p:animEffect transition="in" filter="fade">
                                      <p:cBhvr>
                                        <p:cTn id="172" dur="500"/>
                                        <p:tgtEl>
                                          <p:spTgt spid="2447"/>
                                        </p:tgtEl>
                                      </p:cBhvr>
                                    </p:animEffect>
                                  </p:childTnLst>
                                </p:cTn>
                              </p:par>
                              <p:par>
                                <p:cTn id="173" presetID="53" presetClass="entr" presetSubtype="16" fill="hold" grpId="0" nodeType="withEffect">
                                  <p:stCondLst>
                                    <p:cond delay="250"/>
                                  </p:stCondLst>
                                  <p:childTnLst>
                                    <p:set>
                                      <p:cBhvr>
                                        <p:cTn id="174" dur="1" fill="hold">
                                          <p:stCondLst>
                                            <p:cond delay="0"/>
                                          </p:stCondLst>
                                        </p:cTn>
                                        <p:tgtEl>
                                          <p:spTgt spid="2449"/>
                                        </p:tgtEl>
                                        <p:attrNameLst>
                                          <p:attrName>style.visibility</p:attrName>
                                        </p:attrNameLst>
                                      </p:cBhvr>
                                      <p:to>
                                        <p:strVal val="visible"/>
                                      </p:to>
                                    </p:set>
                                    <p:anim calcmode="lin" valueType="num">
                                      <p:cBhvr>
                                        <p:cTn id="175" dur="500" fill="hold"/>
                                        <p:tgtEl>
                                          <p:spTgt spid="2449"/>
                                        </p:tgtEl>
                                        <p:attrNameLst>
                                          <p:attrName>ppt_w</p:attrName>
                                        </p:attrNameLst>
                                      </p:cBhvr>
                                      <p:tavLst>
                                        <p:tav tm="0">
                                          <p:val>
                                            <p:fltVal val="0"/>
                                          </p:val>
                                        </p:tav>
                                        <p:tav tm="100000">
                                          <p:val>
                                            <p:strVal val="#ppt_w"/>
                                          </p:val>
                                        </p:tav>
                                      </p:tavLst>
                                    </p:anim>
                                    <p:anim calcmode="lin" valueType="num">
                                      <p:cBhvr>
                                        <p:cTn id="176" dur="500" fill="hold"/>
                                        <p:tgtEl>
                                          <p:spTgt spid="2449"/>
                                        </p:tgtEl>
                                        <p:attrNameLst>
                                          <p:attrName>ppt_h</p:attrName>
                                        </p:attrNameLst>
                                      </p:cBhvr>
                                      <p:tavLst>
                                        <p:tav tm="0">
                                          <p:val>
                                            <p:fltVal val="0"/>
                                          </p:val>
                                        </p:tav>
                                        <p:tav tm="100000">
                                          <p:val>
                                            <p:strVal val="#ppt_h"/>
                                          </p:val>
                                        </p:tav>
                                      </p:tavLst>
                                    </p:anim>
                                    <p:animEffect transition="in" filter="fade">
                                      <p:cBhvr>
                                        <p:cTn id="177" dur="500"/>
                                        <p:tgtEl>
                                          <p:spTgt spid="2449"/>
                                        </p:tgtEl>
                                      </p:cBhvr>
                                    </p:animEffect>
                                  </p:childTnLst>
                                </p:cTn>
                              </p:par>
                              <p:par>
                                <p:cTn id="178" presetID="53" presetClass="entr" presetSubtype="16" fill="hold" grpId="0" nodeType="withEffect">
                                  <p:stCondLst>
                                    <p:cond delay="250"/>
                                  </p:stCondLst>
                                  <p:childTnLst>
                                    <p:set>
                                      <p:cBhvr>
                                        <p:cTn id="179" dur="1" fill="hold">
                                          <p:stCondLst>
                                            <p:cond delay="0"/>
                                          </p:stCondLst>
                                        </p:cTn>
                                        <p:tgtEl>
                                          <p:spTgt spid="2450"/>
                                        </p:tgtEl>
                                        <p:attrNameLst>
                                          <p:attrName>style.visibility</p:attrName>
                                        </p:attrNameLst>
                                      </p:cBhvr>
                                      <p:to>
                                        <p:strVal val="visible"/>
                                      </p:to>
                                    </p:set>
                                    <p:anim calcmode="lin" valueType="num">
                                      <p:cBhvr>
                                        <p:cTn id="180" dur="500" fill="hold"/>
                                        <p:tgtEl>
                                          <p:spTgt spid="2450"/>
                                        </p:tgtEl>
                                        <p:attrNameLst>
                                          <p:attrName>ppt_w</p:attrName>
                                        </p:attrNameLst>
                                      </p:cBhvr>
                                      <p:tavLst>
                                        <p:tav tm="0">
                                          <p:val>
                                            <p:fltVal val="0"/>
                                          </p:val>
                                        </p:tav>
                                        <p:tav tm="100000">
                                          <p:val>
                                            <p:strVal val="#ppt_w"/>
                                          </p:val>
                                        </p:tav>
                                      </p:tavLst>
                                    </p:anim>
                                    <p:anim calcmode="lin" valueType="num">
                                      <p:cBhvr>
                                        <p:cTn id="181" dur="500" fill="hold"/>
                                        <p:tgtEl>
                                          <p:spTgt spid="2450"/>
                                        </p:tgtEl>
                                        <p:attrNameLst>
                                          <p:attrName>ppt_h</p:attrName>
                                        </p:attrNameLst>
                                      </p:cBhvr>
                                      <p:tavLst>
                                        <p:tav tm="0">
                                          <p:val>
                                            <p:fltVal val="0"/>
                                          </p:val>
                                        </p:tav>
                                        <p:tav tm="100000">
                                          <p:val>
                                            <p:strVal val="#ppt_h"/>
                                          </p:val>
                                        </p:tav>
                                      </p:tavLst>
                                    </p:anim>
                                    <p:animEffect transition="in" filter="fade">
                                      <p:cBhvr>
                                        <p:cTn id="182" dur="500"/>
                                        <p:tgtEl>
                                          <p:spTgt spid="2450"/>
                                        </p:tgtEl>
                                      </p:cBhvr>
                                    </p:animEffect>
                                  </p:childTnLst>
                                </p:cTn>
                              </p:par>
                              <p:par>
                                <p:cTn id="183" presetID="53" presetClass="entr" presetSubtype="16" fill="hold" grpId="0" nodeType="withEffect">
                                  <p:stCondLst>
                                    <p:cond delay="250"/>
                                  </p:stCondLst>
                                  <p:childTnLst>
                                    <p:set>
                                      <p:cBhvr>
                                        <p:cTn id="184" dur="1" fill="hold">
                                          <p:stCondLst>
                                            <p:cond delay="0"/>
                                          </p:stCondLst>
                                        </p:cTn>
                                        <p:tgtEl>
                                          <p:spTgt spid="2451"/>
                                        </p:tgtEl>
                                        <p:attrNameLst>
                                          <p:attrName>style.visibility</p:attrName>
                                        </p:attrNameLst>
                                      </p:cBhvr>
                                      <p:to>
                                        <p:strVal val="visible"/>
                                      </p:to>
                                    </p:set>
                                    <p:anim calcmode="lin" valueType="num">
                                      <p:cBhvr>
                                        <p:cTn id="185" dur="500" fill="hold"/>
                                        <p:tgtEl>
                                          <p:spTgt spid="2451"/>
                                        </p:tgtEl>
                                        <p:attrNameLst>
                                          <p:attrName>ppt_w</p:attrName>
                                        </p:attrNameLst>
                                      </p:cBhvr>
                                      <p:tavLst>
                                        <p:tav tm="0">
                                          <p:val>
                                            <p:fltVal val="0"/>
                                          </p:val>
                                        </p:tav>
                                        <p:tav tm="100000">
                                          <p:val>
                                            <p:strVal val="#ppt_w"/>
                                          </p:val>
                                        </p:tav>
                                      </p:tavLst>
                                    </p:anim>
                                    <p:anim calcmode="lin" valueType="num">
                                      <p:cBhvr>
                                        <p:cTn id="186" dur="500" fill="hold"/>
                                        <p:tgtEl>
                                          <p:spTgt spid="2451"/>
                                        </p:tgtEl>
                                        <p:attrNameLst>
                                          <p:attrName>ppt_h</p:attrName>
                                        </p:attrNameLst>
                                      </p:cBhvr>
                                      <p:tavLst>
                                        <p:tav tm="0">
                                          <p:val>
                                            <p:fltVal val="0"/>
                                          </p:val>
                                        </p:tav>
                                        <p:tav tm="100000">
                                          <p:val>
                                            <p:strVal val="#ppt_h"/>
                                          </p:val>
                                        </p:tav>
                                      </p:tavLst>
                                    </p:anim>
                                    <p:animEffect transition="in" filter="fade">
                                      <p:cBhvr>
                                        <p:cTn id="187" dur="500"/>
                                        <p:tgtEl>
                                          <p:spTgt spid="2451"/>
                                        </p:tgtEl>
                                      </p:cBhvr>
                                    </p:animEffect>
                                  </p:childTnLst>
                                </p:cTn>
                              </p:par>
                              <p:par>
                                <p:cTn id="188" presetID="53" presetClass="entr" presetSubtype="16" fill="hold" grpId="0" nodeType="withEffect">
                                  <p:stCondLst>
                                    <p:cond delay="250"/>
                                  </p:stCondLst>
                                  <p:childTnLst>
                                    <p:set>
                                      <p:cBhvr>
                                        <p:cTn id="189" dur="1" fill="hold">
                                          <p:stCondLst>
                                            <p:cond delay="0"/>
                                          </p:stCondLst>
                                        </p:cTn>
                                        <p:tgtEl>
                                          <p:spTgt spid="2452"/>
                                        </p:tgtEl>
                                        <p:attrNameLst>
                                          <p:attrName>style.visibility</p:attrName>
                                        </p:attrNameLst>
                                      </p:cBhvr>
                                      <p:to>
                                        <p:strVal val="visible"/>
                                      </p:to>
                                    </p:set>
                                    <p:anim calcmode="lin" valueType="num">
                                      <p:cBhvr>
                                        <p:cTn id="190" dur="500" fill="hold"/>
                                        <p:tgtEl>
                                          <p:spTgt spid="2452"/>
                                        </p:tgtEl>
                                        <p:attrNameLst>
                                          <p:attrName>ppt_w</p:attrName>
                                        </p:attrNameLst>
                                      </p:cBhvr>
                                      <p:tavLst>
                                        <p:tav tm="0">
                                          <p:val>
                                            <p:fltVal val="0"/>
                                          </p:val>
                                        </p:tav>
                                        <p:tav tm="100000">
                                          <p:val>
                                            <p:strVal val="#ppt_w"/>
                                          </p:val>
                                        </p:tav>
                                      </p:tavLst>
                                    </p:anim>
                                    <p:anim calcmode="lin" valueType="num">
                                      <p:cBhvr>
                                        <p:cTn id="191" dur="500" fill="hold"/>
                                        <p:tgtEl>
                                          <p:spTgt spid="2452"/>
                                        </p:tgtEl>
                                        <p:attrNameLst>
                                          <p:attrName>ppt_h</p:attrName>
                                        </p:attrNameLst>
                                      </p:cBhvr>
                                      <p:tavLst>
                                        <p:tav tm="0">
                                          <p:val>
                                            <p:fltVal val="0"/>
                                          </p:val>
                                        </p:tav>
                                        <p:tav tm="100000">
                                          <p:val>
                                            <p:strVal val="#ppt_h"/>
                                          </p:val>
                                        </p:tav>
                                      </p:tavLst>
                                    </p:anim>
                                    <p:animEffect transition="in" filter="fade">
                                      <p:cBhvr>
                                        <p:cTn id="192" dur="500"/>
                                        <p:tgtEl>
                                          <p:spTgt spid="2452"/>
                                        </p:tgtEl>
                                      </p:cBhvr>
                                    </p:animEffect>
                                  </p:childTnLst>
                                </p:cTn>
                              </p:par>
                              <p:par>
                                <p:cTn id="193" presetID="53" presetClass="entr" presetSubtype="16" fill="hold" grpId="0" nodeType="withEffect">
                                  <p:stCondLst>
                                    <p:cond delay="250"/>
                                  </p:stCondLst>
                                  <p:childTnLst>
                                    <p:set>
                                      <p:cBhvr>
                                        <p:cTn id="194" dur="1" fill="hold">
                                          <p:stCondLst>
                                            <p:cond delay="0"/>
                                          </p:stCondLst>
                                        </p:cTn>
                                        <p:tgtEl>
                                          <p:spTgt spid="2453"/>
                                        </p:tgtEl>
                                        <p:attrNameLst>
                                          <p:attrName>style.visibility</p:attrName>
                                        </p:attrNameLst>
                                      </p:cBhvr>
                                      <p:to>
                                        <p:strVal val="visible"/>
                                      </p:to>
                                    </p:set>
                                    <p:anim calcmode="lin" valueType="num">
                                      <p:cBhvr>
                                        <p:cTn id="195" dur="500" fill="hold"/>
                                        <p:tgtEl>
                                          <p:spTgt spid="2453"/>
                                        </p:tgtEl>
                                        <p:attrNameLst>
                                          <p:attrName>ppt_w</p:attrName>
                                        </p:attrNameLst>
                                      </p:cBhvr>
                                      <p:tavLst>
                                        <p:tav tm="0">
                                          <p:val>
                                            <p:fltVal val="0"/>
                                          </p:val>
                                        </p:tav>
                                        <p:tav tm="100000">
                                          <p:val>
                                            <p:strVal val="#ppt_w"/>
                                          </p:val>
                                        </p:tav>
                                      </p:tavLst>
                                    </p:anim>
                                    <p:anim calcmode="lin" valueType="num">
                                      <p:cBhvr>
                                        <p:cTn id="196" dur="500" fill="hold"/>
                                        <p:tgtEl>
                                          <p:spTgt spid="2453"/>
                                        </p:tgtEl>
                                        <p:attrNameLst>
                                          <p:attrName>ppt_h</p:attrName>
                                        </p:attrNameLst>
                                      </p:cBhvr>
                                      <p:tavLst>
                                        <p:tav tm="0">
                                          <p:val>
                                            <p:fltVal val="0"/>
                                          </p:val>
                                        </p:tav>
                                        <p:tav tm="100000">
                                          <p:val>
                                            <p:strVal val="#ppt_h"/>
                                          </p:val>
                                        </p:tav>
                                      </p:tavLst>
                                    </p:anim>
                                    <p:animEffect transition="in" filter="fade">
                                      <p:cBhvr>
                                        <p:cTn id="197" dur="500"/>
                                        <p:tgtEl>
                                          <p:spTgt spid="2453"/>
                                        </p:tgtEl>
                                      </p:cBhvr>
                                    </p:animEffect>
                                  </p:childTnLst>
                                </p:cTn>
                              </p:par>
                              <p:par>
                                <p:cTn id="198" presetID="53" presetClass="entr" presetSubtype="16" fill="hold" grpId="0" nodeType="withEffect">
                                  <p:stCondLst>
                                    <p:cond delay="250"/>
                                  </p:stCondLst>
                                  <p:childTnLst>
                                    <p:set>
                                      <p:cBhvr>
                                        <p:cTn id="199" dur="1" fill="hold">
                                          <p:stCondLst>
                                            <p:cond delay="0"/>
                                          </p:stCondLst>
                                        </p:cTn>
                                        <p:tgtEl>
                                          <p:spTgt spid="2455"/>
                                        </p:tgtEl>
                                        <p:attrNameLst>
                                          <p:attrName>style.visibility</p:attrName>
                                        </p:attrNameLst>
                                      </p:cBhvr>
                                      <p:to>
                                        <p:strVal val="visible"/>
                                      </p:to>
                                    </p:set>
                                    <p:anim calcmode="lin" valueType="num">
                                      <p:cBhvr>
                                        <p:cTn id="200" dur="500" fill="hold"/>
                                        <p:tgtEl>
                                          <p:spTgt spid="2455"/>
                                        </p:tgtEl>
                                        <p:attrNameLst>
                                          <p:attrName>ppt_w</p:attrName>
                                        </p:attrNameLst>
                                      </p:cBhvr>
                                      <p:tavLst>
                                        <p:tav tm="0">
                                          <p:val>
                                            <p:fltVal val="0"/>
                                          </p:val>
                                        </p:tav>
                                        <p:tav tm="100000">
                                          <p:val>
                                            <p:strVal val="#ppt_w"/>
                                          </p:val>
                                        </p:tav>
                                      </p:tavLst>
                                    </p:anim>
                                    <p:anim calcmode="lin" valueType="num">
                                      <p:cBhvr>
                                        <p:cTn id="201" dur="500" fill="hold"/>
                                        <p:tgtEl>
                                          <p:spTgt spid="2455"/>
                                        </p:tgtEl>
                                        <p:attrNameLst>
                                          <p:attrName>ppt_h</p:attrName>
                                        </p:attrNameLst>
                                      </p:cBhvr>
                                      <p:tavLst>
                                        <p:tav tm="0">
                                          <p:val>
                                            <p:fltVal val="0"/>
                                          </p:val>
                                        </p:tav>
                                        <p:tav tm="100000">
                                          <p:val>
                                            <p:strVal val="#ppt_h"/>
                                          </p:val>
                                        </p:tav>
                                      </p:tavLst>
                                    </p:anim>
                                    <p:animEffect transition="in" filter="fade">
                                      <p:cBhvr>
                                        <p:cTn id="202" dur="500"/>
                                        <p:tgtEl>
                                          <p:spTgt spid="2455"/>
                                        </p:tgtEl>
                                      </p:cBhvr>
                                    </p:animEffect>
                                  </p:childTnLst>
                                </p:cTn>
                              </p:par>
                              <p:par>
                                <p:cTn id="203" presetID="53" presetClass="entr" presetSubtype="16" fill="hold" grpId="0" nodeType="withEffect">
                                  <p:stCondLst>
                                    <p:cond delay="250"/>
                                  </p:stCondLst>
                                  <p:childTnLst>
                                    <p:set>
                                      <p:cBhvr>
                                        <p:cTn id="204" dur="1" fill="hold">
                                          <p:stCondLst>
                                            <p:cond delay="0"/>
                                          </p:stCondLst>
                                        </p:cTn>
                                        <p:tgtEl>
                                          <p:spTgt spid="2456"/>
                                        </p:tgtEl>
                                        <p:attrNameLst>
                                          <p:attrName>style.visibility</p:attrName>
                                        </p:attrNameLst>
                                      </p:cBhvr>
                                      <p:to>
                                        <p:strVal val="visible"/>
                                      </p:to>
                                    </p:set>
                                    <p:anim calcmode="lin" valueType="num">
                                      <p:cBhvr>
                                        <p:cTn id="205" dur="500" fill="hold"/>
                                        <p:tgtEl>
                                          <p:spTgt spid="2456"/>
                                        </p:tgtEl>
                                        <p:attrNameLst>
                                          <p:attrName>ppt_w</p:attrName>
                                        </p:attrNameLst>
                                      </p:cBhvr>
                                      <p:tavLst>
                                        <p:tav tm="0">
                                          <p:val>
                                            <p:fltVal val="0"/>
                                          </p:val>
                                        </p:tav>
                                        <p:tav tm="100000">
                                          <p:val>
                                            <p:strVal val="#ppt_w"/>
                                          </p:val>
                                        </p:tav>
                                      </p:tavLst>
                                    </p:anim>
                                    <p:anim calcmode="lin" valueType="num">
                                      <p:cBhvr>
                                        <p:cTn id="206" dur="500" fill="hold"/>
                                        <p:tgtEl>
                                          <p:spTgt spid="2456"/>
                                        </p:tgtEl>
                                        <p:attrNameLst>
                                          <p:attrName>ppt_h</p:attrName>
                                        </p:attrNameLst>
                                      </p:cBhvr>
                                      <p:tavLst>
                                        <p:tav tm="0">
                                          <p:val>
                                            <p:fltVal val="0"/>
                                          </p:val>
                                        </p:tav>
                                        <p:tav tm="100000">
                                          <p:val>
                                            <p:strVal val="#ppt_h"/>
                                          </p:val>
                                        </p:tav>
                                      </p:tavLst>
                                    </p:anim>
                                    <p:animEffect transition="in" filter="fade">
                                      <p:cBhvr>
                                        <p:cTn id="207" dur="500"/>
                                        <p:tgtEl>
                                          <p:spTgt spid="2456"/>
                                        </p:tgtEl>
                                      </p:cBhvr>
                                    </p:animEffect>
                                  </p:childTnLst>
                                </p:cTn>
                              </p:par>
                              <p:par>
                                <p:cTn id="208" presetID="53" presetClass="entr" presetSubtype="16" fill="hold" grpId="0" nodeType="withEffect">
                                  <p:stCondLst>
                                    <p:cond delay="250"/>
                                  </p:stCondLst>
                                  <p:childTnLst>
                                    <p:set>
                                      <p:cBhvr>
                                        <p:cTn id="209" dur="1" fill="hold">
                                          <p:stCondLst>
                                            <p:cond delay="0"/>
                                          </p:stCondLst>
                                        </p:cTn>
                                        <p:tgtEl>
                                          <p:spTgt spid="2457"/>
                                        </p:tgtEl>
                                        <p:attrNameLst>
                                          <p:attrName>style.visibility</p:attrName>
                                        </p:attrNameLst>
                                      </p:cBhvr>
                                      <p:to>
                                        <p:strVal val="visible"/>
                                      </p:to>
                                    </p:set>
                                    <p:anim calcmode="lin" valueType="num">
                                      <p:cBhvr>
                                        <p:cTn id="210" dur="500" fill="hold"/>
                                        <p:tgtEl>
                                          <p:spTgt spid="2457"/>
                                        </p:tgtEl>
                                        <p:attrNameLst>
                                          <p:attrName>ppt_w</p:attrName>
                                        </p:attrNameLst>
                                      </p:cBhvr>
                                      <p:tavLst>
                                        <p:tav tm="0">
                                          <p:val>
                                            <p:fltVal val="0"/>
                                          </p:val>
                                        </p:tav>
                                        <p:tav tm="100000">
                                          <p:val>
                                            <p:strVal val="#ppt_w"/>
                                          </p:val>
                                        </p:tav>
                                      </p:tavLst>
                                    </p:anim>
                                    <p:anim calcmode="lin" valueType="num">
                                      <p:cBhvr>
                                        <p:cTn id="211" dur="500" fill="hold"/>
                                        <p:tgtEl>
                                          <p:spTgt spid="2457"/>
                                        </p:tgtEl>
                                        <p:attrNameLst>
                                          <p:attrName>ppt_h</p:attrName>
                                        </p:attrNameLst>
                                      </p:cBhvr>
                                      <p:tavLst>
                                        <p:tav tm="0">
                                          <p:val>
                                            <p:fltVal val="0"/>
                                          </p:val>
                                        </p:tav>
                                        <p:tav tm="100000">
                                          <p:val>
                                            <p:strVal val="#ppt_h"/>
                                          </p:val>
                                        </p:tav>
                                      </p:tavLst>
                                    </p:anim>
                                    <p:animEffect transition="in" filter="fade">
                                      <p:cBhvr>
                                        <p:cTn id="212" dur="500"/>
                                        <p:tgtEl>
                                          <p:spTgt spid="2457"/>
                                        </p:tgtEl>
                                      </p:cBhvr>
                                    </p:animEffect>
                                  </p:childTnLst>
                                </p:cTn>
                              </p:par>
                              <p:par>
                                <p:cTn id="213" presetID="53" presetClass="entr" presetSubtype="16" fill="hold" grpId="0" nodeType="withEffect">
                                  <p:stCondLst>
                                    <p:cond delay="250"/>
                                  </p:stCondLst>
                                  <p:childTnLst>
                                    <p:set>
                                      <p:cBhvr>
                                        <p:cTn id="214" dur="1" fill="hold">
                                          <p:stCondLst>
                                            <p:cond delay="0"/>
                                          </p:stCondLst>
                                        </p:cTn>
                                        <p:tgtEl>
                                          <p:spTgt spid="2458"/>
                                        </p:tgtEl>
                                        <p:attrNameLst>
                                          <p:attrName>style.visibility</p:attrName>
                                        </p:attrNameLst>
                                      </p:cBhvr>
                                      <p:to>
                                        <p:strVal val="visible"/>
                                      </p:to>
                                    </p:set>
                                    <p:anim calcmode="lin" valueType="num">
                                      <p:cBhvr>
                                        <p:cTn id="215" dur="500" fill="hold"/>
                                        <p:tgtEl>
                                          <p:spTgt spid="2458"/>
                                        </p:tgtEl>
                                        <p:attrNameLst>
                                          <p:attrName>ppt_w</p:attrName>
                                        </p:attrNameLst>
                                      </p:cBhvr>
                                      <p:tavLst>
                                        <p:tav tm="0">
                                          <p:val>
                                            <p:fltVal val="0"/>
                                          </p:val>
                                        </p:tav>
                                        <p:tav tm="100000">
                                          <p:val>
                                            <p:strVal val="#ppt_w"/>
                                          </p:val>
                                        </p:tav>
                                      </p:tavLst>
                                    </p:anim>
                                    <p:anim calcmode="lin" valueType="num">
                                      <p:cBhvr>
                                        <p:cTn id="216" dur="500" fill="hold"/>
                                        <p:tgtEl>
                                          <p:spTgt spid="2458"/>
                                        </p:tgtEl>
                                        <p:attrNameLst>
                                          <p:attrName>ppt_h</p:attrName>
                                        </p:attrNameLst>
                                      </p:cBhvr>
                                      <p:tavLst>
                                        <p:tav tm="0">
                                          <p:val>
                                            <p:fltVal val="0"/>
                                          </p:val>
                                        </p:tav>
                                        <p:tav tm="100000">
                                          <p:val>
                                            <p:strVal val="#ppt_h"/>
                                          </p:val>
                                        </p:tav>
                                      </p:tavLst>
                                    </p:anim>
                                    <p:animEffect transition="in" filter="fade">
                                      <p:cBhvr>
                                        <p:cTn id="217" dur="500"/>
                                        <p:tgtEl>
                                          <p:spTgt spid="2458"/>
                                        </p:tgtEl>
                                      </p:cBhvr>
                                    </p:animEffect>
                                  </p:childTnLst>
                                </p:cTn>
                              </p:par>
                              <p:par>
                                <p:cTn id="218" presetID="53" presetClass="entr" presetSubtype="16" fill="hold" grpId="0" nodeType="withEffect">
                                  <p:stCondLst>
                                    <p:cond delay="250"/>
                                  </p:stCondLst>
                                  <p:childTnLst>
                                    <p:set>
                                      <p:cBhvr>
                                        <p:cTn id="219" dur="1" fill="hold">
                                          <p:stCondLst>
                                            <p:cond delay="0"/>
                                          </p:stCondLst>
                                        </p:cTn>
                                        <p:tgtEl>
                                          <p:spTgt spid="2459"/>
                                        </p:tgtEl>
                                        <p:attrNameLst>
                                          <p:attrName>style.visibility</p:attrName>
                                        </p:attrNameLst>
                                      </p:cBhvr>
                                      <p:to>
                                        <p:strVal val="visible"/>
                                      </p:to>
                                    </p:set>
                                    <p:anim calcmode="lin" valueType="num">
                                      <p:cBhvr>
                                        <p:cTn id="220" dur="500" fill="hold"/>
                                        <p:tgtEl>
                                          <p:spTgt spid="2459"/>
                                        </p:tgtEl>
                                        <p:attrNameLst>
                                          <p:attrName>ppt_w</p:attrName>
                                        </p:attrNameLst>
                                      </p:cBhvr>
                                      <p:tavLst>
                                        <p:tav tm="0">
                                          <p:val>
                                            <p:fltVal val="0"/>
                                          </p:val>
                                        </p:tav>
                                        <p:tav tm="100000">
                                          <p:val>
                                            <p:strVal val="#ppt_w"/>
                                          </p:val>
                                        </p:tav>
                                      </p:tavLst>
                                    </p:anim>
                                    <p:anim calcmode="lin" valueType="num">
                                      <p:cBhvr>
                                        <p:cTn id="221" dur="500" fill="hold"/>
                                        <p:tgtEl>
                                          <p:spTgt spid="2459"/>
                                        </p:tgtEl>
                                        <p:attrNameLst>
                                          <p:attrName>ppt_h</p:attrName>
                                        </p:attrNameLst>
                                      </p:cBhvr>
                                      <p:tavLst>
                                        <p:tav tm="0">
                                          <p:val>
                                            <p:fltVal val="0"/>
                                          </p:val>
                                        </p:tav>
                                        <p:tav tm="100000">
                                          <p:val>
                                            <p:strVal val="#ppt_h"/>
                                          </p:val>
                                        </p:tav>
                                      </p:tavLst>
                                    </p:anim>
                                    <p:animEffect transition="in" filter="fade">
                                      <p:cBhvr>
                                        <p:cTn id="222" dur="500"/>
                                        <p:tgtEl>
                                          <p:spTgt spid="2459"/>
                                        </p:tgtEl>
                                      </p:cBhvr>
                                    </p:animEffect>
                                  </p:childTnLst>
                                </p:cTn>
                              </p:par>
                              <p:par>
                                <p:cTn id="223" presetID="53" presetClass="entr" presetSubtype="16" fill="hold" grpId="0" nodeType="withEffect">
                                  <p:stCondLst>
                                    <p:cond delay="250"/>
                                  </p:stCondLst>
                                  <p:childTnLst>
                                    <p:set>
                                      <p:cBhvr>
                                        <p:cTn id="224" dur="1" fill="hold">
                                          <p:stCondLst>
                                            <p:cond delay="0"/>
                                          </p:stCondLst>
                                        </p:cTn>
                                        <p:tgtEl>
                                          <p:spTgt spid="2460"/>
                                        </p:tgtEl>
                                        <p:attrNameLst>
                                          <p:attrName>style.visibility</p:attrName>
                                        </p:attrNameLst>
                                      </p:cBhvr>
                                      <p:to>
                                        <p:strVal val="visible"/>
                                      </p:to>
                                    </p:set>
                                    <p:anim calcmode="lin" valueType="num">
                                      <p:cBhvr>
                                        <p:cTn id="225" dur="500" fill="hold"/>
                                        <p:tgtEl>
                                          <p:spTgt spid="2460"/>
                                        </p:tgtEl>
                                        <p:attrNameLst>
                                          <p:attrName>ppt_w</p:attrName>
                                        </p:attrNameLst>
                                      </p:cBhvr>
                                      <p:tavLst>
                                        <p:tav tm="0">
                                          <p:val>
                                            <p:fltVal val="0"/>
                                          </p:val>
                                        </p:tav>
                                        <p:tav tm="100000">
                                          <p:val>
                                            <p:strVal val="#ppt_w"/>
                                          </p:val>
                                        </p:tav>
                                      </p:tavLst>
                                    </p:anim>
                                    <p:anim calcmode="lin" valueType="num">
                                      <p:cBhvr>
                                        <p:cTn id="226" dur="500" fill="hold"/>
                                        <p:tgtEl>
                                          <p:spTgt spid="2460"/>
                                        </p:tgtEl>
                                        <p:attrNameLst>
                                          <p:attrName>ppt_h</p:attrName>
                                        </p:attrNameLst>
                                      </p:cBhvr>
                                      <p:tavLst>
                                        <p:tav tm="0">
                                          <p:val>
                                            <p:fltVal val="0"/>
                                          </p:val>
                                        </p:tav>
                                        <p:tav tm="100000">
                                          <p:val>
                                            <p:strVal val="#ppt_h"/>
                                          </p:val>
                                        </p:tav>
                                      </p:tavLst>
                                    </p:anim>
                                    <p:animEffect transition="in" filter="fade">
                                      <p:cBhvr>
                                        <p:cTn id="227" dur="500"/>
                                        <p:tgtEl>
                                          <p:spTgt spid="2460"/>
                                        </p:tgtEl>
                                      </p:cBhvr>
                                    </p:animEffect>
                                  </p:childTnLst>
                                </p:cTn>
                              </p:par>
                              <p:par>
                                <p:cTn id="228" presetID="53" presetClass="entr" presetSubtype="16" fill="hold" grpId="0" nodeType="withEffect">
                                  <p:stCondLst>
                                    <p:cond delay="250"/>
                                  </p:stCondLst>
                                  <p:childTnLst>
                                    <p:set>
                                      <p:cBhvr>
                                        <p:cTn id="229" dur="1" fill="hold">
                                          <p:stCondLst>
                                            <p:cond delay="0"/>
                                          </p:stCondLst>
                                        </p:cTn>
                                        <p:tgtEl>
                                          <p:spTgt spid="2461"/>
                                        </p:tgtEl>
                                        <p:attrNameLst>
                                          <p:attrName>style.visibility</p:attrName>
                                        </p:attrNameLst>
                                      </p:cBhvr>
                                      <p:to>
                                        <p:strVal val="visible"/>
                                      </p:to>
                                    </p:set>
                                    <p:anim calcmode="lin" valueType="num">
                                      <p:cBhvr>
                                        <p:cTn id="230" dur="500" fill="hold"/>
                                        <p:tgtEl>
                                          <p:spTgt spid="2461"/>
                                        </p:tgtEl>
                                        <p:attrNameLst>
                                          <p:attrName>ppt_w</p:attrName>
                                        </p:attrNameLst>
                                      </p:cBhvr>
                                      <p:tavLst>
                                        <p:tav tm="0">
                                          <p:val>
                                            <p:fltVal val="0"/>
                                          </p:val>
                                        </p:tav>
                                        <p:tav tm="100000">
                                          <p:val>
                                            <p:strVal val="#ppt_w"/>
                                          </p:val>
                                        </p:tav>
                                      </p:tavLst>
                                    </p:anim>
                                    <p:anim calcmode="lin" valueType="num">
                                      <p:cBhvr>
                                        <p:cTn id="231" dur="500" fill="hold"/>
                                        <p:tgtEl>
                                          <p:spTgt spid="2461"/>
                                        </p:tgtEl>
                                        <p:attrNameLst>
                                          <p:attrName>ppt_h</p:attrName>
                                        </p:attrNameLst>
                                      </p:cBhvr>
                                      <p:tavLst>
                                        <p:tav tm="0">
                                          <p:val>
                                            <p:fltVal val="0"/>
                                          </p:val>
                                        </p:tav>
                                        <p:tav tm="100000">
                                          <p:val>
                                            <p:strVal val="#ppt_h"/>
                                          </p:val>
                                        </p:tav>
                                      </p:tavLst>
                                    </p:anim>
                                    <p:animEffect transition="in" filter="fade">
                                      <p:cBhvr>
                                        <p:cTn id="232" dur="500"/>
                                        <p:tgtEl>
                                          <p:spTgt spid="2461"/>
                                        </p:tgtEl>
                                      </p:cBhvr>
                                    </p:animEffect>
                                  </p:childTnLst>
                                </p:cTn>
                              </p:par>
                              <p:par>
                                <p:cTn id="233" presetID="53" presetClass="entr" presetSubtype="16" fill="hold" grpId="0" nodeType="withEffect">
                                  <p:stCondLst>
                                    <p:cond delay="250"/>
                                  </p:stCondLst>
                                  <p:childTnLst>
                                    <p:set>
                                      <p:cBhvr>
                                        <p:cTn id="234" dur="1" fill="hold">
                                          <p:stCondLst>
                                            <p:cond delay="0"/>
                                          </p:stCondLst>
                                        </p:cTn>
                                        <p:tgtEl>
                                          <p:spTgt spid="2462"/>
                                        </p:tgtEl>
                                        <p:attrNameLst>
                                          <p:attrName>style.visibility</p:attrName>
                                        </p:attrNameLst>
                                      </p:cBhvr>
                                      <p:to>
                                        <p:strVal val="visible"/>
                                      </p:to>
                                    </p:set>
                                    <p:anim calcmode="lin" valueType="num">
                                      <p:cBhvr>
                                        <p:cTn id="235" dur="500" fill="hold"/>
                                        <p:tgtEl>
                                          <p:spTgt spid="2462"/>
                                        </p:tgtEl>
                                        <p:attrNameLst>
                                          <p:attrName>ppt_w</p:attrName>
                                        </p:attrNameLst>
                                      </p:cBhvr>
                                      <p:tavLst>
                                        <p:tav tm="0">
                                          <p:val>
                                            <p:fltVal val="0"/>
                                          </p:val>
                                        </p:tav>
                                        <p:tav tm="100000">
                                          <p:val>
                                            <p:strVal val="#ppt_w"/>
                                          </p:val>
                                        </p:tav>
                                      </p:tavLst>
                                    </p:anim>
                                    <p:anim calcmode="lin" valueType="num">
                                      <p:cBhvr>
                                        <p:cTn id="236" dur="500" fill="hold"/>
                                        <p:tgtEl>
                                          <p:spTgt spid="2462"/>
                                        </p:tgtEl>
                                        <p:attrNameLst>
                                          <p:attrName>ppt_h</p:attrName>
                                        </p:attrNameLst>
                                      </p:cBhvr>
                                      <p:tavLst>
                                        <p:tav tm="0">
                                          <p:val>
                                            <p:fltVal val="0"/>
                                          </p:val>
                                        </p:tav>
                                        <p:tav tm="100000">
                                          <p:val>
                                            <p:strVal val="#ppt_h"/>
                                          </p:val>
                                        </p:tav>
                                      </p:tavLst>
                                    </p:anim>
                                    <p:animEffect transition="in" filter="fade">
                                      <p:cBhvr>
                                        <p:cTn id="237" dur="500"/>
                                        <p:tgtEl>
                                          <p:spTgt spid="2462"/>
                                        </p:tgtEl>
                                      </p:cBhvr>
                                    </p:animEffect>
                                  </p:childTnLst>
                                </p:cTn>
                              </p:par>
                              <p:par>
                                <p:cTn id="238" presetID="53" presetClass="entr" presetSubtype="16" fill="hold" grpId="0" nodeType="withEffect">
                                  <p:stCondLst>
                                    <p:cond delay="250"/>
                                  </p:stCondLst>
                                  <p:childTnLst>
                                    <p:set>
                                      <p:cBhvr>
                                        <p:cTn id="239" dur="1" fill="hold">
                                          <p:stCondLst>
                                            <p:cond delay="0"/>
                                          </p:stCondLst>
                                        </p:cTn>
                                        <p:tgtEl>
                                          <p:spTgt spid="2463"/>
                                        </p:tgtEl>
                                        <p:attrNameLst>
                                          <p:attrName>style.visibility</p:attrName>
                                        </p:attrNameLst>
                                      </p:cBhvr>
                                      <p:to>
                                        <p:strVal val="visible"/>
                                      </p:to>
                                    </p:set>
                                    <p:anim calcmode="lin" valueType="num">
                                      <p:cBhvr>
                                        <p:cTn id="240" dur="500" fill="hold"/>
                                        <p:tgtEl>
                                          <p:spTgt spid="2463"/>
                                        </p:tgtEl>
                                        <p:attrNameLst>
                                          <p:attrName>ppt_w</p:attrName>
                                        </p:attrNameLst>
                                      </p:cBhvr>
                                      <p:tavLst>
                                        <p:tav tm="0">
                                          <p:val>
                                            <p:fltVal val="0"/>
                                          </p:val>
                                        </p:tav>
                                        <p:tav tm="100000">
                                          <p:val>
                                            <p:strVal val="#ppt_w"/>
                                          </p:val>
                                        </p:tav>
                                      </p:tavLst>
                                    </p:anim>
                                    <p:anim calcmode="lin" valueType="num">
                                      <p:cBhvr>
                                        <p:cTn id="241" dur="500" fill="hold"/>
                                        <p:tgtEl>
                                          <p:spTgt spid="2463"/>
                                        </p:tgtEl>
                                        <p:attrNameLst>
                                          <p:attrName>ppt_h</p:attrName>
                                        </p:attrNameLst>
                                      </p:cBhvr>
                                      <p:tavLst>
                                        <p:tav tm="0">
                                          <p:val>
                                            <p:fltVal val="0"/>
                                          </p:val>
                                        </p:tav>
                                        <p:tav tm="100000">
                                          <p:val>
                                            <p:strVal val="#ppt_h"/>
                                          </p:val>
                                        </p:tav>
                                      </p:tavLst>
                                    </p:anim>
                                    <p:animEffect transition="in" filter="fade">
                                      <p:cBhvr>
                                        <p:cTn id="242" dur="500"/>
                                        <p:tgtEl>
                                          <p:spTgt spid="2463"/>
                                        </p:tgtEl>
                                      </p:cBhvr>
                                    </p:animEffect>
                                  </p:childTnLst>
                                </p:cTn>
                              </p:par>
                              <p:par>
                                <p:cTn id="243" presetID="53" presetClass="entr" presetSubtype="16" fill="hold" grpId="0" nodeType="withEffect">
                                  <p:stCondLst>
                                    <p:cond delay="250"/>
                                  </p:stCondLst>
                                  <p:childTnLst>
                                    <p:set>
                                      <p:cBhvr>
                                        <p:cTn id="244" dur="1" fill="hold">
                                          <p:stCondLst>
                                            <p:cond delay="0"/>
                                          </p:stCondLst>
                                        </p:cTn>
                                        <p:tgtEl>
                                          <p:spTgt spid="2464"/>
                                        </p:tgtEl>
                                        <p:attrNameLst>
                                          <p:attrName>style.visibility</p:attrName>
                                        </p:attrNameLst>
                                      </p:cBhvr>
                                      <p:to>
                                        <p:strVal val="visible"/>
                                      </p:to>
                                    </p:set>
                                    <p:anim calcmode="lin" valueType="num">
                                      <p:cBhvr>
                                        <p:cTn id="245" dur="500" fill="hold"/>
                                        <p:tgtEl>
                                          <p:spTgt spid="2464"/>
                                        </p:tgtEl>
                                        <p:attrNameLst>
                                          <p:attrName>ppt_w</p:attrName>
                                        </p:attrNameLst>
                                      </p:cBhvr>
                                      <p:tavLst>
                                        <p:tav tm="0">
                                          <p:val>
                                            <p:fltVal val="0"/>
                                          </p:val>
                                        </p:tav>
                                        <p:tav tm="100000">
                                          <p:val>
                                            <p:strVal val="#ppt_w"/>
                                          </p:val>
                                        </p:tav>
                                      </p:tavLst>
                                    </p:anim>
                                    <p:anim calcmode="lin" valueType="num">
                                      <p:cBhvr>
                                        <p:cTn id="246" dur="500" fill="hold"/>
                                        <p:tgtEl>
                                          <p:spTgt spid="2464"/>
                                        </p:tgtEl>
                                        <p:attrNameLst>
                                          <p:attrName>ppt_h</p:attrName>
                                        </p:attrNameLst>
                                      </p:cBhvr>
                                      <p:tavLst>
                                        <p:tav tm="0">
                                          <p:val>
                                            <p:fltVal val="0"/>
                                          </p:val>
                                        </p:tav>
                                        <p:tav tm="100000">
                                          <p:val>
                                            <p:strVal val="#ppt_h"/>
                                          </p:val>
                                        </p:tav>
                                      </p:tavLst>
                                    </p:anim>
                                    <p:animEffect transition="in" filter="fade">
                                      <p:cBhvr>
                                        <p:cTn id="247" dur="500"/>
                                        <p:tgtEl>
                                          <p:spTgt spid="2464"/>
                                        </p:tgtEl>
                                      </p:cBhvr>
                                    </p:animEffect>
                                  </p:childTnLst>
                                </p:cTn>
                              </p:par>
                              <p:par>
                                <p:cTn id="248" presetID="53" presetClass="entr" presetSubtype="16" fill="hold" grpId="0" nodeType="withEffect">
                                  <p:stCondLst>
                                    <p:cond delay="250"/>
                                  </p:stCondLst>
                                  <p:childTnLst>
                                    <p:set>
                                      <p:cBhvr>
                                        <p:cTn id="249" dur="1" fill="hold">
                                          <p:stCondLst>
                                            <p:cond delay="0"/>
                                          </p:stCondLst>
                                        </p:cTn>
                                        <p:tgtEl>
                                          <p:spTgt spid="2465"/>
                                        </p:tgtEl>
                                        <p:attrNameLst>
                                          <p:attrName>style.visibility</p:attrName>
                                        </p:attrNameLst>
                                      </p:cBhvr>
                                      <p:to>
                                        <p:strVal val="visible"/>
                                      </p:to>
                                    </p:set>
                                    <p:anim calcmode="lin" valueType="num">
                                      <p:cBhvr>
                                        <p:cTn id="250" dur="500" fill="hold"/>
                                        <p:tgtEl>
                                          <p:spTgt spid="2465"/>
                                        </p:tgtEl>
                                        <p:attrNameLst>
                                          <p:attrName>ppt_w</p:attrName>
                                        </p:attrNameLst>
                                      </p:cBhvr>
                                      <p:tavLst>
                                        <p:tav tm="0">
                                          <p:val>
                                            <p:fltVal val="0"/>
                                          </p:val>
                                        </p:tav>
                                        <p:tav tm="100000">
                                          <p:val>
                                            <p:strVal val="#ppt_w"/>
                                          </p:val>
                                        </p:tav>
                                      </p:tavLst>
                                    </p:anim>
                                    <p:anim calcmode="lin" valueType="num">
                                      <p:cBhvr>
                                        <p:cTn id="251" dur="500" fill="hold"/>
                                        <p:tgtEl>
                                          <p:spTgt spid="2465"/>
                                        </p:tgtEl>
                                        <p:attrNameLst>
                                          <p:attrName>ppt_h</p:attrName>
                                        </p:attrNameLst>
                                      </p:cBhvr>
                                      <p:tavLst>
                                        <p:tav tm="0">
                                          <p:val>
                                            <p:fltVal val="0"/>
                                          </p:val>
                                        </p:tav>
                                        <p:tav tm="100000">
                                          <p:val>
                                            <p:strVal val="#ppt_h"/>
                                          </p:val>
                                        </p:tav>
                                      </p:tavLst>
                                    </p:anim>
                                    <p:animEffect transition="in" filter="fade">
                                      <p:cBhvr>
                                        <p:cTn id="252" dur="500"/>
                                        <p:tgtEl>
                                          <p:spTgt spid="2465"/>
                                        </p:tgtEl>
                                      </p:cBhvr>
                                    </p:animEffect>
                                  </p:childTnLst>
                                </p:cTn>
                              </p:par>
                              <p:par>
                                <p:cTn id="253" presetID="53" presetClass="entr" presetSubtype="16" fill="hold" grpId="0" nodeType="withEffect">
                                  <p:stCondLst>
                                    <p:cond delay="250"/>
                                  </p:stCondLst>
                                  <p:childTnLst>
                                    <p:set>
                                      <p:cBhvr>
                                        <p:cTn id="254" dur="1" fill="hold">
                                          <p:stCondLst>
                                            <p:cond delay="0"/>
                                          </p:stCondLst>
                                        </p:cTn>
                                        <p:tgtEl>
                                          <p:spTgt spid="4"/>
                                        </p:tgtEl>
                                        <p:attrNameLst>
                                          <p:attrName>style.visibility</p:attrName>
                                        </p:attrNameLst>
                                      </p:cBhvr>
                                      <p:to>
                                        <p:strVal val="visible"/>
                                      </p:to>
                                    </p:set>
                                    <p:anim calcmode="lin" valueType="num">
                                      <p:cBhvr>
                                        <p:cTn id="255" dur="500" fill="hold"/>
                                        <p:tgtEl>
                                          <p:spTgt spid="4"/>
                                        </p:tgtEl>
                                        <p:attrNameLst>
                                          <p:attrName>ppt_w</p:attrName>
                                        </p:attrNameLst>
                                      </p:cBhvr>
                                      <p:tavLst>
                                        <p:tav tm="0">
                                          <p:val>
                                            <p:fltVal val="0"/>
                                          </p:val>
                                        </p:tav>
                                        <p:tav tm="100000">
                                          <p:val>
                                            <p:strVal val="#ppt_w"/>
                                          </p:val>
                                        </p:tav>
                                      </p:tavLst>
                                    </p:anim>
                                    <p:anim calcmode="lin" valueType="num">
                                      <p:cBhvr>
                                        <p:cTn id="256" dur="500" fill="hold"/>
                                        <p:tgtEl>
                                          <p:spTgt spid="4"/>
                                        </p:tgtEl>
                                        <p:attrNameLst>
                                          <p:attrName>ppt_h</p:attrName>
                                        </p:attrNameLst>
                                      </p:cBhvr>
                                      <p:tavLst>
                                        <p:tav tm="0">
                                          <p:val>
                                            <p:fltVal val="0"/>
                                          </p:val>
                                        </p:tav>
                                        <p:tav tm="100000">
                                          <p:val>
                                            <p:strVal val="#ppt_h"/>
                                          </p:val>
                                        </p:tav>
                                      </p:tavLst>
                                    </p:anim>
                                    <p:animEffect transition="in" filter="fade">
                                      <p:cBhvr>
                                        <p:cTn id="257" dur="500"/>
                                        <p:tgtEl>
                                          <p:spTgt spid="4"/>
                                        </p:tgtEl>
                                      </p:cBhvr>
                                    </p:animEffect>
                                  </p:childTnLst>
                                </p:cTn>
                              </p:par>
                              <p:par>
                                <p:cTn id="258" presetID="53" presetClass="entr" presetSubtype="16" fill="hold" grpId="0" nodeType="withEffect">
                                  <p:stCondLst>
                                    <p:cond delay="250"/>
                                  </p:stCondLst>
                                  <p:childTnLst>
                                    <p:set>
                                      <p:cBhvr>
                                        <p:cTn id="259" dur="1" fill="hold">
                                          <p:stCondLst>
                                            <p:cond delay="0"/>
                                          </p:stCondLst>
                                        </p:cTn>
                                        <p:tgtEl>
                                          <p:spTgt spid="5"/>
                                        </p:tgtEl>
                                        <p:attrNameLst>
                                          <p:attrName>style.visibility</p:attrName>
                                        </p:attrNameLst>
                                      </p:cBhvr>
                                      <p:to>
                                        <p:strVal val="visible"/>
                                      </p:to>
                                    </p:set>
                                    <p:anim calcmode="lin" valueType="num">
                                      <p:cBhvr>
                                        <p:cTn id="260" dur="500" fill="hold"/>
                                        <p:tgtEl>
                                          <p:spTgt spid="5"/>
                                        </p:tgtEl>
                                        <p:attrNameLst>
                                          <p:attrName>ppt_w</p:attrName>
                                        </p:attrNameLst>
                                      </p:cBhvr>
                                      <p:tavLst>
                                        <p:tav tm="0">
                                          <p:val>
                                            <p:fltVal val="0"/>
                                          </p:val>
                                        </p:tav>
                                        <p:tav tm="100000">
                                          <p:val>
                                            <p:strVal val="#ppt_w"/>
                                          </p:val>
                                        </p:tav>
                                      </p:tavLst>
                                    </p:anim>
                                    <p:anim calcmode="lin" valueType="num">
                                      <p:cBhvr>
                                        <p:cTn id="261" dur="500" fill="hold"/>
                                        <p:tgtEl>
                                          <p:spTgt spid="5"/>
                                        </p:tgtEl>
                                        <p:attrNameLst>
                                          <p:attrName>ppt_h</p:attrName>
                                        </p:attrNameLst>
                                      </p:cBhvr>
                                      <p:tavLst>
                                        <p:tav tm="0">
                                          <p:val>
                                            <p:fltVal val="0"/>
                                          </p:val>
                                        </p:tav>
                                        <p:tav tm="100000">
                                          <p:val>
                                            <p:strVal val="#ppt_h"/>
                                          </p:val>
                                        </p:tav>
                                      </p:tavLst>
                                    </p:anim>
                                    <p:animEffect transition="in" filter="fade">
                                      <p:cBhvr>
                                        <p:cTn id="262" dur="500"/>
                                        <p:tgtEl>
                                          <p:spTgt spid="5"/>
                                        </p:tgtEl>
                                      </p:cBhvr>
                                    </p:animEffect>
                                  </p:childTnLst>
                                </p:cTn>
                              </p:par>
                              <p:par>
                                <p:cTn id="263" presetID="53" presetClass="entr" presetSubtype="16" fill="hold" grpId="0" nodeType="withEffect">
                                  <p:stCondLst>
                                    <p:cond delay="250"/>
                                  </p:stCondLst>
                                  <p:childTnLst>
                                    <p:set>
                                      <p:cBhvr>
                                        <p:cTn id="264" dur="1" fill="hold">
                                          <p:stCondLst>
                                            <p:cond delay="0"/>
                                          </p:stCondLst>
                                        </p:cTn>
                                        <p:tgtEl>
                                          <p:spTgt spid="6"/>
                                        </p:tgtEl>
                                        <p:attrNameLst>
                                          <p:attrName>style.visibility</p:attrName>
                                        </p:attrNameLst>
                                      </p:cBhvr>
                                      <p:to>
                                        <p:strVal val="visible"/>
                                      </p:to>
                                    </p:set>
                                    <p:anim calcmode="lin" valueType="num">
                                      <p:cBhvr>
                                        <p:cTn id="265" dur="500" fill="hold"/>
                                        <p:tgtEl>
                                          <p:spTgt spid="6"/>
                                        </p:tgtEl>
                                        <p:attrNameLst>
                                          <p:attrName>ppt_w</p:attrName>
                                        </p:attrNameLst>
                                      </p:cBhvr>
                                      <p:tavLst>
                                        <p:tav tm="0">
                                          <p:val>
                                            <p:fltVal val="0"/>
                                          </p:val>
                                        </p:tav>
                                        <p:tav tm="100000">
                                          <p:val>
                                            <p:strVal val="#ppt_w"/>
                                          </p:val>
                                        </p:tav>
                                      </p:tavLst>
                                    </p:anim>
                                    <p:anim calcmode="lin" valueType="num">
                                      <p:cBhvr>
                                        <p:cTn id="266" dur="500" fill="hold"/>
                                        <p:tgtEl>
                                          <p:spTgt spid="6"/>
                                        </p:tgtEl>
                                        <p:attrNameLst>
                                          <p:attrName>ppt_h</p:attrName>
                                        </p:attrNameLst>
                                      </p:cBhvr>
                                      <p:tavLst>
                                        <p:tav tm="0">
                                          <p:val>
                                            <p:fltVal val="0"/>
                                          </p:val>
                                        </p:tav>
                                        <p:tav tm="100000">
                                          <p:val>
                                            <p:strVal val="#ppt_h"/>
                                          </p:val>
                                        </p:tav>
                                      </p:tavLst>
                                    </p:anim>
                                    <p:animEffect transition="in" filter="fade">
                                      <p:cBhvr>
                                        <p:cTn id="267" dur="500"/>
                                        <p:tgtEl>
                                          <p:spTgt spid="6"/>
                                        </p:tgtEl>
                                      </p:cBhvr>
                                    </p:animEffect>
                                  </p:childTnLst>
                                </p:cTn>
                              </p:par>
                              <p:par>
                                <p:cTn id="268" presetID="53" presetClass="entr" presetSubtype="16" fill="hold" grpId="0" nodeType="withEffect">
                                  <p:stCondLst>
                                    <p:cond delay="250"/>
                                  </p:stCondLst>
                                  <p:childTnLst>
                                    <p:set>
                                      <p:cBhvr>
                                        <p:cTn id="269" dur="1" fill="hold">
                                          <p:stCondLst>
                                            <p:cond delay="0"/>
                                          </p:stCondLst>
                                        </p:cTn>
                                        <p:tgtEl>
                                          <p:spTgt spid="8"/>
                                        </p:tgtEl>
                                        <p:attrNameLst>
                                          <p:attrName>style.visibility</p:attrName>
                                        </p:attrNameLst>
                                      </p:cBhvr>
                                      <p:to>
                                        <p:strVal val="visible"/>
                                      </p:to>
                                    </p:set>
                                    <p:anim calcmode="lin" valueType="num">
                                      <p:cBhvr>
                                        <p:cTn id="270" dur="500" fill="hold"/>
                                        <p:tgtEl>
                                          <p:spTgt spid="8"/>
                                        </p:tgtEl>
                                        <p:attrNameLst>
                                          <p:attrName>ppt_w</p:attrName>
                                        </p:attrNameLst>
                                      </p:cBhvr>
                                      <p:tavLst>
                                        <p:tav tm="0">
                                          <p:val>
                                            <p:fltVal val="0"/>
                                          </p:val>
                                        </p:tav>
                                        <p:tav tm="100000">
                                          <p:val>
                                            <p:strVal val="#ppt_w"/>
                                          </p:val>
                                        </p:tav>
                                      </p:tavLst>
                                    </p:anim>
                                    <p:anim calcmode="lin" valueType="num">
                                      <p:cBhvr>
                                        <p:cTn id="271" dur="500" fill="hold"/>
                                        <p:tgtEl>
                                          <p:spTgt spid="8"/>
                                        </p:tgtEl>
                                        <p:attrNameLst>
                                          <p:attrName>ppt_h</p:attrName>
                                        </p:attrNameLst>
                                      </p:cBhvr>
                                      <p:tavLst>
                                        <p:tav tm="0">
                                          <p:val>
                                            <p:fltVal val="0"/>
                                          </p:val>
                                        </p:tav>
                                        <p:tav tm="100000">
                                          <p:val>
                                            <p:strVal val="#ppt_h"/>
                                          </p:val>
                                        </p:tav>
                                      </p:tavLst>
                                    </p:anim>
                                    <p:animEffect transition="in" filter="fade">
                                      <p:cBhvr>
                                        <p:cTn id="272" dur="500"/>
                                        <p:tgtEl>
                                          <p:spTgt spid="8"/>
                                        </p:tgtEl>
                                      </p:cBhvr>
                                    </p:animEffect>
                                  </p:childTnLst>
                                </p:cTn>
                              </p:par>
                              <p:par>
                                <p:cTn id="273" presetID="53" presetClass="entr" presetSubtype="16" fill="hold" grpId="0" nodeType="withEffect">
                                  <p:stCondLst>
                                    <p:cond delay="250"/>
                                  </p:stCondLst>
                                  <p:childTnLst>
                                    <p:set>
                                      <p:cBhvr>
                                        <p:cTn id="274" dur="1" fill="hold">
                                          <p:stCondLst>
                                            <p:cond delay="0"/>
                                          </p:stCondLst>
                                        </p:cTn>
                                        <p:tgtEl>
                                          <p:spTgt spid="2429"/>
                                        </p:tgtEl>
                                        <p:attrNameLst>
                                          <p:attrName>style.visibility</p:attrName>
                                        </p:attrNameLst>
                                      </p:cBhvr>
                                      <p:to>
                                        <p:strVal val="visible"/>
                                      </p:to>
                                    </p:set>
                                    <p:anim calcmode="lin" valueType="num">
                                      <p:cBhvr>
                                        <p:cTn id="275" dur="500" fill="hold"/>
                                        <p:tgtEl>
                                          <p:spTgt spid="2429"/>
                                        </p:tgtEl>
                                        <p:attrNameLst>
                                          <p:attrName>ppt_w</p:attrName>
                                        </p:attrNameLst>
                                      </p:cBhvr>
                                      <p:tavLst>
                                        <p:tav tm="0">
                                          <p:val>
                                            <p:fltVal val="0"/>
                                          </p:val>
                                        </p:tav>
                                        <p:tav tm="100000">
                                          <p:val>
                                            <p:strVal val="#ppt_w"/>
                                          </p:val>
                                        </p:tav>
                                      </p:tavLst>
                                    </p:anim>
                                    <p:anim calcmode="lin" valueType="num">
                                      <p:cBhvr>
                                        <p:cTn id="276" dur="500" fill="hold"/>
                                        <p:tgtEl>
                                          <p:spTgt spid="2429"/>
                                        </p:tgtEl>
                                        <p:attrNameLst>
                                          <p:attrName>ppt_h</p:attrName>
                                        </p:attrNameLst>
                                      </p:cBhvr>
                                      <p:tavLst>
                                        <p:tav tm="0">
                                          <p:val>
                                            <p:fltVal val="0"/>
                                          </p:val>
                                        </p:tav>
                                        <p:tav tm="100000">
                                          <p:val>
                                            <p:strVal val="#ppt_h"/>
                                          </p:val>
                                        </p:tav>
                                      </p:tavLst>
                                    </p:anim>
                                    <p:animEffect transition="in" filter="fade">
                                      <p:cBhvr>
                                        <p:cTn id="277" dur="500"/>
                                        <p:tgtEl>
                                          <p:spTgt spid="2429"/>
                                        </p:tgtEl>
                                      </p:cBhvr>
                                    </p:animEffect>
                                  </p:childTnLst>
                                </p:cTn>
                              </p:par>
                              <p:par>
                                <p:cTn id="278" presetID="22" presetClass="entr" presetSubtype="1" fill="hold" nodeType="withEffect">
                                  <p:stCondLst>
                                    <p:cond delay="0"/>
                                  </p:stCondLst>
                                  <p:childTnLst>
                                    <p:set>
                                      <p:cBhvr>
                                        <p:cTn id="279" dur="1" fill="hold">
                                          <p:stCondLst>
                                            <p:cond delay="0"/>
                                          </p:stCondLst>
                                        </p:cTn>
                                        <p:tgtEl>
                                          <p:spTgt spid="1151"/>
                                        </p:tgtEl>
                                        <p:attrNameLst>
                                          <p:attrName>style.visibility</p:attrName>
                                        </p:attrNameLst>
                                      </p:cBhvr>
                                      <p:to>
                                        <p:strVal val="visible"/>
                                      </p:to>
                                    </p:set>
                                    <p:animEffect transition="in" filter="wipe(up)">
                                      <p:cBhvr>
                                        <p:cTn id="280" dur="500"/>
                                        <p:tgtEl>
                                          <p:spTgt spid="1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7" grpId="0" animBg="1"/>
      <p:bldP spid="2408" grpId="0" animBg="1"/>
      <p:bldP spid="2409" grpId="0" animBg="1"/>
      <p:bldP spid="2410" grpId="0" animBg="1"/>
      <p:bldP spid="2411" grpId="0" animBg="1"/>
      <p:bldP spid="2412" grpId="0" animBg="1"/>
      <p:bldP spid="2413" grpId="0" animBg="1"/>
      <p:bldP spid="2414" grpId="0" animBg="1"/>
      <p:bldP spid="2417" grpId="0" animBg="1"/>
      <p:bldP spid="2418" grpId="0" animBg="1"/>
      <p:bldP spid="2419" grpId="0" animBg="1"/>
      <p:bldP spid="2420" grpId="0" animBg="1"/>
      <p:bldP spid="2423" grpId="0" animBg="1"/>
      <p:bldP spid="2424" grpId="0" animBg="1"/>
      <p:bldP spid="2425" grpId="0" animBg="1"/>
      <p:bldP spid="2426" grpId="0" animBg="1"/>
      <p:bldP spid="2427" grpId="0" animBg="1"/>
      <p:bldP spid="2429" grpId="0" animBg="1"/>
      <p:bldP spid="2430" grpId="0" animBg="1"/>
      <p:bldP spid="2431" grpId="0" animBg="1"/>
      <p:bldP spid="2432" grpId="0" animBg="1"/>
      <p:bldP spid="2433" grpId="0" animBg="1"/>
      <p:bldP spid="2434" grpId="0" animBg="1"/>
      <p:bldP spid="2435" grpId="0" animBg="1"/>
      <p:bldP spid="2436" grpId="0" animBg="1"/>
      <p:bldP spid="2437" grpId="0" animBg="1"/>
      <p:bldP spid="2438" grpId="0" animBg="1"/>
      <p:bldP spid="2439" grpId="0" animBg="1"/>
      <p:bldP spid="2440" grpId="0" animBg="1"/>
      <p:bldP spid="2441" grpId="0" animBg="1"/>
      <p:bldP spid="2442" grpId="0" animBg="1"/>
      <p:bldP spid="2443" grpId="0" animBg="1"/>
      <p:bldP spid="2444" grpId="0" animBg="1"/>
      <p:bldP spid="2447" grpId="0" animBg="1"/>
      <p:bldP spid="2449" grpId="0" animBg="1"/>
      <p:bldP spid="2450" grpId="0" animBg="1"/>
      <p:bldP spid="2451" grpId="0" animBg="1"/>
      <p:bldP spid="2452" grpId="0" animBg="1"/>
      <p:bldP spid="2453" grpId="0" animBg="1"/>
      <p:bldP spid="2455" grpId="0" animBg="1"/>
      <p:bldP spid="2456" grpId="0" animBg="1"/>
      <p:bldP spid="2457" grpId="0" animBg="1"/>
      <p:bldP spid="2458" grpId="0" animBg="1"/>
      <p:bldP spid="2459" grpId="0" animBg="1"/>
      <p:bldP spid="2460" grpId="0" animBg="1"/>
      <p:bldP spid="2461" grpId="0" animBg="1"/>
      <p:bldP spid="2462" grpId="0" animBg="1"/>
      <p:bldP spid="2463" grpId="0" animBg="1"/>
      <p:bldP spid="2464" grpId="0" animBg="1"/>
      <p:bldP spid="2465" grpId="0" animBg="1"/>
      <p:bldP spid="1288" grpId="0"/>
      <p:bldP spid="4" grpId="0" animBg="1"/>
      <p:bldP spid="5" grpId="0" animBg="1"/>
      <p:bldP spid="6" grpId="0" animBg="1"/>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Freeform: Shape 103">
            <a:extLst>
              <a:ext uri="{FF2B5EF4-FFF2-40B4-BE49-F238E27FC236}">
                <a16:creationId xmlns:a16="http://schemas.microsoft.com/office/drawing/2014/main" id="{D3053BF7-1D99-460E-95BB-82D721714673}"/>
              </a:ext>
              <a:ext uri="{C183D7F6-B498-43B3-948B-1728B52AA6E4}">
                <adec:decorative xmlns:adec="http://schemas.microsoft.com/office/drawing/2017/decorative" val="1"/>
              </a:ext>
            </a:extLst>
          </p:cNvPr>
          <p:cNvSpPr/>
          <p:nvPr/>
        </p:nvSpPr>
        <p:spPr bwMode="auto">
          <a:xfrm>
            <a:off x="6160568" y="818883"/>
            <a:ext cx="6031433" cy="5242128"/>
          </a:xfrm>
          <a:custGeom>
            <a:avLst/>
            <a:gdLst>
              <a:gd name="connsiteX0" fmla="*/ 215242 w 6031433"/>
              <a:gd name="connsiteY0" fmla="*/ 0 h 5242128"/>
              <a:gd name="connsiteX1" fmla="*/ 6031433 w 6031433"/>
              <a:gd name="connsiteY1" fmla="*/ 0 h 5242128"/>
              <a:gd name="connsiteX2" fmla="*/ 6031433 w 6031433"/>
              <a:gd name="connsiteY2" fmla="*/ 5242128 h 5242128"/>
              <a:gd name="connsiteX3" fmla="*/ 215242 w 6031433"/>
              <a:gd name="connsiteY3" fmla="*/ 5242128 h 5242128"/>
              <a:gd name="connsiteX4" fmla="*/ 0 w 6031433"/>
              <a:gd name="connsiteY4" fmla="*/ 5026886 h 5242128"/>
              <a:gd name="connsiteX5" fmla="*/ 0 w 6031433"/>
              <a:gd name="connsiteY5" fmla="*/ 215242 h 5242128"/>
              <a:gd name="connsiteX6" fmla="*/ 215242 w 6031433"/>
              <a:gd name="connsiteY6" fmla="*/ 0 h 524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31433" h="5242128">
                <a:moveTo>
                  <a:pt x="215242" y="0"/>
                </a:moveTo>
                <a:lnTo>
                  <a:pt x="6031433" y="0"/>
                </a:lnTo>
                <a:lnTo>
                  <a:pt x="6031433" y="5242128"/>
                </a:lnTo>
                <a:lnTo>
                  <a:pt x="215242" y="5242128"/>
                </a:lnTo>
                <a:cubicBezTo>
                  <a:pt x="96367" y="5242128"/>
                  <a:pt x="0" y="5145761"/>
                  <a:pt x="0" y="5026886"/>
                </a:cubicBezTo>
                <a:lnTo>
                  <a:pt x="0" y="215242"/>
                </a:lnTo>
                <a:cubicBezTo>
                  <a:pt x="0" y="96367"/>
                  <a:pt x="96367" y="0"/>
                  <a:pt x="215242" y="0"/>
                </a:cubicBez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 name="Picture 9">
            <a:extLst>
              <a:ext uri="{FF2B5EF4-FFF2-40B4-BE49-F238E27FC236}">
                <a16:creationId xmlns:a16="http://schemas.microsoft.com/office/drawing/2014/main" id="{F2F9BD21-97F0-4C1D-AFCB-A12F96F5EAF6}"/>
              </a:ext>
              <a:ext uri="{C183D7F6-B498-43B3-948B-1728B52AA6E4}">
                <adec:decorative xmlns:adec="http://schemas.microsoft.com/office/drawing/2017/decorative" val="1"/>
              </a:ext>
            </a:extLst>
          </p:cNvPr>
          <p:cNvPicPr>
            <a:picLocks noChangeAspect="1"/>
          </p:cNvPicPr>
          <p:nvPr/>
        </p:nvPicPr>
        <p:blipFill rotWithShape="1">
          <a:blip r:embed="rId4"/>
          <a:srcRect l="196" r="28704"/>
          <a:stretch/>
        </p:blipFill>
        <p:spPr>
          <a:xfrm>
            <a:off x="6402185" y="1048606"/>
            <a:ext cx="5789815" cy="4782681"/>
          </a:xfrm>
          <a:prstGeom prst="rect">
            <a:avLst/>
          </a:prstGeom>
        </p:spPr>
      </p:pic>
      <p:sp>
        <p:nvSpPr>
          <p:cNvPr id="2" name="Title 1">
            <a:extLst>
              <a:ext uri="{FF2B5EF4-FFF2-40B4-BE49-F238E27FC236}">
                <a16:creationId xmlns:a16="http://schemas.microsoft.com/office/drawing/2014/main" id="{666EF3CF-7EED-4AC8-ABAD-A2A7A35987AB}"/>
              </a:ext>
            </a:extLst>
          </p:cNvPr>
          <p:cNvSpPr>
            <a:spLocks noGrp="1"/>
          </p:cNvSpPr>
          <p:nvPr>
            <p:ph type="title"/>
          </p:nvPr>
        </p:nvSpPr>
        <p:spPr/>
        <p:txBody>
          <a:bodyPr/>
          <a:lstStyle/>
          <a:p>
            <a:r>
              <a:rPr lang="en-US"/>
              <a:t>Save on your terms</a:t>
            </a:r>
          </a:p>
        </p:txBody>
      </p:sp>
      <p:sp>
        <p:nvSpPr>
          <p:cNvPr id="49" name="Rectangle: Rounded Corners 48">
            <a:extLst>
              <a:ext uri="{FF2B5EF4-FFF2-40B4-BE49-F238E27FC236}">
                <a16:creationId xmlns:a16="http://schemas.microsoft.com/office/drawing/2014/main" id="{C4F33215-3F22-4F8D-AF9D-D55EF3934A2F}"/>
              </a:ext>
            </a:extLst>
          </p:cNvPr>
          <p:cNvSpPr/>
          <p:nvPr/>
        </p:nvSpPr>
        <p:spPr bwMode="auto">
          <a:xfrm>
            <a:off x="430340" y="2173631"/>
            <a:ext cx="4651634" cy="3325535"/>
          </a:xfrm>
          <a:prstGeom prst="roundRect">
            <a:avLst>
              <a:gd name="adj" fmla="val 4282"/>
            </a:avLst>
          </a:prstGeom>
          <a:solidFill>
            <a:schemeClr val="bg1"/>
          </a:solid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gradFill>
                  <a:gsLst>
                    <a:gs pos="54400">
                      <a:srgbClr val="243A5E"/>
                    </a:gs>
                    <a:gs pos="100000">
                      <a:srgbClr val="243A5E"/>
                    </a:gs>
                  </a:gsLst>
                  <a:lin ang="0" scaled="0"/>
                </a:gradFill>
                <a:effectLst/>
                <a:uLnTx/>
                <a:uFillTx/>
                <a:latin typeface="Segoe UI Semibold"/>
                <a:ea typeface="+mn-ea"/>
                <a:cs typeface="Segoe UI" panose="020B0502040204020203" pitchFamily="34" charset="0"/>
              </a:rPr>
              <a:t>Quick and easy to purchase with flexible plan options to fit customers’ needs </a:t>
            </a:r>
          </a:p>
          <a:p>
            <a:pPr marL="512763"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Save on compute usage by choosing a 1- or </a:t>
            </a:r>
            <a:br>
              <a:rPr kumimoji="0" lang="en-US" sz="12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br>
            <a:r>
              <a:rPr kumimoji="0" lang="en-US" sz="12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3-year term</a:t>
            </a:r>
          </a:p>
          <a:p>
            <a:pPr marL="512763"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Get help setting the optimal hourly commitment amount with personalized recommendations based on your recent usage </a:t>
            </a:r>
          </a:p>
          <a:p>
            <a:pPr marL="512763"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Enjoy flexible payment options—pay all upfront or monthly at no extra cost</a:t>
            </a:r>
          </a:p>
          <a:p>
            <a:pPr marL="512763"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Streamline savings according to budget needs—scope plan to a subscription, resource group, management group or entire account</a:t>
            </a:r>
          </a:p>
        </p:txBody>
      </p:sp>
      <p:sp>
        <p:nvSpPr>
          <p:cNvPr id="65" name="Oval 64">
            <a:extLst>
              <a:ext uri="{FF2B5EF4-FFF2-40B4-BE49-F238E27FC236}">
                <a16:creationId xmlns:a16="http://schemas.microsoft.com/office/drawing/2014/main" id="{E4682900-F404-4525-87EC-F711336C87AF}"/>
              </a:ext>
              <a:ext uri="{C183D7F6-B498-43B3-948B-1728B52AA6E4}">
                <adec:decorative xmlns:adec="http://schemas.microsoft.com/office/drawing/2017/decorative" val="1"/>
              </a:ext>
            </a:extLst>
          </p:cNvPr>
          <p:cNvSpPr/>
          <p:nvPr/>
        </p:nvSpPr>
        <p:spPr bwMode="auto">
          <a:xfrm>
            <a:off x="1809599" y="1140155"/>
            <a:ext cx="578427" cy="578427"/>
          </a:xfrm>
          <a:prstGeom prst="ellipse">
            <a:avLst/>
          </a:prstGeom>
          <a:solidFill>
            <a:schemeClr val="bg1"/>
          </a:solidFill>
          <a:ln w="28575">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737360" rIns="274320" bIns="274320" numCol="1" spcCol="0" rtlCol="0" fromWordArt="0" anchor="t"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600"/>
              </a:spcAft>
              <a:buClr>
                <a:srgbClr val="000000"/>
              </a:buClr>
              <a:buSzPct val="90000"/>
              <a:buFontTx/>
              <a:buNone/>
              <a:tabLst/>
              <a:defRPr/>
            </a:pPr>
            <a:endParaRPr kumimoji="0" lang="en-US" sz="1600" b="0" i="0" u="none" strike="noStrike" kern="1200" cap="none" spc="0" normalizeH="0" baseline="0" noProof="0" err="1">
              <a:ln>
                <a:noFill/>
              </a:ln>
              <a:gradFill>
                <a:gsLst>
                  <a:gs pos="54400">
                    <a:srgbClr val="0078D3"/>
                  </a:gs>
                  <a:gs pos="100000">
                    <a:srgbClr val="0078D3"/>
                  </a:gs>
                </a:gsLst>
                <a:lin ang="0" scaled="0"/>
              </a:gradFill>
              <a:effectLst/>
              <a:uLnTx/>
              <a:uFillTx/>
              <a:latin typeface="Segoe UI Semibold"/>
              <a:ea typeface="+mn-ea"/>
              <a:cs typeface="Segoe UI" panose="020B0502040204020203" pitchFamily="34" charset="0"/>
            </a:endParaRPr>
          </a:p>
        </p:txBody>
      </p:sp>
      <p:grpSp>
        <p:nvGrpSpPr>
          <p:cNvPr id="74" name="list">
            <a:extLst>
              <a:ext uri="{FF2B5EF4-FFF2-40B4-BE49-F238E27FC236}">
                <a16:creationId xmlns:a16="http://schemas.microsoft.com/office/drawing/2014/main" id="{FC84E0D9-A1AE-4FC9-84BF-3E7AFF4A99A6}"/>
              </a:ext>
              <a:ext uri="{C183D7F6-B498-43B3-948B-1728B52AA6E4}">
                <adec:decorative xmlns:adec="http://schemas.microsoft.com/office/drawing/2017/decorative" val="1"/>
              </a:ext>
            </a:extLst>
          </p:cNvPr>
          <p:cNvGrpSpPr/>
          <p:nvPr/>
        </p:nvGrpSpPr>
        <p:grpSpPr>
          <a:xfrm>
            <a:off x="1924279" y="1254835"/>
            <a:ext cx="349066" cy="349066"/>
            <a:chOff x="4473209" y="3968750"/>
            <a:chExt cx="370140" cy="370140"/>
          </a:xfrm>
          <a:effectLst/>
        </p:grpSpPr>
        <p:sp>
          <p:nvSpPr>
            <p:cNvPr id="75" name="Freeform: Shape 74">
              <a:extLst>
                <a:ext uri="{FF2B5EF4-FFF2-40B4-BE49-F238E27FC236}">
                  <a16:creationId xmlns:a16="http://schemas.microsoft.com/office/drawing/2014/main" id="{4E438AD3-DD64-493D-83AD-7A0766A7C5ED}"/>
                </a:ext>
              </a:extLst>
            </p:cNvPr>
            <p:cNvSpPr/>
            <p:nvPr/>
          </p:nvSpPr>
          <p:spPr>
            <a:xfrm>
              <a:off x="4510839" y="3969537"/>
              <a:ext cx="290007" cy="366324"/>
            </a:xfrm>
            <a:custGeom>
              <a:avLst/>
              <a:gdLst>
                <a:gd name="connsiteX0" fmla="*/ 1121 w 290006"/>
                <a:gd name="connsiteY0" fmla="*/ 367064 h 366324"/>
                <a:gd name="connsiteX1" fmla="*/ 290746 w 290006"/>
                <a:gd name="connsiteY1" fmla="*/ 367064 h 366324"/>
                <a:gd name="connsiteX2" fmla="*/ 290746 w 290006"/>
                <a:gd name="connsiteY2" fmla="*/ 1121 h 366324"/>
                <a:gd name="connsiteX3" fmla="*/ 1121 w 290006"/>
                <a:gd name="connsiteY3" fmla="*/ 1121 h 366324"/>
                <a:gd name="connsiteX4" fmla="*/ 1121 w 290006"/>
                <a:gd name="connsiteY4" fmla="*/ 367064 h 366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06" h="366324">
                  <a:moveTo>
                    <a:pt x="1121" y="367064"/>
                  </a:moveTo>
                  <a:lnTo>
                    <a:pt x="290746" y="367064"/>
                  </a:lnTo>
                  <a:lnTo>
                    <a:pt x="290746" y="1121"/>
                  </a:lnTo>
                  <a:lnTo>
                    <a:pt x="1121" y="1121"/>
                  </a:lnTo>
                  <a:lnTo>
                    <a:pt x="1121" y="367064"/>
                  </a:lnTo>
                  <a:close/>
                </a:path>
              </a:pathLst>
            </a:custGeom>
            <a:solidFill>
              <a:srgbClr val="243A5E"/>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6" name="Freeform: Shape 75">
              <a:extLst>
                <a:ext uri="{FF2B5EF4-FFF2-40B4-BE49-F238E27FC236}">
                  <a16:creationId xmlns:a16="http://schemas.microsoft.com/office/drawing/2014/main" id="{2220B9D7-43C0-46EE-A121-01525EA738FC}"/>
                </a:ext>
              </a:extLst>
            </p:cNvPr>
            <p:cNvSpPr/>
            <p:nvPr/>
          </p:nvSpPr>
          <p:spPr>
            <a:xfrm>
              <a:off x="4569221" y="4240076"/>
              <a:ext cx="175530" cy="38159"/>
            </a:xfrm>
            <a:custGeom>
              <a:avLst/>
              <a:gdLst>
                <a:gd name="connsiteX0" fmla="*/ 1121 w 175530"/>
                <a:gd name="connsiteY0" fmla="*/ 39280 h 38158"/>
                <a:gd name="connsiteX1" fmla="*/ 174744 w 175530"/>
                <a:gd name="connsiteY1" fmla="*/ 39280 h 38158"/>
                <a:gd name="connsiteX2" fmla="*/ 174744 w 175530"/>
                <a:gd name="connsiteY2" fmla="*/ 1121 h 38158"/>
                <a:gd name="connsiteX3" fmla="*/ 1121 w 175530"/>
                <a:gd name="connsiteY3" fmla="*/ 1121 h 38158"/>
                <a:gd name="connsiteX4" fmla="*/ 1121 w 175530"/>
                <a:gd name="connsiteY4" fmla="*/ 39280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280"/>
                  </a:moveTo>
                  <a:lnTo>
                    <a:pt x="174744" y="39280"/>
                  </a:lnTo>
                  <a:lnTo>
                    <a:pt x="174744" y="1121"/>
                  </a:lnTo>
                  <a:lnTo>
                    <a:pt x="1121" y="1121"/>
                  </a:lnTo>
                  <a:lnTo>
                    <a:pt x="1121" y="39280"/>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7" name="Freeform: Shape 76">
              <a:extLst>
                <a:ext uri="{FF2B5EF4-FFF2-40B4-BE49-F238E27FC236}">
                  <a16:creationId xmlns:a16="http://schemas.microsoft.com/office/drawing/2014/main" id="{39AC3787-5147-4742-8BDD-A9AD697C416F}"/>
                </a:ext>
              </a:extLst>
            </p:cNvPr>
            <p:cNvSpPr/>
            <p:nvPr/>
          </p:nvSpPr>
          <p:spPr>
            <a:xfrm>
              <a:off x="4569221" y="4182078"/>
              <a:ext cx="175530" cy="38159"/>
            </a:xfrm>
            <a:custGeom>
              <a:avLst/>
              <a:gdLst>
                <a:gd name="connsiteX0" fmla="*/ 1121 w 175530"/>
                <a:gd name="connsiteY0" fmla="*/ 39662 h 38158"/>
                <a:gd name="connsiteX1" fmla="*/ 174744 w 175530"/>
                <a:gd name="connsiteY1" fmla="*/ 39662 h 38158"/>
                <a:gd name="connsiteX2" fmla="*/ 174744 w 175530"/>
                <a:gd name="connsiteY2" fmla="*/ 1121 h 38158"/>
                <a:gd name="connsiteX3" fmla="*/ 1121 w 175530"/>
                <a:gd name="connsiteY3" fmla="*/ 1121 h 38158"/>
                <a:gd name="connsiteX4" fmla="*/ 1121 w 175530"/>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662"/>
                  </a:moveTo>
                  <a:lnTo>
                    <a:pt x="174744" y="39662"/>
                  </a:lnTo>
                  <a:lnTo>
                    <a:pt x="174744"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8" name="Freeform: Shape 77">
              <a:extLst>
                <a:ext uri="{FF2B5EF4-FFF2-40B4-BE49-F238E27FC236}">
                  <a16:creationId xmlns:a16="http://schemas.microsoft.com/office/drawing/2014/main" id="{9DBF2370-245C-4FF5-89ED-0A8C84F4E10F}"/>
                </a:ext>
              </a:extLst>
            </p:cNvPr>
            <p:cNvSpPr/>
            <p:nvPr/>
          </p:nvSpPr>
          <p:spPr>
            <a:xfrm>
              <a:off x="4569221" y="4123692"/>
              <a:ext cx="175530" cy="38159"/>
            </a:xfrm>
            <a:custGeom>
              <a:avLst/>
              <a:gdLst>
                <a:gd name="connsiteX0" fmla="*/ 1121 w 175530"/>
                <a:gd name="connsiteY0" fmla="*/ 39662 h 38158"/>
                <a:gd name="connsiteX1" fmla="*/ 174744 w 175530"/>
                <a:gd name="connsiteY1" fmla="*/ 39662 h 38158"/>
                <a:gd name="connsiteX2" fmla="*/ 174744 w 175530"/>
                <a:gd name="connsiteY2" fmla="*/ 1121 h 38158"/>
                <a:gd name="connsiteX3" fmla="*/ 1121 w 175530"/>
                <a:gd name="connsiteY3" fmla="*/ 1121 h 38158"/>
                <a:gd name="connsiteX4" fmla="*/ 1121 w 175530"/>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662"/>
                  </a:moveTo>
                  <a:lnTo>
                    <a:pt x="174744" y="39662"/>
                  </a:lnTo>
                  <a:lnTo>
                    <a:pt x="174744"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9" name="Freeform: Shape 78">
              <a:extLst>
                <a:ext uri="{FF2B5EF4-FFF2-40B4-BE49-F238E27FC236}">
                  <a16:creationId xmlns:a16="http://schemas.microsoft.com/office/drawing/2014/main" id="{3018E50A-D79F-4171-A763-C1FC122CDAF6}"/>
                </a:ext>
              </a:extLst>
            </p:cNvPr>
            <p:cNvSpPr/>
            <p:nvPr/>
          </p:nvSpPr>
          <p:spPr>
            <a:xfrm>
              <a:off x="4684082" y="4065321"/>
              <a:ext cx="57238" cy="38159"/>
            </a:xfrm>
            <a:custGeom>
              <a:avLst/>
              <a:gdLst>
                <a:gd name="connsiteX0" fmla="*/ 1121 w 57238"/>
                <a:gd name="connsiteY0" fmla="*/ 39662 h 38158"/>
                <a:gd name="connsiteX1" fmla="*/ 59886 w 57238"/>
                <a:gd name="connsiteY1" fmla="*/ 39662 h 38158"/>
                <a:gd name="connsiteX2" fmla="*/ 59886 w 57238"/>
                <a:gd name="connsiteY2" fmla="*/ 1121 h 38158"/>
                <a:gd name="connsiteX3" fmla="*/ 1121 w 57238"/>
                <a:gd name="connsiteY3" fmla="*/ 1121 h 38158"/>
                <a:gd name="connsiteX4" fmla="*/ 1121 w 57238"/>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38" h="38158">
                  <a:moveTo>
                    <a:pt x="1121" y="39662"/>
                  </a:moveTo>
                  <a:lnTo>
                    <a:pt x="59886" y="39662"/>
                  </a:lnTo>
                  <a:lnTo>
                    <a:pt x="59886"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80" name="Freeform: Shape 79">
              <a:extLst>
                <a:ext uri="{FF2B5EF4-FFF2-40B4-BE49-F238E27FC236}">
                  <a16:creationId xmlns:a16="http://schemas.microsoft.com/office/drawing/2014/main" id="{A673F6A5-6146-4C2D-A204-608C70E1B593}"/>
                </a:ext>
              </a:extLst>
            </p:cNvPr>
            <p:cNvSpPr/>
            <p:nvPr/>
          </p:nvSpPr>
          <p:spPr>
            <a:xfrm>
              <a:off x="4684082" y="4008083"/>
              <a:ext cx="57238" cy="38159"/>
            </a:xfrm>
            <a:custGeom>
              <a:avLst/>
              <a:gdLst>
                <a:gd name="connsiteX0" fmla="*/ 1121 w 57238"/>
                <a:gd name="connsiteY0" fmla="*/ 39280 h 38158"/>
                <a:gd name="connsiteX1" fmla="*/ 59886 w 57238"/>
                <a:gd name="connsiteY1" fmla="*/ 39280 h 38158"/>
                <a:gd name="connsiteX2" fmla="*/ 59886 w 57238"/>
                <a:gd name="connsiteY2" fmla="*/ 1121 h 38158"/>
                <a:gd name="connsiteX3" fmla="*/ 1121 w 57238"/>
                <a:gd name="connsiteY3" fmla="*/ 1121 h 38158"/>
                <a:gd name="connsiteX4" fmla="*/ 1121 w 57238"/>
                <a:gd name="connsiteY4" fmla="*/ 39280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38" h="38158">
                  <a:moveTo>
                    <a:pt x="1121" y="39280"/>
                  </a:moveTo>
                  <a:lnTo>
                    <a:pt x="59886" y="39280"/>
                  </a:lnTo>
                  <a:lnTo>
                    <a:pt x="59886" y="1121"/>
                  </a:lnTo>
                  <a:lnTo>
                    <a:pt x="1121" y="1121"/>
                  </a:lnTo>
                  <a:lnTo>
                    <a:pt x="1121" y="39280"/>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81" name="Freeform: Shape 80">
              <a:extLst>
                <a:ext uri="{FF2B5EF4-FFF2-40B4-BE49-F238E27FC236}">
                  <a16:creationId xmlns:a16="http://schemas.microsoft.com/office/drawing/2014/main" id="{DEC50E27-F6A4-4733-8BBA-73D36492FCAD}"/>
                </a:ext>
              </a:extLst>
            </p:cNvPr>
            <p:cNvSpPr/>
            <p:nvPr/>
          </p:nvSpPr>
          <p:spPr>
            <a:xfrm>
              <a:off x="4589829" y="4022571"/>
              <a:ext cx="76318" cy="76318"/>
            </a:xfrm>
            <a:custGeom>
              <a:avLst/>
              <a:gdLst>
                <a:gd name="connsiteX0" fmla="*/ 1121 w 76317"/>
                <a:gd name="connsiteY0" fmla="*/ 66373 h 76317"/>
                <a:gd name="connsiteX1" fmla="*/ 12950 w 76317"/>
                <a:gd name="connsiteY1" fmla="*/ 78202 h 76317"/>
                <a:gd name="connsiteX2" fmla="*/ 78202 w 76317"/>
                <a:gd name="connsiteY2" fmla="*/ 12950 h 76317"/>
                <a:gd name="connsiteX3" fmla="*/ 66373 w 76317"/>
                <a:gd name="connsiteY3" fmla="*/ 1121 h 76317"/>
                <a:gd name="connsiteX4" fmla="*/ 1121 w 76317"/>
                <a:gd name="connsiteY4" fmla="*/ 66373 h 76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17" h="76317">
                  <a:moveTo>
                    <a:pt x="1121" y="66373"/>
                  </a:moveTo>
                  <a:lnTo>
                    <a:pt x="12950" y="78202"/>
                  </a:lnTo>
                  <a:lnTo>
                    <a:pt x="78202" y="12950"/>
                  </a:lnTo>
                  <a:lnTo>
                    <a:pt x="66373" y="1121"/>
                  </a:lnTo>
                  <a:lnTo>
                    <a:pt x="1121" y="66373"/>
                  </a:lnTo>
                  <a:close/>
                </a:path>
              </a:pathLst>
            </a:custGeom>
            <a:solidFill>
              <a:srgbClr val="FFFF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82" name="Freeform: Shape 81">
              <a:extLst>
                <a:ext uri="{FF2B5EF4-FFF2-40B4-BE49-F238E27FC236}">
                  <a16:creationId xmlns:a16="http://schemas.microsoft.com/office/drawing/2014/main" id="{C8D1DFEF-5C62-4598-B2D8-71965E52D88C}"/>
                </a:ext>
              </a:extLst>
            </p:cNvPr>
            <p:cNvSpPr/>
            <p:nvPr/>
          </p:nvSpPr>
          <p:spPr>
            <a:xfrm>
              <a:off x="4563878" y="4050430"/>
              <a:ext cx="49606" cy="49606"/>
            </a:xfrm>
            <a:custGeom>
              <a:avLst/>
              <a:gdLst>
                <a:gd name="connsiteX0" fmla="*/ 38517 w 49606"/>
                <a:gd name="connsiteY0" fmla="*/ 49964 h 49606"/>
                <a:gd name="connsiteX1" fmla="*/ 50346 w 49606"/>
                <a:gd name="connsiteY1" fmla="*/ 38135 h 49606"/>
                <a:gd name="connsiteX2" fmla="*/ 12950 w 49606"/>
                <a:gd name="connsiteY2" fmla="*/ 1121 h 49606"/>
                <a:gd name="connsiteX3" fmla="*/ 1121 w 49606"/>
                <a:gd name="connsiteY3" fmla="*/ 12950 h 49606"/>
                <a:gd name="connsiteX4" fmla="*/ 38517 w 49606"/>
                <a:gd name="connsiteY4" fmla="*/ 49964 h 49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06" h="49606">
                  <a:moveTo>
                    <a:pt x="38517" y="49964"/>
                  </a:moveTo>
                  <a:lnTo>
                    <a:pt x="50346" y="38135"/>
                  </a:lnTo>
                  <a:lnTo>
                    <a:pt x="12950" y="1121"/>
                  </a:lnTo>
                  <a:lnTo>
                    <a:pt x="1121" y="12950"/>
                  </a:lnTo>
                  <a:lnTo>
                    <a:pt x="38517" y="49964"/>
                  </a:lnTo>
                  <a:close/>
                </a:path>
              </a:pathLst>
            </a:custGeom>
            <a:solidFill>
              <a:srgbClr val="FFFF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25" name="Oval 24">
            <a:extLst>
              <a:ext uri="{FF2B5EF4-FFF2-40B4-BE49-F238E27FC236}">
                <a16:creationId xmlns:a16="http://schemas.microsoft.com/office/drawing/2014/main" id="{46748CF4-3BCA-43C6-8301-DA89E8ED4A4D}"/>
              </a:ext>
              <a:ext uri="{C183D7F6-B498-43B3-948B-1728B52AA6E4}">
                <adec:decorative xmlns:adec="http://schemas.microsoft.com/office/drawing/2017/decorative" val="1"/>
              </a:ext>
            </a:extLst>
          </p:cNvPr>
          <p:cNvSpPr>
            <a:spLocks noChangeAspect="1"/>
          </p:cNvSpPr>
          <p:nvPr/>
        </p:nvSpPr>
        <p:spPr bwMode="auto">
          <a:xfrm>
            <a:off x="679621" y="2969225"/>
            <a:ext cx="365760" cy="365760"/>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a:ln>
                  <a:noFill/>
                </a:ln>
                <a:solidFill>
                  <a:srgbClr val="50E6FF"/>
                </a:solidFill>
                <a:effectLst/>
                <a:uLnTx/>
                <a:uFillTx/>
                <a:latin typeface="Segoe UI"/>
                <a:ea typeface="Segoe UI" pitchFamily="34" charset="0"/>
                <a:cs typeface="Segoe UI" pitchFamily="34" charset="0"/>
              </a:rPr>
              <a:t>1</a:t>
            </a:r>
          </a:p>
        </p:txBody>
      </p:sp>
      <p:sp>
        <p:nvSpPr>
          <p:cNvPr id="91" name="Oval 90">
            <a:extLst>
              <a:ext uri="{FF2B5EF4-FFF2-40B4-BE49-F238E27FC236}">
                <a16:creationId xmlns:a16="http://schemas.microsoft.com/office/drawing/2014/main" id="{7E858173-384E-43E9-8B3B-0D8F0689843F}"/>
              </a:ext>
              <a:ext uri="{C183D7F6-B498-43B3-948B-1728B52AA6E4}">
                <adec:decorative xmlns:adec="http://schemas.microsoft.com/office/drawing/2017/decorative" val="1"/>
              </a:ext>
            </a:extLst>
          </p:cNvPr>
          <p:cNvSpPr>
            <a:spLocks noChangeAspect="1"/>
          </p:cNvSpPr>
          <p:nvPr/>
        </p:nvSpPr>
        <p:spPr bwMode="auto">
          <a:xfrm>
            <a:off x="679621" y="3495921"/>
            <a:ext cx="365760" cy="365760"/>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a:ln>
                  <a:noFill/>
                </a:ln>
                <a:solidFill>
                  <a:srgbClr val="50E6FF"/>
                </a:solidFill>
                <a:effectLst/>
                <a:uLnTx/>
                <a:uFillTx/>
                <a:latin typeface="Segoe UI"/>
                <a:ea typeface="Segoe UI" pitchFamily="34" charset="0"/>
                <a:cs typeface="Segoe UI" pitchFamily="34" charset="0"/>
              </a:rPr>
              <a:t>2</a:t>
            </a:r>
          </a:p>
        </p:txBody>
      </p:sp>
      <p:sp>
        <p:nvSpPr>
          <p:cNvPr id="92" name="Oval 91">
            <a:extLst>
              <a:ext uri="{FF2B5EF4-FFF2-40B4-BE49-F238E27FC236}">
                <a16:creationId xmlns:a16="http://schemas.microsoft.com/office/drawing/2014/main" id="{81C5D62B-670F-492E-9569-C13C9D00DFE9}"/>
              </a:ext>
              <a:ext uri="{C183D7F6-B498-43B3-948B-1728B52AA6E4}">
                <adec:decorative xmlns:adec="http://schemas.microsoft.com/office/drawing/2017/decorative" val="1"/>
              </a:ext>
            </a:extLst>
          </p:cNvPr>
          <p:cNvSpPr>
            <a:spLocks noChangeAspect="1"/>
          </p:cNvSpPr>
          <p:nvPr/>
        </p:nvSpPr>
        <p:spPr bwMode="auto">
          <a:xfrm>
            <a:off x="679621" y="4192806"/>
            <a:ext cx="365760" cy="365760"/>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a:ln>
                  <a:noFill/>
                </a:ln>
                <a:solidFill>
                  <a:srgbClr val="50E6FF"/>
                </a:solidFill>
                <a:effectLst/>
                <a:uLnTx/>
                <a:uFillTx/>
                <a:latin typeface="Segoe UI"/>
                <a:ea typeface="Segoe UI" pitchFamily="34" charset="0"/>
                <a:cs typeface="Segoe UI" pitchFamily="34" charset="0"/>
              </a:rPr>
              <a:t>3</a:t>
            </a:r>
          </a:p>
        </p:txBody>
      </p:sp>
      <p:sp>
        <p:nvSpPr>
          <p:cNvPr id="93" name="Oval 92">
            <a:extLst>
              <a:ext uri="{FF2B5EF4-FFF2-40B4-BE49-F238E27FC236}">
                <a16:creationId xmlns:a16="http://schemas.microsoft.com/office/drawing/2014/main" id="{EBFC86AA-7615-4EB0-B0F5-69F0BB5E3316}"/>
              </a:ext>
              <a:ext uri="{C183D7F6-B498-43B3-948B-1728B52AA6E4}">
                <adec:decorative xmlns:adec="http://schemas.microsoft.com/office/drawing/2017/decorative" val="1"/>
              </a:ext>
            </a:extLst>
          </p:cNvPr>
          <p:cNvSpPr>
            <a:spLocks noChangeAspect="1"/>
          </p:cNvSpPr>
          <p:nvPr/>
        </p:nvSpPr>
        <p:spPr bwMode="auto">
          <a:xfrm>
            <a:off x="679621" y="4713120"/>
            <a:ext cx="365760" cy="365760"/>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a:ln>
                  <a:noFill/>
                </a:ln>
                <a:solidFill>
                  <a:srgbClr val="50E6FF"/>
                </a:solidFill>
                <a:effectLst/>
                <a:uLnTx/>
                <a:uFillTx/>
                <a:latin typeface="Segoe UI"/>
                <a:ea typeface="Segoe UI" pitchFamily="34" charset="0"/>
                <a:cs typeface="Segoe UI" pitchFamily="34" charset="0"/>
              </a:rPr>
              <a:t>4</a:t>
            </a:r>
          </a:p>
        </p:txBody>
      </p:sp>
      <p:grpSp>
        <p:nvGrpSpPr>
          <p:cNvPr id="9" name="Group 8">
            <a:extLst>
              <a:ext uri="{FF2B5EF4-FFF2-40B4-BE49-F238E27FC236}">
                <a16:creationId xmlns:a16="http://schemas.microsoft.com/office/drawing/2014/main" id="{D1BE33F8-65B8-4892-AB11-DC653C70449F}"/>
              </a:ext>
              <a:ext uri="{C183D7F6-B498-43B3-948B-1728B52AA6E4}">
                <adec:decorative xmlns:adec="http://schemas.microsoft.com/office/drawing/2017/decorative" val="1"/>
              </a:ext>
            </a:extLst>
          </p:cNvPr>
          <p:cNvGrpSpPr/>
          <p:nvPr/>
        </p:nvGrpSpPr>
        <p:grpSpPr>
          <a:xfrm>
            <a:off x="6474194" y="3783731"/>
            <a:ext cx="2751911" cy="350640"/>
            <a:chOff x="6427602" y="4581674"/>
            <a:chExt cx="2751911" cy="350640"/>
          </a:xfrm>
        </p:grpSpPr>
        <p:sp>
          <p:nvSpPr>
            <p:cNvPr id="100" name="Rectangle 99">
              <a:extLst>
                <a:ext uri="{FF2B5EF4-FFF2-40B4-BE49-F238E27FC236}">
                  <a16:creationId xmlns:a16="http://schemas.microsoft.com/office/drawing/2014/main" id="{6F4E3D87-4420-495A-9A0B-EDADC5293D27}"/>
                </a:ext>
              </a:extLst>
            </p:cNvPr>
            <p:cNvSpPr/>
            <p:nvPr/>
          </p:nvSpPr>
          <p:spPr bwMode="auto">
            <a:xfrm>
              <a:off x="6427602" y="4581674"/>
              <a:ext cx="2614751" cy="350640"/>
            </a:xfrm>
            <a:prstGeom prst="rect">
              <a:avLst/>
            </a:prstGeom>
            <a:noFill/>
            <a:ln w="19050">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97" name="Oval 96">
              <a:extLst>
                <a:ext uri="{FF2B5EF4-FFF2-40B4-BE49-F238E27FC236}">
                  <a16:creationId xmlns:a16="http://schemas.microsoft.com/office/drawing/2014/main" id="{686D6762-195F-4D4B-AF13-6B03ECBDD194}"/>
                </a:ext>
              </a:extLst>
            </p:cNvPr>
            <p:cNvSpPr>
              <a:spLocks noChangeAspect="1"/>
            </p:cNvSpPr>
            <p:nvPr/>
          </p:nvSpPr>
          <p:spPr bwMode="auto">
            <a:xfrm>
              <a:off x="8905193" y="4619834"/>
              <a:ext cx="274320" cy="274320"/>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a:ln>
                    <a:noFill/>
                  </a:ln>
                  <a:solidFill>
                    <a:srgbClr val="50E6FF"/>
                  </a:solidFill>
                  <a:effectLst/>
                  <a:uLnTx/>
                  <a:uFillTx/>
                  <a:latin typeface="Segoe UI"/>
                  <a:ea typeface="+mn-ea"/>
                  <a:cs typeface="Segoe UI" pitchFamily="34" charset="0"/>
                </a:rPr>
                <a:t>3</a:t>
              </a:r>
            </a:p>
          </p:txBody>
        </p:sp>
      </p:grpSp>
      <p:grpSp>
        <p:nvGrpSpPr>
          <p:cNvPr id="7" name="Group 6">
            <a:extLst>
              <a:ext uri="{FF2B5EF4-FFF2-40B4-BE49-F238E27FC236}">
                <a16:creationId xmlns:a16="http://schemas.microsoft.com/office/drawing/2014/main" id="{3C8FA53A-6F6B-49BE-BDD8-4C4E5E601682}"/>
              </a:ext>
              <a:ext uri="{C183D7F6-B498-43B3-948B-1728B52AA6E4}">
                <adec:decorative xmlns:adec="http://schemas.microsoft.com/office/drawing/2017/decorative" val="1"/>
              </a:ext>
            </a:extLst>
          </p:cNvPr>
          <p:cNvGrpSpPr/>
          <p:nvPr/>
        </p:nvGrpSpPr>
        <p:grpSpPr>
          <a:xfrm>
            <a:off x="6474193" y="3465432"/>
            <a:ext cx="3864300" cy="286295"/>
            <a:chOff x="6427601" y="4108893"/>
            <a:chExt cx="3864300" cy="286295"/>
          </a:xfrm>
        </p:grpSpPr>
        <p:sp>
          <p:nvSpPr>
            <p:cNvPr id="101" name="Rectangle 100">
              <a:extLst>
                <a:ext uri="{FF2B5EF4-FFF2-40B4-BE49-F238E27FC236}">
                  <a16:creationId xmlns:a16="http://schemas.microsoft.com/office/drawing/2014/main" id="{5C0DE7ED-6F2F-49BB-90E1-8A147A7A45F1}"/>
                </a:ext>
              </a:extLst>
            </p:cNvPr>
            <p:cNvSpPr/>
            <p:nvPr/>
          </p:nvSpPr>
          <p:spPr bwMode="auto">
            <a:xfrm>
              <a:off x="6427601" y="4108893"/>
              <a:ext cx="3727139" cy="286295"/>
            </a:xfrm>
            <a:prstGeom prst="rect">
              <a:avLst/>
            </a:prstGeom>
            <a:noFill/>
            <a:ln w="19050">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99" name="Oval 98">
              <a:extLst>
                <a:ext uri="{FF2B5EF4-FFF2-40B4-BE49-F238E27FC236}">
                  <a16:creationId xmlns:a16="http://schemas.microsoft.com/office/drawing/2014/main" id="{1662F105-C13E-4045-83C9-8BA4DBE35D98}"/>
                </a:ext>
              </a:extLst>
            </p:cNvPr>
            <p:cNvSpPr>
              <a:spLocks noChangeAspect="1"/>
            </p:cNvSpPr>
            <p:nvPr/>
          </p:nvSpPr>
          <p:spPr bwMode="auto">
            <a:xfrm>
              <a:off x="10017581" y="4114712"/>
              <a:ext cx="274320" cy="274320"/>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a:ln>
                    <a:noFill/>
                  </a:ln>
                  <a:solidFill>
                    <a:srgbClr val="50E6FF"/>
                  </a:solidFill>
                  <a:effectLst/>
                  <a:uLnTx/>
                  <a:uFillTx/>
                  <a:latin typeface="Segoe UI"/>
                  <a:ea typeface="+mn-ea"/>
                  <a:cs typeface="Segoe UI" pitchFamily="34" charset="0"/>
                </a:rPr>
                <a:t>2</a:t>
              </a:r>
            </a:p>
          </p:txBody>
        </p:sp>
      </p:grpSp>
      <p:grpSp>
        <p:nvGrpSpPr>
          <p:cNvPr id="8" name="Group 7">
            <a:extLst>
              <a:ext uri="{FF2B5EF4-FFF2-40B4-BE49-F238E27FC236}">
                <a16:creationId xmlns:a16="http://schemas.microsoft.com/office/drawing/2014/main" id="{AB81E181-6C75-4754-AC28-06B0E103923E}"/>
              </a:ext>
              <a:ext uri="{C183D7F6-B498-43B3-948B-1728B52AA6E4}">
                <adec:decorative xmlns:adec="http://schemas.microsoft.com/office/drawing/2017/decorative" val="1"/>
              </a:ext>
            </a:extLst>
          </p:cNvPr>
          <p:cNvGrpSpPr/>
          <p:nvPr/>
        </p:nvGrpSpPr>
        <p:grpSpPr>
          <a:xfrm>
            <a:off x="6474193" y="4192182"/>
            <a:ext cx="4534757" cy="842334"/>
            <a:chOff x="6427602" y="4867069"/>
            <a:chExt cx="4534757" cy="842334"/>
          </a:xfrm>
        </p:grpSpPr>
        <p:sp>
          <p:nvSpPr>
            <p:cNvPr id="4" name="Rectangle 3">
              <a:extLst>
                <a:ext uri="{FF2B5EF4-FFF2-40B4-BE49-F238E27FC236}">
                  <a16:creationId xmlns:a16="http://schemas.microsoft.com/office/drawing/2014/main" id="{20079A89-BFAB-4679-B8E9-08BF76D1ECF1}"/>
                </a:ext>
              </a:extLst>
            </p:cNvPr>
            <p:cNvSpPr/>
            <p:nvPr/>
          </p:nvSpPr>
          <p:spPr bwMode="auto">
            <a:xfrm>
              <a:off x="6427602" y="4867069"/>
              <a:ext cx="4397597" cy="842334"/>
            </a:xfrm>
            <a:prstGeom prst="rect">
              <a:avLst/>
            </a:prstGeom>
            <a:noFill/>
            <a:ln w="19050">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8" name="Oval 97">
              <a:extLst>
                <a:ext uri="{FF2B5EF4-FFF2-40B4-BE49-F238E27FC236}">
                  <a16:creationId xmlns:a16="http://schemas.microsoft.com/office/drawing/2014/main" id="{37E29897-ADAC-4E26-BB0F-CDEAA46F27A3}"/>
                </a:ext>
              </a:extLst>
            </p:cNvPr>
            <p:cNvSpPr>
              <a:spLocks noChangeAspect="1"/>
            </p:cNvSpPr>
            <p:nvPr/>
          </p:nvSpPr>
          <p:spPr bwMode="auto">
            <a:xfrm>
              <a:off x="10688039" y="5151076"/>
              <a:ext cx="274320" cy="274320"/>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a:ln>
                    <a:noFill/>
                  </a:ln>
                  <a:solidFill>
                    <a:srgbClr val="50E6FF"/>
                  </a:solidFill>
                  <a:effectLst/>
                  <a:uLnTx/>
                  <a:uFillTx/>
                  <a:latin typeface="Segoe UI"/>
                  <a:ea typeface="+mn-ea"/>
                  <a:cs typeface="Segoe UI" pitchFamily="34" charset="0"/>
                </a:rPr>
                <a:t>4</a:t>
              </a:r>
            </a:p>
          </p:txBody>
        </p:sp>
      </p:grpSp>
      <p:grpSp>
        <p:nvGrpSpPr>
          <p:cNvPr id="11" name="Group 10">
            <a:extLst>
              <a:ext uri="{FF2B5EF4-FFF2-40B4-BE49-F238E27FC236}">
                <a16:creationId xmlns:a16="http://schemas.microsoft.com/office/drawing/2014/main" id="{181CE30B-12EF-4C17-B8C2-784B9F0A9925}"/>
              </a:ext>
              <a:ext uri="{C183D7F6-B498-43B3-948B-1728B52AA6E4}">
                <adec:decorative xmlns:adec="http://schemas.microsoft.com/office/drawing/2017/decorative" val="1"/>
              </a:ext>
            </a:extLst>
          </p:cNvPr>
          <p:cNvGrpSpPr/>
          <p:nvPr/>
        </p:nvGrpSpPr>
        <p:grpSpPr>
          <a:xfrm>
            <a:off x="6474194" y="3031525"/>
            <a:ext cx="2534082" cy="395172"/>
            <a:chOff x="6427601" y="3292926"/>
            <a:chExt cx="2534082" cy="395172"/>
          </a:xfrm>
        </p:grpSpPr>
        <p:sp>
          <p:nvSpPr>
            <p:cNvPr id="102" name="Rectangle 101">
              <a:extLst>
                <a:ext uri="{FF2B5EF4-FFF2-40B4-BE49-F238E27FC236}">
                  <a16:creationId xmlns:a16="http://schemas.microsoft.com/office/drawing/2014/main" id="{0EBAF101-7A77-4BED-A0C0-049ABE953038}"/>
                </a:ext>
              </a:extLst>
            </p:cNvPr>
            <p:cNvSpPr/>
            <p:nvPr/>
          </p:nvSpPr>
          <p:spPr bwMode="auto">
            <a:xfrm>
              <a:off x="6427601" y="3292926"/>
              <a:ext cx="2396922" cy="395172"/>
            </a:xfrm>
            <a:prstGeom prst="rect">
              <a:avLst/>
            </a:prstGeom>
            <a:noFill/>
            <a:ln w="19050">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03" name="Oval 102">
              <a:extLst>
                <a:ext uri="{FF2B5EF4-FFF2-40B4-BE49-F238E27FC236}">
                  <a16:creationId xmlns:a16="http://schemas.microsoft.com/office/drawing/2014/main" id="{DA000CE6-5340-4B2D-8E90-F1C12908768C}"/>
                </a:ext>
              </a:extLst>
            </p:cNvPr>
            <p:cNvSpPr>
              <a:spLocks noChangeAspect="1"/>
            </p:cNvSpPr>
            <p:nvPr/>
          </p:nvSpPr>
          <p:spPr bwMode="auto">
            <a:xfrm>
              <a:off x="8687363" y="3353286"/>
              <a:ext cx="274320" cy="274320"/>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a:ln>
                    <a:noFill/>
                  </a:ln>
                  <a:solidFill>
                    <a:srgbClr val="50E6FF"/>
                  </a:solidFill>
                  <a:effectLst/>
                  <a:uLnTx/>
                  <a:uFillTx/>
                  <a:latin typeface="Segoe UI"/>
                  <a:ea typeface="Segoe UI" pitchFamily="34" charset="0"/>
                  <a:cs typeface="Segoe UI" pitchFamily="34" charset="0"/>
                </a:rPr>
                <a:t>1</a:t>
              </a:r>
            </a:p>
          </p:txBody>
        </p:sp>
      </p:grpSp>
      <p:grpSp>
        <p:nvGrpSpPr>
          <p:cNvPr id="122" name="Group 121">
            <a:extLst>
              <a:ext uri="{FF2B5EF4-FFF2-40B4-BE49-F238E27FC236}">
                <a16:creationId xmlns:a16="http://schemas.microsoft.com/office/drawing/2014/main" id="{4D7EC032-C418-477B-8CF5-236C42861EF2}"/>
              </a:ext>
              <a:ext uri="{C183D7F6-B498-43B3-948B-1728B52AA6E4}">
                <adec:decorative xmlns:adec="http://schemas.microsoft.com/office/drawing/2017/decorative" val="1"/>
              </a:ext>
            </a:extLst>
          </p:cNvPr>
          <p:cNvGrpSpPr/>
          <p:nvPr/>
        </p:nvGrpSpPr>
        <p:grpSpPr>
          <a:xfrm>
            <a:off x="1225375" y="1275578"/>
            <a:ext cx="392888" cy="333433"/>
            <a:chOff x="5692537" y="3717104"/>
            <a:chExt cx="1048981" cy="890242"/>
          </a:xfrm>
          <a:effectLst/>
        </p:grpSpPr>
        <p:grpSp>
          <p:nvGrpSpPr>
            <p:cNvPr id="123" name="gears 1" descr="gears, process, precision, productivity, mechanical">
              <a:extLst>
                <a:ext uri="{FF2B5EF4-FFF2-40B4-BE49-F238E27FC236}">
                  <a16:creationId xmlns:a16="http://schemas.microsoft.com/office/drawing/2014/main" id="{B146C239-1BE9-44DB-AC79-EFD712C56A1A}"/>
                </a:ext>
              </a:extLst>
            </p:cNvPr>
            <p:cNvGrpSpPr>
              <a:grpSpLocks noChangeAspect="1"/>
            </p:cNvGrpSpPr>
            <p:nvPr/>
          </p:nvGrpSpPr>
          <p:grpSpPr bwMode="auto">
            <a:xfrm>
              <a:off x="5692537" y="3717104"/>
              <a:ext cx="806922" cy="648183"/>
              <a:chOff x="1682" y="3095"/>
              <a:chExt cx="244" cy="196"/>
            </a:xfrm>
          </p:grpSpPr>
          <p:sp>
            <p:nvSpPr>
              <p:cNvPr id="127" name="AutoShape 151">
                <a:extLst>
                  <a:ext uri="{FF2B5EF4-FFF2-40B4-BE49-F238E27FC236}">
                    <a16:creationId xmlns:a16="http://schemas.microsoft.com/office/drawing/2014/main" id="{07B8A8EC-BDF8-4F87-9A25-C20981EA3BE4}"/>
                  </a:ext>
                </a:extLst>
              </p:cNvPr>
              <p:cNvSpPr>
                <a:spLocks noChangeAspect="1" noChangeArrowheads="1" noTextEdit="1"/>
              </p:cNvSpPr>
              <p:nvPr/>
            </p:nvSpPr>
            <p:spPr bwMode="auto">
              <a:xfrm>
                <a:off x="1682" y="3095"/>
                <a:ext cx="24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8" name="Freeform 153">
                <a:extLst>
                  <a:ext uri="{FF2B5EF4-FFF2-40B4-BE49-F238E27FC236}">
                    <a16:creationId xmlns:a16="http://schemas.microsoft.com/office/drawing/2014/main" id="{7CB17D1E-EDAA-4F81-AF6F-06FA2559C068}"/>
                  </a:ext>
                </a:extLst>
              </p:cNvPr>
              <p:cNvSpPr>
                <a:spLocks noEditPoints="1"/>
              </p:cNvSpPr>
              <p:nvPr/>
            </p:nvSpPr>
            <p:spPr bwMode="auto">
              <a:xfrm>
                <a:off x="1810" y="3094"/>
                <a:ext cx="115" cy="113"/>
              </a:xfrm>
              <a:custGeom>
                <a:avLst/>
                <a:gdLst>
                  <a:gd name="T0" fmla="*/ 68 w 79"/>
                  <a:gd name="T1" fmla="*/ 36 h 78"/>
                  <a:gd name="T2" fmla="*/ 66 w 79"/>
                  <a:gd name="T3" fmla="*/ 26 h 78"/>
                  <a:gd name="T4" fmla="*/ 72 w 79"/>
                  <a:gd name="T5" fmla="*/ 18 h 78"/>
                  <a:gd name="T6" fmla="*/ 66 w 79"/>
                  <a:gd name="T7" fmla="*/ 11 h 78"/>
                  <a:gd name="T8" fmla="*/ 57 w 79"/>
                  <a:gd name="T9" fmla="*/ 16 h 78"/>
                  <a:gd name="T10" fmla="*/ 49 w 79"/>
                  <a:gd name="T11" fmla="*/ 12 h 78"/>
                  <a:gd name="T12" fmla="*/ 48 w 79"/>
                  <a:gd name="T13" fmla="*/ 1 h 78"/>
                  <a:gd name="T14" fmla="*/ 38 w 79"/>
                  <a:gd name="T15" fmla="*/ 0 h 78"/>
                  <a:gd name="T16" fmla="*/ 35 w 79"/>
                  <a:gd name="T17" fmla="*/ 11 h 78"/>
                  <a:gd name="T18" fmla="*/ 26 w 79"/>
                  <a:gd name="T19" fmla="*/ 13 h 78"/>
                  <a:gd name="T20" fmla="*/ 18 w 79"/>
                  <a:gd name="T21" fmla="*/ 6 h 78"/>
                  <a:gd name="T22" fmla="*/ 11 w 79"/>
                  <a:gd name="T23" fmla="*/ 12 h 78"/>
                  <a:gd name="T24" fmla="*/ 16 w 79"/>
                  <a:gd name="T25" fmla="*/ 22 h 78"/>
                  <a:gd name="T26" fmla="*/ 11 w 79"/>
                  <a:gd name="T27" fmla="*/ 30 h 78"/>
                  <a:gd name="T28" fmla="*/ 1 w 79"/>
                  <a:gd name="T29" fmla="*/ 31 h 78"/>
                  <a:gd name="T30" fmla="*/ 0 w 79"/>
                  <a:gd name="T31" fmla="*/ 40 h 78"/>
                  <a:gd name="T32" fmla="*/ 10 w 79"/>
                  <a:gd name="T33" fmla="*/ 43 h 78"/>
                  <a:gd name="T34" fmla="*/ 13 w 79"/>
                  <a:gd name="T35" fmla="*/ 52 h 78"/>
                  <a:gd name="T36" fmla="*/ 6 w 79"/>
                  <a:gd name="T37" fmla="*/ 60 h 78"/>
                  <a:gd name="T38" fmla="*/ 12 w 79"/>
                  <a:gd name="T39" fmla="*/ 67 h 78"/>
                  <a:gd name="T40" fmla="*/ 22 w 79"/>
                  <a:gd name="T41" fmla="*/ 62 h 78"/>
                  <a:gd name="T42" fmla="*/ 30 w 79"/>
                  <a:gd name="T43" fmla="*/ 66 h 78"/>
                  <a:gd name="T44" fmla="*/ 31 w 79"/>
                  <a:gd name="T45" fmla="*/ 77 h 78"/>
                  <a:gd name="T46" fmla="*/ 40 w 79"/>
                  <a:gd name="T47" fmla="*/ 78 h 78"/>
                  <a:gd name="T48" fmla="*/ 43 w 79"/>
                  <a:gd name="T49" fmla="*/ 67 h 78"/>
                  <a:gd name="T50" fmla="*/ 52 w 79"/>
                  <a:gd name="T51" fmla="*/ 65 h 78"/>
                  <a:gd name="T52" fmla="*/ 61 w 79"/>
                  <a:gd name="T53" fmla="*/ 72 h 78"/>
                  <a:gd name="T54" fmla="*/ 68 w 79"/>
                  <a:gd name="T55" fmla="*/ 66 h 78"/>
                  <a:gd name="T56" fmla="*/ 63 w 79"/>
                  <a:gd name="T57" fmla="*/ 56 h 78"/>
                  <a:gd name="T58" fmla="*/ 68 w 79"/>
                  <a:gd name="T59" fmla="*/ 48 h 78"/>
                  <a:gd name="T60" fmla="*/ 78 w 79"/>
                  <a:gd name="T61" fmla="*/ 47 h 78"/>
                  <a:gd name="T62" fmla="*/ 79 w 79"/>
                  <a:gd name="T63" fmla="*/ 38 h 78"/>
                  <a:gd name="T64" fmla="*/ 68 w 79"/>
                  <a:gd name="T65" fmla="*/ 36 h 78"/>
                  <a:gd name="T66" fmla="*/ 44 w 79"/>
                  <a:gd name="T67" fmla="*/ 56 h 78"/>
                  <a:gd name="T68" fmla="*/ 22 w 79"/>
                  <a:gd name="T69" fmla="*/ 45 h 78"/>
                  <a:gd name="T70" fmla="*/ 34 w 79"/>
                  <a:gd name="T71" fmla="*/ 23 h 78"/>
                  <a:gd name="T72" fmla="*/ 55 w 79"/>
                  <a:gd name="T73" fmla="*/ 34 h 78"/>
                  <a:gd name="T74" fmla="*/ 44 w 79"/>
                  <a:gd name="T75" fmla="*/ 5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9" h="78">
                    <a:moveTo>
                      <a:pt x="68" y="36"/>
                    </a:moveTo>
                    <a:cubicBezTo>
                      <a:pt x="68" y="32"/>
                      <a:pt x="67" y="29"/>
                      <a:pt x="66" y="26"/>
                    </a:cubicBezTo>
                    <a:cubicBezTo>
                      <a:pt x="67" y="26"/>
                      <a:pt x="72" y="18"/>
                      <a:pt x="72" y="18"/>
                    </a:cubicBezTo>
                    <a:cubicBezTo>
                      <a:pt x="66" y="11"/>
                      <a:pt x="66" y="11"/>
                      <a:pt x="66" y="11"/>
                    </a:cubicBezTo>
                    <a:cubicBezTo>
                      <a:pt x="66" y="11"/>
                      <a:pt x="57" y="15"/>
                      <a:pt x="57" y="16"/>
                    </a:cubicBezTo>
                    <a:cubicBezTo>
                      <a:pt x="54" y="14"/>
                      <a:pt x="52" y="13"/>
                      <a:pt x="49" y="12"/>
                    </a:cubicBezTo>
                    <a:cubicBezTo>
                      <a:pt x="49" y="11"/>
                      <a:pt x="48" y="1"/>
                      <a:pt x="48" y="1"/>
                    </a:cubicBezTo>
                    <a:cubicBezTo>
                      <a:pt x="38" y="0"/>
                      <a:pt x="38" y="0"/>
                      <a:pt x="38" y="0"/>
                    </a:cubicBezTo>
                    <a:cubicBezTo>
                      <a:pt x="38" y="0"/>
                      <a:pt x="35" y="10"/>
                      <a:pt x="35" y="11"/>
                    </a:cubicBezTo>
                    <a:cubicBezTo>
                      <a:pt x="32" y="11"/>
                      <a:pt x="29" y="12"/>
                      <a:pt x="26" y="13"/>
                    </a:cubicBezTo>
                    <a:cubicBezTo>
                      <a:pt x="26" y="12"/>
                      <a:pt x="18" y="6"/>
                      <a:pt x="18" y="6"/>
                    </a:cubicBezTo>
                    <a:cubicBezTo>
                      <a:pt x="11" y="12"/>
                      <a:pt x="11" y="12"/>
                      <a:pt x="11" y="12"/>
                    </a:cubicBezTo>
                    <a:cubicBezTo>
                      <a:pt x="11" y="12"/>
                      <a:pt x="15" y="21"/>
                      <a:pt x="16" y="22"/>
                    </a:cubicBezTo>
                    <a:cubicBezTo>
                      <a:pt x="14" y="24"/>
                      <a:pt x="12" y="27"/>
                      <a:pt x="11" y="30"/>
                    </a:cubicBezTo>
                    <a:cubicBezTo>
                      <a:pt x="10" y="30"/>
                      <a:pt x="1" y="31"/>
                      <a:pt x="1" y="31"/>
                    </a:cubicBezTo>
                    <a:cubicBezTo>
                      <a:pt x="0" y="40"/>
                      <a:pt x="0" y="40"/>
                      <a:pt x="0" y="40"/>
                    </a:cubicBezTo>
                    <a:cubicBezTo>
                      <a:pt x="0" y="40"/>
                      <a:pt x="9" y="43"/>
                      <a:pt x="10" y="43"/>
                    </a:cubicBezTo>
                    <a:cubicBezTo>
                      <a:pt x="10" y="46"/>
                      <a:pt x="12" y="49"/>
                      <a:pt x="13" y="52"/>
                    </a:cubicBezTo>
                    <a:cubicBezTo>
                      <a:pt x="12" y="53"/>
                      <a:pt x="6" y="60"/>
                      <a:pt x="6" y="60"/>
                    </a:cubicBezTo>
                    <a:cubicBezTo>
                      <a:pt x="12" y="67"/>
                      <a:pt x="12" y="67"/>
                      <a:pt x="12" y="67"/>
                    </a:cubicBezTo>
                    <a:cubicBezTo>
                      <a:pt x="12" y="67"/>
                      <a:pt x="21" y="63"/>
                      <a:pt x="22" y="62"/>
                    </a:cubicBezTo>
                    <a:cubicBezTo>
                      <a:pt x="24" y="64"/>
                      <a:pt x="27" y="65"/>
                      <a:pt x="30" y="66"/>
                    </a:cubicBezTo>
                    <a:cubicBezTo>
                      <a:pt x="30" y="66"/>
                      <a:pt x="31" y="77"/>
                      <a:pt x="31" y="77"/>
                    </a:cubicBezTo>
                    <a:cubicBezTo>
                      <a:pt x="40" y="78"/>
                      <a:pt x="40" y="78"/>
                      <a:pt x="40" y="78"/>
                    </a:cubicBezTo>
                    <a:cubicBezTo>
                      <a:pt x="40" y="78"/>
                      <a:pt x="43" y="68"/>
                      <a:pt x="43" y="67"/>
                    </a:cubicBezTo>
                    <a:cubicBezTo>
                      <a:pt x="46" y="67"/>
                      <a:pt x="49" y="66"/>
                      <a:pt x="52" y="65"/>
                    </a:cubicBezTo>
                    <a:cubicBezTo>
                      <a:pt x="52" y="66"/>
                      <a:pt x="61" y="72"/>
                      <a:pt x="61" y="72"/>
                    </a:cubicBezTo>
                    <a:cubicBezTo>
                      <a:pt x="68" y="66"/>
                      <a:pt x="68" y="66"/>
                      <a:pt x="68" y="66"/>
                    </a:cubicBezTo>
                    <a:cubicBezTo>
                      <a:pt x="68" y="66"/>
                      <a:pt x="64" y="58"/>
                      <a:pt x="63" y="56"/>
                    </a:cubicBezTo>
                    <a:cubicBezTo>
                      <a:pt x="65" y="54"/>
                      <a:pt x="66" y="51"/>
                      <a:pt x="68" y="48"/>
                    </a:cubicBezTo>
                    <a:cubicBezTo>
                      <a:pt x="69" y="48"/>
                      <a:pt x="78" y="47"/>
                      <a:pt x="78" y="47"/>
                    </a:cubicBezTo>
                    <a:cubicBezTo>
                      <a:pt x="79" y="38"/>
                      <a:pt x="79" y="38"/>
                      <a:pt x="79" y="38"/>
                    </a:cubicBezTo>
                    <a:cubicBezTo>
                      <a:pt x="78" y="39"/>
                      <a:pt x="70" y="36"/>
                      <a:pt x="68" y="36"/>
                    </a:cubicBezTo>
                    <a:close/>
                    <a:moveTo>
                      <a:pt x="44" y="56"/>
                    </a:moveTo>
                    <a:cubicBezTo>
                      <a:pt x="35" y="59"/>
                      <a:pt x="25" y="54"/>
                      <a:pt x="22" y="45"/>
                    </a:cubicBezTo>
                    <a:cubicBezTo>
                      <a:pt x="20" y="36"/>
                      <a:pt x="24" y="26"/>
                      <a:pt x="34" y="23"/>
                    </a:cubicBezTo>
                    <a:cubicBezTo>
                      <a:pt x="43" y="20"/>
                      <a:pt x="52" y="25"/>
                      <a:pt x="55" y="34"/>
                    </a:cubicBezTo>
                    <a:cubicBezTo>
                      <a:pt x="58" y="43"/>
                      <a:pt x="53" y="53"/>
                      <a:pt x="44" y="56"/>
                    </a:cubicBezTo>
                    <a:close/>
                  </a:path>
                </a:pathLst>
              </a:custGeom>
              <a:solidFill>
                <a:srgbClr val="243A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9" name="Freeform 154">
                <a:extLst>
                  <a:ext uri="{FF2B5EF4-FFF2-40B4-BE49-F238E27FC236}">
                    <a16:creationId xmlns:a16="http://schemas.microsoft.com/office/drawing/2014/main" id="{4D3BA81A-6767-4565-8EE4-EFAF703ADF53}"/>
                  </a:ext>
                </a:extLst>
              </p:cNvPr>
              <p:cNvSpPr>
                <a:spLocks noEditPoints="1"/>
              </p:cNvSpPr>
              <p:nvPr/>
            </p:nvSpPr>
            <p:spPr bwMode="auto">
              <a:xfrm>
                <a:off x="1682" y="3140"/>
                <a:ext cx="151" cy="150"/>
              </a:xfrm>
              <a:custGeom>
                <a:avLst/>
                <a:gdLst>
                  <a:gd name="T0" fmla="*/ 84 w 104"/>
                  <a:gd name="T1" fmla="*/ 31 h 103"/>
                  <a:gd name="T2" fmla="*/ 92 w 104"/>
                  <a:gd name="T3" fmla="*/ 20 h 103"/>
                  <a:gd name="T4" fmla="*/ 83 w 104"/>
                  <a:gd name="T5" fmla="*/ 11 h 103"/>
                  <a:gd name="T6" fmla="*/ 71 w 104"/>
                  <a:gd name="T7" fmla="*/ 19 h 103"/>
                  <a:gd name="T8" fmla="*/ 60 w 104"/>
                  <a:gd name="T9" fmla="*/ 14 h 103"/>
                  <a:gd name="T10" fmla="*/ 57 w 104"/>
                  <a:gd name="T11" fmla="*/ 0 h 103"/>
                  <a:gd name="T12" fmla="*/ 45 w 104"/>
                  <a:gd name="T13" fmla="*/ 0 h 103"/>
                  <a:gd name="T14" fmla="*/ 42 w 104"/>
                  <a:gd name="T15" fmla="*/ 14 h 103"/>
                  <a:gd name="T16" fmla="*/ 31 w 104"/>
                  <a:gd name="T17" fmla="*/ 19 h 103"/>
                  <a:gd name="T18" fmla="*/ 19 w 104"/>
                  <a:gd name="T19" fmla="*/ 11 h 103"/>
                  <a:gd name="T20" fmla="*/ 10 w 104"/>
                  <a:gd name="T21" fmla="*/ 20 h 103"/>
                  <a:gd name="T22" fmla="*/ 18 w 104"/>
                  <a:gd name="T23" fmla="*/ 32 h 103"/>
                  <a:gd name="T24" fmla="*/ 13 w 104"/>
                  <a:gd name="T25" fmla="*/ 43 h 103"/>
                  <a:gd name="T26" fmla="*/ 0 w 104"/>
                  <a:gd name="T27" fmla="*/ 46 h 103"/>
                  <a:gd name="T28" fmla="*/ 0 w 104"/>
                  <a:gd name="T29" fmla="*/ 57 h 103"/>
                  <a:gd name="T30" fmla="*/ 14 w 104"/>
                  <a:gd name="T31" fmla="*/ 60 h 103"/>
                  <a:gd name="T32" fmla="*/ 18 w 104"/>
                  <a:gd name="T33" fmla="*/ 72 h 103"/>
                  <a:gd name="T34" fmla="*/ 11 w 104"/>
                  <a:gd name="T35" fmla="*/ 84 h 103"/>
                  <a:gd name="T36" fmla="*/ 19 w 104"/>
                  <a:gd name="T37" fmla="*/ 92 h 103"/>
                  <a:gd name="T38" fmla="*/ 32 w 104"/>
                  <a:gd name="T39" fmla="*/ 84 h 103"/>
                  <a:gd name="T40" fmla="*/ 43 w 104"/>
                  <a:gd name="T41" fmla="*/ 88 h 103"/>
                  <a:gd name="T42" fmla="*/ 46 w 104"/>
                  <a:gd name="T43" fmla="*/ 103 h 103"/>
                  <a:gd name="T44" fmla="*/ 58 w 104"/>
                  <a:gd name="T45" fmla="*/ 103 h 103"/>
                  <a:gd name="T46" fmla="*/ 61 w 104"/>
                  <a:gd name="T47" fmla="*/ 88 h 103"/>
                  <a:gd name="T48" fmla="*/ 72 w 104"/>
                  <a:gd name="T49" fmla="*/ 84 h 103"/>
                  <a:gd name="T50" fmla="*/ 84 w 104"/>
                  <a:gd name="T51" fmla="*/ 92 h 103"/>
                  <a:gd name="T52" fmla="*/ 92 w 104"/>
                  <a:gd name="T53" fmla="*/ 83 h 103"/>
                  <a:gd name="T54" fmla="*/ 85 w 104"/>
                  <a:gd name="T55" fmla="*/ 72 h 103"/>
                  <a:gd name="T56" fmla="*/ 90 w 104"/>
                  <a:gd name="T57" fmla="*/ 60 h 103"/>
                  <a:gd name="T58" fmla="*/ 104 w 104"/>
                  <a:gd name="T59" fmla="*/ 57 h 103"/>
                  <a:gd name="T60" fmla="*/ 104 w 104"/>
                  <a:gd name="T61" fmla="*/ 45 h 103"/>
                  <a:gd name="T62" fmla="*/ 90 w 104"/>
                  <a:gd name="T63" fmla="*/ 42 h 103"/>
                  <a:gd name="T64" fmla="*/ 84 w 104"/>
                  <a:gd name="T65" fmla="*/ 31 h 103"/>
                  <a:gd name="T66" fmla="*/ 60 w 104"/>
                  <a:gd name="T67" fmla="*/ 72 h 103"/>
                  <a:gd name="T68" fmla="*/ 30 w 104"/>
                  <a:gd name="T69" fmla="*/ 60 h 103"/>
                  <a:gd name="T70" fmla="*/ 42 w 104"/>
                  <a:gd name="T71" fmla="*/ 30 h 103"/>
                  <a:gd name="T72" fmla="*/ 72 w 104"/>
                  <a:gd name="T73" fmla="*/ 42 h 103"/>
                  <a:gd name="T74" fmla="*/ 60 w 104"/>
                  <a:gd name="T75" fmla="*/ 7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 h="103">
                    <a:moveTo>
                      <a:pt x="84" y="31"/>
                    </a:moveTo>
                    <a:cubicBezTo>
                      <a:pt x="86" y="30"/>
                      <a:pt x="92" y="20"/>
                      <a:pt x="92" y="20"/>
                    </a:cubicBezTo>
                    <a:cubicBezTo>
                      <a:pt x="83" y="11"/>
                      <a:pt x="83" y="11"/>
                      <a:pt x="83" y="11"/>
                    </a:cubicBezTo>
                    <a:cubicBezTo>
                      <a:pt x="83" y="11"/>
                      <a:pt x="72" y="18"/>
                      <a:pt x="71" y="19"/>
                    </a:cubicBezTo>
                    <a:cubicBezTo>
                      <a:pt x="68" y="17"/>
                      <a:pt x="64" y="15"/>
                      <a:pt x="60" y="14"/>
                    </a:cubicBezTo>
                    <a:cubicBezTo>
                      <a:pt x="60" y="14"/>
                      <a:pt x="57" y="0"/>
                      <a:pt x="57" y="0"/>
                    </a:cubicBezTo>
                    <a:cubicBezTo>
                      <a:pt x="45" y="0"/>
                      <a:pt x="45" y="0"/>
                      <a:pt x="45" y="0"/>
                    </a:cubicBezTo>
                    <a:cubicBezTo>
                      <a:pt x="45" y="0"/>
                      <a:pt x="42" y="14"/>
                      <a:pt x="42" y="14"/>
                    </a:cubicBezTo>
                    <a:cubicBezTo>
                      <a:pt x="38" y="15"/>
                      <a:pt x="34" y="17"/>
                      <a:pt x="31" y="19"/>
                    </a:cubicBezTo>
                    <a:cubicBezTo>
                      <a:pt x="30" y="18"/>
                      <a:pt x="19" y="11"/>
                      <a:pt x="19" y="11"/>
                    </a:cubicBezTo>
                    <a:cubicBezTo>
                      <a:pt x="10" y="20"/>
                      <a:pt x="10" y="20"/>
                      <a:pt x="10" y="20"/>
                    </a:cubicBezTo>
                    <a:cubicBezTo>
                      <a:pt x="10" y="20"/>
                      <a:pt x="17" y="30"/>
                      <a:pt x="18" y="32"/>
                    </a:cubicBezTo>
                    <a:cubicBezTo>
                      <a:pt x="16" y="35"/>
                      <a:pt x="14" y="39"/>
                      <a:pt x="13" y="43"/>
                    </a:cubicBezTo>
                    <a:cubicBezTo>
                      <a:pt x="12" y="42"/>
                      <a:pt x="0" y="46"/>
                      <a:pt x="0" y="46"/>
                    </a:cubicBezTo>
                    <a:cubicBezTo>
                      <a:pt x="0" y="57"/>
                      <a:pt x="0" y="57"/>
                      <a:pt x="0" y="57"/>
                    </a:cubicBezTo>
                    <a:cubicBezTo>
                      <a:pt x="0" y="57"/>
                      <a:pt x="12" y="60"/>
                      <a:pt x="14" y="60"/>
                    </a:cubicBezTo>
                    <a:cubicBezTo>
                      <a:pt x="15" y="64"/>
                      <a:pt x="16" y="68"/>
                      <a:pt x="18" y="72"/>
                    </a:cubicBezTo>
                    <a:cubicBezTo>
                      <a:pt x="17" y="72"/>
                      <a:pt x="11" y="84"/>
                      <a:pt x="11" y="84"/>
                    </a:cubicBezTo>
                    <a:cubicBezTo>
                      <a:pt x="19" y="92"/>
                      <a:pt x="19" y="92"/>
                      <a:pt x="19" y="92"/>
                    </a:cubicBezTo>
                    <a:cubicBezTo>
                      <a:pt x="19" y="92"/>
                      <a:pt x="31" y="85"/>
                      <a:pt x="32" y="84"/>
                    </a:cubicBezTo>
                    <a:cubicBezTo>
                      <a:pt x="35" y="86"/>
                      <a:pt x="39" y="88"/>
                      <a:pt x="43" y="88"/>
                    </a:cubicBezTo>
                    <a:cubicBezTo>
                      <a:pt x="43" y="89"/>
                      <a:pt x="46" y="103"/>
                      <a:pt x="46" y="103"/>
                    </a:cubicBezTo>
                    <a:cubicBezTo>
                      <a:pt x="58" y="103"/>
                      <a:pt x="58" y="103"/>
                      <a:pt x="58" y="103"/>
                    </a:cubicBezTo>
                    <a:cubicBezTo>
                      <a:pt x="58" y="103"/>
                      <a:pt x="61" y="89"/>
                      <a:pt x="61" y="88"/>
                    </a:cubicBezTo>
                    <a:cubicBezTo>
                      <a:pt x="65" y="88"/>
                      <a:pt x="68" y="86"/>
                      <a:pt x="72" y="84"/>
                    </a:cubicBezTo>
                    <a:cubicBezTo>
                      <a:pt x="73" y="85"/>
                      <a:pt x="84" y="92"/>
                      <a:pt x="84" y="92"/>
                    </a:cubicBezTo>
                    <a:cubicBezTo>
                      <a:pt x="92" y="83"/>
                      <a:pt x="92" y="83"/>
                      <a:pt x="92" y="83"/>
                    </a:cubicBezTo>
                    <a:cubicBezTo>
                      <a:pt x="92" y="83"/>
                      <a:pt x="86" y="72"/>
                      <a:pt x="85" y="72"/>
                    </a:cubicBezTo>
                    <a:cubicBezTo>
                      <a:pt x="88" y="68"/>
                      <a:pt x="89" y="64"/>
                      <a:pt x="90" y="60"/>
                    </a:cubicBezTo>
                    <a:cubicBezTo>
                      <a:pt x="92" y="60"/>
                      <a:pt x="104" y="57"/>
                      <a:pt x="104" y="57"/>
                    </a:cubicBezTo>
                    <a:cubicBezTo>
                      <a:pt x="104" y="45"/>
                      <a:pt x="104" y="45"/>
                      <a:pt x="104" y="45"/>
                    </a:cubicBezTo>
                    <a:cubicBezTo>
                      <a:pt x="104" y="45"/>
                      <a:pt x="92" y="42"/>
                      <a:pt x="90" y="42"/>
                    </a:cubicBezTo>
                    <a:cubicBezTo>
                      <a:pt x="88" y="38"/>
                      <a:pt x="87" y="34"/>
                      <a:pt x="84" y="31"/>
                    </a:cubicBezTo>
                    <a:close/>
                    <a:moveTo>
                      <a:pt x="60" y="72"/>
                    </a:moveTo>
                    <a:cubicBezTo>
                      <a:pt x="49" y="77"/>
                      <a:pt x="36" y="72"/>
                      <a:pt x="30" y="60"/>
                    </a:cubicBezTo>
                    <a:cubicBezTo>
                      <a:pt x="26" y="49"/>
                      <a:pt x="31" y="36"/>
                      <a:pt x="42" y="30"/>
                    </a:cubicBezTo>
                    <a:cubicBezTo>
                      <a:pt x="54" y="26"/>
                      <a:pt x="67" y="31"/>
                      <a:pt x="72" y="42"/>
                    </a:cubicBezTo>
                    <a:cubicBezTo>
                      <a:pt x="77" y="54"/>
                      <a:pt x="72" y="67"/>
                      <a:pt x="60" y="72"/>
                    </a:cubicBezTo>
                    <a:close/>
                  </a:path>
                </a:pathLst>
              </a:custGeom>
              <a:solidFill>
                <a:srgbClr val="243A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24" name="Group 123">
              <a:extLst>
                <a:ext uri="{FF2B5EF4-FFF2-40B4-BE49-F238E27FC236}">
                  <a16:creationId xmlns:a16="http://schemas.microsoft.com/office/drawing/2014/main" id="{738BC3E1-5435-4B20-A900-8EB3785DE710}"/>
                </a:ext>
              </a:extLst>
            </p:cNvPr>
            <p:cNvGrpSpPr/>
            <p:nvPr/>
          </p:nvGrpSpPr>
          <p:grpSpPr>
            <a:xfrm>
              <a:off x="6242152" y="4107980"/>
              <a:ext cx="499366" cy="499366"/>
              <a:chOff x="7051040" y="3982567"/>
              <a:chExt cx="508000" cy="508000"/>
            </a:xfrm>
          </p:grpSpPr>
          <p:sp>
            <p:nvSpPr>
              <p:cNvPr id="125" name="Oval 124">
                <a:extLst>
                  <a:ext uri="{FF2B5EF4-FFF2-40B4-BE49-F238E27FC236}">
                    <a16:creationId xmlns:a16="http://schemas.microsoft.com/office/drawing/2014/main" id="{03644A7C-8B93-468A-BE6D-39BEF3EB4C22}"/>
                  </a:ext>
                </a:extLst>
              </p:cNvPr>
              <p:cNvSpPr/>
              <p:nvPr/>
            </p:nvSpPr>
            <p:spPr bwMode="auto">
              <a:xfrm>
                <a:off x="7051040" y="3982567"/>
                <a:ext cx="508000" cy="50800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6" name="Freeform: Shape 125">
                <a:extLst>
                  <a:ext uri="{FF2B5EF4-FFF2-40B4-BE49-F238E27FC236}">
                    <a16:creationId xmlns:a16="http://schemas.microsoft.com/office/drawing/2014/main" id="{E31AAA9F-6066-4CCA-81A5-8DF0125DA899}"/>
                  </a:ext>
                </a:extLst>
              </p:cNvPr>
              <p:cNvSpPr/>
              <p:nvPr/>
            </p:nvSpPr>
            <p:spPr>
              <a:xfrm>
                <a:off x="7237688" y="4101864"/>
                <a:ext cx="134705" cy="269407"/>
              </a:xfrm>
              <a:custGeom>
                <a:avLst/>
                <a:gdLst>
                  <a:gd name="connsiteX0" fmla="*/ 66148 w 88898"/>
                  <a:gd name="connsiteY0" fmla="*/ 119136 h 177796"/>
                  <a:gd name="connsiteX1" fmla="*/ 52721 w 88898"/>
                  <a:gd name="connsiteY1" fmla="*/ 104145 h 177796"/>
                  <a:gd name="connsiteX2" fmla="*/ 52721 w 88898"/>
                  <a:gd name="connsiteY2" fmla="*/ 132562 h 177796"/>
                  <a:gd name="connsiteX3" fmla="*/ 66148 w 88898"/>
                  <a:gd name="connsiteY3" fmla="*/ 119136 h 177796"/>
                  <a:gd name="connsiteX4" fmla="*/ 39034 w 88898"/>
                  <a:gd name="connsiteY4" fmla="*/ 72404 h 177796"/>
                  <a:gd name="connsiteX5" fmla="*/ 39034 w 88898"/>
                  <a:gd name="connsiteY5" fmla="*/ 42683 h 177796"/>
                  <a:gd name="connsiteX6" fmla="*/ 25998 w 88898"/>
                  <a:gd name="connsiteY6" fmla="*/ 56305 h 177796"/>
                  <a:gd name="connsiteX7" fmla="*/ 39034 w 88898"/>
                  <a:gd name="connsiteY7" fmla="*/ 72404 h 177796"/>
                  <a:gd name="connsiteX8" fmla="*/ 91110 w 88898"/>
                  <a:gd name="connsiteY8" fmla="*/ 117832 h 177796"/>
                  <a:gd name="connsiteX9" fmla="*/ 81334 w 88898"/>
                  <a:gd name="connsiteY9" fmla="*/ 142861 h 177796"/>
                  <a:gd name="connsiteX10" fmla="*/ 52786 w 88898"/>
                  <a:gd name="connsiteY10" fmla="*/ 154462 h 177796"/>
                  <a:gd name="connsiteX11" fmla="*/ 52786 w 88898"/>
                  <a:gd name="connsiteY11" fmla="*/ 176752 h 177796"/>
                  <a:gd name="connsiteX12" fmla="*/ 39099 w 88898"/>
                  <a:gd name="connsiteY12" fmla="*/ 176752 h 177796"/>
                  <a:gd name="connsiteX13" fmla="*/ 39099 w 88898"/>
                  <a:gd name="connsiteY13" fmla="*/ 155048 h 177796"/>
                  <a:gd name="connsiteX14" fmla="*/ 3642 w 88898"/>
                  <a:gd name="connsiteY14" fmla="*/ 146445 h 177796"/>
                  <a:gd name="connsiteX15" fmla="*/ 3642 w 88898"/>
                  <a:gd name="connsiteY15" fmla="*/ 120439 h 177796"/>
                  <a:gd name="connsiteX16" fmla="*/ 19806 w 88898"/>
                  <a:gd name="connsiteY16" fmla="*/ 128456 h 177796"/>
                  <a:gd name="connsiteX17" fmla="*/ 39099 w 88898"/>
                  <a:gd name="connsiteY17" fmla="*/ 132889 h 177796"/>
                  <a:gd name="connsiteX18" fmla="*/ 39099 w 88898"/>
                  <a:gd name="connsiteY18" fmla="*/ 98735 h 177796"/>
                  <a:gd name="connsiteX19" fmla="*/ 9769 w 88898"/>
                  <a:gd name="connsiteY19" fmla="*/ 81920 h 177796"/>
                  <a:gd name="connsiteX20" fmla="*/ 1166 w 88898"/>
                  <a:gd name="connsiteY20" fmla="*/ 57869 h 177796"/>
                  <a:gd name="connsiteX21" fmla="*/ 11790 w 88898"/>
                  <a:gd name="connsiteY21" fmla="*/ 32711 h 177796"/>
                  <a:gd name="connsiteX22" fmla="*/ 39164 w 88898"/>
                  <a:gd name="connsiteY22" fmla="*/ 20784 h 177796"/>
                  <a:gd name="connsiteX23" fmla="*/ 39164 w 88898"/>
                  <a:gd name="connsiteY23" fmla="*/ 1166 h 177796"/>
                  <a:gd name="connsiteX24" fmla="*/ 52852 w 88898"/>
                  <a:gd name="connsiteY24" fmla="*/ 1166 h 177796"/>
                  <a:gd name="connsiteX25" fmla="*/ 52852 w 88898"/>
                  <a:gd name="connsiteY25" fmla="*/ 20393 h 177796"/>
                  <a:gd name="connsiteX26" fmla="*/ 82377 w 88898"/>
                  <a:gd name="connsiteY26" fmla="*/ 26780 h 177796"/>
                  <a:gd name="connsiteX27" fmla="*/ 82377 w 88898"/>
                  <a:gd name="connsiteY27" fmla="*/ 52069 h 177796"/>
                  <a:gd name="connsiteX28" fmla="*/ 52852 w 88898"/>
                  <a:gd name="connsiteY28" fmla="*/ 42292 h 177796"/>
                  <a:gd name="connsiteX29" fmla="*/ 52852 w 88898"/>
                  <a:gd name="connsiteY29" fmla="*/ 77814 h 177796"/>
                  <a:gd name="connsiteX30" fmla="*/ 82377 w 88898"/>
                  <a:gd name="connsiteY30" fmla="*/ 94694 h 177796"/>
                  <a:gd name="connsiteX31" fmla="*/ 91110 w 88898"/>
                  <a:gd name="connsiteY31" fmla="*/ 117832 h 17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898" h="177796">
                    <a:moveTo>
                      <a:pt x="66148" y="119136"/>
                    </a:moveTo>
                    <a:cubicBezTo>
                      <a:pt x="66148" y="113075"/>
                      <a:pt x="61650" y="108056"/>
                      <a:pt x="52721" y="104145"/>
                    </a:cubicBezTo>
                    <a:lnTo>
                      <a:pt x="52721" y="132562"/>
                    </a:lnTo>
                    <a:cubicBezTo>
                      <a:pt x="61716" y="131129"/>
                      <a:pt x="66148" y="126631"/>
                      <a:pt x="66148" y="119136"/>
                    </a:cubicBezTo>
                    <a:close/>
                    <a:moveTo>
                      <a:pt x="39034" y="72404"/>
                    </a:moveTo>
                    <a:lnTo>
                      <a:pt x="39034" y="42683"/>
                    </a:lnTo>
                    <a:cubicBezTo>
                      <a:pt x="30365" y="44247"/>
                      <a:pt x="25998" y="48745"/>
                      <a:pt x="25998" y="56305"/>
                    </a:cubicBezTo>
                    <a:cubicBezTo>
                      <a:pt x="25998" y="62888"/>
                      <a:pt x="30365" y="68233"/>
                      <a:pt x="39034" y="72404"/>
                    </a:cubicBezTo>
                    <a:close/>
                    <a:moveTo>
                      <a:pt x="91110" y="117832"/>
                    </a:moveTo>
                    <a:cubicBezTo>
                      <a:pt x="91110" y="128195"/>
                      <a:pt x="87852" y="136538"/>
                      <a:pt x="81334" y="142861"/>
                    </a:cubicBezTo>
                    <a:cubicBezTo>
                      <a:pt x="74816" y="149182"/>
                      <a:pt x="65300" y="153028"/>
                      <a:pt x="52786" y="154462"/>
                    </a:cubicBezTo>
                    <a:lnTo>
                      <a:pt x="52786" y="176752"/>
                    </a:lnTo>
                    <a:lnTo>
                      <a:pt x="39099" y="176752"/>
                    </a:lnTo>
                    <a:lnTo>
                      <a:pt x="39099" y="155048"/>
                    </a:lnTo>
                    <a:cubicBezTo>
                      <a:pt x="26194" y="154918"/>
                      <a:pt x="14397" y="152050"/>
                      <a:pt x="3642" y="146445"/>
                    </a:cubicBezTo>
                    <a:lnTo>
                      <a:pt x="3642" y="120439"/>
                    </a:lnTo>
                    <a:cubicBezTo>
                      <a:pt x="7032" y="123177"/>
                      <a:pt x="12441" y="125849"/>
                      <a:pt x="19806" y="128456"/>
                    </a:cubicBezTo>
                    <a:cubicBezTo>
                      <a:pt x="27237" y="131063"/>
                      <a:pt x="33624" y="132562"/>
                      <a:pt x="39099" y="132889"/>
                    </a:cubicBezTo>
                    <a:lnTo>
                      <a:pt x="39099" y="98735"/>
                    </a:lnTo>
                    <a:cubicBezTo>
                      <a:pt x="25281" y="93587"/>
                      <a:pt x="15505" y="87981"/>
                      <a:pt x="9769" y="81920"/>
                    </a:cubicBezTo>
                    <a:cubicBezTo>
                      <a:pt x="4033" y="75793"/>
                      <a:pt x="1166" y="67776"/>
                      <a:pt x="1166" y="57869"/>
                    </a:cubicBezTo>
                    <a:cubicBezTo>
                      <a:pt x="1166" y="47963"/>
                      <a:pt x="4685" y="39555"/>
                      <a:pt x="11790" y="32711"/>
                    </a:cubicBezTo>
                    <a:cubicBezTo>
                      <a:pt x="18829" y="25868"/>
                      <a:pt x="27954" y="21892"/>
                      <a:pt x="39164" y="20784"/>
                    </a:cubicBezTo>
                    <a:lnTo>
                      <a:pt x="39164" y="1166"/>
                    </a:lnTo>
                    <a:lnTo>
                      <a:pt x="52852" y="1166"/>
                    </a:lnTo>
                    <a:lnTo>
                      <a:pt x="52852" y="20393"/>
                    </a:lnTo>
                    <a:cubicBezTo>
                      <a:pt x="66017" y="21045"/>
                      <a:pt x="75859" y="23130"/>
                      <a:pt x="82377" y="26780"/>
                    </a:cubicBezTo>
                    <a:lnTo>
                      <a:pt x="82377" y="52069"/>
                    </a:lnTo>
                    <a:cubicBezTo>
                      <a:pt x="73708" y="46790"/>
                      <a:pt x="63866" y="43596"/>
                      <a:pt x="52852" y="42292"/>
                    </a:cubicBezTo>
                    <a:lnTo>
                      <a:pt x="52852" y="77814"/>
                    </a:lnTo>
                    <a:cubicBezTo>
                      <a:pt x="66669" y="82832"/>
                      <a:pt x="76511" y="88438"/>
                      <a:pt x="82377" y="94694"/>
                    </a:cubicBezTo>
                    <a:cubicBezTo>
                      <a:pt x="88178" y="101017"/>
                      <a:pt x="91110" y="108707"/>
                      <a:pt x="91110" y="117832"/>
                    </a:cubicBezTo>
                    <a:close/>
                  </a:path>
                </a:pathLst>
              </a:custGeom>
              <a:solidFill>
                <a:schemeClr val="tx2"/>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130" name="Group 129">
            <a:extLst>
              <a:ext uri="{FF2B5EF4-FFF2-40B4-BE49-F238E27FC236}">
                <a16:creationId xmlns:a16="http://schemas.microsoft.com/office/drawing/2014/main" id="{8012CCAF-6C5E-4BA0-8B47-DC50382F76C0}"/>
              </a:ext>
              <a:ext uri="{C183D7F6-B498-43B3-948B-1728B52AA6E4}">
                <adec:decorative xmlns:adec="http://schemas.microsoft.com/office/drawing/2017/decorative" val="1"/>
              </a:ext>
            </a:extLst>
          </p:cNvPr>
          <p:cNvGrpSpPr/>
          <p:nvPr/>
        </p:nvGrpSpPr>
        <p:grpSpPr>
          <a:xfrm>
            <a:off x="632275" y="1263056"/>
            <a:ext cx="225102" cy="358477"/>
            <a:chOff x="2056615" y="3578958"/>
            <a:chExt cx="570946" cy="909235"/>
          </a:xfrm>
          <a:effectLst/>
        </p:grpSpPr>
        <p:sp>
          <p:nvSpPr>
            <p:cNvPr id="131" name="Freeform: Shape 130">
              <a:extLst>
                <a:ext uri="{FF2B5EF4-FFF2-40B4-BE49-F238E27FC236}">
                  <a16:creationId xmlns:a16="http://schemas.microsoft.com/office/drawing/2014/main" id="{6D48CDBB-D173-4C8D-8C82-B3919EA47CEA}"/>
                </a:ext>
              </a:extLst>
            </p:cNvPr>
            <p:cNvSpPr/>
            <p:nvPr/>
          </p:nvSpPr>
          <p:spPr>
            <a:xfrm>
              <a:off x="2056615" y="3578958"/>
              <a:ext cx="570946" cy="909235"/>
            </a:xfrm>
            <a:custGeom>
              <a:avLst/>
              <a:gdLst>
                <a:gd name="connsiteX0" fmla="*/ 436174 w 436173"/>
                <a:gd name="connsiteY0" fmla="*/ 216824 h 694608"/>
                <a:gd name="connsiteX1" fmla="*/ 219350 w 436173"/>
                <a:gd name="connsiteY1" fmla="*/ 0 h 694608"/>
                <a:gd name="connsiteX2" fmla="*/ 5583 w 436173"/>
                <a:gd name="connsiteY2" fmla="*/ 181196 h 694608"/>
                <a:gd name="connsiteX3" fmla="*/ 94254 w 436173"/>
                <a:gd name="connsiteY3" fmla="*/ 181196 h 694608"/>
                <a:gd name="connsiteX4" fmla="*/ 127489 w 436173"/>
                <a:gd name="connsiteY4" fmla="*/ 124963 h 694608"/>
                <a:gd name="connsiteX5" fmla="*/ 219217 w 436173"/>
                <a:gd name="connsiteY5" fmla="*/ 86809 h 694608"/>
                <a:gd name="connsiteX6" fmla="*/ 310945 w 436173"/>
                <a:gd name="connsiteY6" fmla="*/ 124963 h 694608"/>
                <a:gd name="connsiteX7" fmla="*/ 349099 w 436173"/>
                <a:gd name="connsiteY7" fmla="*/ 216691 h 694608"/>
                <a:gd name="connsiteX8" fmla="*/ 348966 w 436173"/>
                <a:gd name="connsiteY8" fmla="*/ 255111 h 694608"/>
                <a:gd name="connsiteX9" fmla="*/ 0 w 436173"/>
                <a:gd name="connsiteY9" fmla="*/ 255111 h 694608"/>
                <a:gd name="connsiteX10" fmla="*/ 0 w 436173"/>
                <a:gd name="connsiteY10" fmla="*/ 694609 h 694608"/>
                <a:gd name="connsiteX11" fmla="*/ 436174 w 436173"/>
                <a:gd name="connsiteY11" fmla="*/ 694609 h 694608"/>
                <a:gd name="connsiteX12" fmla="*/ 436174 w 436173"/>
                <a:gd name="connsiteY12" fmla="*/ 297386 h 694608"/>
                <a:gd name="connsiteX13" fmla="*/ 436174 w 436173"/>
                <a:gd name="connsiteY13" fmla="*/ 216824 h 69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6173" h="694608">
                  <a:moveTo>
                    <a:pt x="436174" y="216824"/>
                  </a:moveTo>
                  <a:cubicBezTo>
                    <a:pt x="436174" y="97578"/>
                    <a:pt x="338596" y="0"/>
                    <a:pt x="219350" y="0"/>
                  </a:cubicBezTo>
                  <a:cubicBezTo>
                    <a:pt x="112201" y="0"/>
                    <a:pt x="22733" y="78833"/>
                    <a:pt x="5583" y="181196"/>
                  </a:cubicBezTo>
                  <a:lnTo>
                    <a:pt x="94254" y="181196"/>
                  </a:lnTo>
                  <a:cubicBezTo>
                    <a:pt x="100236" y="160325"/>
                    <a:pt x="111536" y="141048"/>
                    <a:pt x="127489" y="124963"/>
                  </a:cubicBezTo>
                  <a:cubicBezTo>
                    <a:pt x="152083" y="100369"/>
                    <a:pt x="184786" y="86809"/>
                    <a:pt x="219217" y="86809"/>
                  </a:cubicBezTo>
                  <a:cubicBezTo>
                    <a:pt x="253649" y="86809"/>
                    <a:pt x="286352" y="100369"/>
                    <a:pt x="310945" y="124963"/>
                  </a:cubicBezTo>
                  <a:cubicBezTo>
                    <a:pt x="335539" y="149557"/>
                    <a:pt x="349099" y="182260"/>
                    <a:pt x="349099" y="216691"/>
                  </a:cubicBezTo>
                  <a:cubicBezTo>
                    <a:pt x="349099" y="223604"/>
                    <a:pt x="349099" y="229321"/>
                    <a:pt x="348966" y="255111"/>
                  </a:cubicBezTo>
                  <a:lnTo>
                    <a:pt x="0" y="255111"/>
                  </a:lnTo>
                  <a:lnTo>
                    <a:pt x="0" y="694609"/>
                  </a:lnTo>
                  <a:lnTo>
                    <a:pt x="436174" y="694609"/>
                  </a:lnTo>
                  <a:lnTo>
                    <a:pt x="436174" y="297386"/>
                  </a:lnTo>
                  <a:cubicBezTo>
                    <a:pt x="436174" y="258035"/>
                    <a:pt x="436174" y="226263"/>
                    <a:pt x="436174" y="216824"/>
                  </a:cubicBezTo>
                  <a:close/>
                </a:path>
              </a:pathLst>
            </a:custGeom>
            <a:solidFill>
              <a:schemeClr val="accent5"/>
            </a:solidFill>
            <a:ln w="785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32" name="Freeform: Shape 131">
              <a:extLst>
                <a:ext uri="{FF2B5EF4-FFF2-40B4-BE49-F238E27FC236}">
                  <a16:creationId xmlns:a16="http://schemas.microsoft.com/office/drawing/2014/main" id="{ABD773C4-7B58-42F6-98D5-A228BC78CF6C}"/>
                </a:ext>
              </a:extLst>
            </p:cNvPr>
            <p:cNvSpPr/>
            <p:nvPr/>
          </p:nvSpPr>
          <p:spPr>
            <a:xfrm>
              <a:off x="2246407" y="4000120"/>
              <a:ext cx="191361" cy="382720"/>
            </a:xfrm>
            <a:custGeom>
              <a:avLst/>
              <a:gdLst>
                <a:gd name="connsiteX0" fmla="*/ 66148 w 88898"/>
                <a:gd name="connsiteY0" fmla="*/ 119136 h 177796"/>
                <a:gd name="connsiteX1" fmla="*/ 52721 w 88898"/>
                <a:gd name="connsiteY1" fmla="*/ 104145 h 177796"/>
                <a:gd name="connsiteX2" fmla="*/ 52721 w 88898"/>
                <a:gd name="connsiteY2" fmla="*/ 132562 h 177796"/>
                <a:gd name="connsiteX3" fmla="*/ 66148 w 88898"/>
                <a:gd name="connsiteY3" fmla="*/ 119136 h 177796"/>
                <a:gd name="connsiteX4" fmla="*/ 39034 w 88898"/>
                <a:gd name="connsiteY4" fmla="*/ 72404 h 177796"/>
                <a:gd name="connsiteX5" fmla="*/ 39034 w 88898"/>
                <a:gd name="connsiteY5" fmla="*/ 42683 h 177796"/>
                <a:gd name="connsiteX6" fmla="*/ 25998 w 88898"/>
                <a:gd name="connsiteY6" fmla="*/ 56305 h 177796"/>
                <a:gd name="connsiteX7" fmla="*/ 39034 w 88898"/>
                <a:gd name="connsiteY7" fmla="*/ 72404 h 177796"/>
                <a:gd name="connsiteX8" fmla="*/ 91110 w 88898"/>
                <a:gd name="connsiteY8" fmla="*/ 117832 h 177796"/>
                <a:gd name="connsiteX9" fmla="*/ 81334 w 88898"/>
                <a:gd name="connsiteY9" fmla="*/ 142861 h 177796"/>
                <a:gd name="connsiteX10" fmla="*/ 52786 w 88898"/>
                <a:gd name="connsiteY10" fmla="*/ 154462 h 177796"/>
                <a:gd name="connsiteX11" fmla="*/ 52786 w 88898"/>
                <a:gd name="connsiteY11" fmla="*/ 176752 h 177796"/>
                <a:gd name="connsiteX12" fmla="*/ 39099 w 88898"/>
                <a:gd name="connsiteY12" fmla="*/ 176752 h 177796"/>
                <a:gd name="connsiteX13" fmla="*/ 39099 w 88898"/>
                <a:gd name="connsiteY13" fmla="*/ 155048 h 177796"/>
                <a:gd name="connsiteX14" fmla="*/ 3642 w 88898"/>
                <a:gd name="connsiteY14" fmla="*/ 146445 h 177796"/>
                <a:gd name="connsiteX15" fmla="*/ 3642 w 88898"/>
                <a:gd name="connsiteY15" fmla="*/ 120439 h 177796"/>
                <a:gd name="connsiteX16" fmla="*/ 19806 w 88898"/>
                <a:gd name="connsiteY16" fmla="*/ 128456 h 177796"/>
                <a:gd name="connsiteX17" fmla="*/ 39099 w 88898"/>
                <a:gd name="connsiteY17" fmla="*/ 132889 h 177796"/>
                <a:gd name="connsiteX18" fmla="*/ 39099 w 88898"/>
                <a:gd name="connsiteY18" fmla="*/ 98735 h 177796"/>
                <a:gd name="connsiteX19" fmla="*/ 9769 w 88898"/>
                <a:gd name="connsiteY19" fmla="*/ 81920 h 177796"/>
                <a:gd name="connsiteX20" fmla="*/ 1166 w 88898"/>
                <a:gd name="connsiteY20" fmla="*/ 57869 h 177796"/>
                <a:gd name="connsiteX21" fmla="*/ 11790 w 88898"/>
                <a:gd name="connsiteY21" fmla="*/ 32711 h 177796"/>
                <a:gd name="connsiteX22" fmla="*/ 39164 w 88898"/>
                <a:gd name="connsiteY22" fmla="*/ 20784 h 177796"/>
                <a:gd name="connsiteX23" fmla="*/ 39164 w 88898"/>
                <a:gd name="connsiteY23" fmla="*/ 1166 h 177796"/>
                <a:gd name="connsiteX24" fmla="*/ 52852 w 88898"/>
                <a:gd name="connsiteY24" fmla="*/ 1166 h 177796"/>
                <a:gd name="connsiteX25" fmla="*/ 52852 w 88898"/>
                <a:gd name="connsiteY25" fmla="*/ 20393 h 177796"/>
                <a:gd name="connsiteX26" fmla="*/ 82377 w 88898"/>
                <a:gd name="connsiteY26" fmla="*/ 26780 h 177796"/>
                <a:gd name="connsiteX27" fmla="*/ 82377 w 88898"/>
                <a:gd name="connsiteY27" fmla="*/ 52069 h 177796"/>
                <a:gd name="connsiteX28" fmla="*/ 52852 w 88898"/>
                <a:gd name="connsiteY28" fmla="*/ 42292 h 177796"/>
                <a:gd name="connsiteX29" fmla="*/ 52852 w 88898"/>
                <a:gd name="connsiteY29" fmla="*/ 77814 h 177796"/>
                <a:gd name="connsiteX30" fmla="*/ 82377 w 88898"/>
                <a:gd name="connsiteY30" fmla="*/ 94694 h 177796"/>
                <a:gd name="connsiteX31" fmla="*/ 91110 w 88898"/>
                <a:gd name="connsiteY31" fmla="*/ 117832 h 17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898" h="177796">
                  <a:moveTo>
                    <a:pt x="66148" y="119136"/>
                  </a:moveTo>
                  <a:cubicBezTo>
                    <a:pt x="66148" y="113075"/>
                    <a:pt x="61650" y="108056"/>
                    <a:pt x="52721" y="104145"/>
                  </a:cubicBezTo>
                  <a:lnTo>
                    <a:pt x="52721" y="132562"/>
                  </a:lnTo>
                  <a:cubicBezTo>
                    <a:pt x="61716" y="131129"/>
                    <a:pt x="66148" y="126631"/>
                    <a:pt x="66148" y="119136"/>
                  </a:cubicBezTo>
                  <a:close/>
                  <a:moveTo>
                    <a:pt x="39034" y="72404"/>
                  </a:moveTo>
                  <a:lnTo>
                    <a:pt x="39034" y="42683"/>
                  </a:lnTo>
                  <a:cubicBezTo>
                    <a:pt x="30365" y="44247"/>
                    <a:pt x="25998" y="48745"/>
                    <a:pt x="25998" y="56305"/>
                  </a:cubicBezTo>
                  <a:cubicBezTo>
                    <a:pt x="25998" y="62888"/>
                    <a:pt x="30365" y="68233"/>
                    <a:pt x="39034" y="72404"/>
                  </a:cubicBezTo>
                  <a:close/>
                  <a:moveTo>
                    <a:pt x="91110" y="117832"/>
                  </a:moveTo>
                  <a:cubicBezTo>
                    <a:pt x="91110" y="128195"/>
                    <a:pt x="87852" y="136538"/>
                    <a:pt x="81334" y="142861"/>
                  </a:cubicBezTo>
                  <a:cubicBezTo>
                    <a:pt x="74816" y="149182"/>
                    <a:pt x="65300" y="153028"/>
                    <a:pt x="52786" y="154462"/>
                  </a:cubicBezTo>
                  <a:lnTo>
                    <a:pt x="52786" y="176752"/>
                  </a:lnTo>
                  <a:lnTo>
                    <a:pt x="39099" y="176752"/>
                  </a:lnTo>
                  <a:lnTo>
                    <a:pt x="39099" y="155048"/>
                  </a:lnTo>
                  <a:cubicBezTo>
                    <a:pt x="26194" y="154918"/>
                    <a:pt x="14397" y="152050"/>
                    <a:pt x="3642" y="146445"/>
                  </a:cubicBezTo>
                  <a:lnTo>
                    <a:pt x="3642" y="120439"/>
                  </a:lnTo>
                  <a:cubicBezTo>
                    <a:pt x="7032" y="123177"/>
                    <a:pt x="12441" y="125849"/>
                    <a:pt x="19806" y="128456"/>
                  </a:cubicBezTo>
                  <a:cubicBezTo>
                    <a:pt x="27237" y="131063"/>
                    <a:pt x="33624" y="132562"/>
                    <a:pt x="39099" y="132889"/>
                  </a:cubicBezTo>
                  <a:lnTo>
                    <a:pt x="39099" y="98735"/>
                  </a:lnTo>
                  <a:cubicBezTo>
                    <a:pt x="25281" y="93587"/>
                    <a:pt x="15505" y="87981"/>
                    <a:pt x="9769" y="81920"/>
                  </a:cubicBezTo>
                  <a:cubicBezTo>
                    <a:pt x="4033" y="75793"/>
                    <a:pt x="1166" y="67776"/>
                    <a:pt x="1166" y="57869"/>
                  </a:cubicBezTo>
                  <a:cubicBezTo>
                    <a:pt x="1166" y="47963"/>
                    <a:pt x="4685" y="39555"/>
                    <a:pt x="11790" y="32711"/>
                  </a:cubicBezTo>
                  <a:cubicBezTo>
                    <a:pt x="18829" y="25868"/>
                    <a:pt x="27954" y="21892"/>
                    <a:pt x="39164" y="20784"/>
                  </a:cubicBezTo>
                  <a:lnTo>
                    <a:pt x="39164" y="1166"/>
                  </a:lnTo>
                  <a:lnTo>
                    <a:pt x="52852" y="1166"/>
                  </a:lnTo>
                  <a:lnTo>
                    <a:pt x="52852" y="20393"/>
                  </a:lnTo>
                  <a:cubicBezTo>
                    <a:pt x="66017" y="21045"/>
                    <a:pt x="75859" y="23130"/>
                    <a:pt x="82377" y="26780"/>
                  </a:cubicBezTo>
                  <a:lnTo>
                    <a:pt x="82377" y="52069"/>
                  </a:lnTo>
                  <a:cubicBezTo>
                    <a:pt x="73708" y="46790"/>
                    <a:pt x="63866" y="43596"/>
                    <a:pt x="52852" y="42292"/>
                  </a:cubicBezTo>
                  <a:lnTo>
                    <a:pt x="52852" y="77814"/>
                  </a:lnTo>
                  <a:cubicBezTo>
                    <a:pt x="66669" y="82832"/>
                    <a:pt x="76511" y="88438"/>
                    <a:pt x="82377" y="94694"/>
                  </a:cubicBezTo>
                  <a:cubicBezTo>
                    <a:pt x="88178" y="101017"/>
                    <a:pt x="91110" y="108707"/>
                    <a:pt x="91110" y="117832"/>
                  </a:cubicBezTo>
                  <a:close/>
                </a:path>
              </a:pathLst>
            </a:custGeom>
            <a:solidFill>
              <a:schemeClr val="tx2"/>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34" name="Group 133">
            <a:extLst>
              <a:ext uri="{FF2B5EF4-FFF2-40B4-BE49-F238E27FC236}">
                <a16:creationId xmlns:a16="http://schemas.microsoft.com/office/drawing/2014/main" id="{D8027096-D33B-4266-B937-CB4DF2DB9334}"/>
              </a:ext>
              <a:ext uri="{C183D7F6-B498-43B3-948B-1728B52AA6E4}">
                <adec:decorative xmlns:adec="http://schemas.microsoft.com/office/drawing/2017/decorative" val="1"/>
              </a:ext>
            </a:extLst>
          </p:cNvPr>
          <p:cNvGrpSpPr/>
          <p:nvPr/>
        </p:nvGrpSpPr>
        <p:grpSpPr>
          <a:xfrm>
            <a:off x="1225375" y="1275578"/>
            <a:ext cx="392888" cy="333433"/>
            <a:chOff x="5692537" y="3717104"/>
            <a:chExt cx="1048981" cy="890242"/>
          </a:xfrm>
          <a:effectLst/>
        </p:grpSpPr>
        <p:grpSp>
          <p:nvGrpSpPr>
            <p:cNvPr id="135" name="gears 1" descr="gears, process, precision, productivity, mechanical">
              <a:extLst>
                <a:ext uri="{FF2B5EF4-FFF2-40B4-BE49-F238E27FC236}">
                  <a16:creationId xmlns:a16="http://schemas.microsoft.com/office/drawing/2014/main" id="{D6E0086F-73B5-48C3-A0D2-7F6CCA24FE2C}"/>
                </a:ext>
              </a:extLst>
            </p:cNvPr>
            <p:cNvGrpSpPr>
              <a:grpSpLocks noChangeAspect="1"/>
            </p:cNvGrpSpPr>
            <p:nvPr/>
          </p:nvGrpSpPr>
          <p:grpSpPr bwMode="auto">
            <a:xfrm>
              <a:off x="5692537" y="3717104"/>
              <a:ext cx="806922" cy="648183"/>
              <a:chOff x="1682" y="3095"/>
              <a:chExt cx="244" cy="196"/>
            </a:xfrm>
          </p:grpSpPr>
          <p:sp>
            <p:nvSpPr>
              <p:cNvPr id="139" name="AutoShape 151">
                <a:extLst>
                  <a:ext uri="{FF2B5EF4-FFF2-40B4-BE49-F238E27FC236}">
                    <a16:creationId xmlns:a16="http://schemas.microsoft.com/office/drawing/2014/main" id="{A7AD7541-65AA-422F-B7D8-AB3B80E0F428}"/>
                  </a:ext>
                </a:extLst>
              </p:cNvPr>
              <p:cNvSpPr>
                <a:spLocks noChangeAspect="1" noChangeArrowheads="1" noTextEdit="1"/>
              </p:cNvSpPr>
              <p:nvPr/>
            </p:nvSpPr>
            <p:spPr bwMode="auto">
              <a:xfrm>
                <a:off x="1682" y="3095"/>
                <a:ext cx="24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0" name="Freeform 153">
                <a:extLst>
                  <a:ext uri="{FF2B5EF4-FFF2-40B4-BE49-F238E27FC236}">
                    <a16:creationId xmlns:a16="http://schemas.microsoft.com/office/drawing/2014/main" id="{9D422048-9FFA-43AA-8953-58D71EC9144D}"/>
                  </a:ext>
                </a:extLst>
              </p:cNvPr>
              <p:cNvSpPr>
                <a:spLocks noEditPoints="1"/>
              </p:cNvSpPr>
              <p:nvPr/>
            </p:nvSpPr>
            <p:spPr bwMode="auto">
              <a:xfrm>
                <a:off x="1810" y="3094"/>
                <a:ext cx="115" cy="113"/>
              </a:xfrm>
              <a:custGeom>
                <a:avLst/>
                <a:gdLst>
                  <a:gd name="T0" fmla="*/ 68 w 79"/>
                  <a:gd name="T1" fmla="*/ 36 h 78"/>
                  <a:gd name="T2" fmla="*/ 66 w 79"/>
                  <a:gd name="T3" fmla="*/ 26 h 78"/>
                  <a:gd name="T4" fmla="*/ 72 w 79"/>
                  <a:gd name="T5" fmla="*/ 18 h 78"/>
                  <a:gd name="T6" fmla="*/ 66 w 79"/>
                  <a:gd name="T7" fmla="*/ 11 h 78"/>
                  <a:gd name="T8" fmla="*/ 57 w 79"/>
                  <a:gd name="T9" fmla="*/ 16 h 78"/>
                  <a:gd name="T10" fmla="*/ 49 w 79"/>
                  <a:gd name="T11" fmla="*/ 12 h 78"/>
                  <a:gd name="T12" fmla="*/ 48 w 79"/>
                  <a:gd name="T13" fmla="*/ 1 h 78"/>
                  <a:gd name="T14" fmla="*/ 38 w 79"/>
                  <a:gd name="T15" fmla="*/ 0 h 78"/>
                  <a:gd name="T16" fmla="*/ 35 w 79"/>
                  <a:gd name="T17" fmla="*/ 11 h 78"/>
                  <a:gd name="T18" fmla="*/ 26 w 79"/>
                  <a:gd name="T19" fmla="*/ 13 h 78"/>
                  <a:gd name="T20" fmla="*/ 18 w 79"/>
                  <a:gd name="T21" fmla="*/ 6 h 78"/>
                  <a:gd name="T22" fmla="*/ 11 w 79"/>
                  <a:gd name="T23" fmla="*/ 12 h 78"/>
                  <a:gd name="T24" fmla="*/ 16 w 79"/>
                  <a:gd name="T25" fmla="*/ 22 h 78"/>
                  <a:gd name="T26" fmla="*/ 11 w 79"/>
                  <a:gd name="T27" fmla="*/ 30 h 78"/>
                  <a:gd name="T28" fmla="*/ 1 w 79"/>
                  <a:gd name="T29" fmla="*/ 31 h 78"/>
                  <a:gd name="T30" fmla="*/ 0 w 79"/>
                  <a:gd name="T31" fmla="*/ 40 h 78"/>
                  <a:gd name="T32" fmla="*/ 10 w 79"/>
                  <a:gd name="T33" fmla="*/ 43 h 78"/>
                  <a:gd name="T34" fmla="*/ 13 w 79"/>
                  <a:gd name="T35" fmla="*/ 52 h 78"/>
                  <a:gd name="T36" fmla="*/ 6 w 79"/>
                  <a:gd name="T37" fmla="*/ 60 h 78"/>
                  <a:gd name="T38" fmla="*/ 12 w 79"/>
                  <a:gd name="T39" fmla="*/ 67 h 78"/>
                  <a:gd name="T40" fmla="*/ 22 w 79"/>
                  <a:gd name="T41" fmla="*/ 62 h 78"/>
                  <a:gd name="T42" fmla="*/ 30 w 79"/>
                  <a:gd name="T43" fmla="*/ 66 h 78"/>
                  <a:gd name="T44" fmla="*/ 31 w 79"/>
                  <a:gd name="T45" fmla="*/ 77 h 78"/>
                  <a:gd name="T46" fmla="*/ 40 w 79"/>
                  <a:gd name="T47" fmla="*/ 78 h 78"/>
                  <a:gd name="T48" fmla="*/ 43 w 79"/>
                  <a:gd name="T49" fmla="*/ 67 h 78"/>
                  <a:gd name="T50" fmla="*/ 52 w 79"/>
                  <a:gd name="T51" fmla="*/ 65 h 78"/>
                  <a:gd name="T52" fmla="*/ 61 w 79"/>
                  <a:gd name="T53" fmla="*/ 72 h 78"/>
                  <a:gd name="T54" fmla="*/ 68 w 79"/>
                  <a:gd name="T55" fmla="*/ 66 h 78"/>
                  <a:gd name="T56" fmla="*/ 63 w 79"/>
                  <a:gd name="T57" fmla="*/ 56 h 78"/>
                  <a:gd name="T58" fmla="*/ 68 w 79"/>
                  <a:gd name="T59" fmla="*/ 48 h 78"/>
                  <a:gd name="T60" fmla="*/ 78 w 79"/>
                  <a:gd name="T61" fmla="*/ 47 h 78"/>
                  <a:gd name="T62" fmla="*/ 79 w 79"/>
                  <a:gd name="T63" fmla="*/ 38 h 78"/>
                  <a:gd name="T64" fmla="*/ 68 w 79"/>
                  <a:gd name="T65" fmla="*/ 36 h 78"/>
                  <a:gd name="T66" fmla="*/ 44 w 79"/>
                  <a:gd name="T67" fmla="*/ 56 h 78"/>
                  <a:gd name="T68" fmla="*/ 22 w 79"/>
                  <a:gd name="T69" fmla="*/ 45 h 78"/>
                  <a:gd name="T70" fmla="*/ 34 w 79"/>
                  <a:gd name="T71" fmla="*/ 23 h 78"/>
                  <a:gd name="T72" fmla="*/ 55 w 79"/>
                  <a:gd name="T73" fmla="*/ 34 h 78"/>
                  <a:gd name="T74" fmla="*/ 44 w 79"/>
                  <a:gd name="T75" fmla="*/ 5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9" h="78">
                    <a:moveTo>
                      <a:pt x="68" y="36"/>
                    </a:moveTo>
                    <a:cubicBezTo>
                      <a:pt x="68" y="32"/>
                      <a:pt x="67" y="29"/>
                      <a:pt x="66" y="26"/>
                    </a:cubicBezTo>
                    <a:cubicBezTo>
                      <a:pt x="67" y="26"/>
                      <a:pt x="72" y="18"/>
                      <a:pt x="72" y="18"/>
                    </a:cubicBezTo>
                    <a:cubicBezTo>
                      <a:pt x="66" y="11"/>
                      <a:pt x="66" y="11"/>
                      <a:pt x="66" y="11"/>
                    </a:cubicBezTo>
                    <a:cubicBezTo>
                      <a:pt x="66" y="11"/>
                      <a:pt x="57" y="15"/>
                      <a:pt x="57" y="16"/>
                    </a:cubicBezTo>
                    <a:cubicBezTo>
                      <a:pt x="54" y="14"/>
                      <a:pt x="52" y="13"/>
                      <a:pt x="49" y="12"/>
                    </a:cubicBezTo>
                    <a:cubicBezTo>
                      <a:pt x="49" y="11"/>
                      <a:pt x="48" y="1"/>
                      <a:pt x="48" y="1"/>
                    </a:cubicBezTo>
                    <a:cubicBezTo>
                      <a:pt x="38" y="0"/>
                      <a:pt x="38" y="0"/>
                      <a:pt x="38" y="0"/>
                    </a:cubicBezTo>
                    <a:cubicBezTo>
                      <a:pt x="38" y="0"/>
                      <a:pt x="35" y="10"/>
                      <a:pt x="35" y="11"/>
                    </a:cubicBezTo>
                    <a:cubicBezTo>
                      <a:pt x="32" y="11"/>
                      <a:pt x="29" y="12"/>
                      <a:pt x="26" y="13"/>
                    </a:cubicBezTo>
                    <a:cubicBezTo>
                      <a:pt x="26" y="12"/>
                      <a:pt x="18" y="6"/>
                      <a:pt x="18" y="6"/>
                    </a:cubicBezTo>
                    <a:cubicBezTo>
                      <a:pt x="11" y="12"/>
                      <a:pt x="11" y="12"/>
                      <a:pt x="11" y="12"/>
                    </a:cubicBezTo>
                    <a:cubicBezTo>
                      <a:pt x="11" y="12"/>
                      <a:pt x="15" y="21"/>
                      <a:pt x="16" y="22"/>
                    </a:cubicBezTo>
                    <a:cubicBezTo>
                      <a:pt x="14" y="24"/>
                      <a:pt x="12" y="27"/>
                      <a:pt x="11" y="30"/>
                    </a:cubicBezTo>
                    <a:cubicBezTo>
                      <a:pt x="10" y="30"/>
                      <a:pt x="1" y="31"/>
                      <a:pt x="1" y="31"/>
                    </a:cubicBezTo>
                    <a:cubicBezTo>
                      <a:pt x="0" y="40"/>
                      <a:pt x="0" y="40"/>
                      <a:pt x="0" y="40"/>
                    </a:cubicBezTo>
                    <a:cubicBezTo>
                      <a:pt x="0" y="40"/>
                      <a:pt x="9" y="43"/>
                      <a:pt x="10" y="43"/>
                    </a:cubicBezTo>
                    <a:cubicBezTo>
                      <a:pt x="10" y="46"/>
                      <a:pt x="12" y="49"/>
                      <a:pt x="13" y="52"/>
                    </a:cubicBezTo>
                    <a:cubicBezTo>
                      <a:pt x="12" y="53"/>
                      <a:pt x="6" y="60"/>
                      <a:pt x="6" y="60"/>
                    </a:cubicBezTo>
                    <a:cubicBezTo>
                      <a:pt x="12" y="67"/>
                      <a:pt x="12" y="67"/>
                      <a:pt x="12" y="67"/>
                    </a:cubicBezTo>
                    <a:cubicBezTo>
                      <a:pt x="12" y="67"/>
                      <a:pt x="21" y="63"/>
                      <a:pt x="22" y="62"/>
                    </a:cubicBezTo>
                    <a:cubicBezTo>
                      <a:pt x="24" y="64"/>
                      <a:pt x="27" y="65"/>
                      <a:pt x="30" y="66"/>
                    </a:cubicBezTo>
                    <a:cubicBezTo>
                      <a:pt x="30" y="66"/>
                      <a:pt x="31" y="77"/>
                      <a:pt x="31" y="77"/>
                    </a:cubicBezTo>
                    <a:cubicBezTo>
                      <a:pt x="40" y="78"/>
                      <a:pt x="40" y="78"/>
                      <a:pt x="40" y="78"/>
                    </a:cubicBezTo>
                    <a:cubicBezTo>
                      <a:pt x="40" y="78"/>
                      <a:pt x="43" y="68"/>
                      <a:pt x="43" y="67"/>
                    </a:cubicBezTo>
                    <a:cubicBezTo>
                      <a:pt x="46" y="67"/>
                      <a:pt x="49" y="66"/>
                      <a:pt x="52" y="65"/>
                    </a:cubicBezTo>
                    <a:cubicBezTo>
                      <a:pt x="52" y="66"/>
                      <a:pt x="61" y="72"/>
                      <a:pt x="61" y="72"/>
                    </a:cubicBezTo>
                    <a:cubicBezTo>
                      <a:pt x="68" y="66"/>
                      <a:pt x="68" y="66"/>
                      <a:pt x="68" y="66"/>
                    </a:cubicBezTo>
                    <a:cubicBezTo>
                      <a:pt x="68" y="66"/>
                      <a:pt x="64" y="58"/>
                      <a:pt x="63" y="56"/>
                    </a:cubicBezTo>
                    <a:cubicBezTo>
                      <a:pt x="65" y="54"/>
                      <a:pt x="66" y="51"/>
                      <a:pt x="68" y="48"/>
                    </a:cubicBezTo>
                    <a:cubicBezTo>
                      <a:pt x="69" y="48"/>
                      <a:pt x="78" y="47"/>
                      <a:pt x="78" y="47"/>
                    </a:cubicBezTo>
                    <a:cubicBezTo>
                      <a:pt x="79" y="38"/>
                      <a:pt x="79" y="38"/>
                      <a:pt x="79" y="38"/>
                    </a:cubicBezTo>
                    <a:cubicBezTo>
                      <a:pt x="78" y="39"/>
                      <a:pt x="70" y="36"/>
                      <a:pt x="68" y="36"/>
                    </a:cubicBezTo>
                    <a:close/>
                    <a:moveTo>
                      <a:pt x="44" y="56"/>
                    </a:moveTo>
                    <a:cubicBezTo>
                      <a:pt x="35" y="59"/>
                      <a:pt x="25" y="54"/>
                      <a:pt x="22" y="45"/>
                    </a:cubicBezTo>
                    <a:cubicBezTo>
                      <a:pt x="20" y="36"/>
                      <a:pt x="24" y="26"/>
                      <a:pt x="34" y="23"/>
                    </a:cubicBezTo>
                    <a:cubicBezTo>
                      <a:pt x="43" y="20"/>
                      <a:pt x="52" y="25"/>
                      <a:pt x="55" y="34"/>
                    </a:cubicBezTo>
                    <a:cubicBezTo>
                      <a:pt x="58" y="43"/>
                      <a:pt x="53" y="53"/>
                      <a:pt x="44" y="56"/>
                    </a:cubicBezTo>
                    <a:close/>
                  </a:path>
                </a:pathLst>
              </a:custGeom>
              <a:solidFill>
                <a:srgbClr val="243A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1" name="Freeform 154">
                <a:extLst>
                  <a:ext uri="{FF2B5EF4-FFF2-40B4-BE49-F238E27FC236}">
                    <a16:creationId xmlns:a16="http://schemas.microsoft.com/office/drawing/2014/main" id="{B9BCFA2F-C853-4266-93E7-F03EFDF547AA}"/>
                  </a:ext>
                </a:extLst>
              </p:cNvPr>
              <p:cNvSpPr>
                <a:spLocks noEditPoints="1"/>
              </p:cNvSpPr>
              <p:nvPr/>
            </p:nvSpPr>
            <p:spPr bwMode="auto">
              <a:xfrm>
                <a:off x="1682" y="3140"/>
                <a:ext cx="151" cy="150"/>
              </a:xfrm>
              <a:custGeom>
                <a:avLst/>
                <a:gdLst>
                  <a:gd name="T0" fmla="*/ 84 w 104"/>
                  <a:gd name="T1" fmla="*/ 31 h 103"/>
                  <a:gd name="T2" fmla="*/ 92 w 104"/>
                  <a:gd name="T3" fmla="*/ 20 h 103"/>
                  <a:gd name="T4" fmla="*/ 83 w 104"/>
                  <a:gd name="T5" fmla="*/ 11 h 103"/>
                  <a:gd name="T6" fmla="*/ 71 w 104"/>
                  <a:gd name="T7" fmla="*/ 19 h 103"/>
                  <a:gd name="T8" fmla="*/ 60 w 104"/>
                  <a:gd name="T9" fmla="*/ 14 h 103"/>
                  <a:gd name="T10" fmla="*/ 57 w 104"/>
                  <a:gd name="T11" fmla="*/ 0 h 103"/>
                  <a:gd name="T12" fmla="*/ 45 w 104"/>
                  <a:gd name="T13" fmla="*/ 0 h 103"/>
                  <a:gd name="T14" fmla="*/ 42 w 104"/>
                  <a:gd name="T15" fmla="*/ 14 h 103"/>
                  <a:gd name="T16" fmla="*/ 31 w 104"/>
                  <a:gd name="T17" fmla="*/ 19 h 103"/>
                  <a:gd name="T18" fmla="*/ 19 w 104"/>
                  <a:gd name="T19" fmla="*/ 11 h 103"/>
                  <a:gd name="T20" fmla="*/ 10 w 104"/>
                  <a:gd name="T21" fmla="*/ 20 h 103"/>
                  <a:gd name="T22" fmla="*/ 18 w 104"/>
                  <a:gd name="T23" fmla="*/ 32 h 103"/>
                  <a:gd name="T24" fmla="*/ 13 w 104"/>
                  <a:gd name="T25" fmla="*/ 43 h 103"/>
                  <a:gd name="T26" fmla="*/ 0 w 104"/>
                  <a:gd name="T27" fmla="*/ 46 h 103"/>
                  <a:gd name="T28" fmla="*/ 0 w 104"/>
                  <a:gd name="T29" fmla="*/ 57 h 103"/>
                  <a:gd name="T30" fmla="*/ 14 w 104"/>
                  <a:gd name="T31" fmla="*/ 60 h 103"/>
                  <a:gd name="T32" fmla="*/ 18 w 104"/>
                  <a:gd name="T33" fmla="*/ 72 h 103"/>
                  <a:gd name="T34" fmla="*/ 11 w 104"/>
                  <a:gd name="T35" fmla="*/ 84 h 103"/>
                  <a:gd name="T36" fmla="*/ 19 w 104"/>
                  <a:gd name="T37" fmla="*/ 92 h 103"/>
                  <a:gd name="T38" fmla="*/ 32 w 104"/>
                  <a:gd name="T39" fmla="*/ 84 h 103"/>
                  <a:gd name="T40" fmla="*/ 43 w 104"/>
                  <a:gd name="T41" fmla="*/ 88 h 103"/>
                  <a:gd name="T42" fmla="*/ 46 w 104"/>
                  <a:gd name="T43" fmla="*/ 103 h 103"/>
                  <a:gd name="T44" fmla="*/ 58 w 104"/>
                  <a:gd name="T45" fmla="*/ 103 h 103"/>
                  <a:gd name="T46" fmla="*/ 61 w 104"/>
                  <a:gd name="T47" fmla="*/ 88 h 103"/>
                  <a:gd name="T48" fmla="*/ 72 w 104"/>
                  <a:gd name="T49" fmla="*/ 84 h 103"/>
                  <a:gd name="T50" fmla="*/ 84 w 104"/>
                  <a:gd name="T51" fmla="*/ 92 h 103"/>
                  <a:gd name="T52" fmla="*/ 92 w 104"/>
                  <a:gd name="T53" fmla="*/ 83 h 103"/>
                  <a:gd name="T54" fmla="*/ 85 w 104"/>
                  <a:gd name="T55" fmla="*/ 72 h 103"/>
                  <a:gd name="T56" fmla="*/ 90 w 104"/>
                  <a:gd name="T57" fmla="*/ 60 h 103"/>
                  <a:gd name="T58" fmla="*/ 104 w 104"/>
                  <a:gd name="T59" fmla="*/ 57 h 103"/>
                  <a:gd name="T60" fmla="*/ 104 w 104"/>
                  <a:gd name="T61" fmla="*/ 45 h 103"/>
                  <a:gd name="T62" fmla="*/ 90 w 104"/>
                  <a:gd name="T63" fmla="*/ 42 h 103"/>
                  <a:gd name="T64" fmla="*/ 84 w 104"/>
                  <a:gd name="T65" fmla="*/ 31 h 103"/>
                  <a:gd name="T66" fmla="*/ 60 w 104"/>
                  <a:gd name="T67" fmla="*/ 72 h 103"/>
                  <a:gd name="T68" fmla="*/ 30 w 104"/>
                  <a:gd name="T69" fmla="*/ 60 h 103"/>
                  <a:gd name="T70" fmla="*/ 42 w 104"/>
                  <a:gd name="T71" fmla="*/ 30 h 103"/>
                  <a:gd name="T72" fmla="*/ 72 w 104"/>
                  <a:gd name="T73" fmla="*/ 42 h 103"/>
                  <a:gd name="T74" fmla="*/ 60 w 104"/>
                  <a:gd name="T75" fmla="*/ 7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 h="103">
                    <a:moveTo>
                      <a:pt x="84" y="31"/>
                    </a:moveTo>
                    <a:cubicBezTo>
                      <a:pt x="86" y="30"/>
                      <a:pt x="92" y="20"/>
                      <a:pt x="92" y="20"/>
                    </a:cubicBezTo>
                    <a:cubicBezTo>
                      <a:pt x="83" y="11"/>
                      <a:pt x="83" y="11"/>
                      <a:pt x="83" y="11"/>
                    </a:cubicBezTo>
                    <a:cubicBezTo>
                      <a:pt x="83" y="11"/>
                      <a:pt x="72" y="18"/>
                      <a:pt x="71" y="19"/>
                    </a:cubicBezTo>
                    <a:cubicBezTo>
                      <a:pt x="68" y="17"/>
                      <a:pt x="64" y="15"/>
                      <a:pt x="60" y="14"/>
                    </a:cubicBezTo>
                    <a:cubicBezTo>
                      <a:pt x="60" y="14"/>
                      <a:pt x="57" y="0"/>
                      <a:pt x="57" y="0"/>
                    </a:cubicBezTo>
                    <a:cubicBezTo>
                      <a:pt x="45" y="0"/>
                      <a:pt x="45" y="0"/>
                      <a:pt x="45" y="0"/>
                    </a:cubicBezTo>
                    <a:cubicBezTo>
                      <a:pt x="45" y="0"/>
                      <a:pt x="42" y="14"/>
                      <a:pt x="42" y="14"/>
                    </a:cubicBezTo>
                    <a:cubicBezTo>
                      <a:pt x="38" y="15"/>
                      <a:pt x="34" y="17"/>
                      <a:pt x="31" y="19"/>
                    </a:cubicBezTo>
                    <a:cubicBezTo>
                      <a:pt x="30" y="18"/>
                      <a:pt x="19" y="11"/>
                      <a:pt x="19" y="11"/>
                    </a:cubicBezTo>
                    <a:cubicBezTo>
                      <a:pt x="10" y="20"/>
                      <a:pt x="10" y="20"/>
                      <a:pt x="10" y="20"/>
                    </a:cubicBezTo>
                    <a:cubicBezTo>
                      <a:pt x="10" y="20"/>
                      <a:pt x="17" y="30"/>
                      <a:pt x="18" y="32"/>
                    </a:cubicBezTo>
                    <a:cubicBezTo>
                      <a:pt x="16" y="35"/>
                      <a:pt x="14" y="39"/>
                      <a:pt x="13" y="43"/>
                    </a:cubicBezTo>
                    <a:cubicBezTo>
                      <a:pt x="12" y="42"/>
                      <a:pt x="0" y="46"/>
                      <a:pt x="0" y="46"/>
                    </a:cubicBezTo>
                    <a:cubicBezTo>
                      <a:pt x="0" y="57"/>
                      <a:pt x="0" y="57"/>
                      <a:pt x="0" y="57"/>
                    </a:cubicBezTo>
                    <a:cubicBezTo>
                      <a:pt x="0" y="57"/>
                      <a:pt x="12" y="60"/>
                      <a:pt x="14" y="60"/>
                    </a:cubicBezTo>
                    <a:cubicBezTo>
                      <a:pt x="15" y="64"/>
                      <a:pt x="16" y="68"/>
                      <a:pt x="18" y="72"/>
                    </a:cubicBezTo>
                    <a:cubicBezTo>
                      <a:pt x="17" y="72"/>
                      <a:pt x="11" y="84"/>
                      <a:pt x="11" y="84"/>
                    </a:cubicBezTo>
                    <a:cubicBezTo>
                      <a:pt x="19" y="92"/>
                      <a:pt x="19" y="92"/>
                      <a:pt x="19" y="92"/>
                    </a:cubicBezTo>
                    <a:cubicBezTo>
                      <a:pt x="19" y="92"/>
                      <a:pt x="31" y="85"/>
                      <a:pt x="32" y="84"/>
                    </a:cubicBezTo>
                    <a:cubicBezTo>
                      <a:pt x="35" y="86"/>
                      <a:pt x="39" y="88"/>
                      <a:pt x="43" y="88"/>
                    </a:cubicBezTo>
                    <a:cubicBezTo>
                      <a:pt x="43" y="89"/>
                      <a:pt x="46" y="103"/>
                      <a:pt x="46" y="103"/>
                    </a:cubicBezTo>
                    <a:cubicBezTo>
                      <a:pt x="58" y="103"/>
                      <a:pt x="58" y="103"/>
                      <a:pt x="58" y="103"/>
                    </a:cubicBezTo>
                    <a:cubicBezTo>
                      <a:pt x="58" y="103"/>
                      <a:pt x="61" y="89"/>
                      <a:pt x="61" y="88"/>
                    </a:cubicBezTo>
                    <a:cubicBezTo>
                      <a:pt x="65" y="88"/>
                      <a:pt x="68" y="86"/>
                      <a:pt x="72" y="84"/>
                    </a:cubicBezTo>
                    <a:cubicBezTo>
                      <a:pt x="73" y="85"/>
                      <a:pt x="84" y="92"/>
                      <a:pt x="84" y="92"/>
                    </a:cubicBezTo>
                    <a:cubicBezTo>
                      <a:pt x="92" y="83"/>
                      <a:pt x="92" y="83"/>
                      <a:pt x="92" y="83"/>
                    </a:cubicBezTo>
                    <a:cubicBezTo>
                      <a:pt x="92" y="83"/>
                      <a:pt x="86" y="72"/>
                      <a:pt x="85" y="72"/>
                    </a:cubicBezTo>
                    <a:cubicBezTo>
                      <a:pt x="88" y="68"/>
                      <a:pt x="89" y="64"/>
                      <a:pt x="90" y="60"/>
                    </a:cubicBezTo>
                    <a:cubicBezTo>
                      <a:pt x="92" y="60"/>
                      <a:pt x="104" y="57"/>
                      <a:pt x="104" y="57"/>
                    </a:cubicBezTo>
                    <a:cubicBezTo>
                      <a:pt x="104" y="45"/>
                      <a:pt x="104" y="45"/>
                      <a:pt x="104" y="45"/>
                    </a:cubicBezTo>
                    <a:cubicBezTo>
                      <a:pt x="104" y="45"/>
                      <a:pt x="92" y="42"/>
                      <a:pt x="90" y="42"/>
                    </a:cubicBezTo>
                    <a:cubicBezTo>
                      <a:pt x="88" y="38"/>
                      <a:pt x="87" y="34"/>
                      <a:pt x="84" y="31"/>
                    </a:cubicBezTo>
                    <a:close/>
                    <a:moveTo>
                      <a:pt x="60" y="72"/>
                    </a:moveTo>
                    <a:cubicBezTo>
                      <a:pt x="49" y="77"/>
                      <a:pt x="36" y="72"/>
                      <a:pt x="30" y="60"/>
                    </a:cubicBezTo>
                    <a:cubicBezTo>
                      <a:pt x="26" y="49"/>
                      <a:pt x="31" y="36"/>
                      <a:pt x="42" y="30"/>
                    </a:cubicBezTo>
                    <a:cubicBezTo>
                      <a:pt x="54" y="26"/>
                      <a:pt x="67" y="31"/>
                      <a:pt x="72" y="42"/>
                    </a:cubicBezTo>
                    <a:cubicBezTo>
                      <a:pt x="77" y="54"/>
                      <a:pt x="72" y="67"/>
                      <a:pt x="60" y="72"/>
                    </a:cubicBezTo>
                    <a:close/>
                  </a:path>
                </a:pathLst>
              </a:custGeom>
              <a:solidFill>
                <a:srgbClr val="243A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36" name="Group 135">
              <a:extLst>
                <a:ext uri="{FF2B5EF4-FFF2-40B4-BE49-F238E27FC236}">
                  <a16:creationId xmlns:a16="http://schemas.microsoft.com/office/drawing/2014/main" id="{696B8F1C-5717-4C93-85B8-8461865CE8CD}"/>
                </a:ext>
              </a:extLst>
            </p:cNvPr>
            <p:cNvGrpSpPr/>
            <p:nvPr/>
          </p:nvGrpSpPr>
          <p:grpSpPr>
            <a:xfrm>
              <a:off x="6242152" y="4107980"/>
              <a:ext cx="499366" cy="499366"/>
              <a:chOff x="7051040" y="3982567"/>
              <a:chExt cx="508000" cy="508000"/>
            </a:xfrm>
          </p:grpSpPr>
          <p:sp>
            <p:nvSpPr>
              <p:cNvPr id="137" name="Oval 136">
                <a:extLst>
                  <a:ext uri="{FF2B5EF4-FFF2-40B4-BE49-F238E27FC236}">
                    <a16:creationId xmlns:a16="http://schemas.microsoft.com/office/drawing/2014/main" id="{F6E90DA0-6417-44BE-8CEC-738D4DC2AE6F}"/>
                  </a:ext>
                </a:extLst>
              </p:cNvPr>
              <p:cNvSpPr/>
              <p:nvPr/>
            </p:nvSpPr>
            <p:spPr bwMode="auto">
              <a:xfrm>
                <a:off x="7051040" y="3982567"/>
                <a:ext cx="508000" cy="50800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8" name="Freeform: Shape 137">
                <a:extLst>
                  <a:ext uri="{FF2B5EF4-FFF2-40B4-BE49-F238E27FC236}">
                    <a16:creationId xmlns:a16="http://schemas.microsoft.com/office/drawing/2014/main" id="{76AA086F-FA48-4C5C-8958-AD0CB730DAD7}"/>
                  </a:ext>
                </a:extLst>
              </p:cNvPr>
              <p:cNvSpPr/>
              <p:nvPr/>
            </p:nvSpPr>
            <p:spPr>
              <a:xfrm>
                <a:off x="7237688" y="4101864"/>
                <a:ext cx="134705" cy="269407"/>
              </a:xfrm>
              <a:custGeom>
                <a:avLst/>
                <a:gdLst>
                  <a:gd name="connsiteX0" fmla="*/ 66148 w 88898"/>
                  <a:gd name="connsiteY0" fmla="*/ 119136 h 177796"/>
                  <a:gd name="connsiteX1" fmla="*/ 52721 w 88898"/>
                  <a:gd name="connsiteY1" fmla="*/ 104145 h 177796"/>
                  <a:gd name="connsiteX2" fmla="*/ 52721 w 88898"/>
                  <a:gd name="connsiteY2" fmla="*/ 132562 h 177796"/>
                  <a:gd name="connsiteX3" fmla="*/ 66148 w 88898"/>
                  <a:gd name="connsiteY3" fmla="*/ 119136 h 177796"/>
                  <a:gd name="connsiteX4" fmla="*/ 39034 w 88898"/>
                  <a:gd name="connsiteY4" fmla="*/ 72404 h 177796"/>
                  <a:gd name="connsiteX5" fmla="*/ 39034 w 88898"/>
                  <a:gd name="connsiteY5" fmla="*/ 42683 h 177796"/>
                  <a:gd name="connsiteX6" fmla="*/ 25998 w 88898"/>
                  <a:gd name="connsiteY6" fmla="*/ 56305 h 177796"/>
                  <a:gd name="connsiteX7" fmla="*/ 39034 w 88898"/>
                  <a:gd name="connsiteY7" fmla="*/ 72404 h 177796"/>
                  <a:gd name="connsiteX8" fmla="*/ 91110 w 88898"/>
                  <a:gd name="connsiteY8" fmla="*/ 117832 h 177796"/>
                  <a:gd name="connsiteX9" fmla="*/ 81334 w 88898"/>
                  <a:gd name="connsiteY9" fmla="*/ 142861 h 177796"/>
                  <a:gd name="connsiteX10" fmla="*/ 52786 w 88898"/>
                  <a:gd name="connsiteY10" fmla="*/ 154462 h 177796"/>
                  <a:gd name="connsiteX11" fmla="*/ 52786 w 88898"/>
                  <a:gd name="connsiteY11" fmla="*/ 176752 h 177796"/>
                  <a:gd name="connsiteX12" fmla="*/ 39099 w 88898"/>
                  <a:gd name="connsiteY12" fmla="*/ 176752 h 177796"/>
                  <a:gd name="connsiteX13" fmla="*/ 39099 w 88898"/>
                  <a:gd name="connsiteY13" fmla="*/ 155048 h 177796"/>
                  <a:gd name="connsiteX14" fmla="*/ 3642 w 88898"/>
                  <a:gd name="connsiteY14" fmla="*/ 146445 h 177796"/>
                  <a:gd name="connsiteX15" fmla="*/ 3642 w 88898"/>
                  <a:gd name="connsiteY15" fmla="*/ 120439 h 177796"/>
                  <a:gd name="connsiteX16" fmla="*/ 19806 w 88898"/>
                  <a:gd name="connsiteY16" fmla="*/ 128456 h 177796"/>
                  <a:gd name="connsiteX17" fmla="*/ 39099 w 88898"/>
                  <a:gd name="connsiteY17" fmla="*/ 132889 h 177796"/>
                  <a:gd name="connsiteX18" fmla="*/ 39099 w 88898"/>
                  <a:gd name="connsiteY18" fmla="*/ 98735 h 177796"/>
                  <a:gd name="connsiteX19" fmla="*/ 9769 w 88898"/>
                  <a:gd name="connsiteY19" fmla="*/ 81920 h 177796"/>
                  <a:gd name="connsiteX20" fmla="*/ 1166 w 88898"/>
                  <a:gd name="connsiteY20" fmla="*/ 57869 h 177796"/>
                  <a:gd name="connsiteX21" fmla="*/ 11790 w 88898"/>
                  <a:gd name="connsiteY21" fmla="*/ 32711 h 177796"/>
                  <a:gd name="connsiteX22" fmla="*/ 39164 w 88898"/>
                  <a:gd name="connsiteY22" fmla="*/ 20784 h 177796"/>
                  <a:gd name="connsiteX23" fmla="*/ 39164 w 88898"/>
                  <a:gd name="connsiteY23" fmla="*/ 1166 h 177796"/>
                  <a:gd name="connsiteX24" fmla="*/ 52852 w 88898"/>
                  <a:gd name="connsiteY24" fmla="*/ 1166 h 177796"/>
                  <a:gd name="connsiteX25" fmla="*/ 52852 w 88898"/>
                  <a:gd name="connsiteY25" fmla="*/ 20393 h 177796"/>
                  <a:gd name="connsiteX26" fmla="*/ 82377 w 88898"/>
                  <a:gd name="connsiteY26" fmla="*/ 26780 h 177796"/>
                  <a:gd name="connsiteX27" fmla="*/ 82377 w 88898"/>
                  <a:gd name="connsiteY27" fmla="*/ 52069 h 177796"/>
                  <a:gd name="connsiteX28" fmla="*/ 52852 w 88898"/>
                  <a:gd name="connsiteY28" fmla="*/ 42292 h 177796"/>
                  <a:gd name="connsiteX29" fmla="*/ 52852 w 88898"/>
                  <a:gd name="connsiteY29" fmla="*/ 77814 h 177796"/>
                  <a:gd name="connsiteX30" fmla="*/ 82377 w 88898"/>
                  <a:gd name="connsiteY30" fmla="*/ 94694 h 177796"/>
                  <a:gd name="connsiteX31" fmla="*/ 91110 w 88898"/>
                  <a:gd name="connsiteY31" fmla="*/ 117832 h 17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898" h="177796">
                    <a:moveTo>
                      <a:pt x="66148" y="119136"/>
                    </a:moveTo>
                    <a:cubicBezTo>
                      <a:pt x="66148" y="113075"/>
                      <a:pt x="61650" y="108056"/>
                      <a:pt x="52721" y="104145"/>
                    </a:cubicBezTo>
                    <a:lnTo>
                      <a:pt x="52721" y="132562"/>
                    </a:lnTo>
                    <a:cubicBezTo>
                      <a:pt x="61716" y="131129"/>
                      <a:pt x="66148" y="126631"/>
                      <a:pt x="66148" y="119136"/>
                    </a:cubicBezTo>
                    <a:close/>
                    <a:moveTo>
                      <a:pt x="39034" y="72404"/>
                    </a:moveTo>
                    <a:lnTo>
                      <a:pt x="39034" y="42683"/>
                    </a:lnTo>
                    <a:cubicBezTo>
                      <a:pt x="30365" y="44247"/>
                      <a:pt x="25998" y="48745"/>
                      <a:pt x="25998" y="56305"/>
                    </a:cubicBezTo>
                    <a:cubicBezTo>
                      <a:pt x="25998" y="62888"/>
                      <a:pt x="30365" y="68233"/>
                      <a:pt x="39034" y="72404"/>
                    </a:cubicBezTo>
                    <a:close/>
                    <a:moveTo>
                      <a:pt x="91110" y="117832"/>
                    </a:moveTo>
                    <a:cubicBezTo>
                      <a:pt x="91110" y="128195"/>
                      <a:pt x="87852" y="136538"/>
                      <a:pt x="81334" y="142861"/>
                    </a:cubicBezTo>
                    <a:cubicBezTo>
                      <a:pt x="74816" y="149182"/>
                      <a:pt x="65300" y="153028"/>
                      <a:pt x="52786" y="154462"/>
                    </a:cubicBezTo>
                    <a:lnTo>
                      <a:pt x="52786" y="176752"/>
                    </a:lnTo>
                    <a:lnTo>
                      <a:pt x="39099" y="176752"/>
                    </a:lnTo>
                    <a:lnTo>
                      <a:pt x="39099" y="155048"/>
                    </a:lnTo>
                    <a:cubicBezTo>
                      <a:pt x="26194" y="154918"/>
                      <a:pt x="14397" y="152050"/>
                      <a:pt x="3642" y="146445"/>
                    </a:cubicBezTo>
                    <a:lnTo>
                      <a:pt x="3642" y="120439"/>
                    </a:lnTo>
                    <a:cubicBezTo>
                      <a:pt x="7032" y="123177"/>
                      <a:pt x="12441" y="125849"/>
                      <a:pt x="19806" y="128456"/>
                    </a:cubicBezTo>
                    <a:cubicBezTo>
                      <a:pt x="27237" y="131063"/>
                      <a:pt x="33624" y="132562"/>
                      <a:pt x="39099" y="132889"/>
                    </a:cubicBezTo>
                    <a:lnTo>
                      <a:pt x="39099" y="98735"/>
                    </a:lnTo>
                    <a:cubicBezTo>
                      <a:pt x="25281" y="93587"/>
                      <a:pt x="15505" y="87981"/>
                      <a:pt x="9769" y="81920"/>
                    </a:cubicBezTo>
                    <a:cubicBezTo>
                      <a:pt x="4033" y="75793"/>
                      <a:pt x="1166" y="67776"/>
                      <a:pt x="1166" y="57869"/>
                    </a:cubicBezTo>
                    <a:cubicBezTo>
                      <a:pt x="1166" y="47963"/>
                      <a:pt x="4685" y="39555"/>
                      <a:pt x="11790" y="32711"/>
                    </a:cubicBezTo>
                    <a:cubicBezTo>
                      <a:pt x="18829" y="25868"/>
                      <a:pt x="27954" y="21892"/>
                      <a:pt x="39164" y="20784"/>
                    </a:cubicBezTo>
                    <a:lnTo>
                      <a:pt x="39164" y="1166"/>
                    </a:lnTo>
                    <a:lnTo>
                      <a:pt x="52852" y="1166"/>
                    </a:lnTo>
                    <a:lnTo>
                      <a:pt x="52852" y="20393"/>
                    </a:lnTo>
                    <a:cubicBezTo>
                      <a:pt x="66017" y="21045"/>
                      <a:pt x="75859" y="23130"/>
                      <a:pt x="82377" y="26780"/>
                    </a:cubicBezTo>
                    <a:lnTo>
                      <a:pt x="82377" y="52069"/>
                    </a:lnTo>
                    <a:cubicBezTo>
                      <a:pt x="73708" y="46790"/>
                      <a:pt x="63866" y="43596"/>
                      <a:pt x="52852" y="42292"/>
                    </a:cubicBezTo>
                    <a:lnTo>
                      <a:pt x="52852" y="77814"/>
                    </a:lnTo>
                    <a:cubicBezTo>
                      <a:pt x="66669" y="82832"/>
                      <a:pt x="76511" y="88438"/>
                      <a:pt x="82377" y="94694"/>
                    </a:cubicBezTo>
                    <a:cubicBezTo>
                      <a:pt x="88178" y="101017"/>
                      <a:pt x="91110" y="108707"/>
                      <a:pt x="91110" y="117832"/>
                    </a:cubicBezTo>
                    <a:close/>
                  </a:path>
                </a:pathLst>
              </a:custGeom>
              <a:solidFill>
                <a:srgbClr val="243A5E"/>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142" name="list">
            <a:extLst>
              <a:ext uri="{FF2B5EF4-FFF2-40B4-BE49-F238E27FC236}">
                <a16:creationId xmlns:a16="http://schemas.microsoft.com/office/drawing/2014/main" id="{ECABFE4F-0678-4B1E-9CF2-3F3CE16578EC}"/>
              </a:ext>
              <a:ext uri="{C183D7F6-B498-43B3-948B-1728B52AA6E4}">
                <adec:decorative xmlns:adec="http://schemas.microsoft.com/office/drawing/2017/decorative" val="1"/>
              </a:ext>
            </a:extLst>
          </p:cNvPr>
          <p:cNvGrpSpPr/>
          <p:nvPr/>
        </p:nvGrpSpPr>
        <p:grpSpPr>
          <a:xfrm>
            <a:off x="1924279" y="1267761"/>
            <a:ext cx="349066" cy="349066"/>
            <a:chOff x="4473209" y="3968750"/>
            <a:chExt cx="370140" cy="370140"/>
          </a:xfrm>
          <a:effectLst/>
        </p:grpSpPr>
        <p:sp>
          <p:nvSpPr>
            <p:cNvPr id="143" name="Freeform: Shape 142">
              <a:extLst>
                <a:ext uri="{FF2B5EF4-FFF2-40B4-BE49-F238E27FC236}">
                  <a16:creationId xmlns:a16="http://schemas.microsoft.com/office/drawing/2014/main" id="{1D34A79A-BA9F-41CD-B9C5-A211A7A52D0E}"/>
                </a:ext>
              </a:extLst>
            </p:cNvPr>
            <p:cNvSpPr/>
            <p:nvPr/>
          </p:nvSpPr>
          <p:spPr>
            <a:xfrm>
              <a:off x="4510839" y="3969537"/>
              <a:ext cx="290007" cy="366324"/>
            </a:xfrm>
            <a:custGeom>
              <a:avLst/>
              <a:gdLst>
                <a:gd name="connsiteX0" fmla="*/ 1121 w 290006"/>
                <a:gd name="connsiteY0" fmla="*/ 367064 h 366324"/>
                <a:gd name="connsiteX1" fmla="*/ 290746 w 290006"/>
                <a:gd name="connsiteY1" fmla="*/ 367064 h 366324"/>
                <a:gd name="connsiteX2" fmla="*/ 290746 w 290006"/>
                <a:gd name="connsiteY2" fmla="*/ 1121 h 366324"/>
                <a:gd name="connsiteX3" fmla="*/ 1121 w 290006"/>
                <a:gd name="connsiteY3" fmla="*/ 1121 h 366324"/>
                <a:gd name="connsiteX4" fmla="*/ 1121 w 290006"/>
                <a:gd name="connsiteY4" fmla="*/ 367064 h 366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06" h="366324">
                  <a:moveTo>
                    <a:pt x="1121" y="367064"/>
                  </a:moveTo>
                  <a:lnTo>
                    <a:pt x="290746" y="367064"/>
                  </a:lnTo>
                  <a:lnTo>
                    <a:pt x="290746" y="1121"/>
                  </a:lnTo>
                  <a:lnTo>
                    <a:pt x="1121" y="1121"/>
                  </a:lnTo>
                  <a:lnTo>
                    <a:pt x="1121" y="367064"/>
                  </a:lnTo>
                  <a:close/>
                </a:path>
              </a:pathLst>
            </a:custGeom>
            <a:solidFill>
              <a:srgbClr val="243A5E"/>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4" name="Freeform: Shape 143">
              <a:extLst>
                <a:ext uri="{FF2B5EF4-FFF2-40B4-BE49-F238E27FC236}">
                  <a16:creationId xmlns:a16="http://schemas.microsoft.com/office/drawing/2014/main" id="{BCE795CA-FC13-432F-9147-820D762110E3}"/>
                </a:ext>
              </a:extLst>
            </p:cNvPr>
            <p:cNvSpPr/>
            <p:nvPr/>
          </p:nvSpPr>
          <p:spPr>
            <a:xfrm>
              <a:off x="4569221" y="4240076"/>
              <a:ext cx="175530" cy="38159"/>
            </a:xfrm>
            <a:custGeom>
              <a:avLst/>
              <a:gdLst>
                <a:gd name="connsiteX0" fmla="*/ 1121 w 175530"/>
                <a:gd name="connsiteY0" fmla="*/ 39280 h 38158"/>
                <a:gd name="connsiteX1" fmla="*/ 174744 w 175530"/>
                <a:gd name="connsiteY1" fmla="*/ 39280 h 38158"/>
                <a:gd name="connsiteX2" fmla="*/ 174744 w 175530"/>
                <a:gd name="connsiteY2" fmla="*/ 1121 h 38158"/>
                <a:gd name="connsiteX3" fmla="*/ 1121 w 175530"/>
                <a:gd name="connsiteY3" fmla="*/ 1121 h 38158"/>
                <a:gd name="connsiteX4" fmla="*/ 1121 w 175530"/>
                <a:gd name="connsiteY4" fmla="*/ 39280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280"/>
                  </a:moveTo>
                  <a:lnTo>
                    <a:pt x="174744" y="39280"/>
                  </a:lnTo>
                  <a:lnTo>
                    <a:pt x="174744" y="1121"/>
                  </a:lnTo>
                  <a:lnTo>
                    <a:pt x="1121" y="1121"/>
                  </a:lnTo>
                  <a:lnTo>
                    <a:pt x="1121" y="39280"/>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13ACBC09-528F-43BF-96A1-EB1B5EE34E5B}"/>
                </a:ext>
              </a:extLst>
            </p:cNvPr>
            <p:cNvSpPr/>
            <p:nvPr/>
          </p:nvSpPr>
          <p:spPr>
            <a:xfrm>
              <a:off x="4569221" y="4182078"/>
              <a:ext cx="175530" cy="38159"/>
            </a:xfrm>
            <a:custGeom>
              <a:avLst/>
              <a:gdLst>
                <a:gd name="connsiteX0" fmla="*/ 1121 w 175530"/>
                <a:gd name="connsiteY0" fmla="*/ 39662 h 38158"/>
                <a:gd name="connsiteX1" fmla="*/ 174744 w 175530"/>
                <a:gd name="connsiteY1" fmla="*/ 39662 h 38158"/>
                <a:gd name="connsiteX2" fmla="*/ 174744 w 175530"/>
                <a:gd name="connsiteY2" fmla="*/ 1121 h 38158"/>
                <a:gd name="connsiteX3" fmla="*/ 1121 w 175530"/>
                <a:gd name="connsiteY3" fmla="*/ 1121 h 38158"/>
                <a:gd name="connsiteX4" fmla="*/ 1121 w 175530"/>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662"/>
                  </a:moveTo>
                  <a:lnTo>
                    <a:pt x="174744" y="39662"/>
                  </a:lnTo>
                  <a:lnTo>
                    <a:pt x="174744"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0D20620B-4472-4B53-A56C-794F2E228784}"/>
                </a:ext>
              </a:extLst>
            </p:cNvPr>
            <p:cNvSpPr/>
            <p:nvPr/>
          </p:nvSpPr>
          <p:spPr>
            <a:xfrm>
              <a:off x="4569221" y="4123692"/>
              <a:ext cx="175530" cy="38159"/>
            </a:xfrm>
            <a:custGeom>
              <a:avLst/>
              <a:gdLst>
                <a:gd name="connsiteX0" fmla="*/ 1121 w 175530"/>
                <a:gd name="connsiteY0" fmla="*/ 39662 h 38158"/>
                <a:gd name="connsiteX1" fmla="*/ 174744 w 175530"/>
                <a:gd name="connsiteY1" fmla="*/ 39662 h 38158"/>
                <a:gd name="connsiteX2" fmla="*/ 174744 w 175530"/>
                <a:gd name="connsiteY2" fmla="*/ 1121 h 38158"/>
                <a:gd name="connsiteX3" fmla="*/ 1121 w 175530"/>
                <a:gd name="connsiteY3" fmla="*/ 1121 h 38158"/>
                <a:gd name="connsiteX4" fmla="*/ 1121 w 175530"/>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30" h="38158">
                  <a:moveTo>
                    <a:pt x="1121" y="39662"/>
                  </a:moveTo>
                  <a:lnTo>
                    <a:pt x="174744" y="39662"/>
                  </a:lnTo>
                  <a:lnTo>
                    <a:pt x="174744"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82701B09-B6BC-47A9-83CA-52A248DA9BA3}"/>
                </a:ext>
              </a:extLst>
            </p:cNvPr>
            <p:cNvSpPr/>
            <p:nvPr/>
          </p:nvSpPr>
          <p:spPr>
            <a:xfrm>
              <a:off x="4684082" y="4065321"/>
              <a:ext cx="57238" cy="38159"/>
            </a:xfrm>
            <a:custGeom>
              <a:avLst/>
              <a:gdLst>
                <a:gd name="connsiteX0" fmla="*/ 1121 w 57238"/>
                <a:gd name="connsiteY0" fmla="*/ 39662 h 38158"/>
                <a:gd name="connsiteX1" fmla="*/ 59886 w 57238"/>
                <a:gd name="connsiteY1" fmla="*/ 39662 h 38158"/>
                <a:gd name="connsiteX2" fmla="*/ 59886 w 57238"/>
                <a:gd name="connsiteY2" fmla="*/ 1121 h 38158"/>
                <a:gd name="connsiteX3" fmla="*/ 1121 w 57238"/>
                <a:gd name="connsiteY3" fmla="*/ 1121 h 38158"/>
                <a:gd name="connsiteX4" fmla="*/ 1121 w 57238"/>
                <a:gd name="connsiteY4" fmla="*/ 39662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38" h="38158">
                  <a:moveTo>
                    <a:pt x="1121" y="39662"/>
                  </a:moveTo>
                  <a:lnTo>
                    <a:pt x="59886" y="39662"/>
                  </a:lnTo>
                  <a:lnTo>
                    <a:pt x="59886" y="1121"/>
                  </a:lnTo>
                  <a:lnTo>
                    <a:pt x="1121" y="1121"/>
                  </a:lnTo>
                  <a:lnTo>
                    <a:pt x="1121" y="39662"/>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E75B2EA0-7EF1-45C7-A7E0-176015FB9F67}"/>
                </a:ext>
              </a:extLst>
            </p:cNvPr>
            <p:cNvSpPr/>
            <p:nvPr/>
          </p:nvSpPr>
          <p:spPr>
            <a:xfrm>
              <a:off x="4684082" y="4008083"/>
              <a:ext cx="57238" cy="38159"/>
            </a:xfrm>
            <a:custGeom>
              <a:avLst/>
              <a:gdLst>
                <a:gd name="connsiteX0" fmla="*/ 1121 w 57238"/>
                <a:gd name="connsiteY0" fmla="*/ 39280 h 38158"/>
                <a:gd name="connsiteX1" fmla="*/ 59886 w 57238"/>
                <a:gd name="connsiteY1" fmla="*/ 39280 h 38158"/>
                <a:gd name="connsiteX2" fmla="*/ 59886 w 57238"/>
                <a:gd name="connsiteY2" fmla="*/ 1121 h 38158"/>
                <a:gd name="connsiteX3" fmla="*/ 1121 w 57238"/>
                <a:gd name="connsiteY3" fmla="*/ 1121 h 38158"/>
                <a:gd name="connsiteX4" fmla="*/ 1121 w 57238"/>
                <a:gd name="connsiteY4" fmla="*/ 39280 h 3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38" h="38158">
                  <a:moveTo>
                    <a:pt x="1121" y="39280"/>
                  </a:moveTo>
                  <a:lnTo>
                    <a:pt x="59886" y="39280"/>
                  </a:lnTo>
                  <a:lnTo>
                    <a:pt x="59886" y="1121"/>
                  </a:lnTo>
                  <a:lnTo>
                    <a:pt x="1121" y="1121"/>
                  </a:lnTo>
                  <a:lnTo>
                    <a:pt x="1121" y="39280"/>
                  </a:lnTo>
                  <a:close/>
                </a:path>
              </a:pathLst>
            </a:custGeom>
            <a:solidFill>
              <a:srgbClr val="50E6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148E21A4-CE50-4AFB-A9DA-F5598B40A961}"/>
                </a:ext>
              </a:extLst>
            </p:cNvPr>
            <p:cNvSpPr/>
            <p:nvPr/>
          </p:nvSpPr>
          <p:spPr>
            <a:xfrm>
              <a:off x="4589829" y="4022571"/>
              <a:ext cx="76318" cy="76318"/>
            </a:xfrm>
            <a:custGeom>
              <a:avLst/>
              <a:gdLst>
                <a:gd name="connsiteX0" fmla="*/ 1121 w 76317"/>
                <a:gd name="connsiteY0" fmla="*/ 66373 h 76317"/>
                <a:gd name="connsiteX1" fmla="*/ 12950 w 76317"/>
                <a:gd name="connsiteY1" fmla="*/ 78202 h 76317"/>
                <a:gd name="connsiteX2" fmla="*/ 78202 w 76317"/>
                <a:gd name="connsiteY2" fmla="*/ 12950 h 76317"/>
                <a:gd name="connsiteX3" fmla="*/ 66373 w 76317"/>
                <a:gd name="connsiteY3" fmla="*/ 1121 h 76317"/>
                <a:gd name="connsiteX4" fmla="*/ 1121 w 76317"/>
                <a:gd name="connsiteY4" fmla="*/ 66373 h 76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17" h="76317">
                  <a:moveTo>
                    <a:pt x="1121" y="66373"/>
                  </a:moveTo>
                  <a:lnTo>
                    <a:pt x="12950" y="78202"/>
                  </a:lnTo>
                  <a:lnTo>
                    <a:pt x="78202" y="12950"/>
                  </a:lnTo>
                  <a:lnTo>
                    <a:pt x="66373" y="1121"/>
                  </a:lnTo>
                  <a:lnTo>
                    <a:pt x="1121" y="66373"/>
                  </a:lnTo>
                  <a:close/>
                </a:path>
              </a:pathLst>
            </a:custGeom>
            <a:solidFill>
              <a:srgbClr val="FFFF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D8874002-299A-473B-959A-DDABAD4BA7A5}"/>
                </a:ext>
              </a:extLst>
            </p:cNvPr>
            <p:cNvSpPr/>
            <p:nvPr/>
          </p:nvSpPr>
          <p:spPr>
            <a:xfrm>
              <a:off x="4563878" y="4050430"/>
              <a:ext cx="49606" cy="49606"/>
            </a:xfrm>
            <a:custGeom>
              <a:avLst/>
              <a:gdLst>
                <a:gd name="connsiteX0" fmla="*/ 38517 w 49606"/>
                <a:gd name="connsiteY0" fmla="*/ 49964 h 49606"/>
                <a:gd name="connsiteX1" fmla="*/ 50346 w 49606"/>
                <a:gd name="connsiteY1" fmla="*/ 38135 h 49606"/>
                <a:gd name="connsiteX2" fmla="*/ 12950 w 49606"/>
                <a:gd name="connsiteY2" fmla="*/ 1121 h 49606"/>
                <a:gd name="connsiteX3" fmla="*/ 1121 w 49606"/>
                <a:gd name="connsiteY3" fmla="*/ 12950 h 49606"/>
                <a:gd name="connsiteX4" fmla="*/ 38517 w 49606"/>
                <a:gd name="connsiteY4" fmla="*/ 49964 h 49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06" h="49606">
                  <a:moveTo>
                    <a:pt x="38517" y="49964"/>
                  </a:moveTo>
                  <a:lnTo>
                    <a:pt x="50346" y="38135"/>
                  </a:lnTo>
                  <a:lnTo>
                    <a:pt x="12950" y="1121"/>
                  </a:lnTo>
                  <a:lnTo>
                    <a:pt x="1121" y="12950"/>
                  </a:lnTo>
                  <a:lnTo>
                    <a:pt x="38517" y="49964"/>
                  </a:lnTo>
                  <a:close/>
                </a:path>
              </a:pathLst>
            </a:custGeom>
            <a:solidFill>
              <a:srgbClr val="FFFFFF"/>
            </a:solidFill>
            <a:ln w="37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51" name="Group 150">
            <a:extLst>
              <a:ext uri="{FF2B5EF4-FFF2-40B4-BE49-F238E27FC236}">
                <a16:creationId xmlns:a16="http://schemas.microsoft.com/office/drawing/2014/main" id="{9AEEFB68-A94E-4706-829E-842D6B37D933}"/>
              </a:ext>
              <a:ext uri="{C183D7F6-B498-43B3-948B-1728B52AA6E4}">
                <adec:decorative xmlns:adec="http://schemas.microsoft.com/office/drawing/2017/decorative" val="1"/>
              </a:ext>
            </a:extLst>
          </p:cNvPr>
          <p:cNvGrpSpPr/>
          <p:nvPr/>
        </p:nvGrpSpPr>
        <p:grpSpPr>
          <a:xfrm>
            <a:off x="632275" y="1263056"/>
            <a:ext cx="225102" cy="358477"/>
            <a:chOff x="2056615" y="3578958"/>
            <a:chExt cx="570946" cy="909235"/>
          </a:xfrm>
          <a:effectLst/>
        </p:grpSpPr>
        <p:sp>
          <p:nvSpPr>
            <p:cNvPr id="152" name="Freeform: Shape 151">
              <a:extLst>
                <a:ext uri="{FF2B5EF4-FFF2-40B4-BE49-F238E27FC236}">
                  <a16:creationId xmlns:a16="http://schemas.microsoft.com/office/drawing/2014/main" id="{A148B231-AD85-47A1-8A1A-18653AFF4246}"/>
                </a:ext>
              </a:extLst>
            </p:cNvPr>
            <p:cNvSpPr/>
            <p:nvPr/>
          </p:nvSpPr>
          <p:spPr>
            <a:xfrm>
              <a:off x="2056615" y="3578958"/>
              <a:ext cx="570946" cy="909235"/>
            </a:xfrm>
            <a:custGeom>
              <a:avLst/>
              <a:gdLst>
                <a:gd name="connsiteX0" fmla="*/ 436174 w 436173"/>
                <a:gd name="connsiteY0" fmla="*/ 216824 h 694608"/>
                <a:gd name="connsiteX1" fmla="*/ 219350 w 436173"/>
                <a:gd name="connsiteY1" fmla="*/ 0 h 694608"/>
                <a:gd name="connsiteX2" fmla="*/ 5583 w 436173"/>
                <a:gd name="connsiteY2" fmla="*/ 181196 h 694608"/>
                <a:gd name="connsiteX3" fmla="*/ 94254 w 436173"/>
                <a:gd name="connsiteY3" fmla="*/ 181196 h 694608"/>
                <a:gd name="connsiteX4" fmla="*/ 127489 w 436173"/>
                <a:gd name="connsiteY4" fmla="*/ 124963 h 694608"/>
                <a:gd name="connsiteX5" fmla="*/ 219217 w 436173"/>
                <a:gd name="connsiteY5" fmla="*/ 86809 h 694608"/>
                <a:gd name="connsiteX6" fmla="*/ 310945 w 436173"/>
                <a:gd name="connsiteY6" fmla="*/ 124963 h 694608"/>
                <a:gd name="connsiteX7" fmla="*/ 349099 w 436173"/>
                <a:gd name="connsiteY7" fmla="*/ 216691 h 694608"/>
                <a:gd name="connsiteX8" fmla="*/ 348966 w 436173"/>
                <a:gd name="connsiteY8" fmla="*/ 255111 h 694608"/>
                <a:gd name="connsiteX9" fmla="*/ 0 w 436173"/>
                <a:gd name="connsiteY9" fmla="*/ 255111 h 694608"/>
                <a:gd name="connsiteX10" fmla="*/ 0 w 436173"/>
                <a:gd name="connsiteY10" fmla="*/ 694609 h 694608"/>
                <a:gd name="connsiteX11" fmla="*/ 436174 w 436173"/>
                <a:gd name="connsiteY11" fmla="*/ 694609 h 694608"/>
                <a:gd name="connsiteX12" fmla="*/ 436174 w 436173"/>
                <a:gd name="connsiteY12" fmla="*/ 297386 h 694608"/>
                <a:gd name="connsiteX13" fmla="*/ 436174 w 436173"/>
                <a:gd name="connsiteY13" fmla="*/ 216824 h 69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6173" h="694608">
                  <a:moveTo>
                    <a:pt x="436174" y="216824"/>
                  </a:moveTo>
                  <a:cubicBezTo>
                    <a:pt x="436174" y="97578"/>
                    <a:pt x="338596" y="0"/>
                    <a:pt x="219350" y="0"/>
                  </a:cubicBezTo>
                  <a:cubicBezTo>
                    <a:pt x="112201" y="0"/>
                    <a:pt x="22733" y="78833"/>
                    <a:pt x="5583" y="181196"/>
                  </a:cubicBezTo>
                  <a:lnTo>
                    <a:pt x="94254" y="181196"/>
                  </a:lnTo>
                  <a:cubicBezTo>
                    <a:pt x="100236" y="160325"/>
                    <a:pt x="111536" y="141048"/>
                    <a:pt x="127489" y="124963"/>
                  </a:cubicBezTo>
                  <a:cubicBezTo>
                    <a:pt x="152083" y="100369"/>
                    <a:pt x="184786" y="86809"/>
                    <a:pt x="219217" y="86809"/>
                  </a:cubicBezTo>
                  <a:cubicBezTo>
                    <a:pt x="253649" y="86809"/>
                    <a:pt x="286352" y="100369"/>
                    <a:pt x="310945" y="124963"/>
                  </a:cubicBezTo>
                  <a:cubicBezTo>
                    <a:pt x="335539" y="149557"/>
                    <a:pt x="349099" y="182260"/>
                    <a:pt x="349099" y="216691"/>
                  </a:cubicBezTo>
                  <a:cubicBezTo>
                    <a:pt x="349099" y="223604"/>
                    <a:pt x="349099" y="229321"/>
                    <a:pt x="348966" y="255111"/>
                  </a:cubicBezTo>
                  <a:lnTo>
                    <a:pt x="0" y="255111"/>
                  </a:lnTo>
                  <a:lnTo>
                    <a:pt x="0" y="694609"/>
                  </a:lnTo>
                  <a:lnTo>
                    <a:pt x="436174" y="694609"/>
                  </a:lnTo>
                  <a:lnTo>
                    <a:pt x="436174" y="297386"/>
                  </a:lnTo>
                  <a:cubicBezTo>
                    <a:pt x="436174" y="258035"/>
                    <a:pt x="436174" y="226263"/>
                    <a:pt x="436174" y="216824"/>
                  </a:cubicBezTo>
                  <a:close/>
                </a:path>
              </a:pathLst>
            </a:custGeom>
            <a:solidFill>
              <a:srgbClr val="243A5E"/>
            </a:solidFill>
            <a:ln w="785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B472609C-D065-42C9-A990-8A49C1104E8F}"/>
                </a:ext>
              </a:extLst>
            </p:cNvPr>
            <p:cNvSpPr/>
            <p:nvPr/>
          </p:nvSpPr>
          <p:spPr>
            <a:xfrm>
              <a:off x="2246407" y="4000120"/>
              <a:ext cx="191361" cy="382720"/>
            </a:xfrm>
            <a:custGeom>
              <a:avLst/>
              <a:gdLst>
                <a:gd name="connsiteX0" fmla="*/ 66148 w 88898"/>
                <a:gd name="connsiteY0" fmla="*/ 119136 h 177796"/>
                <a:gd name="connsiteX1" fmla="*/ 52721 w 88898"/>
                <a:gd name="connsiteY1" fmla="*/ 104145 h 177796"/>
                <a:gd name="connsiteX2" fmla="*/ 52721 w 88898"/>
                <a:gd name="connsiteY2" fmla="*/ 132562 h 177796"/>
                <a:gd name="connsiteX3" fmla="*/ 66148 w 88898"/>
                <a:gd name="connsiteY3" fmla="*/ 119136 h 177796"/>
                <a:gd name="connsiteX4" fmla="*/ 39034 w 88898"/>
                <a:gd name="connsiteY4" fmla="*/ 72404 h 177796"/>
                <a:gd name="connsiteX5" fmla="*/ 39034 w 88898"/>
                <a:gd name="connsiteY5" fmla="*/ 42683 h 177796"/>
                <a:gd name="connsiteX6" fmla="*/ 25998 w 88898"/>
                <a:gd name="connsiteY6" fmla="*/ 56305 h 177796"/>
                <a:gd name="connsiteX7" fmla="*/ 39034 w 88898"/>
                <a:gd name="connsiteY7" fmla="*/ 72404 h 177796"/>
                <a:gd name="connsiteX8" fmla="*/ 91110 w 88898"/>
                <a:gd name="connsiteY8" fmla="*/ 117832 h 177796"/>
                <a:gd name="connsiteX9" fmla="*/ 81334 w 88898"/>
                <a:gd name="connsiteY9" fmla="*/ 142861 h 177796"/>
                <a:gd name="connsiteX10" fmla="*/ 52786 w 88898"/>
                <a:gd name="connsiteY10" fmla="*/ 154462 h 177796"/>
                <a:gd name="connsiteX11" fmla="*/ 52786 w 88898"/>
                <a:gd name="connsiteY11" fmla="*/ 176752 h 177796"/>
                <a:gd name="connsiteX12" fmla="*/ 39099 w 88898"/>
                <a:gd name="connsiteY12" fmla="*/ 176752 h 177796"/>
                <a:gd name="connsiteX13" fmla="*/ 39099 w 88898"/>
                <a:gd name="connsiteY13" fmla="*/ 155048 h 177796"/>
                <a:gd name="connsiteX14" fmla="*/ 3642 w 88898"/>
                <a:gd name="connsiteY14" fmla="*/ 146445 h 177796"/>
                <a:gd name="connsiteX15" fmla="*/ 3642 w 88898"/>
                <a:gd name="connsiteY15" fmla="*/ 120439 h 177796"/>
                <a:gd name="connsiteX16" fmla="*/ 19806 w 88898"/>
                <a:gd name="connsiteY16" fmla="*/ 128456 h 177796"/>
                <a:gd name="connsiteX17" fmla="*/ 39099 w 88898"/>
                <a:gd name="connsiteY17" fmla="*/ 132889 h 177796"/>
                <a:gd name="connsiteX18" fmla="*/ 39099 w 88898"/>
                <a:gd name="connsiteY18" fmla="*/ 98735 h 177796"/>
                <a:gd name="connsiteX19" fmla="*/ 9769 w 88898"/>
                <a:gd name="connsiteY19" fmla="*/ 81920 h 177796"/>
                <a:gd name="connsiteX20" fmla="*/ 1166 w 88898"/>
                <a:gd name="connsiteY20" fmla="*/ 57869 h 177796"/>
                <a:gd name="connsiteX21" fmla="*/ 11790 w 88898"/>
                <a:gd name="connsiteY21" fmla="*/ 32711 h 177796"/>
                <a:gd name="connsiteX22" fmla="*/ 39164 w 88898"/>
                <a:gd name="connsiteY22" fmla="*/ 20784 h 177796"/>
                <a:gd name="connsiteX23" fmla="*/ 39164 w 88898"/>
                <a:gd name="connsiteY23" fmla="*/ 1166 h 177796"/>
                <a:gd name="connsiteX24" fmla="*/ 52852 w 88898"/>
                <a:gd name="connsiteY24" fmla="*/ 1166 h 177796"/>
                <a:gd name="connsiteX25" fmla="*/ 52852 w 88898"/>
                <a:gd name="connsiteY25" fmla="*/ 20393 h 177796"/>
                <a:gd name="connsiteX26" fmla="*/ 82377 w 88898"/>
                <a:gd name="connsiteY26" fmla="*/ 26780 h 177796"/>
                <a:gd name="connsiteX27" fmla="*/ 82377 w 88898"/>
                <a:gd name="connsiteY27" fmla="*/ 52069 h 177796"/>
                <a:gd name="connsiteX28" fmla="*/ 52852 w 88898"/>
                <a:gd name="connsiteY28" fmla="*/ 42292 h 177796"/>
                <a:gd name="connsiteX29" fmla="*/ 52852 w 88898"/>
                <a:gd name="connsiteY29" fmla="*/ 77814 h 177796"/>
                <a:gd name="connsiteX30" fmla="*/ 82377 w 88898"/>
                <a:gd name="connsiteY30" fmla="*/ 94694 h 177796"/>
                <a:gd name="connsiteX31" fmla="*/ 91110 w 88898"/>
                <a:gd name="connsiteY31" fmla="*/ 117832 h 17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898" h="177796">
                  <a:moveTo>
                    <a:pt x="66148" y="119136"/>
                  </a:moveTo>
                  <a:cubicBezTo>
                    <a:pt x="66148" y="113075"/>
                    <a:pt x="61650" y="108056"/>
                    <a:pt x="52721" y="104145"/>
                  </a:cubicBezTo>
                  <a:lnTo>
                    <a:pt x="52721" y="132562"/>
                  </a:lnTo>
                  <a:cubicBezTo>
                    <a:pt x="61716" y="131129"/>
                    <a:pt x="66148" y="126631"/>
                    <a:pt x="66148" y="119136"/>
                  </a:cubicBezTo>
                  <a:close/>
                  <a:moveTo>
                    <a:pt x="39034" y="72404"/>
                  </a:moveTo>
                  <a:lnTo>
                    <a:pt x="39034" y="42683"/>
                  </a:lnTo>
                  <a:cubicBezTo>
                    <a:pt x="30365" y="44247"/>
                    <a:pt x="25998" y="48745"/>
                    <a:pt x="25998" y="56305"/>
                  </a:cubicBezTo>
                  <a:cubicBezTo>
                    <a:pt x="25998" y="62888"/>
                    <a:pt x="30365" y="68233"/>
                    <a:pt x="39034" y="72404"/>
                  </a:cubicBezTo>
                  <a:close/>
                  <a:moveTo>
                    <a:pt x="91110" y="117832"/>
                  </a:moveTo>
                  <a:cubicBezTo>
                    <a:pt x="91110" y="128195"/>
                    <a:pt x="87852" y="136538"/>
                    <a:pt x="81334" y="142861"/>
                  </a:cubicBezTo>
                  <a:cubicBezTo>
                    <a:pt x="74816" y="149182"/>
                    <a:pt x="65300" y="153028"/>
                    <a:pt x="52786" y="154462"/>
                  </a:cubicBezTo>
                  <a:lnTo>
                    <a:pt x="52786" y="176752"/>
                  </a:lnTo>
                  <a:lnTo>
                    <a:pt x="39099" y="176752"/>
                  </a:lnTo>
                  <a:lnTo>
                    <a:pt x="39099" y="155048"/>
                  </a:lnTo>
                  <a:cubicBezTo>
                    <a:pt x="26194" y="154918"/>
                    <a:pt x="14397" y="152050"/>
                    <a:pt x="3642" y="146445"/>
                  </a:cubicBezTo>
                  <a:lnTo>
                    <a:pt x="3642" y="120439"/>
                  </a:lnTo>
                  <a:cubicBezTo>
                    <a:pt x="7032" y="123177"/>
                    <a:pt x="12441" y="125849"/>
                    <a:pt x="19806" y="128456"/>
                  </a:cubicBezTo>
                  <a:cubicBezTo>
                    <a:pt x="27237" y="131063"/>
                    <a:pt x="33624" y="132562"/>
                    <a:pt x="39099" y="132889"/>
                  </a:cubicBezTo>
                  <a:lnTo>
                    <a:pt x="39099" y="98735"/>
                  </a:lnTo>
                  <a:cubicBezTo>
                    <a:pt x="25281" y="93587"/>
                    <a:pt x="15505" y="87981"/>
                    <a:pt x="9769" y="81920"/>
                  </a:cubicBezTo>
                  <a:cubicBezTo>
                    <a:pt x="4033" y="75793"/>
                    <a:pt x="1166" y="67776"/>
                    <a:pt x="1166" y="57869"/>
                  </a:cubicBezTo>
                  <a:cubicBezTo>
                    <a:pt x="1166" y="47963"/>
                    <a:pt x="4685" y="39555"/>
                    <a:pt x="11790" y="32711"/>
                  </a:cubicBezTo>
                  <a:cubicBezTo>
                    <a:pt x="18829" y="25868"/>
                    <a:pt x="27954" y="21892"/>
                    <a:pt x="39164" y="20784"/>
                  </a:cubicBezTo>
                  <a:lnTo>
                    <a:pt x="39164" y="1166"/>
                  </a:lnTo>
                  <a:lnTo>
                    <a:pt x="52852" y="1166"/>
                  </a:lnTo>
                  <a:lnTo>
                    <a:pt x="52852" y="20393"/>
                  </a:lnTo>
                  <a:cubicBezTo>
                    <a:pt x="66017" y="21045"/>
                    <a:pt x="75859" y="23130"/>
                    <a:pt x="82377" y="26780"/>
                  </a:cubicBezTo>
                  <a:lnTo>
                    <a:pt x="82377" y="52069"/>
                  </a:lnTo>
                  <a:cubicBezTo>
                    <a:pt x="73708" y="46790"/>
                    <a:pt x="63866" y="43596"/>
                    <a:pt x="52852" y="42292"/>
                  </a:cubicBezTo>
                  <a:lnTo>
                    <a:pt x="52852" y="77814"/>
                  </a:lnTo>
                  <a:cubicBezTo>
                    <a:pt x="66669" y="82832"/>
                    <a:pt x="76511" y="88438"/>
                    <a:pt x="82377" y="94694"/>
                  </a:cubicBezTo>
                  <a:cubicBezTo>
                    <a:pt x="88178" y="101017"/>
                    <a:pt x="91110" y="108707"/>
                    <a:pt x="91110" y="117832"/>
                  </a:cubicBezTo>
                  <a:close/>
                </a:path>
              </a:pathLst>
            </a:custGeom>
            <a:solidFill>
              <a:schemeClr val="accent5"/>
            </a:solidFill>
            <a:ln w="3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55" name="Rectangle 154">
            <a:extLst>
              <a:ext uri="{FF2B5EF4-FFF2-40B4-BE49-F238E27FC236}">
                <a16:creationId xmlns:a16="http://schemas.microsoft.com/office/drawing/2014/main" id="{A739F562-5D45-42B9-ABE3-413C2CD71031}"/>
              </a:ext>
              <a:ext uri="{C183D7F6-B498-43B3-948B-1728B52AA6E4}">
                <adec:decorative xmlns:adec="http://schemas.microsoft.com/office/drawing/2017/decorative" val="1"/>
              </a:ext>
            </a:extLst>
          </p:cNvPr>
          <p:cNvSpPr/>
          <p:nvPr/>
        </p:nvSpPr>
        <p:spPr bwMode="auto">
          <a:xfrm>
            <a:off x="304451" y="1167465"/>
            <a:ext cx="1388303" cy="578427"/>
          </a:xfrm>
          <a:prstGeom prst="rect">
            <a:avLst/>
          </a:prstGeom>
          <a:solidFill>
            <a:schemeClr val="accent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56" name="TextBox 155">
            <a:extLst>
              <a:ext uri="{FF2B5EF4-FFF2-40B4-BE49-F238E27FC236}">
                <a16:creationId xmlns:a16="http://schemas.microsoft.com/office/drawing/2014/main" id="{EA0B8375-9AD9-4E43-A592-8CE676411992}"/>
              </a:ext>
            </a:extLst>
          </p:cNvPr>
          <p:cNvSpPr txBox="1"/>
          <p:nvPr/>
        </p:nvSpPr>
        <p:spPr>
          <a:xfrm>
            <a:off x="6333288" y="6155596"/>
            <a:ext cx="2930610" cy="457048"/>
          </a:xfrm>
          <a:prstGeom prst="rect">
            <a:avLst/>
          </a:prstGeom>
          <a:noFill/>
        </p:spPr>
        <p:txBody>
          <a:bodyPr wrap="none" lIns="0" tIns="146304" rIns="182880" bIns="146304"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Example presented for illustrated purposes only</a:t>
            </a:r>
          </a:p>
        </p:txBody>
      </p:sp>
    </p:spTree>
    <p:custDataLst>
      <p:tags r:id="rId1"/>
    </p:custDataLst>
    <p:extLst>
      <p:ext uri="{BB962C8B-B14F-4D97-AF65-F5344CB8AC3E}">
        <p14:creationId xmlns:p14="http://schemas.microsoft.com/office/powerpoint/2010/main" val="3579883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p14="http://schemas.microsoft.com/office/powerpoint/2010/main" xmlns:a14="http://schemas.microsoft.com/office/drawing/2010/main" xmlns:adec="http://schemas.microsoft.com/office/drawing/2017/decorative"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49">
                                            <p:txEl>
                                              <p:pRg st="1" end="1"/>
                                            </p:txEl>
                                          </p:spTgt>
                                        </p:tgtEl>
                                        <p:attrNameLst>
                                          <p:attrName>style.visibility</p:attrName>
                                        </p:attrNameLst>
                                      </p:cBhvr>
                                      <p:to>
                                        <p:strVal val="visible"/>
                                      </p:to>
                                    </p:set>
                                    <p:animEffect transition="in" filter="fade">
                                      <p:cBhvr>
                                        <p:cTn id="13" dur="500"/>
                                        <p:tgtEl>
                                          <p:spTgt spid="4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11"/>
                                        </p:tgtEl>
                                      </p:cBhvr>
                                    </p:animEffect>
                                    <p:set>
                                      <p:cBhvr>
                                        <p:cTn id="18" dur="1" fill="hold">
                                          <p:stCondLst>
                                            <p:cond delay="499"/>
                                          </p:stCondLst>
                                        </p:cTn>
                                        <p:tgtEl>
                                          <p:spTgt spid="11"/>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91"/>
                                        </p:tgtEl>
                                        <p:attrNameLst>
                                          <p:attrName>style.visibility</p:attrName>
                                        </p:attrNameLst>
                                      </p:cBhvr>
                                      <p:to>
                                        <p:strVal val="visible"/>
                                      </p:to>
                                    </p:set>
                                    <p:animEffect transition="in" filter="fade">
                                      <p:cBhvr>
                                        <p:cTn id="21" dur="500"/>
                                        <p:tgtEl>
                                          <p:spTgt spid="91"/>
                                        </p:tgtEl>
                                      </p:cBhvr>
                                    </p:animEffect>
                                  </p:childTnLst>
                                </p:cTn>
                              </p:par>
                              <p:par>
                                <p:cTn id="22" presetID="10"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nodeType="withEffect">
                                  <p:stCondLst>
                                    <p:cond delay="0"/>
                                  </p:stCondLst>
                                  <p:childTnLst>
                                    <p:set>
                                      <p:cBhvr>
                                        <p:cTn id="26" dur="1" fill="hold">
                                          <p:stCondLst>
                                            <p:cond delay="0"/>
                                          </p:stCondLst>
                                        </p:cTn>
                                        <p:tgtEl>
                                          <p:spTgt spid="49">
                                            <p:txEl>
                                              <p:pRg st="2" end="2"/>
                                            </p:txEl>
                                          </p:spTgt>
                                        </p:tgtEl>
                                        <p:attrNameLst>
                                          <p:attrName>style.visibility</p:attrName>
                                        </p:attrNameLst>
                                      </p:cBhvr>
                                      <p:to>
                                        <p:strVal val="visible"/>
                                      </p:to>
                                    </p:set>
                                    <p:animEffect transition="in" filter="fade">
                                      <p:cBhvr>
                                        <p:cTn id="27" dur="500"/>
                                        <p:tgtEl>
                                          <p:spTgt spid="4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par>
                                <p:cTn id="33" presetID="10" presetClass="entr" presetSubtype="0" fill="hold" grpId="0" nodeType="withEffect">
                                  <p:stCondLst>
                                    <p:cond delay="0"/>
                                  </p:stCondLst>
                                  <p:childTnLst>
                                    <p:set>
                                      <p:cBhvr>
                                        <p:cTn id="34" dur="1" fill="hold">
                                          <p:stCondLst>
                                            <p:cond delay="0"/>
                                          </p:stCondLst>
                                        </p:cTn>
                                        <p:tgtEl>
                                          <p:spTgt spid="92"/>
                                        </p:tgtEl>
                                        <p:attrNameLst>
                                          <p:attrName>style.visibility</p:attrName>
                                        </p:attrNameLst>
                                      </p:cBhvr>
                                      <p:to>
                                        <p:strVal val="visible"/>
                                      </p:to>
                                    </p:set>
                                    <p:animEffect transition="in" filter="fade">
                                      <p:cBhvr>
                                        <p:cTn id="35" dur="500"/>
                                        <p:tgtEl>
                                          <p:spTgt spid="92"/>
                                        </p:tgtEl>
                                      </p:cBhvr>
                                    </p:animEffect>
                                  </p:childTnLst>
                                </p:cTn>
                              </p:par>
                              <p:par>
                                <p:cTn id="36" presetID="10" presetClass="entr" presetSubtype="0" fill="hold" nodeType="withEffect">
                                  <p:stCondLst>
                                    <p:cond delay="0"/>
                                  </p:stCondLst>
                                  <p:childTnLst>
                                    <p:set>
                                      <p:cBhvr>
                                        <p:cTn id="37" dur="1" fill="hold">
                                          <p:stCondLst>
                                            <p:cond delay="0"/>
                                          </p:stCondLst>
                                        </p:cTn>
                                        <p:tgtEl>
                                          <p:spTgt spid="49">
                                            <p:txEl>
                                              <p:pRg st="3" end="3"/>
                                            </p:txEl>
                                          </p:spTgt>
                                        </p:tgtEl>
                                        <p:attrNameLst>
                                          <p:attrName>style.visibility</p:attrName>
                                        </p:attrNameLst>
                                      </p:cBhvr>
                                      <p:to>
                                        <p:strVal val="visible"/>
                                      </p:to>
                                    </p:set>
                                    <p:animEffect transition="in" filter="fade">
                                      <p:cBhvr>
                                        <p:cTn id="38" dur="500"/>
                                        <p:tgtEl>
                                          <p:spTgt spid="49">
                                            <p:txEl>
                                              <p:pRg st="3" end="3"/>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500"/>
                                        <p:tgtEl>
                                          <p:spTgt spid="9"/>
                                        </p:tgtEl>
                                      </p:cBhvr>
                                    </p:animEffect>
                                    <p:set>
                                      <p:cBhvr>
                                        <p:cTn id="46" dur="1" fill="hold">
                                          <p:stCondLst>
                                            <p:cond delay="499"/>
                                          </p:stCondLst>
                                        </p:cTn>
                                        <p:tgtEl>
                                          <p:spTgt spid="9"/>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8" dur="1" fill="hold">
                                          <p:stCondLst>
                                            <p:cond delay="0"/>
                                          </p:stCondLst>
                                        </p:cTn>
                                        <p:tgtEl>
                                          <p:spTgt spid="93"/>
                                        </p:tgtEl>
                                        <p:attrNameLst>
                                          <p:attrName>style.visibility</p:attrName>
                                        </p:attrNameLst>
                                      </p:cBhvr>
                                      <p:to>
                                        <p:strVal val="visible"/>
                                      </p:to>
                                    </p:set>
                                    <p:animEffect transition="in" filter="fade">
                                      <p:cBhvr>
                                        <p:cTn id="49" dur="500"/>
                                        <p:tgtEl>
                                          <p:spTgt spid="93"/>
                                        </p:tgtEl>
                                      </p:cBhvr>
                                    </p:animEffect>
                                  </p:childTnLst>
                                </p:cTn>
                              </p:par>
                              <p:par>
                                <p:cTn id="50" presetID="10" presetClass="entr" presetSubtype="0" fill="hold"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p:tgtEl>
                                          <p:spTgt spid="8"/>
                                        </p:tgtEl>
                                      </p:cBhvr>
                                    </p:animEffect>
                                  </p:childTnLst>
                                </p:cTn>
                              </p:par>
                              <p:par>
                                <p:cTn id="53" presetID="10" presetClass="entr" presetSubtype="0" fill="hold" nodeType="withEffect">
                                  <p:stCondLst>
                                    <p:cond delay="0"/>
                                  </p:stCondLst>
                                  <p:childTnLst>
                                    <p:set>
                                      <p:cBhvr>
                                        <p:cTn id="54" dur="1" fill="hold">
                                          <p:stCondLst>
                                            <p:cond delay="0"/>
                                          </p:stCondLst>
                                        </p:cTn>
                                        <p:tgtEl>
                                          <p:spTgt spid="49">
                                            <p:txEl>
                                              <p:pRg st="4" end="4"/>
                                            </p:txEl>
                                          </p:spTgt>
                                        </p:tgtEl>
                                        <p:attrNameLst>
                                          <p:attrName>style.visibility</p:attrName>
                                        </p:attrNameLst>
                                      </p:cBhvr>
                                      <p:to>
                                        <p:strVal val="visible"/>
                                      </p:to>
                                    </p:set>
                                    <p:animEffect transition="in" filter="fade">
                                      <p:cBhvr>
                                        <p:cTn id="55" dur="500"/>
                                        <p:tgtEl>
                                          <p:spTgt spid="4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91" grpId="0" animBg="1"/>
      <p:bldP spid="92" grpId="0" animBg="1"/>
      <p:bldP spid="9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9CA5AECA-C661-4255-8B11-1A4A2C211847}"/>
              </a:ext>
              <a:ext uri="{C183D7F6-B498-43B3-948B-1728B52AA6E4}">
                <adec:decorative xmlns:adec="http://schemas.microsoft.com/office/drawing/2017/decorative" val="1"/>
              </a:ext>
            </a:extLst>
          </p:cNvPr>
          <p:cNvSpPr/>
          <p:nvPr/>
        </p:nvSpPr>
        <p:spPr bwMode="auto">
          <a:xfrm>
            <a:off x="430339" y="1930305"/>
            <a:ext cx="11306469" cy="3619790"/>
          </a:xfrm>
          <a:prstGeom prst="roundRect">
            <a:avLst>
              <a:gd name="adj" fmla="val 6446"/>
            </a:avLst>
          </a:prstGeom>
          <a:solidFill>
            <a:schemeClr val="bg1"/>
          </a:solid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Pct val="90000"/>
              <a:buFontTx/>
              <a:buNone/>
              <a:tabLst/>
              <a:defRPr/>
            </a:pPr>
            <a:endParaRPr kumimoji="0" lang="en-US" sz="13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endParaRPr>
          </a:p>
        </p:txBody>
      </p:sp>
      <p:sp>
        <p:nvSpPr>
          <p:cNvPr id="2" name="Title 1">
            <a:extLst>
              <a:ext uri="{FF2B5EF4-FFF2-40B4-BE49-F238E27FC236}">
                <a16:creationId xmlns:a16="http://schemas.microsoft.com/office/drawing/2014/main" id="{9A1FE356-7835-4662-B100-94B8EE30BE82}"/>
              </a:ext>
            </a:extLst>
          </p:cNvPr>
          <p:cNvSpPr>
            <a:spLocks noGrp="1"/>
          </p:cNvSpPr>
          <p:nvPr>
            <p:ph type="title"/>
          </p:nvPr>
        </p:nvSpPr>
        <p:spPr/>
        <p:txBody>
          <a:bodyPr/>
          <a:lstStyle/>
          <a:p>
            <a:r>
              <a:rPr lang="en-US"/>
              <a:t>Evolving our compute saving options to better serve our customers </a:t>
            </a:r>
          </a:p>
        </p:txBody>
      </p:sp>
      <p:cxnSp>
        <p:nvCxnSpPr>
          <p:cNvPr id="15" name="Straight Connector 14">
            <a:extLst>
              <a:ext uri="{FF2B5EF4-FFF2-40B4-BE49-F238E27FC236}">
                <a16:creationId xmlns:a16="http://schemas.microsoft.com/office/drawing/2014/main" id="{12224F9B-5F14-4CDA-804A-B48C308EF894}"/>
              </a:ext>
              <a:ext uri="{C183D7F6-B498-43B3-948B-1728B52AA6E4}">
                <adec:decorative xmlns:adec="http://schemas.microsoft.com/office/drawing/2017/decorative" val="1"/>
              </a:ext>
            </a:extLst>
          </p:cNvPr>
          <p:cNvCxnSpPr>
            <a:cxnSpLocks/>
          </p:cNvCxnSpPr>
          <p:nvPr/>
        </p:nvCxnSpPr>
        <p:spPr>
          <a:xfrm>
            <a:off x="6096000" y="2388815"/>
            <a:ext cx="0" cy="2702771"/>
          </a:xfrm>
          <a:prstGeom prst="line">
            <a:avLst/>
          </a:prstGeom>
          <a:ln>
            <a:solidFill>
              <a:schemeClr val="accent1">
                <a:lumMod val="9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7DCA4CD-8BD3-43D5-BE71-1B7DAE3444D0}"/>
              </a:ext>
            </a:extLst>
          </p:cNvPr>
          <p:cNvSpPr txBox="1"/>
          <p:nvPr/>
        </p:nvSpPr>
        <p:spPr>
          <a:xfrm>
            <a:off x="455995" y="1038118"/>
            <a:ext cx="11108486" cy="36933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49" normalizeH="0" baseline="0" noProof="0" dirty="0">
                <a:ln w="3175">
                  <a:noFill/>
                </a:ln>
                <a:gradFill>
                  <a:gsLst>
                    <a:gs pos="83000">
                      <a:srgbClr val="243A5E"/>
                    </a:gs>
                    <a:gs pos="100000">
                      <a:srgbClr val="243A5E"/>
                    </a:gs>
                  </a:gsLst>
                  <a:lin ang="5400000" scaled="1"/>
                </a:gradFill>
                <a:effectLst/>
                <a:uLnTx/>
                <a:uFillTx/>
                <a:latin typeface="Segoe UI Semibold"/>
                <a:ea typeface="+mn-ea"/>
                <a:cs typeface="Segoe UI" pitchFamily="34" charset="0"/>
              </a:rPr>
              <a:t>Changes to our 1- or 3-year savings options</a:t>
            </a:r>
          </a:p>
        </p:txBody>
      </p:sp>
      <p:sp>
        <p:nvSpPr>
          <p:cNvPr id="40" name="TextBox 39">
            <a:extLst>
              <a:ext uri="{FF2B5EF4-FFF2-40B4-BE49-F238E27FC236}">
                <a16:creationId xmlns:a16="http://schemas.microsoft.com/office/drawing/2014/main" id="{249F5536-05F9-4945-A178-C412B64D9B5D}"/>
              </a:ext>
            </a:extLst>
          </p:cNvPr>
          <p:cNvSpPr txBox="1"/>
          <p:nvPr/>
        </p:nvSpPr>
        <p:spPr>
          <a:xfrm>
            <a:off x="455191" y="2631984"/>
            <a:ext cx="5619842" cy="369332"/>
          </a:xfrm>
          <a:prstGeom prst="rect">
            <a:avLst/>
          </a:prstGeom>
          <a:noFill/>
        </p:spPr>
        <p:txBody>
          <a:bodyPr wrap="square">
            <a:spAutoFit/>
          </a:bodyPr>
          <a:lstStyle/>
          <a:p>
            <a:pPr marL="0" marR="0" lvl="2" indent="0" algn="ctr" defTabSz="914367"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a:ln>
                  <a:noFill/>
                </a:ln>
                <a:gradFill>
                  <a:gsLst>
                    <a:gs pos="1250">
                      <a:srgbClr val="0078D3"/>
                    </a:gs>
                    <a:gs pos="100000">
                      <a:srgbClr val="0078D3"/>
                    </a:gs>
                  </a:gsLst>
                  <a:lin ang="5400000" scaled="0"/>
                </a:gradFill>
                <a:effectLst/>
                <a:uLnTx/>
                <a:uFillTx/>
                <a:latin typeface="Segoe UI"/>
                <a:ea typeface="+mn-ea"/>
                <a:cs typeface="Arial" panose="020B0604020202020204" pitchFamily="34" charset="0"/>
              </a:rPr>
              <a:t>Adding</a:t>
            </a:r>
            <a:r>
              <a:rPr kumimoji="0" lang="en-US" sz="1800" b="0" i="0" u="none" strike="noStrike" kern="1200" cap="none" spc="0" normalizeH="0" baseline="0" noProof="0">
                <a:ln>
                  <a:noFill/>
                </a:ln>
                <a:gradFill>
                  <a:gsLst>
                    <a:gs pos="1250">
                      <a:srgbClr val="000000"/>
                    </a:gs>
                    <a:gs pos="100000">
                      <a:srgbClr val="000000"/>
                    </a:gs>
                  </a:gsLst>
                  <a:lin ang="5400000" scaled="0"/>
                </a:gradFill>
                <a:effectLst/>
                <a:uLnTx/>
                <a:uFillTx/>
                <a:latin typeface="Segoe UI Semibold"/>
                <a:ea typeface="+mn-ea"/>
                <a:cs typeface="Arial" panose="020B0604020202020204" pitchFamily="34" charset="0"/>
              </a:rPr>
              <a:t> a new, flexible offer</a:t>
            </a:r>
          </a:p>
        </p:txBody>
      </p:sp>
      <p:sp>
        <p:nvSpPr>
          <p:cNvPr id="12" name="TextBox 11">
            <a:extLst>
              <a:ext uri="{FF2B5EF4-FFF2-40B4-BE49-F238E27FC236}">
                <a16:creationId xmlns:a16="http://schemas.microsoft.com/office/drawing/2014/main" id="{14E5579F-125C-4823-9A42-D816FE33F521}"/>
              </a:ext>
            </a:extLst>
          </p:cNvPr>
          <p:cNvSpPr txBox="1"/>
          <p:nvPr/>
        </p:nvSpPr>
        <p:spPr>
          <a:xfrm>
            <a:off x="1741375" y="4422575"/>
            <a:ext cx="3047474" cy="784830"/>
          </a:xfrm>
          <a:prstGeom prst="rect">
            <a:avLst/>
          </a:prstGeom>
          <a:noFill/>
        </p:spPr>
        <p:txBody>
          <a:bodyPr wrap="square" lIns="91440">
            <a:spAutoFit/>
          </a:bodyPr>
          <a:lstStyle/>
          <a:p>
            <a:pPr marL="0" marR="0" lvl="2" indent="0" algn="ctr" defTabSz="914367"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dirty="0">
                <a:ln w="3175">
                  <a:noFill/>
                </a:ln>
                <a:gradFill>
                  <a:gsLst>
                    <a:gs pos="1250">
                      <a:srgbClr val="0078D3"/>
                    </a:gs>
                    <a:gs pos="100000">
                      <a:srgbClr val="0078D3"/>
                    </a:gs>
                  </a:gsLst>
                  <a:lin ang="5400000" scaled="0"/>
                </a:gradFill>
                <a:effectLst/>
                <a:uLnTx/>
                <a:uFillTx/>
                <a:latin typeface="Segoe UI"/>
                <a:ea typeface="+mn-ea"/>
                <a:cs typeface="Segoe UI" pitchFamily="34" charset="0"/>
              </a:rPr>
              <a:t>Azure savings plan </a:t>
            </a:r>
          </a:p>
          <a:p>
            <a:pPr marL="0" marR="0" lvl="2" indent="0" algn="ctr" defTabSz="914367"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dirty="0">
                <a:ln w="3175">
                  <a:noFill/>
                </a:ln>
                <a:gradFill>
                  <a:gsLst>
                    <a:gs pos="1250">
                      <a:srgbClr val="0078D3"/>
                    </a:gs>
                    <a:gs pos="100000">
                      <a:srgbClr val="0078D3"/>
                    </a:gs>
                  </a:gsLst>
                  <a:lin ang="5400000" scaled="0"/>
                </a:gradFill>
                <a:effectLst/>
                <a:uLnTx/>
                <a:uFillTx/>
                <a:latin typeface="Segoe UI"/>
                <a:ea typeface="+mn-ea"/>
                <a:cs typeface="Segoe UI" pitchFamily="34" charset="0"/>
              </a:rPr>
              <a:t>for compute</a:t>
            </a:r>
          </a:p>
        </p:txBody>
      </p:sp>
      <p:grpSp>
        <p:nvGrpSpPr>
          <p:cNvPr id="20" name="Group 19">
            <a:extLst>
              <a:ext uri="{FF2B5EF4-FFF2-40B4-BE49-F238E27FC236}">
                <a16:creationId xmlns:a16="http://schemas.microsoft.com/office/drawing/2014/main" id="{FFFE9D58-F699-41F1-8D62-6AD61D1862F3}"/>
              </a:ext>
              <a:ext uri="{C183D7F6-B498-43B3-948B-1728B52AA6E4}">
                <adec:decorative xmlns:adec="http://schemas.microsoft.com/office/drawing/2017/decorative" val="1"/>
              </a:ext>
            </a:extLst>
          </p:cNvPr>
          <p:cNvGrpSpPr/>
          <p:nvPr/>
        </p:nvGrpSpPr>
        <p:grpSpPr>
          <a:xfrm>
            <a:off x="2713892" y="3254803"/>
            <a:ext cx="1110925" cy="1110925"/>
            <a:chOff x="2709700" y="2830508"/>
            <a:chExt cx="2168364" cy="2168364"/>
          </a:xfrm>
        </p:grpSpPr>
        <p:sp>
          <p:nvSpPr>
            <p:cNvPr id="7" name="Oval 6">
              <a:extLst>
                <a:ext uri="{FF2B5EF4-FFF2-40B4-BE49-F238E27FC236}">
                  <a16:creationId xmlns:a16="http://schemas.microsoft.com/office/drawing/2014/main" id="{E88C515A-01C6-4F21-BE0C-2FB2599840C7}"/>
                </a:ext>
              </a:extLst>
            </p:cNvPr>
            <p:cNvSpPr/>
            <p:nvPr/>
          </p:nvSpPr>
          <p:spPr bwMode="auto">
            <a:xfrm>
              <a:off x="2709700" y="2830508"/>
              <a:ext cx="2168364" cy="2168364"/>
            </a:xfrm>
            <a:prstGeom prst="ellipse">
              <a:avLst/>
            </a:prstGeom>
            <a:solidFill>
              <a:schemeClr val="accent4"/>
            </a:solid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90000"/>
                <a:buFontTx/>
                <a:buNone/>
                <a:tabLst/>
                <a:defRPr/>
              </a:pPr>
              <a:endParaRPr kumimoji="0" lang="en-US" sz="14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endParaRPr>
            </a:p>
          </p:txBody>
        </p:sp>
        <p:pic>
          <p:nvPicPr>
            <p:cNvPr id="3" name="Graphic 2">
              <a:extLst>
                <a:ext uri="{FF2B5EF4-FFF2-40B4-BE49-F238E27FC236}">
                  <a16:creationId xmlns:a16="http://schemas.microsoft.com/office/drawing/2014/main" id="{6AC7EED2-E52E-40B8-935F-0682D5FCF7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29222" y="3250030"/>
              <a:ext cx="1329320" cy="1329320"/>
            </a:xfrm>
            <a:prstGeom prst="rect">
              <a:avLst/>
            </a:prstGeom>
          </p:spPr>
        </p:pic>
      </p:grpSp>
      <p:grpSp>
        <p:nvGrpSpPr>
          <p:cNvPr id="51" name="Group 50">
            <a:extLst>
              <a:ext uri="{FF2B5EF4-FFF2-40B4-BE49-F238E27FC236}">
                <a16:creationId xmlns:a16="http://schemas.microsoft.com/office/drawing/2014/main" id="{EAAAFBF9-1E77-4DD1-A347-1882E6D4588B}"/>
              </a:ext>
              <a:ext uri="{C183D7F6-B498-43B3-948B-1728B52AA6E4}">
                <adec:decorative xmlns:adec="http://schemas.microsoft.com/office/drawing/2017/decorative" val="1"/>
              </a:ext>
            </a:extLst>
          </p:cNvPr>
          <p:cNvGrpSpPr/>
          <p:nvPr/>
        </p:nvGrpSpPr>
        <p:grpSpPr>
          <a:xfrm>
            <a:off x="3555342" y="3197956"/>
            <a:ext cx="538950" cy="538950"/>
            <a:chOff x="1999013" y="3681541"/>
            <a:chExt cx="546869" cy="546869"/>
          </a:xfrm>
        </p:grpSpPr>
        <p:sp>
          <p:nvSpPr>
            <p:cNvPr id="50" name="Oval 49">
              <a:extLst>
                <a:ext uri="{FF2B5EF4-FFF2-40B4-BE49-F238E27FC236}">
                  <a16:creationId xmlns:a16="http://schemas.microsoft.com/office/drawing/2014/main" id="{07AFEF84-8536-45A9-A393-FAB70C0677C0}"/>
                </a:ext>
              </a:extLst>
            </p:cNvPr>
            <p:cNvSpPr/>
            <p:nvPr/>
          </p:nvSpPr>
          <p:spPr bwMode="auto">
            <a:xfrm>
              <a:off x="1999013" y="3681541"/>
              <a:ext cx="546869" cy="546869"/>
            </a:xfrm>
            <a:prstGeom prst="ellipse">
              <a:avLst/>
            </a:prstGeom>
            <a:solidFill>
              <a:schemeClr val="accent4"/>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9" name="Freeform: Shape 48">
              <a:extLst>
                <a:ext uri="{FF2B5EF4-FFF2-40B4-BE49-F238E27FC236}">
                  <a16:creationId xmlns:a16="http://schemas.microsoft.com/office/drawing/2014/main" id="{D68F4D3C-211B-406D-BA0D-1109399EE9BE}"/>
                </a:ext>
              </a:extLst>
            </p:cNvPr>
            <p:cNvSpPr/>
            <p:nvPr/>
          </p:nvSpPr>
          <p:spPr bwMode="auto">
            <a:xfrm>
              <a:off x="2138814" y="3821205"/>
              <a:ext cx="267267" cy="267541"/>
            </a:xfrm>
            <a:custGeom>
              <a:avLst/>
              <a:gdLst/>
              <a:ahLst/>
              <a:cxnLst/>
              <a:rect l="l" t="t" r="r" b="b"/>
              <a:pathLst>
                <a:path w="267267" h="267541">
                  <a:moveTo>
                    <a:pt x="106193" y="0"/>
                  </a:moveTo>
                  <a:lnTo>
                    <a:pt x="161622" y="0"/>
                  </a:lnTo>
                  <a:lnTo>
                    <a:pt x="161622" y="106193"/>
                  </a:lnTo>
                  <a:lnTo>
                    <a:pt x="267267" y="106193"/>
                  </a:lnTo>
                  <a:lnTo>
                    <a:pt x="267267" y="161897"/>
                  </a:lnTo>
                  <a:lnTo>
                    <a:pt x="161622" y="161897"/>
                  </a:lnTo>
                  <a:lnTo>
                    <a:pt x="161622" y="267541"/>
                  </a:lnTo>
                  <a:lnTo>
                    <a:pt x="106193" y="267541"/>
                  </a:lnTo>
                  <a:lnTo>
                    <a:pt x="106193" y="161897"/>
                  </a:lnTo>
                  <a:lnTo>
                    <a:pt x="0" y="161897"/>
                  </a:lnTo>
                  <a:lnTo>
                    <a:pt x="0" y="106193"/>
                  </a:lnTo>
                  <a:lnTo>
                    <a:pt x="106193" y="106193"/>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sp>
        <p:nvSpPr>
          <p:cNvPr id="41" name="TextBox 40">
            <a:extLst>
              <a:ext uri="{FF2B5EF4-FFF2-40B4-BE49-F238E27FC236}">
                <a16:creationId xmlns:a16="http://schemas.microsoft.com/office/drawing/2014/main" id="{ECC371FC-EE1B-48D9-8E1E-30813DC919BB}"/>
              </a:ext>
            </a:extLst>
          </p:cNvPr>
          <p:cNvSpPr txBox="1"/>
          <p:nvPr/>
        </p:nvSpPr>
        <p:spPr>
          <a:xfrm>
            <a:off x="6075033" y="2631984"/>
            <a:ext cx="5661775" cy="369332"/>
          </a:xfrm>
          <a:prstGeom prst="rect">
            <a:avLst/>
          </a:prstGeom>
          <a:noFill/>
        </p:spPr>
        <p:txBody>
          <a:bodyPr wrap="square">
            <a:spAutoFit/>
          </a:bodyPr>
          <a:lstStyle/>
          <a:p>
            <a:pPr marL="0" marR="0" lvl="2" indent="0" algn="ctr" defTabSz="914367"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a:ln>
                  <a:noFill/>
                </a:ln>
                <a:gradFill>
                  <a:gsLst>
                    <a:gs pos="1250">
                      <a:srgbClr val="243A5E"/>
                    </a:gs>
                    <a:gs pos="100000">
                      <a:srgbClr val="243A5E"/>
                    </a:gs>
                  </a:gsLst>
                  <a:lin ang="5400000" scaled="0"/>
                </a:gradFill>
                <a:effectLst/>
                <a:uLnTx/>
                <a:uFillTx/>
                <a:latin typeface="Segoe UI"/>
                <a:ea typeface="+mn-ea"/>
                <a:cs typeface="Arial" panose="020B0604020202020204" pitchFamily="34" charset="0"/>
              </a:rPr>
              <a:t>Changing</a:t>
            </a:r>
            <a:r>
              <a:rPr kumimoji="0" lang="en-US" sz="1800" b="0" i="0" u="none" strike="noStrike" kern="1200" cap="none" spc="0" normalizeH="0" baseline="0" noProof="0">
                <a:ln>
                  <a:noFill/>
                </a:ln>
                <a:gradFill>
                  <a:gsLst>
                    <a:gs pos="1250">
                      <a:srgbClr val="000000"/>
                    </a:gs>
                    <a:gs pos="100000">
                      <a:srgbClr val="000000"/>
                    </a:gs>
                  </a:gsLst>
                  <a:lin ang="5400000" scaled="0"/>
                </a:gradFill>
                <a:effectLst/>
                <a:uLnTx/>
                <a:uFillTx/>
                <a:latin typeface="Segoe UI Semibold"/>
                <a:ea typeface="+mn-ea"/>
                <a:cs typeface="Arial" panose="020B0604020202020204" pitchFamily="34" charset="0"/>
              </a:rPr>
              <a:t> existing offer’s exchange policy</a:t>
            </a:r>
          </a:p>
        </p:txBody>
      </p:sp>
      <p:sp>
        <p:nvSpPr>
          <p:cNvPr id="22" name="TextBox 21">
            <a:extLst>
              <a:ext uri="{FF2B5EF4-FFF2-40B4-BE49-F238E27FC236}">
                <a16:creationId xmlns:a16="http://schemas.microsoft.com/office/drawing/2014/main" id="{2E69A9D2-9A62-4BB1-8E05-F6D079BCC17F}"/>
              </a:ext>
            </a:extLst>
          </p:cNvPr>
          <p:cNvSpPr txBox="1"/>
          <p:nvPr/>
        </p:nvSpPr>
        <p:spPr>
          <a:xfrm>
            <a:off x="7521164" y="4422575"/>
            <a:ext cx="2769513" cy="400110"/>
          </a:xfrm>
          <a:prstGeom prst="rect">
            <a:avLst/>
          </a:prstGeom>
          <a:noFill/>
        </p:spPr>
        <p:txBody>
          <a:bodyPr wrap="square" lIns="91440">
            <a:spAutoFit/>
          </a:bodyPr>
          <a:lstStyle/>
          <a:p>
            <a:pPr marL="0" marR="0" lvl="2" indent="0" algn="ctr" defTabSz="914367" rtl="0" eaLnBrk="1" fontAlgn="auto" latinLnBrk="0" hangingPunct="1">
              <a:lnSpc>
                <a:spcPct val="100000"/>
              </a:lnSpc>
              <a:spcBef>
                <a:spcPts val="0"/>
              </a:spcBef>
              <a:spcAft>
                <a:spcPts val="600"/>
              </a:spcAft>
              <a:buClrTx/>
              <a:buSzTx/>
              <a:buFontTx/>
              <a:buNone/>
              <a:tabLst/>
              <a:defRPr/>
            </a:pPr>
            <a:r>
              <a:rPr kumimoji="0" lang="en-US" sz="2000" b="1" i="0" u="none" strike="noStrike" kern="0" cap="none" spc="0" normalizeH="0" baseline="0" noProof="0" dirty="0">
                <a:ln w="3175">
                  <a:noFill/>
                </a:ln>
                <a:gradFill>
                  <a:gsLst>
                    <a:gs pos="1250">
                      <a:srgbClr val="243A5E"/>
                    </a:gs>
                    <a:gs pos="100000">
                      <a:srgbClr val="243A5E"/>
                    </a:gs>
                  </a:gsLst>
                  <a:lin ang="5400000" scaled="0"/>
                </a:gradFill>
                <a:effectLst/>
                <a:uLnTx/>
                <a:uFillTx/>
                <a:latin typeface="Segoe UI"/>
                <a:ea typeface="+mn-ea"/>
                <a:cs typeface="Segoe UI" pitchFamily="34" charset="0"/>
              </a:rPr>
              <a:t>Reserved Instances</a:t>
            </a:r>
          </a:p>
        </p:txBody>
      </p:sp>
      <p:grpSp>
        <p:nvGrpSpPr>
          <p:cNvPr id="16" name="Group 15">
            <a:extLst>
              <a:ext uri="{FF2B5EF4-FFF2-40B4-BE49-F238E27FC236}">
                <a16:creationId xmlns:a16="http://schemas.microsoft.com/office/drawing/2014/main" id="{B262D568-F5A7-4539-902B-BCD826BC1426}"/>
              </a:ext>
              <a:ext uri="{C183D7F6-B498-43B3-948B-1728B52AA6E4}">
                <adec:decorative xmlns:adec="http://schemas.microsoft.com/office/drawing/2017/decorative" val="1"/>
              </a:ext>
            </a:extLst>
          </p:cNvPr>
          <p:cNvGrpSpPr/>
          <p:nvPr/>
        </p:nvGrpSpPr>
        <p:grpSpPr>
          <a:xfrm>
            <a:off x="8343824" y="3254803"/>
            <a:ext cx="1110925" cy="1110925"/>
            <a:chOff x="7313936" y="2830508"/>
            <a:chExt cx="2168364" cy="2168364"/>
          </a:xfrm>
        </p:grpSpPr>
        <p:sp>
          <p:nvSpPr>
            <p:cNvPr id="9" name="Oval 8">
              <a:extLst>
                <a:ext uri="{FF2B5EF4-FFF2-40B4-BE49-F238E27FC236}">
                  <a16:creationId xmlns:a16="http://schemas.microsoft.com/office/drawing/2014/main" id="{8090BC2F-CB65-45D5-93D5-0368CE635E4A}"/>
                </a:ext>
              </a:extLst>
            </p:cNvPr>
            <p:cNvSpPr/>
            <p:nvPr/>
          </p:nvSpPr>
          <p:spPr bwMode="auto">
            <a:xfrm>
              <a:off x="7313936" y="2830508"/>
              <a:ext cx="2168364" cy="2168364"/>
            </a:xfrm>
            <a:prstGeom prst="ellipse">
              <a:avLst/>
            </a:prstGeom>
            <a:solidFill>
              <a:srgbClr val="243A5E"/>
            </a:solid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90000"/>
                <a:buFontTx/>
                <a:buNone/>
                <a:tabLst/>
                <a:defRPr/>
              </a:pPr>
              <a:endParaRPr kumimoji="0" lang="en-US" sz="14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endParaRPr>
            </a:p>
          </p:txBody>
        </p:sp>
        <p:pic>
          <p:nvPicPr>
            <p:cNvPr id="4" name="Graphic 3">
              <a:extLst>
                <a:ext uri="{FF2B5EF4-FFF2-40B4-BE49-F238E27FC236}">
                  <a16:creationId xmlns:a16="http://schemas.microsoft.com/office/drawing/2014/main" id="{534F91F9-1133-4CD8-962C-FC00B47F93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33458" y="3250030"/>
              <a:ext cx="1329321" cy="1329321"/>
            </a:xfrm>
            <a:prstGeom prst="rect">
              <a:avLst/>
            </a:prstGeom>
          </p:spPr>
        </p:pic>
      </p:grpSp>
      <p:grpSp>
        <p:nvGrpSpPr>
          <p:cNvPr id="86" name="Group 85">
            <a:extLst>
              <a:ext uri="{FF2B5EF4-FFF2-40B4-BE49-F238E27FC236}">
                <a16:creationId xmlns:a16="http://schemas.microsoft.com/office/drawing/2014/main" id="{06B95097-A201-411C-AEBD-147FB707A04D}"/>
              </a:ext>
              <a:ext uri="{C183D7F6-B498-43B3-948B-1728B52AA6E4}">
                <adec:decorative xmlns:adec="http://schemas.microsoft.com/office/drawing/2017/decorative" val="1"/>
              </a:ext>
            </a:extLst>
          </p:cNvPr>
          <p:cNvGrpSpPr/>
          <p:nvPr/>
        </p:nvGrpSpPr>
        <p:grpSpPr>
          <a:xfrm>
            <a:off x="9241358" y="3197956"/>
            <a:ext cx="538950" cy="538950"/>
            <a:chOff x="9085212" y="3360002"/>
            <a:chExt cx="538950" cy="538950"/>
          </a:xfrm>
        </p:grpSpPr>
        <p:sp>
          <p:nvSpPr>
            <p:cNvPr id="53" name="Oval 52">
              <a:extLst>
                <a:ext uri="{FF2B5EF4-FFF2-40B4-BE49-F238E27FC236}">
                  <a16:creationId xmlns:a16="http://schemas.microsoft.com/office/drawing/2014/main" id="{20DEB1ED-702B-47ED-9782-109310D6859C}"/>
                </a:ext>
              </a:extLst>
            </p:cNvPr>
            <p:cNvSpPr/>
            <p:nvPr/>
          </p:nvSpPr>
          <p:spPr bwMode="auto">
            <a:xfrm>
              <a:off x="9085212" y="3360002"/>
              <a:ext cx="538950" cy="538950"/>
            </a:xfrm>
            <a:prstGeom prst="ellipse">
              <a:avLst/>
            </a:prstGeom>
            <a:solidFill>
              <a:srgbClr val="243A5E"/>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grpSp>
          <p:nvGrpSpPr>
            <p:cNvPr id="65" name="Group 64">
              <a:extLst>
                <a:ext uri="{FF2B5EF4-FFF2-40B4-BE49-F238E27FC236}">
                  <a16:creationId xmlns:a16="http://schemas.microsoft.com/office/drawing/2014/main" id="{0EDE9B46-C31D-4856-9EFC-EDE55F82C1A0}"/>
                </a:ext>
              </a:extLst>
            </p:cNvPr>
            <p:cNvGrpSpPr/>
            <p:nvPr/>
          </p:nvGrpSpPr>
          <p:grpSpPr>
            <a:xfrm>
              <a:off x="9222425" y="3465168"/>
              <a:ext cx="296949" cy="294633"/>
              <a:chOff x="7181797" y="2927467"/>
              <a:chExt cx="883363" cy="876473"/>
            </a:xfrm>
            <a:solidFill>
              <a:schemeClr val="bg1"/>
            </a:solidFill>
          </p:grpSpPr>
          <p:sp>
            <p:nvSpPr>
              <p:cNvPr id="59" name="Freeform: Shape 58">
                <a:extLst>
                  <a:ext uri="{FF2B5EF4-FFF2-40B4-BE49-F238E27FC236}">
                    <a16:creationId xmlns:a16="http://schemas.microsoft.com/office/drawing/2014/main" id="{FF8FE364-A7AA-4258-A270-77A0EE0971E1}"/>
                  </a:ext>
                </a:extLst>
              </p:cNvPr>
              <p:cNvSpPr/>
              <p:nvPr/>
            </p:nvSpPr>
            <p:spPr>
              <a:xfrm>
                <a:off x="7181797" y="3120965"/>
                <a:ext cx="685795" cy="682975"/>
              </a:xfrm>
              <a:custGeom>
                <a:avLst/>
                <a:gdLst>
                  <a:gd name="connsiteX0" fmla="*/ 8199 w 240766"/>
                  <a:gd name="connsiteY0" fmla="*/ 0 h 238771"/>
                  <a:gd name="connsiteX1" fmla="*/ 8234 w 240766"/>
                  <a:gd name="connsiteY1" fmla="*/ 0 h 238771"/>
                  <a:gd name="connsiteX2" fmla="*/ 165810 w 240766"/>
                  <a:gd name="connsiteY2" fmla="*/ 699 h 238771"/>
                  <a:gd name="connsiteX3" fmla="*/ 165810 w 240766"/>
                  <a:gd name="connsiteY3" fmla="*/ 17062 h 238771"/>
                  <a:gd name="connsiteX4" fmla="*/ 16329 w 240766"/>
                  <a:gd name="connsiteY4" fmla="*/ 16398 h 238771"/>
                  <a:gd name="connsiteX5" fmla="*/ 16329 w 240766"/>
                  <a:gd name="connsiteY5" fmla="*/ 222407 h 238771"/>
                  <a:gd name="connsiteX6" fmla="*/ 223888 w 240766"/>
                  <a:gd name="connsiteY6" fmla="*/ 222407 h 238771"/>
                  <a:gd name="connsiteX7" fmla="*/ 224403 w 240766"/>
                  <a:gd name="connsiteY7" fmla="*/ 71903 h 238771"/>
                  <a:gd name="connsiteX8" fmla="*/ 240766 w 240766"/>
                  <a:gd name="connsiteY8" fmla="*/ 71903 h 238771"/>
                  <a:gd name="connsiteX9" fmla="*/ 240217 w 240766"/>
                  <a:gd name="connsiteY9" fmla="*/ 230571 h 238771"/>
                  <a:gd name="connsiteX10" fmla="*/ 232018 w 240766"/>
                  <a:gd name="connsiteY10" fmla="*/ 238736 h 238771"/>
                  <a:gd name="connsiteX11" fmla="*/ 232087 w 240766"/>
                  <a:gd name="connsiteY11" fmla="*/ 238771 h 238771"/>
                  <a:gd name="connsiteX12" fmla="*/ 8199 w 240766"/>
                  <a:gd name="connsiteY12" fmla="*/ 238771 h 238771"/>
                  <a:gd name="connsiteX13" fmla="*/ 0 w 240766"/>
                  <a:gd name="connsiteY13" fmla="*/ 230571 h 238771"/>
                  <a:gd name="connsiteX14" fmla="*/ 0 w 240766"/>
                  <a:gd name="connsiteY14" fmla="*/ 8199 h 238771"/>
                  <a:gd name="connsiteX15" fmla="*/ 2412 w 240766"/>
                  <a:gd name="connsiteY15" fmla="*/ 2377 h 238771"/>
                  <a:gd name="connsiteX16" fmla="*/ 8199 w 240766"/>
                  <a:gd name="connsiteY16" fmla="*/ 0 h 238771"/>
                  <a:gd name="connsiteX0" fmla="*/ 8199 w 240766"/>
                  <a:gd name="connsiteY0" fmla="*/ 0 h 239776"/>
                  <a:gd name="connsiteX1" fmla="*/ 8234 w 240766"/>
                  <a:gd name="connsiteY1" fmla="*/ 0 h 239776"/>
                  <a:gd name="connsiteX2" fmla="*/ 165810 w 240766"/>
                  <a:gd name="connsiteY2" fmla="*/ 699 h 239776"/>
                  <a:gd name="connsiteX3" fmla="*/ 165810 w 240766"/>
                  <a:gd name="connsiteY3" fmla="*/ 17062 h 239776"/>
                  <a:gd name="connsiteX4" fmla="*/ 16329 w 240766"/>
                  <a:gd name="connsiteY4" fmla="*/ 16398 h 239776"/>
                  <a:gd name="connsiteX5" fmla="*/ 16329 w 240766"/>
                  <a:gd name="connsiteY5" fmla="*/ 222407 h 239776"/>
                  <a:gd name="connsiteX6" fmla="*/ 223888 w 240766"/>
                  <a:gd name="connsiteY6" fmla="*/ 222407 h 239776"/>
                  <a:gd name="connsiteX7" fmla="*/ 224403 w 240766"/>
                  <a:gd name="connsiteY7" fmla="*/ 71903 h 239776"/>
                  <a:gd name="connsiteX8" fmla="*/ 240766 w 240766"/>
                  <a:gd name="connsiteY8" fmla="*/ 71903 h 239776"/>
                  <a:gd name="connsiteX9" fmla="*/ 240217 w 240766"/>
                  <a:gd name="connsiteY9" fmla="*/ 230571 h 239776"/>
                  <a:gd name="connsiteX10" fmla="*/ 232018 w 240766"/>
                  <a:gd name="connsiteY10" fmla="*/ 238736 h 239776"/>
                  <a:gd name="connsiteX11" fmla="*/ 8199 w 240766"/>
                  <a:gd name="connsiteY11" fmla="*/ 238771 h 239776"/>
                  <a:gd name="connsiteX12" fmla="*/ 0 w 240766"/>
                  <a:gd name="connsiteY12" fmla="*/ 230571 h 239776"/>
                  <a:gd name="connsiteX13" fmla="*/ 0 w 240766"/>
                  <a:gd name="connsiteY13" fmla="*/ 8199 h 239776"/>
                  <a:gd name="connsiteX14" fmla="*/ 2412 w 240766"/>
                  <a:gd name="connsiteY14" fmla="*/ 2377 h 239776"/>
                  <a:gd name="connsiteX15" fmla="*/ 8199 w 240766"/>
                  <a:gd name="connsiteY15" fmla="*/ 0 h 239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0766" h="239776">
                    <a:moveTo>
                      <a:pt x="8199" y="0"/>
                    </a:moveTo>
                    <a:lnTo>
                      <a:pt x="8234" y="0"/>
                    </a:lnTo>
                    <a:lnTo>
                      <a:pt x="165810" y="699"/>
                    </a:lnTo>
                    <a:lnTo>
                      <a:pt x="165810" y="17062"/>
                    </a:lnTo>
                    <a:lnTo>
                      <a:pt x="16329" y="16398"/>
                    </a:lnTo>
                    <a:lnTo>
                      <a:pt x="16329" y="222407"/>
                    </a:lnTo>
                    <a:lnTo>
                      <a:pt x="223888" y="222407"/>
                    </a:lnTo>
                    <a:cubicBezTo>
                      <a:pt x="224060" y="172239"/>
                      <a:pt x="224231" y="122071"/>
                      <a:pt x="224403" y="71903"/>
                    </a:cubicBezTo>
                    <a:lnTo>
                      <a:pt x="240766" y="71903"/>
                    </a:lnTo>
                    <a:lnTo>
                      <a:pt x="240217" y="230571"/>
                    </a:lnTo>
                    <a:cubicBezTo>
                      <a:pt x="240217" y="235084"/>
                      <a:pt x="236531" y="238736"/>
                      <a:pt x="232018" y="238736"/>
                    </a:cubicBezTo>
                    <a:cubicBezTo>
                      <a:pt x="193348" y="240103"/>
                      <a:pt x="46869" y="240132"/>
                      <a:pt x="8199" y="238771"/>
                    </a:cubicBezTo>
                    <a:cubicBezTo>
                      <a:pt x="3686" y="238771"/>
                      <a:pt x="0" y="235119"/>
                      <a:pt x="0" y="230571"/>
                    </a:cubicBezTo>
                    <a:lnTo>
                      <a:pt x="0" y="8199"/>
                    </a:lnTo>
                    <a:cubicBezTo>
                      <a:pt x="0" y="5995"/>
                      <a:pt x="861" y="3928"/>
                      <a:pt x="2412" y="2377"/>
                    </a:cubicBezTo>
                    <a:cubicBezTo>
                      <a:pt x="3962" y="861"/>
                      <a:pt x="6029" y="0"/>
                      <a:pt x="8199" y="0"/>
                    </a:cubicBezTo>
                    <a:close/>
                  </a:path>
                </a:pathLst>
              </a:custGeom>
              <a:grpFill/>
              <a:ln w="952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pic>
            <p:nvPicPr>
              <p:cNvPr id="64" name="Graphic 63" descr="Pencil with solid fill">
                <a:extLst>
                  <a:ext uri="{FF2B5EF4-FFF2-40B4-BE49-F238E27FC236}">
                    <a16:creationId xmlns:a16="http://schemas.microsoft.com/office/drawing/2014/main" id="{CF136630-2663-44D7-9674-7F7BA5BA3C3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382184" y="2927467"/>
                <a:ext cx="682976" cy="682976"/>
              </a:xfrm>
              <a:prstGeom prst="rect">
                <a:avLst/>
              </a:prstGeom>
            </p:spPr>
          </p:pic>
        </p:grpSp>
      </p:grpSp>
    </p:spTree>
    <p:extLst>
      <p:ext uri="{BB962C8B-B14F-4D97-AF65-F5344CB8AC3E}">
        <p14:creationId xmlns:p14="http://schemas.microsoft.com/office/powerpoint/2010/main" val="14009464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p14="http://schemas.microsoft.com/office/powerpoint/2010/main" xmlns:asvg="http://schemas.microsoft.com/office/drawing/2016/SVG/main" xmlns:a14="http://schemas.microsoft.com/office/drawing/2010/main" xmlns:adec="http://schemas.microsoft.com/office/drawing/2017/decorative"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2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10" presetClass="entr" presetSubtype="0" fill="hold" nodeType="with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fade">
                                      <p:cBhvr>
                                        <p:cTn id="20" dur="500"/>
                                        <p:tgtEl>
                                          <p:spTgt spid="5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nodeType="withEffect">
                                  <p:stCondLst>
                                    <p:cond delay="0"/>
                                  </p:stCondLst>
                                  <p:childTnLst>
                                    <p:set>
                                      <p:cBhvr>
                                        <p:cTn id="32" dur="1" fill="hold">
                                          <p:stCondLst>
                                            <p:cond delay="0"/>
                                          </p:stCondLst>
                                        </p:cTn>
                                        <p:tgtEl>
                                          <p:spTgt spid="86"/>
                                        </p:tgtEl>
                                        <p:attrNameLst>
                                          <p:attrName>style.visibility</p:attrName>
                                        </p:attrNameLst>
                                      </p:cBhvr>
                                      <p:to>
                                        <p:strVal val="visible"/>
                                      </p:to>
                                    </p:set>
                                    <p:animEffect transition="in" filter="fade">
                                      <p:cBhvr>
                                        <p:cTn id="33" dur="500"/>
                                        <p:tgtEl>
                                          <p:spTgt spid="8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fade">
                                      <p:cBhvr>
                                        <p:cTn id="3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40" grpId="0"/>
      <p:bldP spid="12" grpId="0"/>
      <p:bldP spid="41" grpId="0"/>
      <p:bldP spid="2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519E94B-CC39-4D48-970F-CC9BCC70CDF3}"/>
              </a:ext>
              <a:ext uri="{C183D7F6-B498-43B3-948B-1728B52AA6E4}">
                <adec:decorative xmlns:adec="http://schemas.microsoft.com/office/drawing/2017/decorative" val="1"/>
              </a:ext>
            </a:extLst>
          </p:cNvPr>
          <p:cNvSpPr/>
          <p:nvPr/>
        </p:nvSpPr>
        <p:spPr bwMode="auto">
          <a:xfrm>
            <a:off x="442767" y="1376078"/>
            <a:ext cx="11306468" cy="4701253"/>
          </a:xfrm>
          <a:prstGeom prst="roundRect">
            <a:avLst>
              <a:gd name="adj" fmla="val 2996"/>
            </a:avLst>
          </a:prstGeom>
          <a:solidFill>
            <a:schemeClr val="bg1"/>
          </a:solid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82880" rIns="182880" bIns="18288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Pct val="90000"/>
              <a:buFontTx/>
              <a:buNone/>
              <a:tabLst/>
              <a:defRPr/>
            </a:pPr>
            <a:endParaRPr kumimoji="0" lang="en-US" sz="14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endParaRPr>
          </a:p>
        </p:txBody>
      </p:sp>
      <p:sp>
        <p:nvSpPr>
          <p:cNvPr id="2" name="Title 1">
            <a:extLst>
              <a:ext uri="{FF2B5EF4-FFF2-40B4-BE49-F238E27FC236}">
                <a16:creationId xmlns:a16="http://schemas.microsoft.com/office/drawing/2014/main" id="{F6E205B9-51B0-4A17-9A80-03B5675D49D9}"/>
              </a:ext>
            </a:extLst>
          </p:cNvPr>
          <p:cNvSpPr>
            <a:spLocks noGrp="1"/>
          </p:cNvSpPr>
          <p:nvPr>
            <p:ph type="title"/>
          </p:nvPr>
        </p:nvSpPr>
        <p:spPr>
          <a:xfrm>
            <a:off x="442766" y="749822"/>
            <a:ext cx="11306469" cy="397545"/>
          </a:xfrm>
        </p:spPr>
        <p:txBody>
          <a:bodyPr/>
          <a:lstStyle/>
          <a:p>
            <a:r>
              <a:rPr lang="en-US" sz="2800"/>
              <a:t>Cost saving options for different compute usage needs and patterns </a:t>
            </a:r>
          </a:p>
        </p:txBody>
      </p:sp>
      <p:graphicFrame>
        <p:nvGraphicFramePr>
          <p:cNvPr id="3" name="Table 2">
            <a:extLst>
              <a:ext uri="{FF2B5EF4-FFF2-40B4-BE49-F238E27FC236}">
                <a16:creationId xmlns:a16="http://schemas.microsoft.com/office/drawing/2014/main" id="{843DC32A-D22B-446D-9263-5A3A8C48A0DF}"/>
              </a:ext>
            </a:extLst>
          </p:cNvPr>
          <p:cNvGraphicFramePr>
            <a:graphicFrameLocks noGrp="1"/>
          </p:cNvGraphicFramePr>
          <p:nvPr/>
        </p:nvGraphicFramePr>
        <p:xfrm>
          <a:off x="685551" y="1603169"/>
          <a:ext cx="10820900" cy="4271666"/>
        </p:xfrm>
        <a:graphic>
          <a:graphicData uri="http://schemas.openxmlformats.org/drawingml/2006/table">
            <a:tbl>
              <a:tblPr firstRow="1" bandRow="1">
                <a:tableStyleId>{2D5ABB26-0587-4C30-8999-92F81FD0307C}</a:tableStyleId>
              </a:tblPr>
              <a:tblGrid>
                <a:gridCol w="1908952">
                  <a:extLst>
                    <a:ext uri="{9D8B030D-6E8A-4147-A177-3AD203B41FA5}">
                      <a16:colId xmlns:a16="http://schemas.microsoft.com/office/drawing/2014/main" val="51186963"/>
                    </a:ext>
                  </a:extLst>
                </a:gridCol>
                <a:gridCol w="4455974">
                  <a:extLst>
                    <a:ext uri="{9D8B030D-6E8A-4147-A177-3AD203B41FA5}">
                      <a16:colId xmlns:a16="http://schemas.microsoft.com/office/drawing/2014/main" val="1870883913"/>
                    </a:ext>
                  </a:extLst>
                </a:gridCol>
                <a:gridCol w="4455974">
                  <a:extLst>
                    <a:ext uri="{9D8B030D-6E8A-4147-A177-3AD203B41FA5}">
                      <a16:colId xmlns:a16="http://schemas.microsoft.com/office/drawing/2014/main" val="1924324025"/>
                    </a:ext>
                  </a:extLst>
                </a:gridCol>
              </a:tblGrid>
              <a:tr h="1097280">
                <a:tc>
                  <a:txBody>
                    <a:bodyPr/>
                    <a:lstStyle/>
                    <a:p>
                      <a:endParaRPr lang="en-US"/>
                    </a:p>
                  </a:txBody>
                  <a:tcPr marL="182880" marR="18288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857250" lvl="2" indent="0">
                        <a:spcAft>
                          <a:spcPts val="600"/>
                        </a:spcAft>
                      </a:pPr>
                      <a:r>
                        <a:rPr kumimoji="0" lang="en-US" sz="1600" b="0" i="0" u="none" strike="noStrike" kern="1200" cap="none" spc="0" normalizeH="0" baseline="0">
                          <a:ln>
                            <a:noFill/>
                          </a:ln>
                          <a:solidFill>
                            <a:schemeClr val="bg1"/>
                          </a:solidFill>
                          <a:effectLst/>
                          <a:uLnTx/>
                          <a:uFillTx/>
                          <a:latin typeface="Segoe UI Semibold"/>
                          <a:ea typeface="+mn-ea"/>
                          <a:cs typeface="Arial" panose="020B0604020202020204" pitchFamily="34" charset="0"/>
                        </a:rPr>
                        <a:t>Compute savings plan </a:t>
                      </a:r>
                    </a:p>
                    <a:p>
                      <a:pPr marL="857250" lvl="2" indent="0" algn="l" defTabSz="914367" rtl="0" eaLnBrk="1" latinLnBrk="0" hangingPunct="1">
                        <a:spcAft>
                          <a:spcPts val="600"/>
                        </a:spcAft>
                      </a:pP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Most flexible savings for dynamic </a:t>
                      </a:r>
                      <a:b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b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workloads while accommodating </a:t>
                      </a:r>
                      <a:b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b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for planned or unplanned changes</a:t>
                      </a:r>
                    </a:p>
                  </a:txBody>
                  <a:tcPr marL="274320" marR="182880" marT="36576" marB="36576">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801688" lvl="2" indent="0" algn="l" defTabSz="914367" rtl="0" eaLnBrk="1" latinLnBrk="0" hangingPunct="1">
                        <a:spcAft>
                          <a:spcPts val="600"/>
                        </a:spcAft>
                      </a:pPr>
                      <a:r>
                        <a:rPr kumimoji="0" lang="en-US" sz="1600" b="0" i="0" u="none" strike="noStrike" kern="1200" cap="none" spc="0" normalizeH="0" baseline="0">
                          <a:ln>
                            <a:noFill/>
                          </a:ln>
                          <a:solidFill>
                            <a:schemeClr val="bg1"/>
                          </a:solidFill>
                          <a:effectLst/>
                          <a:uLnTx/>
                          <a:uFillTx/>
                          <a:latin typeface="Segoe UI Semibold"/>
                          <a:ea typeface="+mn-ea"/>
                          <a:cs typeface="Arial" panose="020B0604020202020204" pitchFamily="34" charset="0"/>
                        </a:rPr>
                        <a:t>Reserved instances </a:t>
                      </a:r>
                    </a:p>
                    <a:p>
                      <a:pPr marL="801688" marR="0" lvl="1" indent="0" algn="l"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Greatest cost savings for stable, </a:t>
                      </a:r>
                      <a:b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b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predictable workloads with no </a:t>
                      </a:r>
                      <a:b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b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planned changes</a:t>
                      </a:r>
                    </a:p>
                  </a:txBody>
                  <a:tcPr marL="182880" marR="182880" marT="36576" marB="36576">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1473535231"/>
                  </a:ext>
                </a:extLst>
              </a:tr>
              <a:tr h="548640">
                <a:tc>
                  <a:txBody>
                    <a:bodyPr/>
                    <a:lstStyle/>
                    <a:p>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Savings compared to </a:t>
                      </a:r>
                    </a:p>
                    <a:p>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pay-as-you-go </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Save up to 65%</a:t>
                      </a:r>
                    </a:p>
                  </a:txBody>
                  <a:tcPr marL="274320" marR="18288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Save up to 72%*</a:t>
                      </a:r>
                    </a:p>
                  </a:txBody>
                  <a:tcPr marL="182880" marR="18288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3055314846"/>
                  </a:ext>
                </a:extLst>
              </a:tr>
              <a:tr h="731520">
                <a:tc>
                  <a:txBody>
                    <a:bodyPr/>
                    <a:lstStyle/>
                    <a:p>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Commitment type</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Spend a fixed hourly dollar amount on compute </a:t>
                      </a:r>
                      <a:b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b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services collectively (e.g. Spend $5/hour on compute services for 1 year)</a:t>
                      </a:r>
                    </a:p>
                  </a:txBody>
                  <a:tcPr marL="274320" marR="18288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Usage of a specific virtual machine type in a particular </a:t>
                      </a:r>
                      <a:b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b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Azure region (e.g. D2v4 virtual machine in Japan East </a:t>
                      </a:r>
                      <a:b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b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for 1 year)</a:t>
                      </a:r>
                    </a:p>
                  </a:txBody>
                  <a:tcPr marL="182880" marR="18288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2914753939"/>
                  </a:ext>
                </a:extLst>
              </a:tr>
              <a:tr h="640080">
                <a:tc>
                  <a:txBody>
                    <a:bodyPr/>
                    <a:lstStyle/>
                    <a:p>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Savings apply</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Across select services globally, </a:t>
                      </a:r>
                      <a:b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b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up to the hourly commitment </a:t>
                      </a:r>
                    </a:p>
                  </a:txBody>
                  <a:tcPr marL="274320" marR="18288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Directly to the identified compute service </a:t>
                      </a:r>
                      <a:b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b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in a particular region</a:t>
                      </a:r>
                    </a:p>
                  </a:txBody>
                  <a:tcPr marL="182880" marR="18288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2537729460"/>
                  </a:ext>
                </a:extLst>
              </a:tr>
              <a:tr h="383074">
                <a:tc>
                  <a:txBody>
                    <a:bodyPr/>
                    <a:lstStyle/>
                    <a:p>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Term</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367" rtl="0" eaLnBrk="1" fontAlgn="auto"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noProof="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1 or 3 year</a:t>
                      </a:r>
                    </a:p>
                  </a:txBody>
                  <a:tcPr marL="274320" marR="18288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367" rtl="0" eaLnBrk="1" fontAlgn="auto"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noProof="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1 or 3 year</a:t>
                      </a:r>
                    </a:p>
                  </a:txBody>
                  <a:tcPr marL="182880" marR="18288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546804021"/>
                  </a:ext>
                </a:extLst>
              </a:tr>
              <a:tr h="4501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Payment options</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367" rtl="0" eaLnBrk="1" fontAlgn="t"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Upfront or monthly</a:t>
                      </a:r>
                    </a:p>
                  </a:txBody>
                  <a:tcPr marL="274320" marR="18288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367" rtl="0" eaLnBrk="1" fontAlgn="t"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Upfront or monthly</a:t>
                      </a:r>
                    </a:p>
                  </a:txBody>
                  <a:tcPr marL="182880" marR="18288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1390209355"/>
                  </a:ext>
                </a:extLst>
              </a:tr>
              <a:tr h="420891">
                <a:tc>
                  <a:txBody>
                    <a:bodyPr/>
                    <a:lstStyle/>
                    <a:p>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Cancellation</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No cancellations</a:t>
                      </a:r>
                    </a:p>
                  </a:txBody>
                  <a:tcPr marL="274320" marR="18288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367" rtl="0" eaLnBrk="1" fontAlgn="t" latinLnBrk="0" hangingPunct="1">
                        <a:lnSpc>
                          <a:spcPct val="100000"/>
                        </a:lnSpc>
                        <a:spcBef>
                          <a:spcPts val="0"/>
                        </a:spcBef>
                        <a:spcAft>
                          <a:spcPts val="0"/>
                        </a:spcAft>
                        <a:buClrTx/>
                        <a:buSzPct val="100000"/>
                        <a:buFontTx/>
                        <a:buNone/>
                        <a:tabLst/>
                        <a:defRPr/>
                      </a:pPr>
                      <a:r>
                        <a:rPr kumimoji="0" lang="en-US" sz="1200" b="0" i="0" u="none" strike="noStrike" kern="1200" cap="none" spc="0" normalizeH="0" baseline="0" noProof="0" dirty="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U</a:t>
                      </a:r>
                      <a:r>
                        <a:rPr kumimoji="0" lang="en-US" sz="1200" b="0" i="0" u="none" strike="noStrike" kern="1200" cap="none" spc="0" normalizeH="0" baseline="0" dirty="0">
                          <a:ln>
                            <a:noFill/>
                          </a:ln>
                          <a:gradFill>
                            <a:gsLst>
                              <a:gs pos="1250">
                                <a:srgbClr val="1A1A1A"/>
                              </a:gs>
                              <a:gs pos="100000">
                                <a:srgbClr val="1A1A1A"/>
                              </a:gs>
                            </a:gsLst>
                            <a:lin ang="5400000" scaled="0"/>
                          </a:gradFill>
                          <a:effectLst/>
                          <a:uLnTx/>
                          <a:uFillTx/>
                          <a:latin typeface="+mn-lt"/>
                          <a:ea typeface="+mn-ea"/>
                          <a:cs typeface="Arial" panose="020B0604020202020204" pitchFamily="34" charset="0"/>
                        </a:rPr>
                        <a:t>p to $50,000 USD</a:t>
                      </a:r>
                    </a:p>
                  </a:txBody>
                  <a:tcPr marL="182880" marR="18288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76197745"/>
                  </a:ext>
                </a:extLst>
              </a:tr>
            </a:tbl>
          </a:graphicData>
        </a:graphic>
      </p:graphicFrame>
      <p:pic>
        <p:nvPicPr>
          <p:cNvPr id="15" name="Graphic 14" descr="Azure savings plan for compute icon">
            <a:extLst>
              <a:ext uri="{FF2B5EF4-FFF2-40B4-BE49-F238E27FC236}">
                <a16:creationId xmlns:a16="http://schemas.microsoft.com/office/drawing/2014/main" id="{99215CA8-6584-4FE6-863A-62FCBE8F00D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83432" y="1652787"/>
            <a:ext cx="532896" cy="532896"/>
          </a:xfrm>
          <a:prstGeom prst="rect">
            <a:avLst/>
          </a:prstGeom>
        </p:spPr>
      </p:pic>
      <p:pic>
        <p:nvPicPr>
          <p:cNvPr id="17" name="Graphic 16" descr="Azure Reserved Instances icon">
            <a:extLst>
              <a:ext uri="{FF2B5EF4-FFF2-40B4-BE49-F238E27FC236}">
                <a16:creationId xmlns:a16="http://schemas.microsoft.com/office/drawing/2014/main" id="{63C27DB2-8A25-4ACC-8C2D-27F40FE4BD3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13395" y="1652787"/>
            <a:ext cx="532896" cy="532896"/>
          </a:xfrm>
          <a:prstGeom prst="rect">
            <a:avLst/>
          </a:prstGeom>
        </p:spPr>
      </p:pic>
      <p:sp>
        <p:nvSpPr>
          <p:cNvPr id="9" name="TextBox 8">
            <a:extLst>
              <a:ext uri="{FF2B5EF4-FFF2-40B4-BE49-F238E27FC236}">
                <a16:creationId xmlns:a16="http://schemas.microsoft.com/office/drawing/2014/main" id="{2334D3F9-6A16-414D-AFAB-474044E8826D}"/>
              </a:ext>
            </a:extLst>
          </p:cNvPr>
          <p:cNvSpPr txBox="1"/>
          <p:nvPr/>
        </p:nvSpPr>
        <p:spPr>
          <a:xfrm>
            <a:off x="2774866" y="1603169"/>
            <a:ext cx="4049797" cy="338554"/>
          </a:xfrm>
          <a:prstGeom prst="rect">
            <a:avLst/>
          </a:prstGeom>
          <a:noFill/>
        </p:spPr>
        <p:txBody>
          <a:bodyPr wrap="square" lIns="91440">
            <a:spAutoFit/>
          </a:bodyPr>
          <a:lstStyle/>
          <a:p>
            <a:pPr marL="857250" marR="0" lvl="2" indent="0" algn="l" defTabSz="914367"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gradFill>
                  <a:gsLst>
                    <a:gs pos="1250">
                      <a:srgbClr val="0078D3"/>
                    </a:gs>
                    <a:gs pos="100000">
                      <a:srgbClr val="0078D3"/>
                    </a:gs>
                  </a:gsLst>
                  <a:lin ang="5400000" scaled="0"/>
                </a:gradFill>
                <a:effectLst/>
                <a:uLnTx/>
                <a:uFillTx/>
                <a:latin typeface="Segoe UI Semibold"/>
                <a:ea typeface="+mn-ea"/>
                <a:cs typeface="Arial" panose="020B0604020202020204" pitchFamily="34" charset="0"/>
              </a:rPr>
              <a:t>Azure savings plan for compute </a:t>
            </a:r>
          </a:p>
        </p:txBody>
      </p:sp>
      <p:sp>
        <p:nvSpPr>
          <p:cNvPr id="11" name="TextBox 10">
            <a:extLst>
              <a:ext uri="{FF2B5EF4-FFF2-40B4-BE49-F238E27FC236}">
                <a16:creationId xmlns:a16="http://schemas.microsoft.com/office/drawing/2014/main" id="{F3B532B6-F3F5-4075-8BE0-872E9198BBA2}"/>
              </a:ext>
            </a:extLst>
          </p:cNvPr>
          <p:cNvSpPr txBox="1"/>
          <p:nvPr/>
        </p:nvSpPr>
        <p:spPr>
          <a:xfrm>
            <a:off x="7154795" y="1603169"/>
            <a:ext cx="3070293" cy="338554"/>
          </a:xfrm>
          <a:prstGeom prst="rect">
            <a:avLst/>
          </a:prstGeom>
          <a:noFill/>
        </p:spPr>
        <p:txBody>
          <a:bodyPr wrap="square" lIns="91440">
            <a:spAutoFit/>
          </a:bodyPr>
          <a:lstStyle/>
          <a:p>
            <a:pPr marL="801688" marR="0" lvl="2" indent="0" algn="l" defTabSz="914367"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gradFill>
                  <a:gsLst>
                    <a:gs pos="1250">
                      <a:srgbClr val="0078D3"/>
                    </a:gs>
                    <a:gs pos="100000">
                      <a:srgbClr val="0078D3"/>
                    </a:gs>
                  </a:gsLst>
                  <a:lin ang="5400000" scaled="0"/>
                </a:gradFill>
                <a:effectLst/>
                <a:uLnTx/>
                <a:uFillTx/>
                <a:latin typeface="Segoe UI Semibold"/>
                <a:ea typeface="+mn-ea"/>
                <a:cs typeface="Arial" panose="020B0604020202020204" pitchFamily="34" charset="0"/>
              </a:rPr>
              <a:t>Reserved Instances</a:t>
            </a:r>
          </a:p>
        </p:txBody>
      </p:sp>
      <p:sp>
        <p:nvSpPr>
          <p:cNvPr id="5" name="TextBox 4">
            <a:extLst>
              <a:ext uri="{FF2B5EF4-FFF2-40B4-BE49-F238E27FC236}">
                <a16:creationId xmlns:a16="http://schemas.microsoft.com/office/drawing/2014/main" id="{75C94047-9461-DD3E-24F1-D67DC5C96CE3}"/>
              </a:ext>
            </a:extLst>
          </p:cNvPr>
          <p:cNvSpPr txBox="1"/>
          <p:nvPr/>
        </p:nvSpPr>
        <p:spPr>
          <a:xfrm>
            <a:off x="514352" y="6196505"/>
            <a:ext cx="10992099" cy="553998"/>
          </a:xfrm>
          <a:prstGeom prst="rect">
            <a:avLst/>
          </a:prstGeom>
          <a:noFill/>
        </p:spPr>
        <p:txBody>
          <a:bodyPr wrap="square">
            <a:spAutoFit/>
          </a:bodyPr>
          <a:lstStyle/>
          <a:p>
            <a:r>
              <a:rPr lang="en-US" sz="1000" b="0" i="0">
                <a:solidFill>
                  <a:srgbClr val="4C4C51"/>
                </a:solidFill>
                <a:effectLst/>
                <a:latin typeface="Segoe UI" panose="020B0502040204020203" pitchFamily="34" charset="0"/>
              </a:rPr>
              <a:t>*The 72 percent saving is based on one M32ts Azure VM for SUSE Linux Enterprise + 24x7 Support OS in the West US 2 region running for 36 months at a pay-as-you-go rate of ~$1,976.11/month; reduced rate for a 3-year reserved instance of ~$552.85/month. Azure pricing as of February 22, 2022. Prices subject to change. Actual savings may vary based on location, instance type, or usage.</a:t>
            </a:r>
            <a:endParaRPr lang="en-US" sz="1000"/>
          </a:p>
        </p:txBody>
      </p:sp>
    </p:spTree>
    <p:extLst>
      <p:ext uri="{BB962C8B-B14F-4D97-AF65-F5344CB8AC3E}">
        <p14:creationId xmlns:p14="http://schemas.microsoft.com/office/powerpoint/2010/main" val="3080958113"/>
      </p:ext>
    </p:extLst>
  </p:cSld>
  <p:clrMapOvr>
    <a:masterClrMapping/>
  </p:clrMapOvr>
  <mc:AlternateContent xmlns:mc="http://schemas.openxmlformats.org/markup-compatibility/2006" xmlns:p14="http://schemas.microsoft.com/office/powerpoint/2010/main">
    <mc:Choice Requires="p14">
      <p:transition p14:dur="0"/>
    </mc:Choice>
    <mc:Fallback xmlns:asvg="http://schemas.microsoft.com/office/drawing/2016/SVG/main" xmlns:a14="http://schemas.microsoft.com/office/drawing/2010/main" xmlns:adec="http://schemas.microsoft.com/office/drawing/2017/decorative" xmlns:a16="http://schemas.microsoft.com/office/drawing/2014/main"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19FF3E92-7B1F-4EB4-A3DC-30AECE207311}"/>
              </a:ext>
              <a:ext uri="{C183D7F6-B498-43B3-948B-1728B52AA6E4}">
                <adec:decorative xmlns:adec="http://schemas.microsoft.com/office/drawing/2017/decorative" val="1"/>
              </a:ext>
            </a:extLst>
          </p:cNvPr>
          <p:cNvSpPr/>
          <p:nvPr/>
        </p:nvSpPr>
        <p:spPr bwMode="auto">
          <a:xfrm>
            <a:off x="455613" y="1937544"/>
            <a:ext cx="11280770" cy="3754264"/>
          </a:xfrm>
          <a:prstGeom prst="roundRect">
            <a:avLst>
              <a:gd name="adj" fmla="val 3104"/>
            </a:avLst>
          </a:prstGeom>
          <a:solidFill>
            <a:schemeClr val="bg1"/>
          </a:solidFill>
          <a:ln>
            <a:noFill/>
            <a:headEnd type="none" w="med" len="med"/>
            <a:tailEnd type="none" w="med" len="med"/>
          </a:ln>
          <a:effectLst>
            <a:outerShdw blurRad="190500" dist="38100" dir="5400000" algn="ctr"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1200"/>
              </a:spcAft>
              <a:buClr>
                <a:srgbClr val="000000"/>
              </a:buClr>
              <a:buSzPct val="90000"/>
              <a:buFont typeface="Wingdings" panose="05000000000000000000" pitchFamily="2" charset="2"/>
              <a:buNone/>
              <a:tabLst/>
              <a:defRPr/>
            </a:pPr>
            <a:endParaRPr kumimoji="0" lang="en-US" sz="14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endParaRPr>
          </a:p>
        </p:txBody>
      </p:sp>
      <p:sp>
        <p:nvSpPr>
          <p:cNvPr id="25" name="Rectangle: Top Corners Rounded 24">
            <a:extLst>
              <a:ext uri="{FF2B5EF4-FFF2-40B4-BE49-F238E27FC236}">
                <a16:creationId xmlns:a16="http://schemas.microsoft.com/office/drawing/2014/main" id="{21EA0FD0-C467-4241-BCF2-AA66F8F2A7AE}"/>
              </a:ext>
              <a:ext uri="{C183D7F6-B498-43B3-948B-1728B52AA6E4}">
                <adec:decorative xmlns:adec="http://schemas.microsoft.com/office/drawing/2017/decorative" val="1"/>
              </a:ext>
            </a:extLst>
          </p:cNvPr>
          <p:cNvSpPr/>
          <p:nvPr/>
        </p:nvSpPr>
        <p:spPr bwMode="auto">
          <a:xfrm rot="5400000" flipV="1">
            <a:off x="204597" y="2188564"/>
            <a:ext cx="3754264" cy="3252232"/>
          </a:xfrm>
          <a:prstGeom prst="round2SameRect">
            <a:avLst>
              <a:gd name="adj1" fmla="val 3295"/>
              <a:gd name="adj2" fmla="val 0"/>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F11602C7-809E-4DEB-95E5-8B40507210CB}"/>
              </a:ext>
            </a:extLst>
          </p:cNvPr>
          <p:cNvSpPr>
            <a:spLocks noGrp="1"/>
          </p:cNvSpPr>
          <p:nvPr>
            <p:ph type="title"/>
          </p:nvPr>
        </p:nvSpPr>
        <p:spPr>
          <a:xfrm>
            <a:off x="455995" y="620428"/>
            <a:ext cx="11306469" cy="367858"/>
          </a:xfrm>
        </p:spPr>
        <p:txBody>
          <a:bodyPr/>
          <a:lstStyle/>
          <a:p>
            <a:r>
              <a:rPr lang="en-US" sz="2400"/>
              <a:t>Customers may have both Azure savings plan for compute and Reserved Instances</a:t>
            </a:r>
          </a:p>
        </p:txBody>
      </p:sp>
      <p:sp>
        <p:nvSpPr>
          <p:cNvPr id="24" name="TextBox 23">
            <a:extLst>
              <a:ext uri="{FF2B5EF4-FFF2-40B4-BE49-F238E27FC236}">
                <a16:creationId xmlns:a16="http://schemas.microsoft.com/office/drawing/2014/main" id="{44F2EF41-65A0-40C4-931A-21ED14241D5A}"/>
              </a:ext>
            </a:extLst>
          </p:cNvPr>
          <p:cNvSpPr txBox="1"/>
          <p:nvPr/>
        </p:nvSpPr>
        <p:spPr>
          <a:xfrm>
            <a:off x="455995" y="1038118"/>
            <a:ext cx="11108486" cy="36933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49" normalizeH="0" baseline="0" noProof="0">
                <a:ln w="3175">
                  <a:noFill/>
                </a:ln>
                <a:gradFill>
                  <a:gsLst>
                    <a:gs pos="83000">
                      <a:srgbClr val="243A5E"/>
                    </a:gs>
                    <a:gs pos="100000">
                      <a:srgbClr val="243A5E"/>
                    </a:gs>
                  </a:gsLst>
                  <a:lin ang="5400000" scaled="1"/>
                </a:gradFill>
                <a:effectLst/>
                <a:uLnTx/>
                <a:uFillTx/>
                <a:latin typeface="Segoe UI Semibold"/>
                <a:ea typeface="+mn-ea"/>
                <a:cs typeface="Segoe UI" pitchFamily="34" charset="0"/>
              </a:rPr>
              <a:t>We automatically maximize customer benefit and savings across eligible usage each hour</a:t>
            </a:r>
          </a:p>
        </p:txBody>
      </p:sp>
      <p:sp>
        <p:nvSpPr>
          <p:cNvPr id="32" name="TextBox 31">
            <a:extLst>
              <a:ext uri="{FF2B5EF4-FFF2-40B4-BE49-F238E27FC236}">
                <a16:creationId xmlns:a16="http://schemas.microsoft.com/office/drawing/2014/main" id="{43FF0C15-5651-9476-4D0C-0FB4B8B49C2E}"/>
              </a:ext>
              <a:ext uri="{C183D7F6-B498-43B3-948B-1728B52AA6E4}">
                <adec:decorative xmlns:adec="http://schemas.microsoft.com/office/drawing/2017/decorative" val="1"/>
              </a:ext>
            </a:extLst>
          </p:cNvPr>
          <p:cNvSpPr txBox="1"/>
          <p:nvPr/>
        </p:nvSpPr>
        <p:spPr>
          <a:xfrm>
            <a:off x="4459132" y="4908848"/>
            <a:ext cx="6704173"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gradFill>
                  <a:gsLst>
                    <a:gs pos="54400">
                      <a:srgbClr val="000000"/>
                    </a:gs>
                    <a:gs pos="100000">
                      <a:srgbClr val="000000"/>
                    </a:gs>
                  </a:gsLst>
                  <a:lin ang="0" scaled="0"/>
                </a:gradFill>
                <a:effectLst/>
                <a:uLnTx/>
                <a:uFillTx/>
                <a:latin typeface="Segoe UI Semibold"/>
                <a:ea typeface="+mn-ea"/>
                <a:cs typeface="Segoe UI" panose="020B0502040204020203" pitchFamily="34" charset="0"/>
              </a:rPr>
              <a:t>Each term is unique and based on date of purchase</a:t>
            </a:r>
          </a:p>
        </p:txBody>
      </p:sp>
      <p:grpSp>
        <p:nvGrpSpPr>
          <p:cNvPr id="8" name="Group 7">
            <a:extLst>
              <a:ext uri="{FF2B5EF4-FFF2-40B4-BE49-F238E27FC236}">
                <a16:creationId xmlns:a16="http://schemas.microsoft.com/office/drawing/2014/main" id="{B943B8B6-F54E-431E-B0D3-BB329E653576}"/>
              </a:ext>
              <a:ext uri="{C183D7F6-B498-43B3-948B-1728B52AA6E4}">
                <adec:decorative xmlns:adec="http://schemas.microsoft.com/office/drawing/2017/decorative" val="1"/>
              </a:ext>
            </a:extLst>
          </p:cNvPr>
          <p:cNvGrpSpPr/>
          <p:nvPr/>
        </p:nvGrpSpPr>
        <p:grpSpPr>
          <a:xfrm>
            <a:off x="4167414" y="2298925"/>
            <a:ext cx="7287271" cy="2259555"/>
            <a:chOff x="4167414" y="2298925"/>
            <a:chExt cx="7287271" cy="2259555"/>
          </a:xfrm>
        </p:grpSpPr>
        <p:cxnSp>
          <p:nvCxnSpPr>
            <p:cNvPr id="39" name="Straight Connector 38">
              <a:extLst>
                <a:ext uri="{FF2B5EF4-FFF2-40B4-BE49-F238E27FC236}">
                  <a16:creationId xmlns:a16="http://schemas.microsoft.com/office/drawing/2014/main" id="{C65131C2-A071-4F5E-892E-4F5D5C4A5FC9}"/>
                </a:ext>
                <a:ext uri="{C183D7F6-B498-43B3-948B-1728B52AA6E4}">
                  <adec:decorative xmlns:adec="http://schemas.microsoft.com/office/drawing/2017/decorative" val="1"/>
                </a:ext>
              </a:extLst>
            </p:cNvPr>
            <p:cNvCxnSpPr>
              <a:cxnSpLocks/>
            </p:cNvCxnSpPr>
            <p:nvPr/>
          </p:nvCxnSpPr>
          <p:spPr>
            <a:xfrm>
              <a:off x="8928584" y="2719995"/>
              <a:ext cx="0" cy="1838485"/>
            </a:xfrm>
            <a:prstGeom prst="line">
              <a:avLst/>
            </a:prstGeom>
            <a:noFill/>
            <a:ln w="28575" cap="rnd" cmpd="sng" algn="ctr">
              <a:solidFill>
                <a:schemeClr val="accent6">
                  <a:lumMod val="75000"/>
                </a:schemeClr>
              </a:solidFill>
              <a:prstDash val="solid"/>
              <a:headEnd type="none" w="lg" len="med"/>
              <a:tailEnd type="none" w="lg" len="med"/>
            </a:ln>
            <a:effectLst/>
          </p:spPr>
        </p:cxnSp>
        <p:cxnSp>
          <p:nvCxnSpPr>
            <p:cNvPr id="40" name="Straight Connector 39">
              <a:extLst>
                <a:ext uri="{FF2B5EF4-FFF2-40B4-BE49-F238E27FC236}">
                  <a16:creationId xmlns:a16="http://schemas.microsoft.com/office/drawing/2014/main" id="{648223B6-AE42-444F-81D8-C4C4DD374CD8}"/>
                </a:ext>
                <a:ext uri="{C183D7F6-B498-43B3-948B-1728B52AA6E4}">
                  <adec:decorative xmlns:adec="http://schemas.microsoft.com/office/drawing/2017/decorative" val="1"/>
                </a:ext>
              </a:extLst>
            </p:cNvPr>
            <p:cNvCxnSpPr>
              <a:cxnSpLocks/>
            </p:cNvCxnSpPr>
            <p:nvPr/>
          </p:nvCxnSpPr>
          <p:spPr>
            <a:xfrm>
              <a:off x="6693859" y="2719995"/>
              <a:ext cx="0" cy="1838485"/>
            </a:xfrm>
            <a:prstGeom prst="line">
              <a:avLst/>
            </a:prstGeom>
            <a:noFill/>
            <a:ln w="28575" cap="rnd" cmpd="sng" algn="ctr">
              <a:solidFill>
                <a:schemeClr val="accent6">
                  <a:lumMod val="75000"/>
                </a:schemeClr>
              </a:solidFill>
              <a:prstDash val="solid"/>
              <a:headEnd type="none" w="lg" len="med"/>
              <a:tailEnd type="none" w="lg" len="med"/>
            </a:ln>
            <a:effectLst/>
          </p:spPr>
        </p:cxnSp>
        <p:cxnSp>
          <p:nvCxnSpPr>
            <p:cNvPr id="41" name="Straight Connector 40">
              <a:extLst>
                <a:ext uri="{FF2B5EF4-FFF2-40B4-BE49-F238E27FC236}">
                  <a16:creationId xmlns:a16="http://schemas.microsoft.com/office/drawing/2014/main" id="{2C8CB493-13D8-4538-BA71-7AC67D3DDEB1}"/>
                </a:ext>
                <a:ext uri="{C183D7F6-B498-43B3-948B-1728B52AA6E4}">
                  <adec:decorative xmlns:adec="http://schemas.microsoft.com/office/drawing/2017/decorative" val="1"/>
                </a:ext>
              </a:extLst>
            </p:cNvPr>
            <p:cNvCxnSpPr>
              <a:cxnSpLocks/>
            </p:cNvCxnSpPr>
            <p:nvPr/>
          </p:nvCxnSpPr>
          <p:spPr>
            <a:xfrm>
              <a:off x="4459137" y="2719995"/>
              <a:ext cx="0" cy="1838485"/>
            </a:xfrm>
            <a:prstGeom prst="line">
              <a:avLst/>
            </a:prstGeom>
            <a:noFill/>
            <a:ln w="28575" cap="rnd" cmpd="sng" algn="ctr">
              <a:solidFill>
                <a:schemeClr val="accent6">
                  <a:lumMod val="75000"/>
                </a:schemeClr>
              </a:solidFill>
              <a:prstDash val="solid"/>
              <a:headEnd type="none" w="lg" len="med"/>
              <a:tailEnd type="none" w="lg" len="med"/>
            </a:ln>
            <a:effectLst/>
          </p:spPr>
        </p:cxnSp>
        <p:sp>
          <p:nvSpPr>
            <p:cNvPr id="47" name="TextBox 46">
              <a:extLst>
                <a:ext uri="{FF2B5EF4-FFF2-40B4-BE49-F238E27FC236}">
                  <a16:creationId xmlns:a16="http://schemas.microsoft.com/office/drawing/2014/main" id="{ABCD2495-E1A3-466A-AE99-7C7FF1E0B9C8}"/>
                </a:ext>
                <a:ext uri="{C183D7F6-B498-43B3-948B-1728B52AA6E4}">
                  <adec:decorative xmlns:adec="http://schemas.microsoft.com/office/drawing/2017/decorative" val="1"/>
                </a:ext>
              </a:extLst>
            </p:cNvPr>
            <p:cNvSpPr txBox="1"/>
            <p:nvPr/>
          </p:nvSpPr>
          <p:spPr>
            <a:xfrm>
              <a:off x="4167414" y="2298925"/>
              <a:ext cx="583446" cy="320738"/>
            </a:xfrm>
            <a:prstGeom prst="roundRect">
              <a:avLst>
                <a:gd name="adj" fmla="val 50000"/>
              </a:avLst>
            </a:prstGeom>
            <a:noFill/>
            <a:ln w="28575">
              <a:noFill/>
            </a:ln>
          </p:spPr>
          <p:txBody>
            <a:bodyPr wrap="none" lIns="0" r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Year 0</a:t>
              </a:r>
            </a:p>
          </p:txBody>
        </p:sp>
        <p:sp>
          <p:nvSpPr>
            <p:cNvPr id="48" name="TextBox 47">
              <a:extLst>
                <a:ext uri="{FF2B5EF4-FFF2-40B4-BE49-F238E27FC236}">
                  <a16:creationId xmlns:a16="http://schemas.microsoft.com/office/drawing/2014/main" id="{6F52D0C3-9B53-4807-B1F2-729C33184432}"/>
                </a:ext>
                <a:ext uri="{C183D7F6-B498-43B3-948B-1728B52AA6E4}">
                  <adec:decorative xmlns:adec="http://schemas.microsoft.com/office/drawing/2017/decorative" val="1"/>
                </a:ext>
              </a:extLst>
            </p:cNvPr>
            <p:cNvSpPr txBox="1"/>
            <p:nvPr/>
          </p:nvSpPr>
          <p:spPr>
            <a:xfrm>
              <a:off x="8631447" y="2298925"/>
              <a:ext cx="583446" cy="320738"/>
            </a:xfrm>
            <a:prstGeom prst="roundRect">
              <a:avLst>
                <a:gd name="adj" fmla="val 50000"/>
              </a:avLst>
            </a:prstGeom>
            <a:noFill/>
            <a:ln w="28575">
              <a:noFill/>
            </a:ln>
          </p:spPr>
          <p:txBody>
            <a:bodyPr wrap="none" lIns="0" r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Year 2</a:t>
              </a:r>
            </a:p>
          </p:txBody>
        </p:sp>
        <p:cxnSp>
          <p:nvCxnSpPr>
            <p:cNvPr id="52" name="Straight Arrow Connector 51">
              <a:extLst>
                <a:ext uri="{FF2B5EF4-FFF2-40B4-BE49-F238E27FC236}">
                  <a16:creationId xmlns:a16="http://schemas.microsoft.com/office/drawing/2014/main" id="{4CEBDE61-8239-4D74-8222-A8DD3276036C}"/>
                </a:ext>
                <a:ext uri="{C183D7F6-B498-43B3-948B-1728B52AA6E4}">
                  <adec:decorative xmlns:adec="http://schemas.microsoft.com/office/drawing/2017/decorative" val="1"/>
                </a:ext>
              </a:extLst>
            </p:cNvPr>
            <p:cNvCxnSpPr>
              <a:cxnSpLocks/>
            </p:cNvCxnSpPr>
            <p:nvPr/>
          </p:nvCxnSpPr>
          <p:spPr>
            <a:xfrm>
              <a:off x="4459134" y="2737440"/>
              <a:ext cx="6961413" cy="0"/>
            </a:xfrm>
            <a:prstGeom prst="straightConnector1">
              <a:avLst/>
            </a:prstGeom>
            <a:ln w="3810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87E0AD6-FD26-41B5-902D-09FD31A556C6}"/>
                </a:ext>
                <a:ext uri="{C183D7F6-B498-43B3-948B-1728B52AA6E4}">
                  <adec:decorative xmlns:adec="http://schemas.microsoft.com/office/drawing/2017/decorative" val="1"/>
                </a:ext>
              </a:extLst>
            </p:cNvPr>
            <p:cNvCxnSpPr>
              <a:cxnSpLocks/>
            </p:cNvCxnSpPr>
            <p:nvPr/>
          </p:nvCxnSpPr>
          <p:spPr>
            <a:xfrm flipV="1">
              <a:off x="4459134" y="2654954"/>
              <a:ext cx="0" cy="158083"/>
            </a:xfrm>
            <a:prstGeom prst="line">
              <a:avLst/>
            </a:prstGeom>
            <a:ln w="3810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A645F13-D5F0-4987-9D41-637DA4E66ECE}"/>
                </a:ext>
                <a:ext uri="{C183D7F6-B498-43B3-948B-1728B52AA6E4}">
                  <adec:decorative xmlns:adec="http://schemas.microsoft.com/office/drawing/2017/decorative" val="1"/>
                </a:ext>
              </a:extLst>
            </p:cNvPr>
            <p:cNvCxnSpPr>
              <a:cxnSpLocks/>
            </p:cNvCxnSpPr>
            <p:nvPr/>
          </p:nvCxnSpPr>
          <p:spPr>
            <a:xfrm flipV="1">
              <a:off x="6693859" y="2654954"/>
              <a:ext cx="0" cy="158083"/>
            </a:xfrm>
            <a:prstGeom prst="line">
              <a:avLst/>
            </a:prstGeom>
            <a:ln w="3810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76E9A60-E364-48AB-9EF5-DB6089FFEBD8}"/>
                </a:ext>
                <a:ext uri="{C183D7F6-B498-43B3-948B-1728B52AA6E4}">
                  <adec:decorative xmlns:adec="http://schemas.microsoft.com/office/drawing/2017/decorative" val="1"/>
                </a:ext>
              </a:extLst>
            </p:cNvPr>
            <p:cNvCxnSpPr>
              <a:cxnSpLocks/>
            </p:cNvCxnSpPr>
            <p:nvPr/>
          </p:nvCxnSpPr>
          <p:spPr>
            <a:xfrm flipV="1">
              <a:off x="8928584" y="2665610"/>
              <a:ext cx="0" cy="158083"/>
            </a:xfrm>
            <a:prstGeom prst="line">
              <a:avLst/>
            </a:prstGeom>
            <a:ln w="3810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1BE4345-A06E-496B-B4CB-60C4355E260D}"/>
                </a:ext>
                <a:ext uri="{C183D7F6-B498-43B3-948B-1728B52AA6E4}">
                  <adec:decorative xmlns:adec="http://schemas.microsoft.com/office/drawing/2017/decorative" val="1"/>
                </a:ext>
              </a:extLst>
            </p:cNvPr>
            <p:cNvSpPr txBox="1"/>
            <p:nvPr/>
          </p:nvSpPr>
          <p:spPr>
            <a:xfrm>
              <a:off x="6387611" y="2298925"/>
              <a:ext cx="583446" cy="320738"/>
            </a:xfrm>
            <a:prstGeom prst="roundRect">
              <a:avLst>
                <a:gd name="adj" fmla="val 50000"/>
              </a:avLst>
            </a:prstGeom>
            <a:noFill/>
            <a:ln w="28575">
              <a:noFill/>
            </a:ln>
          </p:spPr>
          <p:txBody>
            <a:bodyPr wrap="none" lIns="0" r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Year 1</a:t>
              </a:r>
            </a:p>
          </p:txBody>
        </p:sp>
        <p:cxnSp>
          <p:nvCxnSpPr>
            <p:cNvPr id="31" name="Straight Connector 30">
              <a:extLst>
                <a:ext uri="{FF2B5EF4-FFF2-40B4-BE49-F238E27FC236}">
                  <a16:creationId xmlns:a16="http://schemas.microsoft.com/office/drawing/2014/main" id="{1C6FFABC-88EF-4114-897F-0095CE7689E0}"/>
                </a:ext>
                <a:ext uri="{C183D7F6-B498-43B3-948B-1728B52AA6E4}">
                  <adec:decorative xmlns:adec="http://schemas.microsoft.com/office/drawing/2017/decorative" val="1"/>
                </a:ext>
              </a:extLst>
            </p:cNvPr>
            <p:cNvCxnSpPr>
              <a:cxnSpLocks/>
            </p:cNvCxnSpPr>
            <p:nvPr/>
          </p:nvCxnSpPr>
          <p:spPr>
            <a:xfrm>
              <a:off x="11163309" y="2719995"/>
              <a:ext cx="0" cy="1838485"/>
            </a:xfrm>
            <a:prstGeom prst="line">
              <a:avLst/>
            </a:prstGeom>
            <a:noFill/>
            <a:ln w="28575" cap="rnd" cmpd="sng" algn="ctr">
              <a:solidFill>
                <a:schemeClr val="accent6">
                  <a:lumMod val="75000"/>
                </a:schemeClr>
              </a:solidFill>
              <a:prstDash val="solid"/>
              <a:headEnd type="none" w="lg" len="med"/>
              <a:tailEnd type="none" w="lg" len="med"/>
            </a:ln>
            <a:effectLst/>
          </p:spPr>
        </p:cxnSp>
        <p:cxnSp>
          <p:nvCxnSpPr>
            <p:cNvPr id="35" name="Straight Connector 34">
              <a:extLst>
                <a:ext uri="{FF2B5EF4-FFF2-40B4-BE49-F238E27FC236}">
                  <a16:creationId xmlns:a16="http://schemas.microsoft.com/office/drawing/2014/main" id="{1541F109-506E-41E8-9CD0-FE4F8D9413D4}"/>
                </a:ext>
                <a:ext uri="{C183D7F6-B498-43B3-948B-1728B52AA6E4}">
                  <adec:decorative xmlns:adec="http://schemas.microsoft.com/office/drawing/2017/decorative" val="1"/>
                </a:ext>
              </a:extLst>
            </p:cNvPr>
            <p:cNvCxnSpPr>
              <a:cxnSpLocks/>
            </p:cNvCxnSpPr>
            <p:nvPr/>
          </p:nvCxnSpPr>
          <p:spPr>
            <a:xfrm flipV="1">
              <a:off x="11163309" y="2665610"/>
              <a:ext cx="0" cy="158083"/>
            </a:xfrm>
            <a:prstGeom prst="line">
              <a:avLst/>
            </a:prstGeom>
            <a:ln w="3810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B98E359A-309A-4EEE-8C77-87E9BE9CC794}"/>
                </a:ext>
                <a:ext uri="{C183D7F6-B498-43B3-948B-1728B52AA6E4}">
                  <adec:decorative xmlns:adec="http://schemas.microsoft.com/office/drawing/2017/decorative" val="1"/>
                </a:ext>
              </a:extLst>
            </p:cNvPr>
            <p:cNvSpPr txBox="1"/>
            <p:nvPr/>
          </p:nvSpPr>
          <p:spPr>
            <a:xfrm>
              <a:off x="10871239" y="2298925"/>
              <a:ext cx="583446" cy="320738"/>
            </a:xfrm>
            <a:prstGeom prst="roundRect">
              <a:avLst>
                <a:gd name="adj" fmla="val 50000"/>
              </a:avLst>
            </a:prstGeom>
            <a:noFill/>
            <a:ln w="28575">
              <a:noFill/>
            </a:ln>
          </p:spPr>
          <p:txBody>
            <a:bodyPr wrap="none" lIns="0" r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Year 3</a:t>
              </a:r>
            </a:p>
          </p:txBody>
        </p:sp>
      </p:grpSp>
      <p:sp>
        <p:nvSpPr>
          <p:cNvPr id="37" name="Oval 36">
            <a:extLst>
              <a:ext uri="{FF2B5EF4-FFF2-40B4-BE49-F238E27FC236}">
                <a16:creationId xmlns:a16="http://schemas.microsoft.com/office/drawing/2014/main" id="{4CF289D1-5DBE-4150-A741-654AB199CDAC}"/>
              </a:ext>
              <a:ext uri="{C183D7F6-B498-43B3-948B-1728B52AA6E4}">
                <adec:decorative xmlns:adec="http://schemas.microsoft.com/office/drawing/2017/decorative" val="1"/>
              </a:ext>
            </a:extLst>
          </p:cNvPr>
          <p:cNvSpPr/>
          <p:nvPr/>
        </p:nvSpPr>
        <p:spPr bwMode="auto">
          <a:xfrm>
            <a:off x="6510978" y="3440506"/>
            <a:ext cx="365760" cy="365760"/>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a:t>
            </a:r>
          </a:p>
        </p:txBody>
      </p:sp>
      <p:grpSp>
        <p:nvGrpSpPr>
          <p:cNvPr id="38" name="Group 37">
            <a:extLst>
              <a:ext uri="{FF2B5EF4-FFF2-40B4-BE49-F238E27FC236}">
                <a16:creationId xmlns:a16="http://schemas.microsoft.com/office/drawing/2014/main" id="{ED5822C2-BF69-4316-8E79-6B22420CC23F}"/>
              </a:ext>
              <a:ext uri="{C183D7F6-B498-43B3-948B-1728B52AA6E4}">
                <adec:decorative xmlns:adec="http://schemas.microsoft.com/office/drawing/2017/decorative" val="1"/>
              </a:ext>
            </a:extLst>
          </p:cNvPr>
          <p:cNvGrpSpPr/>
          <p:nvPr/>
        </p:nvGrpSpPr>
        <p:grpSpPr>
          <a:xfrm>
            <a:off x="6693858" y="3828594"/>
            <a:ext cx="2234725" cy="492442"/>
            <a:chOff x="6693858" y="3956030"/>
            <a:chExt cx="2234725" cy="289597"/>
          </a:xfrm>
        </p:grpSpPr>
        <p:sp>
          <p:nvSpPr>
            <p:cNvPr id="42" name="Rectangle: Rounded Corners 41">
              <a:extLst>
                <a:ext uri="{FF2B5EF4-FFF2-40B4-BE49-F238E27FC236}">
                  <a16:creationId xmlns:a16="http://schemas.microsoft.com/office/drawing/2014/main" id="{18C22E09-B9B6-4D11-89EF-6EAB2CF5C577}"/>
                </a:ext>
                <a:ext uri="{C183D7F6-B498-43B3-948B-1728B52AA6E4}">
                  <adec:decorative xmlns:adec="http://schemas.microsoft.com/office/drawing/2017/decorative" val="1"/>
                </a:ext>
              </a:extLst>
            </p:cNvPr>
            <p:cNvSpPr/>
            <p:nvPr/>
          </p:nvSpPr>
          <p:spPr bwMode="auto">
            <a:xfrm>
              <a:off x="6693858" y="3971231"/>
              <a:ext cx="2234725" cy="268413"/>
            </a:xfrm>
            <a:prstGeom prst="roundRect">
              <a:avLst>
                <a:gd name="adj" fmla="val 50000"/>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3" name="TextBox 42">
              <a:extLst>
                <a:ext uri="{FF2B5EF4-FFF2-40B4-BE49-F238E27FC236}">
                  <a16:creationId xmlns:a16="http://schemas.microsoft.com/office/drawing/2014/main" id="{9B1BCF64-D778-405E-9215-6599522A9D71}"/>
                </a:ext>
                <a:ext uri="{C183D7F6-B498-43B3-948B-1728B52AA6E4}">
                  <adec:decorative xmlns:adec="http://schemas.microsoft.com/office/drawing/2017/decorative" val="1"/>
                </a:ext>
              </a:extLst>
            </p:cNvPr>
            <p:cNvSpPr txBox="1"/>
            <p:nvPr/>
          </p:nvSpPr>
          <p:spPr>
            <a:xfrm>
              <a:off x="6759271" y="3956030"/>
              <a:ext cx="1832420" cy="2895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Arial" panose="020B0604020202020204" pitchFamily="34" charset="0"/>
                </a:rPr>
                <a:t>Azure savings plan for compute</a:t>
              </a:r>
              <a:r>
                <a:rPr kumimoji="0" lang="en-US" sz="1400" b="0" i="0" u="none" strike="noStrike" kern="1200" cap="none" spc="0" normalizeH="0" baseline="0" noProof="0">
                  <a:ln>
                    <a:noFill/>
                  </a:ln>
                  <a:solidFill>
                    <a:srgbClr val="FFFFFF"/>
                  </a:solidFill>
                  <a:effectLst/>
                  <a:uLnTx/>
                  <a:uFillTx/>
                  <a:latin typeface="Segoe UI Semibold"/>
                  <a:ea typeface="+mn-ea"/>
                  <a:cs typeface="Arial" panose="020B0604020202020204" pitchFamily="34" charset="0"/>
                </a:rPr>
                <a:t> </a:t>
              </a:r>
              <a:r>
                <a:rPr kumimoji="0" lang="en-US" sz="1100" b="0" i="0" u="none" strike="noStrike" kern="1200" cap="none" spc="0" normalizeH="0" baseline="0" noProof="0">
                  <a:ln>
                    <a:noFill/>
                  </a:ln>
                  <a:solidFill>
                    <a:srgbClr val="FFFFFF"/>
                  </a:solidFill>
                  <a:effectLst/>
                  <a:uLnTx/>
                  <a:uFillTx/>
                  <a:latin typeface="Segoe UI Semibold"/>
                  <a:ea typeface="+mn-ea"/>
                  <a:cs typeface="Arial" panose="020B0604020202020204" pitchFamily="34" charset="0"/>
                </a:rPr>
                <a:t>(1-year)</a:t>
              </a: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4" name="Group 43">
            <a:extLst>
              <a:ext uri="{FF2B5EF4-FFF2-40B4-BE49-F238E27FC236}">
                <a16:creationId xmlns:a16="http://schemas.microsoft.com/office/drawing/2014/main" id="{36BD92E7-9DA2-4E7B-B284-5FBEB44CBA9A}"/>
              </a:ext>
              <a:ext uri="{C183D7F6-B498-43B3-948B-1728B52AA6E4}">
                <adec:decorative xmlns:adec="http://schemas.microsoft.com/office/drawing/2017/decorative" val="1"/>
              </a:ext>
            </a:extLst>
          </p:cNvPr>
          <p:cNvGrpSpPr/>
          <p:nvPr/>
        </p:nvGrpSpPr>
        <p:grpSpPr>
          <a:xfrm>
            <a:off x="4459133" y="3002676"/>
            <a:ext cx="6704175" cy="276999"/>
            <a:chOff x="4459133" y="3002676"/>
            <a:chExt cx="6704175" cy="276999"/>
          </a:xfrm>
        </p:grpSpPr>
        <p:sp>
          <p:nvSpPr>
            <p:cNvPr id="45" name="Rectangle: Rounded Corners 44">
              <a:extLst>
                <a:ext uri="{FF2B5EF4-FFF2-40B4-BE49-F238E27FC236}">
                  <a16:creationId xmlns:a16="http://schemas.microsoft.com/office/drawing/2014/main" id="{29641077-C39E-4278-A3C1-E6B59D34946B}"/>
                </a:ext>
                <a:ext uri="{C183D7F6-B498-43B3-948B-1728B52AA6E4}">
                  <adec:decorative xmlns:adec="http://schemas.microsoft.com/office/drawing/2017/decorative" val="1"/>
                </a:ext>
              </a:extLst>
            </p:cNvPr>
            <p:cNvSpPr/>
            <p:nvPr/>
          </p:nvSpPr>
          <p:spPr bwMode="auto">
            <a:xfrm>
              <a:off x="4459133" y="3007129"/>
              <a:ext cx="6704175" cy="268413"/>
            </a:xfrm>
            <a:prstGeom prst="roundRect">
              <a:avLst>
                <a:gd name="adj" fmla="val 50000"/>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C3638170-7985-42C7-86D2-FF4E2DBDFDB3}"/>
                </a:ext>
                <a:ext uri="{C183D7F6-B498-43B3-948B-1728B52AA6E4}">
                  <adec:decorative xmlns:adec="http://schemas.microsoft.com/office/drawing/2017/decorative" val="1"/>
                </a:ext>
              </a:extLst>
            </p:cNvPr>
            <p:cNvSpPr txBox="1"/>
            <p:nvPr/>
          </p:nvSpPr>
          <p:spPr>
            <a:xfrm>
              <a:off x="4534765" y="3002676"/>
              <a:ext cx="280877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Arial" panose="020B0604020202020204" pitchFamily="34" charset="0"/>
                </a:rPr>
                <a:t>Reserved instance (3-year)</a:t>
              </a:r>
              <a:endParaRPr kumimoji="0" lang="en-US" sz="1200" b="0" i="0" u="none" strike="noStrike" kern="1200" cap="none" spc="0" normalizeH="0" baseline="0" noProof="0">
                <a:ln>
                  <a:noFill/>
                </a:ln>
                <a:solidFill>
                  <a:srgbClr val="FFFFFF"/>
                </a:solidFill>
                <a:effectLst/>
                <a:uLnTx/>
                <a:uFillTx/>
                <a:latin typeface="Segoe UI"/>
                <a:ea typeface="+mn-ea"/>
                <a:cs typeface="+mn-cs"/>
              </a:endParaRPr>
            </a:p>
          </p:txBody>
        </p:sp>
      </p:grpSp>
      <p:sp>
        <p:nvSpPr>
          <p:cNvPr id="4" name="Rectangle 3">
            <a:extLst>
              <a:ext uri="{FF2B5EF4-FFF2-40B4-BE49-F238E27FC236}">
                <a16:creationId xmlns:a16="http://schemas.microsoft.com/office/drawing/2014/main" id="{2F8B2BA9-7EF6-C8F7-7354-CCE82B29A14F}"/>
              </a:ext>
            </a:extLst>
          </p:cNvPr>
          <p:cNvSpPr/>
          <p:nvPr/>
        </p:nvSpPr>
        <p:spPr bwMode="auto">
          <a:xfrm>
            <a:off x="308480" y="1879136"/>
            <a:ext cx="3464775" cy="380617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182880" rIns="182880" bIns="182880" numCol="1" spcCol="0" rtlCol="0" fromWordArt="0" anchor="t" anchorCtr="0" forceAA="0" compatLnSpc="1">
            <a:prstTxWarp prst="textNoShape">
              <a:avLst/>
            </a:prstTxWarp>
            <a:spAutoFit/>
          </a:bodyPr>
          <a:lstStyle/>
          <a:p>
            <a:pPr marL="231775" lvl="0" indent="-231775">
              <a:spcAft>
                <a:spcPts val="800"/>
              </a:spcAft>
              <a:buClr>
                <a:srgbClr val="000000"/>
              </a:buClr>
              <a:buSzPct val="100000"/>
              <a:buBlip>
                <a:blip r:embed="rId3"/>
              </a:buBlip>
              <a:defRPr/>
            </a:pPr>
            <a:r>
              <a:rPr lang="en-US" sz="1400">
                <a:gradFill>
                  <a:gsLst>
                    <a:gs pos="1250">
                      <a:srgbClr val="1A1A1A"/>
                    </a:gs>
                    <a:gs pos="100000">
                      <a:srgbClr val="1A1A1A"/>
                    </a:gs>
                  </a:gsLst>
                  <a:lin ang="5400000" scaled="0"/>
                </a:gradFill>
                <a:latin typeface="Segoe UI Semibold"/>
                <a:cs typeface="Arial" panose="020B0604020202020204" pitchFamily="34" charset="0"/>
              </a:rPr>
              <a:t>When usage can be covered by either Reserved Instances or Azure savings plans for compute, reserved instances are used first, as they provide greater savings and have a more targeted scope</a:t>
            </a:r>
          </a:p>
          <a:p>
            <a:pPr marL="231775" lvl="0" indent="-231775">
              <a:spcAft>
                <a:spcPts val="800"/>
              </a:spcAft>
              <a:buClr>
                <a:srgbClr val="000000"/>
              </a:buClr>
              <a:buSzPct val="100000"/>
              <a:buBlip>
                <a:blip r:embed="rId3"/>
              </a:buBlip>
              <a:defRPr/>
            </a:pPr>
            <a:r>
              <a:rPr lang="en-US" sz="1400">
                <a:gradFill>
                  <a:gsLst>
                    <a:gs pos="1250">
                      <a:srgbClr val="1A1A1A"/>
                    </a:gs>
                    <a:gs pos="100000">
                      <a:srgbClr val="1A1A1A"/>
                    </a:gs>
                  </a:gsLst>
                  <a:lin ang="5400000" scaled="0"/>
                </a:gradFill>
                <a:latin typeface="Segoe UI Semibold"/>
                <a:cs typeface="Arial" panose="020B0604020202020204" pitchFamily="34" charset="0"/>
              </a:rPr>
              <a:t>Azure savings plan for compute will apply to the remaining eligible usage until the commitment is fully consumed</a:t>
            </a:r>
          </a:p>
          <a:p>
            <a:pPr marL="231775" marR="0" lvl="0" indent="-231775" algn="l" defTabSz="914400" rtl="0" eaLnBrk="1" fontAlgn="auto" latinLnBrk="0" hangingPunct="1">
              <a:lnSpc>
                <a:spcPct val="100000"/>
              </a:lnSpc>
              <a:spcBef>
                <a:spcPts val="0"/>
              </a:spcBef>
              <a:spcAft>
                <a:spcPts val="800"/>
              </a:spcAft>
              <a:buClr>
                <a:srgbClr val="000000"/>
              </a:buClr>
              <a:buSzPct val="100000"/>
              <a:buFontTx/>
              <a:buBlip>
                <a:blip r:embed="rId3"/>
              </a:buBlip>
              <a:tabLst/>
              <a:defRPr/>
            </a:pPr>
            <a:r>
              <a:rPr kumimoji="0" lang="en-US" sz="14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bold"/>
                <a:ea typeface="+mn-ea"/>
                <a:cs typeface="Arial" panose="020B0604020202020204" pitchFamily="34" charset="0"/>
              </a:rPr>
              <a:t>Once a Reserved Instance or Azure saving plan for compute is fully consumed or expired, you will then be billed on a pay-as-you-go basis</a:t>
            </a:r>
          </a:p>
        </p:txBody>
      </p:sp>
    </p:spTree>
    <p:extLst>
      <p:ext uri="{BB962C8B-B14F-4D97-AF65-F5344CB8AC3E}">
        <p14:creationId xmlns:p14="http://schemas.microsoft.com/office/powerpoint/2010/main" val="15800380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p14="http://schemas.microsoft.com/office/powerpoint/2010/main" xmlns:adec="http://schemas.microsoft.com/office/drawing/2017/decorative"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1000"/>
                                        <p:tgtEl>
                                          <p:spTgt spid="8"/>
                                        </p:tgtEl>
                                      </p:cBhvr>
                                    </p:animEffect>
                                  </p:childTnLst>
                                </p:cTn>
                              </p:par>
                            </p:childTnLst>
                          </p:cTn>
                        </p:par>
                        <p:par>
                          <p:cTn id="15" fill="hold">
                            <p:stCondLst>
                              <p:cond delay="1500"/>
                            </p:stCondLst>
                            <p:childTnLst>
                              <p:par>
                                <p:cTn id="16" presetID="10" presetClass="entr" presetSubtype="0" fill="hold" nodeType="after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fade">
                                      <p:cBhvr>
                                        <p:cTn id="18" dur="500"/>
                                        <p:tgtEl>
                                          <p:spTgt spid="44"/>
                                        </p:tgtEl>
                                      </p:cBhvr>
                                    </p:animEffect>
                                  </p:childTnLst>
                                </p:cTn>
                              </p:par>
                            </p:childTnLst>
                          </p:cTn>
                        </p:par>
                        <p:par>
                          <p:cTn id="19" fill="hold">
                            <p:stCondLst>
                              <p:cond delay="2000"/>
                            </p:stCondLst>
                            <p:childTnLst>
                              <p:par>
                                <p:cTn id="20" presetID="10" presetClass="entr" presetSubtype="0" fill="hold" grpId="0" nodeType="after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00"/>
                                        <p:tgtEl>
                                          <p:spTgt spid="37"/>
                                        </p:tgtEl>
                                      </p:cBhvr>
                                    </p:animEffect>
                                  </p:childTnLst>
                                </p:cTn>
                              </p:par>
                            </p:childTnLst>
                          </p:cTn>
                        </p:par>
                        <p:par>
                          <p:cTn id="23" fill="hold">
                            <p:stCondLst>
                              <p:cond delay="2500"/>
                            </p:stCondLst>
                            <p:childTnLst>
                              <p:par>
                                <p:cTn id="24" presetID="10" presetClass="entr" presetSubtype="0" fill="hold" nodeType="after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500"/>
                                        <p:tgtEl>
                                          <p:spTgt spid="38"/>
                                        </p:tgtEl>
                                      </p:cBhvr>
                                    </p:animEffect>
                                  </p:childTnLst>
                                </p:cTn>
                              </p:par>
                            </p:childTnLst>
                          </p:cTn>
                        </p:par>
                        <p:par>
                          <p:cTn id="27" fill="hold">
                            <p:stCondLst>
                              <p:cond delay="3000"/>
                            </p:stCondLst>
                            <p:childTnLst>
                              <p:par>
                                <p:cTn id="28" presetID="10" presetClass="entr" presetSubtype="0" fill="hold" grpId="0" nodeType="after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32" grpId="0"/>
      <p:bldP spid="37" grpId="0" animBg="1"/>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E9849F-1A4C-4FFC-941C-044B9835E274}"/>
              </a:ext>
            </a:extLst>
          </p:cNvPr>
          <p:cNvSpPr>
            <a:spLocks noGrp="1"/>
          </p:cNvSpPr>
          <p:nvPr>
            <p:ph type="title"/>
          </p:nvPr>
        </p:nvSpPr>
        <p:spPr/>
        <p:txBody>
          <a:bodyPr/>
          <a:lstStyle/>
          <a:p>
            <a:r>
              <a:rPr lang="en-US" dirty="0"/>
              <a:t>Q&amp;A</a:t>
            </a:r>
          </a:p>
        </p:txBody>
      </p:sp>
      <p:sp>
        <p:nvSpPr>
          <p:cNvPr id="3" name="Footer Placeholder 2">
            <a:extLst>
              <a:ext uri="{FF2B5EF4-FFF2-40B4-BE49-F238E27FC236}">
                <a16:creationId xmlns:a16="http://schemas.microsoft.com/office/drawing/2014/main" id="{2EECC152-6985-4773-9433-6C85872D82A7}"/>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Segoe UI"/>
                <a:ea typeface="+mn-ea"/>
                <a:cs typeface="+mn-cs"/>
              </a:rPr>
              <a:t>Microsoft</a:t>
            </a:r>
            <a:r>
              <a:rPr kumimoji="0" lang="en-US" sz="800" b="0" i="0" u="none" strike="noStrike" kern="1200" cap="none" spc="0" normalizeH="0" baseline="0" noProof="0" dirty="0">
                <a:ln>
                  <a:noFill/>
                </a:ln>
                <a:solidFill>
                  <a:srgbClr val="000000"/>
                </a:solidFill>
                <a:effectLst/>
                <a:uLnTx/>
                <a:uFillTx/>
                <a:latin typeface="Segoe UI"/>
                <a:ea typeface="+mn-ea"/>
                <a:cs typeface="+mn-cs"/>
              </a:rPr>
              <a:t> </a:t>
            </a:r>
            <a:r>
              <a:rPr kumimoji="0" lang="en-US" sz="800" b="0" i="0" u="none" strike="noStrike" kern="1200" cap="none" spc="0" normalizeH="0" baseline="0" noProof="0" dirty="0">
                <a:ln>
                  <a:noFill/>
                </a:ln>
                <a:solidFill>
                  <a:srgbClr val="FFFFFF"/>
                </a:solidFill>
                <a:effectLst/>
                <a:uLnTx/>
                <a:uFillTx/>
                <a:latin typeface="Segoe UI"/>
                <a:ea typeface="+mn-ea"/>
                <a:cs typeface="+mn-cs"/>
              </a:rPr>
              <a:t>Confidential</a:t>
            </a:r>
          </a:p>
        </p:txBody>
      </p:sp>
      <p:sp>
        <p:nvSpPr>
          <p:cNvPr id="4" name="Slide Number Placeholder 3">
            <a:extLst>
              <a:ext uri="{FF2B5EF4-FFF2-40B4-BE49-F238E27FC236}">
                <a16:creationId xmlns:a16="http://schemas.microsoft.com/office/drawing/2014/main" id="{5DE18422-3B7D-4BFE-8872-C9971F6F2CA5}"/>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989485065"/>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3E0F0B6-C238-43BC-AC8E-69ACF24C30A3}"/>
              </a:ext>
            </a:extLst>
          </p:cNvPr>
          <p:cNvSpPr>
            <a:spLocks noGrp="1"/>
          </p:cNvSpPr>
          <p:nvPr>
            <p:ph type="title"/>
          </p:nvPr>
        </p:nvSpPr>
        <p:spPr>
          <a:xfrm>
            <a:off x="584200" y="4075330"/>
            <a:ext cx="7298437" cy="1015663"/>
          </a:xfrm>
        </p:spPr>
        <p:txBody>
          <a:bodyPr/>
          <a:lstStyle/>
          <a:p>
            <a:r>
              <a:rPr lang="en-US" dirty="0"/>
              <a:t>Thank You</a:t>
            </a:r>
          </a:p>
        </p:txBody>
      </p:sp>
      <p:sp>
        <p:nvSpPr>
          <p:cNvPr id="4" name="Footer Placeholder 3">
            <a:extLst>
              <a:ext uri="{FF2B5EF4-FFF2-40B4-BE49-F238E27FC236}">
                <a16:creationId xmlns:a16="http://schemas.microsoft.com/office/drawing/2014/main" id="{849F0BDC-7C10-4CF4-8F5F-EFB618956A0B}"/>
              </a:ext>
            </a:extLst>
          </p:cNvPr>
          <p:cNvSpPr>
            <a:spLocks noGrp="1"/>
          </p:cNvSpPr>
          <p:nvPr>
            <p:ph type="ftr" sz="quarter" idx="3"/>
          </p:nvPr>
        </p:nvSpPr>
        <p:spPr>
          <a:xfrm>
            <a:off x="4038600" y="6539518"/>
            <a:ext cx="4114800" cy="123111"/>
          </a:xfrm>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D7ED8727-4AF5-45EB-B9A9-C94797776E91}"/>
              </a:ext>
            </a:extLst>
          </p:cNvPr>
          <p:cNvSpPr>
            <a:spLocks noGrp="1"/>
          </p:cNvSpPr>
          <p:nvPr>
            <p:ph type="sldNum" sz="quarter" idx="4"/>
          </p:nvPr>
        </p:nvSpPr>
        <p:spPr>
          <a:xfrm>
            <a:off x="11697272" y="6539518"/>
            <a:ext cx="404240" cy="123111"/>
          </a:xfrm>
        </p:spPr>
        <p:txBody>
          <a:bodyPr wrap="square"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600"/>
                </a:spcAft>
                <a:buClrTx/>
                <a:buSzTx/>
                <a:buFontTx/>
                <a:buNone/>
                <a:tabLst/>
                <a:defRPr/>
              </a:pPr>
              <a:t>48</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092671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3|1.1|0.1"/>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1_Azure">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ctr" defTabSz="932472" fontAlgn="base">
          <a:lnSpc>
            <a:spcPct val="90000"/>
          </a:lnSpc>
          <a:spcBef>
            <a:spcPct val="0"/>
          </a:spcBef>
          <a:spcAft>
            <a:spcPct val="0"/>
          </a:spcAft>
          <a:defRPr sz="2400" dirty="0"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9" id="{54FB6363-1086-4D4D-A733-73C40F614B6C}" vid="{C7C5E0E3-7D0F-DE45-915C-0B481B5DC3A0}"/>
    </a:ext>
  </a:extLst>
</a:theme>
</file>

<file path=ppt/theme/theme3.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Template Starter Blue - February 2020_v6" id="{071E01FD-2079-42F8-8403-F72D98F421C4}" vid="{4AE5ECA4-1508-4F7F-B9BC-6CD0E5E51A6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31" ma:contentTypeDescription="Create a new document." ma:contentTypeScope="" ma:versionID="249d4e38c9bc1fd9070783c32e3df00c">
  <xsd:schema xmlns:xsd="http://www.w3.org/2001/XMLSchema" xmlns:xs="http://www.w3.org/2001/XMLSchema" xmlns:p="http://schemas.microsoft.com/office/2006/metadata/properties" xmlns:ns1="http://schemas.microsoft.com/sharepoint/v3" xmlns:ns2="cea7764e-6bf9-427d-be15-e74097e0a61c" xmlns:ns3="fb9ea31f-0ab8-44ff-80d1-5777f6d9d945" xmlns:ns4="230e9df3-be65-4c73-a93b-d1236ebd677e" targetNamespace="http://schemas.microsoft.com/office/2006/metadata/properties" ma:root="true" ma:fieldsID="66c0058c9b9ca1f299261281b1014520" ns1:_="" ns2:_="" ns3:_="" ns4:_="">
    <xsd:import namespace="http://schemas.microsoft.com/sharepoint/v3"/>
    <xsd:import namespace="cea7764e-6bf9-427d-be15-e74097e0a61c"/>
    <xsd:import namespace="fb9ea31f-0ab8-44ff-80d1-5777f6d9d945"/>
    <xsd:import namespace="230e9df3-be65-4c73-a93b-d1236ebd677e"/>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_Flow_SignoffStatus" minOccurs="0"/>
                <xsd:element ref="ns2:Lead_x0020_Signoff"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MediaServiceDateTaken" minOccurs="0"/>
                <xsd:element ref="ns2:MediaServiceLocation" minOccurs="0"/>
                <xsd:element ref="ns2:MediaLengthInSeconds" minOccurs="0"/>
                <xsd:element ref="ns2:lcf76f155ced4ddcb4097134ff3c332f" minOccurs="0"/>
                <xsd:element ref="ns4:TaxCatchAll" minOccurs="0"/>
                <xsd:element ref="ns2:State"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ma:readOnly="false">
      <xsd:simpleType>
        <xsd:restriction base="dms:Note"/>
      </xsd:simpleType>
    </xsd:element>
    <xsd:element name="_ip_UnifiedCompliancePolicyUIAction" ma:index="23"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_Flow_SignoffStatus" ma:index="7" nillable="true" ma:displayName="Sign-off status" ma:internalName="Sign_x002d_off_x0020_status0" ma:readOnly="false">
      <xsd:simpleType>
        <xsd:restriction base="dms:Text"/>
      </xsd:simpleType>
    </xsd:element>
    <xsd:element name="Lead_x0020_Signoff" ma:index="8" nillable="true" ma:displayName="Lead Signoff" ma:default="0" ma:internalName="Lead_x0020_Signoff"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hidden="true" ma:internalName="MediaServiceOCR" ma:readOnly="true">
      <xsd:simpleType>
        <xsd:restriction base="dms:Note"/>
      </xsd:simpleType>
    </xsd:element>
    <xsd:element name="MediaServiceDateTaken" ma:index="25" nillable="true" ma:displayName="MediaServiceDateTaken" ma:hidden="true" ma:internalName="MediaServiceDateTaken" ma:readOnly="true">
      <xsd:simpleType>
        <xsd:restriction base="dms:Text"/>
      </xsd:simpleType>
    </xsd:element>
    <xsd:element name="MediaServiceLocation" ma:index="27" nillable="true" ma:displayName="Location" ma:hidden="true" ma:internalName="MediaServiceLocation" ma:readOnly="true">
      <xsd:simpleType>
        <xsd:restriction base="dms:Text"/>
      </xsd:simpleType>
    </xsd:element>
    <xsd:element name="MediaLengthInSeconds" ma:index="28" nillable="true" ma:displayName="Length (seconds)" ma:hidden="true" ma:internalName="MediaLengthInSeconds" ma:readOnly="true">
      <xsd:simpleType>
        <xsd:restriction base="dms:Unknown"/>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State" ma:index="32" nillable="true" ma:displayName="State" ma:default="Open" ma:format="Dropdown" ma:internalName="State">
      <xsd:simpleType>
        <xsd:restriction base="dms:Choice">
          <xsd:enumeration value="Open"/>
          <xsd:enumeration value="Complete"/>
          <xsd:enumeration value="Waiting Ian's Review"/>
        </xsd:restriction>
      </xsd:simpleType>
    </xsd:element>
    <xsd:element name="MediaServiceSearchProperties" ma:index="33" nillable="true" ma:displayName="MediaServiceSearchProperties" ma:hidden="true" ma:internalName="MediaServiceSearchProperties" ma:readOnly="true">
      <xsd:simpleType>
        <xsd:restriction base="dms:Note"/>
      </xsd:simpleType>
    </xsd:element>
    <xsd:element name="MediaServiceDocTags" ma:index="34"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31" nillable="true" ma:displayName="Taxonomy Catch All Column" ma:hidden="true" ma:list="{ae63ffbd-de59-4149-9433-57c64ddd7584}" ma:internalName="TaxCatchAll" ma:showField="CatchAllData" ma:web="fb9ea31f-0ab8-44ff-80d1-5777f6d9d94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cea7764e-6bf9-427d-be15-e74097e0a61c">
      <Terms xmlns="http://schemas.microsoft.com/office/infopath/2007/PartnerControls"/>
    </lcf76f155ced4ddcb4097134ff3c332f>
    <Sign_x002d_off_x0020_status xmlns="cea7764e-6bf9-427d-be15-e74097e0a61c" xsi:nil="true"/>
    <Title_x0020_URL xmlns="cea7764e-6bf9-427d-be15-e74097e0a61c">
      <Url xsi:nil="true"/>
      <Description xsi:nil="true"/>
    </Title_x0020_URL>
    <Mail_x0020_Sent xmlns="cea7764e-6bf9-427d-be15-e74097e0a61c">false</Mail_x0020_Sent>
    <_Flow_SignoffStatus xmlns="cea7764e-6bf9-427d-be15-e74097e0a61c" xsi:nil="true"/>
    <State xmlns="cea7764e-6bf9-427d-be15-e74097e0a61c">Open</State>
    <Comments xmlns="cea7764e-6bf9-427d-be15-e74097e0a61c" xsi:nil="true"/>
    <Lead_x0020_Signoff xmlns="cea7764e-6bf9-427d-be15-e74097e0a61c">false</Lead_x0020_Signoff>
    <Title_x0020_ID xmlns="cea7764e-6bf9-427d-be15-e74097e0a61c" xsi:nil="true"/>
  </documentManagement>
</p:properties>
</file>

<file path=customXml/itemProps1.xml><?xml version="1.0" encoding="utf-8"?>
<ds:datastoreItem xmlns:ds="http://schemas.openxmlformats.org/officeDocument/2006/customXml" ds:itemID="{01FF41B7-6094-46DA-A848-C76D08097542}">
  <ds:schemaRefs>
    <ds:schemaRef ds:uri="http://schemas.microsoft.com/sharepoint/v3/contenttype/forms"/>
  </ds:schemaRefs>
</ds:datastoreItem>
</file>

<file path=customXml/itemProps2.xml><?xml version="1.0" encoding="utf-8"?>
<ds:datastoreItem xmlns:ds="http://schemas.openxmlformats.org/officeDocument/2006/customXml" ds:itemID="{F14BBA8A-2904-49BF-A037-5C395AB078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C7CA1E3-0C07-4071-A79C-1B822743F866}">
  <ds:schemaRefs>
    <ds:schemaRef ds:uri="230e9df3-be65-4c73-a93b-d1236ebd677e"/>
    <ds:schemaRef ds:uri="http://purl.org/dc/terms/"/>
    <ds:schemaRef ds:uri="http://schemas.microsoft.com/office/2006/documentManagement/types"/>
    <ds:schemaRef ds:uri="http://schemas.microsoft.com/sharepoint/v3"/>
    <ds:schemaRef ds:uri="http://purl.org/dc/dcmitype/"/>
    <ds:schemaRef ds:uri="http://schemas.openxmlformats.org/package/2006/metadata/core-properties"/>
    <ds:schemaRef ds:uri="fb9ea31f-0ab8-44ff-80d1-5777f6d9d945"/>
    <ds:schemaRef ds:uri="http://schemas.microsoft.com/office/infopath/2007/PartnerControls"/>
    <ds:schemaRef ds:uri="http://www.w3.org/XML/1998/namespace"/>
    <ds:schemaRef ds:uri="cea7764e-6bf9-427d-be15-e74097e0a61c"/>
    <ds:schemaRef ds:uri="http://schemas.microsoft.com/office/2006/metadata/properties"/>
    <ds:schemaRef ds:uri="http://purl.org/dc/elements/1.1/"/>
    <ds:schemaRef ds:uri="e051f109-40f0-40d8-b5d0-4f6fc7578ce5"/>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9</TotalTime>
  <Words>7568</Words>
  <Application>Microsoft Office PowerPoint</Application>
  <PresentationFormat>Widescreen</PresentationFormat>
  <Paragraphs>881</Paragraphs>
  <Slides>48</Slides>
  <Notes>33</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48</vt:i4>
      </vt:variant>
    </vt:vector>
  </HeadingPairs>
  <TitlesOfParts>
    <vt:vector size="64" baseType="lpstr">
      <vt:lpstr>Arial</vt:lpstr>
      <vt:lpstr>Calibri</vt:lpstr>
      <vt:lpstr>Segoe Semibold</vt:lpstr>
      <vt:lpstr>Segoe UI</vt:lpstr>
      <vt:lpstr>Segoe UI </vt:lpstr>
      <vt:lpstr>Segoe UI Light</vt:lpstr>
      <vt:lpstr>Segoe UI Semibold</vt:lpstr>
      <vt:lpstr>Segoe UI Semibold (headings)</vt:lpstr>
      <vt:lpstr>Segoe UI Semibold (headings)</vt:lpstr>
      <vt:lpstr>Segoe UI Semilight</vt:lpstr>
      <vt:lpstr>source sans pro</vt:lpstr>
      <vt:lpstr>Times New Roman</vt:lpstr>
      <vt:lpstr>Wingdings</vt:lpstr>
      <vt:lpstr>White Template</vt:lpstr>
      <vt:lpstr>1_Azure</vt:lpstr>
      <vt:lpstr>White Template</vt:lpstr>
      <vt:lpstr>Well-Architected Cost Optimization Assessment</vt:lpstr>
      <vt:lpstr>Conditions and terms of use</vt:lpstr>
      <vt:lpstr>Agenda</vt:lpstr>
      <vt:lpstr>Introductions</vt:lpstr>
      <vt:lpstr>Introduction</vt:lpstr>
      <vt:lpstr>Overview</vt:lpstr>
      <vt:lpstr>Overview    </vt:lpstr>
      <vt:lpstr>Engagement Agenda</vt:lpstr>
      <vt:lpstr>What will be Assessed?   </vt:lpstr>
      <vt:lpstr>Assessment Timeline</vt:lpstr>
      <vt:lpstr>Survey &amp; Deployments</vt:lpstr>
      <vt:lpstr> Deployments</vt:lpstr>
      <vt:lpstr>Azure DevOps Recommendations Import​ </vt:lpstr>
      <vt:lpstr>GitHub Recommendations Import </vt:lpstr>
      <vt:lpstr>Deliverables</vt:lpstr>
      <vt:lpstr>Well-Architected Cost Optimization Azure Monitor Workbook​</vt:lpstr>
      <vt:lpstr>Cost optimization design principles</vt:lpstr>
      <vt:lpstr>Design for cost</vt:lpstr>
      <vt:lpstr>Monitor cost</vt:lpstr>
      <vt:lpstr>Optimize cost</vt:lpstr>
      <vt:lpstr>Managing cloud spend across the organization  is becoming increasingly difficult</vt:lpstr>
      <vt:lpstr>Current state of cloud financial management </vt:lpstr>
      <vt:lpstr>PowerPoint Presentation</vt:lpstr>
      <vt:lpstr>FinOps is a framework that accelerates business value</vt:lpstr>
      <vt:lpstr>FinOps Stakeholders</vt:lpstr>
      <vt:lpstr>FinOps Team Structure</vt:lpstr>
      <vt:lpstr>PowerPoint Presentation</vt:lpstr>
      <vt:lpstr>FinOps Stakeholder Responsibility</vt:lpstr>
      <vt:lpstr>FinOps | Inform</vt:lpstr>
      <vt:lpstr>FinOps | Optimize</vt:lpstr>
      <vt:lpstr>FinOps | Operate</vt:lpstr>
      <vt:lpstr>How can Microsoft help you develop your FinOps practice?</vt:lpstr>
      <vt:lpstr>Azure FinOps</vt:lpstr>
      <vt:lpstr>Azure FinOps</vt:lpstr>
      <vt:lpstr>Microsoft FinOps Framework</vt:lpstr>
      <vt:lpstr>FinOps Management Process</vt:lpstr>
      <vt:lpstr>Microsoft provides principles, tools and billing constructs to help you manage your cost</vt:lpstr>
      <vt:lpstr>Microsoft provides solutions to continously optimize your environment</vt:lpstr>
      <vt:lpstr>Introducing new Azure Savings plan for Compute</vt:lpstr>
      <vt:lpstr>Expanding our cost saving options for Azure compute </vt:lpstr>
      <vt:lpstr>Introducing Azure savings plan for compute </vt:lpstr>
      <vt:lpstr>Optimize savings automatically</vt:lpstr>
      <vt:lpstr>Save on your terms</vt:lpstr>
      <vt:lpstr>Evolving our compute saving options to better serve our customers </vt:lpstr>
      <vt:lpstr>Cost saving options for different compute usage needs and patterns </vt:lpstr>
      <vt:lpstr>Customers may have both Azure savings plan for compute and Reserved Instances</vt:lpstr>
      <vt:lpstr>Q&amp;A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Well-Architected Cost Optimization Assessment</dc:title>
  <dc:creator>mip_noreply@microsoft.com</dc:creator>
  <cp:keywords>20230719.1</cp:keywords>
  <cp:lastModifiedBy>Jerry Wolff</cp:lastModifiedBy>
  <cp:revision>112</cp:revision>
  <dcterms:created xsi:type="dcterms:W3CDTF">2021-06-07T22:17:40Z</dcterms:created>
  <dcterms:modified xsi:type="dcterms:W3CDTF">2026-01-26T06:13:04Z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a191f1-c555-4a9e-8b3e-85ef51701160_Removed">
    <vt:lpwstr>False</vt:lpwstr>
  </property>
  <property fmtid="{D5CDD505-2E9C-101B-9397-08002B2CF9AE}" pid="3" name="Sensitivity">
    <vt:lpwstr>Confidential</vt:lpwstr>
  </property>
  <property fmtid="{D5CDD505-2E9C-101B-9397-08002B2CF9AE}" pid="4" name="MSIP_Label_8aa191f1-c555-4a9e-8b3e-85ef51701160_ActionId">
    <vt:lpwstr>39fc7d0a-3e4c-48a0-b62b-e78feb9ca8a2</vt:lpwstr>
  </property>
  <property fmtid="{D5CDD505-2E9C-101B-9397-08002B2CF9AE}" pid="5" name="MSIP_Label_8aa191f1-c555-4a9e-8b3e-85ef51701160_Name">
    <vt:lpwstr>Confidential</vt:lpwstr>
  </property>
  <property fmtid="{D5CDD505-2E9C-101B-9397-08002B2CF9AE}" pid="6" name="MSIP_Label_8aa191f1-c555-4a9e-8b3e-85ef51701160_SiteId">
    <vt:lpwstr>a57507b2-d296-4dca-a9ae-67b1484e02a9</vt:lpwstr>
  </property>
  <property fmtid="{D5CDD505-2E9C-101B-9397-08002B2CF9AE}" pid="7" name="MSIP_Label_8aa191f1-c555-4a9e-8b3e-85ef51701160_SetDate">
    <vt:lpwstr>2021-06-08T00:15:44Z</vt:lpwstr>
  </property>
  <property fmtid="{D5CDD505-2E9C-101B-9397-08002B2CF9AE}" pid="8" name="MSIP_Label_8aa191f1-c555-4a9e-8b3e-85ef51701160_Enabled">
    <vt:lpwstr>True</vt:lpwstr>
  </property>
  <property fmtid="{D5CDD505-2E9C-101B-9397-08002B2CF9AE}" pid="9" name="MSIP_Label_8aa191f1-c555-4a9e-8b3e-85ef51701160_Extended_MSFT_Method">
    <vt:lpwstr>Standard</vt:lpwstr>
  </property>
  <property fmtid="{D5CDD505-2E9C-101B-9397-08002B2CF9AE}" pid="10" name="Order">
    <vt:r8>2586800</vt:r8>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xd_Signature">
    <vt:bool>false</vt:bool>
  </property>
  <property fmtid="{D5CDD505-2E9C-101B-9397-08002B2CF9AE}" pid="16" name="MediaServiceImageTags">
    <vt:lpwstr/>
  </property>
  <property fmtid="{D5CDD505-2E9C-101B-9397-08002B2CF9AE}" pid="17" name="ContentTypeId">
    <vt:lpwstr>0x01010039A62E282DDA434E979CD3E03185182E</vt:lpwstr>
  </property>
</Properties>
</file>